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media/image100.svg" ContentType="image/svg+xml"/>
  <Override PartName="/ppt/media/image101.svg" ContentType="image/svg+xml"/>
  <Override PartName="/ppt/media/image103.svg" ContentType="image/svg+xml"/>
  <Override PartName="/ppt/media/image105.svg" ContentType="image/svg+xml"/>
  <Override PartName="/ppt/media/image107.svg" ContentType="image/svg+xml"/>
  <Override PartName="/ppt/media/image109.svg" ContentType="image/svg+xml"/>
  <Override PartName="/ppt/media/image111.svg" ContentType="image/svg+xml"/>
  <Override PartName="/ppt/media/image113.svg" ContentType="image/svg+xml"/>
  <Override PartName="/ppt/media/image115.svg" ContentType="image/svg+xml"/>
  <Override PartName="/ppt/media/image117.svg" ContentType="image/svg+xml"/>
  <Override PartName="/ppt/media/image119.svg" ContentType="image/svg+xml"/>
  <Override PartName="/ppt/media/image121.svg" ContentType="image/svg+xml"/>
  <Override PartName="/ppt/media/image123.svg" ContentType="image/svg+xml"/>
  <Override PartName="/ppt/media/image125.svg" ContentType="image/svg+xml"/>
  <Override PartName="/ppt/media/image127.svg" ContentType="image/svg+xml"/>
  <Override PartName="/ppt/media/image128.svg" ContentType="image/svg+xml"/>
  <Override PartName="/ppt/media/image129.svg" ContentType="image/svg+xml"/>
  <Override PartName="/ppt/media/image130.svg" ContentType="image/svg+xml"/>
  <Override PartName="/ppt/media/image131.svg" ContentType="image/svg+xml"/>
  <Override PartName="/ppt/media/image132.svg" ContentType="image/svg+xml"/>
  <Override PartName="/ppt/media/image133.svg" ContentType="image/svg+xml"/>
  <Override PartName="/ppt/media/image134.svg" ContentType="image/svg+xml"/>
  <Override PartName="/ppt/media/image136.svg" ContentType="image/svg+xml"/>
  <Override PartName="/ppt/media/image138.svg" ContentType="image/svg+xml"/>
  <Override PartName="/ppt/media/image140.svg" ContentType="image/svg+xml"/>
  <Override PartName="/ppt/media/image141.svg" ContentType="image/svg+xml"/>
  <Override PartName="/ppt/media/image142.svg" ContentType="image/svg+xml"/>
  <Override PartName="/ppt/media/image144.svg" ContentType="image/svg+xml"/>
  <Override PartName="/ppt/media/image22.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1.svg" ContentType="image/svg+xml"/>
  <Override PartName="/ppt/media/image63.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71.svg" ContentType="image/svg+xml"/>
  <Override PartName="/ppt/media/image73.svg" ContentType="image/svg+xml"/>
  <Override PartName="/ppt/media/image74.svg" ContentType="image/svg+xml"/>
  <Override PartName="/ppt/media/image76.svg" ContentType="image/svg+xml"/>
  <Override PartName="/ppt/media/image77.svg" ContentType="image/svg+xml"/>
  <Override PartName="/ppt/media/image78.svg" ContentType="image/svg+xml"/>
  <Override PartName="/ppt/media/image80.svg" ContentType="image/svg+xml"/>
  <Override PartName="/ppt/media/image82.svg" ContentType="image/svg+xml"/>
  <Override PartName="/ppt/media/image84.svg" ContentType="image/svg+xml"/>
  <Override PartName="/ppt/media/image85.svg" ContentType="image/svg+xml"/>
  <Override PartName="/ppt/media/image86.svg" ContentType="image/svg+xml"/>
  <Override PartName="/ppt/media/image87.svg" ContentType="image/svg+xml"/>
  <Override PartName="/ppt/media/image88.svg" ContentType="image/svg+xml"/>
  <Override PartName="/ppt/media/image89.svg" ContentType="image/svg+xml"/>
  <Override PartName="/ppt/media/image91.svg" ContentType="image/svg+xml"/>
  <Override PartName="/ppt/media/image92.svg" ContentType="image/svg+xml"/>
  <Override PartName="/ppt/media/image93.svg" ContentType="image/svg+xml"/>
  <Override PartName="/ppt/media/image94.svg" ContentType="image/svg+xml"/>
  <Override PartName="/ppt/media/image96.svg" ContentType="image/svg+xml"/>
  <Override PartName="/ppt/media/image97.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57" r:id="rId3"/>
  </p:sldMasterIdLst>
  <p:notesMasterIdLst>
    <p:notesMasterId r:id="rId6"/>
  </p:notesMasterIdLst>
  <p:handoutMasterIdLst>
    <p:handoutMasterId r:id="rId53"/>
  </p:handoutMasterIdLst>
  <p:sldIdLst>
    <p:sldId id="15004852" r:id="rId4"/>
    <p:sldId id="15004853" r:id="rId5"/>
    <p:sldId id="15004854" r:id="rId7"/>
    <p:sldId id="15004855" r:id="rId8"/>
    <p:sldId id="15004856" r:id="rId9"/>
    <p:sldId id="15004857" r:id="rId10"/>
    <p:sldId id="15004858" r:id="rId11"/>
    <p:sldId id="15004859" r:id="rId12"/>
    <p:sldId id="15004860" r:id="rId13"/>
    <p:sldId id="15005221" r:id="rId14"/>
    <p:sldId id="15005254" r:id="rId15"/>
    <p:sldId id="15005255" r:id="rId16"/>
    <p:sldId id="15005256" r:id="rId17"/>
    <p:sldId id="15005257" r:id="rId18"/>
    <p:sldId id="15005258" r:id="rId19"/>
    <p:sldId id="15005259" r:id="rId20"/>
    <p:sldId id="15005260" r:id="rId21"/>
    <p:sldId id="15005261" r:id="rId22"/>
    <p:sldId id="15005262" r:id="rId23"/>
    <p:sldId id="15005263" r:id="rId24"/>
    <p:sldId id="15005264" r:id="rId25"/>
    <p:sldId id="15005265" r:id="rId26"/>
    <p:sldId id="15005266" r:id="rId27"/>
    <p:sldId id="15005267" r:id="rId28"/>
    <p:sldId id="15005268" r:id="rId29"/>
    <p:sldId id="15005269" r:id="rId30"/>
    <p:sldId id="15005270" r:id="rId31"/>
    <p:sldId id="15005271" r:id="rId32"/>
    <p:sldId id="15005272" r:id="rId33"/>
    <p:sldId id="15005273" r:id="rId34"/>
    <p:sldId id="15005274" r:id="rId35"/>
    <p:sldId id="15005275" r:id="rId36"/>
    <p:sldId id="15005276" r:id="rId37"/>
    <p:sldId id="15005277" r:id="rId38"/>
    <p:sldId id="15005278" r:id="rId39"/>
    <p:sldId id="15005279" r:id="rId40"/>
    <p:sldId id="15005280" r:id="rId41"/>
    <p:sldId id="15005281" r:id="rId42"/>
    <p:sldId id="15005282" r:id="rId43"/>
    <p:sldId id="15005283" r:id="rId44"/>
    <p:sldId id="15005284" r:id="rId45"/>
    <p:sldId id="15005285" r:id="rId46"/>
    <p:sldId id="15005286" r:id="rId47"/>
    <p:sldId id="15005287" r:id="rId48"/>
    <p:sldId id="15005288" r:id="rId49"/>
    <p:sldId id="15005289" r:id="rId50"/>
    <p:sldId id="15005290" r:id="rId51"/>
    <p:sldId id="15004861" r:id="rId52"/>
  </p:sldIdLst>
  <p:sldSz cx="12192000" cy="6858000"/>
  <p:notesSz cx="9144000" cy="6858000"/>
  <p:custDataLst>
    <p:tags r:id="rId5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5f8378fb-8c5f-497e-aabf-75aca2d8057f}">
          <p14:sldIdLst>
            <p14:sldId id="15004852"/>
            <p14:sldId id="15004853"/>
            <p14:sldId id="15004854"/>
            <p14:sldId id="15004855"/>
            <p14:sldId id="15004856"/>
            <p14:sldId id="15004857"/>
            <p14:sldId id="15004858"/>
            <p14:sldId id="15004859"/>
            <p14:sldId id="15004860"/>
          </p14:sldIdLst>
        </p14:section>
        <p14:section name="06-时间轴流程架构" id="{164a8658-a86f-4f62-aeb9-7d2fe035ced4}">
          <p14:sldIdLst>
            <p14:sldId id="15005221"/>
            <p14:sldId id="15005254"/>
            <p14:sldId id="15005255"/>
            <p14:sldId id="15005256"/>
            <p14:sldId id="15005257"/>
            <p14:sldId id="15005258"/>
            <p14:sldId id="15005259"/>
            <p14:sldId id="15005260"/>
            <p14:sldId id="15005261"/>
            <p14:sldId id="15005262"/>
            <p14:sldId id="15005263"/>
            <p14:sldId id="15005264"/>
            <p14:sldId id="15005265"/>
            <p14:sldId id="15005266"/>
            <p14:sldId id="15005267"/>
            <p14:sldId id="15005268"/>
            <p14:sldId id="15005269"/>
            <p14:sldId id="15005270"/>
            <p14:sldId id="15005271"/>
            <p14:sldId id="15005272"/>
            <p14:sldId id="15005273"/>
            <p14:sldId id="15005274"/>
            <p14:sldId id="15005275"/>
            <p14:sldId id="15005276"/>
            <p14:sldId id="15005277"/>
            <p14:sldId id="15005278"/>
            <p14:sldId id="15005279"/>
            <p14:sldId id="15005280"/>
            <p14:sldId id="15005281"/>
            <p14:sldId id="15005282"/>
            <p14:sldId id="15005283"/>
            <p14:sldId id="15005284"/>
            <p14:sldId id="15005285"/>
            <p14:sldId id="15005286"/>
            <p14:sldId id="15005287"/>
            <p14:sldId id="15005288"/>
            <p14:sldId id="15005289"/>
            <p14:sldId id="15005290"/>
            <p14:sldId id="15004861"/>
          </p14:sldIdLst>
        </p14:section>
      </p14:sectionLst>
    </p:ext>
    <p:ext uri="{EFAFB233-063F-42B5-8137-9DF3F51BA10A}">
      <p15:sldGuideLst xmlns:p15="http://schemas.microsoft.com/office/powerpoint/2012/main">
        <p15:guide id="1" orient="horz" pos="2466" userDrawn="1">
          <p15:clr>
            <a:srgbClr val="A4A3A4"/>
          </p15:clr>
        </p15:guide>
        <p15:guide id="2" pos="412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微软用户" initials="微软用户" lastIdx="1" clrIdx="0"/>
  <p:cmAuthor id="7" name="Administrator" initials="A" lastIdx="0" clrIdx="6"/>
  <p:cmAuthor id="1" name="Microsoft Office User" initials="MOU" lastIdx="1" clrIdx="0"/>
  <p:cmAuthor id="8" name="宋洁然" initials="宋" lastIdx="0" clrIdx="7"/>
  <p:cmAuthor id="2" name="小麦" initials="l" lastIdx="1" clrIdx="1"/>
  <p:cmAuthor id="9" name="ming qiu" initials="m" lastIdx="0" clrIdx="8"/>
  <p:cmAuthor id="3" name="仲杰 李" initials="仲杰" lastIdx="1" clrIdx="3"/>
  <p:cmAuthor id="10" name="WPS_1679281038" initials="W" lastIdx="0" clrIdx="9"/>
  <p:cmAuthor id="5" name="1206988966@qq.com" initials="1" lastIdx="0" clrIdx="4"/>
  <p:cmAuthor id="6" name="姜伟光" initials="姜" lastIdx="0" clrIdx="5"/>
  <p:cmAuthor id="11" name="田野田野" initials="田野田野" lastIdx="0" clrIdx="10"/>
  <p:cmAuthor id="12" name="作者" initials="A" lastIdx="0" clrIdx="11"/>
  <p:cmAuthor id="13" name="ALA11.黄宜隆" initials="A" lastIdx="0" clrIdx="12"/>
  <p:cmAuthor id="14" name="陈 源晨" initials="陈" lastIdx="0" clrIdx="13"/>
  <p:cmAuthor id="15" name="Haval Sh" initials="HS" lastIdx="0" clrIdx="14"/>
  <p:cmAuthor id="16" name="宋 雪贤" initials="宋" lastIdx="0" clrIdx="15"/>
  <p:cmAuthor id="17" name="YOYOON" initials="Y" lastIdx="0" clrIdx="16"/>
  <p:cmAuthor id="18" name=" src" initials="s" lastIdx="0" clrIdx="17"/>
  <p:cmAuthor id="19" name="WHITE GRAPHIC" initials="WG" lastIdx="0" clrIdx="18"/>
  <p:cmAuthor id="20" name="USER" initials="U" lastIdx="0" clrIdx="19"/>
  <p:cmAuthor id="21" name="SheHab" initials="S" lastIdx="0" clrIdx="20"/>
  <p:cmAuthor id="22" name="幸全" initials="幸全" lastIdx="0" clrIdx="21"/>
  <p:cmAuthor id="23" name="刘付观生" initials="刘付观生" lastIdx="0" clrIdx="22"/>
  <p:cmAuthor id="24" name="liufuguansheng" initials="liufu" lastIdx="0" clrIdx="23"/>
  <p:cmAuthor id="25" name="ITC" initials="I" lastIdx="0" clrIdx="24"/>
  <p:cmAuthor id="26" name="WATER MELON" initials="WM" lastIdx="0" clrIdx="25"/>
  <p:cmAuthor id="27" name="余 KM" initials="余" lastIdx="0" clrIdx="26"/>
  <p:cmAuthor id="28" name="8615900558199" initials="8" lastIdx="0" clrIdx="27"/>
  <p:cmAuthor id="29" name="WPS" initials="W" lastIdx="0" clrIdx="28"/>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04040"/>
    <a:srgbClr val="1C4274"/>
    <a:srgbClr val="9A3123"/>
    <a:srgbClr val="457B9D"/>
    <a:srgbClr val="FAF4F4"/>
    <a:srgbClr val="E8ECF1"/>
    <a:srgbClr val="AA3722"/>
    <a:srgbClr val="F1F5FA"/>
    <a:srgbClr val="F7F1F1"/>
    <a:srgbClr val="1D35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1E6A8D6-9716-4E29-9561-8EDCAC0E31F7}" styleName="三线式标题行镶边行表格样式_1 2 2">
    <a:wholeTbl>
      <a:tcTxStyle>
        <a:fontRef idx="none">
          <a:srgbClr val="08090C"/>
        </a:fontRef>
      </a:tcTxStyle>
      <a:tcStyle>
        <a:tcBdr/>
        <a:fill>
          <a:solidFill>
            <a:srgbClr val="FFFFFF"/>
          </a:solidFill>
        </a:fill>
      </a:tcStyle>
    </a:wholeTbl>
    <a:band2H>
      <a:tcStyle>
        <a:tcBdr/>
        <a:fill>
          <a:solidFill>
            <a:srgbClr val="F2F2F2"/>
          </a:solidFill>
        </a:fill>
      </a:tcStyle>
    </a:band2H>
    <a:band1V>
      <a:tcStyle>
        <a:tcBdr/>
        <a:fill>
          <a:solidFill>
            <a:srgbClr val="F2F2F2"/>
          </a:solidFill>
        </a:fill>
      </a:tcStyle>
    </a:band1V>
    <a:lastCol>
      <a:tcTxStyle b="on">
        <a:fontRef idx="none">
          <a:schemeClr val="accent1"/>
        </a:fontRef>
      </a:tcTxStyle>
      <a:tcStyle>
        <a:tcBdr/>
        <a:fill>
          <a:solidFill>
            <a:schemeClr val="bg1">
              <a:lumMod val="90002"/>
            </a:schemeClr>
          </a:solidFill>
        </a:fill>
      </a:tcStyle>
    </a:lastCol>
    <a:firstCol>
      <a:tcTxStyle b="on">
        <a:fontRef idx="none">
          <a:schemeClr val="accent1"/>
        </a:fontRef>
      </a:tcTxStyle>
      <a:tcStyle>
        <a:tcBdr/>
        <a:fill>
          <a:solidFill>
            <a:schemeClr val="bg1">
              <a:lumMod val="90002"/>
            </a:schemeClr>
          </a:solidFill>
        </a:fill>
      </a:tcStyle>
    </a:firstCol>
    <a:lastRow>
      <a:tcTxStyle b="on">
        <a:fontRef idx="none">
          <a:schemeClr val="accent1"/>
        </a:fontRef>
      </a:tcTxStyle>
      <a:tcStyle>
        <a:tcBdr/>
        <a:fill>
          <a:solidFill>
            <a:schemeClr val="accent1">
              <a:lumMod val="20000"/>
              <a:lumOff val="80000"/>
            </a:schemeClr>
          </a:solidFill>
        </a:fill>
      </a:tcStyle>
    </a:lastRow>
    <a:firstRow>
      <a:tcTxStyle b="on">
        <a:fontRef idx="none">
          <a:schemeClr val="accent1"/>
        </a:fontRef>
      </a:tcTxStyle>
      <a:tcStyle>
        <a:tcBdr/>
        <a:fill>
          <a:solidFill>
            <a:schemeClr val="accent1">
              <a:lumMod val="20000"/>
              <a:lumOff val="8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60" autoAdjust="0"/>
    <p:restoredTop sz="96457"/>
  </p:normalViewPr>
  <p:slideViewPr>
    <p:cSldViewPr snapToGrid="0" showGuides="1">
      <p:cViewPr varScale="1">
        <p:scale>
          <a:sx n="95" d="100"/>
          <a:sy n="95" d="100"/>
        </p:scale>
        <p:origin x="350" y="53"/>
      </p:cViewPr>
      <p:guideLst>
        <p:guide orient="horz" pos="2466"/>
        <p:guide pos="4128"/>
      </p:guideLst>
    </p:cSldViewPr>
  </p:slideViewPr>
  <p:outlineViewPr>
    <p:cViewPr>
      <p:scale>
        <a:sx n="33" d="100"/>
        <a:sy n="33" d="100"/>
      </p:scale>
      <p:origin x="0" y="-2576"/>
    </p:cViewPr>
  </p:outlineViewPr>
  <p:notesTextViewPr>
    <p:cViewPr>
      <p:scale>
        <a:sx n="3" d="2"/>
        <a:sy n="3" d="2"/>
      </p:scale>
      <p:origin x="0" y="0"/>
    </p:cViewPr>
  </p:notesTextViewPr>
  <p:sorterViewPr>
    <p:cViewPr>
      <p:scale>
        <a:sx n="1" d="1"/>
        <a:sy n="1" d="1"/>
      </p:scale>
      <p:origin x="0" y="-22714"/>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8" Type="http://schemas.openxmlformats.org/officeDocument/2006/relationships/tags" Target="tags/tag868.xml"/><Relationship Id="rId57" Type="http://schemas.openxmlformats.org/officeDocument/2006/relationships/commentAuthors" Target="commentAuthors.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handoutMaster" Target="handoutMasters/handoutMaster1.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系列 1</c:v>
                </c:pt>
              </c:strCache>
            </c:strRef>
          </c:tx>
          <c:spPr>
            <a:gradFill>
              <a:gsLst>
                <a:gs pos="100000">
                  <a:schemeClr val="accent1">
                    <a:lumMod val="20000"/>
                    <a:lumOff val="80000"/>
                    <a:alpha val="0"/>
                  </a:schemeClr>
                </a:gs>
                <a:gs pos="0">
                  <a:schemeClr val="accent1">
                    <a:lumMod val="60000"/>
                    <a:lumOff val="40000"/>
                    <a:alpha val="50000"/>
                  </a:schemeClr>
                </a:gs>
              </a:gsLst>
              <a:lin ang="5400000" scaled="1"/>
            </a:gradFill>
            <a:ln>
              <a:noFill/>
            </a:ln>
            <a:effectLst/>
          </c:spPr>
          <c:dLbls>
            <c:delete val="1"/>
          </c:dLbls>
          <c:cat>
            <c:numRef>
              <c:f>Sheet1!$A$2:$A$22</c:f>
              <c:numCache>
                <c:formatCode>yyyy/m/d</c:formatCode>
                <c:ptCount val="21"/>
                <c:pt idx="0" c:formatCode="yyyy/m/d">
                  <c:v>37261</c:v>
                </c:pt>
                <c:pt idx="1" c:formatCode="yyyy/m/d">
                  <c:v>37262</c:v>
                </c:pt>
                <c:pt idx="2" c:formatCode="yyyy/m/d">
                  <c:v>37263</c:v>
                </c:pt>
                <c:pt idx="3" c:formatCode="yyyy/m/d">
                  <c:v>37264</c:v>
                </c:pt>
                <c:pt idx="4" c:formatCode="yyyy/m/d">
                  <c:v>37265</c:v>
                </c:pt>
                <c:pt idx="5" c:formatCode="yyyy/m/d">
                  <c:v>37266</c:v>
                </c:pt>
                <c:pt idx="6" c:formatCode="yyyy/m/d">
                  <c:v>37267</c:v>
                </c:pt>
                <c:pt idx="7" c:formatCode="yyyy/m/d">
                  <c:v>37268</c:v>
                </c:pt>
                <c:pt idx="8" c:formatCode="yyyy/m/d">
                  <c:v>37269</c:v>
                </c:pt>
                <c:pt idx="9" c:formatCode="yyyy/m/d">
                  <c:v>37270</c:v>
                </c:pt>
                <c:pt idx="10" c:formatCode="yyyy/m/d">
                  <c:v>37271</c:v>
                </c:pt>
                <c:pt idx="11" c:formatCode="yyyy/m/d">
                  <c:v>37272</c:v>
                </c:pt>
                <c:pt idx="12" c:formatCode="yyyy/m/d">
                  <c:v>37273</c:v>
                </c:pt>
                <c:pt idx="13" c:formatCode="yyyy/m/d">
                  <c:v>37274</c:v>
                </c:pt>
                <c:pt idx="14" c:formatCode="yyyy/m/d">
                  <c:v>37275</c:v>
                </c:pt>
                <c:pt idx="15" c:formatCode="yyyy/m/d">
                  <c:v>37276</c:v>
                </c:pt>
                <c:pt idx="16" c:formatCode="yyyy/m/d">
                  <c:v>37277</c:v>
                </c:pt>
                <c:pt idx="17" c:formatCode="yyyy/m/d">
                  <c:v>37278</c:v>
                </c:pt>
                <c:pt idx="18" c:formatCode="yyyy/m/d">
                  <c:v>37279</c:v>
                </c:pt>
                <c:pt idx="19" c:formatCode="yyyy/m/d">
                  <c:v>37280</c:v>
                </c:pt>
                <c:pt idx="20" c:formatCode="yyyy/m/d">
                  <c:v>37281</c:v>
                </c:pt>
              </c:numCache>
            </c:numRef>
          </c:cat>
          <c:val>
            <c:numRef>
              <c:f>Sheet1!$B$2:$B$22</c:f>
              <c:numCache>
                <c:formatCode>General</c:formatCode>
                <c:ptCount val="21"/>
                <c:pt idx="0">
                  <c:v>10</c:v>
                </c:pt>
                <c:pt idx="1">
                  <c:v>7</c:v>
                </c:pt>
                <c:pt idx="2">
                  <c:v>6</c:v>
                </c:pt>
                <c:pt idx="3">
                  <c:v>8</c:v>
                </c:pt>
                <c:pt idx="4">
                  <c:v>11</c:v>
                </c:pt>
                <c:pt idx="5">
                  <c:v>14.5</c:v>
                </c:pt>
                <c:pt idx="6">
                  <c:v>12.6</c:v>
                </c:pt>
                <c:pt idx="7">
                  <c:v>10.5</c:v>
                </c:pt>
                <c:pt idx="8">
                  <c:v>9.5</c:v>
                </c:pt>
                <c:pt idx="9">
                  <c:v>11.5</c:v>
                </c:pt>
                <c:pt idx="10">
                  <c:v>15.5</c:v>
                </c:pt>
                <c:pt idx="11">
                  <c:v>18</c:v>
                </c:pt>
                <c:pt idx="12">
                  <c:v>18.8</c:v>
                </c:pt>
                <c:pt idx="13">
                  <c:v>17</c:v>
                </c:pt>
                <c:pt idx="14">
                  <c:v>15.4</c:v>
                </c:pt>
                <c:pt idx="15">
                  <c:v>15</c:v>
                </c:pt>
                <c:pt idx="16">
                  <c:v>16</c:v>
                </c:pt>
                <c:pt idx="17">
                  <c:v>17.5</c:v>
                </c:pt>
                <c:pt idx="18">
                  <c:v>19</c:v>
                </c:pt>
                <c:pt idx="19">
                  <c:v>22</c:v>
                </c:pt>
                <c:pt idx="20">
                  <c:v>26</c:v>
                </c:pt>
              </c:numCache>
            </c:numRef>
          </c:val>
        </c:ser>
        <c:dLbls>
          <c:showLegendKey val="0"/>
          <c:showVal val="1"/>
          <c:showCatName val="0"/>
          <c:showSerName val="0"/>
          <c:showPercent val="0"/>
          <c:showBubbleSize val="0"/>
        </c:dLbls>
        <c:axId val="234146301"/>
        <c:axId val="383499369"/>
      </c:areaChart>
      <c:dateAx>
        <c:axId val="234146301"/>
        <c:scaling>
          <c:orientation val="minMax"/>
        </c:scaling>
        <c:delete val="1"/>
        <c:axPos val="b"/>
        <c:numFmt formatCode="m/d/yyyy" sourceLinked="0"/>
        <c:majorTickMark val="out"/>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微软雅黑" panose="020B0503020204020204" charset="-122"/>
              </a:defRPr>
            </a:pPr>
          </a:p>
        </c:txPr>
        <c:crossAx val="383499369"/>
        <c:crosses val="autoZero"/>
        <c:auto val="1"/>
        <c:lblOffset val="100"/>
        <c:baseTimeUnit val="days"/>
      </c:dateAx>
      <c:valAx>
        <c:axId val="383499369"/>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微软雅黑" panose="020B0503020204020204" charset="-122"/>
              </a:defRPr>
            </a:pPr>
          </a:p>
        </c:txPr>
        <c:crossAx val="234146301"/>
        <c:crosses val="autoZero"/>
        <c:crossBetween val="midCat"/>
      </c:valAx>
      <c:spPr>
        <a:noFill/>
        <a:ln>
          <a:noFill/>
        </a:ln>
        <a:effectLst/>
      </c:spPr>
    </c:plotArea>
    <c:plotVisOnly val="1"/>
    <c:dispBlanksAs val="zero"/>
    <c:showDLblsOverMax val="0"/>
    <c:extLst>
      <c:ext uri="{0b15fc19-7d7d-44ad-8c2d-2c3a37ce22c3}">
        <chartProps xmlns="https://web.wps.cn/et/2018/main" chartId="{23f129d8-61f8-4ad4-922c-8f89e1bac109}"/>
      </c:ext>
    </c:extLst>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145">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4D99CA4-6036-3045-88D1-303F24D8A82C}" type="doc">
      <dgm:prSet loTypeId="urn:microsoft.com/office/officeart/2005/8/layout/process1" loCatId="" qsTypeId="urn:microsoft.com/office/officeart/2005/8/quickstyle/simple1#2" qsCatId="simple" csTypeId="urn:microsoft.com/office/officeart/2005/8/colors/colorful1#2" csCatId="colorful" phldr="1"/>
      <dgm:spPr/>
    </dgm:pt>
    <dgm:pt modelId="{5A899FB3-8319-6145-A682-4A2C6EB0D40A}" type="pres">
      <dgm:prSet presAssocID="{04D99CA4-6036-3045-88D1-303F24D8A82C}" presName="Name0" presStyleCnt="0">
        <dgm:presLayoutVars>
          <dgm:dir/>
          <dgm:resizeHandles val="exact"/>
        </dgm:presLayoutVars>
      </dgm:prSet>
      <dgm:spPr/>
    </dgm:pt>
  </dgm:ptLst>
  <dgm:cxnLst>
    <dgm:cxn modelId="{1B869829-1F9B-4BE2-9ADC-BF724ED06177}" type="presOf" srcId="{04D99CA4-6036-3045-88D1-303F24D8A82C}" destId="{5A899FB3-8319-6145-A682-4A2C6EB0D40A}" srcOrd="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6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6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6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6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kumimoji="1"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ACF6214C-E03D-6F40-B83F-4BCCB0CB53EF}"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3"/>
            <a:ext cx="7315200" cy="2700338"/>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kumimoji="1"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7D75D23C-CB69-BA4F-AB82-253009860475}"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9" name="文本框 8"/>
          <p:cNvSpPr txBox="1"/>
          <p:nvPr userDrawn="1"/>
        </p:nvSpPr>
        <p:spPr>
          <a:xfrm>
            <a:off x="5227955" y="215900"/>
            <a:ext cx="5846445" cy="826135"/>
          </a:xfrm>
          <a:prstGeom prst="rect">
            <a:avLst/>
          </a:prstGeom>
          <a:noFill/>
        </p:spPr>
        <p:txBody>
          <a:bodyPr wrap="square" rtlCol="0" anchor="ctr" anchorCtr="0">
            <a:noAutofit/>
          </a:bodyPr>
          <a:lstStyle/>
          <a:p>
            <a:pPr algn="ctr">
              <a:lnSpc>
                <a:spcPct val="150000"/>
              </a:lnSpc>
            </a:pPr>
            <a:r>
              <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rPr>
              <a:t>本作品系开悟思维原创作品，已获国家版权局作品登记证书！</a:t>
            </a:r>
            <a:endPar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pPr>
            <a:r>
              <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rPr>
              <a:t>原创版权保护，仅供个人学习使用，侵权必究！</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a:p>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cxnSp>
        <p:nvCxnSpPr>
          <p:cNvPr id="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8" name="内容占位符 57"/>
          <p:cNvSpPr>
            <a:spLocks noGrp="1"/>
          </p:cNvSpPr>
          <p:nvPr>
            <p:ph sz="quarter" idx="18"/>
          </p:nvPr>
        </p:nvSpPr>
        <p:spPr>
          <a:xfrm>
            <a:off x="519113" y="1289050"/>
            <a:ext cx="10987087" cy="4627563"/>
          </a:xfrm>
        </p:spPr>
        <p:txBody>
          <a:bodyPr/>
          <a:lstStyle>
            <a:lvl1pPr>
              <a:defRPr>
                <a:latin typeface="微软雅黑" panose="020B0503020204020204" charset="-122"/>
                <a:ea typeface="微软雅黑" panose="020B0503020204020204" charset="-122"/>
              </a:defRPr>
            </a:lvl1pPr>
            <a:lvl2pPr>
              <a:defRPr>
                <a:latin typeface="微软雅黑" panose="020B0503020204020204" charset="-122"/>
                <a:ea typeface="微软雅黑" panose="020B0503020204020204" charset="-122"/>
              </a:defRPr>
            </a:lvl2pPr>
            <a:lvl3pPr>
              <a:defRPr>
                <a:latin typeface="微软雅黑" panose="020B0503020204020204" charset="-122"/>
                <a:ea typeface="微软雅黑" panose="020B0503020204020204" charset="-122"/>
              </a:defRPr>
            </a:lvl3pPr>
            <a:lvl4pPr>
              <a:defRPr>
                <a:latin typeface="微软雅黑" panose="020B0503020204020204" charset="-122"/>
                <a:ea typeface="微软雅黑" panose="020B0503020204020204" charset="-122"/>
              </a:defRPr>
            </a:lvl4pPr>
            <a:lvl5pPr>
              <a:defRPr>
                <a:latin typeface="微软雅黑" panose="020B0503020204020204" charset="-122"/>
                <a:ea typeface="微软雅黑" panose="020B0503020204020204" charset="-122"/>
              </a:defRPr>
            </a:lvl5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标题 1"/>
          <p:cNvSpPr>
            <a:spLocks noGrp="1"/>
          </p:cNvSpPr>
          <p:nvPr>
            <p:ph type="ctrTitle" hasCustomPrompt="1"/>
          </p:nvPr>
        </p:nvSpPr>
        <p:spPr>
          <a:xfrm>
            <a:off x="368705" y="275357"/>
            <a:ext cx="2188210" cy="481330"/>
          </a:xfrm>
          <a:ln w="12700">
            <a:miter lim="400000"/>
          </a:ln>
        </p:spPr>
        <p:txBody>
          <a:bodyPr wrap="none" lIns="25400" tIns="25400" rIns="25400" bIns="25400">
            <a:spAutoFit/>
          </a:bodyPr>
          <a:lstStyle>
            <a:lvl1pPr>
              <a:defRPr kumimoji="0" lang="zh-CN" altLang="en-US" sz="2800" b="1" u="none" strike="noStrike" cap="none" spc="0" normalizeH="0" baseline="0" dirty="0">
                <a:ln>
                  <a:noFill/>
                </a:ln>
                <a:solidFill>
                  <a:schemeClr val="accent1"/>
                </a:solidFill>
                <a:effectLst>
                  <a:outerShdw blurRad="187896" dist="38100" dir="2700000" algn="tl" rotWithShape="0">
                    <a:srgbClr val="1C2952">
                      <a:alpha val="6000"/>
                    </a:srgbClr>
                  </a:outerShdw>
                </a:effectLst>
                <a:uLnTx/>
                <a:uFillTx/>
                <a:latin typeface="微软雅黑" panose="020B0503020204020204" charset="-122"/>
                <a:ea typeface="微软雅黑" panose="020B0503020204020204" charset="-122"/>
                <a:cs typeface="微软雅黑" panose="020B0503020204020204" charset="-122"/>
              </a:defRPr>
            </a:lvl1pPr>
          </a:lstStyle>
          <a:p>
            <a:pPr marL="0" marR="0" lvl="0" indent="0" fontAlgn="auto">
              <a:lnSpc>
                <a:spcPct val="100000"/>
              </a:lnSpc>
              <a:spcBef>
                <a:spcPts val="0"/>
              </a:spcBef>
              <a:spcAft>
                <a:spcPts val="0"/>
              </a:spcAft>
              <a:buClrTx/>
              <a:buSzTx/>
              <a:buFontTx/>
            </a:pPr>
            <a:r>
              <a:rPr lang="zh-CN" altLang="en-US" dirty="0"/>
              <a:t>单击输入文字</a:t>
            </a:r>
            <a:endParaRPr lang="zh-CN" altLang="en-US" dirty="0"/>
          </a:p>
        </p:txBody>
      </p:sp>
      <p:pic>
        <p:nvPicPr>
          <p:cNvPr id="4" name="图片 3"/>
          <p:cNvPicPr>
            <a:picLocks noChangeAspect="1"/>
          </p:cNvPicPr>
          <p:nvPr userDrawn="1"/>
        </p:nvPicPr>
        <p:blipFill>
          <a:blip r:embed="rId2"/>
          <a:srcRect r="56499" b="-1176"/>
          <a:stretch>
            <a:fillRect/>
          </a:stretch>
        </p:blipFill>
        <p:spPr>
          <a:xfrm>
            <a:off x="7656830" y="354330"/>
            <a:ext cx="1649095" cy="327660"/>
          </a:xfrm>
          <a:prstGeom prst="rect">
            <a:avLst/>
          </a:prstGeom>
        </p:spPr>
      </p:pic>
      <p:sp>
        <p:nvSpPr>
          <p:cNvPr id="2" name="文本框 1"/>
          <p:cNvSpPr txBox="1"/>
          <p:nvPr userDrawn="1"/>
        </p:nvSpPr>
        <p:spPr>
          <a:xfrm>
            <a:off x="9227185" y="417830"/>
            <a:ext cx="2970530" cy="245110"/>
          </a:xfrm>
          <a:prstGeom prst="rect">
            <a:avLst/>
          </a:prstGeom>
          <a:noFill/>
        </p:spPr>
        <p:txBody>
          <a:bodyPr wrap="square" rtlCol="0">
            <a:spAutoFit/>
          </a:bodyPr>
          <a:lstStyle/>
          <a:p>
            <a:r>
              <a:rPr lang="zh-CN" altLang="en-US" sz="1000">
                <a:solidFill>
                  <a:schemeClr val="tx2"/>
                </a:solidFill>
                <a:latin typeface="微软雅黑" panose="020B0503020204020204" charset="-122"/>
                <a:ea typeface="微软雅黑" panose="020B0503020204020204" charset="-122"/>
                <a:cs typeface="微软雅黑" panose="020B0503020204020204" charset="-122"/>
              </a:rPr>
              <a:t>复杂逻辑场景</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框架搭建系列</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PPT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模板</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0FC04CB4-406B-4597-B044-D3B6F9EB61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CD9AE3D-545A-4B2E-82ED-8AC91F57BFD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28" y="608412"/>
            <a:ext cx="10969709" cy="705614"/>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28" y="1490430"/>
            <a:ext cx="10969709" cy="4759297"/>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9" name="文本框 8"/>
          <p:cNvSpPr txBox="1"/>
          <p:nvPr userDrawn="1"/>
        </p:nvSpPr>
        <p:spPr>
          <a:xfrm>
            <a:off x="5227955" y="215900"/>
            <a:ext cx="5846445" cy="826135"/>
          </a:xfrm>
          <a:prstGeom prst="rect">
            <a:avLst/>
          </a:prstGeom>
          <a:noFill/>
        </p:spPr>
        <p:txBody>
          <a:bodyPr wrap="square" rtlCol="0" anchor="ctr" anchorCtr="0">
            <a:noAutofit/>
          </a:bodyPr>
          <a:lstStyle/>
          <a:p>
            <a:pPr algn="ctr">
              <a:lnSpc>
                <a:spcPct val="150000"/>
              </a:lnSpc>
            </a:pPr>
            <a:r>
              <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rPr>
              <a:t>本作品系开悟思维原创作品，已获国家版权局作品登记证书！</a:t>
            </a:r>
            <a:endPar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pPr>
            <a:r>
              <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rPr>
              <a:t>原创版权保护，仅供个人学习使用，侵权必究！</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a:p>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58" name="内容占位符 57"/>
          <p:cNvSpPr>
            <a:spLocks noGrp="1"/>
          </p:cNvSpPr>
          <p:nvPr>
            <p:ph sz="quarter" idx="18"/>
          </p:nvPr>
        </p:nvSpPr>
        <p:spPr>
          <a:xfrm>
            <a:off x="519113" y="1289050"/>
            <a:ext cx="10987087" cy="4627563"/>
          </a:xfrm>
        </p:spPr>
        <p:txBody>
          <a:bodyPr/>
          <a:lstStyle>
            <a:lvl1pPr>
              <a:defRPr>
                <a:latin typeface="微软雅黑" panose="020B0503020204020204" charset="-122"/>
                <a:ea typeface="微软雅黑" panose="020B0503020204020204" charset="-122"/>
              </a:defRPr>
            </a:lvl1pPr>
            <a:lvl2pPr>
              <a:defRPr>
                <a:latin typeface="微软雅黑" panose="020B0503020204020204" charset="-122"/>
                <a:ea typeface="微软雅黑" panose="020B0503020204020204" charset="-122"/>
              </a:defRPr>
            </a:lvl2pPr>
            <a:lvl3pPr>
              <a:defRPr>
                <a:latin typeface="微软雅黑" panose="020B0503020204020204" charset="-122"/>
                <a:ea typeface="微软雅黑" panose="020B0503020204020204" charset="-122"/>
              </a:defRPr>
            </a:lvl3pPr>
            <a:lvl4pPr>
              <a:defRPr>
                <a:latin typeface="微软雅黑" panose="020B0503020204020204" charset="-122"/>
                <a:ea typeface="微软雅黑" panose="020B0503020204020204" charset="-122"/>
              </a:defRPr>
            </a:lvl4pPr>
            <a:lvl5pPr>
              <a:defRPr>
                <a:latin typeface="微软雅黑" panose="020B0503020204020204" charset="-122"/>
                <a:ea typeface="微软雅黑" panose="020B0503020204020204" charset="-122"/>
              </a:defRPr>
            </a:lvl5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标题 1"/>
          <p:cNvSpPr>
            <a:spLocks noGrp="1"/>
          </p:cNvSpPr>
          <p:nvPr>
            <p:ph type="ctrTitle" hasCustomPrompt="1"/>
          </p:nvPr>
        </p:nvSpPr>
        <p:spPr>
          <a:xfrm>
            <a:off x="368705" y="275357"/>
            <a:ext cx="2188210" cy="481330"/>
          </a:xfrm>
          <a:ln w="12700">
            <a:miter lim="400000"/>
          </a:ln>
        </p:spPr>
        <p:txBody>
          <a:bodyPr wrap="none" lIns="25400" tIns="25400" rIns="25400" bIns="25400">
            <a:spAutoFit/>
          </a:bodyPr>
          <a:lstStyle>
            <a:lvl1pPr>
              <a:defRPr kumimoji="0" lang="zh-CN" altLang="en-US" sz="2800" b="1" u="none" strike="noStrike" cap="none" spc="0" normalizeH="0" baseline="0" dirty="0">
                <a:ln>
                  <a:noFill/>
                </a:ln>
                <a:solidFill>
                  <a:schemeClr val="accent1"/>
                </a:solidFill>
                <a:effectLst>
                  <a:outerShdw blurRad="187896" dist="38100" dir="2700000" algn="tl" rotWithShape="0">
                    <a:srgbClr val="1C2952">
                      <a:alpha val="6000"/>
                    </a:srgbClr>
                  </a:outerShdw>
                </a:effectLst>
                <a:uLnTx/>
                <a:uFillTx/>
                <a:latin typeface="微软雅黑" panose="020B0503020204020204" charset="-122"/>
                <a:ea typeface="微软雅黑" panose="020B0503020204020204" charset="-122"/>
                <a:cs typeface="微软雅黑" panose="020B0503020204020204" charset="-122"/>
              </a:defRPr>
            </a:lvl1pPr>
          </a:lstStyle>
          <a:p>
            <a:pPr marL="0" marR="0" lvl="0" indent="0" fontAlgn="auto">
              <a:lnSpc>
                <a:spcPct val="100000"/>
              </a:lnSpc>
              <a:spcBef>
                <a:spcPts val="0"/>
              </a:spcBef>
              <a:spcAft>
                <a:spcPts val="0"/>
              </a:spcAft>
              <a:buClrTx/>
              <a:buSzTx/>
              <a:buFontTx/>
            </a:pPr>
            <a:r>
              <a:rPr lang="zh-CN" altLang="en-US" dirty="0"/>
              <a:t>单击输入文字</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0FC04CB4-406B-4597-B044-D3B6F9EB61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CD9AE3D-545A-4B2E-82ED-8AC91F57BFD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28" y="608412"/>
            <a:ext cx="10969709" cy="705614"/>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28" y="1490430"/>
            <a:ext cx="10969709" cy="4759297"/>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3854961C-C3E7-4008-B7AA-A672D0EA3DB0}" type="datetimeFigureOut">
              <a:rPr lang="en-US" smtClean="0"/>
            </a:fld>
            <a:endParaRPr 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8472ACB7-49E0-448E-BCC2-AC9877F63D46}"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cs typeface="微软雅黑" panose="020B050302020402020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3854961C-C3E7-4008-B7AA-A672D0EA3DB0}" type="datetimeFigureOut">
              <a:rPr lang="en-US" smtClean="0"/>
            </a:fld>
            <a:endParaRPr 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8472ACB7-49E0-448E-BCC2-AC9877F63D46}"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cs typeface="微软雅黑" panose="020B050302020402020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3.xml"/><Relationship Id="rId3" Type="http://schemas.openxmlformats.org/officeDocument/2006/relationships/image" Target="../media/image3.png"/><Relationship Id="rId2" Type="http://schemas.openxmlformats.org/officeDocument/2006/relationships/tags" Target="../tags/tag12.xml"/><Relationship Id="rId1" Type="http://schemas.openxmlformats.org/officeDocument/2006/relationships/tags" Target="../tags/tag11.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9.xml"/><Relationship Id="rId6" Type="http://schemas.openxmlformats.org/officeDocument/2006/relationships/image" Target="../media/image10.png"/><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image" Target="../media/image11.png"/><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1" Type="http://schemas.openxmlformats.org/officeDocument/2006/relationships/slideLayout" Target="../slideLayouts/slideLayout9.xml"/><Relationship Id="rId10" Type="http://schemas.openxmlformats.org/officeDocument/2006/relationships/image" Target="../media/image12.png"/><Relationship Id="rId1" Type="http://schemas.openxmlformats.org/officeDocument/2006/relationships/tags" Target="../tags/tag21.xml"/></Relationships>
</file>

<file path=ppt/slides/_rels/slide7.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image" Target="../media/image14.png"/><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image" Target="../media/image13.png"/><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4" Type="http://schemas.openxmlformats.org/officeDocument/2006/relationships/slideLayout" Target="../slideLayouts/slideLayout9.xml"/><Relationship Id="rId13" Type="http://schemas.openxmlformats.org/officeDocument/2006/relationships/image" Target="../media/image16.png"/><Relationship Id="rId12" Type="http://schemas.openxmlformats.org/officeDocument/2006/relationships/image" Target="../media/image15.png"/><Relationship Id="rId11" Type="http://schemas.openxmlformats.org/officeDocument/2006/relationships/tags" Target="../tags/tag37.xml"/><Relationship Id="rId10" Type="http://schemas.openxmlformats.org/officeDocument/2006/relationships/tags" Target="../tags/tag36.xml"/><Relationship Id="rId1" Type="http://schemas.openxmlformats.org/officeDocument/2006/relationships/tags" Target="../tags/tag29.xml"/></Relationships>
</file>

<file path=ppt/slides/_rels/slide8.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image" Target="../media/image18.png"/><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image" Target="../media/image17.png"/><Relationship Id="rId2" Type="http://schemas.openxmlformats.org/officeDocument/2006/relationships/tags" Target="../tags/tag39.xml"/><Relationship Id="rId15" Type="http://schemas.openxmlformats.org/officeDocument/2006/relationships/slideLayout" Target="../slideLayouts/slideLayout9.xml"/><Relationship Id="rId14" Type="http://schemas.openxmlformats.org/officeDocument/2006/relationships/image" Target="../media/image20.png"/><Relationship Id="rId13" Type="http://schemas.openxmlformats.org/officeDocument/2006/relationships/tags" Target="../tags/tag47.xml"/><Relationship Id="rId12" Type="http://schemas.openxmlformats.org/officeDocument/2006/relationships/image" Target="../media/image19.png"/><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tags" Target="../tags/tag38.xml"/></Relationships>
</file>

<file path=ppt/slides/_rels/slide9.xml.rels><?xml version="1.0" encoding="UTF-8" standalone="yes"?>
<Relationships xmlns="http://schemas.openxmlformats.org/package/2006/relationships"><Relationship Id="rId99" Type="http://schemas.openxmlformats.org/officeDocument/2006/relationships/tags" Target="../tags/tag144.xml"/><Relationship Id="rId98" Type="http://schemas.openxmlformats.org/officeDocument/2006/relationships/tags" Target="../tags/tag143.xml"/><Relationship Id="rId97" Type="http://schemas.openxmlformats.org/officeDocument/2006/relationships/tags" Target="../tags/tag142.xml"/><Relationship Id="rId96" Type="http://schemas.openxmlformats.org/officeDocument/2006/relationships/tags" Target="../tags/tag141.xml"/><Relationship Id="rId95" Type="http://schemas.openxmlformats.org/officeDocument/2006/relationships/tags" Target="../tags/tag140.xml"/><Relationship Id="rId94" Type="http://schemas.openxmlformats.org/officeDocument/2006/relationships/tags" Target="../tags/tag139.xml"/><Relationship Id="rId93" Type="http://schemas.openxmlformats.org/officeDocument/2006/relationships/tags" Target="../tags/tag138.xml"/><Relationship Id="rId92" Type="http://schemas.openxmlformats.org/officeDocument/2006/relationships/tags" Target="../tags/tag137.xml"/><Relationship Id="rId91" Type="http://schemas.openxmlformats.org/officeDocument/2006/relationships/tags" Target="../tags/tag136.xml"/><Relationship Id="rId90" Type="http://schemas.openxmlformats.org/officeDocument/2006/relationships/tags" Target="../tags/tag135.xml"/><Relationship Id="rId9" Type="http://schemas.openxmlformats.org/officeDocument/2006/relationships/tags" Target="../tags/tag56.xml"/><Relationship Id="rId89" Type="http://schemas.openxmlformats.org/officeDocument/2006/relationships/tags" Target="../tags/tag134.xml"/><Relationship Id="rId88" Type="http://schemas.openxmlformats.org/officeDocument/2006/relationships/tags" Target="../tags/tag133.xml"/><Relationship Id="rId87" Type="http://schemas.openxmlformats.org/officeDocument/2006/relationships/tags" Target="../tags/tag132.xml"/><Relationship Id="rId86" Type="http://schemas.openxmlformats.org/officeDocument/2006/relationships/tags" Target="../tags/tag131.xml"/><Relationship Id="rId85" Type="http://schemas.openxmlformats.org/officeDocument/2006/relationships/tags" Target="../tags/tag130.xml"/><Relationship Id="rId84" Type="http://schemas.openxmlformats.org/officeDocument/2006/relationships/tags" Target="../tags/tag129.xml"/><Relationship Id="rId83" Type="http://schemas.openxmlformats.org/officeDocument/2006/relationships/tags" Target="../tags/tag128.xml"/><Relationship Id="rId82" Type="http://schemas.openxmlformats.org/officeDocument/2006/relationships/tags" Target="../tags/tag127.xml"/><Relationship Id="rId81" Type="http://schemas.openxmlformats.org/officeDocument/2006/relationships/tags" Target="../tags/tag126.xml"/><Relationship Id="rId80" Type="http://schemas.openxmlformats.org/officeDocument/2006/relationships/tags" Target="../tags/tag125.xml"/><Relationship Id="rId8" Type="http://schemas.openxmlformats.org/officeDocument/2006/relationships/tags" Target="../tags/tag55.xml"/><Relationship Id="rId79" Type="http://schemas.openxmlformats.org/officeDocument/2006/relationships/tags" Target="../tags/tag124.xml"/><Relationship Id="rId78" Type="http://schemas.openxmlformats.org/officeDocument/2006/relationships/tags" Target="../tags/tag123.xml"/><Relationship Id="rId77" Type="http://schemas.openxmlformats.org/officeDocument/2006/relationships/tags" Target="../tags/tag122.xml"/><Relationship Id="rId76" Type="http://schemas.openxmlformats.org/officeDocument/2006/relationships/tags" Target="../tags/tag121.xml"/><Relationship Id="rId75" Type="http://schemas.openxmlformats.org/officeDocument/2006/relationships/tags" Target="../tags/tag120.xml"/><Relationship Id="rId74" Type="http://schemas.openxmlformats.org/officeDocument/2006/relationships/tags" Target="../tags/tag119.xml"/><Relationship Id="rId73" Type="http://schemas.openxmlformats.org/officeDocument/2006/relationships/image" Target="../media/image22.svg"/><Relationship Id="rId72" Type="http://schemas.openxmlformats.org/officeDocument/2006/relationships/image" Target="../media/image21.png"/><Relationship Id="rId71" Type="http://schemas.openxmlformats.org/officeDocument/2006/relationships/tags" Target="../tags/tag118.xml"/><Relationship Id="rId70" Type="http://schemas.openxmlformats.org/officeDocument/2006/relationships/tags" Target="../tags/tag117.xml"/><Relationship Id="rId7" Type="http://schemas.openxmlformats.org/officeDocument/2006/relationships/tags" Target="../tags/tag54.xml"/><Relationship Id="rId69" Type="http://schemas.openxmlformats.org/officeDocument/2006/relationships/tags" Target="../tags/tag116.xml"/><Relationship Id="rId68" Type="http://schemas.openxmlformats.org/officeDocument/2006/relationships/tags" Target="../tags/tag115.xml"/><Relationship Id="rId67" Type="http://schemas.openxmlformats.org/officeDocument/2006/relationships/tags" Target="../tags/tag114.xml"/><Relationship Id="rId66" Type="http://schemas.openxmlformats.org/officeDocument/2006/relationships/tags" Target="../tags/tag113.xml"/><Relationship Id="rId65" Type="http://schemas.openxmlformats.org/officeDocument/2006/relationships/tags" Target="../tags/tag112.xml"/><Relationship Id="rId64" Type="http://schemas.openxmlformats.org/officeDocument/2006/relationships/tags" Target="../tags/tag111.xml"/><Relationship Id="rId63" Type="http://schemas.openxmlformats.org/officeDocument/2006/relationships/tags" Target="../tags/tag110.xml"/><Relationship Id="rId62" Type="http://schemas.openxmlformats.org/officeDocument/2006/relationships/tags" Target="../tags/tag109.xml"/><Relationship Id="rId61" Type="http://schemas.openxmlformats.org/officeDocument/2006/relationships/tags" Target="../tags/tag108.xml"/><Relationship Id="rId60" Type="http://schemas.openxmlformats.org/officeDocument/2006/relationships/tags" Target="../tags/tag107.xml"/><Relationship Id="rId6" Type="http://schemas.openxmlformats.org/officeDocument/2006/relationships/tags" Target="../tags/tag53.xml"/><Relationship Id="rId59" Type="http://schemas.openxmlformats.org/officeDocument/2006/relationships/tags" Target="../tags/tag106.xml"/><Relationship Id="rId58" Type="http://schemas.openxmlformats.org/officeDocument/2006/relationships/tags" Target="../tags/tag105.xml"/><Relationship Id="rId57" Type="http://schemas.openxmlformats.org/officeDocument/2006/relationships/tags" Target="../tags/tag104.xml"/><Relationship Id="rId56" Type="http://schemas.openxmlformats.org/officeDocument/2006/relationships/tags" Target="../tags/tag103.xml"/><Relationship Id="rId55" Type="http://schemas.openxmlformats.org/officeDocument/2006/relationships/tags" Target="../tags/tag102.xml"/><Relationship Id="rId54" Type="http://schemas.openxmlformats.org/officeDocument/2006/relationships/tags" Target="../tags/tag101.xml"/><Relationship Id="rId53" Type="http://schemas.openxmlformats.org/officeDocument/2006/relationships/tags" Target="../tags/tag100.xml"/><Relationship Id="rId52" Type="http://schemas.openxmlformats.org/officeDocument/2006/relationships/tags" Target="../tags/tag99.xml"/><Relationship Id="rId51" Type="http://schemas.openxmlformats.org/officeDocument/2006/relationships/tags" Target="../tags/tag98.xml"/><Relationship Id="rId50" Type="http://schemas.openxmlformats.org/officeDocument/2006/relationships/tags" Target="../tags/tag97.xml"/><Relationship Id="rId5" Type="http://schemas.openxmlformats.org/officeDocument/2006/relationships/tags" Target="../tags/tag52.xml"/><Relationship Id="rId49" Type="http://schemas.openxmlformats.org/officeDocument/2006/relationships/tags" Target="../tags/tag96.xml"/><Relationship Id="rId48" Type="http://schemas.openxmlformats.org/officeDocument/2006/relationships/tags" Target="../tags/tag95.xml"/><Relationship Id="rId47" Type="http://schemas.openxmlformats.org/officeDocument/2006/relationships/tags" Target="../tags/tag94.xml"/><Relationship Id="rId46" Type="http://schemas.openxmlformats.org/officeDocument/2006/relationships/tags" Target="../tags/tag93.xml"/><Relationship Id="rId45" Type="http://schemas.openxmlformats.org/officeDocument/2006/relationships/tags" Target="../tags/tag92.xml"/><Relationship Id="rId44" Type="http://schemas.openxmlformats.org/officeDocument/2006/relationships/tags" Target="../tags/tag91.xml"/><Relationship Id="rId43" Type="http://schemas.openxmlformats.org/officeDocument/2006/relationships/tags" Target="../tags/tag90.xml"/><Relationship Id="rId42" Type="http://schemas.openxmlformats.org/officeDocument/2006/relationships/tags" Target="../tags/tag89.xml"/><Relationship Id="rId41" Type="http://schemas.openxmlformats.org/officeDocument/2006/relationships/tags" Target="../tags/tag88.xml"/><Relationship Id="rId40" Type="http://schemas.openxmlformats.org/officeDocument/2006/relationships/tags" Target="../tags/tag87.xml"/><Relationship Id="rId4" Type="http://schemas.openxmlformats.org/officeDocument/2006/relationships/tags" Target="../tags/tag51.xml"/><Relationship Id="rId39" Type="http://schemas.openxmlformats.org/officeDocument/2006/relationships/tags" Target="../tags/tag86.xml"/><Relationship Id="rId38" Type="http://schemas.openxmlformats.org/officeDocument/2006/relationships/tags" Target="../tags/tag85.xml"/><Relationship Id="rId37" Type="http://schemas.openxmlformats.org/officeDocument/2006/relationships/tags" Target="../tags/tag84.xml"/><Relationship Id="rId36" Type="http://schemas.openxmlformats.org/officeDocument/2006/relationships/tags" Target="../tags/tag83.xml"/><Relationship Id="rId35" Type="http://schemas.openxmlformats.org/officeDocument/2006/relationships/tags" Target="../tags/tag82.xml"/><Relationship Id="rId34" Type="http://schemas.openxmlformats.org/officeDocument/2006/relationships/tags" Target="../tags/tag81.xml"/><Relationship Id="rId33" Type="http://schemas.openxmlformats.org/officeDocument/2006/relationships/tags" Target="../tags/tag80.xml"/><Relationship Id="rId32" Type="http://schemas.openxmlformats.org/officeDocument/2006/relationships/tags" Target="../tags/tag79.xml"/><Relationship Id="rId31" Type="http://schemas.openxmlformats.org/officeDocument/2006/relationships/tags" Target="../tags/tag78.xml"/><Relationship Id="rId30" Type="http://schemas.openxmlformats.org/officeDocument/2006/relationships/tags" Target="../tags/tag77.xml"/><Relationship Id="rId3" Type="http://schemas.openxmlformats.org/officeDocument/2006/relationships/tags" Target="../tags/tag50.xml"/><Relationship Id="rId29" Type="http://schemas.openxmlformats.org/officeDocument/2006/relationships/tags" Target="../tags/tag76.xml"/><Relationship Id="rId28" Type="http://schemas.openxmlformats.org/officeDocument/2006/relationships/tags" Target="../tags/tag75.xml"/><Relationship Id="rId27" Type="http://schemas.openxmlformats.org/officeDocument/2006/relationships/tags" Target="../tags/tag74.xml"/><Relationship Id="rId26" Type="http://schemas.openxmlformats.org/officeDocument/2006/relationships/tags" Target="../tags/tag73.xml"/><Relationship Id="rId25" Type="http://schemas.openxmlformats.org/officeDocument/2006/relationships/tags" Target="../tags/tag72.xml"/><Relationship Id="rId24" Type="http://schemas.openxmlformats.org/officeDocument/2006/relationships/tags" Target="../tags/tag71.xml"/><Relationship Id="rId23" Type="http://schemas.openxmlformats.org/officeDocument/2006/relationships/tags" Target="../tags/tag70.xml"/><Relationship Id="rId22" Type="http://schemas.openxmlformats.org/officeDocument/2006/relationships/tags" Target="../tags/tag69.xml"/><Relationship Id="rId21" Type="http://schemas.openxmlformats.org/officeDocument/2006/relationships/tags" Target="../tags/tag68.xml"/><Relationship Id="rId20" Type="http://schemas.openxmlformats.org/officeDocument/2006/relationships/tags" Target="../tags/tag67.xml"/><Relationship Id="rId2" Type="http://schemas.openxmlformats.org/officeDocument/2006/relationships/tags" Target="../tags/tag49.xml"/><Relationship Id="rId19" Type="http://schemas.openxmlformats.org/officeDocument/2006/relationships/tags" Target="../tags/tag66.xml"/><Relationship Id="rId18" Type="http://schemas.openxmlformats.org/officeDocument/2006/relationships/tags" Target="../tags/tag65.xml"/><Relationship Id="rId17" Type="http://schemas.openxmlformats.org/officeDocument/2006/relationships/tags" Target="../tags/tag64.xml"/><Relationship Id="rId16" Type="http://schemas.openxmlformats.org/officeDocument/2006/relationships/tags" Target="../tags/tag63.xml"/><Relationship Id="rId15" Type="http://schemas.openxmlformats.org/officeDocument/2006/relationships/tags" Target="../tags/tag62.xml"/><Relationship Id="rId148" Type="http://schemas.openxmlformats.org/officeDocument/2006/relationships/slideLayout" Target="../slideLayouts/slideLayout9.xml"/><Relationship Id="rId147" Type="http://schemas.openxmlformats.org/officeDocument/2006/relationships/tags" Target="../tags/tag192.xml"/><Relationship Id="rId146" Type="http://schemas.openxmlformats.org/officeDocument/2006/relationships/tags" Target="../tags/tag191.xml"/><Relationship Id="rId145" Type="http://schemas.openxmlformats.org/officeDocument/2006/relationships/tags" Target="../tags/tag190.xml"/><Relationship Id="rId144" Type="http://schemas.openxmlformats.org/officeDocument/2006/relationships/tags" Target="../tags/tag189.xml"/><Relationship Id="rId143" Type="http://schemas.openxmlformats.org/officeDocument/2006/relationships/tags" Target="../tags/tag188.xml"/><Relationship Id="rId142" Type="http://schemas.openxmlformats.org/officeDocument/2006/relationships/tags" Target="../tags/tag187.xml"/><Relationship Id="rId141" Type="http://schemas.openxmlformats.org/officeDocument/2006/relationships/tags" Target="../tags/tag186.xml"/><Relationship Id="rId140" Type="http://schemas.openxmlformats.org/officeDocument/2006/relationships/tags" Target="../tags/tag185.xml"/><Relationship Id="rId14" Type="http://schemas.openxmlformats.org/officeDocument/2006/relationships/tags" Target="../tags/tag61.xml"/><Relationship Id="rId139" Type="http://schemas.openxmlformats.org/officeDocument/2006/relationships/tags" Target="../tags/tag184.xml"/><Relationship Id="rId138" Type="http://schemas.openxmlformats.org/officeDocument/2006/relationships/tags" Target="../tags/tag183.xml"/><Relationship Id="rId137" Type="http://schemas.openxmlformats.org/officeDocument/2006/relationships/tags" Target="../tags/tag182.xml"/><Relationship Id="rId136" Type="http://schemas.openxmlformats.org/officeDocument/2006/relationships/tags" Target="../tags/tag181.xml"/><Relationship Id="rId135" Type="http://schemas.openxmlformats.org/officeDocument/2006/relationships/tags" Target="../tags/tag180.xml"/><Relationship Id="rId134" Type="http://schemas.openxmlformats.org/officeDocument/2006/relationships/tags" Target="../tags/tag179.xml"/><Relationship Id="rId133" Type="http://schemas.openxmlformats.org/officeDocument/2006/relationships/tags" Target="../tags/tag178.xml"/><Relationship Id="rId132" Type="http://schemas.openxmlformats.org/officeDocument/2006/relationships/tags" Target="../tags/tag177.xml"/><Relationship Id="rId131" Type="http://schemas.openxmlformats.org/officeDocument/2006/relationships/tags" Target="../tags/tag176.xml"/><Relationship Id="rId130" Type="http://schemas.openxmlformats.org/officeDocument/2006/relationships/tags" Target="../tags/tag175.xml"/><Relationship Id="rId13" Type="http://schemas.openxmlformats.org/officeDocument/2006/relationships/tags" Target="../tags/tag60.xml"/><Relationship Id="rId129" Type="http://schemas.openxmlformats.org/officeDocument/2006/relationships/tags" Target="../tags/tag174.xml"/><Relationship Id="rId128" Type="http://schemas.openxmlformats.org/officeDocument/2006/relationships/tags" Target="../tags/tag173.xml"/><Relationship Id="rId127" Type="http://schemas.openxmlformats.org/officeDocument/2006/relationships/tags" Target="../tags/tag172.xml"/><Relationship Id="rId126" Type="http://schemas.openxmlformats.org/officeDocument/2006/relationships/tags" Target="../tags/tag171.xml"/><Relationship Id="rId125" Type="http://schemas.openxmlformats.org/officeDocument/2006/relationships/tags" Target="../tags/tag170.xml"/><Relationship Id="rId124" Type="http://schemas.openxmlformats.org/officeDocument/2006/relationships/tags" Target="../tags/tag169.xml"/><Relationship Id="rId123" Type="http://schemas.openxmlformats.org/officeDocument/2006/relationships/tags" Target="../tags/tag168.xml"/><Relationship Id="rId122" Type="http://schemas.openxmlformats.org/officeDocument/2006/relationships/tags" Target="../tags/tag167.xml"/><Relationship Id="rId121" Type="http://schemas.openxmlformats.org/officeDocument/2006/relationships/tags" Target="../tags/tag166.xml"/><Relationship Id="rId120" Type="http://schemas.openxmlformats.org/officeDocument/2006/relationships/tags" Target="../tags/tag165.xml"/><Relationship Id="rId12" Type="http://schemas.openxmlformats.org/officeDocument/2006/relationships/tags" Target="../tags/tag59.xml"/><Relationship Id="rId119" Type="http://schemas.openxmlformats.org/officeDocument/2006/relationships/tags" Target="../tags/tag164.xml"/><Relationship Id="rId118" Type="http://schemas.openxmlformats.org/officeDocument/2006/relationships/tags" Target="../tags/tag163.xml"/><Relationship Id="rId117" Type="http://schemas.openxmlformats.org/officeDocument/2006/relationships/tags" Target="../tags/tag162.xml"/><Relationship Id="rId116" Type="http://schemas.openxmlformats.org/officeDocument/2006/relationships/tags" Target="../tags/tag161.xml"/><Relationship Id="rId115" Type="http://schemas.openxmlformats.org/officeDocument/2006/relationships/tags" Target="../tags/tag160.xml"/><Relationship Id="rId114" Type="http://schemas.openxmlformats.org/officeDocument/2006/relationships/tags" Target="../tags/tag159.xml"/><Relationship Id="rId113" Type="http://schemas.openxmlformats.org/officeDocument/2006/relationships/tags" Target="../tags/tag158.xml"/><Relationship Id="rId112" Type="http://schemas.openxmlformats.org/officeDocument/2006/relationships/tags" Target="../tags/tag157.xml"/><Relationship Id="rId111" Type="http://schemas.openxmlformats.org/officeDocument/2006/relationships/tags" Target="../tags/tag156.xml"/><Relationship Id="rId110" Type="http://schemas.openxmlformats.org/officeDocument/2006/relationships/tags" Target="../tags/tag155.xml"/><Relationship Id="rId11" Type="http://schemas.openxmlformats.org/officeDocument/2006/relationships/tags" Target="../tags/tag58.xml"/><Relationship Id="rId109" Type="http://schemas.openxmlformats.org/officeDocument/2006/relationships/tags" Target="../tags/tag154.xml"/><Relationship Id="rId108" Type="http://schemas.openxmlformats.org/officeDocument/2006/relationships/tags" Target="../tags/tag153.xml"/><Relationship Id="rId107" Type="http://schemas.openxmlformats.org/officeDocument/2006/relationships/tags" Target="../tags/tag152.xml"/><Relationship Id="rId106" Type="http://schemas.openxmlformats.org/officeDocument/2006/relationships/tags" Target="../tags/tag151.xml"/><Relationship Id="rId105" Type="http://schemas.openxmlformats.org/officeDocument/2006/relationships/tags" Target="../tags/tag150.xml"/><Relationship Id="rId104" Type="http://schemas.openxmlformats.org/officeDocument/2006/relationships/tags" Target="../tags/tag149.xml"/><Relationship Id="rId103" Type="http://schemas.openxmlformats.org/officeDocument/2006/relationships/tags" Target="../tags/tag148.xml"/><Relationship Id="rId102" Type="http://schemas.openxmlformats.org/officeDocument/2006/relationships/tags" Target="../tags/tag147.xml"/><Relationship Id="rId101" Type="http://schemas.openxmlformats.org/officeDocument/2006/relationships/tags" Target="../tags/tag146.xml"/><Relationship Id="rId100" Type="http://schemas.openxmlformats.org/officeDocument/2006/relationships/tags" Target="../tags/tag145.xml"/><Relationship Id="rId10" Type="http://schemas.openxmlformats.org/officeDocument/2006/relationships/tags" Target="../tags/tag57.xml"/><Relationship Id="rId1" Type="http://schemas.openxmlformats.org/officeDocument/2006/relationships/tags" Target="../tags/tag48.xml"/></Relationships>
</file>

<file path=ppt/slides/_rels/slide10.xml.rels><?xml version="1.0" encoding="UTF-8" standalone="yes"?>
<Relationships xmlns="http://schemas.openxmlformats.org/package/2006/relationships"><Relationship Id="rId9" Type="http://schemas.openxmlformats.org/officeDocument/2006/relationships/tags" Target="../tags/tag200.xml"/><Relationship Id="rId8" Type="http://schemas.openxmlformats.org/officeDocument/2006/relationships/tags" Target="../tags/tag199.xml"/><Relationship Id="rId7" Type="http://schemas.openxmlformats.org/officeDocument/2006/relationships/tags" Target="../tags/tag198.xml"/><Relationship Id="rId6" Type="http://schemas.openxmlformats.org/officeDocument/2006/relationships/tags" Target="../tags/tag197.xml"/><Relationship Id="rId5" Type="http://schemas.openxmlformats.org/officeDocument/2006/relationships/tags" Target="../tags/tag196.xml"/><Relationship Id="rId4" Type="http://schemas.openxmlformats.org/officeDocument/2006/relationships/tags" Target="../tags/tag195.xml"/><Relationship Id="rId3" Type="http://schemas.openxmlformats.org/officeDocument/2006/relationships/tags" Target="../tags/tag194.xml"/><Relationship Id="rId2" Type="http://schemas.openxmlformats.org/officeDocument/2006/relationships/tags" Target="../tags/tag193.xml"/><Relationship Id="rId19" Type="http://schemas.openxmlformats.org/officeDocument/2006/relationships/slideLayout" Target="../slideLayouts/slideLayout9.xml"/><Relationship Id="rId18" Type="http://schemas.openxmlformats.org/officeDocument/2006/relationships/tags" Target="../tags/tag209.xml"/><Relationship Id="rId17" Type="http://schemas.openxmlformats.org/officeDocument/2006/relationships/tags" Target="../tags/tag208.xml"/><Relationship Id="rId16" Type="http://schemas.openxmlformats.org/officeDocument/2006/relationships/tags" Target="../tags/tag207.xml"/><Relationship Id="rId15" Type="http://schemas.openxmlformats.org/officeDocument/2006/relationships/tags" Target="../tags/tag206.xml"/><Relationship Id="rId14" Type="http://schemas.openxmlformats.org/officeDocument/2006/relationships/tags" Target="../tags/tag205.xml"/><Relationship Id="rId13" Type="http://schemas.openxmlformats.org/officeDocument/2006/relationships/tags" Target="../tags/tag204.xml"/><Relationship Id="rId12" Type="http://schemas.openxmlformats.org/officeDocument/2006/relationships/tags" Target="../tags/tag203.xml"/><Relationship Id="rId11" Type="http://schemas.openxmlformats.org/officeDocument/2006/relationships/tags" Target="../tags/tag202.xml"/><Relationship Id="rId10" Type="http://schemas.openxmlformats.org/officeDocument/2006/relationships/tags" Target="../tags/tag201.xml"/><Relationship Id="rId1" Type="http://schemas.openxmlformats.org/officeDocument/2006/relationships/image" Target="../media/image23.jpeg"/></Relationships>
</file>

<file path=ppt/slides/_rels/slide11.xml.rels><?xml version="1.0" encoding="UTF-8" standalone="yes"?>
<Relationships xmlns="http://schemas.openxmlformats.org/package/2006/relationships"><Relationship Id="rId9" Type="http://schemas.openxmlformats.org/officeDocument/2006/relationships/tags" Target="../tags/tag216.xml"/><Relationship Id="rId8" Type="http://schemas.openxmlformats.org/officeDocument/2006/relationships/tags" Target="../tags/tag215.xml"/><Relationship Id="rId7" Type="http://schemas.openxmlformats.org/officeDocument/2006/relationships/tags" Target="../tags/tag214.xml"/><Relationship Id="rId6" Type="http://schemas.openxmlformats.org/officeDocument/2006/relationships/tags" Target="../tags/tag213.xml"/><Relationship Id="rId5" Type="http://schemas.openxmlformats.org/officeDocument/2006/relationships/tags" Target="../tags/tag212.xml"/><Relationship Id="rId41" Type="http://schemas.openxmlformats.org/officeDocument/2006/relationships/slideLayout" Target="../slideLayouts/slideLayout12.xml"/><Relationship Id="rId40" Type="http://schemas.openxmlformats.org/officeDocument/2006/relationships/image" Target="../media/image1.png"/><Relationship Id="rId4" Type="http://schemas.openxmlformats.org/officeDocument/2006/relationships/tags" Target="../tags/tag211.xml"/><Relationship Id="rId39" Type="http://schemas.openxmlformats.org/officeDocument/2006/relationships/image" Target="../media/image43.svg"/><Relationship Id="rId38" Type="http://schemas.openxmlformats.org/officeDocument/2006/relationships/image" Target="../media/image42.png"/><Relationship Id="rId37" Type="http://schemas.openxmlformats.org/officeDocument/2006/relationships/image" Target="../media/image41.svg"/><Relationship Id="rId36" Type="http://schemas.openxmlformats.org/officeDocument/2006/relationships/image" Target="../media/image40.png"/><Relationship Id="rId35" Type="http://schemas.openxmlformats.org/officeDocument/2006/relationships/image" Target="../media/image39.svg"/><Relationship Id="rId34" Type="http://schemas.openxmlformats.org/officeDocument/2006/relationships/image" Target="../media/image38.png"/><Relationship Id="rId33" Type="http://schemas.openxmlformats.org/officeDocument/2006/relationships/image" Target="../media/image37.svg"/><Relationship Id="rId32" Type="http://schemas.openxmlformats.org/officeDocument/2006/relationships/image" Target="../media/image36.png"/><Relationship Id="rId31" Type="http://schemas.openxmlformats.org/officeDocument/2006/relationships/image" Target="../media/image35.svg"/><Relationship Id="rId30" Type="http://schemas.openxmlformats.org/officeDocument/2006/relationships/image" Target="../media/image34.png"/><Relationship Id="rId3" Type="http://schemas.openxmlformats.org/officeDocument/2006/relationships/tags" Target="../tags/tag210.xml"/><Relationship Id="rId29" Type="http://schemas.openxmlformats.org/officeDocument/2006/relationships/image" Target="../media/image33.svg"/><Relationship Id="rId28" Type="http://schemas.openxmlformats.org/officeDocument/2006/relationships/image" Target="../media/image32.png"/><Relationship Id="rId27" Type="http://schemas.openxmlformats.org/officeDocument/2006/relationships/image" Target="../media/image31.svg"/><Relationship Id="rId26" Type="http://schemas.openxmlformats.org/officeDocument/2006/relationships/image" Target="../media/image30.png"/><Relationship Id="rId25" Type="http://schemas.openxmlformats.org/officeDocument/2006/relationships/image" Target="../media/image29.svg"/><Relationship Id="rId24" Type="http://schemas.openxmlformats.org/officeDocument/2006/relationships/image" Target="../media/image28.png"/><Relationship Id="rId23" Type="http://schemas.openxmlformats.org/officeDocument/2006/relationships/tags" Target="../tags/tag228.xml"/><Relationship Id="rId22" Type="http://schemas.openxmlformats.org/officeDocument/2006/relationships/tags" Target="../tags/tag227.xml"/><Relationship Id="rId21" Type="http://schemas.openxmlformats.org/officeDocument/2006/relationships/tags" Target="../tags/tag226.xml"/><Relationship Id="rId20" Type="http://schemas.openxmlformats.org/officeDocument/2006/relationships/tags" Target="../tags/tag225.xml"/><Relationship Id="rId2" Type="http://schemas.openxmlformats.org/officeDocument/2006/relationships/image" Target="../media/image25.svg"/><Relationship Id="rId19" Type="http://schemas.openxmlformats.org/officeDocument/2006/relationships/tags" Target="../tags/tag224.xml"/><Relationship Id="rId18" Type="http://schemas.openxmlformats.org/officeDocument/2006/relationships/tags" Target="../tags/tag223.xml"/><Relationship Id="rId17" Type="http://schemas.openxmlformats.org/officeDocument/2006/relationships/tags" Target="../tags/tag222.xml"/><Relationship Id="rId16" Type="http://schemas.openxmlformats.org/officeDocument/2006/relationships/tags" Target="../tags/tag221.xml"/><Relationship Id="rId15" Type="http://schemas.openxmlformats.org/officeDocument/2006/relationships/image" Target="../media/image27.svg"/><Relationship Id="rId14" Type="http://schemas.openxmlformats.org/officeDocument/2006/relationships/image" Target="../media/image26.png"/><Relationship Id="rId13" Type="http://schemas.openxmlformats.org/officeDocument/2006/relationships/tags" Target="../tags/tag220.xml"/><Relationship Id="rId12" Type="http://schemas.openxmlformats.org/officeDocument/2006/relationships/tags" Target="../tags/tag219.xml"/><Relationship Id="rId11" Type="http://schemas.openxmlformats.org/officeDocument/2006/relationships/tags" Target="../tags/tag218.xml"/><Relationship Id="rId10" Type="http://schemas.openxmlformats.org/officeDocument/2006/relationships/tags" Target="../tags/tag217.xml"/><Relationship Id="rId1" Type="http://schemas.openxmlformats.org/officeDocument/2006/relationships/image" Target="../media/image24.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1.png"/><Relationship Id="rId3" Type="http://schemas.openxmlformats.org/officeDocument/2006/relationships/image" Target="../media/image44.svg"/><Relationship Id="rId2" Type="http://schemas.openxmlformats.org/officeDocument/2006/relationships/image" Target="../media/image24.png"/><Relationship Id="rId1" Type="http://schemas.openxmlformats.org/officeDocument/2006/relationships/chart" Target="../charts/chart1.xml"/></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12.xml"/><Relationship Id="rId7" Type="http://schemas.openxmlformats.org/officeDocument/2006/relationships/image" Target="../media/image1.png"/><Relationship Id="rId6" Type="http://schemas.openxmlformats.org/officeDocument/2006/relationships/tags" Target="../tags/tag232.xml"/><Relationship Id="rId5" Type="http://schemas.openxmlformats.org/officeDocument/2006/relationships/tags" Target="../tags/tag231.xml"/><Relationship Id="rId4" Type="http://schemas.openxmlformats.org/officeDocument/2006/relationships/tags" Target="../tags/tag230.xml"/><Relationship Id="rId3" Type="http://schemas.openxmlformats.org/officeDocument/2006/relationships/tags" Target="../tags/tag229.xml"/><Relationship Id="rId2" Type="http://schemas.openxmlformats.org/officeDocument/2006/relationships/image" Target="../media/image45.svg"/><Relationship Id="rId1" Type="http://schemas.openxmlformats.org/officeDocument/2006/relationships/image" Target="../media/image24.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46.svg"/><Relationship Id="rId1" Type="http://schemas.openxmlformats.org/officeDocument/2006/relationships/image" Target="../media/image24.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47.svg"/><Relationship Id="rId1" Type="http://schemas.openxmlformats.org/officeDocument/2006/relationships/image" Target="../media/image24.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48.svg"/><Relationship Id="rId1" Type="http://schemas.openxmlformats.org/officeDocument/2006/relationships/image" Target="../media/image24.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49.svg"/><Relationship Id="rId1" Type="http://schemas.openxmlformats.org/officeDocument/2006/relationships/image" Target="../media/image24.png"/></Relationships>
</file>

<file path=ppt/slides/_rels/slide18.xml.rels><?xml version="1.0" encoding="UTF-8" standalone="yes"?>
<Relationships xmlns="http://schemas.openxmlformats.org/package/2006/relationships"><Relationship Id="rId99" Type="http://schemas.openxmlformats.org/officeDocument/2006/relationships/tags" Target="../tags/tag331.xml"/><Relationship Id="rId98" Type="http://schemas.openxmlformats.org/officeDocument/2006/relationships/tags" Target="../tags/tag330.xml"/><Relationship Id="rId97" Type="http://schemas.openxmlformats.org/officeDocument/2006/relationships/tags" Target="../tags/tag329.xml"/><Relationship Id="rId96" Type="http://schemas.openxmlformats.org/officeDocument/2006/relationships/tags" Target="../tags/tag328.xml"/><Relationship Id="rId95" Type="http://schemas.openxmlformats.org/officeDocument/2006/relationships/tags" Target="../tags/tag327.xml"/><Relationship Id="rId94" Type="http://schemas.openxmlformats.org/officeDocument/2006/relationships/tags" Target="../tags/tag326.xml"/><Relationship Id="rId93" Type="http://schemas.openxmlformats.org/officeDocument/2006/relationships/tags" Target="../tags/tag325.xml"/><Relationship Id="rId92" Type="http://schemas.openxmlformats.org/officeDocument/2006/relationships/tags" Target="../tags/tag324.xml"/><Relationship Id="rId91" Type="http://schemas.openxmlformats.org/officeDocument/2006/relationships/tags" Target="../tags/tag323.xml"/><Relationship Id="rId90" Type="http://schemas.openxmlformats.org/officeDocument/2006/relationships/tags" Target="../tags/tag322.xml"/><Relationship Id="rId9" Type="http://schemas.openxmlformats.org/officeDocument/2006/relationships/tags" Target="../tags/tag241.xml"/><Relationship Id="rId89" Type="http://schemas.openxmlformats.org/officeDocument/2006/relationships/tags" Target="../tags/tag321.xml"/><Relationship Id="rId88" Type="http://schemas.openxmlformats.org/officeDocument/2006/relationships/tags" Target="../tags/tag320.xml"/><Relationship Id="rId87" Type="http://schemas.openxmlformats.org/officeDocument/2006/relationships/tags" Target="../tags/tag319.xml"/><Relationship Id="rId86" Type="http://schemas.openxmlformats.org/officeDocument/2006/relationships/tags" Target="../tags/tag318.xml"/><Relationship Id="rId85" Type="http://schemas.openxmlformats.org/officeDocument/2006/relationships/tags" Target="../tags/tag317.xml"/><Relationship Id="rId84" Type="http://schemas.openxmlformats.org/officeDocument/2006/relationships/tags" Target="../tags/tag316.xml"/><Relationship Id="rId83" Type="http://schemas.openxmlformats.org/officeDocument/2006/relationships/tags" Target="../tags/tag315.xml"/><Relationship Id="rId82" Type="http://schemas.openxmlformats.org/officeDocument/2006/relationships/tags" Target="../tags/tag314.xml"/><Relationship Id="rId81" Type="http://schemas.openxmlformats.org/officeDocument/2006/relationships/tags" Target="../tags/tag313.xml"/><Relationship Id="rId80" Type="http://schemas.openxmlformats.org/officeDocument/2006/relationships/tags" Target="../tags/tag312.xml"/><Relationship Id="rId8" Type="http://schemas.openxmlformats.org/officeDocument/2006/relationships/tags" Target="../tags/tag240.xml"/><Relationship Id="rId79" Type="http://schemas.openxmlformats.org/officeDocument/2006/relationships/tags" Target="../tags/tag311.xml"/><Relationship Id="rId78" Type="http://schemas.openxmlformats.org/officeDocument/2006/relationships/tags" Target="../tags/tag310.xml"/><Relationship Id="rId77" Type="http://schemas.openxmlformats.org/officeDocument/2006/relationships/tags" Target="../tags/tag309.xml"/><Relationship Id="rId76" Type="http://schemas.openxmlformats.org/officeDocument/2006/relationships/tags" Target="../tags/tag308.xml"/><Relationship Id="rId75" Type="http://schemas.openxmlformats.org/officeDocument/2006/relationships/tags" Target="../tags/tag307.xml"/><Relationship Id="rId74" Type="http://schemas.openxmlformats.org/officeDocument/2006/relationships/tags" Target="../tags/tag306.xml"/><Relationship Id="rId73" Type="http://schemas.openxmlformats.org/officeDocument/2006/relationships/tags" Target="../tags/tag305.xml"/><Relationship Id="rId72" Type="http://schemas.openxmlformats.org/officeDocument/2006/relationships/tags" Target="../tags/tag304.xml"/><Relationship Id="rId71" Type="http://schemas.openxmlformats.org/officeDocument/2006/relationships/tags" Target="../tags/tag303.xml"/><Relationship Id="rId70" Type="http://schemas.openxmlformats.org/officeDocument/2006/relationships/tags" Target="../tags/tag302.xml"/><Relationship Id="rId7" Type="http://schemas.openxmlformats.org/officeDocument/2006/relationships/tags" Target="../tags/tag239.xml"/><Relationship Id="rId69" Type="http://schemas.openxmlformats.org/officeDocument/2006/relationships/tags" Target="../tags/tag301.xml"/><Relationship Id="rId68" Type="http://schemas.openxmlformats.org/officeDocument/2006/relationships/tags" Target="../tags/tag300.xml"/><Relationship Id="rId67" Type="http://schemas.openxmlformats.org/officeDocument/2006/relationships/tags" Target="../tags/tag299.xml"/><Relationship Id="rId66" Type="http://schemas.openxmlformats.org/officeDocument/2006/relationships/tags" Target="../tags/tag298.xml"/><Relationship Id="rId65" Type="http://schemas.openxmlformats.org/officeDocument/2006/relationships/tags" Target="../tags/tag297.xml"/><Relationship Id="rId64" Type="http://schemas.openxmlformats.org/officeDocument/2006/relationships/tags" Target="../tags/tag296.xml"/><Relationship Id="rId63" Type="http://schemas.openxmlformats.org/officeDocument/2006/relationships/tags" Target="../tags/tag295.xml"/><Relationship Id="rId62" Type="http://schemas.openxmlformats.org/officeDocument/2006/relationships/tags" Target="../tags/tag294.xml"/><Relationship Id="rId61" Type="http://schemas.openxmlformats.org/officeDocument/2006/relationships/tags" Target="../tags/tag293.xml"/><Relationship Id="rId60" Type="http://schemas.openxmlformats.org/officeDocument/2006/relationships/tags" Target="../tags/tag292.xml"/><Relationship Id="rId6" Type="http://schemas.openxmlformats.org/officeDocument/2006/relationships/tags" Target="../tags/tag238.xml"/><Relationship Id="rId59" Type="http://schemas.openxmlformats.org/officeDocument/2006/relationships/tags" Target="../tags/tag291.xml"/><Relationship Id="rId58" Type="http://schemas.openxmlformats.org/officeDocument/2006/relationships/tags" Target="../tags/tag290.xml"/><Relationship Id="rId57" Type="http://schemas.openxmlformats.org/officeDocument/2006/relationships/tags" Target="../tags/tag289.xml"/><Relationship Id="rId56" Type="http://schemas.openxmlformats.org/officeDocument/2006/relationships/tags" Target="../tags/tag288.xml"/><Relationship Id="rId55" Type="http://schemas.openxmlformats.org/officeDocument/2006/relationships/tags" Target="../tags/tag287.xml"/><Relationship Id="rId54" Type="http://schemas.openxmlformats.org/officeDocument/2006/relationships/tags" Target="../tags/tag286.xml"/><Relationship Id="rId53" Type="http://schemas.openxmlformats.org/officeDocument/2006/relationships/tags" Target="../tags/tag285.xml"/><Relationship Id="rId52" Type="http://schemas.openxmlformats.org/officeDocument/2006/relationships/tags" Target="../tags/tag284.xml"/><Relationship Id="rId51" Type="http://schemas.openxmlformats.org/officeDocument/2006/relationships/tags" Target="../tags/tag283.xml"/><Relationship Id="rId50" Type="http://schemas.openxmlformats.org/officeDocument/2006/relationships/tags" Target="../tags/tag282.xml"/><Relationship Id="rId5" Type="http://schemas.openxmlformats.org/officeDocument/2006/relationships/tags" Target="../tags/tag237.xml"/><Relationship Id="rId49" Type="http://schemas.openxmlformats.org/officeDocument/2006/relationships/tags" Target="../tags/tag281.xml"/><Relationship Id="rId48" Type="http://schemas.openxmlformats.org/officeDocument/2006/relationships/tags" Target="../tags/tag280.xml"/><Relationship Id="rId47" Type="http://schemas.openxmlformats.org/officeDocument/2006/relationships/tags" Target="../tags/tag279.xml"/><Relationship Id="rId46" Type="http://schemas.openxmlformats.org/officeDocument/2006/relationships/tags" Target="../tags/tag278.xml"/><Relationship Id="rId45" Type="http://schemas.openxmlformats.org/officeDocument/2006/relationships/tags" Target="../tags/tag277.xml"/><Relationship Id="rId44" Type="http://schemas.openxmlformats.org/officeDocument/2006/relationships/tags" Target="../tags/tag276.xml"/><Relationship Id="rId43" Type="http://schemas.openxmlformats.org/officeDocument/2006/relationships/tags" Target="../tags/tag275.xml"/><Relationship Id="rId42" Type="http://schemas.openxmlformats.org/officeDocument/2006/relationships/tags" Target="../tags/tag274.xml"/><Relationship Id="rId41" Type="http://schemas.openxmlformats.org/officeDocument/2006/relationships/tags" Target="../tags/tag273.xml"/><Relationship Id="rId40" Type="http://schemas.openxmlformats.org/officeDocument/2006/relationships/tags" Target="../tags/tag272.xml"/><Relationship Id="rId4" Type="http://schemas.openxmlformats.org/officeDocument/2006/relationships/tags" Target="../tags/tag236.xml"/><Relationship Id="rId39" Type="http://schemas.openxmlformats.org/officeDocument/2006/relationships/tags" Target="../tags/tag271.xml"/><Relationship Id="rId38" Type="http://schemas.openxmlformats.org/officeDocument/2006/relationships/tags" Target="../tags/tag270.xml"/><Relationship Id="rId37" Type="http://schemas.openxmlformats.org/officeDocument/2006/relationships/tags" Target="../tags/tag269.xml"/><Relationship Id="rId36" Type="http://schemas.openxmlformats.org/officeDocument/2006/relationships/tags" Target="../tags/tag268.xml"/><Relationship Id="rId35" Type="http://schemas.openxmlformats.org/officeDocument/2006/relationships/tags" Target="../tags/tag267.xml"/><Relationship Id="rId34" Type="http://schemas.openxmlformats.org/officeDocument/2006/relationships/tags" Target="../tags/tag266.xml"/><Relationship Id="rId33" Type="http://schemas.openxmlformats.org/officeDocument/2006/relationships/tags" Target="../tags/tag265.xml"/><Relationship Id="rId32" Type="http://schemas.openxmlformats.org/officeDocument/2006/relationships/tags" Target="../tags/tag264.xml"/><Relationship Id="rId31" Type="http://schemas.openxmlformats.org/officeDocument/2006/relationships/tags" Target="../tags/tag263.xml"/><Relationship Id="rId30" Type="http://schemas.openxmlformats.org/officeDocument/2006/relationships/tags" Target="../tags/tag262.xml"/><Relationship Id="rId3" Type="http://schemas.openxmlformats.org/officeDocument/2006/relationships/tags" Target="../tags/tag235.xml"/><Relationship Id="rId29" Type="http://schemas.openxmlformats.org/officeDocument/2006/relationships/tags" Target="../tags/tag261.xml"/><Relationship Id="rId28" Type="http://schemas.openxmlformats.org/officeDocument/2006/relationships/tags" Target="../tags/tag260.xml"/><Relationship Id="rId27" Type="http://schemas.openxmlformats.org/officeDocument/2006/relationships/tags" Target="../tags/tag259.xml"/><Relationship Id="rId26" Type="http://schemas.openxmlformats.org/officeDocument/2006/relationships/tags" Target="../tags/tag258.xml"/><Relationship Id="rId25" Type="http://schemas.openxmlformats.org/officeDocument/2006/relationships/tags" Target="../tags/tag257.xml"/><Relationship Id="rId24" Type="http://schemas.openxmlformats.org/officeDocument/2006/relationships/tags" Target="../tags/tag256.xml"/><Relationship Id="rId23" Type="http://schemas.openxmlformats.org/officeDocument/2006/relationships/tags" Target="../tags/tag255.xml"/><Relationship Id="rId22" Type="http://schemas.openxmlformats.org/officeDocument/2006/relationships/tags" Target="../tags/tag254.xml"/><Relationship Id="rId21" Type="http://schemas.openxmlformats.org/officeDocument/2006/relationships/tags" Target="../tags/tag253.xml"/><Relationship Id="rId20" Type="http://schemas.openxmlformats.org/officeDocument/2006/relationships/tags" Target="../tags/tag252.xml"/><Relationship Id="rId2" Type="http://schemas.openxmlformats.org/officeDocument/2006/relationships/tags" Target="../tags/tag234.xml"/><Relationship Id="rId19" Type="http://schemas.openxmlformats.org/officeDocument/2006/relationships/tags" Target="../tags/tag251.xml"/><Relationship Id="rId180" Type="http://schemas.openxmlformats.org/officeDocument/2006/relationships/slideLayout" Target="../slideLayouts/slideLayout12.xml"/><Relationship Id="rId18" Type="http://schemas.openxmlformats.org/officeDocument/2006/relationships/tags" Target="../tags/tag250.xml"/><Relationship Id="rId179" Type="http://schemas.openxmlformats.org/officeDocument/2006/relationships/image" Target="../media/image1.png"/><Relationship Id="rId178" Type="http://schemas.openxmlformats.org/officeDocument/2006/relationships/image" Target="../media/image50.svg"/><Relationship Id="rId177" Type="http://schemas.openxmlformats.org/officeDocument/2006/relationships/image" Target="../media/image24.png"/><Relationship Id="rId176" Type="http://schemas.openxmlformats.org/officeDocument/2006/relationships/tags" Target="../tags/tag408.xml"/><Relationship Id="rId175" Type="http://schemas.openxmlformats.org/officeDocument/2006/relationships/tags" Target="../tags/tag407.xml"/><Relationship Id="rId174" Type="http://schemas.openxmlformats.org/officeDocument/2006/relationships/tags" Target="../tags/tag406.xml"/><Relationship Id="rId173" Type="http://schemas.openxmlformats.org/officeDocument/2006/relationships/tags" Target="../tags/tag405.xml"/><Relationship Id="rId172" Type="http://schemas.openxmlformats.org/officeDocument/2006/relationships/tags" Target="../tags/tag404.xml"/><Relationship Id="rId171" Type="http://schemas.openxmlformats.org/officeDocument/2006/relationships/tags" Target="../tags/tag403.xml"/><Relationship Id="rId170" Type="http://schemas.openxmlformats.org/officeDocument/2006/relationships/tags" Target="../tags/tag402.xml"/><Relationship Id="rId17" Type="http://schemas.openxmlformats.org/officeDocument/2006/relationships/tags" Target="../tags/tag249.xml"/><Relationship Id="rId169" Type="http://schemas.openxmlformats.org/officeDocument/2006/relationships/tags" Target="../tags/tag401.xml"/><Relationship Id="rId168" Type="http://schemas.openxmlformats.org/officeDocument/2006/relationships/tags" Target="../tags/tag400.xml"/><Relationship Id="rId167" Type="http://schemas.openxmlformats.org/officeDocument/2006/relationships/tags" Target="../tags/tag399.xml"/><Relationship Id="rId166" Type="http://schemas.openxmlformats.org/officeDocument/2006/relationships/tags" Target="../tags/tag398.xml"/><Relationship Id="rId165" Type="http://schemas.openxmlformats.org/officeDocument/2006/relationships/tags" Target="../tags/tag397.xml"/><Relationship Id="rId164" Type="http://schemas.openxmlformats.org/officeDocument/2006/relationships/tags" Target="../tags/tag396.xml"/><Relationship Id="rId163" Type="http://schemas.openxmlformats.org/officeDocument/2006/relationships/tags" Target="../tags/tag395.xml"/><Relationship Id="rId162" Type="http://schemas.openxmlformats.org/officeDocument/2006/relationships/tags" Target="../tags/tag394.xml"/><Relationship Id="rId161" Type="http://schemas.openxmlformats.org/officeDocument/2006/relationships/tags" Target="../tags/tag393.xml"/><Relationship Id="rId160" Type="http://schemas.openxmlformats.org/officeDocument/2006/relationships/tags" Target="../tags/tag392.xml"/><Relationship Id="rId16" Type="http://schemas.openxmlformats.org/officeDocument/2006/relationships/tags" Target="../tags/tag248.xml"/><Relationship Id="rId159" Type="http://schemas.openxmlformats.org/officeDocument/2006/relationships/tags" Target="../tags/tag391.xml"/><Relationship Id="rId158" Type="http://schemas.openxmlformats.org/officeDocument/2006/relationships/tags" Target="../tags/tag390.xml"/><Relationship Id="rId157" Type="http://schemas.openxmlformats.org/officeDocument/2006/relationships/tags" Target="../tags/tag389.xml"/><Relationship Id="rId156" Type="http://schemas.openxmlformats.org/officeDocument/2006/relationships/tags" Target="../tags/tag388.xml"/><Relationship Id="rId155" Type="http://schemas.openxmlformats.org/officeDocument/2006/relationships/tags" Target="../tags/tag387.xml"/><Relationship Id="rId154" Type="http://schemas.openxmlformats.org/officeDocument/2006/relationships/tags" Target="../tags/tag386.xml"/><Relationship Id="rId153" Type="http://schemas.openxmlformats.org/officeDocument/2006/relationships/tags" Target="../tags/tag385.xml"/><Relationship Id="rId152" Type="http://schemas.openxmlformats.org/officeDocument/2006/relationships/tags" Target="../tags/tag384.xml"/><Relationship Id="rId151" Type="http://schemas.openxmlformats.org/officeDocument/2006/relationships/tags" Target="../tags/tag383.xml"/><Relationship Id="rId150" Type="http://schemas.openxmlformats.org/officeDocument/2006/relationships/tags" Target="../tags/tag382.xml"/><Relationship Id="rId15" Type="http://schemas.openxmlformats.org/officeDocument/2006/relationships/tags" Target="../tags/tag247.xml"/><Relationship Id="rId149" Type="http://schemas.openxmlformats.org/officeDocument/2006/relationships/tags" Target="../tags/tag381.xml"/><Relationship Id="rId148" Type="http://schemas.openxmlformats.org/officeDocument/2006/relationships/tags" Target="../tags/tag380.xml"/><Relationship Id="rId147" Type="http://schemas.openxmlformats.org/officeDocument/2006/relationships/tags" Target="../tags/tag379.xml"/><Relationship Id="rId146" Type="http://schemas.openxmlformats.org/officeDocument/2006/relationships/tags" Target="../tags/tag378.xml"/><Relationship Id="rId145" Type="http://schemas.openxmlformats.org/officeDocument/2006/relationships/tags" Target="../tags/tag377.xml"/><Relationship Id="rId144" Type="http://schemas.openxmlformats.org/officeDocument/2006/relationships/tags" Target="../tags/tag376.xml"/><Relationship Id="rId143" Type="http://schemas.openxmlformats.org/officeDocument/2006/relationships/tags" Target="../tags/tag375.xml"/><Relationship Id="rId142" Type="http://schemas.openxmlformats.org/officeDocument/2006/relationships/tags" Target="../tags/tag374.xml"/><Relationship Id="rId141" Type="http://schemas.openxmlformats.org/officeDocument/2006/relationships/tags" Target="../tags/tag373.xml"/><Relationship Id="rId140" Type="http://schemas.openxmlformats.org/officeDocument/2006/relationships/tags" Target="../tags/tag372.xml"/><Relationship Id="rId14" Type="http://schemas.openxmlformats.org/officeDocument/2006/relationships/tags" Target="../tags/tag246.xml"/><Relationship Id="rId139" Type="http://schemas.openxmlformats.org/officeDocument/2006/relationships/tags" Target="../tags/tag371.xml"/><Relationship Id="rId138" Type="http://schemas.openxmlformats.org/officeDocument/2006/relationships/tags" Target="../tags/tag370.xml"/><Relationship Id="rId137" Type="http://schemas.openxmlformats.org/officeDocument/2006/relationships/tags" Target="../tags/tag369.xml"/><Relationship Id="rId136" Type="http://schemas.openxmlformats.org/officeDocument/2006/relationships/tags" Target="../tags/tag368.xml"/><Relationship Id="rId135" Type="http://schemas.openxmlformats.org/officeDocument/2006/relationships/tags" Target="../tags/tag367.xml"/><Relationship Id="rId134" Type="http://schemas.openxmlformats.org/officeDocument/2006/relationships/tags" Target="../tags/tag366.xml"/><Relationship Id="rId133" Type="http://schemas.openxmlformats.org/officeDocument/2006/relationships/tags" Target="../tags/tag365.xml"/><Relationship Id="rId132" Type="http://schemas.openxmlformats.org/officeDocument/2006/relationships/tags" Target="../tags/tag364.xml"/><Relationship Id="rId131" Type="http://schemas.openxmlformats.org/officeDocument/2006/relationships/tags" Target="../tags/tag363.xml"/><Relationship Id="rId130" Type="http://schemas.openxmlformats.org/officeDocument/2006/relationships/tags" Target="../tags/tag362.xml"/><Relationship Id="rId13" Type="http://schemas.openxmlformats.org/officeDocument/2006/relationships/tags" Target="../tags/tag245.xml"/><Relationship Id="rId129" Type="http://schemas.openxmlformats.org/officeDocument/2006/relationships/tags" Target="../tags/tag361.xml"/><Relationship Id="rId128" Type="http://schemas.openxmlformats.org/officeDocument/2006/relationships/tags" Target="../tags/tag360.xml"/><Relationship Id="rId127" Type="http://schemas.openxmlformats.org/officeDocument/2006/relationships/tags" Target="../tags/tag359.xml"/><Relationship Id="rId126" Type="http://schemas.openxmlformats.org/officeDocument/2006/relationships/tags" Target="../tags/tag358.xml"/><Relationship Id="rId125" Type="http://schemas.openxmlformats.org/officeDocument/2006/relationships/tags" Target="../tags/tag357.xml"/><Relationship Id="rId124" Type="http://schemas.openxmlformats.org/officeDocument/2006/relationships/tags" Target="../tags/tag356.xml"/><Relationship Id="rId123" Type="http://schemas.openxmlformats.org/officeDocument/2006/relationships/tags" Target="../tags/tag355.xml"/><Relationship Id="rId122" Type="http://schemas.openxmlformats.org/officeDocument/2006/relationships/tags" Target="../tags/tag354.xml"/><Relationship Id="rId121" Type="http://schemas.openxmlformats.org/officeDocument/2006/relationships/tags" Target="../tags/tag353.xml"/><Relationship Id="rId120" Type="http://schemas.openxmlformats.org/officeDocument/2006/relationships/tags" Target="../tags/tag352.xml"/><Relationship Id="rId12" Type="http://schemas.openxmlformats.org/officeDocument/2006/relationships/tags" Target="../tags/tag244.xml"/><Relationship Id="rId119" Type="http://schemas.openxmlformats.org/officeDocument/2006/relationships/tags" Target="../tags/tag351.xml"/><Relationship Id="rId118" Type="http://schemas.openxmlformats.org/officeDocument/2006/relationships/tags" Target="../tags/tag350.xml"/><Relationship Id="rId117" Type="http://schemas.openxmlformats.org/officeDocument/2006/relationships/tags" Target="../tags/tag349.xml"/><Relationship Id="rId116" Type="http://schemas.openxmlformats.org/officeDocument/2006/relationships/tags" Target="../tags/tag348.xml"/><Relationship Id="rId115" Type="http://schemas.openxmlformats.org/officeDocument/2006/relationships/tags" Target="../tags/tag347.xml"/><Relationship Id="rId114" Type="http://schemas.openxmlformats.org/officeDocument/2006/relationships/tags" Target="../tags/tag346.xml"/><Relationship Id="rId113" Type="http://schemas.openxmlformats.org/officeDocument/2006/relationships/tags" Target="../tags/tag345.xml"/><Relationship Id="rId112" Type="http://schemas.openxmlformats.org/officeDocument/2006/relationships/tags" Target="../tags/tag344.xml"/><Relationship Id="rId111" Type="http://schemas.openxmlformats.org/officeDocument/2006/relationships/tags" Target="../tags/tag343.xml"/><Relationship Id="rId110" Type="http://schemas.openxmlformats.org/officeDocument/2006/relationships/tags" Target="../tags/tag342.xml"/><Relationship Id="rId11" Type="http://schemas.openxmlformats.org/officeDocument/2006/relationships/tags" Target="../tags/tag243.xml"/><Relationship Id="rId109" Type="http://schemas.openxmlformats.org/officeDocument/2006/relationships/tags" Target="../tags/tag341.xml"/><Relationship Id="rId108" Type="http://schemas.openxmlformats.org/officeDocument/2006/relationships/tags" Target="../tags/tag340.xml"/><Relationship Id="rId107" Type="http://schemas.openxmlformats.org/officeDocument/2006/relationships/tags" Target="../tags/tag339.xml"/><Relationship Id="rId106" Type="http://schemas.openxmlformats.org/officeDocument/2006/relationships/tags" Target="../tags/tag338.xml"/><Relationship Id="rId105" Type="http://schemas.openxmlformats.org/officeDocument/2006/relationships/tags" Target="../tags/tag337.xml"/><Relationship Id="rId104" Type="http://schemas.openxmlformats.org/officeDocument/2006/relationships/tags" Target="../tags/tag336.xml"/><Relationship Id="rId103" Type="http://schemas.openxmlformats.org/officeDocument/2006/relationships/tags" Target="../tags/tag335.xml"/><Relationship Id="rId102" Type="http://schemas.openxmlformats.org/officeDocument/2006/relationships/tags" Target="../tags/tag334.xml"/><Relationship Id="rId101" Type="http://schemas.openxmlformats.org/officeDocument/2006/relationships/tags" Target="../tags/tag333.xml"/><Relationship Id="rId100" Type="http://schemas.openxmlformats.org/officeDocument/2006/relationships/tags" Target="../tags/tag332.xml"/><Relationship Id="rId10" Type="http://schemas.openxmlformats.org/officeDocument/2006/relationships/tags" Target="../tags/tag242.xml"/><Relationship Id="rId1" Type="http://schemas.openxmlformats.org/officeDocument/2006/relationships/tags" Target="../tags/tag233.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50.svg"/><Relationship Id="rId1" Type="http://schemas.openxmlformats.org/officeDocument/2006/relationships/image" Target="../media/image24.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44.svg"/><Relationship Id="rId1" Type="http://schemas.openxmlformats.org/officeDocument/2006/relationships/image" Target="../media/image24.png"/></Relationships>
</file>

<file path=ppt/slides/_rels/slide21.xml.rels><?xml version="1.0" encoding="UTF-8" standalone="yes"?>
<Relationships xmlns="http://schemas.openxmlformats.org/package/2006/relationships"><Relationship Id="rId9" Type="http://schemas.openxmlformats.org/officeDocument/2006/relationships/tags" Target="../tags/tag415.xml"/><Relationship Id="rId8" Type="http://schemas.openxmlformats.org/officeDocument/2006/relationships/tags" Target="../tags/tag414.xml"/><Relationship Id="rId7" Type="http://schemas.openxmlformats.org/officeDocument/2006/relationships/tags" Target="../tags/tag413.xml"/><Relationship Id="rId6" Type="http://schemas.openxmlformats.org/officeDocument/2006/relationships/tags" Target="../tags/tag412.xml"/><Relationship Id="rId57" Type="http://schemas.openxmlformats.org/officeDocument/2006/relationships/slideLayout" Target="../slideLayouts/slideLayout12.xml"/><Relationship Id="rId56" Type="http://schemas.openxmlformats.org/officeDocument/2006/relationships/image" Target="../media/image1.png"/><Relationship Id="rId55" Type="http://schemas.openxmlformats.org/officeDocument/2006/relationships/image" Target="../media/image61.svg"/><Relationship Id="rId54" Type="http://schemas.openxmlformats.org/officeDocument/2006/relationships/image" Target="../media/image60.png"/><Relationship Id="rId53" Type="http://schemas.openxmlformats.org/officeDocument/2006/relationships/tags" Target="../tags/tag451.xml"/><Relationship Id="rId52" Type="http://schemas.openxmlformats.org/officeDocument/2006/relationships/image" Target="../media/image59.svg"/><Relationship Id="rId51" Type="http://schemas.openxmlformats.org/officeDocument/2006/relationships/image" Target="../media/image58.png"/><Relationship Id="rId50" Type="http://schemas.openxmlformats.org/officeDocument/2006/relationships/tags" Target="../tags/tag450.xml"/><Relationship Id="rId5" Type="http://schemas.openxmlformats.org/officeDocument/2006/relationships/tags" Target="../tags/tag411.xml"/><Relationship Id="rId49" Type="http://schemas.openxmlformats.org/officeDocument/2006/relationships/image" Target="../media/image57.svg"/><Relationship Id="rId48" Type="http://schemas.openxmlformats.org/officeDocument/2006/relationships/image" Target="../media/image56.png"/><Relationship Id="rId47" Type="http://schemas.openxmlformats.org/officeDocument/2006/relationships/tags" Target="../tags/tag449.xml"/><Relationship Id="rId46" Type="http://schemas.openxmlformats.org/officeDocument/2006/relationships/image" Target="../media/image55.svg"/><Relationship Id="rId45" Type="http://schemas.openxmlformats.org/officeDocument/2006/relationships/image" Target="../media/image54.png"/><Relationship Id="rId44" Type="http://schemas.openxmlformats.org/officeDocument/2006/relationships/tags" Target="../tags/tag448.xml"/><Relationship Id="rId43" Type="http://schemas.openxmlformats.org/officeDocument/2006/relationships/image" Target="../media/image53.svg"/><Relationship Id="rId42" Type="http://schemas.openxmlformats.org/officeDocument/2006/relationships/image" Target="../media/image52.png"/><Relationship Id="rId41" Type="http://schemas.openxmlformats.org/officeDocument/2006/relationships/tags" Target="../tags/tag447.xml"/><Relationship Id="rId40" Type="http://schemas.openxmlformats.org/officeDocument/2006/relationships/tags" Target="../tags/tag446.xml"/><Relationship Id="rId4" Type="http://schemas.openxmlformats.org/officeDocument/2006/relationships/tags" Target="../tags/tag410.xml"/><Relationship Id="rId39" Type="http://schemas.openxmlformats.org/officeDocument/2006/relationships/tags" Target="../tags/tag445.xml"/><Relationship Id="rId38" Type="http://schemas.openxmlformats.org/officeDocument/2006/relationships/tags" Target="../tags/tag444.xml"/><Relationship Id="rId37" Type="http://schemas.openxmlformats.org/officeDocument/2006/relationships/tags" Target="../tags/tag443.xml"/><Relationship Id="rId36" Type="http://schemas.openxmlformats.org/officeDocument/2006/relationships/tags" Target="../tags/tag442.xml"/><Relationship Id="rId35" Type="http://schemas.openxmlformats.org/officeDocument/2006/relationships/tags" Target="../tags/tag441.xml"/><Relationship Id="rId34" Type="http://schemas.openxmlformats.org/officeDocument/2006/relationships/tags" Target="../tags/tag440.xml"/><Relationship Id="rId33" Type="http://schemas.openxmlformats.org/officeDocument/2006/relationships/tags" Target="../tags/tag439.xml"/><Relationship Id="rId32" Type="http://schemas.openxmlformats.org/officeDocument/2006/relationships/tags" Target="../tags/tag438.xml"/><Relationship Id="rId31" Type="http://schemas.openxmlformats.org/officeDocument/2006/relationships/tags" Target="../tags/tag437.xml"/><Relationship Id="rId30" Type="http://schemas.openxmlformats.org/officeDocument/2006/relationships/tags" Target="../tags/tag436.xml"/><Relationship Id="rId3" Type="http://schemas.openxmlformats.org/officeDocument/2006/relationships/tags" Target="../tags/tag409.xml"/><Relationship Id="rId29" Type="http://schemas.openxmlformats.org/officeDocument/2006/relationships/tags" Target="../tags/tag435.xml"/><Relationship Id="rId28" Type="http://schemas.openxmlformats.org/officeDocument/2006/relationships/tags" Target="../tags/tag434.xml"/><Relationship Id="rId27" Type="http://schemas.openxmlformats.org/officeDocument/2006/relationships/tags" Target="../tags/tag433.xml"/><Relationship Id="rId26" Type="http://schemas.openxmlformats.org/officeDocument/2006/relationships/tags" Target="../tags/tag432.xml"/><Relationship Id="rId25" Type="http://schemas.openxmlformats.org/officeDocument/2006/relationships/tags" Target="../tags/tag431.xml"/><Relationship Id="rId24" Type="http://schemas.openxmlformats.org/officeDocument/2006/relationships/tags" Target="../tags/tag430.xml"/><Relationship Id="rId23" Type="http://schemas.openxmlformats.org/officeDocument/2006/relationships/tags" Target="../tags/tag429.xml"/><Relationship Id="rId22" Type="http://schemas.openxmlformats.org/officeDocument/2006/relationships/tags" Target="../tags/tag428.xml"/><Relationship Id="rId21" Type="http://schemas.openxmlformats.org/officeDocument/2006/relationships/tags" Target="../tags/tag427.xml"/><Relationship Id="rId20" Type="http://schemas.openxmlformats.org/officeDocument/2006/relationships/tags" Target="../tags/tag426.xml"/><Relationship Id="rId2" Type="http://schemas.openxmlformats.org/officeDocument/2006/relationships/image" Target="../media/image51.svg"/><Relationship Id="rId19" Type="http://schemas.openxmlformats.org/officeDocument/2006/relationships/tags" Target="../tags/tag425.xml"/><Relationship Id="rId18" Type="http://schemas.openxmlformats.org/officeDocument/2006/relationships/tags" Target="../tags/tag424.xml"/><Relationship Id="rId17" Type="http://schemas.openxmlformats.org/officeDocument/2006/relationships/tags" Target="../tags/tag423.xml"/><Relationship Id="rId16" Type="http://schemas.openxmlformats.org/officeDocument/2006/relationships/tags" Target="../tags/tag422.xml"/><Relationship Id="rId15" Type="http://schemas.openxmlformats.org/officeDocument/2006/relationships/tags" Target="../tags/tag421.xml"/><Relationship Id="rId14" Type="http://schemas.openxmlformats.org/officeDocument/2006/relationships/tags" Target="../tags/tag420.xml"/><Relationship Id="rId13" Type="http://schemas.openxmlformats.org/officeDocument/2006/relationships/tags" Target="../tags/tag419.xml"/><Relationship Id="rId12" Type="http://schemas.openxmlformats.org/officeDocument/2006/relationships/tags" Target="../tags/tag418.xml"/><Relationship Id="rId11" Type="http://schemas.openxmlformats.org/officeDocument/2006/relationships/tags" Target="../tags/tag417.xml"/><Relationship Id="rId10" Type="http://schemas.openxmlformats.org/officeDocument/2006/relationships/tags" Target="../tags/tag416.xml"/><Relationship Id="rId1" Type="http://schemas.openxmlformats.org/officeDocument/2006/relationships/image" Target="../media/image24.png"/></Relationships>
</file>

<file path=ppt/slides/_rels/slide22.xml.rels><?xml version="1.0" encoding="UTF-8" standalone="yes"?>
<Relationships xmlns="http://schemas.openxmlformats.org/package/2006/relationships"><Relationship Id="rId9" Type="http://schemas.openxmlformats.org/officeDocument/2006/relationships/tags" Target="../tags/tag458.xml"/><Relationship Id="rId8" Type="http://schemas.openxmlformats.org/officeDocument/2006/relationships/tags" Target="../tags/tag457.xml"/><Relationship Id="rId7" Type="http://schemas.openxmlformats.org/officeDocument/2006/relationships/tags" Target="../tags/tag456.xml"/><Relationship Id="rId6" Type="http://schemas.openxmlformats.org/officeDocument/2006/relationships/tags" Target="../tags/tag455.xml"/><Relationship Id="rId5" Type="http://schemas.openxmlformats.org/officeDocument/2006/relationships/tags" Target="../tags/tag454.xml"/><Relationship Id="rId4" Type="http://schemas.openxmlformats.org/officeDocument/2006/relationships/tags" Target="../tags/tag453.xml"/><Relationship Id="rId3" Type="http://schemas.openxmlformats.org/officeDocument/2006/relationships/tags" Target="../tags/tag452.xml"/><Relationship Id="rId27" Type="http://schemas.openxmlformats.org/officeDocument/2006/relationships/slideLayout" Target="../slideLayouts/slideLayout12.xml"/><Relationship Id="rId26" Type="http://schemas.openxmlformats.org/officeDocument/2006/relationships/image" Target="../media/image1.png"/><Relationship Id="rId25" Type="http://schemas.openxmlformats.org/officeDocument/2006/relationships/image" Target="../media/image63.svg"/><Relationship Id="rId24" Type="http://schemas.openxmlformats.org/officeDocument/2006/relationships/image" Target="../media/image62.png"/><Relationship Id="rId23" Type="http://schemas.openxmlformats.org/officeDocument/2006/relationships/tags" Target="../tags/tag472.xml"/><Relationship Id="rId22" Type="http://schemas.openxmlformats.org/officeDocument/2006/relationships/tags" Target="../tags/tag471.xml"/><Relationship Id="rId21" Type="http://schemas.openxmlformats.org/officeDocument/2006/relationships/tags" Target="../tags/tag470.xml"/><Relationship Id="rId20" Type="http://schemas.openxmlformats.org/officeDocument/2006/relationships/tags" Target="../tags/tag469.xml"/><Relationship Id="rId2" Type="http://schemas.openxmlformats.org/officeDocument/2006/relationships/image" Target="../media/image51.svg"/><Relationship Id="rId19" Type="http://schemas.openxmlformats.org/officeDocument/2006/relationships/tags" Target="../tags/tag468.xml"/><Relationship Id="rId18" Type="http://schemas.openxmlformats.org/officeDocument/2006/relationships/tags" Target="../tags/tag467.xml"/><Relationship Id="rId17" Type="http://schemas.openxmlformats.org/officeDocument/2006/relationships/tags" Target="../tags/tag466.xml"/><Relationship Id="rId16" Type="http://schemas.openxmlformats.org/officeDocument/2006/relationships/tags" Target="../tags/tag465.xml"/><Relationship Id="rId15" Type="http://schemas.openxmlformats.org/officeDocument/2006/relationships/tags" Target="../tags/tag464.xml"/><Relationship Id="rId14" Type="http://schemas.openxmlformats.org/officeDocument/2006/relationships/tags" Target="../tags/tag463.xml"/><Relationship Id="rId13" Type="http://schemas.openxmlformats.org/officeDocument/2006/relationships/tags" Target="../tags/tag462.xml"/><Relationship Id="rId12" Type="http://schemas.openxmlformats.org/officeDocument/2006/relationships/tags" Target="../tags/tag461.xml"/><Relationship Id="rId11" Type="http://schemas.openxmlformats.org/officeDocument/2006/relationships/tags" Target="../tags/tag460.xml"/><Relationship Id="rId10" Type="http://schemas.openxmlformats.org/officeDocument/2006/relationships/tags" Target="../tags/tag459.xml"/><Relationship Id="rId1" Type="http://schemas.openxmlformats.org/officeDocument/2006/relationships/image" Target="../media/image24.png"/></Relationships>
</file>

<file path=ppt/slides/_rels/slide23.xml.rels><?xml version="1.0" encoding="UTF-8" standalone="yes"?>
<Relationships xmlns="http://schemas.openxmlformats.org/package/2006/relationships"><Relationship Id="rId9" Type="http://schemas.openxmlformats.org/officeDocument/2006/relationships/tags" Target="../tags/tag479.xml"/><Relationship Id="rId8" Type="http://schemas.openxmlformats.org/officeDocument/2006/relationships/tags" Target="../tags/tag478.xml"/><Relationship Id="rId7" Type="http://schemas.openxmlformats.org/officeDocument/2006/relationships/tags" Target="../tags/tag477.xml"/><Relationship Id="rId6" Type="http://schemas.openxmlformats.org/officeDocument/2006/relationships/tags" Target="../tags/tag476.xml"/><Relationship Id="rId5" Type="http://schemas.openxmlformats.org/officeDocument/2006/relationships/tags" Target="../tags/tag475.xml"/><Relationship Id="rId41" Type="http://schemas.openxmlformats.org/officeDocument/2006/relationships/slideLayout" Target="../slideLayouts/slideLayout12.xml"/><Relationship Id="rId40" Type="http://schemas.openxmlformats.org/officeDocument/2006/relationships/image" Target="../media/image1.png"/><Relationship Id="rId4" Type="http://schemas.openxmlformats.org/officeDocument/2006/relationships/tags" Target="../tags/tag474.xml"/><Relationship Id="rId39" Type="http://schemas.openxmlformats.org/officeDocument/2006/relationships/tags" Target="../tags/tag503.xml"/><Relationship Id="rId38" Type="http://schemas.openxmlformats.org/officeDocument/2006/relationships/tags" Target="../tags/tag502.xml"/><Relationship Id="rId37" Type="http://schemas.openxmlformats.org/officeDocument/2006/relationships/tags" Target="../tags/tag501.xml"/><Relationship Id="rId36" Type="http://schemas.openxmlformats.org/officeDocument/2006/relationships/tags" Target="../tags/tag500.xml"/><Relationship Id="rId35" Type="http://schemas.openxmlformats.org/officeDocument/2006/relationships/tags" Target="../tags/tag499.xml"/><Relationship Id="rId34" Type="http://schemas.openxmlformats.org/officeDocument/2006/relationships/tags" Target="../tags/tag498.xml"/><Relationship Id="rId33" Type="http://schemas.openxmlformats.org/officeDocument/2006/relationships/tags" Target="../tags/tag497.xml"/><Relationship Id="rId32" Type="http://schemas.openxmlformats.org/officeDocument/2006/relationships/tags" Target="../tags/tag496.xml"/><Relationship Id="rId31" Type="http://schemas.openxmlformats.org/officeDocument/2006/relationships/tags" Target="../tags/tag495.xml"/><Relationship Id="rId30" Type="http://schemas.openxmlformats.org/officeDocument/2006/relationships/tags" Target="../tags/tag494.xml"/><Relationship Id="rId3" Type="http://schemas.openxmlformats.org/officeDocument/2006/relationships/tags" Target="../tags/tag473.xml"/><Relationship Id="rId29" Type="http://schemas.openxmlformats.org/officeDocument/2006/relationships/tags" Target="../tags/tag493.xml"/><Relationship Id="rId28" Type="http://schemas.openxmlformats.org/officeDocument/2006/relationships/tags" Target="../tags/tag492.xml"/><Relationship Id="rId27" Type="http://schemas.openxmlformats.org/officeDocument/2006/relationships/image" Target="../media/image70.svg"/><Relationship Id="rId26" Type="http://schemas.openxmlformats.org/officeDocument/2006/relationships/image" Target="../media/image69.png"/><Relationship Id="rId25" Type="http://schemas.openxmlformats.org/officeDocument/2006/relationships/image" Target="../media/image68.svg"/><Relationship Id="rId24" Type="http://schemas.openxmlformats.org/officeDocument/2006/relationships/image" Target="../media/image67.png"/><Relationship Id="rId23" Type="http://schemas.openxmlformats.org/officeDocument/2006/relationships/image" Target="../media/image66.svg"/><Relationship Id="rId22" Type="http://schemas.openxmlformats.org/officeDocument/2006/relationships/image" Target="../media/image65.png"/><Relationship Id="rId21" Type="http://schemas.openxmlformats.org/officeDocument/2006/relationships/tags" Target="../tags/tag491.xml"/><Relationship Id="rId20" Type="http://schemas.openxmlformats.org/officeDocument/2006/relationships/tags" Target="../tags/tag490.xml"/><Relationship Id="rId2" Type="http://schemas.openxmlformats.org/officeDocument/2006/relationships/image" Target="../media/image64.svg"/><Relationship Id="rId19" Type="http://schemas.openxmlformats.org/officeDocument/2006/relationships/tags" Target="../tags/tag489.xml"/><Relationship Id="rId18" Type="http://schemas.openxmlformats.org/officeDocument/2006/relationships/tags" Target="../tags/tag488.xml"/><Relationship Id="rId17" Type="http://schemas.openxmlformats.org/officeDocument/2006/relationships/tags" Target="../tags/tag487.xml"/><Relationship Id="rId16" Type="http://schemas.openxmlformats.org/officeDocument/2006/relationships/tags" Target="../tags/tag486.xml"/><Relationship Id="rId15" Type="http://schemas.openxmlformats.org/officeDocument/2006/relationships/tags" Target="../tags/tag485.xml"/><Relationship Id="rId14" Type="http://schemas.openxmlformats.org/officeDocument/2006/relationships/tags" Target="../tags/tag484.xml"/><Relationship Id="rId13" Type="http://schemas.openxmlformats.org/officeDocument/2006/relationships/tags" Target="../tags/tag483.xml"/><Relationship Id="rId12" Type="http://schemas.openxmlformats.org/officeDocument/2006/relationships/tags" Target="../tags/tag482.xml"/><Relationship Id="rId11" Type="http://schemas.openxmlformats.org/officeDocument/2006/relationships/tags" Target="../tags/tag481.xml"/><Relationship Id="rId10" Type="http://schemas.openxmlformats.org/officeDocument/2006/relationships/tags" Target="../tags/tag480.xml"/><Relationship Id="rId1" Type="http://schemas.openxmlformats.org/officeDocument/2006/relationships/image" Target="../media/image24.png"/></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image" Target="../media/image73.svg"/><Relationship Id="rId3" Type="http://schemas.openxmlformats.org/officeDocument/2006/relationships/image" Target="../media/image72.png"/><Relationship Id="rId2" Type="http://schemas.openxmlformats.org/officeDocument/2006/relationships/image" Target="../media/image71.svg"/><Relationship Id="rId1" Type="http://schemas.openxmlformats.org/officeDocument/2006/relationships/image" Target="../media/image24.png"/></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image" Target="../media/image76.svg"/><Relationship Id="rId3" Type="http://schemas.openxmlformats.org/officeDocument/2006/relationships/image" Target="../media/image75.png"/><Relationship Id="rId2" Type="http://schemas.openxmlformats.org/officeDocument/2006/relationships/image" Target="../media/image74.svg"/><Relationship Id="rId1" Type="http://schemas.openxmlformats.org/officeDocument/2006/relationships/image" Target="../media/image24.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77.svg"/><Relationship Id="rId1" Type="http://schemas.openxmlformats.org/officeDocument/2006/relationships/image" Target="../media/image24.png"/></Relationships>
</file>

<file path=ppt/slides/_rels/slide27.xml.rels><?xml version="1.0" encoding="UTF-8" standalone="yes"?>
<Relationships xmlns="http://schemas.openxmlformats.org/package/2006/relationships"><Relationship Id="rId9" Type="http://schemas.openxmlformats.org/officeDocument/2006/relationships/tags" Target="../tags/tag510.xml"/><Relationship Id="rId8" Type="http://schemas.openxmlformats.org/officeDocument/2006/relationships/tags" Target="../tags/tag509.xml"/><Relationship Id="rId70" Type="http://schemas.openxmlformats.org/officeDocument/2006/relationships/slideLayout" Target="../slideLayouts/slideLayout12.xml"/><Relationship Id="rId7" Type="http://schemas.openxmlformats.org/officeDocument/2006/relationships/tags" Target="../tags/tag508.xml"/><Relationship Id="rId69" Type="http://schemas.openxmlformats.org/officeDocument/2006/relationships/image" Target="../media/image1.png"/><Relationship Id="rId68" Type="http://schemas.openxmlformats.org/officeDocument/2006/relationships/tags" Target="../tags/tag560.xml"/><Relationship Id="rId67" Type="http://schemas.openxmlformats.org/officeDocument/2006/relationships/tags" Target="../tags/tag559.xml"/><Relationship Id="rId66" Type="http://schemas.openxmlformats.org/officeDocument/2006/relationships/image" Target="../media/image87.svg"/><Relationship Id="rId65" Type="http://schemas.openxmlformats.org/officeDocument/2006/relationships/tags" Target="../tags/tag558.xml"/><Relationship Id="rId64" Type="http://schemas.openxmlformats.org/officeDocument/2006/relationships/tags" Target="../tags/tag557.xml"/><Relationship Id="rId63" Type="http://schemas.openxmlformats.org/officeDocument/2006/relationships/tags" Target="../tags/tag556.xml"/><Relationship Id="rId62" Type="http://schemas.openxmlformats.org/officeDocument/2006/relationships/image" Target="../media/image86.svg"/><Relationship Id="rId61" Type="http://schemas.openxmlformats.org/officeDocument/2006/relationships/tags" Target="../tags/tag555.xml"/><Relationship Id="rId60" Type="http://schemas.openxmlformats.org/officeDocument/2006/relationships/tags" Target="../tags/tag554.xml"/><Relationship Id="rId6" Type="http://schemas.openxmlformats.org/officeDocument/2006/relationships/tags" Target="../tags/tag507.xml"/><Relationship Id="rId59" Type="http://schemas.openxmlformats.org/officeDocument/2006/relationships/tags" Target="../tags/tag553.xml"/><Relationship Id="rId58" Type="http://schemas.openxmlformats.org/officeDocument/2006/relationships/image" Target="../media/image85.svg"/><Relationship Id="rId57" Type="http://schemas.openxmlformats.org/officeDocument/2006/relationships/tags" Target="../tags/tag552.xml"/><Relationship Id="rId56" Type="http://schemas.openxmlformats.org/officeDocument/2006/relationships/tags" Target="../tags/tag551.xml"/><Relationship Id="rId55" Type="http://schemas.openxmlformats.org/officeDocument/2006/relationships/tags" Target="../tags/tag550.xml"/><Relationship Id="rId54" Type="http://schemas.openxmlformats.org/officeDocument/2006/relationships/image" Target="../media/image84.svg"/><Relationship Id="rId53" Type="http://schemas.openxmlformats.org/officeDocument/2006/relationships/image" Target="../media/image83.png"/><Relationship Id="rId52" Type="http://schemas.openxmlformats.org/officeDocument/2006/relationships/tags" Target="../tags/tag549.xml"/><Relationship Id="rId51" Type="http://schemas.openxmlformats.org/officeDocument/2006/relationships/tags" Target="../tags/tag548.xml"/><Relationship Id="rId50" Type="http://schemas.openxmlformats.org/officeDocument/2006/relationships/tags" Target="../tags/tag547.xml"/><Relationship Id="rId5" Type="http://schemas.openxmlformats.org/officeDocument/2006/relationships/tags" Target="../tags/tag506.xml"/><Relationship Id="rId49" Type="http://schemas.openxmlformats.org/officeDocument/2006/relationships/image" Target="../media/image82.svg"/><Relationship Id="rId48" Type="http://schemas.openxmlformats.org/officeDocument/2006/relationships/image" Target="../media/image81.png"/><Relationship Id="rId47" Type="http://schemas.openxmlformats.org/officeDocument/2006/relationships/tags" Target="../tags/tag546.xml"/><Relationship Id="rId46" Type="http://schemas.openxmlformats.org/officeDocument/2006/relationships/tags" Target="../tags/tag545.xml"/><Relationship Id="rId45" Type="http://schemas.openxmlformats.org/officeDocument/2006/relationships/tags" Target="../tags/tag544.xml"/><Relationship Id="rId44" Type="http://schemas.openxmlformats.org/officeDocument/2006/relationships/image" Target="../media/image80.svg"/><Relationship Id="rId43" Type="http://schemas.openxmlformats.org/officeDocument/2006/relationships/image" Target="../media/image79.png"/><Relationship Id="rId42" Type="http://schemas.openxmlformats.org/officeDocument/2006/relationships/tags" Target="../tags/tag543.xml"/><Relationship Id="rId41" Type="http://schemas.openxmlformats.org/officeDocument/2006/relationships/tags" Target="../tags/tag542.xml"/><Relationship Id="rId40" Type="http://schemas.openxmlformats.org/officeDocument/2006/relationships/tags" Target="../tags/tag541.xml"/><Relationship Id="rId4" Type="http://schemas.openxmlformats.org/officeDocument/2006/relationships/tags" Target="../tags/tag505.xml"/><Relationship Id="rId39" Type="http://schemas.openxmlformats.org/officeDocument/2006/relationships/tags" Target="../tags/tag540.xml"/><Relationship Id="rId38" Type="http://schemas.openxmlformats.org/officeDocument/2006/relationships/tags" Target="../tags/tag539.xml"/><Relationship Id="rId37" Type="http://schemas.openxmlformats.org/officeDocument/2006/relationships/tags" Target="../tags/tag538.xml"/><Relationship Id="rId36" Type="http://schemas.openxmlformats.org/officeDocument/2006/relationships/tags" Target="../tags/tag537.xml"/><Relationship Id="rId35" Type="http://schemas.openxmlformats.org/officeDocument/2006/relationships/tags" Target="../tags/tag536.xml"/><Relationship Id="rId34" Type="http://schemas.openxmlformats.org/officeDocument/2006/relationships/tags" Target="../tags/tag535.xml"/><Relationship Id="rId33" Type="http://schemas.openxmlformats.org/officeDocument/2006/relationships/tags" Target="../tags/tag534.xml"/><Relationship Id="rId32" Type="http://schemas.openxmlformats.org/officeDocument/2006/relationships/tags" Target="../tags/tag533.xml"/><Relationship Id="rId31" Type="http://schemas.openxmlformats.org/officeDocument/2006/relationships/tags" Target="../tags/tag532.xml"/><Relationship Id="rId30" Type="http://schemas.openxmlformats.org/officeDocument/2006/relationships/tags" Target="../tags/tag531.xml"/><Relationship Id="rId3" Type="http://schemas.openxmlformats.org/officeDocument/2006/relationships/tags" Target="../tags/tag504.xml"/><Relationship Id="rId29" Type="http://schemas.openxmlformats.org/officeDocument/2006/relationships/tags" Target="../tags/tag530.xml"/><Relationship Id="rId28" Type="http://schemas.openxmlformats.org/officeDocument/2006/relationships/tags" Target="../tags/tag529.xml"/><Relationship Id="rId27" Type="http://schemas.openxmlformats.org/officeDocument/2006/relationships/tags" Target="../tags/tag528.xml"/><Relationship Id="rId26" Type="http://schemas.openxmlformats.org/officeDocument/2006/relationships/tags" Target="../tags/tag527.xml"/><Relationship Id="rId25" Type="http://schemas.openxmlformats.org/officeDocument/2006/relationships/tags" Target="../tags/tag526.xml"/><Relationship Id="rId24" Type="http://schemas.openxmlformats.org/officeDocument/2006/relationships/tags" Target="../tags/tag525.xml"/><Relationship Id="rId23" Type="http://schemas.openxmlformats.org/officeDocument/2006/relationships/tags" Target="../tags/tag524.xml"/><Relationship Id="rId22" Type="http://schemas.openxmlformats.org/officeDocument/2006/relationships/tags" Target="../tags/tag523.xml"/><Relationship Id="rId21" Type="http://schemas.openxmlformats.org/officeDocument/2006/relationships/tags" Target="../tags/tag522.xml"/><Relationship Id="rId20" Type="http://schemas.openxmlformats.org/officeDocument/2006/relationships/tags" Target="../tags/tag521.xml"/><Relationship Id="rId2" Type="http://schemas.openxmlformats.org/officeDocument/2006/relationships/image" Target="../media/image78.svg"/><Relationship Id="rId19" Type="http://schemas.openxmlformats.org/officeDocument/2006/relationships/tags" Target="../tags/tag520.xml"/><Relationship Id="rId18" Type="http://schemas.openxmlformats.org/officeDocument/2006/relationships/tags" Target="../tags/tag519.xml"/><Relationship Id="rId17" Type="http://schemas.openxmlformats.org/officeDocument/2006/relationships/tags" Target="../tags/tag518.xml"/><Relationship Id="rId16" Type="http://schemas.openxmlformats.org/officeDocument/2006/relationships/tags" Target="../tags/tag517.xml"/><Relationship Id="rId15" Type="http://schemas.openxmlformats.org/officeDocument/2006/relationships/tags" Target="../tags/tag516.xml"/><Relationship Id="rId14" Type="http://schemas.openxmlformats.org/officeDocument/2006/relationships/tags" Target="../tags/tag515.xml"/><Relationship Id="rId13" Type="http://schemas.openxmlformats.org/officeDocument/2006/relationships/tags" Target="../tags/tag514.xml"/><Relationship Id="rId12" Type="http://schemas.openxmlformats.org/officeDocument/2006/relationships/tags" Target="../tags/tag513.xml"/><Relationship Id="rId11" Type="http://schemas.openxmlformats.org/officeDocument/2006/relationships/tags" Target="../tags/tag512.xml"/><Relationship Id="rId10" Type="http://schemas.openxmlformats.org/officeDocument/2006/relationships/tags" Target="../tags/tag511.xml"/><Relationship Id="rId1" Type="http://schemas.openxmlformats.org/officeDocument/2006/relationships/image" Target="../media/image24.png"/></Relationships>
</file>

<file path=ppt/slides/_rels/slide2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png"/><Relationship Id="rId7" Type="http://schemas.microsoft.com/office/2007/relationships/diagramDrawing" Target="../diagrams/drawing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3" Type="http://schemas.openxmlformats.org/officeDocument/2006/relationships/diagramData" Target="../diagrams/data1.xml"/><Relationship Id="rId2" Type="http://schemas.openxmlformats.org/officeDocument/2006/relationships/image" Target="../media/image88.svg"/><Relationship Id="rId1" Type="http://schemas.openxmlformats.org/officeDocument/2006/relationships/image" Target="../media/image24.png"/></Relationships>
</file>

<file path=ppt/slides/_rels/slide29.xml.rels><?xml version="1.0" encoding="UTF-8" standalone="yes"?>
<Relationships xmlns="http://schemas.openxmlformats.org/package/2006/relationships"><Relationship Id="rId9" Type="http://schemas.openxmlformats.org/officeDocument/2006/relationships/tags" Target="../tags/tag567.xml"/><Relationship Id="rId8" Type="http://schemas.openxmlformats.org/officeDocument/2006/relationships/tags" Target="../tags/tag566.xml"/><Relationship Id="rId7" Type="http://schemas.openxmlformats.org/officeDocument/2006/relationships/tags" Target="../tags/tag565.xml"/><Relationship Id="rId6" Type="http://schemas.openxmlformats.org/officeDocument/2006/relationships/tags" Target="../tags/tag564.xml"/><Relationship Id="rId5" Type="http://schemas.openxmlformats.org/officeDocument/2006/relationships/tags" Target="../tags/tag563.xml"/><Relationship Id="rId40" Type="http://schemas.openxmlformats.org/officeDocument/2006/relationships/slideLayout" Target="../slideLayouts/slideLayout12.xml"/><Relationship Id="rId4" Type="http://schemas.openxmlformats.org/officeDocument/2006/relationships/tags" Target="../tags/tag562.xml"/><Relationship Id="rId39" Type="http://schemas.openxmlformats.org/officeDocument/2006/relationships/image" Target="../media/image1.png"/><Relationship Id="rId38" Type="http://schemas.openxmlformats.org/officeDocument/2006/relationships/tags" Target="../tags/tag596.xml"/><Relationship Id="rId37" Type="http://schemas.openxmlformats.org/officeDocument/2006/relationships/tags" Target="../tags/tag595.xml"/><Relationship Id="rId36" Type="http://schemas.openxmlformats.org/officeDocument/2006/relationships/tags" Target="../tags/tag594.xml"/><Relationship Id="rId35" Type="http://schemas.openxmlformats.org/officeDocument/2006/relationships/tags" Target="../tags/tag593.xml"/><Relationship Id="rId34" Type="http://schemas.openxmlformats.org/officeDocument/2006/relationships/tags" Target="../tags/tag592.xml"/><Relationship Id="rId33" Type="http://schemas.openxmlformats.org/officeDocument/2006/relationships/tags" Target="../tags/tag591.xml"/><Relationship Id="rId32" Type="http://schemas.openxmlformats.org/officeDocument/2006/relationships/tags" Target="../tags/tag590.xml"/><Relationship Id="rId31" Type="http://schemas.openxmlformats.org/officeDocument/2006/relationships/tags" Target="../tags/tag589.xml"/><Relationship Id="rId30" Type="http://schemas.openxmlformats.org/officeDocument/2006/relationships/tags" Target="../tags/tag588.xml"/><Relationship Id="rId3" Type="http://schemas.openxmlformats.org/officeDocument/2006/relationships/tags" Target="../tags/tag561.xml"/><Relationship Id="rId29" Type="http://schemas.openxmlformats.org/officeDocument/2006/relationships/tags" Target="../tags/tag587.xml"/><Relationship Id="rId28" Type="http://schemas.openxmlformats.org/officeDocument/2006/relationships/tags" Target="../tags/tag586.xml"/><Relationship Id="rId27" Type="http://schemas.openxmlformats.org/officeDocument/2006/relationships/tags" Target="../tags/tag585.xml"/><Relationship Id="rId26" Type="http://schemas.openxmlformats.org/officeDocument/2006/relationships/tags" Target="../tags/tag584.xml"/><Relationship Id="rId25" Type="http://schemas.openxmlformats.org/officeDocument/2006/relationships/tags" Target="../tags/tag583.xml"/><Relationship Id="rId24" Type="http://schemas.openxmlformats.org/officeDocument/2006/relationships/tags" Target="../tags/tag582.xml"/><Relationship Id="rId23" Type="http://schemas.openxmlformats.org/officeDocument/2006/relationships/tags" Target="../tags/tag581.xml"/><Relationship Id="rId22" Type="http://schemas.openxmlformats.org/officeDocument/2006/relationships/tags" Target="../tags/tag580.xml"/><Relationship Id="rId21" Type="http://schemas.openxmlformats.org/officeDocument/2006/relationships/tags" Target="../tags/tag579.xml"/><Relationship Id="rId20" Type="http://schemas.openxmlformats.org/officeDocument/2006/relationships/tags" Target="../tags/tag578.xml"/><Relationship Id="rId2" Type="http://schemas.openxmlformats.org/officeDocument/2006/relationships/image" Target="../media/image49.svg"/><Relationship Id="rId19" Type="http://schemas.openxmlformats.org/officeDocument/2006/relationships/tags" Target="../tags/tag577.xml"/><Relationship Id="rId18" Type="http://schemas.openxmlformats.org/officeDocument/2006/relationships/tags" Target="../tags/tag576.xml"/><Relationship Id="rId17" Type="http://schemas.openxmlformats.org/officeDocument/2006/relationships/tags" Target="../tags/tag575.xml"/><Relationship Id="rId16" Type="http://schemas.openxmlformats.org/officeDocument/2006/relationships/tags" Target="../tags/tag574.xml"/><Relationship Id="rId15" Type="http://schemas.openxmlformats.org/officeDocument/2006/relationships/tags" Target="../tags/tag573.xml"/><Relationship Id="rId14" Type="http://schemas.openxmlformats.org/officeDocument/2006/relationships/tags" Target="../tags/tag572.xml"/><Relationship Id="rId13" Type="http://schemas.openxmlformats.org/officeDocument/2006/relationships/tags" Target="../tags/tag571.xml"/><Relationship Id="rId12" Type="http://schemas.openxmlformats.org/officeDocument/2006/relationships/tags" Target="../tags/tag570.xml"/><Relationship Id="rId11" Type="http://schemas.openxmlformats.org/officeDocument/2006/relationships/tags" Target="../tags/tag569.xml"/><Relationship Id="rId10" Type="http://schemas.openxmlformats.org/officeDocument/2006/relationships/tags" Target="../tags/tag568.xml"/><Relationship Id="rId1" Type="http://schemas.openxmlformats.org/officeDocument/2006/relationships/image" Target="../media/image24.pn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45.svg"/><Relationship Id="rId1" Type="http://schemas.openxmlformats.org/officeDocument/2006/relationships/image" Target="../media/image24.png"/></Relationships>
</file>

<file path=ppt/slides/_rels/slide31.xml.rels><?xml version="1.0" encoding="UTF-8" standalone="yes"?>
<Relationships xmlns="http://schemas.openxmlformats.org/package/2006/relationships"><Relationship Id="rId9" Type="http://schemas.openxmlformats.org/officeDocument/2006/relationships/image" Target="../media/image96.svg"/><Relationship Id="rId8" Type="http://schemas.openxmlformats.org/officeDocument/2006/relationships/image" Target="../media/image95.png"/><Relationship Id="rId7" Type="http://schemas.openxmlformats.org/officeDocument/2006/relationships/image" Target="../media/image94.svg"/><Relationship Id="rId6" Type="http://schemas.openxmlformats.org/officeDocument/2006/relationships/image" Target="../media/image93.svg"/><Relationship Id="rId5" Type="http://schemas.openxmlformats.org/officeDocument/2006/relationships/image" Target="../media/image92.svg"/><Relationship Id="rId4" Type="http://schemas.openxmlformats.org/officeDocument/2006/relationships/image" Target="../media/image91.svg"/><Relationship Id="rId3" Type="http://schemas.openxmlformats.org/officeDocument/2006/relationships/image" Target="../media/image90.png"/><Relationship Id="rId2" Type="http://schemas.openxmlformats.org/officeDocument/2006/relationships/image" Target="../media/image89.svg"/><Relationship Id="rId11" Type="http://schemas.openxmlformats.org/officeDocument/2006/relationships/slideLayout" Target="../slideLayouts/slideLayout12.xml"/><Relationship Id="rId10" Type="http://schemas.openxmlformats.org/officeDocument/2006/relationships/image" Target="../media/image1.png"/><Relationship Id="rId1" Type="http://schemas.openxmlformats.org/officeDocument/2006/relationships/image" Target="../media/image24.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97.svg"/><Relationship Id="rId1" Type="http://schemas.openxmlformats.org/officeDocument/2006/relationships/image" Target="../media/image24.png"/></Relationships>
</file>

<file path=ppt/slides/_rels/slide33.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image" Target="../media/image100.svg"/><Relationship Id="rId3" Type="http://schemas.openxmlformats.org/officeDocument/2006/relationships/image" Target="../media/image99.png"/><Relationship Id="rId2" Type="http://schemas.openxmlformats.org/officeDocument/2006/relationships/image" Target="../media/image98.svg"/><Relationship Id="rId1" Type="http://schemas.openxmlformats.org/officeDocument/2006/relationships/image" Target="../media/image24.png"/></Relationships>
</file>

<file path=ppt/slides/_rels/slide34.xml.rels><?xml version="1.0" encoding="UTF-8" standalone="yes"?>
<Relationships xmlns="http://schemas.openxmlformats.org/package/2006/relationships"><Relationship Id="rId9" Type="http://schemas.openxmlformats.org/officeDocument/2006/relationships/image" Target="../media/image106.png"/><Relationship Id="rId8" Type="http://schemas.openxmlformats.org/officeDocument/2006/relationships/image" Target="../media/image105.svg"/><Relationship Id="rId7" Type="http://schemas.openxmlformats.org/officeDocument/2006/relationships/image" Target="../media/image104.png"/><Relationship Id="rId6" Type="http://schemas.openxmlformats.org/officeDocument/2006/relationships/image" Target="../media/image103.svg"/><Relationship Id="rId5" Type="http://schemas.openxmlformats.org/officeDocument/2006/relationships/image" Target="../media/image102.png"/><Relationship Id="rId4" Type="http://schemas.openxmlformats.org/officeDocument/2006/relationships/tags" Target="../tags/tag598.xml"/><Relationship Id="rId32" Type="http://schemas.openxmlformats.org/officeDocument/2006/relationships/slideLayout" Target="../slideLayouts/slideLayout12.xml"/><Relationship Id="rId31" Type="http://schemas.openxmlformats.org/officeDocument/2006/relationships/image" Target="../media/image1.png"/><Relationship Id="rId30" Type="http://schemas.openxmlformats.org/officeDocument/2006/relationships/image" Target="../media/image127.svg"/><Relationship Id="rId3" Type="http://schemas.openxmlformats.org/officeDocument/2006/relationships/tags" Target="../tags/tag597.xml"/><Relationship Id="rId29" Type="http://schemas.openxmlformats.org/officeDocument/2006/relationships/image" Target="../media/image126.png"/><Relationship Id="rId28" Type="http://schemas.openxmlformats.org/officeDocument/2006/relationships/image" Target="../media/image125.svg"/><Relationship Id="rId27" Type="http://schemas.openxmlformats.org/officeDocument/2006/relationships/image" Target="../media/image124.png"/><Relationship Id="rId26" Type="http://schemas.openxmlformats.org/officeDocument/2006/relationships/image" Target="../media/image123.svg"/><Relationship Id="rId25" Type="http://schemas.openxmlformats.org/officeDocument/2006/relationships/image" Target="../media/image122.png"/><Relationship Id="rId24" Type="http://schemas.openxmlformats.org/officeDocument/2006/relationships/image" Target="../media/image121.svg"/><Relationship Id="rId23" Type="http://schemas.openxmlformats.org/officeDocument/2006/relationships/image" Target="../media/image120.png"/><Relationship Id="rId22" Type="http://schemas.openxmlformats.org/officeDocument/2006/relationships/image" Target="../media/image119.svg"/><Relationship Id="rId21" Type="http://schemas.openxmlformats.org/officeDocument/2006/relationships/image" Target="../media/image118.png"/><Relationship Id="rId20" Type="http://schemas.openxmlformats.org/officeDocument/2006/relationships/image" Target="../media/image117.svg"/><Relationship Id="rId2" Type="http://schemas.openxmlformats.org/officeDocument/2006/relationships/image" Target="../media/image101.svg"/><Relationship Id="rId19" Type="http://schemas.openxmlformats.org/officeDocument/2006/relationships/image" Target="../media/image116.png"/><Relationship Id="rId18" Type="http://schemas.openxmlformats.org/officeDocument/2006/relationships/image" Target="../media/image115.svg"/><Relationship Id="rId17" Type="http://schemas.openxmlformats.org/officeDocument/2006/relationships/image" Target="../media/image114.png"/><Relationship Id="rId16" Type="http://schemas.openxmlformats.org/officeDocument/2006/relationships/image" Target="../media/image113.svg"/><Relationship Id="rId15" Type="http://schemas.openxmlformats.org/officeDocument/2006/relationships/image" Target="../media/image112.png"/><Relationship Id="rId14" Type="http://schemas.openxmlformats.org/officeDocument/2006/relationships/image" Target="../media/image111.svg"/><Relationship Id="rId13" Type="http://schemas.openxmlformats.org/officeDocument/2006/relationships/image" Target="../media/image110.png"/><Relationship Id="rId12" Type="http://schemas.openxmlformats.org/officeDocument/2006/relationships/image" Target="../media/image109.svg"/><Relationship Id="rId11" Type="http://schemas.openxmlformats.org/officeDocument/2006/relationships/image" Target="../media/image108.png"/><Relationship Id="rId10" Type="http://schemas.openxmlformats.org/officeDocument/2006/relationships/image" Target="../media/image107.svg"/><Relationship Id="rId1" Type="http://schemas.openxmlformats.org/officeDocument/2006/relationships/image" Target="../media/image24.pn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128.svg"/><Relationship Id="rId1" Type="http://schemas.openxmlformats.org/officeDocument/2006/relationships/image" Target="../media/image24.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129.svg"/><Relationship Id="rId1" Type="http://schemas.openxmlformats.org/officeDocument/2006/relationships/image" Target="../media/image24.png"/></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130.svg"/><Relationship Id="rId1" Type="http://schemas.openxmlformats.org/officeDocument/2006/relationships/image" Target="../media/image24.png"/></Relationships>
</file>

<file path=ppt/slides/_rels/slide38.xml.rels><?xml version="1.0" encoding="UTF-8" standalone="yes"?>
<Relationships xmlns="http://schemas.openxmlformats.org/package/2006/relationships"><Relationship Id="rId99" Type="http://schemas.openxmlformats.org/officeDocument/2006/relationships/tags" Target="../tags/tag695.xml"/><Relationship Id="rId98" Type="http://schemas.openxmlformats.org/officeDocument/2006/relationships/tags" Target="../tags/tag694.xml"/><Relationship Id="rId97" Type="http://schemas.openxmlformats.org/officeDocument/2006/relationships/tags" Target="../tags/tag693.xml"/><Relationship Id="rId96" Type="http://schemas.openxmlformats.org/officeDocument/2006/relationships/tags" Target="../tags/tag692.xml"/><Relationship Id="rId95" Type="http://schemas.openxmlformats.org/officeDocument/2006/relationships/tags" Target="../tags/tag691.xml"/><Relationship Id="rId94" Type="http://schemas.openxmlformats.org/officeDocument/2006/relationships/tags" Target="../tags/tag690.xml"/><Relationship Id="rId93" Type="http://schemas.openxmlformats.org/officeDocument/2006/relationships/tags" Target="../tags/tag689.xml"/><Relationship Id="rId92" Type="http://schemas.openxmlformats.org/officeDocument/2006/relationships/tags" Target="../tags/tag688.xml"/><Relationship Id="rId91" Type="http://schemas.openxmlformats.org/officeDocument/2006/relationships/tags" Target="../tags/tag687.xml"/><Relationship Id="rId90" Type="http://schemas.openxmlformats.org/officeDocument/2006/relationships/tags" Target="../tags/tag686.xml"/><Relationship Id="rId9" Type="http://schemas.openxmlformats.org/officeDocument/2006/relationships/tags" Target="../tags/tag605.xml"/><Relationship Id="rId89" Type="http://schemas.openxmlformats.org/officeDocument/2006/relationships/tags" Target="../tags/tag685.xml"/><Relationship Id="rId88" Type="http://schemas.openxmlformats.org/officeDocument/2006/relationships/tags" Target="../tags/tag684.xml"/><Relationship Id="rId87" Type="http://schemas.openxmlformats.org/officeDocument/2006/relationships/tags" Target="../tags/tag683.xml"/><Relationship Id="rId86" Type="http://schemas.openxmlformats.org/officeDocument/2006/relationships/tags" Target="../tags/tag682.xml"/><Relationship Id="rId85" Type="http://schemas.openxmlformats.org/officeDocument/2006/relationships/tags" Target="../tags/tag681.xml"/><Relationship Id="rId84" Type="http://schemas.openxmlformats.org/officeDocument/2006/relationships/tags" Target="../tags/tag680.xml"/><Relationship Id="rId83" Type="http://schemas.openxmlformats.org/officeDocument/2006/relationships/tags" Target="../tags/tag679.xml"/><Relationship Id="rId82" Type="http://schemas.openxmlformats.org/officeDocument/2006/relationships/tags" Target="../tags/tag678.xml"/><Relationship Id="rId81" Type="http://schemas.openxmlformats.org/officeDocument/2006/relationships/tags" Target="../tags/tag677.xml"/><Relationship Id="rId80" Type="http://schemas.openxmlformats.org/officeDocument/2006/relationships/tags" Target="../tags/tag676.xml"/><Relationship Id="rId8" Type="http://schemas.openxmlformats.org/officeDocument/2006/relationships/tags" Target="../tags/tag604.xml"/><Relationship Id="rId79" Type="http://schemas.openxmlformats.org/officeDocument/2006/relationships/tags" Target="../tags/tag675.xml"/><Relationship Id="rId78" Type="http://schemas.openxmlformats.org/officeDocument/2006/relationships/tags" Target="../tags/tag674.xml"/><Relationship Id="rId77" Type="http://schemas.openxmlformats.org/officeDocument/2006/relationships/tags" Target="../tags/tag673.xml"/><Relationship Id="rId76" Type="http://schemas.openxmlformats.org/officeDocument/2006/relationships/tags" Target="../tags/tag672.xml"/><Relationship Id="rId75" Type="http://schemas.openxmlformats.org/officeDocument/2006/relationships/tags" Target="../tags/tag671.xml"/><Relationship Id="rId74" Type="http://schemas.openxmlformats.org/officeDocument/2006/relationships/tags" Target="../tags/tag670.xml"/><Relationship Id="rId73" Type="http://schemas.openxmlformats.org/officeDocument/2006/relationships/tags" Target="../tags/tag669.xml"/><Relationship Id="rId72" Type="http://schemas.openxmlformats.org/officeDocument/2006/relationships/tags" Target="../tags/tag668.xml"/><Relationship Id="rId71" Type="http://schemas.openxmlformats.org/officeDocument/2006/relationships/tags" Target="../tags/tag667.xml"/><Relationship Id="rId70" Type="http://schemas.openxmlformats.org/officeDocument/2006/relationships/tags" Target="../tags/tag666.xml"/><Relationship Id="rId7" Type="http://schemas.openxmlformats.org/officeDocument/2006/relationships/tags" Target="../tags/tag603.xml"/><Relationship Id="rId69" Type="http://schemas.openxmlformats.org/officeDocument/2006/relationships/tags" Target="../tags/tag665.xml"/><Relationship Id="rId68" Type="http://schemas.openxmlformats.org/officeDocument/2006/relationships/tags" Target="../tags/tag664.xml"/><Relationship Id="rId67" Type="http://schemas.openxmlformats.org/officeDocument/2006/relationships/tags" Target="../tags/tag663.xml"/><Relationship Id="rId66" Type="http://schemas.openxmlformats.org/officeDocument/2006/relationships/tags" Target="../tags/tag662.xml"/><Relationship Id="rId65" Type="http://schemas.openxmlformats.org/officeDocument/2006/relationships/tags" Target="../tags/tag661.xml"/><Relationship Id="rId64" Type="http://schemas.openxmlformats.org/officeDocument/2006/relationships/tags" Target="../tags/tag660.xml"/><Relationship Id="rId63" Type="http://schemas.openxmlformats.org/officeDocument/2006/relationships/tags" Target="../tags/tag659.xml"/><Relationship Id="rId62" Type="http://schemas.openxmlformats.org/officeDocument/2006/relationships/tags" Target="../tags/tag658.xml"/><Relationship Id="rId61" Type="http://schemas.openxmlformats.org/officeDocument/2006/relationships/tags" Target="../tags/tag657.xml"/><Relationship Id="rId60" Type="http://schemas.openxmlformats.org/officeDocument/2006/relationships/tags" Target="../tags/tag656.xml"/><Relationship Id="rId6" Type="http://schemas.openxmlformats.org/officeDocument/2006/relationships/tags" Target="../tags/tag602.xml"/><Relationship Id="rId59" Type="http://schemas.openxmlformats.org/officeDocument/2006/relationships/tags" Target="../tags/tag655.xml"/><Relationship Id="rId58" Type="http://schemas.openxmlformats.org/officeDocument/2006/relationships/tags" Target="../tags/tag654.xml"/><Relationship Id="rId57" Type="http://schemas.openxmlformats.org/officeDocument/2006/relationships/tags" Target="../tags/tag653.xml"/><Relationship Id="rId56" Type="http://schemas.openxmlformats.org/officeDocument/2006/relationships/tags" Target="../tags/tag652.xml"/><Relationship Id="rId55" Type="http://schemas.openxmlformats.org/officeDocument/2006/relationships/tags" Target="../tags/tag651.xml"/><Relationship Id="rId54" Type="http://schemas.openxmlformats.org/officeDocument/2006/relationships/tags" Target="../tags/tag650.xml"/><Relationship Id="rId53" Type="http://schemas.openxmlformats.org/officeDocument/2006/relationships/tags" Target="../tags/tag649.xml"/><Relationship Id="rId52" Type="http://schemas.openxmlformats.org/officeDocument/2006/relationships/tags" Target="../tags/tag648.xml"/><Relationship Id="rId51" Type="http://schemas.openxmlformats.org/officeDocument/2006/relationships/tags" Target="../tags/tag647.xml"/><Relationship Id="rId50" Type="http://schemas.openxmlformats.org/officeDocument/2006/relationships/tags" Target="../tags/tag646.xml"/><Relationship Id="rId5" Type="http://schemas.openxmlformats.org/officeDocument/2006/relationships/tags" Target="../tags/tag601.xml"/><Relationship Id="rId49" Type="http://schemas.openxmlformats.org/officeDocument/2006/relationships/tags" Target="../tags/tag645.xml"/><Relationship Id="rId48" Type="http://schemas.openxmlformats.org/officeDocument/2006/relationships/tags" Target="../tags/tag644.xml"/><Relationship Id="rId47" Type="http://schemas.openxmlformats.org/officeDocument/2006/relationships/tags" Target="../tags/tag643.xml"/><Relationship Id="rId46" Type="http://schemas.openxmlformats.org/officeDocument/2006/relationships/tags" Target="../tags/tag642.xml"/><Relationship Id="rId45" Type="http://schemas.openxmlformats.org/officeDocument/2006/relationships/tags" Target="../tags/tag641.xml"/><Relationship Id="rId44" Type="http://schemas.openxmlformats.org/officeDocument/2006/relationships/tags" Target="../tags/tag640.xml"/><Relationship Id="rId43" Type="http://schemas.openxmlformats.org/officeDocument/2006/relationships/tags" Target="../tags/tag639.xml"/><Relationship Id="rId42" Type="http://schemas.openxmlformats.org/officeDocument/2006/relationships/tags" Target="../tags/tag638.xml"/><Relationship Id="rId41" Type="http://schemas.openxmlformats.org/officeDocument/2006/relationships/tags" Target="../tags/tag637.xml"/><Relationship Id="rId40" Type="http://schemas.openxmlformats.org/officeDocument/2006/relationships/tags" Target="../tags/tag636.xml"/><Relationship Id="rId4" Type="http://schemas.openxmlformats.org/officeDocument/2006/relationships/tags" Target="../tags/tag600.xml"/><Relationship Id="rId39" Type="http://schemas.openxmlformats.org/officeDocument/2006/relationships/tags" Target="../tags/tag635.xml"/><Relationship Id="rId38" Type="http://schemas.openxmlformats.org/officeDocument/2006/relationships/tags" Target="../tags/tag634.xml"/><Relationship Id="rId37" Type="http://schemas.openxmlformats.org/officeDocument/2006/relationships/tags" Target="../tags/tag633.xml"/><Relationship Id="rId36" Type="http://schemas.openxmlformats.org/officeDocument/2006/relationships/tags" Target="../tags/tag632.xml"/><Relationship Id="rId35" Type="http://schemas.openxmlformats.org/officeDocument/2006/relationships/tags" Target="../tags/tag631.xml"/><Relationship Id="rId34" Type="http://schemas.openxmlformats.org/officeDocument/2006/relationships/tags" Target="../tags/tag630.xml"/><Relationship Id="rId33" Type="http://schemas.openxmlformats.org/officeDocument/2006/relationships/tags" Target="../tags/tag629.xml"/><Relationship Id="rId32" Type="http://schemas.openxmlformats.org/officeDocument/2006/relationships/tags" Target="../tags/tag628.xml"/><Relationship Id="rId31" Type="http://schemas.openxmlformats.org/officeDocument/2006/relationships/tags" Target="../tags/tag627.xml"/><Relationship Id="rId30" Type="http://schemas.openxmlformats.org/officeDocument/2006/relationships/tags" Target="../tags/tag626.xml"/><Relationship Id="rId3" Type="http://schemas.openxmlformats.org/officeDocument/2006/relationships/tags" Target="../tags/tag599.xml"/><Relationship Id="rId29" Type="http://schemas.openxmlformats.org/officeDocument/2006/relationships/tags" Target="../tags/tag625.xml"/><Relationship Id="rId28" Type="http://schemas.openxmlformats.org/officeDocument/2006/relationships/tags" Target="../tags/tag624.xml"/><Relationship Id="rId27" Type="http://schemas.openxmlformats.org/officeDocument/2006/relationships/tags" Target="../tags/tag623.xml"/><Relationship Id="rId26" Type="http://schemas.openxmlformats.org/officeDocument/2006/relationships/tags" Target="../tags/tag622.xml"/><Relationship Id="rId25" Type="http://schemas.openxmlformats.org/officeDocument/2006/relationships/tags" Target="../tags/tag621.xml"/><Relationship Id="rId24" Type="http://schemas.openxmlformats.org/officeDocument/2006/relationships/tags" Target="../tags/tag620.xml"/><Relationship Id="rId23" Type="http://schemas.openxmlformats.org/officeDocument/2006/relationships/tags" Target="../tags/tag619.xml"/><Relationship Id="rId22" Type="http://schemas.openxmlformats.org/officeDocument/2006/relationships/tags" Target="../tags/tag618.xml"/><Relationship Id="rId218" Type="http://schemas.openxmlformats.org/officeDocument/2006/relationships/slideLayout" Target="../slideLayouts/slideLayout12.xml"/><Relationship Id="rId217" Type="http://schemas.openxmlformats.org/officeDocument/2006/relationships/image" Target="../media/image1.png"/><Relationship Id="rId216" Type="http://schemas.openxmlformats.org/officeDocument/2006/relationships/tags" Target="../tags/tag812.xml"/><Relationship Id="rId215" Type="http://schemas.openxmlformats.org/officeDocument/2006/relationships/tags" Target="../tags/tag811.xml"/><Relationship Id="rId214" Type="http://schemas.openxmlformats.org/officeDocument/2006/relationships/tags" Target="../tags/tag810.xml"/><Relationship Id="rId213" Type="http://schemas.openxmlformats.org/officeDocument/2006/relationships/tags" Target="../tags/tag809.xml"/><Relationship Id="rId212" Type="http://schemas.openxmlformats.org/officeDocument/2006/relationships/tags" Target="../tags/tag808.xml"/><Relationship Id="rId211" Type="http://schemas.openxmlformats.org/officeDocument/2006/relationships/tags" Target="../tags/tag807.xml"/><Relationship Id="rId210" Type="http://schemas.openxmlformats.org/officeDocument/2006/relationships/tags" Target="../tags/tag806.xml"/><Relationship Id="rId21" Type="http://schemas.openxmlformats.org/officeDocument/2006/relationships/tags" Target="../tags/tag617.xml"/><Relationship Id="rId209" Type="http://schemas.openxmlformats.org/officeDocument/2006/relationships/tags" Target="../tags/tag805.xml"/><Relationship Id="rId208" Type="http://schemas.openxmlformats.org/officeDocument/2006/relationships/tags" Target="../tags/tag804.xml"/><Relationship Id="rId207" Type="http://schemas.openxmlformats.org/officeDocument/2006/relationships/tags" Target="../tags/tag803.xml"/><Relationship Id="rId206" Type="http://schemas.openxmlformats.org/officeDocument/2006/relationships/tags" Target="../tags/tag802.xml"/><Relationship Id="rId205" Type="http://schemas.openxmlformats.org/officeDocument/2006/relationships/tags" Target="../tags/tag801.xml"/><Relationship Id="rId204" Type="http://schemas.openxmlformats.org/officeDocument/2006/relationships/tags" Target="../tags/tag800.xml"/><Relationship Id="rId203" Type="http://schemas.openxmlformats.org/officeDocument/2006/relationships/tags" Target="../tags/tag799.xml"/><Relationship Id="rId202" Type="http://schemas.openxmlformats.org/officeDocument/2006/relationships/tags" Target="../tags/tag798.xml"/><Relationship Id="rId201" Type="http://schemas.openxmlformats.org/officeDocument/2006/relationships/tags" Target="../tags/tag797.xml"/><Relationship Id="rId200" Type="http://schemas.openxmlformats.org/officeDocument/2006/relationships/tags" Target="../tags/tag796.xml"/><Relationship Id="rId20" Type="http://schemas.openxmlformats.org/officeDocument/2006/relationships/tags" Target="../tags/tag616.xml"/><Relationship Id="rId2" Type="http://schemas.openxmlformats.org/officeDocument/2006/relationships/image" Target="../media/image49.svg"/><Relationship Id="rId199" Type="http://schemas.openxmlformats.org/officeDocument/2006/relationships/tags" Target="../tags/tag795.xml"/><Relationship Id="rId198" Type="http://schemas.openxmlformats.org/officeDocument/2006/relationships/tags" Target="../tags/tag794.xml"/><Relationship Id="rId197" Type="http://schemas.openxmlformats.org/officeDocument/2006/relationships/tags" Target="../tags/tag793.xml"/><Relationship Id="rId196" Type="http://schemas.openxmlformats.org/officeDocument/2006/relationships/tags" Target="../tags/tag792.xml"/><Relationship Id="rId195" Type="http://schemas.openxmlformats.org/officeDocument/2006/relationships/tags" Target="../tags/tag791.xml"/><Relationship Id="rId194" Type="http://schemas.openxmlformats.org/officeDocument/2006/relationships/tags" Target="../tags/tag790.xml"/><Relationship Id="rId193" Type="http://schemas.openxmlformats.org/officeDocument/2006/relationships/tags" Target="../tags/tag789.xml"/><Relationship Id="rId192" Type="http://schemas.openxmlformats.org/officeDocument/2006/relationships/tags" Target="../tags/tag788.xml"/><Relationship Id="rId191" Type="http://schemas.openxmlformats.org/officeDocument/2006/relationships/tags" Target="../tags/tag787.xml"/><Relationship Id="rId190" Type="http://schemas.openxmlformats.org/officeDocument/2006/relationships/tags" Target="../tags/tag786.xml"/><Relationship Id="rId19" Type="http://schemas.openxmlformats.org/officeDocument/2006/relationships/tags" Target="../tags/tag615.xml"/><Relationship Id="rId189" Type="http://schemas.openxmlformats.org/officeDocument/2006/relationships/tags" Target="../tags/tag785.xml"/><Relationship Id="rId188" Type="http://schemas.openxmlformats.org/officeDocument/2006/relationships/tags" Target="../tags/tag784.xml"/><Relationship Id="rId187" Type="http://schemas.openxmlformats.org/officeDocument/2006/relationships/tags" Target="../tags/tag783.xml"/><Relationship Id="rId186" Type="http://schemas.openxmlformats.org/officeDocument/2006/relationships/tags" Target="../tags/tag782.xml"/><Relationship Id="rId185" Type="http://schemas.openxmlformats.org/officeDocument/2006/relationships/tags" Target="../tags/tag781.xml"/><Relationship Id="rId184" Type="http://schemas.openxmlformats.org/officeDocument/2006/relationships/tags" Target="../tags/tag780.xml"/><Relationship Id="rId183" Type="http://schemas.openxmlformats.org/officeDocument/2006/relationships/tags" Target="../tags/tag779.xml"/><Relationship Id="rId182" Type="http://schemas.openxmlformats.org/officeDocument/2006/relationships/tags" Target="../tags/tag778.xml"/><Relationship Id="rId181" Type="http://schemas.openxmlformats.org/officeDocument/2006/relationships/tags" Target="../tags/tag777.xml"/><Relationship Id="rId180" Type="http://schemas.openxmlformats.org/officeDocument/2006/relationships/tags" Target="../tags/tag776.xml"/><Relationship Id="rId18" Type="http://schemas.openxmlformats.org/officeDocument/2006/relationships/tags" Target="../tags/tag614.xml"/><Relationship Id="rId179" Type="http://schemas.openxmlformats.org/officeDocument/2006/relationships/tags" Target="../tags/tag775.xml"/><Relationship Id="rId178" Type="http://schemas.openxmlformats.org/officeDocument/2006/relationships/tags" Target="../tags/tag774.xml"/><Relationship Id="rId177" Type="http://schemas.openxmlformats.org/officeDocument/2006/relationships/tags" Target="../tags/tag773.xml"/><Relationship Id="rId176" Type="http://schemas.openxmlformats.org/officeDocument/2006/relationships/tags" Target="../tags/tag772.xml"/><Relationship Id="rId175" Type="http://schemas.openxmlformats.org/officeDocument/2006/relationships/tags" Target="../tags/tag771.xml"/><Relationship Id="rId174" Type="http://schemas.openxmlformats.org/officeDocument/2006/relationships/tags" Target="../tags/tag770.xml"/><Relationship Id="rId173" Type="http://schemas.openxmlformats.org/officeDocument/2006/relationships/tags" Target="../tags/tag769.xml"/><Relationship Id="rId172" Type="http://schemas.openxmlformats.org/officeDocument/2006/relationships/tags" Target="../tags/tag768.xml"/><Relationship Id="rId171" Type="http://schemas.openxmlformats.org/officeDocument/2006/relationships/tags" Target="../tags/tag767.xml"/><Relationship Id="rId170" Type="http://schemas.openxmlformats.org/officeDocument/2006/relationships/tags" Target="../tags/tag766.xml"/><Relationship Id="rId17" Type="http://schemas.openxmlformats.org/officeDocument/2006/relationships/tags" Target="../tags/tag613.xml"/><Relationship Id="rId169" Type="http://schemas.openxmlformats.org/officeDocument/2006/relationships/tags" Target="../tags/tag765.xml"/><Relationship Id="rId168" Type="http://schemas.openxmlformats.org/officeDocument/2006/relationships/tags" Target="../tags/tag764.xml"/><Relationship Id="rId167" Type="http://schemas.openxmlformats.org/officeDocument/2006/relationships/tags" Target="../tags/tag763.xml"/><Relationship Id="rId166" Type="http://schemas.openxmlformats.org/officeDocument/2006/relationships/tags" Target="../tags/tag762.xml"/><Relationship Id="rId165" Type="http://schemas.openxmlformats.org/officeDocument/2006/relationships/tags" Target="../tags/tag761.xml"/><Relationship Id="rId164" Type="http://schemas.openxmlformats.org/officeDocument/2006/relationships/tags" Target="../tags/tag760.xml"/><Relationship Id="rId163" Type="http://schemas.openxmlformats.org/officeDocument/2006/relationships/tags" Target="../tags/tag759.xml"/><Relationship Id="rId162" Type="http://schemas.openxmlformats.org/officeDocument/2006/relationships/tags" Target="../tags/tag758.xml"/><Relationship Id="rId161" Type="http://schemas.openxmlformats.org/officeDocument/2006/relationships/tags" Target="../tags/tag757.xml"/><Relationship Id="rId160" Type="http://schemas.openxmlformats.org/officeDocument/2006/relationships/tags" Target="../tags/tag756.xml"/><Relationship Id="rId16" Type="http://schemas.openxmlformats.org/officeDocument/2006/relationships/tags" Target="../tags/tag612.xml"/><Relationship Id="rId159" Type="http://schemas.openxmlformats.org/officeDocument/2006/relationships/tags" Target="../tags/tag755.xml"/><Relationship Id="rId158" Type="http://schemas.openxmlformats.org/officeDocument/2006/relationships/tags" Target="../tags/tag754.xml"/><Relationship Id="rId157" Type="http://schemas.openxmlformats.org/officeDocument/2006/relationships/tags" Target="../tags/tag753.xml"/><Relationship Id="rId156" Type="http://schemas.openxmlformats.org/officeDocument/2006/relationships/tags" Target="../tags/tag752.xml"/><Relationship Id="rId155" Type="http://schemas.openxmlformats.org/officeDocument/2006/relationships/tags" Target="../tags/tag751.xml"/><Relationship Id="rId154" Type="http://schemas.openxmlformats.org/officeDocument/2006/relationships/tags" Target="../tags/tag750.xml"/><Relationship Id="rId153" Type="http://schemas.openxmlformats.org/officeDocument/2006/relationships/tags" Target="../tags/tag749.xml"/><Relationship Id="rId152" Type="http://schemas.openxmlformats.org/officeDocument/2006/relationships/tags" Target="../tags/tag748.xml"/><Relationship Id="rId151" Type="http://schemas.openxmlformats.org/officeDocument/2006/relationships/tags" Target="../tags/tag747.xml"/><Relationship Id="rId150" Type="http://schemas.openxmlformats.org/officeDocument/2006/relationships/tags" Target="../tags/tag746.xml"/><Relationship Id="rId15" Type="http://schemas.openxmlformats.org/officeDocument/2006/relationships/tags" Target="../tags/tag611.xml"/><Relationship Id="rId149" Type="http://schemas.openxmlformats.org/officeDocument/2006/relationships/tags" Target="../tags/tag745.xml"/><Relationship Id="rId148" Type="http://schemas.openxmlformats.org/officeDocument/2006/relationships/tags" Target="../tags/tag744.xml"/><Relationship Id="rId147" Type="http://schemas.openxmlformats.org/officeDocument/2006/relationships/tags" Target="../tags/tag743.xml"/><Relationship Id="rId146" Type="http://schemas.openxmlformats.org/officeDocument/2006/relationships/tags" Target="../tags/tag742.xml"/><Relationship Id="rId145" Type="http://schemas.openxmlformats.org/officeDocument/2006/relationships/tags" Target="../tags/tag741.xml"/><Relationship Id="rId144" Type="http://schemas.openxmlformats.org/officeDocument/2006/relationships/tags" Target="../tags/tag740.xml"/><Relationship Id="rId143" Type="http://schemas.openxmlformats.org/officeDocument/2006/relationships/tags" Target="../tags/tag739.xml"/><Relationship Id="rId142" Type="http://schemas.openxmlformats.org/officeDocument/2006/relationships/tags" Target="../tags/tag738.xml"/><Relationship Id="rId141" Type="http://schemas.openxmlformats.org/officeDocument/2006/relationships/tags" Target="../tags/tag737.xml"/><Relationship Id="rId140" Type="http://schemas.openxmlformats.org/officeDocument/2006/relationships/tags" Target="../tags/tag736.xml"/><Relationship Id="rId14" Type="http://schemas.openxmlformats.org/officeDocument/2006/relationships/tags" Target="../tags/tag610.xml"/><Relationship Id="rId139" Type="http://schemas.openxmlformats.org/officeDocument/2006/relationships/tags" Target="../tags/tag735.xml"/><Relationship Id="rId138" Type="http://schemas.openxmlformats.org/officeDocument/2006/relationships/tags" Target="../tags/tag734.xml"/><Relationship Id="rId137" Type="http://schemas.openxmlformats.org/officeDocument/2006/relationships/tags" Target="../tags/tag733.xml"/><Relationship Id="rId136" Type="http://schemas.openxmlformats.org/officeDocument/2006/relationships/tags" Target="../tags/tag732.xml"/><Relationship Id="rId135" Type="http://schemas.openxmlformats.org/officeDocument/2006/relationships/tags" Target="../tags/tag731.xml"/><Relationship Id="rId134" Type="http://schemas.openxmlformats.org/officeDocument/2006/relationships/tags" Target="../tags/tag730.xml"/><Relationship Id="rId133" Type="http://schemas.openxmlformats.org/officeDocument/2006/relationships/tags" Target="../tags/tag729.xml"/><Relationship Id="rId132" Type="http://schemas.openxmlformats.org/officeDocument/2006/relationships/tags" Target="../tags/tag728.xml"/><Relationship Id="rId131" Type="http://schemas.openxmlformats.org/officeDocument/2006/relationships/tags" Target="../tags/tag727.xml"/><Relationship Id="rId130" Type="http://schemas.openxmlformats.org/officeDocument/2006/relationships/tags" Target="../tags/tag726.xml"/><Relationship Id="rId13" Type="http://schemas.openxmlformats.org/officeDocument/2006/relationships/tags" Target="../tags/tag609.xml"/><Relationship Id="rId129" Type="http://schemas.openxmlformats.org/officeDocument/2006/relationships/tags" Target="../tags/tag725.xml"/><Relationship Id="rId128" Type="http://schemas.openxmlformats.org/officeDocument/2006/relationships/tags" Target="../tags/tag724.xml"/><Relationship Id="rId127" Type="http://schemas.openxmlformats.org/officeDocument/2006/relationships/tags" Target="../tags/tag723.xml"/><Relationship Id="rId126" Type="http://schemas.openxmlformats.org/officeDocument/2006/relationships/tags" Target="../tags/tag722.xml"/><Relationship Id="rId125" Type="http://schemas.openxmlformats.org/officeDocument/2006/relationships/tags" Target="../tags/tag721.xml"/><Relationship Id="rId124" Type="http://schemas.openxmlformats.org/officeDocument/2006/relationships/tags" Target="../tags/tag720.xml"/><Relationship Id="rId123" Type="http://schemas.openxmlformats.org/officeDocument/2006/relationships/tags" Target="../tags/tag719.xml"/><Relationship Id="rId122" Type="http://schemas.openxmlformats.org/officeDocument/2006/relationships/tags" Target="../tags/tag718.xml"/><Relationship Id="rId121" Type="http://schemas.openxmlformats.org/officeDocument/2006/relationships/tags" Target="../tags/tag717.xml"/><Relationship Id="rId120" Type="http://schemas.openxmlformats.org/officeDocument/2006/relationships/tags" Target="../tags/tag716.xml"/><Relationship Id="rId12" Type="http://schemas.openxmlformats.org/officeDocument/2006/relationships/tags" Target="../tags/tag608.xml"/><Relationship Id="rId119" Type="http://schemas.openxmlformats.org/officeDocument/2006/relationships/tags" Target="../tags/tag715.xml"/><Relationship Id="rId118" Type="http://schemas.openxmlformats.org/officeDocument/2006/relationships/tags" Target="../tags/tag714.xml"/><Relationship Id="rId117" Type="http://schemas.openxmlformats.org/officeDocument/2006/relationships/tags" Target="../tags/tag713.xml"/><Relationship Id="rId116" Type="http://schemas.openxmlformats.org/officeDocument/2006/relationships/tags" Target="../tags/tag712.xml"/><Relationship Id="rId115" Type="http://schemas.openxmlformats.org/officeDocument/2006/relationships/tags" Target="../tags/tag711.xml"/><Relationship Id="rId114" Type="http://schemas.openxmlformats.org/officeDocument/2006/relationships/tags" Target="../tags/tag710.xml"/><Relationship Id="rId113" Type="http://schemas.openxmlformats.org/officeDocument/2006/relationships/tags" Target="../tags/tag709.xml"/><Relationship Id="rId112" Type="http://schemas.openxmlformats.org/officeDocument/2006/relationships/tags" Target="../tags/tag708.xml"/><Relationship Id="rId111" Type="http://schemas.openxmlformats.org/officeDocument/2006/relationships/tags" Target="../tags/tag707.xml"/><Relationship Id="rId110" Type="http://schemas.openxmlformats.org/officeDocument/2006/relationships/tags" Target="../tags/tag706.xml"/><Relationship Id="rId11" Type="http://schemas.openxmlformats.org/officeDocument/2006/relationships/tags" Target="../tags/tag607.xml"/><Relationship Id="rId109" Type="http://schemas.openxmlformats.org/officeDocument/2006/relationships/tags" Target="../tags/tag705.xml"/><Relationship Id="rId108" Type="http://schemas.openxmlformats.org/officeDocument/2006/relationships/tags" Target="../tags/tag704.xml"/><Relationship Id="rId107" Type="http://schemas.openxmlformats.org/officeDocument/2006/relationships/tags" Target="../tags/tag703.xml"/><Relationship Id="rId106" Type="http://schemas.openxmlformats.org/officeDocument/2006/relationships/tags" Target="../tags/tag702.xml"/><Relationship Id="rId105" Type="http://schemas.openxmlformats.org/officeDocument/2006/relationships/tags" Target="../tags/tag701.xml"/><Relationship Id="rId104" Type="http://schemas.openxmlformats.org/officeDocument/2006/relationships/tags" Target="../tags/tag700.xml"/><Relationship Id="rId103" Type="http://schemas.openxmlformats.org/officeDocument/2006/relationships/tags" Target="../tags/tag699.xml"/><Relationship Id="rId102" Type="http://schemas.openxmlformats.org/officeDocument/2006/relationships/tags" Target="../tags/tag698.xml"/><Relationship Id="rId101" Type="http://schemas.openxmlformats.org/officeDocument/2006/relationships/tags" Target="../tags/tag697.xml"/><Relationship Id="rId100" Type="http://schemas.openxmlformats.org/officeDocument/2006/relationships/tags" Target="../tags/tag696.xml"/><Relationship Id="rId10" Type="http://schemas.openxmlformats.org/officeDocument/2006/relationships/tags" Target="../tags/tag606.xml"/><Relationship Id="rId1" Type="http://schemas.openxmlformats.org/officeDocument/2006/relationships/image" Target="../media/image24.png"/></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131.svg"/><Relationship Id="rId1" Type="http://schemas.openxmlformats.org/officeDocument/2006/relationships/image" Target="../media/image24.png"/></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132.svg"/><Relationship Id="rId1" Type="http://schemas.openxmlformats.org/officeDocument/2006/relationships/image" Target="../media/image24.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132.svg"/><Relationship Id="rId1" Type="http://schemas.openxmlformats.org/officeDocument/2006/relationships/image" Target="../media/image24.png"/></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131.svg"/><Relationship Id="rId1" Type="http://schemas.openxmlformats.org/officeDocument/2006/relationships/image" Target="../media/image24.png"/></Relationships>
</file>

<file path=ppt/slides/_rels/slide43.xml.rels><?xml version="1.0" encoding="UTF-8" standalone="yes"?>
<Relationships xmlns="http://schemas.openxmlformats.org/package/2006/relationships"><Relationship Id="rId9" Type="http://schemas.openxmlformats.org/officeDocument/2006/relationships/tags" Target="../tags/tag819.xml"/><Relationship Id="rId8" Type="http://schemas.openxmlformats.org/officeDocument/2006/relationships/tags" Target="../tags/tag818.xml"/><Relationship Id="rId7" Type="http://schemas.openxmlformats.org/officeDocument/2006/relationships/tags" Target="../tags/tag817.xml"/><Relationship Id="rId6" Type="http://schemas.openxmlformats.org/officeDocument/2006/relationships/tags" Target="../tags/tag816.xml"/><Relationship Id="rId5" Type="http://schemas.openxmlformats.org/officeDocument/2006/relationships/tags" Target="../tags/tag815.xml"/><Relationship Id="rId4" Type="http://schemas.openxmlformats.org/officeDocument/2006/relationships/tags" Target="../tags/tag814.xml"/><Relationship Id="rId3" Type="http://schemas.openxmlformats.org/officeDocument/2006/relationships/tags" Target="../tags/tag813.xml"/><Relationship Id="rId23" Type="http://schemas.openxmlformats.org/officeDocument/2006/relationships/slideLayout" Target="../slideLayouts/slideLayout12.xml"/><Relationship Id="rId22" Type="http://schemas.openxmlformats.org/officeDocument/2006/relationships/image" Target="../media/image1.png"/><Relationship Id="rId21" Type="http://schemas.openxmlformats.org/officeDocument/2006/relationships/tags" Target="../tags/tag831.xml"/><Relationship Id="rId20" Type="http://schemas.openxmlformats.org/officeDocument/2006/relationships/tags" Target="../tags/tag830.xml"/><Relationship Id="rId2" Type="http://schemas.openxmlformats.org/officeDocument/2006/relationships/image" Target="../media/image133.svg"/><Relationship Id="rId19" Type="http://schemas.openxmlformats.org/officeDocument/2006/relationships/tags" Target="../tags/tag829.xml"/><Relationship Id="rId18" Type="http://schemas.openxmlformats.org/officeDocument/2006/relationships/tags" Target="../tags/tag828.xml"/><Relationship Id="rId17" Type="http://schemas.openxmlformats.org/officeDocument/2006/relationships/tags" Target="../tags/tag827.xml"/><Relationship Id="rId16" Type="http://schemas.openxmlformats.org/officeDocument/2006/relationships/tags" Target="../tags/tag826.xml"/><Relationship Id="rId15" Type="http://schemas.openxmlformats.org/officeDocument/2006/relationships/tags" Target="../tags/tag825.xml"/><Relationship Id="rId14" Type="http://schemas.openxmlformats.org/officeDocument/2006/relationships/tags" Target="../tags/tag824.xml"/><Relationship Id="rId13" Type="http://schemas.openxmlformats.org/officeDocument/2006/relationships/tags" Target="../tags/tag823.xml"/><Relationship Id="rId12" Type="http://schemas.openxmlformats.org/officeDocument/2006/relationships/tags" Target="../tags/tag822.xml"/><Relationship Id="rId11" Type="http://schemas.openxmlformats.org/officeDocument/2006/relationships/tags" Target="../tags/tag821.xml"/><Relationship Id="rId10" Type="http://schemas.openxmlformats.org/officeDocument/2006/relationships/tags" Target="../tags/tag820.xml"/><Relationship Id="rId1" Type="http://schemas.openxmlformats.org/officeDocument/2006/relationships/image" Target="../media/image24.png"/></Relationships>
</file>

<file path=ppt/slides/_rels/slide44.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image" Target="../media/image140.svg"/><Relationship Id="rId7" Type="http://schemas.openxmlformats.org/officeDocument/2006/relationships/image" Target="../media/image139.png"/><Relationship Id="rId6" Type="http://schemas.openxmlformats.org/officeDocument/2006/relationships/image" Target="../media/image138.svg"/><Relationship Id="rId5" Type="http://schemas.openxmlformats.org/officeDocument/2006/relationships/image" Target="../media/image137.png"/><Relationship Id="rId4" Type="http://schemas.openxmlformats.org/officeDocument/2006/relationships/image" Target="../media/image136.svg"/><Relationship Id="rId3" Type="http://schemas.openxmlformats.org/officeDocument/2006/relationships/image" Target="../media/image135.png"/><Relationship Id="rId2" Type="http://schemas.openxmlformats.org/officeDocument/2006/relationships/image" Target="../media/image134.svg"/><Relationship Id="rId10" Type="http://schemas.openxmlformats.org/officeDocument/2006/relationships/slideLayout" Target="../slideLayouts/slideLayout12.xml"/><Relationship Id="rId1" Type="http://schemas.openxmlformats.org/officeDocument/2006/relationships/image" Target="../media/image24.png"/></Relationships>
</file>

<file path=ppt/slides/_rels/slide45.xml.rels><?xml version="1.0" encoding="UTF-8" standalone="yes"?>
<Relationships xmlns="http://schemas.openxmlformats.org/package/2006/relationships"><Relationship Id="rId9" Type="http://schemas.openxmlformats.org/officeDocument/2006/relationships/tags" Target="../tags/tag838.xml"/><Relationship Id="rId8" Type="http://schemas.openxmlformats.org/officeDocument/2006/relationships/tags" Target="../tags/tag837.xml"/><Relationship Id="rId7" Type="http://schemas.openxmlformats.org/officeDocument/2006/relationships/tags" Target="../tags/tag836.xml"/><Relationship Id="rId6" Type="http://schemas.openxmlformats.org/officeDocument/2006/relationships/tags" Target="../tags/tag835.xml"/><Relationship Id="rId5" Type="http://schemas.openxmlformats.org/officeDocument/2006/relationships/tags" Target="../tags/tag834.xml"/><Relationship Id="rId4" Type="http://schemas.openxmlformats.org/officeDocument/2006/relationships/tags" Target="../tags/tag833.xml"/><Relationship Id="rId3" Type="http://schemas.openxmlformats.org/officeDocument/2006/relationships/tags" Target="../tags/tag832.xml"/><Relationship Id="rId26" Type="http://schemas.openxmlformats.org/officeDocument/2006/relationships/slideLayout" Target="../slideLayouts/slideLayout12.xml"/><Relationship Id="rId25" Type="http://schemas.openxmlformats.org/officeDocument/2006/relationships/image" Target="../media/image1.png"/><Relationship Id="rId24" Type="http://schemas.openxmlformats.org/officeDocument/2006/relationships/tags" Target="../tags/tag853.xml"/><Relationship Id="rId23" Type="http://schemas.openxmlformats.org/officeDocument/2006/relationships/tags" Target="../tags/tag852.xml"/><Relationship Id="rId22" Type="http://schemas.openxmlformats.org/officeDocument/2006/relationships/tags" Target="../tags/tag851.xml"/><Relationship Id="rId21" Type="http://schemas.openxmlformats.org/officeDocument/2006/relationships/tags" Target="../tags/tag850.xml"/><Relationship Id="rId20" Type="http://schemas.openxmlformats.org/officeDocument/2006/relationships/tags" Target="../tags/tag849.xml"/><Relationship Id="rId2" Type="http://schemas.openxmlformats.org/officeDocument/2006/relationships/image" Target="../media/image141.svg"/><Relationship Id="rId19" Type="http://schemas.openxmlformats.org/officeDocument/2006/relationships/tags" Target="../tags/tag848.xml"/><Relationship Id="rId18" Type="http://schemas.openxmlformats.org/officeDocument/2006/relationships/tags" Target="../tags/tag847.xml"/><Relationship Id="rId17" Type="http://schemas.openxmlformats.org/officeDocument/2006/relationships/tags" Target="../tags/tag846.xml"/><Relationship Id="rId16" Type="http://schemas.openxmlformats.org/officeDocument/2006/relationships/tags" Target="../tags/tag845.xml"/><Relationship Id="rId15" Type="http://schemas.openxmlformats.org/officeDocument/2006/relationships/tags" Target="../tags/tag844.xml"/><Relationship Id="rId14" Type="http://schemas.openxmlformats.org/officeDocument/2006/relationships/tags" Target="../tags/tag843.xml"/><Relationship Id="rId13" Type="http://schemas.openxmlformats.org/officeDocument/2006/relationships/tags" Target="../tags/tag842.xml"/><Relationship Id="rId12" Type="http://schemas.openxmlformats.org/officeDocument/2006/relationships/tags" Target="../tags/tag841.xml"/><Relationship Id="rId11" Type="http://schemas.openxmlformats.org/officeDocument/2006/relationships/tags" Target="../tags/tag840.xml"/><Relationship Id="rId10" Type="http://schemas.openxmlformats.org/officeDocument/2006/relationships/tags" Target="../tags/tag839.xml"/><Relationship Id="rId1" Type="http://schemas.openxmlformats.org/officeDocument/2006/relationships/image" Target="../media/image24.png"/></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142.svg"/><Relationship Id="rId1" Type="http://schemas.openxmlformats.org/officeDocument/2006/relationships/image" Target="../media/image24.png"/></Relationships>
</file>

<file path=ppt/slides/_rels/slide47.xml.rels><?xml version="1.0" encoding="UTF-8" standalone="yes"?>
<Relationships xmlns="http://schemas.openxmlformats.org/package/2006/relationships"><Relationship Id="rId9" Type="http://schemas.openxmlformats.org/officeDocument/2006/relationships/tags" Target="../tags/tag860.xml"/><Relationship Id="rId8" Type="http://schemas.openxmlformats.org/officeDocument/2006/relationships/tags" Target="../tags/tag859.xml"/><Relationship Id="rId7" Type="http://schemas.openxmlformats.org/officeDocument/2006/relationships/tags" Target="../tags/tag858.xml"/><Relationship Id="rId6" Type="http://schemas.openxmlformats.org/officeDocument/2006/relationships/tags" Target="../tags/tag857.xml"/><Relationship Id="rId5" Type="http://schemas.openxmlformats.org/officeDocument/2006/relationships/tags" Target="../tags/tag856.xml"/><Relationship Id="rId4" Type="http://schemas.openxmlformats.org/officeDocument/2006/relationships/tags" Target="../tags/tag855.xml"/><Relationship Id="rId3" Type="http://schemas.openxmlformats.org/officeDocument/2006/relationships/tags" Target="../tags/tag854.xml"/><Relationship Id="rId2" Type="http://schemas.openxmlformats.org/officeDocument/2006/relationships/image" Target="../media/image144.svg"/><Relationship Id="rId18" Type="http://schemas.openxmlformats.org/officeDocument/2006/relationships/slideLayout" Target="../slideLayouts/slideLayout12.xml"/><Relationship Id="rId17" Type="http://schemas.openxmlformats.org/officeDocument/2006/relationships/image" Target="../media/image1.png"/><Relationship Id="rId16" Type="http://schemas.openxmlformats.org/officeDocument/2006/relationships/tags" Target="../tags/tag867.xml"/><Relationship Id="rId15" Type="http://schemas.openxmlformats.org/officeDocument/2006/relationships/tags" Target="../tags/tag866.xml"/><Relationship Id="rId14" Type="http://schemas.openxmlformats.org/officeDocument/2006/relationships/tags" Target="../tags/tag865.xml"/><Relationship Id="rId13" Type="http://schemas.openxmlformats.org/officeDocument/2006/relationships/tags" Target="../tags/tag864.xml"/><Relationship Id="rId12" Type="http://schemas.openxmlformats.org/officeDocument/2006/relationships/tags" Target="../tags/tag863.xml"/><Relationship Id="rId11" Type="http://schemas.openxmlformats.org/officeDocument/2006/relationships/tags" Target="../tags/tag862.xml"/><Relationship Id="rId10" Type="http://schemas.openxmlformats.org/officeDocument/2006/relationships/tags" Target="../tags/tag861.xml"/><Relationship Id="rId1" Type="http://schemas.openxmlformats.org/officeDocument/2006/relationships/image" Target="../media/image143.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图片 44" descr="&amp;pky380_sjzg_VCG41N612724130_sjzg_VCG41N612724130&amp;"/>
          <p:cNvPicPr>
            <a:picLocks noChangeAspect="1"/>
          </p:cNvPicPr>
          <p:nvPr userDrawn="1"/>
        </p:nvPicPr>
        <p:blipFill>
          <a:blip r:embed="rId1">
            <a:lum contrast="-66000"/>
          </a:blip>
          <a:stretch>
            <a:fillRect/>
          </a:stretch>
        </p:blipFill>
        <p:spPr>
          <a:xfrm>
            <a:off x="-11430" y="0"/>
            <a:ext cx="12214225" cy="6858000"/>
          </a:xfrm>
          <a:prstGeom prst="rect">
            <a:avLst/>
          </a:prstGeom>
        </p:spPr>
      </p:pic>
      <p:sp>
        <p:nvSpPr>
          <p:cNvPr id="46" name="矩形 45"/>
          <p:cNvSpPr/>
          <p:nvPr userDrawn="1"/>
        </p:nvSpPr>
        <p:spPr>
          <a:xfrm>
            <a:off x="0" y="0"/>
            <a:ext cx="12192000" cy="6858000"/>
          </a:xfrm>
          <a:prstGeom prst="rect">
            <a:avLst/>
          </a:prstGeom>
          <a:gradFill>
            <a:gsLst>
              <a:gs pos="0">
                <a:schemeClr val="accent1">
                  <a:alpha val="90000"/>
                </a:schemeClr>
              </a:gs>
              <a:gs pos="100000">
                <a:schemeClr val="accent1">
                  <a:alpha val="6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cxnSp>
        <p:nvCxnSpPr>
          <p:cNvPr id="44" name="直接连接符 43"/>
          <p:cNvCxnSpPr/>
          <p:nvPr/>
        </p:nvCxnSpPr>
        <p:spPr>
          <a:xfrm>
            <a:off x="1567721" y="8585987"/>
            <a:ext cx="572022" cy="0"/>
          </a:xfrm>
          <a:prstGeom prst="line">
            <a:avLst/>
          </a:prstGeom>
          <a:ln w="12700">
            <a:gradFill flip="none" rotWithShape="1">
              <a:gsLst>
                <a:gs pos="11000">
                  <a:schemeClr val="bg1">
                    <a:alpha val="0"/>
                  </a:schemeClr>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3870960" y="1540510"/>
            <a:ext cx="4001135" cy="706755"/>
          </a:xfrm>
          <a:prstGeom prst="rect">
            <a:avLst/>
          </a:prstGeom>
          <a:noFill/>
        </p:spPr>
        <p:txBody>
          <a:bodyPr wrap="square" rtlCol="0">
            <a:spAutoFit/>
          </a:bodyPr>
          <a:lstStyle/>
          <a:p>
            <a:pPr algn="dist"/>
            <a:r>
              <a:rPr lang="zh-CN" altLang="en-US" sz="4000" b="1" dirty="0">
                <a:solidFill>
                  <a:srgbClr val="FFC000"/>
                </a:solidFill>
                <a:latin typeface="微软雅黑" panose="020B0503020204020204" charset="-122"/>
                <a:ea typeface="微软雅黑" panose="020B0503020204020204" charset="-122"/>
                <a:cs typeface="微软雅黑" panose="020B0503020204020204" charset="-122"/>
              </a:rPr>
              <a:t>「框架搭建系列</a:t>
            </a:r>
            <a:r>
              <a:rPr lang="zh-CN" altLang="en-US" sz="4000" b="1" dirty="0">
                <a:solidFill>
                  <a:srgbClr val="FFC000"/>
                </a:solidFill>
                <a:latin typeface="微软雅黑" panose="020B0503020204020204" charset="-122"/>
                <a:ea typeface="微软雅黑" panose="020B0503020204020204" charset="-122"/>
                <a:cs typeface="微软雅黑" panose="020B0503020204020204" charset="-122"/>
                <a:sym typeface="+mn-ea"/>
              </a:rPr>
              <a:t>」</a:t>
            </a:r>
            <a:endParaRPr lang="zh-CN" altLang="en-US" sz="4000" b="1" dirty="0">
              <a:solidFill>
                <a:srgbClr val="FFC000"/>
              </a:solidFill>
              <a:latin typeface="微软雅黑" panose="020B0503020204020204" charset="-122"/>
              <a:ea typeface="微软雅黑" panose="020B0503020204020204" charset="-122"/>
              <a:cs typeface="微软雅黑" panose="020B0503020204020204" charset="-122"/>
              <a:sym typeface="+mn-ea"/>
            </a:endParaRPr>
          </a:p>
        </p:txBody>
      </p:sp>
      <p:sp>
        <p:nvSpPr>
          <p:cNvPr id="80" name="文本框 79"/>
          <p:cNvSpPr txBox="1"/>
          <p:nvPr/>
        </p:nvSpPr>
        <p:spPr>
          <a:xfrm>
            <a:off x="2024380" y="2326005"/>
            <a:ext cx="7940040" cy="1014730"/>
          </a:xfrm>
          <a:prstGeom prst="rect">
            <a:avLst/>
          </a:prstGeom>
          <a:noFill/>
        </p:spPr>
        <p:txBody>
          <a:bodyPr wrap="square" rtlCol="0">
            <a:spAutoFit/>
          </a:bodyPr>
          <a:lstStyle/>
          <a:p>
            <a:pPr algn="dist"/>
            <a:r>
              <a:rPr lang="zh-CN" sz="6000" b="1" dirty="0">
                <a:solidFill>
                  <a:schemeClr val="bg1"/>
                </a:solidFill>
                <a:latin typeface="微软雅黑" panose="020B0503020204020204" charset="-122"/>
                <a:ea typeface="微软雅黑" panose="020B0503020204020204" charset="-122"/>
                <a:cs typeface="微软雅黑" panose="020B0503020204020204" charset="-122"/>
              </a:rPr>
              <a:t>复杂逻辑场景</a:t>
            </a:r>
            <a:r>
              <a:rPr lang="en-US" altLang="zh-CN" sz="6000" b="1" dirty="0">
                <a:solidFill>
                  <a:schemeClr val="bg1"/>
                </a:solidFill>
                <a:latin typeface="微软雅黑" panose="020B0503020204020204" charset="-122"/>
                <a:ea typeface="微软雅黑" panose="020B0503020204020204" charset="-122"/>
                <a:cs typeface="微软雅黑" panose="020B0503020204020204" charset="-122"/>
              </a:rPr>
              <a:t>PPT</a:t>
            </a:r>
            <a:r>
              <a:rPr lang="zh-CN" altLang="en-US" sz="6000" b="1" dirty="0">
                <a:solidFill>
                  <a:schemeClr val="bg1"/>
                </a:solidFill>
                <a:latin typeface="微软雅黑" panose="020B0503020204020204" charset="-122"/>
                <a:ea typeface="微软雅黑" panose="020B0503020204020204" charset="-122"/>
                <a:cs typeface="微软雅黑" panose="020B0503020204020204" charset="-122"/>
              </a:rPr>
              <a:t>模板</a:t>
            </a:r>
            <a:endParaRPr lang="zh-CN" altLang="en-US" sz="60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1" name="文本框 80"/>
          <p:cNvSpPr txBox="1"/>
          <p:nvPr/>
        </p:nvSpPr>
        <p:spPr>
          <a:xfrm>
            <a:off x="5244518" y="4138060"/>
            <a:ext cx="1702965" cy="306705"/>
          </a:xfrm>
          <a:prstGeom prst="rect">
            <a:avLst/>
          </a:prstGeom>
          <a:noFill/>
          <a:ln w="3175">
            <a:noFill/>
          </a:ln>
        </p:spPr>
        <p:txBody>
          <a:bodyPr wrap="square" rtlCol="0">
            <a:spAutoFit/>
          </a:bodyPr>
          <a:lstStyle/>
          <a:p>
            <a:pPr algn="ctr"/>
            <a:r>
              <a:rPr lang="zh-CN" altLang="en-US" sz="1400" dirty="0">
                <a:solidFill>
                  <a:schemeClr val="bg1"/>
                </a:solidFill>
                <a:latin typeface="微软雅黑" panose="020B0503020204020204" charset="-122"/>
                <a:ea typeface="微软雅黑" panose="020B0503020204020204" charset="-122"/>
                <a:cs typeface="微软雅黑" panose="020B0503020204020204" charset="-122"/>
              </a:rPr>
              <a:t>汇报人：开悟思维</a:t>
            </a:r>
            <a:endParaRPr lang="zh-CN" altLang="en-US" sz="14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2" name="文本框 81"/>
          <p:cNvSpPr txBox="1"/>
          <p:nvPr/>
        </p:nvSpPr>
        <p:spPr>
          <a:xfrm>
            <a:off x="4721860" y="4411345"/>
            <a:ext cx="2490470" cy="306705"/>
          </a:xfrm>
          <a:prstGeom prst="rect">
            <a:avLst/>
          </a:prstGeom>
          <a:noFill/>
          <a:ln w="3175">
            <a:noFill/>
          </a:ln>
        </p:spPr>
        <p:txBody>
          <a:bodyPr wrap="square" rtlCol="0">
            <a:spAutoFit/>
          </a:bodyPr>
          <a:lstStyle>
            <a:defPPr>
              <a:defRPr lang="zh-CN"/>
            </a:defPPr>
            <a:lvl1pPr algn="ctr">
              <a:defRPr sz="1400">
                <a:solidFill>
                  <a:schemeClr val="bg1"/>
                </a:solidFill>
              </a:defRPr>
            </a:lvl1pPr>
          </a:lstStyle>
          <a:p>
            <a:pPr algn="ctr"/>
            <a:r>
              <a:rPr lang="zh-CN" altLang="en-US" dirty="0">
                <a:latin typeface="微软雅黑" panose="020B0503020204020204" charset="-122"/>
                <a:ea typeface="微软雅黑" panose="020B0503020204020204" charset="-122"/>
                <a:cs typeface="微软雅黑" panose="020B0503020204020204" charset="-122"/>
              </a:rPr>
              <a:t>汇报时间：</a:t>
            </a:r>
            <a:r>
              <a:rPr lang="en-US" altLang="zh-CN" dirty="0">
                <a:latin typeface="微软雅黑" panose="020B0503020204020204" charset="-122"/>
                <a:ea typeface="微软雅黑" panose="020B0503020204020204" charset="-122"/>
                <a:cs typeface="微软雅黑" panose="020B0503020204020204" charset="-122"/>
              </a:rPr>
              <a:t>20xx.xx</a:t>
            </a:r>
            <a:endParaRPr lang="zh-CN" altLang="en-US" dirty="0">
              <a:latin typeface="微软雅黑" panose="020B0503020204020204" charset="-122"/>
              <a:ea typeface="微软雅黑" panose="020B0503020204020204" charset="-122"/>
              <a:cs typeface="微软雅黑" panose="020B0503020204020204" charset="-122"/>
            </a:endParaRPr>
          </a:p>
        </p:txBody>
      </p:sp>
      <p:cxnSp>
        <p:nvCxnSpPr>
          <p:cNvPr id="83" name="直接连接符 82"/>
          <p:cNvCxnSpPr/>
          <p:nvPr/>
        </p:nvCxnSpPr>
        <p:spPr>
          <a:xfrm>
            <a:off x="2328724" y="3360147"/>
            <a:ext cx="7534552" cy="6350"/>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84" name="等腰三角形 83"/>
          <p:cNvSpPr/>
          <p:nvPr/>
        </p:nvSpPr>
        <p:spPr>
          <a:xfrm flipV="1">
            <a:off x="9715109" y="3360147"/>
            <a:ext cx="148167" cy="12773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5" name="文本框 84"/>
          <p:cNvSpPr txBox="1"/>
          <p:nvPr/>
        </p:nvSpPr>
        <p:spPr>
          <a:xfrm>
            <a:off x="2608152" y="3437112"/>
            <a:ext cx="6975697" cy="275590"/>
          </a:xfrm>
          <a:prstGeom prst="rect">
            <a:avLst/>
          </a:prstGeom>
          <a:noFill/>
        </p:spPr>
        <p:txBody>
          <a:bodyPr wrap="square" rtlCol="0">
            <a:spAutoFit/>
          </a:bodyPr>
          <a:lstStyle/>
          <a:p>
            <a:pPr algn="ctr"/>
            <a:r>
              <a:rPr lang="en-US" altLang="zh-CN" sz="1200" dirty="0">
                <a:solidFill>
                  <a:schemeClr val="bg1"/>
                </a:solidFill>
                <a:latin typeface="微软雅黑" panose="020B0503020204020204" charset="-122"/>
                <a:ea typeface="微软雅黑" panose="020B0503020204020204" charset="-122"/>
                <a:cs typeface="微软雅黑" panose="020B0503020204020204" charset="-122"/>
              </a:rPr>
              <a:t>Framework Series: Complex Logic Construction PPT Template</a:t>
            </a:r>
            <a:endParaRPr lang="en-US" altLang="zh-CN"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3" name="文本框 22"/>
          <p:cNvSpPr txBox="1"/>
          <p:nvPr userDrawn="1"/>
        </p:nvSpPr>
        <p:spPr>
          <a:xfrm>
            <a:off x="9388344" y="744017"/>
            <a:ext cx="2357120" cy="92075"/>
          </a:xfrm>
          <a:prstGeom prst="rect">
            <a:avLst/>
          </a:prstGeom>
          <a:noFill/>
        </p:spPr>
        <p:txBody>
          <a:bodyPr wrap="none" lIns="0" tIns="0" rIns="0" bIns="0" rtlCol="0">
            <a:spAutoFit/>
          </a:bodyPr>
          <a:lstStyle/>
          <a:p>
            <a:pPr algn="r">
              <a:lnSpc>
                <a:spcPct val="60000"/>
              </a:lnSpc>
              <a:spcAft>
                <a:spcPts val="600"/>
              </a:spcAft>
            </a:pPr>
            <a:r>
              <a:rPr lang="zh-CN" altLang="en-US" sz="1000" spc="16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仅供学习使用，严禁商用，侵权必究</a:t>
            </a:r>
            <a:endParaRPr lang="zh-CN" altLang="en-US" sz="1000" spc="16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矩形 2"/>
          <p:cNvSpPr/>
          <p:nvPr userDrawn="1"/>
        </p:nvSpPr>
        <p:spPr>
          <a:xfrm>
            <a:off x="9200515" y="521970"/>
            <a:ext cx="2626995" cy="454660"/>
          </a:xfrm>
          <a:prstGeom prst="rect">
            <a:avLst/>
          </a:prstGeom>
          <a:noFill/>
          <a:ln>
            <a:solidFill>
              <a:schemeClr val="bg1"/>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矩形 68"/>
          <p:cNvSpPr/>
          <p:nvPr/>
        </p:nvSpPr>
        <p:spPr>
          <a:xfrm>
            <a:off x="1476693" y="914400"/>
            <a:ext cx="9086215" cy="231775"/>
          </a:xfrm>
          <a:prstGeom prst="rect">
            <a:avLst/>
          </a:prstGeom>
          <a:solidFill>
            <a:schemeClr val="accent1">
              <a:lumMod val="20000"/>
              <a:lumOff val="80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charset="-122"/>
            </a:endParaRPr>
          </a:p>
        </p:txBody>
      </p:sp>
      <p:sp>
        <p:nvSpPr>
          <p:cNvPr id="12" name="文本框 11"/>
          <p:cNvSpPr txBox="1"/>
          <p:nvPr>
            <p:custDataLst>
              <p:tags r:id="rId1"/>
            </p:custDataLst>
          </p:nvPr>
        </p:nvSpPr>
        <p:spPr>
          <a:xfrm flipH="1">
            <a:off x="3674110" y="530860"/>
            <a:ext cx="4691380" cy="491490"/>
          </a:xfrm>
          <a:prstGeom prst="rect">
            <a:avLst/>
          </a:prstGeom>
          <a:noFill/>
        </p:spPr>
        <p:txBody>
          <a:bodyPr wrap="square" rtlCol="0">
            <a:noAutofit/>
          </a:bodyPr>
          <a:lstStyle/>
          <a:p>
            <a:pPr algn="ctr"/>
            <a:r>
              <a:rPr lang="zh-CN" sz="3200" b="1">
                <a:solidFill>
                  <a:schemeClr val="accent1"/>
                </a:solidFill>
                <a:latin typeface="微软雅黑" panose="020B0503020204020204" charset="-122"/>
                <a:ea typeface="微软雅黑" panose="020B0503020204020204" charset="-122"/>
                <a:cs typeface="微软雅黑" panose="020B0503020204020204" charset="-122"/>
              </a:rPr>
              <a:t>本版配色说明</a:t>
            </a:r>
            <a:endParaRPr lang="zh-CN" sz="3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0" name="任意多边形 29"/>
          <p:cNvSpPr/>
          <p:nvPr>
            <p:custDataLst>
              <p:tags r:id="rId2"/>
            </p:custDataLst>
          </p:nvPr>
        </p:nvSpPr>
        <p:spPr>
          <a:xfrm flipH="1">
            <a:off x="9965690" y="-13970"/>
            <a:ext cx="2244725" cy="848995"/>
          </a:xfrm>
          <a:custGeom>
            <a:avLst/>
            <a:gdLst/>
            <a:ahLst/>
            <a:cxnLst>
              <a:cxn ang="3">
                <a:pos x="hc" y="t"/>
              </a:cxn>
              <a:cxn ang="cd2">
                <a:pos x="l" y="vc"/>
              </a:cxn>
              <a:cxn ang="cd4">
                <a:pos x="hc" y="b"/>
              </a:cxn>
              <a:cxn ang="0">
                <a:pos x="r" y="vc"/>
              </a:cxn>
            </a:cxnLst>
            <a:rect l="l" t="t" r="r" b="b"/>
            <a:pathLst>
              <a:path w="3549" h="1050">
                <a:moveTo>
                  <a:pt x="0" y="0"/>
                </a:moveTo>
                <a:lnTo>
                  <a:pt x="3549" y="0"/>
                </a:lnTo>
                <a:lnTo>
                  <a:pt x="1628" y="937"/>
                </a:lnTo>
                <a:cubicBezTo>
                  <a:pt x="1076" y="1207"/>
                  <a:pt x="410" y="977"/>
                  <a:pt x="141" y="425"/>
                </a:cubicBezTo>
                <a:lnTo>
                  <a:pt x="0" y="137"/>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userDrawn="1"/>
        </p:nvPicPr>
        <p:blipFill>
          <a:blip r:embed="rId3"/>
          <a:srcRect r="58023" b="-8235"/>
          <a:stretch>
            <a:fillRect/>
          </a:stretch>
        </p:blipFill>
        <p:spPr>
          <a:xfrm>
            <a:off x="10253980" y="147320"/>
            <a:ext cx="1591310" cy="350520"/>
          </a:xfrm>
          <a:prstGeom prst="rect">
            <a:avLst/>
          </a:prstGeom>
        </p:spPr>
      </p:pic>
      <p:sp>
        <p:nvSpPr>
          <p:cNvPr id="85" name="文本框 84"/>
          <p:cNvSpPr txBox="1"/>
          <p:nvPr/>
        </p:nvSpPr>
        <p:spPr>
          <a:xfrm rot="2580000">
            <a:off x="3877945" y="4537075"/>
            <a:ext cx="274320" cy="706755"/>
          </a:xfrm>
          <a:prstGeom prst="rect">
            <a:avLst/>
          </a:prstGeom>
          <a:noFill/>
        </p:spPr>
        <p:txBody>
          <a:bodyPr wrap="square" rtlCol="0">
            <a:spAutoFit/>
          </a:bodyPr>
          <a:lstStyle/>
          <a:p>
            <a:pPr algn="l"/>
            <a:r>
              <a:rPr lang="en-US" sz="2000" b="1" spc="0" baseline="0" dirty="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rPr>
              <a:t>04</a:t>
            </a:r>
            <a:endParaRPr lang="en-US" sz="2000" b="1" spc="0" baseline="0" dirty="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endParaRPr>
          </a:p>
        </p:txBody>
      </p:sp>
      <p:sp>
        <p:nvSpPr>
          <p:cNvPr id="82" name="文本框 81"/>
          <p:cNvSpPr txBox="1"/>
          <p:nvPr/>
        </p:nvSpPr>
        <p:spPr>
          <a:xfrm rot="19800000">
            <a:off x="3994150" y="3270885"/>
            <a:ext cx="274320" cy="706755"/>
          </a:xfrm>
          <a:prstGeom prst="rect">
            <a:avLst/>
          </a:prstGeom>
          <a:noFill/>
        </p:spPr>
        <p:txBody>
          <a:bodyPr wrap="square" rtlCol="0">
            <a:spAutoFit/>
          </a:bodyPr>
          <a:lstStyle/>
          <a:p>
            <a:pPr algn="l"/>
            <a:r>
              <a:rPr lang="en-US" sz="2000" b="1" spc="0" baseline="0" dirty="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rPr>
              <a:t>01</a:t>
            </a:r>
            <a:endParaRPr lang="en-US" sz="2000" b="1" spc="0" baseline="0" dirty="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endParaRPr>
          </a:p>
        </p:txBody>
      </p:sp>
      <p:sp>
        <p:nvSpPr>
          <p:cNvPr id="84" name="文本框 83"/>
          <p:cNvSpPr txBox="1"/>
          <p:nvPr/>
        </p:nvSpPr>
        <p:spPr>
          <a:xfrm rot="18960000">
            <a:off x="6292215" y="3458210"/>
            <a:ext cx="274320" cy="706755"/>
          </a:xfrm>
          <a:prstGeom prst="rect">
            <a:avLst/>
          </a:prstGeom>
          <a:noFill/>
        </p:spPr>
        <p:txBody>
          <a:bodyPr wrap="square" rtlCol="0">
            <a:spAutoFit/>
          </a:bodyPr>
          <a:lstStyle/>
          <a:p>
            <a:pPr algn="l"/>
            <a:r>
              <a:rPr lang="en-US" sz="2000" b="1" spc="0" baseline="0" dirty="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rPr>
              <a:t>03</a:t>
            </a:r>
            <a:endParaRPr lang="en-US" sz="2000" b="1" spc="0" baseline="0" dirty="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endParaRPr>
          </a:p>
        </p:txBody>
      </p:sp>
      <p:sp>
        <p:nvSpPr>
          <p:cNvPr id="83" name="文本框 82"/>
          <p:cNvSpPr txBox="1"/>
          <p:nvPr/>
        </p:nvSpPr>
        <p:spPr>
          <a:xfrm>
            <a:off x="6394450" y="4545330"/>
            <a:ext cx="274320" cy="706755"/>
          </a:xfrm>
          <a:prstGeom prst="rect">
            <a:avLst/>
          </a:prstGeom>
          <a:noFill/>
        </p:spPr>
        <p:txBody>
          <a:bodyPr wrap="square" rtlCol="0">
            <a:spAutoFit/>
          </a:bodyPr>
          <a:lstStyle/>
          <a:p>
            <a:pPr algn="l"/>
            <a:r>
              <a:rPr lang="en-US" sz="2000" b="1" spc="0" baseline="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rPr>
              <a:t>02</a:t>
            </a:r>
            <a:endParaRPr lang="en-US" sz="2000" b="1" spc="0" baseline="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endParaRPr>
          </a:p>
        </p:txBody>
      </p:sp>
      <p:sp>
        <p:nvSpPr>
          <p:cNvPr id="68" name="任意多边形: 形状 56"/>
          <p:cNvSpPr/>
          <p:nvPr/>
        </p:nvSpPr>
        <p:spPr>
          <a:xfrm>
            <a:off x="5866765" y="3973195"/>
            <a:ext cx="2520315" cy="1205230"/>
          </a:xfrm>
          <a:custGeom>
            <a:avLst/>
            <a:gdLst>
              <a:gd name="connsiteX0" fmla="*/ 323850 w 1082039"/>
              <a:gd name="connsiteY0" fmla="*/ 75248 h 1005840"/>
              <a:gd name="connsiteX1" fmla="*/ 631508 w 1082039"/>
              <a:gd name="connsiteY1" fmla="*/ 420053 h 1005840"/>
              <a:gd name="connsiteX2" fmla="*/ 1038225 w 1082039"/>
              <a:gd name="connsiteY2" fmla="*/ 681990 h 1005840"/>
              <a:gd name="connsiteX3" fmla="*/ 1082040 w 1082039"/>
              <a:gd name="connsiteY3" fmla="*/ 864870 h 1005840"/>
              <a:gd name="connsiteX4" fmla="*/ 932498 w 1082039"/>
              <a:gd name="connsiteY4" fmla="*/ 1005840 h 1005840"/>
              <a:gd name="connsiteX5" fmla="*/ 168592 w 1082039"/>
              <a:gd name="connsiteY5" fmla="*/ 423863 h 1005840"/>
              <a:gd name="connsiteX6" fmla="*/ 120967 w 1082039"/>
              <a:gd name="connsiteY6" fmla="*/ 363855 h 1005840"/>
              <a:gd name="connsiteX7" fmla="*/ 0 w 1082039"/>
              <a:gd name="connsiteY7" fmla="*/ 205740 h 1005840"/>
              <a:gd name="connsiteX8" fmla="*/ 193358 w 1082039"/>
              <a:gd name="connsiteY8" fmla="*/ 180023 h 1005840"/>
              <a:gd name="connsiteX9" fmla="*/ 267652 w 1082039"/>
              <a:gd name="connsiteY9" fmla="*/ 0 h 1005840"/>
              <a:gd name="connsiteX10" fmla="*/ 323850 w 1082039"/>
              <a:gd name="connsiteY10" fmla="*/ 75248 h 1005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07" h="2491">
                <a:moveTo>
                  <a:pt x="763" y="177"/>
                </a:moveTo>
                <a:cubicBezTo>
                  <a:pt x="1281" y="766"/>
                  <a:pt x="1555" y="1285"/>
                  <a:pt x="2589" y="1650"/>
                </a:cubicBezTo>
                <a:lnTo>
                  <a:pt x="2589" y="1649"/>
                </a:lnTo>
                <a:cubicBezTo>
                  <a:pt x="2688" y="1672"/>
                  <a:pt x="2805" y="1685"/>
                  <a:pt x="2903" y="1685"/>
                </a:cubicBezTo>
                <a:cubicBezTo>
                  <a:pt x="3697" y="1709"/>
                  <a:pt x="4354" y="1016"/>
                  <a:pt x="4399" y="319"/>
                </a:cubicBezTo>
                <a:lnTo>
                  <a:pt x="4810" y="81"/>
                </a:lnTo>
                <a:lnTo>
                  <a:pt x="5207" y="310"/>
                </a:lnTo>
                <a:cubicBezTo>
                  <a:pt x="5177" y="1541"/>
                  <a:pt x="4023" y="2520"/>
                  <a:pt x="2903" y="2490"/>
                </a:cubicBezTo>
                <a:cubicBezTo>
                  <a:pt x="2848" y="2493"/>
                  <a:pt x="2633" y="2487"/>
                  <a:pt x="2340" y="2414"/>
                </a:cubicBezTo>
                <a:lnTo>
                  <a:pt x="2341" y="2412"/>
                </a:lnTo>
                <a:lnTo>
                  <a:pt x="2197" y="2368"/>
                </a:lnTo>
                <a:lnTo>
                  <a:pt x="2196" y="2369"/>
                </a:lnTo>
                <a:cubicBezTo>
                  <a:pt x="445" y="1509"/>
                  <a:pt x="153" y="565"/>
                  <a:pt x="285" y="857"/>
                </a:cubicBezTo>
                <a:cubicBezTo>
                  <a:pt x="217" y="771"/>
                  <a:pt x="139" y="668"/>
                  <a:pt x="81" y="591"/>
                </a:cubicBezTo>
                <a:cubicBezTo>
                  <a:pt x="55" y="557"/>
                  <a:pt x="19" y="509"/>
                  <a:pt x="0" y="485"/>
                </a:cubicBezTo>
                <a:lnTo>
                  <a:pt x="455" y="424"/>
                </a:lnTo>
                <a:lnTo>
                  <a:pt x="630" y="0"/>
                </a:lnTo>
                <a:cubicBezTo>
                  <a:pt x="672" y="57"/>
                  <a:pt x="722" y="124"/>
                  <a:pt x="763" y="177"/>
                </a:cubicBezTo>
                <a:close/>
              </a:path>
            </a:pathLst>
          </a:custGeom>
          <a:solidFill>
            <a:srgbClr val="9A3123">
              <a:lumMod val="40000"/>
              <a:lumOff val="60000"/>
            </a:srgbClr>
          </a:solidFill>
          <a:ln w="9525" cap="flat">
            <a:noFill/>
            <a:prstDash val="solid"/>
            <a:miter/>
          </a:ln>
        </p:spPr>
        <p:txBody>
          <a:bodyPr wrap="square" rtlCol="0" anchor="ctr">
            <a:noAutofit/>
          </a:bodyPr>
          <a:lstStyle/>
          <a:p>
            <a:endParaRPr lang="en-US" sz="2000">
              <a:latin typeface="微软雅黑" panose="020B0503020204020204" charset="-122"/>
              <a:ea typeface="微软雅黑" panose="020B0503020204020204" charset="-122"/>
              <a:cs typeface="微软雅黑" panose="020B0503020204020204" charset="-122"/>
            </a:endParaRPr>
          </a:p>
        </p:txBody>
      </p:sp>
      <p:sp>
        <p:nvSpPr>
          <p:cNvPr id="2" name="任意多边形: 形状 57"/>
          <p:cNvSpPr/>
          <p:nvPr/>
        </p:nvSpPr>
        <p:spPr>
          <a:xfrm>
            <a:off x="5991860" y="2943860"/>
            <a:ext cx="2396490" cy="1115695"/>
          </a:xfrm>
          <a:custGeom>
            <a:avLst/>
            <a:gdLst>
              <a:gd name="connsiteX0" fmla="*/ 1286828 w 1286827"/>
              <a:gd name="connsiteY0" fmla="*/ 971550 h 972502"/>
              <a:gd name="connsiteX1" fmla="*/ 1117283 w 1286827"/>
              <a:gd name="connsiteY1" fmla="*/ 873443 h 972502"/>
              <a:gd name="connsiteX2" fmla="*/ 944880 w 1286827"/>
              <a:gd name="connsiteY2" fmla="*/ 972503 h 972502"/>
              <a:gd name="connsiteX3" fmla="*/ 307658 w 1286827"/>
              <a:gd name="connsiteY3" fmla="*/ 341948 h 972502"/>
              <a:gd name="connsiteX4" fmla="*/ 147638 w 1286827"/>
              <a:gd name="connsiteY4" fmla="*/ 366713 h 972502"/>
              <a:gd name="connsiteX5" fmla="*/ 0 w 1286827"/>
              <a:gd name="connsiteY5" fmla="*/ 226695 h 972502"/>
              <a:gd name="connsiteX6" fmla="*/ 44768 w 1286827"/>
              <a:gd name="connsiteY6" fmla="*/ 40958 h 972502"/>
              <a:gd name="connsiteX7" fmla="*/ 307658 w 1286827"/>
              <a:gd name="connsiteY7" fmla="*/ 0 h 972502"/>
              <a:gd name="connsiteX8" fmla="*/ 1286828 w 1286827"/>
              <a:gd name="connsiteY8" fmla="*/ 971550 h 972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1" h="2306">
                <a:moveTo>
                  <a:pt x="4951" y="2288"/>
                </a:moveTo>
                <a:lnTo>
                  <a:pt x="4552" y="2057"/>
                </a:lnTo>
                <a:lnTo>
                  <a:pt x="4146" y="2290"/>
                </a:lnTo>
                <a:cubicBezTo>
                  <a:pt x="4162" y="1456"/>
                  <a:pt x="3393" y="785"/>
                  <a:pt x="2645" y="805"/>
                </a:cubicBezTo>
                <a:cubicBezTo>
                  <a:pt x="2535" y="804"/>
                  <a:pt x="2401" y="826"/>
                  <a:pt x="2307" y="852"/>
                </a:cubicBezTo>
                <a:lnTo>
                  <a:pt x="2308" y="853"/>
                </a:lnTo>
                <a:lnTo>
                  <a:pt x="2128" y="915"/>
                </a:lnTo>
                <a:lnTo>
                  <a:pt x="2128" y="915"/>
                </a:lnTo>
                <a:cubicBezTo>
                  <a:pt x="1466" y="1164"/>
                  <a:pt x="798" y="1908"/>
                  <a:pt x="505" y="2305"/>
                </a:cubicBezTo>
                <a:cubicBezTo>
                  <a:pt x="483" y="2276"/>
                  <a:pt x="455" y="2240"/>
                  <a:pt x="436" y="2215"/>
                </a:cubicBezTo>
                <a:cubicBezTo>
                  <a:pt x="415" y="2186"/>
                  <a:pt x="388" y="2151"/>
                  <a:pt x="370" y="2128"/>
                </a:cubicBezTo>
                <a:cubicBezTo>
                  <a:pt x="342" y="2088"/>
                  <a:pt x="307" y="2043"/>
                  <a:pt x="278" y="2007"/>
                </a:cubicBezTo>
                <a:cubicBezTo>
                  <a:pt x="188" y="1885"/>
                  <a:pt x="85" y="1748"/>
                  <a:pt x="0" y="1639"/>
                </a:cubicBezTo>
                <a:lnTo>
                  <a:pt x="13" y="1627"/>
                </a:lnTo>
                <a:cubicBezTo>
                  <a:pt x="372" y="1159"/>
                  <a:pt x="1162" y="404"/>
                  <a:pt x="1865" y="154"/>
                </a:cubicBezTo>
                <a:lnTo>
                  <a:pt x="1865" y="152"/>
                </a:lnTo>
                <a:lnTo>
                  <a:pt x="2025" y="97"/>
                </a:lnTo>
                <a:lnTo>
                  <a:pt x="2025" y="96"/>
                </a:lnTo>
                <a:lnTo>
                  <a:pt x="2031" y="95"/>
                </a:lnTo>
                <a:lnTo>
                  <a:pt x="2045" y="90"/>
                </a:lnTo>
                <a:lnTo>
                  <a:pt x="2045" y="91"/>
                </a:lnTo>
                <a:cubicBezTo>
                  <a:pt x="2234" y="33"/>
                  <a:pt x="2458" y="-1"/>
                  <a:pt x="2645" y="0"/>
                </a:cubicBezTo>
                <a:cubicBezTo>
                  <a:pt x="3928" y="-37"/>
                  <a:pt x="4972" y="1137"/>
                  <a:pt x="4951" y="2288"/>
                </a:cubicBezTo>
                <a:close/>
              </a:path>
            </a:pathLst>
          </a:custGeom>
          <a:solidFill>
            <a:srgbClr val="9A3123"/>
          </a:solidFill>
          <a:ln w="9525" cap="flat">
            <a:noFill/>
            <a:prstDash val="solid"/>
            <a:miter/>
          </a:ln>
        </p:spPr>
        <p:txBody>
          <a:bodyPr wrap="square" rtlCol="0" anchor="ctr">
            <a:noAutofit/>
          </a:bodyPr>
          <a:lstStyle/>
          <a:p>
            <a:endParaRPr lang="en-US" sz="2000">
              <a:latin typeface="微软雅黑" panose="020B0503020204020204" charset="-122"/>
              <a:ea typeface="微软雅黑" panose="020B0503020204020204" charset="-122"/>
              <a:cs typeface="微软雅黑" panose="020B0503020204020204" charset="-122"/>
            </a:endParaRPr>
          </a:p>
        </p:txBody>
      </p:sp>
      <p:sp>
        <p:nvSpPr>
          <p:cNvPr id="70" name="任意多边形: 形状 64"/>
          <p:cNvSpPr/>
          <p:nvPr/>
        </p:nvSpPr>
        <p:spPr>
          <a:xfrm>
            <a:off x="3610610" y="2945130"/>
            <a:ext cx="2518410" cy="1204595"/>
          </a:xfrm>
          <a:custGeom>
            <a:avLst/>
            <a:gdLst>
              <a:gd name="connsiteX0" fmla="*/ 1247775 w 1292542"/>
              <a:gd name="connsiteY0" fmla="*/ 40005 h 973454"/>
              <a:gd name="connsiteX1" fmla="*/ 1292543 w 1292542"/>
              <a:gd name="connsiteY1" fmla="*/ 226695 h 973454"/>
              <a:gd name="connsiteX2" fmla="*/ 1145858 w 1292542"/>
              <a:gd name="connsiteY2" fmla="*/ 364808 h 973454"/>
              <a:gd name="connsiteX3" fmla="*/ 980123 w 1292542"/>
              <a:gd name="connsiteY3" fmla="*/ 340995 h 973454"/>
              <a:gd name="connsiteX4" fmla="*/ 342900 w 1292542"/>
              <a:gd name="connsiteY4" fmla="*/ 968693 h 973454"/>
              <a:gd name="connsiteX5" fmla="*/ 174308 w 1292542"/>
              <a:gd name="connsiteY5" fmla="*/ 872490 h 973454"/>
              <a:gd name="connsiteX6" fmla="*/ 0 w 1292542"/>
              <a:gd name="connsiteY6" fmla="*/ 973455 h 973454"/>
              <a:gd name="connsiteX7" fmla="*/ 979170 w 1292542"/>
              <a:gd name="connsiteY7" fmla="*/ 0 h 973454"/>
              <a:gd name="connsiteX8" fmla="*/ 1247775 w 1292542"/>
              <a:gd name="connsiteY8" fmla="*/ 40005 h 97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03" h="2488">
                <a:moveTo>
                  <a:pt x="2700" y="859"/>
                </a:moveTo>
                <a:lnTo>
                  <a:pt x="2699" y="860"/>
                </a:lnTo>
                <a:cubicBezTo>
                  <a:pt x="2579" y="823"/>
                  <a:pt x="2423" y="803"/>
                  <a:pt x="2314" y="804"/>
                </a:cubicBezTo>
                <a:lnTo>
                  <a:pt x="2308" y="804"/>
                </a:lnTo>
                <a:lnTo>
                  <a:pt x="2269" y="803"/>
                </a:lnTo>
                <a:cubicBezTo>
                  <a:pt x="1439" y="779"/>
                  <a:pt x="778" y="1620"/>
                  <a:pt x="808" y="2282"/>
                </a:cubicBezTo>
                <a:lnTo>
                  <a:pt x="411" y="2055"/>
                </a:lnTo>
                <a:lnTo>
                  <a:pt x="1" y="2293"/>
                </a:lnTo>
                <a:lnTo>
                  <a:pt x="0" y="2232"/>
                </a:lnTo>
                <a:cubicBezTo>
                  <a:pt x="-28" y="974"/>
                  <a:pt x="1242" y="-29"/>
                  <a:pt x="2251" y="0"/>
                </a:cubicBezTo>
                <a:lnTo>
                  <a:pt x="2306" y="1"/>
                </a:lnTo>
                <a:lnTo>
                  <a:pt x="2316" y="1"/>
                </a:lnTo>
                <a:lnTo>
                  <a:pt x="2326" y="1"/>
                </a:lnTo>
                <a:cubicBezTo>
                  <a:pt x="2526" y="-1"/>
                  <a:pt x="2770" y="45"/>
                  <a:pt x="2915" y="88"/>
                </a:cubicBezTo>
                <a:lnTo>
                  <a:pt x="2914" y="85"/>
                </a:lnTo>
                <a:lnTo>
                  <a:pt x="3087" y="141"/>
                </a:lnTo>
                <a:lnTo>
                  <a:pt x="3087" y="142"/>
                </a:lnTo>
                <a:lnTo>
                  <a:pt x="3087" y="142"/>
                </a:lnTo>
                <a:cubicBezTo>
                  <a:pt x="4534" y="854"/>
                  <a:pt x="4907" y="1681"/>
                  <a:pt x="4924" y="1635"/>
                </a:cubicBezTo>
                <a:cubicBezTo>
                  <a:pt x="5017" y="1755"/>
                  <a:pt x="5119" y="1892"/>
                  <a:pt x="5203" y="2003"/>
                </a:cubicBezTo>
                <a:lnTo>
                  <a:pt x="5028" y="2427"/>
                </a:lnTo>
                <a:lnTo>
                  <a:pt x="4572" y="2488"/>
                </a:lnTo>
                <a:cubicBezTo>
                  <a:pt x="4528" y="2432"/>
                  <a:pt x="4481" y="2370"/>
                  <a:pt x="4442" y="2319"/>
                </a:cubicBezTo>
                <a:cubicBezTo>
                  <a:pt x="4169" y="1982"/>
                  <a:pt x="3707" y="1300"/>
                  <a:pt x="2841" y="907"/>
                </a:cubicBezTo>
                <a:lnTo>
                  <a:pt x="2864" y="884"/>
                </a:lnTo>
                <a:lnTo>
                  <a:pt x="2839" y="904"/>
                </a:lnTo>
                <a:lnTo>
                  <a:pt x="2700" y="859"/>
                </a:lnTo>
                <a:close/>
              </a:path>
            </a:pathLst>
          </a:custGeom>
          <a:solidFill>
            <a:srgbClr val="1C4274"/>
          </a:solidFill>
          <a:ln w="9525" cap="flat">
            <a:noFill/>
            <a:prstDash val="solid"/>
            <a:miter/>
          </a:ln>
        </p:spPr>
        <p:txBody>
          <a:bodyPr wrap="square" rtlCol="0" anchor="ctr">
            <a:noAutofit/>
          </a:bodyPr>
          <a:lstStyle/>
          <a:p>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71" name="任意多边形: 形状 65"/>
          <p:cNvSpPr/>
          <p:nvPr/>
        </p:nvSpPr>
        <p:spPr>
          <a:xfrm>
            <a:off x="3610610" y="4011930"/>
            <a:ext cx="2395220" cy="1166495"/>
          </a:xfrm>
          <a:custGeom>
            <a:avLst/>
            <a:gdLst>
              <a:gd name="connsiteX0" fmla="*/ 1073468 w 1220152"/>
              <a:gd name="connsiteY0" fmla="*/ 849630 h 1022985"/>
              <a:gd name="connsiteX1" fmla="*/ 1220153 w 1220152"/>
              <a:gd name="connsiteY1" fmla="*/ 988695 h 1022985"/>
              <a:gd name="connsiteX2" fmla="*/ 978218 w 1220152"/>
              <a:gd name="connsiteY2" fmla="*/ 1022985 h 1022985"/>
              <a:gd name="connsiteX3" fmla="*/ 0 w 1220152"/>
              <a:gd name="connsiteY3" fmla="*/ 100013 h 1022985"/>
              <a:gd name="connsiteX4" fmla="*/ 173355 w 1220152"/>
              <a:gd name="connsiteY4" fmla="*/ 0 h 1022985"/>
              <a:gd name="connsiteX5" fmla="*/ 342900 w 1220152"/>
              <a:gd name="connsiteY5" fmla="*/ 97155 h 1022985"/>
              <a:gd name="connsiteX6" fmla="*/ 978218 w 1220152"/>
              <a:gd name="connsiteY6" fmla="*/ 680085 h 1022985"/>
              <a:gd name="connsiteX7" fmla="*/ 1117283 w 1220152"/>
              <a:gd name="connsiteY7" fmla="*/ 661035 h 1022985"/>
              <a:gd name="connsiteX8" fmla="*/ 1073468 w 1220152"/>
              <a:gd name="connsiteY8" fmla="*/ 849630 h 1022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48" h="2410">
                <a:moveTo>
                  <a:pt x="2554" y="2393"/>
                </a:moveTo>
                <a:cubicBezTo>
                  <a:pt x="2489" y="2402"/>
                  <a:pt x="2368" y="2410"/>
                  <a:pt x="2304" y="2409"/>
                </a:cubicBezTo>
                <a:cubicBezTo>
                  <a:pt x="1059" y="2447"/>
                  <a:pt x="34" y="1340"/>
                  <a:pt x="0" y="236"/>
                </a:cubicBezTo>
                <a:lnTo>
                  <a:pt x="408" y="0"/>
                </a:lnTo>
                <a:lnTo>
                  <a:pt x="808" y="229"/>
                </a:lnTo>
                <a:cubicBezTo>
                  <a:pt x="849" y="1011"/>
                  <a:pt x="1589" y="1620"/>
                  <a:pt x="2304" y="1602"/>
                </a:cubicBezTo>
                <a:cubicBezTo>
                  <a:pt x="2318" y="1602"/>
                  <a:pt x="2346" y="1601"/>
                  <a:pt x="2347" y="1601"/>
                </a:cubicBezTo>
                <a:lnTo>
                  <a:pt x="2347" y="1600"/>
                </a:lnTo>
                <a:cubicBezTo>
                  <a:pt x="2489" y="1593"/>
                  <a:pt x="2671" y="1553"/>
                  <a:pt x="2783" y="1510"/>
                </a:cubicBezTo>
                <a:lnTo>
                  <a:pt x="2783" y="1509"/>
                </a:lnTo>
                <a:cubicBezTo>
                  <a:pt x="2956" y="1442"/>
                  <a:pt x="2919" y="1447"/>
                  <a:pt x="2996" y="1409"/>
                </a:cubicBezTo>
                <a:lnTo>
                  <a:pt x="2997" y="1416"/>
                </a:lnTo>
                <a:cubicBezTo>
                  <a:pt x="3553" y="1154"/>
                  <a:pt x="4190" y="464"/>
                  <a:pt x="4446" y="109"/>
                </a:cubicBezTo>
                <a:cubicBezTo>
                  <a:pt x="4467" y="137"/>
                  <a:pt x="4493" y="171"/>
                  <a:pt x="4510" y="194"/>
                </a:cubicBezTo>
                <a:cubicBezTo>
                  <a:pt x="4531" y="221"/>
                  <a:pt x="4556" y="255"/>
                  <a:pt x="4573" y="277"/>
                </a:cubicBezTo>
                <a:cubicBezTo>
                  <a:pt x="4597" y="310"/>
                  <a:pt x="4626" y="348"/>
                  <a:pt x="4648" y="376"/>
                </a:cubicBezTo>
                <a:cubicBezTo>
                  <a:pt x="4655" y="385"/>
                  <a:pt x="4658" y="389"/>
                  <a:pt x="4668" y="402"/>
                </a:cubicBezTo>
                <a:cubicBezTo>
                  <a:pt x="4759" y="526"/>
                  <a:pt x="4862" y="661"/>
                  <a:pt x="4948" y="771"/>
                </a:cubicBezTo>
                <a:lnTo>
                  <a:pt x="4939" y="780"/>
                </a:lnTo>
                <a:cubicBezTo>
                  <a:pt x="4606" y="1213"/>
                  <a:pt x="3902" y="1899"/>
                  <a:pt x="3262" y="2179"/>
                </a:cubicBezTo>
                <a:lnTo>
                  <a:pt x="3265" y="2181"/>
                </a:lnTo>
                <a:cubicBezTo>
                  <a:pt x="2845" y="2379"/>
                  <a:pt x="2582" y="2390"/>
                  <a:pt x="2554" y="2395"/>
                </a:cubicBezTo>
                <a:lnTo>
                  <a:pt x="2554" y="2393"/>
                </a:lnTo>
                <a:close/>
              </a:path>
            </a:pathLst>
          </a:custGeom>
          <a:solidFill>
            <a:srgbClr val="1C4274">
              <a:lumMod val="60000"/>
              <a:lumOff val="40000"/>
            </a:srgbClr>
          </a:solidFill>
          <a:ln w="9525" cap="flat">
            <a:noFill/>
            <a:prstDash val="solid"/>
            <a:miter/>
          </a:ln>
        </p:spPr>
        <p:txBody>
          <a:bodyPr wrap="square" rtlCol="0" anchor="ctr">
            <a:noAutofit/>
          </a:bodyPr>
          <a:lstStyle/>
          <a:p>
            <a:endParaRPr lang="en-US" sz="2000">
              <a:latin typeface="微软雅黑" panose="020B0503020204020204" charset="-122"/>
              <a:ea typeface="微软雅黑" panose="020B0503020204020204" charset="-122"/>
              <a:cs typeface="微软雅黑" panose="020B0503020204020204" charset="-122"/>
            </a:endParaRPr>
          </a:p>
        </p:txBody>
      </p:sp>
      <p:sp>
        <p:nvSpPr>
          <p:cNvPr id="78" name="文本框 77"/>
          <p:cNvSpPr txBox="1"/>
          <p:nvPr/>
        </p:nvSpPr>
        <p:spPr>
          <a:xfrm>
            <a:off x="6209030" y="3173730"/>
            <a:ext cx="2220595" cy="2220595"/>
          </a:xfrm>
          <a:prstGeom prst="rect">
            <a:avLst/>
          </a:prstGeom>
          <a:noFill/>
        </p:spPr>
        <p:txBody>
          <a:bodyPr wrap="squar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整合：全域数据资产化与智能中台</a:t>
            </a:r>
            <a:endParaRPr kumimoji="0" lang="zh-CN" altLang="en-US"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7" name="文本框 76"/>
          <p:cNvSpPr txBox="1"/>
          <p:nvPr/>
        </p:nvSpPr>
        <p:spPr>
          <a:xfrm rot="600000">
            <a:off x="3634105" y="3187065"/>
            <a:ext cx="2220595" cy="2220595"/>
          </a:xfrm>
          <a:prstGeom prst="rect">
            <a:avLst/>
          </a:prstGeom>
          <a:noFill/>
        </p:spPr>
        <p:txBody>
          <a:bodyPr wrap="squar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启动：系统化工具基础构建</a:t>
            </a:r>
            <a:endParaRPr kumimoji="0" lang="zh-CN" altLang="en-US"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9" name="文本框 78"/>
          <p:cNvSpPr txBox="1"/>
          <p:nvPr/>
        </p:nvSpPr>
        <p:spPr>
          <a:xfrm rot="21240000">
            <a:off x="3614420" y="2780665"/>
            <a:ext cx="2159000" cy="2159000"/>
          </a:xfrm>
          <a:prstGeom prst="rect">
            <a:avLst/>
          </a:prstGeom>
          <a:noFill/>
        </p:spPr>
        <p:txBody>
          <a:bodyPr wrap="square">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升级：数据驱动的全域增长</a:t>
            </a:r>
            <a:endParaRPr kumimoji="0" lang="zh-CN"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6" name="文本框 85"/>
          <p:cNvSpPr txBox="1"/>
          <p:nvPr/>
        </p:nvSpPr>
        <p:spPr>
          <a:xfrm rot="21360000">
            <a:off x="6177280" y="2766060"/>
            <a:ext cx="2159000" cy="2159000"/>
          </a:xfrm>
          <a:prstGeom prst="rect">
            <a:avLst/>
          </a:prstGeom>
          <a:noFill/>
        </p:spPr>
        <p:txBody>
          <a:bodyPr wrap="square">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深化：全域融合与体验升级</a:t>
            </a:r>
            <a:endParaRPr kumimoji="0" lang="zh-CN" altLang="en-US"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3228340" y="1597660"/>
            <a:ext cx="5621655" cy="475615"/>
          </a:xfrm>
          <a:prstGeom prst="rect">
            <a:avLst/>
          </a:prstGeom>
          <a:noFill/>
        </p:spPr>
        <p:txBody>
          <a:bodyPr wrap="square" rtlCol="0">
            <a:spAutoFit/>
          </a:bodyPr>
          <a:lstStyle/>
          <a:p>
            <a:pPr algn="ctr"/>
            <a:r>
              <a:rPr lang="zh-CN" altLang="en-US" sz="2500" b="1">
                <a:solidFill>
                  <a:srgbClr val="C00000"/>
                </a:solidFill>
                <a:latin typeface="微软雅黑" panose="020B0503020204020204" charset="-122"/>
                <a:ea typeface="微软雅黑" panose="020B0503020204020204" charset="-122"/>
                <a:cs typeface="微软雅黑" panose="020B0503020204020204" charset="-122"/>
              </a:rPr>
              <a:t>配色⑧：</a:t>
            </a:r>
            <a:r>
              <a:rPr lang="zh-CN" sz="2500" b="1">
                <a:solidFill>
                  <a:srgbClr val="C00000"/>
                </a:solidFill>
                <a:latin typeface="微软雅黑" panose="020B0503020204020204" charset="-122"/>
                <a:ea typeface="微软雅黑" panose="020B0503020204020204" charset="-122"/>
                <a:cs typeface="微软雅黑" panose="020B0503020204020204" charset="-122"/>
              </a:rPr>
              <a:t>商务纯蓝色</a:t>
            </a:r>
            <a:endParaRPr lang="zh-CN" sz="2500"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1" name="任意多边形 10"/>
          <p:cNvSpPr/>
          <p:nvPr/>
        </p:nvSpPr>
        <p:spPr>
          <a:xfrm>
            <a:off x="2637155" y="2799080"/>
            <a:ext cx="3343910" cy="3589020"/>
          </a:xfrm>
          <a:custGeom>
            <a:avLst/>
            <a:gdLst>
              <a:gd name="adj" fmla="val 6506"/>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520" h="9467">
                <a:moveTo>
                  <a:pt x="0" y="616"/>
                </a:moveTo>
                <a:cubicBezTo>
                  <a:pt x="-11" y="270"/>
                  <a:pt x="306" y="-8"/>
                  <a:pt x="616" y="0"/>
                </a:cubicBezTo>
                <a:lnTo>
                  <a:pt x="8520" y="0"/>
                </a:lnTo>
                <a:lnTo>
                  <a:pt x="8520" y="9467"/>
                </a:lnTo>
                <a:lnTo>
                  <a:pt x="616" y="9467"/>
                </a:lnTo>
                <a:cubicBezTo>
                  <a:pt x="270" y="9478"/>
                  <a:pt x="-8" y="9161"/>
                  <a:pt x="0" y="8851"/>
                </a:cubicBezTo>
                <a:lnTo>
                  <a:pt x="0" y="616"/>
                </a:lnTo>
                <a:close/>
              </a:path>
            </a:pathLst>
          </a:custGeom>
          <a:solidFill>
            <a:schemeClr val="accent1"/>
          </a:solidFill>
          <a:ln w="762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14" name="任意多边形 13"/>
          <p:cNvSpPr/>
          <p:nvPr/>
        </p:nvSpPr>
        <p:spPr>
          <a:xfrm flipH="1">
            <a:off x="5980430" y="2799080"/>
            <a:ext cx="3370580" cy="3589020"/>
          </a:xfrm>
          <a:custGeom>
            <a:avLst/>
            <a:gdLst>
              <a:gd name="adj" fmla="val 6506"/>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520" h="9467">
                <a:moveTo>
                  <a:pt x="0" y="616"/>
                </a:moveTo>
                <a:cubicBezTo>
                  <a:pt x="-11" y="270"/>
                  <a:pt x="306" y="-8"/>
                  <a:pt x="616" y="0"/>
                </a:cubicBezTo>
                <a:lnTo>
                  <a:pt x="8520" y="0"/>
                </a:lnTo>
                <a:lnTo>
                  <a:pt x="8520" y="9467"/>
                </a:lnTo>
                <a:lnTo>
                  <a:pt x="616" y="9467"/>
                </a:lnTo>
                <a:cubicBezTo>
                  <a:pt x="270" y="9478"/>
                  <a:pt x="-8" y="9161"/>
                  <a:pt x="0" y="8851"/>
                </a:cubicBezTo>
                <a:lnTo>
                  <a:pt x="0" y="616"/>
                </a:lnTo>
                <a:close/>
              </a:path>
            </a:pathLst>
          </a:custGeom>
          <a:solidFill>
            <a:schemeClr val="accent1">
              <a:lumMod val="60000"/>
              <a:lumOff val="40000"/>
            </a:schemeClr>
          </a:solidFill>
          <a:ln w="762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15" name="十二边形 14"/>
          <p:cNvSpPr/>
          <p:nvPr/>
        </p:nvSpPr>
        <p:spPr>
          <a:xfrm>
            <a:off x="5173345" y="3685540"/>
            <a:ext cx="1684020" cy="1684020"/>
          </a:xfrm>
          <a:prstGeom prst="dodecagon">
            <a:avLst/>
          </a:prstGeom>
          <a:solidFill>
            <a:schemeClr val="accent4"/>
          </a:solidFill>
          <a:ln w="762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3227705" y="4276725"/>
            <a:ext cx="1700530" cy="706755"/>
          </a:xfrm>
          <a:prstGeom prst="rect">
            <a:avLst/>
          </a:prstGeom>
          <a:noFill/>
        </p:spPr>
        <p:txBody>
          <a:bodyPr wrap="square" rtlCol="0">
            <a:spAutoFit/>
          </a:bodyPr>
          <a:lstStyle/>
          <a:p>
            <a:pPr algn="ctr"/>
            <a:r>
              <a:rPr lang="zh-CN" altLang="en-US" sz="2000" b="1">
                <a:solidFill>
                  <a:srgbClr val="FFFFFF"/>
                </a:solidFill>
                <a:latin typeface="微软雅黑" panose="020B0503020204020204" charset="-122"/>
                <a:ea typeface="微软雅黑" panose="020B0503020204020204" charset="-122"/>
                <a:cs typeface="微软雅黑" panose="020B0503020204020204" charset="-122"/>
                <a:sym typeface="+mn-ea"/>
              </a:rPr>
              <a:t>深海蓝</a:t>
            </a:r>
            <a:r>
              <a:rPr lang="en-US" altLang="zh-CN" sz="2000">
                <a:solidFill>
                  <a:srgbClr val="FFFFFF"/>
                </a:solidFill>
                <a:latin typeface="微软雅黑" panose="020B0503020204020204" charset="-122"/>
                <a:ea typeface="微软雅黑" panose="020B0503020204020204" charset="-122"/>
                <a:cs typeface="微软雅黑" panose="020B0503020204020204" charset="-122"/>
                <a:sym typeface="+mn-ea"/>
              </a:rPr>
              <a:t>#</a:t>
            </a:r>
            <a:r>
              <a:rPr lang="en-US" altLang="zh-CN" sz="2000">
                <a:solidFill>
                  <a:schemeClr val="bg1"/>
                </a:solidFill>
                <a:latin typeface="微软雅黑" panose="020B0503020204020204" charset="-122"/>
                <a:ea typeface="微软雅黑" panose="020B0503020204020204" charset="-122"/>
                <a:cs typeface="微软雅黑" panose="020B0503020204020204" charset="-122"/>
              </a:rPr>
              <a:t>1C4274</a:t>
            </a:r>
            <a:endParaRPr lang="en-US" altLang="zh-CN" sz="2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7" name="文本框 16"/>
          <p:cNvSpPr txBox="1"/>
          <p:nvPr/>
        </p:nvSpPr>
        <p:spPr>
          <a:xfrm>
            <a:off x="7047230" y="4276725"/>
            <a:ext cx="1833245" cy="706755"/>
          </a:xfrm>
          <a:prstGeom prst="rect">
            <a:avLst/>
          </a:prstGeom>
          <a:noFill/>
        </p:spPr>
        <p:txBody>
          <a:bodyPr wrap="square" rtlCol="0">
            <a:spAutoFit/>
          </a:bodyPr>
          <a:lstStyle/>
          <a:p>
            <a:pPr lvl="0" algn="ctr">
              <a:buClrTx/>
              <a:buSzTx/>
              <a:buFontTx/>
            </a:pPr>
            <a:r>
              <a:rPr lang="zh-CN" altLang="en-US" sz="2000" b="1">
                <a:solidFill>
                  <a:srgbClr val="FFFFFF"/>
                </a:solidFill>
                <a:latin typeface="微软雅黑" panose="020B0503020204020204" charset="-122"/>
                <a:ea typeface="微软雅黑" panose="020B0503020204020204" charset="-122"/>
                <a:cs typeface="微软雅黑" panose="020B0503020204020204" charset="-122"/>
                <a:sym typeface="+mn-ea"/>
              </a:rPr>
              <a:t>亮蓝色</a:t>
            </a:r>
            <a:endParaRPr lang="zh-CN" altLang="en-US" sz="2000" b="1">
              <a:solidFill>
                <a:srgbClr val="FFFFFF"/>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2000">
                <a:solidFill>
                  <a:srgbClr val="FFFFFF"/>
                </a:solidFill>
                <a:latin typeface="微软雅黑" panose="020B0503020204020204" charset="-122"/>
                <a:ea typeface="微软雅黑" panose="020B0503020204020204" charset="-122"/>
                <a:cs typeface="微软雅黑" panose="020B0503020204020204" charset="-122"/>
                <a:sym typeface="+mn-ea"/>
              </a:rPr>
              <a:t>#</a:t>
            </a:r>
            <a:r>
              <a:rPr lang="en-US" altLang="zh-CN" sz="2000">
                <a:solidFill>
                  <a:schemeClr val="bg1"/>
                </a:solidFill>
                <a:latin typeface="微软雅黑" panose="020B0503020204020204" charset="-122"/>
                <a:ea typeface="微软雅黑" panose="020B0503020204020204" charset="-122"/>
                <a:cs typeface="微软雅黑" panose="020B0503020204020204" charset="-122"/>
                <a:sym typeface="+mn-ea"/>
              </a:rPr>
              <a:t>4E88D4</a:t>
            </a:r>
            <a:endParaRPr lang="en-US" altLang="zh-CN" sz="20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8" name="文本框 17"/>
          <p:cNvSpPr txBox="1"/>
          <p:nvPr/>
        </p:nvSpPr>
        <p:spPr>
          <a:xfrm>
            <a:off x="5258118" y="4174173"/>
            <a:ext cx="1514475" cy="706755"/>
          </a:xfrm>
          <a:prstGeom prst="rect">
            <a:avLst/>
          </a:prstGeom>
          <a:noFill/>
        </p:spPr>
        <p:txBody>
          <a:bodyPr wrap="square" rtlCol="0">
            <a:spAutoFit/>
          </a:bodyPr>
          <a:lstStyle/>
          <a:p>
            <a:pPr lvl="0" algn="ctr">
              <a:buClrTx/>
              <a:buSzTx/>
              <a:buFontTx/>
            </a:pPr>
            <a:r>
              <a:rPr lang="zh-CN" altLang="en-US" sz="2000" b="1">
                <a:solidFill>
                  <a:srgbClr val="FFFFFF"/>
                </a:solidFill>
                <a:latin typeface="微软雅黑" panose="020B0503020204020204" charset="-122"/>
                <a:ea typeface="微软雅黑" panose="020B0503020204020204" charset="-122"/>
                <a:cs typeface="微软雅黑" panose="020B0503020204020204" charset="-122"/>
                <a:sym typeface="+mn-ea"/>
              </a:rPr>
              <a:t>钢灰色</a:t>
            </a:r>
            <a:endParaRPr lang="zh-CN" altLang="en-US" sz="2000" b="1">
              <a:solidFill>
                <a:srgbClr val="FFFFFF"/>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2000">
                <a:solidFill>
                  <a:srgbClr val="FFFFFF"/>
                </a:solidFill>
                <a:latin typeface="微软雅黑" panose="020B0503020204020204" charset="-122"/>
                <a:ea typeface="微软雅黑" panose="020B0503020204020204" charset="-122"/>
                <a:cs typeface="微软雅黑" panose="020B0503020204020204" charset="-122"/>
                <a:sym typeface="+mn-ea"/>
              </a:rPr>
              <a:t>#</a:t>
            </a:r>
            <a:r>
              <a:rPr lang="en-US" altLang="zh-CN" sz="2000">
                <a:solidFill>
                  <a:schemeClr val="bg1"/>
                </a:solidFill>
                <a:latin typeface="微软雅黑" panose="020B0503020204020204" charset="-122"/>
                <a:ea typeface="微软雅黑" panose="020B0503020204020204" charset="-122"/>
                <a:cs typeface="微软雅黑" panose="020B0503020204020204" charset="-122"/>
                <a:sym typeface="+mn-ea"/>
              </a:rPr>
              <a:t>A5A5A5</a:t>
            </a:r>
            <a:endParaRPr lang="en-US" altLang="zh-CN" sz="20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288" name="文本框 287"/>
          <p:cNvSpPr txBox="1"/>
          <p:nvPr/>
        </p:nvSpPr>
        <p:spPr>
          <a:xfrm>
            <a:off x="3429953" y="2145030"/>
            <a:ext cx="5218430" cy="475615"/>
          </a:xfrm>
          <a:prstGeom prst="rect">
            <a:avLst/>
          </a:prstGeom>
          <a:noFill/>
        </p:spPr>
        <p:txBody>
          <a:bodyPr wrap="square" rtlCol="0">
            <a:spAutoFit/>
          </a:bodyPr>
          <a:lstStyle/>
          <a:p>
            <a:pPr lvl="0" algn="ctr">
              <a:buClrTx/>
              <a:buSzTx/>
              <a:buFontTx/>
            </a:pPr>
            <a:r>
              <a:rPr lang="en-US" sz="2500" spc="-150" noProof="0" dirty="0">
                <a:ln>
                  <a:noFill/>
                </a:ln>
                <a:solidFill>
                  <a:schemeClr val="accent6"/>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2500" spc="-150" noProof="0" dirty="0">
                <a:ln>
                  <a:noFill/>
                </a:ln>
                <a:solidFill>
                  <a:schemeClr val="accent6"/>
                </a:solidFill>
                <a:effectLst/>
                <a:uLnTx/>
                <a:uFillTx/>
                <a:latin typeface="微软雅黑" panose="020B0503020204020204" charset="-122"/>
                <a:ea typeface="微软雅黑" panose="020B0503020204020204" charset="-122"/>
                <a:cs typeface="微软雅黑" panose="020B0503020204020204" charset="-122"/>
                <a:sym typeface="+mn-ea"/>
              </a:rPr>
              <a:t>钛青浮幕影，钢灰溯光澜</a:t>
            </a:r>
            <a:r>
              <a:rPr lang="en-US" sz="2500" spc="-150" noProof="0" dirty="0">
                <a:ln>
                  <a:noFill/>
                </a:ln>
                <a:solidFill>
                  <a:schemeClr val="accent6"/>
                </a:solidFill>
                <a:effectLst/>
                <a:uLnTx/>
                <a:uFillTx/>
                <a:latin typeface="微软雅黑" panose="020B0503020204020204" charset="-122"/>
                <a:ea typeface="微软雅黑" panose="020B0503020204020204" charset="-122"/>
                <a:cs typeface="微软雅黑" panose="020B0503020204020204" charset="-122"/>
                <a:sym typeface="+mn-ea"/>
              </a:rPr>
              <a:t>！”</a:t>
            </a:r>
            <a:endParaRPr lang="en-US" sz="2500" spc="-150" noProof="0" dirty="0">
              <a:ln>
                <a:noFill/>
              </a:ln>
              <a:solidFill>
                <a:schemeClr val="accent6"/>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91" name="文本框 290"/>
          <p:cNvSpPr txBox="1"/>
          <p:nvPr/>
        </p:nvSpPr>
        <p:spPr>
          <a:xfrm>
            <a:off x="2945130" y="3068320"/>
            <a:ext cx="1464310" cy="398780"/>
          </a:xfrm>
          <a:prstGeom prst="rect">
            <a:avLst/>
          </a:prstGeom>
          <a:noFill/>
        </p:spPr>
        <p:txBody>
          <a:bodyPr wrap="square" rtlCol="0">
            <a:spAutoFit/>
          </a:bodyPr>
          <a:lstStyle/>
          <a:p>
            <a:pPr lvl="0" algn="ctr">
              <a:buClrTx/>
              <a:buSzTx/>
              <a:buFontTx/>
            </a:pPr>
            <a:r>
              <a:rPr lang="zh-CN" altLang="en-US" sz="2000" b="1" spc="-150" noProof="0" dirty="0">
                <a:ln w="47625">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rPr>
              <a:t>配色⑦</a:t>
            </a:r>
            <a:endParaRPr lang="en-US" altLang="zh-CN" sz="2000" b="1" spc="-150" noProof="0" dirty="0">
              <a:ln w="47625">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矩形 68"/>
          <p:cNvSpPr/>
          <p:nvPr/>
        </p:nvSpPr>
        <p:spPr>
          <a:xfrm>
            <a:off x="1476693" y="914400"/>
            <a:ext cx="9086215" cy="231775"/>
          </a:xfrm>
          <a:prstGeom prst="rect">
            <a:avLst/>
          </a:prstGeom>
          <a:solidFill>
            <a:schemeClr val="accent1">
              <a:lumMod val="20000"/>
              <a:lumOff val="80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charset="-122"/>
            </a:endParaRPr>
          </a:p>
        </p:txBody>
      </p:sp>
      <p:sp>
        <p:nvSpPr>
          <p:cNvPr id="74" name="文本框 73"/>
          <p:cNvSpPr txBox="1"/>
          <p:nvPr>
            <p:custDataLst>
              <p:tags r:id="rId1"/>
            </p:custDataLst>
          </p:nvPr>
        </p:nvSpPr>
        <p:spPr>
          <a:xfrm>
            <a:off x="1544955" y="1263015"/>
            <a:ext cx="9367520" cy="347345"/>
          </a:xfrm>
          <a:prstGeom prst="rect">
            <a:avLst/>
          </a:prstGeom>
          <a:noFill/>
        </p:spPr>
        <p:txBody>
          <a:bodyPr wrap="square" rtlCol="0">
            <a:noAutofit/>
          </a:bodyPr>
          <a:lstStyle/>
          <a:p>
            <a:pPr algn="ctr">
              <a:lnSpc>
                <a:spcPct val="100000"/>
              </a:lnSpc>
            </a:pPr>
            <a:r>
              <a:rPr lang="zh-CN" altLang="en-US">
                <a:solidFill>
                  <a:schemeClr val="tx2"/>
                </a:solidFill>
                <a:latin typeface="微软雅黑" panose="020B0503020204020204" charset="-122"/>
                <a:ea typeface="微软雅黑" panose="020B0503020204020204" charset="-122"/>
                <a:cs typeface="微软雅黑" panose="020B0503020204020204" charset="-122"/>
              </a:rPr>
              <a:t>本作品系开悟思维原创作品，已获国家版权局作品登记证书，仅供个人学习使用！</a:t>
            </a:r>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custDataLst>
              <p:tags r:id="rId2"/>
            </p:custDataLst>
          </p:nvPr>
        </p:nvSpPr>
        <p:spPr>
          <a:xfrm flipH="1">
            <a:off x="3674110" y="530860"/>
            <a:ext cx="4691380" cy="491490"/>
          </a:xfrm>
          <a:prstGeom prst="rect">
            <a:avLst/>
          </a:prstGeom>
          <a:noFill/>
        </p:spPr>
        <p:txBody>
          <a:bodyPr wrap="square" rtlCol="0">
            <a:noAutofit/>
          </a:bodyPr>
          <a:lstStyle/>
          <a:p>
            <a:pPr algn="ctr"/>
            <a:r>
              <a:rPr lang="zh-CN" altLang="en-US" sz="3200" b="1">
                <a:solidFill>
                  <a:schemeClr val="accent1"/>
                </a:solidFill>
                <a:latin typeface="微软雅黑" panose="020B0503020204020204" charset="-122"/>
                <a:ea typeface="微软雅黑" panose="020B0503020204020204" charset="-122"/>
                <a:cs typeface="微软雅黑" panose="020B0503020204020204" charset="-122"/>
              </a:rPr>
              <a:t>原创版权保护</a:t>
            </a:r>
            <a:r>
              <a:rPr lang="en-US" altLang="zh-CN" sz="3200" b="1">
                <a:solidFill>
                  <a:schemeClr val="accent1"/>
                </a:solidFill>
                <a:latin typeface="微软雅黑" panose="020B0503020204020204" charset="-122"/>
                <a:ea typeface="微软雅黑" panose="020B0503020204020204" charset="-122"/>
                <a:cs typeface="微软雅黑" panose="020B0503020204020204" charset="-122"/>
              </a:rPr>
              <a:t> </a:t>
            </a:r>
            <a:r>
              <a:rPr lang="zh-CN" altLang="en-US" sz="3200" b="1">
                <a:solidFill>
                  <a:schemeClr val="accent1"/>
                </a:solidFill>
                <a:latin typeface="微软雅黑" panose="020B0503020204020204" charset="-122"/>
                <a:ea typeface="微软雅黑" panose="020B0503020204020204" charset="-122"/>
                <a:cs typeface="微软雅黑" panose="020B0503020204020204" charset="-122"/>
              </a:rPr>
              <a:t>侵权必究</a:t>
            </a:r>
            <a:endParaRPr lang="zh-CN" altLang="en-US" sz="3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0" name="任意多边形 29"/>
          <p:cNvSpPr/>
          <p:nvPr>
            <p:custDataLst>
              <p:tags r:id="rId3"/>
            </p:custDataLst>
          </p:nvPr>
        </p:nvSpPr>
        <p:spPr>
          <a:xfrm flipH="1">
            <a:off x="9965690" y="-13970"/>
            <a:ext cx="2244725" cy="848995"/>
          </a:xfrm>
          <a:custGeom>
            <a:avLst/>
            <a:gdLst/>
            <a:ahLst/>
            <a:cxnLst>
              <a:cxn ang="3">
                <a:pos x="hc" y="t"/>
              </a:cxn>
              <a:cxn ang="cd2">
                <a:pos x="l" y="vc"/>
              </a:cxn>
              <a:cxn ang="cd4">
                <a:pos x="hc" y="b"/>
              </a:cxn>
              <a:cxn ang="0">
                <a:pos x="r" y="vc"/>
              </a:cxn>
            </a:cxnLst>
            <a:rect l="l" t="t" r="r" b="b"/>
            <a:pathLst>
              <a:path w="3549" h="1050">
                <a:moveTo>
                  <a:pt x="0" y="0"/>
                </a:moveTo>
                <a:lnTo>
                  <a:pt x="3549" y="0"/>
                </a:lnTo>
                <a:lnTo>
                  <a:pt x="1628" y="937"/>
                </a:lnTo>
                <a:cubicBezTo>
                  <a:pt x="1076" y="1207"/>
                  <a:pt x="410" y="977"/>
                  <a:pt x="141" y="425"/>
                </a:cubicBezTo>
                <a:lnTo>
                  <a:pt x="0" y="137"/>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userDrawn="1"/>
        </p:nvPicPr>
        <p:blipFill>
          <a:blip r:embed="rId4"/>
          <a:srcRect r="58023" b="-8235"/>
          <a:stretch>
            <a:fillRect/>
          </a:stretch>
        </p:blipFill>
        <p:spPr>
          <a:xfrm>
            <a:off x="10253980" y="147320"/>
            <a:ext cx="1591310" cy="350520"/>
          </a:xfrm>
          <a:prstGeom prst="rect">
            <a:avLst/>
          </a:prstGeom>
        </p:spPr>
      </p:pic>
      <p:pic>
        <p:nvPicPr>
          <p:cNvPr id="3" name="图片 2"/>
          <p:cNvPicPr>
            <a:picLocks noChangeAspect="1"/>
          </p:cNvPicPr>
          <p:nvPr/>
        </p:nvPicPr>
        <p:blipFill>
          <a:blip r:embed="rId5"/>
          <a:stretch>
            <a:fillRect/>
          </a:stretch>
        </p:blipFill>
        <p:spPr>
          <a:xfrm>
            <a:off x="2948940" y="1851025"/>
            <a:ext cx="6596380" cy="46882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矩形 68"/>
          <p:cNvSpPr/>
          <p:nvPr/>
        </p:nvSpPr>
        <p:spPr>
          <a:xfrm>
            <a:off x="1476693" y="914400"/>
            <a:ext cx="9086215" cy="231775"/>
          </a:xfrm>
          <a:prstGeom prst="rect">
            <a:avLst/>
          </a:prstGeom>
          <a:solidFill>
            <a:schemeClr val="accent1">
              <a:lumMod val="20000"/>
              <a:lumOff val="80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charset="-122"/>
            </a:endParaRPr>
          </a:p>
        </p:txBody>
      </p:sp>
      <p:sp>
        <p:nvSpPr>
          <p:cNvPr id="74" name="文本框 73"/>
          <p:cNvSpPr txBox="1"/>
          <p:nvPr>
            <p:custDataLst>
              <p:tags r:id="rId1"/>
            </p:custDataLst>
          </p:nvPr>
        </p:nvSpPr>
        <p:spPr>
          <a:xfrm>
            <a:off x="1544955" y="1263015"/>
            <a:ext cx="9367520" cy="347345"/>
          </a:xfrm>
          <a:prstGeom prst="rect">
            <a:avLst/>
          </a:prstGeom>
          <a:noFill/>
        </p:spPr>
        <p:txBody>
          <a:bodyPr wrap="square" rtlCol="0">
            <a:noAutofit/>
          </a:bodyPr>
          <a:lstStyle/>
          <a:p>
            <a:pPr algn="ctr">
              <a:lnSpc>
                <a:spcPct val="100000"/>
              </a:lnSpc>
            </a:pPr>
            <a:r>
              <a:rPr lang="en-US" altLang="en-US">
                <a:solidFill>
                  <a:schemeClr val="tx2"/>
                </a:solidFill>
                <a:latin typeface="微软雅黑" panose="020B0503020204020204" charset="-122"/>
                <a:ea typeface="微软雅黑" panose="020B0503020204020204" charset="-122"/>
                <a:cs typeface="微软雅黑" panose="020B0503020204020204" charset="-122"/>
              </a:rPr>
              <a:t>↓</a:t>
            </a:r>
            <a:r>
              <a:rPr lang="zh-CN" altLang="en-US">
                <a:solidFill>
                  <a:schemeClr val="tx2"/>
                </a:solidFill>
                <a:latin typeface="微软雅黑" panose="020B0503020204020204" charset="-122"/>
                <a:ea typeface="微软雅黑" panose="020B0503020204020204" charset="-122"/>
                <a:cs typeface="微软雅黑" panose="020B0503020204020204" charset="-122"/>
              </a:rPr>
              <a:t>欢迎关注微信号，或小红书账号</a:t>
            </a:r>
            <a:r>
              <a:rPr lang="en-US" altLang="zh-CN">
                <a:solidFill>
                  <a:schemeClr val="tx2"/>
                </a:solidFill>
                <a:latin typeface="微软雅黑" panose="020B0503020204020204" charset="-122"/>
                <a:ea typeface="微软雅黑" panose="020B0503020204020204" charset="-122"/>
                <a:cs typeface="微软雅黑" panose="020B0503020204020204" charset="-122"/>
              </a:rPr>
              <a:t>“</a:t>
            </a:r>
            <a:r>
              <a:rPr lang="zh-CN" altLang="en-US">
                <a:solidFill>
                  <a:schemeClr val="tx2"/>
                </a:solidFill>
                <a:latin typeface="微软雅黑" panose="020B0503020204020204" charset="-122"/>
                <a:ea typeface="微软雅黑" panose="020B0503020204020204" charset="-122"/>
                <a:cs typeface="微软雅黑" panose="020B0503020204020204" charset="-122"/>
              </a:rPr>
              <a:t>开悟思维锦囊</a:t>
            </a:r>
            <a:r>
              <a:rPr lang="en-US" altLang="zh-CN">
                <a:solidFill>
                  <a:schemeClr val="tx2"/>
                </a:solidFill>
                <a:latin typeface="微软雅黑" panose="020B0503020204020204" charset="-122"/>
                <a:ea typeface="微软雅黑" panose="020B0503020204020204" charset="-122"/>
                <a:cs typeface="微软雅黑" panose="020B0503020204020204" charset="-122"/>
              </a:rPr>
              <a:t>”</a:t>
            </a:r>
            <a:r>
              <a:rPr lang="en-US" altLang="en-US">
                <a:solidFill>
                  <a:schemeClr val="tx2"/>
                </a:solidFill>
                <a:latin typeface="微软雅黑" panose="020B0503020204020204" charset="-122"/>
                <a:ea typeface="微软雅黑" panose="020B0503020204020204" charset="-122"/>
                <a:cs typeface="微软雅黑" panose="020B0503020204020204" charset="-122"/>
              </a:rPr>
              <a:t>↓</a:t>
            </a:r>
            <a:endParaRPr lang="en-US"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custDataLst>
              <p:tags r:id="rId2"/>
            </p:custDataLst>
          </p:nvPr>
        </p:nvSpPr>
        <p:spPr>
          <a:xfrm flipH="1">
            <a:off x="2905125" y="530860"/>
            <a:ext cx="5909310" cy="491490"/>
          </a:xfrm>
          <a:prstGeom prst="rect">
            <a:avLst/>
          </a:prstGeom>
          <a:noFill/>
        </p:spPr>
        <p:txBody>
          <a:bodyPr wrap="square" rtlCol="0">
            <a:noAutofit/>
          </a:bodyPr>
          <a:lstStyle/>
          <a:p>
            <a:pPr algn="ctr"/>
            <a:r>
              <a:rPr lang="en-US" sz="3200" b="1">
                <a:solidFill>
                  <a:schemeClr val="accent1"/>
                </a:solidFill>
                <a:latin typeface="微软雅黑" panose="020B0503020204020204" charset="-122"/>
                <a:ea typeface="微软雅黑" panose="020B0503020204020204" charset="-122"/>
                <a:cs typeface="微软雅黑" panose="020B0503020204020204" charset="-122"/>
              </a:rPr>
              <a:t>PPT</a:t>
            </a:r>
            <a:r>
              <a:rPr lang="zh-CN" altLang="en-US" sz="3200" b="1">
                <a:solidFill>
                  <a:schemeClr val="accent1"/>
                </a:solidFill>
                <a:latin typeface="微软雅黑" panose="020B0503020204020204" charset="-122"/>
                <a:ea typeface="微软雅黑" panose="020B0503020204020204" charset="-122"/>
                <a:cs typeface="微软雅黑" panose="020B0503020204020204" charset="-122"/>
              </a:rPr>
              <a:t>模板使用过程中有任何问题</a:t>
            </a:r>
            <a:endParaRPr lang="zh-CN" altLang="en-US" sz="3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0" name="任意多边形 29"/>
          <p:cNvSpPr/>
          <p:nvPr>
            <p:custDataLst>
              <p:tags r:id="rId3"/>
            </p:custDataLst>
          </p:nvPr>
        </p:nvSpPr>
        <p:spPr>
          <a:xfrm flipH="1">
            <a:off x="9965690" y="-13970"/>
            <a:ext cx="2244725" cy="848995"/>
          </a:xfrm>
          <a:custGeom>
            <a:avLst/>
            <a:gdLst/>
            <a:ahLst/>
            <a:cxnLst>
              <a:cxn ang="3">
                <a:pos x="hc" y="t"/>
              </a:cxn>
              <a:cxn ang="cd2">
                <a:pos x="l" y="vc"/>
              </a:cxn>
              <a:cxn ang="cd4">
                <a:pos x="hc" y="b"/>
              </a:cxn>
              <a:cxn ang="0">
                <a:pos x="r" y="vc"/>
              </a:cxn>
            </a:cxnLst>
            <a:rect l="l" t="t" r="r" b="b"/>
            <a:pathLst>
              <a:path w="3549" h="1050">
                <a:moveTo>
                  <a:pt x="0" y="0"/>
                </a:moveTo>
                <a:lnTo>
                  <a:pt x="3549" y="0"/>
                </a:lnTo>
                <a:lnTo>
                  <a:pt x="1628" y="937"/>
                </a:lnTo>
                <a:cubicBezTo>
                  <a:pt x="1076" y="1207"/>
                  <a:pt x="410" y="977"/>
                  <a:pt x="141" y="425"/>
                </a:cubicBezTo>
                <a:lnTo>
                  <a:pt x="0" y="137"/>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userDrawn="1"/>
        </p:nvPicPr>
        <p:blipFill>
          <a:blip r:embed="rId4"/>
          <a:srcRect r="58023" b="-8235"/>
          <a:stretch>
            <a:fillRect/>
          </a:stretch>
        </p:blipFill>
        <p:spPr>
          <a:xfrm>
            <a:off x="10253980" y="147320"/>
            <a:ext cx="1591310" cy="350520"/>
          </a:xfrm>
          <a:prstGeom prst="rect">
            <a:avLst/>
          </a:prstGeom>
        </p:spPr>
      </p:pic>
      <p:pic>
        <p:nvPicPr>
          <p:cNvPr id="3" name="图片 2"/>
          <p:cNvPicPr>
            <a:picLocks noChangeAspect="1"/>
          </p:cNvPicPr>
          <p:nvPr/>
        </p:nvPicPr>
        <p:blipFill>
          <a:blip r:embed="rId5"/>
          <a:srcRect l="851" t="-77" r="464" b="1258"/>
          <a:stretch>
            <a:fillRect/>
          </a:stretch>
        </p:blipFill>
        <p:spPr>
          <a:xfrm>
            <a:off x="2287905" y="2447925"/>
            <a:ext cx="3238500" cy="3242945"/>
          </a:xfrm>
          <a:prstGeom prst="rect">
            <a:avLst/>
          </a:prstGeom>
        </p:spPr>
      </p:pic>
      <p:pic>
        <p:nvPicPr>
          <p:cNvPr id="4" name="图片 3"/>
          <p:cNvPicPr>
            <a:picLocks noChangeAspect="1"/>
          </p:cNvPicPr>
          <p:nvPr/>
        </p:nvPicPr>
        <p:blipFill>
          <a:blip r:embed="rId6"/>
          <a:stretch>
            <a:fillRect/>
          </a:stretch>
        </p:blipFill>
        <p:spPr>
          <a:xfrm>
            <a:off x="6543040" y="2495550"/>
            <a:ext cx="3206750" cy="31476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368935" y="306705"/>
            <a:ext cx="8968740" cy="475615"/>
          </a:xfrm>
          <a:prstGeom prst="rect">
            <a:avLst/>
          </a:prstGeom>
          <a:noFill/>
        </p:spPr>
        <p:txBody>
          <a:bodyPr wrap="square" rtlCol="0" anchor="ctr" anchorCtr="0">
            <a:spAutoFit/>
          </a:bodyPr>
          <a:lstStyle/>
          <a:p>
            <a:pPr fontAlgn="ctr">
              <a:lnSpc>
                <a:spcPct val="100000"/>
              </a:lnSpc>
            </a:pPr>
            <a:r>
              <a:rPr lang="zh-CN" altLang="en-US" sz="2500" b="1">
                <a:solidFill>
                  <a:schemeClr val="accent1"/>
                </a:solidFill>
                <a:latin typeface="微软雅黑" panose="020B0503020204020204" charset="-122"/>
                <a:ea typeface="微软雅黑" panose="020B0503020204020204" charset="-122"/>
                <a:cs typeface="微软雅黑" panose="020B0503020204020204" charset="-122"/>
                <a:sym typeface="+mn-ea"/>
              </a:rPr>
              <a:t>打开</a:t>
            </a:r>
            <a:r>
              <a:rPr lang="en-US" altLang="zh-CN" sz="2500" b="1">
                <a:solidFill>
                  <a:schemeClr val="accent1"/>
                </a:solidFill>
                <a:latin typeface="微软雅黑" panose="020B0503020204020204" charset="-122"/>
                <a:ea typeface="微软雅黑" panose="020B0503020204020204" charset="-122"/>
                <a:cs typeface="微软雅黑" panose="020B0503020204020204" charset="-122"/>
                <a:sym typeface="+mn-ea"/>
              </a:rPr>
              <a:t>PPT</a:t>
            </a:r>
            <a:r>
              <a:rPr lang="zh-CN" altLang="en-US" sz="2500" b="1">
                <a:solidFill>
                  <a:schemeClr val="accent1"/>
                </a:solidFill>
                <a:latin typeface="微软雅黑" panose="020B0503020204020204" charset="-122"/>
                <a:ea typeface="微软雅黑" panose="020B0503020204020204" charset="-122"/>
                <a:cs typeface="微软雅黑" panose="020B0503020204020204" charset="-122"/>
                <a:sym typeface="+mn-ea"/>
              </a:rPr>
              <a:t>前注意：</a:t>
            </a:r>
            <a:r>
              <a:rPr lang="zh-CN" sz="2500" b="1">
                <a:solidFill>
                  <a:schemeClr val="tx2"/>
                </a:solidFill>
                <a:latin typeface="微软雅黑" panose="020B0503020204020204" charset="-122"/>
                <a:ea typeface="微软雅黑" panose="020B0503020204020204" charset="-122"/>
                <a:cs typeface="微软雅黑" panose="020B0503020204020204" charset="-122"/>
                <a:sym typeface="+mn-ea"/>
              </a:rPr>
              <a:t>请先安装字体，找配套字体包一键安装</a:t>
            </a:r>
            <a:endParaRPr lang="zh-CN" sz="2500" b="1">
              <a:solidFill>
                <a:schemeClr val="tx2"/>
              </a:solidFill>
              <a:latin typeface="微软雅黑" panose="020B0503020204020204" charset="-122"/>
              <a:ea typeface="微软雅黑" panose="020B0503020204020204" charset="-122"/>
              <a:cs typeface="微软雅黑" panose="020B0503020204020204" charset="-122"/>
              <a:sym typeface="+mn-ea"/>
            </a:endParaRPr>
          </a:p>
        </p:txBody>
      </p:sp>
      <p:cxnSp>
        <p:nvCxnSpPr>
          <p:cNvPr id="21"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1"/>
          <a:stretch>
            <a:fillRect/>
          </a:stretch>
        </p:blipFill>
        <p:spPr>
          <a:xfrm>
            <a:off x="1203960" y="1590040"/>
            <a:ext cx="3692525" cy="523240"/>
          </a:xfrm>
          <a:prstGeom prst="rect">
            <a:avLst/>
          </a:prstGeom>
        </p:spPr>
      </p:pic>
      <p:pic>
        <p:nvPicPr>
          <p:cNvPr id="10" name="图片 9"/>
          <p:cNvPicPr>
            <a:picLocks noChangeAspect="1"/>
          </p:cNvPicPr>
          <p:nvPr/>
        </p:nvPicPr>
        <p:blipFill>
          <a:blip r:embed="rId2"/>
          <a:stretch>
            <a:fillRect/>
          </a:stretch>
        </p:blipFill>
        <p:spPr>
          <a:xfrm>
            <a:off x="1623695" y="2281555"/>
            <a:ext cx="2853055" cy="3599180"/>
          </a:xfrm>
          <a:prstGeom prst="rect">
            <a:avLst/>
          </a:prstGeom>
        </p:spPr>
      </p:pic>
      <p:pic>
        <p:nvPicPr>
          <p:cNvPr id="11" name="图片 10"/>
          <p:cNvPicPr>
            <a:picLocks noChangeAspect="1"/>
          </p:cNvPicPr>
          <p:nvPr/>
        </p:nvPicPr>
        <p:blipFill>
          <a:blip r:embed="rId3"/>
          <a:stretch>
            <a:fillRect/>
          </a:stretch>
        </p:blipFill>
        <p:spPr>
          <a:xfrm>
            <a:off x="8045450" y="2205355"/>
            <a:ext cx="3407410" cy="3589020"/>
          </a:xfrm>
          <a:prstGeom prst="rect">
            <a:avLst/>
          </a:prstGeom>
        </p:spPr>
      </p:pic>
      <p:sp>
        <p:nvSpPr>
          <p:cNvPr id="12" name="圆角矩形 11"/>
          <p:cNvSpPr/>
          <p:nvPr>
            <p:custDataLst>
              <p:tags r:id="rId4"/>
            </p:custDataLst>
          </p:nvPr>
        </p:nvSpPr>
        <p:spPr>
          <a:xfrm>
            <a:off x="36893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13" name="圆角矩形 12"/>
          <p:cNvSpPr/>
          <p:nvPr>
            <p:custDataLst>
              <p:tags r:id="rId5"/>
            </p:custDataLst>
          </p:nvPr>
        </p:nvSpPr>
        <p:spPr>
          <a:xfrm>
            <a:off x="628332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pic>
        <p:nvPicPr>
          <p:cNvPr id="14" name="图片 13"/>
          <p:cNvPicPr>
            <a:picLocks noChangeAspect="1"/>
          </p:cNvPicPr>
          <p:nvPr/>
        </p:nvPicPr>
        <p:blipFill>
          <a:blip r:embed="rId6"/>
          <a:srcRect l="-3033" t="15643" r="95" b="20269"/>
          <a:stretch>
            <a:fillRect/>
          </a:stretch>
        </p:blipFill>
        <p:spPr>
          <a:xfrm>
            <a:off x="7178675" y="1629410"/>
            <a:ext cx="3448050" cy="4838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368935" y="306388"/>
            <a:ext cx="7585710" cy="475615"/>
          </a:xfrm>
          <a:prstGeom prst="rect">
            <a:avLst/>
          </a:prstGeom>
          <a:noFill/>
        </p:spPr>
        <p:txBody>
          <a:bodyPr wrap="square" rtlCol="0" anchor="ctr" anchorCtr="0">
            <a:spAutoFit/>
          </a:bodyPr>
          <a:lstStyle/>
          <a:p>
            <a:pPr fontAlgn="ctr">
              <a:lnSpc>
                <a:spcPct val="100000"/>
              </a:lnSpc>
            </a:pPr>
            <a:r>
              <a:rPr lang="zh-CN" altLang="en-US" sz="2500" b="1" dirty="0">
                <a:solidFill>
                  <a:schemeClr val="accent1"/>
                </a:solidFill>
                <a:latin typeface="微软雅黑" panose="020B0503020204020204" charset="-122"/>
                <a:ea typeface="微软雅黑" panose="020B0503020204020204" charset="-122"/>
                <a:cs typeface="微软雅黑" panose="020B0503020204020204" charset="-122"/>
                <a:sym typeface="+mn-ea"/>
              </a:rPr>
              <a:t>使用模板时：</a:t>
            </a:r>
            <a:r>
              <a:rPr lang="zh-CN" sz="2500" b="1" dirty="0">
                <a:solidFill>
                  <a:schemeClr val="tx2"/>
                </a:solidFill>
                <a:latin typeface="微软雅黑" panose="020B0503020204020204" charset="-122"/>
                <a:ea typeface="微软雅黑" panose="020B0503020204020204" charset="-122"/>
                <a:cs typeface="微软雅黑" panose="020B0503020204020204" charset="-122"/>
                <a:sym typeface="+mn-ea"/>
              </a:rPr>
              <a:t>复制到自己</a:t>
            </a:r>
            <a:r>
              <a:rPr lang="en-US" altLang="zh-CN" sz="2500" b="1" dirty="0">
                <a:solidFill>
                  <a:schemeClr val="tx2"/>
                </a:solidFill>
                <a:latin typeface="微软雅黑" panose="020B0503020204020204" charset="-122"/>
                <a:ea typeface="微软雅黑" panose="020B0503020204020204" charset="-122"/>
                <a:cs typeface="微软雅黑" panose="020B0503020204020204" charset="-122"/>
                <a:sym typeface="+mn-ea"/>
              </a:rPr>
              <a:t>PPT</a:t>
            </a:r>
            <a:r>
              <a:rPr lang="zh-CN" altLang="en-US" sz="2500" b="1" dirty="0">
                <a:solidFill>
                  <a:schemeClr val="tx2"/>
                </a:solidFill>
                <a:latin typeface="微软雅黑" panose="020B0503020204020204" charset="-122"/>
                <a:ea typeface="微软雅黑" panose="020B0503020204020204" charset="-122"/>
                <a:cs typeface="微软雅黑" panose="020B0503020204020204" charset="-122"/>
                <a:sym typeface="+mn-ea"/>
              </a:rPr>
              <a:t>颜色变了怎么办？</a:t>
            </a:r>
            <a:endParaRPr lang="zh-CN" altLang="en-US" sz="25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cxnSp>
        <p:nvCxnSpPr>
          <p:cNvPr id="21"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圆角矩形 31"/>
          <p:cNvSpPr/>
          <p:nvPr>
            <p:custDataLst>
              <p:tags r:id="rId1"/>
            </p:custDataLst>
          </p:nvPr>
        </p:nvSpPr>
        <p:spPr>
          <a:xfrm>
            <a:off x="36893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34" name="文本框 33"/>
          <p:cNvSpPr txBox="1"/>
          <p:nvPr>
            <p:custDataLst>
              <p:tags r:id="rId2"/>
            </p:custDataLst>
          </p:nvPr>
        </p:nvSpPr>
        <p:spPr>
          <a:xfrm>
            <a:off x="520065" y="1809750"/>
            <a:ext cx="5454650" cy="583565"/>
          </a:xfrm>
          <a:prstGeom prst="rect">
            <a:avLst/>
          </a:prstGeom>
          <a:noFill/>
        </p:spPr>
        <p:txBody>
          <a:bodyPr wrap="square" rtlCol="0" anchor="ctr" anchorCtr="0">
            <a:spAutoFit/>
          </a:bodyPr>
          <a:lstStyle/>
          <a:p>
            <a:pPr fontAlgn="ctr">
              <a:lnSpc>
                <a:spcPct val="100000"/>
              </a:lnSpc>
            </a:pP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复制</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PPT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模板页面（也可多选页面）</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，选择</a:t>
            </a:r>
            <a:r>
              <a:rPr 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自己的</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PPT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报告页面，右键点击选择</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带格式粘贴</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a:t>
            </a:r>
            <a:endPar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38" name="圆角矩形 37"/>
          <p:cNvSpPr/>
          <p:nvPr>
            <p:custDataLst>
              <p:tags r:id="rId3"/>
            </p:custDataLst>
          </p:nvPr>
        </p:nvSpPr>
        <p:spPr>
          <a:xfrm>
            <a:off x="636968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 name="文本框 3"/>
          <p:cNvSpPr txBox="1"/>
          <p:nvPr>
            <p:custDataLst>
              <p:tags r:id="rId4"/>
            </p:custDataLst>
          </p:nvPr>
        </p:nvSpPr>
        <p:spPr>
          <a:xfrm>
            <a:off x="2306320" y="1234758"/>
            <a:ext cx="1753235" cy="398780"/>
          </a:xfrm>
          <a:prstGeom prst="rect">
            <a:avLst/>
          </a:prstGeom>
          <a:noFill/>
        </p:spPr>
        <p:txBody>
          <a:bodyPr wrap="square" rtlCol="0" anchor="ctr" anchorCtr="0">
            <a:spAutoFit/>
          </a:bodyPr>
          <a:lstStyle/>
          <a:p>
            <a:pPr fontAlgn="ctr">
              <a:lnSpc>
                <a:spcPct val="100000"/>
              </a:lnSpc>
            </a:pPr>
            <a:r>
              <a:rPr lang="en-US" altLang="zh-CN" sz="2000" b="1">
                <a:solidFill>
                  <a:schemeClr val="accent1"/>
                </a:solidFill>
                <a:latin typeface="微软雅黑" panose="020B0503020204020204" charset="-122"/>
                <a:ea typeface="微软雅黑" panose="020B0503020204020204" charset="-122"/>
                <a:cs typeface="微软雅黑" panose="020B0503020204020204" charset="-122"/>
                <a:sym typeface="+mn-ea"/>
              </a:rPr>
              <a:t>WPS</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版本</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custDataLst>
              <p:tags r:id="rId5"/>
            </p:custDataLst>
          </p:nvPr>
        </p:nvSpPr>
        <p:spPr>
          <a:xfrm>
            <a:off x="8225155" y="1234758"/>
            <a:ext cx="1753235" cy="398780"/>
          </a:xfrm>
          <a:prstGeom prst="rect">
            <a:avLst/>
          </a:prstGeom>
          <a:noFill/>
        </p:spPr>
        <p:txBody>
          <a:bodyPr wrap="square" rtlCol="0" anchor="ctr" anchorCtr="0">
            <a:spAutoFit/>
          </a:bodyPr>
          <a:lstStyle/>
          <a:p>
            <a:pPr fontAlgn="ctr">
              <a:lnSpc>
                <a:spcPct val="100000"/>
              </a:lnSpc>
            </a:pPr>
            <a:r>
              <a:rPr lang="en-US" altLang="zh-CN" sz="2000" b="1">
                <a:solidFill>
                  <a:schemeClr val="accent1"/>
                </a:solidFill>
                <a:latin typeface="微软雅黑" panose="020B0503020204020204" charset="-122"/>
                <a:ea typeface="微软雅黑" panose="020B0503020204020204" charset="-122"/>
                <a:cs typeface="微软雅黑" panose="020B0503020204020204" charset="-122"/>
                <a:sym typeface="+mn-ea"/>
              </a:rPr>
              <a:t>office</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版本</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custDataLst>
              <p:tags r:id="rId6"/>
            </p:custDataLst>
          </p:nvPr>
        </p:nvPicPr>
        <p:blipFill>
          <a:blip r:embed="rId7"/>
          <a:stretch>
            <a:fillRect/>
          </a:stretch>
        </p:blipFill>
        <p:spPr>
          <a:xfrm>
            <a:off x="786765" y="2526030"/>
            <a:ext cx="4668520" cy="3519170"/>
          </a:xfrm>
          <a:prstGeom prst="rect">
            <a:avLst/>
          </a:prstGeom>
        </p:spPr>
      </p:pic>
      <p:sp>
        <p:nvSpPr>
          <p:cNvPr id="10" name="文本框 9"/>
          <p:cNvSpPr txBox="1"/>
          <p:nvPr>
            <p:custDataLst>
              <p:tags r:id="rId8"/>
            </p:custDataLst>
          </p:nvPr>
        </p:nvSpPr>
        <p:spPr>
          <a:xfrm>
            <a:off x="6600190" y="1858645"/>
            <a:ext cx="5454650" cy="583565"/>
          </a:xfrm>
          <a:prstGeom prst="rect">
            <a:avLst/>
          </a:prstGeom>
          <a:noFill/>
        </p:spPr>
        <p:txBody>
          <a:bodyPr wrap="square" rtlCol="0" anchor="ctr" anchorCtr="0">
            <a:spAutoFit/>
          </a:bodyPr>
          <a:lstStyle/>
          <a:p>
            <a:pPr fontAlgn="ctr">
              <a:lnSpc>
                <a:spcPct val="100000"/>
              </a:lnSpc>
            </a:pP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复制</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PPT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模板页面（也可多选页面）</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，选择</a:t>
            </a:r>
            <a:r>
              <a:rPr 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自己的</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PPT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报告页面，右键点击选择</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保留原格式</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a:t>
            </a:r>
            <a:endPar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pic>
        <p:nvPicPr>
          <p:cNvPr id="11" name="图片 10"/>
          <p:cNvPicPr>
            <a:picLocks noChangeAspect="1"/>
          </p:cNvPicPr>
          <p:nvPr>
            <p:custDataLst>
              <p:tags r:id="rId9"/>
            </p:custDataLst>
          </p:nvPr>
        </p:nvPicPr>
        <p:blipFill>
          <a:blip r:embed="rId10"/>
          <a:stretch>
            <a:fillRect/>
          </a:stretch>
        </p:blipFill>
        <p:spPr>
          <a:xfrm>
            <a:off x="7367270" y="2748915"/>
            <a:ext cx="3867150" cy="31343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368935" y="306388"/>
            <a:ext cx="7585710" cy="475615"/>
          </a:xfrm>
          <a:prstGeom prst="rect">
            <a:avLst/>
          </a:prstGeom>
          <a:noFill/>
        </p:spPr>
        <p:txBody>
          <a:bodyPr wrap="square" rtlCol="0" anchor="ctr" anchorCtr="0">
            <a:spAutoFit/>
          </a:bodyPr>
          <a:lstStyle/>
          <a:p>
            <a:pPr fontAlgn="ctr">
              <a:lnSpc>
                <a:spcPct val="100000"/>
              </a:lnSpc>
            </a:pPr>
            <a:r>
              <a:rPr lang="zh-CN" altLang="en-US" sz="2500" b="1">
                <a:solidFill>
                  <a:schemeClr val="accent1"/>
                </a:solidFill>
                <a:latin typeface="微软雅黑" panose="020B0503020204020204" charset="-122"/>
                <a:ea typeface="微软雅黑" panose="020B0503020204020204" charset="-122"/>
                <a:cs typeface="微软雅黑" panose="020B0503020204020204" charset="-122"/>
                <a:sym typeface="+mn-ea"/>
              </a:rPr>
              <a:t>使用模板时：</a:t>
            </a:r>
            <a:r>
              <a:rPr lang="zh-CN" altLang="en-US" sz="2500" b="1">
                <a:solidFill>
                  <a:schemeClr val="tx2"/>
                </a:solidFill>
                <a:latin typeface="微软雅黑" panose="020B0503020204020204" charset="-122"/>
                <a:ea typeface="微软雅黑" panose="020B0503020204020204" charset="-122"/>
                <a:cs typeface="微软雅黑" panose="020B0503020204020204" charset="-122"/>
                <a:sym typeface="+mn-ea"/>
              </a:rPr>
              <a:t>如何一键修改整套</a:t>
            </a:r>
            <a:r>
              <a:rPr lang="en-US" altLang="zh-CN" sz="2500" b="1">
                <a:solidFill>
                  <a:schemeClr val="tx2"/>
                </a:solidFill>
                <a:latin typeface="微软雅黑" panose="020B0503020204020204" charset="-122"/>
                <a:ea typeface="微软雅黑" panose="020B0503020204020204" charset="-122"/>
                <a:cs typeface="微软雅黑" panose="020B0503020204020204" charset="-122"/>
                <a:sym typeface="+mn-ea"/>
              </a:rPr>
              <a:t>PPT</a:t>
            </a:r>
            <a:r>
              <a:rPr lang="zh-CN" altLang="en-US" sz="2500" b="1">
                <a:solidFill>
                  <a:schemeClr val="tx2"/>
                </a:solidFill>
                <a:latin typeface="微软雅黑" panose="020B0503020204020204" charset="-122"/>
                <a:ea typeface="微软雅黑" panose="020B0503020204020204" charset="-122"/>
                <a:cs typeface="微软雅黑" panose="020B0503020204020204" charset="-122"/>
                <a:sym typeface="+mn-ea"/>
              </a:rPr>
              <a:t>的颜色？</a:t>
            </a:r>
            <a:endParaRPr lang="zh-CN" altLang="en-US" sz="2500" b="1">
              <a:solidFill>
                <a:schemeClr val="tx2"/>
              </a:solidFill>
              <a:latin typeface="微软雅黑" panose="020B0503020204020204" charset="-122"/>
              <a:ea typeface="微软雅黑" panose="020B0503020204020204" charset="-122"/>
              <a:cs typeface="微软雅黑" panose="020B0503020204020204" charset="-122"/>
              <a:sym typeface="+mn-ea"/>
            </a:endParaRPr>
          </a:p>
        </p:txBody>
      </p:sp>
      <p:cxnSp>
        <p:nvCxnSpPr>
          <p:cNvPr id="21"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圆角矩形 31"/>
          <p:cNvSpPr/>
          <p:nvPr>
            <p:custDataLst>
              <p:tags r:id="rId1"/>
            </p:custDataLst>
          </p:nvPr>
        </p:nvSpPr>
        <p:spPr>
          <a:xfrm>
            <a:off x="36893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34" name="文本框 33"/>
          <p:cNvSpPr txBox="1"/>
          <p:nvPr>
            <p:custDataLst>
              <p:tags r:id="rId2"/>
            </p:custDataLst>
          </p:nvPr>
        </p:nvSpPr>
        <p:spPr>
          <a:xfrm>
            <a:off x="520065" y="1563370"/>
            <a:ext cx="5454650" cy="1076325"/>
          </a:xfrm>
          <a:prstGeom prst="rect">
            <a:avLst/>
          </a:prstGeom>
          <a:noFill/>
        </p:spPr>
        <p:txBody>
          <a:bodyPr wrap="square" rtlCol="0" anchor="ctr" anchorCtr="0">
            <a:spAutoFit/>
          </a:bodyPr>
          <a:lstStyle/>
          <a:p>
            <a:pPr fontAlgn="ctr">
              <a:lnSpc>
                <a:spcPct val="100000"/>
              </a:lnSpc>
            </a:pP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①</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点击</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设计</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选项卡，选择</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配色方案</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选项，选择【更多配色方案】，</a:t>
            </a:r>
            <a:r>
              <a:rPr lang="zh-CN" sz="1600">
                <a:solidFill>
                  <a:schemeClr val="tx2"/>
                </a:solidFill>
                <a:latin typeface="微软雅黑" panose="020B0503020204020204" charset="-122"/>
                <a:ea typeface="微软雅黑" panose="020B0503020204020204" charset="-122"/>
                <a:cs typeface="微软雅黑" panose="020B0503020204020204" charset="-122"/>
                <a:sym typeface="+mn-ea"/>
              </a:rPr>
              <a:t>里面有本模板已经设定好的多种配色</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点击【使用】即可一键全部替换。选择【自定义】也可配置自己的常用色。</a:t>
            </a:r>
            <a:endPar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38" name="圆角矩形 37"/>
          <p:cNvSpPr/>
          <p:nvPr>
            <p:custDataLst>
              <p:tags r:id="rId3"/>
            </p:custDataLst>
          </p:nvPr>
        </p:nvSpPr>
        <p:spPr>
          <a:xfrm>
            <a:off x="636968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pic>
        <p:nvPicPr>
          <p:cNvPr id="2" name="图片 1"/>
          <p:cNvPicPr>
            <a:picLocks noChangeAspect="1"/>
          </p:cNvPicPr>
          <p:nvPr>
            <p:custDataLst>
              <p:tags r:id="rId4"/>
            </p:custDataLst>
          </p:nvPr>
        </p:nvPicPr>
        <p:blipFill>
          <a:blip r:embed="rId5"/>
          <a:srcRect r="1191" b="22551"/>
          <a:stretch>
            <a:fillRect/>
          </a:stretch>
        </p:blipFill>
        <p:spPr>
          <a:xfrm>
            <a:off x="431800" y="2770505"/>
            <a:ext cx="5319395" cy="2425065"/>
          </a:xfrm>
          <a:prstGeom prst="rect">
            <a:avLst/>
          </a:prstGeom>
        </p:spPr>
      </p:pic>
      <p:sp>
        <p:nvSpPr>
          <p:cNvPr id="4" name="文本框 3"/>
          <p:cNvSpPr txBox="1"/>
          <p:nvPr>
            <p:custDataLst>
              <p:tags r:id="rId6"/>
            </p:custDataLst>
          </p:nvPr>
        </p:nvSpPr>
        <p:spPr>
          <a:xfrm>
            <a:off x="2306320" y="1234758"/>
            <a:ext cx="1753235" cy="398780"/>
          </a:xfrm>
          <a:prstGeom prst="rect">
            <a:avLst/>
          </a:prstGeom>
          <a:noFill/>
        </p:spPr>
        <p:txBody>
          <a:bodyPr wrap="square" rtlCol="0" anchor="ctr" anchorCtr="0">
            <a:spAutoFit/>
          </a:bodyPr>
          <a:lstStyle/>
          <a:p>
            <a:pPr fontAlgn="ctr">
              <a:lnSpc>
                <a:spcPct val="100000"/>
              </a:lnSpc>
            </a:pPr>
            <a:r>
              <a:rPr lang="en-US" altLang="zh-CN" sz="2000" b="1">
                <a:solidFill>
                  <a:schemeClr val="accent1"/>
                </a:solidFill>
                <a:latin typeface="微软雅黑" panose="020B0503020204020204" charset="-122"/>
                <a:ea typeface="微软雅黑" panose="020B0503020204020204" charset="-122"/>
                <a:cs typeface="微软雅黑" panose="020B0503020204020204" charset="-122"/>
                <a:sym typeface="+mn-ea"/>
              </a:rPr>
              <a:t>WPS</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版本</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7"/>
            </p:custDataLst>
          </p:nvPr>
        </p:nvPicPr>
        <p:blipFill>
          <a:blip r:embed="rId8"/>
          <a:stretch>
            <a:fillRect/>
          </a:stretch>
        </p:blipFill>
        <p:spPr>
          <a:xfrm>
            <a:off x="1367790" y="3487420"/>
            <a:ext cx="2376170" cy="2754630"/>
          </a:xfrm>
          <a:prstGeom prst="rect">
            <a:avLst/>
          </a:prstGeom>
        </p:spPr>
      </p:pic>
      <p:sp>
        <p:nvSpPr>
          <p:cNvPr id="6" name="文本框 5"/>
          <p:cNvSpPr txBox="1"/>
          <p:nvPr>
            <p:custDataLst>
              <p:tags r:id="rId9"/>
            </p:custDataLst>
          </p:nvPr>
        </p:nvSpPr>
        <p:spPr>
          <a:xfrm>
            <a:off x="6438900" y="1686560"/>
            <a:ext cx="5454650" cy="829945"/>
          </a:xfrm>
          <a:prstGeom prst="rect">
            <a:avLst/>
          </a:prstGeom>
          <a:noFill/>
        </p:spPr>
        <p:txBody>
          <a:bodyPr wrap="square" rtlCol="0" anchor="ctr" anchorCtr="0">
            <a:spAutoFit/>
          </a:bodyPr>
          <a:lstStyle/>
          <a:p>
            <a:pPr fontAlgn="ctr">
              <a:lnSpc>
                <a:spcPct val="100000"/>
              </a:lnSpc>
            </a:pP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①</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点击</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设计</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选项卡，找到【变体】选择</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颜色</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选项，</a:t>
            </a:r>
            <a:r>
              <a:rPr lang="zh-CN" sz="1600">
                <a:solidFill>
                  <a:schemeClr val="tx2"/>
                </a:solidFill>
                <a:latin typeface="微软雅黑" panose="020B0503020204020204" charset="-122"/>
                <a:ea typeface="微软雅黑" panose="020B0503020204020204" charset="-122"/>
                <a:cs typeface="微软雅黑" panose="020B0503020204020204" charset="-122"/>
                <a:sym typeface="+mn-ea"/>
              </a:rPr>
              <a:t>里面有本模板已经设定好的多种配色</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点击其中一种颜色即可一键全部替换。选择【自定义】也可配置自己的颜色。</a:t>
            </a:r>
            <a:endPar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custDataLst>
              <p:tags r:id="rId10"/>
            </p:custDataLst>
          </p:nvPr>
        </p:nvSpPr>
        <p:spPr>
          <a:xfrm>
            <a:off x="8225155" y="1234758"/>
            <a:ext cx="1753235" cy="398780"/>
          </a:xfrm>
          <a:prstGeom prst="rect">
            <a:avLst/>
          </a:prstGeom>
          <a:noFill/>
        </p:spPr>
        <p:txBody>
          <a:bodyPr wrap="square" rtlCol="0" anchor="ctr" anchorCtr="0">
            <a:spAutoFit/>
          </a:bodyPr>
          <a:lstStyle/>
          <a:p>
            <a:pPr fontAlgn="ctr">
              <a:lnSpc>
                <a:spcPct val="100000"/>
              </a:lnSpc>
            </a:pPr>
            <a:r>
              <a:rPr lang="en-US" altLang="zh-CN" sz="2000" b="1">
                <a:solidFill>
                  <a:schemeClr val="accent1"/>
                </a:solidFill>
                <a:latin typeface="微软雅黑" panose="020B0503020204020204" charset="-122"/>
                <a:ea typeface="微软雅黑" panose="020B0503020204020204" charset="-122"/>
                <a:cs typeface="微软雅黑" panose="020B0503020204020204" charset="-122"/>
                <a:sym typeface="+mn-ea"/>
              </a:rPr>
              <a:t>office</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版本</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pic>
        <p:nvPicPr>
          <p:cNvPr id="8" name="图片 7"/>
          <p:cNvPicPr>
            <a:picLocks noChangeAspect="1"/>
          </p:cNvPicPr>
          <p:nvPr>
            <p:custDataLst>
              <p:tags r:id="rId11"/>
            </p:custDataLst>
          </p:nvPr>
        </p:nvPicPr>
        <p:blipFill>
          <a:blip r:embed="rId12"/>
          <a:stretch>
            <a:fillRect/>
          </a:stretch>
        </p:blipFill>
        <p:spPr>
          <a:xfrm>
            <a:off x="6579870" y="2639695"/>
            <a:ext cx="5171440" cy="2321560"/>
          </a:xfrm>
          <a:prstGeom prst="rect">
            <a:avLst/>
          </a:prstGeom>
        </p:spPr>
      </p:pic>
      <p:pic>
        <p:nvPicPr>
          <p:cNvPr id="9" name="图片 8"/>
          <p:cNvPicPr>
            <a:picLocks noChangeAspect="1"/>
          </p:cNvPicPr>
          <p:nvPr/>
        </p:nvPicPr>
        <p:blipFill>
          <a:blip r:embed="rId13"/>
          <a:stretch>
            <a:fillRect/>
          </a:stretch>
        </p:blipFill>
        <p:spPr>
          <a:xfrm>
            <a:off x="8391525" y="3858895"/>
            <a:ext cx="2294890" cy="24422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368935" y="306388"/>
            <a:ext cx="7585710" cy="475615"/>
          </a:xfrm>
          <a:prstGeom prst="rect">
            <a:avLst/>
          </a:prstGeom>
          <a:noFill/>
        </p:spPr>
        <p:txBody>
          <a:bodyPr wrap="square" rtlCol="0" anchor="ctr" anchorCtr="0">
            <a:spAutoFit/>
          </a:bodyPr>
          <a:lstStyle/>
          <a:p>
            <a:pPr fontAlgn="ctr">
              <a:lnSpc>
                <a:spcPct val="100000"/>
              </a:lnSpc>
            </a:pPr>
            <a:r>
              <a:rPr lang="zh-CN" altLang="en-US" sz="2500" b="1">
                <a:solidFill>
                  <a:schemeClr val="accent1"/>
                </a:solidFill>
                <a:latin typeface="微软雅黑" panose="020B0503020204020204" charset="-122"/>
                <a:ea typeface="微软雅黑" panose="020B0503020204020204" charset="-122"/>
                <a:cs typeface="微软雅黑" panose="020B0503020204020204" charset="-122"/>
                <a:sym typeface="+mn-ea"/>
              </a:rPr>
              <a:t>使用模板时：</a:t>
            </a:r>
            <a:r>
              <a:rPr lang="zh-CN" altLang="en-US" sz="2500" b="1">
                <a:solidFill>
                  <a:schemeClr val="tx2"/>
                </a:solidFill>
                <a:latin typeface="微软雅黑" panose="020B0503020204020204" charset="-122"/>
                <a:ea typeface="微软雅黑" panose="020B0503020204020204" charset="-122"/>
                <a:cs typeface="微软雅黑" panose="020B0503020204020204" charset="-122"/>
                <a:sym typeface="+mn-ea"/>
              </a:rPr>
              <a:t>如何一键去除右上角的logo？</a:t>
            </a:r>
            <a:endParaRPr lang="zh-CN" altLang="en-US" sz="2500" b="1">
              <a:solidFill>
                <a:schemeClr val="tx2"/>
              </a:solidFill>
              <a:latin typeface="微软雅黑" panose="020B0503020204020204" charset="-122"/>
              <a:ea typeface="微软雅黑" panose="020B0503020204020204" charset="-122"/>
              <a:cs typeface="微软雅黑" panose="020B0503020204020204" charset="-122"/>
              <a:sym typeface="+mn-ea"/>
            </a:endParaRPr>
          </a:p>
        </p:txBody>
      </p:sp>
      <p:cxnSp>
        <p:nvCxnSpPr>
          <p:cNvPr id="21"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圆角矩形 31"/>
          <p:cNvSpPr/>
          <p:nvPr>
            <p:custDataLst>
              <p:tags r:id="rId1"/>
            </p:custDataLst>
          </p:nvPr>
        </p:nvSpPr>
        <p:spPr>
          <a:xfrm>
            <a:off x="36893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pic>
        <p:nvPicPr>
          <p:cNvPr id="33" name="图片 32"/>
          <p:cNvPicPr>
            <a:picLocks noChangeAspect="1"/>
          </p:cNvPicPr>
          <p:nvPr>
            <p:custDataLst>
              <p:tags r:id="rId2"/>
            </p:custDataLst>
          </p:nvPr>
        </p:nvPicPr>
        <p:blipFill>
          <a:blip r:embed="rId3"/>
          <a:srcRect r="1364" b="46622"/>
          <a:stretch>
            <a:fillRect/>
          </a:stretch>
        </p:blipFill>
        <p:spPr>
          <a:xfrm>
            <a:off x="641985" y="2576830"/>
            <a:ext cx="5029835" cy="1704340"/>
          </a:xfrm>
          <a:prstGeom prst="rect">
            <a:avLst/>
          </a:prstGeom>
        </p:spPr>
      </p:pic>
      <p:sp>
        <p:nvSpPr>
          <p:cNvPr id="34" name="文本框 33"/>
          <p:cNvSpPr txBox="1"/>
          <p:nvPr>
            <p:custDataLst>
              <p:tags r:id="rId4"/>
            </p:custDataLst>
          </p:nvPr>
        </p:nvSpPr>
        <p:spPr>
          <a:xfrm>
            <a:off x="641985" y="1610360"/>
            <a:ext cx="5116195" cy="829945"/>
          </a:xfrm>
          <a:prstGeom prst="rect">
            <a:avLst/>
          </a:prstGeom>
          <a:noFill/>
        </p:spPr>
        <p:txBody>
          <a:bodyPr wrap="square" rtlCol="0" anchor="ctr" anchorCtr="0">
            <a:spAutoFit/>
          </a:bodyPr>
          <a:lstStyle/>
          <a:p>
            <a:pPr fontAlgn="ctr">
              <a:lnSpc>
                <a:spcPct val="100000"/>
              </a:lnSpc>
            </a:pP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①</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点击</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设计</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选项卡，选择</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母版</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选项，进入母版视图。</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②</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进入母版视图后，右击logo选择删除，点击</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关闭</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幻灯片母版视图即可</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a:t>
            </a:r>
            <a:endPar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38" name="圆角矩形 37"/>
          <p:cNvSpPr/>
          <p:nvPr>
            <p:custDataLst>
              <p:tags r:id="rId5"/>
            </p:custDataLst>
          </p:nvPr>
        </p:nvSpPr>
        <p:spPr>
          <a:xfrm>
            <a:off x="636968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pic>
        <p:nvPicPr>
          <p:cNvPr id="39" name="图片 38"/>
          <p:cNvPicPr>
            <a:picLocks noChangeAspect="1"/>
          </p:cNvPicPr>
          <p:nvPr>
            <p:custDataLst>
              <p:tags r:id="rId6"/>
            </p:custDataLst>
          </p:nvPr>
        </p:nvPicPr>
        <p:blipFill>
          <a:blip r:embed="rId7"/>
          <a:srcRect l="2160" t="-2686" r="934" b="33542"/>
          <a:stretch>
            <a:fillRect/>
          </a:stretch>
        </p:blipFill>
        <p:spPr>
          <a:xfrm>
            <a:off x="641985" y="4417695"/>
            <a:ext cx="4970145" cy="1762760"/>
          </a:xfrm>
          <a:prstGeom prst="rect">
            <a:avLst/>
          </a:prstGeom>
        </p:spPr>
      </p:pic>
      <p:sp>
        <p:nvSpPr>
          <p:cNvPr id="2" name="文本框 1"/>
          <p:cNvSpPr txBox="1"/>
          <p:nvPr>
            <p:custDataLst>
              <p:tags r:id="rId8"/>
            </p:custDataLst>
          </p:nvPr>
        </p:nvSpPr>
        <p:spPr>
          <a:xfrm>
            <a:off x="2306320" y="1234758"/>
            <a:ext cx="1753235" cy="398780"/>
          </a:xfrm>
          <a:prstGeom prst="rect">
            <a:avLst/>
          </a:prstGeom>
          <a:noFill/>
        </p:spPr>
        <p:txBody>
          <a:bodyPr wrap="square" rtlCol="0" anchor="ctr" anchorCtr="0">
            <a:spAutoFit/>
          </a:bodyPr>
          <a:lstStyle/>
          <a:p>
            <a:pPr fontAlgn="ctr">
              <a:lnSpc>
                <a:spcPct val="100000"/>
              </a:lnSpc>
            </a:pPr>
            <a:r>
              <a:rPr lang="en-US" altLang="zh-CN" sz="2000" b="1">
                <a:solidFill>
                  <a:schemeClr val="accent1"/>
                </a:solidFill>
                <a:latin typeface="微软雅黑" panose="020B0503020204020204" charset="-122"/>
                <a:ea typeface="微软雅黑" panose="020B0503020204020204" charset="-122"/>
                <a:cs typeface="微软雅黑" panose="020B0503020204020204" charset="-122"/>
                <a:sym typeface="+mn-ea"/>
              </a:rPr>
              <a:t>WPS</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版本</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custDataLst>
              <p:tags r:id="rId9"/>
            </p:custDataLst>
          </p:nvPr>
        </p:nvSpPr>
        <p:spPr>
          <a:xfrm>
            <a:off x="6771640" y="1572895"/>
            <a:ext cx="5116195" cy="829945"/>
          </a:xfrm>
          <a:prstGeom prst="rect">
            <a:avLst/>
          </a:prstGeom>
          <a:noFill/>
        </p:spPr>
        <p:txBody>
          <a:bodyPr wrap="square" rtlCol="0" anchor="ctr" anchorCtr="0">
            <a:spAutoFit/>
          </a:bodyPr>
          <a:lstStyle/>
          <a:p>
            <a:pPr fontAlgn="ctr">
              <a:lnSpc>
                <a:spcPct val="100000"/>
              </a:lnSpc>
            </a:pPr>
            <a:r>
              <a:rPr lang="en-US"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①</a:t>
            </a:r>
            <a:r>
              <a:rPr lang="en-US" altLang="zh-CN" sz="1600" dirty="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点击【试图】选项卡，选择【幻灯片母版】选项，进入母版视图。</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②</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进入母版视图后，右击logo选择删除，点击</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关闭</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幻灯片母版视图即可。</a:t>
            </a:r>
            <a:endPar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4" name="文本框 3"/>
          <p:cNvSpPr txBox="1"/>
          <p:nvPr>
            <p:custDataLst>
              <p:tags r:id="rId10"/>
            </p:custDataLst>
          </p:nvPr>
        </p:nvSpPr>
        <p:spPr>
          <a:xfrm>
            <a:off x="8435975" y="1197293"/>
            <a:ext cx="1753235" cy="398780"/>
          </a:xfrm>
          <a:prstGeom prst="rect">
            <a:avLst/>
          </a:prstGeom>
          <a:noFill/>
        </p:spPr>
        <p:txBody>
          <a:bodyPr wrap="square" rtlCol="0" anchor="ctr" anchorCtr="0">
            <a:spAutoFit/>
          </a:bodyPr>
          <a:lstStyle/>
          <a:p>
            <a:pPr fontAlgn="ctr">
              <a:lnSpc>
                <a:spcPct val="100000"/>
              </a:lnSpc>
            </a:pPr>
            <a:r>
              <a:rPr lang="en-US" altLang="zh-CN" sz="2000" b="1">
                <a:solidFill>
                  <a:schemeClr val="accent1"/>
                </a:solidFill>
                <a:latin typeface="微软雅黑" panose="020B0503020204020204" charset="-122"/>
                <a:ea typeface="微软雅黑" panose="020B0503020204020204" charset="-122"/>
                <a:cs typeface="微软雅黑" panose="020B0503020204020204" charset="-122"/>
                <a:sym typeface="+mn-ea"/>
              </a:rPr>
              <a:t>office</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版本</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11"/>
            </p:custDataLst>
          </p:nvPr>
        </p:nvPicPr>
        <p:blipFill>
          <a:blip r:embed="rId12"/>
          <a:srcRect t="1212" b="49421"/>
          <a:stretch>
            <a:fillRect/>
          </a:stretch>
        </p:blipFill>
        <p:spPr>
          <a:xfrm>
            <a:off x="6507480" y="2618740"/>
            <a:ext cx="5321300" cy="1706880"/>
          </a:xfrm>
          <a:prstGeom prst="rect">
            <a:avLst/>
          </a:prstGeom>
        </p:spPr>
      </p:pic>
      <p:pic>
        <p:nvPicPr>
          <p:cNvPr id="6" name="图片 5"/>
          <p:cNvPicPr>
            <a:picLocks noChangeAspect="1"/>
          </p:cNvPicPr>
          <p:nvPr>
            <p:custDataLst>
              <p:tags r:id="rId13"/>
            </p:custDataLst>
          </p:nvPr>
        </p:nvPicPr>
        <p:blipFill>
          <a:blip r:embed="rId14"/>
          <a:srcRect t="401" r="6963" b="47355"/>
          <a:stretch>
            <a:fillRect/>
          </a:stretch>
        </p:blipFill>
        <p:spPr>
          <a:xfrm>
            <a:off x="6507480" y="4490085"/>
            <a:ext cx="5332730" cy="16179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1619885" y="447358"/>
            <a:ext cx="6458585" cy="553085"/>
          </a:xfrm>
          <a:prstGeom prst="rect">
            <a:avLst/>
          </a:prstGeom>
          <a:noFill/>
        </p:spPr>
        <p:txBody>
          <a:bodyPr wrap="square" rtlCol="0" anchor="ctr" anchorCtr="0">
            <a:spAutoFit/>
          </a:bodyPr>
          <a:lstStyle/>
          <a:p>
            <a:pPr fontAlgn="ctr">
              <a:lnSpc>
                <a:spcPct val="100000"/>
              </a:lnSpc>
            </a:pPr>
            <a:r>
              <a:rPr lang="en-US" altLang="zh-CN" sz="3000" b="1">
                <a:solidFill>
                  <a:schemeClr val="tx2">
                    <a:lumMod val="60000"/>
                    <a:lumOff val="40000"/>
                  </a:schemeClr>
                </a:solidFill>
                <a:latin typeface="+mj-lt"/>
                <a:ea typeface="微软雅黑" panose="020B0503020204020204" charset="-122"/>
                <a:cs typeface="+mj-lt"/>
                <a:sym typeface="+mn-ea"/>
              </a:rPr>
              <a:t>CONTENTS</a:t>
            </a:r>
            <a:endParaRPr lang="en-US" altLang="zh-CN" sz="3000" b="1">
              <a:solidFill>
                <a:schemeClr val="tx2">
                  <a:lumMod val="60000"/>
                  <a:lumOff val="40000"/>
                </a:schemeClr>
              </a:solidFill>
              <a:latin typeface="+mj-lt"/>
              <a:ea typeface="微软雅黑" panose="020B0503020204020204" charset="-122"/>
              <a:cs typeface="+mj-lt"/>
              <a:sym typeface="+mn-ea"/>
            </a:endParaRPr>
          </a:p>
        </p:txBody>
      </p:sp>
      <p:sp>
        <p:nvSpPr>
          <p:cNvPr id="26" name="文本框 25"/>
          <p:cNvSpPr txBox="1"/>
          <p:nvPr/>
        </p:nvSpPr>
        <p:spPr>
          <a:xfrm>
            <a:off x="415925" y="370840"/>
            <a:ext cx="1203960" cy="706755"/>
          </a:xfrm>
          <a:prstGeom prst="rect">
            <a:avLst/>
          </a:prstGeom>
          <a:noFill/>
        </p:spPr>
        <p:txBody>
          <a:bodyPr wrap="square" rtlCol="0" anchor="ctr" anchorCtr="0">
            <a:spAutoFit/>
          </a:bodyPr>
          <a:lstStyle/>
          <a:p>
            <a:pPr fontAlgn="ctr">
              <a:lnSpc>
                <a:spcPct val="100000"/>
              </a:lnSpc>
            </a:pPr>
            <a:r>
              <a:rPr lang="zh-CN" altLang="en-US" sz="4000" b="1">
                <a:solidFill>
                  <a:schemeClr val="accent1"/>
                </a:solidFill>
                <a:latin typeface="微软雅黑" panose="020B0503020204020204" charset="-122"/>
                <a:ea typeface="微软雅黑" panose="020B0503020204020204" charset="-122"/>
                <a:cs typeface="微软雅黑" panose="020B0503020204020204" charset="-122"/>
                <a:sym typeface="+mn-ea"/>
              </a:rPr>
              <a:t>目录</a:t>
            </a:r>
            <a:endParaRPr lang="zh-CN" altLang="en-US" sz="4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2" name="矩形 1"/>
          <p:cNvSpPr/>
          <p:nvPr>
            <p:custDataLst>
              <p:tags r:id="rId1"/>
            </p:custDataLst>
          </p:nvPr>
        </p:nvSpPr>
        <p:spPr>
          <a:xfrm>
            <a:off x="707390" y="1388745"/>
            <a:ext cx="3366135" cy="2374265"/>
          </a:xfrm>
          <a:prstGeom prst="rect">
            <a:avLst/>
          </a:prstGeom>
          <a:solidFill>
            <a:schemeClr val="accent1">
              <a:lumMod val="20000"/>
              <a:lumOff val="80000"/>
              <a:alpha val="40000"/>
            </a:schemeClr>
          </a:solidFill>
          <a:ln>
            <a:solidFill>
              <a:schemeClr val="accent1">
                <a:alpha val="50000"/>
              </a:schemeClr>
            </a:solid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41" name="文本框 40"/>
          <p:cNvSpPr txBox="1"/>
          <p:nvPr>
            <p:custDataLst>
              <p:tags r:id="rId2"/>
            </p:custDataLst>
          </p:nvPr>
        </p:nvSpPr>
        <p:spPr>
          <a:xfrm>
            <a:off x="707390" y="1995170"/>
            <a:ext cx="3366135" cy="398780"/>
          </a:xfrm>
          <a:prstGeom prst="rect">
            <a:avLst/>
          </a:prstGeom>
          <a:noFill/>
        </p:spPr>
        <p:txBody>
          <a:bodyPr wrap="square" rtlCol="0" anchor="ctr" anchorCtr="0">
            <a:spAutoFit/>
          </a:bodyPr>
          <a:lstStyle/>
          <a:p>
            <a:pPr algn="ctr" fontAlgn="ctr">
              <a:lnSpc>
                <a:spcPct val="100000"/>
              </a:lnSpc>
            </a:pPr>
            <a:r>
              <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屋顶</a:t>
            </a:r>
            <a:r>
              <a:rPr lang="en-US" alt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战略屋架构</a:t>
            </a:r>
            <a:endPar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42" name="文本框 41"/>
          <p:cNvSpPr txBox="1"/>
          <p:nvPr>
            <p:custDataLst>
              <p:tags r:id="rId3"/>
            </p:custDataLst>
          </p:nvPr>
        </p:nvSpPr>
        <p:spPr>
          <a:xfrm>
            <a:off x="1867535" y="1479550"/>
            <a:ext cx="1046480" cy="553085"/>
          </a:xfrm>
          <a:prstGeom prst="rect">
            <a:avLst/>
          </a:prstGeom>
          <a:noFill/>
        </p:spPr>
        <p:txBody>
          <a:bodyPr wrap="square" rtlCol="0" anchor="ctr" anchorCtr="0">
            <a:spAutoFit/>
          </a:bodyPr>
          <a:lstStyle/>
          <a:p>
            <a:pPr lvl="0" algn="ctr" fontAlgn="ctr">
              <a:buClrTx/>
              <a:buSzTx/>
              <a:buFontTx/>
            </a:pPr>
            <a:r>
              <a:rPr lang="en-US" altLang="zh-CN"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①</a:t>
            </a:r>
            <a:endParaRPr lang="en-US" altLang="zh-CN"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67" name="矩形 66"/>
          <p:cNvSpPr/>
          <p:nvPr>
            <p:custDataLst>
              <p:tags r:id="rId4"/>
            </p:custDataLst>
          </p:nvPr>
        </p:nvSpPr>
        <p:spPr>
          <a:xfrm>
            <a:off x="4485640" y="1388745"/>
            <a:ext cx="3366135" cy="2374265"/>
          </a:xfrm>
          <a:prstGeom prst="rect">
            <a:avLst/>
          </a:prstGeom>
          <a:solidFill>
            <a:schemeClr val="accent1">
              <a:lumMod val="20000"/>
              <a:lumOff val="80000"/>
              <a:alpha val="40000"/>
            </a:schemeClr>
          </a:solidFill>
          <a:ln>
            <a:solidFill>
              <a:schemeClr val="accent1">
                <a:alpha val="50000"/>
              </a:schemeClr>
            </a:solid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6" name="文本框 75"/>
          <p:cNvSpPr txBox="1"/>
          <p:nvPr>
            <p:custDataLst>
              <p:tags r:id="rId5"/>
            </p:custDataLst>
          </p:nvPr>
        </p:nvSpPr>
        <p:spPr>
          <a:xfrm>
            <a:off x="4485640" y="1995170"/>
            <a:ext cx="3366135" cy="398780"/>
          </a:xfrm>
          <a:prstGeom prst="rect">
            <a:avLst/>
          </a:prstGeom>
          <a:noFill/>
        </p:spPr>
        <p:txBody>
          <a:bodyPr wrap="square" rtlCol="0" anchor="ctr" anchorCtr="0">
            <a:spAutoFit/>
          </a:bodyPr>
          <a:lstStyle/>
          <a:p>
            <a:pPr algn="ctr" fontAlgn="ctr">
              <a:lnSpc>
                <a:spcPct val="100000"/>
              </a:lnSpc>
            </a:pPr>
            <a:r>
              <a:rPr 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多层平台架构</a:t>
            </a:r>
            <a:endParaRPr 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77" name="文本框 76"/>
          <p:cNvSpPr txBox="1"/>
          <p:nvPr>
            <p:custDataLst>
              <p:tags r:id="rId6"/>
            </p:custDataLst>
          </p:nvPr>
        </p:nvSpPr>
        <p:spPr>
          <a:xfrm>
            <a:off x="5645785" y="1479550"/>
            <a:ext cx="1046480" cy="553085"/>
          </a:xfrm>
          <a:prstGeom prst="rect">
            <a:avLst/>
          </a:prstGeom>
          <a:noFill/>
        </p:spPr>
        <p:txBody>
          <a:bodyPr wrap="square" rtlCol="0" anchor="ctr" anchorCtr="0">
            <a:spAutoFit/>
          </a:bodyPr>
          <a:lstStyle/>
          <a:p>
            <a:pPr lvl="0" algn="ctr" fontAlgn="ctr">
              <a:buClrTx/>
              <a:buSzTx/>
              <a:buFontTx/>
            </a:pPr>
            <a:r>
              <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②</a:t>
            </a:r>
            <a:endPar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79" name="矩形 78"/>
          <p:cNvSpPr/>
          <p:nvPr>
            <p:custDataLst>
              <p:tags r:id="rId7"/>
            </p:custDataLst>
          </p:nvPr>
        </p:nvSpPr>
        <p:spPr>
          <a:xfrm>
            <a:off x="8268970" y="1389380"/>
            <a:ext cx="3366135" cy="2374265"/>
          </a:xfrm>
          <a:prstGeom prst="rect">
            <a:avLst/>
          </a:prstGeom>
          <a:solidFill>
            <a:schemeClr val="accent1">
              <a:lumMod val="20000"/>
              <a:lumOff val="80000"/>
              <a:alpha val="40000"/>
            </a:schemeClr>
          </a:solidFill>
          <a:ln>
            <a:solidFill>
              <a:schemeClr val="accent1">
                <a:alpha val="50000"/>
              </a:schemeClr>
            </a:solid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88" name="文本框 87"/>
          <p:cNvSpPr txBox="1"/>
          <p:nvPr>
            <p:custDataLst>
              <p:tags r:id="rId8"/>
            </p:custDataLst>
          </p:nvPr>
        </p:nvSpPr>
        <p:spPr>
          <a:xfrm>
            <a:off x="8268970" y="1995805"/>
            <a:ext cx="3366135" cy="398780"/>
          </a:xfrm>
          <a:prstGeom prst="rect">
            <a:avLst/>
          </a:prstGeom>
          <a:noFill/>
        </p:spPr>
        <p:txBody>
          <a:bodyPr wrap="square" rtlCol="0" anchor="ctr" anchorCtr="0">
            <a:spAutoFit/>
          </a:bodyPr>
          <a:lstStyle/>
          <a:p>
            <a:pPr algn="ctr" fontAlgn="ctr">
              <a:lnSpc>
                <a:spcPct val="100000"/>
              </a:lnSpc>
            </a:pPr>
            <a:r>
              <a:rPr 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中心发散</a:t>
            </a:r>
            <a:r>
              <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架构</a:t>
            </a:r>
            <a:endPar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89" name="文本框 88"/>
          <p:cNvSpPr txBox="1"/>
          <p:nvPr>
            <p:custDataLst>
              <p:tags r:id="rId9"/>
            </p:custDataLst>
          </p:nvPr>
        </p:nvSpPr>
        <p:spPr>
          <a:xfrm>
            <a:off x="9429115" y="1480185"/>
            <a:ext cx="1046480" cy="553085"/>
          </a:xfrm>
          <a:prstGeom prst="rect">
            <a:avLst/>
          </a:prstGeom>
          <a:noFill/>
        </p:spPr>
        <p:txBody>
          <a:bodyPr wrap="square" rtlCol="0" anchor="ctr" anchorCtr="0">
            <a:spAutoFit/>
          </a:bodyPr>
          <a:lstStyle/>
          <a:p>
            <a:pPr lvl="0" algn="ctr" fontAlgn="ctr">
              <a:buClrTx/>
              <a:buSzTx/>
              <a:buFontTx/>
            </a:pPr>
            <a:r>
              <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③</a:t>
            </a:r>
            <a:endPar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1" name="矩形 90"/>
          <p:cNvSpPr/>
          <p:nvPr>
            <p:custDataLst>
              <p:tags r:id="rId10"/>
            </p:custDataLst>
          </p:nvPr>
        </p:nvSpPr>
        <p:spPr>
          <a:xfrm>
            <a:off x="707390" y="4131945"/>
            <a:ext cx="3366135" cy="2374265"/>
          </a:xfrm>
          <a:prstGeom prst="rect">
            <a:avLst/>
          </a:prstGeom>
          <a:solidFill>
            <a:schemeClr val="accent1">
              <a:lumMod val="20000"/>
              <a:lumOff val="80000"/>
              <a:alpha val="40000"/>
            </a:schemeClr>
          </a:solidFill>
          <a:ln>
            <a:solidFill>
              <a:schemeClr val="accent1">
                <a:alpha val="50000"/>
              </a:schemeClr>
            </a:solid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00" name="文本框 99"/>
          <p:cNvSpPr txBox="1"/>
          <p:nvPr>
            <p:custDataLst>
              <p:tags r:id="rId11"/>
            </p:custDataLst>
          </p:nvPr>
        </p:nvSpPr>
        <p:spPr>
          <a:xfrm>
            <a:off x="707390" y="4738370"/>
            <a:ext cx="3366135" cy="398780"/>
          </a:xfrm>
          <a:prstGeom prst="rect">
            <a:avLst/>
          </a:prstGeom>
          <a:noFill/>
        </p:spPr>
        <p:txBody>
          <a:bodyPr wrap="square" rtlCol="0" anchor="ctr" anchorCtr="0">
            <a:spAutoFit/>
          </a:bodyPr>
          <a:lstStyle/>
          <a:p>
            <a:pPr algn="ctr" fontAlgn="ctr">
              <a:lnSpc>
                <a:spcPct val="100000"/>
              </a:lnSpc>
            </a:pPr>
            <a:r>
              <a:rPr 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循环逻辑</a:t>
            </a:r>
            <a:r>
              <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架构</a:t>
            </a:r>
            <a:endPar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01" name="文本框 100"/>
          <p:cNvSpPr txBox="1"/>
          <p:nvPr>
            <p:custDataLst>
              <p:tags r:id="rId12"/>
            </p:custDataLst>
          </p:nvPr>
        </p:nvSpPr>
        <p:spPr>
          <a:xfrm>
            <a:off x="1867535" y="4222750"/>
            <a:ext cx="1046480" cy="553085"/>
          </a:xfrm>
          <a:prstGeom prst="rect">
            <a:avLst/>
          </a:prstGeom>
          <a:noFill/>
        </p:spPr>
        <p:txBody>
          <a:bodyPr wrap="square" rtlCol="0" anchor="ctr" anchorCtr="0">
            <a:spAutoFit/>
          </a:bodyPr>
          <a:lstStyle/>
          <a:p>
            <a:pPr lvl="0" algn="ctr" fontAlgn="ctr">
              <a:buClrTx/>
              <a:buSzTx/>
              <a:buFontTx/>
            </a:pPr>
            <a:r>
              <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④</a:t>
            </a:r>
            <a:endPar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03" name="矩形 102"/>
          <p:cNvSpPr/>
          <p:nvPr>
            <p:custDataLst>
              <p:tags r:id="rId13"/>
            </p:custDataLst>
          </p:nvPr>
        </p:nvSpPr>
        <p:spPr>
          <a:xfrm>
            <a:off x="4485640" y="4131945"/>
            <a:ext cx="3366135" cy="2374265"/>
          </a:xfrm>
          <a:prstGeom prst="rect">
            <a:avLst/>
          </a:prstGeom>
          <a:solidFill>
            <a:schemeClr val="accent1">
              <a:lumMod val="20000"/>
              <a:lumOff val="80000"/>
              <a:alpha val="40000"/>
            </a:schemeClr>
          </a:solidFill>
          <a:ln>
            <a:solidFill>
              <a:schemeClr val="accent1">
                <a:alpha val="50000"/>
              </a:schemeClr>
            </a:solid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12" name="文本框 111"/>
          <p:cNvSpPr txBox="1"/>
          <p:nvPr>
            <p:custDataLst>
              <p:tags r:id="rId14"/>
            </p:custDataLst>
          </p:nvPr>
        </p:nvSpPr>
        <p:spPr>
          <a:xfrm>
            <a:off x="4485640" y="4738370"/>
            <a:ext cx="3366135" cy="398780"/>
          </a:xfrm>
          <a:prstGeom prst="rect">
            <a:avLst/>
          </a:prstGeom>
          <a:noFill/>
        </p:spPr>
        <p:txBody>
          <a:bodyPr wrap="square" rtlCol="0" anchor="ctr" anchorCtr="0">
            <a:spAutoFit/>
          </a:bodyPr>
          <a:lstStyle/>
          <a:p>
            <a:pPr algn="ctr" fontAlgn="ctr">
              <a:lnSpc>
                <a:spcPct val="100000"/>
              </a:lnSpc>
            </a:pPr>
            <a:r>
              <a:rPr 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业务流程</a:t>
            </a:r>
            <a:r>
              <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架构</a:t>
            </a:r>
            <a:endPar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13" name="文本框 112"/>
          <p:cNvSpPr txBox="1"/>
          <p:nvPr>
            <p:custDataLst>
              <p:tags r:id="rId15"/>
            </p:custDataLst>
          </p:nvPr>
        </p:nvSpPr>
        <p:spPr>
          <a:xfrm>
            <a:off x="5645785" y="4222750"/>
            <a:ext cx="1046480" cy="553085"/>
          </a:xfrm>
          <a:prstGeom prst="rect">
            <a:avLst/>
          </a:prstGeom>
          <a:noFill/>
        </p:spPr>
        <p:txBody>
          <a:bodyPr wrap="square" rtlCol="0" anchor="ctr" anchorCtr="0">
            <a:spAutoFit/>
          </a:bodyPr>
          <a:lstStyle/>
          <a:p>
            <a:pPr lvl="0" algn="ctr" fontAlgn="ctr">
              <a:buClrTx/>
              <a:buSzTx/>
              <a:buFontTx/>
            </a:pPr>
            <a:r>
              <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⑤</a:t>
            </a:r>
            <a:endPar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15" name="矩形 114"/>
          <p:cNvSpPr/>
          <p:nvPr>
            <p:custDataLst>
              <p:tags r:id="rId16"/>
            </p:custDataLst>
          </p:nvPr>
        </p:nvSpPr>
        <p:spPr>
          <a:xfrm>
            <a:off x="8268970" y="4132580"/>
            <a:ext cx="3366135" cy="2374265"/>
          </a:xfrm>
          <a:prstGeom prst="rect">
            <a:avLst/>
          </a:prstGeom>
          <a:solidFill>
            <a:schemeClr val="accent1">
              <a:lumMod val="20000"/>
              <a:lumOff val="80000"/>
              <a:alpha val="40000"/>
            </a:schemeClr>
          </a:solidFill>
          <a:ln>
            <a:solidFill>
              <a:schemeClr val="accent1">
                <a:alpha val="50000"/>
              </a:schemeClr>
            </a:solid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24" name="文本框 123"/>
          <p:cNvSpPr txBox="1"/>
          <p:nvPr>
            <p:custDataLst>
              <p:tags r:id="rId17"/>
            </p:custDataLst>
          </p:nvPr>
        </p:nvSpPr>
        <p:spPr>
          <a:xfrm>
            <a:off x="8268970" y="4739005"/>
            <a:ext cx="3366135" cy="398780"/>
          </a:xfrm>
          <a:prstGeom prst="rect">
            <a:avLst/>
          </a:prstGeom>
          <a:noFill/>
        </p:spPr>
        <p:txBody>
          <a:bodyPr wrap="square" rtlCol="0" anchor="ctr" anchorCtr="0">
            <a:spAutoFit/>
          </a:bodyPr>
          <a:lstStyle/>
          <a:p>
            <a:pPr algn="ctr" fontAlgn="ctr">
              <a:lnSpc>
                <a:spcPct val="100000"/>
              </a:lnSpc>
            </a:pPr>
            <a:r>
              <a:rPr 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时间流程</a:t>
            </a:r>
            <a:r>
              <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架构</a:t>
            </a:r>
            <a:endPar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25" name="文本框 124"/>
          <p:cNvSpPr txBox="1"/>
          <p:nvPr>
            <p:custDataLst>
              <p:tags r:id="rId18"/>
            </p:custDataLst>
          </p:nvPr>
        </p:nvSpPr>
        <p:spPr>
          <a:xfrm>
            <a:off x="9429115" y="4223385"/>
            <a:ext cx="1046480" cy="553085"/>
          </a:xfrm>
          <a:prstGeom prst="rect">
            <a:avLst/>
          </a:prstGeom>
          <a:noFill/>
        </p:spPr>
        <p:txBody>
          <a:bodyPr wrap="square" rtlCol="0" anchor="ctr" anchorCtr="0">
            <a:spAutoFit/>
          </a:bodyPr>
          <a:lstStyle/>
          <a:p>
            <a:pPr lvl="0" algn="ctr" fontAlgn="ctr">
              <a:buClrTx/>
              <a:buSzTx/>
              <a:buFontTx/>
            </a:pPr>
            <a:r>
              <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⑥</a:t>
            </a:r>
            <a:endPar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27" name="梯形 126"/>
          <p:cNvSpPr/>
          <p:nvPr>
            <p:custDataLst>
              <p:tags r:id="rId19"/>
            </p:custDataLst>
          </p:nvPr>
        </p:nvSpPr>
        <p:spPr>
          <a:xfrm>
            <a:off x="5431155" y="3411855"/>
            <a:ext cx="1583055" cy="71755"/>
          </a:xfrm>
          <a:prstGeom prst="trapezoid">
            <a:avLst>
              <a:gd name="adj" fmla="val 187465"/>
            </a:avLst>
          </a:prstGeom>
          <a:gradFill>
            <a:gsLst>
              <a:gs pos="0">
                <a:schemeClr val="accent1">
                  <a:lumMod val="60000"/>
                  <a:lumOff val="40000"/>
                  <a:alpha val="0"/>
                </a:schemeClr>
              </a:gs>
              <a:gs pos="100000">
                <a:schemeClr val="accent1">
                  <a:lumMod val="60000"/>
                  <a:lumOff val="40000"/>
                </a:schemeClr>
              </a:gs>
            </a:gsLst>
            <a:lin ang="5400000" scaled="1"/>
          </a:gra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28" name="梯形 127"/>
          <p:cNvSpPr/>
          <p:nvPr>
            <p:custDataLst>
              <p:tags r:id="rId20"/>
            </p:custDataLst>
          </p:nvPr>
        </p:nvSpPr>
        <p:spPr>
          <a:xfrm>
            <a:off x="5431155" y="3058795"/>
            <a:ext cx="1583055" cy="71755"/>
          </a:xfrm>
          <a:prstGeom prst="trapezoid">
            <a:avLst>
              <a:gd name="adj" fmla="val 187465"/>
            </a:avLst>
          </a:prstGeom>
          <a:gradFill>
            <a:gsLst>
              <a:gs pos="0">
                <a:schemeClr val="accent1">
                  <a:lumMod val="60000"/>
                  <a:lumOff val="40000"/>
                  <a:alpha val="0"/>
                </a:schemeClr>
              </a:gs>
              <a:gs pos="100000">
                <a:schemeClr val="accent1">
                  <a:lumMod val="60000"/>
                  <a:lumOff val="40000"/>
                </a:schemeClr>
              </a:gs>
            </a:gsLst>
            <a:lin ang="5400000" scaled="1"/>
          </a:gra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29" name="梯形 128"/>
          <p:cNvSpPr/>
          <p:nvPr>
            <p:custDataLst>
              <p:tags r:id="rId21"/>
            </p:custDataLst>
          </p:nvPr>
        </p:nvSpPr>
        <p:spPr>
          <a:xfrm>
            <a:off x="5431155" y="2705100"/>
            <a:ext cx="1583055" cy="71755"/>
          </a:xfrm>
          <a:prstGeom prst="trapezoid">
            <a:avLst>
              <a:gd name="adj" fmla="val 187465"/>
            </a:avLst>
          </a:prstGeom>
          <a:gradFill>
            <a:gsLst>
              <a:gs pos="0">
                <a:schemeClr val="accent1">
                  <a:lumMod val="60000"/>
                  <a:lumOff val="40000"/>
                  <a:alpha val="0"/>
                </a:schemeClr>
              </a:gs>
              <a:gs pos="100000">
                <a:schemeClr val="accent1">
                  <a:lumMod val="60000"/>
                  <a:lumOff val="40000"/>
                </a:schemeClr>
              </a:gs>
            </a:gsLst>
            <a:lin ang="5400000" scaled="1"/>
          </a:gra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30" name="Freeform 1482"/>
          <p:cNvSpPr/>
          <p:nvPr>
            <p:custDataLst>
              <p:tags r:id="rId22"/>
            </p:custDataLst>
          </p:nvPr>
        </p:nvSpPr>
        <p:spPr>
          <a:xfrm>
            <a:off x="5433695" y="3482340"/>
            <a:ext cx="1580515" cy="71755"/>
          </a:xfrm>
          <a:custGeom>
            <a:avLst/>
            <a:gdLst/>
            <a:ahLst/>
            <a:cxnLst/>
            <a:rect l="0" t="0" r="0" b="0"/>
            <a:pathLst>
              <a:path w="10750295" h="362712">
                <a:moveTo>
                  <a:pt x="0" y="362712"/>
                </a:moveTo>
                <a:lnTo>
                  <a:pt x="10750295" y="362712"/>
                </a:lnTo>
                <a:lnTo>
                  <a:pt x="10750295" y="0"/>
                </a:lnTo>
                <a:lnTo>
                  <a:pt x="0" y="0"/>
                </a:lnTo>
                <a:lnTo>
                  <a:pt x="0" y="362712"/>
                </a:lnTo>
                <a:close/>
              </a:path>
            </a:pathLst>
          </a:custGeom>
          <a:solidFill>
            <a:schemeClr val="accent1">
              <a:lumMod val="60000"/>
              <a:lumOff val="40000"/>
            </a:schemeClr>
          </a:solidFill>
          <a:ln w="3175" cap="flat" cmpd="sng" algn="ctr">
            <a:solidFill>
              <a:schemeClr val="bg1"/>
            </a:solid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31" name="Freeform 1484"/>
          <p:cNvSpPr/>
          <p:nvPr>
            <p:custDataLst>
              <p:tags r:id="rId23"/>
            </p:custDataLst>
          </p:nvPr>
        </p:nvSpPr>
        <p:spPr>
          <a:xfrm>
            <a:off x="5433695" y="3129280"/>
            <a:ext cx="1580515" cy="71755"/>
          </a:xfrm>
          <a:custGeom>
            <a:avLst/>
            <a:gdLst/>
            <a:ahLst/>
            <a:cxnLst/>
            <a:rect l="0" t="0" r="0" b="0"/>
            <a:pathLst>
              <a:path w="10750295" h="362712">
                <a:moveTo>
                  <a:pt x="0" y="362712"/>
                </a:moveTo>
                <a:lnTo>
                  <a:pt x="10750295" y="362712"/>
                </a:lnTo>
                <a:lnTo>
                  <a:pt x="10750295" y="0"/>
                </a:lnTo>
                <a:lnTo>
                  <a:pt x="0" y="0"/>
                </a:lnTo>
                <a:lnTo>
                  <a:pt x="0" y="362712"/>
                </a:lnTo>
                <a:close/>
              </a:path>
            </a:pathLst>
          </a:custGeom>
          <a:solidFill>
            <a:schemeClr val="accent1">
              <a:lumMod val="60000"/>
              <a:lumOff val="40000"/>
            </a:schemeClr>
          </a:solidFill>
          <a:ln w="3175" cap="flat" cmpd="sng" algn="ctr">
            <a:solidFill>
              <a:schemeClr val="bg1"/>
            </a:solid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32" name="Freeform 1486"/>
          <p:cNvSpPr/>
          <p:nvPr>
            <p:custDataLst>
              <p:tags r:id="rId24"/>
            </p:custDataLst>
          </p:nvPr>
        </p:nvSpPr>
        <p:spPr>
          <a:xfrm>
            <a:off x="5433695" y="2776855"/>
            <a:ext cx="1580515" cy="71755"/>
          </a:xfrm>
          <a:custGeom>
            <a:avLst/>
            <a:gdLst/>
            <a:ahLst/>
            <a:cxnLst/>
            <a:rect l="0" t="0" r="0" b="0"/>
            <a:pathLst>
              <a:path w="10750295" h="362712">
                <a:moveTo>
                  <a:pt x="0" y="362712"/>
                </a:moveTo>
                <a:lnTo>
                  <a:pt x="10750295" y="362712"/>
                </a:lnTo>
                <a:lnTo>
                  <a:pt x="10750295" y="0"/>
                </a:lnTo>
                <a:lnTo>
                  <a:pt x="0" y="0"/>
                </a:lnTo>
                <a:lnTo>
                  <a:pt x="0" y="362712"/>
                </a:lnTo>
                <a:close/>
              </a:path>
            </a:pathLst>
          </a:custGeom>
          <a:solidFill>
            <a:schemeClr val="accent1">
              <a:lumMod val="60000"/>
              <a:lumOff val="40000"/>
            </a:schemeClr>
          </a:solidFill>
          <a:ln w="3175" cap="flat" cmpd="sng" algn="ctr">
            <a:solidFill>
              <a:schemeClr val="bg1"/>
            </a:solid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33" name="矩形: 圆角 43"/>
          <p:cNvSpPr/>
          <p:nvPr>
            <p:custDataLst>
              <p:tags r:id="rId25"/>
            </p:custDataLst>
          </p:nvPr>
        </p:nvSpPr>
        <p:spPr>
          <a:xfrm>
            <a:off x="5581650" y="2873375"/>
            <a:ext cx="370205" cy="17526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34" name="Freeform 1529"/>
          <p:cNvSpPr/>
          <p:nvPr>
            <p:custDataLst>
              <p:tags r:id="rId26"/>
            </p:custDataLst>
          </p:nvPr>
        </p:nvSpPr>
        <p:spPr>
          <a:xfrm>
            <a:off x="5603240" y="2893695"/>
            <a:ext cx="323215" cy="47625"/>
          </a:xfrm>
          <a:custGeom>
            <a:avLst/>
            <a:gdLst/>
            <a:ahLst/>
            <a:cxnLst/>
            <a:rect l="0" t="0" r="0" b="0"/>
            <a:pathLst>
              <a:path w="2674620" h="242317">
                <a:moveTo>
                  <a:pt x="0" y="23623"/>
                </a:moveTo>
                <a:cubicBezTo>
                  <a:pt x="0" y="10542"/>
                  <a:pt x="10541" y="0"/>
                  <a:pt x="23622" y="0"/>
                </a:cubicBezTo>
                <a:lnTo>
                  <a:pt x="2650999" y="0"/>
                </a:lnTo>
                <a:cubicBezTo>
                  <a:pt x="2664080" y="0"/>
                  <a:pt x="2674620" y="10542"/>
                  <a:pt x="2674620" y="23623"/>
                </a:cubicBezTo>
                <a:lnTo>
                  <a:pt x="2674620" y="218694"/>
                </a:lnTo>
                <a:cubicBezTo>
                  <a:pt x="2674620" y="231775"/>
                  <a:pt x="2664080" y="242317"/>
                  <a:pt x="2650999" y="242317"/>
                </a:cubicBezTo>
                <a:lnTo>
                  <a:pt x="23622" y="242317"/>
                </a:lnTo>
                <a:cubicBezTo>
                  <a:pt x="10541" y="242317"/>
                  <a:pt x="0" y="231775"/>
                  <a:pt x="0" y="218694"/>
                </a:cubicBezTo>
                <a:close/>
              </a:path>
            </a:pathLst>
          </a:cu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35" name="矩形: 圆角 8"/>
          <p:cNvSpPr/>
          <p:nvPr>
            <p:custDataLst>
              <p:tags r:id="rId27"/>
            </p:custDataLst>
          </p:nvPr>
        </p:nvSpPr>
        <p:spPr>
          <a:xfrm>
            <a:off x="5624195" y="2513330"/>
            <a:ext cx="269875" cy="17145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36" name="Freeform 1493"/>
          <p:cNvSpPr/>
          <p:nvPr>
            <p:custDataLst>
              <p:tags r:id="rId28"/>
            </p:custDataLst>
          </p:nvPr>
        </p:nvSpPr>
        <p:spPr>
          <a:xfrm>
            <a:off x="5644515" y="2524125"/>
            <a:ext cx="226695" cy="48895"/>
          </a:xfrm>
          <a:custGeom>
            <a:avLst/>
            <a:gdLst/>
            <a:ahLst/>
            <a:cxnLst/>
            <a:rect l="0" t="0" r="0" b="0"/>
            <a:pathLst>
              <a:path w="1997963" h="248412">
                <a:moveTo>
                  <a:pt x="0" y="24130"/>
                </a:moveTo>
                <a:cubicBezTo>
                  <a:pt x="0" y="10796"/>
                  <a:pt x="10795" y="0"/>
                  <a:pt x="24130" y="0"/>
                </a:cubicBezTo>
                <a:lnTo>
                  <a:pt x="1973834" y="0"/>
                </a:lnTo>
                <a:cubicBezTo>
                  <a:pt x="1987168" y="0"/>
                  <a:pt x="1997963" y="10796"/>
                  <a:pt x="1997963" y="24130"/>
                </a:cubicBezTo>
                <a:lnTo>
                  <a:pt x="1997963" y="224282"/>
                </a:lnTo>
                <a:cubicBezTo>
                  <a:pt x="1997963" y="237617"/>
                  <a:pt x="1987168" y="248412"/>
                  <a:pt x="1973834" y="248412"/>
                </a:cubicBezTo>
                <a:lnTo>
                  <a:pt x="24130" y="248412"/>
                </a:lnTo>
                <a:cubicBezTo>
                  <a:pt x="10795" y="248412"/>
                  <a:pt x="0" y="237617"/>
                  <a:pt x="0" y="224282"/>
                </a:cubicBezTo>
                <a:close/>
              </a:path>
            </a:pathLst>
          </a:cu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37" name="矩形: 圆角 8"/>
          <p:cNvSpPr/>
          <p:nvPr>
            <p:custDataLst>
              <p:tags r:id="rId29"/>
            </p:custDataLst>
          </p:nvPr>
        </p:nvSpPr>
        <p:spPr>
          <a:xfrm>
            <a:off x="5943600" y="2513330"/>
            <a:ext cx="269875" cy="17145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38" name="Freeform 1493"/>
          <p:cNvSpPr/>
          <p:nvPr>
            <p:custDataLst>
              <p:tags r:id="rId30"/>
            </p:custDataLst>
          </p:nvPr>
        </p:nvSpPr>
        <p:spPr>
          <a:xfrm>
            <a:off x="5963920" y="2524125"/>
            <a:ext cx="226695" cy="48895"/>
          </a:xfrm>
          <a:custGeom>
            <a:avLst/>
            <a:gdLst/>
            <a:ahLst/>
            <a:cxnLst/>
            <a:rect l="0" t="0" r="0" b="0"/>
            <a:pathLst>
              <a:path w="1997963" h="248412">
                <a:moveTo>
                  <a:pt x="0" y="24130"/>
                </a:moveTo>
                <a:cubicBezTo>
                  <a:pt x="0" y="10796"/>
                  <a:pt x="10795" y="0"/>
                  <a:pt x="24130" y="0"/>
                </a:cubicBezTo>
                <a:lnTo>
                  <a:pt x="1973834" y="0"/>
                </a:lnTo>
                <a:cubicBezTo>
                  <a:pt x="1987168" y="0"/>
                  <a:pt x="1997963" y="10796"/>
                  <a:pt x="1997963" y="24130"/>
                </a:cubicBezTo>
                <a:lnTo>
                  <a:pt x="1997963" y="224282"/>
                </a:lnTo>
                <a:cubicBezTo>
                  <a:pt x="1997963" y="237617"/>
                  <a:pt x="1987168" y="248412"/>
                  <a:pt x="1973834" y="248412"/>
                </a:cubicBezTo>
                <a:lnTo>
                  <a:pt x="24130" y="248412"/>
                </a:lnTo>
                <a:cubicBezTo>
                  <a:pt x="10795" y="248412"/>
                  <a:pt x="0" y="237617"/>
                  <a:pt x="0" y="224282"/>
                </a:cubicBezTo>
                <a:close/>
              </a:path>
            </a:pathLst>
          </a:cu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39" name="矩形: 圆角 8"/>
          <p:cNvSpPr/>
          <p:nvPr>
            <p:custDataLst>
              <p:tags r:id="rId31"/>
            </p:custDataLst>
          </p:nvPr>
        </p:nvSpPr>
        <p:spPr>
          <a:xfrm>
            <a:off x="6263005" y="2513330"/>
            <a:ext cx="269875" cy="17145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40" name="Freeform 1493"/>
          <p:cNvSpPr/>
          <p:nvPr>
            <p:custDataLst>
              <p:tags r:id="rId32"/>
            </p:custDataLst>
          </p:nvPr>
        </p:nvSpPr>
        <p:spPr>
          <a:xfrm>
            <a:off x="6283325" y="2524125"/>
            <a:ext cx="226695" cy="48895"/>
          </a:xfrm>
          <a:custGeom>
            <a:avLst/>
            <a:gdLst/>
            <a:ahLst/>
            <a:cxnLst/>
            <a:rect l="0" t="0" r="0" b="0"/>
            <a:pathLst>
              <a:path w="1997963" h="248412">
                <a:moveTo>
                  <a:pt x="0" y="24130"/>
                </a:moveTo>
                <a:cubicBezTo>
                  <a:pt x="0" y="10796"/>
                  <a:pt x="10795" y="0"/>
                  <a:pt x="24130" y="0"/>
                </a:cubicBezTo>
                <a:lnTo>
                  <a:pt x="1973834" y="0"/>
                </a:lnTo>
                <a:cubicBezTo>
                  <a:pt x="1987168" y="0"/>
                  <a:pt x="1997963" y="10796"/>
                  <a:pt x="1997963" y="24130"/>
                </a:cubicBezTo>
                <a:lnTo>
                  <a:pt x="1997963" y="224282"/>
                </a:lnTo>
                <a:cubicBezTo>
                  <a:pt x="1997963" y="237617"/>
                  <a:pt x="1987168" y="248412"/>
                  <a:pt x="1973834" y="248412"/>
                </a:cubicBezTo>
                <a:lnTo>
                  <a:pt x="24130" y="248412"/>
                </a:lnTo>
                <a:cubicBezTo>
                  <a:pt x="10795" y="248412"/>
                  <a:pt x="0" y="237617"/>
                  <a:pt x="0" y="224282"/>
                </a:cubicBezTo>
                <a:close/>
              </a:path>
            </a:pathLst>
          </a:cu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41" name="矩形: 圆角 8"/>
          <p:cNvSpPr/>
          <p:nvPr>
            <p:custDataLst>
              <p:tags r:id="rId33"/>
            </p:custDataLst>
          </p:nvPr>
        </p:nvSpPr>
        <p:spPr>
          <a:xfrm>
            <a:off x="6581775" y="2513330"/>
            <a:ext cx="269875" cy="17145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42" name="Freeform 1493"/>
          <p:cNvSpPr/>
          <p:nvPr>
            <p:custDataLst>
              <p:tags r:id="rId34"/>
            </p:custDataLst>
          </p:nvPr>
        </p:nvSpPr>
        <p:spPr>
          <a:xfrm>
            <a:off x="6602730" y="2524125"/>
            <a:ext cx="226695" cy="48895"/>
          </a:xfrm>
          <a:custGeom>
            <a:avLst/>
            <a:gdLst/>
            <a:ahLst/>
            <a:cxnLst/>
            <a:rect l="0" t="0" r="0" b="0"/>
            <a:pathLst>
              <a:path w="1997963" h="248412">
                <a:moveTo>
                  <a:pt x="0" y="24130"/>
                </a:moveTo>
                <a:cubicBezTo>
                  <a:pt x="0" y="10796"/>
                  <a:pt x="10795" y="0"/>
                  <a:pt x="24130" y="0"/>
                </a:cubicBezTo>
                <a:lnTo>
                  <a:pt x="1973834" y="0"/>
                </a:lnTo>
                <a:cubicBezTo>
                  <a:pt x="1987168" y="0"/>
                  <a:pt x="1997963" y="10796"/>
                  <a:pt x="1997963" y="24130"/>
                </a:cubicBezTo>
                <a:lnTo>
                  <a:pt x="1997963" y="224282"/>
                </a:lnTo>
                <a:cubicBezTo>
                  <a:pt x="1997963" y="237617"/>
                  <a:pt x="1987168" y="248412"/>
                  <a:pt x="1973834" y="248412"/>
                </a:cubicBezTo>
                <a:lnTo>
                  <a:pt x="24130" y="248412"/>
                </a:lnTo>
                <a:cubicBezTo>
                  <a:pt x="10795" y="248412"/>
                  <a:pt x="0" y="237617"/>
                  <a:pt x="0" y="224282"/>
                </a:cubicBezTo>
                <a:close/>
              </a:path>
            </a:pathLst>
          </a:cu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43" name="矩形: 圆角 43"/>
          <p:cNvSpPr/>
          <p:nvPr>
            <p:custDataLst>
              <p:tags r:id="rId35"/>
            </p:custDataLst>
          </p:nvPr>
        </p:nvSpPr>
        <p:spPr>
          <a:xfrm>
            <a:off x="6023610" y="2873375"/>
            <a:ext cx="370205" cy="17526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44" name="Freeform 1529"/>
          <p:cNvSpPr/>
          <p:nvPr>
            <p:custDataLst>
              <p:tags r:id="rId36"/>
            </p:custDataLst>
          </p:nvPr>
        </p:nvSpPr>
        <p:spPr>
          <a:xfrm>
            <a:off x="6044565" y="2893695"/>
            <a:ext cx="323215" cy="47625"/>
          </a:xfrm>
          <a:custGeom>
            <a:avLst/>
            <a:gdLst/>
            <a:ahLst/>
            <a:cxnLst/>
            <a:rect l="0" t="0" r="0" b="0"/>
            <a:pathLst>
              <a:path w="2674620" h="242317">
                <a:moveTo>
                  <a:pt x="0" y="23623"/>
                </a:moveTo>
                <a:cubicBezTo>
                  <a:pt x="0" y="10542"/>
                  <a:pt x="10541" y="0"/>
                  <a:pt x="23622" y="0"/>
                </a:cubicBezTo>
                <a:lnTo>
                  <a:pt x="2650999" y="0"/>
                </a:lnTo>
                <a:cubicBezTo>
                  <a:pt x="2664080" y="0"/>
                  <a:pt x="2674620" y="10542"/>
                  <a:pt x="2674620" y="23623"/>
                </a:cubicBezTo>
                <a:lnTo>
                  <a:pt x="2674620" y="218694"/>
                </a:lnTo>
                <a:cubicBezTo>
                  <a:pt x="2674620" y="231775"/>
                  <a:pt x="2664080" y="242317"/>
                  <a:pt x="2650999" y="242317"/>
                </a:cubicBezTo>
                <a:lnTo>
                  <a:pt x="23622" y="242317"/>
                </a:lnTo>
                <a:cubicBezTo>
                  <a:pt x="10541" y="242317"/>
                  <a:pt x="0" y="231775"/>
                  <a:pt x="0" y="218694"/>
                </a:cubicBezTo>
                <a:close/>
              </a:path>
            </a:pathLst>
          </a:custGeom>
          <a:solidFill>
            <a:srgbClr val="58729A">
              <a:lumMod val="20000"/>
              <a:lumOff val="80000"/>
              <a:alpha val="50195"/>
            </a:srgb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45" name="矩形: 圆角 43"/>
          <p:cNvSpPr/>
          <p:nvPr>
            <p:custDataLst>
              <p:tags r:id="rId37"/>
            </p:custDataLst>
          </p:nvPr>
        </p:nvSpPr>
        <p:spPr>
          <a:xfrm>
            <a:off x="6466205" y="2873375"/>
            <a:ext cx="370205" cy="17526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46" name="Freeform 1529"/>
          <p:cNvSpPr/>
          <p:nvPr>
            <p:custDataLst>
              <p:tags r:id="rId38"/>
            </p:custDataLst>
          </p:nvPr>
        </p:nvSpPr>
        <p:spPr>
          <a:xfrm>
            <a:off x="6486525" y="2893695"/>
            <a:ext cx="323215" cy="47625"/>
          </a:xfrm>
          <a:custGeom>
            <a:avLst/>
            <a:gdLst/>
            <a:ahLst/>
            <a:cxnLst/>
            <a:rect l="0" t="0" r="0" b="0"/>
            <a:pathLst>
              <a:path w="2674620" h="242317">
                <a:moveTo>
                  <a:pt x="0" y="23623"/>
                </a:moveTo>
                <a:cubicBezTo>
                  <a:pt x="0" y="10542"/>
                  <a:pt x="10541" y="0"/>
                  <a:pt x="23622" y="0"/>
                </a:cubicBezTo>
                <a:lnTo>
                  <a:pt x="2650999" y="0"/>
                </a:lnTo>
                <a:cubicBezTo>
                  <a:pt x="2664080" y="0"/>
                  <a:pt x="2674620" y="10542"/>
                  <a:pt x="2674620" y="23623"/>
                </a:cubicBezTo>
                <a:lnTo>
                  <a:pt x="2674620" y="218694"/>
                </a:lnTo>
                <a:cubicBezTo>
                  <a:pt x="2674620" y="231775"/>
                  <a:pt x="2664080" y="242317"/>
                  <a:pt x="2650999" y="242317"/>
                </a:cubicBezTo>
                <a:lnTo>
                  <a:pt x="23622" y="242317"/>
                </a:lnTo>
                <a:cubicBezTo>
                  <a:pt x="10541" y="242317"/>
                  <a:pt x="0" y="231775"/>
                  <a:pt x="0" y="218694"/>
                </a:cubicBezTo>
                <a:close/>
              </a:path>
            </a:pathLst>
          </a:cu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47" name="Rectangle 1555"/>
          <p:cNvSpPr/>
          <p:nvPr>
            <p:custDataLst>
              <p:tags r:id="rId39"/>
            </p:custDataLst>
          </p:nvPr>
        </p:nvSpPr>
        <p:spPr>
          <a:xfrm>
            <a:off x="6044565" y="2891790"/>
            <a:ext cx="323215" cy="51435"/>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48" name="矩形: 圆角 48"/>
          <p:cNvSpPr/>
          <p:nvPr>
            <p:custDataLst>
              <p:tags r:id="rId40"/>
            </p:custDataLst>
          </p:nvPr>
        </p:nvSpPr>
        <p:spPr>
          <a:xfrm>
            <a:off x="5599430" y="3232785"/>
            <a:ext cx="586105" cy="163195"/>
          </a:xfrm>
          <a:prstGeom prst="roundRect">
            <a:avLst>
              <a:gd name="adj" fmla="val 1871"/>
            </a:avLst>
          </a:prstGeom>
          <a:solidFill>
            <a:srgbClr val="000000">
              <a:alpha val="0"/>
            </a:srgbClr>
          </a:solidFill>
          <a:ln w="11430" cap="flat" cmpd="sng" algn="ctr">
            <a:solidFill>
              <a:schemeClr val="accent1">
                <a:lumMod val="40000"/>
                <a:lumOff val="60000"/>
              </a:schemeClr>
            </a:solidFill>
            <a:prstDash val="dash"/>
            <a:miter lim="800000"/>
          </a:ln>
          <a:effec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b="1" dirty="0">
              <a:solidFill>
                <a:srgbClr val="24396B"/>
              </a:solidFill>
              <a:latin typeface="微软雅黑" panose="020B0503020204020204" charset="-122"/>
              <a:ea typeface="微软雅黑" panose="020B0503020204020204" charset="-122"/>
              <a:cs typeface="微软雅黑" panose="020B0503020204020204" charset="-122"/>
            </a:endParaRPr>
          </a:p>
        </p:txBody>
      </p:sp>
      <p:sp>
        <p:nvSpPr>
          <p:cNvPr id="150" name="Freeform 1536"/>
          <p:cNvSpPr/>
          <p:nvPr>
            <p:custDataLst>
              <p:tags r:id="rId41"/>
            </p:custDataLst>
          </p:nvPr>
        </p:nvSpPr>
        <p:spPr>
          <a:xfrm>
            <a:off x="5619115" y="3313430"/>
            <a:ext cx="274320" cy="66675"/>
          </a:xfrm>
          <a:custGeom>
            <a:avLst/>
            <a:gdLst/>
            <a:ahLst/>
            <a:cxnLst/>
            <a:rect l="0" t="0" r="0" b="0"/>
            <a:pathLst>
              <a:path w="1716024" h="338328">
                <a:moveTo>
                  <a:pt x="0" y="338328"/>
                </a:moveTo>
                <a:lnTo>
                  <a:pt x="1716024" y="338328"/>
                </a:lnTo>
                <a:lnTo>
                  <a:pt x="1716024" y="0"/>
                </a:lnTo>
                <a:lnTo>
                  <a:pt x="0" y="0"/>
                </a:lnTo>
                <a:lnTo>
                  <a:pt x="0" y="338328"/>
                </a:lnTo>
                <a:close/>
              </a:path>
            </a:pathLst>
          </a:custGeom>
          <a:noFill/>
          <a:ln w="12191" cap="flat" cmpd="sng" algn="ctr">
            <a:solidFill>
              <a:schemeClr val="accent1">
                <a:lumMod val="40000"/>
                <a:lumOff val="60000"/>
                <a:alpha val="50000"/>
              </a:schemeClr>
            </a:solidFill>
            <a:prstDash val="solid"/>
            <a:miter lim="127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51" name="Freeform 1537"/>
          <p:cNvSpPr/>
          <p:nvPr>
            <p:custDataLst>
              <p:tags r:id="rId42"/>
            </p:custDataLst>
          </p:nvPr>
        </p:nvSpPr>
        <p:spPr>
          <a:xfrm>
            <a:off x="5906770" y="3313430"/>
            <a:ext cx="262255" cy="66675"/>
          </a:xfrm>
          <a:custGeom>
            <a:avLst/>
            <a:gdLst/>
            <a:ahLst/>
            <a:cxnLst/>
            <a:rect l="0" t="0" r="0" b="0"/>
            <a:pathLst>
              <a:path w="2241804" h="338328">
                <a:moveTo>
                  <a:pt x="0" y="338328"/>
                </a:moveTo>
                <a:lnTo>
                  <a:pt x="2241804" y="338328"/>
                </a:lnTo>
                <a:lnTo>
                  <a:pt x="2241804" y="0"/>
                </a:lnTo>
                <a:lnTo>
                  <a:pt x="0" y="0"/>
                </a:lnTo>
                <a:lnTo>
                  <a:pt x="0" y="338328"/>
                </a:lnTo>
                <a:close/>
              </a:path>
            </a:pathLst>
          </a:custGeom>
          <a:noFill/>
          <a:ln w="12191" cap="flat" cmpd="sng" algn="ctr">
            <a:solidFill>
              <a:schemeClr val="accent1">
                <a:lumMod val="40000"/>
                <a:lumOff val="60000"/>
                <a:alpha val="50000"/>
              </a:schemeClr>
            </a:solidFill>
            <a:prstDash val="solid"/>
            <a:miter lim="127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52" name="Rectangle 1570"/>
          <p:cNvSpPr/>
          <p:nvPr>
            <p:custDataLst>
              <p:tags r:id="rId43"/>
            </p:custDataLst>
          </p:nvPr>
        </p:nvSpPr>
        <p:spPr>
          <a:xfrm>
            <a:off x="5617210" y="3251200"/>
            <a:ext cx="551815" cy="44450"/>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54" name="Freeform 1536"/>
          <p:cNvSpPr/>
          <p:nvPr>
            <p:custDataLst>
              <p:tags r:id="rId44"/>
            </p:custDataLst>
          </p:nvPr>
        </p:nvSpPr>
        <p:spPr>
          <a:xfrm>
            <a:off x="6257925" y="3313430"/>
            <a:ext cx="274320" cy="66675"/>
          </a:xfrm>
          <a:custGeom>
            <a:avLst/>
            <a:gdLst/>
            <a:ahLst/>
            <a:cxnLst/>
            <a:rect l="0" t="0" r="0" b="0"/>
            <a:pathLst>
              <a:path w="1716024" h="338328">
                <a:moveTo>
                  <a:pt x="0" y="338328"/>
                </a:moveTo>
                <a:lnTo>
                  <a:pt x="1716024" y="338328"/>
                </a:lnTo>
                <a:lnTo>
                  <a:pt x="1716024" y="0"/>
                </a:lnTo>
                <a:lnTo>
                  <a:pt x="0" y="0"/>
                </a:lnTo>
                <a:lnTo>
                  <a:pt x="0" y="338328"/>
                </a:lnTo>
                <a:close/>
              </a:path>
            </a:pathLst>
          </a:custGeom>
          <a:noFill/>
          <a:ln w="12191" cap="flat" cmpd="sng" algn="ctr">
            <a:solidFill>
              <a:schemeClr val="accent1">
                <a:lumMod val="40000"/>
                <a:lumOff val="60000"/>
                <a:alpha val="50000"/>
              </a:schemeClr>
            </a:solidFill>
            <a:prstDash val="solid"/>
            <a:miter lim="127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55" name="Freeform 1537"/>
          <p:cNvSpPr/>
          <p:nvPr>
            <p:custDataLst>
              <p:tags r:id="rId45"/>
            </p:custDataLst>
          </p:nvPr>
        </p:nvSpPr>
        <p:spPr>
          <a:xfrm>
            <a:off x="6546215" y="3313430"/>
            <a:ext cx="262255" cy="66675"/>
          </a:xfrm>
          <a:custGeom>
            <a:avLst/>
            <a:gdLst/>
            <a:ahLst/>
            <a:cxnLst/>
            <a:rect l="0" t="0" r="0" b="0"/>
            <a:pathLst>
              <a:path w="2241804" h="338328">
                <a:moveTo>
                  <a:pt x="0" y="338328"/>
                </a:moveTo>
                <a:lnTo>
                  <a:pt x="2241804" y="338328"/>
                </a:lnTo>
                <a:lnTo>
                  <a:pt x="2241804" y="0"/>
                </a:lnTo>
                <a:lnTo>
                  <a:pt x="0" y="0"/>
                </a:lnTo>
                <a:lnTo>
                  <a:pt x="0" y="338328"/>
                </a:lnTo>
                <a:close/>
              </a:path>
            </a:pathLst>
          </a:custGeom>
          <a:noFill/>
          <a:ln w="12191" cap="flat" cmpd="sng" algn="ctr">
            <a:solidFill>
              <a:schemeClr val="accent1">
                <a:lumMod val="40000"/>
                <a:lumOff val="60000"/>
                <a:alpha val="50000"/>
              </a:schemeClr>
            </a:solidFill>
            <a:prstDash val="solid"/>
            <a:miter lim="127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56" name="Rectangle 1570"/>
          <p:cNvSpPr/>
          <p:nvPr>
            <p:custDataLst>
              <p:tags r:id="rId46"/>
            </p:custDataLst>
          </p:nvPr>
        </p:nvSpPr>
        <p:spPr>
          <a:xfrm>
            <a:off x="6256020" y="3248660"/>
            <a:ext cx="551815" cy="44450"/>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57" name="矩形: 圆角 48"/>
          <p:cNvSpPr/>
          <p:nvPr>
            <p:custDataLst>
              <p:tags r:id="rId47"/>
            </p:custDataLst>
          </p:nvPr>
        </p:nvSpPr>
        <p:spPr>
          <a:xfrm>
            <a:off x="6238875" y="3232785"/>
            <a:ext cx="586105" cy="163195"/>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b="1" dirty="0">
              <a:solidFill>
                <a:srgbClr val="24396B"/>
              </a:solidFill>
              <a:latin typeface="微软雅黑" panose="020B0503020204020204" charset="-122"/>
              <a:ea typeface="微软雅黑" panose="020B0503020204020204" charset="-122"/>
              <a:cs typeface="微软雅黑" panose="020B0503020204020204" charset="-122"/>
            </a:endParaRPr>
          </a:p>
        </p:txBody>
      </p:sp>
      <p:grpSp>
        <p:nvGrpSpPr>
          <p:cNvPr id="158" name="组合 157"/>
          <p:cNvGrpSpPr/>
          <p:nvPr>
            <p:custDataLst>
              <p:tags r:id="rId48"/>
            </p:custDataLst>
          </p:nvPr>
        </p:nvGrpSpPr>
        <p:grpSpPr>
          <a:xfrm>
            <a:off x="8874760" y="2491740"/>
            <a:ext cx="2159000" cy="965200"/>
            <a:chOff x="1978" y="9485"/>
            <a:chExt cx="4539" cy="2029"/>
          </a:xfrm>
        </p:grpSpPr>
        <p:sp>
          <p:nvSpPr>
            <p:cNvPr id="216" name="Shape"/>
            <p:cNvSpPr/>
            <p:nvPr>
              <p:custDataLst>
                <p:tags r:id="rId49"/>
              </p:custDataLst>
            </p:nvPr>
          </p:nvSpPr>
          <p:spPr>
            <a:xfrm>
              <a:off x="3454" y="10131"/>
              <a:ext cx="699" cy="737"/>
            </a:xfrm>
            <a:custGeom>
              <a:avLst/>
              <a:gdLst/>
              <a:ahLst/>
              <a:cxnLst>
                <a:cxn ang="0">
                  <a:pos x="wd2" y="hd2"/>
                </a:cxn>
                <a:cxn ang="5400000">
                  <a:pos x="wd2" y="hd2"/>
                </a:cxn>
                <a:cxn ang="10800000">
                  <a:pos x="wd2" y="hd2"/>
                </a:cxn>
                <a:cxn ang="16200000">
                  <a:pos x="wd2" y="hd2"/>
                </a:cxn>
              </a:cxnLst>
              <a:rect l="0" t="0" r="r" b="b"/>
              <a:pathLst>
                <a:path w="21600" h="21600" extrusionOk="0">
                  <a:moveTo>
                    <a:pt x="11375" y="0"/>
                  </a:moveTo>
                  <a:cubicBezTo>
                    <a:pt x="8463" y="0"/>
                    <a:pt x="5552" y="1056"/>
                    <a:pt x="3331" y="3165"/>
                  </a:cubicBezTo>
                  <a:cubicBezTo>
                    <a:pt x="1110" y="5274"/>
                    <a:pt x="0" y="8038"/>
                    <a:pt x="0" y="10801"/>
                  </a:cubicBezTo>
                  <a:cubicBezTo>
                    <a:pt x="0" y="13565"/>
                    <a:pt x="1110" y="16329"/>
                    <a:pt x="3331" y="18438"/>
                  </a:cubicBezTo>
                  <a:cubicBezTo>
                    <a:pt x="5552" y="20546"/>
                    <a:pt x="8463" y="21600"/>
                    <a:pt x="11375" y="21600"/>
                  </a:cubicBezTo>
                  <a:cubicBezTo>
                    <a:pt x="14286" y="21600"/>
                    <a:pt x="17197" y="20546"/>
                    <a:pt x="19418" y="18438"/>
                  </a:cubicBezTo>
                  <a:cubicBezTo>
                    <a:pt x="20341" y="17562"/>
                    <a:pt x="21061" y="16569"/>
                    <a:pt x="21600" y="15513"/>
                  </a:cubicBezTo>
                  <a:cubicBezTo>
                    <a:pt x="21198" y="15286"/>
                    <a:pt x="20815" y="15014"/>
                    <a:pt x="20469" y="14686"/>
                  </a:cubicBezTo>
                  <a:cubicBezTo>
                    <a:pt x="18210" y="12541"/>
                    <a:pt x="18210" y="9061"/>
                    <a:pt x="20469" y="6917"/>
                  </a:cubicBezTo>
                  <a:cubicBezTo>
                    <a:pt x="20815" y="6588"/>
                    <a:pt x="21198" y="6317"/>
                    <a:pt x="21600" y="6089"/>
                  </a:cubicBezTo>
                  <a:cubicBezTo>
                    <a:pt x="21061" y="5034"/>
                    <a:pt x="20341" y="4041"/>
                    <a:pt x="19418" y="3165"/>
                  </a:cubicBezTo>
                  <a:cubicBezTo>
                    <a:pt x="17197" y="1056"/>
                    <a:pt x="14286" y="0"/>
                    <a:pt x="11375" y="0"/>
                  </a:cubicBezTo>
                  <a:close/>
                </a:path>
              </a:pathLst>
            </a:custGeom>
            <a:solidFill>
              <a:schemeClr val="accent1">
                <a:lumMod val="60000"/>
                <a:lumOff val="40000"/>
              </a:schemeClr>
            </a:solidFill>
            <a:ln w="12700">
              <a:miter lim="400000"/>
            </a:ln>
          </p:spPr>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17" name="Shape"/>
            <p:cNvSpPr/>
            <p:nvPr>
              <p:custDataLst>
                <p:tags r:id="rId50"/>
              </p:custDataLst>
            </p:nvPr>
          </p:nvSpPr>
          <p:spPr>
            <a:xfrm>
              <a:off x="4345" y="10131"/>
              <a:ext cx="700" cy="737"/>
            </a:xfrm>
            <a:custGeom>
              <a:avLst/>
              <a:gdLst/>
              <a:ahLst/>
              <a:cxnLst>
                <a:cxn ang="0">
                  <a:pos x="wd2" y="hd2"/>
                </a:cxn>
                <a:cxn ang="5400000">
                  <a:pos x="wd2" y="hd2"/>
                </a:cxn>
                <a:cxn ang="10800000">
                  <a:pos x="wd2" y="hd2"/>
                </a:cxn>
                <a:cxn ang="16200000">
                  <a:pos x="wd2" y="hd2"/>
                </a:cxn>
              </a:cxnLst>
              <a:rect l="0" t="0" r="r" b="b"/>
              <a:pathLst>
                <a:path w="21600" h="21600" extrusionOk="0">
                  <a:moveTo>
                    <a:pt x="10224" y="0"/>
                  </a:moveTo>
                  <a:cubicBezTo>
                    <a:pt x="7313" y="0"/>
                    <a:pt x="4403" y="1056"/>
                    <a:pt x="2182" y="3165"/>
                  </a:cubicBezTo>
                  <a:cubicBezTo>
                    <a:pt x="1259" y="4041"/>
                    <a:pt x="539" y="5034"/>
                    <a:pt x="0" y="6089"/>
                  </a:cubicBezTo>
                  <a:cubicBezTo>
                    <a:pt x="402" y="6317"/>
                    <a:pt x="784" y="6588"/>
                    <a:pt x="1130" y="6917"/>
                  </a:cubicBezTo>
                  <a:cubicBezTo>
                    <a:pt x="3389" y="9061"/>
                    <a:pt x="3389" y="12541"/>
                    <a:pt x="1130" y="14686"/>
                  </a:cubicBezTo>
                  <a:cubicBezTo>
                    <a:pt x="784" y="15014"/>
                    <a:pt x="402" y="15286"/>
                    <a:pt x="0" y="15513"/>
                  </a:cubicBezTo>
                  <a:cubicBezTo>
                    <a:pt x="539" y="16569"/>
                    <a:pt x="1259" y="17562"/>
                    <a:pt x="2182" y="18438"/>
                  </a:cubicBezTo>
                  <a:cubicBezTo>
                    <a:pt x="4403" y="20546"/>
                    <a:pt x="7313" y="21600"/>
                    <a:pt x="10224" y="21600"/>
                  </a:cubicBezTo>
                  <a:cubicBezTo>
                    <a:pt x="13135" y="21600"/>
                    <a:pt x="16046" y="20546"/>
                    <a:pt x="18267" y="18438"/>
                  </a:cubicBezTo>
                  <a:cubicBezTo>
                    <a:pt x="20488" y="16329"/>
                    <a:pt x="21600" y="13565"/>
                    <a:pt x="21600" y="10801"/>
                  </a:cubicBezTo>
                  <a:cubicBezTo>
                    <a:pt x="21600" y="8038"/>
                    <a:pt x="20488" y="5274"/>
                    <a:pt x="18267" y="3165"/>
                  </a:cubicBezTo>
                  <a:cubicBezTo>
                    <a:pt x="16046" y="1056"/>
                    <a:pt x="13135" y="0"/>
                    <a:pt x="10224" y="0"/>
                  </a:cubicBezTo>
                  <a:close/>
                </a:path>
              </a:pathLst>
            </a:custGeom>
            <a:solidFill>
              <a:schemeClr val="accent1">
                <a:lumMod val="60000"/>
                <a:lumOff val="40000"/>
              </a:schemeClr>
            </a:solidFill>
            <a:ln w="12700">
              <a:miter lim="400000"/>
            </a:ln>
          </p:spPr>
          <p:txBody>
            <a:bodyPr lIns="0" tIns="0" rIns="0" bIns="0" anchor="ctr">
              <a:noAutofit/>
            </a:bodyPr>
            <a:lstStyle/>
            <a:p>
              <a:pPr lvl="0" algn="ctr">
                <a:spcBef>
                  <a:spcPts val="0"/>
                </a:spcBef>
                <a:spcAft>
                  <a:spcPts val="0"/>
                </a:spcAft>
                <a:buClrTx/>
                <a:buSzTx/>
                <a:buFontTx/>
                <a:defRPr/>
              </a:pPr>
              <a:endParaRPr sz="90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18" name="Circle"/>
            <p:cNvSpPr/>
            <p:nvPr>
              <p:custDataLst>
                <p:tags r:id="rId51"/>
              </p:custDataLst>
            </p:nvPr>
          </p:nvSpPr>
          <p:spPr>
            <a:xfrm>
              <a:off x="4093" y="10343"/>
              <a:ext cx="312" cy="312"/>
            </a:xfrm>
            <a:prstGeom prst="ellipse">
              <a:avLst/>
            </a:prstGeom>
            <a:solidFill>
              <a:schemeClr val="accent1">
                <a:lumMod val="60000"/>
                <a:lumOff val="4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23" name="Circle"/>
            <p:cNvSpPr/>
            <p:nvPr>
              <p:custDataLst>
                <p:tags r:id="rId52"/>
              </p:custDataLst>
            </p:nvPr>
          </p:nvSpPr>
          <p:spPr>
            <a:xfrm>
              <a:off x="6037" y="9485"/>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29" name="Circle"/>
            <p:cNvSpPr/>
            <p:nvPr>
              <p:custDataLst>
                <p:tags r:id="rId53"/>
              </p:custDataLst>
            </p:nvPr>
          </p:nvSpPr>
          <p:spPr>
            <a:xfrm>
              <a:off x="6037" y="10002"/>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0" name="Circle"/>
            <p:cNvSpPr/>
            <p:nvPr>
              <p:custDataLst>
                <p:tags r:id="rId54"/>
              </p:custDataLst>
            </p:nvPr>
          </p:nvSpPr>
          <p:spPr>
            <a:xfrm>
              <a:off x="6037" y="10518"/>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1" name="Circle"/>
            <p:cNvSpPr/>
            <p:nvPr>
              <p:custDataLst>
                <p:tags r:id="rId55"/>
              </p:custDataLst>
            </p:nvPr>
          </p:nvSpPr>
          <p:spPr>
            <a:xfrm>
              <a:off x="6037" y="11034"/>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2" name="Circle"/>
            <p:cNvSpPr/>
            <p:nvPr>
              <p:custDataLst>
                <p:tags r:id="rId56"/>
              </p:custDataLst>
            </p:nvPr>
          </p:nvSpPr>
          <p:spPr>
            <a:xfrm>
              <a:off x="1978" y="9485"/>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3" name="Circle"/>
            <p:cNvSpPr/>
            <p:nvPr>
              <p:custDataLst>
                <p:tags r:id="rId57"/>
              </p:custDataLst>
            </p:nvPr>
          </p:nvSpPr>
          <p:spPr>
            <a:xfrm>
              <a:off x="1978" y="10002"/>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4" name="Circle"/>
            <p:cNvSpPr/>
            <p:nvPr>
              <p:custDataLst>
                <p:tags r:id="rId58"/>
              </p:custDataLst>
            </p:nvPr>
          </p:nvSpPr>
          <p:spPr>
            <a:xfrm>
              <a:off x="1978" y="10518"/>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5" name="Circle"/>
            <p:cNvSpPr/>
            <p:nvPr>
              <p:custDataLst>
                <p:tags r:id="rId59"/>
              </p:custDataLst>
            </p:nvPr>
          </p:nvSpPr>
          <p:spPr>
            <a:xfrm>
              <a:off x="1978" y="11034"/>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6" name="Line"/>
            <p:cNvSpPr/>
            <p:nvPr>
              <p:custDataLst>
                <p:tags r:id="rId60"/>
              </p:custDataLst>
            </p:nvPr>
          </p:nvSpPr>
          <p:spPr>
            <a:xfrm flipH="1" flipV="1">
              <a:off x="2479" y="9810"/>
              <a:ext cx="971" cy="383"/>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37" name="Line"/>
            <p:cNvSpPr/>
            <p:nvPr>
              <p:custDataLst>
                <p:tags r:id="rId61"/>
              </p:custDataLst>
            </p:nvPr>
          </p:nvSpPr>
          <p:spPr>
            <a:xfrm flipH="1" flipV="1">
              <a:off x="2491" y="10286"/>
              <a:ext cx="858" cy="107"/>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38" name="Line"/>
            <p:cNvSpPr/>
            <p:nvPr>
              <p:custDataLst>
                <p:tags r:id="rId62"/>
              </p:custDataLst>
            </p:nvPr>
          </p:nvSpPr>
          <p:spPr>
            <a:xfrm flipH="1">
              <a:off x="2488" y="10621"/>
              <a:ext cx="865" cy="106"/>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39" name="Line"/>
            <p:cNvSpPr/>
            <p:nvPr>
              <p:custDataLst>
                <p:tags r:id="rId63"/>
              </p:custDataLst>
            </p:nvPr>
          </p:nvSpPr>
          <p:spPr>
            <a:xfrm flipH="1">
              <a:off x="2478" y="10805"/>
              <a:ext cx="977" cy="370"/>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40" name="Line"/>
            <p:cNvSpPr/>
            <p:nvPr>
              <p:custDataLst>
                <p:tags r:id="rId64"/>
              </p:custDataLst>
            </p:nvPr>
          </p:nvSpPr>
          <p:spPr>
            <a:xfrm>
              <a:off x="5029" y="10802"/>
              <a:ext cx="986" cy="376"/>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noAutofit/>
            </a:bodyPr>
            <a:lstStyle/>
            <a:p>
              <a:pPr lvl="0" algn="ctr">
                <a:spcBef>
                  <a:spcPts val="0"/>
                </a:spcBef>
                <a:spcAft>
                  <a:spcPts val="0"/>
                </a:spcAft>
                <a:buClrTx/>
                <a:buSzTx/>
                <a:buFontTx/>
                <a:defRPr/>
              </a:pPr>
              <a:endParaRPr sz="900" noProof="0">
                <a:ln>
                  <a:noFill/>
                </a:ln>
                <a:solidFill>
                  <a:prstClr val="black"/>
                </a:solidFill>
                <a:effectLst/>
                <a:uLnTx/>
                <a:uFillTx/>
                <a:latin typeface="微软雅黑" panose="020B0503020204020204" charset="-122"/>
                <a:cs typeface="微软雅黑" panose="020B0503020204020204" charset="-122"/>
                <a:sym typeface="+mn-ea"/>
              </a:endParaRPr>
            </a:p>
          </p:txBody>
        </p:sp>
        <p:sp>
          <p:nvSpPr>
            <p:cNvPr id="241" name="Line"/>
            <p:cNvSpPr/>
            <p:nvPr>
              <p:custDataLst>
                <p:tags r:id="rId65"/>
              </p:custDataLst>
            </p:nvPr>
          </p:nvSpPr>
          <p:spPr>
            <a:xfrm>
              <a:off x="5127" y="10611"/>
              <a:ext cx="875" cy="111"/>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42" name="Line"/>
            <p:cNvSpPr/>
            <p:nvPr>
              <p:custDataLst>
                <p:tags r:id="rId66"/>
              </p:custDataLst>
            </p:nvPr>
          </p:nvSpPr>
          <p:spPr>
            <a:xfrm flipV="1">
              <a:off x="5128" y="10281"/>
              <a:ext cx="877" cy="114"/>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45" name="Line"/>
            <p:cNvSpPr/>
            <p:nvPr>
              <p:custDataLst>
                <p:tags r:id="rId67"/>
              </p:custDataLst>
            </p:nvPr>
          </p:nvSpPr>
          <p:spPr>
            <a:xfrm flipV="1">
              <a:off x="5030" y="9821"/>
              <a:ext cx="984" cy="378"/>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46" name="Line"/>
            <p:cNvSpPr/>
            <p:nvPr>
              <p:custDataLst>
                <p:tags r:id="rId68"/>
              </p:custDataLst>
            </p:nvPr>
          </p:nvSpPr>
          <p:spPr>
            <a:xfrm>
              <a:off x="3337" y="10034"/>
              <a:ext cx="467" cy="932"/>
            </a:xfrm>
            <a:custGeom>
              <a:avLst/>
              <a:gdLst/>
              <a:ahLst/>
              <a:cxnLst>
                <a:cxn ang="0">
                  <a:pos x="wd2" y="hd2"/>
                </a:cxn>
                <a:cxn ang="5400000">
                  <a:pos x="wd2" y="hd2"/>
                </a:cxn>
                <a:cxn ang="10800000">
                  <a:pos x="wd2" y="hd2"/>
                </a:cxn>
                <a:cxn ang="16200000">
                  <a:pos x="wd2" y="hd2"/>
                </a:cxn>
              </a:cxnLst>
              <a:rect l="0" t="0" r="r" b="b"/>
              <a:pathLst>
                <a:path w="21592" h="21592" extrusionOk="0">
                  <a:moveTo>
                    <a:pt x="21483" y="0"/>
                  </a:moveTo>
                  <a:cubicBezTo>
                    <a:pt x="9601" y="20"/>
                    <a:pt x="-8" y="4851"/>
                    <a:pt x="0" y="10801"/>
                  </a:cubicBezTo>
                  <a:cubicBezTo>
                    <a:pt x="9" y="16768"/>
                    <a:pt x="9678" y="21600"/>
                    <a:pt x="21592" y="21592"/>
                  </a:cubicBezTo>
                </a:path>
              </a:pathLst>
            </a:custGeom>
            <a:ln w="38100">
              <a:solidFill>
                <a:schemeClr val="accent1">
                  <a:lumMod val="60000"/>
                  <a:lumOff val="40000"/>
                </a:schemeClr>
              </a:solidFill>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47" name="Line"/>
            <p:cNvSpPr/>
            <p:nvPr>
              <p:custDataLst>
                <p:tags r:id="rId69"/>
              </p:custDataLst>
            </p:nvPr>
          </p:nvSpPr>
          <p:spPr>
            <a:xfrm>
              <a:off x="4694" y="10033"/>
              <a:ext cx="448" cy="933"/>
            </a:xfrm>
            <a:custGeom>
              <a:avLst/>
              <a:gdLst/>
              <a:ahLst/>
              <a:cxnLst>
                <a:cxn ang="0">
                  <a:pos x="wd2" y="hd2"/>
                </a:cxn>
                <a:cxn ang="5400000">
                  <a:pos x="wd2" y="hd2"/>
                </a:cxn>
                <a:cxn ang="10800000">
                  <a:pos x="wd2" y="hd2"/>
                </a:cxn>
                <a:cxn ang="16200000">
                  <a:pos x="wd2" y="hd2"/>
                </a:cxn>
              </a:cxnLst>
              <a:rect l="0" t="0" r="r" b="b"/>
              <a:pathLst>
                <a:path w="20753" h="21600" extrusionOk="0">
                  <a:moveTo>
                    <a:pt x="0" y="0"/>
                  </a:moveTo>
                  <a:cubicBezTo>
                    <a:pt x="12246" y="292"/>
                    <a:pt x="21600" y="5577"/>
                    <a:pt x="20692" y="11690"/>
                  </a:cubicBezTo>
                  <a:cubicBezTo>
                    <a:pt x="19881" y="17155"/>
                    <a:pt x="10952" y="21431"/>
                    <a:pt x="0" y="21600"/>
                  </a:cubicBezTo>
                </a:path>
              </a:pathLst>
            </a:custGeom>
            <a:ln w="38100">
              <a:solidFill>
                <a:schemeClr val="accent1">
                  <a:lumMod val="60000"/>
                  <a:lumOff val="40000"/>
                </a:schemeClr>
              </a:solidFill>
            </a:ln>
          </p:spPr>
          <p:txBody>
            <a:bodyPr lIns="22859" tIns="22859" rIns="22859" bIns="22859">
              <a:noAutofit/>
            </a:bodyPr>
            <a:lstStyle/>
            <a:p>
              <a:pPr lvl="0" algn="ctr">
                <a:spcBef>
                  <a:spcPts val="0"/>
                </a:spcBef>
                <a:spcAft>
                  <a:spcPts val="0"/>
                </a:spcAft>
                <a:buClrTx/>
                <a:buSzTx/>
                <a:buFontTx/>
                <a:defRPr/>
              </a:pPr>
              <a:endParaRPr sz="90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grpSp>
        <p:nvGrpSpPr>
          <p:cNvPr id="159" name="组合 158"/>
          <p:cNvGrpSpPr/>
          <p:nvPr>
            <p:custDataLst>
              <p:tags r:id="rId70"/>
            </p:custDataLst>
          </p:nvPr>
        </p:nvGrpSpPr>
        <p:grpSpPr>
          <a:xfrm>
            <a:off x="1816100" y="5186680"/>
            <a:ext cx="1156335" cy="1155401"/>
            <a:chOff x="2917" y="9383"/>
            <a:chExt cx="2530" cy="2529"/>
          </a:xfrm>
        </p:grpSpPr>
        <p:pic>
          <p:nvPicPr>
            <p:cNvPr id="249" name="图片 248" descr="左右箭头-2"/>
            <p:cNvPicPr>
              <a:picLocks noChangeAspect="1"/>
            </p:cNvPicPr>
            <p:nvPr>
              <p:custDataLst>
                <p:tags r:id="rId71"/>
              </p:custDataLst>
            </p:nvPr>
          </p:nvPicPr>
          <p:blipFill>
            <a:blip r:embed="rId72">
              <a:extLst>
                <a:ext uri="{96DAC541-7B7A-43D3-8B79-37D633B846F1}">
                  <asvg:svgBlip xmlns:asvg="http://schemas.microsoft.com/office/drawing/2016/SVG/main" r:embed="rId73"/>
                </a:ext>
              </a:extLst>
            </a:blip>
            <a:stretch>
              <a:fillRect/>
            </a:stretch>
          </p:blipFill>
          <p:spPr>
            <a:xfrm>
              <a:off x="4171" y="10609"/>
              <a:ext cx="79" cy="79"/>
            </a:xfrm>
            <a:prstGeom prst="rect">
              <a:avLst/>
            </a:prstGeom>
          </p:spPr>
        </p:pic>
        <p:sp>
          <p:nvSpPr>
            <p:cNvPr id="250" name="紫荆的职场Point8"/>
            <p:cNvSpPr/>
            <p:nvPr>
              <p:custDataLst>
                <p:tags r:id="rId74"/>
              </p:custDataLst>
            </p:nvPr>
          </p:nvSpPr>
          <p:spPr bwMode="auto">
            <a:xfrm>
              <a:off x="4470" y="10061"/>
              <a:ext cx="479" cy="498"/>
            </a:xfrm>
            <a:custGeom>
              <a:avLst/>
              <a:gdLst>
                <a:gd name="connsiteX0" fmla="*/ 619628 w 1306515"/>
                <a:gd name="connsiteY0" fmla="*/ 0 h 1357311"/>
                <a:gd name="connsiteX1" fmla="*/ 1306515 w 1306515"/>
                <a:gd name="connsiteY1" fmla="*/ 1189815 h 1357311"/>
                <a:gd name="connsiteX2" fmla="*/ 357258 w 1306515"/>
                <a:gd name="connsiteY2" fmla="*/ 1357311 h 1357311"/>
                <a:gd name="connsiteX3" fmla="*/ 0 w 1306515"/>
                <a:gd name="connsiteY3" fmla="*/ 738585 h 1357311"/>
              </a:gdLst>
              <a:ahLst/>
              <a:cxnLst>
                <a:cxn ang="0">
                  <a:pos x="connsiteX0" y="connsiteY0"/>
                </a:cxn>
                <a:cxn ang="0">
                  <a:pos x="connsiteX1" y="connsiteY1"/>
                </a:cxn>
                <a:cxn ang="0">
                  <a:pos x="connsiteX2" y="connsiteY2"/>
                </a:cxn>
                <a:cxn ang="0">
                  <a:pos x="connsiteX3" y="connsiteY3"/>
                </a:cxn>
              </a:cxnLst>
              <a:rect l="l" t="t" r="r" b="b"/>
              <a:pathLst>
                <a:path w="1306515" h="1357311">
                  <a:moveTo>
                    <a:pt x="619628" y="0"/>
                  </a:moveTo>
                  <a:cubicBezTo>
                    <a:pt x="981268" y="303552"/>
                    <a:pt x="1224584" y="724865"/>
                    <a:pt x="1306515" y="1189815"/>
                  </a:cubicBezTo>
                  <a:lnTo>
                    <a:pt x="357258" y="1357311"/>
                  </a:lnTo>
                  <a:cubicBezTo>
                    <a:pt x="314577" y="1115499"/>
                    <a:pt x="188060" y="896363"/>
                    <a:pt x="0" y="738585"/>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1" name="紫荆的职场Point9"/>
            <p:cNvSpPr/>
            <p:nvPr>
              <p:custDataLst>
                <p:tags r:id="rId75"/>
              </p:custDataLst>
            </p:nvPr>
          </p:nvSpPr>
          <p:spPr bwMode="auto">
            <a:xfrm>
              <a:off x="4560" y="10531"/>
              <a:ext cx="405" cy="497"/>
            </a:xfrm>
            <a:custGeom>
              <a:avLst/>
              <a:gdLst>
                <a:gd name="connsiteX0" fmla="*/ 1072263 w 1102722"/>
                <a:gd name="connsiteY0" fmla="*/ 0 h 1352548"/>
                <a:gd name="connsiteX1" fmla="*/ 833940 w 1102722"/>
                <a:gd name="connsiteY1" fmla="*/ 1352548 h 1352548"/>
                <a:gd name="connsiteX2" fmla="*/ 0 w 1102722"/>
                <a:gd name="connsiteY2" fmla="*/ 870774 h 1352548"/>
                <a:gd name="connsiteX3" fmla="*/ 123920 w 1102722"/>
                <a:gd name="connsiteY3" fmla="*/ 167449 h 1352548"/>
              </a:gdLst>
              <a:ahLst/>
              <a:cxnLst>
                <a:cxn ang="0">
                  <a:pos x="connsiteX0" y="connsiteY0"/>
                </a:cxn>
                <a:cxn ang="0">
                  <a:pos x="connsiteX1" y="connsiteY1"/>
                </a:cxn>
                <a:cxn ang="0">
                  <a:pos x="connsiteX2" y="connsiteY2"/>
                </a:cxn>
                <a:cxn ang="0">
                  <a:pos x="connsiteX3" y="connsiteY3"/>
                </a:cxn>
              </a:cxnLst>
              <a:rect l="l" t="t" r="r" b="b"/>
              <a:pathLst>
                <a:path w="1102722" h="1352548">
                  <a:moveTo>
                    <a:pt x="1072263" y="0"/>
                  </a:moveTo>
                  <a:cubicBezTo>
                    <a:pt x="1154115" y="465010"/>
                    <a:pt x="1069788" y="943736"/>
                    <a:pt x="833940" y="1352548"/>
                  </a:cubicBezTo>
                  <a:lnTo>
                    <a:pt x="0" y="870774"/>
                  </a:lnTo>
                  <a:cubicBezTo>
                    <a:pt x="122588" y="658177"/>
                    <a:pt x="166560" y="409194"/>
                    <a:pt x="123920" y="167449"/>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2" name="紫荆的职场Point10"/>
            <p:cNvSpPr/>
            <p:nvPr>
              <p:custDataLst>
                <p:tags r:id="rId76"/>
              </p:custDataLst>
            </p:nvPr>
          </p:nvSpPr>
          <p:spPr bwMode="auto">
            <a:xfrm>
              <a:off x="4344" y="10874"/>
              <a:ext cx="507" cy="502"/>
            </a:xfrm>
            <a:custGeom>
              <a:avLst/>
              <a:gdLst>
                <a:gd name="connsiteX0" fmla="*/ 547519 w 1382715"/>
                <a:gd name="connsiteY0" fmla="*/ 0 h 1365248"/>
                <a:gd name="connsiteX1" fmla="*/ 1382715 w 1382715"/>
                <a:gd name="connsiteY1" fmla="*/ 482144 h 1365248"/>
                <a:gd name="connsiteX2" fmla="*/ 329808 w 1382715"/>
                <a:gd name="connsiteY2" fmla="*/ 1365248 h 1365248"/>
                <a:gd name="connsiteX3" fmla="*/ 0 w 1382715"/>
                <a:gd name="connsiteY3" fmla="*/ 459275 h 1365248"/>
                <a:gd name="connsiteX4" fmla="*/ 547519 w 1382715"/>
                <a:gd name="connsiteY4" fmla="*/ 0 h 136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2715" h="1365248">
                  <a:moveTo>
                    <a:pt x="547519" y="0"/>
                  </a:moveTo>
                  <a:lnTo>
                    <a:pt x="1382715" y="482144"/>
                  </a:lnTo>
                  <a:cubicBezTo>
                    <a:pt x="1146512" y="891108"/>
                    <a:pt x="773810" y="1203835"/>
                    <a:pt x="329808" y="1365248"/>
                  </a:cubicBezTo>
                  <a:lnTo>
                    <a:pt x="0" y="459275"/>
                  </a:lnTo>
                  <a:cubicBezTo>
                    <a:pt x="230866" y="375424"/>
                    <a:pt x="424556" y="212677"/>
                    <a:pt x="547519" y="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3" name="紫荆的职场Point11"/>
            <p:cNvSpPr/>
            <p:nvPr>
              <p:custDataLst>
                <p:tags r:id="rId77"/>
              </p:custDataLst>
            </p:nvPr>
          </p:nvSpPr>
          <p:spPr bwMode="auto">
            <a:xfrm>
              <a:off x="3932" y="11053"/>
              <a:ext cx="504" cy="377"/>
            </a:xfrm>
            <a:custGeom>
              <a:avLst/>
              <a:gdLst>
                <a:gd name="connsiteX0" fmla="*/ 329870 w 1374777"/>
                <a:gd name="connsiteY0" fmla="*/ 0 h 1026426"/>
                <a:gd name="connsiteX1" fmla="*/ 1044716 w 1374777"/>
                <a:gd name="connsiteY1" fmla="*/ 0 h 1026426"/>
                <a:gd name="connsiteX2" fmla="*/ 1374777 w 1374777"/>
                <a:gd name="connsiteY2" fmla="*/ 905312 h 1026426"/>
                <a:gd name="connsiteX3" fmla="*/ 0 w 1374777"/>
                <a:gd name="connsiteY3" fmla="*/ 905312 h 1026426"/>
              </a:gdLst>
              <a:ahLst/>
              <a:cxnLst>
                <a:cxn ang="0">
                  <a:pos x="connsiteX0" y="connsiteY0"/>
                </a:cxn>
                <a:cxn ang="0">
                  <a:pos x="connsiteX1" y="connsiteY1"/>
                </a:cxn>
                <a:cxn ang="0">
                  <a:pos x="connsiteX2" y="connsiteY2"/>
                </a:cxn>
                <a:cxn ang="0">
                  <a:pos x="connsiteX3" y="connsiteY3"/>
                </a:cxn>
              </a:cxnLst>
              <a:rect l="l" t="t" r="r" b="b"/>
              <a:pathLst>
                <a:path w="1374777" h="1026426">
                  <a:moveTo>
                    <a:pt x="329870" y="0"/>
                  </a:moveTo>
                  <a:cubicBezTo>
                    <a:pt x="560779" y="83981"/>
                    <a:pt x="813807" y="83981"/>
                    <a:pt x="1044716" y="0"/>
                  </a:cubicBezTo>
                  <a:lnTo>
                    <a:pt x="1374777" y="905312"/>
                  </a:lnTo>
                  <a:cubicBezTo>
                    <a:pt x="930692" y="1066798"/>
                    <a:pt x="443895" y="1066798"/>
                    <a:pt x="0" y="905312"/>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4" name="紫荆的职场Point12"/>
            <p:cNvSpPr/>
            <p:nvPr>
              <p:custDataLst>
                <p:tags r:id="rId78"/>
              </p:custDataLst>
            </p:nvPr>
          </p:nvSpPr>
          <p:spPr bwMode="auto">
            <a:xfrm>
              <a:off x="3518" y="10874"/>
              <a:ext cx="507" cy="502"/>
            </a:xfrm>
            <a:custGeom>
              <a:avLst/>
              <a:gdLst>
                <a:gd name="connsiteX0" fmla="*/ 834237 w 1381127"/>
                <a:gd name="connsiteY0" fmla="*/ 0 h 1365248"/>
                <a:gd name="connsiteX1" fmla="*/ 1381127 w 1381127"/>
                <a:gd name="connsiteY1" fmla="*/ 459275 h 1365248"/>
                <a:gd name="connsiteX2" fmla="*/ 1051508 w 1381127"/>
                <a:gd name="connsiteY2" fmla="*/ 1365248 h 1365248"/>
                <a:gd name="connsiteX3" fmla="*/ 0 w 1381127"/>
                <a:gd name="connsiteY3" fmla="*/ 482144 h 1365248"/>
              </a:gdLst>
              <a:ahLst/>
              <a:cxnLst>
                <a:cxn ang="0">
                  <a:pos x="connsiteX0" y="connsiteY0"/>
                </a:cxn>
                <a:cxn ang="0">
                  <a:pos x="connsiteX1" y="connsiteY1"/>
                </a:cxn>
                <a:cxn ang="0">
                  <a:pos x="connsiteX2" y="connsiteY2"/>
                </a:cxn>
                <a:cxn ang="0">
                  <a:pos x="connsiteX3" y="connsiteY3"/>
                </a:cxn>
              </a:cxnLst>
              <a:rect l="l" t="t" r="r" b="b"/>
              <a:pathLst>
                <a:path w="1381127" h="1365248">
                  <a:moveTo>
                    <a:pt x="834237" y="0"/>
                  </a:moveTo>
                  <a:cubicBezTo>
                    <a:pt x="956868" y="212677"/>
                    <a:pt x="1150527" y="375424"/>
                    <a:pt x="1381127" y="459275"/>
                  </a:cubicBezTo>
                  <a:lnTo>
                    <a:pt x="1051508" y="1365248"/>
                  </a:lnTo>
                  <a:cubicBezTo>
                    <a:pt x="608206" y="1203835"/>
                    <a:pt x="235742" y="891108"/>
                    <a:pt x="0" y="482144"/>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5" name="紫荆的职场Point13"/>
            <p:cNvSpPr/>
            <p:nvPr>
              <p:custDataLst>
                <p:tags r:id="rId79"/>
              </p:custDataLst>
            </p:nvPr>
          </p:nvSpPr>
          <p:spPr bwMode="auto">
            <a:xfrm>
              <a:off x="3404" y="10527"/>
              <a:ext cx="405" cy="497"/>
            </a:xfrm>
            <a:custGeom>
              <a:avLst/>
              <a:gdLst>
                <a:gd name="connsiteX0" fmla="*/ 30497 w 1104248"/>
                <a:gd name="connsiteY0" fmla="*/ 0 h 1352548"/>
                <a:gd name="connsiteX1" fmla="*/ 980178 w 1104248"/>
                <a:gd name="connsiteY1" fmla="*/ 167449 h 1352548"/>
                <a:gd name="connsiteX2" fmla="*/ 1104248 w 1104248"/>
                <a:gd name="connsiteY2" fmla="*/ 870774 h 1352548"/>
                <a:gd name="connsiteX3" fmla="*/ 269109 w 1104248"/>
                <a:gd name="connsiteY3" fmla="*/ 1352548 h 1352548"/>
                <a:gd name="connsiteX4" fmla="*/ 30497 w 1104248"/>
                <a:gd name="connsiteY4" fmla="*/ 0 h 1352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4248" h="1352548">
                  <a:moveTo>
                    <a:pt x="30497" y="0"/>
                  </a:moveTo>
                  <a:lnTo>
                    <a:pt x="980178" y="167449"/>
                  </a:lnTo>
                  <a:cubicBezTo>
                    <a:pt x="937487" y="409194"/>
                    <a:pt x="981321" y="658177"/>
                    <a:pt x="1104248" y="870774"/>
                  </a:cubicBezTo>
                  <a:lnTo>
                    <a:pt x="269109" y="1352548"/>
                  </a:lnTo>
                  <a:cubicBezTo>
                    <a:pt x="32975" y="943736"/>
                    <a:pt x="-51454" y="465010"/>
                    <a:pt x="30497" y="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6" name="紫荆的职场Point14"/>
            <p:cNvSpPr/>
            <p:nvPr>
              <p:custDataLst>
                <p:tags r:id="rId80"/>
              </p:custDataLst>
            </p:nvPr>
          </p:nvSpPr>
          <p:spPr bwMode="auto">
            <a:xfrm>
              <a:off x="3421" y="10061"/>
              <a:ext cx="479" cy="498"/>
            </a:xfrm>
            <a:custGeom>
              <a:avLst/>
              <a:gdLst>
                <a:gd name="connsiteX0" fmla="*/ 686888 w 1306515"/>
                <a:gd name="connsiteY0" fmla="*/ 0 h 1357311"/>
                <a:gd name="connsiteX1" fmla="*/ 1306515 w 1306515"/>
                <a:gd name="connsiteY1" fmla="*/ 738593 h 1357311"/>
                <a:gd name="connsiteX2" fmla="*/ 949353 w 1306515"/>
                <a:gd name="connsiteY2" fmla="*/ 1357311 h 1357311"/>
                <a:gd name="connsiteX3" fmla="*/ 0 w 1306515"/>
                <a:gd name="connsiteY3" fmla="*/ 1189887 h 1357311"/>
                <a:gd name="connsiteX4" fmla="*/ 686888 w 1306515"/>
                <a:gd name="connsiteY4" fmla="*/ 0 h 135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6515" h="1357311">
                  <a:moveTo>
                    <a:pt x="686888" y="0"/>
                  </a:moveTo>
                  <a:lnTo>
                    <a:pt x="1306515" y="738593"/>
                  </a:lnTo>
                  <a:cubicBezTo>
                    <a:pt x="1118455" y="896393"/>
                    <a:pt x="991938" y="1115465"/>
                    <a:pt x="949353" y="1357311"/>
                  </a:cubicBezTo>
                  <a:lnTo>
                    <a:pt x="0" y="1189887"/>
                  </a:lnTo>
                  <a:cubicBezTo>
                    <a:pt x="82027" y="724776"/>
                    <a:pt x="325248" y="303499"/>
                    <a:pt x="686888" y="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7" name="紫荆的职场Point15"/>
            <p:cNvSpPr/>
            <p:nvPr>
              <p:custDataLst>
                <p:tags r:id="rId81"/>
              </p:custDataLst>
            </p:nvPr>
          </p:nvSpPr>
          <p:spPr bwMode="auto">
            <a:xfrm>
              <a:off x="3696" y="9869"/>
              <a:ext cx="474" cy="443"/>
            </a:xfrm>
            <a:custGeom>
              <a:avLst/>
              <a:gdLst>
                <a:gd name="connsiteX0" fmla="*/ 1290640 w 1290640"/>
                <a:gd name="connsiteY0" fmla="*/ 0 h 1208086"/>
                <a:gd name="connsiteX1" fmla="*/ 1290640 w 1290640"/>
                <a:gd name="connsiteY1" fmla="*/ 963840 h 1208086"/>
                <a:gd name="connsiteX2" fmla="*/ 619599 w 1290640"/>
                <a:gd name="connsiteY2" fmla="*/ 1208086 h 1208086"/>
                <a:gd name="connsiteX3" fmla="*/ 0 w 1290640"/>
                <a:gd name="connsiteY3" fmla="*/ 469631 h 1208086"/>
                <a:gd name="connsiteX4" fmla="*/ 1290640 w 1290640"/>
                <a:gd name="connsiteY4" fmla="*/ 0 h 1208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0640" h="1208086">
                  <a:moveTo>
                    <a:pt x="1290640" y="0"/>
                  </a:moveTo>
                  <a:lnTo>
                    <a:pt x="1290640" y="963840"/>
                  </a:lnTo>
                  <a:cubicBezTo>
                    <a:pt x="1045239" y="963840"/>
                    <a:pt x="807650" y="1050336"/>
                    <a:pt x="619599" y="1208086"/>
                  </a:cubicBezTo>
                  <a:lnTo>
                    <a:pt x="0" y="469631"/>
                  </a:lnTo>
                  <a:cubicBezTo>
                    <a:pt x="361623" y="166324"/>
                    <a:pt x="818701" y="0"/>
                    <a:pt x="1290640" y="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8" name="紫荆的职场Point16"/>
            <p:cNvSpPr/>
            <p:nvPr>
              <p:custDataLst>
                <p:tags r:id="rId82"/>
              </p:custDataLst>
            </p:nvPr>
          </p:nvSpPr>
          <p:spPr bwMode="auto">
            <a:xfrm>
              <a:off x="4200" y="9869"/>
              <a:ext cx="474" cy="443"/>
            </a:xfrm>
            <a:custGeom>
              <a:avLst/>
              <a:gdLst>
                <a:gd name="connsiteX0" fmla="*/ 0 w 1290640"/>
                <a:gd name="connsiteY0" fmla="*/ 0 h 1208086"/>
                <a:gd name="connsiteX1" fmla="*/ 1290640 w 1290640"/>
                <a:gd name="connsiteY1" fmla="*/ 469631 h 1208086"/>
                <a:gd name="connsiteX2" fmla="*/ 671133 w 1290640"/>
                <a:gd name="connsiteY2" fmla="*/ 1208086 h 1208086"/>
                <a:gd name="connsiteX3" fmla="*/ 0 w 1290640"/>
                <a:gd name="connsiteY3" fmla="*/ 963840 h 1208086"/>
              </a:gdLst>
              <a:ahLst/>
              <a:cxnLst>
                <a:cxn ang="0">
                  <a:pos x="connsiteX0" y="connsiteY0"/>
                </a:cxn>
                <a:cxn ang="0">
                  <a:pos x="connsiteX1" y="connsiteY1"/>
                </a:cxn>
                <a:cxn ang="0">
                  <a:pos x="connsiteX2" y="connsiteY2"/>
                </a:cxn>
                <a:cxn ang="0">
                  <a:pos x="connsiteX3" y="connsiteY3"/>
                </a:cxn>
              </a:cxnLst>
              <a:rect l="l" t="t" r="r" b="b"/>
              <a:pathLst>
                <a:path w="1290640" h="1208086">
                  <a:moveTo>
                    <a:pt x="0" y="0"/>
                  </a:moveTo>
                  <a:cubicBezTo>
                    <a:pt x="472060" y="0"/>
                    <a:pt x="929070" y="166324"/>
                    <a:pt x="1290640" y="469631"/>
                  </a:cubicBezTo>
                  <a:lnTo>
                    <a:pt x="671133" y="1208086"/>
                  </a:lnTo>
                  <a:cubicBezTo>
                    <a:pt x="483109" y="1050336"/>
                    <a:pt x="245555" y="963840"/>
                    <a:pt x="0" y="96384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9" name="紫荆的职场Point17"/>
            <p:cNvSpPr/>
            <p:nvPr>
              <p:custDataLst>
                <p:tags r:id="rId83"/>
              </p:custDataLst>
            </p:nvPr>
          </p:nvSpPr>
          <p:spPr>
            <a:xfrm>
              <a:off x="3820" y="10294"/>
              <a:ext cx="706" cy="706"/>
            </a:xfrm>
            <a:prstGeom prst="ellipse">
              <a:avLst/>
            </a:prstGeom>
            <a:solidFill>
              <a:schemeClr val="accent1">
                <a:lumMod val="60000"/>
                <a:lumOff val="40000"/>
              </a:schemeClr>
            </a:solidFill>
            <a:ln w="25617" cap="flat" cmpd="sng" algn="ctr">
              <a:solidFill>
                <a:schemeClr val="accent1">
                  <a:lumMod val="60000"/>
                  <a:lumOff val="40000"/>
                </a:schemeClr>
              </a:solid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lIns="122959" tIns="61480" rIns="122959" bIns="61480" rtlCol="0" anchor="ctr"/>
            <a:lstStyle/>
            <a:p>
              <a:pPr algn="ctr">
                <a:spcBef>
                  <a:spcPct val="0"/>
                </a:spcBef>
                <a:spcAft>
                  <a:spcPct val="0"/>
                </a:spcAft>
              </a:pPr>
              <a:endParaRPr 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62" name="任意多边形: 形状 54"/>
            <p:cNvSpPr/>
            <p:nvPr>
              <p:custDataLst>
                <p:tags r:id="rId84"/>
              </p:custDataLst>
            </p:nvPr>
          </p:nvSpPr>
          <p:spPr>
            <a:xfrm>
              <a:off x="3005" y="9466"/>
              <a:ext cx="1184" cy="1176"/>
            </a:xfrm>
            <a:custGeom>
              <a:avLst/>
              <a:gdLst>
                <a:gd name="connsiteX0" fmla="*/ 720258 w 2418588"/>
                <a:gd name="connsiteY0" fmla="*/ 2400151 h 2400300"/>
                <a:gd name="connsiteX1" fmla="*/ 2414280 w 2418588"/>
                <a:gd name="connsiteY1" fmla="*/ 718417 h 2400300"/>
                <a:gd name="connsiteX2" fmla="*/ 2419805 w 2418588"/>
                <a:gd name="connsiteY2" fmla="*/ 718417 h 2400300"/>
                <a:gd name="connsiteX3" fmla="*/ 2419805 w 2418588"/>
                <a:gd name="connsiteY3" fmla="*/ -54 h 2400300"/>
                <a:gd name="connsiteX4" fmla="*/ 2413899 w 2418588"/>
                <a:gd name="connsiteY4" fmla="*/ -54 h 2400300"/>
                <a:gd name="connsiteX5" fmla="*/ 1216 w 2418588"/>
                <a:gd name="connsiteY5" fmla="*/ 2400247 h 240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8588" h="2400300">
                  <a:moveTo>
                    <a:pt x="720258" y="2400151"/>
                  </a:moveTo>
                  <a:cubicBezTo>
                    <a:pt x="727117" y="1470225"/>
                    <a:pt x="1482830" y="718417"/>
                    <a:pt x="2414280" y="718417"/>
                  </a:cubicBezTo>
                  <a:lnTo>
                    <a:pt x="2419805" y="718417"/>
                  </a:lnTo>
                  <a:lnTo>
                    <a:pt x="2419805" y="-54"/>
                  </a:lnTo>
                  <a:lnTo>
                    <a:pt x="2413899" y="-54"/>
                  </a:lnTo>
                  <a:cubicBezTo>
                    <a:pt x="1085543" y="-54"/>
                    <a:pt x="7980" y="1073509"/>
                    <a:pt x="1216" y="2400247"/>
                  </a:cubicBezTo>
                  <a:close/>
                </a:path>
              </a:pathLst>
            </a:custGeom>
            <a:solidFill>
              <a:schemeClr val="accent1">
                <a:lumMod val="60000"/>
                <a:lumOff val="4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63" name="任意多边形: 形状 55"/>
            <p:cNvSpPr/>
            <p:nvPr>
              <p:custDataLst>
                <p:tags r:id="rId85"/>
              </p:custDataLst>
            </p:nvPr>
          </p:nvSpPr>
          <p:spPr>
            <a:xfrm>
              <a:off x="2917" y="10298"/>
              <a:ext cx="1271" cy="1532"/>
            </a:xfrm>
            <a:custGeom>
              <a:avLst/>
              <a:gdLst>
                <a:gd name="connsiteX0" fmla="*/ 2592778 w 2596610"/>
                <a:gd name="connsiteY0" fmla="*/ 2409581 h 3128200"/>
                <a:gd name="connsiteX1" fmla="*/ 898471 w 2596610"/>
                <a:gd name="connsiteY1" fmla="*/ 715274 h 3128200"/>
                <a:gd name="connsiteX2" fmla="*/ 898471 w 2596610"/>
                <a:gd name="connsiteY2" fmla="*/ 715179 h 3128200"/>
                <a:gd name="connsiteX3" fmla="*/ 898471 w 2596610"/>
                <a:gd name="connsiteY3" fmla="*/ 707749 h 3128200"/>
                <a:gd name="connsiteX4" fmla="*/ 1069921 w 2596610"/>
                <a:gd name="connsiteY4" fmla="*/ 707749 h 3128200"/>
                <a:gd name="connsiteX5" fmla="*/ 535568 w 2596610"/>
                <a:gd name="connsiteY5" fmla="*/ -54 h 3128200"/>
                <a:gd name="connsiteX6" fmla="*/ 1216 w 2596610"/>
                <a:gd name="connsiteY6" fmla="*/ 707749 h 3128200"/>
                <a:gd name="connsiteX7" fmla="*/ 179428 w 2596610"/>
                <a:gd name="connsiteY7" fmla="*/ 707749 h 3128200"/>
                <a:gd name="connsiteX8" fmla="*/ 179428 w 2596610"/>
                <a:gd name="connsiteY8" fmla="*/ 715179 h 3128200"/>
                <a:gd name="connsiteX9" fmla="*/ 2592302 w 2596610"/>
                <a:gd name="connsiteY9" fmla="*/ 3128147 h 3128200"/>
                <a:gd name="connsiteX10" fmla="*/ 2597826 w 2596610"/>
                <a:gd name="connsiteY10" fmla="*/ 3128147 h 3128200"/>
                <a:gd name="connsiteX11" fmla="*/ 2597826 w 2596610"/>
                <a:gd name="connsiteY11" fmla="*/ 2409391 h 312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96610" h="3128200">
                  <a:moveTo>
                    <a:pt x="2592778" y="2409581"/>
                  </a:moveTo>
                  <a:cubicBezTo>
                    <a:pt x="1657042" y="2409581"/>
                    <a:pt x="898471" y="1651010"/>
                    <a:pt x="898471" y="715274"/>
                  </a:cubicBezTo>
                  <a:cubicBezTo>
                    <a:pt x="898471" y="715245"/>
                    <a:pt x="898471" y="715207"/>
                    <a:pt x="898471" y="715179"/>
                  </a:cubicBezTo>
                  <a:cubicBezTo>
                    <a:pt x="898471" y="712702"/>
                    <a:pt x="898471" y="710226"/>
                    <a:pt x="898471" y="707749"/>
                  </a:cubicBezTo>
                  <a:lnTo>
                    <a:pt x="1069921" y="707749"/>
                  </a:lnTo>
                  <a:lnTo>
                    <a:pt x="535568" y="-54"/>
                  </a:lnTo>
                  <a:lnTo>
                    <a:pt x="1216" y="707749"/>
                  </a:lnTo>
                  <a:lnTo>
                    <a:pt x="179428" y="707749"/>
                  </a:lnTo>
                  <a:cubicBezTo>
                    <a:pt x="179428" y="710226"/>
                    <a:pt x="179428" y="712702"/>
                    <a:pt x="179428" y="715179"/>
                  </a:cubicBezTo>
                  <a:cubicBezTo>
                    <a:pt x="179428" y="2047822"/>
                    <a:pt x="1259754" y="3128147"/>
                    <a:pt x="2592302" y="3128147"/>
                  </a:cubicBezTo>
                  <a:lnTo>
                    <a:pt x="2597826" y="3128147"/>
                  </a:lnTo>
                  <a:lnTo>
                    <a:pt x="2597826" y="2409391"/>
                  </a:lnTo>
                  <a:close/>
                </a:path>
              </a:pathLst>
            </a:custGeom>
            <a:solidFill>
              <a:schemeClr val="accent1">
                <a:lumMod val="40000"/>
                <a:lumOff val="6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64" name="任意多边形: 形状 56"/>
            <p:cNvSpPr/>
            <p:nvPr>
              <p:custDataLst>
                <p:tags r:id="rId86"/>
              </p:custDataLst>
            </p:nvPr>
          </p:nvSpPr>
          <p:spPr>
            <a:xfrm>
              <a:off x="3848" y="10642"/>
              <a:ext cx="1519" cy="1270"/>
            </a:xfrm>
            <a:custGeom>
              <a:avLst/>
              <a:gdLst>
                <a:gd name="connsiteX0" fmla="*/ 3104937 w 3103721"/>
                <a:gd name="connsiteY0" fmla="*/ 12520 h 2592038"/>
                <a:gd name="connsiteX1" fmla="*/ 3104937 w 3103721"/>
                <a:gd name="connsiteY1" fmla="*/ -54 h 2592038"/>
                <a:gd name="connsiteX2" fmla="*/ 2386180 w 3103721"/>
                <a:gd name="connsiteY2" fmla="*/ -54 h 2592038"/>
                <a:gd name="connsiteX3" fmla="*/ 2386180 w 3103721"/>
                <a:gd name="connsiteY3" fmla="*/ 12520 h 2592038"/>
                <a:gd name="connsiteX4" fmla="*/ 708923 w 3103721"/>
                <a:gd name="connsiteY4" fmla="*/ 1706541 h 2592038"/>
                <a:gd name="connsiteX5" fmla="*/ 708923 w 3103721"/>
                <a:gd name="connsiteY5" fmla="*/ 1523280 h 2592038"/>
                <a:gd name="connsiteX6" fmla="*/ 1216 w 3103721"/>
                <a:gd name="connsiteY6" fmla="*/ 2057632 h 2592038"/>
                <a:gd name="connsiteX7" fmla="*/ 708923 w 3103721"/>
                <a:gd name="connsiteY7" fmla="*/ 2591985 h 2592038"/>
                <a:gd name="connsiteX8" fmla="*/ 708923 w 3103721"/>
                <a:gd name="connsiteY8" fmla="*/ 2425297 h 2592038"/>
                <a:gd name="connsiteX9" fmla="*/ 3104937 w 3103721"/>
                <a:gd name="connsiteY9" fmla="*/ 12520 h 2592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3721" h="2592038">
                  <a:moveTo>
                    <a:pt x="3104937" y="12520"/>
                  </a:moveTo>
                  <a:cubicBezTo>
                    <a:pt x="3104937" y="8329"/>
                    <a:pt x="3104937" y="4137"/>
                    <a:pt x="3104937" y="-54"/>
                  </a:cubicBezTo>
                  <a:lnTo>
                    <a:pt x="2386180" y="-54"/>
                  </a:lnTo>
                  <a:cubicBezTo>
                    <a:pt x="2386180" y="4137"/>
                    <a:pt x="2386180" y="8329"/>
                    <a:pt x="2386180" y="12520"/>
                  </a:cubicBezTo>
                  <a:cubicBezTo>
                    <a:pt x="2386123" y="941550"/>
                    <a:pt x="1637906" y="1697244"/>
                    <a:pt x="708923" y="1706541"/>
                  </a:cubicBezTo>
                  <a:lnTo>
                    <a:pt x="708923" y="1523280"/>
                  </a:lnTo>
                  <a:lnTo>
                    <a:pt x="1216" y="2057632"/>
                  </a:lnTo>
                  <a:lnTo>
                    <a:pt x="708923" y="2591985"/>
                  </a:lnTo>
                  <a:lnTo>
                    <a:pt x="708923" y="2425297"/>
                  </a:lnTo>
                  <a:cubicBezTo>
                    <a:pt x="2033755" y="2416153"/>
                    <a:pt x="3104937" y="1339542"/>
                    <a:pt x="3104937" y="12520"/>
                  </a:cubicBezTo>
                  <a:close/>
                </a:path>
              </a:pathLst>
            </a:custGeom>
            <a:solidFill>
              <a:schemeClr val="accent1">
                <a:lumMod val="60000"/>
                <a:lumOff val="4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65" name="任意多边形: 形状 57"/>
            <p:cNvSpPr/>
            <p:nvPr>
              <p:custDataLst>
                <p:tags r:id="rId87"/>
              </p:custDataLst>
            </p:nvPr>
          </p:nvSpPr>
          <p:spPr>
            <a:xfrm>
              <a:off x="4188" y="9466"/>
              <a:ext cx="1259" cy="1517"/>
            </a:xfrm>
            <a:custGeom>
              <a:avLst/>
              <a:gdLst>
                <a:gd name="connsiteX0" fmla="*/ 2408279 w 2570511"/>
                <a:gd name="connsiteY0" fmla="*/ 2389864 h 3097625"/>
                <a:gd name="connsiteX1" fmla="*/ 1216 w 2570511"/>
                <a:gd name="connsiteY1" fmla="*/ -54 h 3097625"/>
                <a:gd name="connsiteX2" fmla="*/ 1216 w 2570511"/>
                <a:gd name="connsiteY2" fmla="*/ 718608 h 3097625"/>
                <a:gd name="connsiteX3" fmla="*/ 1689522 w 2570511"/>
                <a:gd name="connsiteY3" fmla="*/ 2389864 h 3097625"/>
                <a:gd name="connsiteX4" fmla="*/ 1503023 w 2570511"/>
                <a:gd name="connsiteY4" fmla="*/ 2389864 h 3097625"/>
                <a:gd name="connsiteX5" fmla="*/ 2037375 w 2570511"/>
                <a:gd name="connsiteY5" fmla="*/ 3097572 h 3097625"/>
                <a:gd name="connsiteX6" fmla="*/ 2571728 w 2570511"/>
                <a:gd name="connsiteY6" fmla="*/ 2389864 h 309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0511" h="3097625">
                  <a:moveTo>
                    <a:pt x="2408279" y="2389864"/>
                  </a:moveTo>
                  <a:cubicBezTo>
                    <a:pt x="2395611" y="1069604"/>
                    <a:pt x="1323667" y="2899"/>
                    <a:pt x="1216" y="-54"/>
                  </a:cubicBezTo>
                  <a:lnTo>
                    <a:pt x="1216" y="718608"/>
                  </a:lnTo>
                  <a:cubicBezTo>
                    <a:pt x="926760" y="721465"/>
                    <a:pt x="1677616" y="1466511"/>
                    <a:pt x="1689522" y="2389864"/>
                  </a:cubicBezTo>
                  <a:lnTo>
                    <a:pt x="1503023" y="2389864"/>
                  </a:lnTo>
                  <a:lnTo>
                    <a:pt x="2037375" y="3097572"/>
                  </a:lnTo>
                  <a:lnTo>
                    <a:pt x="2571728" y="2389864"/>
                  </a:lnTo>
                  <a:close/>
                </a:path>
              </a:pathLst>
            </a:custGeom>
            <a:solidFill>
              <a:schemeClr val="accent1">
                <a:lumMod val="40000"/>
                <a:lumOff val="6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66" name="任意多边形: 形状 59"/>
            <p:cNvSpPr/>
            <p:nvPr>
              <p:custDataLst>
                <p:tags r:id="rId88"/>
              </p:custDataLst>
            </p:nvPr>
          </p:nvSpPr>
          <p:spPr>
            <a:xfrm>
              <a:off x="4150" y="9383"/>
              <a:ext cx="352" cy="524"/>
            </a:xfrm>
            <a:custGeom>
              <a:avLst/>
              <a:gdLst>
                <a:gd name="connsiteX0" fmla="*/ 0 w 718946"/>
                <a:gd name="connsiteY0" fmla="*/ 0 h 1068704"/>
                <a:gd name="connsiteX1" fmla="*/ 718947 w 718946"/>
                <a:gd name="connsiteY1" fmla="*/ 534353 h 1068704"/>
                <a:gd name="connsiteX2" fmla="*/ 0 w 718946"/>
                <a:gd name="connsiteY2" fmla="*/ 1068705 h 1068704"/>
                <a:gd name="connsiteX3" fmla="*/ 0 w 718946"/>
                <a:gd name="connsiteY3" fmla="*/ 0 h 1068704"/>
              </a:gdLst>
              <a:ahLst/>
              <a:cxnLst>
                <a:cxn ang="0">
                  <a:pos x="connsiteX0" y="connsiteY0"/>
                </a:cxn>
                <a:cxn ang="0">
                  <a:pos x="connsiteX1" y="connsiteY1"/>
                </a:cxn>
                <a:cxn ang="0">
                  <a:pos x="connsiteX2" y="connsiteY2"/>
                </a:cxn>
                <a:cxn ang="0">
                  <a:pos x="connsiteX3" y="connsiteY3"/>
                </a:cxn>
              </a:cxnLst>
              <a:rect l="l" t="t" r="r" b="b"/>
              <a:pathLst>
                <a:path w="718946" h="1068704">
                  <a:moveTo>
                    <a:pt x="0" y="0"/>
                  </a:moveTo>
                  <a:lnTo>
                    <a:pt x="718947" y="534353"/>
                  </a:lnTo>
                  <a:lnTo>
                    <a:pt x="0" y="1068705"/>
                  </a:lnTo>
                  <a:lnTo>
                    <a:pt x="0" y="0"/>
                  </a:lnTo>
                  <a:close/>
                </a:path>
              </a:pathLst>
            </a:custGeom>
            <a:solidFill>
              <a:schemeClr val="accent1">
                <a:lumMod val="60000"/>
                <a:lumOff val="4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grpSp>
      <p:grpSp>
        <p:nvGrpSpPr>
          <p:cNvPr id="161" name="组合 160"/>
          <p:cNvGrpSpPr/>
          <p:nvPr>
            <p:custDataLst>
              <p:tags r:id="rId89"/>
            </p:custDataLst>
          </p:nvPr>
        </p:nvGrpSpPr>
        <p:grpSpPr>
          <a:xfrm>
            <a:off x="9033510" y="5218430"/>
            <a:ext cx="1974850" cy="974725"/>
            <a:chOff x="759" y="11416"/>
            <a:chExt cx="6502" cy="3209"/>
          </a:xfrm>
        </p:grpSpPr>
        <p:grpSp>
          <p:nvGrpSpPr>
            <p:cNvPr id="280" name="天蝎PPT原创©1"/>
            <p:cNvGrpSpPr/>
            <p:nvPr>
              <p:custDataLst>
                <p:tags r:id="rId90"/>
              </p:custDataLst>
            </p:nvPr>
          </p:nvGrpSpPr>
          <p:grpSpPr>
            <a:xfrm>
              <a:off x="760" y="11850"/>
              <a:ext cx="6496" cy="2138"/>
              <a:chOff x="371833" y="1813205"/>
              <a:chExt cx="11650653" cy="1175604"/>
            </a:xfrm>
            <a:solidFill>
              <a:srgbClr val="B2C5D4"/>
            </a:solidFill>
          </p:grpSpPr>
          <p:sp>
            <p:nvSpPr>
              <p:cNvPr id="281" name="天蝎PPT原创©1-1"/>
              <p:cNvSpPr/>
              <p:nvPr>
                <p:custDataLst>
                  <p:tags r:id="rId91"/>
                </p:custDataLst>
              </p:nvPr>
            </p:nvSpPr>
            <p:spPr>
              <a:xfrm>
                <a:off x="371833" y="1813205"/>
                <a:ext cx="2828387" cy="1175604"/>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82" name="天蝎PPT原创©1-2"/>
              <p:cNvSpPr/>
              <p:nvPr>
                <p:custDataLst>
                  <p:tags r:id="rId92"/>
                </p:custDataLst>
              </p:nvPr>
            </p:nvSpPr>
            <p:spPr>
              <a:xfrm>
                <a:off x="3318233" y="1813205"/>
                <a:ext cx="2828387" cy="1175604"/>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87" name="天蝎PPT原创©1-3"/>
              <p:cNvSpPr/>
              <p:nvPr>
                <p:custDataLst>
                  <p:tags r:id="rId93"/>
                </p:custDataLst>
              </p:nvPr>
            </p:nvSpPr>
            <p:spPr>
              <a:xfrm>
                <a:off x="6247699" y="1813205"/>
                <a:ext cx="2828387" cy="1175604"/>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88" name="天蝎PPT原创©1-4"/>
              <p:cNvSpPr/>
              <p:nvPr>
                <p:custDataLst>
                  <p:tags r:id="rId94"/>
                </p:custDataLst>
              </p:nvPr>
            </p:nvSpPr>
            <p:spPr>
              <a:xfrm>
                <a:off x="9194099" y="1813205"/>
                <a:ext cx="2828387" cy="1175604"/>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sp>
          <p:nvSpPr>
            <p:cNvPr id="289" name="天蝎PPT原创©2-1"/>
            <p:cNvSpPr/>
            <p:nvPr>
              <p:custDataLst>
                <p:tags r:id="rId95"/>
              </p:custDataLst>
            </p:nvPr>
          </p:nvSpPr>
          <p:spPr>
            <a:xfrm>
              <a:off x="765" y="11850"/>
              <a:ext cx="1577" cy="551"/>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90" name="天蝎PPT原创©2-2"/>
            <p:cNvSpPr/>
            <p:nvPr>
              <p:custDataLst>
                <p:tags r:id="rId96"/>
              </p:custDataLst>
            </p:nvPr>
          </p:nvSpPr>
          <p:spPr>
            <a:xfrm>
              <a:off x="2408" y="11850"/>
              <a:ext cx="1577" cy="551"/>
            </a:xfrm>
            <a:prstGeom prst="rect">
              <a:avLst/>
            </a:prstGeom>
            <a:solidFill>
              <a:schemeClr val="accent1">
                <a:lumMod val="60000"/>
                <a:lumOff val="40000"/>
              </a:schemeClr>
            </a:solidFill>
            <a:ln>
              <a:noFill/>
            </a:ln>
          </p:spPr>
          <p:txBody>
            <a:bodyPr spcFirstLastPara="1" wrap="square" lIns="0" tIns="0" rIns="0" bIns="0" rtlCol="0" anchor="ctr" anchorCtr="0">
              <a:noAutofit/>
            </a:bodyPr>
            <a:lstStyle/>
            <a:p>
              <a:pPr lvl="0" algn="ctr">
                <a:buClr>
                  <a:srgbClr val="525455"/>
                </a:buClr>
                <a:buSzPts val="1100"/>
                <a:buFontTx/>
              </a:pPr>
              <a:endParaRPr sz="1465">
                <a:solidFill>
                  <a:srgbClr val="525455"/>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96" name="天蝎PPT原创©2-3"/>
            <p:cNvSpPr/>
            <p:nvPr>
              <p:custDataLst>
                <p:tags r:id="rId97"/>
              </p:custDataLst>
            </p:nvPr>
          </p:nvSpPr>
          <p:spPr>
            <a:xfrm>
              <a:off x="4042" y="11850"/>
              <a:ext cx="1577" cy="551"/>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97" name="天蝎PPT原创©2-4"/>
            <p:cNvSpPr/>
            <p:nvPr>
              <p:custDataLst>
                <p:tags r:id="rId98"/>
              </p:custDataLst>
            </p:nvPr>
          </p:nvSpPr>
          <p:spPr>
            <a:xfrm>
              <a:off x="5684" y="11850"/>
              <a:ext cx="1577" cy="551"/>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98" name="天蝎PPT原创©7"/>
            <p:cNvSpPr/>
            <p:nvPr>
              <p:custDataLst>
                <p:tags r:id="rId99"/>
              </p:custDataLst>
            </p:nvPr>
          </p:nvSpPr>
          <p:spPr>
            <a:xfrm>
              <a:off x="765" y="14069"/>
              <a:ext cx="1040" cy="556"/>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solidFill>
                  <a:srgbClr val="FFFFFF"/>
                </a:solidFill>
                <a:latin typeface="微软雅黑" panose="020B0503020204020204" charset="-122"/>
                <a:ea typeface="微软雅黑" panose="020B0503020204020204" charset="-122"/>
                <a:cs typeface="+mn-ea"/>
                <a:sym typeface="Arial" panose="020B0604020202020204" pitchFamily="34" charset="0"/>
              </a:endParaRPr>
            </a:p>
          </p:txBody>
        </p:sp>
        <p:sp>
          <p:nvSpPr>
            <p:cNvPr id="299" name="天蝎PPT原创©8"/>
            <p:cNvSpPr/>
            <p:nvPr>
              <p:custDataLst>
                <p:tags r:id="rId100"/>
              </p:custDataLst>
            </p:nvPr>
          </p:nvSpPr>
          <p:spPr>
            <a:xfrm>
              <a:off x="1848" y="14069"/>
              <a:ext cx="5413" cy="556"/>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algn="ctr"/>
              <a:endParaRPr kumimoji="1"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300" name="天蝎PPT原创©18"/>
            <p:cNvSpPr/>
            <p:nvPr>
              <p:custDataLst>
                <p:tags r:id="rId101"/>
              </p:custDataLst>
            </p:nvPr>
          </p:nvSpPr>
          <p:spPr>
            <a:xfrm rot="5400000">
              <a:off x="3849" y="8442"/>
              <a:ext cx="438" cy="6386"/>
            </a:xfrm>
            <a:custGeom>
              <a:avLst/>
              <a:gdLst>
                <a:gd name="connsiteX0" fmla="*/ 0 w 298898"/>
                <a:gd name="connsiteY0" fmla="*/ 257670 h 10698196"/>
                <a:gd name="connsiteX1" fmla="*/ 149449 w 298898"/>
                <a:gd name="connsiteY1" fmla="*/ 0 h 10698196"/>
                <a:gd name="connsiteX2" fmla="*/ 298898 w 298898"/>
                <a:gd name="connsiteY2" fmla="*/ 257670 h 10698196"/>
                <a:gd name="connsiteX3" fmla="*/ 213612 w 298898"/>
                <a:gd name="connsiteY3" fmla="*/ 257670 h 10698196"/>
                <a:gd name="connsiteX4" fmla="*/ 213612 w 298898"/>
                <a:gd name="connsiteY4" fmla="*/ 10698196 h 10698196"/>
                <a:gd name="connsiteX5" fmla="*/ 87002 w 298898"/>
                <a:gd name="connsiteY5" fmla="*/ 10698196 h 10698196"/>
                <a:gd name="connsiteX6" fmla="*/ 87002 w 298898"/>
                <a:gd name="connsiteY6" fmla="*/ 257670 h 10698196"/>
                <a:gd name="connsiteX0-1" fmla="*/ 0 w 270261"/>
                <a:gd name="connsiteY0-2" fmla="*/ 271117 h 10698196"/>
                <a:gd name="connsiteX1-3" fmla="*/ 120812 w 270261"/>
                <a:gd name="connsiteY1-4" fmla="*/ 0 h 10698196"/>
                <a:gd name="connsiteX2-5" fmla="*/ 270261 w 270261"/>
                <a:gd name="connsiteY2-6" fmla="*/ 257670 h 10698196"/>
                <a:gd name="connsiteX3-7" fmla="*/ 184975 w 270261"/>
                <a:gd name="connsiteY3-8" fmla="*/ 257670 h 10698196"/>
                <a:gd name="connsiteX4-9" fmla="*/ 184975 w 270261"/>
                <a:gd name="connsiteY4-10" fmla="*/ 10698196 h 10698196"/>
                <a:gd name="connsiteX5-11" fmla="*/ 58365 w 270261"/>
                <a:gd name="connsiteY5-12" fmla="*/ 10698196 h 10698196"/>
                <a:gd name="connsiteX6-13" fmla="*/ 58365 w 270261"/>
                <a:gd name="connsiteY6-14" fmla="*/ 257670 h 10698196"/>
                <a:gd name="connsiteX7" fmla="*/ 0 w 270261"/>
                <a:gd name="connsiteY7" fmla="*/ 271117 h 10698196"/>
                <a:gd name="connsiteX0-15" fmla="*/ 0 w 270261"/>
                <a:gd name="connsiteY0-16" fmla="*/ 432483 h 10859562"/>
                <a:gd name="connsiteX1-17" fmla="*/ 120813 w 270261"/>
                <a:gd name="connsiteY1-18" fmla="*/ 0 h 10859562"/>
                <a:gd name="connsiteX2-19" fmla="*/ 270261 w 270261"/>
                <a:gd name="connsiteY2-20" fmla="*/ 419036 h 10859562"/>
                <a:gd name="connsiteX3-21" fmla="*/ 184975 w 270261"/>
                <a:gd name="connsiteY3-22" fmla="*/ 419036 h 10859562"/>
                <a:gd name="connsiteX4-23" fmla="*/ 184975 w 270261"/>
                <a:gd name="connsiteY4-24" fmla="*/ 10859562 h 10859562"/>
                <a:gd name="connsiteX5-25" fmla="*/ 58365 w 270261"/>
                <a:gd name="connsiteY5-26" fmla="*/ 10859562 h 10859562"/>
                <a:gd name="connsiteX6-27" fmla="*/ 58365 w 270261"/>
                <a:gd name="connsiteY6-28" fmla="*/ 419036 h 10859562"/>
                <a:gd name="connsiteX7-29" fmla="*/ 0 w 270261"/>
                <a:gd name="connsiteY7-30" fmla="*/ 432483 h 10859562"/>
                <a:gd name="connsiteX0-31" fmla="*/ 0 w 237533"/>
                <a:gd name="connsiteY0-32" fmla="*/ 432483 h 10859562"/>
                <a:gd name="connsiteX1-33" fmla="*/ 120813 w 237533"/>
                <a:gd name="connsiteY1-34" fmla="*/ 0 h 10859562"/>
                <a:gd name="connsiteX2-35" fmla="*/ 237533 w 237533"/>
                <a:gd name="connsiteY2-36" fmla="*/ 405589 h 10859562"/>
                <a:gd name="connsiteX3-37" fmla="*/ 184975 w 237533"/>
                <a:gd name="connsiteY3-38" fmla="*/ 419036 h 10859562"/>
                <a:gd name="connsiteX4-39" fmla="*/ 184975 w 237533"/>
                <a:gd name="connsiteY4-40" fmla="*/ 10859562 h 10859562"/>
                <a:gd name="connsiteX5-41" fmla="*/ 58365 w 237533"/>
                <a:gd name="connsiteY5-42" fmla="*/ 10859562 h 10859562"/>
                <a:gd name="connsiteX6-43" fmla="*/ 58365 w 237533"/>
                <a:gd name="connsiteY6-44" fmla="*/ 419036 h 10859562"/>
                <a:gd name="connsiteX7-45" fmla="*/ 0 w 237533"/>
                <a:gd name="connsiteY7-46" fmla="*/ 432483 h 108595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29" y="connsiteY7-30"/>
                </a:cxn>
              </a:cxnLst>
              <a:rect l="l" t="t" r="r" b="b"/>
              <a:pathLst>
                <a:path w="237533" h="10859562">
                  <a:moveTo>
                    <a:pt x="0" y="432483"/>
                  </a:moveTo>
                  <a:lnTo>
                    <a:pt x="120813" y="0"/>
                  </a:lnTo>
                  <a:lnTo>
                    <a:pt x="237533" y="405589"/>
                  </a:lnTo>
                  <a:lnTo>
                    <a:pt x="184975" y="419036"/>
                  </a:lnTo>
                  <a:lnTo>
                    <a:pt x="184975" y="10859562"/>
                  </a:lnTo>
                  <a:lnTo>
                    <a:pt x="58365" y="10859562"/>
                  </a:lnTo>
                  <a:lnTo>
                    <a:pt x="58365" y="419036"/>
                  </a:lnTo>
                  <a:cubicBezTo>
                    <a:pt x="29364" y="419036"/>
                    <a:pt x="29001" y="432483"/>
                    <a:pt x="0" y="432483"/>
                  </a:cubicBezTo>
                  <a:close/>
                </a:path>
              </a:pathLst>
            </a:cu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wrap="square" rtlCol="0" anchor="ctr">
              <a:noAutofit/>
            </a:bodyPr>
            <a:lstStyle/>
            <a:p>
              <a:pPr algn="ct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01" name="天蝎PPT原创©25"/>
            <p:cNvSpPr/>
            <p:nvPr>
              <p:custDataLst>
                <p:tags r:id="rId102"/>
              </p:custDataLst>
            </p:nvPr>
          </p:nvSpPr>
          <p:spPr>
            <a:xfrm>
              <a:off x="2396" y="11521"/>
              <a:ext cx="236" cy="236"/>
            </a:xfrm>
            <a:prstGeom prst="ellipse">
              <a:avLst/>
            </a:prstGeom>
            <a:solidFill>
              <a:schemeClr val="accent1">
                <a:lumMod val="60000"/>
                <a:lumOff val="40000"/>
              </a:schemeClr>
            </a:solidFill>
            <a:ln w="12700" cap="flat" cmpd="sng" algn="ctr">
              <a:noFill/>
              <a:prstDash val="solid"/>
              <a:miter lim="800000"/>
            </a:ln>
            <a:effectLst>
              <a:outerShdw blurRad="381000" dist="190500" dir="5400000" sx="90000" sy="90000" algn="ctr" rotWithShape="0">
                <a:srgbClr val="24396B">
                  <a:alpha val="30000"/>
                </a:srgbClr>
              </a:outerShdw>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06" name="天蝎PPT原创©27"/>
            <p:cNvSpPr/>
            <p:nvPr>
              <p:custDataLst>
                <p:tags r:id="rId103"/>
              </p:custDataLst>
            </p:nvPr>
          </p:nvSpPr>
          <p:spPr>
            <a:xfrm>
              <a:off x="4019" y="11521"/>
              <a:ext cx="236" cy="236"/>
            </a:xfrm>
            <a:prstGeom prst="ellipse">
              <a:avLst/>
            </a:prstGeom>
            <a:solidFill>
              <a:schemeClr val="accent1">
                <a:lumMod val="60000"/>
                <a:lumOff val="40000"/>
              </a:schemeClr>
            </a:solidFill>
            <a:ln w="12700" cap="flat" cmpd="sng" algn="ctr">
              <a:noFill/>
              <a:prstDash val="solid"/>
              <a:miter lim="800000"/>
            </a:ln>
            <a:effectLst>
              <a:outerShdw blurRad="381000" dist="190500" dir="5400000" sx="90000" sy="90000" algn="ctr" rotWithShape="0">
                <a:srgbClr val="24396B">
                  <a:alpha val="30000"/>
                </a:srgbClr>
              </a:outerShdw>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07" name="天蝎PPT原创©29"/>
            <p:cNvSpPr/>
            <p:nvPr>
              <p:custDataLst>
                <p:tags r:id="rId104"/>
              </p:custDataLst>
            </p:nvPr>
          </p:nvSpPr>
          <p:spPr>
            <a:xfrm>
              <a:off x="5624" y="11521"/>
              <a:ext cx="236" cy="236"/>
            </a:xfrm>
            <a:prstGeom prst="ellipse">
              <a:avLst/>
            </a:prstGeom>
            <a:solidFill>
              <a:schemeClr val="accent1">
                <a:lumMod val="60000"/>
                <a:lumOff val="40000"/>
              </a:schemeClr>
            </a:solidFill>
            <a:ln w="12700" cap="flat" cmpd="sng" algn="ctr">
              <a:noFill/>
              <a:prstDash val="solid"/>
              <a:miter lim="800000"/>
            </a:ln>
            <a:effectLst>
              <a:outerShdw blurRad="381000" dist="190500" dir="5400000" sx="90000" sy="90000" algn="ctr" rotWithShape="0">
                <a:srgbClr val="24396B">
                  <a:alpha val="30000"/>
                </a:srgbClr>
              </a:outerShdw>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08" name="天蝎PPT原创©17"/>
            <p:cNvSpPr/>
            <p:nvPr>
              <p:custDataLst>
                <p:tags r:id="rId105"/>
              </p:custDataLst>
            </p:nvPr>
          </p:nvSpPr>
          <p:spPr>
            <a:xfrm>
              <a:off x="759" y="11521"/>
              <a:ext cx="236" cy="236"/>
            </a:xfrm>
            <a:prstGeom prst="ellipse">
              <a:avLst/>
            </a:prstGeom>
            <a:solidFill>
              <a:schemeClr val="accent1">
                <a:lumMod val="60000"/>
                <a:lumOff val="40000"/>
              </a:schemeClr>
            </a:solidFill>
            <a:ln w="12700" cap="flat" cmpd="sng" algn="ctr">
              <a:noFill/>
              <a:prstDash val="solid"/>
              <a:miter lim="800000"/>
            </a:ln>
            <a:effectLst>
              <a:outerShdw blurRad="381000" dist="190500" dir="5400000" sx="90000" sy="90000" algn="ctr" rotWithShape="0">
                <a:srgbClr val="24396B">
                  <a:alpha val="30000"/>
                </a:srgbClr>
              </a:outerShdw>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sp>
        <p:nvSpPr>
          <p:cNvPr id="4" name="圆角矩形 8"/>
          <p:cNvSpPr/>
          <p:nvPr>
            <p:custDataLst>
              <p:tags r:id="rId106"/>
            </p:custDataLst>
          </p:nvPr>
        </p:nvSpPr>
        <p:spPr>
          <a:xfrm>
            <a:off x="5149850" y="5986780"/>
            <a:ext cx="599440" cy="135890"/>
          </a:xfrm>
          <a:prstGeom prst="roundRect">
            <a:avLst>
              <a:gd name="adj" fmla="val 2689"/>
            </a:avLst>
          </a:pr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5" name="圆角矩形 8"/>
          <p:cNvSpPr/>
          <p:nvPr>
            <p:custDataLst>
              <p:tags r:id="rId107"/>
            </p:custDataLst>
          </p:nvPr>
        </p:nvSpPr>
        <p:spPr>
          <a:xfrm>
            <a:off x="5944870" y="5986780"/>
            <a:ext cx="599440" cy="135890"/>
          </a:xfrm>
          <a:prstGeom prst="roundRect">
            <a:avLst>
              <a:gd name="adj" fmla="val 2689"/>
            </a:avLst>
          </a:pr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6" name="圆角矩形 8"/>
          <p:cNvSpPr/>
          <p:nvPr>
            <p:custDataLst>
              <p:tags r:id="rId108"/>
            </p:custDataLst>
          </p:nvPr>
        </p:nvSpPr>
        <p:spPr>
          <a:xfrm>
            <a:off x="6739255" y="5986780"/>
            <a:ext cx="599440" cy="135890"/>
          </a:xfrm>
          <a:prstGeom prst="roundRect">
            <a:avLst>
              <a:gd name="adj" fmla="val 2689"/>
            </a:avLst>
          </a:pr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 name="圆角矩形 59"/>
          <p:cNvSpPr/>
          <p:nvPr>
            <p:custDataLst>
              <p:tags r:id="rId109"/>
            </p:custDataLst>
          </p:nvPr>
        </p:nvSpPr>
        <p:spPr>
          <a:xfrm>
            <a:off x="5095875" y="5417820"/>
            <a:ext cx="415290" cy="49530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8" name="Freeform 2384"/>
          <p:cNvSpPr/>
          <p:nvPr>
            <p:custDataLst>
              <p:tags r:id="rId110"/>
            </p:custDataLst>
          </p:nvPr>
        </p:nvSpPr>
        <p:spPr>
          <a:xfrm>
            <a:off x="6981190" y="5207635"/>
            <a:ext cx="361950" cy="116205"/>
          </a:xfrm>
          <a:custGeom>
            <a:avLst/>
            <a:gdLst/>
            <a:ahLst/>
            <a:cxnLst/>
            <a:rect l="0" t="0" r="0" b="0"/>
            <a:pathLst>
              <a:path w="1648967" h="527305">
                <a:moveTo>
                  <a:pt x="0" y="108967"/>
                </a:moveTo>
                <a:lnTo>
                  <a:pt x="108965" y="0"/>
                </a:lnTo>
                <a:lnTo>
                  <a:pt x="1648967" y="0"/>
                </a:lnTo>
                <a:lnTo>
                  <a:pt x="1648967" y="418338"/>
                </a:lnTo>
                <a:lnTo>
                  <a:pt x="1540001" y="527305"/>
                </a:lnTo>
                <a:lnTo>
                  <a:pt x="0" y="527305"/>
                </a:lnTo>
                <a:close/>
                <a:moveTo>
                  <a:pt x="0" y="108967"/>
                </a:moveTo>
                <a:lnTo>
                  <a:pt x="1540001" y="108967"/>
                </a:lnTo>
                <a:lnTo>
                  <a:pt x="1648967" y="0"/>
                </a:lnTo>
                <a:moveTo>
                  <a:pt x="1540001" y="108967"/>
                </a:moveTo>
                <a:lnTo>
                  <a:pt x="1540001" y="527305"/>
                </a:lnTo>
              </a:path>
            </a:pathLst>
          </a:custGeom>
          <a:noFill/>
          <a:ln w="6095" cap="flat" cmpd="sng" algn="ctr">
            <a:solidFill>
              <a:schemeClr val="accent1">
                <a:lumMod val="40000"/>
                <a:lumOff val="60000"/>
              </a:schemeClr>
            </a:solidFill>
            <a:prstDash val="solid"/>
            <a:miter lim="1270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9" name="Freeform 2385"/>
          <p:cNvSpPr/>
          <p:nvPr>
            <p:custDataLst>
              <p:tags r:id="rId111"/>
            </p:custDataLst>
          </p:nvPr>
        </p:nvSpPr>
        <p:spPr>
          <a:xfrm>
            <a:off x="6981190" y="5231130"/>
            <a:ext cx="339090" cy="93345"/>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0" name="Freeform 2389"/>
          <p:cNvSpPr/>
          <p:nvPr>
            <p:custDataLst>
              <p:tags r:id="rId112"/>
            </p:custDataLst>
          </p:nvPr>
        </p:nvSpPr>
        <p:spPr>
          <a:xfrm>
            <a:off x="5101590" y="5209540"/>
            <a:ext cx="361950" cy="116205"/>
          </a:xfrm>
          <a:custGeom>
            <a:avLst/>
            <a:gdLst/>
            <a:ahLst/>
            <a:cxnLst/>
            <a:rect l="0" t="0" r="0" b="0"/>
            <a:pathLst>
              <a:path w="1648967" h="527305">
                <a:moveTo>
                  <a:pt x="0" y="108967"/>
                </a:moveTo>
                <a:lnTo>
                  <a:pt x="108953" y="0"/>
                </a:lnTo>
                <a:lnTo>
                  <a:pt x="1648967" y="0"/>
                </a:lnTo>
                <a:lnTo>
                  <a:pt x="1648967" y="418338"/>
                </a:lnTo>
                <a:lnTo>
                  <a:pt x="1540001" y="527305"/>
                </a:lnTo>
                <a:lnTo>
                  <a:pt x="0" y="527305"/>
                </a:lnTo>
                <a:close/>
                <a:moveTo>
                  <a:pt x="0" y="108967"/>
                </a:moveTo>
                <a:lnTo>
                  <a:pt x="1540001" y="108967"/>
                </a:lnTo>
                <a:lnTo>
                  <a:pt x="1648967" y="0"/>
                </a:lnTo>
                <a:moveTo>
                  <a:pt x="1540001" y="108967"/>
                </a:moveTo>
                <a:lnTo>
                  <a:pt x="1540001" y="527305"/>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1" name="Freeform 2390"/>
          <p:cNvSpPr/>
          <p:nvPr>
            <p:custDataLst>
              <p:tags r:id="rId113"/>
            </p:custDataLst>
          </p:nvPr>
        </p:nvSpPr>
        <p:spPr>
          <a:xfrm>
            <a:off x="5100955" y="5231130"/>
            <a:ext cx="339090" cy="93345"/>
          </a:xfrm>
          <a:custGeom>
            <a:avLst/>
            <a:gdLst/>
            <a:ahLst/>
            <a:cxnLst/>
            <a:rect l="0" t="0" r="0" b="0"/>
            <a:pathLst>
              <a:path w="1545336" h="425195">
                <a:moveTo>
                  <a:pt x="0" y="425195"/>
                </a:moveTo>
                <a:lnTo>
                  <a:pt x="1545336" y="425195"/>
                </a:lnTo>
                <a:lnTo>
                  <a:pt x="1545336" y="0"/>
                </a:lnTo>
                <a:lnTo>
                  <a:pt x="0" y="0"/>
                </a:lnTo>
                <a:lnTo>
                  <a:pt x="0" y="425195"/>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2" name="Freeform 2409"/>
          <p:cNvSpPr/>
          <p:nvPr>
            <p:custDataLst>
              <p:tags r:id="rId114"/>
            </p:custDataLst>
          </p:nvPr>
        </p:nvSpPr>
        <p:spPr>
          <a:xfrm>
            <a:off x="5076190" y="6168390"/>
            <a:ext cx="2302510" cy="116205"/>
          </a:xfrm>
          <a:custGeom>
            <a:avLst/>
            <a:gdLst/>
            <a:ahLst/>
            <a:cxnLst/>
            <a:rect l="0" t="0" r="0" b="0"/>
            <a:pathLst>
              <a:path w="10489693" h="527303">
                <a:moveTo>
                  <a:pt x="0" y="108953"/>
                </a:moveTo>
                <a:lnTo>
                  <a:pt x="108954" y="0"/>
                </a:lnTo>
                <a:lnTo>
                  <a:pt x="10489693" y="0"/>
                </a:lnTo>
                <a:lnTo>
                  <a:pt x="10489693" y="418338"/>
                </a:lnTo>
                <a:lnTo>
                  <a:pt x="10380727" y="527303"/>
                </a:lnTo>
                <a:lnTo>
                  <a:pt x="0" y="527303"/>
                </a:lnTo>
                <a:close/>
                <a:moveTo>
                  <a:pt x="0" y="108953"/>
                </a:moveTo>
                <a:lnTo>
                  <a:pt x="10380727" y="108953"/>
                </a:lnTo>
                <a:lnTo>
                  <a:pt x="10489693" y="0"/>
                </a:lnTo>
                <a:moveTo>
                  <a:pt x="10380727" y="108953"/>
                </a:moveTo>
                <a:lnTo>
                  <a:pt x="10380727" y="527303"/>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3" name="Freeform 2410"/>
          <p:cNvSpPr/>
          <p:nvPr>
            <p:custDataLst>
              <p:tags r:id="rId115"/>
            </p:custDataLst>
          </p:nvPr>
        </p:nvSpPr>
        <p:spPr>
          <a:xfrm>
            <a:off x="5075555" y="6191250"/>
            <a:ext cx="2281555" cy="93345"/>
          </a:xfrm>
          <a:custGeom>
            <a:avLst/>
            <a:gdLst/>
            <a:ahLst/>
            <a:cxnLst/>
            <a:rect l="0" t="0" r="0" b="0"/>
            <a:pathLst>
              <a:path w="10395204" h="425196">
                <a:moveTo>
                  <a:pt x="0" y="425196"/>
                </a:moveTo>
                <a:lnTo>
                  <a:pt x="10395204" y="425196"/>
                </a:lnTo>
                <a:lnTo>
                  <a:pt x="10395204"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4" name="Freeform 2447"/>
          <p:cNvSpPr/>
          <p:nvPr>
            <p:custDataLst>
              <p:tags r:id="rId116"/>
            </p:custDataLst>
          </p:nvPr>
        </p:nvSpPr>
        <p:spPr>
          <a:xfrm>
            <a:off x="6503670" y="5207635"/>
            <a:ext cx="361950" cy="116205"/>
          </a:xfrm>
          <a:custGeom>
            <a:avLst/>
            <a:gdLst/>
            <a:ahLst/>
            <a:cxnLst/>
            <a:rect l="0" t="0" r="0" b="0"/>
            <a:pathLst>
              <a:path w="1648969" h="527305">
                <a:moveTo>
                  <a:pt x="0" y="108967"/>
                </a:moveTo>
                <a:lnTo>
                  <a:pt x="108966" y="0"/>
                </a:lnTo>
                <a:lnTo>
                  <a:pt x="1648969" y="0"/>
                </a:lnTo>
                <a:lnTo>
                  <a:pt x="1648969" y="418338"/>
                </a:lnTo>
                <a:lnTo>
                  <a:pt x="1540002" y="527305"/>
                </a:lnTo>
                <a:lnTo>
                  <a:pt x="0" y="527305"/>
                </a:lnTo>
                <a:close/>
                <a:moveTo>
                  <a:pt x="0" y="108967"/>
                </a:moveTo>
                <a:lnTo>
                  <a:pt x="1540002" y="108967"/>
                </a:lnTo>
                <a:lnTo>
                  <a:pt x="1648969" y="0"/>
                </a:lnTo>
                <a:moveTo>
                  <a:pt x="1540002" y="108967"/>
                </a:moveTo>
                <a:lnTo>
                  <a:pt x="1540002" y="527305"/>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5" name="Freeform 2448"/>
          <p:cNvSpPr/>
          <p:nvPr>
            <p:custDataLst>
              <p:tags r:id="rId117"/>
            </p:custDataLst>
          </p:nvPr>
        </p:nvSpPr>
        <p:spPr>
          <a:xfrm>
            <a:off x="6503670" y="5231130"/>
            <a:ext cx="339090" cy="93345"/>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6" name="Freeform 2482"/>
          <p:cNvSpPr/>
          <p:nvPr>
            <p:custDataLst>
              <p:tags r:id="rId118"/>
            </p:custDataLst>
          </p:nvPr>
        </p:nvSpPr>
        <p:spPr>
          <a:xfrm>
            <a:off x="6054090" y="5207635"/>
            <a:ext cx="361950" cy="116205"/>
          </a:xfrm>
          <a:custGeom>
            <a:avLst/>
            <a:gdLst/>
            <a:ahLst/>
            <a:cxnLst/>
            <a:rect l="0" t="0" r="0" b="0"/>
            <a:pathLst>
              <a:path w="1648968" h="527305">
                <a:moveTo>
                  <a:pt x="0" y="108967"/>
                </a:moveTo>
                <a:lnTo>
                  <a:pt x="108967" y="0"/>
                </a:lnTo>
                <a:lnTo>
                  <a:pt x="1648968" y="0"/>
                </a:lnTo>
                <a:lnTo>
                  <a:pt x="1648968" y="418338"/>
                </a:lnTo>
                <a:lnTo>
                  <a:pt x="1540003" y="527305"/>
                </a:lnTo>
                <a:lnTo>
                  <a:pt x="0" y="527305"/>
                </a:lnTo>
                <a:close/>
                <a:moveTo>
                  <a:pt x="0" y="108967"/>
                </a:moveTo>
                <a:lnTo>
                  <a:pt x="1540003" y="108967"/>
                </a:lnTo>
                <a:lnTo>
                  <a:pt x="1648968" y="0"/>
                </a:lnTo>
                <a:moveTo>
                  <a:pt x="1540003" y="108967"/>
                </a:moveTo>
                <a:lnTo>
                  <a:pt x="1540003" y="527305"/>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7" name="Freeform 2483"/>
          <p:cNvSpPr/>
          <p:nvPr>
            <p:custDataLst>
              <p:tags r:id="rId119"/>
            </p:custDataLst>
          </p:nvPr>
        </p:nvSpPr>
        <p:spPr>
          <a:xfrm>
            <a:off x="6053455" y="5231130"/>
            <a:ext cx="339090" cy="93345"/>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cxnSp>
        <p:nvCxnSpPr>
          <p:cNvPr id="22" name="直接连接符 21"/>
          <p:cNvCxnSpPr/>
          <p:nvPr>
            <p:custDataLst>
              <p:tags r:id="rId120"/>
            </p:custDataLst>
          </p:nvPr>
        </p:nvCxnSpPr>
        <p:spPr>
          <a:xfrm rot="10800000">
            <a:off x="5005705" y="6238240"/>
            <a:ext cx="67310" cy="0"/>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sp>
        <p:nvSpPr>
          <p:cNvPr id="23" name="Freeform 2470"/>
          <p:cNvSpPr/>
          <p:nvPr>
            <p:custDataLst>
              <p:tags r:id="rId121"/>
            </p:custDataLst>
          </p:nvPr>
        </p:nvSpPr>
        <p:spPr>
          <a:xfrm>
            <a:off x="5582285" y="5207635"/>
            <a:ext cx="361950" cy="116205"/>
          </a:xfrm>
          <a:custGeom>
            <a:avLst/>
            <a:gdLst/>
            <a:ahLst/>
            <a:cxnLst/>
            <a:rect l="0" t="0" r="0" b="0"/>
            <a:pathLst>
              <a:path w="1648968" h="527305">
                <a:moveTo>
                  <a:pt x="0" y="108967"/>
                </a:moveTo>
                <a:lnTo>
                  <a:pt x="108965" y="0"/>
                </a:lnTo>
                <a:lnTo>
                  <a:pt x="1648968" y="0"/>
                </a:lnTo>
                <a:lnTo>
                  <a:pt x="1648968" y="418338"/>
                </a:lnTo>
                <a:lnTo>
                  <a:pt x="1540002" y="527305"/>
                </a:lnTo>
                <a:lnTo>
                  <a:pt x="0" y="527305"/>
                </a:lnTo>
                <a:close/>
                <a:moveTo>
                  <a:pt x="0" y="108967"/>
                </a:moveTo>
                <a:lnTo>
                  <a:pt x="1540002" y="108967"/>
                </a:lnTo>
                <a:lnTo>
                  <a:pt x="1648968" y="0"/>
                </a:lnTo>
                <a:moveTo>
                  <a:pt x="1540002" y="108967"/>
                </a:moveTo>
                <a:lnTo>
                  <a:pt x="1540002" y="527305"/>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24" name="Freeform 2471"/>
          <p:cNvSpPr/>
          <p:nvPr>
            <p:custDataLst>
              <p:tags r:id="rId122"/>
            </p:custDataLst>
          </p:nvPr>
        </p:nvSpPr>
        <p:spPr>
          <a:xfrm>
            <a:off x="5581650" y="5231130"/>
            <a:ext cx="339090" cy="93345"/>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5" name="圆角矩形 59"/>
          <p:cNvSpPr/>
          <p:nvPr>
            <p:custDataLst>
              <p:tags r:id="rId123"/>
            </p:custDataLst>
          </p:nvPr>
        </p:nvSpPr>
        <p:spPr>
          <a:xfrm>
            <a:off x="6015990" y="5417820"/>
            <a:ext cx="415290" cy="49530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27" name="圆角矩形 59"/>
          <p:cNvSpPr/>
          <p:nvPr>
            <p:custDataLst>
              <p:tags r:id="rId124"/>
            </p:custDataLst>
          </p:nvPr>
        </p:nvSpPr>
        <p:spPr>
          <a:xfrm>
            <a:off x="6475730" y="5417820"/>
            <a:ext cx="415290" cy="49530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30" name="圆角矩形 59"/>
          <p:cNvSpPr/>
          <p:nvPr>
            <p:custDataLst>
              <p:tags r:id="rId125"/>
            </p:custDataLst>
          </p:nvPr>
        </p:nvSpPr>
        <p:spPr>
          <a:xfrm>
            <a:off x="5556250" y="5417820"/>
            <a:ext cx="415290" cy="49530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31" name="圆角矩形 59"/>
          <p:cNvSpPr/>
          <p:nvPr>
            <p:custDataLst>
              <p:tags r:id="rId126"/>
            </p:custDataLst>
          </p:nvPr>
        </p:nvSpPr>
        <p:spPr>
          <a:xfrm>
            <a:off x="6935470" y="5417820"/>
            <a:ext cx="415290" cy="49530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35" name="等腰三角形 34"/>
          <p:cNvSpPr/>
          <p:nvPr>
            <p:custDataLst>
              <p:tags r:id="rId127"/>
            </p:custDataLst>
          </p:nvPr>
        </p:nvSpPr>
        <p:spPr>
          <a:xfrm rot="5400000">
            <a:off x="6891020" y="5224780"/>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36" name="等腰三角形 35"/>
          <p:cNvSpPr/>
          <p:nvPr>
            <p:custDataLst>
              <p:tags r:id="rId128"/>
            </p:custDataLst>
          </p:nvPr>
        </p:nvSpPr>
        <p:spPr>
          <a:xfrm rot="5400000">
            <a:off x="5491480" y="5224780"/>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3" name="等腰三角形 42"/>
          <p:cNvSpPr/>
          <p:nvPr>
            <p:custDataLst>
              <p:tags r:id="rId129"/>
            </p:custDataLst>
          </p:nvPr>
        </p:nvSpPr>
        <p:spPr>
          <a:xfrm rot="5400000">
            <a:off x="5966460" y="5224780"/>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4" name="等腰三角形 43"/>
          <p:cNvSpPr/>
          <p:nvPr>
            <p:custDataLst>
              <p:tags r:id="rId130"/>
            </p:custDataLst>
          </p:nvPr>
        </p:nvSpPr>
        <p:spPr>
          <a:xfrm rot="5400000">
            <a:off x="6431280" y="5224780"/>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5" name="等腰三角形 44"/>
          <p:cNvSpPr/>
          <p:nvPr>
            <p:custDataLst>
              <p:tags r:id="rId131"/>
            </p:custDataLst>
          </p:nvPr>
        </p:nvSpPr>
        <p:spPr>
          <a:xfrm rot="16200000" flipH="1">
            <a:off x="6606540" y="6015355"/>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6" name="等腰三角形 45"/>
          <p:cNvSpPr/>
          <p:nvPr>
            <p:custDataLst>
              <p:tags r:id="rId132"/>
            </p:custDataLst>
          </p:nvPr>
        </p:nvSpPr>
        <p:spPr>
          <a:xfrm rot="16200000" flipH="1">
            <a:off x="5814695" y="6015355"/>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cxnSp>
        <p:nvCxnSpPr>
          <p:cNvPr id="49" name="直接连接符 48"/>
          <p:cNvCxnSpPr/>
          <p:nvPr>
            <p:custDataLst>
              <p:tags r:id="rId133"/>
            </p:custDataLst>
          </p:nvPr>
        </p:nvCxnSpPr>
        <p:spPr>
          <a:xfrm flipH="1">
            <a:off x="4997450" y="5270500"/>
            <a:ext cx="98425" cy="0"/>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cxnSp>
        <p:nvCxnSpPr>
          <p:cNvPr id="50" name="直接连接符 49"/>
          <p:cNvCxnSpPr/>
          <p:nvPr>
            <p:custDataLst>
              <p:tags r:id="rId134"/>
            </p:custDataLst>
          </p:nvPr>
        </p:nvCxnSpPr>
        <p:spPr>
          <a:xfrm flipV="1">
            <a:off x="5005070" y="5269865"/>
            <a:ext cx="0" cy="977265"/>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sp>
        <p:nvSpPr>
          <p:cNvPr id="51" name="等腰三角形 50"/>
          <p:cNvSpPr/>
          <p:nvPr>
            <p:custDataLst>
              <p:tags r:id="rId135"/>
            </p:custDataLst>
          </p:nvPr>
        </p:nvSpPr>
        <p:spPr>
          <a:xfrm flipH="1">
            <a:off x="4964430" y="5671185"/>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grpSp>
        <p:nvGrpSpPr>
          <p:cNvPr id="56" name="组合 55"/>
          <p:cNvGrpSpPr/>
          <p:nvPr>
            <p:custDataLst>
              <p:tags r:id="rId136"/>
            </p:custDataLst>
          </p:nvPr>
        </p:nvGrpSpPr>
        <p:grpSpPr>
          <a:xfrm flipH="1">
            <a:off x="7336790" y="5250180"/>
            <a:ext cx="130810" cy="976630"/>
            <a:chOff x="8018" y="8499"/>
            <a:chExt cx="206" cy="1538"/>
          </a:xfrm>
        </p:grpSpPr>
        <p:cxnSp>
          <p:nvCxnSpPr>
            <p:cNvPr id="52" name="直接连接符 51"/>
            <p:cNvCxnSpPr/>
            <p:nvPr>
              <p:custDataLst>
                <p:tags r:id="rId137"/>
              </p:custDataLst>
            </p:nvPr>
          </p:nvCxnSpPr>
          <p:spPr>
            <a:xfrm rot="10800000">
              <a:off x="8083" y="10024"/>
              <a:ext cx="106" cy="0"/>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cxnSp>
          <p:nvCxnSpPr>
            <p:cNvPr id="53" name="直接连接符 52"/>
            <p:cNvCxnSpPr/>
            <p:nvPr>
              <p:custDataLst>
                <p:tags r:id="rId138"/>
              </p:custDataLst>
            </p:nvPr>
          </p:nvCxnSpPr>
          <p:spPr>
            <a:xfrm flipH="1">
              <a:off x="8070" y="8500"/>
              <a:ext cx="155" cy="0"/>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cxnSp>
          <p:nvCxnSpPr>
            <p:cNvPr id="54" name="直接连接符 53"/>
            <p:cNvCxnSpPr/>
            <p:nvPr>
              <p:custDataLst>
                <p:tags r:id="rId139"/>
              </p:custDataLst>
            </p:nvPr>
          </p:nvCxnSpPr>
          <p:spPr>
            <a:xfrm flipV="1">
              <a:off x="8082" y="8499"/>
              <a:ext cx="0" cy="1539"/>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sp>
          <p:nvSpPr>
            <p:cNvPr id="55" name="等腰三角形 54"/>
            <p:cNvSpPr/>
            <p:nvPr>
              <p:custDataLst>
                <p:tags r:id="rId140"/>
              </p:custDataLst>
            </p:nvPr>
          </p:nvSpPr>
          <p:spPr>
            <a:xfrm flipH="1" flipV="1">
              <a:off x="8018" y="9131"/>
              <a:ext cx="119" cy="119"/>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grpSp>
      <p:sp>
        <p:nvSpPr>
          <p:cNvPr id="3" name="Google Shape;464;p24"/>
          <p:cNvSpPr/>
          <p:nvPr>
            <p:custDataLst>
              <p:tags r:id="rId141"/>
            </p:custDataLst>
          </p:nvPr>
        </p:nvSpPr>
        <p:spPr>
          <a:xfrm>
            <a:off x="2690495" y="2694305"/>
            <a:ext cx="639445" cy="761365"/>
          </a:xfrm>
          <a:prstGeom prst="roundRect">
            <a:avLst>
              <a:gd name="adj" fmla="val 2676"/>
            </a:avLst>
          </a:prstGeom>
          <a:solidFill>
            <a:schemeClr val="accent1">
              <a:lumMod val="40000"/>
              <a:lumOff val="60000"/>
            </a:schemeClr>
          </a:solidFill>
          <a:ln w="12700" cap="flat" cmpd="sng" algn="ctr">
            <a:noFill/>
            <a:prstDash val="solid"/>
            <a:miter lim="800000"/>
          </a:ln>
          <a:effectLst/>
        </p:spPr>
        <p:txBody>
          <a:bodyPr spcFirstLastPara="0" vert="horz" wrap="square" lIns="91444" tIns="45722" rIns="91444" bIns="45722" rtlCol="0" anchor="ctr" anchorCtr="0">
            <a:noAutofit/>
          </a:bodyPr>
          <a:lstStyle/>
          <a:p>
            <a:pPr lvl="0" algn="ctr">
              <a:buClrTx/>
              <a:buSzTx/>
              <a:buFontTx/>
            </a:pPr>
            <a:endParaRPr lang="zh-CN" altLang="en-US" sz="12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8" name="Google Shape;450;p24"/>
          <p:cNvSpPr/>
          <p:nvPr>
            <p:custDataLst>
              <p:tags r:id="rId142"/>
            </p:custDataLst>
          </p:nvPr>
        </p:nvSpPr>
        <p:spPr>
          <a:xfrm>
            <a:off x="1382395" y="2464435"/>
            <a:ext cx="1948180" cy="217170"/>
          </a:xfrm>
          <a:custGeom>
            <a:avLst/>
            <a:gdLst/>
            <a:ahLst/>
            <a:cxnLst/>
            <a:rect l="l" t="t" r="r" b="b"/>
            <a:pathLst>
              <a:path w="21588" h="21575" extrusionOk="0">
                <a:moveTo>
                  <a:pt x="109" y="19963"/>
                </a:moveTo>
                <a:cubicBezTo>
                  <a:pt x="41" y="20039"/>
                  <a:pt x="-6" y="20418"/>
                  <a:pt x="0" y="20836"/>
                </a:cubicBezTo>
                <a:cubicBezTo>
                  <a:pt x="7" y="21266"/>
                  <a:pt x="68" y="21590"/>
                  <a:pt x="139" y="21574"/>
                </a:cubicBezTo>
                <a:lnTo>
                  <a:pt x="21476" y="21515"/>
                </a:lnTo>
                <a:cubicBezTo>
                  <a:pt x="21535" y="21473"/>
                  <a:pt x="21581" y="21191"/>
                  <a:pt x="21587" y="20835"/>
                </a:cubicBezTo>
                <a:cubicBezTo>
                  <a:pt x="21594" y="20443"/>
                  <a:pt x="21552" y="20082"/>
                  <a:pt x="21489" y="19993"/>
                </a:cubicBezTo>
                <a:lnTo>
                  <a:pt x="10898" y="125"/>
                </a:lnTo>
                <a:cubicBezTo>
                  <a:pt x="10866" y="51"/>
                  <a:pt x="10833" y="10"/>
                  <a:pt x="10798" y="2"/>
                </a:cubicBezTo>
                <a:cubicBezTo>
                  <a:pt x="10748" y="-10"/>
                  <a:pt x="10699" y="50"/>
                  <a:pt x="10653" y="176"/>
                </a:cubicBezTo>
                <a:lnTo>
                  <a:pt x="109" y="19963"/>
                </a:lnTo>
                <a:close/>
              </a:path>
            </a:pathLst>
          </a:custGeom>
          <a:solidFill>
            <a:schemeClr val="accent1">
              <a:lumMod val="60000"/>
              <a:lumOff val="40000"/>
            </a:schemeClr>
          </a:solidFill>
          <a:ln>
            <a:noFill/>
          </a:ln>
        </p:spPr>
        <p:txBody>
          <a:bodyPr spcFirstLastPara="1" wrap="square" lIns="22868" tIns="22868" rIns="22868" bIns="22868" anchor="t" anchorCtr="0">
            <a:noAutofit/>
          </a:bodyPr>
          <a:lstStyle/>
          <a:p>
            <a:pPr algn="ctr">
              <a:buClr>
                <a:srgbClr val="525455"/>
              </a:buClr>
              <a:buSzPts val="1100"/>
            </a:pPr>
            <a:endParaRPr sz="1465">
              <a:solidFill>
                <a:srgbClr val="5254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9" name="Google Shape;452;p24"/>
          <p:cNvSpPr/>
          <p:nvPr>
            <p:custDataLst>
              <p:tags r:id="rId143"/>
            </p:custDataLst>
          </p:nvPr>
        </p:nvSpPr>
        <p:spPr>
          <a:xfrm>
            <a:off x="1386205" y="2694305"/>
            <a:ext cx="639445" cy="762635"/>
          </a:xfrm>
          <a:prstGeom prst="roundRect">
            <a:avLst>
              <a:gd name="adj" fmla="val 2676"/>
            </a:avLst>
          </a:prstGeom>
          <a:solidFill>
            <a:schemeClr val="accent1">
              <a:lumMod val="40000"/>
              <a:lumOff val="60000"/>
            </a:schemeClr>
          </a:solidFill>
          <a:ln w="12700" cap="flat" cmpd="sng" algn="ctr">
            <a:noFill/>
            <a:prstDash val="solid"/>
            <a:miter lim="800000"/>
          </a:ln>
          <a:effectLst/>
        </p:spPr>
        <p:txBody>
          <a:bodyPr spcFirstLastPara="0" vert="horz" wrap="square" lIns="91444" tIns="45722" rIns="91444" bIns="45722" rtlCol="0" anchor="ctr" anchorCtr="0">
            <a:noAutofit/>
          </a:bodyPr>
          <a:lstStyle/>
          <a:p>
            <a:pPr lvl="0" algn="ctr">
              <a:buClrTx/>
              <a:buSzTx/>
              <a:buFontTx/>
            </a:pPr>
            <a:endParaRPr lang="zh-CN" altLang="en-US" sz="12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0" name="Google Shape;453;p24"/>
          <p:cNvSpPr/>
          <p:nvPr>
            <p:custDataLst>
              <p:tags r:id="rId144"/>
            </p:custDataLst>
          </p:nvPr>
        </p:nvSpPr>
        <p:spPr>
          <a:xfrm>
            <a:off x="1386205" y="2694305"/>
            <a:ext cx="639445" cy="99060"/>
          </a:xfrm>
          <a:custGeom>
            <a:avLst/>
            <a:gdLst/>
            <a:ahLst/>
            <a:cxnLst/>
            <a:rect l="l" t="t" r="r" b="b"/>
            <a:pathLst>
              <a:path w="21599" h="21600" extrusionOk="0">
                <a:moveTo>
                  <a:pt x="688" y="0"/>
                </a:moveTo>
                <a:cubicBezTo>
                  <a:pt x="486" y="0"/>
                  <a:pt x="365" y="5"/>
                  <a:pt x="284" y="209"/>
                </a:cubicBezTo>
                <a:cubicBezTo>
                  <a:pt x="167" y="466"/>
                  <a:pt x="75" y="1022"/>
                  <a:pt x="33" y="1728"/>
                </a:cubicBezTo>
                <a:cubicBezTo>
                  <a:pt x="-1" y="2217"/>
                  <a:pt x="0" y="2947"/>
                  <a:pt x="0" y="4171"/>
                </a:cubicBezTo>
                <a:lnTo>
                  <a:pt x="0" y="21600"/>
                </a:lnTo>
                <a:lnTo>
                  <a:pt x="21599" y="21600"/>
                </a:lnTo>
                <a:lnTo>
                  <a:pt x="21599" y="4171"/>
                </a:lnTo>
                <a:cubicBezTo>
                  <a:pt x="21599" y="2947"/>
                  <a:pt x="21598" y="2217"/>
                  <a:pt x="21564" y="1728"/>
                </a:cubicBezTo>
                <a:cubicBezTo>
                  <a:pt x="21522" y="1022"/>
                  <a:pt x="21430" y="466"/>
                  <a:pt x="21313" y="209"/>
                </a:cubicBezTo>
                <a:cubicBezTo>
                  <a:pt x="21232" y="5"/>
                  <a:pt x="21111" y="0"/>
                  <a:pt x="20909" y="0"/>
                </a:cubicBezTo>
                <a:lnTo>
                  <a:pt x="688" y="0"/>
                </a:lnTo>
                <a:close/>
              </a:path>
            </a:pathLst>
          </a:custGeom>
          <a:solidFill>
            <a:schemeClr val="accent1">
              <a:lumMod val="60000"/>
              <a:lumOff val="40000"/>
            </a:schemeClr>
          </a:solidFill>
          <a:ln>
            <a:noFill/>
          </a:ln>
        </p:spPr>
        <p:txBody>
          <a:bodyPr spcFirstLastPara="1" wrap="square" lIns="0" tIns="0" rIns="0" bIns="0" anchor="ctr" anchorCtr="0">
            <a:noAutofit/>
          </a:bodyPr>
          <a:lstStyle/>
          <a:p>
            <a:pPr algn="ctr">
              <a:buClr>
                <a:srgbClr val="525455"/>
              </a:buClr>
              <a:buSzPts val="1100"/>
            </a:pPr>
            <a:endParaRPr sz="1465">
              <a:solidFill>
                <a:srgbClr val="5254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7" name="Google Shape;458;p24"/>
          <p:cNvSpPr/>
          <p:nvPr>
            <p:custDataLst>
              <p:tags r:id="rId145"/>
            </p:custDataLst>
          </p:nvPr>
        </p:nvSpPr>
        <p:spPr>
          <a:xfrm>
            <a:off x="2038985" y="2694305"/>
            <a:ext cx="639445" cy="762635"/>
          </a:xfrm>
          <a:prstGeom prst="roundRect">
            <a:avLst>
              <a:gd name="adj" fmla="val 2676"/>
            </a:avLst>
          </a:prstGeom>
          <a:solidFill>
            <a:schemeClr val="accent1">
              <a:lumMod val="40000"/>
              <a:lumOff val="60000"/>
            </a:schemeClr>
          </a:solidFill>
          <a:ln w="12700" cap="flat" cmpd="sng" algn="ctr">
            <a:noFill/>
            <a:prstDash val="solid"/>
            <a:miter lim="800000"/>
          </a:ln>
          <a:effectLst/>
        </p:spPr>
        <p:txBody>
          <a:bodyPr spcFirstLastPara="0" vert="horz" wrap="square" lIns="91444" tIns="45722" rIns="91444" bIns="45722" rtlCol="0" anchor="ctr" anchorCtr="0">
            <a:noAutofit/>
          </a:bodyPr>
          <a:lstStyle/>
          <a:p>
            <a:pPr lvl="0" algn="ctr">
              <a:buClrTx/>
              <a:buSzTx/>
              <a:buFontTx/>
            </a:pPr>
            <a:endParaRPr lang="zh-CN" altLang="en-US" sz="12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8" name="Google Shape;459;p24"/>
          <p:cNvSpPr/>
          <p:nvPr>
            <p:custDataLst>
              <p:tags r:id="rId146"/>
            </p:custDataLst>
          </p:nvPr>
        </p:nvSpPr>
        <p:spPr>
          <a:xfrm>
            <a:off x="2038985" y="2694305"/>
            <a:ext cx="639445" cy="99060"/>
          </a:xfrm>
          <a:custGeom>
            <a:avLst/>
            <a:gdLst/>
            <a:ahLst/>
            <a:cxnLst/>
            <a:rect l="l" t="t" r="r" b="b"/>
            <a:pathLst>
              <a:path w="21599" h="21600" extrusionOk="0">
                <a:moveTo>
                  <a:pt x="688" y="0"/>
                </a:moveTo>
                <a:cubicBezTo>
                  <a:pt x="486" y="0"/>
                  <a:pt x="365" y="5"/>
                  <a:pt x="284" y="209"/>
                </a:cubicBezTo>
                <a:cubicBezTo>
                  <a:pt x="167" y="466"/>
                  <a:pt x="75" y="1022"/>
                  <a:pt x="33" y="1728"/>
                </a:cubicBezTo>
                <a:cubicBezTo>
                  <a:pt x="-1" y="2217"/>
                  <a:pt x="0" y="2947"/>
                  <a:pt x="0" y="4171"/>
                </a:cubicBezTo>
                <a:lnTo>
                  <a:pt x="0" y="21600"/>
                </a:lnTo>
                <a:lnTo>
                  <a:pt x="21599" y="21600"/>
                </a:lnTo>
                <a:lnTo>
                  <a:pt x="21599" y="4171"/>
                </a:lnTo>
                <a:cubicBezTo>
                  <a:pt x="21599" y="2947"/>
                  <a:pt x="21598" y="2217"/>
                  <a:pt x="21564" y="1728"/>
                </a:cubicBezTo>
                <a:cubicBezTo>
                  <a:pt x="21522" y="1022"/>
                  <a:pt x="21430" y="466"/>
                  <a:pt x="21313" y="209"/>
                </a:cubicBezTo>
                <a:cubicBezTo>
                  <a:pt x="21232" y="5"/>
                  <a:pt x="21111" y="0"/>
                  <a:pt x="20909" y="0"/>
                </a:cubicBezTo>
                <a:lnTo>
                  <a:pt x="688" y="0"/>
                </a:lnTo>
                <a:close/>
              </a:path>
            </a:pathLst>
          </a:custGeom>
          <a:solidFill>
            <a:schemeClr val="accent1">
              <a:lumMod val="60000"/>
              <a:lumOff val="40000"/>
            </a:schemeClr>
          </a:solidFill>
          <a:ln>
            <a:noFill/>
          </a:ln>
        </p:spPr>
        <p:txBody>
          <a:bodyPr spcFirstLastPara="1" wrap="square" lIns="0" tIns="0" rIns="0" bIns="0" anchor="ctr" anchorCtr="0">
            <a:noAutofit/>
          </a:bodyPr>
          <a:lstStyle/>
          <a:p>
            <a:pPr algn="ctr">
              <a:buClr>
                <a:srgbClr val="525455"/>
              </a:buClr>
              <a:buSzPts val="1100"/>
            </a:pPr>
            <a:endParaRPr sz="1465">
              <a:solidFill>
                <a:srgbClr val="5254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7" name="Google Shape;465;p24"/>
          <p:cNvSpPr/>
          <p:nvPr>
            <p:custDataLst>
              <p:tags r:id="rId147"/>
            </p:custDataLst>
          </p:nvPr>
        </p:nvSpPr>
        <p:spPr>
          <a:xfrm>
            <a:off x="2690495" y="2694305"/>
            <a:ext cx="639445" cy="99060"/>
          </a:xfrm>
          <a:custGeom>
            <a:avLst/>
            <a:gdLst/>
            <a:ahLst/>
            <a:cxnLst/>
            <a:rect l="l" t="t" r="r" b="b"/>
            <a:pathLst>
              <a:path w="21599" h="21600" extrusionOk="0">
                <a:moveTo>
                  <a:pt x="688" y="0"/>
                </a:moveTo>
                <a:cubicBezTo>
                  <a:pt x="486" y="0"/>
                  <a:pt x="365" y="5"/>
                  <a:pt x="284" y="209"/>
                </a:cubicBezTo>
                <a:cubicBezTo>
                  <a:pt x="167" y="466"/>
                  <a:pt x="75" y="1022"/>
                  <a:pt x="33" y="1728"/>
                </a:cubicBezTo>
                <a:cubicBezTo>
                  <a:pt x="-1" y="2217"/>
                  <a:pt x="0" y="2947"/>
                  <a:pt x="0" y="4171"/>
                </a:cubicBezTo>
                <a:lnTo>
                  <a:pt x="0" y="21600"/>
                </a:lnTo>
                <a:lnTo>
                  <a:pt x="21599" y="21600"/>
                </a:lnTo>
                <a:lnTo>
                  <a:pt x="21599" y="4171"/>
                </a:lnTo>
                <a:cubicBezTo>
                  <a:pt x="21599" y="2947"/>
                  <a:pt x="21598" y="2217"/>
                  <a:pt x="21564" y="1728"/>
                </a:cubicBezTo>
                <a:cubicBezTo>
                  <a:pt x="21522" y="1022"/>
                  <a:pt x="21430" y="466"/>
                  <a:pt x="21313" y="209"/>
                </a:cubicBezTo>
                <a:cubicBezTo>
                  <a:pt x="21232" y="5"/>
                  <a:pt x="21111" y="0"/>
                  <a:pt x="20909" y="0"/>
                </a:cubicBezTo>
                <a:lnTo>
                  <a:pt x="688" y="0"/>
                </a:lnTo>
                <a:close/>
              </a:path>
            </a:pathLst>
          </a:custGeom>
          <a:solidFill>
            <a:schemeClr val="accent1">
              <a:lumMod val="60000"/>
              <a:lumOff val="40000"/>
            </a:schemeClr>
          </a:solidFill>
          <a:ln>
            <a:noFill/>
          </a:ln>
        </p:spPr>
        <p:txBody>
          <a:bodyPr spcFirstLastPara="1" wrap="square" lIns="0" tIns="0" rIns="0" bIns="0" anchor="ctr" anchorCtr="0">
            <a:noAutofit/>
          </a:bodyPr>
          <a:lstStyle/>
          <a:p>
            <a:pPr algn="ctr">
              <a:buClr>
                <a:srgbClr val="525455"/>
              </a:buClr>
              <a:buSzPts val="1100"/>
            </a:pPr>
            <a:endParaRPr sz="1465">
              <a:solidFill>
                <a:srgbClr val="5254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天蝎PPT1"/>
          <p:cNvPicPr>
            <a:picLocks noChangeAspect="1"/>
          </p:cNvPicPr>
          <p:nvPr/>
        </p:nvPicPr>
        <p:blipFill rotWithShape="1">
          <a:blip r:embed="rId1" cstate="email"/>
          <a:srcRect/>
          <a:stretch>
            <a:fillRect/>
          </a:stretch>
        </p:blipFill>
        <p:spPr>
          <a:xfrm flipH="1">
            <a:off x="4431665" y="1270"/>
            <a:ext cx="7755825" cy="6858000"/>
          </a:xfrm>
          <a:prstGeom prst="rect">
            <a:avLst/>
          </a:prstGeom>
        </p:spPr>
      </p:pic>
      <p:sp>
        <p:nvSpPr>
          <p:cNvPr id="36" name="矩形 35"/>
          <p:cNvSpPr/>
          <p:nvPr/>
        </p:nvSpPr>
        <p:spPr>
          <a:xfrm>
            <a:off x="0" y="1270"/>
            <a:ext cx="12268200" cy="6858000"/>
          </a:xfrm>
          <a:prstGeom prst="rect">
            <a:avLst/>
          </a:prstGeom>
          <a:gradFill>
            <a:gsLst>
              <a:gs pos="0">
                <a:srgbClr val="EDEEF2">
                  <a:lumMod val="0"/>
                  <a:lumOff val="100000"/>
                </a:srgbClr>
              </a:gs>
              <a:gs pos="100000">
                <a:srgbClr val="DBDBDD">
                  <a:alpha val="50000"/>
                </a:srgbClr>
              </a:gs>
            </a:gsLst>
            <a:lin ang="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3" name="矩形 2"/>
          <p:cNvSpPr/>
          <p:nvPr/>
        </p:nvSpPr>
        <p:spPr>
          <a:xfrm>
            <a:off x="0" y="-5080"/>
            <a:ext cx="5048250" cy="6865620"/>
          </a:xfrm>
          <a:prstGeom prst="rect">
            <a:avLst/>
          </a:prstGeom>
          <a:gradFill>
            <a:gsLst>
              <a:gs pos="0">
                <a:schemeClr val="accent1">
                  <a:lumMod val="10000"/>
                  <a:lumOff val="90000"/>
                </a:schemeClr>
              </a:gs>
              <a:gs pos="100000">
                <a:schemeClr val="accent1">
                  <a:lumMod val="10000"/>
                  <a:lumOff val="90000"/>
                </a:schemeClr>
              </a:gs>
            </a:gsLst>
            <a:lin ang="5400000" scaled="0"/>
          </a:gradFill>
          <a:ln>
            <a:no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grpSp>
        <p:nvGrpSpPr>
          <p:cNvPr id="15" name="组合 14"/>
          <p:cNvGrpSpPr/>
          <p:nvPr/>
        </p:nvGrpSpPr>
        <p:grpSpPr>
          <a:xfrm>
            <a:off x="585470" y="1805940"/>
            <a:ext cx="3877310" cy="1181735"/>
            <a:chOff x="4274" y="7459"/>
            <a:chExt cx="6106" cy="1861"/>
          </a:xfrm>
        </p:grpSpPr>
        <p:sp>
          <p:nvSpPr>
            <p:cNvPr id="6" name="文本框 5"/>
            <p:cNvSpPr txBox="1"/>
            <p:nvPr/>
          </p:nvSpPr>
          <p:spPr>
            <a:xfrm>
              <a:off x="4274" y="7459"/>
              <a:ext cx="6106" cy="919"/>
            </a:xfrm>
            <a:prstGeom prst="rect">
              <a:avLst/>
            </a:prstGeom>
            <a:noFill/>
          </p:spPr>
          <p:txBody>
            <a:bodyPr wrap="square" rtlCol="0" anchor="ctr" anchorCtr="0">
              <a:spAutoFit/>
            </a:bodyPr>
            <a:lstStyle/>
            <a:p>
              <a:pPr algn="ctr" fontAlgn="ctr">
                <a:lnSpc>
                  <a:spcPct val="100000"/>
                </a:lnSpc>
              </a:pPr>
              <a:r>
                <a:rPr lang="zh-CN" sz="32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时间轴流程架构</a:t>
              </a:r>
              <a:endParaRPr lang="zh-CN" sz="32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9" name="文本框 8"/>
            <p:cNvSpPr txBox="1"/>
            <p:nvPr/>
          </p:nvSpPr>
          <p:spPr>
            <a:xfrm>
              <a:off x="4294" y="8789"/>
              <a:ext cx="5370" cy="531"/>
            </a:xfrm>
            <a:prstGeom prst="rect">
              <a:avLst/>
            </a:prstGeom>
            <a:noFill/>
          </p:spPr>
          <p:txBody>
            <a:bodyPr wrap="square" rtlCol="0" anchor="ctr" anchorCtr="0">
              <a:spAutoFit/>
            </a:bodyPr>
            <a:lstStyle/>
            <a:p>
              <a:pPr algn="ctr" fontAlgn="ctr">
                <a:lnSpc>
                  <a:spcPct val="100000"/>
                </a:lnSpc>
              </a:pPr>
              <a:r>
                <a:rPr lang="en-US" altLang="zh-CN" sz="1600">
                  <a:solidFill>
                    <a:schemeClr val="tx1">
                      <a:alpha val="50000"/>
                    </a:schemeClr>
                  </a:solidFill>
                  <a:latin typeface="微软雅黑" panose="020B0503020204020204" charset="-122"/>
                  <a:ea typeface="微软雅黑" panose="020B0503020204020204" charset="-122"/>
                  <a:cs typeface="微软雅黑" panose="020B0503020204020204" charset="-122"/>
                  <a:sym typeface="+mn-ea"/>
                </a:rPr>
                <a:t>Time Process Framework</a:t>
              </a:r>
              <a:endParaRPr lang="en-US" altLang="zh-CN" sz="1600">
                <a:solidFill>
                  <a:schemeClr val="accent6">
                    <a:alpha val="5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2" name="矩形 11"/>
            <p:cNvSpPr/>
            <p:nvPr/>
          </p:nvSpPr>
          <p:spPr>
            <a:xfrm>
              <a:off x="5041" y="8400"/>
              <a:ext cx="624" cy="57"/>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grpSp>
      <p:sp>
        <p:nvSpPr>
          <p:cNvPr id="30" name="文本框 29"/>
          <p:cNvSpPr txBox="1"/>
          <p:nvPr/>
        </p:nvSpPr>
        <p:spPr>
          <a:xfrm>
            <a:off x="2000885" y="833755"/>
            <a:ext cx="1046480" cy="860425"/>
          </a:xfrm>
          <a:prstGeom prst="rect">
            <a:avLst/>
          </a:prstGeom>
          <a:noFill/>
        </p:spPr>
        <p:txBody>
          <a:bodyPr wrap="square" rtlCol="0" anchor="ctr" anchorCtr="0">
            <a:spAutoFit/>
          </a:bodyPr>
          <a:lstStyle/>
          <a:p>
            <a:pPr lvl="0" algn="ctr" fontAlgn="ctr">
              <a:buClrTx/>
              <a:buSzTx/>
              <a:buFontTx/>
            </a:pPr>
            <a:r>
              <a:rPr lang="zh-CN" altLang="en-US" sz="5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⑥</a:t>
            </a:r>
            <a:endParaRPr lang="zh-CN" altLang="en-US" sz="5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 name="文本框 1"/>
          <p:cNvSpPr txBox="1"/>
          <p:nvPr/>
        </p:nvSpPr>
        <p:spPr>
          <a:xfrm>
            <a:off x="5887720" y="2181860"/>
            <a:ext cx="5712460" cy="1706880"/>
          </a:xfrm>
          <a:prstGeom prst="rect">
            <a:avLst/>
          </a:prstGeom>
          <a:noFill/>
        </p:spPr>
        <p:txBody>
          <a:bodyPr wrap="square" rtlCol="0">
            <a:spAutoFit/>
          </a:bodyPr>
          <a:lstStyle/>
          <a:p>
            <a:pPr indent="0" fontAlgn="auto">
              <a:lnSpc>
                <a:spcPct val="150000"/>
              </a:lnSpc>
            </a:pPr>
            <a:r>
              <a:rPr lang="zh-CN" altLang="en-US" sz="1400" b="1">
                <a:solidFill>
                  <a:schemeClr val="tx2"/>
                </a:solidFill>
                <a:latin typeface="微软雅黑" panose="020B0503020204020204" charset="-122"/>
                <a:ea typeface="微软雅黑" panose="020B0503020204020204" charset="-122"/>
                <a:cs typeface="微软雅黑" panose="020B0503020204020204" charset="-122"/>
              </a:rPr>
              <a:t>设计元素：</a:t>
            </a:r>
            <a:r>
              <a:rPr lang="zh-CN" altLang="en-US" sz="1400">
                <a:solidFill>
                  <a:schemeClr val="tx2"/>
                </a:solidFill>
                <a:latin typeface="微软雅黑" panose="020B0503020204020204" charset="-122"/>
                <a:ea typeface="微软雅黑" panose="020B0503020204020204" charset="-122"/>
                <a:cs typeface="微软雅黑" panose="020B0503020204020204" charset="-122"/>
              </a:rPr>
              <a:t>以具体业务为场景，分步构建流程逻辑，关键节点标注。</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zh-CN" altLang="en-US" sz="1400" b="1">
                <a:solidFill>
                  <a:schemeClr val="tx2"/>
                </a:solidFill>
                <a:latin typeface="微软雅黑" panose="020B0503020204020204" charset="-122"/>
                <a:ea typeface="微软雅黑" panose="020B0503020204020204" charset="-122"/>
                <a:cs typeface="微软雅黑" panose="020B0503020204020204" charset="-122"/>
              </a:rPr>
              <a:t>应用场景：</a:t>
            </a:r>
            <a:r>
              <a:rPr lang="zh-CN" altLang="en-US" sz="1400">
                <a:solidFill>
                  <a:schemeClr val="tx2"/>
                </a:solidFill>
                <a:latin typeface="微软雅黑" panose="020B0503020204020204" charset="-122"/>
                <a:ea typeface="微软雅黑" panose="020B0503020204020204" charset="-122"/>
                <a:cs typeface="微软雅黑" panose="020B0503020204020204" charset="-122"/>
              </a:rPr>
              <a:t>主要应用如</a:t>
            </a:r>
            <a:r>
              <a:rPr lang="zh-CN" sz="1400">
                <a:solidFill>
                  <a:schemeClr val="tx2"/>
                </a:solidFill>
                <a:latin typeface="微软雅黑" panose="020B0503020204020204" charset="-122"/>
                <a:ea typeface="微软雅黑" panose="020B0503020204020204" charset="-122"/>
                <a:cs typeface="微软雅黑" panose="020B0503020204020204" charset="-122"/>
              </a:rPr>
              <a:t>电商的流程优化、企业数字化改造的流程、企业战略汇报时的目标与执行路径，</a:t>
            </a:r>
            <a:r>
              <a:rPr lang="zh-CN" altLang="en-US" sz="1400">
                <a:solidFill>
                  <a:schemeClr val="tx2"/>
                </a:solidFill>
                <a:latin typeface="微软雅黑" panose="020B0503020204020204" charset="-122"/>
                <a:ea typeface="微软雅黑" panose="020B0503020204020204" charset="-122"/>
                <a:cs typeface="微软雅黑" panose="020B0503020204020204" charset="-122"/>
              </a:rPr>
              <a:t>帮助您构建清晰、高效且可落地的业务流程图解。</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zh-CN" altLang="en-US" sz="1400" b="1">
                <a:solidFill>
                  <a:schemeClr val="accent5"/>
                </a:solidFill>
                <a:latin typeface="微软雅黑" panose="020B0503020204020204" charset="-122"/>
                <a:ea typeface="微软雅黑" panose="020B0503020204020204" charset="-122"/>
                <a:cs typeface="微软雅黑" panose="020B0503020204020204" charset="-122"/>
              </a:rPr>
              <a:t>核心关键词：</a:t>
            </a:r>
            <a:r>
              <a:rPr lang="zh-CN" altLang="en-US" sz="1400">
                <a:solidFill>
                  <a:schemeClr val="tx2"/>
                </a:solidFill>
                <a:latin typeface="微软雅黑" panose="020B0503020204020204" charset="-122"/>
                <a:ea typeface="微软雅黑" panose="020B0503020204020204" charset="-122"/>
                <a:cs typeface="微软雅黑" panose="020B0503020204020204" charset="-122"/>
              </a:rPr>
              <a:t>「场景适配、主线流程构建、分层分模块扩展</a:t>
            </a:r>
            <a:r>
              <a:rPr lang="en-US" altLang="zh-CN" sz="14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40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161" name="组合 160"/>
          <p:cNvGrpSpPr/>
          <p:nvPr>
            <p:custDataLst>
              <p:tags r:id="rId2"/>
            </p:custDataLst>
          </p:nvPr>
        </p:nvGrpSpPr>
        <p:grpSpPr>
          <a:xfrm>
            <a:off x="796925" y="3731895"/>
            <a:ext cx="3519805" cy="1737360"/>
            <a:chOff x="759" y="11416"/>
            <a:chExt cx="6502" cy="3209"/>
          </a:xfrm>
        </p:grpSpPr>
        <p:grpSp>
          <p:nvGrpSpPr>
            <p:cNvPr id="280" name="天蝎PPT原创©1"/>
            <p:cNvGrpSpPr/>
            <p:nvPr>
              <p:custDataLst>
                <p:tags r:id="rId3"/>
              </p:custDataLst>
            </p:nvPr>
          </p:nvGrpSpPr>
          <p:grpSpPr>
            <a:xfrm>
              <a:off x="760" y="11850"/>
              <a:ext cx="6496" cy="2138"/>
              <a:chOff x="371833" y="1813205"/>
              <a:chExt cx="11650653" cy="1175604"/>
            </a:xfrm>
            <a:solidFill>
              <a:srgbClr val="B2C5D4"/>
            </a:solidFill>
          </p:grpSpPr>
          <p:sp>
            <p:nvSpPr>
              <p:cNvPr id="281" name="天蝎PPT原创©1-1"/>
              <p:cNvSpPr/>
              <p:nvPr>
                <p:custDataLst>
                  <p:tags r:id="rId4"/>
                </p:custDataLst>
              </p:nvPr>
            </p:nvSpPr>
            <p:spPr>
              <a:xfrm>
                <a:off x="371833" y="1813205"/>
                <a:ext cx="2828387" cy="1175604"/>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82" name="天蝎PPT原创©1-2"/>
              <p:cNvSpPr/>
              <p:nvPr>
                <p:custDataLst>
                  <p:tags r:id="rId5"/>
                </p:custDataLst>
              </p:nvPr>
            </p:nvSpPr>
            <p:spPr>
              <a:xfrm>
                <a:off x="3318233" y="1813205"/>
                <a:ext cx="2828387" cy="1175604"/>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87" name="天蝎PPT原创©1-3"/>
              <p:cNvSpPr/>
              <p:nvPr>
                <p:custDataLst>
                  <p:tags r:id="rId6"/>
                </p:custDataLst>
              </p:nvPr>
            </p:nvSpPr>
            <p:spPr>
              <a:xfrm>
                <a:off x="6247699" y="1813205"/>
                <a:ext cx="2828387" cy="1175604"/>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88" name="天蝎PPT原创©1-4"/>
              <p:cNvSpPr/>
              <p:nvPr>
                <p:custDataLst>
                  <p:tags r:id="rId7"/>
                </p:custDataLst>
              </p:nvPr>
            </p:nvSpPr>
            <p:spPr>
              <a:xfrm>
                <a:off x="9194099" y="1813205"/>
                <a:ext cx="2828387" cy="1175604"/>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sp>
          <p:nvSpPr>
            <p:cNvPr id="289" name="天蝎PPT原创©2-1"/>
            <p:cNvSpPr/>
            <p:nvPr>
              <p:custDataLst>
                <p:tags r:id="rId8"/>
              </p:custDataLst>
            </p:nvPr>
          </p:nvSpPr>
          <p:spPr>
            <a:xfrm>
              <a:off x="765" y="11850"/>
              <a:ext cx="1577" cy="551"/>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90" name="天蝎PPT原创©2-2"/>
            <p:cNvSpPr/>
            <p:nvPr>
              <p:custDataLst>
                <p:tags r:id="rId9"/>
              </p:custDataLst>
            </p:nvPr>
          </p:nvSpPr>
          <p:spPr>
            <a:xfrm>
              <a:off x="2408" y="11850"/>
              <a:ext cx="1577" cy="551"/>
            </a:xfrm>
            <a:prstGeom prst="rect">
              <a:avLst/>
            </a:prstGeom>
            <a:solidFill>
              <a:schemeClr val="accent1">
                <a:lumMod val="60000"/>
                <a:lumOff val="40000"/>
              </a:schemeClr>
            </a:solidFill>
            <a:ln>
              <a:noFill/>
            </a:ln>
          </p:spPr>
          <p:txBody>
            <a:bodyPr spcFirstLastPara="1" wrap="square" lIns="0" tIns="0" rIns="0" bIns="0" rtlCol="0" anchor="ctr" anchorCtr="0">
              <a:noAutofit/>
            </a:bodyPr>
            <a:lstStyle/>
            <a:p>
              <a:pPr lvl="0" algn="ctr">
                <a:buClr>
                  <a:srgbClr val="525455"/>
                </a:buClr>
                <a:buSzPts val="1100"/>
                <a:buFontTx/>
              </a:pPr>
              <a:endParaRPr sz="1465">
                <a:solidFill>
                  <a:srgbClr val="525455"/>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96" name="天蝎PPT原创©2-3"/>
            <p:cNvSpPr/>
            <p:nvPr>
              <p:custDataLst>
                <p:tags r:id="rId10"/>
              </p:custDataLst>
            </p:nvPr>
          </p:nvSpPr>
          <p:spPr>
            <a:xfrm>
              <a:off x="4042" y="11850"/>
              <a:ext cx="1577" cy="551"/>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97" name="天蝎PPT原创©2-4"/>
            <p:cNvSpPr/>
            <p:nvPr>
              <p:custDataLst>
                <p:tags r:id="rId11"/>
              </p:custDataLst>
            </p:nvPr>
          </p:nvSpPr>
          <p:spPr>
            <a:xfrm>
              <a:off x="5684" y="11850"/>
              <a:ext cx="1577" cy="551"/>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98" name="天蝎PPT原创©7"/>
            <p:cNvSpPr/>
            <p:nvPr>
              <p:custDataLst>
                <p:tags r:id="rId12"/>
              </p:custDataLst>
            </p:nvPr>
          </p:nvSpPr>
          <p:spPr>
            <a:xfrm>
              <a:off x="765" y="14069"/>
              <a:ext cx="1040" cy="556"/>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solidFill>
                  <a:srgbClr val="FFFFFF"/>
                </a:solidFill>
                <a:latin typeface="微软雅黑" panose="020B0503020204020204" charset="-122"/>
                <a:ea typeface="微软雅黑" panose="020B0503020204020204" charset="-122"/>
                <a:cs typeface="+mn-ea"/>
                <a:sym typeface="Arial" panose="020B0604020202020204" pitchFamily="34" charset="0"/>
              </a:endParaRPr>
            </a:p>
          </p:txBody>
        </p:sp>
        <p:sp>
          <p:nvSpPr>
            <p:cNvPr id="299" name="天蝎PPT原创©8"/>
            <p:cNvSpPr/>
            <p:nvPr>
              <p:custDataLst>
                <p:tags r:id="rId13"/>
              </p:custDataLst>
            </p:nvPr>
          </p:nvSpPr>
          <p:spPr>
            <a:xfrm>
              <a:off x="1848" y="14069"/>
              <a:ext cx="5413" cy="556"/>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algn="ctr"/>
              <a:endParaRPr kumimoji="1"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300" name="天蝎PPT原创©18"/>
            <p:cNvSpPr/>
            <p:nvPr>
              <p:custDataLst>
                <p:tags r:id="rId14"/>
              </p:custDataLst>
            </p:nvPr>
          </p:nvSpPr>
          <p:spPr>
            <a:xfrm rot="5400000">
              <a:off x="3849" y="8442"/>
              <a:ext cx="438" cy="6386"/>
            </a:xfrm>
            <a:custGeom>
              <a:avLst/>
              <a:gdLst>
                <a:gd name="connsiteX0" fmla="*/ 0 w 298898"/>
                <a:gd name="connsiteY0" fmla="*/ 257670 h 10698196"/>
                <a:gd name="connsiteX1" fmla="*/ 149449 w 298898"/>
                <a:gd name="connsiteY1" fmla="*/ 0 h 10698196"/>
                <a:gd name="connsiteX2" fmla="*/ 298898 w 298898"/>
                <a:gd name="connsiteY2" fmla="*/ 257670 h 10698196"/>
                <a:gd name="connsiteX3" fmla="*/ 213612 w 298898"/>
                <a:gd name="connsiteY3" fmla="*/ 257670 h 10698196"/>
                <a:gd name="connsiteX4" fmla="*/ 213612 w 298898"/>
                <a:gd name="connsiteY4" fmla="*/ 10698196 h 10698196"/>
                <a:gd name="connsiteX5" fmla="*/ 87002 w 298898"/>
                <a:gd name="connsiteY5" fmla="*/ 10698196 h 10698196"/>
                <a:gd name="connsiteX6" fmla="*/ 87002 w 298898"/>
                <a:gd name="connsiteY6" fmla="*/ 257670 h 10698196"/>
                <a:gd name="connsiteX0-1" fmla="*/ 0 w 270261"/>
                <a:gd name="connsiteY0-2" fmla="*/ 271117 h 10698196"/>
                <a:gd name="connsiteX1-3" fmla="*/ 120812 w 270261"/>
                <a:gd name="connsiteY1-4" fmla="*/ 0 h 10698196"/>
                <a:gd name="connsiteX2-5" fmla="*/ 270261 w 270261"/>
                <a:gd name="connsiteY2-6" fmla="*/ 257670 h 10698196"/>
                <a:gd name="connsiteX3-7" fmla="*/ 184975 w 270261"/>
                <a:gd name="connsiteY3-8" fmla="*/ 257670 h 10698196"/>
                <a:gd name="connsiteX4-9" fmla="*/ 184975 w 270261"/>
                <a:gd name="connsiteY4-10" fmla="*/ 10698196 h 10698196"/>
                <a:gd name="connsiteX5-11" fmla="*/ 58365 w 270261"/>
                <a:gd name="connsiteY5-12" fmla="*/ 10698196 h 10698196"/>
                <a:gd name="connsiteX6-13" fmla="*/ 58365 w 270261"/>
                <a:gd name="connsiteY6-14" fmla="*/ 257670 h 10698196"/>
                <a:gd name="connsiteX7" fmla="*/ 0 w 270261"/>
                <a:gd name="connsiteY7" fmla="*/ 271117 h 10698196"/>
                <a:gd name="connsiteX0-15" fmla="*/ 0 w 270261"/>
                <a:gd name="connsiteY0-16" fmla="*/ 432483 h 10859562"/>
                <a:gd name="connsiteX1-17" fmla="*/ 120813 w 270261"/>
                <a:gd name="connsiteY1-18" fmla="*/ 0 h 10859562"/>
                <a:gd name="connsiteX2-19" fmla="*/ 270261 w 270261"/>
                <a:gd name="connsiteY2-20" fmla="*/ 419036 h 10859562"/>
                <a:gd name="connsiteX3-21" fmla="*/ 184975 w 270261"/>
                <a:gd name="connsiteY3-22" fmla="*/ 419036 h 10859562"/>
                <a:gd name="connsiteX4-23" fmla="*/ 184975 w 270261"/>
                <a:gd name="connsiteY4-24" fmla="*/ 10859562 h 10859562"/>
                <a:gd name="connsiteX5-25" fmla="*/ 58365 w 270261"/>
                <a:gd name="connsiteY5-26" fmla="*/ 10859562 h 10859562"/>
                <a:gd name="connsiteX6-27" fmla="*/ 58365 w 270261"/>
                <a:gd name="connsiteY6-28" fmla="*/ 419036 h 10859562"/>
                <a:gd name="connsiteX7-29" fmla="*/ 0 w 270261"/>
                <a:gd name="connsiteY7-30" fmla="*/ 432483 h 10859562"/>
                <a:gd name="connsiteX0-31" fmla="*/ 0 w 237533"/>
                <a:gd name="connsiteY0-32" fmla="*/ 432483 h 10859562"/>
                <a:gd name="connsiteX1-33" fmla="*/ 120813 w 237533"/>
                <a:gd name="connsiteY1-34" fmla="*/ 0 h 10859562"/>
                <a:gd name="connsiteX2-35" fmla="*/ 237533 w 237533"/>
                <a:gd name="connsiteY2-36" fmla="*/ 405589 h 10859562"/>
                <a:gd name="connsiteX3-37" fmla="*/ 184975 w 237533"/>
                <a:gd name="connsiteY3-38" fmla="*/ 419036 h 10859562"/>
                <a:gd name="connsiteX4-39" fmla="*/ 184975 w 237533"/>
                <a:gd name="connsiteY4-40" fmla="*/ 10859562 h 10859562"/>
                <a:gd name="connsiteX5-41" fmla="*/ 58365 w 237533"/>
                <a:gd name="connsiteY5-42" fmla="*/ 10859562 h 10859562"/>
                <a:gd name="connsiteX6-43" fmla="*/ 58365 w 237533"/>
                <a:gd name="connsiteY6-44" fmla="*/ 419036 h 10859562"/>
                <a:gd name="connsiteX7-45" fmla="*/ 0 w 237533"/>
                <a:gd name="connsiteY7-46" fmla="*/ 432483 h 108595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29" y="connsiteY7-30"/>
                </a:cxn>
              </a:cxnLst>
              <a:rect l="l" t="t" r="r" b="b"/>
              <a:pathLst>
                <a:path w="237533" h="10859562">
                  <a:moveTo>
                    <a:pt x="0" y="432483"/>
                  </a:moveTo>
                  <a:lnTo>
                    <a:pt x="120813" y="0"/>
                  </a:lnTo>
                  <a:lnTo>
                    <a:pt x="237533" y="405589"/>
                  </a:lnTo>
                  <a:lnTo>
                    <a:pt x="184975" y="419036"/>
                  </a:lnTo>
                  <a:lnTo>
                    <a:pt x="184975" y="10859562"/>
                  </a:lnTo>
                  <a:lnTo>
                    <a:pt x="58365" y="10859562"/>
                  </a:lnTo>
                  <a:lnTo>
                    <a:pt x="58365" y="419036"/>
                  </a:lnTo>
                  <a:cubicBezTo>
                    <a:pt x="29364" y="419036"/>
                    <a:pt x="29001" y="432483"/>
                    <a:pt x="0" y="432483"/>
                  </a:cubicBezTo>
                  <a:close/>
                </a:path>
              </a:pathLst>
            </a:cu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wrap="square" rtlCol="0" anchor="ctr">
              <a:noAutofit/>
            </a:bodyPr>
            <a:lstStyle/>
            <a:p>
              <a:pPr algn="ct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01" name="天蝎PPT原创©25"/>
            <p:cNvSpPr/>
            <p:nvPr>
              <p:custDataLst>
                <p:tags r:id="rId15"/>
              </p:custDataLst>
            </p:nvPr>
          </p:nvSpPr>
          <p:spPr>
            <a:xfrm>
              <a:off x="2396" y="11521"/>
              <a:ext cx="236" cy="236"/>
            </a:xfrm>
            <a:prstGeom prst="ellipse">
              <a:avLst/>
            </a:prstGeom>
            <a:solidFill>
              <a:schemeClr val="accent1">
                <a:lumMod val="60000"/>
                <a:lumOff val="40000"/>
              </a:schemeClr>
            </a:solidFill>
            <a:ln w="12700" cap="flat" cmpd="sng" algn="ctr">
              <a:noFill/>
              <a:prstDash val="solid"/>
              <a:miter lim="800000"/>
            </a:ln>
            <a:effectLst>
              <a:outerShdw blurRad="381000" dist="190500" dir="5400000" sx="90000" sy="90000" algn="ctr" rotWithShape="0">
                <a:srgbClr val="24396B">
                  <a:alpha val="30000"/>
                </a:srgbClr>
              </a:outerShdw>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06" name="天蝎PPT原创©27"/>
            <p:cNvSpPr/>
            <p:nvPr>
              <p:custDataLst>
                <p:tags r:id="rId16"/>
              </p:custDataLst>
            </p:nvPr>
          </p:nvSpPr>
          <p:spPr>
            <a:xfrm>
              <a:off x="4019" y="11521"/>
              <a:ext cx="236" cy="236"/>
            </a:xfrm>
            <a:prstGeom prst="ellipse">
              <a:avLst/>
            </a:prstGeom>
            <a:solidFill>
              <a:schemeClr val="accent1">
                <a:lumMod val="60000"/>
                <a:lumOff val="40000"/>
              </a:schemeClr>
            </a:solidFill>
            <a:ln w="12700" cap="flat" cmpd="sng" algn="ctr">
              <a:noFill/>
              <a:prstDash val="solid"/>
              <a:miter lim="800000"/>
            </a:ln>
            <a:effectLst>
              <a:outerShdw blurRad="381000" dist="190500" dir="5400000" sx="90000" sy="90000" algn="ctr" rotWithShape="0">
                <a:srgbClr val="24396B">
                  <a:alpha val="30000"/>
                </a:srgbClr>
              </a:outerShdw>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07" name="天蝎PPT原创©29"/>
            <p:cNvSpPr/>
            <p:nvPr>
              <p:custDataLst>
                <p:tags r:id="rId17"/>
              </p:custDataLst>
            </p:nvPr>
          </p:nvSpPr>
          <p:spPr>
            <a:xfrm>
              <a:off x="5624" y="11521"/>
              <a:ext cx="236" cy="236"/>
            </a:xfrm>
            <a:prstGeom prst="ellipse">
              <a:avLst/>
            </a:prstGeom>
            <a:solidFill>
              <a:schemeClr val="accent1">
                <a:lumMod val="60000"/>
                <a:lumOff val="40000"/>
              </a:schemeClr>
            </a:solidFill>
            <a:ln w="12700" cap="flat" cmpd="sng" algn="ctr">
              <a:noFill/>
              <a:prstDash val="solid"/>
              <a:miter lim="800000"/>
            </a:ln>
            <a:effectLst>
              <a:outerShdw blurRad="381000" dist="190500" dir="5400000" sx="90000" sy="90000" algn="ctr" rotWithShape="0">
                <a:srgbClr val="24396B">
                  <a:alpha val="30000"/>
                </a:srgbClr>
              </a:outerShdw>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08" name="天蝎PPT原创©17"/>
            <p:cNvSpPr/>
            <p:nvPr>
              <p:custDataLst>
                <p:tags r:id="rId18"/>
              </p:custDataLst>
            </p:nvPr>
          </p:nvSpPr>
          <p:spPr>
            <a:xfrm>
              <a:off x="759" y="11521"/>
              <a:ext cx="236" cy="236"/>
            </a:xfrm>
            <a:prstGeom prst="ellipse">
              <a:avLst/>
            </a:prstGeom>
            <a:solidFill>
              <a:schemeClr val="accent1">
                <a:lumMod val="60000"/>
                <a:lumOff val="40000"/>
              </a:schemeClr>
            </a:solidFill>
            <a:ln w="12700" cap="flat" cmpd="sng" algn="ctr">
              <a:noFill/>
              <a:prstDash val="solid"/>
              <a:miter lim="800000"/>
            </a:ln>
            <a:effectLst>
              <a:outerShdw blurRad="381000" dist="190500" dir="5400000" sx="90000" sy="90000" algn="ctr" rotWithShape="0">
                <a:srgbClr val="24396B">
                  <a:alpha val="30000"/>
                </a:srgbClr>
              </a:outerShdw>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文本框 96"/>
          <p:cNvSpPr txBox="1"/>
          <p:nvPr/>
        </p:nvSpPr>
        <p:spPr>
          <a:xfrm rot="20820000">
            <a:off x="6416040" y="2844165"/>
            <a:ext cx="949960" cy="306705"/>
          </a:xfrm>
          <a:prstGeom prst="rect">
            <a:avLst/>
          </a:prstGeom>
          <a:noFill/>
        </p:spPr>
        <p:txBody>
          <a:bodyPr wrap="square" rtlCol="0">
            <a:spAutoFit/>
          </a:bodyPr>
          <a:p>
            <a:r>
              <a:rPr lang="zh-CN" altLang="en-US" sz="1400" b="1">
                <a:solidFill>
                  <a:schemeClr val="tx2"/>
                </a:solidFill>
                <a:latin typeface="微软雅黑" panose="020B0503020204020204" charset="-122"/>
                <a:ea typeface="微软雅黑" panose="020B0503020204020204" charset="-122"/>
                <a:cs typeface="微软雅黑" panose="020B0503020204020204" charset="-122"/>
              </a:rPr>
              <a:t>近期目标</a:t>
            </a:r>
            <a:endParaRPr lang="zh-CN" altLang="en-US" sz="14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9" name="文本框 98"/>
          <p:cNvSpPr txBox="1"/>
          <p:nvPr/>
        </p:nvSpPr>
        <p:spPr>
          <a:xfrm rot="21000000">
            <a:off x="5031105" y="3418840"/>
            <a:ext cx="2781935" cy="306705"/>
          </a:xfrm>
          <a:prstGeom prst="rect">
            <a:avLst/>
          </a:prstGeom>
          <a:noFill/>
        </p:spPr>
        <p:txBody>
          <a:bodyPr wrap="square" rtlCol="0">
            <a:spAutoFit/>
          </a:bodyPr>
          <a:p>
            <a:r>
              <a:rPr lang="zh-CN" altLang="en-US" sz="1400">
                <a:solidFill>
                  <a:schemeClr val="tx2"/>
                </a:solidFill>
                <a:latin typeface="微软雅黑" panose="020B0503020204020204" charset="-122"/>
                <a:ea typeface="微软雅黑" panose="020B0503020204020204" charset="-122"/>
                <a:cs typeface="微软雅黑" panose="020B0503020204020204" charset="-122"/>
              </a:rPr>
              <a:t>数据治理，一直在路上</a:t>
            </a:r>
            <a:r>
              <a:rPr lang="en-US" altLang="zh-CN" sz="1400">
                <a:solidFill>
                  <a:schemeClr val="tx2"/>
                </a:solidFill>
                <a:latin typeface="微软雅黑" panose="020B0503020204020204" charset="-122"/>
                <a:ea typeface="微软雅黑" panose="020B0503020204020204" charset="-122"/>
                <a:cs typeface="微软雅黑" panose="020B0503020204020204" charset="-122"/>
              </a:rPr>
              <a:t>……</a:t>
            </a:r>
            <a:endParaRPr lang="en-US" altLang="zh-CN"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银行业数据资本化发展</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3" name="五边形 2"/>
          <p:cNvSpPr/>
          <p:nvPr/>
        </p:nvSpPr>
        <p:spPr>
          <a:xfrm>
            <a:off x="1008380" y="2491740"/>
            <a:ext cx="1903730" cy="409575"/>
          </a:xfrm>
          <a:prstGeom prst="homePlate">
            <a:avLst>
              <a:gd name="adj" fmla="val 43050"/>
            </a:avLst>
          </a:prstGeom>
          <a:gradFill>
            <a:gsLst>
              <a:gs pos="0">
                <a:schemeClr val="accent1">
                  <a:lumMod val="40000"/>
                  <a:lumOff val="60000"/>
                </a:schemeClr>
              </a:gs>
              <a:gs pos="42000">
                <a:schemeClr val="accent1">
                  <a:lumMod val="60000"/>
                  <a:lumOff val="40000"/>
                </a:schemeClr>
              </a:gs>
              <a:gs pos="100000">
                <a:schemeClr val="accent1"/>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12" name="文本框 11"/>
          <p:cNvSpPr txBox="1"/>
          <p:nvPr/>
        </p:nvSpPr>
        <p:spPr>
          <a:xfrm>
            <a:off x="1245870" y="2527935"/>
            <a:ext cx="1111250" cy="337185"/>
          </a:xfrm>
          <a:prstGeom prst="rect">
            <a:avLst/>
          </a:prstGeom>
          <a:noFill/>
        </p:spPr>
        <p:txBody>
          <a:bodyPr wrap="square" rtlCol="0">
            <a:spAutoFit/>
          </a:bodyPr>
          <a:p>
            <a:r>
              <a:rPr lang="zh-CN" altLang="en-US" sz="1600" b="1">
                <a:solidFill>
                  <a:schemeClr val="bg1"/>
                </a:solidFill>
                <a:latin typeface="微软雅黑" panose="020B0503020204020204" charset="-122"/>
                <a:ea typeface="微软雅黑" panose="020B0503020204020204" charset="-122"/>
                <a:cs typeface="微软雅黑" panose="020B0503020204020204" charset="-122"/>
              </a:rPr>
              <a:t>发展历程</a:t>
            </a:r>
            <a:endParaRPr lang="zh-CN" altLang="en-US" sz="16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4" name="任意多边形 13"/>
          <p:cNvSpPr/>
          <p:nvPr/>
        </p:nvSpPr>
        <p:spPr>
          <a:xfrm>
            <a:off x="2459990" y="2597150"/>
            <a:ext cx="223520" cy="198755"/>
          </a:xfrm>
          <a:custGeom>
            <a:avLst/>
            <a:gdLst>
              <a:gd name="adj" fmla="val 82692"/>
              <a:gd name="maxAdj" fmla="*/ 100000 w ss"/>
              <a:gd name="a" fmla="pin 0 adj maxAdj"/>
              <a:gd name="x1" fmla="*/ ss a 100000"/>
              <a:gd name="x2" fmla="+- r 0 x1"/>
              <a:gd name="x3" fmla="*/ x2 1 2"/>
              <a:gd name="dx" fmla="+- x2 0 x1"/>
              <a:gd name="il" fmla="?: dx x1 l"/>
              <a:gd name="ir" fmla="?: dx x2 r"/>
            </a:gdLst>
            <a:ahLst/>
            <a:cxnLst>
              <a:cxn ang="3">
                <a:pos x="x3" y="t"/>
              </a:cxn>
              <a:cxn ang="cd2">
                <a:pos x="x1" y="vc"/>
              </a:cxn>
              <a:cxn ang="cd4">
                <a:pos x="x3" y="b"/>
              </a:cxn>
              <a:cxn ang="0">
                <a:pos x="r" y="vc"/>
              </a:cxn>
            </a:cxnLst>
            <a:rect l="l" t="t" r="r" b="b"/>
            <a:pathLst>
              <a:path w="263" h="234">
                <a:moveTo>
                  <a:pt x="0" y="0"/>
                </a:moveTo>
                <a:lnTo>
                  <a:pt x="21" y="0"/>
                </a:lnTo>
                <a:lnTo>
                  <a:pt x="120" y="117"/>
                </a:lnTo>
                <a:lnTo>
                  <a:pt x="21" y="234"/>
                </a:lnTo>
                <a:lnTo>
                  <a:pt x="0" y="234"/>
                </a:lnTo>
                <a:lnTo>
                  <a:pt x="99" y="117"/>
                </a:lnTo>
                <a:lnTo>
                  <a:pt x="0" y="0"/>
                </a:lnTo>
                <a:close/>
                <a:moveTo>
                  <a:pt x="143" y="0"/>
                </a:moveTo>
                <a:lnTo>
                  <a:pt x="164" y="0"/>
                </a:lnTo>
                <a:lnTo>
                  <a:pt x="263" y="117"/>
                </a:lnTo>
                <a:lnTo>
                  <a:pt x="164" y="234"/>
                </a:lnTo>
                <a:lnTo>
                  <a:pt x="143" y="234"/>
                </a:lnTo>
                <a:lnTo>
                  <a:pt x="242" y="117"/>
                </a:lnTo>
                <a:lnTo>
                  <a:pt x="143" y="0"/>
                </a:lnTo>
                <a:close/>
              </a:path>
            </a:pathLst>
          </a:custGeom>
          <a:noFill/>
          <a:ln>
            <a:gradFill>
              <a:gsLst>
                <a:gs pos="0">
                  <a:schemeClr val="bg1">
                    <a:alpha val="50000"/>
                  </a:schemeClr>
                </a:gs>
                <a:gs pos="100000">
                  <a:schemeClr val="bg1"/>
                </a:gs>
              </a:gsLst>
              <a:lin ang="0" scaled="1"/>
            </a:gra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68" name="任意多边形 67"/>
          <p:cNvSpPr/>
          <p:nvPr/>
        </p:nvSpPr>
        <p:spPr>
          <a:xfrm>
            <a:off x="1063625" y="4069715"/>
            <a:ext cx="2476500" cy="854710"/>
          </a:xfrm>
          <a:custGeom>
            <a:avLst/>
            <a:gdLst>
              <a:gd name="adj" fmla="val 50000"/>
              <a:gd name="a" fmla="pin 0 adj 100000"/>
              <a:gd name="x1" fmla="*/ w a 200000"/>
              <a:gd name="x2" fmla="*/ w a 100000"/>
              <a:gd name="x3" fmla="+- x1 wd2 0"/>
            </a:gdLst>
            <a:ahLst/>
            <a:cxnLst>
              <a:cxn ang="3">
                <a:pos x="x2" y="t"/>
              </a:cxn>
              <a:cxn ang="cd2">
                <a:pos x="x1" y="vc"/>
              </a:cxn>
              <a:cxn ang="cd4">
                <a:pos x="l" y="b"/>
              </a:cxn>
              <a:cxn ang="cd4">
                <a:pos x="x2" y="b"/>
              </a:cxn>
              <a:cxn ang="cd4">
                <a:pos x="r" y="b"/>
              </a:cxn>
              <a:cxn ang="0">
                <a:pos x="x3" y="vc"/>
              </a:cxn>
            </a:cxnLst>
            <a:rect l="l" t="t" r="r" b="b"/>
            <a:pathLst>
              <a:path w="3900" h="1346">
                <a:moveTo>
                  <a:pt x="3329" y="215"/>
                </a:moveTo>
                <a:lnTo>
                  <a:pt x="3420" y="0"/>
                </a:lnTo>
                <a:lnTo>
                  <a:pt x="3515" y="228"/>
                </a:lnTo>
                <a:lnTo>
                  <a:pt x="3512" y="228"/>
                </a:lnTo>
                <a:lnTo>
                  <a:pt x="3900" y="1346"/>
                </a:lnTo>
                <a:lnTo>
                  <a:pt x="0" y="1346"/>
                </a:lnTo>
                <a:lnTo>
                  <a:pt x="0" y="215"/>
                </a:lnTo>
                <a:lnTo>
                  <a:pt x="3329" y="215"/>
                </a:lnTo>
                <a:close/>
              </a:path>
            </a:pathLst>
          </a:custGeom>
          <a:gradFill>
            <a:gsLst>
              <a:gs pos="0">
                <a:schemeClr val="accent1">
                  <a:lumMod val="20000"/>
                  <a:lumOff val="80000"/>
                </a:schemeClr>
              </a:gs>
              <a:gs pos="100000">
                <a:schemeClr val="accent1">
                  <a:lumMod val="60000"/>
                  <a:lumOff val="4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69" name="任意多边形 68"/>
          <p:cNvSpPr/>
          <p:nvPr/>
        </p:nvSpPr>
        <p:spPr>
          <a:xfrm>
            <a:off x="3399245" y="3900426"/>
            <a:ext cx="2624958" cy="1023999"/>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4134" h="1613">
                <a:moveTo>
                  <a:pt x="4134" y="1513"/>
                </a:moveTo>
                <a:lnTo>
                  <a:pt x="3854" y="1532"/>
                </a:lnTo>
                <a:lnTo>
                  <a:pt x="3481" y="1553"/>
                </a:lnTo>
                <a:lnTo>
                  <a:pt x="3105" y="1571"/>
                </a:lnTo>
                <a:lnTo>
                  <a:pt x="2726" y="1586"/>
                </a:lnTo>
                <a:lnTo>
                  <a:pt x="2344" y="1598"/>
                </a:lnTo>
                <a:lnTo>
                  <a:pt x="1960" y="1606"/>
                </a:lnTo>
                <a:lnTo>
                  <a:pt x="1573" y="1611"/>
                </a:lnTo>
                <a:lnTo>
                  <a:pt x="1183" y="1613"/>
                </a:lnTo>
                <a:lnTo>
                  <a:pt x="794" y="1611"/>
                </a:lnTo>
                <a:lnTo>
                  <a:pt x="457" y="1607"/>
                </a:lnTo>
                <a:lnTo>
                  <a:pt x="0" y="448"/>
                </a:lnTo>
                <a:lnTo>
                  <a:pt x="42" y="446"/>
                </a:lnTo>
                <a:lnTo>
                  <a:pt x="420" y="432"/>
                </a:lnTo>
                <a:lnTo>
                  <a:pt x="801" y="414"/>
                </a:lnTo>
                <a:lnTo>
                  <a:pt x="1181" y="392"/>
                </a:lnTo>
                <a:lnTo>
                  <a:pt x="1559" y="367"/>
                </a:lnTo>
                <a:lnTo>
                  <a:pt x="1933" y="338"/>
                </a:lnTo>
                <a:lnTo>
                  <a:pt x="2306" y="306"/>
                </a:lnTo>
                <a:lnTo>
                  <a:pt x="2675" y="270"/>
                </a:lnTo>
                <a:lnTo>
                  <a:pt x="3041" y="231"/>
                </a:lnTo>
                <a:lnTo>
                  <a:pt x="3157" y="217"/>
                </a:lnTo>
                <a:lnTo>
                  <a:pt x="3211" y="0"/>
                </a:lnTo>
                <a:lnTo>
                  <a:pt x="3341" y="210"/>
                </a:lnTo>
                <a:lnTo>
                  <a:pt x="3334" y="211"/>
                </a:lnTo>
                <a:lnTo>
                  <a:pt x="4134" y="1513"/>
                </a:lnTo>
                <a:close/>
              </a:path>
            </a:pathLst>
          </a:custGeom>
          <a:gradFill>
            <a:gsLst>
              <a:gs pos="0">
                <a:schemeClr val="accent1">
                  <a:lumMod val="60000"/>
                  <a:lumOff val="40000"/>
                </a:schemeClr>
              </a:gs>
              <a:gs pos="100000">
                <a:schemeClr val="accent1"/>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70" name="任意多边形 69"/>
          <p:cNvSpPr/>
          <p:nvPr/>
        </p:nvSpPr>
        <p:spPr>
          <a:xfrm>
            <a:off x="8086133" y="2724693"/>
            <a:ext cx="3127633" cy="1784046"/>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4925" h="2810">
                <a:moveTo>
                  <a:pt x="4925" y="1774"/>
                </a:moveTo>
                <a:lnTo>
                  <a:pt x="4687" y="1863"/>
                </a:lnTo>
                <a:lnTo>
                  <a:pt x="4437" y="1952"/>
                </a:lnTo>
                <a:lnTo>
                  <a:pt x="4181" y="2038"/>
                </a:lnTo>
                <a:lnTo>
                  <a:pt x="3919" y="2122"/>
                </a:lnTo>
                <a:lnTo>
                  <a:pt x="3650" y="2204"/>
                </a:lnTo>
                <a:lnTo>
                  <a:pt x="3376" y="2284"/>
                </a:lnTo>
                <a:lnTo>
                  <a:pt x="3096" y="2362"/>
                </a:lnTo>
                <a:lnTo>
                  <a:pt x="2811" y="2438"/>
                </a:lnTo>
                <a:lnTo>
                  <a:pt x="2520" y="2511"/>
                </a:lnTo>
                <a:lnTo>
                  <a:pt x="2223" y="2582"/>
                </a:lnTo>
                <a:lnTo>
                  <a:pt x="1921" y="2650"/>
                </a:lnTo>
                <a:lnTo>
                  <a:pt x="1614" y="2716"/>
                </a:lnTo>
                <a:lnTo>
                  <a:pt x="1302" y="2779"/>
                </a:lnTo>
                <a:lnTo>
                  <a:pt x="1145" y="2810"/>
                </a:lnTo>
                <a:lnTo>
                  <a:pt x="0" y="1315"/>
                </a:lnTo>
                <a:lnTo>
                  <a:pt x="85" y="1294"/>
                </a:lnTo>
                <a:lnTo>
                  <a:pt x="396" y="1214"/>
                </a:lnTo>
                <a:lnTo>
                  <a:pt x="702" y="1131"/>
                </a:lnTo>
                <a:lnTo>
                  <a:pt x="1002" y="1045"/>
                </a:lnTo>
                <a:lnTo>
                  <a:pt x="1298" y="957"/>
                </a:lnTo>
                <a:lnTo>
                  <a:pt x="1589" y="867"/>
                </a:lnTo>
                <a:lnTo>
                  <a:pt x="1874" y="774"/>
                </a:lnTo>
                <a:lnTo>
                  <a:pt x="2154" y="679"/>
                </a:lnTo>
                <a:lnTo>
                  <a:pt x="2429" y="581"/>
                </a:lnTo>
                <a:lnTo>
                  <a:pt x="2698" y="482"/>
                </a:lnTo>
                <a:lnTo>
                  <a:pt x="2961" y="380"/>
                </a:lnTo>
                <a:lnTo>
                  <a:pt x="3218" y="276"/>
                </a:lnTo>
                <a:lnTo>
                  <a:pt x="3308" y="238"/>
                </a:lnTo>
                <a:lnTo>
                  <a:pt x="3303" y="0"/>
                </a:lnTo>
                <a:lnTo>
                  <a:pt x="3483" y="169"/>
                </a:lnTo>
                <a:lnTo>
                  <a:pt x="3483" y="170"/>
                </a:lnTo>
                <a:lnTo>
                  <a:pt x="4925" y="1774"/>
                </a:lnTo>
                <a:close/>
              </a:path>
            </a:pathLst>
          </a:custGeom>
          <a:gradFill>
            <a:gsLst>
              <a:gs pos="0">
                <a:schemeClr val="accent5">
                  <a:lumMod val="60000"/>
                  <a:lumOff val="40000"/>
                </a:schemeClr>
              </a:gs>
              <a:gs pos="100000">
                <a:schemeClr val="accent5"/>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71" name="任意多边形 70"/>
          <p:cNvSpPr/>
          <p:nvPr/>
        </p:nvSpPr>
        <p:spPr>
          <a:xfrm rot="20700000">
            <a:off x="5759270" y="3627632"/>
            <a:ext cx="2789717" cy="1291859"/>
          </a:xfrm>
          <a:custGeom>
            <a:avLst/>
            <a:gdLst>
              <a:gd name="adj" fmla="val 50000"/>
              <a:gd name="a" fmla="pin 0 adj 100000"/>
              <a:gd name="x1" fmla="*/ w a 200000"/>
              <a:gd name="x2" fmla="*/ w a 100000"/>
              <a:gd name="x3" fmla="+- x1 wd2 0"/>
            </a:gdLst>
            <a:ahLst/>
            <a:cxnLst>
              <a:cxn ang="3">
                <a:pos x="x2" y="t"/>
              </a:cxn>
              <a:cxn ang="cd2">
                <a:pos x="x1" y="vc"/>
              </a:cxn>
              <a:cxn ang="cd4">
                <a:pos x="l" y="b"/>
              </a:cxn>
              <a:cxn ang="cd4">
                <a:pos x="x2" y="b"/>
              </a:cxn>
              <a:cxn ang="cd4">
                <a:pos x="r" y="b"/>
              </a:cxn>
              <a:cxn ang="0">
                <a:pos x="x3" y="vc"/>
              </a:cxn>
            </a:cxnLst>
            <a:rect l="l" t="t" r="r" b="b"/>
            <a:pathLst>
              <a:path w="4393" h="2034">
                <a:moveTo>
                  <a:pt x="3498" y="302"/>
                </a:moveTo>
                <a:lnTo>
                  <a:pt x="3588" y="88"/>
                </a:lnTo>
                <a:lnTo>
                  <a:pt x="3684" y="316"/>
                </a:lnTo>
                <a:lnTo>
                  <a:pt x="3683" y="316"/>
                </a:lnTo>
                <a:lnTo>
                  <a:pt x="4393" y="2034"/>
                </a:lnTo>
                <a:lnTo>
                  <a:pt x="4136" y="2013"/>
                </a:lnTo>
                <a:lnTo>
                  <a:pt x="3807" y="1983"/>
                </a:lnTo>
                <a:lnTo>
                  <a:pt x="3473" y="1948"/>
                </a:lnTo>
                <a:lnTo>
                  <a:pt x="3136" y="1911"/>
                </a:lnTo>
                <a:lnTo>
                  <a:pt x="2796" y="1868"/>
                </a:lnTo>
                <a:lnTo>
                  <a:pt x="2452" y="1823"/>
                </a:lnTo>
                <a:lnTo>
                  <a:pt x="2105" y="1773"/>
                </a:lnTo>
                <a:lnTo>
                  <a:pt x="1755" y="1720"/>
                </a:lnTo>
                <a:lnTo>
                  <a:pt x="1402" y="1664"/>
                </a:lnTo>
                <a:lnTo>
                  <a:pt x="1046" y="1602"/>
                </a:lnTo>
                <a:lnTo>
                  <a:pt x="687" y="1538"/>
                </a:lnTo>
                <a:lnTo>
                  <a:pt x="443" y="1492"/>
                </a:lnTo>
                <a:lnTo>
                  <a:pt x="0" y="0"/>
                </a:lnTo>
                <a:lnTo>
                  <a:pt x="235" y="33"/>
                </a:lnTo>
                <a:lnTo>
                  <a:pt x="591" y="78"/>
                </a:lnTo>
                <a:lnTo>
                  <a:pt x="945" y="118"/>
                </a:lnTo>
                <a:lnTo>
                  <a:pt x="1296" y="156"/>
                </a:lnTo>
                <a:lnTo>
                  <a:pt x="1644" y="189"/>
                </a:lnTo>
                <a:lnTo>
                  <a:pt x="1990" y="219"/>
                </a:lnTo>
                <a:lnTo>
                  <a:pt x="2332" y="244"/>
                </a:lnTo>
                <a:lnTo>
                  <a:pt x="2671" y="265"/>
                </a:lnTo>
                <a:lnTo>
                  <a:pt x="3007" y="283"/>
                </a:lnTo>
                <a:lnTo>
                  <a:pt x="3339" y="297"/>
                </a:lnTo>
                <a:lnTo>
                  <a:pt x="3498" y="302"/>
                </a:lnTo>
                <a:close/>
              </a:path>
            </a:pathLst>
          </a:custGeom>
          <a:gradFill>
            <a:gsLst>
              <a:gs pos="0">
                <a:schemeClr val="accent5">
                  <a:lumMod val="20000"/>
                  <a:lumOff val="80000"/>
                </a:schemeClr>
              </a:gs>
              <a:gs pos="100000">
                <a:schemeClr val="accent5">
                  <a:lumMod val="60000"/>
                  <a:lumOff val="4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73" name="椭圆 72"/>
          <p:cNvSpPr/>
          <p:nvPr>
            <p:custDataLst>
              <p:tags r:id="rId3"/>
            </p:custDataLst>
          </p:nvPr>
        </p:nvSpPr>
        <p:spPr>
          <a:xfrm>
            <a:off x="2025650" y="5813425"/>
            <a:ext cx="723900" cy="723900"/>
          </a:xfrm>
          <a:prstGeom prst="ellipse">
            <a:avLst/>
          </a:prstGeom>
          <a:solidFill>
            <a:schemeClr val="bg1"/>
          </a:solidFill>
          <a:ln>
            <a:gradFill>
              <a:gsLst>
                <a:gs pos="0">
                  <a:schemeClr val="accent1">
                    <a:lumMod val="40000"/>
                    <a:lumOff val="60000"/>
                  </a:schemeClr>
                </a:gs>
                <a:gs pos="100000">
                  <a:schemeClr val="accent1">
                    <a:lumMod val="60000"/>
                    <a:lumOff val="40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74" name="椭圆 73"/>
          <p:cNvSpPr/>
          <p:nvPr>
            <p:custDataLst>
              <p:tags r:id="rId4"/>
            </p:custDataLst>
          </p:nvPr>
        </p:nvSpPr>
        <p:spPr>
          <a:xfrm>
            <a:off x="4512945" y="5813425"/>
            <a:ext cx="723900" cy="723900"/>
          </a:xfrm>
          <a:prstGeom prst="ellipse">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75" name="椭圆 74"/>
          <p:cNvSpPr/>
          <p:nvPr>
            <p:custDataLst>
              <p:tags r:id="rId5"/>
            </p:custDataLst>
          </p:nvPr>
        </p:nvSpPr>
        <p:spPr>
          <a:xfrm>
            <a:off x="7000240" y="5813425"/>
            <a:ext cx="723900" cy="723900"/>
          </a:xfrm>
          <a:prstGeom prst="ellipse">
            <a:avLst/>
          </a:prstGeom>
          <a:solidFill>
            <a:schemeClr val="bg1"/>
          </a:solidFill>
          <a:ln>
            <a:gradFill>
              <a:gsLst>
                <a:gs pos="0">
                  <a:schemeClr val="accent5">
                    <a:lumMod val="40000"/>
                    <a:lumOff val="60000"/>
                  </a:schemeClr>
                </a:gs>
                <a:gs pos="100000">
                  <a:schemeClr val="accent5">
                    <a:lumMod val="60000"/>
                    <a:lumOff val="40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76" name="椭圆 75"/>
          <p:cNvSpPr/>
          <p:nvPr>
            <p:custDataLst>
              <p:tags r:id="rId6"/>
            </p:custDataLst>
          </p:nvPr>
        </p:nvSpPr>
        <p:spPr>
          <a:xfrm>
            <a:off x="9487535" y="5813425"/>
            <a:ext cx="723900" cy="723900"/>
          </a:xfrm>
          <a:prstGeom prst="ellipse">
            <a:avLst/>
          </a:prstGeom>
          <a:solidFill>
            <a:schemeClr val="bg1"/>
          </a:solidFill>
          <a:ln>
            <a:gradFill>
              <a:gsLst>
                <a:gs pos="0">
                  <a:schemeClr val="accent5">
                    <a:lumMod val="60000"/>
                    <a:lumOff val="40000"/>
                  </a:schemeClr>
                </a:gs>
                <a:gs pos="100000">
                  <a:schemeClr val="accent5"/>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77" name="燕尾形 76"/>
          <p:cNvSpPr/>
          <p:nvPr>
            <p:custDataLst>
              <p:tags r:id="rId7"/>
            </p:custDataLst>
          </p:nvPr>
        </p:nvSpPr>
        <p:spPr>
          <a:xfrm>
            <a:off x="3617595" y="5997575"/>
            <a:ext cx="207010" cy="351155"/>
          </a:xfrm>
          <a:prstGeom prst="chevron">
            <a:avLst>
              <a:gd name="adj" fmla="val 76415"/>
            </a:avLst>
          </a:prstGeom>
          <a:gradFill>
            <a:gsLst>
              <a:gs pos="0">
                <a:schemeClr val="accent1">
                  <a:lumMod val="40000"/>
                  <a:lumOff val="60000"/>
                </a:schemeClr>
              </a:gs>
              <a:gs pos="10000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78" name="燕尾形 77"/>
          <p:cNvSpPr/>
          <p:nvPr>
            <p:custDataLst>
              <p:tags r:id="rId8"/>
            </p:custDataLst>
          </p:nvPr>
        </p:nvSpPr>
        <p:spPr>
          <a:xfrm>
            <a:off x="6096000" y="6040755"/>
            <a:ext cx="207010" cy="351155"/>
          </a:xfrm>
          <a:prstGeom prst="chevron">
            <a:avLst>
              <a:gd name="adj" fmla="val 76415"/>
            </a:avLst>
          </a:prstGeom>
          <a:gradFill>
            <a:gsLst>
              <a:gs pos="0">
                <a:schemeClr val="accent1">
                  <a:lumMod val="60000"/>
                  <a:lumOff val="40000"/>
                </a:schemeClr>
              </a:gs>
              <a:gs pos="100000">
                <a:schemeClr val="accent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79" name="燕尾形 78"/>
          <p:cNvSpPr/>
          <p:nvPr>
            <p:custDataLst>
              <p:tags r:id="rId9"/>
            </p:custDataLst>
          </p:nvPr>
        </p:nvSpPr>
        <p:spPr>
          <a:xfrm>
            <a:off x="8574405" y="6040755"/>
            <a:ext cx="207010" cy="351155"/>
          </a:xfrm>
          <a:prstGeom prst="chevron">
            <a:avLst>
              <a:gd name="adj" fmla="val 76415"/>
            </a:avLst>
          </a:prstGeom>
          <a:gradFill>
            <a:gsLst>
              <a:gs pos="0">
                <a:schemeClr val="accent5">
                  <a:lumMod val="60000"/>
                  <a:lumOff val="40000"/>
                </a:schemeClr>
              </a:gs>
              <a:gs pos="100000">
                <a:schemeClr val="accent5"/>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cxnSp>
        <p:nvCxnSpPr>
          <p:cNvPr id="80" name="直接连接符 79"/>
          <p:cNvCxnSpPr/>
          <p:nvPr/>
        </p:nvCxnSpPr>
        <p:spPr>
          <a:xfrm>
            <a:off x="2389505" y="4953000"/>
            <a:ext cx="0" cy="163830"/>
          </a:xfrm>
          <a:prstGeom prst="line">
            <a:avLst/>
          </a:prstGeom>
          <a:ln>
            <a:gradFill>
              <a:gsLst>
                <a:gs pos="0">
                  <a:schemeClr val="accent1">
                    <a:lumMod val="40000"/>
                    <a:lumOff val="60000"/>
                  </a:schemeClr>
                </a:gs>
                <a:gs pos="100000">
                  <a:schemeClr val="accent1">
                    <a:lumMod val="60000"/>
                    <a:lumOff val="40000"/>
                  </a:schemeClr>
                </a:gs>
              </a:gsLst>
              <a:lin ang="5400000" scaled="1"/>
            </a:gradFill>
            <a:prstDash val="sysDash"/>
            <a:tailEnd type="oval"/>
          </a:ln>
        </p:spPr>
        <p:style>
          <a:lnRef idx="2">
            <a:schemeClr val="accent1"/>
          </a:lnRef>
          <a:fillRef idx="0">
            <a:srgbClr val="FFFFFF"/>
          </a:fillRef>
          <a:effectRef idx="0">
            <a:srgbClr val="FFFFFF"/>
          </a:effectRef>
          <a:fontRef idx="minor">
            <a:schemeClr val="tx1"/>
          </a:fontRef>
        </p:style>
      </p:cxnSp>
      <p:cxnSp>
        <p:nvCxnSpPr>
          <p:cNvPr id="81" name="直接连接符 80"/>
          <p:cNvCxnSpPr/>
          <p:nvPr/>
        </p:nvCxnSpPr>
        <p:spPr>
          <a:xfrm>
            <a:off x="4910455" y="4924425"/>
            <a:ext cx="0" cy="163830"/>
          </a:xfrm>
          <a:prstGeom prst="line">
            <a:avLst/>
          </a:prstGeom>
          <a:ln>
            <a:gradFill>
              <a:gsLst>
                <a:gs pos="0">
                  <a:schemeClr val="accent1">
                    <a:lumMod val="60000"/>
                    <a:lumOff val="40000"/>
                  </a:schemeClr>
                </a:gs>
                <a:gs pos="100000">
                  <a:schemeClr val="accent1"/>
                </a:gs>
              </a:gsLst>
              <a:lin ang="5400000" scaled="1"/>
            </a:gradFill>
            <a:prstDash val="sysDash"/>
            <a:tailEnd type="oval"/>
          </a:ln>
        </p:spPr>
        <p:style>
          <a:lnRef idx="2">
            <a:schemeClr val="accent1"/>
          </a:lnRef>
          <a:fillRef idx="0">
            <a:srgbClr val="FFFFFF"/>
          </a:fillRef>
          <a:effectRef idx="0">
            <a:srgbClr val="FFFFFF"/>
          </a:effectRef>
          <a:fontRef idx="minor">
            <a:schemeClr val="tx1"/>
          </a:fontRef>
        </p:style>
      </p:cxnSp>
      <p:cxnSp>
        <p:nvCxnSpPr>
          <p:cNvPr id="82" name="直接连接符 81"/>
          <p:cNvCxnSpPr/>
          <p:nvPr/>
        </p:nvCxnSpPr>
        <p:spPr>
          <a:xfrm>
            <a:off x="7447280" y="4722495"/>
            <a:ext cx="0" cy="398780"/>
          </a:xfrm>
          <a:prstGeom prst="line">
            <a:avLst/>
          </a:prstGeom>
          <a:ln>
            <a:gradFill>
              <a:gsLst>
                <a:gs pos="0">
                  <a:schemeClr val="accent5">
                    <a:lumMod val="40000"/>
                    <a:lumOff val="60000"/>
                  </a:schemeClr>
                </a:gs>
                <a:gs pos="100000">
                  <a:schemeClr val="accent5">
                    <a:lumMod val="60000"/>
                    <a:lumOff val="40000"/>
                  </a:schemeClr>
                </a:gs>
              </a:gsLst>
              <a:lin ang="5400000" scaled="1"/>
            </a:gradFill>
            <a:prstDash val="sysDash"/>
            <a:tailEnd type="oval"/>
          </a:ln>
        </p:spPr>
        <p:style>
          <a:lnRef idx="2">
            <a:schemeClr val="accent1"/>
          </a:lnRef>
          <a:fillRef idx="0">
            <a:srgbClr val="FFFFFF"/>
          </a:fillRef>
          <a:effectRef idx="0">
            <a:srgbClr val="FFFFFF"/>
          </a:effectRef>
          <a:fontRef idx="minor">
            <a:schemeClr val="tx1"/>
          </a:fontRef>
        </p:style>
      </p:cxnSp>
      <p:cxnSp>
        <p:nvCxnSpPr>
          <p:cNvPr id="83" name="直接连接符 82"/>
          <p:cNvCxnSpPr/>
          <p:nvPr/>
        </p:nvCxnSpPr>
        <p:spPr>
          <a:xfrm>
            <a:off x="9849485" y="4354195"/>
            <a:ext cx="14605" cy="767080"/>
          </a:xfrm>
          <a:prstGeom prst="line">
            <a:avLst/>
          </a:prstGeom>
          <a:ln>
            <a:gradFill>
              <a:gsLst>
                <a:gs pos="0">
                  <a:schemeClr val="accent5">
                    <a:lumMod val="60000"/>
                    <a:lumOff val="40000"/>
                  </a:schemeClr>
                </a:gs>
                <a:gs pos="100000">
                  <a:schemeClr val="accent5"/>
                </a:gs>
              </a:gsLst>
              <a:lin ang="5400000" scaled="1"/>
            </a:gradFill>
            <a:prstDash val="sysDash"/>
            <a:tailEnd type="oval"/>
          </a:ln>
        </p:spPr>
        <p:style>
          <a:lnRef idx="2">
            <a:schemeClr val="accent1"/>
          </a:lnRef>
          <a:fillRef idx="0">
            <a:srgbClr val="FFFFFF"/>
          </a:fillRef>
          <a:effectRef idx="0">
            <a:srgbClr val="FFFFFF"/>
          </a:effectRef>
          <a:fontRef idx="minor">
            <a:schemeClr val="tx1"/>
          </a:fontRef>
        </p:style>
      </p:cxnSp>
      <p:sp>
        <p:nvSpPr>
          <p:cNvPr id="84" name="文本框 83"/>
          <p:cNvSpPr txBox="1"/>
          <p:nvPr>
            <p:custDataLst>
              <p:tags r:id="rId10"/>
            </p:custDataLst>
          </p:nvPr>
        </p:nvSpPr>
        <p:spPr>
          <a:xfrm>
            <a:off x="9244965" y="5245735"/>
            <a:ext cx="1292225" cy="491490"/>
          </a:xfrm>
          <a:prstGeom prst="rect">
            <a:avLst/>
          </a:prstGeom>
          <a:noFill/>
        </p:spPr>
        <p:txBody>
          <a:bodyPr wrap="square" rtlCol="0">
            <a:spAutoFit/>
          </a:bodyPr>
          <a:p>
            <a:r>
              <a:rPr lang="zh-CN" altLang="en-US" sz="1300">
                <a:solidFill>
                  <a:schemeClr val="tx2"/>
                </a:solidFill>
                <a:latin typeface="微软雅黑" panose="020B0503020204020204" charset="-122"/>
                <a:ea typeface="微软雅黑" panose="020B0503020204020204" charset="-122"/>
                <a:cs typeface="微软雅黑" panose="020B0503020204020204" charset="-122"/>
              </a:rPr>
              <a:t>数据要素流通，</a:t>
            </a:r>
            <a:endParaRPr lang="zh-CN" altLang="en-US" sz="1300">
              <a:solidFill>
                <a:schemeClr val="tx2"/>
              </a:solidFill>
              <a:latin typeface="微软雅黑" panose="020B0503020204020204" charset="-122"/>
              <a:ea typeface="微软雅黑" panose="020B0503020204020204" charset="-122"/>
              <a:cs typeface="微软雅黑" panose="020B0503020204020204" charset="-122"/>
            </a:endParaRPr>
          </a:p>
          <a:p>
            <a:r>
              <a:rPr lang="en-US" altLang="zh-CN" sz="1300">
                <a:solidFill>
                  <a:schemeClr val="tx2"/>
                </a:solidFill>
                <a:latin typeface="微软雅黑" panose="020B0503020204020204" charset="-122"/>
                <a:ea typeface="微软雅黑" panose="020B0503020204020204" charset="-122"/>
                <a:cs typeface="微软雅黑" panose="020B0503020204020204" charset="-122"/>
              </a:rPr>
              <a:t>  </a:t>
            </a:r>
            <a:r>
              <a:rPr lang="zh-CN" altLang="en-US" sz="1300">
                <a:solidFill>
                  <a:schemeClr val="tx2"/>
                </a:solidFill>
                <a:latin typeface="微软雅黑" panose="020B0503020204020204" charset="-122"/>
                <a:ea typeface="微软雅黑" panose="020B0503020204020204" charset="-122"/>
                <a:cs typeface="微软雅黑" panose="020B0503020204020204" charset="-122"/>
              </a:rPr>
              <a:t>数据资产增值</a:t>
            </a:r>
            <a:endParaRPr lang="zh-CN" altLang="en-US" sz="13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7" name="文本框 86"/>
          <p:cNvSpPr txBox="1"/>
          <p:nvPr>
            <p:custDataLst>
              <p:tags r:id="rId11"/>
            </p:custDataLst>
          </p:nvPr>
        </p:nvSpPr>
        <p:spPr>
          <a:xfrm>
            <a:off x="6871335" y="5231130"/>
            <a:ext cx="1292225" cy="491490"/>
          </a:xfrm>
          <a:prstGeom prst="rect">
            <a:avLst/>
          </a:prstGeom>
          <a:noFill/>
        </p:spPr>
        <p:txBody>
          <a:bodyPr wrap="square" rtlCol="0">
            <a:spAutoFit/>
          </a:bodyPr>
          <a:p>
            <a:r>
              <a:rPr lang="zh-CN" altLang="en-US" sz="1300">
                <a:solidFill>
                  <a:schemeClr val="tx2"/>
                </a:solidFill>
                <a:latin typeface="微软雅黑" panose="020B0503020204020204" charset="-122"/>
                <a:ea typeface="微软雅黑" panose="020B0503020204020204" charset="-122"/>
                <a:cs typeface="微软雅黑" panose="020B0503020204020204" charset="-122"/>
              </a:rPr>
              <a:t>经营数据资产，</a:t>
            </a:r>
            <a:endParaRPr lang="zh-CN" altLang="en-US" sz="1300">
              <a:solidFill>
                <a:schemeClr val="tx2"/>
              </a:solidFill>
              <a:latin typeface="微软雅黑" panose="020B0503020204020204" charset="-122"/>
              <a:ea typeface="微软雅黑" panose="020B0503020204020204" charset="-122"/>
              <a:cs typeface="微软雅黑" panose="020B0503020204020204" charset="-122"/>
            </a:endParaRPr>
          </a:p>
          <a:p>
            <a:r>
              <a:rPr lang="en-US" altLang="zh-CN" sz="1300">
                <a:solidFill>
                  <a:schemeClr val="tx2"/>
                </a:solidFill>
                <a:latin typeface="微软雅黑" panose="020B0503020204020204" charset="-122"/>
                <a:ea typeface="微软雅黑" panose="020B0503020204020204" charset="-122"/>
                <a:cs typeface="微软雅黑" panose="020B0503020204020204" charset="-122"/>
              </a:rPr>
              <a:t>  </a:t>
            </a:r>
            <a:r>
              <a:rPr lang="zh-CN" altLang="en-US" sz="1300">
                <a:solidFill>
                  <a:schemeClr val="tx2"/>
                </a:solidFill>
                <a:latin typeface="微软雅黑" panose="020B0503020204020204" charset="-122"/>
                <a:ea typeface="微软雅黑" panose="020B0503020204020204" charset="-122"/>
                <a:cs typeface="微软雅黑" panose="020B0503020204020204" charset="-122"/>
              </a:rPr>
              <a:t>主张数据价值</a:t>
            </a:r>
            <a:endParaRPr lang="zh-CN" altLang="en-US" sz="13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8" name="文本框 87"/>
          <p:cNvSpPr txBox="1"/>
          <p:nvPr>
            <p:custDataLst>
              <p:tags r:id="rId12"/>
            </p:custDataLst>
          </p:nvPr>
        </p:nvSpPr>
        <p:spPr>
          <a:xfrm>
            <a:off x="4286885" y="5240655"/>
            <a:ext cx="1292225" cy="491490"/>
          </a:xfrm>
          <a:prstGeom prst="rect">
            <a:avLst/>
          </a:prstGeom>
          <a:noFill/>
        </p:spPr>
        <p:txBody>
          <a:bodyPr wrap="square" rtlCol="0">
            <a:spAutoFit/>
          </a:bodyPr>
          <a:p>
            <a:r>
              <a:rPr lang="zh-CN" altLang="en-US" sz="1300">
                <a:solidFill>
                  <a:schemeClr val="tx2"/>
                </a:solidFill>
                <a:latin typeface="微软雅黑" panose="020B0503020204020204" charset="-122"/>
                <a:ea typeface="微软雅黑" panose="020B0503020204020204" charset="-122"/>
                <a:cs typeface="微软雅黑" panose="020B0503020204020204" charset="-122"/>
              </a:rPr>
              <a:t>面向业务需求，</a:t>
            </a:r>
            <a:endParaRPr lang="zh-CN" altLang="en-US" sz="1300">
              <a:solidFill>
                <a:schemeClr val="tx2"/>
              </a:solidFill>
              <a:latin typeface="微软雅黑" panose="020B0503020204020204" charset="-122"/>
              <a:ea typeface="微软雅黑" panose="020B0503020204020204" charset="-122"/>
              <a:cs typeface="微软雅黑" panose="020B0503020204020204" charset="-122"/>
            </a:endParaRPr>
          </a:p>
          <a:p>
            <a:r>
              <a:rPr lang="en-US" altLang="zh-CN" sz="1300">
                <a:solidFill>
                  <a:schemeClr val="tx2"/>
                </a:solidFill>
                <a:latin typeface="微软雅黑" panose="020B0503020204020204" charset="-122"/>
                <a:ea typeface="微软雅黑" panose="020B0503020204020204" charset="-122"/>
                <a:cs typeface="微软雅黑" panose="020B0503020204020204" charset="-122"/>
              </a:rPr>
              <a:t>  </a:t>
            </a:r>
            <a:r>
              <a:rPr lang="zh-CN" altLang="en-US" sz="1300">
                <a:solidFill>
                  <a:schemeClr val="tx2"/>
                </a:solidFill>
                <a:latin typeface="微软雅黑" panose="020B0503020204020204" charset="-122"/>
                <a:ea typeface="微软雅黑" panose="020B0503020204020204" charset="-122"/>
                <a:cs typeface="微软雅黑" panose="020B0503020204020204" charset="-122"/>
              </a:rPr>
              <a:t>供应数据服务</a:t>
            </a:r>
            <a:endParaRPr lang="zh-CN" altLang="en-US" sz="13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9" name="文本框 88"/>
          <p:cNvSpPr txBox="1"/>
          <p:nvPr>
            <p:custDataLst>
              <p:tags r:id="rId13"/>
            </p:custDataLst>
          </p:nvPr>
        </p:nvSpPr>
        <p:spPr>
          <a:xfrm>
            <a:off x="1856740" y="5219700"/>
            <a:ext cx="1448435" cy="491490"/>
          </a:xfrm>
          <a:prstGeom prst="rect">
            <a:avLst/>
          </a:prstGeom>
          <a:noFill/>
        </p:spPr>
        <p:txBody>
          <a:bodyPr wrap="square" rtlCol="0">
            <a:spAutoFit/>
          </a:bodyPr>
          <a:p>
            <a:r>
              <a:rPr lang="zh-CN" altLang="en-US" sz="1300">
                <a:solidFill>
                  <a:schemeClr val="tx2"/>
                </a:solidFill>
                <a:latin typeface="微软雅黑" panose="020B0503020204020204" charset="-122"/>
                <a:ea typeface="微软雅黑" panose="020B0503020204020204" charset="-122"/>
                <a:cs typeface="微软雅黑" panose="020B0503020204020204" charset="-122"/>
              </a:rPr>
              <a:t>建设业务信息化，</a:t>
            </a:r>
            <a:endParaRPr lang="zh-CN" altLang="en-US" sz="1300">
              <a:solidFill>
                <a:schemeClr val="tx2"/>
              </a:solidFill>
              <a:latin typeface="微软雅黑" panose="020B0503020204020204" charset="-122"/>
              <a:ea typeface="微软雅黑" panose="020B0503020204020204" charset="-122"/>
              <a:cs typeface="微软雅黑" panose="020B0503020204020204" charset="-122"/>
            </a:endParaRPr>
          </a:p>
          <a:p>
            <a:r>
              <a:rPr lang="en-US" altLang="zh-CN" sz="1300">
                <a:solidFill>
                  <a:schemeClr val="tx2"/>
                </a:solidFill>
                <a:latin typeface="微软雅黑" panose="020B0503020204020204" charset="-122"/>
                <a:ea typeface="微软雅黑" panose="020B0503020204020204" charset="-122"/>
                <a:cs typeface="微软雅黑" panose="020B0503020204020204" charset="-122"/>
              </a:rPr>
              <a:t>  </a:t>
            </a:r>
            <a:r>
              <a:rPr lang="zh-CN" altLang="en-US" sz="1300">
                <a:solidFill>
                  <a:schemeClr val="tx2"/>
                </a:solidFill>
                <a:latin typeface="微软雅黑" panose="020B0503020204020204" charset="-122"/>
                <a:ea typeface="微软雅黑" panose="020B0503020204020204" charset="-122"/>
                <a:cs typeface="微软雅黑" panose="020B0503020204020204" charset="-122"/>
              </a:rPr>
              <a:t>积累数据资源</a:t>
            </a:r>
            <a:endParaRPr lang="zh-CN" altLang="en-US" sz="13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1" name="任意多边形 90"/>
          <p:cNvSpPr/>
          <p:nvPr/>
        </p:nvSpPr>
        <p:spPr>
          <a:xfrm>
            <a:off x="1585595" y="2492375"/>
            <a:ext cx="8478520" cy="1256665"/>
          </a:xfrm>
          <a:custGeom>
            <a:avLst/>
            <a:gdLst>
              <a:gd name="connisteX0" fmla="*/ 0 w 8478520"/>
              <a:gd name="connsiteY0" fmla="*/ 1255395 h 1256791"/>
              <a:gd name="connisteX1" fmla="*/ 3095625 w 8478520"/>
              <a:gd name="connsiteY1" fmla="*/ 1176020 h 1256791"/>
              <a:gd name="connisteX2" fmla="*/ 5808980 w 8478520"/>
              <a:gd name="connsiteY2" fmla="*/ 699770 h 1256791"/>
              <a:gd name="connisteX3" fmla="*/ 8478520 w 8478520"/>
              <a:gd name="connsiteY3" fmla="*/ 0 h 1256791"/>
              <a:gd name="connisteX4" fmla="*/ 8507730 w 8478520"/>
              <a:gd name="connsiteY4" fmla="*/ 107950 h 1256791"/>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8478520" h="1256792">
                <a:moveTo>
                  <a:pt x="0" y="1255395"/>
                </a:moveTo>
                <a:cubicBezTo>
                  <a:pt x="565150" y="1249045"/>
                  <a:pt x="1933575" y="1287145"/>
                  <a:pt x="3095625" y="1176020"/>
                </a:cubicBezTo>
                <a:cubicBezTo>
                  <a:pt x="4257675" y="1064895"/>
                  <a:pt x="4732655" y="934720"/>
                  <a:pt x="5808980" y="699770"/>
                </a:cubicBezTo>
                <a:cubicBezTo>
                  <a:pt x="6885305" y="464820"/>
                  <a:pt x="7938770" y="118110"/>
                  <a:pt x="8478520" y="0"/>
                </a:cubicBezTo>
              </a:path>
            </a:pathLst>
          </a:custGeom>
          <a:noFill/>
          <a:ln w="63500">
            <a:gradFill>
              <a:gsLst>
                <a:gs pos="0">
                  <a:schemeClr val="accent1">
                    <a:lumMod val="20000"/>
                    <a:lumOff val="80000"/>
                    <a:alpha val="0"/>
                  </a:schemeClr>
                </a:gs>
                <a:gs pos="70000">
                  <a:schemeClr val="accent1">
                    <a:lumMod val="40000"/>
                    <a:lumOff val="60000"/>
                  </a:schemeClr>
                </a:gs>
                <a:gs pos="100000">
                  <a:schemeClr val="accent1">
                    <a:lumMod val="60000"/>
                    <a:lumOff val="40000"/>
                  </a:schemeClr>
                </a:gs>
              </a:gsLst>
              <a:lin ang="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92" name="椭圆 91"/>
          <p:cNvSpPr/>
          <p:nvPr/>
        </p:nvSpPr>
        <p:spPr>
          <a:xfrm>
            <a:off x="3940175" y="3671570"/>
            <a:ext cx="99060" cy="99060"/>
          </a:xfrm>
          <a:prstGeom prst="ellipse">
            <a:avLst/>
          </a:prstGeom>
          <a:solidFill>
            <a:schemeClr val="bg1"/>
          </a:solidFill>
          <a:ln w="25400">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93" name="椭圆 92"/>
          <p:cNvSpPr/>
          <p:nvPr/>
        </p:nvSpPr>
        <p:spPr>
          <a:xfrm>
            <a:off x="6909435" y="3226435"/>
            <a:ext cx="99060" cy="99060"/>
          </a:xfrm>
          <a:prstGeom prst="ellipse">
            <a:avLst/>
          </a:prstGeom>
          <a:solidFill>
            <a:schemeClr val="bg1"/>
          </a:solidFill>
          <a:ln w="25400">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94" name="椭圆 93"/>
          <p:cNvSpPr/>
          <p:nvPr/>
        </p:nvSpPr>
        <p:spPr>
          <a:xfrm>
            <a:off x="8994775" y="2714625"/>
            <a:ext cx="99060" cy="99060"/>
          </a:xfrm>
          <a:prstGeom prst="ellipse">
            <a:avLst/>
          </a:prstGeom>
          <a:solidFill>
            <a:schemeClr val="bg1"/>
          </a:solidFill>
          <a:ln w="25400">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pic>
        <p:nvPicPr>
          <p:cNvPr id="95" name="图片 94" descr="跑步"/>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rot="20880000">
            <a:off x="4994275" y="2576830"/>
            <a:ext cx="898525" cy="898525"/>
          </a:xfrm>
          <a:prstGeom prst="rect">
            <a:avLst/>
          </a:prstGeom>
        </p:spPr>
      </p:pic>
      <p:sp>
        <p:nvSpPr>
          <p:cNvPr id="96" name="文本框 95"/>
          <p:cNvSpPr txBox="1"/>
          <p:nvPr/>
        </p:nvSpPr>
        <p:spPr>
          <a:xfrm rot="21420000">
            <a:off x="3402330" y="3272155"/>
            <a:ext cx="949960" cy="306705"/>
          </a:xfrm>
          <a:prstGeom prst="rect">
            <a:avLst/>
          </a:prstGeom>
          <a:noFill/>
        </p:spPr>
        <p:txBody>
          <a:bodyPr wrap="square" rtlCol="0">
            <a:spAutoFit/>
          </a:bodyPr>
          <a:p>
            <a:r>
              <a:rPr lang="zh-CN" altLang="en-US" sz="1400" b="1">
                <a:solidFill>
                  <a:schemeClr val="tx2"/>
                </a:solidFill>
                <a:latin typeface="微软雅黑" panose="020B0503020204020204" charset="-122"/>
                <a:ea typeface="微软雅黑" panose="020B0503020204020204" charset="-122"/>
                <a:cs typeface="微软雅黑" panose="020B0503020204020204" charset="-122"/>
              </a:rPr>
              <a:t>当前阶段</a:t>
            </a:r>
            <a:endParaRPr lang="zh-CN" altLang="en-US" sz="14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8" name="文本框 97"/>
          <p:cNvSpPr txBox="1"/>
          <p:nvPr/>
        </p:nvSpPr>
        <p:spPr>
          <a:xfrm rot="20640000">
            <a:off x="8354695" y="2377440"/>
            <a:ext cx="1240155" cy="306705"/>
          </a:xfrm>
          <a:prstGeom prst="rect">
            <a:avLst/>
          </a:prstGeom>
          <a:noFill/>
        </p:spPr>
        <p:txBody>
          <a:bodyPr wrap="square" rtlCol="0">
            <a:spAutoFit/>
          </a:bodyPr>
          <a:p>
            <a:r>
              <a:rPr lang="zh-CN" altLang="en-US" sz="1400" b="1">
                <a:solidFill>
                  <a:schemeClr val="tx2"/>
                </a:solidFill>
                <a:latin typeface="微软雅黑" panose="020B0503020204020204" charset="-122"/>
                <a:ea typeface="微软雅黑" panose="020B0503020204020204" charset="-122"/>
                <a:cs typeface="微软雅黑" panose="020B0503020204020204" charset="-122"/>
              </a:rPr>
              <a:t>中远期目标</a:t>
            </a:r>
            <a:endParaRPr lang="zh-CN" altLang="en-US" sz="14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0" name="文本框 99"/>
          <p:cNvSpPr txBox="1"/>
          <p:nvPr>
            <p:custDataLst>
              <p:tags r:id="rId16"/>
            </p:custDataLst>
          </p:nvPr>
        </p:nvSpPr>
        <p:spPr>
          <a:xfrm>
            <a:off x="1747520" y="4431030"/>
            <a:ext cx="1448435" cy="291465"/>
          </a:xfrm>
          <a:prstGeom prst="rect">
            <a:avLst/>
          </a:prstGeom>
          <a:noFill/>
        </p:spPr>
        <p:txBody>
          <a:bodyPr wrap="square" rtlCol="0">
            <a:spAutoFit/>
          </a:bodyPr>
          <a:p>
            <a:r>
              <a:rPr lang="en-US" sz="1300" b="1">
                <a:solidFill>
                  <a:schemeClr val="bg1"/>
                </a:solidFill>
                <a:latin typeface="微软雅黑" panose="020B0503020204020204" charset="-122"/>
                <a:ea typeface="微软雅黑" panose="020B0503020204020204" charset="-122"/>
                <a:cs typeface="微软雅黑" panose="020B0503020204020204" charset="-122"/>
              </a:rPr>
              <a:t>1.0 </a:t>
            </a:r>
            <a:r>
              <a:rPr lang="zh-CN" altLang="en-US" sz="1300" b="1">
                <a:solidFill>
                  <a:schemeClr val="bg1"/>
                </a:solidFill>
                <a:latin typeface="微软雅黑" panose="020B0503020204020204" charset="-122"/>
                <a:ea typeface="微软雅黑" panose="020B0503020204020204" charset="-122"/>
                <a:cs typeface="微软雅黑" panose="020B0503020204020204" charset="-122"/>
              </a:rPr>
              <a:t>数据资源化</a:t>
            </a:r>
            <a:endParaRPr lang="zh-CN" altLang="en-US" sz="13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01" name="文本框 100"/>
          <p:cNvSpPr txBox="1"/>
          <p:nvPr>
            <p:custDataLst>
              <p:tags r:id="rId17"/>
            </p:custDataLst>
          </p:nvPr>
        </p:nvSpPr>
        <p:spPr>
          <a:xfrm rot="21300000">
            <a:off x="4182110" y="4330700"/>
            <a:ext cx="1448435" cy="291465"/>
          </a:xfrm>
          <a:prstGeom prst="rect">
            <a:avLst/>
          </a:prstGeom>
          <a:noFill/>
        </p:spPr>
        <p:txBody>
          <a:bodyPr wrap="square" rtlCol="0">
            <a:spAutoFit/>
          </a:bodyPr>
          <a:p>
            <a:r>
              <a:rPr lang="en-US" sz="1300" b="1">
                <a:solidFill>
                  <a:schemeClr val="bg1"/>
                </a:solidFill>
                <a:latin typeface="微软雅黑" panose="020B0503020204020204" charset="-122"/>
                <a:ea typeface="微软雅黑" panose="020B0503020204020204" charset="-122"/>
                <a:cs typeface="微软雅黑" panose="020B0503020204020204" charset="-122"/>
              </a:rPr>
              <a:t>2.0 </a:t>
            </a:r>
            <a:r>
              <a:rPr lang="zh-CN" altLang="en-US" sz="1300" b="1">
                <a:solidFill>
                  <a:schemeClr val="bg1"/>
                </a:solidFill>
                <a:latin typeface="微软雅黑" panose="020B0503020204020204" charset="-122"/>
                <a:ea typeface="微软雅黑" panose="020B0503020204020204" charset="-122"/>
                <a:cs typeface="微软雅黑" panose="020B0503020204020204" charset="-122"/>
              </a:rPr>
              <a:t>数据产品化</a:t>
            </a:r>
            <a:endParaRPr lang="zh-CN" altLang="en-US" sz="13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02" name="文本框 101"/>
          <p:cNvSpPr txBox="1"/>
          <p:nvPr>
            <p:custDataLst>
              <p:tags r:id="rId18"/>
            </p:custDataLst>
          </p:nvPr>
        </p:nvSpPr>
        <p:spPr>
          <a:xfrm rot="21060000">
            <a:off x="6668135" y="4060825"/>
            <a:ext cx="1448435" cy="291465"/>
          </a:xfrm>
          <a:prstGeom prst="rect">
            <a:avLst/>
          </a:prstGeom>
          <a:noFill/>
        </p:spPr>
        <p:txBody>
          <a:bodyPr wrap="square" rtlCol="0">
            <a:spAutoFit/>
          </a:bodyPr>
          <a:p>
            <a:r>
              <a:rPr lang="en-US" sz="1300" b="1">
                <a:solidFill>
                  <a:schemeClr val="bg1"/>
                </a:solidFill>
                <a:latin typeface="微软雅黑" panose="020B0503020204020204" charset="-122"/>
                <a:ea typeface="微软雅黑" panose="020B0503020204020204" charset="-122"/>
                <a:cs typeface="微软雅黑" panose="020B0503020204020204" charset="-122"/>
              </a:rPr>
              <a:t>3.0 </a:t>
            </a:r>
            <a:r>
              <a:rPr lang="zh-CN" altLang="en-US" sz="1300" b="1">
                <a:solidFill>
                  <a:schemeClr val="bg1"/>
                </a:solidFill>
                <a:latin typeface="微软雅黑" panose="020B0503020204020204" charset="-122"/>
                <a:ea typeface="微软雅黑" panose="020B0503020204020204" charset="-122"/>
                <a:cs typeface="微软雅黑" panose="020B0503020204020204" charset="-122"/>
              </a:rPr>
              <a:t>数据资产化</a:t>
            </a:r>
            <a:endParaRPr lang="zh-CN" altLang="en-US" sz="13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03" name="文本框 102"/>
          <p:cNvSpPr txBox="1"/>
          <p:nvPr>
            <p:custDataLst>
              <p:tags r:id="rId19"/>
            </p:custDataLst>
          </p:nvPr>
        </p:nvSpPr>
        <p:spPr>
          <a:xfrm rot="20460000">
            <a:off x="9161780" y="3544570"/>
            <a:ext cx="1448435" cy="291465"/>
          </a:xfrm>
          <a:prstGeom prst="rect">
            <a:avLst/>
          </a:prstGeom>
          <a:noFill/>
        </p:spPr>
        <p:txBody>
          <a:bodyPr wrap="square" rtlCol="0">
            <a:spAutoFit/>
          </a:bodyPr>
          <a:p>
            <a:r>
              <a:rPr lang="en-US" sz="1300" b="1">
                <a:solidFill>
                  <a:schemeClr val="bg1"/>
                </a:solidFill>
                <a:latin typeface="微软雅黑" panose="020B0503020204020204" charset="-122"/>
                <a:ea typeface="微软雅黑" panose="020B0503020204020204" charset="-122"/>
                <a:cs typeface="微软雅黑" panose="020B0503020204020204" charset="-122"/>
              </a:rPr>
              <a:t>4.0 </a:t>
            </a:r>
            <a:r>
              <a:rPr lang="zh-CN" altLang="en-US" sz="1300" b="1">
                <a:solidFill>
                  <a:schemeClr val="bg1"/>
                </a:solidFill>
                <a:latin typeface="微软雅黑" panose="020B0503020204020204" charset="-122"/>
                <a:ea typeface="微软雅黑" panose="020B0503020204020204" charset="-122"/>
                <a:cs typeface="微软雅黑" panose="020B0503020204020204" charset="-122"/>
              </a:rPr>
              <a:t>数据资本化</a:t>
            </a:r>
            <a:endParaRPr lang="zh-CN" altLang="en-US" sz="13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04" name="椭圆 103"/>
          <p:cNvSpPr/>
          <p:nvPr>
            <p:custDataLst>
              <p:tags r:id="rId20"/>
            </p:custDataLst>
          </p:nvPr>
        </p:nvSpPr>
        <p:spPr>
          <a:xfrm>
            <a:off x="8781415" y="3770630"/>
            <a:ext cx="330200" cy="330200"/>
          </a:xfrm>
          <a:prstGeom prst="ellipse">
            <a:avLst/>
          </a:prstGeom>
          <a:solidFill>
            <a:schemeClr val="bg1"/>
          </a:solidFill>
          <a:ln>
            <a:solidFill>
              <a:schemeClr val="bg1"/>
            </a:solidFill>
          </a:ln>
          <a:effectLst>
            <a:glow rad="63500">
              <a:schemeClr val="accent5">
                <a:lumMod val="20000"/>
                <a:lumOff val="80000"/>
                <a:alpha val="40000"/>
              </a:schemeClr>
            </a:glow>
            <a:outerShdw blurRad="50800" dist="12700" dir="2700000" algn="tl" rotWithShape="0">
              <a:schemeClr val="bg1">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05" name="椭圆 104"/>
          <p:cNvSpPr/>
          <p:nvPr>
            <p:custDataLst>
              <p:tags r:id="rId21"/>
            </p:custDataLst>
          </p:nvPr>
        </p:nvSpPr>
        <p:spPr>
          <a:xfrm>
            <a:off x="6256020" y="4178300"/>
            <a:ext cx="330200" cy="330200"/>
          </a:xfrm>
          <a:prstGeom prst="ellipse">
            <a:avLst/>
          </a:prstGeom>
          <a:solidFill>
            <a:schemeClr val="bg1"/>
          </a:solidFill>
          <a:ln>
            <a:solidFill>
              <a:schemeClr val="bg1"/>
            </a:solidFill>
          </a:ln>
          <a:effectLst>
            <a:glow rad="63500">
              <a:schemeClr val="accent5">
                <a:lumMod val="60000"/>
                <a:lumOff val="40000"/>
                <a:alpha val="40000"/>
              </a:schemeClr>
            </a:glow>
            <a:outerShdw blurRad="50800" dist="12700" dir="2700000" algn="tl" rotWithShape="0">
              <a:schemeClr val="bg1">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06" name="椭圆 105"/>
          <p:cNvSpPr/>
          <p:nvPr>
            <p:custDataLst>
              <p:tags r:id="rId22"/>
            </p:custDataLst>
          </p:nvPr>
        </p:nvSpPr>
        <p:spPr>
          <a:xfrm>
            <a:off x="3824605" y="4354195"/>
            <a:ext cx="330200" cy="330200"/>
          </a:xfrm>
          <a:prstGeom prst="ellipse">
            <a:avLst/>
          </a:prstGeom>
          <a:solidFill>
            <a:schemeClr val="bg1"/>
          </a:solidFill>
          <a:ln>
            <a:solidFill>
              <a:schemeClr val="bg1"/>
            </a:solidFill>
          </a:ln>
          <a:effectLst>
            <a:glow rad="63500">
              <a:schemeClr val="accent1">
                <a:lumMod val="40000"/>
                <a:lumOff val="60000"/>
                <a:alpha val="40000"/>
              </a:schemeClr>
            </a:glow>
            <a:outerShdw blurRad="50800" dist="12700" dir="2700000" algn="tl" rotWithShape="0">
              <a:schemeClr val="bg1">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07" name="椭圆 106"/>
          <p:cNvSpPr/>
          <p:nvPr>
            <p:custDataLst>
              <p:tags r:id="rId23"/>
            </p:custDataLst>
          </p:nvPr>
        </p:nvSpPr>
        <p:spPr>
          <a:xfrm>
            <a:off x="1341755" y="4354195"/>
            <a:ext cx="330200" cy="330200"/>
          </a:xfrm>
          <a:prstGeom prst="ellipse">
            <a:avLst/>
          </a:prstGeom>
          <a:solidFill>
            <a:schemeClr val="bg1"/>
          </a:solidFill>
          <a:ln>
            <a:solidFill>
              <a:schemeClr val="bg1"/>
            </a:solidFill>
          </a:ln>
          <a:effectLst>
            <a:glow rad="63500">
              <a:schemeClr val="accent1">
                <a:lumMod val="40000"/>
                <a:lumOff val="60000"/>
                <a:alpha val="40000"/>
              </a:schemeClr>
            </a:glow>
            <a:outerShdw blurRad="50800" dist="12700" dir="2700000" algn="tl" rotWithShape="0">
              <a:schemeClr val="bg1">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38" name="矩形 137"/>
          <p:cNvSpPr/>
          <p:nvPr/>
        </p:nvSpPr>
        <p:spPr>
          <a:xfrm>
            <a:off x="372110" y="1058545"/>
            <a:ext cx="11417300" cy="781050"/>
          </a:xfrm>
          <a:prstGeom prst="rect">
            <a:avLst/>
          </a:prstGeom>
          <a:solidFill>
            <a:schemeClr val="accent1">
              <a:lumMod val="20000"/>
              <a:lumOff val="80000"/>
              <a:alpha val="20000"/>
            </a:schemeClr>
          </a:solidFill>
          <a:ln>
            <a:solidFill>
              <a:schemeClr val="accent1">
                <a:alpha val="2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endParaRPr lang="zh-CN" altLang="en-US" sz="16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474345" y="1157605"/>
            <a:ext cx="11212830" cy="583565"/>
          </a:xfrm>
          <a:prstGeom prst="rect">
            <a:avLst/>
          </a:prstGeom>
          <a:noFill/>
        </p:spPr>
        <p:txBody>
          <a:bodyPr wrap="square" rtlCol="0">
            <a:spAutoFit/>
          </a:bodyPr>
          <a:p>
            <a:r>
              <a:rPr lang="zh-CN" altLang="en-US" sz="1600" b="1">
                <a:solidFill>
                  <a:schemeClr val="tx2"/>
                </a:solidFill>
                <a:latin typeface="微软雅黑" panose="020B0503020204020204" charset="-122"/>
                <a:ea typeface="微软雅黑" panose="020B0503020204020204" charset="-122"/>
                <a:cs typeface="微软雅黑" panose="020B0503020204020204" charset="-122"/>
              </a:rPr>
              <a:t>银行业数据管理与经营的发展历程：</a:t>
            </a:r>
            <a:r>
              <a:rPr lang="zh-CN" altLang="en-US" sz="1600">
                <a:solidFill>
                  <a:schemeClr val="tx2"/>
                </a:solidFill>
                <a:latin typeface="微软雅黑" panose="020B0503020204020204" charset="-122"/>
                <a:ea typeface="微软雅黑" panose="020B0503020204020204" charset="-122"/>
                <a:cs typeface="微软雅黑" panose="020B0503020204020204" charset="-122"/>
              </a:rPr>
              <a:t>当前阶段是数据治理，近期目标为数据资源化，，中远期目标为数据资产化，经营数据资产并主张数据价值。</a:t>
            </a:r>
            <a:r>
              <a:rPr lang="zh-CN" altLang="en-US" sz="1600" b="1">
                <a:solidFill>
                  <a:schemeClr val="accent5"/>
                </a:solidFill>
                <a:latin typeface="微软雅黑" panose="020B0503020204020204" charset="-122"/>
                <a:ea typeface="微软雅黑" panose="020B0503020204020204" charset="-122"/>
                <a:cs typeface="微软雅黑" panose="020B0503020204020204" charset="-122"/>
              </a:rPr>
              <a:t>最终实现数据资本化</a:t>
            </a:r>
            <a:r>
              <a:rPr lang="zh-CN" altLang="en-US" sz="1600">
                <a:solidFill>
                  <a:schemeClr val="tx2"/>
                </a:solidFill>
                <a:latin typeface="微软雅黑" panose="020B0503020204020204" charset="-122"/>
                <a:ea typeface="微软雅黑" panose="020B0503020204020204" charset="-122"/>
                <a:cs typeface="微软雅黑" panose="020B0503020204020204" charset="-122"/>
              </a:rPr>
              <a:t>，推动数据要素流通和资产增值，以提升银行在资本市场的市值。</a:t>
            </a:r>
            <a:endParaRPr lang="zh-CN" altLang="en-US" sz="16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 name="任意多边形 5"/>
          <p:cNvSpPr/>
          <p:nvPr/>
        </p:nvSpPr>
        <p:spPr>
          <a:xfrm rot="18600000">
            <a:off x="9898380" y="2133600"/>
            <a:ext cx="100330" cy="487680"/>
          </a:xfrm>
          <a:custGeom>
            <a:avLst/>
            <a:gdLst>
              <a:gd name="adj" fmla="val 50000"/>
              <a:gd name="a" fmla="pin 0 adj 100000"/>
              <a:gd name="x1" fmla="*/ w a 200000"/>
              <a:gd name="x2" fmla="*/ w a 100000"/>
              <a:gd name="x3" fmla="+- x1 wd2 0"/>
            </a:gdLst>
            <a:ahLst/>
            <a:cxnLst>
              <a:cxn ang="3">
                <a:pos x="x2" y="t"/>
              </a:cxn>
              <a:cxn ang="cd2">
                <a:pos x="x1" y="vc"/>
              </a:cxn>
              <a:cxn ang="cd4">
                <a:pos x="l" y="b"/>
              </a:cxn>
              <a:cxn ang="cd4">
                <a:pos x="x2" y="b"/>
              </a:cxn>
              <a:cxn ang="cd4">
                <a:pos x="r" y="b"/>
              </a:cxn>
              <a:cxn ang="0">
                <a:pos x="x3" y="vc"/>
              </a:cxn>
            </a:cxnLst>
            <a:rect l="l" t="t" r="r" b="b"/>
            <a:pathLst>
              <a:path w="158" h="740">
                <a:moveTo>
                  <a:pt x="0" y="633"/>
                </a:moveTo>
                <a:lnTo>
                  <a:pt x="73" y="0"/>
                </a:lnTo>
                <a:lnTo>
                  <a:pt x="158" y="740"/>
                </a:lnTo>
                <a:lnTo>
                  <a:pt x="0" y="633"/>
                </a:lnTo>
                <a:close/>
              </a:path>
            </a:pathLst>
          </a:cu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pic>
        <p:nvPicPr>
          <p:cNvPr id="8" name="图片 7" descr="数据资产"/>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421765" y="4416425"/>
            <a:ext cx="192405" cy="192405"/>
          </a:xfrm>
          <a:prstGeom prst="rect">
            <a:avLst/>
          </a:prstGeom>
        </p:spPr>
      </p:pic>
      <p:pic>
        <p:nvPicPr>
          <p:cNvPr id="9" name="图片 8" descr="资产统计"/>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3856355" y="4404995"/>
            <a:ext cx="266700" cy="266700"/>
          </a:xfrm>
          <a:prstGeom prst="rect">
            <a:avLst/>
          </a:prstGeom>
        </p:spPr>
      </p:pic>
      <p:pic>
        <p:nvPicPr>
          <p:cNvPr id="13" name="图片 12" descr="数据4"/>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6332220" y="4237990"/>
            <a:ext cx="210820" cy="210820"/>
          </a:xfrm>
          <a:prstGeom prst="rect">
            <a:avLst/>
          </a:prstGeom>
        </p:spPr>
      </p:pic>
      <p:pic>
        <p:nvPicPr>
          <p:cNvPr id="15" name="图片 14" descr="资产数字化"/>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8850630" y="3849370"/>
            <a:ext cx="191770" cy="191770"/>
          </a:xfrm>
          <a:prstGeom prst="rect">
            <a:avLst/>
          </a:prstGeom>
        </p:spPr>
      </p:pic>
      <p:pic>
        <p:nvPicPr>
          <p:cNvPr id="16" name="图片 15" descr="水资源_1"/>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2111693" y="5911215"/>
            <a:ext cx="551815" cy="528320"/>
          </a:xfrm>
          <a:prstGeom prst="rect">
            <a:avLst/>
          </a:prstGeom>
          <a:gradFill>
            <a:gsLst>
              <a:gs pos="0">
                <a:schemeClr val="accent1">
                  <a:lumMod val="20000"/>
                  <a:lumOff val="80000"/>
                </a:schemeClr>
              </a:gs>
              <a:gs pos="100000">
                <a:schemeClr val="accent1">
                  <a:lumMod val="60000"/>
                  <a:lumOff val="40000"/>
                </a:schemeClr>
              </a:gs>
            </a:gsLst>
            <a:lin ang="0" scaled="0"/>
          </a:gradFill>
        </p:spPr>
      </p:pic>
      <p:pic>
        <p:nvPicPr>
          <p:cNvPr id="17" name="图片 16" descr="上市审计"/>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9615805" y="5918835"/>
            <a:ext cx="480060" cy="480060"/>
          </a:xfrm>
          <a:prstGeom prst="rect">
            <a:avLst/>
          </a:prstGeom>
        </p:spPr>
      </p:pic>
      <p:pic>
        <p:nvPicPr>
          <p:cNvPr id="18" name="图片 17" descr="资产 (1)"/>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7097395" y="5875655"/>
            <a:ext cx="537210" cy="537210"/>
          </a:xfrm>
          <a:prstGeom prst="rect">
            <a:avLst/>
          </a:prstGeom>
        </p:spPr>
      </p:pic>
      <p:pic>
        <p:nvPicPr>
          <p:cNvPr id="19" name="图片 18" descr="irrigation_volume"/>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4677410" y="5970270"/>
            <a:ext cx="396875" cy="396875"/>
          </a:xfrm>
          <a:prstGeom prst="rect">
            <a:avLst/>
          </a:prstGeom>
        </p:spPr>
      </p:pic>
      <p:cxnSp>
        <p:nvCxnSpPr>
          <p:cNvPr id="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8738235" y="348615"/>
            <a:ext cx="3219450" cy="332740"/>
            <a:chOff x="13761" y="549"/>
            <a:chExt cx="5070" cy="524"/>
          </a:xfrm>
        </p:grpSpPr>
        <p:pic>
          <p:nvPicPr>
            <p:cNvPr id="20" name="图片 19"/>
            <p:cNvPicPr>
              <a:picLocks noChangeAspect="1"/>
            </p:cNvPicPr>
            <p:nvPr userDrawn="1"/>
          </p:nvPicPr>
          <p:blipFill>
            <a:blip r:embed="rId40"/>
            <a:srcRect l="17002" t="-1765" r="56499" b="-1176"/>
            <a:stretch>
              <a:fillRect/>
            </a:stretch>
          </p:blipFill>
          <p:spPr>
            <a:xfrm>
              <a:off x="13761" y="549"/>
              <a:ext cx="1582" cy="525"/>
            </a:xfrm>
            <a:prstGeom prst="rect">
              <a:avLst/>
            </a:prstGeom>
          </p:spPr>
        </p:pic>
        <p:sp>
          <p:nvSpPr>
            <p:cNvPr id="21" name="文本框 20"/>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图表 29"/>
          <p:cNvGraphicFramePr/>
          <p:nvPr/>
        </p:nvGraphicFramePr>
        <p:xfrm>
          <a:off x="703580" y="2051050"/>
          <a:ext cx="10796905" cy="4343400"/>
        </p:xfrm>
        <a:graphic>
          <a:graphicData uri="http://schemas.openxmlformats.org/drawingml/2006/chart">
            <c:chart xmlns:c="http://schemas.openxmlformats.org/drawingml/2006/chart" xmlns:r="http://schemas.openxmlformats.org/officeDocument/2006/relationships" r:id="rId1"/>
          </a:graphicData>
        </a:graphic>
      </p:graphicFrame>
      <p:sp>
        <p:nvSpPr>
          <p:cNvPr id="5" name="标题 2"/>
          <p:cNvSpPr>
            <a:spLocks noGrp="1"/>
          </p:cNvSpPr>
          <p:nvPr/>
        </p:nvSpPr>
        <p:spPr>
          <a:xfrm>
            <a:off x="1105535" y="348298"/>
            <a:ext cx="7271385"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我国二手车市场</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发展历程</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5600" y="186055"/>
            <a:ext cx="549910" cy="549910"/>
          </a:xfrm>
          <a:prstGeom prst="rect">
            <a:avLst/>
          </a:prstGeom>
        </p:spPr>
      </p:pic>
      <p:sp>
        <p:nvSpPr>
          <p:cNvPr id="6" name="图形 12"/>
          <p:cNvSpPr/>
          <p:nvPr/>
        </p:nvSpPr>
        <p:spPr>
          <a:xfrm>
            <a:off x="650588" y="2611700"/>
            <a:ext cx="10849610" cy="2824222"/>
          </a:xfrm>
          <a:custGeom>
            <a:avLst/>
            <a:gdLst>
              <a:gd name="connsiteX0" fmla="*/ 0 w 17086"/>
              <a:gd name="connsiteY0" fmla="*/ 3312 h 4447"/>
              <a:gd name="connsiteX1" fmla="*/ 1757 w 17086"/>
              <a:gd name="connsiteY1" fmla="*/ 4437 h 4447"/>
              <a:gd name="connsiteX2" fmla="*/ 3137 w 17086"/>
              <a:gd name="connsiteY2" fmla="*/ 3799 h 4447"/>
              <a:gd name="connsiteX3" fmla="*/ 4492 w 17086"/>
              <a:gd name="connsiteY3" fmla="*/ 2718 h 4447"/>
              <a:gd name="connsiteX4" fmla="*/ 5821 w 17086"/>
              <a:gd name="connsiteY4" fmla="*/ 3419 h 4447"/>
              <a:gd name="connsiteX5" fmla="*/ 7321 w 17086"/>
              <a:gd name="connsiteY5" fmla="*/ 3585 h 4447"/>
              <a:gd name="connsiteX6" fmla="*/ 8667 w 17086"/>
              <a:gd name="connsiteY6" fmla="*/ 2333 h 4447"/>
              <a:gd name="connsiteX7" fmla="*/ 10045 w 17086"/>
              <a:gd name="connsiteY7" fmla="*/ 1739 h 4447"/>
              <a:gd name="connsiteX8" fmla="*/ 11417 w 17086"/>
              <a:gd name="connsiteY8" fmla="*/ 2310 h 4447"/>
              <a:gd name="connsiteX9" fmla="*/ 12797 w 17086"/>
              <a:gd name="connsiteY9" fmla="*/ 2522 h 4447"/>
              <a:gd name="connsiteX10" fmla="*/ 14177 w 17086"/>
              <a:gd name="connsiteY10" fmla="*/ 2097 h 4447"/>
              <a:gd name="connsiteX11" fmla="*/ 15557 w 17086"/>
              <a:gd name="connsiteY11" fmla="*/ 1459 h 4447"/>
              <a:gd name="connsiteX12" fmla="*/ 17086 w 17086"/>
              <a:gd name="connsiteY12" fmla="*/ 0 h 4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086" h="4448">
                <a:moveTo>
                  <a:pt x="0" y="3312"/>
                </a:moveTo>
                <a:cubicBezTo>
                  <a:pt x="460" y="3595"/>
                  <a:pt x="1234" y="4356"/>
                  <a:pt x="1757" y="4437"/>
                </a:cubicBezTo>
                <a:cubicBezTo>
                  <a:pt x="2280" y="4518"/>
                  <a:pt x="2677" y="4118"/>
                  <a:pt x="3137" y="3799"/>
                </a:cubicBezTo>
                <a:cubicBezTo>
                  <a:pt x="3597" y="3480"/>
                  <a:pt x="4032" y="2789"/>
                  <a:pt x="4492" y="2718"/>
                </a:cubicBezTo>
                <a:cubicBezTo>
                  <a:pt x="4952" y="2648"/>
                  <a:pt x="5361" y="3242"/>
                  <a:pt x="5821" y="3419"/>
                </a:cubicBezTo>
                <a:cubicBezTo>
                  <a:pt x="6281" y="3596"/>
                  <a:pt x="6861" y="3762"/>
                  <a:pt x="7321" y="3585"/>
                </a:cubicBezTo>
                <a:cubicBezTo>
                  <a:pt x="7781" y="3408"/>
                  <a:pt x="8207" y="2652"/>
                  <a:pt x="8667" y="2333"/>
                </a:cubicBezTo>
                <a:cubicBezTo>
                  <a:pt x="9127" y="2014"/>
                  <a:pt x="9585" y="1739"/>
                  <a:pt x="10045" y="1739"/>
                </a:cubicBezTo>
                <a:cubicBezTo>
                  <a:pt x="10505" y="1739"/>
                  <a:pt x="10957" y="2168"/>
                  <a:pt x="11417" y="2310"/>
                </a:cubicBezTo>
                <a:cubicBezTo>
                  <a:pt x="11877" y="2452"/>
                  <a:pt x="12337" y="2558"/>
                  <a:pt x="12797" y="2522"/>
                </a:cubicBezTo>
                <a:cubicBezTo>
                  <a:pt x="13257" y="2487"/>
                  <a:pt x="13717" y="2274"/>
                  <a:pt x="14177" y="2097"/>
                </a:cubicBezTo>
                <a:cubicBezTo>
                  <a:pt x="14637" y="1920"/>
                  <a:pt x="15097" y="1778"/>
                  <a:pt x="15557" y="1459"/>
                </a:cubicBezTo>
                <a:cubicBezTo>
                  <a:pt x="16017" y="1140"/>
                  <a:pt x="16626" y="425"/>
                  <a:pt x="17086" y="0"/>
                </a:cubicBezTo>
              </a:path>
            </a:pathLst>
          </a:custGeom>
          <a:noFill/>
          <a:ln w="63500" cap="rnd">
            <a:gradFill>
              <a:gsLst>
                <a:gs pos="80000">
                  <a:schemeClr val="accent1">
                    <a:lumMod val="60000"/>
                    <a:lumOff val="40000"/>
                  </a:schemeClr>
                </a:gs>
                <a:gs pos="84000">
                  <a:schemeClr val="accent5">
                    <a:lumMod val="60000"/>
                    <a:lumOff val="40000"/>
                  </a:schemeClr>
                </a:gs>
              </a:gsLst>
              <a:lin ang="0" scaled="1"/>
            </a:gradFill>
            <a:prstDash val="solid"/>
            <a:round/>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 name="椭圆 1"/>
          <p:cNvSpPr/>
          <p:nvPr/>
        </p:nvSpPr>
        <p:spPr>
          <a:xfrm>
            <a:off x="754380" y="4771390"/>
            <a:ext cx="208915" cy="208915"/>
          </a:xfrm>
          <a:prstGeom prst="ellipse">
            <a:avLst/>
          </a:prstGeom>
          <a:solidFill>
            <a:schemeClr val="accent1">
              <a:lumMod val="60000"/>
              <a:lumOff val="40000"/>
            </a:schemeClr>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3" name="椭圆 2"/>
          <p:cNvSpPr/>
          <p:nvPr/>
        </p:nvSpPr>
        <p:spPr>
          <a:xfrm>
            <a:off x="1776095" y="5337810"/>
            <a:ext cx="208915" cy="208915"/>
          </a:xfrm>
          <a:prstGeom prst="ellipse">
            <a:avLst/>
          </a:prstGeom>
          <a:solidFill>
            <a:schemeClr val="accent1">
              <a:lumMod val="60000"/>
              <a:lumOff val="40000"/>
            </a:schemeClr>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8" name="椭圆 7"/>
          <p:cNvSpPr/>
          <p:nvPr/>
        </p:nvSpPr>
        <p:spPr>
          <a:xfrm>
            <a:off x="2717800" y="4784090"/>
            <a:ext cx="208915" cy="208915"/>
          </a:xfrm>
          <a:prstGeom prst="ellipse">
            <a:avLst/>
          </a:prstGeom>
          <a:solidFill>
            <a:schemeClr val="accent1">
              <a:lumMod val="60000"/>
              <a:lumOff val="40000"/>
            </a:schemeClr>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9" name="椭圆 8"/>
          <p:cNvSpPr/>
          <p:nvPr/>
        </p:nvSpPr>
        <p:spPr>
          <a:xfrm>
            <a:off x="3540125" y="4258945"/>
            <a:ext cx="208915" cy="208915"/>
          </a:xfrm>
          <a:prstGeom prst="ellipse">
            <a:avLst/>
          </a:prstGeom>
          <a:solidFill>
            <a:schemeClr val="accent1">
              <a:lumMod val="60000"/>
              <a:lumOff val="40000"/>
            </a:schemeClr>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1" name="椭圆 10"/>
          <p:cNvSpPr/>
          <p:nvPr/>
        </p:nvSpPr>
        <p:spPr>
          <a:xfrm>
            <a:off x="4386580" y="4709795"/>
            <a:ext cx="208915" cy="208915"/>
          </a:xfrm>
          <a:prstGeom prst="ellipse">
            <a:avLst/>
          </a:prstGeom>
          <a:solidFill>
            <a:schemeClr val="accent1">
              <a:lumMod val="60000"/>
              <a:lumOff val="40000"/>
            </a:schemeClr>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3" name="椭圆 12"/>
          <p:cNvSpPr/>
          <p:nvPr/>
        </p:nvSpPr>
        <p:spPr>
          <a:xfrm>
            <a:off x="5094605" y="4836795"/>
            <a:ext cx="208915" cy="208915"/>
          </a:xfrm>
          <a:prstGeom prst="ellipse">
            <a:avLst/>
          </a:prstGeom>
          <a:solidFill>
            <a:schemeClr val="accent1">
              <a:lumMod val="60000"/>
              <a:lumOff val="40000"/>
            </a:schemeClr>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4" name="椭圆 13"/>
          <p:cNvSpPr/>
          <p:nvPr/>
        </p:nvSpPr>
        <p:spPr>
          <a:xfrm>
            <a:off x="6045200" y="4011295"/>
            <a:ext cx="208915" cy="208915"/>
          </a:xfrm>
          <a:prstGeom prst="ellipse">
            <a:avLst/>
          </a:prstGeom>
          <a:solidFill>
            <a:schemeClr val="accent1">
              <a:lumMod val="60000"/>
              <a:lumOff val="40000"/>
            </a:schemeClr>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5" name="椭圆 14"/>
          <p:cNvSpPr/>
          <p:nvPr/>
        </p:nvSpPr>
        <p:spPr>
          <a:xfrm>
            <a:off x="6948170" y="3620770"/>
            <a:ext cx="208915" cy="208915"/>
          </a:xfrm>
          <a:prstGeom prst="ellipse">
            <a:avLst/>
          </a:prstGeom>
          <a:solidFill>
            <a:schemeClr val="accent1">
              <a:lumMod val="60000"/>
              <a:lumOff val="40000"/>
            </a:schemeClr>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7" name="椭圆 16"/>
          <p:cNvSpPr/>
          <p:nvPr/>
        </p:nvSpPr>
        <p:spPr>
          <a:xfrm>
            <a:off x="7903845" y="4011295"/>
            <a:ext cx="208915" cy="208915"/>
          </a:xfrm>
          <a:prstGeom prst="ellipse">
            <a:avLst/>
          </a:prstGeom>
          <a:solidFill>
            <a:schemeClr val="accent1">
              <a:lumMod val="60000"/>
              <a:lumOff val="40000"/>
            </a:schemeClr>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8" name="椭圆 17"/>
          <p:cNvSpPr/>
          <p:nvPr/>
        </p:nvSpPr>
        <p:spPr>
          <a:xfrm>
            <a:off x="8721090" y="4085590"/>
            <a:ext cx="208915" cy="208915"/>
          </a:xfrm>
          <a:prstGeom prst="ellipse">
            <a:avLst/>
          </a:prstGeom>
          <a:solidFill>
            <a:schemeClr val="accent1">
              <a:lumMod val="60000"/>
              <a:lumOff val="40000"/>
            </a:schemeClr>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9" name="椭圆 18"/>
          <p:cNvSpPr/>
          <p:nvPr/>
        </p:nvSpPr>
        <p:spPr>
          <a:xfrm>
            <a:off x="9451340" y="3876675"/>
            <a:ext cx="208915" cy="208915"/>
          </a:xfrm>
          <a:prstGeom prst="ellipse">
            <a:avLst/>
          </a:prstGeom>
          <a:solidFill>
            <a:schemeClr val="accent5">
              <a:lumMod val="60000"/>
              <a:lumOff val="40000"/>
            </a:schemeClr>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0" name="椭圆 19"/>
          <p:cNvSpPr/>
          <p:nvPr/>
        </p:nvSpPr>
        <p:spPr>
          <a:xfrm>
            <a:off x="10695940" y="3187065"/>
            <a:ext cx="208915" cy="208915"/>
          </a:xfrm>
          <a:prstGeom prst="ellipse">
            <a:avLst/>
          </a:prstGeom>
          <a:solidFill>
            <a:schemeClr val="accent5">
              <a:lumMod val="60000"/>
              <a:lumOff val="40000"/>
            </a:schemeClr>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cxnSp>
        <p:nvCxnSpPr>
          <p:cNvPr id="21" name="直接连接符 20"/>
          <p:cNvCxnSpPr/>
          <p:nvPr/>
        </p:nvCxnSpPr>
        <p:spPr>
          <a:xfrm>
            <a:off x="630555" y="2446020"/>
            <a:ext cx="0" cy="2247900"/>
          </a:xfrm>
          <a:prstGeom prst="line">
            <a:avLst/>
          </a:prstGeom>
          <a:ln>
            <a:solidFill>
              <a:schemeClr val="tx2">
                <a:alpha val="50000"/>
              </a:schemeClr>
            </a:solidFill>
            <a:prstDash val="sysDash"/>
          </a:ln>
        </p:spPr>
        <p:style>
          <a:lnRef idx="2">
            <a:schemeClr val="accent1"/>
          </a:lnRef>
          <a:fillRef idx="0">
            <a:srgbClr val="FFFFFF"/>
          </a:fillRef>
          <a:effectRef idx="0">
            <a:srgbClr val="FFFFFF"/>
          </a:effectRef>
          <a:fontRef idx="minor">
            <a:schemeClr val="tx1"/>
          </a:fontRef>
        </p:style>
      </p:cxnSp>
      <p:sp>
        <p:nvSpPr>
          <p:cNvPr id="22" name="矩形 21"/>
          <p:cNvSpPr/>
          <p:nvPr/>
        </p:nvSpPr>
        <p:spPr>
          <a:xfrm>
            <a:off x="630555" y="1968500"/>
            <a:ext cx="3860165" cy="411480"/>
          </a:xfrm>
          <a:prstGeom prst="rect">
            <a:avLst/>
          </a:prstGeom>
          <a:gradFill>
            <a:gsLst>
              <a:gs pos="0">
                <a:schemeClr val="accent1">
                  <a:lumMod val="60000"/>
                  <a:lumOff val="40000"/>
                </a:schemeClr>
              </a:gs>
              <a:gs pos="100000">
                <a:schemeClr val="accent1"/>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b="1">
                <a:latin typeface="微软雅黑" panose="020B0503020204020204" charset="-122"/>
                <a:ea typeface="微软雅黑" panose="020B0503020204020204" charset="-122"/>
                <a:cs typeface="微软雅黑" panose="020B0503020204020204" charset="-122"/>
                <a:sym typeface="+mn-ea"/>
              </a:rPr>
              <a:t>探索期</a:t>
            </a:r>
            <a:endParaRPr lang="zh-CN" altLang="en-US" sz="1400" b="1">
              <a:latin typeface="微软雅黑" panose="020B0503020204020204" charset="-122"/>
              <a:ea typeface="微软雅黑" panose="020B0503020204020204" charset="-122"/>
              <a:cs typeface="微软雅黑" panose="020B0503020204020204" charset="-122"/>
              <a:sym typeface="+mn-ea"/>
            </a:endParaRPr>
          </a:p>
        </p:txBody>
      </p:sp>
      <p:cxnSp>
        <p:nvCxnSpPr>
          <p:cNvPr id="23" name="直接连接符 22"/>
          <p:cNvCxnSpPr>
            <a:endCxn id="45" idx="0"/>
          </p:cNvCxnSpPr>
          <p:nvPr/>
        </p:nvCxnSpPr>
        <p:spPr>
          <a:xfrm>
            <a:off x="4561840" y="2523490"/>
            <a:ext cx="0" cy="1097280"/>
          </a:xfrm>
          <a:prstGeom prst="line">
            <a:avLst/>
          </a:prstGeom>
          <a:ln>
            <a:solidFill>
              <a:schemeClr val="tx2">
                <a:alpha val="5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24" name="直接连接符 23"/>
          <p:cNvCxnSpPr/>
          <p:nvPr/>
        </p:nvCxnSpPr>
        <p:spPr>
          <a:xfrm>
            <a:off x="7076440" y="2498725"/>
            <a:ext cx="0" cy="922655"/>
          </a:xfrm>
          <a:prstGeom prst="line">
            <a:avLst/>
          </a:prstGeom>
          <a:ln>
            <a:solidFill>
              <a:schemeClr val="tx2">
                <a:alpha val="5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25" name="直接连接符 24"/>
          <p:cNvCxnSpPr/>
          <p:nvPr/>
        </p:nvCxnSpPr>
        <p:spPr>
          <a:xfrm>
            <a:off x="8673465" y="2414905"/>
            <a:ext cx="0" cy="1123950"/>
          </a:xfrm>
          <a:prstGeom prst="line">
            <a:avLst/>
          </a:prstGeom>
          <a:ln>
            <a:solidFill>
              <a:schemeClr val="tx2">
                <a:alpha val="5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26" name="直接连接符 25"/>
          <p:cNvCxnSpPr/>
          <p:nvPr/>
        </p:nvCxnSpPr>
        <p:spPr>
          <a:xfrm>
            <a:off x="11358880" y="2453005"/>
            <a:ext cx="0" cy="1016000"/>
          </a:xfrm>
          <a:prstGeom prst="line">
            <a:avLst/>
          </a:prstGeom>
          <a:ln>
            <a:solidFill>
              <a:schemeClr val="accent6">
                <a:lumMod val="20000"/>
                <a:lumOff val="8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27" name="直接连接符 26"/>
          <p:cNvCxnSpPr/>
          <p:nvPr/>
        </p:nvCxnSpPr>
        <p:spPr>
          <a:xfrm>
            <a:off x="10243185" y="2358390"/>
            <a:ext cx="0" cy="1016000"/>
          </a:xfrm>
          <a:prstGeom prst="line">
            <a:avLst/>
          </a:prstGeom>
          <a:ln>
            <a:solidFill>
              <a:schemeClr val="tx2">
                <a:alpha val="50000"/>
              </a:schemeClr>
            </a:solidFill>
            <a:prstDash val="sysDash"/>
          </a:ln>
        </p:spPr>
        <p:style>
          <a:lnRef idx="2">
            <a:schemeClr val="accent1"/>
          </a:lnRef>
          <a:fillRef idx="0">
            <a:srgbClr val="FFFFFF"/>
          </a:fillRef>
          <a:effectRef idx="0">
            <a:srgbClr val="FFFFFF"/>
          </a:effectRef>
          <a:fontRef idx="minor">
            <a:schemeClr val="tx1"/>
          </a:fontRef>
        </p:style>
      </p:cxnSp>
      <p:sp>
        <p:nvSpPr>
          <p:cNvPr id="28" name="矩形 27"/>
          <p:cNvSpPr/>
          <p:nvPr/>
        </p:nvSpPr>
        <p:spPr>
          <a:xfrm>
            <a:off x="4576128" y="1968500"/>
            <a:ext cx="2449195" cy="411480"/>
          </a:xfrm>
          <a:prstGeom prst="rect">
            <a:avLst/>
          </a:prstGeom>
          <a:gradFill>
            <a:gsLst>
              <a:gs pos="0">
                <a:schemeClr val="accent1">
                  <a:lumMod val="60000"/>
                  <a:lumOff val="40000"/>
                </a:schemeClr>
              </a:gs>
              <a:gs pos="100000">
                <a:schemeClr val="accent1"/>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b="1">
                <a:latin typeface="微软雅黑" panose="020B0503020204020204" charset="-122"/>
                <a:ea typeface="微软雅黑" panose="020B0503020204020204" charset="-122"/>
                <a:cs typeface="微软雅黑" panose="020B0503020204020204" charset="-122"/>
                <a:sym typeface="+mn-ea"/>
              </a:rPr>
              <a:t>政策规范期</a:t>
            </a:r>
            <a:endParaRPr lang="zh-CN" altLang="en-US" sz="1400" b="1">
              <a:latin typeface="微软雅黑" panose="020B0503020204020204" charset="-122"/>
              <a:ea typeface="微软雅黑" panose="020B0503020204020204" charset="-122"/>
              <a:cs typeface="微软雅黑" panose="020B0503020204020204" charset="-122"/>
              <a:sym typeface="+mn-ea"/>
            </a:endParaRPr>
          </a:p>
        </p:txBody>
      </p:sp>
      <p:sp>
        <p:nvSpPr>
          <p:cNvPr id="29" name="矩形 28"/>
          <p:cNvSpPr/>
          <p:nvPr/>
        </p:nvSpPr>
        <p:spPr>
          <a:xfrm>
            <a:off x="7157085" y="1968500"/>
            <a:ext cx="1456055" cy="411480"/>
          </a:xfrm>
          <a:prstGeom prst="rect">
            <a:avLst/>
          </a:prstGeom>
          <a:gradFill>
            <a:gsLst>
              <a:gs pos="0">
                <a:schemeClr val="accent1">
                  <a:lumMod val="60000"/>
                  <a:lumOff val="40000"/>
                </a:schemeClr>
              </a:gs>
              <a:gs pos="100000">
                <a:schemeClr val="accent1"/>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b="1">
                <a:latin typeface="微软雅黑" panose="020B0503020204020204" charset="-122"/>
                <a:ea typeface="微软雅黑" panose="020B0503020204020204" charset="-122"/>
                <a:cs typeface="微软雅黑" panose="020B0503020204020204" charset="-122"/>
                <a:sym typeface="+mn-ea"/>
              </a:rPr>
              <a:t>政策驱动期</a:t>
            </a:r>
            <a:endParaRPr lang="zh-CN" altLang="en-US" sz="1400" b="1">
              <a:latin typeface="微软雅黑" panose="020B0503020204020204" charset="-122"/>
              <a:ea typeface="微软雅黑" panose="020B0503020204020204" charset="-122"/>
              <a:cs typeface="微软雅黑" panose="020B0503020204020204" charset="-122"/>
              <a:sym typeface="+mn-ea"/>
            </a:endParaRPr>
          </a:p>
        </p:txBody>
      </p:sp>
      <p:sp>
        <p:nvSpPr>
          <p:cNvPr id="31" name="矩形 30"/>
          <p:cNvSpPr/>
          <p:nvPr/>
        </p:nvSpPr>
        <p:spPr>
          <a:xfrm>
            <a:off x="8713470" y="1968500"/>
            <a:ext cx="1458595" cy="411480"/>
          </a:xfrm>
          <a:prstGeom prst="rect">
            <a:avLst/>
          </a:prstGeom>
          <a:gradFill>
            <a:gsLst>
              <a:gs pos="0">
                <a:schemeClr val="accent5"/>
              </a:gs>
              <a:gs pos="100000">
                <a:schemeClr val="accent5">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b="1">
                <a:latin typeface="微软雅黑" panose="020B0503020204020204" charset="-122"/>
                <a:ea typeface="微软雅黑" panose="020B0503020204020204" charset="-122"/>
                <a:cs typeface="微软雅黑" panose="020B0503020204020204" charset="-122"/>
                <a:sym typeface="+mn-ea"/>
              </a:rPr>
              <a:t>市场爆发期</a:t>
            </a:r>
            <a:endParaRPr lang="zh-CN" altLang="en-US" sz="1400" b="1">
              <a:latin typeface="微软雅黑" panose="020B0503020204020204" charset="-122"/>
              <a:ea typeface="微软雅黑" panose="020B0503020204020204" charset="-122"/>
              <a:cs typeface="微软雅黑" panose="020B0503020204020204" charset="-122"/>
              <a:sym typeface="+mn-ea"/>
            </a:endParaRPr>
          </a:p>
        </p:txBody>
      </p:sp>
      <p:sp>
        <p:nvSpPr>
          <p:cNvPr id="32" name="矩形 31"/>
          <p:cNvSpPr/>
          <p:nvPr/>
        </p:nvSpPr>
        <p:spPr>
          <a:xfrm>
            <a:off x="10294620" y="1968500"/>
            <a:ext cx="1064895" cy="411480"/>
          </a:xfrm>
          <a:prstGeom prst="rect">
            <a:avLst/>
          </a:prstGeom>
          <a:gradFill>
            <a:gsLst>
              <a:gs pos="0">
                <a:schemeClr val="accent5"/>
              </a:gs>
              <a:gs pos="100000">
                <a:schemeClr val="accent5">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b="1">
                <a:latin typeface="微软雅黑" panose="020B0503020204020204" charset="-122"/>
                <a:ea typeface="微软雅黑" panose="020B0503020204020204" charset="-122"/>
                <a:cs typeface="微软雅黑" panose="020B0503020204020204" charset="-122"/>
                <a:sym typeface="+mn-ea"/>
              </a:rPr>
              <a:t>拓展期</a:t>
            </a:r>
            <a:endParaRPr lang="zh-CN" altLang="en-US" sz="1400" b="1">
              <a:latin typeface="微软雅黑" panose="020B0503020204020204" charset="-122"/>
              <a:ea typeface="微软雅黑" panose="020B0503020204020204" charset="-122"/>
              <a:cs typeface="微软雅黑" panose="020B0503020204020204" charset="-122"/>
              <a:sym typeface="+mn-ea"/>
            </a:endParaRPr>
          </a:p>
        </p:txBody>
      </p:sp>
      <p:sp>
        <p:nvSpPr>
          <p:cNvPr id="33" name="文本框 32"/>
          <p:cNvSpPr txBox="1"/>
          <p:nvPr/>
        </p:nvSpPr>
        <p:spPr>
          <a:xfrm>
            <a:off x="627380" y="5812155"/>
            <a:ext cx="1092835" cy="337185"/>
          </a:xfrm>
          <a:prstGeom prst="rect">
            <a:avLst/>
          </a:prstGeom>
          <a:noFill/>
        </p:spPr>
        <p:txBody>
          <a:bodyPr wrap="square" rtlCol="0">
            <a:spAutoFit/>
          </a:bodyPr>
          <a:p>
            <a:r>
              <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2005.08</a:t>
            </a:r>
            <a:endPar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34" name="文本框 33"/>
          <p:cNvSpPr txBox="1"/>
          <p:nvPr/>
        </p:nvSpPr>
        <p:spPr>
          <a:xfrm>
            <a:off x="627380" y="6073140"/>
            <a:ext cx="1336040" cy="629920"/>
          </a:xfrm>
          <a:prstGeom prst="rect">
            <a:avLst/>
          </a:prstGeom>
          <a:noFill/>
        </p:spPr>
        <p:txBody>
          <a:bodyPr wrap="square" rtlCol="0">
            <a:spAutoFit/>
          </a:bodyPr>
          <a:p>
            <a:r>
              <a:rPr lang="zh-CN" altLang="en-US" sz="700">
                <a:solidFill>
                  <a:schemeClr val="tx2"/>
                </a:solidFill>
                <a:latin typeface="微软雅黑" panose="020B0503020204020204" charset="-122"/>
                <a:ea typeface="微软雅黑" panose="020B0503020204020204" charset="-122"/>
                <a:cs typeface="微软雅黑" panose="020B0503020204020204" charset="-122"/>
              </a:rPr>
              <a:t>商务部等发布</a:t>
            </a:r>
            <a:r>
              <a:rPr lang="zh-CN" altLang="en-US" sz="700" b="1">
                <a:solidFill>
                  <a:schemeClr val="tx2"/>
                </a:solidFill>
                <a:latin typeface="微软雅黑" panose="020B0503020204020204" charset="-122"/>
                <a:ea typeface="微软雅黑" panose="020B0503020204020204" charset="-122"/>
                <a:cs typeface="微软雅黑" panose="020B0503020204020204" charset="-122"/>
              </a:rPr>
              <a:t>《二手车流通管理办法》</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，取消国企垄断，允许民营资本入场，确立交易市场备案制，推动</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散户车商</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向集群化经营转型。</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5" name="文本框 34"/>
          <p:cNvSpPr txBox="1"/>
          <p:nvPr/>
        </p:nvSpPr>
        <p:spPr>
          <a:xfrm>
            <a:off x="2248535" y="5799455"/>
            <a:ext cx="1043305" cy="337185"/>
          </a:xfrm>
          <a:prstGeom prst="rect">
            <a:avLst/>
          </a:prstGeom>
          <a:noFill/>
        </p:spPr>
        <p:txBody>
          <a:bodyPr wrap="square" rtlCol="0">
            <a:spAutoFit/>
          </a:bodyPr>
          <a:p>
            <a:r>
              <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2011.01</a:t>
            </a:r>
            <a:endPar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36" name="文本框 35"/>
          <p:cNvSpPr txBox="1"/>
          <p:nvPr/>
        </p:nvSpPr>
        <p:spPr>
          <a:xfrm>
            <a:off x="2248535" y="6060440"/>
            <a:ext cx="1241425" cy="629920"/>
          </a:xfrm>
          <a:prstGeom prst="rect">
            <a:avLst/>
          </a:prstGeom>
          <a:noFill/>
        </p:spPr>
        <p:txBody>
          <a:bodyPr wrap="square" rtlCol="0">
            <a:spAutoFit/>
          </a:bodyPr>
          <a:p>
            <a:r>
              <a:rPr lang="zh-CN" altLang="en-US" sz="700" b="1">
                <a:solidFill>
                  <a:schemeClr val="tx2"/>
                </a:solidFill>
                <a:latin typeface="微软雅黑" panose="020B0503020204020204" charset="-122"/>
                <a:ea typeface="微软雅黑" panose="020B0503020204020204" charset="-122"/>
                <a:cs typeface="微软雅黑" panose="020B0503020204020204" charset="-122"/>
              </a:rPr>
              <a:t>北京限购政策实施，</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倒逼</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4S</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店发力置换业务，主机厂认证二手车兴起（如别克诚新），催生集团拍卖平台（运通拍、广汇拍）。</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7" name="文本框 36"/>
          <p:cNvSpPr txBox="1"/>
          <p:nvPr/>
        </p:nvSpPr>
        <p:spPr>
          <a:xfrm>
            <a:off x="3291840" y="5287645"/>
            <a:ext cx="1094740" cy="337185"/>
          </a:xfrm>
          <a:prstGeom prst="rect">
            <a:avLst/>
          </a:prstGeom>
          <a:noFill/>
        </p:spPr>
        <p:txBody>
          <a:bodyPr wrap="square" rtlCol="0">
            <a:spAutoFit/>
          </a:bodyPr>
          <a:p>
            <a:r>
              <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2011.06</a:t>
            </a:r>
            <a:endPar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38" name="文本框 37"/>
          <p:cNvSpPr txBox="1"/>
          <p:nvPr/>
        </p:nvSpPr>
        <p:spPr>
          <a:xfrm>
            <a:off x="3291840" y="5548630"/>
            <a:ext cx="1336040" cy="521970"/>
          </a:xfrm>
          <a:prstGeom prst="rect">
            <a:avLst/>
          </a:prstGeom>
          <a:noFill/>
        </p:spPr>
        <p:txBody>
          <a:bodyPr wrap="square" rtlCol="0">
            <a:spAutoFit/>
          </a:bodyPr>
          <a:p>
            <a:r>
              <a:rPr lang="zh-CN" altLang="en-US" sz="700">
                <a:solidFill>
                  <a:schemeClr val="tx2"/>
                </a:solidFill>
                <a:latin typeface="微软雅黑" panose="020B0503020204020204" charset="-122"/>
                <a:ea typeface="微软雅黑" panose="020B0503020204020204" charset="-122"/>
                <a:cs typeface="微软雅黑" panose="020B0503020204020204" charset="-122"/>
              </a:rPr>
              <a:t>优信拍、车易拍等</a:t>
            </a:r>
            <a:r>
              <a:rPr lang="en-US" altLang="zh-CN" sz="700" b="1">
                <a:solidFill>
                  <a:schemeClr val="tx2"/>
                </a:solidFill>
                <a:latin typeface="微软雅黑" panose="020B0503020204020204" charset="-122"/>
                <a:ea typeface="微软雅黑" panose="020B0503020204020204" charset="-122"/>
                <a:cs typeface="微软雅黑" panose="020B0503020204020204" charset="-122"/>
              </a:rPr>
              <a:t>B2B</a:t>
            </a:r>
            <a:r>
              <a:rPr lang="zh-CN" altLang="en-US" sz="700" b="1">
                <a:solidFill>
                  <a:schemeClr val="tx2"/>
                </a:solidFill>
                <a:latin typeface="微软雅黑" panose="020B0503020204020204" charset="-122"/>
                <a:ea typeface="微软雅黑" panose="020B0503020204020204" charset="-122"/>
                <a:cs typeface="微软雅黑" panose="020B0503020204020204" charset="-122"/>
              </a:rPr>
              <a:t>拍卖平台上线</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，引入互联网竞价机制，解决</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4S</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店车源处置需求（限购后置换量激增）。</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9" name="文本框 38"/>
          <p:cNvSpPr txBox="1"/>
          <p:nvPr/>
        </p:nvSpPr>
        <p:spPr>
          <a:xfrm>
            <a:off x="4674235" y="5524500"/>
            <a:ext cx="1073150" cy="337185"/>
          </a:xfrm>
          <a:prstGeom prst="rect">
            <a:avLst/>
          </a:prstGeom>
          <a:noFill/>
        </p:spPr>
        <p:txBody>
          <a:bodyPr wrap="square" rtlCol="0">
            <a:spAutoFit/>
          </a:bodyPr>
          <a:p>
            <a:r>
              <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2014.06</a:t>
            </a:r>
            <a:endPar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40" name="文本框 39"/>
          <p:cNvSpPr txBox="1"/>
          <p:nvPr/>
        </p:nvSpPr>
        <p:spPr>
          <a:xfrm>
            <a:off x="4614545" y="5785485"/>
            <a:ext cx="1336040" cy="629920"/>
          </a:xfrm>
          <a:prstGeom prst="rect">
            <a:avLst/>
          </a:prstGeom>
          <a:noFill/>
        </p:spPr>
        <p:txBody>
          <a:bodyPr wrap="square" rtlCol="0">
            <a:spAutoFit/>
          </a:bodyPr>
          <a:p>
            <a:r>
              <a:rPr lang="zh-CN" altLang="en-US" sz="700">
                <a:solidFill>
                  <a:schemeClr val="tx2"/>
                </a:solidFill>
                <a:latin typeface="微软雅黑" panose="020B0503020204020204" charset="-122"/>
                <a:ea typeface="微软雅黑" panose="020B0503020204020204" charset="-122"/>
                <a:cs typeface="微软雅黑" panose="020B0503020204020204" charset="-122"/>
              </a:rPr>
              <a:t>《二手车鉴定评估技术规范》生效，</a:t>
            </a:r>
            <a:r>
              <a:rPr lang="zh-CN" altLang="en-US" sz="700" b="1">
                <a:solidFill>
                  <a:schemeClr val="tx2"/>
                </a:solidFill>
                <a:latin typeface="微软雅黑" panose="020B0503020204020204" charset="-122"/>
                <a:ea typeface="微软雅黑" panose="020B0503020204020204" charset="-122"/>
                <a:cs typeface="微软雅黑" panose="020B0503020204020204" charset="-122"/>
              </a:rPr>
              <a:t>首部评估国标实施</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，明确</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104</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项检测流程，推出</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行</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认证标识（拒收泡水</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火烧</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重大事故车）。</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1" name="文本框 40"/>
          <p:cNvSpPr txBox="1"/>
          <p:nvPr/>
        </p:nvSpPr>
        <p:spPr>
          <a:xfrm>
            <a:off x="5715635" y="4853305"/>
            <a:ext cx="1019175" cy="337185"/>
          </a:xfrm>
          <a:prstGeom prst="rect">
            <a:avLst/>
          </a:prstGeom>
          <a:noFill/>
        </p:spPr>
        <p:txBody>
          <a:bodyPr wrap="square" rtlCol="0">
            <a:spAutoFit/>
          </a:bodyPr>
          <a:p>
            <a:r>
              <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2016.03</a:t>
            </a:r>
            <a:endPar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42" name="文本框 41"/>
          <p:cNvSpPr txBox="1"/>
          <p:nvPr/>
        </p:nvSpPr>
        <p:spPr>
          <a:xfrm>
            <a:off x="5715635" y="5114290"/>
            <a:ext cx="1336040" cy="521970"/>
          </a:xfrm>
          <a:prstGeom prst="rect">
            <a:avLst/>
          </a:prstGeom>
          <a:noFill/>
        </p:spPr>
        <p:txBody>
          <a:bodyPr wrap="square" rtlCol="0">
            <a:spAutoFit/>
          </a:bodyPr>
          <a:p>
            <a:r>
              <a:rPr lang="zh-CN" altLang="en-US" sz="700">
                <a:solidFill>
                  <a:schemeClr val="tx2"/>
                </a:solidFill>
                <a:latin typeface="微软雅黑" panose="020B0503020204020204" charset="-122"/>
                <a:ea typeface="微软雅黑" panose="020B0503020204020204" charset="-122"/>
                <a:cs typeface="微软雅黑" panose="020B0503020204020204" charset="-122"/>
              </a:rPr>
              <a:t>《关于促进二手车便利交易的若干意见》要求，</a:t>
            </a:r>
            <a:r>
              <a:rPr lang="zh-CN" altLang="en-US" sz="700" b="1">
                <a:solidFill>
                  <a:schemeClr val="tx2"/>
                </a:solidFill>
                <a:latin typeface="微软雅黑" panose="020B0503020204020204" charset="-122"/>
                <a:ea typeface="微软雅黑" panose="020B0503020204020204" charset="-122"/>
                <a:cs typeface="微软雅黑" panose="020B0503020204020204" charset="-122"/>
              </a:rPr>
              <a:t>国务院限迁破冰令，</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2016</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年</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5</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月底前取消非重点区域限迁。</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3" name="文本框 42"/>
          <p:cNvSpPr txBox="1"/>
          <p:nvPr/>
        </p:nvSpPr>
        <p:spPr>
          <a:xfrm>
            <a:off x="1449705" y="4034790"/>
            <a:ext cx="1068705" cy="337185"/>
          </a:xfrm>
          <a:prstGeom prst="rect">
            <a:avLst/>
          </a:prstGeom>
          <a:noFill/>
        </p:spPr>
        <p:txBody>
          <a:bodyPr wrap="square" rtlCol="0">
            <a:spAutoFit/>
          </a:bodyPr>
          <a:p>
            <a:r>
              <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2009.03</a:t>
            </a:r>
            <a:endPar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44" name="文本框 43"/>
          <p:cNvSpPr txBox="1"/>
          <p:nvPr/>
        </p:nvSpPr>
        <p:spPr>
          <a:xfrm>
            <a:off x="1273175" y="4294505"/>
            <a:ext cx="1336040" cy="629920"/>
          </a:xfrm>
          <a:prstGeom prst="rect">
            <a:avLst/>
          </a:prstGeom>
          <a:noFill/>
        </p:spPr>
        <p:txBody>
          <a:bodyPr wrap="square" rtlCol="0">
            <a:spAutoFit/>
          </a:bodyPr>
          <a:p>
            <a:r>
              <a:rPr lang="zh-CN" altLang="en-US" sz="700" b="1">
                <a:solidFill>
                  <a:schemeClr val="tx2"/>
                </a:solidFill>
                <a:latin typeface="微软雅黑" panose="020B0503020204020204" charset="-122"/>
                <a:ea typeface="微软雅黑" panose="020B0503020204020204" charset="-122"/>
                <a:cs typeface="微软雅黑" panose="020B0503020204020204" charset="-122"/>
              </a:rPr>
              <a:t>《汽车产业调整振兴规划》</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发布，首次将二手车列入国家产业政策，要求</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完善二手车鉴定评估标准</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，推动市场硬件升级。</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5" name="文本框 44"/>
          <p:cNvSpPr txBox="1"/>
          <p:nvPr/>
        </p:nvSpPr>
        <p:spPr>
          <a:xfrm>
            <a:off x="4029075" y="3620770"/>
            <a:ext cx="1065530" cy="337185"/>
          </a:xfrm>
          <a:prstGeom prst="rect">
            <a:avLst/>
          </a:prstGeom>
          <a:noFill/>
        </p:spPr>
        <p:txBody>
          <a:bodyPr wrap="square" rtlCol="0">
            <a:spAutoFit/>
          </a:bodyPr>
          <a:p>
            <a:r>
              <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2013.05</a:t>
            </a:r>
            <a:endPar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46" name="文本框 45"/>
          <p:cNvSpPr txBox="1"/>
          <p:nvPr/>
        </p:nvSpPr>
        <p:spPr>
          <a:xfrm>
            <a:off x="4029075" y="3881755"/>
            <a:ext cx="1336040" cy="414020"/>
          </a:xfrm>
          <a:prstGeom prst="rect">
            <a:avLst/>
          </a:prstGeom>
          <a:noFill/>
        </p:spPr>
        <p:txBody>
          <a:bodyPr wrap="square" rtlCol="0">
            <a:spAutoFit/>
          </a:bodyPr>
          <a:p>
            <a:r>
              <a:rPr lang="zh-CN" altLang="en-US" sz="700">
                <a:solidFill>
                  <a:schemeClr val="tx2"/>
                </a:solidFill>
                <a:latin typeface="微软雅黑" panose="020B0503020204020204" charset="-122"/>
                <a:ea typeface="微软雅黑" panose="020B0503020204020204" charset="-122"/>
                <a:cs typeface="微软雅黑" panose="020B0503020204020204" charset="-122"/>
              </a:rPr>
              <a:t>报废新规实施，取消私家车</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15</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年强制报废，改为行驶</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60</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万公里引导报废。</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7" name="文本框 46"/>
          <p:cNvSpPr txBox="1"/>
          <p:nvPr/>
        </p:nvSpPr>
        <p:spPr>
          <a:xfrm>
            <a:off x="6711315" y="4356735"/>
            <a:ext cx="1061720" cy="337185"/>
          </a:xfrm>
          <a:prstGeom prst="rect">
            <a:avLst/>
          </a:prstGeom>
          <a:noFill/>
        </p:spPr>
        <p:txBody>
          <a:bodyPr wrap="square" rtlCol="0">
            <a:spAutoFit/>
          </a:bodyPr>
          <a:p>
            <a:r>
              <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2018.03</a:t>
            </a:r>
            <a:endPar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48" name="文本框 47"/>
          <p:cNvSpPr txBox="1"/>
          <p:nvPr/>
        </p:nvSpPr>
        <p:spPr>
          <a:xfrm>
            <a:off x="6711315" y="4617720"/>
            <a:ext cx="1336040" cy="306705"/>
          </a:xfrm>
          <a:prstGeom prst="rect">
            <a:avLst/>
          </a:prstGeom>
          <a:noFill/>
        </p:spPr>
        <p:txBody>
          <a:bodyPr wrap="square" rtlCol="0">
            <a:spAutoFit/>
          </a:bodyPr>
          <a:p>
            <a:r>
              <a:rPr lang="zh-CN" altLang="en-US" sz="700">
                <a:solidFill>
                  <a:schemeClr val="tx2"/>
                </a:solidFill>
                <a:latin typeface="微软雅黑" panose="020B0503020204020204" charset="-122"/>
                <a:ea typeface="微软雅黑" panose="020B0503020204020204" charset="-122"/>
                <a:cs typeface="微软雅黑" panose="020B0503020204020204" charset="-122"/>
              </a:rPr>
              <a:t>政府工作报告要求全面取消限迁，但地方执行滞后。</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9" name="文本框 48"/>
          <p:cNvSpPr txBox="1"/>
          <p:nvPr/>
        </p:nvSpPr>
        <p:spPr>
          <a:xfrm>
            <a:off x="7506335" y="5403850"/>
            <a:ext cx="1106805" cy="337185"/>
          </a:xfrm>
          <a:prstGeom prst="rect">
            <a:avLst/>
          </a:prstGeom>
          <a:noFill/>
        </p:spPr>
        <p:txBody>
          <a:bodyPr wrap="square" rtlCol="0">
            <a:spAutoFit/>
          </a:bodyPr>
          <a:p>
            <a:r>
              <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2020.04</a:t>
            </a:r>
            <a:endPar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50" name="文本框 49"/>
          <p:cNvSpPr txBox="1"/>
          <p:nvPr/>
        </p:nvSpPr>
        <p:spPr>
          <a:xfrm>
            <a:off x="7506335" y="5664835"/>
            <a:ext cx="1336040" cy="521970"/>
          </a:xfrm>
          <a:prstGeom prst="rect">
            <a:avLst/>
          </a:prstGeom>
          <a:noFill/>
        </p:spPr>
        <p:txBody>
          <a:bodyPr wrap="square" rtlCol="0">
            <a:spAutoFit/>
          </a:bodyPr>
          <a:p>
            <a:r>
              <a:rPr lang="zh-CN" altLang="en-US" sz="700">
                <a:solidFill>
                  <a:schemeClr val="tx2"/>
                </a:solidFill>
                <a:latin typeface="微软雅黑" panose="020B0503020204020204" charset="-122"/>
                <a:ea typeface="微软雅黑" panose="020B0503020204020204" charset="-122"/>
                <a:cs typeface="微软雅黑" panose="020B0503020204020204" charset="-122"/>
              </a:rPr>
              <a:t>税收改革破冰，财政部、税务总局公告增值税由</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3%</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减按</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2%</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征收改为减按</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0.5%</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，经销商成本直降</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75%</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1" name="文本框 50"/>
          <p:cNvSpPr txBox="1"/>
          <p:nvPr/>
        </p:nvSpPr>
        <p:spPr>
          <a:xfrm>
            <a:off x="8507095" y="4980305"/>
            <a:ext cx="1100455" cy="337185"/>
          </a:xfrm>
          <a:prstGeom prst="rect">
            <a:avLst/>
          </a:prstGeom>
          <a:noFill/>
        </p:spPr>
        <p:txBody>
          <a:bodyPr wrap="square" rtlCol="0">
            <a:spAutoFit/>
          </a:bodyPr>
          <a:p>
            <a:r>
              <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2022.07</a:t>
            </a:r>
            <a:endPar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52" name="文本框 51"/>
          <p:cNvSpPr txBox="1"/>
          <p:nvPr/>
        </p:nvSpPr>
        <p:spPr>
          <a:xfrm>
            <a:off x="8507095" y="5241290"/>
            <a:ext cx="1336040" cy="414020"/>
          </a:xfrm>
          <a:prstGeom prst="rect">
            <a:avLst/>
          </a:prstGeom>
          <a:noFill/>
        </p:spPr>
        <p:txBody>
          <a:bodyPr wrap="square" rtlCol="0">
            <a:spAutoFit/>
          </a:bodyPr>
          <a:p>
            <a:r>
              <a:rPr lang="zh-CN" altLang="en-US" sz="700">
                <a:solidFill>
                  <a:schemeClr val="tx2"/>
                </a:solidFill>
                <a:latin typeface="微软雅黑" panose="020B0503020204020204" charset="-122"/>
                <a:ea typeface="微软雅黑" panose="020B0503020204020204" charset="-122"/>
                <a:cs typeface="微软雅黑" panose="020B0503020204020204" charset="-122"/>
              </a:rPr>
              <a:t>商务部等</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17</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部门发文全面取消国五限迁，解决全国流通壁垒。</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3" name="文本框 52"/>
          <p:cNvSpPr txBox="1"/>
          <p:nvPr/>
        </p:nvSpPr>
        <p:spPr>
          <a:xfrm>
            <a:off x="9251950" y="4550410"/>
            <a:ext cx="1166495" cy="414020"/>
          </a:xfrm>
          <a:prstGeom prst="rect">
            <a:avLst/>
          </a:prstGeom>
          <a:noFill/>
        </p:spPr>
        <p:txBody>
          <a:bodyPr wrap="square" rtlCol="0">
            <a:spAutoFit/>
          </a:bodyPr>
          <a:p>
            <a:r>
              <a:rPr lang="zh-CN" altLang="en-US" sz="700">
                <a:solidFill>
                  <a:schemeClr val="tx2"/>
                </a:solidFill>
                <a:latin typeface="微软雅黑" panose="020B0503020204020204" charset="-122"/>
                <a:ea typeface="微软雅黑" panose="020B0503020204020204" charset="-122"/>
                <a:cs typeface="微软雅黑" panose="020B0503020204020204" charset="-122"/>
              </a:rPr>
              <a:t>临时产权制度落地（单独签注</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临时号牌），确立二手车商品属性。</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54" name="直接连接符 53"/>
          <p:cNvCxnSpPr/>
          <p:nvPr/>
        </p:nvCxnSpPr>
        <p:spPr>
          <a:xfrm>
            <a:off x="843915" y="4980305"/>
            <a:ext cx="0" cy="873125"/>
          </a:xfrm>
          <a:prstGeom prst="line">
            <a:avLst/>
          </a:prstGeom>
          <a:ln>
            <a:solidFill>
              <a:schemeClr val="accent1">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55" name="直接连接符 54"/>
          <p:cNvCxnSpPr/>
          <p:nvPr/>
        </p:nvCxnSpPr>
        <p:spPr>
          <a:xfrm>
            <a:off x="1880870" y="4817745"/>
            <a:ext cx="0" cy="490855"/>
          </a:xfrm>
          <a:prstGeom prst="line">
            <a:avLst/>
          </a:prstGeom>
          <a:ln>
            <a:solidFill>
              <a:schemeClr val="accent1">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56" name="直接连接符 55"/>
          <p:cNvCxnSpPr/>
          <p:nvPr/>
        </p:nvCxnSpPr>
        <p:spPr>
          <a:xfrm>
            <a:off x="2822575" y="4993005"/>
            <a:ext cx="0" cy="799465"/>
          </a:xfrm>
          <a:prstGeom prst="line">
            <a:avLst/>
          </a:prstGeom>
          <a:ln>
            <a:solidFill>
              <a:schemeClr val="accent1">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57" name="直接连接符 56"/>
          <p:cNvCxnSpPr/>
          <p:nvPr/>
        </p:nvCxnSpPr>
        <p:spPr>
          <a:xfrm>
            <a:off x="3644900" y="4467860"/>
            <a:ext cx="0" cy="799465"/>
          </a:xfrm>
          <a:prstGeom prst="line">
            <a:avLst/>
          </a:prstGeom>
          <a:ln>
            <a:solidFill>
              <a:schemeClr val="accent1">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58" name="直接连接符 57"/>
          <p:cNvCxnSpPr/>
          <p:nvPr/>
        </p:nvCxnSpPr>
        <p:spPr>
          <a:xfrm>
            <a:off x="4491355" y="4362450"/>
            <a:ext cx="0" cy="351790"/>
          </a:xfrm>
          <a:prstGeom prst="line">
            <a:avLst/>
          </a:prstGeom>
          <a:ln>
            <a:solidFill>
              <a:schemeClr val="accent1">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59" name="直接连接符 58"/>
          <p:cNvCxnSpPr/>
          <p:nvPr/>
        </p:nvCxnSpPr>
        <p:spPr>
          <a:xfrm>
            <a:off x="5199380" y="5045710"/>
            <a:ext cx="0" cy="476250"/>
          </a:xfrm>
          <a:prstGeom prst="line">
            <a:avLst/>
          </a:prstGeom>
          <a:ln>
            <a:solidFill>
              <a:schemeClr val="accent1">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7" name="直接连接符 6"/>
          <p:cNvCxnSpPr/>
          <p:nvPr/>
        </p:nvCxnSpPr>
        <p:spPr>
          <a:xfrm>
            <a:off x="6149975" y="4237990"/>
            <a:ext cx="0" cy="593090"/>
          </a:xfrm>
          <a:prstGeom prst="line">
            <a:avLst/>
          </a:prstGeom>
          <a:ln>
            <a:solidFill>
              <a:schemeClr val="accent1"/>
            </a:solidFill>
            <a:prstDash val="sysDash"/>
          </a:ln>
        </p:spPr>
        <p:style>
          <a:lnRef idx="2">
            <a:schemeClr val="accent1"/>
          </a:lnRef>
          <a:fillRef idx="0">
            <a:srgbClr val="FFFFFF"/>
          </a:fillRef>
          <a:effectRef idx="0">
            <a:srgbClr val="FFFFFF"/>
          </a:effectRef>
          <a:fontRef idx="minor">
            <a:schemeClr val="tx1"/>
          </a:fontRef>
        </p:style>
      </p:cxnSp>
      <p:cxnSp>
        <p:nvCxnSpPr>
          <p:cNvPr id="60" name="直接连接符 59"/>
          <p:cNvCxnSpPr/>
          <p:nvPr/>
        </p:nvCxnSpPr>
        <p:spPr>
          <a:xfrm>
            <a:off x="7051675" y="3778885"/>
            <a:ext cx="0" cy="593090"/>
          </a:xfrm>
          <a:prstGeom prst="line">
            <a:avLst/>
          </a:prstGeom>
          <a:ln>
            <a:solidFill>
              <a:schemeClr val="accent1"/>
            </a:solidFill>
            <a:prstDash val="sysDash"/>
          </a:ln>
        </p:spPr>
        <p:style>
          <a:lnRef idx="2">
            <a:schemeClr val="accent1"/>
          </a:lnRef>
          <a:fillRef idx="0">
            <a:srgbClr val="FFFFFF"/>
          </a:fillRef>
          <a:effectRef idx="0">
            <a:srgbClr val="FFFFFF"/>
          </a:effectRef>
          <a:fontRef idx="minor">
            <a:schemeClr val="tx1"/>
          </a:fontRef>
        </p:style>
      </p:cxnSp>
      <p:cxnSp>
        <p:nvCxnSpPr>
          <p:cNvPr id="61" name="直接连接符 60"/>
          <p:cNvCxnSpPr>
            <a:endCxn id="49" idx="0"/>
          </p:cNvCxnSpPr>
          <p:nvPr/>
        </p:nvCxnSpPr>
        <p:spPr>
          <a:xfrm>
            <a:off x="8058785" y="4220210"/>
            <a:ext cx="1270" cy="1183640"/>
          </a:xfrm>
          <a:prstGeom prst="line">
            <a:avLst/>
          </a:prstGeom>
          <a:ln>
            <a:solidFill>
              <a:schemeClr val="accent1"/>
            </a:solidFill>
            <a:prstDash val="sysDash"/>
          </a:ln>
        </p:spPr>
        <p:style>
          <a:lnRef idx="2">
            <a:schemeClr val="accent1"/>
          </a:lnRef>
          <a:fillRef idx="0">
            <a:srgbClr val="FFFFFF"/>
          </a:fillRef>
          <a:effectRef idx="0">
            <a:srgbClr val="FFFFFF"/>
          </a:effectRef>
          <a:fontRef idx="minor">
            <a:schemeClr val="tx1"/>
          </a:fontRef>
        </p:style>
      </p:cxnSp>
      <p:cxnSp>
        <p:nvCxnSpPr>
          <p:cNvPr id="62" name="直接连接符 61"/>
          <p:cNvCxnSpPr/>
          <p:nvPr/>
        </p:nvCxnSpPr>
        <p:spPr>
          <a:xfrm>
            <a:off x="8825230" y="4294505"/>
            <a:ext cx="0" cy="661670"/>
          </a:xfrm>
          <a:prstGeom prst="line">
            <a:avLst/>
          </a:prstGeom>
          <a:ln>
            <a:solidFill>
              <a:schemeClr val="accent1"/>
            </a:solidFill>
            <a:prstDash val="sysDash"/>
          </a:ln>
        </p:spPr>
        <p:style>
          <a:lnRef idx="2">
            <a:schemeClr val="accent1"/>
          </a:lnRef>
          <a:fillRef idx="0">
            <a:srgbClr val="FFFFFF"/>
          </a:fillRef>
          <a:effectRef idx="0">
            <a:srgbClr val="FFFFFF"/>
          </a:effectRef>
          <a:fontRef idx="minor">
            <a:schemeClr val="tx1"/>
          </a:fontRef>
        </p:style>
      </p:cxnSp>
      <p:sp>
        <p:nvSpPr>
          <p:cNvPr id="63" name="文本框 62"/>
          <p:cNvSpPr txBox="1"/>
          <p:nvPr/>
        </p:nvSpPr>
        <p:spPr>
          <a:xfrm>
            <a:off x="1626235" y="2432050"/>
            <a:ext cx="1868805" cy="306705"/>
          </a:xfrm>
          <a:prstGeom prst="rect">
            <a:avLst/>
          </a:prstGeom>
          <a:noFill/>
        </p:spPr>
        <p:txBody>
          <a:bodyPr wrap="square" rtlCol="0">
            <a:spAutoFit/>
          </a:bodyPr>
          <a:p>
            <a:pPr algn="ctr"/>
            <a:r>
              <a:rPr lang="en-US" altLang="zh-CN" sz="1400" b="1">
                <a:solidFill>
                  <a:schemeClr val="accent1"/>
                </a:solidFill>
                <a:latin typeface="微软雅黑" panose="020B0503020204020204" charset="-122"/>
                <a:ea typeface="微软雅黑" panose="020B0503020204020204" charset="-122"/>
                <a:cs typeface="微软雅黑" panose="020B0503020204020204" charset="-122"/>
              </a:rPr>
              <a:t>2005-2013</a:t>
            </a:r>
            <a:endParaRPr lang="en-US" altLang="zh-CN" sz="14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64" name="文本框 63"/>
          <p:cNvSpPr txBox="1"/>
          <p:nvPr/>
        </p:nvSpPr>
        <p:spPr>
          <a:xfrm>
            <a:off x="885508" y="2726055"/>
            <a:ext cx="3350260" cy="39878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首部法规出台，市场化转型启动</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b="1">
                <a:solidFill>
                  <a:schemeClr val="accent1"/>
                </a:solidFill>
                <a:latin typeface="微软雅黑" panose="020B0503020204020204" charset="-122"/>
                <a:ea typeface="微软雅黑" panose="020B0503020204020204" charset="-122"/>
                <a:cs typeface="微软雅黑" panose="020B0503020204020204" charset="-122"/>
              </a:rPr>
              <a:t>从政策破冰</a:t>
            </a:r>
            <a:r>
              <a:rPr lang="en-US" altLang="zh-CN" sz="1000" b="1">
                <a:solidFill>
                  <a:schemeClr val="accent1"/>
                </a:solidFill>
                <a:latin typeface="微软雅黑" panose="020B0503020204020204" charset="-122"/>
                <a:ea typeface="微软雅黑" panose="020B0503020204020204" charset="-122"/>
                <a:cs typeface="微软雅黑" panose="020B0503020204020204" charset="-122"/>
              </a:rPr>
              <a:t>→</a:t>
            </a:r>
            <a:r>
              <a:rPr lang="zh-CN" altLang="en-US" sz="1000" b="1">
                <a:solidFill>
                  <a:schemeClr val="accent1"/>
                </a:solidFill>
                <a:latin typeface="微软雅黑" panose="020B0503020204020204" charset="-122"/>
                <a:ea typeface="微软雅黑" panose="020B0503020204020204" charset="-122"/>
                <a:cs typeface="微软雅黑" panose="020B0503020204020204" charset="-122"/>
              </a:rPr>
              <a:t>模式分化，行业从零散化向集群化转型</a:t>
            </a:r>
            <a:endParaRPr lang="zh-CN" altLang="en-US" sz="10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66" name="文本框 65"/>
          <p:cNvSpPr txBox="1"/>
          <p:nvPr/>
        </p:nvSpPr>
        <p:spPr>
          <a:xfrm>
            <a:off x="4866323" y="2432050"/>
            <a:ext cx="1868805" cy="306705"/>
          </a:xfrm>
          <a:prstGeom prst="rect">
            <a:avLst/>
          </a:prstGeom>
          <a:noFill/>
        </p:spPr>
        <p:txBody>
          <a:bodyPr wrap="square" rtlCol="0">
            <a:spAutoFit/>
          </a:bodyPr>
          <a:p>
            <a:pPr algn="ctr"/>
            <a:r>
              <a:rPr lang="en-US" altLang="zh-CN" sz="1400" b="1">
                <a:solidFill>
                  <a:schemeClr val="accent1"/>
                </a:solidFill>
                <a:latin typeface="微软雅黑" panose="020B0503020204020204" charset="-122"/>
                <a:ea typeface="微软雅黑" panose="020B0503020204020204" charset="-122"/>
                <a:cs typeface="微软雅黑" panose="020B0503020204020204" charset="-122"/>
              </a:rPr>
              <a:t>2014-2016</a:t>
            </a:r>
            <a:endParaRPr lang="en-US" altLang="zh-CN" sz="14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67" name="文本框 66"/>
          <p:cNvSpPr txBox="1"/>
          <p:nvPr/>
        </p:nvSpPr>
        <p:spPr>
          <a:xfrm>
            <a:off x="4613910" y="2726055"/>
            <a:ext cx="2334895" cy="553085"/>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首次构建全国统一政策框架</a:t>
            </a:r>
            <a:endParaRPr lang="en-US" altLang="zh-CN" sz="1000">
              <a:solidFill>
                <a:schemeClr val="tx2"/>
              </a:solidFill>
              <a:latin typeface="微软雅黑" panose="020B0503020204020204" charset="-122"/>
              <a:ea typeface="微软雅黑" panose="020B0503020204020204" charset="-122"/>
              <a:cs typeface="微软雅黑" panose="020B0503020204020204" charset="-122"/>
            </a:endParaRPr>
          </a:p>
          <a:p>
            <a:pPr algn="ctr"/>
            <a:r>
              <a:rPr lang="en-US" altLang="zh-CN" sz="1000" b="1">
                <a:solidFill>
                  <a:schemeClr val="accent1"/>
                </a:solidFill>
                <a:latin typeface="微软雅黑" panose="020B0503020204020204" charset="-122"/>
                <a:ea typeface="微软雅黑" panose="020B0503020204020204" charset="-122"/>
                <a:cs typeface="微软雅黑" panose="020B0503020204020204" charset="-122"/>
              </a:rPr>
              <a:t>但“三座大山”（限迁/税收/产权）仅松动其一</a:t>
            </a:r>
            <a:r>
              <a:rPr lang="zh-CN" altLang="en-US" sz="1000" b="1">
                <a:solidFill>
                  <a:schemeClr val="accent1"/>
                </a:solidFill>
                <a:latin typeface="微软雅黑" panose="020B0503020204020204" charset="-122"/>
                <a:ea typeface="微软雅黑" panose="020B0503020204020204" charset="-122"/>
                <a:cs typeface="微软雅黑" panose="020B0503020204020204" charset="-122"/>
              </a:rPr>
              <a:t>，政策仍需二次攻坚</a:t>
            </a:r>
            <a:r>
              <a:rPr lang="en-US" altLang="zh-CN" sz="1000" b="1">
                <a:solidFill>
                  <a:schemeClr val="accent1"/>
                </a:solidFill>
                <a:latin typeface="微软雅黑" panose="020B0503020204020204" charset="-122"/>
                <a:ea typeface="微软雅黑" panose="020B0503020204020204" charset="-122"/>
                <a:cs typeface="微软雅黑" panose="020B0503020204020204" charset="-122"/>
              </a:rPr>
              <a:t>。</a:t>
            </a:r>
            <a:endParaRPr lang="en-US" altLang="zh-CN" sz="10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68" name="文本框 67"/>
          <p:cNvSpPr txBox="1"/>
          <p:nvPr/>
        </p:nvSpPr>
        <p:spPr>
          <a:xfrm>
            <a:off x="7138035" y="2432050"/>
            <a:ext cx="1475740" cy="306705"/>
          </a:xfrm>
          <a:prstGeom prst="rect">
            <a:avLst/>
          </a:prstGeom>
          <a:noFill/>
        </p:spPr>
        <p:txBody>
          <a:bodyPr wrap="square" rtlCol="0">
            <a:spAutoFit/>
          </a:bodyPr>
          <a:p>
            <a:pPr algn="ctr"/>
            <a:r>
              <a:rPr lang="en-US" altLang="zh-CN" sz="1400" b="1">
                <a:solidFill>
                  <a:schemeClr val="accent1"/>
                </a:solidFill>
                <a:latin typeface="微软雅黑" panose="020B0503020204020204" charset="-122"/>
                <a:ea typeface="微软雅黑" panose="020B0503020204020204" charset="-122"/>
                <a:cs typeface="微软雅黑" panose="020B0503020204020204" charset="-122"/>
                <a:sym typeface="+mn-ea"/>
              </a:rPr>
              <a:t>2016-2020</a:t>
            </a:r>
            <a:endParaRPr lang="en-US" altLang="zh-CN" sz="14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69" name="文本框 68"/>
          <p:cNvSpPr txBox="1"/>
          <p:nvPr/>
        </p:nvSpPr>
        <p:spPr>
          <a:xfrm>
            <a:off x="7051675" y="2726055"/>
            <a:ext cx="1680210" cy="553085"/>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锁定</a:t>
            </a:r>
            <a:r>
              <a:rPr lang="zh-CN" altLang="en-US" sz="1000" b="1">
                <a:solidFill>
                  <a:schemeClr val="accent1"/>
                </a:solidFill>
                <a:latin typeface="微软雅黑" panose="020B0503020204020204" charset="-122"/>
                <a:ea typeface="微软雅黑" panose="020B0503020204020204" charset="-122"/>
                <a:cs typeface="微软雅黑" panose="020B0503020204020204" charset="-122"/>
              </a:rPr>
              <a:t>税收改革突破</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与未</a:t>
            </a:r>
            <a:r>
              <a:rPr lang="zh-CN" altLang="en-US" sz="1000" b="1">
                <a:solidFill>
                  <a:schemeClr val="tx2"/>
                </a:solidFill>
                <a:latin typeface="微软雅黑" panose="020B0503020204020204" charset="-122"/>
                <a:ea typeface="微软雅黑" panose="020B0503020204020204" charset="-122"/>
                <a:cs typeface="微软雅黑" panose="020B0503020204020204" charset="-122"/>
              </a:rPr>
              <a:t>解瓶颈（产权）</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，铺垫爆发期攻坚。</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0" name="文本框 69"/>
          <p:cNvSpPr txBox="1"/>
          <p:nvPr/>
        </p:nvSpPr>
        <p:spPr>
          <a:xfrm>
            <a:off x="9255760" y="4276725"/>
            <a:ext cx="1038860" cy="337185"/>
          </a:xfrm>
          <a:prstGeom prst="rect">
            <a:avLst/>
          </a:prstGeom>
          <a:noFill/>
        </p:spPr>
        <p:txBody>
          <a:bodyPr wrap="square" rtlCol="0">
            <a:spAutoFit/>
          </a:bodyPr>
          <a:p>
            <a:r>
              <a:rPr lang="en-US" altLang="zh-CN" sz="1600" b="1">
                <a:solidFill>
                  <a:schemeClr val="accent5"/>
                </a:solidFill>
                <a:latin typeface="微软雅黑" panose="020B0503020204020204" charset="-122"/>
                <a:ea typeface="微软雅黑" panose="020B0503020204020204" charset="-122"/>
                <a:cs typeface="微软雅黑" panose="020B0503020204020204" charset="-122"/>
              </a:rPr>
              <a:t>2022.10</a:t>
            </a:r>
            <a:endParaRPr lang="en-US" altLang="zh-CN" sz="16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71" name="文本框 70"/>
          <p:cNvSpPr txBox="1"/>
          <p:nvPr/>
        </p:nvSpPr>
        <p:spPr>
          <a:xfrm>
            <a:off x="10419080" y="4146550"/>
            <a:ext cx="939800" cy="521970"/>
          </a:xfrm>
          <a:prstGeom prst="rect">
            <a:avLst/>
          </a:prstGeom>
          <a:noFill/>
        </p:spPr>
        <p:txBody>
          <a:bodyPr wrap="square" rtlCol="0">
            <a:spAutoFit/>
          </a:bodyPr>
          <a:p>
            <a:r>
              <a:rPr lang="zh-CN" altLang="en-US" sz="700">
                <a:solidFill>
                  <a:schemeClr val="tx2"/>
                </a:solidFill>
                <a:latin typeface="微软雅黑" panose="020B0503020204020204" charset="-122"/>
                <a:ea typeface="微软雅黑" panose="020B0503020204020204" charset="-122"/>
                <a:cs typeface="微软雅黑" panose="020B0503020204020204" charset="-122"/>
              </a:rPr>
              <a:t>国务院推动以旧换新，要求</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2027</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年交易量较</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2023</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年增</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45%</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2" name="文本框 71"/>
          <p:cNvSpPr txBox="1"/>
          <p:nvPr/>
        </p:nvSpPr>
        <p:spPr>
          <a:xfrm>
            <a:off x="10418445" y="3876675"/>
            <a:ext cx="1022350" cy="337185"/>
          </a:xfrm>
          <a:prstGeom prst="rect">
            <a:avLst/>
          </a:prstGeom>
          <a:noFill/>
        </p:spPr>
        <p:txBody>
          <a:bodyPr wrap="square" rtlCol="0">
            <a:spAutoFit/>
          </a:bodyPr>
          <a:p>
            <a:r>
              <a:rPr lang="en-US" altLang="zh-CN" sz="1600" b="1">
                <a:solidFill>
                  <a:schemeClr val="accent5"/>
                </a:solidFill>
                <a:latin typeface="微软雅黑" panose="020B0503020204020204" charset="-122"/>
                <a:ea typeface="微软雅黑" panose="020B0503020204020204" charset="-122"/>
                <a:cs typeface="微软雅黑" panose="020B0503020204020204" charset="-122"/>
              </a:rPr>
              <a:t>2024.03</a:t>
            </a:r>
            <a:endParaRPr lang="en-US" altLang="zh-CN" sz="16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73" name="文本框 72"/>
          <p:cNvSpPr txBox="1"/>
          <p:nvPr/>
        </p:nvSpPr>
        <p:spPr>
          <a:xfrm>
            <a:off x="10262870" y="2738755"/>
            <a:ext cx="1063625" cy="398780"/>
          </a:xfrm>
          <a:prstGeom prst="rect">
            <a:avLst/>
          </a:prstGeom>
          <a:noFill/>
        </p:spPr>
        <p:txBody>
          <a:bodyPr wrap="square" rtlCol="0">
            <a:spAutoFit/>
          </a:bodyPr>
          <a:p>
            <a:pPr algn="l"/>
            <a:r>
              <a:rPr lang="zh-CN" altLang="en-US" sz="1000">
                <a:solidFill>
                  <a:schemeClr val="tx2"/>
                </a:solidFill>
                <a:latin typeface="微软雅黑" panose="020B0503020204020204" charset="-122"/>
                <a:ea typeface="微软雅黑" panose="020B0503020204020204" charset="-122"/>
                <a:cs typeface="微软雅黑" panose="020B0503020204020204" charset="-122"/>
              </a:rPr>
              <a:t>制度深化与模式创新</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4" name="文本框 73"/>
          <p:cNvSpPr txBox="1"/>
          <p:nvPr/>
        </p:nvSpPr>
        <p:spPr>
          <a:xfrm>
            <a:off x="10262870" y="2432050"/>
            <a:ext cx="1059180" cy="306705"/>
          </a:xfrm>
          <a:prstGeom prst="rect">
            <a:avLst/>
          </a:prstGeom>
          <a:noFill/>
        </p:spPr>
        <p:txBody>
          <a:bodyPr wrap="square" rtlCol="0">
            <a:spAutoFit/>
          </a:bodyPr>
          <a:p>
            <a:pPr algn="ctr"/>
            <a:r>
              <a:rPr lang="en-US" altLang="zh-CN" sz="1400" b="1">
                <a:solidFill>
                  <a:schemeClr val="accent5"/>
                </a:solidFill>
                <a:latin typeface="微软雅黑" panose="020B0503020204020204" charset="-122"/>
                <a:ea typeface="微软雅黑" panose="020B0503020204020204" charset="-122"/>
                <a:cs typeface="微软雅黑" panose="020B0503020204020204" charset="-122"/>
                <a:sym typeface="+mn-ea"/>
              </a:rPr>
              <a:t>2022-</a:t>
            </a:r>
            <a:r>
              <a:rPr lang="zh-CN" altLang="en-US" sz="1400" b="1">
                <a:solidFill>
                  <a:schemeClr val="accent5"/>
                </a:solidFill>
                <a:latin typeface="微软雅黑" panose="020B0503020204020204" charset="-122"/>
                <a:ea typeface="微软雅黑" panose="020B0503020204020204" charset="-122"/>
                <a:cs typeface="微软雅黑" panose="020B0503020204020204" charset="-122"/>
                <a:sym typeface="+mn-ea"/>
              </a:rPr>
              <a:t>至今</a:t>
            </a:r>
            <a:endParaRPr lang="zh-CN" altLang="en-US" sz="1400" b="1">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75" name="文本框 74"/>
          <p:cNvSpPr txBox="1"/>
          <p:nvPr/>
        </p:nvSpPr>
        <p:spPr>
          <a:xfrm>
            <a:off x="8740775" y="2432050"/>
            <a:ext cx="1475740" cy="306705"/>
          </a:xfrm>
          <a:prstGeom prst="rect">
            <a:avLst/>
          </a:prstGeom>
          <a:noFill/>
        </p:spPr>
        <p:txBody>
          <a:bodyPr wrap="square" rtlCol="0">
            <a:spAutoFit/>
          </a:bodyPr>
          <a:p>
            <a:pPr algn="ctr"/>
            <a:r>
              <a:rPr lang="en-US" altLang="zh-CN" sz="1400" b="1">
                <a:solidFill>
                  <a:schemeClr val="accent5"/>
                </a:solidFill>
                <a:latin typeface="微软雅黑" panose="020B0503020204020204" charset="-122"/>
                <a:ea typeface="微软雅黑" panose="020B0503020204020204" charset="-122"/>
                <a:cs typeface="微软雅黑" panose="020B0503020204020204" charset="-122"/>
                <a:sym typeface="+mn-ea"/>
              </a:rPr>
              <a:t>2020-2022</a:t>
            </a:r>
            <a:endParaRPr lang="en-US" altLang="zh-CN" sz="1400" b="1">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76" name="文本框 75"/>
          <p:cNvSpPr txBox="1"/>
          <p:nvPr/>
        </p:nvSpPr>
        <p:spPr>
          <a:xfrm>
            <a:off x="8713470" y="2726055"/>
            <a:ext cx="1503680" cy="553085"/>
          </a:xfrm>
          <a:prstGeom prst="rect">
            <a:avLst/>
          </a:prstGeom>
          <a:noFill/>
        </p:spPr>
        <p:txBody>
          <a:bodyPr wrap="square" rtlCol="0">
            <a:spAutoFit/>
          </a:bodyPr>
          <a:p>
            <a:pPr algn="ctr"/>
            <a:r>
              <a:rPr lang="zh-CN" altLang="en-US" sz="1000" b="1">
                <a:solidFill>
                  <a:schemeClr val="accent5"/>
                </a:solidFill>
                <a:latin typeface="微软雅黑" panose="020B0503020204020204" charset="-122"/>
                <a:ea typeface="微软雅黑" panose="020B0503020204020204" charset="-122"/>
                <a:cs typeface="微软雅黑" panose="020B0503020204020204" charset="-122"/>
              </a:rPr>
              <a:t>“三座大山移除”，</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2023</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年爆发交易量达：</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1841</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万辆交易量。</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77" name="直接连接符 76"/>
          <p:cNvCxnSpPr/>
          <p:nvPr/>
        </p:nvCxnSpPr>
        <p:spPr>
          <a:xfrm>
            <a:off x="9558020" y="4109720"/>
            <a:ext cx="0" cy="191770"/>
          </a:xfrm>
          <a:prstGeom prst="line">
            <a:avLst/>
          </a:prstGeom>
          <a:ln>
            <a:solidFill>
              <a:schemeClr val="accent5">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78" name="直接连接符 77"/>
          <p:cNvCxnSpPr/>
          <p:nvPr/>
        </p:nvCxnSpPr>
        <p:spPr>
          <a:xfrm>
            <a:off x="10800715" y="3421380"/>
            <a:ext cx="0" cy="449580"/>
          </a:xfrm>
          <a:prstGeom prst="line">
            <a:avLst/>
          </a:prstGeom>
          <a:ln>
            <a:solidFill>
              <a:schemeClr val="accent5">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sp>
        <p:nvSpPr>
          <p:cNvPr id="138" name="矩形 137"/>
          <p:cNvSpPr/>
          <p:nvPr/>
        </p:nvSpPr>
        <p:spPr>
          <a:xfrm>
            <a:off x="626745" y="1003935"/>
            <a:ext cx="10732770" cy="874395"/>
          </a:xfrm>
          <a:prstGeom prst="rect">
            <a:avLst/>
          </a:prstGeom>
          <a:solidFill>
            <a:schemeClr val="accent1">
              <a:lumMod val="20000"/>
              <a:lumOff val="80000"/>
              <a:alpha val="20000"/>
            </a:schemeClr>
          </a:solidFill>
          <a:ln>
            <a:solidFill>
              <a:schemeClr val="accent1">
                <a:alpha val="2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endParaRPr lang="zh-CN" altLang="en-US" sz="16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755015" y="1072515"/>
            <a:ext cx="10464800" cy="737235"/>
          </a:xfrm>
          <a:prstGeom prst="rect">
            <a:avLst/>
          </a:prstGeom>
          <a:noFill/>
        </p:spPr>
        <p:txBody>
          <a:bodyPr wrap="square" rtlCol="0">
            <a:spAutoFit/>
          </a:bodyPr>
          <a:p>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rPr>
              <a:t>我国自</a:t>
            </a:r>
            <a:r>
              <a:rPr lang="en-US" altLang="zh-CN" sz="1400">
                <a:solidFill>
                  <a:schemeClr val="tx2"/>
                </a:solidFill>
                <a:latin typeface="微软雅黑" panose="020B0503020204020204" charset="-122"/>
                <a:ea typeface="微软雅黑" panose="020B0503020204020204" charset="-122"/>
                <a:cs typeface="微软雅黑" panose="020B0503020204020204" charset="-122"/>
                <a:sym typeface="+mn-ea"/>
              </a:rPr>
              <a:t>2014</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rPr>
              <a:t>年二手车交易量</a:t>
            </a:r>
            <a:r>
              <a:rPr lang="en-US" altLang="zh-CN" sz="1400">
                <a:solidFill>
                  <a:schemeClr val="tx2"/>
                </a:solidFill>
                <a:latin typeface="微软雅黑" panose="020B0503020204020204" charset="-122"/>
                <a:ea typeface="微软雅黑" panose="020B0503020204020204" charset="-122"/>
                <a:cs typeface="微软雅黑" panose="020B0503020204020204" charset="-122"/>
                <a:sym typeface="+mn-ea"/>
              </a:rPr>
              <a:t>605</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rPr>
              <a:t>万辆起步，通过十年政策攻坚</a:t>
            </a:r>
            <a:r>
              <a:rPr lang="zh-CN" altLang="en-US" sz="1400" b="1">
                <a:solidFill>
                  <a:schemeClr val="accent5"/>
                </a:solidFill>
                <a:latin typeface="微软雅黑" panose="020B0503020204020204" charset="-122"/>
                <a:ea typeface="微软雅黑" panose="020B0503020204020204" charset="-122"/>
                <a:cs typeface="微软雅黑" panose="020B0503020204020204" charset="-122"/>
                <a:sym typeface="+mn-ea"/>
              </a:rPr>
              <a:t>移除限迁、税收、产权</a:t>
            </a:r>
            <a:r>
              <a:rPr lang="en-US" altLang="zh-CN" sz="1400" b="1">
                <a:solidFill>
                  <a:schemeClr val="accent5"/>
                </a:solidFill>
                <a:latin typeface="微软雅黑" panose="020B0503020204020204" charset="-122"/>
                <a:ea typeface="微软雅黑" panose="020B0503020204020204" charset="-122"/>
                <a:cs typeface="微软雅黑" panose="020B0503020204020204" charset="-122"/>
                <a:sym typeface="+mn-ea"/>
              </a:rPr>
              <a:t>“</a:t>
            </a:r>
            <a:r>
              <a:rPr lang="zh-CN" altLang="en-US" sz="1400" b="1">
                <a:solidFill>
                  <a:schemeClr val="accent5"/>
                </a:solidFill>
                <a:latin typeface="微软雅黑" panose="020B0503020204020204" charset="-122"/>
                <a:ea typeface="微软雅黑" panose="020B0503020204020204" charset="-122"/>
                <a:cs typeface="微软雅黑" panose="020B0503020204020204" charset="-122"/>
                <a:sym typeface="+mn-ea"/>
              </a:rPr>
              <a:t>三座大山</a:t>
            </a:r>
            <a:r>
              <a:rPr lang="en-US" altLang="zh-CN" sz="1400" b="1">
                <a:solidFill>
                  <a:schemeClr val="accent5"/>
                </a:solidFill>
                <a:latin typeface="微软雅黑" panose="020B0503020204020204" charset="-122"/>
                <a:ea typeface="微软雅黑" panose="020B0503020204020204" charset="-122"/>
                <a:cs typeface="微软雅黑" panose="020B0503020204020204" charset="-122"/>
                <a:sym typeface="+mn-ea"/>
              </a:rPr>
              <a:t>”</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rPr>
              <a:t>（</a:t>
            </a:r>
            <a:r>
              <a:rPr lang="en-US" altLang="zh-CN" sz="1400">
                <a:solidFill>
                  <a:schemeClr val="tx2"/>
                </a:solidFill>
                <a:latin typeface="微软雅黑" panose="020B0503020204020204" charset="-122"/>
                <a:ea typeface="微软雅黑" panose="020B0503020204020204" charset="-122"/>
                <a:cs typeface="微软雅黑" panose="020B0503020204020204" charset="-122"/>
                <a:sym typeface="+mn-ea"/>
              </a:rPr>
              <a:t>2016</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rPr>
              <a:t>年限迁破冰启动、</a:t>
            </a:r>
            <a:r>
              <a:rPr lang="en-US" altLang="zh-CN" sz="1400">
                <a:solidFill>
                  <a:schemeClr val="tx2"/>
                </a:solidFill>
                <a:latin typeface="微软雅黑" panose="020B0503020204020204" charset="-122"/>
                <a:ea typeface="微软雅黑" panose="020B0503020204020204" charset="-122"/>
                <a:cs typeface="微软雅黑" panose="020B0503020204020204" charset="-122"/>
                <a:sym typeface="+mn-ea"/>
              </a:rPr>
              <a:t>2020</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rPr>
              <a:t>年增值税降至</a:t>
            </a:r>
            <a:r>
              <a:rPr lang="en-US" altLang="zh-CN" sz="1400">
                <a:solidFill>
                  <a:schemeClr val="tx2"/>
                </a:solidFill>
                <a:latin typeface="微软雅黑" panose="020B0503020204020204" charset="-122"/>
                <a:ea typeface="微软雅黑" panose="020B0503020204020204" charset="-122"/>
                <a:cs typeface="微软雅黑" panose="020B0503020204020204" charset="-122"/>
                <a:sym typeface="+mn-ea"/>
              </a:rPr>
              <a:t>0.5%</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rPr>
              <a:t>、</a:t>
            </a:r>
            <a:r>
              <a:rPr lang="en-US" altLang="zh-CN" sz="1400">
                <a:solidFill>
                  <a:schemeClr val="tx2"/>
                </a:solidFill>
                <a:latin typeface="微软雅黑" panose="020B0503020204020204" charset="-122"/>
                <a:ea typeface="微软雅黑" panose="020B0503020204020204" charset="-122"/>
                <a:cs typeface="微软雅黑" panose="020B0503020204020204" charset="-122"/>
                <a:sym typeface="+mn-ea"/>
              </a:rPr>
              <a:t>2022</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rPr>
              <a:t>年临时产权制落地），</a:t>
            </a:r>
            <a:r>
              <a:rPr lang="zh-CN" altLang="en-US" sz="1400" b="1">
                <a:solidFill>
                  <a:schemeClr val="tx2"/>
                </a:solidFill>
                <a:latin typeface="微软雅黑" panose="020B0503020204020204" charset="-122"/>
                <a:ea typeface="微软雅黑" panose="020B0503020204020204" charset="-122"/>
                <a:cs typeface="微软雅黑" panose="020B0503020204020204" charset="-122"/>
                <a:sym typeface="+mn-ea"/>
              </a:rPr>
              <a:t>至</a:t>
            </a:r>
            <a:r>
              <a:rPr lang="en-US" altLang="zh-CN" sz="1400" b="1">
                <a:solidFill>
                  <a:schemeClr val="tx2"/>
                </a:solidFill>
                <a:latin typeface="微软雅黑" panose="020B0503020204020204" charset="-122"/>
                <a:ea typeface="微软雅黑" panose="020B0503020204020204" charset="-122"/>
                <a:cs typeface="微软雅黑" panose="020B0503020204020204" charset="-122"/>
                <a:sym typeface="+mn-ea"/>
              </a:rPr>
              <a:t>2023</a:t>
            </a:r>
            <a:r>
              <a:rPr lang="zh-CN" altLang="en-US" sz="1400" b="1">
                <a:solidFill>
                  <a:schemeClr val="tx2"/>
                </a:solidFill>
                <a:latin typeface="微软雅黑" panose="020B0503020204020204" charset="-122"/>
                <a:ea typeface="微软雅黑" panose="020B0503020204020204" charset="-122"/>
                <a:cs typeface="微软雅黑" panose="020B0503020204020204" charset="-122"/>
                <a:sym typeface="+mn-ea"/>
              </a:rPr>
              <a:t>年交易量跃升至</a:t>
            </a:r>
            <a:r>
              <a:rPr lang="en-US" altLang="zh-CN" sz="1400" b="1">
                <a:solidFill>
                  <a:schemeClr val="tx2"/>
                </a:solidFill>
                <a:latin typeface="微软雅黑" panose="020B0503020204020204" charset="-122"/>
                <a:ea typeface="微软雅黑" panose="020B0503020204020204" charset="-122"/>
                <a:cs typeface="微软雅黑" panose="020B0503020204020204" charset="-122"/>
                <a:sym typeface="+mn-ea"/>
              </a:rPr>
              <a:t>1841</a:t>
            </a:r>
            <a:r>
              <a:rPr lang="zh-CN" altLang="en-US" sz="1400" b="1">
                <a:solidFill>
                  <a:schemeClr val="tx2"/>
                </a:solidFill>
                <a:latin typeface="微软雅黑" panose="020B0503020204020204" charset="-122"/>
                <a:ea typeface="微软雅黑" panose="020B0503020204020204" charset="-122"/>
                <a:cs typeface="微软雅黑" panose="020B0503020204020204" charset="-122"/>
                <a:sym typeface="+mn-ea"/>
              </a:rPr>
              <a:t>万辆（十年增长</a:t>
            </a:r>
            <a:r>
              <a:rPr lang="en-US" altLang="zh-CN" sz="1400" b="1">
                <a:solidFill>
                  <a:schemeClr val="tx2"/>
                </a:solidFill>
                <a:latin typeface="微软雅黑" panose="020B0503020204020204" charset="-122"/>
                <a:ea typeface="微软雅黑" panose="020B0503020204020204" charset="-122"/>
                <a:cs typeface="微软雅黑" panose="020B0503020204020204" charset="-122"/>
                <a:sym typeface="+mn-ea"/>
              </a:rPr>
              <a:t>3</a:t>
            </a:r>
            <a:r>
              <a:rPr lang="zh-CN" altLang="en-US" sz="1400" b="1">
                <a:solidFill>
                  <a:schemeClr val="tx2"/>
                </a:solidFill>
                <a:latin typeface="微软雅黑" panose="020B0503020204020204" charset="-122"/>
                <a:ea typeface="微软雅黑" panose="020B0503020204020204" charset="-122"/>
                <a:cs typeface="微软雅黑" panose="020B0503020204020204" charset="-122"/>
                <a:sym typeface="+mn-ea"/>
              </a:rPr>
              <a:t>倍）</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rPr>
              <a:t>，跨省流通率提升至</a:t>
            </a:r>
            <a:r>
              <a:rPr lang="en-US" altLang="zh-CN" sz="1400">
                <a:solidFill>
                  <a:schemeClr val="tx2"/>
                </a:solidFill>
                <a:latin typeface="微软雅黑" panose="020B0503020204020204" charset="-122"/>
                <a:ea typeface="微软雅黑" panose="020B0503020204020204" charset="-122"/>
                <a:cs typeface="微软雅黑" panose="020B0503020204020204" charset="-122"/>
                <a:sym typeface="+mn-ea"/>
              </a:rPr>
              <a:t>27%</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rPr>
              <a:t>，年交易额达</a:t>
            </a:r>
            <a:r>
              <a:rPr lang="en-US" altLang="zh-CN" sz="1400">
                <a:solidFill>
                  <a:schemeClr val="tx2"/>
                </a:solidFill>
                <a:latin typeface="微软雅黑" panose="020B0503020204020204" charset="-122"/>
                <a:ea typeface="微软雅黑" panose="020B0503020204020204" charset="-122"/>
                <a:cs typeface="微软雅黑" panose="020B0503020204020204" charset="-122"/>
                <a:sym typeface="+mn-ea"/>
              </a:rPr>
              <a:t>11795</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rPr>
              <a:t>亿元，旧新比突破</a:t>
            </a:r>
            <a:r>
              <a:rPr lang="en-US" altLang="zh-CN" sz="1400">
                <a:solidFill>
                  <a:schemeClr val="tx2"/>
                </a:solidFill>
                <a:latin typeface="微软雅黑" panose="020B0503020204020204" charset="-122"/>
                <a:ea typeface="微软雅黑" panose="020B0503020204020204" charset="-122"/>
                <a:cs typeface="微软雅黑" panose="020B0503020204020204" charset="-122"/>
                <a:sym typeface="+mn-ea"/>
              </a:rPr>
              <a:t>0.6</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rPr>
              <a:t>，为汽车循环经济奠定市场化基石。</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1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8738235" y="348615"/>
            <a:ext cx="3219450" cy="332740"/>
            <a:chOff x="13761" y="549"/>
            <a:chExt cx="5070" cy="524"/>
          </a:xfrm>
        </p:grpSpPr>
        <p:pic>
          <p:nvPicPr>
            <p:cNvPr id="65" name="图片 64"/>
            <p:cNvPicPr>
              <a:picLocks noChangeAspect="1"/>
            </p:cNvPicPr>
            <p:nvPr userDrawn="1"/>
          </p:nvPicPr>
          <p:blipFill>
            <a:blip r:embed="rId4"/>
            <a:srcRect l="17002" t="-1765" r="56499" b="-1176"/>
            <a:stretch>
              <a:fillRect/>
            </a:stretch>
          </p:blipFill>
          <p:spPr>
            <a:xfrm>
              <a:off x="13761" y="549"/>
              <a:ext cx="1582" cy="525"/>
            </a:xfrm>
            <a:prstGeom prst="rect">
              <a:avLst/>
            </a:prstGeom>
          </p:spPr>
        </p:pic>
        <p:sp>
          <p:nvSpPr>
            <p:cNvPr id="79" name="文本框 78"/>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年度</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工作总结汇报</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37" name="组合 36"/>
          <p:cNvGrpSpPr/>
          <p:nvPr/>
        </p:nvGrpSpPr>
        <p:grpSpPr>
          <a:xfrm>
            <a:off x="397510" y="1157605"/>
            <a:ext cx="2895600" cy="355600"/>
            <a:chOff x="626" y="1823"/>
            <a:chExt cx="4560" cy="560"/>
          </a:xfrm>
          <a:gradFill>
            <a:gsLst>
              <a:gs pos="0">
                <a:schemeClr val="accent1">
                  <a:lumMod val="60000"/>
                  <a:lumOff val="40000"/>
                </a:schemeClr>
              </a:gs>
              <a:gs pos="100000">
                <a:schemeClr val="accent1"/>
              </a:gs>
            </a:gsLst>
            <a:lin ang="0" scaled="0"/>
          </a:gradFill>
        </p:grpSpPr>
        <p:sp>
          <p:nvSpPr>
            <p:cNvPr id="7" name="箭头: 五边形 6"/>
            <p:cNvSpPr/>
            <p:nvPr/>
          </p:nvSpPr>
          <p:spPr>
            <a:xfrm>
              <a:off x="626" y="1823"/>
              <a:ext cx="1597" cy="561"/>
            </a:xfrm>
            <a:prstGeom prst="homePlate">
              <a:avLst>
                <a:gd name="adj" fmla="val 27952"/>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 name="箭头: V 形 7"/>
            <p:cNvSpPr/>
            <p:nvPr/>
          </p:nvSpPr>
          <p:spPr>
            <a:xfrm>
              <a:off x="2108" y="1823"/>
              <a:ext cx="1597" cy="561"/>
            </a:xfrm>
            <a:prstGeom prst="chevron">
              <a:avLst>
                <a:gd name="adj" fmla="val 27427"/>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 name="箭头: V 形 8"/>
            <p:cNvSpPr/>
            <p:nvPr/>
          </p:nvSpPr>
          <p:spPr>
            <a:xfrm>
              <a:off x="3590" y="1823"/>
              <a:ext cx="1597" cy="561"/>
            </a:xfrm>
            <a:prstGeom prst="chevron">
              <a:avLst>
                <a:gd name="adj" fmla="val 27427"/>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38" name="组合 37"/>
          <p:cNvGrpSpPr/>
          <p:nvPr/>
        </p:nvGrpSpPr>
        <p:grpSpPr>
          <a:xfrm>
            <a:off x="3220720" y="1157605"/>
            <a:ext cx="2896235" cy="355600"/>
            <a:chOff x="5072" y="1823"/>
            <a:chExt cx="4561" cy="560"/>
          </a:xfrm>
          <a:gradFill>
            <a:gsLst>
              <a:gs pos="16000">
                <a:schemeClr val="accent5"/>
              </a:gs>
              <a:gs pos="100000">
                <a:schemeClr val="accent5">
                  <a:lumMod val="60000"/>
                  <a:lumOff val="40000"/>
                </a:schemeClr>
              </a:gs>
            </a:gsLst>
            <a:lin ang="10800000" scaled="0"/>
          </a:gradFill>
        </p:grpSpPr>
        <p:sp>
          <p:nvSpPr>
            <p:cNvPr id="6" name="箭头: V 形 9"/>
            <p:cNvSpPr/>
            <p:nvPr/>
          </p:nvSpPr>
          <p:spPr>
            <a:xfrm>
              <a:off x="5072" y="1823"/>
              <a:ext cx="1597" cy="561"/>
            </a:xfrm>
            <a:prstGeom prst="chevron">
              <a:avLst>
                <a:gd name="adj" fmla="val 27427"/>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 name="箭头: V 形 10"/>
            <p:cNvSpPr/>
            <p:nvPr/>
          </p:nvSpPr>
          <p:spPr>
            <a:xfrm>
              <a:off x="6555" y="1823"/>
              <a:ext cx="1597" cy="561"/>
            </a:xfrm>
            <a:prstGeom prst="chevron">
              <a:avLst>
                <a:gd name="adj" fmla="val 27427"/>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 name="箭头: V 形 11"/>
            <p:cNvSpPr/>
            <p:nvPr/>
          </p:nvSpPr>
          <p:spPr>
            <a:xfrm>
              <a:off x="8037" y="1823"/>
              <a:ext cx="1597" cy="561"/>
            </a:xfrm>
            <a:prstGeom prst="chevron">
              <a:avLst>
                <a:gd name="adj" fmla="val 27427"/>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39" name="组合 38"/>
          <p:cNvGrpSpPr/>
          <p:nvPr/>
        </p:nvGrpSpPr>
        <p:grpSpPr>
          <a:xfrm>
            <a:off x="6044565" y="1157605"/>
            <a:ext cx="2896235" cy="355600"/>
            <a:chOff x="9519" y="1823"/>
            <a:chExt cx="4561" cy="560"/>
          </a:xfrm>
          <a:gradFill>
            <a:gsLst>
              <a:gs pos="16000">
                <a:schemeClr val="accent1"/>
              </a:gs>
              <a:gs pos="100000">
                <a:schemeClr val="accent1">
                  <a:lumMod val="60000"/>
                  <a:lumOff val="40000"/>
                </a:schemeClr>
              </a:gs>
            </a:gsLst>
            <a:lin ang="10800000" scaled="0"/>
          </a:gradFill>
        </p:grpSpPr>
        <p:sp>
          <p:nvSpPr>
            <p:cNvPr id="19" name="箭头: V 形 12"/>
            <p:cNvSpPr/>
            <p:nvPr/>
          </p:nvSpPr>
          <p:spPr>
            <a:xfrm>
              <a:off x="9519" y="1823"/>
              <a:ext cx="1597" cy="561"/>
            </a:xfrm>
            <a:prstGeom prst="chevron">
              <a:avLst>
                <a:gd name="adj" fmla="val 27427"/>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2" name="箭头: V 形 13"/>
            <p:cNvSpPr/>
            <p:nvPr/>
          </p:nvSpPr>
          <p:spPr>
            <a:xfrm>
              <a:off x="11002" y="1823"/>
              <a:ext cx="1597" cy="561"/>
            </a:xfrm>
            <a:prstGeom prst="chevron">
              <a:avLst>
                <a:gd name="adj" fmla="val 27427"/>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4" name="箭头: V 形 14"/>
            <p:cNvSpPr/>
            <p:nvPr/>
          </p:nvSpPr>
          <p:spPr>
            <a:xfrm>
              <a:off x="12484" y="1823"/>
              <a:ext cx="1597" cy="561"/>
            </a:xfrm>
            <a:prstGeom prst="chevron">
              <a:avLst>
                <a:gd name="adj" fmla="val 27427"/>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40" name="组合 39"/>
          <p:cNvGrpSpPr/>
          <p:nvPr/>
        </p:nvGrpSpPr>
        <p:grpSpPr>
          <a:xfrm>
            <a:off x="8868410" y="1157605"/>
            <a:ext cx="2896235" cy="355600"/>
            <a:chOff x="13966" y="1823"/>
            <a:chExt cx="4561" cy="560"/>
          </a:xfrm>
          <a:gradFill>
            <a:gsLst>
              <a:gs pos="16000">
                <a:schemeClr val="accent5"/>
              </a:gs>
              <a:gs pos="100000">
                <a:schemeClr val="accent5">
                  <a:lumMod val="60000"/>
                  <a:lumOff val="40000"/>
                </a:schemeClr>
              </a:gs>
            </a:gsLst>
            <a:lin ang="10800000" scaled="0"/>
          </a:gradFill>
        </p:grpSpPr>
        <p:sp>
          <p:nvSpPr>
            <p:cNvPr id="25" name="箭头: V 形 15"/>
            <p:cNvSpPr/>
            <p:nvPr/>
          </p:nvSpPr>
          <p:spPr>
            <a:xfrm>
              <a:off x="13966" y="1823"/>
              <a:ext cx="1597" cy="561"/>
            </a:xfrm>
            <a:prstGeom prst="chevron">
              <a:avLst>
                <a:gd name="adj" fmla="val 27427"/>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6" name="箭头: V 形 16"/>
            <p:cNvSpPr/>
            <p:nvPr/>
          </p:nvSpPr>
          <p:spPr>
            <a:xfrm>
              <a:off x="15449" y="1823"/>
              <a:ext cx="1597" cy="561"/>
            </a:xfrm>
            <a:prstGeom prst="chevron">
              <a:avLst>
                <a:gd name="adj" fmla="val 27427"/>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7" name="箭头: V 形 17"/>
            <p:cNvSpPr/>
            <p:nvPr/>
          </p:nvSpPr>
          <p:spPr>
            <a:xfrm>
              <a:off x="16931" y="1823"/>
              <a:ext cx="1597" cy="561"/>
            </a:xfrm>
            <a:prstGeom prst="chevron">
              <a:avLst>
                <a:gd name="adj" fmla="val 27427"/>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50" name="文本框 49"/>
          <p:cNvSpPr txBox="1"/>
          <p:nvPr/>
        </p:nvSpPr>
        <p:spPr>
          <a:xfrm>
            <a:off x="666750" y="1176655"/>
            <a:ext cx="474980" cy="30797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1</a:t>
            </a:r>
            <a:r>
              <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月</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1" name="文本框 50"/>
          <p:cNvSpPr txBox="1"/>
          <p:nvPr/>
        </p:nvSpPr>
        <p:spPr>
          <a:xfrm>
            <a:off x="1608455" y="1176655"/>
            <a:ext cx="474980" cy="30797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2</a:t>
            </a:r>
            <a:r>
              <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月</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2" name="文本框 51"/>
          <p:cNvSpPr txBox="1"/>
          <p:nvPr/>
        </p:nvSpPr>
        <p:spPr>
          <a:xfrm>
            <a:off x="2549525" y="1176655"/>
            <a:ext cx="474980" cy="30797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3</a:t>
            </a:r>
            <a:r>
              <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月</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3" name="文本框 52"/>
          <p:cNvSpPr txBox="1"/>
          <p:nvPr/>
        </p:nvSpPr>
        <p:spPr>
          <a:xfrm>
            <a:off x="3497580" y="1176655"/>
            <a:ext cx="474980" cy="30797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4</a:t>
            </a:r>
            <a:r>
              <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月</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4439285" y="1176655"/>
            <a:ext cx="474980" cy="30797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5</a:t>
            </a:r>
            <a:r>
              <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月</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5" name="文本框 54"/>
          <p:cNvSpPr txBox="1"/>
          <p:nvPr/>
        </p:nvSpPr>
        <p:spPr>
          <a:xfrm>
            <a:off x="5380355" y="1176655"/>
            <a:ext cx="474980" cy="30797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6</a:t>
            </a:r>
            <a:r>
              <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月</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6" name="文本框 55"/>
          <p:cNvSpPr txBox="1"/>
          <p:nvPr/>
        </p:nvSpPr>
        <p:spPr>
          <a:xfrm>
            <a:off x="6329045" y="1176655"/>
            <a:ext cx="474980" cy="30797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7</a:t>
            </a:r>
            <a:r>
              <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月</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7" name="文本框 56"/>
          <p:cNvSpPr txBox="1"/>
          <p:nvPr/>
        </p:nvSpPr>
        <p:spPr>
          <a:xfrm>
            <a:off x="7270115" y="1176655"/>
            <a:ext cx="474980" cy="30797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8</a:t>
            </a:r>
            <a:r>
              <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月</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8" name="文本框 57"/>
          <p:cNvSpPr txBox="1"/>
          <p:nvPr/>
        </p:nvSpPr>
        <p:spPr>
          <a:xfrm>
            <a:off x="8211185" y="1176655"/>
            <a:ext cx="474980" cy="30797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9</a:t>
            </a:r>
            <a:r>
              <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月</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9" name="文本框 58"/>
          <p:cNvSpPr txBox="1"/>
          <p:nvPr/>
        </p:nvSpPr>
        <p:spPr>
          <a:xfrm>
            <a:off x="9104630" y="1176655"/>
            <a:ext cx="585470" cy="30797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10</a:t>
            </a:r>
            <a:r>
              <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月</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0" name="文本框 59"/>
          <p:cNvSpPr txBox="1"/>
          <p:nvPr/>
        </p:nvSpPr>
        <p:spPr>
          <a:xfrm>
            <a:off x="10045700" y="1176655"/>
            <a:ext cx="585470" cy="30797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11</a:t>
            </a:r>
            <a:r>
              <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月</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1" name="文本框 60"/>
          <p:cNvSpPr txBox="1"/>
          <p:nvPr/>
        </p:nvSpPr>
        <p:spPr>
          <a:xfrm>
            <a:off x="10987405" y="1176655"/>
            <a:ext cx="585470" cy="30797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12</a:t>
            </a:r>
            <a:r>
              <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月</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45" name="组合 44"/>
          <p:cNvGrpSpPr/>
          <p:nvPr/>
        </p:nvGrpSpPr>
        <p:grpSpPr>
          <a:xfrm>
            <a:off x="397510" y="1513840"/>
            <a:ext cx="11276965" cy="4688840"/>
            <a:chOff x="626" y="2384"/>
            <a:chExt cx="17759" cy="7384"/>
          </a:xfrm>
        </p:grpSpPr>
        <p:sp>
          <p:nvSpPr>
            <p:cNvPr id="153" name="任意形状 152"/>
            <p:cNvSpPr/>
            <p:nvPr/>
          </p:nvSpPr>
          <p:spPr>
            <a:xfrm>
              <a:off x="626" y="2442"/>
              <a:ext cx="20" cy="7326"/>
            </a:xfrm>
            <a:custGeom>
              <a:avLst/>
              <a:gdLst>
                <a:gd name="connsiteX0" fmla="*/ 0 w 12700"/>
                <a:gd name="connsiteY0" fmla="*/ 0 h 3535680"/>
                <a:gd name="connsiteX1" fmla="*/ 0 w 12700"/>
                <a:gd name="connsiteY1" fmla="*/ 3535680 h 3535680"/>
              </a:gdLst>
              <a:ahLst/>
              <a:cxnLst>
                <a:cxn ang="0">
                  <a:pos x="connsiteX0" y="connsiteY0"/>
                </a:cxn>
                <a:cxn ang="0">
                  <a:pos x="connsiteX1" y="connsiteY1"/>
                </a:cxn>
              </a:cxnLst>
              <a:rect l="l" t="t" r="r" b="b"/>
              <a:pathLst>
                <a:path w="12700" h="3535680">
                  <a:moveTo>
                    <a:pt x="0" y="0"/>
                  </a:moveTo>
                  <a:lnTo>
                    <a:pt x="0" y="3535680"/>
                  </a:lnTo>
                </a:path>
              </a:pathLst>
            </a:custGeom>
            <a:ln w="15875" cap="flat">
              <a:solidFill>
                <a:schemeClr val="tx2">
                  <a:lumMod val="60000"/>
                  <a:lumOff val="4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41" name="任意形状 152"/>
            <p:cNvSpPr/>
            <p:nvPr/>
          </p:nvSpPr>
          <p:spPr>
            <a:xfrm>
              <a:off x="5072" y="2442"/>
              <a:ext cx="20" cy="7326"/>
            </a:xfrm>
            <a:custGeom>
              <a:avLst/>
              <a:gdLst>
                <a:gd name="connsiteX0" fmla="*/ 0 w 12700"/>
                <a:gd name="connsiteY0" fmla="*/ 0 h 3535680"/>
                <a:gd name="connsiteX1" fmla="*/ 0 w 12700"/>
                <a:gd name="connsiteY1" fmla="*/ 3535680 h 3535680"/>
              </a:gdLst>
              <a:ahLst/>
              <a:cxnLst>
                <a:cxn ang="0">
                  <a:pos x="connsiteX0" y="connsiteY0"/>
                </a:cxn>
                <a:cxn ang="0">
                  <a:pos x="connsiteX1" y="connsiteY1"/>
                </a:cxn>
              </a:cxnLst>
              <a:rect l="l" t="t" r="r" b="b"/>
              <a:pathLst>
                <a:path w="12700" h="3535680">
                  <a:moveTo>
                    <a:pt x="0" y="0"/>
                  </a:moveTo>
                  <a:lnTo>
                    <a:pt x="0" y="3535680"/>
                  </a:lnTo>
                </a:path>
              </a:pathLst>
            </a:custGeom>
            <a:ln w="15875" cap="flat">
              <a:solidFill>
                <a:schemeClr val="tx2">
                  <a:lumMod val="60000"/>
                  <a:lumOff val="4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42" name="任意形状 152"/>
            <p:cNvSpPr/>
            <p:nvPr/>
          </p:nvSpPr>
          <p:spPr>
            <a:xfrm>
              <a:off x="9518" y="2384"/>
              <a:ext cx="20" cy="7326"/>
            </a:xfrm>
            <a:custGeom>
              <a:avLst/>
              <a:gdLst>
                <a:gd name="connsiteX0" fmla="*/ 0 w 12700"/>
                <a:gd name="connsiteY0" fmla="*/ 0 h 3535680"/>
                <a:gd name="connsiteX1" fmla="*/ 0 w 12700"/>
                <a:gd name="connsiteY1" fmla="*/ 3535680 h 3535680"/>
              </a:gdLst>
              <a:ahLst/>
              <a:cxnLst>
                <a:cxn ang="0">
                  <a:pos x="connsiteX0" y="connsiteY0"/>
                </a:cxn>
                <a:cxn ang="0">
                  <a:pos x="connsiteX1" y="connsiteY1"/>
                </a:cxn>
              </a:cxnLst>
              <a:rect l="l" t="t" r="r" b="b"/>
              <a:pathLst>
                <a:path w="12700" h="3535680">
                  <a:moveTo>
                    <a:pt x="0" y="0"/>
                  </a:moveTo>
                  <a:lnTo>
                    <a:pt x="0" y="3535680"/>
                  </a:lnTo>
                </a:path>
              </a:pathLst>
            </a:custGeom>
            <a:ln w="15875" cap="flat">
              <a:solidFill>
                <a:schemeClr val="tx2">
                  <a:lumMod val="60000"/>
                  <a:lumOff val="4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43" name="任意形状 152"/>
            <p:cNvSpPr/>
            <p:nvPr/>
          </p:nvSpPr>
          <p:spPr>
            <a:xfrm>
              <a:off x="13942" y="2384"/>
              <a:ext cx="20" cy="7326"/>
            </a:xfrm>
            <a:custGeom>
              <a:avLst/>
              <a:gdLst>
                <a:gd name="connsiteX0" fmla="*/ 0 w 12700"/>
                <a:gd name="connsiteY0" fmla="*/ 0 h 3535680"/>
                <a:gd name="connsiteX1" fmla="*/ 0 w 12700"/>
                <a:gd name="connsiteY1" fmla="*/ 3535680 h 3535680"/>
              </a:gdLst>
              <a:ahLst/>
              <a:cxnLst>
                <a:cxn ang="0">
                  <a:pos x="connsiteX0" y="connsiteY0"/>
                </a:cxn>
                <a:cxn ang="0">
                  <a:pos x="connsiteX1" y="connsiteY1"/>
                </a:cxn>
              </a:cxnLst>
              <a:rect l="l" t="t" r="r" b="b"/>
              <a:pathLst>
                <a:path w="12700" h="3535680">
                  <a:moveTo>
                    <a:pt x="0" y="0"/>
                  </a:moveTo>
                  <a:lnTo>
                    <a:pt x="0" y="3535680"/>
                  </a:lnTo>
                </a:path>
              </a:pathLst>
            </a:custGeom>
            <a:ln w="15875" cap="flat">
              <a:solidFill>
                <a:schemeClr val="tx2">
                  <a:lumMod val="60000"/>
                  <a:lumOff val="4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44" name="任意形状 152"/>
            <p:cNvSpPr/>
            <p:nvPr/>
          </p:nvSpPr>
          <p:spPr>
            <a:xfrm>
              <a:off x="18365" y="2422"/>
              <a:ext cx="20" cy="7326"/>
            </a:xfrm>
            <a:custGeom>
              <a:avLst/>
              <a:gdLst>
                <a:gd name="connsiteX0" fmla="*/ 0 w 12700"/>
                <a:gd name="connsiteY0" fmla="*/ 0 h 3535680"/>
                <a:gd name="connsiteX1" fmla="*/ 0 w 12700"/>
                <a:gd name="connsiteY1" fmla="*/ 3535680 h 3535680"/>
              </a:gdLst>
              <a:ahLst/>
              <a:cxnLst>
                <a:cxn ang="0">
                  <a:pos x="connsiteX0" y="connsiteY0"/>
                </a:cxn>
                <a:cxn ang="0">
                  <a:pos x="connsiteX1" y="connsiteY1"/>
                </a:cxn>
              </a:cxnLst>
              <a:rect l="l" t="t" r="r" b="b"/>
              <a:pathLst>
                <a:path w="12700" h="3535680">
                  <a:moveTo>
                    <a:pt x="0" y="0"/>
                  </a:moveTo>
                  <a:lnTo>
                    <a:pt x="0" y="3535680"/>
                  </a:lnTo>
                </a:path>
              </a:pathLst>
            </a:custGeom>
            <a:ln w="15875" cap="flat">
              <a:solidFill>
                <a:schemeClr val="tx2">
                  <a:lumMod val="60000"/>
                  <a:lumOff val="4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grpSp>
      <p:sp>
        <p:nvSpPr>
          <p:cNvPr id="46" name="任意形状 19"/>
          <p:cNvSpPr/>
          <p:nvPr>
            <p:custDataLst>
              <p:tags r:id="rId3"/>
            </p:custDataLst>
          </p:nvPr>
        </p:nvSpPr>
        <p:spPr>
          <a:xfrm>
            <a:off x="397510" y="5855970"/>
            <a:ext cx="2818130" cy="609600"/>
          </a:xfrm>
          <a:custGeom>
            <a:avLst/>
            <a:gdLst>
              <a:gd name="connsiteX0" fmla="*/ 0 w 1962912"/>
              <a:gd name="connsiteY0" fmla="*/ 0 h 436625"/>
              <a:gd name="connsiteX1" fmla="*/ 1962912 w 1962912"/>
              <a:gd name="connsiteY1" fmla="*/ 0 h 436625"/>
              <a:gd name="connsiteX2" fmla="*/ 1962912 w 1962912"/>
              <a:gd name="connsiteY2" fmla="*/ 436626 h 436625"/>
              <a:gd name="connsiteX3" fmla="*/ 0 w 1962912"/>
              <a:gd name="connsiteY3" fmla="*/ 436626 h 436625"/>
            </a:gdLst>
            <a:ahLst/>
            <a:cxnLst>
              <a:cxn ang="0">
                <a:pos x="connsiteX0" y="connsiteY0"/>
              </a:cxn>
              <a:cxn ang="0">
                <a:pos x="connsiteX1" y="connsiteY1"/>
              </a:cxn>
              <a:cxn ang="0">
                <a:pos x="connsiteX2" y="connsiteY2"/>
              </a:cxn>
              <a:cxn ang="0">
                <a:pos x="connsiteX3" y="connsiteY3"/>
              </a:cxn>
            </a:cxnLst>
            <a:rect l="l" t="t" r="r" b="b"/>
            <a:pathLst>
              <a:path w="1962912" h="436625">
                <a:moveTo>
                  <a:pt x="0" y="0"/>
                </a:moveTo>
                <a:lnTo>
                  <a:pt x="1962912" y="0"/>
                </a:lnTo>
                <a:lnTo>
                  <a:pt x="1962912" y="436626"/>
                </a:lnTo>
                <a:lnTo>
                  <a:pt x="0" y="436626"/>
                </a:lnTo>
                <a:close/>
              </a:path>
            </a:pathLst>
          </a:custGeom>
          <a:gradFill>
            <a:gsLst>
              <a:gs pos="0">
                <a:schemeClr val="accent1">
                  <a:lumMod val="60000"/>
                  <a:lumOff val="40000"/>
                </a:schemeClr>
              </a:gs>
              <a:gs pos="87000">
                <a:schemeClr val="accent1"/>
              </a:gs>
            </a:gsLst>
            <a:lin ang="0" scaled="0"/>
          </a:gradFill>
          <a:ln w="19050" cap="flat">
            <a:solidFill>
              <a:schemeClr val="bg1"/>
            </a:solidFill>
            <a:prstDash val="solid"/>
            <a:miter/>
          </a:ln>
        </p:spPr>
        <p:txBody>
          <a:bodyPr rtlCol="0" anchor="ctr"/>
          <a:lstStyle/>
          <a:p>
            <a:pPr algn="ctr"/>
            <a:endParaRPr kumimoji="0" lang="zh-CN" altLang="en-US" sz="1200" u="none" strike="noStrike" kern="1200" cap="none" spc="0" normalizeH="0" baseline="0" noProof="0" dirty="0">
              <a:ln>
                <a:noFill/>
              </a:ln>
              <a:solidFill>
                <a:srgbClr val="FE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7" name="任意形状 19"/>
          <p:cNvSpPr/>
          <p:nvPr>
            <p:custDataLst>
              <p:tags r:id="rId4"/>
            </p:custDataLst>
          </p:nvPr>
        </p:nvSpPr>
        <p:spPr>
          <a:xfrm>
            <a:off x="3220720" y="5855970"/>
            <a:ext cx="2835910" cy="609600"/>
          </a:xfrm>
          <a:custGeom>
            <a:avLst/>
            <a:gdLst>
              <a:gd name="connsiteX0" fmla="*/ 0 w 1962912"/>
              <a:gd name="connsiteY0" fmla="*/ 0 h 436625"/>
              <a:gd name="connsiteX1" fmla="*/ 1962912 w 1962912"/>
              <a:gd name="connsiteY1" fmla="*/ 0 h 436625"/>
              <a:gd name="connsiteX2" fmla="*/ 1962912 w 1962912"/>
              <a:gd name="connsiteY2" fmla="*/ 436626 h 436625"/>
              <a:gd name="connsiteX3" fmla="*/ 0 w 1962912"/>
              <a:gd name="connsiteY3" fmla="*/ 436626 h 436625"/>
            </a:gdLst>
            <a:ahLst/>
            <a:cxnLst>
              <a:cxn ang="0">
                <a:pos x="connsiteX0" y="connsiteY0"/>
              </a:cxn>
              <a:cxn ang="0">
                <a:pos x="connsiteX1" y="connsiteY1"/>
              </a:cxn>
              <a:cxn ang="0">
                <a:pos x="connsiteX2" y="connsiteY2"/>
              </a:cxn>
              <a:cxn ang="0">
                <a:pos x="connsiteX3" y="connsiteY3"/>
              </a:cxn>
            </a:cxnLst>
            <a:rect l="l" t="t" r="r" b="b"/>
            <a:pathLst>
              <a:path w="1962912" h="436625">
                <a:moveTo>
                  <a:pt x="0" y="0"/>
                </a:moveTo>
                <a:lnTo>
                  <a:pt x="1962912" y="0"/>
                </a:lnTo>
                <a:lnTo>
                  <a:pt x="1962912" y="436626"/>
                </a:lnTo>
                <a:lnTo>
                  <a:pt x="0" y="436626"/>
                </a:lnTo>
                <a:close/>
              </a:path>
            </a:pathLst>
          </a:custGeom>
          <a:gradFill>
            <a:gsLst>
              <a:gs pos="0">
                <a:schemeClr val="accent5">
                  <a:lumMod val="60000"/>
                  <a:lumOff val="40000"/>
                </a:schemeClr>
              </a:gs>
              <a:gs pos="87000">
                <a:schemeClr val="accent5"/>
              </a:gs>
            </a:gsLst>
            <a:lin ang="0" scaled="0"/>
          </a:gradFill>
          <a:ln w="19050" cap="flat">
            <a:solidFill>
              <a:schemeClr val="bg1"/>
            </a:solidFill>
            <a:prstDash val="solid"/>
            <a:miter/>
          </a:ln>
        </p:spPr>
        <p:txBody>
          <a:bodyPr rtlCol="0" anchor="ctr"/>
          <a:lstStyle/>
          <a:p>
            <a:pPr algn="ctr"/>
            <a:endParaRPr kumimoji="0" lang="zh-CN" altLang="en-US" sz="1200" u="none" strike="noStrike" kern="1200" cap="none" spc="0" normalizeH="0" baseline="0" noProof="0" dirty="0">
              <a:ln>
                <a:noFill/>
              </a:ln>
              <a:solidFill>
                <a:srgbClr val="FE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8" name="任意形状 19"/>
          <p:cNvSpPr/>
          <p:nvPr>
            <p:custDataLst>
              <p:tags r:id="rId5"/>
            </p:custDataLst>
          </p:nvPr>
        </p:nvSpPr>
        <p:spPr>
          <a:xfrm>
            <a:off x="6061075" y="5855970"/>
            <a:ext cx="2789555" cy="609600"/>
          </a:xfrm>
          <a:custGeom>
            <a:avLst/>
            <a:gdLst>
              <a:gd name="connsiteX0" fmla="*/ 0 w 1962912"/>
              <a:gd name="connsiteY0" fmla="*/ 0 h 436625"/>
              <a:gd name="connsiteX1" fmla="*/ 1962912 w 1962912"/>
              <a:gd name="connsiteY1" fmla="*/ 0 h 436625"/>
              <a:gd name="connsiteX2" fmla="*/ 1962912 w 1962912"/>
              <a:gd name="connsiteY2" fmla="*/ 436626 h 436625"/>
              <a:gd name="connsiteX3" fmla="*/ 0 w 1962912"/>
              <a:gd name="connsiteY3" fmla="*/ 436626 h 436625"/>
            </a:gdLst>
            <a:ahLst/>
            <a:cxnLst>
              <a:cxn ang="0">
                <a:pos x="connsiteX0" y="connsiteY0"/>
              </a:cxn>
              <a:cxn ang="0">
                <a:pos x="connsiteX1" y="connsiteY1"/>
              </a:cxn>
              <a:cxn ang="0">
                <a:pos x="connsiteX2" y="connsiteY2"/>
              </a:cxn>
              <a:cxn ang="0">
                <a:pos x="connsiteX3" y="connsiteY3"/>
              </a:cxn>
            </a:cxnLst>
            <a:rect l="l" t="t" r="r" b="b"/>
            <a:pathLst>
              <a:path w="1962912" h="436625">
                <a:moveTo>
                  <a:pt x="0" y="0"/>
                </a:moveTo>
                <a:lnTo>
                  <a:pt x="1962912" y="0"/>
                </a:lnTo>
                <a:lnTo>
                  <a:pt x="1962912" y="436626"/>
                </a:lnTo>
                <a:lnTo>
                  <a:pt x="0" y="436626"/>
                </a:lnTo>
                <a:close/>
              </a:path>
            </a:pathLst>
          </a:custGeom>
          <a:gradFill>
            <a:gsLst>
              <a:gs pos="0">
                <a:schemeClr val="accent1">
                  <a:lumMod val="60000"/>
                  <a:lumOff val="40000"/>
                </a:schemeClr>
              </a:gs>
              <a:gs pos="87000">
                <a:schemeClr val="accent1"/>
              </a:gs>
            </a:gsLst>
            <a:lin ang="0" scaled="0"/>
          </a:gradFill>
          <a:ln w="19050" cap="flat">
            <a:solidFill>
              <a:schemeClr val="bg1"/>
            </a:solidFill>
            <a:prstDash val="solid"/>
            <a:miter/>
          </a:ln>
        </p:spPr>
        <p:txBody>
          <a:bodyPr rtlCol="0" anchor="ctr">
            <a:noAutofit/>
          </a:bodyPr>
          <a:lstStyle/>
          <a:p>
            <a:pPr lvl="0" algn="ctr">
              <a:buClrTx/>
              <a:buSzTx/>
              <a:buFontTx/>
            </a:pPr>
            <a:endParaRPr lang="zh-CN" altLang="en-US" sz="1200" noProof="0" dirty="0">
              <a:ln>
                <a:noFill/>
              </a:ln>
              <a:solidFill>
                <a:srgbClr val="FE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49" name="任意形状 19"/>
          <p:cNvSpPr/>
          <p:nvPr>
            <p:custDataLst>
              <p:tags r:id="rId6"/>
            </p:custDataLst>
          </p:nvPr>
        </p:nvSpPr>
        <p:spPr>
          <a:xfrm>
            <a:off x="8854440" y="5855970"/>
            <a:ext cx="2822575" cy="609600"/>
          </a:xfrm>
          <a:custGeom>
            <a:avLst/>
            <a:gdLst>
              <a:gd name="connsiteX0" fmla="*/ 0 w 1962912"/>
              <a:gd name="connsiteY0" fmla="*/ 0 h 436625"/>
              <a:gd name="connsiteX1" fmla="*/ 1962912 w 1962912"/>
              <a:gd name="connsiteY1" fmla="*/ 0 h 436625"/>
              <a:gd name="connsiteX2" fmla="*/ 1962912 w 1962912"/>
              <a:gd name="connsiteY2" fmla="*/ 436626 h 436625"/>
              <a:gd name="connsiteX3" fmla="*/ 0 w 1962912"/>
              <a:gd name="connsiteY3" fmla="*/ 436626 h 436625"/>
            </a:gdLst>
            <a:ahLst/>
            <a:cxnLst>
              <a:cxn ang="0">
                <a:pos x="connsiteX0" y="connsiteY0"/>
              </a:cxn>
              <a:cxn ang="0">
                <a:pos x="connsiteX1" y="connsiteY1"/>
              </a:cxn>
              <a:cxn ang="0">
                <a:pos x="connsiteX2" y="connsiteY2"/>
              </a:cxn>
              <a:cxn ang="0">
                <a:pos x="connsiteX3" y="connsiteY3"/>
              </a:cxn>
            </a:cxnLst>
            <a:rect l="l" t="t" r="r" b="b"/>
            <a:pathLst>
              <a:path w="1962912" h="436625">
                <a:moveTo>
                  <a:pt x="0" y="0"/>
                </a:moveTo>
                <a:lnTo>
                  <a:pt x="1962912" y="0"/>
                </a:lnTo>
                <a:lnTo>
                  <a:pt x="1962912" y="436626"/>
                </a:lnTo>
                <a:lnTo>
                  <a:pt x="0" y="436626"/>
                </a:lnTo>
                <a:close/>
              </a:path>
            </a:pathLst>
          </a:custGeom>
          <a:gradFill>
            <a:gsLst>
              <a:gs pos="0">
                <a:schemeClr val="accent5">
                  <a:lumMod val="60000"/>
                  <a:lumOff val="40000"/>
                </a:schemeClr>
              </a:gs>
              <a:gs pos="87000">
                <a:schemeClr val="accent5"/>
              </a:gs>
            </a:gsLst>
            <a:lin ang="0" scaled="0"/>
          </a:gradFill>
          <a:ln w="19050" cap="flat">
            <a:solidFill>
              <a:schemeClr val="bg1"/>
            </a:solidFill>
            <a:prstDash val="solid"/>
            <a:miter/>
          </a:ln>
        </p:spPr>
        <p:txBody>
          <a:bodyPr rtlCol="0" anchor="ctr">
            <a:noAutofit/>
          </a:bodyPr>
          <a:lstStyle/>
          <a:p>
            <a:pPr lvl="0" algn="ctr">
              <a:buClrTx/>
              <a:buSzTx/>
              <a:buFontTx/>
            </a:pPr>
            <a:endParaRPr lang="zh-CN" altLang="en-US" sz="1200" noProof="0" dirty="0">
              <a:ln>
                <a:noFill/>
              </a:ln>
              <a:solidFill>
                <a:srgbClr val="FE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nvGrpSpPr>
          <p:cNvPr id="73" name="组合 72"/>
          <p:cNvGrpSpPr/>
          <p:nvPr/>
        </p:nvGrpSpPr>
        <p:grpSpPr>
          <a:xfrm>
            <a:off x="682216" y="5930347"/>
            <a:ext cx="2248718" cy="460375"/>
            <a:chOff x="658689" y="1468837"/>
            <a:chExt cx="2248718" cy="460375"/>
          </a:xfrm>
        </p:grpSpPr>
        <p:sp>
          <p:nvSpPr>
            <p:cNvPr id="74" name="文本框 73"/>
            <p:cNvSpPr txBox="1"/>
            <p:nvPr/>
          </p:nvSpPr>
          <p:spPr>
            <a:xfrm>
              <a:off x="658689" y="1468837"/>
              <a:ext cx="620395" cy="460375"/>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ja-JP" sz="2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Q1</a:t>
              </a:r>
              <a:endParaRPr kumimoji="0" lang="en-US" altLang="ja-JP" sz="2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5" name="文本框 74"/>
            <p:cNvSpPr txBox="1"/>
            <p:nvPr/>
          </p:nvSpPr>
          <p:spPr>
            <a:xfrm>
              <a:off x="1352927" y="1561171"/>
              <a:ext cx="1554480" cy="27559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ja-JP"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策略规划与基础夯实</a:t>
              </a:r>
              <a:endParaRPr kumimoji="0" lang="zh-CN" altLang="ja-JP"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78" name="直接连接符 77"/>
            <p:cNvCxnSpPr/>
            <p:nvPr/>
          </p:nvCxnSpPr>
          <p:spPr>
            <a:xfrm>
              <a:off x="1308577" y="1603150"/>
              <a:ext cx="0" cy="19304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79" name="任意形状 30"/>
          <p:cNvSpPr/>
          <p:nvPr/>
        </p:nvSpPr>
        <p:spPr>
          <a:xfrm>
            <a:off x="518160" y="1669415"/>
            <a:ext cx="2590165" cy="801370"/>
          </a:xfrm>
          <a:custGeom>
            <a:avLst/>
            <a:gdLst>
              <a:gd name="connsiteX0" fmla="*/ 2417826 w 2506228"/>
              <a:gd name="connsiteY0" fmla="*/ 906018 h 906018"/>
              <a:gd name="connsiteX1" fmla="*/ 89154 w 2506228"/>
              <a:gd name="connsiteY1" fmla="*/ 906018 h 906018"/>
              <a:gd name="connsiteX2" fmla="*/ 0 w 2506228"/>
              <a:gd name="connsiteY2" fmla="*/ 816864 h 906018"/>
              <a:gd name="connsiteX3" fmla="*/ 0 w 2506228"/>
              <a:gd name="connsiteY3" fmla="*/ 89154 h 906018"/>
              <a:gd name="connsiteX4" fmla="*/ 89154 w 2506228"/>
              <a:gd name="connsiteY4" fmla="*/ 0 h 906018"/>
              <a:gd name="connsiteX5" fmla="*/ 2417064 w 2506228"/>
              <a:gd name="connsiteY5" fmla="*/ 0 h 906018"/>
              <a:gd name="connsiteX6" fmla="*/ 2506218 w 2506228"/>
              <a:gd name="connsiteY6" fmla="*/ 89154 h 906018"/>
              <a:gd name="connsiteX7" fmla="*/ 2506218 w 2506228"/>
              <a:gd name="connsiteY7" fmla="*/ 816864 h 906018"/>
              <a:gd name="connsiteX8" fmla="*/ 2417826 w 2506228"/>
              <a:gd name="connsiteY8" fmla="*/ 906018 h 906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6228" h="906018">
                <a:moveTo>
                  <a:pt x="2417826" y="906018"/>
                </a:moveTo>
                <a:lnTo>
                  <a:pt x="89154" y="906018"/>
                </a:lnTo>
                <a:cubicBezTo>
                  <a:pt x="39624" y="906018"/>
                  <a:pt x="0" y="866394"/>
                  <a:pt x="0" y="816864"/>
                </a:cubicBezTo>
                <a:lnTo>
                  <a:pt x="0" y="89154"/>
                </a:lnTo>
                <a:cubicBezTo>
                  <a:pt x="0" y="39624"/>
                  <a:pt x="39624" y="0"/>
                  <a:pt x="89154" y="0"/>
                </a:cubicBezTo>
                <a:lnTo>
                  <a:pt x="2417064" y="0"/>
                </a:lnTo>
                <a:cubicBezTo>
                  <a:pt x="2466594" y="0"/>
                  <a:pt x="2506218" y="39624"/>
                  <a:pt x="2506218" y="89154"/>
                </a:cubicBezTo>
                <a:lnTo>
                  <a:pt x="2506218" y="816864"/>
                </a:lnTo>
                <a:cubicBezTo>
                  <a:pt x="2506980" y="866394"/>
                  <a:pt x="2466594" y="906018"/>
                  <a:pt x="2417826" y="906018"/>
                </a:cubicBezTo>
                <a:close/>
              </a:path>
            </a:pathLst>
          </a:custGeom>
          <a:solidFill>
            <a:schemeClr val="accent1">
              <a:lumMod val="20000"/>
              <a:lumOff val="80000"/>
              <a:alpha val="40000"/>
            </a:schemeClr>
          </a:solidFill>
          <a:ln w="12700"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85" name="文本框 81"/>
          <p:cNvSpPr txBox="1"/>
          <p:nvPr/>
        </p:nvSpPr>
        <p:spPr>
          <a:xfrm>
            <a:off x="637223" y="1649730"/>
            <a:ext cx="2352040" cy="783590"/>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1000"/>
              </a:spcAft>
              <a:buClrTx/>
              <a:buSzTx/>
              <a:buFontTx/>
              <a:buNone/>
              <a:defRPr/>
            </a:pPr>
            <a:r>
              <a:rPr kumimoji="0" lang="zh-CN" altLang="en-US" sz="1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核心目标：</a:t>
            </a:r>
            <a:r>
              <a:rPr kumimoji="0" lang="zh-CN" altLang="en-US" sz="100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明确年度方向，修复</a:t>
            </a:r>
            <a:r>
              <a:rPr kumimoji="0" lang="en-US" altLang="zh-CN" sz="100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00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优化过往遗留问题，确保春节期间业务稳定，完成</a:t>
            </a:r>
            <a:r>
              <a:rPr kumimoji="0" lang="en-US" altLang="zh-CN" sz="100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Q1</a:t>
            </a:r>
            <a:r>
              <a:rPr kumimoji="0" lang="zh-CN" altLang="en-US" sz="100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淡季蓄水。</a:t>
            </a:r>
            <a:endParaRPr kumimoji="0" lang="zh-CN" altLang="en-US" sz="100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4" name="任意形状 30"/>
          <p:cNvSpPr/>
          <p:nvPr/>
        </p:nvSpPr>
        <p:spPr>
          <a:xfrm>
            <a:off x="3343275" y="1669415"/>
            <a:ext cx="2590165" cy="800735"/>
          </a:xfrm>
          <a:custGeom>
            <a:avLst/>
            <a:gdLst>
              <a:gd name="connsiteX0" fmla="*/ 2417826 w 2506228"/>
              <a:gd name="connsiteY0" fmla="*/ 906018 h 906018"/>
              <a:gd name="connsiteX1" fmla="*/ 89154 w 2506228"/>
              <a:gd name="connsiteY1" fmla="*/ 906018 h 906018"/>
              <a:gd name="connsiteX2" fmla="*/ 0 w 2506228"/>
              <a:gd name="connsiteY2" fmla="*/ 816864 h 906018"/>
              <a:gd name="connsiteX3" fmla="*/ 0 w 2506228"/>
              <a:gd name="connsiteY3" fmla="*/ 89154 h 906018"/>
              <a:gd name="connsiteX4" fmla="*/ 89154 w 2506228"/>
              <a:gd name="connsiteY4" fmla="*/ 0 h 906018"/>
              <a:gd name="connsiteX5" fmla="*/ 2417064 w 2506228"/>
              <a:gd name="connsiteY5" fmla="*/ 0 h 906018"/>
              <a:gd name="connsiteX6" fmla="*/ 2506218 w 2506228"/>
              <a:gd name="connsiteY6" fmla="*/ 89154 h 906018"/>
              <a:gd name="connsiteX7" fmla="*/ 2506218 w 2506228"/>
              <a:gd name="connsiteY7" fmla="*/ 816864 h 906018"/>
              <a:gd name="connsiteX8" fmla="*/ 2417826 w 2506228"/>
              <a:gd name="connsiteY8" fmla="*/ 906018 h 906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6228" h="906018">
                <a:moveTo>
                  <a:pt x="2417826" y="906018"/>
                </a:moveTo>
                <a:lnTo>
                  <a:pt x="89154" y="906018"/>
                </a:lnTo>
                <a:cubicBezTo>
                  <a:pt x="39624" y="906018"/>
                  <a:pt x="0" y="866394"/>
                  <a:pt x="0" y="816864"/>
                </a:cubicBezTo>
                <a:lnTo>
                  <a:pt x="0" y="89154"/>
                </a:lnTo>
                <a:cubicBezTo>
                  <a:pt x="0" y="39624"/>
                  <a:pt x="39624" y="0"/>
                  <a:pt x="89154" y="0"/>
                </a:cubicBezTo>
                <a:lnTo>
                  <a:pt x="2417064" y="0"/>
                </a:lnTo>
                <a:cubicBezTo>
                  <a:pt x="2466594" y="0"/>
                  <a:pt x="2506218" y="39624"/>
                  <a:pt x="2506218" y="89154"/>
                </a:cubicBezTo>
                <a:lnTo>
                  <a:pt x="2506218" y="816864"/>
                </a:lnTo>
                <a:cubicBezTo>
                  <a:pt x="2506980" y="866394"/>
                  <a:pt x="2466594" y="906018"/>
                  <a:pt x="2417826" y="906018"/>
                </a:cubicBezTo>
                <a:close/>
              </a:path>
            </a:pathLst>
          </a:custGeom>
          <a:solidFill>
            <a:schemeClr val="accent5">
              <a:lumMod val="20000"/>
              <a:lumOff val="80000"/>
              <a:alpha val="40000"/>
            </a:schemeClr>
          </a:solidFill>
          <a:ln w="12700"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15" name="文本框 81"/>
          <p:cNvSpPr txBox="1"/>
          <p:nvPr/>
        </p:nvSpPr>
        <p:spPr>
          <a:xfrm>
            <a:off x="3462655" y="1649730"/>
            <a:ext cx="2352040" cy="783590"/>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1000"/>
              </a:spcAft>
              <a:buClrTx/>
              <a:buSzTx/>
              <a:buFontTx/>
              <a:buNone/>
              <a:defRPr/>
            </a:pPr>
            <a:r>
              <a:rPr kumimoji="0" lang="zh-CN" altLang="en-US" sz="1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核心目标：</a:t>
            </a:r>
            <a:r>
              <a:rPr kumimoji="0" lang="zh-CN" altLang="en-US" sz="100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抓住</a:t>
            </a:r>
            <a:r>
              <a:rPr kumimoji="0" lang="en-US" altLang="zh-CN" sz="100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“618”</a:t>
            </a:r>
            <a:r>
              <a:rPr kumimoji="0" lang="zh-CN" altLang="en-US" sz="100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等大促节点，通过多渠道投放和裂变玩法，实现用户量级与</a:t>
            </a:r>
            <a:r>
              <a:rPr kumimoji="0" lang="en-US" altLang="zh-CN" sz="100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GMV</a:t>
            </a:r>
            <a:r>
              <a:rPr kumimoji="0" lang="zh-CN" altLang="en-US" sz="100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的双重突破。</a:t>
            </a:r>
            <a:endParaRPr kumimoji="0" lang="zh-CN" altLang="en-US" sz="100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7" name="任意形状 30"/>
          <p:cNvSpPr/>
          <p:nvPr/>
        </p:nvSpPr>
        <p:spPr>
          <a:xfrm>
            <a:off x="6160135" y="1669415"/>
            <a:ext cx="2590165" cy="800735"/>
          </a:xfrm>
          <a:custGeom>
            <a:avLst/>
            <a:gdLst>
              <a:gd name="connsiteX0" fmla="*/ 2417826 w 2506228"/>
              <a:gd name="connsiteY0" fmla="*/ 906018 h 906018"/>
              <a:gd name="connsiteX1" fmla="*/ 89154 w 2506228"/>
              <a:gd name="connsiteY1" fmla="*/ 906018 h 906018"/>
              <a:gd name="connsiteX2" fmla="*/ 0 w 2506228"/>
              <a:gd name="connsiteY2" fmla="*/ 816864 h 906018"/>
              <a:gd name="connsiteX3" fmla="*/ 0 w 2506228"/>
              <a:gd name="connsiteY3" fmla="*/ 89154 h 906018"/>
              <a:gd name="connsiteX4" fmla="*/ 89154 w 2506228"/>
              <a:gd name="connsiteY4" fmla="*/ 0 h 906018"/>
              <a:gd name="connsiteX5" fmla="*/ 2417064 w 2506228"/>
              <a:gd name="connsiteY5" fmla="*/ 0 h 906018"/>
              <a:gd name="connsiteX6" fmla="*/ 2506218 w 2506228"/>
              <a:gd name="connsiteY6" fmla="*/ 89154 h 906018"/>
              <a:gd name="connsiteX7" fmla="*/ 2506218 w 2506228"/>
              <a:gd name="connsiteY7" fmla="*/ 816864 h 906018"/>
              <a:gd name="connsiteX8" fmla="*/ 2417826 w 2506228"/>
              <a:gd name="connsiteY8" fmla="*/ 906018 h 906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6228" h="906018">
                <a:moveTo>
                  <a:pt x="2417826" y="906018"/>
                </a:moveTo>
                <a:lnTo>
                  <a:pt x="89154" y="906018"/>
                </a:lnTo>
                <a:cubicBezTo>
                  <a:pt x="39624" y="906018"/>
                  <a:pt x="0" y="866394"/>
                  <a:pt x="0" y="816864"/>
                </a:cubicBezTo>
                <a:lnTo>
                  <a:pt x="0" y="89154"/>
                </a:lnTo>
                <a:cubicBezTo>
                  <a:pt x="0" y="39624"/>
                  <a:pt x="39624" y="0"/>
                  <a:pt x="89154" y="0"/>
                </a:cubicBezTo>
                <a:lnTo>
                  <a:pt x="2417064" y="0"/>
                </a:lnTo>
                <a:cubicBezTo>
                  <a:pt x="2466594" y="0"/>
                  <a:pt x="2506218" y="39624"/>
                  <a:pt x="2506218" y="89154"/>
                </a:cubicBezTo>
                <a:lnTo>
                  <a:pt x="2506218" y="816864"/>
                </a:lnTo>
                <a:cubicBezTo>
                  <a:pt x="2506980" y="866394"/>
                  <a:pt x="2466594" y="906018"/>
                  <a:pt x="2417826" y="906018"/>
                </a:cubicBezTo>
                <a:close/>
              </a:path>
            </a:pathLst>
          </a:custGeom>
          <a:solidFill>
            <a:schemeClr val="accent1">
              <a:lumMod val="20000"/>
              <a:lumOff val="80000"/>
              <a:alpha val="40000"/>
            </a:schemeClr>
          </a:solidFill>
          <a:ln w="12700"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18" name="文本框 81"/>
          <p:cNvSpPr txBox="1"/>
          <p:nvPr/>
        </p:nvSpPr>
        <p:spPr>
          <a:xfrm>
            <a:off x="6279515" y="1649730"/>
            <a:ext cx="2352040" cy="783590"/>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1000"/>
              </a:spcAft>
              <a:buClrTx/>
              <a:buSzTx/>
              <a:buFontTx/>
              <a:buNone/>
              <a:defRPr/>
            </a:pPr>
            <a:r>
              <a:rPr kumimoji="0" lang="zh-CN" altLang="en-US" sz="1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核心目标：</a:t>
            </a:r>
            <a:r>
              <a:rPr kumimoji="0" lang="zh-CN" altLang="en-US" sz="100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沉淀上半年流量，通过精细化手段提升用户生命周期价值（</a:t>
            </a:r>
            <a:r>
              <a:rPr kumimoji="0" lang="en-US" altLang="zh-CN" sz="100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LTV</a:t>
            </a:r>
            <a:r>
              <a:rPr kumimoji="0" lang="zh-CN" altLang="en-US" sz="100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），优化转化路径，降低流失率。</a:t>
            </a:r>
            <a:endParaRPr kumimoji="0" lang="zh-CN" altLang="en-US" sz="100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0" name="任意形状 30"/>
          <p:cNvSpPr/>
          <p:nvPr/>
        </p:nvSpPr>
        <p:spPr>
          <a:xfrm>
            <a:off x="8970010" y="1669415"/>
            <a:ext cx="2590165" cy="801370"/>
          </a:xfrm>
          <a:custGeom>
            <a:avLst/>
            <a:gdLst>
              <a:gd name="connsiteX0" fmla="*/ 2417826 w 2506228"/>
              <a:gd name="connsiteY0" fmla="*/ 906018 h 906018"/>
              <a:gd name="connsiteX1" fmla="*/ 89154 w 2506228"/>
              <a:gd name="connsiteY1" fmla="*/ 906018 h 906018"/>
              <a:gd name="connsiteX2" fmla="*/ 0 w 2506228"/>
              <a:gd name="connsiteY2" fmla="*/ 816864 h 906018"/>
              <a:gd name="connsiteX3" fmla="*/ 0 w 2506228"/>
              <a:gd name="connsiteY3" fmla="*/ 89154 h 906018"/>
              <a:gd name="connsiteX4" fmla="*/ 89154 w 2506228"/>
              <a:gd name="connsiteY4" fmla="*/ 0 h 906018"/>
              <a:gd name="connsiteX5" fmla="*/ 2417064 w 2506228"/>
              <a:gd name="connsiteY5" fmla="*/ 0 h 906018"/>
              <a:gd name="connsiteX6" fmla="*/ 2506218 w 2506228"/>
              <a:gd name="connsiteY6" fmla="*/ 89154 h 906018"/>
              <a:gd name="connsiteX7" fmla="*/ 2506218 w 2506228"/>
              <a:gd name="connsiteY7" fmla="*/ 816864 h 906018"/>
              <a:gd name="connsiteX8" fmla="*/ 2417826 w 2506228"/>
              <a:gd name="connsiteY8" fmla="*/ 906018 h 906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6228" h="906018">
                <a:moveTo>
                  <a:pt x="2417826" y="906018"/>
                </a:moveTo>
                <a:lnTo>
                  <a:pt x="89154" y="906018"/>
                </a:lnTo>
                <a:cubicBezTo>
                  <a:pt x="39624" y="906018"/>
                  <a:pt x="0" y="866394"/>
                  <a:pt x="0" y="816864"/>
                </a:cubicBezTo>
                <a:lnTo>
                  <a:pt x="0" y="89154"/>
                </a:lnTo>
                <a:cubicBezTo>
                  <a:pt x="0" y="39624"/>
                  <a:pt x="39624" y="0"/>
                  <a:pt x="89154" y="0"/>
                </a:cubicBezTo>
                <a:lnTo>
                  <a:pt x="2417064" y="0"/>
                </a:lnTo>
                <a:cubicBezTo>
                  <a:pt x="2466594" y="0"/>
                  <a:pt x="2506218" y="39624"/>
                  <a:pt x="2506218" y="89154"/>
                </a:cubicBezTo>
                <a:lnTo>
                  <a:pt x="2506218" y="816864"/>
                </a:lnTo>
                <a:cubicBezTo>
                  <a:pt x="2506980" y="866394"/>
                  <a:pt x="2466594" y="906018"/>
                  <a:pt x="2417826" y="906018"/>
                </a:cubicBezTo>
                <a:close/>
              </a:path>
            </a:pathLst>
          </a:custGeom>
          <a:solidFill>
            <a:schemeClr val="accent5">
              <a:lumMod val="20000"/>
              <a:lumOff val="80000"/>
              <a:alpha val="40000"/>
            </a:schemeClr>
          </a:solidFill>
          <a:ln w="12700"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21" name="文本框 81"/>
          <p:cNvSpPr txBox="1"/>
          <p:nvPr/>
        </p:nvSpPr>
        <p:spPr>
          <a:xfrm>
            <a:off x="9089390" y="1649730"/>
            <a:ext cx="2352040" cy="783590"/>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1000"/>
              </a:spcAft>
              <a:buClrTx/>
              <a:buSzTx/>
              <a:buFontTx/>
              <a:buNone/>
              <a:defRPr/>
            </a:pPr>
            <a:r>
              <a:rPr kumimoji="0" lang="zh-CN" altLang="en-US" sz="1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核心目标：</a:t>
            </a:r>
            <a:r>
              <a:rPr kumimoji="0" lang="zh-CN" altLang="en-US" sz="100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双</a:t>
            </a:r>
            <a:r>
              <a:rPr kumimoji="0" lang="en-US" altLang="zh-CN" sz="100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11/</a:t>
            </a:r>
            <a:r>
              <a:rPr kumimoji="0" lang="zh-CN" altLang="en-US" sz="100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双</a:t>
            </a:r>
            <a:r>
              <a:rPr kumimoji="0" lang="en-US" altLang="zh-CN" sz="100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12</a:t>
            </a:r>
            <a:r>
              <a:rPr kumimoji="0" lang="zh-CN" altLang="en-US" sz="100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大促爆发，完成年度</a:t>
            </a:r>
            <a:r>
              <a:rPr kumimoji="0" lang="en-US" altLang="zh-CN" sz="100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KPI</a:t>
            </a:r>
            <a:r>
              <a:rPr kumimoji="0" lang="zh-CN" altLang="en-US" sz="100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冲刺，并提前布局下一年度的战略方向。</a:t>
            </a:r>
            <a:endParaRPr kumimoji="0" lang="zh-CN" altLang="en-US" sz="100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124" name="组合 123"/>
          <p:cNvGrpSpPr/>
          <p:nvPr/>
        </p:nvGrpSpPr>
        <p:grpSpPr>
          <a:xfrm>
            <a:off x="3514316" y="5930347"/>
            <a:ext cx="2248718" cy="460375"/>
            <a:chOff x="658689" y="1468837"/>
            <a:chExt cx="2248718" cy="460375"/>
          </a:xfrm>
        </p:grpSpPr>
        <p:sp>
          <p:nvSpPr>
            <p:cNvPr id="125" name="文本框 124"/>
            <p:cNvSpPr txBox="1"/>
            <p:nvPr/>
          </p:nvSpPr>
          <p:spPr>
            <a:xfrm>
              <a:off x="658689" y="1468837"/>
              <a:ext cx="620395" cy="460375"/>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ja-JP" sz="2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Q2</a:t>
              </a:r>
              <a:endParaRPr kumimoji="0" lang="en-US" altLang="ja-JP" sz="2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6" name="文本框 125"/>
            <p:cNvSpPr txBox="1"/>
            <p:nvPr/>
          </p:nvSpPr>
          <p:spPr>
            <a:xfrm>
              <a:off x="1352927" y="1561171"/>
              <a:ext cx="1554480" cy="27559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流量引爆与规模扩张</a:t>
              </a:r>
              <a:endPar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127" name="直接连接符 126"/>
            <p:cNvCxnSpPr/>
            <p:nvPr/>
          </p:nvCxnSpPr>
          <p:spPr>
            <a:xfrm>
              <a:off x="1308577" y="1603150"/>
              <a:ext cx="0" cy="19304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28" name="组合 127"/>
          <p:cNvGrpSpPr/>
          <p:nvPr/>
        </p:nvGrpSpPr>
        <p:grpSpPr>
          <a:xfrm>
            <a:off x="6331494" y="5924632"/>
            <a:ext cx="2248718" cy="460375"/>
            <a:chOff x="658689" y="1468837"/>
            <a:chExt cx="2248718" cy="460375"/>
          </a:xfrm>
        </p:grpSpPr>
        <p:sp>
          <p:nvSpPr>
            <p:cNvPr id="129" name="文本框 128"/>
            <p:cNvSpPr txBox="1"/>
            <p:nvPr/>
          </p:nvSpPr>
          <p:spPr>
            <a:xfrm>
              <a:off x="658689" y="1468837"/>
              <a:ext cx="620395" cy="460375"/>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ja-JP" sz="2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Q3</a:t>
              </a:r>
              <a:endParaRPr kumimoji="0" lang="en-US" altLang="ja-JP" sz="2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0" name="文本框 129"/>
            <p:cNvSpPr txBox="1"/>
            <p:nvPr/>
          </p:nvSpPr>
          <p:spPr>
            <a:xfrm>
              <a:off x="1352927" y="1561171"/>
              <a:ext cx="1554480" cy="27559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精细运营与效率优化</a:t>
              </a:r>
              <a:endPar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131" name="直接连接符 130"/>
            <p:cNvCxnSpPr/>
            <p:nvPr/>
          </p:nvCxnSpPr>
          <p:spPr>
            <a:xfrm>
              <a:off x="1308577" y="1603150"/>
              <a:ext cx="0" cy="19304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32" name="组合 131"/>
          <p:cNvGrpSpPr/>
          <p:nvPr/>
        </p:nvGrpSpPr>
        <p:grpSpPr>
          <a:xfrm>
            <a:off x="9141369" y="5930583"/>
            <a:ext cx="2248718" cy="460375"/>
            <a:chOff x="658689" y="1468837"/>
            <a:chExt cx="2248718" cy="460375"/>
          </a:xfrm>
        </p:grpSpPr>
        <p:sp>
          <p:nvSpPr>
            <p:cNvPr id="133" name="文本框 132"/>
            <p:cNvSpPr txBox="1"/>
            <p:nvPr/>
          </p:nvSpPr>
          <p:spPr>
            <a:xfrm>
              <a:off x="658689" y="1468837"/>
              <a:ext cx="620395" cy="460375"/>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ja-JP" sz="2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Q4</a:t>
              </a:r>
              <a:endParaRPr kumimoji="0" lang="en-US" altLang="ja-JP" sz="2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4" name="文本框 133"/>
            <p:cNvSpPr txBox="1"/>
            <p:nvPr/>
          </p:nvSpPr>
          <p:spPr>
            <a:xfrm>
              <a:off x="1352927" y="1561171"/>
              <a:ext cx="1554480" cy="27559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全力冲刺与年度收官</a:t>
              </a:r>
              <a:endPar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135" name="直接连接符 134"/>
            <p:cNvCxnSpPr/>
            <p:nvPr/>
          </p:nvCxnSpPr>
          <p:spPr>
            <a:xfrm>
              <a:off x="1308577" y="1603150"/>
              <a:ext cx="0" cy="19304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2" name="组合 1"/>
          <p:cNvGrpSpPr/>
          <p:nvPr/>
        </p:nvGrpSpPr>
        <p:grpSpPr>
          <a:xfrm>
            <a:off x="6249035" y="2650490"/>
            <a:ext cx="2521585" cy="3044190"/>
            <a:chOff x="871" y="4330"/>
            <a:chExt cx="3971" cy="4794"/>
          </a:xfrm>
        </p:grpSpPr>
        <p:grpSp>
          <p:nvGrpSpPr>
            <p:cNvPr id="137" name="组合 136"/>
            <p:cNvGrpSpPr/>
            <p:nvPr/>
          </p:nvGrpSpPr>
          <p:grpSpPr>
            <a:xfrm>
              <a:off x="895" y="4330"/>
              <a:ext cx="3892" cy="1167"/>
              <a:chOff x="2078" y="6586"/>
              <a:chExt cx="3892" cy="1167"/>
            </a:xfrm>
          </p:grpSpPr>
          <p:sp>
            <p:nvSpPr>
              <p:cNvPr id="184" name="子陵职场PPT55-1"/>
              <p:cNvSpPr/>
              <p:nvPr/>
            </p:nvSpPr>
            <p:spPr>
              <a:xfrm>
                <a:off x="2078" y="6586"/>
                <a:ext cx="3110" cy="432"/>
              </a:xfrm>
              <a:prstGeom prst="roundRect">
                <a:avLst>
                  <a:gd name="adj" fmla="val 50000"/>
                </a:avLst>
              </a:prstGeom>
              <a:gradFill>
                <a:gsLst>
                  <a:gs pos="0">
                    <a:schemeClr val="accent1">
                      <a:lumMod val="20000"/>
                      <a:lumOff val="80000"/>
                    </a:schemeClr>
                  </a:gs>
                  <a:gs pos="88000">
                    <a:schemeClr val="accent1">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86" name="子陵职场PPT55-2"/>
              <p:cNvSpPr/>
              <p:nvPr/>
            </p:nvSpPr>
            <p:spPr>
              <a:xfrm rot="16200000" flipH="1">
                <a:off x="2157" y="6661"/>
                <a:ext cx="285" cy="285"/>
              </a:xfrm>
              <a:prstGeom prst="ellipse">
                <a:avLst/>
              </a:prstGeom>
              <a:gradFill flip="none" rotWithShape="1">
                <a:gsLst>
                  <a:gs pos="0">
                    <a:schemeClr val="accent1">
                      <a:lumMod val="60000"/>
                      <a:lumOff val="40000"/>
                    </a:schemeClr>
                  </a:gs>
                  <a:gs pos="100000">
                    <a:schemeClr val="accent1"/>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87" name="子陵职场PPT55-3"/>
              <p:cNvSpPr txBox="1"/>
              <p:nvPr/>
            </p:nvSpPr>
            <p:spPr>
              <a:xfrm>
                <a:off x="2157" y="6702"/>
                <a:ext cx="285" cy="203"/>
              </a:xfrm>
              <a:prstGeom prst="rect">
                <a:avLst/>
              </a:prstGeom>
              <a:noFill/>
            </p:spPr>
            <p:txBody>
              <a:bodyPr wrap="non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1</a:t>
                </a:r>
                <a:endPar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88" name="子陵职场PPT55-4"/>
              <p:cNvSpPr txBox="1"/>
              <p:nvPr/>
            </p:nvSpPr>
            <p:spPr>
              <a:xfrm>
                <a:off x="2391" y="6609"/>
                <a:ext cx="1088" cy="3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数据驱动</a:t>
                </a:r>
                <a:endParaRPr kumimoji="0" lang="zh-CN" altLang="en-US" sz="1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89" name="子陵职场PPT55-5"/>
              <p:cNvSpPr txBox="1"/>
              <p:nvPr/>
            </p:nvSpPr>
            <p:spPr>
              <a:xfrm>
                <a:off x="2078" y="7028"/>
                <a:ext cx="3892" cy="725"/>
              </a:xfrm>
              <a:prstGeom prst="rect">
                <a:avLst/>
              </a:prstGeom>
              <a:noFill/>
            </p:spPr>
            <p:txBody>
              <a:bodyPr wrap="square">
                <a:spAutoFit/>
              </a:bodyPr>
              <a:lstStyle/>
              <a:p>
                <a:pP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搭建数据看板，实现按日监控用户分群行为；针对高价值用户制定</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1</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对</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1</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维护策略。</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138" name="组合 137"/>
            <p:cNvGrpSpPr/>
            <p:nvPr/>
          </p:nvGrpSpPr>
          <p:grpSpPr>
            <a:xfrm>
              <a:off x="895" y="5539"/>
              <a:ext cx="3892" cy="1167"/>
              <a:chOff x="2078" y="6586"/>
              <a:chExt cx="3892" cy="1167"/>
            </a:xfrm>
          </p:grpSpPr>
          <p:sp>
            <p:nvSpPr>
              <p:cNvPr id="139" name="子陵职场PPT55-1"/>
              <p:cNvSpPr/>
              <p:nvPr/>
            </p:nvSpPr>
            <p:spPr>
              <a:xfrm>
                <a:off x="2078" y="6586"/>
                <a:ext cx="3110" cy="432"/>
              </a:xfrm>
              <a:prstGeom prst="roundRect">
                <a:avLst>
                  <a:gd name="adj" fmla="val 50000"/>
                </a:avLst>
              </a:prstGeom>
              <a:gradFill>
                <a:gsLst>
                  <a:gs pos="0">
                    <a:schemeClr val="accent1">
                      <a:lumMod val="20000"/>
                      <a:lumOff val="80000"/>
                    </a:schemeClr>
                  </a:gs>
                  <a:gs pos="88000">
                    <a:schemeClr val="accent1">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0" name="子陵职场PPT55-2"/>
              <p:cNvSpPr/>
              <p:nvPr/>
            </p:nvSpPr>
            <p:spPr>
              <a:xfrm rot="16200000" flipH="1">
                <a:off x="2157" y="6661"/>
                <a:ext cx="285" cy="285"/>
              </a:xfrm>
              <a:prstGeom prst="ellipse">
                <a:avLst/>
              </a:prstGeom>
              <a:gradFill flip="none" rotWithShape="1">
                <a:gsLst>
                  <a:gs pos="0">
                    <a:schemeClr val="accent1">
                      <a:lumMod val="60000"/>
                      <a:lumOff val="40000"/>
                    </a:schemeClr>
                  </a:gs>
                  <a:gs pos="100000">
                    <a:schemeClr val="accent1"/>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1" name="子陵职场PPT55-3"/>
              <p:cNvSpPr txBox="1"/>
              <p:nvPr/>
            </p:nvSpPr>
            <p:spPr>
              <a:xfrm>
                <a:off x="2157" y="6702"/>
                <a:ext cx="285" cy="203"/>
              </a:xfrm>
              <a:prstGeom prst="rect">
                <a:avLst/>
              </a:prstGeom>
              <a:noFill/>
            </p:spPr>
            <p:txBody>
              <a:bodyPr wrap="non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2</a:t>
                </a:r>
                <a:endPar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2" name="子陵职场PPT55-4"/>
              <p:cNvSpPr txBox="1"/>
              <p:nvPr/>
            </p:nvSpPr>
            <p:spPr>
              <a:xfrm>
                <a:off x="2391" y="6609"/>
                <a:ext cx="1088" cy="3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用户留存</a:t>
                </a:r>
                <a:endParaRPr kumimoji="0" lang="zh-CN" altLang="en-US" sz="1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3" name="子陵职场PPT55-5"/>
              <p:cNvSpPr txBox="1"/>
              <p:nvPr/>
            </p:nvSpPr>
            <p:spPr>
              <a:xfrm>
                <a:off x="2078" y="7028"/>
                <a:ext cx="3892" cy="725"/>
              </a:xfrm>
              <a:prstGeom prst="rect">
                <a:avLst/>
              </a:prstGeom>
              <a:noFill/>
            </p:spPr>
            <p:txBody>
              <a:bodyPr wrap="square">
                <a:spAutoFit/>
              </a:bodyPr>
              <a:lstStyle/>
              <a:p>
                <a:pP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上线</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用户成长体系</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，启动</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流失预警</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召回机制（</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Push/</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短信</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人工外呼）。</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144" name="组合 143"/>
            <p:cNvGrpSpPr/>
            <p:nvPr/>
          </p:nvGrpSpPr>
          <p:grpSpPr>
            <a:xfrm>
              <a:off x="871" y="6748"/>
              <a:ext cx="3892" cy="1167"/>
              <a:chOff x="2078" y="6586"/>
              <a:chExt cx="3892" cy="1167"/>
            </a:xfrm>
          </p:grpSpPr>
          <p:sp>
            <p:nvSpPr>
              <p:cNvPr id="145" name="子陵职场PPT55-1"/>
              <p:cNvSpPr/>
              <p:nvPr/>
            </p:nvSpPr>
            <p:spPr>
              <a:xfrm>
                <a:off x="2078" y="6586"/>
                <a:ext cx="3110" cy="432"/>
              </a:xfrm>
              <a:prstGeom prst="roundRect">
                <a:avLst>
                  <a:gd name="adj" fmla="val 50000"/>
                </a:avLst>
              </a:prstGeom>
              <a:gradFill>
                <a:gsLst>
                  <a:gs pos="0">
                    <a:schemeClr val="accent1">
                      <a:lumMod val="20000"/>
                      <a:lumOff val="80000"/>
                    </a:schemeClr>
                  </a:gs>
                  <a:gs pos="88000">
                    <a:schemeClr val="accent1">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6" name="子陵职场PPT55-2"/>
              <p:cNvSpPr/>
              <p:nvPr/>
            </p:nvSpPr>
            <p:spPr>
              <a:xfrm rot="16200000" flipH="1">
                <a:off x="2157" y="6661"/>
                <a:ext cx="285" cy="285"/>
              </a:xfrm>
              <a:prstGeom prst="ellipse">
                <a:avLst/>
              </a:prstGeom>
              <a:gradFill flip="none" rotWithShape="1">
                <a:gsLst>
                  <a:gs pos="0">
                    <a:schemeClr val="accent1">
                      <a:lumMod val="60000"/>
                      <a:lumOff val="40000"/>
                    </a:schemeClr>
                  </a:gs>
                  <a:gs pos="100000">
                    <a:schemeClr val="accent1"/>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7" name="子陵职场PPT55-3"/>
              <p:cNvSpPr txBox="1"/>
              <p:nvPr/>
            </p:nvSpPr>
            <p:spPr>
              <a:xfrm>
                <a:off x="2157" y="6702"/>
                <a:ext cx="285" cy="203"/>
              </a:xfrm>
              <a:prstGeom prst="rect">
                <a:avLst/>
              </a:prstGeom>
              <a:noFill/>
            </p:spPr>
            <p:txBody>
              <a:bodyPr wrap="non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3</a:t>
                </a:r>
                <a:endPar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8" name="子陵职场PPT55-4"/>
              <p:cNvSpPr txBox="1"/>
              <p:nvPr/>
            </p:nvSpPr>
            <p:spPr>
              <a:xfrm>
                <a:off x="2391" y="6609"/>
                <a:ext cx="1088" cy="3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产品运营</a:t>
                </a:r>
                <a:endParaRPr kumimoji="0" lang="zh-CN" altLang="en-US" sz="1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9" name="子陵职场PPT55-5"/>
              <p:cNvSpPr txBox="1"/>
              <p:nvPr/>
            </p:nvSpPr>
            <p:spPr>
              <a:xfrm>
                <a:off x="2078" y="7028"/>
                <a:ext cx="3892" cy="725"/>
              </a:xfrm>
              <a:prstGeom prst="rect">
                <a:avLst/>
              </a:prstGeom>
              <a:noFill/>
            </p:spPr>
            <p:txBody>
              <a:bodyPr wrap="square">
                <a:spAutoFit/>
              </a:bodyPr>
              <a:lstStyle/>
              <a:p>
                <a:pP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针对用户反馈集中的功能进行迭代；上线</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新人专享</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Banner”</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及</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个性化推荐</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150" name="组合 149"/>
            <p:cNvGrpSpPr/>
            <p:nvPr/>
          </p:nvGrpSpPr>
          <p:grpSpPr>
            <a:xfrm>
              <a:off x="950" y="7957"/>
              <a:ext cx="3892" cy="1167"/>
              <a:chOff x="2078" y="6586"/>
              <a:chExt cx="3892" cy="1167"/>
            </a:xfrm>
          </p:grpSpPr>
          <p:sp>
            <p:nvSpPr>
              <p:cNvPr id="151" name="子陵职场PPT55-1"/>
              <p:cNvSpPr/>
              <p:nvPr/>
            </p:nvSpPr>
            <p:spPr>
              <a:xfrm>
                <a:off x="2078" y="6586"/>
                <a:ext cx="3110" cy="432"/>
              </a:xfrm>
              <a:prstGeom prst="roundRect">
                <a:avLst>
                  <a:gd name="adj" fmla="val 50000"/>
                </a:avLst>
              </a:prstGeom>
              <a:gradFill>
                <a:gsLst>
                  <a:gs pos="0">
                    <a:schemeClr val="accent1">
                      <a:lumMod val="20000"/>
                      <a:lumOff val="80000"/>
                    </a:schemeClr>
                  </a:gs>
                  <a:gs pos="88000">
                    <a:schemeClr val="accent1">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8" name="子陵职场PPT55-2"/>
              <p:cNvSpPr/>
              <p:nvPr/>
            </p:nvSpPr>
            <p:spPr>
              <a:xfrm rot="16200000" flipH="1">
                <a:off x="2157" y="6661"/>
                <a:ext cx="285" cy="285"/>
              </a:xfrm>
              <a:prstGeom prst="ellipse">
                <a:avLst/>
              </a:prstGeom>
              <a:gradFill flip="none" rotWithShape="1">
                <a:gsLst>
                  <a:gs pos="0">
                    <a:schemeClr val="accent1">
                      <a:lumMod val="60000"/>
                      <a:lumOff val="40000"/>
                    </a:schemeClr>
                  </a:gs>
                  <a:gs pos="100000">
                    <a:schemeClr val="accent1"/>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9" name="子陵职场PPT55-3"/>
              <p:cNvSpPr txBox="1"/>
              <p:nvPr/>
            </p:nvSpPr>
            <p:spPr>
              <a:xfrm>
                <a:off x="2157" y="6702"/>
                <a:ext cx="285" cy="203"/>
              </a:xfrm>
              <a:prstGeom prst="rect">
                <a:avLst/>
              </a:prstGeom>
              <a:noFill/>
            </p:spPr>
            <p:txBody>
              <a:bodyPr wrap="non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4</a:t>
                </a:r>
                <a:endPar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0" name="子陵职场PPT55-4"/>
              <p:cNvSpPr txBox="1"/>
              <p:nvPr/>
            </p:nvSpPr>
            <p:spPr>
              <a:xfrm>
                <a:off x="2391" y="6609"/>
                <a:ext cx="1088" cy="3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内容运营</a:t>
                </a:r>
                <a:endParaRPr kumimoji="0" lang="zh-CN" altLang="en-US" sz="1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1" name="子陵职场PPT55-5"/>
              <p:cNvSpPr txBox="1"/>
              <p:nvPr/>
            </p:nvSpPr>
            <p:spPr>
              <a:xfrm>
                <a:off x="2078" y="7028"/>
                <a:ext cx="3892" cy="725"/>
              </a:xfrm>
              <a:prstGeom prst="rect">
                <a:avLst/>
              </a:prstGeom>
              <a:noFill/>
            </p:spPr>
            <p:txBody>
              <a:bodyPr wrap="square">
                <a:spAutoFit/>
              </a:bodyPr>
              <a:lstStyle/>
              <a:p>
                <a:pP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打造</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行业大咖说</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系列直播</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/IP</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栏目；优化</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SEO/SEM</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关键词布局。</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grpSp>
        <p:nvGrpSpPr>
          <p:cNvPr id="3" name="组合 2"/>
          <p:cNvGrpSpPr/>
          <p:nvPr/>
        </p:nvGrpSpPr>
        <p:grpSpPr>
          <a:xfrm>
            <a:off x="3411220" y="2650490"/>
            <a:ext cx="2521585" cy="3044190"/>
            <a:chOff x="871" y="4330"/>
            <a:chExt cx="3971" cy="4794"/>
          </a:xfrm>
        </p:grpSpPr>
        <p:grpSp>
          <p:nvGrpSpPr>
            <p:cNvPr id="4" name="组合 3"/>
            <p:cNvGrpSpPr/>
            <p:nvPr/>
          </p:nvGrpSpPr>
          <p:grpSpPr>
            <a:xfrm>
              <a:off x="895" y="4330"/>
              <a:ext cx="3892" cy="1167"/>
              <a:chOff x="2078" y="6586"/>
              <a:chExt cx="3892" cy="1167"/>
            </a:xfrm>
          </p:grpSpPr>
          <p:sp>
            <p:nvSpPr>
              <p:cNvPr id="11" name="子陵职场PPT55-1"/>
              <p:cNvSpPr/>
              <p:nvPr/>
            </p:nvSpPr>
            <p:spPr>
              <a:xfrm>
                <a:off x="2078" y="6586"/>
                <a:ext cx="3110" cy="432"/>
              </a:xfrm>
              <a:prstGeom prst="roundRect">
                <a:avLst>
                  <a:gd name="adj" fmla="val 50000"/>
                </a:avLst>
              </a:prstGeom>
              <a:gradFill>
                <a:gsLst>
                  <a:gs pos="0">
                    <a:schemeClr val="accent5">
                      <a:lumMod val="20000"/>
                      <a:lumOff val="80000"/>
                    </a:schemeClr>
                  </a:gs>
                  <a:gs pos="88000">
                    <a:schemeClr val="accent5">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 name="子陵职场PPT55-2"/>
              <p:cNvSpPr/>
              <p:nvPr/>
            </p:nvSpPr>
            <p:spPr>
              <a:xfrm rot="16200000" flipH="1">
                <a:off x="2157" y="6661"/>
                <a:ext cx="285" cy="285"/>
              </a:xfrm>
              <a:prstGeom prst="ellipse">
                <a:avLst/>
              </a:prstGeom>
              <a:gradFill flip="none" rotWithShape="1">
                <a:gsLst>
                  <a:gs pos="0">
                    <a:schemeClr val="accent5">
                      <a:lumMod val="60000"/>
                      <a:lumOff val="40000"/>
                    </a:schemeClr>
                  </a:gs>
                  <a:gs pos="100000">
                    <a:schemeClr val="accent5"/>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 name="子陵职场PPT55-3"/>
              <p:cNvSpPr txBox="1"/>
              <p:nvPr/>
            </p:nvSpPr>
            <p:spPr>
              <a:xfrm>
                <a:off x="2157" y="6702"/>
                <a:ext cx="285" cy="203"/>
              </a:xfrm>
              <a:prstGeom prst="rect">
                <a:avLst/>
              </a:prstGeom>
              <a:noFill/>
            </p:spPr>
            <p:txBody>
              <a:bodyPr wrap="non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1</a:t>
                </a:r>
                <a:endPar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 name="子陵职场PPT55-4"/>
              <p:cNvSpPr txBox="1"/>
              <p:nvPr/>
            </p:nvSpPr>
            <p:spPr>
              <a:xfrm>
                <a:off x="2391" y="6609"/>
                <a:ext cx="1288" cy="3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渠道与投放</a:t>
                </a:r>
                <a:endParaRPr kumimoji="0" lang="zh-CN" altLang="en-US" sz="1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 name="子陵职场PPT55-5"/>
              <p:cNvSpPr txBox="1"/>
              <p:nvPr/>
            </p:nvSpPr>
            <p:spPr>
              <a:xfrm>
                <a:off x="2078" y="7028"/>
                <a:ext cx="3892" cy="725"/>
              </a:xfrm>
              <a:prstGeom prst="rect">
                <a:avLst/>
              </a:prstGeom>
              <a:noFill/>
            </p:spPr>
            <p:txBody>
              <a:bodyPr wrap="square">
                <a:spAutoFit/>
              </a:bodyPr>
              <a:lstStyle/>
              <a:p>
                <a:pP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启动</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春季增长计划</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，重点拓展短视频（抖音</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视频号）及信息流广告投放</a:t>
                </a:r>
                <a:r>
                  <a:rPr 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18" name="组合 17"/>
            <p:cNvGrpSpPr/>
            <p:nvPr/>
          </p:nvGrpSpPr>
          <p:grpSpPr>
            <a:xfrm>
              <a:off x="895" y="5539"/>
              <a:ext cx="3892" cy="1167"/>
              <a:chOff x="2078" y="6586"/>
              <a:chExt cx="3892" cy="1167"/>
            </a:xfrm>
          </p:grpSpPr>
          <p:sp>
            <p:nvSpPr>
              <p:cNvPr id="20" name="子陵职场PPT55-1"/>
              <p:cNvSpPr/>
              <p:nvPr/>
            </p:nvSpPr>
            <p:spPr>
              <a:xfrm>
                <a:off x="2078" y="6586"/>
                <a:ext cx="3110" cy="432"/>
              </a:xfrm>
              <a:prstGeom prst="roundRect">
                <a:avLst>
                  <a:gd name="adj" fmla="val 50000"/>
                </a:avLst>
              </a:prstGeom>
              <a:gradFill>
                <a:gsLst>
                  <a:gs pos="0">
                    <a:schemeClr val="accent5">
                      <a:lumMod val="20000"/>
                      <a:lumOff val="80000"/>
                    </a:schemeClr>
                  </a:gs>
                  <a:gs pos="88000">
                    <a:schemeClr val="accent5">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1" name="子陵职场PPT55-2"/>
              <p:cNvSpPr/>
              <p:nvPr/>
            </p:nvSpPr>
            <p:spPr>
              <a:xfrm rot="16200000" flipH="1">
                <a:off x="2157" y="6661"/>
                <a:ext cx="285" cy="285"/>
              </a:xfrm>
              <a:prstGeom prst="ellipse">
                <a:avLst/>
              </a:prstGeom>
              <a:gradFill flip="none" rotWithShape="1">
                <a:gsLst>
                  <a:gs pos="0">
                    <a:schemeClr val="accent5">
                      <a:lumMod val="60000"/>
                      <a:lumOff val="40000"/>
                    </a:schemeClr>
                  </a:gs>
                  <a:gs pos="100000">
                    <a:schemeClr val="accent5"/>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3" name="子陵职场PPT55-3"/>
              <p:cNvSpPr txBox="1"/>
              <p:nvPr/>
            </p:nvSpPr>
            <p:spPr>
              <a:xfrm>
                <a:off x="2157" y="6702"/>
                <a:ext cx="285" cy="203"/>
              </a:xfrm>
              <a:prstGeom prst="rect">
                <a:avLst/>
              </a:prstGeom>
              <a:noFill/>
            </p:spPr>
            <p:txBody>
              <a:bodyPr wrap="non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2</a:t>
                </a:r>
                <a:endPar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8" name="子陵职场PPT55-4"/>
              <p:cNvSpPr txBox="1"/>
              <p:nvPr/>
            </p:nvSpPr>
            <p:spPr>
              <a:xfrm>
                <a:off x="2391" y="6609"/>
                <a:ext cx="1088" cy="3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大促活动</a:t>
                </a:r>
                <a:endParaRPr kumimoji="0" lang="zh-CN" altLang="en-US" sz="1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9" name="子陵职场PPT55-5"/>
              <p:cNvSpPr txBox="1"/>
              <p:nvPr/>
            </p:nvSpPr>
            <p:spPr>
              <a:xfrm>
                <a:off x="2078" y="7028"/>
                <a:ext cx="3892" cy="725"/>
              </a:xfrm>
              <a:prstGeom prst="rect">
                <a:avLst/>
              </a:prstGeom>
              <a:noFill/>
            </p:spPr>
            <p:txBody>
              <a:bodyPr wrap="square">
                <a:spAutoFit/>
              </a:bodyPr>
              <a:lstStyle/>
              <a:p>
                <a:pP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主导</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“618</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年中大促</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，引入</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拼团秒杀</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与</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会员专享折上折</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玩法。</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30" name="组合 29"/>
            <p:cNvGrpSpPr/>
            <p:nvPr/>
          </p:nvGrpSpPr>
          <p:grpSpPr>
            <a:xfrm>
              <a:off x="871" y="6748"/>
              <a:ext cx="3892" cy="1167"/>
              <a:chOff x="2078" y="6586"/>
              <a:chExt cx="3892" cy="1167"/>
            </a:xfrm>
          </p:grpSpPr>
          <p:sp>
            <p:nvSpPr>
              <p:cNvPr id="31" name="子陵职场PPT55-1"/>
              <p:cNvSpPr/>
              <p:nvPr/>
            </p:nvSpPr>
            <p:spPr>
              <a:xfrm>
                <a:off x="2078" y="6586"/>
                <a:ext cx="3110" cy="432"/>
              </a:xfrm>
              <a:prstGeom prst="roundRect">
                <a:avLst>
                  <a:gd name="adj" fmla="val 50000"/>
                </a:avLst>
              </a:prstGeom>
              <a:gradFill>
                <a:gsLst>
                  <a:gs pos="0">
                    <a:schemeClr val="accent5">
                      <a:lumMod val="20000"/>
                      <a:lumOff val="80000"/>
                    </a:schemeClr>
                  </a:gs>
                  <a:gs pos="88000">
                    <a:schemeClr val="accent5">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2" name="子陵职场PPT55-2"/>
              <p:cNvSpPr/>
              <p:nvPr/>
            </p:nvSpPr>
            <p:spPr>
              <a:xfrm rot="16200000" flipH="1">
                <a:off x="2157" y="6661"/>
                <a:ext cx="285" cy="285"/>
              </a:xfrm>
              <a:prstGeom prst="ellipse">
                <a:avLst/>
              </a:prstGeom>
              <a:gradFill flip="none" rotWithShape="1">
                <a:gsLst>
                  <a:gs pos="0">
                    <a:schemeClr val="accent5">
                      <a:lumMod val="60000"/>
                      <a:lumOff val="40000"/>
                    </a:schemeClr>
                  </a:gs>
                  <a:gs pos="100000">
                    <a:schemeClr val="accent5"/>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 name="子陵职场PPT55-3"/>
              <p:cNvSpPr txBox="1"/>
              <p:nvPr/>
            </p:nvSpPr>
            <p:spPr>
              <a:xfrm>
                <a:off x="2157" y="6702"/>
                <a:ext cx="285" cy="203"/>
              </a:xfrm>
              <a:prstGeom prst="rect">
                <a:avLst/>
              </a:prstGeom>
              <a:noFill/>
            </p:spPr>
            <p:txBody>
              <a:bodyPr wrap="non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3</a:t>
                </a:r>
                <a:endPar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4" name="子陵职场PPT55-4"/>
              <p:cNvSpPr txBox="1"/>
              <p:nvPr/>
            </p:nvSpPr>
            <p:spPr>
              <a:xfrm>
                <a:off x="2391" y="6609"/>
                <a:ext cx="1088" cy="3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品牌联动</a:t>
                </a:r>
                <a:endParaRPr kumimoji="0" lang="zh-CN" altLang="en-US" sz="1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5" name="子陵职场PPT55-5"/>
              <p:cNvSpPr txBox="1"/>
              <p:nvPr/>
            </p:nvSpPr>
            <p:spPr>
              <a:xfrm>
                <a:off x="2078" y="7028"/>
                <a:ext cx="3892" cy="725"/>
              </a:xfrm>
              <a:prstGeom prst="rect">
                <a:avLst/>
              </a:prstGeom>
              <a:noFill/>
            </p:spPr>
            <p:txBody>
              <a:bodyPr wrap="square">
                <a:spAutoFit/>
              </a:bodyPr>
              <a:lstStyle/>
              <a:p>
                <a:pP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与其他国际品牌开展跨界联名活动，联合推出限定产品</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服务。</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36" name="组合 35"/>
            <p:cNvGrpSpPr/>
            <p:nvPr/>
          </p:nvGrpSpPr>
          <p:grpSpPr>
            <a:xfrm>
              <a:off x="950" y="7957"/>
              <a:ext cx="3892" cy="1167"/>
              <a:chOff x="2078" y="6586"/>
              <a:chExt cx="3892" cy="1167"/>
            </a:xfrm>
          </p:grpSpPr>
          <p:sp>
            <p:nvSpPr>
              <p:cNvPr id="62" name="子陵职场PPT55-1"/>
              <p:cNvSpPr/>
              <p:nvPr/>
            </p:nvSpPr>
            <p:spPr>
              <a:xfrm>
                <a:off x="2078" y="6586"/>
                <a:ext cx="3110" cy="432"/>
              </a:xfrm>
              <a:prstGeom prst="roundRect">
                <a:avLst>
                  <a:gd name="adj" fmla="val 50000"/>
                </a:avLst>
              </a:prstGeom>
              <a:gradFill>
                <a:gsLst>
                  <a:gs pos="0">
                    <a:schemeClr val="accent5">
                      <a:lumMod val="20000"/>
                      <a:lumOff val="80000"/>
                    </a:schemeClr>
                  </a:gs>
                  <a:gs pos="88000">
                    <a:schemeClr val="accent5">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3" name="子陵职场PPT55-2"/>
              <p:cNvSpPr/>
              <p:nvPr/>
            </p:nvSpPr>
            <p:spPr>
              <a:xfrm rot="16200000" flipH="1">
                <a:off x="2157" y="6661"/>
                <a:ext cx="285" cy="285"/>
              </a:xfrm>
              <a:prstGeom prst="ellipse">
                <a:avLst/>
              </a:prstGeom>
              <a:gradFill flip="none" rotWithShape="1">
                <a:gsLst>
                  <a:gs pos="0">
                    <a:schemeClr val="accent5">
                      <a:lumMod val="60000"/>
                      <a:lumOff val="40000"/>
                    </a:schemeClr>
                  </a:gs>
                  <a:gs pos="100000">
                    <a:schemeClr val="accent5"/>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4" name="子陵职场PPT55-3"/>
              <p:cNvSpPr txBox="1"/>
              <p:nvPr/>
            </p:nvSpPr>
            <p:spPr>
              <a:xfrm>
                <a:off x="2157" y="6702"/>
                <a:ext cx="285" cy="203"/>
              </a:xfrm>
              <a:prstGeom prst="rect">
                <a:avLst/>
              </a:prstGeom>
              <a:noFill/>
            </p:spPr>
            <p:txBody>
              <a:bodyPr wrap="non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4</a:t>
                </a:r>
                <a:endPar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5" name="子陵职场PPT55-4"/>
              <p:cNvSpPr txBox="1"/>
              <p:nvPr/>
            </p:nvSpPr>
            <p:spPr>
              <a:xfrm>
                <a:off x="2391" y="6609"/>
                <a:ext cx="1488" cy="3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社群私域运营</a:t>
                </a:r>
                <a:endParaRPr kumimoji="0" lang="zh-CN" altLang="en-US" sz="1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6" name="子陵职场PPT55-5"/>
              <p:cNvSpPr txBox="1"/>
              <p:nvPr/>
            </p:nvSpPr>
            <p:spPr>
              <a:xfrm>
                <a:off x="2078" y="7028"/>
                <a:ext cx="3892" cy="725"/>
              </a:xfrm>
              <a:prstGeom prst="rect">
                <a:avLst/>
              </a:prstGeom>
              <a:noFill/>
            </p:spPr>
            <p:txBody>
              <a:bodyPr wrap="square">
                <a:spAutoFit/>
              </a:bodyPr>
              <a:lstStyle/>
              <a:p>
                <a:pP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搭建私域流量池，建立企业微信社群</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50</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个，开展</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快闪群</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带货模式。</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grpSp>
        <p:nvGrpSpPr>
          <p:cNvPr id="67" name="组合 66"/>
          <p:cNvGrpSpPr/>
          <p:nvPr/>
        </p:nvGrpSpPr>
        <p:grpSpPr>
          <a:xfrm>
            <a:off x="573405" y="2650490"/>
            <a:ext cx="2521585" cy="3043555"/>
            <a:chOff x="871" y="4330"/>
            <a:chExt cx="3971" cy="4793"/>
          </a:xfrm>
        </p:grpSpPr>
        <p:grpSp>
          <p:nvGrpSpPr>
            <p:cNvPr id="68" name="组合 67"/>
            <p:cNvGrpSpPr/>
            <p:nvPr/>
          </p:nvGrpSpPr>
          <p:grpSpPr>
            <a:xfrm>
              <a:off x="895" y="4330"/>
              <a:ext cx="3892" cy="1167"/>
              <a:chOff x="2078" y="6586"/>
              <a:chExt cx="3892" cy="1167"/>
            </a:xfrm>
          </p:grpSpPr>
          <p:sp>
            <p:nvSpPr>
              <p:cNvPr id="69" name="子陵职场PPT55-1"/>
              <p:cNvSpPr/>
              <p:nvPr/>
            </p:nvSpPr>
            <p:spPr>
              <a:xfrm>
                <a:off x="2078" y="6586"/>
                <a:ext cx="3110" cy="432"/>
              </a:xfrm>
              <a:prstGeom prst="roundRect">
                <a:avLst>
                  <a:gd name="adj" fmla="val 50000"/>
                </a:avLst>
              </a:prstGeom>
              <a:gradFill>
                <a:gsLst>
                  <a:gs pos="0">
                    <a:schemeClr val="accent1">
                      <a:lumMod val="20000"/>
                      <a:lumOff val="80000"/>
                    </a:schemeClr>
                  </a:gs>
                  <a:gs pos="88000">
                    <a:schemeClr val="accent1">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0" name="子陵职场PPT55-2"/>
              <p:cNvSpPr/>
              <p:nvPr/>
            </p:nvSpPr>
            <p:spPr>
              <a:xfrm rot="16200000" flipH="1">
                <a:off x="2157" y="6661"/>
                <a:ext cx="285" cy="285"/>
              </a:xfrm>
              <a:prstGeom prst="ellipse">
                <a:avLst/>
              </a:prstGeom>
              <a:gradFill flip="none" rotWithShape="1">
                <a:gsLst>
                  <a:gs pos="0">
                    <a:schemeClr val="accent1">
                      <a:lumMod val="60000"/>
                      <a:lumOff val="40000"/>
                    </a:schemeClr>
                  </a:gs>
                  <a:gs pos="100000">
                    <a:schemeClr val="accent1"/>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1" name="子陵职场PPT55-3"/>
              <p:cNvSpPr txBox="1"/>
              <p:nvPr/>
            </p:nvSpPr>
            <p:spPr>
              <a:xfrm>
                <a:off x="2157" y="6702"/>
                <a:ext cx="285" cy="203"/>
              </a:xfrm>
              <a:prstGeom prst="rect">
                <a:avLst/>
              </a:prstGeom>
              <a:noFill/>
            </p:spPr>
            <p:txBody>
              <a:bodyPr wrap="non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1</a:t>
                </a:r>
                <a:endPar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2" name="子陵职场PPT55-4"/>
              <p:cNvSpPr txBox="1"/>
              <p:nvPr/>
            </p:nvSpPr>
            <p:spPr>
              <a:xfrm>
                <a:off x="2391" y="6609"/>
                <a:ext cx="1288" cy="3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策略与规划</a:t>
                </a:r>
                <a:endParaRPr kumimoji="0" lang="zh-CN" altLang="en-US" sz="1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6" name="子陵职场PPT55-5"/>
              <p:cNvSpPr txBox="1"/>
              <p:nvPr/>
            </p:nvSpPr>
            <p:spPr>
              <a:xfrm>
                <a:off x="2078" y="7028"/>
                <a:ext cx="3892" cy="725"/>
              </a:xfrm>
              <a:prstGeom prst="rect">
                <a:avLst/>
              </a:prstGeom>
              <a:noFill/>
            </p:spPr>
            <p:txBody>
              <a:bodyPr wrap="square">
                <a:spAutoFit/>
              </a:bodyPr>
              <a:lstStyle/>
              <a:p>
                <a:pP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制定全年运营日历；完成竞品分析；确定</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A/B test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框架及关键指标拆解。</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77" name="组合 76"/>
            <p:cNvGrpSpPr/>
            <p:nvPr/>
          </p:nvGrpSpPr>
          <p:grpSpPr>
            <a:xfrm>
              <a:off x="895" y="5539"/>
              <a:ext cx="3892" cy="1167"/>
              <a:chOff x="2078" y="6586"/>
              <a:chExt cx="3892" cy="1167"/>
            </a:xfrm>
          </p:grpSpPr>
          <p:sp>
            <p:nvSpPr>
              <p:cNvPr id="80" name="子陵职场PPT55-1"/>
              <p:cNvSpPr/>
              <p:nvPr/>
            </p:nvSpPr>
            <p:spPr>
              <a:xfrm>
                <a:off x="2078" y="6586"/>
                <a:ext cx="3110" cy="432"/>
              </a:xfrm>
              <a:prstGeom prst="roundRect">
                <a:avLst>
                  <a:gd name="adj" fmla="val 50000"/>
                </a:avLst>
              </a:prstGeom>
              <a:gradFill>
                <a:gsLst>
                  <a:gs pos="0">
                    <a:schemeClr val="accent1">
                      <a:lumMod val="20000"/>
                      <a:lumOff val="80000"/>
                    </a:schemeClr>
                  </a:gs>
                  <a:gs pos="88000">
                    <a:schemeClr val="accent1">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1" name="子陵职场PPT55-2"/>
              <p:cNvSpPr/>
              <p:nvPr/>
            </p:nvSpPr>
            <p:spPr>
              <a:xfrm rot="16200000" flipH="1">
                <a:off x="2157" y="6661"/>
                <a:ext cx="285" cy="285"/>
              </a:xfrm>
              <a:prstGeom prst="ellipse">
                <a:avLst/>
              </a:prstGeom>
              <a:gradFill flip="none" rotWithShape="1">
                <a:gsLst>
                  <a:gs pos="0">
                    <a:schemeClr val="accent1">
                      <a:lumMod val="60000"/>
                      <a:lumOff val="40000"/>
                    </a:schemeClr>
                  </a:gs>
                  <a:gs pos="100000">
                    <a:schemeClr val="accent1"/>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2" name="子陵职场PPT55-3"/>
              <p:cNvSpPr txBox="1"/>
              <p:nvPr/>
            </p:nvSpPr>
            <p:spPr>
              <a:xfrm>
                <a:off x="2157" y="6702"/>
                <a:ext cx="285" cy="203"/>
              </a:xfrm>
              <a:prstGeom prst="rect">
                <a:avLst/>
              </a:prstGeom>
              <a:noFill/>
            </p:spPr>
            <p:txBody>
              <a:bodyPr wrap="non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2</a:t>
                </a:r>
                <a:endPar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3" name="子陵职场PPT55-4"/>
              <p:cNvSpPr txBox="1"/>
              <p:nvPr/>
            </p:nvSpPr>
            <p:spPr>
              <a:xfrm>
                <a:off x="2391" y="6609"/>
                <a:ext cx="1488" cy="3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线上活动运营</a:t>
                </a:r>
                <a:endParaRPr kumimoji="0" lang="zh-CN" altLang="en-US" sz="1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4" name="子陵职场PPT55-5"/>
              <p:cNvSpPr txBox="1"/>
              <p:nvPr/>
            </p:nvSpPr>
            <p:spPr>
              <a:xfrm>
                <a:off x="2078" y="7028"/>
                <a:ext cx="3892" cy="725"/>
              </a:xfrm>
              <a:prstGeom prst="rect">
                <a:avLst/>
              </a:prstGeom>
              <a:noFill/>
            </p:spPr>
            <p:txBody>
              <a:bodyPr wrap="square">
                <a:spAutoFit/>
              </a:bodyPr>
              <a:lstStyle/>
              <a:p>
                <a:pP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开展</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新春不打烊</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活动；针对节后返工潮推出</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开工利是</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主题活动。</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86" name="组合 85"/>
            <p:cNvGrpSpPr/>
            <p:nvPr/>
          </p:nvGrpSpPr>
          <p:grpSpPr>
            <a:xfrm>
              <a:off x="871" y="6748"/>
              <a:ext cx="3892" cy="1167"/>
              <a:chOff x="2078" y="6586"/>
              <a:chExt cx="3892" cy="1167"/>
            </a:xfrm>
          </p:grpSpPr>
          <p:sp>
            <p:nvSpPr>
              <p:cNvPr id="87" name="子陵职场PPT55-1"/>
              <p:cNvSpPr/>
              <p:nvPr/>
            </p:nvSpPr>
            <p:spPr>
              <a:xfrm>
                <a:off x="2078" y="6586"/>
                <a:ext cx="3110" cy="432"/>
              </a:xfrm>
              <a:prstGeom prst="roundRect">
                <a:avLst>
                  <a:gd name="adj" fmla="val 50000"/>
                </a:avLst>
              </a:prstGeom>
              <a:gradFill>
                <a:gsLst>
                  <a:gs pos="0">
                    <a:schemeClr val="accent1">
                      <a:lumMod val="20000"/>
                      <a:lumOff val="80000"/>
                    </a:schemeClr>
                  </a:gs>
                  <a:gs pos="88000">
                    <a:schemeClr val="accent1">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8" name="子陵职场PPT55-2"/>
              <p:cNvSpPr/>
              <p:nvPr/>
            </p:nvSpPr>
            <p:spPr>
              <a:xfrm rot="16200000" flipH="1">
                <a:off x="2157" y="6661"/>
                <a:ext cx="285" cy="285"/>
              </a:xfrm>
              <a:prstGeom prst="ellipse">
                <a:avLst/>
              </a:prstGeom>
              <a:gradFill flip="none" rotWithShape="1">
                <a:gsLst>
                  <a:gs pos="0">
                    <a:schemeClr val="accent1">
                      <a:lumMod val="60000"/>
                      <a:lumOff val="40000"/>
                    </a:schemeClr>
                  </a:gs>
                  <a:gs pos="100000">
                    <a:schemeClr val="accent1"/>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9" name="子陵职场PPT55-3"/>
              <p:cNvSpPr txBox="1"/>
              <p:nvPr/>
            </p:nvSpPr>
            <p:spPr>
              <a:xfrm>
                <a:off x="2157" y="6702"/>
                <a:ext cx="285" cy="203"/>
              </a:xfrm>
              <a:prstGeom prst="rect">
                <a:avLst/>
              </a:prstGeom>
              <a:noFill/>
            </p:spPr>
            <p:txBody>
              <a:bodyPr wrap="non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3</a:t>
                </a:r>
                <a:endPar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0" name="子陵职场PPT55-4"/>
              <p:cNvSpPr txBox="1"/>
              <p:nvPr/>
            </p:nvSpPr>
            <p:spPr>
              <a:xfrm>
                <a:off x="2391" y="6609"/>
                <a:ext cx="1088" cy="3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用户运营</a:t>
                </a:r>
                <a:endParaRPr kumimoji="0" lang="zh-CN" altLang="en-US" sz="1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1" name="子陵职场PPT55-5"/>
              <p:cNvSpPr txBox="1"/>
              <p:nvPr/>
            </p:nvSpPr>
            <p:spPr>
              <a:xfrm>
                <a:off x="2078" y="7028"/>
                <a:ext cx="3892" cy="725"/>
              </a:xfrm>
              <a:prstGeom prst="rect">
                <a:avLst/>
              </a:prstGeom>
              <a:noFill/>
            </p:spPr>
            <p:txBody>
              <a:bodyPr wrap="square">
                <a:spAutoFit/>
              </a:bodyPr>
              <a:lstStyle/>
              <a:p>
                <a:pP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完成存量用户标签清洗；搭建新用户欢迎流（</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Welcome Flow</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）自动化触达体系。</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92" name="组合 91"/>
            <p:cNvGrpSpPr/>
            <p:nvPr/>
          </p:nvGrpSpPr>
          <p:grpSpPr>
            <a:xfrm>
              <a:off x="950" y="7957"/>
              <a:ext cx="3892" cy="1167"/>
              <a:chOff x="2078" y="6586"/>
              <a:chExt cx="3892" cy="1167"/>
            </a:xfrm>
          </p:grpSpPr>
          <p:sp>
            <p:nvSpPr>
              <p:cNvPr id="93" name="子陵职场PPT55-1"/>
              <p:cNvSpPr/>
              <p:nvPr/>
            </p:nvSpPr>
            <p:spPr>
              <a:xfrm>
                <a:off x="2078" y="6586"/>
                <a:ext cx="3110" cy="432"/>
              </a:xfrm>
              <a:prstGeom prst="roundRect">
                <a:avLst>
                  <a:gd name="adj" fmla="val 50000"/>
                </a:avLst>
              </a:prstGeom>
              <a:gradFill>
                <a:gsLst>
                  <a:gs pos="0">
                    <a:schemeClr val="accent1">
                      <a:lumMod val="20000"/>
                      <a:lumOff val="80000"/>
                    </a:schemeClr>
                  </a:gs>
                  <a:gs pos="88000">
                    <a:schemeClr val="accent1">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5" name="子陵职场PPT55-2"/>
              <p:cNvSpPr/>
              <p:nvPr/>
            </p:nvSpPr>
            <p:spPr>
              <a:xfrm rot="16200000" flipH="1">
                <a:off x="2157" y="6661"/>
                <a:ext cx="285" cy="285"/>
              </a:xfrm>
              <a:prstGeom prst="ellipse">
                <a:avLst/>
              </a:prstGeom>
              <a:gradFill flip="none" rotWithShape="1">
                <a:gsLst>
                  <a:gs pos="0">
                    <a:schemeClr val="accent1">
                      <a:lumMod val="60000"/>
                      <a:lumOff val="40000"/>
                    </a:schemeClr>
                  </a:gs>
                  <a:gs pos="100000">
                    <a:schemeClr val="accent1"/>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6" name="子陵职场PPT55-3"/>
              <p:cNvSpPr txBox="1"/>
              <p:nvPr/>
            </p:nvSpPr>
            <p:spPr>
              <a:xfrm>
                <a:off x="2157" y="6702"/>
                <a:ext cx="285" cy="203"/>
              </a:xfrm>
              <a:prstGeom prst="rect">
                <a:avLst/>
              </a:prstGeom>
              <a:noFill/>
            </p:spPr>
            <p:txBody>
              <a:bodyPr wrap="non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4</a:t>
                </a:r>
                <a:endPar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7" name="子陵职场PPT55-4"/>
              <p:cNvSpPr txBox="1"/>
              <p:nvPr/>
            </p:nvSpPr>
            <p:spPr>
              <a:xfrm>
                <a:off x="2391" y="6609"/>
                <a:ext cx="1288" cy="3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产品与内容</a:t>
                </a:r>
                <a:endParaRPr kumimoji="0" lang="zh-CN" altLang="en-US" sz="1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8" name="子陵职场PPT55-5"/>
              <p:cNvSpPr txBox="1"/>
              <p:nvPr/>
            </p:nvSpPr>
            <p:spPr>
              <a:xfrm>
                <a:off x="2078" y="7028"/>
                <a:ext cx="3892" cy="725"/>
              </a:xfrm>
              <a:prstGeom prst="rect">
                <a:avLst/>
              </a:prstGeom>
              <a:noFill/>
            </p:spPr>
            <p:txBody>
              <a:bodyPr wrap="square">
                <a:spAutoFit/>
              </a:bodyPr>
              <a:lstStyle/>
              <a:p>
                <a:pP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迭代核心功能模块</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10</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处；搭建内容素材库，产出</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SOP</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标准操作流程</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20</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套。</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grpSp>
        <p:nvGrpSpPr>
          <p:cNvPr id="99" name="组合 98"/>
          <p:cNvGrpSpPr/>
          <p:nvPr/>
        </p:nvGrpSpPr>
        <p:grpSpPr>
          <a:xfrm>
            <a:off x="9086850" y="2650490"/>
            <a:ext cx="2521585" cy="3044190"/>
            <a:chOff x="871" y="4330"/>
            <a:chExt cx="3971" cy="4794"/>
          </a:xfrm>
        </p:grpSpPr>
        <p:grpSp>
          <p:nvGrpSpPr>
            <p:cNvPr id="100" name="组合 99"/>
            <p:cNvGrpSpPr/>
            <p:nvPr/>
          </p:nvGrpSpPr>
          <p:grpSpPr>
            <a:xfrm>
              <a:off x="895" y="4330"/>
              <a:ext cx="3892" cy="1167"/>
              <a:chOff x="2078" y="6586"/>
              <a:chExt cx="3892" cy="1167"/>
            </a:xfrm>
          </p:grpSpPr>
          <p:sp>
            <p:nvSpPr>
              <p:cNvPr id="101" name="子陵职场PPT55-1"/>
              <p:cNvSpPr/>
              <p:nvPr/>
            </p:nvSpPr>
            <p:spPr>
              <a:xfrm>
                <a:off x="2078" y="6586"/>
                <a:ext cx="3110" cy="432"/>
              </a:xfrm>
              <a:prstGeom prst="roundRect">
                <a:avLst>
                  <a:gd name="adj" fmla="val 50000"/>
                </a:avLst>
              </a:prstGeom>
              <a:gradFill>
                <a:gsLst>
                  <a:gs pos="0">
                    <a:schemeClr val="accent5">
                      <a:lumMod val="20000"/>
                      <a:lumOff val="80000"/>
                    </a:schemeClr>
                  </a:gs>
                  <a:gs pos="88000">
                    <a:schemeClr val="accent5">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2" name="子陵职场PPT55-2"/>
              <p:cNvSpPr/>
              <p:nvPr/>
            </p:nvSpPr>
            <p:spPr>
              <a:xfrm rot="16200000" flipH="1">
                <a:off x="2157" y="6661"/>
                <a:ext cx="285" cy="285"/>
              </a:xfrm>
              <a:prstGeom prst="ellipse">
                <a:avLst/>
              </a:prstGeom>
              <a:gradFill flip="none" rotWithShape="1">
                <a:gsLst>
                  <a:gs pos="0">
                    <a:schemeClr val="accent5">
                      <a:lumMod val="60000"/>
                      <a:lumOff val="40000"/>
                    </a:schemeClr>
                  </a:gs>
                  <a:gs pos="100000">
                    <a:schemeClr val="accent5"/>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3" name="子陵职场PPT55-3"/>
              <p:cNvSpPr txBox="1"/>
              <p:nvPr/>
            </p:nvSpPr>
            <p:spPr>
              <a:xfrm>
                <a:off x="2157" y="6702"/>
                <a:ext cx="285" cy="203"/>
              </a:xfrm>
              <a:prstGeom prst="rect">
                <a:avLst/>
              </a:prstGeom>
              <a:noFill/>
            </p:spPr>
            <p:txBody>
              <a:bodyPr wrap="non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1</a:t>
                </a:r>
                <a:endPar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4" name="子陵职场PPT55-4"/>
              <p:cNvSpPr txBox="1"/>
              <p:nvPr/>
            </p:nvSpPr>
            <p:spPr>
              <a:xfrm>
                <a:off x="2391" y="6609"/>
                <a:ext cx="1088" cy="3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年终大促</a:t>
                </a:r>
                <a:endParaRPr kumimoji="0" lang="zh-CN" altLang="en-US" sz="1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5" name="子陵职场PPT55-5"/>
              <p:cNvSpPr txBox="1"/>
              <p:nvPr/>
            </p:nvSpPr>
            <p:spPr>
              <a:xfrm>
                <a:off x="2078" y="7028"/>
                <a:ext cx="3892" cy="725"/>
              </a:xfrm>
              <a:prstGeom prst="rect">
                <a:avLst/>
              </a:prstGeom>
              <a:noFill/>
            </p:spPr>
            <p:txBody>
              <a:bodyPr wrap="square">
                <a:spAutoFit/>
              </a:bodyPr>
              <a:lstStyle/>
              <a:p>
                <a:pP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统筹</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双</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11”</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双</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12”</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年货节</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三大战役。联合明星</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头部主播直播带货。</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106" name="组合 105"/>
            <p:cNvGrpSpPr/>
            <p:nvPr/>
          </p:nvGrpSpPr>
          <p:grpSpPr>
            <a:xfrm>
              <a:off x="895" y="5539"/>
              <a:ext cx="3892" cy="986"/>
              <a:chOff x="2078" y="6586"/>
              <a:chExt cx="3892" cy="986"/>
            </a:xfrm>
          </p:grpSpPr>
          <p:sp>
            <p:nvSpPr>
              <p:cNvPr id="107" name="子陵职场PPT55-1"/>
              <p:cNvSpPr/>
              <p:nvPr/>
            </p:nvSpPr>
            <p:spPr>
              <a:xfrm>
                <a:off x="2078" y="6586"/>
                <a:ext cx="3110" cy="432"/>
              </a:xfrm>
              <a:prstGeom prst="roundRect">
                <a:avLst>
                  <a:gd name="adj" fmla="val 50000"/>
                </a:avLst>
              </a:prstGeom>
              <a:gradFill>
                <a:gsLst>
                  <a:gs pos="0">
                    <a:schemeClr val="accent5">
                      <a:lumMod val="20000"/>
                      <a:lumOff val="80000"/>
                    </a:schemeClr>
                  </a:gs>
                  <a:gs pos="88000">
                    <a:schemeClr val="accent5">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8" name="子陵职场PPT55-2"/>
              <p:cNvSpPr/>
              <p:nvPr/>
            </p:nvSpPr>
            <p:spPr>
              <a:xfrm rot="16200000" flipH="1">
                <a:off x="2157" y="6661"/>
                <a:ext cx="285" cy="285"/>
              </a:xfrm>
              <a:prstGeom prst="ellipse">
                <a:avLst/>
              </a:prstGeom>
              <a:gradFill flip="none" rotWithShape="1">
                <a:gsLst>
                  <a:gs pos="0">
                    <a:schemeClr val="accent5">
                      <a:lumMod val="60000"/>
                      <a:lumOff val="40000"/>
                    </a:schemeClr>
                  </a:gs>
                  <a:gs pos="100000">
                    <a:schemeClr val="accent5"/>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9" name="子陵职场PPT55-3"/>
              <p:cNvSpPr txBox="1"/>
              <p:nvPr/>
            </p:nvSpPr>
            <p:spPr>
              <a:xfrm>
                <a:off x="2157" y="6702"/>
                <a:ext cx="285" cy="203"/>
              </a:xfrm>
              <a:prstGeom prst="rect">
                <a:avLst/>
              </a:prstGeom>
              <a:noFill/>
            </p:spPr>
            <p:txBody>
              <a:bodyPr wrap="non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2</a:t>
                </a:r>
                <a:endPar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0" name="子陵职场PPT55-4"/>
              <p:cNvSpPr txBox="1"/>
              <p:nvPr/>
            </p:nvSpPr>
            <p:spPr>
              <a:xfrm>
                <a:off x="2391" y="6609"/>
                <a:ext cx="1088" cy="3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用户沉淀</a:t>
                </a:r>
                <a:endParaRPr kumimoji="0" lang="zh-CN" altLang="en-US" sz="1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1" name="子陵职场PPT55-5"/>
              <p:cNvSpPr txBox="1"/>
              <p:nvPr/>
            </p:nvSpPr>
            <p:spPr>
              <a:xfrm>
                <a:off x="2078" y="7028"/>
                <a:ext cx="3892" cy="544"/>
              </a:xfrm>
              <a:prstGeom prst="rect">
                <a:avLst/>
              </a:prstGeom>
              <a:noFill/>
            </p:spPr>
            <p:txBody>
              <a:bodyPr wrap="square">
                <a:spAutoFit/>
              </a:bodyPr>
              <a:lstStyle/>
              <a:p>
                <a:pP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推出年度会员</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付费会员卡（</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VIP</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）体系；进行年度用户答谢与积分清零活动。</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112" name="组合 111"/>
            <p:cNvGrpSpPr/>
            <p:nvPr/>
          </p:nvGrpSpPr>
          <p:grpSpPr>
            <a:xfrm>
              <a:off x="871" y="6748"/>
              <a:ext cx="3892" cy="1167"/>
              <a:chOff x="2078" y="6586"/>
              <a:chExt cx="3892" cy="1167"/>
            </a:xfrm>
          </p:grpSpPr>
          <p:sp>
            <p:nvSpPr>
              <p:cNvPr id="122" name="子陵职场PPT55-1"/>
              <p:cNvSpPr/>
              <p:nvPr/>
            </p:nvSpPr>
            <p:spPr>
              <a:xfrm>
                <a:off x="2078" y="6586"/>
                <a:ext cx="3110" cy="432"/>
              </a:xfrm>
              <a:prstGeom prst="roundRect">
                <a:avLst>
                  <a:gd name="adj" fmla="val 50000"/>
                </a:avLst>
              </a:prstGeom>
              <a:gradFill>
                <a:gsLst>
                  <a:gs pos="0">
                    <a:schemeClr val="accent5">
                      <a:lumMod val="20000"/>
                      <a:lumOff val="80000"/>
                    </a:schemeClr>
                  </a:gs>
                  <a:gs pos="88000">
                    <a:schemeClr val="accent5">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3" name="子陵职场PPT55-2"/>
              <p:cNvSpPr/>
              <p:nvPr/>
            </p:nvSpPr>
            <p:spPr>
              <a:xfrm rot="16200000" flipH="1">
                <a:off x="2157" y="6661"/>
                <a:ext cx="285" cy="285"/>
              </a:xfrm>
              <a:prstGeom prst="ellipse">
                <a:avLst/>
              </a:prstGeom>
              <a:gradFill flip="none" rotWithShape="1">
                <a:gsLst>
                  <a:gs pos="0">
                    <a:schemeClr val="accent5">
                      <a:lumMod val="60000"/>
                      <a:lumOff val="40000"/>
                    </a:schemeClr>
                  </a:gs>
                  <a:gs pos="100000">
                    <a:schemeClr val="accent5"/>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6" name="子陵职场PPT55-3"/>
              <p:cNvSpPr txBox="1"/>
              <p:nvPr/>
            </p:nvSpPr>
            <p:spPr>
              <a:xfrm>
                <a:off x="2157" y="6702"/>
                <a:ext cx="285" cy="203"/>
              </a:xfrm>
              <a:prstGeom prst="rect">
                <a:avLst/>
              </a:prstGeom>
              <a:noFill/>
            </p:spPr>
            <p:txBody>
              <a:bodyPr wrap="non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3</a:t>
                </a:r>
                <a:endPar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2" name="子陵职场PPT55-4"/>
              <p:cNvSpPr txBox="1"/>
              <p:nvPr/>
            </p:nvSpPr>
            <p:spPr>
              <a:xfrm>
                <a:off x="2391" y="6609"/>
                <a:ext cx="1088" cy="3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团队建设</a:t>
                </a:r>
                <a:endParaRPr kumimoji="0" lang="zh-CN" altLang="en-US" sz="1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4" name="子陵职场PPT55-5"/>
              <p:cNvSpPr txBox="1"/>
              <p:nvPr/>
            </p:nvSpPr>
            <p:spPr>
              <a:xfrm>
                <a:off x="2078" y="7028"/>
                <a:ext cx="3892" cy="725"/>
              </a:xfrm>
              <a:prstGeom prst="rect">
                <a:avLst/>
              </a:prstGeom>
              <a:noFill/>
            </p:spPr>
            <p:txBody>
              <a:bodyPr wrap="square">
                <a:spAutoFit/>
              </a:bodyPr>
              <a:lstStyle/>
              <a:p>
                <a:pP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复盘全年数据，沉淀方法论（</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SOP</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）；优化运营工具链；制定人才盘点与预算。</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155" name="组合 154"/>
            <p:cNvGrpSpPr/>
            <p:nvPr/>
          </p:nvGrpSpPr>
          <p:grpSpPr>
            <a:xfrm>
              <a:off x="950" y="7957"/>
              <a:ext cx="3892" cy="1167"/>
              <a:chOff x="2078" y="6586"/>
              <a:chExt cx="3892" cy="1167"/>
            </a:xfrm>
          </p:grpSpPr>
          <p:sp>
            <p:nvSpPr>
              <p:cNvPr id="156" name="子陵职场PPT55-1"/>
              <p:cNvSpPr/>
              <p:nvPr/>
            </p:nvSpPr>
            <p:spPr>
              <a:xfrm>
                <a:off x="2078" y="6586"/>
                <a:ext cx="3110" cy="432"/>
              </a:xfrm>
              <a:prstGeom prst="roundRect">
                <a:avLst>
                  <a:gd name="adj" fmla="val 50000"/>
                </a:avLst>
              </a:prstGeom>
              <a:gradFill>
                <a:gsLst>
                  <a:gs pos="0">
                    <a:schemeClr val="accent5">
                      <a:lumMod val="20000"/>
                      <a:lumOff val="80000"/>
                    </a:schemeClr>
                  </a:gs>
                  <a:gs pos="88000">
                    <a:schemeClr val="accent5">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7" name="子陵职场PPT55-2"/>
              <p:cNvSpPr/>
              <p:nvPr/>
            </p:nvSpPr>
            <p:spPr>
              <a:xfrm rot="16200000" flipH="1">
                <a:off x="2157" y="6661"/>
                <a:ext cx="285" cy="285"/>
              </a:xfrm>
              <a:prstGeom prst="ellipse">
                <a:avLst/>
              </a:prstGeom>
              <a:gradFill flip="none" rotWithShape="1">
                <a:gsLst>
                  <a:gs pos="0">
                    <a:schemeClr val="accent5">
                      <a:lumMod val="60000"/>
                      <a:lumOff val="40000"/>
                    </a:schemeClr>
                  </a:gs>
                  <a:gs pos="100000">
                    <a:schemeClr val="accent5"/>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2" name="子陵职场PPT55-3"/>
              <p:cNvSpPr txBox="1"/>
              <p:nvPr/>
            </p:nvSpPr>
            <p:spPr>
              <a:xfrm>
                <a:off x="2157" y="6702"/>
                <a:ext cx="285" cy="203"/>
              </a:xfrm>
              <a:prstGeom prst="rect">
                <a:avLst/>
              </a:prstGeom>
              <a:noFill/>
            </p:spPr>
            <p:txBody>
              <a:bodyPr wrap="non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4</a:t>
                </a:r>
                <a:endParaRPr kumimoji="0" lang="en-US" altLang="zh-CN" sz="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3" name="子陵职场PPT55-4"/>
              <p:cNvSpPr txBox="1"/>
              <p:nvPr/>
            </p:nvSpPr>
            <p:spPr>
              <a:xfrm>
                <a:off x="2391" y="6609"/>
                <a:ext cx="1088" cy="3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收官布局</a:t>
                </a:r>
                <a:endParaRPr kumimoji="0" lang="zh-CN" altLang="en-US" sz="1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4" name="子陵职场PPT55-5"/>
              <p:cNvSpPr txBox="1"/>
              <p:nvPr/>
            </p:nvSpPr>
            <p:spPr>
              <a:xfrm>
                <a:off x="2078" y="7028"/>
                <a:ext cx="3892" cy="725"/>
              </a:xfrm>
              <a:prstGeom prst="rect">
                <a:avLst/>
              </a:prstGeom>
              <a:noFill/>
            </p:spPr>
            <p:txBody>
              <a:bodyPr wrap="square">
                <a:spAutoFit/>
              </a:bodyPr>
              <a:lstStyle/>
              <a:p>
                <a:pP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发布年度用户报告（</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H5</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），制造社交裂变；进行跨部门年终复盘会。</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cxnSp>
        <p:nvCxnSpPr>
          <p:cNvPr id="94"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13" name="组合 112"/>
          <p:cNvGrpSpPr/>
          <p:nvPr/>
        </p:nvGrpSpPr>
        <p:grpSpPr>
          <a:xfrm>
            <a:off x="8738235" y="348615"/>
            <a:ext cx="3219450" cy="332740"/>
            <a:chOff x="13761" y="549"/>
            <a:chExt cx="5070" cy="524"/>
          </a:xfrm>
        </p:grpSpPr>
        <p:pic>
          <p:nvPicPr>
            <p:cNvPr id="116" name="图片 115"/>
            <p:cNvPicPr>
              <a:picLocks noChangeAspect="1"/>
            </p:cNvPicPr>
            <p:nvPr userDrawn="1"/>
          </p:nvPicPr>
          <p:blipFill>
            <a:blip r:embed="rId7"/>
            <a:srcRect l="17002" t="-1765" r="56499" b="-1176"/>
            <a:stretch>
              <a:fillRect/>
            </a:stretch>
          </p:blipFill>
          <p:spPr>
            <a:xfrm>
              <a:off x="13761" y="549"/>
              <a:ext cx="1582" cy="525"/>
            </a:xfrm>
            <a:prstGeom prst="rect">
              <a:avLst/>
            </a:prstGeom>
          </p:spPr>
        </p:pic>
        <p:sp>
          <p:nvSpPr>
            <p:cNvPr id="119" name="文本框 118"/>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分季度重点工作回顾</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cxnSp>
        <p:nvCxnSpPr>
          <p:cNvPr id="6" name="紫荆的职场Point1"/>
          <p:cNvCxnSpPr/>
          <p:nvPr/>
        </p:nvCxnSpPr>
        <p:spPr>
          <a:xfrm>
            <a:off x="3515080" y="1770201"/>
            <a:ext cx="0" cy="4465499"/>
          </a:xfrm>
          <a:prstGeom prst="line">
            <a:avLst/>
          </a:prstGeom>
          <a:ln w="12700">
            <a:solidFill>
              <a:schemeClr val="accent6">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8" name="紫荆的职场Point2"/>
          <p:cNvCxnSpPr/>
          <p:nvPr/>
        </p:nvCxnSpPr>
        <p:spPr>
          <a:xfrm>
            <a:off x="6369760" y="1770201"/>
            <a:ext cx="0" cy="4465499"/>
          </a:xfrm>
          <a:prstGeom prst="line">
            <a:avLst/>
          </a:prstGeom>
          <a:ln w="12700">
            <a:solidFill>
              <a:schemeClr val="accent6">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48" name="紫荆的职场Point3"/>
          <p:cNvCxnSpPr/>
          <p:nvPr/>
        </p:nvCxnSpPr>
        <p:spPr>
          <a:xfrm>
            <a:off x="9224439" y="1770201"/>
            <a:ext cx="0" cy="4465499"/>
          </a:xfrm>
          <a:prstGeom prst="line">
            <a:avLst/>
          </a:prstGeom>
          <a:ln w="12700">
            <a:solidFill>
              <a:schemeClr val="accent6">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50" name="紫荆的职场Point4"/>
          <p:cNvCxnSpPr/>
          <p:nvPr/>
        </p:nvCxnSpPr>
        <p:spPr>
          <a:xfrm>
            <a:off x="660400" y="1770201"/>
            <a:ext cx="0" cy="4465499"/>
          </a:xfrm>
          <a:prstGeom prst="line">
            <a:avLst/>
          </a:prstGeom>
          <a:ln w="12700">
            <a:solidFill>
              <a:schemeClr val="accent6">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sp>
        <p:nvSpPr>
          <p:cNvPr id="51" name="紫荆的职场Point6"/>
          <p:cNvSpPr/>
          <p:nvPr/>
        </p:nvSpPr>
        <p:spPr>
          <a:xfrm>
            <a:off x="330202" y="1028700"/>
            <a:ext cx="2970080" cy="828976"/>
          </a:xfrm>
          <a:custGeom>
            <a:avLst/>
            <a:gdLst>
              <a:gd name="connsiteX0" fmla="*/ 0 w 2970080"/>
              <a:gd name="connsiteY0" fmla="*/ 0 h 828976"/>
              <a:gd name="connsiteX1" fmla="*/ 2659641 w 2970080"/>
              <a:gd name="connsiteY1" fmla="*/ 0 h 828976"/>
              <a:gd name="connsiteX2" fmla="*/ 2970080 w 2970080"/>
              <a:gd name="connsiteY2" fmla="*/ 414488 h 828976"/>
              <a:gd name="connsiteX3" fmla="*/ 2659641 w 2970080"/>
              <a:gd name="connsiteY3" fmla="*/ 828976 h 828976"/>
              <a:gd name="connsiteX4" fmla="*/ 0 w 2970080"/>
              <a:gd name="connsiteY4" fmla="*/ 828976 h 828976"/>
              <a:gd name="connsiteX5" fmla="*/ 311057 w 2970080"/>
              <a:gd name="connsiteY5" fmla="*/ 414488 h 828976"/>
              <a:gd name="connsiteX6" fmla="*/ 0 w 2970080"/>
              <a:gd name="connsiteY6" fmla="*/ 0 h 82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0080" h="828976">
                <a:moveTo>
                  <a:pt x="0" y="0"/>
                </a:moveTo>
                <a:lnTo>
                  <a:pt x="2659641" y="0"/>
                </a:lnTo>
                <a:lnTo>
                  <a:pt x="2970080" y="414488"/>
                </a:lnTo>
                <a:lnTo>
                  <a:pt x="2659641" y="828976"/>
                </a:lnTo>
                <a:lnTo>
                  <a:pt x="0" y="828976"/>
                </a:lnTo>
                <a:lnTo>
                  <a:pt x="311057" y="414488"/>
                </a:lnTo>
                <a:lnTo>
                  <a:pt x="0" y="0"/>
                </a:lnTo>
                <a:close/>
              </a:path>
            </a:pathLst>
          </a:custGeom>
          <a:gradFill>
            <a:gsLst>
              <a:gs pos="0">
                <a:schemeClr val="accent1">
                  <a:lumMod val="60000"/>
                  <a:lumOff val="40000"/>
                </a:schemeClr>
              </a:gs>
              <a:gs pos="87000">
                <a:schemeClr val="accent1"/>
              </a:gs>
            </a:gsLst>
            <a:lin ang="0" scaled="0"/>
          </a:gradFill>
          <a:ln w="19050" cap="flat">
            <a:solidFill>
              <a:schemeClr val="bg1"/>
            </a:solidFill>
            <a:prstDash val="solid"/>
            <a:miter/>
          </a:ln>
        </p:spPr>
        <p:txBody>
          <a:bodyPr vert="horz" wrap="square" lIns="91440" tIns="45720" rIns="91440" bIns="45720" numCol="1" spcCol="0" rtlCol="0" fromWordArt="0" anchor="ctr" anchorCtr="0" forceAA="0" compatLnSpc="0">
            <a:noAutofit/>
          </a:bodyPr>
          <a:lstStyle/>
          <a:p>
            <a:pPr lvl="0" algn="ctr">
              <a:buClrTx/>
              <a:buSzTx/>
              <a:buFontTx/>
            </a:pPr>
            <a:endParaRPr lang="zh-CN" altLang="en-US" sz="1200" noProof="0" dirty="0">
              <a:ln>
                <a:noFill/>
              </a:ln>
              <a:solidFill>
                <a:srgbClr val="FE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2" name="紫荆的职场Point7"/>
          <p:cNvSpPr/>
          <p:nvPr/>
        </p:nvSpPr>
        <p:spPr>
          <a:xfrm>
            <a:off x="3189516" y="1028700"/>
            <a:ext cx="2969370" cy="828976"/>
          </a:xfrm>
          <a:custGeom>
            <a:avLst/>
            <a:gdLst>
              <a:gd name="connsiteX0" fmla="*/ 0 w 2969370"/>
              <a:gd name="connsiteY0" fmla="*/ 0 h 828976"/>
              <a:gd name="connsiteX1" fmla="*/ 2658931 w 2969370"/>
              <a:gd name="connsiteY1" fmla="*/ 0 h 828976"/>
              <a:gd name="connsiteX2" fmla="*/ 2969370 w 2969370"/>
              <a:gd name="connsiteY2" fmla="*/ 414488 h 828976"/>
              <a:gd name="connsiteX3" fmla="*/ 2658931 w 2969370"/>
              <a:gd name="connsiteY3" fmla="*/ 828976 h 828976"/>
              <a:gd name="connsiteX4" fmla="*/ 0 w 2969370"/>
              <a:gd name="connsiteY4" fmla="*/ 828976 h 828976"/>
              <a:gd name="connsiteX5" fmla="*/ 310439 w 2969370"/>
              <a:gd name="connsiteY5" fmla="*/ 414488 h 828976"/>
              <a:gd name="connsiteX6" fmla="*/ 0 w 2969370"/>
              <a:gd name="connsiteY6" fmla="*/ 0 h 82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9370" h="828976">
                <a:moveTo>
                  <a:pt x="0" y="0"/>
                </a:moveTo>
                <a:lnTo>
                  <a:pt x="2658931" y="0"/>
                </a:lnTo>
                <a:lnTo>
                  <a:pt x="2969370" y="414488"/>
                </a:lnTo>
                <a:lnTo>
                  <a:pt x="2658931" y="828976"/>
                </a:lnTo>
                <a:lnTo>
                  <a:pt x="0" y="828976"/>
                </a:lnTo>
                <a:lnTo>
                  <a:pt x="310439" y="414488"/>
                </a:lnTo>
                <a:lnTo>
                  <a:pt x="0" y="0"/>
                </a:lnTo>
                <a:close/>
              </a:path>
            </a:pathLst>
          </a:custGeom>
          <a:gradFill>
            <a:gsLst>
              <a:gs pos="0">
                <a:schemeClr val="accent5">
                  <a:lumMod val="60000"/>
                  <a:lumOff val="40000"/>
                </a:schemeClr>
              </a:gs>
              <a:gs pos="87000">
                <a:schemeClr val="accent5"/>
              </a:gs>
            </a:gsLst>
            <a:lin ang="0" scaled="0"/>
          </a:gradFill>
          <a:ln w="19050" cap="flat">
            <a:solidFill>
              <a:schemeClr val="bg1"/>
            </a:solidFill>
            <a:prstDash val="solid"/>
            <a:miter/>
          </a:ln>
        </p:spPr>
        <p:txBody>
          <a:bodyPr spcFirstLastPara="0" wrap="square" lIns="91440" tIns="45720" rIns="91440" bIns="45720" rtlCol="0" anchor="ctr" anchorCtr="0">
            <a:noAutofit/>
          </a:bodyPr>
          <a:lstStyle/>
          <a:p>
            <a:pPr lvl="0" algn="ctr">
              <a:buClrTx/>
              <a:buSzTx/>
              <a:buFontTx/>
            </a:pPr>
            <a:endParaRPr lang="zh-CN" altLang="en-US" sz="1200" noProof="0" dirty="0">
              <a:ln>
                <a:noFill/>
              </a:ln>
              <a:solidFill>
                <a:srgbClr val="FE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3" name="紫荆的职场Point8"/>
          <p:cNvSpPr/>
          <p:nvPr/>
        </p:nvSpPr>
        <p:spPr>
          <a:xfrm>
            <a:off x="6048120" y="1028700"/>
            <a:ext cx="2969370" cy="828976"/>
          </a:xfrm>
          <a:custGeom>
            <a:avLst/>
            <a:gdLst>
              <a:gd name="connsiteX0" fmla="*/ 0 w 2969370"/>
              <a:gd name="connsiteY0" fmla="*/ 0 h 828976"/>
              <a:gd name="connsiteX1" fmla="*/ 2658931 w 2969370"/>
              <a:gd name="connsiteY1" fmla="*/ 0 h 828976"/>
              <a:gd name="connsiteX2" fmla="*/ 2969370 w 2969370"/>
              <a:gd name="connsiteY2" fmla="*/ 414488 h 828976"/>
              <a:gd name="connsiteX3" fmla="*/ 2658931 w 2969370"/>
              <a:gd name="connsiteY3" fmla="*/ 828976 h 828976"/>
              <a:gd name="connsiteX4" fmla="*/ 0 w 2969370"/>
              <a:gd name="connsiteY4" fmla="*/ 828976 h 828976"/>
              <a:gd name="connsiteX5" fmla="*/ 310439 w 2969370"/>
              <a:gd name="connsiteY5" fmla="*/ 414488 h 828976"/>
              <a:gd name="connsiteX6" fmla="*/ 0 w 2969370"/>
              <a:gd name="connsiteY6" fmla="*/ 0 h 82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9370" h="828976">
                <a:moveTo>
                  <a:pt x="0" y="0"/>
                </a:moveTo>
                <a:lnTo>
                  <a:pt x="2658931" y="0"/>
                </a:lnTo>
                <a:lnTo>
                  <a:pt x="2969370" y="414488"/>
                </a:lnTo>
                <a:lnTo>
                  <a:pt x="2658931" y="828976"/>
                </a:lnTo>
                <a:lnTo>
                  <a:pt x="0" y="828976"/>
                </a:lnTo>
                <a:lnTo>
                  <a:pt x="310439" y="414488"/>
                </a:lnTo>
                <a:lnTo>
                  <a:pt x="0" y="0"/>
                </a:lnTo>
                <a:close/>
              </a:path>
            </a:pathLst>
          </a:custGeom>
          <a:gradFill>
            <a:gsLst>
              <a:gs pos="0">
                <a:schemeClr val="accent1">
                  <a:lumMod val="60000"/>
                  <a:lumOff val="40000"/>
                </a:schemeClr>
              </a:gs>
              <a:gs pos="87000">
                <a:schemeClr val="accent1"/>
              </a:gs>
            </a:gsLst>
            <a:lin ang="0" scaled="0"/>
          </a:gradFill>
          <a:ln w="19050" cap="flat">
            <a:solidFill>
              <a:schemeClr val="bg1"/>
            </a:solidFill>
            <a:prstDash val="solid"/>
            <a:miter/>
          </a:ln>
        </p:spPr>
        <p:txBody>
          <a:bodyPr vert="horz" wrap="square" lIns="91440" tIns="45720" rIns="91440" bIns="45720" numCol="1" spcCol="0" rtlCol="0" fromWordArt="0" anchor="ctr" anchorCtr="0" forceAA="0" compatLnSpc="0">
            <a:noAutofit/>
          </a:bodyPr>
          <a:lstStyle/>
          <a:p>
            <a:pPr lvl="0" algn="ctr">
              <a:buClrTx/>
              <a:buSzTx/>
              <a:buFontTx/>
            </a:pPr>
            <a:endParaRPr lang="zh-CN" altLang="en-US" sz="1200" noProof="0" dirty="0">
              <a:ln>
                <a:noFill/>
              </a:ln>
              <a:solidFill>
                <a:srgbClr val="FE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4" name="紫荆的职场Point9"/>
          <p:cNvSpPr/>
          <p:nvPr/>
        </p:nvSpPr>
        <p:spPr>
          <a:xfrm>
            <a:off x="8906724" y="1028700"/>
            <a:ext cx="2972009" cy="828976"/>
          </a:xfrm>
          <a:custGeom>
            <a:avLst/>
            <a:gdLst>
              <a:gd name="connsiteX0" fmla="*/ 0 w 2972009"/>
              <a:gd name="connsiteY0" fmla="*/ 0 h 828976"/>
              <a:gd name="connsiteX1" fmla="*/ 2660952 w 2972009"/>
              <a:gd name="connsiteY1" fmla="*/ 0 h 828976"/>
              <a:gd name="connsiteX2" fmla="*/ 2972009 w 2972009"/>
              <a:gd name="connsiteY2" fmla="*/ 414488 h 828976"/>
              <a:gd name="connsiteX3" fmla="*/ 2660952 w 2972009"/>
              <a:gd name="connsiteY3" fmla="*/ 828976 h 828976"/>
              <a:gd name="connsiteX4" fmla="*/ 0 w 2972009"/>
              <a:gd name="connsiteY4" fmla="*/ 828976 h 828976"/>
              <a:gd name="connsiteX5" fmla="*/ 310439 w 2972009"/>
              <a:gd name="connsiteY5" fmla="*/ 414488 h 828976"/>
              <a:gd name="connsiteX6" fmla="*/ 0 w 2972009"/>
              <a:gd name="connsiteY6" fmla="*/ 0 h 82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2009" h="828976">
                <a:moveTo>
                  <a:pt x="0" y="0"/>
                </a:moveTo>
                <a:lnTo>
                  <a:pt x="2660952" y="0"/>
                </a:lnTo>
                <a:lnTo>
                  <a:pt x="2972009" y="414488"/>
                </a:lnTo>
                <a:lnTo>
                  <a:pt x="2660952" y="828976"/>
                </a:lnTo>
                <a:lnTo>
                  <a:pt x="0" y="828976"/>
                </a:lnTo>
                <a:lnTo>
                  <a:pt x="310439" y="414488"/>
                </a:lnTo>
                <a:lnTo>
                  <a:pt x="0" y="0"/>
                </a:lnTo>
                <a:close/>
              </a:path>
            </a:pathLst>
          </a:custGeom>
          <a:gradFill>
            <a:gsLst>
              <a:gs pos="0">
                <a:schemeClr val="accent5">
                  <a:lumMod val="60000"/>
                  <a:lumOff val="40000"/>
                </a:schemeClr>
              </a:gs>
              <a:gs pos="87000">
                <a:schemeClr val="accent5"/>
              </a:gs>
            </a:gsLst>
            <a:lin ang="0" scaled="0"/>
          </a:gradFill>
          <a:ln w="19050" cap="flat">
            <a:solidFill>
              <a:schemeClr val="bg1"/>
            </a:solidFill>
            <a:prstDash val="solid"/>
            <a:miter/>
          </a:ln>
        </p:spPr>
        <p:txBody>
          <a:bodyPr spcFirstLastPara="0" vert="horz" wrap="square" lIns="91440" tIns="45720" rIns="91440" bIns="45720" numCol="1" spcCol="0" rtlCol="0" fromWordArt="0" anchor="ctr" anchorCtr="0" forceAA="0" compatLnSpc="0">
            <a:noAutofit/>
          </a:bodyPr>
          <a:lstStyle/>
          <a:p>
            <a:pPr lvl="0" algn="ctr">
              <a:buClrTx/>
              <a:buSzTx/>
              <a:buFontTx/>
            </a:pPr>
            <a:endParaRPr lang="zh-CN" altLang="en-US" sz="1200" noProof="0" dirty="0">
              <a:ln>
                <a:noFill/>
              </a:ln>
              <a:solidFill>
                <a:srgbClr val="FE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5" name="紫荆的职场Point10"/>
          <p:cNvSpPr txBox="1"/>
          <p:nvPr/>
        </p:nvSpPr>
        <p:spPr>
          <a:xfrm>
            <a:off x="809402" y="1147596"/>
            <a:ext cx="2011680" cy="591185"/>
          </a:xfrm>
          <a:prstGeom prst="rect">
            <a:avLst/>
          </a:prstGeom>
          <a:noFill/>
        </p:spPr>
        <p:txBody>
          <a:bodyPr wrap="none">
            <a:spAutoFit/>
          </a:bodyPr>
          <a:lstStyle/>
          <a:p>
            <a:pPr algn="ctr">
              <a:spcAft>
                <a:spcPts val="300"/>
              </a:spcAft>
            </a:pPr>
            <a:r>
              <a:rPr lang="zh-CN" altLang="en-US" b="1" dirty="0">
                <a:solidFill>
                  <a:schemeClr val="bg1"/>
                </a:solidFill>
                <a:latin typeface="微软雅黑" panose="020B0503020204020204" charset="-122"/>
                <a:ea typeface="微软雅黑" panose="020B0503020204020204" charset="-122"/>
                <a:cs typeface="微软雅黑" panose="020B0503020204020204" charset="-122"/>
              </a:rPr>
              <a:t>第一季度工作重点</a:t>
            </a:r>
            <a:endParaRPr lang="en-US" altLang="zh-CN" b="1" dirty="0">
              <a:solidFill>
                <a:schemeClr val="bg1"/>
              </a:solidFill>
              <a:latin typeface="微软雅黑" panose="020B0503020204020204" charset="-122"/>
              <a:ea typeface="微软雅黑" panose="020B0503020204020204" charset="-122"/>
              <a:cs typeface="微软雅黑" panose="020B0503020204020204" charset="-122"/>
            </a:endParaRPr>
          </a:p>
          <a:p>
            <a:pPr algn="ctr">
              <a:spcAft>
                <a:spcPts val="300"/>
              </a:spcAft>
            </a:pPr>
            <a:r>
              <a:rPr lang="en-US" altLang="zh-CN" sz="1200" dirty="0">
                <a:solidFill>
                  <a:schemeClr val="bg1"/>
                </a:solidFill>
                <a:latin typeface="微软雅黑" panose="020B0503020204020204" charset="-122"/>
                <a:ea typeface="微软雅黑" panose="020B0503020204020204" charset="-122"/>
                <a:cs typeface="微软雅黑" panose="020B0503020204020204" charset="-122"/>
              </a:rPr>
              <a:t>2026</a:t>
            </a: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年</a:t>
            </a:r>
            <a:r>
              <a:rPr lang="en-US" altLang="zh-CN" sz="1200" dirty="0">
                <a:solidFill>
                  <a:schemeClr val="bg1"/>
                </a:solidFill>
                <a:latin typeface="微软雅黑" panose="020B0503020204020204" charset="-122"/>
                <a:ea typeface="微软雅黑" panose="020B0503020204020204" charset="-122"/>
                <a:cs typeface="微软雅黑" panose="020B0503020204020204" charset="-122"/>
              </a:rPr>
              <a:t>1</a:t>
            </a: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月</a:t>
            </a:r>
            <a:r>
              <a:rPr lang="en-US" altLang="zh-CN" sz="1200" dirty="0">
                <a:solidFill>
                  <a:schemeClr val="bg1"/>
                </a:solidFill>
                <a:latin typeface="微软雅黑" panose="020B0503020204020204" charset="-122"/>
                <a:ea typeface="微软雅黑" panose="020B0503020204020204" charset="-122"/>
                <a:cs typeface="微软雅黑" panose="020B0503020204020204" charset="-122"/>
              </a:rPr>
              <a:t>-2026</a:t>
            </a: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年</a:t>
            </a:r>
            <a:r>
              <a:rPr lang="en-US" altLang="zh-CN" sz="1200" dirty="0">
                <a:solidFill>
                  <a:schemeClr val="bg1"/>
                </a:solidFill>
                <a:latin typeface="微软雅黑" panose="020B0503020204020204" charset="-122"/>
                <a:ea typeface="微软雅黑" panose="020B0503020204020204" charset="-122"/>
                <a:cs typeface="微软雅黑" panose="020B0503020204020204" charset="-122"/>
              </a:rPr>
              <a:t>3</a:t>
            </a: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6" name="紫荆的职场Point11"/>
          <p:cNvSpPr txBox="1"/>
          <p:nvPr/>
        </p:nvSpPr>
        <p:spPr>
          <a:xfrm>
            <a:off x="3668361" y="1147596"/>
            <a:ext cx="2011680" cy="591185"/>
          </a:xfrm>
          <a:prstGeom prst="rect">
            <a:avLst/>
          </a:prstGeom>
          <a:noFill/>
        </p:spPr>
        <p:txBody>
          <a:bodyPr wrap="none">
            <a:spAutoFit/>
          </a:bodyPr>
          <a:lstStyle/>
          <a:p>
            <a:pPr algn="ctr">
              <a:spcAft>
                <a:spcPts val="300"/>
              </a:spcAft>
            </a:pPr>
            <a:r>
              <a:rPr lang="zh-CN" altLang="en-US" b="1" dirty="0">
                <a:solidFill>
                  <a:schemeClr val="bg1"/>
                </a:solidFill>
                <a:latin typeface="微软雅黑" panose="020B0503020204020204" charset="-122"/>
                <a:ea typeface="微软雅黑" panose="020B0503020204020204" charset="-122"/>
                <a:cs typeface="微软雅黑" panose="020B0503020204020204" charset="-122"/>
              </a:rPr>
              <a:t>第二季度工作重点</a:t>
            </a:r>
            <a:endParaRPr lang="en-US" altLang="zh-CN" b="1" dirty="0">
              <a:solidFill>
                <a:schemeClr val="bg1"/>
              </a:solidFill>
              <a:latin typeface="微软雅黑" panose="020B0503020204020204" charset="-122"/>
              <a:ea typeface="微软雅黑" panose="020B0503020204020204" charset="-122"/>
              <a:cs typeface="微软雅黑" panose="020B0503020204020204" charset="-122"/>
            </a:endParaRPr>
          </a:p>
          <a:p>
            <a:pPr algn="ctr">
              <a:spcAft>
                <a:spcPts val="300"/>
              </a:spcAft>
            </a:pPr>
            <a:r>
              <a:rPr lang="en-US" altLang="zh-CN" sz="1200" dirty="0">
                <a:solidFill>
                  <a:schemeClr val="bg1"/>
                </a:solidFill>
                <a:latin typeface="微软雅黑" panose="020B0503020204020204" charset="-122"/>
                <a:ea typeface="微软雅黑" panose="020B0503020204020204" charset="-122"/>
                <a:cs typeface="微软雅黑" panose="020B0503020204020204" charset="-122"/>
              </a:rPr>
              <a:t>2026</a:t>
            </a: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年</a:t>
            </a:r>
            <a:r>
              <a:rPr lang="en-US" altLang="zh-CN" sz="1200" dirty="0">
                <a:solidFill>
                  <a:schemeClr val="bg1"/>
                </a:solidFill>
                <a:latin typeface="微软雅黑" panose="020B0503020204020204" charset="-122"/>
                <a:ea typeface="微软雅黑" panose="020B0503020204020204" charset="-122"/>
                <a:cs typeface="微软雅黑" panose="020B0503020204020204" charset="-122"/>
              </a:rPr>
              <a:t>4</a:t>
            </a: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月</a:t>
            </a:r>
            <a:r>
              <a:rPr lang="en-US" altLang="zh-CN" sz="1200" dirty="0">
                <a:solidFill>
                  <a:schemeClr val="bg1"/>
                </a:solidFill>
                <a:latin typeface="微软雅黑" panose="020B0503020204020204" charset="-122"/>
                <a:ea typeface="微软雅黑" panose="020B0503020204020204" charset="-122"/>
                <a:cs typeface="微软雅黑" panose="020B0503020204020204" charset="-122"/>
              </a:rPr>
              <a:t>-2026</a:t>
            </a: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年</a:t>
            </a:r>
            <a:r>
              <a:rPr lang="en-US" altLang="zh-CN" sz="1200" dirty="0">
                <a:solidFill>
                  <a:schemeClr val="bg1"/>
                </a:solidFill>
                <a:latin typeface="微软雅黑" panose="020B0503020204020204" charset="-122"/>
                <a:ea typeface="微软雅黑" panose="020B0503020204020204" charset="-122"/>
                <a:cs typeface="微软雅黑" panose="020B0503020204020204" charset="-122"/>
              </a:rPr>
              <a:t>6</a:t>
            </a: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7" name="紫荆的职场Point12"/>
          <p:cNvSpPr txBox="1"/>
          <p:nvPr/>
        </p:nvSpPr>
        <p:spPr>
          <a:xfrm>
            <a:off x="6526965" y="1147596"/>
            <a:ext cx="2011680" cy="591185"/>
          </a:xfrm>
          <a:prstGeom prst="rect">
            <a:avLst/>
          </a:prstGeom>
          <a:noFill/>
        </p:spPr>
        <p:txBody>
          <a:bodyPr wrap="none">
            <a:spAutoFit/>
          </a:bodyPr>
          <a:lstStyle/>
          <a:p>
            <a:pPr algn="ctr">
              <a:spcAft>
                <a:spcPts val="300"/>
              </a:spcAft>
            </a:pPr>
            <a:r>
              <a:rPr lang="zh-CN" altLang="en-US" b="1" dirty="0">
                <a:solidFill>
                  <a:schemeClr val="bg1"/>
                </a:solidFill>
                <a:latin typeface="微软雅黑" panose="020B0503020204020204" charset="-122"/>
                <a:ea typeface="微软雅黑" panose="020B0503020204020204" charset="-122"/>
                <a:cs typeface="微软雅黑" panose="020B0503020204020204" charset="-122"/>
              </a:rPr>
              <a:t>第三季度工作重点</a:t>
            </a:r>
            <a:endParaRPr lang="en-US" altLang="zh-CN" sz="2000" b="1" dirty="0">
              <a:solidFill>
                <a:schemeClr val="bg1"/>
              </a:solidFill>
              <a:latin typeface="微软雅黑" panose="020B0503020204020204" charset="-122"/>
              <a:ea typeface="微软雅黑" panose="020B0503020204020204" charset="-122"/>
              <a:cs typeface="微软雅黑" panose="020B0503020204020204" charset="-122"/>
            </a:endParaRPr>
          </a:p>
          <a:p>
            <a:pPr algn="ctr">
              <a:spcAft>
                <a:spcPts val="300"/>
              </a:spcAft>
            </a:pPr>
            <a:r>
              <a:rPr lang="en-US" altLang="zh-CN" sz="1200" dirty="0">
                <a:solidFill>
                  <a:schemeClr val="bg1"/>
                </a:solidFill>
                <a:latin typeface="微软雅黑" panose="020B0503020204020204" charset="-122"/>
                <a:ea typeface="微软雅黑" panose="020B0503020204020204" charset="-122"/>
                <a:cs typeface="微软雅黑" panose="020B0503020204020204" charset="-122"/>
              </a:rPr>
              <a:t>2026</a:t>
            </a: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年</a:t>
            </a:r>
            <a:r>
              <a:rPr lang="en-US" altLang="zh-CN" sz="1200" dirty="0">
                <a:solidFill>
                  <a:schemeClr val="bg1"/>
                </a:solidFill>
                <a:latin typeface="微软雅黑" panose="020B0503020204020204" charset="-122"/>
                <a:ea typeface="微软雅黑" panose="020B0503020204020204" charset="-122"/>
                <a:cs typeface="微软雅黑" panose="020B0503020204020204" charset="-122"/>
              </a:rPr>
              <a:t>7</a:t>
            </a: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月</a:t>
            </a:r>
            <a:r>
              <a:rPr lang="en-US" altLang="zh-CN" sz="1200" dirty="0">
                <a:solidFill>
                  <a:schemeClr val="bg1"/>
                </a:solidFill>
                <a:latin typeface="微软雅黑" panose="020B0503020204020204" charset="-122"/>
                <a:ea typeface="微软雅黑" panose="020B0503020204020204" charset="-122"/>
                <a:cs typeface="微软雅黑" panose="020B0503020204020204" charset="-122"/>
              </a:rPr>
              <a:t>-2026</a:t>
            </a: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年</a:t>
            </a:r>
            <a:r>
              <a:rPr lang="en-US" altLang="zh-CN" sz="1200" dirty="0">
                <a:solidFill>
                  <a:schemeClr val="bg1"/>
                </a:solidFill>
                <a:latin typeface="微软雅黑" panose="020B0503020204020204" charset="-122"/>
                <a:ea typeface="微软雅黑" panose="020B0503020204020204" charset="-122"/>
                <a:cs typeface="微软雅黑" panose="020B0503020204020204" charset="-122"/>
              </a:rPr>
              <a:t>9</a:t>
            </a: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8" name="紫荆的职场Point13"/>
          <p:cNvSpPr txBox="1"/>
          <p:nvPr/>
        </p:nvSpPr>
        <p:spPr>
          <a:xfrm>
            <a:off x="9386889" y="1147596"/>
            <a:ext cx="2011680" cy="591185"/>
          </a:xfrm>
          <a:prstGeom prst="rect">
            <a:avLst/>
          </a:prstGeom>
          <a:noFill/>
        </p:spPr>
        <p:txBody>
          <a:bodyPr wrap="none">
            <a:spAutoFit/>
          </a:bodyPr>
          <a:lstStyle/>
          <a:p>
            <a:pPr algn="ctr">
              <a:spcAft>
                <a:spcPts val="300"/>
              </a:spcAft>
            </a:pPr>
            <a:r>
              <a:rPr lang="zh-CN" altLang="en-US" b="1" dirty="0">
                <a:solidFill>
                  <a:schemeClr val="bg1"/>
                </a:solidFill>
                <a:latin typeface="微软雅黑" panose="020B0503020204020204" charset="-122"/>
                <a:ea typeface="微软雅黑" panose="020B0503020204020204" charset="-122"/>
                <a:cs typeface="微软雅黑" panose="020B0503020204020204" charset="-122"/>
              </a:rPr>
              <a:t>第四季度工作重点</a:t>
            </a:r>
            <a:endParaRPr lang="en-US" altLang="zh-CN" b="1" dirty="0">
              <a:solidFill>
                <a:schemeClr val="bg1"/>
              </a:solidFill>
              <a:latin typeface="微软雅黑" panose="020B0503020204020204" charset="-122"/>
              <a:ea typeface="微软雅黑" panose="020B0503020204020204" charset="-122"/>
              <a:cs typeface="微软雅黑" panose="020B0503020204020204" charset="-122"/>
            </a:endParaRPr>
          </a:p>
          <a:p>
            <a:pPr algn="ctr">
              <a:spcAft>
                <a:spcPts val="300"/>
              </a:spcAft>
            </a:pPr>
            <a:r>
              <a:rPr lang="en-US" altLang="zh-CN" sz="1200" dirty="0">
                <a:solidFill>
                  <a:schemeClr val="bg1"/>
                </a:solidFill>
                <a:latin typeface="微软雅黑" panose="020B0503020204020204" charset="-122"/>
                <a:ea typeface="微软雅黑" panose="020B0503020204020204" charset="-122"/>
                <a:cs typeface="微软雅黑" panose="020B0503020204020204" charset="-122"/>
              </a:rPr>
              <a:t>2026</a:t>
            </a: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年</a:t>
            </a:r>
            <a:r>
              <a:rPr lang="en-US" altLang="zh-CN" sz="1200" dirty="0">
                <a:solidFill>
                  <a:schemeClr val="bg1"/>
                </a:solidFill>
                <a:latin typeface="微软雅黑" panose="020B0503020204020204" charset="-122"/>
                <a:ea typeface="微软雅黑" panose="020B0503020204020204" charset="-122"/>
                <a:cs typeface="微软雅黑" panose="020B0503020204020204" charset="-122"/>
              </a:rPr>
              <a:t>10</a:t>
            </a: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月</a:t>
            </a:r>
            <a:r>
              <a:rPr lang="en-US" altLang="zh-CN" sz="1200" dirty="0">
                <a:solidFill>
                  <a:schemeClr val="bg1"/>
                </a:solidFill>
                <a:latin typeface="微软雅黑" panose="020B0503020204020204" charset="-122"/>
                <a:ea typeface="微软雅黑" panose="020B0503020204020204" charset="-122"/>
                <a:cs typeface="微软雅黑" panose="020B0503020204020204" charset="-122"/>
              </a:rPr>
              <a:t>-2026</a:t>
            </a: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年</a:t>
            </a:r>
            <a:r>
              <a:rPr lang="en-US" altLang="zh-CN" sz="1200" dirty="0">
                <a:solidFill>
                  <a:schemeClr val="bg1"/>
                </a:solidFill>
                <a:latin typeface="微软雅黑" panose="020B0503020204020204" charset="-122"/>
                <a:ea typeface="微软雅黑" panose="020B0503020204020204" charset="-122"/>
                <a:cs typeface="微软雅黑" panose="020B0503020204020204" charset="-122"/>
              </a:rPr>
              <a:t>12</a:t>
            </a: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cxnSp>
        <p:nvCxnSpPr>
          <p:cNvPr id="59" name="紫荆的职场Point14"/>
          <p:cNvCxnSpPr/>
          <p:nvPr/>
        </p:nvCxnSpPr>
        <p:spPr>
          <a:xfrm>
            <a:off x="660400" y="2882349"/>
            <a:ext cx="11127409" cy="0"/>
          </a:xfrm>
          <a:prstGeom prst="line">
            <a:avLst/>
          </a:prstGeom>
          <a:ln w="12700">
            <a:solidFill>
              <a:schemeClr val="accent6">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61" name="紫荆的职场Point15"/>
          <p:cNvCxnSpPr/>
          <p:nvPr/>
        </p:nvCxnSpPr>
        <p:spPr>
          <a:xfrm>
            <a:off x="660400" y="4000133"/>
            <a:ext cx="11127409" cy="0"/>
          </a:xfrm>
          <a:prstGeom prst="line">
            <a:avLst/>
          </a:prstGeom>
          <a:ln w="12700">
            <a:solidFill>
              <a:schemeClr val="accent6">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62" name="紫荆的职场Point16"/>
          <p:cNvCxnSpPr/>
          <p:nvPr/>
        </p:nvCxnSpPr>
        <p:spPr>
          <a:xfrm>
            <a:off x="660400" y="5117917"/>
            <a:ext cx="11127409" cy="0"/>
          </a:xfrm>
          <a:prstGeom prst="line">
            <a:avLst/>
          </a:prstGeom>
          <a:ln w="12700">
            <a:solidFill>
              <a:schemeClr val="accent6">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64" name="紫荆的职场Point17"/>
          <p:cNvCxnSpPr/>
          <p:nvPr/>
        </p:nvCxnSpPr>
        <p:spPr>
          <a:xfrm>
            <a:off x="182880" y="6235700"/>
            <a:ext cx="11604929" cy="0"/>
          </a:xfrm>
          <a:prstGeom prst="line">
            <a:avLst/>
          </a:prstGeom>
          <a:noFill/>
          <a:ln w="41275">
            <a:gradFill flip="none" rotWithShape="1">
              <a:gsLst>
                <a:gs pos="46000">
                  <a:schemeClr val="accent1"/>
                </a:gs>
                <a:gs pos="100000">
                  <a:schemeClr val="accent1">
                    <a:alpha val="0"/>
                  </a:schemeClr>
                </a:gs>
              </a:gsLst>
              <a:lin ang="10800000" scaled="1"/>
              <a:tileRect/>
            </a:gradFill>
            <a:tailEnd type="arrow" w="med" len="sm"/>
          </a:ln>
          <a:effectLst/>
        </p:spPr>
        <p:style>
          <a:lnRef idx="2">
            <a:schemeClr val="accent1">
              <a:shade val="50000"/>
            </a:schemeClr>
          </a:lnRef>
          <a:fillRef idx="1">
            <a:schemeClr val="accent1"/>
          </a:fillRef>
          <a:effectRef idx="0">
            <a:schemeClr val="accent1"/>
          </a:effectRef>
          <a:fontRef idx="minor">
            <a:schemeClr val="lt1"/>
          </a:fontRef>
        </p:style>
      </p:cxnSp>
      <p:sp>
        <p:nvSpPr>
          <p:cNvPr id="65" name="紫荆的职场Point18"/>
          <p:cNvSpPr>
            <a:spLocks noChangeAspect="1"/>
          </p:cNvSpPr>
          <p:nvPr/>
        </p:nvSpPr>
        <p:spPr>
          <a:xfrm>
            <a:off x="573509" y="2239007"/>
            <a:ext cx="180000" cy="180000"/>
          </a:xfrm>
          <a:prstGeom prst="ellipse">
            <a:avLst/>
          </a:prstGeom>
          <a:gradFill flip="none" rotWithShape="1">
            <a:gsLst>
              <a:gs pos="80000">
                <a:schemeClr val="accent1"/>
              </a:gs>
              <a:gs pos="20000">
                <a:schemeClr val="accent1">
                  <a:lumMod val="60000"/>
                  <a:lumOff val="40000"/>
                </a:schemeClr>
              </a:gs>
            </a:gsLst>
            <a:path path="circle">
              <a:fillToRect r="100000" b="100000"/>
            </a:path>
            <a:tileRect l="-100000" t="-100000"/>
          </a:gra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66" name="紫荆的职场Point19"/>
          <p:cNvSpPr>
            <a:spLocks noChangeAspect="1"/>
          </p:cNvSpPr>
          <p:nvPr/>
        </p:nvSpPr>
        <p:spPr>
          <a:xfrm>
            <a:off x="573509" y="3345692"/>
            <a:ext cx="180000" cy="180000"/>
          </a:xfrm>
          <a:prstGeom prst="ellipse">
            <a:avLst/>
          </a:prstGeom>
          <a:gradFill flip="none" rotWithShape="1">
            <a:gsLst>
              <a:gs pos="80000">
                <a:schemeClr val="accent1"/>
              </a:gs>
              <a:gs pos="20000">
                <a:schemeClr val="accent1">
                  <a:lumMod val="60000"/>
                  <a:lumOff val="40000"/>
                </a:schemeClr>
              </a:gs>
            </a:gsLst>
            <a:path path="circle">
              <a:fillToRect r="100000" b="100000"/>
            </a:path>
            <a:tileRect l="-100000" t="-100000"/>
          </a:gra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71" name="紫荆的职场Point21"/>
          <p:cNvSpPr>
            <a:spLocks noChangeAspect="1"/>
          </p:cNvSpPr>
          <p:nvPr/>
        </p:nvSpPr>
        <p:spPr>
          <a:xfrm>
            <a:off x="573509" y="5559062"/>
            <a:ext cx="180000" cy="180000"/>
          </a:xfrm>
          <a:prstGeom prst="ellipse">
            <a:avLst/>
          </a:prstGeom>
          <a:gradFill flip="none" rotWithShape="1">
            <a:gsLst>
              <a:gs pos="80000">
                <a:schemeClr val="accent1"/>
              </a:gs>
              <a:gs pos="20000">
                <a:schemeClr val="accent1">
                  <a:lumMod val="60000"/>
                  <a:lumOff val="40000"/>
                </a:schemeClr>
              </a:gs>
            </a:gsLst>
            <a:path path="circle">
              <a:fillToRect r="100000" b="100000"/>
            </a:path>
            <a:tileRect l="-100000" t="-100000"/>
          </a:gra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72" name="紫荆的职场Point22"/>
          <p:cNvSpPr>
            <a:spLocks noChangeAspect="1"/>
          </p:cNvSpPr>
          <p:nvPr/>
        </p:nvSpPr>
        <p:spPr>
          <a:xfrm>
            <a:off x="3425079" y="2239007"/>
            <a:ext cx="180000" cy="180000"/>
          </a:xfrm>
          <a:prstGeom prst="ellipse">
            <a:avLst/>
          </a:prstGeom>
          <a:gradFill flip="none" rotWithShape="1">
            <a:gsLst>
              <a:gs pos="80000">
                <a:schemeClr val="accent5"/>
              </a:gs>
              <a:gs pos="20000">
                <a:schemeClr val="accent5">
                  <a:lumMod val="59000"/>
                  <a:lumOff val="41000"/>
                </a:schemeClr>
              </a:gs>
            </a:gsLst>
            <a:path path="circle">
              <a:fillToRect r="100000" b="100000"/>
            </a:path>
            <a:tileRect l="-100000" t="-100000"/>
          </a:gra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73" name="紫荆的职场Point23"/>
          <p:cNvSpPr>
            <a:spLocks noChangeAspect="1"/>
          </p:cNvSpPr>
          <p:nvPr/>
        </p:nvSpPr>
        <p:spPr>
          <a:xfrm>
            <a:off x="3425079" y="3345692"/>
            <a:ext cx="180000" cy="180000"/>
          </a:xfrm>
          <a:prstGeom prst="ellipse">
            <a:avLst/>
          </a:prstGeom>
          <a:gradFill flip="none" rotWithShape="1">
            <a:gsLst>
              <a:gs pos="80000">
                <a:schemeClr val="accent5"/>
              </a:gs>
              <a:gs pos="20000">
                <a:schemeClr val="accent5">
                  <a:lumMod val="59000"/>
                  <a:lumOff val="41000"/>
                </a:schemeClr>
              </a:gs>
            </a:gsLst>
            <a:path path="circle">
              <a:fillToRect r="100000" b="100000"/>
            </a:path>
            <a:tileRect l="-100000" t="-100000"/>
          </a:gra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74" name="紫荆的职场Point24"/>
          <p:cNvSpPr>
            <a:spLocks noChangeAspect="1"/>
          </p:cNvSpPr>
          <p:nvPr/>
        </p:nvSpPr>
        <p:spPr>
          <a:xfrm>
            <a:off x="3425079" y="4452377"/>
            <a:ext cx="180000" cy="180000"/>
          </a:xfrm>
          <a:prstGeom prst="ellipse">
            <a:avLst/>
          </a:prstGeom>
          <a:gradFill flip="none" rotWithShape="1">
            <a:gsLst>
              <a:gs pos="80000">
                <a:schemeClr val="accent5"/>
              </a:gs>
              <a:gs pos="20000">
                <a:schemeClr val="accent5">
                  <a:lumMod val="59000"/>
                  <a:lumOff val="41000"/>
                </a:schemeClr>
              </a:gs>
            </a:gsLst>
            <a:path path="circle">
              <a:fillToRect r="100000" b="100000"/>
            </a:path>
            <a:tileRect l="-100000" t="-100000"/>
          </a:gra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75" name="紫荆的职场Point25"/>
          <p:cNvSpPr>
            <a:spLocks noChangeAspect="1"/>
          </p:cNvSpPr>
          <p:nvPr/>
        </p:nvSpPr>
        <p:spPr>
          <a:xfrm>
            <a:off x="3425079" y="5559062"/>
            <a:ext cx="180000" cy="180000"/>
          </a:xfrm>
          <a:prstGeom prst="ellipse">
            <a:avLst/>
          </a:prstGeom>
          <a:gradFill flip="none" rotWithShape="1">
            <a:gsLst>
              <a:gs pos="80000">
                <a:schemeClr val="accent5"/>
              </a:gs>
              <a:gs pos="20000">
                <a:schemeClr val="accent5">
                  <a:lumMod val="59000"/>
                  <a:lumOff val="41000"/>
                </a:schemeClr>
              </a:gs>
            </a:gsLst>
            <a:path path="circle">
              <a:fillToRect r="100000" b="100000"/>
            </a:path>
            <a:tileRect l="-100000" t="-100000"/>
          </a:gra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76" name="紫荆的职场Point26"/>
          <p:cNvSpPr>
            <a:spLocks noChangeAspect="1"/>
          </p:cNvSpPr>
          <p:nvPr/>
        </p:nvSpPr>
        <p:spPr>
          <a:xfrm>
            <a:off x="6276649" y="2239007"/>
            <a:ext cx="180000" cy="180000"/>
          </a:xfrm>
          <a:prstGeom prst="ellipse">
            <a:avLst/>
          </a:prstGeom>
          <a:gradFill flip="none" rotWithShape="1">
            <a:gsLst>
              <a:gs pos="80000">
                <a:schemeClr val="accent1"/>
              </a:gs>
              <a:gs pos="20000">
                <a:schemeClr val="accent1">
                  <a:lumMod val="60000"/>
                  <a:lumOff val="40000"/>
                </a:schemeClr>
              </a:gs>
            </a:gsLst>
            <a:path path="circle">
              <a:fillToRect r="100000" b="100000"/>
            </a:path>
            <a:tileRect l="-100000" t="-100000"/>
          </a:gra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77" name="紫荆的职场Point27"/>
          <p:cNvSpPr>
            <a:spLocks noChangeAspect="1"/>
          </p:cNvSpPr>
          <p:nvPr/>
        </p:nvSpPr>
        <p:spPr>
          <a:xfrm>
            <a:off x="6276649" y="3345692"/>
            <a:ext cx="180000" cy="180000"/>
          </a:xfrm>
          <a:prstGeom prst="ellipse">
            <a:avLst/>
          </a:prstGeom>
          <a:gradFill flip="none" rotWithShape="1">
            <a:gsLst>
              <a:gs pos="80000">
                <a:schemeClr val="accent1"/>
              </a:gs>
              <a:gs pos="20000">
                <a:schemeClr val="accent1">
                  <a:lumMod val="60000"/>
                  <a:lumOff val="40000"/>
                </a:schemeClr>
              </a:gs>
            </a:gsLst>
            <a:path path="circle">
              <a:fillToRect r="100000" b="100000"/>
            </a:path>
            <a:tileRect l="-100000" t="-100000"/>
          </a:gra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78" name="紫荆的职场Point28"/>
          <p:cNvSpPr>
            <a:spLocks noChangeAspect="1"/>
          </p:cNvSpPr>
          <p:nvPr/>
        </p:nvSpPr>
        <p:spPr>
          <a:xfrm>
            <a:off x="6276649" y="4452377"/>
            <a:ext cx="180000" cy="180000"/>
          </a:xfrm>
          <a:prstGeom prst="ellipse">
            <a:avLst/>
          </a:prstGeom>
          <a:gradFill flip="none" rotWithShape="1">
            <a:gsLst>
              <a:gs pos="80000">
                <a:schemeClr val="accent1"/>
              </a:gs>
              <a:gs pos="20000">
                <a:schemeClr val="accent1">
                  <a:lumMod val="60000"/>
                  <a:lumOff val="40000"/>
                </a:schemeClr>
              </a:gs>
            </a:gsLst>
            <a:path path="circle">
              <a:fillToRect r="100000" b="100000"/>
            </a:path>
            <a:tileRect l="-100000" t="-100000"/>
          </a:gra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80" name="紫荆的职场Point30"/>
          <p:cNvSpPr>
            <a:spLocks noChangeAspect="1"/>
          </p:cNvSpPr>
          <p:nvPr/>
        </p:nvSpPr>
        <p:spPr>
          <a:xfrm>
            <a:off x="9128219" y="2239007"/>
            <a:ext cx="180000" cy="180000"/>
          </a:xfrm>
          <a:prstGeom prst="ellipse">
            <a:avLst/>
          </a:prstGeom>
          <a:gradFill flip="none" rotWithShape="1">
            <a:gsLst>
              <a:gs pos="80000">
                <a:schemeClr val="accent5"/>
              </a:gs>
              <a:gs pos="20000">
                <a:schemeClr val="accent5">
                  <a:lumMod val="59000"/>
                  <a:lumOff val="41000"/>
                </a:schemeClr>
              </a:gs>
            </a:gsLst>
            <a:path path="circle">
              <a:fillToRect r="100000" b="100000"/>
            </a:path>
            <a:tileRect l="-100000" t="-100000"/>
          </a:gra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81" name="紫荆的职场Point31"/>
          <p:cNvSpPr>
            <a:spLocks noChangeAspect="1"/>
          </p:cNvSpPr>
          <p:nvPr/>
        </p:nvSpPr>
        <p:spPr>
          <a:xfrm>
            <a:off x="9128219" y="3345692"/>
            <a:ext cx="180000" cy="180000"/>
          </a:xfrm>
          <a:prstGeom prst="ellipse">
            <a:avLst/>
          </a:prstGeom>
          <a:gradFill flip="none" rotWithShape="1">
            <a:gsLst>
              <a:gs pos="80000">
                <a:schemeClr val="accent5"/>
              </a:gs>
              <a:gs pos="20000">
                <a:schemeClr val="accent5">
                  <a:lumMod val="59000"/>
                  <a:lumOff val="41000"/>
                </a:schemeClr>
              </a:gs>
            </a:gsLst>
            <a:path path="circle">
              <a:fillToRect r="100000" b="100000"/>
            </a:path>
            <a:tileRect l="-100000" t="-100000"/>
          </a:gra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82" name="紫荆的职场Point32"/>
          <p:cNvSpPr>
            <a:spLocks noChangeAspect="1"/>
          </p:cNvSpPr>
          <p:nvPr/>
        </p:nvSpPr>
        <p:spPr>
          <a:xfrm>
            <a:off x="9128219" y="4452377"/>
            <a:ext cx="180000" cy="180000"/>
          </a:xfrm>
          <a:prstGeom prst="ellipse">
            <a:avLst/>
          </a:prstGeom>
          <a:gradFill flip="none" rotWithShape="1">
            <a:gsLst>
              <a:gs pos="80000">
                <a:schemeClr val="accent5"/>
              </a:gs>
              <a:gs pos="20000">
                <a:schemeClr val="accent5">
                  <a:lumMod val="59000"/>
                  <a:lumOff val="41000"/>
                </a:schemeClr>
              </a:gs>
            </a:gsLst>
            <a:path path="circle">
              <a:fillToRect r="100000" b="100000"/>
            </a:path>
            <a:tileRect l="-100000" t="-100000"/>
          </a:gra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83" name="紫荆的职场Point33"/>
          <p:cNvSpPr>
            <a:spLocks noChangeAspect="1"/>
          </p:cNvSpPr>
          <p:nvPr/>
        </p:nvSpPr>
        <p:spPr>
          <a:xfrm>
            <a:off x="9128219" y="5559062"/>
            <a:ext cx="180000" cy="180000"/>
          </a:xfrm>
          <a:prstGeom prst="ellipse">
            <a:avLst/>
          </a:prstGeom>
          <a:gradFill flip="none" rotWithShape="1">
            <a:gsLst>
              <a:gs pos="80000">
                <a:schemeClr val="accent5"/>
              </a:gs>
              <a:gs pos="20000">
                <a:schemeClr val="accent5">
                  <a:lumMod val="59000"/>
                  <a:lumOff val="41000"/>
                </a:schemeClr>
              </a:gs>
            </a:gsLst>
            <a:path path="circle">
              <a:fillToRect r="100000" b="100000"/>
            </a:path>
            <a:tileRect l="-100000" t="-100000"/>
          </a:gra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54" name="紫荆的职场Point23"/>
          <p:cNvSpPr>
            <a:spLocks noChangeAspect="1"/>
          </p:cNvSpPr>
          <p:nvPr/>
        </p:nvSpPr>
        <p:spPr>
          <a:xfrm>
            <a:off x="554244" y="4452497"/>
            <a:ext cx="180000" cy="180000"/>
          </a:xfrm>
          <a:prstGeom prst="ellipse">
            <a:avLst/>
          </a:prstGeom>
          <a:gradFill flip="none" rotWithShape="1">
            <a:gsLst>
              <a:gs pos="80000">
                <a:schemeClr val="accent1"/>
              </a:gs>
              <a:gs pos="20000">
                <a:schemeClr val="accent1">
                  <a:lumMod val="60000"/>
                  <a:lumOff val="40000"/>
                </a:schemeClr>
              </a:gs>
            </a:gsLst>
            <a:path path="circle">
              <a:fillToRect r="100000" b="100000"/>
            </a:path>
            <a:tileRect l="-100000" t="-100000"/>
          </a:gra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55" name="紫荆的职场Point23"/>
          <p:cNvSpPr>
            <a:spLocks noChangeAspect="1"/>
          </p:cNvSpPr>
          <p:nvPr/>
        </p:nvSpPr>
        <p:spPr>
          <a:xfrm>
            <a:off x="6276864" y="5559937"/>
            <a:ext cx="180000" cy="180000"/>
          </a:xfrm>
          <a:prstGeom prst="ellipse">
            <a:avLst/>
          </a:prstGeom>
          <a:gradFill flip="none" rotWithShape="1">
            <a:gsLst>
              <a:gs pos="80000">
                <a:schemeClr val="accent1"/>
              </a:gs>
              <a:gs pos="20000">
                <a:schemeClr val="accent1">
                  <a:lumMod val="60000"/>
                  <a:lumOff val="40000"/>
                </a:schemeClr>
              </a:gs>
            </a:gsLst>
            <a:path path="circle">
              <a:fillToRect r="100000" b="100000"/>
            </a:path>
            <a:tileRect l="-100000" t="-100000"/>
          </a:gra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nvGrpSpPr>
          <p:cNvPr id="12" name="组合 11"/>
          <p:cNvGrpSpPr/>
          <p:nvPr/>
        </p:nvGrpSpPr>
        <p:grpSpPr>
          <a:xfrm>
            <a:off x="859155" y="1994535"/>
            <a:ext cx="2386330" cy="4077335"/>
            <a:chOff x="1353" y="3141"/>
            <a:chExt cx="3758" cy="6421"/>
          </a:xfrm>
        </p:grpSpPr>
        <p:sp>
          <p:nvSpPr>
            <p:cNvPr id="85" name="紫荆的职场Point34-1"/>
            <p:cNvSpPr txBox="1"/>
            <p:nvPr/>
          </p:nvSpPr>
          <p:spPr>
            <a:xfrm>
              <a:off x="1353" y="3141"/>
              <a:ext cx="2303" cy="531"/>
            </a:xfrm>
            <a:prstGeom prst="rect">
              <a:avLst/>
            </a:prstGeom>
            <a:noFill/>
          </p:spPr>
          <p:txBody>
            <a:bodyPr wrap="none" rtlCol="0">
              <a:spAutoFit/>
            </a:bodyPr>
            <a:lstStyle/>
            <a:p>
              <a:pPr algn="l"/>
              <a:r>
                <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rPr>
                <a:t>战略规划定盘 </a:t>
              </a:r>
              <a:endPar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86" name="紫荆的职场Point34-2"/>
            <p:cNvSpPr txBox="1"/>
            <p:nvPr/>
          </p:nvSpPr>
          <p:spPr>
            <a:xfrm>
              <a:off x="1353" y="3587"/>
              <a:ext cx="3758" cy="871"/>
            </a:xfrm>
            <a:prstGeom prst="rect">
              <a:avLst/>
            </a:prstGeom>
            <a:noFill/>
          </p:spPr>
          <p:txBody>
            <a:bodyPr wrap="square">
              <a:spAutoFit/>
            </a:bodyPr>
            <a:lstStyle/>
            <a:p>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明确年度核心目标与关键任务，完成资源盘点与预算编制，确立各部门协同机制与考核标准。</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 name="紫荆的职场Point34-1"/>
            <p:cNvSpPr txBox="1"/>
            <p:nvPr/>
          </p:nvSpPr>
          <p:spPr>
            <a:xfrm>
              <a:off x="1353" y="4813"/>
              <a:ext cx="2208" cy="531"/>
            </a:xfrm>
            <a:prstGeom prst="rect">
              <a:avLst/>
            </a:prstGeom>
            <a:noFill/>
          </p:spPr>
          <p:txBody>
            <a:bodyPr wrap="none" rtlCol="0">
              <a:spAutoFit/>
            </a:bodyPr>
            <a:lstStyle/>
            <a:p>
              <a:pPr algn="l"/>
              <a:r>
                <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rPr>
                <a:t>市场开疆拓土</a:t>
              </a:r>
              <a:endPar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 name="紫荆的职场Point34-2"/>
            <p:cNvSpPr txBox="1"/>
            <p:nvPr/>
          </p:nvSpPr>
          <p:spPr>
            <a:xfrm>
              <a:off x="1353" y="5259"/>
              <a:ext cx="3758" cy="871"/>
            </a:xfrm>
            <a:prstGeom prst="rect">
              <a:avLst/>
            </a:prstGeom>
            <a:noFill/>
          </p:spPr>
          <p:txBody>
            <a:bodyPr wrap="square">
              <a:spAutoFit/>
            </a:bodyPr>
            <a:lstStyle/>
            <a:p>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聚焦重点区域与高价值客户，完成首轮渠道铺排与商务谈判，实现新增签约项目落地。</a:t>
              </a:r>
              <a:endParaRPr lang="en-US" altLang="zh-CN"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 name="紫荆的职场Point34-1"/>
            <p:cNvSpPr txBox="1"/>
            <p:nvPr/>
          </p:nvSpPr>
          <p:spPr>
            <a:xfrm>
              <a:off x="1353" y="6573"/>
              <a:ext cx="2208" cy="531"/>
            </a:xfrm>
            <a:prstGeom prst="rect">
              <a:avLst/>
            </a:prstGeom>
            <a:noFill/>
          </p:spPr>
          <p:txBody>
            <a:bodyPr wrap="none" rtlCol="0">
              <a:spAutoFit/>
            </a:bodyPr>
            <a:lstStyle/>
            <a:p>
              <a:pPr algn="l"/>
              <a:r>
                <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rPr>
                <a:t>团队整训到位</a:t>
              </a:r>
              <a:endPar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7" name="紫荆的职场Point34-2"/>
            <p:cNvSpPr txBox="1"/>
            <p:nvPr/>
          </p:nvSpPr>
          <p:spPr>
            <a:xfrm>
              <a:off x="1353" y="7019"/>
              <a:ext cx="3758" cy="871"/>
            </a:xfrm>
            <a:prstGeom prst="rect">
              <a:avLst/>
            </a:prstGeom>
            <a:noFill/>
          </p:spPr>
          <p:txBody>
            <a:bodyPr wrap="square">
              <a:spAutoFit/>
            </a:bodyPr>
            <a:lstStyle/>
            <a:p>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开展全员技能培训与人才盘点，优化组织架构与岗位配置，确保关键岗位人员到岗率达标。</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 name="紫荆的职场Point34-1"/>
            <p:cNvSpPr txBox="1"/>
            <p:nvPr/>
          </p:nvSpPr>
          <p:spPr>
            <a:xfrm>
              <a:off x="1353" y="8245"/>
              <a:ext cx="2208" cy="531"/>
            </a:xfrm>
            <a:prstGeom prst="rect">
              <a:avLst/>
            </a:prstGeom>
            <a:noFill/>
          </p:spPr>
          <p:txBody>
            <a:bodyPr wrap="none" rtlCol="0">
              <a:spAutoFit/>
            </a:bodyPr>
            <a:lstStyle/>
            <a:p>
              <a:pPr algn="l"/>
              <a:r>
                <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rPr>
                <a:t>流程体系贯通</a:t>
              </a:r>
              <a:endPar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1" name="紫荆的职场Point34-2"/>
            <p:cNvSpPr txBox="1"/>
            <p:nvPr/>
          </p:nvSpPr>
          <p:spPr>
            <a:xfrm>
              <a:off x="1353" y="8691"/>
              <a:ext cx="3758" cy="871"/>
            </a:xfrm>
            <a:prstGeom prst="rect">
              <a:avLst/>
            </a:prstGeom>
            <a:noFill/>
          </p:spPr>
          <p:txBody>
            <a:bodyPr wrap="square">
              <a:spAutoFit/>
            </a:bodyPr>
            <a:lstStyle/>
            <a:p>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梳理跨部门协作的各个堵点，升级信息化审批流程，完成制度宣贯与首轮合规性检查。</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13" name="组合 12"/>
          <p:cNvGrpSpPr/>
          <p:nvPr/>
        </p:nvGrpSpPr>
        <p:grpSpPr>
          <a:xfrm>
            <a:off x="3706495" y="1994535"/>
            <a:ext cx="2386330" cy="4077335"/>
            <a:chOff x="1341" y="3141"/>
            <a:chExt cx="3758" cy="6421"/>
          </a:xfrm>
        </p:grpSpPr>
        <p:sp>
          <p:nvSpPr>
            <p:cNvPr id="14" name="紫荆的职场Point34-1"/>
            <p:cNvSpPr txBox="1"/>
            <p:nvPr/>
          </p:nvSpPr>
          <p:spPr>
            <a:xfrm>
              <a:off x="1341" y="3141"/>
              <a:ext cx="2208" cy="531"/>
            </a:xfrm>
            <a:prstGeom prst="rect">
              <a:avLst/>
            </a:prstGeom>
            <a:noFill/>
          </p:spPr>
          <p:txBody>
            <a:bodyPr wrap="none" rtlCol="0">
              <a:spAutoFit/>
            </a:bodyPr>
            <a:lstStyle/>
            <a:p>
              <a:pPr algn="l"/>
              <a:r>
                <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rPr>
                <a:t>产品迭代提速</a:t>
              </a:r>
              <a:endPar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5" name="紫荆的职场Point34-2"/>
            <p:cNvSpPr txBox="1"/>
            <p:nvPr/>
          </p:nvSpPr>
          <p:spPr>
            <a:xfrm>
              <a:off x="1341" y="3587"/>
              <a:ext cx="3758" cy="871"/>
            </a:xfrm>
            <a:prstGeom prst="rect">
              <a:avLst/>
            </a:prstGeom>
            <a:noFill/>
          </p:spPr>
          <p:txBody>
            <a:bodyPr wrap="square">
              <a:spAutoFit/>
            </a:bodyPr>
            <a:lstStyle/>
            <a:p>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根据市场反馈快速完成核心产品功能升级，缩短研发测试周期，确保二季度新版上线。</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 name="紫荆的职场Point34-1"/>
            <p:cNvSpPr txBox="1"/>
            <p:nvPr/>
          </p:nvSpPr>
          <p:spPr>
            <a:xfrm>
              <a:off x="1341" y="4813"/>
              <a:ext cx="2208" cy="531"/>
            </a:xfrm>
            <a:prstGeom prst="rect">
              <a:avLst/>
            </a:prstGeom>
            <a:noFill/>
          </p:spPr>
          <p:txBody>
            <a:bodyPr wrap="none" rtlCol="0">
              <a:spAutoFit/>
            </a:bodyPr>
            <a:lstStyle/>
            <a:p>
              <a:pPr algn="l"/>
              <a:r>
                <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rPr>
                <a:t>重大项目破局</a:t>
              </a:r>
              <a:endPar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7" name="紫荆的职场Point34-2"/>
            <p:cNvSpPr txBox="1"/>
            <p:nvPr/>
          </p:nvSpPr>
          <p:spPr>
            <a:xfrm>
              <a:off x="1341" y="5259"/>
              <a:ext cx="3758" cy="871"/>
            </a:xfrm>
            <a:prstGeom prst="rect">
              <a:avLst/>
            </a:prstGeom>
            <a:noFill/>
          </p:spPr>
          <p:txBody>
            <a:bodyPr wrap="square">
              <a:spAutoFit/>
            </a:bodyPr>
            <a:lstStyle/>
            <a:p>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集中优势资源攻克多个标杆项目，完成关键节点的验收，形成可复制的解决方案模板。</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 name="紫荆的职场Point34-1"/>
            <p:cNvSpPr txBox="1"/>
            <p:nvPr/>
          </p:nvSpPr>
          <p:spPr>
            <a:xfrm>
              <a:off x="1341" y="6573"/>
              <a:ext cx="2208" cy="531"/>
            </a:xfrm>
            <a:prstGeom prst="rect">
              <a:avLst/>
            </a:prstGeom>
            <a:noFill/>
          </p:spPr>
          <p:txBody>
            <a:bodyPr wrap="none" rtlCol="0">
              <a:spAutoFit/>
            </a:bodyPr>
            <a:lstStyle/>
            <a:p>
              <a:pPr algn="l"/>
              <a:r>
                <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rPr>
                <a:t>效能指标优化</a:t>
              </a:r>
              <a:endPar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9" name="紫荆的职场Point34-2"/>
            <p:cNvSpPr txBox="1"/>
            <p:nvPr/>
          </p:nvSpPr>
          <p:spPr>
            <a:xfrm>
              <a:off x="1341" y="7019"/>
              <a:ext cx="3758" cy="871"/>
            </a:xfrm>
            <a:prstGeom prst="rect">
              <a:avLst/>
            </a:prstGeom>
            <a:noFill/>
          </p:spPr>
          <p:txBody>
            <a:bodyPr wrap="square">
              <a:spAutoFit/>
            </a:bodyPr>
            <a:lstStyle/>
            <a:p>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通过精益管理降低运营成本，提升人效与设备利用率，关键效能指标环比提升</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10%</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以上。</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0" name="紫荆的职场Point34-1"/>
            <p:cNvSpPr txBox="1"/>
            <p:nvPr/>
          </p:nvSpPr>
          <p:spPr>
            <a:xfrm>
              <a:off x="1341" y="8245"/>
              <a:ext cx="2208" cy="531"/>
            </a:xfrm>
            <a:prstGeom prst="rect">
              <a:avLst/>
            </a:prstGeom>
            <a:noFill/>
          </p:spPr>
          <p:txBody>
            <a:bodyPr wrap="none" rtlCol="0">
              <a:spAutoFit/>
            </a:bodyPr>
            <a:lstStyle/>
            <a:p>
              <a:pPr algn="l"/>
              <a:r>
                <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rPr>
                <a:t>风险隐患清零</a:t>
              </a:r>
              <a:endPar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21" name="紫荆的职场Point34-2"/>
            <p:cNvSpPr txBox="1"/>
            <p:nvPr/>
          </p:nvSpPr>
          <p:spPr>
            <a:xfrm>
              <a:off x="1341" y="8691"/>
              <a:ext cx="3758" cy="871"/>
            </a:xfrm>
            <a:prstGeom prst="rect">
              <a:avLst/>
            </a:prstGeom>
            <a:noFill/>
          </p:spPr>
          <p:txBody>
            <a:bodyPr wrap="square">
              <a:spAutoFit/>
            </a:bodyPr>
            <a:lstStyle/>
            <a:p>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开展安全质量专项排查工作，整改历史遗留问题，进一步完善应急预案并组织实战演练。</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22" name="组合 21"/>
          <p:cNvGrpSpPr/>
          <p:nvPr/>
        </p:nvGrpSpPr>
        <p:grpSpPr>
          <a:xfrm>
            <a:off x="6572885" y="1994535"/>
            <a:ext cx="2386330" cy="4077335"/>
            <a:chOff x="1329" y="3141"/>
            <a:chExt cx="3758" cy="6421"/>
          </a:xfrm>
        </p:grpSpPr>
        <p:sp>
          <p:nvSpPr>
            <p:cNvPr id="23" name="紫荆的职场Point34-1"/>
            <p:cNvSpPr txBox="1"/>
            <p:nvPr/>
          </p:nvSpPr>
          <p:spPr>
            <a:xfrm>
              <a:off x="1329" y="3141"/>
              <a:ext cx="2303" cy="531"/>
            </a:xfrm>
            <a:prstGeom prst="rect">
              <a:avLst/>
            </a:prstGeom>
            <a:noFill/>
          </p:spPr>
          <p:txBody>
            <a:bodyPr wrap="none" rtlCol="0">
              <a:spAutoFit/>
            </a:bodyPr>
            <a:lstStyle/>
            <a:p>
              <a:pPr algn="l"/>
              <a:r>
                <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rPr>
                <a:t>质量体系夯实 </a:t>
              </a:r>
              <a:endPar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4" name="紫荆的职场Point34-2"/>
            <p:cNvSpPr txBox="1"/>
            <p:nvPr/>
          </p:nvSpPr>
          <p:spPr>
            <a:xfrm>
              <a:off x="1329" y="3587"/>
              <a:ext cx="3758" cy="871"/>
            </a:xfrm>
            <a:prstGeom prst="rect">
              <a:avLst/>
            </a:prstGeom>
            <a:noFill/>
          </p:spPr>
          <p:txBody>
            <a:bodyPr wrap="square">
              <a:spAutoFit/>
            </a:bodyPr>
            <a:lstStyle/>
            <a:p>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推进全流程质量管控，完善供应商评估与过程抽检机制，产品合格率稳定在</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99.5%</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以上。</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5" name="紫荆的职场Point34-1"/>
            <p:cNvSpPr txBox="1"/>
            <p:nvPr/>
          </p:nvSpPr>
          <p:spPr>
            <a:xfrm>
              <a:off x="1329" y="4813"/>
              <a:ext cx="2208" cy="531"/>
            </a:xfrm>
            <a:prstGeom prst="rect">
              <a:avLst/>
            </a:prstGeom>
            <a:noFill/>
          </p:spPr>
          <p:txBody>
            <a:bodyPr wrap="none" rtlCol="0">
              <a:spAutoFit/>
            </a:bodyPr>
            <a:lstStyle/>
            <a:p>
              <a:pPr algn="l"/>
              <a:r>
                <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rPr>
                <a:t>客户价值深耕</a:t>
              </a:r>
              <a:endPar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6" name="紫荆的职场Point34-2"/>
            <p:cNvSpPr txBox="1"/>
            <p:nvPr/>
          </p:nvSpPr>
          <p:spPr>
            <a:xfrm>
              <a:off x="1329" y="5259"/>
              <a:ext cx="3758" cy="871"/>
            </a:xfrm>
            <a:prstGeom prst="rect">
              <a:avLst/>
            </a:prstGeom>
            <a:noFill/>
          </p:spPr>
          <p:txBody>
            <a:bodyPr wrap="square">
              <a:spAutoFit/>
            </a:bodyPr>
            <a:lstStyle/>
            <a:p>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实施重点客户回访计划，挖掘存量需求以提升复购率，客户满意度进一步提升，评分创历史新高。</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7" name="紫荆的职场Point34-1"/>
            <p:cNvSpPr txBox="1"/>
            <p:nvPr/>
          </p:nvSpPr>
          <p:spPr>
            <a:xfrm>
              <a:off x="1329" y="6573"/>
              <a:ext cx="2208" cy="531"/>
            </a:xfrm>
            <a:prstGeom prst="rect">
              <a:avLst/>
            </a:prstGeom>
            <a:noFill/>
          </p:spPr>
          <p:txBody>
            <a:bodyPr wrap="none" rtlCol="0">
              <a:spAutoFit/>
            </a:bodyPr>
            <a:lstStyle/>
            <a:p>
              <a:pPr algn="l"/>
              <a:r>
                <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rPr>
                <a:t>数字转型落地</a:t>
              </a:r>
              <a:endPar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8" name="紫荆的职场Point34-2"/>
            <p:cNvSpPr txBox="1"/>
            <p:nvPr/>
          </p:nvSpPr>
          <p:spPr>
            <a:xfrm>
              <a:off x="1329" y="7019"/>
              <a:ext cx="3758" cy="871"/>
            </a:xfrm>
            <a:prstGeom prst="rect">
              <a:avLst/>
            </a:prstGeom>
            <a:noFill/>
          </p:spPr>
          <p:txBody>
            <a:bodyPr wrap="square">
              <a:spAutoFit/>
            </a:bodyPr>
            <a:lstStyle/>
            <a:p>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上线智能管理平台，实现数据实时监控与分析预警，关键业务线上化率达到</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80%</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9" name="紫荆的职场Point34-1"/>
            <p:cNvSpPr txBox="1"/>
            <p:nvPr/>
          </p:nvSpPr>
          <p:spPr>
            <a:xfrm>
              <a:off x="1329" y="8245"/>
              <a:ext cx="2208" cy="531"/>
            </a:xfrm>
            <a:prstGeom prst="rect">
              <a:avLst/>
            </a:prstGeom>
            <a:noFill/>
          </p:spPr>
          <p:txBody>
            <a:bodyPr wrap="none" rtlCol="0">
              <a:spAutoFit/>
            </a:bodyPr>
            <a:lstStyle/>
            <a:p>
              <a:pPr algn="l"/>
              <a:r>
                <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rPr>
                <a:t>成本精细管控</a:t>
              </a:r>
              <a:endPar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0" name="紫荆的职场Point34-2"/>
            <p:cNvSpPr txBox="1"/>
            <p:nvPr/>
          </p:nvSpPr>
          <p:spPr>
            <a:xfrm>
              <a:off x="1329" y="8691"/>
              <a:ext cx="3758" cy="871"/>
            </a:xfrm>
            <a:prstGeom prst="rect">
              <a:avLst/>
            </a:prstGeom>
            <a:noFill/>
          </p:spPr>
          <p:txBody>
            <a:bodyPr wrap="square">
              <a:spAutoFit/>
            </a:bodyPr>
            <a:lstStyle/>
            <a:p>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推行预算动态监控与降本专项行动，通过集采与工艺优化，最终实现成本同比下降</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8%</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31" name="组合 30"/>
          <p:cNvGrpSpPr/>
          <p:nvPr/>
        </p:nvGrpSpPr>
        <p:grpSpPr>
          <a:xfrm>
            <a:off x="9412605" y="1994535"/>
            <a:ext cx="2386330" cy="3923030"/>
            <a:chOff x="1353" y="3141"/>
            <a:chExt cx="3758" cy="6178"/>
          </a:xfrm>
        </p:grpSpPr>
        <p:sp>
          <p:nvSpPr>
            <p:cNvPr id="32" name="紫荆的职场Point34-1"/>
            <p:cNvSpPr txBox="1"/>
            <p:nvPr/>
          </p:nvSpPr>
          <p:spPr>
            <a:xfrm>
              <a:off x="1353" y="3141"/>
              <a:ext cx="2208" cy="531"/>
            </a:xfrm>
            <a:prstGeom prst="rect">
              <a:avLst/>
            </a:prstGeom>
            <a:noFill/>
          </p:spPr>
          <p:txBody>
            <a:bodyPr wrap="none" rtlCol="0">
              <a:spAutoFit/>
            </a:bodyPr>
            <a:lstStyle/>
            <a:p>
              <a:pPr algn="l"/>
              <a:r>
                <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rPr>
                <a:t>目标硬账硬结</a:t>
              </a:r>
              <a:endPar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33" name="紫荆的职场Point34-2"/>
            <p:cNvSpPr txBox="1"/>
            <p:nvPr/>
          </p:nvSpPr>
          <p:spPr>
            <a:xfrm>
              <a:off x="1353" y="3587"/>
              <a:ext cx="3758" cy="871"/>
            </a:xfrm>
            <a:prstGeom prst="rect">
              <a:avLst/>
            </a:prstGeom>
            <a:noFill/>
          </p:spPr>
          <p:txBody>
            <a:bodyPr wrap="square">
              <a:spAutoFit/>
            </a:bodyPr>
            <a:lstStyle/>
            <a:p>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对照年度考核指标逐项清点，全力冲刺营收与利润目标，确保主要经营指标全面达成。</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4" name="紫荆的职场Point34-1"/>
            <p:cNvSpPr txBox="1"/>
            <p:nvPr/>
          </p:nvSpPr>
          <p:spPr>
            <a:xfrm>
              <a:off x="1353" y="4813"/>
              <a:ext cx="2208" cy="531"/>
            </a:xfrm>
            <a:prstGeom prst="rect">
              <a:avLst/>
            </a:prstGeom>
            <a:noFill/>
          </p:spPr>
          <p:txBody>
            <a:bodyPr wrap="none" rtlCol="0">
              <a:spAutoFit/>
            </a:bodyPr>
            <a:lstStyle/>
            <a:p>
              <a:pPr algn="l"/>
              <a:r>
                <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rPr>
                <a:t>标杆经验固化</a:t>
              </a:r>
              <a:endPar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35" name="紫荆的职场Point34-2"/>
            <p:cNvSpPr txBox="1"/>
            <p:nvPr/>
          </p:nvSpPr>
          <p:spPr>
            <a:xfrm>
              <a:off x="1353" y="5259"/>
              <a:ext cx="3758" cy="871"/>
            </a:xfrm>
            <a:prstGeom prst="rect">
              <a:avLst/>
            </a:prstGeom>
            <a:noFill/>
          </p:spPr>
          <p:txBody>
            <a:bodyPr wrap="square">
              <a:spAutoFit/>
            </a:bodyPr>
            <a:lstStyle/>
            <a:p>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总结重大项目的成功经验，形成标准化</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SOP</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作业手册，为明年规模化复制推广奠定基础。</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6" name="紫荆的职场Point34-1"/>
            <p:cNvSpPr txBox="1"/>
            <p:nvPr/>
          </p:nvSpPr>
          <p:spPr>
            <a:xfrm>
              <a:off x="1353" y="6573"/>
              <a:ext cx="2208" cy="531"/>
            </a:xfrm>
            <a:prstGeom prst="rect">
              <a:avLst/>
            </a:prstGeom>
            <a:noFill/>
          </p:spPr>
          <p:txBody>
            <a:bodyPr wrap="none" rtlCol="0">
              <a:spAutoFit/>
            </a:bodyPr>
            <a:lstStyle/>
            <a:p>
              <a:pPr algn="l"/>
              <a:r>
                <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rPr>
                <a:t>人才梯队建设</a:t>
              </a:r>
              <a:endPar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37" name="紫荆的职场Point34-2"/>
            <p:cNvSpPr txBox="1"/>
            <p:nvPr/>
          </p:nvSpPr>
          <p:spPr>
            <a:xfrm>
              <a:off x="1353" y="7019"/>
              <a:ext cx="3758" cy="871"/>
            </a:xfrm>
            <a:prstGeom prst="rect">
              <a:avLst/>
            </a:prstGeom>
            <a:noFill/>
          </p:spPr>
          <p:txBody>
            <a:bodyPr wrap="square">
              <a:spAutoFit/>
            </a:bodyPr>
            <a:lstStyle/>
            <a:p>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完成高潜人才盘点与晋升评审，建立关键岗位的人才后备库，培训覆盖率达</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100%</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8" name="紫荆的职场Point34-1"/>
            <p:cNvSpPr txBox="1"/>
            <p:nvPr/>
          </p:nvSpPr>
          <p:spPr>
            <a:xfrm>
              <a:off x="1353" y="8245"/>
              <a:ext cx="2208" cy="531"/>
            </a:xfrm>
            <a:prstGeom prst="rect">
              <a:avLst/>
            </a:prstGeom>
            <a:noFill/>
          </p:spPr>
          <p:txBody>
            <a:bodyPr wrap="none" rtlCol="0">
              <a:spAutoFit/>
            </a:bodyPr>
            <a:lstStyle/>
            <a:p>
              <a:pPr algn="l"/>
              <a:r>
                <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rPr>
                <a:t>明年谋篇启动</a:t>
              </a:r>
              <a:endPar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39" name="紫荆的职场Point34-2"/>
            <p:cNvSpPr txBox="1"/>
            <p:nvPr/>
          </p:nvSpPr>
          <p:spPr>
            <a:xfrm>
              <a:off x="1353" y="8691"/>
              <a:ext cx="3758" cy="628"/>
            </a:xfrm>
            <a:prstGeom prst="rect">
              <a:avLst/>
            </a:prstGeom>
            <a:noFill/>
          </p:spPr>
          <p:txBody>
            <a:bodyPr wrap="square">
              <a:spAutoFit/>
            </a:bodyPr>
            <a:lstStyle/>
            <a:p>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启动下年度战略规划工作，完成市场预研与资源预排，确保新旧年度无缝衔接。</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grpSp>
      <p:cxnSp>
        <p:nvCxnSpPr>
          <p:cNvPr id="40"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1" name="组合 40"/>
          <p:cNvGrpSpPr/>
          <p:nvPr/>
        </p:nvGrpSpPr>
        <p:grpSpPr>
          <a:xfrm>
            <a:off x="8738235" y="348615"/>
            <a:ext cx="3219450" cy="332740"/>
            <a:chOff x="13761" y="549"/>
            <a:chExt cx="5070" cy="524"/>
          </a:xfrm>
        </p:grpSpPr>
        <p:pic>
          <p:nvPicPr>
            <p:cNvPr id="42" name="图片 41"/>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43" name="文本框 42"/>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sz="2500">
                <a:solidFill>
                  <a:schemeClr val="tx2"/>
                </a:solidFill>
                <a:latin typeface="微软雅黑" panose="020B0503020204020204" charset="-122"/>
                <a:ea typeface="微软雅黑" panose="020B0503020204020204" charset="-122"/>
                <a:cs typeface="微软雅黑" panose="020B0503020204020204" charset="-122"/>
              </a:rPr>
              <a:t>项目流程汇报图</a:t>
            </a:r>
            <a:endParaRPr sz="2500" b="0">
              <a:solidFill>
                <a:schemeClr val="tx2"/>
              </a:solidFill>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1610" name="YOYOON1"/>
          <p:cNvSpPr/>
          <p:nvPr/>
        </p:nvSpPr>
        <p:spPr>
          <a:xfrm>
            <a:off x="438150" y="1280160"/>
            <a:ext cx="830580" cy="591820"/>
          </a:xfrm>
          <a:custGeom>
            <a:avLst/>
            <a:gdLst/>
            <a:ahLst/>
            <a:cxnLst>
              <a:cxn ang="0">
                <a:pos x="wd2" y="hd2"/>
              </a:cxn>
              <a:cxn ang="5400000">
                <a:pos x="wd2" y="hd2"/>
              </a:cxn>
              <a:cxn ang="10800000">
                <a:pos x="wd2" y="hd2"/>
              </a:cxn>
              <a:cxn ang="16200000">
                <a:pos x="wd2" y="hd2"/>
              </a:cxn>
            </a:cxnLst>
            <a:rect l="0" t="0" r="r" b="b"/>
            <a:pathLst>
              <a:path w="21600" h="21600" extrusionOk="0">
                <a:moveTo>
                  <a:pt x="16771" y="0"/>
                </a:moveTo>
                <a:lnTo>
                  <a:pt x="0" y="0"/>
                </a:lnTo>
                <a:lnTo>
                  <a:pt x="0" y="21600"/>
                </a:lnTo>
                <a:lnTo>
                  <a:pt x="21600" y="21600"/>
                </a:lnTo>
                <a:lnTo>
                  <a:pt x="16771" y="0"/>
                </a:lnTo>
                <a:close/>
              </a:path>
            </a:pathLst>
          </a:custGeom>
          <a:gradFill>
            <a:gsLst>
              <a:gs pos="0">
                <a:schemeClr val="accent1"/>
              </a:gs>
              <a:gs pos="100000">
                <a:schemeClr val="accent1">
                  <a:lumMod val="60000"/>
                  <a:lumOff val="40000"/>
                </a:schemeClr>
              </a:gs>
            </a:gsLst>
            <a:lin ang="2700000" scaled="0"/>
          </a:gradFill>
          <a:ln w="12700">
            <a:miter lim="400000"/>
          </a:ln>
        </p:spPr>
        <p:txBody>
          <a:bodyPr lIns="0" tIns="0" rIns="0" bIns="0" anchor="ctr">
            <a:noAutofit/>
          </a:bodyPr>
          <a:lstStyle/>
          <a:p>
            <a:pPr lvl="0" algn="l" defTabSz="1828165">
              <a:buClrTx/>
              <a:buSzTx/>
              <a:buFontTx/>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11" name="YOYOON2"/>
          <p:cNvSpPr/>
          <p:nvPr/>
        </p:nvSpPr>
        <p:spPr>
          <a:xfrm>
            <a:off x="435610" y="1972310"/>
            <a:ext cx="1280160" cy="1353820"/>
          </a:xfrm>
          <a:custGeom>
            <a:avLst/>
            <a:gdLst/>
            <a:ahLst/>
            <a:cxnLst>
              <a:cxn ang="0">
                <a:pos x="wd2" y="hd2"/>
              </a:cxn>
              <a:cxn ang="5400000">
                <a:pos x="wd2" y="hd2"/>
              </a:cxn>
              <a:cxn ang="10800000">
                <a:pos x="wd2" y="hd2"/>
              </a:cxn>
              <a:cxn ang="16200000">
                <a:pos x="wd2" y="hd2"/>
              </a:cxn>
            </a:cxnLst>
            <a:rect l="0" t="0" r="r" b="b"/>
            <a:pathLst>
              <a:path w="21600" h="21600" extrusionOk="0">
                <a:moveTo>
                  <a:pt x="14510" y="0"/>
                </a:moveTo>
                <a:lnTo>
                  <a:pt x="0" y="0"/>
                </a:lnTo>
                <a:lnTo>
                  <a:pt x="0" y="21600"/>
                </a:lnTo>
                <a:lnTo>
                  <a:pt x="21600" y="21600"/>
                </a:lnTo>
                <a:lnTo>
                  <a:pt x="14510" y="0"/>
                </a:lnTo>
                <a:close/>
              </a:path>
            </a:pathLst>
          </a:custGeom>
          <a:noFill/>
          <a:ln w="12700">
            <a:solidFill>
              <a:schemeClr val="accent1"/>
            </a:solid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12" name="YOYOON3"/>
          <p:cNvSpPr/>
          <p:nvPr/>
        </p:nvSpPr>
        <p:spPr>
          <a:xfrm>
            <a:off x="435610" y="3421380"/>
            <a:ext cx="1517015" cy="1381760"/>
          </a:xfrm>
          <a:custGeom>
            <a:avLst/>
            <a:gdLst/>
            <a:ahLst/>
            <a:cxnLst>
              <a:cxn ang="0">
                <a:pos x="wd2" y="hd2"/>
              </a:cxn>
              <a:cxn ang="5400000">
                <a:pos x="wd2" y="hd2"/>
              </a:cxn>
              <a:cxn ang="10800000">
                <a:pos x="wd2" y="hd2"/>
              </a:cxn>
              <a:cxn ang="16200000">
                <a:pos x="wd2" y="hd2"/>
              </a:cxn>
            </a:cxnLst>
            <a:rect l="0" t="0" r="r" b="b"/>
            <a:pathLst>
              <a:path w="21600" h="21600" extrusionOk="0">
                <a:moveTo>
                  <a:pt x="28" y="0"/>
                </a:moveTo>
                <a:lnTo>
                  <a:pt x="18656" y="0"/>
                </a:lnTo>
                <a:lnTo>
                  <a:pt x="21600" y="10538"/>
                </a:lnTo>
                <a:lnTo>
                  <a:pt x="18478" y="21600"/>
                </a:lnTo>
                <a:lnTo>
                  <a:pt x="0" y="21586"/>
                </a:lnTo>
                <a:lnTo>
                  <a:pt x="28" y="0"/>
                </a:lnTo>
                <a:close/>
              </a:path>
            </a:pathLst>
          </a:custGeom>
          <a:noFill/>
          <a:ln w="12700">
            <a:solidFill>
              <a:schemeClr val="accent1"/>
            </a:solid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13" name="YOYOON4"/>
          <p:cNvSpPr/>
          <p:nvPr/>
        </p:nvSpPr>
        <p:spPr>
          <a:xfrm>
            <a:off x="435610" y="4901565"/>
            <a:ext cx="1266190" cy="1416685"/>
          </a:xfrm>
          <a:custGeom>
            <a:avLst/>
            <a:gdLst/>
            <a:ahLst/>
            <a:cxnLst>
              <a:cxn ang="0">
                <a:pos x="wd2" y="hd2"/>
              </a:cxn>
              <a:cxn ang="5400000">
                <a:pos x="wd2" y="hd2"/>
              </a:cxn>
              <a:cxn ang="10800000">
                <a:pos x="wd2" y="hd2"/>
              </a:cxn>
              <a:cxn ang="16200000">
                <a:pos x="wd2" y="hd2"/>
              </a:cxn>
            </a:cxnLst>
            <a:rect l="0" t="0" r="r" b="b"/>
            <a:pathLst>
              <a:path w="21600" h="21600" extrusionOk="0">
                <a:moveTo>
                  <a:pt x="21600" y="1"/>
                </a:moveTo>
                <a:lnTo>
                  <a:pt x="66" y="0"/>
                </a:lnTo>
                <a:lnTo>
                  <a:pt x="0" y="21600"/>
                </a:lnTo>
                <a:lnTo>
                  <a:pt x="13912" y="21553"/>
                </a:lnTo>
                <a:lnTo>
                  <a:pt x="21600" y="1"/>
                </a:lnTo>
                <a:close/>
              </a:path>
            </a:pathLst>
          </a:custGeom>
          <a:noFill/>
          <a:ln w="12700">
            <a:solidFill>
              <a:schemeClr val="accent1"/>
            </a:solid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14" name="YOYOON5"/>
          <p:cNvSpPr/>
          <p:nvPr/>
        </p:nvSpPr>
        <p:spPr>
          <a:xfrm>
            <a:off x="1192530" y="1277620"/>
            <a:ext cx="2192655" cy="59372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07" y="0"/>
                </a:lnTo>
                <a:lnTo>
                  <a:pt x="21600" y="21600"/>
                </a:lnTo>
                <a:lnTo>
                  <a:pt x="1785" y="21600"/>
                </a:lnTo>
                <a:lnTo>
                  <a:pt x="0" y="0"/>
                </a:lnTo>
                <a:close/>
              </a:path>
            </a:pathLst>
          </a:custGeom>
          <a:gradFill>
            <a:gsLst>
              <a:gs pos="0">
                <a:schemeClr val="accent1"/>
              </a:gs>
              <a:gs pos="100000">
                <a:schemeClr val="accent1">
                  <a:lumMod val="60000"/>
                  <a:lumOff val="40000"/>
                </a:schemeClr>
              </a:gs>
            </a:gsLst>
            <a:lin ang="2700000" scaled="0"/>
          </a:gradFill>
          <a:ln w="12700">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15" name="YOYOON6"/>
          <p:cNvSpPr/>
          <p:nvPr/>
        </p:nvSpPr>
        <p:spPr>
          <a:xfrm>
            <a:off x="1405890" y="1969453"/>
            <a:ext cx="2426335" cy="135255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7900" y="0"/>
                </a:lnTo>
                <a:lnTo>
                  <a:pt x="21600" y="21600"/>
                </a:lnTo>
                <a:lnTo>
                  <a:pt x="3703" y="21599"/>
                </a:lnTo>
                <a:lnTo>
                  <a:pt x="0" y="0"/>
                </a:lnTo>
                <a:close/>
              </a:path>
            </a:pathLst>
          </a:custGeom>
          <a:solidFill>
            <a:schemeClr val="accent1">
              <a:lumMod val="20000"/>
              <a:lumOff val="80000"/>
              <a:alpha val="50000"/>
            </a:schemeClr>
          </a:solidFill>
          <a:ln w="12700">
            <a:no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16" name="YOYOON7"/>
          <p:cNvSpPr/>
          <p:nvPr/>
        </p:nvSpPr>
        <p:spPr>
          <a:xfrm>
            <a:off x="1840230" y="3421063"/>
            <a:ext cx="2232660" cy="1384300"/>
          </a:xfrm>
          <a:custGeom>
            <a:avLst/>
            <a:gdLst/>
            <a:ahLst/>
            <a:cxnLst>
              <a:cxn ang="0">
                <a:pos x="wd2" y="hd2"/>
              </a:cxn>
              <a:cxn ang="5400000">
                <a:pos x="wd2" y="hd2"/>
              </a:cxn>
              <a:cxn ang="10800000">
                <a:pos x="wd2" y="hd2"/>
              </a:cxn>
              <a:cxn ang="16200000">
                <a:pos x="wd2" y="hd2"/>
              </a:cxn>
            </a:cxnLst>
            <a:rect l="0" t="0" r="r" b="b"/>
            <a:pathLst>
              <a:path w="21600" h="21600" extrusionOk="0">
                <a:moveTo>
                  <a:pt x="19565" y="0"/>
                </a:moveTo>
                <a:lnTo>
                  <a:pt x="103" y="0"/>
                </a:lnTo>
                <a:lnTo>
                  <a:pt x="2148" y="10629"/>
                </a:lnTo>
                <a:lnTo>
                  <a:pt x="0" y="21565"/>
                </a:lnTo>
                <a:lnTo>
                  <a:pt x="19438" y="21600"/>
                </a:lnTo>
                <a:lnTo>
                  <a:pt x="21600" y="10586"/>
                </a:lnTo>
                <a:lnTo>
                  <a:pt x="19565" y="0"/>
                </a:lnTo>
                <a:close/>
              </a:path>
            </a:pathLst>
          </a:custGeom>
          <a:solidFill>
            <a:schemeClr val="accent1">
              <a:lumMod val="20000"/>
              <a:lumOff val="80000"/>
              <a:alpha val="50000"/>
            </a:schemeClr>
          </a:solidFill>
          <a:ln w="12700">
            <a:no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17" name="YOYOON8"/>
          <p:cNvSpPr/>
          <p:nvPr/>
        </p:nvSpPr>
        <p:spPr>
          <a:xfrm>
            <a:off x="1357630" y="4902200"/>
            <a:ext cx="2462530" cy="1414145"/>
          </a:xfrm>
          <a:custGeom>
            <a:avLst/>
            <a:gdLst/>
            <a:ahLst/>
            <a:cxnLst>
              <a:cxn ang="0">
                <a:pos x="wd2" y="hd2"/>
              </a:cxn>
              <a:cxn ang="5400000">
                <a:pos x="wd2" y="hd2"/>
              </a:cxn>
              <a:cxn ang="10800000">
                <a:pos x="wd2" y="hd2"/>
              </a:cxn>
              <a:cxn ang="16200000">
                <a:pos x="wd2" y="hd2"/>
              </a:cxn>
            </a:cxnLst>
            <a:rect l="0" t="0" r="r" b="b"/>
            <a:pathLst>
              <a:path w="21600" h="21600" extrusionOk="0">
                <a:moveTo>
                  <a:pt x="3946" y="0"/>
                </a:moveTo>
                <a:lnTo>
                  <a:pt x="21600" y="0"/>
                </a:lnTo>
                <a:lnTo>
                  <a:pt x="17669" y="21600"/>
                </a:lnTo>
                <a:lnTo>
                  <a:pt x="0" y="21585"/>
                </a:lnTo>
                <a:lnTo>
                  <a:pt x="3946" y="0"/>
                </a:lnTo>
                <a:close/>
              </a:path>
            </a:pathLst>
          </a:custGeom>
          <a:solidFill>
            <a:schemeClr val="accent1">
              <a:lumMod val="20000"/>
              <a:lumOff val="80000"/>
              <a:alpha val="50000"/>
            </a:schemeClr>
          </a:solidFill>
          <a:ln w="12700">
            <a:no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18" name="YOYOON9"/>
          <p:cNvSpPr/>
          <p:nvPr/>
        </p:nvSpPr>
        <p:spPr>
          <a:xfrm>
            <a:off x="3308985" y="1278890"/>
            <a:ext cx="2194560" cy="59309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17" y="0"/>
                </a:lnTo>
                <a:lnTo>
                  <a:pt x="21600" y="21571"/>
                </a:lnTo>
                <a:lnTo>
                  <a:pt x="1821" y="21600"/>
                </a:lnTo>
                <a:lnTo>
                  <a:pt x="0" y="0"/>
                </a:lnTo>
                <a:close/>
              </a:path>
            </a:pathLst>
          </a:custGeom>
          <a:gradFill>
            <a:gsLst>
              <a:gs pos="0">
                <a:schemeClr val="accent1"/>
              </a:gs>
              <a:gs pos="100000">
                <a:schemeClr val="accent1">
                  <a:lumMod val="60000"/>
                  <a:lumOff val="40000"/>
                </a:schemeClr>
              </a:gs>
            </a:gsLst>
            <a:lin ang="2700000" scaled="0"/>
          </a:gradFill>
          <a:ln w="12700">
            <a:miter lim="400000"/>
          </a:ln>
        </p:spPr>
        <p:txBody>
          <a:bodyPr lIns="0" tIns="0" rIns="0" bIns="0" anchor="ctr">
            <a:noAutofit/>
          </a:bodyPr>
          <a:lstStyle/>
          <a:p>
            <a:pPr lvl="0" algn="l" defTabSz="1828165">
              <a:buClrTx/>
              <a:buSzTx/>
              <a:buFontTx/>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19" name="YOYOON10"/>
          <p:cNvSpPr/>
          <p:nvPr/>
        </p:nvSpPr>
        <p:spPr>
          <a:xfrm>
            <a:off x="3522980" y="1969453"/>
            <a:ext cx="2428240" cy="1352550"/>
          </a:xfrm>
          <a:custGeom>
            <a:avLst/>
            <a:gdLst/>
            <a:ahLst/>
            <a:cxnLst>
              <a:cxn ang="0">
                <a:pos x="wd2" y="hd2"/>
              </a:cxn>
              <a:cxn ang="5400000">
                <a:pos x="wd2" y="hd2"/>
              </a:cxn>
              <a:cxn ang="10800000">
                <a:pos x="wd2" y="hd2"/>
              </a:cxn>
              <a:cxn ang="16200000">
                <a:pos x="wd2" y="hd2"/>
              </a:cxn>
            </a:cxnLst>
            <a:rect l="0" t="0" r="r" b="b"/>
            <a:pathLst>
              <a:path w="21600" h="21600" extrusionOk="0">
                <a:moveTo>
                  <a:pt x="0" y="23"/>
                </a:moveTo>
                <a:lnTo>
                  <a:pt x="3710" y="21600"/>
                </a:lnTo>
                <a:lnTo>
                  <a:pt x="21600" y="21600"/>
                </a:lnTo>
                <a:lnTo>
                  <a:pt x="17884" y="0"/>
                </a:lnTo>
                <a:lnTo>
                  <a:pt x="0" y="23"/>
                </a:lnTo>
                <a:close/>
              </a:path>
            </a:pathLst>
          </a:custGeom>
          <a:solidFill>
            <a:schemeClr val="accent1">
              <a:lumMod val="20000"/>
              <a:lumOff val="80000"/>
              <a:alpha val="50000"/>
            </a:schemeClr>
          </a:solidFill>
          <a:ln w="12700">
            <a:no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20" name="YOYOON11"/>
          <p:cNvSpPr/>
          <p:nvPr/>
        </p:nvSpPr>
        <p:spPr>
          <a:xfrm>
            <a:off x="3959225" y="3422015"/>
            <a:ext cx="2232660" cy="1382395"/>
          </a:xfrm>
          <a:custGeom>
            <a:avLst/>
            <a:gdLst/>
            <a:ahLst/>
            <a:cxnLst>
              <a:cxn ang="0">
                <a:pos x="wd2" y="hd2"/>
              </a:cxn>
              <a:cxn ang="5400000">
                <a:pos x="wd2" y="hd2"/>
              </a:cxn>
              <a:cxn ang="10800000">
                <a:pos x="wd2" y="hd2"/>
              </a:cxn>
              <a:cxn ang="16200000">
                <a:pos x="wd2" y="hd2"/>
              </a:cxn>
            </a:cxnLst>
            <a:rect l="0" t="0" r="r" b="b"/>
            <a:pathLst>
              <a:path w="21600" h="21600" extrusionOk="0">
                <a:moveTo>
                  <a:pt x="107" y="6"/>
                </a:moveTo>
                <a:lnTo>
                  <a:pt x="2118" y="10541"/>
                </a:lnTo>
                <a:lnTo>
                  <a:pt x="0" y="21600"/>
                </a:lnTo>
                <a:lnTo>
                  <a:pt x="19442" y="21600"/>
                </a:lnTo>
                <a:lnTo>
                  <a:pt x="21600" y="10594"/>
                </a:lnTo>
                <a:lnTo>
                  <a:pt x="19572" y="0"/>
                </a:lnTo>
                <a:lnTo>
                  <a:pt x="107" y="6"/>
                </a:lnTo>
                <a:close/>
              </a:path>
            </a:pathLst>
          </a:custGeom>
          <a:solidFill>
            <a:schemeClr val="accent1">
              <a:lumMod val="20000"/>
              <a:lumOff val="80000"/>
              <a:alpha val="50000"/>
            </a:schemeClr>
          </a:solidFill>
          <a:ln w="12700">
            <a:no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21" name="YOYOON12"/>
          <p:cNvSpPr/>
          <p:nvPr/>
        </p:nvSpPr>
        <p:spPr>
          <a:xfrm>
            <a:off x="3481070" y="4901883"/>
            <a:ext cx="2455545" cy="141478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3917" y="0"/>
                </a:lnTo>
                <a:lnTo>
                  <a:pt x="0" y="21588"/>
                </a:lnTo>
                <a:lnTo>
                  <a:pt x="17687" y="21600"/>
                </a:lnTo>
                <a:lnTo>
                  <a:pt x="21600" y="0"/>
                </a:lnTo>
                <a:close/>
              </a:path>
            </a:pathLst>
          </a:custGeom>
          <a:solidFill>
            <a:schemeClr val="accent1">
              <a:lumMod val="20000"/>
              <a:lumOff val="80000"/>
              <a:alpha val="50000"/>
            </a:schemeClr>
          </a:solidFill>
          <a:ln w="12700">
            <a:no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22" name="YOYOON13"/>
          <p:cNvSpPr/>
          <p:nvPr/>
        </p:nvSpPr>
        <p:spPr>
          <a:xfrm>
            <a:off x="5597525" y="4902835"/>
            <a:ext cx="2458720" cy="1413510"/>
          </a:xfrm>
          <a:custGeom>
            <a:avLst/>
            <a:gdLst/>
            <a:ahLst/>
            <a:cxnLst>
              <a:cxn ang="0">
                <a:pos x="wd2" y="hd2"/>
              </a:cxn>
              <a:cxn ang="5400000">
                <a:pos x="wd2" y="hd2"/>
              </a:cxn>
              <a:cxn ang="10800000">
                <a:pos x="wd2" y="hd2"/>
              </a:cxn>
              <a:cxn ang="16200000">
                <a:pos x="wd2" y="hd2"/>
              </a:cxn>
            </a:cxnLst>
            <a:rect l="0" t="0" r="r" b="b"/>
            <a:pathLst>
              <a:path w="21600" h="21600" extrusionOk="0">
                <a:moveTo>
                  <a:pt x="3943" y="0"/>
                </a:moveTo>
                <a:lnTo>
                  <a:pt x="0" y="21588"/>
                </a:lnTo>
                <a:lnTo>
                  <a:pt x="17676" y="21600"/>
                </a:lnTo>
                <a:lnTo>
                  <a:pt x="21600" y="7"/>
                </a:lnTo>
                <a:lnTo>
                  <a:pt x="3943" y="0"/>
                </a:lnTo>
                <a:close/>
              </a:path>
            </a:pathLst>
          </a:custGeom>
          <a:solidFill>
            <a:schemeClr val="accent5">
              <a:lumMod val="20000"/>
              <a:lumOff val="80000"/>
              <a:alpha val="50000"/>
            </a:schemeClr>
          </a:solidFill>
          <a:ln w="12700">
            <a:no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23" name="YOYOON14"/>
          <p:cNvSpPr/>
          <p:nvPr/>
        </p:nvSpPr>
        <p:spPr>
          <a:xfrm>
            <a:off x="6075680" y="3422015"/>
            <a:ext cx="2236470" cy="1381760"/>
          </a:xfrm>
          <a:custGeom>
            <a:avLst/>
            <a:gdLst/>
            <a:ahLst/>
            <a:cxnLst>
              <a:cxn ang="0">
                <a:pos x="wd2" y="hd2"/>
              </a:cxn>
              <a:cxn ang="5400000">
                <a:pos x="wd2" y="hd2"/>
              </a:cxn>
              <a:cxn ang="10800000">
                <a:pos x="wd2" y="hd2"/>
              </a:cxn>
              <a:cxn ang="16200000">
                <a:pos x="wd2" y="hd2"/>
              </a:cxn>
            </a:cxnLst>
            <a:rect l="0" t="0" r="r" b="b"/>
            <a:pathLst>
              <a:path w="21600" h="21600" extrusionOk="0">
                <a:moveTo>
                  <a:pt x="129" y="0"/>
                </a:moveTo>
                <a:lnTo>
                  <a:pt x="19591" y="0"/>
                </a:lnTo>
                <a:lnTo>
                  <a:pt x="21600" y="10601"/>
                </a:lnTo>
                <a:lnTo>
                  <a:pt x="19436" y="21600"/>
                </a:lnTo>
                <a:lnTo>
                  <a:pt x="0" y="21596"/>
                </a:lnTo>
                <a:lnTo>
                  <a:pt x="2172" y="10613"/>
                </a:lnTo>
                <a:lnTo>
                  <a:pt x="129" y="0"/>
                </a:lnTo>
                <a:close/>
              </a:path>
            </a:pathLst>
          </a:custGeom>
          <a:solidFill>
            <a:schemeClr val="accent5">
              <a:lumMod val="20000"/>
              <a:lumOff val="80000"/>
              <a:alpha val="50000"/>
            </a:schemeClr>
          </a:solidFill>
          <a:ln w="12700">
            <a:no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24" name="YOYOON15"/>
          <p:cNvSpPr/>
          <p:nvPr/>
        </p:nvSpPr>
        <p:spPr>
          <a:xfrm>
            <a:off x="5641975" y="1970405"/>
            <a:ext cx="2430145" cy="135318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7876" y="0"/>
                </a:lnTo>
                <a:lnTo>
                  <a:pt x="21600" y="21589"/>
                </a:lnTo>
                <a:lnTo>
                  <a:pt x="3712" y="21600"/>
                </a:lnTo>
                <a:lnTo>
                  <a:pt x="0" y="0"/>
                </a:lnTo>
                <a:close/>
              </a:path>
            </a:pathLst>
          </a:custGeom>
          <a:solidFill>
            <a:schemeClr val="accent5">
              <a:lumMod val="20000"/>
              <a:lumOff val="80000"/>
              <a:alpha val="50000"/>
            </a:schemeClr>
          </a:solidFill>
          <a:ln w="12700">
            <a:no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25" name="YOYOON16"/>
          <p:cNvSpPr/>
          <p:nvPr/>
        </p:nvSpPr>
        <p:spPr>
          <a:xfrm>
            <a:off x="5431155" y="1280160"/>
            <a:ext cx="2193290" cy="59309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773" y="0"/>
                </a:lnTo>
                <a:lnTo>
                  <a:pt x="21600" y="21600"/>
                </a:lnTo>
                <a:lnTo>
                  <a:pt x="1784" y="21585"/>
                </a:lnTo>
                <a:lnTo>
                  <a:pt x="0" y="0"/>
                </a:lnTo>
                <a:close/>
              </a:path>
            </a:pathLst>
          </a:custGeom>
          <a:gradFill>
            <a:gsLst>
              <a:gs pos="0">
                <a:schemeClr val="accent5"/>
              </a:gs>
              <a:gs pos="100000">
                <a:schemeClr val="accent5">
                  <a:lumMod val="60000"/>
                  <a:lumOff val="40000"/>
                </a:schemeClr>
              </a:gs>
            </a:gsLst>
            <a:lin ang="2700000" scaled="0"/>
          </a:gradFill>
          <a:ln w="12700">
            <a:miter lim="400000"/>
          </a:ln>
        </p:spPr>
        <p:txBody>
          <a:bodyPr lIns="0" tIns="0" rIns="0" bIns="0" anchor="ctr">
            <a:noAutofit/>
          </a:bodyPr>
          <a:lstStyle/>
          <a:p>
            <a:pPr lvl="0" algn="l" defTabSz="1828165">
              <a:buClrTx/>
              <a:buSzTx/>
              <a:buFontTx/>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26" name="YOYOON17"/>
          <p:cNvSpPr/>
          <p:nvPr/>
        </p:nvSpPr>
        <p:spPr>
          <a:xfrm>
            <a:off x="7549515" y="1279525"/>
            <a:ext cx="2192020" cy="59436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15" y="0"/>
                </a:lnTo>
                <a:lnTo>
                  <a:pt x="21600" y="21545"/>
                </a:lnTo>
                <a:lnTo>
                  <a:pt x="1774" y="21600"/>
                </a:lnTo>
                <a:lnTo>
                  <a:pt x="0" y="0"/>
                </a:lnTo>
                <a:close/>
              </a:path>
            </a:pathLst>
          </a:custGeom>
          <a:gradFill>
            <a:gsLst>
              <a:gs pos="0">
                <a:schemeClr val="accent5"/>
              </a:gs>
              <a:gs pos="100000">
                <a:schemeClr val="accent5">
                  <a:lumMod val="60000"/>
                  <a:lumOff val="40000"/>
                </a:schemeClr>
              </a:gs>
            </a:gsLst>
            <a:lin ang="2700000" scaled="0"/>
          </a:gradFill>
          <a:ln w="12700">
            <a:miter lim="400000"/>
          </a:ln>
        </p:spPr>
        <p:txBody>
          <a:bodyPr lIns="0" tIns="0" rIns="0" bIns="0" anchor="ctr">
            <a:noAutofit/>
          </a:bodyPr>
          <a:lstStyle/>
          <a:p>
            <a:pPr lvl="0" algn="l" defTabSz="1828165">
              <a:buClrTx/>
              <a:buSzTx/>
              <a:buFontTx/>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27" name="YOYOON18"/>
          <p:cNvSpPr/>
          <p:nvPr/>
        </p:nvSpPr>
        <p:spPr>
          <a:xfrm>
            <a:off x="7761605" y="1969770"/>
            <a:ext cx="2428240" cy="135445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7903" y="0"/>
                </a:lnTo>
                <a:lnTo>
                  <a:pt x="21600" y="21600"/>
                </a:lnTo>
                <a:lnTo>
                  <a:pt x="3706" y="21581"/>
                </a:lnTo>
                <a:lnTo>
                  <a:pt x="0" y="0"/>
                </a:lnTo>
                <a:close/>
              </a:path>
            </a:pathLst>
          </a:custGeom>
          <a:solidFill>
            <a:schemeClr val="accent5">
              <a:lumMod val="20000"/>
              <a:lumOff val="80000"/>
              <a:alpha val="50000"/>
            </a:schemeClr>
          </a:solidFill>
          <a:ln w="12700">
            <a:no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28" name="YOYOON19"/>
          <p:cNvSpPr/>
          <p:nvPr/>
        </p:nvSpPr>
        <p:spPr>
          <a:xfrm>
            <a:off x="8197215" y="3422015"/>
            <a:ext cx="2232660" cy="1381760"/>
          </a:xfrm>
          <a:custGeom>
            <a:avLst/>
            <a:gdLst/>
            <a:ahLst/>
            <a:cxnLst>
              <a:cxn ang="0">
                <a:pos x="wd2" y="hd2"/>
              </a:cxn>
              <a:cxn ang="5400000">
                <a:pos x="wd2" y="hd2"/>
              </a:cxn>
              <a:cxn ang="10800000">
                <a:pos x="wd2" y="hd2"/>
              </a:cxn>
              <a:cxn ang="16200000">
                <a:pos x="wd2" y="hd2"/>
              </a:cxn>
            </a:cxnLst>
            <a:rect l="0" t="0" r="r" b="b"/>
            <a:pathLst>
              <a:path w="21600" h="21600" extrusionOk="0">
                <a:moveTo>
                  <a:pt x="122" y="0"/>
                </a:moveTo>
                <a:lnTo>
                  <a:pt x="19589" y="0"/>
                </a:lnTo>
                <a:lnTo>
                  <a:pt x="21600" y="10640"/>
                </a:lnTo>
                <a:lnTo>
                  <a:pt x="19444" y="21600"/>
                </a:lnTo>
                <a:lnTo>
                  <a:pt x="0" y="21594"/>
                </a:lnTo>
                <a:lnTo>
                  <a:pt x="2137" y="10617"/>
                </a:lnTo>
                <a:lnTo>
                  <a:pt x="122" y="0"/>
                </a:lnTo>
                <a:close/>
              </a:path>
            </a:pathLst>
          </a:custGeom>
          <a:solidFill>
            <a:schemeClr val="accent5">
              <a:lumMod val="20000"/>
              <a:lumOff val="80000"/>
              <a:alpha val="50000"/>
            </a:schemeClr>
          </a:solidFill>
          <a:ln w="12700">
            <a:no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29" name="YOYOON20"/>
          <p:cNvSpPr/>
          <p:nvPr/>
        </p:nvSpPr>
        <p:spPr>
          <a:xfrm>
            <a:off x="7718425" y="4902200"/>
            <a:ext cx="2457450" cy="1412240"/>
          </a:xfrm>
          <a:custGeom>
            <a:avLst/>
            <a:gdLst/>
            <a:ahLst/>
            <a:cxnLst>
              <a:cxn ang="0">
                <a:pos x="wd2" y="hd2"/>
              </a:cxn>
              <a:cxn ang="5400000">
                <a:pos x="wd2" y="hd2"/>
              </a:cxn>
              <a:cxn ang="10800000">
                <a:pos x="wd2" y="hd2"/>
              </a:cxn>
              <a:cxn ang="16200000">
                <a:pos x="wd2" y="hd2"/>
              </a:cxn>
            </a:cxnLst>
            <a:rect l="0" t="0" r="r" b="b"/>
            <a:pathLst>
              <a:path w="21600" h="21600" extrusionOk="0">
                <a:moveTo>
                  <a:pt x="17669" y="21600"/>
                </a:moveTo>
                <a:lnTo>
                  <a:pt x="0" y="21599"/>
                </a:lnTo>
                <a:lnTo>
                  <a:pt x="3928" y="0"/>
                </a:lnTo>
                <a:lnTo>
                  <a:pt x="21600" y="22"/>
                </a:lnTo>
                <a:lnTo>
                  <a:pt x="17669" y="21600"/>
                </a:lnTo>
                <a:close/>
              </a:path>
            </a:pathLst>
          </a:custGeom>
          <a:solidFill>
            <a:schemeClr val="accent5">
              <a:lumMod val="20000"/>
              <a:lumOff val="80000"/>
              <a:alpha val="50000"/>
            </a:schemeClr>
          </a:solidFill>
          <a:ln w="12700">
            <a:no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30" name="YOYOON21"/>
          <p:cNvSpPr/>
          <p:nvPr/>
        </p:nvSpPr>
        <p:spPr>
          <a:xfrm>
            <a:off x="9836150" y="4902200"/>
            <a:ext cx="1948815" cy="1414780"/>
          </a:xfrm>
          <a:custGeom>
            <a:avLst/>
            <a:gdLst/>
            <a:ahLst/>
            <a:cxnLst>
              <a:cxn ang="0">
                <a:pos x="wd2" y="hd2"/>
              </a:cxn>
              <a:cxn ang="5400000">
                <a:pos x="wd2" y="hd2"/>
              </a:cxn>
              <a:cxn ang="10800000">
                <a:pos x="wd2" y="hd2"/>
              </a:cxn>
              <a:cxn ang="16200000">
                <a:pos x="wd2" y="hd2"/>
              </a:cxn>
            </a:cxnLst>
            <a:rect l="0" t="0" r="r" b="b"/>
            <a:pathLst>
              <a:path w="21600" h="21600" extrusionOk="0">
                <a:moveTo>
                  <a:pt x="4959" y="0"/>
                </a:moveTo>
                <a:lnTo>
                  <a:pt x="21596" y="0"/>
                </a:lnTo>
                <a:lnTo>
                  <a:pt x="21600" y="21588"/>
                </a:lnTo>
                <a:lnTo>
                  <a:pt x="0" y="21600"/>
                </a:lnTo>
                <a:lnTo>
                  <a:pt x="4959" y="0"/>
                </a:lnTo>
                <a:close/>
              </a:path>
            </a:pathLst>
          </a:custGeom>
          <a:noFill/>
          <a:ln w="12700">
            <a:solidFill>
              <a:schemeClr val="accent5"/>
            </a:solid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31" name="YOYOON22"/>
          <p:cNvSpPr/>
          <p:nvPr/>
        </p:nvSpPr>
        <p:spPr>
          <a:xfrm>
            <a:off x="10314940" y="3420110"/>
            <a:ext cx="1470025" cy="1385570"/>
          </a:xfrm>
          <a:custGeom>
            <a:avLst/>
            <a:gdLst/>
            <a:ahLst/>
            <a:cxnLst>
              <a:cxn ang="0">
                <a:pos x="wd2" y="hd2"/>
              </a:cxn>
              <a:cxn ang="5400000">
                <a:pos x="wd2" y="hd2"/>
              </a:cxn>
              <a:cxn ang="10800000">
                <a:pos x="wd2" y="hd2"/>
              </a:cxn>
              <a:cxn ang="16200000">
                <a:pos x="wd2" y="hd2"/>
              </a:cxn>
            </a:cxnLst>
            <a:rect l="0" t="0" r="r" b="b"/>
            <a:pathLst>
              <a:path w="21600" h="21600" extrusionOk="0">
                <a:moveTo>
                  <a:pt x="21594" y="0"/>
                </a:moveTo>
                <a:lnTo>
                  <a:pt x="177" y="0"/>
                </a:lnTo>
                <a:lnTo>
                  <a:pt x="3292" y="10651"/>
                </a:lnTo>
                <a:lnTo>
                  <a:pt x="0" y="21600"/>
                </a:lnTo>
                <a:lnTo>
                  <a:pt x="21600" y="21600"/>
                </a:lnTo>
                <a:lnTo>
                  <a:pt x="21594" y="0"/>
                </a:lnTo>
                <a:close/>
              </a:path>
            </a:pathLst>
          </a:custGeom>
          <a:noFill/>
          <a:ln w="12700">
            <a:solidFill>
              <a:schemeClr val="accent5"/>
            </a:solid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32" name="YOYOON23"/>
          <p:cNvSpPr/>
          <p:nvPr/>
        </p:nvSpPr>
        <p:spPr>
          <a:xfrm>
            <a:off x="9881235" y="1971040"/>
            <a:ext cx="1904365" cy="1353185"/>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4735" y="21581"/>
                </a:lnTo>
                <a:lnTo>
                  <a:pt x="21593" y="21600"/>
                </a:lnTo>
                <a:lnTo>
                  <a:pt x="21600" y="0"/>
                </a:lnTo>
                <a:close/>
              </a:path>
            </a:pathLst>
          </a:custGeom>
          <a:noFill/>
          <a:ln w="12700">
            <a:solidFill>
              <a:schemeClr val="accent5"/>
            </a:solid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33" name="YOYOON24"/>
          <p:cNvSpPr/>
          <p:nvPr/>
        </p:nvSpPr>
        <p:spPr>
          <a:xfrm>
            <a:off x="9667240" y="1278255"/>
            <a:ext cx="2117725" cy="59499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1864" y="21572"/>
                </a:lnTo>
                <a:lnTo>
                  <a:pt x="0" y="0"/>
                </a:lnTo>
                <a:close/>
              </a:path>
            </a:pathLst>
          </a:custGeom>
          <a:gradFill>
            <a:gsLst>
              <a:gs pos="0">
                <a:schemeClr val="accent5"/>
              </a:gs>
              <a:gs pos="100000">
                <a:schemeClr val="accent5">
                  <a:lumMod val="60000"/>
                  <a:lumOff val="40000"/>
                </a:schemeClr>
              </a:gs>
            </a:gsLst>
            <a:lin ang="2700000" scaled="0"/>
          </a:gradFill>
          <a:ln w="12700">
            <a:miter lim="400000"/>
          </a:ln>
        </p:spPr>
        <p:txBody>
          <a:bodyPr lIns="0" tIns="0" rIns="0" bIns="0" anchor="ctr">
            <a:noAutofit/>
          </a:bodyPr>
          <a:lstStyle/>
          <a:p>
            <a:pPr lvl="0" algn="l" defTabSz="1828165">
              <a:buClrTx/>
              <a:buSzTx/>
              <a:buFontTx/>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37" name="YOYOON25"/>
          <p:cNvSpPr txBox="1"/>
          <p:nvPr/>
        </p:nvSpPr>
        <p:spPr>
          <a:xfrm>
            <a:off x="10220325" y="2136140"/>
            <a:ext cx="1465580" cy="869950"/>
          </a:xfrm>
          <a:prstGeom prst="rect">
            <a:avLst/>
          </a:prstGeom>
          <a:ln w="12700">
            <a:miter lim="400000"/>
          </a:ln>
        </p:spPr>
        <p:txBody>
          <a:bodyPr wrap="square" lIns="25398" tIns="25398" rIns="25398" bIns="25398">
            <a:spAutoFit/>
          </a:bodyPr>
          <a:lstStyle>
            <a:lvl1pPr algn="l">
              <a:defRPr sz="2000" b="0">
                <a:solidFill>
                  <a:srgbClr val="FFFFFF"/>
                </a:solidFill>
                <a:latin typeface="Manrope ExtraLight SemiBold"/>
                <a:ea typeface="Manrope ExtraLight SemiBold"/>
                <a:cs typeface="Manrope ExtraLight SemiBold"/>
                <a:sym typeface="Manrope ExtraLight SemiBold"/>
              </a:defRPr>
            </a:lvl1pPr>
          </a:lstStyle>
          <a:p>
            <a:pPr marL="171450" indent="-171450" algn="l" defTabSz="1828165" fontAlgn="auto">
              <a:lnSpc>
                <a:spcPts val="1600"/>
              </a:lnSpc>
              <a:buFont typeface="Wingdings" panose="05000000000000000000" charset="0"/>
              <a:buChar char="ü"/>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KPI</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达成率</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≥95%</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71450" indent="-171450" algn="l" defTabSz="1828165" fontAlgn="auto">
              <a:lnSpc>
                <a:spcPts val="1600"/>
              </a:lnSpc>
              <a:buFont typeface="Wingdings" panose="05000000000000000000" charset="0"/>
              <a:buChar char="ü"/>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关键过程指标偏差控制在</a:t>
            </a:r>
            <a:r>
              <a:rPr lang="en-US"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10%</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以内；</a:t>
            </a:r>
            <a:endPar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71450" indent="-171450" algn="l" defTabSz="1828165" fontAlgn="auto">
              <a:lnSpc>
                <a:spcPts val="1600"/>
              </a:lnSpc>
              <a:buFont typeface="Wingdings" panose="05000000000000000000" charset="0"/>
              <a:buChar char="ü"/>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策略有效性验证</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≥2</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次。</a:t>
            </a:r>
            <a:endPar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40" name="YOYOON28"/>
          <p:cNvSpPr txBox="1"/>
          <p:nvPr/>
        </p:nvSpPr>
        <p:spPr>
          <a:xfrm>
            <a:off x="1405890" y="1356360"/>
            <a:ext cx="1759585" cy="433705"/>
          </a:xfrm>
          <a:prstGeom prst="rect">
            <a:avLst/>
          </a:prstGeom>
          <a:ln w="12700">
            <a:miter lim="400000"/>
          </a:ln>
        </p:spPr>
        <p:txBody>
          <a:bodyPr wrap="square" lIns="25398" tIns="25398" rIns="25398" bIns="25398">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algn="ctr"/>
            <a:r>
              <a:rPr lang="zh-CN" altLang="en-US" sz="15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第一阶段：启动</a:t>
            </a:r>
            <a:endParaRPr lang="zh-CN" altLang="en-US" sz="15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r>
              <a:rPr lang="zh-CN" altLang="en-US"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2025.1-2025.6</a:t>
            </a:r>
            <a:r>
              <a:rPr lang="zh-CN" altLang="en-US"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45" name="YOYOON33"/>
          <p:cNvSpPr txBox="1"/>
          <p:nvPr/>
        </p:nvSpPr>
        <p:spPr>
          <a:xfrm>
            <a:off x="559435" y="1448435"/>
            <a:ext cx="464185" cy="280035"/>
          </a:xfrm>
          <a:prstGeom prst="rect">
            <a:avLst/>
          </a:prstGeom>
          <a:ln w="12700">
            <a:miter lim="400000"/>
          </a:ln>
        </p:spPr>
        <p:txBody>
          <a:bodyPr wrap="square" lIns="25398" tIns="25398" rIns="25398" bIns="25398">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altLang="en-US" sz="15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立项</a:t>
            </a:r>
            <a:endParaRPr lang="zh-CN" altLang="en-US" sz="15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1604" name="YOYOON34"/>
          <p:cNvGrpSpPr/>
          <p:nvPr/>
        </p:nvGrpSpPr>
        <p:grpSpPr>
          <a:xfrm rot="0">
            <a:off x="2215515" y="3722987"/>
            <a:ext cx="1517650" cy="780452"/>
            <a:chOff x="2383158" y="2987644"/>
            <a:chExt cx="1474651" cy="650187"/>
          </a:xfrm>
        </p:grpSpPr>
        <p:sp>
          <p:nvSpPr>
            <p:cNvPr id="1672" name="YOYOON1"/>
            <p:cNvSpPr txBox="1"/>
            <p:nvPr/>
          </p:nvSpPr>
          <p:spPr>
            <a:xfrm>
              <a:off x="2383158" y="3211976"/>
              <a:ext cx="1474651" cy="425855"/>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64697F"/>
                  </a:solidFill>
                  <a:latin typeface="Manrope ExtraLight Regular"/>
                  <a:ea typeface="Manrope ExtraLight Regular"/>
                  <a:cs typeface="Manrope ExtraLight Regular"/>
                  <a:sym typeface="Manrope ExtraLight Regular"/>
                </a:defRPr>
              </a:lvl1pPr>
            </a:lstStyle>
            <a:p>
              <a:pPr defTabSz="1828165"/>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分析竞品与用户需求，组建项目小组，输出包含背景与预算的立项草案。</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73" name="YOYOON2"/>
            <p:cNvSpPr txBox="1"/>
            <p:nvPr/>
          </p:nvSpPr>
          <p:spPr>
            <a:xfrm>
              <a:off x="2386003" y="2987644"/>
              <a:ext cx="1364259" cy="194677"/>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调研立项</a:t>
              </a:r>
              <a:endPar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3" name="YOYOON35"/>
          <p:cNvGrpSpPr/>
          <p:nvPr/>
        </p:nvGrpSpPr>
        <p:grpSpPr>
          <a:xfrm rot="0">
            <a:off x="1840230" y="2263130"/>
            <a:ext cx="1640840" cy="765194"/>
            <a:chOff x="2535558" y="3152740"/>
            <a:chExt cx="1474651" cy="637520"/>
          </a:xfrm>
        </p:grpSpPr>
        <p:sp>
          <p:nvSpPr>
            <p:cNvPr id="4" name="YOYOON3"/>
            <p:cNvSpPr txBox="1"/>
            <p:nvPr/>
          </p:nvSpPr>
          <p:spPr>
            <a:xfrm>
              <a:off x="2535558" y="3364376"/>
              <a:ext cx="1474651" cy="425884"/>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64697F"/>
                  </a:solidFill>
                  <a:latin typeface="Manrope ExtraLight Regular"/>
                  <a:ea typeface="Manrope ExtraLight Regular"/>
                  <a:cs typeface="Manrope ExtraLight Regular"/>
                  <a:sym typeface="Manrope ExtraLight Regular"/>
                </a:defRPr>
              </a:lvl1pPr>
            </a:lstStyle>
            <a:p>
              <a:pPr defTabSz="1828165"/>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将北极星指标（如</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GMV</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）拆解为流量</a:t>
              </a:r>
              <a:r>
                <a:rPr lang="en-US"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转化率</a:t>
              </a:r>
              <a:r>
                <a:rPr lang="en-US"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客单价，明确核心玩法与策略方向。</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9" name="YOYOON4"/>
            <p:cNvSpPr txBox="1"/>
            <p:nvPr/>
          </p:nvSpPr>
          <p:spPr>
            <a:xfrm>
              <a:off x="2538403" y="3152740"/>
              <a:ext cx="1364259" cy="194690"/>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目标拆解</a:t>
              </a:r>
              <a:endPar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30" name="YOYOON36"/>
          <p:cNvGrpSpPr/>
          <p:nvPr/>
        </p:nvGrpSpPr>
        <p:grpSpPr>
          <a:xfrm rot="0">
            <a:off x="4020185" y="2186286"/>
            <a:ext cx="1517650" cy="918882"/>
            <a:chOff x="2535558" y="3152740"/>
            <a:chExt cx="1474651" cy="765512"/>
          </a:xfrm>
        </p:grpSpPr>
        <p:sp>
          <p:nvSpPr>
            <p:cNvPr id="31" name="YOYOON5"/>
            <p:cNvSpPr txBox="1"/>
            <p:nvPr/>
          </p:nvSpPr>
          <p:spPr>
            <a:xfrm>
              <a:off x="2535558" y="3364376"/>
              <a:ext cx="1474651" cy="553876"/>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64697F"/>
                  </a:solidFill>
                  <a:latin typeface="Manrope ExtraLight Regular"/>
                  <a:ea typeface="Manrope ExtraLight Regular"/>
                  <a:cs typeface="Manrope ExtraLight Regular"/>
                  <a:sym typeface="Manrope ExtraLight Regular"/>
                </a:defRPr>
              </a:lvl1pPr>
            </a:lstStyle>
            <a:p>
              <a:pPr defTabSz="1828165"/>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将北极星指标拆解为过程指标（如</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GMV=</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流量</a:t>
              </a:r>
              <a:r>
                <a:rPr lang="en-US"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转化率</a:t>
              </a:r>
              <a:r>
                <a:rPr lang="en-US"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客单价），并细化文案视觉策略。</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2" name="YOYOON6"/>
            <p:cNvSpPr txBox="1"/>
            <p:nvPr/>
          </p:nvSpPr>
          <p:spPr>
            <a:xfrm>
              <a:off x="2538403" y="3152740"/>
              <a:ext cx="1364259" cy="194677"/>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细化指标</a:t>
              </a:r>
              <a:endParaRPr lang="zh-CN"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57" name="YOYOON39"/>
          <p:cNvGrpSpPr/>
          <p:nvPr/>
        </p:nvGrpSpPr>
        <p:grpSpPr>
          <a:xfrm rot="0">
            <a:off x="1922780" y="5226685"/>
            <a:ext cx="1438910" cy="765175"/>
            <a:chOff x="2535558" y="3152740"/>
            <a:chExt cx="1398142" cy="637460"/>
          </a:xfrm>
        </p:grpSpPr>
        <p:sp>
          <p:nvSpPr>
            <p:cNvPr id="58" name="YOYOON11"/>
            <p:cNvSpPr txBox="1"/>
            <p:nvPr/>
          </p:nvSpPr>
          <p:spPr>
            <a:xfrm>
              <a:off x="2535558" y="3364345"/>
              <a:ext cx="1398142" cy="425855"/>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64697F"/>
                  </a:solidFill>
                  <a:latin typeface="Manrope ExtraLight Regular"/>
                  <a:ea typeface="Manrope ExtraLight Regular"/>
                  <a:cs typeface="Manrope ExtraLight Regular"/>
                  <a:sym typeface="Manrope ExtraLight Regular"/>
                </a:defRPr>
              </a:lvl1pPr>
            </a:lstStyle>
            <a:p>
              <a:pPr defTabSz="1828165"/>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产出含目标、预算的正式文档，并明确项目是否继续推进的关键决策。</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0" name="YOYOON12"/>
            <p:cNvSpPr txBox="1"/>
            <p:nvPr/>
          </p:nvSpPr>
          <p:spPr>
            <a:xfrm>
              <a:off x="2538403" y="3152740"/>
              <a:ext cx="1364259" cy="194677"/>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立项说明书与决策</a:t>
              </a:r>
              <a:endPar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61" name="YOYOON40"/>
          <p:cNvGrpSpPr/>
          <p:nvPr/>
        </p:nvGrpSpPr>
        <p:grpSpPr>
          <a:xfrm rot="0">
            <a:off x="4053205" y="5226685"/>
            <a:ext cx="1439545" cy="765176"/>
            <a:chOff x="2535558" y="3152740"/>
            <a:chExt cx="1398759" cy="637460"/>
          </a:xfrm>
        </p:grpSpPr>
        <p:sp>
          <p:nvSpPr>
            <p:cNvPr id="62" name="YOYOON13"/>
            <p:cNvSpPr txBox="1"/>
            <p:nvPr/>
          </p:nvSpPr>
          <p:spPr>
            <a:xfrm>
              <a:off x="2535558" y="3364345"/>
              <a:ext cx="1398759" cy="425855"/>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64697F"/>
                  </a:solidFill>
                  <a:latin typeface="Manrope ExtraLight Regular"/>
                  <a:ea typeface="Manrope ExtraLight Regular"/>
                  <a:cs typeface="Manrope ExtraLight Regular"/>
                  <a:sym typeface="Manrope ExtraLight Regular"/>
                </a:defRPr>
              </a:lvl1pPr>
            </a:lstStyle>
            <a:p>
              <a:pPr defTabSz="1828165"/>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输出详细时间排期表，列出所有需设计的海报、</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H5</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、文案清单。</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3" name="YOYOON14"/>
            <p:cNvSpPr txBox="1"/>
            <p:nvPr/>
          </p:nvSpPr>
          <p:spPr>
            <a:xfrm>
              <a:off x="2538403" y="3152740"/>
              <a:ext cx="1364259" cy="194676"/>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进度表与物料清单</a:t>
              </a:r>
              <a:endPar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84" name="YOYOON43"/>
          <p:cNvGrpSpPr/>
          <p:nvPr/>
        </p:nvGrpSpPr>
        <p:grpSpPr>
          <a:xfrm rot="0">
            <a:off x="4410075" y="3730606"/>
            <a:ext cx="1517650" cy="765212"/>
            <a:chOff x="2535558" y="3152740"/>
            <a:chExt cx="1474651" cy="637491"/>
          </a:xfrm>
        </p:grpSpPr>
        <p:sp>
          <p:nvSpPr>
            <p:cNvPr id="85" name="YOYOON19"/>
            <p:cNvSpPr txBox="1"/>
            <p:nvPr/>
          </p:nvSpPr>
          <p:spPr>
            <a:xfrm>
              <a:off x="2535558" y="3364376"/>
              <a:ext cx="1474651" cy="425855"/>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64697F"/>
                  </a:solidFill>
                  <a:latin typeface="Manrope ExtraLight Regular"/>
                  <a:ea typeface="Manrope ExtraLight Regular"/>
                  <a:cs typeface="Manrope ExtraLight Regular"/>
                  <a:sym typeface="Manrope ExtraLight Regular"/>
                </a:defRPr>
              </a:lvl1pPr>
            </a:lstStyle>
            <a:p>
              <a:pPr defTabSz="1828165"/>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制定甘特图明确时间节点与责任人，锁定推广位、预算及技术资源。</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6" name="YOYOON20"/>
            <p:cNvSpPr txBox="1"/>
            <p:nvPr/>
          </p:nvSpPr>
          <p:spPr>
            <a:xfrm>
              <a:off x="2538403" y="3152740"/>
              <a:ext cx="1364259" cy="194677"/>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排期协调</a:t>
              </a:r>
              <a:endPar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1607" name="YOYOON46"/>
          <p:cNvGrpSpPr/>
          <p:nvPr/>
        </p:nvGrpSpPr>
        <p:grpSpPr>
          <a:xfrm rot="0">
            <a:off x="518979" y="2292317"/>
            <a:ext cx="831482" cy="713806"/>
            <a:chOff x="764929" y="1839769"/>
            <a:chExt cx="807936" cy="594805"/>
          </a:xfrm>
        </p:grpSpPr>
        <p:sp>
          <p:nvSpPr>
            <p:cNvPr id="1634" name="YOYOON25"/>
            <p:cNvSpPr txBox="1"/>
            <p:nvPr/>
          </p:nvSpPr>
          <p:spPr>
            <a:xfrm>
              <a:off x="764929" y="2085873"/>
              <a:ext cx="807319" cy="348701"/>
            </a:xfrm>
            <a:prstGeom prst="rect">
              <a:avLst/>
            </a:prstGeom>
            <a:ln w="12700">
              <a:miter lim="400000"/>
            </a:ln>
          </p:spPr>
          <p:txBody>
            <a:bodyPr lIns="25398" tIns="25398" rIns="25398" bIns="25398">
              <a:spAutoFit/>
            </a:bodyPr>
            <a:lstStyle>
              <a:lvl1pPr algn="l">
                <a:defRPr sz="2000" b="0">
                  <a:solidFill>
                    <a:srgbClr val="FFFFFF"/>
                  </a:solidFill>
                  <a:latin typeface="Manrope ExtraLight SemiBold"/>
                  <a:ea typeface="Manrope ExtraLight SemiBold"/>
                  <a:cs typeface="Manrope ExtraLight SemiBold"/>
                  <a:sym typeface="Manrope ExtraLight SemiBold"/>
                </a:defRPr>
              </a:lvl1pPr>
            </a:lstStyle>
            <a:p>
              <a:pPr algn="ctr" defTabSz="1828165"/>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目标策略</a:t>
              </a:r>
              <a:endPar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defTabSz="1828165"/>
              <a:r>
                <a:rPr 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（做什么）</a:t>
              </a:r>
              <a:endParaRPr 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05" name="YOYOON26"/>
            <p:cNvSpPr txBox="1"/>
            <p:nvPr/>
          </p:nvSpPr>
          <p:spPr>
            <a:xfrm>
              <a:off x="765546" y="1839769"/>
              <a:ext cx="807319" cy="246049"/>
            </a:xfrm>
            <a:prstGeom prst="rect">
              <a:avLst/>
            </a:prstGeom>
            <a:ln w="12700">
              <a:miter lim="400000"/>
            </a:ln>
          </p:spPr>
          <p:txBody>
            <a:bodyPr lIns="25398" tIns="25398" rIns="25398" bIns="25398">
              <a:spAutoFit/>
            </a:bodyPr>
            <a:lstStyle>
              <a:lvl1pPr algn="l">
                <a:defRPr sz="2000" b="0">
                  <a:solidFill>
                    <a:srgbClr val="FFFFFF"/>
                  </a:solidFill>
                  <a:latin typeface="Manrope ExtraLight SemiBold"/>
                  <a:ea typeface="Manrope ExtraLight SemiBold"/>
                  <a:cs typeface="Manrope ExtraLight SemiBold"/>
                  <a:sym typeface="Manrope ExtraLight SemiBold"/>
                </a:defRPr>
              </a:lvl1pPr>
            </a:lstStyle>
            <a:p>
              <a:pPr algn="ctr" defTabSz="1828165"/>
              <a:r>
                <a:rPr lang="en-US" altLang="zh-CN" sz="16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01</a:t>
              </a:r>
              <a:endParaRPr sz="16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
        <p:nvSpPr>
          <p:cNvPr id="90" name="YOYOON28"/>
          <p:cNvSpPr txBox="1"/>
          <p:nvPr/>
        </p:nvSpPr>
        <p:spPr>
          <a:xfrm>
            <a:off x="3522980" y="1356360"/>
            <a:ext cx="1759585" cy="433705"/>
          </a:xfrm>
          <a:prstGeom prst="rect">
            <a:avLst/>
          </a:prstGeom>
          <a:ln w="12700">
            <a:miter lim="400000"/>
          </a:ln>
        </p:spPr>
        <p:txBody>
          <a:bodyPr wrap="square" lIns="25398" tIns="25398" rIns="25398" bIns="25398">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algn="ctr"/>
            <a:r>
              <a:rPr lang="zh-CN" altLang="en-US" sz="15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第二阶段：规划</a:t>
            </a:r>
            <a:endParaRPr lang="zh-CN" altLang="en-US" sz="15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r>
              <a:rPr lang="zh-CN" altLang="en-US"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2025.7-2026.2</a:t>
            </a:r>
            <a:r>
              <a:rPr lang="zh-CN" altLang="en-US"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1" name="YOYOON28"/>
          <p:cNvSpPr txBox="1"/>
          <p:nvPr/>
        </p:nvSpPr>
        <p:spPr>
          <a:xfrm>
            <a:off x="5641975" y="1356360"/>
            <a:ext cx="1759585" cy="433705"/>
          </a:xfrm>
          <a:prstGeom prst="rect">
            <a:avLst/>
          </a:prstGeom>
          <a:ln w="12700">
            <a:miter lim="400000"/>
          </a:ln>
        </p:spPr>
        <p:txBody>
          <a:bodyPr wrap="square" lIns="25398" tIns="25398" rIns="25398" bIns="25398">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algn="ctr"/>
            <a:r>
              <a:rPr lang="zh-CN" altLang="en-US" sz="15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第三阶段：执行</a:t>
            </a:r>
            <a:endParaRPr lang="zh-CN" altLang="en-US" sz="15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r>
              <a:rPr lang="zh-CN" altLang="en-US"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2026.3-2026.8</a:t>
            </a:r>
            <a:r>
              <a:rPr lang="zh-CN" altLang="en-US"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2" name="YOYOON28"/>
          <p:cNvSpPr txBox="1"/>
          <p:nvPr/>
        </p:nvSpPr>
        <p:spPr>
          <a:xfrm>
            <a:off x="7761605" y="1356360"/>
            <a:ext cx="1759585" cy="433705"/>
          </a:xfrm>
          <a:prstGeom prst="rect">
            <a:avLst/>
          </a:prstGeom>
          <a:ln w="12700">
            <a:miter lim="400000"/>
          </a:ln>
        </p:spPr>
        <p:txBody>
          <a:bodyPr wrap="square" lIns="25398" tIns="25398" rIns="25398" bIns="25398">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algn="ctr"/>
            <a:r>
              <a:rPr lang="zh-CN" altLang="en-US" sz="15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第四阶段：复盘</a:t>
            </a:r>
            <a:endParaRPr lang="zh-CN" altLang="en-US" sz="15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r>
              <a:rPr lang="zh-CN" altLang="en-US"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2026.9-2026.12</a:t>
            </a:r>
            <a:r>
              <a:rPr lang="zh-CN" altLang="en-US"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3" name="YOYOON33"/>
          <p:cNvSpPr txBox="1"/>
          <p:nvPr/>
        </p:nvSpPr>
        <p:spPr>
          <a:xfrm>
            <a:off x="10382250" y="1448435"/>
            <a:ext cx="935990" cy="280035"/>
          </a:xfrm>
          <a:prstGeom prst="rect">
            <a:avLst/>
          </a:prstGeom>
          <a:ln w="12700">
            <a:miter lim="400000"/>
          </a:ln>
        </p:spPr>
        <p:txBody>
          <a:bodyPr wrap="square" lIns="25398" tIns="25398" rIns="25398" bIns="25398">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altLang="en-US" sz="15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成果预期</a:t>
            </a:r>
            <a:endParaRPr lang="zh-CN" altLang="en-US" sz="15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2" name="YOYOON46"/>
          <p:cNvGrpSpPr/>
          <p:nvPr/>
        </p:nvGrpSpPr>
        <p:grpSpPr>
          <a:xfrm rot="0">
            <a:off x="671379" y="3755357"/>
            <a:ext cx="831482" cy="713806"/>
            <a:chOff x="764929" y="1839769"/>
            <a:chExt cx="807936" cy="594805"/>
          </a:xfrm>
        </p:grpSpPr>
        <p:sp>
          <p:nvSpPr>
            <p:cNvPr id="6" name="YOYOON25"/>
            <p:cNvSpPr txBox="1"/>
            <p:nvPr/>
          </p:nvSpPr>
          <p:spPr>
            <a:xfrm>
              <a:off x="764929" y="2085873"/>
              <a:ext cx="807319" cy="348701"/>
            </a:xfrm>
            <a:prstGeom prst="rect">
              <a:avLst/>
            </a:prstGeom>
            <a:ln w="12700">
              <a:miter lim="400000"/>
            </a:ln>
          </p:spPr>
          <p:txBody>
            <a:bodyPr lIns="25398" tIns="25398" rIns="25398" bIns="25398">
              <a:spAutoFit/>
            </a:bodyPr>
            <a:lstStyle>
              <a:lvl1pPr algn="l">
                <a:defRPr sz="2000" b="0">
                  <a:solidFill>
                    <a:srgbClr val="FFFFFF"/>
                  </a:solidFill>
                  <a:latin typeface="Manrope ExtraLight SemiBold"/>
                  <a:ea typeface="Manrope ExtraLight SemiBold"/>
                  <a:cs typeface="Manrope ExtraLight SemiBold"/>
                  <a:sym typeface="Manrope ExtraLight SemiBold"/>
                </a:defRPr>
              </a:lvl1pPr>
            </a:lstStyle>
            <a:p>
              <a:pPr algn="ctr" defTabSz="1828165"/>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执行过程</a:t>
              </a:r>
              <a:endPar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defTabSz="1828165"/>
              <a:r>
                <a:rPr 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（怎么做）</a:t>
              </a:r>
              <a:endParaRPr 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YOYOON26"/>
            <p:cNvSpPr txBox="1"/>
            <p:nvPr/>
          </p:nvSpPr>
          <p:spPr>
            <a:xfrm>
              <a:off x="765546" y="1839769"/>
              <a:ext cx="807319" cy="246049"/>
            </a:xfrm>
            <a:prstGeom prst="rect">
              <a:avLst/>
            </a:prstGeom>
            <a:ln w="12700">
              <a:miter lim="400000"/>
            </a:ln>
          </p:spPr>
          <p:txBody>
            <a:bodyPr lIns="25398" tIns="25398" rIns="25398" bIns="25398">
              <a:spAutoFit/>
            </a:bodyPr>
            <a:lstStyle>
              <a:lvl1pPr algn="l">
                <a:defRPr sz="2000" b="0">
                  <a:solidFill>
                    <a:srgbClr val="FFFFFF"/>
                  </a:solidFill>
                  <a:latin typeface="Manrope ExtraLight SemiBold"/>
                  <a:ea typeface="Manrope ExtraLight SemiBold"/>
                  <a:cs typeface="Manrope ExtraLight SemiBold"/>
                  <a:sym typeface="Manrope ExtraLight SemiBold"/>
                </a:defRPr>
              </a:lvl1pPr>
            </a:lstStyle>
            <a:p>
              <a:pPr algn="ctr" defTabSz="1828165"/>
              <a:r>
                <a:rPr lang="en-US" altLang="zh-CN" sz="16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02</a:t>
              </a:r>
              <a:endParaRPr sz="16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8" name="YOYOON46"/>
          <p:cNvGrpSpPr/>
          <p:nvPr/>
        </p:nvGrpSpPr>
        <p:grpSpPr>
          <a:xfrm rot="0">
            <a:off x="526599" y="5176487"/>
            <a:ext cx="831482" cy="713806"/>
            <a:chOff x="764929" y="1839769"/>
            <a:chExt cx="807936" cy="594805"/>
          </a:xfrm>
        </p:grpSpPr>
        <p:sp>
          <p:nvSpPr>
            <p:cNvPr id="9" name="YOYOON25"/>
            <p:cNvSpPr txBox="1"/>
            <p:nvPr/>
          </p:nvSpPr>
          <p:spPr>
            <a:xfrm>
              <a:off x="764929" y="2085873"/>
              <a:ext cx="807319" cy="348701"/>
            </a:xfrm>
            <a:prstGeom prst="rect">
              <a:avLst/>
            </a:prstGeom>
            <a:ln w="12700">
              <a:miter lim="400000"/>
            </a:ln>
          </p:spPr>
          <p:txBody>
            <a:bodyPr lIns="25398" tIns="25398" rIns="25398" bIns="25398">
              <a:spAutoFit/>
            </a:bodyPr>
            <a:lstStyle>
              <a:lvl1pPr algn="l">
                <a:defRPr sz="2000" b="0">
                  <a:solidFill>
                    <a:srgbClr val="FFFFFF"/>
                  </a:solidFill>
                  <a:latin typeface="Manrope ExtraLight SemiBold"/>
                  <a:ea typeface="Manrope ExtraLight SemiBold"/>
                  <a:cs typeface="Manrope ExtraLight SemiBold"/>
                  <a:sym typeface="Manrope ExtraLight SemiBold"/>
                </a:defRPr>
              </a:lvl1pPr>
            </a:lstStyle>
            <a:p>
              <a:pPr algn="ctr" defTabSz="1828165"/>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结果沉淀</a:t>
              </a:r>
              <a:endPar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defTabSz="1828165"/>
              <a:r>
                <a:rPr 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（产出什么）</a:t>
              </a:r>
              <a:endParaRPr 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YOYOON26"/>
            <p:cNvSpPr txBox="1"/>
            <p:nvPr/>
          </p:nvSpPr>
          <p:spPr>
            <a:xfrm>
              <a:off x="765546" y="1839769"/>
              <a:ext cx="807319" cy="246049"/>
            </a:xfrm>
            <a:prstGeom prst="rect">
              <a:avLst/>
            </a:prstGeom>
            <a:ln w="12700">
              <a:miter lim="400000"/>
            </a:ln>
          </p:spPr>
          <p:txBody>
            <a:bodyPr lIns="25398" tIns="25398" rIns="25398" bIns="25398">
              <a:spAutoFit/>
            </a:bodyPr>
            <a:lstStyle>
              <a:lvl1pPr algn="l">
                <a:defRPr sz="2000" b="0">
                  <a:solidFill>
                    <a:srgbClr val="FFFFFF"/>
                  </a:solidFill>
                  <a:latin typeface="Manrope ExtraLight SemiBold"/>
                  <a:ea typeface="Manrope ExtraLight SemiBold"/>
                  <a:cs typeface="Manrope ExtraLight SemiBold"/>
                  <a:sym typeface="Manrope ExtraLight SemiBold"/>
                </a:defRPr>
              </a:lvl1pPr>
            </a:lstStyle>
            <a:p>
              <a:pPr algn="ctr" defTabSz="1828165"/>
              <a:r>
                <a:rPr lang="en-US" altLang="zh-CN" sz="16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03</a:t>
              </a:r>
              <a:endParaRPr sz="16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35" name="YOYOON34"/>
          <p:cNvGrpSpPr/>
          <p:nvPr/>
        </p:nvGrpSpPr>
        <p:grpSpPr>
          <a:xfrm rot="0">
            <a:off x="6484620" y="3722987"/>
            <a:ext cx="1517650" cy="780452"/>
            <a:chOff x="2383158" y="2987644"/>
            <a:chExt cx="1474651" cy="650187"/>
          </a:xfrm>
        </p:grpSpPr>
        <p:sp>
          <p:nvSpPr>
            <p:cNvPr id="36" name="YOYOON1"/>
            <p:cNvSpPr txBox="1"/>
            <p:nvPr/>
          </p:nvSpPr>
          <p:spPr>
            <a:xfrm>
              <a:off x="2383158" y="3211976"/>
              <a:ext cx="1474651" cy="425855"/>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64697F"/>
                  </a:solidFill>
                  <a:latin typeface="Manrope ExtraLight Regular"/>
                  <a:ea typeface="Manrope ExtraLight Regular"/>
                  <a:cs typeface="Manrope ExtraLight Regular"/>
                  <a:sym typeface="Manrope ExtraLight Regular"/>
                </a:defRPr>
              </a:lvl1pPr>
            </a:lstStyle>
            <a:p>
              <a:pPr defTabSz="1828165"/>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小范围灰度验证后按节奏全面推广，同时监控舆情及时处理客诉。</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7" name="YOYOON2"/>
            <p:cNvSpPr txBox="1"/>
            <p:nvPr/>
          </p:nvSpPr>
          <p:spPr>
            <a:xfrm>
              <a:off x="2386003" y="2987644"/>
              <a:ext cx="1364259" cy="194677"/>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宣发与风控</a:t>
              </a: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38" name="YOYOON35"/>
          <p:cNvGrpSpPr/>
          <p:nvPr/>
        </p:nvGrpSpPr>
        <p:grpSpPr>
          <a:xfrm rot="0">
            <a:off x="6109335" y="2263130"/>
            <a:ext cx="1640840" cy="765195"/>
            <a:chOff x="2535558" y="3152740"/>
            <a:chExt cx="1474651" cy="637521"/>
          </a:xfrm>
        </p:grpSpPr>
        <p:sp>
          <p:nvSpPr>
            <p:cNvPr id="39" name="YOYOON3"/>
            <p:cNvSpPr txBox="1"/>
            <p:nvPr/>
          </p:nvSpPr>
          <p:spPr>
            <a:xfrm>
              <a:off x="2535558" y="3364376"/>
              <a:ext cx="1474651" cy="425885"/>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64697F"/>
                  </a:solidFill>
                  <a:latin typeface="Manrope ExtraLight Regular"/>
                  <a:ea typeface="Manrope ExtraLight Regular"/>
                  <a:cs typeface="Manrope ExtraLight Regular"/>
                  <a:sym typeface="Manrope ExtraLight Regular"/>
                </a:defRPr>
              </a:lvl1pPr>
            </a:lstStyle>
            <a:p>
              <a:pPr defTabSz="1828165"/>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每日监控数据看板，根据实时反馈快速</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A/B</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测试，优化素材话术确保不偏离目标。</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0" name="YOYOON4"/>
            <p:cNvSpPr txBox="1"/>
            <p:nvPr/>
          </p:nvSpPr>
          <p:spPr>
            <a:xfrm>
              <a:off x="2538403" y="3152740"/>
              <a:ext cx="1364259" cy="194690"/>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目标校准</a:t>
              </a: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41" name="YOYOON36"/>
          <p:cNvGrpSpPr/>
          <p:nvPr/>
        </p:nvGrpSpPr>
        <p:grpSpPr>
          <a:xfrm rot="0">
            <a:off x="8289290" y="2186286"/>
            <a:ext cx="1517650" cy="918882"/>
            <a:chOff x="2535558" y="3152740"/>
            <a:chExt cx="1474651" cy="765512"/>
          </a:xfrm>
        </p:grpSpPr>
        <p:sp>
          <p:nvSpPr>
            <p:cNvPr id="42" name="YOYOON5"/>
            <p:cNvSpPr txBox="1"/>
            <p:nvPr/>
          </p:nvSpPr>
          <p:spPr>
            <a:xfrm>
              <a:off x="2535558" y="3364376"/>
              <a:ext cx="1474651" cy="553876"/>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64697F"/>
                  </a:solidFill>
                  <a:latin typeface="Manrope ExtraLight Regular"/>
                  <a:ea typeface="Manrope ExtraLight Regular"/>
                  <a:cs typeface="Manrope ExtraLight Regular"/>
                  <a:sym typeface="Manrope ExtraLight Regular"/>
                </a:defRPr>
              </a:lvl1pPr>
            </a:lstStyle>
            <a:p>
              <a:pPr defTabSz="1828165"/>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对比结果与目标评估策略有效性，深入分析成功或失败的核心原因（渠道、文案等）。</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3" name="YOYOON6"/>
            <p:cNvSpPr txBox="1"/>
            <p:nvPr/>
          </p:nvSpPr>
          <p:spPr>
            <a:xfrm>
              <a:off x="2538403" y="3152740"/>
              <a:ext cx="1364259" cy="194677"/>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目标验证</a:t>
              </a:r>
              <a:endParaRPr lang="zh-CN"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44" name="YOYOON39"/>
          <p:cNvGrpSpPr/>
          <p:nvPr/>
        </p:nvGrpSpPr>
        <p:grpSpPr>
          <a:xfrm rot="0">
            <a:off x="6191885" y="5226685"/>
            <a:ext cx="1438910" cy="765175"/>
            <a:chOff x="2535558" y="3152740"/>
            <a:chExt cx="1398142" cy="637460"/>
          </a:xfrm>
        </p:grpSpPr>
        <p:sp>
          <p:nvSpPr>
            <p:cNvPr id="45" name="YOYOON11"/>
            <p:cNvSpPr txBox="1"/>
            <p:nvPr/>
          </p:nvSpPr>
          <p:spPr>
            <a:xfrm>
              <a:off x="2535558" y="3364345"/>
              <a:ext cx="1398142" cy="425855"/>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64697F"/>
                  </a:solidFill>
                  <a:latin typeface="Manrope ExtraLight Regular"/>
                  <a:ea typeface="Manrope ExtraLight Regular"/>
                  <a:cs typeface="Manrope ExtraLight Regular"/>
                  <a:sym typeface="Manrope ExtraLight Regular"/>
                </a:defRPr>
              </a:lvl1pPr>
            </a:lstStyle>
            <a:p>
              <a:pPr defTabSz="1828165"/>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每日记录核心数据波动及原因，收集用户真实声音供复盘。</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6" name="YOYOON12"/>
            <p:cNvSpPr txBox="1"/>
            <p:nvPr/>
          </p:nvSpPr>
          <p:spPr>
            <a:xfrm>
              <a:off x="2538403" y="3152740"/>
              <a:ext cx="1364259" cy="348619"/>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用户数据与反馈</a:t>
              </a: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defTabSz="1828165"/>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47" name="YOYOON40"/>
          <p:cNvGrpSpPr/>
          <p:nvPr/>
        </p:nvGrpSpPr>
        <p:grpSpPr>
          <a:xfrm rot="0">
            <a:off x="8322310" y="5226685"/>
            <a:ext cx="1439545" cy="918845"/>
            <a:chOff x="2535558" y="3152740"/>
            <a:chExt cx="1398759" cy="765480"/>
          </a:xfrm>
        </p:grpSpPr>
        <p:sp>
          <p:nvSpPr>
            <p:cNvPr id="48" name="YOYOON13"/>
            <p:cNvSpPr txBox="1"/>
            <p:nvPr/>
          </p:nvSpPr>
          <p:spPr>
            <a:xfrm>
              <a:off x="2535558" y="3364345"/>
              <a:ext cx="1398759" cy="553875"/>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64697F"/>
                  </a:solidFill>
                  <a:latin typeface="Manrope ExtraLight Regular"/>
                  <a:ea typeface="Manrope ExtraLight Regular"/>
                  <a:cs typeface="Manrope ExtraLight Regular"/>
                  <a:sym typeface="Manrope ExtraLight Regular"/>
                </a:defRPr>
              </a:lvl1pPr>
            </a:lstStyle>
            <a:p>
              <a:pPr defTabSz="1828165"/>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复盘报告与</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SOP</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更新：输出含数据总结、经验教训的报告，将踩坑或验证的方法固化。</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9" name="YOYOON14"/>
            <p:cNvSpPr txBox="1"/>
            <p:nvPr/>
          </p:nvSpPr>
          <p:spPr>
            <a:xfrm>
              <a:off x="2538403" y="3152740"/>
              <a:ext cx="1364259" cy="194676"/>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结果沉淀</a:t>
              </a: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50" name="YOYOON43"/>
          <p:cNvGrpSpPr/>
          <p:nvPr/>
        </p:nvGrpSpPr>
        <p:grpSpPr>
          <a:xfrm rot="0">
            <a:off x="8679180" y="3730606"/>
            <a:ext cx="1517650" cy="765212"/>
            <a:chOff x="2535558" y="3152740"/>
            <a:chExt cx="1474651" cy="637491"/>
          </a:xfrm>
        </p:grpSpPr>
        <p:sp>
          <p:nvSpPr>
            <p:cNvPr id="54" name="YOYOON19"/>
            <p:cNvSpPr txBox="1"/>
            <p:nvPr/>
          </p:nvSpPr>
          <p:spPr>
            <a:xfrm>
              <a:off x="2535558" y="3364376"/>
              <a:ext cx="1474651" cy="425855"/>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64697F"/>
                  </a:solidFill>
                  <a:latin typeface="Manrope ExtraLight Regular"/>
                  <a:ea typeface="Manrope ExtraLight Regular"/>
                  <a:cs typeface="Manrope ExtraLight Regular"/>
                  <a:sym typeface="Manrope ExtraLight Regular"/>
                </a:defRPr>
              </a:lvl1pPr>
            </a:lstStyle>
            <a:p>
              <a:pPr defTabSz="1828165"/>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漏斗分析各环节转化率，组织</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KISS</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模型复盘会梳理流程。</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9" name="YOYOON20"/>
            <p:cNvSpPr txBox="1"/>
            <p:nvPr/>
          </p:nvSpPr>
          <p:spPr>
            <a:xfrm>
              <a:off x="2538403" y="3152740"/>
              <a:ext cx="1364259" cy="194677"/>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数据复盘与团队会</a:t>
              </a: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
        <p:nvSpPr>
          <p:cNvPr id="66" name="YOYOON25"/>
          <p:cNvSpPr txBox="1"/>
          <p:nvPr/>
        </p:nvSpPr>
        <p:spPr>
          <a:xfrm>
            <a:off x="10542270" y="3616960"/>
            <a:ext cx="1217295" cy="1075055"/>
          </a:xfrm>
          <a:prstGeom prst="rect">
            <a:avLst/>
          </a:prstGeom>
          <a:ln w="12700">
            <a:miter lim="400000"/>
          </a:ln>
        </p:spPr>
        <p:txBody>
          <a:bodyPr wrap="square" lIns="25398" tIns="25398" rIns="25398" bIns="25398">
            <a:spAutoFit/>
          </a:bodyPr>
          <a:lstStyle>
            <a:lvl1pPr algn="l">
              <a:defRPr sz="2000" b="0">
                <a:solidFill>
                  <a:srgbClr val="FFFFFF"/>
                </a:solidFill>
                <a:latin typeface="Manrope ExtraLight SemiBold"/>
                <a:ea typeface="Manrope ExtraLight SemiBold"/>
                <a:cs typeface="Manrope ExtraLight SemiBold"/>
                <a:sym typeface="Manrope ExtraLight SemiBold"/>
              </a:defRPr>
            </a:lvl1pPr>
          </a:lstStyle>
          <a:p>
            <a:pPr marL="171450" indent="-171450" algn="l" defTabSz="1828165" fontAlgn="auto">
              <a:lnSpc>
                <a:spcPts val="1600"/>
              </a:lnSpc>
              <a:buFont typeface="Wingdings" panose="05000000000000000000" charset="0"/>
              <a:buChar char="ü"/>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交付率</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100%</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71450" indent="-171450" algn="l" defTabSz="1828165" fontAlgn="auto">
              <a:lnSpc>
                <a:spcPts val="1600"/>
              </a:lnSpc>
              <a:buFont typeface="Wingdings" panose="05000000000000000000" charset="0"/>
              <a:buChar char="ü"/>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预算执行偏差率</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≤5%</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71450" indent="-171450" algn="l" defTabSz="1828165" fontAlgn="auto">
              <a:lnSpc>
                <a:spcPts val="1600"/>
              </a:lnSpc>
              <a:buFont typeface="Wingdings" panose="05000000000000000000" charset="0"/>
              <a:buChar char="ü"/>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舆情处理满意度</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≥90%</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7" name="YOYOON25"/>
          <p:cNvSpPr txBox="1"/>
          <p:nvPr/>
        </p:nvSpPr>
        <p:spPr>
          <a:xfrm>
            <a:off x="10314940" y="5174615"/>
            <a:ext cx="1217295" cy="869950"/>
          </a:xfrm>
          <a:prstGeom prst="rect">
            <a:avLst/>
          </a:prstGeom>
          <a:ln w="12700">
            <a:miter lim="400000"/>
          </a:ln>
        </p:spPr>
        <p:txBody>
          <a:bodyPr wrap="square" lIns="25398" tIns="25398" rIns="25398" bIns="25398">
            <a:spAutoFit/>
          </a:bodyPr>
          <a:lstStyle>
            <a:lvl1pPr algn="l">
              <a:defRPr sz="2000" b="0">
                <a:solidFill>
                  <a:srgbClr val="FFFFFF"/>
                </a:solidFill>
                <a:latin typeface="Manrope ExtraLight SemiBold"/>
                <a:ea typeface="Manrope ExtraLight SemiBold"/>
                <a:cs typeface="Manrope ExtraLight SemiBold"/>
                <a:sym typeface="Manrope ExtraLight SemiBold"/>
              </a:defRPr>
            </a:lvl1pPr>
          </a:lstStyle>
          <a:p>
            <a:pPr marL="171450" indent="-171450" algn="l" defTabSz="1828165" fontAlgn="auto">
              <a:lnSpc>
                <a:spcPts val="1600"/>
              </a:lnSpc>
              <a:buFont typeface="Wingdings" panose="05000000000000000000" charset="0"/>
              <a:buChar char="ü"/>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输出复盘报告</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1</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份</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71450" indent="-171450" algn="l" defTabSz="1828165" fontAlgn="auto">
              <a:lnSpc>
                <a:spcPts val="1600"/>
              </a:lnSpc>
              <a:buFont typeface="Wingdings" panose="05000000000000000000" charset="0"/>
              <a:buChar char="ü"/>
            </a:pPr>
            <a:r>
              <a:rPr 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沉淀案例库</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≥3</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个</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71450" indent="-171450" algn="l" defTabSz="1828165" fontAlgn="auto">
              <a:lnSpc>
                <a:spcPts val="1600"/>
              </a:lnSpc>
              <a:buFont typeface="Wingdings" panose="05000000000000000000" charset="0"/>
              <a:buChar char="ü"/>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团队能力提升评估</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≥85</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分</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12" name="图片 11"/>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3" name="文本框 12"/>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sz="2500">
                <a:solidFill>
                  <a:schemeClr val="tx2"/>
                </a:solidFill>
                <a:latin typeface="微软雅黑" panose="020B0503020204020204" charset="-122"/>
                <a:ea typeface="微软雅黑" panose="020B0503020204020204" charset="-122"/>
                <a:cs typeface="微软雅黑" panose="020B0503020204020204" charset="-122"/>
              </a:rPr>
              <a:t>项目流程汇报图</a:t>
            </a:r>
            <a:endParaRPr sz="2500" b="0">
              <a:solidFill>
                <a:schemeClr val="tx2"/>
              </a:solidFill>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1610" name="YOYOON1"/>
          <p:cNvSpPr/>
          <p:nvPr/>
        </p:nvSpPr>
        <p:spPr>
          <a:xfrm>
            <a:off x="438150" y="1280160"/>
            <a:ext cx="830580" cy="591820"/>
          </a:xfrm>
          <a:custGeom>
            <a:avLst/>
            <a:gdLst/>
            <a:ahLst/>
            <a:cxnLst>
              <a:cxn ang="0">
                <a:pos x="wd2" y="hd2"/>
              </a:cxn>
              <a:cxn ang="5400000">
                <a:pos x="wd2" y="hd2"/>
              </a:cxn>
              <a:cxn ang="10800000">
                <a:pos x="wd2" y="hd2"/>
              </a:cxn>
              <a:cxn ang="16200000">
                <a:pos x="wd2" y="hd2"/>
              </a:cxn>
            </a:cxnLst>
            <a:rect l="0" t="0" r="r" b="b"/>
            <a:pathLst>
              <a:path w="21600" h="21600" extrusionOk="0">
                <a:moveTo>
                  <a:pt x="16771" y="0"/>
                </a:moveTo>
                <a:lnTo>
                  <a:pt x="0" y="0"/>
                </a:lnTo>
                <a:lnTo>
                  <a:pt x="0" y="21600"/>
                </a:lnTo>
                <a:lnTo>
                  <a:pt x="21600" y="21600"/>
                </a:lnTo>
                <a:lnTo>
                  <a:pt x="16771" y="0"/>
                </a:lnTo>
                <a:close/>
              </a:path>
            </a:pathLst>
          </a:custGeom>
          <a:gradFill>
            <a:gsLst>
              <a:gs pos="0">
                <a:schemeClr val="accent1"/>
              </a:gs>
              <a:gs pos="100000">
                <a:schemeClr val="accent1">
                  <a:lumMod val="60000"/>
                  <a:lumOff val="40000"/>
                </a:schemeClr>
              </a:gs>
            </a:gsLst>
            <a:lin ang="2700000" scaled="0"/>
          </a:gradFill>
          <a:ln w="12700">
            <a:miter lim="400000"/>
          </a:ln>
        </p:spPr>
        <p:txBody>
          <a:bodyPr lIns="0" tIns="0" rIns="0" bIns="0" anchor="ctr">
            <a:noAutofit/>
          </a:bodyPr>
          <a:lstStyle/>
          <a:p>
            <a:pPr lvl="0" algn="l" defTabSz="1828165">
              <a:buClrTx/>
              <a:buSzTx/>
              <a:buFontTx/>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11" name="YOYOON2"/>
          <p:cNvSpPr/>
          <p:nvPr/>
        </p:nvSpPr>
        <p:spPr>
          <a:xfrm>
            <a:off x="435610" y="1972310"/>
            <a:ext cx="1280160" cy="1353820"/>
          </a:xfrm>
          <a:custGeom>
            <a:avLst/>
            <a:gdLst/>
            <a:ahLst/>
            <a:cxnLst>
              <a:cxn ang="0">
                <a:pos x="wd2" y="hd2"/>
              </a:cxn>
              <a:cxn ang="5400000">
                <a:pos x="wd2" y="hd2"/>
              </a:cxn>
              <a:cxn ang="10800000">
                <a:pos x="wd2" y="hd2"/>
              </a:cxn>
              <a:cxn ang="16200000">
                <a:pos x="wd2" y="hd2"/>
              </a:cxn>
            </a:cxnLst>
            <a:rect l="0" t="0" r="r" b="b"/>
            <a:pathLst>
              <a:path w="21600" h="21600" extrusionOk="0">
                <a:moveTo>
                  <a:pt x="14510" y="0"/>
                </a:moveTo>
                <a:lnTo>
                  <a:pt x="0" y="0"/>
                </a:lnTo>
                <a:lnTo>
                  <a:pt x="0" y="21600"/>
                </a:lnTo>
                <a:lnTo>
                  <a:pt x="21600" y="21600"/>
                </a:lnTo>
                <a:lnTo>
                  <a:pt x="14510" y="0"/>
                </a:lnTo>
                <a:close/>
              </a:path>
            </a:pathLst>
          </a:custGeom>
          <a:noFill/>
          <a:ln w="12700">
            <a:solidFill>
              <a:schemeClr val="accent1"/>
            </a:solid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12" name="YOYOON3"/>
          <p:cNvSpPr/>
          <p:nvPr/>
        </p:nvSpPr>
        <p:spPr>
          <a:xfrm>
            <a:off x="435610" y="3421380"/>
            <a:ext cx="1517015" cy="1381760"/>
          </a:xfrm>
          <a:custGeom>
            <a:avLst/>
            <a:gdLst/>
            <a:ahLst/>
            <a:cxnLst>
              <a:cxn ang="0">
                <a:pos x="wd2" y="hd2"/>
              </a:cxn>
              <a:cxn ang="5400000">
                <a:pos x="wd2" y="hd2"/>
              </a:cxn>
              <a:cxn ang="10800000">
                <a:pos x="wd2" y="hd2"/>
              </a:cxn>
              <a:cxn ang="16200000">
                <a:pos x="wd2" y="hd2"/>
              </a:cxn>
            </a:cxnLst>
            <a:rect l="0" t="0" r="r" b="b"/>
            <a:pathLst>
              <a:path w="21600" h="21600" extrusionOk="0">
                <a:moveTo>
                  <a:pt x="28" y="0"/>
                </a:moveTo>
                <a:lnTo>
                  <a:pt x="18656" y="0"/>
                </a:lnTo>
                <a:lnTo>
                  <a:pt x="21600" y="10538"/>
                </a:lnTo>
                <a:lnTo>
                  <a:pt x="18478" y="21600"/>
                </a:lnTo>
                <a:lnTo>
                  <a:pt x="0" y="21586"/>
                </a:lnTo>
                <a:lnTo>
                  <a:pt x="28" y="0"/>
                </a:lnTo>
                <a:close/>
              </a:path>
            </a:pathLst>
          </a:custGeom>
          <a:noFill/>
          <a:ln w="12700">
            <a:solidFill>
              <a:schemeClr val="accent1"/>
            </a:solid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13" name="YOYOON4"/>
          <p:cNvSpPr/>
          <p:nvPr/>
        </p:nvSpPr>
        <p:spPr>
          <a:xfrm>
            <a:off x="435610" y="4901565"/>
            <a:ext cx="1266190" cy="1416685"/>
          </a:xfrm>
          <a:custGeom>
            <a:avLst/>
            <a:gdLst/>
            <a:ahLst/>
            <a:cxnLst>
              <a:cxn ang="0">
                <a:pos x="wd2" y="hd2"/>
              </a:cxn>
              <a:cxn ang="5400000">
                <a:pos x="wd2" y="hd2"/>
              </a:cxn>
              <a:cxn ang="10800000">
                <a:pos x="wd2" y="hd2"/>
              </a:cxn>
              <a:cxn ang="16200000">
                <a:pos x="wd2" y="hd2"/>
              </a:cxn>
            </a:cxnLst>
            <a:rect l="0" t="0" r="r" b="b"/>
            <a:pathLst>
              <a:path w="21600" h="21600" extrusionOk="0">
                <a:moveTo>
                  <a:pt x="21600" y="1"/>
                </a:moveTo>
                <a:lnTo>
                  <a:pt x="66" y="0"/>
                </a:lnTo>
                <a:lnTo>
                  <a:pt x="0" y="21600"/>
                </a:lnTo>
                <a:lnTo>
                  <a:pt x="13912" y="21553"/>
                </a:lnTo>
                <a:lnTo>
                  <a:pt x="21600" y="1"/>
                </a:lnTo>
                <a:close/>
              </a:path>
            </a:pathLst>
          </a:custGeom>
          <a:noFill/>
          <a:ln w="12700">
            <a:solidFill>
              <a:schemeClr val="accent1"/>
            </a:solid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14" name="YOYOON5"/>
          <p:cNvSpPr/>
          <p:nvPr/>
        </p:nvSpPr>
        <p:spPr>
          <a:xfrm>
            <a:off x="1192530" y="1277620"/>
            <a:ext cx="2192655" cy="59372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07" y="0"/>
                </a:lnTo>
                <a:lnTo>
                  <a:pt x="21600" y="21600"/>
                </a:lnTo>
                <a:lnTo>
                  <a:pt x="1785" y="21600"/>
                </a:lnTo>
                <a:lnTo>
                  <a:pt x="0" y="0"/>
                </a:lnTo>
                <a:close/>
              </a:path>
            </a:pathLst>
          </a:custGeom>
          <a:gradFill>
            <a:gsLst>
              <a:gs pos="0">
                <a:schemeClr val="accent1"/>
              </a:gs>
              <a:gs pos="100000">
                <a:schemeClr val="accent1">
                  <a:lumMod val="60000"/>
                  <a:lumOff val="40000"/>
                </a:schemeClr>
              </a:gs>
            </a:gsLst>
            <a:lin ang="2700000" scaled="0"/>
          </a:gradFill>
          <a:ln w="12700">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15" name="YOYOON6"/>
          <p:cNvSpPr/>
          <p:nvPr/>
        </p:nvSpPr>
        <p:spPr>
          <a:xfrm>
            <a:off x="1405890" y="1969453"/>
            <a:ext cx="2426335" cy="135255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7900" y="0"/>
                </a:lnTo>
                <a:lnTo>
                  <a:pt x="21600" y="21600"/>
                </a:lnTo>
                <a:lnTo>
                  <a:pt x="3703" y="21599"/>
                </a:lnTo>
                <a:lnTo>
                  <a:pt x="0" y="0"/>
                </a:lnTo>
                <a:close/>
              </a:path>
            </a:pathLst>
          </a:custGeom>
          <a:solidFill>
            <a:schemeClr val="accent1">
              <a:lumMod val="20000"/>
              <a:lumOff val="80000"/>
              <a:alpha val="50000"/>
            </a:schemeClr>
          </a:solidFill>
          <a:ln w="12700">
            <a:no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16" name="YOYOON7"/>
          <p:cNvSpPr/>
          <p:nvPr/>
        </p:nvSpPr>
        <p:spPr>
          <a:xfrm>
            <a:off x="1840230" y="3421063"/>
            <a:ext cx="2232660" cy="1384300"/>
          </a:xfrm>
          <a:custGeom>
            <a:avLst/>
            <a:gdLst/>
            <a:ahLst/>
            <a:cxnLst>
              <a:cxn ang="0">
                <a:pos x="wd2" y="hd2"/>
              </a:cxn>
              <a:cxn ang="5400000">
                <a:pos x="wd2" y="hd2"/>
              </a:cxn>
              <a:cxn ang="10800000">
                <a:pos x="wd2" y="hd2"/>
              </a:cxn>
              <a:cxn ang="16200000">
                <a:pos x="wd2" y="hd2"/>
              </a:cxn>
            </a:cxnLst>
            <a:rect l="0" t="0" r="r" b="b"/>
            <a:pathLst>
              <a:path w="21600" h="21600" extrusionOk="0">
                <a:moveTo>
                  <a:pt x="19565" y="0"/>
                </a:moveTo>
                <a:lnTo>
                  <a:pt x="103" y="0"/>
                </a:lnTo>
                <a:lnTo>
                  <a:pt x="2148" y="10629"/>
                </a:lnTo>
                <a:lnTo>
                  <a:pt x="0" y="21565"/>
                </a:lnTo>
                <a:lnTo>
                  <a:pt x="19438" y="21600"/>
                </a:lnTo>
                <a:lnTo>
                  <a:pt x="21600" y="10586"/>
                </a:lnTo>
                <a:lnTo>
                  <a:pt x="19565" y="0"/>
                </a:lnTo>
                <a:close/>
              </a:path>
            </a:pathLst>
          </a:custGeom>
          <a:solidFill>
            <a:schemeClr val="accent1">
              <a:lumMod val="20000"/>
              <a:lumOff val="80000"/>
              <a:alpha val="50000"/>
            </a:schemeClr>
          </a:solidFill>
          <a:ln w="12700">
            <a:no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17" name="YOYOON8"/>
          <p:cNvSpPr/>
          <p:nvPr/>
        </p:nvSpPr>
        <p:spPr>
          <a:xfrm>
            <a:off x="1357630" y="4902200"/>
            <a:ext cx="2462530" cy="1414145"/>
          </a:xfrm>
          <a:custGeom>
            <a:avLst/>
            <a:gdLst/>
            <a:ahLst/>
            <a:cxnLst>
              <a:cxn ang="0">
                <a:pos x="wd2" y="hd2"/>
              </a:cxn>
              <a:cxn ang="5400000">
                <a:pos x="wd2" y="hd2"/>
              </a:cxn>
              <a:cxn ang="10800000">
                <a:pos x="wd2" y="hd2"/>
              </a:cxn>
              <a:cxn ang="16200000">
                <a:pos x="wd2" y="hd2"/>
              </a:cxn>
            </a:cxnLst>
            <a:rect l="0" t="0" r="r" b="b"/>
            <a:pathLst>
              <a:path w="21600" h="21600" extrusionOk="0">
                <a:moveTo>
                  <a:pt x="3946" y="0"/>
                </a:moveTo>
                <a:lnTo>
                  <a:pt x="21600" y="0"/>
                </a:lnTo>
                <a:lnTo>
                  <a:pt x="17669" y="21600"/>
                </a:lnTo>
                <a:lnTo>
                  <a:pt x="0" y="21585"/>
                </a:lnTo>
                <a:lnTo>
                  <a:pt x="3946" y="0"/>
                </a:lnTo>
                <a:close/>
              </a:path>
            </a:pathLst>
          </a:custGeom>
          <a:solidFill>
            <a:schemeClr val="accent1">
              <a:lumMod val="20000"/>
              <a:lumOff val="80000"/>
              <a:alpha val="50000"/>
            </a:schemeClr>
          </a:solidFill>
          <a:ln w="12700">
            <a:no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18" name="YOYOON9"/>
          <p:cNvSpPr/>
          <p:nvPr/>
        </p:nvSpPr>
        <p:spPr>
          <a:xfrm>
            <a:off x="3308985" y="1278890"/>
            <a:ext cx="2194560" cy="59309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17" y="0"/>
                </a:lnTo>
                <a:lnTo>
                  <a:pt x="21600" y="21571"/>
                </a:lnTo>
                <a:lnTo>
                  <a:pt x="1821" y="21600"/>
                </a:lnTo>
                <a:lnTo>
                  <a:pt x="0" y="0"/>
                </a:lnTo>
                <a:close/>
              </a:path>
            </a:pathLst>
          </a:custGeom>
          <a:gradFill>
            <a:gsLst>
              <a:gs pos="0">
                <a:schemeClr val="accent5"/>
              </a:gs>
              <a:gs pos="100000">
                <a:schemeClr val="accent5">
                  <a:lumMod val="60000"/>
                  <a:lumOff val="40000"/>
                </a:schemeClr>
              </a:gs>
            </a:gsLst>
            <a:lin ang="2700000" scaled="0"/>
          </a:gradFill>
          <a:ln w="12700">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19" name="YOYOON10"/>
          <p:cNvSpPr/>
          <p:nvPr/>
        </p:nvSpPr>
        <p:spPr>
          <a:xfrm>
            <a:off x="3522980" y="1969453"/>
            <a:ext cx="2428240" cy="1352550"/>
          </a:xfrm>
          <a:custGeom>
            <a:avLst/>
            <a:gdLst/>
            <a:ahLst/>
            <a:cxnLst>
              <a:cxn ang="0">
                <a:pos x="wd2" y="hd2"/>
              </a:cxn>
              <a:cxn ang="5400000">
                <a:pos x="wd2" y="hd2"/>
              </a:cxn>
              <a:cxn ang="10800000">
                <a:pos x="wd2" y="hd2"/>
              </a:cxn>
              <a:cxn ang="16200000">
                <a:pos x="wd2" y="hd2"/>
              </a:cxn>
            </a:cxnLst>
            <a:rect l="0" t="0" r="r" b="b"/>
            <a:pathLst>
              <a:path w="21600" h="21600" extrusionOk="0">
                <a:moveTo>
                  <a:pt x="0" y="23"/>
                </a:moveTo>
                <a:lnTo>
                  <a:pt x="3710" y="21600"/>
                </a:lnTo>
                <a:lnTo>
                  <a:pt x="21600" y="21600"/>
                </a:lnTo>
                <a:lnTo>
                  <a:pt x="17884" y="0"/>
                </a:lnTo>
                <a:lnTo>
                  <a:pt x="0" y="23"/>
                </a:lnTo>
                <a:close/>
              </a:path>
            </a:pathLst>
          </a:custGeom>
          <a:solidFill>
            <a:schemeClr val="accent5">
              <a:lumMod val="20000"/>
              <a:lumOff val="80000"/>
              <a:alpha val="50000"/>
            </a:schemeClr>
          </a:solidFill>
          <a:ln w="12700">
            <a:no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20" name="YOYOON11"/>
          <p:cNvSpPr/>
          <p:nvPr/>
        </p:nvSpPr>
        <p:spPr>
          <a:xfrm>
            <a:off x="3959225" y="3422015"/>
            <a:ext cx="2232660" cy="1382395"/>
          </a:xfrm>
          <a:custGeom>
            <a:avLst/>
            <a:gdLst/>
            <a:ahLst/>
            <a:cxnLst>
              <a:cxn ang="0">
                <a:pos x="wd2" y="hd2"/>
              </a:cxn>
              <a:cxn ang="5400000">
                <a:pos x="wd2" y="hd2"/>
              </a:cxn>
              <a:cxn ang="10800000">
                <a:pos x="wd2" y="hd2"/>
              </a:cxn>
              <a:cxn ang="16200000">
                <a:pos x="wd2" y="hd2"/>
              </a:cxn>
            </a:cxnLst>
            <a:rect l="0" t="0" r="r" b="b"/>
            <a:pathLst>
              <a:path w="21600" h="21600" extrusionOk="0">
                <a:moveTo>
                  <a:pt x="107" y="6"/>
                </a:moveTo>
                <a:lnTo>
                  <a:pt x="2118" y="10541"/>
                </a:lnTo>
                <a:lnTo>
                  <a:pt x="0" y="21600"/>
                </a:lnTo>
                <a:lnTo>
                  <a:pt x="19442" y="21600"/>
                </a:lnTo>
                <a:lnTo>
                  <a:pt x="21600" y="10594"/>
                </a:lnTo>
                <a:lnTo>
                  <a:pt x="19572" y="0"/>
                </a:lnTo>
                <a:lnTo>
                  <a:pt x="107" y="6"/>
                </a:lnTo>
                <a:close/>
              </a:path>
            </a:pathLst>
          </a:custGeom>
          <a:solidFill>
            <a:schemeClr val="accent5">
              <a:lumMod val="20000"/>
              <a:lumOff val="80000"/>
              <a:alpha val="50000"/>
            </a:schemeClr>
          </a:solidFill>
          <a:ln w="12700">
            <a:no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21" name="YOYOON12"/>
          <p:cNvSpPr/>
          <p:nvPr/>
        </p:nvSpPr>
        <p:spPr>
          <a:xfrm>
            <a:off x="3481070" y="4901883"/>
            <a:ext cx="2455545" cy="141478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3917" y="0"/>
                </a:lnTo>
                <a:lnTo>
                  <a:pt x="0" y="21588"/>
                </a:lnTo>
                <a:lnTo>
                  <a:pt x="17687" y="21600"/>
                </a:lnTo>
                <a:lnTo>
                  <a:pt x="21600" y="0"/>
                </a:lnTo>
                <a:close/>
              </a:path>
            </a:pathLst>
          </a:custGeom>
          <a:solidFill>
            <a:schemeClr val="accent5">
              <a:lumMod val="20000"/>
              <a:lumOff val="80000"/>
              <a:alpha val="50000"/>
            </a:schemeClr>
          </a:solidFill>
          <a:ln w="12700">
            <a:no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22" name="YOYOON13"/>
          <p:cNvSpPr/>
          <p:nvPr/>
        </p:nvSpPr>
        <p:spPr>
          <a:xfrm>
            <a:off x="5597525" y="4902835"/>
            <a:ext cx="2458720" cy="1413510"/>
          </a:xfrm>
          <a:custGeom>
            <a:avLst/>
            <a:gdLst/>
            <a:ahLst/>
            <a:cxnLst>
              <a:cxn ang="0">
                <a:pos x="wd2" y="hd2"/>
              </a:cxn>
              <a:cxn ang="5400000">
                <a:pos x="wd2" y="hd2"/>
              </a:cxn>
              <a:cxn ang="10800000">
                <a:pos x="wd2" y="hd2"/>
              </a:cxn>
              <a:cxn ang="16200000">
                <a:pos x="wd2" y="hd2"/>
              </a:cxn>
            </a:cxnLst>
            <a:rect l="0" t="0" r="r" b="b"/>
            <a:pathLst>
              <a:path w="21600" h="21600" extrusionOk="0">
                <a:moveTo>
                  <a:pt x="3943" y="0"/>
                </a:moveTo>
                <a:lnTo>
                  <a:pt x="0" y="21588"/>
                </a:lnTo>
                <a:lnTo>
                  <a:pt x="17676" y="21600"/>
                </a:lnTo>
                <a:lnTo>
                  <a:pt x="21600" y="7"/>
                </a:lnTo>
                <a:lnTo>
                  <a:pt x="3943" y="0"/>
                </a:lnTo>
                <a:close/>
              </a:path>
            </a:pathLst>
          </a:custGeom>
          <a:solidFill>
            <a:schemeClr val="accent1">
              <a:lumMod val="20000"/>
              <a:lumOff val="80000"/>
              <a:alpha val="50000"/>
            </a:schemeClr>
          </a:solidFill>
          <a:ln w="12700">
            <a:no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23" name="YOYOON14"/>
          <p:cNvSpPr/>
          <p:nvPr/>
        </p:nvSpPr>
        <p:spPr>
          <a:xfrm>
            <a:off x="6075680" y="3422015"/>
            <a:ext cx="2236470" cy="1381760"/>
          </a:xfrm>
          <a:custGeom>
            <a:avLst/>
            <a:gdLst/>
            <a:ahLst/>
            <a:cxnLst>
              <a:cxn ang="0">
                <a:pos x="wd2" y="hd2"/>
              </a:cxn>
              <a:cxn ang="5400000">
                <a:pos x="wd2" y="hd2"/>
              </a:cxn>
              <a:cxn ang="10800000">
                <a:pos x="wd2" y="hd2"/>
              </a:cxn>
              <a:cxn ang="16200000">
                <a:pos x="wd2" y="hd2"/>
              </a:cxn>
            </a:cxnLst>
            <a:rect l="0" t="0" r="r" b="b"/>
            <a:pathLst>
              <a:path w="21600" h="21600" extrusionOk="0">
                <a:moveTo>
                  <a:pt x="129" y="0"/>
                </a:moveTo>
                <a:lnTo>
                  <a:pt x="19591" y="0"/>
                </a:lnTo>
                <a:lnTo>
                  <a:pt x="21600" y="10601"/>
                </a:lnTo>
                <a:lnTo>
                  <a:pt x="19436" y="21600"/>
                </a:lnTo>
                <a:lnTo>
                  <a:pt x="0" y="21596"/>
                </a:lnTo>
                <a:lnTo>
                  <a:pt x="2172" y="10613"/>
                </a:lnTo>
                <a:lnTo>
                  <a:pt x="129" y="0"/>
                </a:lnTo>
                <a:close/>
              </a:path>
            </a:pathLst>
          </a:custGeom>
          <a:solidFill>
            <a:schemeClr val="accent1">
              <a:lumMod val="20000"/>
              <a:lumOff val="80000"/>
              <a:alpha val="50000"/>
            </a:schemeClr>
          </a:solidFill>
          <a:ln w="12700">
            <a:no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24" name="YOYOON15"/>
          <p:cNvSpPr/>
          <p:nvPr/>
        </p:nvSpPr>
        <p:spPr>
          <a:xfrm>
            <a:off x="5641975" y="1970405"/>
            <a:ext cx="2430145" cy="135318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7876" y="0"/>
                </a:lnTo>
                <a:lnTo>
                  <a:pt x="21600" y="21589"/>
                </a:lnTo>
                <a:lnTo>
                  <a:pt x="3712" y="21600"/>
                </a:lnTo>
                <a:lnTo>
                  <a:pt x="0" y="0"/>
                </a:lnTo>
                <a:close/>
              </a:path>
            </a:pathLst>
          </a:custGeom>
          <a:solidFill>
            <a:schemeClr val="accent1">
              <a:lumMod val="20000"/>
              <a:lumOff val="80000"/>
              <a:alpha val="50000"/>
            </a:schemeClr>
          </a:solidFill>
          <a:ln w="12700">
            <a:no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25" name="YOYOON16"/>
          <p:cNvSpPr/>
          <p:nvPr/>
        </p:nvSpPr>
        <p:spPr>
          <a:xfrm>
            <a:off x="5431155" y="1280160"/>
            <a:ext cx="2193290" cy="59309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773" y="0"/>
                </a:lnTo>
                <a:lnTo>
                  <a:pt x="21600" y="21600"/>
                </a:lnTo>
                <a:lnTo>
                  <a:pt x="1784" y="21585"/>
                </a:lnTo>
                <a:lnTo>
                  <a:pt x="0" y="0"/>
                </a:lnTo>
                <a:close/>
              </a:path>
            </a:pathLst>
          </a:custGeom>
          <a:gradFill>
            <a:gsLst>
              <a:gs pos="0">
                <a:schemeClr val="accent1"/>
              </a:gs>
              <a:gs pos="100000">
                <a:schemeClr val="accent1">
                  <a:lumMod val="60000"/>
                  <a:lumOff val="40000"/>
                </a:schemeClr>
              </a:gs>
            </a:gsLst>
            <a:lin ang="2700000" scaled="0"/>
          </a:gradFill>
          <a:ln w="12700">
            <a:miter lim="400000"/>
          </a:ln>
        </p:spPr>
        <p:txBody>
          <a:bodyPr lIns="0" tIns="0" rIns="0" bIns="0" anchor="ctr">
            <a:noAutofit/>
          </a:bodyPr>
          <a:lstStyle/>
          <a:p>
            <a:pPr lvl="0" algn="l" defTabSz="1828165">
              <a:buClrTx/>
              <a:buSzTx/>
              <a:buFontTx/>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26" name="YOYOON17"/>
          <p:cNvSpPr/>
          <p:nvPr/>
        </p:nvSpPr>
        <p:spPr>
          <a:xfrm>
            <a:off x="7549515" y="1279525"/>
            <a:ext cx="2192020" cy="59436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15" y="0"/>
                </a:lnTo>
                <a:lnTo>
                  <a:pt x="21600" y="21545"/>
                </a:lnTo>
                <a:lnTo>
                  <a:pt x="1774" y="21600"/>
                </a:lnTo>
                <a:lnTo>
                  <a:pt x="0" y="0"/>
                </a:lnTo>
                <a:close/>
              </a:path>
            </a:pathLst>
          </a:custGeom>
          <a:gradFill>
            <a:gsLst>
              <a:gs pos="0">
                <a:schemeClr val="accent5"/>
              </a:gs>
              <a:gs pos="100000">
                <a:schemeClr val="accent5">
                  <a:lumMod val="60000"/>
                  <a:lumOff val="40000"/>
                </a:schemeClr>
              </a:gs>
            </a:gsLst>
            <a:lin ang="2700000" scaled="0"/>
          </a:gradFill>
          <a:ln w="12700">
            <a:miter lim="400000"/>
          </a:ln>
        </p:spPr>
        <p:txBody>
          <a:bodyPr lIns="0" tIns="0" rIns="0" bIns="0" anchor="ctr">
            <a:noAutofit/>
          </a:bodyPr>
          <a:lstStyle/>
          <a:p>
            <a:pPr lvl="0" algn="l" defTabSz="1828165">
              <a:buClrTx/>
              <a:buSzTx/>
              <a:buFontTx/>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27" name="YOYOON18"/>
          <p:cNvSpPr/>
          <p:nvPr/>
        </p:nvSpPr>
        <p:spPr>
          <a:xfrm>
            <a:off x="7761605" y="1969770"/>
            <a:ext cx="2428240" cy="135445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7903" y="0"/>
                </a:lnTo>
                <a:lnTo>
                  <a:pt x="21600" y="21600"/>
                </a:lnTo>
                <a:lnTo>
                  <a:pt x="3706" y="21581"/>
                </a:lnTo>
                <a:lnTo>
                  <a:pt x="0" y="0"/>
                </a:lnTo>
                <a:close/>
              </a:path>
            </a:pathLst>
          </a:custGeom>
          <a:solidFill>
            <a:schemeClr val="accent5">
              <a:lumMod val="20000"/>
              <a:lumOff val="80000"/>
              <a:alpha val="50000"/>
            </a:schemeClr>
          </a:solidFill>
          <a:ln w="12700">
            <a:no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28" name="YOYOON19"/>
          <p:cNvSpPr/>
          <p:nvPr/>
        </p:nvSpPr>
        <p:spPr>
          <a:xfrm>
            <a:off x="8197215" y="3422015"/>
            <a:ext cx="2232660" cy="1381760"/>
          </a:xfrm>
          <a:custGeom>
            <a:avLst/>
            <a:gdLst/>
            <a:ahLst/>
            <a:cxnLst>
              <a:cxn ang="0">
                <a:pos x="wd2" y="hd2"/>
              </a:cxn>
              <a:cxn ang="5400000">
                <a:pos x="wd2" y="hd2"/>
              </a:cxn>
              <a:cxn ang="10800000">
                <a:pos x="wd2" y="hd2"/>
              </a:cxn>
              <a:cxn ang="16200000">
                <a:pos x="wd2" y="hd2"/>
              </a:cxn>
            </a:cxnLst>
            <a:rect l="0" t="0" r="r" b="b"/>
            <a:pathLst>
              <a:path w="21600" h="21600" extrusionOk="0">
                <a:moveTo>
                  <a:pt x="122" y="0"/>
                </a:moveTo>
                <a:lnTo>
                  <a:pt x="19589" y="0"/>
                </a:lnTo>
                <a:lnTo>
                  <a:pt x="21600" y="10640"/>
                </a:lnTo>
                <a:lnTo>
                  <a:pt x="19444" y="21600"/>
                </a:lnTo>
                <a:lnTo>
                  <a:pt x="0" y="21594"/>
                </a:lnTo>
                <a:lnTo>
                  <a:pt x="2137" y="10617"/>
                </a:lnTo>
                <a:lnTo>
                  <a:pt x="122" y="0"/>
                </a:lnTo>
                <a:close/>
              </a:path>
            </a:pathLst>
          </a:custGeom>
          <a:solidFill>
            <a:schemeClr val="accent5">
              <a:lumMod val="20000"/>
              <a:lumOff val="80000"/>
              <a:alpha val="50000"/>
            </a:schemeClr>
          </a:solidFill>
          <a:ln w="12700">
            <a:no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29" name="YOYOON20"/>
          <p:cNvSpPr/>
          <p:nvPr/>
        </p:nvSpPr>
        <p:spPr>
          <a:xfrm>
            <a:off x="7718425" y="4902200"/>
            <a:ext cx="2457450" cy="1412240"/>
          </a:xfrm>
          <a:custGeom>
            <a:avLst/>
            <a:gdLst/>
            <a:ahLst/>
            <a:cxnLst>
              <a:cxn ang="0">
                <a:pos x="wd2" y="hd2"/>
              </a:cxn>
              <a:cxn ang="5400000">
                <a:pos x="wd2" y="hd2"/>
              </a:cxn>
              <a:cxn ang="10800000">
                <a:pos x="wd2" y="hd2"/>
              </a:cxn>
              <a:cxn ang="16200000">
                <a:pos x="wd2" y="hd2"/>
              </a:cxn>
            </a:cxnLst>
            <a:rect l="0" t="0" r="r" b="b"/>
            <a:pathLst>
              <a:path w="21600" h="21600" extrusionOk="0">
                <a:moveTo>
                  <a:pt x="17669" y="21600"/>
                </a:moveTo>
                <a:lnTo>
                  <a:pt x="0" y="21599"/>
                </a:lnTo>
                <a:lnTo>
                  <a:pt x="3928" y="0"/>
                </a:lnTo>
                <a:lnTo>
                  <a:pt x="21600" y="22"/>
                </a:lnTo>
                <a:lnTo>
                  <a:pt x="17669" y="21600"/>
                </a:lnTo>
                <a:close/>
              </a:path>
            </a:pathLst>
          </a:custGeom>
          <a:solidFill>
            <a:schemeClr val="accent5">
              <a:lumMod val="20000"/>
              <a:lumOff val="80000"/>
              <a:alpha val="50000"/>
            </a:schemeClr>
          </a:solidFill>
          <a:ln w="12700">
            <a:no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30" name="YOYOON21"/>
          <p:cNvSpPr/>
          <p:nvPr/>
        </p:nvSpPr>
        <p:spPr>
          <a:xfrm>
            <a:off x="9836150" y="4902200"/>
            <a:ext cx="1948815" cy="1414780"/>
          </a:xfrm>
          <a:custGeom>
            <a:avLst/>
            <a:gdLst/>
            <a:ahLst/>
            <a:cxnLst>
              <a:cxn ang="0">
                <a:pos x="wd2" y="hd2"/>
              </a:cxn>
              <a:cxn ang="5400000">
                <a:pos x="wd2" y="hd2"/>
              </a:cxn>
              <a:cxn ang="10800000">
                <a:pos x="wd2" y="hd2"/>
              </a:cxn>
              <a:cxn ang="16200000">
                <a:pos x="wd2" y="hd2"/>
              </a:cxn>
            </a:cxnLst>
            <a:rect l="0" t="0" r="r" b="b"/>
            <a:pathLst>
              <a:path w="21600" h="21600" extrusionOk="0">
                <a:moveTo>
                  <a:pt x="4959" y="0"/>
                </a:moveTo>
                <a:lnTo>
                  <a:pt x="21596" y="0"/>
                </a:lnTo>
                <a:lnTo>
                  <a:pt x="21600" y="21588"/>
                </a:lnTo>
                <a:lnTo>
                  <a:pt x="0" y="21600"/>
                </a:lnTo>
                <a:lnTo>
                  <a:pt x="4959" y="0"/>
                </a:lnTo>
                <a:close/>
              </a:path>
            </a:pathLst>
          </a:custGeom>
          <a:noFill/>
          <a:ln w="12700">
            <a:solidFill>
              <a:schemeClr val="accent1"/>
            </a:solid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31" name="YOYOON22"/>
          <p:cNvSpPr/>
          <p:nvPr/>
        </p:nvSpPr>
        <p:spPr>
          <a:xfrm>
            <a:off x="10314940" y="3420110"/>
            <a:ext cx="1470025" cy="1385570"/>
          </a:xfrm>
          <a:custGeom>
            <a:avLst/>
            <a:gdLst/>
            <a:ahLst/>
            <a:cxnLst>
              <a:cxn ang="0">
                <a:pos x="wd2" y="hd2"/>
              </a:cxn>
              <a:cxn ang="5400000">
                <a:pos x="wd2" y="hd2"/>
              </a:cxn>
              <a:cxn ang="10800000">
                <a:pos x="wd2" y="hd2"/>
              </a:cxn>
              <a:cxn ang="16200000">
                <a:pos x="wd2" y="hd2"/>
              </a:cxn>
            </a:cxnLst>
            <a:rect l="0" t="0" r="r" b="b"/>
            <a:pathLst>
              <a:path w="21600" h="21600" extrusionOk="0">
                <a:moveTo>
                  <a:pt x="21594" y="0"/>
                </a:moveTo>
                <a:lnTo>
                  <a:pt x="177" y="0"/>
                </a:lnTo>
                <a:lnTo>
                  <a:pt x="3292" y="10651"/>
                </a:lnTo>
                <a:lnTo>
                  <a:pt x="0" y="21600"/>
                </a:lnTo>
                <a:lnTo>
                  <a:pt x="21600" y="21600"/>
                </a:lnTo>
                <a:lnTo>
                  <a:pt x="21594" y="0"/>
                </a:lnTo>
                <a:close/>
              </a:path>
            </a:pathLst>
          </a:custGeom>
          <a:noFill/>
          <a:ln w="12700">
            <a:solidFill>
              <a:schemeClr val="accent1"/>
            </a:solid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32" name="YOYOON23"/>
          <p:cNvSpPr/>
          <p:nvPr/>
        </p:nvSpPr>
        <p:spPr>
          <a:xfrm>
            <a:off x="9881235" y="1971040"/>
            <a:ext cx="1904365" cy="1353185"/>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4735" y="21581"/>
                </a:lnTo>
                <a:lnTo>
                  <a:pt x="21593" y="21600"/>
                </a:lnTo>
                <a:lnTo>
                  <a:pt x="21600" y="0"/>
                </a:lnTo>
                <a:close/>
              </a:path>
            </a:pathLst>
          </a:custGeom>
          <a:noFill/>
          <a:ln w="12700">
            <a:solidFill>
              <a:schemeClr val="accent1"/>
            </a:solidFill>
            <a:miter lim="400000"/>
          </a:ln>
        </p:spPr>
        <p:txBody>
          <a:bodyPr lIns="0" tIns="0" rIns="0" bIns="0" anchor="ctr"/>
          <a:lstStyle/>
          <a:p>
            <a:pPr defTabSz="1828165">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33" name="YOYOON24"/>
          <p:cNvSpPr/>
          <p:nvPr/>
        </p:nvSpPr>
        <p:spPr>
          <a:xfrm>
            <a:off x="9667240" y="1278255"/>
            <a:ext cx="2117725" cy="59499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1864" y="21572"/>
                </a:lnTo>
                <a:lnTo>
                  <a:pt x="0" y="0"/>
                </a:lnTo>
                <a:close/>
              </a:path>
            </a:pathLst>
          </a:custGeom>
          <a:gradFill>
            <a:gsLst>
              <a:gs pos="0">
                <a:schemeClr val="accent1"/>
              </a:gs>
              <a:gs pos="100000">
                <a:schemeClr val="accent1">
                  <a:lumMod val="60000"/>
                  <a:lumOff val="40000"/>
                </a:schemeClr>
              </a:gs>
            </a:gsLst>
            <a:lin ang="2700000" scaled="0"/>
          </a:gradFill>
          <a:ln w="12700">
            <a:miter lim="400000"/>
          </a:ln>
        </p:spPr>
        <p:txBody>
          <a:bodyPr lIns="0" tIns="0" rIns="0" bIns="0" anchor="ctr">
            <a:noAutofit/>
          </a:bodyPr>
          <a:lstStyle/>
          <a:p>
            <a:pPr lvl="0" algn="l" defTabSz="1828165">
              <a:buClrTx/>
              <a:buSzTx/>
              <a:buFontTx/>
              <a:defRPr sz="3200" b="0">
                <a:solidFill>
                  <a:srgbClr val="FFFFFF"/>
                </a:solidFill>
                <a:latin typeface="+mn-lt"/>
                <a:ea typeface="+mn-ea"/>
                <a:cs typeface="+mn-cs"/>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37" name="YOYOON25"/>
          <p:cNvSpPr txBox="1"/>
          <p:nvPr/>
        </p:nvSpPr>
        <p:spPr>
          <a:xfrm>
            <a:off x="10220325" y="2136140"/>
            <a:ext cx="1465580" cy="869950"/>
          </a:xfrm>
          <a:prstGeom prst="rect">
            <a:avLst/>
          </a:prstGeom>
          <a:ln w="12700">
            <a:miter lim="400000"/>
          </a:ln>
        </p:spPr>
        <p:txBody>
          <a:bodyPr wrap="square" lIns="25398" tIns="25398" rIns="25398" bIns="25398">
            <a:spAutoFit/>
          </a:bodyPr>
          <a:lstStyle>
            <a:lvl1pPr algn="l">
              <a:defRPr sz="2000" b="0">
                <a:solidFill>
                  <a:srgbClr val="FFFFFF"/>
                </a:solidFill>
                <a:latin typeface="Manrope ExtraLight SemiBold"/>
                <a:ea typeface="Manrope ExtraLight SemiBold"/>
                <a:cs typeface="Manrope ExtraLight SemiBold"/>
                <a:sym typeface="Manrope ExtraLight SemiBold"/>
              </a:defRPr>
            </a:lvl1pPr>
          </a:lstStyle>
          <a:p>
            <a:pPr marL="171450" indent="-171450" algn="l" defTabSz="1828165" fontAlgn="auto">
              <a:lnSpc>
                <a:spcPts val="1600"/>
              </a:lnSpc>
              <a:buFont typeface="Wingdings" panose="05000000000000000000" charset="0"/>
              <a:buChar char="ü"/>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KPI</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达成率</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≥95%</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71450" indent="-171450" algn="l" defTabSz="1828165" fontAlgn="auto">
              <a:lnSpc>
                <a:spcPts val="1600"/>
              </a:lnSpc>
              <a:buFont typeface="Wingdings" panose="05000000000000000000" charset="0"/>
              <a:buChar char="ü"/>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关键过程指标偏差控制在</a:t>
            </a:r>
            <a:r>
              <a:rPr lang="en-US"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10%</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以内；</a:t>
            </a:r>
            <a:endPar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71450" indent="-171450" algn="l" defTabSz="1828165" fontAlgn="auto">
              <a:lnSpc>
                <a:spcPts val="1600"/>
              </a:lnSpc>
              <a:buFont typeface="Wingdings" panose="05000000000000000000" charset="0"/>
              <a:buChar char="ü"/>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策略有效性验证</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≥2</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次。</a:t>
            </a:r>
            <a:endPar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40" name="YOYOON28"/>
          <p:cNvSpPr txBox="1"/>
          <p:nvPr/>
        </p:nvSpPr>
        <p:spPr>
          <a:xfrm>
            <a:off x="1405890" y="1356360"/>
            <a:ext cx="1759585" cy="433705"/>
          </a:xfrm>
          <a:prstGeom prst="rect">
            <a:avLst/>
          </a:prstGeom>
          <a:ln w="12700">
            <a:miter lim="400000"/>
          </a:ln>
        </p:spPr>
        <p:txBody>
          <a:bodyPr wrap="square" lIns="25398" tIns="25398" rIns="25398" bIns="25398">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algn="ctr"/>
            <a:r>
              <a:rPr lang="zh-CN" altLang="en-US" sz="15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第一阶段：启动</a:t>
            </a:r>
            <a:endParaRPr lang="zh-CN" altLang="en-US" sz="15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r>
              <a:rPr lang="zh-CN" altLang="en-US"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2025.1-2025.6</a:t>
            </a:r>
            <a:r>
              <a:rPr lang="zh-CN" altLang="en-US"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45" name="YOYOON33"/>
          <p:cNvSpPr txBox="1"/>
          <p:nvPr/>
        </p:nvSpPr>
        <p:spPr>
          <a:xfrm>
            <a:off x="559435" y="1448435"/>
            <a:ext cx="464185" cy="280035"/>
          </a:xfrm>
          <a:prstGeom prst="rect">
            <a:avLst/>
          </a:prstGeom>
          <a:ln w="12700">
            <a:miter lim="400000"/>
          </a:ln>
        </p:spPr>
        <p:txBody>
          <a:bodyPr wrap="square" lIns="25398" tIns="25398" rIns="25398" bIns="25398">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altLang="en-US" sz="15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立项</a:t>
            </a:r>
            <a:endParaRPr lang="zh-CN" altLang="en-US" sz="15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1604" name="YOYOON34"/>
          <p:cNvGrpSpPr/>
          <p:nvPr/>
        </p:nvGrpSpPr>
        <p:grpSpPr>
          <a:xfrm rot="0">
            <a:off x="2215515" y="3722987"/>
            <a:ext cx="1517650" cy="780452"/>
            <a:chOff x="2383158" y="2987644"/>
            <a:chExt cx="1474651" cy="650187"/>
          </a:xfrm>
        </p:grpSpPr>
        <p:sp>
          <p:nvSpPr>
            <p:cNvPr id="1672" name="YOYOON1"/>
            <p:cNvSpPr txBox="1"/>
            <p:nvPr/>
          </p:nvSpPr>
          <p:spPr>
            <a:xfrm>
              <a:off x="2383158" y="3211976"/>
              <a:ext cx="1474651" cy="425855"/>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64697F"/>
                  </a:solidFill>
                  <a:latin typeface="Manrope ExtraLight Regular"/>
                  <a:ea typeface="Manrope ExtraLight Regular"/>
                  <a:cs typeface="Manrope ExtraLight Regular"/>
                  <a:sym typeface="Manrope ExtraLight Regular"/>
                </a:defRPr>
              </a:lvl1pPr>
            </a:lstStyle>
            <a:p>
              <a:pPr defTabSz="1828165"/>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分析竞品与用户需求，组建项目小组，输出包含背景与预算的立项草案。</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73" name="YOYOON2"/>
            <p:cNvSpPr txBox="1"/>
            <p:nvPr/>
          </p:nvSpPr>
          <p:spPr>
            <a:xfrm>
              <a:off x="2386003" y="2987644"/>
              <a:ext cx="1364259" cy="194677"/>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调研立项</a:t>
              </a:r>
              <a:endPar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3" name="YOYOON35"/>
          <p:cNvGrpSpPr/>
          <p:nvPr/>
        </p:nvGrpSpPr>
        <p:grpSpPr>
          <a:xfrm rot="0">
            <a:off x="1840230" y="2263130"/>
            <a:ext cx="1640840" cy="765194"/>
            <a:chOff x="2535558" y="3152740"/>
            <a:chExt cx="1474651" cy="637520"/>
          </a:xfrm>
        </p:grpSpPr>
        <p:sp>
          <p:nvSpPr>
            <p:cNvPr id="4" name="YOYOON3"/>
            <p:cNvSpPr txBox="1"/>
            <p:nvPr/>
          </p:nvSpPr>
          <p:spPr>
            <a:xfrm>
              <a:off x="2535558" y="3364376"/>
              <a:ext cx="1474651" cy="425884"/>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64697F"/>
                  </a:solidFill>
                  <a:latin typeface="Manrope ExtraLight Regular"/>
                  <a:ea typeface="Manrope ExtraLight Regular"/>
                  <a:cs typeface="Manrope ExtraLight Regular"/>
                  <a:sym typeface="Manrope ExtraLight Regular"/>
                </a:defRPr>
              </a:lvl1pPr>
            </a:lstStyle>
            <a:p>
              <a:pPr defTabSz="1828165"/>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将北极星指标（如</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GMV</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）拆解为流量</a:t>
              </a:r>
              <a:r>
                <a:rPr lang="en-US"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转化率</a:t>
              </a:r>
              <a:r>
                <a:rPr lang="en-US"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客单价，明确核心玩法与策略方向。</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9" name="YOYOON4"/>
            <p:cNvSpPr txBox="1"/>
            <p:nvPr/>
          </p:nvSpPr>
          <p:spPr>
            <a:xfrm>
              <a:off x="2538403" y="3152740"/>
              <a:ext cx="1364259" cy="194690"/>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目标拆解</a:t>
              </a:r>
              <a:endPar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30" name="YOYOON36"/>
          <p:cNvGrpSpPr/>
          <p:nvPr/>
        </p:nvGrpSpPr>
        <p:grpSpPr>
          <a:xfrm rot="0">
            <a:off x="4020185" y="2186286"/>
            <a:ext cx="1517650" cy="918882"/>
            <a:chOff x="2535558" y="3152740"/>
            <a:chExt cx="1474651" cy="765512"/>
          </a:xfrm>
        </p:grpSpPr>
        <p:sp>
          <p:nvSpPr>
            <p:cNvPr id="31" name="YOYOON5"/>
            <p:cNvSpPr txBox="1"/>
            <p:nvPr/>
          </p:nvSpPr>
          <p:spPr>
            <a:xfrm>
              <a:off x="2535558" y="3364376"/>
              <a:ext cx="1474651" cy="553876"/>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64697F"/>
                  </a:solidFill>
                  <a:latin typeface="Manrope ExtraLight Regular"/>
                  <a:ea typeface="Manrope ExtraLight Regular"/>
                  <a:cs typeface="Manrope ExtraLight Regular"/>
                  <a:sym typeface="Manrope ExtraLight Regular"/>
                </a:defRPr>
              </a:lvl1pPr>
            </a:lstStyle>
            <a:p>
              <a:pPr defTabSz="1828165"/>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将北极星指标拆解为过程指标（如</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GMV=</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流量</a:t>
              </a:r>
              <a:r>
                <a:rPr lang="en-US"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转化率</a:t>
              </a:r>
              <a:r>
                <a:rPr lang="en-US"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客单价），并细化文案视觉策略。</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2" name="YOYOON6"/>
            <p:cNvSpPr txBox="1"/>
            <p:nvPr/>
          </p:nvSpPr>
          <p:spPr>
            <a:xfrm>
              <a:off x="2538403" y="3152740"/>
              <a:ext cx="1364259" cy="194677"/>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细化指标</a:t>
              </a:r>
              <a:endParaRPr lang="zh-CN"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57" name="YOYOON39"/>
          <p:cNvGrpSpPr/>
          <p:nvPr/>
        </p:nvGrpSpPr>
        <p:grpSpPr>
          <a:xfrm rot="0">
            <a:off x="1922780" y="5226685"/>
            <a:ext cx="1438910" cy="765175"/>
            <a:chOff x="2535558" y="3152740"/>
            <a:chExt cx="1398142" cy="637460"/>
          </a:xfrm>
        </p:grpSpPr>
        <p:sp>
          <p:nvSpPr>
            <p:cNvPr id="58" name="YOYOON11"/>
            <p:cNvSpPr txBox="1"/>
            <p:nvPr/>
          </p:nvSpPr>
          <p:spPr>
            <a:xfrm>
              <a:off x="2535558" y="3364345"/>
              <a:ext cx="1398142" cy="425855"/>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64697F"/>
                  </a:solidFill>
                  <a:latin typeface="Manrope ExtraLight Regular"/>
                  <a:ea typeface="Manrope ExtraLight Regular"/>
                  <a:cs typeface="Manrope ExtraLight Regular"/>
                  <a:sym typeface="Manrope ExtraLight Regular"/>
                </a:defRPr>
              </a:lvl1pPr>
            </a:lstStyle>
            <a:p>
              <a:pPr defTabSz="1828165"/>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产出含目标、预算的正式文档，并明确项目是否继续推进的关键决策。</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0" name="YOYOON12"/>
            <p:cNvSpPr txBox="1"/>
            <p:nvPr/>
          </p:nvSpPr>
          <p:spPr>
            <a:xfrm>
              <a:off x="2538403" y="3152740"/>
              <a:ext cx="1364259" cy="194677"/>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立项说明书与决策</a:t>
              </a:r>
              <a:endPar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61" name="YOYOON40"/>
          <p:cNvGrpSpPr/>
          <p:nvPr/>
        </p:nvGrpSpPr>
        <p:grpSpPr>
          <a:xfrm rot="0">
            <a:off x="4053205" y="5226685"/>
            <a:ext cx="1439545" cy="765176"/>
            <a:chOff x="2535558" y="3152740"/>
            <a:chExt cx="1398759" cy="637460"/>
          </a:xfrm>
        </p:grpSpPr>
        <p:sp>
          <p:nvSpPr>
            <p:cNvPr id="62" name="YOYOON13"/>
            <p:cNvSpPr txBox="1"/>
            <p:nvPr/>
          </p:nvSpPr>
          <p:spPr>
            <a:xfrm>
              <a:off x="2535558" y="3364345"/>
              <a:ext cx="1398759" cy="425855"/>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64697F"/>
                  </a:solidFill>
                  <a:latin typeface="Manrope ExtraLight Regular"/>
                  <a:ea typeface="Manrope ExtraLight Regular"/>
                  <a:cs typeface="Manrope ExtraLight Regular"/>
                  <a:sym typeface="Manrope ExtraLight Regular"/>
                </a:defRPr>
              </a:lvl1pPr>
            </a:lstStyle>
            <a:p>
              <a:pPr defTabSz="1828165"/>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输出详细时间排期表，列出所有需设计的海报、</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H5</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、文案清单。</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3" name="YOYOON14"/>
            <p:cNvSpPr txBox="1"/>
            <p:nvPr/>
          </p:nvSpPr>
          <p:spPr>
            <a:xfrm>
              <a:off x="2538403" y="3152740"/>
              <a:ext cx="1364259" cy="194676"/>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进度表与物料清单</a:t>
              </a: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84" name="YOYOON43"/>
          <p:cNvGrpSpPr/>
          <p:nvPr/>
        </p:nvGrpSpPr>
        <p:grpSpPr>
          <a:xfrm rot="0">
            <a:off x="4410075" y="3730606"/>
            <a:ext cx="1517650" cy="765212"/>
            <a:chOff x="2535558" y="3152740"/>
            <a:chExt cx="1474651" cy="637491"/>
          </a:xfrm>
        </p:grpSpPr>
        <p:sp>
          <p:nvSpPr>
            <p:cNvPr id="85" name="YOYOON19"/>
            <p:cNvSpPr txBox="1"/>
            <p:nvPr/>
          </p:nvSpPr>
          <p:spPr>
            <a:xfrm>
              <a:off x="2535558" y="3364376"/>
              <a:ext cx="1474651" cy="425855"/>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64697F"/>
                  </a:solidFill>
                  <a:latin typeface="Manrope ExtraLight Regular"/>
                  <a:ea typeface="Manrope ExtraLight Regular"/>
                  <a:cs typeface="Manrope ExtraLight Regular"/>
                  <a:sym typeface="Manrope ExtraLight Regular"/>
                </a:defRPr>
              </a:lvl1pPr>
            </a:lstStyle>
            <a:p>
              <a:pPr defTabSz="1828165"/>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制定甘特图明确时间节点与责任人，锁定推广位、预算及技术资源。</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6" name="YOYOON20"/>
            <p:cNvSpPr txBox="1"/>
            <p:nvPr/>
          </p:nvSpPr>
          <p:spPr>
            <a:xfrm>
              <a:off x="2538403" y="3152740"/>
              <a:ext cx="1364259" cy="194677"/>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排期协调</a:t>
              </a: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1607" name="YOYOON46"/>
          <p:cNvGrpSpPr/>
          <p:nvPr/>
        </p:nvGrpSpPr>
        <p:grpSpPr>
          <a:xfrm rot="0">
            <a:off x="518979" y="2292317"/>
            <a:ext cx="831482" cy="713806"/>
            <a:chOff x="764929" y="1839769"/>
            <a:chExt cx="807936" cy="594805"/>
          </a:xfrm>
        </p:grpSpPr>
        <p:sp>
          <p:nvSpPr>
            <p:cNvPr id="1634" name="YOYOON25"/>
            <p:cNvSpPr txBox="1"/>
            <p:nvPr/>
          </p:nvSpPr>
          <p:spPr>
            <a:xfrm>
              <a:off x="764929" y="2085873"/>
              <a:ext cx="807319" cy="348701"/>
            </a:xfrm>
            <a:prstGeom prst="rect">
              <a:avLst/>
            </a:prstGeom>
            <a:ln w="12700">
              <a:miter lim="400000"/>
            </a:ln>
          </p:spPr>
          <p:txBody>
            <a:bodyPr lIns="25398" tIns="25398" rIns="25398" bIns="25398">
              <a:spAutoFit/>
            </a:bodyPr>
            <a:lstStyle>
              <a:lvl1pPr algn="l">
                <a:defRPr sz="2000" b="0">
                  <a:solidFill>
                    <a:srgbClr val="FFFFFF"/>
                  </a:solidFill>
                  <a:latin typeface="Manrope ExtraLight SemiBold"/>
                  <a:ea typeface="Manrope ExtraLight SemiBold"/>
                  <a:cs typeface="Manrope ExtraLight SemiBold"/>
                  <a:sym typeface="Manrope ExtraLight SemiBold"/>
                </a:defRPr>
              </a:lvl1pPr>
            </a:lstStyle>
            <a:p>
              <a:pPr algn="ctr" defTabSz="1828165"/>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目标策略</a:t>
              </a:r>
              <a:endPar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defTabSz="1828165"/>
              <a:r>
                <a:rPr 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（做什么）</a:t>
              </a:r>
              <a:endParaRPr 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05" name="YOYOON26"/>
            <p:cNvSpPr txBox="1"/>
            <p:nvPr/>
          </p:nvSpPr>
          <p:spPr>
            <a:xfrm>
              <a:off x="765546" y="1839769"/>
              <a:ext cx="807319" cy="246049"/>
            </a:xfrm>
            <a:prstGeom prst="rect">
              <a:avLst/>
            </a:prstGeom>
            <a:ln w="12700">
              <a:miter lim="400000"/>
            </a:ln>
          </p:spPr>
          <p:txBody>
            <a:bodyPr lIns="25398" tIns="25398" rIns="25398" bIns="25398">
              <a:spAutoFit/>
            </a:bodyPr>
            <a:lstStyle>
              <a:lvl1pPr algn="l">
                <a:defRPr sz="2000" b="0">
                  <a:solidFill>
                    <a:srgbClr val="FFFFFF"/>
                  </a:solidFill>
                  <a:latin typeface="Manrope ExtraLight SemiBold"/>
                  <a:ea typeface="Manrope ExtraLight SemiBold"/>
                  <a:cs typeface="Manrope ExtraLight SemiBold"/>
                  <a:sym typeface="Manrope ExtraLight SemiBold"/>
                </a:defRPr>
              </a:lvl1pPr>
            </a:lstStyle>
            <a:p>
              <a:pPr algn="ctr" defTabSz="1828165"/>
              <a:r>
                <a:rPr lang="en-US" altLang="zh-CN" sz="16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01</a:t>
              </a:r>
              <a:endParaRPr sz="16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
        <p:nvSpPr>
          <p:cNvPr id="90" name="YOYOON28"/>
          <p:cNvSpPr txBox="1"/>
          <p:nvPr/>
        </p:nvSpPr>
        <p:spPr>
          <a:xfrm>
            <a:off x="3522980" y="1356360"/>
            <a:ext cx="1759585" cy="433705"/>
          </a:xfrm>
          <a:prstGeom prst="rect">
            <a:avLst/>
          </a:prstGeom>
          <a:ln w="12700">
            <a:miter lim="400000"/>
          </a:ln>
        </p:spPr>
        <p:txBody>
          <a:bodyPr wrap="square" lIns="25398" tIns="25398" rIns="25398" bIns="25398">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algn="ctr"/>
            <a:r>
              <a:rPr lang="zh-CN" altLang="en-US" sz="15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第二阶段：规划</a:t>
            </a:r>
            <a:endParaRPr lang="zh-CN" altLang="en-US" sz="15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r>
              <a:rPr lang="zh-CN" altLang="en-US"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2025.7-2026.2</a:t>
            </a:r>
            <a:r>
              <a:rPr lang="zh-CN" altLang="en-US"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1" name="YOYOON28"/>
          <p:cNvSpPr txBox="1"/>
          <p:nvPr/>
        </p:nvSpPr>
        <p:spPr>
          <a:xfrm>
            <a:off x="5641975" y="1356360"/>
            <a:ext cx="1759585" cy="433705"/>
          </a:xfrm>
          <a:prstGeom prst="rect">
            <a:avLst/>
          </a:prstGeom>
          <a:ln w="12700">
            <a:miter lim="400000"/>
          </a:ln>
        </p:spPr>
        <p:txBody>
          <a:bodyPr wrap="square" lIns="25398" tIns="25398" rIns="25398" bIns="25398">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algn="ctr"/>
            <a:r>
              <a:rPr lang="zh-CN" altLang="en-US" sz="15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第三阶段：执行</a:t>
            </a:r>
            <a:endParaRPr lang="zh-CN" altLang="en-US" sz="15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r>
              <a:rPr lang="zh-CN" altLang="en-US"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2026.3-2026.8</a:t>
            </a:r>
            <a:r>
              <a:rPr lang="zh-CN" altLang="en-US"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2" name="YOYOON28"/>
          <p:cNvSpPr txBox="1"/>
          <p:nvPr/>
        </p:nvSpPr>
        <p:spPr>
          <a:xfrm>
            <a:off x="7761605" y="1356360"/>
            <a:ext cx="1759585" cy="433705"/>
          </a:xfrm>
          <a:prstGeom prst="rect">
            <a:avLst/>
          </a:prstGeom>
          <a:ln w="12700">
            <a:miter lim="400000"/>
          </a:ln>
        </p:spPr>
        <p:txBody>
          <a:bodyPr wrap="square" lIns="25398" tIns="25398" rIns="25398" bIns="25398">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algn="ctr"/>
            <a:r>
              <a:rPr lang="zh-CN" altLang="en-US" sz="15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第四阶段：复盘</a:t>
            </a:r>
            <a:endParaRPr lang="zh-CN" altLang="en-US" sz="15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r>
              <a:rPr lang="zh-CN" altLang="en-US"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2026.9-2026.12</a:t>
            </a:r>
            <a:r>
              <a:rPr lang="zh-CN" altLang="en-US"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0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3" name="YOYOON33"/>
          <p:cNvSpPr txBox="1"/>
          <p:nvPr/>
        </p:nvSpPr>
        <p:spPr>
          <a:xfrm>
            <a:off x="10382250" y="1448435"/>
            <a:ext cx="935990" cy="280035"/>
          </a:xfrm>
          <a:prstGeom prst="rect">
            <a:avLst/>
          </a:prstGeom>
          <a:ln w="12700">
            <a:miter lim="400000"/>
          </a:ln>
        </p:spPr>
        <p:txBody>
          <a:bodyPr wrap="square" lIns="25398" tIns="25398" rIns="25398" bIns="25398">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altLang="en-US" sz="15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成果预期</a:t>
            </a:r>
            <a:endParaRPr lang="zh-CN" altLang="en-US" sz="15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2" name="YOYOON46"/>
          <p:cNvGrpSpPr/>
          <p:nvPr/>
        </p:nvGrpSpPr>
        <p:grpSpPr>
          <a:xfrm rot="0">
            <a:off x="671379" y="3755357"/>
            <a:ext cx="831482" cy="713806"/>
            <a:chOff x="764929" y="1839769"/>
            <a:chExt cx="807936" cy="594805"/>
          </a:xfrm>
        </p:grpSpPr>
        <p:sp>
          <p:nvSpPr>
            <p:cNvPr id="6" name="YOYOON25"/>
            <p:cNvSpPr txBox="1"/>
            <p:nvPr/>
          </p:nvSpPr>
          <p:spPr>
            <a:xfrm>
              <a:off x="764929" y="2085873"/>
              <a:ext cx="807319" cy="348701"/>
            </a:xfrm>
            <a:prstGeom prst="rect">
              <a:avLst/>
            </a:prstGeom>
            <a:ln w="12700">
              <a:miter lim="400000"/>
            </a:ln>
          </p:spPr>
          <p:txBody>
            <a:bodyPr lIns="25398" tIns="25398" rIns="25398" bIns="25398">
              <a:spAutoFit/>
            </a:bodyPr>
            <a:lstStyle>
              <a:lvl1pPr algn="l">
                <a:defRPr sz="2000" b="0">
                  <a:solidFill>
                    <a:srgbClr val="FFFFFF"/>
                  </a:solidFill>
                  <a:latin typeface="Manrope ExtraLight SemiBold"/>
                  <a:ea typeface="Manrope ExtraLight SemiBold"/>
                  <a:cs typeface="Manrope ExtraLight SemiBold"/>
                  <a:sym typeface="Manrope ExtraLight SemiBold"/>
                </a:defRPr>
              </a:lvl1pPr>
            </a:lstStyle>
            <a:p>
              <a:pPr algn="ctr" defTabSz="1828165"/>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执行过程</a:t>
              </a:r>
              <a:endPar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defTabSz="1828165"/>
              <a:r>
                <a:rPr 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（怎么做）</a:t>
              </a:r>
              <a:endParaRPr 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YOYOON26"/>
            <p:cNvSpPr txBox="1"/>
            <p:nvPr/>
          </p:nvSpPr>
          <p:spPr>
            <a:xfrm>
              <a:off x="765546" y="1839769"/>
              <a:ext cx="807319" cy="246049"/>
            </a:xfrm>
            <a:prstGeom prst="rect">
              <a:avLst/>
            </a:prstGeom>
            <a:ln w="12700">
              <a:miter lim="400000"/>
            </a:ln>
          </p:spPr>
          <p:txBody>
            <a:bodyPr lIns="25398" tIns="25398" rIns="25398" bIns="25398">
              <a:spAutoFit/>
            </a:bodyPr>
            <a:lstStyle>
              <a:lvl1pPr algn="l">
                <a:defRPr sz="2000" b="0">
                  <a:solidFill>
                    <a:srgbClr val="FFFFFF"/>
                  </a:solidFill>
                  <a:latin typeface="Manrope ExtraLight SemiBold"/>
                  <a:ea typeface="Manrope ExtraLight SemiBold"/>
                  <a:cs typeface="Manrope ExtraLight SemiBold"/>
                  <a:sym typeface="Manrope ExtraLight SemiBold"/>
                </a:defRPr>
              </a:lvl1pPr>
            </a:lstStyle>
            <a:p>
              <a:pPr algn="ctr" defTabSz="1828165"/>
              <a:r>
                <a:rPr lang="en-US" altLang="zh-CN" sz="16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02</a:t>
              </a:r>
              <a:endParaRPr sz="16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8" name="YOYOON46"/>
          <p:cNvGrpSpPr/>
          <p:nvPr/>
        </p:nvGrpSpPr>
        <p:grpSpPr>
          <a:xfrm rot="0">
            <a:off x="526599" y="5176487"/>
            <a:ext cx="831482" cy="713806"/>
            <a:chOff x="764929" y="1839769"/>
            <a:chExt cx="807936" cy="594805"/>
          </a:xfrm>
        </p:grpSpPr>
        <p:sp>
          <p:nvSpPr>
            <p:cNvPr id="9" name="YOYOON25"/>
            <p:cNvSpPr txBox="1"/>
            <p:nvPr/>
          </p:nvSpPr>
          <p:spPr>
            <a:xfrm>
              <a:off x="764929" y="2085873"/>
              <a:ext cx="807319" cy="348701"/>
            </a:xfrm>
            <a:prstGeom prst="rect">
              <a:avLst/>
            </a:prstGeom>
            <a:ln w="12700">
              <a:miter lim="400000"/>
            </a:ln>
          </p:spPr>
          <p:txBody>
            <a:bodyPr lIns="25398" tIns="25398" rIns="25398" bIns="25398">
              <a:spAutoFit/>
            </a:bodyPr>
            <a:lstStyle>
              <a:lvl1pPr algn="l">
                <a:defRPr sz="2000" b="0">
                  <a:solidFill>
                    <a:srgbClr val="FFFFFF"/>
                  </a:solidFill>
                  <a:latin typeface="Manrope ExtraLight SemiBold"/>
                  <a:ea typeface="Manrope ExtraLight SemiBold"/>
                  <a:cs typeface="Manrope ExtraLight SemiBold"/>
                  <a:sym typeface="Manrope ExtraLight SemiBold"/>
                </a:defRPr>
              </a:lvl1pPr>
            </a:lstStyle>
            <a:p>
              <a:pPr algn="ctr" defTabSz="1828165"/>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结果沉淀</a:t>
              </a:r>
              <a:endPar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defTabSz="1828165"/>
              <a:r>
                <a:rPr 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（产出什么）</a:t>
              </a:r>
              <a:endParaRPr 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YOYOON26"/>
            <p:cNvSpPr txBox="1"/>
            <p:nvPr/>
          </p:nvSpPr>
          <p:spPr>
            <a:xfrm>
              <a:off x="765546" y="1839769"/>
              <a:ext cx="807319" cy="246049"/>
            </a:xfrm>
            <a:prstGeom prst="rect">
              <a:avLst/>
            </a:prstGeom>
            <a:ln w="12700">
              <a:miter lim="400000"/>
            </a:ln>
          </p:spPr>
          <p:txBody>
            <a:bodyPr lIns="25398" tIns="25398" rIns="25398" bIns="25398">
              <a:spAutoFit/>
            </a:bodyPr>
            <a:lstStyle>
              <a:lvl1pPr algn="l">
                <a:defRPr sz="2000" b="0">
                  <a:solidFill>
                    <a:srgbClr val="FFFFFF"/>
                  </a:solidFill>
                  <a:latin typeface="Manrope ExtraLight SemiBold"/>
                  <a:ea typeface="Manrope ExtraLight SemiBold"/>
                  <a:cs typeface="Manrope ExtraLight SemiBold"/>
                  <a:sym typeface="Manrope ExtraLight SemiBold"/>
                </a:defRPr>
              </a:lvl1pPr>
            </a:lstStyle>
            <a:p>
              <a:pPr algn="ctr" defTabSz="1828165"/>
              <a:r>
                <a:rPr lang="en-US" altLang="zh-CN" sz="16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03</a:t>
              </a:r>
              <a:endParaRPr sz="16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35" name="YOYOON34"/>
          <p:cNvGrpSpPr/>
          <p:nvPr/>
        </p:nvGrpSpPr>
        <p:grpSpPr>
          <a:xfrm rot="0">
            <a:off x="6484620" y="3722987"/>
            <a:ext cx="1517650" cy="780452"/>
            <a:chOff x="2383158" y="2987644"/>
            <a:chExt cx="1474651" cy="650187"/>
          </a:xfrm>
        </p:grpSpPr>
        <p:sp>
          <p:nvSpPr>
            <p:cNvPr id="36" name="YOYOON1"/>
            <p:cNvSpPr txBox="1"/>
            <p:nvPr/>
          </p:nvSpPr>
          <p:spPr>
            <a:xfrm>
              <a:off x="2383158" y="3211976"/>
              <a:ext cx="1474651" cy="425855"/>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64697F"/>
                  </a:solidFill>
                  <a:latin typeface="Manrope ExtraLight Regular"/>
                  <a:ea typeface="Manrope ExtraLight Regular"/>
                  <a:cs typeface="Manrope ExtraLight Regular"/>
                  <a:sym typeface="Manrope ExtraLight Regular"/>
                </a:defRPr>
              </a:lvl1pPr>
            </a:lstStyle>
            <a:p>
              <a:pPr defTabSz="1828165"/>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小范围灰度验证后按节奏全面推广，同时监控舆情及时处理客诉。</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7" name="YOYOON2"/>
            <p:cNvSpPr txBox="1"/>
            <p:nvPr/>
          </p:nvSpPr>
          <p:spPr>
            <a:xfrm>
              <a:off x="2386003" y="2987644"/>
              <a:ext cx="1364259" cy="194677"/>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宣发与风控</a:t>
              </a:r>
              <a:endPar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38" name="YOYOON35"/>
          <p:cNvGrpSpPr/>
          <p:nvPr/>
        </p:nvGrpSpPr>
        <p:grpSpPr>
          <a:xfrm rot="0">
            <a:off x="6109335" y="2263130"/>
            <a:ext cx="1640840" cy="765195"/>
            <a:chOff x="2535558" y="3152740"/>
            <a:chExt cx="1474651" cy="637521"/>
          </a:xfrm>
        </p:grpSpPr>
        <p:sp>
          <p:nvSpPr>
            <p:cNvPr id="39" name="YOYOON3"/>
            <p:cNvSpPr txBox="1"/>
            <p:nvPr/>
          </p:nvSpPr>
          <p:spPr>
            <a:xfrm>
              <a:off x="2535558" y="3364376"/>
              <a:ext cx="1474651" cy="425885"/>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64697F"/>
                  </a:solidFill>
                  <a:latin typeface="Manrope ExtraLight Regular"/>
                  <a:ea typeface="Manrope ExtraLight Regular"/>
                  <a:cs typeface="Manrope ExtraLight Regular"/>
                  <a:sym typeface="Manrope ExtraLight Regular"/>
                </a:defRPr>
              </a:lvl1pPr>
            </a:lstStyle>
            <a:p>
              <a:pPr defTabSz="1828165"/>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每日监控数据看板，根据实时反馈快速</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A/B</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测试，优化素材话术确保不偏离目标。</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0" name="YOYOON4"/>
            <p:cNvSpPr txBox="1"/>
            <p:nvPr/>
          </p:nvSpPr>
          <p:spPr>
            <a:xfrm>
              <a:off x="2538403" y="3152740"/>
              <a:ext cx="1364259" cy="194690"/>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目标校准</a:t>
              </a:r>
              <a:endParaRPr lang="en-US" altLang="zh-CN"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41" name="YOYOON36"/>
          <p:cNvGrpSpPr/>
          <p:nvPr/>
        </p:nvGrpSpPr>
        <p:grpSpPr>
          <a:xfrm rot="0">
            <a:off x="8289290" y="2186286"/>
            <a:ext cx="1517650" cy="918882"/>
            <a:chOff x="2535558" y="3152740"/>
            <a:chExt cx="1474651" cy="765512"/>
          </a:xfrm>
        </p:grpSpPr>
        <p:sp>
          <p:nvSpPr>
            <p:cNvPr id="42" name="YOYOON5"/>
            <p:cNvSpPr txBox="1"/>
            <p:nvPr/>
          </p:nvSpPr>
          <p:spPr>
            <a:xfrm>
              <a:off x="2535558" y="3364376"/>
              <a:ext cx="1474651" cy="553876"/>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64697F"/>
                  </a:solidFill>
                  <a:latin typeface="Manrope ExtraLight Regular"/>
                  <a:ea typeface="Manrope ExtraLight Regular"/>
                  <a:cs typeface="Manrope ExtraLight Regular"/>
                  <a:sym typeface="Manrope ExtraLight Regular"/>
                </a:defRPr>
              </a:lvl1pPr>
            </a:lstStyle>
            <a:p>
              <a:pPr defTabSz="1828165"/>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对比结果与目标评估策略有效性，深入分析成功或失败的核心原因（渠道、文案等）。</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3" name="YOYOON6"/>
            <p:cNvSpPr txBox="1"/>
            <p:nvPr/>
          </p:nvSpPr>
          <p:spPr>
            <a:xfrm>
              <a:off x="2538403" y="3152740"/>
              <a:ext cx="1364259" cy="194677"/>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目标验证</a:t>
              </a:r>
              <a:endParaRPr lang="zh-CN"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44" name="YOYOON39"/>
          <p:cNvGrpSpPr/>
          <p:nvPr/>
        </p:nvGrpSpPr>
        <p:grpSpPr>
          <a:xfrm rot="0">
            <a:off x="6191885" y="5226685"/>
            <a:ext cx="1438910" cy="765175"/>
            <a:chOff x="2535558" y="3152740"/>
            <a:chExt cx="1398142" cy="637460"/>
          </a:xfrm>
        </p:grpSpPr>
        <p:sp>
          <p:nvSpPr>
            <p:cNvPr id="45" name="YOYOON11"/>
            <p:cNvSpPr txBox="1"/>
            <p:nvPr/>
          </p:nvSpPr>
          <p:spPr>
            <a:xfrm>
              <a:off x="2535558" y="3364345"/>
              <a:ext cx="1398142" cy="425855"/>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64697F"/>
                  </a:solidFill>
                  <a:latin typeface="Manrope ExtraLight Regular"/>
                  <a:ea typeface="Manrope ExtraLight Regular"/>
                  <a:cs typeface="Manrope ExtraLight Regular"/>
                  <a:sym typeface="Manrope ExtraLight Regular"/>
                </a:defRPr>
              </a:lvl1pPr>
            </a:lstStyle>
            <a:p>
              <a:pPr defTabSz="1828165"/>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每日记录核心数据波动及原因，收集用户真实声音供复盘。</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6" name="YOYOON12"/>
            <p:cNvSpPr txBox="1"/>
            <p:nvPr/>
          </p:nvSpPr>
          <p:spPr>
            <a:xfrm>
              <a:off x="2538403" y="3152740"/>
              <a:ext cx="1364259" cy="348619"/>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用户数据与反馈</a:t>
              </a:r>
              <a:endPar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defTabSz="1828165"/>
              <a:endPar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47" name="YOYOON40"/>
          <p:cNvGrpSpPr/>
          <p:nvPr/>
        </p:nvGrpSpPr>
        <p:grpSpPr>
          <a:xfrm rot="0">
            <a:off x="8322310" y="5226685"/>
            <a:ext cx="1439545" cy="918845"/>
            <a:chOff x="2535558" y="3152740"/>
            <a:chExt cx="1398759" cy="765480"/>
          </a:xfrm>
        </p:grpSpPr>
        <p:sp>
          <p:nvSpPr>
            <p:cNvPr id="48" name="YOYOON13"/>
            <p:cNvSpPr txBox="1"/>
            <p:nvPr/>
          </p:nvSpPr>
          <p:spPr>
            <a:xfrm>
              <a:off x="2535558" y="3364345"/>
              <a:ext cx="1398759" cy="553875"/>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64697F"/>
                  </a:solidFill>
                  <a:latin typeface="Manrope ExtraLight Regular"/>
                  <a:ea typeface="Manrope ExtraLight Regular"/>
                  <a:cs typeface="Manrope ExtraLight Regular"/>
                  <a:sym typeface="Manrope ExtraLight Regular"/>
                </a:defRPr>
              </a:lvl1pPr>
            </a:lstStyle>
            <a:p>
              <a:pPr defTabSz="1828165"/>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复盘报告与</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SOP</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更新：输出含数据总结、经验教训的报告，将踩坑或验证的方法固化。</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9" name="YOYOON14"/>
            <p:cNvSpPr txBox="1"/>
            <p:nvPr/>
          </p:nvSpPr>
          <p:spPr>
            <a:xfrm>
              <a:off x="2538403" y="3152740"/>
              <a:ext cx="1364259" cy="194676"/>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结果沉淀</a:t>
              </a: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50" name="YOYOON43"/>
          <p:cNvGrpSpPr/>
          <p:nvPr/>
        </p:nvGrpSpPr>
        <p:grpSpPr>
          <a:xfrm rot="0">
            <a:off x="8679180" y="3730606"/>
            <a:ext cx="1517650" cy="765212"/>
            <a:chOff x="2535558" y="3152740"/>
            <a:chExt cx="1474651" cy="637491"/>
          </a:xfrm>
        </p:grpSpPr>
        <p:sp>
          <p:nvSpPr>
            <p:cNvPr id="54" name="YOYOON19"/>
            <p:cNvSpPr txBox="1"/>
            <p:nvPr/>
          </p:nvSpPr>
          <p:spPr>
            <a:xfrm>
              <a:off x="2535558" y="3364376"/>
              <a:ext cx="1474651" cy="425855"/>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64697F"/>
                  </a:solidFill>
                  <a:latin typeface="Manrope ExtraLight Regular"/>
                  <a:ea typeface="Manrope ExtraLight Regular"/>
                  <a:cs typeface="Manrope ExtraLight Regular"/>
                  <a:sym typeface="Manrope ExtraLight Regular"/>
                </a:defRPr>
              </a:lvl1pPr>
            </a:lstStyle>
            <a:p>
              <a:pPr defTabSz="1828165"/>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漏斗分析各环节转化率，组织</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KISS</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模型复盘会梳理流程。</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9" name="YOYOON20"/>
            <p:cNvSpPr txBox="1"/>
            <p:nvPr/>
          </p:nvSpPr>
          <p:spPr>
            <a:xfrm>
              <a:off x="2538403" y="3152740"/>
              <a:ext cx="1364259" cy="194677"/>
            </a:xfrm>
            <a:prstGeom prst="rect">
              <a:avLst/>
            </a:prstGeom>
            <a:noFill/>
            <a:ln w="12700" cap="flat">
              <a:noFill/>
              <a:miter lim="400000"/>
            </a:ln>
            <a:effectLst/>
          </p:spPr>
          <p:txBody>
            <a:bodyPr wrap="square" lIns="25398" tIns="25398" rIns="25398" bIns="25398" numCol="1" anchor="t">
              <a:spAutoFit/>
            </a:bodyPr>
            <a:lstStyle>
              <a:lvl1pPr algn="l">
                <a:defRPr sz="2000" b="0">
                  <a:solidFill>
                    <a:srgbClr val="171B2C"/>
                  </a:solidFill>
                  <a:latin typeface="Manrope ExtraLight SemiBold"/>
                  <a:ea typeface="Manrope ExtraLight SemiBold"/>
                  <a:cs typeface="Manrope ExtraLight SemiBold"/>
                  <a:sym typeface="Manrope ExtraLight SemiBold"/>
                </a:defRPr>
              </a:lvl1pPr>
            </a:lstStyle>
            <a:p>
              <a:pPr defTabSz="1828165"/>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数据复盘与团队会</a:t>
              </a: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
        <p:nvSpPr>
          <p:cNvPr id="66" name="YOYOON25"/>
          <p:cNvSpPr txBox="1"/>
          <p:nvPr/>
        </p:nvSpPr>
        <p:spPr>
          <a:xfrm>
            <a:off x="10542270" y="3616960"/>
            <a:ext cx="1217295" cy="1075055"/>
          </a:xfrm>
          <a:prstGeom prst="rect">
            <a:avLst/>
          </a:prstGeom>
          <a:ln w="12700">
            <a:miter lim="400000"/>
          </a:ln>
        </p:spPr>
        <p:txBody>
          <a:bodyPr wrap="square" lIns="25398" tIns="25398" rIns="25398" bIns="25398">
            <a:spAutoFit/>
          </a:bodyPr>
          <a:lstStyle>
            <a:lvl1pPr algn="l">
              <a:defRPr sz="2000" b="0">
                <a:solidFill>
                  <a:srgbClr val="FFFFFF"/>
                </a:solidFill>
                <a:latin typeface="Manrope ExtraLight SemiBold"/>
                <a:ea typeface="Manrope ExtraLight SemiBold"/>
                <a:cs typeface="Manrope ExtraLight SemiBold"/>
                <a:sym typeface="Manrope ExtraLight SemiBold"/>
              </a:defRPr>
            </a:lvl1pPr>
          </a:lstStyle>
          <a:p>
            <a:pPr marL="171450" indent="-171450" algn="l" defTabSz="1828165" fontAlgn="auto">
              <a:lnSpc>
                <a:spcPts val="1600"/>
              </a:lnSpc>
              <a:buFont typeface="Wingdings" panose="05000000000000000000" charset="0"/>
              <a:buChar char="ü"/>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交付率</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100%</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71450" indent="-171450" algn="l" defTabSz="1828165" fontAlgn="auto">
              <a:lnSpc>
                <a:spcPts val="1600"/>
              </a:lnSpc>
              <a:buFont typeface="Wingdings" panose="05000000000000000000" charset="0"/>
              <a:buChar char="ü"/>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预算执行偏差率</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≤5%</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71450" indent="-171450" algn="l" defTabSz="1828165" fontAlgn="auto">
              <a:lnSpc>
                <a:spcPts val="1600"/>
              </a:lnSpc>
              <a:buFont typeface="Wingdings" panose="05000000000000000000" charset="0"/>
              <a:buChar char="ü"/>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舆情处理满意度</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≥90%</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7" name="YOYOON25"/>
          <p:cNvSpPr txBox="1"/>
          <p:nvPr/>
        </p:nvSpPr>
        <p:spPr>
          <a:xfrm>
            <a:off x="10314940" y="5174615"/>
            <a:ext cx="1217295" cy="869950"/>
          </a:xfrm>
          <a:prstGeom prst="rect">
            <a:avLst/>
          </a:prstGeom>
          <a:ln w="12700">
            <a:miter lim="400000"/>
          </a:ln>
        </p:spPr>
        <p:txBody>
          <a:bodyPr wrap="square" lIns="25398" tIns="25398" rIns="25398" bIns="25398">
            <a:spAutoFit/>
          </a:bodyPr>
          <a:lstStyle>
            <a:lvl1pPr algn="l">
              <a:defRPr sz="2000" b="0">
                <a:solidFill>
                  <a:srgbClr val="FFFFFF"/>
                </a:solidFill>
                <a:latin typeface="Manrope ExtraLight SemiBold"/>
                <a:ea typeface="Manrope ExtraLight SemiBold"/>
                <a:cs typeface="Manrope ExtraLight SemiBold"/>
                <a:sym typeface="Manrope ExtraLight SemiBold"/>
              </a:defRPr>
            </a:lvl1pPr>
          </a:lstStyle>
          <a:p>
            <a:pPr marL="171450" indent="-171450" algn="l" defTabSz="1828165" fontAlgn="auto">
              <a:lnSpc>
                <a:spcPts val="1600"/>
              </a:lnSpc>
              <a:buFont typeface="Wingdings" panose="05000000000000000000" charset="0"/>
              <a:buChar char="ü"/>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输出复盘报告</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1</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份</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71450" indent="-171450" algn="l" defTabSz="1828165" fontAlgn="auto">
              <a:lnSpc>
                <a:spcPts val="1600"/>
              </a:lnSpc>
              <a:buFont typeface="Wingdings" panose="05000000000000000000" charset="0"/>
              <a:buChar char="ü"/>
            </a:pPr>
            <a:r>
              <a:rPr 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沉淀案例库</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≥3</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个</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71450" indent="-171450" algn="l" defTabSz="1828165" fontAlgn="auto">
              <a:lnSpc>
                <a:spcPts val="1600"/>
              </a:lnSpc>
              <a:buFont typeface="Wingdings" panose="05000000000000000000" charset="0"/>
              <a:buChar char="ü"/>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团队能力提升评估</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≥85</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分</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9" name="矩形 18"/>
          <p:cNvSpPr/>
          <p:nvPr/>
        </p:nvSpPr>
        <p:spPr>
          <a:xfrm>
            <a:off x="0" y="4959350"/>
            <a:ext cx="12192000" cy="1898650"/>
          </a:xfrm>
          <a:prstGeom prst="rect">
            <a:avLst/>
          </a:prstGeom>
          <a:solidFill>
            <a:schemeClr val="accent1">
              <a:alpha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0" name="©显眼包PPT16"/>
          <p:cNvSpPr txBox="1"/>
          <p:nvPr/>
        </p:nvSpPr>
        <p:spPr>
          <a:xfrm>
            <a:off x="1898650" y="5447030"/>
            <a:ext cx="7307580" cy="923290"/>
          </a:xfrm>
          <a:prstGeom prst="rect">
            <a:avLst/>
          </a:prstGeom>
          <a:noFill/>
          <a:extLst>
            <a:ext uri="{909E8E84-426E-40DD-AFC4-6F175D3DCCD1}">
              <a14:hiddenFill xmlns:a14="http://schemas.microsoft.com/office/drawing/2010/main">
                <a:solidFill>
                  <a:schemeClr val="bg1"/>
                </a:solidFill>
              </a14:hiddenFill>
            </a:ext>
          </a:ex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3000" b="1" i="0" u="none" strike="noStrike" kern="1200" cap="none" spc="0" normalizeH="0" baseline="0" noProof="0" dirty="0">
                <a:ln w="3175">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j-ea"/>
              </a:rPr>
              <a:t>另一个配色效果供选择，删除本框即可！</a:t>
            </a:r>
            <a:endParaRPr kumimoji="0" lang="zh-CN" sz="3000" b="1" i="0" u="none" strike="noStrike" kern="1200" cap="none" spc="0" normalizeH="0" baseline="0" noProof="0" dirty="0">
              <a:ln w="3175">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j-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sz="3000" b="1" i="0" u="none" strike="noStrike" kern="1200" cap="none" spc="0" normalizeH="0" baseline="0" noProof="0" dirty="0">
                <a:ln w="3175">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j-ea"/>
              </a:rPr>
              <a:t>本页不计入页面数量</a:t>
            </a:r>
            <a:endParaRPr kumimoji="0" lang="zh-CN" sz="3000" b="1" i="0" u="none" strike="noStrike" kern="1200" cap="none" spc="0" normalizeH="0" baseline="0" noProof="0" dirty="0">
              <a:ln w="3175">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j-ea"/>
            </a:endParaRPr>
          </a:p>
        </p:txBody>
      </p: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12" name="图片 11"/>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3" name="文本框 12"/>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项目规划管理流程图</a:t>
            </a:r>
            <a:endParaRPr lang="en-US" altLang="zh-CN"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cxnSp>
        <p:nvCxnSpPr>
          <p:cNvPr id="69" name="直接连接符 68"/>
          <p:cNvCxnSpPr/>
          <p:nvPr/>
        </p:nvCxnSpPr>
        <p:spPr>
          <a:xfrm>
            <a:off x="719455" y="1899920"/>
            <a:ext cx="8525510" cy="0"/>
          </a:xfrm>
          <a:prstGeom prst="line">
            <a:avLst/>
          </a:prstGeom>
          <a:ln w="273050">
            <a:gradFill>
              <a:gsLst>
                <a:gs pos="0">
                  <a:schemeClr val="accent1">
                    <a:lumMod val="60000"/>
                    <a:lumOff val="40000"/>
                  </a:schemeClr>
                </a:gs>
                <a:gs pos="100000">
                  <a:schemeClr val="accent1"/>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71" name="弧形 70"/>
          <p:cNvSpPr/>
          <p:nvPr/>
        </p:nvSpPr>
        <p:spPr>
          <a:xfrm flipV="1">
            <a:off x="8286115" y="1899920"/>
            <a:ext cx="1898015" cy="1907540"/>
          </a:xfrm>
          <a:prstGeom prst="arc">
            <a:avLst>
              <a:gd name="adj1" fmla="val 16200000"/>
              <a:gd name="adj2" fmla="val 5392708"/>
            </a:avLst>
          </a:prstGeom>
          <a:ln w="273050">
            <a:gradFill>
              <a:gsLst>
                <a:gs pos="86000">
                  <a:schemeClr val="accent1">
                    <a:lumMod val="60000"/>
                    <a:lumOff val="40000"/>
                  </a:schemeClr>
                </a:gs>
                <a:gs pos="13000">
                  <a:schemeClr val="accent1"/>
                </a:gs>
              </a:gsLst>
              <a:lin ang="162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cxnSp>
        <p:nvCxnSpPr>
          <p:cNvPr id="72" name="直接连接符 71"/>
          <p:cNvCxnSpPr/>
          <p:nvPr/>
        </p:nvCxnSpPr>
        <p:spPr>
          <a:xfrm flipV="1">
            <a:off x="4907280" y="3807460"/>
            <a:ext cx="4337685" cy="0"/>
          </a:xfrm>
          <a:prstGeom prst="line">
            <a:avLst/>
          </a:prstGeom>
          <a:ln w="273050">
            <a:gradFill>
              <a:gsLst>
                <a:gs pos="0">
                  <a:schemeClr val="accent5">
                    <a:lumMod val="60000"/>
                    <a:lumOff val="40000"/>
                  </a:schemeClr>
                </a:gs>
                <a:gs pos="42000">
                  <a:schemeClr val="accent5">
                    <a:lumMod val="40000"/>
                    <a:lumOff val="60000"/>
                  </a:schemeClr>
                </a:gs>
                <a:gs pos="59000">
                  <a:schemeClr val="accent1">
                    <a:lumMod val="40000"/>
                    <a:lumOff val="60000"/>
                  </a:schemeClr>
                </a:gs>
                <a:gs pos="100000">
                  <a:schemeClr val="accent1">
                    <a:lumMod val="60000"/>
                    <a:lumOff val="4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74" name="弧形 73"/>
          <p:cNvSpPr/>
          <p:nvPr/>
        </p:nvSpPr>
        <p:spPr>
          <a:xfrm flipH="1" flipV="1">
            <a:off x="3961765" y="3806190"/>
            <a:ext cx="1905000" cy="1915160"/>
          </a:xfrm>
          <a:prstGeom prst="arc">
            <a:avLst>
              <a:gd name="adj1" fmla="val 16103491"/>
              <a:gd name="adj2" fmla="val 5392708"/>
            </a:avLst>
          </a:prstGeom>
          <a:ln w="273050">
            <a:gradFill>
              <a:gsLst>
                <a:gs pos="0">
                  <a:schemeClr val="accent5">
                    <a:lumMod val="60000"/>
                    <a:lumOff val="40000"/>
                  </a:schemeClr>
                </a:gs>
                <a:gs pos="100000">
                  <a:schemeClr val="accent5">
                    <a:lumMod val="60000"/>
                    <a:lumOff val="40000"/>
                  </a:scheme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cxnSp>
        <p:nvCxnSpPr>
          <p:cNvPr id="75" name="直接连接符 74"/>
          <p:cNvCxnSpPr/>
          <p:nvPr/>
        </p:nvCxnSpPr>
        <p:spPr>
          <a:xfrm>
            <a:off x="4926330" y="5720715"/>
            <a:ext cx="5924550" cy="0"/>
          </a:xfrm>
          <a:prstGeom prst="line">
            <a:avLst/>
          </a:prstGeom>
          <a:ln w="273050">
            <a:gradFill>
              <a:gsLst>
                <a:gs pos="0">
                  <a:schemeClr val="accent5">
                    <a:lumMod val="60000"/>
                    <a:lumOff val="40000"/>
                  </a:schemeClr>
                </a:gs>
                <a:gs pos="100000">
                  <a:schemeClr val="accent5"/>
                </a:gs>
              </a:gsLst>
              <a:lin ang="0" scaled="1"/>
              <a:tileRect/>
            </a:gradFill>
            <a:tailEnd type="triangle" w="sm" len="sm"/>
          </a:ln>
        </p:spPr>
        <p:style>
          <a:lnRef idx="1">
            <a:schemeClr val="accent1"/>
          </a:lnRef>
          <a:fillRef idx="0">
            <a:schemeClr val="accent1"/>
          </a:fillRef>
          <a:effectRef idx="0">
            <a:schemeClr val="accent1"/>
          </a:effectRef>
          <a:fontRef idx="minor">
            <a:schemeClr val="tx1"/>
          </a:fontRef>
        </p:style>
      </p:cxnSp>
      <p:sp>
        <p:nvSpPr>
          <p:cNvPr id="93" name="椭圆 92"/>
          <p:cNvSpPr/>
          <p:nvPr/>
        </p:nvSpPr>
        <p:spPr>
          <a:xfrm>
            <a:off x="10118568" y="2725982"/>
            <a:ext cx="132798" cy="133497"/>
          </a:xfrm>
          <a:prstGeom prst="ellipse">
            <a:avLst/>
          </a:prstGeom>
          <a:solidFill>
            <a:schemeClr val="accent1">
              <a:lumMod val="60000"/>
              <a:lumOff val="4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grpSp>
        <p:nvGrpSpPr>
          <p:cNvPr id="128" name="组合 127"/>
          <p:cNvGrpSpPr/>
          <p:nvPr/>
        </p:nvGrpSpPr>
        <p:grpSpPr>
          <a:xfrm>
            <a:off x="1678940" y="1205230"/>
            <a:ext cx="1309370" cy="1585595"/>
            <a:chOff x="2200" y="1770"/>
            <a:chExt cx="2062" cy="2497"/>
          </a:xfrm>
        </p:grpSpPr>
        <p:sp>
          <p:nvSpPr>
            <p:cNvPr id="3" name="椭圆 2"/>
            <p:cNvSpPr/>
            <p:nvPr/>
          </p:nvSpPr>
          <p:spPr>
            <a:xfrm>
              <a:off x="3127" y="2759"/>
              <a:ext cx="209" cy="210"/>
            </a:xfrm>
            <a:prstGeom prst="ellipse">
              <a:avLst/>
            </a:prstGeom>
            <a:solidFill>
              <a:schemeClr val="accent1">
                <a:lumMod val="60000"/>
                <a:lumOff val="4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grpSp>
          <p:nvGrpSpPr>
            <p:cNvPr id="9" name="组合 8"/>
            <p:cNvGrpSpPr/>
            <p:nvPr/>
          </p:nvGrpSpPr>
          <p:grpSpPr>
            <a:xfrm rot="0">
              <a:off x="2367" y="1770"/>
              <a:ext cx="1729" cy="736"/>
              <a:chOff x="1797" y="8377"/>
              <a:chExt cx="1729" cy="736"/>
            </a:xfrm>
          </p:grpSpPr>
          <p:sp>
            <p:nvSpPr>
              <p:cNvPr id="8" name="任意多边形: 形状 43"/>
              <p:cNvSpPr/>
              <p:nvPr/>
            </p:nvSpPr>
            <p:spPr>
              <a:xfrm rot="10800000">
                <a:off x="1797" y="8377"/>
                <a:ext cx="1729" cy="736"/>
              </a:xfrm>
              <a:custGeom>
                <a:avLst/>
                <a:gdLst>
                  <a:gd name="connsiteX0" fmla="*/ 3155148 w 3316934"/>
                  <a:gd name="connsiteY0" fmla="*/ 3611012 h 3611012"/>
                  <a:gd name="connsiteX1" fmla="*/ 161786 w 3316934"/>
                  <a:gd name="connsiteY1" fmla="*/ 3611012 h 3611012"/>
                  <a:gd name="connsiteX2" fmla="*/ 0 w 3316934"/>
                  <a:gd name="connsiteY2" fmla="*/ 3449226 h 3611012"/>
                  <a:gd name="connsiteX3" fmla="*/ 0 w 3316934"/>
                  <a:gd name="connsiteY3" fmla="*/ 470367 h 3611012"/>
                  <a:gd name="connsiteX4" fmla="*/ 161786 w 3316934"/>
                  <a:gd name="connsiteY4" fmla="*/ 308581 h 3611012"/>
                  <a:gd name="connsiteX5" fmla="*/ 1568591 w 3316934"/>
                  <a:gd name="connsiteY5" fmla="*/ 308581 h 3611012"/>
                  <a:gd name="connsiteX6" fmla="*/ 1747569 w 3316934"/>
                  <a:gd name="connsiteY6" fmla="*/ 0 h 3611012"/>
                  <a:gd name="connsiteX7" fmla="*/ 1926547 w 3316934"/>
                  <a:gd name="connsiteY7" fmla="*/ 308581 h 3611012"/>
                  <a:gd name="connsiteX8" fmla="*/ 3155148 w 3316934"/>
                  <a:gd name="connsiteY8" fmla="*/ 308581 h 3611012"/>
                  <a:gd name="connsiteX9" fmla="*/ 3316934 w 3316934"/>
                  <a:gd name="connsiteY9" fmla="*/ 470367 h 3611012"/>
                  <a:gd name="connsiteX10" fmla="*/ 3316934 w 3316934"/>
                  <a:gd name="connsiteY10" fmla="*/ 3449226 h 3611012"/>
                  <a:gd name="connsiteX11" fmla="*/ 3155148 w 3316934"/>
                  <a:gd name="connsiteY11" fmla="*/ 3611012 h 36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16934" h="3611012">
                    <a:moveTo>
                      <a:pt x="3155148" y="3611012"/>
                    </a:moveTo>
                    <a:lnTo>
                      <a:pt x="161786" y="3611012"/>
                    </a:lnTo>
                    <a:cubicBezTo>
                      <a:pt x="72434" y="3611012"/>
                      <a:pt x="0" y="3538578"/>
                      <a:pt x="0" y="3449226"/>
                    </a:cubicBezTo>
                    <a:lnTo>
                      <a:pt x="0" y="470367"/>
                    </a:lnTo>
                    <a:cubicBezTo>
                      <a:pt x="0" y="381015"/>
                      <a:pt x="72434" y="308581"/>
                      <a:pt x="161786" y="308581"/>
                    </a:cubicBezTo>
                    <a:lnTo>
                      <a:pt x="1568591" y="308581"/>
                    </a:lnTo>
                    <a:lnTo>
                      <a:pt x="1747569" y="0"/>
                    </a:lnTo>
                    <a:lnTo>
                      <a:pt x="1926547" y="308581"/>
                    </a:lnTo>
                    <a:lnTo>
                      <a:pt x="3155148" y="308581"/>
                    </a:lnTo>
                    <a:cubicBezTo>
                      <a:pt x="3244500" y="308581"/>
                      <a:pt x="3316934" y="381015"/>
                      <a:pt x="3316934" y="470367"/>
                    </a:cubicBezTo>
                    <a:lnTo>
                      <a:pt x="3316934" y="3449226"/>
                    </a:lnTo>
                    <a:cubicBezTo>
                      <a:pt x="3316934" y="3538578"/>
                      <a:pt x="3244500" y="3611012"/>
                      <a:pt x="3155148" y="3611012"/>
                    </a:cubicBezTo>
                    <a:close/>
                  </a:path>
                </a:pathLst>
              </a:custGeom>
              <a:noFill/>
              <a:ln>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微软雅黑" panose="020B0503020204020204" charset="-122"/>
                  <a:ea typeface="微软雅黑" panose="020B0503020204020204" charset="-122"/>
                  <a:cs typeface="微软雅黑" panose="020B0503020204020204" charset="-122"/>
                </a:endParaRPr>
              </a:p>
            </p:txBody>
          </p:sp>
          <p:sp>
            <p:nvSpPr>
              <p:cNvPr id="120" name="文本框 119"/>
              <p:cNvSpPr txBox="1"/>
              <p:nvPr/>
            </p:nvSpPr>
            <p:spPr>
              <a:xfrm>
                <a:off x="1855" y="8495"/>
                <a:ext cx="1613" cy="405"/>
              </a:xfrm>
              <a:prstGeom prst="rect">
                <a:avLst/>
              </a:prstGeom>
              <a:noFill/>
            </p:spPr>
            <p:txBody>
              <a:bodyPr wrap="square">
                <a:spAutoFit/>
              </a:bodyPr>
              <a:lstStyle/>
              <a:p>
                <a:pPr marL="0" lvl="0" indent="0" defTabSz="666750">
                  <a:lnSpc>
                    <a:spcPct val="90000"/>
                  </a:lnSpc>
                  <a:spcBef>
                    <a:spcPct val="0"/>
                  </a:spcBef>
                  <a:spcAft>
                    <a:spcPct val="35000"/>
                  </a:spcAft>
                  <a:buNone/>
                </a:pPr>
                <a:r>
                  <a:rPr lang="zh-CN" altLang="en-US" sz="1200" kern="1200" dirty="0">
                    <a:solidFill>
                      <a:schemeClr val="accent1"/>
                    </a:solidFill>
                    <a:latin typeface="微软雅黑" panose="020B0503020204020204" charset="-122"/>
                    <a:ea typeface="微软雅黑" panose="020B0503020204020204" charset="-122"/>
                    <a:cs typeface="微软雅黑" panose="020B0503020204020204" charset="-122"/>
                  </a:rPr>
                  <a:t>①</a:t>
                </a:r>
                <a:r>
                  <a:rPr lang="en-US" altLang="zh-CN" sz="1200" kern="1200" dirty="0">
                    <a:solidFill>
                      <a:schemeClr val="accent1"/>
                    </a:solidFill>
                    <a:latin typeface="微软雅黑" panose="020B0503020204020204" charset="-122"/>
                    <a:ea typeface="微软雅黑" panose="020B0503020204020204" charset="-122"/>
                    <a:cs typeface="微软雅黑" panose="020B0503020204020204" charset="-122"/>
                  </a:rPr>
                  <a:t> </a:t>
                </a:r>
                <a:r>
                  <a:rPr lang="zh-CN" altLang="en-US" sz="1200" kern="1200" dirty="0">
                    <a:solidFill>
                      <a:schemeClr val="accent1"/>
                    </a:solidFill>
                    <a:latin typeface="微软雅黑" panose="020B0503020204020204" charset="-122"/>
                    <a:ea typeface="微软雅黑" panose="020B0503020204020204" charset="-122"/>
                    <a:cs typeface="微软雅黑" panose="020B0503020204020204" charset="-122"/>
                  </a:rPr>
                  <a:t>项目立项</a:t>
                </a:r>
                <a:endParaRPr lang="zh-CN" altLang="en-US" sz="1200" kern="1200" dirty="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70" name="紫荆的职场Point36"/>
            <p:cNvSpPr txBox="1"/>
            <p:nvPr/>
          </p:nvSpPr>
          <p:spPr>
            <a:xfrm>
              <a:off x="2200" y="3167"/>
              <a:ext cx="2063" cy="1101"/>
            </a:xfrm>
            <a:prstGeom prst="rect">
              <a:avLst/>
            </a:prstGeom>
            <a:noFill/>
          </p:spPr>
          <p:txBody>
            <a:bodyPr wrap="square">
              <a:spAutoFit/>
            </a:bodyPr>
            <a:lstStyle/>
            <a:p>
              <a:pPr algn="ctr" hangingPunct="0">
                <a:lnSpc>
                  <a:spcPct val="110000"/>
                </a:lnSpc>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明确项目目标，获取正式授权，任命项目经理。</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27" name="椭圆 26"/>
          <p:cNvSpPr/>
          <p:nvPr/>
        </p:nvSpPr>
        <p:spPr>
          <a:xfrm>
            <a:off x="3910808" y="4643682"/>
            <a:ext cx="132798" cy="133497"/>
          </a:xfrm>
          <a:prstGeom prst="ellipse">
            <a:avLst/>
          </a:prstGeom>
          <a:solidFill>
            <a:schemeClr val="accent5">
              <a:lumMod val="60000"/>
              <a:lumOff val="4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grpSp>
        <p:nvGrpSpPr>
          <p:cNvPr id="129" name="组合 128"/>
          <p:cNvGrpSpPr/>
          <p:nvPr/>
        </p:nvGrpSpPr>
        <p:grpSpPr>
          <a:xfrm>
            <a:off x="3724275" y="1205230"/>
            <a:ext cx="1309370" cy="1585595"/>
            <a:chOff x="5197" y="1770"/>
            <a:chExt cx="2062" cy="2497"/>
          </a:xfrm>
        </p:grpSpPr>
        <p:sp>
          <p:nvSpPr>
            <p:cNvPr id="4" name="椭圆 3"/>
            <p:cNvSpPr/>
            <p:nvPr/>
          </p:nvSpPr>
          <p:spPr>
            <a:xfrm>
              <a:off x="6124" y="2759"/>
              <a:ext cx="209" cy="210"/>
            </a:xfrm>
            <a:prstGeom prst="ellipse">
              <a:avLst/>
            </a:prstGeom>
            <a:solidFill>
              <a:schemeClr val="accent1">
                <a:lumMod val="60000"/>
                <a:lumOff val="4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grpSp>
          <p:nvGrpSpPr>
            <p:cNvPr id="11" name="组合 10"/>
            <p:cNvGrpSpPr/>
            <p:nvPr/>
          </p:nvGrpSpPr>
          <p:grpSpPr>
            <a:xfrm rot="0">
              <a:off x="5364" y="1770"/>
              <a:ext cx="1729" cy="736"/>
              <a:chOff x="1797" y="8377"/>
              <a:chExt cx="1729" cy="736"/>
            </a:xfrm>
          </p:grpSpPr>
          <p:sp>
            <p:nvSpPr>
              <p:cNvPr id="12" name="任意多边形: 形状 43"/>
              <p:cNvSpPr/>
              <p:nvPr/>
            </p:nvSpPr>
            <p:spPr>
              <a:xfrm rot="10800000">
                <a:off x="1797" y="8377"/>
                <a:ext cx="1729" cy="736"/>
              </a:xfrm>
              <a:custGeom>
                <a:avLst/>
                <a:gdLst>
                  <a:gd name="connsiteX0" fmla="*/ 3155148 w 3316934"/>
                  <a:gd name="connsiteY0" fmla="*/ 3611012 h 3611012"/>
                  <a:gd name="connsiteX1" fmla="*/ 161786 w 3316934"/>
                  <a:gd name="connsiteY1" fmla="*/ 3611012 h 3611012"/>
                  <a:gd name="connsiteX2" fmla="*/ 0 w 3316934"/>
                  <a:gd name="connsiteY2" fmla="*/ 3449226 h 3611012"/>
                  <a:gd name="connsiteX3" fmla="*/ 0 w 3316934"/>
                  <a:gd name="connsiteY3" fmla="*/ 470367 h 3611012"/>
                  <a:gd name="connsiteX4" fmla="*/ 161786 w 3316934"/>
                  <a:gd name="connsiteY4" fmla="*/ 308581 h 3611012"/>
                  <a:gd name="connsiteX5" fmla="*/ 1568591 w 3316934"/>
                  <a:gd name="connsiteY5" fmla="*/ 308581 h 3611012"/>
                  <a:gd name="connsiteX6" fmla="*/ 1747569 w 3316934"/>
                  <a:gd name="connsiteY6" fmla="*/ 0 h 3611012"/>
                  <a:gd name="connsiteX7" fmla="*/ 1926547 w 3316934"/>
                  <a:gd name="connsiteY7" fmla="*/ 308581 h 3611012"/>
                  <a:gd name="connsiteX8" fmla="*/ 3155148 w 3316934"/>
                  <a:gd name="connsiteY8" fmla="*/ 308581 h 3611012"/>
                  <a:gd name="connsiteX9" fmla="*/ 3316934 w 3316934"/>
                  <a:gd name="connsiteY9" fmla="*/ 470367 h 3611012"/>
                  <a:gd name="connsiteX10" fmla="*/ 3316934 w 3316934"/>
                  <a:gd name="connsiteY10" fmla="*/ 3449226 h 3611012"/>
                  <a:gd name="connsiteX11" fmla="*/ 3155148 w 3316934"/>
                  <a:gd name="connsiteY11" fmla="*/ 3611012 h 36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16934" h="3611012">
                    <a:moveTo>
                      <a:pt x="3155148" y="3611012"/>
                    </a:moveTo>
                    <a:lnTo>
                      <a:pt x="161786" y="3611012"/>
                    </a:lnTo>
                    <a:cubicBezTo>
                      <a:pt x="72434" y="3611012"/>
                      <a:pt x="0" y="3538578"/>
                      <a:pt x="0" y="3449226"/>
                    </a:cubicBezTo>
                    <a:lnTo>
                      <a:pt x="0" y="470367"/>
                    </a:lnTo>
                    <a:cubicBezTo>
                      <a:pt x="0" y="381015"/>
                      <a:pt x="72434" y="308581"/>
                      <a:pt x="161786" y="308581"/>
                    </a:cubicBezTo>
                    <a:lnTo>
                      <a:pt x="1568591" y="308581"/>
                    </a:lnTo>
                    <a:lnTo>
                      <a:pt x="1747569" y="0"/>
                    </a:lnTo>
                    <a:lnTo>
                      <a:pt x="1926547" y="308581"/>
                    </a:lnTo>
                    <a:lnTo>
                      <a:pt x="3155148" y="308581"/>
                    </a:lnTo>
                    <a:cubicBezTo>
                      <a:pt x="3244500" y="308581"/>
                      <a:pt x="3316934" y="381015"/>
                      <a:pt x="3316934" y="470367"/>
                    </a:cubicBezTo>
                    <a:lnTo>
                      <a:pt x="3316934" y="3449226"/>
                    </a:lnTo>
                    <a:cubicBezTo>
                      <a:pt x="3316934" y="3538578"/>
                      <a:pt x="3244500" y="3611012"/>
                      <a:pt x="3155148" y="3611012"/>
                    </a:cubicBezTo>
                    <a:close/>
                  </a:path>
                </a:pathLst>
              </a:custGeom>
              <a:noFill/>
              <a:ln>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微软雅黑" panose="020B0503020204020204" charset="-122"/>
                  <a:ea typeface="微软雅黑" panose="020B0503020204020204" charset="-122"/>
                  <a:cs typeface="微软雅黑" panose="020B0503020204020204" charset="-122"/>
                </a:endParaRPr>
              </a:p>
            </p:txBody>
          </p:sp>
          <p:sp>
            <p:nvSpPr>
              <p:cNvPr id="13" name="文本框 12"/>
              <p:cNvSpPr txBox="1"/>
              <p:nvPr/>
            </p:nvSpPr>
            <p:spPr>
              <a:xfrm>
                <a:off x="1855" y="8495"/>
                <a:ext cx="1613" cy="405"/>
              </a:xfrm>
              <a:prstGeom prst="rect">
                <a:avLst/>
              </a:prstGeom>
              <a:noFill/>
            </p:spPr>
            <p:txBody>
              <a:bodyPr wrap="square">
                <a:spAutoFit/>
              </a:bodyPr>
              <a:lstStyle/>
              <a:p>
                <a:pPr marL="0" lvl="0" indent="0" defTabSz="666750">
                  <a:lnSpc>
                    <a:spcPct val="90000"/>
                  </a:lnSpc>
                  <a:spcBef>
                    <a:spcPct val="0"/>
                  </a:spcBef>
                  <a:spcAft>
                    <a:spcPct val="35000"/>
                  </a:spcAft>
                  <a:buNone/>
                </a:pPr>
                <a:r>
                  <a:rPr lang="zh-CN" sz="1200" kern="1200" dirty="0">
                    <a:solidFill>
                      <a:schemeClr val="accent1"/>
                    </a:solidFill>
                    <a:latin typeface="微软雅黑" panose="020B0503020204020204" charset="-122"/>
                    <a:ea typeface="微软雅黑" panose="020B0503020204020204" charset="-122"/>
                    <a:cs typeface="微软雅黑" panose="020B0503020204020204" charset="-122"/>
                  </a:rPr>
                  <a:t>②</a:t>
                </a:r>
                <a:r>
                  <a:rPr lang="en-US" altLang="zh-CN" sz="1200" kern="1200" dirty="0">
                    <a:solidFill>
                      <a:schemeClr val="accent1"/>
                    </a:solidFill>
                    <a:latin typeface="微软雅黑" panose="020B0503020204020204" charset="-122"/>
                    <a:ea typeface="微软雅黑" panose="020B0503020204020204" charset="-122"/>
                    <a:cs typeface="微软雅黑" panose="020B0503020204020204" charset="-122"/>
                  </a:rPr>
                  <a:t> </a:t>
                </a:r>
                <a:r>
                  <a:rPr lang="zh-CN" altLang="en-US" sz="1200" kern="1200" dirty="0">
                    <a:solidFill>
                      <a:schemeClr val="accent1"/>
                    </a:solidFill>
                    <a:latin typeface="微软雅黑" panose="020B0503020204020204" charset="-122"/>
                    <a:ea typeface="微软雅黑" panose="020B0503020204020204" charset="-122"/>
                    <a:cs typeface="微软雅黑" panose="020B0503020204020204" charset="-122"/>
                  </a:rPr>
                  <a:t>组建团队</a:t>
                </a:r>
                <a:endParaRPr lang="zh-CN" altLang="en-US" sz="1200" kern="1200" dirty="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34" name="紫荆的职场Point36"/>
            <p:cNvSpPr txBox="1"/>
            <p:nvPr/>
          </p:nvSpPr>
          <p:spPr>
            <a:xfrm>
              <a:off x="5197" y="3167"/>
              <a:ext cx="2063" cy="1101"/>
            </a:xfrm>
            <a:prstGeom prst="rect">
              <a:avLst/>
            </a:prstGeom>
            <a:noFill/>
          </p:spPr>
          <p:txBody>
            <a:bodyPr wrap="square">
              <a:spAutoFit/>
            </a:bodyPr>
            <a:lstStyle/>
            <a:p>
              <a:pPr algn="ctr" hangingPunct="0">
                <a:lnSpc>
                  <a:spcPct val="110000"/>
                </a:lnSpc>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搭配合适人员，明确角色职责，建立沟通机制。</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130" name="组合 129"/>
          <p:cNvGrpSpPr/>
          <p:nvPr/>
        </p:nvGrpSpPr>
        <p:grpSpPr>
          <a:xfrm>
            <a:off x="5769610" y="1205230"/>
            <a:ext cx="1392555" cy="1586230"/>
            <a:chOff x="8278" y="1770"/>
            <a:chExt cx="2193" cy="2498"/>
          </a:xfrm>
        </p:grpSpPr>
        <p:sp>
          <p:nvSpPr>
            <p:cNvPr id="7" name="椭圆 6"/>
            <p:cNvSpPr/>
            <p:nvPr/>
          </p:nvSpPr>
          <p:spPr>
            <a:xfrm>
              <a:off x="9150" y="2759"/>
              <a:ext cx="209" cy="210"/>
            </a:xfrm>
            <a:prstGeom prst="ellipse">
              <a:avLst/>
            </a:prstGeom>
            <a:solidFill>
              <a:schemeClr val="accent1">
                <a:lumMod val="60000"/>
                <a:lumOff val="4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grpSp>
          <p:nvGrpSpPr>
            <p:cNvPr id="14" name="组合 13"/>
            <p:cNvGrpSpPr/>
            <p:nvPr/>
          </p:nvGrpSpPr>
          <p:grpSpPr>
            <a:xfrm rot="0">
              <a:off x="8390" y="1770"/>
              <a:ext cx="1729" cy="736"/>
              <a:chOff x="1797" y="8377"/>
              <a:chExt cx="1729" cy="736"/>
            </a:xfrm>
          </p:grpSpPr>
          <p:sp>
            <p:nvSpPr>
              <p:cNvPr id="15" name="任意多边形: 形状 43"/>
              <p:cNvSpPr/>
              <p:nvPr/>
            </p:nvSpPr>
            <p:spPr>
              <a:xfrm rot="10800000">
                <a:off x="1797" y="8377"/>
                <a:ext cx="1729" cy="736"/>
              </a:xfrm>
              <a:custGeom>
                <a:avLst/>
                <a:gdLst>
                  <a:gd name="connsiteX0" fmla="*/ 3155148 w 3316934"/>
                  <a:gd name="connsiteY0" fmla="*/ 3611012 h 3611012"/>
                  <a:gd name="connsiteX1" fmla="*/ 161786 w 3316934"/>
                  <a:gd name="connsiteY1" fmla="*/ 3611012 h 3611012"/>
                  <a:gd name="connsiteX2" fmla="*/ 0 w 3316934"/>
                  <a:gd name="connsiteY2" fmla="*/ 3449226 h 3611012"/>
                  <a:gd name="connsiteX3" fmla="*/ 0 w 3316934"/>
                  <a:gd name="connsiteY3" fmla="*/ 470367 h 3611012"/>
                  <a:gd name="connsiteX4" fmla="*/ 161786 w 3316934"/>
                  <a:gd name="connsiteY4" fmla="*/ 308581 h 3611012"/>
                  <a:gd name="connsiteX5" fmla="*/ 1568591 w 3316934"/>
                  <a:gd name="connsiteY5" fmla="*/ 308581 h 3611012"/>
                  <a:gd name="connsiteX6" fmla="*/ 1747569 w 3316934"/>
                  <a:gd name="connsiteY6" fmla="*/ 0 h 3611012"/>
                  <a:gd name="connsiteX7" fmla="*/ 1926547 w 3316934"/>
                  <a:gd name="connsiteY7" fmla="*/ 308581 h 3611012"/>
                  <a:gd name="connsiteX8" fmla="*/ 3155148 w 3316934"/>
                  <a:gd name="connsiteY8" fmla="*/ 308581 h 3611012"/>
                  <a:gd name="connsiteX9" fmla="*/ 3316934 w 3316934"/>
                  <a:gd name="connsiteY9" fmla="*/ 470367 h 3611012"/>
                  <a:gd name="connsiteX10" fmla="*/ 3316934 w 3316934"/>
                  <a:gd name="connsiteY10" fmla="*/ 3449226 h 3611012"/>
                  <a:gd name="connsiteX11" fmla="*/ 3155148 w 3316934"/>
                  <a:gd name="connsiteY11" fmla="*/ 3611012 h 36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16934" h="3611012">
                    <a:moveTo>
                      <a:pt x="3155148" y="3611012"/>
                    </a:moveTo>
                    <a:lnTo>
                      <a:pt x="161786" y="3611012"/>
                    </a:lnTo>
                    <a:cubicBezTo>
                      <a:pt x="72434" y="3611012"/>
                      <a:pt x="0" y="3538578"/>
                      <a:pt x="0" y="3449226"/>
                    </a:cubicBezTo>
                    <a:lnTo>
                      <a:pt x="0" y="470367"/>
                    </a:lnTo>
                    <a:cubicBezTo>
                      <a:pt x="0" y="381015"/>
                      <a:pt x="72434" y="308581"/>
                      <a:pt x="161786" y="308581"/>
                    </a:cubicBezTo>
                    <a:lnTo>
                      <a:pt x="1568591" y="308581"/>
                    </a:lnTo>
                    <a:lnTo>
                      <a:pt x="1747569" y="0"/>
                    </a:lnTo>
                    <a:lnTo>
                      <a:pt x="1926547" y="308581"/>
                    </a:lnTo>
                    <a:lnTo>
                      <a:pt x="3155148" y="308581"/>
                    </a:lnTo>
                    <a:cubicBezTo>
                      <a:pt x="3244500" y="308581"/>
                      <a:pt x="3316934" y="381015"/>
                      <a:pt x="3316934" y="470367"/>
                    </a:cubicBezTo>
                    <a:lnTo>
                      <a:pt x="3316934" y="3449226"/>
                    </a:lnTo>
                    <a:cubicBezTo>
                      <a:pt x="3316934" y="3538578"/>
                      <a:pt x="3244500" y="3611012"/>
                      <a:pt x="3155148" y="3611012"/>
                    </a:cubicBezTo>
                    <a:close/>
                  </a:path>
                </a:pathLst>
              </a:custGeom>
              <a:noFill/>
              <a:ln>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1855" y="8495"/>
                <a:ext cx="1613" cy="405"/>
              </a:xfrm>
              <a:prstGeom prst="rect">
                <a:avLst/>
              </a:prstGeom>
              <a:noFill/>
            </p:spPr>
            <p:txBody>
              <a:bodyPr wrap="square">
                <a:spAutoFit/>
              </a:bodyPr>
              <a:lstStyle/>
              <a:p>
                <a:pPr marL="0" lvl="0" indent="0" defTabSz="666750">
                  <a:lnSpc>
                    <a:spcPct val="90000"/>
                  </a:lnSpc>
                  <a:spcBef>
                    <a:spcPct val="0"/>
                  </a:spcBef>
                  <a:spcAft>
                    <a:spcPct val="35000"/>
                  </a:spcAft>
                  <a:buNone/>
                </a:pPr>
                <a:r>
                  <a:rPr lang="zh-CN" sz="1200" kern="1200" dirty="0">
                    <a:solidFill>
                      <a:schemeClr val="accent1"/>
                    </a:solidFill>
                    <a:latin typeface="微软雅黑" panose="020B0503020204020204" charset="-122"/>
                    <a:ea typeface="微软雅黑" panose="020B0503020204020204" charset="-122"/>
                    <a:cs typeface="微软雅黑" panose="020B0503020204020204" charset="-122"/>
                  </a:rPr>
                  <a:t>③</a:t>
                </a:r>
                <a:r>
                  <a:rPr lang="en-US" altLang="zh-CN" sz="1200" kern="1200" dirty="0">
                    <a:solidFill>
                      <a:schemeClr val="accent1"/>
                    </a:solidFill>
                    <a:latin typeface="微软雅黑" panose="020B0503020204020204" charset="-122"/>
                    <a:ea typeface="微软雅黑" panose="020B0503020204020204" charset="-122"/>
                    <a:cs typeface="微软雅黑" panose="020B0503020204020204" charset="-122"/>
                  </a:rPr>
                  <a:t> </a:t>
                </a:r>
                <a:r>
                  <a:rPr lang="zh-CN" altLang="en-US" sz="1200" kern="1200" dirty="0">
                    <a:solidFill>
                      <a:schemeClr val="accent1"/>
                    </a:solidFill>
                    <a:latin typeface="微软雅黑" panose="020B0503020204020204" charset="-122"/>
                    <a:ea typeface="微软雅黑" panose="020B0503020204020204" charset="-122"/>
                    <a:cs typeface="微软雅黑" panose="020B0503020204020204" charset="-122"/>
                  </a:rPr>
                  <a:t>界定范围</a:t>
                </a:r>
                <a:endParaRPr lang="zh-CN" altLang="en-US" sz="1200" kern="1200" dirty="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35" name="紫荆的职场Point36"/>
            <p:cNvSpPr txBox="1"/>
            <p:nvPr/>
          </p:nvSpPr>
          <p:spPr>
            <a:xfrm>
              <a:off x="8278" y="3167"/>
              <a:ext cx="2193" cy="1101"/>
            </a:xfrm>
            <a:prstGeom prst="rect">
              <a:avLst/>
            </a:prstGeom>
            <a:noFill/>
          </p:spPr>
          <p:txBody>
            <a:bodyPr wrap="square">
              <a:spAutoFit/>
            </a:bodyPr>
            <a:lstStyle/>
            <a:p>
              <a:pPr algn="ctr" hangingPunct="0">
                <a:lnSpc>
                  <a:spcPct val="110000"/>
                </a:lnSpc>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确认工作边界，明确做什么，形成范围说明书。</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131" name="组合 130"/>
          <p:cNvGrpSpPr/>
          <p:nvPr/>
        </p:nvGrpSpPr>
        <p:grpSpPr>
          <a:xfrm>
            <a:off x="7898130" y="1205230"/>
            <a:ext cx="1414780" cy="1585595"/>
            <a:chOff x="11357" y="1770"/>
            <a:chExt cx="2228" cy="2497"/>
          </a:xfrm>
        </p:grpSpPr>
        <p:sp>
          <p:nvSpPr>
            <p:cNvPr id="6" name="椭圆 5"/>
            <p:cNvSpPr/>
            <p:nvPr/>
          </p:nvSpPr>
          <p:spPr>
            <a:xfrm>
              <a:off x="12367" y="2759"/>
              <a:ext cx="209" cy="210"/>
            </a:xfrm>
            <a:prstGeom prst="ellipse">
              <a:avLst/>
            </a:prstGeom>
            <a:solidFill>
              <a:schemeClr val="accent1">
                <a:lumMod val="60000"/>
                <a:lumOff val="4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grpSp>
          <p:nvGrpSpPr>
            <p:cNvPr id="17" name="组合 16"/>
            <p:cNvGrpSpPr/>
            <p:nvPr/>
          </p:nvGrpSpPr>
          <p:grpSpPr>
            <a:xfrm rot="0">
              <a:off x="11607" y="1770"/>
              <a:ext cx="1729" cy="736"/>
              <a:chOff x="1797" y="8377"/>
              <a:chExt cx="1729" cy="736"/>
            </a:xfrm>
          </p:grpSpPr>
          <p:sp>
            <p:nvSpPr>
              <p:cNvPr id="18" name="任意多边形: 形状 43"/>
              <p:cNvSpPr/>
              <p:nvPr/>
            </p:nvSpPr>
            <p:spPr>
              <a:xfrm rot="10800000">
                <a:off x="1797" y="8377"/>
                <a:ext cx="1729" cy="736"/>
              </a:xfrm>
              <a:custGeom>
                <a:avLst/>
                <a:gdLst>
                  <a:gd name="connsiteX0" fmla="*/ 3155148 w 3316934"/>
                  <a:gd name="connsiteY0" fmla="*/ 3611012 h 3611012"/>
                  <a:gd name="connsiteX1" fmla="*/ 161786 w 3316934"/>
                  <a:gd name="connsiteY1" fmla="*/ 3611012 h 3611012"/>
                  <a:gd name="connsiteX2" fmla="*/ 0 w 3316934"/>
                  <a:gd name="connsiteY2" fmla="*/ 3449226 h 3611012"/>
                  <a:gd name="connsiteX3" fmla="*/ 0 w 3316934"/>
                  <a:gd name="connsiteY3" fmla="*/ 470367 h 3611012"/>
                  <a:gd name="connsiteX4" fmla="*/ 161786 w 3316934"/>
                  <a:gd name="connsiteY4" fmla="*/ 308581 h 3611012"/>
                  <a:gd name="connsiteX5" fmla="*/ 1568591 w 3316934"/>
                  <a:gd name="connsiteY5" fmla="*/ 308581 h 3611012"/>
                  <a:gd name="connsiteX6" fmla="*/ 1747569 w 3316934"/>
                  <a:gd name="connsiteY6" fmla="*/ 0 h 3611012"/>
                  <a:gd name="connsiteX7" fmla="*/ 1926547 w 3316934"/>
                  <a:gd name="connsiteY7" fmla="*/ 308581 h 3611012"/>
                  <a:gd name="connsiteX8" fmla="*/ 3155148 w 3316934"/>
                  <a:gd name="connsiteY8" fmla="*/ 308581 h 3611012"/>
                  <a:gd name="connsiteX9" fmla="*/ 3316934 w 3316934"/>
                  <a:gd name="connsiteY9" fmla="*/ 470367 h 3611012"/>
                  <a:gd name="connsiteX10" fmla="*/ 3316934 w 3316934"/>
                  <a:gd name="connsiteY10" fmla="*/ 3449226 h 3611012"/>
                  <a:gd name="connsiteX11" fmla="*/ 3155148 w 3316934"/>
                  <a:gd name="connsiteY11" fmla="*/ 3611012 h 36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16934" h="3611012">
                    <a:moveTo>
                      <a:pt x="3155148" y="3611012"/>
                    </a:moveTo>
                    <a:lnTo>
                      <a:pt x="161786" y="3611012"/>
                    </a:lnTo>
                    <a:cubicBezTo>
                      <a:pt x="72434" y="3611012"/>
                      <a:pt x="0" y="3538578"/>
                      <a:pt x="0" y="3449226"/>
                    </a:cubicBezTo>
                    <a:lnTo>
                      <a:pt x="0" y="470367"/>
                    </a:lnTo>
                    <a:cubicBezTo>
                      <a:pt x="0" y="381015"/>
                      <a:pt x="72434" y="308581"/>
                      <a:pt x="161786" y="308581"/>
                    </a:cubicBezTo>
                    <a:lnTo>
                      <a:pt x="1568591" y="308581"/>
                    </a:lnTo>
                    <a:lnTo>
                      <a:pt x="1747569" y="0"/>
                    </a:lnTo>
                    <a:lnTo>
                      <a:pt x="1926547" y="308581"/>
                    </a:lnTo>
                    <a:lnTo>
                      <a:pt x="3155148" y="308581"/>
                    </a:lnTo>
                    <a:cubicBezTo>
                      <a:pt x="3244500" y="308581"/>
                      <a:pt x="3316934" y="381015"/>
                      <a:pt x="3316934" y="470367"/>
                    </a:cubicBezTo>
                    <a:lnTo>
                      <a:pt x="3316934" y="3449226"/>
                    </a:lnTo>
                    <a:cubicBezTo>
                      <a:pt x="3316934" y="3538578"/>
                      <a:pt x="3244500" y="3611012"/>
                      <a:pt x="3155148" y="3611012"/>
                    </a:cubicBezTo>
                    <a:close/>
                  </a:path>
                </a:pathLst>
              </a:custGeom>
              <a:noFill/>
              <a:ln>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微软雅黑" panose="020B0503020204020204" charset="-122"/>
                  <a:ea typeface="微软雅黑" panose="020B0503020204020204" charset="-122"/>
                  <a:cs typeface="微软雅黑" panose="020B0503020204020204" charset="-122"/>
                </a:endParaRPr>
              </a:p>
            </p:txBody>
          </p:sp>
          <p:sp>
            <p:nvSpPr>
              <p:cNvPr id="19" name="文本框 18"/>
              <p:cNvSpPr txBox="1"/>
              <p:nvPr/>
            </p:nvSpPr>
            <p:spPr>
              <a:xfrm>
                <a:off x="1855" y="8495"/>
                <a:ext cx="1613" cy="405"/>
              </a:xfrm>
              <a:prstGeom prst="rect">
                <a:avLst/>
              </a:prstGeom>
              <a:noFill/>
            </p:spPr>
            <p:txBody>
              <a:bodyPr wrap="square">
                <a:spAutoFit/>
              </a:bodyPr>
              <a:lstStyle/>
              <a:p>
                <a:pPr marL="0" lvl="0" indent="0" defTabSz="666750">
                  <a:lnSpc>
                    <a:spcPct val="90000"/>
                  </a:lnSpc>
                  <a:spcBef>
                    <a:spcPct val="0"/>
                  </a:spcBef>
                  <a:spcAft>
                    <a:spcPct val="35000"/>
                  </a:spcAft>
                  <a:buNone/>
                </a:pPr>
                <a:r>
                  <a:rPr lang="zh-CN" sz="1200" kern="1200" dirty="0">
                    <a:solidFill>
                      <a:schemeClr val="accent1"/>
                    </a:solidFill>
                    <a:latin typeface="微软雅黑" panose="020B0503020204020204" charset="-122"/>
                    <a:ea typeface="微软雅黑" panose="020B0503020204020204" charset="-122"/>
                    <a:cs typeface="微软雅黑" panose="020B0503020204020204" charset="-122"/>
                  </a:rPr>
                  <a:t>④</a:t>
                </a:r>
                <a:r>
                  <a:rPr lang="en-US" altLang="zh-CN" sz="1200" kern="1200" dirty="0">
                    <a:solidFill>
                      <a:schemeClr val="accent1"/>
                    </a:solidFill>
                    <a:latin typeface="微软雅黑" panose="020B0503020204020204" charset="-122"/>
                    <a:ea typeface="微软雅黑" panose="020B0503020204020204" charset="-122"/>
                    <a:cs typeface="微软雅黑" panose="020B0503020204020204" charset="-122"/>
                  </a:rPr>
                  <a:t> </a:t>
                </a:r>
                <a:r>
                  <a:rPr lang="zh-CN" altLang="en-US" sz="1200" kern="1200" dirty="0">
                    <a:solidFill>
                      <a:schemeClr val="accent1"/>
                    </a:solidFill>
                    <a:latin typeface="微软雅黑" panose="020B0503020204020204" charset="-122"/>
                    <a:ea typeface="微软雅黑" panose="020B0503020204020204" charset="-122"/>
                    <a:cs typeface="微软雅黑" panose="020B0503020204020204" charset="-122"/>
                  </a:rPr>
                  <a:t>需求确认</a:t>
                </a:r>
                <a:endParaRPr lang="zh-CN" altLang="en-US" sz="1200" kern="1200" dirty="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36" name="紫荆的职场Point36"/>
            <p:cNvSpPr txBox="1"/>
            <p:nvPr/>
          </p:nvSpPr>
          <p:spPr>
            <a:xfrm>
              <a:off x="11357" y="3167"/>
              <a:ext cx="2228" cy="1101"/>
            </a:xfrm>
            <a:prstGeom prst="rect">
              <a:avLst/>
            </a:prstGeom>
            <a:noFill/>
          </p:spPr>
          <p:txBody>
            <a:bodyPr wrap="square">
              <a:spAutoFit/>
            </a:bodyPr>
            <a:lstStyle/>
            <a:p>
              <a:pPr algn="ctr" hangingPunct="0">
                <a:lnSpc>
                  <a:spcPct val="110000"/>
                </a:lnSpc>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细化用户需求，分析功能列表，确保双方理解一致。</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53" name="紫荆的职场Point36"/>
          <p:cNvSpPr txBox="1"/>
          <p:nvPr/>
        </p:nvSpPr>
        <p:spPr>
          <a:xfrm>
            <a:off x="10312400" y="3096895"/>
            <a:ext cx="1590675" cy="699135"/>
          </a:xfrm>
          <a:prstGeom prst="rect">
            <a:avLst/>
          </a:prstGeom>
          <a:noFill/>
        </p:spPr>
        <p:txBody>
          <a:bodyPr wrap="square">
            <a:spAutoFit/>
          </a:bodyPr>
          <a:lstStyle/>
          <a:p>
            <a:pPr algn="ctr" hangingPunct="0">
              <a:lnSpc>
                <a:spcPct val="110000"/>
              </a:lnSpc>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分解工作任务（</a:t>
            </a:r>
            <a:r>
              <a:rPr lang="en-US" altLang="zh-CN" sz="1200" dirty="0">
                <a:solidFill>
                  <a:schemeClr val="tx2"/>
                </a:solidFill>
                <a:latin typeface="微软雅黑" panose="020B0503020204020204" charset="-122"/>
                <a:ea typeface="微软雅黑" panose="020B0503020204020204" charset="-122"/>
                <a:cs typeface="微软雅黑" panose="020B0503020204020204" charset="-122"/>
              </a:rPr>
              <a:t>WBS</a:t>
            </a: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），评估工时，制定进度计划。</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148" name="组合 147"/>
          <p:cNvGrpSpPr/>
          <p:nvPr/>
        </p:nvGrpSpPr>
        <p:grpSpPr>
          <a:xfrm>
            <a:off x="6600190" y="3096895"/>
            <a:ext cx="1422400" cy="1442720"/>
            <a:chOff x="9636" y="4749"/>
            <a:chExt cx="2240" cy="2272"/>
          </a:xfrm>
        </p:grpSpPr>
        <p:sp>
          <p:nvSpPr>
            <p:cNvPr id="28" name="椭圆 27"/>
            <p:cNvSpPr/>
            <p:nvPr/>
          </p:nvSpPr>
          <p:spPr>
            <a:xfrm>
              <a:off x="10516" y="5766"/>
              <a:ext cx="209" cy="210"/>
            </a:xfrm>
            <a:prstGeom prst="ellipse">
              <a:avLst/>
            </a:prstGeom>
            <a:solidFill>
              <a:schemeClr val="accent5">
                <a:lumMod val="60000"/>
                <a:lumOff val="4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grpSp>
          <p:nvGrpSpPr>
            <p:cNvPr id="37" name="组合 36"/>
            <p:cNvGrpSpPr/>
            <p:nvPr/>
          </p:nvGrpSpPr>
          <p:grpSpPr>
            <a:xfrm rot="0">
              <a:off x="9756" y="4749"/>
              <a:ext cx="1729" cy="736"/>
              <a:chOff x="1797" y="8377"/>
              <a:chExt cx="1729" cy="736"/>
            </a:xfrm>
          </p:grpSpPr>
          <p:sp>
            <p:nvSpPr>
              <p:cNvPr id="38" name="任意多边形: 形状 43"/>
              <p:cNvSpPr/>
              <p:nvPr/>
            </p:nvSpPr>
            <p:spPr>
              <a:xfrm rot="10800000">
                <a:off x="1797" y="8377"/>
                <a:ext cx="1729" cy="736"/>
              </a:xfrm>
              <a:custGeom>
                <a:avLst/>
                <a:gdLst>
                  <a:gd name="connsiteX0" fmla="*/ 3155148 w 3316934"/>
                  <a:gd name="connsiteY0" fmla="*/ 3611012 h 3611012"/>
                  <a:gd name="connsiteX1" fmla="*/ 161786 w 3316934"/>
                  <a:gd name="connsiteY1" fmla="*/ 3611012 h 3611012"/>
                  <a:gd name="connsiteX2" fmla="*/ 0 w 3316934"/>
                  <a:gd name="connsiteY2" fmla="*/ 3449226 h 3611012"/>
                  <a:gd name="connsiteX3" fmla="*/ 0 w 3316934"/>
                  <a:gd name="connsiteY3" fmla="*/ 470367 h 3611012"/>
                  <a:gd name="connsiteX4" fmla="*/ 161786 w 3316934"/>
                  <a:gd name="connsiteY4" fmla="*/ 308581 h 3611012"/>
                  <a:gd name="connsiteX5" fmla="*/ 1568591 w 3316934"/>
                  <a:gd name="connsiteY5" fmla="*/ 308581 h 3611012"/>
                  <a:gd name="connsiteX6" fmla="*/ 1747569 w 3316934"/>
                  <a:gd name="connsiteY6" fmla="*/ 0 h 3611012"/>
                  <a:gd name="connsiteX7" fmla="*/ 1926547 w 3316934"/>
                  <a:gd name="connsiteY7" fmla="*/ 308581 h 3611012"/>
                  <a:gd name="connsiteX8" fmla="*/ 3155148 w 3316934"/>
                  <a:gd name="connsiteY8" fmla="*/ 308581 h 3611012"/>
                  <a:gd name="connsiteX9" fmla="*/ 3316934 w 3316934"/>
                  <a:gd name="connsiteY9" fmla="*/ 470367 h 3611012"/>
                  <a:gd name="connsiteX10" fmla="*/ 3316934 w 3316934"/>
                  <a:gd name="connsiteY10" fmla="*/ 3449226 h 3611012"/>
                  <a:gd name="connsiteX11" fmla="*/ 3155148 w 3316934"/>
                  <a:gd name="connsiteY11" fmla="*/ 3611012 h 36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16934" h="3611012">
                    <a:moveTo>
                      <a:pt x="3155148" y="3611012"/>
                    </a:moveTo>
                    <a:lnTo>
                      <a:pt x="161786" y="3611012"/>
                    </a:lnTo>
                    <a:cubicBezTo>
                      <a:pt x="72434" y="3611012"/>
                      <a:pt x="0" y="3538578"/>
                      <a:pt x="0" y="3449226"/>
                    </a:cubicBezTo>
                    <a:lnTo>
                      <a:pt x="0" y="470367"/>
                    </a:lnTo>
                    <a:cubicBezTo>
                      <a:pt x="0" y="381015"/>
                      <a:pt x="72434" y="308581"/>
                      <a:pt x="161786" y="308581"/>
                    </a:cubicBezTo>
                    <a:lnTo>
                      <a:pt x="1568591" y="308581"/>
                    </a:lnTo>
                    <a:lnTo>
                      <a:pt x="1747569" y="0"/>
                    </a:lnTo>
                    <a:lnTo>
                      <a:pt x="1926547" y="308581"/>
                    </a:lnTo>
                    <a:lnTo>
                      <a:pt x="3155148" y="308581"/>
                    </a:lnTo>
                    <a:cubicBezTo>
                      <a:pt x="3244500" y="308581"/>
                      <a:pt x="3316934" y="381015"/>
                      <a:pt x="3316934" y="470367"/>
                    </a:cubicBezTo>
                    <a:lnTo>
                      <a:pt x="3316934" y="3449226"/>
                    </a:lnTo>
                    <a:cubicBezTo>
                      <a:pt x="3316934" y="3538578"/>
                      <a:pt x="3244500" y="3611012"/>
                      <a:pt x="3155148" y="3611012"/>
                    </a:cubicBezTo>
                    <a:close/>
                  </a:path>
                </a:pathLst>
              </a:custGeom>
              <a:noFill/>
              <a:ln>
                <a:solidFill>
                  <a:schemeClr val="accent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微软雅黑" panose="020B0503020204020204" charset="-122"/>
                  <a:ea typeface="微软雅黑" panose="020B0503020204020204" charset="-122"/>
                  <a:cs typeface="微软雅黑" panose="020B0503020204020204" charset="-122"/>
                </a:endParaRPr>
              </a:p>
            </p:txBody>
          </p:sp>
          <p:sp>
            <p:nvSpPr>
              <p:cNvPr id="39" name="文本框 38"/>
              <p:cNvSpPr txBox="1"/>
              <p:nvPr/>
            </p:nvSpPr>
            <p:spPr>
              <a:xfrm>
                <a:off x="1855" y="8495"/>
                <a:ext cx="1613" cy="405"/>
              </a:xfrm>
              <a:prstGeom prst="rect">
                <a:avLst/>
              </a:prstGeom>
              <a:noFill/>
            </p:spPr>
            <p:txBody>
              <a:bodyPr wrap="square">
                <a:spAutoFit/>
              </a:bodyPr>
              <a:lstStyle/>
              <a:p>
                <a:pPr marL="0" lvl="0" indent="0" defTabSz="666750">
                  <a:lnSpc>
                    <a:spcPct val="90000"/>
                  </a:lnSpc>
                  <a:spcBef>
                    <a:spcPct val="0"/>
                  </a:spcBef>
                  <a:spcAft>
                    <a:spcPct val="35000"/>
                  </a:spcAft>
                  <a:buNone/>
                </a:pPr>
                <a:r>
                  <a:rPr lang="zh-CN" sz="1200" kern="1200" dirty="0">
                    <a:solidFill>
                      <a:schemeClr val="accent5"/>
                    </a:solidFill>
                    <a:latin typeface="微软雅黑" panose="020B0503020204020204" charset="-122"/>
                    <a:ea typeface="微软雅黑" panose="020B0503020204020204" charset="-122"/>
                    <a:cs typeface="微软雅黑" panose="020B0503020204020204" charset="-122"/>
                  </a:rPr>
                  <a:t>⑦</a:t>
                </a:r>
                <a:r>
                  <a:rPr lang="en-US" altLang="zh-CN" sz="1200" kern="1200" dirty="0">
                    <a:solidFill>
                      <a:schemeClr val="accent5"/>
                    </a:solidFill>
                    <a:latin typeface="微软雅黑" panose="020B0503020204020204" charset="-122"/>
                    <a:ea typeface="微软雅黑" panose="020B0503020204020204" charset="-122"/>
                    <a:cs typeface="微软雅黑" panose="020B0503020204020204" charset="-122"/>
                  </a:rPr>
                  <a:t> </a:t>
                </a:r>
                <a:r>
                  <a:rPr lang="zh-CN" altLang="en-US" sz="1200" kern="1200" dirty="0">
                    <a:solidFill>
                      <a:schemeClr val="accent5"/>
                    </a:solidFill>
                    <a:latin typeface="微软雅黑" panose="020B0503020204020204" charset="-122"/>
                    <a:ea typeface="微软雅黑" panose="020B0503020204020204" charset="-122"/>
                    <a:cs typeface="微软雅黑" panose="020B0503020204020204" charset="-122"/>
                  </a:rPr>
                  <a:t>资源调配</a:t>
                </a:r>
                <a:endParaRPr lang="zh-CN" altLang="en-US" sz="1200" kern="1200" dirty="0">
                  <a:solidFill>
                    <a:schemeClr val="accent5"/>
                  </a:solidFill>
                  <a:latin typeface="微软雅黑" panose="020B0503020204020204" charset="-122"/>
                  <a:ea typeface="微软雅黑" panose="020B0503020204020204" charset="-122"/>
                  <a:cs typeface="微软雅黑" panose="020B0503020204020204" charset="-122"/>
                </a:endParaRPr>
              </a:p>
            </p:txBody>
          </p:sp>
        </p:grpSp>
        <p:sp>
          <p:nvSpPr>
            <p:cNvPr id="57" name="紫荆的职场Point36"/>
            <p:cNvSpPr txBox="1"/>
            <p:nvPr/>
          </p:nvSpPr>
          <p:spPr>
            <a:xfrm>
              <a:off x="9636" y="6239"/>
              <a:ext cx="2240" cy="782"/>
            </a:xfrm>
            <a:prstGeom prst="rect">
              <a:avLst/>
            </a:prstGeom>
            <a:noFill/>
          </p:spPr>
          <p:txBody>
            <a:bodyPr wrap="square">
              <a:spAutoFit/>
            </a:bodyPr>
            <a:lstStyle/>
            <a:p>
              <a:pPr algn="ctr" hangingPunct="0">
                <a:lnSpc>
                  <a:spcPct val="110000"/>
                </a:lnSpc>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合理分配人钱物，确保资源到位。</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86" name="组合 85"/>
          <p:cNvGrpSpPr/>
          <p:nvPr/>
        </p:nvGrpSpPr>
        <p:grpSpPr>
          <a:xfrm>
            <a:off x="2537460" y="4492625"/>
            <a:ext cx="1160780" cy="437515"/>
            <a:chOff x="13904" y="4021"/>
            <a:chExt cx="1828" cy="689"/>
          </a:xfrm>
        </p:grpSpPr>
        <p:sp>
          <p:nvSpPr>
            <p:cNvPr id="209" name="任意多边形: 形状 43"/>
            <p:cNvSpPr/>
            <p:nvPr/>
          </p:nvSpPr>
          <p:spPr>
            <a:xfrm rot="5400000">
              <a:off x="14473" y="3451"/>
              <a:ext cx="689" cy="1828"/>
            </a:xfrm>
            <a:custGeom>
              <a:avLst/>
              <a:gdLst>
                <a:gd name="connsiteX0" fmla="*/ 3155148 w 3316934"/>
                <a:gd name="connsiteY0" fmla="*/ 3611012 h 3611012"/>
                <a:gd name="connsiteX1" fmla="*/ 161786 w 3316934"/>
                <a:gd name="connsiteY1" fmla="*/ 3611012 h 3611012"/>
                <a:gd name="connsiteX2" fmla="*/ 0 w 3316934"/>
                <a:gd name="connsiteY2" fmla="*/ 3449226 h 3611012"/>
                <a:gd name="connsiteX3" fmla="*/ 0 w 3316934"/>
                <a:gd name="connsiteY3" fmla="*/ 470367 h 3611012"/>
                <a:gd name="connsiteX4" fmla="*/ 161786 w 3316934"/>
                <a:gd name="connsiteY4" fmla="*/ 308581 h 3611012"/>
                <a:gd name="connsiteX5" fmla="*/ 1568591 w 3316934"/>
                <a:gd name="connsiteY5" fmla="*/ 308581 h 3611012"/>
                <a:gd name="connsiteX6" fmla="*/ 1747569 w 3316934"/>
                <a:gd name="connsiteY6" fmla="*/ 0 h 3611012"/>
                <a:gd name="connsiteX7" fmla="*/ 1926547 w 3316934"/>
                <a:gd name="connsiteY7" fmla="*/ 308581 h 3611012"/>
                <a:gd name="connsiteX8" fmla="*/ 3155148 w 3316934"/>
                <a:gd name="connsiteY8" fmla="*/ 308581 h 3611012"/>
                <a:gd name="connsiteX9" fmla="*/ 3316934 w 3316934"/>
                <a:gd name="connsiteY9" fmla="*/ 470367 h 3611012"/>
                <a:gd name="connsiteX10" fmla="*/ 3316934 w 3316934"/>
                <a:gd name="connsiteY10" fmla="*/ 3449226 h 3611012"/>
                <a:gd name="connsiteX11" fmla="*/ 3155148 w 3316934"/>
                <a:gd name="connsiteY11" fmla="*/ 3611012 h 3611012"/>
                <a:gd name="connsiteX0-1" fmla="*/ 3155148 w 3316934"/>
                <a:gd name="connsiteY0-2" fmla="*/ 3497246 h 3497246"/>
                <a:gd name="connsiteX1-3" fmla="*/ 161786 w 3316934"/>
                <a:gd name="connsiteY1-4" fmla="*/ 3497246 h 3497246"/>
                <a:gd name="connsiteX2-5" fmla="*/ 0 w 3316934"/>
                <a:gd name="connsiteY2-6" fmla="*/ 3335460 h 3497246"/>
                <a:gd name="connsiteX3-7" fmla="*/ 0 w 3316934"/>
                <a:gd name="connsiteY3-8" fmla="*/ 356601 h 3497246"/>
                <a:gd name="connsiteX4-9" fmla="*/ 161786 w 3316934"/>
                <a:gd name="connsiteY4-10" fmla="*/ 194815 h 3497246"/>
                <a:gd name="connsiteX5-11" fmla="*/ 1568591 w 3316934"/>
                <a:gd name="connsiteY5-12" fmla="*/ 194815 h 3497246"/>
                <a:gd name="connsiteX6-13" fmla="*/ 1728150 w 3316934"/>
                <a:gd name="connsiteY6-14" fmla="*/ 0 h 3497246"/>
                <a:gd name="connsiteX7-15" fmla="*/ 1926547 w 3316934"/>
                <a:gd name="connsiteY7-16" fmla="*/ 194815 h 3497246"/>
                <a:gd name="connsiteX8-17" fmla="*/ 3155148 w 3316934"/>
                <a:gd name="connsiteY8-18" fmla="*/ 194815 h 3497246"/>
                <a:gd name="connsiteX9-19" fmla="*/ 3316934 w 3316934"/>
                <a:gd name="connsiteY9-20" fmla="*/ 356601 h 3497246"/>
                <a:gd name="connsiteX10-21" fmla="*/ 3316934 w 3316934"/>
                <a:gd name="connsiteY10-22" fmla="*/ 3335460 h 3497246"/>
                <a:gd name="connsiteX11-23" fmla="*/ 3155148 w 3316934"/>
                <a:gd name="connsiteY11-24" fmla="*/ 3497246 h 3497246"/>
                <a:gd name="connsiteX0-25" fmla="*/ 3155148 w 3316934"/>
                <a:gd name="connsiteY0-26" fmla="*/ 3497246 h 3497246"/>
                <a:gd name="connsiteX1-27" fmla="*/ 161786 w 3316934"/>
                <a:gd name="connsiteY1-28" fmla="*/ 3497246 h 3497246"/>
                <a:gd name="connsiteX2-29" fmla="*/ 0 w 3316934"/>
                <a:gd name="connsiteY2-30" fmla="*/ 3335460 h 3497246"/>
                <a:gd name="connsiteX3-31" fmla="*/ 0 w 3316934"/>
                <a:gd name="connsiteY3-32" fmla="*/ 356601 h 3497246"/>
                <a:gd name="connsiteX4-33" fmla="*/ 161786 w 3316934"/>
                <a:gd name="connsiteY4-34" fmla="*/ 194815 h 3497246"/>
                <a:gd name="connsiteX5-35" fmla="*/ 1568591 w 3316934"/>
                <a:gd name="connsiteY5-36" fmla="*/ 194815 h 3497246"/>
                <a:gd name="connsiteX6-37" fmla="*/ 1728150 w 3316934"/>
                <a:gd name="connsiteY6-38" fmla="*/ 0 h 3497246"/>
                <a:gd name="connsiteX7-39" fmla="*/ 1926547 w 3316934"/>
                <a:gd name="connsiteY7-40" fmla="*/ 194815 h 3497246"/>
                <a:gd name="connsiteX8-41" fmla="*/ 3155148 w 3316934"/>
                <a:gd name="connsiteY8-42" fmla="*/ 194815 h 3497246"/>
                <a:gd name="connsiteX9-43" fmla="*/ 3316931 w 3316934"/>
                <a:gd name="connsiteY9-44" fmla="*/ 311103 h 3497246"/>
                <a:gd name="connsiteX10-45" fmla="*/ 3316934 w 3316934"/>
                <a:gd name="connsiteY10-46" fmla="*/ 3335460 h 3497246"/>
                <a:gd name="connsiteX11-47" fmla="*/ 3155148 w 3316934"/>
                <a:gd name="connsiteY11-48" fmla="*/ 3497246 h 3497246"/>
                <a:gd name="connsiteX0-49" fmla="*/ 3155148 w 3316934"/>
                <a:gd name="connsiteY0-50" fmla="*/ 3497246 h 3497246"/>
                <a:gd name="connsiteX1-51" fmla="*/ 161786 w 3316934"/>
                <a:gd name="connsiteY1-52" fmla="*/ 3497246 h 3497246"/>
                <a:gd name="connsiteX2-53" fmla="*/ 0 w 3316934"/>
                <a:gd name="connsiteY2-54" fmla="*/ 3335460 h 3497246"/>
                <a:gd name="connsiteX3-55" fmla="*/ 0 w 3316934"/>
                <a:gd name="connsiteY3-56" fmla="*/ 356601 h 3497246"/>
                <a:gd name="connsiteX4-57" fmla="*/ 161786 w 3316934"/>
                <a:gd name="connsiteY4-58" fmla="*/ 194815 h 3497246"/>
                <a:gd name="connsiteX5-59" fmla="*/ 1568591 w 3316934"/>
                <a:gd name="connsiteY5-60" fmla="*/ 194815 h 3497246"/>
                <a:gd name="connsiteX6-61" fmla="*/ 1728150 w 3316934"/>
                <a:gd name="connsiteY6-62" fmla="*/ 0 h 3497246"/>
                <a:gd name="connsiteX7-63" fmla="*/ 2062473 w 3316934"/>
                <a:gd name="connsiteY7-64" fmla="*/ 194822 h 3497246"/>
                <a:gd name="connsiteX8-65" fmla="*/ 3155148 w 3316934"/>
                <a:gd name="connsiteY8-66" fmla="*/ 194815 h 3497246"/>
                <a:gd name="connsiteX9-67" fmla="*/ 3316931 w 3316934"/>
                <a:gd name="connsiteY9-68" fmla="*/ 311103 h 3497246"/>
                <a:gd name="connsiteX10-69" fmla="*/ 3316934 w 3316934"/>
                <a:gd name="connsiteY10-70" fmla="*/ 3335460 h 3497246"/>
                <a:gd name="connsiteX11-71" fmla="*/ 3155148 w 3316934"/>
                <a:gd name="connsiteY11-72" fmla="*/ 3497246 h 3497246"/>
                <a:gd name="connsiteX0-73" fmla="*/ 3155148 w 3316934"/>
                <a:gd name="connsiteY0-74" fmla="*/ 3497246 h 3497246"/>
                <a:gd name="connsiteX1-75" fmla="*/ 161786 w 3316934"/>
                <a:gd name="connsiteY1-76" fmla="*/ 3497246 h 3497246"/>
                <a:gd name="connsiteX2-77" fmla="*/ 0 w 3316934"/>
                <a:gd name="connsiteY2-78" fmla="*/ 3335460 h 3497246"/>
                <a:gd name="connsiteX3-79" fmla="*/ 0 w 3316934"/>
                <a:gd name="connsiteY3-80" fmla="*/ 356601 h 3497246"/>
                <a:gd name="connsiteX4-81" fmla="*/ 161786 w 3316934"/>
                <a:gd name="connsiteY4-82" fmla="*/ 194815 h 3497246"/>
                <a:gd name="connsiteX5-83" fmla="*/ 1393822 w 3316934"/>
                <a:gd name="connsiteY5-84" fmla="*/ 187237 h 3497246"/>
                <a:gd name="connsiteX6-85" fmla="*/ 1728150 w 3316934"/>
                <a:gd name="connsiteY6-86" fmla="*/ 0 h 3497246"/>
                <a:gd name="connsiteX7-87" fmla="*/ 2062473 w 3316934"/>
                <a:gd name="connsiteY7-88" fmla="*/ 194822 h 3497246"/>
                <a:gd name="connsiteX8-89" fmla="*/ 3155148 w 3316934"/>
                <a:gd name="connsiteY8-90" fmla="*/ 194815 h 3497246"/>
                <a:gd name="connsiteX9-91" fmla="*/ 3316931 w 3316934"/>
                <a:gd name="connsiteY9-92" fmla="*/ 311103 h 3497246"/>
                <a:gd name="connsiteX10-93" fmla="*/ 3316934 w 3316934"/>
                <a:gd name="connsiteY10-94" fmla="*/ 3335460 h 3497246"/>
                <a:gd name="connsiteX11-95" fmla="*/ 3155148 w 3316934"/>
                <a:gd name="connsiteY11-96" fmla="*/ 3497246 h 3497246"/>
                <a:gd name="connsiteX0-97" fmla="*/ 3155148 w 3316934"/>
                <a:gd name="connsiteY0-98" fmla="*/ 3466902 h 3466902"/>
                <a:gd name="connsiteX1-99" fmla="*/ 161786 w 3316934"/>
                <a:gd name="connsiteY1-100" fmla="*/ 3466902 h 3466902"/>
                <a:gd name="connsiteX2-101" fmla="*/ 0 w 3316934"/>
                <a:gd name="connsiteY2-102" fmla="*/ 3305116 h 3466902"/>
                <a:gd name="connsiteX3-103" fmla="*/ 0 w 3316934"/>
                <a:gd name="connsiteY3-104" fmla="*/ 326257 h 3466902"/>
                <a:gd name="connsiteX4-105" fmla="*/ 161786 w 3316934"/>
                <a:gd name="connsiteY4-106" fmla="*/ 164471 h 3466902"/>
                <a:gd name="connsiteX5-107" fmla="*/ 1393822 w 3316934"/>
                <a:gd name="connsiteY5-108" fmla="*/ 156893 h 3466902"/>
                <a:gd name="connsiteX6-109" fmla="*/ 1708727 w 3316934"/>
                <a:gd name="connsiteY6-110" fmla="*/ -1 h 3466902"/>
                <a:gd name="connsiteX7-111" fmla="*/ 2062473 w 3316934"/>
                <a:gd name="connsiteY7-112" fmla="*/ 164478 h 3466902"/>
                <a:gd name="connsiteX8-113" fmla="*/ 3155148 w 3316934"/>
                <a:gd name="connsiteY8-114" fmla="*/ 164471 h 3466902"/>
                <a:gd name="connsiteX9-115" fmla="*/ 3316931 w 3316934"/>
                <a:gd name="connsiteY9-116" fmla="*/ 280759 h 3466902"/>
                <a:gd name="connsiteX10-117" fmla="*/ 3316934 w 3316934"/>
                <a:gd name="connsiteY10-118" fmla="*/ 3305116 h 3466902"/>
                <a:gd name="connsiteX11-119" fmla="*/ 3155148 w 3316934"/>
                <a:gd name="connsiteY11-120" fmla="*/ 3466902 h 3466902"/>
                <a:gd name="connsiteX0-121" fmla="*/ 3155146 w 3316934"/>
                <a:gd name="connsiteY0-122" fmla="*/ 3436568 h 3466902"/>
                <a:gd name="connsiteX1-123" fmla="*/ 161786 w 3316934"/>
                <a:gd name="connsiteY1-124" fmla="*/ 3466902 h 3466902"/>
                <a:gd name="connsiteX2-125" fmla="*/ 0 w 3316934"/>
                <a:gd name="connsiteY2-126" fmla="*/ 3305116 h 3466902"/>
                <a:gd name="connsiteX3-127" fmla="*/ 0 w 3316934"/>
                <a:gd name="connsiteY3-128" fmla="*/ 326257 h 3466902"/>
                <a:gd name="connsiteX4-129" fmla="*/ 161786 w 3316934"/>
                <a:gd name="connsiteY4-130" fmla="*/ 164471 h 3466902"/>
                <a:gd name="connsiteX5-131" fmla="*/ 1393822 w 3316934"/>
                <a:gd name="connsiteY5-132" fmla="*/ 156893 h 3466902"/>
                <a:gd name="connsiteX6-133" fmla="*/ 1708727 w 3316934"/>
                <a:gd name="connsiteY6-134" fmla="*/ -1 h 3466902"/>
                <a:gd name="connsiteX7-135" fmla="*/ 2062473 w 3316934"/>
                <a:gd name="connsiteY7-136" fmla="*/ 164478 h 3466902"/>
                <a:gd name="connsiteX8-137" fmla="*/ 3155148 w 3316934"/>
                <a:gd name="connsiteY8-138" fmla="*/ 164471 h 3466902"/>
                <a:gd name="connsiteX9-139" fmla="*/ 3316931 w 3316934"/>
                <a:gd name="connsiteY9-140" fmla="*/ 280759 h 3466902"/>
                <a:gd name="connsiteX10-141" fmla="*/ 3316934 w 3316934"/>
                <a:gd name="connsiteY10-142" fmla="*/ 3305116 h 3466902"/>
                <a:gd name="connsiteX11-143" fmla="*/ 3155146 w 3316934"/>
                <a:gd name="connsiteY11-144" fmla="*/ 3436568 h 3466902"/>
                <a:gd name="connsiteX0-145" fmla="*/ 3155146 w 3316934"/>
                <a:gd name="connsiteY0-146" fmla="*/ 3436568 h 3436567"/>
                <a:gd name="connsiteX1-147" fmla="*/ 142368 w 3316934"/>
                <a:gd name="connsiteY1-148" fmla="*/ 3421401 h 3436567"/>
                <a:gd name="connsiteX2-149" fmla="*/ 0 w 3316934"/>
                <a:gd name="connsiteY2-150" fmla="*/ 3305116 h 3436567"/>
                <a:gd name="connsiteX3-151" fmla="*/ 0 w 3316934"/>
                <a:gd name="connsiteY3-152" fmla="*/ 326257 h 3436567"/>
                <a:gd name="connsiteX4-153" fmla="*/ 161786 w 3316934"/>
                <a:gd name="connsiteY4-154" fmla="*/ 164471 h 3436567"/>
                <a:gd name="connsiteX5-155" fmla="*/ 1393822 w 3316934"/>
                <a:gd name="connsiteY5-156" fmla="*/ 156893 h 3436567"/>
                <a:gd name="connsiteX6-157" fmla="*/ 1708727 w 3316934"/>
                <a:gd name="connsiteY6-158" fmla="*/ -1 h 3436567"/>
                <a:gd name="connsiteX7-159" fmla="*/ 2062473 w 3316934"/>
                <a:gd name="connsiteY7-160" fmla="*/ 164478 h 3436567"/>
                <a:gd name="connsiteX8-161" fmla="*/ 3155148 w 3316934"/>
                <a:gd name="connsiteY8-162" fmla="*/ 164471 h 3436567"/>
                <a:gd name="connsiteX9-163" fmla="*/ 3316931 w 3316934"/>
                <a:gd name="connsiteY9-164" fmla="*/ 280759 h 3436567"/>
                <a:gd name="connsiteX10-165" fmla="*/ 3316934 w 3316934"/>
                <a:gd name="connsiteY10-166" fmla="*/ 3305116 h 3436567"/>
                <a:gd name="connsiteX11-167" fmla="*/ 3155146 w 3316934"/>
                <a:gd name="connsiteY11-168" fmla="*/ 3436568 h 343656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Lst>
              <a:rect l="l" t="t" r="r" b="b"/>
              <a:pathLst>
                <a:path w="3316934" h="3436567">
                  <a:moveTo>
                    <a:pt x="3155146" y="3436568"/>
                  </a:moveTo>
                  <a:lnTo>
                    <a:pt x="142368" y="3421401"/>
                  </a:lnTo>
                  <a:cubicBezTo>
                    <a:pt x="53016" y="3421401"/>
                    <a:pt x="0" y="3394468"/>
                    <a:pt x="0" y="3305116"/>
                  </a:cubicBezTo>
                  <a:lnTo>
                    <a:pt x="0" y="326257"/>
                  </a:lnTo>
                  <a:cubicBezTo>
                    <a:pt x="0" y="236905"/>
                    <a:pt x="72434" y="164471"/>
                    <a:pt x="161786" y="164471"/>
                  </a:cubicBezTo>
                  <a:lnTo>
                    <a:pt x="1393822" y="156893"/>
                  </a:lnTo>
                  <a:lnTo>
                    <a:pt x="1708727" y="-1"/>
                  </a:lnTo>
                  <a:lnTo>
                    <a:pt x="2062473" y="164478"/>
                  </a:lnTo>
                  <a:lnTo>
                    <a:pt x="3155148" y="164471"/>
                  </a:lnTo>
                  <a:cubicBezTo>
                    <a:pt x="3244500" y="164471"/>
                    <a:pt x="3316931" y="191407"/>
                    <a:pt x="3316931" y="280759"/>
                  </a:cubicBezTo>
                  <a:lnTo>
                    <a:pt x="3316934" y="3305116"/>
                  </a:lnTo>
                  <a:cubicBezTo>
                    <a:pt x="3316934" y="3394468"/>
                    <a:pt x="3244498" y="3436568"/>
                    <a:pt x="3155146" y="3436568"/>
                  </a:cubicBezTo>
                  <a:close/>
                </a:path>
              </a:pathLst>
            </a:custGeom>
            <a:noFill/>
            <a:ln>
              <a:solidFill>
                <a:schemeClr val="accent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85" name="文本框 84"/>
            <p:cNvSpPr txBox="1"/>
            <p:nvPr/>
          </p:nvSpPr>
          <p:spPr>
            <a:xfrm>
              <a:off x="14011" y="4166"/>
              <a:ext cx="1613" cy="405"/>
            </a:xfrm>
            <a:prstGeom prst="rect">
              <a:avLst/>
            </a:prstGeom>
            <a:noFill/>
          </p:spPr>
          <p:txBody>
            <a:bodyPr wrap="square">
              <a:spAutoFit/>
            </a:bodyPr>
            <a:lstStyle/>
            <a:p>
              <a:pPr marL="0" lvl="0" indent="0" defTabSz="666750">
                <a:lnSpc>
                  <a:spcPct val="90000"/>
                </a:lnSpc>
                <a:spcBef>
                  <a:spcPct val="0"/>
                </a:spcBef>
                <a:spcAft>
                  <a:spcPct val="35000"/>
                </a:spcAft>
                <a:buNone/>
              </a:pPr>
              <a:r>
                <a:rPr lang="zh-CN" altLang="en-US" sz="1200" kern="1200" dirty="0">
                  <a:solidFill>
                    <a:schemeClr val="accent5"/>
                  </a:solidFill>
                  <a:latin typeface="微软雅黑" panose="020B0503020204020204" charset="-122"/>
                  <a:ea typeface="微软雅黑" panose="020B0503020204020204" charset="-122"/>
                  <a:cs typeface="微软雅黑" panose="020B0503020204020204" charset="-122"/>
                </a:rPr>
                <a:t>⑨</a:t>
              </a:r>
              <a:r>
                <a:rPr lang="en-US" altLang="zh-CN" sz="1200" kern="1200" dirty="0">
                  <a:solidFill>
                    <a:schemeClr val="accent5"/>
                  </a:solidFill>
                  <a:latin typeface="微软雅黑" panose="020B0503020204020204" charset="-122"/>
                  <a:ea typeface="微软雅黑" panose="020B0503020204020204" charset="-122"/>
                  <a:cs typeface="微软雅黑" panose="020B0503020204020204" charset="-122"/>
                </a:rPr>
                <a:t> </a:t>
              </a:r>
              <a:r>
                <a:rPr lang="zh-CN" altLang="en-US" sz="1200" kern="1200" dirty="0">
                  <a:solidFill>
                    <a:schemeClr val="accent5"/>
                  </a:solidFill>
                  <a:latin typeface="微软雅黑" panose="020B0503020204020204" charset="-122"/>
                  <a:ea typeface="微软雅黑" panose="020B0503020204020204" charset="-122"/>
                  <a:cs typeface="微软雅黑" panose="020B0503020204020204" charset="-122"/>
                </a:rPr>
                <a:t>监控跟踪</a:t>
              </a:r>
              <a:endParaRPr lang="zh-CN" altLang="en-US" sz="1200" kern="1200" dirty="0">
                <a:solidFill>
                  <a:schemeClr val="accent5"/>
                </a:solidFill>
                <a:latin typeface="微软雅黑" panose="020B0503020204020204" charset="-122"/>
                <a:ea typeface="微软雅黑" panose="020B0503020204020204" charset="-122"/>
                <a:cs typeface="微软雅黑" panose="020B0503020204020204" charset="-122"/>
              </a:endParaRPr>
            </a:p>
          </p:txBody>
        </p:sp>
      </p:grpSp>
      <p:grpSp>
        <p:nvGrpSpPr>
          <p:cNvPr id="147" name="组合 146"/>
          <p:cNvGrpSpPr/>
          <p:nvPr/>
        </p:nvGrpSpPr>
        <p:grpSpPr>
          <a:xfrm>
            <a:off x="8023225" y="3096895"/>
            <a:ext cx="1753870" cy="1442720"/>
            <a:chOff x="12647" y="4749"/>
            <a:chExt cx="2762" cy="2272"/>
          </a:xfrm>
        </p:grpSpPr>
        <p:sp>
          <p:nvSpPr>
            <p:cNvPr id="89" name="椭圆 88"/>
            <p:cNvSpPr/>
            <p:nvPr/>
          </p:nvSpPr>
          <p:spPr>
            <a:xfrm>
              <a:off x="13924" y="5766"/>
              <a:ext cx="209" cy="210"/>
            </a:xfrm>
            <a:prstGeom prst="ellipse">
              <a:avLst/>
            </a:prstGeom>
            <a:solidFill>
              <a:schemeClr val="accent1">
                <a:lumMod val="60000"/>
                <a:lumOff val="4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grpSp>
          <p:nvGrpSpPr>
            <p:cNvPr id="90" name="组合 89"/>
            <p:cNvGrpSpPr/>
            <p:nvPr/>
          </p:nvGrpSpPr>
          <p:grpSpPr>
            <a:xfrm rot="0">
              <a:off x="13164" y="4749"/>
              <a:ext cx="1729" cy="736"/>
              <a:chOff x="1797" y="8377"/>
              <a:chExt cx="1729" cy="736"/>
            </a:xfrm>
          </p:grpSpPr>
          <p:sp>
            <p:nvSpPr>
              <p:cNvPr id="91" name="任意多边形: 形状 43"/>
              <p:cNvSpPr/>
              <p:nvPr/>
            </p:nvSpPr>
            <p:spPr>
              <a:xfrm rot="10800000">
                <a:off x="1797" y="8377"/>
                <a:ext cx="1729" cy="736"/>
              </a:xfrm>
              <a:custGeom>
                <a:avLst/>
                <a:gdLst>
                  <a:gd name="connsiteX0" fmla="*/ 3155148 w 3316934"/>
                  <a:gd name="connsiteY0" fmla="*/ 3611012 h 3611012"/>
                  <a:gd name="connsiteX1" fmla="*/ 161786 w 3316934"/>
                  <a:gd name="connsiteY1" fmla="*/ 3611012 h 3611012"/>
                  <a:gd name="connsiteX2" fmla="*/ 0 w 3316934"/>
                  <a:gd name="connsiteY2" fmla="*/ 3449226 h 3611012"/>
                  <a:gd name="connsiteX3" fmla="*/ 0 w 3316934"/>
                  <a:gd name="connsiteY3" fmla="*/ 470367 h 3611012"/>
                  <a:gd name="connsiteX4" fmla="*/ 161786 w 3316934"/>
                  <a:gd name="connsiteY4" fmla="*/ 308581 h 3611012"/>
                  <a:gd name="connsiteX5" fmla="*/ 1568591 w 3316934"/>
                  <a:gd name="connsiteY5" fmla="*/ 308581 h 3611012"/>
                  <a:gd name="connsiteX6" fmla="*/ 1747569 w 3316934"/>
                  <a:gd name="connsiteY6" fmla="*/ 0 h 3611012"/>
                  <a:gd name="connsiteX7" fmla="*/ 1926547 w 3316934"/>
                  <a:gd name="connsiteY7" fmla="*/ 308581 h 3611012"/>
                  <a:gd name="connsiteX8" fmla="*/ 3155148 w 3316934"/>
                  <a:gd name="connsiteY8" fmla="*/ 308581 h 3611012"/>
                  <a:gd name="connsiteX9" fmla="*/ 3316934 w 3316934"/>
                  <a:gd name="connsiteY9" fmla="*/ 470367 h 3611012"/>
                  <a:gd name="connsiteX10" fmla="*/ 3316934 w 3316934"/>
                  <a:gd name="connsiteY10" fmla="*/ 3449226 h 3611012"/>
                  <a:gd name="connsiteX11" fmla="*/ 3155148 w 3316934"/>
                  <a:gd name="connsiteY11" fmla="*/ 3611012 h 36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16934" h="3611012">
                    <a:moveTo>
                      <a:pt x="3155148" y="3611012"/>
                    </a:moveTo>
                    <a:lnTo>
                      <a:pt x="161786" y="3611012"/>
                    </a:lnTo>
                    <a:cubicBezTo>
                      <a:pt x="72434" y="3611012"/>
                      <a:pt x="0" y="3538578"/>
                      <a:pt x="0" y="3449226"/>
                    </a:cubicBezTo>
                    <a:lnTo>
                      <a:pt x="0" y="470367"/>
                    </a:lnTo>
                    <a:cubicBezTo>
                      <a:pt x="0" y="381015"/>
                      <a:pt x="72434" y="308581"/>
                      <a:pt x="161786" y="308581"/>
                    </a:cubicBezTo>
                    <a:lnTo>
                      <a:pt x="1568591" y="308581"/>
                    </a:lnTo>
                    <a:lnTo>
                      <a:pt x="1747569" y="0"/>
                    </a:lnTo>
                    <a:lnTo>
                      <a:pt x="1926547" y="308581"/>
                    </a:lnTo>
                    <a:lnTo>
                      <a:pt x="3155148" y="308581"/>
                    </a:lnTo>
                    <a:cubicBezTo>
                      <a:pt x="3244500" y="308581"/>
                      <a:pt x="3316934" y="381015"/>
                      <a:pt x="3316934" y="470367"/>
                    </a:cubicBezTo>
                    <a:lnTo>
                      <a:pt x="3316934" y="3449226"/>
                    </a:lnTo>
                    <a:cubicBezTo>
                      <a:pt x="3316934" y="3538578"/>
                      <a:pt x="3244500" y="3611012"/>
                      <a:pt x="3155148" y="3611012"/>
                    </a:cubicBezTo>
                    <a:close/>
                  </a:path>
                </a:pathLst>
              </a:custGeom>
              <a:noFill/>
              <a:ln>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微软雅黑" panose="020B0503020204020204" charset="-122"/>
                  <a:ea typeface="微软雅黑" panose="020B0503020204020204" charset="-122"/>
                  <a:cs typeface="微软雅黑" panose="020B0503020204020204" charset="-122"/>
                </a:endParaRPr>
              </a:p>
            </p:txBody>
          </p:sp>
          <p:sp>
            <p:nvSpPr>
              <p:cNvPr id="92" name="文本框 91"/>
              <p:cNvSpPr txBox="1"/>
              <p:nvPr/>
            </p:nvSpPr>
            <p:spPr>
              <a:xfrm>
                <a:off x="1855" y="8495"/>
                <a:ext cx="1613" cy="405"/>
              </a:xfrm>
              <a:prstGeom prst="rect">
                <a:avLst/>
              </a:prstGeom>
              <a:noFill/>
            </p:spPr>
            <p:txBody>
              <a:bodyPr wrap="square">
                <a:spAutoFit/>
              </a:bodyPr>
              <a:lstStyle/>
              <a:p>
                <a:pPr marL="0" lvl="0" indent="0" defTabSz="666750">
                  <a:lnSpc>
                    <a:spcPct val="90000"/>
                  </a:lnSpc>
                  <a:spcBef>
                    <a:spcPct val="0"/>
                  </a:spcBef>
                  <a:spcAft>
                    <a:spcPct val="35000"/>
                  </a:spcAft>
                  <a:buNone/>
                </a:pPr>
                <a:r>
                  <a:rPr lang="zh-CN" sz="1200" kern="1200" dirty="0">
                    <a:solidFill>
                      <a:schemeClr val="accent1"/>
                    </a:solidFill>
                    <a:latin typeface="微软雅黑" panose="020B0503020204020204" charset="-122"/>
                    <a:ea typeface="微软雅黑" panose="020B0503020204020204" charset="-122"/>
                    <a:cs typeface="微软雅黑" panose="020B0503020204020204" charset="-122"/>
                  </a:rPr>
                  <a:t>⑥</a:t>
                </a:r>
                <a:r>
                  <a:rPr lang="en-US" altLang="zh-CN" sz="1200" kern="1200" dirty="0">
                    <a:solidFill>
                      <a:schemeClr val="accent1"/>
                    </a:solidFill>
                    <a:latin typeface="微软雅黑" panose="020B0503020204020204" charset="-122"/>
                    <a:ea typeface="微软雅黑" panose="020B0503020204020204" charset="-122"/>
                    <a:cs typeface="微软雅黑" panose="020B0503020204020204" charset="-122"/>
                  </a:rPr>
                  <a:t> </a:t>
                </a:r>
                <a:r>
                  <a:rPr lang="zh-CN" altLang="en-US" sz="1200" kern="1200" dirty="0">
                    <a:solidFill>
                      <a:schemeClr val="accent1"/>
                    </a:solidFill>
                    <a:latin typeface="微软雅黑" panose="020B0503020204020204" charset="-122"/>
                    <a:ea typeface="微软雅黑" panose="020B0503020204020204" charset="-122"/>
                    <a:cs typeface="微软雅黑" panose="020B0503020204020204" charset="-122"/>
                  </a:rPr>
                  <a:t>风险应对</a:t>
                </a:r>
                <a:endParaRPr lang="zh-CN" altLang="en-US" sz="1200" kern="1200" dirty="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94" name="紫荆的职场Point36"/>
            <p:cNvSpPr txBox="1"/>
            <p:nvPr/>
          </p:nvSpPr>
          <p:spPr>
            <a:xfrm>
              <a:off x="12647" y="6239"/>
              <a:ext cx="2762" cy="782"/>
            </a:xfrm>
            <a:prstGeom prst="rect">
              <a:avLst/>
            </a:prstGeom>
            <a:noFill/>
          </p:spPr>
          <p:txBody>
            <a:bodyPr wrap="square">
              <a:spAutoFit/>
            </a:bodyPr>
            <a:lstStyle/>
            <a:p>
              <a:pPr algn="ctr" hangingPunct="0">
                <a:lnSpc>
                  <a:spcPct val="110000"/>
                </a:lnSpc>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识别潜在风险，评估影响等级，制定预案。</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98" name="紫荆的职场Point36"/>
          <p:cNvSpPr txBox="1"/>
          <p:nvPr/>
        </p:nvSpPr>
        <p:spPr>
          <a:xfrm>
            <a:off x="2372995" y="5022215"/>
            <a:ext cx="1490345" cy="699135"/>
          </a:xfrm>
          <a:prstGeom prst="rect">
            <a:avLst/>
          </a:prstGeom>
          <a:noFill/>
        </p:spPr>
        <p:txBody>
          <a:bodyPr wrap="square">
            <a:spAutoFit/>
          </a:bodyPr>
          <a:lstStyle/>
          <a:p>
            <a:pPr algn="ctr" hangingPunct="0">
              <a:lnSpc>
                <a:spcPct val="110000"/>
              </a:lnSpc>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rPr>
              <a:t>跟踪进度与成本，对比计划基线，发现偏差。</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nvGrpSpPr>
          <p:cNvPr id="136" name="组合 135"/>
          <p:cNvGrpSpPr/>
          <p:nvPr/>
        </p:nvGrpSpPr>
        <p:grpSpPr>
          <a:xfrm>
            <a:off x="5052060" y="5022215"/>
            <a:ext cx="1549400" cy="1631315"/>
            <a:chOff x="10453" y="7781"/>
            <a:chExt cx="2440" cy="2569"/>
          </a:xfrm>
        </p:grpSpPr>
        <p:sp>
          <p:nvSpPr>
            <p:cNvPr id="104" name="椭圆 103"/>
            <p:cNvSpPr/>
            <p:nvPr/>
          </p:nvSpPr>
          <p:spPr>
            <a:xfrm>
              <a:off x="11569" y="8785"/>
              <a:ext cx="209" cy="210"/>
            </a:xfrm>
            <a:prstGeom prst="ellipse">
              <a:avLst/>
            </a:prstGeom>
            <a:solidFill>
              <a:schemeClr val="accent5">
                <a:lumMod val="60000"/>
                <a:lumOff val="4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grpSp>
          <p:nvGrpSpPr>
            <p:cNvPr id="105" name="组合 104"/>
            <p:cNvGrpSpPr/>
            <p:nvPr/>
          </p:nvGrpSpPr>
          <p:grpSpPr>
            <a:xfrm rot="0">
              <a:off x="10809" y="7781"/>
              <a:ext cx="1729" cy="736"/>
              <a:chOff x="1797" y="8377"/>
              <a:chExt cx="1729" cy="736"/>
            </a:xfrm>
          </p:grpSpPr>
          <p:sp>
            <p:nvSpPr>
              <p:cNvPr id="106" name="任意多边形: 形状 43"/>
              <p:cNvSpPr/>
              <p:nvPr/>
            </p:nvSpPr>
            <p:spPr>
              <a:xfrm rot="10800000">
                <a:off x="1797" y="8377"/>
                <a:ext cx="1729" cy="736"/>
              </a:xfrm>
              <a:custGeom>
                <a:avLst/>
                <a:gdLst>
                  <a:gd name="connsiteX0" fmla="*/ 3155148 w 3316934"/>
                  <a:gd name="connsiteY0" fmla="*/ 3611012 h 3611012"/>
                  <a:gd name="connsiteX1" fmla="*/ 161786 w 3316934"/>
                  <a:gd name="connsiteY1" fmla="*/ 3611012 h 3611012"/>
                  <a:gd name="connsiteX2" fmla="*/ 0 w 3316934"/>
                  <a:gd name="connsiteY2" fmla="*/ 3449226 h 3611012"/>
                  <a:gd name="connsiteX3" fmla="*/ 0 w 3316934"/>
                  <a:gd name="connsiteY3" fmla="*/ 470367 h 3611012"/>
                  <a:gd name="connsiteX4" fmla="*/ 161786 w 3316934"/>
                  <a:gd name="connsiteY4" fmla="*/ 308581 h 3611012"/>
                  <a:gd name="connsiteX5" fmla="*/ 1568591 w 3316934"/>
                  <a:gd name="connsiteY5" fmla="*/ 308581 h 3611012"/>
                  <a:gd name="connsiteX6" fmla="*/ 1747569 w 3316934"/>
                  <a:gd name="connsiteY6" fmla="*/ 0 h 3611012"/>
                  <a:gd name="connsiteX7" fmla="*/ 1926547 w 3316934"/>
                  <a:gd name="connsiteY7" fmla="*/ 308581 h 3611012"/>
                  <a:gd name="connsiteX8" fmla="*/ 3155148 w 3316934"/>
                  <a:gd name="connsiteY8" fmla="*/ 308581 h 3611012"/>
                  <a:gd name="connsiteX9" fmla="*/ 3316934 w 3316934"/>
                  <a:gd name="connsiteY9" fmla="*/ 470367 h 3611012"/>
                  <a:gd name="connsiteX10" fmla="*/ 3316934 w 3316934"/>
                  <a:gd name="connsiteY10" fmla="*/ 3449226 h 3611012"/>
                  <a:gd name="connsiteX11" fmla="*/ 3155148 w 3316934"/>
                  <a:gd name="connsiteY11" fmla="*/ 3611012 h 36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16934" h="3611012">
                    <a:moveTo>
                      <a:pt x="3155148" y="3611012"/>
                    </a:moveTo>
                    <a:lnTo>
                      <a:pt x="161786" y="3611012"/>
                    </a:lnTo>
                    <a:cubicBezTo>
                      <a:pt x="72434" y="3611012"/>
                      <a:pt x="0" y="3538578"/>
                      <a:pt x="0" y="3449226"/>
                    </a:cubicBezTo>
                    <a:lnTo>
                      <a:pt x="0" y="470367"/>
                    </a:lnTo>
                    <a:cubicBezTo>
                      <a:pt x="0" y="381015"/>
                      <a:pt x="72434" y="308581"/>
                      <a:pt x="161786" y="308581"/>
                    </a:cubicBezTo>
                    <a:lnTo>
                      <a:pt x="1568591" y="308581"/>
                    </a:lnTo>
                    <a:lnTo>
                      <a:pt x="1747569" y="0"/>
                    </a:lnTo>
                    <a:lnTo>
                      <a:pt x="1926547" y="308581"/>
                    </a:lnTo>
                    <a:lnTo>
                      <a:pt x="3155148" y="308581"/>
                    </a:lnTo>
                    <a:cubicBezTo>
                      <a:pt x="3244500" y="308581"/>
                      <a:pt x="3316934" y="381015"/>
                      <a:pt x="3316934" y="470367"/>
                    </a:cubicBezTo>
                    <a:lnTo>
                      <a:pt x="3316934" y="3449226"/>
                    </a:lnTo>
                    <a:cubicBezTo>
                      <a:pt x="3316934" y="3538578"/>
                      <a:pt x="3244500" y="3611012"/>
                      <a:pt x="3155148" y="3611012"/>
                    </a:cubicBezTo>
                    <a:close/>
                  </a:path>
                </a:pathLst>
              </a:custGeom>
              <a:noFill/>
              <a:ln>
                <a:solidFill>
                  <a:schemeClr val="accent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微软雅黑" panose="020B0503020204020204" charset="-122"/>
                  <a:ea typeface="微软雅黑" panose="020B0503020204020204" charset="-122"/>
                  <a:cs typeface="微软雅黑" panose="020B0503020204020204" charset="-122"/>
                </a:endParaRPr>
              </a:p>
            </p:txBody>
          </p:sp>
          <p:sp>
            <p:nvSpPr>
              <p:cNvPr id="107" name="文本框 106"/>
              <p:cNvSpPr txBox="1"/>
              <p:nvPr/>
            </p:nvSpPr>
            <p:spPr>
              <a:xfrm>
                <a:off x="1855" y="8495"/>
                <a:ext cx="1613" cy="405"/>
              </a:xfrm>
              <a:prstGeom prst="rect">
                <a:avLst/>
              </a:prstGeom>
              <a:noFill/>
            </p:spPr>
            <p:txBody>
              <a:bodyPr wrap="square">
                <a:spAutoFit/>
              </a:bodyPr>
              <a:lstStyle/>
              <a:p>
                <a:pPr marL="0" lvl="0" indent="0" defTabSz="666750">
                  <a:lnSpc>
                    <a:spcPct val="90000"/>
                  </a:lnSpc>
                  <a:spcBef>
                    <a:spcPct val="0"/>
                  </a:spcBef>
                  <a:spcAft>
                    <a:spcPct val="35000"/>
                  </a:spcAft>
                  <a:buNone/>
                </a:pPr>
                <a:r>
                  <a:rPr lang="zh-CN" sz="1200" kern="1200" dirty="0">
                    <a:solidFill>
                      <a:schemeClr val="accent5"/>
                    </a:solidFill>
                    <a:latin typeface="微软雅黑" panose="020B0503020204020204" charset="-122"/>
                    <a:ea typeface="微软雅黑" panose="020B0503020204020204" charset="-122"/>
                    <a:cs typeface="微软雅黑" panose="020B0503020204020204" charset="-122"/>
                  </a:rPr>
                  <a:t>⑩</a:t>
                </a:r>
                <a:r>
                  <a:rPr lang="en-US" altLang="zh-CN" sz="1200" kern="1200" dirty="0">
                    <a:solidFill>
                      <a:schemeClr val="accent5"/>
                    </a:solidFill>
                    <a:latin typeface="微软雅黑" panose="020B0503020204020204" charset="-122"/>
                    <a:ea typeface="微软雅黑" panose="020B0503020204020204" charset="-122"/>
                    <a:cs typeface="微软雅黑" panose="020B0503020204020204" charset="-122"/>
                  </a:rPr>
                  <a:t> </a:t>
                </a:r>
                <a:r>
                  <a:rPr lang="zh-CN" altLang="en-US" sz="1200" kern="1200" dirty="0">
                    <a:solidFill>
                      <a:schemeClr val="accent5"/>
                    </a:solidFill>
                    <a:latin typeface="微软雅黑" panose="020B0503020204020204" charset="-122"/>
                    <a:ea typeface="微软雅黑" panose="020B0503020204020204" charset="-122"/>
                    <a:cs typeface="微软雅黑" panose="020B0503020204020204" charset="-122"/>
                  </a:rPr>
                  <a:t>沟通协调</a:t>
                </a:r>
                <a:endParaRPr lang="zh-CN" altLang="en-US" sz="1200" kern="1200" dirty="0">
                  <a:solidFill>
                    <a:schemeClr val="accent5"/>
                  </a:solidFill>
                  <a:latin typeface="微软雅黑" panose="020B0503020204020204" charset="-122"/>
                  <a:ea typeface="微软雅黑" panose="020B0503020204020204" charset="-122"/>
                  <a:cs typeface="微软雅黑" panose="020B0503020204020204" charset="-122"/>
                </a:endParaRPr>
              </a:p>
            </p:txBody>
          </p:sp>
        </p:grpSp>
        <p:sp>
          <p:nvSpPr>
            <p:cNvPr id="108" name="紫荆的职场Point36"/>
            <p:cNvSpPr txBox="1"/>
            <p:nvPr/>
          </p:nvSpPr>
          <p:spPr>
            <a:xfrm>
              <a:off x="10453" y="9250"/>
              <a:ext cx="2441" cy="1101"/>
            </a:xfrm>
            <a:prstGeom prst="rect">
              <a:avLst/>
            </a:prstGeom>
            <a:noFill/>
          </p:spPr>
          <p:txBody>
            <a:bodyPr wrap="square">
              <a:spAutoFit/>
            </a:bodyPr>
            <a:lstStyle/>
            <a:p>
              <a:pPr algn="ctr" hangingPunct="0">
                <a:lnSpc>
                  <a:spcPct val="110000"/>
                </a:lnSpc>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同步项目状态，协调解决问题，管理干系人期望。</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137" name="组合 136"/>
          <p:cNvGrpSpPr/>
          <p:nvPr/>
        </p:nvGrpSpPr>
        <p:grpSpPr>
          <a:xfrm>
            <a:off x="7018655" y="5022215"/>
            <a:ext cx="1398270" cy="1631315"/>
            <a:chOff x="13194" y="7781"/>
            <a:chExt cx="2202" cy="2569"/>
          </a:xfrm>
        </p:grpSpPr>
        <p:sp>
          <p:nvSpPr>
            <p:cNvPr id="109" name="椭圆 108"/>
            <p:cNvSpPr/>
            <p:nvPr/>
          </p:nvSpPr>
          <p:spPr>
            <a:xfrm>
              <a:off x="14038" y="8785"/>
              <a:ext cx="209" cy="210"/>
            </a:xfrm>
            <a:prstGeom prst="ellipse">
              <a:avLst/>
            </a:prstGeom>
            <a:solidFill>
              <a:schemeClr val="accent5">
                <a:lumMod val="60000"/>
                <a:lumOff val="4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grpSp>
          <p:nvGrpSpPr>
            <p:cNvPr id="110" name="组合 109"/>
            <p:cNvGrpSpPr/>
            <p:nvPr/>
          </p:nvGrpSpPr>
          <p:grpSpPr>
            <a:xfrm rot="0">
              <a:off x="13278" y="7781"/>
              <a:ext cx="1729" cy="736"/>
              <a:chOff x="1797" y="8377"/>
              <a:chExt cx="1729" cy="736"/>
            </a:xfrm>
          </p:grpSpPr>
          <p:sp>
            <p:nvSpPr>
              <p:cNvPr id="111" name="任意多边形: 形状 43"/>
              <p:cNvSpPr/>
              <p:nvPr/>
            </p:nvSpPr>
            <p:spPr>
              <a:xfrm rot="10800000">
                <a:off x="1797" y="8377"/>
                <a:ext cx="1729" cy="736"/>
              </a:xfrm>
              <a:custGeom>
                <a:avLst/>
                <a:gdLst>
                  <a:gd name="connsiteX0" fmla="*/ 3155148 w 3316934"/>
                  <a:gd name="connsiteY0" fmla="*/ 3611012 h 3611012"/>
                  <a:gd name="connsiteX1" fmla="*/ 161786 w 3316934"/>
                  <a:gd name="connsiteY1" fmla="*/ 3611012 h 3611012"/>
                  <a:gd name="connsiteX2" fmla="*/ 0 w 3316934"/>
                  <a:gd name="connsiteY2" fmla="*/ 3449226 h 3611012"/>
                  <a:gd name="connsiteX3" fmla="*/ 0 w 3316934"/>
                  <a:gd name="connsiteY3" fmla="*/ 470367 h 3611012"/>
                  <a:gd name="connsiteX4" fmla="*/ 161786 w 3316934"/>
                  <a:gd name="connsiteY4" fmla="*/ 308581 h 3611012"/>
                  <a:gd name="connsiteX5" fmla="*/ 1568591 w 3316934"/>
                  <a:gd name="connsiteY5" fmla="*/ 308581 h 3611012"/>
                  <a:gd name="connsiteX6" fmla="*/ 1747569 w 3316934"/>
                  <a:gd name="connsiteY6" fmla="*/ 0 h 3611012"/>
                  <a:gd name="connsiteX7" fmla="*/ 1926547 w 3316934"/>
                  <a:gd name="connsiteY7" fmla="*/ 308581 h 3611012"/>
                  <a:gd name="connsiteX8" fmla="*/ 3155148 w 3316934"/>
                  <a:gd name="connsiteY8" fmla="*/ 308581 h 3611012"/>
                  <a:gd name="connsiteX9" fmla="*/ 3316934 w 3316934"/>
                  <a:gd name="connsiteY9" fmla="*/ 470367 h 3611012"/>
                  <a:gd name="connsiteX10" fmla="*/ 3316934 w 3316934"/>
                  <a:gd name="connsiteY10" fmla="*/ 3449226 h 3611012"/>
                  <a:gd name="connsiteX11" fmla="*/ 3155148 w 3316934"/>
                  <a:gd name="connsiteY11" fmla="*/ 3611012 h 36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16934" h="3611012">
                    <a:moveTo>
                      <a:pt x="3155148" y="3611012"/>
                    </a:moveTo>
                    <a:lnTo>
                      <a:pt x="161786" y="3611012"/>
                    </a:lnTo>
                    <a:cubicBezTo>
                      <a:pt x="72434" y="3611012"/>
                      <a:pt x="0" y="3538578"/>
                      <a:pt x="0" y="3449226"/>
                    </a:cubicBezTo>
                    <a:lnTo>
                      <a:pt x="0" y="470367"/>
                    </a:lnTo>
                    <a:cubicBezTo>
                      <a:pt x="0" y="381015"/>
                      <a:pt x="72434" y="308581"/>
                      <a:pt x="161786" y="308581"/>
                    </a:cubicBezTo>
                    <a:lnTo>
                      <a:pt x="1568591" y="308581"/>
                    </a:lnTo>
                    <a:lnTo>
                      <a:pt x="1747569" y="0"/>
                    </a:lnTo>
                    <a:lnTo>
                      <a:pt x="1926547" y="308581"/>
                    </a:lnTo>
                    <a:lnTo>
                      <a:pt x="3155148" y="308581"/>
                    </a:lnTo>
                    <a:cubicBezTo>
                      <a:pt x="3244500" y="308581"/>
                      <a:pt x="3316934" y="381015"/>
                      <a:pt x="3316934" y="470367"/>
                    </a:cubicBezTo>
                    <a:lnTo>
                      <a:pt x="3316934" y="3449226"/>
                    </a:lnTo>
                    <a:cubicBezTo>
                      <a:pt x="3316934" y="3538578"/>
                      <a:pt x="3244500" y="3611012"/>
                      <a:pt x="3155148" y="3611012"/>
                    </a:cubicBezTo>
                    <a:close/>
                  </a:path>
                </a:pathLst>
              </a:custGeom>
              <a:noFill/>
              <a:ln>
                <a:solidFill>
                  <a:schemeClr val="accent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微软雅黑" panose="020B0503020204020204" charset="-122"/>
                  <a:ea typeface="微软雅黑" panose="020B0503020204020204" charset="-122"/>
                  <a:cs typeface="微软雅黑" panose="020B0503020204020204" charset="-122"/>
                </a:endParaRPr>
              </a:p>
            </p:txBody>
          </p:sp>
          <p:sp>
            <p:nvSpPr>
              <p:cNvPr id="112" name="文本框 111"/>
              <p:cNvSpPr txBox="1"/>
              <p:nvPr/>
            </p:nvSpPr>
            <p:spPr>
              <a:xfrm>
                <a:off x="1855" y="8495"/>
                <a:ext cx="1613" cy="405"/>
              </a:xfrm>
              <a:prstGeom prst="rect">
                <a:avLst/>
              </a:prstGeom>
              <a:noFill/>
            </p:spPr>
            <p:txBody>
              <a:bodyPr wrap="square">
                <a:spAutoFit/>
              </a:bodyPr>
              <a:lstStyle/>
              <a:p>
                <a:pPr marL="0" lvl="0" indent="0" defTabSz="666750">
                  <a:lnSpc>
                    <a:spcPct val="90000"/>
                  </a:lnSpc>
                  <a:spcBef>
                    <a:spcPct val="0"/>
                  </a:spcBef>
                  <a:spcAft>
                    <a:spcPct val="35000"/>
                  </a:spcAft>
                  <a:buNone/>
                </a:pPr>
                <a:r>
                  <a:rPr lang="en-US" altLang="zh-CN" sz="1200">
                    <a:solidFill>
                      <a:schemeClr val="accent5"/>
                    </a:solidFill>
                    <a:latin typeface="微软雅黑" panose="020B0503020204020204" charset="-122"/>
                    <a:ea typeface="微软雅黑" panose="020B0503020204020204" charset="-122"/>
                    <a:cs typeface="微软雅黑" panose="020B0503020204020204" charset="-122"/>
                    <a:sym typeface="+mn-ea"/>
                  </a:rPr>
                  <a:t>⑪ </a:t>
                </a:r>
                <a:r>
                  <a:rPr lang="zh-CN" altLang="en-US" sz="1200">
                    <a:solidFill>
                      <a:schemeClr val="accent5"/>
                    </a:solidFill>
                    <a:latin typeface="微软雅黑" panose="020B0503020204020204" charset="-122"/>
                    <a:ea typeface="微软雅黑" panose="020B0503020204020204" charset="-122"/>
                    <a:cs typeface="微软雅黑" panose="020B0503020204020204" charset="-122"/>
                    <a:sym typeface="+mn-ea"/>
                  </a:rPr>
                  <a:t>变更控制</a:t>
                </a:r>
                <a:r>
                  <a:rPr lang="en-US" altLang="zh-CN" sz="1200">
                    <a:solidFill>
                      <a:schemeClr val="accent5"/>
                    </a:solidFill>
                    <a:latin typeface="微软雅黑" panose="020B0503020204020204" charset="-122"/>
                    <a:ea typeface="微软雅黑" panose="020B0503020204020204" charset="-122"/>
                    <a:cs typeface="微软雅黑" panose="020B0503020204020204" charset="-122"/>
                    <a:sym typeface="+mn-ea"/>
                  </a:rPr>
                  <a:t> </a:t>
                </a:r>
                <a:endParaRPr lang="en-US" altLang="zh-CN" sz="1200" kern="1200" dirty="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grpSp>
        <p:sp>
          <p:nvSpPr>
            <p:cNvPr id="113" name="紫荆的职场Point36"/>
            <p:cNvSpPr txBox="1"/>
            <p:nvPr/>
          </p:nvSpPr>
          <p:spPr>
            <a:xfrm>
              <a:off x="13194" y="9250"/>
              <a:ext cx="2202" cy="1101"/>
            </a:xfrm>
            <a:prstGeom prst="rect">
              <a:avLst/>
            </a:prstGeom>
            <a:noFill/>
          </p:spPr>
          <p:txBody>
            <a:bodyPr wrap="square">
              <a:spAutoFit/>
            </a:bodyPr>
            <a:lstStyle/>
            <a:p>
              <a:pPr algn="ctr" hangingPunct="0">
                <a:lnSpc>
                  <a:spcPct val="110000"/>
                </a:lnSpc>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估变更影响，按流程审批，调整后续计划。</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138" name="组合 137"/>
          <p:cNvGrpSpPr/>
          <p:nvPr/>
        </p:nvGrpSpPr>
        <p:grpSpPr>
          <a:xfrm>
            <a:off x="8834120" y="5022215"/>
            <a:ext cx="1255395" cy="1631315"/>
            <a:chOff x="15736" y="7781"/>
            <a:chExt cx="1977" cy="2569"/>
          </a:xfrm>
        </p:grpSpPr>
        <p:sp>
          <p:nvSpPr>
            <p:cNvPr id="114" name="椭圆 113"/>
            <p:cNvSpPr/>
            <p:nvPr/>
          </p:nvSpPr>
          <p:spPr>
            <a:xfrm>
              <a:off x="16496" y="8770"/>
              <a:ext cx="209" cy="210"/>
            </a:xfrm>
            <a:prstGeom prst="ellipse">
              <a:avLst/>
            </a:prstGeom>
            <a:solidFill>
              <a:schemeClr val="accent5">
                <a:lumMod val="60000"/>
                <a:lumOff val="4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grpSp>
          <p:nvGrpSpPr>
            <p:cNvPr id="115" name="组合 114"/>
            <p:cNvGrpSpPr/>
            <p:nvPr/>
          </p:nvGrpSpPr>
          <p:grpSpPr>
            <a:xfrm rot="0">
              <a:off x="15736" y="7781"/>
              <a:ext cx="1729" cy="736"/>
              <a:chOff x="1797" y="8377"/>
              <a:chExt cx="1729" cy="736"/>
            </a:xfrm>
          </p:grpSpPr>
          <p:sp>
            <p:nvSpPr>
              <p:cNvPr id="116" name="任意多边形: 形状 43"/>
              <p:cNvSpPr/>
              <p:nvPr/>
            </p:nvSpPr>
            <p:spPr>
              <a:xfrm rot="10800000">
                <a:off x="1797" y="8377"/>
                <a:ext cx="1729" cy="736"/>
              </a:xfrm>
              <a:custGeom>
                <a:avLst/>
                <a:gdLst>
                  <a:gd name="connsiteX0" fmla="*/ 3155148 w 3316934"/>
                  <a:gd name="connsiteY0" fmla="*/ 3611012 h 3611012"/>
                  <a:gd name="connsiteX1" fmla="*/ 161786 w 3316934"/>
                  <a:gd name="connsiteY1" fmla="*/ 3611012 h 3611012"/>
                  <a:gd name="connsiteX2" fmla="*/ 0 w 3316934"/>
                  <a:gd name="connsiteY2" fmla="*/ 3449226 h 3611012"/>
                  <a:gd name="connsiteX3" fmla="*/ 0 w 3316934"/>
                  <a:gd name="connsiteY3" fmla="*/ 470367 h 3611012"/>
                  <a:gd name="connsiteX4" fmla="*/ 161786 w 3316934"/>
                  <a:gd name="connsiteY4" fmla="*/ 308581 h 3611012"/>
                  <a:gd name="connsiteX5" fmla="*/ 1568591 w 3316934"/>
                  <a:gd name="connsiteY5" fmla="*/ 308581 h 3611012"/>
                  <a:gd name="connsiteX6" fmla="*/ 1747569 w 3316934"/>
                  <a:gd name="connsiteY6" fmla="*/ 0 h 3611012"/>
                  <a:gd name="connsiteX7" fmla="*/ 1926547 w 3316934"/>
                  <a:gd name="connsiteY7" fmla="*/ 308581 h 3611012"/>
                  <a:gd name="connsiteX8" fmla="*/ 3155148 w 3316934"/>
                  <a:gd name="connsiteY8" fmla="*/ 308581 h 3611012"/>
                  <a:gd name="connsiteX9" fmla="*/ 3316934 w 3316934"/>
                  <a:gd name="connsiteY9" fmla="*/ 470367 h 3611012"/>
                  <a:gd name="connsiteX10" fmla="*/ 3316934 w 3316934"/>
                  <a:gd name="connsiteY10" fmla="*/ 3449226 h 3611012"/>
                  <a:gd name="connsiteX11" fmla="*/ 3155148 w 3316934"/>
                  <a:gd name="connsiteY11" fmla="*/ 3611012 h 36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16934" h="3611012">
                    <a:moveTo>
                      <a:pt x="3155148" y="3611012"/>
                    </a:moveTo>
                    <a:lnTo>
                      <a:pt x="161786" y="3611012"/>
                    </a:lnTo>
                    <a:cubicBezTo>
                      <a:pt x="72434" y="3611012"/>
                      <a:pt x="0" y="3538578"/>
                      <a:pt x="0" y="3449226"/>
                    </a:cubicBezTo>
                    <a:lnTo>
                      <a:pt x="0" y="470367"/>
                    </a:lnTo>
                    <a:cubicBezTo>
                      <a:pt x="0" y="381015"/>
                      <a:pt x="72434" y="308581"/>
                      <a:pt x="161786" y="308581"/>
                    </a:cubicBezTo>
                    <a:lnTo>
                      <a:pt x="1568591" y="308581"/>
                    </a:lnTo>
                    <a:lnTo>
                      <a:pt x="1747569" y="0"/>
                    </a:lnTo>
                    <a:lnTo>
                      <a:pt x="1926547" y="308581"/>
                    </a:lnTo>
                    <a:lnTo>
                      <a:pt x="3155148" y="308581"/>
                    </a:lnTo>
                    <a:cubicBezTo>
                      <a:pt x="3244500" y="308581"/>
                      <a:pt x="3316934" y="381015"/>
                      <a:pt x="3316934" y="470367"/>
                    </a:cubicBezTo>
                    <a:lnTo>
                      <a:pt x="3316934" y="3449226"/>
                    </a:lnTo>
                    <a:cubicBezTo>
                      <a:pt x="3316934" y="3538578"/>
                      <a:pt x="3244500" y="3611012"/>
                      <a:pt x="3155148" y="3611012"/>
                    </a:cubicBezTo>
                    <a:close/>
                  </a:path>
                </a:pathLst>
              </a:custGeom>
              <a:noFill/>
              <a:ln>
                <a:solidFill>
                  <a:schemeClr val="accent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微软雅黑" panose="020B0503020204020204" charset="-122"/>
                  <a:ea typeface="微软雅黑" panose="020B0503020204020204" charset="-122"/>
                  <a:cs typeface="微软雅黑" panose="020B0503020204020204" charset="-122"/>
                </a:endParaRPr>
              </a:p>
            </p:txBody>
          </p:sp>
          <p:sp>
            <p:nvSpPr>
              <p:cNvPr id="117" name="文本框 116"/>
              <p:cNvSpPr txBox="1"/>
              <p:nvPr/>
            </p:nvSpPr>
            <p:spPr>
              <a:xfrm>
                <a:off x="1855" y="8495"/>
                <a:ext cx="1613" cy="405"/>
              </a:xfrm>
              <a:prstGeom prst="rect">
                <a:avLst/>
              </a:prstGeom>
              <a:noFill/>
            </p:spPr>
            <p:txBody>
              <a:bodyPr wrap="square">
                <a:spAutoFit/>
              </a:bodyPr>
              <a:lstStyle/>
              <a:p>
                <a:pPr marL="0" lvl="0" indent="0" defTabSz="666750">
                  <a:lnSpc>
                    <a:spcPct val="90000"/>
                  </a:lnSpc>
                  <a:spcBef>
                    <a:spcPct val="0"/>
                  </a:spcBef>
                  <a:spcAft>
                    <a:spcPct val="35000"/>
                  </a:spcAft>
                  <a:buNone/>
                </a:pPr>
                <a:r>
                  <a:rPr lang="en-US" altLang="zh-CN" sz="1200">
                    <a:solidFill>
                      <a:schemeClr val="accent5"/>
                    </a:solidFill>
                    <a:latin typeface="微软雅黑" panose="020B0503020204020204" charset="-122"/>
                    <a:ea typeface="微软雅黑" panose="020B0503020204020204" charset="-122"/>
                    <a:cs typeface="微软雅黑" panose="020B0503020204020204" charset="-122"/>
                    <a:sym typeface="+mn-ea"/>
                  </a:rPr>
                  <a:t>⑫ </a:t>
                </a:r>
                <a:r>
                  <a:rPr lang="zh-CN" altLang="en-US" sz="1200">
                    <a:solidFill>
                      <a:schemeClr val="accent5"/>
                    </a:solidFill>
                    <a:latin typeface="微软雅黑" panose="020B0503020204020204" charset="-122"/>
                    <a:ea typeface="微软雅黑" panose="020B0503020204020204" charset="-122"/>
                    <a:cs typeface="微软雅黑" panose="020B0503020204020204" charset="-122"/>
                    <a:sym typeface="+mn-ea"/>
                  </a:rPr>
                  <a:t>验收总结</a:t>
                </a:r>
                <a:endParaRPr lang="zh-CN" altLang="en-US" sz="1200" kern="1200" dirty="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grpSp>
        <p:sp>
          <p:nvSpPr>
            <p:cNvPr id="119" name="紫荆的职场Point36"/>
            <p:cNvSpPr txBox="1"/>
            <p:nvPr/>
          </p:nvSpPr>
          <p:spPr>
            <a:xfrm>
              <a:off x="15737" y="9250"/>
              <a:ext cx="1977" cy="1101"/>
            </a:xfrm>
            <a:prstGeom prst="rect">
              <a:avLst/>
            </a:prstGeom>
            <a:noFill/>
          </p:spPr>
          <p:txBody>
            <a:bodyPr wrap="square">
              <a:spAutoFit/>
            </a:bodyPr>
            <a:lstStyle/>
            <a:p>
              <a:pPr algn="ctr" hangingPunct="0">
                <a:lnSpc>
                  <a:spcPct val="110000"/>
                </a:lnSpc>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交付成果验收，总结项目经验，归档项目文件。</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125" name="紫荆的职场Point6"/>
          <p:cNvGrpSpPr/>
          <p:nvPr/>
        </p:nvGrpSpPr>
        <p:grpSpPr>
          <a:xfrm>
            <a:off x="355600" y="1537335"/>
            <a:ext cx="750570" cy="748665"/>
            <a:chOff x="2968911" y="1833417"/>
            <a:chExt cx="431528" cy="430332"/>
          </a:xfrm>
        </p:grpSpPr>
        <p:sp>
          <p:nvSpPr>
            <p:cNvPr id="126" name="紫荆的职场Point6-1"/>
            <p:cNvSpPr>
              <a:spLocks noChangeAspect="1"/>
            </p:cNvSpPr>
            <p:nvPr/>
          </p:nvSpPr>
          <p:spPr>
            <a:xfrm>
              <a:off x="2969033" y="1833417"/>
              <a:ext cx="430332" cy="430332"/>
            </a:xfrm>
            <a:prstGeom prst="ellipse">
              <a:avLst/>
            </a:prstGeom>
            <a:gradFill flip="none" rotWithShape="1">
              <a:gsLst>
                <a:gs pos="70000">
                  <a:schemeClr val="accent1">
                    <a:lumMod val="60000"/>
                    <a:lumOff val="40000"/>
                  </a:schemeClr>
                </a:gs>
                <a:gs pos="99000">
                  <a:schemeClr val="accent1">
                    <a:lumMod val="20000"/>
                    <a:lumOff val="80000"/>
                  </a:schemeClr>
                </a:gs>
                <a:gs pos="7000">
                  <a:schemeClr val="accent1"/>
                </a:gs>
              </a:gsLst>
              <a:path path="circle">
                <a:fillToRect r="100000" b="100000"/>
              </a:path>
              <a:tileRect l="-100000" t="-100000"/>
            </a:gradFill>
            <a:ln w="12700" cap="flat" cmpd="sng" algn="ctr">
              <a:solidFill>
                <a:schemeClr val="bg1"/>
              </a:solidFill>
              <a:prstDash val="solid"/>
              <a:miter lim="800000"/>
            </a:ln>
            <a:effectLst>
              <a:outerShdw blurRad="152400" dist="76200" dir="5400000" algn="t" rotWithShape="0">
                <a:schemeClr val="accent1">
                  <a:alpha val="23000"/>
                </a:schemeClr>
              </a:outerShdw>
            </a:effectLst>
          </p:spPr>
          <p:txBody>
            <a:bodyPr wrap="square" rtlCol="0" anchor="ctr">
              <a:noAutofit/>
            </a:bodyPr>
            <a:lstStyle/>
            <a:p>
              <a:pPr algn="ctr"/>
              <a:endParaRPr lang="zh-CN" altLang="en-US" sz="1715" kern="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7" name="紫荆的职场Point6-2"/>
            <p:cNvSpPr txBox="1"/>
            <p:nvPr/>
          </p:nvSpPr>
          <p:spPr>
            <a:xfrm>
              <a:off x="2968911" y="1912565"/>
              <a:ext cx="431528" cy="264623"/>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项目</a:t>
              </a:r>
              <a:endParaRPr kumimoji="1"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启动</a:t>
              </a:r>
              <a:endParaRPr kumimoji="1"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32" name="组合 131"/>
          <p:cNvGrpSpPr/>
          <p:nvPr/>
        </p:nvGrpSpPr>
        <p:grpSpPr>
          <a:xfrm>
            <a:off x="10396220" y="2572385"/>
            <a:ext cx="1172210" cy="441325"/>
            <a:chOff x="16452" y="4021"/>
            <a:chExt cx="1846" cy="695"/>
          </a:xfrm>
        </p:grpSpPr>
        <p:sp>
          <p:nvSpPr>
            <p:cNvPr id="133" name="任意多边形: 形状 43"/>
            <p:cNvSpPr/>
            <p:nvPr/>
          </p:nvSpPr>
          <p:spPr>
            <a:xfrm rot="16200000">
              <a:off x="17027" y="3445"/>
              <a:ext cx="695" cy="1846"/>
            </a:xfrm>
            <a:custGeom>
              <a:avLst/>
              <a:gdLst>
                <a:gd name="connsiteX0" fmla="*/ 3155148 w 3316934"/>
                <a:gd name="connsiteY0" fmla="*/ 3611012 h 3611012"/>
                <a:gd name="connsiteX1" fmla="*/ 161786 w 3316934"/>
                <a:gd name="connsiteY1" fmla="*/ 3611012 h 3611012"/>
                <a:gd name="connsiteX2" fmla="*/ 0 w 3316934"/>
                <a:gd name="connsiteY2" fmla="*/ 3449226 h 3611012"/>
                <a:gd name="connsiteX3" fmla="*/ 0 w 3316934"/>
                <a:gd name="connsiteY3" fmla="*/ 470367 h 3611012"/>
                <a:gd name="connsiteX4" fmla="*/ 161786 w 3316934"/>
                <a:gd name="connsiteY4" fmla="*/ 308581 h 3611012"/>
                <a:gd name="connsiteX5" fmla="*/ 1568591 w 3316934"/>
                <a:gd name="connsiteY5" fmla="*/ 308581 h 3611012"/>
                <a:gd name="connsiteX6" fmla="*/ 1747569 w 3316934"/>
                <a:gd name="connsiteY6" fmla="*/ 0 h 3611012"/>
                <a:gd name="connsiteX7" fmla="*/ 1926547 w 3316934"/>
                <a:gd name="connsiteY7" fmla="*/ 308581 h 3611012"/>
                <a:gd name="connsiteX8" fmla="*/ 3155148 w 3316934"/>
                <a:gd name="connsiteY8" fmla="*/ 308581 h 3611012"/>
                <a:gd name="connsiteX9" fmla="*/ 3316934 w 3316934"/>
                <a:gd name="connsiteY9" fmla="*/ 470367 h 3611012"/>
                <a:gd name="connsiteX10" fmla="*/ 3316934 w 3316934"/>
                <a:gd name="connsiteY10" fmla="*/ 3449226 h 3611012"/>
                <a:gd name="connsiteX11" fmla="*/ 3155148 w 3316934"/>
                <a:gd name="connsiteY11" fmla="*/ 3611012 h 3611012"/>
                <a:gd name="connsiteX0-1" fmla="*/ 3155148 w 3316934"/>
                <a:gd name="connsiteY0-2" fmla="*/ 3497246 h 3497246"/>
                <a:gd name="connsiteX1-3" fmla="*/ 161786 w 3316934"/>
                <a:gd name="connsiteY1-4" fmla="*/ 3497246 h 3497246"/>
                <a:gd name="connsiteX2-5" fmla="*/ 0 w 3316934"/>
                <a:gd name="connsiteY2-6" fmla="*/ 3335460 h 3497246"/>
                <a:gd name="connsiteX3-7" fmla="*/ 0 w 3316934"/>
                <a:gd name="connsiteY3-8" fmla="*/ 356601 h 3497246"/>
                <a:gd name="connsiteX4-9" fmla="*/ 161786 w 3316934"/>
                <a:gd name="connsiteY4-10" fmla="*/ 194815 h 3497246"/>
                <a:gd name="connsiteX5-11" fmla="*/ 1568591 w 3316934"/>
                <a:gd name="connsiteY5-12" fmla="*/ 194815 h 3497246"/>
                <a:gd name="connsiteX6-13" fmla="*/ 1728150 w 3316934"/>
                <a:gd name="connsiteY6-14" fmla="*/ 0 h 3497246"/>
                <a:gd name="connsiteX7-15" fmla="*/ 1926547 w 3316934"/>
                <a:gd name="connsiteY7-16" fmla="*/ 194815 h 3497246"/>
                <a:gd name="connsiteX8-17" fmla="*/ 3155148 w 3316934"/>
                <a:gd name="connsiteY8-18" fmla="*/ 194815 h 3497246"/>
                <a:gd name="connsiteX9-19" fmla="*/ 3316934 w 3316934"/>
                <a:gd name="connsiteY9-20" fmla="*/ 356601 h 3497246"/>
                <a:gd name="connsiteX10-21" fmla="*/ 3316934 w 3316934"/>
                <a:gd name="connsiteY10-22" fmla="*/ 3335460 h 3497246"/>
                <a:gd name="connsiteX11-23" fmla="*/ 3155148 w 3316934"/>
                <a:gd name="connsiteY11-24" fmla="*/ 3497246 h 3497246"/>
                <a:gd name="connsiteX0-25" fmla="*/ 3155148 w 3316934"/>
                <a:gd name="connsiteY0-26" fmla="*/ 3497246 h 3497246"/>
                <a:gd name="connsiteX1-27" fmla="*/ 161786 w 3316934"/>
                <a:gd name="connsiteY1-28" fmla="*/ 3497246 h 3497246"/>
                <a:gd name="connsiteX2-29" fmla="*/ 0 w 3316934"/>
                <a:gd name="connsiteY2-30" fmla="*/ 3335460 h 3497246"/>
                <a:gd name="connsiteX3-31" fmla="*/ 0 w 3316934"/>
                <a:gd name="connsiteY3-32" fmla="*/ 356601 h 3497246"/>
                <a:gd name="connsiteX4-33" fmla="*/ 161786 w 3316934"/>
                <a:gd name="connsiteY4-34" fmla="*/ 194815 h 3497246"/>
                <a:gd name="connsiteX5-35" fmla="*/ 1568591 w 3316934"/>
                <a:gd name="connsiteY5-36" fmla="*/ 194815 h 3497246"/>
                <a:gd name="connsiteX6-37" fmla="*/ 1728150 w 3316934"/>
                <a:gd name="connsiteY6-38" fmla="*/ 0 h 3497246"/>
                <a:gd name="connsiteX7-39" fmla="*/ 1926547 w 3316934"/>
                <a:gd name="connsiteY7-40" fmla="*/ 194815 h 3497246"/>
                <a:gd name="connsiteX8-41" fmla="*/ 3155148 w 3316934"/>
                <a:gd name="connsiteY8-42" fmla="*/ 194815 h 3497246"/>
                <a:gd name="connsiteX9-43" fmla="*/ 3316931 w 3316934"/>
                <a:gd name="connsiteY9-44" fmla="*/ 311103 h 3497246"/>
                <a:gd name="connsiteX10-45" fmla="*/ 3316934 w 3316934"/>
                <a:gd name="connsiteY10-46" fmla="*/ 3335460 h 3497246"/>
                <a:gd name="connsiteX11-47" fmla="*/ 3155148 w 3316934"/>
                <a:gd name="connsiteY11-48" fmla="*/ 3497246 h 3497246"/>
                <a:gd name="connsiteX0-49" fmla="*/ 3155148 w 3316934"/>
                <a:gd name="connsiteY0-50" fmla="*/ 3497246 h 3497246"/>
                <a:gd name="connsiteX1-51" fmla="*/ 161786 w 3316934"/>
                <a:gd name="connsiteY1-52" fmla="*/ 3497246 h 3497246"/>
                <a:gd name="connsiteX2-53" fmla="*/ 0 w 3316934"/>
                <a:gd name="connsiteY2-54" fmla="*/ 3335460 h 3497246"/>
                <a:gd name="connsiteX3-55" fmla="*/ 0 w 3316934"/>
                <a:gd name="connsiteY3-56" fmla="*/ 356601 h 3497246"/>
                <a:gd name="connsiteX4-57" fmla="*/ 161786 w 3316934"/>
                <a:gd name="connsiteY4-58" fmla="*/ 194815 h 3497246"/>
                <a:gd name="connsiteX5-59" fmla="*/ 1568591 w 3316934"/>
                <a:gd name="connsiteY5-60" fmla="*/ 194815 h 3497246"/>
                <a:gd name="connsiteX6-61" fmla="*/ 1728150 w 3316934"/>
                <a:gd name="connsiteY6-62" fmla="*/ 0 h 3497246"/>
                <a:gd name="connsiteX7-63" fmla="*/ 2062473 w 3316934"/>
                <a:gd name="connsiteY7-64" fmla="*/ 194822 h 3497246"/>
                <a:gd name="connsiteX8-65" fmla="*/ 3155148 w 3316934"/>
                <a:gd name="connsiteY8-66" fmla="*/ 194815 h 3497246"/>
                <a:gd name="connsiteX9-67" fmla="*/ 3316931 w 3316934"/>
                <a:gd name="connsiteY9-68" fmla="*/ 311103 h 3497246"/>
                <a:gd name="connsiteX10-69" fmla="*/ 3316934 w 3316934"/>
                <a:gd name="connsiteY10-70" fmla="*/ 3335460 h 3497246"/>
                <a:gd name="connsiteX11-71" fmla="*/ 3155148 w 3316934"/>
                <a:gd name="connsiteY11-72" fmla="*/ 3497246 h 3497246"/>
                <a:gd name="connsiteX0-73" fmla="*/ 3155148 w 3316934"/>
                <a:gd name="connsiteY0-74" fmla="*/ 3497246 h 3497246"/>
                <a:gd name="connsiteX1-75" fmla="*/ 161786 w 3316934"/>
                <a:gd name="connsiteY1-76" fmla="*/ 3497246 h 3497246"/>
                <a:gd name="connsiteX2-77" fmla="*/ 0 w 3316934"/>
                <a:gd name="connsiteY2-78" fmla="*/ 3335460 h 3497246"/>
                <a:gd name="connsiteX3-79" fmla="*/ 0 w 3316934"/>
                <a:gd name="connsiteY3-80" fmla="*/ 356601 h 3497246"/>
                <a:gd name="connsiteX4-81" fmla="*/ 161786 w 3316934"/>
                <a:gd name="connsiteY4-82" fmla="*/ 194815 h 3497246"/>
                <a:gd name="connsiteX5-83" fmla="*/ 1393822 w 3316934"/>
                <a:gd name="connsiteY5-84" fmla="*/ 187237 h 3497246"/>
                <a:gd name="connsiteX6-85" fmla="*/ 1728150 w 3316934"/>
                <a:gd name="connsiteY6-86" fmla="*/ 0 h 3497246"/>
                <a:gd name="connsiteX7-87" fmla="*/ 2062473 w 3316934"/>
                <a:gd name="connsiteY7-88" fmla="*/ 194822 h 3497246"/>
                <a:gd name="connsiteX8-89" fmla="*/ 3155148 w 3316934"/>
                <a:gd name="connsiteY8-90" fmla="*/ 194815 h 3497246"/>
                <a:gd name="connsiteX9-91" fmla="*/ 3316931 w 3316934"/>
                <a:gd name="connsiteY9-92" fmla="*/ 311103 h 3497246"/>
                <a:gd name="connsiteX10-93" fmla="*/ 3316934 w 3316934"/>
                <a:gd name="connsiteY10-94" fmla="*/ 3335460 h 3497246"/>
                <a:gd name="connsiteX11-95" fmla="*/ 3155148 w 3316934"/>
                <a:gd name="connsiteY11-96" fmla="*/ 3497246 h 3497246"/>
                <a:gd name="connsiteX0-97" fmla="*/ 3155148 w 3316934"/>
                <a:gd name="connsiteY0-98" fmla="*/ 3466902 h 3466902"/>
                <a:gd name="connsiteX1-99" fmla="*/ 161786 w 3316934"/>
                <a:gd name="connsiteY1-100" fmla="*/ 3466902 h 3466902"/>
                <a:gd name="connsiteX2-101" fmla="*/ 0 w 3316934"/>
                <a:gd name="connsiteY2-102" fmla="*/ 3305116 h 3466902"/>
                <a:gd name="connsiteX3-103" fmla="*/ 0 w 3316934"/>
                <a:gd name="connsiteY3-104" fmla="*/ 326257 h 3466902"/>
                <a:gd name="connsiteX4-105" fmla="*/ 161786 w 3316934"/>
                <a:gd name="connsiteY4-106" fmla="*/ 164471 h 3466902"/>
                <a:gd name="connsiteX5-107" fmla="*/ 1393822 w 3316934"/>
                <a:gd name="connsiteY5-108" fmla="*/ 156893 h 3466902"/>
                <a:gd name="connsiteX6-109" fmla="*/ 1708727 w 3316934"/>
                <a:gd name="connsiteY6-110" fmla="*/ -1 h 3466902"/>
                <a:gd name="connsiteX7-111" fmla="*/ 2062473 w 3316934"/>
                <a:gd name="connsiteY7-112" fmla="*/ 164478 h 3466902"/>
                <a:gd name="connsiteX8-113" fmla="*/ 3155148 w 3316934"/>
                <a:gd name="connsiteY8-114" fmla="*/ 164471 h 3466902"/>
                <a:gd name="connsiteX9-115" fmla="*/ 3316931 w 3316934"/>
                <a:gd name="connsiteY9-116" fmla="*/ 280759 h 3466902"/>
                <a:gd name="connsiteX10-117" fmla="*/ 3316934 w 3316934"/>
                <a:gd name="connsiteY10-118" fmla="*/ 3305116 h 3466902"/>
                <a:gd name="connsiteX11-119" fmla="*/ 3155148 w 3316934"/>
                <a:gd name="connsiteY11-120" fmla="*/ 3466902 h 3466902"/>
                <a:gd name="connsiteX0-121" fmla="*/ 3155146 w 3316934"/>
                <a:gd name="connsiteY0-122" fmla="*/ 3436568 h 3466902"/>
                <a:gd name="connsiteX1-123" fmla="*/ 161786 w 3316934"/>
                <a:gd name="connsiteY1-124" fmla="*/ 3466902 h 3466902"/>
                <a:gd name="connsiteX2-125" fmla="*/ 0 w 3316934"/>
                <a:gd name="connsiteY2-126" fmla="*/ 3305116 h 3466902"/>
                <a:gd name="connsiteX3-127" fmla="*/ 0 w 3316934"/>
                <a:gd name="connsiteY3-128" fmla="*/ 326257 h 3466902"/>
                <a:gd name="connsiteX4-129" fmla="*/ 161786 w 3316934"/>
                <a:gd name="connsiteY4-130" fmla="*/ 164471 h 3466902"/>
                <a:gd name="connsiteX5-131" fmla="*/ 1393822 w 3316934"/>
                <a:gd name="connsiteY5-132" fmla="*/ 156893 h 3466902"/>
                <a:gd name="connsiteX6-133" fmla="*/ 1708727 w 3316934"/>
                <a:gd name="connsiteY6-134" fmla="*/ -1 h 3466902"/>
                <a:gd name="connsiteX7-135" fmla="*/ 2062473 w 3316934"/>
                <a:gd name="connsiteY7-136" fmla="*/ 164478 h 3466902"/>
                <a:gd name="connsiteX8-137" fmla="*/ 3155148 w 3316934"/>
                <a:gd name="connsiteY8-138" fmla="*/ 164471 h 3466902"/>
                <a:gd name="connsiteX9-139" fmla="*/ 3316931 w 3316934"/>
                <a:gd name="connsiteY9-140" fmla="*/ 280759 h 3466902"/>
                <a:gd name="connsiteX10-141" fmla="*/ 3316934 w 3316934"/>
                <a:gd name="connsiteY10-142" fmla="*/ 3305116 h 3466902"/>
                <a:gd name="connsiteX11-143" fmla="*/ 3155146 w 3316934"/>
                <a:gd name="connsiteY11-144" fmla="*/ 3436568 h 3466902"/>
                <a:gd name="connsiteX0-145" fmla="*/ 3155146 w 3316934"/>
                <a:gd name="connsiteY0-146" fmla="*/ 3436568 h 3436567"/>
                <a:gd name="connsiteX1-147" fmla="*/ 142368 w 3316934"/>
                <a:gd name="connsiteY1-148" fmla="*/ 3421401 h 3436567"/>
                <a:gd name="connsiteX2-149" fmla="*/ 0 w 3316934"/>
                <a:gd name="connsiteY2-150" fmla="*/ 3305116 h 3436567"/>
                <a:gd name="connsiteX3-151" fmla="*/ 0 w 3316934"/>
                <a:gd name="connsiteY3-152" fmla="*/ 326257 h 3436567"/>
                <a:gd name="connsiteX4-153" fmla="*/ 161786 w 3316934"/>
                <a:gd name="connsiteY4-154" fmla="*/ 164471 h 3436567"/>
                <a:gd name="connsiteX5-155" fmla="*/ 1393822 w 3316934"/>
                <a:gd name="connsiteY5-156" fmla="*/ 156893 h 3436567"/>
                <a:gd name="connsiteX6-157" fmla="*/ 1708727 w 3316934"/>
                <a:gd name="connsiteY6-158" fmla="*/ -1 h 3436567"/>
                <a:gd name="connsiteX7-159" fmla="*/ 2062473 w 3316934"/>
                <a:gd name="connsiteY7-160" fmla="*/ 164478 h 3436567"/>
                <a:gd name="connsiteX8-161" fmla="*/ 3155148 w 3316934"/>
                <a:gd name="connsiteY8-162" fmla="*/ 164471 h 3436567"/>
                <a:gd name="connsiteX9-163" fmla="*/ 3316931 w 3316934"/>
                <a:gd name="connsiteY9-164" fmla="*/ 280759 h 3436567"/>
                <a:gd name="connsiteX10-165" fmla="*/ 3316934 w 3316934"/>
                <a:gd name="connsiteY10-166" fmla="*/ 3305116 h 3436567"/>
                <a:gd name="connsiteX11-167" fmla="*/ 3155146 w 3316934"/>
                <a:gd name="connsiteY11-168" fmla="*/ 3436568 h 343656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Lst>
              <a:rect l="l" t="t" r="r" b="b"/>
              <a:pathLst>
                <a:path w="3316934" h="3436567">
                  <a:moveTo>
                    <a:pt x="3155146" y="3436568"/>
                  </a:moveTo>
                  <a:lnTo>
                    <a:pt x="142368" y="3421401"/>
                  </a:lnTo>
                  <a:cubicBezTo>
                    <a:pt x="53016" y="3421401"/>
                    <a:pt x="0" y="3394468"/>
                    <a:pt x="0" y="3305116"/>
                  </a:cubicBezTo>
                  <a:lnTo>
                    <a:pt x="0" y="326257"/>
                  </a:lnTo>
                  <a:cubicBezTo>
                    <a:pt x="0" y="236905"/>
                    <a:pt x="72434" y="164471"/>
                    <a:pt x="161786" y="164471"/>
                  </a:cubicBezTo>
                  <a:lnTo>
                    <a:pt x="1393822" y="156893"/>
                  </a:lnTo>
                  <a:lnTo>
                    <a:pt x="1708727" y="-1"/>
                  </a:lnTo>
                  <a:lnTo>
                    <a:pt x="2062473" y="164478"/>
                  </a:lnTo>
                  <a:lnTo>
                    <a:pt x="3155148" y="164471"/>
                  </a:lnTo>
                  <a:cubicBezTo>
                    <a:pt x="3244500" y="164471"/>
                    <a:pt x="3316931" y="191407"/>
                    <a:pt x="3316931" y="280759"/>
                  </a:cubicBezTo>
                  <a:lnTo>
                    <a:pt x="3316934" y="3305116"/>
                  </a:lnTo>
                  <a:cubicBezTo>
                    <a:pt x="3316934" y="3394468"/>
                    <a:pt x="3244498" y="3436568"/>
                    <a:pt x="3155146" y="3436568"/>
                  </a:cubicBezTo>
                  <a:close/>
                </a:path>
              </a:pathLst>
            </a:custGeom>
            <a:noFill/>
            <a:ln>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134" name="文本框 133"/>
            <p:cNvSpPr txBox="1"/>
            <p:nvPr/>
          </p:nvSpPr>
          <p:spPr>
            <a:xfrm>
              <a:off x="16568" y="4166"/>
              <a:ext cx="1613" cy="405"/>
            </a:xfrm>
            <a:prstGeom prst="rect">
              <a:avLst/>
            </a:prstGeom>
            <a:noFill/>
          </p:spPr>
          <p:txBody>
            <a:bodyPr wrap="square">
              <a:spAutoFit/>
            </a:bodyPr>
            <a:lstStyle/>
            <a:p>
              <a:pPr marL="0" lvl="0" indent="0" defTabSz="666750">
                <a:lnSpc>
                  <a:spcPct val="90000"/>
                </a:lnSpc>
                <a:spcBef>
                  <a:spcPct val="0"/>
                </a:spcBef>
                <a:spcAft>
                  <a:spcPct val="35000"/>
                </a:spcAft>
                <a:buNone/>
              </a:pPr>
              <a:r>
                <a:rPr lang="zh-CN" sz="1200" kern="1200" dirty="0">
                  <a:solidFill>
                    <a:schemeClr val="accent1"/>
                  </a:solidFill>
                  <a:latin typeface="微软雅黑" panose="020B0503020204020204" charset="-122"/>
                  <a:ea typeface="微软雅黑" panose="020B0503020204020204" charset="-122"/>
                  <a:cs typeface="微软雅黑" panose="020B0503020204020204" charset="-122"/>
                </a:rPr>
                <a:t>⑤</a:t>
              </a:r>
              <a:r>
                <a:rPr lang="en-US" altLang="zh-CN" sz="1200" kern="1200" dirty="0">
                  <a:solidFill>
                    <a:schemeClr val="accent1"/>
                  </a:solidFill>
                  <a:latin typeface="微软雅黑" panose="020B0503020204020204" charset="-122"/>
                  <a:ea typeface="微软雅黑" panose="020B0503020204020204" charset="-122"/>
                  <a:cs typeface="微软雅黑" panose="020B0503020204020204" charset="-122"/>
                </a:rPr>
                <a:t> </a:t>
              </a:r>
              <a:r>
                <a:rPr lang="zh-CN" altLang="en-US" sz="1200" kern="1200" dirty="0">
                  <a:solidFill>
                    <a:schemeClr val="accent1"/>
                  </a:solidFill>
                  <a:latin typeface="微软雅黑" panose="020B0503020204020204" charset="-122"/>
                  <a:ea typeface="微软雅黑" panose="020B0503020204020204" charset="-122"/>
                  <a:cs typeface="微软雅黑" panose="020B0503020204020204" charset="-122"/>
                </a:rPr>
                <a:t>制定计划</a:t>
              </a:r>
              <a:endParaRPr lang="zh-CN" altLang="en-US" sz="1200" kern="1200" dirty="0">
                <a:solidFill>
                  <a:schemeClr val="accent1"/>
                </a:solidFill>
                <a:latin typeface="微软雅黑" panose="020B0503020204020204" charset="-122"/>
                <a:ea typeface="微软雅黑" panose="020B0503020204020204" charset="-122"/>
                <a:cs typeface="微软雅黑" panose="020B0503020204020204" charset="-122"/>
              </a:endParaRPr>
            </a:p>
          </p:txBody>
        </p:sp>
      </p:grpSp>
      <p:grpSp>
        <p:nvGrpSpPr>
          <p:cNvPr id="139" name="紫荆的职场Point6"/>
          <p:cNvGrpSpPr/>
          <p:nvPr/>
        </p:nvGrpSpPr>
        <p:grpSpPr>
          <a:xfrm>
            <a:off x="10904220" y="5299075"/>
            <a:ext cx="750570" cy="748665"/>
            <a:chOff x="2968911" y="1833417"/>
            <a:chExt cx="431528" cy="430332"/>
          </a:xfrm>
        </p:grpSpPr>
        <p:sp>
          <p:nvSpPr>
            <p:cNvPr id="140" name="紫荆的职场Point6-1"/>
            <p:cNvSpPr>
              <a:spLocks noChangeAspect="1"/>
            </p:cNvSpPr>
            <p:nvPr/>
          </p:nvSpPr>
          <p:spPr>
            <a:xfrm>
              <a:off x="2969033" y="1833417"/>
              <a:ext cx="430332" cy="430332"/>
            </a:xfrm>
            <a:prstGeom prst="ellipse">
              <a:avLst/>
            </a:prstGeom>
            <a:gradFill flip="none" rotWithShape="1">
              <a:gsLst>
                <a:gs pos="70000">
                  <a:schemeClr val="accent5">
                    <a:lumMod val="60000"/>
                    <a:lumOff val="40000"/>
                  </a:schemeClr>
                </a:gs>
                <a:gs pos="99000">
                  <a:schemeClr val="accent5">
                    <a:lumMod val="20000"/>
                    <a:lumOff val="80000"/>
                  </a:schemeClr>
                </a:gs>
                <a:gs pos="19000">
                  <a:schemeClr val="accent5"/>
                </a:gs>
              </a:gsLst>
              <a:path path="circle">
                <a:fillToRect r="100000" b="100000"/>
              </a:path>
              <a:tileRect l="-100000" t="-100000"/>
            </a:gradFill>
            <a:ln w="12700" cap="flat" cmpd="sng" algn="ctr">
              <a:solidFill>
                <a:schemeClr val="bg1"/>
              </a:solidFill>
              <a:prstDash val="solid"/>
              <a:miter lim="800000"/>
            </a:ln>
            <a:effectLst>
              <a:outerShdw blurRad="152400" dist="76200" dir="5400000" algn="t" rotWithShape="0">
                <a:schemeClr val="accent5">
                  <a:alpha val="23000"/>
                </a:schemeClr>
              </a:outerShdw>
            </a:effectLst>
          </p:spPr>
          <p:txBody>
            <a:bodyPr wrap="square" rtlCol="0" anchor="ctr">
              <a:noAutofit/>
            </a:bodyPr>
            <a:lstStyle/>
            <a:p>
              <a:pPr algn="ctr"/>
              <a:endParaRPr lang="zh-CN" altLang="en-US" sz="1715" kern="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41" name="紫荆的职场Point6-2"/>
            <p:cNvSpPr txBox="1"/>
            <p:nvPr/>
          </p:nvSpPr>
          <p:spPr>
            <a:xfrm>
              <a:off x="2968911" y="1912565"/>
              <a:ext cx="431528" cy="264623"/>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项目</a:t>
              </a:r>
              <a:endParaRPr kumimoji="1"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交付</a:t>
              </a:r>
              <a:endParaRPr kumimoji="1"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49" name="组合 148"/>
          <p:cNvGrpSpPr/>
          <p:nvPr/>
        </p:nvGrpSpPr>
        <p:grpSpPr>
          <a:xfrm>
            <a:off x="4780915" y="3088640"/>
            <a:ext cx="1422400" cy="1450975"/>
            <a:chOff x="7265" y="4736"/>
            <a:chExt cx="2240" cy="2285"/>
          </a:xfrm>
        </p:grpSpPr>
        <p:sp>
          <p:nvSpPr>
            <p:cNvPr id="142" name="椭圆 141"/>
            <p:cNvSpPr/>
            <p:nvPr/>
          </p:nvSpPr>
          <p:spPr>
            <a:xfrm>
              <a:off x="8287" y="5753"/>
              <a:ext cx="209" cy="210"/>
            </a:xfrm>
            <a:prstGeom prst="ellipse">
              <a:avLst/>
            </a:prstGeom>
            <a:solidFill>
              <a:schemeClr val="accent5">
                <a:lumMod val="60000"/>
                <a:lumOff val="4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grpSp>
          <p:nvGrpSpPr>
            <p:cNvPr id="143" name="组合 142"/>
            <p:cNvGrpSpPr/>
            <p:nvPr/>
          </p:nvGrpSpPr>
          <p:grpSpPr>
            <a:xfrm rot="0">
              <a:off x="7527" y="4736"/>
              <a:ext cx="1729" cy="736"/>
              <a:chOff x="1797" y="8377"/>
              <a:chExt cx="1729" cy="736"/>
            </a:xfrm>
          </p:grpSpPr>
          <p:sp>
            <p:nvSpPr>
              <p:cNvPr id="144" name="任意多边形: 形状 43"/>
              <p:cNvSpPr/>
              <p:nvPr/>
            </p:nvSpPr>
            <p:spPr>
              <a:xfrm rot="10800000">
                <a:off x="1797" y="8377"/>
                <a:ext cx="1729" cy="736"/>
              </a:xfrm>
              <a:custGeom>
                <a:avLst/>
                <a:gdLst>
                  <a:gd name="connsiteX0" fmla="*/ 3155148 w 3316934"/>
                  <a:gd name="connsiteY0" fmla="*/ 3611012 h 3611012"/>
                  <a:gd name="connsiteX1" fmla="*/ 161786 w 3316934"/>
                  <a:gd name="connsiteY1" fmla="*/ 3611012 h 3611012"/>
                  <a:gd name="connsiteX2" fmla="*/ 0 w 3316934"/>
                  <a:gd name="connsiteY2" fmla="*/ 3449226 h 3611012"/>
                  <a:gd name="connsiteX3" fmla="*/ 0 w 3316934"/>
                  <a:gd name="connsiteY3" fmla="*/ 470367 h 3611012"/>
                  <a:gd name="connsiteX4" fmla="*/ 161786 w 3316934"/>
                  <a:gd name="connsiteY4" fmla="*/ 308581 h 3611012"/>
                  <a:gd name="connsiteX5" fmla="*/ 1568591 w 3316934"/>
                  <a:gd name="connsiteY5" fmla="*/ 308581 h 3611012"/>
                  <a:gd name="connsiteX6" fmla="*/ 1747569 w 3316934"/>
                  <a:gd name="connsiteY6" fmla="*/ 0 h 3611012"/>
                  <a:gd name="connsiteX7" fmla="*/ 1926547 w 3316934"/>
                  <a:gd name="connsiteY7" fmla="*/ 308581 h 3611012"/>
                  <a:gd name="connsiteX8" fmla="*/ 3155148 w 3316934"/>
                  <a:gd name="connsiteY8" fmla="*/ 308581 h 3611012"/>
                  <a:gd name="connsiteX9" fmla="*/ 3316934 w 3316934"/>
                  <a:gd name="connsiteY9" fmla="*/ 470367 h 3611012"/>
                  <a:gd name="connsiteX10" fmla="*/ 3316934 w 3316934"/>
                  <a:gd name="connsiteY10" fmla="*/ 3449226 h 3611012"/>
                  <a:gd name="connsiteX11" fmla="*/ 3155148 w 3316934"/>
                  <a:gd name="connsiteY11" fmla="*/ 3611012 h 36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16934" h="3611012">
                    <a:moveTo>
                      <a:pt x="3155148" y="3611012"/>
                    </a:moveTo>
                    <a:lnTo>
                      <a:pt x="161786" y="3611012"/>
                    </a:lnTo>
                    <a:cubicBezTo>
                      <a:pt x="72434" y="3611012"/>
                      <a:pt x="0" y="3538578"/>
                      <a:pt x="0" y="3449226"/>
                    </a:cubicBezTo>
                    <a:lnTo>
                      <a:pt x="0" y="470367"/>
                    </a:lnTo>
                    <a:cubicBezTo>
                      <a:pt x="0" y="381015"/>
                      <a:pt x="72434" y="308581"/>
                      <a:pt x="161786" y="308581"/>
                    </a:cubicBezTo>
                    <a:lnTo>
                      <a:pt x="1568591" y="308581"/>
                    </a:lnTo>
                    <a:lnTo>
                      <a:pt x="1747569" y="0"/>
                    </a:lnTo>
                    <a:lnTo>
                      <a:pt x="1926547" y="308581"/>
                    </a:lnTo>
                    <a:lnTo>
                      <a:pt x="3155148" y="308581"/>
                    </a:lnTo>
                    <a:cubicBezTo>
                      <a:pt x="3244500" y="308581"/>
                      <a:pt x="3316934" y="381015"/>
                      <a:pt x="3316934" y="470367"/>
                    </a:cubicBezTo>
                    <a:lnTo>
                      <a:pt x="3316934" y="3449226"/>
                    </a:lnTo>
                    <a:cubicBezTo>
                      <a:pt x="3316934" y="3538578"/>
                      <a:pt x="3244500" y="3611012"/>
                      <a:pt x="3155148" y="3611012"/>
                    </a:cubicBezTo>
                    <a:close/>
                  </a:path>
                </a:pathLst>
              </a:custGeom>
              <a:noFill/>
              <a:ln>
                <a:solidFill>
                  <a:schemeClr val="accent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微软雅黑" panose="020B0503020204020204" charset="-122"/>
                  <a:ea typeface="微软雅黑" panose="020B0503020204020204" charset="-122"/>
                  <a:cs typeface="微软雅黑" panose="020B0503020204020204" charset="-122"/>
                </a:endParaRPr>
              </a:p>
            </p:txBody>
          </p:sp>
          <p:sp>
            <p:nvSpPr>
              <p:cNvPr id="145" name="文本框 144"/>
              <p:cNvSpPr txBox="1"/>
              <p:nvPr/>
            </p:nvSpPr>
            <p:spPr>
              <a:xfrm>
                <a:off x="1855" y="8495"/>
                <a:ext cx="1613" cy="405"/>
              </a:xfrm>
              <a:prstGeom prst="rect">
                <a:avLst/>
              </a:prstGeom>
              <a:noFill/>
            </p:spPr>
            <p:txBody>
              <a:bodyPr wrap="square">
                <a:spAutoFit/>
              </a:bodyPr>
              <a:lstStyle/>
              <a:p>
                <a:pPr marL="0" lvl="0" indent="0" defTabSz="666750">
                  <a:lnSpc>
                    <a:spcPct val="90000"/>
                  </a:lnSpc>
                  <a:spcBef>
                    <a:spcPct val="0"/>
                  </a:spcBef>
                  <a:spcAft>
                    <a:spcPct val="35000"/>
                  </a:spcAft>
                  <a:buNone/>
                </a:pPr>
                <a:r>
                  <a:rPr lang="zh-CN" altLang="en-US" sz="1200" kern="1200" dirty="0">
                    <a:solidFill>
                      <a:schemeClr val="accent5"/>
                    </a:solidFill>
                    <a:latin typeface="微软雅黑" panose="020B0503020204020204" charset="-122"/>
                    <a:ea typeface="微软雅黑" panose="020B0503020204020204" charset="-122"/>
                    <a:cs typeface="微软雅黑" panose="020B0503020204020204" charset="-122"/>
                  </a:rPr>
                  <a:t>⑧</a:t>
                </a:r>
                <a:r>
                  <a:rPr lang="en-US" altLang="zh-CN" sz="1200" kern="1200" dirty="0">
                    <a:solidFill>
                      <a:schemeClr val="accent5"/>
                    </a:solidFill>
                    <a:latin typeface="微软雅黑" panose="020B0503020204020204" charset="-122"/>
                    <a:ea typeface="微软雅黑" panose="020B0503020204020204" charset="-122"/>
                    <a:cs typeface="微软雅黑" panose="020B0503020204020204" charset="-122"/>
                  </a:rPr>
                  <a:t> </a:t>
                </a:r>
                <a:r>
                  <a:rPr lang="zh-CN" altLang="en-US" sz="1200" kern="1200" dirty="0">
                    <a:solidFill>
                      <a:schemeClr val="accent5"/>
                    </a:solidFill>
                    <a:latin typeface="微软雅黑" panose="020B0503020204020204" charset="-122"/>
                    <a:ea typeface="微软雅黑" panose="020B0503020204020204" charset="-122"/>
                    <a:cs typeface="微软雅黑" panose="020B0503020204020204" charset="-122"/>
                  </a:rPr>
                  <a:t>执行计划</a:t>
                </a:r>
                <a:endParaRPr lang="zh-CN" altLang="en-US" sz="1200" kern="1200" dirty="0">
                  <a:solidFill>
                    <a:schemeClr val="accent5"/>
                  </a:solidFill>
                  <a:latin typeface="微软雅黑" panose="020B0503020204020204" charset="-122"/>
                  <a:ea typeface="微软雅黑" panose="020B0503020204020204" charset="-122"/>
                  <a:cs typeface="微软雅黑" panose="020B0503020204020204" charset="-122"/>
                </a:endParaRPr>
              </a:p>
            </p:txBody>
          </p:sp>
        </p:grpSp>
        <p:sp>
          <p:nvSpPr>
            <p:cNvPr id="146" name="紫荆的职场Point36"/>
            <p:cNvSpPr txBox="1"/>
            <p:nvPr/>
          </p:nvSpPr>
          <p:spPr>
            <a:xfrm>
              <a:off x="7265" y="6239"/>
              <a:ext cx="2240" cy="782"/>
            </a:xfrm>
            <a:prstGeom prst="rect">
              <a:avLst/>
            </a:prstGeom>
            <a:noFill/>
          </p:spPr>
          <p:txBody>
            <a:bodyPr wrap="square">
              <a:spAutoFit/>
            </a:bodyPr>
            <a:lstStyle/>
            <a:p>
              <a:pPr algn="ctr" hangingPunct="0">
                <a:lnSpc>
                  <a:spcPct val="110000"/>
                </a:lnSpc>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rPr>
                <a:t>按计划开展工作，产出可交付成果。</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cxnSp>
        <p:nvCxnSpPr>
          <p:cNvPr id="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0" name="组合 19"/>
          <p:cNvGrpSpPr/>
          <p:nvPr/>
        </p:nvGrpSpPr>
        <p:grpSpPr>
          <a:xfrm>
            <a:off x="8738235" y="348615"/>
            <a:ext cx="3219450" cy="332740"/>
            <a:chOff x="13761" y="549"/>
            <a:chExt cx="5070" cy="524"/>
          </a:xfrm>
        </p:grpSpPr>
        <p:pic>
          <p:nvPicPr>
            <p:cNvPr id="21" name="图片 20"/>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22" name="文本框 21"/>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Shape 1433"/>
          <p:cNvSpPr/>
          <p:nvPr>
            <p:custDataLst>
              <p:tags r:id="rId1"/>
            </p:custDataLst>
          </p:nvPr>
        </p:nvSpPr>
        <p:spPr bwMode="auto">
          <a:xfrm rot="7500000">
            <a:off x="9644698" y="1767523"/>
            <a:ext cx="2934970" cy="1720215"/>
          </a:xfrm>
          <a:custGeom>
            <a:avLst/>
            <a:gdLst>
              <a:gd name="connsiteX0" fmla="*/ 0 w 2486541"/>
              <a:gd name="connsiteY0" fmla="*/ 248816 h 1447917"/>
              <a:gd name="connsiteX1" fmla="*/ 430962 w 2486541"/>
              <a:gd name="connsiteY1" fmla="*/ 0 h 1447917"/>
              <a:gd name="connsiteX2" fmla="*/ 2486541 w 2486541"/>
              <a:gd name="connsiteY2" fmla="*/ 1200087 h 1447917"/>
              <a:gd name="connsiteX3" fmla="*/ 2057288 w 2486541"/>
              <a:gd name="connsiteY3" fmla="*/ 1447917 h 1447917"/>
            </a:gdLst>
            <a:ahLst/>
            <a:cxnLst>
              <a:cxn ang="0">
                <a:pos x="connsiteX0" y="connsiteY0"/>
              </a:cxn>
              <a:cxn ang="0">
                <a:pos x="connsiteX1" y="connsiteY1"/>
              </a:cxn>
              <a:cxn ang="0">
                <a:pos x="connsiteX2" y="connsiteY2"/>
              </a:cxn>
              <a:cxn ang="0">
                <a:pos x="connsiteX3" y="connsiteY3"/>
              </a:cxn>
            </a:cxnLst>
            <a:rect l="l" t="t" r="r" b="b"/>
            <a:pathLst>
              <a:path w="2486541" h="1447917">
                <a:moveTo>
                  <a:pt x="0" y="248816"/>
                </a:moveTo>
                <a:lnTo>
                  <a:pt x="430962" y="0"/>
                </a:lnTo>
                <a:lnTo>
                  <a:pt x="2486541" y="1200087"/>
                </a:lnTo>
                <a:lnTo>
                  <a:pt x="2057288" y="1447917"/>
                </a:lnTo>
                <a:close/>
              </a:path>
            </a:pathLst>
          </a:custGeom>
          <a:solidFill>
            <a:schemeClr val="tx2">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en-US" dirty="0">
              <a:latin typeface="微软雅黑" panose="020B0503020204020204" charset="-122"/>
              <a:ea typeface="微软雅黑" panose="020B0503020204020204" charset="-122"/>
              <a:cs typeface="微软雅黑" panose="020B0503020204020204" charset="-122"/>
            </a:endParaRPr>
          </a:p>
        </p:txBody>
      </p:sp>
      <p:sp>
        <p:nvSpPr>
          <p:cNvPr id="4" name="Freeform 1228"/>
          <p:cNvSpPr/>
          <p:nvPr/>
        </p:nvSpPr>
        <p:spPr bwMode="auto">
          <a:xfrm rot="300000">
            <a:off x="1755140" y="2558415"/>
            <a:ext cx="7844155" cy="6374765"/>
          </a:xfrm>
          <a:custGeom>
            <a:avLst/>
            <a:gdLst>
              <a:gd name="T0" fmla="*/ 63 w 4128"/>
              <a:gd name="T1" fmla="*/ 1950 h 3377"/>
              <a:gd name="T2" fmla="*/ 4 w 4128"/>
              <a:gd name="T3" fmla="*/ 1822 h 3377"/>
              <a:gd name="T4" fmla="*/ 13 w 4128"/>
              <a:gd name="T5" fmla="*/ 1704 h 3377"/>
              <a:gd name="T6" fmla="*/ 93 w 4128"/>
              <a:gd name="T7" fmla="*/ 1581 h 3377"/>
              <a:gd name="T8" fmla="*/ 335 w 4128"/>
              <a:gd name="T9" fmla="*/ 1445 h 3377"/>
              <a:gd name="T10" fmla="*/ 682 w 4128"/>
              <a:gd name="T11" fmla="*/ 1406 h 3377"/>
              <a:gd name="T12" fmla="*/ 1056 w 4128"/>
              <a:gd name="T13" fmla="*/ 1507 h 3377"/>
              <a:gd name="T14" fmla="*/ 1295 w 4128"/>
              <a:gd name="T15" fmla="*/ 1600 h 3377"/>
              <a:gd name="T16" fmla="*/ 1459 w 4128"/>
              <a:gd name="T17" fmla="*/ 1544 h 3377"/>
              <a:gd name="T18" fmla="*/ 1459 w 4128"/>
              <a:gd name="T19" fmla="*/ 1490 h 3377"/>
              <a:gd name="T20" fmla="*/ 1222 w 4128"/>
              <a:gd name="T21" fmla="*/ 1328 h 3377"/>
              <a:gd name="T22" fmla="*/ 1140 w 4128"/>
              <a:gd name="T23" fmla="*/ 1207 h 3377"/>
              <a:gd name="T24" fmla="*/ 1131 w 4128"/>
              <a:gd name="T25" fmla="*/ 1091 h 3377"/>
              <a:gd name="T26" fmla="*/ 1187 w 4128"/>
              <a:gd name="T27" fmla="*/ 961 h 3377"/>
              <a:gd name="T28" fmla="*/ 1362 w 4128"/>
              <a:gd name="T29" fmla="*/ 829 h 3377"/>
              <a:gd name="T30" fmla="*/ 1749 w 4128"/>
              <a:gd name="T31" fmla="*/ 749 h 3377"/>
              <a:gd name="T32" fmla="*/ 2086 w 4128"/>
              <a:gd name="T33" fmla="*/ 808 h 3377"/>
              <a:gd name="T34" fmla="*/ 2383 w 4128"/>
              <a:gd name="T35" fmla="*/ 944 h 3377"/>
              <a:gd name="T36" fmla="*/ 2554 w 4128"/>
              <a:gd name="T37" fmla="*/ 916 h 3377"/>
              <a:gd name="T38" fmla="*/ 2595 w 4128"/>
              <a:gd name="T39" fmla="*/ 855 h 3377"/>
              <a:gd name="T40" fmla="*/ 2403 w 4128"/>
              <a:gd name="T41" fmla="*/ 721 h 3377"/>
              <a:gd name="T42" fmla="*/ 2282 w 4128"/>
              <a:gd name="T43" fmla="*/ 590 h 3377"/>
              <a:gd name="T44" fmla="*/ 2254 w 4128"/>
              <a:gd name="T45" fmla="*/ 475 h 3377"/>
              <a:gd name="T46" fmla="*/ 2291 w 4128"/>
              <a:gd name="T47" fmla="*/ 341 h 3377"/>
              <a:gd name="T48" fmla="*/ 2442 w 4128"/>
              <a:gd name="T49" fmla="*/ 199 h 3377"/>
              <a:gd name="T50" fmla="*/ 2755 w 4128"/>
              <a:gd name="T51" fmla="*/ 102 h 3377"/>
              <a:gd name="T52" fmla="*/ 3107 w 4128"/>
              <a:gd name="T53" fmla="*/ 121 h 3377"/>
              <a:gd name="T54" fmla="*/ 3441 w 4128"/>
              <a:gd name="T55" fmla="*/ 274 h 3377"/>
              <a:gd name="T56" fmla="*/ 3651 w 4128"/>
              <a:gd name="T57" fmla="*/ 274 h 3377"/>
              <a:gd name="T58" fmla="*/ 3869 w 4128"/>
              <a:gd name="T59" fmla="*/ 462 h 3377"/>
              <a:gd name="T60" fmla="*/ 3547 w 4128"/>
              <a:gd name="T61" fmla="*/ 529 h 3377"/>
              <a:gd name="T62" fmla="*/ 3353 w 4128"/>
              <a:gd name="T63" fmla="*/ 505 h 3377"/>
              <a:gd name="T64" fmla="*/ 3059 w 4128"/>
              <a:gd name="T65" fmla="*/ 369 h 3377"/>
              <a:gd name="T66" fmla="*/ 2874 w 4128"/>
              <a:gd name="T67" fmla="*/ 331 h 3377"/>
              <a:gd name="T68" fmla="*/ 2714 w 4128"/>
              <a:gd name="T69" fmla="*/ 359 h 3377"/>
              <a:gd name="T70" fmla="*/ 2617 w 4128"/>
              <a:gd name="T71" fmla="*/ 423 h 3377"/>
              <a:gd name="T72" fmla="*/ 2604 w 4128"/>
              <a:gd name="T73" fmla="*/ 499 h 3377"/>
              <a:gd name="T74" fmla="*/ 2776 w 4128"/>
              <a:gd name="T75" fmla="*/ 626 h 3377"/>
              <a:gd name="T76" fmla="*/ 2899 w 4128"/>
              <a:gd name="T77" fmla="*/ 734 h 3377"/>
              <a:gd name="T78" fmla="*/ 2943 w 4128"/>
              <a:gd name="T79" fmla="*/ 862 h 3377"/>
              <a:gd name="T80" fmla="*/ 2902 w 4128"/>
              <a:gd name="T81" fmla="*/ 989 h 3377"/>
              <a:gd name="T82" fmla="*/ 2703 w 4128"/>
              <a:gd name="T83" fmla="*/ 1134 h 3377"/>
              <a:gd name="T84" fmla="*/ 2422 w 4128"/>
              <a:gd name="T85" fmla="*/ 1183 h 3377"/>
              <a:gd name="T86" fmla="*/ 2098 w 4128"/>
              <a:gd name="T87" fmla="*/ 1116 h 3377"/>
              <a:gd name="T88" fmla="*/ 1861 w 4128"/>
              <a:gd name="T89" fmla="*/ 998 h 3377"/>
              <a:gd name="T90" fmla="*/ 1693 w 4128"/>
              <a:gd name="T91" fmla="*/ 989 h 3377"/>
              <a:gd name="T92" fmla="*/ 1544 w 4128"/>
              <a:gd name="T93" fmla="*/ 1034 h 3377"/>
              <a:gd name="T94" fmla="*/ 1475 w 4128"/>
              <a:gd name="T95" fmla="*/ 1114 h 3377"/>
              <a:gd name="T96" fmla="*/ 1503 w 4128"/>
              <a:gd name="T97" fmla="*/ 1188 h 3377"/>
              <a:gd name="T98" fmla="*/ 1690 w 4128"/>
              <a:gd name="T99" fmla="*/ 1306 h 3377"/>
              <a:gd name="T100" fmla="*/ 1813 w 4128"/>
              <a:gd name="T101" fmla="*/ 1481 h 3377"/>
              <a:gd name="T102" fmla="*/ 1794 w 4128"/>
              <a:gd name="T103" fmla="*/ 1611 h 3377"/>
              <a:gd name="T104" fmla="*/ 1656 w 4128"/>
              <a:gd name="T105" fmla="*/ 1749 h 3377"/>
              <a:gd name="T106" fmla="*/ 1397 w 4128"/>
              <a:gd name="T107" fmla="*/ 1831 h 3377"/>
              <a:gd name="T108" fmla="*/ 1101 w 4128"/>
              <a:gd name="T109" fmla="*/ 1814 h 3377"/>
              <a:gd name="T110" fmla="*/ 807 w 4128"/>
              <a:gd name="T111" fmla="*/ 1678 h 3377"/>
              <a:gd name="T112" fmla="*/ 624 w 4128"/>
              <a:gd name="T113" fmla="*/ 1639 h 3377"/>
              <a:gd name="T114" fmla="*/ 462 w 4128"/>
              <a:gd name="T115" fmla="*/ 1667 h 3377"/>
              <a:gd name="T116" fmla="*/ 365 w 4128"/>
              <a:gd name="T117" fmla="*/ 1734 h 3377"/>
              <a:gd name="T118" fmla="*/ 352 w 4128"/>
              <a:gd name="T119" fmla="*/ 1807 h 3377"/>
              <a:gd name="T120" fmla="*/ 2990 w 4128"/>
              <a:gd name="T121" fmla="*/ 3377 h 3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128" h="3377">
                <a:moveTo>
                  <a:pt x="194" y="2058"/>
                </a:moveTo>
                <a:lnTo>
                  <a:pt x="194" y="2058"/>
                </a:lnTo>
                <a:lnTo>
                  <a:pt x="149" y="2030"/>
                </a:lnTo>
                <a:lnTo>
                  <a:pt x="110" y="1999"/>
                </a:lnTo>
                <a:lnTo>
                  <a:pt x="93" y="1984"/>
                </a:lnTo>
                <a:lnTo>
                  <a:pt x="78" y="1967"/>
                </a:lnTo>
                <a:lnTo>
                  <a:pt x="63" y="1950"/>
                </a:lnTo>
                <a:lnTo>
                  <a:pt x="50" y="1933"/>
                </a:lnTo>
                <a:lnTo>
                  <a:pt x="39" y="1915"/>
                </a:lnTo>
                <a:lnTo>
                  <a:pt x="28" y="1898"/>
                </a:lnTo>
                <a:lnTo>
                  <a:pt x="22" y="1879"/>
                </a:lnTo>
                <a:lnTo>
                  <a:pt x="13" y="1859"/>
                </a:lnTo>
                <a:lnTo>
                  <a:pt x="9" y="1842"/>
                </a:lnTo>
                <a:lnTo>
                  <a:pt x="4" y="1822"/>
                </a:lnTo>
                <a:lnTo>
                  <a:pt x="2" y="1801"/>
                </a:lnTo>
                <a:lnTo>
                  <a:pt x="0" y="1781"/>
                </a:lnTo>
                <a:lnTo>
                  <a:pt x="0" y="1781"/>
                </a:lnTo>
                <a:lnTo>
                  <a:pt x="2" y="1762"/>
                </a:lnTo>
                <a:lnTo>
                  <a:pt x="4" y="1743"/>
                </a:lnTo>
                <a:lnTo>
                  <a:pt x="9" y="1723"/>
                </a:lnTo>
                <a:lnTo>
                  <a:pt x="13" y="1704"/>
                </a:lnTo>
                <a:lnTo>
                  <a:pt x="19" y="1686"/>
                </a:lnTo>
                <a:lnTo>
                  <a:pt x="28" y="1667"/>
                </a:lnTo>
                <a:lnTo>
                  <a:pt x="39" y="1650"/>
                </a:lnTo>
                <a:lnTo>
                  <a:pt x="50" y="1632"/>
                </a:lnTo>
                <a:lnTo>
                  <a:pt x="63" y="1615"/>
                </a:lnTo>
                <a:lnTo>
                  <a:pt x="78" y="1598"/>
                </a:lnTo>
                <a:lnTo>
                  <a:pt x="93" y="1581"/>
                </a:lnTo>
                <a:lnTo>
                  <a:pt x="110" y="1566"/>
                </a:lnTo>
                <a:lnTo>
                  <a:pt x="147" y="1535"/>
                </a:lnTo>
                <a:lnTo>
                  <a:pt x="190" y="1507"/>
                </a:lnTo>
                <a:lnTo>
                  <a:pt x="190" y="1507"/>
                </a:lnTo>
                <a:lnTo>
                  <a:pt x="235" y="1483"/>
                </a:lnTo>
                <a:lnTo>
                  <a:pt x="285" y="1464"/>
                </a:lnTo>
                <a:lnTo>
                  <a:pt x="335" y="1445"/>
                </a:lnTo>
                <a:lnTo>
                  <a:pt x="389" y="1429"/>
                </a:lnTo>
                <a:lnTo>
                  <a:pt x="445" y="1419"/>
                </a:lnTo>
                <a:lnTo>
                  <a:pt x="503" y="1410"/>
                </a:lnTo>
                <a:lnTo>
                  <a:pt x="561" y="1406"/>
                </a:lnTo>
                <a:lnTo>
                  <a:pt x="622" y="1404"/>
                </a:lnTo>
                <a:lnTo>
                  <a:pt x="622" y="1404"/>
                </a:lnTo>
                <a:lnTo>
                  <a:pt x="682" y="1406"/>
                </a:lnTo>
                <a:lnTo>
                  <a:pt x="743" y="1410"/>
                </a:lnTo>
                <a:lnTo>
                  <a:pt x="801" y="1419"/>
                </a:lnTo>
                <a:lnTo>
                  <a:pt x="857" y="1429"/>
                </a:lnTo>
                <a:lnTo>
                  <a:pt x="911" y="1445"/>
                </a:lnTo>
                <a:lnTo>
                  <a:pt x="961" y="1464"/>
                </a:lnTo>
                <a:lnTo>
                  <a:pt x="1010" y="1483"/>
                </a:lnTo>
                <a:lnTo>
                  <a:pt x="1056" y="1507"/>
                </a:lnTo>
                <a:lnTo>
                  <a:pt x="1161" y="1570"/>
                </a:lnTo>
                <a:lnTo>
                  <a:pt x="1161" y="1570"/>
                </a:lnTo>
                <a:lnTo>
                  <a:pt x="1190" y="1583"/>
                </a:lnTo>
                <a:lnTo>
                  <a:pt x="1222" y="1591"/>
                </a:lnTo>
                <a:lnTo>
                  <a:pt x="1259" y="1598"/>
                </a:lnTo>
                <a:lnTo>
                  <a:pt x="1295" y="1600"/>
                </a:lnTo>
                <a:lnTo>
                  <a:pt x="1295" y="1600"/>
                </a:lnTo>
                <a:lnTo>
                  <a:pt x="1332" y="1598"/>
                </a:lnTo>
                <a:lnTo>
                  <a:pt x="1369" y="1591"/>
                </a:lnTo>
                <a:lnTo>
                  <a:pt x="1401" y="1583"/>
                </a:lnTo>
                <a:lnTo>
                  <a:pt x="1429" y="1570"/>
                </a:lnTo>
                <a:lnTo>
                  <a:pt x="1429" y="1570"/>
                </a:lnTo>
                <a:lnTo>
                  <a:pt x="1446" y="1557"/>
                </a:lnTo>
                <a:lnTo>
                  <a:pt x="1459" y="1544"/>
                </a:lnTo>
                <a:lnTo>
                  <a:pt x="1468" y="1529"/>
                </a:lnTo>
                <a:lnTo>
                  <a:pt x="1470" y="1522"/>
                </a:lnTo>
                <a:lnTo>
                  <a:pt x="1470" y="1516"/>
                </a:lnTo>
                <a:lnTo>
                  <a:pt x="1470" y="1516"/>
                </a:lnTo>
                <a:lnTo>
                  <a:pt x="1470" y="1509"/>
                </a:lnTo>
                <a:lnTo>
                  <a:pt x="1468" y="1503"/>
                </a:lnTo>
                <a:lnTo>
                  <a:pt x="1459" y="1490"/>
                </a:lnTo>
                <a:lnTo>
                  <a:pt x="1446" y="1477"/>
                </a:lnTo>
                <a:lnTo>
                  <a:pt x="1427" y="1464"/>
                </a:lnTo>
                <a:lnTo>
                  <a:pt x="1319" y="1401"/>
                </a:lnTo>
                <a:lnTo>
                  <a:pt x="1319" y="1401"/>
                </a:lnTo>
                <a:lnTo>
                  <a:pt x="1276" y="1373"/>
                </a:lnTo>
                <a:lnTo>
                  <a:pt x="1239" y="1345"/>
                </a:lnTo>
                <a:lnTo>
                  <a:pt x="1222" y="1328"/>
                </a:lnTo>
                <a:lnTo>
                  <a:pt x="1205" y="1313"/>
                </a:lnTo>
                <a:lnTo>
                  <a:pt x="1192" y="1296"/>
                </a:lnTo>
                <a:lnTo>
                  <a:pt x="1179" y="1278"/>
                </a:lnTo>
                <a:lnTo>
                  <a:pt x="1166" y="1261"/>
                </a:lnTo>
                <a:lnTo>
                  <a:pt x="1157" y="1244"/>
                </a:lnTo>
                <a:lnTo>
                  <a:pt x="1149" y="1224"/>
                </a:lnTo>
                <a:lnTo>
                  <a:pt x="1140" y="1207"/>
                </a:lnTo>
                <a:lnTo>
                  <a:pt x="1136" y="1188"/>
                </a:lnTo>
                <a:lnTo>
                  <a:pt x="1131" y="1168"/>
                </a:lnTo>
                <a:lnTo>
                  <a:pt x="1129" y="1149"/>
                </a:lnTo>
                <a:lnTo>
                  <a:pt x="1127" y="1129"/>
                </a:lnTo>
                <a:lnTo>
                  <a:pt x="1127" y="1129"/>
                </a:lnTo>
                <a:lnTo>
                  <a:pt x="1129" y="1110"/>
                </a:lnTo>
                <a:lnTo>
                  <a:pt x="1131" y="1091"/>
                </a:lnTo>
                <a:lnTo>
                  <a:pt x="1133" y="1071"/>
                </a:lnTo>
                <a:lnTo>
                  <a:pt x="1140" y="1052"/>
                </a:lnTo>
                <a:lnTo>
                  <a:pt x="1146" y="1032"/>
                </a:lnTo>
                <a:lnTo>
                  <a:pt x="1155" y="1015"/>
                </a:lnTo>
                <a:lnTo>
                  <a:pt x="1164" y="996"/>
                </a:lnTo>
                <a:lnTo>
                  <a:pt x="1177" y="978"/>
                </a:lnTo>
                <a:lnTo>
                  <a:pt x="1187" y="961"/>
                </a:lnTo>
                <a:lnTo>
                  <a:pt x="1203" y="944"/>
                </a:lnTo>
                <a:lnTo>
                  <a:pt x="1218" y="926"/>
                </a:lnTo>
                <a:lnTo>
                  <a:pt x="1235" y="911"/>
                </a:lnTo>
                <a:lnTo>
                  <a:pt x="1274" y="881"/>
                </a:lnTo>
                <a:lnTo>
                  <a:pt x="1317" y="853"/>
                </a:lnTo>
                <a:lnTo>
                  <a:pt x="1317" y="853"/>
                </a:lnTo>
                <a:lnTo>
                  <a:pt x="1362" y="829"/>
                </a:lnTo>
                <a:lnTo>
                  <a:pt x="1410" y="808"/>
                </a:lnTo>
                <a:lnTo>
                  <a:pt x="1462" y="790"/>
                </a:lnTo>
                <a:lnTo>
                  <a:pt x="1516" y="775"/>
                </a:lnTo>
                <a:lnTo>
                  <a:pt x="1572" y="765"/>
                </a:lnTo>
                <a:lnTo>
                  <a:pt x="1628" y="756"/>
                </a:lnTo>
                <a:lnTo>
                  <a:pt x="1688" y="752"/>
                </a:lnTo>
                <a:lnTo>
                  <a:pt x="1749" y="749"/>
                </a:lnTo>
                <a:lnTo>
                  <a:pt x="1749" y="749"/>
                </a:lnTo>
                <a:lnTo>
                  <a:pt x="1809" y="752"/>
                </a:lnTo>
                <a:lnTo>
                  <a:pt x="1867" y="756"/>
                </a:lnTo>
                <a:lnTo>
                  <a:pt x="1926" y="765"/>
                </a:lnTo>
                <a:lnTo>
                  <a:pt x="1982" y="775"/>
                </a:lnTo>
                <a:lnTo>
                  <a:pt x="2036" y="790"/>
                </a:lnTo>
                <a:lnTo>
                  <a:pt x="2086" y="808"/>
                </a:lnTo>
                <a:lnTo>
                  <a:pt x="2135" y="829"/>
                </a:lnTo>
                <a:lnTo>
                  <a:pt x="2180" y="853"/>
                </a:lnTo>
                <a:lnTo>
                  <a:pt x="2286" y="916"/>
                </a:lnTo>
                <a:lnTo>
                  <a:pt x="2286" y="916"/>
                </a:lnTo>
                <a:lnTo>
                  <a:pt x="2314" y="929"/>
                </a:lnTo>
                <a:lnTo>
                  <a:pt x="2347" y="937"/>
                </a:lnTo>
                <a:lnTo>
                  <a:pt x="2383" y="944"/>
                </a:lnTo>
                <a:lnTo>
                  <a:pt x="2420" y="946"/>
                </a:lnTo>
                <a:lnTo>
                  <a:pt x="2420" y="946"/>
                </a:lnTo>
                <a:lnTo>
                  <a:pt x="2459" y="944"/>
                </a:lnTo>
                <a:lnTo>
                  <a:pt x="2494" y="937"/>
                </a:lnTo>
                <a:lnTo>
                  <a:pt x="2526" y="929"/>
                </a:lnTo>
                <a:lnTo>
                  <a:pt x="2554" y="916"/>
                </a:lnTo>
                <a:lnTo>
                  <a:pt x="2554" y="916"/>
                </a:lnTo>
                <a:lnTo>
                  <a:pt x="2571" y="903"/>
                </a:lnTo>
                <a:lnTo>
                  <a:pt x="2586" y="890"/>
                </a:lnTo>
                <a:lnTo>
                  <a:pt x="2593" y="875"/>
                </a:lnTo>
                <a:lnTo>
                  <a:pt x="2595" y="868"/>
                </a:lnTo>
                <a:lnTo>
                  <a:pt x="2597" y="862"/>
                </a:lnTo>
                <a:lnTo>
                  <a:pt x="2597" y="862"/>
                </a:lnTo>
                <a:lnTo>
                  <a:pt x="2595" y="855"/>
                </a:lnTo>
                <a:lnTo>
                  <a:pt x="2593" y="849"/>
                </a:lnTo>
                <a:lnTo>
                  <a:pt x="2584" y="836"/>
                </a:lnTo>
                <a:lnTo>
                  <a:pt x="2571" y="823"/>
                </a:lnTo>
                <a:lnTo>
                  <a:pt x="2554" y="810"/>
                </a:lnTo>
                <a:lnTo>
                  <a:pt x="2446" y="747"/>
                </a:lnTo>
                <a:lnTo>
                  <a:pt x="2446" y="747"/>
                </a:lnTo>
                <a:lnTo>
                  <a:pt x="2403" y="721"/>
                </a:lnTo>
                <a:lnTo>
                  <a:pt x="2364" y="691"/>
                </a:lnTo>
                <a:lnTo>
                  <a:pt x="2347" y="674"/>
                </a:lnTo>
                <a:lnTo>
                  <a:pt x="2332" y="659"/>
                </a:lnTo>
                <a:lnTo>
                  <a:pt x="2317" y="641"/>
                </a:lnTo>
                <a:lnTo>
                  <a:pt x="2304" y="624"/>
                </a:lnTo>
                <a:lnTo>
                  <a:pt x="2293" y="607"/>
                </a:lnTo>
                <a:lnTo>
                  <a:pt x="2282" y="590"/>
                </a:lnTo>
                <a:lnTo>
                  <a:pt x="2273" y="570"/>
                </a:lnTo>
                <a:lnTo>
                  <a:pt x="2267" y="553"/>
                </a:lnTo>
                <a:lnTo>
                  <a:pt x="2260" y="534"/>
                </a:lnTo>
                <a:lnTo>
                  <a:pt x="2256" y="514"/>
                </a:lnTo>
                <a:lnTo>
                  <a:pt x="2254" y="495"/>
                </a:lnTo>
                <a:lnTo>
                  <a:pt x="2254" y="475"/>
                </a:lnTo>
                <a:lnTo>
                  <a:pt x="2254" y="475"/>
                </a:lnTo>
                <a:lnTo>
                  <a:pt x="2254" y="456"/>
                </a:lnTo>
                <a:lnTo>
                  <a:pt x="2256" y="436"/>
                </a:lnTo>
                <a:lnTo>
                  <a:pt x="2260" y="417"/>
                </a:lnTo>
                <a:lnTo>
                  <a:pt x="2265" y="398"/>
                </a:lnTo>
                <a:lnTo>
                  <a:pt x="2271" y="378"/>
                </a:lnTo>
                <a:lnTo>
                  <a:pt x="2280" y="361"/>
                </a:lnTo>
                <a:lnTo>
                  <a:pt x="2291" y="341"/>
                </a:lnTo>
                <a:lnTo>
                  <a:pt x="2301" y="324"/>
                </a:lnTo>
                <a:lnTo>
                  <a:pt x="2314" y="307"/>
                </a:lnTo>
                <a:lnTo>
                  <a:pt x="2327" y="290"/>
                </a:lnTo>
                <a:lnTo>
                  <a:pt x="2345" y="274"/>
                </a:lnTo>
                <a:lnTo>
                  <a:pt x="2360" y="257"/>
                </a:lnTo>
                <a:lnTo>
                  <a:pt x="2399" y="227"/>
                </a:lnTo>
                <a:lnTo>
                  <a:pt x="2442" y="199"/>
                </a:lnTo>
                <a:lnTo>
                  <a:pt x="2442" y="199"/>
                </a:lnTo>
                <a:lnTo>
                  <a:pt x="2487" y="175"/>
                </a:lnTo>
                <a:lnTo>
                  <a:pt x="2537" y="154"/>
                </a:lnTo>
                <a:lnTo>
                  <a:pt x="2586" y="136"/>
                </a:lnTo>
                <a:lnTo>
                  <a:pt x="2640" y="121"/>
                </a:lnTo>
                <a:lnTo>
                  <a:pt x="2696" y="110"/>
                </a:lnTo>
                <a:lnTo>
                  <a:pt x="2755" y="102"/>
                </a:lnTo>
                <a:lnTo>
                  <a:pt x="2813" y="97"/>
                </a:lnTo>
                <a:lnTo>
                  <a:pt x="2874" y="95"/>
                </a:lnTo>
                <a:lnTo>
                  <a:pt x="2874" y="95"/>
                </a:lnTo>
                <a:lnTo>
                  <a:pt x="2934" y="97"/>
                </a:lnTo>
                <a:lnTo>
                  <a:pt x="2992" y="102"/>
                </a:lnTo>
                <a:lnTo>
                  <a:pt x="3051" y="110"/>
                </a:lnTo>
                <a:lnTo>
                  <a:pt x="3107" y="121"/>
                </a:lnTo>
                <a:lnTo>
                  <a:pt x="3161" y="136"/>
                </a:lnTo>
                <a:lnTo>
                  <a:pt x="3212" y="154"/>
                </a:lnTo>
                <a:lnTo>
                  <a:pt x="3260" y="175"/>
                </a:lnTo>
                <a:lnTo>
                  <a:pt x="3305" y="199"/>
                </a:lnTo>
                <a:lnTo>
                  <a:pt x="3413" y="262"/>
                </a:lnTo>
                <a:lnTo>
                  <a:pt x="3413" y="262"/>
                </a:lnTo>
                <a:lnTo>
                  <a:pt x="3441" y="274"/>
                </a:lnTo>
                <a:lnTo>
                  <a:pt x="3474" y="283"/>
                </a:lnTo>
                <a:lnTo>
                  <a:pt x="3508" y="290"/>
                </a:lnTo>
                <a:lnTo>
                  <a:pt x="3547" y="292"/>
                </a:lnTo>
                <a:lnTo>
                  <a:pt x="3547" y="292"/>
                </a:lnTo>
                <a:lnTo>
                  <a:pt x="3584" y="290"/>
                </a:lnTo>
                <a:lnTo>
                  <a:pt x="3618" y="283"/>
                </a:lnTo>
                <a:lnTo>
                  <a:pt x="3651" y="274"/>
                </a:lnTo>
                <a:lnTo>
                  <a:pt x="3679" y="262"/>
                </a:lnTo>
                <a:lnTo>
                  <a:pt x="4128" y="0"/>
                </a:lnTo>
                <a:lnTo>
                  <a:pt x="4128" y="313"/>
                </a:lnTo>
                <a:lnTo>
                  <a:pt x="4091" y="335"/>
                </a:lnTo>
                <a:lnTo>
                  <a:pt x="3908" y="441"/>
                </a:lnTo>
                <a:lnTo>
                  <a:pt x="3908" y="441"/>
                </a:lnTo>
                <a:lnTo>
                  <a:pt x="3869" y="462"/>
                </a:lnTo>
                <a:lnTo>
                  <a:pt x="3830" y="480"/>
                </a:lnTo>
                <a:lnTo>
                  <a:pt x="3787" y="495"/>
                </a:lnTo>
                <a:lnTo>
                  <a:pt x="3741" y="505"/>
                </a:lnTo>
                <a:lnTo>
                  <a:pt x="3696" y="516"/>
                </a:lnTo>
                <a:lnTo>
                  <a:pt x="3646" y="523"/>
                </a:lnTo>
                <a:lnTo>
                  <a:pt x="3597" y="527"/>
                </a:lnTo>
                <a:lnTo>
                  <a:pt x="3547" y="529"/>
                </a:lnTo>
                <a:lnTo>
                  <a:pt x="3547" y="529"/>
                </a:lnTo>
                <a:lnTo>
                  <a:pt x="3547" y="529"/>
                </a:lnTo>
                <a:lnTo>
                  <a:pt x="3547" y="529"/>
                </a:lnTo>
                <a:lnTo>
                  <a:pt x="3497" y="527"/>
                </a:lnTo>
                <a:lnTo>
                  <a:pt x="3448" y="523"/>
                </a:lnTo>
                <a:lnTo>
                  <a:pt x="3398" y="516"/>
                </a:lnTo>
                <a:lnTo>
                  <a:pt x="3353" y="505"/>
                </a:lnTo>
                <a:lnTo>
                  <a:pt x="3307" y="495"/>
                </a:lnTo>
                <a:lnTo>
                  <a:pt x="3264" y="480"/>
                </a:lnTo>
                <a:lnTo>
                  <a:pt x="3223" y="462"/>
                </a:lnTo>
                <a:lnTo>
                  <a:pt x="3187" y="441"/>
                </a:lnTo>
                <a:lnTo>
                  <a:pt x="3079" y="380"/>
                </a:lnTo>
                <a:lnTo>
                  <a:pt x="3079" y="380"/>
                </a:lnTo>
                <a:lnTo>
                  <a:pt x="3059" y="369"/>
                </a:lnTo>
                <a:lnTo>
                  <a:pt x="3035" y="359"/>
                </a:lnTo>
                <a:lnTo>
                  <a:pt x="3012" y="350"/>
                </a:lnTo>
                <a:lnTo>
                  <a:pt x="2986" y="344"/>
                </a:lnTo>
                <a:lnTo>
                  <a:pt x="2960" y="339"/>
                </a:lnTo>
                <a:lnTo>
                  <a:pt x="2932" y="335"/>
                </a:lnTo>
                <a:lnTo>
                  <a:pt x="2904" y="333"/>
                </a:lnTo>
                <a:lnTo>
                  <a:pt x="2874" y="331"/>
                </a:lnTo>
                <a:lnTo>
                  <a:pt x="2874" y="331"/>
                </a:lnTo>
                <a:lnTo>
                  <a:pt x="2845" y="333"/>
                </a:lnTo>
                <a:lnTo>
                  <a:pt x="2817" y="335"/>
                </a:lnTo>
                <a:lnTo>
                  <a:pt x="2789" y="339"/>
                </a:lnTo>
                <a:lnTo>
                  <a:pt x="2763" y="344"/>
                </a:lnTo>
                <a:lnTo>
                  <a:pt x="2737" y="350"/>
                </a:lnTo>
                <a:lnTo>
                  <a:pt x="2714" y="359"/>
                </a:lnTo>
                <a:lnTo>
                  <a:pt x="2690" y="369"/>
                </a:lnTo>
                <a:lnTo>
                  <a:pt x="2671" y="380"/>
                </a:lnTo>
                <a:lnTo>
                  <a:pt x="2671" y="380"/>
                </a:lnTo>
                <a:lnTo>
                  <a:pt x="2653" y="391"/>
                </a:lnTo>
                <a:lnTo>
                  <a:pt x="2638" y="402"/>
                </a:lnTo>
                <a:lnTo>
                  <a:pt x="2627" y="413"/>
                </a:lnTo>
                <a:lnTo>
                  <a:pt x="2617" y="423"/>
                </a:lnTo>
                <a:lnTo>
                  <a:pt x="2608" y="436"/>
                </a:lnTo>
                <a:lnTo>
                  <a:pt x="2604" y="449"/>
                </a:lnTo>
                <a:lnTo>
                  <a:pt x="2599" y="460"/>
                </a:lnTo>
                <a:lnTo>
                  <a:pt x="2599" y="473"/>
                </a:lnTo>
                <a:lnTo>
                  <a:pt x="2599" y="473"/>
                </a:lnTo>
                <a:lnTo>
                  <a:pt x="2599" y="486"/>
                </a:lnTo>
                <a:lnTo>
                  <a:pt x="2604" y="499"/>
                </a:lnTo>
                <a:lnTo>
                  <a:pt x="2610" y="512"/>
                </a:lnTo>
                <a:lnTo>
                  <a:pt x="2617" y="523"/>
                </a:lnTo>
                <a:lnTo>
                  <a:pt x="2627" y="536"/>
                </a:lnTo>
                <a:lnTo>
                  <a:pt x="2640" y="546"/>
                </a:lnTo>
                <a:lnTo>
                  <a:pt x="2655" y="557"/>
                </a:lnTo>
                <a:lnTo>
                  <a:pt x="2671" y="568"/>
                </a:lnTo>
                <a:lnTo>
                  <a:pt x="2776" y="626"/>
                </a:lnTo>
                <a:lnTo>
                  <a:pt x="2776" y="626"/>
                </a:lnTo>
                <a:lnTo>
                  <a:pt x="2779" y="629"/>
                </a:lnTo>
                <a:lnTo>
                  <a:pt x="2779" y="629"/>
                </a:lnTo>
                <a:lnTo>
                  <a:pt x="2815" y="652"/>
                </a:lnTo>
                <a:lnTo>
                  <a:pt x="2848" y="678"/>
                </a:lnTo>
                <a:lnTo>
                  <a:pt x="2876" y="704"/>
                </a:lnTo>
                <a:lnTo>
                  <a:pt x="2899" y="734"/>
                </a:lnTo>
                <a:lnTo>
                  <a:pt x="2917" y="765"/>
                </a:lnTo>
                <a:lnTo>
                  <a:pt x="2930" y="795"/>
                </a:lnTo>
                <a:lnTo>
                  <a:pt x="2936" y="812"/>
                </a:lnTo>
                <a:lnTo>
                  <a:pt x="2938" y="827"/>
                </a:lnTo>
                <a:lnTo>
                  <a:pt x="2940" y="844"/>
                </a:lnTo>
                <a:lnTo>
                  <a:pt x="2943" y="862"/>
                </a:lnTo>
                <a:lnTo>
                  <a:pt x="2943" y="862"/>
                </a:lnTo>
                <a:lnTo>
                  <a:pt x="2940" y="877"/>
                </a:lnTo>
                <a:lnTo>
                  <a:pt x="2940" y="894"/>
                </a:lnTo>
                <a:lnTo>
                  <a:pt x="2936" y="911"/>
                </a:lnTo>
                <a:lnTo>
                  <a:pt x="2932" y="926"/>
                </a:lnTo>
                <a:lnTo>
                  <a:pt x="2925" y="944"/>
                </a:lnTo>
                <a:lnTo>
                  <a:pt x="2919" y="959"/>
                </a:lnTo>
                <a:lnTo>
                  <a:pt x="2902" y="989"/>
                </a:lnTo>
                <a:lnTo>
                  <a:pt x="2878" y="1019"/>
                </a:lnTo>
                <a:lnTo>
                  <a:pt x="2850" y="1045"/>
                </a:lnTo>
                <a:lnTo>
                  <a:pt x="2817" y="1071"/>
                </a:lnTo>
                <a:lnTo>
                  <a:pt x="2781" y="1095"/>
                </a:lnTo>
                <a:lnTo>
                  <a:pt x="2781" y="1095"/>
                </a:lnTo>
                <a:lnTo>
                  <a:pt x="2744" y="1116"/>
                </a:lnTo>
                <a:lnTo>
                  <a:pt x="2703" y="1134"/>
                </a:lnTo>
                <a:lnTo>
                  <a:pt x="2662" y="1149"/>
                </a:lnTo>
                <a:lnTo>
                  <a:pt x="2617" y="1160"/>
                </a:lnTo>
                <a:lnTo>
                  <a:pt x="2569" y="1170"/>
                </a:lnTo>
                <a:lnTo>
                  <a:pt x="2522" y="1177"/>
                </a:lnTo>
                <a:lnTo>
                  <a:pt x="2472" y="1181"/>
                </a:lnTo>
                <a:lnTo>
                  <a:pt x="2422" y="1183"/>
                </a:lnTo>
                <a:lnTo>
                  <a:pt x="2422" y="1183"/>
                </a:lnTo>
                <a:lnTo>
                  <a:pt x="2370" y="1181"/>
                </a:lnTo>
                <a:lnTo>
                  <a:pt x="2321" y="1177"/>
                </a:lnTo>
                <a:lnTo>
                  <a:pt x="2273" y="1170"/>
                </a:lnTo>
                <a:lnTo>
                  <a:pt x="2226" y="1160"/>
                </a:lnTo>
                <a:lnTo>
                  <a:pt x="2183" y="1149"/>
                </a:lnTo>
                <a:lnTo>
                  <a:pt x="2139" y="1134"/>
                </a:lnTo>
                <a:lnTo>
                  <a:pt x="2098" y="1116"/>
                </a:lnTo>
                <a:lnTo>
                  <a:pt x="2062" y="1095"/>
                </a:lnTo>
                <a:lnTo>
                  <a:pt x="1954" y="1034"/>
                </a:lnTo>
                <a:lnTo>
                  <a:pt x="1954" y="1034"/>
                </a:lnTo>
                <a:lnTo>
                  <a:pt x="1932" y="1024"/>
                </a:lnTo>
                <a:lnTo>
                  <a:pt x="1911" y="1013"/>
                </a:lnTo>
                <a:lnTo>
                  <a:pt x="1887" y="1004"/>
                </a:lnTo>
                <a:lnTo>
                  <a:pt x="1861" y="998"/>
                </a:lnTo>
                <a:lnTo>
                  <a:pt x="1833" y="993"/>
                </a:lnTo>
                <a:lnTo>
                  <a:pt x="1805" y="989"/>
                </a:lnTo>
                <a:lnTo>
                  <a:pt x="1777" y="987"/>
                </a:lnTo>
                <a:lnTo>
                  <a:pt x="1749" y="985"/>
                </a:lnTo>
                <a:lnTo>
                  <a:pt x="1749" y="985"/>
                </a:lnTo>
                <a:lnTo>
                  <a:pt x="1721" y="987"/>
                </a:lnTo>
                <a:lnTo>
                  <a:pt x="1693" y="989"/>
                </a:lnTo>
                <a:lnTo>
                  <a:pt x="1665" y="993"/>
                </a:lnTo>
                <a:lnTo>
                  <a:pt x="1636" y="998"/>
                </a:lnTo>
                <a:lnTo>
                  <a:pt x="1613" y="1004"/>
                </a:lnTo>
                <a:lnTo>
                  <a:pt x="1587" y="1013"/>
                </a:lnTo>
                <a:lnTo>
                  <a:pt x="1565" y="1024"/>
                </a:lnTo>
                <a:lnTo>
                  <a:pt x="1544" y="1034"/>
                </a:lnTo>
                <a:lnTo>
                  <a:pt x="1544" y="1034"/>
                </a:lnTo>
                <a:lnTo>
                  <a:pt x="1529" y="1045"/>
                </a:lnTo>
                <a:lnTo>
                  <a:pt x="1513" y="1056"/>
                </a:lnTo>
                <a:lnTo>
                  <a:pt x="1500" y="1067"/>
                </a:lnTo>
                <a:lnTo>
                  <a:pt x="1492" y="1078"/>
                </a:lnTo>
                <a:lnTo>
                  <a:pt x="1483" y="1091"/>
                </a:lnTo>
                <a:lnTo>
                  <a:pt x="1477" y="1103"/>
                </a:lnTo>
                <a:lnTo>
                  <a:pt x="1475" y="1114"/>
                </a:lnTo>
                <a:lnTo>
                  <a:pt x="1472" y="1127"/>
                </a:lnTo>
                <a:lnTo>
                  <a:pt x="1472" y="1127"/>
                </a:lnTo>
                <a:lnTo>
                  <a:pt x="1475" y="1140"/>
                </a:lnTo>
                <a:lnTo>
                  <a:pt x="1479" y="1153"/>
                </a:lnTo>
                <a:lnTo>
                  <a:pt x="1483" y="1164"/>
                </a:lnTo>
                <a:lnTo>
                  <a:pt x="1492" y="1177"/>
                </a:lnTo>
                <a:lnTo>
                  <a:pt x="1503" y="1188"/>
                </a:lnTo>
                <a:lnTo>
                  <a:pt x="1513" y="1201"/>
                </a:lnTo>
                <a:lnTo>
                  <a:pt x="1529" y="1211"/>
                </a:lnTo>
                <a:lnTo>
                  <a:pt x="1546" y="1220"/>
                </a:lnTo>
                <a:lnTo>
                  <a:pt x="1548" y="1222"/>
                </a:lnTo>
                <a:lnTo>
                  <a:pt x="1654" y="1283"/>
                </a:lnTo>
                <a:lnTo>
                  <a:pt x="1654" y="1283"/>
                </a:lnTo>
                <a:lnTo>
                  <a:pt x="1690" y="1306"/>
                </a:lnTo>
                <a:lnTo>
                  <a:pt x="1723" y="1332"/>
                </a:lnTo>
                <a:lnTo>
                  <a:pt x="1751" y="1358"/>
                </a:lnTo>
                <a:lnTo>
                  <a:pt x="1775" y="1388"/>
                </a:lnTo>
                <a:lnTo>
                  <a:pt x="1792" y="1419"/>
                </a:lnTo>
                <a:lnTo>
                  <a:pt x="1805" y="1449"/>
                </a:lnTo>
                <a:lnTo>
                  <a:pt x="1809" y="1466"/>
                </a:lnTo>
                <a:lnTo>
                  <a:pt x="1813" y="1481"/>
                </a:lnTo>
                <a:lnTo>
                  <a:pt x="1816" y="1499"/>
                </a:lnTo>
                <a:lnTo>
                  <a:pt x="1816" y="1516"/>
                </a:lnTo>
                <a:lnTo>
                  <a:pt x="1816" y="1516"/>
                </a:lnTo>
                <a:lnTo>
                  <a:pt x="1816" y="1531"/>
                </a:lnTo>
                <a:lnTo>
                  <a:pt x="1813" y="1548"/>
                </a:lnTo>
                <a:lnTo>
                  <a:pt x="1807" y="1581"/>
                </a:lnTo>
                <a:lnTo>
                  <a:pt x="1794" y="1611"/>
                </a:lnTo>
                <a:lnTo>
                  <a:pt x="1777" y="1641"/>
                </a:lnTo>
                <a:lnTo>
                  <a:pt x="1755" y="1669"/>
                </a:lnTo>
                <a:lnTo>
                  <a:pt x="1729" y="1697"/>
                </a:lnTo>
                <a:lnTo>
                  <a:pt x="1697" y="1723"/>
                </a:lnTo>
                <a:lnTo>
                  <a:pt x="1660" y="1747"/>
                </a:lnTo>
                <a:lnTo>
                  <a:pt x="1660" y="1747"/>
                </a:lnTo>
                <a:lnTo>
                  <a:pt x="1656" y="1749"/>
                </a:lnTo>
                <a:lnTo>
                  <a:pt x="1656" y="1749"/>
                </a:lnTo>
                <a:lnTo>
                  <a:pt x="1619" y="1768"/>
                </a:lnTo>
                <a:lnTo>
                  <a:pt x="1578" y="1788"/>
                </a:lnTo>
                <a:lnTo>
                  <a:pt x="1535" y="1801"/>
                </a:lnTo>
                <a:lnTo>
                  <a:pt x="1490" y="1814"/>
                </a:lnTo>
                <a:lnTo>
                  <a:pt x="1444" y="1825"/>
                </a:lnTo>
                <a:lnTo>
                  <a:pt x="1397" y="1831"/>
                </a:lnTo>
                <a:lnTo>
                  <a:pt x="1347" y="1835"/>
                </a:lnTo>
                <a:lnTo>
                  <a:pt x="1295" y="1838"/>
                </a:lnTo>
                <a:lnTo>
                  <a:pt x="1295" y="1838"/>
                </a:lnTo>
                <a:lnTo>
                  <a:pt x="1246" y="1835"/>
                </a:lnTo>
                <a:lnTo>
                  <a:pt x="1196" y="1831"/>
                </a:lnTo>
                <a:lnTo>
                  <a:pt x="1149" y="1825"/>
                </a:lnTo>
                <a:lnTo>
                  <a:pt x="1101" y="1814"/>
                </a:lnTo>
                <a:lnTo>
                  <a:pt x="1056" y="1801"/>
                </a:lnTo>
                <a:lnTo>
                  <a:pt x="1015" y="1788"/>
                </a:lnTo>
                <a:lnTo>
                  <a:pt x="974" y="1771"/>
                </a:lnTo>
                <a:lnTo>
                  <a:pt x="935" y="1749"/>
                </a:lnTo>
                <a:lnTo>
                  <a:pt x="829" y="1689"/>
                </a:lnTo>
                <a:lnTo>
                  <a:pt x="829" y="1689"/>
                </a:lnTo>
                <a:lnTo>
                  <a:pt x="807" y="1678"/>
                </a:lnTo>
                <a:lnTo>
                  <a:pt x="786" y="1667"/>
                </a:lnTo>
                <a:lnTo>
                  <a:pt x="762" y="1660"/>
                </a:lnTo>
                <a:lnTo>
                  <a:pt x="736" y="1652"/>
                </a:lnTo>
                <a:lnTo>
                  <a:pt x="708" y="1648"/>
                </a:lnTo>
                <a:lnTo>
                  <a:pt x="680" y="1643"/>
                </a:lnTo>
                <a:lnTo>
                  <a:pt x="652" y="1641"/>
                </a:lnTo>
                <a:lnTo>
                  <a:pt x="624" y="1639"/>
                </a:lnTo>
                <a:lnTo>
                  <a:pt x="624" y="1639"/>
                </a:lnTo>
                <a:lnTo>
                  <a:pt x="594" y="1641"/>
                </a:lnTo>
                <a:lnTo>
                  <a:pt x="566" y="1643"/>
                </a:lnTo>
                <a:lnTo>
                  <a:pt x="538" y="1648"/>
                </a:lnTo>
                <a:lnTo>
                  <a:pt x="512" y="1652"/>
                </a:lnTo>
                <a:lnTo>
                  <a:pt x="486" y="1660"/>
                </a:lnTo>
                <a:lnTo>
                  <a:pt x="462" y="1667"/>
                </a:lnTo>
                <a:lnTo>
                  <a:pt x="438" y="1678"/>
                </a:lnTo>
                <a:lnTo>
                  <a:pt x="419" y="1689"/>
                </a:lnTo>
                <a:lnTo>
                  <a:pt x="419" y="1689"/>
                </a:lnTo>
                <a:lnTo>
                  <a:pt x="402" y="1699"/>
                </a:lnTo>
                <a:lnTo>
                  <a:pt x="386" y="1710"/>
                </a:lnTo>
                <a:lnTo>
                  <a:pt x="376" y="1721"/>
                </a:lnTo>
                <a:lnTo>
                  <a:pt x="365" y="1734"/>
                </a:lnTo>
                <a:lnTo>
                  <a:pt x="356" y="1745"/>
                </a:lnTo>
                <a:lnTo>
                  <a:pt x="350" y="1758"/>
                </a:lnTo>
                <a:lnTo>
                  <a:pt x="348" y="1771"/>
                </a:lnTo>
                <a:lnTo>
                  <a:pt x="345" y="1781"/>
                </a:lnTo>
                <a:lnTo>
                  <a:pt x="345" y="1781"/>
                </a:lnTo>
                <a:lnTo>
                  <a:pt x="348" y="1794"/>
                </a:lnTo>
                <a:lnTo>
                  <a:pt x="352" y="1807"/>
                </a:lnTo>
                <a:lnTo>
                  <a:pt x="356" y="1820"/>
                </a:lnTo>
                <a:lnTo>
                  <a:pt x="365" y="1833"/>
                </a:lnTo>
                <a:lnTo>
                  <a:pt x="376" y="1844"/>
                </a:lnTo>
                <a:lnTo>
                  <a:pt x="389" y="1855"/>
                </a:lnTo>
                <a:lnTo>
                  <a:pt x="404" y="1868"/>
                </a:lnTo>
                <a:lnTo>
                  <a:pt x="419" y="1876"/>
                </a:lnTo>
                <a:lnTo>
                  <a:pt x="2990" y="3377"/>
                </a:lnTo>
                <a:lnTo>
                  <a:pt x="2457" y="3377"/>
                </a:lnTo>
                <a:lnTo>
                  <a:pt x="194" y="2058"/>
                </a:lnTo>
                <a:close/>
              </a:path>
            </a:pathLst>
          </a:custGeom>
          <a:solidFill>
            <a:schemeClr val="tx2">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44" name="Freeform 1228"/>
          <p:cNvSpPr/>
          <p:nvPr/>
        </p:nvSpPr>
        <p:spPr bwMode="auto">
          <a:xfrm rot="300000">
            <a:off x="1696720" y="2472690"/>
            <a:ext cx="7844155" cy="6374765"/>
          </a:xfrm>
          <a:custGeom>
            <a:avLst/>
            <a:gdLst>
              <a:gd name="T0" fmla="*/ 63 w 4128"/>
              <a:gd name="T1" fmla="*/ 1950 h 3377"/>
              <a:gd name="T2" fmla="*/ 4 w 4128"/>
              <a:gd name="T3" fmla="*/ 1822 h 3377"/>
              <a:gd name="T4" fmla="*/ 13 w 4128"/>
              <a:gd name="T5" fmla="*/ 1704 h 3377"/>
              <a:gd name="T6" fmla="*/ 93 w 4128"/>
              <a:gd name="T7" fmla="*/ 1581 h 3377"/>
              <a:gd name="T8" fmla="*/ 335 w 4128"/>
              <a:gd name="T9" fmla="*/ 1445 h 3377"/>
              <a:gd name="T10" fmla="*/ 682 w 4128"/>
              <a:gd name="T11" fmla="*/ 1406 h 3377"/>
              <a:gd name="T12" fmla="*/ 1056 w 4128"/>
              <a:gd name="T13" fmla="*/ 1507 h 3377"/>
              <a:gd name="T14" fmla="*/ 1295 w 4128"/>
              <a:gd name="T15" fmla="*/ 1600 h 3377"/>
              <a:gd name="T16" fmla="*/ 1459 w 4128"/>
              <a:gd name="T17" fmla="*/ 1544 h 3377"/>
              <a:gd name="T18" fmla="*/ 1459 w 4128"/>
              <a:gd name="T19" fmla="*/ 1490 h 3377"/>
              <a:gd name="T20" fmla="*/ 1222 w 4128"/>
              <a:gd name="T21" fmla="*/ 1328 h 3377"/>
              <a:gd name="T22" fmla="*/ 1140 w 4128"/>
              <a:gd name="T23" fmla="*/ 1207 h 3377"/>
              <a:gd name="T24" fmla="*/ 1131 w 4128"/>
              <a:gd name="T25" fmla="*/ 1091 h 3377"/>
              <a:gd name="T26" fmla="*/ 1187 w 4128"/>
              <a:gd name="T27" fmla="*/ 961 h 3377"/>
              <a:gd name="T28" fmla="*/ 1362 w 4128"/>
              <a:gd name="T29" fmla="*/ 829 h 3377"/>
              <a:gd name="T30" fmla="*/ 1749 w 4128"/>
              <a:gd name="T31" fmla="*/ 749 h 3377"/>
              <a:gd name="T32" fmla="*/ 2086 w 4128"/>
              <a:gd name="T33" fmla="*/ 808 h 3377"/>
              <a:gd name="T34" fmla="*/ 2383 w 4128"/>
              <a:gd name="T35" fmla="*/ 944 h 3377"/>
              <a:gd name="T36" fmla="*/ 2554 w 4128"/>
              <a:gd name="T37" fmla="*/ 916 h 3377"/>
              <a:gd name="T38" fmla="*/ 2595 w 4128"/>
              <a:gd name="T39" fmla="*/ 855 h 3377"/>
              <a:gd name="T40" fmla="*/ 2403 w 4128"/>
              <a:gd name="T41" fmla="*/ 721 h 3377"/>
              <a:gd name="T42" fmla="*/ 2282 w 4128"/>
              <a:gd name="T43" fmla="*/ 590 h 3377"/>
              <a:gd name="T44" fmla="*/ 2254 w 4128"/>
              <a:gd name="T45" fmla="*/ 475 h 3377"/>
              <a:gd name="T46" fmla="*/ 2291 w 4128"/>
              <a:gd name="T47" fmla="*/ 341 h 3377"/>
              <a:gd name="T48" fmla="*/ 2442 w 4128"/>
              <a:gd name="T49" fmla="*/ 199 h 3377"/>
              <a:gd name="T50" fmla="*/ 2755 w 4128"/>
              <a:gd name="T51" fmla="*/ 102 h 3377"/>
              <a:gd name="T52" fmla="*/ 3107 w 4128"/>
              <a:gd name="T53" fmla="*/ 121 h 3377"/>
              <a:gd name="T54" fmla="*/ 3441 w 4128"/>
              <a:gd name="T55" fmla="*/ 274 h 3377"/>
              <a:gd name="T56" fmla="*/ 3651 w 4128"/>
              <a:gd name="T57" fmla="*/ 274 h 3377"/>
              <a:gd name="T58" fmla="*/ 3869 w 4128"/>
              <a:gd name="T59" fmla="*/ 462 h 3377"/>
              <a:gd name="T60" fmla="*/ 3547 w 4128"/>
              <a:gd name="T61" fmla="*/ 529 h 3377"/>
              <a:gd name="T62" fmla="*/ 3353 w 4128"/>
              <a:gd name="T63" fmla="*/ 505 h 3377"/>
              <a:gd name="T64" fmla="*/ 3059 w 4128"/>
              <a:gd name="T65" fmla="*/ 369 h 3377"/>
              <a:gd name="T66" fmla="*/ 2874 w 4128"/>
              <a:gd name="T67" fmla="*/ 331 h 3377"/>
              <a:gd name="T68" fmla="*/ 2714 w 4128"/>
              <a:gd name="T69" fmla="*/ 359 h 3377"/>
              <a:gd name="T70" fmla="*/ 2617 w 4128"/>
              <a:gd name="T71" fmla="*/ 423 h 3377"/>
              <a:gd name="T72" fmla="*/ 2604 w 4128"/>
              <a:gd name="T73" fmla="*/ 499 h 3377"/>
              <a:gd name="T74" fmla="*/ 2776 w 4128"/>
              <a:gd name="T75" fmla="*/ 626 h 3377"/>
              <a:gd name="T76" fmla="*/ 2899 w 4128"/>
              <a:gd name="T77" fmla="*/ 734 h 3377"/>
              <a:gd name="T78" fmla="*/ 2943 w 4128"/>
              <a:gd name="T79" fmla="*/ 862 h 3377"/>
              <a:gd name="T80" fmla="*/ 2902 w 4128"/>
              <a:gd name="T81" fmla="*/ 989 h 3377"/>
              <a:gd name="T82" fmla="*/ 2703 w 4128"/>
              <a:gd name="T83" fmla="*/ 1134 h 3377"/>
              <a:gd name="T84" fmla="*/ 2422 w 4128"/>
              <a:gd name="T85" fmla="*/ 1183 h 3377"/>
              <a:gd name="T86" fmla="*/ 2098 w 4128"/>
              <a:gd name="T87" fmla="*/ 1116 h 3377"/>
              <a:gd name="T88" fmla="*/ 1861 w 4128"/>
              <a:gd name="T89" fmla="*/ 998 h 3377"/>
              <a:gd name="T90" fmla="*/ 1693 w 4128"/>
              <a:gd name="T91" fmla="*/ 989 h 3377"/>
              <a:gd name="T92" fmla="*/ 1544 w 4128"/>
              <a:gd name="T93" fmla="*/ 1034 h 3377"/>
              <a:gd name="T94" fmla="*/ 1475 w 4128"/>
              <a:gd name="T95" fmla="*/ 1114 h 3377"/>
              <a:gd name="T96" fmla="*/ 1503 w 4128"/>
              <a:gd name="T97" fmla="*/ 1188 h 3377"/>
              <a:gd name="T98" fmla="*/ 1690 w 4128"/>
              <a:gd name="T99" fmla="*/ 1306 h 3377"/>
              <a:gd name="T100" fmla="*/ 1813 w 4128"/>
              <a:gd name="T101" fmla="*/ 1481 h 3377"/>
              <a:gd name="T102" fmla="*/ 1794 w 4128"/>
              <a:gd name="T103" fmla="*/ 1611 h 3377"/>
              <a:gd name="T104" fmla="*/ 1656 w 4128"/>
              <a:gd name="T105" fmla="*/ 1749 h 3377"/>
              <a:gd name="T106" fmla="*/ 1397 w 4128"/>
              <a:gd name="T107" fmla="*/ 1831 h 3377"/>
              <a:gd name="T108" fmla="*/ 1101 w 4128"/>
              <a:gd name="T109" fmla="*/ 1814 h 3377"/>
              <a:gd name="T110" fmla="*/ 807 w 4128"/>
              <a:gd name="T111" fmla="*/ 1678 h 3377"/>
              <a:gd name="T112" fmla="*/ 624 w 4128"/>
              <a:gd name="T113" fmla="*/ 1639 h 3377"/>
              <a:gd name="T114" fmla="*/ 462 w 4128"/>
              <a:gd name="T115" fmla="*/ 1667 h 3377"/>
              <a:gd name="T116" fmla="*/ 365 w 4128"/>
              <a:gd name="T117" fmla="*/ 1734 h 3377"/>
              <a:gd name="T118" fmla="*/ 352 w 4128"/>
              <a:gd name="T119" fmla="*/ 1807 h 3377"/>
              <a:gd name="T120" fmla="*/ 2990 w 4128"/>
              <a:gd name="T121" fmla="*/ 3377 h 3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128" h="3377">
                <a:moveTo>
                  <a:pt x="194" y="2058"/>
                </a:moveTo>
                <a:lnTo>
                  <a:pt x="194" y="2058"/>
                </a:lnTo>
                <a:lnTo>
                  <a:pt x="149" y="2030"/>
                </a:lnTo>
                <a:lnTo>
                  <a:pt x="110" y="1999"/>
                </a:lnTo>
                <a:lnTo>
                  <a:pt x="93" y="1984"/>
                </a:lnTo>
                <a:lnTo>
                  <a:pt x="78" y="1967"/>
                </a:lnTo>
                <a:lnTo>
                  <a:pt x="63" y="1950"/>
                </a:lnTo>
                <a:lnTo>
                  <a:pt x="50" y="1933"/>
                </a:lnTo>
                <a:lnTo>
                  <a:pt x="39" y="1915"/>
                </a:lnTo>
                <a:lnTo>
                  <a:pt x="28" y="1898"/>
                </a:lnTo>
                <a:lnTo>
                  <a:pt x="22" y="1879"/>
                </a:lnTo>
                <a:lnTo>
                  <a:pt x="13" y="1859"/>
                </a:lnTo>
                <a:lnTo>
                  <a:pt x="9" y="1842"/>
                </a:lnTo>
                <a:lnTo>
                  <a:pt x="4" y="1822"/>
                </a:lnTo>
                <a:lnTo>
                  <a:pt x="2" y="1801"/>
                </a:lnTo>
                <a:lnTo>
                  <a:pt x="0" y="1781"/>
                </a:lnTo>
                <a:lnTo>
                  <a:pt x="0" y="1781"/>
                </a:lnTo>
                <a:lnTo>
                  <a:pt x="2" y="1762"/>
                </a:lnTo>
                <a:lnTo>
                  <a:pt x="4" y="1743"/>
                </a:lnTo>
                <a:lnTo>
                  <a:pt x="9" y="1723"/>
                </a:lnTo>
                <a:lnTo>
                  <a:pt x="13" y="1704"/>
                </a:lnTo>
                <a:lnTo>
                  <a:pt x="19" y="1686"/>
                </a:lnTo>
                <a:lnTo>
                  <a:pt x="28" y="1667"/>
                </a:lnTo>
                <a:lnTo>
                  <a:pt x="39" y="1650"/>
                </a:lnTo>
                <a:lnTo>
                  <a:pt x="50" y="1632"/>
                </a:lnTo>
                <a:lnTo>
                  <a:pt x="63" y="1615"/>
                </a:lnTo>
                <a:lnTo>
                  <a:pt x="78" y="1598"/>
                </a:lnTo>
                <a:lnTo>
                  <a:pt x="93" y="1581"/>
                </a:lnTo>
                <a:lnTo>
                  <a:pt x="110" y="1566"/>
                </a:lnTo>
                <a:lnTo>
                  <a:pt x="147" y="1535"/>
                </a:lnTo>
                <a:lnTo>
                  <a:pt x="190" y="1507"/>
                </a:lnTo>
                <a:lnTo>
                  <a:pt x="190" y="1507"/>
                </a:lnTo>
                <a:lnTo>
                  <a:pt x="235" y="1483"/>
                </a:lnTo>
                <a:lnTo>
                  <a:pt x="285" y="1464"/>
                </a:lnTo>
                <a:lnTo>
                  <a:pt x="335" y="1445"/>
                </a:lnTo>
                <a:lnTo>
                  <a:pt x="389" y="1429"/>
                </a:lnTo>
                <a:lnTo>
                  <a:pt x="445" y="1419"/>
                </a:lnTo>
                <a:lnTo>
                  <a:pt x="503" y="1410"/>
                </a:lnTo>
                <a:lnTo>
                  <a:pt x="561" y="1406"/>
                </a:lnTo>
                <a:lnTo>
                  <a:pt x="622" y="1404"/>
                </a:lnTo>
                <a:lnTo>
                  <a:pt x="622" y="1404"/>
                </a:lnTo>
                <a:lnTo>
                  <a:pt x="682" y="1406"/>
                </a:lnTo>
                <a:lnTo>
                  <a:pt x="743" y="1410"/>
                </a:lnTo>
                <a:lnTo>
                  <a:pt x="801" y="1419"/>
                </a:lnTo>
                <a:lnTo>
                  <a:pt x="857" y="1429"/>
                </a:lnTo>
                <a:lnTo>
                  <a:pt x="911" y="1445"/>
                </a:lnTo>
                <a:lnTo>
                  <a:pt x="961" y="1464"/>
                </a:lnTo>
                <a:lnTo>
                  <a:pt x="1010" y="1483"/>
                </a:lnTo>
                <a:lnTo>
                  <a:pt x="1056" y="1507"/>
                </a:lnTo>
                <a:lnTo>
                  <a:pt x="1161" y="1570"/>
                </a:lnTo>
                <a:lnTo>
                  <a:pt x="1161" y="1570"/>
                </a:lnTo>
                <a:lnTo>
                  <a:pt x="1190" y="1583"/>
                </a:lnTo>
                <a:lnTo>
                  <a:pt x="1222" y="1591"/>
                </a:lnTo>
                <a:lnTo>
                  <a:pt x="1259" y="1598"/>
                </a:lnTo>
                <a:lnTo>
                  <a:pt x="1295" y="1600"/>
                </a:lnTo>
                <a:lnTo>
                  <a:pt x="1295" y="1600"/>
                </a:lnTo>
                <a:lnTo>
                  <a:pt x="1332" y="1598"/>
                </a:lnTo>
                <a:lnTo>
                  <a:pt x="1369" y="1591"/>
                </a:lnTo>
                <a:lnTo>
                  <a:pt x="1401" y="1583"/>
                </a:lnTo>
                <a:lnTo>
                  <a:pt x="1429" y="1570"/>
                </a:lnTo>
                <a:lnTo>
                  <a:pt x="1429" y="1570"/>
                </a:lnTo>
                <a:lnTo>
                  <a:pt x="1446" y="1557"/>
                </a:lnTo>
                <a:lnTo>
                  <a:pt x="1459" y="1544"/>
                </a:lnTo>
                <a:lnTo>
                  <a:pt x="1468" y="1529"/>
                </a:lnTo>
                <a:lnTo>
                  <a:pt x="1470" y="1522"/>
                </a:lnTo>
                <a:lnTo>
                  <a:pt x="1470" y="1516"/>
                </a:lnTo>
                <a:lnTo>
                  <a:pt x="1470" y="1516"/>
                </a:lnTo>
                <a:lnTo>
                  <a:pt x="1470" y="1509"/>
                </a:lnTo>
                <a:lnTo>
                  <a:pt x="1468" y="1503"/>
                </a:lnTo>
                <a:lnTo>
                  <a:pt x="1459" y="1490"/>
                </a:lnTo>
                <a:lnTo>
                  <a:pt x="1446" y="1477"/>
                </a:lnTo>
                <a:lnTo>
                  <a:pt x="1427" y="1464"/>
                </a:lnTo>
                <a:lnTo>
                  <a:pt x="1319" y="1401"/>
                </a:lnTo>
                <a:lnTo>
                  <a:pt x="1319" y="1401"/>
                </a:lnTo>
                <a:lnTo>
                  <a:pt x="1276" y="1373"/>
                </a:lnTo>
                <a:lnTo>
                  <a:pt x="1239" y="1345"/>
                </a:lnTo>
                <a:lnTo>
                  <a:pt x="1222" y="1328"/>
                </a:lnTo>
                <a:lnTo>
                  <a:pt x="1205" y="1313"/>
                </a:lnTo>
                <a:lnTo>
                  <a:pt x="1192" y="1296"/>
                </a:lnTo>
                <a:lnTo>
                  <a:pt x="1179" y="1278"/>
                </a:lnTo>
                <a:lnTo>
                  <a:pt x="1166" y="1261"/>
                </a:lnTo>
                <a:lnTo>
                  <a:pt x="1157" y="1244"/>
                </a:lnTo>
                <a:lnTo>
                  <a:pt x="1149" y="1224"/>
                </a:lnTo>
                <a:lnTo>
                  <a:pt x="1140" y="1207"/>
                </a:lnTo>
                <a:lnTo>
                  <a:pt x="1136" y="1188"/>
                </a:lnTo>
                <a:lnTo>
                  <a:pt x="1131" y="1168"/>
                </a:lnTo>
                <a:lnTo>
                  <a:pt x="1129" y="1149"/>
                </a:lnTo>
                <a:lnTo>
                  <a:pt x="1127" y="1129"/>
                </a:lnTo>
                <a:lnTo>
                  <a:pt x="1127" y="1129"/>
                </a:lnTo>
                <a:lnTo>
                  <a:pt x="1129" y="1110"/>
                </a:lnTo>
                <a:lnTo>
                  <a:pt x="1131" y="1091"/>
                </a:lnTo>
                <a:lnTo>
                  <a:pt x="1133" y="1071"/>
                </a:lnTo>
                <a:lnTo>
                  <a:pt x="1140" y="1052"/>
                </a:lnTo>
                <a:lnTo>
                  <a:pt x="1146" y="1032"/>
                </a:lnTo>
                <a:lnTo>
                  <a:pt x="1155" y="1015"/>
                </a:lnTo>
                <a:lnTo>
                  <a:pt x="1164" y="996"/>
                </a:lnTo>
                <a:lnTo>
                  <a:pt x="1177" y="978"/>
                </a:lnTo>
                <a:lnTo>
                  <a:pt x="1187" y="961"/>
                </a:lnTo>
                <a:lnTo>
                  <a:pt x="1203" y="944"/>
                </a:lnTo>
                <a:lnTo>
                  <a:pt x="1218" y="926"/>
                </a:lnTo>
                <a:lnTo>
                  <a:pt x="1235" y="911"/>
                </a:lnTo>
                <a:lnTo>
                  <a:pt x="1274" y="881"/>
                </a:lnTo>
                <a:lnTo>
                  <a:pt x="1317" y="853"/>
                </a:lnTo>
                <a:lnTo>
                  <a:pt x="1317" y="853"/>
                </a:lnTo>
                <a:lnTo>
                  <a:pt x="1362" y="829"/>
                </a:lnTo>
                <a:lnTo>
                  <a:pt x="1410" y="808"/>
                </a:lnTo>
                <a:lnTo>
                  <a:pt x="1462" y="790"/>
                </a:lnTo>
                <a:lnTo>
                  <a:pt x="1516" y="775"/>
                </a:lnTo>
                <a:lnTo>
                  <a:pt x="1572" y="765"/>
                </a:lnTo>
                <a:lnTo>
                  <a:pt x="1628" y="756"/>
                </a:lnTo>
                <a:lnTo>
                  <a:pt x="1688" y="752"/>
                </a:lnTo>
                <a:lnTo>
                  <a:pt x="1749" y="749"/>
                </a:lnTo>
                <a:lnTo>
                  <a:pt x="1749" y="749"/>
                </a:lnTo>
                <a:lnTo>
                  <a:pt x="1809" y="752"/>
                </a:lnTo>
                <a:lnTo>
                  <a:pt x="1867" y="756"/>
                </a:lnTo>
                <a:lnTo>
                  <a:pt x="1926" y="765"/>
                </a:lnTo>
                <a:lnTo>
                  <a:pt x="1982" y="775"/>
                </a:lnTo>
                <a:lnTo>
                  <a:pt x="2036" y="790"/>
                </a:lnTo>
                <a:lnTo>
                  <a:pt x="2086" y="808"/>
                </a:lnTo>
                <a:lnTo>
                  <a:pt x="2135" y="829"/>
                </a:lnTo>
                <a:lnTo>
                  <a:pt x="2180" y="853"/>
                </a:lnTo>
                <a:lnTo>
                  <a:pt x="2286" y="916"/>
                </a:lnTo>
                <a:lnTo>
                  <a:pt x="2286" y="916"/>
                </a:lnTo>
                <a:lnTo>
                  <a:pt x="2314" y="929"/>
                </a:lnTo>
                <a:lnTo>
                  <a:pt x="2347" y="937"/>
                </a:lnTo>
                <a:lnTo>
                  <a:pt x="2383" y="944"/>
                </a:lnTo>
                <a:lnTo>
                  <a:pt x="2420" y="946"/>
                </a:lnTo>
                <a:lnTo>
                  <a:pt x="2420" y="946"/>
                </a:lnTo>
                <a:lnTo>
                  <a:pt x="2459" y="944"/>
                </a:lnTo>
                <a:lnTo>
                  <a:pt x="2494" y="937"/>
                </a:lnTo>
                <a:lnTo>
                  <a:pt x="2526" y="929"/>
                </a:lnTo>
                <a:lnTo>
                  <a:pt x="2554" y="916"/>
                </a:lnTo>
                <a:lnTo>
                  <a:pt x="2554" y="916"/>
                </a:lnTo>
                <a:lnTo>
                  <a:pt x="2571" y="903"/>
                </a:lnTo>
                <a:lnTo>
                  <a:pt x="2586" y="890"/>
                </a:lnTo>
                <a:lnTo>
                  <a:pt x="2593" y="875"/>
                </a:lnTo>
                <a:lnTo>
                  <a:pt x="2595" y="868"/>
                </a:lnTo>
                <a:lnTo>
                  <a:pt x="2597" y="862"/>
                </a:lnTo>
                <a:lnTo>
                  <a:pt x="2597" y="862"/>
                </a:lnTo>
                <a:lnTo>
                  <a:pt x="2595" y="855"/>
                </a:lnTo>
                <a:lnTo>
                  <a:pt x="2593" y="849"/>
                </a:lnTo>
                <a:lnTo>
                  <a:pt x="2584" y="836"/>
                </a:lnTo>
                <a:lnTo>
                  <a:pt x="2571" y="823"/>
                </a:lnTo>
                <a:lnTo>
                  <a:pt x="2554" y="810"/>
                </a:lnTo>
                <a:lnTo>
                  <a:pt x="2446" y="747"/>
                </a:lnTo>
                <a:lnTo>
                  <a:pt x="2446" y="747"/>
                </a:lnTo>
                <a:lnTo>
                  <a:pt x="2403" y="721"/>
                </a:lnTo>
                <a:lnTo>
                  <a:pt x="2364" y="691"/>
                </a:lnTo>
                <a:lnTo>
                  <a:pt x="2347" y="674"/>
                </a:lnTo>
                <a:lnTo>
                  <a:pt x="2332" y="659"/>
                </a:lnTo>
                <a:lnTo>
                  <a:pt x="2317" y="641"/>
                </a:lnTo>
                <a:lnTo>
                  <a:pt x="2304" y="624"/>
                </a:lnTo>
                <a:lnTo>
                  <a:pt x="2293" y="607"/>
                </a:lnTo>
                <a:lnTo>
                  <a:pt x="2282" y="590"/>
                </a:lnTo>
                <a:lnTo>
                  <a:pt x="2273" y="570"/>
                </a:lnTo>
                <a:lnTo>
                  <a:pt x="2267" y="553"/>
                </a:lnTo>
                <a:lnTo>
                  <a:pt x="2260" y="534"/>
                </a:lnTo>
                <a:lnTo>
                  <a:pt x="2256" y="514"/>
                </a:lnTo>
                <a:lnTo>
                  <a:pt x="2254" y="495"/>
                </a:lnTo>
                <a:lnTo>
                  <a:pt x="2254" y="475"/>
                </a:lnTo>
                <a:lnTo>
                  <a:pt x="2254" y="475"/>
                </a:lnTo>
                <a:lnTo>
                  <a:pt x="2254" y="456"/>
                </a:lnTo>
                <a:lnTo>
                  <a:pt x="2256" y="436"/>
                </a:lnTo>
                <a:lnTo>
                  <a:pt x="2260" y="417"/>
                </a:lnTo>
                <a:lnTo>
                  <a:pt x="2265" y="398"/>
                </a:lnTo>
                <a:lnTo>
                  <a:pt x="2271" y="378"/>
                </a:lnTo>
                <a:lnTo>
                  <a:pt x="2280" y="361"/>
                </a:lnTo>
                <a:lnTo>
                  <a:pt x="2291" y="341"/>
                </a:lnTo>
                <a:lnTo>
                  <a:pt x="2301" y="324"/>
                </a:lnTo>
                <a:lnTo>
                  <a:pt x="2314" y="307"/>
                </a:lnTo>
                <a:lnTo>
                  <a:pt x="2327" y="290"/>
                </a:lnTo>
                <a:lnTo>
                  <a:pt x="2345" y="274"/>
                </a:lnTo>
                <a:lnTo>
                  <a:pt x="2360" y="257"/>
                </a:lnTo>
                <a:lnTo>
                  <a:pt x="2399" y="227"/>
                </a:lnTo>
                <a:lnTo>
                  <a:pt x="2442" y="199"/>
                </a:lnTo>
                <a:lnTo>
                  <a:pt x="2442" y="199"/>
                </a:lnTo>
                <a:lnTo>
                  <a:pt x="2487" y="175"/>
                </a:lnTo>
                <a:lnTo>
                  <a:pt x="2537" y="154"/>
                </a:lnTo>
                <a:lnTo>
                  <a:pt x="2586" y="136"/>
                </a:lnTo>
                <a:lnTo>
                  <a:pt x="2640" y="121"/>
                </a:lnTo>
                <a:lnTo>
                  <a:pt x="2696" y="110"/>
                </a:lnTo>
                <a:lnTo>
                  <a:pt x="2755" y="102"/>
                </a:lnTo>
                <a:lnTo>
                  <a:pt x="2813" y="97"/>
                </a:lnTo>
                <a:lnTo>
                  <a:pt x="2874" y="95"/>
                </a:lnTo>
                <a:lnTo>
                  <a:pt x="2874" y="95"/>
                </a:lnTo>
                <a:lnTo>
                  <a:pt x="2934" y="97"/>
                </a:lnTo>
                <a:lnTo>
                  <a:pt x="2992" y="102"/>
                </a:lnTo>
                <a:lnTo>
                  <a:pt x="3051" y="110"/>
                </a:lnTo>
                <a:lnTo>
                  <a:pt x="3107" y="121"/>
                </a:lnTo>
                <a:lnTo>
                  <a:pt x="3161" y="136"/>
                </a:lnTo>
                <a:lnTo>
                  <a:pt x="3212" y="154"/>
                </a:lnTo>
                <a:lnTo>
                  <a:pt x="3260" y="175"/>
                </a:lnTo>
                <a:lnTo>
                  <a:pt x="3305" y="199"/>
                </a:lnTo>
                <a:lnTo>
                  <a:pt x="3413" y="262"/>
                </a:lnTo>
                <a:lnTo>
                  <a:pt x="3413" y="262"/>
                </a:lnTo>
                <a:lnTo>
                  <a:pt x="3441" y="274"/>
                </a:lnTo>
                <a:lnTo>
                  <a:pt x="3474" y="283"/>
                </a:lnTo>
                <a:lnTo>
                  <a:pt x="3508" y="290"/>
                </a:lnTo>
                <a:lnTo>
                  <a:pt x="3547" y="292"/>
                </a:lnTo>
                <a:lnTo>
                  <a:pt x="3547" y="292"/>
                </a:lnTo>
                <a:lnTo>
                  <a:pt x="3584" y="290"/>
                </a:lnTo>
                <a:lnTo>
                  <a:pt x="3618" y="283"/>
                </a:lnTo>
                <a:lnTo>
                  <a:pt x="3651" y="274"/>
                </a:lnTo>
                <a:lnTo>
                  <a:pt x="3679" y="262"/>
                </a:lnTo>
                <a:lnTo>
                  <a:pt x="4128" y="0"/>
                </a:lnTo>
                <a:lnTo>
                  <a:pt x="4128" y="313"/>
                </a:lnTo>
                <a:lnTo>
                  <a:pt x="4091" y="335"/>
                </a:lnTo>
                <a:lnTo>
                  <a:pt x="3908" y="441"/>
                </a:lnTo>
                <a:lnTo>
                  <a:pt x="3908" y="441"/>
                </a:lnTo>
                <a:lnTo>
                  <a:pt x="3869" y="462"/>
                </a:lnTo>
                <a:lnTo>
                  <a:pt x="3830" y="480"/>
                </a:lnTo>
                <a:lnTo>
                  <a:pt x="3787" y="495"/>
                </a:lnTo>
                <a:lnTo>
                  <a:pt x="3741" y="505"/>
                </a:lnTo>
                <a:lnTo>
                  <a:pt x="3696" y="516"/>
                </a:lnTo>
                <a:lnTo>
                  <a:pt x="3646" y="523"/>
                </a:lnTo>
                <a:lnTo>
                  <a:pt x="3597" y="527"/>
                </a:lnTo>
                <a:lnTo>
                  <a:pt x="3547" y="529"/>
                </a:lnTo>
                <a:lnTo>
                  <a:pt x="3547" y="529"/>
                </a:lnTo>
                <a:lnTo>
                  <a:pt x="3547" y="529"/>
                </a:lnTo>
                <a:lnTo>
                  <a:pt x="3547" y="529"/>
                </a:lnTo>
                <a:lnTo>
                  <a:pt x="3497" y="527"/>
                </a:lnTo>
                <a:lnTo>
                  <a:pt x="3448" y="523"/>
                </a:lnTo>
                <a:lnTo>
                  <a:pt x="3398" y="516"/>
                </a:lnTo>
                <a:lnTo>
                  <a:pt x="3353" y="505"/>
                </a:lnTo>
                <a:lnTo>
                  <a:pt x="3307" y="495"/>
                </a:lnTo>
                <a:lnTo>
                  <a:pt x="3264" y="480"/>
                </a:lnTo>
                <a:lnTo>
                  <a:pt x="3223" y="462"/>
                </a:lnTo>
                <a:lnTo>
                  <a:pt x="3187" y="441"/>
                </a:lnTo>
                <a:lnTo>
                  <a:pt x="3079" y="380"/>
                </a:lnTo>
                <a:lnTo>
                  <a:pt x="3079" y="380"/>
                </a:lnTo>
                <a:lnTo>
                  <a:pt x="3059" y="369"/>
                </a:lnTo>
                <a:lnTo>
                  <a:pt x="3035" y="359"/>
                </a:lnTo>
                <a:lnTo>
                  <a:pt x="3012" y="350"/>
                </a:lnTo>
                <a:lnTo>
                  <a:pt x="2986" y="344"/>
                </a:lnTo>
                <a:lnTo>
                  <a:pt x="2960" y="339"/>
                </a:lnTo>
                <a:lnTo>
                  <a:pt x="2932" y="335"/>
                </a:lnTo>
                <a:lnTo>
                  <a:pt x="2904" y="333"/>
                </a:lnTo>
                <a:lnTo>
                  <a:pt x="2874" y="331"/>
                </a:lnTo>
                <a:lnTo>
                  <a:pt x="2874" y="331"/>
                </a:lnTo>
                <a:lnTo>
                  <a:pt x="2845" y="333"/>
                </a:lnTo>
                <a:lnTo>
                  <a:pt x="2817" y="335"/>
                </a:lnTo>
                <a:lnTo>
                  <a:pt x="2789" y="339"/>
                </a:lnTo>
                <a:lnTo>
                  <a:pt x="2763" y="344"/>
                </a:lnTo>
                <a:lnTo>
                  <a:pt x="2737" y="350"/>
                </a:lnTo>
                <a:lnTo>
                  <a:pt x="2714" y="359"/>
                </a:lnTo>
                <a:lnTo>
                  <a:pt x="2690" y="369"/>
                </a:lnTo>
                <a:lnTo>
                  <a:pt x="2671" y="380"/>
                </a:lnTo>
                <a:lnTo>
                  <a:pt x="2671" y="380"/>
                </a:lnTo>
                <a:lnTo>
                  <a:pt x="2653" y="391"/>
                </a:lnTo>
                <a:lnTo>
                  <a:pt x="2638" y="402"/>
                </a:lnTo>
                <a:lnTo>
                  <a:pt x="2627" y="413"/>
                </a:lnTo>
                <a:lnTo>
                  <a:pt x="2617" y="423"/>
                </a:lnTo>
                <a:lnTo>
                  <a:pt x="2608" y="436"/>
                </a:lnTo>
                <a:lnTo>
                  <a:pt x="2604" y="449"/>
                </a:lnTo>
                <a:lnTo>
                  <a:pt x="2599" y="460"/>
                </a:lnTo>
                <a:lnTo>
                  <a:pt x="2599" y="473"/>
                </a:lnTo>
                <a:lnTo>
                  <a:pt x="2599" y="473"/>
                </a:lnTo>
                <a:lnTo>
                  <a:pt x="2599" y="486"/>
                </a:lnTo>
                <a:lnTo>
                  <a:pt x="2604" y="499"/>
                </a:lnTo>
                <a:lnTo>
                  <a:pt x="2610" y="512"/>
                </a:lnTo>
                <a:lnTo>
                  <a:pt x="2617" y="523"/>
                </a:lnTo>
                <a:lnTo>
                  <a:pt x="2627" y="536"/>
                </a:lnTo>
                <a:lnTo>
                  <a:pt x="2640" y="546"/>
                </a:lnTo>
                <a:lnTo>
                  <a:pt x="2655" y="557"/>
                </a:lnTo>
                <a:lnTo>
                  <a:pt x="2671" y="568"/>
                </a:lnTo>
                <a:lnTo>
                  <a:pt x="2776" y="626"/>
                </a:lnTo>
                <a:lnTo>
                  <a:pt x="2776" y="626"/>
                </a:lnTo>
                <a:lnTo>
                  <a:pt x="2779" y="629"/>
                </a:lnTo>
                <a:lnTo>
                  <a:pt x="2779" y="629"/>
                </a:lnTo>
                <a:lnTo>
                  <a:pt x="2815" y="652"/>
                </a:lnTo>
                <a:lnTo>
                  <a:pt x="2848" y="678"/>
                </a:lnTo>
                <a:lnTo>
                  <a:pt x="2876" y="704"/>
                </a:lnTo>
                <a:lnTo>
                  <a:pt x="2899" y="734"/>
                </a:lnTo>
                <a:lnTo>
                  <a:pt x="2917" y="765"/>
                </a:lnTo>
                <a:lnTo>
                  <a:pt x="2930" y="795"/>
                </a:lnTo>
                <a:lnTo>
                  <a:pt x="2936" y="812"/>
                </a:lnTo>
                <a:lnTo>
                  <a:pt x="2938" y="827"/>
                </a:lnTo>
                <a:lnTo>
                  <a:pt x="2940" y="844"/>
                </a:lnTo>
                <a:lnTo>
                  <a:pt x="2943" y="862"/>
                </a:lnTo>
                <a:lnTo>
                  <a:pt x="2943" y="862"/>
                </a:lnTo>
                <a:lnTo>
                  <a:pt x="2940" y="877"/>
                </a:lnTo>
                <a:lnTo>
                  <a:pt x="2940" y="894"/>
                </a:lnTo>
                <a:lnTo>
                  <a:pt x="2936" y="911"/>
                </a:lnTo>
                <a:lnTo>
                  <a:pt x="2932" y="926"/>
                </a:lnTo>
                <a:lnTo>
                  <a:pt x="2925" y="944"/>
                </a:lnTo>
                <a:lnTo>
                  <a:pt x="2919" y="959"/>
                </a:lnTo>
                <a:lnTo>
                  <a:pt x="2902" y="989"/>
                </a:lnTo>
                <a:lnTo>
                  <a:pt x="2878" y="1019"/>
                </a:lnTo>
                <a:lnTo>
                  <a:pt x="2850" y="1045"/>
                </a:lnTo>
                <a:lnTo>
                  <a:pt x="2817" y="1071"/>
                </a:lnTo>
                <a:lnTo>
                  <a:pt x="2781" y="1095"/>
                </a:lnTo>
                <a:lnTo>
                  <a:pt x="2781" y="1095"/>
                </a:lnTo>
                <a:lnTo>
                  <a:pt x="2744" y="1116"/>
                </a:lnTo>
                <a:lnTo>
                  <a:pt x="2703" y="1134"/>
                </a:lnTo>
                <a:lnTo>
                  <a:pt x="2662" y="1149"/>
                </a:lnTo>
                <a:lnTo>
                  <a:pt x="2617" y="1160"/>
                </a:lnTo>
                <a:lnTo>
                  <a:pt x="2569" y="1170"/>
                </a:lnTo>
                <a:lnTo>
                  <a:pt x="2522" y="1177"/>
                </a:lnTo>
                <a:lnTo>
                  <a:pt x="2472" y="1181"/>
                </a:lnTo>
                <a:lnTo>
                  <a:pt x="2422" y="1183"/>
                </a:lnTo>
                <a:lnTo>
                  <a:pt x="2422" y="1183"/>
                </a:lnTo>
                <a:lnTo>
                  <a:pt x="2370" y="1181"/>
                </a:lnTo>
                <a:lnTo>
                  <a:pt x="2321" y="1177"/>
                </a:lnTo>
                <a:lnTo>
                  <a:pt x="2273" y="1170"/>
                </a:lnTo>
                <a:lnTo>
                  <a:pt x="2226" y="1160"/>
                </a:lnTo>
                <a:lnTo>
                  <a:pt x="2183" y="1149"/>
                </a:lnTo>
                <a:lnTo>
                  <a:pt x="2139" y="1134"/>
                </a:lnTo>
                <a:lnTo>
                  <a:pt x="2098" y="1116"/>
                </a:lnTo>
                <a:lnTo>
                  <a:pt x="2062" y="1095"/>
                </a:lnTo>
                <a:lnTo>
                  <a:pt x="1954" y="1034"/>
                </a:lnTo>
                <a:lnTo>
                  <a:pt x="1954" y="1034"/>
                </a:lnTo>
                <a:lnTo>
                  <a:pt x="1932" y="1024"/>
                </a:lnTo>
                <a:lnTo>
                  <a:pt x="1911" y="1013"/>
                </a:lnTo>
                <a:lnTo>
                  <a:pt x="1887" y="1004"/>
                </a:lnTo>
                <a:lnTo>
                  <a:pt x="1861" y="998"/>
                </a:lnTo>
                <a:lnTo>
                  <a:pt x="1833" y="993"/>
                </a:lnTo>
                <a:lnTo>
                  <a:pt x="1805" y="989"/>
                </a:lnTo>
                <a:lnTo>
                  <a:pt x="1777" y="987"/>
                </a:lnTo>
                <a:lnTo>
                  <a:pt x="1749" y="985"/>
                </a:lnTo>
                <a:lnTo>
                  <a:pt x="1749" y="985"/>
                </a:lnTo>
                <a:lnTo>
                  <a:pt x="1721" y="987"/>
                </a:lnTo>
                <a:lnTo>
                  <a:pt x="1693" y="989"/>
                </a:lnTo>
                <a:lnTo>
                  <a:pt x="1665" y="993"/>
                </a:lnTo>
                <a:lnTo>
                  <a:pt x="1636" y="998"/>
                </a:lnTo>
                <a:lnTo>
                  <a:pt x="1613" y="1004"/>
                </a:lnTo>
                <a:lnTo>
                  <a:pt x="1587" y="1013"/>
                </a:lnTo>
                <a:lnTo>
                  <a:pt x="1565" y="1024"/>
                </a:lnTo>
                <a:lnTo>
                  <a:pt x="1544" y="1034"/>
                </a:lnTo>
                <a:lnTo>
                  <a:pt x="1544" y="1034"/>
                </a:lnTo>
                <a:lnTo>
                  <a:pt x="1529" y="1045"/>
                </a:lnTo>
                <a:lnTo>
                  <a:pt x="1513" y="1056"/>
                </a:lnTo>
                <a:lnTo>
                  <a:pt x="1500" y="1067"/>
                </a:lnTo>
                <a:lnTo>
                  <a:pt x="1492" y="1078"/>
                </a:lnTo>
                <a:lnTo>
                  <a:pt x="1483" y="1091"/>
                </a:lnTo>
                <a:lnTo>
                  <a:pt x="1477" y="1103"/>
                </a:lnTo>
                <a:lnTo>
                  <a:pt x="1475" y="1114"/>
                </a:lnTo>
                <a:lnTo>
                  <a:pt x="1472" y="1127"/>
                </a:lnTo>
                <a:lnTo>
                  <a:pt x="1472" y="1127"/>
                </a:lnTo>
                <a:lnTo>
                  <a:pt x="1475" y="1140"/>
                </a:lnTo>
                <a:lnTo>
                  <a:pt x="1479" y="1153"/>
                </a:lnTo>
                <a:lnTo>
                  <a:pt x="1483" y="1164"/>
                </a:lnTo>
                <a:lnTo>
                  <a:pt x="1492" y="1177"/>
                </a:lnTo>
                <a:lnTo>
                  <a:pt x="1503" y="1188"/>
                </a:lnTo>
                <a:lnTo>
                  <a:pt x="1513" y="1201"/>
                </a:lnTo>
                <a:lnTo>
                  <a:pt x="1529" y="1211"/>
                </a:lnTo>
                <a:lnTo>
                  <a:pt x="1546" y="1220"/>
                </a:lnTo>
                <a:lnTo>
                  <a:pt x="1548" y="1222"/>
                </a:lnTo>
                <a:lnTo>
                  <a:pt x="1654" y="1283"/>
                </a:lnTo>
                <a:lnTo>
                  <a:pt x="1654" y="1283"/>
                </a:lnTo>
                <a:lnTo>
                  <a:pt x="1690" y="1306"/>
                </a:lnTo>
                <a:lnTo>
                  <a:pt x="1723" y="1332"/>
                </a:lnTo>
                <a:lnTo>
                  <a:pt x="1751" y="1358"/>
                </a:lnTo>
                <a:lnTo>
                  <a:pt x="1775" y="1388"/>
                </a:lnTo>
                <a:lnTo>
                  <a:pt x="1792" y="1419"/>
                </a:lnTo>
                <a:lnTo>
                  <a:pt x="1805" y="1449"/>
                </a:lnTo>
                <a:lnTo>
                  <a:pt x="1809" y="1466"/>
                </a:lnTo>
                <a:lnTo>
                  <a:pt x="1813" y="1481"/>
                </a:lnTo>
                <a:lnTo>
                  <a:pt x="1816" y="1499"/>
                </a:lnTo>
                <a:lnTo>
                  <a:pt x="1816" y="1516"/>
                </a:lnTo>
                <a:lnTo>
                  <a:pt x="1816" y="1516"/>
                </a:lnTo>
                <a:lnTo>
                  <a:pt x="1816" y="1531"/>
                </a:lnTo>
                <a:lnTo>
                  <a:pt x="1813" y="1548"/>
                </a:lnTo>
                <a:lnTo>
                  <a:pt x="1807" y="1581"/>
                </a:lnTo>
                <a:lnTo>
                  <a:pt x="1794" y="1611"/>
                </a:lnTo>
                <a:lnTo>
                  <a:pt x="1777" y="1641"/>
                </a:lnTo>
                <a:lnTo>
                  <a:pt x="1755" y="1669"/>
                </a:lnTo>
                <a:lnTo>
                  <a:pt x="1729" y="1697"/>
                </a:lnTo>
                <a:lnTo>
                  <a:pt x="1697" y="1723"/>
                </a:lnTo>
                <a:lnTo>
                  <a:pt x="1660" y="1747"/>
                </a:lnTo>
                <a:lnTo>
                  <a:pt x="1660" y="1747"/>
                </a:lnTo>
                <a:lnTo>
                  <a:pt x="1656" y="1749"/>
                </a:lnTo>
                <a:lnTo>
                  <a:pt x="1656" y="1749"/>
                </a:lnTo>
                <a:lnTo>
                  <a:pt x="1619" y="1768"/>
                </a:lnTo>
                <a:lnTo>
                  <a:pt x="1578" y="1788"/>
                </a:lnTo>
                <a:lnTo>
                  <a:pt x="1535" y="1801"/>
                </a:lnTo>
                <a:lnTo>
                  <a:pt x="1490" y="1814"/>
                </a:lnTo>
                <a:lnTo>
                  <a:pt x="1444" y="1825"/>
                </a:lnTo>
                <a:lnTo>
                  <a:pt x="1397" y="1831"/>
                </a:lnTo>
                <a:lnTo>
                  <a:pt x="1347" y="1835"/>
                </a:lnTo>
                <a:lnTo>
                  <a:pt x="1295" y="1838"/>
                </a:lnTo>
                <a:lnTo>
                  <a:pt x="1295" y="1838"/>
                </a:lnTo>
                <a:lnTo>
                  <a:pt x="1246" y="1835"/>
                </a:lnTo>
                <a:lnTo>
                  <a:pt x="1196" y="1831"/>
                </a:lnTo>
                <a:lnTo>
                  <a:pt x="1149" y="1825"/>
                </a:lnTo>
                <a:lnTo>
                  <a:pt x="1101" y="1814"/>
                </a:lnTo>
                <a:lnTo>
                  <a:pt x="1056" y="1801"/>
                </a:lnTo>
                <a:lnTo>
                  <a:pt x="1015" y="1788"/>
                </a:lnTo>
                <a:lnTo>
                  <a:pt x="974" y="1771"/>
                </a:lnTo>
                <a:lnTo>
                  <a:pt x="935" y="1749"/>
                </a:lnTo>
                <a:lnTo>
                  <a:pt x="829" y="1689"/>
                </a:lnTo>
                <a:lnTo>
                  <a:pt x="829" y="1689"/>
                </a:lnTo>
                <a:lnTo>
                  <a:pt x="807" y="1678"/>
                </a:lnTo>
                <a:lnTo>
                  <a:pt x="786" y="1667"/>
                </a:lnTo>
                <a:lnTo>
                  <a:pt x="762" y="1660"/>
                </a:lnTo>
                <a:lnTo>
                  <a:pt x="736" y="1652"/>
                </a:lnTo>
                <a:lnTo>
                  <a:pt x="708" y="1648"/>
                </a:lnTo>
                <a:lnTo>
                  <a:pt x="680" y="1643"/>
                </a:lnTo>
                <a:lnTo>
                  <a:pt x="652" y="1641"/>
                </a:lnTo>
                <a:lnTo>
                  <a:pt x="624" y="1639"/>
                </a:lnTo>
                <a:lnTo>
                  <a:pt x="624" y="1639"/>
                </a:lnTo>
                <a:lnTo>
                  <a:pt x="594" y="1641"/>
                </a:lnTo>
                <a:lnTo>
                  <a:pt x="566" y="1643"/>
                </a:lnTo>
                <a:lnTo>
                  <a:pt x="538" y="1648"/>
                </a:lnTo>
                <a:lnTo>
                  <a:pt x="512" y="1652"/>
                </a:lnTo>
                <a:lnTo>
                  <a:pt x="486" y="1660"/>
                </a:lnTo>
                <a:lnTo>
                  <a:pt x="462" y="1667"/>
                </a:lnTo>
                <a:lnTo>
                  <a:pt x="438" y="1678"/>
                </a:lnTo>
                <a:lnTo>
                  <a:pt x="419" y="1689"/>
                </a:lnTo>
                <a:lnTo>
                  <a:pt x="419" y="1689"/>
                </a:lnTo>
                <a:lnTo>
                  <a:pt x="402" y="1699"/>
                </a:lnTo>
                <a:lnTo>
                  <a:pt x="386" y="1710"/>
                </a:lnTo>
                <a:lnTo>
                  <a:pt x="376" y="1721"/>
                </a:lnTo>
                <a:lnTo>
                  <a:pt x="365" y="1734"/>
                </a:lnTo>
                <a:lnTo>
                  <a:pt x="356" y="1745"/>
                </a:lnTo>
                <a:lnTo>
                  <a:pt x="350" y="1758"/>
                </a:lnTo>
                <a:lnTo>
                  <a:pt x="348" y="1771"/>
                </a:lnTo>
                <a:lnTo>
                  <a:pt x="345" y="1781"/>
                </a:lnTo>
                <a:lnTo>
                  <a:pt x="345" y="1781"/>
                </a:lnTo>
                <a:lnTo>
                  <a:pt x="348" y="1794"/>
                </a:lnTo>
                <a:lnTo>
                  <a:pt x="352" y="1807"/>
                </a:lnTo>
                <a:lnTo>
                  <a:pt x="356" y="1820"/>
                </a:lnTo>
                <a:lnTo>
                  <a:pt x="365" y="1833"/>
                </a:lnTo>
                <a:lnTo>
                  <a:pt x="376" y="1844"/>
                </a:lnTo>
                <a:lnTo>
                  <a:pt x="389" y="1855"/>
                </a:lnTo>
                <a:lnTo>
                  <a:pt x="404" y="1868"/>
                </a:lnTo>
                <a:lnTo>
                  <a:pt x="419" y="1876"/>
                </a:lnTo>
                <a:lnTo>
                  <a:pt x="2990" y="3377"/>
                </a:lnTo>
                <a:lnTo>
                  <a:pt x="2457" y="3377"/>
                </a:lnTo>
                <a:lnTo>
                  <a:pt x="194" y="2058"/>
                </a:lnTo>
                <a:close/>
              </a:path>
            </a:pathLst>
          </a:custGeom>
          <a:gradFill>
            <a:gsLst>
              <a:gs pos="0">
                <a:schemeClr val="accent1">
                  <a:lumMod val="40000"/>
                  <a:lumOff val="60000"/>
                </a:schemeClr>
              </a:gs>
              <a:gs pos="100000">
                <a:schemeClr val="accent1">
                  <a:lumMod val="20000"/>
                  <a:lumOff val="80000"/>
                </a:schemeClr>
              </a:gs>
            </a:gsLst>
            <a:lin ang="0"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grpSp>
        <p:nvGrpSpPr>
          <p:cNvPr id="345" name="Group 149"/>
          <p:cNvGrpSpPr/>
          <p:nvPr>
            <p:custDataLst>
              <p:tags r:id="rId2"/>
            </p:custDataLst>
          </p:nvPr>
        </p:nvGrpSpPr>
        <p:grpSpPr>
          <a:xfrm rot="300000">
            <a:off x="10188575" y="1070610"/>
            <a:ext cx="1720215" cy="2934970"/>
            <a:chOff x="10452880" y="-124430"/>
            <a:chExt cx="1447917" cy="2486541"/>
          </a:xfrm>
        </p:grpSpPr>
        <p:sp>
          <p:nvSpPr>
            <p:cNvPr id="346" name="Freeform 1267"/>
            <p:cNvSpPr/>
            <p:nvPr>
              <p:custDataLst>
                <p:tags r:id="rId3"/>
              </p:custDataLst>
            </p:nvPr>
          </p:nvSpPr>
          <p:spPr bwMode="auto">
            <a:xfrm rot="7200000">
              <a:off x="11540251" y="1559694"/>
              <a:ext cx="44779" cy="23989"/>
            </a:xfrm>
            <a:custGeom>
              <a:avLst/>
              <a:gdLst>
                <a:gd name="T0" fmla="*/ 0 w 28"/>
                <a:gd name="T1" fmla="*/ 6 h 15"/>
                <a:gd name="T2" fmla="*/ 17 w 28"/>
                <a:gd name="T3" fmla="*/ 15 h 15"/>
                <a:gd name="T4" fmla="*/ 28 w 28"/>
                <a:gd name="T5" fmla="*/ 10 h 15"/>
                <a:gd name="T6" fmla="*/ 11 w 28"/>
                <a:gd name="T7" fmla="*/ 0 h 15"/>
                <a:gd name="T8" fmla="*/ 0 w 28"/>
                <a:gd name="T9" fmla="*/ 6 h 15"/>
              </a:gdLst>
              <a:ahLst/>
              <a:cxnLst>
                <a:cxn ang="0">
                  <a:pos x="T0" y="T1"/>
                </a:cxn>
                <a:cxn ang="0">
                  <a:pos x="T2" y="T3"/>
                </a:cxn>
                <a:cxn ang="0">
                  <a:pos x="T4" y="T5"/>
                </a:cxn>
                <a:cxn ang="0">
                  <a:pos x="T6" y="T7"/>
                </a:cxn>
                <a:cxn ang="0">
                  <a:pos x="T8" y="T9"/>
                </a:cxn>
              </a:cxnLst>
              <a:rect l="0" t="0" r="r" b="b"/>
              <a:pathLst>
                <a:path w="28" h="15">
                  <a:moveTo>
                    <a:pt x="0" y="6"/>
                  </a:moveTo>
                  <a:lnTo>
                    <a:pt x="17" y="15"/>
                  </a:lnTo>
                  <a:lnTo>
                    <a:pt x="28" y="10"/>
                  </a:lnTo>
                  <a:lnTo>
                    <a:pt x="11"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47" name="Freeform 1268"/>
            <p:cNvSpPr/>
            <p:nvPr>
              <p:custDataLst>
                <p:tags r:id="rId4"/>
              </p:custDataLst>
            </p:nvPr>
          </p:nvSpPr>
          <p:spPr bwMode="auto">
            <a:xfrm rot="7200000">
              <a:off x="11452751" y="1608895"/>
              <a:ext cx="44779" cy="23989"/>
            </a:xfrm>
            <a:custGeom>
              <a:avLst/>
              <a:gdLst>
                <a:gd name="T0" fmla="*/ 0 w 28"/>
                <a:gd name="T1" fmla="*/ 6 h 15"/>
                <a:gd name="T2" fmla="*/ 17 w 28"/>
                <a:gd name="T3" fmla="*/ 15 h 15"/>
                <a:gd name="T4" fmla="*/ 28 w 28"/>
                <a:gd name="T5" fmla="*/ 9 h 15"/>
                <a:gd name="T6" fmla="*/ 11 w 28"/>
                <a:gd name="T7" fmla="*/ 0 h 15"/>
                <a:gd name="T8" fmla="*/ 0 w 28"/>
                <a:gd name="T9" fmla="*/ 6 h 15"/>
              </a:gdLst>
              <a:ahLst/>
              <a:cxnLst>
                <a:cxn ang="0">
                  <a:pos x="T0" y="T1"/>
                </a:cxn>
                <a:cxn ang="0">
                  <a:pos x="T2" y="T3"/>
                </a:cxn>
                <a:cxn ang="0">
                  <a:pos x="T4" y="T5"/>
                </a:cxn>
                <a:cxn ang="0">
                  <a:pos x="T6" y="T7"/>
                </a:cxn>
                <a:cxn ang="0">
                  <a:pos x="T8" y="T9"/>
                </a:cxn>
              </a:cxnLst>
              <a:rect l="0" t="0" r="r" b="b"/>
              <a:pathLst>
                <a:path w="28" h="15">
                  <a:moveTo>
                    <a:pt x="0" y="6"/>
                  </a:moveTo>
                  <a:lnTo>
                    <a:pt x="17" y="15"/>
                  </a:lnTo>
                  <a:lnTo>
                    <a:pt x="28" y="9"/>
                  </a:lnTo>
                  <a:lnTo>
                    <a:pt x="11"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48" name="Freeform: Shape 1433"/>
            <p:cNvSpPr/>
            <p:nvPr>
              <p:custDataLst>
                <p:tags r:id="rId5"/>
              </p:custDataLst>
            </p:nvPr>
          </p:nvSpPr>
          <p:spPr bwMode="auto">
            <a:xfrm rot="7200000">
              <a:off x="9933568" y="394882"/>
              <a:ext cx="2486541" cy="1447917"/>
            </a:xfrm>
            <a:custGeom>
              <a:avLst/>
              <a:gdLst>
                <a:gd name="connsiteX0" fmla="*/ 0 w 2486541"/>
                <a:gd name="connsiteY0" fmla="*/ 248816 h 1447917"/>
                <a:gd name="connsiteX1" fmla="*/ 430962 w 2486541"/>
                <a:gd name="connsiteY1" fmla="*/ 0 h 1447917"/>
                <a:gd name="connsiteX2" fmla="*/ 2486541 w 2486541"/>
                <a:gd name="connsiteY2" fmla="*/ 1200087 h 1447917"/>
                <a:gd name="connsiteX3" fmla="*/ 2057288 w 2486541"/>
                <a:gd name="connsiteY3" fmla="*/ 1447917 h 1447917"/>
              </a:gdLst>
              <a:ahLst/>
              <a:cxnLst>
                <a:cxn ang="0">
                  <a:pos x="connsiteX0" y="connsiteY0"/>
                </a:cxn>
                <a:cxn ang="0">
                  <a:pos x="connsiteX1" y="connsiteY1"/>
                </a:cxn>
                <a:cxn ang="0">
                  <a:pos x="connsiteX2" y="connsiteY2"/>
                </a:cxn>
                <a:cxn ang="0">
                  <a:pos x="connsiteX3" y="connsiteY3"/>
                </a:cxn>
              </a:cxnLst>
              <a:rect l="l" t="t" r="r" b="b"/>
              <a:pathLst>
                <a:path w="2486541" h="1447917">
                  <a:moveTo>
                    <a:pt x="0" y="248816"/>
                  </a:moveTo>
                  <a:lnTo>
                    <a:pt x="430962" y="0"/>
                  </a:lnTo>
                  <a:lnTo>
                    <a:pt x="2486541" y="1200087"/>
                  </a:lnTo>
                  <a:lnTo>
                    <a:pt x="2057288" y="1447917"/>
                  </a:lnTo>
                  <a:close/>
                </a:path>
              </a:pathLst>
            </a:custGeom>
            <a:solidFill>
              <a:schemeClr val="accent1">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en-US" dirty="0">
                <a:latin typeface="微软雅黑" panose="020B0503020204020204" charset="-122"/>
                <a:ea typeface="微软雅黑" panose="020B0503020204020204" charset="-122"/>
                <a:cs typeface="微软雅黑" panose="020B0503020204020204" charset="-122"/>
              </a:endParaRPr>
            </a:p>
          </p:txBody>
        </p:sp>
      </p:grp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个人发展</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五年规划</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grpSp>
        <p:nvGrpSpPr>
          <p:cNvPr id="342" name="组合 341"/>
          <p:cNvGrpSpPr/>
          <p:nvPr>
            <p:custDataLst>
              <p:tags r:id="rId6"/>
            </p:custDataLst>
          </p:nvPr>
        </p:nvGrpSpPr>
        <p:grpSpPr>
          <a:xfrm>
            <a:off x="1976755" y="2323465"/>
            <a:ext cx="9441180" cy="5522595"/>
            <a:chOff x="3113" y="2843"/>
            <a:chExt cx="14868" cy="8697"/>
          </a:xfrm>
        </p:grpSpPr>
        <p:sp>
          <p:nvSpPr>
            <p:cNvPr id="22" name="Freeform 1229"/>
            <p:cNvSpPr/>
            <p:nvPr>
              <p:custDataLst>
                <p:tags r:id="rId7"/>
              </p:custDataLst>
            </p:nvPr>
          </p:nvSpPr>
          <p:spPr bwMode="auto">
            <a:xfrm rot="300000">
              <a:off x="4225" y="8978"/>
              <a:ext cx="84" cy="45"/>
            </a:xfrm>
            <a:custGeom>
              <a:avLst/>
              <a:gdLst>
                <a:gd name="T0" fmla="*/ 28 w 28"/>
                <a:gd name="T1" fmla="*/ 11 h 15"/>
                <a:gd name="T2" fmla="*/ 10 w 28"/>
                <a:gd name="T3" fmla="*/ 0 h 15"/>
                <a:gd name="T4" fmla="*/ 0 w 28"/>
                <a:gd name="T5" fmla="*/ 7 h 15"/>
                <a:gd name="T6" fmla="*/ 17 w 28"/>
                <a:gd name="T7" fmla="*/ 15 h 15"/>
                <a:gd name="T8" fmla="*/ 28 w 28"/>
                <a:gd name="T9" fmla="*/ 11 h 15"/>
              </a:gdLst>
              <a:ahLst/>
              <a:cxnLst>
                <a:cxn ang="0">
                  <a:pos x="T0" y="T1"/>
                </a:cxn>
                <a:cxn ang="0">
                  <a:pos x="T2" y="T3"/>
                </a:cxn>
                <a:cxn ang="0">
                  <a:pos x="T4" y="T5"/>
                </a:cxn>
                <a:cxn ang="0">
                  <a:pos x="T6" y="T7"/>
                </a:cxn>
                <a:cxn ang="0">
                  <a:pos x="T8" y="T9"/>
                </a:cxn>
              </a:cxnLst>
              <a:rect l="0" t="0" r="r" b="b"/>
              <a:pathLst>
                <a:path w="28" h="15">
                  <a:moveTo>
                    <a:pt x="28" y="11"/>
                  </a:moveTo>
                  <a:lnTo>
                    <a:pt x="10" y="0"/>
                  </a:lnTo>
                  <a:lnTo>
                    <a:pt x="0" y="7"/>
                  </a:lnTo>
                  <a:lnTo>
                    <a:pt x="17" y="15"/>
                  </a:lnTo>
                  <a:lnTo>
                    <a:pt x="28" y="1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3" name="Freeform 1230"/>
            <p:cNvSpPr/>
            <p:nvPr>
              <p:custDataLst>
                <p:tags r:id="rId8"/>
              </p:custDataLst>
            </p:nvPr>
          </p:nvSpPr>
          <p:spPr bwMode="auto">
            <a:xfrm rot="300000">
              <a:off x="4395" y="9097"/>
              <a:ext cx="84" cy="51"/>
            </a:xfrm>
            <a:custGeom>
              <a:avLst/>
              <a:gdLst>
                <a:gd name="T0" fmla="*/ 0 w 28"/>
                <a:gd name="T1" fmla="*/ 6 h 17"/>
                <a:gd name="T2" fmla="*/ 17 w 28"/>
                <a:gd name="T3" fmla="*/ 17 h 17"/>
                <a:gd name="T4" fmla="*/ 28 w 28"/>
                <a:gd name="T5" fmla="*/ 11 h 17"/>
                <a:gd name="T6" fmla="*/ 11 w 28"/>
                <a:gd name="T7" fmla="*/ 0 h 17"/>
                <a:gd name="T8" fmla="*/ 0 w 28"/>
                <a:gd name="T9" fmla="*/ 6 h 17"/>
              </a:gdLst>
              <a:ahLst/>
              <a:cxnLst>
                <a:cxn ang="0">
                  <a:pos x="T0" y="T1"/>
                </a:cxn>
                <a:cxn ang="0">
                  <a:pos x="T2" y="T3"/>
                </a:cxn>
                <a:cxn ang="0">
                  <a:pos x="T4" y="T5"/>
                </a:cxn>
                <a:cxn ang="0">
                  <a:pos x="T6" y="T7"/>
                </a:cxn>
                <a:cxn ang="0">
                  <a:pos x="T8" y="T9"/>
                </a:cxn>
              </a:cxnLst>
              <a:rect l="0" t="0" r="r" b="b"/>
              <a:pathLst>
                <a:path w="28" h="17">
                  <a:moveTo>
                    <a:pt x="0" y="6"/>
                  </a:moveTo>
                  <a:lnTo>
                    <a:pt x="17" y="17"/>
                  </a:lnTo>
                  <a:lnTo>
                    <a:pt x="28" y="11"/>
                  </a:lnTo>
                  <a:lnTo>
                    <a:pt x="11"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4" name="Freeform 1231"/>
            <p:cNvSpPr/>
            <p:nvPr/>
          </p:nvSpPr>
          <p:spPr bwMode="auto">
            <a:xfrm rot="300000">
              <a:off x="4553" y="9207"/>
              <a:ext cx="84" cy="45"/>
            </a:xfrm>
            <a:custGeom>
              <a:avLst/>
              <a:gdLst>
                <a:gd name="T0" fmla="*/ 0 w 28"/>
                <a:gd name="T1" fmla="*/ 7 h 15"/>
                <a:gd name="T2" fmla="*/ 17 w 28"/>
                <a:gd name="T3" fmla="*/ 15 h 15"/>
                <a:gd name="T4" fmla="*/ 28 w 28"/>
                <a:gd name="T5" fmla="*/ 11 h 15"/>
                <a:gd name="T6" fmla="*/ 11 w 28"/>
                <a:gd name="T7" fmla="*/ 0 h 15"/>
                <a:gd name="T8" fmla="*/ 0 w 28"/>
                <a:gd name="T9" fmla="*/ 7 h 15"/>
              </a:gdLst>
              <a:ahLst/>
              <a:cxnLst>
                <a:cxn ang="0">
                  <a:pos x="T0" y="T1"/>
                </a:cxn>
                <a:cxn ang="0">
                  <a:pos x="T2" y="T3"/>
                </a:cxn>
                <a:cxn ang="0">
                  <a:pos x="T4" y="T5"/>
                </a:cxn>
                <a:cxn ang="0">
                  <a:pos x="T6" y="T7"/>
                </a:cxn>
                <a:cxn ang="0">
                  <a:pos x="T8" y="T9"/>
                </a:cxn>
              </a:cxnLst>
              <a:rect l="0" t="0" r="r" b="b"/>
              <a:pathLst>
                <a:path w="28" h="15">
                  <a:moveTo>
                    <a:pt x="0" y="7"/>
                  </a:moveTo>
                  <a:lnTo>
                    <a:pt x="17" y="15"/>
                  </a:lnTo>
                  <a:lnTo>
                    <a:pt x="28" y="11"/>
                  </a:lnTo>
                  <a:lnTo>
                    <a:pt x="11" y="0"/>
                  </a:lnTo>
                  <a:lnTo>
                    <a:pt x="0" y="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50" name="Freeform 1269"/>
            <p:cNvSpPr/>
            <p:nvPr>
              <p:custDataLst>
                <p:tags r:id="rId9"/>
              </p:custDataLst>
            </p:nvPr>
          </p:nvSpPr>
          <p:spPr bwMode="auto">
            <a:xfrm rot="300000">
              <a:off x="4052" y="8862"/>
              <a:ext cx="84" cy="45"/>
            </a:xfrm>
            <a:custGeom>
              <a:avLst/>
              <a:gdLst>
                <a:gd name="T0" fmla="*/ 0 w 28"/>
                <a:gd name="T1" fmla="*/ 6 h 15"/>
                <a:gd name="T2" fmla="*/ 17 w 28"/>
                <a:gd name="T3" fmla="*/ 15 h 15"/>
                <a:gd name="T4" fmla="*/ 28 w 28"/>
                <a:gd name="T5" fmla="*/ 8 h 15"/>
                <a:gd name="T6" fmla="*/ 11 w 28"/>
                <a:gd name="T7" fmla="*/ 0 h 15"/>
                <a:gd name="T8" fmla="*/ 0 w 28"/>
                <a:gd name="T9" fmla="*/ 6 h 15"/>
              </a:gdLst>
              <a:ahLst/>
              <a:cxnLst>
                <a:cxn ang="0">
                  <a:pos x="T0" y="T1"/>
                </a:cxn>
                <a:cxn ang="0">
                  <a:pos x="T2" y="T3"/>
                </a:cxn>
                <a:cxn ang="0">
                  <a:pos x="T4" y="T5"/>
                </a:cxn>
                <a:cxn ang="0">
                  <a:pos x="T6" y="T7"/>
                </a:cxn>
                <a:cxn ang="0">
                  <a:pos x="T8" y="T9"/>
                </a:cxn>
              </a:cxnLst>
              <a:rect l="0" t="0" r="r" b="b"/>
              <a:pathLst>
                <a:path w="28" h="15">
                  <a:moveTo>
                    <a:pt x="0" y="6"/>
                  </a:moveTo>
                  <a:lnTo>
                    <a:pt x="17" y="15"/>
                  </a:lnTo>
                  <a:lnTo>
                    <a:pt x="28" y="8"/>
                  </a:lnTo>
                  <a:lnTo>
                    <a:pt x="11"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51" name="Freeform 1270"/>
            <p:cNvSpPr/>
            <p:nvPr>
              <p:custDataLst>
                <p:tags r:id="rId10"/>
              </p:custDataLst>
            </p:nvPr>
          </p:nvSpPr>
          <p:spPr bwMode="auto">
            <a:xfrm rot="300000">
              <a:off x="3709" y="8626"/>
              <a:ext cx="84" cy="45"/>
            </a:xfrm>
            <a:custGeom>
              <a:avLst/>
              <a:gdLst>
                <a:gd name="T0" fmla="*/ 28 w 28"/>
                <a:gd name="T1" fmla="*/ 8 h 15"/>
                <a:gd name="T2" fmla="*/ 11 w 28"/>
                <a:gd name="T3" fmla="*/ 0 h 15"/>
                <a:gd name="T4" fmla="*/ 0 w 28"/>
                <a:gd name="T5" fmla="*/ 4 h 15"/>
                <a:gd name="T6" fmla="*/ 17 w 28"/>
                <a:gd name="T7" fmla="*/ 15 h 15"/>
                <a:gd name="T8" fmla="*/ 28 w 28"/>
                <a:gd name="T9" fmla="*/ 8 h 15"/>
              </a:gdLst>
              <a:ahLst/>
              <a:cxnLst>
                <a:cxn ang="0">
                  <a:pos x="T0" y="T1"/>
                </a:cxn>
                <a:cxn ang="0">
                  <a:pos x="T2" y="T3"/>
                </a:cxn>
                <a:cxn ang="0">
                  <a:pos x="T4" y="T5"/>
                </a:cxn>
                <a:cxn ang="0">
                  <a:pos x="T6" y="T7"/>
                </a:cxn>
                <a:cxn ang="0">
                  <a:pos x="T8" y="T9"/>
                </a:cxn>
              </a:cxnLst>
              <a:rect l="0" t="0" r="r" b="b"/>
              <a:pathLst>
                <a:path w="28" h="15">
                  <a:moveTo>
                    <a:pt x="28" y="8"/>
                  </a:moveTo>
                  <a:lnTo>
                    <a:pt x="11" y="0"/>
                  </a:lnTo>
                  <a:lnTo>
                    <a:pt x="0" y="4"/>
                  </a:lnTo>
                  <a:lnTo>
                    <a:pt x="17" y="15"/>
                  </a:lnTo>
                  <a:lnTo>
                    <a:pt x="28"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52" name="Freeform 1271"/>
            <p:cNvSpPr/>
            <p:nvPr>
              <p:custDataLst>
                <p:tags r:id="rId11"/>
              </p:custDataLst>
            </p:nvPr>
          </p:nvSpPr>
          <p:spPr bwMode="auto">
            <a:xfrm rot="300000">
              <a:off x="3882" y="8742"/>
              <a:ext cx="84" cy="45"/>
            </a:xfrm>
            <a:custGeom>
              <a:avLst/>
              <a:gdLst>
                <a:gd name="T0" fmla="*/ 28 w 28"/>
                <a:gd name="T1" fmla="*/ 9 h 15"/>
                <a:gd name="T2" fmla="*/ 10 w 28"/>
                <a:gd name="T3" fmla="*/ 0 h 15"/>
                <a:gd name="T4" fmla="*/ 0 w 28"/>
                <a:gd name="T5" fmla="*/ 4 h 15"/>
                <a:gd name="T6" fmla="*/ 17 w 28"/>
                <a:gd name="T7" fmla="*/ 15 h 15"/>
                <a:gd name="T8" fmla="*/ 28 w 28"/>
                <a:gd name="T9" fmla="*/ 9 h 15"/>
              </a:gdLst>
              <a:ahLst/>
              <a:cxnLst>
                <a:cxn ang="0">
                  <a:pos x="T0" y="T1"/>
                </a:cxn>
                <a:cxn ang="0">
                  <a:pos x="T2" y="T3"/>
                </a:cxn>
                <a:cxn ang="0">
                  <a:pos x="T4" y="T5"/>
                </a:cxn>
                <a:cxn ang="0">
                  <a:pos x="T6" y="T7"/>
                </a:cxn>
                <a:cxn ang="0">
                  <a:pos x="T8" y="T9"/>
                </a:cxn>
              </a:cxnLst>
              <a:rect l="0" t="0" r="r" b="b"/>
              <a:pathLst>
                <a:path w="28" h="15">
                  <a:moveTo>
                    <a:pt x="28" y="9"/>
                  </a:moveTo>
                  <a:lnTo>
                    <a:pt x="10" y="0"/>
                  </a:lnTo>
                  <a:lnTo>
                    <a:pt x="0" y="4"/>
                  </a:lnTo>
                  <a:lnTo>
                    <a:pt x="17" y="15"/>
                  </a:lnTo>
                  <a:lnTo>
                    <a:pt x="28" y="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53" name="Freeform 1272"/>
            <p:cNvSpPr/>
            <p:nvPr>
              <p:custDataLst>
                <p:tags r:id="rId12"/>
              </p:custDataLst>
            </p:nvPr>
          </p:nvSpPr>
          <p:spPr bwMode="auto">
            <a:xfrm rot="300000">
              <a:off x="3540" y="8500"/>
              <a:ext cx="84" cy="51"/>
            </a:xfrm>
            <a:custGeom>
              <a:avLst/>
              <a:gdLst>
                <a:gd name="T0" fmla="*/ 0 w 28"/>
                <a:gd name="T1" fmla="*/ 6 h 17"/>
                <a:gd name="T2" fmla="*/ 17 w 28"/>
                <a:gd name="T3" fmla="*/ 17 h 17"/>
                <a:gd name="T4" fmla="*/ 28 w 28"/>
                <a:gd name="T5" fmla="*/ 11 h 17"/>
                <a:gd name="T6" fmla="*/ 11 w 28"/>
                <a:gd name="T7" fmla="*/ 0 h 17"/>
                <a:gd name="T8" fmla="*/ 0 w 28"/>
                <a:gd name="T9" fmla="*/ 6 h 17"/>
              </a:gdLst>
              <a:ahLst/>
              <a:cxnLst>
                <a:cxn ang="0">
                  <a:pos x="T0" y="T1"/>
                </a:cxn>
                <a:cxn ang="0">
                  <a:pos x="T2" y="T3"/>
                </a:cxn>
                <a:cxn ang="0">
                  <a:pos x="T4" y="T5"/>
                </a:cxn>
                <a:cxn ang="0">
                  <a:pos x="T6" y="T7"/>
                </a:cxn>
                <a:cxn ang="0">
                  <a:pos x="T8" y="T9"/>
                </a:cxn>
              </a:cxnLst>
              <a:rect l="0" t="0" r="r" b="b"/>
              <a:pathLst>
                <a:path w="28" h="17">
                  <a:moveTo>
                    <a:pt x="0" y="6"/>
                  </a:moveTo>
                  <a:lnTo>
                    <a:pt x="17" y="17"/>
                  </a:lnTo>
                  <a:lnTo>
                    <a:pt x="28" y="11"/>
                  </a:lnTo>
                  <a:lnTo>
                    <a:pt x="11"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54" name="Freeform 1273"/>
            <p:cNvSpPr/>
            <p:nvPr>
              <p:custDataLst>
                <p:tags r:id="rId13"/>
              </p:custDataLst>
            </p:nvPr>
          </p:nvSpPr>
          <p:spPr bwMode="auto">
            <a:xfrm rot="300000">
              <a:off x="3243" y="8247"/>
              <a:ext cx="72" cy="54"/>
            </a:xfrm>
            <a:custGeom>
              <a:avLst/>
              <a:gdLst>
                <a:gd name="T0" fmla="*/ 24 w 24"/>
                <a:gd name="T1" fmla="*/ 13 h 18"/>
                <a:gd name="T2" fmla="*/ 11 w 24"/>
                <a:gd name="T3" fmla="*/ 0 h 18"/>
                <a:gd name="T4" fmla="*/ 0 w 24"/>
                <a:gd name="T5" fmla="*/ 5 h 18"/>
                <a:gd name="T6" fmla="*/ 11 w 24"/>
                <a:gd name="T7" fmla="*/ 18 h 18"/>
                <a:gd name="T8" fmla="*/ 24 w 24"/>
                <a:gd name="T9" fmla="*/ 13 h 18"/>
              </a:gdLst>
              <a:ahLst/>
              <a:cxnLst>
                <a:cxn ang="0">
                  <a:pos x="T0" y="T1"/>
                </a:cxn>
                <a:cxn ang="0">
                  <a:pos x="T2" y="T3"/>
                </a:cxn>
                <a:cxn ang="0">
                  <a:pos x="T4" y="T5"/>
                </a:cxn>
                <a:cxn ang="0">
                  <a:pos x="T6" y="T7"/>
                </a:cxn>
                <a:cxn ang="0">
                  <a:pos x="T8" y="T9"/>
                </a:cxn>
              </a:cxnLst>
              <a:rect l="0" t="0" r="r" b="b"/>
              <a:pathLst>
                <a:path w="24" h="18">
                  <a:moveTo>
                    <a:pt x="24" y="13"/>
                  </a:moveTo>
                  <a:lnTo>
                    <a:pt x="11" y="0"/>
                  </a:lnTo>
                  <a:lnTo>
                    <a:pt x="0" y="5"/>
                  </a:lnTo>
                  <a:lnTo>
                    <a:pt x="11" y="18"/>
                  </a:lnTo>
                  <a:lnTo>
                    <a:pt x="24"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55" name="Freeform 1274"/>
            <p:cNvSpPr/>
            <p:nvPr>
              <p:custDataLst>
                <p:tags r:id="rId14"/>
              </p:custDataLst>
            </p:nvPr>
          </p:nvSpPr>
          <p:spPr bwMode="auto">
            <a:xfrm rot="300000">
              <a:off x="3373" y="8381"/>
              <a:ext cx="78" cy="45"/>
            </a:xfrm>
            <a:custGeom>
              <a:avLst/>
              <a:gdLst>
                <a:gd name="T0" fmla="*/ 26 w 26"/>
                <a:gd name="T1" fmla="*/ 9 h 15"/>
                <a:gd name="T2" fmla="*/ 26 w 26"/>
                <a:gd name="T3" fmla="*/ 9 h 15"/>
                <a:gd name="T4" fmla="*/ 11 w 26"/>
                <a:gd name="T5" fmla="*/ 0 h 15"/>
                <a:gd name="T6" fmla="*/ 0 w 26"/>
                <a:gd name="T7" fmla="*/ 5 h 15"/>
                <a:gd name="T8" fmla="*/ 0 w 26"/>
                <a:gd name="T9" fmla="*/ 5 h 15"/>
                <a:gd name="T10" fmla="*/ 16 w 26"/>
                <a:gd name="T11" fmla="*/ 15 h 15"/>
                <a:gd name="T12" fmla="*/ 26 w 26"/>
                <a:gd name="T13" fmla="*/ 9 h 15"/>
              </a:gdLst>
              <a:ahLst/>
              <a:cxnLst>
                <a:cxn ang="0">
                  <a:pos x="T0" y="T1"/>
                </a:cxn>
                <a:cxn ang="0">
                  <a:pos x="T2" y="T3"/>
                </a:cxn>
                <a:cxn ang="0">
                  <a:pos x="T4" y="T5"/>
                </a:cxn>
                <a:cxn ang="0">
                  <a:pos x="T6" y="T7"/>
                </a:cxn>
                <a:cxn ang="0">
                  <a:pos x="T8" y="T9"/>
                </a:cxn>
                <a:cxn ang="0">
                  <a:pos x="T10" y="T11"/>
                </a:cxn>
                <a:cxn ang="0">
                  <a:pos x="T12" y="T13"/>
                </a:cxn>
              </a:cxnLst>
              <a:rect l="0" t="0" r="r" b="b"/>
              <a:pathLst>
                <a:path w="26" h="15">
                  <a:moveTo>
                    <a:pt x="26" y="9"/>
                  </a:moveTo>
                  <a:lnTo>
                    <a:pt x="26" y="9"/>
                  </a:lnTo>
                  <a:lnTo>
                    <a:pt x="11" y="0"/>
                  </a:lnTo>
                  <a:lnTo>
                    <a:pt x="0" y="5"/>
                  </a:lnTo>
                  <a:lnTo>
                    <a:pt x="0" y="5"/>
                  </a:lnTo>
                  <a:lnTo>
                    <a:pt x="16" y="15"/>
                  </a:lnTo>
                  <a:lnTo>
                    <a:pt x="26" y="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56" name="Freeform 1275"/>
            <p:cNvSpPr/>
            <p:nvPr>
              <p:custDataLst>
                <p:tags r:id="rId15"/>
              </p:custDataLst>
            </p:nvPr>
          </p:nvSpPr>
          <p:spPr bwMode="auto">
            <a:xfrm rot="300000">
              <a:off x="3151" y="8105"/>
              <a:ext cx="66" cy="51"/>
            </a:xfrm>
            <a:custGeom>
              <a:avLst/>
              <a:gdLst>
                <a:gd name="T0" fmla="*/ 22 w 22"/>
                <a:gd name="T1" fmla="*/ 13 h 17"/>
                <a:gd name="T2" fmla="*/ 13 w 22"/>
                <a:gd name="T3" fmla="*/ 0 h 17"/>
                <a:gd name="T4" fmla="*/ 0 w 22"/>
                <a:gd name="T5" fmla="*/ 4 h 17"/>
                <a:gd name="T6" fmla="*/ 9 w 22"/>
                <a:gd name="T7" fmla="*/ 17 h 17"/>
                <a:gd name="T8" fmla="*/ 22 w 22"/>
                <a:gd name="T9" fmla="*/ 13 h 17"/>
              </a:gdLst>
              <a:ahLst/>
              <a:cxnLst>
                <a:cxn ang="0">
                  <a:pos x="T0" y="T1"/>
                </a:cxn>
                <a:cxn ang="0">
                  <a:pos x="T2" y="T3"/>
                </a:cxn>
                <a:cxn ang="0">
                  <a:pos x="T4" y="T5"/>
                </a:cxn>
                <a:cxn ang="0">
                  <a:pos x="T6" y="T7"/>
                </a:cxn>
                <a:cxn ang="0">
                  <a:pos x="T8" y="T9"/>
                </a:cxn>
              </a:cxnLst>
              <a:rect l="0" t="0" r="r" b="b"/>
              <a:pathLst>
                <a:path w="22" h="17">
                  <a:moveTo>
                    <a:pt x="22" y="13"/>
                  </a:moveTo>
                  <a:lnTo>
                    <a:pt x="13" y="0"/>
                  </a:lnTo>
                  <a:lnTo>
                    <a:pt x="0" y="4"/>
                  </a:lnTo>
                  <a:lnTo>
                    <a:pt x="9" y="17"/>
                  </a:lnTo>
                  <a:lnTo>
                    <a:pt x="22"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57" name="Freeform 1276"/>
            <p:cNvSpPr/>
            <p:nvPr>
              <p:custDataLst>
                <p:tags r:id="rId16"/>
              </p:custDataLst>
            </p:nvPr>
          </p:nvSpPr>
          <p:spPr bwMode="auto">
            <a:xfrm rot="300000">
              <a:off x="3113" y="7817"/>
              <a:ext cx="51" cy="39"/>
            </a:xfrm>
            <a:custGeom>
              <a:avLst/>
              <a:gdLst>
                <a:gd name="T0" fmla="*/ 0 w 17"/>
                <a:gd name="T1" fmla="*/ 13 h 13"/>
                <a:gd name="T2" fmla="*/ 15 w 17"/>
                <a:gd name="T3" fmla="*/ 13 h 13"/>
                <a:gd name="T4" fmla="*/ 17 w 17"/>
                <a:gd name="T5" fmla="*/ 0 h 13"/>
                <a:gd name="T6" fmla="*/ 2 w 17"/>
                <a:gd name="T7" fmla="*/ 0 h 13"/>
                <a:gd name="T8" fmla="*/ 0 w 17"/>
                <a:gd name="T9" fmla="*/ 13 h 13"/>
              </a:gdLst>
              <a:ahLst/>
              <a:cxnLst>
                <a:cxn ang="0">
                  <a:pos x="T0" y="T1"/>
                </a:cxn>
                <a:cxn ang="0">
                  <a:pos x="T2" y="T3"/>
                </a:cxn>
                <a:cxn ang="0">
                  <a:pos x="T4" y="T5"/>
                </a:cxn>
                <a:cxn ang="0">
                  <a:pos x="T6" y="T7"/>
                </a:cxn>
                <a:cxn ang="0">
                  <a:pos x="T8" y="T9"/>
                </a:cxn>
              </a:cxnLst>
              <a:rect l="0" t="0" r="r" b="b"/>
              <a:pathLst>
                <a:path w="17" h="13">
                  <a:moveTo>
                    <a:pt x="0" y="13"/>
                  </a:moveTo>
                  <a:lnTo>
                    <a:pt x="15" y="13"/>
                  </a:lnTo>
                  <a:lnTo>
                    <a:pt x="17" y="0"/>
                  </a:lnTo>
                  <a:lnTo>
                    <a:pt x="2" y="0"/>
                  </a:lnTo>
                  <a:lnTo>
                    <a:pt x="0"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58" name="Freeform 1277"/>
            <p:cNvSpPr/>
            <p:nvPr>
              <p:custDataLst>
                <p:tags r:id="rId17"/>
              </p:custDataLst>
            </p:nvPr>
          </p:nvSpPr>
          <p:spPr bwMode="auto">
            <a:xfrm rot="300000">
              <a:off x="3113" y="7957"/>
              <a:ext cx="51" cy="48"/>
            </a:xfrm>
            <a:custGeom>
              <a:avLst/>
              <a:gdLst>
                <a:gd name="T0" fmla="*/ 2 w 17"/>
                <a:gd name="T1" fmla="*/ 16 h 16"/>
                <a:gd name="T2" fmla="*/ 17 w 17"/>
                <a:gd name="T3" fmla="*/ 16 h 16"/>
                <a:gd name="T4" fmla="*/ 13 w 17"/>
                <a:gd name="T5" fmla="*/ 0 h 16"/>
                <a:gd name="T6" fmla="*/ 0 w 17"/>
                <a:gd name="T7" fmla="*/ 3 h 16"/>
                <a:gd name="T8" fmla="*/ 2 w 17"/>
                <a:gd name="T9" fmla="*/ 16 h 16"/>
              </a:gdLst>
              <a:ahLst/>
              <a:cxnLst>
                <a:cxn ang="0">
                  <a:pos x="T0" y="T1"/>
                </a:cxn>
                <a:cxn ang="0">
                  <a:pos x="T2" y="T3"/>
                </a:cxn>
                <a:cxn ang="0">
                  <a:pos x="T4" y="T5"/>
                </a:cxn>
                <a:cxn ang="0">
                  <a:pos x="T6" y="T7"/>
                </a:cxn>
                <a:cxn ang="0">
                  <a:pos x="T8" y="T9"/>
                </a:cxn>
              </a:cxnLst>
              <a:rect l="0" t="0" r="r" b="b"/>
              <a:pathLst>
                <a:path w="17" h="16">
                  <a:moveTo>
                    <a:pt x="2" y="16"/>
                  </a:moveTo>
                  <a:lnTo>
                    <a:pt x="17" y="16"/>
                  </a:lnTo>
                  <a:lnTo>
                    <a:pt x="13" y="0"/>
                  </a:lnTo>
                  <a:lnTo>
                    <a:pt x="0" y="3"/>
                  </a:lnTo>
                  <a:lnTo>
                    <a:pt x="2" y="1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59" name="Freeform 1278"/>
            <p:cNvSpPr/>
            <p:nvPr>
              <p:custDataLst>
                <p:tags r:id="rId18"/>
              </p:custDataLst>
            </p:nvPr>
          </p:nvSpPr>
          <p:spPr bwMode="auto">
            <a:xfrm rot="300000">
              <a:off x="3159" y="7672"/>
              <a:ext cx="57" cy="45"/>
            </a:xfrm>
            <a:custGeom>
              <a:avLst/>
              <a:gdLst>
                <a:gd name="T0" fmla="*/ 0 w 19"/>
                <a:gd name="T1" fmla="*/ 13 h 15"/>
                <a:gd name="T2" fmla="*/ 15 w 19"/>
                <a:gd name="T3" fmla="*/ 15 h 15"/>
                <a:gd name="T4" fmla="*/ 19 w 19"/>
                <a:gd name="T5" fmla="*/ 2 h 15"/>
                <a:gd name="T6" fmla="*/ 6 w 19"/>
                <a:gd name="T7" fmla="*/ 0 h 15"/>
                <a:gd name="T8" fmla="*/ 0 w 19"/>
                <a:gd name="T9" fmla="*/ 13 h 15"/>
              </a:gdLst>
              <a:ahLst/>
              <a:cxnLst>
                <a:cxn ang="0">
                  <a:pos x="T0" y="T1"/>
                </a:cxn>
                <a:cxn ang="0">
                  <a:pos x="T2" y="T3"/>
                </a:cxn>
                <a:cxn ang="0">
                  <a:pos x="T4" y="T5"/>
                </a:cxn>
                <a:cxn ang="0">
                  <a:pos x="T6" y="T7"/>
                </a:cxn>
                <a:cxn ang="0">
                  <a:pos x="T8" y="T9"/>
                </a:cxn>
              </a:cxnLst>
              <a:rect l="0" t="0" r="r" b="b"/>
              <a:pathLst>
                <a:path w="19" h="15">
                  <a:moveTo>
                    <a:pt x="0" y="13"/>
                  </a:moveTo>
                  <a:lnTo>
                    <a:pt x="15" y="15"/>
                  </a:lnTo>
                  <a:lnTo>
                    <a:pt x="19" y="2"/>
                  </a:lnTo>
                  <a:lnTo>
                    <a:pt x="6" y="0"/>
                  </a:lnTo>
                  <a:lnTo>
                    <a:pt x="0"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60" name="Freeform 1279"/>
            <p:cNvSpPr/>
            <p:nvPr>
              <p:custDataLst>
                <p:tags r:id="rId19"/>
              </p:custDataLst>
            </p:nvPr>
          </p:nvSpPr>
          <p:spPr bwMode="auto">
            <a:xfrm rot="300000">
              <a:off x="3381" y="7430"/>
              <a:ext cx="75" cy="45"/>
            </a:xfrm>
            <a:custGeom>
              <a:avLst/>
              <a:gdLst>
                <a:gd name="T0" fmla="*/ 25 w 25"/>
                <a:gd name="T1" fmla="*/ 4 h 15"/>
                <a:gd name="T2" fmla="*/ 12 w 25"/>
                <a:gd name="T3" fmla="*/ 0 h 15"/>
                <a:gd name="T4" fmla="*/ 0 w 25"/>
                <a:gd name="T5" fmla="*/ 11 h 15"/>
                <a:gd name="T6" fmla="*/ 10 w 25"/>
                <a:gd name="T7" fmla="*/ 15 h 15"/>
                <a:gd name="T8" fmla="*/ 25 w 25"/>
                <a:gd name="T9" fmla="*/ 4 h 15"/>
              </a:gdLst>
              <a:ahLst/>
              <a:cxnLst>
                <a:cxn ang="0">
                  <a:pos x="T0" y="T1"/>
                </a:cxn>
                <a:cxn ang="0">
                  <a:pos x="T2" y="T3"/>
                </a:cxn>
                <a:cxn ang="0">
                  <a:pos x="T4" y="T5"/>
                </a:cxn>
                <a:cxn ang="0">
                  <a:pos x="T6" y="T7"/>
                </a:cxn>
                <a:cxn ang="0">
                  <a:pos x="T8" y="T9"/>
                </a:cxn>
              </a:cxnLst>
              <a:rect l="0" t="0" r="r" b="b"/>
              <a:pathLst>
                <a:path w="25" h="15">
                  <a:moveTo>
                    <a:pt x="25" y="4"/>
                  </a:moveTo>
                  <a:lnTo>
                    <a:pt x="12" y="0"/>
                  </a:lnTo>
                  <a:lnTo>
                    <a:pt x="0" y="11"/>
                  </a:lnTo>
                  <a:lnTo>
                    <a:pt x="10" y="15"/>
                  </a:lnTo>
                  <a:lnTo>
                    <a:pt x="25"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61" name="Freeform 1280"/>
            <p:cNvSpPr/>
            <p:nvPr>
              <p:custDataLst>
                <p:tags r:id="rId20"/>
              </p:custDataLst>
            </p:nvPr>
          </p:nvSpPr>
          <p:spPr bwMode="auto">
            <a:xfrm rot="300000">
              <a:off x="3245" y="7540"/>
              <a:ext cx="72" cy="51"/>
            </a:xfrm>
            <a:custGeom>
              <a:avLst/>
              <a:gdLst>
                <a:gd name="T0" fmla="*/ 0 w 24"/>
                <a:gd name="T1" fmla="*/ 13 h 17"/>
                <a:gd name="T2" fmla="*/ 13 w 24"/>
                <a:gd name="T3" fmla="*/ 17 h 17"/>
                <a:gd name="T4" fmla="*/ 24 w 24"/>
                <a:gd name="T5" fmla="*/ 4 h 17"/>
                <a:gd name="T6" fmla="*/ 11 w 24"/>
                <a:gd name="T7" fmla="*/ 0 h 17"/>
                <a:gd name="T8" fmla="*/ 0 w 24"/>
                <a:gd name="T9" fmla="*/ 13 h 17"/>
              </a:gdLst>
              <a:ahLst/>
              <a:cxnLst>
                <a:cxn ang="0">
                  <a:pos x="T0" y="T1"/>
                </a:cxn>
                <a:cxn ang="0">
                  <a:pos x="T2" y="T3"/>
                </a:cxn>
                <a:cxn ang="0">
                  <a:pos x="T4" y="T5"/>
                </a:cxn>
                <a:cxn ang="0">
                  <a:pos x="T6" y="T7"/>
                </a:cxn>
                <a:cxn ang="0">
                  <a:pos x="T8" y="T9"/>
                </a:cxn>
              </a:cxnLst>
              <a:rect l="0" t="0" r="r" b="b"/>
              <a:pathLst>
                <a:path w="24" h="17">
                  <a:moveTo>
                    <a:pt x="0" y="13"/>
                  </a:moveTo>
                  <a:lnTo>
                    <a:pt x="13" y="17"/>
                  </a:lnTo>
                  <a:lnTo>
                    <a:pt x="24" y="4"/>
                  </a:lnTo>
                  <a:lnTo>
                    <a:pt x="11" y="0"/>
                  </a:lnTo>
                  <a:lnTo>
                    <a:pt x="0"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62" name="Freeform 1281"/>
            <p:cNvSpPr/>
            <p:nvPr>
              <p:custDataLst>
                <p:tags r:id="rId21"/>
              </p:custDataLst>
            </p:nvPr>
          </p:nvSpPr>
          <p:spPr bwMode="auto">
            <a:xfrm rot="300000">
              <a:off x="3549" y="7335"/>
              <a:ext cx="87" cy="45"/>
            </a:xfrm>
            <a:custGeom>
              <a:avLst/>
              <a:gdLst>
                <a:gd name="T0" fmla="*/ 11 w 29"/>
                <a:gd name="T1" fmla="*/ 15 h 15"/>
                <a:gd name="T2" fmla="*/ 11 w 29"/>
                <a:gd name="T3" fmla="*/ 15 h 15"/>
                <a:gd name="T4" fmla="*/ 29 w 29"/>
                <a:gd name="T5" fmla="*/ 4 h 15"/>
                <a:gd name="T6" fmla="*/ 18 w 29"/>
                <a:gd name="T7" fmla="*/ 0 h 15"/>
                <a:gd name="T8" fmla="*/ 18 w 29"/>
                <a:gd name="T9" fmla="*/ 0 h 15"/>
                <a:gd name="T10" fmla="*/ 0 w 29"/>
                <a:gd name="T11" fmla="*/ 9 h 15"/>
                <a:gd name="T12" fmla="*/ 0 w 29"/>
                <a:gd name="T13" fmla="*/ 9 h 15"/>
                <a:gd name="T14" fmla="*/ 11 w 29"/>
                <a:gd name="T15" fmla="*/ 15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 h="15">
                  <a:moveTo>
                    <a:pt x="11" y="15"/>
                  </a:moveTo>
                  <a:lnTo>
                    <a:pt x="11" y="15"/>
                  </a:lnTo>
                  <a:lnTo>
                    <a:pt x="29" y="4"/>
                  </a:lnTo>
                  <a:lnTo>
                    <a:pt x="18" y="0"/>
                  </a:lnTo>
                  <a:lnTo>
                    <a:pt x="18" y="0"/>
                  </a:lnTo>
                  <a:lnTo>
                    <a:pt x="0" y="9"/>
                  </a:lnTo>
                  <a:lnTo>
                    <a:pt x="0" y="9"/>
                  </a:lnTo>
                  <a:lnTo>
                    <a:pt x="11" y="1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63" name="Freeform 1282"/>
            <p:cNvSpPr/>
            <p:nvPr>
              <p:custDataLst>
                <p:tags r:id="rId22"/>
              </p:custDataLst>
            </p:nvPr>
          </p:nvSpPr>
          <p:spPr bwMode="auto">
            <a:xfrm rot="300000">
              <a:off x="3989" y="7217"/>
              <a:ext cx="78" cy="39"/>
            </a:xfrm>
            <a:custGeom>
              <a:avLst/>
              <a:gdLst>
                <a:gd name="T0" fmla="*/ 26 w 26"/>
                <a:gd name="T1" fmla="*/ 7 h 13"/>
                <a:gd name="T2" fmla="*/ 22 w 26"/>
                <a:gd name="T3" fmla="*/ 0 h 13"/>
                <a:gd name="T4" fmla="*/ 11 w 26"/>
                <a:gd name="T5" fmla="*/ 2 h 13"/>
                <a:gd name="T6" fmla="*/ 11 w 26"/>
                <a:gd name="T7" fmla="*/ 2 h 13"/>
                <a:gd name="T8" fmla="*/ 0 w 26"/>
                <a:gd name="T9" fmla="*/ 5 h 13"/>
                <a:gd name="T10" fmla="*/ 4 w 26"/>
                <a:gd name="T11" fmla="*/ 13 h 13"/>
                <a:gd name="T12" fmla="*/ 4 w 26"/>
                <a:gd name="T13" fmla="*/ 13 h 13"/>
                <a:gd name="T14" fmla="*/ 15 w 26"/>
                <a:gd name="T15" fmla="*/ 9 h 13"/>
                <a:gd name="T16" fmla="*/ 26 w 26"/>
                <a:gd name="T17" fmla="*/ 7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13">
                  <a:moveTo>
                    <a:pt x="26" y="7"/>
                  </a:moveTo>
                  <a:lnTo>
                    <a:pt x="22" y="0"/>
                  </a:lnTo>
                  <a:lnTo>
                    <a:pt x="11" y="2"/>
                  </a:lnTo>
                  <a:lnTo>
                    <a:pt x="11" y="2"/>
                  </a:lnTo>
                  <a:lnTo>
                    <a:pt x="0" y="5"/>
                  </a:lnTo>
                  <a:lnTo>
                    <a:pt x="4" y="13"/>
                  </a:lnTo>
                  <a:lnTo>
                    <a:pt x="4" y="13"/>
                  </a:lnTo>
                  <a:lnTo>
                    <a:pt x="15" y="9"/>
                  </a:lnTo>
                  <a:lnTo>
                    <a:pt x="26" y="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64" name="Freeform 1283"/>
            <p:cNvSpPr/>
            <p:nvPr>
              <p:custDataLst>
                <p:tags r:id="rId23"/>
              </p:custDataLst>
            </p:nvPr>
          </p:nvSpPr>
          <p:spPr bwMode="auto">
            <a:xfrm rot="300000">
              <a:off x="3756" y="7263"/>
              <a:ext cx="84" cy="39"/>
            </a:xfrm>
            <a:custGeom>
              <a:avLst/>
              <a:gdLst>
                <a:gd name="T0" fmla="*/ 20 w 28"/>
                <a:gd name="T1" fmla="*/ 0 h 13"/>
                <a:gd name="T2" fmla="*/ 20 w 28"/>
                <a:gd name="T3" fmla="*/ 0 h 13"/>
                <a:gd name="T4" fmla="*/ 0 w 28"/>
                <a:gd name="T5" fmla="*/ 6 h 13"/>
                <a:gd name="T6" fmla="*/ 9 w 28"/>
                <a:gd name="T7" fmla="*/ 13 h 13"/>
                <a:gd name="T8" fmla="*/ 9 w 28"/>
                <a:gd name="T9" fmla="*/ 13 h 13"/>
                <a:gd name="T10" fmla="*/ 28 w 28"/>
                <a:gd name="T11" fmla="*/ 6 h 13"/>
                <a:gd name="T12" fmla="*/ 20 w 28"/>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28" h="13">
                  <a:moveTo>
                    <a:pt x="20" y="0"/>
                  </a:moveTo>
                  <a:lnTo>
                    <a:pt x="20" y="0"/>
                  </a:lnTo>
                  <a:lnTo>
                    <a:pt x="0" y="6"/>
                  </a:lnTo>
                  <a:lnTo>
                    <a:pt x="9" y="13"/>
                  </a:lnTo>
                  <a:lnTo>
                    <a:pt x="9" y="13"/>
                  </a:lnTo>
                  <a:lnTo>
                    <a:pt x="28" y="6"/>
                  </a:lnTo>
                  <a:lnTo>
                    <a:pt x="2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65" name="Freeform 1284"/>
            <p:cNvSpPr/>
            <p:nvPr>
              <p:custDataLst>
                <p:tags r:id="rId24"/>
              </p:custDataLst>
            </p:nvPr>
          </p:nvSpPr>
          <p:spPr bwMode="auto">
            <a:xfrm rot="300000">
              <a:off x="4237" y="7200"/>
              <a:ext cx="78" cy="33"/>
            </a:xfrm>
            <a:custGeom>
              <a:avLst/>
              <a:gdLst>
                <a:gd name="T0" fmla="*/ 24 w 26"/>
                <a:gd name="T1" fmla="*/ 0 h 11"/>
                <a:gd name="T2" fmla="*/ 24 w 26"/>
                <a:gd name="T3" fmla="*/ 0 h 11"/>
                <a:gd name="T4" fmla="*/ 11 w 26"/>
                <a:gd name="T5" fmla="*/ 0 h 11"/>
                <a:gd name="T6" fmla="*/ 0 w 26"/>
                <a:gd name="T7" fmla="*/ 2 h 11"/>
                <a:gd name="T8" fmla="*/ 2 w 26"/>
                <a:gd name="T9" fmla="*/ 11 h 11"/>
                <a:gd name="T10" fmla="*/ 13 w 26"/>
                <a:gd name="T11" fmla="*/ 9 h 11"/>
                <a:gd name="T12" fmla="*/ 13 w 26"/>
                <a:gd name="T13" fmla="*/ 9 h 11"/>
                <a:gd name="T14" fmla="*/ 26 w 26"/>
                <a:gd name="T15" fmla="*/ 7 h 11"/>
                <a:gd name="T16" fmla="*/ 24 w 26"/>
                <a:gd name="T17"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11">
                  <a:moveTo>
                    <a:pt x="24" y="0"/>
                  </a:moveTo>
                  <a:lnTo>
                    <a:pt x="24" y="0"/>
                  </a:lnTo>
                  <a:lnTo>
                    <a:pt x="11" y="0"/>
                  </a:lnTo>
                  <a:lnTo>
                    <a:pt x="0" y="2"/>
                  </a:lnTo>
                  <a:lnTo>
                    <a:pt x="2" y="11"/>
                  </a:lnTo>
                  <a:lnTo>
                    <a:pt x="13" y="9"/>
                  </a:lnTo>
                  <a:lnTo>
                    <a:pt x="13" y="9"/>
                  </a:lnTo>
                  <a:lnTo>
                    <a:pt x="26" y="7"/>
                  </a:lnTo>
                  <a:lnTo>
                    <a:pt x="2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66" name="Freeform 1285"/>
            <p:cNvSpPr/>
            <p:nvPr>
              <p:custDataLst>
                <p:tags r:id="rId25"/>
              </p:custDataLst>
            </p:nvPr>
          </p:nvSpPr>
          <p:spPr bwMode="auto">
            <a:xfrm rot="300000">
              <a:off x="4738" y="7238"/>
              <a:ext cx="78" cy="33"/>
            </a:xfrm>
            <a:custGeom>
              <a:avLst/>
              <a:gdLst>
                <a:gd name="T0" fmla="*/ 24 w 26"/>
                <a:gd name="T1" fmla="*/ 11 h 11"/>
                <a:gd name="T2" fmla="*/ 26 w 26"/>
                <a:gd name="T3" fmla="*/ 4 h 11"/>
                <a:gd name="T4" fmla="*/ 26 w 26"/>
                <a:gd name="T5" fmla="*/ 4 h 11"/>
                <a:gd name="T6" fmla="*/ 3 w 26"/>
                <a:gd name="T7" fmla="*/ 0 h 11"/>
                <a:gd name="T8" fmla="*/ 0 w 26"/>
                <a:gd name="T9" fmla="*/ 9 h 11"/>
                <a:gd name="T10" fmla="*/ 0 w 26"/>
                <a:gd name="T11" fmla="*/ 9 h 11"/>
                <a:gd name="T12" fmla="*/ 24 w 26"/>
                <a:gd name="T13" fmla="*/ 11 h 11"/>
                <a:gd name="T14" fmla="*/ 24 w 26"/>
                <a:gd name="T15" fmla="*/ 11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11">
                  <a:moveTo>
                    <a:pt x="24" y="11"/>
                  </a:moveTo>
                  <a:lnTo>
                    <a:pt x="26" y="4"/>
                  </a:lnTo>
                  <a:lnTo>
                    <a:pt x="26" y="4"/>
                  </a:lnTo>
                  <a:lnTo>
                    <a:pt x="3" y="0"/>
                  </a:lnTo>
                  <a:lnTo>
                    <a:pt x="0" y="9"/>
                  </a:lnTo>
                  <a:lnTo>
                    <a:pt x="0" y="9"/>
                  </a:lnTo>
                  <a:lnTo>
                    <a:pt x="24" y="11"/>
                  </a:lnTo>
                  <a:lnTo>
                    <a:pt x="24" y="1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67" name="Freeform 1286"/>
            <p:cNvSpPr/>
            <p:nvPr>
              <p:custDataLst>
                <p:tags r:id="rId26"/>
              </p:custDataLst>
            </p:nvPr>
          </p:nvSpPr>
          <p:spPr bwMode="auto">
            <a:xfrm rot="300000">
              <a:off x="4489" y="7210"/>
              <a:ext cx="78" cy="27"/>
            </a:xfrm>
            <a:custGeom>
              <a:avLst/>
              <a:gdLst>
                <a:gd name="T0" fmla="*/ 26 w 26"/>
                <a:gd name="T1" fmla="*/ 0 h 9"/>
                <a:gd name="T2" fmla="*/ 26 w 26"/>
                <a:gd name="T3" fmla="*/ 0 h 9"/>
                <a:gd name="T4" fmla="*/ 13 w 26"/>
                <a:gd name="T5" fmla="*/ 0 h 9"/>
                <a:gd name="T6" fmla="*/ 0 w 26"/>
                <a:gd name="T7" fmla="*/ 0 h 9"/>
                <a:gd name="T8" fmla="*/ 2 w 26"/>
                <a:gd name="T9" fmla="*/ 9 h 9"/>
                <a:gd name="T10" fmla="*/ 13 w 26"/>
                <a:gd name="T11" fmla="*/ 9 h 9"/>
                <a:gd name="T12" fmla="*/ 13 w 26"/>
                <a:gd name="T13" fmla="*/ 9 h 9"/>
                <a:gd name="T14" fmla="*/ 24 w 26"/>
                <a:gd name="T15" fmla="*/ 9 h 9"/>
                <a:gd name="T16" fmla="*/ 26 w 26"/>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9">
                  <a:moveTo>
                    <a:pt x="26" y="0"/>
                  </a:moveTo>
                  <a:lnTo>
                    <a:pt x="26" y="0"/>
                  </a:lnTo>
                  <a:lnTo>
                    <a:pt x="13" y="0"/>
                  </a:lnTo>
                  <a:lnTo>
                    <a:pt x="0" y="0"/>
                  </a:lnTo>
                  <a:lnTo>
                    <a:pt x="2" y="9"/>
                  </a:lnTo>
                  <a:lnTo>
                    <a:pt x="13" y="9"/>
                  </a:lnTo>
                  <a:lnTo>
                    <a:pt x="13" y="9"/>
                  </a:lnTo>
                  <a:lnTo>
                    <a:pt x="24" y="9"/>
                  </a:lnTo>
                  <a:lnTo>
                    <a:pt x="2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68" name="Freeform 1287"/>
            <p:cNvSpPr/>
            <p:nvPr>
              <p:custDataLst>
                <p:tags r:id="rId27"/>
              </p:custDataLst>
            </p:nvPr>
          </p:nvSpPr>
          <p:spPr bwMode="auto">
            <a:xfrm rot="300000">
              <a:off x="4979" y="7298"/>
              <a:ext cx="78" cy="39"/>
            </a:xfrm>
            <a:custGeom>
              <a:avLst/>
              <a:gdLst>
                <a:gd name="T0" fmla="*/ 22 w 26"/>
                <a:gd name="T1" fmla="*/ 13 h 13"/>
                <a:gd name="T2" fmla="*/ 26 w 26"/>
                <a:gd name="T3" fmla="*/ 7 h 13"/>
                <a:gd name="T4" fmla="*/ 26 w 26"/>
                <a:gd name="T5" fmla="*/ 7 h 13"/>
                <a:gd name="T6" fmla="*/ 5 w 26"/>
                <a:gd name="T7" fmla="*/ 0 h 13"/>
                <a:gd name="T8" fmla="*/ 0 w 26"/>
                <a:gd name="T9" fmla="*/ 9 h 13"/>
                <a:gd name="T10" fmla="*/ 0 w 26"/>
                <a:gd name="T11" fmla="*/ 9 h 13"/>
                <a:gd name="T12" fmla="*/ 22 w 26"/>
                <a:gd name="T13" fmla="*/ 13 h 13"/>
                <a:gd name="T14" fmla="*/ 22 w 26"/>
                <a:gd name="T15" fmla="*/ 13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13">
                  <a:moveTo>
                    <a:pt x="22" y="13"/>
                  </a:moveTo>
                  <a:lnTo>
                    <a:pt x="26" y="7"/>
                  </a:lnTo>
                  <a:lnTo>
                    <a:pt x="26" y="7"/>
                  </a:lnTo>
                  <a:lnTo>
                    <a:pt x="5" y="0"/>
                  </a:lnTo>
                  <a:lnTo>
                    <a:pt x="0" y="9"/>
                  </a:lnTo>
                  <a:lnTo>
                    <a:pt x="0" y="9"/>
                  </a:lnTo>
                  <a:lnTo>
                    <a:pt x="22" y="13"/>
                  </a:lnTo>
                  <a:lnTo>
                    <a:pt x="22"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69" name="Freeform 1288"/>
            <p:cNvSpPr/>
            <p:nvPr>
              <p:custDataLst>
                <p:tags r:id="rId28"/>
              </p:custDataLst>
            </p:nvPr>
          </p:nvSpPr>
          <p:spPr bwMode="auto">
            <a:xfrm rot="300000">
              <a:off x="5392" y="7490"/>
              <a:ext cx="84" cy="45"/>
            </a:xfrm>
            <a:custGeom>
              <a:avLst/>
              <a:gdLst>
                <a:gd name="T0" fmla="*/ 17 w 28"/>
                <a:gd name="T1" fmla="*/ 15 h 15"/>
                <a:gd name="T2" fmla="*/ 28 w 28"/>
                <a:gd name="T3" fmla="*/ 9 h 15"/>
                <a:gd name="T4" fmla="*/ 9 w 28"/>
                <a:gd name="T5" fmla="*/ 0 h 15"/>
                <a:gd name="T6" fmla="*/ 0 w 28"/>
                <a:gd name="T7" fmla="*/ 6 h 15"/>
                <a:gd name="T8" fmla="*/ 17 w 28"/>
                <a:gd name="T9" fmla="*/ 15 h 15"/>
              </a:gdLst>
              <a:ahLst/>
              <a:cxnLst>
                <a:cxn ang="0">
                  <a:pos x="T0" y="T1"/>
                </a:cxn>
                <a:cxn ang="0">
                  <a:pos x="T2" y="T3"/>
                </a:cxn>
                <a:cxn ang="0">
                  <a:pos x="T4" y="T5"/>
                </a:cxn>
                <a:cxn ang="0">
                  <a:pos x="T6" y="T7"/>
                </a:cxn>
                <a:cxn ang="0">
                  <a:pos x="T8" y="T9"/>
                </a:cxn>
              </a:cxnLst>
              <a:rect l="0" t="0" r="r" b="b"/>
              <a:pathLst>
                <a:path w="28" h="15">
                  <a:moveTo>
                    <a:pt x="17" y="15"/>
                  </a:moveTo>
                  <a:lnTo>
                    <a:pt x="28" y="9"/>
                  </a:lnTo>
                  <a:lnTo>
                    <a:pt x="9" y="0"/>
                  </a:lnTo>
                  <a:lnTo>
                    <a:pt x="0" y="6"/>
                  </a:lnTo>
                  <a:lnTo>
                    <a:pt x="17" y="1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70" name="Freeform 1289"/>
            <p:cNvSpPr/>
            <p:nvPr>
              <p:custDataLst>
                <p:tags r:id="rId29"/>
              </p:custDataLst>
            </p:nvPr>
          </p:nvSpPr>
          <p:spPr bwMode="auto">
            <a:xfrm rot="300000">
              <a:off x="5200" y="7383"/>
              <a:ext cx="84" cy="45"/>
            </a:xfrm>
            <a:custGeom>
              <a:avLst/>
              <a:gdLst>
                <a:gd name="T0" fmla="*/ 19 w 28"/>
                <a:gd name="T1" fmla="*/ 15 h 15"/>
                <a:gd name="T2" fmla="*/ 28 w 28"/>
                <a:gd name="T3" fmla="*/ 8 h 15"/>
                <a:gd name="T4" fmla="*/ 28 w 28"/>
                <a:gd name="T5" fmla="*/ 8 h 15"/>
                <a:gd name="T6" fmla="*/ 6 w 28"/>
                <a:gd name="T7" fmla="*/ 0 h 15"/>
                <a:gd name="T8" fmla="*/ 0 w 28"/>
                <a:gd name="T9" fmla="*/ 8 h 15"/>
                <a:gd name="T10" fmla="*/ 0 w 28"/>
                <a:gd name="T11" fmla="*/ 8 h 15"/>
                <a:gd name="T12" fmla="*/ 19 w 28"/>
                <a:gd name="T13" fmla="*/ 15 h 15"/>
                <a:gd name="T14" fmla="*/ 19 w 28"/>
                <a:gd name="T15" fmla="*/ 15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15">
                  <a:moveTo>
                    <a:pt x="19" y="15"/>
                  </a:moveTo>
                  <a:lnTo>
                    <a:pt x="28" y="8"/>
                  </a:lnTo>
                  <a:lnTo>
                    <a:pt x="28" y="8"/>
                  </a:lnTo>
                  <a:lnTo>
                    <a:pt x="6" y="0"/>
                  </a:lnTo>
                  <a:lnTo>
                    <a:pt x="0" y="8"/>
                  </a:lnTo>
                  <a:lnTo>
                    <a:pt x="0" y="8"/>
                  </a:lnTo>
                  <a:lnTo>
                    <a:pt x="19" y="15"/>
                  </a:lnTo>
                  <a:lnTo>
                    <a:pt x="19" y="1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71" name="Freeform 1290"/>
            <p:cNvSpPr/>
            <p:nvPr>
              <p:custDataLst>
                <p:tags r:id="rId30"/>
              </p:custDataLst>
            </p:nvPr>
          </p:nvSpPr>
          <p:spPr bwMode="auto">
            <a:xfrm rot="300000">
              <a:off x="5561" y="7606"/>
              <a:ext cx="84" cy="48"/>
            </a:xfrm>
            <a:custGeom>
              <a:avLst/>
              <a:gdLst>
                <a:gd name="T0" fmla="*/ 18 w 28"/>
                <a:gd name="T1" fmla="*/ 16 h 16"/>
                <a:gd name="T2" fmla="*/ 28 w 28"/>
                <a:gd name="T3" fmla="*/ 9 h 16"/>
                <a:gd name="T4" fmla="*/ 11 w 28"/>
                <a:gd name="T5" fmla="*/ 0 h 16"/>
                <a:gd name="T6" fmla="*/ 0 w 28"/>
                <a:gd name="T7" fmla="*/ 7 h 16"/>
                <a:gd name="T8" fmla="*/ 18 w 28"/>
                <a:gd name="T9" fmla="*/ 16 h 16"/>
              </a:gdLst>
              <a:ahLst/>
              <a:cxnLst>
                <a:cxn ang="0">
                  <a:pos x="T0" y="T1"/>
                </a:cxn>
                <a:cxn ang="0">
                  <a:pos x="T2" y="T3"/>
                </a:cxn>
                <a:cxn ang="0">
                  <a:pos x="T4" y="T5"/>
                </a:cxn>
                <a:cxn ang="0">
                  <a:pos x="T6" y="T7"/>
                </a:cxn>
                <a:cxn ang="0">
                  <a:pos x="T8" y="T9"/>
                </a:cxn>
              </a:cxnLst>
              <a:rect l="0" t="0" r="r" b="b"/>
              <a:pathLst>
                <a:path w="28" h="16">
                  <a:moveTo>
                    <a:pt x="18" y="16"/>
                  </a:moveTo>
                  <a:lnTo>
                    <a:pt x="28" y="9"/>
                  </a:lnTo>
                  <a:lnTo>
                    <a:pt x="11" y="0"/>
                  </a:lnTo>
                  <a:lnTo>
                    <a:pt x="0" y="7"/>
                  </a:lnTo>
                  <a:lnTo>
                    <a:pt x="18" y="1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72" name="Freeform 1291"/>
            <p:cNvSpPr/>
            <p:nvPr>
              <p:custDataLst>
                <p:tags r:id="rId31"/>
              </p:custDataLst>
            </p:nvPr>
          </p:nvSpPr>
          <p:spPr bwMode="auto">
            <a:xfrm rot="300000">
              <a:off x="5932" y="7832"/>
              <a:ext cx="84" cy="45"/>
            </a:xfrm>
            <a:custGeom>
              <a:avLst/>
              <a:gdLst>
                <a:gd name="T0" fmla="*/ 22 w 28"/>
                <a:gd name="T1" fmla="*/ 15 h 15"/>
                <a:gd name="T2" fmla="*/ 28 w 28"/>
                <a:gd name="T3" fmla="*/ 7 h 15"/>
                <a:gd name="T4" fmla="*/ 6 w 28"/>
                <a:gd name="T5" fmla="*/ 0 h 15"/>
                <a:gd name="T6" fmla="*/ 0 w 28"/>
                <a:gd name="T7" fmla="*/ 7 h 15"/>
                <a:gd name="T8" fmla="*/ 22 w 28"/>
                <a:gd name="T9" fmla="*/ 15 h 15"/>
              </a:gdLst>
              <a:ahLst/>
              <a:cxnLst>
                <a:cxn ang="0">
                  <a:pos x="T0" y="T1"/>
                </a:cxn>
                <a:cxn ang="0">
                  <a:pos x="T2" y="T3"/>
                </a:cxn>
                <a:cxn ang="0">
                  <a:pos x="T4" y="T5"/>
                </a:cxn>
                <a:cxn ang="0">
                  <a:pos x="T6" y="T7"/>
                </a:cxn>
                <a:cxn ang="0">
                  <a:pos x="T8" y="T9"/>
                </a:cxn>
              </a:cxnLst>
              <a:rect l="0" t="0" r="r" b="b"/>
              <a:pathLst>
                <a:path w="28" h="15">
                  <a:moveTo>
                    <a:pt x="22" y="15"/>
                  </a:moveTo>
                  <a:lnTo>
                    <a:pt x="28" y="7"/>
                  </a:lnTo>
                  <a:lnTo>
                    <a:pt x="6" y="0"/>
                  </a:lnTo>
                  <a:lnTo>
                    <a:pt x="0" y="7"/>
                  </a:lnTo>
                  <a:lnTo>
                    <a:pt x="22" y="1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73" name="Freeform 1292"/>
            <p:cNvSpPr/>
            <p:nvPr>
              <p:custDataLst>
                <p:tags r:id="rId32"/>
              </p:custDataLst>
            </p:nvPr>
          </p:nvSpPr>
          <p:spPr bwMode="auto">
            <a:xfrm rot="300000">
              <a:off x="5734" y="7726"/>
              <a:ext cx="84" cy="45"/>
            </a:xfrm>
            <a:custGeom>
              <a:avLst/>
              <a:gdLst>
                <a:gd name="T0" fmla="*/ 0 w 28"/>
                <a:gd name="T1" fmla="*/ 6 h 15"/>
                <a:gd name="T2" fmla="*/ 0 w 28"/>
                <a:gd name="T3" fmla="*/ 6 h 15"/>
                <a:gd name="T4" fmla="*/ 2 w 28"/>
                <a:gd name="T5" fmla="*/ 6 h 15"/>
                <a:gd name="T6" fmla="*/ 2 w 28"/>
                <a:gd name="T7" fmla="*/ 6 h 15"/>
                <a:gd name="T8" fmla="*/ 19 w 28"/>
                <a:gd name="T9" fmla="*/ 15 h 15"/>
                <a:gd name="T10" fmla="*/ 28 w 28"/>
                <a:gd name="T11" fmla="*/ 9 h 15"/>
                <a:gd name="T12" fmla="*/ 28 w 28"/>
                <a:gd name="T13" fmla="*/ 9 h 15"/>
                <a:gd name="T14" fmla="*/ 11 w 28"/>
                <a:gd name="T15" fmla="*/ 0 h 15"/>
                <a:gd name="T16" fmla="*/ 11 w 28"/>
                <a:gd name="T17" fmla="*/ 0 h 15"/>
                <a:gd name="T18" fmla="*/ 11 w 28"/>
                <a:gd name="T19" fmla="*/ 0 h 15"/>
                <a:gd name="T20" fmla="*/ 0 w 28"/>
                <a:gd name="T21" fmla="*/ 6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15">
                  <a:moveTo>
                    <a:pt x="0" y="6"/>
                  </a:moveTo>
                  <a:lnTo>
                    <a:pt x="0" y="6"/>
                  </a:lnTo>
                  <a:lnTo>
                    <a:pt x="2" y="6"/>
                  </a:lnTo>
                  <a:lnTo>
                    <a:pt x="2" y="6"/>
                  </a:lnTo>
                  <a:lnTo>
                    <a:pt x="19" y="15"/>
                  </a:lnTo>
                  <a:lnTo>
                    <a:pt x="28" y="9"/>
                  </a:lnTo>
                  <a:lnTo>
                    <a:pt x="28" y="9"/>
                  </a:lnTo>
                  <a:lnTo>
                    <a:pt x="11" y="0"/>
                  </a:lnTo>
                  <a:lnTo>
                    <a:pt x="11" y="0"/>
                  </a:lnTo>
                  <a:lnTo>
                    <a:pt x="11"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74" name="Freeform 1293"/>
            <p:cNvSpPr/>
            <p:nvPr>
              <p:custDataLst>
                <p:tags r:id="rId33"/>
              </p:custDataLst>
            </p:nvPr>
          </p:nvSpPr>
          <p:spPr bwMode="auto">
            <a:xfrm rot="300000">
              <a:off x="6166" y="7918"/>
              <a:ext cx="78" cy="33"/>
            </a:xfrm>
            <a:custGeom>
              <a:avLst/>
              <a:gdLst>
                <a:gd name="T0" fmla="*/ 24 w 26"/>
                <a:gd name="T1" fmla="*/ 11 h 11"/>
                <a:gd name="T2" fmla="*/ 26 w 26"/>
                <a:gd name="T3" fmla="*/ 2 h 11"/>
                <a:gd name="T4" fmla="*/ 26 w 26"/>
                <a:gd name="T5" fmla="*/ 2 h 11"/>
                <a:gd name="T6" fmla="*/ 4 w 26"/>
                <a:gd name="T7" fmla="*/ 0 h 11"/>
                <a:gd name="T8" fmla="*/ 0 w 26"/>
                <a:gd name="T9" fmla="*/ 6 h 11"/>
                <a:gd name="T10" fmla="*/ 0 w 26"/>
                <a:gd name="T11" fmla="*/ 6 h 11"/>
                <a:gd name="T12" fmla="*/ 24 w 26"/>
                <a:gd name="T13" fmla="*/ 11 h 11"/>
                <a:gd name="T14" fmla="*/ 24 w 26"/>
                <a:gd name="T15" fmla="*/ 11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11">
                  <a:moveTo>
                    <a:pt x="24" y="11"/>
                  </a:moveTo>
                  <a:lnTo>
                    <a:pt x="26" y="2"/>
                  </a:lnTo>
                  <a:lnTo>
                    <a:pt x="26" y="2"/>
                  </a:lnTo>
                  <a:lnTo>
                    <a:pt x="4" y="0"/>
                  </a:lnTo>
                  <a:lnTo>
                    <a:pt x="0" y="6"/>
                  </a:lnTo>
                  <a:lnTo>
                    <a:pt x="0" y="6"/>
                  </a:lnTo>
                  <a:lnTo>
                    <a:pt x="24" y="11"/>
                  </a:lnTo>
                  <a:lnTo>
                    <a:pt x="24" y="1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75" name="Freeform 1294"/>
            <p:cNvSpPr/>
            <p:nvPr>
              <p:custDataLst>
                <p:tags r:id="rId34"/>
              </p:custDataLst>
            </p:nvPr>
          </p:nvSpPr>
          <p:spPr bwMode="auto">
            <a:xfrm rot="300000">
              <a:off x="6672" y="7968"/>
              <a:ext cx="78" cy="33"/>
            </a:xfrm>
            <a:custGeom>
              <a:avLst/>
              <a:gdLst>
                <a:gd name="T0" fmla="*/ 26 w 26"/>
                <a:gd name="T1" fmla="*/ 9 h 11"/>
                <a:gd name="T2" fmla="*/ 22 w 26"/>
                <a:gd name="T3" fmla="*/ 0 h 11"/>
                <a:gd name="T4" fmla="*/ 22 w 26"/>
                <a:gd name="T5" fmla="*/ 0 h 11"/>
                <a:gd name="T6" fmla="*/ 0 w 26"/>
                <a:gd name="T7" fmla="*/ 4 h 11"/>
                <a:gd name="T8" fmla="*/ 3 w 26"/>
                <a:gd name="T9" fmla="*/ 11 h 11"/>
                <a:gd name="T10" fmla="*/ 3 w 26"/>
                <a:gd name="T11" fmla="*/ 11 h 11"/>
                <a:gd name="T12" fmla="*/ 26 w 26"/>
                <a:gd name="T13" fmla="*/ 9 h 11"/>
                <a:gd name="T14" fmla="*/ 26 w 26"/>
                <a:gd name="T15" fmla="*/ 9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11">
                  <a:moveTo>
                    <a:pt x="26" y="9"/>
                  </a:moveTo>
                  <a:lnTo>
                    <a:pt x="22" y="0"/>
                  </a:lnTo>
                  <a:lnTo>
                    <a:pt x="22" y="0"/>
                  </a:lnTo>
                  <a:lnTo>
                    <a:pt x="0" y="4"/>
                  </a:lnTo>
                  <a:lnTo>
                    <a:pt x="3" y="11"/>
                  </a:lnTo>
                  <a:lnTo>
                    <a:pt x="3" y="11"/>
                  </a:lnTo>
                  <a:lnTo>
                    <a:pt x="26" y="9"/>
                  </a:lnTo>
                  <a:lnTo>
                    <a:pt x="26" y="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76" name="Freeform 1295"/>
            <p:cNvSpPr/>
            <p:nvPr>
              <p:custDataLst>
                <p:tags r:id="rId35"/>
              </p:custDataLst>
            </p:nvPr>
          </p:nvSpPr>
          <p:spPr bwMode="auto">
            <a:xfrm rot="300000">
              <a:off x="6420" y="7964"/>
              <a:ext cx="72" cy="27"/>
            </a:xfrm>
            <a:custGeom>
              <a:avLst/>
              <a:gdLst>
                <a:gd name="T0" fmla="*/ 0 w 24"/>
                <a:gd name="T1" fmla="*/ 9 h 9"/>
                <a:gd name="T2" fmla="*/ 0 w 24"/>
                <a:gd name="T3" fmla="*/ 9 h 9"/>
                <a:gd name="T4" fmla="*/ 24 w 24"/>
                <a:gd name="T5" fmla="*/ 9 h 9"/>
                <a:gd name="T6" fmla="*/ 24 w 24"/>
                <a:gd name="T7" fmla="*/ 0 h 9"/>
                <a:gd name="T8" fmla="*/ 24 w 24"/>
                <a:gd name="T9" fmla="*/ 0 h 9"/>
                <a:gd name="T10" fmla="*/ 0 w 24"/>
                <a:gd name="T11" fmla="*/ 0 h 9"/>
                <a:gd name="T12" fmla="*/ 0 w 24"/>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24" h="9">
                  <a:moveTo>
                    <a:pt x="0" y="9"/>
                  </a:moveTo>
                  <a:lnTo>
                    <a:pt x="0" y="9"/>
                  </a:lnTo>
                  <a:lnTo>
                    <a:pt x="24" y="9"/>
                  </a:lnTo>
                  <a:lnTo>
                    <a:pt x="24" y="0"/>
                  </a:lnTo>
                  <a:lnTo>
                    <a:pt x="24" y="0"/>
                  </a:lnTo>
                  <a:lnTo>
                    <a:pt x="0" y="0"/>
                  </a:lnTo>
                  <a:lnTo>
                    <a:pt x="0" y="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77" name="Freeform 1296"/>
            <p:cNvSpPr/>
            <p:nvPr>
              <p:custDataLst>
                <p:tags r:id="rId36"/>
              </p:custDataLst>
            </p:nvPr>
          </p:nvSpPr>
          <p:spPr bwMode="auto">
            <a:xfrm rot="300000">
              <a:off x="6915" y="7939"/>
              <a:ext cx="84" cy="39"/>
            </a:xfrm>
            <a:custGeom>
              <a:avLst/>
              <a:gdLst>
                <a:gd name="T0" fmla="*/ 28 w 28"/>
                <a:gd name="T1" fmla="*/ 8 h 13"/>
                <a:gd name="T2" fmla="*/ 22 w 28"/>
                <a:gd name="T3" fmla="*/ 0 h 13"/>
                <a:gd name="T4" fmla="*/ 22 w 28"/>
                <a:gd name="T5" fmla="*/ 0 h 13"/>
                <a:gd name="T6" fmla="*/ 0 w 28"/>
                <a:gd name="T7" fmla="*/ 6 h 13"/>
                <a:gd name="T8" fmla="*/ 7 w 28"/>
                <a:gd name="T9" fmla="*/ 13 h 13"/>
                <a:gd name="T10" fmla="*/ 7 w 28"/>
                <a:gd name="T11" fmla="*/ 13 h 13"/>
                <a:gd name="T12" fmla="*/ 28 w 28"/>
                <a:gd name="T13" fmla="*/ 8 h 13"/>
                <a:gd name="T14" fmla="*/ 28 w 28"/>
                <a:gd name="T15" fmla="*/ 8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13">
                  <a:moveTo>
                    <a:pt x="28" y="8"/>
                  </a:moveTo>
                  <a:lnTo>
                    <a:pt x="22" y="0"/>
                  </a:lnTo>
                  <a:lnTo>
                    <a:pt x="22" y="0"/>
                  </a:lnTo>
                  <a:lnTo>
                    <a:pt x="0" y="6"/>
                  </a:lnTo>
                  <a:lnTo>
                    <a:pt x="7" y="13"/>
                  </a:lnTo>
                  <a:lnTo>
                    <a:pt x="7" y="13"/>
                  </a:lnTo>
                  <a:lnTo>
                    <a:pt x="28" y="8"/>
                  </a:lnTo>
                  <a:lnTo>
                    <a:pt x="28"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78" name="Freeform 1297"/>
            <p:cNvSpPr/>
            <p:nvPr>
              <p:custDataLst>
                <p:tags r:id="rId37"/>
              </p:custDataLst>
            </p:nvPr>
          </p:nvSpPr>
          <p:spPr bwMode="auto">
            <a:xfrm rot="300000">
              <a:off x="7319" y="7780"/>
              <a:ext cx="78" cy="45"/>
            </a:xfrm>
            <a:custGeom>
              <a:avLst/>
              <a:gdLst>
                <a:gd name="T0" fmla="*/ 26 w 26"/>
                <a:gd name="T1" fmla="*/ 4 h 15"/>
                <a:gd name="T2" fmla="*/ 15 w 26"/>
                <a:gd name="T3" fmla="*/ 0 h 15"/>
                <a:gd name="T4" fmla="*/ 0 w 26"/>
                <a:gd name="T5" fmla="*/ 11 h 15"/>
                <a:gd name="T6" fmla="*/ 13 w 26"/>
                <a:gd name="T7" fmla="*/ 15 h 15"/>
                <a:gd name="T8" fmla="*/ 26 w 26"/>
                <a:gd name="T9" fmla="*/ 4 h 15"/>
              </a:gdLst>
              <a:ahLst/>
              <a:cxnLst>
                <a:cxn ang="0">
                  <a:pos x="T0" y="T1"/>
                </a:cxn>
                <a:cxn ang="0">
                  <a:pos x="T2" y="T3"/>
                </a:cxn>
                <a:cxn ang="0">
                  <a:pos x="T4" y="T5"/>
                </a:cxn>
                <a:cxn ang="0">
                  <a:pos x="T6" y="T7"/>
                </a:cxn>
                <a:cxn ang="0">
                  <a:pos x="T8" y="T9"/>
                </a:cxn>
              </a:cxnLst>
              <a:rect l="0" t="0" r="r" b="b"/>
              <a:pathLst>
                <a:path w="26" h="15">
                  <a:moveTo>
                    <a:pt x="26" y="4"/>
                  </a:moveTo>
                  <a:lnTo>
                    <a:pt x="15" y="0"/>
                  </a:lnTo>
                  <a:lnTo>
                    <a:pt x="0" y="11"/>
                  </a:lnTo>
                  <a:lnTo>
                    <a:pt x="13" y="15"/>
                  </a:lnTo>
                  <a:lnTo>
                    <a:pt x="26"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79" name="Freeform 1298"/>
            <p:cNvSpPr/>
            <p:nvPr>
              <p:custDataLst>
                <p:tags r:id="rId38"/>
              </p:custDataLst>
            </p:nvPr>
          </p:nvSpPr>
          <p:spPr bwMode="auto">
            <a:xfrm rot="300000">
              <a:off x="7133" y="7875"/>
              <a:ext cx="87" cy="45"/>
            </a:xfrm>
            <a:custGeom>
              <a:avLst/>
              <a:gdLst>
                <a:gd name="T0" fmla="*/ 29 w 29"/>
                <a:gd name="T1" fmla="*/ 6 h 15"/>
                <a:gd name="T2" fmla="*/ 18 w 29"/>
                <a:gd name="T3" fmla="*/ 0 h 15"/>
                <a:gd name="T4" fmla="*/ 18 w 29"/>
                <a:gd name="T5" fmla="*/ 0 h 15"/>
                <a:gd name="T6" fmla="*/ 0 w 29"/>
                <a:gd name="T7" fmla="*/ 8 h 15"/>
                <a:gd name="T8" fmla="*/ 9 w 29"/>
                <a:gd name="T9" fmla="*/ 15 h 15"/>
                <a:gd name="T10" fmla="*/ 9 w 29"/>
                <a:gd name="T11" fmla="*/ 15 h 15"/>
                <a:gd name="T12" fmla="*/ 29 w 29"/>
                <a:gd name="T13" fmla="*/ 6 h 15"/>
                <a:gd name="T14" fmla="*/ 29 w 29"/>
                <a:gd name="T15" fmla="*/ 6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 h="15">
                  <a:moveTo>
                    <a:pt x="29" y="6"/>
                  </a:moveTo>
                  <a:lnTo>
                    <a:pt x="18" y="0"/>
                  </a:lnTo>
                  <a:lnTo>
                    <a:pt x="18" y="0"/>
                  </a:lnTo>
                  <a:lnTo>
                    <a:pt x="0" y="8"/>
                  </a:lnTo>
                  <a:lnTo>
                    <a:pt x="9" y="15"/>
                  </a:lnTo>
                  <a:lnTo>
                    <a:pt x="9" y="15"/>
                  </a:lnTo>
                  <a:lnTo>
                    <a:pt x="29" y="6"/>
                  </a:lnTo>
                  <a:lnTo>
                    <a:pt x="29"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80" name="Freeform 1299"/>
            <p:cNvSpPr/>
            <p:nvPr>
              <p:custDataLst>
                <p:tags r:id="rId39"/>
              </p:custDataLst>
            </p:nvPr>
          </p:nvSpPr>
          <p:spPr bwMode="auto">
            <a:xfrm rot="300000">
              <a:off x="7458" y="7664"/>
              <a:ext cx="66" cy="45"/>
            </a:xfrm>
            <a:custGeom>
              <a:avLst/>
              <a:gdLst>
                <a:gd name="T0" fmla="*/ 17 w 22"/>
                <a:gd name="T1" fmla="*/ 8 h 15"/>
                <a:gd name="T2" fmla="*/ 22 w 22"/>
                <a:gd name="T3" fmla="*/ 2 h 15"/>
                <a:gd name="T4" fmla="*/ 9 w 22"/>
                <a:gd name="T5" fmla="*/ 0 h 15"/>
                <a:gd name="T6" fmla="*/ 4 w 22"/>
                <a:gd name="T7" fmla="*/ 6 h 15"/>
                <a:gd name="T8" fmla="*/ 4 w 22"/>
                <a:gd name="T9" fmla="*/ 6 h 15"/>
                <a:gd name="T10" fmla="*/ 0 w 22"/>
                <a:gd name="T11" fmla="*/ 13 h 15"/>
                <a:gd name="T12" fmla="*/ 13 w 22"/>
                <a:gd name="T13" fmla="*/ 15 h 15"/>
                <a:gd name="T14" fmla="*/ 13 w 22"/>
                <a:gd name="T15" fmla="*/ 15 h 15"/>
                <a:gd name="T16" fmla="*/ 17 w 22"/>
                <a:gd name="T17" fmla="*/ 8 h 15"/>
                <a:gd name="T18" fmla="*/ 17 w 22"/>
                <a:gd name="T19"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5">
                  <a:moveTo>
                    <a:pt x="17" y="8"/>
                  </a:moveTo>
                  <a:lnTo>
                    <a:pt x="22" y="2"/>
                  </a:lnTo>
                  <a:lnTo>
                    <a:pt x="9" y="0"/>
                  </a:lnTo>
                  <a:lnTo>
                    <a:pt x="4" y="6"/>
                  </a:lnTo>
                  <a:lnTo>
                    <a:pt x="4" y="6"/>
                  </a:lnTo>
                  <a:lnTo>
                    <a:pt x="0" y="13"/>
                  </a:lnTo>
                  <a:lnTo>
                    <a:pt x="13" y="15"/>
                  </a:lnTo>
                  <a:lnTo>
                    <a:pt x="13" y="15"/>
                  </a:lnTo>
                  <a:lnTo>
                    <a:pt x="17" y="8"/>
                  </a:lnTo>
                  <a:lnTo>
                    <a:pt x="17"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81" name="Freeform 1300"/>
            <p:cNvSpPr/>
            <p:nvPr>
              <p:custDataLst>
                <p:tags r:id="rId40"/>
              </p:custDataLst>
            </p:nvPr>
          </p:nvSpPr>
          <p:spPr bwMode="auto">
            <a:xfrm rot="300000">
              <a:off x="7555" y="7382"/>
              <a:ext cx="51" cy="45"/>
            </a:xfrm>
            <a:custGeom>
              <a:avLst/>
              <a:gdLst>
                <a:gd name="T0" fmla="*/ 17 w 17"/>
                <a:gd name="T1" fmla="*/ 13 h 15"/>
                <a:gd name="T2" fmla="*/ 17 w 17"/>
                <a:gd name="T3" fmla="*/ 13 h 15"/>
                <a:gd name="T4" fmla="*/ 17 w 17"/>
                <a:gd name="T5" fmla="*/ 6 h 15"/>
                <a:gd name="T6" fmla="*/ 15 w 17"/>
                <a:gd name="T7" fmla="*/ 0 h 15"/>
                <a:gd name="T8" fmla="*/ 0 w 17"/>
                <a:gd name="T9" fmla="*/ 0 h 15"/>
                <a:gd name="T10" fmla="*/ 0 w 17"/>
                <a:gd name="T11" fmla="*/ 0 h 15"/>
                <a:gd name="T12" fmla="*/ 4 w 17"/>
                <a:gd name="T13" fmla="*/ 15 h 15"/>
                <a:gd name="T14" fmla="*/ 17 w 17"/>
                <a:gd name="T15" fmla="*/ 13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 h="15">
                  <a:moveTo>
                    <a:pt x="17" y="13"/>
                  </a:moveTo>
                  <a:lnTo>
                    <a:pt x="17" y="13"/>
                  </a:lnTo>
                  <a:lnTo>
                    <a:pt x="17" y="6"/>
                  </a:lnTo>
                  <a:lnTo>
                    <a:pt x="15" y="0"/>
                  </a:lnTo>
                  <a:lnTo>
                    <a:pt x="0" y="0"/>
                  </a:lnTo>
                  <a:lnTo>
                    <a:pt x="0" y="0"/>
                  </a:lnTo>
                  <a:lnTo>
                    <a:pt x="4" y="15"/>
                  </a:lnTo>
                  <a:lnTo>
                    <a:pt x="17"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82" name="Freeform 1301"/>
            <p:cNvSpPr/>
            <p:nvPr>
              <p:custDataLst>
                <p:tags r:id="rId41"/>
              </p:custDataLst>
            </p:nvPr>
          </p:nvSpPr>
          <p:spPr bwMode="auto">
            <a:xfrm rot="300000">
              <a:off x="7542" y="7527"/>
              <a:ext cx="51" cy="45"/>
            </a:xfrm>
            <a:custGeom>
              <a:avLst/>
              <a:gdLst>
                <a:gd name="T0" fmla="*/ 17 w 17"/>
                <a:gd name="T1" fmla="*/ 0 h 15"/>
                <a:gd name="T2" fmla="*/ 4 w 17"/>
                <a:gd name="T3" fmla="*/ 0 h 15"/>
                <a:gd name="T4" fmla="*/ 0 w 17"/>
                <a:gd name="T5" fmla="*/ 13 h 15"/>
                <a:gd name="T6" fmla="*/ 15 w 17"/>
                <a:gd name="T7" fmla="*/ 15 h 15"/>
                <a:gd name="T8" fmla="*/ 17 w 17"/>
                <a:gd name="T9" fmla="*/ 0 h 15"/>
              </a:gdLst>
              <a:ahLst/>
              <a:cxnLst>
                <a:cxn ang="0">
                  <a:pos x="T0" y="T1"/>
                </a:cxn>
                <a:cxn ang="0">
                  <a:pos x="T2" y="T3"/>
                </a:cxn>
                <a:cxn ang="0">
                  <a:pos x="T4" y="T5"/>
                </a:cxn>
                <a:cxn ang="0">
                  <a:pos x="T6" y="T7"/>
                </a:cxn>
                <a:cxn ang="0">
                  <a:pos x="T8" y="T9"/>
                </a:cxn>
              </a:cxnLst>
              <a:rect l="0" t="0" r="r" b="b"/>
              <a:pathLst>
                <a:path w="17" h="15">
                  <a:moveTo>
                    <a:pt x="17" y="0"/>
                  </a:moveTo>
                  <a:lnTo>
                    <a:pt x="4" y="0"/>
                  </a:lnTo>
                  <a:lnTo>
                    <a:pt x="0" y="13"/>
                  </a:lnTo>
                  <a:lnTo>
                    <a:pt x="15" y="15"/>
                  </a:lnTo>
                  <a:lnTo>
                    <a:pt x="1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83" name="Freeform 1302"/>
            <p:cNvSpPr/>
            <p:nvPr>
              <p:custDataLst>
                <p:tags r:id="rId42"/>
              </p:custDataLst>
            </p:nvPr>
          </p:nvSpPr>
          <p:spPr bwMode="auto">
            <a:xfrm rot="300000">
              <a:off x="7502" y="7229"/>
              <a:ext cx="66" cy="51"/>
            </a:xfrm>
            <a:custGeom>
              <a:avLst/>
              <a:gdLst>
                <a:gd name="T0" fmla="*/ 0 w 22"/>
                <a:gd name="T1" fmla="*/ 4 h 17"/>
                <a:gd name="T2" fmla="*/ 9 w 22"/>
                <a:gd name="T3" fmla="*/ 17 h 17"/>
                <a:gd name="T4" fmla="*/ 22 w 22"/>
                <a:gd name="T5" fmla="*/ 13 h 17"/>
                <a:gd name="T6" fmla="*/ 13 w 22"/>
                <a:gd name="T7" fmla="*/ 0 h 17"/>
                <a:gd name="T8" fmla="*/ 0 w 22"/>
                <a:gd name="T9" fmla="*/ 4 h 17"/>
              </a:gdLst>
              <a:ahLst/>
              <a:cxnLst>
                <a:cxn ang="0">
                  <a:pos x="T0" y="T1"/>
                </a:cxn>
                <a:cxn ang="0">
                  <a:pos x="T2" y="T3"/>
                </a:cxn>
                <a:cxn ang="0">
                  <a:pos x="T4" y="T5"/>
                </a:cxn>
                <a:cxn ang="0">
                  <a:pos x="T6" y="T7"/>
                </a:cxn>
                <a:cxn ang="0">
                  <a:pos x="T8" y="T9"/>
                </a:cxn>
              </a:cxnLst>
              <a:rect l="0" t="0" r="r" b="b"/>
              <a:pathLst>
                <a:path w="22" h="17">
                  <a:moveTo>
                    <a:pt x="0" y="4"/>
                  </a:moveTo>
                  <a:lnTo>
                    <a:pt x="9" y="17"/>
                  </a:lnTo>
                  <a:lnTo>
                    <a:pt x="22" y="13"/>
                  </a:lnTo>
                  <a:lnTo>
                    <a:pt x="13" y="0"/>
                  </a:lnTo>
                  <a:lnTo>
                    <a:pt x="0"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84" name="Freeform 1303"/>
            <p:cNvSpPr/>
            <p:nvPr>
              <p:custDataLst>
                <p:tags r:id="rId43"/>
              </p:custDataLst>
            </p:nvPr>
          </p:nvSpPr>
          <p:spPr bwMode="auto">
            <a:xfrm rot="300000">
              <a:off x="7234" y="6967"/>
              <a:ext cx="78" cy="45"/>
            </a:xfrm>
            <a:custGeom>
              <a:avLst/>
              <a:gdLst>
                <a:gd name="T0" fmla="*/ 9 w 26"/>
                <a:gd name="T1" fmla="*/ 0 h 15"/>
                <a:gd name="T2" fmla="*/ 0 w 26"/>
                <a:gd name="T3" fmla="*/ 4 h 15"/>
                <a:gd name="T4" fmla="*/ 15 w 26"/>
                <a:gd name="T5" fmla="*/ 15 h 15"/>
                <a:gd name="T6" fmla="*/ 26 w 26"/>
                <a:gd name="T7" fmla="*/ 9 h 15"/>
                <a:gd name="T8" fmla="*/ 9 w 26"/>
                <a:gd name="T9" fmla="*/ 0 h 15"/>
              </a:gdLst>
              <a:ahLst/>
              <a:cxnLst>
                <a:cxn ang="0">
                  <a:pos x="T0" y="T1"/>
                </a:cxn>
                <a:cxn ang="0">
                  <a:pos x="T2" y="T3"/>
                </a:cxn>
                <a:cxn ang="0">
                  <a:pos x="T4" y="T5"/>
                </a:cxn>
                <a:cxn ang="0">
                  <a:pos x="T6" y="T7"/>
                </a:cxn>
                <a:cxn ang="0">
                  <a:pos x="T8" y="T9"/>
                </a:cxn>
              </a:cxnLst>
              <a:rect l="0" t="0" r="r" b="b"/>
              <a:pathLst>
                <a:path w="26" h="15">
                  <a:moveTo>
                    <a:pt x="9" y="0"/>
                  </a:moveTo>
                  <a:lnTo>
                    <a:pt x="0" y="4"/>
                  </a:lnTo>
                  <a:lnTo>
                    <a:pt x="15" y="15"/>
                  </a:lnTo>
                  <a:lnTo>
                    <a:pt x="26" y="9"/>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85" name="Freeform 1304"/>
            <p:cNvSpPr/>
            <p:nvPr>
              <p:custDataLst>
                <p:tags r:id="rId44"/>
              </p:custDataLst>
            </p:nvPr>
          </p:nvSpPr>
          <p:spPr bwMode="auto">
            <a:xfrm rot="300000">
              <a:off x="7391" y="7091"/>
              <a:ext cx="78" cy="45"/>
            </a:xfrm>
            <a:custGeom>
              <a:avLst/>
              <a:gdLst>
                <a:gd name="T0" fmla="*/ 13 w 26"/>
                <a:gd name="T1" fmla="*/ 15 h 15"/>
                <a:gd name="T2" fmla="*/ 26 w 26"/>
                <a:gd name="T3" fmla="*/ 11 h 15"/>
                <a:gd name="T4" fmla="*/ 26 w 26"/>
                <a:gd name="T5" fmla="*/ 11 h 15"/>
                <a:gd name="T6" fmla="*/ 11 w 26"/>
                <a:gd name="T7" fmla="*/ 0 h 15"/>
                <a:gd name="T8" fmla="*/ 0 w 26"/>
                <a:gd name="T9" fmla="*/ 4 h 15"/>
                <a:gd name="T10" fmla="*/ 0 w 26"/>
                <a:gd name="T11" fmla="*/ 4 h 15"/>
                <a:gd name="T12" fmla="*/ 13 w 26"/>
                <a:gd name="T13" fmla="*/ 15 h 15"/>
                <a:gd name="T14" fmla="*/ 13 w 26"/>
                <a:gd name="T15" fmla="*/ 15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15">
                  <a:moveTo>
                    <a:pt x="13" y="15"/>
                  </a:moveTo>
                  <a:lnTo>
                    <a:pt x="26" y="11"/>
                  </a:lnTo>
                  <a:lnTo>
                    <a:pt x="26" y="11"/>
                  </a:lnTo>
                  <a:lnTo>
                    <a:pt x="11" y="0"/>
                  </a:lnTo>
                  <a:lnTo>
                    <a:pt x="0" y="4"/>
                  </a:lnTo>
                  <a:lnTo>
                    <a:pt x="0" y="4"/>
                  </a:lnTo>
                  <a:lnTo>
                    <a:pt x="13" y="15"/>
                  </a:lnTo>
                  <a:lnTo>
                    <a:pt x="13" y="1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86" name="Freeform 1305"/>
            <p:cNvSpPr/>
            <p:nvPr>
              <p:custDataLst>
                <p:tags r:id="rId45"/>
              </p:custDataLst>
            </p:nvPr>
          </p:nvSpPr>
          <p:spPr bwMode="auto">
            <a:xfrm rot="300000">
              <a:off x="7055" y="6841"/>
              <a:ext cx="84" cy="54"/>
            </a:xfrm>
            <a:custGeom>
              <a:avLst/>
              <a:gdLst>
                <a:gd name="T0" fmla="*/ 28 w 28"/>
                <a:gd name="T1" fmla="*/ 11 h 18"/>
                <a:gd name="T2" fmla="*/ 11 w 28"/>
                <a:gd name="T3" fmla="*/ 0 h 18"/>
                <a:gd name="T4" fmla="*/ 0 w 28"/>
                <a:gd name="T5" fmla="*/ 7 h 18"/>
                <a:gd name="T6" fmla="*/ 18 w 28"/>
                <a:gd name="T7" fmla="*/ 18 h 18"/>
                <a:gd name="T8" fmla="*/ 28 w 28"/>
                <a:gd name="T9" fmla="*/ 11 h 18"/>
              </a:gdLst>
              <a:ahLst/>
              <a:cxnLst>
                <a:cxn ang="0">
                  <a:pos x="T0" y="T1"/>
                </a:cxn>
                <a:cxn ang="0">
                  <a:pos x="T2" y="T3"/>
                </a:cxn>
                <a:cxn ang="0">
                  <a:pos x="T4" y="T5"/>
                </a:cxn>
                <a:cxn ang="0">
                  <a:pos x="T6" y="T7"/>
                </a:cxn>
                <a:cxn ang="0">
                  <a:pos x="T8" y="T9"/>
                </a:cxn>
              </a:cxnLst>
              <a:rect l="0" t="0" r="r" b="b"/>
              <a:pathLst>
                <a:path w="28" h="18">
                  <a:moveTo>
                    <a:pt x="28" y="11"/>
                  </a:moveTo>
                  <a:lnTo>
                    <a:pt x="11" y="0"/>
                  </a:lnTo>
                  <a:lnTo>
                    <a:pt x="0" y="7"/>
                  </a:lnTo>
                  <a:lnTo>
                    <a:pt x="18" y="18"/>
                  </a:lnTo>
                  <a:lnTo>
                    <a:pt x="28" y="1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87" name="Freeform 1306"/>
            <p:cNvSpPr/>
            <p:nvPr>
              <p:custDataLst>
                <p:tags r:id="rId46"/>
              </p:custDataLst>
            </p:nvPr>
          </p:nvSpPr>
          <p:spPr bwMode="auto">
            <a:xfrm rot="300000">
              <a:off x="6762" y="6591"/>
              <a:ext cx="69" cy="45"/>
            </a:xfrm>
            <a:custGeom>
              <a:avLst/>
              <a:gdLst>
                <a:gd name="T0" fmla="*/ 13 w 23"/>
                <a:gd name="T1" fmla="*/ 15 h 15"/>
                <a:gd name="T2" fmla="*/ 23 w 23"/>
                <a:gd name="T3" fmla="*/ 11 h 15"/>
                <a:gd name="T4" fmla="*/ 23 w 23"/>
                <a:gd name="T5" fmla="*/ 11 h 15"/>
                <a:gd name="T6" fmla="*/ 13 w 23"/>
                <a:gd name="T7" fmla="*/ 0 h 15"/>
                <a:gd name="T8" fmla="*/ 0 w 23"/>
                <a:gd name="T9" fmla="*/ 4 h 15"/>
                <a:gd name="T10" fmla="*/ 0 w 23"/>
                <a:gd name="T11" fmla="*/ 4 h 15"/>
                <a:gd name="T12" fmla="*/ 13 w 23"/>
                <a:gd name="T13" fmla="*/ 15 h 15"/>
                <a:gd name="T14" fmla="*/ 13 w 23"/>
                <a:gd name="T15" fmla="*/ 15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15">
                  <a:moveTo>
                    <a:pt x="13" y="15"/>
                  </a:moveTo>
                  <a:lnTo>
                    <a:pt x="23" y="11"/>
                  </a:lnTo>
                  <a:lnTo>
                    <a:pt x="23" y="11"/>
                  </a:lnTo>
                  <a:lnTo>
                    <a:pt x="13" y="0"/>
                  </a:lnTo>
                  <a:lnTo>
                    <a:pt x="0" y="4"/>
                  </a:lnTo>
                  <a:lnTo>
                    <a:pt x="0" y="4"/>
                  </a:lnTo>
                  <a:lnTo>
                    <a:pt x="13" y="15"/>
                  </a:lnTo>
                  <a:lnTo>
                    <a:pt x="13" y="1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88" name="Freeform 1307"/>
            <p:cNvSpPr/>
            <p:nvPr>
              <p:custDataLst>
                <p:tags r:id="rId47"/>
              </p:custDataLst>
            </p:nvPr>
          </p:nvSpPr>
          <p:spPr bwMode="auto">
            <a:xfrm rot="300000">
              <a:off x="6891" y="6725"/>
              <a:ext cx="78" cy="45"/>
            </a:xfrm>
            <a:custGeom>
              <a:avLst/>
              <a:gdLst>
                <a:gd name="T0" fmla="*/ 26 w 26"/>
                <a:gd name="T1" fmla="*/ 11 h 15"/>
                <a:gd name="T2" fmla="*/ 26 w 26"/>
                <a:gd name="T3" fmla="*/ 11 h 15"/>
                <a:gd name="T4" fmla="*/ 11 w 26"/>
                <a:gd name="T5" fmla="*/ 0 h 15"/>
                <a:gd name="T6" fmla="*/ 0 w 26"/>
                <a:gd name="T7" fmla="*/ 4 h 15"/>
                <a:gd name="T8" fmla="*/ 0 w 26"/>
                <a:gd name="T9" fmla="*/ 4 h 15"/>
                <a:gd name="T10" fmla="*/ 15 w 26"/>
                <a:gd name="T11" fmla="*/ 15 h 15"/>
                <a:gd name="T12" fmla="*/ 26 w 26"/>
                <a:gd name="T13" fmla="*/ 11 h 15"/>
              </a:gdLst>
              <a:ahLst/>
              <a:cxnLst>
                <a:cxn ang="0">
                  <a:pos x="T0" y="T1"/>
                </a:cxn>
                <a:cxn ang="0">
                  <a:pos x="T2" y="T3"/>
                </a:cxn>
                <a:cxn ang="0">
                  <a:pos x="T4" y="T5"/>
                </a:cxn>
                <a:cxn ang="0">
                  <a:pos x="T6" y="T7"/>
                </a:cxn>
                <a:cxn ang="0">
                  <a:pos x="T8" y="T9"/>
                </a:cxn>
                <a:cxn ang="0">
                  <a:pos x="T10" y="T11"/>
                </a:cxn>
                <a:cxn ang="0">
                  <a:pos x="T12" y="T13"/>
                </a:cxn>
              </a:cxnLst>
              <a:rect l="0" t="0" r="r" b="b"/>
              <a:pathLst>
                <a:path w="26" h="15">
                  <a:moveTo>
                    <a:pt x="26" y="11"/>
                  </a:moveTo>
                  <a:lnTo>
                    <a:pt x="26" y="11"/>
                  </a:lnTo>
                  <a:lnTo>
                    <a:pt x="11" y="0"/>
                  </a:lnTo>
                  <a:lnTo>
                    <a:pt x="0" y="4"/>
                  </a:lnTo>
                  <a:lnTo>
                    <a:pt x="0" y="4"/>
                  </a:lnTo>
                  <a:lnTo>
                    <a:pt x="15" y="15"/>
                  </a:lnTo>
                  <a:lnTo>
                    <a:pt x="26" y="1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89" name="Freeform 1308"/>
            <p:cNvSpPr/>
            <p:nvPr>
              <p:custDataLst>
                <p:tags r:id="rId48"/>
              </p:custDataLst>
            </p:nvPr>
          </p:nvSpPr>
          <p:spPr bwMode="auto">
            <a:xfrm rot="300000">
              <a:off x="6675" y="6446"/>
              <a:ext cx="66" cy="48"/>
            </a:xfrm>
            <a:custGeom>
              <a:avLst/>
              <a:gdLst>
                <a:gd name="T0" fmla="*/ 22 w 22"/>
                <a:gd name="T1" fmla="*/ 13 h 16"/>
                <a:gd name="T2" fmla="*/ 22 w 22"/>
                <a:gd name="T3" fmla="*/ 13 h 16"/>
                <a:gd name="T4" fmla="*/ 13 w 22"/>
                <a:gd name="T5" fmla="*/ 0 h 16"/>
                <a:gd name="T6" fmla="*/ 0 w 22"/>
                <a:gd name="T7" fmla="*/ 3 h 16"/>
                <a:gd name="T8" fmla="*/ 0 w 22"/>
                <a:gd name="T9" fmla="*/ 3 h 16"/>
                <a:gd name="T10" fmla="*/ 9 w 22"/>
                <a:gd name="T11" fmla="*/ 16 h 16"/>
                <a:gd name="T12" fmla="*/ 22 w 22"/>
                <a:gd name="T13" fmla="*/ 13 h 16"/>
              </a:gdLst>
              <a:ahLst/>
              <a:cxnLst>
                <a:cxn ang="0">
                  <a:pos x="T0" y="T1"/>
                </a:cxn>
                <a:cxn ang="0">
                  <a:pos x="T2" y="T3"/>
                </a:cxn>
                <a:cxn ang="0">
                  <a:pos x="T4" y="T5"/>
                </a:cxn>
                <a:cxn ang="0">
                  <a:pos x="T6" y="T7"/>
                </a:cxn>
                <a:cxn ang="0">
                  <a:pos x="T8" y="T9"/>
                </a:cxn>
                <a:cxn ang="0">
                  <a:pos x="T10" y="T11"/>
                </a:cxn>
                <a:cxn ang="0">
                  <a:pos x="T12" y="T13"/>
                </a:cxn>
              </a:cxnLst>
              <a:rect l="0" t="0" r="r" b="b"/>
              <a:pathLst>
                <a:path w="22" h="16">
                  <a:moveTo>
                    <a:pt x="22" y="13"/>
                  </a:moveTo>
                  <a:lnTo>
                    <a:pt x="22" y="13"/>
                  </a:lnTo>
                  <a:lnTo>
                    <a:pt x="13" y="0"/>
                  </a:lnTo>
                  <a:lnTo>
                    <a:pt x="0" y="3"/>
                  </a:lnTo>
                  <a:lnTo>
                    <a:pt x="0" y="3"/>
                  </a:lnTo>
                  <a:lnTo>
                    <a:pt x="9" y="16"/>
                  </a:lnTo>
                  <a:lnTo>
                    <a:pt x="22"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90" name="Freeform 1309"/>
            <p:cNvSpPr/>
            <p:nvPr>
              <p:custDataLst>
                <p:tags r:id="rId49"/>
              </p:custDataLst>
            </p:nvPr>
          </p:nvSpPr>
          <p:spPr bwMode="auto">
            <a:xfrm rot="300000">
              <a:off x="6650" y="6160"/>
              <a:ext cx="45" cy="39"/>
            </a:xfrm>
            <a:custGeom>
              <a:avLst/>
              <a:gdLst>
                <a:gd name="T0" fmla="*/ 0 w 15"/>
                <a:gd name="T1" fmla="*/ 13 h 13"/>
                <a:gd name="T2" fmla="*/ 13 w 15"/>
                <a:gd name="T3" fmla="*/ 13 h 13"/>
                <a:gd name="T4" fmla="*/ 15 w 15"/>
                <a:gd name="T5" fmla="*/ 0 h 13"/>
                <a:gd name="T6" fmla="*/ 0 w 15"/>
                <a:gd name="T7" fmla="*/ 0 h 13"/>
                <a:gd name="T8" fmla="*/ 0 w 15"/>
                <a:gd name="T9" fmla="*/ 13 h 13"/>
              </a:gdLst>
              <a:ahLst/>
              <a:cxnLst>
                <a:cxn ang="0">
                  <a:pos x="T0" y="T1"/>
                </a:cxn>
                <a:cxn ang="0">
                  <a:pos x="T2" y="T3"/>
                </a:cxn>
                <a:cxn ang="0">
                  <a:pos x="T4" y="T5"/>
                </a:cxn>
                <a:cxn ang="0">
                  <a:pos x="T6" y="T7"/>
                </a:cxn>
                <a:cxn ang="0">
                  <a:pos x="T8" y="T9"/>
                </a:cxn>
              </a:cxnLst>
              <a:rect l="0" t="0" r="r" b="b"/>
              <a:pathLst>
                <a:path w="15" h="13">
                  <a:moveTo>
                    <a:pt x="0" y="13"/>
                  </a:moveTo>
                  <a:lnTo>
                    <a:pt x="13" y="13"/>
                  </a:lnTo>
                  <a:lnTo>
                    <a:pt x="15" y="0"/>
                  </a:lnTo>
                  <a:lnTo>
                    <a:pt x="0" y="0"/>
                  </a:lnTo>
                  <a:lnTo>
                    <a:pt x="0"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91" name="Freeform 1310"/>
            <p:cNvSpPr/>
            <p:nvPr>
              <p:custDataLst>
                <p:tags r:id="rId50"/>
              </p:custDataLst>
            </p:nvPr>
          </p:nvSpPr>
          <p:spPr bwMode="auto">
            <a:xfrm rot="300000">
              <a:off x="6637" y="6302"/>
              <a:ext cx="57" cy="45"/>
            </a:xfrm>
            <a:custGeom>
              <a:avLst/>
              <a:gdLst>
                <a:gd name="T0" fmla="*/ 19 w 19"/>
                <a:gd name="T1" fmla="*/ 13 h 15"/>
                <a:gd name="T2" fmla="*/ 19 w 19"/>
                <a:gd name="T3" fmla="*/ 13 h 15"/>
                <a:gd name="T4" fmla="*/ 15 w 19"/>
                <a:gd name="T5" fmla="*/ 0 h 15"/>
                <a:gd name="T6" fmla="*/ 0 w 19"/>
                <a:gd name="T7" fmla="*/ 2 h 15"/>
                <a:gd name="T8" fmla="*/ 0 w 19"/>
                <a:gd name="T9" fmla="*/ 2 h 15"/>
                <a:gd name="T10" fmla="*/ 4 w 19"/>
                <a:gd name="T11" fmla="*/ 15 h 15"/>
                <a:gd name="T12" fmla="*/ 19 w 19"/>
                <a:gd name="T13" fmla="*/ 13 h 15"/>
              </a:gdLst>
              <a:ahLst/>
              <a:cxnLst>
                <a:cxn ang="0">
                  <a:pos x="T0" y="T1"/>
                </a:cxn>
                <a:cxn ang="0">
                  <a:pos x="T2" y="T3"/>
                </a:cxn>
                <a:cxn ang="0">
                  <a:pos x="T4" y="T5"/>
                </a:cxn>
                <a:cxn ang="0">
                  <a:pos x="T6" y="T7"/>
                </a:cxn>
                <a:cxn ang="0">
                  <a:pos x="T8" y="T9"/>
                </a:cxn>
                <a:cxn ang="0">
                  <a:pos x="T10" y="T11"/>
                </a:cxn>
                <a:cxn ang="0">
                  <a:pos x="T12" y="T13"/>
                </a:cxn>
              </a:cxnLst>
              <a:rect l="0" t="0" r="r" b="b"/>
              <a:pathLst>
                <a:path w="19" h="15">
                  <a:moveTo>
                    <a:pt x="19" y="13"/>
                  </a:moveTo>
                  <a:lnTo>
                    <a:pt x="19" y="13"/>
                  </a:lnTo>
                  <a:lnTo>
                    <a:pt x="15" y="0"/>
                  </a:lnTo>
                  <a:lnTo>
                    <a:pt x="0" y="2"/>
                  </a:lnTo>
                  <a:lnTo>
                    <a:pt x="0" y="2"/>
                  </a:lnTo>
                  <a:lnTo>
                    <a:pt x="4" y="15"/>
                  </a:lnTo>
                  <a:lnTo>
                    <a:pt x="19"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92" name="Freeform 1311"/>
            <p:cNvSpPr/>
            <p:nvPr>
              <p:custDataLst>
                <p:tags r:id="rId51"/>
              </p:custDataLst>
            </p:nvPr>
          </p:nvSpPr>
          <p:spPr bwMode="auto">
            <a:xfrm rot="300000">
              <a:off x="6695" y="6018"/>
              <a:ext cx="57" cy="45"/>
            </a:xfrm>
            <a:custGeom>
              <a:avLst/>
              <a:gdLst>
                <a:gd name="T0" fmla="*/ 0 w 19"/>
                <a:gd name="T1" fmla="*/ 13 h 15"/>
                <a:gd name="T2" fmla="*/ 13 w 19"/>
                <a:gd name="T3" fmla="*/ 15 h 15"/>
                <a:gd name="T4" fmla="*/ 19 w 19"/>
                <a:gd name="T5" fmla="*/ 2 h 15"/>
                <a:gd name="T6" fmla="*/ 4 w 19"/>
                <a:gd name="T7" fmla="*/ 0 h 15"/>
                <a:gd name="T8" fmla="*/ 0 w 19"/>
                <a:gd name="T9" fmla="*/ 13 h 15"/>
              </a:gdLst>
              <a:ahLst/>
              <a:cxnLst>
                <a:cxn ang="0">
                  <a:pos x="T0" y="T1"/>
                </a:cxn>
                <a:cxn ang="0">
                  <a:pos x="T2" y="T3"/>
                </a:cxn>
                <a:cxn ang="0">
                  <a:pos x="T4" y="T5"/>
                </a:cxn>
                <a:cxn ang="0">
                  <a:pos x="T6" y="T7"/>
                </a:cxn>
                <a:cxn ang="0">
                  <a:pos x="T8" y="T9"/>
                </a:cxn>
              </a:cxnLst>
              <a:rect l="0" t="0" r="r" b="b"/>
              <a:pathLst>
                <a:path w="19" h="15">
                  <a:moveTo>
                    <a:pt x="0" y="13"/>
                  </a:moveTo>
                  <a:lnTo>
                    <a:pt x="13" y="15"/>
                  </a:lnTo>
                  <a:lnTo>
                    <a:pt x="19" y="2"/>
                  </a:lnTo>
                  <a:lnTo>
                    <a:pt x="4" y="0"/>
                  </a:lnTo>
                  <a:lnTo>
                    <a:pt x="0"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93" name="Freeform 1312"/>
            <p:cNvSpPr/>
            <p:nvPr>
              <p:custDataLst>
                <p:tags r:id="rId52"/>
              </p:custDataLst>
            </p:nvPr>
          </p:nvSpPr>
          <p:spPr bwMode="auto">
            <a:xfrm rot="300000">
              <a:off x="6924" y="5773"/>
              <a:ext cx="78" cy="45"/>
            </a:xfrm>
            <a:custGeom>
              <a:avLst/>
              <a:gdLst>
                <a:gd name="T0" fmla="*/ 26 w 26"/>
                <a:gd name="T1" fmla="*/ 5 h 15"/>
                <a:gd name="T2" fmla="*/ 13 w 26"/>
                <a:gd name="T3" fmla="*/ 0 h 15"/>
                <a:gd name="T4" fmla="*/ 0 w 26"/>
                <a:gd name="T5" fmla="*/ 11 h 15"/>
                <a:gd name="T6" fmla="*/ 11 w 26"/>
                <a:gd name="T7" fmla="*/ 15 h 15"/>
                <a:gd name="T8" fmla="*/ 26 w 26"/>
                <a:gd name="T9" fmla="*/ 5 h 15"/>
              </a:gdLst>
              <a:ahLst/>
              <a:cxnLst>
                <a:cxn ang="0">
                  <a:pos x="T0" y="T1"/>
                </a:cxn>
                <a:cxn ang="0">
                  <a:pos x="T2" y="T3"/>
                </a:cxn>
                <a:cxn ang="0">
                  <a:pos x="T4" y="T5"/>
                </a:cxn>
                <a:cxn ang="0">
                  <a:pos x="T6" y="T7"/>
                </a:cxn>
                <a:cxn ang="0">
                  <a:pos x="T8" y="T9"/>
                </a:cxn>
              </a:cxnLst>
              <a:rect l="0" t="0" r="r" b="b"/>
              <a:pathLst>
                <a:path w="26" h="15">
                  <a:moveTo>
                    <a:pt x="26" y="5"/>
                  </a:moveTo>
                  <a:lnTo>
                    <a:pt x="13" y="0"/>
                  </a:lnTo>
                  <a:lnTo>
                    <a:pt x="0" y="11"/>
                  </a:lnTo>
                  <a:lnTo>
                    <a:pt x="11" y="15"/>
                  </a:lnTo>
                  <a:lnTo>
                    <a:pt x="26" y="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94" name="Freeform 1313"/>
            <p:cNvSpPr/>
            <p:nvPr>
              <p:custDataLst>
                <p:tags r:id="rId53"/>
              </p:custDataLst>
            </p:nvPr>
          </p:nvSpPr>
          <p:spPr bwMode="auto">
            <a:xfrm rot="300000">
              <a:off x="6784" y="5883"/>
              <a:ext cx="69" cy="54"/>
            </a:xfrm>
            <a:custGeom>
              <a:avLst/>
              <a:gdLst>
                <a:gd name="T0" fmla="*/ 0 w 23"/>
                <a:gd name="T1" fmla="*/ 13 h 18"/>
                <a:gd name="T2" fmla="*/ 13 w 23"/>
                <a:gd name="T3" fmla="*/ 18 h 18"/>
                <a:gd name="T4" fmla="*/ 23 w 23"/>
                <a:gd name="T5" fmla="*/ 5 h 18"/>
                <a:gd name="T6" fmla="*/ 10 w 23"/>
                <a:gd name="T7" fmla="*/ 0 h 18"/>
                <a:gd name="T8" fmla="*/ 0 w 23"/>
                <a:gd name="T9" fmla="*/ 13 h 18"/>
              </a:gdLst>
              <a:ahLst/>
              <a:cxnLst>
                <a:cxn ang="0">
                  <a:pos x="T0" y="T1"/>
                </a:cxn>
                <a:cxn ang="0">
                  <a:pos x="T2" y="T3"/>
                </a:cxn>
                <a:cxn ang="0">
                  <a:pos x="T4" y="T5"/>
                </a:cxn>
                <a:cxn ang="0">
                  <a:pos x="T6" y="T7"/>
                </a:cxn>
                <a:cxn ang="0">
                  <a:pos x="T8" y="T9"/>
                </a:cxn>
              </a:cxnLst>
              <a:rect l="0" t="0" r="r" b="b"/>
              <a:pathLst>
                <a:path w="23" h="18">
                  <a:moveTo>
                    <a:pt x="0" y="13"/>
                  </a:moveTo>
                  <a:lnTo>
                    <a:pt x="13" y="18"/>
                  </a:lnTo>
                  <a:lnTo>
                    <a:pt x="23" y="5"/>
                  </a:lnTo>
                  <a:lnTo>
                    <a:pt x="10" y="0"/>
                  </a:lnTo>
                  <a:lnTo>
                    <a:pt x="0"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95" name="Freeform 1314"/>
            <p:cNvSpPr/>
            <p:nvPr>
              <p:custDataLst>
                <p:tags r:id="rId54"/>
              </p:custDataLst>
            </p:nvPr>
          </p:nvSpPr>
          <p:spPr bwMode="auto">
            <a:xfrm rot="300000">
              <a:off x="7100" y="5681"/>
              <a:ext cx="78" cy="45"/>
            </a:xfrm>
            <a:custGeom>
              <a:avLst/>
              <a:gdLst>
                <a:gd name="T0" fmla="*/ 26 w 26"/>
                <a:gd name="T1" fmla="*/ 6 h 15"/>
                <a:gd name="T2" fmla="*/ 17 w 26"/>
                <a:gd name="T3" fmla="*/ 0 h 15"/>
                <a:gd name="T4" fmla="*/ 0 w 26"/>
                <a:gd name="T5" fmla="*/ 8 h 15"/>
                <a:gd name="T6" fmla="*/ 9 w 26"/>
                <a:gd name="T7" fmla="*/ 15 h 15"/>
                <a:gd name="T8" fmla="*/ 26 w 26"/>
                <a:gd name="T9" fmla="*/ 6 h 15"/>
              </a:gdLst>
              <a:ahLst/>
              <a:cxnLst>
                <a:cxn ang="0">
                  <a:pos x="T0" y="T1"/>
                </a:cxn>
                <a:cxn ang="0">
                  <a:pos x="T2" y="T3"/>
                </a:cxn>
                <a:cxn ang="0">
                  <a:pos x="T4" y="T5"/>
                </a:cxn>
                <a:cxn ang="0">
                  <a:pos x="T6" y="T7"/>
                </a:cxn>
                <a:cxn ang="0">
                  <a:pos x="T8" y="T9"/>
                </a:cxn>
              </a:cxnLst>
              <a:rect l="0" t="0" r="r" b="b"/>
              <a:pathLst>
                <a:path w="26" h="15">
                  <a:moveTo>
                    <a:pt x="26" y="6"/>
                  </a:moveTo>
                  <a:lnTo>
                    <a:pt x="17" y="0"/>
                  </a:lnTo>
                  <a:lnTo>
                    <a:pt x="0" y="8"/>
                  </a:lnTo>
                  <a:lnTo>
                    <a:pt x="9" y="15"/>
                  </a:lnTo>
                  <a:lnTo>
                    <a:pt x="26"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96" name="Freeform 1315"/>
            <p:cNvSpPr/>
            <p:nvPr>
              <p:custDataLst>
                <p:tags r:id="rId55"/>
              </p:custDataLst>
            </p:nvPr>
          </p:nvSpPr>
          <p:spPr bwMode="auto">
            <a:xfrm rot="300000">
              <a:off x="7537" y="5571"/>
              <a:ext cx="84" cy="33"/>
            </a:xfrm>
            <a:custGeom>
              <a:avLst/>
              <a:gdLst>
                <a:gd name="T0" fmla="*/ 22 w 28"/>
                <a:gd name="T1" fmla="*/ 0 h 11"/>
                <a:gd name="T2" fmla="*/ 22 w 28"/>
                <a:gd name="T3" fmla="*/ 0 h 11"/>
                <a:gd name="T4" fmla="*/ 0 w 28"/>
                <a:gd name="T5" fmla="*/ 4 h 11"/>
                <a:gd name="T6" fmla="*/ 5 w 28"/>
                <a:gd name="T7" fmla="*/ 11 h 11"/>
                <a:gd name="T8" fmla="*/ 5 w 28"/>
                <a:gd name="T9" fmla="*/ 11 h 11"/>
                <a:gd name="T10" fmla="*/ 28 w 28"/>
                <a:gd name="T11" fmla="*/ 6 h 11"/>
                <a:gd name="T12" fmla="*/ 22 w 28"/>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28" h="11">
                  <a:moveTo>
                    <a:pt x="22" y="0"/>
                  </a:moveTo>
                  <a:lnTo>
                    <a:pt x="22" y="0"/>
                  </a:lnTo>
                  <a:lnTo>
                    <a:pt x="0" y="4"/>
                  </a:lnTo>
                  <a:lnTo>
                    <a:pt x="5" y="11"/>
                  </a:lnTo>
                  <a:lnTo>
                    <a:pt x="5" y="11"/>
                  </a:lnTo>
                  <a:lnTo>
                    <a:pt x="28" y="6"/>
                  </a:lnTo>
                  <a:lnTo>
                    <a:pt x="22"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97" name="Freeform 1316"/>
            <p:cNvSpPr/>
            <p:nvPr>
              <p:custDataLst>
                <p:tags r:id="rId56"/>
              </p:custDataLst>
            </p:nvPr>
          </p:nvSpPr>
          <p:spPr bwMode="auto">
            <a:xfrm rot="300000">
              <a:off x="7307" y="5607"/>
              <a:ext cx="84" cy="48"/>
            </a:xfrm>
            <a:custGeom>
              <a:avLst/>
              <a:gdLst>
                <a:gd name="T0" fmla="*/ 19 w 28"/>
                <a:gd name="T1" fmla="*/ 0 h 16"/>
                <a:gd name="T2" fmla="*/ 0 w 28"/>
                <a:gd name="T3" fmla="*/ 9 h 16"/>
                <a:gd name="T4" fmla="*/ 6 w 28"/>
                <a:gd name="T5" fmla="*/ 16 h 16"/>
                <a:gd name="T6" fmla="*/ 28 w 28"/>
                <a:gd name="T7" fmla="*/ 9 h 16"/>
                <a:gd name="T8" fmla="*/ 19 w 28"/>
                <a:gd name="T9" fmla="*/ 0 h 16"/>
              </a:gdLst>
              <a:ahLst/>
              <a:cxnLst>
                <a:cxn ang="0">
                  <a:pos x="T0" y="T1"/>
                </a:cxn>
                <a:cxn ang="0">
                  <a:pos x="T2" y="T3"/>
                </a:cxn>
                <a:cxn ang="0">
                  <a:pos x="T4" y="T5"/>
                </a:cxn>
                <a:cxn ang="0">
                  <a:pos x="T6" y="T7"/>
                </a:cxn>
                <a:cxn ang="0">
                  <a:pos x="T8" y="T9"/>
                </a:cxn>
              </a:cxnLst>
              <a:rect l="0" t="0" r="r" b="b"/>
              <a:pathLst>
                <a:path w="28" h="16">
                  <a:moveTo>
                    <a:pt x="19" y="0"/>
                  </a:moveTo>
                  <a:lnTo>
                    <a:pt x="0" y="9"/>
                  </a:lnTo>
                  <a:lnTo>
                    <a:pt x="6" y="16"/>
                  </a:lnTo>
                  <a:lnTo>
                    <a:pt x="28" y="9"/>
                  </a:lnTo>
                  <a:lnTo>
                    <a:pt x="1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98" name="Freeform 1317"/>
            <p:cNvSpPr/>
            <p:nvPr>
              <p:custDataLst>
                <p:tags r:id="rId57"/>
              </p:custDataLst>
            </p:nvPr>
          </p:nvSpPr>
          <p:spPr bwMode="auto">
            <a:xfrm rot="300000">
              <a:off x="7784" y="5553"/>
              <a:ext cx="78" cy="33"/>
            </a:xfrm>
            <a:custGeom>
              <a:avLst/>
              <a:gdLst>
                <a:gd name="T0" fmla="*/ 3 w 26"/>
                <a:gd name="T1" fmla="*/ 11 h 11"/>
                <a:gd name="T2" fmla="*/ 3 w 26"/>
                <a:gd name="T3" fmla="*/ 11 h 11"/>
                <a:gd name="T4" fmla="*/ 26 w 26"/>
                <a:gd name="T5" fmla="*/ 9 h 11"/>
                <a:gd name="T6" fmla="*/ 24 w 26"/>
                <a:gd name="T7" fmla="*/ 0 h 11"/>
                <a:gd name="T8" fmla="*/ 24 w 26"/>
                <a:gd name="T9" fmla="*/ 0 h 11"/>
                <a:gd name="T10" fmla="*/ 0 w 26"/>
                <a:gd name="T11" fmla="*/ 2 h 11"/>
                <a:gd name="T12" fmla="*/ 3 w 26"/>
                <a:gd name="T13" fmla="*/ 11 h 11"/>
              </a:gdLst>
              <a:ahLst/>
              <a:cxnLst>
                <a:cxn ang="0">
                  <a:pos x="T0" y="T1"/>
                </a:cxn>
                <a:cxn ang="0">
                  <a:pos x="T2" y="T3"/>
                </a:cxn>
                <a:cxn ang="0">
                  <a:pos x="T4" y="T5"/>
                </a:cxn>
                <a:cxn ang="0">
                  <a:pos x="T6" y="T7"/>
                </a:cxn>
                <a:cxn ang="0">
                  <a:pos x="T8" y="T9"/>
                </a:cxn>
                <a:cxn ang="0">
                  <a:pos x="T10" y="T11"/>
                </a:cxn>
                <a:cxn ang="0">
                  <a:pos x="T12" y="T13"/>
                </a:cxn>
              </a:cxnLst>
              <a:rect l="0" t="0" r="r" b="b"/>
              <a:pathLst>
                <a:path w="26" h="11">
                  <a:moveTo>
                    <a:pt x="3" y="11"/>
                  </a:moveTo>
                  <a:lnTo>
                    <a:pt x="3" y="11"/>
                  </a:lnTo>
                  <a:lnTo>
                    <a:pt x="26" y="9"/>
                  </a:lnTo>
                  <a:lnTo>
                    <a:pt x="24" y="0"/>
                  </a:lnTo>
                  <a:lnTo>
                    <a:pt x="24" y="0"/>
                  </a:lnTo>
                  <a:lnTo>
                    <a:pt x="0" y="2"/>
                  </a:lnTo>
                  <a:lnTo>
                    <a:pt x="3" y="1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99" name="Freeform 1318"/>
            <p:cNvSpPr/>
            <p:nvPr>
              <p:custDataLst>
                <p:tags r:id="rId58"/>
              </p:custDataLst>
            </p:nvPr>
          </p:nvSpPr>
          <p:spPr bwMode="auto">
            <a:xfrm rot="300000">
              <a:off x="8294" y="5604"/>
              <a:ext cx="78" cy="33"/>
            </a:xfrm>
            <a:custGeom>
              <a:avLst/>
              <a:gdLst>
                <a:gd name="T0" fmla="*/ 2 w 26"/>
                <a:gd name="T1" fmla="*/ 0 h 11"/>
                <a:gd name="T2" fmla="*/ 0 w 26"/>
                <a:gd name="T3" fmla="*/ 9 h 11"/>
                <a:gd name="T4" fmla="*/ 4 w 26"/>
                <a:gd name="T5" fmla="*/ 9 h 11"/>
                <a:gd name="T6" fmla="*/ 11 w 26"/>
                <a:gd name="T7" fmla="*/ 9 h 11"/>
                <a:gd name="T8" fmla="*/ 22 w 26"/>
                <a:gd name="T9" fmla="*/ 11 h 11"/>
                <a:gd name="T10" fmla="*/ 26 w 26"/>
                <a:gd name="T11" fmla="*/ 2 h 11"/>
                <a:gd name="T12" fmla="*/ 13 w 26"/>
                <a:gd name="T13" fmla="*/ 0 h 11"/>
                <a:gd name="T14" fmla="*/ 6 w 26"/>
                <a:gd name="T15" fmla="*/ 0 h 11"/>
                <a:gd name="T16" fmla="*/ 2 w 26"/>
                <a:gd name="T17"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11">
                  <a:moveTo>
                    <a:pt x="2" y="0"/>
                  </a:moveTo>
                  <a:lnTo>
                    <a:pt x="0" y="9"/>
                  </a:lnTo>
                  <a:lnTo>
                    <a:pt x="4" y="9"/>
                  </a:lnTo>
                  <a:lnTo>
                    <a:pt x="11" y="9"/>
                  </a:lnTo>
                  <a:lnTo>
                    <a:pt x="22" y="11"/>
                  </a:lnTo>
                  <a:lnTo>
                    <a:pt x="26" y="2"/>
                  </a:lnTo>
                  <a:lnTo>
                    <a:pt x="13" y="0"/>
                  </a:lnTo>
                  <a:lnTo>
                    <a:pt x="6" y="0"/>
                  </a:lnTo>
                  <a:lnTo>
                    <a:pt x="2"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00" name="Freeform 1319"/>
            <p:cNvSpPr/>
            <p:nvPr>
              <p:custDataLst>
                <p:tags r:id="rId59"/>
              </p:custDataLst>
            </p:nvPr>
          </p:nvSpPr>
          <p:spPr bwMode="auto">
            <a:xfrm rot="300000">
              <a:off x="8045" y="5570"/>
              <a:ext cx="72" cy="24"/>
            </a:xfrm>
            <a:custGeom>
              <a:avLst/>
              <a:gdLst>
                <a:gd name="T0" fmla="*/ 24 w 24"/>
                <a:gd name="T1" fmla="*/ 8 h 8"/>
                <a:gd name="T2" fmla="*/ 24 w 24"/>
                <a:gd name="T3" fmla="*/ 0 h 8"/>
                <a:gd name="T4" fmla="*/ 24 w 24"/>
                <a:gd name="T5" fmla="*/ 0 h 8"/>
                <a:gd name="T6" fmla="*/ 0 w 24"/>
                <a:gd name="T7" fmla="*/ 0 h 8"/>
                <a:gd name="T8" fmla="*/ 0 w 24"/>
                <a:gd name="T9" fmla="*/ 8 h 8"/>
                <a:gd name="T10" fmla="*/ 0 w 24"/>
                <a:gd name="T11" fmla="*/ 8 h 8"/>
                <a:gd name="T12" fmla="*/ 24 w 24"/>
                <a:gd name="T13" fmla="*/ 8 h 8"/>
                <a:gd name="T14" fmla="*/ 24 w 24"/>
                <a:gd name="T15" fmla="*/ 8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8">
                  <a:moveTo>
                    <a:pt x="24" y="8"/>
                  </a:moveTo>
                  <a:lnTo>
                    <a:pt x="24" y="0"/>
                  </a:lnTo>
                  <a:lnTo>
                    <a:pt x="24" y="0"/>
                  </a:lnTo>
                  <a:lnTo>
                    <a:pt x="0" y="0"/>
                  </a:lnTo>
                  <a:lnTo>
                    <a:pt x="0" y="8"/>
                  </a:lnTo>
                  <a:lnTo>
                    <a:pt x="0" y="8"/>
                  </a:lnTo>
                  <a:lnTo>
                    <a:pt x="24" y="8"/>
                  </a:lnTo>
                  <a:lnTo>
                    <a:pt x="24"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01" name="Freeform 1320"/>
            <p:cNvSpPr/>
            <p:nvPr>
              <p:custDataLst>
                <p:tags r:id="rId60"/>
              </p:custDataLst>
            </p:nvPr>
          </p:nvSpPr>
          <p:spPr bwMode="auto">
            <a:xfrm rot="300000">
              <a:off x="8529" y="5663"/>
              <a:ext cx="78" cy="39"/>
            </a:xfrm>
            <a:custGeom>
              <a:avLst/>
              <a:gdLst>
                <a:gd name="T0" fmla="*/ 21 w 26"/>
                <a:gd name="T1" fmla="*/ 13 h 13"/>
                <a:gd name="T2" fmla="*/ 26 w 26"/>
                <a:gd name="T3" fmla="*/ 7 h 13"/>
                <a:gd name="T4" fmla="*/ 26 w 26"/>
                <a:gd name="T5" fmla="*/ 7 h 13"/>
                <a:gd name="T6" fmla="*/ 4 w 26"/>
                <a:gd name="T7" fmla="*/ 0 h 13"/>
                <a:gd name="T8" fmla="*/ 0 w 26"/>
                <a:gd name="T9" fmla="*/ 9 h 13"/>
                <a:gd name="T10" fmla="*/ 0 w 26"/>
                <a:gd name="T11" fmla="*/ 9 h 13"/>
                <a:gd name="T12" fmla="*/ 21 w 26"/>
                <a:gd name="T13" fmla="*/ 13 h 13"/>
                <a:gd name="T14" fmla="*/ 21 w 26"/>
                <a:gd name="T15" fmla="*/ 13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13">
                  <a:moveTo>
                    <a:pt x="21" y="13"/>
                  </a:moveTo>
                  <a:lnTo>
                    <a:pt x="26" y="7"/>
                  </a:lnTo>
                  <a:lnTo>
                    <a:pt x="26" y="7"/>
                  </a:lnTo>
                  <a:lnTo>
                    <a:pt x="4" y="0"/>
                  </a:lnTo>
                  <a:lnTo>
                    <a:pt x="0" y="9"/>
                  </a:lnTo>
                  <a:lnTo>
                    <a:pt x="0" y="9"/>
                  </a:lnTo>
                  <a:lnTo>
                    <a:pt x="21" y="13"/>
                  </a:lnTo>
                  <a:lnTo>
                    <a:pt x="21"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02" name="Freeform 1321"/>
            <p:cNvSpPr/>
            <p:nvPr>
              <p:custDataLst>
                <p:tags r:id="rId61"/>
              </p:custDataLst>
            </p:nvPr>
          </p:nvSpPr>
          <p:spPr bwMode="auto">
            <a:xfrm rot="300000">
              <a:off x="8932" y="5854"/>
              <a:ext cx="84" cy="51"/>
            </a:xfrm>
            <a:custGeom>
              <a:avLst/>
              <a:gdLst>
                <a:gd name="T0" fmla="*/ 0 w 28"/>
                <a:gd name="T1" fmla="*/ 6 h 17"/>
                <a:gd name="T2" fmla="*/ 0 w 28"/>
                <a:gd name="T3" fmla="*/ 6 h 17"/>
                <a:gd name="T4" fmla="*/ 15 w 28"/>
                <a:gd name="T5" fmla="*/ 15 h 17"/>
                <a:gd name="T6" fmla="*/ 15 w 28"/>
                <a:gd name="T7" fmla="*/ 15 h 17"/>
                <a:gd name="T8" fmla="*/ 17 w 28"/>
                <a:gd name="T9" fmla="*/ 17 h 17"/>
                <a:gd name="T10" fmla="*/ 28 w 28"/>
                <a:gd name="T11" fmla="*/ 11 h 17"/>
                <a:gd name="T12" fmla="*/ 28 w 28"/>
                <a:gd name="T13" fmla="*/ 11 h 17"/>
                <a:gd name="T14" fmla="*/ 26 w 28"/>
                <a:gd name="T15" fmla="*/ 9 h 17"/>
                <a:gd name="T16" fmla="*/ 26 w 28"/>
                <a:gd name="T17" fmla="*/ 9 h 17"/>
                <a:gd name="T18" fmla="*/ 11 w 28"/>
                <a:gd name="T19" fmla="*/ 0 h 17"/>
                <a:gd name="T20" fmla="*/ 0 w 28"/>
                <a:gd name="T21"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17">
                  <a:moveTo>
                    <a:pt x="0" y="6"/>
                  </a:moveTo>
                  <a:lnTo>
                    <a:pt x="0" y="6"/>
                  </a:lnTo>
                  <a:lnTo>
                    <a:pt x="15" y="15"/>
                  </a:lnTo>
                  <a:lnTo>
                    <a:pt x="15" y="15"/>
                  </a:lnTo>
                  <a:lnTo>
                    <a:pt x="17" y="17"/>
                  </a:lnTo>
                  <a:lnTo>
                    <a:pt x="28" y="11"/>
                  </a:lnTo>
                  <a:lnTo>
                    <a:pt x="28" y="11"/>
                  </a:lnTo>
                  <a:lnTo>
                    <a:pt x="26" y="9"/>
                  </a:lnTo>
                  <a:lnTo>
                    <a:pt x="26" y="9"/>
                  </a:lnTo>
                  <a:lnTo>
                    <a:pt x="11"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03" name="Freeform 1322"/>
            <p:cNvSpPr/>
            <p:nvPr>
              <p:custDataLst>
                <p:tags r:id="rId62"/>
              </p:custDataLst>
            </p:nvPr>
          </p:nvSpPr>
          <p:spPr bwMode="auto">
            <a:xfrm rot="300000">
              <a:off x="8746" y="5748"/>
              <a:ext cx="78" cy="45"/>
            </a:xfrm>
            <a:custGeom>
              <a:avLst/>
              <a:gdLst>
                <a:gd name="T0" fmla="*/ 0 w 26"/>
                <a:gd name="T1" fmla="*/ 8 h 15"/>
                <a:gd name="T2" fmla="*/ 0 w 26"/>
                <a:gd name="T3" fmla="*/ 8 h 15"/>
                <a:gd name="T4" fmla="*/ 9 w 26"/>
                <a:gd name="T5" fmla="*/ 11 h 15"/>
                <a:gd name="T6" fmla="*/ 18 w 26"/>
                <a:gd name="T7" fmla="*/ 15 h 15"/>
                <a:gd name="T8" fmla="*/ 26 w 26"/>
                <a:gd name="T9" fmla="*/ 8 h 15"/>
                <a:gd name="T10" fmla="*/ 18 w 26"/>
                <a:gd name="T11" fmla="*/ 4 h 15"/>
                <a:gd name="T12" fmla="*/ 18 w 26"/>
                <a:gd name="T13" fmla="*/ 4 h 15"/>
                <a:gd name="T14" fmla="*/ 7 w 26"/>
                <a:gd name="T15" fmla="*/ 0 h 15"/>
                <a:gd name="T16" fmla="*/ 0 w 26"/>
                <a:gd name="T17"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15">
                  <a:moveTo>
                    <a:pt x="0" y="8"/>
                  </a:moveTo>
                  <a:lnTo>
                    <a:pt x="0" y="8"/>
                  </a:lnTo>
                  <a:lnTo>
                    <a:pt x="9" y="11"/>
                  </a:lnTo>
                  <a:lnTo>
                    <a:pt x="18" y="15"/>
                  </a:lnTo>
                  <a:lnTo>
                    <a:pt x="26" y="8"/>
                  </a:lnTo>
                  <a:lnTo>
                    <a:pt x="18" y="4"/>
                  </a:lnTo>
                  <a:lnTo>
                    <a:pt x="18" y="4"/>
                  </a:lnTo>
                  <a:lnTo>
                    <a:pt x="7" y="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04" name="Freeform 1323"/>
            <p:cNvSpPr/>
            <p:nvPr>
              <p:custDataLst>
                <p:tags r:id="rId63"/>
              </p:custDataLst>
            </p:nvPr>
          </p:nvSpPr>
          <p:spPr bwMode="auto">
            <a:xfrm rot="300000">
              <a:off x="9104" y="5979"/>
              <a:ext cx="84" cy="45"/>
            </a:xfrm>
            <a:custGeom>
              <a:avLst/>
              <a:gdLst>
                <a:gd name="T0" fmla="*/ 17 w 28"/>
                <a:gd name="T1" fmla="*/ 15 h 15"/>
                <a:gd name="T2" fmla="*/ 28 w 28"/>
                <a:gd name="T3" fmla="*/ 8 h 15"/>
                <a:gd name="T4" fmla="*/ 10 w 28"/>
                <a:gd name="T5" fmla="*/ 0 h 15"/>
                <a:gd name="T6" fmla="*/ 0 w 28"/>
                <a:gd name="T7" fmla="*/ 4 h 15"/>
                <a:gd name="T8" fmla="*/ 17 w 28"/>
                <a:gd name="T9" fmla="*/ 15 h 15"/>
              </a:gdLst>
              <a:ahLst/>
              <a:cxnLst>
                <a:cxn ang="0">
                  <a:pos x="T0" y="T1"/>
                </a:cxn>
                <a:cxn ang="0">
                  <a:pos x="T2" y="T3"/>
                </a:cxn>
                <a:cxn ang="0">
                  <a:pos x="T4" y="T5"/>
                </a:cxn>
                <a:cxn ang="0">
                  <a:pos x="T6" y="T7"/>
                </a:cxn>
                <a:cxn ang="0">
                  <a:pos x="T8" y="T9"/>
                </a:cxn>
              </a:cxnLst>
              <a:rect l="0" t="0" r="r" b="b"/>
              <a:pathLst>
                <a:path w="28" h="15">
                  <a:moveTo>
                    <a:pt x="17" y="15"/>
                  </a:moveTo>
                  <a:lnTo>
                    <a:pt x="28" y="8"/>
                  </a:lnTo>
                  <a:lnTo>
                    <a:pt x="10" y="0"/>
                  </a:lnTo>
                  <a:lnTo>
                    <a:pt x="0" y="4"/>
                  </a:lnTo>
                  <a:lnTo>
                    <a:pt x="17" y="1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05" name="Freeform 1324"/>
            <p:cNvSpPr/>
            <p:nvPr>
              <p:custDataLst>
                <p:tags r:id="rId64"/>
              </p:custDataLst>
            </p:nvPr>
          </p:nvSpPr>
          <p:spPr bwMode="auto">
            <a:xfrm rot="300000">
              <a:off x="9479" y="6197"/>
              <a:ext cx="84" cy="45"/>
            </a:xfrm>
            <a:custGeom>
              <a:avLst/>
              <a:gdLst>
                <a:gd name="T0" fmla="*/ 22 w 28"/>
                <a:gd name="T1" fmla="*/ 15 h 15"/>
                <a:gd name="T2" fmla="*/ 28 w 28"/>
                <a:gd name="T3" fmla="*/ 7 h 15"/>
                <a:gd name="T4" fmla="*/ 28 w 28"/>
                <a:gd name="T5" fmla="*/ 7 h 15"/>
                <a:gd name="T6" fmla="*/ 7 w 28"/>
                <a:gd name="T7" fmla="*/ 0 h 15"/>
                <a:gd name="T8" fmla="*/ 0 w 28"/>
                <a:gd name="T9" fmla="*/ 9 h 15"/>
                <a:gd name="T10" fmla="*/ 0 w 28"/>
                <a:gd name="T11" fmla="*/ 9 h 15"/>
                <a:gd name="T12" fmla="*/ 22 w 28"/>
                <a:gd name="T13" fmla="*/ 15 h 15"/>
                <a:gd name="T14" fmla="*/ 22 w 28"/>
                <a:gd name="T15" fmla="*/ 15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15">
                  <a:moveTo>
                    <a:pt x="22" y="15"/>
                  </a:moveTo>
                  <a:lnTo>
                    <a:pt x="28" y="7"/>
                  </a:lnTo>
                  <a:lnTo>
                    <a:pt x="28" y="7"/>
                  </a:lnTo>
                  <a:lnTo>
                    <a:pt x="7" y="0"/>
                  </a:lnTo>
                  <a:lnTo>
                    <a:pt x="0" y="9"/>
                  </a:lnTo>
                  <a:lnTo>
                    <a:pt x="0" y="9"/>
                  </a:lnTo>
                  <a:lnTo>
                    <a:pt x="22" y="15"/>
                  </a:lnTo>
                  <a:lnTo>
                    <a:pt x="22" y="1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06" name="Freeform 1325"/>
            <p:cNvSpPr/>
            <p:nvPr>
              <p:custDataLst>
                <p:tags r:id="rId65"/>
              </p:custDataLst>
            </p:nvPr>
          </p:nvSpPr>
          <p:spPr bwMode="auto">
            <a:xfrm rot="300000">
              <a:off x="9280" y="6096"/>
              <a:ext cx="78" cy="45"/>
            </a:xfrm>
            <a:custGeom>
              <a:avLst/>
              <a:gdLst>
                <a:gd name="T0" fmla="*/ 18 w 26"/>
                <a:gd name="T1" fmla="*/ 15 h 15"/>
                <a:gd name="T2" fmla="*/ 26 w 26"/>
                <a:gd name="T3" fmla="*/ 9 h 15"/>
                <a:gd name="T4" fmla="*/ 9 w 26"/>
                <a:gd name="T5" fmla="*/ 0 h 15"/>
                <a:gd name="T6" fmla="*/ 0 w 26"/>
                <a:gd name="T7" fmla="*/ 7 h 15"/>
                <a:gd name="T8" fmla="*/ 18 w 26"/>
                <a:gd name="T9" fmla="*/ 15 h 15"/>
              </a:gdLst>
              <a:ahLst/>
              <a:cxnLst>
                <a:cxn ang="0">
                  <a:pos x="T0" y="T1"/>
                </a:cxn>
                <a:cxn ang="0">
                  <a:pos x="T2" y="T3"/>
                </a:cxn>
                <a:cxn ang="0">
                  <a:pos x="T4" y="T5"/>
                </a:cxn>
                <a:cxn ang="0">
                  <a:pos x="T6" y="T7"/>
                </a:cxn>
                <a:cxn ang="0">
                  <a:pos x="T8" y="T9"/>
                </a:cxn>
              </a:cxnLst>
              <a:rect l="0" t="0" r="r" b="b"/>
              <a:pathLst>
                <a:path w="26" h="15">
                  <a:moveTo>
                    <a:pt x="18" y="15"/>
                  </a:moveTo>
                  <a:lnTo>
                    <a:pt x="26" y="9"/>
                  </a:lnTo>
                  <a:lnTo>
                    <a:pt x="9" y="0"/>
                  </a:lnTo>
                  <a:lnTo>
                    <a:pt x="0" y="7"/>
                  </a:lnTo>
                  <a:lnTo>
                    <a:pt x="18" y="1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07" name="Freeform 1326"/>
            <p:cNvSpPr/>
            <p:nvPr>
              <p:custDataLst>
                <p:tags r:id="rId66"/>
              </p:custDataLst>
            </p:nvPr>
          </p:nvSpPr>
          <p:spPr bwMode="auto">
            <a:xfrm rot="300000">
              <a:off x="9712" y="6277"/>
              <a:ext cx="78" cy="39"/>
            </a:xfrm>
            <a:custGeom>
              <a:avLst/>
              <a:gdLst>
                <a:gd name="T0" fmla="*/ 24 w 26"/>
                <a:gd name="T1" fmla="*/ 13 h 13"/>
                <a:gd name="T2" fmla="*/ 26 w 26"/>
                <a:gd name="T3" fmla="*/ 4 h 13"/>
                <a:gd name="T4" fmla="*/ 5 w 26"/>
                <a:gd name="T5" fmla="*/ 0 h 13"/>
                <a:gd name="T6" fmla="*/ 0 w 26"/>
                <a:gd name="T7" fmla="*/ 8 h 13"/>
                <a:gd name="T8" fmla="*/ 24 w 26"/>
                <a:gd name="T9" fmla="*/ 13 h 13"/>
              </a:gdLst>
              <a:ahLst/>
              <a:cxnLst>
                <a:cxn ang="0">
                  <a:pos x="T0" y="T1"/>
                </a:cxn>
                <a:cxn ang="0">
                  <a:pos x="T2" y="T3"/>
                </a:cxn>
                <a:cxn ang="0">
                  <a:pos x="T4" y="T5"/>
                </a:cxn>
                <a:cxn ang="0">
                  <a:pos x="T6" y="T7"/>
                </a:cxn>
                <a:cxn ang="0">
                  <a:pos x="T8" y="T9"/>
                </a:cxn>
              </a:cxnLst>
              <a:rect l="0" t="0" r="r" b="b"/>
              <a:pathLst>
                <a:path w="26" h="13">
                  <a:moveTo>
                    <a:pt x="24" y="13"/>
                  </a:moveTo>
                  <a:lnTo>
                    <a:pt x="26" y="4"/>
                  </a:lnTo>
                  <a:lnTo>
                    <a:pt x="5" y="0"/>
                  </a:lnTo>
                  <a:lnTo>
                    <a:pt x="0" y="8"/>
                  </a:lnTo>
                  <a:lnTo>
                    <a:pt x="24"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08" name="Freeform 1327"/>
            <p:cNvSpPr/>
            <p:nvPr>
              <p:custDataLst>
                <p:tags r:id="rId67"/>
              </p:custDataLst>
            </p:nvPr>
          </p:nvSpPr>
          <p:spPr bwMode="auto">
            <a:xfrm rot="300000">
              <a:off x="10222" y="6327"/>
              <a:ext cx="78" cy="33"/>
            </a:xfrm>
            <a:custGeom>
              <a:avLst/>
              <a:gdLst>
                <a:gd name="T0" fmla="*/ 26 w 26"/>
                <a:gd name="T1" fmla="*/ 6 h 11"/>
                <a:gd name="T2" fmla="*/ 24 w 26"/>
                <a:gd name="T3" fmla="*/ 0 h 11"/>
                <a:gd name="T4" fmla="*/ 0 w 26"/>
                <a:gd name="T5" fmla="*/ 2 h 11"/>
                <a:gd name="T6" fmla="*/ 2 w 26"/>
                <a:gd name="T7" fmla="*/ 11 h 11"/>
                <a:gd name="T8" fmla="*/ 26 w 26"/>
                <a:gd name="T9" fmla="*/ 6 h 11"/>
              </a:gdLst>
              <a:ahLst/>
              <a:cxnLst>
                <a:cxn ang="0">
                  <a:pos x="T0" y="T1"/>
                </a:cxn>
                <a:cxn ang="0">
                  <a:pos x="T2" y="T3"/>
                </a:cxn>
                <a:cxn ang="0">
                  <a:pos x="T4" y="T5"/>
                </a:cxn>
                <a:cxn ang="0">
                  <a:pos x="T6" y="T7"/>
                </a:cxn>
                <a:cxn ang="0">
                  <a:pos x="T8" y="T9"/>
                </a:cxn>
              </a:cxnLst>
              <a:rect l="0" t="0" r="r" b="b"/>
              <a:pathLst>
                <a:path w="26" h="11">
                  <a:moveTo>
                    <a:pt x="26" y="6"/>
                  </a:moveTo>
                  <a:lnTo>
                    <a:pt x="24" y="0"/>
                  </a:lnTo>
                  <a:lnTo>
                    <a:pt x="0" y="2"/>
                  </a:lnTo>
                  <a:lnTo>
                    <a:pt x="2" y="11"/>
                  </a:lnTo>
                  <a:lnTo>
                    <a:pt x="26"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09" name="Freeform 1328"/>
            <p:cNvSpPr/>
            <p:nvPr>
              <p:custDataLst>
                <p:tags r:id="rId68"/>
              </p:custDataLst>
            </p:nvPr>
          </p:nvSpPr>
          <p:spPr bwMode="auto">
            <a:xfrm rot="300000">
              <a:off x="9970" y="6323"/>
              <a:ext cx="69" cy="27"/>
            </a:xfrm>
            <a:custGeom>
              <a:avLst/>
              <a:gdLst>
                <a:gd name="T0" fmla="*/ 0 w 23"/>
                <a:gd name="T1" fmla="*/ 0 h 9"/>
                <a:gd name="T2" fmla="*/ 0 w 23"/>
                <a:gd name="T3" fmla="*/ 9 h 9"/>
                <a:gd name="T4" fmla="*/ 13 w 23"/>
                <a:gd name="T5" fmla="*/ 9 h 9"/>
                <a:gd name="T6" fmla="*/ 13 w 23"/>
                <a:gd name="T7" fmla="*/ 9 h 9"/>
                <a:gd name="T8" fmla="*/ 23 w 23"/>
                <a:gd name="T9" fmla="*/ 9 h 9"/>
                <a:gd name="T10" fmla="*/ 23 w 23"/>
                <a:gd name="T11" fmla="*/ 0 h 9"/>
                <a:gd name="T12" fmla="*/ 23 w 23"/>
                <a:gd name="T13" fmla="*/ 0 h 9"/>
                <a:gd name="T14" fmla="*/ 13 w 23"/>
                <a:gd name="T15" fmla="*/ 0 h 9"/>
                <a:gd name="T16" fmla="*/ 0 w 23"/>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9">
                  <a:moveTo>
                    <a:pt x="0" y="0"/>
                  </a:moveTo>
                  <a:lnTo>
                    <a:pt x="0" y="9"/>
                  </a:lnTo>
                  <a:lnTo>
                    <a:pt x="13" y="9"/>
                  </a:lnTo>
                  <a:lnTo>
                    <a:pt x="13" y="9"/>
                  </a:lnTo>
                  <a:lnTo>
                    <a:pt x="23" y="9"/>
                  </a:lnTo>
                  <a:lnTo>
                    <a:pt x="23" y="0"/>
                  </a:lnTo>
                  <a:lnTo>
                    <a:pt x="23" y="0"/>
                  </a:lnTo>
                  <a:lnTo>
                    <a:pt x="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10" name="Freeform 1329"/>
            <p:cNvSpPr/>
            <p:nvPr>
              <p:custDataLst>
                <p:tags r:id="rId69"/>
              </p:custDataLst>
            </p:nvPr>
          </p:nvSpPr>
          <p:spPr bwMode="auto">
            <a:xfrm rot="300000">
              <a:off x="10465" y="6289"/>
              <a:ext cx="84" cy="39"/>
            </a:xfrm>
            <a:custGeom>
              <a:avLst/>
              <a:gdLst>
                <a:gd name="T0" fmla="*/ 0 w 28"/>
                <a:gd name="T1" fmla="*/ 7 h 13"/>
                <a:gd name="T2" fmla="*/ 6 w 28"/>
                <a:gd name="T3" fmla="*/ 13 h 13"/>
                <a:gd name="T4" fmla="*/ 17 w 28"/>
                <a:gd name="T5" fmla="*/ 11 h 13"/>
                <a:gd name="T6" fmla="*/ 28 w 28"/>
                <a:gd name="T7" fmla="*/ 7 h 13"/>
                <a:gd name="T8" fmla="*/ 19 w 28"/>
                <a:gd name="T9" fmla="*/ 0 h 13"/>
                <a:gd name="T10" fmla="*/ 10 w 28"/>
                <a:gd name="T11" fmla="*/ 5 h 13"/>
                <a:gd name="T12" fmla="*/ 0 w 28"/>
                <a:gd name="T13" fmla="*/ 7 h 13"/>
              </a:gdLst>
              <a:ahLst/>
              <a:cxnLst>
                <a:cxn ang="0">
                  <a:pos x="T0" y="T1"/>
                </a:cxn>
                <a:cxn ang="0">
                  <a:pos x="T2" y="T3"/>
                </a:cxn>
                <a:cxn ang="0">
                  <a:pos x="T4" y="T5"/>
                </a:cxn>
                <a:cxn ang="0">
                  <a:pos x="T6" y="T7"/>
                </a:cxn>
                <a:cxn ang="0">
                  <a:pos x="T8" y="T9"/>
                </a:cxn>
                <a:cxn ang="0">
                  <a:pos x="T10" y="T11"/>
                </a:cxn>
                <a:cxn ang="0">
                  <a:pos x="T12" y="T13"/>
                </a:cxn>
              </a:cxnLst>
              <a:rect l="0" t="0" r="r" b="b"/>
              <a:pathLst>
                <a:path w="28" h="13">
                  <a:moveTo>
                    <a:pt x="0" y="7"/>
                  </a:moveTo>
                  <a:lnTo>
                    <a:pt x="6" y="13"/>
                  </a:lnTo>
                  <a:lnTo>
                    <a:pt x="17" y="11"/>
                  </a:lnTo>
                  <a:lnTo>
                    <a:pt x="28" y="7"/>
                  </a:lnTo>
                  <a:lnTo>
                    <a:pt x="19" y="0"/>
                  </a:lnTo>
                  <a:lnTo>
                    <a:pt x="10" y="5"/>
                  </a:lnTo>
                  <a:lnTo>
                    <a:pt x="0" y="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11" name="Freeform 1330"/>
            <p:cNvSpPr/>
            <p:nvPr>
              <p:custDataLst>
                <p:tags r:id="rId70"/>
              </p:custDataLst>
            </p:nvPr>
          </p:nvSpPr>
          <p:spPr bwMode="auto">
            <a:xfrm rot="300000">
              <a:off x="10861" y="6124"/>
              <a:ext cx="78" cy="54"/>
            </a:xfrm>
            <a:custGeom>
              <a:avLst/>
              <a:gdLst>
                <a:gd name="T0" fmla="*/ 19 w 26"/>
                <a:gd name="T1" fmla="*/ 11 h 18"/>
                <a:gd name="T2" fmla="*/ 22 w 26"/>
                <a:gd name="T3" fmla="*/ 9 h 18"/>
                <a:gd name="T4" fmla="*/ 26 w 26"/>
                <a:gd name="T5" fmla="*/ 5 h 18"/>
                <a:gd name="T6" fmla="*/ 13 w 26"/>
                <a:gd name="T7" fmla="*/ 0 h 18"/>
                <a:gd name="T8" fmla="*/ 11 w 26"/>
                <a:gd name="T9" fmla="*/ 5 h 18"/>
                <a:gd name="T10" fmla="*/ 7 w 26"/>
                <a:gd name="T11" fmla="*/ 7 h 18"/>
                <a:gd name="T12" fmla="*/ 0 w 26"/>
                <a:gd name="T13" fmla="*/ 11 h 18"/>
                <a:gd name="T14" fmla="*/ 11 w 26"/>
                <a:gd name="T15" fmla="*/ 18 h 18"/>
                <a:gd name="T16" fmla="*/ 19 w 26"/>
                <a:gd name="T17" fmla="*/ 1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18">
                  <a:moveTo>
                    <a:pt x="19" y="11"/>
                  </a:moveTo>
                  <a:lnTo>
                    <a:pt x="22" y="9"/>
                  </a:lnTo>
                  <a:lnTo>
                    <a:pt x="26" y="5"/>
                  </a:lnTo>
                  <a:lnTo>
                    <a:pt x="13" y="0"/>
                  </a:lnTo>
                  <a:lnTo>
                    <a:pt x="11" y="5"/>
                  </a:lnTo>
                  <a:lnTo>
                    <a:pt x="7" y="7"/>
                  </a:lnTo>
                  <a:lnTo>
                    <a:pt x="0" y="11"/>
                  </a:lnTo>
                  <a:lnTo>
                    <a:pt x="11" y="18"/>
                  </a:lnTo>
                  <a:lnTo>
                    <a:pt x="19" y="1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12" name="Freeform 1331"/>
            <p:cNvSpPr/>
            <p:nvPr>
              <p:custDataLst>
                <p:tags r:id="rId71"/>
              </p:custDataLst>
            </p:nvPr>
          </p:nvSpPr>
          <p:spPr bwMode="auto">
            <a:xfrm rot="300000">
              <a:off x="10684" y="6225"/>
              <a:ext cx="78" cy="45"/>
            </a:xfrm>
            <a:custGeom>
              <a:avLst/>
              <a:gdLst>
                <a:gd name="T0" fmla="*/ 26 w 26"/>
                <a:gd name="T1" fmla="*/ 5 h 15"/>
                <a:gd name="T2" fmla="*/ 17 w 26"/>
                <a:gd name="T3" fmla="*/ 0 h 15"/>
                <a:gd name="T4" fmla="*/ 0 w 26"/>
                <a:gd name="T5" fmla="*/ 9 h 15"/>
                <a:gd name="T6" fmla="*/ 9 w 26"/>
                <a:gd name="T7" fmla="*/ 15 h 15"/>
                <a:gd name="T8" fmla="*/ 26 w 26"/>
                <a:gd name="T9" fmla="*/ 5 h 15"/>
              </a:gdLst>
              <a:ahLst/>
              <a:cxnLst>
                <a:cxn ang="0">
                  <a:pos x="T0" y="T1"/>
                </a:cxn>
                <a:cxn ang="0">
                  <a:pos x="T2" y="T3"/>
                </a:cxn>
                <a:cxn ang="0">
                  <a:pos x="T4" y="T5"/>
                </a:cxn>
                <a:cxn ang="0">
                  <a:pos x="T6" y="T7"/>
                </a:cxn>
                <a:cxn ang="0">
                  <a:pos x="T8" y="T9"/>
                </a:cxn>
              </a:cxnLst>
              <a:rect l="0" t="0" r="r" b="b"/>
              <a:pathLst>
                <a:path w="26" h="15">
                  <a:moveTo>
                    <a:pt x="26" y="5"/>
                  </a:moveTo>
                  <a:lnTo>
                    <a:pt x="17" y="0"/>
                  </a:lnTo>
                  <a:lnTo>
                    <a:pt x="0" y="9"/>
                  </a:lnTo>
                  <a:lnTo>
                    <a:pt x="9" y="15"/>
                  </a:lnTo>
                  <a:lnTo>
                    <a:pt x="26" y="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13" name="Freeform 1332"/>
            <p:cNvSpPr/>
            <p:nvPr>
              <p:custDataLst>
                <p:tags r:id="rId72"/>
              </p:custDataLst>
            </p:nvPr>
          </p:nvSpPr>
          <p:spPr bwMode="auto">
            <a:xfrm rot="300000">
              <a:off x="10994" y="6007"/>
              <a:ext cx="66" cy="45"/>
            </a:xfrm>
            <a:custGeom>
              <a:avLst/>
              <a:gdLst>
                <a:gd name="T0" fmla="*/ 22 w 22"/>
                <a:gd name="T1" fmla="*/ 2 h 15"/>
                <a:gd name="T2" fmla="*/ 9 w 22"/>
                <a:gd name="T3" fmla="*/ 0 h 15"/>
                <a:gd name="T4" fmla="*/ 9 w 22"/>
                <a:gd name="T5" fmla="*/ 0 h 15"/>
                <a:gd name="T6" fmla="*/ 0 w 22"/>
                <a:gd name="T7" fmla="*/ 13 h 15"/>
                <a:gd name="T8" fmla="*/ 13 w 22"/>
                <a:gd name="T9" fmla="*/ 15 h 15"/>
                <a:gd name="T10" fmla="*/ 13 w 22"/>
                <a:gd name="T11" fmla="*/ 15 h 15"/>
                <a:gd name="T12" fmla="*/ 22 w 22"/>
                <a:gd name="T13" fmla="*/ 2 h 15"/>
                <a:gd name="T14" fmla="*/ 22 w 22"/>
                <a:gd name="T15" fmla="*/ 2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15">
                  <a:moveTo>
                    <a:pt x="22" y="2"/>
                  </a:moveTo>
                  <a:lnTo>
                    <a:pt x="9" y="0"/>
                  </a:lnTo>
                  <a:lnTo>
                    <a:pt x="9" y="0"/>
                  </a:lnTo>
                  <a:lnTo>
                    <a:pt x="0" y="13"/>
                  </a:lnTo>
                  <a:lnTo>
                    <a:pt x="13" y="15"/>
                  </a:lnTo>
                  <a:lnTo>
                    <a:pt x="13" y="15"/>
                  </a:lnTo>
                  <a:lnTo>
                    <a:pt x="22" y="2"/>
                  </a:lnTo>
                  <a:lnTo>
                    <a:pt x="22"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14" name="Freeform 1333"/>
            <p:cNvSpPr/>
            <p:nvPr>
              <p:custDataLst>
                <p:tags r:id="rId73"/>
              </p:custDataLst>
            </p:nvPr>
          </p:nvSpPr>
          <p:spPr bwMode="auto">
            <a:xfrm rot="300000">
              <a:off x="11076" y="5724"/>
              <a:ext cx="54" cy="39"/>
            </a:xfrm>
            <a:custGeom>
              <a:avLst/>
              <a:gdLst>
                <a:gd name="T0" fmla="*/ 18 w 18"/>
                <a:gd name="T1" fmla="*/ 13 h 13"/>
                <a:gd name="T2" fmla="*/ 16 w 18"/>
                <a:gd name="T3" fmla="*/ 0 h 13"/>
                <a:gd name="T4" fmla="*/ 0 w 18"/>
                <a:gd name="T5" fmla="*/ 0 h 13"/>
                <a:gd name="T6" fmla="*/ 5 w 18"/>
                <a:gd name="T7" fmla="*/ 13 h 13"/>
                <a:gd name="T8" fmla="*/ 18 w 18"/>
                <a:gd name="T9" fmla="*/ 13 h 13"/>
              </a:gdLst>
              <a:ahLst/>
              <a:cxnLst>
                <a:cxn ang="0">
                  <a:pos x="T0" y="T1"/>
                </a:cxn>
                <a:cxn ang="0">
                  <a:pos x="T2" y="T3"/>
                </a:cxn>
                <a:cxn ang="0">
                  <a:pos x="T4" y="T5"/>
                </a:cxn>
                <a:cxn ang="0">
                  <a:pos x="T6" y="T7"/>
                </a:cxn>
                <a:cxn ang="0">
                  <a:pos x="T8" y="T9"/>
                </a:cxn>
              </a:cxnLst>
              <a:rect l="0" t="0" r="r" b="b"/>
              <a:pathLst>
                <a:path w="18" h="13">
                  <a:moveTo>
                    <a:pt x="18" y="13"/>
                  </a:moveTo>
                  <a:lnTo>
                    <a:pt x="16" y="0"/>
                  </a:lnTo>
                  <a:lnTo>
                    <a:pt x="0" y="0"/>
                  </a:lnTo>
                  <a:lnTo>
                    <a:pt x="5" y="13"/>
                  </a:lnTo>
                  <a:lnTo>
                    <a:pt x="18"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15" name="Freeform 1334"/>
            <p:cNvSpPr/>
            <p:nvPr>
              <p:custDataLst>
                <p:tags r:id="rId74"/>
              </p:custDataLst>
            </p:nvPr>
          </p:nvSpPr>
          <p:spPr bwMode="auto">
            <a:xfrm rot="300000">
              <a:off x="11072" y="5873"/>
              <a:ext cx="51" cy="39"/>
            </a:xfrm>
            <a:custGeom>
              <a:avLst/>
              <a:gdLst>
                <a:gd name="T0" fmla="*/ 17 w 17"/>
                <a:gd name="T1" fmla="*/ 0 h 13"/>
                <a:gd name="T2" fmla="*/ 2 w 17"/>
                <a:gd name="T3" fmla="*/ 0 h 13"/>
                <a:gd name="T4" fmla="*/ 2 w 17"/>
                <a:gd name="T5" fmla="*/ 0 h 13"/>
                <a:gd name="T6" fmla="*/ 2 w 17"/>
                <a:gd name="T7" fmla="*/ 6 h 13"/>
                <a:gd name="T8" fmla="*/ 0 w 17"/>
                <a:gd name="T9" fmla="*/ 13 h 13"/>
                <a:gd name="T10" fmla="*/ 15 w 17"/>
                <a:gd name="T11" fmla="*/ 13 h 13"/>
                <a:gd name="T12" fmla="*/ 15 w 17"/>
                <a:gd name="T13" fmla="*/ 13 h 13"/>
                <a:gd name="T14" fmla="*/ 15 w 17"/>
                <a:gd name="T15" fmla="*/ 6 h 13"/>
                <a:gd name="T16" fmla="*/ 17 w 17"/>
                <a:gd name="T17" fmla="*/ 0 h 13"/>
                <a:gd name="T18" fmla="*/ 17 w 17"/>
                <a:gd name="T19"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3">
                  <a:moveTo>
                    <a:pt x="17" y="0"/>
                  </a:moveTo>
                  <a:lnTo>
                    <a:pt x="2" y="0"/>
                  </a:lnTo>
                  <a:lnTo>
                    <a:pt x="2" y="0"/>
                  </a:lnTo>
                  <a:lnTo>
                    <a:pt x="2" y="6"/>
                  </a:lnTo>
                  <a:lnTo>
                    <a:pt x="0" y="13"/>
                  </a:lnTo>
                  <a:lnTo>
                    <a:pt x="15" y="13"/>
                  </a:lnTo>
                  <a:lnTo>
                    <a:pt x="15" y="13"/>
                  </a:lnTo>
                  <a:lnTo>
                    <a:pt x="15" y="6"/>
                  </a:lnTo>
                  <a:lnTo>
                    <a:pt x="17" y="0"/>
                  </a:lnTo>
                  <a:lnTo>
                    <a:pt x="1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16" name="Freeform 1335"/>
            <p:cNvSpPr/>
            <p:nvPr>
              <p:custDataLst>
                <p:tags r:id="rId75"/>
              </p:custDataLst>
            </p:nvPr>
          </p:nvSpPr>
          <p:spPr bwMode="auto">
            <a:xfrm rot="300000">
              <a:off x="11020" y="5573"/>
              <a:ext cx="63" cy="45"/>
            </a:xfrm>
            <a:custGeom>
              <a:avLst/>
              <a:gdLst>
                <a:gd name="T0" fmla="*/ 0 w 21"/>
                <a:gd name="T1" fmla="*/ 4 h 15"/>
                <a:gd name="T2" fmla="*/ 0 w 21"/>
                <a:gd name="T3" fmla="*/ 4 h 15"/>
                <a:gd name="T4" fmla="*/ 8 w 21"/>
                <a:gd name="T5" fmla="*/ 15 h 15"/>
                <a:gd name="T6" fmla="*/ 21 w 21"/>
                <a:gd name="T7" fmla="*/ 12 h 15"/>
                <a:gd name="T8" fmla="*/ 21 w 21"/>
                <a:gd name="T9" fmla="*/ 12 h 15"/>
                <a:gd name="T10" fmla="*/ 13 w 21"/>
                <a:gd name="T11" fmla="*/ 0 h 15"/>
                <a:gd name="T12" fmla="*/ 0 w 21"/>
                <a:gd name="T13" fmla="*/ 4 h 15"/>
              </a:gdLst>
              <a:ahLst/>
              <a:cxnLst>
                <a:cxn ang="0">
                  <a:pos x="T0" y="T1"/>
                </a:cxn>
                <a:cxn ang="0">
                  <a:pos x="T2" y="T3"/>
                </a:cxn>
                <a:cxn ang="0">
                  <a:pos x="T4" y="T5"/>
                </a:cxn>
                <a:cxn ang="0">
                  <a:pos x="T6" y="T7"/>
                </a:cxn>
                <a:cxn ang="0">
                  <a:pos x="T8" y="T9"/>
                </a:cxn>
                <a:cxn ang="0">
                  <a:pos x="T10" y="T11"/>
                </a:cxn>
                <a:cxn ang="0">
                  <a:pos x="T12" y="T13"/>
                </a:cxn>
              </a:cxnLst>
              <a:rect l="0" t="0" r="r" b="b"/>
              <a:pathLst>
                <a:path w="21" h="15">
                  <a:moveTo>
                    <a:pt x="0" y="4"/>
                  </a:moveTo>
                  <a:lnTo>
                    <a:pt x="0" y="4"/>
                  </a:lnTo>
                  <a:lnTo>
                    <a:pt x="8" y="15"/>
                  </a:lnTo>
                  <a:lnTo>
                    <a:pt x="21" y="12"/>
                  </a:lnTo>
                  <a:lnTo>
                    <a:pt x="21" y="12"/>
                  </a:lnTo>
                  <a:lnTo>
                    <a:pt x="13" y="0"/>
                  </a:lnTo>
                  <a:lnTo>
                    <a:pt x="0"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17" name="Freeform 1336"/>
            <p:cNvSpPr/>
            <p:nvPr>
              <p:custDataLst>
                <p:tags r:id="rId76"/>
              </p:custDataLst>
            </p:nvPr>
          </p:nvSpPr>
          <p:spPr bwMode="auto">
            <a:xfrm rot="300000">
              <a:off x="10737" y="5310"/>
              <a:ext cx="78" cy="45"/>
            </a:xfrm>
            <a:custGeom>
              <a:avLst/>
              <a:gdLst>
                <a:gd name="T0" fmla="*/ 26 w 26"/>
                <a:gd name="T1" fmla="*/ 8 h 15"/>
                <a:gd name="T2" fmla="*/ 11 w 26"/>
                <a:gd name="T3" fmla="*/ 0 h 15"/>
                <a:gd name="T4" fmla="*/ 0 w 26"/>
                <a:gd name="T5" fmla="*/ 6 h 15"/>
                <a:gd name="T6" fmla="*/ 18 w 26"/>
                <a:gd name="T7" fmla="*/ 15 h 15"/>
                <a:gd name="T8" fmla="*/ 26 w 26"/>
                <a:gd name="T9" fmla="*/ 8 h 15"/>
              </a:gdLst>
              <a:ahLst/>
              <a:cxnLst>
                <a:cxn ang="0">
                  <a:pos x="T0" y="T1"/>
                </a:cxn>
                <a:cxn ang="0">
                  <a:pos x="T2" y="T3"/>
                </a:cxn>
                <a:cxn ang="0">
                  <a:pos x="T4" y="T5"/>
                </a:cxn>
                <a:cxn ang="0">
                  <a:pos x="T6" y="T7"/>
                </a:cxn>
                <a:cxn ang="0">
                  <a:pos x="T8" y="T9"/>
                </a:cxn>
              </a:cxnLst>
              <a:rect l="0" t="0" r="r" b="b"/>
              <a:pathLst>
                <a:path w="26" h="15">
                  <a:moveTo>
                    <a:pt x="26" y="8"/>
                  </a:moveTo>
                  <a:lnTo>
                    <a:pt x="11" y="0"/>
                  </a:lnTo>
                  <a:lnTo>
                    <a:pt x="0" y="6"/>
                  </a:lnTo>
                  <a:lnTo>
                    <a:pt x="18" y="15"/>
                  </a:lnTo>
                  <a:lnTo>
                    <a:pt x="26"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18" name="Freeform 1337"/>
            <p:cNvSpPr/>
            <p:nvPr>
              <p:custDataLst>
                <p:tags r:id="rId77"/>
              </p:custDataLst>
            </p:nvPr>
          </p:nvSpPr>
          <p:spPr bwMode="auto">
            <a:xfrm rot="300000">
              <a:off x="10904" y="5432"/>
              <a:ext cx="75" cy="45"/>
            </a:xfrm>
            <a:custGeom>
              <a:avLst/>
              <a:gdLst>
                <a:gd name="T0" fmla="*/ 0 w 25"/>
                <a:gd name="T1" fmla="*/ 5 h 15"/>
                <a:gd name="T2" fmla="*/ 13 w 25"/>
                <a:gd name="T3" fmla="*/ 15 h 15"/>
                <a:gd name="T4" fmla="*/ 25 w 25"/>
                <a:gd name="T5" fmla="*/ 11 h 15"/>
                <a:gd name="T6" fmla="*/ 10 w 25"/>
                <a:gd name="T7" fmla="*/ 0 h 15"/>
                <a:gd name="T8" fmla="*/ 0 w 25"/>
                <a:gd name="T9" fmla="*/ 5 h 15"/>
              </a:gdLst>
              <a:ahLst/>
              <a:cxnLst>
                <a:cxn ang="0">
                  <a:pos x="T0" y="T1"/>
                </a:cxn>
                <a:cxn ang="0">
                  <a:pos x="T2" y="T3"/>
                </a:cxn>
                <a:cxn ang="0">
                  <a:pos x="T4" y="T5"/>
                </a:cxn>
                <a:cxn ang="0">
                  <a:pos x="T6" y="T7"/>
                </a:cxn>
                <a:cxn ang="0">
                  <a:pos x="T8" y="T9"/>
                </a:cxn>
              </a:cxnLst>
              <a:rect l="0" t="0" r="r" b="b"/>
              <a:pathLst>
                <a:path w="25" h="15">
                  <a:moveTo>
                    <a:pt x="0" y="5"/>
                  </a:moveTo>
                  <a:lnTo>
                    <a:pt x="13" y="15"/>
                  </a:lnTo>
                  <a:lnTo>
                    <a:pt x="25" y="11"/>
                  </a:lnTo>
                  <a:lnTo>
                    <a:pt x="10" y="0"/>
                  </a:lnTo>
                  <a:lnTo>
                    <a:pt x="0" y="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19" name="Freeform 1338"/>
            <p:cNvSpPr/>
            <p:nvPr>
              <p:custDataLst>
                <p:tags r:id="rId78"/>
              </p:custDataLst>
            </p:nvPr>
          </p:nvSpPr>
          <p:spPr bwMode="auto">
            <a:xfrm rot="300000">
              <a:off x="10567" y="5191"/>
              <a:ext cx="78" cy="45"/>
            </a:xfrm>
            <a:custGeom>
              <a:avLst/>
              <a:gdLst>
                <a:gd name="T0" fmla="*/ 8 w 26"/>
                <a:gd name="T1" fmla="*/ 0 h 15"/>
                <a:gd name="T2" fmla="*/ 0 w 26"/>
                <a:gd name="T3" fmla="*/ 7 h 15"/>
                <a:gd name="T4" fmla="*/ 17 w 26"/>
                <a:gd name="T5" fmla="*/ 15 h 15"/>
                <a:gd name="T6" fmla="*/ 26 w 26"/>
                <a:gd name="T7" fmla="*/ 9 h 15"/>
                <a:gd name="T8" fmla="*/ 8 w 26"/>
                <a:gd name="T9" fmla="*/ 0 h 15"/>
              </a:gdLst>
              <a:ahLst/>
              <a:cxnLst>
                <a:cxn ang="0">
                  <a:pos x="T0" y="T1"/>
                </a:cxn>
                <a:cxn ang="0">
                  <a:pos x="T2" y="T3"/>
                </a:cxn>
                <a:cxn ang="0">
                  <a:pos x="T4" y="T5"/>
                </a:cxn>
                <a:cxn ang="0">
                  <a:pos x="T6" y="T7"/>
                </a:cxn>
                <a:cxn ang="0">
                  <a:pos x="T8" y="T9"/>
                </a:cxn>
              </a:cxnLst>
              <a:rect l="0" t="0" r="r" b="b"/>
              <a:pathLst>
                <a:path w="26" h="15">
                  <a:moveTo>
                    <a:pt x="8" y="0"/>
                  </a:moveTo>
                  <a:lnTo>
                    <a:pt x="0" y="7"/>
                  </a:lnTo>
                  <a:lnTo>
                    <a:pt x="17" y="15"/>
                  </a:lnTo>
                  <a:lnTo>
                    <a:pt x="26" y="9"/>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20" name="Freeform 1339"/>
            <p:cNvSpPr/>
            <p:nvPr>
              <p:custDataLst>
                <p:tags r:id="rId79"/>
              </p:custDataLst>
            </p:nvPr>
          </p:nvSpPr>
          <p:spPr bwMode="auto">
            <a:xfrm rot="300000">
              <a:off x="10277" y="4932"/>
              <a:ext cx="72" cy="54"/>
            </a:xfrm>
            <a:custGeom>
              <a:avLst/>
              <a:gdLst>
                <a:gd name="T0" fmla="*/ 11 w 24"/>
                <a:gd name="T1" fmla="*/ 18 h 18"/>
                <a:gd name="T2" fmla="*/ 24 w 24"/>
                <a:gd name="T3" fmla="*/ 13 h 18"/>
                <a:gd name="T4" fmla="*/ 24 w 24"/>
                <a:gd name="T5" fmla="*/ 13 h 18"/>
                <a:gd name="T6" fmla="*/ 17 w 24"/>
                <a:gd name="T7" fmla="*/ 7 h 18"/>
                <a:gd name="T8" fmla="*/ 13 w 24"/>
                <a:gd name="T9" fmla="*/ 0 h 18"/>
                <a:gd name="T10" fmla="*/ 0 w 24"/>
                <a:gd name="T11" fmla="*/ 5 h 18"/>
                <a:gd name="T12" fmla="*/ 5 w 24"/>
                <a:gd name="T13" fmla="*/ 11 h 18"/>
                <a:gd name="T14" fmla="*/ 5 w 24"/>
                <a:gd name="T15" fmla="*/ 11 h 18"/>
                <a:gd name="T16" fmla="*/ 11 w 24"/>
                <a:gd name="T17" fmla="*/ 18 h 18"/>
                <a:gd name="T18" fmla="*/ 11 w 24"/>
                <a:gd name="T19"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8">
                  <a:moveTo>
                    <a:pt x="11" y="18"/>
                  </a:moveTo>
                  <a:lnTo>
                    <a:pt x="24" y="13"/>
                  </a:lnTo>
                  <a:lnTo>
                    <a:pt x="24" y="13"/>
                  </a:lnTo>
                  <a:lnTo>
                    <a:pt x="17" y="7"/>
                  </a:lnTo>
                  <a:lnTo>
                    <a:pt x="13" y="0"/>
                  </a:lnTo>
                  <a:lnTo>
                    <a:pt x="0" y="5"/>
                  </a:lnTo>
                  <a:lnTo>
                    <a:pt x="5" y="11"/>
                  </a:lnTo>
                  <a:lnTo>
                    <a:pt x="5" y="11"/>
                  </a:lnTo>
                  <a:lnTo>
                    <a:pt x="11" y="18"/>
                  </a:lnTo>
                  <a:lnTo>
                    <a:pt x="11" y="1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21" name="Freeform 1340"/>
            <p:cNvSpPr/>
            <p:nvPr>
              <p:custDataLst>
                <p:tags r:id="rId80"/>
              </p:custDataLst>
            </p:nvPr>
          </p:nvSpPr>
          <p:spPr bwMode="auto">
            <a:xfrm rot="300000">
              <a:off x="10404" y="5066"/>
              <a:ext cx="75" cy="45"/>
            </a:xfrm>
            <a:custGeom>
              <a:avLst/>
              <a:gdLst>
                <a:gd name="T0" fmla="*/ 15 w 25"/>
                <a:gd name="T1" fmla="*/ 15 h 15"/>
                <a:gd name="T2" fmla="*/ 25 w 25"/>
                <a:gd name="T3" fmla="*/ 11 h 15"/>
                <a:gd name="T4" fmla="*/ 25 w 25"/>
                <a:gd name="T5" fmla="*/ 11 h 15"/>
                <a:gd name="T6" fmla="*/ 17 w 25"/>
                <a:gd name="T7" fmla="*/ 7 h 15"/>
                <a:gd name="T8" fmla="*/ 10 w 25"/>
                <a:gd name="T9" fmla="*/ 0 h 15"/>
                <a:gd name="T10" fmla="*/ 0 w 25"/>
                <a:gd name="T11" fmla="*/ 5 h 15"/>
                <a:gd name="T12" fmla="*/ 6 w 25"/>
                <a:gd name="T13" fmla="*/ 11 h 15"/>
                <a:gd name="T14" fmla="*/ 6 w 25"/>
                <a:gd name="T15" fmla="*/ 11 h 15"/>
                <a:gd name="T16" fmla="*/ 15 w 25"/>
                <a:gd name="T17" fmla="*/ 15 h 15"/>
                <a:gd name="T18" fmla="*/ 15 w 25"/>
                <a:gd name="T19"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15">
                  <a:moveTo>
                    <a:pt x="15" y="15"/>
                  </a:moveTo>
                  <a:lnTo>
                    <a:pt x="25" y="11"/>
                  </a:lnTo>
                  <a:lnTo>
                    <a:pt x="25" y="11"/>
                  </a:lnTo>
                  <a:lnTo>
                    <a:pt x="17" y="7"/>
                  </a:lnTo>
                  <a:lnTo>
                    <a:pt x="10" y="0"/>
                  </a:lnTo>
                  <a:lnTo>
                    <a:pt x="0" y="5"/>
                  </a:lnTo>
                  <a:lnTo>
                    <a:pt x="6" y="11"/>
                  </a:lnTo>
                  <a:lnTo>
                    <a:pt x="6" y="11"/>
                  </a:lnTo>
                  <a:lnTo>
                    <a:pt x="15" y="15"/>
                  </a:lnTo>
                  <a:lnTo>
                    <a:pt x="15" y="1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22" name="Freeform 1341"/>
            <p:cNvSpPr/>
            <p:nvPr>
              <p:custDataLst>
                <p:tags r:id="rId81"/>
              </p:custDataLst>
            </p:nvPr>
          </p:nvSpPr>
          <p:spPr bwMode="auto">
            <a:xfrm rot="300000">
              <a:off x="10194" y="4790"/>
              <a:ext cx="63" cy="45"/>
            </a:xfrm>
            <a:custGeom>
              <a:avLst/>
              <a:gdLst>
                <a:gd name="T0" fmla="*/ 8 w 21"/>
                <a:gd name="T1" fmla="*/ 15 h 15"/>
                <a:gd name="T2" fmla="*/ 21 w 21"/>
                <a:gd name="T3" fmla="*/ 13 h 15"/>
                <a:gd name="T4" fmla="*/ 17 w 21"/>
                <a:gd name="T5" fmla="*/ 6 h 15"/>
                <a:gd name="T6" fmla="*/ 17 w 21"/>
                <a:gd name="T7" fmla="*/ 6 h 15"/>
                <a:gd name="T8" fmla="*/ 15 w 21"/>
                <a:gd name="T9" fmla="*/ 0 h 15"/>
                <a:gd name="T10" fmla="*/ 0 w 21"/>
                <a:gd name="T11" fmla="*/ 2 h 15"/>
                <a:gd name="T12" fmla="*/ 0 w 21"/>
                <a:gd name="T13" fmla="*/ 2 h 15"/>
                <a:gd name="T14" fmla="*/ 4 w 21"/>
                <a:gd name="T15" fmla="*/ 9 h 15"/>
                <a:gd name="T16" fmla="*/ 8 w 21"/>
                <a:gd name="T17"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15">
                  <a:moveTo>
                    <a:pt x="8" y="15"/>
                  </a:moveTo>
                  <a:lnTo>
                    <a:pt x="21" y="13"/>
                  </a:lnTo>
                  <a:lnTo>
                    <a:pt x="17" y="6"/>
                  </a:lnTo>
                  <a:lnTo>
                    <a:pt x="17" y="6"/>
                  </a:lnTo>
                  <a:lnTo>
                    <a:pt x="15" y="0"/>
                  </a:lnTo>
                  <a:lnTo>
                    <a:pt x="0" y="2"/>
                  </a:lnTo>
                  <a:lnTo>
                    <a:pt x="0" y="2"/>
                  </a:lnTo>
                  <a:lnTo>
                    <a:pt x="4" y="9"/>
                  </a:lnTo>
                  <a:lnTo>
                    <a:pt x="8" y="1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23" name="Freeform 1342"/>
            <p:cNvSpPr/>
            <p:nvPr>
              <p:custDataLst>
                <p:tags r:id="rId82"/>
              </p:custDataLst>
            </p:nvPr>
          </p:nvSpPr>
          <p:spPr bwMode="auto">
            <a:xfrm rot="300000">
              <a:off x="10174" y="4499"/>
              <a:ext cx="45" cy="45"/>
            </a:xfrm>
            <a:custGeom>
              <a:avLst/>
              <a:gdLst>
                <a:gd name="T0" fmla="*/ 0 w 15"/>
                <a:gd name="T1" fmla="*/ 15 h 15"/>
                <a:gd name="T2" fmla="*/ 15 w 15"/>
                <a:gd name="T3" fmla="*/ 15 h 15"/>
                <a:gd name="T4" fmla="*/ 15 w 15"/>
                <a:gd name="T5" fmla="*/ 15 h 15"/>
                <a:gd name="T6" fmla="*/ 15 w 15"/>
                <a:gd name="T7" fmla="*/ 2 h 15"/>
                <a:gd name="T8" fmla="*/ 2 w 15"/>
                <a:gd name="T9" fmla="*/ 0 h 15"/>
                <a:gd name="T10" fmla="*/ 2 w 15"/>
                <a:gd name="T11" fmla="*/ 0 h 15"/>
                <a:gd name="T12" fmla="*/ 0 w 15"/>
                <a:gd name="T13" fmla="*/ 15 h 15"/>
                <a:gd name="T14" fmla="*/ 0 w 15"/>
                <a:gd name="T15" fmla="*/ 15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5">
                  <a:moveTo>
                    <a:pt x="0" y="15"/>
                  </a:moveTo>
                  <a:lnTo>
                    <a:pt x="15" y="15"/>
                  </a:lnTo>
                  <a:lnTo>
                    <a:pt x="15" y="15"/>
                  </a:lnTo>
                  <a:lnTo>
                    <a:pt x="15" y="2"/>
                  </a:lnTo>
                  <a:lnTo>
                    <a:pt x="2" y="0"/>
                  </a:lnTo>
                  <a:lnTo>
                    <a:pt x="2" y="0"/>
                  </a:lnTo>
                  <a:lnTo>
                    <a:pt x="0" y="15"/>
                  </a:lnTo>
                  <a:lnTo>
                    <a:pt x="0" y="1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24" name="Freeform 1343"/>
            <p:cNvSpPr/>
            <p:nvPr>
              <p:custDataLst>
                <p:tags r:id="rId83"/>
              </p:custDataLst>
            </p:nvPr>
          </p:nvSpPr>
          <p:spPr bwMode="auto">
            <a:xfrm rot="300000">
              <a:off x="10161" y="4647"/>
              <a:ext cx="51" cy="45"/>
            </a:xfrm>
            <a:custGeom>
              <a:avLst/>
              <a:gdLst>
                <a:gd name="T0" fmla="*/ 0 w 17"/>
                <a:gd name="T1" fmla="*/ 0 h 15"/>
                <a:gd name="T2" fmla="*/ 0 w 17"/>
                <a:gd name="T3" fmla="*/ 0 h 15"/>
                <a:gd name="T4" fmla="*/ 4 w 17"/>
                <a:gd name="T5" fmla="*/ 15 h 15"/>
                <a:gd name="T6" fmla="*/ 17 w 17"/>
                <a:gd name="T7" fmla="*/ 12 h 15"/>
                <a:gd name="T8" fmla="*/ 17 w 17"/>
                <a:gd name="T9" fmla="*/ 12 h 15"/>
                <a:gd name="T10" fmla="*/ 15 w 17"/>
                <a:gd name="T11" fmla="*/ 0 h 15"/>
                <a:gd name="T12" fmla="*/ 0 w 17"/>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17" h="15">
                  <a:moveTo>
                    <a:pt x="0" y="0"/>
                  </a:moveTo>
                  <a:lnTo>
                    <a:pt x="0" y="0"/>
                  </a:lnTo>
                  <a:lnTo>
                    <a:pt x="4" y="15"/>
                  </a:lnTo>
                  <a:lnTo>
                    <a:pt x="17" y="12"/>
                  </a:lnTo>
                  <a:lnTo>
                    <a:pt x="17" y="12"/>
                  </a:lnTo>
                  <a:lnTo>
                    <a:pt x="15"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30" name="Freeform 1356"/>
            <p:cNvSpPr/>
            <p:nvPr>
              <p:custDataLst>
                <p:tags r:id="rId84"/>
              </p:custDataLst>
            </p:nvPr>
          </p:nvSpPr>
          <p:spPr bwMode="auto">
            <a:xfrm rot="300000">
              <a:off x="12645" y="4343"/>
              <a:ext cx="84" cy="51"/>
            </a:xfrm>
            <a:custGeom>
              <a:avLst/>
              <a:gdLst>
                <a:gd name="T0" fmla="*/ 17 w 28"/>
                <a:gd name="T1" fmla="*/ 17 h 17"/>
                <a:gd name="T2" fmla="*/ 28 w 28"/>
                <a:gd name="T3" fmla="*/ 10 h 17"/>
                <a:gd name="T4" fmla="*/ 11 w 28"/>
                <a:gd name="T5" fmla="*/ 0 h 17"/>
                <a:gd name="T6" fmla="*/ 0 w 28"/>
                <a:gd name="T7" fmla="*/ 6 h 17"/>
                <a:gd name="T8" fmla="*/ 17 w 28"/>
                <a:gd name="T9" fmla="*/ 17 h 17"/>
              </a:gdLst>
              <a:ahLst/>
              <a:cxnLst>
                <a:cxn ang="0">
                  <a:pos x="T0" y="T1"/>
                </a:cxn>
                <a:cxn ang="0">
                  <a:pos x="T2" y="T3"/>
                </a:cxn>
                <a:cxn ang="0">
                  <a:pos x="T4" y="T5"/>
                </a:cxn>
                <a:cxn ang="0">
                  <a:pos x="T6" y="T7"/>
                </a:cxn>
                <a:cxn ang="0">
                  <a:pos x="T8" y="T9"/>
                </a:cxn>
              </a:cxnLst>
              <a:rect l="0" t="0" r="r" b="b"/>
              <a:pathLst>
                <a:path w="28" h="17">
                  <a:moveTo>
                    <a:pt x="17" y="17"/>
                  </a:moveTo>
                  <a:lnTo>
                    <a:pt x="28" y="10"/>
                  </a:lnTo>
                  <a:lnTo>
                    <a:pt x="11" y="0"/>
                  </a:lnTo>
                  <a:lnTo>
                    <a:pt x="0" y="6"/>
                  </a:lnTo>
                  <a:lnTo>
                    <a:pt x="17"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31" name="Freeform 1357"/>
            <p:cNvSpPr/>
            <p:nvPr>
              <p:custDataLst>
                <p:tags r:id="rId85"/>
              </p:custDataLst>
            </p:nvPr>
          </p:nvSpPr>
          <p:spPr bwMode="auto">
            <a:xfrm rot="300000">
              <a:off x="13028" y="4568"/>
              <a:ext cx="84" cy="39"/>
            </a:xfrm>
            <a:custGeom>
              <a:avLst/>
              <a:gdLst>
                <a:gd name="T0" fmla="*/ 21 w 28"/>
                <a:gd name="T1" fmla="*/ 13 h 13"/>
                <a:gd name="T2" fmla="*/ 28 w 28"/>
                <a:gd name="T3" fmla="*/ 5 h 13"/>
                <a:gd name="T4" fmla="*/ 28 w 28"/>
                <a:gd name="T5" fmla="*/ 5 h 13"/>
                <a:gd name="T6" fmla="*/ 6 w 28"/>
                <a:gd name="T7" fmla="*/ 0 h 13"/>
                <a:gd name="T8" fmla="*/ 0 w 28"/>
                <a:gd name="T9" fmla="*/ 7 h 13"/>
                <a:gd name="T10" fmla="*/ 0 w 28"/>
                <a:gd name="T11" fmla="*/ 7 h 13"/>
                <a:gd name="T12" fmla="*/ 21 w 28"/>
                <a:gd name="T13" fmla="*/ 13 h 13"/>
                <a:gd name="T14" fmla="*/ 21 w 28"/>
                <a:gd name="T15" fmla="*/ 13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13">
                  <a:moveTo>
                    <a:pt x="21" y="13"/>
                  </a:moveTo>
                  <a:lnTo>
                    <a:pt x="28" y="5"/>
                  </a:lnTo>
                  <a:lnTo>
                    <a:pt x="28" y="5"/>
                  </a:lnTo>
                  <a:lnTo>
                    <a:pt x="6" y="0"/>
                  </a:lnTo>
                  <a:lnTo>
                    <a:pt x="0" y="7"/>
                  </a:lnTo>
                  <a:lnTo>
                    <a:pt x="0" y="7"/>
                  </a:lnTo>
                  <a:lnTo>
                    <a:pt x="21" y="13"/>
                  </a:lnTo>
                  <a:lnTo>
                    <a:pt x="21"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32" name="Freeform 1358"/>
            <p:cNvSpPr/>
            <p:nvPr>
              <p:custDataLst>
                <p:tags r:id="rId86"/>
              </p:custDataLst>
            </p:nvPr>
          </p:nvSpPr>
          <p:spPr bwMode="auto">
            <a:xfrm rot="300000">
              <a:off x="12824" y="4461"/>
              <a:ext cx="84" cy="51"/>
            </a:xfrm>
            <a:custGeom>
              <a:avLst/>
              <a:gdLst>
                <a:gd name="T0" fmla="*/ 17 w 28"/>
                <a:gd name="T1" fmla="*/ 17 h 17"/>
                <a:gd name="T2" fmla="*/ 28 w 28"/>
                <a:gd name="T3" fmla="*/ 11 h 17"/>
                <a:gd name="T4" fmla="*/ 8 w 28"/>
                <a:gd name="T5" fmla="*/ 0 h 17"/>
                <a:gd name="T6" fmla="*/ 0 w 28"/>
                <a:gd name="T7" fmla="*/ 7 h 17"/>
                <a:gd name="T8" fmla="*/ 17 w 28"/>
                <a:gd name="T9" fmla="*/ 17 h 17"/>
              </a:gdLst>
              <a:ahLst/>
              <a:cxnLst>
                <a:cxn ang="0">
                  <a:pos x="T0" y="T1"/>
                </a:cxn>
                <a:cxn ang="0">
                  <a:pos x="T2" y="T3"/>
                </a:cxn>
                <a:cxn ang="0">
                  <a:pos x="T4" y="T5"/>
                </a:cxn>
                <a:cxn ang="0">
                  <a:pos x="T6" y="T7"/>
                </a:cxn>
                <a:cxn ang="0">
                  <a:pos x="T8" y="T9"/>
                </a:cxn>
              </a:cxnLst>
              <a:rect l="0" t="0" r="r" b="b"/>
              <a:pathLst>
                <a:path w="28" h="17">
                  <a:moveTo>
                    <a:pt x="17" y="17"/>
                  </a:moveTo>
                  <a:lnTo>
                    <a:pt x="28" y="11"/>
                  </a:lnTo>
                  <a:lnTo>
                    <a:pt x="8" y="0"/>
                  </a:lnTo>
                  <a:lnTo>
                    <a:pt x="0" y="7"/>
                  </a:lnTo>
                  <a:lnTo>
                    <a:pt x="17"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33" name="Freeform 1359"/>
            <p:cNvSpPr/>
            <p:nvPr>
              <p:custDataLst>
                <p:tags r:id="rId87"/>
              </p:custDataLst>
            </p:nvPr>
          </p:nvSpPr>
          <p:spPr bwMode="auto">
            <a:xfrm rot="300000">
              <a:off x="13262" y="4642"/>
              <a:ext cx="84" cy="30"/>
            </a:xfrm>
            <a:custGeom>
              <a:avLst/>
              <a:gdLst>
                <a:gd name="T0" fmla="*/ 23 w 28"/>
                <a:gd name="T1" fmla="*/ 10 h 10"/>
                <a:gd name="T2" fmla="*/ 28 w 28"/>
                <a:gd name="T3" fmla="*/ 4 h 10"/>
                <a:gd name="T4" fmla="*/ 4 w 28"/>
                <a:gd name="T5" fmla="*/ 0 h 10"/>
                <a:gd name="T6" fmla="*/ 0 w 28"/>
                <a:gd name="T7" fmla="*/ 8 h 10"/>
                <a:gd name="T8" fmla="*/ 23 w 28"/>
                <a:gd name="T9" fmla="*/ 10 h 10"/>
              </a:gdLst>
              <a:ahLst/>
              <a:cxnLst>
                <a:cxn ang="0">
                  <a:pos x="T0" y="T1"/>
                </a:cxn>
                <a:cxn ang="0">
                  <a:pos x="T2" y="T3"/>
                </a:cxn>
                <a:cxn ang="0">
                  <a:pos x="T4" y="T5"/>
                </a:cxn>
                <a:cxn ang="0">
                  <a:pos x="T6" y="T7"/>
                </a:cxn>
                <a:cxn ang="0">
                  <a:pos x="T8" y="T9"/>
                </a:cxn>
              </a:cxnLst>
              <a:rect l="0" t="0" r="r" b="b"/>
              <a:pathLst>
                <a:path w="28" h="10">
                  <a:moveTo>
                    <a:pt x="23" y="10"/>
                  </a:moveTo>
                  <a:lnTo>
                    <a:pt x="28" y="4"/>
                  </a:lnTo>
                  <a:lnTo>
                    <a:pt x="4" y="0"/>
                  </a:lnTo>
                  <a:lnTo>
                    <a:pt x="0" y="8"/>
                  </a:lnTo>
                  <a:lnTo>
                    <a:pt x="23" y="1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34" name="Freeform 1360"/>
            <p:cNvSpPr/>
            <p:nvPr>
              <p:custDataLst>
                <p:tags r:id="rId88"/>
              </p:custDataLst>
            </p:nvPr>
          </p:nvSpPr>
          <p:spPr bwMode="auto">
            <a:xfrm rot="300000">
              <a:off x="13770" y="4680"/>
              <a:ext cx="84" cy="30"/>
            </a:xfrm>
            <a:custGeom>
              <a:avLst/>
              <a:gdLst>
                <a:gd name="T0" fmla="*/ 5 w 28"/>
                <a:gd name="T1" fmla="*/ 10 h 10"/>
                <a:gd name="T2" fmla="*/ 5 w 28"/>
                <a:gd name="T3" fmla="*/ 10 h 10"/>
                <a:gd name="T4" fmla="*/ 28 w 28"/>
                <a:gd name="T5" fmla="*/ 8 h 10"/>
                <a:gd name="T6" fmla="*/ 24 w 28"/>
                <a:gd name="T7" fmla="*/ 0 h 10"/>
                <a:gd name="T8" fmla="*/ 24 w 28"/>
                <a:gd name="T9" fmla="*/ 0 h 10"/>
                <a:gd name="T10" fmla="*/ 0 w 28"/>
                <a:gd name="T11" fmla="*/ 4 h 10"/>
                <a:gd name="T12" fmla="*/ 5 w 28"/>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28" h="10">
                  <a:moveTo>
                    <a:pt x="5" y="10"/>
                  </a:moveTo>
                  <a:lnTo>
                    <a:pt x="5" y="10"/>
                  </a:lnTo>
                  <a:lnTo>
                    <a:pt x="28" y="8"/>
                  </a:lnTo>
                  <a:lnTo>
                    <a:pt x="24" y="0"/>
                  </a:lnTo>
                  <a:lnTo>
                    <a:pt x="24" y="0"/>
                  </a:lnTo>
                  <a:lnTo>
                    <a:pt x="0" y="4"/>
                  </a:lnTo>
                  <a:lnTo>
                    <a:pt x="5" y="1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35" name="Freeform 1361"/>
            <p:cNvSpPr/>
            <p:nvPr>
              <p:custDataLst>
                <p:tags r:id="rId89"/>
              </p:custDataLst>
            </p:nvPr>
          </p:nvSpPr>
          <p:spPr bwMode="auto">
            <a:xfrm rot="300000">
              <a:off x="13523" y="4682"/>
              <a:ext cx="72" cy="27"/>
            </a:xfrm>
            <a:custGeom>
              <a:avLst/>
              <a:gdLst>
                <a:gd name="T0" fmla="*/ 0 w 24"/>
                <a:gd name="T1" fmla="*/ 0 h 9"/>
                <a:gd name="T2" fmla="*/ 0 w 24"/>
                <a:gd name="T3" fmla="*/ 9 h 9"/>
                <a:gd name="T4" fmla="*/ 0 w 24"/>
                <a:gd name="T5" fmla="*/ 9 h 9"/>
                <a:gd name="T6" fmla="*/ 24 w 24"/>
                <a:gd name="T7" fmla="*/ 9 h 9"/>
                <a:gd name="T8" fmla="*/ 24 w 24"/>
                <a:gd name="T9" fmla="*/ 0 h 9"/>
                <a:gd name="T10" fmla="*/ 24 w 24"/>
                <a:gd name="T11" fmla="*/ 0 h 9"/>
                <a:gd name="T12" fmla="*/ 0 w 24"/>
                <a:gd name="T13" fmla="*/ 0 h 9"/>
                <a:gd name="T14" fmla="*/ 0 w 24"/>
                <a:gd name="T15" fmla="*/ 0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9">
                  <a:moveTo>
                    <a:pt x="0" y="0"/>
                  </a:moveTo>
                  <a:lnTo>
                    <a:pt x="0" y="9"/>
                  </a:lnTo>
                  <a:lnTo>
                    <a:pt x="0" y="9"/>
                  </a:lnTo>
                  <a:lnTo>
                    <a:pt x="24" y="9"/>
                  </a:lnTo>
                  <a:lnTo>
                    <a:pt x="24" y="0"/>
                  </a:lnTo>
                  <a:lnTo>
                    <a:pt x="24" y="0"/>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36" name="Freeform 1362"/>
            <p:cNvSpPr/>
            <p:nvPr>
              <p:custDataLst>
                <p:tags r:id="rId90"/>
              </p:custDataLst>
            </p:nvPr>
          </p:nvSpPr>
          <p:spPr bwMode="auto">
            <a:xfrm rot="300000">
              <a:off x="14013" y="4642"/>
              <a:ext cx="84" cy="39"/>
            </a:xfrm>
            <a:custGeom>
              <a:avLst/>
              <a:gdLst>
                <a:gd name="T0" fmla="*/ 7 w 28"/>
                <a:gd name="T1" fmla="*/ 13 h 13"/>
                <a:gd name="T2" fmla="*/ 7 w 28"/>
                <a:gd name="T3" fmla="*/ 13 h 13"/>
                <a:gd name="T4" fmla="*/ 28 w 28"/>
                <a:gd name="T5" fmla="*/ 7 h 13"/>
                <a:gd name="T6" fmla="*/ 20 w 28"/>
                <a:gd name="T7" fmla="*/ 0 h 13"/>
                <a:gd name="T8" fmla="*/ 20 w 28"/>
                <a:gd name="T9" fmla="*/ 0 h 13"/>
                <a:gd name="T10" fmla="*/ 0 w 28"/>
                <a:gd name="T11" fmla="*/ 7 h 13"/>
                <a:gd name="T12" fmla="*/ 7 w 28"/>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28" h="13">
                  <a:moveTo>
                    <a:pt x="7" y="13"/>
                  </a:moveTo>
                  <a:lnTo>
                    <a:pt x="7" y="13"/>
                  </a:lnTo>
                  <a:lnTo>
                    <a:pt x="28" y="7"/>
                  </a:lnTo>
                  <a:lnTo>
                    <a:pt x="20" y="0"/>
                  </a:lnTo>
                  <a:lnTo>
                    <a:pt x="20" y="0"/>
                  </a:lnTo>
                  <a:lnTo>
                    <a:pt x="0" y="7"/>
                  </a:lnTo>
                  <a:lnTo>
                    <a:pt x="7"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37" name="Freeform 1363"/>
            <p:cNvSpPr/>
            <p:nvPr>
              <p:custDataLst>
                <p:tags r:id="rId91"/>
              </p:custDataLst>
            </p:nvPr>
          </p:nvSpPr>
          <p:spPr bwMode="auto">
            <a:xfrm rot="300000">
              <a:off x="14417" y="4483"/>
              <a:ext cx="78" cy="45"/>
            </a:xfrm>
            <a:custGeom>
              <a:avLst/>
              <a:gdLst>
                <a:gd name="T0" fmla="*/ 17 w 26"/>
                <a:gd name="T1" fmla="*/ 0 h 15"/>
                <a:gd name="T2" fmla="*/ 0 w 26"/>
                <a:gd name="T3" fmla="*/ 9 h 15"/>
                <a:gd name="T4" fmla="*/ 10 w 26"/>
                <a:gd name="T5" fmla="*/ 15 h 15"/>
                <a:gd name="T6" fmla="*/ 26 w 26"/>
                <a:gd name="T7" fmla="*/ 7 h 15"/>
                <a:gd name="T8" fmla="*/ 26 w 26"/>
                <a:gd name="T9" fmla="*/ 7 h 15"/>
                <a:gd name="T10" fmla="*/ 17 w 26"/>
                <a:gd name="T11" fmla="*/ 0 h 15"/>
              </a:gdLst>
              <a:ahLst/>
              <a:cxnLst>
                <a:cxn ang="0">
                  <a:pos x="T0" y="T1"/>
                </a:cxn>
                <a:cxn ang="0">
                  <a:pos x="T2" y="T3"/>
                </a:cxn>
                <a:cxn ang="0">
                  <a:pos x="T4" y="T5"/>
                </a:cxn>
                <a:cxn ang="0">
                  <a:pos x="T6" y="T7"/>
                </a:cxn>
                <a:cxn ang="0">
                  <a:pos x="T8" y="T9"/>
                </a:cxn>
                <a:cxn ang="0">
                  <a:pos x="T10" y="T11"/>
                </a:cxn>
              </a:cxnLst>
              <a:rect l="0" t="0" r="r" b="b"/>
              <a:pathLst>
                <a:path w="26" h="15">
                  <a:moveTo>
                    <a:pt x="17" y="0"/>
                  </a:moveTo>
                  <a:lnTo>
                    <a:pt x="0" y="9"/>
                  </a:lnTo>
                  <a:lnTo>
                    <a:pt x="10" y="15"/>
                  </a:lnTo>
                  <a:lnTo>
                    <a:pt x="26" y="7"/>
                  </a:lnTo>
                  <a:lnTo>
                    <a:pt x="26" y="7"/>
                  </a:lnTo>
                  <a:lnTo>
                    <a:pt x="1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38" name="Freeform 1364"/>
            <p:cNvSpPr/>
            <p:nvPr>
              <p:custDataLst>
                <p:tags r:id="rId92"/>
              </p:custDataLst>
            </p:nvPr>
          </p:nvSpPr>
          <p:spPr bwMode="auto">
            <a:xfrm rot="300000">
              <a:off x="14226" y="4571"/>
              <a:ext cx="84" cy="45"/>
            </a:xfrm>
            <a:custGeom>
              <a:avLst/>
              <a:gdLst>
                <a:gd name="T0" fmla="*/ 9 w 28"/>
                <a:gd name="T1" fmla="*/ 15 h 15"/>
                <a:gd name="T2" fmla="*/ 28 w 28"/>
                <a:gd name="T3" fmla="*/ 6 h 15"/>
                <a:gd name="T4" fmla="*/ 17 w 28"/>
                <a:gd name="T5" fmla="*/ 0 h 15"/>
                <a:gd name="T6" fmla="*/ 0 w 28"/>
                <a:gd name="T7" fmla="*/ 9 h 15"/>
                <a:gd name="T8" fmla="*/ 9 w 28"/>
                <a:gd name="T9" fmla="*/ 15 h 15"/>
              </a:gdLst>
              <a:ahLst/>
              <a:cxnLst>
                <a:cxn ang="0">
                  <a:pos x="T0" y="T1"/>
                </a:cxn>
                <a:cxn ang="0">
                  <a:pos x="T2" y="T3"/>
                </a:cxn>
                <a:cxn ang="0">
                  <a:pos x="T4" y="T5"/>
                </a:cxn>
                <a:cxn ang="0">
                  <a:pos x="T6" y="T7"/>
                </a:cxn>
                <a:cxn ang="0">
                  <a:pos x="T8" y="T9"/>
                </a:cxn>
              </a:cxnLst>
              <a:rect l="0" t="0" r="r" b="b"/>
              <a:pathLst>
                <a:path w="28" h="15">
                  <a:moveTo>
                    <a:pt x="9" y="15"/>
                  </a:moveTo>
                  <a:lnTo>
                    <a:pt x="28" y="6"/>
                  </a:lnTo>
                  <a:lnTo>
                    <a:pt x="17" y="0"/>
                  </a:lnTo>
                  <a:lnTo>
                    <a:pt x="0" y="9"/>
                  </a:lnTo>
                  <a:lnTo>
                    <a:pt x="9" y="1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39" name="Freeform 1365"/>
            <p:cNvSpPr/>
            <p:nvPr>
              <p:custDataLst>
                <p:tags r:id="rId93"/>
              </p:custDataLst>
            </p:nvPr>
          </p:nvSpPr>
          <p:spPr bwMode="auto">
            <a:xfrm rot="300000">
              <a:off x="14605" y="4398"/>
              <a:ext cx="78" cy="45"/>
            </a:xfrm>
            <a:custGeom>
              <a:avLst/>
              <a:gdLst>
                <a:gd name="T0" fmla="*/ 17 w 26"/>
                <a:gd name="T1" fmla="*/ 0 h 15"/>
                <a:gd name="T2" fmla="*/ 0 w 26"/>
                <a:gd name="T3" fmla="*/ 8 h 15"/>
                <a:gd name="T4" fmla="*/ 11 w 26"/>
                <a:gd name="T5" fmla="*/ 15 h 15"/>
                <a:gd name="T6" fmla="*/ 26 w 26"/>
                <a:gd name="T7" fmla="*/ 4 h 15"/>
                <a:gd name="T8" fmla="*/ 26 w 26"/>
                <a:gd name="T9" fmla="*/ 4 h 15"/>
                <a:gd name="T10" fmla="*/ 17 w 26"/>
                <a:gd name="T11" fmla="*/ 0 h 15"/>
              </a:gdLst>
              <a:ahLst/>
              <a:cxnLst>
                <a:cxn ang="0">
                  <a:pos x="T0" y="T1"/>
                </a:cxn>
                <a:cxn ang="0">
                  <a:pos x="T2" y="T3"/>
                </a:cxn>
                <a:cxn ang="0">
                  <a:pos x="T4" y="T5"/>
                </a:cxn>
                <a:cxn ang="0">
                  <a:pos x="T6" y="T7"/>
                </a:cxn>
                <a:cxn ang="0">
                  <a:pos x="T8" y="T9"/>
                </a:cxn>
                <a:cxn ang="0">
                  <a:pos x="T10" y="T11"/>
                </a:cxn>
              </a:cxnLst>
              <a:rect l="0" t="0" r="r" b="b"/>
              <a:pathLst>
                <a:path w="26" h="15">
                  <a:moveTo>
                    <a:pt x="17" y="0"/>
                  </a:moveTo>
                  <a:lnTo>
                    <a:pt x="0" y="8"/>
                  </a:lnTo>
                  <a:lnTo>
                    <a:pt x="11" y="15"/>
                  </a:lnTo>
                  <a:lnTo>
                    <a:pt x="26" y="4"/>
                  </a:lnTo>
                  <a:lnTo>
                    <a:pt x="26" y="4"/>
                  </a:lnTo>
                  <a:lnTo>
                    <a:pt x="1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40" name="Freeform 1366"/>
            <p:cNvSpPr/>
            <p:nvPr>
              <p:custDataLst>
                <p:tags r:id="rId94"/>
              </p:custDataLst>
            </p:nvPr>
          </p:nvSpPr>
          <p:spPr bwMode="auto">
            <a:xfrm rot="300000">
              <a:off x="14984" y="4220"/>
              <a:ext cx="78" cy="45"/>
            </a:xfrm>
            <a:custGeom>
              <a:avLst/>
              <a:gdLst>
                <a:gd name="T0" fmla="*/ 0 w 26"/>
                <a:gd name="T1" fmla="*/ 10 h 15"/>
                <a:gd name="T2" fmla="*/ 9 w 26"/>
                <a:gd name="T3" fmla="*/ 15 h 15"/>
                <a:gd name="T4" fmla="*/ 26 w 26"/>
                <a:gd name="T5" fmla="*/ 6 h 15"/>
                <a:gd name="T6" fmla="*/ 15 w 26"/>
                <a:gd name="T7" fmla="*/ 0 h 15"/>
                <a:gd name="T8" fmla="*/ 0 w 26"/>
                <a:gd name="T9" fmla="*/ 10 h 15"/>
              </a:gdLst>
              <a:ahLst/>
              <a:cxnLst>
                <a:cxn ang="0">
                  <a:pos x="T0" y="T1"/>
                </a:cxn>
                <a:cxn ang="0">
                  <a:pos x="T2" y="T3"/>
                </a:cxn>
                <a:cxn ang="0">
                  <a:pos x="T4" y="T5"/>
                </a:cxn>
                <a:cxn ang="0">
                  <a:pos x="T6" y="T7"/>
                </a:cxn>
                <a:cxn ang="0">
                  <a:pos x="T8" y="T9"/>
                </a:cxn>
              </a:cxnLst>
              <a:rect l="0" t="0" r="r" b="b"/>
              <a:pathLst>
                <a:path w="26" h="15">
                  <a:moveTo>
                    <a:pt x="0" y="10"/>
                  </a:moveTo>
                  <a:lnTo>
                    <a:pt x="9" y="15"/>
                  </a:lnTo>
                  <a:lnTo>
                    <a:pt x="26" y="6"/>
                  </a:lnTo>
                  <a:lnTo>
                    <a:pt x="15" y="0"/>
                  </a:lnTo>
                  <a:lnTo>
                    <a:pt x="0" y="1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41" name="Freeform 1367"/>
            <p:cNvSpPr/>
            <p:nvPr>
              <p:custDataLst>
                <p:tags r:id="rId95"/>
              </p:custDataLst>
            </p:nvPr>
          </p:nvSpPr>
          <p:spPr bwMode="auto">
            <a:xfrm rot="300000">
              <a:off x="15153" y="4136"/>
              <a:ext cx="78" cy="45"/>
            </a:xfrm>
            <a:custGeom>
              <a:avLst/>
              <a:gdLst>
                <a:gd name="T0" fmla="*/ 0 w 26"/>
                <a:gd name="T1" fmla="*/ 11 h 15"/>
                <a:gd name="T2" fmla="*/ 11 w 26"/>
                <a:gd name="T3" fmla="*/ 15 h 15"/>
                <a:gd name="T4" fmla="*/ 26 w 26"/>
                <a:gd name="T5" fmla="*/ 7 h 15"/>
                <a:gd name="T6" fmla="*/ 17 w 26"/>
                <a:gd name="T7" fmla="*/ 0 h 15"/>
                <a:gd name="T8" fmla="*/ 0 w 26"/>
                <a:gd name="T9" fmla="*/ 11 h 15"/>
              </a:gdLst>
              <a:ahLst/>
              <a:cxnLst>
                <a:cxn ang="0">
                  <a:pos x="T0" y="T1"/>
                </a:cxn>
                <a:cxn ang="0">
                  <a:pos x="T2" y="T3"/>
                </a:cxn>
                <a:cxn ang="0">
                  <a:pos x="T4" y="T5"/>
                </a:cxn>
                <a:cxn ang="0">
                  <a:pos x="T6" y="T7"/>
                </a:cxn>
                <a:cxn ang="0">
                  <a:pos x="T8" y="T9"/>
                </a:cxn>
              </a:cxnLst>
              <a:rect l="0" t="0" r="r" b="b"/>
              <a:pathLst>
                <a:path w="26" h="15">
                  <a:moveTo>
                    <a:pt x="0" y="11"/>
                  </a:moveTo>
                  <a:lnTo>
                    <a:pt x="11" y="15"/>
                  </a:lnTo>
                  <a:lnTo>
                    <a:pt x="26" y="7"/>
                  </a:lnTo>
                  <a:lnTo>
                    <a:pt x="17" y="0"/>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42" name="Freeform 1368"/>
            <p:cNvSpPr/>
            <p:nvPr>
              <p:custDataLst>
                <p:tags r:id="rId96"/>
              </p:custDataLst>
            </p:nvPr>
          </p:nvSpPr>
          <p:spPr bwMode="auto">
            <a:xfrm rot="300000">
              <a:off x="15323" y="4055"/>
              <a:ext cx="84" cy="45"/>
            </a:xfrm>
            <a:custGeom>
              <a:avLst/>
              <a:gdLst>
                <a:gd name="T0" fmla="*/ 0 w 28"/>
                <a:gd name="T1" fmla="*/ 11 h 15"/>
                <a:gd name="T2" fmla="*/ 11 w 28"/>
                <a:gd name="T3" fmla="*/ 15 h 15"/>
                <a:gd name="T4" fmla="*/ 28 w 28"/>
                <a:gd name="T5" fmla="*/ 6 h 15"/>
                <a:gd name="T6" fmla="*/ 17 w 28"/>
                <a:gd name="T7" fmla="*/ 0 h 15"/>
                <a:gd name="T8" fmla="*/ 0 w 28"/>
                <a:gd name="T9" fmla="*/ 11 h 15"/>
              </a:gdLst>
              <a:ahLst/>
              <a:cxnLst>
                <a:cxn ang="0">
                  <a:pos x="T0" y="T1"/>
                </a:cxn>
                <a:cxn ang="0">
                  <a:pos x="T2" y="T3"/>
                </a:cxn>
                <a:cxn ang="0">
                  <a:pos x="T4" y="T5"/>
                </a:cxn>
                <a:cxn ang="0">
                  <a:pos x="T6" y="T7"/>
                </a:cxn>
                <a:cxn ang="0">
                  <a:pos x="T8" y="T9"/>
                </a:cxn>
              </a:cxnLst>
              <a:rect l="0" t="0" r="r" b="b"/>
              <a:pathLst>
                <a:path w="28" h="15">
                  <a:moveTo>
                    <a:pt x="0" y="11"/>
                  </a:moveTo>
                  <a:lnTo>
                    <a:pt x="11" y="15"/>
                  </a:lnTo>
                  <a:lnTo>
                    <a:pt x="28" y="6"/>
                  </a:lnTo>
                  <a:lnTo>
                    <a:pt x="17" y="0"/>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43" name="Freeform 1369"/>
            <p:cNvSpPr/>
            <p:nvPr>
              <p:custDataLst>
                <p:tags r:id="rId97"/>
              </p:custDataLst>
            </p:nvPr>
          </p:nvSpPr>
          <p:spPr bwMode="auto">
            <a:xfrm rot="300000">
              <a:off x="14796" y="4304"/>
              <a:ext cx="75" cy="51"/>
            </a:xfrm>
            <a:custGeom>
              <a:avLst/>
              <a:gdLst>
                <a:gd name="T0" fmla="*/ 8 w 25"/>
                <a:gd name="T1" fmla="*/ 17 h 17"/>
                <a:gd name="T2" fmla="*/ 25 w 25"/>
                <a:gd name="T3" fmla="*/ 7 h 17"/>
                <a:gd name="T4" fmla="*/ 17 w 25"/>
                <a:gd name="T5" fmla="*/ 0 h 17"/>
                <a:gd name="T6" fmla="*/ 0 w 25"/>
                <a:gd name="T7" fmla="*/ 11 h 17"/>
                <a:gd name="T8" fmla="*/ 8 w 25"/>
                <a:gd name="T9" fmla="*/ 17 h 17"/>
              </a:gdLst>
              <a:ahLst/>
              <a:cxnLst>
                <a:cxn ang="0">
                  <a:pos x="T0" y="T1"/>
                </a:cxn>
                <a:cxn ang="0">
                  <a:pos x="T2" y="T3"/>
                </a:cxn>
                <a:cxn ang="0">
                  <a:pos x="T4" y="T5"/>
                </a:cxn>
                <a:cxn ang="0">
                  <a:pos x="T6" y="T7"/>
                </a:cxn>
                <a:cxn ang="0">
                  <a:pos x="T8" y="T9"/>
                </a:cxn>
              </a:cxnLst>
              <a:rect l="0" t="0" r="r" b="b"/>
              <a:pathLst>
                <a:path w="25" h="17">
                  <a:moveTo>
                    <a:pt x="8" y="17"/>
                  </a:moveTo>
                  <a:lnTo>
                    <a:pt x="25" y="7"/>
                  </a:lnTo>
                  <a:lnTo>
                    <a:pt x="17" y="0"/>
                  </a:lnTo>
                  <a:lnTo>
                    <a:pt x="0" y="11"/>
                  </a:lnTo>
                  <a:lnTo>
                    <a:pt x="8"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44" name="Freeform 1788"/>
            <p:cNvSpPr/>
            <p:nvPr>
              <p:custDataLst>
                <p:tags r:id="rId98"/>
              </p:custDataLst>
            </p:nvPr>
          </p:nvSpPr>
          <p:spPr bwMode="auto">
            <a:xfrm rot="300000">
              <a:off x="6179" y="7845"/>
              <a:ext cx="18" cy="0"/>
            </a:xfrm>
            <a:custGeom>
              <a:avLst/>
              <a:gdLst>
                <a:gd name="T0" fmla="*/ 6 w 6"/>
                <a:gd name="T1" fmla="*/ 6 w 6"/>
                <a:gd name="T2" fmla="*/ 0 w 6"/>
                <a:gd name="T3" fmla="*/ 0 w 6"/>
                <a:gd name="T4" fmla="*/ 6 w 6"/>
                <a:gd name="T5" fmla="*/ 6 w 6"/>
              </a:gdLst>
              <a:ahLst/>
              <a:cxnLst>
                <a:cxn ang="0">
                  <a:pos x="T0" y="0"/>
                </a:cxn>
                <a:cxn ang="0">
                  <a:pos x="T1" y="0"/>
                </a:cxn>
                <a:cxn ang="0">
                  <a:pos x="T2" y="0"/>
                </a:cxn>
                <a:cxn ang="0">
                  <a:pos x="T3" y="0"/>
                </a:cxn>
                <a:cxn ang="0">
                  <a:pos x="T4" y="0"/>
                </a:cxn>
                <a:cxn ang="0">
                  <a:pos x="T5" y="0"/>
                </a:cxn>
              </a:cxnLst>
              <a:rect l="0" t="0" r="r" b="b"/>
              <a:pathLst>
                <a:path w="6">
                  <a:moveTo>
                    <a:pt x="6" y="0"/>
                  </a:moveTo>
                  <a:lnTo>
                    <a:pt x="6" y="0"/>
                  </a:lnTo>
                  <a:lnTo>
                    <a:pt x="0" y="0"/>
                  </a:lnTo>
                  <a:lnTo>
                    <a:pt x="0" y="0"/>
                  </a:lnTo>
                  <a:lnTo>
                    <a:pt x="6" y="0"/>
                  </a:lnTo>
                  <a:lnTo>
                    <a:pt x="6" y="0"/>
                  </a:lnTo>
                  <a:close/>
                </a:path>
              </a:pathLst>
            </a:custGeom>
            <a:solidFill>
              <a:srgbClr val="E3E3E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45" name="Freeform 1832"/>
            <p:cNvSpPr/>
            <p:nvPr/>
          </p:nvSpPr>
          <p:spPr bwMode="auto">
            <a:xfrm rot="300000">
              <a:off x="6293" y="7887"/>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close/>
                </a:path>
              </a:pathLst>
            </a:custGeom>
            <a:solidFill>
              <a:srgbClr val="E3E3E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46" name="Freeform 1232"/>
            <p:cNvSpPr/>
            <p:nvPr>
              <p:custDataLst>
                <p:tags r:id="rId99"/>
              </p:custDataLst>
            </p:nvPr>
          </p:nvSpPr>
          <p:spPr bwMode="auto">
            <a:xfrm rot="300000" flipH="1">
              <a:off x="11899" y="3559"/>
              <a:ext cx="84" cy="45"/>
            </a:xfrm>
            <a:custGeom>
              <a:avLst/>
              <a:gdLst>
                <a:gd name="T0" fmla="*/ 0 w 28"/>
                <a:gd name="T1" fmla="*/ 6 h 15"/>
                <a:gd name="T2" fmla="*/ 17 w 28"/>
                <a:gd name="T3" fmla="*/ 15 h 15"/>
                <a:gd name="T4" fmla="*/ 28 w 28"/>
                <a:gd name="T5" fmla="*/ 8 h 15"/>
                <a:gd name="T6" fmla="*/ 11 w 28"/>
                <a:gd name="T7" fmla="*/ 0 h 15"/>
                <a:gd name="T8" fmla="*/ 0 w 28"/>
                <a:gd name="T9" fmla="*/ 6 h 15"/>
              </a:gdLst>
              <a:ahLst/>
              <a:cxnLst>
                <a:cxn ang="0">
                  <a:pos x="T0" y="T1"/>
                </a:cxn>
                <a:cxn ang="0">
                  <a:pos x="T2" y="T3"/>
                </a:cxn>
                <a:cxn ang="0">
                  <a:pos x="T4" y="T5"/>
                </a:cxn>
                <a:cxn ang="0">
                  <a:pos x="T6" y="T7"/>
                </a:cxn>
                <a:cxn ang="0">
                  <a:pos x="T8" y="T9"/>
                </a:cxn>
              </a:cxnLst>
              <a:rect l="0" t="0" r="r" b="b"/>
              <a:pathLst>
                <a:path w="28" h="15">
                  <a:moveTo>
                    <a:pt x="0" y="6"/>
                  </a:moveTo>
                  <a:lnTo>
                    <a:pt x="17" y="15"/>
                  </a:lnTo>
                  <a:lnTo>
                    <a:pt x="28" y="8"/>
                  </a:lnTo>
                  <a:lnTo>
                    <a:pt x="11"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49" name="Freeform 1308"/>
            <p:cNvSpPr/>
            <p:nvPr>
              <p:custDataLst>
                <p:tags r:id="rId100"/>
              </p:custDataLst>
            </p:nvPr>
          </p:nvSpPr>
          <p:spPr bwMode="auto">
            <a:xfrm rot="300000">
              <a:off x="10191" y="4798"/>
              <a:ext cx="66" cy="48"/>
            </a:xfrm>
            <a:custGeom>
              <a:avLst/>
              <a:gdLst>
                <a:gd name="T0" fmla="*/ 22 w 22"/>
                <a:gd name="T1" fmla="*/ 13 h 16"/>
                <a:gd name="T2" fmla="*/ 22 w 22"/>
                <a:gd name="T3" fmla="*/ 13 h 16"/>
                <a:gd name="T4" fmla="*/ 13 w 22"/>
                <a:gd name="T5" fmla="*/ 0 h 16"/>
                <a:gd name="T6" fmla="*/ 0 w 22"/>
                <a:gd name="T7" fmla="*/ 3 h 16"/>
                <a:gd name="T8" fmla="*/ 0 w 22"/>
                <a:gd name="T9" fmla="*/ 3 h 16"/>
                <a:gd name="T10" fmla="*/ 9 w 22"/>
                <a:gd name="T11" fmla="*/ 16 h 16"/>
                <a:gd name="T12" fmla="*/ 22 w 22"/>
                <a:gd name="T13" fmla="*/ 13 h 16"/>
              </a:gdLst>
              <a:ahLst/>
              <a:cxnLst>
                <a:cxn ang="0">
                  <a:pos x="T0" y="T1"/>
                </a:cxn>
                <a:cxn ang="0">
                  <a:pos x="T2" y="T3"/>
                </a:cxn>
                <a:cxn ang="0">
                  <a:pos x="T4" y="T5"/>
                </a:cxn>
                <a:cxn ang="0">
                  <a:pos x="T6" y="T7"/>
                </a:cxn>
                <a:cxn ang="0">
                  <a:pos x="T8" y="T9"/>
                </a:cxn>
                <a:cxn ang="0">
                  <a:pos x="T10" y="T11"/>
                </a:cxn>
                <a:cxn ang="0">
                  <a:pos x="T12" y="T13"/>
                </a:cxn>
              </a:cxnLst>
              <a:rect l="0" t="0" r="r" b="b"/>
              <a:pathLst>
                <a:path w="22" h="16">
                  <a:moveTo>
                    <a:pt x="22" y="13"/>
                  </a:moveTo>
                  <a:lnTo>
                    <a:pt x="22" y="13"/>
                  </a:lnTo>
                  <a:lnTo>
                    <a:pt x="13" y="0"/>
                  </a:lnTo>
                  <a:lnTo>
                    <a:pt x="0" y="3"/>
                  </a:lnTo>
                  <a:lnTo>
                    <a:pt x="0" y="3"/>
                  </a:lnTo>
                  <a:lnTo>
                    <a:pt x="9" y="16"/>
                  </a:lnTo>
                  <a:lnTo>
                    <a:pt x="22"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50" name="Freeform 1309"/>
            <p:cNvSpPr/>
            <p:nvPr>
              <p:custDataLst>
                <p:tags r:id="rId101"/>
              </p:custDataLst>
            </p:nvPr>
          </p:nvSpPr>
          <p:spPr bwMode="auto">
            <a:xfrm rot="300000">
              <a:off x="10166" y="4511"/>
              <a:ext cx="45" cy="39"/>
            </a:xfrm>
            <a:custGeom>
              <a:avLst/>
              <a:gdLst>
                <a:gd name="T0" fmla="*/ 0 w 15"/>
                <a:gd name="T1" fmla="*/ 13 h 13"/>
                <a:gd name="T2" fmla="*/ 13 w 15"/>
                <a:gd name="T3" fmla="*/ 13 h 13"/>
                <a:gd name="T4" fmla="*/ 15 w 15"/>
                <a:gd name="T5" fmla="*/ 0 h 13"/>
                <a:gd name="T6" fmla="*/ 0 w 15"/>
                <a:gd name="T7" fmla="*/ 0 h 13"/>
                <a:gd name="T8" fmla="*/ 0 w 15"/>
                <a:gd name="T9" fmla="*/ 13 h 13"/>
              </a:gdLst>
              <a:ahLst/>
              <a:cxnLst>
                <a:cxn ang="0">
                  <a:pos x="T0" y="T1"/>
                </a:cxn>
                <a:cxn ang="0">
                  <a:pos x="T2" y="T3"/>
                </a:cxn>
                <a:cxn ang="0">
                  <a:pos x="T4" y="T5"/>
                </a:cxn>
                <a:cxn ang="0">
                  <a:pos x="T6" y="T7"/>
                </a:cxn>
                <a:cxn ang="0">
                  <a:pos x="T8" y="T9"/>
                </a:cxn>
              </a:cxnLst>
              <a:rect l="0" t="0" r="r" b="b"/>
              <a:pathLst>
                <a:path w="15" h="13">
                  <a:moveTo>
                    <a:pt x="0" y="13"/>
                  </a:moveTo>
                  <a:lnTo>
                    <a:pt x="13" y="13"/>
                  </a:lnTo>
                  <a:lnTo>
                    <a:pt x="15" y="0"/>
                  </a:lnTo>
                  <a:lnTo>
                    <a:pt x="0" y="0"/>
                  </a:lnTo>
                  <a:lnTo>
                    <a:pt x="0"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51" name="Freeform 1310"/>
            <p:cNvSpPr/>
            <p:nvPr>
              <p:custDataLst>
                <p:tags r:id="rId102"/>
              </p:custDataLst>
            </p:nvPr>
          </p:nvSpPr>
          <p:spPr bwMode="auto">
            <a:xfrm rot="300000">
              <a:off x="10153" y="4654"/>
              <a:ext cx="57" cy="45"/>
            </a:xfrm>
            <a:custGeom>
              <a:avLst/>
              <a:gdLst>
                <a:gd name="T0" fmla="*/ 19 w 19"/>
                <a:gd name="T1" fmla="*/ 13 h 15"/>
                <a:gd name="T2" fmla="*/ 19 w 19"/>
                <a:gd name="T3" fmla="*/ 13 h 15"/>
                <a:gd name="T4" fmla="*/ 15 w 19"/>
                <a:gd name="T5" fmla="*/ 0 h 15"/>
                <a:gd name="T6" fmla="*/ 0 w 19"/>
                <a:gd name="T7" fmla="*/ 2 h 15"/>
                <a:gd name="T8" fmla="*/ 0 w 19"/>
                <a:gd name="T9" fmla="*/ 2 h 15"/>
                <a:gd name="T10" fmla="*/ 4 w 19"/>
                <a:gd name="T11" fmla="*/ 15 h 15"/>
                <a:gd name="T12" fmla="*/ 19 w 19"/>
                <a:gd name="T13" fmla="*/ 13 h 15"/>
              </a:gdLst>
              <a:ahLst/>
              <a:cxnLst>
                <a:cxn ang="0">
                  <a:pos x="T0" y="T1"/>
                </a:cxn>
                <a:cxn ang="0">
                  <a:pos x="T2" y="T3"/>
                </a:cxn>
                <a:cxn ang="0">
                  <a:pos x="T4" y="T5"/>
                </a:cxn>
                <a:cxn ang="0">
                  <a:pos x="T6" y="T7"/>
                </a:cxn>
                <a:cxn ang="0">
                  <a:pos x="T8" y="T9"/>
                </a:cxn>
                <a:cxn ang="0">
                  <a:pos x="T10" y="T11"/>
                </a:cxn>
                <a:cxn ang="0">
                  <a:pos x="T12" y="T13"/>
                </a:cxn>
              </a:cxnLst>
              <a:rect l="0" t="0" r="r" b="b"/>
              <a:pathLst>
                <a:path w="19" h="15">
                  <a:moveTo>
                    <a:pt x="19" y="13"/>
                  </a:moveTo>
                  <a:lnTo>
                    <a:pt x="19" y="13"/>
                  </a:lnTo>
                  <a:lnTo>
                    <a:pt x="15" y="0"/>
                  </a:lnTo>
                  <a:lnTo>
                    <a:pt x="0" y="2"/>
                  </a:lnTo>
                  <a:lnTo>
                    <a:pt x="0" y="2"/>
                  </a:lnTo>
                  <a:lnTo>
                    <a:pt x="4" y="15"/>
                  </a:lnTo>
                  <a:lnTo>
                    <a:pt x="19"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52" name="Freeform 1311"/>
            <p:cNvSpPr/>
            <p:nvPr>
              <p:custDataLst>
                <p:tags r:id="rId103"/>
              </p:custDataLst>
            </p:nvPr>
          </p:nvSpPr>
          <p:spPr bwMode="auto">
            <a:xfrm rot="300000">
              <a:off x="10211" y="4369"/>
              <a:ext cx="57" cy="45"/>
            </a:xfrm>
            <a:custGeom>
              <a:avLst/>
              <a:gdLst>
                <a:gd name="T0" fmla="*/ 0 w 19"/>
                <a:gd name="T1" fmla="*/ 13 h 15"/>
                <a:gd name="T2" fmla="*/ 13 w 19"/>
                <a:gd name="T3" fmla="*/ 15 h 15"/>
                <a:gd name="T4" fmla="*/ 19 w 19"/>
                <a:gd name="T5" fmla="*/ 2 h 15"/>
                <a:gd name="T6" fmla="*/ 4 w 19"/>
                <a:gd name="T7" fmla="*/ 0 h 15"/>
                <a:gd name="T8" fmla="*/ 0 w 19"/>
                <a:gd name="T9" fmla="*/ 13 h 15"/>
              </a:gdLst>
              <a:ahLst/>
              <a:cxnLst>
                <a:cxn ang="0">
                  <a:pos x="T0" y="T1"/>
                </a:cxn>
                <a:cxn ang="0">
                  <a:pos x="T2" y="T3"/>
                </a:cxn>
                <a:cxn ang="0">
                  <a:pos x="T4" y="T5"/>
                </a:cxn>
                <a:cxn ang="0">
                  <a:pos x="T6" y="T7"/>
                </a:cxn>
                <a:cxn ang="0">
                  <a:pos x="T8" y="T9"/>
                </a:cxn>
              </a:cxnLst>
              <a:rect l="0" t="0" r="r" b="b"/>
              <a:pathLst>
                <a:path w="19" h="15">
                  <a:moveTo>
                    <a:pt x="0" y="13"/>
                  </a:moveTo>
                  <a:lnTo>
                    <a:pt x="13" y="15"/>
                  </a:lnTo>
                  <a:lnTo>
                    <a:pt x="19" y="2"/>
                  </a:lnTo>
                  <a:lnTo>
                    <a:pt x="4" y="0"/>
                  </a:lnTo>
                  <a:lnTo>
                    <a:pt x="0"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53" name="Freeform 1312"/>
            <p:cNvSpPr/>
            <p:nvPr>
              <p:custDataLst>
                <p:tags r:id="rId104"/>
              </p:custDataLst>
            </p:nvPr>
          </p:nvSpPr>
          <p:spPr bwMode="auto">
            <a:xfrm rot="300000">
              <a:off x="10440" y="4124"/>
              <a:ext cx="78" cy="45"/>
            </a:xfrm>
            <a:custGeom>
              <a:avLst/>
              <a:gdLst>
                <a:gd name="T0" fmla="*/ 26 w 26"/>
                <a:gd name="T1" fmla="*/ 5 h 15"/>
                <a:gd name="T2" fmla="*/ 13 w 26"/>
                <a:gd name="T3" fmla="*/ 0 h 15"/>
                <a:gd name="T4" fmla="*/ 0 w 26"/>
                <a:gd name="T5" fmla="*/ 11 h 15"/>
                <a:gd name="T6" fmla="*/ 11 w 26"/>
                <a:gd name="T7" fmla="*/ 15 h 15"/>
                <a:gd name="T8" fmla="*/ 26 w 26"/>
                <a:gd name="T9" fmla="*/ 5 h 15"/>
              </a:gdLst>
              <a:ahLst/>
              <a:cxnLst>
                <a:cxn ang="0">
                  <a:pos x="T0" y="T1"/>
                </a:cxn>
                <a:cxn ang="0">
                  <a:pos x="T2" y="T3"/>
                </a:cxn>
                <a:cxn ang="0">
                  <a:pos x="T4" y="T5"/>
                </a:cxn>
                <a:cxn ang="0">
                  <a:pos x="T6" y="T7"/>
                </a:cxn>
                <a:cxn ang="0">
                  <a:pos x="T8" y="T9"/>
                </a:cxn>
              </a:cxnLst>
              <a:rect l="0" t="0" r="r" b="b"/>
              <a:pathLst>
                <a:path w="26" h="15">
                  <a:moveTo>
                    <a:pt x="26" y="5"/>
                  </a:moveTo>
                  <a:lnTo>
                    <a:pt x="13" y="0"/>
                  </a:lnTo>
                  <a:lnTo>
                    <a:pt x="0" y="11"/>
                  </a:lnTo>
                  <a:lnTo>
                    <a:pt x="11" y="15"/>
                  </a:lnTo>
                  <a:lnTo>
                    <a:pt x="26" y="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54" name="Freeform 1313"/>
            <p:cNvSpPr/>
            <p:nvPr>
              <p:custDataLst>
                <p:tags r:id="rId105"/>
              </p:custDataLst>
            </p:nvPr>
          </p:nvSpPr>
          <p:spPr bwMode="auto">
            <a:xfrm rot="300000">
              <a:off x="10301" y="4234"/>
              <a:ext cx="69" cy="54"/>
            </a:xfrm>
            <a:custGeom>
              <a:avLst/>
              <a:gdLst>
                <a:gd name="T0" fmla="*/ 0 w 23"/>
                <a:gd name="T1" fmla="*/ 13 h 18"/>
                <a:gd name="T2" fmla="*/ 13 w 23"/>
                <a:gd name="T3" fmla="*/ 18 h 18"/>
                <a:gd name="T4" fmla="*/ 23 w 23"/>
                <a:gd name="T5" fmla="*/ 5 h 18"/>
                <a:gd name="T6" fmla="*/ 10 w 23"/>
                <a:gd name="T7" fmla="*/ 0 h 18"/>
                <a:gd name="T8" fmla="*/ 0 w 23"/>
                <a:gd name="T9" fmla="*/ 13 h 18"/>
              </a:gdLst>
              <a:ahLst/>
              <a:cxnLst>
                <a:cxn ang="0">
                  <a:pos x="T0" y="T1"/>
                </a:cxn>
                <a:cxn ang="0">
                  <a:pos x="T2" y="T3"/>
                </a:cxn>
                <a:cxn ang="0">
                  <a:pos x="T4" y="T5"/>
                </a:cxn>
                <a:cxn ang="0">
                  <a:pos x="T6" y="T7"/>
                </a:cxn>
                <a:cxn ang="0">
                  <a:pos x="T8" y="T9"/>
                </a:cxn>
              </a:cxnLst>
              <a:rect l="0" t="0" r="r" b="b"/>
              <a:pathLst>
                <a:path w="23" h="18">
                  <a:moveTo>
                    <a:pt x="0" y="13"/>
                  </a:moveTo>
                  <a:lnTo>
                    <a:pt x="13" y="18"/>
                  </a:lnTo>
                  <a:lnTo>
                    <a:pt x="23" y="5"/>
                  </a:lnTo>
                  <a:lnTo>
                    <a:pt x="10" y="0"/>
                  </a:lnTo>
                  <a:lnTo>
                    <a:pt x="0"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55" name="Freeform 1314"/>
            <p:cNvSpPr/>
            <p:nvPr>
              <p:custDataLst>
                <p:tags r:id="rId106"/>
              </p:custDataLst>
            </p:nvPr>
          </p:nvSpPr>
          <p:spPr bwMode="auto">
            <a:xfrm rot="300000">
              <a:off x="10616" y="4032"/>
              <a:ext cx="78" cy="45"/>
            </a:xfrm>
            <a:custGeom>
              <a:avLst/>
              <a:gdLst>
                <a:gd name="T0" fmla="*/ 26 w 26"/>
                <a:gd name="T1" fmla="*/ 6 h 15"/>
                <a:gd name="T2" fmla="*/ 17 w 26"/>
                <a:gd name="T3" fmla="*/ 0 h 15"/>
                <a:gd name="T4" fmla="*/ 0 w 26"/>
                <a:gd name="T5" fmla="*/ 8 h 15"/>
                <a:gd name="T6" fmla="*/ 9 w 26"/>
                <a:gd name="T7" fmla="*/ 15 h 15"/>
                <a:gd name="T8" fmla="*/ 26 w 26"/>
                <a:gd name="T9" fmla="*/ 6 h 15"/>
              </a:gdLst>
              <a:ahLst/>
              <a:cxnLst>
                <a:cxn ang="0">
                  <a:pos x="T0" y="T1"/>
                </a:cxn>
                <a:cxn ang="0">
                  <a:pos x="T2" y="T3"/>
                </a:cxn>
                <a:cxn ang="0">
                  <a:pos x="T4" y="T5"/>
                </a:cxn>
                <a:cxn ang="0">
                  <a:pos x="T6" y="T7"/>
                </a:cxn>
                <a:cxn ang="0">
                  <a:pos x="T8" y="T9"/>
                </a:cxn>
              </a:cxnLst>
              <a:rect l="0" t="0" r="r" b="b"/>
              <a:pathLst>
                <a:path w="26" h="15">
                  <a:moveTo>
                    <a:pt x="26" y="6"/>
                  </a:moveTo>
                  <a:lnTo>
                    <a:pt x="17" y="0"/>
                  </a:lnTo>
                  <a:lnTo>
                    <a:pt x="0" y="8"/>
                  </a:lnTo>
                  <a:lnTo>
                    <a:pt x="9" y="15"/>
                  </a:lnTo>
                  <a:lnTo>
                    <a:pt x="26"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56" name="Freeform 1315"/>
            <p:cNvSpPr/>
            <p:nvPr>
              <p:custDataLst>
                <p:tags r:id="rId107"/>
              </p:custDataLst>
            </p:nvPr>
          </p:nvSpPr>
          <p:spPr bwMode="auto">
            <a:xfrm rot="300000">
              <a:off x="11053" y="3922"/>
              <a:ext cx="84" cy="33"/>
            </a:xfrm>
            <a:custGeom>
              <a:avLst/>
              <a:gdLst>
                <a:gd name="T0" fmla="*/ 22 w 28"/>
                <a:gd name="T1" fmla="*/ 0 h 11"/>
                <a:gd name="T2" fmla="*/ 22 w 28"/>
                <a:gd name="T3" fmla="*/ 0 h 11"/>
                <a:gd name="T4" fmla="*/ 0 w 28"/>
                <a:gd name="T5" fmla="*/ 4 h 11"/>
                <a:gd name="T6" fmla="*/ 5 w 28"/>
                <a:gd name="T7" fmla="*/ 11 h 11"/>
                <a:gd name="T8" fmla="*/ 5 w 28"/>
                <a:gd name="T9" fmla="*/ 11 h 11"/>
                <a:gd name="T10" fmla="*/ 28 w 28"/>
                <a:gd name="T11" fmla="*/ 6 h 11"/>
                <a:gd name="T12" fmla="*/ 22 w 28"/>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28" h="11">
                  <a:moveTo>
                    <a:pt x="22" y="0"/>
                  </a:moveTo>
                  <a:lnTo>
                    <a:pt x="22" y="0"/>
                  </a:lnTo>
                  <a:lnTo>
                    <a:pt x="0" y="4"/>
                  </a:lnTo>
                  <a:lnTo>
                    <a:pt x="5" y="11"/>
                  </a:lnTo>
                  <a:lnTo>
                    <a:pt x="5" y="11"/>
                  </a:lnTo>
                  <a:lnTo>
                    <a:pt x="28" y="6"/>
                  </a:lnTo>
                  <a:lnTo>
                    <a:pt x="22"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57" name="Freeform 1316"/>
            <p:cNvSpPr/>
            <p:nvPr>
              <p:custDataLst>
                <p:tags r:id="rId108"/>
              </p:custDataLst>
            </p:nvPr>
          </p:nvSpPr>
          <p:spPr bwMode="auto">
            <a:xfrm rot="300000">
              <a:off x="10824" y="3958"/>
              <a:ext cx="84" cy="48"/>
            </a:xfrm>
            <a:custGeom>
              <a:avLst/>
              <a:gdLst>
                <a:gd name="T0" fmla="*/ 19 w 28"/>
                <a:gd name="T1" fmla="*/ 0 h 16"/>
                <a:gd name="T2" fmla="*/ 0 w 28"/>
                <a:gd name="T3" fmla="*/ 9 h 16"/>
                <a:gd name="T4" fmla="*/ 6 w 28"/>
                <a:gd name="T5" fmla="*/ 16 h 16"/>
                <a:gd name="T6" fmla="*/ 28 w 28"/>
                <a:gd name="T7" fmla="*/ 9 h 16"/>
                <a:gd name="T8" fmla="*/ 19 w 28"/>
                <a:gd name="T9" fmla="*/ 0 h 16"/>
              </a:gdLst>
              <a:ahLst/>
              <a:cxnLst>
                <a:cxn ang="0">
                  <a:pos x="T0" y="T1"/>
                </a:cxn>
                <a:cxn ang="0">
                  <a:pos x="T2" y="T3"/>
                </a:cxn>
                <a:cxn ang="0">
                  <a:pos x="T4" y="T5"/>
                </a:cxn>
                <a:cxn ang="0">
                  <a:pos x="T6" y="T7"/>
                </a:cxn>
                <a:cxn ang="0">
                  <a:pos x="T8" y="T9"/>
                </a:cxn>
              </a:cxnLst>
              <a:rect l="0" t="0" r="r" b="b"/>
              <a:pathLst>
                <a:path w="28" h="16">
                  <a:moveTo>
                    <a:pt x="19" y="0"/>
                  </a:moveTo>
                  <a:lnTo>
                    <a:pt x="0" y="9"/>
                  </a:lnTo>
                  <a:lnTo>
                    <a:pt x="6" y="16"/>
                  </a:lnTo>
                  <a:lnTo>
                    <a:pt x="28" y="9"/>
                  </a:lnTo>
                  <a:lnTo>
                    <a:pt x="1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58" name="Freeform 1317"/>
            <p:cNvSpPr/>
            <p:nvPr>
              <p:custDataLst>
                <p:tags r:id="rId109"/>
              </p:custDataLst>
            </p:nvPr>
          </p:nvSpPr>
          <p:spPr bwMode="auto">
            <a:xfrm rot="300000">
              <a:off x="11301" y="3904"/>
              <a:ext cx="78" cy="33"/>
            </a:xfrm>
            <a:custGeom>
              <a:avLst/>
              <a:gdLst>
                <a:gd name="T0" fmla="*/ 3 w 26"/>
                <a:gd name="T1" fmla="*/ 11 h 11"/>
                <a:gd name="T2" fmla="*/ 3 w 26"/>
                <a:gd name="T3" fmla="*/ 11 h 11"/>
                <a:gd name="T4" fmla="*/ 26 w 26"/>
                <a:gd name="T5" fmla="*/ 9 h 11"/>
                <a:gd name="T6" fmla="*/ 24 w 26"/>
                <a:gd name="T7" fmla="*/ 0 h 11"/>
                <a:gd name="T8" fmla="*/ 24 w 26"/>
                <a:gd name="T9" fmla="*/ 0 h 11"/>
                <a:gd name="T10" fmla="*/ 0 w 26"/>
                <a:gd name="T11" fmla="*/ 2 h 11"/>
                <a:gd name="T12" fmla="*/ 3 w 26"/>
                <a:gd name="T13" fmla="*/ 11 h 11"/>
              </a:gdLst>
              <a:ahLst/>
              <a:cxnLst>
                <a:cxn ang="0">
                  <a:pos x="T0" y="T1"/>
                </a:cxn>
                <a:cxn ang="0">
                  <a:pos x="T2" y="T3"/>
                </a:cxn>
                <a:cxn ang="0">
                  <a:pos x="T4" y="T5"/>
                </a:cxn>
                <a:cxn ang="0">
                  <a:pos x="T6" y="T7"/>
                </a:cxn>
                <a:cxn ang="0">
                  <a:pos x="T8" y="T9"/>
                </a:cxn>
                <a:cxn ang="0">
                  <a:pos x="T10" y="T11"/>
                </a:cxn>
                <a:cxn ang="0">
                  <a:pos x="T12" y="T13"/>
                </a:cxn>
              </a:cxnLst>
              <a:rect l="0" t="0" r="r" b="b"/>
              <a:pathLst>
                <a:path w="26" h="11">
                  <a:moveTo>
                    <a:pt x="3" y="11"/>
                  </a:moveTo>
                  <a:lnTo>
                    <a:pt x="3" y="11"/>
                  </a:lnTo>
                  <a:lnTo>
                    <a:pt x="26" y="9"/>
                  </a:lnTo>
                  <a:lnTo>
                    <a:pt x="24" y="0"/>
                  </a:lnTo>
                  <a:lnTo>
                    <a:pt x="24" y="0"/>
                  </a:lnTo>
                  <a:lnTo>
                    <a:pt x="0" y="2"/>
                  </a:lnTo>
                  <a:lnTo>
                    <a:pt x="3" y="1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59" name="Freeform 1318"/>
            <p:cNvSpPr/>
            <p:nvPr>
              <p:custDataLst>
                <p:tags r:id="rId110"/>
              </p:custDataLst>
            </p:nvPr>
          </p:nvSpPr>
          <p:spPr bwMode="auto">
            <a:xfrm rot="300000">
              <a:off x="11810" y="3955"/>
              <a:ext cx="78" cy="33"/>
            </a:xfrm>
            <a:custGeom>
              <a:avLst/>
              <a:gdLst>
                <a:gd name="T0" fmla="*/ 2 w 26"/>
                <a:gd name="T1" fmla="*/ 0 h 11"/>
                <a:gd name="T2" fmla="*/ 0 w 26"/>
                <a:gd name="T3" fmla="*/ 9 h 11"/>
                <a:gd name="T4" fmla="*/ 4 w 26"/>
                <a:gd name="T5" fmla="*/ 9 h 11"/>
                <a:gd name="T6" fmla="*/ 11 w 26"/>
                <a:gd name="T7" fmla="*/ 9 h 11"/>
                <a:gd name="T8" fmla="*/ 22 w 26"/>
                <a:gd name="T9" fmla="*/ 11 h 11"/>
                <a:gd name="T10" fmla="*/ 26 w 26"/>
                <a:gd name="T11" fmla="*/ 2 h 11"/>
                <a:gd name="T12" fmla="*/ 13 w 26"/>
                <a:gd name="T13" fmla="*/ 0 h 11"/>
                <a:gd name="T14" fmla="*/ 6 w 26"/>
                <a:gd name="T15" fmla="*/ 0 h 11"/>
                <a:gd name="T16" fmla="*/ 2 w 26"/>
                <a:gd name="T17"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11">
                  <a:moveTo>
                    <a:pt x="2" y="0"/>
                  </a:moveTo>
                  <a:lnTo>
                    <a:pt x="0" y="9"/>
                  </a:lnTo>
                  <a:lnTo>
                    <a:pt x="4" y="9"/>
                  </a:lnTo>
                  <a:lnTo>
                    <a:pt x="11" y="9"/>
                  </a:lnTo>
                  <a:lnTo>
                    <a:pt x="22" y="11"/>
                  </a:lnTo>
                  <a:lnTo>
                    <a:pt x="26" y="2"/>
                  </a:lnTo>
                  <a:lnTo>
                    <a:pt x="13" y="0"/>
                  </a:lnTo>
                  <a:lnTo>
                    <a:pt x="6" y="0"/>
                  </a:lnTo>
                  <a:lnTo>
                    <a:pt x="2"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60" name="Freeform 1319"/>
            <p:cNvSpPr/>
            <p:nvPr>
              <p:custDataLst>
                <p:tags r:id="rId111"/>
              </p:custDataLst>
            </p:nvPr>
          </p:nvSpPr>
          <p:spPr bwMode="auto">
            <a:xfrm rot="300000">
              <a:off x="11561" y="3921"/>
              <a:ext cx="72" cy="24"/>
            </a:xfrm>
            <a:custGeom>
              <a:avLst/>
              <a:gdLst>
                <a:gd name="T0" fmla="*/ 24 w 24"/>
                <a:gd name="T1" fmla="*/ 8 h 8"/>
                <a:gd name="T2" fmla="*/ 24 w 24"/>
                <a:gd name="T3" fmla="*/ 0 h 8"/>
                <a:gd name="T4" fmla="*/ 24 w 24"/>
                <a:gd name="T5" fmla="*/ 0 h 8"/>
                <a:gd name="T6" fmla="*/ 0 w 24"/>
                <a:gd name="T7" fmla="*/ 0 h 8"/>
                <a:gd name="T8" fmla="*/ 0 w 24"/>
                <a:gd name="T9" fmla="*/ 8 h 8"/>
                <a:gd name="T10" fmla="*/ 0 w 24"/>
                <a:gd name="T11" fmla="*/ 8 h 8"/>
                <a:gd name="T12" fmla="*/ 24 w 24"/>
                <a:gd name="T13" fmla="*/ 8 h 8"/>
                <a:gd name="T14" fmla="*/ 24 w 24"/>
                <a:gd name="T15" fmla="*/ 8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8">
                  <a:moveTo>
                    <a:pt x="24" y="8"/>
                  </a:moveTo>
                  <a:lnTo>
                    <a:pt x="24" y="0"/>
                  </a:lnTo>
                  <a:lnTo>
                    <a:pt x="24" y="0"/>
                  </a:lnTo>
                  <a:lnTo>
                    <a:pt x="0" y="0"/>
                  </a:lnTo>
                  <a:lnTo>
                    <a:pt x="0" y="8"/>
                  </a:lnTo>
                  <a:lnTo>
                    <a:pt x="0" y="8"/>
                  </a:lnTo>
                  <a:lnTo>
                    <a:pt x="24" y="8"/>
                  </a:lnTo>
                  <a:lnTo>
                    <a:pt x="24"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61" name="Freeform 1320"/>
            <p:cNvSpPr/>
            <p:nvPr>
              <p:custDataLst>
                <p:tags r:id="rId112"/>
              </p:custDataLst>
            </p:nvPr>
          </p:nvSpPr>
          <p:spPr bwMode="auto">
            <a:xfrm rot="300000">
              <a:off x="12045" y="4014"/>
              <a:ext cx="78" cy="39"/>
            </a:xfrm>
            <a:custGeom>
              <a:avLst/>
              <a:gdLst>
                <a:gd name="T0" fmla="*/ 21 w 26"/>
                <a:gd name="T1" fmla="*/ 13 h 13"/>
                <a:gd name="T2" fmla="*/ 26 w 26"/>
                <a:gd name="T3" fmla="*/ 7 h 13"/>
                <a:gd name="T4" fmla="*/ 26 w 26"/>
                <a:gd name="T5" fmla="*/ 7 h 13"/>
                <a:gd name="T6" fmla="*/ 4 w 26"/>
                <a:gd name="T7" fmla="*/ 0 h 13"/>
                <a:gd name="T8" fmla="*/ 0 w 26"/>
                <a:gd name="T9" fmla="*/ 9 h 13"/>
                <a:gd name="T10" fmla="*/ 0 w 26"/>
                <a:gd name="T11" fmla="*/ 9 h 13"/>
                <a:gd name="T12" fmla="*/ 21 w 26"/>
                <a:gd name="T13" fmla="*/ 13 h 13"/>
                <a:gd name="T14" fmla="*/ 21 w 26"/>
                <a:gd name="T15" fmla="*/ 13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13">
                  <a:moveTo>
                    <a:pt x="21" y="13"/>
                  </a:moveTo>
                  <a:lnTo>
                    <a:pt x="26" y="7"/>
                  </a:lnTo>
                  <a:lnTo>
                    <a:pt x="26" y="7"/>
                  </a:lnTo>
                  <a:lnTo>
                    <a:pt x="4" y="0"/>
                  </a:lnTo>
                  <a:lnTo>
                    <a:pt x="0" y="9"/>
                  </a:lnTo>
                  <a:lnTo>
                    <a:pt x="0" y="9"/>
                  </a:lnTo>
                  <a:lnTo>
                    <a:pt x="21" y="13"/>
                  </a:lnTo>
                  <a:lnTo>
                    <a:pt x="21"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62" name="Freeform 1321"/>
            <p:cNvSpPr/>
            <p:nvPr>
              <p:custDataLst>
                <p:tags r:id="rId113"/>
              </p:custDataLst>
            </p:nvPr>
          </p:nvSpPr>
          <p:spPr bwMode="auto">
            <a:xfrm rot="300000">
              <a:off x="12448" y="4205"/>
              <a:ext cx="84" cy="51"/>
            </a:xfrm>
            <a:custGeom>
              <a:avLst/>
              <a:gdLst>
                <a:gd name="T0" fmla="*/ 0 w 28"/>
                <a:gd name="T1" fmla="*/ 6 h 17"/>
                <a:gd name="T2" fmla="*/ 0 w 28"/>
                <a:gd name="T3" fmla="*/ 6 h 17"/>
                <a:gd name="T4" fmla="*/ 15 w 28"/>
                <a:gd name="T5" fmla="*/ 15 h 17"/>
                <a:gd name="T6" fmla="*/ 15 w 28"/>
                <a:gd name="T7" fmla="*/ 15 h 17"/>
                <a:gd name="T8" fmla="*/ 17 w 28"/>
                <a:gd name="T9" fmla="*/ 17 h 17"/>
                <a:gd name="T10" fmla="*/ 28 w 28"/>
                <a:gd name="T11" fmla="*/ 11 h 17"/>
                <a:gd name="T12" fmla="*/ 28 w 28"/>
                <a:gd name="T13" fmla="*/ 11 h 17"/>
                <a:gd name="T14" fmla="*/ 26 w 28"/>
                <a:gd name="T15" fmla="*/ 9 h 17"/>
                <a:gd name="T16" fmla="*/ 26 w 28"/>
                <a:gd name="T17" fmla="*/ 9 h 17"/>
                <a:gd name="T18" fmla="*/ 11 w 28"/>
                <a:gd name="T19" fmla="*/ 0 h 17"/>
                <a:gd name="T20" fmla="*/ 0 w 28"/>
                <a:gd name="T21"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17">
                  <a:moveTo>
                    <a:pt x="0" y="6"/>
                  </a:moveTo>
                  <a:lnTo>
                    <a:pt x="0" y="6"/>
                  </a:lnTo>
                  <a:lnTo>
                    <a:pt x="15" y="15"/>
                  </a:lnTo>
                  <a:lnTo>
                    <a:pt x="15" y="15"/>
                  </a:lnTo>
                  <a:lnTo>
                    <a:pt x="17" y="17"/>
                  </a:lnTo>
                  <a:lnTo>
                    <a:pt x="28" y="11"/>
                  </a:lnTo>
                  <a:lnTo>
                    <a:pt x="28" y="11"/>
                  </a:lnTo>
                  <a:lnTo>
                    <a:pt x="26" y="9"/>
                  </a:lnTo>
                  <a:lnTo>
                    <a:pt x="26" y="9"/>
                  </a:lnTo>
                  <a:lnTo>
                    <a:pt x="11"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63" name="Freeform 1322"/>
            <p:cNvSpPr/>
            <p:nvPr>
              <p:custDataLst>
                <p:tags r:id="rId114"/>
              </p:custDataLst>
            </p:nvPr>
          </p:nvSpPr>
          <p:spPr bwMode="auto">
            <a:xfrm rot="300000">
              <a:off x="12262" y="4099"/>
              <a:ext cx="78" cy="45"/>
            </a:xfrm>
            <a:custGeom>
              <a:avLst/>
              <a:gdLst>
                <a:gd name="T0" fmla="*/ 0 w 26"/>
                <a:gd name="T1" fmla="*/ 8 h 15"/>
                <a:gd name="T2" fmla="*/ 0 w 26"/>
                <a:gd name="T3" fmla="*/ 8 h 15"/>
                <a:gd name="T4" fmla="*/ 9 w 26"/>
                <a:gd name="T5" fmla="*/ 11 h 15"/>
                <a:gd name="T6" fmla="*/ 18 w 26"/>
                <a:gd name="T7" fmla="*/ 15 h 15"/>
                <a:gd name="T8" fmla="*/ 26 w 26"/>
                <a:gd name="T9" fmla="*/ 8 h 15"/>
                <a:gd name="T10" fmla="*/ 18 w 26"/>
                <a:gd name="T11" fmla="*/ 4 h 15"/>
                <a:gd name="T12" fmla="*/ 18 w 26"/>
                <a:gd name="T13" fmla="*/ 4 h 15"/>
                <a:gd name="T14" fmla="*/ 7 w 26"/>
                <a:gd name="T15" fmla="*/ 0 h 15"/>
                <a:gd name="T16" fmla="*/ 0 w 26"/>
                <a:gd name="T17"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15">
                  <a:moveTo>
                    <a:pt x="0" y="8"/>
                  </a:moveTo>
                  <a:lnTo>
                    <a:pt x="0" y="8"/>
                  </a:lnTo>
                  <a:lnTo>
                    <a:pt x="9" y="11"/>
                  </a:lnTo>
                  <a:lnTo>
                    <a:pt x="18" y="15"/>
                  </a:lnTo>
                  <a:lnTo>
                    <a:pt x="26" y="8"/>
                  </a:lnTo>
                  <a:lnTo>
                    <a:pt x="18" y="4"/>
                  </a:lnTo>
                  <a:lnTo>
                    <a:pt x="18" y="4"/>
                  </a:lnTo>
                  <a:lnTo>
                    <a:pt x="7" y="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64" name="Freeform 1244"/>
            <p:cNvSpPr/>
            <p:nvPr>
              <p:custDataLst>
                <p:tags r:id="rId115"/>
              </p:custDataLst>
            </p:nvPr>
          </p:nvSpPr>
          <p:spPr bwMode="auto">
            <a:xfrm rot="7500000">
              <a:off x="17543" y="3039"/>
              <a:ext cx="83" cy="45"/>
            </a:xfrm>
            <a:custGeom>
              <a:avLst/>
              <a:gdLst>
                <a:gd name="T0" fmla="*/ 0 w 28"/>
                <a:gd name="T1" fmla="*/ 6 h 15"/>
                <a:gd name="T2" fmla="*/ 17 w 28"/>
                <a:gd name="T3" fmla="*/ 15 h 15"/>
                <a:gd name="T4" fmla="*/ 28 w 28"/>
                <a:gd name="T5" fmla="*/ 8 h 15"/>
                <a:gd name="T6" fmla="*/ 10 w 28"/>
                <a:gd name="T7" fmla="*/ 0 h 15"/>
                <a:gd name="T8" fmla="*/ 0 w 28"/>
                <a:gd name="T9" fmla="*/ 6 h 15"/>
              </a:gdLst>
              <a:ahLst/>
              <a:cxnLst>
                <a:cxn ang="0">
                  <a:pos x="T0" y="T1"/>
                </a:cxn>
                <a:cxn ang="0">
                  <a:pos x="T2" y="T3"/>
                </a:cxn>
                <a:cxn ang="0">
                  <a:pos x="T4" y="T5"/>
                </a:cxn>
                <a:cxn ang="0">
                  <a:pos x="T6" y="T7"/>
                </a:cxn>
                <a:cxn ang="0">
                  <a:pos x="T8" y="T9"/>
                </a:cxn>
              </a:cxnLst>
              <a:rect l="0" t="0" r="r" b="b"/>
              <a:pathLst>
                <a:path w="28" h="15">
                  <a:moveTo>
                    <a:pt x="0" y="6"/>
                  </a:moveTo>
                  <a:lnTo>
                    <a:pt x="17" y="15"/>
                  </a:lnTo>
                  <a:lnTo>
                    <a:pt x="28" y="8"/>
                  </a:lnTo>
                  <a:lnTo>
                    <a:pt x="10"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65" name="Freeform 1245"/>
            <p:cNvSpPr/>
            <p:nvPr>
              <p:custDataLst>
                <p:tags r:id="rId116"/>
              </p:custDataLst>
            </p:nvPr>
          </p:nvSpPr>
          <p:spPr bwMode="auto">
            <a:xfrm rot="7500000">
              <a:off x="17369" y="3121"/>
              <a:ext cx="83" cy="45"/>
            </a:xfrm>
            <a:custGeom>
              <a:avLst/>
              <a:gdLst>
                <a:gd name="T0" fmla="*/ 0 w 28"/>
                <a:gd name="T1" fmla="*/ 4 h 15"/>
                <a:gd name="T2" fmla="*/ 17 w 28"/>
                <a:gd name="T3" fmla="*/ 15 h 15"/>
                <a:gd name="T4" fmla="*/ 28 w 28"/>
                <a:gd name="T5" fmla="*/ 9 h 15"/>
                <a:gd name="T6" fmla="*/ 11 w 28"/>
                <a:gd name="T7" fmla="*/ 0 h 15"/>
                <a:gd name="T8" fmla="*/ 0 w 28"/>
                <a:gd name="T9" fmla="*/ 4 h 15"/>
              </a:gdLst>
              <a:ahLst/>
              <a:cxnLst>
                <a:cxn ang="0">
                  <a:pos x="T0" y="T1"/>
                </a:cxn>
                <a:cxn ang="0">
                  <a:pos x="T2" y="T3"/>
                </a:cxn>
                <a:cxn ang="0">
                  <a:pos x="T4" y="T5"/>
                </a:cxn>
                <a:cxn ang="0">
                  <a:pos x="T6" y="T7"/>
                </a:cxn>
                <a:cxn ang="0">
                  <a:pos x="T8" y="T9"/>
                </a:cxn>
              </a:cxnLst>
              <a:rect l="0" t="0" r="r" b="b"/>
              <a:pathLst>
                <a:path w="28" h="15">
                  <a:moveTo>
                    <a:pt x="0" y="4"/>
                  </a:moveTo>
                  <a:lnTo>
                    <a:pt x="17" y="15"/>
                  </a:lnTo>
                  <a:lnTo>
                    <a:pt x="28" y="9"/>
                  </a:lnTo>
                  <a:lnTo>
                    <a:pt x="11" y="0"/>
                  </a:lnTo>
                  <a:lnTo>
                    <a:pt x="0"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66" name="Freeform 1246"/>
            <p:cNvSpPr/>
            <p:nvPr>
              <p:custDataLst>
                <p:tags r:id="rId117"/>
              </p:custDataLst>
            </p:nvPr>
          </p:nvSpPr>
          <p:spPr bwMode="auto">
            <a:xfrm rot="7500000">
              <a:off x="17199" y="3194"/>
              <a:ext cx="83" cy="54"/>
            </a:xfrm>
            <a:custGeom>
              <a:avLst/>
              <a:gdLst>
                <a:gd name="T0" fmla="*/ 0 w 28"/>
                <a:gd name="T1" fmla="*/ 7 h 18"/>
                <a:gd name="T2" fmla="*/ 17 w 28"/>
                <a:gd name="T3" fmla="*/ 18 h 18"/>
                <a:gd name="T4" fmla="*/ 28 w 28"/>
                <a:gd name="T5" fmla="*/ 11 h 18"/>
                <a:gd name="T6" fmla="*/ 11 w 28"/>
                <a:gd name="T7" fmla="*/ 0 h 18"/>
                <a:gd name="T8" fmla="*/ 0 w 28"/>
                <a:gd name="T9" fmla="*/ 7 h 18"/>
              </a:gdLst>
              <a:ahLst/>
              <a:cxnLst>
                <a:cxn ang="0">
                  <a:pos x="T0" y="T1"/>
                </a:cxn>
                <a:cxn ang="0">
                  <a:pos x="T2" y="T3"/>
                </a:cxn>
                <a:cxn ang="0">
                  <a:pos x="T4" y="T5"/>
                </a:cxn>
                <a:cxn ang="0">
                  <a:pos x="T6" y="T7"/>
                </a:cxn>
                <a:cxn ang="0">
                  <a:pos x="T8" y="T9"/>
                </a:cxn>
              </a:cxnLst>
              <a:rect l="0" t="0" r="r" b="b"/>
              <a:pathLst>
                <a:path w="28" h="18">
                  <a:moveTo>
                    <a:pt x="0" y="7"/>
                  </a:moveTo>
                  <a:lnTo>
                    <a:pt x="17" y="18"/>
                  </a:lnTo>
                  <a:lnTo>
                    <a:pt x="28" y="11"/>
                  </a:lnTo>
                  <a:lnTo>
                    <a:pt x="11" y="0"/>
                  </a:lnTo>
                  <a:lnTo>
                    <a:pt x="0" y="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67" name="Freeform 1247"/>
            <p:cNvSpPr/>
            <p:nvPr>
              <p:custDataLst>
                <p:tags r:id="rId118"/>
              </p:custDataLst>
            </p:nvPr>
          </p:nvSpPr>
          <p:spPr bwMode="auto">
            <a:xfrm rot="7500000">
              <a:off x="17026" y="3281"/>
              <a:ext cx="83" cy="45"/>
            </a:xfrm>
            <a:custGeom>
              <a:avLst/>
              <a:gdLst>
                <a:gd name="T0" fmla="*/ 0 w 28"/>
                <a:gd name="T1" fmla="*/ 6 h 15"/>
                <a:gd name="T2" fmla="*/ 17 w 28"/>
                <a:gd name="T3" fmla="*/ 15 h 15"/>
                <a:gd name="T4" fmla="*/ 28 w 28"/>
                <a:gd name="T5" fmla="*/ 10 h 15"/>
                <a:gd name="T6" fmla="*/ 11 w 28"/>
                <a:gd name="T7" fmla="*/ 0 h 15"/>
                <a:gd name="T8" fmla="*/ 0 w 28"/>
                <a:gd name="T9" fmla="*/ 6 h 15"/>
              </a:gdLst>
              <a:ahLst/>
              <a:cxnLst>
                <a:cxn ang="0">
                  <a:pos x="T0" y="T1"/>
                </a:cxn>
                <a:cxn ang="0">
                  <a:pos x="T2" y="T3"/>
                </a:cxn>
                <a:cxn ang="0">
                  <a:pos x="T4" y="T5"/>
                </a:cxn>
                <a:cxn ang="0">
                  <a:pos x="T6" y="T7"/>
                </a:cxn>
                <a:cxn ang="0">
                  <a:pos x="T8" y="T9"/>
                </a:cxn>
              </a:cxnLst>
              <a:rect l="0" t="0" r="r" b="b"/>
              <a:pathLst>
                <a:path w="28" h="15">
                  <a:moveTo>
                    <a:pt x="0" y="6"/>
                  </a:moveTo>
                  <a:lnTo>
                    <a:pt x="17" y="15"/>
                  </a:lnTo>
                  <a:lnTo>
                    <a:pt x="28" y="10"/>
                  </a:lnTo>
                  <a:lnTo>
                    <a:pt x="11"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68" name="Freeform 1248"/>
            <p:cNvSpPr/>
            <p:nvPr>
              <p:custDataLst>
                <p:tags r:id="rId119"/>
              </p:custDataLst>
            </p:nvPr>
          </p:nvSpPr>
          <p:spPr bwMode="auto">
            <a:xfrm rot="7500000">
              <a:off x="16855" y="3358"/>
              <a:ext cx="83" cy="45"/>
            </a:xfrm>
            <a:custGeom>
              <a:avLst/>
              <a:gdLst>
                <a:gd name="T0" fmla="*/ 0 w 28"/>
                <a:gd name="T1" fmla="*/ 6 h 15"/>
                <a:gd name="T2" fmla="*/ 17 w 28"/>
                <a:gd name="T3" fmla="*/ 15 h 15"/>
                <a:gd name="T4" fmla="*/ 28 w 28"/>
                <a:gd name="T5" fmla="*/ 9 h 15"/>
                <a:gd name="T6" fmla="*/ 11 w 28"/>
                <a:gd name="T7" fmla="*/ 0 h 15"/>
                <a:gd name="T8" fmla="*/ 0 w 28"/>
                <a:gd name="T9" fmla="*/ 6 h 15"/>
              </a:gdLst>
              <a:ahLst/>
              <a:cxnLst>
                <a:cxn ang="0">
                  <a:pos x="T0" y="T1"/>
                </a:cxn>
                <a:cxn ang="0">
                  <a:pos x="T2" y="T3"/>
                </a:cxn>
                <a:cxn ang="0">
                  <a:pos x="T4" y="T5"/>
                </a:cxn>
                <a:cxn ang="0">
                  <a:pos x="T6" y="T7"/>
                </a:cxn>
                <a:cxn ang="0">
                  <a:pos x="T8" y="T9"/>
                </a:cxn>
              </a:cxnLst>
              <a:rect l="0" t="0" r="r" b="b"/>
              <a:pathLst>
                <a:path w="28" h="15">
                  <a:moveTo>
                    <a:pt x="0" y="6"/>
                  </a:moveTo>
                  <a:lnTo>
                    <a:pt x="17" y="15"/>
                  </a:lnTo>
                  <a:lnTo>
                    <a:pt x="28" y="9"/>
                  </a:lnTo>
                  <a:lnTo>
                    <a:pt x="11"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69" name="Freeform 1249"/>
            <p:cNvSpPr/>
            <p:nvPr>
              <p:custDataLst>
                <p:tags r:id="rId120"/>
              </p:custDataLst>
            </p:nvPr>
          </p:nvSpPr>
          <p:spPr bwMode="auto">
            <a:xfrm rot="7500000">
              <a:off x="16679" y="3438"/>
              <a:ext cx="83" cy="48"/>
            </a:xfrm>
            <a:custGeom>
              <a:avLst/>
              <a:gdLst>
                <a:gd name="T0" fmla="*/ 0 w 28"/>
                <a:gd name="T1" fmla="*/ 5 h 16"/>
                <a:gd name="T2" fmla="*/ 17 w 28"/>
                <a:gd name="T3" fmla="*/ 16 h 16"/>
                <a:gd name="T4" fmla="*/ 28 w 28"/>
                <a:gd name="T5" fmla="*/ 9 h 16"/>
                <a:gd name="T6" fmla="*/ 11 w 28"/>
                <a:gd name="T7" fmla="*/ 0 h 16"/>
                <a:gd name="T8" fmla="*/ 0 w 28"/>
                <a:gd name="T9" fmla="*/ 5 h 16"/>
              </a:gdLst>
              <a:ahLst/>
              <a:cxnLst>
                <a:cxn ang="0">
                  <a:pos x="T0" y="T1"/>
                </a:cxn>
                <a:cxn ang="0">
                  <a:pos x="T2" y="T3"/>
                </a:cxn>
                <a:cxn ang="0">
                  <a:pos x="T4" y="T5"/>
                </a:cxn>
                <a:cxn ang="0">
                  <a:pos x="T6" y="T7"/>
                </a:cxn>
                <a:cxn ang="0">
                  <a:pos x="T8" y="T9"/>
                </a:cxn>
              </a:cxnLst>
              <a:rect l="0" t="0" r="r" b="b"/>
              <a:pathLst>
                <a:path w="28" h="16">
                  <a:moveTo>
                    <a:pt x="0" y="5"/>
                  </a:moveTo>
                  <a:lnTo>
                    <a:pt x="17" y="16"/>
                  </a:lnTo>
                  <a:lnTo>
                    <a:pt x="28" y="9"/>
                  </a:lnTo>
                  <a:lnTo>
                    <a:pt x="11" y="0"/>
                  </a:lnTo>
                  <a:lnTo>
                    <a:pt x="0" y="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70" name="Freeform 1250"/>
            <p:cNvSpPr/>
            <p:nvPr>
              <p:custDataLst>
                <p:tags r:id="rId121"/>
              </p:custDataLst>
            </p:nvPr>
          </p:nvSpPr>
          <p:spPr bwMode="auto">
            <a:xfrm rot="7500000">
              <a:off x="16509" y="3514"/>
              <a:ext cx="83" cy="51"/>
            </a:xfrm>
            <a:custGeom>
              <a:avLst/>
              <a:gdLst>
                <a:gd name="T0" fmla="*/ 0 w 28"/>
                <a:gd name="T1" fmla="*/ 6 h 17"/>
                <a:gd name="T2" fmla="*/ 17 w 28"/>
                <a:gd name="T3" fmla="*/ 17 h 17"/>
                <a:gd name="T4" fmla="*/ 28 w 28"/>
                <a:gd name="T5" fmla="*/ 10 h 17"/>
                <a:gd name="T6" fmla="*/ 11 w 28"/>
                <a:gd name="T7" fmla="*/ 0 h 17"/>
                <a:gd name="T8" fmla="*/ 0 w 28"/>
                <a:gd name="T9" fmla="*/ 6 h 17"/>
              </a:gdLst>
              <a:ahLst/>
              <a:cxnLst>
                <a:cxn ang="0">
                  <a:pos x="T0" y="T1"/>
                </a:cxn>
                <a:cxn ang="0">
                  <a:pos x="T2" y="T3"/>
                </a:cxn>
                <a:cxn ang="0">
                  <a:pos x="T4" y="T5"/>
                </a:cxn>
                <a:cxn ang="0">
                  <a:pos x="T6" y="T7"/>
                </a:cxn>
                <a:cxn ang="0">
                  <a:pos x="T8" y="T9"/>
                </a:cxn>
              </a:cxnLst>
              <a:rect l="0" t="0" r="r" b="b"/>
              <a:pathLst>
                <a:path w="28" h="17">
                  <a:moveTo>
                    <a:pt x="0" y="6"/>
                  </a:moveTo>
                  <a:lnTo>
                    <a:pt x="17" y="17"/>
                  </a:lnTo>
                  <a:lnTo>
                    <a:pt x="28" y="10"/>
                  </a:lnTo>
                  <a:lnTo>
                    <a:pt x="11"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71" name="Freeform 1251"/>
            <p:cNvSpPr/>
            <p:nvPr>
              <p:custDataLst>
                <p:tags r:id="rId122"/>
              </p:custDataLst>
            </p:nvPr>
          </p:nvSpPr>
          <p:spPr bwMode="auto">
            <a:xfrm rot="7500000">
              <a:off x="16337" y="3600"/>
              <a:ext cx="83" cy="45"/>
            </a:xfrm>
            <a:custGeom>
              <a:avLst/>
              <a:gdLst>
                <a:gd name="T0" fmla="*/ 0 w 28"/>
                <a:gd name="T1" fmla="*/ 6 h 15"/>
                <a:gd name="T2" fmla="*/ 17 w 28"/>
                <a:gd name="T3" fmla="*/ 15 h 15"/>
                <a:gd name="T4" fmla="*/ 28 w 28"/>
                <a:gd name="T5" fmla="*/ 11 h 15"/>
                <a:gd name="T6" fmla="*/ 11 w 28"/>
                <a:gd name="T7" fmla="*/ 0 h 15"/>
                <a:gd name="T8" fmla="*/ 0 w 28"/>
                <a:gd name="T9" fmla="*/ 6 h 15"/>
              </a:gdLst>
              <a:ahLst/>
              <a:cxnLst>
                <a:cxn ang="0">
                  <a:pos x="T0" y="T1"/>
                </a:cxn>
                <a:cxn ang="0">
                  <a:pos x="T2" y="T3"/>
                </a:cxn>
                <a:cxn ang="0">
                  <a:pos x="T4" y="T5"/>
                </a:cxn>
                <a:cxn ang="0">
                  <a:pos x="T6" y="T7"/>
                </a:cxn>
                <a:cxn ang="0">
                  <a:pos x="T8" y="T9"/>
                </a:cxn>
              </a:cxnLst>
              <a:rect l="0" t="0" r="r" b="b"/>
              <a:pathLst>
                <a:path w="28" h="15">
                  <a:moveTo>
                    <a:pt x="0" y="6"/>
                  </a:moveTo>
                  <a:lnTo>
                    <a:pt x="17" y="15"/>
                  </a:lnTo>
                  <a:lnTo>
                    <a:pt x="28" y="11"/>
                  </a:lnTo>
                  <a:lnTo>
                    <a:pt x="11"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72" name="Freeform 1252"/>
            <p:cNvSpPr/>
            <p:nvPr>
              <p:custDataLst>
                <p:tags r:id="rId123"/>
              </p:custDataLst>
            </p:nvPr>
          </p:nvSpPr>
          <p:spPr bwMode="auto">
            <a:xfrm rot="7500000">
              <a:off x="16166" y="3677"/>
              <a:ext cx="83" cy="45"/>
            </a:xfrm>
            <a:custGeom>
              <a:avLst/>
              <a:gdLst>
                <a:gd name="T0" fmla="*/ 0 w 28"/>
                <a:gd name="T1" fmla="*/ 7 h 15"/>
                <a:gd name="T2" fmla="*/ 17 w 28"/>
                <a:gd name="T3" fmla="*/ 15 h 15"/>
                <a:gd name="T4" fmla="*/ 28 w 28"/>
                <a:gd name="T5" fmla="*/ 9 h 15"/>
                <a:gd name="T6" fmla="*/ 11 w 28"/>
                <a:gd name="T7" fmla="*/ 0 h 15"/>
                <a:gd name="T8" fmla="*/ 0 w 28"/>
                <a:gd name="T9" fmla="*/ 7 h 15"/>
              </a:gdLst>
              <a:ahLst/>
              <a:cxnLst>
                <a:cxn ang="0">
                  <a:pos x="T0" y="T1"/>
                </a:cxn>
                <a:cxn ang="0">
                  <a:pos x="T2" y="T3"/>
                </a:cxn>
                <a:cxn ang="0">
                  <a:pos x="T4" y="T5"/>
                </a:cxn>
                <a:cxn ang="0">
                  <a:pos x="T6" y="T7"/>
                </a:cxn>
                <a:cxn ang="0">
                  <a:pos x="T8" y="T9"/>
                </a:cxn>
              </a:cxnLst>
              <a:rect l="0" t="0" r="r" b="b"/>
              <a:pathLst>
                <a:path w="28" h="15">
                  <a:moveTo>
                    <a:pt x="0" y="7"/>
                  </a:moveTo>
                  <a:lnTo>
                    <a:pt x="17" y="15"/>
                  </a:lnTo>
                  <a:lnTo>
                    <a:pt x="28" y="9"/>
                  </a:lnTo>
                  <a:lnTo>
                    <a:pt x="11" y="0"/>
                  </a:lnTo>
                  <a:lnTo>
                    <a:pt x="0" y="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73" name="Freeform 1253"/>
            <p:cNvSpPr/>
            <p:nvPr>
              <p:custDataLst>
                <p:tags r:id="rId124"/>
              </p:custDataLst>
            </p:nvPr>
          </p:nvSpPr>
          <p:spPr bwMode="auto">
            <a:xfrm rot="7500000">
              <a:off x="15989" y="3757"/>
              <a:ext cx="83" cy="45"/>
            </a:xfrm>
            <a:custGeom>
              <a:avLst/>
              <a:gdLst>
                <a:gd name="T0" fmla="*/ 0 w 28"/>
                <a:gd name="T1" fmla="*/ 4 h 15"/>
                <a:gd name="T2" fmla="*/ 18 w 28"/>
                <a:gd name="T3" fmla="*/ 15 h 15"/>
                <a:gd name="T4" fmla="*/ 28 w 28"/>
                <a:gd name="T5" fmla="*/ 8 h 15"/>
                <a:gd name="T6" fmla="*/ 11 w 28"/>
                <a:gd name="T7" fmla="*/ 0 h 15"/>
                <a:gd name="T8" fmla="*/ 0 w 28"/>
                <a:gd name="T9" fmla="*/ 4 h 15"/>
              </a:gdLst>
              <a:ahLst/>
              <a:cxnLst>
                <a:cxn ang="0">
                  <a:pos x="T0" y="T1"/>
                </a:cxn>
                <a:cxn ang="0">
                  <a:pos x="T2" y="T3"/>
                </a:cxn>
                <a:cxn ang="0">
                  <a:pos x="T4" y="T5"/>
                </a:cxn>
                <a:cxn ang="0">
                  <a:pos x="T6" y="T7"/>
                </a:cxn>
                <a:cxn ang="0">
                  <a:pos x="T8" y="T9"/>
                </a:cxn>
              </a:cxnLst>
              <a:rect l="0" t="0" r="r" b="b"/>
              <a:pathLst>
                <a:path w="28" h="15">
                  <a:moveTo>
                    <a:pt x="0" y="4"/>
                  </a:moveTo>
                  <a:lnTo>
                    <a:pt x="18" y="15"/>
                  </a:lnTo>
                  <a:lnTo>
                    <a:pt x="28" y="8"/>
                  </a:lnTo>
                  <a:lnTo>
                    <a:pt x="11" y="0"/>
                  </a:lnTo>
                  <a:lnTo>
                    <a:pt x="0"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74" name="Freeform 1254"/>
            <p:cNvSpPr/>
            <p:nvPr>
              <p:custDataLst>
                <p:tags r:id="rId125"/>
              </p:custDataLst>
            </p:nvPr>
          </p:nvSpPr>
          <p:spPr bwMode="auto">
            <a:xfrm rot="7500000">
              <a:off x="15820" y="3833"/>
              <a:ext cx="83" cy="51"/>
            </a:xfrm>
            <a:custGeom>
              <a:avLst/>
              <a:gdLst>
                <a:gd name="T0" fmla="*/ 0 w 28"/>
                <a:gd name="T1" fmla="*/ 6 h 17"/>
                <a:gd name="T2" fmla="*/ 17 w 28"/>
                <a:gd name="T3" fmla="*/ 17 h 17"/>
                <a:gd name="T4" fmla="*/ 28 w 28"/>
                <a:gd name="T5" fmla="*/ 11 h 17"/>
                <a:gd name="T6" fmla="*/ 11 w 28"/>
                <a:gd name="T7" fmla="*/ 0 h 17"/>
                <a:gd name="T8" fmla="*/ 0 w 28"/>
                <a:gd name="T9" fmla="*/ 6 h 17"/>
              </a:gdLst>
              <a:ahLst/>
              <a:cxnLst>
                <a:cxn ang="0">
                  <a:pos x="T0" y="T1"/>
                </a:cxn>
                <a:cxn ang="0">
                  <a:pos x="T2" y="T3"/>
                </a:cxn>
                <a:cxn ang="0">
                  <a:pos x="T4" y="T5"/>
                </a:cxn>
                <a:cxn ang="0">
                  <a:pos x="T6" y="T7"/>
                </a:cxn>
                <a:cxn ang="0">
                  <a:pos x="T8" y="T9"/>
                </a:cxn>
              </a:cxnLst>
              <a:rect l="0" t="0" r="r" b="b"/>
              <a:pathLst>
                <a:path w="28" h="17">
                  <a:moveTo>
                    <a:pt x="0" y="6"/>
                  </a:moveTo>
                  <a:lnTo>
                    <a:pt x="17" y="17"/>
                  </a:lnTo>
                  <a:lnTo>
                    <a:pt x="28" y="11"/>
                  </a:lnTo>
                  <a:lnTo>
                    <a:pt x="11"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75" name="Freeform 1255"/>
            <p:cNvSpPr/>
            <p:nvPr>
              <p:custDataLst>
                <p:tags r:id="rId126"/>
              </p:custDataLst>
            </p:nvPr>
          </p:nvSpPr>
          <p:spPr bwMode="auto">
            <a:xfrm rot="7500000">
              <a:off x="15648" y="3919"/>
              <a:ext cx="83" cy="45"/>
            </a:xfrm>
            <a:custGeom>
              <a:avLst/>
              <a:gdLst>
                <a:gd name="T0" fmla="*/ 0 w 28"/>
                <a:gd name="T1" fmla="*/ 7 h 15"/>
                <a:gd name="T2" fmla="*/ 18 w 28"/>
                <a:gd name="T3" fmla="*/ 15 h 15"/>
                <a:gd name="T4" fmla="*/ 28 w 28"/>
                <a:gd name="T5" fmla="*/ 11 h 15"/>
                <a:gd name="T6" fmla="*/ 11 w 28"/>
                <a:gd name="T7" fmla="*/ 0 h 15"/>
                <a:gd name="T8" fmla="*/ 0 w 28"/>
                <a:gd name="T9" fmla="*/ 7 h 15"/>
              </a:gdLst>
              <a:ahLst/>
              <a:cxnLst>
                <a:cxn ang="0">
                  <a:pos x="T0" y="T1"/>
                </a:cxn>
                <a:cxn ang="0">
                  <a:pos x="T2" y="T3"/>
                </a:cxn>
                <a:cxn ang="0">
                  <a:pos x="T4" y="T5"/>
                </a:cxn>
                <a:cxn ang="0">
                  <a:pos x="T6" y="T7"/>
                </a:cxn>
                <a:cxn ang="0">
                  <a:pos x="T8" y="T9"/>
                </a:cxn>
              </a:cxnLst>
              <a:rect l="0" t="0" r="r" b="b"/>
              <a:pathLst>
                <a:path w="28" h="15">
                  <a:moveTo>
                    <a:pt x="0" y="7"/>
                  </a:moveTo>
                  <a:lnTo>
                    <a:pt x="18" y="15"/>
                  </a:lnTo>
                  <a:lnTo>
                    <a:pt x="28" y="11"/>
                  </a:lnTo>
                  <a:lnTo>
                    <a:pt x="11" y="0"/>
                  </a:lnTo>
                  <a:lnTo>
                    <a:pt x="0" y="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76" name="Freeform 1256"/>
            <p:cNvSpPr/>
            <p:nvPr>
              <p:custDataLst>
                <p:tags r:id="rId127"/>
              </p:custDataLst>
            </p:nvPr>
          </p:nvSpPr>
          <p:spPr bwMode="auto">
            <a:xfrm rot="7500000">
              <a:off x="15475" y="3994"/>
              <a:ext cx="83" cy="45"/>
            </a:xfrm>
            <a:custGeom>
              <a:avLst/>
              <a:gdLst>
                <a:gd name="T0" fmla="*/ 0 w 28"/>
                <a:gd name="T1" fmla="*/ 6 h 15"/>
                <a:gd name="T2" fmla="*/ 18 w 28"/>
                <a:gd name="T3" fmla="*/ 15 h 15"/>
                <a:gd name="T4" fmla="*/ 28 w 28"/>
                <a:gd name="T5" fmla="*/ 8 h 15"/>
                <a:gd name="T6" fmla="*/ 11 w 28"/>
                <a:gd name="T7" fmla="*/ 0 h 15"/>
                <a:gd name="T8" fmla="*/ 0 w 28"/>
                <a:gd name="T9" fmla="*/ 6 h 15"/>
              </a:gdLst>
              <a:ahLst/>
              <a:cxnLst>
                <a:cxn ang="0">
                  <a:pos x="T0" y="T1"/>
                </a:cxn>
                <a:cxn ang="0">
                  <a:pos x="T2" y="T3"/>
                </a:cxn>
                <a:cxn ang="0">
                  <a:pos x="T4" y="T5"/>
                </a:cxn>
                <a:cxn ang="0">
                  <a:pos x="T6" y="T7"/>
                </a:cxn>
                <a:cxn ang="0">
                  <a:pos x="T8" y="T9"/>
                </a:cxn>
              </a:cxnLst>
              <a:rect l="0" t="0" r="r" b="b"/>
              <a:pathLst>
                <a:path w="28" h="15">
                  <a:moveTo>
                    <a:pt x="0" y="6"/>
                  </a:moveTo>
                  <a:lnTo>
                    <a:pt x="18" y="15"/>
                  </a:lnTo>
                  <a:lnTo>
                    <a:pt x="28" y="8"/>
                  </a:lnTo>
                  <a:lnTo>
                    <a:pt x="11"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78" name="Freeform 1242"/>
            <p:cNvSpPr/>
            <p:nvPr>
              <p:custDataLst>
                <p:tags r:id="rId128"/>
              </p:custDataLst>
            </p:nvPr>
          </p:nvSpPr>
          <p:spPr bwMode="auto">
            <a:xfrm rot="7500000">
              <a:off x="17915" y="2859"/>
              <a:ext cx="83" cy="51"/>
            </a:xfrm>
            <a:custGeom>
              <a:avLst/>
              <a:gdLst>
                <a:gd name="T0" fmla="*/ 0 w 28"/>
                <a:gd name="T1" fmla="*/ 6 h 17"/>
                <a:gd name="T2" fmla="*/ 17 w 28"/>
                <a:gd name="T3" fmla="*/ 17 h 17"/>
                <a:gd name="T4" fmla="*/ 28 w 28"/>
                <a:gd name="T5" fmla="*/ 11 h 17"/>
                <a:gd name="T6" fmla="*/ 10 w 28"/>
                <a:gd name="T7" fmla="*/ 0 h 17"/>
                <a:gd name="T8" fmla="*/ 0 w 28"/>
                <a:gd name="T9" fmla="*/ 6 h 17"/>
              </a:gdLst>
              <a:ahLst/>
              <a:cxnLst>
                <a:cxn ang="0">
                  <a:pos x="T0" y="T1"/>
                </a:cxn>
                <a:cxn ang="0">
                  <a:pos x="T2" y="T3"/>
                </a:cxn>
                <a:cxn ang="0">
                  <a:pos x="T4" y="T5"/>
                </a:cxn>
                <a:cxn ang="0">
                  <a:pos x="T6" y="T7"/>
                </a:cxn>
                <a:cxn ang="0">
                  <a:pos x="T8" y="T9"/>
                </a:cxn>
              </a:cxnLst>
              <a:rect l="0" t="0" r="r" b="b"/>
              <a:pathLst>
                <a:path w="28" h="17">
                  <a:moveTo>
                    <a:pt x="0" y="6"/>
                  </a:moveTo>
                  <a:lnTo>
                    <a:pt x="17" y="17"/>
                  </a:lnTo>
                  <a:lnTo>
                    <a:pt x="28" y="11"/>
                  </a:lnTo>
                  <a:lnTo>
                    <a:pt x="10"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279" name="Freeform 1243"/>
            <p:cNvSpPr/>
            <p:nvPr>
              <p:custDataLst>
                <p:tags r:id="rId129"/>
              </p:custDataLst>
            </p:nvPr>
          </p:nvSpPr>
          <p:spPr bwMode="auto">
            <a:xfrm rot="7500000">
              <a:off x="17745" y="2944"/>
              <a:ext cx="83" cy="45"/>
            </a:xfrm>
            <a:custGeom>
              <a:avLst/>
              <a:gdLst>
                <a:gd name="T0" fmla="*/ 0 w 28"/>
                <a:gd name="T1" fmla="*/ 7 h 15"/>
                <a:gd name="T2" fmla="*/ 17 w 28"/>
                <a:gd name="T3" fmla="*/ 15 h 15"/>
                <a:gd name="T4" fmla="*/ 28 w 28"/>
                <a:gd name="T5" fmla="*/ 11 h 15"/>
                <a:gd name="T6" fmla="*/ 11 w 28"/>
                <a:gd name="T7" fmla="*/ 0 h 15"/>
                <a:gd name="T8" fmla="*/ 0 w 28"/>
                <a:gd name="T9" fmla="*/ 7 h 15"/>
              </a:gdLst>
              <a:ahLst/>
              <a:cxnLst>
                <a:cxn ang="0">
                  <a:pos x="T0" y="T1"/>
                </a:cxn>
                <a:cxn ang="0">
                  <a:pos x="T2" y="T3"/>
                </a:cxn>
                <a:cxn ang="0">
                  <a:pos x="T4" y="T5"/>
                </a:cxn>
                <a:cxn ang="0">
                  <a:pos x="T6" y="T7"/>
                </a:cxn>
                <a:cxn ang="0">
                  <a:pos x="T8" y="T9"/>
                </a:cxn>
              </a:cxnLst>
              <a:rect l="0" t="0" r="r" b="b"/>
              <a:pathLst>
                <a:path w="28" h="15">
                  <a:moveTo>
                    <a:pt x="0" y="7"/>
                  </a:moveTo>
                  <a:lnTo>
                    <a:pt x="17" y="15"/>
                  </a:lnTo>
                  <a:lnTo>
                    <a:pt x="28" y="11"/>
                  </a:lnTo>
                  <a:lnTo>
                    <a:pt x="11" y="0"/>
                  </a:lnTo>
                  <a:lnTo>
                    <a:pt x="0" y="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00" name="Freeform 1244"/>
            <p:cNvSpPr/>
            <p:nvPr/>
          </p:nvSpPr>
          <p:spPr bwMode="auto">
            <a:xfrm rot="300000">
              <a:off x="4703" y="9322"/>
              <a:ext cx="84" cy="45"/>
            </a:xfrm>
            <a:custGeom>
              <a:avLst/>
              <a:gdLst>
                <a:gd name="T0" fmla="*/ 0 w 28"/>
                <a:gd name="T1" fmla="*/ 6 h 15"/>
                <a:gd name="T2" fmla="*/ 17 w 28"/>
                <a:gd name="T3" fmla="*/ 15 h 15"/>
                <a:gd name="T4" fmla="*/ 28 w 28"/>
                <a:gd name="T5" fmla="*/ 8 h 15"/>
                <a:gd name="T6" fmla="*/ 10 w 28"/>
                <a:gd name="T7" fmla="*/ 0 h 15"/>
                <a:gd name="T8" fmla="*/ 0 w 28"/>
                <a:gd name="T9" fmla="*/ 6 h 15"/>
              </a:gdLst>
              <a:ahLst/>
              <a:cxnLst>
                <a:cxn ang="0">
                  <a:pos x="T0" y="T1"/>
                </a:cxn>
                <a:cxn ang="0">
                  <a:pos x="T2" y="T3"/>
                </a:cxn>
                <a:cxn ang="0">
                  <a:pos x="T4" y="T5"/>
                </a:cxn>
                <a:cxn ang="0">
                  <a:pos x="T6" y="T7"/>
                </a:cxn>
                <a:cxn ang="0">
                  <a:pos x="T8" y="T9"/>
                </a:cxn>
              </a:cxnLst>
              <a:rect l="0" t="0" r="r" b="b"/>
              <a:pathLst>
                <a:path w="28" h="15">
                  <a:moveTo>
                    <a:pt x="0" y="6"/>
                  </a:moveTo>
                  <a:lnTo>
                    <a:pt x="17" y="15"/>
                  </a:lnTo>
                  <a:lnTo>
                    <a:pt x="28" y="8"/>
                  </a:lnTo>
                  <a:lnTo>
                    <a:pt x="10"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01" name="Freeform 1245"/>
            <p:cNvSpPr/>
            <p:nvPr/>
          </p:nvSpPr>
          <p:spPr bwMode="auto">
            <a:xfrm rot="300000">
              <a:off x="4862" y="9432"/>
              <a:ext cx="84" cy="45"/>
            </a:xfrm>
            <a:custGeom>
              <a:avLst/>
              <a:gdLst>
                <a:gd name="T0" fmla="*/ 0 w 28"/>
                <a:gd name="T1" fmla="*/ 4 h 15"/>
                <a:gd name="T2" fmla="*/ 17 w 28"/>
                <a:gd name="T3" fmla="*/ 15 h 15"/>
                <a:gd name="T4" fmla="*/ 28 w 28"/>
                <a:gd name="T5" fmla="*/ 9 h 15"/>
                <a:gd name="T6" fmla="*/ 11 w 28"/>
                <a:gd name="T7" fmla="*/ 0 h 15"/>
                <a:gd name="T8" fmla="*/ 0 w 28"/>
                <a:gd name="T9" fmla="*/ 4 h 15"/>
              </a:gdLst>
              <a:ahLst/>
              <a:cxnLst>
                <a:cxn ang="0">
                  <a:pos x="T0" y="T1"/>
                </a:cxn>
                <a:cxn ang="0">
                  <a:pos x="T2" y="T3"/>
                </a:cxn>
                <a:cxn ang="0">
                  <a:pos x="T4" y="T5"/>
                </a:cxn>
                <a:cxn ang="0">
                  <a:pos x="T6" y="T7"/>
                </a:cxn>
                <a:cxn ang="0">
                  <a:pos x="T8" y="T9"/>
                </a:cxn>
              </a:cxnLst>
              <a:rect l="0" t="0" r="r" b="b"/>
              <a:pathLst>
                <a:path w="28" h="15">
                  <a:moveTo>
                    <a:pt x="0" y="4"/>
                  </a:moveTo>
                  <a:lnTo>
                    <a:pt x="17" y="15"/>
                  </a:lnTo>
                  <a:lnTo>
                    <a:pt x="28" y="9"/>
                  </a:lnTo>
                  <a:lnTo>
                    <a:pt x="11" y="0"/>
                  </a:lnTo>
                  <a:lnTo>
                    <a:pt x="0"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02" name="Freeform 1246"/>
            <p:cNvSpPr/>
            <p:nvPr/>
          </p:nvSpPr>
          <p:spPr bwMode="auto">
            <a:xfrm rot="300000">
              <a:off x="5015" y="9535"/>
              <a:ext cx="84" cy="54"/>
            </a:xfrm>
            <a:custGeom>
              <a:avLst/>
              <a:gdLst>
                <a:gd name="T0" fmla="*/ 0 w 28"/>
                <a:gd name="T1" fmla="*/ 7 h 18"/>
                <a:gd name="T2" fmla="*/ 17 w 28"/>
                <a:gd name="T3" fmla="*/ 18 h 18"/>
                <a:gd name="T4" fmla="*/ 28 w 28"/>
                <a:gd name="T5" fmla="*/ 11 h 18"/>
                <a:gd name="T6" fmla="*/ 11 w 28"/>
                <a:gd name="T7" fmla="*/ 0 h 18"/>
                <a:gd name="T8" fmla="*/ 0 w 28"/>
                <a:gd name="T9" fmla="*/ 7 h 18"/>
              </a:gdLst>
              <a:ahLst/>
              <a:cxnLst>
                <a:cxn ang="0">
                  <a:pos x="T0" y="T1"/>
                </a:cxn>
                <a:cxn ang="0">
                  <a:pos x="T2" y="T3"/>
                </a:cxn>
                <a:cxn ang="0">
                  <a:pos x="T4" y="T5"/>
                </a:cxn>
                <a:cxn ang="0">
                  <a:pos x="T6" y="T7"/>
                </a:cxn>
                <a:cxn ang="0">
                  <a:pos x="T8" y="T9"/>
                </a:cxn>
              </a:cxnLst>
              <a:rect l="0" t="0" r="r" b="b"/>
              <a:pathLst>
                <a:path w="28" h="18">
                  <a:moveTo>
                    <a:pt x="0" y="7"/>
                  </a:moveTo>
                  <a:lnTo>
                    <a:pt x="17" y="18"/>
                  </a:lnTo>
                  <a:lnTo>
                    <a:pt x="28" y="11"/>
                  </a:lnTo>
                  <a:lnTo>
                    <a:pt x="11" y="0"/>
                  </a:lnTo>
                  <a:lnTo>
                    <a:pt x="0" y="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03" name="Freeform 1247"/>
            <p:cNvSpPr/>
            <p:nvPr/>
          </p:nvSpPr>
          <p:spPr bwMode="auto">
            <a:xfrm rot="300000">
              <a:off x="5174" y="9647"/>
              <a:ext cx="84" cy="45"/>
            </a:xfrm>
            <a:custGeom>
              <a:avLst/>
              <a:gdLst>
                <a:gd name="T0" fmla="*/ 0 w 28"/>
                <a:gd name="T1" fmla="*/ 6 h 15"/>
                <a:gd name="T2" fmla="*/ 17 w 28"/>
                <a:gd name="T3" fmla="*/ 15 h 15"/>
                <a:gd name="T4" fmla="*/ 28 w 28"/>
                <a:gd name="T5" fmla="*/ 10 h 15"/>
                <a:gd name="T6" fmla="*/ 11 w 28"/>
                <a:gd name="T7" fmla="*/ 0 h 15"/>
                <a:gd name="T8" fmla="*/ 0 w 28"/>
                <a:gd name="T9" fmla="*/ 6 h 15"/>
              </a:gdLst>
              <a:ahLst/>
              <a:cxnLst>
                <a:cxn ang="0">
                  <a:pos x="T0" y="T1"/>
                </a:cxn>
                <a:cxn ang="0">
                  <a:pos x="T2" y="T3"/>
                </a:cxn>
                <a:cxn ang="0">
                  <a:pos x="T4" y="T5"/>
                </a:cxn>
                <a:cxn ang="0">
                  <a:pos x="T6" y="T7"/>
                </a:cxn>
                <a:cxn ang="0">
                  <a:pos x="T8" y="T9"/>
                </a:cxn>
              </a:cxnLst>
              <a:rect l="0" t="0" r="r" b="b"/>
              <a:pathLst>
                <a:path w="28" h="15">
                  <a:moveTo>
                    <a:pt x="0" y="6"/>
                  </a:moveTo>
                  <a:lnTo>
                    <a:pt x="17" y="15"/>
                  </a:lnTo>
                  <a:lnTo>
                    <a:pt x="28" y="10"/>
                  </a:lnTo>
                  <a:lnTo>
                    <a:pt x="11"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04" name="Freeform 1248"/>
            <p:cNvSpPr/>
            <p:nvPr/>
          </p:nvSpPr>
          <p:spPr bwMode="auto">
            <a:xfrm rot="300000">
              <a:off x="5326" y="9756"/>
              <a:ext cx="84" cy="45"/>
            </a:xfrm>
            <a:custGeom>
              <a:avLst/>
              <a:gdLst>
                <a:gd name="T0" fmla="*/ 0 w 28"/>
                <a:gd name="T1" fmla="*/ 6 h 15"/>
                <a:gd name="T2" fmla="*/ 17 w 28"/>
                <a:gd name="T3" fmla="*/ 15 h 15"/>
                <a:gd name="T4" fmla="*/ 28 w 28"/>
                <a:gd name="T5" fmla="*/ 9 h 15"/>
                <a:gd name="T6" fmla="*/ 11 w 28"/>
                <a:gd name="T7" fmla="*/ 0 h 15"/>
                <a:gd name="T8" fmla="*/ 0 w 28"/>
                <a:gd name="T9" fmla="*/ 6 h 15"/>
              </a:gdLst>
              <a:ahLst/>
              <a:cxnLst>
                <a:cxn ang="0">
                  <a:pos x="T0" y="T1"/>
                </a:cxn>
                <a:cxn ang="0">
                  <a:pos x="T2" y="T3"/>
                </a:cxn>
                <a:cxn ang="0">
                  <a:pos x="T4" y="T5"/>
                </a:cxn>
                <a:cxn ang="0">
                  <a:pos x="T6" y="T7"/>
                </a:cxn>
                <a:cxn ang="0">
                  <a:pos x="T8" y="T9"/>
                </a:cxn>
              </a:cxnLst>
              <a:rect l="0" t="0" r="r" b="b"/>
              <a:pathLst>
                <a:path w="28" h="15">
                  <a:moveTo>
                    <a:pt x="0" y="6"/>
                  </a:moveTo>
                  <a:lnTo>
                    <a:pt x="17" y="15"/>
                  </a:lnTo>
                  <a:lnTo>
                    <a:pt x="28" y="9"/>
                  </a:lnTo>
                  <a:lnTo>
                    <a:pt x="11"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05" name="Freeform 1249"/>
            <p:cNvSpPr/>
            <p:nvPr/>
          </p:nvSpPr>
          <p:spPr bwMode="auto">
            <a:xfrm rot="300000">
              <a:off x="5485" y="9865"/>
              <a:ext cx="84" cy="48"/>
            </a:xfrm>
            <a:custGeom>
              <a:avLst/>
              <a:gdLst>
                <a:gd name="T0" fmla="*/ 0 w 28"/>
                <a:gd name="T1" fmla="*/ 5 h 16"/>
                <a:gd name="T2" fmla="*/ 17 w 28"/>
                <a:gd name="T3" fmla="*/ 16 h 16"/>
                <a:gd name="T4" fmla="*/ 28 w 28"/>
                <a:gd name="T5" fmla="*/ 9 h 16"/>
                <a:gd name="T6" fmla="*/ 11 w 28"/>
                <a:gd name="T7" fmla="*/ 0 h 16"/>
                <a:gd name="T8" fmla="*/ 0 w 28"/>
                <a:gd name="T9" fmla="*/ 5 h 16"/>
              </a:gdLst>
              <a:ahLst/>
              <a:cxnLst>
                <a:cxn ang="0">
                  <a:pos x="T0" y="T1"/>
                </a:cxn>
                <a:cxn ang="0">
                  <a:pos x="T2" y="T3"/>
                </a:cxn>
                <a:cxn ang="0">
                  <a:pos x="T4" y="T5"/>
                </a:cxn>
                <a:cxn ang="0">
                  <a:pos x="T6" y="T7"/>
                </a:cxn>
                <a:cxn ang="0">
                  <a:pos x="T8" y="T9"/>
                </a:cxn>
              </a:cxnLst>
              <a:rect l="0" t="0" r="r" b="b"/>
              <a:pathLst>
                <a:path w="28" h="16">
                  <a:moveTo>
                    <a:pt x="0" y="5"/>
                  </a:moveTo>
                  <a:lnTo>
                    <a:pt x="17" y="16"/>
                  </a:lnTo>
                  <a:lnTo>
                    <a:pt x="28" y="9"/>
                  </a:lnTo>
                  <a:lnTo>
                    <a:pt x="11" y="0"/>
                  </a:lnTo>
                  <a:lnTo>
                    <a:pt x="0" y="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06" name="Freeform 1250"/>
            <p:cNvSpPr/>
            <p:nvPr/>
          </p:nvSpPr>
          <p:spPr bwMode="auto">
            <a:xfrm rot="300000">
              <a:off x="5638" y="9971"/>
              <a:ext cx="84" cy="51"/>
            </a:xfrm>
            <a:custGeom>
              <a:avLst/>
              <a:gdLst>
                <a:gd name="T0" fmla="*/ 0 w 28"/>
                <a:gd name="T1" fmla="*/ 6 h 17"/>
                <a:gd name="T2" fmla="*/ 17 w 28"/>
                <a:gd name="T3" fmla="*/ 17 h 17"/>
                <a:gd name="T4" fmla="*/ 28 w 28"/>
                <a:gd name="T5" fmla="*/ 10 h 17"/>
                <a:gd name="T6" fmla="*/ 11 w 28"/>
                <a:gd name="T7" fmla="*/ 0 h 17"/>
                <a:gd name="T8" fmla="*/ 0 w 28"/>
                <a:gd name="T9" fmla="*/ 6 h 17"/>
              </a:gdLst>
              <a:ahLst/>
              <a:cxnLst>
                <a:cxn ang="0">
                  <a:pos x="T0" y="T1"/>
                </a:cxn>
                <a:cxn ang="0">
                  <a:pos x="T2" y="T3"/>
                </a:cxn>
                <a:cxn ang="0">
                  <a:pos x="T4" y="T5"/>
                </a:cxn>
                <a:cxn ang="0">
                  <a:pos x="T6" y="T7"/>
                </a:cxn>
                <a:cxn ang="0">
                  <a:pos x="T8" y="T9"/>
                </a:cxn>
              </a:cxnLst>
              <a:rect l="0" t="0" r="r" b="b"/>
              <a:pathLst>
                <a:path w="28" h="17">
                  <a:moveTo>
                    <a:pt x="0" y="6"/>
                  </a:moveTo>
                  <a:lnTo>
                    <a:pt x="17" y="17"/>
                  </a:lnTo>
                  <a:lnTo>
                    <a:pt x="28" y="10"/>
                  </a:lnTo>
                  <a:lnTo>
                    <a:pt x="11"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07" name="Freeform 1251"/>
            <p:cNvSpPr/>
            <p:nvPr/>
          </p:nvSpPr>
          <p:spPr bwMode="auto">
            <a:xfrm rot="300000">
              <a:off x="5797" y="10080"/>
              <a:ext cx="84" cy="45"/>
            </a:xfrm>
            <a:custGeom>
              <a:avLst/>
              <a:gdLst>
                <a:gd name="T0" fmla="*/ 0 w 28"/>
                <a:gd name="T1" fmla="*/ 6 h 15"/>
                <a:gd name="T2" fmla="*/ 17 w 28"/>
                <a:gd name="T3" fmla="*/ 15 h 15"/>
                <a:gd name="T4" fmla="*/ 28 w 28"/>
                <a:gd name="T5" fmla="*/ 11 h 15"/>
                <a:gd name="T6" fmla="*/ 11 w 28"/>
                <a:gd name="T7" fmla="*/ 0 h 15"/>
                <a:gd name="T8" fmla="*/ 0 w 28"/>
                <a:gd name="T9" fmla="*/ 6 h 15"/>
              </a:gdLst>
              <a:ahLst/>
              <a:cxnLst>
                <a:cxn ang="0">
                  <a:pos x="T0" y="T1"/>
                </a:cxn>
                <a:cxn ang="0">
                  <a:pos x="T2" y="T3"/>
                </a:cxn>
                <a:cxn ang="0">
                  <a:pos x="T4" y="T5"/>
                </a:cxn>
                <a:cxn ang="0">
                  <a:pos x="T6" y="T7"/>
                </a:cxn>
                <a:cxn ang="0">
                  <a:pos x="T8" y="T9"/>
                </a:cxn>
              </a:cxnLst>
              <a:rect l="0" t="0" r="r" b="b"/>
              <a:pathLst>
                <a:path w="28" h="15">
                  <a:moveTo>
                    <a:pt x="0" y="6"/>
                  </a:moveTo>
                  <a:lnTo>
                    <a:pt x="17" y="15"/>
                  </a:lnTo>
                  <a:lnTo>
                    <a:pt x="28" y="11"/>
                  </a:lnTo>
                  <a:lnTo>
                    <a:pt x="11"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08" name="Freeform 1252"/>
            <p:cNvSpPr/>
            <p:nvPr/>
          </p:nvSpPr>
          <p:spPr bwMode="auto">
            <a:xfrm rot="300000">
              <a:off x="5949" y="10189"/>
              <a:ext cx="84" cy="45"/>
            </a:xfrm>
            <a:custGeom>
              <a:avLst/>
              <a:gdLst>
                <a:gd name="T0" fmla="*/ 0 w 28"/>
                <a:gd name="T1" fmla="*/ 7 h 15"/>
                <a:gd name="T2" fmla="*/ 17 w 28"/>
                <a:gd name="T3" fmla="*/ 15 h 15"/>
                <a:gd name="T4" fmla="*/ 28 w 28"/>
                <a:gd name="T5" fmla="*/ 9 h 15"/>
                <a:gd name="T6" fmla="*/ 11 w 28"/>
                <a:gd name="T7" fmla="*/ 0 h 15"/>
                <a:gd name="T8" fmla="*/ 0 w 28"/>
                <a:gd name="T9" fmla="*/ 7 h 15"/>
              </a:gdLst>
              <a:ahLst/>
              <a:cxnLst>
                <a:cxn ang="0">
                  <a:pos x="T0" y="T1"/>
                </a:cxn>
                <a:cxn ang="0">
                  <a:pos x="T2" y="T3"/>
                </a:cxn>
                <a:cxn ang="0">
                  <a:pos x="T4" y="T5"/>
                </a:cxn>
                <a:cxn ang="0">
                  <a:pos x="T6" y="T7"/>
                </a:cxn>
                <a:cxn ang="0">
                  <a:pos x="T8" y="T9"/>
                </a:cxn>
              </a:cxnLst>
              <a:rect l="0" t="0" r="r" b="b"/>
              <a:pathLst>
                <a:path w="28" h="15">
                  <a:moveTo>
                    <a:pt x="0" y="7"/>
                  </a:moveTo>
                  <a:lnTo>
                    <a:pt x="17" y="15"/>
                  </a:lnTo>
                  <a:lnTo>
                    <a:pt x="28" y="9"/>
                  </a:lnTo>
                  <a:lnTo>
                    <a:pt x="11" y="0"/>
                  </a:lnTo>
                  <a:lnTo>
                    <a:pt x="0" y="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09" name="Freeform 1253"/>
            <p:cNvSpPr/>
            <p:nvPr/>
          </p:nvSpPr>
          <p:spPr bwMode="auto">
            <a:xfrm rot="300000">
              <a:off x="6108" y="10302"/>
              <a:ext cx="84" cy="45"/>
            </a:xfrm>
            <a:custGeom>
              <a:avLst/>
              <a:gdLst>
                <a:gd name="T0" fmla="*/ 0 w 28"/>
                <a:gd name="T1" fmla="*/ 4 h 15"/>
                <a:gd name="T2" fmla="*/ 18 w 28"/>
                <a:gd name="T3" fmla="*/ 15 h 15"/>
                <a:gd name="T4" fmla="*/ 28 w 28"/>
                <a:gd name="T5" fmla="*/ 8 h 15"/>
                <a:gd name="T6" fmla="*/ 11 w 28"/>
                <a:gd name="T7" fmla="*/ 0 h 15"/>
                <a:gd name="T8" fmla="*/ 0 w 28"/>
                <a:gd name="T9" fmla="*/ 4 h 15"/>
              </a:gdLst>
              <a:ahLst/>
              <a:cxnLst>
                <a:cxn ang="0">
                  <a:pos x="T0" y="T1"/>
                </a:cxn>
                <a:cxn ang="0">
                  <a:pos x="T2" y="T3"/>
                </a:cxn>
                <a:cxn ang="0">
                  <a:pos x="T4" y="T5"/>
                </a:cxn>
                <a:cxn ang="0">
                  <a:pos x="T6" y="T7"/>
                </a:cxn>
                <a:cxn ang="0">
                  <a:pos x="T8" y="T9"/>
                </a:cxn>
              </a:cxnLst>
              <a:rect l="0" t="0" r="r" b="b"/>
              <a:pathLst>
                <a:path w="28" h="15">
                  <a:moveTo>
                    <a:pt x="0" y="4"/>
                  </a:moveTo>
                  <a:lnTo>
                    <a:pt x="18" y="15"/>
                  </a:lnTo>
                  <a:lnTo>
                    <a:pt x="28" y="8"/>
                  </a:lnTo>
                  <a:lnTo>
                    <a:pt x="11" y="0"/>
                  </a:lnTo>
                  <a:lnTo>
                    <a:pt x="0"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10" name="Freeform 1254"/>
            <p:cNvSpPr/>
            <p:nvPr/>
          </p:nvSpPr>
          <p:spPr bwMode="auto">
            <a:xfrm rot="300000">
              <a:off x="6261" y="10405"/>
              <a:ext cx="84" cy="51"/>
            </a:xfrm>
            <a:custGeom>
              <a:avLst/>
              <a:gdLst>
                <a:gd name="T0" fmla="*/ 0 w 28"/>
                <a:gd name="T1" fmla="*/ 6 h 17"/>
                <a:gd name="T2" fmla="*/ 17 w 28"/>
                <a:gd name="T3" fmla="*/ 17 h 17"/>
                <a:gd name="T4" fmla="*/ 28 w 28"/>
                <a:gd name="T5" fmla="*/ 11 h 17"/>
                <a:gd name="T6" fmla="*/ 11 w 28"/>
                <a:gd name="T7" fmla="*/ 0 h 17"/>
                <a:gd name="T8" fmla="*/ 0 w 28"/>
                <a:gd name="T9" fmla="*/ 6 h 17"/>
              </a:gdLst>
              <a:ahLst/>
              <a:cxnLst>
                <a:cxn ang="0">
                  <a:pos x="T0" y="T1"/>
                </a:cxn>
                <a:cxn ang="0">
                  <a:pos x="T2" y="T3"/>
                </a:cxn>
                <a:cxn ang="0">
                  <a:pos x="T4" y="T5"/>
                </a:cxn>
                <a:cxn ang="0">
                  <a:pos x="T6" y="T7"/>
                </a:cxn>
                <a:cxn ang="0">
                  <a:pos x="T8" y="T9"/>
                </a:cxn>
              </a:cxnLst>
              <a:rect l="0" t="0" r="r" b="b"/>
              <a:pathLst>
                <a:path w="28" h="17">
                  <a:moveTo>
                    <a:pt x="0" y="6"/>
                  </a:moveTo>
                  <a:lnTo>
                    <a:pt x="17" y="17"/>
                  </a:lnTo>
                  <a:lnTo>
                    <a:pt x="28" y="11"/>
                  </a:lnTo>
                  <a:lnTo>
                    <a:pt x="11"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11" name="Freeform 1255"/>
            <p:cNvSpPr/>
            <p:nvPr/>
          </p:nvSpPr>
          <p:spPr bwMode="auto">
            <a:xfrm rot="300000">
              <a:off x="6420" y="10514"/>
              <a:ext cx="84" cy="45"/>
            </a:xfrm>
            <a:custGeom>
              <a:avLst/>
              <a:gdLst>
                <a:gd name="T0" fmla="*/ 0 w 28"/>
                <a:gd name="T1" fmla="*/ 7 h 15"/>
                <a:gd name="T2" fmla="*/ 18 w 28"/>
                <a:gd name="T3" fmla="*/ 15 h 15"/>
                <a:gd name="T4" fmla="*/ 28 w 28"/>
                <a:gd name="T5" fmla="*/ 11 h 15"/>
                <a:gd name="T6" fmla="*/ 11 w 28"/>
                <a:gd name="T7" fmla="*/ 0 h 15"/>
                <a:gd name="T8" fmla="*/ 0 w 28"/>
                <a:gd name="T9" fmla="*/ 7 h 15"/>
              </a:gdLst>
              <a:ahLst/>
              <a:cxnLst>
                <a:cxn ang="0">
                  <a:pos x="T0" y="T1"/>
                </a:cxn>
                <a:cxn ang="0">
                  <a:pos x="T2" y="T3"/>
                </a:cxn>
                <a:cxn ang="0">
                  <a:pos x="T4" y="T5"/>
                </a:cxn>
                <a:cxn ang="0">
                  <a:pos x="T6" y="T7"/>
                </a:cxn>
                <a:cxn ang="0">
                  <a:pos x="T8" y="T9"/>
                </a:cxn>
              </a:cxnLst>
              <a:rect l="0" t="0" r="r" b="b"/>
              <a:pathLst>
                <a:path w="28" h="15">
                  <a:moveTo>
                    <a:pt x="0" y="7"/>
                  </a:moveTo>
                  <a:lnTo>
                    <a:pt x="18" y="15"/>
                  </a:lnTo>
                  <a:lnTo>
                    <a:pt x="28" y="11"/>
                  </a:lnTo>
                  <a:lnTo>
                    <a:pt x="11" y="0"/>
                  </a:lnTo>
                  <a:lnTo>
                    <a:pt x="0" y="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12" name="Freeform 1256"/>
            <p:cNvSpPr/>
            <p:nvPr/>
          </p:nvSpPr>
          <p:spPr bwMode="auto">
            <a:xfrm rot="300000">
              <a:off x="6572" y="10626"/>
              <a:ext cx="84" cy="45"/>
            </a:xfrm>
            <a:custGeom>
              <a:avLst/>
              <a:gdLst>
                <a:gd name="T0" fmla="*/ 0 w 28"/>
                <a:gd name="T1" fmla="*/ 6 h 15"/>
                <a:gd name="T2" fmla="*/ 18 w 28"/>
                <a:gd name="T3" fmla="*/ 15 h 15"/>
                <a:gd name="T4" fmla="*/ 28 w 28"/>
                <a:gd name="T5" fmla="*/ 8 h 15"/>
                <a:gd name="T6" fmla="*/ 11 w 28"/>
                <a:gd name="T7" fmla="*/ 0 h 15"/>
                <a:gd name="T8" fmla="*/ 0 w 28"/>
                <a:gd name="T9" fmla="*/ 6 h 15"/>
              </a:gdLst>
              <a:ahLst/>
              <a:cxnLst>
                <a:cxn ang="0">
                  <a:pos x="T0" y="T1"/>
                </a:cxn>
                <a:cxn ang="0">
                  <a:pos x="T2" y="T3"/>
                </a:cxn>
                <a:cxn ang="0">
                  <a:pos x="T4" y="T5"/>
                </a:cxn>
                <a:cxn ang="0">
                  <a:pos x="T6" y="T7"/>
                </a:cxn>
                <a:cxn ang="0">
                  <a:pos x="T8" y="T9"/>
                </a:cxn>
              </a:cxnLst>
              <a:rect l="0" t="0" r="r" b="b"/>
              <a:pathLst>
                <a:path w="28" h="15">
                  <a:moveTo>
                    <a:pt x="0" y="6"/>
                  </a:moveTo>
                  <a:lnTo>
                    <a:pt x="18" y="15"/>
                  </a:lnTo>
                  <a:lnTo>
                    <a:pt x="28" y="8"/>
                  </a:lnTo>
                  <a:lnTo>
                    <a:pt x="11"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13" name="Freeform 1257"/>
            <p:cNvSpPr/>
            <p:nvPr/>
          </p:nvSpPr>
          <p:spPr bwMode="auto">
            <a:xfrm rot="300000">
              <a:off x="6731" y="10735"/>
              <a:ext cx="87" cy="45"/>
            </a:xfrm>
            <a:custGeom>
              <a:avLst/>
              <a:gdLst>
                <a:gd name="T0" fmla="*/ 0 w 29"/>
                <a:gd name="T1" fmla="*/ 4 h 15"/>
                <a:gd name="T2" fmla="*/ 18 w 29"/>
                <a:gd name="T3" fmla="*/ 15 h 15"/>
                <a:gd name="T4" fmla="*/ 29 w 29"/>
                <a:gd name="T5" fmla="*/ 9 h 15"/>
                <a:gd name="T6" fmla="*/ 11 w 29"/>
                <a:gd name="T7" fmla="*/ 0 h 15"/>
                <a:gd name="T8" fmla="*/ 0 w 29"/>
                <a:gd name="T9" fmla="*/ 4 h 15"/>
              </a:gdLst>
              <a:ahLst/>
              <a:cxnLst>
                <a:cxn ang="0">
                  <a:pos x="T0" y="T1"/>
                </a:cxn>
                <a:cxn ang="0">
                  <a:pos x="T2" y="T3"/>
                </a:cxn>
                <a:cxn ang="0">
                  <a:pos x="T4" y="T5"/>
                </a:cxn>
                <a:cxn ang="0">
                  <a:pos x="T6" y="T7"/>
                </a:cxn>
                <a:cxn ang="0">
                  <a:pos x="T8" y="T9"/>
                </a:cxn>
              </a:cxnLst>
              <a:rect l="0" t="0" r="r" b="b"/>
              <a:pathLst>
                <a:path w="29" h="15">
                  <a:moveTo>
                    <a:pt x="0" y="4"/>
                  </a:moveTo>
                  <a:lnTo>
                    <a:pt x="18" y="15"/>
                  </a:lnTo>
                  <a:lnTo>
                    <a:pt x="29" y="9"/>
                  </a:lnTo>
                  <a:lnTo>
                    <a:pt x="11" y="0"/>
                  </a:lnTo>
                  <a:lnTo>
                    <a:pt x="0"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14" name="Freeform 1258"/>
            <p:cNvSpPr/>
            <p:nvPr/>
          </p:nvSpPr>
          <p:spPr bwMode="auto">
            <a:xfrm rot="300000">
              <a:off x="6883" y="10838"/>
              <a:ext cx="84" cy="54"/>
            </a:xfrm>
            <a:custGeom>
              <a:avLst/>
              <a:gdLst>
                <a:gd name="T0" fmla="*/ 0 w 28"/>
                <a:gd name="T1" fmla="*/ 7 h 18"/>
                <a:gd name="T2" fmla="*/ 18 w 28"/>
                <a:gd name="T3" fmla="*/ 18 h 18"/>
                <a:gd name="T4" fmla="*/ 28 w 28"/>
                <a:gd name="T5" fmla="*/ 11 h 18"/>
                <a:gd name="T6" fmla="*/ 11 w 28"/>
                <a:gd name="T7" fmla="*/ 0 h 18"/>
                <a:gd name="T8" fmla="*/ 0 w 28"/>
                <a:gd name="T9" fmla="*/ 7 h 18"/>
              </a:gdLst>
              <a:ahLst/>
              <a:cxnLst>
                <a:cxn ang="0">
                  <a:pos x="T0" y="T1"/>
                </a:cxn>
                <a:cxn ang="0">
                  <a:pos x="T2" y="T3"/>
                </a:cxn>
                <a:cxn ang="0">
                  <a:pos x="T4" y="T5"/>
                </a:cxn>
                <a:cxn ang="0">
                  <a:pos x="T6" y="T7"/>
                </a:cxn>
                <a:cxn ang="0">
                  <a:pos x="T8" y="T9"/>
                </a:cxn>
              </a:cxnLst>
              <a:rect l="0" t="0" r="r" b="b"/>
              <a:pathLst>
                <a:path w="28" h="18">
                  <a:moveTo>
                    <a:pt x="0" y="7"/>
                  </a:moveTo>
                  <a:lnTo>
                    <a:pt x="18" y="18"/>
                  </a:lnTo>
                  <a:lnTo>
                    <a:pt x="28" y="11"/>
                  </a:lnTo>
                  <a:lnTo>
                    <a:pt x="11" y="0"/>
                  </a:lnTo>
                  <a:lnTo>
                    <a:pt x="0" y="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15" name="Freeform 1259"/>
            <p:cNvSpPr/>
            <p:nvPr/>
          </p:nvSpPr>
          <p:spPr bwMode="auto">
            <a:xfrm rot="300000">
              <a:off x="7045" y="10951"/>
              <a:ext cx="84" cy="45"/>
            </a:xfrm>
            <a:custGeom>
              <a:avLst/>
              <a:gdLst>
                <a:gd name="T0" fmla="*/ 0 w 28"/>
                <a:gd name="T1" fmla="*/ 6 h 15"/>
                <a:gd name="T2" fmla="*/ 17 w 28"/>
                <a:gd name="T3" fmla="*/ 15 h 15"/>
                <a:gd name="T4" fmla="*/ 28 w 28"/>
                <a:gd name="T5" fmla="*/ 11 h 15"/>
                <a:gd name="T6" fmla="*/ 10 w 28"/>
                <a:gd name="T7" fmla="*/ 0 h 15"/>
                <a:gd name="T8" fmla="*/ 0 w 28"/>
                <a:gd name="T9" fmla="*/ 6 h 15"/>
              </a:gdLst>
              <a:ahLst/>
              <a:cxnLst>
                <a:cxn ang="0">
                  <a:pos x="T0" y="T1"/>
                </a:cxn>
                <a:cxn ang="0">
                  <a:pos x="T2" y="T3"/>
                </a:cxn>
                <a:cxn ang="0">
                  <a:pos x="T4" y="T5"/>
                </a:cxn>
                <a:cxn ang="0">
                  <a:pos x="T6" y="T7"/>
                </a:cxn>
                <a:cxn ang="0">
                  <a:pos x="T8" y="T9"/>
                </a:cxn>
              </a:cxnLst>
              <a:rect l="0" t="0" r="r" b="b"/>
              <a:pathLst>
                <a:path w="28" h="15">
                  <a:moveTo>
                    <a:pt x="0" y="6"/>
                  </a:moveTo>
                  <a:lnTo>
                    <a:pt x="17" y="15"/>
                  </a:lnTo>
                  <a:lnTo>
                    <a:pt x="28" y="11"/>
                  </a:lnTo>
                  <a:lnTo>
                    <a:pt x="10"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16" name="Freeform 1260"/>
            <p:cNvSpPr/>
            <p:nvPr/>
          </p:nvSpPr>
          <p:spPr bwMode="auto">
            <a:xfrm rot="300000">
              <a:off x="7198" y="11059"/>
              <a:ext cx="84" cy="45"/>
            </a:xfrm>
            <a:custGeom>
              <a:avLst/>
              <a:gdLst>
                <a:gd name="T0" fmla="*/ 0 w 28"/>
                <a:gd name="T1" fmla="*/ 7 h 15"/>
                <a:gd name="T2" fmla="*/ 17 w 28"/>
                <a:gd name="T3" fmla="*/ 15 h 15"/>
                <a:gd name="T4" fmla="*/ 28 w 28"/>
                <a:gd name="T5" fmla="*/ 9 h 15"/>
                <a:gd name="T6" fmla="*/ 10 w 28"/>
                <a:gd name="T7" fmla="*/ 0 h 15"/>
                <a:gd name="T8" fmla="*/ 0 w 28"/>
                <a:gd name="T9" fmla="*/ 7 h 15"/>
              </a:gdLst>
              <a:ahLst/>
              <a:cxnLst>
                <a:cxn ang="0">
                  <a:pos x="T0" y="T1"/>
                </a:cxn>
                <a:cxn ang="0">
                  <a:pos x="T2" y="T3"/>
                </a:cxn>
                <a:cxn ang="0">
                  <a:pos x="T4" y="T5"/>
                </a:cxn>
                <a:cxn ang="0">
                  <a:pos x="T6" y="T7"/>
                </a:cxn>
                <a:cxn ang="0">
                  <a:pos x="T8" y="T9"/>
                </a:cxn>
              </a:cxnLst>
              <a:rect l="0" t="0" r="r" b="b"/>
              <a:pathLst>
                <a:path w="28" h="15">
                  <a:moveTo>
                    <a:pt x="0" y="7"/>
                  </a:moveTo>
                  <a:lnTo>
                    <a:pt x="17" y="15"/>
                  </a:lnTo>
                  <a:lnTo>
                    <a:pt x="28" y="9"/>
                  </a:lnTo>
                  <a:lnTo>
                    <a:pt x="10" y="0"/>
                  </a:lnTo>
                  <a:lnTo>
                    <a:pt x="0" y="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17" name="Freeform 1261"/>
            <p:cNvSpPr/>
            <p:nvPr/>
          </p:nvSpPr>
          <p:spPr bwMode="auto">
            <a:xfrm rot="300000">
              <a:off x="7356" y="11172"/>
              <a:ext cx="84" cy="45"/>
            </a:xfrm>
            <a:custGeom>
              <a:avLst/>
              <a:gdLst>
                <a:gd name="T0" fmla="*/ 0 w 28"/>
                <a:gd name="T1" fmla="*/ 4 h 15"/>
                <a:gd name="T2" fmla="*/ 17 w 28"/>
                <a:gd name="T3" fmla="*/ 15 h 15"/>
                <a:gd name="T4" fmla="*/ 28 w 28"/>
                <a:gd name="T5" fmla="*/ 8 h 15"/>
                <a:gd name="T6" fmla="*/ 10 w 28"/>
                <a:gd name="T7" fmla="*/ 0 h 15"/>
                <a:gd name="T8" fmla="*/ 0 w 28"/>
                <a:gd name="T9" fmla="*/ 4 h 15"/>
              </a:gdLst>
              <a:ahLst/>
              <a:cxnLst>
                <a:cxn ang="0">
                  <a:pos x="T0" y="T1"/>
                </a:cxn>
                <a:cxn ang="0">
                  <a:pos x="T2" y="T3"/>
                </a:cxn>
                <a:cxn ang="0">
                  <a:pos x="T4" y="T5"/>
                </a:cxn>
                <a:cxn ang="0">
                  <a:pos x="T6" y="T7"/>
                </a:cxn>
                <a:cxn ang="0">
                  <a:pos x="T8" y="T9"/>
                </a:cxn>
              </a:cxnLst>
              <a:rect l="0" t="0" r="r" b="b"/>
              <a:pathLst>
                <a:path w="28" h="15">
                  <a:moveTo>
                    <a:pt x="0" y="4"/>
                  </a:moveTo>
                  <a:lnTo>
                    <a:pt x="17" y="15"/>
                  </a:lnTo>
                  <a:lnTo>
                    <a:pt x="28" y="8"/>
                  </a:lnTo>
                  <a:lnTo>
                    <a:pt x="10" y="0"/>
                  </a:lnTo>
                  <a:lnTo>
                    <a:pt x="0"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18" name="Freeform 1262"/>
            <p:cNvSpPr/>
            <p:nvPr/>
          </p:nvSpPr>
          <p:spPr bwMode="auto">
            <a:xfrm rot="300000">
              <a:off x="7509" y="11275"/>
              <a:ext cx="84" cy="51"/>
            </a:xfrm>
            <a:custGeom>
              <a:avLst/>
              <a:gdLst>
                <a:gd name="T0" fmla="*/ 0 w 28"/>
                <a:gd name="T1" fmla="*/ 6 h 17"/>
                <a:gd name="T2" fmla="*/ 17 w 28"/>
                <a:gd name="T3" fmla="*/ 17 h 17"/>
                <a:gd name="T4" fmla="*/ 28 w 28"/>
                <a:gd name="T5" fmla="*/ 11 h 17"/>
                <a:gd name="T6" fmla="*/ 10 w 28"/>
                <a:gd name="T7" fmla="*/ 0 h 17"/>
                <a:gd name="T8" fmla="*/ 0 w 28"/>
                <a:gd name="T9" fmla="*/ 6 h 17"/>
              </a:gdLst>
              <a:ahLst/>
              <a:cxnLst>
                <a:cxn ang="0">
                  <a:pos x="T0" y="T1"/>
                </a:cxn>
                <a:cxn ang="0">
                  <a:pos x="T2" y="T3"/>
                </a:cxn>
                <a:cxn ang="0">
                  <a:pos x="T4" y="T5"/>
                </a:cxn>
                <a:cxn ang="0">
                  <a:pos x="T6" y="T7"/>
                </a:cxn>
                <a:cxn ang="0">
                  <a:pos x="T8" y="T9"/>
                </a:cxn>
              </a:cxnLst>
              <a:rect l="0" t="0" r="r" b="b"/>
              <a:pathLst>
                <a:path w="28" h="17">
                  <a:moveTo>
                    <a:pt x="0" y="6"/>
                  </a:moveTo>
                  <a:lnTo>
                    <a:pt x="17" y="17"/>
                  </a:lnTo>
                  <a:lnTo>
                    <a:pt x="28" y="11"/>
                  </a:lnTo>
                  <a:lnTo>
                    <a:pt x="10"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19" name="Freeform 1263"/>
            <p:cNvSpPr/>
            <p:nvPr/>
          </p:nvSpPr>
          <p:spPr bwMode="auto">
            <a:xfrm rot="300000">
              <a:off x="7668" y="11384"/>
              <a:ext cx="84" cy="45"/>
            </a:xfrm>
            <a:custGeom>
              <a:avLst/>
              <a:gdLst>
                <a:gd name="T0" fmla="*/ 0 w 28"/>
                <a:gd name="T1" fmla="*/ 7 h 15"/>
                <a:gd name="T2" fmla="*/ 17 w 28"/>
                <a:gd name="T3" fmla="*/ 15 h 15"/>
                <a:gd name="T4" fmla="*/ 28 w 28"/>
                <a:gd name="T5" fmla="*/ 11 h 15"/>
                <a:gd name="T6" fmla="*/ 11 w 28"/>
                <a:gd name="T7" fmla="*/ 0 h 15"/>
                <a:gd name="T8" fmla="*/ 0 w 28"/>
                <a:gd name="T9" fmla="*/ 7 h 15"/>
              </a:gdLst>
              <a:ahLst/>
              <a:cxnLst>
                <a:cxn ang="0">
                  <a:pos x="T0" y="T1"/>
                </a:cxn>
                <a:cxn ang="0">
                  <a:pos x="T2" y="T3"/>
                </a:cxn>
                <a:cxn ang="0">
                  <a:pos x="T4" y="T5"/>
                </a:cxn>
                <a:cxn ang="0">
                  <a:pos x="T6" y="T7"/>
                </a:cxn>
                <a:cxn ang="0">
                  <a:pos x="T8" y="T9"/>
                </a:cxn>
              </a:cxnLst>
              <a:rect l="0" t="0" r="r" b="b"/>
              <a:pathLst>
                <a:path w="28" h="15">
                  <a:moveTo>
                    <a:pt x="0" y="7"/>
                  </a:moveTo>
                  <a:lnTo>
                    <a:pt x="17" y="15"/>
                  </a:lnTo>
                  <a:lnTo>
                    <a:pt x="28" y="11"/>
                  </a:lnTo>
                  <a:lnTo>
                    <a:pt x="11" y="0"/>
                  </a:lnTo>
                  <a:lnTo>
                    <a:pt x="0" y="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20" name="Freeform 1264"/>
            <p:cNvSpPr/>
            <p:nvPr/>
          </p:nvSpPr>
          <p:spPr bwMode="auto">
            <a:xfrm rot="300000">
              <a:off x="7821" y="11496"/>
              <a:ext cx="84" cy="45"/>
            </a:xfrm>
            <a:custGeom>
              <a:avLst/>
              <a:gdLst>
                <a:gd name="T0" fmla="*/ 0 w 28"/>
                <a:gd name="T1" fmla="*/ 6 h 15"/>
                <a:gd name="T2" fmla="*/ 17 w 28"/>
                <a:gd name="T3" fmla="*/ 15 h 15"/>
                <a:gd name="T4" fmla="*/ 28 w 28"/>
                <a:gd name="T5" fmla="*/ 8 h 15"/>
                <a:gd name="T6" fmla="*/ 11 w 28"/>
                <a:gd name="T7" fmla="*/ 0 h 15"/>
                <a:gd name="T8" fmla="*/ 0 w 28"/>
                <a:gd name="T9" fmla="*/ 6 h 15"/>
              </a:gdLst>
              <a:ahLst/>
              <a:cxnLst>
                <a:cxn ang="0">
                  <a:pos x="T0" y="T1"/>
                </a:cxn>
                <a:cxn ang="0">
                  <a:pos x="T2" y="T3"/>
                </a:cxn>
                <a:cxn ang="0">
                  <a:pos x="T4" y="T5"/>
                </a:cxn>
                <a:cxn ang="0">
                  <a:pos x="T6" y="T7"/>
                </a:cxn>
                <a:cxn ang="0">
                  <a:pos x="T8" y="T9"/>
                </a:cxn>
              </a:cxnLst>
              <a:rect l="0" t="0" r="r" b="b"/>
              <a:pathLst>
                <a:path w="28" h="15">
                  <a:moveTo>
                    <a:pt x="0" y="6"/>
                  </a:moveTo>
                  <a:lnTo>
                    <a:pt x="17" y="15"/>
                  </a:lnTo>
                  <a:lnTo>
                    <a:pt x="28" y="8"/>
                  </a:lnTo>
                  <a:lnTo>
                    <a:pt x="11"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grpSp>
      <p:grpSp>
        <p:nvGrpSpPr>
          <p:cNvPr id="361" name="组合 360"/>
          <p:cNvGrpSpPr/>
          <p:nvPr>
            <p:custDataLst>
              <p:tags r:id="rId130"/>
            </p:custDataLst>
          </p:nvPr>
        </p:nvGrpSpPr>
        <p:grpSpPr>
          <a:xfrm>
            <a:off x="11495405" y="2011045"/>
            <a:ext cx="594360" cy="318135"/>
            <a:chOff x="17245" y="3043"/>
            <a:chExt cx="936" cy="501"/>
          </a:xfrm>
        </p:grpSpPr>
        <p:sp>
          <p:nvSpPr>
            <p:cNvPr id="355" name="Freeform 1244"/>
            <p:cNvSpPr/>
            <p:nvPr>
              <p:custDataLst>
                <p:tags r:id="rId131"/>
              </p:custDataLst>
            </p:nvPr>
          </p:nvSpPr>
          <p:spPr bwMode="auto">
            <a:xfrm rot="7500000">
              <a:off x="17743" y="3239"/>
              <a:ext cx="83" cy="45"/>
            </a:xfrm>
            <a:custGeom>
              <a:avLst/>
              <a:gdLst>
                <a:gd name="T0" fmla="*/ 0 w 28"/>
                <a:gd name="T1" fmla="*/ 6 h 15"/>
                <a:gd name="T2" fmla="*/ 17 w 28"/>
                <a:gd name="T3" fmla="*/ 15 h 15"/>
                <a:gd name="T4" fmla="*/ 28 w 28"/>
                <a:gd name="T5" fmla="*/ 8 h 15"/>
                <a:gd name="T6" fmla="*/ 10 w 28"/>
                <a:gd name="T7" fmla="*/ 0 h 15"/>
                <a:gd name="T8" fmla="*/ 0 w 28"/>
                <a:gd name="T9" fmla="*/ 6 h 15"/>
              </a:gdLst>
              <a:ahLst/>
              <a:cxnLst>
                <a:cxn ang="0">
                  <a:pos x="T0" y="T1"/>
                </a:cxn>
                <a:cxn ang="0">
                  <a:pos x="T2" y="T3"/>
                </a:cxn>
                <a:cxn ang="0">
                  <a:pos x="T4" y="T5"/>
                </a:cxn>
                <a:cxn ang="0">
                  <a:pos x="T6" y="T7"/>
                </a:cxn>
                <a:cxn ang="0">
                  <a:pos x="T8" y="T9"/>
                </a:cxn>
              </a:cxnLst>
              <a:rect l="0" t="0" r="r" b="b"/>
              <a:pathLst>
                <a:path w="28" h="15">
                  <a:moveTo>
                    <a:pt x="0" y="6"/>
                  </a:moveTo>
                  <a:lnTo>
                    <a:pt x="17" y="15"/>
                  </a:lnTo>
                  <a:lnTo>
                    <a:pt x="28" y="8"/>
                  </a:lnTo>
                  <a:lnTo>
                    <a:pt x="10"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56" name="Freeform 1245"/>
            <p:cNvSpPr/>
            <p:nvPr>
              <p:custDataLst>
                <p:tags r:id="rId132"/>
              </p:custDataLst>
            </p:nvPr>
          </p:nvSpPr>
          <p:spPr bwMode="auto">
            <a:xfrm rot="7500000">
              <a:off x="17569" y="3321"/>
              <a:ext cx="83" cy="45"/>
            </a:xfrm>
            <a:custGeom>
              <a:avLst/>
              <a:gdLst>
                <a:gd name="T0" fmla="*/ 0 w 28"/>
                <a:gd name="T1" fmla="*/ 4 h 15"/>
                <a:gd name="T2" fmla="*/ 17 w 28"/>
                <a:gd name="T3" fmla="*/ 15 h 15"/>
                <a:gd name="T4" fmla="*/ 28 w 28"/>
                <a:gd name="T5" fmla="*/ 9 h 15"/>
                <a:gd name="T6" fmla="*/ 11 w 28"/>
                <a:gd name="T7" fmla="*/ 0 h 15"/>
                <a:gd name="T8" fmla="*/ 0 w 28"/>
                <a:gd name="T9" fmla="*/ 4 h 15"/>
              </a:gdLst>
              <a:ahLst/>
              <a:cxnLst>
                <a:cxn ang="0">
                  <a:pos x="T0" y="T1"/>
                </a:cxn>
                <a:cxn ang="0">
                  <a:pos x="T2" y="T3"/>
                </a:cxn>
                <a:cxn ang="0">
                  <a:pos x="T4" y="T5"/>
                </a:cxn>
                <a:cxn ang="0">
                  <a:pos x="T6" y="T7"/>
                </a:cxn>
                <a:cxn ang="0">
                  <a:pos x="T8" y="T9"/>
                </a:cxn>
              </a:cxnLst>
              <a:rect l="0" t="0" r="r" b="b"/>
              <a:pathLst>
                <a:path w="28" h="15">
                  <a:moveTo>
                    <a:pt x="0" y="4"/>
                  </a:moveTo>
                  <a:lnTo>
                    <a:pt x="17" y="15"/>
                  </a:lnTo>
                  <a:lnTo>
                    <a:pt x="28" y="9"/>
                  </a:lnTo>
                  <a:lnTo>
                    <a:pt x="11" y="0"/>
                  </a:lnTo>
                  <a:lnTo>
                    <a:pt x="0"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57" name="Freeform 1246"/>
            <p:cNvSpPr/>
            <p:nvPr>
              <p:custDataLst>
                <p:tags r:id="rId133"/>
              </p:custDataLst>
            </p:nvPr>
          </p:nvSpPr>
          <p:spPr bwMode="auto">
            <a:xfrm rot="7500000">
              <a:off x="17399" y="3394"/>
              <a:ext cx="83" cy="54"/>
            </a:xfrm>
            <a:custGeom>
              <a:avLst/>
              <a:gdLst>
                <a:gd name="T0" fmla="*/ 0 w 28"/>
                <a:gd name="T1" fmla="*/ 7 h 18"/>
                <a:gd name="T2" fmla="*/ 17 w 28"/>
                <a:gd name="T3" fmla="*/ 18 h 18"/>
                <a:gd name="T4" fmla="*/ 28 w 28"/>
                <a:gd name="T5" fmla="*/ 11 h 18"/>
                <a:gd name="T6" fmla="*/ 11 w 28"/>
                <a:gd name="T7" fmla="*/ 0 h 18"/>
                <a:gd name="T8" fmla="*/ 0 w 28"/>
                <a:gd name="T9" fmla="*/ 7 h 18"/>
              </a:gdLst>
              <a:ahLst/>
              <a:cxnLst>
                <a:cxn ang="0">
                  <a:pos x="T0" y="T1"/>
                </a:cxn>
                <a:cxn ang="0">
                  <a:pos x="T2" y="T3"/>
                </a:cxn>
                <a:cxn ang="0">
                  <a:pos x="T4" y="T5"/>
                </a:cxn>
                <a:cxn ang="0">
                  <a:pos x="T6" y="T7"/>
                </a:cxn>
                <a:cxn ang="0">
                  <a:pos x="T8" y="T9"/>
                </a:cxn>
              </a:cxnLst>
              <a:rect l="0" t="0" r="r" b="b"/>
              <a:pathLst>
                <a:path w="28" h="18">
                  <a:moveTo>
                    <a:pt x="0" y="7"/>
                  </a:moveTo>
                  <a:lnTo>
                    <a:pt x="17" y="18"/>
                  </a:lnTo>
                  <a:lnTo>
                    <a:pt x="28" y="11"/>
                  </a:lnTo>
                  <a:lnTo>
                    <a:pt x="11" y="0"/>
                  </a:lnTo>
                  <a:lnTo>
                    <a:pt x="0" y="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58" name="Freeform 1247"/>
            <p:cNvSpPr/>
            <p:nvPr>
              <p:custDataLst>
                <p:tags r:id="rId134"/>
              </p:custDataLst>
            </p:nvPr>
          </p:nvSpPr>
          <p:spPr bwMode="auto">
            <a:xfrm rot="7500000">
              <a:off x="17226" y="3481"/>
              <a:ext cx="83" cy="45"/>
            </a:xfrm>
            <a:custGeom>
              <a:avLst/>
              <a:gdLst>
                <a:gd name="T0" fmla="*/ 0 w 28"/>
                <a:gd name="T1" fmla="*/ 6 h 15"/>
                <a:gd name="T2" fmla="*/ 17 w 28"/>
                <a:gd name="T3" fmla="*/ 15 h 15"/>
                <a:gd name="T4" fmla="*/ 28 w 28"/>
                <a:gd name="T5" fmla="*/ 10 h 15"/>
                <a:gd name="T6" fmla="*/ 11 w 28"/>
                <a:gd name="T7" fmla="*/ 0 h 15"/>
                <a:gd name="T8" fmla="*/ 0 w 28"/>
                <a:gd name="T9" fmla="*/ 6 h 15"/>
              </a:gdLst>
              <a:ahLst/>
              <a:cxnLst>
                <a:cxn ang="0">
                  <a:pos x="T0" y="T1"/>
                </a:cxn>
                <a:cxn ang="0">
                  <a:pos x="T2" y="T3"/>
                </a:cxn>
                <a:cxn ang="0">
                  <a:pos x="T4" y="T5"/>
                </a:cxn>
                <a:cxn ang="0">
                  <a:pos x="T6" y="T7"/>
                </a:cxn>
                <a:cxn ang="0">
                  <a:pos x="T8" y="T9"/>
                </a:cxn>
              </a:cxnLst>
              <a:rect l="0" t="0" r="r" b="b"/>
              <a:pathLst>
                <a:path w="28" h="15">
                  <a:moveTo>
                    <a:pt x="0" y="6"/>
                  </a:moveTo>
                  <a:lnTo>
                    <a:pt x="17" y="15"/>
                  </a:lnTo>
                  <a:lnTo>
                    <a:pt x="28" y="10"/>
                  </a:lnTo>
                  <a:lnTo>
                    <a:pt x="11"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59" name="Freeform 1242"/>
            <p:cNvSpPr/>
            <p:nvPr>
              <p:custDataLst>
                <p:tags r:id="rId135"/>
              </p:custDataLst>
            </p:nvPr>
          </p:nvSpPr>
          <p:spPr bwMode="auto">
            <a:xfrm rot="7500000">
              <a:off x="18115" y="3059"/>
              <a:ext cx="83" cy="51"/>
            </a:xfrm>
            <a:custGeom>
              <a:avLst/>
              <a:gdLst>
                <a:gd name="T0" fmla="*/ 0 w 28"/>
                <a:gd name="T1" fmla="*/ 6 h 17"/>
                <a:gd name="T2" fmla="*/ 17 w 28"/>
                <a:gd name="T3" fmla="*/ 17 h 17"/>
                <a:gd name="T4" fmla="*/ 28 w 28"/>
                <a:gd name="T5" fmla="*/ 11 h 17"/>
                <a:gd name="T6" fmla="*/ 10 w 28"/>
                <a:gd name="T7" fmla="*/ 0 h 17"/>
                <a:gd name="T8" fmla="*/ 0 w 28"/>
                <a:gd name="T9" fmla="*/ 6 h 17"/>
              </a:gdLst>
              <a:ahLst/>
              <a:cxnLst>
                <a:cxn ang="0">
                  <a:pos x="T0" y="T1"/>
                </a:cxn>
                <a:cxn ang="0">
                  <a:pos x="T2" y="T3"/>
                </a:cxn>
                <a:cxn ang="0">
                  <a:pos x="T4" y="T5"/>
                </a:cxn>
                <a:cxn ang="0">
                  <a:pos x="T6" y="T7"/>
                </a:cxn>
                <a:cxn ang="0">
                  <a:pos x="T8" y="T9"/>
                </a:cxn>
              </a:cxnLst>
              <a:rect l="0" t="0" r="r" b="b"/>
              <a:pathLst>
                <a:path w="28" h="17">
                  <a:moveTo>
                    <a:pt x="0" y="6"/>
                  </a:moveTo>
                  <a:lnTo>
                    <a:pt x="17" y="17"/>
                  </a:lnTo>
                  <a:lnTo>
                    <a:pt x="28" y="11"/>
                  </a:lnTo>
                  <a:lnTo>
                    <a:pt x="10" y="0"/>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60" name="Freeform 1243"/>
            <p:cNvSpPr/>
            <p:nvPr>
              <p:custDataLst>
                <p:tags r:id="rId136"/>
              </p:custDataLst>
            </p:nvPr>
          </p:nvSpPr>
          <p:spPr bwMode="auto">
            <a:xfrm rot="7500000">
              <a:off x="17945" y="3144"/>
              <a:ext cx="83" cy="45"/>
            </a:xfrm>
            <a:custGeom>
              <a:avLst/>
              <a:gdLst>
                <a:gd name="T0" fmla="*/ 0 w 28"/>
                <a:gd name="T1" fmla="*/ 7 h 15"/>
                <a:gd name="T2" fmla="*/ 17 w 28"/>
                <a:gd name="T3" fmla="*/ 15 h 15"/>
                <a:gd name="T4" fmla="*/ 28 w 28"/>
                <a:gd name="T5" fmla="*/ 11 h 15"/>
                <a:gd name="T6" fmla="*/ 11 w 28"/>
                <a:gd name="T7" fmla="*/ 0 h 15"/>
                <a:gd name="T8" fmla="*/ 0 w 28"/>
                <a:gd name="T9" fmla="*/ 7 h 15"/>
              </a:gdLst>
              <a:ahLst/>
              <a:cxnLst>
                <a:cxn ang="0">
                  <a:pos x="T0" y="T1"/>
                </a:cxn>
                <a:cxn ang="0">
                  <a:pos x="T2" y="T3"/>
                </a:cxn>
                <a:cxn ang="0">
                  <a:pos x="T4" y="T5"/>
                </a:cxn>
                <a:cxn ang="0">
                  <a:pos x="T6" y="T7"/>
                </a:cxn>
                <a:cxn ang="0">
                  <a:pos x="T8" y="T9"/>
                </a:cxn>
              </a:cxnLst>
              <a:rect l="0" t="0" r="r" b="b"/>
              <a:pathLst>
                <a:path w="28" h="15">
                  <a:moveTo>
                    <a:pt x="0" y="7"/>
                  </a:moveTo>
                  <a:lnTo>
                    <a:pt x="17" y="15"/>
                  </a:lnTo>
                  <a:lnTo>
                    <a:pt x="28" y="11"/>
                  </a:lnTo>
                  <a:lnTo>
                    <a:pt x="11" y="0"/>
                  </a:lnTo>
                  <a:lnTo>
                    <a:pt x="0" y="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grpSp>
      <p:sp>
        <p:nvSpPr>
          <p:cNvPr id="395" name="子陵职场PPT7"/>
          <p:cNvSpPr txBox="1"/>
          <p:nvPr>
            <p:custDataLst>
              <p:tags r:id="rId137"/>
            </p:custDataLst>
          </p:nvPr>
        </p:nvSpPr>
        <p:spPr>
          <a:xfrm>
            <a:off x="1068388" y="3242945"/>
            <a:ext cx="1426210" cy="305435"/>
          </a:xfrm>
          <a:prstGeom prst="rect">
            <a:avLst/>
          </a:prstGeom>
          <a:noFill/>
        </p:spPr>
        <p:txBody>
          <a:bodyPr wrap="square" lIns="0" tIns="0" rIns="0" bIns="0" rtlCol="0" anchor="b" anchorCtr="0">
            <a:noAutofit/>
          </a:bodyPr>
          <a:lstStyle/>
          <a:p>
            <a:pPr algn="ctr"/>
            <a:r>
              <a:rPr lang="zh-CN" altLang="en-US" sz="1600" b="1">
                <a:solidFill>
                  <a:schemeClr val="accent5"/>
                </a:solidFill>
                <a:latin typeface="微软雅黑" panose="020B0503020204020204" charset="-122"/>
                <a:ea typeface="微软雅黑" panose="020B0503020204020204" charset="-122"/>
                <a:cs typeface="微软雅黑" panose="020B0503020204020204" charset="-122"/>
              </a:rPr>
              <a:t>明确长期愿景</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396" name="子陵职场PPT8"/>
          <p:cNvSpPr txBox="1"/>
          <p:nvPr>
            <p:custDataLst>
              <p:tags r:id="rId138"/>
            </p:custDataLst>
          </p:nvPr>
        </p:nvSpPr>
        <p:spPr>
          <a:xfrm>
            <a:off x="617220" y="3583305"/>
            <a:ext cx="2328545" cy="810260"/>
          </a:xfrm>
          <a:prstGeom prst="rect">
            <a:avLst/>
          </a:prstGeom>
          <a:noFill/>
        </p:spPr>
        <p:txBody>
          <a:bodyPr wrap="square" lIns="0" tIns="0" rIns="0" bIns="0" rtlCol="0">
            <a:noAutofit/>
          </a:bodyPr>
          <a:lstStyle/>
          <a:p>
            <a:pPr marL="171450" indent="-171450" algn="just" fontAlgn="auto">
              <a:lnSpc>
                <a:spcPct val="140000"/>
              </a:lnSpc>
              <a:buFont typeface="微软雅黑" panose="020B0503020204020204" charset="-122"/>
              <a:buChar char="•"/>
            </a:pPr>
            <a:r>
              <a:rPr lang="zh-CN" altLang="en-US" sz="1000" kern="0" dirty="0">
                <a:ln>
                  <a:noFill/>
                  <a:prstDash val="sysDot"/>
                </a:ln>
                <a:solidFill>
                  <a:schemeClr val="tx2"/>
                </a:solidFill>
                <a:latin typeface="微软雅黑" panose="020B0503020204020204" charset="-122"/>
                <a:ea typeface="微软雅黑" panose="020B0503020204020204" charset="-122"/>
                <a:cs typeface="微软雅黑" panose="020B0503020204020204" charset="-122"/>
                <a:sym typeface="+mn-ea"/>
              </a:rPr>
              <a:t>确立未来发展方向和目标，确保与公司的方向一致。</a:t>
            </a:r>
            <a:endParaRPr lang="zh-CN" altLang="en-US" sz="1000" kern="0" dirty="0">
              <a:ln>
                <a:noFill/>
                <a:prstDash val="sysDot"/>
              </a:ln>
              <a:solidFill>
                <a:schemeClr val="tx2"/>
              </a:solidFill>
              <a:latin typeface="微软雅黑" panose="020B0503020204020204" charset="-122"/>
              <a:ea typeface="微软雅黑" panose="020B0503020204020204" charset="-122"/>
              <a:cs typeface="微软雅黑" panose="020B0503020204020204" charset="-122"/>
              <a:sym typeface="+mn-ea"/>
            </a:endParaRPr>
          </a:p>
          <a:p>
            <a:pPr marL="171450" indent="-171450" algn="just" fontAlgn="auto">
              <a:lnSpc>
                <a:spcPct val="140000"/>
              </a:lnSpc>
              <a:buFont typeface="微软雅黑" panose="020B0503020204020204" charset="-122"/>
              <a:buChar char="•"/>
            </a:pPr>
            <a:r>
              <a:rPr lang="zh-CN" altLang="en-US" sz="1000" kern="0" dirty="0">
                <a:ln>
                  <a:noFill/>
                  <a:prstDash val="sysDot"/>
                </a:ln>
                <a:solidFill>
                  <a:schemeClr val="tx2"/>
                </a:solidFill>
                <a:latin typeface="微软雅黑" panose="020B0503020204020204" charset="-122"/>
                <a:ea typeface="微软雅黑" panose="020B0503020204020204" charset="-122"/>
                <a:cs typeface="微软雅黑" panose="020B0503020204020204" charset="-122"/>
                <a:sym typeface="+mn-ea"/>
              </a:rPr>
              <a:t>将长期目标分解为第一年可实现的短期目标，技能提升、团队协作等方面。</a:t>
            </a:r>
            <a:endParaRPr lang="zh-CN" altLang="en-US" sz="1000" kern="0" dirty="0">
              <a:ln>
                <a:noFill/>
                <a:prstDash val="sysDot"/>
              </a:ln>
              <a:solidFill>
                <a:schemeClr val="tx2"/>
              </a:solidFill>
              <a:latin typeface="微软雅黑" panose="020B0503020204020204" charset="-122"/>
              <a:ea typeface="微软雅黑" panose="020B0503020204020204" charset="-122"/>
              <a:cs typeface="微软雅黑" panose="020B0503020204020204" charset="-122"/>
              <a:sym typeface="+mn-ea"/>
            </a:endParaRPr>
          </a:p>
          <a:p>
            <a:pPr marL="171450" indent="-171450" algn="just" fontAlgn="auto">
              <a:lnSpc>
                <a:spcPct val="140000"/>
              </a:lnSpc>
              <a:buFont typeface="微软雅黑" panose="020B0503020204020204" charset="-122"/>
              <a:buChar char="•"/>
            </a:pPr>
            <a:endParaRPr lang="zh-CN" altLang="en-US" sz="1000" kern="0" dirty="0">
              <a:ln>
                <a:noFill/>
                <a:prstDash val="sysDot"/>
              </a:ln>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405" name="子陵职场PPT7"/>
          <p:cNvSpPr txBox="1"/>
          <p:nvPr>
            <p:custDataLst>
              <p:tags r:id="rId139"/>
            </p:custDataLst>
          </p:nvPr>
        </p:nvSpPr>
        <p:spPr>
          <a:xfrm>
            <a:off x="3705543" y="1687195"/>
            <a:ext cx="1426210" cy="305435"/>
          </a:xfrm>
          <a:prstGeom prst="rect">
            <a:avLst/>
          </a:prstGeom>
          <a:noFill/>
        </p:spPr>
        <p:txBody>
          <a:bodyPr wrap="square" lIns="0" tIns="0" rIns="0" bIns="0" rtlCol="0" anchor="b" anchorCtr="0">
            <a:noAutofit/>
          </a:bodyPr>
          <a:lstStyle/>
          <a:p>
            <a:pPr algn="ctr"/>
            <a:r>
              <a:rPr lang="zh-CN" altLang="en-US"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专业技能深化</a:t>
            </a:r>
            <a:endParaRPr lang="zh-CN" altLang="en-US"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406" name="子陵职场PPT8"/>
          <p:cNvSpPr txBox="1"/>
          <p:nvPr>
            <p:custDataLst>
              <p:tags r:id="rId140"/>
            </p:custDataLst>
          </p:nvPr>
        </p:nvSpPr>
        <p:spPr>
          <a:xfrm>
            <a:off x="3284220" y="2027555"/>
            <a:ext cx="2268855" cy="810260"/>
          </a:xfrm>
          <a:prstGeom prst="rect">
            <a:avLst/>
          </a:prstGeom>
          <a:noFill/>
        </p:spPr>
        <p:txBody>
          <a:bodyPr wrap="square" lIns="0" tIns="0" rIns="0" bIns="0" rtlCol="0">
            <a:noAutofit/>
          </a:bodyPr>
          <a:lstStyle/>
          <a:p>
            <a:pPr marL="171450" indent="-171450" algn="just" fontAlgn="auto">
              <a:lnSpc>
                <a:spcPct val="140000"/>
              </a:lnSpc>
              <a:buFont typeface="微软雅黑" panose="020B0503020204020204" charset="-122"/>
              <a:buChar char="•"/>
            </a:pPr>
            <a:r>
              <a:rPr lang="zh-CN" altLang="en-US" sz="1000" kern="0" dirty="0">
                <a:ln>
                  <a:noFill/>
                  <a:prstDash val="sysDot"/>
                </a:ln>
                <a:solidFill>
                  <a:schemeClr val="tx2"/>
                </a:solidFill>
                <a:latin typeface="微软雅黑" panose="020B0503020204020204" charset="-122"/>
                <a:ea typeface="微软雅黑" panose="020B0503020204020204" charset="-122"/>
                <a:cs typeface="微软雅黑" panose="020B0503020204020204" charset="-122"/>
                <a:sym typeface="+mn-ea"/>
              </a:rPr>
              <a:t>通过参加培训、阅读书籍、深化在核心领域的专业技能。</a:t>
            </a:r>
            <a:endParaRPr lang="zh-CN" altLang="en-US" sz="1000" kern="0" dirty="0">
              <a:ln>
                <a:noFill/>
                <a:prstDash val="sysDot"/>
              </a:ln>
              <a:solidFill>
                <a:schemeClr val="tx2"/>
              </a:solidFill>
              <a:latin typeface="微软雅黑" panose="020B0503020204020204" charset="-122"/>
              <a:ea typeface="微软雅黑" panose="020B0503020204020204" charset="-122"/>
              <a:cs typeface="微软雅黑" panose="020B0503020204020204" charset="-122"/>
              <a:sym typeface="+mn-ea"/>
            </a:endParaRPr>
          </a:p>
          <a:p>
            <a:pPr marL="171450" indent="-171450" algn="just" fontAlgn="auto">
              <a:lnSpc>
                <a:spcPct val="140000"/>
              </a:lnSpc>
              <a:buFont typeface="微软雅黑" panose="020B0503020204020204" charset="-122"/>
              <a:buChar char="•"/>
            </a:pPr>
            <a:r>
              <a:rPr lang="zh-CN" altLang="en-US" sz="1000" kern="0" dirty="0">
                <a:ln>
                  <a:noFill/>
                  <a:prstDash val="sysDot"/>
                </a:ln>
                <a:solidFill>
                  <a:schemeClr val="tx2"/>
                </a:solidFill>
                <a:latin typeface="微软雅黑" panose="020B0503020204020204" charset="-122"/>
                <a:ea typeface="微软雅黑" panose="020B0503020204020204" charset="-122"/>
                <a:cs typeface="微软雅黑" panose="020B0503020204020204" charset="-122"/>
                <a:sym typeface="+mn-ea"/>
              </a:rPr>
              <a:t>探索并学习与本职工作相关的其他领域知识，拓宽视野，提升综合能力。</a:t>
            </a:r>
            <a:endParaRPr lang="zh-CN" altLang="en-US" sz="1000" kern="0" dirty="0">
              <a:ln>
                <a:noFill/>
                <a:prstDash val="sysDot"/>
              </a:ln>
              <a:solidFill>
                <a:schemeClr val="tx2"/>
              </a:solidFill>
              <a:latin typeface="微软雅黑" panose="020B0503020204020204" charset="-122"/>
              <a:ea typeface="微软雅黑" panose="020B0503020204020204" charset="-122"/>
              <a:cs typeface="微软雅黑" panose="020B0503020204020204" charset="-122"/>
              <a:sym typeface="+mn-ea"/>
            </a:endParaRPr>
          </a:p>
          <a:p>
            <a:pPr marL="171450" indent="-171450" algn="just" fontAlgn="auto">
              <a:lnSpc>
                <a:spcPct val="140000"/>
              </a:lnSpc>
              <a:buFont typeface="微软雅黑" panose="020B0503020204020204" charset="-122"/>
              <a:buChar char="•"/>
            </a:pPr>
            <a:endParaRPr lang="zh-CN" altLang="en-US" sz="1000" kern="0" dirty="0">
              <a:ln>
                <a:noFill/>
                <a:prstDash val="sysDot"/>
              </a:ln>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nvGrpSpPr>
          <p:cNvPr id="410" name="组合 409"/>
          <p:cNvGrpSpPr/>
          <p:nvPr>
            <p:custDataLst>
              <p:tags r:id="rId141"/>
            </p:custDataLst>
          </p:nvPr>
        </p:nvGrpSpPr>
        <p:grpSpPr>
          <a:xfrm>
            <a:off x="782320" y="4693920"/>
            <a:ext cx="841375" cy="405130"/>
            <a:chOff x="1283" y="6588"/>
            <a:chExt cx="1325" cy="638"/>
          </a:xfrm>
        </p:grpSpPr>
        <p:sp>
          <p:nvSpPr>
            <p:cNvPr id="408" name="圆角矩形标注 407"/>
            <p:cNvSpPr/>
            <p:nvPr>
              <p:custDataLst>
                <p:tags r:id="rId142"/>
              </p:custDataLst>
            </p:nvPr>
          </p:nvSpPr>
          <p:spPr>
            <a:xfrm>
              <a:off x="1283" y="6588"/>
              <a:ext cx="1309" cy="638"/>
            </a:xfrm>
            <a:prstGeom prst="wedgeRoundRectCallout">
              <a:avLst>
                <a:gd name="adj1" fmla="val 82614"/>
                <a:gd name="adj2" fmla="val 42500"/>
                <a:gd name="adj3" fmla="val 16667"/>
              </a:avLst>
            </a:prstGeom>
            <a:solidFill>
              <a:schemeClr val="bg1"/>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409" name="文本框 408"/>
            <p:cNvSpPr txBox="1"/>
            <p:nvPr>
              <p:custDataLst>
                <p:tags r:id="rId143"/>
              </p:custDataLst>
            </p:nvPr>
          </p:nvSpPr>
          <p:spPr>
            <a:xfrm>
              <a:off x="1296" y="6656"/>
              <a:ext cx="1313" cy="483"/>
            </a:xfrm>
            <a:prstGeom prst="rect">
              <a:avLst/>
            </a:prstGeom>
            <a:noFill/>
          </p:spPr>
          <p:txBody>
            <a:bodyPr wrap="square" rtlCol="0">
              <a:spAutoFit/>
            </a:bodyPr>
            <a:p>
              <a:r>
                <a:rPr lang="en-US" altLang="zh-CN" sz="1400" b="1">
                  <a:solidFill>
                    <a:schemeClr val="accent5"/>
                  </a:solidFill>
                  <a:latin typeface="微软雅黑" panose="020B0503020204020204" charset="-122"/>
                  <a:ea typeface="微软雅黑" panose="020B0503020204020204" charset="-122"/>
                  <a:cs typeface="微软雅黑" panose="020B0503020204020204" charset="-122"/>
                </a:rPr>
                <a:t>2025</a:t>
              </a:r>
              <a:r>
                <a:rPr lang="zh-CN" altLang="en-US" sz="1400" b="1">
                  <a:solidFill>
                    <a:schemeClr val="accent5"/>
                  </a:solidFill>
                  <a:latin typeface="微软雅黑" panose="020B0503020204020204" charset="-122"/>
                  <a:ea typeface="微软雅黑" panose="020B0503020204020204" charset="-122"/>
                  <a:cs typeface="微软雅黑" panose="020B0503020204020204" charset="-122"/>
                </a:rPr>
                <a:t>年</a:t>
              </a:r>
              <a:endParaRPr lang="zh-CN" altLang="en-US" sz="1400" b="1">
                <a:solidFill>
                  <a:schemeClr val="accent5"/>
                </a:solidFill>
                <a:latin typeface="微软雅黑" panose="020B0503020204020204" charset="-122"/>
                <a:ea typeface="微软雅黑" panose="020B0503020204020204" charset="-122"/>
                <a:cs typeface="微软雅黑" panose="020B0503020204020204" charset="-122"/>
              </a:endParaRPr>
            </a:p>
          </p:txBody>
        </p:sp>
      </p:grpSp>
      <p:grpSp>
        <p:nvGrpSpPr>
          <p:cNvPr id="418" name="组合 417"/>
          <p:cNvGrpSpPr/>
          <p:nvPr>
            <p:custDataLst>
              <p:tags r:id="rId144"/>
            </p:custDataLst>
          </p:nvPr>
        </p:nvGrpSpPr>
        <p:grpSpPr>
          <a:xfrm>
            <a:off x="1975485" y="4728210"/>
            <a:ext cx="560070" cy="577215"/>
            <a:chOff x="10221" y="10970"/>
            <a:chExt cx="882" cy="909"/>
          </a:xfrm>
        </p:grpSpPr>
        <p:sp>
          <p:nvSpPr>
            <p:cNvPr id="415" name="任意多边形 414"/>
            <p:cNvSpPr/>
            <p:nvPr>
              <p:custDataLst>
                <p:tags r:id="rId145"/>
              </p:custDataLst>
            </p:nvPr>
          </p:nvSpPr>
          <p:spPr>
            <a:xfrm>
              <a:off x="10221" y="11088"/>
              <a:ext cx="882" cy="791"/>
            </a:xfrm>
            <a:custGeom>
              <a:avLst/>
              <a:gdLst/>
              <a:ahLst/>
              <a:cxnLst>
                <a:cxn ang="3">
                  <a:pos x="hc" y="t"/>
                </a:cxn>
                <a:cxn ang="cd2">
                  <a:pos x="l" y="vc"/>
                </a:cxn>
                <a:cxn ang="cd4">
                  <a:pos x="hc" y="b"/>
                </a:cxn>
                <a:cxn ang="0">
                  <a:pos x="r" y="vc"/>
                </a:cxn>
              </a:cxnLst>
              <a:rect l="l" t="t" r="r" b="b"/>
              <a:pathLst>
                <a:path w="882" h="791">
                  <a:moveTo>
                    <a:pt x="0" y="0"/>
                  </a:moveTo>
                  <a:lnTo>
                    <a:pt x="882" y="0"/>
                  </a:lnTo>
                  <a:lnTo>
                    <a:pt x="882" y="657"/>
                  </a:lnTo>
                  <a:lnTo>
                    <a:pt x="882" y="657"/>
                  </a:lnTo>
                  <a:cubicBezTo>
                    <a:pt x="883" y="732"/>
                    <a:pt x="659" y="793"/>
                    <a:pt x="441" y="791"/>
                  </a:cubicBezTo>
                  <a:cubicBezTo>
                    <a:pt x="198" y="794"/>
                    <a:pt x="0" y="724"/>
                    <a:pt x="0" y="657"/>
                  </a:cubicBezTo>
                  <a:lnTo>
                    <a:pt x="0" y="657"/>
                  </a:lnTo>
                  <a:lnTo>
                    <a:pt x="0" y="0"/>
                  </a:lnTo>
                  <a:close/>
                </a:path>
              </a:pathLst>
            </a:custGeom>
            <a:gradFill>
              <a:gsLst>
                <a:gs pos="0">
                  <a:schemeClr val="accent5">
                    <a:alpha val="90000"/>
                  </a:schemeClr>
                </a:gs>
                <a:gs pos="100000">
                  <a:schemeClr val="accent5">
                    <a:lumMod val="60000"/>
                    <a:lumOff val="40000"/>
                    <a:alpha val="90000"/>
                  </a:schemeClr>
                </a:gs>
              </a:gsLst>
              <a:lin ang="162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en-US" altLang="zh-CN">
                <a:latin typeface="微软雅黑" panose="020B0503020204020204" charset="-122"/>
                <a:ea typeface="微软雅黑" panose="020B0503020204020204" charset="-122"/>
                <a:cs typeface="微软雅黑" panose="020B0503020204020204" charset="-122"/>
              </a:endParaRPr>
            </a:p>
          </p:txBody>
        </p:sp>
        <p:sp>
          <p:nvSpPr>
            <p:cNvPr id="417" name="椭圆 416"/>
            <p:cNvSpPr/>
            <p:nvPr>
              <p:custDataLst>
                <p:tags r:id="rId146"/>
              </p:custDataLst>
            </p:nvPr>
          </p:nvSpPr>
          <p:spPr>
            <a:xfrm>
              <a:off x="10221" y="10970"/>
              <a:ext cx="882" cy="247"/>
            </a:xfrm>
            <a:prstGeom prst="ellipse">
              <a:avLst/>
            </a:prstGeom>
            <a:solidFill>
              <a:schemeClr val="accent5">
                <a:lumMod val="40000"/>
                <a:lumOff val="6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419" name="组合 418"/>
          <p:cNvGrpSpPr/>
          <p:nvPr>
            <p:custDataLst>
              <p:tags r:id="rId147"/>
            </p:custDataLst>
          </p:nvPr>
        </p:nvGrpSpPr>
        <p:grpSpPr>
          <a:xfrm>
            <a:off x="4148455" y="3427095"/>
            <a:ext cx="490220" cy="843280"/>
            <a:chOff x="10221" y="10970"/>
            <a:chExt cx="882" cy="909"/>
          </a:xfrm>
        </p:grpSpPr>
        <p:sp>
          <p:nvSpPr>
            <p:cNvPr id="420" name="任意多边形 419"/>
            <p:cNvSpPr/>
            <p:nvPr>
              <p:custDataLst>
                <p:tags r:id="rId148"/>
              </p:custDataLst>
            </p:nvPr>
          </p:nvSpPr>
          <p:spPr>
            <a:xfrm>
              <a:off x="10221" y="11088"/>
              <a:ext cx="882" cy="791"/>
            </a:xfrm>
            <a:custGeom>
              <a:avLst/>
              <a:gdLst/>
              <a:ahLst/>
              <a:cxnLst>
                <a:cxn ang="3">
                  <a:pos x="hc" y="t"/>
                </a:cxn>
                <a:cxn ang="cd2">
                  <a:pos x="l" y="vc"/>
                </a:cxn>
                <a:cxn ang="cd4">
                  <a:pos x="hc" y="b"/>
                </a:cxn>
                <a:cxn ang="0">
                  <a:pos x="r" y="vc"/>
                </a:cxn>
              </a:cxnLst>
              <a:rect l="l" t="t" r="r" b="b"/>
              <a:pathLst>
                <a:path w="882" h="791">
                  <a:moveTo>
                    <a:pt x="0" y="0"/>
                  </a:moveTo>
                  <a:lnTo>
                    <a:pt x="882" y="0"/>
                  </a:lnTo>
                  <a:lnTo>
                    <a:pt x="882" y="657"/>
                  </a:lnTo>
                  <a:lnTo>
                    <a:pt x="882" y="657"/>
                  </a:lnTo>
                  <a:cubicBezTo>
                    <a:pt x="883" y="732"/>
                    <a:pt x="659" y="793"/>
                    <a:pt x="441" y="791"/>
                  </a:cubicBezTo>
                  <a:cubicBezTo>
                    <a:pt x="198" y="794"/>
                    <a:pt x="0" y="724"/>
                    <a:pt x="0" y="657"/>
                  </a:cubicBezTo>
                  <a:lnTo>
                    <a:pt x="0" y="657"/>
                  </a:lnTo>
                  <a:lnTo>
                    <a:pt x="0" y="0"/>
                  </a:lnTo>
                  <a:close/>
                </a:path>
              </a:pathLst>
            </a:custGeom>
            <a:gradFill>
              <a:gsLst>
                <a:gs pos="0">
                  <a:schemeClr val="accent1">
                    <a:alpha val="90000"/>
                  </a:schemeClr>
                </a:gs>
                <a:gs pos="100000">
                  <a:schemeClr val="accent1">
                    <a:lumMod val="60000"/>
                    <a:lumOff val="40000"/>
                    <a:alpha val="90000"/>
                  </a:schemeClr>
                </a:gs>
              </a:gsLst>
              <a:lin ang="162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421" name="椭圆 420"/>
            <p:cNvSpPr/>
            <p:nvPr>
              <p:custDataLst>
                <p:tags r:id="rId149"/>
              </p:custDataLst>
            </p:nvPr>
          </p:nvSpPr>
          <p:spPr>
            <a:xfrm>
              <a:off x="10221" y="10970"/>
              <a:ext cx="882" cy="190"/>
            </a:xfrm>
            <a:prstGeom prst="ellipse">
              <a:avLst/>
            </a:prstGeom>
            <a:solidFill>
              <a:schemeClr val="accent1">
                <a:lumMod val="40000"/>
                <a:lumOff val="6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422" name="组合 421"/>
          <p:cNvGrpSpPr/>
          <p:nvPr>
            <p:custDataLst>
              <p:tags r:id="rId150"/>
            </p:custDataLst>
          </p:nvPr>
        </p:nvGrpSpPr>
        <p:grpSpPr>
          <a:xfrm flipH="1">
            <a:off x="4822825" y="3058795"/>
            <a:ext cx="842010" cy="405130"/>
            <a:chOff x="1283" y="6588"/>
            <a:chExt cx="1326" cy="638"/>
          </a:xfrm>
        </p:grpSpPr>
        <p:sp>
          <p:nvSpPr>
            <p:cNvPr id="423" name="圆角矩形标注 422"/>
            <p:cNvSpPr/>
            <p:nvPr>
              <p:custDataLst>
                <p:tags r:id="rId151"/>
              </p:custDataLst>
            </p:nvPr>
          </p:nvSpPr>
          <p:spPr>
            <a:xfrm>
              <a:off x="1283" y="6588"/>
              <a:ext cx="1309" cy="638"/>
            </a:xfrm>
            <a:prstGeom prst="wedgeRoundRectCallout">
              <a:avLst>
                <a:gd name="adj1" fmla="val 82614"/>
                <a:gd name="adj2" fmla="val 42500"/>
                <a:gd name="adj3" fmla="val 16667"/>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424" name="文本框 423"/>
            <p:cNvSpPr txBox="1"/>
            <p:nvPr>
              <p:custDataLst>
                <p:tags r:id="rId152"/>
              </p:custDataLst>
            </p:nvPr>
          </p:nvSpPr>
          <p:spPr>
            <a:xfrm>
              <a:off x="1296" y="6656"/>
              <a:ext cx="1313" cy="483"/>
            </a:xfrm>
            <a:prstGeom prst="rect">
              <a:avLst/>
            </a:prstGeom>
            <a:noFill/>
          </p:spPr>
          <p:txBody>
            <a:bodyPr wrap="square" rtlCol="0">
              <a:spAutoFit/>
            </a:bodyPr>
            <a:p>
              <a:r>
                <a:rPr lang="en-US" alt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2026</a:t>
              </a:r>
              <a:r>
                <a:rPr lang="zh-CN" alt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年</a:t>
              </a:r>
              <a:endParaRPr lang="zh-CN" alt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425" name="组合 424"/>
          <p:cNvGrpSpPr/>
          <p:nvPr>
            <p:custDataLst>
              <p:tags r:id="rId153"/>
            </p:custDataLst>
          </p:nvPr>
        </p:nvGrpSpPr>
        <p:grpSpPr>
          <a:xfrm>
            <a:off x="6506210" y="4101465"/>
            <a:ext cx="562610" cy="619125"/>
            <a:chOff x="10221" y="10970"/>
            <a:chExt cx="882" cy="909"/>
          </a:xfrm>
        </p:grpSpPr>
        <p:sp>
          <p:nvSpPr>
            <p:cNvPr id="426" name="任意多边形 425"/>
            <p:cNvSpPr/>
            <p:nvPr>
              <p:custDataLst>
                <p:tags r:id="rId154"/>
              </p:custDataLst>
            </p:nvPr>
          </p:nvSpPr>
          <p:spPr>
            <a:xfrm>
              <a:off x="10221" y="11088"/>
              <a:ext cx="882" cy="791"/>
            </a:xfrm>
            <a:custGeom>
              <a:avLst/>
              <a:gdLst/>
              <a:ahLst/>
              <a:cxnLst>
                <a:cxn ang="3">
                  <a:pos x="hc" y="t"/>
                </a:cxn>
                <a:cxn ang="cd2">
                  <a:pos x="l" y="vc"/>
                </a:cxn>
                <a:cxn ang="cd4">
                  <a:pos x="hc" y="b"/>
                </a:cxn>
                <a:cxn ang="0">
                  <a:pos x="r" y="vc"/>
                </a:cxn>
              </a:cxnLst>
              <a:rect l="l" t="t" r="r" b="b"/>
              <a:pathLst>
                <a:path w="882" h="791">
                  <a:moveTo>
                    <a:pt x="0" y="0"/>
                  </a:moveTo>
                  <a:lnTo>
                    <a:pt x="882" y="0"/>
                  </a:lnTo>
                  <a:lnTo>
                    <a:pt x="882" y="657"/>
                  </a:lnTo>
                  <a:lnTo>
                    <a:pt x="882" y="657"/>
                  </a:lnTo>
                  <a:cubicBezTo>
                    <a:pt x="883" y="732"/>
                    <a:pt x="659" y="793"/>
                    <a:pt x="441" y="791"/>
                  </a:cubicBezTo>
                  <a:cubicBezTo>
                    <a:pt x="198" y="794"/>
                    <a:pt x="0" y="724"/>
                    <a:pt x="0" y="657"/>
                  </a:cubicBezTo>
                  <a:lnTo>
                    <a:pt x="0" y="657"/>
                  </a:lnTo>
                  <a:lnTo>
                    <a:pt x="0" y="0"/>
                  </a:lnTo>
                  <a:close/>
                </a:path>
              </a:pathLst>
            </a:custGeom>
            <a:gradFill>
              <a:gsLst>
                <a:gs pos="0">
                  <a:schemeClr val="accent5">
                    <a:alpha val="90000"/>
                  </a:schemeClr>
                </a:gs>
                <a:gs pos="100000">
                  <a:schemeClr val="accent5">
                    <a:lumMod val="60000"/>
                    <a:lumOff val="40000"/>
                    <a:alpha val="90000"/>
                  </a:schemeClr>
                </a:gs>
              </a:gsLst>
              <a:lin ang="162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427" name="椭圆 426"/>
            <p:cNvSpPr/>
            <p:nvPr>
              <p:custDataLst>
                <p:tags r:id="rId155"/>
              </p:custDataLst>
            </p:nvPr>
          </p:nvSpPr>
          <p:spPr>
            <a:xfrm>
              <a:off x="10221" y="10970"/>
              <a:ext cx="882" cy="234"/>
            </a:xfrm>
            <a:prstGeom prst="ellipse">
              <a:avLst/>
            </a:prstGeom>
            <a:solidFill>
              <a:schemeClr val="accent5">
                <a:lumMod val="40000"/>
                <a:lumOff val="6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428" name="组合 427"/>
          <p:cNvGrpSpPr/>
          <p:nvPr>
            <p:custDataLst>
              <p:tags r:id="rId156"/>
            </p:custDataLst>
          </p:nvPr>
        </p:nvGrpSpPr>
        <p:grpSpPr>
          <a:xfrm flipH="1">
            <a:off x="7376795" y="4128770"/>
            <a:ext cx="842010" cy="405130"/>
            <a:chOff x="1283" y="6588"/>
            <a:chExt cx="1326" cy="638"/>
          </a:xfrm>
        </p:grpSpPr>
        <p:sp>
          <p:nvSpPr>
            <p:cNvPr id="429" name="圆角矩形标注 428"/>
            <p:cNvSpPr/>
            <p:nvPr>
              <p:custDataLst>
                <p:tags r:id="rId157"/>
              </p:custDataLst>
            </p:nvPr>
          </p:nvSpPr>
          <p:spPr>
            <a:xfrm>
              <a:off x="1283" y="6588"/>
              <a:ext cx="1309" cy="638"/>
            </a:xfrm>
            <a:prstGeom prst="wedgeRoundRectCallout">
              <a:avLst>
                <a:gd name="adj1" fmla="val 82620"/>
                <a:gd name="adj2" fmla="val -2664"/>
                <a:gd name="adj3" fmla="val 16667"/>
              </a:avLst>
            </a:prstGeom>
            <a:solidFill>
              <a:schemeClr val="bg1"/>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430" name="文本框 429"/>
            <p:cNvSpPr txBox="1"/>
            <p:nvPr>
              <p:custDataLst>
                <p:tags r:id="rId158"/>
              </p:custDataLst>
            </p:nvPr>
          </p:nvSpPr>
          <p:spPr>
            <a:xfrm>
              <a:off x="1296" y="6656"/>
              <a:ext cx="1313" cy="483"/>
            </a:xfrm>
            <a:prstGeom prst="rect">
              <a:avLst/>
            </a:prstGeom>
            <a:noFill/>
          </p:spPr>
          <p:txBody>
            <a:bodyPr wrap="square" rtlCol="0">
              <a:spAutoFit/>
            </a:bodyPr>
            <a:p>
              <a:r>
                <a:rPr lang="en-US" altLang="zh-CN" sz="14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2027</a:t>
              </a:r>
              <a:r>
                <a:rPr lang="zh-CN" altLang="en-US" sz="14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年</a:t>
              </a:r>
              <a:endParaRPr lang="zh-CN" altLang="en-US" sz="14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sp>
        <p:nvSpPr>
          <p:cNvPr id="431" name="子陵职场PPT7"/>
          <p:cNvSpPr txBox="1"/>
          <p:nvPr>
            <p:custDataLst>
              <p:tags r:id="rId159"/>
            </p:custDataLst>
          </p:nvPr>
        </p:nvSpPr>
        <p:spPr>
          <a:xfrm>
            <a:off x="6198235" y="4961890"/>
            <a:ext cx="1670685" cy="305435"/>
          </a:xfrm>
          <a:prstGeom prst="rect">
            <a:avLst/>
          </a:prstGeom>
          <a:noFill/>
        </p:spPr>
        <p:txBody>
          <a:bodyPr wrap="square" lIns="0" tIns="0" rIns="0" bIns="0" rtlCol="0" anchor="b" anchorCtr="0">
            <a:noAutofit/>
          </a:bodyPr>
          <a:lstStyle/>
          <a:p>
            <a:pPr algn="ctr"/>
            <a:r>
              <a:rPr lang="zh-CN" altLang="en-US" sz="16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项目主导与积累</a:t>
            </a:r>
            <a:endParaRPr lang="zh-CN" altLang="en-US" sz="16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432" name="子陵职场PPT8"/>
          <p:cNvSpPr txBox="1"/>
          <p:nvPr>
            <p:custDataLst>
              <p:tags r:id="rId160"/>
            </p:custDataLst>
          </p:nvPr>
        </p:nvSpPr>
        <p:spPr>
          <a:xfrm>
            <a:off x="5869305" y="5241290"/>
            <a:ext cx="2328545" cy="1032510"/>
          </a:xfrm>
          <a:prstGeom prst="rect">
            <a:avLst/>
          </a:prstGeom>
          <a:noFill/>
        </p:spPr>
        <p:txBody>
          <a:bodyPr wrap="square" lIns="0" tIns="0" rIns="0" bIns="0" rtlCol="0" anchor="ctr" anchorCtr="0">
            <a:noAutofit/>
          </a:bodyPr>
          <a:lstStyle/>
          <a:p>
            <a:pPr marL="171450" indent="-171450" algn="just" fontAlgn="auto">
              <a:lnSpc>
                <a:spcPct val="140000"/>
              </a:lnSpc>
              <a:buFont typeface="微软雅黑" panose="020B0503020204020204" charset="-122"/>
              <a:buChar char="•"/>
            </a:pPr>
            <a:r>
              <a:rPr lang="zh-CN" altLang="en-US" sz="1000" kern="0" dirty="0">
                <a:ln>
                  <a:noFill/>
                  <a:prstDash val="sysDot"/>
                </a:ln>
                <a:solidFill>
                  <a:schemeClr val="tx2"/>
                </a:solidFill>
                <a:latin typeface="微软雅黑" panose="020B0503020204020204" charset="-122"/>
                <a:ea typeface="微软雅黑" panose="020B0503020204020204" charset="-122"/>
                <a:cs typeface="微软雅黑" panose="020B0503020204020204" charset="-122"/>
                <a:sym typeface="+mn-ea"/>
              </a:rPr>
              <a:t>主导或参与重要项目，负责项目的规划，积累项目经验。</a:t>
            </a:r>
            <a:endParaRPr lang="zh-CN" altLang="en-US" sz="1000" kern="0" dirty="0">
              <a:ln>
                <a:noFill/>
                <a:prstDash val="sysDot"/>
              </a:ln>
              <a:solidFill>
                <a:schemeClr val="tx2"/>
              </a:solidFill>
              <a:latin typeface="微软雅黑" panose="020B0503020204020204" charset="-122"/>
              <a:ea typeface="微软雅黑" panose="020B0503020204020204" charset="-122"/>
              <a:cs typeface="微软雅黑" panose="020B0503020204020204" charset="-122"/>
              <a:sym typeface="+mn-ea"/>
            </a:endParaRPr>
          </a:p>
          <a:p>
            <a:pPr marL="171450" indent="-171450" algn="just" fontAlgn="auto">
              <a:lnSpc>
                <a:spcPct val="140000"/>
              </a:lnSpc>
              <a:buFont typeface="微软雅黑" panose="020B0503020204020204" charset="-122"/>
              <a:buChar char="•"/>
            </a:pPr>
            <a:r>
              <a:rPr lang="zh-CN" altLang="en-US" sz="1000" kern="0" dirty="0">
                <a:ln>
                  <a:noFill/>
                  <a:prstDash val="sysDot"/>
                </a:ln>
                <a:solidFill>
                  <a:schemeClr val="tx2"/>
                </a:solidFill>
                <a:latin typeface="微软雅黑" panose="020B0503020204020204" charset="-122"/>
                <a:ea typeface="微软雅黑" panose="020B0503020204020204" charset="-122"/>
                <a:cs typeface="微软雅黑" panose="020B0503020204020204" charset="-122"/>
                <a:sym typeface="+mn-ea"/>
              </a:rPr>
              <a:t>通过项目成果展示、报告撰写等方式，总结项目经验，提升个人影响力。</a:t>
            </a:r>
            <a:endParaRPr lang="zh-CN" altLang="en-US" sz="1000" kern="0" dirty="0">
              <a:ln>
                <a:noFill/>
                <a:prstDash val="sysDot"/>
              </a:ln>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nvGrpSpPr>
          <p:cNvPr id="436" name="组合 435"/>
          <p:cNvGrpSpPr/>
          <p:nvPr>
            <p:custDataLst>
              <p:tags r:id="rId161"/>
            </p:custDataLst>
          </p:nvPr>
        </p:nvGrpSpPr>
        <p:grpSpPr>
          <a:xfrm>
            <a:off x="8271510" y="2728595"/>
            <a:ext cx="625475" cy="807085"/>
            <a:chOff x="10221" y="10970"/>
            <a:chExt cx="882" cy="909"/>
          </a:xfrm>
        </p:grpSpPr>
        <p:sp>
          <p:nvSpPr>
            <p:cNvPr id="437" name="任意多边形 436"/>
            <p:cNvSpPr/>
            <p:nvPr>
              <p:custDataLst>
                <p:tags r:id="rId162"/>
              </p:custDataLst>
            </p:nvPr>
          </p:nvSpPr>
          <p:spPr>
            <a:xfrm>
              <a:off x="10221" y="11088"/>
              <a:ext cx="882" cy="791"/>
            </a:xfrm>
            <a:custGeom>
              <a:avLst/>
              <a:gdLst/>
              <a:ahLst/>
              <a:cxnLst>
                <a:cxn ang="3">
                  <a:pos x="hc" y="t"/>
                </a:cxn>
                <a:cxn ang="cd2">
                  <a:pos x="l" y="vc"/>
                </a:cxn>
                <a:cxn ang="cd4">
                  <a:pos x="hc" y="b"/>
                </a:cxn>
                <a:cxn ang="0">
                  <a:pos x="r" y="vc"/>
                </a:cxn>
              </a:cxnLst>
              <a:rect l="l" t="t" r="r" b="b"/>
              <a:pathLst>
                <a:path w="882" h="791">
                  <a:moveTo>
                    <a:pt x="0" y="0"/>
                  </a:moveTo>
                  <a:lnTo>
                    <a:pt x="882" y="0"/>
                  </a:lnTo>
                  <a:lnTo>
                    <a:pt x="882" y="657"/>
                  </a:lnTo>
                  <a:lnTo>
                    <a:pt x="882" y="657"/>
                  </a:lnTo>
                  <a:cubicBezTo>
                    <a:pt x="883" y="732"/>
                    <a:pt x="659" y="793"/>
                    <a:pt x="441" y="791"/>
                  </a:cubicBezTo>
                  <a:cubicBezTo>
                    <a:pt x="198" y="794"/>
                    <a:pt x="0" y="724"/>
                    <a:pt x="0" y="657"/>
                  </a:cubicBezTo>
                  <a:lnTo>
                    <a:pt x="0" y="657"/>
                  </a:lnTo>
                  <a:lnTo>
                    <a:pt x="0" y="0"/>
                  </a:lnTo>
                  <a:close/>
                </a:path>
              </a:pathLst>
            </a:custGeom>
            <a:gradFill>
              <a:gsLst>
                <a:gs pos="0">
                  <a:schemeClr val="accent1">
                    <a:alpha val="90000"/>
                  </a:schemeClr>
                </a:gs>
                <a:gs pos="100000">
                  <a:schemeClr val="accent1">
                    <a:lumMod val="60000"/>
                    <a:lumOff val="40000"/>
                    <a:alpha val="90000"/>
                  </a:schemeClr>
                </a:gs>
              </a:gsLst>
              <a:lin ang="162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438" name="椭圆 437"/>
            <p:cNvSpPr/>
            <p:nvPr>
              <p:custDataLst>
                <p:tags r:id="rId163"/>
              </p:custDataLst>
            </p:nvPr>
          </p:nvSpPr>
          <p:spPr>
            <a:xfrm>
              <a:off x="10221" y="10970"/>
              <a:ext cx="882" cy="248"/>
            </a:xfrm>
            <a:prstGeom prst="ellipse">
              <a:avLst/>
            </a:prstGeom>
            <a:solidFill>
              <a:schemeClr val="accent1">
                <a:lumMod val="40000"/>
                <a:lumOff val="6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439" name="组合 438"/>
          <p:cNvGrpSpPr/>
          <p:nvPr>
            <p:custDataLst>
              <p:tags r:id="rId164"/>
            </p:custDataLst>
          </p:nvPr>
        </p:nvGrpSpPr>
        <p:grpSpPr>
          <a:xfrm flipH="1">
            <a:off x="9046210" y="2378710"/>
            <a:ext cx="842010" cy="405130"/>
            <a:chOff x="1283" y="6588"/>
            <a:chExt cx="1326" cy="638"/>
          </a:xfrm>
        </p:grpSpPr>
        <p:sp>
          <p:nvSpPr>
            <p:cNvPr id="440" name="圆角矩形标注 439"/>
            <p:cNvSpPr/>
            <p:nvPr>
              <p:custDataLst>
                <p:tags r:id="rId165"/>
              </p:custDataLst>
            </p:nvPr>
          </p:nvSpPr>
          <p:spPr>
            <a:xfrm>
              <a:off x="1283" y="6588"/>
              <a:ext cx="1309" cy="638"/>
            </a:xfrm>
            <a:prstGeom prst="wedgeRoundRectCallout">
              <a:avLst>
                <a:gd name="adj1" fmla="val 82614"/>
                <a:gd name="adj2" fmla="val 42500"/>
                <a:gd name="adj3" fmla="val 16667"/>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441" name="文本框 440"/>
            <p:cNvSpPr txBox="1"/>
            <p:nvPr>
              <p:custDataLst>
                <p:tags r:id="rId166"/>
              </p:custDataLst>
            </p:nvPr>
          </p:nvSpPr>
          <p:spPr>
            <a:xfrm>
              <a:off x="1296" y="6656"/>
              <a:ext cx="1313" cy="483"/>
            </a:xfrm>
            <a:prstGeom prst="rect">
              <a:avLst/>
            </a:prstGeom>
            <a:noFill/>
          </p:spPr>
          <p:txBody>
            <a:bodyPr wrap="square" rtlCol="0">
              <a:spAutoFit/>
            </a:bodyPr>
            <a:p>
              <a:r>
                <a:rPr lang="en-US" altLang="zh-CN" sz="1400" b="1">
                  <a:solidFill>
                    <a:schemeClr val="accent1"/>
                  </a:solidFill>
                  <a:latin typeface="微软雅黑" panose="020B0503020204020204" charset="-122"/>
                  <a:ea typeface="微软雅黑" panose="020B0503020204020204" charset="-122"/>
                  <a:cs typeface="微软雅黑" panose="020B0503020204020204" charset="-122"/>
                </a:rPr>
                <a:t>2028</a:t>
              </a: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年</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442" name="子陵职场PPT7"/>
          <p:cNvSpPr txBox="1"/>
          <p:nvPr>
            <p:custDataLst>
              <p:tags r:id="rId167"/>
            </p:custDataLst>
          </p:nvPr>
        </p:nvSpPr>
        <p:spPr>
          <a:xfrm>
            <a:off x="6972300" y="1272540"/>
            <a:ext cx="1877060" cy="305435"/>
          </a:xfrm>
          <a:prstGeom prst="rect">
            <a:avLst/>
          </a:prstGeom>
          <a:noFill/>
        </p:spPr>
        <p:txBody>
          <a:bodyPr wrap="square" lIns="0" tIns="0" rIns="0" bIns="0" rtlCol="0" anchor="b" anchorCtr="0">
            <a:noAutofit/>
          </a:bodyPr>
          <a:lstStyle/>
          <a:p>
            <a:pPr algn="ctr"/>
            <a:r>
              <a:rPr lang="zh-CN" altLang="en-US" sz="1600" b="1">
                <a:solidFill>
                  <a:schemeClr val="accent1"/>
                </a:solidFill>
                <a:latin typeface="微软雅黑" panose="020B0503020204020204" charset="-122"/>
                <a:ea typeface="微软雅黑" panose="020B0503020204020204" charset="-122"/>
                <a:cs typeface="微软雅黑" panose="020B0503020204020204" charset="-122"/>
              </a:rPr>
              <a:t>领导力与团队建设</a:t>
            </a:r>
            <a:endParaRPr lang="zh-CN" altLang="en-US" sz="16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43" name="子陵职场PPT8"/>
          <p:cNvSpPr txBox="1"/>
          <p:nvPr>
            <p:custDataLst>
              <p:tags r:id="rId168"/>
            </p:custDataLst>
          </p:nvPr>
        </p:nvSpPr>
        <p:spPr>
          <a:xfrm>
            <a:off x="6708775" y="1612900"/>
            <a:ext cx="2268855" cy="810260"/>
          </a:xfrm>
          <a:prstGeom prst="rect">
            <a:avLst/>
          </a:prstGeom>
          <a:noFill/>
        </p:spPr>
        <p:txBody>
          <a:bodyPr wrap="square" lIns="0" tIns="0" rIns="0" bIns="0" rtlCol="0">
            <a:noAutofit/>
          </a:bodyPr>
          <a:lstStyle/>
          <a:p>
            <a:pPr marL="171450" indent="-171450" algn="just" fontAlgn="auto">
              <a:lnSpc>
                <a:spcPct val="140000"/>
              </a:lnSpc>
              <a:buFont typeface="微软雅黑" panose="020B0503020204020204" charset="-122"/>
              <a:buChar char="•"/>
            </a:pPr>
            <a:r>
              <a:rPr lang="zh-CN" altLang="en-US" sz="1000" kern="0" dirty="0">
                <a:ln>
                  <a:noFill/>
                  <a:prstDash val="sysDot"/>
                </a:ln>
                <a:solidFill>
                  <a:schemeClr val="tx2"/>
                </a:solidFill>
                <a:latin typeface="微软雅黑" panose="020B0503020204020204" charset="-122"/>
                <a:ea typeface="微软雅黑" panose="020B0503020204020204" charset="-122"/>
                <a:cs typeface="微软雅黑" panose="020B0503020204020204" charset="-122"/>
                <a:sym typeface="+mn-ea"/>
              </a:rPr>
              <a:t>通过带领团队、指导新员工等方式，培养领导力。</a:t>
            </a:r>
            <a:endParaRPr lang="zh-CN" altLang="en-US" sz="1000" kern="0" dirty="0">
              <a:ln>
                <a:noFill/>
                <a:prstDash val="sysDot"/>
              </a:ln>
              <a:solidFill>
                <a:schemeClr val="tx2"/>
              </a:solidFill>
              <a:latin typeface="微软雅黑" panose="020B0503020204020204" charset="-122"/>
              <a:ea typeface="微软雅黑" panose="020B0503020204020204" charset="-122"/>
              <a:cs typeface="微软雅黑" panose="020B0503020204020204" charset="-122"/>
              <a:sym typeface="+mn-ea"/>
            </a:endParaRPr>
          </a:p>
          <a:p>
            <a:pPr marL="171450" indent="-171450" algn="just" fontAlgn="auto">
              <a:lnSpc>
                <a:spcPct val="140000"/>
              </a:lnSpc>
              <a:buFont typeface="微软雅黑" panose="020B0503020204020204" charset="-122"/>
              <a:buChar char="•"/>
            </a:pPr>
            <a:r>
              <a:rPr lang="zh-CN" altLang="en-US" sz="1000" kern="0" dirty="0">
                <a:ln>
                  <a:noFill/>
                  <a:prstDash val="sysDot"/>
                </a:ln>
                <a:solidFill>
                  <a:schemeClr val="tx2"/>
                </a:solidFill>
                <a:latin typeface="微软雅黑" panose="020B0503020204020204" charset="-122"/>
                <a:ea typeface="微软雅黑" panose="020B0503020204020204" charset="-122"/>
                <a:cs typeface="微软雅黑" panose="020B0503020204020204" charset="-122"/>
                <a:sym typeface="+mn-ea"/>
              </a:rPr>
              <a:t>参与或主导团队文化建设，营造积极向上的工作氛围，增强团队凝聚力。</a:t>
            </a:r>
            <a:endParaRPr lang="zh-CN" altLang="en-US" sz="1000" kern="0" dirty="0">
              <a:ln>
                <a:noFill/>
                <a:prstDash val="sysDot"/>
              </a:ln>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nvGrpSpPr>
          <p:cNvPr id="447" name="组合 446"/>
          <p:cNvGrpSpPr/>
          <p:nvPr>
            <p:custDataLst>
              <p:tags r:id="rId169"/>
            </p:custDataLst>
          </p:nvPr>
        </p:nvGrpSpPr>
        <p:grpSpPr>
          <a:xfrm>
            <a:off x="10864850" y="1844675"/>
            <a:ext cx="490220" cy="843280"/>
            <a:chOff x="10221" y="10970"/>
            <a:chExt cx="882" cy="909"/>
          </a:xfrm>
        </p:grpSpPr>
        <p:sp>
          <p:nvSpPr>
            <p:cNvPr id="448" name="任意多边形 447"/>
            <p:cNvSpPr/>
            <p:nvPr>
              <p:custDataLst>
                <p:tags r:id="rId170"/>
              </p:custDataLst>
            </p:nvPr>
          </p:nvSpPr>
          <p:spPr>
            <a:xfrm>
              <a:off x="10221" y="11088"/>
              <a:ext cx="882" cy="791"/>
            </a:xfrm>
            <a:custGeom>
              <a:avLst/>
              <a:gdLst/>
              <a:ahLst/>
              <a:cxnLst>
                <a:cxn ang="3">
                  <a:pos x="hc" y="t"/>
                </a:cxn>
                <a:cxn ang="cd2">
                  <a:pos x="l" y="vc"/>
                </a:cxn>
                <a:cxn ang="cd4">
                  <a:pos x="hc" y="b"/>
                </a:cxn>
                <a:cxn ang="0">
                  <a:pos x="r" y="vc"/>
                </a:cxn>
              </a:cxnLst>
              <a:rect l="l" t="t" r="r" b="b"/>
              <a:pathLst>
                <a:path w="882" h="791">
                  <a:moveTo>
                    <a:pt x="0" y="0"/>
                  </a:moveTo>
                  <a:lnTo>
                    <a:pt x="882" y="0"/>
                  </a:lnTo>
                  <a:lnTo>
                    <a:pt x="882" y="657"/>
                  </a:lnTo>
                  <a:lnTo>
                    <a:pt x="882" y="657"/>
                  </a:lnTo>
                  <a:cubicBezTo>
                    <a:pt x="883" y="732"/>
                    <a:pt x="659" y="793"/>
                    <a:pt x="441" y="791"/>
                  </a:cubicBezTo>
                  <a:cubicBezTo>
                    <a:pt x="198" y="794"/>
                    <a:pt x="0" y="724"/>
                    <a:pt x="0" y="657"/>
                  </a:cubicBezTo>
                  <a:lnTo>
                    <a:pt x="0" y="657"/>
                  </a:lnTo>
                  <a:lnTo>
                    <a:pt x="0" y="0"/>
                  </a:lnTo>
                  <a:close/>
                </a:path>
              </a:pathLst>
            </a:custGeom>
            <a:gradFill>
              <a:gsLst>
                <a:gs pos="0">
                  <a:schemeClr val="accent1">
                    <a:alpha val="90000"/>
                  </a:schemeClr>
                </a:gs>
                <a:gs pos="100000">
                  <a:schemeClr val="accent1">
                    <a:lumMod val="60000"/>
                    <a:lumOff val="40000"/>
                    <a:alpha val="90000"/>
                  </a:schemeClr>
                </a:gs>
              </a:gsLst>
              <a:lin ang="162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en-US" altLang="zh-CN">
                <a:latin typeface="微软雅黑" panose="020B0503020204020204" charset="-122"/>
                <a:ea typeface="微软雅黑" panose="020B0503020204020204" charset="-122"/>
                <a:cs typeface="微软雅黑" panose="020B0503020204020204" charset="-122"/>
              </a:endParaRPr>
            </a:p>
          </p:txBody>
        </p:sp>
        <p:sp>
          <p:nvSpPr>
            <p:cNvPr id="449" name="椭圆 448"/>
            <p:cNvSpPr/>
            <p:nvPr>
              <p:custDataLst>
                <p:tags r:id="rId171"/>
              </p:custDataLst>
            </p:nvPr>
          </p:nvSpPr>
          <p:spPr>
            <a:xfrm>
              <a:off x="10221" y="10970"/>
              <a:ext cx="882" cy="190"/>
            </a:xfrm>
            <a:prstGeom prst="ellipse">
              <a:avLst/>
            </a:prstGeom>
            <a:solidFill>
              <a:schemeClr val="accent1">
                <a:lumMod val="40000"/>
                <a:lumOff val="6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sp>
        <p:nvSpPr>
          <p:cNvPr id="450" name="子陵职场PPT7"/>
          <p:cNvSpPr txBox="1"/>
          <p:nvPr>
            <p:custDataLst>
              <p:tags r:id="rId172"/>
            </p:custDataLst>
          </p:nvPr>
        </p:nvSpPr>
        <p:spPr>
          <a:xfrm>
            <a:off x="10198418" y="3493135"/>
            <a:ext cx="1426210" cy="305435"/>
          </a:xfrm>
          <a:prstGeom prst="rect">
            <a:avLst/>
          </a:prstGeom>
          <a:noFill/>
        </p:spPr>
        <p:txBody>
          <a:bodyPr wrap="square" lIns="0" tIns="0" rIns="0" bIns="0" rtlCol="0" anchor="b" anchorCtr="0">
            <a:noAutofit/>
          </a:bodyPr>
          <a:lstStyle/>
          <a:p>
            <a:pPr algn="ctr"/>
            <a:r>
              <a:rPr lang="zh-CN" altLang="en-US"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战略规划发展</a:t>
            </a:r>
            <a:endParaRPr lang="zh-CN" altLang="en-US"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451" name="子陵职场PPT8"/>
          <p:cNvSpPr txBox="1"/>
          <p:nvPr>
            <p:custDataLst>
              <p:tags r:id="rId173"/>
            </p:custDataLst>
          </p:nvPr>
        </p:nvSpPr>
        <p:spPr>
          <a:xfrm>
            <a:off x="9777095" y="3833495"/>
            <a:ext cx="2268855" cy="810260"/>
          </a:xfrm>
          <a:prstGeom prst="rect">
            <a:avLst/>
          </a:prstGeom>
          <a:noFill/>
        </p:spPr>
        <p:txBody>
          <a:bodyPr wrap="square" lIns="0" tIns="0" rIns="0" bIns="0" rtlCol="0">
            <a:noAutofit/>
          </a:bodyPr>
          <a:lstStyle/>
          <a:p>
            <a:pPr marL="171450" indent="-171450" algn="just" fontAlgn="auto">
              <a:lnSpc>
                <a:spcPct val="140000"/>
              </a:lnSpc>
              <a:buFont typeface="微软雅黑" panose="020B0503020204020204" charset="-122"/>
              <a:buChar char="•"/>
            </a:pPr>
            <a:r>
              <a:rPr lang="zh-CN" altLang="en-US" sz="1000" kern="0" dirty="0">
                <a:ln>
                  <a:noFill/>
                  <a:prstDash val="sysDot"/>
                </a:ln>
                <a:solidFill>
                  <a:schemeClr val="tx2"/>
                </a:solidFill>
                <a:latin typeface="微软雅黑" panose="020B0503020204020204" charset="-122"/>
                <a:ea typeface="微软雅黑" panose="020B0503020204020204" charset="-122"/>
                <a:cs typeface="微软雅黑" panose="020B0503020204020204" charset="-122"/>
                <a:sym typeface="+mn-ea"/>
              </a:rPr>
              <a:t>结合公司战略方向，制定未来一到两年的职业发展规划。</a:t>
            </a:r>
            <a:endParaRPr lang="zh-CN" altLang="en-US" sz="1000" kern="0" dirty="0">
              <a:ln>
                <a:noFill/>
                <a:prstDash val="sysDot"/>
              </a:ln>
              <a:solidFill>
                <a:schemeClr val="tx2"/>
              </a:solidFill>
              <a:latin typeface="微软雅黑" panose="020B0503020204020204" charset="-122"/>
              <a:ea typeface="微软雅黑" panose="020B0503020204020204" charset="-122"/>
              <a:cs typeface="微软雅黑" panose="020B0503020204020204" charset="-122"/>
              <a:sym typeface="+mn-ea"/>
            </a:endParaRPr>
          </a:p>
          <a:p>
            <a:pPr marL="171450" indent="-171450" algn="just" fontAlgn="auto">
              <a:lnSpc>
                <a:spcPct val="140000"/>
              </a:lnSpc>
              <a:buFont typeface="微软雅黑" panose="020B0503020204020204" charset="-122"/>
              <a:buChar char="•"/>
            </a:pPr>
            <a:r>
              <a:rPr lang="zh-CN" altLang="en-US" sz="1000" kern="0" dirty="0">
                <a:ln>
                  <a:noFill/>
                  <a:prstDash val="sysDot"/>
                </a:ln>
                <a:solidFill>
                  <a:schemeClr val="tx2"/>
                </a:solidFill>
                <a:latin typeface="微软雅黑" panose="020B0503020204020204" charset="-122"/>
                <a:ea typeface="微软雅黑" panose="020B0503020204020204" charset="-122"/>
                <a:cs typeface="微软雅黑" panose="020B0503020204020204" charset="-122"/>
                <a:sym typeface="+mn-ea"/>
              </a:rPr>
              <a:t>通过参与高层决策、跨部门协作等方式，为晋升至更高职位做好准备。</a:t>
            </a:r>
            <a:endParaRPr lang="zh-CN" altLang="en-US" sz="1000" kern="0" dirty="0">
              <a:ln>
                <a:noFill/>
                <a:prstDash val="sysDot"/>
              </a:ln>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nvGrpSpPr>
          <p:cNvPr id="452" name="组合 451"/>
          <p:cNvGrpSpPr/>
          <p:nvPr>
            <p:custDataLst>
              <p:tags r:id="rId174"/>
            </p:custDataLst>
          </p:nvPr>
        </p:nvGrpSpPr>
        <p:grpSpPr>
          <a:xfrm>
            <a:off x="9695815" y="1624330"/>
            <a:ext cx="842010" cy="405130"/>
            <a:chOff x="1283" y="6588"/>
            <a:chExt cx="1326" cy="638"/>
          </a:xfrm>
        </p:grpSpPr>
        <p:sp>
          <p:nvSpPr>
            <p:cNvPr id="453" name="圆角矩形标注 452"/>
            <p:cNvSpPr/>
            <p:nvPr>
              <p:custDataLst>
                <p:tags r:id="rId175"/>
              </p:custDataLst>
            </p:nvPr>
          </p:nvSpPr>
          <p:spPr>
            <a:xfrm>
              <a:off x="1283" y="6588"/>
              <a:ext cx="1309" cy="638"/>
            </a:xfrm>
            <a:prstGeom prst="wedgeRoundRectCallout">
              <a:avLst>
                <a:gd name="adj1" fmla="val 82614"/>
                <a:gd name="adj2" fmla="val 42500"/>
                <a:gd name="adj3" fmla="val 16667"/>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454" name="文本框 453"/>
            <p:cNvSpPr txBox="1"/>
            <p:nvPr>
              <p:custDataLst>
                <p:tags r:id="rId176"/>
              </p:custDataLst>
            </p:nvPr>
          </p:nvSpPr>
          <p:spPr>
            <a:xfrm>
              <a:off x="1296" y="6656"/>
              <a:ext cx="1313" cy="483"/>
            </a:xfrm>
            <a:prstGeom prst="rect">
              <a:avLst/>
            </a:prstGeom>
            <a:noFill/>
          </p:spPr>
          <p:txBody>
            <a:bodyPr wrap="square" rtlCol="0">
              <a:spAutoFit/>
            </a:bodyPr>
            <a:p>
              <a:r>
                <a:rPr lang="en-US" alt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2029</a:t>
              </a:r>
              <a:r>
                <a:rPr lang="zh-CN" alt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年</a:t>
              </a:r>
              <a:endParaRPr lang="zh-CN" alt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屋顶资源管理"/>
          <p:cNvPicPr>
            <a:picLocks noChangeAspect="1"/>
          </p:cNvPicPr>
          <p:nvPr/>
        </p:nvPicPr>
        <p:blipFill>
          <a:blip r:embed="rId177">
            <a:extLst>
              <a:ext uri="{96DAC541-7B7A-43D3-8B79-37D633B846F1}">
                <asvg:svgBlip xmlns:asvg="http://schemas.microsoft.com/office/drawing/2016/SVG/main" r:embed="rId178"/>
              </a:ext>
            </a:extLst>
          </a:blip>
          <a:stretch>
            <a:fillRect/>
          </a:stretch>
        </p:blipFill>
        <p:spPr>
          <a:xfrm>
            <a:off x="355600" y="186055"/>
            <a:ext cx="549910" cy="549910"/>
          </a:xfrm>
          <a:prstGeom prst="rect">
            <a:avLst/>
          </a:prstGeom>
        </p:spPr>
      </p:pic>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10" name="图片 9"/>
            <p:cNvPicPr>
              <a:picLocks noChangeAspect="1"/>
            </p:cNvPicPr>
            <p:nvPr userDrawn="1"/>
          </p:nvPicPr>
          <p:blipFill>
            <a:blip r:embed="rId179"/>
            <a:srcRect l="17002" t="-1765" r="56499" b="-1176"/>
            <a:stretch>
              <a:fillRect/>
            </a:stretch>
          </p:blipFill>
          <p:spPr>
            <a:xfrm>
              <a:off x="13761" y="549"/>
              <a:ext cx="1582" cy="525"/>
            </a:xfrm>
            <a:prstGeom prst="rect">
              <a:avLst/>
            </a:prstGeom>
          </p:spPr>
        </p:pic>
        <p:sp>
          <p:nvSpPr>
            <p:cNvPr id="11" name="文本框 10"/>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8298"/>
            <a:ext cx="738251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互联网产品研发创新规划</a:t>
            </a:r>
            <a:endParaRPr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3" name="图片 2"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4" name="Group 2"/>
          <p:cNvGrpSpPr/>
          <p:nvPr/>
        </p:nvGrpSpPr>
        <p:grpSpPr>
          <a:xfrm rot="0">
            <a:off x="3377565" y="2427605"/>
            <a:ext cx="6146165" cy="4436745"/>
            <a:chOff x="3412706" y="2723052"/>
            <a:chExt cx="5728758" cy="4134948"/>
          </a:xfrm>
        </p:grpSpPr>
        <p:sp>
          <p:nvSpPr>
            <p:cNvPr id="30" name="Freeform 29"/>
            <p:cNvSpPr/>
            <p:nvPr/>
          </p:nvSpPr>
          <p:spPr bwMode="auto">
            <a:xfrm>
              <a:off x="3423821" y="2768607"/>
              <a:ext cx="5689333" cy="4089393"/>
            </a:xfrm>
            <a:custGeom>
              <a:avLst/>
              <a:gdLst>
                <a:gd name="connsiteX0" fmla="*/ 2829517 w 6198260"/>
                <a:gd name="connsiteY0" fmla="*/ 0 h 4455201"/>
                <a:gd name="connsiteX1" fmla="*/ 2862597 w 6198260"/>
                <a:gd name="connsiteY1" fmla="*/ 0 h 4455201"/>
                <a:gd name="connsiteX2" fmla="*/ 2772177 w 6198260"/>
                <a:gd name="connsiteY2" fmla="*/ 303091 h 4455201"/>
                <a:gd name="connsiteX3" fmla="*/ 2478862 w 6198260"/>
                <a:gd name="connsiteY3" fmla="*/ 502956 h 4455201"/>
                <a:gd name="connsiteX4" fmla="*/ 2332205 w 6198260"/>
                <a:gd name="connsiteY4" fmla="*/ 574336 h 4455201"/>
                <a:gd name="connsiteX5" fmla="*/ 2255017 w 6198260"/>
                <a:gd name="connsiteY5" fmla="*/ 635833 h 4455201"/>
                <a:gd name="connsiteX6" fmla="*/ 2557153 w 6198260"/>
                <a:gd name="connsiteY6" fmla="*/ 786280 h 4455201"/>
                <a:gd name="connsiteX7" fmla="*/ 3074313 w 6198260"/>
                <a:gd name="connsiteY7" fmla="*/ 854366 h 4455201"/>
                <a:gd name="connsiteX8" fmla="*/ 3979620 w 6198260"/>
                <a:gd name="connsiteY8" fmla="*/ 1032268 h 4455201"/>
                <a:gd name="connsiteX9" fmla="*/ 4621384 w 6198260"/>
                <a:gd name="connsiteY9" fmla="*/ 1486905 h 4455201"/>
                <a:gd name="connsiteX10" fmla="*/ 4549709 w 6198260"/>
                <a:gd name="connsiteY10" fmla="*/ 2015118 h 4455201"/>
                <a:gd name="connsiteX11" fmla="*/ 4331377 w 6198260"/>
                <a:gd name="connsiteY11" fmla="*/ 2172154 h 4455201"/>
                <a:gd name="connsiteX12" fmla="*/ 4014906 w 6198260"/>
                <a:gd name="connsiteY12" fmla="*/ 2280872 h 4455201"/>
                <a:gd name="connsiteX13" fmla="*/ 3289337 w 6198260"/>
                <a:gd name="connsiteY13" fmla="*/ 2399473 h 4455201"/>
                <a:gd name="connsiteX14" fmla="*/ 2618903 w 6198260"/>
                <a:gd name="connsiteY14" fmla="*/ 2452184 h 4455201"/>
                <a:gd name="connsiteX15" fmla="*/ 2205396 w 6198260"/>
                <a:gd name="connsiteY15" fmla="*/ 2485129 h 4455201"/>
                <a:gd name="connsiteX16" fmla="*/ 1848125 w 6198260"/>
                <a:gd name="connsiteY16" fmla="*/ 2545528 h 4455201"/>
                <a:gd name="connsiteX17" fmla="*/ 1721316 w 6198260"/>
                <a:gd name="connsiteY17" fmla="*/ 2590552 h 4455201"/>
                <a:gd name="connsiteX18" fmla="*/ 1657360 w 6198260"/>
                <a:gd name="connsiteY18" fmla="*/ 2641067 h 4455201"/>
                <a:gd name="connsiteX19" fmla="*/ 1730137 w 6198260"/>
                <a:gd name="connsiteY19" fmla="*/ 2728920 h 4455201"/>
                <a:gd name="connsiteX20" fmla="*/ 1981550 w 6198260"/>
                <a:gd name="connsiteY20" fmla="*/ 2798104 h 4455201"/>
                <a:gd name="connsiteX21" fmla="*/ 2296919 w 6198260"/>
                <a:gd name="connsiteY21" fmla="*/ 2847521 h 4455201"/>
                <a:gd name="connsiteX22" fmla="*/ 2709324 w 6198260"/>
                <a:gd name="connsiteY22" fmla="*/ 2889251 h 4455201"/>
                <a:gd name="connsiteX23" fmla="*/ 3310288 w 6198260"/>
                <a:gd name="connsiteY23" fmla="*/ 2971613 h 4455201"/>
                <a:gd name="connsiteX24" fmla="*/ 4004982 w 6198260"/>
                <a:gd name="connsiteY24" fmla="*/ 3088017 h 4455201"/>
                <a:gd name="connsiteX25" fmla="*/ 4427311 w 6198260"/>
                <a:gd name="connsiteY25" fmla="*/ 3185753 h 4455201"/>
                <a:gd name="connsiteX26" fmla="*/ 4899261 w 6198260"/>
                <a:gd name="connsiteY26" fmla="*/ 3330710 h 4455201"/>
                <a:gd name="connsiteX27" fmla="*/ 5455016 w 6198260"/>
                <a:gd name="connsiteY27" fmla="*/ 3588777 h 4455201"/>
                <a:gd name="connsiteX28" fmla="*/ 5944608 w 6198260"/>
                <a:gd name="connsiteY28" fmla="*/ 3989604 h 4455201"/>
                <a:gd name="connsiteX29" fmla="*/ 6186821 w 6198260"/>
                <a:gd name="connsiteY29" fmla="*/ 4412429 h 4455201"/>
                <a:gd name="connsiteX30" fmla="*/ 6198260 w 6198260"/>
                <a:gd name="connsiteY30" fmla="*/ 4455201 h 4455201"/>
                <a:gd name="connsiteX31" fmla="*/ 2876491 w 6198260"/>
                <a:gd name="connsiteY31" fmla="*/ 4455201 h 4455201"/>
                <a:gd name="connsiteX32" fmla="*/ 2874727 w 6198260"/>
                <a:gd name="connsiteY32" fmla="*/ 4450556 h 4455201"/>
                <a:gd name="connsiteX33" fmla="*/ 2784307 w 6198260"/>
                <a:gd name="connsiteY33" fmla="*/ 4345407 h 4455201"/>
                <a:gd name="connsiteX34" fmla="*/ 2568180 w 6198260"/>
                <a:gd name="connsiteY34" fmla="*/ 4229002 h 4455201"/>
                <a:gd name="connsiteX35" fmla="*/ 2027863 w 6198260"/>
                <a:gd name="connsiteY35" fmla="*/ 4055494 h 4455201"/>
                <a:gd name="connsiteX36" fmla="*/ 1408153 w 6198260"/>
                <a:gd name="connsiteY36" fmla="*/ 3883083 h 4455201"/>
                <a:gd name="connsiteX37" fmla="*/ 832550 w 6198260"/>
                <a:gd name="connsiteY37" fmla="*/ 3695298 h 4455201"/>
                <a:gd name="connsiteX38" fmla="*/ 276795 w 6198260"/>
                <a:gd name="connsiteY38" fmla="*/ 3385618 h 4455201"/>
                <a:gd name="connsiteX39" fmla="*/ 34204 w 6198260"/>
                <a:gd name="connsiteY39" fmla="*/ 3046287 h 4455201"/>
                <a:gd name="connsiteX40" fmla="*/ 31999 w 6198260"/>
                <a:gd name="connsiteY40" fmla="*/ 2678405 h 4455201"/>
                <a:gd name="connsiteX41" fmla="*/ 329724 w 6198260"/>
                <a:gd name="connsiteY41" fmla="*/ 2319307 h 4455201"/>
                <a:gd name="connsiteX42" fmla="*/ 954948 w 6198260"/>
                <a:gd name="connsiteY42" fmla="*/ 2023903 h 4455201"/>
                <a:gd name="connsiteX43" fmla="*/ 1609944 w 6198260"/>
                <a:gd name="connsiteY43" fmla="*/ 1869063 h 4455201"/>
                <a:gd name="connsiteX44" fmla="*/ 2326691 w 6198260"/>
                <a:gd name="connsiteY44" fmla="*/ 1764738 h 4455201"/>
                <a:gd name="connsiteX45" fmla="*/ 2860392 w 6198260"/>
                <a:gd name="connsiteY45" fmla="*/ 1717518 h 4455201"/>
                <a:gd name="connsiteX46" fmla="*/ 3434892 w 6198260"/>
                <a:gd name="connsiteY46" fmla="*/ 1682377 h 4455201"/>
                <a:gd name="connsiteX47" fmla="*/ 3759082 w 6198260"/>
                <a:gd name="connsiteY47" fmla="*/ 1596720 h 4455201"/>
                <a:gd name="connsiteX48" fmla="*/ 3828552 w 6198260"/>
                <a:gd name="connsiteY48" fmla="*/ 1514359 h 4455201"/>
                <a:gd name="connsiteX49" fmla="*/ 3760185 w 6198260"/>
                <a:gd name="connsiteY49" fmla="*/ 1418819 h 4455201"/>
                <a:gd name="connsiteX50" fmla="*/ 3485616 w 6198260"/>
                <a:gd name="connsiteY50" fmla="*/ 1315592 h 4455201"/>
                <a:gd name="connsiteX51" fmla="*/ 3129448 w 6198260"/>
                <a:gd name="connsiteY51" fmla="*/ 1244212 h 4455201"/>
                <a:gd name="connsiteX52" fmla="*/ 2406085 w 6198260"/>
                <a:gd name="connsiteY52" fmla="*/ 1097059 h 4455201"/>
                <a:gd name="connsiteX53" fmla="*/ 2053225 w 6198260"/>
                <a:gd name="connsiteY53" fmla="*/ 975163 h 4455201"/>
                <a:gd name="connsiteX54" fmla="*/ 1835995 w 6198260"/>
                <a:gd name="connsiteY54" fmla="*/ 849974 h 4455201"/>
                <a:gd name="connsiteX55" fmla="*/ 1759910 w 6198260"/>
                <a:gd name="connsiteY55" fmla="*/ 725882 h 4455201"/>
                <a:gd name="connsiteX56" fmla="*/ 1815044 w 6198260"/>
                <a:gd name="connsiteY56" fmla="*/ 593005 h 4455201"/>
                <a:gd name="connsiteX57" fmla="*/ 2031171 w 6198260"/>
                <a:gd name="connsiteY57" fmla="*/ 459030 h 4455201"/>
                <a:gd name="connsiteX58" fmla="*/ 2377415 w 6198260"/>
                <a:gd name="connsiteY58" fmla="*/ 337134 h 4455201"/>
                <a:gd name="connsiteX59" fmla="*/ 2620006 w 6198260"/>
                <a:gd name="connsiteY59" fmla="*/ 232809 h 4455201"/>
                <a:gd name="connsiteX60" fmla="*/ 2761150 w 6198260"/>
                <a:gd name="connsiteY60" fmla="*/ 126288 h 4455201"/>
                <a:gd name="connsiteX61" fmla="*/ 2829517 w 6198260"/>
                <a:gd name="connsiteY61" fmla="*/ 0 h 4455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6198260" h="4455201">
                  <a:moveTo>
                    <a:pt x="2829517" y="0"/>
                  </a:moveTo>
                  <a:lnTo>
                    <a:pt x="2862597" y="0"/>
                  </a:lnTo>
                  <a:cubicBezTo>
                    <a:pt x="2889062" y="113110"/>
                    <a:pt x="2848262" y="219632"/>
                    <a:pt x="2772177" y="303091"/>
                  </a:cubicBezTo>
                  <a:cubicBezTo>
                    <a:pt x="2690578" y="389846"/>
                    <a:pt x="2584720" y="451343"/>
                    <a:pt x="2478862" y="502956"/>
                  </a:cubicBezTo>
                  <a:cubicBezTo>
                    <a:pt x="2430344" y="527115"/>
                    <a:pt x="2379620" y="547980"/>
                    <a:pt x="2332205" y="574336"/>
                  </a:cubicBezTo>
                  <a:cubicBezTo>
                    <a:pt x="2304637" y="589710"/>
                    <a:pt x="2271557" y="608379"/>
                    <a:pt x="2255017" y="635833"/>
                  </a:cubicBezTo>
                  <a:cubicBezTo>
                    <a:pt x="2189958" y="737962"/>
                    <a:pt x="2511943" y="778593"/>
                    <a:pt x="2557153" y="786280"/>
                  </a:cubicBezTo>
                  <a:cubicBezTo>
                    <a:pt x="2729172" y="813734"/>
                    <a:pt x="2902294" y="829109"/>
                    <a:pt x="3074313" y="854366"/>
                  </a:cubicBezTo>
                  <a:cubicBezTo>
                    <a:pt x="3380860" y="898292"/>
                    <a:pt x="3684099" y="937826"/>
                    <a:pt x="3979620" y="1032268"/>
                  </a:cubicBezTo>
                  <a:cubicBezTo>
                    <a:pt x="4220006" y="1110237"/>
                    <a:pt x="4498986" y="1246408"/>
                    <a:pt x="4621384" y="1486905"/>
                  </a:cubicBezTo>
                  <a:cubicBezTo>
                    <a:pt x="4707394" y="1658217"/>
                    <a:pt x="4672108" y="1870161"/>
                    <a:pt x="4549709" y="2015118"/>
                  </a:cubicBezTo>
                  <a:cubicBezTo>
                    <a:pt x="4491267" y="2085400"/>
                    <a:pt x="4411873" y="2133719"/>
                    <a:pt x="4331377" y="2172154"/>
                  </a:cubicBezTo>
                  <a:cubicBezTo>
                    <a:pt x="4229930" y="2219375"/>
                    <a:pt x="4122969" y="2253418"/>
                    <a:pt x="4014906" y="2280872"/>
                  </a:cubicBezTo>
                  <a:cubicBezTo>
                    <a:pt x="3777828" y="2342369"/>
                    <a:pt x="3533031" y="2375313"/>
                    <a:pt x="3289337" y="2399473"/>
                  </a:cubicBezTo>
                  <a:cubicBezTo>
                    <a:pt x="3066595" y="2422534"/>
                    <a:pt x="2842749" y="2439007"/>
                    <a:pt x="2618903" y="2452184"/>
                  </a:cubicBezTo>
                  <a:cubicBezTo>
                    <a:pt x="2481067" y="2460970"/>
                    <a:pt x="2343232" y="2470853"/>
                    <a:pt x="2205396" y="2485129"/>
                  </a:cubicBezTo>
                  <a:cubicBezTo>
                    <a:pt x="2085203" y="2498307"/>
                    <a:pt x="1965010" y="2513681"/>
                    <a:pt x="1848125" y="2545528"/>
                  </a:cubicBezTo>
                  <a:cubicBezTo>
                    <a:pt x="1805120" y="2556509"/>
                    <a:pt x="1762115" y="2570785"/>
                    <a:pt x="1721316" y="2590552"/>
                  </a:cubicBezTo>
                  <a:cubicBezTo>
                    <a:pt x="1699262" y="2602632"/>
                    <a:pt x="1669490" y="2616908"/>
                    <a:pt x="1657360" y="2641067"/>
                  </a:cubicBezTo>
                  <a:cubicBezTo>
                    <a:pt x="1634204" y="2684994"/>
                    <a:pt x="1700365" y="2715742"/>
                    <a:pt x="1730137" y="2728920"/>
                  </a:cubicBezTo>
                  <a:cubicBezTo>
                    <a:pt x="1809531" y="2764061"/>
                    <a:pt x="1896643" y="2781632"/>
                    <a:pt x="1981550" y="2798104"/>
                  </a:cubicBezTo>
                  <a:cubicBezTo>
                    <a:pt x="2086305" y="2818969"/>
                    <a:pt x="2191061" y="2834343"/>
                    <a:pt x="2296919" y="2847521"/>
                  </a:cubicBezTo>
                  <a:cubicBezTo>
                    <a:pt x="2434755" y="2863993"/>
                    <a:pt x="2572591" y="2871680"/>
                    <a:pt x="2709324" y="2889251"/>
                  </a:cubicBezTo>
                  <a:cubicBezTo>
                    <a:pt x="2910013" y="2913410"/>
                    <a:pt x="3109599" y="2941962"/>
                    <a:pt x="3310288" y="2971613"/>
                  </a:cubicBezTo>
                  <a:cubicBezTo>
                    <a:pt x="3541853" y="3006754"/>
                    <a:pt x="3773417" y="3044091"/>
                    <a:pt x="4004982" y="3088017"/>
                  </a:cubicBezTo>
                  <a:cubicBezTo>
                    <a:pt x="4146126" y="3115471"/>
                    <a:pt x="4287270" y="3149514"/>
                    <a:pt x="4427311" y="3185753"/>
                  </a:cubicBezTo>
                  <a:cubicBezTo>
                    <a:pt x="4586098" y="3227483"/>
                    <a:pt x="4743782" y="3273606"/>
                    <a:pt x="4899261" y="3330710"/>
                  </a:cubicBezTo>
                  <a:cubicBezTo>
                    <a:pt x="5091129" y="3399894"/>
                    <a:pt x="5278586" y="3484452"/>
                    <a:pt x="5455016" y="3588777"/>
                  </a:cubicBezTo>
                  <a:cubicBezTo>
                    <a:pt x="5635856" y="3696396"/>
                    <a:pt x="5806772" y="3828175"/>
                    <a:pt x="5944608" y="3989604"/>
                  </a:cubicBezTo>
                  <a:cubicBezTo>
                    <a:pt x="6050466" y="4114794"/>
                    <a:pt x="6133995" y="4257898"/>
                    <a:pt x="6186821" y="4412429"/>
                  </a:cubicBezTo>
                  <a:lnTo>
                    <a:pt x="6198260" y="4455201"/>
                  </a:lnTo>
                  <a:lnTo>
                    <a:pt x="2876491" y="4455201"/>
                  </a:lnTo>
                  <a:lnTo>
                    <a:pt x="2874727" y="4450556"/>
                  </a:lnTo>
                  <a:cubicBezTo>
                    <a:pt x="2854603" y="4409924"/>
                    <a:pt x="2825106" y="4371763"/>
                    <a:pt x="2784307" y="4345407"/>
                  </a:cubicBezTo>
                  <a:cubicBezTo>
                    <a:pt x="2693886" y="4286107"/>
                    <a:pt x="2667422" y="4269634"/>
                    <a:pt x="2568180" y="4229002"/>
                  </a:cubicBezTo>
                  <a:cubicBezTo>
                    <a:pt x="2386236" y="4154328"/>
                    <a:pt x="2216422" y="4109303"/>
                    <a:pt x="2027863" y="4055494"/>
                  </a:cubicBezTo>
                  <a:cubicBezTo>
                    <a:pt x="1821660" y="3996193"/>
                    <a:pt x="1614355" y="3941285"/>
                    <a:pt x="1408153" y="3883083"/>
                  </a:cubicBezTo>
                  <a:cubicBezTo>
                    <a:pt x="1212977" y="3827077"/>
                    <a:pt x="1022212" y="3765580"/>
                    <a:pt x="832550" y="3695298"/>
                  </a:cubicBezTo>
                  <a:cubicBezTo>
                    <a:pt x="631861" y="3619525"/>
                    <a:pt x="437788" y="3530575"/>
                    <a:pt x="276795" y="3385618"/>
                  </a:cubicBezTo>
                  <a:cubicBezTo>
                    <a:pt x="173143" y="3292274"/>
                    <a:pt x="82722" y="3179164"/>
                    <a:pt x="34204" y="3046287"/>
                  </a:cubicBezTo>
                  <a:cubicBezTo>
                    <a:pt x="-9903" y="2927686"/>
                    <a:pt x="-12109" y="2797006"/>
                    <a:pt x="31999" y="2678405"/>
                  </a:cubicBezTo>
                  <a:cubicBezTo>
                    <a:pt x="87133" y="2529055"/>
                    <a:pt x="202915" y="2410455"/>
                    <a:pt x="329724" y="2319307"/>
                  </a:cubicBezTo>
                  <a:cubicBezTo>
                    <a:pt x="517181" y="2182038"/>
                    <a:pt x="736616" y="2093087"/>
                    <a:pt x="954948" y="2023903"/>
                  </a:cubicBezTo>
                  <a:cubicBezTo>
                    <a:pt x="1169972" y="1955818"/>
                    <a:pt x="1388304" y="1908597"/>
                    <a:pt x="1609944" y="1869063"/>
                  </a:cubicBezTo>
                  <a:cubicBezTo>
                    <a:pt x="1847022" y="1826235"/>
                    <a:pt x="2086305" y="1792192"/>
                    <a:pt x="2326691" y="1764738"/>
                  </a:cubicBezTo>
                  <a:cubicBezTo>
                    <a:pt x="2504224" y="1744971"/>
                    <a:pt x="2681757" y="1729597"/>
                    <a:pt x="2860392" y="1717518"/>
                  </a:cubicBezTo>
                  <a:cubicBezTo>
                    <a:pt x="3052260" y="1704340"/>
                    <a:pt x="3244127" y="1701045"/>
                    <a:pt x="3434892" y="1682377"/>
                  </a:cubicBezTo>
                  <a:cubicBezTo>
                    <a:pt x="3545161" y="1671395"/>
                    <a:pt x="3662046" y="1654923"/>
                    <a:pt x="3759082" y="1596720"/>
                  </a:cubicBezTo>
                  <a:cubicBezTo>
                    <a:pt x="3788855" y="1579150"/>
                    <a:pt x="3824141" y="1551696"/>
                    <a:pt x="3828552" y="1514359"/>
                  </a:cubicBezTo>
                  <a:cubicBezTo>
                    <a:pt x="3834065" y="1470432"/>
                    <a:pt x="3792163" y="1438586"/>
                    <a:pt x="3760185" y="1418819"/>
                  </a:cubicBezTo>
                  <a:cubicBezTo>
                    <a:pt x="3677483" y="1367206"/>
                    <a:pt x="3579344" y="1339752"/>
                    <a:pt x="3485616" y="1315592"/>
                  </a:cubicBezTo>
                  <a:cubicBezTo>
                    <a:pt x="3367628" y="1287040"/>
                    <a:pt x="3248538" y="1266175"/>
                    <a:pt x="3129448" y="1244212"/>
                  </a:cubicBezTo>
                  <a:cubicBezTo>
                    <a:pt x="2887959" y="1200286"/>
                    <a:pt x="2644265" y="1158556"/>
                    <a:pt x="2406085" y="1097059"/>
                  </a:cubicBezTo>
                  <a:cubicBezTo>
                    <a:pt x="2285892" y="1066311"/>
                    <a:pt x="2167904" y="1024581"/>
                    <a:pt x="2053225" y="975163"/>
                  </a:cubicBezTo>
                  <a:cubicBezTo>
                    <a:pt x="1977139" y="941121"/>
                    <a:pt x="1899951" y="902685"/>
                    <a:pt x="1835995" y="849974"/>
                  </a:cubicBezTo>
                  <a:cubicBezTo>
                    <a:pt x="1797401" y="818127"/>
                    <a:pt x="1764321" y="776397"/>
                    <a:pt x="1759910" y="725882"/>
                  </a:cubicBezTo>
                  <a:cubicBezTo>
                    <a:pt x="1755499" y="674268"/>
                    <a:pt x="1781964" y="629244"/>
                    <a:pt x="1815044" y="593005"/>
                  </a:cubicBezTo>
                  <a:cubicBezTo>
                    <a:pt x="1873487" y="531508"/>
                    <a:pt x="1953983" y="491974"/>
                    <a:pt x="2031171" y="459030"/>
                  </a:cubicBezTo>
                  <a:cubicBezTo>
                    <a:pt x="2143645" y="411809"/>
                    <a:pt x="2262735" y="379962"/>
                    <a:pt x="2377415" y="337134"/>
                  </a:cubicBezTo>
                  <a:cubicBezTo>
                    <a:pt x="2460116" y="307484"/>
                    <a:pt x="2542818" y="275638"/>
                    <a:pt x="2620006" y="232809"/>
                  </a:cubicBezTo>
                  <a:cubicBezTo>
                    <a:pt x="2671832" y="205355"/>
                    <a:pt x="2721453" y="171313"/>
                    <a:pt x="2761150" y="126288"/>
                  </a:cubicBezTo>
                  <a:cubicBezTo>
                    <a:pt x="2793128" y="90049"/>
                    <a:pt x="2815182" y="46123"/>
                    <a:pt x="2829517" y="0"/>
                  </a:cubicBezTo>
                  <a:close/>
                </a:path>
              </a:pathLst>
            </a:custGeom>
            <a:solidFill>
              <a:schemeClr val="accent1">
                <a:lumMod val="20000"/>
                <a:lumOff val="80000"/>
              </a:schemeClr>
            </a:solidFill>
            <a:ln w="3175" cap="flat">
              <a:noFill/>
              <a:prstDash val="solid"/>
              <a:miter lim="800000"/>
            </a:ln>
          </p:spPr>
          <p:txBody>
            <a:bodyPr vert="horz" wrap="square" lIns="91440" tIns="45720" rIns="91440" bIns="45720" numCol="1" anchor="t" anchorCtr="0" compatLnSpc="1">
              <a:noAutofit/>
            </a:bodyPr>
            <a:lstStyle/>
            <a:p>
              <a:endParaRPr lang="en-US">
                <a:latin typeface="微软雅黑" panose="020B0503020204020204" charset="-122"/>
                <a:ea typeface="微软雅黑" panose="020B0503020204020204" charset="-122"/>
                <a:cs typeface="微软雅黑" panose="020B0503020204020204" charset="-122"/>
              </a:endParaRPr>
            </a:p>
          </p:txBody>
        </p:sp>
        <p:sp>
          <p:nvSpPr>
            <p:cNvPr id="7" name="Freeform 17"/>
            <p:cNvSpPr/>
            <p:nvPr/>
          </p:nvSpPr>
          <p:spPr bwMode="auto">
            <a:xfrm>
              <a:off x="3412706" y="2723052"/>
              <a:ext cx="5728758" cy="4134314"/>
            </a:xfrm>
            <a:custGeom>
              <a:avLst/>
              <a:gdLst>
                <a:gd name="T0" fmla="*/ 2607 w 5660"/>
                <a:gd name="T1" fmla="*/ 0 h 4101"/>
                <a:gd name="T2" fmla="*/ 2525 w 5660"/>
                <a:gd name="T3" fmla="*/ 272 h 4101"/>
                <a:gd name="T4" fmla="*/ 2259 w 5660"/>
                <a:gd name="T5" fmla="*/ 452 h 4101"/>
                <a:gd name="T6" fmla="*/ 2126 w 5660"/>
                <a:gd name="T7" fmla="*/ 515 h 4101"/>
                <a:gd name="T8" fmla="*/ 2056 w 5660"/>
                <a:gd name="T9" fmla="*/ 571 h 4101"/>
                <a:gd name="T10" fmla="*/ 2330 w 5660"/>
                <a:gd name="T11" fmla="*/ 705 h 4101"/>
                <a:gd name="T12" fmla="*/ 2799 w 5660"/>
                <a:gd name="T13" fmla="*/ 767 h 4101"/>
                <a:gd name="T14" fmla="*/ 3620 w 5660"/>
                <a:gd name="T15" fmla="*/ 927 h 4101"/>
                <a:gd name="T16" fmla="*/ 4202 w 5660"/>
                <a:gd name="T17" fmla="*/ 1335 h 4101"/>
                <a:gd name="T18" fmla="*/ 4137 w 5660"/>
                <a:gd name="T19" fmla="*/ 1809 h 4101"/>
                <a:gd name="T20" fmla="*/ 3939 w 5660"/>
                <a:gd name="T21" fmla="*/ 1949 h 4101"/>
                <a:gd name="T22" fmla="*/ 3652 w 5660"/>
                <a:gd name="T23" fmla="*/ 2047 h 4101"/>
                <a:gd name="T24" fmla="*/ 2994 w 5660"/>
                <a:gd name="T25" fmla="*/ 2153 h 4101"/>
                <a:gd name="T26" fmla="*/ 2386 w 5660"/>
                <a:gd name="T27" fmla="*/ 2201 h 4101"/>
                <a:gd name="T28" fmla="*/ 2011 w 5660"/>
                <a:gd name="T29" fmla="*/ 2230 h 4101"/>
                <a:gd name="T30" fmla="*/ 1687 w 5660"/>
                <a:gd name="T31" fmla="*/ 2284 h 4101"/>
                <a:gd name="T32" fmla="*/ 1572 w 5660"/>
                <a:gd name="T33" fmla="*/ 2325 h 4101"/>
                <a:gd name="T34" fmla="*/ 1514 w 5660"/>
                <a:gd name="T35" fmla="*/ 2370 h 4101"/>
                <a:gd name="T36" fmla="*/ 1580 w 5660"/>
                <a:gd name="T37" fmla="*/ 2449 h 4101"/>
                <a:gd name="T38" fmla="*/ 1808 w 5660"/>
                <a:gd name="T39" fmla="*/ 2511 h 4101"/>
                <a:gd name="T40" fmla="*/ 2094 w 5660"/>
                <a:gd name="T41" fmla="*/ 2555 h 4101"/>
                <a:gd name="T42" fmla="*/ 2468 w 5660"/>
                <a:gd name="T43" fmla="*/ 2592 h 4101"/>
                <a:gd name="T44" fmla="*/ 3013 w 5660"/>
                <a:gd name="T45" fmla="*/ 2667 h 4101"/>
                <a:gd name="T46" fmla="*/ 3643 w 5660"/>
                <a:gd name="T47" fmla="*/ 2771 h 4101"/>
                <a:gd name="T48" fmla="*/ 4026 w 5660"/>
                <a:gd name="T49" fmla="*/ 2859 h 4101"/>
                <a:gd name="T50" fmla="*/ 4454 w 5660"/>
                <a:gd name="T51" fmla="*/ 2988 h 4101"/>
                <a:gd name="T52" fmla="*/ 4958 w 5660"/>
                <a:gd name="T53" fmla="*/ 3220 h 4101"/>
                <a:gd name="T54" fmla="*/ 5402 w 5660"/>
                <a:gd name="T55" fmla="*/ 3580 h 4101"/>
                <a:gd name="T56" fmla="*/ 5660 w 5660"/>
                <a:gd name="T57" fmla="*/ 4101 h 4101"/>
                <a:gd name="T58" fmla="*/ 2709 w 5660"/>
                <a:gd name="T59" fmla="*/ 4101 h 4101"/>
                <a:gd name="T60" fmla="*/ 2612 w 5660"/>
                <a:gd name="T61" fmla="*/ 3949 h 4101"/>
                <a:gd name="T62" fmla="*/ 2360 w 5660"/>
                <a:gd name="T63" fmla="*/ 3803 h 4101"/>
                <a:gd name="T64" fmla="*/ 1850 w 5660"/>
                <a:gd name="T65" fmla="*/ 3639 h 4101"/>
                <a:gd name="T66" fmla="*/ 1288 w 5660"/>
                <a:gd name="T67" fmla="*/ 3484 h 4101"/>
                <a:gd name="T68" fmla="*/ 766 w 5660"/>
                <a:gd name="T69" fmla="*/ 3316 h 4101"/>
                <a:gd name="T70" fmla="*/ 262 w 5660"/>
                <a:gd name="T71" fmla="*/ 3038 h 4101"/>
                <a:gd name="T72" fmla="*/ 42 w 5660"/>
                <a:gd name="T73" fmla="*/ 2733 h 4101"/>
                <a:gd name="T74" fmla="*/ 40 w 5660"/>
                <a:gd name="T75" fmla="*/ 2403 h 4101"/>
                <a:gd name="T76" fmla="*/ 310 w 5660"/>
                <a:gd name="T77" fmla="*/ 2081 h 4101"/>
                <a:gd name="T78" fmla="*/ 877 w 5660"/>
                <a:gd name="T79" fmla="*/ 1816 h 4101"/>
                <a:gd name="T80" fmla="*/ 1471 w 5660"/>
                <a:gd name="T81" fmla="*/ 1677 h 4101"/>
                <a:gd name="T82" fmla="*/ 2121 w 5660"/>
                <a:gd name="T83" fmla="*/ 1584 h 4101"/>
                <a:gd name="T84" fmla="*/ 2605 w 5660"/>
                <a:gd name="T85" fmla="*/ 1541 h 4101"/>
                <a:gd name="T86" fmla="*/ 3126 w 5660"/>
                <a:gd name="T87" fmla="*/ 1510 h 4101"/>
                <a:gd name="T88" fmla="*/ 3420 w 5660"/>
                <a:gd name="T89" fmla="*/ 1433 h 4101"/>
                <a:gd name="T90" fmla="*/ 3483 w 5660"/>
                <a:gd name="T91" fmla="*/ 1359 h 4101"/>
                <a:gd name="T92" fmla="*/ 3421 w 5660"/>
                <a:gd name="T93" fmla="*/ 1273 h 4101"/>
                <a:gd name="T94" fmla="*/ 3172 w 5660"/>
                <a:gd name="T95" fmla="*/ 1181 h 4101"/>
                <a:gd name="T96" fmla="*/ 2849 w 5660"/>
                <a:gd name="T97" fmla="*/ 1116 h 4101"/>
                <a:gd name="T98" fmla="*/ 2193 w 5660"/>
                <a:gd name="T99" fmla="*/ 985 h 4101"/>
                <a:gd name="T100" fmla="*/ 1873 w 5660"/>
                <a:gd name="T101" fmla="*/ 875 h 4101"/>
                <a:gd name="T102" fmla="*/ 1676 w 5660"/>
                <a:gd name="T103" fmla="*/ 762 h 4101"/>
                <a:gd name="T104" fmla="*/ 1607 w 5660"/>
                <a:gd name="T105" fmla="*/ 651 h 4101"/>
                <a:gd name="T106" fmla="*/ 1657 w 5660"/>
                <a:gd name="T107" fmla="*/ 532 h 4101"/>
                <a:gd name="T108" fmla="*/ 1853 w 5660"/>
                <a:gd name="T109" fmla="*/ 412 h 4101"/>
                <a:gd name="T110" fmla="*/ 2167 w 5660"/>
                <a:gd name="T111" fmla="*/ 303 h 4101"/>
                <a:gd name="T112" fmla="*/ 2387 w 5660"/>
                <a:gd name="T113" fmla="*/ 209 h 4101"/>
                <a:gd name="T114" fmla="*/ 2515 w 5660"/>
                <a:gd name="T115" fmla="*/ 114 h 4101"/>
                <a:gd name="T116" fmla="*/ 2577 w 5660"/>
                <a:gd name="T117" fmla="*/ 0 h 4101"/>
                <a:gd name="T118" fmla="*/ 2607 w 5660"/>
                <a:gd name="T119" fmla="*/ 0 h 4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660" h="4101">
                  <a:moveTo>
                    <a:pt x="2607" y="0"/>
                  </a:moveTo>
                  <a:cubicBezTo>
                    <a:pt x="2631" y="101"/>
                    <a:pt x="2594" y="197"/>
                    <a:pt x="2525" y="272"/>
                  </a:cubicBezTo>
                  <a:cubicBezTo>
                    <a:pt x="2451" y="350"/>
                    <a:pt x="2355" y="405"/>
                    <a:pt x="2259" y="452"/>
                  </a:cubicBezTo>
                  <a:cubicBezTo>
                    <a:pt x="2215" y="473"/>
                    <a:pt x="2169" y="491"/>
                    <a:pt x="2126" y="515"/>
                  </a:cubicBezTo>
                  <a:cubicBezTo>
                    <a:pt x="2101" y="529"/>
                    <a:pt x="2071" y="546"/>
                    <a:pt x="2056" y="571"/>
                  </a:cubicBezTo>
                  <a:cubicBezTo>
                    <a:pt x="1997" y="662"/>
                    <a:pt x="2289" y="699"/>
                    <a:pt x="2330" y="705"/>
                  </a:cubicBezTo>
                  <a:cubicBezTo>
                    <a:pt x="2486" y="730"/>
                    <a:pt x="2643" y="744"/>
                    <a:pt x="2799" y="767"/>
                  </a:cubicBezTo>
                  <a:cubicBezTo>
                    <a:pt x="3077" y="806"/>
                    <a:pt x="3352" y="841"/>
                    <a:pt x="3620" y="927"/>
                  </a:cubicBezTo>
                  <a:cubicBezTo>
                    <a:pt x="3838" y="996"/>
                    <a:pt x="4091" y="1118"/>
                    <a:pt x="4202" y="1335"/>
                  </a:cubicBezTo>
                  <a:cubicBezTo>
                    <a:pt x="4280" y="1488"/>
                    <a:pt x="4248" y="1679"/>
                    <a:pt x="4137" y="1809"/>
                  </a:cubicBezTo>
                  <a:cubicBezTo>
                    <a:pt x="4084" y="1871"/>
                    <a:pt x="4012" y="1914"/>
                    <a:pt x="3939" y="1949"/>
                  </a:cubicBezTo>
                  <a:cubicBezTo>
                    <a:pt x="3847" y="1992"/>
                    <a:pt x="3750" y="2022"/>
                    <a:pt x="3652" y="2047"/>
                  </a:cubicBezTo>
                  <a:cubicBezTo>
                    <a:pt x="3437" y="2102"/>
                    <a:pt x="3215" y="2131"/>
                    <a:pt x="2994" y="2153"/>
                  </a:cubicBezTo>
                  <a:cubicBezTo>
                    <a:pt x="2792" y="2174"/>
                    <a:pt x="2589" y="2188"/>
                    <a:pt x="2386" y="2201"/>
                  </a:cubicBezTo>
                  <a:cubicBezTo>
                    <a:pt x="2261" y="2209"/>
                    <a:pt x="2136" y="2217"/>
                    <a:pt x="2011" y="2230"/>
                  </a:cubicBezTo>
                  <a:cubicBezTo>
                    <a:pt x="1902" y="2242"/>
                    <a:pt x="1793" y="2256"/>
                    <a:pt x="1687" y="2284"/>
                  </a:cubicBezTo>
                  <a:cubicBezTo>
                    <a:pt x="1648" y="2294"/>
                    <a:pt x="1609" y="2306"/>
                    <a:pt x="1572" y="2325"/>
                  </a:cubicBezTo>
                  <a:cubicBezTo>
                    <a:pt x="1552" y="2335"/>
                    <a:pt x="1525" y="2348"/>
                    <a:pt x="1514" y="2370"/>
                  </a:cubicBezTo>
                  <a:cubicBezTo>
                    <a:pt x="1493" y="2409"/>
                    <a:pt x="1553" y="2437"/>
                    <a:pt x="1580" y="2449"/>
                  </a:cubicBezTo>
                  <a:cubicBezTo>
                    <a:pt x="1652" y="2480"/>
                    <a:pt x="1731" y="2496"/>
                    <a:pt x="1808" y="2511"/>
                  </a:cubicBezTo>
                  <a:cubicBezTo>
                    <a:pt x="1903" y="2529"/>
                    <a:pt x="1998" y="2543"/>
                    <a:pt x="2094" y="2555"/>
                  </a:cubicBezTo>
                  <a:cubicBezTo>
                    <a:pt x="2219" y="2570"/>
                    <a:pt x="2344" y="2577"/>
                    <a:pt x="2468" y="2592"/>
                  </a:cubicBezTo>
                  <a:cubicBezTo>
                    <a:pt x="2650" y="2614"/>
                    <a:pt x="2831" y="2640"/>
                    <a:pt x="3013" y="2667"/>
                  </a:cubicBezTo>
                  <a:cubicBezTo>
                    <a:pt x="3223" y="2698"/>
                    <a:pt x="3433" y="2731"/>
                    <a:pt x="3643" y="2771"/>
                  </a:cubicBezTo>
                  <a:cubicBezTo>
                    <a:pt x="3771" y="2796"/>
                    <a:pt x="3899" y="2826"/>
                    <a:pt x="4026" y="2859"/>
                  </a:cubicBezTo>
                  <a:cubicBezTo>
                    <a:pt x="4170" y="2896"/>
                    <a:pt x="4313" y="2938"/>
                    <a:pt x="4454" y="2988"/>
                  </a:cubicBezTo>
                  <a:cubicBezTo>
                    <a:pt x="4628" y="3051"/>
                    <a:pt x="4798" y="3126"/>
                    <a:pt x="4958" y="3220"/>
                  </a:cubicBezTo>
                  <a:cubicBezTo>
                    <a:pt x="5122" y="3317"/>
                    <a:pt x="5277" y="3435"/>
                    <a:pt x="5402" y="3580"/>
                  </a:cubicBezTo>
                  <a:cubicBezTo>
                    <a:pt x="5530" y="3730"/>
                    <a:pt x="5622" y="3907"/>
                    <a:pt x="5660" y="4101"/>
                  </a:cubicBezTo>
                  <a:cubicBezTo>
                    <a:pt x="2709" y="4101"/>
                    <a:pt x="2709" y="4101"/>
                    <a:pt x="2709" y="4101"/>
                  </a:cubicBezTo>
                  <a:cubicBezTo>
                    <a:pt x="2703" y="4040"/>
                    <a:pt x="2656" y="3988"/>
                    <a:pt x="2612" y="3949"/>
                  </a:cubicBezTo>
                  <a:cubicBezTo>
                    <a:pt x="2539" y="3885"/>
                    <a:pt x="2450" y="3839"/>
                    <a:pt x="2360" y="3803"/>
                  </a:cubicBezTo>
                  <a:cubicBezTo>
                    <a:pt x="2195" y="3736"/>
                    <a:pt x="2021" y="3687"/>
                    <a:pt x="1850" y="3639"/>
                  </a:cubicBezTo>
                  <a:cubicBezTo>
                    <a:pt x="1663" y="3586"/>
                    <a:pt x="1475" y="3536"/>
                    <a:pt x="1288" y="3484"/>
                  </a:cubicBezTo>
                  <a:cubicBezTo>
                    <a:pt x="1111" y="3434"/>
                    <a:pt x="938" y="3379"/>
                    <a:pt x="766" y="3316"/>
                  </a:cubicBezTo>
                  <a:cubicBezTo>
                    <a:pt x="584" y="3248"/>
                    <a:pt x="408" y="3168"/>
                    <a:pt x="262" y="3038"/>
                  </a:cubicBezTo>
                  <a:cubicBezTo>
                    <a:pt x="168" y="2954"/>
                    <a:pt x="86" y="2852"/>
                    <a:pt x="42" y="2733"/>
                  </a:cubicBezTo>
                  <a:cubicBezTo>
                    <a:pt x="2" y="2627"/>
                    <a:pt x="0" y="2510"/>
                    <a:pt x="40" y="2403"/>
                  </a:cubicBezTo>
                  <a:cubicBezTo>
                    <a:pt x="90" y="2269"/>
                    <a:pt x="195" y="2163"/>
                    <a:pt x="310" y="2081"/>
                  </a:cubicBezTo>
                  <a:cubicBezTo>
                    <a:pt x="480" y="1958"/>
                    <a:pt x="679" y="1878"/>
                    <a:pt x="877" y="1816"/>
                  </a:cubicBezTo>
                  <a:cubicBezTo>
                    <a:pt x="1072" y="1755"/>
                    <a:pt x="1270" y="1712"/>
                    <a:pt x="1471" y="1677"/>
                  </a:cubicBezTo>
                  <a:cubicBezTo>
                    <a:pt x="1686" y="1639"/>
                    <a:pt x="1903" y="1608"/>
                    <a:pt x="2121" y="1584"/>
                  </a:cubicBezTo>
                  <a:cubicBezTo>
                    <a:pt x="2282" y="1566"/>
                    <a:pt x="2443" y="1552"/>
                    <a:pt x="2605" y="1541"/>
                  </a:cubicBezTo>
                  <a:cubicBezTo>
                    <a:pt x="2779" y="1529"/>
                    <a:pt x="2953" y="1527"/>
                    <a:pt x="3126" y="1510"/>
                  </a:cubicBezTo>
                  <a:cubicBezTo>
                    <a:pt x="3226" y="1500"/>
                    <a:pt x="3332" y="1485"/>
                    <a:pt x="3420" y="1433"/>
                  </a:cubicBezTo>
                  <a:cubicBezTo>
                    <a:pt x="3447" y="1417"/>
                    <a:pt x="3479" y="1392"/>
                    <a:pt x="3483" y="1359"/>
                  </a:cubicBezTo>
                  <a:cubicBezTo>
                    <a:pt x="3488" y="1320"/>
                    <a:pt x="3450" y="1291"/>
                    <a:pt x="3421" y="1273"/>
                  </a:cubicBezTo>
                  <a:cubicBezTo>
                    <a:pt x="3346" y="1227"/>
                    <a:pt x="3257" y="1202"/>
                    <a:pt x="3172" y="1181"/>
                  </a:cubicBezTo>
                  <a:cubicBezTo>
                    <a:pt x="3065" y="1155"/>
                    <a:pt x="2957" y="1136"/>
                    <a:pt x="2849" y="1116"/>
                  </a:cubicBezTo>
                  <a:cubicBezTo>
                    <a:pt x="2630" y="1077"/>
                    <a:pt x="2409" y="1040"/>
                    <a:pt x="2193" y="985"/>
                  </a:cubicBezTo>
                  <a:cubicBezTo>
                    <a:pt x="2084" y="956"/>
                    <a:pt x="1977" y="920"/>
                    <a:pt x="1873" y="875"/>
                  </a:cubicBezTo>
                  <a:cubicBezTo>
                    <a:pt x="1804" y="844"/>
                    <a:pt x="1734" y="809"/>
                    <a:pt x="1676" y="762"/>
                  </a:cubicBezTo>
                  <a:cubicBezTo>
                    <a:pt x="1641" y="734"/>
                    <a:pt x="1611" y="697"/>
                    <a:pt x="1607" y="651"/>
                  </a:cubicBezTo>
                  <a:cubicBezTo>
                    <a:pt x="1603" y="605"/>
                    <a:pt x="1627" y="564"/>
                    <a:pt x="1657" y="532"/>
                  </a:cubicBezTo>
                  <a:cubicBezTo>
                    <a:pt x="1710" y="477"/>
                    <a:pt x="1783" y="441"/>
                    <a:pt x="1853" y="412"/>
                  </a:cubicBezTo>
                  <a:cubicBezTo>
                    <a:pt x="1955" y="369"/>
                    <a:pt x="2063" y="340"/>
                    <a:pt x="2167" y="303"/>
                  </a:cubicBezTo>
                  <a:cubicBezTo>
                    <a:pt x="2242" y="276"/>
                    <a:pt x="2317" y="247"/>
                    <a:pt x="2387" y="209"/>
                  </a:cubicBezTo>
                  <a:cubicBezTo>
                    <a:pt x="2434" y="184"/>
                    <a:pt x="2479" y="154"/>
                    <a:pt x="2515" y="114"/>
                  </a:cubicBezTo>
                  <a:cubicBezTo>
                    <a:pt x="2544" y="81"/>
                    <a:pt x="2564" y="42"/>
                    <a:pt x="2577" y="0"/>
                  </a:cubicBezTo>
                  <a:lnTo>
                    <a:pt x="2607" y="0"/>
                  </a:lnTo>
                  <a:close/>
                </a:path>
              </a:pathLst>
            </a:custGeom>
            <a:gradFill>
              <a:gsLst>
                <a:gs pos="0">
                  <a:schemeClr val="accent1">
                    <a:lumMod val="60000"/>
                    <a:lumOff val="40000"/>
                  </a:schemeClr>
                </a:gs>
                <a:gs pos="100000">
                  <a:schemeClr val="accent1"/>
                </a:gs>
              </a:gsLst>
              <a:lin ang="5400000" scaled="0"/>
            </a:gradFill>
            <a:ln w="3175" cap="flat">
              <a:noFill/>
              <a:prstDash val="solid"/>
              <a:miter lim="800000"/>
            </a:ln>
          </p:spPr>
          <p:txBody>
            <a:bodyPr vert="horz" wrap="square" lIns="91440" tIns="45720" rIns="91440" bIns="45720" numCol="1" anchor="t" anchorCtr="0" compatLnSpc="1">
              <a:noAutofit/>
            </a:bodyPr>
            <a:lstStyle/>
            <a:p>
              <a:endParaRPr lang="en-US">
                <a:latin typeface="微软雅黑" panose="020B0503020204020204" charset="-122"/>
                <a:ea typeface="微软雅黑" panose="020B0503020204020204" charset="-122"/>
                <a:cs typeface="微软雅黑" panose="020B0503020204020204" charset="-122"/>
              </a:endParaRPr>
            </a:p>
          </p:txBody>
        </p:sp>
        <p:sp>
          <p:nvSpPr>
            <p:cNvPr id="8" name="Freeform 19"/>
            <p:cNvSpPr/>
            <p:nvPr/>
          </p:nvSpPr>
          <p:spPr bwMode="auto">
            <a:xfrm>
              <a:off x="4883500" y="2724235"/>
              <a:ext cx="4208268" cy="4133131"/>
            </a:xfrm>
            <a:custGeom>
              <a:avLst/>
              <a:gdLst>
                <a:gd name="T0" fmla="*/ 1100 w 4158"/>
                <a:gd name="T1" fmla="*/ 205 h 4100"/>
                <a:gd name="T2" fmla="*/ 852 w 4158"/>
                <a:gd name="T3" fmla="*/ 402 h 4100"/>
                <a:gd name="T4" fmla="*/ 707 w 4158"/>
                <a:gd name="T5" fmla="*/ 472 h 4100"/>
                <a:gd name="T6" fmla="*/ 579 w 4158"/>
                <a:gd name="T7" fmla="*/ 568 h 4100"/>
                <a:gd name="T8" fmla="*/ 575 w 4158"/>
                <a:gd name="T9" fmla="*/ 585 h 4100"/>
                <a:gd name="T10" fmla="*/ 608 w 4158"/>
                <a:gd name="T11" fmla="*/ 650 h 4100"/>
                <a:gd name="T12" fmla="*/ 958 w 4158"/>
                <a:gd name="T13" fmla="*/ 741 h 4100"/>
                <a:gd name="T14" fmla="*/ 1532 w 4158"/>
                <a:gd name="T15" fmla="*/ 823 h 4100"/>
                <a:gd name="T16" fmla="*/ 1960 w 4158"/>
                <a:gd name="T17" fmla="*/ 901 h 4100"/>
                <a:gd name="T18" fmla="*/ 2606 w 4158"/>
                <a:gd name="T19" fmla="*/ 1202 h 4100"/>
                <a:gd name="T20" fmla="*/ 2718 w 4158"/>
                <a:gd name="T21" fmla="*/ 1351 h 4100"/>
                <a:gd name="T22" fmla="*/ 2693 w 4158"/>
                <a:gd name="T23" fmla="*/ 1728 h 4100"/>
                <a:gd name="T24" fmla="*/ 2552 w 4158"/>
                <a:gd name="T25" fmla="*/ 1863 h 4100"/>
                <a:gd name="T26" fmla="*/ 1983 w 4158"/>
                <a:gd name="T27" fmla="*/ 2044 h 4100"/>
                <a:gd name="T28" fmla="*/ 1384 w 4158"/>
                <a:gd name="T29" fmla="*/ 2112 h 4100"/>
                <a:gd name="T30" fmla="*/ 381 w 4158"/>
                <a:gd name="T31" fmla="*/ 2193 h 4100"/>
                <a:gd name="T32" fmla="*/ 111 w 4158"/>
                <a:gd name="T33" fmla="*/ 2263 h 4100"/>
                <a:gd name="T34" fmla="*/ 9 w 4158"/>
                <a:gd name="T35" fmla="*/ 2344 h 4100"/>
                <a:gd name="T36" fmla="*/ 69 w 4158"/>
                <a:gd name="T37" fmla="*/ 2483 h 4100"/>
                <a:gd name="T38" fmla="*/ 503 w 4158"/>
                <a:gd name="T39" fmla="*/ 2596 h 4100"/>
                <a:gd name="T40" fmla="*/ 652 w 4158"/>
                <a:gd name="T41" fmla="*/ 2617 h 4100"/>
                <a:gd name="T42" fmla="*/ 1096 w 4158"/>
                <a:gd name="T43" fmla="*/ 2668 h 4100"/>
                <a:gd name="T44" fmla="*/ 1832 w 4158"/>
                <a:gd name="T45" fmla="*/ 2779 h 4100"/>
                <a:gd name="T46" fmla="*/ 1979 w 4158"/>
                <a:gd name="T47" fmla="*/ 2804 h 4100"/>
                <a:gd name="T48" fmla="*/ 2597 w 4158"/>
                <a:gd name="T49" fmla="*/ 2941 h 4100"/>
                <a:gd name="T50" fmla="*/ 2704 w 4158"/>
                <a:gd name="T51" fmla="*/ 2971 h 4100"/>
                <a:gd name="T52" fmla="*/ 3640 w 4158"/>
                <a:gd name="T53" fmla="*/ 3405 h 4100"/>
                <a:gd name="T54" fmla="*/ 4122 w 4158"/>
                <a:gd name="T55" fmla="*/ 4100 h 4100"/>
                <a:gd name="T56" fmla="*/ 3885 w 4158"/>
                <a:gd name="T57" fmla="*/ 3579 h 4100"/>
                <a:gd name="T58" fmla="*/ 2712 w 4158"/>
                <a:gd name="T59" fmla="*/ 2941 h 4100"/>
                <a:gd name="T60" fmla="*/ 2604 w 4158"/>
                <a:gd name="T61" fmla="*/ 2911 h 4100"/>
                <a:gd name="T62" fmla="*/ 1984 w 4158"/>
                <a:gd name="T63" fmla="*/ 2776 h 4100"/>
                <a:gd name="T64" fmla="*/ 1837 w 4158"/>
                <a:gd name="T65" fmla="*/ 2751 h 4100"/>
                <a:gd name="T66" fmla="*/ 1099 w 4158"/>
                <a:gd name="T67" fmla="*/ 2642 h 4100"/>
                <a:gd name="T68" fmla="*/ 655 w 4158"/>
                <a:gd name="T69" fmla="*/ 2592 h 4100"/>
                <a:gd name="T70" fmla="*/ 508 w 4158"/>
                <a:gd name="T71" fmla="*/ 2572 h 4100"/>
                <a:gd name="T72" fmla="*/ 81 w 4158"/>
                <a:gd name="T73" fmla="*/ 2462 h 4100"/>
                <a:gd name="T74" fmla="*/ 30 w 4158"/>
                <a:gd name="T75" fmla="*/ 2355 h 4100"/>
                <a:gd name="T76" fmla="*/ 98 w 4158"/>
                <a:gd name="T77" fmla="*/ 2294 h 4100"/>
                <a:gd name="T78" fmla="*/ 189 w 4158"/>
                <a:gd name="T79" fmla="*/ 2258 h 4100"/>
                <a:gd name="T80" fmla="*/ 1185 w 4158"/>
                <a:gd name="T81" fmla="*/ 2147 h 4100"/>
                <a:gd name="T82" fmla="*/ 1586 w 4158"/>
                <a:gd name="T83" fmla="*/ 2116 h 4100"/>
                <a:gd name="T84" fmla="*/ 2377 w 4158"/>
                <a:gd name="T85" fmla="*/ 1963 h 4100"/>
                <a:gd name="T86" fmla="*/ 2642 w 4158"/>
                <a:gd name="T87" fmla="*/ 1816 h 4100"/>
                <a:gd name="T88" fmla="*/ 2731 w 4158"/>
                <a:gd name="T89" fmla="*/ 1344 h 4100"/>
                <a:gd name="T90" fmla="*/ 2709 w 4158"/>
                <a:gd name="T91" fmla="*/ 1305 h 4100"/>
                <a:gd name="T92" fmla="*/ 2616 w 4158"/>
                <a:gd name="T93" fmla="*/ 1192 h 4100"/>
                <a:gd name="T94" fmla="*/ 1962 w 4158"/>
                <a:gd name="T95" fmla="*/ 889 h 4100"/>
                <a:gd name="T96" fmla="*/ 1534 w 4158"/>
                <a:gd name="T97" fmla="*/ 812 h 4100"/>
                <a:gd name="T98" fmla="*/ 960 w 4158"/>
                <a:gd name="T99" fmla="*/ 732 h 4100"/>
                <a:gd name="T100" fmla="*/ 613 w 4158"/>
                <a:gd name="T101" fmla="*/ 643 h 4100"/>
                <a:gd name="T102" fmla="*/ 583 w 4158"/>
                <a:gd name="T103" fmla="*/ 586 h 4100"/>
                <a:gd name="T104" fmla="*/ 587 w 4158"/>
                <a:gd name="T105" fmla="*/ 571 h 4100"/>
                <a:gd name="T106" fmla="*/ 711 w 4158"/>
                <a:gd name="T107" fmla="*/ 479 h 4100"/>
                <a:gd name="T108" fmla="*/ 856 w 4158"/>
                <a:gd name="T109" fmla="*/ 408 h 4100"/>
                <a:gd name="T110" fmla="*/ 1035 w 4158"/>
                <a:gd name="T111" fmla="*/ 289 h 4100"/>
                <a:gd name="T112" fmla="*/ 1145 w 4158"/>
                <a:gd name="T113" fmla="*/ 0 h 4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158" h="4100">
                  <a:moveTo>
                    <a:pt x="1139" y="2"/>
                  </a:moveTo>
                  <a:cubicBezTo>
                    <a:pt x="1147" y="36"/>
                    <a:pt x="1148" y="72"/>
                    <a:pt x="1141" y="107"/>
                  </a:cubicBezTo>
                  <a:cubicBezTo>
                    <a:pt x="1134" y="142"/>
                    <a:pt x="1119" y="175"/>
                    <a:pt x="1100" y="205"/>
                  </a:cubicBezTo>
                  <a:cubicBezTo>
                    <a:pt x="1061" y="264"/>
                    <a:pt x="1005" y="310"/>
                    <a:pt x="945" y="349"/>
                  </a:cubicBezTo>
                  <a:cubicBezTo>
                    <a:pt x="930" y="358"/>
                    <a:pt x="915" y="368"/>
                    <a:pt x="900" y="377"/>
                  </a:cubicBezTo>
                  <a:cubicBezTo>
                    <a:pt x="884" y="386"/>
                    <a:pt x="868" y="393"/>
                    <a:pt x="852" y="402"/>
                  </a:cubicBezTo>
                  <a:cubicBezTo>
                    <a:pt x="805" y="426"/>
                    <a:pt x="805" y="426"/>
                    <a:pt x="805" y="426"/>
                  </a:cubicBezTo>
                  <a:cubicBezTo>
                    <a:pt x="756" y="449"/>
                    <a:pt x="756" y="449"/>
                    <a:pt x="756" y="449"/>
                  </a:cubicBezTo>
                  <a:cubicBezTo>
                    <a:pt x="740" y="456"/>
                    <a:pt x="723" y="463"/>
                    <a:pt x="707" y="472"/>
                  </a:cubicBezTo>
                  <a:cubicBezTo>
                    <a:pt x="660" y="496"/>
                    <a:pt x="660" y="496"/>
                    <a:pt x="660" y="496"/>
                  </a:cubicBezTo>
                  <a:cubicBezTo>
                    <a:pt x="644" y="504"/>
                    <a:pt x="628" y="513"/>
                    <a:pt x="614" y="525"/>
                  </a:cubicBezTo>
                  <a:cubicBezTo>
                    <a:pt x="599" y="537"/>
                    <a:pt x="587" y="551"/>
                    <a:pt x="579" y="568"/>
                  </a:cubicBezTo>
                  <a:cubicBezTo>
                    <a:pt x="579" y="568"/>
                    <a:pt x="579" y="568"/>
                    <a:pt x="579" y="568"/>
                  </a:cubicBezTo>
                  <a:cubicBezTo>
                    <a:pt x="579" y="568"/>
                    <a:pt x="579" y="568"/>
                    <a:pt x="579" y="568"/>
                  </a:cubicBezTo>
                  <a:cubicBezTo>
                    <a:pt x="578" y="573"/>
                    <a:pt x="575" y="579"/>
                    <a:pt x="575" y="585"/>
                  </a:cubicBezTo>
                  <a:cubicBezTo>
                    <a:pt x="575" y="585"/>
                    <a:pt x="575" y="585"/>
                    <a:pt x="575" y="585"/>
                  </a:cubicBezTo>
                  <a:cubicBezTo>
                    <a:pt x="573" y="598"/>
                    <a:pt x="576" y="611"/>
                    <a:pt x="583" y="622"/>
                  </a:cubicBezTo>
                  <a:cubicBezTo>
                    <a:pt x="589" y="634"/>
                    <a:pt x="598" y="643"/>
                    <a:pt x="608" y="650"/>
                  </a:cubicBezTo>
                  <a:cubicBezTo>
                    <a:pt x="628" y="665"/>
                    <a:pt x="651" y="675"/>
                    <a:pt x="674" y="683"/>
                  </a:cubicBezTo>
                  <a:cubicBezTo>
                    <a:pt x="720" y="700"/>
                    <a:pt x="767" y="710"/>
                    <a:pt x="815" y="719"/>
                  </a:cubicBezTo>
                  <a:cubicBezTo>
                    <a:pt x="863" y="727"/>
                    <a:pt x="910" y="735"/>
                    <a:pt x="958" y="741"/>
                  </a:cubicBezTo>
                  <a:cubicBezTo>
                    <a:pt x="1102" y="761"/>
                    <a:pt x="1102" y="761"/>
                    <a:pt x="1102" y="761"/>
                  </a:cubicBezTo>
                  <a:cubicBezTo>
                    <a:pt x="1389" y="800"/>
                    <a:pt x="1389" y="800"/>
                    <a:pt x="1389" y="800"/>
                  </a:cubicBezTo>
                  <a:cubicBezTo>
                    <a:pt x="1437" y="806"/>
                    <a:pt x="1485" y="815"/>
                    <a:pt x="1532" y="823"/>
                  </a:cubicBezTo>
                  <a:cubicBezTo>
                    <a:pt x="1676" y="846"/>
                    <a:pt x="1676" y="846"/>
                    <a:pt x="1676" y="846"/>
                  </a:cubicBezTo>
                  <a:cubicBezTo>
                    <a:pt x="1723" y="854"/>
                    <a:pt x="1771" y="861"/>
                    <a:pt x="1818" y="870"/>
                  </a:cubicBezTo>
                  <a:cubicBezTo>
                    <a:pt x="1866" y="880"/>
                    <a:pt x="1913" y="890"/>
                    <a:pt x="1960" y="901"/>
                  </a:cubicBezTo>
                  <a:cubicBezTo>
                    <a:pt x="2053" y="924"/>
                    <a:pt x="2146" y="950"/>
                    <a:pt x="2236" y="984"/>
                  </a:cubicBezTo>
                  <a:cubicBezTo>
                    <a:pt x="2326" y="1018"/>
                    <a:pt x="2414" y="1059"/>
                    <a:pt x="2494" y="1113"/>
                  </a:cubicBezTo>
                  <a:cubicBezTo>
                    <a:pt x="2534" y="1139"/>
                    <a:pt x="2572" y="1169"/>
                    <a:pt x="2606" y="1202"/>
                  </a:cubicBezTo>
                  <a:cubicBezTo>
                    <a:pt x="2641" y="1235"/>
                    <a:pt x="2671" y="1273"/>
                    <a:pt x="2697" y="1313"/>
                  </a:cubicBezTo>
                  <a:cubicBezTo>
                    <a:pt x="2696" y="1313"/>
                    <a:pt x="2696" y="1313"/>
                    <a:pt x="2696" y="1313"/>
                  </a:cubicBezTo>
                  <a:cubicBezTo>
                    <a:pt x="2718" y="1351"/>
                    <a:pt x="2718" y="1351"/>
                    <a:pt x="2718" y="1351"/>
                  </a:cubicBezTo>
                  <a:cubicBezTo>
                    <a:pt x="2718" y="1350"/>
                    <a:pt x="2718" y="1350"/>
                    <a:pt x="2718" y="1350"/>
                  </a:cubicBezTo>
                  <a:cubicBezTo>
                    <a:pt x="2747" y="1410"/>
                    <a:pt x="2759" y="1476"/>
                    <a:pt x="2754" y="1542"/>
                  </a:cubicBezTo>
                  <a:cubicBezTo>
                    <a:pt x="2749" y="1607"/>
                    <a:pt x="2727" y="1672"/>
                    <a:pt x="2693" y="1728"/>
                  </a:cubicBezTo>
                  <a:cubicBezTo>
                    <a:pt x="2675" y="1756"/>
                    <a:pt x="2655" y="1782"/>
                    <a:pt x="2631" y="1804"/>
                  </a:cubicBezTo>
                  <a:cubicBezTo>
                    <a:pt x="2619" y="1816"/>
                    <a:pt x="2606" y="1826"/>
                    <a:pt x="2594" y="1836"/>
                  </a:cubicBezTo>
                  <a:cubicBezTo>
                    <a:pt x="2580" y="1845"/>
                    <a:pt x="2566" y="1855"/>
                    <a:pt x="2552" y="1863"/>
                  </a:cubicBezTo>
                  <a:cubicBezTo>
                    <a:pt x="2495" y="1898"/>
                    <a:pt x="2434" y="1924"/>
                    <a:pt x="2371" y="1947"/>
                  </a:cubicBezTo>
                  <a:cubicBezTo>
                    <a:pt x="2308" y="1969"/>
                    <a:pt x="2244" y="1987"/>
                    <a:pt x="2179" y="2003"/>
                  </a:cubicBezTo>
                  <a:cubicBezTo>
                    <a:pt x="2114" y="2019"/>
                    <a:pt x="2048" y="2032"/>
                    <a:pt x="1983" y="2044"/>
                  </a:cubicBezTo>
                  <a:cubicBezTo>
                    <a:pt x="1851" y="2067"/>
                    <a:pt x="1718" y="2083"/>
                    <a:pt x="1585" y="2097"/>
                  </a:cubicBezTo>
                  <a:cubicBezTo>
                    <a:pt x="1551" y="2100"/>
                    <a:pt x="1518" y="2103"/>
                    <a:pt x="1485" y="2105"/>
                  </a:cubicBezTo>
                  <a:cubicBezTo>
                    <a:pt x="1384" y="2112"/>
                    <a:pt x="1384" y="2112"/>
                    <a:pt x="1384" y="2112"/>
                  </a:cubicBezTo>
                  <a:cubicBezTo>
                    <a:pt x="1184" y="2127"/>
                    <a:pt x="1184" y="2127"/>
                    <a:pt x="1184" y="2127"/>
                  </a:cubicBezTo>
                  <a:cubicBezTo>
                    <a:pt x="782" y="2156"/>
                    <a:pt x="782" y="2156"/>
                    <a:pt x="782" y="2156"/>
                  </a:cubicBezTo>
                  <a:cubicBezTo>
                    <a:pt x="649" y="2165"/>
                    <a:pt x="514" y="2172"/>
                    <a:pt x="381" y="2193"/>
                  </a:cubicBezTo>
                  <a:cubicBezTo>
                    <a:pt x="314" y="2203"/>
                    <a:pt x="248" y="2217"/>
                    <a:pt x="183" y="2236"/>
                  </a:cubicBezTo>
                  <a:cubicBezTo>
                    <a:pt x="165" y="2241"/>
                    <a:pt x="151" y="2247"/>
                    <a:pt x="135" y="2253"/>
                  </a:cubicBezTo>
                  <a:cubicBezTo>
                    <a:pt x="125" y="2256"/>
                    <a:pt x="119" y="2259"/>
                    <a:pt x="111" y="2263"/>
                  </a:cubicBezTo>
                  <a:cubicBezTo>
                    <a:pt x="102" y="2266"/>
                    <a:pt x="95" y="2270"/>
                    <a:pt x="88" y="2274"/>
                  </a:cubicBezTo>
                  <a:cubicBezTo>
                    <a:pt x="57" y="2289"/>
                    <a:pt x="25" y="2310"/>
                    <a:pt x="9" y="2345"/>
                  </a:cubicBezTo>
                  <a:cubicBezTo>
                    <a:pt x="9" y="2344"/>
                    <a:pt x="9" y="2344"/>
                    <a:pt x="9" y="2344"/>
                  </a:cubicBezTo>
                  <a:cubicBezTo>
                    <a:pt x="2" y="2358"/>
                    <a:pt x="0" y="2372"/>
                    <a:pt x="0" y="2386"/>
                  </a:cubicBezTo>
                  <a:cubicBezTo>
                    <a:pt x="1" y="2401"/>
                    <a:pt x="5" y="2415"/>
                    <a:pt x="11" y="2427"/>
                  </a:cubicBezTo>
                  <a:cubicBezTo>
                    <a:pt x="24" y="2452"/>
                    <a:pt x="46" y="2470"/>
                    <a:pt x="69" y="2483"/>
                  </a:cubicBezTo>
                  <a:cubicBezTo>
                    <a:pt x="114" y="2508"/>
                    <a:pt x="161" y="2524"/>
                    <a:pt x="210" y="2538"/>
                  </a:cubicBezTo>
                  <a:cubicBezTo>
                    <a:pt x="258" y="2552"/>
                    <a:pt x="307" y="2562"/>
                    <a:pt x="356" y="2571"/>
                  </a:cubicBezTo>
                  <a:cubicBezTo>
                    <a:pt x="406" y="2581"/>
                    <a:pt x="454" y="2588"/>
                    <a:pt x="503" y="2596"/>
                  </a:cubicBezTo>
                  <a:cubicBezTo>
                    <a:pt x="540" y="2603"/>
                    <a:pt x="540" y="2603"/>
                    <a:pt x="540" y="2603"/>
                  </a:cubicBezTo>
                  <a:cubicBezTo>
                    <a:pt x="554" y="2605"/>
                    <a:pt x="565" y="2606"/>
                    <a:pt x="578" y="2608"/>
                  </a:cubicBezTo>
                  <a:cubicBezTo>
                    <a:pt x="652" y="2617"/>
                    <a:pt x="652" y="2617"/>
                    <a:pt x="652" y="2617"/>
                  </a:cubicBezTo>
                  <a:cubicBezTo>
                    <a:pt x="726" y="2626"/>
                    <a:pt x="726" y="2626"/>
                    <a:pt x="726" y="2626"/>
                  </a:cubicBezTo>
                  <a:cubicBezTo>
                    <a:pt x="800" y="2633"/>
                    <a:pt x="800" y="2633"/>
                    <a:pt x="800" y="2633"/>
                  </a:cubicBezTo>
                  <a:cubicBezTo>
                    <a:pt x="899" y="2643"/>
                    <a:pt x="997" y="2652"/>
                    <a:pt x="1096" y="2668"/>
                  </a:cubicBezTo>
                  <a:cubicBezTo>
                    <a:pt x="1391" y="2710"/>
                    <a:pt x="1391" y="2710"/>
                    <a:pt x="1391" y="2710"/>
                  </a:cubicBezTo>
                  <a:cubicBezTo>
                    <a:pt x="1489" y="2725"/>
                    <a:pt x="1587" y="2738"/>
                    <a:pt x="1685" y="2755"/>
                  </a:cubicBezTo>
                  <a:cubicBezTo>
                    <a:pt x="1832" y="2779"/>
                    <a:pt x="1832" y="2779"/>
                    <a:pt x="1832" y="2779"/>
                  </a:cubicBezTo>
                  <a:cubicBezTo>
                    <a:pt x="1906" y="2791"/>
                    <a:pt x="1906" y="2791"/>
                    <a:pt x="1906" y="2791"/>
                  </a:cubicBezTo>
                  <a:cubicBezTo>
                    <a:pt x="1918" y="2793"/>
                    <a:pt x="1931" y="2795"/>
                    <a:pt x="1942" y="2797"/>
                  </a:cubicBezTo>
                  <a:cubicBezTo>
                    <a:pt x="1979" y="2804"/>
                    <a:pt x="1979" y="2804"/>
                    <a:pt x="1979" y="2804"/>
                  </a:cubicBezTo>
                  <a:cubicBezTo>
                    <a:pt x="2272" y="2861"/>
                    <a:pt x="2272" y="2861"/>
                    <a:pt x="2272" y="2861"/>
                  </a:cubicBezTo>
                  <a:cubicBezTo>
                    <a:pt x="2561" y="2932"/>
                    <a:pt x="2561" y="2932"/>
                    <a:pt x="2561" y="2932"/>
                  </a:cubicBezTo>
                  <a:cubicBezTo>
                    <a:pt x="2597" y="2941"/>
                    <a:pt x="2597" y="2941"/>
                    <a:pt x="2597" y="2941"/>
                  </a:cubicBezTo>
                  <a:cubicBezTo>
                    <a:pt x="2614" y="2945"/>
                    <a:pt x="2614" y="2945"/>
                    <a:pt x="2614" y="2945"/>
                  </a:cubicBezTo>
                  <a:cubicBezTo>
                    <a:pt x="2632" y="2950"/>
                    <a:pt x="2632" y="2950"/>
                    <a:pt x="2632" y="2950"/>
                  </a:cubicBezTo>
                  <a:cubicBezTo>
                    <a:pt x="2704" y="2971"/>
                    <a:pt x="2704" y="2971"/>
                    <a:pt x="2704" y="2971"/>
                  </a:cubicBezTo>
                  <a:cubicBezTo>
                    <a:pt x="2751" y="2985"/>
                    <a:pt x="2799" y="2999"/>
                    <a:pt x="2846" y="3015"/>
                  </a:cubicBezTo>
                  <a:cubicBezTo>
                    <a:pt x="3034" y="3077"/>
                    <a:pt x="3218" y="3151"/>
                    <a:pt x="3391" y="3246"/>
                  </a:cubicBezTo>
                  <a:cubicBezTo>
                    <a:pt x="3478" y="3293"/>
                    <a:pt x="3562" y="3346"/>
                    <a:pt x="3640" y="3405"/>
                  </a:cubicBezTo>
                  <a:cubicBezTo>
                    <a:pt x="3719" y="3464"/>
                    <a:pt x="3793" y="3530"/>
                    <a:pt x="3859" y="3602"/>
                  </a:cubicBezTo>
                  <a:cubicBezTo>
                    <a:pt x="3925" y="3675"/>
                    <a:pt x="3982" y="3755"/>
                    <a:pt x="4027" y="3842"/>
                  </a:cubicBezTo>
                  <a:cubicBezTo>
                    <a:pt x="4072" y="3929"/>
                    <a:pt x="4104" y="4004"/>
                    <a:pt x="4122" y="4100"/>
                  </a:cubicBezTo>
                  <a:cubicBezTo>
                    <a:pt x="4158" y="4100"/>
                    <a:pt x="4158" y="4100"/>
                    <a:pt x="4158" y="4100"/>
                  </a:cubicBezTo>
                  <a:cubicBezTo>
                    <a:pt x="4139" y="4002"/>
                    <a:pt x="4104" y="3915"/>
                    <a:pt x="4058" y="3826"/>
                  </a:cubicBezTo>
                  <a:cubicBezTo>
                    <a:pt x="4011" y="3736"/>
                    <a:pt x="3952" y="3654"/>
                    <a:pt x="3885" y="3579"/>
                  </a:cubicBezTo>
                  <a:cubicBezTo>
                    <a:pt x="3749" y="3430"/>
                    <a:pt x="3582" y="3313"/>
                    <a:pt x="3407" y="3217"/>
                  </a:cubicBezTo>
                  <a:cubicBezTo>
                    <a:pt x="3231" y="3121"/>
                    <a:pt x="3045" y="3047"/>
                    <a:pt x="2855" y="2985"/>
                  </a:cubicBezTo>
                  <a:cubicBezTo>
                    <a:pt x="2808" y="2970"/>
                    <a:pt x="2760" y="2955"/>
                    <a:pt x="2712" y="2941"/>
                  </a:cubicBezTo>
                  <a:cubicBezTo>
                    <a:pt x="2640" y="2921"/>
                    <a:pt x="2640" y="2921"/>
                    <a:pt x="2640" y="2921"/>
                  </a:cubicBezTo>
                  <a:cubicBezTo>
                    <a:pt x="2622" y="2916"/>
                    <a:pt x="2622" y="2916"/>
                    <a:pt x="2622" y="2916"/>
                  </a:cubicBezTo>
                  <a:cubicBezTo>
                    <a:pt x="2604" y="2911"/>
                    <a:pt x="2604" y="2911"/>
                    <a:pt x="2604" y="2911"/>
                  </a:cubicBezTo>
                  <a:cubicBezTo>
                    <a:pt x="2568" y="2902"/>
                    <a:pt x="2568" y="2902"/>
                    <a:pt x="2568" y="2902"/>
                  </a:cubicBezTo>
                  <a:cubicBezTo>
                    <a:pt x="2277" y="2832"/>
                    <a:pt x="2277" y="2832"/>
                    <a:pt x="2277" y="2832"/>
                  </a:cubicBezTo>
                  <a:cubicBezTo>
                    <a:pt x="1984" y="2776"/>
                    <a:pt x="1984" y="2776"/>
                    <a:pt x="1984" y="2776"/>
                  </a:cubicBezTo>
                  <a:cubicBezTo>
                    <a:pt x="1948" y="2769"/>
                    <a:pt x="1948" y="2769"/>
                    <a:pt x="1948" y="2769"/>
                  </a:cubicBezTo>
                  <a:cubicBezTo>
                    <a:pt x="1935" y="2767"/>
                    <a:pt x="1923" y="2765"/>
                    <a:pt x="1911" y="2763"/>
                  </a:cubicBezTo>
                  <a:cubicBezTo>
                    <a:pt x="1837" y="2751"/>
                    <a:pt x="1837" y="2751"/>
                    <a:pt x="1837" y="2751"/>
                  </a:cubicBezTo>
                  <a:cubicBezTo>
                    <a:pt x="1690" y="2727"/>
                    <a:pt x="1690" y="2727"/>
                    <a:pt x="1690" y="2727"/>
                  </a:cubicBezTo>
                  <a:cubicBezTo>
                    <a:pt x="1592" y="2711"/>
                    <a:pt x="1493" y="2698"/>
                    <a:pt x="1395" y="2683"/>
                  </a:cubicBezTo>
                  <a:cubicBezTo>
                    <a:pt x="1099" y="2642"/>
                    <a:pt x="1099" y="2642"/>
                    <a:pt x="1099" y="2642"/>
                  </a:cubicBezTo>
                  <a:cubicBezTo>
                    <a:pt x="1001" y="2627"/>
                    <a:pt x="901" y="2617"/>
                    <a:pt x="803" y="2608"/>
                  </a:cubicBezTo>
                  <a:cubicBezTo>
                    <a:pt x="728" y="2601"/>
                    <a:pt x="728" y="2601"/>
                    <a:pt x="728" y="2601"/>
                  </a:cubicBezTo>
                  <a:cubicBezTo>
                    <a:pt x="655" y="2592"/>
                    <a:pt x="655" y="2592"/>
                    <a:pt x="655" y="2592"/>
                  </a:cubicBezTo>
                  <a:cubicBezTo>
                    <a:pt x="581" y="2583"/>
                    <a:pt x="581" y="2583"/>
                    <a:pt x="581" y="2583"/>
                  </a:cubicBezTo>
                  <a:cubicBezTo>
                    <a:pt x="569" y="2581"/>
                    <a:pt x="556" y="2580"/>
                    <a:pt x="544" y="2578"/>
                  </a:cubicBezTo>
                  <a:cubicBezTo>
                    <a:pt x="508" y="2572"/>
                    <a:pt x="508" y="2572"/>
                    <a:pt x="508" y="2572"/>
                  </a:cubicBezTo>
                  <a:cubicBezTo>
                    <a:pt x="459" y="2564"/>
                    <a:pt x="409" y="2556"/>
                    <a:pt x="361" y="2547"/>
                  </a:cubicBezTo>
                  <a:cubicBezTo>
                    <a:pt x="312" y="2538"/>
                    <a:pt x="264" y="2528"/>
                    <a:pt x="216" y="2515"/>
                  </a:cubicBezTo>
                  <a:cubicBezTo>
                    <a:pt x="169" y="2502"/>
                    <a:pt x="122" y="2486"/>
                    <a:pt x="81" y="2462"/>
                  </a:cubicBezTo>
                  <a:cubicBezTo>
                    <a:pt x="60" y="2451"/>
                    <a:pt x="42" y="2436"/>
                    <a:pt x="32" y="2416"/>
                  </a:cubicBezTo>
                  <a:cubicBezTo>
                    <a:pt x="27" y="2407"/>
                    <a:pt x="24" y="2396"/>
                    <a:pt x="24" y="2386"/>
                  </a:cubicBezTo>
                  <a:cubicBezTo>
                    <a:pt x="23" y="2375"/>
                    <a:pt x="25" y="2364"/>
                    <a:pt x="30" y="2355"/>
                  </a:cubicBezTo>
                  <a:cubicBezTo>
                    <a:pt x="30" y="2355"/>
                    <a:pt x="30" y="2355"/>
                    <a:pt x="30" y="2355"/>
                  </a:cubicBezTo>
                  <a:cubicBezTo>
                    <a:pt x="30" y="2355"/>
                    <a:pt x="30" y="2355"/>
                    <a:pt x="30" y="2355"/>
                  </a:cubicBezTo>
                  <a:cubicBezTo>
                    <a:pt x="42" y="2328"/>
                    <a:pt x="69" y="2308"/>
                    <a:pt x="98" y="2294"/>
                  </a:cubicBezTo>
                  <a:cubicBezTo>
                    <a:pt x="105" y="2291"/>
                    <a:pt x="113" y="2286"/>
                    <a:pt x="120" y="2284"/>
                  </a:cubicBezTo>
                  <a:cubicBezTo>
                    <a:pt x="127" y="2280"/>
                    <a:pt x="136" y="2276"/>
                    <a:pt x="143" y="2274"/>
                  </a:cubicBezTo>
                  <a:cubicBezTo>
                    <a:pt x="158" y="2269"/>
                    <a:pt x="175" y="2262"/>
                    <a:pt x="189" y="2258"/>
                  </a:cubicBezTo>
                  <a:cubicBezTo>
                    <a:pt x="254" y="2239"/>
                    <a:pt x="318" y="2225"/>
                    <a:pt x="384" y="2215"/>
                  </a:cubicBezTo>
                  <a:cubicBezTo>
                    <a:pt x="516" y="2194"/>
                    <a:pt x="650" y="2186"/>
                    <a:pt x="784" y="2177"/>
                  </a:cubicBezTo>
                  <a:cubicBezTo>
                    <a:pt x="1185" y="2147"/>
                    <a:pt x="1185" y="2147"/>
                    <a:pt x="1185" y="2147"/>
                  </a:cubicBezTo>
                  <a:cubicBezTo>
                    <a:pt x="1386" y="2132"/>
                    <a:pt x="1386" y="2132"/>
                    <a:pt x="1386" y="2132"/>
                  </a:cubicBezTo>
                  <a:cubicBezTo>
                    <a:pt x="1486" y="2124"/>
                    <a:pt x="1486" y="2124"/>
                    <a:pt x="1486" y="2124"/>
                  </a:cubicBezTo>
                  <a:cubicBezTo>
                    <a:pt x="1519" y="2122"/>
                    <a:pt x="1553" y="2119"/>
                    <a:pt x="1586" y="2116"/>
                  </a:cubicBezTo>
                  <a:cubicBezTo>
                    <a:pt x="1720" y="2102"/>
                    <a:pt x="1853" y="2085"/>
                    <a:pt x="1986" y="2062"/>
                  </a:cubicBezTo>
                  <a:cubicBezTo>
                    <a:pt x="2052" y="2050"/>
                    <a:pt x="2118" y="2036"/>
                    <a:pt x="2183" y="2020"/>
                  </a:cubicBezTo>
                  <a:cubicBezTo>
                    <a:pt x="2248" y="2004"/>
                    <a:pt x="2313" y="1986"/>
                    <a:pt x="2377" y="1963"/>
                  </a:cubicBezTo>
                  <a:cubicBezTo>
                    <a:pt x="2440" y="1940"/>
                    <a:pt x="2502" y="1913"/>
                    <a:pt x="2561" y="1877"/>
                  </a:cubicBezTo>
                  <a:cubicBezTo>
                    <a:pt x="2575" y="1868"/>
                    <a:pt x="2589" y="1859"/>
                    <a:pt x="2603" y="1849"/>
                  </a:cubicBezTo>
                  <a:cubicBezTo>
                    <a:pt x="2617" y="1839"/>
                    <a:pt x="2630" y="1828"/>
                    <a:pt x="2642" y="1816"/>
                  </a:cubicBezTo>
                  <a:cubicBezTo>
                    <a:pt x="2667" y="1792"/>
                    <a:pt x="2688" y="1765"/>
                    <a:pt x="2706" y="1736"/>
                  </a:cubicBezTo>
                  <a:cubicBezTo>
                    <a:pt x="2742" y="1678"/>
                    <a:pt x="2764" y="1611"/>
                    <a:pt x="2769" y="1543"/>
                  </a:cubicBezTo>
                  <a:cubicBezTo>
                    <a:pt x="2774" y="1475"/>
                    <a:pt x="2761" y="1405"/>
                    <a:pt x="2731" y="1344"/>
                  </a:cubicBezTo>
                  <a:cubicBezTo>
                    <a:pt x="2731" y="1344"/>
                    <a:pt x="2731" y="1344"/>
                    <a:pt x="2731" y="1344"/>
                  </a:cubicBezTo>
                  <a:cubicBezTo>
                    <a:pt x="2731" y="1344"/>
                    <a:pt x="2731" y="1344"/>
                    <a:pt x="2731" y="1344"/>
                  </a:cubicBezTo>
                  <a:cubicBezTo>
                    <a:pt x="2709" y="1305"/>
                    <a:pt x="2709" y="1305"/>
                    <a:pt x="2709" y="1305"/>
                  </a:cubicBezTo>
                  <a:cubicBezTo>
                    <a:pt x="2709" y="1305"/>
                    <a:pt x="2709" y="1305"/>
                    <a:pt x="2709" y="1305"/>
                  </a:cubicBezTo>
                  <a:cubicBezTo>
                    <a:pt x="2709" y="1305"/>
                    <a:pt x="2709" y="1305"/>
                    <a:pt x="2709" y="1305"/>
                  </a:cubicBezTo>
                  <a:cubicBezTo>
                    <a:pt x="2682" y="1264"/>
                    <a:pt x="2651" y="1226"/>
                    <a:pt x="2616" y="1192"/>
                  </a:cubicBezTo>
                  <a:cubicBezTo>
                    <a:pt x="2581" y="1158"/>
                    <a:pt x="2542" y="1128"/>
                    <a:pt x="2502" y="1101"/>
                  </a:cubicBezTo>
                  <a:cubicBezTo>
                    <a:pt x="2420" y="1047"/>
                    <a:pt x="2332" y="1006"/>
                    <a:pt x="2241" y="972"/>
                  </a:cubicBezTo>
                  <a:cubicBezTo>
                    <a:pt x="2150" y="938"/>
                    <a:pt x="2057" y="912"/>
                    <a:pt x="1962" y="889"/>
                  </a:cubicBezTo>
                  <a:cubicBezTo>
                    <a:pt x="1915" y="878"/>
                    <a:pt x="1868" y="868"/>
                    <a:pt x="1821" y="859"/>
                  </a:cubicBezTo>
                  <a:cubicBezTo>
                    <a:pt x="1773" y="849"/>
                    <a:pt x="1725" y="842"/>
                    <a:pt x="1677" y="835"/>
                  </a:cubicBezTo>
                  <a:cubicBezTo>
                    <a:pt x="1534" y="812"/>
                    <a:pt x="1534" y="812"/>
                    <a:pt x="1534" y="812"/>
                  </a:cubicBezTo>
                  <a:cubicBezTo>
                    <a:pt x="1487" y="804"/>
                    <a:pt x="1439" y="796"/>
                    <a:pt x="1391" y="790"/>
                  </a:cubicBezTo>
                  <a:cubicBezTo>
                    <a:pt x="1103" y="751"/>
                    <a:pt x="1103" y="751"/>
                    <a:pt x="1103" y="751"/>
                  </a:cubicBezTo>
                  <a:cubicBezTo>
                    <a:pt x="960" y="732"/>
                    <a:pt x="960" y="732"/>
                    <a:pt x="960" y="732"/>
                  </a:cubicBezTo>
                  <a:cubicBezTo>
                    <a:pt x="912" y="725"/>
                    <a:pt x="864" y="718"/>
                    <a:pt x="817" y="710"/>
                  </a:cubicBezTo>
                  <a:cubicBezTo>
                    <a:pt x="769" y="702"/>
                    <a:pt x="722" y="691"/>
                    <a:pt x="677" y="675"/>
                  </a:cubicBezTo>
                  <a:cubicBezTo>
                    <a:pt x="654" y="667"/>
                    <a:pt x="632" y="658"/>
                    <a:pt x="613" y="643"/>
                  </a:cubicBezTo>
                  <a:cubicBezTo>
                    <a:pt x="604" y="636"/>
                    <a:pt x="596" y="628"/>
                    <a:pt x="590" y="618"/>
                  </a:cubicBezTo>
                  <a:cubicBezTo>
                    <a:pt x="585" y="609"/>
                    <a:pt x="581" y="597"/>
                    <a:pt x="583" y="586"/>
                  </a:cubicBezTo>
                  <a:cubicBezTo>
                    <a:pt x="583" y="586"/>
                    <a:pt x="583" y="586"/>
                    <a:pt x="583" y="586"/>
                  </a:cubicBezTo>
                  <a:cubicBezTo>
                    <a:pt x="583" y="586"/>
                    <a:pt x="583" y="586"/>
                    <a:pt x="583" y="586"/>
                  </a:cubicBezTo>
                  <a:cubicBezTo>
                    <a:pt x="583" y="581"/>
                    <a:pt x="585" y="577"/>
                    <a:pt x="587" y="571"/>
                  </a:cubicBezTo>
                  <a:cubicBezTo>
                    <a:pt x="587" y="571"/>
                    <a:pt x="587" y="571"/>
                    <a:pt x="587" y="571"/>
                  </a:cubicBezTo>
                  <a:cubicBezTo>
                    <a:pt x="594" y="555"/>
                    <a:pt x="606" y="542"/>
                    <a:pt x="619" y="531"/>
                  </a:cubicBezTo>
                  <a:cubicBezTo>
                    <a:pt x="632" y="520"/>
                    <a:pt x="647" y="511"/>
                    <a:pt x="663" y="503"/>
                  </a:cubicBezTo>
                  <a:cubicBezTo>
                    <a:pt x="711" y="479"/>
                    <a:pt x="711" y="479"/>
                    <a:pt x="711" y="479"/>
                  </a:cubicBezTo>
                  <a:cubicBezTo>
                    <a:pt x="727" y="470"/>
                    <a:pt x="743" y="463"/>
                    <a:pt x="759" y="456"/>
                  </a:cubicBezTo>
                  <a:cubicBezTo>
                    <a:pt x="808" y="433"/>
                    <a:pt x="808" y="433"/>
                    <a:pt x="808" y="433"/>
                  </a:cubicBezTo>
                  <a:cubicBezTo>
                    <a:pt x="856" y="408"/>
                    <a:pt x="856" y="408"/>
                    <a:pt x="856" y="408"/>
                  </a:cubicBezTo>
                  <a:cubicBezTo>
                    <a:pt x="872" y="400"/>
                    <a:pt x="888" y="392"/>
                    <a:pt x="903" y="383"/>
                  </a:cubicBezTo>
                  <a:cubicBezTo>
                    <a:pt x="919" y="374"/>
                    <a:pt x="934" y="365"/>
                    <a:pt x="949" y="355"/>
                  </a:cubicBezTo>
                  <a:cubicBezTo>
                    <a:pt x="979" y="335"/>
                    <a:pt x="1008" y="314"/>
                    <a:pt x="1035" y="289"/>
                  </a:cubicBezTo>
                  <a:cubicBezTo>
                    <a:pt x="1062" y="265"/>
                    <a:pt x="1086" y="239"/>
                    <a:pt x="1106" y="208"/>
                  </a:cubicBezTo>
                  <a:cubicBezTo>
                    <a:pt x="1125" y="178"/>
                    <a:pt x="1140" y="144"/>
                    <a:pt x="1147" y="108"/>
                  </a:cubicBezTo>
                  <a:cubicBezTo>
                    <a:pt x="1154" y="73"/>
                    <a:pt x="1153" y="36"/>
                    <a:pt x="1145" y="0"/>
                  </a:cubicBezTo>
                  <a:lnTo>
                    <a:pt x="1139" y="2"/>
                  </a:lnTo>
                  <a:close/>
                </a:path>
              </a:pathLst>
            </a:custGeom>
            <a:solidFill>
              <a:srgbClr val="FFFFFF"/>
            </a:solidFill>
            <a:ln>
              <a:noFill/>
            </a:ln>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9" name="Freeform 20"/>
            <p:cNvSpPr/>
            <p:nvPr/>
          </p:nvSpPr>
          <p:spPr bwMode="auto">
            <a:xfrm>
              <a:off x="3473644" y="2726009"/>
              <a:ext cx="3507777" cy="4131356"/>
            </a:xfrm>
            <a:custGeom>
              <a:avLst/>
              <a:gdLst>
                <a:gd name="T0" fmla="*/ 2513 w 3466"/>
                <a:gd name="T1" fmla="*/ 32 h 4098"/>
                <a:gd name="T2" fmla="*/ 2163 w 3466"/>
                <a:gd name="T3" fmla="*/ 288 h 4098"/>
                <a:gd name="T4" fmla="*/ 1580 w 3466"/>
                <a:gd name="T5" fmla="*/ 572 h 4098"/>
                <a:gd name="T6" fmla="*/ 1648 w 3466"/>
                <a:gd name="T7" fmla="*/ 766 h 4098"/>
                <a:gd name="T8" fmla="*/ 1737 w 3466"/>
                <a:gd name="T9" fmla="*/ 819 h 4098"/>
                <a:gd name="T10" fmla="*/ 3164 w 3466"/>
                <a:gd name="T11" fmla="*/ 1166 h 4098"/>
                <a:gd name="T12" fmla="*/ 3450 w 3466"/>
                <a:gd name="T13" fmla="*/ 1348 h 4098"/>
                <a:gd name="T14" fmla="*/ 3445 w 3466"/>
                <a:gd name="T15" fmla="*/ 1376 h 4098"/>
                <a:gd name="T16" fmla="*/ 3379 w 3466"/>
                <a:gd name="T17" fmla="*/ 1449 h 4098"/>
                <a:gd name="T18" fmla="*/ 3321 w 3466"/>
                <a:gd name="T19" fmla="*/ 1480 h 4098"/>
                <a:gd name="T20" fmla="*/ 2596 w 3466"/>
                <a:gd name="T21" fmla="*/ 1567 h 4098"/>
                <a:gd name="T22" fmla="*/ 1621 w 3466"/>
                <a:gd name="T23" fmla="*/ 1678 h 4098"/>
                <a:gd name="T24" fmla="*/ 68 w 3466"/>
                <a:gd name="T25" fmla="*/ 2332 h 4098"/>
                <a:gd name="T26" fmla="*/ 31 w 3466"/>
                <a:gd name="T27" fmla="*/ 2407 h 4098"/>
                <a:gd name="T28" fmla="*/ 673 w 3466"/>
                <a:gd name="T29" fmla="*/ 3238 h 4098"/>
                <a:gd name="T30" fmla="*/ 1140 w 3466"/>
                <a:gd name="T31" fmla="*/ 3391 h 4098"/>
                <a:gd name="T32" fmla="*/ 1771 w 3466"/>
                <a:gd name="T33" fmla="*/ 3563 h 4098"/>
                <a:gd name="T34" fmla="*/ 2163 w 3466"/>
                <a:gd name="T35" fmla="*/ 3677 h 4098"/>
                <a:gd name="T36" fmla="*/ 2462 w 3466"/>
                <a:gd name="T37" fmla="*/ 3799 h 4098"/>
                <a:gd name="T38" fmla="*/ 2531 w 3466"/>
                <a:gd name="T39" fmla="*/ 3842 h 4098"/>
                <a:gd name="T40" fmla="*/ 2706 w 3466"/>
                <a:gd name="T41" fmla="*/ 4033 h 4098"/>
                <a:gd name="T42" fmla="*/ 2716 w 3466"/>
                <a:gd name="T43" fmla="*/ 4066 h 4098"/>
                <a:gd name="T44" fmla="*/ 2720 w 3466"/>
                <a:gd name="T45" fmla="*/ 4098 h 4098"/>
                <a:gd name="T46" fmla="*/ 2756 w 3466"/>
                <a:gd name="T47" fmla="*/ 4098 h 4098"/>
                <a:gd name="T48" fmla="*/ 2755 w 3466"/>
                <a:gd name="T49" fmla="*/ 4098 h 4098"/>
                <a:gd name="T50" fmla="*/ 2750 w 3466"/>
                <a:gd name="T51" fmla="*/ 4052 h 4098"/>
                <a:gd name="T52" fmla="*/ 2736 w 3466"/>
                <a:gd name="T53" fmla="*/ 4011 h 4098"/>
                <a:gd name="T54" fmla="*/ 2609 w 3466"/>
                <a:gd name="T55" fmla="*/ 3856 h 4098"/>
                <a:gd name="T56" fmla="*/ 2568 w 3466"/>
                <a:gd name="T57" fmla="*/ 3824 h 4098"/>
                <a:gd name="T58" fmla="*/ 2550 w 3466"/>
                <a:gd name="T59" fmla="*/ 3812 h 4098"/>
                <a:gd name="T60" fmla="*/ 2479 w 3466"/>
                <a:gd name="T61" fmla="*/ 3769 h 4098"/>
                <a:gd name="T62" fmla="*/ 2174 w 3466"/>
                <a:gd name="T63" fmla="*/ 3645 h 4098"/>
                <a:gd name="T64" fmla="*/ 1780 w 3466"/>
                <a:gd name="T65" fmla="*/ 3531 h 4098"/>
                <a:gd name="T66" fmla="*/ 1149 w 3466"/>
                <a:gd name="T67" fmla="*/ 3361 h 4098"/>
                <a:gd name="T68" fmla="*/ 683 w 3466"/>
                <a:gd name="T69" fmla="*/ 3210 h 4098"/>
                <a:gd name="T70" fmla="*/ 29 w 3466"/>
                <a:gd name="T71" fmla="*/ 2572 h 4098"/>
                <a:gd name="T72" fmla="*/ 1624 w 3466"/>
                <a:gd name="T73" fmla="*/ 1699 h 4098"/>
                <a:gd name="T74" fmla="*/ 2598 w 3466"/>
                <a:gd name="T75" fmla="*/ 1586 h 4098"/>
                <a:gd name="T76" fmla="*/ 3328 w 3466"/>
                <a:gd name="T77" fmla="*/ 1495 h 4098"/>
                <a:gd name="T78" fmla="*/ 3387 w 3466"/>
                <a:gd name="T79" fmla="*/ 1464 h 4098"/>
                <a:gd name="T80" fmla="*/ 3461 w 3466"/>
                <a:gd name="T81" fmla="*/ 1380 h 4098"/>
                <a:gd name="T82" fmla="*/ 3466 w 3466"/>
                <a:gd name="T83" fmla="*/ 1348 h 4098"/>
                <a:gd name="T84" fmla="*/ 3167 w 3466"/>
                <a:gd name="T85" fmla="*/ 1152 h 4098"/>
                <a:gd name="T86" fmla="*/ 1742 w 3466"/>
                <a:gd name="T87" fmla="*/ 809 h 4098"/>
                <a:gd name="T88" fmla="*/ 1655 w 3466"/>
                <a:gd name="T89" fmla="*/ 758 h 4098"/>
                <a:gd name="T90" fmla="*/ 1589 w 3466"/>
                <a:gd name="T91" fmla="*/ 577 h 4098"/>
                <a:gd name="T92" fmla="*/ 2165 w 3466"/>
                <a:gd name="T93" fmla="*/ 296 h 4098"/>
                <a:gd name="T94" fmla="*/ 2519 w 3466"/>
                <a:gd name="T95" fmla="*/ 35 h 4098"/>
                <a:gd name="T96" fmla="*/ 2526 w 3466"/>
                <a:gd name="T97" fmla="*/ 0 h 40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466" h="4098">
                  <a:moveTo>
                    <a:pt x="2526" y="0"/>
                  </a:moveTo>
                  <a:cubicBezTo>
                    <a:pt x="2524" y="5"/>
                    <a:pt x="2524" y="5"/>
                    <a:pt x="2524" y="5"/>
                  </a:cubicBezTo>
                  <a:cubicBezTo>
                    <a:pt x="2521" y="14"/>
                    <a:pt x="2521" y="14"/>
                    <a:pt x="2521" y="14"/>
                  </a:cubicBezTo>
                  <a:cubicBezTo>
                    <a:pt x="2518" y="20"/>
                    <a:pt x="2515" y="26"/>
                    <a:pt x="2513" y="32"/>
                  </a:cubicBezTo>
                  <a:cubicBezTo>
                    <a:pt x="2507" y="45"/>
                    <a:pt x="2501" y="57"/>
                    <a:pt x="2494" y="69"/>
                  </a:cubicBezTo>
                  <a:cubicBezTo>
                    <a:pt x="2481" y="92"/>
                    <a:pt x="2466" y="115"/>
                    <a:pt x="2447" y="134"/>
                  </a:cubicBezTo>
                  <a:cubicBezTo>
                    <a:pt x="2408" y="172"/>
                    <a:pt x="2360" y="198"/>
                    <a:pt x="2312" y="223"/>
                  </a:cubicBezTo>
                  <a:cubicBezTo>
                    <a:pt x="2263" y="248"/>
                    <a:pt x="2213" y="269"/>
                    <a:pt x="2163" y="288"/>
                  </a:cubicBezTo>
                  <a:cubicBezTo>
                    <a:pt x="2112" y="307"/>
                    <a:pt x="2060" y="325"/>
                    <a:pt x="2008" y="343"/>
                  </a:cubicBezTo>
                  <a:cubicBezTo>
                    <a:pt x="1906" y="378"/>
                    <a:pt x="1800" y="410"/>
                    <a:pt x="1704" y="464"/>
                  </a:cubicBezTo>
                  <a:cubicBezTo>
                    <a:pt x="1680" y="477"/>
                    <a:pt x="1657" y="493"/>
                    <a:pt x="1636" y="510"/>
                  </a:cubicBezTo>
                  <a:cubicBezTo>
                    <a:pt x="1615" y="528"/>
                    <a:pt x="1595" y="548"/>
                    <a:pt x="1580" y="572"/>
                  </a:cubicBezTo>
                  <a:cubicBezTo>
                    <a:pt x="1565" y="595"/>
                    <a:pt x="1557" y="624"/>
                    <a:pt x="1561" y="653"/>
                  </a:cubicBezTo>
                  <a:cubicBezTo>
                    <a:pt x="1566" y="681"/>
                    <a:pt x="1581" y="707"/>
                    <a:pt x="1601" y="727"/>
                  </a:cubicBezTo>
                  <a:cubicBezTo>
                    <a:pt x="1610" y="737"/>
                    <a:pt x="1621" y="746"/>
                    <a:pt x="1632" y="754"/>
                  </a:cubicBezTo>
                  <a:cubicBezTo>
                    <a:pt x="1648" y="766"/>
                    <a:pt x="1648" y="766"/>
                    <a:pt x="1648" y="766"/>
                  </a:cubicBezTo>
                  <a:cubicBezTo>
                    <a:pt x="1666" y="777"/>
                    <a:pt x="1666" y="777"/>
                    <a:pt x="1666" y="777"/>
                  </a:cubicBezTo>
                  <a:cubicBezTo>
                    <a:pt x="1701" y="799"/>
                    <a:pt x="1701" y="799"/>
                    <a:pt x="1701" y="799"/>
                  </a:cubicBezTo>
                  <a:cubicBezTo>
                    <a:pt x="1707" y="802"/>
                    <a:pt x="1712" y="806"/>
                    <a:pt x="1719" y="810"/>
                  </a:cubicBezTo>
                  <a:cubicBezTo>
                    <a:pt x="1737" y="819"/>
                    <a:pt x="1737" y="819"/>
                    <a:pt x="1737" y="819"/>
                  </a:cubicBezTo>
                  <a:cubicBezTo>
                    <a:pt x="1786" y="844"/>
                    <a:pt x="1836" y="865"/>
                    <a:pt x="1887" y="885"/>
                  </a:cubicBezTo>
                  <a:cubicBezTo>
                    <a:pt x="1989" y="924"/>
                    <a:pt x="2094" y="956"/>
                    <a:pt x="2201" y="980"/>
                  </a:cubicBezTo>
                  <a:cubicBezTo>
                    <a:pt x="2413" y="1029"/>
                    <a:pt x="2629" y="1063"/>
                    <a:pt x="2844" y="1101"/>
                  </a:cubicBezTo>
                  <a:cubicBezTo>
                    <a:pt x="2951" y="1119"/>
                    <a:pt x="3058" y="1139"/>
                    <a:pt x="3164" y="1166"/>
                  </a:cubicBezTo>
                  <a:cubicBezTo>
                    <a:pt x="3216" y="1180"/>
                    <a:pt x="3268" y="1195"/>
                    <a:pt x="3317" y="1218"/>
                  </a:cubicBezTo>
                  <a:cubicBezTo>
                    <a:pt x="3342" y="1229"/>
                    <a:pt x="3365" y="1242"/>
                    <a:pt x="3387" y="1257"/>
                  </a:cubicBezTo>
                  <a:cubicBezTo>
                    <a:pt x="3409" y="1271"/>
                    <a:pt x="3429" y="1289"/>
                    <a:pt x="3441" y="1312"/>
                  </a:cubicBezTo>
                  <a:cubicBezTo>
                    <a:pt x="3446" y="1323"/>
                    <a:pt x="3450" y="1336"/>
                    <a:pt x="3450" y="1348"/>
                  </a:cubicBezTo>
                  <a:cubicBezTo>
                    <a:pt x="3450" y="1351"/>
                    <a:pt x="3450" y="1355"/>
                    <a:pt x="3449" y="1357"/>
                  </a:cubicBezTo>
                  <a:cubicBezTo>
                    <a:pt x="3449" y="1359"/>
                    <a:pt x="3449" y="1360"/>
                    <a:pt x="3449" y="1362"/>
                  </a:cubicBezTo>
                  <a:cubicBezTo>
                    <a:pt x="3448" y="1366"/>
                    <a:pt x="3448" y="1366"/>
                    <a:pt x="3448" y="1366"/>
                  </a:cubicBezTo>
                  <a:cubicBezTo>
                    <a:pt x="3445" y="1376"/>
                    <a:pt x="3445" y="1376"/>
                    <a:pt x="3445" y="1376"/>
                  </a:cubicBezTo>
                  <a:cubicBezTo>
                    <a:pt x="3445" y="1378"/>
                    <a:pt x="3443" y="1382"/>
                    <a:pt x="3442" y="1384"/>
                  </a:cubicBezTo>
                  <a:cubicBezTo>
                    <a:pt x="3432" y="1408"/>
                    <a:pt x="3413" y="1426"/>
                    <a:pt x="3391" y="1441"/>
                  </a:cubicBezTo>
                  <a:cubicBezTo>
                    <a:pt x="3383" y="1447"/>
                    <a:pt x="3383" y="1447"/>
                    <a:pt x="3383" y="1447"/>
                  </a:cubicBezTo>
                  <a:cubicBezTo>
                    <a:pt x="3379" y="1449"/>
                    <a:pt x="3379" y="1449"/>
                    <a:pt x="3379" y="1449"/>
                  </a:cubicBezTo>
                  <a:cubicBezTo>
                    <a:pt x="3375" y="1452"/>
                    <a:pt x="3375" y="1452"/>
                    <a:pt x="3375" y="1452"/>
                  </a:cubicBezTo>
                  <a:cubicBezTo>
                    <a:pt x="3357" y="1462"/>
                    <a:pt x="3357" y="1462"/>
                    <a:pt x="3357" y="1462"/>
                  </a:cubicBezTo>
                  <a:cubicBezTo>
                    <a:pt x="3351" y="1465"/>
                    <a:pt x="3345" y="1469"/>
                    <a:pt x="3339" y="1471"/>
                  </a:cubicBezTo>
                  <a:cubicBezTo>
                    <a:pt x="3333" y="1474"/>
                    <a:pt x="3327" y="1477"/>
                    <a:pt x="3321" y="1480"/>
                  </a:cubicBezTo>
                  <a:cubicBezTo>
                    <a:pt x="3296" y="1490"/>
                    <a:pt x="3271" y="1499"/>
                    <a:pt x="3245" y="1506"/>
                  </a:cubicBezTo>
                  <a:cubicBezTo>
                    <a:pt x="3193" y="1520"/>
                    <a:pt x="3139" y="1527"/>
                    <a:pt x="3085" y="1534"/>
                  </a:cubicBezTo>
                  <a:cubicBezTo>
                    <a:pt x="3031" y="1540"/>
                    <a:pt x="2977" y="1543"/>
                    <a:pt x="2923" y="1547"/>
                  </a:cubicBezTo>
                  <a:cubicBezTo>
                    <a:pt x="2814" y="1555"/>
                    <a:pt x="2705" y="1561"/>
                    <a:pt x="2596" y="1567"/>
                  </a:cubicBezTo>
                  <a:cubicBezTo>
                    <a:pt x="2569" y="1569"/>
                    <a:pt x="2542" y="1570"/>
                    <a:pt x="2514" y="1573"/>
                  </a:cubicBezTo>
                  <a:cubicBezTo>
                    <a:pt x="2433" y="1580"/>
                    <a:pt x="2433" y="1580"/>
                    <a:pt x="2433" y="1580"/>
                  </a:cubicBezTo>
                  <a:cubicBezTo>
                    <a:pt x="2270" y="1595"/>
                    <a:pt x="2270" y="1595"/>
                    <a:pt x="2270" y="1595"/>
                  </a:cubicBezTo>
                  <a:cubicBezTo>
                    <a:pt x="2053" y="1614"/>
                    <a:pt x="1836" y="1643"/>
                    <a:pt x="1621" y="1678"/>
                  </a:cubicBezTo>
                  <a:cubicBezTo>
                    <a:pt x="1405" y="1713"/>
                    <a:pt x="1190" y="1752"/>
                    <a:pt x="979" y="1810"/>
                  </a:cubicBezTo>
                  <a:cubicBezTo>
                    <a:pt x="769" y="1869"/>
                    <a:pt x="560" y="1940"/>
                    <a:pt x="371" y="2054"/>
                  </a:cubicBezTo>
                  <a:cubicBezTo>
                    <a:pt x="278" y="2111"/>
                    <a:pt x="188" y="2178"/>
                    <a:pt x="117" y="2264"/>
                  </a:cubicBezTo>
                  <a:cubicBezTo>
                    <a:pt x="99" y="2286"/>
                    <a:pt x="83" y="2308"/>
                    <a:pt x="68" y="2332"/>
                  </a:cubicBezTo>
                  <a:cubicBezTo>
                    <a:pt x="58" y="2350"/>
                    <a:pt x="58" y="2350"/>
                    <a:pt x="58" y="2350"/>
                  </a:cubicBezTo>
                  <a:cubicBezTo>
                    <a:pt x="48" y="2369"/>
                    <a:pt x="48" y="2369"/>
                    <a:pt x="48" y="2369"/>
                  </a:cubicBezTo>
                  <a:cubicBezTo>
                    <a:pt x="45" y="2376"/>
                    <a:pt x="42" y="2381"/>
                    <a:pt x="39" y="2388"/>
                  </a:cubicBezTo>
                  <a:cubicBezTo>
                    <a:pt x="36" y="2394"/>
                    <a:pt x="33" y="2401"/>
                    <a:pt x="31" y="2407"/>
                  </a:cubicBezTo>
                  <a:cubicBezTo>
                    <a:pt x="10" y="2459"/>
                    <a:pt x="0" y="2516"/>
                    <a:pt x="3" y="2573"/>
                  </a:cubicBezTo>
                  <a:cubicBezTo>
                    <a:pt x="6" y="2686"/>
                    <a:pt x="58" y="2792"/>
                    <a:pt x="127" y="2878"/>
                  </a:cubicBezTo>
                  <a:cubicBezTo>
                    <a:pt x="197" y="2965"/>
                    <a:pt x="282" y="3037"/>
                    <a:pt x="376" y="3095"/>
                  </a:cubicBezTo>
                  <a:cubicBezTo>
                    <a:pt x="470" y="3154"/>
                    <a:pt x="571" y="3198"/>
                    <a:pt x="673" y="3238"/>
                  </a:cubicBezTo>
                  <a:cubicBezTo>
                    <a:pt x="724" y="3257"/>
                    <a:pt x="776" y="3275"/>
                    <a:pt x="827" y="3293"/>
                  </a:cubicBezTo>
                  <a:cubicBezTo>
                    <a:pt x="853" y="3302"/>
                    <a:pt x="878" y="3311"/>
                    <a:pt x="905" y="3319"/>
                  </a:cubicBezTo>
                  <a:cubicBezTo>
                    <a:pt x="984" y="3343"/>
                    <a:pt x="984" y="3343"/>
                    <a:pt x="984" y="3343"/>
                  </a:cubicBezTo>
                  <a:cubicBezTo>
                    <a:pt x="1140" y="3391"/>
                    <a:pt x="1140" y="3391"/>
                    <a:pt x="1140" y="3391"/>
                  </a:cubicBezTo>
                  <a:cubicBezTo>
                    <a:pt x="1166" y="3398"/>
                    <a:pt x="1192" y="3407"/>
                    <a:pt x="1219" y="3414"/>
                  </a:cubicBezTo>
                  <a:cubicBezTo>
                    <a:pt x="1298" y="3435"/>
                    <a:pt x="1298" y="3435"/>
                    <a:pt x="1298" y="3435"/>
                  </a:cubicBezTo>
                  <a:cubicBezTo>
                    <a:pt x="1614" y="3520"/>
                    <a:pt x="1614" y="3520"/>
                    <a:pt x="1614" y="3520"/>
                  </a:cubicBezTo>
                  <a:cubicBezTo>
                    <a:pt x="1771" y="3563"/>
                    <a:pt x="1771" y="3563"/>
                    <a:pt x="1771" y="3563"/>
                  </a:cubicBezTo>
                  <a:cubicBezTo>
                    <a:pt x="1798" y="3570"/>
                    <a:pt x="1825" y="3577"/>
                    <a:pt x="1850" y="3584"/>
                  </a:cubicBezTo>
                  <a:cubicBezTo>
                    <a:pt x="1928" y="3607"/>
                    <a:pt x="1928" y="3607"/>
                    <a:pt x="1928" y="3607"/>
                  </a:cubicBezTo>
                  <a:cubicBezTo>
                    <a:pt x="2085" y="3654"/>
                    <a:pt x="2085" y="3654"/>
                    <a:pt x="2085" y="3654"/>
                  </a:cubicBezTo>
                  <a:cubicBezTo>
                    <a:pt x="2111" y="3661"/>
                    <a:pt x="2138" y="3669"/>
                    <a:pt x="2163" y="3677"/>
                  </a:cubicBezTo>
                  <a:cubicBezTo>
                    <a:pt x="2240" y="3704"/>
                    <a:pt x="2240" y="3704"/>
                    <a:pt x="2240" y="3704"/>
                  </a:cubicBezTo>
                  <a:cubicBezTo>
                    <a:pt x="2316" y="3732"/>
                    <a:pt x="2316" y="3732"/>
                    <a:pt x="2316" y="3732"/>
                  </a:cubicBezTo>
                  <a:cubicBezTo>
                    <a:pt x="2341" y="3742"/>
                    <a:pt x="2366" y="3752"/>
                    <a:pt x="2391" y="3763"/>
                  </a:cubicBezTo>
                  <a:cubicBezTo>
                    <a:pt x="2415" y="3774"/>
                    <a:pt x="2439" y="3786"/>
                    <a:pt x="2462" y="3799"/>
                  </a:cubicBezTo>
                  <a:cubicBezTo>
                    <a:pt x="2470" y="3804"/>
                    <a:pt x="2470" y="3804"/>
                    <a:pt x="2470" y="3804"/>
                  </a:cubicBezTo>
                  <a:cubicBezTo>
                    <a:pt x="2479" y="3809"/>
                    <a:pt x="2479" y="3809"/>
                    <a:pt x="2479" y="3809"/>
                  </a:cubicBezTo>
                  <a:cubicBezTo>
                    <a:pt x="2496" y="3820"/>
                    <a:pt x="2496" y="3820"/>
                    <a:pt x="2496" y="3820"/>
                  </a:cubicBezTo>
                  <a:cubicBezTo>
                    <a:pt x="2531" y="3842"/>
                    <a:pt x="2531" y="3842"/>
                    <a:pt x="2531" y="3842"/>
                  </a:cubicBezTo>
                  <a:cubicBezTo>
                    <a:pt x="2574" y="3871"/>
                    <a:pt x="2617" y="3905"/>
                    <a:pt x="2651" y="3945"/>
                  </a:cubicBezTo>
                  <a:cubicBezTo>
                    <a:pt x="2668" y="3964"/>
                    <a:pt x="2683" y="3985"/>
                    <a:pt x="2695" y="4008"/>
                  </a:cubicBezTo>
                  <a:cubicBezTo>
                    <a:pt x="2698" y="4014"/>
                    <a:pt x="2701" y="4020"/>
                    <a:pt x="2703" y="4025"/>
                  </a:cubicBezTo>
                  <a:cubicBezTo>
                    <a:pt x="2706" y="4033"/>
                    <a:pt x="2706" y="4033"/>
                    <a:pt x="2706" y="4033"/>
                  </a:cubicBezTo>
                  <a:cubicBezTo>
                    <a:pt x="2709" y="4043"/>
                    <a:pt x="2709" y="4043"/>
                    <a:pt x="2709" y="4043"/>
                  </a:cubicBezTo>
                  <a:cubicBezTo>
                    <a:pt x="2715" y="4063"/>
                    <a:pt x="2715" y="4063"/>
                    <a:pt x="2715" y="4063"/>
                  </a:cubicBezTo>
                  <a:cubicBezTo>
                    <a:pt x="2716" y="4065"/>
                    <a:pt x="2715" y="4062"/>
                    <a:pt x="2716" y="4063"/>
                  </a:cubicBezTo>
                  <a:cubicBezTo>
                    <a:pt x="2716" y="4066"/>
                    <a:pt x="2716" y="4066"/>
                    <a:pt x="2716" y="4066"/>
                  </a:cubicBezTo>
                  <a:cubicBezTo>
                    <a:pt x="2717" y="4098"/>
                    <a:pt x="2717" y="4098"/>
                    <a:pt x="2717" y="4098"/>
                  </a:cubicBezTo>
                  <a:cubicBezTo>
                    <a:pt x="2719" y="4098"/>
                    <a:pt x="2719" y="4098"/>
                    <a:pt x="2719" y="4098"/>
                  </a:cubicBezTo>
                  <a:cubicBezTo>
                    <a:pt x="2719" y="4098"/>
                    <a:pt x="2719" y="4098"/>
                    <a:pt x="2719" y="4098"/>
                  </a:cubicBezTo>
                  <a:cubicBezTo>
                    <a:pt x="2720" y="4098"/>
                    <a:pt x="2720" y="4098"/>
                    <a:pt x="2720" y="4098"/>
                  </a:cubicBezTo>
                  <a:cubicBezTo>
                    <a:pt x="2720" y="4098"/>
                    <a:pt x="2720" y="4098"/>
                    <a:pt x="2720" y="4098"/>
                  </a:cubicBezTo>
                  <a:cubicBezTo>
                    <a:pt x="2721" y="4098"/>
                    <a:pt x="2721" y="4098"/>
                    <a:pt x="2721" y="4098"/>
                  </a:cubicBezTo>
                  <a:cubicBezTo>
                    <a:pt x="2757" y="4098"/>
                    <a:pt x="2757" y="4098"/>
                    <a:pt x="2757" y="4098"/>
                  </a:cubicBezTo>
                  <a:cubicBezTo>
                    <a:pt x="2756" y="4098"/>
                    <a:pt x="2756" y="4098"/>
                    <a:pt x="2756" y="4098"/>
                  </a:cubicBezTo>
                  <a:cubicBezTo>
                    <a:pt x="2756" y="4098"/>
                    <a:pt x="2756" y="4098"/>
                    <a:pt x="2756" y="4098"/>
                  </a:cubicBezTo>
                  <a:cubicBezTo>
                    <a:pt x="2756" y="4098"/>
                    <a:pt x="2756" y="4098"/>
                    <a:pt x="2756" y="4098"/>
                  </a:cubicBezTo>
                  <a:cubicBezTo>
                    <a:pt x="2754" y="4098"/>
                    <a:pt x="2754" y="4098"/>
                    <a:pt x="2754" y="4098"/>
                  </a:cubicBezTo>
                  <a:cubicBezTo>
                    <a:pt x="2755" y="4098"/>
                    <a:pt x="2755" y="4098"/>
                    <a:pt x="2755" y="4098"/>
                  </a:cubicBezTo>
                  <a:cubicBezTo>
                    <a:pt x="2754" y="4094"/>
                    <a:pt x="2753" y="4067"/>
                    <a:pt x="2752" y="4063"/>
                  </a:cubicBezTo>
                  <a:cubicBezTo>
                    <a:pt x="2751" y="4058"/>
                    <a:pt x="2751" y="4058"/>
                    <a:pt x="2751" y="4058"/>
                  </a:cubicBezTo>
                  <a:cubicBezTo>
                    <a:pt x="2751" y="4056"/>
                    <a:pt x="2751" y="4056"/>
                    <a:pt x="2751" y="4056"/>
                  </a:cubicBezTo>
                  <a:cubicBezTo>
                    <a:pt x="2751" y="4055"/>
                    <a:pt x="2749" y="4051"/>
                    <a:pt x="2750" y="4052"/>
                  </a:cubicBezTo>
                  <a:cubicBezTo>
                    <a:pt x="2743" y="4032"/>
                    <a:pt x="2743" y="4032"/>
                    <a:pt x="2743" y="4032"/>
                  </a:cubicBezTo>
                  <a:cubicBezTo>
                    <a:pt x="2740" y="4022"/>
                    <a:pt x="2740" y="4022"/>
                    <a:pt x="2740" y="4022"/>
                  </a:cubicBezTo>
                  <a:cubicBezTo>
                    <a:pt x="2738" y="4016"/>
                    <a:pt x="2738" y="4016"/>
                    <a:pt x="2738" y="4016"/>
                  </a:cubicBezTo>
                  <a:cubicBezTo>
                    <a:pt x="2736" y="4011"/>
                    <a:pt x="2736" y="4011"/>
                    <a:pt x="2736" y="4011"/>
                  </a:cubicBezTo>
                  <a:cubicBezTo>
                    <a:pt x="2733" y="4005"/>
                    <a:pt x="2730" y="3998"/>
                    <a:pt x="2727" y="3992"/>
                  </a:cubicBezTo>
                  <a:cubicBezTo>
                    <a:pt x="2713" y="3966"/>
                    <a:pt x="2696" y="3943"/>
                    <a:pt x="2678" y="3921"/>
                  </a:cubicBezTo>
                  <a:cubicBezTo>
                    <a:pt x="2659" y="3900"/>
                    <a:pt x="2638" y="3881"/>
                    <a:pt x="2617" y="3862"/>
                  </a:cubicBezTo>
                  <a:cubicBezTo>
                    <a:pt x="2609" y="3856"/>
                    <a:pt x="2609" y="3856"/>
                    <a:pt x="2609" y="3856"/>
                  </a:cubicBezTo>
                  <a:cubicBezTo>
                    <a:pt x="2605" y="3852"/>
                    <a:pt x="2605" y="3852"/>
                    <a:pt x="2605" y="3852"/>
                  </a:cubicBezTo>
                  <a:cubicBezTo>
                    <a:pt x="2601" y="3849"/>
                    <a:pt x="2601" y="3849"/>
                    <a:pt x="2601" y="3849"/>
                  </a:cubicBezTo>
                  <a:cubicBezTo>
                    <a:pt x="2584" y="3837"/>
                    <a:pt x="2584" y="3837"/>
                    <a:pt x="2584" y="3837"/>
                  </a:cubicBezTo>
                  <a:cubicBezTo>
                    <a:pt x="2568" y="3824"/>
                    <a:pt x="2568" y="3824"/>
                    <a:pt x="2568" y="3824"/>
                  </a:cubicBezTo>
                  <a:cubicBezTo>
                    <a:pt x="2568" y="3824"/>
                    <a:pt x="2565" y="3822"/>
                    <a:pt x="2565" y="3822"/>
                  </a:cubicBezTo>
                  <a:cubicBezTo>
                    <a:pt x="2563" y="3821"/>
                    <a:pt x="2563" y="3821"/>
                    <a:pt x="2563" y="3821"/>
                  </a:cubicBezTo>
                  <a:cubicBezTo>
                    <a:pt x="2558" y="3818"/>
                    <a:pt x="2558" y="3818"/>
                    <a:pt x="2558" y="3818"/>
                  </a:cubicBezTo>
                  <a:cubicBezTo>
                    <a:pt x="2550" y="3812"/>
                    <a:pt x="2550" y="3812"/>
                    <a:pt x="2550" y="3812"/>
                  </a:cubicBezTo>
                  <a:cubicBezTo>
                    <a:pt x="2515" y="3791"/>
                    <a:pt x="2515" y="3791"/>
                    <a:pt x="2515" y="3791"/>
                  </a:cubicBezTo>
                  <a:cubicBezTo>
                    <a:pt x="2498" y="3780"/>
                    <a:pt x="2498" y="3780"/>
                    <a:pt x="2498" y="3780"/>
                  </a:cubicBezTo>
                  <a:cubicBezTo>
                    <a:pt x="2489" y="3774"/>
                    <a:pt x="2489" y="3774"/>
                    <a:pt x="2489" y="3774"/>
                  </a:cubicBezTo>
                  <a:cubicBezTo>
                    <a:pt x="2479" y="3769"/>
                    <a:pt x="2479" y="3769"/>
                    <a:pt x="2479" y="3769"/>
                  </a:cubicBezTo>
                  <a:cubicBezTo>
                    <a:pt x="2455" y="3755"/>
                    <a:pt x="2430" y="3743"/>
                    <a:pt x="2405" y="3732"/>
                  </a:cubicBezTo>
                  <a:cubicBezTo>
                    <a:pt x="2380" y="3720"/>
                    <a:pt x="2354" y="3710"/>
                    <a:pt x="2329" y="3700"/>
                  </a:cubicBezTo>
                  <a:cubicBezTo>
                    <a:pt x="2251" y="3672"/>
                    <a:pt x="2251" y="3672"/>
                    <a:pt x="2251" y="3672"/>
                  </a:cubicBezTo>
                  <a:cubicBezTo>
                    <a:pt x="2174" y="3645"/>
                    <a:pt x="2174" y="3645"/>
                    <a:pt x="2174" y="3645"/>
                  </a:cubicBezTo>
                  <a:cubicBezTo>
                    <a:pt x="2146" y="3636"/>
                    <a:pt x="2121" y="3629"/>
                    <a:pt x="2095" y="3621"/>
                  </a:cubicBezTo>
                  <a:cubicBezTo>
                    <a:pt x="1938" y="3576"/>
                    <a:pt x="1938" y="3576"/>
                    <a:pt x="1938" y="3576"/>
                  </a:cubicBezTo>
                  <a:cubicBezTo>
                    <a:pt x="1859" y="3553"/>
                    <a:pt x="1859" y="3553"/>
                    <a:pt x="1859" y="3553"/>
                  </a:cubicBezTo>
                  <a:cubicBezTo>
                    <a:pt x="1832" y="3545"/>
                    <a:pt x="1806" y="3539"/>
                    <a:pt x="1780" y="3531"/>
                  </a:cubicBezTo>
                  <a:cubicBezTo>
                    <a:pt x="1622" y="3489"/>
                    <a:pt x="1622" y="3489"/>
                    <a:pt x="1622" y="3489"/>
                  </a:cubicBezTo>
                  <a:cubicBezTo>
                    <a:pt x="1306" y="3405"/>
                    <a:pt x="1306" y="3405"/>
                    <a:pt x="1306" y="3405"/>
                  </a:cubicBezTo>
                  <a:cubicBezTo>
                    <a:pt x="1227" y="3384"/>
                    <a:pt x="1227" y="3384"/>
                    <a:pt x="1227" y="3384"/>
                  </a:cubicBezTo>
                  <a:cubicBezTo>
                    <a:pt x="1202" y="3377"/>
                    <a:pt x="1175" y="3369"/>
                    <a:pt x="1149" y="3361"/>
                  </a:cubicBezTo>
                  <a:cubicBezTo>
                    <a:pt x="992" y="3314"/>
                    <a:pt x="992" y="3314"/>
                    <a:pt x="992" y="3314"/>
                  </a:cubicBezTo>
                  <a:cubicBezTo>
                    <a:pt x="914" y="3290"/>
                    <a:pt x="914" y="3290"/>
                    <a:pt x="914" y="3290"/>
                  </a:cubicBezTo>
                  <a:cubicBezTo>
                    <a:pt x="889" y="3282"/>
                    <a:pt x="863" y="3273"/>
                    <a:pt x="837" y="3265"/>
                  </a:cubicBezTo>
                  <a:cubicBezTo>
                    <a:pt x="785" y="3247"/>
                    <a:pt x="734" y="3229"/>
                    <a:pt x="683" y="3210"/>
                  </a:cubicBezTo>
                  <a:cubicBezTo>
                    <a:pt x="582" y="3171"/>
                    <a:pt x="483" y="3128"/>
                    <a:pt x="391" y="3071"/>
                  </a:cubicBezTo>
                  <a:cubicBezTo>
                    <a:pt x="300" y="3014"/>
                    <a:pt x="216" y="2944"/>
                    <a:pt x="149" y="2861"/>
                  </a:cubicBezTo>
                  <a:cubicBezTo>
                    <a:pt x="116" y="2819"/>
                    <a:pt x="86" y="2774"/>
                    <a:pt x="65" y="2725"/>
                  </a:cubicBezTo>
                  <a:cubicBezTo>
                    <a:pt x="44" y="2676"/>
                    <a:pt x="31" y="2624"/>
                    <a:pt x="29" y="2572"/>
                  </a:cubicBezTo>
                  <a:cubicBezTo>
                    <a:pt x="24" y="2465"/>
                    <a:pt x="69" y="2363"/>
                    <a:pt x="137" y="2281"/>
                  </a:cubicBezTo>
                  <a:cubicBezTo>
                    <a:pt x="205" y="2198"/>
                    <a:pt x="292" y="2132"/>
                    <a:pt x="384" y="2075"/>
                  </a:cubicBezTo>
                  <a:cubicBezTo>
                    <a:pt x="569" y="1963"/>
                    <a:pt x="777" y="1891"/>
                    <a:pt x="985" y="1832"/>
                  </a:cubicBezTo>
                  <a:cubicBezTo>
                    <a:pt x="1195" y="1775"/>
                    <a:pt x="1409" y="1735"/>
                    <a:pt x="1624" y="1699"/>
                  </a:cubicBezTo>
                  <a:cubicBezTo>
                    <a:pt x="1839" y="1664"/>
                    <a:pt x="2055" y="1634"/>
                    <a:pt x="2272" y="1614"/>
                  </a:cubicBezTo>
                  <a:cubicBezTo>
                    <a:pt x="2435" y="1599"/>
                    <a:pt x="2435" y="1599"/>
                    <a:pt x="2435" y="1599"/>
                  </a:cubicBezTo>
                  <a:cubicBezTo>
                    <a:pt x="2516" y="1591"/>
                    <a:pt x="2516" y="1591"/>
                    <a:pt x="2516" y="1591"/>
                  </a:cubicBezTo>
                  <a:cubicBezTo>
                    <a:pt x="2598" y="1586"/>
                    <a:pt x="2598" y="1586"/>
                    <a:pt x="2598" y="1586"/>
                  </a:cubicBezTo>
                  <a:cubicBezTo>
                    <a:pt x="2706" y="1579"/>
                    <a:pt x="2815" y="1573"/>
                    <a:pt x="2924" y="1565"/>
                  </a:cubicBezTo>
                  <a:cubicBezTo>
                    <a:pt x="2978" y="1561"/>
                    <a:pt x="3033" y="1557"/>
                    <a:pt x="3087" y="1551"/>
                  </a:cubicBezTo>
                  <a:cubicBezTo>
                    <a:pt x="3141" y="1544"/>
                    <a:pt x="3196" y="1536"/>
                    <a:pt x="3249" y="1522"/>
                  </a:cubicBezTo>
                  <a:cubicBezTo>
                    <a:pt x="3276" y="1515"/>
                    <a:pt x="3302" y="1506"/>
                    <a:pt x="3328" y="1495"/>
                  </a:cubicBezTo>
                  <a:cubicBezTo>
                    <a:pt x="3334" y="1492"/>
                    <a:pt x="3340" y="1489"/>
                    <a:pt x="3346" y="1486"/>
                  </a:cubicBezTo>
                  <a:cubicBezTo>
                    <a:pt x="3353" y="1483"/>
                    <a:pt x="3359" y="1479"/>
                    <a:pt x="3365" y="1476"/>
                  </a:cubicBezTo>
                  <a:cubicBezTo>
                    <a:pt x="3383" y="1466"/>
                    <a:pt x="3383" y="1466"/>
                    <a:pt x="3383" y="1466"/>
                  </a:cubicBezTo>
                  <a:cubicBezTo>
                    <a:pt x="3387" y="1464"/>
                    <a:pt x="3387" y="1464"/>
                    <a:pt x="3387" y="1464"/>
                  </a:cubicBezTo>
                  <a:cubicBezTo>
                    <a:pt x="3392" y="1461"/>
                    <a:pt x="3392" y="1461"/>
                    <a:pt x="3392" y="1461"/>
                  </a:cubicBezTo>
                  <a:cubicBezTo>
                    <a:pt x="3401" y="1455"/>
                    <a:pt x="3401" y="1455"/>
                    <a:pt x="3401" y="1455"/>
                  </a:cubicBezTo>
                  <a:cubicBezTo>
                    <a:pt x="3423" y="1439"/>
                    <a:pt x="3445" y="1418"/>
                    <a:pt x="3457" y="1391"/>
                  </a:cubicBezTo>
                  <a:cubicBezTo>
                    <a:pt x="3458" y="1387"/>
                    <a:pt x="3459" y="1385"/>
                    <a:pt x="3461" y="1380"/>
                  </a:cubicBezTo>
                  <a:cubicBezTo>
                    <a:pt x="3463" y="1370"/>
                    <a:pt x="3463" y="1370"/>
                    <a:pt x="3463" y="1370"/>
                  </a:cubicBezTo>
                  <a:cubicBezTo>
                    <a:pt x="3464" y="1365"/>
                    <a:pt x="3464" y="1365"/>
                    <a:pt x="3464" y="1365"/>
                  </a:cubicBezTo>
                  <a:cubicBezTo>
                    <a:pt x="3465" y="1363"/>
                    <a:pt x="3465" y="1360"/>
                    <a:pt x="3465" y="1359"/>
                  </a:cubicBezTo>
                  <a:cubicBezTo>
                    <a:pt x="3466" y="1355"/>
                    <a:pt x="3466" y="1351"/>
                    <a:pt x="3466" y="1348"/>
                  </a:cubicBezTo>
                  <a:cubicBezTo>
                    <a:pt x="3465" y="1333"/>
                    <a:pt x="3461" y="1318"/>
                    <a:pt x="3455" y="1305"/>
                  </a:cubicBezTo>
                  <a:cubicBezTo>
                    <a:pt x="3442" y="1279"/>
                    <a:pt x="3419" y="1259"/>
                    <a:pt x="3396" y="1244"/>
                  </a:cubicBezTo>
                  <a:cubicBezTo>
                    <a:pt x="3373" y="1229"/>
                    <a:pt x="3348" y="1215"/>
                    <a:pt x="3323" y="1204"/>
                  </a:cubicBezTo>
                  <a:cubicBezTo>
                    <a:pt x="3273" y="1181"/>
                    <a:pt x="3220" y="1165"/>
                    <a:pt x="3167" y="1152"/>
                  </a:cubicBezTo>
                  <a:cubicBezTo>
                    <a:pt x="3061" y="1124"/>
                    <a:pt x="2954" y="1105"/>
                    <a:pt x="2846" y="1087"/>
                  </a:cubicBezTo>
                  <a:cubicBezTo>
                    <a:pt x="2631" y="1050"/>
                    <a:pt x="2416" y="1017"/>
                    <a:pt x="2204" y="968"/>
                  </a:cubicBezTo>
                  <a:cubicBezTo>
                    <a:pt x="2097" y="944"/>
                    <a:pt x="1993" y="913"/>
                    <a:pt x="1891" y="874"/>
                  </a:cubicBezTo>
                  <a:cubicBezTo>
                    <a:pt x="1841" y="855"/>
                    <a:pt x="1790" y="834"/>
                    <a:pt x="1742" y="809"/>
                  </a:cubicBezTo>
                  <a:cubicBezTo>
                    <a:pt x="1724" y="800"/>
                    <a:pt x="1724" y="800"/>
                    <a:pt x="1724" y="800"/>
                  </a:cubicBezTo>
                  <a:cubicBezTo>
                    <a:pt x="1719" y="797"/>
                    <a:pt x="1712" y="793"/>
                    <a:pt x="1707" y="790"/>
                  </a:cubicBezTo>
                  <a:cubicBezTo>
                    <a:pt x="1672" y="768"/>
                    <a:pt x="1672" y="768"/>
                    <a:pt x="1672" y="768"/>
                  </a:cubicBezTo>
                  <a:cubicBezTo>
                    <a:pt x="1655" y="758"/>
                    <a:pt x="1655" y="758"/>
                    <a:pt x="1655" y="758"/>
                  </a:cubicBezTo>
                  <a:cubicBezTo>
                    <a:pt x="1639" y="746"/>
                    <a:pt x="1639" y="746"/>
                    <a:pt x="1639" y="746"/>
                  </a:cubicBezTo>
                  <a:cubicBezTo>
                    <a:pt x="1627" y="737"/>
                    <a:pt x="1617" y="729"/>
                    <a:pt x="1608" y="720"/>
                  </a:cubicBezTo>
                  <a:cubicBezTo>
                    <a:pt x="1590" y="700"/>
                    <a:pt x="1575" y="677"/>
                    <a:pt x="1571" y="651"/>
                  </a:cubicBezTo>
                  <a:cubicBezTo>
                    <a:pt x="1567" y="626"/>
                    <a:pt x="1575" y="599"/>
                    <a:pt x="1589" y="577"/>
                  </a:cubicBezTo>
                  <a:cubicBezTo>
                    <a:pt x="1602" y="554"/>
                    <a:pt x="1622" y="535"/>
                    <a:pt x="1642" y="518"/>
                  </a:cubicBezTo>
                  <a:cubicBezTo>
                    <a:pt x="1663" y="501"/>
                    <a:pt x="1685" y="485"/>
                    <a:pt x="1709" y="472"/>
                  </a:cubicBezTo>
                  <a:cubicBezTo>
                    <a:pt x="1804" y="419"/>
                    <a:pt x="1908" y="386"/>
                    <a:pt x="2011" y="351"/>
                  </a:cubicBezTo>
                  <a:cubicBezTo>
                    <a:pt x="2063" y="333"/>
                    <a:pt x="2114" y="315"/>
                    <a:pt x="2165" y="296"/>
                  </a:cubicBezTo>
                  <a:cubicBezTo>
                    <a:pt x="2216" y="276"/>
                    <a:pt x="2267" y="255"/>
                    <a:pt x="2315" y="229"/>
                  </a:cubicBezTo>
                  <a:cubicBezTo>
                    <a:pt x="2364" y="205"/>
                    <a:pt x="2413" y="178"/>
                    <a:pt x="2452" y="139"/>
                  </a:cubicBezTo>
                  <a:cubicBezTo>
                    <a:pt x="2472" y="119"/>
                    <a:pt x="2486" y="96"/>
                    <a:pt x="2500" y="72"/>
                  </a:cubicBezTo>
                  <a:cubicBezTo>
                    <a:pt x="2507" y="60"/>
                    <a:pt x="2513" y="48"/>
                    <a:pt x="2519" y="35"/>
                  </a:cubicBezTo>
                  <a:cubicBezTo>
                    <a:pt x="2522" y="29"/>
                    <a:pt x="2524" y="23"/>
                    <a:pt x="2527" y="16"/>
                  </a:cubicBezTo>
                  <a:cubicBezTo>
                    <a:pt x="2531" y="7"/>
                    <a:pt x="2531" y="7"/>
                    <a:pt x="2531" y="7"/>
                  </a:cubicBezTo>
                  <a:cubicBezTo>
                    <a:pt x="2532" y="2"/>
                    <a:pt x="2532" y="2"/>
                    <a:pt x="2532" y="2"/>
                  </a:cubicBezTo>
                  <a:lnTo>
                    <a:pt x="2526" y="0"/>
                  </a:lnTo>
                  <a:close/>
                </a:path>
              </a:pathLst>
            </a:custGeom>
            <a:solidFill>
              <a:srgbClr val="FFFFFF"/>
            </a:solidFill>
            <a:ln w="9525">
              <a:noFill/>
              <a:round/>
            </a:ln>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4" name="Freeform 21"/>
            <p:cNvSpPr>
              <a:spLocks noEditPoints="1"/>
            </p:cNvSpPr>
            <p:nvPr/>
          </p:nvSpPr>
          <p:spPr bwMode="auto">
            <a:xfrm>
              <a:off x="4079474" y="2794047"/>
              <a:ext cx="3855656" cy="4063318"/>
            </a:xfrm>
            <a:custGeom>
              <a:avLst/>
              <a:gdLst>
                <a:gd name="T0" fmla="*/ 3809 w 3809"/>
                <a:gd name="T1" fmla="*/ 4031 h 4031"/>
                <a:gd name="T2" fmla="*/ 3402 w 3809"/>
                <a:gd name="T3" fmla="*/ 3683 h 4031"/>
                <a:gd name="T4" fmla="*/ 3243 w 3809"/>
                <a:gd name="T5" fmla="*/ 3486 h 4031"/>
                <a:gd name="T6" fmla="*/ 2758 w 3809"/>
                <a:gd name="T7" fmla="*/ 3276 h 4031"/>
                <a:gd name="T8" fmla="*/ 2456 w 3809"/>
                <a:gd name="T9" fmla="*/ 3180 h 4031"/>
                <a:gd name="T10" fmla="*/ 1825 w 3809"/>
                <a:gd name="T11" fmla="*/ 2888 h 4031"/>
                <a:gd name="T12" fmla="*/ 1108 w 3809"/>
                <a:gd name="T13" fmla="*/ 2750 h 4031"/>
                <a:gd name="T14" fmla="*/ 1407 w 3809"/>
                <a:gd name="T15" fmla="*/ 2806 h 4031"/>
                <a:gd name="T16" fmla="*/ 302 w 3809"/>
                <a:gd name="T17" fmla="*/ 2646 h 4031"/>
                <a:gd name="T18" fmla="*/ 479 w 3809"/>
                <a:gd name="T19" fmla="*/ 2608 h 4031"/>
                <a:gd name="T20" fmla="*/ 157 w 3809"/>
                <a:gd name="T21" fmla="*/ 2366 h 4031"/>
                <a:gd name="T22" fmla="*/ 39 w 3809"/>
                <a:gd name="T23" fmla="*/ 2187 h 4031"/>
                <a:gd name="T24" fmla="*/ 171 w 3809"/>
                <a:gd name="T25" fmla="*/ 2062 h 4031"/>
                <a:gd name="T26" fmla="*/ 737 w 3809"/>
                <a:gd name="T27" fmla="*/ 1943 h 4031"/>
                <a:gd name="T28" fmla="*/ 549 w 3809"/>
                <a:gd name="T29" fmla="*/ 1991 h 4031"/>
                <a:gd name="T30" fmla="*/ 1129 w 3809"/>
                <a:gd name="T31" fmla="*/ 1794 h 4031"/>
                <a:gd name="T32" fmla="*/ 1369 w 3809"/>
                <a:gd name="T33" fmla="*/ 1762 h 4031"/>
                <a:gd name="T34" fmla="*/ 1569 w 3809"/>
                <a:gd name="T35" fmla="*/ 1735 h 4031"/>
                <a:gd name="T36" fmla="*/ 1821 w 3809"/>
                <a:gd name="T37" fmla="*/ 1778 h 4031"/>
                <a:gd name="T38" fmla="*/ 1779 w 3809"/>
                <a:gd name="T39" fmla="*/ 1716 h 4031"/>
                <a:gd name="T40" fmla="*/ 2422 w 3809"/>
                <a:gd name="T41" fmla="*/ 1722 h 4031"/>
                <a:gd name="T42" fmla="*/ 2590 w 3809"/>
                <a:gd name="T43" fmla="*/ 1643 h 4031"/>
                <a:gd name="T44" fmla="*/ 2764 w 3809"/>
                <a:gd name="T45" fmla="*/ 1613 h 4031"/>
                <a:gd name="T46" fmla="*/ 3167 w 3809"/>
                <a:gd name="T47" fmla="*/ 1505 h 4031"/>
                <a:gd name="T48" fmla="*/ 3018 w 3809"/>
                <a:gd name="T49" fmla="*/ 1602 h 4031"/>
                <a:gd name="T50" fmla="*/ 3207 w 3809"/>
                <a:gd name="T51" fmla="*/ 1303 h 4031"/>
                <a:gd name="T52" fmla="*/ 3165 w 3809"/>
                <a:gd name="T53" fmla="*/ 1210 h 4031"/>
                <a:gd name="T54" fmla="*/ 3070 w 3809"/>
                <a:gd name="T55" fmla="*/ 1128 h 4031"/>
                <a:gd name="T56" fmla="*/ 3025 w 3809"/>
                <a:gd name="T57" fmla="*/ 1041 h 4031"/>
                <a:gd name="T58" fmla="*/ 2963 w 3809"/>
                <a:gd name="T59" fmla="*/ 1073 h 4031"/>
                <a:gd name="T60" fmla="*/ 2690 w 3809"/>
                <a:gd name="T61" fmla="*/ 990 h 4031"/>
                <a:gd name="T62" fmla="*/ 2443 w 3809"/>
                <a:gd name="T63" fmla="*/ 885 h 4031"/>
                <a:gd name="T64" fmla="*/ 2384 w 3809"/>
                <a:gd name="T65" fmla="*/ 923 h 4031"/>
                <a:gd name="T66" fmla="*/ 1924 w 3809"/>
                <a:gd name="T67" fmla="*/ 835 h 4031"/>
                <a:gd name="T68" fmla="*/ 1976 w 3809"/>
                <a:gd name="T69" fmla="*/ 802 h 4031"/>
                <a:gd name="T70" fmla="*/ 1805 w 3809"/>
                <a:gd name="T71" fmla="*/ 812 h 4031"/>
                <a:gd name="T72" fmla="*/ 1476 w 3809"/>
                <a:gd name="T73" fmla="*/ 707 h 4031"/>
                <a:gd name="T74" fmla="*/ 1608 w 3809"/>
                <a:gd name="T75" fmla="*/ 732 h 4031"/>
                <a:gd name="T76" fmla="*/ 1231 w 3809"/>
                <a:gd name="T77" fmla="*/ 656 h 4031"/>
                <a:gd name="T78" fmla="*/ 1291 w 3809"/>
                <a:gd name="T79" fmla="*/ 640 h 4031"/>
                <a:gd name="T80" fmla="*/ 1132 w 3809"/>
                <a:gd name="T81" fmla="*/ 538 h 4031"/>
                <a:gd name="T82" fmla="*/ 1154 w 3809"/>
                <a:gd name="T83" fmla="*/ 482 h 4031"/>
                <a:gd name="T84" fmla="*/ 1233 w 3809"/>
                <a:gd name="T85" fmla="*/ 421 h 4031"/>
                <a:gd name="T86" fmla="*/ 1432 w 3809"/>
                <a:gd name="T87" fmla="*/ 356 h 4031"/>
                <a:gd name="T88" fmla="*/ 1360 w 3809"/>
                <a:gd name="T89" fmla="*/ 393 h 4031"/>
                <a:gd name="T90" fmla="*/ 1560 w 3809"/>
                <a:gd name="T91" fmla="*/ 276 h 4031"/>
                <a:gd name="T92" fmla="*/ 1686 w 3809"/>
                <a:gd name="T93" fmla="*/ 258 h 4031"/>
                <a:gd name="T94" fmla="*/ 1621 w 3809"/>
                <a:gd name="T95" fmla="*/ 248 h 4031"/>
                <a:gd name="T96" fmla="*/ 1830 w 3809"/>
                <a:gd name="T97" fmla="*/ 161 h 4031"/>
                <a:gd name="T98" fmla="*/ 1790 w 3809"/>
                <a:gd name="T99" fmla="*/ 198 h 4031"/>
                <a:gd name="T100" fmla="*/ 1853 w 3809"/>
                <a:gd name="T101" fmla="*/ 101 h 4031"/>
                <a:gd name="T102" fmla="*/ 1897 w 3809"/>
                <a:gd name="T103" fmla="*/ 81 h 4031"/>
                <a:gd name="T104" fmla="*/ 1872 w 3809"/>
                <a:gd name="T105" fmla="*/ 75 h 4031"/>
                <a:gd name="T106" fmla="*/ 1927 w 3809"/>
                <a:gd name="T107" fmla="*/ 5 h 4031"/>
                <a:gd name="T108" fmla="*/ 1923 w 3809"/>
                <a:gd name="T109" fmla="*/ 29 h 40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809" h="4031">
                  <a:moveTo>
                    <a:pt x="3501" y="3996"/>
                  </a:moveTo>
                  <a:cubicBezTo>
                    <a:pt x="3798" y="3996"/>
                    <a:pt x="3798" y="3996"/>
                    <a:pt x="3798" y="3996"/>
                  </a:cubicBezTo>
                  <a:cubicBezTo>
                    <a:pt x="3809" y="4031"/>
                    <a:pt x="3809" y="4031"/>
                    <a:pt x="3809" y="4031"/>
                  </a:cubicBezTo>
                  <a:cubicBezTo>
                    <a:pt x="3509" y="4031"/>
                    <a:pt x="3509" y="4031"/>
                    <a:pt x="3509" y="4031"/>
                  </a:cubicBezTo>
                  <a:lnTo>
                    <a:pt x="3501" y="3996"/>
                  </a:lnTo>
                  <a:close/>
                  <a:moveTo>
                    <a:pt x="3402" y="3683"/>
                  </a:moveTo>
                  <a:cubicBezTo>
                    <a:pt x="3670" y="3664"/>
                    <a:pt x="3670" y="3664"/>
                    <a:pt x="3670" y="3664"/>
                  </a:cubicBezTo>
                  <a:cubicBezTo>
                    <a:pt x="3616" y="3520"/>
                    <a:pt x="3439" y="3423"/>
                    <a:pt x="3439" y="3423"/>
                  </a:cubicBezTo>
                  <a:cubicBezTo>
                    <a:pt x="3243" y="3486"/>
                    <a:pt x="3243" y="3486"/>
                    <a:pt x="3243" y="3486"/>
                  </a:cubicBezTo>
                  <a:cubicBezTo>
                    <a:pt x="3373" y="3590"/>
                    <a:pt x="3402" y="3683"/>
                    <a:pt x="3402" y="3683"/>
                  </a:cubicBezTo>
                  <a:close/>
                  <a:moveTo>
                    <a:pt x="2456" y="3180"/>
                  </a:moveTo>
                  <a:cubicBezTo>
                    <a:pt x="2594" y="3215"/>
                    <a:pt x="2758" y="3276"/>
                    <a:pt x="2758" y="3276"/>
                  </a:cubicBezTo>
                  <a:cubicBezTo>
                    <a:pt x="2984" y="3203"/>
                    <a:pt x="2984" y="3203"/>
                    <a:pt x="2984" y="3203"/>
                  </a:cubicBezTo>
                  <a:cubicBezTo>
                    <a:pt x="2951" y="3168"/>
                    <a:pt x="2618" y="3083"/>
                    <a:pt x="2618" y="3083"/>
                  </a:cubicBezTo>
                  <a:lnTo>
                    <a:pt x="2456" y="3180"/>
                  </a:lnTo>
                  <a:close/>
                  <a:moveTo>
                    <a:pt x="2026" y="3068"/>
                  </a:moveTo>
                  <a:cubicBezTo>
                    <a:pt x="2193" y="2967"/>
                    <a:pt x="2193" y="2967"/>
                    <a:pt x="2193" y="2967"/>
                  </a:cubicBezTo>
                  <a:cubicBezTo>
                    <a:pt x="2124" y="2940"/>
                    <a:pt x="1825" y="2888"/>
                    <a:pt x="1825" y="2888"/>
                  </a:cubicBezTo>
                  <a:cubicBezTo>
                    <a:pt x="1696" y="2990"/>
                    <a:pt x="1696" y="2990"/>
                    <a:pt x="1696" y="2990"/>
                  </a:cubicBezTo>
                  <a:cubicBezTo>
                    <a:pt x="1857" y="3023"/>
                    <a:pt x="2026" y="3068"/>
                    <a:pt x="2026" y="3068"/>
                  </a:cubicBezTo>
                  <a:close/>
                  <a:moveTo>
                    <a:pt x="1108" y="2750"/>
                  </a:moveTo>
                  <a:cubicBezTo>
                    <a:pt x="960" y="2839"/>
                    <a:pt x="960" y="2839"/>
                    <a:pt x="960" y="2839"/>
                  </a:cubicBezTo>
                  <a:cubicBezTo>
                    <a:pt x="960" y="2839"/>
                    <a:pt x="1221" y="2887"/>
                    <a:pt x="1282" y="2903"/>
                  </a:cubicBezTo>
                  <a:cubicBezTo>
                    <a:pt x="1282" y="2903"/>
                    <a:pt x="1374" y="2832"/>
                    <a:pt x="1407" y="2806"/>
                  </a:cubicBezTo>
                  <a:cubicBezTo>
                    <a:pt x="1407" y="2806"/>
                    <a:pt x="1228" y="2764"/>
                    <a:pt x="1108" y="2750"/>
                  </a:cubicBezTo>
                  <a:close/>
                  <a:moveTo>
                    <a:pt x="479" y="2608"/>
                  </a:moveTo>
                  <a:cubicBezTo>
                    <a:pt x="302" y="2646"/>
                    <a:pt x="302" y="2646"/>
                    <a:pt x="302" y="2646"/>
                  </a:cubicBezTo>
                  <a:cubicBezTo>
                    <a:pt x="302" y="2646"/>
                    <a:pt x="413" y="2719"/>
                    <a:pt x="606" y="2762"/>
                  </a:cubicBezTo>
                  <a:cubicBezTo>
                    <a:pt x="606" y="2762"/>
                    <a:pt x="702" y="2710"/>
                    <a:pt x="742" y="2682"/>
                  </a:cubicBezTo>
                  <a:cubicBezTo>
                    <a:pt x="742" y="2682"/>
                    <a:pt x="592" y="2656"/>
                    <a:pt x="479" y="2608"/>
                  </a:cubicBezTo>
                  <a:close/>
                  <a:moveTo>
                    <a:pt x="77" y="2501"/>
                  </a:moveTo>
                  <a:cubicBezTo>
                    <a:pt x="79" y="2502"/>
                    <a:pt x="228" y="2471"/>
                    <a:pt x="228" y="2471"/>
                  </a:cubicBezTo>
                  <a:cubicBezTo>
                    <a:pt x="228" y="2471"/>
                    <a:pt x="155" y="2402"/>
                    <a:pt x="157" y="2366"/>
                  </a:cubicBezTo>
                  <a:cubicBezTo>
                    <a:pt x="0" y="2360"/>
                    <a:pt x="0" y="2360"/>
                    <a:pt x="0" y="2360"/>
                  </a:cubicBezTo>
                  <a:cubicBezTo>
                    <a:pt x="0" y="2360"/>
                    <a:pt x="11" y="2447"/>
                    <a:pt x="77" y="2501"/>
                  </a:cubicBezTo>
                  <a:close/>
                  <a:moveTo>
                    <a:pt x="39" y="2187"/>
                  </a:moveTo>
                  <a:cubicBezTo>
                    <a:pt x="192" y="2197"/>
                    <a:pt x="192" y="2197"/>
                    <a:pt x="192" y="2197"/>
                  </a:cubicBezTo>
                  <a:cubicBezTo>
                    <a:pt x="192" y="2197"/>
                    <a:pt x="212" y="2158"/>
                    <a:pt x="296" y="2102"/>
                  </a:cubicBezTo>
                  <a:cubicBezTo>
                    <a:pt x="171" y="2062"/>
                    <a:pt x="171" y="2062"/>
                    <a:pt x="171" y="2062"/>
                  </a:cubicBezTo>
                  <a:cubicBezTo>
                    <a:pt x="171" y="2062"/>
                    <a:pt x="70" y="2130"/>
                    <a:pt x="39" y="2187"/>
                  </a:cubicBezTo>
                  <a:close/>
                  <a:moveTo>
                    <a:pt x="549" y="1991"/>
                  </a:moveTo>
                  <a:cubicBezTo>
                    <a:pt x="596" y="1973"/>
                    <a:pt x="737" y="1943"/>
                    <a:pt x="737" y="1943"/>
                  </a:cubicBezTo>
                  <a:cubicBezTo>
                    <a:pt x="633" y="1881"/>
                    <a:pt x="633" y="1881"/>
                    <a:pt x="633" y="1881"/>
                  </a:cubicBezTo>
                  <a:cubicBezTo>
                    <a:pt x="498" y="1907"/>
                    <a:pt x="407" y="1952"/>
                    <a:pt x="407" y="1952"/>
                  </a:cubicBezTo>
                  <a:lnTo>
                    <a:pt x="549" y="1991"/>
                  </a:lnTo>
                  <a:close/>
                  <a:moveTo>
                    <a:pt x="1018" y="1890"/>
                  </a:moveTo>
                  <a:cubicBezTo>
                    <a:pt x="1086" y="1878"/>
                    <a:pt x="1201" y="1860"/>
                    <a:pt x="1201" y="1860"/>
                  </a:cubicBezTo>
                  <a:cubicBezTo>
                    <a:pt x="1129" y="1794"/>
                    <a:pt x="1129" y="1794"/>
                    <a:pt x="1129" y="1794"/>
                  </a:cubicBezTo>
                  <a:cubicBezTo>
                    <a:pt x="913" y="1827"/>
                    <a:pt x="913" y="1827"/>
                    <a:pt x="913" y="1827"/>
                  </a:cubicBezTo>
                  <a:lnTo>
                    <a:pt x="1018" y="1890"/>
                  </a:lnTo>
                  <a:close/>
                  <a:moveTo>
                    <a:pt x="1369" y="1762"/>
                  </a:moveTo>
                  <a:cubicBezTo>
                    <a:pt x="1438" y="1830"/>
                    <a:pt x="1438" y="1830"/>
                    <a:pt x="1438" y="1830"/>
                  </a:cubicBezTo>
                  <a:cubicBezTo>
                    <a:pt x="1438" y="1830"/>
                    <a:pt x="1547" y="1806"/>
                    <a:pt x="1619" y="1804"/>
                  </a:cubicBezTo>
                  <a:cubicBezTo>
                    <a:pt x="1569" y="1735"/>
                    <a:pt x="1569" y="1735"/>
                    <a:pt x="1569" y="1735"/>
                  </a:cubicBezTo>
                  <a:cubicBezTo>
                    <a:pt x="1569" y="1735"/>
                    <a:pt x="1439" y="1745"/>
                    <a:pt x="1369" y="1762"/>
                  </a:cubicBezTo>
                  <a:close/>
                  <a:moveTo>
                    <a:pt x="1779" y="1716"/>
                  </a:moveTo>
                  <a:cubicBezTo>
                    <a:pt x="1821" y="1778"/>
                    <a:pt x="1821" y="1778"/>
                    <a:pt x="1821" y="1778"/>
                  </a:cubicBezTo>
                  <a:cubicBezTo>
                    <a:pt x="1821" y="1778"/>
                    <a:pt x="1966" y="1760"/>
                    <a:pt x="2017" y="1756"/>
                  </a:cubicBezTo>
                  <a:cubicBezTo>
                    <a:pt x="1972" y="1693"/>
                    <a:pt x="1972" y="1693"/>
                    <a:pt x="1972" y="1693"/>
                  </a:cubicBezTo>
                  <a:cubicBezTo>
                    <a:pt x="1972" y="1693"/>
                    <a:pt x="1856" y="1699"/>
                    <a:pt x="1779" y="1716"/>
                  </a:cubicBezTo>
                  <a:close/>
                  <a:moveTo>
                    <a:pt x="2186" y="1676"/>
                  </a:moveTo>
                  <a:cubicBezTo>
                    <a:pt x="2229" y="1735"/>
                    <a:pt x="2229" y="1735"/>
                    <a:pt x="2229" y="1735"/>
                  </a:cubicBezTo>
                  <a:cubicBezTo>
                    <a:pt x="2229" y="1735"/>
                    <a:pt x="2341" y="1725"/>
                    <a:pt x="2422" y="1722"/>
                  </a:cubicBezTo>
                  <a:cubicBezTo>
                    <a:pt x="2370" y="1663"/>
                    <a:pt x="2370" y="1663"/>
                    <a:pt x="2370" y="1663"/>
                  </a:cubicBezTo>
                  <a:cubicBezTo>
                    <a:pt x="2370" y="1663"/>
                    <a:pt x="2233" y="1667"/>
                    <a:pt x="2186" y="1676"/>
                  </a:cubicBezTo>
                  <a:close/>
                  <a:moveTo>
                    <a:pt x="2590" y="1643"/>
                  </a:moveTo>
                  <a:cubicBezTo>
                    <a:pt x="2639" y="1695"/>
                    <a:pt x="2639" y="1695"/>
                    <a:pt x="2639" y="1695"/>
                  </a:cubicBezTo>
                  <a:cubicBezTo>
                    <a:pt x="2639" y="1695"/>
                    <a:pt x="2762" y="1685"/>
                    <a:pt x="2833" y="1658"/>
                  </a:cubicBezTo>
                  <a:cubicBezTo>
                    <a:pt x="2764" y="1613"/>
                    <a:pt x="2764" y="1613"/>
                    <a:pt x="2764" y="1613"/>
                  </a:cubicBezTo>
                  <a:cubicBezTo>
                    <a:pt x="2764" y="1613"/>
                    <a:pt x="2703" y="1629"/>
                    <a:pt x="2590" y="1643"/>
                  </a:cubicBezTo>
                  <a:close/>
                  <a:moveTo>
                    <a:pt x="3018" y="1602"/>
                  </a:moveTo>
                  <a:cubicBezTo>
                    <a:pt x="3120" y="1560"/>
                    <a:pt x="3167" y="1505"/>
                    <a:pt x="3167" y="1505"/>
                  </a:cubicBezTo>
                  <a:cubicBezTo>
                    <a:pt x="3154" y="1505"/>
                    <a:pt x="3085" y="1486"/>
                    <a:pt x="3085" y="1486"/>
                  </a:cubicBezTo>
                  <a:cubicBezTo>
                    <a:pt x="3046" y="1524"/>
                    <a:pt x="2950" y="1561"/>
                    <a:pt x="2950" y="1561"/>
                  </a:cubicBezTo>
                  <a:lnTo>
                    <a:pt x="3018" y="1602"/>
                  </a:lnTo>
                  <a:close/>
                  <a:moveTo>
                    <a:pt x="3256" y="1400"/>
                  </a:moveTo>
                  <a:cubicBezTo>
                    <a:pt x="3286" y="1346"/>
                    <a:pt x="3269" y="1295"/>
                    <a:pt x="3269" y="1295"/>
                  </a:cubicBezTo>
                  <a:cubicBezTo>
                    <a:pt x="3207" y="1303"/>
                    <a:pt x="3207" y="1303"/>
                    <a:pt x="3207" y="1303"/>
                  </a:cubicBezTo>
                  <a:cubicBezTo>
                    <a:pt x="3212" y="1343"/>
                    <a:pt x="3185" y="1379"/>
                    <a:pt x="3185" y="1379"/>
                  </a:cubicBezTo>
                  <a:lnTo>
                    <a:pt x="3256" y="1400"/>
                  </a:lnTo>
                  <a:close/>
                  <a:moveTo>
                    <a:pt x="3165" y="1210"/>
                  </a:moveTo>
                  <a:cubicBezTo>
                    <a:pt x="3241" y="1198"/>
                    <a:pt x="3241" y="1198"/>
                    <a:pt x="3241" y="1198"/>
                  </a:cubicBezTo>
                  <a:cubicBezTo>
                    <a:pt x="3210" y="1148"/>
                    <a:pt x="3133" y="1104"/>
                    <a:pt x="3133" y="1104"/>
                  </a:cubicBezTo>
                  <a:cubicBezTo>
                    <a:pt x="3070" y="1128"/>
                    <a:pt x="3070" y="1128"/>
                    <a:pt x="3070" y="1128"/>
                  </a:cubicBezTo>
                  <a:cubicBezTo>
                    <a:pt x="3114" y="1151"/>
                    <a:pt x="3165" y="1210"/>
                    <a:pt x="3165" y="1210"/>
                  </a:cubicBezTo>
                  <a:close/>
                  <a:moveTo>
                    <a:pt x="2963" y="1073"/>
                  </a:moveTo>
                  <a:cubicBezTo>
                    <a:pt x="3025" y="1041"/>
                    <a:pt x="3025" y="1041"/>
                    <a:pt x="3025" y="1041"/>
                  </a:cubicBezTo>
                  <a:cubicBezTo>
                    <a:pt x="3025" y="1041"/>
                    <a:pt x="2952" y="1004"/>
                    <a:pt x="2883" y="982"/>
                  </a:cubicBezTo>
                  <a:cubicBezTo>
                    <a:pt x="2824" y="1018"/>
                    <a:pt x="2824" y="1018"/>
                    <a:pt x="2824" y="1018"/>
                  </a:cubicBezTo>
                  <a:cubicBezTo>
                    <a:pt x="2824" y="1018"/>
                    <a:pt x="2893" y="1036"/>
                    <a:pt x="2963" y="1073"/>
                  </a:cubicBezTo>
                  <a:close/>
                  <a:moveTo>
                    <a:pt x="2576" y="912"/>
                  </a:moveTo>
                  <a:cubicBezTo>
                    <a:pt x="2515" y="949"/>
                    <a:pt x="2515" y="949"/>
                    <a:pt x="2515" y="949"/>
                  </a:cubicBezTo>
                  <a:cubicBezTo>
                    <a:pt x="2515" y="949"/>
                    <a:pt x="2621" y="968"/>
                    <a:pt x="2690" y="990"/>
                  </a:cubicBezTo>
                  <a:cubicBezTo>
                    <a:pt x="2760" y="951"/>
                    <a:pt x="2760" y="951"/>
                    <a:pt x="2760" y="951"/>
                  </a:cubicBezTo>
                  <a:cubicBezTo>
                    <a:pt x="2760" y="951"/>
                    <a:pt x="2611" y="916"/>
                    <a:pt x="2576" y="912"/>
                  </a:cubicBezTo>
                  <a:close/>
                  <a:moveTo>
                    <a:pt x="2443" y="885"/>
                  </a:moveTo>
                  <a:cubicBezTo>
                    <a:pt x="2267" y="857"/>
                    <a:pt x="2267" y="857"/>
                    <a:pt x="2267" y="857"/>
                  </a:cubicBezTo>
                  <a:cubicBezTo>
                    <a:pt x="2216" y="890"/>
                    <a:pt x="2216" y="890"/>
                    <a:pt x="2216" y="890"/>
                  </a:cubicBezTo>
                  <a:cubicBezTo>
                    <a:pt x="2384" y="923"/>
                    <a:pt x="2384" y="923"/>
                    <a:pt x="2384" y="923"/>
                  </a:cubicBezTo>
                  <a:lnTo>
                    <a:pt x="2443" y="885"/>
                  </a:lnTo>
                  <a:close/>
                  <a:moveTo>
                    <a:pt x="1976" y="802"/>
                  </a:moveTo>
                  <a:cubicBezTo>
                    <a:pt x="1976" y="802"/>
                    <a:pt x="1922" y="835"/>
                    <a:pt x="1924" y="835"/>
                  </a:cubicBezTo>
                  <a:cubicBezTo>
                    <a:pt x="1926" y="834"/>
                    <a:pt x="2080" y="868"/>
                    <a:pt x="2080" y="868"/>
                  </a:cubicBezTo>
                  <a:cubicBezTo>
                    <a:pt x="2136" y="829"/>
                    <a:pt x="2136" y="829"/>
                    <a:pt x="2136" y="829"/>
                  </a:cubicBezTo>
                  <a:lnTo>
                    <a:pt x="1976" y="802"/>
                  </a:lnTo>
                  <a:close/>
                  <a:moveTo>
                    <a:pt x="1720" y="757"/>
                  </a:moveTo>
                  <a:cubicBezTo>
                    <a:pt x="1672" y="786"/>
                    <a:pt x="1672" y="786"/>
                    <a:pt x="1672" y="786"/>
                  </a:cubicBezTo>
                  <a:cubicBezTo>
                    <a:pt x="1805" y="812"/>
                    <a:pt x="1805" y="812"/>
                    <a:pt x="1805" y="812"/>
                  </a:cubicBezTo>
                  <a:cubicBezTo>
                    <a:pt x="1859" y="776"/>
                    <a:pt x="1859" y="776"/>
                    <a:pt x="1859" y="776"/>
                  </a:cubicBezTo>
                  <a:lnTo>
                    <a:pt x="1720" y="757"/>
                  </a:lnTo>
                  <a:close/>
                  <a:moveTo>
                    <a:pt x="1476" y="707"/>
                  </a:moveTo>
                  <a:cubicBezTo>
                    <a:pt x="1425" y="734"/>
                    <a:pt x="1425" y="734"/>
                    <a:pt x="1425" y="734"/>
                  </a:cubicBezTo>
                  <a:cubicBezTo>
                    <a:pt x="1558" y="766"/>
                    <a:pt x="1558" y="766"/>
                    <a:pt x="1558" y="766"/>
                  </a:cubicBezTo>
                  <a:cubicBezTo>
                    <a:pt x="1558" y="766"/>
                    <a:pt x="1611" y="733"/>
                    <a:pt x="1608" y="732"/>
                  </a:cubicBezTo>
                  <a:cubicBezTo>
                    <a:pt x="1605" y="731"/>
                    <a:pt x="1476" y="707"/>
                    <a:pt x="1476" y="707"/>
                  </a:cubicBezTo>
                  <a:close/>
                  <a:moveTo>
                    <a:pt x="1291" y="640"/>
                  </a:moveTo>
                  <a:cubicBezTo>
                    <a:pt x="1231" y="656"/>
                    <a:pt x="1231" y="656"/>
                    <a:pt x="1231" y="656"/>
                  </a:cubicBezTo>
                  <a:cubicBezTo>
                    <a:pt x="1325" y="707"/>
                    <a:pt x="1325" y="707"/>
                    <a:pt x="1325" y="707"/>
                  </a:cubicBezTo>
                  <a:cubicBezTo>
                    <a:pt x="1383" y="680"/>
                    <a:pt x="1383" y="680"/>
                    <a:pt x="1383" y="680"/>
                  </a:cubicBezTo>
                  <a:cubicBezTo>
                    <a:pt x="1383" y="680"/>
                    <a:pt x="1348" y="666"/>
                    <a:pt x="1291" y="640"/>
                  </a:cubicBezTo>
                  <a:close/>
                  <a:moveTo>
                    <a:pt x="1231" y="596"/>
                  </a:moveTo>
                  <a:cubicBezTo>
                    <a:pt x="1185" y="571"/>
                    <a:pt x="1195" y="534"/>
                    <a:pt x="1195" y="534"/>
                  </a:cubicBezTo>
                  <a:cubicBezTo>
                    <a:pt x="1132" y="538"/>
                    <a:pt x="1132" y="538"/>
                    <a:pt x="1132" y="538"/>
                  </a:cubicBezTo>
                  <a:cubicBezTo>
                    <a:pt x="1120" y="575"/>
                    <a:pt x="1165" y="614"/>
                    <a:pt x="1165" y="614"/>
                  </a:cubicBezTo>
                  <a:lnTo>
                    <a:pt x="1231" y="596"/>
                  </a:lnTo>
                  <a:close/>
                  <a:moveTo>
                    <a:pt x="1154" y="482"/>
                  </a:moveTo>
                  <a:cubicBezTo>
                    <a:pt x="1219" y="485"/>
                    <a:pt x="1219" y="485"/>
                    <a:pt x="1219" y="485"/>
                  </a:cubicBezTo>
                  <a:cubicBezTo>
                    <a:pt x="1219" y="485"/>
                    <a:pt x="1231" y="462"/>
                    <a:pt x="1280" y="432"/>
                  </a:cubicBezTo>
                  <a:cubicBezTo>
                    <a:pt x="1233" y="421"/>
                    <a:pt x="1233" y="421"/>
                    <a:pt x="1233" y="421"/>
                  </a:cubicBezTo>
                  <a:cubicBezTo>
                    <a:pt x="1233" y="421"/>
                    <a:pt x="1172" y="455"/>
                    <a:pt x="1154" y="482"/>
                  </a:cubicBezTo>
                  <a:close/>
                  <a:moveTo>
                    <a:pt x="1360" y="393"/>
                  </a:moveTo>
                  <a:cubicBezTo>
                    <a:pt x="1432" y="356"/>
                    <a:pt x="1432" y="356"/>
                    <a:pt x="1432" y="356"/>
                  </a:cubicBezTo>
                  <a:cubicBezTo>
                    <a:pt x="1382" y="345"/>
                    <a:pt x="1382" y="345"/>
                    <a:pt x="1382" y="345"/>
                  </a:cubicBezTo>
                  <a:cubicBezTo>
                    <a:pt x="1306" y="381"/>
                    <a:pt x="1306" y="381"/>
                    <a:pt x="1306" y="381"/>
                  </a:cubicBezTo>
                  <a:lnTo>
                    <a:pt x="1360" y="393"/>
                  </a:lnTo>
                  <a:close/>
                  <a:moveTo>
                    <a:pt x="1535" y="320"/>
                  </a:moveTo>
                  <a:cubicBezTo>
                    <a:pt x="1619" y="286"/>
                    <a:pt x="1619" y="286"/>
                    <a:pt x="1619" y="286"/>
                  </a:cubicBezTo>
                  <a:cubicBezTo>
                    <a:pt x="1560" y="276"/>
                    <a:pt x="1560" y="276"/>
                    <a:pt x="1560" y="276"/>
                  </a:cubicBezTo>
                  <a:cubicBezTo>
                    <a:pt x="1560" y="276"/>
                    <a:pt x="1482" y="306"/>
                    <a:pt x="1479" y="307"/>
                  </a:cubicBezTo>
                  <a:lnTo>
                    <a:pt x="1535" y="320"/>
                  </a:lnTo>
                  <a:close/>
                  <a:moveTo>
                    <a:pt x="1686" y="258"/>
                  </a:moveTo>
                  <a:cubicBezTo>
                    <a:pt x="1715" y="244"/>
                    <a:pt x="1745" y="223"/>
                    <a:pt x="1745" y="223"/>
                  </a:cubicBezTo>
                  <a:cubicBezTo>
                    <a:pt x="1692" y="215"/>
                    <a:pt x="1692" y="215"/>
                    <a:pt x="1692" y="215"/>
                  </a:cubicBezTo>
                  <a:cubicBezTo>
                    <a:pt x="1667" y="229"/>
                    <a:pt x="1621" y="248"/>
                    <a:pt x="1621" y="248"/>
                  </a:cubicBezTo>
                  <a:lnTo>
                    <a:pt x="1686" y="258"/>
                  </a:lnTo>
                  <a:close/>
                  <a:moveTo>
                    <a:pt x="1790" y="198"/>
                  </a:moveTo>
                  <a:cubicBezTo>
                    <a:pt x="1805" y="188"/>
                    <a:pt x="1830" y="161"/>
                    <a:pt x="1830" y="161"/>
                  </a:cubicBezTo>
                  <a:cubicBezTo>
                    <a:pt x="1789" y="154"/>
                    <a:pt x="1789" y="154"/>
                    <a:pt x="1789" y="154"/>
                  </a:cubicBezTo>
                  <a:cubicBezTo>
                    <a:pt x="1768" y="170"/>
                    <a:pt x="1737" y="187"/>
                    <a:pt x="1737" y="187"/>
                  </a:cubicBezTo>
                  <a:lnTo>
                    <a:pt x="1790" y="198"/>
                  </a:lnTo>
                  <a:close/>
                  <a:moveTo>
                    <a:pt x="1859" y="135"/>
                  </a:moveTo>
                  <a:cubicBezTo>
                    <a:pt x="1870" y="121"/>
                    <a:pt x="1878" y="106"/>
                    <a:pt x="1878" y="106"/>
                  </a:cubicBezTo>
                  <a:cubicBezTo>
                    <a:pt x="1853" y="101"/>
                    <a:pt x="1853" y="101"/>
                    <a:pt x="1853" y="101"/>
                  </a:cubicBezTo>
                  <a:cubicBezTo>
                    <a:pt x="1840" y="113"/>
                    <a:pt x="1819" y="129"/>
                    <a:pt x="1819" y="129"/>
                  </a:cubicBezTo>
                  <a:lnTo>
                    <a:pt x="1859" y="135"/>
                  </a:lnTo>
                  <a:close/>
                  <a:moveTo>
                    <a:pt x="1897" y="81"/>
                  </a:moveTo>
                  <a:cubicBezTo>
                    <a:pt x="1902" y="75"/>
                    <a:pt x="1915" y="49"/>
                    <a:pt x="1915" y="49"/>
                  </a:cubicBezTo>
                  <a:cubicBezTo>
                    <a:pt x="1896" y="46"/>
                    <a:pt x="1896" y="46"/>
                    <a:pt x="1896" y="46"/>
                  </a:cubicBezTo>
                  <a:cubicBezTo>
                    <a:pt x="1872" y="75"/>
                    <a:pt x="1872" y="75"/>
                    <a:pt x="1872" y="75"/>
                  </a:cubicBezTo>
                  <a:lnTo>
                    <a:pt x="1897" y="81"/>
                  </a:lnTo>
                  <a:close/>
                  <a:moveTo>
                    <a:pt x="1923" y="29"/>
                  </a:moveTo>
                  <a:cubicBezTo>
                    <a:pt x="1927" y="5"/>
                    <a:pt x="1927" y="5"/>
                    <a:pt x="1927" y="5"/>
                  </a:cubicBezTo>
                  <a:cubicBezTo>
                    <a:pt x="1918" y="0"/>
                    <a:pt x="1918" y="0"/>
                    <a:pt x="1918" y="0"/>
                  </a:cubicBezTo>
                  <a:cubicBezTo>
                    <a:pt x="1905" y="24"/>
                    <a:pt x="1905" y="24"/>
                    <a:pt x="1905" y="24"/>
                  </a:cubicBezTo>
                  <a:lnTo>
                    <a:pt x="1923" y="29"/>
                  </a:lnTo>
                  <a:close/>
                </a:path>
              </a:pathLst>
            </a:custGeom>
            <a:solidFill>
              <a:schemeClr val="bg1"/>
            </a:solidFill>
            <a:ln w="3175" cap="flat">
              <a:noFill/>
              <a:prstDash val="solid"/>
              <a:miter lim="800000"/>
            </a:ln>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grpSp>
      <p:grpSp>
        <p:nvGrpSpPr>
          <p:cNvPr id="10" name="Group 1"/>
          <p:cNvGrpSpPr/>
          <p:nvPr/>
        </p:nvGrpSpPr>
        <p:grpSpPr>
          <a:xfrm rot="0">
            <a:off x="6136005" y="1491615"/>
            <a:ext cx="760095" cy="945515"/>
            <a:chOff x="5983936" y="1642734"/>
            <a:chExt cx="908149" cy="1128551"/>
          </a:xfrm>
          <a:gradFill>
            <a:gsLst>
              <a:gs pos="0">
                <a:schemeClr val="accent5"/>
              </a:gs>
              <a:gs pos="100000">
                <a:schemeClr val="accent5">
                  <a:lumMod val="60000"/>
                  <a:lumOff val="40000"/>
                </a:schemeClr>
              </a:gs>
            </a:gsLst>
            <a:lin ang="2700000" scaled="0"/>
          </a:gradFill>
        </p:grpSpPr>
        <p:sp>
          <p:nvSpPr>
            <p:cNvPr id="11" name="Freeform 25"/>
            <p:cNvSpPr/>
            <p:nvPr/>
          </p:nvSpPr>
          <p:spPr bwMode="auto">
            <a:xfrm>
              <a:off x="6524091" y="1974047"/>
              <a:ext cx="367994" cy="395209"/>
            </a:xfrm>
            <a:custGeom>
              <a:avLst/>
              <a:gdLst>
                <a:gd name="T0" fmla="*/ 364 w 364"/>
                <a:gd name="T1" fmla="*/ 392 h 392"/>
                <a:gd name="T2" fmla="*/ 337 w 364"/>
                <a:gd name="T3" fmla="*/ 90 h 392"/>
                <a:gd name="T4" fmla="*/ 225 w 364"/>
                <a:gd name="T5" fmla="*/ 57 h 392"/>
                <a:gd name="T6" fmla="*/ 122 w 364"/>
                <a:gd name="T7" fmla="*/ 0 h 392"/>
                <a:gd name="T8" fmla="*/ 0 w 364"/>
                <a:gd name="T9" fmla="*/ 311 h 392"/>
                <a:gd name="T10" fmla="*/ 159 w 364"/>
                <a:gd name="T11" fmla="*/ 361 h 392"/>
                <a:gd name="T12" fmla="*/ 364 w 364"/>
                <a:gd name="T13" fmla="*/ 392 h 392"/>
              </a:gdLst>
              <a:ahLst/>
              <a:cxnLst>
                <a:cxn ang="0">
                  <a:pos x="T0" y="T1"/>
                </a:cxn>
                <a:cxn ang="0">
                  <a:pos x="T2" y="T3"/>
                </a:cxn>
                <a:cxn ang="0">
                  <a:pos x="T4" y="T5"/>
                </a:cxn>
                <a:cxn ang="0">
                  <a:pos x="T6" y="T7"/>
                </a:cxn>
                <a:cxn ang="0">
                  <a:pos x="T8" y="T9"/>
                </a:cxn>
                <a:cxn ang="0">
                  <a:pos x="T10" y="T11"/>
                </a:cxn>
                <a:cxn ang="0">
                  <a:pos x="T12" y="T13"/>
                </a:cxn>
              </a:cxnLst>
              <a:rect l="0" t="0" r="r" b="b"/>
              <a:pathLst>
                <a:path w="364" h="392">
                  <a:moveTo>
                    <a:pt x="364" y="392"/>
                  </a:moveTo>
                  <a:cubicBezTo>
                    <a:pt x="361" y="240"/>
                    <a:pt x="337" y="90"/>
                    <a:pt x="337" y="90"/>
                  </a:cubicBezTo>
                  <a:cubicBezTo>
                    <a:pt x="318" y="45"/>
                    <a:pt x="247" y="55"/>
                    <a:pt x="225" y="57"/>
                  </a:cubicBezTo>
                  <a:cubicBezTo>
                    <a:pt x="202" y="58"/>
                    <a:pt x="151" y="57"/>
                    <a:pt x="122" y="0"/>
                  </a:cubicBezTo>
                  <a:cubicBezTo>
                    <a:pt x="0" y="311"/>
                    <a:pt x="0" y="311"/>
                    <a:pt x="0" y="311"/>
                  </a:cubicBezTo>
                  <a:cubicBezTo>
                    <a:pt x="0" y="311"/>
                    <a:pt x="19" y="381"/>
                    <a:pt x="159" y="361"/>
                  </a:cubicBezTo>
                  <a:cubicBezTo>
                    <a:pt x="316" y="339"/>
                    <a:pt x="364" y="392"/>
                    <a:pt x="364" y="392"/>
                  </a:cubicBezTo>
                  <a:close/>
                </a:path>
              </a:pathLst>
            </a:custGeom>
            <a:grpFill/>
            <a:ln w="3175" cap="flat">
              <a:noFill/>
              <a:prstDash val="solid"/>
              <a:miter lim="800000"/>
            </a:ln>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36" name="Line 22"/>
            <p:cNvSpPr>
              <a:spLocks noChangeShapeType="1"/>
            </p:cNvSpPr>
            <p:nvPr/>
          </p:nvSpPr>
          <p:spPr bwMode="auto">
            <a:xfrm>
              <a:off x="6038954" y="1648651"/>
              <a:ext cx="0" cy="1060202"/>
            </a:xfrm>
            <a:prstGeom prst="line">
              <a:avLst/>
            </a:prstGeom>
            <a:grpFill/>
            <a:ln w="25400" cap="rnd">
              <a:solidFill>
                <a:schemeClr val="accent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en-US">
                <a:ea typeface="微软雅黑" panose="020B0503020204020204" charset="-122"/>
                <a:cs typeface="微软雅黑" panose="020B0503020204020204" charset="-122"/>
              </a:endParaRPr>
            </a:p>
          </p:txBody>
        </p:sp>
        <p:sp>
          <p:nvSpPr>
            <p:cNvPr id="12" name="Freeform 24"/>
            <p:cNvSpPr/>
            <p:nvPr/>
          </p:nvSpPr>
          <p:spPr bwMode="auto">
            <a:xfrm>
              <a:off x="6524091" y="2075216"/>
              <a:ext cx="155599" cy="212396"/>
            </a:xfrm>
            <a:custGeom>
              <a:avLst/>
              <a:gdLst>
                <a:gd name="T0" fmla="*/ 148 w 154"/>
                <a:gd name="T1" fmla="*/ 162 h 211"/>
                <a:gd name="T2" fmla="*/ 87 w 154"/>
                <a:gd name="T3" fmla="*/ 190 h 211"/>
                <a:gd name="T4" fmla="*/ 0 w 154"/>
                <a:gd name="T5" fmla="*/ 211 h 211"/>
                <a:gd name="T6" fmla="*/ 30 w 154"/>
                <a:gd name="T7" fmla="*/ 0 h 211"/>
                <a:gd name="T8" fmla="*/ 148 w 154"/>
                <a:gd name="T9" fmla="*/ 162 h 211"/>
              </a:gdLst>
              <a:ahLst/>
              <a:cxnLst>
                <a:cxn ang="0">
                  <a:pos x="T0" y="T1"/>
                </a:cxn>
                <a:cxn ang="0">
                  <a:pos x="T2" y="T3"/>
                </a:cxn>
                <a:cxn ang="0">
                  <a:pos x="T4" y="T5"/>
                </a:cxn>
                <a:cxn ang="0">
                  <a:pos x="T6" y="T7"/>
                </a:cxn>
                <a:cxn ang="0">
                  <a:pos x="T8" y="T9"/>
                </a:cxn>
              </a:cxnLst>
              <a:rect l="0" t="0" r="r" b="b"/>
              <a:pathLst>
                <a:path w="154" h="211">
                  <a:moveTo>
                    <a:pt x="148" y="162"/>
                  </a:moveTo>
                  <a:cubicBezTo>
                    <a:pt x="148" y="162"/>
                    <a:pt x="154" y="198"/>
                    <a:pt x="87" y="190"/>
                  </a:cubicBezTo>
                  <a:cubicBezTo>
                    <a:pt x="21" y="182"/>
                    <a:pt x="8" y="190"/>
                    <a:pt x="0" y="211"/>
                  </a:cubicBezTo>
                  <a:cubicBezTo>
                    <a:pt x="0" y="211"/>
                    <a:pt x="35" y="102"/>
                    <a:pt x="30" y="0"/>
                  </a:cubicBezTo>
                  <a:cubicBezTo>
                    <a:pt x="30" y="0"/>
                    <a:pt x="132" y="101"/>
                    <a:pt x="148" y="162"/>
                  </a:cubicBezTo>
                  <a:close/>
                </a:path>
              </a:pathLst>
            </a:custGeom>
            <a:grpFill/>
            <a:ln w="3175" cap="flat">
              <a:noFill/>
              <a:prstDash val="solid"/>
              <a:miter lim="800000"/>
            </a:ln>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3" name="Freeform 23"/>
            <p:cNvSpPr/>
            <p:nvPr/>
          </p:nvSpPr>
          <p:spPr bwMode="auto">
            <a:xfrm>
              <a:off x="6027122" y="1642734"/>
              <a:ext cx="673867" cy="595772"/>
            </a:xfrm>
            <a:custGeom>
              <a:avLst/>
              <a:gdLst>
                <a:gd name="T0" fmla="*/ 0 w 666"/>
                <a:gd name="T1" fmla="*/ 532 h 591"/>
                <a:gd name="T2" fmla="*/ 0 w 666"/>
                <a:gd name="T3" fmla="*/ 19 h 591"/>
                <a:gd name="T4" fmla="*/ 666 w 666"/>
                <a:gd name="T5" fmla="*/ 198 h 591"/>
                <a:gd name="T6" fmla="*/ 639 w 666"/>
                <a:gd name="T7" fmla="*/ 591 h 591"/>
                <a:gd name="T8" fmla="*/ 0 w 666"/>
                <a:gd name="T9" fmla="*/ 532 h 591"/>
              </a:gdLst>
              <a:ahLst/>
              <a:cxnLst>
                <a:cxn ang="0">
                  <a:pos x="T0" y="T1"/>
                </a:cxn>
                <a:cxn ang="0">
                  <a:pos x="T2" y="T3"/>
                </a:cxn>
                <a:cxn ang="0">
                  <a:pos x="T4" y="T5"/>
                </a:cxn>
                <a:cxn ang="0">
                  <a:pos x="T6" y="T7"/>
                </a:cxn>
                <a:cxn ang="0">
                  <a:pos x="T8" y="T9"/>
                </a:cxn>
              </a:cxnLst>
              <a:rect l="0" t="0" r="r" b="b"/>
              <a:pathLst>
                <a:path w="666" h="591">
                  <a:moveTo>
                    <a:pt x="0" y="532"/>
                  </a:moveTo>
                  <a:cubicBezTo>
                    <a:pt x="102" y="249"/>
                    <a:pt x="0" y="19"/>
                    <a:pt x="0" y="19"/>
                  </a:cubicBezTo>
                  <a:cubicBezTo>
                    <a:pt x="249" y="0"/>
                    <a:pt x="642" y="15"/>
                    <a:pt x="666" y="198"/>
                  </a:cubicBezTo>
                  <a:cubicBezTo>
                    <a:pt x="666" y="198"/>
                    <a:pt x="601" y="330"/>
                    <a:pt x="639" y="591"/>
                  </a:cubicBezTo>
                  <a:cubicBezTo>
                    <a:pt x="589" y="499"/>
                    <a:pt x="529" y="430"/>
                    <a:pt x="0" y="532"/>
                  </a:cubicBezTo>
                  <a:close/>
                </a:path>
              </a:pathLst>
            </a:custGeom>
            <a:grpFill/>
            <a:ln w="3175" cap="flat">
              <a:noFill/>
              <a:prstDash val="solid"/>
              <a:miter lim="800000"/>
            </a:ln>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sp>
          <p:nvSpPr>
            <p:cNvPr id="16" name="Oval 34"/>
            <p:cNvSpPr>
              <a:spLocks noChangeArrowheads="1"/>
            </p:cNvSpPr>
            <p:nvPr/>
          </p:nvSpPr>
          <p:spPr bwMode="auto">
            <a:xfrm>
              <a:off x="5983936" y="2660830"/>
              <a:ext cx="113149" cy="110455"/>
            </a:xfrm>
            <a:prstGeom prst="ellipse">
              <a:avLst/>
            </a:prstGeom>
            <a:grpFill/>
            <a:ln w="3175" cap="flat">
              <a:noFill/>
              <a:prstDash val="solid"/>
              <a:miter lim="800000"/>
            </a:ln>
          </p:spPr>
          <p:txBody>
            <a:bodyPr vert="horz" wrap="square" lIns="91440" tIns="45720" rIns="91440" bIns="45720" numCol="1" anchor="t" anchorCtr="0" compatLnSpc="1"/>
            <a:lstStyle/>
            <a:p>
              <a:endParaRPr lang="en-US">
                <a:latin typeface="微软雅黑" panose="020B0503020204020204" charset="-122"/>
                <a:ea typeface="微软雅黑" panose="020B0503020204020204" charset="-122"/>
                <a:cs typeface="微软雅黑" panose="020B0503020204020204" charset="-122"/>
              </a:endParaRPr>
            </a:p>
          </p:txBody>
        </p:sp>
      </p:grpSp>
      <p:sp>
        <p:nvSpPr>
          <p:cNvPr id="22" name="Freeform 51"/>
          <p:cNvSpPr/>
          <p:nvPr/>
        </p:nvSpPr>
        <p:spPr>
          <a:xfrm>
            <a:off x="4433570" y="1458595"/>
            <a:ext cx="685800" cy="1064895"/>
          </a:xfrm>
          <a:custGeom>
            <a:avLst/>
            <a:gdLst>
              <a:gd name="connsiteX0" fmla="*/ 740228 w 740228"/>
              <a:gd name="connsiteY0" fmla="*/ 290286 h 290286"/>
              <a:gd name="connsiteX1" fmla="*/ 449942 w 740228"/>
              <a:gd name="connsiteY1" fmla="*/ 0 h 290286"/>
              <a:gd name="connsiteX2" fmla="*/ 0 w 740228"/>
              <a:gd name="connsiteY2" fmla="*/ 0 h 290286"/>
            </a:gdLst>
            <a:ahLst/>
            <a:cxnLst>
              <a:cxn ang="0">
                <a:pos x="connsiteX0" y="connsiteY0"/>
              </a:cxn>
              <a:cxn ang="0">
                <a:pos x="connsiteX1" y="connsiteY1"/>
              </a:cxn>
              <a:cxn ang="0">
                <a:pos x="connsiteX2" y="connsiteY2"/>
              </a:cxn>
            </a:cxnLst>
            <a:rect l="l" t="t" r="r" b="b"/>
            <a:pathLst>
              <a:path w="740228" h="290286">
                <a:moveTo>
                  <a:pt x="740228" y="290286"/>
                </a:moveTo>
                <a:lnTo>
                  <a:pt x="449942" y="0"/>
                </a:lnTo>
                <a:lnTo>
                  <a:pt x="0" y="0"/>
                </a:lnTo>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24" name="Freeform 52"/>
          <p:cNvSpPr/>
          <p:nvPr/>
        </p:nvSpPr>
        <p:spPr>
          <a:xfrm>
            <a:off x="2945765" y="3729990"/>
            <a:ext cx="775335" cy="630555"/>
          </a:xfrm>
          <a:custGeom>
            <a:avLst/>
            <a:gdLst>
              <a:gd name="connsiteX0" fmla="*/ 740228 w 740228"/>
              <a:gd name="connsiteY0" fmla="*/ 290286 h 290286"/>
              <a:gd name="connsiteX1" fmla="*/ 449942 w 740228"/>
              <a:gd name="connsiteY1" fmla="*/ 0 h 290286"/>
              <a:gd name="connsiteX2" fmla="*/ 0 w 740228"/>
              <a:gd name="connsiteY2" fmla="*/ 0 h 290286"/>
            </a:gdLst>
            <a:ahLst/>
            <a:cxnLst>
              <a:cxn ang="0">
                <a:pos x="connsiteX0" y="connsiteY0"/>
              </a:cxn>
              <a:cxn ang="0">
                <a:pos x="connsiteX1" y="connsiteY1"/>
              </a:cxn>
              <a:cxn ang="0">
                <a:pos x="connsiteX2" y="connsiteY2"/>
              </a:cxn>
            </a:cxnLst>
            <a:rect l="l" t="t" r="r" b="b"/>
            <a:pathLst>
              <a:path w="740228" h="290286">
                <a:moveTo>
                  <a:pt x="740228" y="290286"/>
                </a:moveTo>
                <a:lnTo>
                  <a:pt x="449942" y="0"/>
                </a:lnTo>
                <a:lnTo>
                  <a:pt x="0" y="0"/>
                </a:lnTo>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26" name="Freeform 53"/>
          <p:cNvSpPr/>
          <p:nvPr/>
        </p:nvSpPr>
        <p:spPr>
          <a:xfrm flipH="1">
            <a:off x="8560435" y="4610100"/>
            <a:ext cx="626110" cy="435610"/>
          </a:xfrm>
          <a:custGeom>
            <a:avLst/>
            <a:gdLst>
              <a:gd name="connsiteX0" fmla="*/ 740228 w 740228"/>
              <a:gd name="connsiteY0" fmla="*/ 290286 h 290286"/>
              <a:gd name="connsiteX1" fmla="*/ 449942 w 740228"/>
              <a:gd name="connsiteY1" fmla="*/ 0 h 290286"/>
              <a:gd name="connsiteX2" fmla="*/ 0 w 740228"/>
              <a:gd name="connsiteY2" fmla="*/ 0 h 290286"/>
            </a:gdLst>
            <a:ahLst/>
            <a:cxnLst>
              <a:cxn ang="0">
                <a:pos x="connsiteX0" y="connsiteY0"/>
              </a:cxn>
              <a:cxn ang="0">
                <a:pos x="connsiteX1" y="connsiteY1"/>
              </a:cxn>
              <a:cxn ang="0">
                <a:pos x="connsiteX2" y="connsiteY2"/>
              </a:cxn>
            </a:cxnLst>
            <a:rect l="l" t="t" r="r" b="b"/>
            <a:pathLst>
              <a:path w="740228" h="290286">
                <a:moveTo>
                  <a:pt x="740228" y="290286"/>
                </a:moveTo>
                <a:lnTo>
                  <a:pt x="449942" y="0"/>
                </a:lnTo>
                <a:lnTo>
                  <a:pt x="0" y="0"/>
                </a:lnTo>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5" name="Freeform 54"/>
          <p:cNvSpPr/>
          <p:nvPr/>
        </p:nvSpPr>
        <p:spPr>
          <a:xfrm flipH="1">
            <a:off x="7910195" y="2202180"/>
            <a:ext cx="729615" cy="875665"/>
          </a:xfrm>
          <a:custGeom>
            <a:avLst/>
            <a:gdLst>
              <a:gd name="connsiteX0" fmla="*/ 740228 w 740228"/>
              <a:gd name="connsiteY0" fmla="*/ 290286 h 290286"/>
              <a:gd name="connsiteX1" fmla="*/ 449942 w 740228"/>
              <a:gd name="connsiteY1" fmla="*/ 0 h 290286"/>
              <a:gd name="connsiteX2" fmla="*/ 0 w 740228"/>
              <a:gd name="connsiteY2" fmla="*/ 0 h 290286"/>
            </a:gdLst>
            <a:ahLst/>
            <a:cxnLst>
              <a:cxn ang="0">
                <a:pos x="connsiteX0" y="connsiteY0"/>
              </a:cxn>
              <a:cxn ang="0">
                <a:pos x="connsiteX1" y="connsiteY1"/>
              </a:cxn>
              <a:cxn ang="0">
                <a:pos x="connsiteX2" y="connsiteY2"/>
              </a:cxn>
            </a:cxnLst>
            <a:rect l="l" t="t" r="r" b="b"/>
            <a:pathLst>
              <a:path w="740228" h="290286">
                <a:moveTo>
                  <a:pt x="740228" y="290286"/>
                </a:moveTo>
                <a:lnTo>
                  <a:pt x="449942" y="0"/>
                </a:lnTo>
                <a:lnTo>
                  <a:pt x="0" y="0"/>
                </a:lnTo>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58" name="TextBox 57"/>
          <p:cNvSpPr txBox="1"/>
          <p:nvPr/>
        </p:nvSpPr>
        <p:spPr>
          <a:xfrm>
            <a:off x="1816100" y="3524885"/>
            <a:ext cx="1107440" cy="337185"/>
          </a:xfrm>
          <a:prstGeom prst="rect">
            <a:avLst/>
          </a:prstGeom>
          <a:noFill/>
        </p:spPr>
        <p:txBody>
          <a:bodyPr wrap="square" rtlCol="0">
            <a:spAutoFit/>
          </a:bodyPr>
          <a:lstStyle/>
          <a:p>
            <a:pPr lvl="0" algn="r">
              <a:buClrTx/>
              <a:buSzTx/>
              <a:buFontTx/>
            </a:pPr>
            <a:r>
              <a:rPr lang="zh-CN" altLang="en-US" sz="1600" b="1" dirty="0">
                <a:solidFill>
                  <a:schemeClr val="tx2"/>
                </a:solidFill>
                <a:latin typeface="微软雅黑" panose="020B0503020204020204" charset="-122"/>
                <a:ea typeface="微软雅黑" panose="020B0503020204020204" charset="-122"/>
                <a:cs typeface="微软雅黑" panose="020B0503020204020204" charset="-122"/>
                <a:sym typeface="+mn-ea"/>
              </a:rPr>
              <a:t>原型开发</a:t>
            </a: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62" name="TextBox 61"/>
          <p:cNvSpPr txBox="1"/>
          <p:nvPr/>
        </p:nvSpPr>
        <p:spPr>
          <a:xfrm>
            <a:off x="9304020" y="4229735"/>
            <a:ext cx="1583055" cy="337185"/>
          </a:xfrm>
          <a:prstGeom prst="rect">
            <a:avLst/>
          </a:prstGeom>
          <a:noFill/>
        </p:spPr>
        <p:txBody>
          <a:bodyPr wrap="square" rtlCol="0">
            <a:spAutoFit/>
          </a:bodyPr>
          <a:lstStyle/>
          <a:p>
            <a:r>
              <a:rPr lang="zh-CN" altLang="en-US" sz="1600" b="1" dirty="0">
                <a:solidFill>
                  <a:schemeClr val="tx2"/>
                </a:solidFill>
                <a:latin typeface="微软雅黑" panose="020B0503020204020204" charset="-122"/>
                <a:ea typeface="微软雅黑" panose="020B0503020204020204" charset="-122"/>
                <a:cs typeface="微软雅黑" panose="020B0503020204020204" charset="-122"/>
              </a:rPr>
              <a:t>技术预研</a:t>
            </a: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54" name="组合 53"/>
          <p:cNvGrpSpPr/>
          <p:nvPr/>
        </p:nvGrpSpPr>
        <p:grpSpPr>
          <a:xfrm>
            <a:off x="3377565" y="4029710"/>
            <a:ext cx="924560" cy="873760"/>
            <a:chOff x="5319" y="6645"/>
            <a:chExt cx="1456" cy="1376"/>
          </a:xfrm>
        </p:grpSpPr>
        <p:sp>
          <p:nvSpPr>
            <p:cNvPr id="19" name="Oval 31"/>
            <p:cNvSpPr>
              <a:spLocks noChangeArrowheads="1"/>
            </p:cNvSpPr>
            <p:nvPr/>
          </p:nvSpPr>
          <p:spPr bwMode="auto">
            <a:xfrm>
              <a:off x="5359" y="6645"/>
              <a:ext cx="1376" cy="1376"/>
            </a:xfrm>
            <a:prstGeom prst="ellipse">
              <a:avLst/>
            </a:prstGeom>
            <a:gradFill>
              <a:gsLst>
                <a:gs pos="23000">
                  <a:schemeClr val="accent5"/>
                </a:gs>
                <a:gs pos="100000">
                  <a:schemeClr val="accent5">
                    <a:lumMod val="60000"/>
                    <a:lumOff val="40000"/>
                  </a:schemeClr>
                </a:gs>
              </a:gsLst>
              <a:lin ang="2700000" scaled="0"/>
            </a:gradFill>
            <a:ln>
              <a:solidFill>
                <a:schemeClr val="bg1"/>
              </a:solidFill>
            </a:ln>
            <a:effectLst>
              <a:outerShdw dist="63500" dir="5400000" sx="90000" sy="-19000" rotWithShape="0">
                <a:schemeClr val="accent5">
                  <a:lumMod val="20000"/>
                  <a:lumOff val="8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en-US">
                <a:latin typeface="微软雅黑" panose="020B0503020204020204" charset="-122"/>
                <a:ea typeface="微软雅黑" panose="020B0503020204020204" charset="-122"/>
                <a:cs typeface="微软雅黑" panose="020B0503020204020204" charset="-122"/>
                <a:sym typeface="+mn-ea"/>
              </a:endParaRPr>
            </a:p>
          </p:txBody>
        </p:sp>
        <p:sp>
          <p:nvSpPr>
            <p:cNvPr id="68" name="TextBox 67"/>
            <p:cNvSpPr txBox="1"/>
            <p:nvPr/>
          </p:nvSpPr>
          <p:spPr>
            <a:xfrm>
              <a:off x="5319" y="6874"/>
              <a:ext cx="1456" cy="919"/>
            </a:xfrm>
            <a:prstGeom prst="rect">
              <a:avLst/>
            </a:prstGeom>
            <a:noFill/>
          </p:spPr>
          <p:txBody>
            <a:bodyPr wrap="square" rtlCol="0">
              <a:spAutoFit/>
            </a:bodyPr>
            <a:lstStyle/>
            <a:p>
              <a:pPr lvl="0" algn="ctr">
                <a:buClrTx/>
                <a:buSzTx/>
                <a:buFontTx/>
              </a:pP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第二</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季度</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57" name="组合 56"/>
          <p:cNvGrpSpPr/>
          <p:nvPr/>
        </p:nvGrpSpPr>
        <p:grpSpPr>
          <a:xfrm>
            <a:off x="7265670" y="3020060"/>
            <a:ext cx="831850" cy="831850"/>
            <a:chOff x="11431" y="4807"/>
            <a:chExt cx="1310" cy="1310"/>
          </a:xfrm>
        </p:grpSpPr>
        <p:sp>
          <p:nvSpPr>
            <p:cNvPr id="49" name="Oval 32"/>
            <p:cNvSpPr>
              <a:spLocks noChangeArrowheads="1"/>
            </p:cNvSpPr>
            <p:nvPr/>
          </p:nvSpPr>
          <p:spPr bwMode="auto">
            <a:xfrm>
              <a:off x="11431" y="4807"/>
              <a:ext cx="1311" cy="1311"/>
            </a:xfrm>
            <a:prstGeom prst="ellipse">
              <a:avLst/>
            </a:prstGeom>
            <a:gradFill>
              <a:gsLst>
                <a:gs pos="23000">
                  <a:schemeClr val="accent5"/>
                </a:gs>
                <a:gs pos="100000">
                  <a:schemeClr val="accent5">
                    <a:lumMod val="60000"/>
                    <a:lumOff val="40000"/>
                  </a:schemeClr>
                </a:gs>
              </a:gsLst>
              <a:lin ang="2700000" scaled="0"/>
            </a:gradFill>
            <a:ln>
              <a:solidFill>
                <a:schemeClr val="bg1"/>
              </a:solidFill>
            </a:ln>
            <a:effectLst>
              <a:outerShdw dist="63500" dir="5400000" sx="90000" sy="-19000" rotWithShape="0">
                <a:schemeClr val="accent5">
                  <a:lumMod val="20000"/>
                  <a:lumOff val="8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en-US">
                <a:latin typeface="微软雅黑" panose="020B0503020204020204" charset="-122"/>
                <a:ea typeface="微软雅黑" panose="020B0503020204020204" charset="-122"/>
                <a:cs typeface="微软雅黑" panose="020B0503020204020204" charset="-122"/>
                <a:sym typeface="+mn-ea"/>
              </a:endParaRPr>
            </a:p>
          </p:txBody>
        </p:sp>
        <p:sp>
          <p:nvSpPr>
            <p:cNvPr id="69" name="TextBox 68"/>
            <p:cNvSpPr txBox="1"/>
            <p:nvPr/>
          </p:nvSpPr>
          <p:spPr>
            <a:xfrm>
              <a:off x="11440" y="5052"/>
              <a:ext cx="1292" cy="822"/>
            </a:xfrm>
            <a:prstGeom prst="rect">
              <a:avLst/>
            </a:prstGeom>
            <a:noFill/>
          </p:spPr>
          <p:txBody>
            <a:bodyPr wrap="square" rtlCol="0">
              <a:spAutoFit/>
            </a:bodyPr>
            <a:lstStyle/>
            <a:p>
              <a:pPr algn="ct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rPr>
                <a:t>第三</a:t>
              </a:r>
              <a:endParaRPr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rPr>
                <a:t>季度</a:t>
              </a:r>
              <a:endParaRPr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64" name="组合 63"/>
          <p:cNvGrpSpPr/>
          <p:nvPr/>
        </p:nvGrpSpPr>
        <p:grpSpPr>
          <a:xfrm>
            <a:off x="4985385" y="2466340"/>
            <a:ext cx="633730" cy="574040"/>
            <a:chOff x="7804" y="3942"/>
            <a:chExt cx="998" cy="904"/>
          </a:xfrm>
        </p:grpSpPr>
        <p:sp>
          <p:nvSpPr>
            <p:cNvPr id="20" name="Oval 33"/>
            <p:cNvSpPr>
              <a:spLocks noChangeArrowheads="1"/>
            </p:cNvSpPr>
            <p:nvPr/>
          </p:nvSpPr>
          <p:spPr bwMode="auto">
            <a:xfrm>
              <a:off x="7851" y="3942"/>
              <a:ext cx="905" cy="905"/>
            </a:xfrm>
            <a:prstGeom prst="ellipse">
              <a:avLst/>
            </a:prstGeom>
            <a:gradFill>
              <a:gsLst>
                <a:gs pos="23000">
                  <a:schemeClr val="accent5"/>
                </a:gs>
                <a:gs pos="100000">
                  <a:schemeClr val="accent5">
                    <a:lumMod val="60000"/>
                    <a:lumOff val="40000"/>
                  </a:schemeClr>
                </a:gs>
              </a:gsLst>
              <a:lin ang="2700000" scaled="0"/>
            </a:gradFill>
            <a:ln>
              <a:solidFill>
                <a:schemeClr val="bg1"/>
              </a:solidFill>
            </a:ln>
            <a:effectLst>
              <a:outerShdw dist="63500" dir="5400000" sx="90000" sy="-19000" rotWithShape="0">
                <a:schemeClr val="accent5">
                  <a:lumMod val="20000"/>
                  <a:lumOff val="8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en-US">
                <a:latin typeface="微软雅黑" panose="020B0503020204020204" charset="-122"/>
                <a:ea typeface="微软雅黑" panose="020B0503020204020204" charset="-122"/>
                <a:cs typeface="微软雅黑" panose="020B0503020204020204" charset="-122"/>
                <a:sym typeface="+mn-ea"/>
              </a:endParaRPr>
            </a:p>
          </p:txBody>
        </p:sp>
        <p:sp>
          <p:nvSpPr>
            <p:cNvPr id="70" name="TextBox 69"/>
            <p:cNvSpPr txBox="1"/>
            <p:nvPr/>
          </p:nvSpPr>
          <p:spPr>
            <a:xfrm>
              <a:off x="7804" y="4032"/>
              <a:ext cx="999" cy="725"/>
            </a:xfrm>
            <a:prstGeom prst="rect">
              <a:avLst/>
            </a:prstGeom>
            <a:noFill/>
          </p:spPr>
          <p:txBody>
            <a:bodyPr wrap="square" rtlCol="0">
              <a:spAutoFit/>
            </a:bodyPr>
            <a:lstStyle/>
            <a:p>
              <a:pPr algn="ct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第四</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季度</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sp>
        <p:nvSpPr>
          <p:cNvPr id="320" name="PPT11"/>
          <p:cNvSpPr txBox="1"/>
          <p:nvPr/>
        </p:nvSpPr>
        <p:spPr>
          <a:xfrm>
            <a:off x="9506939" y="4690284"/>
            <a:ext cx="508000" cy="15367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前沿探索</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21" name="PPT12"/>
          <p:cNvSpPr/>
          <p:nvPr/>
        </p:nvSpPr>
        <p:spPr>
          <a:xfrm>
            <a:off x="9420948" y="4642431"/>
            <a:ext cx="684944" cy="249595"/>
          </a:xfrm>
          <a:prstGeom prst="rect">
            <a:avLst/>
          </a:prstGeom>
          <a:noFill/>
          <a:ln w="9525">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18" name="PPT13"/>
          <p:cNvSpPr txBox="1"/>
          <p:nvPr/>
        </p:nvSpPr>
        <p:spPr>
          <a:xfrm>
            <a:off x="10308912" y="4690284"/>
            <a:ext cx="512961" cy="153888"/>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专利布局</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19" name="PPT14"/>
          <p:cNvSpPr/>
          <p:nvPr/>
        </p:nvSpPr>
        <p:spPr>
          <a:xfrm>
            <a:off x="10222921" y="4642431"/>
            <a:ext cx="684944" cy="249595"/>
          </a:xfrm>
          <a:prstGeom prst="rect">
            <a:avLst/>
          </a:prstGeom>
          <a:noFill/>
          <a:ln w="9525">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16" name="PPT15"/>
          <p:cNvSpPr txBox="1"/>
          <p:nvPr/>
        </p:nvSpPr>
        <p:spPr>
          <a:xfrm>
            <a:off x="11110885" y="4690284"/>
            <a:ext cx="512961" cy="153888"/>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设备升级</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17" name="PPT16"/>
          <p:cNvSpPr/>
          <p:nvPr/>
        </p:nvSpPr>
        <p:spPr>
          <a:xfrm>
            <a:off x="11024894" y="4642431"/>
            <a:ext cx="684944" cy="249595"/>
          </a:xfrm>
          <a:prstGeom prst="rect">
            <a:avLst/>
          </a:prstGeom>
          <a:noFill/>
          <a:ln w="9525">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09" name="PPT17"/>
          <p:cNvSpPr txBox="1"/>
          <p:nvPr/>
        </p:nvSpPr>
        <p:spPr>
          <a:xfrm>
            <a:off x="9420949" y="5007398"/>
            <a:ext cx="2288890" cy="1107440"/>
          </a:xfrm>
          <a:prstGeom prst="rect">
            <a:avLst/>
          </a:prstGeom>
          <a:noFill/>
        </p:spPr>
        <p:txBody>
          <a:bodyPr wrap="square" lIns="0" tIns="0" rIns="0" bIns="0">
            <a:spAutoFit/>
          </a:bodyPr>
          <a:lstStyle/>
          <a:p>
            <a:pPr marL="171450" marR="0" lvl="0" indent="-171450" algn="just" defTabSz="914400" rtl="0" eaLnBrk="1" fontAlgn="auto" latinLnBrk="0" hangingPunct="1">
              <a:lnSpc>
                <a:spcPct val="120000"/>
              </a:lnSpc>
              <a:spcBef>
                <a:spcPts val="0"/>
              </a:spcBef>
              <a:spcAft>
                <a:spcPts val="0"/>
              </a:spcAft>
              <a:buClrTx/>
              <a:buSzTx/>
              <a:buFont typeface="Wingdings" panose="05000000000000000000" pitchFamily="2" charset="2"/>
              <a:buChar char="ü"/>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完成</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5</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项新兴技术可行性分析，锁定</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3</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个重点方向；</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just" defTabSz="914400" rtl="0" eaLnBrk="1" fontAlgn="auto" latinLnBrk="0" hangingPunct="1">
              <a:lnSpc>
                <a:spcPct val="120000"/>
              </a:lnSpc>
              <a:spcBef>
                <a:spcPts val="0"/>
              </a:spcBef>
              <a:spcAft>
                <a:spcPts val="0"/>
              </a:spcAft>
              <a:buClrTx/>
              <a:buSzTx/>
              <a:buFont typeface="Wingdings" panose="05000000000000000000" pitchFamily="2" charset="2"/>
              <a:buChar char="ü"/>
              <a:defRPr/>
            </a:pP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申请核心发明专利</a:t>
            </a:r>
            <a:r>
              <a:rPr lang="en-US" altLang="zh-CN"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8</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项，其中</a:t>
            </a:r>
            <a:r>
              <a:rPr lang="en-US" altLang="zh-CN"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AI</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相关技术占比</a:t>
            </a:r>
            <a:r>
              <a:rPr lang="en-US" altLang="zh-CN"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60%</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endPar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marL="171450" marR="0" lvl="0" indent="-171450" algn="just" defTabSz="914400" rtl="0" eaLnBrk="1" fontAlgn="auto" latinLnBrk="0" hangingPunct="1">
              <a:lnSpc>
                <a:spcPct val="120000"/>
              </a:lnSpc>
              <a:spcBef>
                <a:spcPts val="0"/>
              </a:spcBef>
              <a:spcAft>
                <a:spcPts val="0"/>
              </a:spcAft>
              <a:buClrTx/>
              <a:buSzTx/>
              <a:buFont typeface="Wingdings" panose="05000000000000000000" pitchFamily="2" charset="2"/>
              <a:buChar char="ü"/>
              <a:defRPr/>
            </a:pP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投入</a:t>
            </a:r>
            <a:r>
              <a:rPr lang="en-US" altLang="zh-CN"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200</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万更新实验设备，测试效率提升</a:t>
            </a:r>
            <a:r>
              <a:rPr lang="en-US" altLang="zh-CN"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40%</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5" name="PPT11"/>
          <p:cNvSpPr txBox="1"/>
          <p:nvPr/>
        </p:nvSpPr>
        <p:spPr>
          <a:xfrm>
            <a:off x="635354" y="3975909"/>
            <a:ext cx="508000" cy="15367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核心突破</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8" name="PPT12"/>
          <p:cNvSpPr/>
          <p:nvPr/>
        </p:nvSpPr>
        <p:spPr>
          <a:xfrm>
            <a:off x="549363" y="3928056"/>
            <a:ext cx="684944" cy="249595"/>
          </a:xfrm>
          <a:prstGeom prst="rect">
            <a:avLst/>
          </a:prstGeom>
          <a:noFill/>
          <a:ln w="9525">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1" name="PPT13"/>
          <p:cNvSpPr txBox="1"/>
          <p:nvPr/>
        </p:nvSpPr>
        <p:spPr>
          <a:xfrm>
            <a:off x="1437327" y="3975909"/>
            <a:ext cx="508000" cy="15367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敏捷迭代</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3" name="PPT14"/>
          <p:cNvSpPr/>
          <p:nvPr/>
        </p:nvSpPr>
        <p:spPr>
          <a:xfrm>
            <a:off x="1351336" y="3928056"/>
            <a:ext cx="684944" cy="249595"/>
          </a:xfrm>
          <a:prstGeom prst="rect">
            <a:avLst/>
          </a:prstGeom>
          <a:noFill/>
          <a:ln w="9525">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5" name="PPT15"/>
          <p:cNvSpPr txBox="1"/>
          <p:nvPr/>
        </p:nvSpPr>
        <p:spPr>
          <a:xfrm>
            <a:off x="2239300" y="3975909"/>
            <a:ext cx="508000" cy="15367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成本优化</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7" name="PPT16"/>
          <p:cNvSpPr/>
          <p:nvPr/>
        </p:nvSpPr>
        <p:spPr>
          <a:xfrm>
            <a:off x="2153309" y="3928056"/>
            <a:ext cx="684944" cy="249595"/>
          </a:xfrm>
          <a:prstGeom prst="rect">
            <a:avLst/>
          </a:prstGeom>
          <a:noFill/>
          <a:ln w="9525">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9" name="PPT17"/>
          <p:cNvSpPr txBox="1"/>
          <p:nvPr/>
        </p:nvSpPr>
        <p:spPr>
          <a:xfrm>
            <a:off x="549364" y="4326043"/>
            <a:ext cx="2288890" cy="1107440"/>
          </a:xfrm>
          <a:prstGeom prst="rect">
            <a:avLst/>
          </a:prstGeom>
          <a:noFill/>
        </p:spPr>
        <p:txBody>
          <a:bodyPr wrap="square" lIns="0" tIns="0" rIns="0" bIns="0">
            <a:spAutoFit/>
          </a:bodyPr>
          <a:lstStyle/>
          <a:p>
            <a:pPr marL="171450" lvl="0" indent="-171450" algn="just">
              <a:lnSpc>
                <a:spcPct val="120000"/>
              </a:lnSpc>
              <a:spcBef>
                <a:spcPts val="0"/>
              </a:spcBef>
              <a:spcAft>
                <a:spcPts val="0"/>
              </a:spcAft>
              <a:buClrTx/>
              <a:buSzTx/>
              <a:buFont typeface="Wingdings" panose="05000000000000000000" pitchFamily="2" charset="2"/>
              <a:buChar char="ü"/>
              <a:defRPr/>
            </a:pP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攻克分布式系统性能瓶颈，实现毫秒级延迟响应；</a:t>
            </a:r>
            <a:endPar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marL="171450" lvl="0" indent="-171450" algn="just">
              <a:lnSpc>
                <a:spcPct val="120000"/>
              </a:lnSpc>
              <a:spcBef>
                <a:spcPts val="0"/>
              </a:spcBef>
              <a:spcAft>
                <a:spcPts val="0"/>
              </a:spcAft>
              <a:buClrTx/>
              <a:buSzTx/>
              <a:buFont typeface="Wingdings" panose="05000000000000000000" pitchFamily="2" charset="2"/>
              <a:buChar char="ü"/>
              <a:defRPr/>
            </a:pP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高效完成</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3</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轮快速原型验证测试，关键指标达标率</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100%</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endPar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marL="171450" lvl="0" indent="-171450" algn="just">
              <a:lnSpc>
                <a:spcPct val="120000"/>
              </a:lnSpc>
              <a:spcBef>
                <a:spcPts val="0"/>
              </a:spcBef>
              <a:spcAft>
                <a:spcPts val="0"/>
              </a:spcAft>
              <a:buClrTx/>
              <a:buSzTx/>
              <a:buFont typeface="Wingdings" panose="05000000000000000000" pitchFamily="2" charset="2"/>
              <a:buChar char="ü"/>
              <a:defRPr/>
            </a:pP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通过云原生架构重构优化，硬件成本降低</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35%</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endPar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31" name="TextBox 61"/>
          <p:cNvSpPr txBox="1"/>
          <p:nvPr/>
        </p:nvSpPr>
        <p:spPr>
          <a:xfrm>
            <a:off x="8706485" y="1812290"/>
            <a:ext cx="1583055" cy="337185"/>
          </a:xfrm>
          <a:prstGeom prst="rect">
            <a:avLst/>
          </a:prstGeom>
          <a:noFill/>
        </p:spPr>
        <p:txBody>
          <a:bodyPr wrap="square" rtlCol="0">
            <a:spAutoFit/>
          </a:bodyPr>
          <a:lstStyle/>
          <a:p>
            <a:r>
              <a:rPr lang="zh-CN" altLang="en-US" sz="1600" b="1" dirty="0">
                <a:solidFill>
                  <a:schemeClr val="tx2"/>
                </a:solidFill>
                <a:latin typeface="微软雅黑" panose="020B0503020204020204" charset="-122"/>
                <a:ea typeface="微软雅黑" panose="020B0503020204020204" charset="-122"/>
                <a:cs typeface="微软雅黑" panose="020B0503020204020204" charset="-122"/>
              </a:rPr>
              <a:t>产品化落地</a:t>
            </a: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2" name="PPT11"/>
          <p:cNvSpPr txBox="1"/>
          <p:nvPr/>
        </p:nvSpPr>
        <p:spPr>
          <a:xfrm>
            <a:off x="8909404" y="2272839"/>
            <a:ext cx="508000" cy="15367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体验优化</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3" name="PPT12"/>
          <p:cNvSpPr/>
          <p:nvPr/>
        </p:nvSpPr>
        <p:spPr>
          <a:xfrm>
            <a:off x="8823413" y="2224986"/>
            <a:ext cx="684944" cy="249595"/>
          </a:xfrm>
          <a:prstGeom prst="rect">
            <a:avLst/>
          </a:prstGeom>
          <a:noFill/>
          <a:ln w="9525">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5" name="PPT13"/>
          <p:cNvSpPr txBox="1"/>
          <p:nvPr/>
        </p:nvSpPr>
        <p:spPr>
          <a:xfrm>
            <a:off x="9711377" y="2272839"/>
            <a:ext cx="508000" cy="15367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首版发布</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7" name="PPT14"/>
          <p:cNvSpPr/>
          <p:nvPr/>
        </p:nvSpPr>
        <p:spPr>
          <a:xfrm>
            <a:off x="9625386" y="2224986"/>
            <a:ext cx="684944" cy="249595"/>
          </a:xfrm>
          <a:prstGeom prst="rect">
            <a:avLst/>
          </a:prstGeom>
          <a:noFill/>
          <a:ln w="9525">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8" name="PPT15"/>
          <p:cNvSpPr txBox="1"/>
          <p:nvPr/>
        </p:nvSpPr>
        <p:spPr>
          <a:xfrm>
            <a:off x="10513350" y="2272839"/>
            <a:ext cx="508000" cy="15367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效能提升</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9" name="PPT16"/>
          <p:cNvSpPr/>
          <p:nvPr/>
        </p:nvSpPr>
        <p:spPr>
          <a:xfrm>
            <a:off x="10427359" y="2224986"/>
            <a:ext cx="684944" cy="249595"/>
          </a:xfrm>
          <a:prstGeom prst="rect">
            <a:avLst/>
          </a:prstGeom>
          <a:noFill/>
          <a:ln w="9525">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0" name="PPT17"/>
          <p:cNvSpPr txBox="1"/>
          <p:nvPr/>
        </p:nvSpPr>
        <p:spPr>
          <a:xfrm>
            <a:off x="8823325" y="2590165"/>
            <a:ext cx="2814955" cy="1107440"/>
          </a:xfrm>
          <a:prstGeom prst="rect">
            <a:avLst/>
          </a:prstGeom>
          <a:noFill/>
        </p:spPr>
        <p:txBody>
          <a:bodyPr wrap="square" lIns="0" tIns="0" rIns="0" bIns="0">
            <a:spAutoFit/>
          </a:bodyPr>
          <a:lstStyle/>
          <a:p>
            <a:pPr marL="171450" lvl="0" indent="-171450" algn="just">
              <a:lnSpc>
                <a:spcPct val="120000"/>
              </a:lnSpc>
              <a:spcBef>
                <a:spcPts val="0"/>
              </a:spcBef>
              <a:spcAft>
                <a:spcPts val="0"/>
              </a:spcAft>
              <a:buClrTx/>
              <a:buSzTx/>
              <a:buFont typeface="Wingdings" panose="05000000000000000000" pitchFamily="2" charset="2"/>
              <a:buChar char="ü"/>
              <a:defRPr/>
            </a:pP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全球首发企业级智能</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SaaS</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解决方案，累计签约客户</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23</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家；</a:t>
            </a:r>
            <a:endPar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marL="171450" lvl="0" indent="-171450" algn="just">
              <a:lnSpc>
                <a:spcPct val="120000"/>
              </a:lnSpc>
              <a:spcBef>
                <a:spcPts val="0"/>
              </a:spcBef>
              <a:spcAft>
                <a:spcPts val="0"/>
              </a:spcAft>
              <a:buClrTx/>
              <a:buSzTx/>
              <a:buFont typeface="Wingdings" panose="05000000000000000000" pitchFamily="2" charset="2"/>
              <a:buChar char="ü"/>
              <a:defRPr/>
            </a:pP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深度基于</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300+</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用户真实反馈迭代</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UI/UX</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NPS</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值提升至</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72</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endPar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marL="171450" lvl="0" indent="-171450" algn="just">
              <a:lnSpc>
                <a:spcPct val="120000"/>
              </a:lnSpc>
              <a:spcBef>
                <a:spcPts val="0"/>
              </a:spcBef>
              <a:spcAft>
                <a:spcPts val="0"/>
              </a:spcAft>
              <a:buClrTx/>
              <a:buSzTx/>
              <a:buFont typeface="Wingdings" panose="05000000000000000000" pitchFamily="2" charset="2"/>
              <a:buChar char="ü"/>
              <a:defRPr/>
            </a:pP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持续集成与持续交付（</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CI/CD</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）自动化测试覆盖率大幅提升至</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85%</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endPar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41" name="TextBox 57"/>
          <p:cNvSpPr txBox="1"/>
          <p:nvPr/>
        </p:nvSpPr>
        <p:spPr>
          <a:xfrm>
            <a:off x="2813050" y="1159510"/>
            <a:ext cx="1583055" cy="337185"/>
          </a:xfrm>
          <a:prstGeom prst="rect">
            <a:avLst/>
          </a:prstGeom>
          <a:noFill/>
        </p:spPr>
        <p:txBody>
          <a:bodyPr wrap="square" rtlCol="0">
            <a:spAutoFit/>
          </a:bodyPr>
          <a:lstStyle/>
          <a:p>
            <a:pPr lvl="0" algn="r">
              <a:buClrTx/>
              <a:buSzTx/>
              <a:buFontTx/>
            </a:pPr>
            <a:r>
              <a:rPr lang="zh-CN" altLang="en-US" sz="1600" b="1" dirty="0">
                <a:solidFill>
                  <a:schemeClr val="tx2"/>
                </a:solidFill>
                <a:latin typeface="微软雅黑" panose="020B0503020204020204" charset="-122"/>
                <a:ea typeface="微软雅黑" panose="020B0503020204020204" charset="-122"/>
                <a:cs typeface="微软雅黑" panose="020B0503020204020204" charset="-122"/>
                <a:sym typeface="+mn-ea"/>
              </a:rPr>
              <a:t>规模化推广</a:t>
            </a: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42" name="PPT11"/>
          <p:cNvSpPr txBox="1"/>
          <p:nvPr/>
        </p:nvSpPr>
        <p:spPr>
          <a:xfrm>
            <a:off x="2107919" y="1610534"/>
            <a:ext cx="508000" cy="15367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商业变现</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3" name="PPT12"/>
          <p:cNvSpPr/>
          <p:nvPr/>
        </p:nvSpPr>
        <p:spPr>
          <a:xfrm>
            <a:off x="2021928" y="1562681"/>
            <a:ext cx="684944" cy="249595"/>
          </a:xfrm>
          <a:prstGeom prst="rect">
            <a:avLst/>
          </a:prstGeom>
          <a:noFill/>
          <a:ln w="9525">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4" name="PPT13"/>
          <p:cNvSpPr txBox="1"/>
          <p:nvPr/>
        </p:nvSpPr>
        <p:spPr>
          <a:xfrm>
            <a:off x="2909892" y="1610534"/>
            <a:ext cx="508000" cy="15367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标准输出</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5" name="PPT14"/>
          <p:cNvSpPr/>
          <p:nvPr/>
        </p:nvSpPr>
        <p:spPr>
          <a:xfrm>
            <a:off x="2823901" y="1562681"/>
            <a:ext cx="684944" cy="249595"/>
          </a:xfrm>
          <a:prstGeom prst="rect">
            <a:avLst/>
          </a:prstGeom>
          <a:noFill/>
          <a:ln w="9525">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6" name="PPT15"/>
          <p:cNvSpPr txBox="1"/>
          <p:nvPr/>
        </p:nvSpPr>
        <p:spPr>
          <a:xfrm>
            <a:off x="3711865" y="1610534"/>
            <a:ext cx="508000" cy="153670"/>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技术展望</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7" name="PPT16"/>
          <p:cNvSpPr/>
          <p:nvPr/>
        </p:nvSpPr>
        <p:spPr>
          <a:xfrm>
            <a:off x="3625874" y="1562681"/>
            <a:ext cx="684944" cy="249595"/>
          </a:xfrm>
          <a:prstGeom prst="rect">
            <a:avLst/>
          </a:prstGeom>
          <a:noFill/>
          <a:ln w="9525">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8" name="PPT17"/>
          <p:cNvSpPr txBox="1"/>
          <p:nvPr/>
        </p:nvSpPr>
        <p:spPr>
          <a:xfrm>
            <a:off x="1617980" y="1960880"/>
            <a:ext cx="2693035" cy="1107440"/>
          </a:xfrm>
          <a:prstGeom prst="rect">
            <a:avLst/>
          </a:prstGeom>
          <a:noFill/>
        </p:spPr>
        <p:txBody>
          <a:bodyPr wrap="square" lIns="0" tIns="0" rIns="0" bIns="0">
            <a:spAutoFit/>
          </a:bodyPr>
          <a:lstStyle/>
          <a:p>
            <a:pPr marL="171450" lvl="0" indent="-171450" algn="just">
              <a:lnSpc>
                <a:spcPct val="120000"/>
              </a:lnSpc>
              <a:spcBef>
                <a:spcPts val="0"/>
              </a:spcBef>
              <a:spcAft>
                <a:spcPts val="0"/>
              </a:spcAft>
              <a:buClrTx/>
              <a:buSzTx/>
              <a:buFont typeface="Wingdings" panose="05000000000000000000" pitchFamily="2" charset="2"/>
              <a:buChar char="ü"/>
              <a:defRPr/>
            </a:pP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全年累计实现创新产品营收</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5000</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万元，超额完成年度</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KPI 30%</a:t>
            </a:r>
            <a:endPar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marL="171450" lvl="0" indent="-171450" algn="just">
              <a:lnSpc>
                <a:spcPct val="120000"/>
              </a:lnSpc>
              <a:spcBef>
                <a:spcPts val="0"/>
              </a:spcBef>
              <a:spcAft>
                <a:spcPts val="0"/>
              </a:spcAft>
              <a:buClrTx/>
              <a:buSzTx/>
              <a:buFont typeface="Wingdings" panose="05000000000000000000" pitchFamily="2" charset="2"/>
              <a:buChar char="ü"/>
              <a:defRPr/>
            </a:pP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牵头主导编制并发布行业权威技术白皮书正式版</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1</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部</a:t>
            </a:r>
            <a:endPar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marL="171450" lvl="0" indent="-171450" algn="just">
              <a:lnSpc>
                <a:spcPct val="120000"/>
              </a:lnSpc>
              <a:spcBef>
                <a:spcPts val="0"/>
              </a:spcBef>
              <a:spcAft>
                <a:spcPts val="0"/>
              </a:spcAft>
              <a:buClrTx/>
              <a:buSzTx/>
              <a:buFont typeface="Wingdings" panose="05000000000000000000" pitchFamily="2" charset="2"/>
              <a:buChar char="ü"/>
              <a:defRPr/>
            </a:pP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正式启动下一代智能边缘计算架构联合预研项目</a:t>
            </a:r>
            <a:endPar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nvGrpSpPr>
          <p:cNvPr id="53" name="组合 52"/>
          <p:cNvGrpSpPr/>
          <p:nvPr/>
        </p:nvGrpSpPr>
        <p:grpSpPr>
          <a:xfrm>
            <a:off x="7713980" y="4999990"/>
            <a:ext cx="1193800" cy="1084580"/>
            <a:chOff x="12148" y="7874"/>
            <a:chExt cx="1880" cy="1708"/>
          </a:xfrm>
        </p:grpSpPr>
        <p:sp>
          <p:nvSpPr>
            <p:cNvPr id="51" name="Oval 6"/>
            <p:cNvSpPr/>
            <p:nvPr/>
          </p:nvSpPr>
          <p:spPr>
            <a:xfrm flipH="1">
              <a:off x="12234" y="7874"/>
              <a:ext cx="1708" cy="1708"/>
            </a:xfrm>
            <a:prstGeom prst="ellipse">
              <a:avLst/>
            </a:prstGeom>
            <a:gradFill>
              <a:gsLst>
                <a:gs pos="23000">
                  <a:schemeClr val="accent5"/>
                </a:gs>
                <a:gs pos="100000">
                  <a:schemeClr val="accent5">
                    <a:lumMod val="60000"/>
                    <a:lumOff val="40000"/>
                  </a:schemeClr>
                </a:gs>
              </a:gsLst>
              <a:lin ang="2700000" scaled="0"/>
            </a:gradFill>
            <a:ln>
              <a:solidFill>
                <a:schemeClr val="bg1"/>
              </a:solidFill>
            </a:ln>
            <a:effectLst>
              <a:outerShdw dist="63500" dir="5400000" sx="90000" sy="-19000" rotWithShape="0">
                <a:schemeClr val="accent5">
                  <a:lumMod val="20000"/>
                  <a:lumOff val="8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微软雅黑" panose="020B0503020204020204" charset="-122"/>
              </a:endParaRPr>
            </a:p>
          </p:txBody>
        </p:sp>
        <p:sp>
          <p:nvSpPr>
            <p:cNvPr id="52" name="TextBox 49"/>
            <p:cNvSpPr txBox="1"/>
            <p:nvPr/>
          </p:nvSpPr>
          <p:spPr>
            <a:xfrm>
              <a:off x="12148" y="8220"/>
              <a:ext cx="1880" cy="1016"/>
            </a:xfrm>
            <a:prstGeom prst="rect">
              <a:avLst/>
            </a:prstGeom>
            <a:noFill/>
          </p:spPr>
          <p:txBody>
            <a:bodyPr wrap="square" rtlCol="0">
              <a:spAutoFit/>
            </a:bodyPr>
            <a:lstStyle/>
            <a:p>
              <a:pPr algn="ctr"/>
              <a:r>
                <a:rPr lang="zh-CN" altLang="en-US" b="1" dirty="0">
                  <a:solidFill>
                    <a:schemeClr val="bg1"/>
                  </a:solidFill>
                  <a:latin typeface="微软雅黑" panose="020B0503020204020204" charset="-122"/>
                  <a:ea typeface="微软雅黑" panose="020B0503020204020204" charset="-122"/>
                  <a:cs typeface="微软雅黑" panose="020B0503020204020204" charset="-122"/>
                </a:rPr>
                <a:t>第一</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b="1" dirty="0">
                  <a:solidFill>
                    <a:schemeClr val="bg1"/>
                  </a:solidFill>
                  <a:latin typeface="微软雅黑" panose="020B0503020204020204" charset="-122"/>
                  <a:ea typeface="微软雅黑" panose="020B0503020204020204" charset="-122"/>
                  <a:cs typeface="微软雅黑" panose="020B0503020204020204" charset="-122"/>
                </a:rPr>
                <a:t>季度</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endParaRPr>
            </a:p>
          </p:txBody>
        </p:sp>
      </p:grp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8738235" y="348615"/>
            <a:ext cx="3219450" cy="332740"/>
            <a:chOff x="13761" y="549"/>
            <a:chExt cx="5070" cy="524"/>
          </a:xfrm>
        </p:grpSpPr>
        <p:pic>
          <p:nvPicPr>
            <p:cNvPr id="6" name="图片 5"/>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4" name="文本框 13"/>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任意形状 71"/>
          <p:cNvSpPr/>
          <p:nvPr/>
        </p:nvSpPr>
        <p:spPr>
          <a:xfrm rot="19412956" flipV="1">
            <a:off x="8535324" y="2779400"/>
            <a:ext cx="1501965" cy="1467501"/>
          </a:xfrm>
          <a:custGeom>
            <a:avLst/>
            <a:gdLst>
              <a:gd name="connsiteX0" fmla="*/ 6017425 w 6017425"/>
              <a:gd name="connsiteY0" fmla="*/ 187800 h 2133172"/>
              <a:gd name="connsiteX1" fmla="*/ 4764887 w 6017425"/>
              <a:gd name="connsiteY1" fmla="*/ 0 h 2133172"/>
              <a:gd name="connsiteX2" fmla="*/ 4954951 w 6017425"/>
              <a:gd name="connsiteY2" fmla="*/ 318908 h 2133172"/>
              <a:gd name="connsiteX3" fmla="*/ 0 w 6017425"/>
              <a:gd name="connsiteY3" fmla="*/ 1749564 h 2133172"/>
              <a:gd name="connsiteX4" fmla="*/ 5404033 w 6017425"/>
              <a:gd name="connsiteY4" fmla="*/ 1072876 h 2133172"/>
              <a:gd name="connsiteX5" fmla="*/ 5586528 w 6017425"/>
              <a:gd name="connsiteY5" fmla="*/ 1379136 h 2133172"/>
              <a:gd name="connsiteX6" fmla="*/ 6017425 w 6017425"/>
              <a:gd name="connsiteY6" fmla="*/ 187800 h 2133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65" h="2311">
                <a:moveTo>
                  <a:pt x="2365" y="309"/>
                </a:moveTo>
                <a:lnTo>
                  <a:pt x="0" y="0"/>
                </a:lnTo>
                <a:lnTo>
                  <a:pt x="1243" y="1882"/>
                </a:lnTo>
                <a:lnTo>
                  <a:pt x="1536" y="2311"/>
                </a:lnTo>
                <a:lnTo>
                  <a:pt x="2365" y="309"/>
                </a:lnTo>
                <a:close/>
              </a:path>
            </a:pathLst>
          </a:custGeom>
          <a:gradFill>
            <a:gsLst>
              <a:gs pos="100000">
                <a:schemeClr val="accent1">
                  <a:lumMod val="20000"/>
                  <a:lumOff val="80000"/>
                </a:schemeClr>
              </a:gs>
              <a:gs pos="0">
                <a:schemeClr val="accent1">
                  <a:lumMod val="60000"/>
                  <a:lumOff val="40000"/>
                </a:schemeClr>
              </a:gs>
            </a:gsLst>
            <a:lin ang="8100000" scaled="0"/>
          </a:gradFill>
          <a:ln w="9231" cap="flat">
            <a:noFill/>
            <a:prstDash val="solid"/>
            <a:miter/>
          </a:ln>
        </p:spPr>
        <p:txBody>
          <a:bodyPr wrap="square" rtlCol="0" anchor="ctr">
            <a:noAutofit/>
          </a:bodyPr>
          <a:lstStyle/>
          <a:p>
            <a:endParaRPr lang="en-US" altLang="zh-CN" dirty="0">
              <a:cs typeface="微软雅黑" panose="020B0503020204020204" charset="-122"/>
            </a:endParaRPr>
          </a:p>
        </p:txBody>
      </p: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年度工作项目规划</a:t>
            </a:r>
            <a:endParaRPr sz="250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72" name="任意形状 71"/>
          <p:cNvSpPr/>
          <p:nvPr/>
        </p:nvSpPr>
        <p:spPr>
          <a:xfrm rot="19412956" flipV="1">
            <a:off x="3226435" y="3796665"/>
            <a:ext cx="6981190" cy="2158365"/>
          </a:xfrm>
          <a:custGeom>
            <a:avLst/>
            <a:gdLst>
              <a:gd name="connsiteX0" fmla="*/ 6017425 w 6017425"/>
              <a:gd name="connsiteY0" fmla="*/ 187800 h 2133172"/>
              <a:gd name="connsiteX1" fmla="*/ 4764887 w 6017425"/>
              <a:gd name="connsiteY1" fmla="*/ 0 h 2133172"/>
              <a:gd name="connsiteX2" fmla="*/ 4954951 w 6017425"/>
              <a:gd name="connsiteY2" fmla="*/ 318908 h 2133172"/>
              <a:gd name="connsiteX3" fmla="*/ 0 w 6017425"/>
              <a:gd name="connsiteY3" fmla="*/ 1749564 h 2133172"/>
              <a:gd name="connsiteX4" fmla="*/ 5404033 w 6017425"/>
              <a:gd name="connsiteY4" fmla="*/ 1072876 h 2133172"/>
              <a:gd name="connsiteX5" fmla="*/ 5586528 w 6017425"/>
              <a:gd name="connsiteY5" fmla="*/ 1379136 h 2133172"/>
              <a:gd name="connsiteX6" fmla="*/ 6017425 w 6017425"/>
              <a:gd name="connsiteY6" fmla="*/ 187800 h 2133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7425" h="2133172">
                <a:moveTo>
                  <a:pt x="6017425" y="187800"/>
                </a:moveTo>
                <a:lnTo>
                  <a:pt x="4764887" y="0"/>
                </a:lnTo>
                <a:lnTo>
                  <a:pt x="4954951" y="318908"/>
                </a:lnTo>
                <a:cubicBezTo>
                  <a:pt x="3423826" y="1491317"/>
                  <a:pt x="2013901" y="1817981"/>
                  <a:pt x="0" y="1749564"/>
                </a:cubicBezTo>
                <a:cubicBezTo>
                  <a:pt x="1667743" y="2379995"/>
                  <a:pt x="3706383" y="2285818"/>
                  <a:pt x="5404033" y="1072876"/>
                </a:cubicBezTo>
                <a:lnTo>
                  <a:pt x="5586528" y="1379136"/>
                </a:lnTo>
                <a:lnTo>
                  <a:pt x="6017425" y="187800"/>
                </a:lnTo>
                <a:close/>
              </a:path>
            </a:pathLst>
          </a:custGeom>
          <a:gradFill>
            <a:gsLst>
              <a:gs pos="0">
                <a:schemeClr val="accent1">
                  <a:lumMod val="20000"/>
                  <a:lumOff val="80000"/>
                </a:schemeClr>
              </a:gs>
              <a:gs pos="100000">
                <a:schemeClr val="accent1"/>
              </a:gs>
            </a:gsLst>
            <a:lin ang="0" scaled="0"/>
          </a:gradFill>
          <a:ln w="9231" cap="flat">
            <a:solidFill>
              <a:schemeClr val="bg1"/>
            </a:solidFill>
            <a:prstDash val="solid"/>
            <a:miter/>
          </a:ln>
        </p:spPr>
        <p:txBody>
          <a:bodyPr rtlCol="0" anchor="ctr"/>
          <a:lstStyle/>
          <a:p>
            <a:endParaRPr lang="zh-CN" altLang="en-US" dirty="0">
              <a:cs typeface="微软雅黑" panose="020B0503020204020204" charset="-122"/>
            </a:endParaRPr>
          </a:p>
        </p:txBody>
      </p:sp>
      <p:sp>
        <p:nvSpPr>
          <p:cNvPr id="14" name="椭圆 13"/>
          <p:cNvSpPr/>
          <p:nvPr/>
        </p:nvSpPr>
        <p:spPr>
          <a:xfrm>
            <a:off x="8099425" y="4688205"/>
            <a:ext cx="311150" cy="311150"/>
          </a:xfrm>
          <a:prstGeom prst="ellipse">
            <a:avLst/>
          </a:prstGeom>
          <a:solidFill>
            <a:schemeClr val="accent5">
              <a:lumMod val="20000"/>
              <a:lumOff val="80000"/>
              <a:alpha val="70000"/>
            </a:schemeClr>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b="1">
                <a:solidFill>
                  <a:schemeClr val="accent5"/>
                </a:solidFill>
                <a:latin typeface="微软雅黑" panose="020B0503020204020204" charset="-122"/>
                <a:ea typeface="微软雅黑" panose="020B0503020204020204" charset="-122"/>
                <a:cs typeface="微软雅黑" panose="020B0503020204020204" charset="-122"/>
              </a:rPr>
              <a:t>4</a:t>
            </a:r>
            <a:endParaRPr lang="en-US" altLang="zh-CN" sz="14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nvSpPr>
        <p:spPr>
          <a:xfrm>
            <a:off x="876300" y="4725670"/>
            <a:ext cx="3147060" cy="1198880"/>
          </a:xfrm>
          <a:prstGeom prst="rect">
            <a:avLst/>
          </a:prstGeom>
          <a:noFill/>
        </p:spPr>
        <p:txBody>
          <a:bodyPr wrap="square" rtlCol="0">
            <a:spAutoFit/>
          </a:bodyPr>
          <a:lstStyle/>
          <a:p>
            <a:pPr marL="171450" marR="0" lvl="0" indent="-171450" algn="just" defTabSz="914400" rtl="0" eaLnBrk="1" fontAlgn="auto" latinLnBrk="0" hangingPunct="1">
              <a:lnSpc>
                <a:spcPct val="100000"/>
              </a:lnSpc>
              <a:spcBef>
                <a:spcPts val="0"/>
              </a:spcBef>
              <a:spcAft>
                <a:spcPts val="0"/>
              </a:spcAft>
              <a:buClrTx/>
              <a:buSzTx/>
              <a:buFont typeface="Wingdings" panose="05000000000000000000" charset="0"/>
              <a:buChar char="Ø"/>
              <a:defRPr/>
            </a:pPr>
            <a:r>
              <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制定计划方案：</a:t>
            </a:r>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rPr>
              <a:t>制定一个项目总体时间表，标出关键的时间节点和里程碑。估算项目的预算，包括成本，如人力、设备等。</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marL="171450" marR="0" lvl="0" indent="-171450" algn="just" defTabSz="914400" rtl="0" eaLnBrk="1" fontAlgn="auto" latinLnBrk="0" hangingPunct="1">
              <a:lnSpc>
                <a:spcPct val="100000"/>
              </a:lnSpc>
              <a:spcBef>
                <a:spcPts val="0"/>
              </a:spcBef>
              <a:spcAft>
                <a:spcPts val="0"/>
              </a:spcAft>
              <a:buClrTx/>
              <a:buSzTx/>
              <a:buFont typeface="Wingdings" panose="05000000000000000000" charset="0"/>
              <a:buChar char="Ø"/>
              <a:defRPr/>
            </a:pPr>
            <a:r>
              <a:rPr kumimoji="1" lang="zh-CN" altLang="en-US" sz="1200" b="1" dirty="0">
                <a:solidFill>
                  <a:schemeClr val="accent1"/>
                </a:solidFill>
                <a:latin typeface="微软雅黑" panose="020B0503020204020204" charset="-122"/>
                <a:ea typeface="微软雅黑" panose="020B0503020204020204" charset="-122"/>
                <a:cs typeface="微软雅黑" panose="020B0503020204020204" charset="-122"/>
              </a:rPr>
              <a:t>组建项目团队：</a:t>
            </a:r>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rPr>
              <a:t>确定核心团队成员，明确每个人的角色和责任。考虑项目是否需要外部供应商或顾问支持。</a:t>
            </a:r>
            <a:endParaRPr kumimoji="0" lang="zh-CN" altLang="en-US" sz="12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41" name="组合 40"/>
          <p:cNvGrpSpPr/>
          <p:nvPr/>
        </p:nvGrpSpPr>
        <p:grpSpPr>
          <a:xfrm>
            <a:off x="1765300" y="4091940"/>
            <a:ext cx="2108200" cy="570230"/>
            <a:chOff x="1591" y="6595"/>
            <a:chExt cx="3320" cy="898"/>
          </a:xfrm>
        </p:grpSpPr>
        <p:sp>
          <p:nvSpPr>
            <p:cNvPr id="127" name="文本框 126"/>
            <p:cNvSpPr txBox="1"/>
            <p:nvPr/>
          </p:nvSpPr>
          <p:spPr>
            <a:xfrm>
              <a:off x="1591" y="6595"/>
              <a:ext cx="3320" cy="53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第一阶段：项目启动</a:t>
              </a:r>
              <a:endPar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8" name="文本框 17"/>
            <p:cNvSpPr txBox="1"/>
            <p:nvPr/>
          </p:nvSpPr>
          <p:spPr>
            <a:xfrm>
              <a:off x="1888" y="7059"/>
              <a:ext cx="2726" cy="434"/>
            </a:xfrm>
            <a:prstGeom prst="rect">
              <a:avLst/>
            </a:prstGeom>
            <a:noFill/>
          </p:spPr>
          <p:txBody>
            <a:bodyPr wrap="square" rtlCol="0">
              <a:spAutoFit/>
            </a:bodyPr>
            <a:lstStyle/>
            <a:p>
              <a:pPr marR="0" lvl="0" indent="0" algn="just" defTabSz="914400" rtl="0" eaLnBrk="1" fontAlgn="auto" latinLnBrk="0" hangingPunct="1">
                <a:lnSpc>
                  <a:spcPct val="100000"/>
                </a:lnSpc>
                <a:spcBef>
                  <a:spcPts val="0"/>
                </a:spcBef>
                <a:spcAft>
                  <a:spcPts val="0"/>
                </a:spcAft>
                <a:buClrTx/>
                <a:buSzTx/>
                <a:buFont typeface="Wingdings" panose="05000000000000000000" charset="0"/>
                <a:buNone/>
                <a:defRPr/>
              </a:pP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2026</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年</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1</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月</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-3</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月）</a:t>
              </a:r>
              <a:endPar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21" name="文本框 20"/>
          <p:cNvSpPr txBox="1"/>
          <p:nvPr/>
        </p:nvSpPr>
        <p:spPr>
          <a:xfrm>
            <a:off x="1486535" y="2553335"/>
            <a:ext cx="3658235" cy="1014730"/>
          </a:xfrm>
          <a:prstGeom prst="rect">
            <a:avLst/>
          </a:prstGeom>
          <a:noFill/>
        </p:spPr>
        <p:txBody>
          <a:bodyPr wrap="square" rtlCol="0">
            <a:spAutoFit/>
          </a:bodyPr>
          <a:lstStyle/>
          <a:p>
            <a:pPr marL="171450" marR="0" lvl="0" indent="-171450" algn="just" defTabSz="914400" rtl="0" eaLnBrk="1" fontAlgn="auto" latinLnBrk="0" hangingPunct="1">
              <a:lnSpc>
                <a:spcPct val="100000"/>
              </a:lnSpc>
              <a:spcBef>
                <a:spcPts val="0"/>
              </a:spcBef>
              <a:spcAft>
                <a:spcPts val="0"/>
              </a:spcAft>
              <a:buClrTx/>
              <a:buSzTx/>
              <a:buFont typeface="Wingdings" panose="05000000000000000000" charset="0"/>
              <a:buChar char="Ø"/>
              <a:defRPr/>
            </a:pPr>
            <a:r>
              <a:rPr kumimoji="0" lang="zh-CN" altLang="en-US" sz="12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完善项目计划：</a:t>
            </a:r>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rPr>
              <a:t>在项目总体框架的基础上，细化每个任务的执行步骤和时间安排。</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marL="171450" marR="0" lvl="0" indent="-171450" algn="just" defTabSz="914400" rtl="0" eaLnBrk="1" fontAlgn="auto" latinLnBrk="0" hangingPunct="1">
              <a:lnSpc>
                <a:spcPct val="100000"/>
              </a:lnSpc>
              <a:spcBef>
                <a:spcPts val="0"/>
              </a:spcBef>
              <a:spcAft>
                <a:spcPts val="0"/>
              </a:spcAft>
              <a:buClrTx/>
              <a:buSzTx/>
              <a:buFont typeface="Wingdings" panose="05000000000000000000" charset="0"/>
              <a:buChar char="Ø"/>
              <a:defRPr/>
            </a:pPr>
            <a:r>
              <a:rPr kumimoji="1" lang="zh-CN" altLang="en-US" sz="1200" b="1" dirty="0">
                <a:solidFill>
                  <a:schemeClr val="accent5"/>
                </a:solidFill>
                <a:latin typeface="微软雅黑" panose="020B0503020204020204" charset="-122"/>
                <a:ea typeface="微软雅黑" panose="020B0503020204020204" charset="-122"/>
                <a:cs typeface="微软雅黑" panose="020B0503020204020204" charset="-122"/>
              </a:rPr>
              <a:t>资源分配与调配：</a:t>
            </a:r>
            <a:r>
              <a:rPr kumimoji="1" lang="zh-CN" altLang="en-US" sz="1200" i="0" u="none" strike="noStrike" kern="1200" cap="none" spc="0" normalizeH="0" baseline="0" dirty="0">
                <a:solidFill>
                  <a:schemeClr val="tx2"/>
                </a:solidFill>
                <a:latin typeface="微软雅黑" panose="020B0503020204020204" charset="-122"/>
                <a:ea typeface="微软雅黑" panose="020B0503020204020204" charset="-122"/>
                <a:cs typeface="微软雅黑" panose="020B0503020204020204" charset="-122"/>
              </a:rPr>
              <a:t>确定项目所需的资源，包括人力、物资、技术支持等。确保每项资源得到合理分配，避免资源短缺或浪费。</a:t>
            </a:r>
            <a:endParaRPr kumimoji="1" lang="zh-CN" altLang="en-US" sz="1200" i="0" u="none" strike="noStrike" kern="1200" cap="none" spc="0" normalizeH="0" baseline="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46" name="组合 45"/>
          <p:cNvGrpSpPr/>
          <p:nvPr/>
        </p:nvGrpSpPr>
        <p:grpSpPr>
          <a:xfrm>
            <a:off x="3139440" y="1943735"/>
            <a:ext cx="2108200" cy="570230"/>
            <a:chOff x="2745" y="2451"/>
            <a:chExt cx="3320" cy="898"/>
          </a:xfrm>
        </p:grpSpPr>
        <p:sp>
          <p:nvSpPr>
            <p:cNvPr id="23" name="文本框 22"/>
            <p:cNvSpPr txBox="1"/>
            <p:nvPr/>
          </p:nvSpPr>
          <p:spPr>
            <a:xfrm>
              <a:off x="2745" y="2451"/>
              <a:ext cx="3320" cy="53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第二阶段：项目规划</a:t>
              </a:r>
              <a:endParaRPr kumimoji="0" lang="zh-CN" altLang="en-US" sz="16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5" name="文本框 24"/>
            <p:cNvSpPr txBox="1"/>
            <p:nvPr/>
          </p:nvSpPr>
          <p:spPr>
            <a:xfrm>
              <a:off x="3042" y="2915"/>
              <a:ext cx="2726" cy="434"/>
            </a:xfrm>
            <a:prstGeom prst="rect">
              <a:avLst/>
            </a:prstGeom>
            <a:noFill/>
          </p:spPr>
          <p:txBody>
            <a:bodyPr wrap="square" rtlCol="0">
              <a:spAutoFit/>
            </a:bodyPr>
            <a:lstStyle/>
            <a:p>
              <a:pPr marR="0" lvl="0" indent="0" algn="just" defTabSz="914400" rtl="0" eaLnBrk="1" fontAlgn="auto" latinLnBrk="0" hangingPunct="1">
                <a:lnSpc>
                  <a:spcPct val="100000"/>
                </a:lnSpc>
                <a:spcBef>
                  <a:spcPts val="0"/>
                </a:spcBef>
                <a:spcAft>
                  <a:spcPts val="0"/>
                </a:spcAft>
                <a:buClrTx/>
                <a:buSzTx/>
                <a:buFont typeface="Wingdings" panose="05000000000000000000" charset="0"/>
                <a:buNone/>
                <a:defRPr/>
              </a:pP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2026</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年</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4</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月</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-6</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月）</a:t>
              </a:r>
              <a:endPar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27" name="文本框 26"/>
          <p:cNvSpPr txBox="1"/>
          <p:nvPr/>
        </p:nvSpPr>
        <p:spPr>
          <a:xfrm>
            <a:off x="6877050" y="1919605"/>
            <a:ext cx="4396105" cy="829945"/>
          </a:xfrm>
          <a:prstGeom prst="rect">
            <a:avLst/>
          </a:prstGeom>
          <a:noFill/>
        </p:spPr>
        <p:txBody>
          <a:bodyPr wrap="square" rtlCol="0">
            <a:spAutoFit/>
          </a:bodyPr>
          <a:lstStyle/>
          <a:p>
            <a:pPr marL="171450" marR="0" lvl="0" indent="-171450" algn="just" defTabSz="914400" rtl="0" eaLnBrk="1" fontAlgn="auto" latinLnBrk="0" hangingPunct="1">
              <a:lnSpc>
                <a:spcPct val="100000"/>
              </a:lnSpc>
              <a:spcBef>
                <a:spcPts val="0"/>
              </a:spcBef>
              <a:spcAft>
                <a:spcPts val="0"/>
              </a:spcAft>
              <a:buClrTx/>
              <a:buSzTx/>
              <a:buFont typeface="Wingdings" panose="05000000000000000000" charset="0"/>
              <a:buChar char="Ø"/>
              <a:defRPr/>
            </a:pPr>
            <a:r>
              <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团队管理与协调：</a:t>
            </a:r>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rPr>
              <a:t>对团队成员工作进行监督与支持，确保协同作业顺利进行。解决团队中出现的任何冲突或问题。</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marL="171450" marR="0" lvl="0" indent="-171450" algn="just" defTabSz="914400" rtl="0" eaLnBrk="1" fontAlgn="auto" latinLnBrk="0" hangingPunct="1">
              <a:lnSpc>
                <a:spcPct val="100000"/>
              </a:lnSpc>
              <a:spcBef>
                <a:spcPts val="0"/>
              </a:spcBef>
              <a:spcAft>
                <a:spcPts val="0"/>
              </a:spcAft>
              <a:buClrTx/>
              <a:buSzTx/>
              <a:buFont typeface="Wingdings" panose="05000000000000000000" charset="0"/>
              <a:buChar char="Ø"/>
              <a:defRPr/>
            </a:pPr>
            <a:r>
              <a:rPr kumimoji="1" lang="zh-CN" altLang="en-US" sz="1200" b="1" dirty="0">
                <a:solidFill>
                  <a:schemeClr val="accent1"/>
                </a:solidFill>
                <a:latin typeface="微软雅黑" panose="020B0503020204020204" charset="-122"/>
                <a:ea typeface="微软雅黑" panose="020B0503020204020204" charset="-122"/>
                <a:cs typeface="微软雅黑" panose="020B0503020204020204" charset="-122"/>
              </a:rPr>
              <a:t>监控与调整进度：</a:t>
            </a:r>
            <a:r>
              <a:rPr kumimoji="1" lang="zh-CN" altLang="en-US" sz="1200" i="0" u="none" strike="noStrike" kern="1200" cap="none" spc="0" normalizeH="0" baseline="0" dirty="0">
                <a:solidFill>
                  <a:schemeClr val="tx2"/>
                </a:solidFill>
                <a:latin typeface="微软雅黑" panose="020B0503020204020204" charset="-122"/>
                <a:ea typeface="微软雅黑" panose="020B0503020204020204" charset="-122"/>
                <a:cs typeface="微软雅黑" panose="020B0503020204020204" charset="-122"/>
              </a:rPr>
              <a:t>跟踪项目进展，任务按时完成。发现偏差时及时调整项目进度，确保不会影响总体目标。</a:t>
            </a:r>
            <a:endParaRPr kumimoji="1" lang="zh-CN" altLang="en-US" sz="1200" i="0" u="none" strike="noStrike" kern="1200" cap="none" spc="0" normalizeH="0" baseline="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nvSpPr>
        <p:spPr>
          <a:xfrm>
            <a:off x="6952615" y="1327785"/>
            <a:ext cx="2108200" cy="33718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第三阶段：项目执行</a:t>
            </a:r>
            <a:endPar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1" name="文本框 30"/>
          <p:cNvSpPr txBox="1"/>
          <p:nvPr/>
        </p:nvSpPr>
        <p:spPr>
          <a:xfrm>
            <a:off x="6987540" y="1622425"/>
            <a:ext cx="1731010" cy="275590"/>
          </a:xfrm>
          <a:prstGeom prst="rect">
            <a:avLst/>
          </a:prstGeom>
          <a:noFill/>
        </p:spPr>
        <p:txBody>
          <a:bodyPr wrap="square" rtlCol="0">
            <a:spAutoFit/>
          </a:bodyPr>
          <a:lstStyle/>
          <a:p>
            <a:pPr marR="0" lvl="0" indent="0" algn="just" defTabSz="914400" rtl="0" eaLnBrk="1" fontAlgn="auto" latinLnBrk="0" hangingPunct="1">
              <a:lnSpc>
                <a:spcPct val="100000"/>
              </a:lnSpc>
              <a:spcBef>
                <a:spcPts val="0"/>
              </a:spcBef>
              <a:spcAft>
                <a:spcPts val="0"/>
              </a:spcAft>
              <a:buClrTx/>
              <a:buSzTx/>
              <a:buFont typeface="Wingdings" panose="05000000000000000000" charset="0"/>
              <a:buNone/>
              <a:defRPr/>
            </a:pP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2026</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年</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7</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月</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-9</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月）</a:t>
            </a:r>
            <a:endPar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32" name="组合 31"/>
          <p:cNvGrpSpPr/>
          <p:nvPr/>
        </p:nvGrpSpPr>
        <p:grpSpPr>
          <a:xfrm>
            <a:off x="7900670" y="4665345"/>
            <a:ext cx="3147060" cy="1819910"/>
            <a:chOff x="692" y="6595"/>
            <a:chExt cx="4956" cy="2866"/>
          </a:xfrm>
        </p:grpSpPr>
        <p:sp>
          <p:nvSpPr>
            <p:cNvPr id="33" name="文本框 32"/>
            <p:cNvSpPr txBox="1"/>
            <p:nvPr/>
          </p:nvSpPr>
          <p:spPr>
            <a:xfrm>
              <a:off x="692" y="7573"/>
              <a:ext cx="4956" cy="1888"/>
            </a:xfrm>
            <a:prstGeom prst="rect">
              <a:avLst/>
            </a:prstGeom>
            <a:noFill/>
          </p:spPr>
          <p:txBody>
            <a:bodyPr wrap="square" rtlCol="0">
              <a:spAutoFit/>
            </a:bodyPr>
            <a:lstStyle/>
            <a:p>
              <a:pPr marL="171450" marR="0" lvl="0" indent="-171450" algn="just" defTabSz="914400" rtl="0" eaLnBrk="1" fontAlgn="auto" latinLnBrk="0" hangingPunct="1">
                <a:lnSpc>
                  <a:spcPct val="100000"/>
                </a:lnSpc>
                <a:spcBef>
                  <a:spcPts val="0"/>
                </a:spcBef>
                <a:spcAft>
                  <a:spcPts val="0"/>
                </a:spcAft>
                <a:buClrTx/>
                <a:buSzTx/>
                <a:buFont typeface="Wingdings" panose="05000000000000000000" charset="0"/>
                <a:buChar char="Ø"/>
                <a:defRPr/>
              </a:pPr>
              <a:r>
                <a:rPr kumimoji="0" lang="zh-CN" altLang="en-US" sz="12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总结项目表现：</a:t>
              </a:r>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rPr>
                <a:t>对项目进行全面回顾，总结项目的优点和不足。分析项目中遇到的挑战与成功经验，为未来项目积累知识。</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marL="171450" marR="0" lvl="0" indent="-171450" algn="just" defTabSz="914400" rtl="0" eaLnBrk="1" fontAlgn="auto" latinLnBrk="0" hangingPunct="1">
                <a:lnSpc>
                  <a:spcPct val="100000"/>
                </a:lnSpc>
                <a:spcBef>
                  <a:spcPts val="0"/>
                </a:spcBef>
                <a:spcAft>
                  <a:spcPts val="0"/>
                </a:spcAft>
                <a:buClrTx/>
                <a:buSzTx/>
                <a:buFont typeface="Wingdings" panose="05000000000000000000" charset="0"/>
                <a:buChar char="Ø"/>
                <a:defRPr/>
              </a:pPr>
              <a:r>
                <a:rPr kumimoji="1" lang="zh-CN" altLang="en-US" sz="1200" b="1" dirty="0">
                  <a:solidFill>
                    <a:schemeClr val="accent5"/>
                  </a:solidFill>
                  <a:latin typeface="微软雅黑" panose="020B0503020204020204" charset="-122"/>
                  <a:ea typeface="微软雅黑" panose="020B0503020204020204" charset="-122"/>
                  <a:cs typeface="微软雅黑" panose="020B0503020204020204" charset="-122"/>
                </a:rPr>
                <a:t>整理项目文档：</a:t>
              </a:r>
              <a:r>
                <a:rPr kumimoji="1" lang="zh-CN" altLang="en-US" sz="1200" i="0" u="none" strike="noStrike" kern="1200" cap="none" spc="0" normalizeH="0" baseline="0" dirty="0">
                  <a:solidFill>
                    <a:schemeClr val="tx2"/>
                  </a:solidFill>
                  <a:latin typeface="微软雅黑" panose="020B0503020204020204" charset="-122"/>
                  <a:ea typeface="微软雅黑" panose="020B0503020204020204" charset="-122"/>
                  <a:cs typeface="微软雅黑" panose="020B0503020204020204" charset="-122"/>
                </a:rPr>
                <a:t>确保项目所有相关文件、报告和资料都整理完善，并按照规范归档。提供详细的操作手册、技术文档。</a:t>
              </a:r>
              <a:endParaRPr kumimoji="1" lang="zh-CN" altLang="en-US" sz="1200" i="0" u="none" strike="noStrike" kern="1200" cap="none" spc="0" normalizeH="0" baseline="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5" name="文本框 34"/>
            <p:cNvSpPr txBox="1"/>
            <p:nvPr/>
          </p:nvSpPr>
          <p:spPr>
            <a:xfrm>
              <a:off x="1591" y="6595"/>
              <a:ext cx="3320" cy="53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第四阶段：项目交付</a:t>
              </a:r>
              <a:endParaRPr kumimoji="0" lang="zh-CN" altLang="en-US" sz="16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7" name="文本框 36"/>
            <p:cNvSpPr txBox="1"/>
            <p:nvPr/>
          </p:nvSpPr>
          <p:spPr>
            <a:xfrm>
              <a:off x="1646" y="7059"/>
              <a:ext cx="2726" cy="434"/>
            </a:xfrm>
            <a:prstGeom prst="rect">
              <a:avLst/>
            </a:prstGeom>
            <a:noFill/>
          </p:spPr>
          <p:txBody>
            <a:bodyPr wrap="square" rtlCol="0">
              <a:spAutoFit/>
            </a:bodyPr>
            <a:lstStyle/>
            <a:p>
              <a:pPr marR="0" lvl="0" indent="0" algn="just" defTabSz="914400" rtl="0" eaLnBrk="1" fontAlgn="auto" latinLnBrk="0" hangingPunct="1">
                <a:lnSpc>
                  <a:spcPct val="100000"/>
                </a:lnSpc>
                <a:spcBef>
                  <a:spcPts val="0"/>
                </a:spcBef>
                <a:spcAft>
                  <a:spcPts val="0"/>
                </a:spcAft>
                <a:buClrTx/>
                <a:buSzTx/>
                <a:buFont typeface="Wingdings" panose="05000000000000000000" charset="0"/>
                <a:buNone/>
                <a:defRPr/>
              </a:pP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2026</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年</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10</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月</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-12</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月）</a:t>
              </a:r>
              <a:endPar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cxnSp>
        <p:nvCxnSpPr>
          <p:cNvPr id="38" name="直接连接符 37"/>
          <p:cNvCxnSpPr>
            <a:stCxn id="9" idx="4"/>
            <a:endCxn id="14" idx="0"/>
          </p:cNvCxnSpPr>
          <p:nvPr/>
        </p:nvCxnSpPr>
        <p:spPr>
          <a:xfrm flipH="1">
            <a:off x="8255000" y="3841115"/>
            <a:ext cx="635" cy="847090"/>
          </a:xfrm>
          <a:prstGeom prst="line">
            <a:avLst/>
          </a:prstGeom>
          <a:ln>
            <a:solidFill>
              <a:schemeClr val="accent5">
                <a:lumMod val="60000"/>
                <a:lumOff val="40000"/>
              </a:schemeClr>
            </a:solidFill>
            <a:prstDash val="solid"/>
          </a:ln>
        </p:spPr>
        <p:style>
          <a:lnRef idx="2">
            <a:schemeClr val="accent1"/>
          </a:lnRef>
          <a:fillRef idx="0">
            <a:srgbClr val="FFFFFF"/>
          </a:fillRef>
          <a:effectRef idx="0">
            <a:srgbClr val="FFFFFF"/>
          </a:effectRef>
          <a:fontRef idx="minor">
            <a:schemeClr val="tx1"/>
          </a:fontRef>
        </p:style>
      </p:cxnSp>
      <p:sp>
        <p:nvSpPr>
          <p:cNvPr id="39" name="椭圆 38"/>
          <p:cNvSpPr/>
          <p:nvPr/>
        </p:nvSpPr>
        <p:spPr>
          <a:xfrm>
            <a:off x="6543040" y="1538605"/>
            <a:ext cx="311150" cy="311150"/>
          </a:xfrm>
          <a:prstGeom prst="ellipse">
            <a:avLst/>
          </a:prstGeom>
          <a:solidFill>
            <a:schemeClr val="accent1">
              <a:lumMod val="20000"/>
              <a:lumOff val="80000"/>
              <a:alpha val="70000"/>
            </a:schemeClr>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b="1">
                <a:solidFill>
                  <a:schemeClr val="accent1"/>
                </a:solidFill>
                <a:latin typeface="微软雅黑" panose="020B0503020204020204" charset="-122"/>
                <a:ea typeface="微软雅黑" panose="020B0503020204020204" charset="-122"/>
                <a:cs typeface="微软雅黑" panose="020B0503020204020204" charset="-122"/>
              </a:rPr>
              <a:t>3</a:t>
            </a:r>
            <a:endParaRPr lang="en-US" altLang="zh-CN" sz="1400" b="1">
              <a:solidFill>
                <a:schemeClr val="accent1"/>
              </a:solidFill>
              <a:latin typeface="微软雅黑" panose="020B0503020204020204" charset="-122"/>
              <a:ea typeface="微软雅黑" panose="020B0503020204020204" charset="-122"/>
              <a:cs typeface="微软雅黑" panose="020B0503020204020204" charset="-122"/>
            </a:endParaRPr>
          </a:p>
        </p:txBody>
      </p:sp>
      <p:cxnSp>
        <p:nvCxnSpPr>
          <p:cNvPr id="40" name="直接连接符 39"/>
          <p:cNvCxnSpPr/>
          <p:nvPr/>
        </p:nvCxnSpPr>
        <p:spPr>
          <a:xfrm>
            <a:off x="6698298" y="1849755"/>
            <a:ext cx="635" cy="2242185"/>
          </a:xfrm>
          <a:prstGeom prst="line">
            <a:avLst/>
          </a:prstGeom>
          <a:ln>
            <a:solidFill>
              <a:schemeClr val="accent1">
                <a:lumMod val="60000"/>
                <a:lumOff val="40000"/>
              </a:schemeClr>
            </a:solidFill>
            <a:prstDash val="solid"/>
          </a:ln>
        </p:spPr>
        <p:style>
          <a:lnRef idx="2">
            <a:schemeClr val="accent1"/>
          </a:lnRef>
          <a:fillRef idx="0">
            <a:srgbClr val="FFFFFF"/>
          </a:fillRef>
          <a:effectRef idx="0">
            <a:srgbClr val="FFFFFF"/>
          </a:effectRef>
          <a:fontRef idx="minor">
            <a:schemeClr val="tx1"/>
          </a:fontRef>
        </p:style>
      </p:cxnSp>
      <p:sp>
        <p:nvSpPr>
          <p:cNvPr id="42" name="椭圆 41"/>
          <p:cNvSpPr/>
          <p:nvPr/>
        </p:nvSpPr>
        <p:spPr>
          <a:xfrm>
            <a:off x="3921125" y="4117975"/>
            <a:ext cx="311150" cy="311150"/>
          </a:xfrm>
          <a:prstGeom prst="ellipse">
            <a:avLst/>
          </a:prstGeom>
          <a:solidFill>
            <a:schemeClr val="accent1">
              <a:lumMod val="20000"/>
              <a:lumOff val="80000"/>
              <a:alpha val="70000"/>
            </a:schemeClr>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b="1">
                <a:solidFill>
                  <a:schemeClr val="accent1"/>
                </a:solidFill>
                <a:latin typeface="微软雅黑" panose="020B0503020204020204" charset="-122"/>
                <a:ea typeface="微软雅黑" panose="020B0503020204020204" charset="-122"/>
                <a:cs typeface="微软雅黑" panose="020B0503020204020204" charset="-122"/>
              </a:rPr>
              <a:t>1</a:t>
            </a:r>
            <a:endParaRPr lang="en-US" altLang="zh-CN" sz="1400" b="1">
              <a:solidFill>
                <a:schemeClr val="accent1"/>
              </a:solidFill>
              <a:latin typeface="微软雅黑" panose="020B0503020204020204" charset="-122"/>
              <a:ea typeface="微软雅黑" panose="020B0503020204020204" charset="-122"/>
              <a:cs typeface="微软雅黑" panose="020B0503020204020204" charset="-122"/>
            </a:endParaRPr>
          </a:p>
        </p:txBody>
      </p:sp>
      <p:cxnSp>
        <p:nvCxnSpPr>
          <p:cNvPr id="43" name="直接连接符 42"/>
          <p:cNvCxnSpPr/>
          <p:nvPr/>
        </p:nvCxnSpPr>
        <p:spPr>
          <a:xfrm>
            <a:off x="4076700" y="4429125"/>
            <a:ext cx="0" cy="1363980"/>
          </a:xfrm>
          <a:prstGeom prst="line">
            <a:avLst/>
          </a:prstGeom>
          <a:ln>
            <a:solidFill>
              <a:schemeClr val="accent1">
                <a:lumMod val="60000"/>
                <a:lumOff val="40000"/>
              </a:schemeClr>
            </a:solidFill>
            <a:prstDash val="solid"/>
          </a:ln>
        </p:spPr>
        <p:style>
          <a:lnRef idx="2">
            <a:schemeClr val="accent1"/>
          </a:lnRef>
          <a:fillRef idx="0">
            <a:srgbClr val="FFFFFF"/>
          </a:fillRef>
          <a:effectRef idx="0">
            <a:srgbClr val="FFFFFF"/>
          </a:effectRef>
          <a:fontRef idx="minor">
            <a:schemeClr val="tx1"/>
          </a:fontRef>
        </p:style>
      </p:cxnSp>
      <p:sp>
        <p:nvSpPr>
          <p:cNvPr id="45" name="椭圆 44"/>
          <p:cNvSpPr/>
          <p:nvPr/>
        </p:nvSpPr>
        <p:spPr>
          <a:xfrm>
            <a:off x="5294630" y="2308225"/>
            <a:ext cx="311150" cy="311150"/>
          </a:xfrm>
          <a:prstGeom prst="ellipse">
            <a:avLst/>
          </a:prstGeom>
          <a:solidFill>
            <a:schemeClr val="accent5">
              <a:lumMod val="20000"/>
              <a:lumOff val="80000"/>
              <a:alpha val="70000"/>
            </a:schemeClr>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b="1">
                <a:solidFill>
                  <a:schemeClr val="accent5"/>
                </a:solidFill>
                <a:latin typeface="微软雅黑" panose="020B0503020204020204" charset="-122"/>
                <a:ea typeface="微软雅黑" panose="020B0503020204020204" charset="-122"/>
                <a:cs typeface="微软雅黑" panose="020B0503020204020204" charset="-122"/>
              </a:rPr>
              <a:t>2</a:t>
            </a:r>
            <a:endParaRPr lang="en-US" altLang="zh-CN" sz="1400" b="1">
              <a:solidFill>
                <a:schemeClr val="accent5"/>
              </a:solidFill>
              <a:latin typeface="微软雅黑" panose="020B0503020204020204" charset="-122"/>
              <a:ea typeface="微软雅黑" panose="020B0503020204020204" charset="-122"/>
              <a:cs typeface="微软雅黑" panose="020B0503020204020204" charset="-122"/>
            </a:endParaRPr>
          </a:p>
        </p:txBody>
      </p:sp>
      <p:cxnSp>
        <p:nvCxnSpPr>
          <p:cNvPr id="47" name="直接连接符 46"/>
          <p:cNvCxnSpPr/>
          <p:nvPr/>
        </p:nvCxnSpPr>
        <p:spPr>
          <a:xfrm>
            <a:off x="5450205" y="2613660"/>
            <a:ext cx="0" cy="2117090"/>
          </a:xfrm>
          <a:prstGeom prst="line">
            <a:avLst/>
          </a:prstGeom>
          <a:ln>
            <a:solidFill>
              <a:schemeClr val="accent5">
                <a:lumMod val="60000"/>
                <a:lumOff val="40000"/>
              </a:schemeClr>
            </a:solidFill>
            <a:prstDash val="solid"/>
          </a:ln>
        </p:spPr>
        <p:style>
          <a:lnRef idx="2">
            <a:schemeClr val="accent1"/>
          </a:lnRef>
          <a:fillRef idx="0">
            <a:srgbClr val="FFFFFF"/>
          </a:fillRef>
          <a:effectRef idx="0">
            <a:srgbClr val="FFFFFF"/>
          </a:effectRef>
          <a:fontRef idx="minor">
            <a:schemeClr val="tx1"/>
          </a:fontRef>
        </p:style>
      </p:cxnSp>
      <p:sp>
        <p:nvSpPr>
          <p:cNvPr id="51" name="Oval 28"/>
          <p:cNvSpPr/>
          <p:nvPr/>
        </p:nvSpPr>
        <p:spPr>
          <a:xfrm>
            <a:off x="6610521" y="4087702"/>
            <a:ext cx="175897" cy="173258"/>
          </a:xfrm>
          <a:prstGeom prst="ellipse">
            <a:avLst/>
          </a:prstGeom>
          <a:solidFill>
            <a:schemeClr val="bg1"/>
          </a:solidFill>
          <a:ln w="38100" cap="flat">
            <a:solidFill>
              <a:schemeClr val="accent1">
                <a:lumMod val="20000"/>
                <a:lumOff val="8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eaLnBrk="0" fontAlgn="auto" latinLnBrk="0" hangingPunct="0">
              <a:lnSpc>
                <a:spcPct val="100000"/>
              </a:lnSpc>
              <a:spcBef>
                <a:spcPts val="0"/>
              </a:spcBef>
              <a:spcAft>
                <a:spcPts val="0"/>
              </a:spcAft>
              <a:buClrTx/>
              <a:buSzTx/>
              <a:buFontTx/>
              <a:buNone/>
            </a:pPr>
            <a:endParaRPr kumimoji="0" lang="en-US" sz="1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2" name="Oval 28"/>
          <p:cNvSpPr/>
          <p:nvPr/>
        </p:nvSpPr>
        <p:spPr>
          <a:xfrm>
            <a:off x="5375275" y="4725670"/>
            <a:ext cx="150495" cy="148590"/>
          </a:xfrm>
          <a:prstGeom prst="ellipse">
            <a:avLst/>
          </a:prstGeom>
          <a:solidFill>
            <a:schemeClr val="bg1"/>
          </a:solidFill>
          <a:ln w="25400" cap="flat">
            <a:solidFill>
              <a:schemeClr val="accent5">
                <a:lumMod val="20000"/>
                <a:lumOff val="8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eaLnBrk="0" fontAlgn="auto" latinLnBrk="0" hangingPunct="0">
              <a:lnSpc>
                <a:spcPct val="100000"/>
              </a:lnSpc>
              <a:spcBef>
                <a:spcPts val="0"/>
              </a:spcBef>
              <a:spcAft>
                <a:spcPts val="0"/>
              </a:spcAft>
              <a:buClrTx/>
              <a:buSzTx/>
              <a:buFontTx/>
              <a:buNone/>
            </a:pPr>
            <a:endParaRPr kumimoji="0" lang="en-US" sz="1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3" name="Oval 28"/>
          <p:cNvSpPr/>
          <p:nvPr/>
        </p:nvSpPr>
        <p:spPr>
          <a:xfrm>
            <a:off x="4028123" y="5780405"/>
            <a:ext cx="97155" cy="95885"/>
          </a:xfrm>
          <a:prstGeom prst="ellipse">
            <a:avLst/>
          </a:prstGeom>
          <a:solidFill>
            <a:schemeClr val="bg1"/>
          </a:solidFill>
          <a:ln w="254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eaLnBrk="0" fontAlgn="auto" latinLnBrk="0" hangingPunct="0">
              <a:lnSpc>
                <a:spcPct val="100000"/>
              </a:lnSpc>
              <a:spcBef>
                <a:spcPts val="0"/>
              </a:spcBef>
              <a:spcAft>
                <a:spcPts val="0"/>
              </a:spcAft>
              <a:buClrTx/>
              <a:buSzTx/>
              <a:buFontTx/>
              <a:buNone/>
            </a:pPr>
            <a:endParaRPr kumimoji="0" lang="en-US" sz="1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4" name="Oval 28"/>
          <p:cNvSpPr/>
          <p:nvPr/>
        </p:nvSpPr>
        <p:spPr>
          <a:xfrm>
            <a:off x="8099425" y="3625850"/>
            <a:ext cx="302260" cy="297815"/>
          </a:xfrm>
          <a:prstGeom prst="ellipse">
            <a:avLst/>
          </a:prstGeom>
          <a:solidFill>
            <a:schemeClr val="bg1"/>
          </a:solidFill>
          <a:ln w="38100" cap="flat">
            <a:solidFill>
              <a:schemeClr val="accent5">
                <a:lumMod val="20000"/>
                <a:lumOff val="8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eaLnBrk="0" fontAlgn="auto" latinLnBrk="0" hangingPunct="0">
              <a:lnSpc>
                <a:spcPct val="100000"/>
              </a:lnSpc>
              <a:spcBef>
                <a:spcPts val="0"/>
              </a:spcBef>
              <a:spcAft>
                <a:spcPts val="0"/>
              </a:spcAft>
              <a:buClrTx/>
              <a:buSzTx/>
              <a:buFontTx/>
              <a:buNone/>
            </a:pPr>
            <a:endParaRPr kumimoji="0" lang="en-US" sz="1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3" name="图片 2"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8738235" y="348615"/>
            <a:ext cx="3219450" cy="332740"/>
            <a:chOff x="13761" y="549"/>
            <a:chExt cx="5070" cy="524"/>
          </a:xfrm>
        </p:grpSpPr>
        <p:pic>
          <p:nvPicPr>
            <p:cNvPr id="10" name="图片 9"/>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1" name="文本框 10"/>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年度项目</a:t>
            </a:r>
            <a:r>
              <a:rPr sz="2500">
                <a:solidFill>
                  <a:schemeClr val="tx2"/>
                </a:solidFill>
                <a:effectLst/>
                <a:latin typeface="微软雅黑" panose="020B0503020204020204" charset="-122"/>
                <a:ea typeface="微软雅黑" panose="020B0503020204020204" charset="-122"/>
                <a:cs typeface="微软雅黑" panose="020B0503020204020204" charset="-122"/>
                <a:sym typeface="+mn-ea"/>
              </a:rPr>
              <a:t>工作</a:t>
            </a:r>
            <a:r>
              <a:rPr sz="2500">
                <a:solidFill>
                  <a:schemeClr val="tx2"/>
                </a:solidFill>
                <a:effectLst/>
                <a:latin typeface="微软雅黑" panose="020B0503020204020204" charset="-122"/>
                <a:ea typeface="微软雅黑" panose="020B0503020204020204" charset="-122"/>
                <a:cs typeface="微软雅黑" panose="020B0503020204020204" charset="-122"/>
              </a:rPr>
              <a:t>规划</a:t>
            </a:r>
            <a:endParaRPr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3" name="图片 2"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101" name="Group 100"/>
          <p:cNvGrpSpPr/>
          <p:nvPr>
            <p:custDataLst>
              <p:tags r:id="rId3"/>
            </p:custDataLst>
          </p:nvPr>
        </p:nvGrpSpPr>
        <p:grpSpPr>
          <a:xfrm>
            <a:off x="374217" y="2356767"/>
            <a:ext cx="10914812" cy="3797092"/>
            <a:chOff x="452334" y="1483137"/>
            <a:chExt cx="7358918" cy="2560052"/>
          </a:xfrm>
        </p:grpSpPr>
        <p:sp>
          <p:nvSpPr>
            <p:cNvPr id="123" name="Freeform 122"/>
            <p:cNvSpPr/>
            <p:nvPr>
              <p:custDataLst>
                <p:tags r:id="rId4"/>
              </p:custDataLst>
            </p:nvPr>
          </p:nvSpPr>
          <p:spPr bwMode="auto">
            <a:xfrm>
              <a:off x="452334" y="1483137"/>
              <a:ext cx="7320948" cy="2560052"/>
            </a:xfrm>
            <a:custGeom>
              <a:avLst/>
              <a:gdLst>
                <a:gd name="connsiteX0" fmla="*/ 5961105 w 7320948"/>
                <a:gd name="connsiteY0" fmla="*/ 0 h 2560052"/>
                <a:gd name="connsiteX1" fmla="*/ 7320948 w 7320948"/>
                <a:gd name="connsiteY1" fmla="*/ 669261 h 2560052"/>
                <a:gd name="connsiteX2" fmla="*/ 7022260 w 7320948"/>
                <a:gd name="connsiteY2" fmla="*/ 658097 h 2560052"/>
                <a:gd name="connsiteX3" fmla="*/ 4161673 w 7320948"/>
                <a:gd name="connsiteY3" fmla="*/ 751858 h 2560052"/>
                <a:gd name="connsiteX4" fmla="*/ 19080 w 7320948"/>
                <a:gd name="connsiteY4" fmla="*/ 2525635 h 2560052"/>
                <a:gd name="connsiteX5" fmla="*/ 0 w 7320948"/>
                <a:gd name="connsiteY5" fmla="*/ 2560052 h 2560052"/>
                <a:gd name="connsiteX6" fmla="*/ 6309 w 7320948"/>
                <a:gd name="connsiteY6" fmla="*/ 2515058 h 2560052"/>
                <a:gd name="connsiteX7" fmla="*/ 13880 w 7320948"/>
                <a:gd name="connsiteY7" fmla="*/ 2461066 h 2560052"/>
                <a:gd name="connsiteX8" fmla="*/ 32622 w 7320948"/>
                <a:gd name="connsiteY8" fmla="*/ 2387886 h 2560052"/>
                <a:gd name="connsiteX9" fmla="*/ 273343 w 7320948"/>
                <a:gd name="connsiteY9" fmla="*/ 1942140 h 2560052"/>
                <a:gd name="connsiteX10" fmla="*/ 550236 w 7320948"/>
                <a:gd name="connsiteY10" fmla="*/ 1662595 h 2560052"/>
                <a:gd name="connsiteX11" fmla="*/ 949860 w 7320948"/>
                <a:gd name="connsiteY11" fmla="*/ 1375821 h 2560052"/>
                <a:gd name="connsiteX12" fmla="*/ 2085523 w 7320948"/>
                <a:gd name="connsiteY12" fmla="*/ 869613 h 2560052"/>
                <a:gd name="connsiteX13" fmla="*/ 3447815 w 7320948"/>
                <a:gd name="connsiteY13" fmla="*/ 536580 h 2560052"/>
                <a:gd name="connsiteX14" fmla="*/ 4716097 w 7320948"/>
                <a:gd name="connsiteY14" fmla="*/ 368323 h 2560052"/>
                <a:gd name="connsiteX15" fmla="*/ 5618604 w 7320948"/>
                <a:gd name="connsiteY15" fmla="*/ 300935 h 2560052"/>
                <a:gd name="connsiteX16" fmla="*/ 5958961 w 7320948"/>
                <a:gd name="connsiteY16" fmla="*/ 283371 h 2560052"/>
                <a:gd name="connsiteX17" fmla="*/ 5961075 w 7320948"/>
                <a:gd name="connsiteY17" fmla="*/ 3935 h 2560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320948" h="2560052">
                  <a:moveTo>
                    <a:pt x="5961105" y="0"/>
                  </a:moveTo>
                  <a:lnTo>
                    <a:pt x="7320948" y="669261"/>
                  </a:lnTo>
                  <a:lnTo>
                    <a:pt x="7022260" y="658097"/>
                  </a:lnTo>
                  <a:cubicBezTo>
                    <a:pt x="6211590" y="633890"/>
                    <a:pt x="5203836" y="637832"/>
                    <a:pt x="4161673" y="751858"/>
                  </a:cubicBezTo>
                  <a:cubicBezTo>
                    <a:pt x="2242899" y="961234"/>
                    <a:pt x="310179" y="1491553"/>
                    <a:pt x="19080" y="2525635"/>
                  </a:cubicBezTo>
                  <a:cubicBezTo>
                    <a:pt x="6835" y="2547724"/>
                    <a:pt x="0" y="2560052"/>
                    <a:pt x="0" y="2560052"/>
                  </a:cubicBezTo>
                  <a:cubicBezTo>
                    <a:pt x="0" y="2560052"/>
                    <a:pt x="2082" y="2544772"/>
                    <a:pt x="6309" y="2515058"/>
                  </a:cubicBezTo>
                  <a:cubicBezTo>
                    <a:pt x="8454" y="2500624"/>
                    <a:pt x="10630" y="2482296"/>
                    <a:pt x="13880" y="2461066"/>
                  </a:cubicBezTo>
                  <a:cubicBezTo>
                    <a:pt x="18397" y="2439473"/>
                    <a:pt x="25954" y="2415279"/>
                    <a:pt x="32622" y="2387886"/>
                  </a:cubicBezTo>
                  <a:cubicBezTo>
                    <a:pt x="63156" y="2278066"/>
                    <a:pt x="130279" y="2121454"/>
                    <a:pt x="273343" y="1942140"/>
                  </a:cubicBezTo>
                  <a:cubicBezTo>
                    <a:pt x="348170" y="1853263"/>
                    <a:pt x="437088" y="1758174"/>
                    <a:pt x="550236" y="1662595"/>
                  </a:cubicBezTo>
                  <a:cubicBezTo>
                    <a:pt x="663732" y="1567347"/>
                    <a:pt x="796201" y="1470529"/>
                    <a:pt x="949860" y="1375821"/>
                  </a:cubicBezTo>
                  <a:cubicBezTo>
                    <a:pt x="1255913" y="1186771"/>
                    <a:pt x="1651323" y="1011316"/>
                    <a:pt x="2085523" y="869613"/>
                  </a:cubicBezTo>
                  <a:cubicBezTo>
                    <a:pt x="2520292" y="726882"/>
                    <a:pt x="2992867" y="617755"/>
                    <a:pt x="3447815" y="536580"/>
                  </a:cubicBezTo>
                  <a:cubicBezTo>
                    <a:pt x="3902477" y="455920"/>
                    <a:pt x="4340149" y="403031"/>
                    <a:pt x="4716097" y="368323"/>
                  </a:cubicBezTo>
                  <a:cubicBezTo>
                    <a:pt x="5090082" y="333316"/>
                    <a:pt x="5401170" y="313807"/>
                    <a:pt x="5618604" y="300935"/>
                  </a:cubicBezTo>
                  <a:cubicBezTo>
                    <a:pt x="5835752" y="288577"/>
                    <a:pt x="5958961" y="283371"/>
                    <a:pt x="5958961" y="283371"/>
                  </a:cubicBezTo>
                  <a:cubicBezTo>
                    <a:pt x="5960169" y="123693"/>
                    <a:pt x="5960773" y="43854"/>
                    <a:pt x="5961075" y="3935"/>
                  </a:cubicBezTo>
                  <a:close/>
                </a:path>
              </a:pathLst>
            </a:custGeom>
            <a:gradFill>
              <a:gsLst>
                <a:gs pos="0">
                  <a:schemeClr val="accent1">
                    <a:lumMod val="20000"/>
                    <a:lumOff val="80000"/>
                  </a:schemeClr>
                </a:gs>
                <a:gs pos="100000">
                  <a:schemeClr val="accent1">
                    <a:lumMod val="40000"/>
                    <a:lumOff val="60000"/>
                  </a:schemeClr>
                </a:gs>
              </a:gsLst>
              <a:lin ang="2700000" scaled="0"/>
            </a:gradFill>
            <a:ln w="9525">
              <a:noFill/>
              <a:round/>
            </a:ln>
          </p:spPr>
          <p:txBody>
            <a:bodyPr vert="horz" wrap="square" lIns="121920" tIns="60960" rIns="121920" bIns="60960" numCol="1" rtlCol="0" anchor="t" anchorCtr="0" compatLnSpc="1"/>
            <a:lstStyle/>
            <a:p>
              <a:pPr algn="ctr"/>
              <a:endParaRPr lang="en-US" sz="3200">
                <a:ea typeface="微软雅黑" panose="020B0503020204020204" charset="-122"/>
                <a:cs typeface="微软雅黑" panose="020B0503020204020204" charset="-122"/>
              </a:endParaRPr>
            </a:p>
          </p:txBody>
        </p:sp>
        <p:sp>
          <p:nvSpPr>
            <p:cNvPr id="125" name="Freeform 124"/>
            <p:cNvSpPr/>
            <p:nvPr>
              <p:custDataLst>
                <p:tags r:id="rId5"/>
              </p:custDataLst>
            </p:nvPr>
          </p:nvSpPr>
          <p:spPr bwMode="auto">
            <a:xfrm>
              <a:off x="471540" y="2129240"/>
              <a:ext cx="7339712" cy="1879215"/>
            </a:xfrm>
            <a:custGeom>
              <a:avLst/>
              <a:gdLst>
                <a:gd name="connsiteX0" fmla="*/ 5928827 w 7339712"/>
                <a:gd name="connsiteY0" fmla="*/ 775585 h 1879215"/>
                <a:gd name="connsiteX1" fmla="*/ 5939008 w 7339712"/>
                <a:gd name="connsiteY1" fmla="*/ 775585 h 1879215"/>
                <a:gd name="connsiteX2" fmla="*/ 5928800 w 7339712"/>
                <a:gd name="connsiteY2" fmla="*/ 779191 h 1879215"/>
                <a:gd name="connsiteX3" fmla="*/ 6493371 w 7339712"/>
                <a:gd name="connsiteY3" fmla="*/ 1491 h 1879215"/>
                <a:gd name="connsiteX4" fmla="*/ 7002058 w 7339712"/>
                <a:gd name="connsiteY4" fmla="*/ 11998 h 1879215"/>
                <a:gd name="connsiteX5" fmla="*/ 7301855 w 7339712"/>
                <a:gd name="connsiteY5" fmla="*/ 23213 h 1879215"/>
                <a:gd name="connsiteX6" fmla="*/ 7339712 w 7339712"/>
                <a:gd name="connsiteY6" fmla="*/ 41845 h 1879215"/>
                <a:gd name="connsiteX7" fmla="*/ 5929122 w 7339712"/>
                <a:gd name="connsiteY7" fmla="*/ 736081 h 1879215"/>
                <a:gd name="connsiteX8" fmla="*/ 5929586 w 7339712"/>
                <a:gd name="connsiteY8" fmla="*/ 673783 h 1879215"/>
                <a:gd name="connsiteX9" fmla="*/ 5931180 w 7339712"/>
                <a:gd name="connsiteY9" fmla="*/ 459851 h 1879215"/>
                <a:gd name="connsiteX10" fmla="*/ 5620552 w 7339712"/>
                <a:gd name="connsiteY10" fmla="*/ 442096 h 1879215"/>
                <a:gd name="connsiteX11" fmla="*/ 4807981 w 7339712"/>
                <a:gd name="connsiteY11" fmla="*/ 413676 h 1879215"/>
                <a:gd name="connsiteX12" fmla="*/ 3678085 w 7339712"/>
                <a:gd name="connsiteY12" fmla="*/ 437217 h 1879215"/>
                <a:gd name="connsiteX13" fmla="*/ 2420205 w 7339712"/>
                <a:gd name="connsiteY13" fmla="*/ 590827 h 1879215"/>
                <a:gd name="connsiteX14" fmla="*/ 1276613 w 7339712"/>
                <a:gd name="connsiteY14" fmla="*/ 916669 h 1879215"/>
                <a:gd name="connsiteX15" fmla="*/ 821793 w 7339712"/>
                <a:gd name="connsiteY15" fmla="*/ 1131229 h 1879215"/>
                <a:gd name="connsiteX16" fmla="*/ 470382 w 7339712"/>
                <a:gd name="connsiteY16" fmla="*/ 1357069 h 1879215"/>
                <a:gd name="connsiteX17" fmla="*/ 79181 w 7339712"/>
                <a:gd name="connsiteY17" fmla="*/ 1749795 h 1879215"/>
                <a:gd name="connsiteX18" fmla="*/ 32959 w 7339712"/>
                <a:gd name="connsiteY18" fmla="*/ 1818787 h 1879215"/>
                <a:gd name="connsiteX19" fmla="*/ 4839 w 7339712"/>
                <a:gd name="connsiteY19" fmla="*/ 1870483 h 1879215"/>
                <a:gd name="connsiteX20" fmla="*/ 0 w 7339712"/>
                <a:gd name="connsiteY20" fmla="*/ 1879215 h 1879215"/>
                <a:gd name="connsiteX21" fmla="*/ 4141850 w 7339712"/>
                <a:gd name="connsiteY21" fmla="*/ 105662 h 1879215"/>
                <a:gd name="connsiteX22" fmla="*/ 6493371 w 7339712"/>
                <a:gd name="connsiteY22" fmla="*/ 1491 h 1879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339712" h="1879215">
                  <a:moveTo>
                    <a:pt x="5928827" y="775585"/>
                  </a:moveTo>
                  <a:lnTo>
                    <a:pt x="5939008" y="775585"/>
                  </a:lnTo>
                  <a:lnTo>
                    <a:pt x="5928800" y="779191"/>
                  </a:lnTo>
                  <a:close/>
                  <a:moveTo>
                    <a:pt x="6493371" y="1491"/>
                  </a:moveTo>
                  <a:cubicBezTo>
                    <a:pt x="6669948" y="3431"/>
                    <a:pt x="6839944" y="7152"/>
                    <a:pt x="7002058" y="11998"/>
                  </a:cubicBezTo>
                  <a:lnTo>
                    <a:pt x="7301855" y="23213"/>
                  </a:lnTo>
                  <a:lnTo>
                    <a:pt x="7339712" y="41845"/>
                  </a:lnTo>
                  <a:lnTo>
                    <a:pt x="5929122" y="736081"/>
                  </a:lnTo>
                  <a:lnTo>
                    <a:pt x="5929586" y="673783"/>
                  </a:lnTo>
                  <a:cubicBezTo>
                    <a:pt x="5931180" y="459851"/>
                    <a:pt x="5931180" y="459851"/>
                    <a:pt x="5931180" y="459851"/>
                  </a:cubicBezTo>
                  <a:cubicBezTo>
                    <a:pt x="5931180" y="459851"/>
                    <a:pt x="5818050" y="452659"/>
                    <a:pt x="5620552" y="442096"/>
                  </a:cubicBezTo>
                  <a:cubicBezTo>
                    <a:pt x="5423749" y="432196"/>
                    <a:pt x="5142291" y="419439"/>
                    <a:pt x="4807981" y="413676"/>
                  </a:cubicBezTo>
                  <a:cubicBezTo>
                    <a:pt x="4475635" y="408211"/>
                    <a:pt x="4089298" y="411797"/>
                    <a:pt x="3678085" y="437217"/>
                  </a:cubicBezTo>
                  <a:cubicBezTo>
                    <a:pt x="3268549" y="463449"/>
                    <a:pt x="2835055" y="510821"/>
                    <a:pt x="2420205" y="590827"/>
                  </a:cubicBezTo>
                  <a:cubicBezTo>
                    <a:pt x="2005007" y="670503"/>
                    <a:pt x="1611206" y="780726"/>
                    <a:pt x="1276613" y="916669"/>
                  </a:cubicBezTo>
                  <a:cubicBezTo>
                    <a:pt x="1110266" y="984368"/>
                    <a:pt x="957573" y="1057207"/>
                    <a:pt x="821793" y="1131229"/>
                  </a:cubicBezTo>
                  <a:cubicBezTo>
                    <a:pt x="686708" y="1205913"/>
                    <a:pt x="571547" y="1283072"/>
                    <a:pt x="470382" y="1357069"/>
                  </a:cubicBezTo>
                  <a:cubicBezTo>
                    <a:pt x="273372" y="1506989"/>
                    <a:pt x="150432" y="1648130"/>
                    <a:pt x="79181" y="1749795"/>
                  </a:cubicBezTo>
                  <a:cubicBezTo>
                    <a:pt x="61716" y="1775543"/>
                    <a:pt x="45327" y="1798390"/>
                    <a:pt x="32959" y="1818787"/>
                  </a:cubicBezTo>
                  <a:cubicBezTo>
                    <a:pt x="21856" y="1838819"/>
                    <a:pt x="12177" y="1856283"/>
                    <a:pt x="4839" y="1870483"/>
                  </a:cubicBezTo>
                  <a:cubicBezTo>
                    <a:pt x="2498" y="1873747"/>
                    <a:pt x="1075" y="1876315"/>
                    <a:pt x="0" y="1879215"/>
                  </a:cubicBezTo>
                  <a:cubicBezTo>
                    <a:pt x="290939" y="845195"/>
                    <a:pt x="2223347" y="314965"/>
                    <a:pt x="4141850" y="105662"/>
                  </a:cubicBezTo>
                  <a:cubicBezTo>
                    <a:pt x="4975463" y="14473"/>
                    <a:pt x="5787065" y="-6268"/>
                    <a:pt x="6493371" y="1491"/>
                  </a:cubicBezTo>
                  <a:close/>
                </a:path>
              </a:pathLst>
            </a:custGeom>
            <a:gradFill>
              <a:gsLst>
                <a:gs pos="0">
                  <a:schemeClr val="accent1">
                    <a:lumMod val="60000"/>
                    <a:lumOff val="40000"/>
                  </a:schemeClr>
                </a:gs>
                <a:gs pos="77000">
                  <a:schemeClr val="accent1"/>
                </a:gs>
              </a:gsLst>
              <a:lin ang="2700000" scaled="0"/>
            </a:gradFill>
            <a:ln w="9525">
              <a:noFill/>
              <a:round/>
            </a:ln>
          </p:spPr>
          <p:txBody>
            <a:bodyPr vert="horz" wrap="square" lIns="121920" tIns="60960" rIns="121920" bIns="60960" numCol="1" rtlCol="0" anchor="t" anchorCtr="0" compatLnSpc="1"/>
            <a:lstStyle/>
            <a:p>
              <a:pPr algn="ctr"/>
              <a:endParaRPr lang="en-US" sz="3200">
                <a:ea typeface="微软雅黑" panose="020B0503020204020204" charset="-122"/>
                <a:cs typeface="微软雅黑" panose="020B0503020204020204" charset="-122"/>
              </a:endParaRPr>
            </a:p>
          </p:txBody>
        </p:sp>
      </p:grpSp>
      <p:sp>
        <p:nvSpPr>
          <p:cNvPr id="71" name="Oval 70"/>
          <p:cNvSpPr/>
          <p:nvPr>
            <p:custDataLst>
              <p:tags r:id="rId6"/>
            </p:custDataLst>
          </p:nvPr>
        </p:nvSpPr>
        <p:spPr bwMode="auto">
          <a:xfrm>
            <a:off x="1079447" y="4827926"/>
            <a:ext cx="330808" cy="330806"/>
          </a:xfrm>
          <a:prstGeom prst="ellipse">
            <a:avLst/>
          </a:prstGeom>
          <a:gradFill>
            <a:gsLst>
              <a:gs pos="100000">
                <a:schemeClr val="accent1">
                  <a:lumMod val="60000"/>
                  <a:lumOff val="40000"/>
                </a:schemeClr>
              </a:gs>
              <a:gs pos="52000">
                <a:schemeClr val="accent1"/>
              </a:gs>
            </a:gsLst>
            <a:lin ang="2700000" scaled="0"/>
          </a:gradFill>
          <a:ln w="12700">
            <a:solidFill>
              <a:schemeClr val="bg1"/>
            </a:solidFill>
            <a:round/>
          </a:ln>
        </p:spPr>
        <p:txBody>
          <a:bodyPr vert="horz" wrap="square" lIns="0" tIns="0" rIns="0" bIns="0" numCol="1" rtlCol="0" anchor="ctr" anchorCtr="0" compatLnSpc="1"/>
          <a:lstStyle/>
          <a:p>
            <a:pPr algn="ctr"/>
            <a:r>
              <a:rPr lang="en-US" sz="1400" b="1" dirty="0">
                <a:solidFill>
                  <a:schemeClr val="bg1"/>
                </a:solidFill>
                <a:ea typeface="微软雅黑" panose="020B0503020204020204" charset="-122"/>
                <a:cs typeface="微软雅黑" panose="020B0503020204020204" charset="-122"/>
              </a:rPr>
              <a:t>1</a:t>
            </a:r>
            <a:endParaRPr lang="en-US" sz="1400" b="1" dirty="0">
              <a:solidFill>
                <a:schemeClr val="bg1"/>
              </a:solidFill>
              <a:ea typeface="微软雅黑" panose="020B0503020204020204" charset="-122"/>
              <a:cs typeface="微软雅黑" panose="020B0503020204020204" charset="-122"/>
            </a:endParaRPr>
          </a:p>
        </p:txBody>
      </p:sp>
      <p:sp>
        <p:nvSpPr>
          <p:cNvPr id="103" name="Oval 102"/>
          <p:cNvSpPr/>
          <p:nvPr>
            <p:custDataLst>
              <p:tags r:id="rId7"/>
            </p:custDataLst>
          </p:nvPr>
        </p:nvSpPr>
        <p:spPr bwMode="auto">
          <a:xfrm>
            <a:off x="3061773" y="3814818"/>
            <a:ext cx="441044" cy="441044"/>
          </a:xfrm>
          <a:prstGeom prst="ellipse">
            <a:avLst/>
          </a:prstGeom>
          <a:solidFill>
            <a:schemeClr val="accent1">
              <a:lumMod val="60000"/>
              <a:lumOff val="40000"/>
            </a:schemeClr>
          </a:solidFill>
          <a:ln w="12700">
            <a:solidFill>
              <a:schemeClr val="bg1"/>
            </a:solidFill>
            <a:round/>
          </a:ln>
        </p:spPr>
        <p:txBody>
          <a:bodyPr vert="horz" wrap="square" lIns="0" tIns="0" rIns="0" bIns="0" numCol="1" rtlCol="0" anchor="ctr" anchorCtr="0" compatLnSpc="1"/>
          <a:lstStyle/>
          <a:p>
            <a:pPr algn="ctr"/>
            <a:r>
              <a:rPr lang="en-US" sz="1600" b="1" dirty="0">
                <a:solidFill>
                  <a:schemeClr val="bg1"/>
                </a:solidFill>
                <a:ea typeface="微软雅黑" panose="020B0503020204020204" charset="-122"/>
                <a:cs typeface="微软雅黑" panose="020B0503020204020204" charset="-122"/>
              </a:rPr>
              <a:t>2</a:t>
            </a:r>
            <a:endParaRPr lang="en-US" sz="1600" b="1" dirty="0">
              <a:solidFill>
                <a:schemeClr val="bg1"/>
              </a:solidFill>
              <a:ea typeface="微软雅黑" panose="020B0503020204020204" charset="-122"/>
              <a:cs typeface="微软雅黑" panose="020B0503020204020204" charset="-122"/>
            </a:endParaRPr>
          </a:p>
        </p:txBody>
      </p:sp>
      <p:sp>
        <p:nvSpPr>
          <p:cNvPr id="107" name="Oval 106"/>
          <p:cNvSpPr/>
          <p:nvPr>
            <p:custDataLst>
              <p:tags r:id="rId8"/>
            </p:custDataLst>
          </p:nvPr>
        </p:nvSpPr>
        <p:spPr bwMode="auto">
          <a:xfrm>
            <a:off x="5039370" y="3334140"/>
            <a:ext cx="589788" cy="589788"/>
          </a:xfrm>
          <a:prstGeom prst="ellipse">
            <a:avLst/>
          </a:prstGeom>
          <a:solidFill>
            <a:schemeClr val="accent1">
              <a:lumMod val="40000"/>
              <a:lumOff val="60000"/>
            </a:schemeClr>
          </a:solidFill>
          <a:ln w="12700">
            <a:solidFill>
              <a:schemeClr val="bg1"/>
            </a:solidFill>
            <a:round/>
          </a:ln>
        </p:spPr>
        <p:txBody>
          <a:bodyPr vert="horz" wrap="square" lIns="0" tIns="0" rIns="0" bIns="0" numCol="1" rtlCol="0" anchor="ctr" anchorCtr="0" compatLnSpc="1"/>
          <a:lstStyle/>
          <a:p>
            <a:pPr algn="ctr"/>
            <a:r>
              <a:rPr lang="en-US" sz="2000" b="1" dirty="0">
                <a:solidFill>
                  <a:schemeClr val="bg1"/>
                </a:solidFill>
                <a:ea typeface="微软雅黑" panose="020B0503020204020204" charset="-122"/>
                <a:cs typeface="微软雅黑" panose="020B0503020204020204" charset="-122"/>
              </a:rPr>
              <a:t>3</a:t>
            </a:r>
            <a:endParaRPr lang="en-US" sz="2000" b="1" dirty="0">
              <a:solidFill>
                <a:schemeClr val="bg1"/>
              </a:solidFill>
              <a:ea typeface="微软雅黑" panose="020B0503020204020204" charset="-122"/>
              <a:cs typeface="微软雅黑" panose="020B0503020204020204" charset="-122"/>
            </a:endParaRPr>
          </a:p>
        </p:txBody>
      </p:sp>
      <p:sp>
        <p:nvSpPr>
          <p:cNvPr id="111" name="Oval 110"/>
          <p:cNvSpPr/>
          <p:nvPr>
            <p:custDataLst>
              <p:tags r:id="rId9"/>
            </p:custDataLst>
          </p:nvPr>
        </p:nvSpPr>
        <p:spPr bwMode="auto">
          <a:xfrm>
            <a:off x="7058410" y="3053177"/>
            <a:ext cx="741004" cy="741002"/>
          </a:xfrm>
          <a:prstGeom prst="ellipse">
            <a:avLst/>
          </a:prstGeom>
          <a:solidFill>
            <a:schemeClr val="accent5">
              <a:lumMod val="60000"/>
              <a:lumOff val="40000"/>
            </a:schemeClr>
          </a:solidFill>
          <a:ln w="12700">
            <a:solidFill>
              <a:schemeClr val="bg1"/>
            </a:solidFill>
            <a:round/>
          </a:ln>
        </p:spPr>
        <p:txBody>
          <a:bodyPr vert="horz" wrap="square" lIns="0" tIns="0" rIns="0" bIns="0" numCol="1" rtlCol="0" anchor="ctr" anchorCtr="0" compatLnSpc="1"/>
          <a:lstStyle/>
          <a:p>
            <a:pPr algn="ctr"/>
            <a:r>
              <a:rPr lang="en-US" sz="3200" b="1" dirty="0">
                <a:solidFill>
                  <a:schemeClr val="bg1"/>
                </a:solidFill>
                <a:ea typeface="微软雅黑" panose="020B0503020204020204" charset="-122"/>
                <a:cs typeface="微软雅黑" panose="020B0503020204020204" charset="-122"/>
              </a:rPr>
              <a:t>4</a:t>
            </a:r>
            <a:endParaRPr lang="en-US" sz="3200" b="1" dirty="0">
              <a:solidFill>
                <a:schemeClr val="bg1"/>
              </a:solidFill>
              <a:ea typeface="微软雅黑" panose="020B0503020204020204" charset="-122"/>
              <a:cs typeface="微软雅黑" panose="020B0503020204020204" charset="-122"/>
            </a:endParaRPr>
          </a:p>
        </p:txBody>
      </p:sp>
      <p:sp>
        <p:nvSpPr>
          <p:cNvPr id="119" name="Oval 118"/>
          <p:cNvSpPr/>
          <p:nvPr>
            <p:custDataLst>
              <p:tags r:id="rId10"/>
            </p:custDataLst>
          </p:nvPr>
        </p:nvSpPr>
        <p:spPr bwMode="auto">
          <a:xfrm>
            <a:off x="9180221" y="2910820"/>
            <a:ext cx="984628" cy="984628"/>
          </a:xfrm>
          <a:prstGeom prst="ellipse">
            <a:avLst/>
          </a:prstGeom>
          <a:solidFill>
            <a:schemeClr val="accent5"/>
          </a:solidFill>
          <a:ln w="12700">
            <a:solidFill>
              <a:schemeClr val="bg1"/>
            </a:solidFill>
            <a:round/>
          </a:ln>
        </p:spPr>
        <p:txBody>
          <a:bodyPr vert="horz" wrap="square" lIns="0" tIns="0" rIns="0" bIns="0" numCol="1" rtlCol="0" anchor="ctr" anchorCtr="0" compatLnSpc="1"/>
          <a:lstStyle/>
          <a:p>
            <a:pPr algn="ctr"/>
            <a:r>
              <a:rPr lang="en-US" sz="3200" b="1" dirty="0">
                <a:solidFill>
                  <a:schemeClr val="bg1"/>
                </a:solidFill>
                <a:ea typeface="微软雅黑" panose="020B0503020204020204" charset="-122"/>
                <a:cs typeface="微软雅黑" panose="020B0503020204020204" charset="-122"/>
              </a:rPr>
              <a:t>5</a:t>
            </a:r>
            <a:endParaRPr lang="en-US" sz="3200" b="1" dirty="0">
              <a:solidFill>
                <a:schemeClr val="bg1"/>
              </a:solidFill>
              <a:ea typeface="微软雅黑" panose="020B0503020204020204" charset="-122"/>
              <a:cs typeface="微软雅黑" panose="020B0503020204020204" charset="-122"/>
            </a:endParaRPr>
          </a:p>
        </p:txBody>
      </p:sp>
      <p:sp>
        <p:nvSpPr>
          <p:cNvPr id="15" name="文本框 14"/>
          <p:cNvSpPr txBox="1"/>
          <p:nvPr>
            <p:custDataLst>
              <p:tags r:id="rId11"/>
            </p:custDataLst>
          </p:nvPr>
        </p:nvSpPr>
        <p:spPr>
          <a:xfrm>
            <a:off x="1443990" y="2531745"/>
            <a:ext cx="2464435" cy="808990"/>
          </a:xfrm>
          <a:prstGeom prst="rect">
            <a:avLst/>
          </a:prstGeom>
          <a:noFill/>
        </p:spPr>
        <p:txBody>
          <a:bodyPr wrap="square" rtlCol="0">
            <a:spAutoFit/>
          </a:bodyPr>
          <a:lstStyle/>
          <a:p>
            <a:pPr marL="171450" marR="0" lvl="0" indent="-171450" algn="just" defTabSz="914400" rtl="0" fontAlgn="auto">
              <a:lnSpc>
                <a:spcPts val="1400"/>
              </a:lnSpc>
              <a:spcBef>
                <a:spcPts val="0"/>
              </a:spcBef>
              <a:spcAft>
                <a:spcPts val="0"/>
              </a:spcAft>
              <a:buClrTx/>
              <a:buSzTx/>
              <a:buFont typeface="Wingdings" panose="05000000000000000000" charset="0"/>
              <a:buChar char="Ø"/>
              <a:defRPr/>
            </a:pPr>
            <a:r>
              <a:rPr kumimoji="0" lang="zh-CN" altLang="en-US" sz="10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制定项目总体方案：</a:t>
            </a:r>
            <a:r>
              <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明确项目目标，制定初步时间表，标出关键里程碑</a:t>
            </a:r>
            <a:r>
              <a:rPr kumimoji="0" lang="zh-CN"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endParaRPr kumimoji="0" lang="zh-CN"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just" defTabSz="914400" rtl="0" fontAlgn="auto">
              <a:lnSpc>
                <a:spcPts val="1400"/>
              </a:lnSpc>
              <a:spcBef>
                <a:spcPts val="0"/>
              </a:spcBef>
              <a:spcAft>
                <a:spcPts val="0"/>
              </a:spcAft>
              <a:buClrTx/>
              <a:buSzTx/>
              <a:buFont typeface="Wingdings" panose="05000000000000000000" charset="0"/>
              <a:buChar char="Ø"/>
              <a:defRPr/>
            </a:pPr>
            <a:r>
              <a:rPr kumimoji="0" lang="zh-CN" altLang="en-US" sz="10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组建项目团队：</a:t>
            </a:r>
            <a:r>
              <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确定核心团队成员，明确每个人的角色和责任；</a:t>
            </a:r>
            <a:endPar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41" name="组合 40"/>
          <p:cNvGrpSpPr/>
          <p:nvPr>
            <p:custDataLst>
              <p:tags r:id="rId12"/>
            </p:custDataLst>
          </p:nvPr>
        </p:nvGrpSpPr>
        <p:grpSpPr>
          <a:xfrm>
            <a:off x="1506855" y="1961515"/>
            <a:ext cx="2108200" cy="570230"/>
            <a:chOff x="1591" y="6595"/>
            <a:chExt cx="3320" cy="898"/>
          </a:xfrm>
        </p:grpSpPr>
        <p:sp>
          <p:nvSpPr>
            <p:cNvPr id="127" name="文本框 126"/>
            <p:cNvSpPr txBox="1"/>
            <p:nvPr>
              <p:custDataLst>
                <p:tags r:id="rId13"/>
              </p:custDataLst>
            </p:nvPr>
          </p:nvSpPr>
          <p:spPr>
            <a:xfrm>
              <a:off x="1591" y="6595"/>
              <a:ext cx="3320" cy="53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第一阶段：项目启动</a:t>
              </a:r>
              <a:endPar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8" name="文本框 17"/>
            <p:cNvSpPr txBox="1"/>
            <p:nvPr>
              <p:custDataLst>
                <p:tags r:id="rId14"/>
              </p:custDataLst>
            </p:nvPr>
          </p:nvSpPr>
          <p:spPr>
            <a:xfrm>
              <a:off x="1888" y="7059"/>
              <a:ext cx="2726" cy="434"/>
            </a:xfrm>
            <a:prstGeom prst="rect">
              <a:avLst/>
            </a:prstGeom>
            <a:noFill/>
          </p:spPr>
          <p:txBody>
            <a:bodyPr wrap="square" rtlCol="0">
              <a:spAutoFit/>
            </a:bodyPr>
            <a:lstStyle/>
            <a:p>
              <a:pPr marR="0" lvl="0" indent="0" algn="just" defTabSz="914400" rtl="0" eaLnBrk="1" fontAlgn="auto" latinLnBrk="0" hangingPunct="1">
                <a:lnSpc>
                  <a:spcPct val="100000"/>
                </a:lnSpc>
                <a:spcBef>
                  <a:spcPts val="0"/>
                </a:spcBef>
                <a:spcAft>
                  <a:spcPts val="0"/>
                </a:spcAft>
                <a:buClrTx/>
                <a:buSzTx/>
                <a:buFont typeface="Wingdings" panose="05000000000000000000" charset="0"/>
                <a:buNone/>
                <a:defRPr/>
              </a:pP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2026</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年</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1</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月</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-3</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月）</a:t>
              </a:r>
              <a:endPar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6" name="任意形状 1"/>
          <p:cNvSpPr/>
          <p:nvPr>
            <p:custDataLst>
              <p:tags r:id="rId15"/>
            </p:custDataLst>
          </p:nvPr>
        </p:nvSpPr>
        <p:spPr>
          <a:xfrm>
            <a:off x="1062910" y="1965621"/>
            <a:ext cx="391160" cy="391160"/>
          </a:xfrm>
          <a:custGeom>
            <a:avLst/>
            <a:gdLst>
              <a:gd name="connsiteX0" fmla="*/ 391160 w 391160"/>
              <a:gd name="connsiteY0" fmla="*/ 195580 h 391160"/>
              <a:gd name="connsiteX1" fmla="*/ 195580 w 391160"/>
              <a:gd name="connsiteY1" fmla="*/ 391160 h 391160"/>
              <a:gd name="connsiteX2" fmla="*/ 0 w 391160"/>
              <a:gd name="connsiteY2" fmla="*/ 195580 h 391160"/>
              <a:gd name="connsiteX3" fmla="*/ 195580 w 391160"/>
              <a:gd name="connsiteY3" fmla="*/ 0 h 391160"/>
              <a:gd name="connsiteX4" fmla="*/ 391160 w 391160"/>
              <a:gd name="connsiteY4" fmla="*/ 195580 h 391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160" h="391160">
                <a:moveTo>
                  <a:pt x="391160" y="195580"/>
                </a:moveTo>
                <a:cubicBezTo>
                  <a:pt x="391160" y="303596"/>
                  <a:pt x="303596" y="391160"/>
                  <a:pt x="195580" y="391160"/>
                </a:cubicBezTo>
                <a:cubicBezTo>
                  <a:pt x="87564" y="391160"/>
                  <a:pt x="0" y="303596"/>
                  <a:pt x="0" y="195580"/>
                </a:cubicBezTo>
                <a:cubicBezTo>
                  <a:pt x="0" y="87564"/>
                  <a:pt x="87564" y="0"/>
                  <a:pt x="195580" y="0"/>
                </a:cubicBezTo>
                <a:cubicBezTo>
                  <a:pt x="303596" y="0"/>
                  <a:pt x="391160" y="87564"/>
                  <a:pt x="391160" y="195580"/>
                </a:cubicBezTo>
                <a:close/>
              </a:path>
            </a:pathLst>
          </a:custGeom>
          <a:solidFill>
            <a:schemeClr val="bg1"/>
          </a:solidFill>
          <a:ln w="15875" cap="flat">
            <a:solidFill>
              <a:schemeClr val="accent1"/>
            </a:solid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0" name="任意形状 7"/>
          <p:cNvSpPr/>
          <p:nvPr>
            <p:custDataLst>
              <p:tags r:id="rId16"/>
            </p:custDataLst>
          </p:nvPr>
        </p:nvSpPr>
        <p:spPr>
          <a:xfrm>
            <a:off x="1256030" y="2356485"/>
            <a:ext cx="76200" cy="2458085"/>
          </a:xfrm>
          <a:custGeom>
            <a:avLst/>
            <a:gdLst>
              <a:gd name="connsiteX0" fmla="*/ 0 w 12700"/>
              <a:gd name="connsiteY0" fmla="*/ 1291590 h 1291589"/>
              <a:gd name="connsiteX1" fmla="*/ 0 w 12700"/>
              <a:gd name="connsiteY1" fmla="*/ 0 h 1291589"/>
            </a:gdLst>
            <a:ahLst/>
            <a:cxnLst>
              <a:cxn ang="0">
                <a:pos x="connsiteX0" y="connsiteY0"/>
              </a:cxn>
              <a:cxn ang="0">
                <a:pos x="connsiteX1" y="connsiteY1"/>
              </a:cxn>
            </a:cxnLst>
            <a:rect l="l" t="t" r="r" b="b"/>
            <a:pathLst>
              <a:path w="12700" h="1291589">
                <a:moveTo>
                  <a:pt x="0" y="1291590"/>
                </a:moveTo>
                <a:lnTo>
                  <a:pt x="0" y="0"/>
                </a:lnTo>
              </a:path>
            </a:pathLst>
          </a:custGeom>
          <a:ln w="15875" cap="flat">
            <a:solidFill>
              <a:schemeClr val="accent1"/>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1" name="任意形状 7"/>
          <p:cNvSpPr/>
          <p:nvPr>
            <p:custDataLst>
              <p:tags r:id="rId17"/>
            </p:custDataLst>
          </p:nvPr>
        </p:nvSpPr>
        <p:spPr>
          <a:xfrm>
            <a:off x="3295015" y="4255770"/>
            <a:ext cx="76200" cy="1962150"/>
          </a:xfrm>
          <a:custGeom>
            <a:avLst/>
            <a:gdLst>
              <a:gd name="connsiteX0" fmla="*/ 0 w 12700"/>
              <a:gd name="connsiteY0" fmla="*/ 1291590 h 1291589"/>
              <a:gd name="connsiteX1" fmla="*/ 0 w 12700"/>
              <a:gd name="connsiteY1" fmla="*/ 0 h 1291589"/>
            </a:gdLst>
            <a:ahLst/>
            <a:cxnLst>
              <a:cxn ang="0">
                <a:pos x="connsiteX0" y="connsiteY0"/>
              </a:cxn>
              <a:cxn ang="0">
                <a:pos x="connsiteX1" y="connsiteY1"/>
              </a:cxn>
            </a:cxnLst>
            <a:rect l="l" t="t" r="r" b="b"/>
            <a:pathLst>
              <a:path w="12700" h="1291589">
                <a:moveTo>
                  <a:pt x="0" y="1291590"/>
                </a:moveTo>
                <a:lnTo>
                  <a:pt x="0" y="0"/>
                </a:lnTo>
              </a:path>
            </a:pathLst>
          </a:custGeom>
          <a:ln w="15875" cap="flat">
            <a:solidFill>
              <a:schemeClr val="accent1"/>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2" name="任意形状 1"/>
          <p:cNvSpPr/>
          <p:nvPr>
            <p:custDataLst>
              <p:tags r:id="rId18"/>
            </p:custDataLst>
          </p:nvPr>
        </p:nvSpPr>
        <p:spPr>
          <a:xfrm>
            <a:off x="3104435" y="6168051"/>
            <a:ext cx="391160" cy="391160"/>
          </a:xfrm>
          <a:custGeom>
            <a:avLst/>
            <a:gdLst>
              <a:gd name="connsiteX0" fmla="*/ 391160 w 391160"/>
              <a:gd name="connsiteY0" fmla="*/ 195580 h 391160"/>
              <a:gd name="connsiteX1" fmla="*/ 195580 w 391160"/>
              <a:gd name="connsiteY1" fmla="*/ 391160 h 391160"/>
              <a:gd name="connsiteX2" fmla="*/ 0 w 391160"/>
              <a:gd name="connsiteY2" fmla="*/ 195580 h 391160"/>
              <a:gd name="connsiteX3" fmla="*/ 195580 w 391160"/>
              <a:gd name="connsiteY3" fmla="*/ 0 h 391160"/>
              <a:gd name="connsiteX4" fmla="*/ 391160 w 391160"/>
              <a:gd name="connsiteY4" fmla="*/ 195580 h 391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160" h="391160">
                <a:moveTo>
                  <a:pt x="391160" y="195580"/>
                </a:moveTo>
                <a:cubicBezTo>
                  <a:pt x="391160" y="303596"/>
                  <a:pt x="303596" y="391160"/>
                  <a:pt x="195580" y="391160"/>
                </a:cubicBezTo>
                <a:cubicBezTo>
                  <a:pt x="87564" y="391160"/>
                  <a:pt x="0" y="303596"/>
                  <a:pt x="0" y="195580"/>
                </a:cubicBezTo>
                <a:cubicBezTo>
                  <a:pt x="0" y="87564"/>
                  <a:pt x="87564" y="0"/>
                  <a:pt x="195580" y="0"/>
                </a:cubicBezTo>
                <a:cubicBezTo>
                  <a:pt x="303596" y="0"/>
                  <a:pt x="391160" y="87564"/>
                  <a:pt x="391160" y="195580"/>
                </a:cubicBezTo>
                <a:close/>
              </a:path>
            </a:pathLst>
          </a:custGeom>
          <a:solidFill>
            <a:schemeClr val="bg1"/>
          </a:solidFill>
          <a:ln w="15875" cap="flat">
            <a:solidFill>
              <a:schemeClr val="accent1"/>
            </a:solid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custDataLst>
              <p:tags r:id="rId19"/>
            </p:custDataLst>
          </p:nvPr>
        </p:nvSpPr>
        <p:spPr>
          <a:xfrm>
            <a:off x="3553460" y="5809615"/>
            <a:ext cx="2464435" cy="808990"/>
          </a:xfrm>
          <a:prstGeom prst="rect">
            <a:avLst/>
          </a:prstGeom>
          <a:noFill/>
        </p:spPr>
        <p:txBody>
          <a:bodyPr wrap="square" rtlCol="0">
            <a:spAutoFit/>
          </a:bodyPr>
          <a:lstStyle/>
          <a:p>
            <a:pPr marL="171450" marR="0" lvl="0" indent="-171450" algn="just" defTabSz="914400" rtl="0" fontAlgn="auto">
              <a:lnSpc>
                <a:spcPts val="1400"/>
              </a:lnSpc>
              <a:spcBef>
                <a:spcPts val="0"/>
              </a:spcBef>
              <a:spcAft>
                <a:spcPts val="0"/>
              </a:spcAft>
              <a:buClrTx/>
              <a:buSzTx/>
              <a:buFont typeface="Wingdings" panose="05000000000000000000" charset="0"/>
              <a:buChar char="Ø"/>
              <a:defRPr/>
            </a:pPr>
            <a:r>
              <a:rPr kumimoji="0" lang="zh-CN" altLang="en-US" sz="10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完善项目计划：</a:t>
            </a:r>
            <a:r>
              <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在总体框架基础上，制定详细的项目计划。</a:t>
            </a:r>
            <a:endParaRPr kumimoji="0" lang="en-US" altLang="zh-CN"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just" defTabSz="914400" rtl="0" fontAlgn="auto">
              <a:lnSpc>
                <a:spcPts val="1400"/>
              </a:lnSpc>
              <a:spcBef>
                <a:spcPts val="0"/>
              </a:spcBef>
              <a:spcAft>
                <a:spcPts val="0"/>
              </a:spcAft>
              <a:buClrTx/>
              <a:buSzTx/>
              <a:buFont typeface="Wingdings" panose="05000000000000000000" charset="0"/>
              <a:buChar char="Ø"/>
              <a:defRPr/>
            </a:pPr>
            <a:r>
              <a:rPr kumimoji="0" lang="zh-CN" altLang="en-US" sz="10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资源分配与调配：</a:t>
            </a:r>
            <a:r>
              <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确定项目所需的资源，确保每项资源得到合理分配。</a:t>
            </a:r>
            <a:endPar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23" name="组合 22"/>
          <p:cNvGrpSpPr/>
          <p:nvPr>
            <p:custDataLst>
              <p:tags r:id="rId20"/>
            </p:custDataLst>
          </p:nvPr>
        </p:nvGrpSpPr>
        <p:grpSpPr>
          <a:xfrm>
            <a:off x="3616325" y="5239385"/>
            <a:ext cx="2108200" cy="570230"/>
            <a:chOff x="1591" y="6595"/>
            <a:chExt cx="3320" cy="898"/>
          </a:xfrm>
        </p:grpSpPr>
        <p:sp>
          <p:nvSpPr>
            <p:cNvPr id="25" name="文本框 24"/>
            <p:cNvSpPr txBox="1"/>
            <p:nvPr>
              <p:custDataLst>
                <p:tags r:id="rId21"/>
              </p:custDataLst>
            </p:nvPr>
          </p:nvSpPr>
          <p:spPr>
            <a:xfrm>
              <a:off x="1591" y="6595"/>
              <a:ext cx="3320" cy="53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第二阶段：项目规划</a:t>
              </a:r>
              <a:endPar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7" name="文本框 26"/>
            <p:cNvSpPr txBox="1"/>
            <p:nvPr>
              <p:custDataLst>
                <p:tags r:id="rId22"/>
              </p:custDataLst>
            </p:nvPr>
          </p:nvSpPr>
          <p:spPr>
            <a:xfrm>
              <a:off x="1888" y="7059"/>
              <a:ext cx="2726" cy="434"/>
            </a:xfrm>
            <a:prstGeom prst="rect">
              <a:avLst/>
            </a:prstGeom>
            <a:noFill/>
          </p:spPr>
          <p:txBody>
            <a:bodyPr wrap="square" rtlCol="0">
              <a:spAutoFit/>
            </a:bodyPr>
            <a:lstStyle/>
            <a:p>
              <a:pPr marR="0" lvl="0" indent="0" algn="just" defTabSz="914400" rtl="0" eaLnBrk="1" fontAlgn="auto" latinLnBrk="0" hangingPunct="1">
                <a:lnSpc>
                  <a:spcPct val="100000"/>
                </a:lnSpc>
                <a:spcBef>
                  <a:spcPts val="0"/>
                </a:spcBef>
                <a:spcAft>
                  <a:spcPts val="0"/>
                </a:spcAft>
                <a:buClrTx/>
                <a:buSzTx/>
                <a:buFont typeface="Wingdings" panose="05000000000000000000" charset="0"/>
                <a:buNone/>
                <a:defRPr/>
              </a:pP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2026</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年</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3</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月</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-4</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月）</a:t>
              </a:r>
              <a:endPar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28" name="文本框 27"/>
          <p:cNvSpPr txBox="1"/>
          <p:nvPr>
            <p:custDataLst>
              <p:tags r:id="rId23"/>
            </p:custDataLst>
          </p:nvPr>
        </p:nvSpPr>
        <p:spPr>
          <a:xfrm>
            <a:off x="5534025" y="1881505"/>
            <a:ext cx="2464435" cy="808990"/>
          </a:xfrm>
          <a:prstGeom prst="rect">
            <a:avLst/>
          </a:prstGeom>
          <a:noFill/>
        </p:spPr>
        <p:txBody>
          <a:bodyPr wrap="square" rtlCol="0">
            <a:spAutoFit/>
          </a:bodyPr>
          <a:lstStyle/>
          <a:p>
            <a:pPr marL="171450" marR="0" lvl="0" indent="-171450" algn="just" defTabSz="914400" rtl="0" fontAlgn="auto">
              <a:lnSpc>
                <a:spcPts val="1400"/>
              </a:lnSpc>
              <a:spcBef>
                <a:spcPts val="0"/>
              </a:spcBef>
              <a:spcAft>
                <a:spcPts val="0"/>
              </a:spcAft>
              <a:buClrTx/>
              <a:buSzTx/>
              <a:buFont typeface="Wingdings" panose="05000000000000000000" charset="0"/>
              <a:buChar char="Ø"/>
              <a:defRPr/>
            </a:pPr>
            <a:r>
              <a:rPr kumimoji="0" lang="zh-CN" altLang="en-US" sz="10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任务实施：</a:t>
            </a:r>
            <a:r>
              <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按照计划开展各项任务，产出项目成果，确保工作按进度推进。</a:t>
            </a:r>
            <a:endParaRPr kumimoji="0" lang="en-US" altLang="zh-CN"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just" defTabSz="914400" rtl="0" fontAlgn="auto">
              <a:lnSpc>
                <a:spcPts val="1400"/>
              </a:lnSpc>
              <a:spcBef>
                <a:spcPts val="0"/>
              </a:spcBef>
              <a:spcAft>
                <a:spcPts val="0"/>
              </a:spcAft>
              <a:buClrTx/>
              <a:buSzTx/>
              <a:buFont typeface="Wingdings" panose="05000000000000000000" charset="0"/>
              <a:buChar char="Ø"/>
              <a:defRPr/>
            </a:pPr>
            <a:r>
              <a:rPr kumimoji="0" lang="zh-CN" altLang="en-US" sz="10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团队管理与协调：</a:t>
            </a:r>
            <a:r>
              <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对团队成员工作进行监督与支持，确保协同顺利进行。</a:t>
            </a:r>
            <a:endParaRPr kumimoji="0" lang="en-US" altLang="zh-CN"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29" name="组合 28"/>
          <p:cNvGrpSpPr/>
          <p:nvPr>
            <p:custDataLst>
              <p:tags r:id="rId24"/>
            </p:custDataLst>
          </p:nvPr>
        </p:nvGrpSpPr>
        <p:grpSpPr>
          <a:xfrm>
            <a:off x="5596890" y="1311275"/>
            <a:ext cx="2108200" cy="570230"/>
            <a:chOff x="1591" y="6595"/>
            <a:chExt cx="3320" cy="898"/>
          </a:xfrm>
        </p:grpSpPr>
        <p:sp>
          <p:nvSpPr>
            <p:cNvPr id="30" name="文本框 29"/>
            <p:cNvSpPr txBox="1"/>
            <p:nvPr>
              <p:custDataLst>
                <p:tags r:id="rId25"/>
              </p:custDataLst>
            </p:nvPr>
          </p:nvSpPr>
          <p:spPr>
            <a:xfrm>
              <a:off x="1591" y="6595"/>
              <a:ext cx="3320" cy="53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第三阶段：项目执行</a:t>
              </a:r>
              <a:endPar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1" name="文本框 30"/>
            <p:cNvSpPr txBox="1"/>
            <p:nvPr>
              <p:custDataLst>
                <p:tags r:id="rId26"/>
              </p:custDataLst>
            </p:nvPr>
          </p:nvSpPr>
          <p:spPr>
            <a:xfrm>
              <a:off x="1888" y="7059"/>
              <a:ext cx="2726" cy="434"/>
            </a:xfrm>
            <a:prstGeom prst="rect">
              <a:avLst/>
            </a:prstGeom>
            <a:noFill/>
          </p:spPr>
          <p:txBody>
            <a:bodyPr wrap="square" rtlCol="0">
              <a:spAutoFit/>
            </a:bodyPr>
            <a:lstStyle/>
            <a:p>
              <a:pPr marR="0" lvl="0" indent="0" algn="just" defTabSz="914400" rtl="0" eaLnBrk="1" fontAlgn="auto" latinLnBrk="0" hangingPunct="1">
                <a:lnSpc>
                  <a:spcPct val="100000"/>
                </a:lnSpc>
                <a:spcBef>
                  <a:spcPts val="0"/>
                </a:spcBef>
                <a:spcAft>
                  <a:spcPts val="0"/>
                </a:spcAft>
                <a:buClrTx/>
                <a:buSzTx/>
                <a:buFont typeface="Wingdings" panose="05000000000000000000" charset="0"/>
                <a:buNone/>
                <a:defRPr/>
              </a:pP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2026</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年</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5</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月</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-7</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月）</a:t>
              </a:r>
              <a:endPar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35" name="任意形状 7"/>
          <p:cNvSpPr/>
          <p:nvPr>
            <p:custDataLst>
              <p:tags r:id="rId27"/>
            </p:custDataLst>
          </p:nvPr>
        </p:nvSpPr>
        <p:spPr>
          <a:xfrm>
            <a:off x="7437755" y="3815080"/>
            <a:ext cx="89535" cy="2313940"/>
          </a:xfrm>
          <a:custGeom>
            <a:avLst/>
            <a:gdLst>
              <a:gd name="connsiteX0" fmla="*/ 0 w 12700"/>
              <a:gd name="connsiteY0" fmla="*/ 1291590 h 1291589"/>
              <a:gd name="connsiteX1" fmla="*/ 0 w 12700"/>
              <a:gd name="connsiteY1" fmla="*/ 0 h 1291589"/>
            </a:gdLst>
            <a:ahLst/>
            <a:cxnLst>
              <a:cxn ang="0">
                <a:pos x="connsiteX0" y="connsiteY0"/>
              </a:cxn>
              <a:cxn ang="0">
                <a:pos x="connsiteX1" y="connsiteY1"/>
              </a:cxn>
            </a:cxnLst>
            <a:rect l="l" t="t" r="r" b="b"/>
            <a:pathLst>
              <a:path w="12700" h="1291589">
                <a:moveTo>
                  <a:pt x="0" y="1291590"/>
                </a:moveTo>
                <a:lnTo>
                  <a:pt x="0" y="0"/>
                </a:lnTo>
              </a:path>
            </a:pathLst>
          </a:custGeom>
          <a:ln w="15875" cap="flat">
            <a:solidFill>
              <a:schemeClr val="accent5"/>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6" name="任意形状 1"/>
          <p:cNvSpPr/>
          <p:nvPr>
            <p:custDataLst>
              <p:tags r:id="rId28"/>
            </p:custDataLst>
          </p:nvPr>
        </p:nvSpPr>
        <p:spPr>
          <a:xfrm>
            <a:off x="7240190" y="6154081"/>
            <a:ext cx="391160" cy="391160"/>
          </a:xfrm>
          <a:custGeom>
            <a:avLst/>
            <a:gdLst>
              <a:gd name="connsiteX0" fmla="*/ 391160 w 391160"/>
              <a:gd name="connsiteY0" fmla="*/ 195580 h 391160"/>
              <a:gd name="connsiteX1" fmla="*/ 195580 w 391160"/>
              <a:gd name="connsiteY1" fmla="*/ 391160 h 391160"/>
              <a:gd name="connsiteX2" fmla="*/ 0 w 391160"/>
              <a:gd name="connsiteY2" fmla="*/ 195580 h 391160"/>
              <a:gd name="connsiteX3" fmla="*/ 195580 w 391160"/>
              <a:gd name="connsiteY3" fmla="*/ 0 h 391160"/>
              <a:gd name="connsiteX4" fmla="*/ 391160 w 391160"/>
              <a:gd name="connsiteY4" fmla="*/ 195580 h 391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160" h="391160">
                <a:moveTo>
                  <a:pt x="391160" y="195580"/>
                </a:moveTo>
                <a:cubicBezTo>
                  <a:pt x="391160" y="303596"/>
                  <a:pt x="303596" y="391160"/>
                  <a:pt x="195580" y="391160"/>
                </a:cubicBezTo>
                <a:cubicBezTo>
                  <a:pt x="87564" y="391160"/>
                  <a:pt x="0" y="303596"/>
                  <a:pt x="0" y="195580"/>
                </a:cubicBezTo>
                <a:cubicBezTo>
                  <a:pt x="0" y="87564"/>
                  <a:pt x="87564" y="0"/>
                  <a:pt x="195580" y="0"/>
                </a:cubicBezTo>
                <a:cubicBezTo>
                  <a:pt x="303596" y="0"/>
                  <a:pt x="391160" y="87564"/>
                  <a:pt x="391160" y="195580"/>
                </a:cubicBezTo>
                <a:close/>
              </a:path>
            </a:pathLst>
          </a:custGeom>
          <a:solidFill>
            <a:schemeClr val="bg1"/>
          </a:solidFill>
          <a:ln w="15875" cap="flat">
            <a:solidFill>
              <a:schemeClr val="accent5"/>
            </a:solid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8" name="文本框 37"/>
          <p:cNvSpPr txBox="1"/>
          <p:nvPr>
            <p:custDataLst>
              <p:tags r:id="rId29"/>
            </p:custDataLst>
          </p:nvPr>
        </p:nvSpPr>
        <p:spPr>
          <a:xfrm>
            <a:off x="7723505" y="5694045"/>
            <a:ext cx="2464435" cy="808990"/>
          </a:xfrm>
          <a:prstGeom prst="rect">
            <a:avLst/>
          </a:prstGeom>
          <a:noFill/>
        </p:spPr>
        <p:txBody>
          <a:bodyPr wrap="square" rtlCol="0">
            <a:spAutoFit/>
          </a:bodyPr>
          <a:lstStyle/>
          <a:p>
            <a:pPr marL="171450" marR="0" lvl="0" indent="-171450" algn="just" defTabSz="914400" rtl="0" fontAlgn="auto">
              <a:lnSpc>
                <a:spcPts val="1400"/>
              </a:lnSpc>
              <a:spcBef>
                <a:spcPts val="0"/>
              </a:spcBef>
              <a:spcAft>
                <a:spcPts val="0"/>
              </a:spcAft>
              <a:buClrTx/>
              <a:buSzTx/>
              <a:buFont typeface="Wingdings" panose="05000000000000000000" charset="0"/>
              <a:buChar char="Ø"/>
              <a:defRPr/>
            </a:pPr>
            <a:r>
              <a:rPr kumimoji="0" lang="zh-CN" altLang="en-US" sz="10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监控与调整进度：</a:t>
            </a:r>
            <a:r>
              <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跟踪项目进展，确保任务按时完成。</a:t>
            </a:r>
            <a:endParaRPr kumimoji="0" lang="en-US" altLang="zh-CN"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just" defTabSz="914400" rtl="0" fontAlgn="auto">
              <a:lnSpc>
                <a:spcPts val="1400"/>
              </a:lnSpc>
              <a:spcBef>
                <a:spcPts val="0"/>
              </a:spcBef>
              <a:spcAft>
                <a:spcPts val="0"/>
              </a:spcAft>
              <a:buClrTx/>
              <a:buSzTx/>
              <a:buFont typeface="Wingdings" panose="05000000000000000000" charset="0"/>
              <a:buChar char="Ø"/>
              <a:defRPr/>
            </a:pPr>
            <a:r>
              <a:rPr kumimoji="0" lang="zh-CN" altLang="en-US" sz="10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质量控制：</a:t>
            </a:r>
            <a:r>
              <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对项目成果进行质量检查，确保符合要求，必要时采取纠正措施。</a:t>
            </a:r>
            <a:endPar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39" name="组合 38"/>
          <p:cNvGrpSpPr/>
          <p:nvPr>
            <p:custDataLst>
              <p:tags r:id="rId30"/>
            </p:custDataLst>
          </p:nvPr>
        </p:nvGrpSpPr>
        <p:grpSpPr>
          <a:xfrm>
            <a:off x="7786370" y="5123815"/>
            <a:ext cx="2108200" cy="570230"/>
            <a:chOff x="1591" y="6595"/>
            <a:chExt cx="3320" cy="898"/>
          </a:xfrm>
        </p:grpSpPr>
        <p:sp>
          <p:nvSpPr>
            <p:cNvPr id="40" name="文本框 39"/>
            <p:cNvSpPr txBox="1"/>
            <p:nvPr>
              <p:custDataLst>
                <p:tags r:id="rId31"/>
              </p:custDataLst>
            </p:nvPr>
          </p:nvSpPr>
          <p:spPr>
            <a:xfrm>
              <a:off x="1591" y="6595"/>
              <a:ext cx="3320" cy="53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第四阶段：项目监控</a:t>
              </a:r>
              <a:endParaRPr kumimoji="0" lang="zh-CN" altLang="en-US" sz="16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4" name="文本框 43"/>
            <p:cNvSpPr txBox="1"/>
            <p:nvPr>
              <p:custDataLst>
                <p:tags r:id="rId32"/>
              </p:custDataLst>
            </p:nvPr>
          </p:nvSpPr>
          <p:spPr>
            <a:xfrm>
              <a:off x="1888" y="7059"/>
              <a:ext cx="2726" cy="434"/>
            </a:xfrm>
            <a:prstGeom prst="rect">
              <a:avLst/>
            </a:prstGeom>
            <a:noFill/>
          </p:spPr>
          <p:txBody>
            <a:bodyPr wrap="square" rtlCol="0">
              <a:spAutoFit/>
            </a:bodyPr>
            <a:lstStyle/>
            <a:p>
              <a:pPr marR="0" lvl="0" indent="0" algn="just" defTabSz="914400" rtl="0" eaLnBrk="1" fontAlgn="auto" latinLnBrk="0" hangingPunct="1">
                <a:lnSpc>
                  <a:spcPct val="100000"/>
                </a:lnSpc>
                <a:spcBef>
                  <a:spcPts val="0"/>
                </a:spcBef>
                <a:spcAft>
                  <a:spcPts val="0"/>
                </a:spcAft>
                <a:buClrTx/>
                <a:buSzTx/>
                <a:buFont typeface="Wingdings" panose="05000000000000000000" charset="0"/>
                <a:buNone/>
                <a:defRPr/>
              </a:pP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2026</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年</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8</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月</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-9</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月）</a:t>
              </a:r>
              <a:endPar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45" name="文本框 44"/>
          <p:cNvSpPr txBox="1"/>
          <p:nvPr>
            <p:custDataLst>
              <p:tags r:id="rId33"/>
            </p:custDataLst>
          </p:nvPr>
        </p:nvSpPr>
        <p:spPr>
          <a:xfrm>
            <a:off x="9843770" y="1663065"/>
            <a:ext cx="1990090" cy="988695"/>
          </a:xfrm>
          <a:prstGeom prst="rect">
            <a:avLst/>
          </a:prstGeom>
          <a:noFill/>
        </p:spPr>
        <p:txBody>
          <a:bodyPr wrap="square" rtlCol="0">
            <a:spAutoFit/>
          </a:bodyPr>
          <a:lstStyle/>
          <a:p>
            <a:pPr marL="171450" marR="0" lvl="0" indent="-171450" algn="just" defTabSz="914400" rtl="0" fontAlgn="auto">
              <a:lnSpc>
                <a:spcPts val="1400"/>
              </a:lnSpc>
              <a:spcBef>
                <a:spcPts val="0"/>
              </a:spcBef>
              <a:spcAft>
                <a:spcPts val="0"/>
              </a:spcAft>
              <a:buClrTx/>
              <a:buSzTx/>
              <a:buFont typeface="Wingdings" panose="05000000000000000000" charset="0"/>
              <a:buChar char="Ø"/>
              <a:defRPr/>
            </a:pPr>
            <a:r>
              <a:rPr kumimoji="0" lang="zh-CN" altLang="en-US" sz="10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总结项目表现：</a:t>
            </a:r>
            <a:r>
              <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对项目进行全面回顾，总结优点和不足；</a:t>
            </a:r>
            <a:endParaRPr kumimoji="0" lang="en-US" altLang="zh-CN"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just" defTabSz="914400" rtl="0" fontAlgn="auto">
              <a:lnSpc>
                <a:spcPts val="1400"/>
              </a:lnSpc>
              <a:spcBef>
                <a:spcPts val="0"/>
              </a:spcBef>
              <a:spcAft>
                <a:spcPts val="0"/>
              </a:spcAft>
              <a:buClrTx/>
              <a:buSzTx/>
              <a:buFont typeface="Wingdings" panose="05000000000000000000" charset="0"/>
              <a:buChar char="Ø"/>
              <a:defRPr/>
            </a:pPr>
            <a:r>
              <a:rPr kumimoji="0" lang="zh-CN" altLang="en-US" sz="10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整理项目文档：</a:t>
            </a:r>
            <a:r>
              <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按照规范归档，提供详细的操作手册和技术文档。</a:t>
            </a:r>
            <a:endPar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46" name="组合 45"/>
          <p:cNvGrpSpPr/>
          <p:nvPr>
            <p:custDataLst>
              <p:tags r:id="rId34"/>
            </p:custDataLst>
          </p:nvPr>
        </p:nvGrpSpPr>
        <p:grpSpPr>
          <a:xfrm>
            <a:off x="9906635" y="1092835"/>
            <a:ext cx="2108200" cy="570230"/>
            <a:chOff x="1591" y="6595"/>
            <a:chExt cx="3320" cy="898"/>
          </a:xfrm>
        </p:grpSpPr>
        <p:sp>
          <p:nvSpPr>
            <p:cNvPr id="47" name="文本框 46"/>
            <p:cNvSpPr txBox="1"/>
            <p:nvPr>
              <p:custDataLst>
                <p:tags r:id="rId35"/>
              </p:custDataLst>
            </p:nvPr>
          </p:nvSpPr>
          <p:spPr>
            <a:xfrm>
              <a:off x="1591" y="6595"/>
              <a:ext cx="3320" cy="53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第五阶段：项目收尾</a:t>
              </a:r>
              <a:endParaRPr kumimoji="0" lang="zh-CN" altLang="en-US" sz="16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8" name="文本框 47"/>
            <p:cNvSpPr txBox="1"/>
            <p:nvPr>
              <p:custDataLst>
                <p:tags r:id="rId36"/>
              </p:custDataLst>
            </p:nvPr>
          </p:nvSpPr>
          <p:spPr>
            <a:xfrm>
              <a:off x="1888" y="7059"/>
              <a:ext cx="2726" cy="434"/>
            </a:xfrm>
            <a:prstGeom prst="rect">
              <a:avLst/>
            </a:prstGeom>
            <a:noFill/>
          </p:spPr>
          <p:txBody>
            <a:bodyPr wrap="square" rtlCol="0">
              <a:spAutoFit/>
            </a:bodyPr>
            <a:lstStyle/>
            <a:p>
              <a:pPr marR="0" lvl="0" indent="0" algn="just" defTabSz="914400" rtl="0" eaLnBrk="1" fontAlgn="auto" latinLnBrk="0" hangingPunct="1">
                <a:lnSpc>
                  <a:spcPct val="100000"/>
                </a:lnSpc>
                <a:spcBef>
                  <a:spcPts val="0"/>
                </a:spcBef>
                <a:spcAft>
                  <a:spcPts val="0"/>
                </a:spcAft>
                <a:buClrTx/>
                <a:buSzTx/>
                <a:buFont typeface="Wingdings" panose="05000000000000000000" charset="0"/>
                <a:buNone/>
                <a:defRPr/>
              </a:pP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2026</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年</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10</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月</a:t>
              </a:r>
              <a:r>
                <a:rPr kumimoji="0" lang="en-US" altLang="zh-CN"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-12</a:t>
              </a:r>
              <a:r>
                <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月）</a:t>
              </a:r>
              <a:endParaRPr kumimoji="0" lang="zh-CN" altLang="en-US" sz="12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49" name="任意形状 1"/>
          <p:cNvSpPr/>
          <p:nvPr>
            <p:custDataLst>
              <p:tags r:id="rId37"/>
            </p:custDataLst>
          </p:nvPr>
        </p:nvSpPr>
        <p:spPr>
          <a:xfrm>
            <a:off x="9442370" y="1096941"/>
            <a:ext cx="391160" cy="391160"/>
          </a:xfrm>
          <a:custGeom>
            <a:avLst/>
            <a:gdLst>
              <a:gd name="connsiteX0" fmla="*/ 391160 w 391160"/>
              <a:gd name="connsiteY0" fmla="*/ 195580 h 391160"/>
              <a:gd name="connsiteX1" fmla="*/ 195580 w 391160"/>
              <a:gd name="connsiteY1" fmla="*/ 391160 h 391160"/>
              <a:gd name="connsiteX2" fmla="*/ 0 w 391160"/>
              <a:gd name="connsiteY2" fmla="*/ 195580 h 391160"/>
              <a:gd name="connsiteX3" fmla="*/ 195580 w 391160"/>
              <a:gd name="connsiteY3" fmla="*/ 0 h 391160"/>
              <a:gd name="connsiteX4" fmla="*/ 391160 w 391160"/>
              <a:gd name="connsiteY4" fmla="*/ 195580 h 391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160" h="391160">
                <a:moveTo>
                  <a:pt x="391160" y="195580"/>
                </a:moveTo>
                <a:cubicBezTo>
                  <a:pt x="391160" y="303596"/>
                  <a:pt x="303596" y="391160"/>
                  <a:pt x="195580" y="391160"/>
                </a:cubicBezTo>
                <a:cubicBezTo>
                  <a:pt x="87564" y="391160"/>
                  <a:pt x="0" y="303596"/>
                  <a:pt x="0" y="195580"/>
                </a:cubicBezTo>
                <a:cubicBezTo>
                  <a:pt x="0" y="87564"/>
                  <a:pt x="87564" y="0"/>
                  <a:pt x="195580" y="0"/>
                </a:cubicBezTo>
                <a:cubicBezTo>
                  <a:pt x="303596" y="0"/>
                  <a:pt x="391160" y="87564"/>
                  <a:pt x="391160" y="195580"/>
                </a:cubicBezTo>
                <a:close/>
              </a:path>
            </a:pathLst>
          </a:custGeom>
          <a:solidFill>
            <a:schemeClr val="bg1"/>
          </a:solidFill>
          <a:ln w="15875" cap="flat">
            <a:solidFill>
              <a:schemeClr val="accent5"/>
            </a:solid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1" name="任意形状 7"/>
          <p:cNvSpPr/>
          <p:nvPr>
            <p:custDataLst>
              <p:tags r:id="rId38"/>
            </p:custDataLst>
          </p:nvPr>
        </p:nvSpPr>
        <p:spPr>
          <a:xfrm>
            <a:off x="9663430" y="1487805"/>
            <a:ext cx="76200" cy="1423035"/>
          </a:xfrm>
          <a:custGeom>
            <a:avLst/>
            <a:gdLst>
              <a:gd name="connsiteX0" fmla="*/ 0 w 12700"/>
              <a:gd name="connsiteY0" fmla="*/ 1291590 h 1291589"/>
              <a:gd name="connsiteX1" fmla="*/ 0 w 12700"/>
              <a:gd name="connsiteY1" fmla="*/ 0 h 1291589"/>
            </a:gdLst>
            <a:ahLst/>
            <a:cxnLst>
              <a:cxn ang="0">
                <a:pos x="connsiteX0" y="connsiteY0"/>
              </a:cxn>
              <a:cxn ang="0">
                <a:pos x="connsiteX1" y="connsiteY1"/>
              </a:cxn>
            </a:cxnLst>
            <a:rect l="l" t="t" r="r" b="b"/>
            <a:pathLst>
              <a:path w="12700" h="1291589">
                <a:moveTo>
                  <a:pt x="0" y="1291590"/>
                </a:moveTo>
                <a:lnTo>
                  <a:pt x="0" y="0"/>
                </a:lnTo>
              </a:path>
            </a:pathLst>
          </a:custGeom>
          <a:ln w="15875" cap="flat">
            <a:solidFill>
              <a:schemeClr val="accent5"/>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2" name="任意形状 1"/>
          <p:cNvSpPr/>
          <p:nvPr>
            <p:custDataLst>
              <p:tags r:id="rId39"/>
            </p:custDataLst>
          </p:nvPr>
        </p:nvSpPr>
        <p:spPr>
          <a:xfrm>
            <a:off x="5141515" y="1338241"/>
            <a:ext cx="391160" cy="391160"/>
          </a:xfrm>
          <a:custGeom>
            <a:avLst/>
            <a:gdLst>
              <a:gd name="connsiteX0" fmla="*/ 391160 w 391160"/>
              <a:gd name="connsiteY0" fmla="*/ 195580 h 391160"/>
              <a:gd name="connsiteX1" fmla="*/ 195580 w 391160"/>
              <a:gd name="connsiteY1" fmla="*/ 391160 h 391160"/>
              <a:gd name="connsiteX2" fmla="*/ 0 w 391160"/>
              <a:gd name="connsiteY2" fmla="*/ 195580 h 391160"/>
              <a:gd name="connsiteX3" fmla="*/ 195580 w 391160"/>
              <a:gd name="connsiteY3" fmla="*/ 0 h 391160"/>
              <a:gd name="connsiteX4" fmla="*/ 391160 w 391160"/>
              <a:gd name="connsiteY4" fmla="*/ 195580 h 391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160" h="391160">
                <a:moveTo>
                  <a:pt x="391160" y="195580"/>
                </a:moveTo>
                <a:cubicBezTo>
                  <a:pt x="391160" y="303596"/>
                  <a:pt x="303596" y="391160"/>
                  <a:pt x="195580" y="391160"/>
                </a:cubicBezTo>
                <a:cubicBezTo>
                  <a:pt x="87564" y="391160"/>
                  <a:pt x="0" y="303596"/>
                  <a:pt x="0" y="195580"/>
                </a:cubicBezTo>
                <a:cubicBezTo>
                  <a:pt x="0" y="87564"/>
                  <a:pt x="87564" y="0"/>
                  <a:pt x="195580" y="0"/>
                </a:cubicBezTo>
                <a:cubicBezTo>
                  <a:pt x="303596" y="0"/>
                  <a:pt x="391160" y="87564"/>
                  <a:pt x="391160" y="195580"/>
                </a:cubicBezTo>
                <a:close/>
              </a:path>
            </a:pathLst>
          </a:custGeom>
          <a:solidFill>
            <a:schemeClr val="bg1"/>
          </a:solidFill>
          <a:ln w="15875" cap="flat">
            <a:solidFill>
              <a:schemeClr val="accent1"/>
            </a:solid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5" name="任意形状 7"/>
          <p:cNvSpPr/>
          <p:nvPr>
            <p:custDataLst>
              <p:tags r:id="rId40"/>
            </p:custDataLst>
          </p:nvPr>
        </p:nvSpPr>
        <p:spPr>
          <a:xfrm>
            <a:off x="5327015" y="1729105"/>
            <a:ext cx="76200" cy="1611630"/>
          </a:xfrm>
          <a:custGeom>
            <a:avLst/>
            <a:gdLst>
              <a:gd name="connsiteX0" fmla="*/ 0 w 12700"/>
              <a:gd name="connsiteY0" fmla="*/ 1291590 h 1291589"/>
              <a:gd name="connsiteX1" fmla="*/ 0 w 12700"/>
              <a:gd name="connsiteY1" fmla="*/ 0 h 1291589"/>
            </a:gdLst>
            <a:ahLst/>
            <a:cxnLst>
              <a:cxn ang="0">
                <a:pos x="connsiteX0" y="connsiteY0"/>
              </a:cxn>
              <a:cxn ang="0">
                <a:pos x="connsiteX1" y="connsiteY1"/>
              </a:cxn>
            </a:cxnLst>
            <a:rect l="l" t="t" r="r" b="b"/>
            <a:pathLst>
              <a:path w="12700" h="1291589">
                <a:moveTo>
                  <a:pt x="0" y="1291590"/>
                </a:moveTo>
                <a:lnTo>
                  <a:pt x="0" y="0"/>
                </a:lnTo>
              </a:path>
            </a:pathLst>
          </a:custGeom>
          <a:ln w="15875" cap="flat">
            <a:solidFill>
              <a:schemeClr val="accent1"/>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pic>
        <p:nvPicPr>
          <p:cNvPr id="59" name="图片 58" descr="启动"/>
          <p:cNvPicPr>
            <a:picLocks noChangeAspect="1"/>
          </p:cNvPicPr>
          <p:nvPr>
            <p:custDataLst>
              <p:tags r:id="rId41"/>
            </p:custDataLst>
          </p:nvPr>
        </p:nvPicPr>
        <p:blipFill>
          <a:blip r:embed="rId42">
            <a:extLst>
              <a:ext uri="{96DAC541-7B7A-43D3-8B79-37D633B846F1}">
                <asvg:svgBlip xmlns:asvg="http://schemas.microsoft.com/office/drawing/2016/SVG/main" r:embed="rId43"/>
              </a:ext>
            </a:extLst>
          </a:blip>
          <a:stretch>
            <a:fillRect/>
          </a:stretch>
        </p:blipFill>
        <p:spPr>
          <a:xfrm>
            <a:off x="1154430" y="2058670"/>
            <a:ext cx="205105" cy="205105"/>
          </a:xfrm>
          <a:prstGeom prst="rect">
            <a:avLst/>
          </a:prstGeom>
        </p:spPr>
      </p:pic>
      <p:pic>
        <p:nvPicPr>
          <p:cNvPr id="60" name="图片 59" descr="目标规划"/>
          <p:cNvPicPr>
            <a:picLocks noChangeAspect="1"/>
          </p:cNvPicPr>
          <p:nvPr>
            <p:custDataLst>
              <p:tags r:id="rId44"/>
            </p:custDataLst>
          </p:nvPr>
        </p:nvPicPr>
        <p:blipFill>
          <a:blip r:embed="rId45">
            <a:extLst>
              <a:ext uri="{96DAC541-7B7A-43D3-8B79-37D633B846F1}">
                <asvg:svgBlip xmlns:asvg="http://schemas.microsoft.com/office/drawing/2016/SVG/main" r:embed="rId46"/>
              </a:ext>
            </a:extLst>
          </a:blip>
          <a:stretch>
            <a:fillRect/>
          </a:stretch>
        </p:blipFill>
        <p:spPr>
          <a:xfrm>
            <a:off x="3187065" y="6243320"/>
            <a:ext cx="227965" cy="227965"/>
          </a:xfrm>
          <a:prstGeom prst="rect">
            <a:avLst/>
          </a:prstGeom>
        </p:spPr>
      </p:pic>
      <p:pic>
        <p:nvPicPr>
          <p:cNvPr id="62" name="图片 61" descr="执行文件"/>
          <p:cNvPicPr>
            <a:picLocks noChangeAspect="1"/>
          </p:cNvPicPr>
          <p:nvPr>
            <p:custDataLst>
              <p:tags r:id="rId47"/>
            </p:custDataLst>
          </p:nvPr>
        </p:nvPicPr>
        <p:blipFill>
          <a:blip r:embed="rId48">
            <a:extLst>
              <a:ext uri="{96DAC541-7B7A-43D3-8B79-37D633B846F1}">
                <asvg:svgBlip xmlns:asvg="http://schemas.microsoft.com/office/drawing/2016/SVG/main" r:embed="rId49"/>
              </a:ext>
            </a:extLst>
          </a:blip>
          <a:stretch>
            <a:fillRect/>
          </a:stretch>
        </p:blipFill>
        <p:spPr>
          <a:xfrm>
            <a:off x="5218430" y="1398270"/>
            <a:ext cx="261620" cy="261620"/>
          </a:xfrm>
          <a:prstGeom prst="rect">
            <a:avLst/>
          </a:prstGeom>
        </p:spPr>
      </p:pic>
      <p:pic>
        <p:nvPicPr>
          <p:cNvPr id="63" name="图片 62" descr="KHCFDC_监控"/>
          <p:cNvPicPr>
            <a:picLocks noChangeAspect="1"/>
          </p:cNvPicPr>
          <p:nvPr>
            <p:custDataLst>
              <p:tags r:id="rId50"/>
            </p:custDataLst>
          </p:nvPr>
        </p:nvPicPr>
        <p:blipFill>
          <a:blip r:embed="rId51">
            <a:extLst>
              <a:ext uri="{96DAC541-7B7A-43D3-8B79-37D633B846F1}">
                <asvg:svgBlip xmlns:asvg="http://schemas.microsoft.com/office/drawing/2016/SVG/main" r:embed="rId52"/>
              </a:ext>
            </a:extLst>
          </a:blip>
          <a:stretch>
            <a:fillRect/>
          </a:stretch>
        </p:blipFill>
        <p:spPr>
          <a:xfrm>
            <a:off x="7320280" y="6248400"/>
            <a:ext cx="231140" cy="202565"/>
          </a:xfrm>
          <a:prstGeom prst="rect">
            <a:avLst/>
          </a:prstGeom>
        </p:spPr>
      </p:pic>
      <p:pic>
        <p:nvPicPr>
          <p:cNvPr id="64" name="图片 63" descr="项目收尾"/>
          <p:cNvPicPr>
            <a:picLocks noChangeAspect="1"/>
          </p:cNvPicPr>
          <p:nvPr>
            <p:custDataLst>
              <p:tags r:id="rId53"/>
            </p:custDataLst>
          </p:nvPr>
        </p:nvPicPr>
        <p:blipFill>
          <a:blip r:embed="rId54">
            <a:extLst>
              <a:ext uri="{96DAC541-7B7A-43D3-8B79-37D633B846F1}">
                <asvg:svgBlip xmlns:asvg="http://schemas.microsoft.com/office/drawing/2016/SVG/main" r:embed="rId55"/>
              </a:ext>
            </a:extLst>
          </a:blip>
          <a:stretch>
            <a:fillRect/>
          </a:stretch>
        </p:blipFill>
        <p:spPr>
          <a:xfrm>
            <a:off x="9526905" y="1176020"/>
            <a:ext cx="222250" cy="222250"/>
          </a:xfrm>
          <a:prstGeom prst="rect">
            <a:avLst/>
          </a:prstGeom>
        </p:spPr>
      </p:pic>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8738235" y="348615"/>
            <a:ext cx="3219450" cy="332740"/>
            <a:chOff x="13761" y="549"/>
            <a:chExt cx="5070" cy="524"/>
          </a:xfrm>
        </p:grpSpPr>
        <p:pic>
          <p:nvPicPr>
            <p:cNvPr id="4" name="图片 3"/>
            <p:cNvPicPr>
              <a:picLocks noChangeAspect="1"/>
            </p:cNvPicPr>
            <p:nvPr userDrawn="1"/>
          </p:nvPicPr>
          <p:blipFill>
            <a:blip r:embed="rId56"/>
            <a:srcRect l="17002" t="-1765" r="56499" b="-1176"/>
            <a:stretch>
              <a:fillRect/>
            </a:stretch>
          </p:blipFill>
          <p:spPr>
            <a:xfrm>
              <a:off x="13761" y="549"/>
              <a:ext cx="1582" cy="525"/>
            </a:xfrm>
            <a:prstGeom prst="rect">
              <a:avLst/>
            </a:prstGeom>
          </p:spPr>
        </p:pic>
        <p:sp>
          <p:nvSpPr>
            <p:cNvPr id="7" name="文本框 6"/>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年度工作项目规划</a:t>
            </a:r>
            <a:endParaRPr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3" name="图片 2"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60" name="组合 59"/>
          <p:cNvGrpSpPr/>
          <p:nvPr/>
        </p:nvGrpSpPr>
        <p:grpSpPr>
          <a:xfrm>
            <a:off x="2361565" y="2230755"/>
            <a:ext cx="9406890" cy="5246363"/>
            <a:chOff x="2269" y="2834"/>
            <a:chExt cx="14814" cy="8262"/>
          </a:xfrm>
        </p:grpSpPr>
        <p:sp>
          <p:nvSpPr>
            <p:cNvPr id="26" name="任意多边形: 形状 30"/>
            <p:cNvSpPr/>
            <p:nvPr/>
          </p:nvSpPr>
          <p:spPr>
            <a:xfrm rot="2754681">
              <a:off x="4464" y="2830"/>
              <a:ext cx="6071" cy="10461"/>
            </a:xfrm>
            <a:custGeom>
              <a:avLst/>
              <a:gdLst>
                <a:gd name="connsiteX0" fmla="*/ 3861035 w 5254542"/>
                <a:gd name="connsiteY0" fmla="*/ 0 h 8448519"/>
                <a:gd name="connsiteX1" fmla="*/ 5254542 w 5254542"/>
                <a:gd name="connsiteY1" fmla="*/ 1801267 h 8448519"/>
                <a:gd name="connsiteX2" fmla="*/ 4557802 w 5254542"/>
                <a:gd name="connsiteY2" fmla="*/ 1801267 h 8448519"/>
                <a:gd name="connsiteX3" fmla="*/ 4556310 w 5254542"/>
                <a:gd name="connsiteY3" fmla="*/ 1847578 h 8448519"/>
                <a:gd name="connsiteX4" fmla="*/ 0 w 5254542"/>
                <a:gd name="connsiteY4" fmla="*/ 8448519 h 8448519"/>
                <a:gd name="connsiteX5" fmla="*/ 3154303 w 5254542"/>
                <a:gd name="connsiteY5" fmla="*/ 1864235 h 8448519"/>
                <a:gd name="connsiteX6" fmla="*/ 3159431 w 5254542"/>
                <a:gd name="connsiteY6" fmla="*/ 1801267 h 8448519"/>
                <a:gd name="connsiteX7" fmla="*/ 2399638 w 5254542"/>
                <a:gd name="connsiteY7" fmla="*/ 1801267 h 8448519"/>
                <a:gd name="connsiteX0-1" fmla="*/ 3682277 w 5075784"/>
                <a:gd name="connsiteY0-2" fmla="*/ 0 h 8796527"/>
                <a:gd name="connsiteX1-3" fmla="*/ 5075784 w 5075784"/>
                <a:gd name="connsiteY1-4" fmla="*/ 1801267 h 8796527"/>
                <a:gd name="connsiteX2-5" fmla="*/ 4379044 w 5075784"/>
                <a:gd name="connsiteY2-6" fmla="*/ 1801267 h 8796527"/>
                <a:gd name="connsiteX3-7" fmla="*/ 4377552 w 5075784"/>
                <a:gd name="connsiteY3-8" fmla="*/ 1847578 h 8796527"/>
                <a:gd name="connsiteX4-9" fmla="*/ 0 w 5075784"/>
                <a:gd name="connsiteY4-10" fmla="*/ 8796527 h 8796527"/>
                <a:gd name="connsiteX5-11" fmla="*/ 2975545 w 5075784"/>
                <a:gd name="connsiteY5-12" fmla="*/ 1864235 h 8796527"/>
                <a:gd name="connsiteX6-13" fmla="*/ 2980673 w 5075784"/>
                <a:gd name="connsiteY6-14" fmla="*/ 1801267 h 8796527"/>
                <a:gd name="connsiteX7-15" fmla="*/ 2220880 w 5075784"/>
                <a:gd name="connsiteY7-16" fmla="*/ 1801267 h 8796527"/>
                <a:gd name="connsiteX8" fmla="*/ 3682277 w 5075784"/>
                <a:gd name="connsiteY8" fmla="*/ 0 h 8796527"/>
                <a:gd name="connsiteX0-17" fmla="*/ 3696925 w 5090432"/>
                <a:gd name="connsiteY0-18" fmla="*/ 0 h 8975533"/>
                <a:gd name="connsiteX1-19" fmla="*/ 5090432 w 5090432"/>
                <a:gd name="connsiteY1-20" fmla="*/ 1801267 h 8975533"/>
                <a:gd name="connsiteX2-21" fmla="*/ 4393692 w 5090432"/>
                <a:gd name="connsiteY2-22" fmla="*/ 1801267 h 8975533"/>
                <a:gd name="connsiteX3-23" fmla="*/ 4392200 w 5090432"/>
                <a:gd name="connsiteY3-24" fmla="*/ 1847578 h 8975533"/>
                <a:gd name="connsiteX4-25" fmla="*/ 0 w 5090432"/>
                <a:gd name="connsiteY4-26" fmla="*/ 8975533 h 8975533"/>
                <a:gd name="connsiteX5-27" fmla="*/ 2990193 w 5090432"/>
                <a:gd name="connsiteY5-28" fmla="*/ 1864235 h 8975533"/>
                <a:gd name="connsiteX6-29" fmla="*/ 2995321 w 5090432"/>
                <a:gd name="connsiteY6-30" fmla="*/ 1801267 h 8975533"/>
                <a:gd name="connsiteX7-31" fmla="*/ 2235528 w 5090432"/>
                <a:gd name="connsiteY7-32" fmla="*/ 1801267 h 8975533"/>
                <a:gd name="connsiteX8-33" fmla="*/ 3696925 w 5090432"/>
                <a:gd name="connsiteY8-34" fmla="*/ 0 h 8975533"/>
                <a:gd name="connsiteX0-35" fmla="*/ 3816048 w 5209555"/>
                <a:gd name="connsiteY0-36" fmla="*/ 0 h 9109950"/>
                <a:gd name="connsiteX1-37" fmla="*/ 5209555 w 5209555"/>
                <a:gd name="connsiteY1-38" fmla="*/ 1801267 h 9109950"/>
                <a:gd name="connsiteX2-39" fmla="*/ 4512815 w 5209555"/>
                <a:gd name="connsiteY2-40" fmla="*/ 1801267 h 9109950"/>
                <a:gd name="connsiteX3-41" fmla="*/ 4511323 w 5209555"/>
                <a:gd name="connsiteY3-42" fmla="*/ 1847578 h 9109950"/>
                <a:gd name="connsiteX4-43" fmla="*/ 0 w 5209555"/>
                <a:gd name="connsiteY4-44" fmla="*/ 9109950 h 9109950"/>
                <a:gd name="connsiteX5-45" fmla="*/ 3109316 w 5209555"/>
                <a:gd name="connsiteY5-46" fmla="*/ 1864235 h 9109950"/>
                <a:gd name="connsiteX6-47" fmla="*/ 3114444 w 5209555"/>
                <a:gd name="connsiteY6-48" fmla="*/ 1801267 h 9109950"/>
                <a:gd name="connsiteX7-49" fmla="*/ 2354651 w 5209555"/>
                <a:gd name="connsiteY7-50" fmla="*/ 1801267 h 9109950"/>
                <a:gd name="connsiteX8-51" fmla="*/ 3816048 w 5209555"/>
                <a:gd name="connsiteY8-52" fmla="*/ 0 h 9109950"/>
                <a:gd name="connsiteX0-53" fmla="*/ 3845096 w 5238603"/>
                <a:gd name="connsiteY0-54" fmla="*/ 0 h 9134604"/>
                <a:gd name="connsiteX1-55" fmla="*/ 5238603 w 5238603"/>
                <a:gd name="connsiteY1-56" fmla="*/ 1801267 h 9134604"/>
                <a:gd name="connsiteX2-57" fmla="*/ 4541863 w 5238603"/>
                <a:gd name="connsiteY2-58" fmla="*/ 1801267 h 9134604"/>
                <a:gd name="connsiteX3-59" fmla="*/ 4540371 w 5238603"/>
                <a:gd name="connsiteY3-60" fmla="*/ 1847578 h 9134604"/>
                <a:gd name="connsiteX4-61" fmla="*/ 0 w 5238603"/>
                <a:gd name="connsiteY4-62" fmla="*/ 9134604 h 9134604"/>
                <a:gd name="connsiteX5-63" fmla="*/ 3138364 w 5238603"/>
                <a:gd name="connsiteY5-64" fmla="*/ 1864235 h 9134604"/>
                <a:gd name="connsiteX6-65" fmla="*/ 3143492 w 5238603"/>
                <a:gd name="connsiteY6-66" fmla="*/ 1801267 h 9134604"/>
                <a:gd name="connsiteX7-67" fmla="*/ 2383699 w 5238603"/>
                <a:gd name="connsiteY7-68" fmla="*/ 1801267 h 9134604"/>
                <a:gd name="connsiteX8-69" fmla="*/ 3845096 w 5238603"/>
                <a:gd name="connsiteY8-70" fmla="*/ 0 h 9134604"/>
                <a:gd name="connsiteX0-71" fmla="*/ 3868856 w 5262363"/>
                <a:gd name="connsiteY0-72" fmla="*/ 0 h 9204742"/>
                <a:gd name="connsiteX1-73" fmla="*/ 5262363 w 5262363"/>
                <a:gd name="connsiteY1-74" fmla="*/ 1801267 h 9204742"/>
                <a:gd name="connsiteX2-75" fmla="*/ 4565623 w 5262363"/>
                <a:gd name="connsiteY2-76" fmla="*/ 1801267 h 9204742"/>
                <a:gd name="connsiteX3-77" fmla="*/ 4564131 w 5262363"/>
                <a:gd name="connsiteY3-78" fmla="*/ 1847578 h 9204742"/>
                <a:gd name="connsiteX4-79" fmla="*/ 0 w 5262363"/>
                <a:gd name="connsiteY4-80" fmla="*/ 9204742 h 9204742"/>
                <a:gd name="connsiteX5-81" fmla="*/ 3162124 w 5262363"/>
                <a:gd name="connsiteY5-82" fmla="*/ 1864235 h 9204742"/>
                <a:gd name="connsiteX6-83" fmla="*/ 3167252 w 5262363"/>
                <a:gd name="connsiteY6-84" fmla="*/ 1801267 h 9204742"/>
                <a:gd name="connsiteX7-85" fmla="*/ 2407459 w 5262363"/>
                <a:gd name="connsiteY7-86" fmla="*/ 1801267 h 9204742"/>
                <a:gd name="connsiteX8-87" fmla="*/ 3868856 w 5262363"/>
                <a:gd name="connsiteY8-88" fmla="*/ 0 h 9204742"/>
                <a:gd name="connsiteX0-89" fmla="*/ 3868856 w 5262363"/>
                <a:gd name="connsiteY0-90" fmla="*/ 0 h 9204742"/>
                <a:gd name="connsiteX1-91" fmla="*/ 5262363 w 5262363"/>
                <a:gd name="connsiteY1-92" fmla="*/ 1801267 h 9204742"/>
                <a:gd name="connsiteX2-93" fmla="*/ 4565623 w 5262363"/>
                <a:gd name="connsiteY2-94" fmla="*/ 1801267 h 9204742"/>
                <a:gd name="connsiteX3-95" fmla="*/ 4564131 w 5262363"/>
                <a:gd name="connsiteY3-96" fmla="*/ 1847578 h 9204742"/>
                <a:gd name="connsiteX4-97" fmla="*/ 0 w 5262363"/>
                <a:gd name="connsiteY4-98" fmla="*/ 9204742 h 9204742"/>
                <a:gd name="connsiteX5-99" fmla="*/ 3162124 w 5262363"/>
                <a:gd name="connsiteY5-100" fmla="*/ 1864235 h 9204742"/>
                <a:gd name="connsiteX6-101" fmla="*/ 3167252 w 5262363"/>
                <a:gd name="connsiteY6-102" fmla="*/ 1801267 h 9204742"/>
                <a:gd name="connsiteX7-103" fmla="*/ 2407459 w 5262363"/>
                <a:gd name="connsiteY7-104" fmla="*/ 1801267 h 9204742"/>
                <a:gd name="connsiteX8-105" fmla="*/ 3868856 w 5262363"/>
                <a:gd name="connsiteY8-106" fmla="*/ 0 h 9204742"/>
                <a:gd name="connsiteX0-107" fmla="*/ 3868856 w 5262363"/>
                <a:gd name="connsiteY0-108" fmla="*/ 0 h 9204742"/>
                <a:gd name="connsiteX1-109" fmla="*/ 5262363 w 5262363"/>
                <a:gd name="connsiteY1-110" fmla="*/ 1801267 h 9204742"/>
                <a:gd name="connsiteX2-111" fmla="*/ 4565623 w 5262363"/>
                <a:gd name="connsiteY2-112" fmla="*/ 1801267 h 9204742"/>
                <a:gd name="connsiteX3-113" fmla="*/ 4564131 w 5262363"/>
                <a:gd name="connsiteY3-114" fmla="*/ 1847578 h 9204742"/>
                <a:gd name="connsiteX4-115" fmla="*/ 0 w 5262363"/>
                <a:gd name="connsiteY4-116" fmla="*/ 9204742 h 9204742"/>
                <a:gd name="connsiteX5-117" fmla="*/ 3162124 w 5262363"/>
                <a:gd name="connsiteY5-118" fmla="*/ 1864235 h 9204742"/>
                <a:gd name="connsiteX6-119" fmla="*/ 3167252 w 5262363"/>
                <a:gd name="connsiteY6-120" fmla="*/ 1801267 h 9204742"/>
                <a:gd name="connsiteX7-121" fmla="*/ 2407459 w 5262363"/>
                <a:gd name="connsiteY7-122" fmla="*/ 1801267 h 9204742"/>
                <a:gd name="connsiteX8-123" fmla="*/ 3868856 w 5262363"/>
                <a:gd name="connsiteY8-124" fmla="*/ 0 h 9204742"/>
                <a:gd name="connsiteX0-125" fmla="*/ 3828264 w 5221771"/>
                <a:gd name="connsiteY0-126" fmla="*/ 0 h 9299503"/>
                <a:gd name="connsiteX1-127" fmla="*/ 5221771 w 5221771"/>
                <a:gd name="connsiteY1-128" fmla="*/ 1801267 h 9299503"/>
                <a:gd name="connsiteX2-129" fmla="*/ 4525031 w 5221771"/>
                <a:gd name="connsiteY2-130" fmla="*/ 1801267 h 9299503"/>
                <a:gd name="connsiteX3-131" fmla="*/ 4523539 w 5221771"/>
                <a:gd name="connsiteY3-132" fmla="*/ 1847578 h 9299503"/>
                <a:gd name="connsiteX4-133" fmla="*/ -1 w 5221771"/>
                <a:gd name="connsiteY4-134" fmla="*/ 9299502 h 9299503"/>
                <a:gd name="connsiteX5-135" fmla="*/ 3121532 w 5221771"/>
                <a:gd name="connsiteY5-136" fmla="*/ 1864235 h 9299503"/>
                <a:gd name="connsiteX6-137" fmla="*/ 3126660 w 5221771"/>
                <a:gd name="connsiteY6-138" fmla="*/ 1801267 h 9299503"/>
                <a:gd name="connsiteX7-139" fmla="*/ 2366867 w 5221771"/>
                <a:gd name="connsiteY7-140" fmla="*/ 1801267 h 9299503"/>
                <a:gd name="connsiteX8-141" fmla="*/ 3828264 w 5221771"/>
                <a:gd name="connsiteY8-142" fmla="*/ 0 h 9299503"/>
                <a:gd name="connsiteX0-143" fmla="*/ 3828265 w 5221772"/>
                <a:gd name="connsiteY0-144" fmla="*/ 0 h 9299502"/>
                <a:gd name="connsiteX1-145" fmla="*/ 5221772 w 5221772"/>
                <a:gd name="connsiteY1-146" fmla="*/ 1801267 h 9299502"/>
                <a:gd name="connsiteX2-147" fmla="*/ 4525032 w 5221772"/>
                <a:gd name="connsiteY2-148" fmla="*/ 1801267 h 9299502"/>
                <a:gd name="connsiteX3-149" fmla="*/ 4523540 w 5221772"/>
                <a:gd name="connsiteY3-150" fmla="*/ 1847578 h 9299502"/>
                <a:gd name="connsiteX4-151" fmla="*/ 0 w 5221772"/>
                <a:gd name="connsiteY4-152" fmla="*/ 9299502 h 9299502"/>
                <a:gd name="connsiteX5-153" fmla="*/ 3121533 w 5221772"/>
                <a:gd name="connsiteY5-154" fmla="*/ 1864235 h 9299502"/>
                <a:gd name="connsiteX6-155" fmla="*/ 3126661 w 5221772"/>
                <a:gd name="connsiteY6-156" fmla="*/ 1801267 h 9299502"/>
                <a:gd name="connsiteX7-157" fmla="*/ 2366868 w 5221772"/>
                <a:gd name="connsiteY7-158" fmla="*/ 1801267 h 9299502"/>
                <a:gd name="connsiteX8-159" fmla="*/ 3828265 w 5221772"/>
                <a:gd name="connsiteY8-160" fmla="*/ 0 h 9299502"/>
                <a:gd name="connsiteX0-161" fmla="*/ 3828265 w 5221772"/>
                <a:gd name="connsiteY0-162" fmla="*/ 0 h 9299502"/>
                <a:gd name="connsiteX1-163" fmla="*/ 5221772 w 5221772"/>
                <a:gd name="connsiteY1-164" fmla="*/ 1801267 h 9299502"/>
                <a:gd name="connsiteX2-165" fmla="*/ 4525032 w 5221772"/>
                <a:gd name="connsiteY2-166" fmla="*/ 1801267 h 9299502"/>
                <a:gd name="connsiteX3-167" fmla="*/ 4523540 w 5221772"/>
                <a:gd name="connsiteY3-168" fmla="*/ 1847578 h 9299502"/>
                <a:gd name="connsiteX4-169" fmla="*/ 0 w 5221772"/>
                <a:gd name="connsiteY4-170" fmla="*/ 9299502 h 9299502"/>
                <a:gd name="connsiteX5-171" fmla="*/ 3121533 w 5221772"/>
                <a:gd name="connsiteY5-172" fmla="*/ 1864235 h 9299502"/>
                <a:gd name="connsiteX6-173" fmla="*/ 3126661 w 5221772"/>
                <a:gd name="connsiteY6-174" fmla="*/ 1801267 h 9299502"/>
                <a:gd name="connsiteX7-175" fmla="*/ 2366868 w 5221772"/>
                <a:gd name="connsiteY7-176" fmla="*/ 1801267 h 9299502"/>
                <a:gd name="connsiteX8-177" fmla="*/ 3828265 w 5221772"/>
                <a:gd name="connsiteY8-178" fmla="*/ 0 h 9299502"/>
                <a:gd name="connsiteX0-179" fmla="*/ 3828265 w 5221772"/>
                <a:gd name="connsiteY0-180" fmla="*/ 0 h 9299502"/>
                <a:gd name="connsiteX1-181" fmla="*/ 5221772 w 5221772"/>
                <a:gd name="connsiteY1-182" fmla="*/ 1801267 h 9299502"/>
                <a:gd name="connsiteX2-183" fmla="*/ 4525032 w 5221772"/>
                <a:gd name="connsiteY2-184" fmla="*/ 1801267 h 9299502"/>
                <a:gd name="connsiteX3-185" fmla="*/ 4523540 w 5221772"/>
                <a:gd name="connsiteY3-186" fmla="*/ 1847578 h 9299502"/>
                <a:gd name="connsiteX4-187" fmla="*/ 0 w 5221772"/>
                <a:gd name="connsiteY4-188" fmla="*/ 9299502 h 9299502"/>
                <a:gd name="connsiteX5-189" fmla="*/ 3121533 w 5221772"/>
                <a:gd name="connsiteY5-190" fmla="*/ 1864235 h 9299502"/>
                <a:gd name="connsiteX6-191" fmla="*/ 3126661 w 5221772"/>
                <a:gd name="connsiteY6-192" fmla="*/ 1801267 h 9299502"/>
                <a:gd name="connsiteX7-193" fmla="*/ 2366868 w 5221772"/>
                <a:gd name="connsiteY7-194" fmla="*/ 1801267 h 9299502"/>
                <a:gd name="connsiteX8-195" fmla="*/ 3828265 w 5221772"/>
                <a:gd name="connsiteY8-196" fmla="*/ 0 h 9299502"/>
                <a:gd name="connsiteX0-197" fmla="*/ 3828265 w 5221772"/>
                <a:gd name="connsiteY0-198" fmla="*/ 0 h 9299502"/>
                <a:gd name="connsiteX1-199" fmla="*/ 5221772 w 5221772"/>
                <a:gd name="connsiteY1-200" fmla="*/ 1801267 h 9299502"/>
                <a:gd name="connsiteX2-201" fmla="*/ 4525032 w 5221772"/>
                <a:gd name="connsiteY2-202" fmla="*/ 1801267 h 9299502"/>
                <a:gd name="connsiteX3-203" fmla="*/ 4523540 w 5221772"/>
                <a:gd name="connsiteY3-204" fmla="*/ 1847578 h 9299502"/>
                <a:gd name="connsiteX4-205" fmla="*/ 0 w 5221772"/>
                <a:gd name="connsiteY4-206" fmla="*/ 9299502 h 9299502"/>
                <a:gd name="connsiteX5-207" fmla="*/ 3121533 w 5221772"/>
                <a:gd name="connsiteY5-208" fmla="*/ 1864235 h 9299502"/>
                <a:gd name="connsiteX6-209" fmla="*/ 3126661 w 5221772"/>
                <a:gd name="connsiteY6-210" fmla="*/ 1801267 h 9299502"/>
                <a:gd name="connsiteX7-211" fmla="*/ 2366868 w 5221772"/>
                <a:gd name="connsiteY7-212" fmla="*/ 1801267 h 9299502"/>
                <a:gd name="connsiteX8-213" fmla="*/ 3828265 w 5221772"/>
                <a:gd name="connsiteY8-214" fmla="*/ 0 h 9299502"/>
                <a:gd name="connsiteX0-215" fmla="*/ 3828265 w 5221772"/>
                <a:gd name="connsiteY0-216" fmla="*/ 0 h 9299502"/>
                <a:gd name="connsiteX1-217" fmla="*/ 5221772 w 5221772"/>
                <a:gd name="connsiteY1-218" fmla="*/ 1801267 h 9299502"/>
                <a:gd name="connsiteX2-219" fmla="*/ 4525032 w 5221772"/>
                <a:gd name="connsiteY2-220" fmla="*/ 1801267 h 9299502"/>
                <a:gd name="connsiteX3-221" fmla="*/ 4523540 w 5221772"/>
                <a:gd name="connsiteY3-222" fmla="*/ 1847578 h 9299502"/>
                <a:gd name="connsiteX4-223" fmla="*/ 0 w 5221772"/>
                <a:gd name="connsiteY4-224" fmla="*/ 9299502 h 9299502"/>
                <a:gd name="connsiteX5-225" fmla="*/ 3121533 w 5221772"/>
                <a:gd name="connsiteY5-226" fmla="*/ 1864235 h 9299502"/>
                <a:gd name="connsiteX6-227" fmla="*/ 3126661 w 5221772"/>
                <a:gd name="connsiteY6-228" fmla="*/ 1801267 h 9299502"/>
                <a:gd name="connsiteX7-229" fmla="*/ 2366868 w 5221772"/>
                <a:gd name="connsiteY7-230" fmla="*/ 1801267 h 9299502"/>
                <a:gd name="connsiteX8-231" fmla="*/ 3828265 w 5221772"/>
                <a:gd name="connsiteY8-232" fmla="*/ 0 h 9299502"/>
                <a:gd name="connsiteX0-233" fmla="*/ 4239505 w 5633012"/>
                <a:gd name="connsiteY0-234" fmla="*/ 0 h 10063093"/>
                <a:gd name="connsiteX1-235" fmla="*/ 5633012 w 5633012"/>
                <a:gd name="connsiteY1-236" fmla="*/ 1801267 h 10063093"/>
                <a:gd name="connsiteX2-237" fmla="*/ 4936272 w 5633012"/>
                <a:gd name="connsiteY2-238" fmla="*/ 1801267 h 10063093"/>
                <a:gd name="connsiteX3-239" fmla="*/ 4934780 w 5633012"/>
                <a:gd name="connsiteY3-240" fmla="*/ 1847578 h 10063093"/>
                <a:gd name="connsiteX4-241" fmla="*/ 0 w 5633012"/>
                <a:gd name="connsiteY4-242" fmla="*/ 10063093 h 10063093"/>
                <a:gd name="connsiteX5-243" fmla="*/ 3532773 w 5633012"/>
                <a:gd name="connsiteY5-244" fmla="*/ 1864235 h 10063093"/>
                <a:gd name="connsiteX6-245" fmla="*/ 3537901 w 5633012"/>
                <a:gd name="connsiteY6-246" fmla="*/ 1801267 h 10063093"/>
                <a:gd name="connsiteX7-247" fmla="*/ 2778108 w 5633012"/>
                <a:gd name="connsiteY7-248" fmla="*/ 1801267 h 10063093"/>
                <a:gd name="connsiteX8-249" fmla="*/ 4239505 w 5633012"/>
                <a:gd name="connsiteY8-250" fmla="*/ 0 h 10063093"/>
                <a:gd name="connsiteX0-251" fmla="*/ 4344521 w 5738028"/>
                <a:gd name="connsiteY0-252" fmla="*/ 0 h 10143555"/>
                <a:gd name="connsiteX1-253" fmla="*/ 5738028 w 5738028"/>
                <a:gd name="connsiteY1-254" fmla="*/ 1801267 h 10143555"/>
                <a:gd name="connsiteX2-255" fmla="*/ 5041288 w 5738028"/>
                <a:gd name="connsiteY2-256" fmla="*/ 1801267 h 10143555"/>
                <a:gd name="connsiteX3-257" fmla="*/ 5039796 w 5738028"/>
                <a:gd name="connsiteY3-258" fmla="*/ 1847578 h 10143555"/>
                <a:gd name="connsiteX4-259" fmla="*/ 0 w 5738028"/>
                <a:gd name="connsiteY4-260" fmla="*/ 10143555 h 10143555"/>
                <a:gd name="connsiteX5-261" fmla="*/ 3637789 w 5738028"/>
                <a:gd name="connsiteY5-262" fmla="*/ 1864235 h 10143555"/>
                <a:gd name="connsiteX6-263" fmla="*/ 3642917 w 5738028"/>
                <a:gd name="connsiteY6-264" fmla="*/ 1801267 h 10143555"/>
                <a:gd name="connsiteX7-265" fmla="*/ 2883124 w 5738028"/>
                <a:gd name="connsiteY7-266" fmla="*/ 1801267 h 10143555"/>
                <a:gd name="connsiteX8-267" fmla="*/ 4344521 w 5738028"/>
                <a:gd name="connsiteY8-268" fmla="*/ 0 h 1014355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6071" h="10462">
                  <a:moveTo>
                    <a:pt x="6071" y="89"/>
                  </a:moveTo>
                  <a:lnTo>
                    <a:pt x="6011" y="260"/>
                  </a:lnTo>
                  <a:lnTo>
                    <a:pt x="5943" y="449"/>
                  </a:lnTo>
                  <a:lnTo>
                    <a:pt x="5871" y="644"/>
                  </a:lnTo>
                  <a:lnTo>
                    <a:pt x="5797" y="843"/>
                  </a:lnTo>
                  <a:lnTo>
                    <a:pt x="5719" y="1047"/>
                  </a:lnTo>
                  <a:lnTo>
                    <a:pt x="5638" y="1255"/>
                  </a:lnTo>
                  <a:lnTo>
                    <a:pt x="5554" y="1467"/>
                  </a:lnTo>
                  <a:lnTo>
                    <a:pt x="5466" y="1683"/>
                  </a:lnTo>
                  <a:lnTo>
                    <a:pt x="5376" y="1903"/>
                  </a:lnTo>
                  <a:lnTo>
                    <a:pt x="5282" y="2126"/>
                  </a:lnTo>
                  <a:lnTo>
                    <a:pt x="5185" y="2352"/>
                  </a:lnTo>
                  <a:lnTo>
                    <a:pt x="5086" y="2581"/>
                  </a:lnTo>
                  <a:lnTo>
                    <a:pt x="4983" y="2812"/>
                  </a:lnTo>
                  <a:lnTo>
                    <a:pt x="4878" y="3046"/>
                  </a:lnTo>
                  <a:lnTo>
                    <a:pt x="4770" y="3282"/>
                  </a:lnTo>
                  <a:lnTo>
                    <a:pt x="4658" y="3520"/>
                  </a:lnTo>
                  <a:lnTo>
                    <a:pt x="4544" y="3759"/>
                  </a:lnTo>
                  <a:lnTo>
                    <a:pt x="4428" y="4000"/>
                  </a:lnTo>
                  <a:lnTo>
                    <a:pt x="4308" y="4242"/>
                  </a:lnTo>
                  <a:lnTo>
                    <a:pt x="4186" y="4485"/>
                  </a:lnTo>
                  <a:lnTo>
                    <a:pt x="4061" y="4728"/>
                  </a:lnTo>
                  <a:lnTo>
                    <a:pt x="3934" y="4972"/>
                  </a:lnTo>
                  <a:lnTo>
                    <a:pt x="3804" y="5216"/>
                  </a:lnTo>
                  <a:lnTo>
                    <a:pt x="3671" y="5460"/>
                  </a:lnTo>
                  <a:lnTo>
                    <a:pt x="3536" y="5703"/>
                  </a:lnTo>
                  <a:lnTo>
                    <a:pt x="3398" y="5946"/>
                  </a:lnTo>
                  <a:lnTo>
                    <a:pt x="3258" y="6188"/>
                  </a:lnTo>
                  <a:lnTo>
                    <a:pt x="3116" y="6429"/>
                  </a:lnTo>
                  <a:lnTo>
                    <a:pt x="2971" y="6668"/>
                  </a:lnTo>
                  <a:lnTo>
                    <a:pt x="2824" y="6906"/>
                  </a:lnTo>
                  <a:lnTo>
                    <a:pt x="2674" y="7142"/>
                  </a:lnTo>
                  <a:lnTo>
                    <a:pt x="2523" y="7376"/>
                  </a:lnTo>
                  <a:lnTo>
                    <a:pt x="2369" y="7607"/>
                  </a:lnTo>
                  <a:lnTo>
                    <a:pt x="2213" y="7836"/>
                  </a:lnTo>
                  <a:lnTo>
                    <a:pt x="2054" y="8062"/>
                  </a:lnTo>
                  <a:lnTo>
                    <a:pt x="1894" y="8285"/>
                  </a:lnTo>
                  <a:lnTo>
                    <a:pt x="1731" y="8504"/>
                  </a:lnTo>
                  <a:lnTo>
                    <a:pt x="1567" y="8720"/>
                  </a:lnTo>
                  <a:lnTo>
                    <a:pt x="1400" y="8932"/>
                  </a:lnTo>
                  <a:lnTo>
                    <a:pt x="1232" y="9141"/>
                  </a:lnTo>
                  <a:lnTo>
                    <a:pt x="1061" y="9344"/>
                  </a:lnTo>
                  <a:lnTo>
                    <a:pt x="889" y="9543"/>
                  </a:lnTo>
                  <a:lnTo>
                    <a:pt x="715" y="9738"/>
                  </a:lnTo>
                  <a:lnTo>
                    <a:pt x="539" y="9927"/>
                  </a:lnTo>
                  <a:lnTo>
                    <a:pt x="361" y="10111"/>
                  </a:lnTo>
                  <a:lnTo>
                    <a:pt x="181" y="10289"/>
                  </a:lnTo>
                  <a:lnTo>
                    <a:pt x="0" y="10461"/>
                  </a:lnTo>
                  <a:lnTo>
                    <a:pt x="136" y="10287"/>
                  </a:lnTo>
                  <a:lnTo>
                    <a:pt x="270" y="10108"/>
                  </a:lnTo>
                  <a:lnTo>
                    <a:pt x="403" y="9923"/>
                  </a:lnTo>
                  <a:lnTo>
                    <a:pt x="534" y="9732"/>
                  </a:lnTo>
                  <a:lnTo>
                    <a:pt x="663" y="9537"/>
                  </a:lnTo>
                  <a:lnTo>
                    <a:pt x="791" y="9338"/>
                  </a:lnTo>
                  <a:lnTo>
                    <a:pt x="917" y="9134"/>
                  </a:lnTo>
                  <a:lnTo>
                    <a:pt x="1041" y="8925"/>
                  </a:lnTo>
                  <a:lnTo>
                    <a:pt x="1164" y="8713"/>
                  </a:lnTo>
                  <a:lnTo>
                    <a:pt x="1285" y="8497"/>
                  </a:lnTo>
                  <a:lnTo>
                    <a:pt x="1404" y="8278"/>
                  </a:lnTo>
                  <a:lnTo>
                    <a:pt x="1521" y="8055"/>
                  </a:lnTo>
                  <a:lnTo>
                    <a:pt x="1636" y="7830"/>
                  </a:lnTo>
                  <a:lnTo>
                    <a:pt x="1750" y="7602"/>
                  </a:lnTo>
                  <a:lnTo>
                    <a:pt x="1862" y="7371"/>
                  </a:lnTo>
                  <a:lnTo>
                    <a:pt x="1972" y="7138"/>
                  </a:lnTo>
                  <a:lnTo>
                    <a:pt x="2080" y="6903"/>
                  </a:lnTo>
                  <a:lnTo>
                    <a:pt x="2187" y="6666"/>
                  </a:lnTo>
                  <a:lnTo>
                    <a:pt x="2291" y="6428"/>
                  </a:lnTo>
                  <a:lnTo>
                    <a:pt x="2394" y="6189"/>
                  </a:lnTo>
                  <a:lnTo>
                    <a:pt x="2494" y="5948"/>
                  </a:lnTo>
                  <a:lnTo>
                    <a:pt x="2593" y="5707"/>
                  </a:lnTo>
                  <a:lnTo>
                    <a:pt x="2690" y="5465"/>
                  </a:lnTo>
                  <a:lnTo>
                    <a:pt x="2784" y="5223"/>
                  </a:lnTo>
                  <a:lnTo>
                    <a:pt x="2877" y="4980"/>
                  </a:lnTo>
                  <a:lnTo>
                    <a:pt x="2968" y="4738"/>
                  </a:lnTo>
                  <a:lnTo>
                    <a:pt x="3057" y="4497"/>
                  </a:lnTo>
                  <a:lnTo>
                    <a:pt x="3144" y="4255"/>
                  </a:lnTo>
                  <a:lnTo>
                    <a:pt x="3228" y="4015"/>
                  </a:lnTo>
                  <a:lnTo>
                    <a:pt x="3311" y="3776"/>
                  </a:lnTo>
                  <a:lnTo>
                    <a:pt x="3392" y="3538"/>
                  </a:lnTo>
                  <a:lnTo>
                    <a:pt x="3470" y="3302"/>
                  </a:lnTo>
                  <a:lnTo>
                    <a:pt x="3546" y="3068"/>
                  </a:lnTo>
                  <a:lnTo>
                    <a:pt x="3621" y="2836"/>
                  </a:lnTo>
                  <a:lnTo>
                    <a:pt x="3693" y="2606"/>
                  </a:lnTo>
                  <a:lnTo>
                    <a:pt x="3763" y="2378"/>
                  </a:lnTo>
                  <a:lnTo>
                    <a:pt x="3831" y="2154"/>
                  </a:lnTo>
                  <a:lnTo>
                    <a:pt x="3896" y="1932"/>
                  </a:lnTo>
                  <a:lnTo>
                    <a:pt x="3960" y="1714"/>
                  </a:lnTo>
                  <a:lnTo>
                    <a:pt x="4021" y="1499"/>
                  </a:lnTo>
                  <a:lnTo>
                    <a:pt x="4080" y="1288"/>
                  </a:lnTo>
                  <a:lnTo>
                    <a:pt x="4137" y="1081"/>
                  </a:lnTo>
                  <a:cubicBezTo>
                    <a:pt x="4250" y="673"/>
                    <a:pt x="4422" y="-26"/>
                    <a:pt x="4414" y="0"/>
                  </a:cubicBezTo>
                  <a:lnTo>
                    <a:pt x="6071" y="89"/>
                  </a:lnTo>
                  <a:close/>
                </a:path>
              </a:pathLst>
            </a:custGeom>
            <a:gradFill flip="none" rotWithShape="1">
              <a:gsLst>
                <a:gs pos="23000">
                  <a:schemeClr val="accent1"/>
                </a:gs>
                <a:gs pos="100000">
                  <a:schemeClr val="accent1">
                    <a:lumMod val="60000"/>
                    <a:lumOff val="40000"/>
                  </a:schemeClr>
                </a:gs>
              </a:gsLst>
              <a:lin ang="0"/>
            </a:gradFill>
            <a:ln w="38100">
              <a:no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8" name="任意多边形: 形状 30"/>
            <p:cNvSpPr/>
            <p:nvPr/>
          </p:nvSpPr>
          <p:spPr>
            <a:xfrm rot="2754681">
              <a:off x="12856" y="2360"/>
              <a:ext cx="3753" cy="4701"/>
            </a:xfrm>
            <a:custGeom>
              <a:avLst/>
              <a:gdLst>
                <a:gd name="connsiteX0" fmla="*/ 3861035 w 5254542"/>
                <a:gd name="connsiteY0" fmla="*/ 0 h 8448519"/>
                <a:gd name="connsiteX1" fmla="*/ 5254542 w 5254542"/>
                <a:gd name="connsiteY1" fmla="*/ 1801267 h 8448519"/>
                <a:gd name="connsiteX2" fmla="*/ 4557802 w 5254542"/>
                <a:gd name="connsiteY2" fmla="*/ 1801267 h 8448519"/>
                <a:gd name="connsiteX3" fmla="*/ 4556310 w 5254542"/>
                <a:gd name="connsiteY3" fmla="*/ 1847578 h 8448519"/>
                <a:gd name="connsiteX4" fmla="*/ 0 w 5254542"/>
                <a:gd name="connsiteY4" fmla="*/ 8448519 h 8448519"/>
                <a:gd name="connsiteX5" fmla="*/ 3154303 w 5254542"/>
                <a:gd name="connsiteY5" fmla="*/ 1864235 h 8448519"/>
                <a:gd name="connsiteX6" fmla="*/ 3159431 w 5254542"/>
                <a:gd name="connsiteY6" fmla="*/ 1801267 h 8448519"/>
                <a:gd name="connsiteX7" fmla="*/ 2399638 w 5254542"/>
                <a:gd name="connsiteY7" fmla="*/ 1801267 h 8448519"/>
                <a:gd name="connsiteX0-1" fmla="*/ 3682277 w 5075784"/>
                <a:gd name="connsiteY0-2" fmla="*/ 0 h 8796527"/>
                <a:gd name="connsiteX1-3" fmla="*/ 5075784 w 5075784"/>
                <a:gd name="connsiteY1-4" fmla="*/ 1801267 h 8796527"/>
                <a:gd name="connsiteX2-5" fmla="*/ 4379044 w 5075784"/>
                <a:gd name="connsiteY2-6" fmla="*/ 1801267 h 8796527"/>
                <a:gd name="connsiteX3-7" fmla="*/ 4377552 w 5075784"/>
                <a:gd name="connsiteY3-8" fmla="*/ 1847578 h 8796527"/>
                <a:gd name="connsiteX4-9" fmla="*/ 0 w 5075784"/>
                <a:gd name="connsiteY4-10" fmla="*/ 8796527 h 8796527"/>
                <a:gd name="connsiteX5-11" fmla="*/ 2975545 w 5075784"/>
                <a:gd name="connsiteY5-12" fmla="*/ 1864235 h 8796527"/>
                <a:gd name="connsiteX6-13" fmla="*/ 2980673 w 5075784"/>
                <a:gd name="connsiteY6-14" fmla="*/ 1801267 h 8796527"/>
                <a:gd name="connsiteX7-15" fmla="*/ 2220880 w 5075784"/>
                <a:gd name="connsiteY7-16" fmla="*/ 1801267 h 8796527"/>
                <a:gd name="connsiteX8" fmla="*/ 3682277 w 5075784"/>
                <a:gd name="connsiteY8" fmla="*/ 0 h 8796527"/>
                <a:gd name="connsiteX0-17" fmla="*/ 3696925 w 5090432"/>
                <a:gd name="connsiteY0-18" fmla="*/ 0 h 8975533"/>
                <a:gd name="connsiteX1-19" fmla="*/ 5090432 w 5090432"/>
                <a:gd name="connsiteY1-20" fmla="*/ 1801267 h 8975533"/>
                <a:gd name="connsiteX2-21" fmla="*/ 4393692 w 5090432"/>
                <a:gd name="connsiteY2-22" fmla="*/ 1801267 h 8975533"/>
                <a:gd name="connsiteX3-23" fmla="*/ 4392200 w 5090432"/>
                <a:gd name="connsiteY3-24" fmla="*/ 1847578 h 8975533"/>
                <a:gd name="connsiteX4-25" fmla="*/ 0 w 5090432"/>
                <a:gd name="connsiteY4-26" fmla="*/ 8975533 h 8975533"/>
                <a:gd name="connsiteX5-27" fmla="*/ 2990193 w 5090432"/>
                <a:gd name="connsiteY5-28" fmla="*/ 1864235 h 8975533"/>
                <a:gd name="connsiteX6-29" fmla="*/ 2995321 w 5090432"/>
                <a:gd name="connsiteY6-30" fmla="*/ 1801267 h 8975533"/>
                <a:gd name="connsiteX7-31" fmla="*/ 2235528 w 5090432"/>
                <a:gd name="connsiteY7-32" fmla="*/ 1801267 h 8975533"/>
                <a:gd name="connsiteX8-33" fmla="*/ 3696925 w 5090432"/>
                <a:gd name="connsiteY8-34" fmla="*/ 0 h 8975533"/>
                <a:gd name="connsiteX0-35" fmla="*/ 3816048 w 5209555"/>
                <a:gd name="connsiteY0-36" fmla="*/ 0 h 9109950"/>
                <a:gd name="connsiteX1-37" fmla="*/ 5209555 w 5209555"/>
                <a:gd name="connsiteY1-38" fmla="*/ 1801267 h 9109950"/>
                <a:gd name="connsiteX2-39" fmla="*/ 4512815 w 5209555"/>
                <a:gd name="connsiteY2-40" fmla="*/ 1801267 h 9109950"/>
                <a:gd name="connsiteX3-41" fmla="*/ 4511323 w 5209555"/>
                <a:gd name="connsiteY3-42" fmla="*/ 1847578 h 9109950"/>
                <a:gd name="connsiteX4-43" fmla="*/ 0 w 5209555"/>
                <a:gd name="connsiteY4-44" fmla="*/ 9109950 h 9109950"/>
                <a:gd name="connsiteX5-45" fmla="*/ 3109316 w 5209555"/>
                <a:gd name="connsiteY5-46" fmla="*/ 1864235 h 9109950"/>
                <a:gd name="connsiteX6-47" fmla="*/ 3114444 w 5209555"/>
                <a:gd name="connsiteY6-48" fmla="*/ 1801267 h 9109950"/>
                <a:gd name="connsiteX7-49" fmla="*/ 2354651 w 5209555"/>
                <a:gd name="connsiteY7-50" fmla="*/ 1801267 h 9109950"/>
                <a:gd name="connsiteX8-51" fmla="*/ 3816048 w 5209555"/>
                <a:gd name="connsiteY8-52" fmla="*/ 0 h 9109950"/>
                <a:gd name="connsiteX0-53" fmla="*/ 3845096 w 5238603"/>
                <a:gd name="connsiteY0-54" fmla="*/ 0 h 9134604"/>
                <a:gd name="connsiteX1-55" fmla="*/ 5238603 w 5238603"/>
                <a:gd name="connsiteY1-56" fmla="*/ 1801267 h 9134604"/>
                <a:gd name="connsiteX2-57" fmla="*/ 4541863 w 5238603"/>
                <a:gd name="connsiteY2-58" fmla="*/ 1801267 h 9134604"/>
                <a:gd name="connsiteX3-59" fmla="*/ 4540371 w 5238603"/>
                <a:gd name="connsiteY3-60" fmla="*/ 1847578 h 9134604"/>
                <a:gd name="connsiteX4-61" fmla="*/ 0 w 5238603"/>
                <a:gd name="connsiteY4-62" fmla="*/ 9134604 h 9134604"/>
                <a:gd name="connsiteX5-63" fmla="*/ 3138364 w 5238603"/>
                <a:gd name="connsiteY5-64" fmla="*/ 1864235 h 9134604"/>
                <a:gd name="connsiteX6-65" fmla="*/ 3143492 w 5238603"/>
                <a:gd name="connsiteY6-66" fmla="*/ 1801267 h 9134604"/>
                <a:gd name="connsiteX7-67" fmla="*/ 2383699 w 5238603"/>
                <a:gd name="connsiteY7-68" fmla="*/ 1801267 h 9134604"/>
                <a:gd name="connsiteX8-69" fmla="*/ 3845096 w 5238603"/>
                <a:gd name="connsiteY8-70" fmla="*/ 0 h 9134604"/>
                <a:gd name="connsiteX0-71" fmla="*/ 3868856 w 5262363"/>
                <a:gd name="connsiteY0-72" fmla="*/ 0 h 9204742"/>
                <a:gd name="connsiteX1-73" fmla="*/ 5262363 w 5262363"/>
                <a:gd name="connsiteY1-74" fmla="*/ 1801267 h 9204742"/>
                <a:gd name="connsiteX2-75" fmla="*/ 4565623 w 5262363"/>
                <a:gd name="connsiteY2-76" fmla="*/ 1801267 h 9204742"/>
                <a:gd name="connsiteX3-77" fmla="*/ 4564131 w 5262363"/>
                <a:gd name="connsiteY3-78" fmla="*/ 1847578 h 9204742"/>
                <a:gd name="connsiteX4-79" fmla="*/ 0 w 5262363"/>
                <a:gd name="connsiteY4-80" fmla="*/ 9204742 h 9204742"/>
                <a:gd name="connsiteX5-81" fmla="*/ 3162124 w 5262363"/>
                <a:gd name="connsiteY5-82" fmla="*/ 1864235 h 9204742"/>
                <a:gd name="connsiteX6-83" fmla="*/ 3167252 w 5262363"/>
                <a:gd name="connsiteY6-84" fmla="*/ 1801267 h 9204742"/>
                <a:gd name="connsiteX7-85" fmla="*/ 2407459 w 5262363"/>
                <a:gd name="connsiteY7-86" fmla="*/ 1801267 h 9204742"/>
                <a:gd name="connsiteX8-87" fmla="*/ 3868856 w 5262363"/>
                <a:gd name="connsiteY8-88" fmla="*/ 0 h 9204742"/>
                <a:gd name="connsiteX0-89" fmla="*/ 3868856 w 5262363"/>
                <a:gd name="connsiteY0-90" fmla="*/ 0 h 9204742"/>
                <a:gd name="connsiteX1-91" fmla="*/ 5262363 w 5262363"/>
                <a:gd name="connsiteY1-92" fmla="*/ 1801267 h 9204742"/>
                <a:gd name="connsiteX2-93" fmla="*/ 4565623 w 5262363"/>
                <a:gd name="connsiteY2-94" fmla="*/ 1801267 h 9204742"/>
                <a:gd name="connsiteX3-95" fmla="*/ 4564131 w 5262363"/>
                <a:gd name="connsiteY3-96" fmla="*/ 1847578 h 9204742"/>
                <a:gd name="connsiteX4-97" fmla="*/ 0 w 5262363"/>
                <a:gd name="connsiteY4-98" fmla="*/ 9204742 h 9204742"/>
                <a:gd name="connsiteX5-99" fmla="*/ 3162124 w 5262363"/>
                <a:gd name="connsiteY5-100" fmla="*/ 1864235 h 9204742"/>
                <a:gd name="connsiteX6-101" fmla="*/ 3167252 w 5262363"/>
                <a:gd name="connsiteY6-102" fmla="*/ 1801267 h 9204742"/>
                <a:gd name="connsiteX7-103" fmla="*/ 2407459 w 5262363"/>
                <a:gd name="connsiteY7-104" fmla="*/ 1801267 h 9204742"/>
                <a:gd name="connsiteX8-105" fmla="*/ 3868856 w 5262363"/>
                <a:gd name="connsiteY8-106" fmla="*/ 0 h 9204742"/>
                <a:gd name="connsiteX0-107" fmla="*/ 3868856 w 5262363"/>
                <a:gd name="connsiteY0-108" fmla="*/ 0 h 9204742"/>
                <a:gd name="connsiteX1-109" fmla="*/ 5262363 w 5262363"/>
                <a:gd name="connsiteY1-110" fmla="*/ 1801267 h 9204742"/>
                <a:gd name="connsiteX2-111" fmla="*/ 4565623 w 5262363"/>
                <a:gd name="connsiteY2-112" fmla="*/ 1801267 h 9204742"/>
                <a:gd name="connsiteX3-113" fmla="*/ 4564131 w 5262363"/>
                <a:gd name="connsiteY3-114" fmla="*/ 1847578 h 9204742"/>
                <a:gd name="connsiteX4-115" fmla="*/ 0 w 5262363"/>
                <a:gd name="connsiteY4-116" fmla="*/ 9204742 h 9204742"/>
                <a:gd name="connsiteX5-117" fmla="*/ 3162124 w 5262363"/>
                <a:gd name="connsiteY5-118" fmla="*/ 1864235 h 9204742"/>
                <a:gd name="connsiteX6-119" fmla="*/ 3167252 w 5262363"/>
                <a:gd name="connsiteY6-120" fmla="*/ 1801267 h 9204742"/>
                <a:gd name="connsiteX7-121" fmla="*/ 2407459 w 5262363"/>
                <a:gd name="connsiteY7-122" fmla="*/ 1801267 h 9204742"/>
                <a:gd name="connsiteX8-123" fmla="*/ 3868856 w 5262363"/>
                <a:gd name="connsiteY8-124" fmla="*/ 0 h 9204742"/>
                <a:gd name="connsiteX0-125" fmla="*/ 3828264 w 5221771"/>
                <a:gd name="connsiteY0-126" fmla="*/ 0 h 9299503"/>
                <a:gd name="connsiteX1-127" fmla="*/ 5221771 w 5221771"/>
                <a:gd name="connsiteY1-128" fmla="*/ 1801267 h 9299503"/>
                <a:gd name="connsiteX2-129" fmla="*/ 4525031 w 5221771"/>
                <a:gd name="connsiteY2-130" fmla="*/ 1801267 h 9299503"/>
                <a:gd name="connsiteX3-131" fmla="*/ 4523539 w 5221771"/>
                <a:gd name="connsiteY3-132" fmla="*/ 1847578 h 9299503"/>
                <a:gd name="connsiteX4-133" fmla="*/ -1 w 5221771"/>
                <a:gd name="connsiteY4-134" fmla="*/ 9299502 h 9299503"/>
                <a:gd name="connsiteX5-135" fmla="*/ 3121532 w 5221771"/>
                <a:gd name="connsiteY5-136" fmla="*/ 1864235 h 9299503"/>
                <a:gd name="connsiteX6-137" fmla="*/ 3126660 w 5221771"/>
                <a:gd name="connsiteY6-138" fmla="*/ 1801267 h 9299503"/>
                <a:gd name="connsiteX7-139" fmla="*/ 2366867 w 5221771"/>
                <a:gd name="connsiteY7-140" fmla="*/ 1801267 h 9299503"/>
                <a:gd name="connsiteX8-141" fmla="*/ 3828264 w 5221771"/>
                <a:gd name="connsiteY8-142" fmla="*/ 0 h 9299503"/>
                <a:gd name="connsiteX0-143" fmla="*/ 3828265 w 5221772"/>
                <a:gd name="connsiteY0-144" fmla="*/ 0 h 9299502"/>
                <a:gd name="connsiteX1-145" fmla="*/ 5221772 w 5221772"/>
                <a:gd name="connsiteY1-146" fmla="*/ 1801267 h 9299502"/>
                <a:gd name="connsiteX2-147" fmla="*/ 4525032 w 5221772"/>
                <a:gd name="connsiteY2-148" fmla="*/ 1801267 h 9299502"/>
                <a:gd name="connsiteX3-149" fmla="*/ 4523540 w 5221772"/>
                <a:gd name="connsiteY3-150" fmla="*/ 1847578 h 9299502"/>
                <a:gd name="connsiteX4-151" fmla="*/ 0 w 5221772"/>
                <a:gd name="connsiteY4-152" fmla="*/ 9299502 h 9299502"/>
                <a:gd name="connsiteX5-153" fmla="*/ 3121533 w 5221772"/>
                <a:gd name="connsiteY5-154" fmla="*/ 1864235 h 9299502"/>
                <a:gd name="connsiteX6-155" fmla="*/ 3126661 w 5221772"/>
                <a:gd name="connsiteY6-156" fmla="*/ 1801267 h 9299502"/>
                <a:gd name="connsiteX7-157" fmla="*/ 2366868 w 5221772"/>
                <a:gd name="connsiteY7-158" fmla="*/ 1801267 h 9299502"/>
                <a:gd name="connsiteX8-159" fmla="*/ 3828265 w 5221772"/>
                <a:gd name="connsiteY8-160" fmla="*/ 0 h 9299502"/>
                <a:gd name="connsiteX0-161" fmla="*/ 3828265 w 5221772"/>
                <a:gd name="connsiteY0-162" fmla="*/ 0 h 9299502"/>
                <a:gd name="connsiteX1-163" fmla="*/ 5221772 w 5221772"/>
                <a:gd name="connsiteY1-164" fmla="*/ 1801267 h 9299502"/>
                <a:gd name="connsiteX2-165" fmla="*/ 4525032 w 5221772"/>
                <a:gd name="connsiteY2-166" fmla="*/ 1801267 h 9299502"/>
                <a:gd name="connsiteX3-167" fmla="*/ 4523540 w 5221772"/>
                <a:gd name="connsiteY3-168" fmla="*/ 1847578 h 9299502"/>
                <a:gd name="connsiteX4-169" fmla="*/ 0 w 5221772"/>
                <a:gd name="connsiteY4-170" fmla="*/ 9299502 h 9299502"/>
                <a:gd name="connsiteX5-171" fmla="*/ 3121533 w 5221772"/>
                <a:gd name="connsiteY5-172" fmla="*/ 1864235 h 9299502"/>
                <a:gd name="connsiteX6-173" fmla="*/ 3126661 w 5221772"/>
                <a:gd name="connsiteY6-174" fmla="*/ 1801267 h 9299502"/>
                <a:gd name="connsiteX7-175" fmla="*/ 2366868 w 5221772"/>
                <a:gd name="connsiteY7-176" fmla="*/ 1801267 h 9299502"/>
                <a:gd name="connsiteX8-177" fmla="*/ 3828265 w 5221772"/>
                <a:gd name="connsiteY8-178" fmla="*/ 0 h 9299502"/>
                <a:gd name="connsiteX0-179" fmla="*/ 3828265 w 5221772"/>
                <a:gd name="connsiteY0-180" fmla="*/ 0 h 9299502"/>
                <a:gd name="connsiteX1-181" fmla="*/ 5221772 w 5221772"/>
                <a:gd name="connsiteY1-182" fmla="*/ 1801267 h 9299502"/>
                <a:gd name="connsiteX2-183" fmla="*/ 4525032 w 5221772"/>
                <a:gd name="connsiteY2-184" fmla="*/ 1801267 h 9299502"/>
                <a:gd name="connsiteX3-185" fmla="*/ 4523540 w 5221772"/>
                <a:gd name="connsiteY3-186" fmla="*/ 1847578 h 9299502"/>
                <a:gd name="connsiteX4-187" fmla="*/ 0 w 5221772"/>
                <a:gd name="connsiteY4-188" fmla="*/ 9299502 h 9299502"/>
                <a:gd name="connsiteX5-189" fmla="*/ 3121533 w 5221772"/>
                <a:gd name="connsiteY5-190" fmla="*/ 1864235 h 9299502"/>
                <a:gd name="connsiteX6-191" fmla="*/ 3126661 w 5221772"/>
                <a:gd name="connsiteY6-192" fmla="*/ 1801267 h 9299502"/>
                <a:gd name="connsiteX7-193" fmla="*/ 2366868 w 5221772"/>
                <a:gd name="connsiteY7-194" fmla="*/ 1801267 h 9299502"/>
                <a:gd name="connsiteX8-195" fmla="*/ 3828265 w 5221772"/>
                <a:gd name="connsiteY8-196" fmla="*/ 0 h 9299502"/>
                <a:gd name="connsiteX0-197" fmla="*/ 3828265 w 5221772"/>
                <a:gd name="connsiteY0-198" fmla="*/ 0 h 9299502"/>
                <a:gd name="connsiteX1-199" fmla="*/ 5221772 w 5221772"/>
                <a:gd name="connsiteY1-200" fmla="*/ 1801267 h 9299502"/>
                <a:gd name="connsiteX2-201" fmla="*/ 4525032 w 5221772"/>
                <a:gd name="connsiteY2-202" fmla="*/ 1801267 h 9299502"/>
                <a:gd name="connsiteX3-203" fmla="*/ 4523540 w 5221772"/>
                <a:gd name="connsiteY3-204" fmla="*/ 1847578 h 9299502"/>
                <a:gd name="connsiteX4-205" fmla="*/ 0 w 5221772"/>
                <a:gd name="connsiteY4-206" fmla="*/ 9299502 h 9299502"/>
                <a:gd name="connsiteX5-207" fmla="*/ 3121533 w 5221772"/>
                <a:gd name="connsiteY5-208" fmla="*/ 1864235 h 9299502"/>
                <a:gd name="connsiteX6-209" fmla="*/ 3126661 w 5221772"/>
                <a:gd name="connsiteY6-210" fmla="*/ 1801267 h 9299502"/>
                <a:gd name="connsiteX7-211" fmla="*/ 2366868 w 5221772"/>
                <a:gd name="connsiteY7-212" fmla="*/ 1801267 h 9299502"/>
                <a:gd name="connsiteX8-213" fmla="*/ 3828265 w 5221772"/>
                <a:gd name="connsiteY8-214" fmla="*/ 0 h 9299502"/>
                <a:gd name="connsiteX0-215" fmla="*/ 3828265 w 5221772"/>
                <a:gd name="connsiteY0-216" fmla="*/ 0 h 9299502"/>
                <a:gd name="connsiteX1-217" fmla="*/ 5221772 w 5221772"/>
                <a:gd name="connsiteY1-218" fmla="*/ 1801267 h 9299502"/>
                <a:gd name="connsiteX2-219" fmla="*/ 4525032 w 5221772"/>
                <a:gd name="connsiteY2-220" fmla="*/ 1801267 h 9299502"/>
                <a:gd name="connsiteX3-221" fmla="*/ 4523540 w 5221772"/>
                <a:gd name="connsiteY3-222" fmla="*/ 1847578 h 9299502"/>
                <a:gd name="connsiteX4-223" fmla="*/ 0 w 5221772"/>
                <a:gd name="connsiteY4-224" fmla="*/ 9299502 h 9299502"/>
                <a:gd name="connsiteX5-225" fmla="*/ 3121533 w 5221772"/>
                <a:gd name="connsiteY5-226" fmla="*/ 1864235 h 9299502"/>
                <a:gd name="connsiteX6-227" fmla="*/ 3126661 w 5221772"/>
                <a:gd name="connsiteY6-228" fmla="*/ 1801267 h 9299502"/>
                <a:gd name="connsiteX7-229" fmla="*/ 2366868 w 5221772"/>
                <a:gd name="connsiteY7-230" fmla="*/ 1801267 h 9299502"/>
                <a:gd name="connsiteX8-231" fmla="*/ 3828265 w 5221772"/>
                <a:gd name="connsiteY8-232" fmla="*/ 0 h 9299502"/>
                <a:gd name="connsiteX0-233" fmla="*/ 4239505 w 5633012"/>
                <a:gd name="connsiteY0-234" fmla="*/ 0 h 10063093"/>
                <a:gd name="connsiteX1-235" fmla="*/ 5633012 w 5633012"/>
                <a:gd name="connsiteY1-236" fmla="*/ 1801267 h 10063093"/>
                <a:gd name="connsiteX2-237" fmla="*/ 4936272 w 5633012"/>
                <a:gd name="connsiteY2-238" fmla="*/ 1801267 h 10063093"/>
                <a:gd name="connsiteX3-239" fmla="*/ 4934780 w 5633012"/>
                <a:gd name="connsiteY3-240" fmla="*/ 1847578 h 10063093"/>
                <a:gd name="connsiteX4-241" fmla="*/ 0 w 5633012"/>
                <a:gd name="connsiteY4-242" fmla="*/ 10063093 h 10063093"/>
                <a:gd name="connsiteX5-243" fmla="*/ 3532773 w 5633012"/>
                <a:gd name="connsiteY5-244" fmla="*/ 1864235 h 10063093"/>
                <a:gd name="connsiteX6-245" fmla="*/ 3537901 w 5633012"/>
                <a:gd name="connsiteY6-246" fmla="*/ 1801267 h 10063093"/>
                <a:gd name="connsiteX7-247" fmla="*/ 2778108 w 5633012"/>
                <a:gd name="connsiteY7-248" fmla="*/ 1801267 h 10063093"/>
                <a:gd name="connsiteX8-249" fmla="*/ 4239505 w 5633012"/>
                <a:gd name="connsiteY8-250" fmla="*/ 0 h 10063093"/>
                <a:gd name="connsiteX0-251" fmla="*/ 4344521 w 5738028"/>
                <a:gd name="connsiteY0-252" fmla="*/ 0 h 10143555"/>
                <a:gd name="connsiteX1-253" fmla="*/ 5738028 w 5738028"/>
                <a:gd name="connsiteY1-254" fmla="*/ 1801267 h 10143555"/>
                <a:gd name="connsiteX2-255" fmla="*/ 5041288 w 5738028"/>
                <a:gd name="connsiteY2-256" fmla="*/ 1801267 h 10143555"/>
                <a:gd name="connsiteX3-257" fmla="*/ 5039796 w 5738028"/>
                <a:gd name="connsiteY3-258" fmla="*/ 1847578 h 10143555"/>
                <a:gd name="connsiteX4-259" fmla="*/ 0 w 5738028"/>
                <a:gd name="connsiteY4-260" fmla="*/ 10143555 h 10143555"/>
                <a:gd name="connsiteX5-261" fmla="*/ 3637789 w 5738028"/>
                <a:gd name="connsiteY5-262" fmla="*/ 1864235 h 10143555"/>
                <a:gd name="connsiteX6-263" fmla="*/ 3642917 w 5738028"/>
                <a:gd name="connsiteY6-264" fmla="*/ 1801267 h 10143555"/>
                <a:gd name="connsiteX7-265" fmla="*/ 2883124 w 5738028"/>
                <a:gd name="connsiteY7-266" fmla="*/ 1801267 h 10143555"/>
                <a:gd name="connsiteX8-267" fmla="*/ 4344521 w 5738028"/>
                <a:gd name="connsiteY8-268" fmla="*/ 0 h 1014355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3753" h="4676">
                  <a:moveTo>
                    <a:pt x="1921" y="0"/>
                  </a:moveTo>
                  <a:lnTo>
                    <a:pt x="3753" y="2693"/>
                  </a:lnTo>
                  <a:lnTo>
                    <a:pt x="2837" y="2693"/>
                  </a:lnTo>
                  <a:cubicBezTo>
                    <a:pt x="2837" y="2704"/>
                    <a:pt x="2837" y="2719"/>
                    <a:pt x="2836" y="2728"/>
                  </a:cubicBezTo>
                  <a:cubicBezTo>
                    <a:pt x="2836" y="2739"/>
                    <a:pt x="2836" y="2753"/>
                    <a:pt x="2835" y="2762"/>
                  </a:cubicBezTo>
                  <a:cubicBezTo>
                    <a:pt x="2866" y="2949"/>
                    <a:pt x="2481" y="4238"/>
                    <a:pt x="2321" y="4676"/>
                  </a:cubicBezTo>
                  <a:lnTo>
                    <a:pt x="652" y="4586"/>
                  </a:lnTo>
                  <a:cubicBezTo>
                    <a:pt x="860" y="3727"/>
                    <a:pt x="1005" y="2877"/>
                    <a:pt x="999" y="2693"/>
                  </a:cubicBezTo>
                  <a:lnTo>
                    <a:pt x="0" y="2693"/>
                  </a:lnTo>
                  <a:lnTo>
                    <a:pt x="1921" y="0"/>
                  </a:lnTo>
                  <a:close/>
                </a:path>
              </a:pathLst>
            </a:custGeom>
            <a:gradFill flip="none" rotWithShape="1">
              <a:gsLst>
                <a:gs pos="23000">
                  <a:schemeClr val="accent5"/>
                </a:gs>
                <a:gs pos="100000">
                  <a:schemeClr val="accent5">
                    <a:lumMod val="60000"/>
                    <a:lumOff val="40000"/>
                  </a:schemeClr>
                </a:gs>
              </a:gsLst>
              <a:lin ang="2700000"/>
            </a:gradFill>
            <a:ln w="38100">
              <a:noFill/>
            </a:ln>
            <a:effectLst>
              <a:outerShdw blurRad="411480" dist="123444" dir="5400000" sx="108000" sy="108000" algn="ctr" rotWithShape="0">
                <a:schemeClr val="accent5">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20" name="不完整圆 235"/>
            <p:cNvSpPr/>
            <p:nvPr/>
          </p:nvSpPr>
          <p:spPr>
            <a:xfrm rot="2427399">
              <a:off x="5102" y="8509"/>
              <a:ext cx="1959" cy="562"/>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gradFill>
              <a:gsLst>
                <a:gs pos="0">
                  <a:schemeClr val="bg1">
                    <a:alpha val="0"/>
                  </a:schemeClr>
                </a:gs>
                <a:gs pos="100000">
                  <a:schemeClr val="bg1">
                    <a:alpha val="20000"/>
                  </a:schemeClr>
                </a:gs>
              </a:gsLst>
              <a:lin ang="5400000" scaled="1"/>
            </a:gradFill>
            <a:ln w="57150">
              <a:gradFill flip="none" rotWithShape="1">
                <a:gsLst>
                  <a:gs pos="0">
                    <a:schemeClr val="accent1">
                      <a:lumMod val="60000"/>
                      <a:lumOff val="40000"/>
                      <a:alpha val="0"/>
                    </a:schemeClr>
                  </a:gs>
                  <a:gs pos="100000">
                    <a:schemeClr val="accent1">
                      <a:lumMod val="60000"/>
                      <a:lumOff val="40000"/>
                    </a:schemeClr>
                  </a:gs>
                </a:gsLst>
                <a:lin ang="5400000" scaled="1"/>
                <a:tileRect/>
              </a:gradFill>
              <a:prstDash val="solid"/>
            </a:ln>
            <a:effectLst>
              <a:outerShdw blurRad="63500" sx="102000" sy="102000" algn="ctr"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7" name="不完整圆 235"/>
            <p:cNvSpPr/>
            <p:nvPr/>
          </p:nvSpPr>
          <p:spPr>
            <a:xfrm rot="2506533">
              <a:off x="7461" y="7599"/>
              <a:ext cx="2436" cy="799"/>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gradFill>
              <a:gsLst>
                <a:gs pos="0">
                  <a:schemeClr val="bg1">
                    <a:alpha val="0"/>
                  </a:schemeClr>
                </a:gs>
                <a:gs pos="100000">
                  <a:schemeClr val="bg1">
                    <a:alpha val="20000"/>
                  </a:schemeClr>
                </a:gs>
              </a:gsLst>
              <a:lin ang="5400000" scaled="1"/>
            </a:gradFill>
            <a:ln w="57150">
              <a:gradFill flip="none" rotWithShape="1">
                <a:gsLst>
                  <a:gs pos="0">
                    <a:schemeClr val="accent1">
                      <a:lumMod val="60000"/>
                      <a:lumOff val="40000"/>
                      <a:alpha val="0"/>
                    </a:schemeClr>
                  </a:gs>
                  <a:gs pos="100000">
                    <a:schemeClr val="accent1">
                      <a:lumMod val="60000"/>
                      <a:lumOff val="40000"/>
                    </a:schemeClr>
                  </a:gs>
                </a:gsLst>
                <a:lin ang="5400000" scaled="1"/>
                <a:tileRect/>
              </a:gradFill>
              <a:prstDash val="solid"/>
            </a:ln>
            <a:effectLst>
              <a:outerShdw blurRad="63500" sx="102000" sy="102000" algn="ctr"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22" name="不完整圆 235"/>
            <p:cNvSpPr/>
            <p:nvPr/>
          </p:nvSpPr>
          <p:spPr>
            <a:xfrm rot="2653453">
              <a:off x="9281" y="6536"/>
              <a:ext cx="3098" cy="1145"/>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gradFill>
              <a:gsLst>
                <a:gs pos="0">
                  <a:schemeClr val="bg1">
                    <a:alpha val="0"/>
                  </a:schemeClr>
                </a:gs>
                <a:gs pos="100000">
                  <a:schemeClr val="bg1">
                    <a:alpha val="20000"/>
                  </a:schemeClr>
                </a:gs>
              </a:gsLst>
              <a:lin ang="5400000" scaled="1"/>
            </a:gradFill>
            <a:ln w="57150">
              <a:gradFill flip="none" rotWithShape="1">
                <a:gsLst>
                  <a:gs pos="0">
                    <a:schemeClr val="accent1">
                      <a:lumMod val="60000"/>
                      <a:lumOff val="40000"/>
                      <a:alpha val="0"/>
                    </a:schemeClr>
                  </a:gs>
                  <a:gs pos="100000">
                    <a:schemeClr val="accent1">
                      <a:lumMod val="60000"/>
                      <a:lumOff val="40000"/>
                    </a:schemeClr>
                  </a:gs>
                </a:gsLst>
                <a:lin ang="5400000" scaled="1"/>
                <a:tileRect/>
              </a:gradFill>
              <a:prstDash val="solid"/>
            </a:ln>
            <a:effectLst>
              <a:outerShdw blurRad="63500" sx="102000" sy="102000" algn="ctr"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nvSpPr>
          <p:spPr>
            <a:xfrm rot="20700000">
              <a:off x="3537" y="8860"/>
              <a:ext cx="2162" cy="483"/>
            </a:xfrm>
            <a:prstGeom prst="rect">
              <a:avLst/>
            </a:prstGeom>
            <a:noFill/>
          </p:spPr>
          <p:txBody>
            <a:bodyPr wrap="square" rtlCol="0">
              <a:spAutoFit/>
            </a:bodyPr>
            <a:lstStyle/>
            <a:p>
              <a:pPr algn="ctr"/>
              <a:r>
                <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rPr>
                <a:t>第一阶段</a:t>
              </a:r>
              <a:endPar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rot="20460000">
              <a:off x="5998" y="8124"/>
              <a:ext cx="2162" cy="483"/>
            </a:xfrm>
            <a:prstGeom prst="rect">
              <a:avLst/>
            </a:prstGeom>
            <a:noFill/>
          </p:spPr>
          <p:txBody>
            <a:bodyPr wrap="square" rtlCol="0">
              <a:spAutoFit/>
            </a:bodyPr>
            <a:lstStyle/>
            <a:p>
              <a:pPr algn="ctr"/>
              <a:r>
                <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rPr>
                <a:t>第二阶段</a:t>
              </a:r>
              <a:endPar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rot="20340000">
              <a:off x="8195" y="7395"/>
              <a:ext cx="2162" cy="483"/>
            </a:xfrm>
            <a:prstGeom prst="rect">
              <a:avLst/>
            </a:prstGeom>
            <a:noFill/>
          </p:spPr>
          <p:txBody>
            <a:bodyPr wrap="square" rtlCol="0">
              <a:spAutoFit/>
            </a:bodyPr>
            <a:lstStyle/>
            <a:p>
              <a:pPr algn="ctr"/>
              <a:r>
                <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rPr>
                <a:t>第三阶段</a:t>
              </a:r>
              <a:endPar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rot="20160000">
              <a:off x="10158" y="6516"/>
              <a:ext cx="2162" cy="483"/>
            </a:xfrm>
            <a:prstGeom prst="rect">
              <a:avLst/>
            </a:prstGeom>
            <a:noFill/>
          </p:spPr>
          <p:txBody>
            <a:bodyPr wrap="square" rtlCol="0">
              <a:spAutoFit/>
            </a:bodyPr>
            <a:lstStyle/>
            <a:p>
              <a:pPr algn="ctr"/>
              <a:r>
                <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rPr>
                <a:t>第四阶段</a:t>
              </a:r>
              <a:endPar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7" name="文本框 16"/>
            <p:cNvSpPr txBox="1"/>
            <p:nvPr/>
          </p:nvSpPr>
          <p:spPr>
            <a:xfrm rot="19980000">
              <a:off x="12973" y="5003"/>
              <a:ext cx="2162" cy="531"/>
            </a:xfrm>
            <a:prstGeom prst="rect">
              <a:avLst/>
            </a:prstGeom>
            <a:noFill/>
          </p:spPr>
          <p:txBody>
            <a:bodyPr wrap="square" rtlCol="0">
              <a:spAutoFit/>
            </a:bodyPr>
            <a:lstStyle/>
            <a:p>
              <a:pPr algn="ctr"/>
              <a:r>
                <a:rPr kumimoji="1" lang="zh-CN" altLang="en-US" sz="1600" b="1" dirty="0">
                  <a:solidFill>
                    <a:schemeClr val="bg1"/>
                  </a:solidFill>
                  <a:latin typeface="微软雅黑" panose="020B0503020204020204" charset="-122"/>
                  <a:ea typeface="微软雅黑" panose="020B0503020204020204" charset="-122"/>
                  <a:cs typeface="微软雅黑" panose="020B0503020204020204" charset="-122"/>
                </a:rPr>
                <a:t>第五阶段</a:t>
              </a:r>
              <a:endParaRPr kumimoji="1" lang="zh-CN" altLang="en-US" sz="16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7" name="不完整圆 235"/>
            <p:cNvSpPr/>
            <p:nvPr/>
          </p:nvSpPr>
          <p:spPr>
            <a:xfrm rot="2653453">
              <a:off x="11519" y="5042"/>
              <a:ext cx="3774" cy="1395"/>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gradFill>
              <a:gsLst>
                <a:gs pos="0">
                  <a:schemeClr val="bg1">
                    <a:alpha val="0"/>
                  </a:schemeClr>
                </a:gs>
                <a:gs pos="100000">
                  <a:schemeClr val="bg1">
                    <a:alpha val="20000"/>
                  </a:schemeClr>
                </a:gs>
              </a:gsLst>
              <a:lin ang="5400000" scaled="1"/>
            </a:gradFill>
            <a:ln w="57150">
              <a:gradFill flip="none" rotWithShape="1">
                <a:gsLst>
                  <a:gs pos="0">
                    <a:schemeClr val="accent5">
                      <a:lumMod val="60000"/>
                      <a:lumOff val="40000"/>
                      <a:alpha val="0"/>
                    </a:schemeClr>
                  </a:gs>
                  <a:gs pos="100000">
                    <a:schemeClr val="accent5">
                      <a:lumMod val="60000"/>
                      <a:lumOff val="40000"/>
                    </a:schemeClr>
                  </a:gs>
                </a:gsLst>
                <a:lin ang="5400000" scaled="1"/>
                <a:tileRect/>
              </a:gradFill>
              <a:prstDash val="solid"/>
            </a:ln>
            <a:effectLst>
              <a:outerShdw blurRad="63500" sx="102000" sy="102000" algn="ctr" rotWithShape="0">
                <a:schemeClr val="accent5">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grpSp>
      <p:grpSp>
        <p:nvGrpSpPr>
          <p:cNvPr id="144" name="组合 143"/>
          <p:cNvGrpSpPr/>
          <p:nvPr/>
        </p:nvGrpSpPr>
        <p:grpSpPr>
          <a:xfrm>
            <a:off x="1828800" y="5918200"/>
            <a:ext cx="1085215" cy="405765"/>
            <a:chOff x="4637" y="6748"/>
            <a:chExt cx="1709" cy="639"/>
          </a:xfrm>
        </p:grpSpPr>
        <p:sp>
          <p:nvSpPr>
            <p:cNvPr id="272" name="任意多边形: 形状 271"/>
            <p:cNvSpPr/>
            <p:nvPr/>
          </p:nvSpPr>
          <p:spPr>
            <a:xfrm>
              <a:off x="4637" y="6748"/>
              <a:ext cx="1603" cy="548"/>
            </a:xfrm>
            <a:custGeom>
              <a:avLst/>
              <a:gdLst>
                <a:gd name="connsiteX0" fmla="*/ 1400537 w 1400537"/>
                <a:gd name="connsiteY0" fmla="*/ 243069 h 243069"/>
                <a:gd name="connsiteX1" fmla="*/ 0 w 1400537"/>
                <a:gd name="connsiteY1" fmla="*/ 243069 h 243069"/>
                <a:gd name="connsiteX2" fmla="*/ 0 w 1400537"/>
                <a:gd name="connsiteY2" fmla="*/ 0 h 243069"/>
              </a:gdLst>
              <a:ahLst/>
              <a:cxnLst>
                <a:cxn ang="0">
                  <a:pos x="connsiteX0" y="connsiteY0"/>
                </a:cxn>
                <a:cxn ang="0">
                  <a:pos x="connsiteX1" y="connsiteY1"/>
                </a:cxn>
                <a:cxn ang="0">
                  <a:pos x="connsiteX2" y="connsiteY2"/>
                </a:cxn>
              </a:cxnLst>
              <a:rect l="l" t="t" r="r" b="b"/>
              <a:pathLst>
                <a:path w="1400537" h="243069">
                  <a:moveTo>
                    <a:pt x="1400537" y="243069"/>
                  </a:moveTo>
                  <a:lnTo>
                    <a:pt x="0" y="243069"/>
                  </a:lnTo>
                  <a:lnTo>
                    <a:pt x="0" y="0"/>
                  </a:lnTo>
                </a:path>
              </a:pathLst>
            </a:custGeom>
            <a:noFill/>
            <a:ln w="11938">
              <a:solidFill>
                <a:schemeClr val="tx2">
                  <a:lumMod val="60000"/>
                  <a:lumOff val="40000"/>
                </a:schemeClr>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lIns="85954" tIns="42977" rIns="85954" bIns="42977"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grpSp>
          <p:nvGrpSpPr>
            <p:cNvPr id="286" name="组合 285"/>
            <p:cNvGrpSpPr/>
            <p:nvPr/>
          </p:nvGrpSpPr>
          <p:grpSpPr>
            <a:xfrm rot="0">
              <a:off x="6170" y="7197"/>
              <a:ext cx="176" cy="190"/>
              <a:chOff x="4021244" y="6097130"/>
              <a:chExt cx="236123" cy="236123"/>
            </a:xfrm>
          </p:grpSpPr>
          <p:sp>
            <p:nvSpPr>
              <p:cNvPr id="284" name="椭圆 283"/>
              <p:cNvSpPr/>
              <p:nvPr/>
            </p:nvSpPr>
            <p:spPr>
              <a:xfrm>
                <a:off x="4021244" y="6097130"/>
                <a:ext cx="236123" cy="236123"/>
              </a:xfrm>
              <a:prstGeom prst="ellipse">
                <a:avLst/>
              </a:prstGeom>
              <a:solidFill>
                <a:schemeClr val="accent1">
                  <a:alpha val="73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5954" tIns="42977" rIns="85954" bIns="42977"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285" name="椭圆 284"/>
              <p:cNvSpPr/>
              <p:nvPr/>
            </p:nvSpPr>
            <p:spPr>
              <a:xfrm>
                <a:off x="4094922" y="6170806"/>
                <a:ext cx="88761" cy="88761"/>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5954" tIns="42977" rIns="85954" bIns="42977"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grpSp>
      </p:grpSp>
      <p:grpSp>
        <p:nvGrpSpPr>
          <p:cNvPr id="145" name="组合 144"/>
          <p:cNvGrpSpPr/>
          <p:nvPr/>
        </p:nvGrpSpPr>
        <p:grpSpPr>
          <a:xfrm>
            <a:off x="1106170" y="4263390"/>
            <a:ext cx="1466215" cy="1653540"/>
            <a:chOff x="820" y="1695"/>
            <a:chExt cx="2309" cy="2604"/>
          </a:xfrm>
        </p:grpSpPr>
        <p:sp>
          <p:nvSpPr>
            <p:cNvPr id="268" name="矩形 267"/>
            <p:cNvSpPr/>
            <p:nvPr>
              <p:custDataLst>
                <p:tags r:id="rId3"/>
              </p:custDataLst>
            </p:nvPr>
          </p:nvSpPr>
          <p:spPr>
            <a:xfrm>
              <a:off x="820" y="1695"/>
              <a:ext cx="2262" cy="2605"/>
            </a:xfrm>
            <a:prstGeom prst="rect">
              <a:avLst/>
            </a:prstGeom>
            <a:solidFill>
              <a:schemeClr val="accent1">
                <a:lumMod val="20000"/>
                <a:lumOff val="80000"/>
                <a:alpha val="10000"/>
              </a:schemeClr>
            </a:solidFill>
            <a:ln>
              <a:solidFill>
                <a:schemeClr val="accent1">
                  <a:alpha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85954" tIns="42977" rIns="85954" bIns="42977"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269" name="矩形 268"/>
            <p:cNvSpPr/>
            <p:nvPr>
              <p:custDataLst>
                <p:tags r:id="rId4"/>
              </p:custDataLst>
            </p:nvPr>
          </p:nvSpPr>
          <p:spPr>
            <a:xfrm>
              <a:off x="820" y="1697"/>
              <a:ext cx="2262" cy="661"/>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5954" tIns="42977" rIns="85954" bIns="42977"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271" name="文本框 64"/>
            <p:cNvSpPr txBox="1"/>
            <p:nvPr/>
          </p:nvSpPr>
          <p:spPr>
            <a:xfrm>
              <a:off x="869" y="1755"/>
              <a:ext cx="2261" cy="545"/>
            </a:xfrm>
            <a:prstGeom prst="rect">
              <a:avLst/>
            </a:prstGeom>
            <a:noFill/>
            <a:effectLst/>
          </p:spPr>
          <p:txBody>
            <a:bodyPr wrap="square" lIns="85954" tIns="42977" rIns="85954" bIns="42977"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r>
                <a:rPr lang="zh-CN" altLang="en-US" sz="1695" b="1" dirty="0">
                  <a:solidFill>
                    <a:prstClr val="white"/>
                  </a:solidFill>
                  <a:latin typeface="微软雅黑" panose="020B0503020204020204" charset="-122"/>
                  <a:ea typeface="微软雅黑" panose="020B0503020204020204" charset="-122"/>
                  <a:cs typeface="微软雅黑" panose="020B0503020204020204" charset="-122"/>
                </a:rPr>
                <a:t>项目启动</a:t>
              </a:r>
              <a:endParaRPr lang="zh-CN" altLang="en-US" sz="1695" b="1"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42" name="文本框 141"/>
            <p:cNvSpPr txBox="1"/>
            <p:nvPr>
              <p:custDataLst>
                <p:tags r:id="rId5"/>
              </p:custDataLst>
            </p:nvPr>
          </p:nvSpPr>
          <p:spPr>
            <a:xfrm>
              <a:off x="838" y="2810"/>
              <a:ext cx="2190" cy="1355"/>
            </a:xfrm>
            <a:prstGeom prst="rect">
              <a:avLst/>
            </a:prstGeom>
            <a:noFill/>
          </p:spPr>
          <p:txBody>
            <a:bodyPr wrap="square" rtlCol="0">
              <a:spAutoFit/>
            </a:bodyPr>
            <a:lstStyle/>
            <a:p>
              <a:pPr marL="171450" marR="0" lvl="0" indent="-171450" algn="just" defTabSz="914400" rtl="0" fontAlgn="auto">
                <a:lnSpc>
                  <a:spcPts val="1000"/>
                </a:lnSpc>
                <a:spcBef>
                  <a:spcPts val="0"/>
                </a:spcBef>
                <a:spcAft>
                  <a:spcPts val="0"/>
                </a:spcAft>
                <a:buClrTx/>
                <a:buSzTx/>
                <a:buFont typeface="Wingdings" panose="05000000000000000000" charset="0"/>
                <a:buChar char="Ø"/>
                <a:defRPr/>
              </a:pPr>
              <a:r>
                <a:rPr kumimoji="0" lang="zh-CN" altLang="en-US" sz="8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制定项目总体方案：</a:t>
              </a:r>
              <a:r>
                <a:rPr kumimoji="0" lang="zh-CN" altLang="en-US" sz="8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明确项目目标，制定初步时间表，标关键里程碑</a:t>
              </a:r>
              <a:r>
                <a:rPr kumimoji="0" lang="zh-CN" sz="8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endParaRPr kumimoji="0" lang="zh-CN" sz="8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just" defTabSz="914400" rtl="0" fontAlgn="auto">
                <a:lnSpc>
                  <a:spcPts val="1000"/>
                </a:lnSpc>
                <a:spcBef>
                  <a:spcPts val="0"/>
                </a:spcBef>
                <a:spcAft>
                  <a:spcPts val="0"/>
                </a:spcAft>
                <a:buClrTx/>
                <a:buSzTx/>
                <a:buFont typeface="Wingdings" panose="05000000000000000000" charset="0"/>
                <a:buChar char="Ø"/>
                <a:defRPr/>
              </a:pPr>
              <a:r>
                <a:rPr kumimoji="0" lang="zh-CN" altLang="en-US" sz="8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组建项目团队：</a:t>
              </a:r>
              <a:r>
                <a:rPr kumimoji="0" lang="zh-CN" altLang="en-US" sz="8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确定核心团队成员，明确每个人的角色和责任；</a:t>
              </a:r>
              <a:endParaRPr kumimoji="0" lang="zh-CN" altLang="en-US" sz="8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3" name="文本框 142"/>
            <p:cNvSpPr txBox="1"/>
            <p:nvPr>
              <p:custDataLst>
                <p:tags r:id="rId6"/>
              </p:custDataLst>
            </p:nvPr>
          </p:nvSpPr>
          <p:spPr>
            <a:xfrm>
              <a:off x="893" y="2424"/>
              <a:ext cx="2117" cy="386"/>
            </a:xfrm>
            <a:prstGeom prst="rect">
              <a:avLst/>
            </a:prstGeom>
            <a:noFill/>
          </p:spPr>
          <p:txBody>
            <a:bodyPr wrap="square" rtlCol="0">
              <a:spAutoFit/>
            </a:bodyPr>
            <a:lstStyle/>
            <a:p>
              <a:pPr marR="0" lvl="0" indent="0" algn="just" defTabSz="914400" rtl="0" eaLnBrk="1" fontAlgn="auto" latinLnBrk="0" hangingPunct="1">
                <a:lnSpc>
                  <a:spcPct val="100000"/>
                </a:lnSpc>
                <a:spcBef>
                  <a:spcPts val="0"/>
                </a:spcBef>
                <a:spcAft>
                  <a:spcPts val="0"/>
                </a:spcAft>
                <a:buClrTx/>
                <a:buSzTx/>
                <a:buFont typeface="Wingdings" panose="05000000000000000000" charset="0"/>
                <a:buNone/>
                <a:defRPr/>
              </a:pPr>
              <a:r>
                <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en-US" altLang="zh-CN"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2026</a:t>
              </a:r>
              <a:r>
                <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年</a:t>
              </a:r>
              <a:r>
                <a:rPr kumimoji="0" lang="en-US" altLang="zh-CN"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1</a:t>
              </a:r>
              <a:r>
                <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月</a:t>
              </a:r>
              <a:r>
                <a:rPr kumimoji="0" lang="en-US" altLang="zh-CN"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-3</a:t>
              </a:r>
              <a:r>
                <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月）</a:t>
              </a:r>
              <a:endPar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46" name="组合 145"/>
          <p:cNvGrpSpPr/>
          <p:nvPr/>
        </p:nvGrpSpPr>
        <p:grpSpPr>
          <a:xfrm>
            <a:off x="2839720" y="3660775"/>
            <a:ext cx="1466850" cy="1654175"/>
            <a:chOff x="820" y="1695"/>
            <a:chExt cx="2310" cy="2605"/>
          </a:xfrm>
        </p:grpSpPr>
        <p:sp>
          <p:nvSpPr>
            <p:cNvPr id="147" name="矩形 146"/>
            <p:cNvSpPr/>
            <p:nvPr>
              <p:custDataLst>
                <p:tags r:id="rId7"/>
              </p:custDataLst>
            </p:nvPr>
          </p:nvSpPr>
          <p:spPr>
            <a:xfrm>
              <a:off x="820" y="1695"/>
              <a:ext cx="2262" cy="2605"/>
            </a:xfrm>
            <a:prstGeom prst="rect">
              <a:avLst/>
            </a:prstGeom>
            <a:solidFill>
              <a:schemeClr val="accent1">
                <a:lumMod val="20000"/>
                <a:lumOff val="80000"/>
                <a:alpha val="10000"/>
              </a:schemeClr>
            </a:solidFill>
            <a:ln>
              <a:solidFill>
                <a:schemeClr val="accent1">
                  <a:lumMod val="60000"/>
                  <a:lumOff val="40000"/>
                  <a:alpha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85954" tIns="42977" rIns="85954" bIns="42977"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48" name="矩形 147"/>
            <p:cNvSpPr/>
            <p:nvPr>
              <p:custDataLst>
                <p:tags r:id="rId8"/>
              </p:custDataLst>
            </p:nvPr>
          </p:nvSpPr>
          <p:spPr>
            <a:xfrm>
              <a:off x="820" y="1697"/>
              <a:ext cx="2262" cy="661"/>
            </a:xfrm>
            <a:prstGeom prst="rect">
              <a:avLst/>
            </a:pr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5954" tIns="42977" rIns="85954" bIns="42977"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49" name="文本框 64"/>
            <p:cNvSpPr txBox="1"/>
            <p:nvPr/>
          </p:nvSpPr>
          <p:spPr>
            <a:xfrm>
              <a:off x="869" y="1755"/>
              <a:ext cx="2261" cy="545"/>
            </a:xfrm>
            <a:prstGeom prst="rect">
              <a:avLst/>
            </a:prstGeom>
            <a:noFill/>
            <a:effectLst/>
          </p:spPr>
          <p:txBody>
            <a:bodyPr wrap="square" lIns="85954" tIns="42977" rIns="85954" bIns="42977"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r>
                <a:rPr lang="zh-CN" altLang="en-US" sz="1695" b="1" dirty="0">
                  <a:solidFill>
                    <a:prstClr val="white"/>
                  </a:solidFill>
                  <a:latin typeface="微软雅黑" panose="020B0503020204020204" charset="-122"/>
                  <a:ea typeface="微软雅黑" panose="020B0503020204020204" charset="-122"/>
                  <a:cs typeface="微软雅黑" panose="020B0503020204020204" charset="-122"/>
                </a:rPr>
                <a:t>项目规划</a:t>
              </a:r>
              <a:endParaRPr lang="zh-CN" altLang="en-US" sz="1695" b="1"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50" name="文本框 149"/>
            <p:cNvSpPr txBox="1"/>
            <p:nvPr>
              <p:custDataLst>
                <p:tags r:id="rId9"/>
              </p:custDataLst>
            </p:nvPr>
          </p:nvSpPr>
          <p:spPr>
            <a:xfrm>
              <a:off x="838" y="2810"/>
              <a:ext cx="2190" cy="1355"/>
            </a:xfrm>
            <a:prstGeom prst="rect">
              <a:avLst/>
            </a:prstGeom>
            <a:noFill/>
          </p:spPr>
          <p:txBody>
            <a:bodyPr wrap="square" rtlCol="0">
              <a:spAutoFit/>
            </a:bodyPr>
            <a:lstStyle/>
            <a:p>
              <a:pPr marL="171450" marR="0" lvl="0" indent="-171450" algn="just" defTabSz="914400" rtl="0" fontAlgn="auto">
                <a:lnSpc>
                  <a:spcPts val="1000"/>
                </a:lnSpc>
                <a:spcBef>
                  <a:spcPts val="0"/>
                </a:spcBef>
                <a:spcAft>
                  <a:spcPts val="0"/>
                </a:spcAft>
                <a:buClrTx/>
                <a:buSzTx/>
                <a:buFont typeface="Wingdings" panose="05000000000000000000" charset="0"/>
                <a:buChar char="Ø"/>
                <a:defRPr/>
              </a:pPr>
              <a:r>
                <a:rPr kumimoji="0" lang="zh-CN" altLang="en-US" sz="8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完善项目计划：</a:t>
              </a:r>
              <a:r>
                <a:rPr kumimoji="0" lang="zh-CN" altLang="en-US" sz="8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在总体框架基础上，制定详细的项目计划。</a:t>
              </a:r>
              <a:endParaRPr kumimoji="0" lang="zh-CN" altLang="en-US" sz="8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just" defTabSz="914400" rtl="0" fontAlgn="auto">
                <a:lnSpc>
                  <a:spcPts val="1000"/>
                </a:lnSpc>
                <a:spcBef>
                  <a:spcPts val="0"/>
                </a:spcBef>
                <a:spcAft>
                  <a:spcPts val="0"/>
                </a:spcAft>
                <a:buClrTx/>
                <a:buSzTx/>
                <a:buFont typeface="Wingdings" panose="05000000000000000000" charset="0"/>
                <a:buChar char="Ø"/>
                <a:defRPr/>
              </a:pPr>
              <a:r>
                <a:rPr kumimoji="0" lang="zh-CN" altLang="en-US" sz="8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资源分配与调配：</a:t>
              </a:r>
              <a:r>
                <a:rPr kumimoji="0" lang="zh-CN" altLang="en-US" sz="8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确定项目所需的资源，确保每项资源得到合理分配。</a:t>
              </a:r>
              <a:endParaRPr kumimoji="0" lang="zh-CN" altLang="en-US" sz="8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1" name="文本框 150"/>
            <p:cNvSpPr txBox="1"/>
            <p:nvPr>
              <p:custDataLst>
                <p:tags r:id="rId10"/>
              </p:custDataLst>
            </p:nvPr>
          </p:nvSpPr>
          <p:spPr>
            <a:xfrm>
              <a:off x="893" y="2424"/>
              <a:ext cx="2117" cy="386"/>
            </a:xfrm>
            <a:prstGeom prst="rect">
              <a:avLst/>
            </a:prstGeom>
            <a:noFill/>
          </p:spPr>
          <p:txBody>
            <a:bodyPr wrap="square" rtlCol="0">
              <a:spAutoFit/>
            </a:bodyPr>
            <a:lstStyle/>
            <a:p>
              <a:pPr marR="0" lvl="0" indent="0" algn="just" defTabSz="914400" rtl="0" eaLnBrk="1" fontAlgn="auto" latinLnBrk="0" hangingPunct="1">
                <a:lnSpc>
                  <a:spcPct val="100000"/>
                </a:lnSpc>
                <a:spcBef>
                  <a:spcPts val="0"/>
                </a:spcBef>
                <a:spcAft>
                  <a:spcPts val="0"/>
                </a:spcAft>
                <a:buClrTx/>
                <a:buSzTx/>
                <a:buFont typeface="Wingdings" panose="05000000000000000000" charset="0"/>
                <a:buNone/>
                <a:defRPr/>
              </a:pP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en-US" altLang="zh-CN"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2026</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年</a:t>
              </a:r>
              <a:r>
                <a:rPr lang="en-US" altLang="zh-CN"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3</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月</a:t>
              </a:r>
              <a:r>
                <a:rPr lang="en-US" altLang="zh-CN"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-4</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月）</a:t>
              </a:r>
              <a:endPar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52" name="组合 151"/>
          <p:cNvGrpSpPr/>
          <p:nvPr/>
        </p:nvGrpSpPr>
        <p:grpSpPr>
          <a:xfrm>
            <a:off x="4573905" y="2885440"/>
            <a:ext cx="1466850" cy="1696720"/>
            <a:chOff x="820" y="1695"/>
            <a:chExt cx="2310" cy="2672"/>
          </a:xfrm>
        </p:grpSpPr>
        <p:sp>
          <p:nvSpPr>
            <p:cNvPr id="153" name="矩形 152"/>
            <p:cNvSpPr/>
            <p:nvPr>
              <p:custDataLst>
                <p:tags r:id="rId11"/>
              </p:custDataLst>
            </p:nvPr>
          </p:nvSpPr>
          <p:spPr>
            <a:xfrm>
              <a:off x="820" y="1695"/>
              <a:ext cx="2262" cy="2605"/>
            </a:xfrm>
            <a:prstGeom prst="rect">
              <a:avLst/>
            </a:prstGeom>
            <a:solidFill>
              <a:schemeClr val="accent1">
                <a:lumMod val="20000"/>
                <a:lumOff val="80000"/>
                <a:alpha val="10000"/>
              </a:schemeClr>
            </a:solidFill>
            <a:ln>
              <a:solidFill>
                <a:schemeClr val="accent1">
                  <a:alpha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85954" tIns="42977" rIns="85954" bIns="42977"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54" name="矩形 153"/>
            <p:cNvSpPr/>
            <p:nvPr>
              <p:custDataLst>
                <p:tags r:id="rId12"/>
              </p:custDataLst>
            </p:nvPr>
          </p:nvSpPr>
          <p:spPr>
            <a:xfrm>
              <a:off x="820" y="1697"/>
              <a:ext cx="2262" cy="661"/>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5954" tIns="42977" rIns="85954" bIns="42977"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55" name="文本框 64"/>
            <p:cNvSpPr txBox="1"/>
            <p:nvPr/>
          </p:nvSpPr>
          <p:spPr>
            <a:xfrm>
              <a:off x="869" y="1755"/>
              <a:ext cx="2261" cy="545"/>
            </a:xfrm>
            <a:prstGeom prst="rect">
              <a:avLst/>
            </a:prstGeom>
            <a:noFill/>
            <a:effectLst/>
          </p:spPr>
          <p:txBody>
            <a:bodyPr wrap="square" lIns="85954" tIns="42977" rIns="85954" bIns="42977"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r>
                <a:rPr lang="zh-CN" altLang="en-US" sz="1695" b="1" dirty="0">
                  <a:solidFill>
                    <a:prstClr val="white"/>
                  </a:solidFill>
                  <a:latin typeface="微软雅黑" panose="020B0503020204020204" charset="-122"/>
                  <a:ea typeface="微软雅黑" panose="020B0503020204020204" charset="-122"/>
                  <a:cs typeface="微软雅黑" panose="020B0503020204020204" charset="-122"/>
                </a:rPr>
                <a:t>项目执行</a:t>
              </a:r>
              <a:endParaRPr lang="zh-CN" altLang="en-US" sz="1695" b="1"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56" name="文本框 155"/>
            <p:cNvSpPr txBox="1"/>
            <p:nvPr>
              <p:custDataLst>
                <p:tags r:id="rId13"/>
              </p:custDataLst>
            </p:nvPr>
          </p:nvSpPr>
          <p:spPr>
            <a:xfrm>
              <a:off x="838" y="2810"/>
              <a:ext cx="2190" cy="1557"/>
            </a:xfrm>
            <a:prstGeom prst="rect">
              <a:avLst/>
            </a:prstGeom>
            <a:noFill/>
          </p:spPr>
          <p:txBody>
            <a:bodyPr wrap="square" rtlCol="0">
              <a:spAutoFit/>
            </a:bodyPr>
            <a:lstStyle/>
            <a:p>
              <a:pPr marL="171450" marR="0" lvl="0" indent="-171450" algn="just" defTabSz="914400" rtl="0" fontAlgn="auto">
                <a:lnSpc>
                  <a:spcPts val="1000"/>
                </a:lnSpc>
                <a:spcBef>
                  <a:spcPts val="0"/>
                </a:spcBef>
                <a:spcAft>
                  <a:spcPts val="0"/>
                </a:spcAft>
                <a:buClrTx/>
                <a:buSzTx/>
                <a:buFont typeface="Wingdings" panose="05000000000000000000" charset="0"/>
                <a:buChar char="Ø"/>
                <a:defRPr/>
              </a:pPr>
              <a:r>
                <a:rPr kumimoji="0" lang="zh-CN" altLang="en-US" sz="8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任务实施：</a:t>
              </a:r>
              <a:r>
                <a:rPr kumimoji="0" lang="zh-CN" altLang="en-US" sz="8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按照计划开展各项任务，产出项目成果，确保进度推进。</a:t>
              </a:r>
              <a:endParaRPr kumimoji="0" lang="zh-CN" altLang="en-US" sz="8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just" defTabSz="914400" rtl="0" fontAlgn="auto">
                <a:lnSpc>
                  <a:spcPts val="1000"/>
                </a:lnSpc>
                <a:spcBef>
                  <a:spcPts val="0"/>
                </a:spcBef>
                <a:spcAft>
                  <a:spcPts val="0"/>
                </a:spcAft>
                <a:buClrTx/>
                <a:buSzTx/>
                <a:buFont typeface="Wingdings" panose="05000000000000000000" charset="0"/>
                <a:buChar char="Ø"/>
                <a:defRPr/>
              </a:pPr>
              <a:r>
                <a:rPr kumimoji="0" lang="zh-CN" altLang="en-US" sz="8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团队管理与协调：</a:t>
              </a:r>
              <a:r>
                <a:rPr kumimoji="0" lang="zh-CN" altLang="en-US" sz="8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对团队工作进行监督与支持，确保协同顺利进行。</a:t>
              </a:r>
              <a:endParaRPr kumimoji="0" lang="zh-CN" altLang="en-US" sz="8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just" defTabSz="914400" rtl="0" fontAlgn="auto">
                <a:lnSpc>
                  <a:spcPts val="1000"/>
                </a:lnSpc>
                <a:spcBef>
                  <a:spcPts val="0"/>
                </a:spcBef>
                <a:spcAft>
                  <a:spcPts val="0"/>
                </a:spcAft>
                <a:buClrTx/>
                <a:buSzTx/>
                <a:buFont typeface="Wingdings" panose="05000000000000000000" charset="0"/>
                <a:buChar char="Ø"/>
                <a:defRPr/>
              </a:pPr>
              <a:endParaRPr kumimoji="0" lang="zh-CN" altLang="en-US" sz="8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7" name="文本框 156"/>
            <p:cNvSpPr txBox="1"/>
            <p:nvPr>
              <p:custDataLst>
                <p:tags r:id="rId14"/>
              </p:custDataLst>
            </p:nvPr>
          </p:nvSpPr>
          <p:spPr>
            <a:xfrm>
              <a:off x="893" y="2424"/>
              <a:ext cx="2117" cy="386"/>
            </a:xfrm>
            <a:prstGeom prst="rect">
              <a:avLst/>
            </a:prstGeom>
            <a:noFill/>
          </p:spPr>
          <p:txBody>
            <a:bodyPr wrap="square" rtlCol="0">
              <a:spAutoFit/>
            </a:bodyPr>
            <a:lstStyle/>
            <a:p>
              <a:pPr marR="0" lvl="0" indent="0" algn="just" defTabSz="914400" rtl="0" eaLnBrk="1" fontAlgn="auto" latinLnBrk="0" hangingPunct="1">
                <a:lnSpc>
                  <a:spcPct val="100000"/>
                </a:lnSpc>
                <a:spcBef>
                  <a:spcPts val="0"/>
                </a:spcBef>
                <a:spcAft>
                  <a:spcPts val="0"/>
                </a:spcAft>
                <a:buClrTx/>
                <a:buSzTx/>
                <a:buFont typeface="Wingdings" panose="05000000000000000000" charset="0"/>
                <a:buNone/>
                <a:defRPr/>
              </a:pP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en-US" altLang="zh-CN"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2026</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年</a:t>
              </a:r>
              <a:r>
                <a:rPr lang="en-US" altLang="zh-CN"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5</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月</a:t>
              </a:r>
              <a:r>
                <a:rPr lang="en-US" altLang="zh-CN"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-7</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月）</a:t>
              </a:r>
              <a:endPar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58" name="组合 157"/>
          <p:cNvGrpSpPr/>
          <p:nvPr/>
        </p:nvGrpSpPr>
        <p:grpSpPr>
          <a:xfrm>
            <a:off x="6308090" y="2110105"/>
            <a:ext cx="1679575" cy="1483360"/>
            <a:chOff x="820" y="1695"/>
            <a:chExt cx="2645" cy="2336"/>
          </a:xfrm>
        </p:grpSpPr>
        <p:sp>
          <p:nvSpPr>
            <p:cNvPr id="159" name="矩形 158"/>
            <p:cNvSpPr/>
            <p:nvPr>
              <p:custDataLst>
                <p:tags r:id="rId15"/>
              </p:custDataLst>
            </p:nvPr>
          </p:nvSpPr>
          <p:spPr>
            <a:xfrm>
              <a:off x="820" y="1695"/>
              <a:ext cx="2645" cy="2336"/>
            </a:xfrm>
            <a:prstGeom prst="rect">
              <a:avLst/>
            </a:prstGeom>
            <a:solidFill>
              <a:schemeClr val="accent1">
                <a:lumMod val="20000"/>
                <a:lumOff val="80000"/>
                <a:alpha val="10000"/>
              </a:schemeClr>
            </a:solidFill>
            <a:ln>
              <a:solidFill>
                <a:schemeClr val="accent1">
                  <a:lumMod val="60000"/>
                  <a:lumOff val="40000"/>
                  <a:alpha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85954" tIns="42977" rIns="85954" bIns="42977"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60" name="矩形 159"/>
            <p:cNvSpPr/>
            <p:nvPr>
              <p:custDataLst>
                <p:tags r:id="rId16"/>
              </p:custDataLst>
            </p:nvPr>
          </p:nvSpPr>
          <p:spPr>
            <a:xfrm>
              <a:off x="820" y="1697"/>
              <a:ext cx="2645" cy="661"/>
            </a:xfrm>
            <a:prstGeom prst="rect">
              <a:avLst/>
            </a:pr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5954" tIns="42977" rIns="85954" bIns="42977"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61" name="文本框 64"/>
            <p:cNvSpPr txBox="1"/>
            <p:nvPr/>
          </p:nvSpPr>
          <p:spPr>
            <a:xfrm>
              <a:off x="1012" y="1755"/>
              <a:ext cx="2261" cy="545"/>
            </a:xfrm>
            <a:prstGeom prst="rect">
              <a:avLst/>
            </a:prstGeom>
            <a:noFill/>
            <a:effectLst/>
          </p:spPr>
          <p:txBody>
            <a:bodyPr wrap="square" lIns="85954" tIns="42977" rIns="85954" bIns="42977"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r>
                <a:rPr lang="zh-CN" altLang="en-US" sz="1695" b="1" dirty="0">
                  <a:solidFill>
                    <a:prstClr val="white"/>
                  </a:solidFill>
                  <a:latin typeface="微软雅黑" panose="020B0503020204020204" charset="-122"/>
                  <a:ea typeface="微软雅黑" panose="020B0503020204020204" charset="-122"/>
                  <a:cs typeface="微软雅黑" panose="020B0503020204020204" charset="-122"/>
                </a:rPr>
                <a:t>项目监控</a:t>
              </a:r>
              <a:endParaRPr lang="zh-CN" altLang="en-US" sz="1695" b="1"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62" name="文本框 161"/>
            <p:cNvSpPr txBox="1"/>
            <p:nvPr>
              <p:custDataLst>
                <p:tags r:id="rId17"/>
              </p:custDataLst>
            </p:nvPr>
          </p:nvSpPr>
          <p:spPr>
            <a:xfrm>
              <a:off x="903" y="2810"/>
              <a:ext cx="2480" cy="1153"/>
            </a:xfrm>
            <a:prstGeom prst="rect">
              <a:avLst/>
            </a:prstGeom>
            <a:noFill/>
          </p:spPr>
          <p:txBody>
            <a:bodyPr wrap="square" rtlCol="0">
              <a:spAutoFit/>
            </a:bodyPr>
            <a:lstStyle/>
            <a:p>
              <a:pPr marL="171450" marR="0" lvl="0" indent="-171450" algn="just" defTabSz="914400" rtl="0" fontAlgn="auto">
                <a:lnSpc>
                  <a:spcPts val="1000"/>
                </a:lnSpc>
                <a:spcBef>
                  <a:spcPts val="0"/>
                </a:spcBef>
                <a:spcAft>
                  <a:spcPts val="0"/>
                </a:spcAft>
                <a:buClrTx/>
                <a:buSzTx/>
                <a:buFont typeface="Wingdings" panose="05000000000000000000" charset="0"/>
                <a:buChar char="Ø"/>
                <a:defRPr/>
              </a:pPr>
              <a:r>
                <a:rPr kumimoji="0" lang="zh-CN" altLang="en-US" sz="8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监控与调整进度：跟踪项目进展，确保任务按时完成。</a:t>
              </a:r>
              <a:endParaRPr kumimoji="0" lang="zh-CN" altLang="en-US" sz="8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just" defTabSz="914400" rtl="0" fontAlgn="auto">
                <a:lnSpc>
                  <a:spcPts val="1000"/>
                </a:lnSpc>
                <a:spcBef>
                  <a:spcPts val="0"/>
                </a:spcBef>
                <a:spcAft>
                  <a:spcPts val="0"/>
                </a:spcAft>
                <a:buClrTx/>
                <a:buSzTx/>
                <a:buFont typeface="Wingdings" panose="05000000000000000000" charset="0"/>
                <a:buChar char="Ø"/>
                <a:defRPr/>
              </a:pPr>
              <a:r>
                <a:rPr kumimoji="0" lang="zh-CN" altLang="en-US" sz="8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质量控制：对项目成果进行质量检查，确保符合要求，必要时采取纠正措施。</a:t>
              </a:r>
              <a:endParaRPr kumimoji="0" lang="zh-CN" altLang="en-US" sz="8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3" name="文本框 162"/>
            <p:cNvSpPr txBox="1"/>
            <p:nvPr>
              <p:custDataLst>
                <p:tags r:id="rId18"/>
              </p:custDataLst>
            </p:nvPr>
          </p:nvSpPr>
          <p:spPr>
            <a:xfrm>
              <a:off x="1084" y="2424"/>
              <a:ext cx="2117" cy="386"/>
            </a:xfrm>
            <a:prstGeom prst="rect">
              <a:avLst/>
            </a:prstGeom>
            <a:noFill/>
          </p:spPr>
          <p:txBody>
            <a:bodyPr wrap="square" rtlCol="0">
              <a:spAutoFit/>
            </a:bodyPr>
            <a:lstStyle/>
            <a:p>
              <a:pPr marR="0" lvl="0" indent="0" algn="just" defTabSz="914400" rtl="0" eaLnBrk="1" fontAlgn="auto" latinLnBrk="0" hangingPunct="1">
                <a:lnSpc>
                  <a:spcPct val="100000"/>
                </a:lnSpc>
                <a:spcBef>
                  <a:spcPts val="0"/>
                </a:spcBef>
                <a:spcAft>
                  <a:spcPts val="0"/>
                </a:spcAft>
                <a:buClrTx/>
                <a:buSzTx/>
                <a:buFont typeface="Wingdings" panose="05000000000000000000" charset="0"/>
                <a:buNone/>
                <a:defRPr/>
              </a:pP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en-US" altLang="zh-CN"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2026</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年</a:t>
              </a:r>
              <a:r>
                <a:rPr lang="en-US" altLang="zh-CN"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8</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月</a:t>
              </a:r>
              <a:r>
                <a:rPr lang="en-US" altLang="zh-CN"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-9</a:t>
              </a: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月）</a:t>
              </a:r>
              <a:endPar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64" name="组合 163"/>
          <p:cNvGrpSpPr/>
          <p:nvPr/>
        </p:nvGrpSpPr>
        <p:grpSpPr>
          <a:xfrm>
            <a:off x="8255000" y="1054100"/>
            <a:ext cx="2049780" cy="1440180"/>
            <a:chOff x="820" y="1695"/>
            <a:chExt cx="3228" cy="2268"/>
          </a:xfrm>
        </p:grpSpPr>
        <p:sp>
          <p:nvSpPr>
            <p:cNvPr id="165" name="矩形 164"/>
            <p:cNvSpPr/>
            <p:nvPr>
              <p:custDataLst>
                <p:tags r:id="rId19"/>
              </p:custDataLst>
            </p:nvPr>
          </p:nvSpPr>
          <p:spPr>
            <a:xfrm>
              <a:off x="820" y="1695"/>
              <a:ext cx="3228" cy="2222"/>
            </a:xfrm>
            <a:prstGeom prst="rect">
              <a:avLst/>
            </a:prstGeom>
            <a:solidFill>
              <a:schemeClr val="accent5">
                <a:lumMod val="20000"/>
                <a:lumOff val="80000"/>
                <a:alpha val="10000"/>
              </a:schemeClr>
            </a:solidFill>
            <a:ln>
              <a:solidFill>
                <a:schemeClr val="accent5">
                  <a:alpha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85954" tIns="42977" rIns="85954" bIns="42977"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66" name="矩形 165"/>
            <p:cNvSpPr/>
            <p:nvPr>
              <p:custDataLst>
                <p:tags r:id="rId20"/>
              </p:custDataLst>
            </p:nvPr>
          </p:nvSpPr>
          <p:spPr>
            <a:xfrm>
              <a:off x="820" y="1697"/>
              <a:ext cx="3228" cy="661"/>
            </a:xfrm>
            <a:prstGeom prst="rect">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5954" tIns="42977" rIns="85954" bIns="42977"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67" name="文本框 64"/>
            <p:cNvSpPr txBox="1"/>
            <p:nvPr/>
          </p:nvSpPr>
          <p:spPr>
            <a:xfrm>
              <a:off x="1304" y="1755"/>
              <a:ext cx="2261" cy="545"/>
            </a:xfrm>
            <a:prstGeom prst="rect">
              <a:avLst/>
            </a:prstGeom>
            <a:noFill/>
            <a:effectLst/>
          </p:spPr>
          <p:txBody>
            <a:bodyPr wrap="square" lIns="85954" tIns="42977" rIns="85954" bIns="42977"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r>
                <a:rPr lang="zh-CN" altLang="en-US" sz="1695" b="1" dirty="0">
                  <a:solidFill>
                    <a:prstClr val="white"/>
                  </a:solidFill>
                  <a:latin typeface="微软雅黑" panose="020B0503020204020204" charset="-122"/>
                  <a:ea typeface="微软雅黑" panose="020B0503020204020204" charset="-122"/>
                  <a:cs typeface="微软雅黑" panose="020B0503020204020204" charset="-122"/>
                </a:rPr>
                <a:t>项目收尾</a:t>
              </a:r>
              <a:endParaRPr lang="zh-CN" altLang="en-US" sz="1695" b="1"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68" name="文本框 167"/>
            <p:cNvSpPr txBox="1"/>
            <p:nvPr>
              <p:custDataLst>
                <p:tags r:id="rId21"/>
              </p:custDataLst>
            </p:nvPr>
          </p:nvSpPr>
          <p:spPr>
            <a:xfrm>
              <a:off x="887" y="2810"/>
              <a:ext cx="3094" cy="1153"/>
            </a:xfrm>
            <a:prstGeom prst="rect">
              <a:avLst/>
            </a:prstGeom>
            <a:noFill/>
          </p:spPr>
          <p:txBody>
            <a:bodyPr wrap="square" rtlCol="0">
              <a:spAutoFit/>
            </a:bodyPr>
            <a:lstStyle/>
            <a:p>
              <a:pPr marL="171450" marR="0" lvl="0" indent="-171450" algn="just" defTabSz="914400" rtl="0" fontAlgn="auto">
                <a:lnSpc>
                  <a:spcPts val="1000"/>
                </a:lnSpc>
                <a:spcBef>
                  <a:spcPts val="0"/>
                </a:spcBef>
                <a:spcAft>
                  <a:spcPts val="0"/>
                </a:spcAft>
                <a:buClrTx/>
                <a:buSzTx/>
                <a:buFont typeface="Wingdings" panose="05000000000000000000" charset="0"/>
                <a:buChar char="Ø"/>
                <a:defRPr/>
              </a:pPr>
              <a:r>
                <a:rPr kumimoji="0" lang="zh-CN" altLang="en-US" sz="8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总结项目表现：</a:t>
              </a:r>
              <a:r>
                <a:rPr kumimoji="0" lang="zh-CN" altLang="en-US" sz="8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对项目进行全面回顾，总结优点和不足；</a:t>
              </a:r>
              <a:endParaRPr kumimoji="0" lang="zh-CN" altLang="en-US" sz="8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just" defTabSz="914400" rtl="0" fontAlgn="auto">
                <a:lnSpc>
                  <a:spcPts val="1000"/>
                </a:lnSpc>
                <a:spcBef>
                  <a:spcPts val="0"/>
                </a:spcBef>
                <a:spcAft>
                  <a:spcPts val="0"/>
                </a:spcAft>
                <a:buClrTx/>
                <a:buSzTx/>
                <a:buFont typeface="Wingdings" panose="05000000000000000000" charset="0"/>
                <a:buChar char="Ø"/>
                <a:defRPr/>
              </a:pPr>
              <a:r>
                <a:rPr kumimoji="0" lang="zh-CN" altLang="en-US" sz="8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整理项目文档：</a:t>
              </a:r>
              <a:r>
                <a:rPr kumimoji="0" lang="zh-CN" altLang="en-US" sz="8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按照规范归档，提供详细的操作手册和技术文档。</a:t>
              </a:r>
              <a:endParaRPr kumimoji="0" lang="zh-CN" altLang="en-US" sz="8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just" defTabSz="914400" rtl="0" fontAlgn="auto">
                <a:lnSpc>
                  <a:spcPts val="1000"/>
                </a:lnSpc>
                <a:spcBef>
                  <a:spcPts val="0"/>
                </a:spcBef>
                <a:spcAft>
                  <a:spcPts val="0"/>
                </a:spcAft>
                <a:buClrTx/>
                <a:buSzTx/>
                <a:buFont typeface="Wingdings" panose="05000000000000000000" charset="0"/>
                <a:buChar char="Ø"/>
                <a:defRPr/>
              </a:pPr>
              <a:endParaRPr kumimoji="0" lang="zh-CN" altLang="en-US" sz="8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9" name="文本框 168"/>
            <p:cNvSpPr txBox="1"/>
            <p:nvPr>
              <p:custDataLst>
                <p:tags r:id="rId22"/>
              </p:custDataLst>
            </p:nvPr>
          </p:nvSpPr>
          <p:spPr>
            <a:xfrm>
              <a:off x="1376" y="2424"/>
              <a:ext cx="2117" cy="386"/>
            </a:xfrm>
            <a:prstGeom prst="rect">
              <a:avLst/>
            </a:prstGeom>
            <a:noFill/>
          </p:spPr>
          <p:txBody>
            <a:bodyPr wrap="square" rtlCol="0">
              <a:spAutoFit/>
            </a:bodyPr>
            <a:lstStyle/>
            <a:p>
              <a:pPr marR="0" lvl="0" indent="0" algn="just" defTabSz="914400" rtl="0" eaLnBrk="1" fontAlgn="auto" latinLnBrk="0" hangingPunct="1">
                <a:lnSpc>
                  <a:spcPct val="100000"/>
                </a:lnSpc>
                <a:spcBef>
                  <a:spcPts val="0"/>
                </a:spcBef>
                <a:spcAft>
                  <a:spcPts val="0"/>
                </a:spcAft>
                <a:buClrTx/>
                <a:buSzTx/>
                <a:buFont typeface="Wingdings" panose="05000000000000000000" charset="0"/>
                <a:buNone/>
                <a:defRPr/>
              </a:pPr>
              <a:r>
                <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en-US" altLang="zh-CN"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2026</a:t>
              </a:r>
              <a:r>
                <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年</a:t>
              </a:r>
              <a:r>
                <a:rPr kumimoji="0" lang="en-US" altLang="zh-CN"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10</a:t>
              </a:r>
              <a:r>
                <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月</a:t>
              </a:r>
              <a:r>
                <a:rPr kumimoji="0" lang="en-US" altLang="zh-CN"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-12</a:t>
              </a:r>
              <a:r>
                <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月）</a:t>
              </a:r>
              <a:endParaRPr kumimoji="0" lang="zh-CN" altLang="en-US" sz="10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172" name="任意多边形: 形状 271"/>
          <p:cNvSpPr/>
          <p:nvPr/>
        </p:nvSpPr>
        <p:spPr>
          <a:xfrm flipH="1">
            <a:off x="8955405" y="2465070"/>
            <a:ext cx="279400" cy="590550"/>
          </a:xfrm>
          <a:custGeom>
            <a:avLst/>
            <a:gdLst>
              <a:gd name="connsiteX0" fmla="*/ 1400537 w 1400537"/>
              <a:gd name="connsiteY0" fmla="*/ 243069 h 243069"/>
              <a:gd name="connsiteX1" fmla="*/ 0 w 1400537"/>
              <a:gd name="connsiteY1" fmla="*/ 243069 h 243069"/>
              <a:gd name="connsiteX2" fmla="*/ 0 w 1400537"/>
              <a:gd name="connsiteY2" fmla="*/ 0 h 243069"/>
            </a:gdLst>
            <a:ahLst/>
            <a:cxnLst>
              <a:cxn ang="0">
                <a:pos x="connsiteX0" y="connsiteY0"/>
              </a:cxn>
              <a:cxn ang="0">
                <a:pos x="connsiteX1" y="connsiteY1"/>
              </a:cxn>
              <a:cxn ang="0">
                <a:pos x="connsiteX2" y="connsiteY2"/>
              </a:cxn>
            </a:cxnLst>
            <a:rect l="l" t="t" r="r" b="b"/>
            <a:pathLst>
              <a:path w="1400537" h="243069">
                <a:moveTo>
                  <a:pt x="1400537" y="243069"/>
                </a:moveTo>
                <a:lnTo>
                  <a:pt x="0" y="243069"/>
                </a:lnTo>
                <a:lnTo>
                  <a:pt x="0" y="0"/>
                </a:lnTo>
              </a:path>
            </a:pathLst>
          </a:custGeom>
          <a:noFill/>
          <a:ln w="11938">
            <a:solidFill>
              <a:schemeClr val="tx2">
                <a:lumMod val="60000"/>
                <a:lumOff val="40000"/>
              </a:schemeClr>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lIns="85954" tIns="42977" rIns="85954" bIns="42977"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82" name="任意多边形: 形状 271"/>
          <p:cNvSpPr/>
          <p:nvPr/>
        </p:nvSpPr>
        <p:spPr>
          <a:xfrm>
            <a:off x="3668395" y="5314950"/>
            <a:ext cx="553720" cy="347980"/>
          </a:xfrm>
          <a:custGeom>
            <a:avLst/>
            <a:gdLst>
              <a:gd name="connsiteX0" fmla="*/ 1400537 w 1400537"/>
              <a:gd name="connsiteY0" fmla="*/ 243069 h 243069"/>
              <a:gd name="connsiteX1" fmla="*/ 0 w 1400537"/>
              <a:gd name="connsiteY1" fmla="*/ 243069 h 243069"/>
              <a:gd name="connsiteX2" fmla="*/ 0 w 1400537"/>
              <a:gd name="connsiteY2" fmla="*/ 0 h 243069"/>
            </a:gdLst>
            <a:ahLst/>
            <a:cxnLst>
              <a:cxn ang="0">
                <a:pos x="connsiteX0" y="connsiteY0"/>
              </a:cxn>
              <a:cxn ang="0">
                <a:pos x="connsiteX1" y="connsiteY1"/>
              </a:cxn>
              <a:cxn ang="0">
                <a:pos x="connsiteX2" y="connsiteY2"/>
              </a:cxn>
            </a:cxnLst>
            <a:rect l="l" t="t" r="r" b="b"/>
            <a:pathLst>
              <a:path w="1400537" h="243069">
                <a:moveTo>
                  <a:pt x="1400537" y="243069"/>
                </a:moveTo>
                <a:lnTo>
                  <a:pt x="0" y="243069"/>
                </a:lnTo>
                <a:lnTo>
                  <a:pt x="0" y="0"/>
                </a:lnTo>
              </a:path>
            </a:pathLst>
          </a:custGeom>
          <a:noFill/>
          <a:ln w="11938">
            <a:solidFill>
              <a:schemeClr val="tx2">
                <a:lumMod val="60000"/>
                <a:lumOff val="40000"/>
              </a:schemeClr>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lIns="85954" tIns="42977" rIns="85954" bIns="42977"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grpSp>
        <p:nvGrpSpPr>
          <p:cNvPr id="183" name="组合 182"/>
          <p:cNvGrpSpPr/>
          <p:nvPr/>
        </p:nvGrpSpPr>
        <p:grpSpPr>
          <a:xfrm rot="0">
            <a:off x="4145280" y="5600700"/>
            <a:ext cx="111760" cy="120650"/>
            <a:chOff x="4021244" y="6097130"/>
            <a:chExt cx="236123" cy="236123"/>
          </a:xfrm>
        </p:grpSpPr>
        <p:sp>
          <p:nvSpPr>
            <p:cNvPr id="184" name="椭圆 183"/>
            <p:cNvSpPr/>
            <p:nvPr/>
          </p:nvSpPr>
          <p:spPr>
            <a:xfrm>
              <a:off x="4021244" y="6097130"/>
              <a:ext cx="236123" cy="236123"/>
            </a:xfrm>
            <a:prstGeom prst="ellipse">
              <a:avLst/>
            </a:prstGeom>
            <a:solidFill>
              <a:schemeClr val="accent1">
                <a:lumMod val="60000"/>
                <a:lumOff val="40000"/>
                <a:alpha val="73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5954" tIns="42977" rIns="85954" bIns="42977"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85" name="椭圆 184"/>
            <p:cNvSpPr/>
            <p:nvPr/>
          </p:nvSpPr>
          <p:spPr>
            <a:xfrm>
              <a:off x="4094922" y="6170806"/>
              <a:ext cx="88761" cy="88761"/>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5954" tIns="42977" rIns="85954" bIns="42977"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grpSp>
      <p:sp>
        <p:nvSpPr>
          <p:cNvPr id="186" name="任意多边形: 形状 271"/>
          <p:cNvSpPr/>
          <p:nvPr/>
        </p:nvSpPr>
        <p:spPr>
          <a:xfrm>
            <a:off x="5273675" y="4543425"/>
            <a:ext cx="553720" cy="347980"/>
          </a:xfrm>
          <a:custGeom>
            <a:avLst/>
            <a:gdLst>
              <a:gd name="connsiteX0" fmla="*/ 1400537 w 1400537"/>
              <a:gd name="connsiteY0" fmla="*/ 243069 h 243069"/>
              <a:gd name="connsiteX1" fmla="*/ 0 w 1400537"/>
              <a:gd name="connsiteY1" fmla="*/ 243069 h 243069"/>
              <a:gd name="connsiteX2" fmla="*/ 0 w 1400537"/>
              <a:gd name="connsiteY2" fmla="*/ 0 h 243069"/>
            </a:gdLst>
            <a:ahLst/>
            <a:cxnLst>
              <a:cxn ang="0">
                <a:pos x="connsiteX0" y="connsiteY0"/>
              </a:cxn>
              <a:cxn ang="0">
                <a:pos x="connsiteX1" y="connsiteY1"/>
              </a:cxn>
              <a:cxn ang="0">
                <a:pos x="connsiteX2" y="connsiteY2"/>
              </a:cxn>
            </a:cxnLst>
            <a:rect l="l" t="t" r="r" b="b"/>
            <a:pathLst>
              <a:path w="1400537" h="243069">
                <a:moveTo>
                  <a:pt x="1400537" y="243069"/>
                </a:moveTo>
                <a:lnTo>
                  <a:pt x="0" y="243069"/>
                </a:lnTo>
                <a:lnTo>
                  <a:pt x="0" y="0"/>
                </a:lnTo>
              </a:path>
            </a:pathLst>
          </a:custGeom>
          <a:noFill/>
          <a:ln w="11938">
            <a:solidFill>
              <a:schemeClr val="tx2">
                <a:lumMod val="60000"/>
                <a:lumOff val="40000"/>
              </a:schemeClr>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lIns="85954" tIns="42977" rIns="85954" bIns="42977"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grpSp>
        <p:nvGrpSpPr>
          <p:cNvPr id="187" name="组合 186"/>
          <p:cNvGrpSpPr/>
          <p:nvPr/>
        </p:nvGrpSpPr>
        <p:grpSpPr>
          <a:xfrm rot="0">
            <a:off x="5750560" y="4829175"/>
            <a:ext cx="111760" cy="120650"/>
            <a:chOff x="4021244" y="6097130"/>
            <a:chExt cx="236123" cy="236123"/>
          </a:xfrm>
        </p:grpSpPr>
        <p:sp>
          <p:nvSpPr>
            <p:cNvPr id="188" name="椭圆 187"/>
            <p:cNvSpPr/>
            <p:nvPr/>
          </p:nvSpPr>
          <p:spPr>
            <a:xfrm>
              <a:off x="4021244" y="6097130"/>
              <a:ext cx="236123" cy="236123"/>
            </a:xfrm>
            <a:prstGeom prst="ellipse">
              <a:avLst/>
            </a:prstGeom>
            <a:solidFill>
              <a:schemeClr val="accent1">
                <a:lumMod val="60000"/>
                <a:lumOff val="40000"/>
                <a:alpha val="73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5954" tIns="42977" rIns="85954" bIns="42977"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89" name="椭圆 188"/>
            <p:cNvSpPr/>
            <p:nvPr/>
          </p:nvSpPr>
          <p:spPr>
            <a:xfrm>
              <a:off x="4094922" y="6170806"/>
              <a:ext cx="88761" cy="88761"/>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5954" tIns="42977" rIns="85954" bIns="42977"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grpSp>
      <p:sp>
        <p:nvSpPr>
          <p:cNvPr id="191" name="椭圆 190"/>
          <p:cNvSpPr/>
          <p:nvPr/>
        </p:nvSpPr>
        <p:spPr>
          <a:xfrm>
            <a:off x="7092315" y="4027805"/>
            <a:ext cx="111760" cy="120650"/>
          </a:xfrm>
          <a:prstGeom prst="ellipse">
            <a:avLst/>
          </a:prstGeom>
          <a:solidFill>
            <a:schemeClr val="accent1">
              <a:lumMod val="60000"/>
              <a:lumOff val="40000"/>
              <a:alpha val="73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5954" tIns="42977" rIns="85954" bIns="42977"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92" name="椭圆 191"/>
          <p:cNvSpPr/>
          <p:nvPr/>
        </p:nvSpPr>
        <p:spPr>
          <a:xfrm>
            <a:off x="7127188" y="4065451"/>
            <a:ext cx="42012" cy="45354"/>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5954" tIns="42977" rIns="85954" bIns="42977"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93" name="椭圆 192"/>
          <p:cNvSpPr/>
          <p:nvPr/>
        </p:nvSpPr>
        <p:spPr>
          <a:xfrm>
            <a:off x="8878570" y="2990850"/>
            <a:ext cx="111760" cy="120650"/>
          </a:xfrm>
          <a:prstGeom prst="ellipse">
            <a:avLst/>
          </a:prstGeom>
          <a:solidFill>
            <a:schemeClr val="accent5">
              <a:alpha val="73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5954" tIns="42977" rIns="85954" bIns="42977"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94" name="椭圆 193"/>
          <p:cNvSpPr/>
          <p:nvPr/>
        </p:nvSpPr>
        <p:spPr>
          <a:xfrm>
            <a:off x="8913443" y="3028496"/>
            <a:ext cx="42012" cy="45354"/>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5954" tIns="42977" rIns="85954" bIns="42977"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95" name="任意多边形: 形状 271"/>
          <p:cNvSpPr/>
          <p:nvPr/>
        </p:nvSpPr>
        <p:spPr>
          <a:xfrm>
            <a:off x="6950710" y="3583305"/>
            <a:ext cx="141605" cy="501015"/>
          </a:xfrm>
          <a:custGeom>
            <a:avLst/>
            <a:gdLst>
              <a:gd name="connsiteX0" fmla="*/ 1400537 w 1400537"/>
              <a:gd name="connsiteY0" fmla="*/ 243069 h 243069"/>
              <a:gd name="connsiteX1" fmla="*/ 0 w 1400537"/>
              <a:gd name="connsiteY1" fmla="*/ 243069 h 243069"/>
              <a:gd name="connsiteX2" fmla="*/ 0 w 1400537"/>
              <a:gd name="connsiteY2" fmla="*/ 0 h 243069"/>
            </a:gdLst>
            <a:ahLst/>
            <a:cxnLst>
              <a:cxn ang="0">
                <a:pos x="connsiteX0" y="connsiteY0"/>
              </a:cxn>
              <a:cxn ang="0">
                <a:pos x="connsiteX1" y="connsiteY1"/>
              </a:cxn>
              <a:cxn ang="0">
                <a:pos x="connsiteX2" y="connsiteY2"/>
              </a:cxn>
            </a:cxnLst>
            <a:rect l="l" t="t" r="r" b="b"/>
            <a:pathLst>
              <a:path w="1400537" h="243069">
                <a:moveTo>
                  <a:pt x="1400537" y="243069"/>
                </a:moveTo>
                <a:lnTo>
                  <a:pt x="0" y="243069"/>
                </a:lnTo>
                <a:lnTo>
                  <a:pt x="0" y="0"/>
                </a:lnTo>
              </a:path>
            </a:pathLst>
          </a:custGeom>
          <a:noFill/>
          <a:ln w="11938">
            <a:solidFill>
              <a:schemeClr val="tx2">
                <a:lumMod val="60000"/>
                <a:lumOff val="40000"/>
              </a:schemeClr>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lIns="85954" tIns="42977" rIns="85954" bIns="42977"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sz="1695">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96" name="五边形 195"/>
          <p:cNvSpPr/>
          <p:nvPr/>
        </p:nvSpPr>
        <p:spPr>
          <a:xfrm>
            <a:off x="1232535" y="1226185"/>
            <a:ext cx="5481320" cy="623570"/>
          </a:xfrm>
          <a:prstGeom prst="homePlate">
            <a:avLst/>
          </a:prstGeom>
          <a:gradFill>
            <a:gsLst>
              <a:gs pos="0">
                <a:schemeClr val="accent5"/>
              </a:gs>
              <a:gs pos="100000">
                <a:schemeClr val="accent5">
                  <a:lumMod val="60000"/>
                  <a:lumOff val="4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97" name="椭圆 196"/>
          <p:cNvSpPr/>
          <p:nvPr/>
        </p:nvSpPr>
        <p:spPr>
          <a:xfrm>
            <a:off x="728991" y="1124561"/>
            <a:ext cx="826188" cy="826188"/>
          </a:xfrm>
          <a:prstGeom prst="ellipse">
            <a:avLst/>
          </a:prstGeom>
          <a:solidFill>
            <a:schemeClr val="accent5"/>
          </a:solid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98" name="TextBox 50"/>
          <p:cNvSpPr txBox="1"/>
          <p:nvPr/>
        </p:nvSpPr>
        <p:spPr>
          <a:xfrm>
            <a:off x="1505585" y="1950720"/>
            <a:ext cx="4244975" cy="283210"/>
          </a:xfrm>
          <a:prstGeom prst="rect">
            <a:avLst/>
          </a:prstGeom>
          <a:noFill/>
        </p:spPr>
        <p:txBody>
          <a:bodyPr wrap="square" rtlCol="0">
            <a:spAutoFit/>
          </a:bodyPr>
          <a:lstStyle>
            <a:defPPr>
              <a:defRPr lang="zh-CN"/>
            </a:defPPr>
            <a:lvl1pPr>
              <a:lnSpc>
                <a:spcPct val="120000"/>
              </a:lnSpc>
              <a:defRPr sz="1200">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tx2">
                    <a:alpha val="70000"/>
                  </a:schemeClr>
                </a:solidFill>
                <a:effectLst/>
                <a:uLnTx/>
                <a:uFillTx/>
                <a:latin typeface="微软雅黑" panose="020B0503020204020204" charset="-122"/>
                <a:ea typeface="微软雅黑" panose="020B0503020204020204" charset="-122"/>
                <a:cs typeface="微软雅黑" panose="020B0503020204020204" charset="-122"/>
              </a:rPr>
              <a:t>核心思路：</a:t>
            </a:r>
            <a:r>
              <a:rPr kumimoji="0" lang="zh-CN" altLang="en-US" sz="1000" b="0" i="0" u="none" strike="noStrike" kern="1200" cap="none" spc="0" normalizeH="0" baseline="0" noProof="0" dirty="0">
                <a:ln>
                  <a:noFill/>
                </a:ln>
                <a:solidFill>
                  <a:schemeClr val="tx2">
                    <a:alpha val="70000"/>
                  </a:schemeClr>
                </a:solidFill>
                <a:effectLst/>
                <a:uLnTx/>
                <a:uFillTx/>
                <a:latin typeface="微软雅黑" panose="020B0503020204020204" charset="-122"/>
                <a:ea typeface="微软雅黑" panose="020B0503020204020204" charset="-122"/>
                <a:cs typeface="微软雅黑" panose="020B0503020204020204" charset="-122"/>
              </a:rPr>
              <a:t>全年运营工作围绕</a:t>
            </a:r>
            <a:r>
              <a:rPr kumimoji="0" lang="en-US" altLang="zh-CN" sz="1000" b="0" i="0" u="none" strike="noStrike" kern="1200" cap="none" spc="0" normalizeH="0" baseline="0" noProof="0" dirty="0">
                <a:ln>
                  <a:noFill/>
                </a:ln>
                <a:solidFill>
                  <a:schemeClr val="tx2">
                    <a:alpha val="70000"/>
                  </a:schemeClr>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000" b="0" i="0" u="none" strike="noStrike" kern="1200" cap="none" spc="0" normalizeH="0" baseline="0" noProof="0" dirty="0">
                <a:ln>
                  <a:noFill/>
                </a:ln>
                <a:solidFill>
                  <a:schemeClr val="tx2">
                    <a:alpha val="70000"/>
                  </a:schemeClr>
                </a:solidFill>
                <a:effectLst/>
                <a:uLnTx/>
                <a:uFillTx/>
                <a:latin typeface="微软雅黑" panose="020B0503020204020204" charset="-122"/>
                <a:ea typeface="微软雅黑" panose="020B0503020204020204" charset="-122"/>
                <a:cs typeface="微软雅黑" panose="020B0503020204020204" charset="-122"/>
              </a:rPr>
              <a:t>用户增长</a:t>
            </a:r>
            <a:r>
              <a:rPr kumimoji="0" lang="en-US" altLang="zh-CN" sz="1000" b="0" i="0" u="none" strike="noStrike" kern="1200" cap="none" spc="0" normalizeH="0" baseline="0" noProof="0" dirty="0">
                <a:ln>
                  <a:noFill/>
                </a:ln>
                <a:solidFill>
                  <a:schemeClr val="tx2">
                    <a:alpha val="70000"/>
                  </a:schemeClr>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000" b="0" i="0" u="none" strike="noStrike" kern="1200" cap="none" spc="0" normalizeH="0" baseline="0" noProof="0" dirty="0">
                <a:ln>
                  <a:noFill/>
                </a:ln>
                <a:solidFill>
                  <a:schemeClr val="tx2">
                    <a:alpha val="70000"/>
                  </a:schemeClr>
                </a:solidFill>
                <a:effectLst/>
                <a:uLnTx/>
                <a:uFillTx/>
                <a:latin typeface="微软雅黑" panose="020B0503020204020204" charset="-122"/>
                <a:ea typeface="微软雅黑" panose="020B0503020204020204" charset="-122"/>
                <a:cs typeface="微软雅黑" panose="020B0503020204020204" charset="-122"/>
              </a:rPr>
              <a:t>与</a:t>
            </a:r>
            <a:r>
              <a:rPr kumimoji="0" lang="en-US" altLang="zh-CN" sz="1000" b="0" i="0" u="none" strike="noStrike" kern="1200" cap="none" spc="0" normalizeH="0" baseline="0" noProof="0" dirty="0">
                <a:ln>
                  <a:noFill/>
                </a:ln>
                <a:solidFill>
                  <a:schemeClr val="tx2">
                    <a:alpha val="70000"/>
                  </a:schemeClr>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000" b="0" i="0" u="none" strike="noStrike" kern="1200" cap="none" spc="0" normalizeH="0" baseline="0" noProof="0" dirty="0">
                <a:ln>
                  <a:noFill/>
                </a:ln>
                <a:solidFill>
                  <a:schemeClr val="tx2">
                    <a:alpha val="70000"/>
                  </a:schemeClr>
                </a:solidFill>
                <a:effectLst/>
                <a:uLnTx/>
                <a:uFillTx/>
                <a:latin typeface="微软雅黑" panose="020B0503020204020204" charset="-122"/>
                <a:ea typeface="微软雅黑" panose="020B0503020204020204" charset="-122"/>
                <a:cs typeface="微软雅黑" panose="020B0503020204020204" charset="-122"/>
              </a:rPr>
              <a:t>商业变现</a:t>
            </a:r>
            <a:r>
              <a:rPr kumimoji="0" lang="en-US" altLang="zh-CN" sz="1000" b="0" i="0" u="none" strike="noStrike" kern="1200" cap="none" spc="0" normalizeH="0" baseline="0" noProof="0" dirty="0">
                <a:ln>
                  <a:noFill/>
                </a:ln>
                <a:solidFill>
                  <a:schemeClr val="tx2">
                    <a:alpha val="70000"/>
                  </a:schemeClr>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000" b="0" i="0" u="none" strike="noStrike" kern="1200" cap="none" spc="0" normalizeH="0" baseline="0" noProof="0" dirty="0">
                <a:ln>
                  <a:noFill/>
                </a:ln>
                <a:solidFill>
                  <a:schemeClr val="tx2">
                    <a:alpha val="70000"/>
                  </a:schemeClr>
                </a:solidFill>
                <a:effectLst/>
                <a:uLnTx/>
                <a:uFillTx/>
                <a:latin typeface="微软雅黑" panose="020B0503020204020204" charset="-122"/>
                <a:ea typeface="微软雅黑" panose="020B0503020204020204" charset="-122"/>
                <a:cs typeface="微软雅黑" panose="020B0503020204020204" charset="-122"/>
              </a:rPr>
              <a:t>双核心展开。</a:t>
            </a:r>
            <a:endParaRPr kumimoji="0" lang="zh-CN" altLang="en-US" sz="1000" b="0" i="0" u="none" strike="noStrike" kern="1200" cap="none" spc="0" normalizeH="0" baseline="0" noProof="0" dirty="0">
              <a:ln>
                <a:noFill/>
              </a:ln>
              <a:solidFill>
                <a:schemeClr val="tx2">
                  <a:alpha val="7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99" name="TextBox 50"/>
          <p:cNvSpPr txBox="1"/>
          <p:nvPr/>
        </p:nvSpPr>
        <p:spPr>
          <a:xfrm>
            <a:off x="1615788" y="1329906"/>
            <a:ext cx="4574540" cy="4140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1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2026</a:t>
            </a:r>
            <a:r>
              <a:rPr kumimoji="0" lang="zh-CN" altLang="en-US" sz="21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年年度重点工作梳理及规划蓝图</a:t>
            </a:r>
            <a:endParaRPr kumimoji="0" lang="zh-CN" altLang="en-US" sz="21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202" name="图片 201" descr="启动"/>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964565" y="1362075"/>
            <a:ext cx="352425" cy="352425"/>
          </a:xfrm>
          <a:prstGeom prst="rect">
            <a:avLst/>
          </a:prstGeom>
        </p:spPr>
      </p:pic>
      <p:sp>
        <p:nvSpPr>
          <p:cNvPr id="203" name="矩形 202"/>
          <p:cNvSpPr/>
          <p:nvPr/>
        </p:nvSpPr>
        <p:spPr>
          <a:xfrm>
            <a:off x="1616075" y="2265680"/>
            <a:ext cx="873760" cy="228600"/>
          </a:xfrm>
          <a:prstGeom prst="rect">
            <a:avLst/>
          </a:prstGeom>
          <a:noFill/>
          <a:ln w="9525">
            <a:solidFill>
              <a:schemeClr val="tx2">
                <a:alpha val="7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2">
                    <a:alpha val="50000"/>
                  </a:schemeClr>
                </a:solidFill>
                <a:latin typeface="微软雅黑" panose="020B0503020204020204" charset="-122"/>
                <a:ea typeface="微软雅黑" panose="020B0503020204020204" charset="-122"/>
                <a:cs typeface="微软雅黑" panose="020B0503020204020204" charset="-122"/>
              </a:rPr>
              <a:t>夯实基础</a:t>
            </a:r>
            <a:endParaRPr lang="zh-CN" altLang="en-US" sz="1000">
              <a:solidFill>
                <a:schemeClr val="tx2">
                  <a:alpha val="50000"/>
                </a:schemeClr>
              </a:solidFill>
              <a:latin typeface="微软雅黑" panose="020B0503020204020204" charset="-122"/>
              <a:ea typeface="微软雅黑" panose="020B0503020204020204" charset="-122"/>
              <a:cs typeface="微软雅黑" panose="020B0503020204020204" charset="-122"/>
            </a:endParaRPr>
          </a:p>
        </p:txBody>
      </p:sp>
      <p:sp>
        <p:nvSpPr>
          <p:cNvPr id="204" name="矩形 203"/>
          <p:cNvSpPr/>
          <p:nvPr/>
        </p:nvSpPr>
        <p:spPr>
          <a:xfrm>
            <a:off x="2654935" y="2265680"/>
            <a:ext cx="873760" cy="228600"/>
          </a:xfrm>
          <a:prstGeom prst="rect">
            <a:avLst/>
          </a:prstGeom>
          <a:noFill/>
          <a:ln w="9525">
            <a:solidFill>
              <a:schemeClr val="tx2">
                <a:alpha val="7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2">
                    <a:alpha val="50000"/>
                  </a:schemeClr>
                </a:solidFill>
                <a:latin typeface="微软雅黑" panose="020B0503020204020204" charset="-122"/>
                <a:ea typeface="微软雅黑" panose="020B0503020204020204" charset="-122"/>
                <a:cs typeface="微软雅黑" panose="020B0503020204020204" charset="-122"/>
              </a:rPr>
              <a:t>爆发式增长</a:t>
            </a:r>
            <a:endParaRPr lang="zh-CN" altLang="en-US" sz="1000">
              <a:solidFill>
                <a:schemeClr val="tx2">
                  <a:alpha val="50000"/>
                </a:schemeClr>
              </a:solidFill>
              <a:latin typeface="微软雅黑" panose="020B0503020204020204" charset="-122"/>
              <a:ea typeface="微软雅黑" panose="020B0503020204020204" charset="-122"/>
              <a:cs typeface="微软雅黑" panose="020B0503020204020204" charset="-122"/>
            </a:endParaRPr>
          </a:p>
        </p:txBody>
      </p:sp>
      <p:sp>
        <p:nvSpPr>
          <p:cNvPr id="205" name="矩形 204"/>
          <p:cNvSpPr/>
          <p:nvPr/>
        </p:nvSpPr>
        <p:spPr>
          <a:xfrm>
            <a:off x="3693795" y="2265680"/>
            <a:ext cx="873760" cy="228600"/>
          </a:xfrm>
          <a:prstGeom prst="rect">
            <a:avLst/>
          </a:prstGeom>
          <a:noFill/>
          <a:ln w="9525">
            <a:solidFill>
              <a:schemeClr val="tx2">
                <a:alpha val="7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2">
                    <a:alpha val="50000"/>
                  </a:schemeClr>
                </a:solidFill>
                <a:latin typeface="微软雅黑" panose="020B0503020204020204" charset="-122"/>
                <a:ea typeface="微软雅黑" panose="020B0503020204020204" charset="-122"/>
                <a:cs typeface="微软雅黑" panose="020B0503020204020204" charset="-122"/>
              </a:rPr>
              <a:t>优化效率</a:t>
            </a:r>
            <a:endParaRPr lang="zh-CN" altLang="en-US" sz="1000">
              <a:solidFill>
                <a:schemeClr val="tx2">
                  <a:alpha val="50000"/>
                </a:schemeClr>
              </a:solidFill>
              <a:latin typeface="微软雅黑" panose="020B0503020204020204" charset="-122"/>
              <a:ea typeface="微软雅黑" panose="020B0503020204020204" charset="-122"/>
              <a:cs typeface="微软雅黑" panose="020B0503020204020204" charset="-122"/>
            </a:endParaRPr>
          </a:p>
        </p:txBody>
      </p:sp>
      <p:sp>
        <p:nvSpPr>
          <p:cNvPr id="206" name="矩形 205"/>
          <p:cNvSpPr/>
          <p:nvPr/>
        </p:nvSpPr>
        <p:spPr>
          <a:xfrm>
            <a:off x="4732655" y="2265680"/>
            <a:ext cx="873760" cy="228600"/>
          </a:xfrm>
          <a:prstGeom prst="rect">
            <a:avLst/>
          </a:prstGeom>
          <a:noFill/>
          <a:ln w="9525">
            <a:solidFill>
              <a:schemeClr val="tx2">
                <a:alpha val="7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2">
                    <a:alpha val="50000"/>
                  </a:schemeClr>
                </a:solidFill>
                <a:latin typeface="微软雅黑" panose="020B0503020204020204" charset="-122"/>
                <a:ea typeface="微软雅黑" panose="020B0503020204020204" charset="-122"/>
                <a:cs typeface="微软雅黑" panose="020B0503020204020204" charset="-122"/>
              </a:rPr>
              <a:t>战略性突破</a:t>
            </a:r>
            <a:endParaRPr lang="zh-CN" altLang="en-US" sz="1000">
              <a:solidFill>
                <a:schemeClr val="tx2">
                  <a:alpha val="50000"/>
                </a:schemeClr>
              </a:solidFill>
              <a:latin typeface="微软雅黑" panose="020B0503020204020204" charset="-122"/>
              <a:ea typeface="微软雅黑" panose="020B0503020204020204" charset="-122"/>
              <a:cs typeface="微软雅黑" panose="020B0503020204020204" charset="-122"/>
            </a:endParaRPr>
          </a:p>
        </p:txBody>
      </p:sp>
      <p:cxnSp>
        <p:nvCxnSpPr>
          <p:cNvPr id="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8738235" y="348615"/>
            <a:ext cx="3219450" cy="332740"/>
            <a:chOff x="13761" y="549"/>
            <a:chExt cx="5070" cy="524"/>
          </a:xfrm>
        </p:grpSpPr>
        <p:pic>
          <p:nvPicPr>
            <p:cNvPr id="14" name="图片 13"/>
            <p:cNvPicPr>
              <a:picLocks noChangeAspect="1"/>
            </p:cNvPicPr>
            <p:nvPr userDrawn="1"/>
          </p:nvPicPr>
          <p:blipFill>
            <a:blip r:embed="rId26"/>
            <a:srcRect l="17002" t="-1765" r="56499" b="-1176"/>
            <a:stretch>
              <a:fillRect/>
            </a:stretch>
          </p:blipFill>
          <p:spPr>
            <a:xfrm>
              <a:off x="13761" y="549"/>
              <a:ext cx="1582" cy="525"/>
            </a:xfrm>
            <a:prstGeom prst="rect">
              <a:avLst/>
            </a:prstGeom>
          </p:spPr>
        </p:pic>
        <p:sp>
          <p:nvSpPr>
            <p:cNvPr id="19" name="文本框 18"/>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effectLst/>
                <a:latin typeface="微软雅黑" panose="020B0503020204020204" charset="-122"/>
                <a:ea typeface="微软雅黑" panose="020B0503020204020204" charset="-122"/>
                <a:cs typeface="微软雅黑" panose="020B0503020204020204" charset="-122"/>
                <a:sym typeface="+mn-ea"/>
              </a:rPr>
              <a:t>业务框架</a:t>
            </a:r>
            <a:r>
              <a:rPr lang="en-US" altLang="zh-CN" sz="2500">
                <a:effectLst/>
                <a:latin typeface="微软雅黑" panose="020B0503020204020204" charset="-122"/>
                <a:ea typeface="微软雅黑" panose="020B0503020204020204" charset="-122"/>
                <a:cs typeface="微软雅黑" panose="020B0503020204020204" charset="-122"/>
                <a:sym typeface="+mn-ea"/>
              </a:rPr>
              <a:t>-</a:t>
            </a:r>
            <a:r>
              <a:rPr sz="2500">
                <a:effectLst/>
                <a:latin typeface="微软雅黑" panose="020B0503020204020204" charset="-122"/>
                <a:ea typeface="微软雅黑" panose="020B0503020204020204" charset="-122"/>
                <a:cs typeface="微软雅黑" panose="020B0503020204020204" charset="-122"/>
                <a:sym typeface="+mn-ea"/>
              </a:rPr>
              <a:t>时间流程架构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企业发展阶段及里程碑</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4" name="燕尾形 3"/>
          <p:cNvSpPr/>
          <p:nvPr>
            <p:custDataLst>
              <p:tags r:id="rId3"/>
            </p:custDataLst>
          </p:nvPr>
        </p:nvSpPr>
        <p:spPr>
          <a:xfrm>
            <a:off x="2811780" y="1280160"/>
            <a:ext cx="2811780" cy="446405"/>
          </a:xfrm>
          <a:prstGeom prst="chevron">
            <a:avLst/>
          </a:prstGeom>
          <a:gradFill>
            <a:gsLst>
              <a:gs pos="0">
                <a:schemeClr val="accent1"/>
              </a:gs>
              <a:gs pos="100000">
                <a:schemeClr val="accent1">
                  <a:lumMod val="80000"/>
                  <a:lumOff val="2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7" name="燕尾形 6"/>
          <p:cNvSpPr/>
          <p:nvPr>
            <p:custDataLst>
              <p:tags r:id="rId4"/>
            </p:custDataLst>
          </p:nvPr>
        </p:nvSpPr>
        <p:spPr>
          <a:xfrm>
            <a:off x="991870" y="1300480"/>
            <a:ext cx="1866900" cy="446405"/>
          </a:xfrm>
          <a:prstGeom prst="chevron">
            <a:avLst/>
          </a:prstGeom>
          <a:noFill/>
          <a:ln>
            <a:solidFill>
              <a:schemeClr val="accent1"/>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8" name="椭圆 7"/>
          <p:cNvSpPr/>
          <p:nvPr>
            <p:custDataLst>
              <p:tags r:id="rId5"/>
            </p:custDataLst>
          </p:nvPr>
        </p:nvSpPr>
        <p:spPr>
          <a:xfrm>
            <a:off x="818198" y="1243330"/>
            <a:ext cx="560070" cy="560070"/>
          </a:xfrm>
          <a:prstGeom prst="ellipse">
            <a:avLst/>
          </a:prstGeom>
          <a:gradFill>
            <a:gsLst>
              <a:gs pos="0">
                <a:schemeClr val="accent1"/>
              </a:gs>
              <a:gs pos="100000">
                <a:schemeClr val="accent1">
                  <a:lumMod val="80000"/>
                  <a:lumOff val="20000"/>
                </a:schemeClr>
              </a:gs>
            </a:gsLst>
            <a:lin ang="27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9" name="椭圆 8"/>
          <p:cNvSpPr/>
          <p:nvPr>
            <p:custDataLst>
              <p:tags r:id="rId6"/>
            </p:custDataLst>
          </p:nvPr>
        </p:nvSpPr>
        <p:spPr>
          <a:xfrm>
            <a:off x="2957513" y="1226185"/>
            <a:ext cx="560070" cy="560070"/>
          </a:xfrm>
          <a:prstGeom prst="ellipse">
            <a:avLst/>
          </a:prstGeom>
          <a:solidFill>
            <a:schemeClr val="bg1"/>
          </a:solidFill>
          <a:ln>
            <a:solidFill>
              <a:schemeClr val="accent1"/>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1" name="燕尾形 10"/>
          <p:cNvSpPr/>
          <p:nvPr>
            <p:custDataLst>
              <p:tags r:id="rId7"/>
            </p:custDataLst>
          </p:nvPr>
        </p:nvSpPr>
        <p:spPr>
          <a:xfrm>
            <a:off x="5727065" y="1297305"/>
            <a:ext cx="2949575" cy="446405"/>
          </a:xfrm>
          <a:prstGeom prst="chevron">
            <a:avLst/>
          </a:prstGeom>
          <a:gradFill>
            <a:gsLst>
              <a:gs pos="0">
                <a:schemeClr val="accent1"/>
              </a:gs>
              <a:gs pos="100000">
                <a:schemeClr val="accent1">
                  <a:lumMod val="80000"/>
                  <a:lumOff val="2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2" name="椭圆 11"/>
          <p:cNvSpPr/>
          <p:nvPr>
            <p:custDataLst>
              <p:tags r:id="rId8"/>
            </p:custDataLst>
          </p:nvPr>
        </p:nvSpPr>
        <p:spPr>
          <a:xfrm>
            <a:off x="5866130" y="1243330"/>
            <a:ext cx="560070" cy="560070"/>
          </a:xfrm>
          <a:prstGeom prst="ellipse">
            <a:avLst/>
          </a:prstGeom>
          <a:solidFill>
            <a:schemeClr val="bg1"/>
          </a:solidFill>
          <a:ln>
            <a:solidFill>
              <a:schemeClr val="accent1"/>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3" name="燕尾形 12"/>
          <p:cNvSpPr/>
          <p:nvPr>
            <p:custDataLst>
              <p:tags r:id="rId9"/>
            </p:custDataLst>
          </p:nvPr>
        </p:nvSpPr>
        <p:spPr>
          <a:xfrm>
            <a:off x="8716645" y="1297305"/>
            <a:ext cx="2811780" cy="446405"/>
          </a:xfrm>
          <a:prstGeom prst="chevron">
            <a:avLst/>
          </a:prstGeom>
          <a:gradFill>
            <a:gsLst>
              <a:gs pos="0">
                <a:schemeClr val="accent1"/>
              </a:gs>
              <a:gs pos="100000">
                <a:schemeClr val="accent1">
                  <a:lumMod val="80000"/>
                  <a:lumOff val="2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4" name="椭圆 13"/>
          <p:cNvSpPr/>
          <p:nvPr>
            <p:custDataLst>
              <p:tags r:id="rId10"/>
            </p:custDataLst>
          </p:nvPr>
        </p:nvSpPr>
        <p:spPr>
          <a:xfrm>
            <a:off x="8860155" y="1243330"/>
            <a:ext cx="560070" cy="560070"/>
          </a:xfrm>
          <a:prstGeom prst="ellipse">
            <a:avLst/>
          </a:prstGeom>
          <a:solidFill>
            <a:schemeClr val="bg1"/>
          </a:solidFill>
          <a:ln>
            <a:solidFill>
              <a:schemeClr val="accent1"/>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cxnSp>
        <p:nvCxnSpPr>
          <p:cNvPr id="34" name="直接连接符 33"/>
          <p:cNvCxnSpPr/>
          <p:nvPr/>
        </p:nvCxnSpPr>
        <p:spPr>
          <a:xfrm>
            <a:off x="2435225" y="3155315"/>
            <a:ext cx="0" cy="1888490"/>
          </a:xfrm>
          <a:prstGeom prst="line">
            <a:avLst/>
          </a:prstGeom>
          <a:ln w="28575" cmpd="sng">
            <a:gradFill>
              <a:gsLst>
                <a:gs pos="0">
                  <a:schemeClr val="accent5">
                    <a:lumMod val="60000"/>
                    <a:lumOff val="40000"/>
                    <a:alpha val="0"/>
                  </a:schemeClr>
                </a:gs>
                <a:gs pos="100000">
                  <a:schemeClr val="accent5">
                    <a:lumMod val="60000"/>
                    <a:lumOff val="40000"/>
                  </a:schemeClr>
                </a:gs>
              </a:gsLst>
              <a:lin ang="5400000" scaled="1"/>
            </a:gradFill>
            <a:prstDash val="sysDot"/>
            <a:tailEnd type="diamond" w="lg" len="lg"/>
          </a:ln>
        </p:spPr>
        <p:style>
          <a:lnRef idx="2">
            <a:schemeClr val="accent1"/>
          </a:lnRef>
          <a:fillRef idx="0">
            <a:srgbClr val="FFFFFF"/>
          </a:fillRef>
          <a:effectRef idx="0">
            <a:srgbClr val="FFFFFF"/>
          </a:effectRef>
          <a:fontRef idx="minor">
            <a:schemeClr val="tx1"/>
          </a:fontRef>
        </p:style>
      </p:cxnSp>
      <p:cxnSp>
        <p:nvCxnSpPr>
          <p:cNvPr id="35" name="直接连接符 34"/>
          <p:cNvCxnSpPr/>
          <p:nvPr/>
        </p:nvCxnSpPr>
        <p:spPr>
          <a:xfrm>
            <a:off x="5514975" y="3037205"/>
            <a:ext cx="0" cy="2006600"/>
          </a:xfrm>
          <a:prstGeom prst="line">
            <a:avLst/>
          </a:prstGeom>
          <a:ln w="28575" cmpd="sng">
            <a:gradFill>
              <a:gsLst>
                <a:gs pos="0">
                  <a:schemeClr val="accent5">
                    <a:lumMod val="60000"/>
                    <a:lumOff val="40000"/>
                    <a:alpha val="0"/>
                  </a:schemeClr>
                </a:gs>
                <a:gs pos="100000">
                  <a:schemeClr val="accent5">
                    <a:lumMod val="60000"/>
                    <a:lumOff val="40000"/>
                  </a:schemeClr>
                </a:gs>
              </a:gsLst>
              <a:lin ang="5400000" scaled="1"/>
            </a:gradFill>
            <a:prstDash val="sysDot"/>
            <a:tailEnd type="diamond" w="lg" len="lg"/>
          </a:ln>
        </p:spPr>
        <p:style>
          <a:lnRef idx="2">
            <a:schemeClr val="accent1"/>
          </a:lnRef>
          <a:fillRef idx="0">
            <a:srgbClr val="FFFFFF"/>
          </a:fillRef>
          <a:effectRef idx="0">
            <a:srgbClr val="FFFFFF"/>
          </a:effectRef>
          <a:fontRef idx="minor">
            <a:schemeClr val="tx1"/>
          </a:fontRef>
        </p:style>
      </p:cxnSp>
      <p:cxnSp>
        <p:nvCxnSpPr>
          <p:cNvPr id="36" name="直接连接符 35"/>
          <p:cNvCxnSpPr/>
          <p:nvPr/>
        </p:nvCxnSpPr>
        <p:spPr>
          <a:xfrm>
            <a:off x="8568055" y="3037205"/>
            <a:ext cx="0" cy="2006600"/>
          </a:xfrm>
          <a:prstGeom prst="line">
            <a:avLst/>
          </a:prstGeom>
          <a:ln w="28575" cmpd="sng">
            <a:gradFill>
              <a:gsLst>
                <a:gs pos="0">
                  <a:schemeClr val="accent5">
                    <a:lumMod val="60000"/>
                    <a:lumOff val="40000"/>
                    <a:alpha val="0"/>
                  </a:schemeClr>
                </a:gs>
                <a:gs pos="100000">
                  <a:schemeClr val="accent5">
                    <a:lumMod val="60000"/>
                    <a:lumOff val="40000"/>
                  </a:schemeClr>
                </a:gs>
              </a:gsLst>
              <a:lin ang="5400000" scaled="1"/>
            </a:gradFill>
            <a:prstDash val="sysDot"/>
            <a:tailEnd type="diamond" w="lg" len="lg"/>
          </a:ln>
        </p:spPr>
        <p:style>
          <a:lnRef idx="2">
            <a:schemeClr val="accent1"/>
          </a:lnRef>
          <a:fillRef idx="0">
            <a:srgbClr val="FFFFFF"/>
          </a:fillRef>
          <a:effectRef idx="0">
            <a:srgbClr val="FFFFFF"/>
          </a:effectRef>
          <a:fontRef idx="minor">
            <a:schemeClr val="tx1"/>
          </a:fontRef>
        </p:style>
      </p:cxnSp>
      <p:sp>
        <p:nvSpPr>
          <p:cNvPr id="37" name="矩形 36"/>
          <p:cNvSpPr/>
          <p:nvPr/>
        </p:nvSpPr>
        <p:spPr>
          <a:xfrm>
            <a:off x="2622550" y="3317875"/>
            <a:ext cx="495300" cy="1680210"/>
          </a:xfrm>
          <a:prstGeom prst="rect">
            <a:avLst/>
          </a:prstGeom>
          <a:gradFill>
            <a:gsLst>
              <a:gs pos="0">
                <a:schemeClr val="accent1">
                  <a:lumMod val="20000"/>
                  <a:lumOff val="80000"/>
                </a:schemeClr>
              </a:gs>
              <a:gs pos="88000">
                <a:schemeClr val="accent1">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38" name="矩形 37"/>
          <p:cNvSpPr/>
          <p:nvPr/>
        </p:nvSpPr>
        <p:spPr>
          <a:xfrm>
            <a:off x="5734685" y="3092450"/>
            <a:ext cx="495300" cy="1800225"/>
          </a:xfrm>
          <a:prstGeom prst="rect">
            <a:avLst/>
          </a:prstGeom>
          <a:gradFill>
            <a:gsLst>
              <a:gs pos="0">
                <a:schemeClr val="accent1">
                  <a:lumMod val="20000"/>
                  <a:lumOff val="80000"/>
                </a:schemeClr>
              </a:gs>
              <a:gs pos="88000">
                <a:schemeClr val="accent1">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39" name="矩形 38"/>
          <p:cNvSpPr/>
          <p:nvPr/>
        </p:nvSpPr>
        <p:spPr>
          <a:xfrm>
            <a:off x="8716645" y="2908300"/>
            <a:ext cx="495300" cy="1701800"/>
          </a:xfrm>
          <a:prstGeom prst="rect">
            <a:avLst/>
          </a:prstGeom>
          <a:gradFill>
            <a:gsLst>
              <a:gs pos="0">
                <a:schemeClr val="accent1">
                  <a:lumMod val="20000"/>
                  <a:lumOff val="80000"/>
                </a:schemeClr>
              </a:gs>
              <a:gs pos="88000">
                <a:schemeClr val="accent1">
                  <a:lumMod val="20000"/>
                  <a:lumOff val="80000"/>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40" name="圆角矩形 39"/>
          <p:cNvSpPr/>
          <p:nvPr/>
        </p:nvSpPr>
        <p:spPr>
          <a:xfrm>
            <a:off x="2692400" y="2346325"/>
            <a:ext cx="2635250" cy="844550"/>
          </a:xfrm>
          <a:prstGeom prst="roundRect">
            <a:avLst/>
          </a:prstGeom>
          <a:gradFill>
            <a:gsLst>
              <a:gs pos="0">
                <a:schemeClr val="accent1">
                  <a:lumMod val="60000"/>
                  <a:lumOff val="40000"/>
                </a:schemeClr>
              </a:gs>
              <a:gs pos="10000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1" name="圆角矩形 40"/>
          <p:cNvSpPr/>
          <p:nvPr/>
        </p:nvSpPr>
        <p:spPr>
          <a:xfrm>
            <a:off x="5730875" y="2155825"/>
            <a:ext cx="2635250" cy="844550"/>
          </a:xfrm>
          <a:prstGeom prst="roundRect">
            <a:avLst/>
          </a:prstGeom>
          <a:gradFill>
            <a:gsLst>
              <a:gs pos="0">
                <a:schemeClr val="accent1">
                  <a:lumMod val="60000"/>
                  <a:lumOff val="40000"/>
                </a:schemeClr>
              </a:gs>
              <a:gs pos="10000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42" name="圆角矩形 41"/>
          <p:cNvSpPr/>
          <p:nvPr/>
        </p:nvSpPr>
        <p:spPr>
          <a:xfrm>
            <a:off x="8764270" y="1933575"/>
            <a:ext cx="2635250" cy="844550"/>
          </a:xfrm>
          <a:prstGeom prst="roundRect">
            <a:avLst/>
          </a:prstGeom>
          <a:gradFill>
            <a:gsLst>
              <a:gs pos="0">
                <a:schemeClr val="accent1">
                  <a:lumMod val="60000"/>
                  <a:lumOff val="40000"/>
                </a:schemeClr>
              </a:gs>
              <a:gs pos="10000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2" name="文本框 1"/>
          <p:cNvSpPr txBox="1"/>
          <p:nvPr>
            <p:custDataLst>
              <p:tags r:id="rId11"/>
            </p:custDataLst>
          </p:nvPr>
        </p:nvSpPr>
        <p:spPr>
          <a:xfrm>
            <a:off x="818198" y="1303973"/>
            <a:ext cx="560070" cy="438785"/>
          </a:xfrm>
          <a:prstGeom prst="rect">
            <a:avLst/>
          </a:prstGeom>
          <a:noFill/>
        </p:spPr>
        <p:txBody>
          <a:bodyPr wrap="square" rtlCol="0">
            <a:noAutofit/>
          </a:bodyPr>
          <a:p>
            <a:pPr algn="ctr"/>
            <a:r>
              <a:rPr lang="zh-CN" altLang="en-US" sz="1200" b="1">
                <a:solidFill>
                  <a:schemeClr val="bg1"/>
                </a:solidFill>
                <a:latin typeface="微软雅黑" panose="020B0503020204020204" charset="-122"/>
                <a:ea typeface="微软雅黑" panose="020B0503020204020204" charset="-122"/>
                <a:cs typeface="微软雅黑" panose="020B0503020204020204" charset="-122"/>
              </a:rPr>
              <a:t>阶段</a:t>
            </a:r>
            <a:endParaRPr lang="zh-CN" altLang="en-US" sz="1200" b="1">
              <a:solidFill>
                <a:schemeClr val="bg1"/>
              </a:solidFill>
              <a:latin typeface="微软雅黑" panose="020B0503020204020204" charset="-122"/>
              <a:ea typeface="微软雅黑" panose="020B0503020204020204" charset="-122"/>
              <a:cs typeface="微软雅黑" panose="020B0503020204020204" charset="-122"/>
            </a:endParaRPr>
          </a:p>
          <a:p>
            <a:pPr algn="ctr"/>
            <a:r>
              <a:rPr lang="en-US" altLang="zh-CN" sz="1200" b="1">
                <a:solidFill>
                  <a:schemeClr val="bg1"/>
                </a:solidFill>
                <a:latin typeface="微软雅黑" panose="020B0503020204020204" charset="-122"/>
                <a:ea typeface="微软雅黑" panose="020B0503020204020204" charset="-122"/>
                <a:cs typeface="微软雅黑" panose="020B0503020204020204" charset="-122"/>
              </a:rPr>
              <a:t>0.0</a:t>
            </a:r>
            <a:endParaRPr lang="en-US" altLang="zh-CN" sz="12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custDataLst>
              <p:tags r:id="rId12"/>
            </p:custDataLst>
          </p:nvPr>
        </p:nvSpPr>
        <p:spPr>
          <a:xfrm>
            <a:off x="1374775" y="1350010"/>
            <a:ext cx="1285240" cy="306705"/>
          </a:xfrm>
          <a:prstGeom prst="rect">
            <a:avLst/>
          </a:prstGeom>
          <a:noFill/>
        </p:spPr>
        <p:txBody>
          <a:bodyPr wrap="square" rtlCol="0">
            <a:spAutoFit/>
          </a:bodyPr>
          <a:p>
            <a:pPr algn="ct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商业化试验</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custDataLst>
              <p:tags r:id="rId13"/>
            </p:custDataLst>
          </p:nvPr>
        </p:nvSpPr>
        <p:spPr>
          <a:xfrm>
            <a:off x="2957513" y="1286828"/>
            <a:ext cx="560070" cy="438785"/>
          </a:xfrm>
          <a:prstGeom prst="rect">
            <a:avLst/>
          </a:prstGeom>
          <a:noFill/>
        </p:spPr>
        <p:txBody>
          <a:bodyPr wrap="square" rtlCol="0">
            <a:noAutofit/>
          </a:bodyPr>
          <a:p>
            <a:pPr algn="ct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阶段</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a:p>
            <a:pPr algn="ctr"/>
            <a:r>
              <a:rPr lang="en-US" altLang="zh-CN" sz="1200" b="1">
                <a:solidFill>
                  <a:schemeClr val="accent1"/>
                </a:solidFill>
                <a:latin typeface="微软雅黑" panose="020B0503020204020204" charset="-122"/>
                <a:ea typeface="微软雅黑" panose="020B0503020204020204" charset="-122"/>
                <a:cs typeface="微软雅黑" panose="020B0503020204020204" charset="-122"/>
              </a:rPr>
              <a:t>1.0</a:t>
            </a:r>
            <a:endParaRPr lang="en-US" altLang="zh-CN" sz="1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8" name="文本框 17"/>
          <p:cNvSpPr txBox="1"/>
          <p:nvPr>
            <p:custDataLst>
              <p:tags r:id="rId14"/>
            </p:custDataLst>
          </p:nvPr>
        </p:nvSpPr>
        <p:spPr>
          <a:xfrm>
            <a:off x="3579495" y="1350010"/>
            <a:ext cx="1831975" cy="306705"/>
          </a:xfrm>
          <a:prstGeom prst="rect">
            <a:avLst/>
          </a:prstGeom>
          <a:noFill/>
        </p:spPr>
        <p:txBody>
          <a:bodyPr wrap="square" rtlCol="0">
            <a:spAutoFit/>
          </a:bodyPr>
          <a:p>
            <a:r>
              <a:rPr lang="zh-CN" altLang="en-US" sz="1400" b="1">
                <a:solidFill>
                  <a:schemeClr val="bg1"/>
                </a:solidFill>
                <a:latin typeface="微软雅黑" panose="020B0503020204020204" charset="-122"/>
                <a:ea typeface="微软雅黑" panose="020B0503020204020204" charset="-122"/>
                <a:cs typeface="微软雅黑" panose="020B0503020204020204" charset="-122"/>
              </a:rPr>
              <a:t>蓬勃发展，多点开花</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9" name="文本框 18"/>
          <p:cNvSpPr txBox="1"/>
          <p:nvPr>
            <p:custDataLst>
              <p:tags r:id="rId15"/>
            </p:custDataLst>
          </p:nvPr>
        </p:nvSpPr>
        <p:spPr>
          <a:xfrm>
            <a:off x="5866130" y="1303973"/>
            <a:ext cx="560070" cy="438785"/>
          </a:xfrm>
          <a:prstGeom prst="rect">
            <a:avLst/>
          </a:prstGeom>
          <a:noFill/>
        </p:spPr>
        <p:txBody>
          <a:bodyPr wrap="square" rtlCol="0">
            <a:noAutofit/>
          </a:bodyPr>
          <a:p>
            <a:pPr algn="ct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阶段</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a:p>
            <a:pPr algn="ctr"/>
            <a:r>
              <a:rPr lang="en-US" altLang="zh-CN" sz="1200" b="1">
                <a:solidFill>
                  <a:schemeClr val="accent1"/>
                </a:solidFill>
                <a:latin typeface="微软雅黑" panose="020B0503020204020204" charset="-122"/>
                <a:ea typeface="微软雅黑" panose="020B0503020204020204" charset="-122"/>
                <a:cs typeface="微软雅黑" panose="020B0503020204020204" charset="-122"/>
              </a:rPr>
              <a:t>2.0</a:t>
            </a:r>
            <a:endParaRPr lang="en-US" altLang="zh-CN" sz="1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7" name="文本框 26"/>
          <p:cNvSpPr txBox="1"/>
          <p:nvPr>
            <p:custDataLst>
              <p:tags r:id="rId16"/>
            </p:custDataLst>
          </p:nvPr>
        </p:nvSpPr>
        <p:spPr>
          <a:xfrm>
            <a:off x="6534150" y="1350010"/>
            <a:ext cx="1831975" cy="306705"/>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规模发展，效益向好</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3" name="文本框 42"/>
          <p:cNvSpPr txBox="1"/>
          <p:nvPr>
            <p:custDataLst>
              <p:tags r:id="rId17"/>
            </p:custDataLst>
          </p:nvPr>
        </p:nvSpPr>
        <p:spPr>
          <a:xfrm>
            <a:off x="8860155" y="1303973"/>
            <a:ext cx="560070" cy="438785"/>
          </a:xfrm>
          <a:prstGeom prst="rect">
            <a:avLst/>
          </a:prstGeom>
          <a:noFill/>
        </p:spPr>
        <p:txBody>
          <a:bodyPr wrap="square" rtlCol="0">
            <a:noAutofit/>
          </a:bodyPr>
          <a:p>
            <a:pPr algn="ct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阶段</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a:p>
            <a:pPr algn="ctr"/>
            <a:r>
              <a:rPr lang="en-US" altLang="zh-CN" sz="1200" b="1">
                <a:solidFill>
                  <a:schemeClr val="accent1"/>
                </a:solidFill>
                <a:latin typeface="微软雅黑" panose="020B0503020204020204" charset="-122"/>
                <a:ea typeface="微软雅黑" panose="020B0503020204020204" charset="-122"/>
                <a:cs typeface="微软雅黑" panose="020B0503020204020204" charset="-122"/>
              </a:rPr>
              <a:t>3.0</a:t>
            </a:r>
            <a:endParaRPr lang="en-US" altLang="zh-CN" sz="1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4" name="文本框 43"/>
          <p:cNvSpPr txBox="1"/>
          <p:nvPr>
            <p:custDataLst>
              <p:tags r:id="rId18"/>
            </p:custDataLst>
          </p:nvPr>
        </p:nvSpPr>
        <p:spPr>
          <a:xfrm>
            <a:off x="9455150" y="1350010"/>
            <a:ext cx="1831975" cy="306705"/>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成熟稳定，精细运作</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9" name="Freeform 32"/>
          <p:cNvSpPr/>
          <p:nvPr/>
        </p:nvSpPr>
        <p:spPr bwMode="gray">
          <a:xfrm rot="16980000">
            <a:off x="5240655" y="1929130"/>
            <a:ext cx="659765" cy="758190"/>
          </a:xfrm>
          <a:custGeom>
            <a:avLst/>
            <a:gdLst>
              <a:gd name="T0" fmla="*/ 2147483647 w 395"/>
              <a:gd name="T1" fmla="*/ 2147483647 h 316"/>
              <a:gd name="T2" fmla="*/ 2147483647 w 395"/>
              <a:gd name="T3" fmla="*/ 2147483647 h 316"/>
              <a:gd name="T4" fmla="*/ 2147483647 w 395"/>
              <a:gd name="T5" fmla="*/ 2147483647 h 316"/>
              <a:gd name="T6" fmla="*/ 2147483647 w 395"/>
              <a:gd name="T7" fmla="*/ 2147483647 h 316"/>
              <a:gd name="T8" fmla="*/ 2147483647 w 395"/>
              <a:gd name="T9" fmla="*/ 2147483647 h 316"/>
              <a:gd name="T10" fmla="*/ 2147483647 w 395"/>
              <a:gd name="T11" fmla="*/ 2147483647 h 316"/>
              <a:gd name="T12" fmla="*/ 2147483647 w 395"/>
              <a:gd name="T13" fmla="*/ 2147483647 h 316"/>
              <a:gd name="T14" fmla="*/ 2147483647 w 395"/>
              <a:gd name="T15" fmla="*/ 2147483647 h 316"/>
              <a:gd name="T16" fmla="*/ 2147483647 w 395"/>
              <a:gd name="T17" fmla="*/ 2147483647 h 316"/>
              <a:gd name="T18" fmla="*/ 2147483647 w 395"/>
              <a:gd name="T19" fmla="*/ 2147483647 h 316"/>
              <a:gd name="T20" fmla="*/ 2147483647 w 395"/>
              <a:gd name="T21" fmla="*/ 2147483647 h 316"/>
              <a:gd name="T22" fmla="*/ 2147483647 w 395"/>
              <a:gd name="T23" fmla="*/ 2147483647 h 316"/>
              <a:gd name="T24" fmla="*/ 2147483647 w 395"/>
              <a:gd name="T25" fmla="*/ 2147483647 h 316"/>
              <a:gd name="T26" fmla="*/ 2147483647 w 395"/>
              <a:gd name="T27" fmla="*/ 2147483647 h 316"/>
              <a:gd name="T28" fmla="*/ 2147483647 w 395"/>
              <a:gd name="T29" fmla="*/ 2147483647 h 316"/>
              <a:gd name="T30" fmla="*/ 2147483647 w 395"/>
              <a:gd name="T31" fmla="*/ 2147483647 h 316"/>
              <a:gd name="T32" fmla="*/ 2147483647 w 395"/>
              <a:gd name="T33" fmla="*/ 2147483647 h 316"/>
              <a:gd name="T34" fmla="*/ 2147483647 w 395"/>
              <a:gd name="T35" fmla="*/ 2147483647 h 316"/>
              <a:gd name="T36" fmla="*/ 2147483647 w 395"/>
              <a:gd name="T37" fmla="*/ 2147483647 h 316"/>
              <a:gd name="T38" fmla="*/ 2147483647 w 395"/>
              <a:gd name="T39" fmla="*/ 2147483647 h 316"/>
              <a:gd name="T40" fmla="*/ 2147483647 w 395"/>
              <a:gd name="T41" fmla="*/ 2147483647 h 316"/>
              <a:gd name="T42" fmla="*/ 2147483647 w 395"/>
              <a:gd name="T43" fmla="*/ 2147483647 h 316"/>
              <a:gd name="T44" fmla="*/ 2147483647 w 395"/>
              <a:gd name="T45" fmla="*/ 2147483647 h 316"/>
              <a:gd name="T46" fmla="*/ 2147483647 w 395"/>
              <a:gd name="T47" fmla="*/ 2147483647 h 316"/>
              <a:gd name="T48" fmla="*/ 2147483647 w 395"/>
              <a:gd name="T49" fmla="*/ 2147483647 h 316"/>
              <a:gd name="T50" fmla="*/ 2147483647 w 395"/>
              <a:gd name="T51" fmla="*/ 2147483647 h 316"/>
              <a:gd name="T52" fmla="*/ 2147483647 w 395"/>
              <a:gd name="T53" fmla="*/ 2147483647 h 316"/>
              <a:gd name="T54" fmla="*/ 2147483647 w 395"/>
              <a:gd name="T55" fmla="*/ 2147483647 h 316"/>
              <a:gd name="T56" fmla="*/ 2147483647 w 395"/>
              <a:gd name="T57" fmla="*/ 2147483647 h 316"/>
              <a:gd name="T58" fmla="*/ 2147483647 w 395"/>
              <a:gd name="T59" fmla="*/ 2147483647 h 316"/>
              <a:gd name="T60" fmla="*/ 2147483647 w 395"/>
              <a:gd name="T61" fmla="*/ 2147483647 h 316"/>
              <a:gd name="T62" fmla="*/ 2147483647 w 395"/>
              <a:gd name="T63" fmla="*/ 2147483647 h 316"/>
              <a:gd name="T64" fmla="*/ 2147483647 w 395"/>
              <a:gd name="T65" fmla="*/ 2147483647 h 316"/>
              <a:gd name="T66" fmla="*/ 2147483647 w 395"/>
              <a:gd name="T67" fmla="*/ 2147483647 h 316"/>
              <a:gd name="T68" fmla="*/ 2147483647 w 395"/>
              <a:gd name="T69" fmla="*/ 2147483647 h 316"/>
              <a:gd name="T70" fmla="*/ 2147483647 w 395"/>
              <a:gd name="T71" fmla="*/ 2147483647 h 316"/>
              <a:gd name="T72" fmla="*/ 0 w 395"/>
              <a:gd name="T73" fmla="*/ 2147483647 h 316"/>
              <a:gd name="T74" fmla="*/ 0 w 395"/>
              <a:gd name="T75" fmla="*/ 2147483647 h 316"/>
              <a:gd name="T76" fmla="*/ 0 w 395"/>
              <a:gd name="T77" fmla="*/ 2147483647 h 316"/>
              <a:gd name="T78" fmla="*/ 0 w 395"/>
              <a:gd name="T79" fmla="*/ 2147483647 h 316"/>
              <a:gd name="T80" fmla="*/ 0 w 395"/>
              <a:gd name="T81" fmla="*/ 0 h 316"/>
              <a:gd name="T82" fmla="*/ 2147483647 w 395"/>
              <a:gd name="T83" fmla="*/ 0 h 316"/>
              <a:gd name="T84" fmla="*/ 2147483647 w 395"/>
              <a:gd name="T85" fmla="*/ 0 h 316"/>
              <a:gd name="T86" fmla="*/ 2147483647 w 395"/>
              <a:gd name="T87" fmla="*/ 2147483647 h 316"/>
              <a:gd name="T88" fmla="*/ 2147483647 w 395"/>
              <a:gd name="T89" fmla="*/ 2147483647 h 316"/>
              <a:gd name="T90" fmla="*/ 2147483647 w 395"/>
              <a:gd name="T91" fmla="*/ 2147483647 h 316"/>
              <a:gd name="T92" fmla="*/ 2147483647 w 395"/>
              <a:gd name="T93" fmla="*/ 2147483647 h 316"/>
              <a:gd name="T94" fmla="*/ 2147483647 w 395"/>
              <a:gd name="T95" fmla="*/ 2147483647 h 316"/>
              <a:gd name="T96" fmla="*/ 2147483647 w 395"/>
              <a:gd name="T97" fmla="*/ 2147483647 h 316"/>
              <a:gd name="T98" fmla="*/ 2147483647 w 395"/>
              <a:gd name="T99" fmla="*/ 2147483647 h 316"/>
              <a:gd name="T100" fmla="*/ 2147483647 w 395"/>
              <a:gd name="T101" fmla="*/ 2147483647 h 316"/>
              <a:gd name="T102" fmla="*/ 2147483647 w 395"/>
              <a:gd name="T103" fmla="*/ 2147483647 h 316"/>
              <a:gd name="T104" fmla="*/ 2147483647 w 395"/>
              <a:gd name="T105" fmla="*/ 2147483647 h 316"/>
              <a:gd name="T106" fmla="*/ 2147483647 w 395"/>
              <a:gd name="T107" fmla="*/ 2147483647 h 316"/>
              <a:gd name="T108" fmla="*/ 2147483647 w 395"/>
              <a:gd name="T109" fmla="*/ 2147483647 h 31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95" h="316">
                <a:moveTo>
                  <a:pt x="357" y="190"/>
                </a:moveTo>
                <a:lnTo>
                  <a:pt x="357" y="194"/>
                </a:lnTo>
                <a:lnTo>
                  <a:pt x="358" y="197"/>
                </a:lnTo>
                <a:lnTo>
                  <a:pt x="359" y="200"/>
                </a:lnTo>
                <a:lnTo>
                  <a:pt x="359" y="202"/>
                </a:lnTo>
                <a:lnTo>
                  <a:pt x="360" y="205"/>
                </a:lnTo>
                <a:lnTo>
                  <a:pt x="360" y="207"/>
                </a:lnTo>
                <a:lnTo>
                  <a:pt x="361" y="209"/>
                </a:lnTo>
                <a:lnTo>
                  <a:pt x="361" y="211"/>
                </a:lnTo>
                <a:lnTo>
                  <a:pt x="362" y="212"/>
                </a:lnTo>
                <a:lnTo>
                  <a:pt x="362" y="214"/>
                </a:lnTo>
                <a:lnTo>
                  <a:pt x="362" y="215"/>
                </a:lnTo>
                <a:lnTo>
                  <a:pt x="362" y="216"/>
                </a:lnTo>
                <a:lnTo>
                  <a:pt x="363" y="217"/>
                </a:lnTo>
                <a:lnTo>
                  <a:pt x="363" y="218"/>
                </a:lnTo>
                <a:lnTo>
                  <a:pt x="364" y="218"/>
                </a:lnTo>
                <a:lnTo>
                  <a:pt x="365" y="218"/>
                </a:lnTo>
                <a:lnTo>
                  <a:pt x="366" y="218"/>
                </a:lnTo>
                <a:lnTo>
                  <a:pt x="367" y="218"/>
                </a:lnTo>
                <a:lnTo>
                  <a:pt x="368" y="218"/>
                </a:lnTo>
                <a:lnTo>
                  <a:pt x="369" y="218"/>
                </a:lnTo>
                <a:lnTo>
                  <a:pt x="370" y="218"/>
                </a:lnTo>
                <a:lnTo>
                  <a:pt x="372" y="218"/>
                </a:lnTo>
                <a:lnTo>
                  <a:pt x="373" y="218"/>
                </a:lnTo>
                <a:lnTo>
                  <a:pt x="375" y="218"/>
                </a:lnTo>
                <a:lnTo>
                  <a:pt x="376" y="218"/>
                </a:lnTo>
                <a:lnTo>
                  <a:pt x="378" y="218"/>
                </a:lnTo>
                <a:lnTo>
                  <a:pt x="380" y="218"/>
                </a:lnTo>
                <a:lnTo>
                  <a:pt x="382" y="218"/>
                </a:lnTo>
                <a:lnTo>
                  <a:pt x="384" y="218"/>
                </a:lnTo>
                <a:lnTo>
                  <a:pt x="385" y="218"/>
                </a:lnTo>
                <a:lnTo>
                  <a:pt x="387" y="218"/>
                </a:lnTo>
                <a:lnTo>
                  <a:pt x="388" y="218"/>
                </a:lnTo>
                <a:lnTo>
                  <a:pt x="389" y="218"/>
                </a:lnTo>
                <a:lnTo>
                  <a:pt x="390" y="218"/>
                </a:lnTo>
                <a:lnTo>
                  <a:pt x="391" y="218"/>
                </a:lnTo>
                <a:lnTo>
                  <a:pt x="392" y="218"/>
                </a:lnTo>
                <a:lnTo>
                  <a:pt x="393" y="218"/>
                </a:lnTo>
                <a:lnTo>
                  <a:pt x="394" y="218"/>
                </a:lnTo>
                <a:lnTo>
                  <a:pt x="393" y="218"/>
                </a:lnTo>
                <a:lnTo>
                  <a:pt x="393" y="219"/>
                </a:lnTo>
                <a:lnTo>
                  <a:pt x="391" y="221"/>
                </a:lnTo>
                <a:lnTo>
                  <a:pt x="390" y="222"/>
                </a:lnTo>
                <a:lnTo>
                  <a:pt x="388" y="224"/>
                </a:lnTo>
                <a:lnTo>
                  <a:pt x="386" y="227"/>
                </a:lnTo>
                <a:lnTo>
                  <a:pt x="384" y="230"/>
                </a:lnTo>
                <a:lnTo>
                  <a:pt x="381" y="233"/>
                </a:lnTo>
                <a:lnTo>
                  <a:pt x="378" y="237"/>
                </a:lnTo>
                <a:lnTo>
                  <a:pt x="375" y="241"/>
                </a:lnTo>
                <a:lnTo>
                  <a:pt x="371" y="245"/>
                </a:lnTo>
                <a:lnTo>
                  <a:pt x="367" y="250"/>
                </a:lnTo>
                <a:lnTo>
                  <a:pt x="363" y="255"/>
                </a:lnTo>
                <a:lnTo>
                  <a:pt x="358" y="261"/>
                </a:lnTo>
                <a:lnTo>
                  <a:pt x="353" y="266"/>
                </a:lnTo>
                <a:lnTo>
                  <a:pt x="348" y="272"/>
                </a:lnTo>
                <a:lnTo>
                  <a:pt x="344" y="278"/>
                </a:lnTo>
                <a:lnTo>
                  <a:pt x="340" y="283"/>
                </a:lnTo>
                <a:lnTo>
                  <a:pt x="336" y="288"/>
                </a:lnTo>
                <a:lnTo>
                  <a:pt x="332" y="292"/>
                </a:lnTo>
                <a:lnTo>
                  <a:pt x="329" y="296"/>
                </a:lnTo>
                <a:lnTo>
                  <a:pt x="326" y="300"/>
                </a:lnTo>
                <a:lnTo>
                  <a:pt x="323" y="303"/>
                </a:lnTo>
                <a:lnTo>
                  <a:pt x="321" y="306"/>
                </a:lnTo>
                <a:lnTo>
                  <a:pt x="318" y="309"/>
                </a:lnTo>
                <a:lnTo>
                  <a:pt x="317" y="311"/>
                </a:lnTo>
                <a:lnTo>
                  <a:pt x="315" y="312"/>
                </a:lnTo>
                <a:lnTo>
                  <a:pt x="314" y="314"/>
                </a:lnTo>
                <a:lnTo>
                  <a:pt x="313" y="315"/>
                </a:lnTo>
                <a:lnTo>
                  <a:pt x="312" y="315"/>
                </a:lnTo>
                <a:lnTo>
                  <a:pt x="311" y="314"/>
                </a:lnTo>
                <a:lnTo>
                  <a:pt x="310" y="312"/>
                </a:lnTo>
                <a:lnTo>
                  <a:pt x="309" y="311"/>
                </a:lnTo>
                <a:lnTo>
                  <a:pt x="307" y="309"/>
                </a:lnTo>
                <a:lnTo>
                  <a:pt x="305" y="306"/>
                </a:lnTo>
                <a:lnTo>
                  <a:pt x="303" y="303"/>
                </a:lnTo>
                <a:lnTo>
                  <a:pt x="300" y="300"/>
                </a:lnTo>
                <a:lnTo>
                  <a:pt x="297" y="296"/>
                </a:lnTo>
                <a:lnTo>
                  <a:pt x="294" y="292"/>
                </a:lnTo>
                <a:lnTo>
                  <a:pt x="290" y="288"/>
                </a:lnTo>
                <a:lnTo>
                  <a:pt x="286" y="283"/>
                </a:lnTo>
                <a:lnTo>
                  <a:pt x="282" y="278"/>
                </a:lnTo>
                <a:lnTo>
                  <a:pt x="277" y="272"/>
                </a:lnTo>
                <a:lnTo>
                  <a:pt x="272" y="266"/>
                </a:lnTo>
                <a:lnTo>
                  <a:pt x="267" y="261"/>
                </a:lnTo>
                <a:lnTo>
                  <a:pt x="263" y="255"/>
                </a:lnTo>
                <a:lnTo>
                  <a:pt x="258" y="250"/>
                </a:lnTo>
                <a:lnTo>
                  <a:pt x="254" y="245"/>
                </a:lnTo>
                <a:lnTo>
                  <a:pt x="251" y="241"/>
                </a:lnTo>
                <a:lnTo>
                  <a:pt x="247" y="237"/>
                </a:lnTo>
                <a:lnTo>
                  <a:pt x="244" y="233"/>
                </a:lnTo>
                <a:lnTo>
                  <a:pt x="242" y="230"/>
                </a:lnTo>
                <a:lnTo>
                  <a:pt x="239" y="227"/>
                </a:lnTo>
                <a:lnTo>
                  <a:pt x="237" y="224"/>
                </a:lnTo>
                <a:lnTo>
                  <a:pt x="235" y="222"/>
                </a:lnTo>
                <a:lnTo>
                  <a:pt x="234" y="221"/>
                </a:lnTo>
                <a:lnTo>
                  <a:pt x="233" y="219"/>
                </a:lnTo>
                <a:lnTo>
                  <a:pt x="232" y="218"/>
                </a:lnTo>
                <a:lnTo>
                  <a:pt x="233" y="218"/>
                </a:lnTo>
                <a:lnTo>
                  <a:pt x="234" y="218"/>
                </a:lnTo>
                <a:lnTo>
                  <a:pt x="235" y="218"/>
                </a:lnTo>
                <a:lnTo>
                  <a:pt x="236" y="218"/>
                </a:lnTo>
                <a:lnTo>
                  <a:pt x="237" y="218"/>
                </a:lnTo>
                <a:lnTo>
                  <a:pt x="239" y="218"/>
                </a:lnTo>
                <a:lnTo>
                  <a:pt x="240" y="218"/>
                </a:lnTo>
                <a:lnTo>
                  <a:pt x="242" y="218"/>
                </a:lnTo>
                <a:lnTo>
                  <a:pt x="244" y="218"/>
                </a:lnTo>
                <a:lnTo>
                  <a:pt x="246" y="218"/>
                </a:lnTo>
                <a:lnTo>
                  <a:pt x="248" y="218"/>
                </a:lnTo>
                <a:lnTo>
                  <a:pt x="250" y="218"/>
                </a:lnTo>
                <a:lnTo>
                  <a:pt x="253" y="218"/>
                </a:lnTo>
                <a:lnTo>
                  <a:pt x="255" y="218"/>
                </a:lnTo>
                <a:lnTo>
                  <a:pt x="257" y="218"/>
                </a:lnTo>
                <a:lnTo>
                  <a:pt x="258" y="218"/>
                </a:lnTo>
                <a:lnTo>
                  <a:pt x="260" y="218"/>
                </a:lnTo>
                <a:lnTo>
                  <a:pt x="262" y="218"/>
                </a:lnTo>
                <a:lnTo>
                  <a:pt x="263" y="218"/>
                </a:lnTo>
                <a:lnTo>
                  <a:pt x="264" y="218"/>
                </a:lnTo>
                <a:lnTo>
                  <a:pt x="265" y="218"/>
                </a:lnTo>
                <a:lnTo>
                  <a:pt x="266" y="218"/>
                </a:lnTo>
                <a:lnTo>
                  <a:pt x="267" y="218"/>
                </a:lnTo>
                <a:lnTo>
                  <a:pt x="268" y="218"/>
                </a:lnTo>
                <a:lnTo>
                  <a:pt x="269" y="218"/>
                </a:lnTo>
                <a:lnTo>
                  <a:pt x="269" y="217"/>
                </a:lnTo>
                <a:lnTo>
                  <a:pt x="269" y="216"/>
                </a:lnTo>
                <a:lnTo>
                  <a:pt x="269" y="215"/>
                </a:lnTo>
                <a:lnTo>
                  <a:pt x="268" y="213"/>
                </a:lnTo>
                <a:lnTo>
                  <a:pt x="268" y="212"/>
                </a:lnTo>
                <a:lnTo>
                  <a:pt x="268" y="211"/>
                </a:lnTo>
                <a:lnTo>
                  <a:pt x="268" y="209"/>
                </a:lnTo>
                <a:lnTo>
                  <a:pt x="268" y="207"/>
                </a:lnTo>
                <a:lnTo>
                  <a:pt x="267" y="205"/>
                </a:lnTo>
                <a:lnTo>
                  <a:pt x="267" y="203"/>
                </a:lnTo>
                <a:lnTo>
                  <a:pt x="267" y="201"/>
                </a:lnTo>
                <a:lnTo>
                  <a:pt x="266" y="199"/>
                </a:lnTo>
                <a:lnTo>
                  <a:pt x="266" y="196"/>
                </a:lnTo>
                <a:lnTo>
                  <a:pt x="265" y="193"/>
                </a:lnTo>
                <a:lnTo>
                  <a:pt x="265" y="190"/>
                </a:lnTo>
                <a:lnTo>
                  <a:pt x="265" y="188"/>
                </a:lnTo>
                <a:lnTo>
                  <a:pt x="264" y="185"/>
                </a:lnTo>
                <a:lnTo>
                  <a:pt x="264" y="182"/>
                </a:lnTo>
                <a:lnTo>
                  <a:pt x="263" y="180"/>
                </a:lnTo>
                <a:lnTo>
                  <a:pt x="263" y="177"/>
                </a:lnTo>
                <a:lnTo>
                  <a:pt x="262" y="174"/>
                </a:lnTo>
                <a:lnTo>
                  <a:pt x="261" y="171"/>
                </a:lnTo>
                <a:lnTo>
                  <a:pt x="261" y="169"/>
                </a:lnTo>
                <a:lnTo>
                  <a:pt x="260" y="166"/>
                </a:lnTo>
                <a:lnTo>
                  <a:pt x="259" y="163"/>
                </a:lnTo>
                <a:lnTo>
                  <a:pt x="259" y="161"/>
                </a:lnTo>
                <a:lnTo>
                  <a:pt x="258" y="158"/>
                </a:lnTo>
                <a:lnTo>
                  <a:pt x="257" y="155"/>
                </a:lnTo>
                <a:lnTo>
                  <a:pt x="257" y="152"/>
                </a:lnTo>
                <a:lnTo>
                  <a:pt x="256" y="150"/>
                </a:lnTo>
                <a:lnTo>
                  <a:pt x="255" y="147"/>
                </a:lnTo>
                <a:lnTo>
                  <a:pt x="254" y="144"/>
                </a:lnTo>
                <a:lnTo>
                  <a:pt x="253" y="142"/>
                </a:lnTo>
                <a:lnTo>
                  <a:pt x="252" y="139"/>
                </a:lnTo>
                <a:lnTo>
                  <a:pt x="250" y="136"/>
                </a:lnTo>
                <a:lnTo>
                  <a:pt x="249" y="133"/>
                </a:lnTo>
                <a:lnTo>
                  <a:pt x="248" y="131"/>
                </a:lnTo>
                <a:lnTo>
                  <a:pt x="247" y="128"/>
                </a:lnTo>
                <a:lnTo>
                  <a:pt x="245" y="125"/>
                </a:lnTo>
                <a:lnTo>
                  <a:pt x="243" y="123"/>
                </a:lnTo>
                <a:lnTo>
                  <a:pt x="242" y="120"/>
                </a:lnTo>
                <a:lnTo>
                  <a:pt x="240" y="117"/>
                </a:lnTo>
                <a:lnTo>
                  <a:pt x="238" y="114"/>
                </a:lnTo>
                <a:lnTo>
                  <a:pt x="237" y="112"/>
                </a:lnTo>
                <a:lnTo>
                  <a:pt x="235" y="109"/>
                </a:lnTo>
                <a:lnTo>
                  <a:pt x="233" y="106"/>
                </a:lnTo>
                <a:lnTo>
                  <a:pt x="230" y="104"/>
                </a:lnTo>
                <a:lnTo>
                  <a:pt x="228" y="101"/>
                </a:lnTo>
                <a:lnTo>
                  <a:pt x="226" y="98"/>
                </a:lnTo>
                <a:lnTo>
                  <a:pt x="223" y="95"/>
                </a:lnTo>
                <a:lnTo>
                  <a:pt x="220" y="93"/>
                </a:lnTo>
                <a:lnTo>
                  <a:pt x="217" y="90"/>
                </a:lnTo>
                <a:lnTo>
                  <a:pt x="214" y="87"/>
                </a:lnTo>
                <a:lnTo>
                  <a:pt x="211" y="85"/>
                </a:lnTo>
                <a:lnTo>
                  <a:pt x="208" y="82"/>
                </a:lnTo>
                <a:lnTo>
                  <a:pt x="204" y="79"/>
                </a:lnTo>
                <a:lnTo>
                  <a:pt x="201" y="76"/>
                </a:lnTo>
                <a:lnTo>
                  <a:pt x="197" y="74"/>
                </a:lnTo>
                <a:lnTo>
                  <a:pt x="193" y="71"/>
                </a:lnTo>
                <a:lnTo>
                  <a:pt x="189" y="68"/>
                </a:lnTo>
                <a:lnTo>
                  <a:pt x="185" y="66"/>
                </a:lnTo>
                <a:lnTo>
                  <a:pt x="180" y="63"/>
                </a:lnTo>
                <a:lnTo>
                  <a:pt x="176" y="60"/>
                </a:lnTo>
                <a:lnTo>
                  <a:pt x="172" y="58"/>
                </a:lnTo>
                <a:lnTo>
                  <a:pt x="167" y="55"/>
                </a:lnTo>
                <a:lnTo>
                  <a:pt x="163" y="53"/>
                </a:lnTo>
                <a:lnTo>
                  <a:pt x="158" y="50"/>
                </a:lnTo>
                <a:lnTo>
                  <a:pt x="154" y="48"/>
                </a:lnTo>
                <a:lnTo>
                  <a:pt x="149" y="45"/>
                </a:lnTo>
                <a:lnTo>
                  <a:pt x="145" y="43"/>
                </a:lnTo>
                <a:lnTo>
                  <a:pt x="140" y="41"/>
                </a:lnTo>
                <a:lnTo>
                  <a:pt x="136" y="38"/>
                </a:lnTo>
                <a:lnTo>
                  <a:pt x="131" y="36"/>
                </a:lnTo>
                <a:lnTo>
                  <a:pt x="127" y="34"/>
                </a:lnTo>
                <a:lnTo>
                  <a:pt x="122" y="32"/>
                </a:lnTo>
                <a:lnTo>
                  <a:pt x="117" y="30"/>
                </a:lnTo>
                <a:lnTo>
                  <a:pt x="113" y="28"/>
                </a:lnTo>
                <a:lnTo>
                  <a:pt x="108" y="26"/>
                </a:lnTo>
                <a:lnTo>
                  <a:pt x="103" y="24"/>
                </a:lnTo>
                <a:lnTo>
                  <a:pt x="99" y="22"/>
                </a:lnTo>
                <a:lnTo>
                  <a:pt x="94" y="20"/>
                </a:lnTo>
                <a:lnTo>
                  <a:pt x="89" y="19"/>
                </a:lnTo>
                <a:lnTo>
                  <a:pt x="85" y="18"/>
                </a:lnTo>
                <a:lnTo>
                  <a:pt x="80" y="16"/>
                </a:lnTo>
                <a:lnTo>
                  <a:pt x="75" y="15"/>
                </a:lnTo>
                <a:lnTo>
                  <a:pt x="71" y="14"/>
                </a:lnTo>
                <a:lnTo>
                  <a:pt x="66" y="14"/>
                </a:lnTo>
                <a:lnTo>
                  <a:pt x="61" y="13"/>
                </a:lnTo>
                <a:lnTo>
                  <a:pt x="57" y="12"/>
                </a:lnTo>
                <a:lnTo>
                  <a:pt x="52" y="12"/>
                </a:lnTo>
                <a:lnTo>
                  <a:pt x="47" y="11"/>
                </a:lnTo>
                <a:lnTo>
                  <a:pt x="42" y="11"/>
                </a:lnTo>
                <a:lnTo>
                  <a:pt x="38" y="11"/>
                </a:lnTo>
                <a:lnTo>
                  <a:pt x="33" y="11"/>
                </a:lnTo>
                <a:lnTo>
                  <a:pt x="29" y="11"/>
                </a:lnTo>
                <a:lnTo>
                  <a:pt x="25" y="11"/>
                </a:lnTo>
                <a:lnTo>
                  <a:pt x="21" y="11"/>
                </a:lnTo>
                <a:lnTo>
                  <a:pt x="18" y="11"/>
                </a:lnTo>
                <a:lnTo>
                  <a:pt x="15" y="11"/>
                </a:lnTo>
                <a:lnTo>
                  <a:pt x="12" y="11"/>
                </a:lnTo>
                <a:lnTo>
                  <a:pt x="10" y="11"/>
                </a:lnTo>
                <a:lnTo>
                  <a:pt x="7" y="11"/>
                </a:lnTo>
                <a:lnTo>
                  <a:pt x="6" y="11"/>
                </a:lnTo>
                <a:lnTo>
                  <a:pt x="4" y="11"/>
                </a:lnTo>
                <a:lnTo>
                  <a:pt x="3" y="11"/>
                </a:lnTo>
                <a:lnTo>
                  <a:pt x="2" y="11"/>
                </a:lnTo>
                <a:lnTo>
                  <a:pt x="1" y="11"/>
                </a:lnTo>
                <a:lnTo>
                  <a:pt x="0" y="11"/>
                </a:lnTo>
                <a:lnTo>
                  <a:pt x="0" y="10"/>
                </a:lnTo>
                <a:lnTo>
                  <a:pt x="0" y="9"/>
                </a:lnTo>
                <a:lnTo>
                  <a:pt x="0" y="8"/>
                </a:lnTo>
                <a:lnTo>
                  <a:pt x="0" y="7"/>
                </a:lnTo>
                <a:lnTo>
                  <a:pt x="0" y="6"/>
                </a:lnTo>
                <a:lnTo>
                  <a:pt x="0" y="5"/>
                </a:lnTo>
                <a:lnTo>
                  <a:pt x="0" y="4"/>
                </a:lnTo>
                <a:lnTo>
                  <a:pt x="0" y="3"/>
                </a:lnTo>
                <a:lnTo>
                  <a:pt x="0" y="2"/>
                </a:lnTo>
                <a:lnTo>
                  <a:pt x="0" y="1"/>
                </a:lnTo>
                <a:lnTo>
                  <a:pt x="0" y="0"/>
                </a:lnTo>
                <a:lnTo>
                  <a:pt x="1" y="0"/>
                </a:lnTo>
                <a:lnTo>
                  <a:pt x="2" y="0"/>
                </a:lnTo>
                <a:lnTo>
                  <a:pt x="3" y="0"/>
                </a:lnTo>
                <a:lnTo>
                  <a:pt x="4" y="0"/>
                </a:lnTo>
                <a:lnTo>
                  <a:pt x="6" y="0"/>
                </a:lnTo>
                <a:lnTo>
                  <a:pt x="8" y="0"/>
                </a:lnTo>
                <a:lnTo>
                  <a:pt x="10" y="0"/>
                </a:lnTo>
                <a:lnTo>
                  <a:pt x="13" y="0"/>
                </a:lnTo>
                <a:lnTo>
                  <a:pt x="16" y="0"/>
                </a:lnTo>
                <a:lnTo>
                  <a:pt x="19" y="0"/>
                </a:lnTo>
                <a:lnTo>
                  <a:pt x="23" y="0"/>
                </a:lnTo>
                <a:lnTo>
                  <a:pt x="27" y="0"/>
                </a:lnTo>
                <a:lnTo>
                  <a:pt x="31" y="0"/>
                </a:lnTo>
                <a:lnTo>
                  <a:pt x="36" y="0"/>
                </a:lnTo>
                <a:lnTo>
                  <a:pt x="41" y="0"/>
                </a:lnTo>
                <a:lnTo>
                  <a:pt x="46" y="0"/>
                </a:lnTo>
                <a:lnTo>
                  <a:pt x="51" y="0"/>
                </a:lnTo>
                <a:lnTo>
                  <a:pt x="56" y="1"/>
                </a:lnTo>
                <a:lnTo>
                  <a:pt x="61" y="1"/>
                </a:lnTo>
                <a:lnTo>
                  <a:pt x="66" y="1"/>
                </a:lnTo>
                <a:lnTo>
                  <a:pt x="71" y="1"/>
                </a:lnTo>
                <a:lnTo>
                  <a:pt x="76" y="1"/>
                </a:lnTo>
                <a:lnTo>
                  <a:pt x="81" y="2"/>
                </a:lnTo>
                <a:lnTo>
                  <a:pt x="86" y="2"/>
                </a:lnTo>
                <a:lnTo>
                  <a:pt x="90" y="2"/>
                </a:lnTo>
                <a:lnTo>
                  <a:pt x="95" y="3"/>
                </a:lnTo>
                <a:lnTo>
                  <a:pt x="100" y="3"/>
                </a:lnTo>
                <a:lnTo>
                  <a:pt x="105" y="4"/>
                </a:lnTo>
                <a:lnTo>
                  <a:pt x="110" y="5"/>
                </a:lnTo>
                <a:lnTo>
                  <a:pt x="114" y="5"/>
                </a:lnTo>
                <a:lnTo>
                  <a:pt x="119" y="6"/>
                </a:lnTo>
                <a:lnTo>
                  <a:pt x="124" y="7"/>
                </a:lnTo>
                <a:lnTo>
                  <a:pt x="128" y="7"/>
                </a:lnTo>
                <a:lnTo>
                  <a:pt x="133" y="8"/>
                </a:lnTo>
                <a:lnTo>
                  <a:pt x="138" y="9"/>
                </a:lnTo>
                <a:lnTo>
                  <a:pt x="142" y="10"/>
                </a:lnTo>
                <a:lnTo>
                  <a:pt x="147" y="11"/>
                </a:lnTo>
                <a:lnTo>
                  <a:pt x="152" y="13"/>
                </a:lnTo>
                <a:lnTo>
                  <a:pt x="157" y="14"/>
                </a:lnTo>
                <a:lnTo>
                  <a:pt x="161" y="15"/>
                </a:lnTo>
                <a:lnTo>
                  <a:pt x="166" y="17"/>
                </a:lnTo>
                <a:lnTo>
                  <a:pt x="171" y="18"/>
                </a:lnTo>
                <a:lnTo>
                  <a:pt x="175" y="20"/>
                </a:lnTo>
                <a:lnTo>
                  <a:pt x="180" y="22"/>
                </a:lnTo>
                <a:lnTo>
                  <a:pt x="185" y="24"/>
                </a:lnTo>
                <a:lnTo>
                  <a:pt x="189" y="26"/>
                </a:lnTo>
                <a:lnTo>
                  <a:pt x="194" y="28"/>
                </a:lnTo>
                <a:lnTo>
                  <a:pt x="199" y="30"/>
                </a:lnTo>
                <a:lnTo>
                  <a:pt x="203" y="32"/>
                </a:lnTo>
                <a:lnTo>
                  <a:pt x="208" y="34"/>
                </a:lnTo>
                <a:lnTo>
                  <a:pt x="213" y="36"/>
                </a:lnTo>
                <a:lnTo>
                  <a:pt x="218" y="39"/>
                </a:lnTo>
                <a:lnTo>
                  <a:pt x="223" y="41"/>
                </a:lnTo>
                <a:lnTo>
                  <a:pt x="227" y="44"/>
                </a:lnTo>
                <a:lnTo>
                  <a:pt x="232" y="47"/>
                </a:lnTo>
                <a:lnTo>
                  <a:pt x="237" y="49"/>
                </a:lnTo>
                <a:lnTo>
                  <a:pt x="242" y="52"/>
                </a:lnTo>
                <a:lnTo>
                  <a:pt x="247" y="55"/>
                </a:lnTo>
                <a:lnTo>
                  <a:pt x="252" y="58"/>
                </a:lnTo>
                <a:lnTo>
                  <a:pt x="257" y="61"/>
                </a:lnTo>
                <a:lnTo>
                  <a:pt x="262" y="64"/>
                </a:lnTo>
                <a:lnTo>
                  <a:pt x="267" y="68"/>
                </a:lnTo>
                <a:lnTo>
                  <a:pt x="272" y="71"/>
                </a:lnTo>
                <a:lnTo>
                  <a:pt x="277" y="74"/>
                </a:lnTo>
                <a:lnTo>
                  <a:pt x="282" y="78"/>
                </a:lnTo>
                <a:lnTo>
                  <a:pt x="287" y="81"/>
                </a:lnTo>
                <a:lnTo>
                  <a:pt x="291" y="85"/>
                </a:lnTo>
                <a:lnTo>
                  <a:pt x="295" y="88"/>
                </a:lnTo>
                <a:lnTo>
                  <a:pt x="300" y="92"/>
                </a:lnTo>
                <a:lnTo>
                  <a:pt x="303" y="96"/>
                </a:lnTo>
                <a:lnTo>
                  <a:pt x="307" y="99"/>
                </a:lnTo>
                <a:lnTo>
                  <a:pt x="311" y="103"/>
                </a:lnTo>
                <a:lnTo>
                  <a:pt x="314" y="107"/>
                </a:lnTo>
                <a:lnTo>
                  <a:pt x="318" y="111"/>
                </a:lnTo>
                <a:lnTo>
                  <a:pt x="321" y="115"/>
                </a:lnTo>
                <a:lnTo>
                  <a:pt x="324" y="119"/>
                </a:lnTo>
                <a:lnTo>
                  <a:pt x="326" y="123"/>
                </a:lnTo>
                <a:lnTo>
                  <a:pt x="329" y="127"/>
                </a:lnTo>
                <a:lnTo>
                  <a:pt x="332" y="131"/>
                </a:lnTo>
                <a:lnTo>
                  <a:pt x="334" y="135"/>
                </a:lnTo>
                <a:lnTo>
                  <a:pt x="336" y="139"/>
                </a:lnTo>
                <a:lnTo>
                  <a:pt x="338" y="143"/>
                </a:lnTo>
                <a:lnTo>
                  <a:pt x="340" y="147"/>
                </a:lnTo>
                <a:lnTo>
                  <a:pt x="342" y="151"/>
                </a:lnTo>
                <a:lnTo>
                  <a:pt x="344" y="154"/>
                </a:lnTo>
                <a:lnTo>
                  <a:pt x="346" y="158"/>
                </a:lnTo>
                <a:lnTo>
                  <a:pt x="347" y="162"/>
                </a:lnTo>
                <a:lnTo>
                  <a:pt x="349" y="166"/>
                </a:lnTo>
                <a:lnTo>
                  <a:pt x="350" y="169"/>
                </a:lnTo>
                <a:lnTo>
                  <a:pt x="351" y="173"/>
                </a:lnTo>
                <a:lnTo>
                  <a:pt x="353" y="177"/>
                </a:lnTo>
                <a:lnTo>
                  <a:pt x="354" y="180"/>
                </a:lnTo>
                <a:lnTo>
                  <a:pt x="355" y="184"/>
                </a:lnTo>
                <a:lnTo>
                  <a:pt x="356" y="187"/>
                </a:lnTo>
                <a:lnTo>
                  <a:pt x="357" y="190"/>
                </a:lnTo>
                <a:close/>
              </a:path>
            </a:pathLst>
          </a:custGeom>
          <a:solidFill>
            <a:schemeClr val="accent1">
              <a:lumMod val="60000"/>
              <a:lumOff val="40000"/>
            </a:schemeClr>
          </a:solidFill>
          <a:ln w="25400">
            <a:solidFill>
              <a:schemeClr val="bg2"/>
            </a:solidFill>
          </a:ln>
          <a:effectLst/>
        </p:spPr>
        <p:txBody>
          <a:bodyPr wrap="none" anchor="ctr"/>
          <a:p>
            <a:pPr eaLnBrk="0" fontAlgn="base" hangingPunct="0">
              <a:spcBef>
                <a:spcPct val="0"/>
              </a:spcBef>
              <a:spcAft>
                <a:spcPct val="0"/>
              </a:spcAft>
            </a:pPr>
            <a:endParaRPr lang="en-GB" sz="1335">
              <a:solidFill>
                <a:srgbClr val="1E344D"/>
              </a:solidFill>
              <a:latin typeface="微软雅黑" panose="020B0503020204020204" charset="-122"/>
              <a:ea typeface="微软雅黑" panose="020B0503020204020204" charset="-122"/>
              <a:cs typeface="微软雅黑" panose="020B0503020204020204" charset="-122"/>
            </a:endParaRPr>
          </a:p>
        </p:txBody>
      </p:sp>
      <p:sp>
        <p:nvSpPr>
          <p:cNvPr id="45" name="Freeform 32"/>
          <p:cNvSpPr/>
          <p:nvPr/>
        </p:nvSpPr>
        <p:spPr bwMode="gray">
          <a:xfrm rot="16980000">
            <a:off x="8187055" y="1727200"/>
            <a:ext cx="659765" cy="758190"/>
          </a:xfrm>
          <a:custGeom>
            <a:avLst/>
            <a:gdLst>
              <a:gd name="T0" fmla="*/ 2147483647 w 395"/>
              <a:gd name="T1" fmla="*/ 2147483647 h 316"/>
              <a:gd name="T2" fmla="*/ 2147483647 w 395"/>
              <a:gd name="T3" fmla="*/ 2147483647 h 316"/>
              <a:gd name="T4" fmla="*/ 2147483647 w 395"/>
              <a:gd name="T5" fmla="*/ 2147483647 h 316"/>
              <a:gd name="T6" fmla="*/ 2147483647 w 395"/>
              <a:gd name="T7" fmla="*/ 2147483647 h 316"/>
              <a:gd name="T8" fmla="*/ 2147483647 w 395"/>
              <a:gd name="T9" fmla="*/ 2147483647 h 316"/>
              <a:gd name="T10" fmla="*/ 2147483647 w 395"/>
              <a:gd name="T11" fmla="*/ 2147483647 h 316"/>
              <a:gd name="T12" fmla="*/ 2147483647 w 395"/>
              <a:gd name="T13" fmla="*/ 2147483647 h 316"/>
              <a:gd name="T14" fmla="*/ 2147483647 w 395"/>
              <a:gd name="T15" fmla="*/ 2147483647 h 316"/>
              <a:gd name="T16" fmla="*/ 2147483647 w 395"/>
              <a:gd name="T17" fmla="*/ 2147483647 h 316"/>
              <a:gd name="T18" fmla="*/ 2147483647 w 395"/>
              <a:gd name="T19" fmla="*/ 2147483647 h 316"/>
              <a:gd name="T20" fmla="*/ 2147483647 w 395"/>
              <a:gd name="T21" fmla="*/ 2147483647 h 316"/>
              <a:gd name="T22" fmla="*/ 2147483647 w 395"/>
              <a:gd name="T23" fmla="*/ 2147483647 h 316"/>
              <a:gd name="T24" fmla="*/ 2147483647 w 395"/>
              <a:gd name="T25" fmla="*/ 2147483647 h 316"/>
              <a:gd name="T26" fmla="*/ 2147483647 w 395"/>
              <a:gd name="T27" fmla="*/ 2147483647 h 316"/>
              <a:gd name="T28" fmla="*/ 2147483647 w 395"/>
              <a:gd name="T29" fmla="*/ 2147483647 h 316"/>
              <a:gd name="T30" fmla="*/ 2147483647 w 395"/>
              <a:gd name="T31" fmla="*/ 2147483647 h 316"/>
              <a:gd name="T32" fmla="*/ 2147483647 w 395"/>
              <a:gd name="T33" fmla="*/ 2147483647 h 316"/>
              <a:gd name="T34" fmla="*/ 2147483647 w 395"/>
              <a:gd name="T35" fmla="*/ 2147483647 h 316"/>
              <a:gd name="T36" fmla="*/ 2147483647 w 395"/>
              <a:gd name="T37" fmla="*/ 2147483647 h 316"/>
              <a:gd name="T38" fmla="*/ 2147483647 w 395"/>
              <a:gd name="T39" fmla="*/ 2147483647 h 316"/>
              <a:gd name="T40" fmla="*/ 2147483647 w 395"/>
              <a:gd name="T41" fmla="*/ 2147483647 h 316"/>
              <a:gd name="T42" fmla="*/ 2147483647 w 395"/>
              <a:gd name="T43" fmla="*/ 2147483647 h 316"/>
              <a:gd name="T44" fmla="*/ 2147483647 w 395"/>
              <a:gd name="T45" fmla="*/ 2147483647 h 316"/>
              <a:gd name="T46" fmla="*/ 2147483647 w 395"/>
              <a:gd name="T47" fmla="*/ 2147483647 h 316"/>
              <a:gd name="T48" fmla="*/ 2147483647 w 395"/>
              <a:gd name="T49" fmla="*/ 2147483647 h 316"/>
              <a:gd name="T50" fmla="*/ 2147483647 w 395"/>
              <a:gd name="T51" fmla="*/ 2147483647 h 316"/>
              <a:gd name="T52" fmla="*/ 2147483647 w 395"/>
              <a:gd name="T53" fmla="*/ 2147483647 h 316"/>
              <a:gd name="T54" fmla="*/ 2147483647 w 395"/>
              <a:gd name="T55" fmla="*/ 2147483647 h 316"/>
              <a:gd name="T56" fmla="*/ 2147483647 w 395"/>
              <a:gd name="T57" fmla="*/ 2147483647 h 316"/>
              <a:gd name="T58" fmla="*/ 2147483647 w 395"/>
              <a:gd name="T59" fmla="*/ 2147483647 h 316"/>
              <a:gd name="T60" fmla="*/ 2147483647 w 395"/>
              <a:gd name="T61" fmla="*/ 2147483647 h 316"/>
              <a:gd name="T62" fmla="*/ 2147483647 w 395"/>
              <a:gd name="T63" fmla="*/ 2147483647 h 316"/>
              <a:gd name="T64" fmla="*/ 2147483647 w 395"/>
              <a:gd name="T65" fmla="*/ 2147483647 h 316"/>
              <a:gd name="T66" fmla="*/ 2147483647 w 395"/>
              <a:gd name="T67" fmla="*/ 2147483647 h 316"/>
              <a:gd name="T68" fmla="*/ 2147483647 w 395"/>
              <a:gd name="T69" fmla="*/ 2147483647 h 316"/>
              <a:gd name="T70" fmla="*/ 2147483647 w 395"/>
              <a:gd name="T71" fmla="*/ 2147483647 h 316"/>
              <a:gd name="T72" fmla="*/ 0 w 395"/>
              <a:gd name="T73" fmla="*/ 2147483647 h 316"/>
              <a:gd name="T74" fmla="*/ 0 w 395"/>
              <a:gd name="T75" fmla="*/ 2147483647 h 316"/>
              <a:gd name="T76" fmla="*/ 0 w 395"/>
              <a:gd name="T77" fmla="*/ 2147483647 h 316"/>
              <a:gd name="T78" fmla="*/ 0 w 395"/>
              <a:gd name="T79" fmla="*/ 2147483647 h 316"/>
              <a:gd name="T80" fmla="*/ 0 w 395"/>
              <a:gd name="T81" fmla="*/ 0 h 316"/>
              <a:gd name="T82" fmla="*/ 2147483647 w 395"/>
              <a:gd name="T83" fmla="*/ 0 h 316"/>
              <a:gd name="T84" fmla="*/ 2147483647 w 395"/>
              <a:gd name="T85" fmla="*/ 0 h 316"/>
              <a:gd name="T86" fmla="*/ 2147483647 w 395"/>
              <a:gd name="T87" fmla="*/ 2147483647 h 316"/>
              <a:gd name="T88" fmla="*/ 2147483647 w 395"/>
              <a:gd name="T89" fmla="*/ 2147483647 h 316"/>
              <a:gd name="T90" fmla="*/ 2147483647 w 395"/>
              <a:gd name="T91" fmla="*/ 2147483647 h 316"/>
              <a:gd name="T92" fmla="*/ 2147483647 w 395"/>
              <a:gd name="T93" fmla="*/ 2147483647 h 316"/>
              <a:gd name="T94" fmla="*/ 2147483647 w 395"/>
              <a:gd name="T95" fmla="*/ 2147483647 h 316"/>
              <a:gd name="T96" fmla="*/ 2147483647 w 395"/>
              <a:gd name="T97" fmla="*/ 2147483647 h 316"/>
              <a:gd name="T98" fmla="*/ 2147483647 w 395"/>
              <a:gd name="T99" fmla="*/ 2147483647 h 316"/>
              <a:gd name="T100" fmla="*/ 2147483647 w 395"/>
              <a:gd name="T101" fmla="*/ 2147483647 h 316"/>
              <a:gd name="T102" fmla="*/ 2147483647 w 395"/>
              <a:gd name="T103" fmla="*/ 2147483647 h 316"/>
              <a:gd name="T104" fmla="*/ 2147483647 w 395"/>
              <a:gd name="T105" fmla="*/ 2147483647 h 316"/>
              <a:gd name="T106" fmla="*/ 2147483647 w 395"/>
              <a:gd name="T107" fmla="*/ 2147483647 h 316"/>
              <a:gd name="T108" fmla="*/ 2147483647 w 395"/>
              <a:gd name="T109" fmla="*/ 2147483647 h 31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95" h="316">
                <a:moveTo>
                  <a:pt x="357" y="190"/>
                </a:moveTo>
                <a:lnTo>
                  <a:pt x="357" y="194"/>
                </a:lnTo>
                <a:lnTo>
                  <a:pt x="358" y="197"/>
                </a:lnTo>
                <a:lnTo>
                  <a:pt x="359" y="200"/>
                </a:lnTo>
                <a:lnTo>
                  <a:pt x="359" y="202"/>
                </a:lnTo>
                <a:lnTo>
                  <a:pt x="360" y="205"/>
                </a:lnTo>
                <a:lnTo>
                  <a:pt x="360" y="207"/>
                </a:lnTo>
                <a:lnTo>
                  <a:pt x="361" y="209"/>
                </a:lnTo>
                <a:lnTo>
                  <a:pt x="361" y="211"/>
                </a:lnTo>
                <a:lnTo>
                  <a:pt x="362" y="212"/>
                </a:lnTo>
                <a:lnTo>
                  <a:pt x="362" y="214"/>
                </a:lnTo>
                <a:lnTo>
                  <a:pt x="362" y="215"/>
                </a:lnTo>
                <a:lnTo>
                  <a:pt x="362" y="216"/>
                </a:lnTo>
                <a:lnTo>
                  <a:pt x="363" y="217"/>
                </a:lnTo>
                <a:lnTo>
                  <a:pt x="363" y="218"/>
                </a:lnTo>
                <a:lnTo>
                  <a:pt x="364" y="218"/>
                </a:lnTo>
                <a:lnTo>
                  <a:pt x="365" y="218"/>
                </a:lnTo>
                <a:lnTo>
                  <a:pt x="366" y="218"/>
                </a:lnTo>
                <a:lnTo>
                  <a:pt x="367" y="218"/>
                </a:lnTo>
                <a:lnTo>
                  <a:pt x="368" y="218"/>
                </a:lnTo>
                <a:lnTo>
                  <a:pt x="369" y="218"/>
                </a:lnTo>
                <a:lnTo>
                  <a:pt x="370" y="218"/>
                </a:lnTo>
                <a:lnTo>
                  <a:pt x="372" y="218"/>
                </a:lnTo>
                <a:lnTo>
                  <a:pt x="373" y="218"/>
                </a:lnTo>
                <a:lnTo>
                  <a:pt x="375" y="218"/>
                </a:lnTo>
                <a:lnTo>
                  <a:pt x="376" y="218"/>
                </a:lnTo>
                <a:lnTo>
                  <a:pt x="378" y="218"/>
                </a:lnTo>
                <a:lnTo>
                  <a:pt x="380" y="218"/>
                </a:lnTo>
                <a:lnTo>
                  <a:pt x="382" y="218"/>
                </a:lnTo>
                <a:lnTo>
                  <a:pt x="384" y="218"/>
                </a:lnTo>
                <a:lnTo>
                  <a:pt x="385" y="218"/>
                </a:lnTo>
                <a:lnTo>
                  <a:pt x="387" y="218"/>
                </a:lnTo>
                <a:lnTo>
                  <a:pt x="388" y="218"/>
                </a:lnTo>
                <a:lnTo>
                  <a:pt x="389" y="218"/>
                </a:lnTo>
                <a:lnTo>
                  <a:pt x="390" y="218"/>
                </a:lnTo>
                <a:lnTo>
                  <a:pt x="391" y="218"/>
                </a:lnTo>
                <a:lnTo>
                  <a:pt x="392" y="218"/>
                </a:lnTo>
                <a:lnTo>
                  <a:pt x="393" y="218"/>
                </a:lnTo>
                <a:lnTo>
                  <a:pt x="394" y="218"/>
                </a:lnTo>
                <a:lnTo>
                  <a:pt x="393" y="218"/>
                </a:lnTo>
                <a:lnTo>
                  <a:pt x="393" y="219"/>
                </a:lnTo>
                <a:lnTo>
                  <a:pt x="391" y="221"/>
                </a:lnTo>
                <a:lnTo>
                  <a:pt x="390" y="222"/>
                </a:lnTo>
                <a:lnTo>
                  <a:pt x="388" y="224"/>
                </a:lnTo>
                <a:lnTo>
                  <a:pt x="386" y="227"/>
                </a:lnTo>
                <a:lnTo>
                  <a:pt x="384" y="230"/>
                </a:lnTo>
                <a:lnTo>
                  <a:pt x="381" y="233"/>
                </a:lnTo>
                <a:lnTo>
                  <a:pt x="378" y="237"/>
                </a:lnTo>
                <a:lnTo>
                  <a:pt x="375" y="241"/>
                </a:lnTo>
                <a:lnTo>
                  <a:pt x="371" y="245"/>
                </a:lnTo>
                <a:lnTo>
                  <a:pt x="367" y="250"/>
                </a:lnTo>
                <a:lnTo>
                  <a:pt x="363" y="255"/>
                </a:lnTo>
                <a:lnTo>
                  <a:pt x="358" y="261"/>
                </a:lnTo>
                <a:lnTo>
                  <a:pt x="353" y="266"/>
                </a:lnTo>
                <a:lnTo>
                  <a:pt x="348" y="272"/>
                </a:lnTo>
                <a:lnTo>
                  <a:pt x="344" y="278"/>
                </a:lnTo>
                <a:lnTo>
                  <a:pt x="340" y="283"/>
                </a:lnTo>
                <a:lnTo>
                  <a:pt x="336" y="288"/>
                </a:lnTo>
                <a:lnTo>
                  <a:pt x="332" y="292"/>
                </a:lnTo>
                <a:lnTo>
                  <a:pt x="329" y="296"/>
                </a:lnTo>
                <a:lnTo>
                  <a:pt x="326" y="300"/>
                </a:lnTo>
                <a:lnTo>
                  <a:pt x="323" y="303"/>
                </a:lnTo>
                <a:lnTo>
                  <a:pt x="321" y="306"/>
                </a:lnTo>
                <a:lnTo>
                  <a:pt x="318" y="309"/>
                </a:lnTo>
                <a:lnTo>
                  <a:pt x="317" y="311"/>
                </a:lnTo>
                <a:lnTo>
                  <a:pt x="315" y="312"/>
                </a:lnTo>
                <a:lnTo>
                  <a:pt x="314" y="314"/>
                </a:lnTo>
                <a:lnTo>
                  <a:pt x="313" y="315"/>
                </a:lnTo>
                <a:lnTo>
                  <a:pt x="312" y="315"/>
                </a:lnTo>
                <a:lnTo>
                  <a:pt x="311" y="314"/>
                </a:lnTo>
                <a:lnTo>
                  <a:pt x="310" y="312"/>
                </a:lnTo>
                <a:lnTo>
                  <a:pt x="309" y="311"/>
                </a:lnTo>
                <a:lnTo>
                  <a:pt x="307" y="309"/>
                </a:lnTo>
                <a:lnTo>
                  <a:pt x="305" y="306"/>
                </a:lnTo>
                <a:lnTo>
                  <a:pt x="303" y="303"/>
                </a:lnTo>
                <a:lnTo>
                  <a:pt x="300" y="300"/>
                </a:lnTo>
                <a:lnTo>
                  <a:pt x="297" y="296"/>
                </a:lnTo>
                <a:lnTo>
                  <a:pt x="294" y="292"/>
                </a:lnTo>
                <a:lnTo>
                  <a:pt x="290" y="288"/>
                </a:lnTo>
                <a:lnTo>
                  <a:pt x="286" y="283"/>
                </a:lnTo>
                <a:lnTo>
                  <a:pt x="282" y="278"/>
                </a:lnTo>
                <a:lnTo>
                  <a:pt x="277" y="272"/>
                </a:lnTo>
                <a:lnTo>
                  <a:pt x="272" y="266"/>
                </a:lnTo>
                <a:lnTo>
                  <a:pt x="267" y="261"/>
                </a:lnTo>
                <a:lnTo>
                  <a:pt x="263" y="255"/>
                </a:lnTo>
                <a:lnTo>
                  <a:pt x="258" y="250"/>
                </a:lnTo>
                <a:lnTo>
                  <a:pt x="254" y="245"/>
                </a:lnTo>
                <a:lnTo>
                  <a:pt x="251" y="241"/>
                </a:lnTo>
                <a:lnTo>
                  <a:pt x="247" y="237"/>
                </a:lnTo>
                <a:lnTo>
                  <a:pt x="244" y="233"/>
                </a:lnTo>
                <a:lnTo>
                  <a:pt x="242" y="230"/>
                </a:lnTo>
                <a:lnTo>
                  <a:pt x="239" y="227"/>
                </a:lnTo>
                <a:lnTo>
                  <a:pt x="237" y="224"/>
                </a:lnTo>
                <a:lnTo>
                  <a:pt x="235" y="222"/>
                </a:lnTo>
                <a:lnTo>
                  <a:pt x="234" y="221"/>
                </a:lnTo>
                <a:lnTo>
                  <a:pt x="233" y="219"/>
                </a:lnTo>
                <a:lnTo>
                  <a:pt x="232" y="218"/>
                </a:lnTo>
                <a:lnTo>
                  <a:pt x="233" y="218"/>
                </a:lnTo>
                <a:lnTo>
                  <a:pt x="234" y="218"/>
                </a:lnTo>
                <a:lnTo>
                  <a:pt x="235" y="218"/>
                </a:lnTo>
                <a:lnTo>
                  <a:pt x="236" y="218"/>
                </a:lnTo>
                <a:lnTo>
                  <a:pt x="237" y="218"/>
                </a:lnTo>
                <a:lnTo>
                  <a:pt x="239" y="218"/>
                </a:lnTo>
                <a:lnTo>
                  <a:pt x="240" y="218"/>
                </a:lnTo>
                <a:lnTo>
                  <a:pt x="242" y="218"/>
                </a:lnTo>
                <a:lnTo>
                  <a:pt x="244" y="218"/>
                </a:lnTo>
                <a:lnTo>
                  <a:pt x="246" y="218"/>
                </a:lnTo>
                <a:lnTo>
                  <a:pt x="248" y="218"/>
                </a:lnTo>
                <a:lnTo>
                  <a:pt x="250" y="218"/>
                </a:lnTo>
                <a:lnTo>
                  <a:pt x="253" y="218"/>
                </a:lnTo>
                <a:lnTo>
                  <a:pt x="255" y="218"/>
                </a:lnTo>
                <a:lnTo>
                  <a:pt x="257" y="218"/>
                </a:lnTo>
                <a:lnTo>
                  <a:pt x="258" y="218"/>
                </a:lnTo>
                <a:lnTo>
                  <a:pt x="260" y="218"/>
                </a:lnTo>
                <a:lnTo>
                  <a:pt x="262" y="218"/>
                </a:lnTo>
                <a:lnTo>
                  <a:pt x="263" y="218"/>
                </a:lnTo>
                <a:lnTo>
                  <a:pt x="264" y="218"/>
                </a:lnTo>
                <a:lnTo>
                  <a:pt x="265" y="218"/>
                </a:lnTo>
                <a:lnTo>
                  <a:pt x="266" y="218"/>
                </a:lnTo>
                <a:lnTo>
                  <a:pt x="267" y="218"/>
                </a:lnTo>
                <a:lnTo>
                  <a:pt x="268" y="218"/>
                </a:lnTo>
                <a:lnTo>
                  <a:pt x="269" y="218"/>
                </a:lnTo>
                <a:lnTo>
                  <a:pt x="269" y="217"/>
                </a:lnTo>
                <a:lnTo>
                  <a:pt x="269" y="216"/>
                </a:lnTo>
                <a:lnTo>
                  <a:pt x="269" y="215"/>
                </a:lnTo>
                <a:lnTo>
                  <a:pt x="268" y="213"/>
                </a:lnTo>
                <a:lnTo>
                  <a:pt x="268" y="212"/>
                </a:lnTo>
                <a:lnTo>
                  <a:pt x="268" y="211"/>
                </a:lnTo>
                <a:lnTo>
                  <a:pt x="268" y="209"/>
                </a:lnTo>
                <a:lnTo>
                  <a:pt x="268" y="207"/>
                </a:lnTo>
                <a:lnTo>
                  <a:pt x="267" y="205"/>
                </a:lnTo>
                <a:lnTo>
                  <a:pt x="267" y="203"/>
                </a:lnTo>
                <a:lnTo>
                  <a:pt x="267" y="201"/>
                </a:lnTo>
                <a:lnTo>
                  <a:pt x="266" y="199"/>
                </a:lnTo>
                <a:lnTo>
                  <a:pt x="266" y="196"/>
                </a:lnTo>
                <a:lnTo>
                  <a:pt x="265" y="193"/>
                </a:lnTo>
                <a:lnTo>
                  <a:pt x="265" y="190"/>
                </a:lnTo>
                <a:lnTo>
                  <a:pt x="265" y="188"/>
                </a:lnTo>
                <a:lnTo>
                  <a:pt x="264" y="185"/>
                </a:lnTo>
                <a:lnTo>
                  <a:pt x="264" y="182"/>
                </a:lnTo>
                <a:lnTo>
                  <a:pt x="263" y="180"/>
                </a:lnTo>
                <a:lnTo>
                  <a:pt x="263" y="177"/>
                </a:lnTo>
                <a:lnTo>
                  <a:pt x="262" y="174"/>
                </a:lnTo>
                <a:lnTo>
                  <a:pt x="261" y="171"/>
                </a:lnTo>
                <a:lnTo>
                  <a:pt x="261" y="169"/>
                </a:lnTo>
                <a:lnTo>
                  <a:pt x="260" y="166"/>
                </a:lnTo>
                <a:lnTo>
                  <a:pt x="259" y="163"/>
                </a:lnTo>
                <a:lnTo>
                  <a:pt x="259" y="161"/>
                </a:lnTo>
                <a:lnTo>
                  <a:pt x="258" y="158"/>
                </a:lnTo>
                <a:lnTo>
                  <a:pt x="257" y="155"/>
                </a:lnTo>
                <a:lnTo>
                  <a:pt x="257" y="152"/>
                </a:lnTo>
                <a:lnTo>
                  <a:pt x="256" y="150"/>
                </a:lnTo>
                <a:lnTo>
                  <a:pt x="255" y="147"/>
                </a:lnTo>
                <a:lnTo>
                  <a:pt x="254" y="144"/>
                </a:lnTo>
                <a:lnTo>
                  <a:pt x="253" y="142"/>
                </a:lnTo>
                <a:lnTo>
                  <a:pt x="252" y="139"/>
                </a:lnTo>
                <a:lnTo>
                  <a:pt x="250" y="136"/>
                </a:lnTo>
                <a:lnTo>
                  <a:pt x="249" y="133"/>
                </a:lnTo>
                <a:lnTo>
                  <a:pt x="248" y="131"/>
                </a:lnTo>
                <a:lnTo>
                  <a:pt x="247" y="128"/>
                </a:lnTo>
                <a:lnTo>
                  <a:pt x="245" y="125"/>
                </a:lnTo>
                <a:lnTo>
                  <a:pt x="243" y="123"/>
                </a:lnTo>
                <a:lnTo>
                  <a:pt x="242" y="120"/>
                </a:lnTo>
                <a:lnTo>
                  <a:pt x="240" y="117"/>
                </a:lnTo>
                <a:lnTo>
                  <a:pt x="238" y="114"/>
                </a:lnTo>
                <a:lnTo>
                  <a:pt x="237" y="112"/>
                </a:lnTo>
                <a:lnTo>
                  <a:pt x="235" y="109"/>
                </a:lnTo>
                <a:lnTo>
                  <a:pt x="233" y="106"/>
                </a:lnTo>
                <a:lnTo>
                  <a:pt x="230" y="104"/>
                </a:lnTo>
                <a:lnTo>
                  <a:pt x="228" y="101"/>
                </a:lnTo>
                <a:lnTo>
                  <a:pt x="226" y="98"/>
                </a:lnTo>
                <a:lnTo>
                  <a:pt x="223" y="95"/>
                </a:lnTo>
                <a:lnTo>
                  <a:pt x="220" y="93"/>
                </a:lnTo>
                <a:lnTo>
                  <a:pt x="217" y="90"/>
                </a:lnTo>
                <a:lnTo>
                  <a:pt x="214" y="87"/>
                </a:lnTo>
                <a:lnTo>
                  <a:pt x="211" y="85"/>
                </a:lnTo>
                <a:lnTo>
                  <a:pt x="208" y="82"/>
                </a:lnTo>
                <a:lnTo>
                  <a:pt x="204" y="79"/>
                </a:lnTo>
                <a:lnTo>
                  <a:pt x="201" y="76"/>
                </a:lnTo>
                <a:lnTo>
                  <a:pt x="197" y="74"/>
                </a:lnTo>
                <a:lnTo>
                  <a:pt x="193" y="71"/>
                </a:lnTo>
                <a:lnTo>
                  <a:pt x="189" y="68"/>
                </a:lnTo>
                <a:lnTo>
                  <a:pt x="185" y="66"/>
                </a:lnTo>
                <a:lnTo>
                  <a:pt x="180" y="63"/>
                </a:lnTo>
                <a:lnTo>
                  <a:pt x="176" y="60"/>
                </a:lnTo>
                <a:lnTo>
                  <a:pt x="172" y="58"/>
                </a:lnTo>
                <a:lnTo>
                  <a:pt x="167" y="55"/>
                </a:lnTo>
                <a:lnTo>
                  <a:pt x="163" y="53"/>
                </a:lnTo>
                <a:lnTo>
                  <a:pt x="158" y="50"/>
                </a:lnTo>
                <a:lnTo>
                  <a:pt x="154" y="48"/>
                </a:lnTo>
                <a:lnTo>
                  <a:pt x="149" y="45"/>
                </a:lnTo>
                <a:lnTo>
                  <a:pt x="145" y="43"/>
                </a:lnTo>
                <a:lnTo>
                  <a:pt x="140" y="41"/>
                </a:lnTo>
                <a:lnTo>
                  <a:pt x="136" y="38"/>
                </a:lnTo>
                <a:lnTo>
                  <a:pt x="131" y="36"/>
                </a:lnTo>
                <a:lnTo>
                  <a:pt x="127" y="34"/>
                </a:lnTo>
                <a:lnTo>
                  <a:pt x="122" y="32"/>
                </a:lnTo>
                <a:lnTo>
                  <a:pt x="117" y="30"/>
                </a:lnTo>
                <a:lnTo>
                  <a:pt x="113" y="28"/>
                </a:lnTo>
                <a:lnTo>
                  <a:pt x="108" y="26"/>
                </a:lnTo>
                <a:lnTo>
                  <a:pt x="103" y="24"/>
                </a:lnTo>
                <a:lnTo>
                  <a:pt x="99" y="22"/>
                </a:lnTo>
                <a:lnTo>
                  <a:pt x="94" y="20"/>
                </a:lnTo>
                <a:lnTo>
                  <a:pt x="89" y="19"/>
                </a:lnTo>
                <a:lnTo>
                  <a:pt x="85" y="18"/>
                </a:lnTo>
                <a:lnTo>
                  <a:pt x="80" y="16"/>
                </a:lnTo>
                <a:lnTo>
                  <a:pt x="75" y="15"/>
                </a:lnTo>
                <a:lnTo>
                  <a:pt x="71" y="14"/>
                </a:lnTo>
                <a:lnTo>
                  <a:pt x="66" y="14"/>
                </a:lnTo>
                <a:lnTo>
                  <a:pt x="61" y="13"/>
                </a:lnTo>
                <a:lnTo>
                  <a:pt x="57" y="12"/>
                </a:lnTo>
                <a:lnTo>
                  <a:pt x="52" y="12"/>
                </a:lnTo>
                <a:lnTo>
                  <a:pt x="47" y="11"/>
                </a:lnTo>
                <a:lnTo>
                  <a:pt x="42" y="11"/>
                </a:lnTo>
                <a:lnTo>
                  <a:pt x="38" y="11"/>
                </a:lnTo>
                <a:lnTo>
                  <a:pt x="33" y="11"/>
                </a:lnTo>
                <a:lnTo>
                  <a:pt x="29" y="11"/>
                </a:lnTo>
                <a:lnTo>
                  <a:pt x="25" y="11"/>
                </a:lnTo>
                <a:lnTo>
                  <a:pt x="21" y="11"/>
                </a:lnTo>
                <a:lnTo>
                  <a:pt x="18" y="11"/>
                </a:lnTo>
                <a:lnTo>
                  <a:pt x="15" y="11"/>
                </a:lnTo>
                <a:lnTo>
                  <a:pt x="12" y="11"/>
                </a:lnTo>
                <a:lnTo>
                  <a:pt x="10" y="11"/>
                </a:lnTo>
                <a:lnTo>
                  <a:pt x="7" y="11"/>
                </a:lnTo>
                <a:lnTo>
                  <a:pt x="6" y="11"/>
                </a:lnTo>
                <a:lnTo>
                  <a:pt x="4" y="11"/>
                </a:lnTo>
                <a:lnTo>
                  <a:pt x="3" y="11"/>
                </a:lnTo>
                <a:lnTo>
                  <a:pt x="2" y="11"/>
                </a:lnTo>
                <a:lnTo>
                  <a:pt x="1" y="11"/>
                </a:lnTo>
                <a:lnTo>
                  <a:pt x="0" y="11"/>
                </a:lnTo>
                <a:lnTo>
                  <a:pt x="0" y="10"/>
                </a:lnTo>
                <a:lnTo>
                  <a:pt x="0" y="9"/>
                </a:lnTo>
                <a:lnTo>
                  <a:pt x="0" y="8"/>
                </a:lnTo>
                <a:lnTo>
                  <a:pt x="0" y="7"/>
                </a:lnTo>
                <a:lnTo>
                  <a:pt x="0" y="6"/>
                </a:lnTo>
                <a:lnTo>
                  <a:pt x="0" y="5"/>
                </a:lnTo>
                <a:lnTo>
                  <a:pt x="0" y="4"/>
                </a:lnTo>
                <a:lnTo>
                  <a:pt x="0" y="3"/>
                </a:lnTo>
                <a:lnTo>
                  <a:pt x="0" y="2"/>
                </a:lnTo>
                <a:lnTo>
                  <a:pt x="0" y="1"/>
                </a:lnTo>
                <a:lnTo>
                  <a:pt x="0" y="0"/>
                </a:lnTo>
                <a:lnTo>
                  <a:pt x="1" y="0"/>
                </a:lnTo>
                <a:lnTo>
                  <a:pt x="2" y="0"/>
                </a:lnTo>
                <a:lnTo>
                  <a:pt x="3" y="0"/>
                </a:lnTo>
                <a:lnTo>
                  <a:pt x="4" y="0"/>
                </a:lnTo>
                <a:lnTo>
                  <a:pt x="6" y="0"/>
                </a:lnTo>
                <a:lnTo>
                  <a:pt x="8" y="0"/>
                </a:lnTo>
                <a:lnTo>
                  <a:pt x="10" y="0"/>
                </a:lnTo>
                <a:lnTo>
                  <a:pt x="13" y="0"/>
                </a:lnTo>
                <a:lnTo>
                  <a:pt x="16" y="0"/>
                </a:lnTo>
                <a:lnTo>
                  <a:pt x="19" y="0"/>
                </a:lnTo>
                <a:lnTo>
                  <a:pt x="23" y="0"/>
                </a:lnTo>
                <a:lnTo>
                  <a:pt x="27" y="0"/>
                </a:lnTo>
                <a:lnTo>
                  <a:pt x="31" y="0"/>
                </a:lnTo>
                <a:lnTo>
                  <a:pt x="36" y="0"/>
                </a:lnTo>
                <a:lnTo>
                  <a:pt x="41" y="0"/>
                </a:lnTo>
                <a:lnTo>
                  <a:pt x="46" y="0"/>
                </a:lnTo>
                <a:lnTo>
                  <a:pt x="51" y="0"/>
                </a:lnTo>
                <a:lnTo>
                  <a:pt x="56" y="1"/>
                </a:lnTo>
                <a:lnTo>
                  <a:pt x="61" y="1"/>
                </a:lnTo>
                <a:lnTo>
                  <a:pt x="66" y="1"/>
                </a:lnTo>
                <a:lnTo>
                  <a:pt x="71" y="1"/>
                </a:lnTo>
                <a:lnTo>
                  <a:pt x="76" y="1"/>
                </a:lnTo>
                <a:lnTo>
                  <a:pt x="81" y="2"/>
                </a:lnTo>
                <a:lnTo>
                  <a:pt x="86" y="2"/>
                </a:lnTo>
                <a:lnTo>
                  <a:pt x="90" y="2"/>
                </a:lnTo>
                <a:lnTo>
                  <a:pt x="95" y="3"/>
                </a:lnTo>
                <a:lnTo>
                  <a:pt x="100" y="3"/>
                </a:lnTo>
                <a:lnTo>
                  <a:pt x="105" y="4"/>
                </a:lnTo>
                <a:lnTo>
                  <a:pt x="110" y="5"/>
                </a:lnTo>
                <a:lnTo>
                  <a:pt x="114" y="5"/>
                </a:lnTo>
                <a:lnTo>
                  <a:pt x="119" y="6"/>
                </a:lnTo>
                <a:lnTo>
                  <a:pt x="124" y="7"/>
                </a:lnTo>
                <a:lnTo>
                  <a:pt x="128" y="7"/>
                </a:lnTo>
                <a:lnTo>
                  <a:pt x="133" y="8"/>
                </a:lnTo>
                <a:lnTo>
                  <a:pt x="138" y="9"/>
                </a:lnTo>
                <a:lnTo>
                  <a:pt x="142" y="10"/>
                </a:lnTo>
                <a:lnTo>
                  <a:pt x="147" y="11"/>
                </a:lnTo>
                <a:lnTo>
                  <a:pt x="152" y="13"/>
                </a:lnTo>
                <a:lnTo>
                  <a:pt x="157" y="14"/>
                </a:lnTo>
                <a:lnTo>
                  <a:pt x="161" y="15"/>
                </a:lnTo>
                <a:lnTo>
                  <a:pt x="166" y="17"/>
                </a:lnTo>
                <a:lnTo>
                  <a:pt x="171" y="18"/>
                </a:lnTo>
                <a:lnTo>
                  <a:pt x="175" y="20"/>
                </a:lnTo>
                <a:lnTo>
                  <a:pt x="180" y="22"/>
                </a:lnTo>
                <a:lnTo>
                  <a:pt x="185" y="24"/>
                </a:lnTo>
                <a:lnTo>
                  <a:pt x="189" y="26"/>
                </a:lnTo>
                <a:lnTo>
                  <a:pt x="194" y="28"/>
                </a:lnTo>
                <a:lnTo>
                  <a:pt x="199" y="30"/>
                </a:lnTo>
                <a:lnTo>
                  <a:pt x="203" y="32"/>
                </a:lnTo>
                <a:lnTo>
                  <a:pt x="208" y="34"/>
                </a:lnTo>
                <a:lnTo>
                  <a:pt x="213" y="36"/>
                </a:lnTo>
                <a:lnTo>
                  <a:pt x="218" y="39"/>
                </a:lnTo>
                <a:lnTo>
                  <a:pt x="223" y="41"/>
                </a:lnTo>
                <a:lnTo>
                  <a:pt x="227" y="44"/>
                </a:lnTo>
                <a:lnTo>
                  <a:pt x="232" y="47"/>
                </a:lnTo>
                <a:lnTo>
                  <a:pt x="237" y="49"/>
                </a:lnTo>
                <a:lnTo>
                  <a:pt x="242" y="52"/>
                </a:lnTo>
                <a:lnTo>
                  <a:pt x="247" y="55"/>
                </a:lnTo>
                <a:lnTo>
                  <a:pt x="252" y="58"/>
                </a:lnTo>
                <a:lnTo>
                  <a:pt x="257" y="61"/>
                </a:lnTo>
                <a:lnTo>
                  <a:pt x="262" y="64"/>
                </a:lnTo>
                <a:lnTo>
                  <a:pt x="267" y="68"/>
                </a:lnTo>
                <a:lnTo>
                  <a:pt x="272" y="71"/>
                </a:lnTo>
                <a:lnTo>
                  <a:pt x="277" y="74"/>
                </a:lnTo>
                <a:lnTo>
                  <a:pt x="282" y="78"/>
                </a:lnTo>
                <a:lnTo>
                  <a:pt x="287" y="81"/>
                </a:lnTo>
                <a:lnTo>
                  <a:pt x="291" y="85"/>
                </a:lnTo>
                <a:lnTo>
                  <a:pt x="295" y="88"/>
                </a:lnTo>
                <a:lnTo>
                  <a:pt x="300" y="92"/>
                </a:lnTo>
                <a:lnTo>
                  <a:pt x="303" y="96"/>
                </a:lnTo>
                <a:lnTo>
                  <a:pt x="307" y="99"/>
                </a:lnTo>
                <a:lnTo>
                  <a:pt x="311" y="103"/>
                </a:lnTo>
                <a:lnTo>
                  <a:pt x="314" y="107"/>
                </a:lnTo>
                <a:lnTo>
                  <a:pt x="318" y="111"/>
                </a:lnTo>
                <a:lnTo>
                  <a:pt x="321" y="115"/>
                </a:lnTo>
                <a:lnTo>
                  <a:pt x="324" y="119"/>
                </a:lnTo>
                <a:lnTo>
                  <a:pt x="326" y="123"/>
                </a:lnTo>
                <a:lnTo>
                  <a:pt x="329" y="127"/>
                </a:lnTo>
                <a:lnTo>
                  <a:pt x="332" y="131"/>
                </a:lnTo>
                <a:lnTo>
                  <a:pt x="334" y="135"/>
                </a:lnTo>
                <a:lnTo>
                  <a:pt x="336" y="139"/>
                </a:lnTo>
                <a:lnTo>
                  <a:pt x="338" y="143"/>
                </a:lnTo>
                <a:lnTo>
                  <a:pt x="340" y="147"/>
                </a:lnTo>
                <a:lnTo>
                  <a:pt x="342" y="151"/>
                </a:lnTo>
                <a:lnTo>
                  <a:pt x="344" y="154"/>
                </a:lnTo>
                <a:lnTo>
                  <a:pt x="346" y="158"/>
                </a:lnTo>
                <a:lnTo>
                  <a:pt x="347" y="162"/>
                </a:lnTo>
                <a:lnTo>
                  <a:pt x="349" y="166"/>
                </a:lnTo>
                <a:lnTo>
                  <a:pt x="350" y="169"/>
                </a:lnTo>
                <a:lnTo>
                  <a:pt x="351" y="173"/>
                </a:lnTo>
                <a:lnTo>
                  <a:pt x="353" y="177"/>
                </a:lnTo>
                <a:lnTo>
                  <a:pt x="354" y="180"/>
                </a:lnTo>
                <a:lnTo>
                  <a:pt x="355" y="184"/>
                </a:lnTo>
                <a:lnTo>
                  <a:pt x="356" y="187"/>
                </a:lnTo>
                <a:lnTo>
                  <a:pt x="357" y="190"/>
                </a:lnTo>
                <a:close/>
              </a:path>
            </a:pathLst>
          </a:custGeom>
          <a:solidFill>
            <a:schemeClr val="accent1">
              <a:lumMod val="60000"/>
              <a:lumOff val="40000"/>
            </a:schemeClr>
          </a:solidFill>
          <a:ln w="25400">
            <a:solidFill>
              <a:schemeClr val="bg2"/>
            </a:solidFill>
          </a:ln>
          <a:effectLst/>
        </p:spPr>
        <p:txBody>
          <a:bodyPr wrap="none" anchor="ctr"/>
          <a:p>
            <a:pPr eaLnBrk="0" fontAlgn="base" hangingPunct="0">
              <a:spcBef>
                <a:spcPct val="0"/>
              </a:spcBef>
              <a:spcAft>
                <a:spcPct val="0"/>
              </a:spcAft>
            </a:pPr>
            <a:endParaRPr lang="en-GB" sz="1335">
              <a:solidFill>
                <a:srgbClr val="1E344D"/>
              </a:solidFill>
              <a:latin typeface="微软雅黑" panose="020B0503020204020204" charset="-122"/>
              <a:ea typeface="微软雅黑" panose="020B0503020204020204" charset="-122"/>
              <a:cs typeface="微软雅黑" panose="020B0503020204020204" charset="-122"/>
            </a:endParaRPr>
          </a:p>
        </p:txBody>
      </p:sp>
      <p:sp>
        <p:nvSpPr>
          <p:cNvPr id="46" name="文本框 45"/>
          <p:cNvSpPr txBox="1"/>
          <p:nvPr>
            <p:custDataLst>
              <p:tags r:id="rId19"/>
            </p:custDataLst>
          </p:nvPr>
        </p:nvSpPr>
        <p:spPr>
          <a:xfrm>
            <a:off x="2788920" y="2418715"/>
            <a:ext cx="2204720" cy="737235"/>
          </a:xfrm>
          <a:prstGeom prst="rect">
            <a:avLst/>
          </a:prstGeom>
          <a:noFill/>
        </p:spPr>
        <p:txBody>
          <a:bodyPr wrap="square" rtlCol="0">
            <a:spAutoFit/>
          </a:bodyPr>
          <a:p>
            <a:pPr algn="l"/>
            <a:r>
              <a:rPr lang="zh-CN" altLang="en-US" sz="1400">
                <a:solidFill>
                  <a:schemeClr val="bg1"/>
                </a:solidFill>
                <a:latin typeface="微软雅黑" panose="020B0503020204020204" charset="-122"/>
                <a:ea typeface="微软雅黑" panose="020B0503020204020204" charset="-122"/>
                <a:cs typeface="微软雅黑" panose="020B0503020204020204" charset="-122"/>
              </a:rPr>
              <a:t>算法精进技术成熟，无人驾驶达到安全稳定为主要任务。</a:t>
            </a:r>
            <a:endParaRPr lang="zh-CN" altLang="en-US" sz="14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7" name="文本框 46"/>
          <p:cNvSpPr txBox="1"/>
          <p:nvPr>
            <p:custDataLst>
              <p:tags r:id="rId20"/>
            </p:custDataLst>
          </p:nvPr>
        </p:nvSpPr>
        <p:spPr>
          <a:xfrm>
            <a:off x="5870575" y="2320290"/>
            <a:ext cx="2204720" cy="521970"/>
          </a:xfrm>
          <a:prstGeom prst="rect">
            <a:avLst/>
          </a:prstGeom>
          <a:noFill/>
        </p:spPr>
        <p:txBody>
          <a:bodyPr wrap="square" rtlCol="0">
            <a:spAutoFit/>
          </a:bodyPr>
          <a:p>
            <a:pPr algn="l"/>
            <a:r>
              <a:rPr lang="zh-CN" altLang="en-US" sz="1400">
                <a:solidFill>
                  <a:schemeClr val="bg1"/>
                </a:solidFill>
                <a:latin typeface="微软雅黑" panose="020B0503020204020204" charset="-122"/>
                <a:ea typeface="微软雅黑" panose="020B0503020204020204" charset="-122"/>
                <a:cs typeface="微软雅黑" panose="020B0503020204020204" charset="-122"/>
              </a:rPr>
              <a:t>造车和运营成本双线下降，实现大规模商业运作。</a:t>
            </a:r>
            <a:endParaRPr lang="zh-CN" altLang="en-US" sz="14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8" name="文本框 47"/>
          <p:cNvSpPr txBox="1"/>
          <p:nvPr>
            <p:custDataLst>
              <p:tags r:id="rId21"/>
            </p:custDataLst>
          </p:nvPr>
        </p:nvSpPr>
        <p:spPr>
          <a:xfrm>
            <a:off x="8960485" y="2018665"/>
            <a:ext cx="2159635" cy="737235"/>
          </a:xfrm>
          <a:prstGeom prst="rect">
            <a:avLst/>
          </a:prstGeom>
          <a:noFill/>
        </p:spPr>
        <p:txBody>
          <a:bodyPr wrap="square" rtlCol="0">
            <a:spAutoFit/>
          </a:bodyPr>
          <a:p>
            <a:pPr algn="l"/>
            <a:r>
              <a:rPr lang="zh-CN" altLang="en-US" sz="1400">
                <a:solidFill>
                  <a:schemeClr val="bg1"/>
                </a:solidFill>
                <a:latin typeface="微软雅黑" panose="020B0503020204020204" charset="-122"/>
                <a:ea typeface="微软雅黑" panose="020B0503020204020204" charset="-122"/>
                <a:cs typeface="微软雅黑" panose="020B0503020204020204" charset="-122"/>
              </a:rPr>
              <a:t>运营优化，使用高效便捷成为极具竞争力的出行方式。</a:t>
            </a:r>
            <a:endParaRPr lang="zh-CN" altLang="en-US" sz="140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50" name="图片 49" descr="算法"/>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4892040" y="2778125"/>
            <a:ext cx="314325" cy="314325"/>
          </a:xfrm>
          <a:prstGeom prst="rect">
            <a:avLst/>
          </a:prstGeom>
        </p:spPr>
      </p:pic>
      <p:pic>
        <p:nvPicPr>
          <p:cNvPr id="51" name="图片 50" descr="精细化预报智能平台3"/>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1010900" y="2381250"/>
            <a:ext cx="276225" cy="276225"/>
          </a:xfrm>
          <a:prstGeom prst="rect">
            <a:avLst/>
          </a:prstGeom>
        </p:spPr>
      </p:pic>
      <p:pic>
        <p:nvPicPr>
          <p:cNvPr id="52" name="图片 51" descr="成本管理"/>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7905750" y="2616835"/>
            <a:ext cx="290830" cy="290830"/>
          </a:xfrm>
          <a:prstGeom prst="rect">
            <a:avLst/>
          </a:prstGeom>
        </p:spPr>
      </p:pic>
      <p:sp>
        <p:nvSpPr>
          <p:cNvPr id="53" name="文本框 52"/>
          <p:cNvSpPr txBox="1"/>
          <p:nvPr>
            <p:custDataLst>
              <p:tags r:id="rId28"/>
            </p:custDataLst>
          </p:nvPr>
        </p:nvSpPr>
        <p:spPr>
          <a:xfrm>
            <a:off x="2577465" y="3784600"/>
            <a:ext cx="575310" cy="706755"/>
          </a:xfrm>
          <a:prstGeom prst="rect">
            <a:avLst/>
          </a:prstGeom>
          <a:noFill/>
        </p:spPr>
        <p:txBody>
          <a:bodyPr wrap="square" rtlCol="0">
            <a:spAutoFit/>
          </a:bodyPr>
          <a:p>
            <a:pPr algn="ctr"/>
            <a:r>
              <a:rPr lang="zh-CN" altLang="en-US" sz="2000" b="1">
                <a:gradFill>
                  <a:gsLst>
                    <a:gs pos="0">
                      <a:schemeClr val="accent1"/>
                    </a:gs>
                    <a:gs pos="100000">
                      <a:schemeClr val="accent1">
                        <a:lumMod val="60000"/>
                        <a:lumOff val="40000"/>
                      </a:schemeClr>
                    </a:gs>
                  </a:gsLst>
                  <a:lin ang="5400000" scaled="0"/>
                </a:gradFill>
                <a:effectLst>
                  <a:outerShdw blurRad="50800" dist="38100" dir="2700000" algn="tl" rotWithShape="0">
                    <a:schemeClr val="bg1">
                      <a:alpha val="100000"/>
                    </a:schemeClr>
                  </a:outerShdw>
                </a:effectLst>
                <a:latin typeface="微软雅黑" panose="020B0503020204020204" charset="-122"/>
                <a:ea typeface="微软雅黑" panose="020B0503020204020204" charset="-122"/>
                <a:cs typeface="微软雅黑" panose="020B0503020204020204" charset="-122"/>
              </a:rPr>
              <a:t>状态</a:t>
            </a:r>
            <a:endParaRPr lang="zh-CN" altLang="en-US" sz="2000" b="1">
              <a:gradFill>
                <a:gsLst>
                  <a:gs pos="0">
                    <a:schemeClr val="accent1"/>
                  </a:gs>
                  <a:gs pos="100000">
                    <a:schemeClr val="accent1">
                      <a:lumMod val="60000"/>
                      <a:lumOff val="40000"/>
                    </a:schemeClr>
                  </a:gs>
                </a:gsLst>
                <a:lin ang="5400000" scaled="0"/>
              </a:gradFill>
              <a:effectLst>
                <a:outerShdw blurRad="50800" dist="38100" dir="2700000" algn="tl" rotWithShape="0">
                  <a:schemeClr val="bg1">
                    <a:alpha val="100000"/>
                  </a:schemeClr>
                </a:outerShdw>
              </a:effectLst>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custDataLst>
              <p:tags r:id="rId29"/>
            </p:custDataLst>
          </p:nvPr>
        </p:nvSpPr>
        <p:spPr>
          <a:xfrm>
            <a:off x="3155315" y="3345815"/>
            <a:ext cx="2204720" cy="1652905"/>
          </a:xfrm>
          <a:prstGeom prst="rect">
            <a:avLst/>
          </a:prstGeom>
          <a:noFill/>
        </p:spPr>
        <p:txBody>
          <a:bodyPr wrap="square" rtlCol="0">
            <a:spAutoFit/>
          </a:bodyPr>
          <a:p>
            <a:pPr marL="179705" indent="-179705" algn="l" fontAlgn="auto">
              <a:lnSpc>
                <a:spcPts val="1740"/>
              </a:lnSpc>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技术升级，解决绝大多数场景</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a:p>
            <a:pPr marL="179705" indent="-179705" algn="l" fontAlgn="auto">
              <a:lnSpc>
                <a:spcPts val="1740"/>
              </a:lnSpc>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探索运营服务体系，运营数据反哺技术进步</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a:p>
            <a:pPr marL="179705" indent="-179705" algn="l" fontAlgn="auto">
              <a:lnSpc>
                <a:spcPts val="1740"/>
              </a:lnSpc>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后装</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前装解决方案落地</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a:p>
            <a:pPr marL="179705" indent="-179705" algn="l" fontAlgn="auto">
              <a:lnSpc>
                <a:spcPts val="1740"/>
              </a:lnSpc>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逐步取消车上安全员角色</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a:p>
            <a:pPr marL="179705" indent="-179705" algn="l" fontAlgn="auto">
              <a:lnSpc>
                <a:spcPts val="1740"/>
              </a:lnSpc>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逐步培养用户认知</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5" name="文本框 54"/>
          <p:cNvSpPr txBox="1"/>
          <p:nvPr>
            <p:custDataLst>
              <p:tags r:id="rId30"/>
            </p:custDataLst>
          </p:nvPr>
        </p:nvSpPr>
        <p:spPr>
          <a:xfrm>
            <a:off x="5694680" y="3535045"/>
            <a:ext cx="575310" cy="706755"/>
          </a:xfrm>
          <a:prstGeom prst="rect">
            <a:avLst/>
          </a:prstGeom>
          <a:noFill/>
        </p:spPr>
        <p:txBody>
          <a:bodyPr wrap="square" rtlCol="0">
            <a:spAutoFit/>
          </a:bodyPr>
          <a:p>
            <a:pPr lvl="0" algn="ctr">
              <a:buClrTx/>
              <a:buSzTx/>
              <a:buFontTx/>
            </a:pPr>
            <a:r>
              <a:rPr lang="zh-CN" altLang="en-US" sz="2000" b="1">
                <a:gradFill>
                  <a:gsLst>
                    <a:gs pos="0">
                      <a:schemeClr val="accent1"/>
                    </a:gs>
                    <a:gs pos="100000">
                      <a:schemeClr val="accent1">
                        <a:lumMod val="60000"/>
                        <a:lumOff val="40000"/>
                      </a:schemeClr>
                    </a:gs>
                  </a:gsLst>
                  <a:lin ang="5400000" scaled="0"/>
                </a:gradFill>
                <a:effectLst>
                  <a:outerShdw blurRad="50800" dist="38100" dir="2700000" algn="tl" rotWithShape="0">
                    <a:schemeClr val="bg1">
                      <a:alpha val="100000"/>
                    </a:schemeClr>
                  </a:outerShdw>
                </a:effectLst>
                <a:latin typeface="微软雅黑" panose="020B0503020204020204" charset="-122"/>
                <a:ea typeface="微软雅黑" panose="020B0503020204020204" charset="-122"/>
                <a:cs typeface="微软雅黑" panose="020B0503020204020204" charset="-122"/>
                <a:sym typeface="+mn-ea"/>
              </a:rPr>
              <a:t>状态</a:t>
            </a:r>
            <a:endParaRPr lang="zh-CN" altLang="en-US" sz="2000" b="1">
              <a:gradFill>
                <a:gsLst>
                  <a:gs pos="0">
                    <a:schemeClr val="accent1"/>
                  </a:gs>
                  <a:gs pos="100000">
                    <a:schemeClr val="accent1">
                      <a:lumMod val="60000"/>
                      <a:lumOff val="40000"/>
                    </a:schemeClr>
                  </a:gs>
                </a:gsLst>
                <a:lin ang="5400000" scaled="0"/>
              </a:gradFill>
              <a:effectLst>
                <a:outerShdw blurRad="50800" dist="38100" dir="2700000" algn="tl" rotWithShape="0">
                  <a:schemeClr val="bg1">
                    <a:alpha val="100000"/>
                  </a:scheme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56" name="文本框 55"/>
          <p:cNvSpPr txBox="1"/>
          <p:nvPr>
            <p:custDataLst>
              <p:tags r:id="rId31"/>
            </p:custDataLst>
          </p:nvPr>
        </p:nvSpPr>
        <p:spPr>
          <a:xfrm>
            <a:off x="8676640" y="3405823"/>
            <a:ext cx="575310" cy="706755"/>
          </a:xfrm>
          <a:prstGeom prst="rect">
            <a:avLst/>
          </a:prstGeom>
          <a:noFill/>
        </p:spPr>
        <p:txBody>
          <a:bodyPr wrap="square" rtlCol="0">
            <a:spAutoFit/>
          </a:bodyPr>
          <a:p>
            <a:pPr lvl="0" algn="ctr">
              <a:buClrTx/>
              <a:buSzTx/>
              <a:buFontTx/>
            </a:pPr>
            <a:r>
              <a:rPr lang="zh-CN" altLang="en-US" sz="2000" b="1">
                <a:gradFill>
                  <a:gsLst>
                    <a:gs pos="0">
                      <a:schemeClr val="accent1"/>
                    </a:gs>
                    <a:gs pos="100000">
                      <a:schemeClr val="accent1">
                        <a:lumMod val="60000"/>
                        <a:lumOff val="40000"/>
                      </a:schemeClr>
                    </a:gs>
                  </a:gsLst>
                  <a:lin ang="5400000" scaled="0"/>
                </a:gradFill>
                <a:effectLst>
                  <a:outerShdw blurRad="50800" dist="38100" dir="2700000" algn="tl" rotWithShape="0">
                    <a:schemeClr val="bg1">
                      <a:alpha val="100000"/>
                    </a:schemeClr>
                  </a:outerShdw>
                </a:effectLst>
                <a:latin typeface="微软雅黑" panose="020B0503020204020204" charset="-122"/>
                <a:ea typeface="微软雅黑" panose="020B0503020204020204" charset="-122"/>
                <a:cs typeface="微软雅黑" panose="020B0503020204020204" charset="-122"/>
                <a:sym typeface="+mn-ea"/>
              </a:rPr>
              <a:t>状态</a:t>
            </a:r>
            <a:endParaRPr lang="zh-CN" altLang="en-US" sz="2000" b="1">
              <a:gradFill>
                <a:gsLst>
                  <a:gs pos="0">
                    <a:schemeClr val="accent1"/>
                  </a:gs>
                  <a:gs pos="100000">
                    <a:schemeClr val="accent1">
                      <a:lumMod val="60000"/>
                      <a:lumOff val="40000"/>
                    </a:schemeClr>
                  </a:gs>
                </a:gsLst>
                <a:lin ang="5400000" scaled="0"/>
              </a:gradFill>
              <a:effectLst>
                <a:outerShdw blurRad="50800" dist="38100" dir="2700000" algn="tl" rotWithShape="0">
                  <a:schemeClr val="bg1">
                    <a:alpha val="100000"/>
                  </a:scheme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57" name="文本框 56"/>
          <p:cNvSpPr txBox="1"/>
          <p:nvPr>
            <p:custDataLst>
              <p:tags r:id="rId32"/>
            </p:custDataLst>
          </p:nvPr>
        </p:nvSpPr>
        <p:spPr>
          <a:xfrm>
            <a:off x="6207125" y="3141345"/>
            <a:ext cx="2302510" cy="2099310"/>
          </a:xfrm>
          <a:prstGeom prst="rect">
            <a:avLst/>
          </a:prstGeom>
          <a:noFill/>
        </p:spPr>
        <p:txBody>
          <a:bodyPr wrap="square" rtlCol="0">
            <a:spAutoFit/>
          </a:bodyPr>
          <a:p>
            <a:pPr marL="179705" indent="-179705" algn="l" fontAlgn="auto">
              <a:lnSpc>
                <a:spcPts val="1740"/>
              </a:lnSpc>
              <a:buFont typeface="Wingdings" panose="05000000000000000000" charset="0"/>
              <a:buChar char="l"/>
            </a:pPr>
            <a:r>
              <a:rPr lang="zh-CN" sz="1200">
                <a:solidFill>
                  <a:schemeClr val="tx2"/>
                </a:solidFill>
                <a:latin typeface="微软雅黑" panose="020B0503020204020204" charset="-122"/>
                <a:ea typeface="微软雅黑" panose="020B0503020204020204" charset="-122"/>
                <a:cs typeface="微软雅黑" panose="020B0503020204020204" charset="-122"/>
              </a:rPr>
              <a:t>技术突破，算力和软硬件达到车规水平，长尾问题有效解决</a:t>
            </a:r>
            <a:endParaRPr lang="zh-CN" sz="1200">
              <a:solidFill>
                <a:schemeClr val="tx2"/>
              </a:solidFill>
              <a:latin typeface="微软雅黑" panose="020B0503020204020204" charset="-122"/>
              <a:ea typeface="微软雅黑" panose="020B0503020204020204" charset="-122"/>
              <a:cs typeface="微软雅黑" panose="020B0503020204020204" charset="-122"/>
            </a:endParaRPr>
          </a:p>
          <a:p>
            <a:pPr marL="179705" indent="-179705" algn="l" fontAlgn="auto">
              <a:lnSpc>
                <a:spcPts val="1740"/>
              </a:lnSpc>
              <a:buFont typeface="Wingdings" panose="05000000000000000000" charset="0"/>
              <a:buChar char="l"/>
            </a:pPr>
            <a:r>
              <a:rPr lang="zh-CN" sz="1200">
                <a:solidFill>
                  <a:schemeClr val="tx2"/>
                </a:solidFill>
                <a:latin typeface="微软雅黑" panose="020B0503020204020204" charset="-122"/>
                <a:ea typeface="微软雅黑" panose="020B0503020204020204" charset="-122"/>
                <a:cs typeface="微软雅黑" panose="020B0503020204020204" charset="-122"/>
              </a:rPr>
              <a:t>前装规模量产，实现快速复制，整车制造成本下降</a:t>
            </a:r>
            <a:endParaRPr lang="zh-CN" sz="1200">
              <a:solidFill>
                <a:schemeClr val="tx2"/>
              </a:solidFill>
              <a:latin typeface="微软雅黑" panose="020B0503020204020204" charset="-122"/>
              <a:ea typeface="微软雅黑" panose="020B0503020204020204" charset="-122"/>
              <a:cs typeface="微软雅黑" panose="020B0503020204020204" charset="-122"/>
            </a:endParaRPr>
          </a:p>
          <a:p>
            <a:pPr marL="179705" indent="-179705" algn="l" fontAlgn="auto">
              <a:lnSpc>
                <a:spcPts val="1740"/>
              </a:lnSpc>
              <a:buFont typeface="Wingdings" panose="05000000000000000000" charset="0"/>
              <a:buChar char="l"/>
            </a:pPr>
            <a:r>
              <a:rPr lang="zh-CN" sz="1200">
                <a:solidFill>
                  <a:schemeClr val="tx2"/>
                </a:solidFill>
                <a:latin typeface="微软雅黑" panose="020B0503020204020204" charset="-122"/>
                <a:ea typeface="微软雅黑" panose="020B0503020204020204" charset="-122"/>
                <a:cs typeface="微软雅黑" panose="020B0503020204020204" charset="-122"/>
              </a:rPr>
              <a:t>优化运营模式和服务体系，提高各项运营指标</a:t>
            </a:r>
            <a:endParaRPr lang="zh-CN" sz="1200">
              <a:solidFill>
                <a:schemeClr val="tx2"/>
              </a:solidFill>
              <a:latin typeface="微软雅黑" panose="020B0503020204020204" charset="-122"/>
              <a:ea typeface="微软雅黑" panose="020B0503020204020204" charset="-122"/>
              <a:cs typeface="微软雅黑" panose="020B0503020204020204" charset="-122"/>
            </a:endParaRPr>
          </a:p>
          <a:p>
            <a:pPr marL="179705" indent="-179705" algn="l" fontAlgn="auto">
              <a:lnSpc>
                <a:spcPts val="1740"/>
              </a:lnSpc>
              <a:buFont typeface="Wingdings" panose="05000000000000000000" charset="0"/>
              <a:buChar char="l"/>
            </a:pPr>
            <a:r>
              <a:rPr lang="zh-CN" sz="1200">
                <a:solidFill>
                  <a:schemeClr val="tx2"/>
                </a:solidFill>
                <a:latin typeface="微软雅黑" panose="020B0503020204020204" charset="-122"/>
                <a:ea typeface="微软雅黑" panose="020B0503020204020204" charset="-122"/>
                <a:cs typeface="微软雅黑" panose="020B0503020204020204" charset="-122"/>
              </a:rPr>
              <a:t>运行区域内大众接受度提高</a:t>
            </a:r>
            <a:endParaRPr lang="zh-CN" sz="1200">
              <a:solidFill>
                <a:schemeClr val="tx2"/>
              </a:solidFill>
              <a:latin typeface="微软雅黑" panose="020B0503020204020204" charset="-122"/>
              <a:ea typeface="微软雅黑" panose="020B0503020204020204" charset="-122"/>
              <a:cs typeface="微软雅黑" panose="020B0503020204020204" charset="-122"/>
            </a:endParaRPr>
          </a:p>
          <a:p>
            <a:pPr marL="179705" indent="-179705" algn="l" fontAlgn="auto">
              <a:lnSpc>
                <a:spcPts val="1740"/>
              </a:lnSpc>
              <a:buFont typeface="Wingdings" panose="05000000000000000000" charset="0"/>
              <a:buChar char="l"/>
            </a:pPr>
            <a:endParaRPr lang="en-US" altLang="zh-CN"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8" name="文本框 57"/>
          <p:cNvSpPr txBox="1"/>
          <p:nvPr>
            <p:custDataLst>
              <p:tags r:id="rId33"/>
            </p:custDataLst>
          </p:nvPr>
        </p:nvSpPr>
        <p:spPr>
          <a:xfrm>
            <a:off x="9251950" y="2920365"/>
            <a:ext cx="2302510" cy="1652905"/>
          </a:xfrm>
          <a:prstGeom prst="rect">
            <a:avLst/>
          </a:prstGeom>
          <a:noFill/>
        </p:spPr>
        <p:txBody>
          <a:bodyPr wrap="square" rtlCol="0">
            <a:spAutoFit/>
          </a:bodyPr>
          <a:p>
            <a:pPr marL="179705" indent="-179705" algn="l" fontAlgn="auto">
              <a:lnSpc>
                <a:spcPts val="1740"/>
              </a:lnSpc>
              <a:buFont typeface="Wingdings" panose="05000000000000000000" charset="0"/>
              <a:buChar char="l"/>
            </a:pPr>
            <a:r>
              <a:rPr lang="zh-CN" sz="1200">
                <a:solidFill>
                  <a:schemeClr val="tx2"/>
                </a:solidFill>
                <a:latin typeface="微软雅黑" panose="020B0503020204020204" charset="-122"/>
                <a:ea typeface="微软雅黑" panose="020B0503020204020204" charset="-122"/>
                <a:cs typeface="微软雅黑" panose="020B0503020204020204" charset="-122"/>
              </a:rPr>
              <a:t>技术成熟，实现规模化量产</a:t>
            </a:r>
            <a:endParaRPr lang="zh-CN" sz="1200">
              <a:solidFill>
                <a:schemeClr val="tx2"/>
              </a:solidFill>
              <a:latin typeface="微软雅黑" panose="020B0503020204020204" charset="-122"/>
              <a:ea typeface="微软雅黑" panose="020B0503020204020204" charset="-122"/>
              <a:cs typeface="微软雅黑" panose="020B0503020204020204" charset="-122"/>
            </a:endParaRPr>
          </a:p>
          <a:p>
            <a:pPr marL="179705" indent="-179705" algn="l" fontAlgn="auto">
              <a:lnSpc>
                <a:spcPts val="1740"/>
              </a:lnSpc>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精细化运营提升运营效率，优化运营成本</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a:p>
            <a:pPr marL="179705" indent="-179705" algn="l" fontAlgn="auto">
              <a:lnSpc>
                <a:spcPts val="1740"/>
              </a:lnSpc>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盈利性向好，吸引更多参与者提高市场活力</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a:p>
            <a:pPr marL="179705" indent="-179705" algn="l" fontAlgn="auto">
              <a:lnSpc>
                <a:spcPts val="1740"/>
              </a:lnSpc>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区域大规模开放，成为居民常用的主要出行方式之一。</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67" name="组合 66"/>
          <p:cNvGrpSpPr/>
          <p:nvPr/>
        </p:nvGrpSpPr>
        <p:grpSpPr>
          <a:xfrm>
            <a:off x="2009775" y="5172075"/>
            <a:ext cx="2689225" cy="1402715"/>
            <a:chOff x="3165" y="8145"/>
            <a:chExt cx="4235" cy="2209"/>
          </a:xfrm>
        </p:grpSpPr>
        <p:sp>
          <p:nvSpPr>
            <p:cNvPr id="31" name="圆角矩形 30"/>
            <p:cNvSpPr/>
            <p:nvPr/>
          </p:nvSpPr>
          <p:spPr>
            <a:xfrm>
              <a:off x="3287" y="8404"/>
              <a:ext cx="4113" cy="1950"/>
            </a:xfrm>
            <a:prstGeom prst="roundRect">
              <a:avLst/>
            </a:prstGeom>
            <a:solidFill>
              <a:schemeClr val="accent5">
                <a:lumMod val="20000"/>
                <a:lumOff val="80000"/>
                <a:alpha val="10000"/>
              </a:schemeClr>
            </a:solidFill>
            <a:ln>
              <a:solidFill>
                <a:schemeClr val="accent5">
                  <a:alpha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9" name="直角三角形 28"/>
            <p:cNvSpPr/>
            <p:nvPr/>
          </p:nvSpPr>
          <p:spPr>
            <a:xfrm flipH="1" flipV="1">
              <a:off x="3165" y="8629"/>
              <a:ext cx="121" cy="205"/>
            </a:xfrm>
            <a:prstGeom prst="rtTriangl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59" name="任意多边形 58"/>
            <p:cNvSpPr/>
            <p:nvPr/>
          </p:nvSpPr>
          <p:spPr>
            <a:xfrm>
              <a:off x="3244" y="8145"/>
              <a:ext cx="1606" cy="489"/>
            </a:xfrm>
            <a:custGeom>
              <a:avLst/>
              <a:gdLst/>
              <a:ahLst/>
              <a:cxnLst>
                <a:cxn ang="3">
                  <a:pos x="hc" y="t"/>
                </a:cxn>
                <a:cxn ang="cd2">
                  <a:pos x="l" y="vc"/>
                </a:cxn>
                <a:cxn ang="cd4">
                  <a:pos x="hc" y="b"/>
                </a:cxn>
                <a:cxn ang="0">
                  <a:pos x="r" y="vc"/>
                </a:cxn>
              </a:cxnLst>
              <a:rect l="l" t="t" r="r" b="b"/>
              <a:pathLst>
                <a:path w="1606" h="489">
                  <a:moveTo>
                    <a:pt x="0" y="0"/>
                  </a:moveTo>
                  <a:lnTo>
                    <a:pt x="1606" y="0"/>
                  </a:lnTo>
                  <a:lnTo>
                    <a:pt x="1606" y="0"/>
                  </a:lnTo>
                  <a:lnTo>
                    <a:pt x="1417" y="244"/>
                  </a:lnTo>
                  <a:lnTo>
                    <a:pt x="1606" y="488"/>
                  </a:lnTo>
                  <a:lnTo>
                    <a:pt x="1605" y="488"/>
                  </a:lnTo>
                  <a:lnTo>
                    <a:pt x="1606" y="489"/>
                  </a:lnTo>
                  <a:lnTo>
                    <a:pt x="716" y="489"/>
                  </a:lnTo>
                  <a:lnTo>
                    <a:pt x="715" y="488"/>
                  </a:lnTo>
                  <a:lnTo>
                    <a:pt x="0" y="488"/>
                  </a:lnTo>
                  <a:lnTo>
                    <a:pt x="0" y="0"/>
                  </a:lnTo>
                  <a:close/>
                </a:path>
              </a:pathLst>
            </a:custGeom>
            <a:solidFill>
              <a:schemeClr val="accent5">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60" name="任意多边形 59"/>
            <p:cNvSpPr/>
            <p:nvPr/>
          </p:nvSpPr>
          <p:spPr>
            <a:xfrm>
              <a:off x="3165" y="8145"/>
              <a:ext cx="1606" cy="489"/>
            </a:xfrm>
            <a:custGeom>
              <a:avLst/>
              <a:gdLst/>
              <a:ahLst/>
              <a:cxnLst>
                <a:cxn ang="3">
                  <a:pos x="hc" y="t"/>
                </a:cxn>
                <a:cxn ang="cd2">
                  <a:pos x="l" y="vc"/>
                </a:cxn>
                <a:cxn ang="cd4">
                  <a:pos x="hc" y="b"/>
                </a:cxn>
                <a:cxn ang="0">
                  <a:pos x="r" y="vc"/>
                </a:cxn>
              </a:cxnLst>
              <a:rect l="l" t="t" r="r" b="b"/>
              <a:pathLst>
                <a:path w="1606" h="489">
                  <a:moveTo>
                    <a:pt x="0" y="0"/>
                  </a:moveTo>
                  <a:lnTo>
                    <a:pt x="1606" y="0"/>
                  </a:lnTo>
                  <a:lnTo>
                    <a:pt x="1606" y="0"/>
                  </a:lnTo>
                  <a:lnTo>
                    <a:pt x="1417" y="244"/>
                  </a:lnTo>
                  <a:lnTo>
                    <a:pt x="1606" y="488"/>
                  </a:lnTo>
                  <a:lnTo>
                    <a:pt x="1605" y="488"/>
                  </a:lnTo>
                  <a:lnTo>
                    <a:pt x="1606" y="489"/>
                  </a:lnTo>
                  <a:lnTo>
                    <a:pt x="716" y="489"/>
                  </a:lnTo>
                  <a:lnTo>
                    <a:pt x="715" y="488"/>
                  </a:lnTo>
                  <a:lnTo>
                    <a:pt x="0" y="488"/>
                  </a:lnTo>
                  <a:lnTo>
                    <a:pt x="0" y="0"/>
                  </a:lnTo>
                  <a:close/>
                </a:path>
              </a:pathLst>
            </a:custGeom>
            <a:gradFill>
              <a:gsLst>
                <a:gs pos="0">
                  <a:schemeClr val="accent5"/>
                </a:gs>
                <a:gs pos="100000">
                  <a:schemeClr val="accent5">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63" name="文本框 62"/>
            <p:cNvSpPr txBox="1"/>
            <p:nvPr>
              <p:custDataLst>
                <p:tags r:id="rId34"/>
              </p:custDataLst>
            </p:nvPr>
          </p:nvSpPr>
          <p:spPr>
            <a:xfrm>
              <a:off x="3730" y="8782"/>
              <a:ext cx="3581" cy="1549"/>
            </a:xfrm>
            <a:prstGeom prst="rect">
              <a:avLst/>
            </a:prstGeom>
            <a:noFill/>
          </p:spPr>
          <p:txBody>
            <a:bodyPr wrap="square" rtlCol="0">
              <a:spAutoFit/>
            </a:bodyPr>
            <a:p>
              <a:pPr indent="0" algn="l" fontAlgn="auto">
                <a:lnSpc>
                  <a:spcPts val="1740"/>
                </a:lnSpc>
                <a:buFont typeface="Wingdings" panose="05000000000000000000" charset="0"/>
                <a:buNone/>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自动驾驶技术公司和出行服务运营商证明技术和运营可行性，推动政策放开，具备商业化试点条件。</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65" name="组合 64"/>
            <p:cNvGrpSpPr/>
            <p:nvPr/>
          </p:nvGrpSpPr>
          <p:grpSpPr>
            <a:xfrm>
              <a:off x="3331" y="8876"/>
              <a:ext cx="435" cy="284"/>
              <a:chOff x="1927" y="7664"/>
              <a:chExt cx="597" cy="390"/>
            </a:xfrm>
          </p:grpSpPr>
          <p:sp>
            <p:nvSpPr>
              <p:cNvPr id="118" name="菱形 117"/>
              <p:cNvSpPr/>
              <p:nvPr/>
            </p:nvSpPr>
            <p:spPr>
              <a:xfrm flipH="1" flipV="1">
                <a:off x="1927" y="7664"/>
                <a:ext cx="475" cy="391"/>
              </a:xfrm>
              <a:prstGeom prst="diamond">
                <a:avLst/>
              </a:prstGeom>
              <a:gradFill flip="none" rotWithShape="1">
                <a:gsLst>
                  <a:gs pos="0">
                    <a:schemeClr val="accent5"/>
                  </a:gs>
                  <a:gs pos="50000">
                    <a:schemeClr val="accent5">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64" name="菱形 63"/>
              <p:cNvSpPr/>
              <p:nvPr/>
            </p:nvSpPr>
            <p:spPr>
              <a:xfrm flipH="1" flipV="1">
                <a:off x="2050" y="7664"/>
                <a:ext cx="475" cy="391"/>
              </a:xfrm>
              <a:prstGeom prst="diamond">
                <a:avLst/>
              </a:prstGeom>
              <a:gradFill flip="none" rotWithShape="1">
                <a:gsLst>
                  <a:gs pos="0">
                    <a:schemeClr val="accent5"/>
                  </a:gs>
                  <a:gs pos="50000">
                    <a:schemeClr val="accent5">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grpSp>
      <p:sp>
        <p:nvSpPr>
          <p:cNvPr id="69" name="圆角矩形 68"/>
          <p:cNvSpPr/>
          <p:nvPr/>
        </p:nvSpPr>
        <p:spPr>
          <a:xfrm>
            <a:off x="5453380" y="5336540"/>
            <a:ext cx="2611755" cy="1238250"/>
          </a:xfrm>
          <a:prstGeom prst="roundRect">
            <a:avLst/>
          </a:prstGeom>
          <a:solidFill>
            <a:schemeClr val="accent5">
              <a:lumMod val="20000"/>
              <a:lumOff val="80000"/>
              <a:alpha val="10000"/>
            </a:schemeClr>
          </a:solidFill>
          <a:ln>
            <a:solidFill>
              <a:schemeClr val="accent5">
                <a:alpha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0" name="直角三角形 69"/>
          <p:cNvSpPr/>
          <p:nvPr/>
        </p:nvSpPr>
        <p:spPr>
          <a:xfrm flipH="1" flipV="1">
            <a:off x="5375910" y="5479415"/>
            <a:ext cx="76835" cy="130175"/>
          </a:xfrm>
          <a:prstGeom prst="rtTriangl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1" name="任意多边形 70"/>
          <p:cNvSpPr/>
          <p:nvPr/>
        </p:nvSpPr>
        <p:spPr>
          <a:xfrm>
            <a:off x="5426075" y="5172075"/>
            <a:ext cx="1019810" cy="310515"/>
          </a:xfrm>
          <a:custGeom>
            <a:avLst/>
            <a:gdLst/>
            <a:ahLst/>
            <a:cxnLst>
              <a:cxn ang="3">
                <a:pos x="hc" y="t"/>
              </a:cxn>
              <a:cxn ang="cd2">
                <a:pos x="l" y="vc"/>
              </a:cxn>
              <a:cxn ang="cd4">
                <a:pos x="hc" y="b"/>
              </a:cxn>
              <a:cxn ang="0">
                <a:pos x="r" y="vc"/>
              </a:cxn>
            </a:cxnLst>
            <a:rect l="l" t="t" r="r" b="b"/>
            <a:pathLst>
              <a:path w="1606" h="489">
                <a:moveTo>
                  <a:pt x="0" y="0"/>
                </a:moveTo>
                <a:lnTo>
                  <a:pt x="1606" y="0"/>
                </a:lnTo>
                <a:lnTo>
                  <a:pt x="1606" y="0"/>
                </a:lnTo>
                <a:lnTo>
                  <a:pt x="1417" y="244"/>
                </a:lnTo>
                <a:lnTo>
                  <a:pt x="1606" y="488"/>
                </a:lnTo>
                <a:lnTo>
                  <a:pt x="1605" y="488"/>
                </a:lnTo>
                <a:lnTo>
                  <a:pt x="1606" y="489"/>
                </a:lnTo>
                <a:lnTo>
                  <a:pt x="716" y="489"/>
                </a:lnTo>
                <a:lnTo>
                  <a:pt x="715" y="488"/>
                </a:lnTo>
                <a:lnTo>
                  <a:pt x="0" y="488"/>
                </a:lnTo>
                <a:lnTo>
                  <a:pt x="0" y="0"/>
                </a:lnTo>
                <a:close/>
              </a:path>
            </a:pathLst>
          </a:custGeom>
          <a:solidFill>
            <a:schemeClr val="accent5">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72" name="任意多边形 71"/>
          <p:cNvSpPr/>
          <p:nvPr/>
        </p:nvSpPr>
        <p:spPr>
          <a:xfrm>
            <a:off x="5375910" y="5172075"/>
            <a:ext cx="1019810" cy="310515"/>
          </a:xfrm>
          <a:custGeom>
            <a:avLst/>
            <a:gdLst/>
            <a:ahLst/>
            <a:cxnLst>
              <a:cxn ang="3">
                <a:pos x="hc" y="t"/>
              </a:cxn>
              <a:cxn ang="cd2">
                <a:pos x="l" y="vc"/>
              </a:cxn>
              <a:cxn ang="cd4">
                <a:pos x="hc" y="b"/>
              </a:cxn>
              <a:cxn ang="0">
                <a:pos x="r" y="vc"/>
              </a:cxn>
            </a:cxnLst>
            <a:rect l="l" t="t" r="r" b="b"/>
            <a:pathLst>
              <a:path w="1606" h="489">
                <a:moveTo>
                  <a:pt x="0" y="0"/>
                </a:moveTo>
                <a:lnTo>
                  <a:pt x="1606" y="0"/>
                </a:lnTo>
                <a:lnTo>
                  <a:pt x="1606" y="0"/>
                </a:lnTo>
                <a:lnTo>
                  <a:pt x="1417" y="244"/>
                </a:lnTo>
                <a:lnTo>
                  <a:pt x="1606" y="488"/>
                </a:lnTo>
                <a:lnTo>
                  <a:pt x="1605" y="488"/>
                </a:lnTo>
                <a:lnTo>
                  <a:pt x="1606" y="489"/>
                </a:lnTo>
                <a:lnTo>
                  <a:pt x="716" y="489"/>
                </a:lnTo>
                <a:lnTo>
                  <a:pt x="715" y="488"/>
                </a:lnTo>
                <a:lnTo>
                  <a:pt x="0" y="488"/>
                </a:lnTo>
                <a:lnTo>
                  <a:pt x="0" y="0"/>
                </a:lnTo>
                <a:close/>
              </a:path>
            </a:pathLst>
          </a:custGeom>
          <a:gradFill>
            <a:gsLst>
              <a:gs pos="0">
                <a:schemeClr val="accent5"/>
              </a:gs>
              <a:gs pos="100000">
                <a:schemeClr val="accent5">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73" name="文本框 72"/>
          <p:cNvSpPr txBox="1"/>
          <p:nvPr>
            <p:custDataLst>
              <p:tags r:id="rId35"/>
            </p:custDataLst>
          </p:nvPr>
        </p:nvSpPr>
        <p:spPr>
          <a:xfrm>
            <a:off x="5734685" y="5687060"/>
            <a:ext cx="2273935" cy="537210"/>
          </a:xfrm>
          <a:prstGeom prst="rect">
            <a:avLst/>
          </a:prstGeom>
          <a:noFill/>
        </p:spPr>
        <p:txBody>
          <a:bodyPr wrap="square" rtlCol="0">
            <a:spAutoFit/>
          </a:bodyPr>
          <a:p>
            <a:pPr indent="0" algn="l" fontAlgn="auto">
              <a:lnSpc>
                <a:spcPts val="1740"/>
              </a:lnSpc>
              <a:buFont typeface="Wingdings" panose="05000000000000000000" charset="0"/>
              <a:buNone/>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技术成熟，实现无人化，具备规模化量产和运营前提</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74" name="组合 73"/>
          <p:cNvGrpSpPr/>
          <p:nvPr/>
        </p:nvGrpSpPr>
        <p:grpSpPr>
          <a:xfrm rot="0">
            <a:off x="5481320" y="5746750"/>
            <a:ext cx="276225" cy="180340"/>
            <a:chOff x="1927" y="7664"/>
            <a:chExt cx="597" cy="390"/>
          </a:xfrm>
        </p:grpSpPr>
        <p:sp>
          <p:nvSpPr>
            <p:cNvPr id="75" name="菱形 74"/>
            <p:cNvSpPr/>
            <p:nvPr/>
          </p:nvSpPr>
          <p:spPr>
            <a:xfrm flipH="1" flipV="1">
              <a:off x="1927" y="7664"/>
              <a:ext cx="475" cy="391"/>
            </a:xfrm>
            <a:prstGeom prst="diamond">
              <a:avLst/>
            </a:prstGeom>
            <a:gradFill flip="none" rotWithShape="1">
              <a:gsLst>
                <a:gs pos="0">
                  <a:schemeClr val="accent5"/>
                </a:gs>
                <a:gs pos="50000">
                  <a:schemeClr val="accent5">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76" name="菱形 75"/>
            <p:cNvSpPr/>
            <p:nvPr/>
          </p:nvSpPr>
          <p:spPr>
            <a:xfrm flipH="1" flipV="1">
              <a:off x="2050" y="7664"/>
              <a:ext cx="475" cy="391"/>
            </a:xfrm>
            <a:prstGeom prst="diamond">
              <a:avLst/>
            </a:prstGeom>
            <a:gradFill flip="none" rotWithShape="1">
              <a:gsLst>
                <a:gs pos="0">
                  <a:schemeClr val="accent5"/>
                </a:gs>
                <a:gs pos="50000">
                  <a:schemeClr val="accent5">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78" name="组合 77"/>
          <p:cNvGrpSpPr/>
          <p:nvPr/>
        </p:nvGrpSpPr>
        <p:grpSpPr>
          <a:xfrm>
            <a:off x="8601710" y="5172075"/>
            <a:ext cx="2689225" cy="1402715"/>
            <a:chOff x="3165" y="8145"/>
            <a:chExt cx="4235" cy="2209"/>
          </a:xfrm>
        </p:grpSpPr>
        <p:sp>
          <p:nvSpPr>
            <p:cNvPr id="79" name="圆角矩形 78"/>
            <p:cNvSpPr/>
            <p:nvPr/>
          </p:nvSpPr>
          <p:spPr>
            <a:xfrm>
              <a:off x="3287" y="8404"/>
              <a:ext cx="4113" cy="1950"/>
            </a:xfrm>
            <a:prstGeom prst="roundRect">
              <a:avLst/>
            </a:prstGeom>
            <a:solidFill>
              <a:schemeClr val="accent5">
                <a:lumMod val="20000"/>
                <a:lumOff val="80000"/>
                <a:alpha val="10000"/>
              </a:schemeClr>
            </a:solidFill>
            <a:ln>
              <a:solidFill>
                <a:schemeClr val="accent5">
                  <a:alpha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80" name="直角三角形 79"/>
            <p:cNvSpPr/>
            <p:nvPr/>
          </p:nvSpPr>
          <p:spPr>
            <a:xfrm flipH="1" flipV="1">
              <a:off x="3165" y="8629"/>
              <a:ext cx="121" cy="205"/>
            </a:xfrm>
            <a:prstGeom prst="rtTriangl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81" name="任意多边形 80"/>
            <p:cNvSpPr/>
            <p:nvPr/>
          </p:nvSpPr>
          <p:spPr>
            <a:xfrm>
              <a:off x="3244" y="8145"/>
              <a:ext cx="1606" cy="489"/>
            </a:xfrm>
            <a:custGeom>
              <a:avLst/>
              <a:gdLst/>
              <a:ahLst/>
              <a:cxnLst>
                <a:cxn ang="3">
                  <a:pos x="hc" y="t"/>
                </a:cxn>
                <a:cxn ang="cd2">
                  <a:pos x="l" y="vc"/>
                </a:cxn>
                <a:cxn ang="cd4">
                  <a:pos x="hc" y="b"/>
                </a:cxn>
                <a:cxn ang="0">
                  <a:pos x="r" y="vc"/>
                </a:cxn>
              </a:cxnLst>
              <a:rect l="l" t="t" r="r" b="b"/>
              <a:pathLst>
                <a:path w="1606" h="489">
                  <a:moveTo>
                    <a:pt x="0" y="0"/>
                  </a:moveTo>
                  <a:lnTo>
                    <a:pt x="1606" y="0"/>
                  </a:lnTo>
                  <a:lnTo>
                    <a:pt x="1606" y="0"/>
                  </a:lnTo>
                  <a:lnTo>
                    <a:pt x="1417" y="244"/>
                  </a:lnTo>
                  <a:lnTo>
                    <a:pt x="1606" y="488"/>
                  </a:lnTo>
                  <a:lnTo>
                    <a:pt x="1605" y="488"/>
                  </a:lnTo>
                  <a:lnTo>
                    <a:pt x="1606" y="489"/>
                  </a:lnTo>
                  <a:lnTo>
                    <a:pt x="716" y="489"/>
                  </a:lnTo>
                  <a:lnTo>
                    <a:pt x="715" y="488"/>
                  </a:lnTo>
                  <a:lnTo>
                    <a:pt x="0" y="488"/>
                  </a:lnTo>
                  <a:lnTo>
                    <a:pt x="0" y="0"/>
                  </a:lnTo>
                  <a:close/>
                </a:path>
              </a:pathLst>
            </a:custGeom>
            <a:solidFill>
              <a:schemeClr val="accent5">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82" name="任意多边形 81"/>
            <p:cNvSpPr/>
            <p:nvPr/>
          </p:nvSpPr>
          <p:spPr>
            <a:xfrm>
              <a:off x="3165" y="8145"/>
              <a:ext cx="1606" cy="489"/>
            </a:xfrm>
            <a:custGeom>
              <a:avLst/>
              <a:gdLst/>
              <a:ahLst/>
              <a:cxnLst>
                <a:cxn ang="3">
                  <a:pos x="hc" y="t"/>
                </a:cxn>
                <a:cxn ang="cd2">
                  <a:pos x="l" y="vc"/>
                </a:cxn>
                <a:cxn ang="cd4">
                  <a:pos x="hc" y="b"/>
                </a:cxn>
                <a:cxn ang="0">
                  <a:pos x="r" y="vc"/>
                </a:cxn>
              </a:cxnLst>
              <a:rect l="l" t="t" r="r" b="b"/>
              <a:pathLst>
                <a:path w="1606" h="489">
                  <a:moveTo>
                    <a:pt x="0" y="0"/>
                  </a:moveTo>
                  <a:lnTo>
                    <a:pt x="1606" y="0"/>
                  </a:lnTo>
                  <a:lnTo>
                    <a:pt x="1606" y="0"/>
                  </a:lnTo>
                  <a:lnTo>
                    <a:pt x="1417" y="244"/>
                  </a:lnTo>
                  <a:lnTo>
                    <a:pt x="1606" y="488"/>
                  </a:lnTo>
                  <a:lnTo>
                    <a:pt x="1605" y="488"/>
                  </a:lnTo>
                  <a:lnTo>
                    <a:pt x="1606" y="489"/>
                  </a:lnTo>
                  <a:lnTo>
                    <a:pt x="716" y="489"/>
                  </a:lnTo>
                  <a:lnTo>
                    <a:pt x="715" y="488"/>
                  </a:lnTo>
                  <a:lnTo>
                    <a:pt x="0" y="488"/>
                  </a:lnTo>
                  <a:lnTo>
                    <a:pt x="0" y="0"/>
                  </a:lnTo>
                  <a:close/>
                </a:path>
              </a:pathLst>
            </a:custGeom>
            <a:gradFill>
              <a:gsLst>
                <a:gs pos="0">
                  <a:schemeClr val="accent5"/>
                </a:gs>
                <a:gs pos="100000">
                  <a:schemeClr val="accent5">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83" name="文本框 82"/>
            <p:cNvSpPr txBox="1"/>
            <p:nvPr>
              <p:custDataLst>
                <p:tags r:id="rId36"/>
              </p:custDataLst>
            </p:nvPr>
          </p:nvSpPr>
          <p:spPr>
            <a:xfrm>
              <a:off x="3730" y="8782"/>
              <a:ext cx="3581" cy="1549"/>
            </a:xfrm>
            <a:prstGeom prst="rect">
              <a:avLst/>
            </a:prstGeom>
            <a:noFill/>
          </p:spPr>
          <p:txBody>
            <a:bodyPr wrap="square" rtlCol="0">
              <a:spAutoFit/>
            </a:bodyPr>
            <a:p>
              <a:pPr indent="0" algn="l" fontAlgn="auto">
                <a:lnSpc>
                  <a:spcPts val="1740"/>
                </a:lnSpc>
                <a:buFont typeface="Wingdings" panose="05000000000000000000" charset="0"/>
                <a:buNone/>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相比于网约车经济效益更优，无人车运力的增加带来单位服务成本的优化，头部企业形成盈利预期。</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84" name="组合 83"/>
            <p:cNvGrpSpPr/>
            <p:nvPr/>
          </p:nvGrpSpPr>
          <p:grpSpPr>
            <a:xfrm>
              <a:off x="3331" y="8876"/>
              <a:ext cx="435" cy="284"/>
              <a:chOff x="1927" y="7664"/>
              <a:chExt cx="597" cy="390"/>
            </a:xfrm>
          </p:grpSpPr>
          <p:sp>
            <p:nvSpPr>
              <p:cNvPr id="85" name="菱形 84"/>
              <p:cNvSpPr/>
              <p:nvPr/>
            </p:nvSpPr>
            <p:spPr>
              <a:xfrm flipH="1" flipV="1">
                <a:off x="1927" y="7664"/>
                <a:ext cx="475" cy="391"/>
              </a:xfrm>
              <a:prstGeom prst="diamond">
                <a:avLst/>
              </a:prstGeom>
              <a:gradFill flip="none" rotWithShape="1">
                <a:gsLst>
                  <a:gs pos="0">
                    <a:schemeClr val="accent5"/>
                  </a:gs>
                  <a:gs pos="50000">
                    <a:schemeClr val="accent5">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86" name="菱形 85"/>
              <p:cNvSpPr/>
              <p:nvPr/>
            </p:nvSpPr>
            <p:spPr>
              <a:xfrm flipH="1" flipV="1">
                <a:off x="2050" y="7664"/>
                <a:ext cx="475" cy="391"/>
              </a:xfrm>
              <a:prstGeom prst="diamond">
                <a:avLst/>
              </a:prstGeom>
              <a:gradFill flip="none" rotWithShape="1">
                <a:gsLst>
                  <a:gs pos="0">
                    <a:schemeClr val="accent5"/>
                  </a:gs>
                  <a:gs pos="50000">
                    <a:schemeClr val="accent5">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grpSp>
      <p:sp>
        <p:nvSpPr>
          <p:cNvPr id="17" name="文本框 16"/>
          <p:cNvSpPr txBox="1"/>
          <p:nvPr>
            <p:custDataLst>
              <p:tags r:id="rId37"/>
            </p:custDataLst>
          </p:nvPr>
        </p:nvSpPr>
        <p:spPr>
          <a:xfrm>
            <a:off x="1835150" y="5175885"/>
            <a:ext cx="1285240" cy="306705"/>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里程碑</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1" name="文本框 20"/>
          <p:cNvSpPr txBox="1"/>
          <p:nvPr>
            <p:custDataLst>
              <p:tags r:id="rId38"/>
            </p:custDataLst>
          </p:nvPr>
        </p:nvSpPr>
        <p:spPr>
          <a:xfrm>
            <a:off x="5201285" y="5175885"/>
            <a:ext cx="1285240" cy="306705"/>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里程碑</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custDataLst>
              <p:tags r:id="rId39"/>
            </p:custDataLst>
          </p:nvPr>
        </p:nvSpPr>
        <p:spPr>
          <a:xfrm>
            <a:off x="8441055" y="5175885"/>
            <a:ext cx="1285240" cy="306705"/>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里程碑</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cxnSp>
        <p:nvCxnSpPr>
          <p:cNvPr id="15"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0" name="组合 19"/>
          <p:cNvGrpSpPr/>
          <p:nvPr/>
        </p:nvGrpSpPr>
        <p:grpSpPr>
          <a:xfrm>
            <a:off x="8738235" y="348615"/>
            <a:ext cx="3219450" cy="332740"/>
            <a:chOff x="13761" y="549"/>
            <a:chExt cx="5070" cy="524"/>
          </a:xfrm>
        </p:grpSpPr>
        <p:pic>
          <p:nvPicPr>
            <p:cNvPr id="23" name="图片 22"/>
            <p:cNvPicPr>
              <a:picLocks noChangeAspect="1"/>
            </p:cNvPicPr>
            <p:nvPr userDrawn="1"/>
          </p:nvPicPr>
          <p:blipFill>
            <a:blip r:embed="rId40"/>
            <a:srcRect l="17002" t="-1765" r="56499" b="-1176"/>
            <a:stretch>
              <a:fillRect/>
            </a:stretch>
          </p:blipFill>
          <p:spPr>
            <a:xfrm>
              <a:off x="13761" y="549"/>
              <a:ext cx="1582" cy="525"/>
            </a:xfrm>
            <a:prstGeom prst="rect">
              <a:avLst/>
            </a:prstGeom>
          </p:spPr>
        </p:pic>
        <p:sp>
          <p:nvSpPr>
            <p:cNvPr id="24" name="文本框 23"/>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形状1231"/>
          <p:cNvSpPr/>
          <p:nvPr/>
        </p:nvSpPr>
        <p:spPr bwMode="auto">
          <a:xfrm rot="20054798" flipV="1">
            <a:off x="1264920" y="1658620"/>
            <a:ext cx="9745345" cy="2524760"/>
          </a:xfrm>
          <a:custGeom>
            <a:avLst/>
            <a:gdLst>
              <a:gd name="T0" fmla="*/ 0 w 21336"/>
              <a:gd name="T1" fmla="*/ 13336 h 13336"/>
              <a:gd name="T2" fmla="*/ 18002 w 21336"/>
              <a:gd name="T3" fmla="*/ 1667 h 13336"/>
              <a:gd name="T4" fmla="*/ 17815 w 21336"/>
              <a:gd name="T5" fmla="*/ 0 h 13336"/>
              <a:gd name="T6" fmla="*/ 21336 w 21336"/>
              <a:gd name="T7" fmla="*/ 2668 h 13336"/>
              <a:gd name="T8" fmla="*/ 18566 w 21336"/>
              <a:gd name="T9" fmla="*/ 6668 h 13336"/>
              <a:gd name="T10" fmla="*/ 18378 w 21336"/>
              <a:gd name="T11" fmla="*/ 5001 h 13336"/>
              <a:gd name="T12" fmla="*/ 0 w 21336"/>
              <a:gd name="T13" fmla="*/ 13336 h 13336"/>
            </a:gdLst>
            <a:ahLst/>
            <a:cxnLst>
              <a:cxn ang="0">
                <a:pos x="T0" y="T1"/>
              </a:cxn>
              <a:cxn ang="0">
                <a:pos x="T2" y="T3"/>
              </a:cxn>
              <a:cxn ang="0">
                <a:pos x="T4" y="T5"/>
              </a:cxn>
              <a:cxn ang="0">
                <a:pos x="T6" y="T7"/>
              </a:cxn>
              <a:cxn ang="0">
                <a:pos x="T8" y="T9"/>
              </a:cxn>
              <a:cxn ang="0">
                <a:pos x="T10" y="T11"/>
              </a:cxn>
              <a:cxn ang="0">
                <a:pos x="T12" y="T13"/>
              </a:cxn>
            </a:cxnLst>
            <a:rect l="0" t="0" r="r" b="b"/>
            <a:pathLst>
              <a:path w="21336" h="13336">
                <a:moveTo>
                  <a:pt x="0" y="13336"/>
                </a:moveTo>
                <a:cubicBezTo>
                  <a:pt x="2371" y="7409"/>
                  <a:pt x="8372" y="3520"/>
                  <a:pt x="18002" y="1667"/>
                </a:cubicBezTo>
                <a:lnTo>
                  <a:pt x="17815" y="0"/>
                </a:lnTo>
                <a:lnTo>
                  <a:pt x="21336" y="2668"/>
                </a:lnTo>
                <a:lnTo>
                  <a:pt x="18566" y="6668"/>
                </a:lnTo>
                <a:lnTo>
                  <a:pt x="18378" y="5001"/>
                </a:lnTo>
                <a:cubicBezTo>
                  <a:pt x="9682" y="5742"/>
                  <a:pt x="3556" y="8521"/>
                  <a:pt x="0" y="13336"/>
                </a:cubicBezTo>
                <a:close/>
              </a:path>
            </a:pathLst>
          </a:custGeom>
          <a:solidFill>
            <a:schemeClr val="accent1">
              <a:lumMod val="20000"/>
              <a:lumOff val="80000"/>
              <a:alpha val="56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lang="en-US" altLang="zh-CN" sz="2500">
                <a:solidFill>
                  <a:schemeClr val="tx2"/>
                </a:solidFill>
                <a:effectLst/>
                <a:latin typeface="微软雅黑" panose="020B0503020204020204" charset="-122"/>
                <a:ea typeface="微软雅黑" panose="020B0503020204020204" charset="-122"/>
                <a:cs typeface="微软雅黑" panose="020B0503020204020204" charset="-122"/>
              </a:rPr>
              <a:t>AI</a:t>
            </a:r>
            <a:r>
              <a:rPr sz="2500">
                <a:solidFill>
                  <a:schemeClr val="tx2"/>
                </a:solidFill>
                <a:effectLst/>
                <a:latin typeface="微软雅黑" panose="020B0503020204020204" charset="-122"/>
                <a:ea typeface="微软雅黑" panose="020B0503020204020204" charset="-122"/>
                <a:cs typeface="微软雅黑" panose="020B0503020204020204" charset="-122"/>
              </a:rPr>
              <a:t>糖筛未来的发展趋势</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4" name="圆角矩形 3"/>
          <p:cNvSpPr/>
          <p:nvPr/>
        </p:nvSpPr>
        <p:spPr>
          <a:xfrm>
            <a:off x="1051560" y="1644650"/>
            <a:ext cx="5320665" cy="1090930"/>
          </a:xfrm>
          <a:prstGeom prst="roundRect">
            <a:avLst/>
          </a:prstGeom>
          <a:solidFill>
            <a:schemeClr val="accent5">
              <a:lumMod val="20000"/>
              <a:lumOff val="80000"/>
              <a:alpha val="50000"/>
            </a:schemeClr>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a:off x="1330325" y="1729105"/>
            <a:ext cx="1047750" cy="255270"/>
          </a:xfrm>
          <a:prstGeom prst="rect">
            <a:avLst/>
          </a:prstGeom>
          <a:solidFill>
            <a:schemeClr val="bg1"/>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solidFill>
                  <a:schemeClr val="accent5"/>
                </a:solidFill>
                <a:latin typeface="微软雅黑" panose="020B0503020204020204" charset="-122"/>
                <a:ea typeface="微软雅黑" panose="020B0503020204020204" charset="-122"/>
                <a:cs typeface="微软雅黑" panose="020B0503020204020204" charset="-122"/>
              </a:rPr>
              <a:t>需求旺盛</a:t>
            </a:r>
            <a:endParaRPr lang="zh-CN" altLang="en-US" sz="120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7" name="矩形 6"/>
          <p:cNvSpPr/>
          <p:nvPr/>
        </p:nvSpPr>
        <p:spPr>
          <a:xfrm>
            <a:off x="1330325" y="2061845"/>
            <a:ext cx="1047750" cy="255270"/>
          </a:xfrm>
          <a:prstGeom prst="rect">
            <a:avLst/>
          </a:prstGeom>
          <a:solidFill>
            <a:schemeClr val="bg1"/>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accent5"/>
                </a:solidFill>
                <a:latin typeface="微软雅黑" panose="020B0503020204020204" charset="-122"/>
                <a:ea typeface="微软雅黑" panose="020B0503020204020204" charset="-122"/>
                <a:cs typeface="微软雅黑" panose="020B0503020204020204" charset="-122"/>
                <a:sym typeface="+mn-ea"/>
              </a:rPr>
              <a:t>政策支持</a:t>
            </a:r>
            <a:endParaRPr lang="zh-CN" altLang="en-US" sz="120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8" name="矩形 7"/>
          <p:cNvSpPr/>
          <p:nvPr/>
        </p:nvSpPr>
        <p:spPr>
          <a:xfrm>
            <a:off x="1330325" y="2394585"/>
            <a:ext cx="1047750" cy="255270"/>
          </a:xfrm>
          <a:prstGeom prst="rect">
            <a:avLst/>
          </a:prstGeom>
          <a:solidFill>
            <a:schemeClr val="bg1"/>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accent5"/>
                </a:solidFill>
                <a:latin typeface="微软雅黑" panose="020B0503020204020204" charset="-122"/>
                <a:ea typeface="微软雅黑" panose="020B0503020204020204" charset="-122"/>
                <a:cs typeface="微软雅黑" panose="020B0503020204020204" charset="-122"/>
                <a:sym typeface="+mn-ea"/>
              </a:rPr>
              <a:t>技术进步</a:t>
            </a:r>
            <a:endParaRPr lang="zh-CN" altLang="en-US" sz="120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2463165" y="1866265"/>
            <a:ext cx="1047750" cy="255270"/>
          </a:xfrm>
          <a:prstGeom prst="rect">
            <a:avLst/>
          </a:prstGeom>
          <a:solidFill>
            <a:schemeClr val="bg1"/>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accent5"/>
                </a:solidFill>
                <a:latin typeface="微软雅黑" panose="020B0503020204020204" charset="-122"/>
                <a:ea typeface="微软雅黑" panose="020B0503020204020204" charset="-122"/>
                <a:cs typeface="微软雅黑" panose="020B0503020204020204" charset="-122"/>
                <a:sym typeface="+mn-ea"/>
              </a:rPr>
              <a:t>项目落地</a:t>
            </a:r>
            <a:endParaRPr lang="zh-CN" altLang="en-US" sz="120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11" name="矩形 10"/>
          <p:cNvSpPr/>
          <p:nvPr/>
        </p:nvSpPr>
        <p:spPr>
          <a:xfrm>
            <a:off x="2463165" y="2248535"/>
            <a:ext cx="1047750" cy="255270"/>
          </a:xfrm>
          <a:prstGeom prst="rect">
            <a:avLst/>
          </a:prstGeom>
          <a:solidFill>
            <a:schemeClr val="bg1"/>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chemeClr val="accent5"/>
                </a:solidFill>
                <a:latin typeface="微软雅黑" panose="020B0503020204020204" charset="-122"/>
                <a:ea typeface="微软雅黑" panose="020B0503020204020204" charset="-122"/>
                <a:cs typeface="微软雅黑" panose="020B0503020204020204" charset="-122"/>
                <a:sym typeface="+mn-ea"/>
              </a:rPr>
              <a:t>产品成熟</a:t>
            </a:r>
            <a:endParaRPr lang="zh-CN" altLang="en-US" sz="120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13" name="等腰三角形 12"/>
          <p:cNvSpPr/>
          <p:nvPr/>
        </p:nvSpPr>
        <p:spPr>
          <a:xfrm rot="5400000">
            <a:off x="3376930" y="2136140"/>
            <a:ext cx="807720" cy="164465"/>
          </a:xfrm>
          <a:prstGeom prst="triangle">
            <a:avLst>
              <a:gd name="adj" fmla="val 48584"/>
            </a:avLst>
          </a:prstGeom>
          <a:gradFill>
            <a:gsLst>
              <a:gs pos="0">
                <a:schemeClr val="accent5"/>
              </a:gs>
              <a:gs pos="100000">
                <a:schemeClr val="accent5">
                  <a:alpha val="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nvSpPr>
        <p:spPr>
          <a:xfrm>
            <a:off x="4658360" y="1753235"/>
            <a:ext cx="939800" cy="337185"/>
          </a:xfrm>
          <a:prstGeom prst="rect">
            <a:avLst/>
          </a:prstGeom>
          <a:noFill/>
        </p:spPr>
        <p:txBody>
          <a:bodyPr wrap="square" rtlCol="0">
            <a:spAutoFit/>
          </a:bodyPr>
          <a:p>
            <a:r>
              <a:rPr lang="en-US" altLang="zh-CN" sz="1600" b="1">
                <a:solidFill>
                  <a:schemeClr val="accent5"/>
                </a:solidFill>
                <a:latin typeface="微软雅黑" panose="020B0503020204020204" charset="-122"/>
                <a:ea typeface="微软雅黑" panose="020B0503020204020204" charset="-122"/>
                <a:cs typeface="微软雅黑" panose="020B0503020204020204" charset="-122"/>
              </a:rPr>
              <a:t>2030</a:t>
            </a:r>
            <a:r>
              <a:rPr lang="zh-CN" altLang="en-US" sz="1600" b="1">
                <a:solidFill>
                  <a:schemeClr val="accent5"/>
                </a:solidFill>
                <a:latin typeface="微软雅黑" panose="020B0503020204020204" charset="-122"/>
                <a:ea typeface="微软雅黑" panose="020B0503020204020204" charset="-122"/>
                <a:cs typeface="微软雅黑" panose="020B0503020204020204" charset="-122"/>
              </a:rPr>
              <a:t>年</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6" name="五边形 15"/>
          <p:cNvSpPr/>
          <p:nvPr/>
        </p:nvSpPr>
        <p:spPr>
          <a:xfrm>
            <a:off x="1111250" y="6244590"/>
            <a:ext cx="2145665" cy="292100"/>
          </a:xfrm>
          <a:prstGeom prst="homePlate">
            <a:avLst/>
          </a:prstGeom>
          <a:noFill/>
          <a:ln w="25400">
            <a:gradFill>
              <a:gsLst>
                <a:gs pos="0">
                  <a:schemeClr val="accent1">
                    <a:lumMod val="0"/>
                    <a:lumOff val="100000"/>
                  </a:schemeClr>
                </a:gs>
                <a:gs pos="35000">
                  <a:schemeClr val="accent1"/>
                </a:gs>
              </a:gsLst>
              <a:lin ang="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b="1">
                <a:solidFill>
                  <a:schemeClr val="accent1"/>
                </a:solidFill>
                <a:latin typeface="微软雅黑" panose="020B0503020204020204" charset="-122"/>
                <a:ea typeface="微软雅黑" panose="020B0503020204020204" charset="-122"/>
                <a:cs typeface="微软雅黑" panose="020B0503020204020204" charset="-122"/>
              </a:rPr>
              <a:t>2022</a:t>
            </a: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年以前</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7" name="五边形 16"/>
          <p:cNvSpPr/>
          <p:nvPr/>
        </p:nvSpPr>
        <p:spPr>
          <a:xfrm>
            <a:off x="3429000" y="6244590"/>
            <a:ext cx="2843530" cy="292100"/>
          </a:xfrm>
          <a:prstGeom prst="homePlate">
            <a:avLst/>
          </a:prstGeom>
          <a:noFill/>
          <a:ln w="25400">
            <a:gradFill>
              <a:gsLst>
                <a:gs pos="0">
                  <a:schemeClr val="accent1">
                    <a:lumMod val="0"/>
                    <a:lumOff val="100000"/>
                  </a:schemeClr>
                </a:gs>
                <a:gs pos="35000">
                  <a:schemeClr val="accent1"/>
                </a:gs>
              </a:gsLst>
              <a:lin ang="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sz="1400" b="1">
                <a:solidFill>
                  <a:schemeClr val="accent1"/>
                </a:solidFill>
                <a:latin typeface="微软雅黑" panose="020B0503020204020204" charset="-122"/>
                <a:ea typeface="微软雅黑" panose="020B0503020204020204" charset="-122"/>
                <a:cs typeface="微软雅黑" panose="020B0503020204020204" charset="-122"/>
                <a:sym typeface="+mn-ea"/>
              </a:rPr>
              <a:t>2022-2025</a:t>
            </a:r>
            <a:r>
              <a:rPr lang="en-US" altLang="zh-CN" sz="1400" b="1">
                <a:solidFill>
                  <a:schemeClr val="accent1"/>
                </a:solidFill>
                <a:latin typeface="微软雅黑" panose="020B0503020204020204" charset="-122"/>
                <a:ea typeface="微软雅黑" panose="020B0503020204020204" charset="-122"/>
                <a:cs typeface="微软雅黑" panose="020B0503020204020204" charset="-122"/>
                <a:sym typeface="+mn-ea"/>
              </a:rPr>
              <a:t>年</a:t>
            </a:r>
            <a:endParaRPr lang="en-US" altLang="zh-CN" sz="14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18" name="五边形 17"/>
          <p:cNvSpPr/>
          <p:nvPr/>
        </p:nvSpPr>
        <p:spPr>
          <a:xfrm>
            <a:off x="6392545" y="6244590"/>
            <a:ext cx="2195830" cy="292100"/>
          </a:xfrm>
          <a:prstGeom prst="homePlate">
            <a:avLst/>
          </a:prstGeom>
          <a:noFill/>
          <a:ln w="25400">
            <a:gradFill>
              <a:gsLst>
                <a:gs pos="0">
                  <a:schemeClr val="accent1">
                    <a:lumMod val="0"/>
                    <a:lumOff val="100000"/>
                  </a:schemeClr>
                </a:gs>
                <a:gs pos="35000">
                  <a:schemeClr val="accent1"/>
                </a:gs>
              </a:gsLst>
              <a:lin ang="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sz="1400" b="1">
                <a:solidFill>
                  <a:schemeClr val="accent1"/>
                </a:solidFill>
                <a:latin typeface="微软雅黑" panose="020B0503020204020204" charset="-122"/>
                <a:ea typeface="微软雅黑" panose="020B0503020204020204" charset="-122"/>
                <a:cs typeface="微软雅黑" panose="020B0503020204020204" charset="-122"/>
                <a:sym typeface="+mn-ea"/>
              </a:rPr>
              <a:t>2025-2030</a:t>
            </a:r>
            <a:r>
              <a:rPr lang="en-US" altLang="zh-CN" sz="1400" b="1">
                <a:solidFill>
                  <a:schemeClr val="accent1"/>
                </a:solidFill>
                <a:latin typeface="微软雅黑" panose="020B0503020204020204" charset="-122"/>
                <a:ea typeface="微软雅黑" panose="020B0503020204020204" charset="-122"/>
                <a:cs typeface="微软雅黑" panose="020B0503020204020204" charset="-122"/>
                <a:sym typeface="+mn-ea"/>
              </a:rPr>
              <a:t>年</a:t>
            </a:r>
            <a:endParaRPr lang="en-US" altLang="zh-CN" sz="14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19" name="五边形 18"/>
          <p:cNvSpPr/>
          <p:nvPr/>
        </p:nvSpPr>
        <p:spPr>
          <a:xfrm>
            <a:off x="8708390" y="6244590"/>
            <a:ext cx="2336165" cy="292100"/>
          </a:xfrm>
          <a:prstGeom prst="homePlate">
            <a:avLst/>
          </a:prstGeom>
          <a:noFill/>
          <a:ln w="25400">
            <a:gradFill>
              <a:gsLst>
                <a:gs pos="0">
                  <a:schemeClr val="accent1">
                    <a:lumMod val="0"/>
                    <a:lumOff val="100000"/>
                  </a:schemeClr>
                </a:gs>
                <a:gs pos="35000">
                  <a:schemeClr val="accent1"/>
                </a:gs>
              </a:gsLst>
              <a:lin ang="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sz="1400" b="1">
                <a:solidFill>
                  <a:schemeClr val="accent1"/>
                </a:solidFill>
                <a:latin typeface="微软雅黑" panose="020B0503020204020204" charset="-122"/>
                <a:ea typeface="微软雅黑" panose="020B0503020204020204" charset="-122"/>
                <a:cs typeface="微软雅黑" panose="020B0503020204020204" charset="-122"/>
                <a:sym typeface="+mn-ea"/>
              </a:rPr>
              <a:t>2030</a:t>
            </a:r>
            <a:r>
              <a:rPr lang="en-US" altLang="zh-CN" sz="1400" b="1">
                <a:solidFill>
                  <a:schemeClr val="accent1"/>
                </a:solidFill>
                <a:latin typeface="微软雅黑" panose="020B0503020204020204" charset="-122"/>
                <a:ea typeface="微软雅黑" panose="020B0503020204020204" charset="-122"/>
                <a:cs typeface="微软雅黑" panose="020B0503020204020204" charset="-122"/>
                <a:sym typeface="+mn-ea"/>
              </a:rPr>
              <a:t>年以后</a:t>
            </a:r>
            <a:endParaRPr lang="en-US" altLang="zh-CN" sz="14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20" name="矩形 19"/>
          <p:cNvSpPr/>
          <p:nvPr/>
        </p:nvSpPr>
        <p:spPr>
          <a:xfrm>
            <a:off x="1035050" y="4447540"/>
            <a:ext cx="2114550" cy="533400"/>
          </a:xfrm>
          <a:prstGeom prst="rect">
            <a:avLst/>
          </a:prstGeom>
          <a:gradFill>
            <a:gsLst>
              <a:gs pos="0">
                <a:schemeClr val="accent1">
                  <a:lumMod val="60000"/>
                  <a:lumOff val="40000"/>
                </a:schemeClr>
              </a:gs>
              <a:gs pos="88000">
                <a:schemeClr val="accent1"/>
              </a:gs>
            </a:gsLst>
            <a:lin ang="0" scaled="0"/>
          </a:gradFill>
          <a:ln>
            <a:noFill/>
          </a:ln>
          <a:effectLst>
            <a:outerShdw blurRad="50800" dist="38100" dir="2700000" algn="tl" rotWithShape="0">
              <a:schemeClr val="accent1">
                <a:lumMod val="60000"/>
                <a:lumOff val="40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1" name="矩形 20"/>
          <p:cNvSpPr/>
          <p:nvPr/>
        </p:nvSpPr>
        <p:spPr>
          <a:xfrm>
            <a:off x="3429000" y="3803015"/>
            <a:ext cx="2761615" cy="342900"/>
          </a:xfrm>
          <a:prstGeom prst="rect">
            <a:avLst/>
          </a:prstGeom>
          <a:gradFill>
            <a:gsLst>
              <a:gs pos="0">
                <a:schemeClr val="accent1">
                  <a:lumMod val="60000"/>
                  <a:lumOff val="40000"/>
                </a:schemeClr>
              </a:gs>
              <a:gs pos="88000">
                <a:schemeClr val="accent1"/>
              </a:gs>
            </a:gsLst>
            <a:lin ang="0" scaled="0"/>
          </a:gradFill>
          <a:ln>
            <a:noFill/>
          </a:ln>
          <a:effectLst>
            <a:outerShdw blurRad="50800" dist="38100" dir="2700000" algn="tl" rotWithShape="0">
              <a:schemeClr val="accent1">
                <a:lumMod val="60000"/>
                <a:lumOff val="40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2" name="矩形 21"/>
          <p:cNvSpPr/>
          <p:nvPr/>
        </p:nvSpPr>
        <p:spPr>
          <a:xfrm>
            <a:off x="6457950" y="3460115"/>
            <a:ext cx="2196465" cy="342900"/>
          </a:xfrm>
          <a:prstGeom prst="rect">
            <a:avLst/>
          </a:prstGeom>
          <a:gradFill>
            <a:gsLst>
              <a:gs pos="0">
                <a:schemeClr val="accent1">
                  <a:lumMod val="60000"/>
                  <a:lumOff val="40000"/>
                </a:schemeClr>
              </a:gs>
              <a:gs pos="88000">
                <a:schemeClr val="accent1"/>
              </a:gs>
            </a:gsLst>
            <a:lin ang="0" scaled="0"/>
          </a:gradFill>
          <a:ln>
            <a:noFill/>
          </a:ln>
          <a:effectLst>
            <a:outerShdw blurRad="50800" dist="38100" dir="2700000" algn="tl" rotWithShape="0">
              <a:schemeClr val="accent1">
                <a:lumMod val="60000"/>
                <a:lumOff val="40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3" name="矩形 22"/>
          <p:cNvSpPr/>
          <p:nvPr/>
        </p:nvSpPr>
        <p:spPr>
          <a:xfrm>
            <a:off x="8708390" y="2827020"/>
            <a:ext cx="2336800" cy="533400"/>
          </a:xfrm>
          <a:prstGeom prst="rect">
            <a:avLst/>
          </a:prstGeom>
          <a:gradFill>
            <a:gsLst>
              <a:gs pos="0">
                <a:schemeClr val="accent5">
                  <a:lumMod val="60000"/>
                  <a:lumOff val="40000"/>
                </a:schemeClr>
              </a:gs>
              <a:gs pos="88000">
                <a:schemeClr val="accent5"/>
              </a:gs>
            </a:gsLst>
            <a:lin ang="0" scaled="0"/>
          </a:gradFill>
          <a:ln>
            <a:noFill/>
          </a:ln>
          <a:effectLst>
            <a:outerShdw blurRad="50800" dist="38100" dir="2700000" algn="tl" rotWithShape="0">
              <a:schemeClr val="accent5">
                <a:lumMod val="60000"/>
                <a:lumOff val="40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cxnSp>
        <p:nvCxnSpPr>
          <p:cNvPr id="32" name="曲线连接符 31"/>
          <p:cNvCxnSpPr/>
          <p:nvPr/>
        </p:nvCxnSpPr>
        <p:spPr>
          <a:xfrm rot="16200000">
            <a:off x="2898140" y="2849880"/>
            <a:ext cx="675005" cy="2341880"/>
          </a:xfrm>
          <a:prstGeom prst="curvedConnector3">
            <a:avLst>
              <a:gd name="adj1" fmla="val 115192"/>
            </a:avLst>
          </a:prstGeom>
          <a:ln>
            <a:solidFill>
              <a:schemeClr val="accent6">
                <a:lumMod val="60000"/>
                <a:lumOff val="40000"/>
              </a:schemeClr>
            </a:solidFill>
            <a:headEnd type="oval"/>
            <a:tailEnd type="triangle" w="med" len="med"/>
          </a:ln>
        </p:spPr>
        <p:style>
          <a:lnRef idx="2">
            <a:schemeClr val="accent1"/>
          </a:lnRef>
          <a:fillRef idx="0">
            <a:srgbClr val="FFFFFF"/>
          </a:fillRef>
          <a:effectRef idx="0">
            <a:srgbClr val="FFFFFF"/>
          </a:effectRef>
          <a:fontRef idx="minor">
            <a:schemeClr val="tx1"/>
          </a:fontRef>
        </p:style>
      </p:cxnSp>
      <p:cxnSp>
        <p:nvCxnSpPr>
          <p:cNvPr id="33" name="曲线连接符 32"/>
          <p:cNvCxnSpPr/>
          <p:nvPr/>
        </p:nvCxnSpPr>
        <p:spPr>
          <a:xfrm rot="16200000">
            <a:off x="5920740" y="2585085"/>
            <a:ext cx="344170" cy="2015490"/>
          </a:xfrm>
          <a:prstGeom prst="curvedConnector3">
            <a:avLst>
              <a:gd name="adj1" fmla="val 150184"/>
            </a:avLst>
          </a:prstGeom>
          <a:ln>
            <a:solidFill>
              <a:schemeClr val="accent6">
                <a:lumMod val="60000"/>
                <a:lumOff val="40000"/>
              </a:schemeClr>
            </a:solidFill>
            <a:headEnd type="oval"/>
            <a:tailEnd type="triangle" w="med" len="med"/>
          </a:ln>
        </p:spPr>
        <p:style>
          <a:lnRef idx="2">
            <a:schemeClr val="accent1"/>
          </a:lnRef>
          <a:fillRef idx="0">
            <a:srgbClr val="FFFFFF"/>
          </a:fillRef>
          <a:effectRef idx="0">
            <a:srgbClr val="FFFFFF"/>
          </a:effectRef>
          <a:fontRef idx="minor">
            <a:schemeClr val="tx1"/>
          </a:fontRef>
        </p:style>
      </p:cxnSp>
      <p:cxnSp>
        <p:nvCxnSpPr>
          <p:cNvPr id="34" name="曲线连接符 33"/>
          <p:cNvCxnSpPr/>
          <p:nvPr/>
        </p:nvCxnSpPr>
        <p:spPr>
          <a:xfrm rot="16200000">
            <a:off x="8529320" y="1985010"/>
            <a:ext cx="673100" cy="2174240"/>
          </a:xfrm>
          <a:prstGeom prst="curvedConnector3">
            <a:avLst>
              <a:gd name="adj1" fmla="val 115754"/>
            </a:avLst>
          </a:prstGeom>
          <a:ln>
            <a:solidFill>
              <a:schemeClr val="accent6">
                <a:lumMod val="60000"/>
                <a:lumOff val="40000"/>
              </a:schemeClr>
            </a:solidFill>
            <a:headEnd type="oval"/>
            <a:tailEnd type="triangle" w="med" len="med"/>
          </a:ln>
        </p:spPr>
        <p:style>
          <a:lnRef idx="2">
            <a:schemeClr val="accent1"/>
          </a:lnRef>
          <a:fillRef idx="0">
            <a:srgbClr val="FFFFFF"/>
          </a:fillRef>
          <a:effectRef idx="0">
            <a:srgbClr val="FFFFFF"/>
          </a:effectRef>
          <a:fontRef idx="minor">
            <a:schemeClr val="tx1"/>
          </a:fontRef>
        </p:style>
      </p:cxnSp>
      <p:cxnSp>
        <p:nvCxnSpPr>
          <p:cNvPr id="35" name="直接连接符 34"/>
          <p:cNvCxnSpPr/>
          <p:nvPr/>
        </p:nvCxnSpPr>
        <p:spPr>
          <a:xfrm>
            <a:off x="6392545" y="2218690"/>
            <a:ext cx="1991995" cy="0"/>
          </a:xfrm>
          <a:prstGeom prst="line">
            <a:avLst/>
          </a:prstGeom>
          <a:ln>
            <a:solidFill>
              <a:schemeClr val="accent5"/>
            </a:solidFill>
            <a:tailEnd type="oval"/>
          </a:ln>
        </p:spPr>
        <p:style>
          <a:lnRef idx="2">
            <a:schemeClr val="accent1"/>
          </a:lnRef>
          <a:fillRef idx="0">
            <a:srgbClr val="FFFFFF"/>
          </a:fillRef>
          <a:effectRef idx="0">
            <a:srgbClr val="FFFFFF"/>
          </a:effectRef>
          <a:fontRef idx="minor">
            <a:schemeClr val="tx1"/>
          </a:fontRef>
        </p:style>
      </p:cxnSp>
      <p:pic>
        <p:nvPicPr>
          <p:cNvPr id="37" name="图片 36" descr="跑步"/>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04415" y="3098165"/>
            <a:ext cx="1124585" cy="1124585"/>
          </a:xfrm>
          <a:prstGeom prst="rect">
            <a:avLst/>
          </a:prstGeom>
        </p:spPr>
      </p:pic>
      <p:sp>
        <p:nvSpPr>
          <p:cNvPr id="38" name="文本框 37"/>
          <p:cNvSpPr txBox="1"/>
          <p:nvPr/>
        </p:nvSpPr>
        <p:spPr>
          <a:xfrm>
            <a:off x="3937000" y="2072005"/>
            <a:ext cx="2400935" cy="460375"/>
          </a:xfrm>
          <a:prstGeom prst="rect">
            <a:avLst/>
          </a:prstGeom>
          <a:noFill/>
        </p:spPr>
        <p:txBody>
          <a:bodyPr wrap="square" rtlCol="0">
            <a:spAutoFit/>
          </a:bodyPr>
          <a:p>
            <a:pPr marL="179705" indent="-179705" fontAlgn="auto">
              <a:buFont typeface="Wingdings" panose="05000000000000000000" charset="0"/>
              <a:buChar char="l"/>
            </a:pPr>
            <a:r>
              <a:rPr lang="en-US" altLang="zh-CN" sz="1200">
                <a:solidFill>
                  <a:schemeClr val="tx2"/>
                </a:solidFill>
                <a:latin typeface="微软雅黑" panose="020B0503020204020204" charset="-122"/>
                <a:ea typeface="微软雅黑" panose="020B0503020204020204" charset="-122"/>
                <a:cs typeface="微软雅黑" panose="020B0503020204020204" charset="-122"/>
              </a:rPr>
              <a:t>AI</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眼底筛查率提升至</a:t>
            </a:r>
            <a:r>
              <a:rPr lang="en-US" altLang="zh-CN" sz="1200" b="1">
                <a:solidFill>
                  <a:schemeClr val="accent5"/>
                </a:solidFill>
                <a:latin typeface="微软雅黑" panose="020B0503020204020204" charset="-122"/>
                <a:ea typeface="微软雅黑" panose="020B0503020204020204" charset="-122"/>
                <a:cs typeface="微软雅黑" panose="020B0503020204020204" charset="-122"/>
              </a:rPr>
              <a:t>80%</a:t>
            </a:r>
            <a:endParaRPr lang="en-US" altLang="zh-CN" sz="1200" b="1">
              <a:solidFill>
                <a:schemeClr val="accent5"/>
              </a:solidFill>
              <a:latin typeface="微软雅黑" panose="020B0503020204020204" charset="-122"/>
              <a:ea typeface="微软雅黑" panose="020B0503020204020204" charset="-122"/>
              <a:cs typeface="微软雅黑" panose="020B0503020204020204" charset="-122"/>
            </a:endParaRPr>
          </a:p>
          <a:p>
            <a:pPr marL="179705" indent="-179705" fontAlgn="auto">
              <a:buFont typeface="Wingdings" panose="05000000000000000000" charset="0"/>
              <a:buChar char="l"/>
            </a:pPr>
            <a:r>
              <a:rPr lang="en-US" altLang="zh-CN" sz="1200">
                <a:solidFill>
                  <a:schemeClr val="tx2"/>
                </a:solidFill>
                <a:latin typeface="微软雅黑" panose="020B0503020204020204" charset="-122"/>
                <a:ea typeface="微软雅黑" panose="020B0503020204020204" charset="-122"/>
                <a:cs typeface="微软雅黑" panose="020B0503020204020204" charset="-122"/>
              </a:rPr>
              <a:t>AI</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眼底筛查频次达</a:t>
            </a:r>
            <a:r>
              <a:rPr lang="en-US" altLang="zh-CN" sz="1200" b="1">
                <a:solidFill>
                  <a:schemeClr val="accent5"/>
                </a:solidFill>
                <a:latin typeface="微软雅黑" panose="020B0503020204020204" charset="-122"/>
                <a:ea typeface="微软雅黑" panose="020B0503020204020204" charset="-122"/>
                <a:cs typeface="微软雅黑" panose="020B0503020204020204" charset="-122"/>
              </a:rPr>
              <a:t>1.6</a:t>
            </a: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亿次</a:t>
            </a:r>
            <a:r>
              <a:rPr lang="en-US" altLang="zh-CN" sz="1200" b="1">
                <a:solidFill>
                  <a:schemeClr val="accent5"/>
                </a:solidFill>
                <a:latin typeface="微软雅黑" panose="020B0503020204020204" charset="-122"/>
                <a:ea typeface="微软雅黑" panose="020B0503020204020204" charset="-122"/>
                <a:cs typeface="微软雅黑" panose="020B0503020204020204" charset="-122"/>
              </a:rPr>
              <a:t>/</a:t>
            </a: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年</a:t>
            </a:r>
            <a:endParaRPr lang="zh-CN" altLang="en-US" sz="12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40" name="文本框 39"/>
          <p:cNvSpPr txBox="1"/>
          <p:nvPr/>
        </p:nvSpPr>
        <p:spPr>
          <a:xfrm>
            <a:off x="1051560" y="5102860"/>
            <a:ext cx="2313940" cy="1014730"/>
          </a:xfrm>
          <a:prstGeom prst="rect">
            <a:avLst/>
          </a:prstGeom>
          <a:noFill/>
        </p:spPr>
        <p:txBody>
          <a:bodyPr wrap="square" rtlCol="0">
            <a:spAutoFit/>
          </a:bodyPr>
          <a:p>
            <a:pPr marL="179705" indent="-179705" fontAlgn="auto">
              <a:buFont typeface="Wingdings" panose="05000000000000000000" charset="0"/>
              <a:buChar char="l"/>
            </a:pPr>
            <a:r>
              <a:rPr lang="en-US" altLang="zh-CN" sz="1200">
                <a:solidFill>
                  <a:schemeClr val="tx2"/>
                </a:solidFill>
                <a:latin typeface="微软雅黑" panose="020B0503020204020204" charset="-122"/>
                <a:ea typeface="微软雅黑" panose="020B0503020204020204" charset="-122"/>
                <a:cs typeface="微软雅黑" panose="020B0503020204020204" charset="-122"/>
              </a:rPr>
              <a:t>AI</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糖网筛查解决方案覆盖范围：</a:t>
            </a: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近千家</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医院、</a:t>
            </a: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近千家</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社区卫生服务中心</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a:p>
            <a:pPr marL="179705" indent="-179705" fontAlgn="auto">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全年龄阶段的眼底数据已至</a:t>
            </a: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【千万级】</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1" name="文本框 40"/>
          <p:cNvSpPr txBox="1"/>
          <p:nvPr/>
        </p:nvSpPr>
        <p:spPr>
          <a:xfrm>
            <a:off x="3365500" y="4215130"/>
            <a:ext cx="2825750" cy="1853565"/>
          </a:xfrm>
          <a:prstGeom prst="rect">
            <a:avLst/>
          </a:prstGeom>
          <a:noFill/>
        </p:spPr>
        <p:txBody>
          <a:bodyPr wrap="square" rtlCol="0">
            <a:noAutofit/>
          </a:bodyPr>
          <a:p>
            <a:pPr marL="179705" indent="-179705" fontAlgn="auto">
              <a:buFont typeface="Wingdings" panose="05000000000000000000" charset="0"/>
              <a:buChar char="l"/>
            </a:pP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医院：</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提高内分泌和体格科医生筛查效率</a:t>
            </a:r>
            <a:endParaRPr lang="en-US" altLang="zh-CN" sz="1200" b="1">
              <a:solidFill>
                <a:schemeClr val="accent2"/>
              </a:solidFill>
              <a:latin typeface="微软雅黑" panose="020B0503020204020204" charset="-122"/>
              <a:ea typeface="微软雅黑" panose="020B0503020204020204" charset="-122"/>
              <a:cs typeface="微软雅黑" panose="020B0503020204020204" charset="-122"/>
            </a:endParaRPr>
          </a:p>
          <a:p>
            <a:pPr marL="179705" indent="-179705" fontAlgn="auto">
              <a:buFont typeface="Wingdings" panose="05000000000000000000" charset="0"/>
              <a:buChar char="l"/>
            </a:pP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基层医疗机构：</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辅助筛查，缓解基层眼科医生短缺问题，提升健康管理质量</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a:p>
            <a:pPr marL="179705" indent="-179705" fontAlgn="auto">
              <a:buFont typeface="Wingdings" panose="05000000000000000000" charset="0"/>
              <a:buChar char="l"/>
            </a:pP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药企：</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帮助药企监测患者用药效果，为药企提供真实世界数据</a:t>
            </a:r>
            <a:endParaRPr lang="en-US" altLang="zh-CN" sz="1200" b="1">
              <a:solidFill>
                <a:schemeClr val="accent2"/>
              </a:solidFill>
              <a:latin typeface="微软雅黑" panose="020B0503020204020204" charset="-122"/>
              <a:ea typeface="微软雅黑" panose="020B0503020204020204" charset="-122"/>
              <a:cs typeface="微软雅黑" panose="020B0503020204020204" charset="-122"/>
            </a:endParaRPr>
          </a:p>
          <a:p>
            <a:pPr marL="179705" indent="-179705" fontAlgn="auto">
              <a:buFont typeface="Wingdings" panose="05000000000000000000" charset="0"/>
              <a:buChar char="l"/>
            </a:pP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药店：</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助力用药监测和健康管理</a:t>
            </a:r>
            <a:endParaRPr lang="en-US" altLang="zh-CN" sz="1200" b="1">
              <a:solidFill>
                <a:schemeClr val="accent2"/>
              </a:solidFill>
              <a:latin typeface="微软雅黑" panose="020B0503020204020204" charset="-122"/>
              <a:ea typeface="微软雅黑" panose="020B0503020204020204" charset="-122"/>
              <a:cs typeface="微软雅黑" panose="020B0503020204020204" charset="-122"/>
            </a:endParaRPr>
          </a:p>
          <a:p>
            <a:pPr marL="179705" indent="-179705" fontAlgn="auto">
              <a:buFont typeface="Wingdings" panose="05000000000000000000" charset="0"/>
              <a:buChar char="l"/>
            </a:pPr>
            <a:r>
              <a:rPr lang="en-US" altLang="zh-CN" sz="1200" b="1">
                <a:solidFill>
                  <a:schemeClr val="accent1"/>
                </a:solidFill>
                <a:latin typeface="微软雅黑" panose="020B0503020204020204" charset="-122"/>
                <a:ea typeface="微软雅黑" panose="020B0503020204020204" charset="-122"/>
                <a:cs typeface="微软雅黑" panose="020B0503020204020204" charset="-122"/>
              </a:rPr>
              <a:t>ESG</a:t>
            </a: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公益项目：</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联合举办社区糖网筛查等活动，增强社会责任感</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4" name="文本框 43"/>
          <p:cNvSpPr txBox="1"/>
          <p:nvPr/>
        </p:nvSpPr>
        <p:spPr>
          <a:xfrm>
            <a:off x="6407150" y="3954145"/>
            <a:ext cx="2273300" cy="1853565"/>
          </a:xfrm>
          <a:prstGeom prst="rect">
            <a:avLst/>
          </a:prstGeom>
          <a:noFill/>
        </p:spPr>
        <p:txBody>
          <a:bodyPr wrap="square" rtlCol="0">
            <a:noAutofit/>
          </a:bodyPr>
          <a:p>
            <a:pPr marL="179705" indent="-179705" fontAlgn="auto">
              <a:buFont typeface="Wingdings" panose="05000000000000000000" charset="0"/>
              <a:buChar char="l"/>
            </a:pP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战略重点场景：</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医院、基层医疗机构、药企、药店覆盖目标达成</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a:p>
            <a:pPr marL="179705" indent="-179705" fontAlgn="auto">
              <a:buFont typeface="Wingdings" panose="05000000000000000000" charset="0"/>
              <a:buChar char="l"/>
            </a:pPr>
            <a:endParaRPr lang="en-US" altLang="zh-CN" sz="1200">
              <a:solidFill>
                <a:schemeClr val="tx2"/>
              </a:solidFill>
              <a:latin typeface="微软雅黑" panose="020B0503020204020204" charset="-122"/>
              <a:ea typeface="微软雅黑" panose="020B0503020204020204" charset="-122"/>
              <a:cs typeface="微软雅黑" panose="020B0503020204020204" charset="-122"/>
            </a:endParaRPr>
          </a:p>
          <a:p>
            <a:pPr marL="179705" indent="-179705" fontAlgn="auto">
              <a:buFont typeface="Wingdings" panose="05000000000000000000" charset="0"/>
              <a:buChar char="l"/>
            </a:pP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其他覆盖场景应用不断延伸：</a:t>
            </a:r>
            <a:endParaRPr lang="en-US" altLang="zh-CN" sz="1200" b="1">
              <a:solidFill>
                <a:schemeClr val="accent1"/>
              </a:solidFill>
              <a:latin typeface="微软雅黑" panose="020B0503020204020204" charset="-122"/>
              <a:ea typeface="微软雅黑" panose="020B0503020204020204" charset="-122"/>
              <a:cs typeface="微软雅黑" panose="020B0503020204020204" charset="-122"/>
            </a:endParaRPr>
          </a:p>
          <a:p>
            <a:pPr marL="431800" lvl="1" indent="-179705" fontAlgn="auto">
              <a:buFont typeface="Wingdings" panose="05000000000000000000" charset="0"/>
              <a:buChar char="ü"/>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保险机构</a:t>
            </a:r>
            <a:endParaRPr lang="en-US" altLang="zh-CN" sz="1200">
              <a:solidFill>
                <a:schemeClr val="tx2"/>
              </a:solidFill>
              <a:latin typeface="微软雅黑" panose="020B0503020204020204" charset="-122"/>
              <a:ea typeface="微软雅黑" panose="020B0503020204020204" charset="-122"/>
              <a:cs typeface="微软雅黑" panose="020B0503020204020204" charset="-122"/>
            </a:endParaRPr>
          </a:p>
          <a:p>
            <a:pPr marL="431800" lvl="1" indent="-179705" fontAlgn="auto">
              <a:buFont typeface="Wingdings" panose="05000000000000000000" charset="0"/>
              <a:buChar char="ü"/>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养老机构</a:t>
            </a:r>
            <a:endParaRPr lang="en-US" altLang="zh-CN" sz="1200">
              <a:solidFill>
                <a:schemeClr val="tx2"/>
              </a:solidFill>
              <a:latin typeface="微软雅黑" panose="020B0503020204020204" charset="-122"/>
              <a:ea typeface="微软雅黑" panose="020B0503020204020204" charset="-122"/>
              <a:cs typeface="微软雅黑" panose="020B0503020204020204" charset="-122"/>
            </a:endParaRPr>
          </a:p>
          <a:p>
            <a:pPr marL="431800" lvl="1" indent="-179705" fontAlgn="auto">
              <a:buFont typeface="Wingdings" panose="05000000000000000000" charset="0"/>
              <a:buChar char="ü"/>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视光中心</a:t>
            </a:r>
            <a:endParaRPr lang="en-US" altLang="zh-CN" sz="1200">
              <a:solidFill>
                <a:schemeClr val="tx2"/>
              </a:solidFill>
              <a:latin typeface="微软雅黑" panose="020B0503020204020204" charset="-122"/>
              <a:ea typeface="微软雅黑" panose="020B0503020204020204" charset="-122"/>
              <a:cs typeface="微软雅黑" panose="020B0503020204020204" charset="-122"/>
            </a:endParaRPr>
          </a:p>
          <a:p>
            <a:pPr marL="431800" lvl="1" indent="-179705" fontAlgn="auto">
              <a:buFont typeface="Wingdings" panose="05000000000000000000" charset="0"/>
              <a:buChar char="ü"/>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中医院</a:t>
            </a:r>
            <a:endParaRPr lang="en-US" altLang="zh-CN" sz="1200">
              <a:solidFill>
                <a:schemeClr val="tx2"/>
              </a:solidFill>
              <a:latin typeface="微软雅黑" panose="020B0503020204020204" charset="-122"/>
              <a:ea typeface="微软雅黑" panose="020B0503020204020204" charset="-122"/>
              <a:cs typeface="微软雅黑" panose="020B0503020204020204" charset="-122"/>
            </a:endParaRPr>
          </a:p>
          <a:p>
            <a:pPr marL="431800" lvl="1" indent="-179705" fontAlgn="auto">
              <a:buFont typeface="Wingdings" panose="05000000000000000000" charset="0"/>
              <a:buChar char="ü"/>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养老机构</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6" name="文本框 45"/>
          <p:cNvSpPr txBox="1"/>
          <p:nvPr/>
        </p:nvSpPr>
        <p:spPr>
          <a:xfrm>
            <a:off x="8771890" y="3517900"/>
            <a:ext cx="2273300" cy="1853565"/>
          </a:xfrm>
          <a:prstGeom prst="rect">
            <a:avLst/>
          </a:prstGeom>
          <a:noFill/>
        </p:spPr>
        <p:txBody>
          <a:bodyPr wrap="square" rtlCol="0">
            <a:noAutofit/>
          </a:bodyPr>
          <a:p>
            <a:pPr marL="179705" indent="-179705" fontAlgn="auto">
              <a:buFont typeface="Wingdings" panose="05000000000000000000" charset="0"/>
              <a:buChar char="l"/>
            </a:pPr>
            <a:r>
              <a:rPr lang="en-US" altLang="zh-CN" sz="1200">
                <a:solidFill>
                  <a:schemeClr val="tx2"/>
                </a:solidFill>
                <a:latin typeface="微软雅黑" panose="020B0503020204020204" charset="-122"/>
                <a:ea typeface="微软雅黑" panose="020B0503020204020204" charset="-122"/>
                <a:cs typeface="微软雅黑" panose="020B0503020204020204" charset="-122"/>
              </a:rPr>
              <a:t>AI</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糖网筛查解决方案应用场景多元，</a:t>
            </a: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产品遍布全国各地</a:t>
            </a:r>
            <a:endParaRPr lang="zh-CN" altLang="en-US" sz="1200" b="1">
              <a:solidFill>
                <a:schemeClr val="accent5"/>
              </a:solidFill>
              <a:latin typeface="微软雅黑" panose="020B0503020204020204" charset="-122"/>
              <a:ea typeface="微软雅黑" panose="020B0503020204020204" charset="-122"/>
              <a:cs typeface="微软雅黑" panose="020B0503020204020204" charset="-122"/>
            </a:endParaRPr>
          </a:p>
          <a:p>
            <a:pPr marL="179705" indent="-179705" fontAlgn="auto">
              <a:buFont typeface="Wingdings" panose="05000000000000000000" charset="0"/>
              <a:buChar char="l"/>
            </a:pPr>
            <a:endParaRPr lang="en-US" altLang="zh-CN" sz="500">
              <a:solidFill>
                <a:schemeClr val="tx2"/>
              </a:solidFill>
              <a:latin typeface="微软雅黑" panose="020B0503020204020204" charset="-122"/>
              <a:ea typeface="微软雅黑" panose="020B0503020204020204" charset="-122"/>
              <a:cs typeface="微软雅黑" panose="020B0503020204020204" charset="-122"/>
            </a:endParaRPr>
          </a:p>
          <a:p>
            <a:pPr marL="179705" indent="-179705" fontAlgn="auto">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糖网早筛早治已成为</a:t>
            </a: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糖尿病患者共识</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AI</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糖网筛查解决方案渗透到每位患者之中</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a:p>
            <a:pPr marL="179705" indent="-179705" fontAlgn="auto">
              <a:buFont typeface="Wingdings" panose="05000000000000000000" charset="0"/>
              <a:buChar char="l"/>
            </a:pPr>
            <a:endParaRPr lang="en-US" altLang="zh-CN" sz="500">
              <a:solidFill>
                <a:schemeClr val="tx2"/>
              </a:solidFill>
              <a:latin typeface="微软雅黑" panose="020B0503020204020204" charset="-122"/>
              <a:ea typeface="微软雅黑" panose="020B0503020204020204" charset="-122"/>
              <a:cs typeface="微软雅黑" panose="020B0503020204020204" charset="-122"/>
            </a:endParaRPr>
          </a:p>
          <a:p>
            <a:pPr marL="179705" indent="-179705" fontAlgn="auto">
              <a:buFont typeface="Wingdings" panose="05000000000000000000" charset="0"/>
              <a:buChar char="l"/>
            </a:pPr>
            <a:r>
              <a:rPr lang="en-US" altLang="zh-CN" sz="1200" b="1">
                <a:solidFill>
                  <a:schemeClr val="accent5"/>
                </a:solidFill>
                <a:latin typeface="微软雅黑" panose="020B0503020204020204" charset="-122"/>
                <a:ea typeface="微软雅黑" panose="020B0503020204020204" charset="-122"/>
                <a:cs typeface="微软雅黑" panose="020B0503020204020204" charset="-122"/>
              </a:rPr>
              <a:t>2022-2030</a:t>
            </a: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年</a:t>
            </a:r>
            <a:r>
              <a:rPr lang="en-US" altLang="zh-CN" sz="1200" b="1">
                <a:solidFill>
                  <a:schemeClr val="accent5"/>
                </a:solidFill>
                <a:latin typeface="微软雅黑" panose="020B0503020204020204" charset="-122"/>
                <a:ea typeface="微软雅黑" panose="020B0503020204020204" charset="-122"/>
                <a:cs typeface="微软雅黑" panose="020B0503020204020204" charset="-122"/>
              </a:rPr>
              <a:t>ESG</a:t>
            </a: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指标成效：</a:t>
            </a:r>
            <a:r>
              <a:rPr lang="en-US" altLang="zh-CN" sz="1200">
                <a:solidFill>
                  <a:schemeClr val="accent5"/>
                </a:solidFill>
                <a:latin typeface="微软雅黑" panose="020B0503020204020204" charset="-122"/>
                <a:ea typeface="微软雅黑" panose="020B0503020204020204" charset="-122"/>
                <a:cs typeface="微软雅黑" panose="020B0503020204020204" charset="-122"/>
              </a:rPr>
              <a:t> </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AI</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医疗器械企业发展与</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ESG</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理念相结合，积极强化</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ESG</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风险管理与主动披露</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ESG</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信息数据，助力医疗行业可持续发展。</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8" name="文本框 47"/>
          <p:cNvSpPr txBox="1"/>
          <p:nvPr/>
        </p:nvSpPr>
        <p:spPr>
          <a:xfrm rot="20220000">
            <a:off x="6617970" y="2379345"/>
            <a:ext cx="3054350" cy="306705"/>
          </a:xfrm>
          <a:prstGeom prst="rect">
            <a:avLst/>
          </a:prstGeom>
          <a:noFill/>
        </p:spPr>
        <p:txBody>
          <a:bodyPr wrap="square" rtlCol="0">
            <a:spAutoFit/>
          </a:bodyPr>
          <a:p>
            <a:pPr algn="ctr"/>
            <a:r>
              <a:rPr lang="zh-CN" sz="1400">
                <a:solidFill>
                  <a:schemeClr val="accent1"/>
                </a:solidFill>
                <a:latin typeface="微软雅黑" panose="020B0503020204020204" charset="-122"/>
                <a:ea typeface="微软雅黑" panose="020B0503020204020204" charset="-122"/>
                <a:cs typeface="微软雅黑" panose="020B0503020204020204" charset="-122"/>
              </a:rPr>
              <a:t>经济效益与社会效益共同提升</a:t>
            </a:r>
            <a:endParaRPr lang="zh-CN" sz="14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1051560" y="4469765"/>
            <a:ext cx="2220595" cy="521970"/>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筛查频次</a:t>
            </a:r>
            <a:r>
              <a:rPr lang="en-US" altLang="zh-CN" sz="1400" b="1">
                <a:solidFill>
                  <a:schemeClr val="bg1"/>
                </a:solidFill>
                <a:latin typeface="微软雅黑" panose="020B0503020204020204" charset="-122"/>
                <a:ea typeface="微软雅黑" panose="020B0503020204020204" charset="-122"/>
                <a:cs typeface="微软雅黑" panose="020B0503020204020204" charset="-122"/>
              </a:rPr>
              <a:t>1733</a:t>
            </a: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万次</a:t>
            </a:r>
            <a:r>
              <a:rPr lang="en-US" altLang="zh-CN" sz="1400" b="1">
                <a:solidFill>
                  <a:schemeClr val="bg1"/>
                </a:solidFill>
                <a:latin typeface="微软雅黑" panose="020B0503020204020204" charset="-122"/>
                <a:ea typeface="微软雅黑" panose="020B0503020204020204" charset="-122"/>
                <a:cs typeface="微软雅黑" panose="020B0503020204020204" charset="-122"/>
              </a:rPr>
              <a:t>/</a:t>
            </a: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年</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400">
                <a:solidFill>
                  <a:schemeClr val="bg1"/>
                </a:solidFill>
                <a:latin typeface="微软雅黑" panose="020B0503020204020204" charset="-122"/>
                <a:ea typeface="微软雅黑" panose="020B0503020204020204" charset="-122"/>
                <a:cs typeface="微软雅黑" panose="020B0503020204020204" charset="-122"/>
              </a:rPr>
              <a:t>（</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10%</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a:t>
            </a:r>
            <a:endParaRPr lang="zh-CN" altLang="en-US" sz="14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3510915" y="3836670"/>
            <a:ext cx="2625725" cy="306705"/>
          </a:xfrm>
          <a:prstGeom prst="rect">
            <a:avLst/>
          </a:prstGeom>
          <a:noFill/>
        </p:spPr>
        <p:txBody>
          <a:bodyPr wrap="square" rtlCol="0">
            <a:spAutoFit/>
          </a:bodyPr>
          <a:p>
            <a:pPr algn="ctr"/>
            <a:r>
              <a:rPr lang="zh-CN" sz="1400" b="1">
                <a:solidFill>
                  <a:schemeClr val="bg1"/>
                </a:solidFill>
                <a:latin typeface="微软雅黑" panose="020B0503020204020204" charset="-122"/>
                <a:ea typeface="微软雅黑" panose="020B0503020204020204" charset="-122"/>
                <a:cs typeface="微软雅黑" panose="020B0503020204020204" charset="-122"/>
              </a:rPr>
              <a:t>覆盖场景【当前战略重点】</a:t>
            </a:r>
            <a:endParaRPr lang="zh-CN"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6457950" y="3489960"/>
            <a:ext cx="2196465" cy="306705"/>
          </a:xfrm>
          <a:prstGeom prst="rect">
            <a:avLst/>
          </a:prstGeom>
          <a:noFill/>
        </p:spPr>
        <p:txBody>
          <a:bodyPr wrap="square" rtlCol="0">
            <a:spAutoFit/>
          </a:bodyPr>
          <a:p>
            <a:pPr algn="ctr"/>
            <a:r>
              <a:rPr lang="zh-CN" sz="1400" b="1">
                <a:solidFill>
                  <a:schemeClr val="bg1"/>
                </a:solidFill>
                <a:latin typeface="微软雅黑" panose="020B0503020204020204" charset="-122"/>
                <a:ea typeface="微软雅黑" panose="020B0503020204020204" charset="-122"/>
                <a:cs typeface="微软雅黑" panose="020B0503020204020204" charset="-122"/>
              </a:rPr>
              <a:t>未来覆盖场景多元化</a:t>
            </a:r>
            <a:endParaRPr lang="zh-CN"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4" name="文本框 13"/>
          <p:cNvSpPr txBox="1"/>
          <p:nvPr/>
        </p:nvSpPr>
        <p:spPr>
          <a:xfrm>
            <a:off x="8750300" y="2827020"/>
            <a:ext cx="2220595" cy="521970"/>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预计筛查频次</a:t>
            </a:r>
            <a:r>
              <a:rPr lang="en-US" altLang="zh-CN" sz="1400" b="1">
                <a:solidFill>
                  <a:schemeClr val="bg1"/>
                </a:solidFill>
                <a:latin typeface="微软雅黑" panose="020B0503020204020204" charset="-122"/>
                <a:ea typeface="微软雅黑" panose="020B0503020204020204" charset="-122"/>
                <a:cs typeface="微软雅黑" panose="020B0503020204020204" charset="-122"/>
              </a:rPr>
              <a:t>1.6</a:t>
            </a: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亿次</a:t>
            </a:r>
            <a:r>
              <a:rPr lang="en-US" altLang="zh-CN" sz="1400" b="1">
                <a:solidFill>
                  <a:schemeClr val="bg1"/>
                </a:solidFill>
                <a:latin typeface="微软雅黑" panose="020B0503020204020204" charset="-122"/>
                <a:ea typeface="微软雅黑" panose="020B0503020204020204" charset="-122"/>
                <a:cs typeface="微软雅黑" panose="020B0503020204020204" charset="-122"/>
              </a:rPr>
              <a:t>/</a:t>
            </a: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年</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400">
                <a:solidFill>
                  <a:schemeClr val="bg1"/>
                </a:solidFill>
                <a:latin typeface="微软雅黑" panose="020B0503020204020204" charset="-122"/>
                <a:ea typeface="微软雅黑" panose="020B0503020204020204" charset="-122"/>
                <a:cs typeface="微软雅黑" panose="020B0503020204020204" charset="-122"/>
              </a:rPr>
              <a:t>（</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80%</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a:t>
            </a:r>
            <a:endParaRPr lang="zh-CN" altLang="en-US" sz="1400">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25" name="组合 24"/>
          <p:cNvGrpSpPr/>
          <p:nvPr/>
        </p:nvGrpSpPr>
        <p:grpSpPr>
          <a:xfrm rot="360000">
            <a:off x="9534525" y="1658620"/>
            <a:ext cx="731520" cy="363220"/>
            <a:chOff x="15015" y="2612"/>
            <a:chExt cx="1152" cy="572"/>
          </a:xfrm>
        </p:grpSpPr>
        <p:sp>
          <p:nvSpPr>
            <p:cNvPr id="47" name="文本框 46"/>
            <p:cNvSpPr txBox="1"/>
            <p:nvPr/>
          </p:nvSpPr>
          <p:spPr>
            <a:xfrm rot="19500000">
              <a:off x="15015" y="2612"/>
              <a:ext cx="1153" cy="521"/>
            </a:xfrm>
            <a:prstGeom prst="rect">
              <a:avLst/>
            </a:prstGeom>
            <a:noFill/>
            <a:ln>
              <a:noFill/>
            </a:ln>
          </p:spPr>
          <p:txBody>
            <a:bodyPr wrap="square" rtlCol="0">
              <a:noAutofit/>
            </a:bodyPr>
            <a:p>
              <a:pPr algn="ctr"/>
              <a:r>
                <a:rPr lang="en-US" sz="2000" b="1">
                  <a:solidFill>
                    <a:schemeClr val="accent1"/>
                  </a:solidFill>
                  <a:latin typeface="微软雅黑" panose="020B0503020204020204" charset="-122"/>
                  <a:ea typeface="微软雅黑" panose="020B0503020204020204" charset="-122"/>
                  <a:cs typeface="微软雅黑" panose="020B0503020204020204" charset="-122"/>
                </a:rPr>
                <a:t>ESG</a:t>
              </a:r>
              <a:endParaRPr lang="en-US" sz="20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4" name="矩形 23"/>
            <p:cNvSpPr/>
            <p:nvPr/>
          </p:nvSpPr>
          <p:spPr>
            <a:xfrm rot="19500000">
              <a:off x="15132" y="2616"/>
              <a:ext cx="1004" cy="568"/>
            </a:xfrm>
            <a:prstGeom prst="rect">
              <a:avLst/>
            </a:prstGeom>
            <a:noFill/>
            <a:ln>
              <a:solidFill>
                <a:schemeClr val="accent1"/>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cxnSp>
        <p:nvCxnSpPr>
          <p:cNvPr id="26"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7" name="组合 26"/>
          <p:cNvGrpSpPr/>
          <p:nvPr/>
        </p:nvGrpSpPr>
        <p:grpSpPr>
          <a:xfrm>
            <a:off x="8738235" y="348615"/>
            <a:ext cx="3219450" cy="332740"/>
            <a:chOff x="13761" y="549"/>
            <a:chExt cx="5070" cy="524"/>
          </a:xfrm>
        </p:grpSpPr>
        <p:pic>
          <p:nvPicPr>
            <p:cNvPr id="28" name="图片 27"/>
            <p:cNvPicPr>
              <a:picLocks noChangeAspect="1"/>
            </p:cNvPicPr>
            <p:nvPr userDrawn="1"/>
          </p:nvPicPr>
          <p:blipFill>
            <a:blip r:embed="rId5"/>
            <a:srcRect l="17002" t="-1765" r="56499" b="-1176"/>
            <a:stretch>
              <a:fillRect/>
            </a:stretch>
          </p:blipFill>
          <p:spPr>
            <a:xfrm>
              <a:off x="13761" y="549"/>
              <a:ext cx="1582" cy="525"/>
            </a:xfrm>
            <a:prstGeom prst="rect">
              <a:avLst/>
            </a:prstGeom>
          </p:spPr>
        </p:pic>
        <p:sp>
          <p:nvSpPr>
            <p:cNvPr id="29" name="文本框 28"/>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8" name="直接连接符 187"/>
          <p:cNvCxnSpPr/>
          <p:nvPr/>
        </p:nvCxnSpPr>
        <p:spPr>
          <a:xfrm flipV="1">
            <a:off x="10053320" y="1827530"/>
            <a:ext cx="0" cy="1282700"/>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2" name="直接连接符 181"/>
          <p:cNvCxnSpPr/>
          <p:nvPr/>
        </p:nvCxnSpPr>
        <p:spPr>
          <a:xfrm flipV="1">
            <a:off x="7477760" y="1752600"/>
            <a:ext cx="0" cy="1282700"/>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6" name="直接连接符 175"/>
          <p:cNvCxnSpPr>
            <a:stCxn id="94" idx="0"/>
            <a:endCxn id="13" idx="2"/>
          </p:cNvCxnSpPr>
          <p:nvPr/>
        </p:nvCxnSpPr>
        <p:spPr>
          <a:xfrm flipH="1" flipV="1">
            <a:off x="4857115" y="1845310"/>
            <a:ext cx="1905" cy="1316355"/>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a:t>
            </a:r>
            <a:r>
              <a:rPr sz="2500">
                <a:solidFill>
                  <a:srgbClr val="213271"/>
                </a:solidFill>
                <a:latin typeface="微软雅黑" panose="020B0503020204020204" charset="-122"/>
                <a:ea typeface="微软雅黑" panose="020B0503020204020204" charset="-122"/>
                <a:cs typeface="微软雅黑" panose="020B0503020204020204" charset="-122"/>
              </a:rPr>
              <a:t> </a:t>
            </a:r>
            <a:r>
              <a:rPr sz="2500">
                <a:solidFill>
                  <a:schemeClr val="tx2"/>
                </a:solidFill>
                <a:effectLst/>
                <a:latin typeface="微软雅黑" panose="020B0503020204020204" charset="-122"/>
                <a:ea typeface="微软雅黑" panose="020B0503020204020204" charset="-122"/>
                <a:cs typeface="微软雅黑" panose="020B0503020204020204" charset="-122"/>
              </a:rPr>
              <a:t>时间竞品分析流程</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6" name="圆角矩形 27"/>
          <p:cNvSpPr/>
          <p:nvPr/>
        </p:nvSpPr>
        <p:spPr>
          <a:xfrm>
            <a:off x="898583" y="1719119"/>
            <a:ext cx="10367600" cy="2425670"/>
          </a:xfrm>
          <a:prstGeom prst="roundRect">
            <a:avLst>
              <a:gd name="adj" fmla="val 1481"/>
            </a:avLst>
          </a:prstGeom>
          <a:noFill/>
          <a:ln w="12700" cap="flat" cmpd="sng" algn="ctr">
            <a:solidFill>
              <a:schemeClr val="accent1">
                <a:alpha val="50000"/>
              </a:schemeClr>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12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lt"/>
            </a:endParaRPr>
          </a:p>
        </p:txBody>
      </p:sp>
      <p:grpSp>
        <p:nvGrpSpPr>
          <p:cNvPr id="8" name="组合 7"/>
          <p:cNvGrpSpPr/>
          <p:nvPr/>
        </p:nvGrpSpPr>
        <p:grpSpPr>
          <a:xfrm>
            <a:off x="1731382" y="1504586"/>
            <a:ext cx="1046480" cy="340995"/>
            <a:chOff x="990399" y="2902414"/>
            <a:chExt cx="1046480" cy="340995"/>
          </a:xfrm>
        </p:grpSpPr>
        <p:sp>
          <p:nvSpPr>
            <p:cNvPr id="12" name="圆角矩形 27+"/>
            <p:cNvSpPr/>
            <p:nvPr/>
          </p:nvSpPr>
          <p:spPr>
            <a:xfrm>
              <a:off x="990399" y="2902414"/>
              <a:ext cx="1046480" cy="340995"/>
            </a:xfrm>
            <a:prstGeom prst="roundRect">
              <a:avLst>
                <a:gd name="adj" fmla="val 50000"/>
              </a:avLst>
            </a:pr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sz="1400" dirty="0">
                <a:solidFill>
                  <a:srgbClr val="FFFFFF"/>
                </a:solidFill>
                <a:latin typeface="微软雅黑" panose="020B0503020204020204" charset="-122"/>
                <a:ea typeface="微软雅黑" panose="020B0503020204020204" charset="-122"/>
                <a:cs typeface="微软雅黑" panose="020B0503020204020204" charset="-122"/>
                <a:sym typeface="+mn-lt"/>
              </a:endParaRPr>
            </a:p>
          </p:txBody>
        </p:sp>
        <p:sp>
          <p:nvSpPr>
            <p:cNvPr id="48" name="文本框 47"/>
            <p:cNvSpPr txBox="1"/>
            <p:nvPr/>
          </p:nvSpPr>
          <p:spPr>
            <a:xfrm>
              <a:off x="1279007" y="2965279"/>
              <a:ext cx="469265" cy="215265"/>
            </a:xfrm>
            <a:prstGeom prst="rect">
              <a:avLst/>
            </a:prstGeom>
            <a:noFill/>
          </p:spPr>
          <p:txBody>
            <a:bodyPr wrap="none" lIns="0" tIns="0" rIns="0" bIns="0" rtlCol="0">
              <a:spAutoFit/>
            </a:bodyPr>
            <a:lstStyle/>
            <a:p>
              <a:r>
                <a:rPr lang="en-US" altLang="zh-CN" sz="1400" dirty="0">
                  <a:solidFill>
                    <a:srgbClr val="FFFFFF"/>
                  </a:solidFill>
                  <a:latin typeface="微软雅黑" panose="020B0503020204020204" charset="-122"/>
                  <a:ea typeface="微软雅黑" panose="020B0503020204020204" charset="-122"/>
                  <a:cs typeface="微软雅黑" panose="020B0503020204020204" charset="-122"/>
                </a:rPr>
                <a:t>1-2</a:t>
              </a:r>
              <a:r>
                <a:rPr lang="zh-CN" altLang="en-US" sz="1400" dirty="0">
                  <a:solidFill>
                    <a:srgbClr val="FFFFFF"/>
                  </a:solidFill>
                  <a:latin typeface="微软雅黑" panose="020B0503020204020204" charset="-122"/>
                  <a:ea typeface="微软雅黑" panose="020B0503020204020204" charset="-122"/>
                  <a:cs typeface="微软雅黑" panose="020B0503020204020204" charset="-122"/>
                </a:rPr>
                <a:t>月</a:t>
              </a:r>
              <a:endParaRPr lang="zh-CN" altLang="en-US" sz="1400" dirty="0">
                <a:solidFill>
                  <a:srgbClr val="FFFFFF"/>
                </a:solidFill>
                <a:latin typeface="微软雅黑" panose="020B0503020204020204" charset="-122"/>
                <a:ea typeface="微软雅黑" panose="020B0503020204020204" charset="-122"/>
                <a:cs typeface="微软雅黑" panose="020B0503020204020204" charset="-122"/>
              </a:endParaRPr>
            </a:p>
          </p:txBody>
        </p:sp>
      </p:grpSp>
      <p:grpSp>
        <p:nvGrpSpPr>
          <p:cNvPr id="74" name="组合 73"/>
          <p:cNvGrpSpPr/>
          <p:nvPr/>
        </p:nvGrpSpPr>
        <p:grpSpPr>
          <a:xfrm>
            <a:off x="1592545" y="3885416"/>
            <a:ext cx="1197590" cy="575094"/>
            <a:chOff x="3245375" y="4112425"/>
            <a:chExt cx="1197590" cy="575094"/>
          </a:xfrm>
          <a:solidFill>
            <a:schemeClr val="accent1">
              <a:lumMod val="60000"/>
              <a:lumOff val="40000"/>
            </a:schemeClr>
          </a:solidFill>
        </p:grpSpPr>
        <p:sp>
          <p:nvSpPr>
            <p:cNvPr id="75" name="Object 5" descr="preencoded.png"/>
            <p:cNvSpPr/>
            <p:nvPr/>
          </p:nvSpPr>
          <p:spPr>
            <a:xfrm>
              <a:off x="3245375" y="4112425"/>
              <a:ext cx="1197590" cy="575094"/>
            </a:xfrm>
            <a:prstGeom prst="roundRect">
              <a:avLst/>
            </a:prstGeom>
            <a:solidFill>
              <a:schemeClr val="accent1"/>
            </a:solidFill>
            <a:ln w="762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6" name="Object26"/>
            <p:cNvSpPr/>
            <p:nvPr/>
          </p:nvSpPr>
          <p:spPr>
            <a:xfrm>
              <a:off x="3536393" y="4156131"/>
              <a:ext cx="615553" cy="471091"/>
            </a:xfrm>
            <a:prstGeom prst="rect">
              <a:avLst/>
            </a:prstGeom>
            <a:noFill/>
            <a:extLst>
              <a:ext uri="{909E8E84-426E-40DD-AFC4-6F175D3DCCD1}">
                <a14:hiddenFill xmlns:a14="http://schemas.microsoft.com/office/drawing/2010/main">
                  <a:grpFill/>
                </a14:hiddenFill>
              </a:ext>
            </a:extLst>
          </p:spPr>
          <p:txBody>
            <a:bodyPr wrap="none" lIns="0" tIns="0" rIns="0" bIns="0" rtlCol="0" anchor="t">
              <a:spAutoFit/>
            </a:bodyPr>
            <a:lstStyle/>
            <a:p>
              <a:pPr marL="0" marR="0" lvl="0" indent="0" algn="ctr" defTabSz="731520" rtl="0" eaLnBrk="1" fontAlgn="auto" latinLnBrk="0" hangingPunct="1">
                <a:lnSpc>
                  <a:spcPts val="1920"/>
                </a:lnSpc>
                <a:spcBef>
                  <a:spcPts val="0"/>
                </a:spcBef>
                <a:spcAft>
                  <a:spcPts val="0"/>
                </a:spcAft>
                <a:buClrTx/>
                <a:buSzTx/>
                <a:buFontTx/>
                <a:buNone/>
                <a:defRPr/>
              </a:pPr>
              <a:r>
                <a:rPr kumimoji="0" lang="en-US" sz="120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精准扫描</a:t>
              </a:r>
              <a:endParaRPr lang="en-US" sz="1200" dirty="0">
                <a:solidFill>
                  <a:prstClr val="whit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marR="0" lvl="0" indent="0" algn="ctr" defTabSz="731520" rtl="0" eaLnBrk="1" fontAlgn="auto" latinLnBrk="0" hangingPunct="1">
                <a:lnSpc>
                  <a:spcPts val="1920"/>
                </a:lnSpc>
                <a:spcBef>
                  <a:spcPts val="0"/>
                </a:spcBef>
                <a:spcAft>
                  <a:spcPts val="0"/>
                </a:spcAft>
                <a:buClrTx/>
                <a:buSzTx/>
                <a:buFontTx/>
                <a:buNone/>
                <a:defRPr/>
              </a:pPr>
              <a:r>
                <a:rPr kumimoji="0" lang="zh-CN" altLang="en-US" sz="120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商业地图</a:t>
              </a:r>
              <a:endParaRPr kumimoji="0" lang="en-US" sz="120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
        <p:nvSpPr>
          <p:cNvPr id="78" name="Object 5" descr="preencoded.png"/>
          <p:cNvSpPr/>
          <p:nvPr/>
        </p:nvSpPr>
        <p:spPr>
          <a:xfrm>
            <a:off x="3181350" y="3883025"/>
            <a:ext cx="1197610" cy="575310"/>
          </a:xfrm>
          <a:prstGeom prst="roundRect">
            <a:avLst/>
          </a:prstGeom>
          <a:solidFill>
            <a:schemeClr val="accent1"/>
          </a:solidFill>
          <a:ln w="762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0" name="Object26"/>
          <p:cNvSpPr/>
          <p:nvPr/>
        </p:nvSpPr>
        <p:spPr>
          <a:xfrm>
            <a:off x="3395345" y="3926840"/>
            <a:ext cx="769620" cy="471170"/>
          </a:xfrm>
          <a:prstGeom prst="rect">
            <a:avLst/>
          </a:prstGeom>
          <a:noFill/>
          <a:extLst>
            <a:ext uri="{909E8E84-426E-40DD-AFC4-6F175D3DCCD1}">
              <a14:hiddenFill xmlns:a14="http://schemas.microsoft.com/office/drawing/2010/main">
                <a:solidFill>
                  <a:schemeClr val="accent1">
                    <a:lumMod val="60000"/>
                    <a:lumOff val="40000"/>
                  </a:schemeClr>
                </a:solidFill>
              </a14:hiddenFill>
            </a:ext>
          </a:extLst>
        </p:spPr>
        <p:txBody>
          <a:bodyPr wrap="none" lIns="0" tIns="0" rIns="0" bIns="0" rtlCol="0" anchor="t">
            <a:spAutoFit/>
          </a:bodyPr>
          <a:lstStyle/>
          <a:p>
            <a:pPr marL="0" marR="0" lvl="0" indent="0" algn="ctr" defTabSz="731520" rtl="0" eaLnBrk="1" fontAlgn="auto" latinLnBrk="0" hangingPunct="1">
              <a:lnSpc>
                <a:spcPts val="1920"/>
              </a:lnSpc>
              <a:spcBef>
                <a:spcPts val="0"/>
              </a:spcBef>
              <a:spcAft>
                <a:spcPts val="0"/>
              </a:spcAft>
              <a:buClrTx/>
              <a:buSzTx/>
              <a:buFontTx/>
              <a:buNone/>
              <a:defRPr/>
            </a:pPr>
            <a:r>
              <a:rPr kumimoji="0" lang="zh-CN" altLang="en-US" sz="120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精准定级</a:t>
            </a:r>
            <a:endParaRPr kumimoji="0" lang="zh-CN" altLang="en-US" sz="120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marR="0" lvl="0" indent="0" algn="ctr" defTabSz="731520" rtl="0" eaLnBrk="1" fontAlgn="auto" latinLnBrk="0" hangingPunct="1">
              <a:lnSpc>
                <a:spcPts val="1920"/>
              </a:lnSpc>
              <a:spcBef>
                <a:spcPts val="0"/>
              </a:spcBef>
              <a:spcAft>
                <a:spcPts val="0"/>
              </a:spcAft>
              <a:buClrTx/>
              <a:buSzTx/>
              <a:buFontTx/>
              <a:buNone/>
              <a:defRPr/>
            </a:pPr>
            <a:r>
              <a:rPr kumimoji="0" lang="zh-CN" altLang="en-US" sz="120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差异化宣传</a:t>
            </a:r>
            <a:endParaRPr kumimoji="0" lang="zh-CN" altLang="en-US" sz="120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1" name="圆角矩形 27+"/>
          <p:cNvSpPr/>
          <p:nvPr/>
        </p:nvSpPr>
        <p:spPr>
          <a:xfrm>
            <a:off x="1713145" y="3146171"/>
            <a:ext cx="1080000" cy="340712"/>
          </a:xfrm>
          <a:prstGeom prst="roundRect">
            <a:avLst>
              <a:gd name="adj" fmla="val 50000"/>
            </a:avLst>
          </a:prstGeom>
          <a:solidFill>
            <a:schemeClr val="accent1">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chemeClr val="tx2"/>
                </a:solidFill>
                <a:latin typeface="微软雅黑" panose="020B0503020204020204" charset="-122"/>
                <a:ea typeface="微软雅黑" panose="020B0503020204020204" charset="-122"/>
                <a:cs typeface="+mn-ea"/>
                <a:sym typeface="+mn-lt"/>
              </a:rPr>
              <a:t>品牌介绍</a:t>
            </a:r>
            <a:endParaRPr lang="zh-CN" altLang="en-US" sz="1200" dirty="0">
              <a:solidFill>
                <a:schemeClr val="tx2"/>
              </a:solidFill>
              <a:latin typeface="微软雅黑" panose="020B0503020204020204" charset="-122"/>
              <a:ea typeface="微软雅黑" panose="020B0503020204020204" charset="-122"/>
              <a:cs typeface="+mn-ea"/>
              <a:sym typeface="+mn-lt"/>
            </a:endParaRPr>
          </a:p>
        </p:txBody>
      </p:sp>
      <p:cxnSp>
        <p:nvCxnSpPr>
          <p:cNvPr id="83" name="直接连接符 82"/>
          <p:cNvCxnSpPr/>
          <p:nvPr/>
        </p:nvCxnSpPr>
        <p:spPr>
          <a:xfrm flipV="1">
            <a:off x="2243455" y="1844675"/>
            <a:ext cx="0" cy="1282700"/>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88" name="Object 5" descr="preencoded.png"/>
          <p:cNvSpPr/>
          <p:nvPr/>
        </p:nvSpPr>
        <p:spPr>
          <a:xfrm>
            <a:off x="4770755" y="3882390"/>
            <a:ext cx="1197610" cy="575310"/>
          </a:xfrm>
          <a:prstGeom prst="roundRect">
            <a:avLst/>
          </a:prstGeom>
          <a:solidFill>
            <a:schemeClr val="accent1"/>
          </a:solidFill>
          <a:ln w="762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9" name="Object26"/>
          <p:cNvSpPr/>
          <p:nvPr/>
        </p:nvSpPr>
        <p:spPr>
          <a:xfrm>
            <a:off x="4907280" y="3926205"/>
            <a:ext cx="923290" cy="471170"/>
          </a:xfrm>
          <a:prstGeom prst="rect">
            <a:avLst/>
          </a:prstGeom>
          <a:noFill/>
          <a:extLst>
            <a:ext uri="{909E8E84-426E-40DD-AFC4-6F175D3DCCD1}">
              <a14:hiddenFill xmlns:a14="http://schemas.microsoft.com/office/drawing/2010/main">
                <a:solidFill>
                  <a:schemeClr val="accent1">
                    <a:lumMod val="60000"/>
                    <a:lumOff val="40000"/>
                  </a:schemeClr>
                </a:solidFill>
              </a14:hiddenFill>
            </a:ext>
          </a:extLst>
        </p:spPr>
        <p:txBody>
          <a:bodyPr wrap="none" lIns="0" tIns="0" rIns="0" bIns="0" rtlCol="0" anchor="t">
            <a:spAutoFit/>
          </a:bodyPr>
          <a:lstStyle/>
          <a:p>
            <a:pPr marL="0" marR="0" lvl="0" indent="0" algn="ctr" defTabSz="731520" rtl="0" eaLnBrk="1" fontAlgn="auto" latinLnBrk="0" hangingPunct="1">
              <a:lnSpc>
                <a:spcPts val="1920"/>
              </a:lnSpc>
              <a:spcBef>
                <a:spcPts val="0"/>
              </a:spcBef>
              <a:spcAft>
                <a:spcPts val="0"/>
              </a:spcAft>
              <a:buClrTx/>
              <a:buSzTx/>
              <a:buFontTx/>
              <a:buNone/>
              <a:defRPr/>
            </a:pPr>
            <a:r>
              <a:rPr kumimoji="0" lang="zh-CN" altLang="en-US" sz="120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精准宣导</a:t>
            </a:r>
            <a:endParaRPr kumimoji="0" lang="zh-CN" altLang="en-US" sz="120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marR="0" lvl="0" indent="0" algn="ctr" defTabSz="731520" rtl="0" eaLnBrk="1" fontAlgn="auto" latinLnBrk="0" hangingPunct="1">
              <a:lnSpc>
                <a:spcPts val="1920"/>
              </a:lnSpc>
              <a:spcBef>
                <a:spcPts val="0"/>
              </a:spcBef>
              <a:spcAft>
                <a:spcPts val="0"/>
              </a:spcAft>
              <a:buClrTx/>
              <a:buSzTx/>
              <a:buFontTx/>
              <a:buNone/>
              <a:defRPr/>
            </a:pPr>
            <a:r>
              <a:rPr kumimoji="0" lang="zh-CN" altLang="en-US" sz="120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雇主品牌包装</a:t>
            </a:r>
            <a:endParaRPr kumimoji="0" lang="zh-CN" altLang="en-US" sz="120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1" name="圆角矩形 27+"/>
          <p:cNvSpPr/>
          <p:nvPr/>
        </p:nvSpPr>
        <p:spPr>
          <a:xfrm>
            <a:off x="3677920" y="2639695"/>
            <a:ext cx="909320" cy="335915"/>
          </a:xfrm>
          <a:prstGeom prst="roundRect">
            <a:avLst>
              <a:gd name="adj" fmla="val 50000"/>
            </a:avLst>
          </a:prstGeom>
          <a:solidFill>
            <a:schemeClr val="accent1">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dirty="0">
                <a:solidFill>
                  <a:schemeClr val="tx2"/>
                </a:solidFill>
                <a:latin typeface="微软雅黑" panose="020B0503020204020204" charset="-122"/>
                <a:ea typeface="微软雅黑" panose="020B0503020204020204" charset="-122"/>
                <a:cs typeface="+mn-ea"/>
                <a:sym typeface="+mn-lt"/>
              </a:rPr>
              <a:t>企业合作</a:t>
            </a:r>
            <a:endParaRPr lang="zh-CN" altLang="en-US" sz="1200" dirty="0">
              <a:solidFill>
                <a:schemeClr val="tx2"/>
              </a:solidFill>
              <a:latin typeface="微软雅黑" panose="020B0503020204020204" charset="-122"/>
              <a:ea typeface="微软雅黑" panose="020B0503020204020204" charset="-122"/>
              <a:cs typeface="+mn-ea"/>
              <a:sym typeface="+mn-lt"/>
            </a:endParaRPr>
          </a:p>
        </p:txBody>
      </p:sp>
      <p:sp>
        <p:nvSpPr>
          <p:cNvPr id="92" name="圆角矩形 27+"/>
          <p:cNvSpPr/>
          <p:nvPr/>
        </p:nvSpPr>
        <p:spPr>
          <a:xfrm>
            <a:off x="2595245" y="2622550"/>
            <a:ext cx="979805" cy="340995"/>
          </a:xfrm>
          <a:prstGeom prst="roundRect">
            <a:avLst>
              <a:gd name="adj" fmla="val 50000"/>
            </a:avLst>
          </a:prstGeom>
          <a:solidFill>
            <a:schemeClr val="accent1">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dirty="0">
                <a:solidFill>
                  <a:schemeClr val="tx2"/>
                </a:solidFill>
                <a:latin typeface="微软雅黑" panose="020B0503020204020204" charset="-122"/>
                <a:ea typeface="微软雅黑" panose="020B0503020204020204" charset="-122"/>
                <a:cs typeface="+mn-ea"/>
                <a:sym typeface="+mn-lt"/>
              </a:rPr>
              <a:t>主打产品</a:t>
            </a:r>
            <a:endParaRPr lang="zh-CN" altLang="en-US" sz="1200" dirty="0">
              <a:solidFill>
                <a:schemeClr val="tx2"/>
              </a:solidFill>
              <a:latin typeface="微软雅黑" panose="020B0503020204020204" charset="-122"/>
              <a:ea typeface="微软雅黑" panose="020B0503020204020204" charset="-122"/>
              <a:cs typeface="+mn-ea"/>
              <a:sym typeface="+mn-lt"/>
            </a:endParaRPr>
          </a:p>
        </p:txBody>
      </p:sp>
      <p:sp>
        <p:nvSpPr>
          <p:cNvPr id="94" name="圆角矩形 27+"/>
          <p:cNvSpPr/>
          <p:nvPr/>
        </p:nvSpPr>
        <p:spPr>
          <a:xfrm>
            <a:off x="4318186" y="3161665"/>
            <a:ext cx="1081405" cy="340995"/>
          </a:xfrm>
          <a:prstGeom prst="roundRect">
            <a:avLst>
              <a:gd name="adj" fmla="val 50000"/>
            </a:avLst>
          </a:prstGeom>
          <a:solidFill>
            <a:schemeClr val="accent1">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dirty="0">
                <a:solidFill>
                  <a:schemeClr val="tx2"/>
                </a:solidFill>
                <a:latin typeface="微软雅黑" panose="020B0503020204020204" charset="-122"/>
                <a:ea typeface="微软雅黑" panose="020B0503020204020204" charset="-122"/>
                <a:cs typeface="+mn-ea"/>
                <a:sym typeface="+mn-lt"/>
              </a:rPr>
              <a:t>营销方案</a:t>
            </a:r>
            <a:endParaRPr lang="zh-CN" altLang="en-US" sz="1200" dirty="0">
              <a:solidFill>
                <a:schemeClr val="tx2"/>
              </a:solidFill>
              <a:latin typeface="微软雅黑" panose="020B0503020204020204" charset="-122"/>
              <a:ea typeface="微软雅黑" panose="020B0503020204020204" charset="-122"/>
              <a:cs typeface="+mn-ea"/>
              <a:sym typeface="+mn-lt"/>
            </a:endParaRPr>
          </a:p>
        </p:txBody>
      </p:sp>
      <p:sp>
        <p:nvSpPr>
          <p:cNvPr id="95" name="圆角矩形 27+"/>
          <p:cNvSpPr/>
          <p:nvPr/>
        </p:nvSpPr>
        <p:spPr>
          <a:xfrm>
            <a:off x="5631815" y="2613025"/>
            <a:ext cx="1078230" cy="340995"/>
          </a:xfrm>
          <a:prstGeom prst="roundRect">
            <a:avLst>
              <a:gd name="adj" fmla="val 50000"/>
            </a:avLst>
          </a:prstGeom>
          <a:solidFill>
            <a:schemeClr val="accent1">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dirty="0">
                <a:solidFill>
                  <a:schemeClr val="tx2"/>
                </a:solidFill>
                <a:latin typeface="微软雅黑" panose="020B0503020204020204" charset="-122"/>
                <a:ea typeface="微软雅黑" panose="020B0503020204020204" charset="-122"/>
                <a:cs typeface="+mn-ea"/>
                <a:sym typeface="+mn-lt"/>
              </a:rPr>
              <a:t>重点提前</a:t>
            </a:r>
            <a:endParaRPr lang="zh-CN" altLang="en-US" sz="1200" dirty="0">
              <a:solidFill>
                <a:schemeClr val="tx2"/>
              </a:solidFill>
              <a:latin typeface="微软雅黑" panose="020B0503020204020204" charset="-122"/>
              <a:ea typeface="微软雅黑" panose="020B0503020204020204" charset="-122"/>
              <a:cs typeface="+mn-ea"/>
              <a:sym typeface="+mn-lt"/>
            </a:endParaRPr>
          </a:p>
        </p:txBody>
      </p:sp>
      <p:sp>
        <p:nvSpPr>
          <p:cNvPr id="96" name="圆角矩形 27+"/>
          <p:cNvSpPr/>
          <p:nvPr/>
        </p:nvSpPr>
        <p:spPr>
          <a:xfrm>
            <a:off x="6782025" y="3064161"/>
            <a:ext cx="1390980" cy="340712"/>
          </a:xfrm>
          <a:prstGeom prst="roundRect">
            <a:avLst>
              <a:gd name="adj" fmla="val 50000"/>
            </a:avLst>
          </a:prstGeom>
          <a:solidFill>
            <a:schemeClr val="accent1">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dirty="0">
                <a:solidFill>
                  <a:schemeClr val="tx2"/>
                </a:solidFill>
                <a:latin typeface="微软雅黑" panose="020B0503020204020204" charset="-122"/>
                <a:ea typeface="微软雅黑" panose="020B0503020204020204" charset="-122"/>
                <a:cs typeface="+mn-ea"/>
                <a:sym typeface="+mn-lt"/>
              </a:rPr>
              <a:t>差异化品牌宣传</a:t>
            </a:r>
            <a:endParaRPr lang="zh-CN" altLang="en-US" sz="1200" dirty="0">
              <a:solidFill>
                <a:schemeClr val="tx2"/>
              </a:solidFill>
              <a:latin typeface="微软雅黑" panose="020B0503020204020204" charset="-122"/>
              <a:ea typeface="微软雅黑" panose="020B0503020204020204" charset="-122"/>
              <a:cs typeface="+mn-ea"/>
              <a:sym typeface="+mn-lt"/>
            </a:endParaRPr>
          </a:p>
        </p:txBody>
      </p:sp>
      <p:sp>
        <p:nvSpPr>
          <p:cNvPr id="97" name="圆角矩形 27+"/>
          <p:cNvSpPr/>
          <p:nvPr/>
        </p:nvSpPr>
        <p:spPr>
          <a:xfrm>
            <a:off x="9436158" y="3144566"/>
            <a:ext cx="1233968" cy="340712"/>
          </a:xfrm>
          <a:prstGeom prst="roundRect">
            <a:avLst>
              <a:gd name="adj" fmla="val 50000"/>
            </a:avLst>
          </a:prstGeom>
          <a:solidFill>
            <a:schemeClr val="accent1">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dirty="0">
                <a:solidFill>
                  <a:schemeClr val="tx2"/>
                </a:solidFill>
                <a:latin typeface="微软雅黑" panose="020B0503020204020204" charset="-122"/>
                <a:ea typeface="微软雅黑" panose="020B0503020204020204" charset="-122"/>
                <a:cs typeface="+mn-ea"/>
                <a:sym typeface="+mn-lt"/>
              </a:rPr>
              <a:t>计划总结</a:t>
            </a:r>
            <a:endParaRPr lang="zh-CN" altLang="en-US" sz="1200" dirty="0">
              <a:solidFill>
                <a:schemeClr val="tx2"/>
              </a:solidFill>
              <a:latin typeface="微软雅黑" panose="020B0503020204020204" charset="-122"/>
              <a:ea typeface="微软雅黑" panose="020B0503020204020204" charset="-122"/>
              <a:cs typeface="+mn-ea"/>
              <a:sym typeface="+mn-lt"/>
            </a:endParaRPr>
          </a:p>
        </p:txBody>
      </p:sp>
      <p:sp>
        <p:nvSpPr>
          <p:cNvPr id="98" name="圆角矩形 27+"/>
          <p:cNvSpPr/>
          <p:nvPr/>
        </p:nvSpPr>
        <p:spPr>
          <a:xfrm>
            <a:off x="8163008" y="2601472"/>
            <a:ext cx="1233968" cy="340712"/>
          </a:xfrm>
          <a:prstGeom prst="roundRect">
            <a:avLst>
              <a:gd name="adj" fmla="val 50000"/>
            </a:avLst>
          </a:prstGeom>
          <a:solidFill>
            <a:schemeClr val="accent1">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dirty="0">
                <a:solidFill>
                  <a:schemeClr val="tx2"/>
                </a:solidFill>
                <a:latin typeface="微软雅黑" panose="020B0503020204020204" charset="-122"/>
                <a:ea typeface="微软雅黑" panose="020B0503020204020204" charset="-122"/>
                <a:cs typeface="+mn-ea"/>
                <a:sym typeface="+mn-lt"/>
              </a:rPr>
              <a:t>推广活动</a:t>
            </a:r>
            <a:endParaRPr lang="zh-CN" altLang="en-US" sz="1200" dirty="0">
              <a:solidFill>
                <a:schemeClr val="tx2"/>
              </a:solidFill>
              <a:latin typeface="微软雅黑" panose="020B0503020204020204" charset="-122"/>
              <a:ea typeface="微软雅黑" panose="020B0503020204020204" charset="-122"/>
              <a:cs typeface="+mn-ea"/>
              <a:sym typeface="+mn-lt"/>
            </a:endParaRPr>
          </a:p>
        </p:txBody>
      </p:sp>
      <p:grpSp>
        <p:nvGrpSpPr>
          <p:cNvPr id="116" name="组合 115"/>
          <p:cNvGrpSpPr/>
          <p:nvPr/>
        </p:nvGrpSpPr>
        <p:grpSpPr>
          <a:xfrm>
            <a:off x="433670" y="2210173"/>
            <a:ext cx="975542" cy="976368"/>
            <a:chOff x="415003" y="4019481"/>
            <a:chExt cx="975542" cy="976368"/>
          </a:xfrm>
        </p:grpSpPr>
        <p:sp>
          <p:nvSpPr>
            <p:cNvPr id="118" name="Object 5" descr="preencoded.png"/>
            <p:cNvSpPr/>
            <p:nvPr/>
          </p:nvSpPr>
          <p:spPr>
            <a:xfrm>
              <a:off x="415003" y="4019481"/>
              <a:ext cx="975542" cy="976368"/>
            </a:xfrm>
            <a:prstGeom prst="ellipse">
              <a:avLst/>
            </a:prstGeom>
            <a:solidFill>
              <a:schemeClr val="accent5"/>
            </a:solidFill>
            <a:ln w="7620" cap="flat">
              <a:noFill/>
              <a:prstDash val="solid"/>
              <a:miter/>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b="1"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9" name="文本框 118"/>
            <p:cNvSpPr txBox="1"/>
            <p:nvPr/>
          </p:nvSpPr>
          <p:spPr>
            <a:xfrm>
              <a:off x="543702" y="4256154"/>
              <a:ext cx="718145" cy="504497"/>
            </a:xfrm>
            <a:prstGeom prst="rect">
              <a:avLst/>
            </a:prstGeom>
            <a:noFill/>
          </p:spPr>
          <p:txBody>
            <a:bodyPr wrap="none" lIns="0" tIns="0" rIns="0" bIns="0" rtlCol="0">
              <a:spAutoFit/>
            </a:bodyPr>
            <a:lstStyle/>
            <a:p>
              <a:pPr algn="ctr">
                <a:lnSpc>
                  <a:spcPct val="120000"/>
                </a:lnSpc>
              </a:pPr>
              <a:r>
                <a:rPr lang="zh-CN" altLang="en-US" sz="1400" b="1" dirty="0">
                  <a:solidFill>
                    <a:srgbClr val="FFFFFF"/>
                  </a:solidFill>
                  <a:latin typeface="微软雅黑" panose="020B0503020204020204" charset="-122"/>
                  <a:ea typeface="微软雅黑" panose="020B0503020204020204" charset="-122"/>
                  <a:cs typeface="微软雅黑" panose="020B0503020204020204" charset="-122"/>
                </a:rPr>
                <a:t>人才扫描</a:t>
              </a:r>
              <a:endParaRPr lang="zh-CN" altLang="en-US" sz="1400" b="1" dirty="0">
                <a:solidFill>
                  <a:srgbClr val="FFFFFF"/>
                </a:solidFill>
                <a:latin typeface="微软雅黑" panose="020B0503020204020204" charset="-122"/>
                <a:ea typeface="微软雅黑" panose="020B0503020204020204" charset="-122"/>
                <a:cs typeface="微软雅黑" panose="020B0503020204020204" charset="-122"/>
              </a:endParaRPr>
            </a:p>
            <a:p>
              <a:pPr algn="ctr">
                <a:lnSpc>
                  <a:spcPct val="120000"/>
                </a:lnSpc>
              </a:pPr>
              <a:r>
                <a:rPr lang="zh-CN" altLang="en-US" sz="1400" b="1" dirty="0">
                  <a:solidFill>
                    <a:srgbClr val="FFFFFF"/>
                  </a:solidFill>
                  <a:latin typeface="微软雅黑" panose="020B0503020204020204" charset="-122"/>
                  <a:ea typeface="微软雅黑" panose="020B0503020204020204" charset="-122"/>
                  <a:cs typeface="微软雅黑" panose="020B0503020204020204" charset="-122"/>
                </a:rPr>
                <a:t>营销方案</a:t>
              </a:r>
              <a:endParaRPr lang="zh-CN" altLang="en-US" sz="1400" b="1" dirty="0">
                <a:solidFill>
                  <a:srgbClr val="FFFFFF"/>
                </a:solidFill>
                <a:latin typeface="微软雅黑" panose="020B0503020204020204" charset="-122"/>
                <a:ea typeface="微软雅黑" panose="020B0503020204020204" charset="-122"/>
                <a:cs typeface="微软雅黑" panose="020B0503020204020204" charset="-122"/>
              </a:endParaRPr>
            </a:p>
          </p:txBody>
        </p:sp>
      </p:grpSp>
      <p:grpSp>
        <p:nvGrpSpPr>
          <p:cNvPr id="120" name="组合 119"/>
          <p:cNvGrpSpPr/>
          <p:nvPr/>
        </p:nvGrpSpPr>
        <p:grpSpPr>
          <a:xfrm>
            <a:off x="10782787" y="2210173"/>
            <a:ext cx="975542" cy="976368"/>
            <a:chOff x="10764120" y="4019481"/>
            <a:chExt cx="975542" cy="976368"/>
          </a:xfrm>
        </p:grpSpPr>
        <p:sp>
          <p:nvSpPr>
            <p:cNvPr id="121" name="Object 5" descr="preencoded.png"/>
            <p:cNvSpPr/>
            <p:nvPr/>
          </p:nvSpPr>
          <p:spPr>
            <a:xfrm>
              <a:off x="10764120" y="4019481"/>
              <a:ext cx="975542" cy="976368"/>
            </a:xfrm>
            <a:prstGeom prst="ellipse">
              <a:avLst/>
            </a:prstGeom>
            <a:solidFill>
              <a:schemeClr val="accent5"/>
            </a:solidFill>
            <a:ln w="7620" cap="flat">
              <a:noFill/>
              <a:prstDash val="solid"/>
              <a:miter/>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b="1"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2" name="文本框 121"/>
            <p:cNvSpPr txBox="1"/>
            <p:nvPr/>
          </p:nvSpPr>
          <p:spPr>
            <a:xfrm>
              <a:off x="10892819" y="4385420"/>
              <a:ext cx="718145" cy="245965"/>
            </a:xfrm>
            <a:prstGeom prst="rect">
              <a:avLst/>
            </a:prstGeom>
            <a:noFill/>
          </p:spPr>
          <p:txBody>
            <a:bodyPr wrap="none" lIns="0" tIns="0" rIns="0" bIns="0" rtlCol="0">
              <a:spAutoFit/>
            </a:bodyPr>
            <a:lstStyle/>
            <a:p>
              <a:pPr algn="ctr">
                <a:lnSpc>
                  <a:spcPct val="120000"/>
                </a:lnSpc>
              </a:pPr>
              <a:r>
                <a:rPr lang="zh-CN" altLang="en-US" sz="1400" b="1" dirty="0">
                  <a:solidFill>
                    <a:srgbClr val="FFFFFF"/>
                  </a:solidFill>
                  <a:latin typeface="微软雅黑" panose="020B0503020204020204" charset="-122"/>
                  <a:ea typeface="微软雅黑" panose="020B0503020204020204" charset="-122"/>
                  <a:cs typeface="微软雅黑" panose="020B0503020204020204" charset="-122"/>
                </a:rPr>
                <a:t>品牌介绍</a:t>
              </a:r>
              <a:endParaRPr lang="zh-CN" altLang="en-US" sz="1400" b="1" dirty="0">
                <a:solidFill>
                  <a:srgbClr val="FFFFFF"/>
                </a:solidFill>
                <a:latin typeface="微软雅黑" panose="020B0503020204020204" charset="-122"/>
                <a:ea typeface="微软雅黑" panose="020B0503020204020204" charset="-122"/>
                <a:cs typeface="微软雅黑" panose="020B0503020204020204" charset="-122"/>
              </a:endParaRPr>
            </a:p>
          </p:txBody>
        </p:sp>
      </p:grpSp>
      <p:sp>
        <p:nvSpPr>
          <p:cNvPr id="123" name="文本框 122"/>
          <p:cNvSpPr txBox="1"/>
          <p:nvPr/>
        </p:nvSpPr>
        <p:spPr>
          <a:xfrm>
            <a:off x="621667" y="4173819"/>
            <a:ext cx="827151" cy="245965"/>
          </a:xfrm>
          <a:prstGeom prst="rect">
            <a:avLst/>
          </a:prstGeom>
          <a:noFill/>
        </p:spPr>
        <p:txBody>
          <a:bodyPr wrap="none" lIns="0" tIns="0" rIns="0" bIns="0" rtlCol="0">
            <a:spAutoFit/>
          </a:bodyPr>
          <a:lstStyle/>
          <a:p>
            <a:pPr algn="ctr">
              <a:lnSpc>
                <a:spcPct val="120000"/>
              </a:lnSpc>
            </a:pPr>
            <a:r>
              <a:rPr lang="zh-CN" altLang="en-US" sz="1400" dirty="0">
                <a:solidFill>
                  <a:schemeClr val="accent1"/>
                </a:solidFill>
                <a:latin typeface="微软雅黑" panose="020B0503020204020204" charset="-122"/>
                <a:ea typeface="微软雅黑" panose="020B0503020204020204" charset="-122"/>
                <a:cs typeface="微软雅黑" panose="020B0503020204020204" charset="-122"/>
              </a:rPr>
              <a:t>裂变</a:t>
            </a:r>
            <a:r>
              <a:rPr lang="en-US" altLang="zh-CN" sz="1400" dirty="0">
                <a:solidFill>
                  <a:schemeClr val="accent1"/>
                </a:solidFill>
                <a:latin typeface="微软雅黑" panose="020B0503020204020204" charset="-122"/>
                <a:ea typeface="微软雅黑" panose="020B0503020204020204" charset="-122"/>
                <a:cs typeface="微软雅黑" panose="020B0503020204020204" charset="-122"/>
              </a:rPr>
              <a:t>+</a:t>
            </a:r>
            <a:r>
              <a:rPr lang="zh-CN" altLang="en-US" sz="1400" dirty="0">
                <a:solidFill>
                  <a:schemeClr val="accent1"/>
                </a:solidFill>
                <a:latin typeface="微软雅黑" panose="020B0503020204020204" charset="-122"/>
                <a:ea typeface="微软雅黑" panose="020B0503020204020204" charset="-122"/>
                <a:cs typeface="微软雅黑" panose="020B0503020204020204" charset="-122"/>
              </a:rPr>
              <a:t>精准</a:t>
            </a:r>
            <a:endParaRPr lang="zh-CN" altLang="en-US" sz="140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25" name="Object 5" descr="preencoded.png"/>
          <p:cNvSpPr/>
          <p:nvPr/>
        </p:nvSpPr>
        <p:spPr>
          <a:xfrm>
            <a:off x="6359525" y="3884930"/>
            <a:ext cx="1197610" cy="575310"/>
          </a:xfrm>
          <a:prstGeom prst="roundRect">
            <a:avLst/>
          </a:prstGeom>
          <a:solidFill>
            <a:schemeClr val="accent1"/>
          </a:solidFill>
          <a:ln w="762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7" name="Object26"/>
          <p:cNvSpPr/>
          <p:nvPr/>
        </p:nvSpPr>
        <p:spPr>
          <a:xfrm>
            <a:off x="6496685" y="3928745"/>
            <a:ext cx="923290" cy="471170"/>
          </a:xfrm>
          <a:prstGeom prst="rect">
            <a:avLst/>
          </a:prstGeom>
          <a:noFill/>
        </p:spPr>
        <p:txBody>
          <a:bodyPr wrap="none" lIns="0" tIns="0" rIns="0" bIns="0" rtlCol="0" anchor="t">
            <a:spAutoFit/>
          </a:bodyPr>
          <a:lstStyle/>
          <a:p>
            <a:pPr marL="0" marR="0" lvl="0" indent="0" algn="ctr" defTabSz="731520" rtl="0" eaLnBrk="1" fontAlgn="auto" latinLnBrk="0" hangingPunct="1">
              <a:lnSpc>
                <a:spcPts val="1920"/>
              </a:lnSpc>
              <a:spcBef>
                <a:spcPts val="0"/>
              </a:spcBef>
              <a:spcAft>
                <a:spcPts val="0"/>
              </a:spcAft>
              <a:buClrTx/>
              <a:buSzTx/>
              <a:buFontTx/>
              <a:buNone/>
              <a:defRPr/>
            </a:pPr>
            <a:r>
              <a:rPr kumimoji="0" lang="zh-CN" altLang="en-US" sz="120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部门人员精简</a:t>
            </a:r>
            <a:endParaRPr kumimoji="0" lang="zh-CN" altLang="en-US" sz="120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marR="0" lvl="0" indent="0" algn="ctr" defTabSz="731520" rtl="0" eaLnBrk="1" fontAlgn="auto" latinLnBrk="0" hangingPunct="1">
              <a:lnSpc>
                <a:spcPts val="1920"/>
              </a:lnSpc>
              <a:spcBef>
                <a:spcPts val="0"/>
              </a:spcBef>
              <a:spcAft>
                <a:spcPts val="0"/>
              </a:spcAft>
              <a:buClrTx/>
              <a:buSzTx/>
              <a:buFontTx/>
              <a:buNone/>
              <a:defRPr/>
            </a:pPr>
            <a:r>
              <a:rPr kumimoji="0" lang="zh-CN" altLang="en-US" sz="120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合理优化</a:t>
            </a:r>
            <a:endParaRPr kumimoji="0" lang="zh-CN" altLang="en-US" sz="120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1" name="Object 5" descr="preencoded.png"/>
          <p:cNvSpPr/>
          <p:nvPr/>
        </p:nvSpPr>
        <p:spPr>
          <a:xfrm>
            <a:off x="7948295" y="3883660"/>
            <a:ext cx="1197610" cy="575310"/>
          </a:xfrm>
          <a:prstGeom prst="roundRect">
            <a:avLst/>
          </a:prstGeom>
          <a:solidFill>
            <a:schemeClr val="accent1"/>
          </a:solidFill>
          <a:ln w="762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4" name="Object26"/>
          <p:cNvSpPr/>
          <p:nvPr/>
        </p:nvSpPr>
        <p:spPr>
          <a:xfrm>
            <a:off x="8085455" y="3927475"/>
            <a:ext cx="923290" cy="471170"/>
          </a:xfrm>
          <a:prstGeom prst="rect">
            <a:avLst/>
          </a:prstGeom>
          <a:noFill/>
        </p:spPr>
        <p:txBody>
          <a:bodyPr wrap="none" lIns="0" tIns="0" rIns="0" bIns="0" rtlCol="0" anchor="t">
            <a:spAutoFit/>
          </a:bodyPr>
          <a:lstStyle/>
          <a:p>
            <a:pPr marL="0" marR="0" lvl="0" indent="0" algn="ctr" defTabSz="731520" rtl="0" eaLnBrk="1" fontAlgn="auto" latinLnBrk="0" hangingPunct="1">
              <a:lnSpc>
                <a:spcPts val="1920"/>
              </a:lnSpc>
              <a:spcBef>
                <a:spcPts val="0"/>
              </a:spcBef>
              <a:spcAft>
                <a:spcPts val="0"/>
              </a:spcAft>
              <a:buClrTx/>
              <a:buSzTx/>
              <a:buFontTx/>
              <a:buNone/>
              <a:defRPr/>
            </a:pPr>
            <a:r>
              <a:rPr kumimoji="0" lang="zh-CN" altLang="en-US" sz="120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线下营销</a:t>
            </a:r>
            <a:endParaRPr kumimoji="0" lang="en-US" altLang="zh-CN" sz="120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marR="0" lvl="0" indent="0" algn="ctr" defTabSz="731520" rtl="0" eaLnBrk="1" fontAlgn="auto" latinLnBrk="0" hangingPunct="1">
              <a:lnSpc>
                <a:spcPts val="1920"/>
              </a:lnSpc>
              <a:spcBef>
                <a:spcPts val="0"/>
              </a:spcBef>
              <a:spcAft>
                <a:spcPts val="0"/>
              </a:spcAft>
              <a:buClrTx/>
              <a:buSzTx/>
              <a:buFontTx/>
              <a:buNone/>
              <a:defRPr/>
            </a:pPr>
            <a:r>
              <a:rPr kumimoji="0" lang="zh-CN" altLang="en-US" sz="120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实现用户增长</a:t>
            </a:r>
            <a:endParaRPr kumimoji="0" lang="zh-CN" altLang="en-US" sz="120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6" name="Object 5" descr="preencoded.png"/>
          <p:cNvSpPr/>
          <p:nvPr/>
        </p:nvSpPr>
        <p:spPr>
          <a:xfrm>
            <a:off x="9537065" y="3884295"/>
            <a:ext cx="1197610" cy="575310"/>
          </a:xfrm>
          <a:prstGeom prst="roundRect">
            <a:avLst/>
          </a:prstGeom>
          <a:solidFill>
            <a:schemeClr val="accent1"/>
          </a:solidFill>
          <a:ln w="762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7" name="Object26"/>
          <p:cNvSpPr/>
          <p:nvPr/>
        </p:nvSpPr>
        <p:spPr>
          <a:xfrm>
            <a:off x="9674225" y="3928110"/>
            <a:ext cx="923290" cy="471170"/>
          </a:xfrm>
          <a:prstGeom prst="rect">
            <a:avLst/>
          </a:prstGeom>
          <a:noFill/>
        </p:spPr>
        <p:txBody>
          <a:bodyPr wrap="none" lIns="0" tIns="0" rIns="0" bIns="0" rtlCol="0" anchor="t">
            <a:spAutoFit/>
          </a:bodyPr>
          <a:lstStyle/>
          <a:p>
            <a:pPr marL="0" marR="0" lvl="0" indent="0" algn="ctr" defTabSz="731520" rtl="0" eaLnBrk="1" fontAlgn="auto" latinLnBrk="0" hangingPunct="1">
              <a:lnSpc>
                <a:spcPts val="1920"/>
              </a:lnSpc>
              <a:spcBef>
                <a:spcPts val="0"/>
              </a:spcBef>
              <a:spcAft>
                <a:spcPts val="0"/>
              </a:spcAft>
              <a:buClrTx/>
              <a:buSzTx/>
              <a:buFontTx/>
              <a:buNone/>
              <a:defRPr/>
            </a:pPr>
            <a:r>
              <a:rPr kumimoji="0" lang="zh-CN" altLang="en-US" sz="120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线上营销</a:t>
            </a:r>
            <a:endParaRPr kumimoji="0" lang="en-US" altLang="zh-CN" sz="120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marR="0" lvl="0" indent="0" algn="ctr" defTabSz="731520" rtl="0" eaLnBrk="1" fontAlgn="auto" latinLnBrk="0" hangingPunct="1">
              <a:lnSpc>
                <a:spcPts val="1920"/>
              </a:lnSpc>
              <a:spcBef>
                <a:spcPts val="0"/>
              </a:spcBef>
              <a:spcAft>
                <a:spcPts val="0"/>
              </a:spcAft>
              <a:buClrTx/>
              <a:buSzTx/>
              <a:buFontTx/>
              <a:buNone/>
              <a:defRPr/>
            </a:pPr>
            <a:r>
              <a:rPr kumimoji="0" lang="zh-CN" altLang="en-US" sz="120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实现用户增长</a:t>
            </a:r>
            <a:endParaRPr kumimoji="0" lang="zh-CN" altLang="en-US" sz="120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8" name="文本框 147"/>
          <p:cNvSpPr txBox="1"/>
          <p:nvPr/>
        </p:nvSpPr>
        <p:spPr>
          <a:xfrm>
            <a:off x="10864831" y="4153275"/>
            <a:ext cx="827151" cy="245965"/>
          </a:xfrm>
          <a:prstGeom prst="rect">
            <a:avLst/>
          </a:prstGeom>
          <a:noFill/>
        </p:spPr>
        <p:txBody>
          <a:bodyPr wrap="none" lIns="0" tIns="0" rIns="0" bIns="0" rtlCol="0">
            <a:spAutoFit/>
          </a:bodyPr>
          <a:lstStyle/>
          <a:p>
            <a:pPr algn="ctr">
              <a:lnSpc>
                <a:spcPct val="120000"/>
              </a:lnSpc>
            </a:pPr>
            <a:r>
              <a:rPr lang="zh-CN" altLang="en-US" sz="1400" dirty="0">
                <a:solidFill>
                  <a:schemeClr val="accent1"/>
                </a:solidFill>
                <a:latin typeface="微软雅黑" panose="020B0503020204020204" charset="-122"/>
                <a:ea typeface="微软雅黑" panose="020B0503020204020204" charset="-122"/>
                <a:cs typeface="微软雅黑" panose="020B0503020204020204" charset="-122"/>
              </a:rPr>
              <a:t>内推</a:t>
            </a:r>
            <a:r>
              <a:rPr lang="en-US" altLang="zh-CN" sz="1400" dirty="0">
                <a:solidFill>
                  <a:schemeClr val="accent1"/>
                </a:solidFill>
                <a:latin typeface="微软雅黑" panose="020B0503020204020204" charset="-122"/>
                <a:ea typeface="微软雅黑" panose="020B0503020204020204" charset="-122"/>
                <a:cs typeface="微软雅黑" panose="020B0503020204020204" charset="-122"/>
              </a:rPr>
              <a:t>+</a:t>
            </a:r>
            <a:r>
              <a:rPr lang="zh-CN" altLang="en-US" sz="1400" dirty="0">
                <a:solidFill>
                  <a:schemeClr val="accent1"/>
                </a:solidFill>
                <a:latin typeface="微软雅黑" panose="020B0503020204020204" charset="-122"/>
                <a:ea typeface="微软雅黑" panose="020B0503020204020204" charset="-122"/>
                <a:cs typeface="微软雅黑" panose="020B0503020204020204" charset="-122"/>
              </a:rPr>
              <a:t>口碑</a:t>
            </a:r>
            <a:endParaRPr lang="zh-CN" altLang="en-US" sz="140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49" name="右大括号 148"/>
          <p:cNvSpPr/>
          <p:nvPr/>
        </p:nvSpPr>
        <p:spPr>
          <a:xfrm rot="16200000" flipV="1">
            <a:off x="3511561" y="1858742"/>
            <a:ext cx="136248" cy="1356188"/>
          </a:xfrm>
          <a:prstGeom prst="rightBrace">
            <a:avLst>
              <a:gd name="adj1" fmla="val 45711"/>
              <a:gd name="adj2" fmla="val 50244"/>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cxnSp>
        <p:nvCxnSpPr>
          <p:cNvPr id="151" name="直接连接符 150"/>
          <p:cNvCxnSpPr>
            <a:stCxn id="149" idx="1"/>
          </p:cNvCxnSpPr>
          <p:nvPr/>
        </p:nvCxnSpPr>
        <p:spPr>
          <a:xfrm flipV="1">
            <a:off x="3576320" y="1911985"/>
            <a:ext cx="2540" cy="556260"/>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155" name="任意多边形: 形状 82"/>
          <p:cNvSpPr/>
          <p:nvPr/>
        </p:nvSpPr>
        <p:spPr>
          <a:xfrm rot="16200000">
            <a:off x="3646170" y="1649095"/>
            <a:ext cx="149860" cy="127000"/>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latin typeface="微软雅黑" panose="020B0503020204020204" charset="-122"/>
              <a:ea typeface="微软雅黑" panose="020B0503020204020204" charset="-122"/>
              <a:cs typeface="微软雅黑" panose="020B0503020204020204" charset="-122"/>
            </a:endParaRPr>
          </a:p>
        </p:txBody>
      </p:sp>
      <p:sp>
        <p:nvSpPr>
          <p:cNvPr id="157" name="任意多边形: 形状 84"/>
          <p:cNvSpPr/>
          <p:nvPr/>
        </p:nvSpPr>
        <p:spPr>
          <a:xfrm rot="16200000">
            <a:off x="8397240" y="1649095"/>
            <a:ext cx="149860" cy="127000"/>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latin typeface="微软雅黑" panose="020B0503020204020204" charset="-122"/>
              <a:ea typeface="微软雅黑" panose="020B0503020204020204" charset="-122"/>
              <a:cs typeface="微软雅黑" panose="020B0503020204020204" charset="-122"/>
            </a:endParaRPr>
          </a:p>
        </p:txBody>
      </p:sp>
      <p:sp>
        <p:nvSpPr>
          <p:cNvPr id="165" name="矩形: 圆角 92"/>
          <p:cNvSpPr/>
          <p:nvPr/>
        </p:nvSpPr>
        <p:spPr>
          <a:xfrm>
            <a:off x="882266" y="4878582"/>
            <a:ext cx="10396140" cy="1531341"/>
          </a:xfrm>
          <a:prstGeom prst="roundRect">
            <a:avLst>
              <a:gd name="adj" fmla="val 3817"/>
            </a:avLst>
          </a:prstGeom>
          <a:solidFill>
            <a:schemeClr val="accent5">
              <a:lumMod val="20000"/>
              <a:lumOff val="80000"/>
              <a:alpha val="20000"/>
            </a:schemeClr>
          </a:solidFill>
          <a:ln>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grpSp>
        <p:nvGrpSpPr>
          <p:cNvPr id="166" name="组合 165"/>
          <p:cNvGrpSpPr/>
          <p:nvPr/>
        </p:nvGrpSpPr>
        <p:grpSpPr>
          <a:xfrm>
            <a:off x="1493866" y="5165988"/>
            <a:ext cx="9366648" cy="983647"/>
            <a:chOff x="1114878" y="5165988"/>
            <a:chExt cx="9366648" cy="983647"/>
          </a:xfrm>
        </p:grpSpPr>
        <p:grpSp>
          <p:nvGrpSpPr>
            <p:cNvPr id="167" name="组合 166"/>
            <p:cNvGrpSpPr/>
            <p:nvPr/>
          </p:nvGrpSpPr>
          <p:grpSpPr>
            <a:xfrm>
              <a:off x="2518797" y="5165988"/>
              <a:ext cx="7962729" cy="983647"/>
              <a:chOff x="2518797" y="5165988"/>
              <a:chExt cx="7962729" cy="983647"/>
            </a:xfrm>
          </p:grpSpPr>
          <p:sp>
            <p:nvSpPr>
              <p:cNvPr id="168" name="文本框 167"/>
              <p:cNvSpPr txBox="1"/>
              <p:nvPr/>
            </p:nvSpPr>
            <p:spPr>
              <a:xfrm>
                <a:off x="2518797" y="5552805"/>
                <a:ext cx="7962729" cy="596830"/>
              </a:xfrm>
              <a:prstGeom prst="rect">
                <a:avLst/>
              </a:prstGeom>
              <a:noFill/>
            </p:spPr>
            <p:txBody>
              <a:bodyPr wrap="square">
                <a:spAutoFit/>
              </a:bodyPr>
              <a:lstStyle/>
              <a:p>
                <a:pPr algn="just">
                  <a:lnSpc>
                    <a:spcPct val="120000"/>
                  </a:lnSpc>
                </a:pPr>
                <a:r>
                  <a:rPr lang="zh-CN" altLang="en-US" sz="1400" dirty="0">
                    <a:solidFill>
                      <a:schemeClr val="tx2"/>
                    </a:solidFill>
                    <a:latin typeface="微软雅黑" panose="020B0503020204020204" charset="-122"/>
                    <a:ea typeface="微软雅黑" panose="020B0503020204020204" charset="-122"/>
                    <a:cs typeface="微软雅黑" panose="020B0503020204020204" charset="-122"/>
                  </a:rPr>
                  <a:t>包含官网建设、搜索引擎优化、软文营销等线上营销工作。包括合作伙伴会、新品发布会、技术培训会等线下营销工作，进行部门岗位架构优化调整，明确各岗位分工，协调作战。</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9" name="文本框 168"/>
              <p:cNvSpPr txBox="1"/>
              <p:nvPr/>
            </p:nvSpPr>
            <p:spPr>
              <a:xfrm>
                <a:off x="2518797" y="5165988"/>
                <a:ext cx="3071354" cy="307777"/>
              </a:xfrm>
              <a:prstGeom prst="rect">
                <a:avLst/>
              </a:prstGeom>
              <a:noFill/>
            </p:spPr>
            <p:txBody>
              <a:bodyPr wrap="none" lIns="0" tIns="0" rIns="0" bIns="0">
                <a:spAutoFit/>
              </a:bodyPr>
              <a:lstStyle/>
              <a:p>
                <a:r>
                  <a:rPr lang="zh-CN" altLang="en-US" sz="2000" b="1" dirty="0">
                    <a:solidFill>
                      <a:schemeClr val="accent5"/>
                    </a:solidFill>
                    <a:latin typeface="微软雅黑" panose="020B0503020204020204" charset="-122"/>
                    <a:ea typeface="微软雅黑" panose="020B0503020204020204" charset="-122"/>
                    <a:cs typeface="微软雅黑" panose="020B0503020204020204" charset="-122"/>
                  </a:rPr>
                  <a:t>“线上营销，提升效率质量”</a:t>
                </a:r>
                <a:endParaRPr lang="zh-CN" altLang="en-US" sz="2000" b="1" dirty="0">
                  <a:solidFill>
                    <a:schemeClr val="accent5"/>
                  </a:solidFill>
                  <a:latin typeface="微软雅黑" panose="020B0503020204020204" charset="-122"/>
                  <a:ea typeface="微软雅黑" panose="020B0503020204020204" charset="-122"/>
                  <a:cs typeface="微软雅黑" panose="020B0503020204020204" charset="-122"/>
                </a:endParaRPr>
              </a:p>
            </p:txBody>
          </p:sp>
        </p:grpSp>
        <p:grpSp>
          <p:nvGrpSpPr>
            <p:cNvPr id="170" name="组合 169"/>
            <p:cNvGrpSpPr/>
            <p:nvPr/>
          </p:nvGrpSpPr>
          <p:grpSpPr>
            <a:xfrm>
              <a:off x="1114878" y="5168890"/>
              <a:ext cx="975542" cy="976368"/>
              <a:chOff x="1114878" y="5100350"/>
              <a:chExt cx="975542" cy="976368"/>
            </a:xfrm>
          </p:grpSpPr>
          <p:sp>
            <p:nvSpPr>
              <p:cNvPr id="171" name="Object 5" descr="preencoded.png"/>
              <p:cNvSpPr/>
              <p:nvPr/>
            </p:nvSpPr>
            <p:spPr>
              <a:xfrm>
                <a:off x="1114878" y="5100350"/>
                <a:ext cx="975542" cy="976368"/>
              </a:xfrm>
              <a:prstGeom prst="ellipse">
                <a:avLst/>
              </a:prstGeom>
              <a:solidFill>
                <a:schemeClr val="accent5"/>
              </a:solidFill>
              <a:ln w="762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172" name="图形 9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4150" y="5294557"/>
                <a:ext cx="530116" cy="510232"/>
              </a:xfrm>
              <a:prstGeom prst="rect">
                <a:avLst/>
              </a:prstGeom>
            </p:spPr>
          </p:pic>
        </p:grpSp>
      </p:grpSp>
      <p:cxnSp>
        <p:nvCxnSpPr>
          <p:cNvPr id="179" name="直接连接符 178"/>
          <p:cNvCxnSpPr/>
          <p:nvPr/>
        </p:nvCxnSpPr>
        <p:spPr>
          <a:xfrm flipV="1">
            <a:off x="6167755" y="1844675"/>
            <a:ext cx="0" cy="759460"/>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5" name="直接连接符 184"/>
          <p:cNvCxnSpPr>
            <a:stCxn id="98" idx="0"/>
          </p:cNvCxnSpPr>
          <p:nvPr/>
        </p:nvCxnSpPr>
        <p:spPr>
          <a:xfrm flipV="1">
            <a:off x="8780145" y="1845310"/>
            <a:ext cx="0" cy="756285"/>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圆角矩形 27+"/>
          <p:cNvSpPr/>
          <p:nvPr/>
        </p:nvSpPr>
        <p:spPr>
          <a:xfrm>
            <a:off x="3032497" y="1504586"/>
            <a:ext cx="1046480" cy="340995"/>
          </a:xfrm>
          <a:prstGeom prst="roundRect">
            <a:avLst>
              <a:gd name="adj" fmla="val 50000"/>
            </a:avLst>
          </a:pr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rgbClr val="FFFFFF"/>
                </a:solidFill>
                <a:latin typeface="微软雅黑" panose="020B0503020204020204" charset="-122"/>
                <a:ea typeface="微软雅黑" panose="020B0503020204020204" charset="-122"/>
                <a:cs typeface="微软雅黑" panose="020B0503020204020204" charset="-122"/>
                <a:sym typeface="+mn-lt"/>
              </a:rPr>
              <a:t>3-4</a:t>
            </a:r>
            <a:r>
              <a:rPr lang="zh-CN" altLang="en-US" sz="1400" dirty="0">
                <a:solidFill>
                  <a:srgbClr val="FFFFFF"/>
                </a:solidFill>
                <a:latin typeface="微软雅黑" panose="020B0503020204020204" charset="-122"/>
                <a:ea typeface="微软雅黑" panose="020B0503020204020204" charset="-122"/>
                <a:cs typeface="微软雅黑" panose="020B0503020204020204" charset="-122"/>
                <a:sym typeface="+mn-lt"/>
              </a:rPr>
              <a:t>月</a:t>
            </a:r>
            <a:endParaRPr lang="zh-CN" altLang="en-US" sz="1400" dirty="0">
              <a:solidFill>
                <a:srgbClr val="FFFFFF"/>
              </a:solidFill>
              <a:latin typeface="微软雅黑" panose="020B0503020204020204" charset="-122"/>
              <a:ea typeface="微软雅黑" panose="020B0503020204020204" charset="-122"/>
              <a:cs typeface="微软雅黑" panose="020B0503020204020204" charset="-122"/>
              <a:sym typeface="+mn-lt"/>
            </a:endParaRPr>
          </a:p>
        </p:txBody>
      </p:sp>
      <p:sp>
        <p:nvSpPr>
          <p:cNvPr id="13" name="圆角矩形 27+"/>
          <p:cNvSpPr/>
          <p:nvPr/>
        </p:nvSpPr>
        <p:spPr>
          <a:xfrm>
            <a:off x="4333612" y="1504586"/>
            <a:ext cx="1046480" cy="340995"/>
          </a:xfrm>
          <a:prstGeom prst="roundRect">
            <a:avLst>
              <a:gd name="adj" fmla="val 50000"/>
            </a:avLst>
          </a:pr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rgbClr val="FFFFFF"/>
                </a:solidFill>
                <a:latin typeface="微软雅黑" panose="020B0503020204020204" charset="-122"/>
                <a:ea typeface="微软雅黑" panose="020B0503020204020204" charset="-122"/>
                <a:cs typeface="微软雅黑" panose="020B0503020204020204" charset="-122"/>
                <a:sym typeface="+mn-lt"/>
              </a:rPr>
              <a:t>5-6</a:t>
            </a:r>
            <a:r>
              <a:rPr lang="zh-CN" altLang="en-US" sz="1400" dirty="0">
                <a:solidFill>
                  <a:srgbClr val="FFFFFF"/>
                </a:solidFill>
                <a:latin typeface="微软雅黑" panose="020B0503020204020204" charset="-122"/>
                <a:ea typeface="微软雅黑" panose="020B0503020204020204" charset="-122"/>
                <a:cs typeface="微软雅黑" panose="020B0503020204020204" charset="-122"/>
                <a:sym typeface="+mn-lt"/>
              </a:rPr>
              <a:t>月</a:t>
            </a:r>
            <a:endParaRPr lang="zh-CN" altLang="en-US" sz="1400" dirty="0">
              <a:solidFill>
                <a:srgbClr val="FFFFFF"/>
              </a:solidFill>
              <a:latin typeface="微软雅黑" panose="020B0503020204020204" charset="-122"/>
              <a:ea typeface="微软雅黑" panose="020B0503020204020204" charset="-122"/>
              <a:cs typeface="微软雅黑" panose="020B0503020204020204" charset="-122"/>
              <a:sym typeface="+mn-lt"/>
            </a:endParaRPr>
          </a:p>
        </p:txBody>
      </p:sp>
      <p:sp>
        <p:nvSpPr>
          <p:cNvPr id="15" name="圆角矩形 27+"/>
          <p:cNvSpPr/>
          <p:nvPr/>
        </p:nvSpPr>
        <p:spPr>
          <a:xfrm>
            <a:off x="5647690" y="1504586"/>
            <a:ext cx="1046480" cy="340995"/>
          </a:xfrm>
          <a:prstGeom prst="roundRect">
            <a:avLst>
              <a:gd name="adj" fmla="val 50000"/>
            </a:avLst>
          </a:pr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rgbClr val="FFFFFF"/>
                </a:solidFill>
                <a:latin typeface="微软雅黑" panose="020B0503020204020204" charset="-122"/>
                <a:ea typeface="微软雅黑" panose="020B0503020204020204" charset="-122"/>
                <a:cs typeface="微软雅黑" panose="020B0503020204020204" charset="-122"/>
                <a:sym typeface="+mn-lt"/>
              </a:rPr>
              <a:t>7-8</a:t>
            </a:r>
            <a:r>
              <a:rPr lang="zh-CN" altLang="en-US" sz="1400" dirty="0">
                <a:solidFill>
                  <a:srgbClr val="FFFFFF"/>
                </a:solidFill>
                <a:latin typeface="微软雅黑" panose="020B0503020204020204" charset="-122"/>
                <a:ea typeface="微软雅黑" panose="020B0503020204020204" charset="-122"/>
                <a:cs typeface="微软雅黑" panose="020B0503020204020204" charset="-122"/>
                <a:sym typeface="+mn-lt"/>
              </a:rPr>
              <a:t>月</a:t>
            </a:r>
            <a:endParaRPr lang="zh-CN" altLang="en-US" sz="1400" dirty="0">
              <a:solidFill>
                <a:srgbClr val="FFFFFF"/>
              </a:solidFill>
              <a:latin typeface="微软雅黑" panose="020B0503020204020204" charset="-122"/>
              <a:ea typeface="微软雅黑" panose="020B0503020204020204" charset="-122"/>
              <a:cs typeface="微软雅黑" panose="020B0503020204020204" charset="-122"/>
              <a:sym typeface="+mn-lt"/>
            </a:endParaRPr>
          </a:p>
        </p:txBody>
      </p:sp>
      <p:sp>
        <p:nvSpPr>
          <p:cNvPr id="17" name="圆角矩形 27+"/>
          <p:cNvSpPr/>
          <p:nvPr/>
        </p:nvSpPr>
        <p:spPr>
          <a:xfrm>
            <a:off x="6935842" y="1504586"/>
            <a:ext cx="1046480" cy="340995"/>
          </a:xfrm>
          <a:prstGeom prst="roundRect">
            <a:avLst>
              <a:gd name="adj" fmla="val 50000"/>
            </a:avLst>
          </a:pr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rgbClr val="FFFFFF"/>
                </a:solidFill>
                <a:latin typeface="微软雅黑" panose="020B0503020204020204" charset="-122"/>
                <a:ea typeface="微软雅黑" panose="020B0503020204020204" charset="-122"/>
                <a:cs typeface="微软雅黑" panose="020B0503020204020204" charset="-122"/>
                <a:sym typeface="+mn-lt"/>
              </a:rPr>
              <a:t>8-9</a:t>
            </a:r>
            <a:r>
              <a:rPr lang="zh-CN" altLang="en-US" sz="1400" dirty="0">
                <a:solidFill>
                  <a:srgbClr val="FFFFFF"/>
                </a:solidFill>
                <a:latin typeface="微软雅黑" panose="020B0503020204020204" charset="-122"/>
                <a:ea typeface="微软雅黑" panose="020B0503020204020204" charset="-122"/>
                <a:cs typeface="微软雅黑" panose="020B0503020204020204" charset="-122"/>
                <a:sym typeface="+mn-lt"/>
              </a:rPr>
              <a:t>月</a:t>
            </a:r>
            <a:endParaRPr lang="zh-CN" altLang="en-US" sz="1400" dirty="0">
              <a:solidFill>
                <a:srgbClr val="FFFFFF"/>
              </a:solidFill>
              <a:latin typeface="微软雅黑" panose="020B0503020204020204" charset="-122"/>
              <a:ea typeface="微软雅黑" panose="020B0503020204020204" charset="-122"/>
              <a:cs typeface="微软雅黑" panose="020B0503020204020204" charset="-122"/>
              <a:sym typeface="+mn-lt"/>
            </a:endParaRPr>
          </a:p>
        </p:txBody>
      </p:sp>
      <p:sp>
        <p:nvSpPr>
          <p:cNvPr id="19" name="圆角矩形 27+"/>
          <p:cNvSpPr/>
          <p:nvPr/>
        </p:nvSpPr>
        <p:spPr>
          <a:xfrm>
            <a:off x="8236957" y="1504586"/>
            <a:ext cx="1046480" cy="340995"/>
          </a:xfrm>
          <a:prstGeom prst="roundRect">
            <a:avLst>
              <a:gd name="adj" fmla="val 50000"/>
            </a:avLst>
          </a:pr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rgbClr val="FFFFFF"/>
                </a:solidFill>
                <a:latin typeface="微软雅黑" panose="020B0503020204020204" charset="-122"/>
                <a:ea typeface="微软雅黑" panose="020B0503020204020204" charset="-122"/>
                <a:cs typeface="微软雅黑" panose="020B0503020204020204" charset="-122"/>
                <a:sym typeface="+mn-lt"/>
              </a:rPr>
              <a:t>10-11</a:t>
            </a:r>
            <a:r>
              <a:rPr lang="zh-CN" altLang="en-US" sz="1400" dirty="0">
                <a:solidFill>
                  <a:srgbClr val="FFFFFF"/>
                </a:solidFill>
                <a:latin typeface="微软雅黑" panose="020B0503020204020204" charset="-122"/>
                <a:ea typeface="微软雅黑" panose="020B0503020204020204" charset="-122"/>
                <a:cs typeface="微软雅黑" panose="020B0503020204020204" charset="-122"/>
                <a:sym typeface="+mn-lt"/>
              </a:rPr>
              <a:t>月</a:t>
            </a:r>
            <a:endParaRPr lang="zh-CN" altLang="en-US" sz="1400" dirty="0">
              <a:solidFill>
                <a:srgbClr val="FFFFFF"/>
              </a:solidFill>
              <a:latin typeface="微软雅黑" panose="020B0503020204020204" charset="-122"/>
              <a:ea typeface="微软雅黑" panose="020B0503020204020204" charset="-122"/>
              <a:cs typeface="微软雅黑" panose="020B0503020204020204" charset="-122"/>
              <a:sym typeface="+mn-lt"/>
            </a:endParaRPr>
          </a:p>
        </p:txBody>
      </p:sp>
      <p:sp>
        <p:nvSpPr>
          <p:cNvPr id="23" name="圆角矩形 27+"/>
          <p:cNvSpPr/>
          <p:nvPr/>
        </p:nvSpPr>
        <p:spPr>
          <a:xfrm>
            <a:off x="9538072" y="1504586"/>
            <a:ext cx="1046480" cy="340995"/>
          </a:xfrm>
          <a:prstGeom prst="roundRect">
            <a:avLst>
              <a:gd name="adj" fmla="val 50000"/>
            </a:avLst>
          </a:pr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rgbClr val="FFFFFF"/>
                </a:solidFill>
                <a:latin typeface="微软雅黑" panose="020B0503020204020204" charset="-122"/>
                <a:ea typeface="微软雅黑" panose="020B0503020204020204" charset="-122"/>
                <a:cs typeface="微软雅黑" panose="020B0503020204020204" charset="-122"/>
                <a:sym typeface="+mn-lt"/>
              </a:rPr>
              <a:t>11-12</a:t>
            </a:r>
            <a:r>
              <a:rPr lang="zh-CN" altLang="en-US" sz="1400" dirty="0">
                <a:solidFill>
                  <a:srgbClr val="FFFFFF"/>
                </a:solidFill>
                <a:latin typeface="微软雅黑" panose="020B0503020204020204" charset="-122"/>
                <a:ea typeface="微软雅黑" panose="020B0503020204020204" charset="-122"/>
                <a:cs typeface="微软雅黑" panose="020B0503020204020204" charset="-122"/>
                <a:sym typeface="+mn-lt"/>
              </a:rPr>
              <a:t>月</a:t>
            </a:r>
            <a:endParaRPr lang="zh-CN" altLang="en-US" sz="1400" dirty="0">
              <a:solidFill>
                <a:srgbClr val="FFFFFF"/>
              </a:solidFill>
              <a:latin typeface="微软雅黑" panose="020B0503020204020204" charset="-122"/>
              <a:ea typeface="微软雅黑" panose="020B0503020204020204" charset="-122"/>
              <a:cs typeface="微软雅黑" panose="020B0503020204020204" charset="-122"/>
              <a:sym typeface="+mn-lt"/>
            </a:endParaRPr>
          </a:p>
        </p:txBody>
      </p:sp>
      <p:sp>
        <p:nvSpPr>
          <p:cNvPr id="24" name="椭圆 23"/>
          <p:cNvSpPr/>
          <p:nvPr/>
        </p:nvSpPr>
        <p:spPr>
          <a:xfrm>
            <a:off x="2218055" y="3092450"/>
            <a:ext cx="54000" cy="54000"/>
          </a:xfrm>
          <a:prstGeom prst="ellipse">
            <a:avLst/>
          </a:prstGeom>
          <a:solidFill>
            <a:schemeClr val="bg1"/>
          </a:solidFill>
          <a:ln>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25" name="椭圆 24"/>
          <p:cNvSpPr/>
          <p:nvPr/>
        </p:nvSpPr>
        <p:spPr>
          <a:xfrm>
            <a:off x="2879090" y="2585720"/>
            <a:ext cx="54000" cy="54000"/>
          </a:xfrm>
          <a:prstGeom prst="ellipse">
            <a:avLst/>
          </a:prstGeom>
          <a:solidFill>
            <a:schemeClr val="bg1"/>
          </a:solidFill>
          <a:ln>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26" name="椭圆 25"/>
          <p:cNvSpPr/>
          <p:nvPr/>
        </p:nvSpPr>
        <p:spPr>
          <a:xfrm>
            <a:off x="4232275" y="2601595"/>
            <a:ext cx="54000" cy="54000"/>
          </a:xfrm>
          <a:prstGeom prst="ellipse">
            <a:avLst/>
          </a:prstGeom>
          <a:solidFill>
            <a:schemeClr val="bg1"/>
          </a:solidFill>
          <a:ln>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27" name="椭圆 26"/>
          <p:cNvSpPr/>
          <p:nvPr/>
        </p:nvSpPr>
        <p:spPr>
          <a:xfrm>
            <a:off x="4831715" y="3127375"/>
            <a:ext cx="54000" cy="54000"/>
          </a:xfrm>
          <a:prstGeom prst="ellipse">
            <a:avLst/>
          </a:prstGeom>
          <a:solidFill>
            <a:schemeClr val="bg1"/>
          </a:solidFill>
          <a:ln>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28" name="椭圆 27"/>
          <p:cNvSpPr/>
          <p:nvPr/>
        </p:nvSpPr>
        <p:spPr>
          <a:xfrm>
            <a:off x="6143930" y="2568575"/>
            <a:ext cx="54000" cy="54000"/>
          </a:xfrm>
          <a:prstGeom prst="ellipse">
            <a:avLst/>
          </a:prstGeom>
          <a:solidFill>
            <a:schemeClr val="bg1"/>
          </a:solidFill>
          <a:ln>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29" name="椭圆 28"/>
          <p:cNvSpPr/>
          <p:nvPr/>
        </p:nvSpPr>
        <p:spPr>
          <a:xfrm>
            <a:off x="7450455" y="3027680"/>
            <a:ext cx="54000" cy="54000"/>
          </a:xfrm>
          <a:prstGeom prst="ellipse">
            <a:avLst/>
          </a:prstGeom>
          <a:solidFill>
            <a:schemeClr val="bg1"/>
          </a:solidFill>
          <a:ln>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30" name="椭圆 29"/>
          <p:cNvSpPr/>
          <p:nvPr/>
        </p:nvSpPr>
        <p:spPr>
          <a:xfrm>
            <a:off x="8753475" y="2568575"/>
            <a:ext cx="54000" cy="54000"/>
          </a:xfrm>
          <a:prstGeom prst="ellipse">
            <a:avLst/>
          </a:prstGeom>
          <a:solidFill>
            <a:schemeClr val="bg1"/>
          </a:solidFill>
          <a:ln>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31" name="椭圆 30"/>
          <p:cNvSpPr/>
          <p:nvPr/>
        </p:nvSpPr>
        <p:spPr>
          <a:xfrm>
            <a:off x="10026015" y="3107690"/>
            <a:ext cx="54000" cy="54000"/>
          </a:xfrm>
          <a:prstGeom prst="ellipse">
            <a:avLst/>
          </a:prstGeom>
          <a:solidFill>
            <a:schemeClr val="bg1"/>
          </a:solidFill>
          <a:ln>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38" name="等腰三角形 37"/>
          <p:cNvSpPr/>
          <p:nvPr/>
        </p:nvSpPr>
        <p:spPr>
          <a:xfrm rot="5400000">
            <a:off x="1370330" y="1664335"/>
            <a:ext cx="137795" cy="109855"/>
          </a:xfrm>
          <a:prstGeom prst="triangl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39" name="等腰三角形 38"/>
          <p:cNvSpPr/>
          <p:nvPr/>
        </p:nvSpPr>
        <p:spPr>
          <a:xfrm rot="5400000">
            <a:off x="2865120" y="1661478"/>
            <a:ext cx="137795" cy="109855"/>
          </a:xfrm>
          <a:prstGeom prst="triangl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0" name="等腰三角形 39"/>
          <p:cNvSpPr/>
          <p:nvPr/>
        </p:nvSpPr>
        <p:spPr>
          <a:xfrm rot="5400000">
            <a:off x="4164965" y="1661478"/>
            <a:ext cx="137795" cy="109855"/>
          </a:xfrm>
          <a:prstGeom prst="triangl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1" name="等腰三角形 40"/>
          <p:cNvSpPr/>
          <p:nvPr/>
        </p:nvSpPr>
        <p:spPr>
          <a:xfrm rot="5400000">
            <a:off x="5464810" y="1661478"/>
            <a:ext cx="137795" cy="109855"/>
          </a:xfrm>
          <a:prstGeom prst="triangl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2" name="等腰三角形 41"/>
          <p:cNvSpPr/>
          <p:nvPr/>
        </p:nvSpPr>
        <p:spPr>
          <a:xfrm rot="5400000">
            <a:off x="6764655" y="1661478"/>
            <a:ext cx="137795" cy="109855"/>
          </a:xfrm>
          <a:prstGeom prst="triangl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3" name="等腰三角形 42"/>
          <p:cNvSpPr/>
          <p:nvPr/>
        </p:nvSpPr>
        <p:spPr>
          <a:xfrm rot="5400000">
            <a:off x="8064500" y="1661478"/>
            <a:ext cx="137795" cy="109855"/>
          </a:xfrm>
          <a:prstGeom prst="triangl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4" name="等腰三角形 43"/>
          <p:cNvSpPr/>
          <p:nvPr/>
        </p:nvSpPr>
        <p:spPr>
          <a:xfrm rot="5400000">
            <a:off x="9364345" y="1661478"/>
            <a:ext cx="137795" cy="109855"/>
          </a:xfrm>
          <a:prstGeom prst="triangl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5" name="等腰三角形 44"/>
          <p:cNvSpPr/>
          <p:nvPr/>
        </p:nvSpPr>
        <p:spPr>
          <a:xfrm rot="5400000">
            <a:off x="10741025" y="1661478"/>
            <a:ext cx="137795" cy="109855"/>
          </a:xfrm>
          <a:prstGeom prst="triangl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6" name="等腰三角形 45"/>
          <p:cNvSpPr/>
          <p:nvPr/>
        </p:nvSpPr>
        <p:spPr>
          <a:xfrm rot="16200000" flipH="1">
            <a:off x="2908935" y="4091305"/>
            <a:ext cx="137795" cy="109855"/>
          </a:xfrm>
          <a:prstGeom prst="triangle">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7" name="等腰三角形 46"/>
          <p:cNvSpPr/>
          <p:nvPr/>
        </p:nvSpPr>
        <p:spPr>
          <a:xfrm rot="16200000" flipH="1">
            <a:off x="4512310" y="4091305"/>
            <a:ext cx="137795" cy="109855"/>
          </a:xfrm>
          <a:prstGeom prst="triangle">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9" name="等腰三角形 48"/>
          <p:cNvSpPr/>
          <p:nvPr/>
        </p:nvSpPr>
        <p:spPr>
          <a:xfrm rot="16200000" flipH="1">
            <a:off x="6098540" y="4091305"/>
            <a:ext cx="137795" cy="109855"/>
          </a:xfrm>
          <a:prstGeom prst="triangle">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67" name="等腰三角形 66"/>
          <p:cNvSpPr/>
          <p:nvPr/>
        </p:nvSpPr>
        <p:spPr>
          <a:xfrm rot="16200000" flipH="1">
            <a:off x="7680325" y="4091305"/>
            <a:ext cx="137795" cy="109855"/>
          </a:xfrm>
          <a:prstGeom prst="triangle">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77" name="等腰三角形 76"/>
          <p:cNvSpPr/>
          <p:nvPr/>
        </p:nvSpPr>
        <p:spPr>
          <a:xfrm rot="16200000" flipH="1">
            <a:off x="6352540" y="4338320"/>
            <a:ext cx="137795" cy="109855"/>
          </a:xfrm>
          <a:prstGeom prst="triangle">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79" name="等腰三角形 78"/>
          <p:cNvSpPr/>
          <p:nvPr/>
        </p:nvSpPr>
        <p:spPr>
          <a:xfrm rot="16200000" flipH="1">
            <a:off x="9312275" y="4091305"/>
            <a:ext cx="137795" cy="109855"/>
          </a:xfrm>
          <a:prstGeom prst="triangle">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84" name="等腰三角形 83"/>
          <p:cNvSpPr/>
          <p:nvPr/>
        </p:nvSpPr>
        <p:spPr>
          <a:xfrm rot="10800000">
            <a:off x="11201400" y="3588385"/>
            <a:ext cx="137795" cy="109855"/>
          </a:xfrm>
          <a:prstGeom prst="triangle">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86" name="等腰三角形 85"/>
          <p:cNvSpPr/>
          <p:nvPr/>
        </p:nvSpPr>
        <p:spPr>
          <a:xfrm flipH="1">
            <a:off x="833120" y="3582035"/>
            <a:ext cx="137795" cy="109855"/>
          </a:xfrm>
          <a:prstGeom prst="triangle">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cxnSp>
        <p:nvCxnSpPr>
          <p:cNvPr id="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3" name="图片 2"/>
            <p:cNvPicPr>
              <a:picLocks noChangeAspect="1"/>
            </p:cNvPicPr>
            <p:nvPr userDrawn="1"/>
          </p:nvPicPr>
          <p:blipFill>
            <a:blip r:embed="rId5"/>
            <a:srcRect l="17002" t="-1765" r="56499" b="-1176"/>
            <a:stretch>
              <a:fillRect/>
            </a:stretch>
          </p:blipFill>
          <p:spPr>
            <a:xfrm>
              <a:off x="13761" y="549"/>
              <a:ext cx="1582" cy="525"/>
            </a:xfrm>
            <a:prstGeom prst="rect">
              <a:avLst/>
            </a:prstGeom>
          </p:spPr>
        </p:pic>
        <p:sp>
          <p:nvSpPr>
            <p:cNvPr id="11" name="文本框 10"/>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任意多边形 202"/>
          <p:cNvSpPr/>
          <p:nvPr/>
        </p:nvSpPr>
        <p:spPr>
          <a:xfrm>
            <a:off x="142240" y="2405698"/>
            <a:ext cx="11352848" cy="1308418"/>
          </a:xfrm>
          <a:custGeom>
            <a:avLst/>
            <a:gdLst/>
            <a:ahLst/>
            <a:cxnLst>
              <a:cxn ang="3">
                <a:pos x="hc" y="t"/>
              </a:cxn>
              <a:cxn ang="cd2">
                <a:pos x="l" y="vc"/>
              </a:cxn>
              <a:cxn ang="cd4">
                <a:pos x="hc" y="b"/>
              </a:cxn>
              <a:cxn ang="0">
                <a:pos x="r" y="vc"/>
              </a:cxn>
            </a:cxnLst>
            <a:rect l="l" t="t" r="r" b="b"/>
            <a:pathLst>
              <a:path w="17879" h="2061">
                <a:moveTo>
                  <a:pt x="0" y="1493"/>
                </a:moveTo>
                <a:lnTo>
                  <a:pt x="3653" y="1493"/>
                </a:lnTo>
                <a:lnTo>
                  <a:pt x="5006" y="230"/>
                </a:lnTo>
                <a:cubicBezTo>
                  <a:pt x="5024" y="213"/>
                  <a:pt x="5052" y="205"/>
                  <a:pt x="5071" y="205"/>
                </a:cubicBezTo>
                <a:cubicBezTo>
                  <a:pt x="5080" y="205"/>
                  <a:pt x="5095" y="208"/>
                  <a:pt x="5100" y="210"/>
                </a:cubicBezTo>
                <a:lnTo>
                  <a:pt x="5100" y="202"/>
                </a:lnTo>
                <a:lnTo>
                  <a:pt x="16948" y="202"/>
                </a:lnTo>
                <a:lnTo>
                  <a:pt x="16948" y="0"/>
                </a:lnTo>
                <a:lnTo>
                  <a:pt x="17879" y="485"/>
                </a:lnTo>
                <a:lnTo>
                  <a:pt x="16948" y="970"/>
                </a:lnTo>
                <a:lnTo>
                  <a:pt x="16948" y="770"/>
                </a:lnTo>
                <a:lnTo>
                  <a:pt x="5260" y="770"/>
                </a:lnTo>
                <a:lnTo>
                  <a:pt x="3913" y="2026"/>
                </a:lnTo>
                <a:cubicBezTo>
                  <a:pt x="3895" y="2043"/>
                  <a:pt x="3867" y="2051"/>
                  <a:pt x="3848" y="2051"/>
                </a:cubicBezTo>
                <a:lnTo>
                  <a:pt x="3846" y="2051"/>
                </a:lnTo>
                <a:lnTo>
                  <a:pt x="3845" y="2051"/>
                </a:lnTo>
                <a:lnTo>
                  <a:pt x="3845" y="2061"/>
                </a:lnTo>
                <a:lnTo>
                  <a:pt x="0" y="2061"/>
                </a:lnTo>
                <a:lnTo>
                  <a:pt x="0" y="1493"/>
                </a:lnTo>
                <a:close/>
              </a:path>
            </a:pathLst>
          </a:custGeom>
          <a:gradFill>
            <a:gsLst>
              <a:gs pos="0">
                <a:schemeClr val="accent1"/>
              </a:gs>
              <a:gs pos="10000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42" name="任意多边形 241"/>
          <p:cNvSpPr/>
          <p:nvPr/>
        </p:nvSpPr>
        <p:spPr>
          <a:xfrm flipV="1">
            <a:off x="146685" y="3706813"/>
            <a:ext cx="11352848" cy="1308418"/>
          </a:xfrm>
          <a:custGeom>
            <a:avLst/>
            <a:gdLst/>
            <a:ahLst/>
            <a:cxnLst>
              <a:cxn ang="3">
                <a:pos x="hc" y="t"/>
              </a:cxn>
              <a:cxn ang="cd2">
                <a:pos x="l" y="vc"/>
              </a:cxn>
              <a:cxn ang="cd4">
                <a:pos x="hc" y="b"/>
              </a:cxn>
              <a:cxn ang="0">
                <a:pos x="r" y="vc"/>
              </a:cxn>
            </a:cxnLst>
            <a:rect l="l" t="t" r="r" b="b"/>
            <a:pathLst>
              <a:path w="17879" h="2061">
                <a:moveTo>
                  <a:pt x="0" y="1493"/>
                </a:moveTo>
                <a:lnTo>
                  <a:pt x="3653" y="1493"/>
                </a:lnTo>
                <a:lnTo>
                  <a:pt x="5006" y="230"/>
                </a:lnTo>
                <a:cubicBezTo>
                  <a:pt x="5024" y="213"/>
                  <a:pt x="5052" y="205"/>
                  <a:pt x="5071" y="205"/>
                </a:cubicBezTo>
                <a:cubicBezTo>
                  <a:pt x="5080" y="205"/>
                  <a:pt x="5095" y="208"/>
                  <a:pt x="5100" y="210"/>
                </a:cubicBezTo>
                <a:lnTo>
                  <a:pt x="5100" y="202"/>
                </a:lnTo>
                <a:lnTo>
                  <a:pt x="16948" y="202"/>
                </a:lnTo>
                <a:lnTo>
                  <a:pt x="16948" y="0"/>
                </a:lnTo>
                <a:lnTo>
                  <a:pt x="17879" y="485"/>
                </a:lnTo>
                <a:lnTo>
                  <a:pt x="16948" y="970"/>
                </a:lnTo>
                <a:lnTo>
                  <a:pt x="16948" y="770"/>
                </a:lnTo>
                <a:lnTo>
                  <a:pt x="5260" y="770"/>
                </a:lnTo>
                <a:lnTo>
                  <a:pt x="3913" y="2026"/>
                </a:lnTo>
                <a:cubicBezTo>
                  <a:pt x="3895" y="2043"/>
                  <a:pt x="3867" y="2051"/>
                  <a:pt x="3848" y="2051"/>
                </a:cubicBezTo>
                <a:lnTo>
                  <a:pt x="3846" y="2051"/>
                </a:lnTo>
                <a:lnTo>
                  <a:pt x="3845" y="2051"/>
                </a:lnTo>
                <a:lnTo>
                  <a:pt x="3845" y="2061"/>
                </a:lnTo>
                <a:lnTo>
                  <a:pt x="0" y="2061"/>
                </a:lnTo>
                <a:lnTo>
                  <a:pt x="0" y="1493"/>
                </a:lnTo>
                <a:close/>
              </a:path>
            </a:pathLst>
          </a:custGeom>
          <a:gradFill>
            <a:gsLst>
              <a:gs pos="0">
                <a:schemeClr val="accent5"/>
              </a:gs>
              <a:gs pos="100000">
                <a:schemeClr val="accent5">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二拆时间</a:t>
            </a:r>
            <a:r>
              <a:rPr lang="en-US" altLang="zh-CN" sz="2500">
                <a:solidFill>
                  <a:schemeClr val="tx2"/>
                </a:solidFill>
                <a:effectLst/>
                <a:latin typeface="微软雅黑" panose="020B0503020204020204" charset="-122"/>
                <a:ea typeface="微软雅黑" panose="020B0503020204020204" charset="-122"/>
                <a:cs typeface="微软雅黑" panose="020B0503020204020204" charset="-122"/>
              </a:rPr>
              <a:t>/</a:t>
            </a:r>
            <a:r>
              <a:rPr sz="2500">
                <a:solidFill>
                  <a:schemeClr val="tx2"/>
                </a:solidFill>
                <a:effectLst/>
                <a:latin typeface="微软雅黑" panose="020B0503020204020204" charset="-122"/>
                <a:ea typeface="微软雅黑" panose="020B0503020204020204" charset="-122"/>
                <a:cs typeface="微软雅黑" panose="020B0503020204020204" charset="-122"/>
              </a:rPr>
              <a:t>项目</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轴</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cxnSp>
        <p:nvCxnSpPr>
          <p:cNvPr id="1673" name="Google Shape;1673;p34"/>
          <p:cNvCxnSpPr/>
          <p:nvPr/>
        </p:nvCxnSpPr>
        <p:spPr>
          <a:xfrm>
            <a:off x="3774440" y="1062355"/>
            <a:ext cx="0" cy="4161790"/>
          </a:xfrm>
          <a:prstGeom prst="straightConnector1">
            <a:avLst/>
          </a:prstGeom>
          <a:noFill/>
          <a:ln w="12700" cap="flat" cmpd="sng">
            <a:solidFill>
              <a:schemeClr val="accent6">
                <a:lumMod val="60000"/>
                <a:lumOff val="40000"/>
              </a:schemeClr>
            </a:solidFill>
            <a:prstDash val="dash"/>
            <a:miter lim="400000"/>
            <a:headEnd type="none" w="sm" len="sm"/>
            <a:tailEnd type="none" w="sm" len="sm"/>
          </a:ln>
        </p:spPr>
      </p:cxnSp>
      <p:cxnSp>
        <p:nvCxnSpPr>
          <p:cNvPr id="1674" name="Google Shape;1674;p34"/>
          <p:cNvCxnSpPr/>
          <p:nvPr/>
        </p:nvCxnSpPr>
        <p:spPr>
          <a:xfrm>
            <a:off x="5076190" y="1075690"/>
            <a:ext cx="0" cy="4148455"/>
          </a:xfrm>
          <a:prstGeom prst="straightConnector1">
            <a:avLst/>
          </a:prstGeom>
          <a:noFill/>
          <a:ln w="12700" cap="flat" cmpd="sng">
            <a:solidFill>
              <a:schemeClr val="accent6">
                <a:lumMod val="60000"/>
                <a:lumOff val="40000"/>
              </a:schemeClr>
            </a:solidFill>
            <a:prstDash val="dash"/>
            <a:miter lim="400000"/>
            <a:headEnd type="none" w="sm" len="sm"/>
            <a:tailEnd type="none" w="sm" len="sm"/>
          </a:ln>
        </p:spPr>
      </p:cxnSp>
      <p:cxnSp>
        <p:nvCxnSpPr>
          <p:cNvPr id="1675" name="Google Shape;1675;p34"/>
          <p:cNvCxnSpPr/>
          <p:nvPr/>
        </p:nvCxnSpPr>
        <p:spPr>
          <a:xfrm>
            <a:off x="6386195" y="996315"/>
            <a:ext cx="0" cy="4234815"/>
          </a:xfrm>
          <a:prstGeom prst="straightConnector1">
            <a:avLst/>
          </a:prstGeom>
          <a:noFill/>
          <a:ln w="12700" cap="flat" cmpd="sng">
            <a:solidFill>
              <a:schemeClr val="accent6">
                <a:lumMod val="60000"/>
                <a:lumOff val="40000"/>
              </a:schemeClr>
            </a:solidFill>
            <a:prstDash val="dash"/>
            <a:miter lim="400000"/>
            <a:headEnd type="none" w="sm" len="sm"/>
            <a:tailEnd type="none" w="sm" len="sm"/>
          </a:ln>
        </p:spPr>
      </p:cxnSp>
      <p:cxnSp>
        <p:nvCxnSpPr>
          <p:cNvPr id="1676" name="Google Shape;1676;p34"/>
          <p:cNvCxnSpPr/>
          <p:nvPr/>
        </p:nvCxnSpPr>
        <p:spPr>
          <a:xfrm>
            <a:off x="7681595" y="989330"/>
            <a:ext cx="0" cy="4255770"/>
          </a:xfrm>
          <a:prstGeom prst="straightConnector1">
            <a:avLst/>
          </a:prstGeom>
          <a:noFill/>
          <a:ln w="12700" cap="flat" cmpd="sng">
            <a:solidFill>
              <a:schemeClr val="accent6">
                <a:lumMod val="60000"/>
                <a:lumOff val="40000"/>
              </a:schemeClr>
            </a:solidFill>
            <a:prstDash val="dash"/>
            <a:miter lim="400000"/>
            <a:headEnd type="none" w="sm" len="sm"/>
            <a:tailEnd type="none" w="sm" len="sm"/>
          </a:ln>
        </p:spPr>
      </p:cxnSp>
      <p:cxnSp>
        <p:nvCxnSpPr>
          <p:cNvPr id="1677" name="Google Shape;1677;p34"/>
          <p:cNvCxnSpPr/>
          <p:nvPr/>
        </p:nvCxnSpPr>
        <p:spPr>
          <a:xfrm>
            <a:off x="8999855" y="1010920"/>
            <a:ext cx="0" cy="4268470"/>
          </a:xfrm>
          <a:prstGeom prst="straightConnector1">
            <a:avLst/>
          </a:prstGeom>
          <a:noFill/>
          <a:ln w="12700" cap="flat" cmpd="sng">
            <a:solidFill>
              <a:schemeClr val="accent6">
                <a:lumMod val="60000"/>
                <a:lumOff val="40000"/>
              </a:schemeClr>
            </a:solidFill>
            <a:prstDash val="dash"/>
            <a:miter lim="400000"/>
            <a:headEnd type="none" w="sm" len="sm"/>
            <a:tailEnd type="none" w="sm" len="sm"/>
          </a:ln>
        </p:spPr>
      </p:cxnSp>
      <p:cxnSp>
        <p:nvCxnSpPr>
          <p:cNvPr id="1678" name="Google Shape;1678;p34"/>
          <p:cNvCxnSpPr/>
          <p:nvPr/>
        </p:nvCxnSpPr>
        <p:spPr>
          <a:xfrm>
            <a:off x="10301605" y="1003300"/>
            <a:ext cx="0" cy="4290060"/>
          </a:xfrm>
          <a:prstGeom prst="straightConnector1">
            <a:avLst/>
          </a:prstGeom>
          <a:noFill/>
          <a:ln w="12700" cap="flat" cmpd="sng">
            <a:solidFill>
              <a:schemeClr val="accent6">
                <a:lumMod val="60000"/>
                <a:lumOff val="40000"/>
              </a:schemeClr>
            </a:solidFill>
            <a:prstDash val="dash"/>
            <a:miter lim="400000"/>
            <a:headEnd type="none" w="sm" len="sm"/>
            <a:tailEnd type="none" w="sm" len="sm"/>
          </a:ln>
        </p:spPr>
      </p:cxnSp>
      <p:sp>
        <p:nvSpPr>
          <p:cNvPr id="1680" name="Google Shape;1680;p34"/>
          <p:cNvSpPr txBox="1"/>
          <p:nvPr/>
        </p:nvSpPr>
        <p:spPr>
          <a:xfrm>
            <a:off x="3829050" y="3402965"/>
            <a:ext cx="1135380" cy="819785"/>
          </a:xfrm>
          <a:prstGeom prst="rect">
            <a:avLst/>
          </a:prstGeom>
          <a:noFill/>
          <a:ln>
            <a:noFill/>
          </a:ln>
        </p:spPr>
        <p:txBody>
          <a:bodyPr spcFirstLastPara="1" wrap="square" lIns="25400" tIns="25400" rIns="25400" bIns="25400" anchor="t" anchorCtr="0">
            <a:spAutoFit/>
          </a:bodyPr>
          <a:lstStyle/>
          <a:p>
            <a:pPr marL="0" marR="0" lvl="0" indent="0" algn="l" defTabSz="914400" rtl="0" eaLnBrk="1" fontAlgn="auto" latinLnBrk="0" hangingPunct="1">
              <a:lnSpc>
                <a:spcPct val="100000"/>
              </a:lnSpc>
              <a:spcBef>
                <a:spcPts val="0"/>
              </a:spcBef>
              <a:spcAft>
                <a:spcPts val="0"/>
              </a:spcAft>
              <a:buClr>
                <a:srgbClr val="44546A"/>
              </a:buClr>
              <a:buSzPts val="800"/>
              <a:buFontTx/>
              <a:buNone/>
              <a:defRPr/>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mn-ea"/>
              </a:rPr>
              <a:t>通过收集用户反馈和市场调研，了解用户真实需求和市场趋势，为优化方向提供依据。</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681" name="Google Shape;1681;p34"/>
          <p:cNvSpPr txBox="1"/>
          <p:nvPr/>
        </p:nvSpPr>
        <p:spPr>
          <a:xfrm>
            <a:off x="3832225" y="3138805"/>
            <a:ext cx="1119505" cy="234950"/>
          </a:xfrm>
          <a:prstGeom prst="rect">
            <a:avLst/>
          </a:prstGeom>
          <a:noFill/>
          <a:ln>
            <a:noFill/>
          </a:ln>
        </p:spPr>
        <p:txBody>
          <a:bodyPr spcFirstLastPara="1" wrap="square" lIns="25400" tIns="25400" rIns="25400" bIns="25400" anchor="t" anchorCtr="0">
            <a:spAutoFit/>
          </a:bodyPr>
          <a:lstStyle/>
          <a:p>
            <a:pPr marL="0" marR="0" lvl="0" indent="0" algn="l" defTabSz="914400" rtl="0" eaLnBrk="1" fontAlgn="auto" latinLnBrk="0" hangingPunct="1">
              <a:lnSpc>
                <a:spcPct val="100000"/>
              </a:lnSpc>
              <a:spcBef>
                <a:spcPts val="0"/>
              </a:spcBef>
              <a:spcAft>
                <a:spcPts val="0"/>
              </a:spcAft>
              <a:buClr>
                <a:prstClr val="black"/>
              </a:buClr>
              <a:buSzPts val="900"/>
              <a:buFontTx/>
              <a:buNone/>
              <a:defRPr/>
            </a:pPr>
            <a:r>
              <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需求分析</a:t>
            </a:r>
            <a:endPar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09" name="Google Shape;1709;p34"/>
          <p:cNvSpPr/>
          <p:nvPr/>
        </p:nvSpPr>
        <p:spPr>
          <a:xfrm>
            <a:off x="3528060" y="2001520"/>
            <a:ext cx="495935" cy="269875"/>
          </a:xfrm>
          <a:prstGeom prst="roundRect">
            <a:avLst>
              <a:gd name="adj" fmla="val 50000"/>
            </a:avLst>
          </a:prstGeom>
          <a:solidFill>
            <a:schemeClr val="accent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525455"/>
              </a:buClr>
              <a:buSzPts val="1100"/>
              <a:buFontTx/>
              <a:buNone/>
              <a:defRPr/>
            </a:pPr>
            <a:endParaRPr kumimoji="0" sz="1465"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10" name="Google Shape;1710;p34"/>
          <p:cNvSpPr/>
          <p:nvPr/>
        </p:nvSpPr>
        <p:spPr>
          <a:xfrm>
            <a:off x="3591560" y="2023745"/>
            <a:ext cx="369570" cy="193040"/>
          </a:xfrm>
          <a:custGeom>
            <a:avLst/>
            <a:gdLst/>
            <a:ahLst/>
            <a:cxnLst/>
            <a:rect l="l" t="t" r="r" b="b"/>
            <a:pathLst>
              <a:path w="21600" h="120000" extrusionOk="0">
                <a:moveTo>
                  <a:pt x="0" y="0"/>
                </a:moveTo>
                <a:lnTo>
                  <a:pt x="21600" y="0"/>
                </a:lnTo>
                <a:lnTo>
                  <a:pt x="21600" y="0"/>
                </a:lnTo>
                <a:lnTo>
                  <a:pt x="0" y="0"/>
                </a:lnTo>
                <a:close/>
              </a:path>
            </a:pathLst>
          </a:custGeom>
          <a:noFill/>
          <a:ln>
            <a:noFill/>
          </a:ln>
          <a:extLst>
            <a:ext uri="{909E8E84-426E-40DD-AFC4-6F175D3DCCD1}">
              <a14:hiddenFill xmlns:a14="http://schemas.microsoft.com/office/drawing/2010/main">
                <a:solidFill>
                  <a:schemeClr val="accent1"/>
                </a:solidFill>
              </a14:hiddenFill>
            </a:ext>
          </a:extLst>
        </p:spPr>
        <p:txBody>
          <a:bodyPr spcFirstLastPara="1" wrap="square" lIns="25400" tIns="25400" rIns="25400" bIns="25400" anchor="t" anchorCtr="0">
            <a:noAutofit/>
          </a:bodyPr>
          <a:lstStyle/>
          <a:p>
            <a:pPr marL="0" marR="0" lvl="0" indent="0" algn="ctr" defTabSz="914400" rtl="0" eaLnBrk="1" fontAlgn="auto" latinLnBrk="0" hangingPunct="1">
              <a:lnSpc>
                <a:spcPct val="100000"/>
              </a:lnSpc>
              <a:spcBef>
                <a:spcPts val="0"/>
              </a:spcBef>
              <a:spcAft>
                <a:spcPts val="0"/>
              </a:spcAft>
              <a:buClr>
                <a:prstClr val="white"/>
              </a:buClr>
              <a:buSzPts val="700"/>
              <a:buFontTx/>
              <a:buNone/>
              <a:defRPr/>
            </a:pPr>
            <a:r>
              <a:rPr kumimoji="0" lang="en-US" altLang="en-GB" sz="935"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01</a:t>
            </a:r>
            <a:endParaRPr kumimoji="0" lang="en-US" altLang="en-GB" sz="935"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12" name="Google Shape;1712;p34"/>
          <p:cNvSpPr/>
          <p:nvPr/>
        </p:nvSpPr>
        <p:spPr>
          <a:xfrm>
            <a:off x="4832985" y="2001520"/>
            <a:ext cx="495935" cy="269875"/>
          </a:xfrm>
          <a:prstGeom prst="roundRect">
            <a:avLst>
              <a:gd name="adj" fmla="val 50000"/>
            </a:avLst>
          </a:prstGeom>
          <a:solidFill>
            <a:schemeClr val="accent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525455"/>
              </a:buClr>
              <a:buSzPts val="1100"/>
              <a:buFontTx/>
              <a:buNone/>
              <a:defRPr/>
            </a:pPr>
            <a:endParaRPr kumimoji="0" sz="1465"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13" name="Google Shape;1713;p34"/>
          <p:cNvSpPr/>
          <p:nvPr/>
        </p:nvSpPr>
        <p:spPr>
          <a:xfrm>
            <a:off x="4896485" y="2023745"/>
            <a:ext cx="369570" cy="193040"/>
          </a:xfrm>
          <a:custGeom>
            <a:avLst/>
            <a:gdLst/>
            <a:ahLst/>
            <a:cxnLst/>
            <a:rect l="l" t="t" r="r" b="b"/>
            <a:pathLst>
              <a:path w="21600" h="120000" extrusionOk="0">
                <a:moveTo>
                  <a:pt x="0" y="0"/>
                </a:moveTo>
                <a:lnTo>
                  <a:pt x="21600" y="0"/>
                </a:lnTo>
                <a:lnTo>
                  <a:pt x="21600" y="0"/>
                </a:lnTo>
                <a:lnTo>
                  <a:pt x="0" y="0"/>
                </a:lnTo>
                <a:close/>
              </a:path>
            </a:pathLst>
          </a:custGeom>
          <a:noFill/>
          <a:ln>
            <a:noFill/>
          </a:ln>
          <a:extLst>
            <a:ext uri="{909E8E84-426E-40DD-AFC4-6F175D3DCCD1}">
              <a14:hiddenFill xmlns:a14="http://schemas.microsoft.com/office/drawing/2010/main">
                <a:solidFill>
                  <a:schemeClr val="accent1"/>
                </a:solidFill>
              </a14:hiddenFill>
            </a:ext>
          </a:extLst>
        </p:spPr>
        <p:txBody>
          <a:bodyPr spcFirstLastPara="1" wrap="square" lIns="25400" tIns="25400" rIns="25400" bIns="25400" anchor="t" anchorCtr="0">
            <a:noAutofit/>
          </a:bodyPr>
          <a:lstStyle/>
          <a:p>
            <a:pPr marL="0" marR="0" lvl="0" indent="0" algn="ctr" defTabSz="914400" rtl="0" eaLnBrk="1" fontAlgn="auto" latinLnBrk="0" hangingPunct="1">
              <a:lnSpc>
                <a:spcPct val="100000"/>
              </a:lnSpc>
              <a:spcBef>
                <a:spcPts val="0"/>
              </a:spcBef>
              <a:spcAft>
                <a:spcPts val="0"/>
              </a:spcAft>
              <a:buClr>
                <a:prstClr val="white"/>
              </a:buClr>
              <a:buSzPts val="700"/>
              <a:buFontTx/>
              <a:buNone/>
              <a:defRPr/>
            </a:pPr>
            <a:r>
              <a:rPr kumimoji="0" lang="en-US" altLang="en-GB" sz="935"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02</a:t>
            </a:r>
            <a:endParaRPr kumimoji="0" lang="en-US" altLang="en-GB" sz="935"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15" name="Google Shape;1715;p34"/>
          <p:cNvSpPr/>
          <p:nvPr/>
        </p:nvSpPr>
        <p:spPr>
          <a:xfrm>
            <a:off x="6138545" y="2001520"/>
            <a:ext cx="495935" cy="269875"/>
          </a:xfrm>
          <a:prstGeom prst="roundRect">
            <a:avLst>
              <a:gd name="adj" fmla="val 50000"/>
            </a:avLst>
          </a:prstGeom>
          <a:solidFill>
            <a:schemeClr val="accent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525455"/>
              </a:buClr>
              <a:buSzPts val="1100"/>
              <a:buFontTx/>
              <a:buNone/>
              <a:defRPr/>
            </a:pPr>
            <a:endParaRPr kumimoji="0" sz="1465"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16" name="Google Shape;1716;p34"/>
          <p:cNvSpPr/>
          <p:nvPr/>
        </p:nvSpPr>
        <p:spPr>
          <a:xfrm>
            <a:off x="6201410" y="2023745"/>
            <a:ext cx="369570" cy="193040"/>
          </a:xfrm>
          <a:custGeom>
            <a:avLst/>
            <a:gdLst/>
            <a:ahLst/>
            <a:cxnLst/>
            <a:rect l="l" t="t" r="r" b="b"/>
            <a:pathLst>
              <a:path w="21600" h="120000" extrusionOk="0">
                <a:moveTo>
                  <a:pt x="0" y="0"/>
                </a:moveTo>
                <a:lnTo>
                  <a:pt x="21600" y="0"/>
                </a:lnTo>
                <a:lnTo>
                  <a:pt x="21600" y="0"/>
                </a:lnTo>
                <a:lnTo>
                  <a:pt x="0" y="0"/>
                </a:lnTo>
                <a:close/>
              </a:path>
            </a:pathLst>
          </a:custGeom>
          <a:noFill/>
          <a:ln>
            <a:noFill/>
          </a:ln>
          <a:extLst>
            <a:ext uri="{909E8E84-426E-40DD-AFC4-6F175D3DCCD1}">
              <a14:hiddenFill xmlns:a14="http://schemas.microsoft.com/office/drawing/2010/main">
                <a:solidFill>
                  <a:schemeClr val="accent1"/>
                </a:solidFill>
              </a14:hiddenFill>
            </a:ext>
          </a:extLst>
        </p:spPr>
        <p:txBody>
          <a:bodyPr spcFirstLastPara="1" wrap="square" lIns="25400" tIns="25400" rIns="25400" bIns="25400" anchor="t" anchorCtr="0">
            <a:noAutofit/>
          </a:bodyPr>
          <a:lstStyle/>
          <a:p>
            <a:pPr marL="0" marR="0" lvl="0" indent="0" algn="ctr" defTabSz="914400" rtl="0" eaLnBrk="1" fontAlgn="auto" latinLnBrk="0" hangingPunct="1">
              <a:lnSpc>
                <a:spcPct val="100000"/>
              </a:lnSpc>
              <a:spcBef>
                <a:spcPts val="0"/>
              </a:spcBef>
              <a:spcAft>
                <a:spcPts val="0"/>
              </a:spcAft>
              <a:buClr>
                <a:prstClr val="white"/>
              </a:buClr>
              <a:buSzPts val="700"/>
              <a:buFontTx/>
              <a:buNone/>
              <a:defRPr/>
            </a:pPr>
            <a:r>
              <a:rPr kumimoji="0" lang="en-US" altLang="en-GB" sz="935"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03</a:t>
            </a:r>
            <a:endParaRPr kumimoji="0" lang="en-US" altLang="en-GB" sz="935"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18" name="Google Shape;1718;p34"/>
          <p:cNvSpPr/>
          <p:nvPr/>
        </p:nvSpPr>
        <p:spPr>
          <a:xfrm>
            <a:off x="7443470" y="2001520"/>
            <a:ext cx="495935" cy="269875"/>
          </a:xfrm>
          <a:prstGeom prst="roundRect">
            <a:avLst>
              <a:gd name="adj" fmla="val 50000"/>
            </a:avLst>
          </a:prstGeom>
          <a:solidFill>
            <a:schemeClr val="accent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525455"/>
              </a:buClr>
              <a:buSzPts val="1100"/>
              <a:buFontTx/>
              <a:buNone/>
              <a:defRPr/>
            </a:pPr>
            <a:endParaRPr kumimoji="0" sz="14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19" name="Google Shape;1719;p34"/>
          <p:cNvSpPr/>
          <p:nvPr/>
        </p:nvSpPr>
        <p:spPr>
          <a:xfrm>
            <a:off x="7506335" y="2023745"/>
            <a:ext cx="369570" cy="193040"/>
          </a:xfrm>
          <a:custGeom>
            <a:avLst/>
            <a:gdLst/>
            <a:ahLst/>
            <a:cxnLst/>
            <a:rect l="l" t="t" r="r" b="b"/>
            <a:pathLst>
              <a:path w="21600" h="120000" extrusionOk="0">
                <a:moveTo>
                  <a:pt x="0" y="0"/>
                </a:moveTo>
                <a:lnTo>
                  <a:pt x="21600" y="0"/>
                </a:lnTo>
                <a:lnTo>
                  <a:pt x="21600" y="0"/>
                </a:lnTo>
                <a:lnTo>
                  <a:pt x="0" y="0"/>
                </a:lnTo>
                <a:close/>
              </a:path>
            </a:pathLst>
          </a:custGeom>
          <a:noFill/>
          <a:ln>
            <a:noFill/>
          </a:ln>
          <a:extLst>
            <a:ext uri="{909E8E84-426E-40DD-AFC4-6F175D3DCCD1}">
              <a14:hiddenFill xmlns:a14="http://schemas.microsoft.com/office/drawing/2010/main">
                <a:solidFill>
                  <a:schemeClr val="accent1"/>
                </a:solidFill>
              </a14:hiddenFill>
            </a:ext>
          </a:extLst>
        </p:spPr>
        <p:txBody>
          <a:bodyPr spcFirstLastPara="1" wrap="square" lIns="25400" tIns="25400" rIns="25400" bIns="25400" anchor="t" anchorCtr="0">
            <a:noAutofit/>
          </a:bodyPr>
          <a:lstStyle/>
          <a:p>
            <a:pPr marL="0" marR="0" lvl="0" indent="0" algn="ctr" defTabSz="914400" rtl="0" eaLnBrk="1" fontAlgn="auto" latinLnBrk="0" hangingPunct="1">
              <a:lnSpc>
                <a:spcPct val="100000"/>
              </a:lnSpc>
              <a:spcBef>
                <a:spcPts val="0"/>
              </a:spcBef>
              <a:spcAft>
                <a:spcPts val="0"/>
              </a:spcAft>
              <a:buClr>
                <a:prstClr val="white"/>
              </a:buClr>
              <a:buSzPts val="700"/>
              <a:buFontTx/>
              <a:buNone/>
              <a:defRPr/>
            </a:pPr>
            <a:r>
              <a:rPr kumimoji="0" lang="en-US" altLang="en-GB" sz="935"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04</a:t>
            </a:r>
            <a:endParaRPr kumimoji="0" lang="en-US" altLang="en-GB" sz="935"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21" name="Google Shape;1721;p34"/>
          <p:cNvSpPr/>
          <p:nvPr/>
        </p:nvSpPr>
        <p:spPr>
          <a:xfrm>
            <a:off x="8748395" y="2001520"/>
            <a:ext cx="495935" cy="269875"/>
          </a:xfrm>
          <a:prstGeom prst="roundRect">
            <a:avLst>
              <a:gd name="adj" fmla="val 50000"/>
            </a:avLst>
          </a:prstGeom>
          <a:solidFill>
            <a:schemeClr val="accent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525455"/>
              </a:buClr>
              <a:buSzPts val="1100"/>
              <a:buFontTx/>
              <a:buNone/>
              <a:defRPr/>
            </a:pPr>
            <a:endParaRPr kumimoji="0" sz="1465"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22" name="Google Shape;1722;p34"/>
          <p:cNvSpPr/>
          <p:nvPr/>
        </p:nvSpPr>
        <p:spPr>
          <a:xfrm>
            <a:off x="8811895" y="2023745"/>
            <a:ext cx="369570" cy="193040"/>
          </a:xfrm>
          <a:custGeom>
            <a:avLst/>
            <a:gdLst/>
            <a:ahLst/>
            <a:cxnLst/>
            <a:rect l="l" t="t" r="r" b="b"/>
            <a:pathLst>
              <a:path w="21600" h="120000" extrusionOk="0">
                <a:moveTo>
                  <a:pt x="0" y="0"/>
                </a:moveTo>
                <a:lnTo>
                  <a:pt x="21600" y="0"/>
                </a:lnTo>
                <a:lnTo>
                  <a:pt x="21600" y="0"/>
                </a:lnTo>
                <a:lnTo>
                  <a:pt x="0" y="0"/>
                </a:lnTo>
                <a:close/>
              </a:path>
            </a:pathLst>
          </a:custGeom>
          <a:noFill/>
          <a:ln>
            <a:noFill/>
          </a:ln>
          <a:extLst>
            <a:ext uri="{909E8E84-426E-40DD-AFC4-6F175D3DCCD1}">
              <a14:hiddenFill xmlns:a14="http://schemas.microsoft.com/office/drawing/2010/main">
                <a:solidFill>
                  <a:schemeClr val="accent1"/>
                </a:solidFill>
              </a14:hiddenFill>
            </a:ext>
          </a:extLst>
        </p:spPr>
        <p:txBody>
          <a:bodyPr spcFirstLastPara="1" wrap="square" lIns="25400" tIns="25400" rIns="25400" bIns="25400" anchor="t" anchorCtr="0">
            <a:noAutofit/>
          </a:bodyPr>
          <a:lstStyle/>
          <a:p>
            <a:pPr marL="0" marR="0" lvl="0" indent="0" algn="ctr" defTabSz="914400" rtl="0" eaLnBrk="1" fontAlgn="auto" latinLnBrk="0" hangingPunct="1">
              <a:lnSpc>
                <a:spcPct val="100000"/>
              </a:lnSpc>
              <a:spcBef>
                <a:spcPts val="0"/>
              </a:spcBef>
              <a:spcAft>
                <a:spcPts val="0"/>
              </a:spcAft>
              <a:buClr>
                <a:prstClr val="white"/>
              </a:buClr>
              <a:buSzPts val="700"/>
              <a:buFontTx/>
              <a:buNone/>
              <a:defRPr/>
            </a:pPr>
            <a:r>
              <a:rPr kumimoji="0" lang="en-US" altLang="en-GB" sz="935"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05</a:t>
            </a:r>
            <a:endParaRPr kumimoji="0" lang="en-US" altLang="en-GB" sz="935"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24" name="Google Shape;1724;p34"/>
          <p:cNvSpPr/>
          <p:nvPr/>
        </p:nvSpPr>
        <p:spPr>
          <a:xfrm>
            <a:off x="10053320" y="2001520"/>
            <a:ext cx="495935" cy="269875"/>
          </a:xfrm>
          <a:prstGeom prst="roundRect">
            <a:avLst>
              <a:gd name="adj" fmla="val 50000"/>
            </a:avLst>
          </a:prstGeom>
          <a:solidFill>
            <a:schemeClr val="accent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525455"/>
              </a:buClr>
              <a:buSzPts val="1100"/>
              <a:buFontTx/>
              <a:buNone/>
              <a:defRPr/>
            </a:pPr>
            <a:endParaRPr kumimoji="0" sz="1465"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25" name="Google Shape;1725;p34"/>
          <p:cNvSpPr/>
          <p:nvPr/>
        </p:nvSpPr>
        <p:spPr>
          <a:xfrm>
            <a:off x="10116820" y="2023745"/>
            <a:ext cx="369570" cy="193040"/>
          </a:xfrm>
          <a:custGeom>
            <a:avLst/>
            <a:gdLst/>
            <a:ahLst/>
            <a:cxnLst/>
            <a:rect l="l" t="t" r="r" b="b"/>
            <a:pathLst>
              <a:path w="21600" h="120000" extrusionOk="0">
                <a:moveTo>
                  <a:pt x="0" y="0"/>
                </a:moveTo>
                <a:lnTo>
                  <a:pt x="21600" y="0"/>
                </a:lnTo>
                <a:lnTo>
                  <a:pt x="21600" y="0"/>
                </a:lnTo>
                <a:lnTo>
                  <a:pt x="0" y="0"/>
                </a:lnTo>
                <a:close/>
              </a:path>
            </a:pathLst>
          </a:custGeom>
          <a:noFill/>
          <a:ln>
            <a:noFill/>
          </a:ln>
          <a:extLst>
            <a:ext uri="{909E8E84-426E-40DD-AFC4-6F175D3DCCD1}">
              <a14:hiddenFill xmlns:a14="http://schemas.microsoft.com/office/drawing/2010/main">
                <a:solidFill>
                  <a:schemeClr val="accent1"/>
                </a:solidFill>
              </a14:hiddenFill>
            </a:ext>
          </a:extLst>
        </p:spPr>
        <p:txBody>
          <a:bodyPr spcFirstLastPara="1" wrap="square" lIns="25400" tIns="25400" rIns="25400" bIns="25400" anchor="t" anchorCtr="0">
            <a:noAutofit/>
          </a:bodyPr>
          <a:lstStyle/>
          <a:p>
            <a:pPr marL="0" marR="0" lvl="0" indent="0" algn="ctr" defTabSz="914400" rtl="0" eaLnBrk="1" fontAlgn="auto" latinLnBrk="0" hangingPunct="1">
              <a:lnSpc>
                <a:spcPct val="100000"/>
              </a:lnSpc>
              <a:spcBef>
                <a:spcPts val="0"/>
              </a:spcBef>
              <a:spcAft>
                <a:spcPts val="0"/>
              </a:spcAft>
              <a:buClr>
                <a:prstClr val="white"/>
              </a:buClr>
              <a:buSzPts val="700"/>
              <a:buFontTx/>
              <a:buNone/>
              <a:defRPr/>
            </a:pPr>
            <a:r>
              <a:rPr kumimoji="0" lang="en-US" altLang="en-GB" sz="935"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06</a:t>
            </a:r>
            <a:endParaRPr kumimoji="0" lang="en-US" altLang="en-GB" sz="935"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26" name="Google Shape;1726;p34"/>
          <p:cNvSpPr/>
          <p:nvPr/>
        </p:nvSpPr>
        <p:spPr>
          <a:xfrm>
            <a:off x="3650615" y="2595245"/>
            <a:ext cx="252095" cy="252095"/>
          </a:xfrm>
          <a:custGeom>
            <a:avLst/>
            <a:gdLst/>
            <a:ahLst/>
            <a:cxnLst/>
            <a:rect l="l" t="t" r="r" b="b"/>
            <a:pathLst>
              <a:path w="21600" h="21600" extrusionOk="0">
                <a:moveTo>
                  <a:pt x="12764" y="1178"/>
                </a:moveTo>
                <a:lnTo>
                  <a:pt x="12764" y="3191"/>
                </a:lnTo>
                <a:cubicBezTo>
                  <a:pt x="15533" y="3905"/>
                  <a:pt x="17695" y="6067"/>
                  <a:pt x="18409" y="8836"/>
                </a:cubicBezTo>
                <a:lnTo>
                  <a:pt x="20422" y="8836"/>
                </a:lnTo>
                <a:cubicBezTo>
                  <a:pt x="19635" y="4979"/>
                  <a:pt x="16621" y="1965"/>
                  <a:pt x="12764" y="1178"/>
                </a:cubicBezTo>
                <a:close/>
                <a:moveTo>
                  <a:pt x="1178" y="8836"/>
                </a:moveTo>
                <a:lnTo>
                  <a:pt x="3191" y="8836"/>
                </a:lnTo>
                <a:cubicBezTo>
                  <a:pt x="3905" y="6067"/>
                  <a:pt x="6067" y="3905"/>
                  <a:pt x="8836" y="3191"/>
                </a:cubicBezTo>
                <a:lnTo>
                  <a:pt x="8836" y="1227"/>
                </a:lnTo>
                <a:cubicBezTo>
                  <a:pt x="4993" y="2007"/>
                  <a:pt x="1982" y="4998"/>
                  <a:pt x="1178" y="8836"/>
                </a:cubicBezTo>
                <a:close/>
                <a:moveTo>
                  <a:pt x="18409" y="12764"/>
                </a:moveTo>
                <a:cubicBezTo>
                  <a:pt x="17695" y="15533"/>
                  <a:pt x="15533" y="17695"/>
                  <a:pt x="12764" y="18409"/>
                </a:cubicBezTo>
                <a:lnTo>
                  <a:pt x="12764" y="20422"/>
                </a:lnTo>
                <a:cubicBezTo>
                  <a:pt x="16621" y="19635"/>
                  <a:pt x="19635" y="16621"/>
                  <a:pt x="20422" y="12764"/>
                </a:cubicBezTo>
                <a:close/>
                <a:moveTo>
                  <a:pt x="3191" y="12764"/>
                </a:moveTo>
                <a:lnTo>
                  <a:pt x="1227" y="12764"/>
                </a:lnTo>
                <a:cubicBezTo>
                  <a:pt x="2007" y="16607"/>
                  <a:pt x="4998" y="19618"/>
                  <a:pt x="8836" y="20422"/>
                </a:cubicBezTo>
                <a:lnTo>
                  <a:pt x="8836" y="18409"/>
                </a:lnTo>
                <a:cubicBezTo>
                  <a:pt x="6067" y="17695"/>
                  <a:pt x="3905" y="15533"/>
                  <a:pt x="3191" y="12764"/>
                </a:cubicBezTo>
                <a:close/>
                <a:moveTo>
                  <a:pt x="3927" y="11782"/>
                </a:moveTo>
                <a:lnTo>
                  <a:pt x="0" y="11782"/>
                </a:lnTo>
                <a:lnTo>
                  <a:pt x="0" y="9818"/>
                </a:lnTo>
                <a:lnTo>
                  <a:pt x="3927" y="9818"/>
                </a:lnTo>
                <a:close/>
                <a:moveTo>
                  <a:pt x="11782" y="3927"/>
                </a:moveTo>
                <a:lnTo>
                  <a:pt x="9818" y="3927"/>
                </a:lnTo>
                <a:lnTo>
                  <a:pt x="9818" y="0"/>
                </a:lnTo>
                <a:lnTo>
                  <a:pt x="11782" y="0"/>
                </a:lnTo>
                <a:close/>
                <a:moveTo>
                  <a:pt x="11782" y="21600"/>
                </a:moveTo>
                <a:lnTo>
                  <a:pt x="9818" y="21600"/>
                </a:lnTo>
                <a:lnTo>
                  <a:pt x="9818" y="17673"/>
                </a:lnTo>
                <a:lnTo>
                  <a:pt x="11782" y="17673"/>
                </a:lnTo>
                <a:close/>
                <a:moveTo>
                  <a:pt x="21600" y="11782"/>
                </a:moveTo>
                <a:lnTo>
                  <a:pt x="17673" y="11782"/>
                </a:lnTo>
                <a:lnTo>
                  <a:pt x="17673" y="9818"/>
                </a:lnTo>
                <a:lnTo>
                  <a:pt x="21600" y="9818"/>
                </a:lnTo>
                <a:close/>
                <a:moveTo>
                  <a:pt x="15709" y="10800"/>
                </a:moveTo>
                <a:cubicBezTo>
                  <a:pt x="15709" y="13511"/>
                  <a:pt x="13511" y="15709"/>
                  <a:pt x="10800" y="15709"/>
                </a:cubicBezTo>
                <a:cubicBezTo>
                  <a:pt x="8089" y="15709"/>
                  <a:pt x="5891" y="13511"/>
                  <a:pt x="5891" y="10800"/>
                </a:cubicBezTo>
                <a:cubicBezTo>
                  <a:pt x="5891" y="8089"/>
                  <a:pt x="8089" y="5891"/>
                  <a:pt x="10800" y="5891"/>
                </a:cubicBezTo>
                <a:cubicBezTo>
                  <a:pt x="13511" y="5891"/>
                  <a:pt x="15709" y="8089"/>
                  <a:pt x="15709" y="10800"/>
                </a:cubicBezTo>
                <a:close/>
              </a:path>
            </a:pathLst>
          </a:custGeom>
          <a:solidFill>
            <a:schemeClr val="bg1"/>
          </a:solidFill>
          <a:ln>
            <a:noFill/>
          </a:ln>
        </p:spPr>
        <p:txBody>
          <a:bodyPr spcFirstLastPara="1" wrap="square" lIns="22867" tIns="22867" rIns="22867" bIns="228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defRPr/>
            </a:pPr>
            <a:endParaRPr kumimoji="0" sz="1465" b="0" i="0" u="none" strike="noStrike" kern="1200" cap="none" spc="0" normalizeH="0" baseline="0" noProof="0">
              <a:ln>
                <a:noFill/>
              </a:ln>
              <a:solidFill>
                <a:srgbClr val="52545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27" name="Google Shape;1727;p34"/>
          <p:cNvSpPr/>
          <p:nvPr/>
        </p:nvSpPr>
        <p:spPr>
          <a:xfrm>
            <a:off x="4954905" y="2595245"/>
            <a:ext cx="252095" cy="252095"/>
          </a:xfrm>
          <a:custGeom>
            <a:avLst/>
            <a:gdLst/>
            <a:ahLst/>
            <a:cxnLst/>
            <a:rect l="l" t="t" r="r" b="b"/>
            <a:pathLst>
              <a:path w="21600" h="21600" extrusionOk="0">
                <a:moveTo>
                  <a:pt x="12764" y="1178"/>
                </a:moveTo>
                <a:lnTo>
                  <a:pt x="12764" y="3191"/>
                </a:lnTo>
                <a:cubicBezTo>
                  <a:pt x="15533" y="3905"/>
                  <a:pt x="17695" y="6067"/>
                  <a:pt x="18409" y="8836"/>
                </a:cubicBezTo>
                <a:lnTo>
                  <a:pt x="20422" y="8836"/>
                </a:lnTo>
                <a:cubicBezTo>
                  <a:pt x="19635" y="4979"/>
                  <a:pt x="16621" y="1965"/>
                  <a:pt x="12764" y="1178"/>
                </a:cubicBezTo>
                <a:close/>
                <a:moveTo>
                  <a:pt x="1178" y="8836"/>
                </a:moveTo>
                <a:lnTo>
                  <a:pt x="3191" y="8836"/>
                </a:lnTo>
                <a:cubicBezTo>
                  <a:pt x="3905" y="6067"/>
                  <a:pt x="6067" y="3905"/>
                  <a:pt x="8836" y="3191"/>
                </a:cubicBezTo>
                <a:lnTo>
                  <a:pt x="8836" y="1227"/>
                </a:lnTo>
                <a:cubicBezTo>
                  <a:pt x="4993" y="2007"/>
                  <a:pt x="1982" y="4998"/>
                  <a:pt x="1178" y="8836"/>
                </a:cubicBezTo>
                <a:close/>
                <a:moveTo>
                  <a:pt x="18409" y="12764"/>
                </a:moveTo>
                <a:cubicBezTo>
                  <a:pt x="17695" y="15533"/>
                  <a:pt x="15533" y="17695"/>
                  <a:pt x="12764" y="18409"/>
                </a:cubicBezTo>
                <a:lnTo>
                  <a:pt x="12764" y="20422"/>
                </a:lnTo>
                <a:cubicBezTo>
                  <a:pt x="16621" y="19635"/>
                  <a:pt x="19635" y="16621"/>
                  <a:pt x="20422" y="12764"/>
                </a:cubicBezTo>
                <a:close/>
                <a:moveTo>
                  <a:pt x="3191" y="12764"/>
                </a:moveTo>
                <a:lnTo>
                  <a:pt x="1227" y="12764"/>
                </a:lnTo>
                <a:cubicBezTo>
                  <a:pt x="2007" y="16607"/>
                  <a:pt x="4998" y="19618"/>
                  <a:pt x="8836" y="20422"/>
                </a:cubicBezTo>
                <a:lnTo>
                  <a:pt x="8836" y="18409"/>
                </a:lnTo>
                <a:cubicBezTo>
                  <a:pt x="6067" y="17695"/>
                  <a:pt x="3905" y="15533"/>
                  <a:pt x="3191" y="12764"/>
                </a:cubicBezTo>
                <a:close/>
                <a:moveTo>
                  <a:pt x="3927" y="11782"/>
                </a:moveTo>
                <a:lnTo>
                  <a:pt x="0" y="11782"/>
                </a:lnTo>
                <a:lnTo>
                  <a:pt x="0" y="9818"/>
                </a:lnTo>
                <a:lnTo>
                  <a:pt x="3927" y="9818"/>
                </a:lnTo>
                <a:close/>
                <a:moveTo>
                  <a:pt x="11782" y="3927"/>
                </a:moveTo>
                <a:lnTo>
                  <a:pt x="9818" y="3927"/>
                </a:lnTo>
                <a:lnTo>
                  <a:pt x="9818" y="0"/>
                </a:lnTo>
                <a:lnTo>
                  <a:pt x="11782" y="0"/>
                </a:lnTo>
                <a:close/>
                <a:moveTo>
                  <a:pt x="11782" y="21600"/>
                </a:moveTo>
                <a:lnTo>
                  <a:pt x="9818" y="21600"/>
                </a:lnTo>
                <a:lnTo>
                  <a:pt x="9818" y="17673"/>
                </a:lnTo>
                <a:lnTo>
                  <a:pt x="11782" y="17673"/>
                </a:lnTo>
                <a:close/>
                <a:moveTo>
                  <a:pt x="21600" y="11782"/>
                </a:moveTo>
                <a:lnTo>
                  <a:pt x="17673" y="11782"/>
                </a:lnTo>
                <a:lnTo>
                  <a:pt x="17673" y="9818"/>
                </a:lnTo>
                <a:lnTo>
                  <a:pt x="21600" y="9818"/>
                </a:lnTo>
                <a:close/>
                <a:moveTo>
                  <a:pt x="15709" y="10800"/>
                </a:moveTo>
                <a:cubicBezTo>
                  <a:pt x="15709" y="13511"/>
                  <a:pt x="13511" y="15709"/>
                  <a:pt x="10800" y="15709"/>
                </a:cubicBezTo>
                <a:cubicBezTo>
                  <a:pt x="8089" y="15709"/>
                  <a:pt x="5891" y="13511"/>
                  <a:pt x="5891" y="10800"/>
                </a:cubicBezTo>
                <a:cubicBezTo>
                  <a:pt x="5891" y="8089"/>
                  <a:pt x="8089" y="5891"/>
                  <a:pt x="10800" y="5891"/>
                </a:cubicBezTo>
                <a:cubicBezTo>
                  <a:pt x="13511" y="5891"/>
                  <a:pt x="15709" y="8089"/>
                  <a:pt x="15709" y="10800"/>
                </a:cubicBezTo>
                <a:close/>
              </a:path>
            </a:pathLst>
          </a:custGeom>
          <a:solidFill>
            <a:schemeClr val="bg1"/>
          </a:solidFill>
          <a:ln>
            <a:noFill/>
          </a:ln>
        </p:spPr>
        <p:txBody>
          <a:bodyPr spcFirstLastPara="1" wrap="square" lIns="22867" tIns="22867" rIns="22867" bIns="228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defRPr/>
            </a:pPr>
            <a:endParaRPr kumimoji="0" sz="1465" b="0" i="0" u="none" strike="noStrike" kern="1200" cap="none" spc="0" normalizeH="0" baseline="0" noProof="0">
              <a:ln>
                <a:noFill/>
              </a:ln>
              <a:solidFill>
                <a:srgbClr val="52545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28" name="Google Shape;1728;p34"/>
          <p:cNvSpPr/>
          <p:nvPr/>
        </p:nvSpPr>
        <p:spPr>
          <a:xfrm>
            <a:off x="7558405" y="2595245"/>
            <a:ext cx="252095" cy="252095"/>
          </a:xfrm>
          <a:custGeom>
            <a:avLst/>
            <a:gdLst/>
            <a:ahLst/>
            <a:cxnLst/>
            <a:rect l="l" t="t" r="r" b="b"/>
            <a:pathLst>
              <a:path w="21600" h="21600" extrusionOk="0">
                <a:moveTo>
                  <a:pt x="12764" y="1178"/>
                </a:moveTo>
                <a:lnTo>
                  <a:pt x="12764" y="3191"/>
                </a:lnTo>
                <a:cubicBezTo>
                  <a:pt x="15533" y="3905"/>
                  <a:pt x="17695" y="6067"/>
                  <a:pt x="18409" y="8836"/>
                </a:cubicBezTo>
                <a:lnTo>
                  <a:pt x="20422" y="8836"/>
                </a:lnTo>
                <a:cubicBezTo>
                  <a:pt x="19635" y="4979"/>
                  <a:pt x="16621" y="1965"/>
                  <a:pt x="12764" y="1178"/>
                </a:cubicBezTo>
                <a:close/>
                <a:moveTo>
                  <a:pt x="1178" y="8836"/>
                </a:moveTo>
                <a:lnTo>
                  <a:pt x="3191" y="8836"/>
                </a:lnTo>
                <a:cubicBezTo>
                  <a:pt x="3905" y="6067"/>
                  <a:pt x="6067" y="3905"/>
                  <a:pt x="8836" y="3191"/>
                </a:cubicBezTo>
                <a:lnTo>
                  <a:pt x="8836" y="1227"/>
                </a:lnTo>
                <a:cubicBezTo>
                  <a:pt x="4993" y="2007"/>
                  <a:pt x="1982" y="4998"/>
                  <a:pt x="1178" y="8836"/>
                </a:cubicBezTo>
                <a:close/>
                <a:moveTo>
                  <a:pt x="18409" y="12764"/>
                </a:moveTo>
                <a:cubicBezTo>
                  <a:pt x="17695" y="15533"/>
                  <a:pt x="15533" y="17695"/>
                  <a:pt x="12764" y="18409"/>
                </a:cubicBezTo>
                <a:lnTo>
                  <a:pt x="12764" y="20422"/>
                </a:lnTo>
                <a:cubicBezTo>
                  <a:pt x="16621" y="19635"/>
                  <a:pt x="19635" y="16621"/>
                  <a:pt x="20422" y="12764"/>
                </a:cubicBezTo>
                <a:close/>
                <a:moveTo>
                  <a:pt x="3191" y="12764"/>
                </a:moveTo>
                <a:lnTo>
                  <a:pt x="1227" y="12764"/>
                </a:lnTo>
                <a:cubicBezTo>
                  <a:pt x="2007" y="16607"/>
                  <a:pt x="4998" y="19618"/>
                  <a:pt x="8836" y="20422"/>
                </a:cubicBezTo>
                <a:lnTo>
                  <a:pt x="8836" y="18409"/>
                </a:lnTo>
                <a:cubicBezTo>
                  <a:pt x="6067" y="17695"/>
                  <a:pt x="3905" y="15533"/>
                  <a:pt x="3191" y="12764"/>
                </a:cubicBezTo>
                <a:close/>
                <a:moveTo>
                  <a:pt x="3927" y="11782"/>
                </a:moveTo>
                <a:lnTo>
                  <a:pt x="0" y="11782"/>
                </a:lnTo>
                <a:lnTo>
                  <a:pt x="0" y="9818"/>
                </a:lnTo>
                <a:lnTo>
                  <a:pt x="3927" y="9818"/>
                </a:lnTo>
                <a:close/>
                <a:moveTo>
                  <a:pt x="11782" y="3927"/>
                </a:moveTo>
                <a:lnTo>
                  <a:pt x="9818" y="3927"/>
                </a:lnTo>
                <a:lnTo>
                  <a:pt x="9818" y="0"/>
                </a:lnTo>
                <a:lnTo>
                  <a:pt x="11782" y="0"/>
                </a:lnTo>
                <a:close/>
                <a:moveTo>
                  <a:pt x="11782" y="21600"/>
                </a:moveTo>
                <a:lnTo>
                  <a:pt x="9818" y="21600"/>
                </a:lnTo>
                <a:lnTo>
                  <a:pt x="9818" y="17673"/>
                </a:lnTo>
                <a:lnTo>
                  <a:pt x="11782" y="17673"/>
                </a:lnTo>
                <a:close/>
                <a:moveTo>
                  <a:pt x="21600" y="11782"/>
                </a:moveTo>
                <a:lnTo>
                  <a:pt x="17673" y="11782"/>
                </a:lnTo>
                <a:lnTo>
                  <a:pt x="17673" y="9818"/>
                </a:lnTo>
                <a:lnTo>
                  <a:pt x="21600" y="9818"/>
                </a:lnTo>
                <a:close/>
                <a:moveTo>
                  <a:pt x="15709" y="10800"/>
                </a:moveTo>
                <a:cubicBezTo>
                  <a:pt x="15709" y="13511"/>
                  <a:pt x="13511" y="15709"/>
                  <a:pt x="10800" y="15709"/>
                </a:cubicBezTo>
                <a:cubicBezTo>
                  <a:pt x="8089" y="15709"/>
                  <a:pt x="5891" y="13511"/>
                  <a:pt x="5891" y="10800"/>
                </a:cubicBezTo>
                <a:cubicBezTo>
                  <a:pt x="5891" y="8089"/>
                  <a:pt x="8089" y="5891"/>
                  <a:pt x="10800" y="5891"/>
                </a:cubicBezTo>
                <a:cubicBezTo>
                  <a:pt x="13511" y="5891"/>
                  <a:pt x="15709" y="8089"/>
                  <a:pt x="15709" y="10800"/>
                </a:cubicBezTo>
                <a:close/>
              </a:path>
            </a:pathLst>
          </a:custGeom>
          <a:solidFill>
            <a:schemeClr val="bg1"/>
          </a:solidFill>
          <a:ln>
            <a:noFill/>
          </a:ln>
        </p:spPr>
        <p:txBody>
          <a:bodyPr spcFirstLastPara="1" wrap="square" lIns="22867" tIns="22867" rIns="22867" bIns="228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defRPr/>
            </a:pPr>
            <a:endParaRPr kumimoji="0" sz="1465" b="0" i="0" u="none" strike="noStrike" kern="1200" cap="none" spc="0" normalizeH="0" baseline="0" noProof="0">
              <a:ln>
                <a:noFill/>
              </a:ln>
              <a:solidFill>
                <a:srgbClr val="52545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29" name="Google Shape;1729;p34"/>
          <p:cNvSpPr/>
          <p:nvPr/>
        </p:nvSpPr>
        <p:spPr>
          <a:xfrm>
            <a:off x="6259830" y="2595245"/>
            <a:ext cx="252095" cy="252095"/>
          </a:xfrm>
          <a:custGeom>
            <a:avLst/>
            <a:gdLst/>
            <a:ahLst/>
            <a:cxnLst/>
            <a:rect l="l" t="t" r="r" b="b"/>
            <a:pathLst>
              <a:path w="21600" h="21600" extrusionOk="0">
                <a:moveTo>
                  <a:pt x="12764" y="1178"/>
                </a:moveTo>
                <a:lnTo>
                  <a:pt x="12764" y="3191"/>
                </a:lnTo>
                <a:cubicBezTo>
                  <a:pt x="15533" y="3905"/>
                  <a:pt x="17695" y="6067"/>
                  <a:pt x="18409" y="8836"/>
                </a:cubicBezTo>
                <a:lnTo>
                  <a:pt x="20422" y="8836"/>
                </a:lnTo>
                <a:cubicBezTo>
                  <a:pt x="19635" y="4979"/>
                  <a:pt x="16621" y="1965"/>
                  <a:pt x="12764" y="1178"/>
                </a:cubicBezTo>
                <a:close/>
                <a:moveTo>
                  <a:pt x="1178" y="8836"/>
                </a:moveTo>
                <a:lnTo>
                  <a:pt x="3191" y="8836"/>
                </a:lnTo>
                <a:cubicBezTo>
                  <a:pt x="3905" y="6067"/>
                  <a:pt x="6067" y="3905"/>
                  <a:pt x="8836" y="3191"/>
                </a:cubicBezTo>
                <a:lnTo>
                  <a:pt x="8836" y="1227"/>
                </a:lnTo>
                <a:cubicBezTo>
                  <a:pt x="4993" y="2007"/>
                  <a:pt x="1982" y="4998"/>
                  <a:pt x="1178" y="8836"/>
                </a:cubicBezTo>
                <a:close/>
                <a:moveTo>
                  <a:pt x="18409" y="12764"/>
                </a:moveTo>
                <a:cubicBezTo>
                  <a:pt x="17695" y="15533"/>
                  <a:pt x="15533" y="17695"/>
                  <a:pt x="12764" y="18409"/>
                </a:cubicBezTo>
                <a:lnTo>
                  <a:pt x="12764" y="20422"/>
                </a:lnTo>
                <a:cubicBezTo>
                  <a:pt x="16621" y="19635"/>
                  <a:pt x="19635" y="16621"/>
                  <a:pt x="20422" y="12764"/>
                </a:cubicBezTo>
                <a:close/>
                <a:moveTo>
                  <a:pt x="3191" y="12764"/>
                </a:moveTo>
                <a:lnTo>
                  <a:pt x="1227" y="12764"/>
                </a:lnTo>
                <a:cubicBezTo>
                  <a:pt x="2007" y="16607"/>
                  <a:pt x="4998" y="19618"/>
                  <a:pt x="8836" y="20422"/>
                </a:cubicBezTo>
                <a:lnTo>
                  <a:pt x="8836" y="18409"/>
                </a:lnTo>
                <a:cubicBezTo>
                  <a:pt x="6067" y="17695"/>
                  <a:pt x="3905" y="15533"/>
                  <a:pt x="3191" y="12764"/>
                </a:cubicBezTo>
                <a:close/>
                <a:moveTo>
                  <a:pt x="3927" y="11782"/>
                </a:moveTo>
                <a:lnTo>
                  <a:pt x="0" y="11782"/>
                </a:lnTo>
                <a:lnTo>
                  <a:pt x="0" y="9818"/>
                </a:lnTo>
                <a:lnTo>
                  <a:pt x="3927" y="9818"/>
                </a:lnTo>
                <a:close/>
                <a:moveTo>
                  <a:pt x="11782" y="3927"/>
                </a:moveTo>
                <a:lnTo>
                  <a:pt x="9818" y="3927"/>
                </a:lnTo>
                <a:lnTo>
                  <a:pt x="9818" y="0"/>
                </a:lnTo>
                <a:lnTo>
                  <a:pt x="11782" y="0"/>
                </a:lnTo>
                <a:close/>
                <a:moveTo>
                  <a:pt x="11782" y="21600"/>
                </a:moveTo>
                <a:lnTo>
                  <a:pt x="9818" y="21600"/>
                </a:lnTo>
                <a:lnTo>
                  <a:pt x="9818" y="17673"/>
                </a:lnTo>
                <a:lnTo>
                  <a:pt x="11782" y="17673"/>
                </a:lnTo>
                <a:close/>
                <a:moveTo>
                  <a:pt x="21600" y="11782"/>
                </a:moveTo>
                <a:lnTo>
                  <a:pt x="17673" y="11782"/>
                </a:lnTo>
                <a:lnTo>
                  <a:pt x="17673" y="9818"/>
                </a:lnTo>
                <a:lnTo>
                  <a:pt x="21600" y="9818"/>
                </a:lnTo>
                <a:close/>
                <a:moveTo>
                  <a:pt x="15709" y="10800"/>
                </a:moveTo>
                <a:cubicBezTo>
                  <a:pt x="15709" y="13511"/>
                  <a:pt x="13511" y="15709"/>
                  <a:pt x="10800" y="15709"/>
                </a:cubicBezTo>
                <a:cubicBezTo>
                  <a:pt x="8089" y="15709"/>
                  <a:pt x="5891" y="13511"/>
                  <a:pt x="5891" y="10800"/>
                </a:cubicBezTo>
                <a:cubicBezTo>
                  <a:pt x="5891" y="8089"/>
                  <a:pt x="8089" y="5891"/>
                  <a:pt x="10800" y="5891"/>
                </a:cubicBezTo>
                <a:cubicBezTo>
                  <a:pt x="13511" y="5891"/>
                  <a:pt x="15709" y="8089"/>
                  <a:pt x="15709" y="10800"/>
                </a:cubicBezTo>
                <a:close/>
              </a:path>
            </a:pathLst>
          </a:custGeom>
          <a:solidFill>
            <a:schemeClr val="bg1"/>
          </a:solidFill>
          <a:ln>
            <a:noFill/>
          </a:ln>
        </p:spPr>
        <p:txBody>
          <a:bodyPr spcFirstLastPara="1" wrap="square" lIns="22867" tIns="22867" rIns="22867" bIns="228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defRPr/>
            </a:pPr>
            <a:endParaRPr kumimoji="0" sz="1465" b="0" i="0" u="none" strike="noStrike" kern="1200" cap="none" spc="0" normalizeH="0" baseline="0" noProof="0">
              <a:ln>
                <a:noFill/>
              </a:ln>
              <a:solidFill>
                <a:srgbClr val="52545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30" name="Google Shape;1730;p34"/>
          <p:cNvSpPr/>
          <p:nvPr/>
        </p:nvSpPr>
        <p:spPr>
          <a:xfrm>
            <a:off x="8869680" y="2595245"/>
            <a:ext cx="252095" cy="252095"/>
          </a:xfrm>
          <a:custGeom>
            <a:avLst/>
            <a:gdLst/>
            <a:ahLst/>
            <a:cxnLst/>
            <a:rect l="l" t="t" r="r" b="b"/>
            <a:pathLst>
              <a:path w="21600" h="21600" extrusionOk="0">
                <a:moveTo>
                  <a:pt x="12764" y="1178"/>
                </a:moveTo>
                <a:lnTo>
                  <a:pt x="12764" y="3191"/>
                </a:lnTo>
                <a:cubicBezTo>
                  <a:pt x="15533" y="3905"/>
                  <a:pt x="17695" y="6067"/>
                  <a:pt x="18409" y="8836"/>
                </a:cubicBezTo>
                <a:lnTo>
                  <a:pt x="20422" y="8836"/>
                </a:lnTo>
                <a:cubicBezTo>
                  <a:pt x="19635" y="4979"/>
                  <a:pt x="16621" y="1965"/>
                  <a:pt x="12764" y="1178"/>
                </a:cubicBezTo>
                <a:close/>
                <a:moveTo>
                  <a:pt x="1178" y="8836"/>
                </a:moveTo>
                <a:lnTo>
                  <a:pt x="3191" y="8836"/>
                </a:lnTo>
                <a:cubicBezTo>
                  <a:pt x="3905" y="6067"/>
                  <a:pt x="6067" y="3905"/>
                  <a:pt x="8836" y="3191"/>
                </a:cubicBezTo>
                <a:lnTo>
                  <a:pt x="8836" y="1227"/>
                </a:lnTo>
                <a:cubicBezTo>
                  <a:pt x="4993" y="2007"/>
                  <a:pt x="1982" y="4998"/>
                  <a:pt x="1178" y="8836"/>
                </a:cubicBezTo>
                <a:close/>
                <a:moveTo>
                  <a:pt x="18409" y="12764"/>
                </a:moveTo>
                <a:cubicBezTo>
                  <a:pt x="17695" y="15533"/>
                  <a:pt x="15533" y="17695"/>
                  <a:pt x="12764" y="18409"/>
                </a:cubicBezTo>
                <a:lnTo>
                  <a:pt x="12764" y="20422"/>
                </a:lnTo>
                <a:cubicBezTo>
                  <a:pt x="16621" y="19635"/>
                  <a:pt x="19635" y="16621"/>
                  <a:pt x="20422" y="12764"/>
                </a:cubicBezTo>
                <a:close/>
                <a:moveTo>
                  <a:pt x="3191" y="12764"/>
                </a:moveTo>
                <a:lnTo>
                  <a:pt x="1227" y="12764"/>
                </a:lnTo>
                <a:cubicBezTo>
                  <a:pt x="2007" y="16607"/>
                  <a:pt x="4998" y="19618"/>
                  <a:pt x="8836" y="20422"/>
                </a:cubicBezTo>
                <a:lnTo>
                  <a:pt x="8836" y="18409"/>
                </a:lnTo>
                <a:cubicBezTo>
                  <a:pt x="6067" y="17695"/>
                  <a:pt x="3905" y="15533"/>
                  <a:pt x="3191" y="12764"/>
                </a:cubicBezTo>
                <a:close/>
                <a:moveTo>
                  <a:pt x="3927" y="11782"/>
                </a:moveTo>
                <a:lnTo>
                  <a:pt x="0" y="11782"/>
                </a:lnTo>
                <a:lnTo>
                  <a:pt x="0" y="9818"/>
                </a:lnTo>
                <a:lnTo>
                  <a:pt x="3927" y="9818"/>
                </a:lnTo>
                <a:close/>
                <a:moveTo>
                  <a:pt x="11782" y="3927"/>
                </a:moveTo>
                <a:lnTo>
                  <a:pt x="9818" y="3927"/>
                </a:lnTo>
                <a:lnTo>
                  <a:pt x="9818" y="0"/>
                </a:lnTo>
                <a:lnTo>
                  <a:pt x="11782" y="0"/>
                </a:lnTo>
                <a:close/>
                <a:moveTo>
                  <a:pt x="11782" y="21600"/>
                </a:moveTo>
                <a:lnTo>
                  <a:pt x="9818" y="21600"/>
                </a:lnTo>
                <a:lnTo>
                  <a:pt x="9818" y="17673"/>
                </a:lnTo>
                <a:lnTo>
                  <a:pt x="11782" y="17673"/>
                </a:lnTo>
                <a:close/>
                <a:moveTo>
                  <a:pt x="21600" y="11782"/>
                </a:moveTo>
                <a:lnTo>
                  <a:pt x="17673" y="11782"/>
                </a:lnTo>
                <a:lnTo>
                  <a:pt x="17673" y="9818"/>
                </a:lnTo>
                <a:lnTo>
                  <a:pt x="21600" y="9818"/>
                </a:lnTo>
                <a:close/>
                <a:moveTo>
                  <a:pt x="15709" y="10800"/>
                </a:moveTo>
                <a:cubicBezTo>
                  <a:pt x="15709" y="13511"/>
                  <a:pt x="13511" y="15709"/>
                  <a:pt x="10800" y="15709"/>
                </a:cubicBezTo>
                <a:cubicBezTo>
                  <a:pt x="8089" y="15709"/>
                  <a:pt x="5891" y="13511"/>
                  <a:pt x="5891" y="10800"/>
                </a:cubicBezTo>
                <a:cubicBezTo>
                  <a:pt x="5891" y="8089"/>
                  <a:pt x="8089" y="5891"/>
                  <a:pt x="10800" y="5891"/>
                </a:cubicBezTo>
                <a:cubicBezTo>
                  <a:pt x="13511" y="5891"/>
                  <a:pt x="15709" y="8089"/>
                  <a:pt x="15709" y="10800"/>
                </a:cubicBezTo>
                <a:close/>
              </a:path>
            </a:pathLst>
          </a:custGeom>
          <a:solidFill>
            <a:schemeClr val="bg1"/>
          </a:solidFill>
          <a:ln>
            <a:noFill/>
          </a:ln>
        </p:spPr>
        <p:txBody>
          <a:bodyPr spcFirstLastPara="1" wrap="square" lIns="22867" tIns="22867" rIns="22867" bIns="228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defRPr/>
            </a:pPr>
            <a:endParaRPr kumimoji="0" sz="1465" b="0" i="0" u="none" strike="noStrike" kern="1200" cap="none" spc="0" normalizeH="0" baseline="0" noProof="0">
              <a:ln>
                <a:noFill/>
              </a:ln>
              <a:solidFill>
                <a:srgbClr val="52545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31" name="Google Shape;1731;p34"/>
          <p:cNvSpPr/>
          <p:nvPr/>
        </p:nvSpPr>
        <p:spPr>
          <a:xfrm>
            <a:off x="10174605" y="2595245"/>
            <a:ext cx="252095" cy="252095"/>
          </a:xfrm>
          <a:custGeom>
            <a:avLst/>
            <a:gdLst/>
            <a:ahLst/>
            <a:cxnLst/>
            <a:rect l="l" t="t" r="r" b="b"/>
            <a:pathLst>
              <a:path w="21600" h="21600" extrusionOk="0">
                <a:moveTo>
                  <a:pt x="12764" y="1178"/>
                </a:moveTo>
                <a:lnTo>
                  <a:pt x="12764" y="3191"/>
                </a:lnTo>
                <a:cubicBezTo>
                  <a:pt x="15533" y="3905"/>
                  <a:pt x="17695" y="6067"/>
                  <a:pt x="18409" y="8836"/>
                </a:cubicBezTo>
                <a:lnTo>
                  <a:pt x="20422" y="8836"/>
                </a:lnTo>
                <a:cubicBezTo>
                  <a:pt x="19635" y="4979"/>
                  <a:pt x="16621" y="1965"/>
                  <a:pt x="12764" y="1178"/>
                </a:cubicBezTo>
                <a:close/>
                <a:moveTo>
                  <a:pt x="1178" y="8836"/>
                </a:moveTo>
                <a:lnTo>
                  <a:pt x="3191" y="8836"/>
                </a:lnTo>
                <a:cubicBezTo>
                  <a:pt x="3905" y="6067"/>
                  <a:pt x="6067" y="3905"/>
                  <a:pt x="8836" y="3191"/>
                </a:cubicBezTo>
                <a:lnTo>
                  <a:pt x="8836" y="1227"/>
                </a:lnTo>
                <a:cubicBezTo>
                  <a:pt x="4993" y="2007"/>
                  <a:pt x="1982" y="4998"/>
                  <a:pt x="1178" y="8836"/>
                </a:cubicBezTo>
                <a:close/>
                <a:moveTo>
                  <a:pt x="18409" y="12764"/>
                </a:moveTo>
                <a:cubicBezTo>
                  <a:pt x="17695" y="15533"/>
                  <a:pt x="15533" y="17695"/>
                  <a:pt x="12764" y="18409"/>
                </a:cubicBezTo>
                <a:lnTo>
                  <a:pt x="12764" y="20422"/>
                </a:lnTo>
                <a:cubicBezTo>
                  <a:pt x="16621" y="19635"/>
                  <a:pt x="19635" y="16621"/>
                  <a:pt x="20422" y="12764"/>
                </a:cubicBezTo>
                <a:close/>
                <a:moveTo>
                  <a:pt x="3191" y="12764"/>
                </a:moveTo>
                <a:lnTo>
                  <a:pt x="1227" y="12764"/>
                </a:lnTo>
                <a:cubicBezTo>
                  <a:pt x="2007" y="16607"/>
                  <a:pt x="4998" y="19618"/>
                  <a:pt x="8836" y="20422"/>
                </a:cubicBezTo>
                <a:lnTo>
                  <a:pt x="8836" y="18409"/>
                </a:lnTo>
                <a:cubicBezTo>
                  <a:pt x="6067" y="17695"/>
                  <a:pt x="3905" y="15533"/>
                  <a:pt x="3191" y="12764"/>
                </a:cubicBezTo>
                <a:close/>
                <a:moveTo>
                  <a:pt x="3927" y="11782"/>
                </a:moveTo>
                <a:lnTo>
                  <a:pt x="0" y="11782"/>
                </a:lnTo>
                <a:lnTo>
                  <a:pt x="0" y="9818"/>
                </a:lnTo>
                <a:lnTo>
                  <a:pt x="3927" y="9818"/>
                </a:lnTo>
                <a:close/>
                <a:moveTo>
                  <a:pt x="11782" y="3927"/>
                </a:moveTo>
                <a:lnTo>
                  <a:pt x="9818" y="3927"/>
                </a:lnTo>
                <a:lnTo>
                  <a:pt x="9818" y="0"/>
                </a:lnTo>
                <a:lnTo>
                  <a:pt x="11782" y="0"/>
                </a:lnTo>
                <a:close/>
                <a:moveTo>
                  <a:pt x="11782" y="21600"/>
                </a:moveTo>
                <a:lnTo>
                  <a:pt x="9818" y="21600"/>
                </a:lnTo>
                <a:lnTo>
                  <a:pt x="9818" y="17673"/>
                </a:lnTo>
                <a:lnTo>
                  <a:pt x="11782" y="17673"/>
                </a:lnTo>
                <a:close/>
                <a:moveTo>
                  <a:pt x="21600" y="11782"/>
                </a:moveTo>
                <a:lnTo>
                  <a:pt x="17673" y="11782"/>
                </a:lnTo>
                <a:lnTo>
                  <a:pt x="17673" y="9818"/>
                </a:lnTo>
                <a:lnTo>
                  <a:pt x="21600" y="9818"/>
                </a:lnTo>
                <a:close/>
                <a:moveTo>
                  <a:pt x="15709" y="10800"/>
                </a:moveTo>
                <a:cubicBezTo>
                  <a:pt x="15709" y="13511"/>
                  <a:pt x="13511" y="15709"/>
                  <a:pt x="10800" y="15709"/>
                </a:cubicBezTo>
                <a:cubicBezTo>
                  <a:pt x="8089" y="15709"/>
                  <a:pt x="5891" y="13511"/>
                  <a:pt x="5891" y="10800"/>
                </a:cubicBezTo>
                <a:cubicBezTo>
                  <a:pt x="5891" y="8089"/>
                  <a:pt x="8089" y="5891"/>
                  <a:pt x="10800" y="5891"/>
                </a:cubicBezTo>
                <a:cubicBezTo>
                  <a:pt x="13511" y="5891"/>
                  <a:pt x="15709" y="8089"/>
                  <a:pt x="15709" y="10800"/>
                </a:cubicBezTo>
                <a:close/>
              </a:path>
            </a:pathLst>
          </a:custGeom>
          <a:solidFill>
            <a:schemeClr val="bg1"/>
          </a:solidFill>
          <a:ln>
            <a:noFill/>
          </a:ln>
        </p:spPr>
        <p:txBody>
          <a:bodyPr spcFirstLastPara="1" wrap="square" lIns="22867" tIns="22867" rIns="22867" bIns="228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defRPr/>
            </a:pPr>
            <a:endParaRPr kumimoji="0" sz="1465" b="0" i="0" u="none" strike="noStrike" kern="1200" cap="none" spc="0" normalizeH="0" baseline="0" noProof="0">
              <a:ln>
                <a:noFill/>
              </a:ln>
              <a:solidFill>
                <a:srgbClr val="52545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32" name="Google Shape;1732;p34"/>
          <p:cNvSpPr/>
          <p:nvPr/>
        </p:nvSpPr>
        <p:spPr>
          <a:xfrm>
            <a:off x="3654425" y="4581525"/>
            <a:ext cx="252095" cy="252095"/>
          </a:xfrm>
          <a:custGeom>
            <a:avLst/>
            <a:gdLst/>
            <a:ahLst/>
            <a:cxnLst/>
            <a:rect l="l" t="t" r="r" b="b"/>
            <a:pathLst>
              <a:path w="21600" h="21600" extrusionOk="0">
                <a:moveTo>
                  <a:pt x="12764" y="1178"/>
                </a:moveTo>
                <a:lnTo>
                  <a:pt x="12764" y="3191"/>
                </a:lnTo>
                <a:cubicBezTo>
                  <a:pt x="15533" y="3905"/>
                  <a:pt x="17695" y="6067"/>
                  <a:pt x="18409" y="8836"/>
                </a:cubicBezTo>
                <a:lnTo>
                  <a:pt x="20422" y="8836"/>
                </a:lnTo>
                <a:cubicBezTo>
                  <a:pt x="19635" y="4979"/>
                  <a:pt x="16621" y="1965"/>
                  <a:pt x="12764" y="1178"/>
                </a:cubicBezTo>
                <a:close/>
                <a:moveTo>
                  <a:pt x="1178" y="8836"/>
                </a:moveTo>
                <a:lnTo>
                  <a:pt x="3191" y="8836"/>
                </a:lnTo>
                <a:cubicBezTo>
                  <a:pt x="3905" y="6067"/>
                  <a:pt x="6067" y="3905"/>
                  <a:pt x="8836" y="3191"/>
                </a:cubicBezTo>
                <a:lnTo>
                  <a:pt x="8836" y="1227"/>
                </a:lnTo>
                <a:cubicBezTo>
                  <a:pt x="4993" y="2007"/>
                  <a:pt x="1982" y="4998"/>
                  <a:pt x="1178" y="8836"/>
                </a:cubicBezTo>
                <a:close/>
                <a:moveTo>
                  <a:pt x="18409" y="12764"/>
                </a:moveTo>
                <a:cubicBezTo>
                  <a:pt x="17695" y="15533"/>
                  <a:pt x="15533" y="17695"/>
                  <a:pt x="12764" y="18409"/>
                </a:cubicBezTo>
                <a:lnTo>
                  <a:pt x="12764" y="20422"/>
                </a:lnTo>
                <a:cubicBezTo>
                  <a:pt x="16621" y="19635"/>
                  <a:pt x="19635" y="16621"/>
                  <a:pt x="20422" y="12764"/>
                </a:cubicBezTo>
                <a:close/>
                <a:moveTo>
                  <a:pt x="3191" y="12764"/>
                </a:moveTo>
                <a:lnTo>
                  <a:pt x="1227" y="12764"/>
                </a:lnTo>
                <a:cubicBezTo>
                  <a:pt x="2007" y="16607"/>
                  <a:pt x="4998" y="19618"/>
                  <a:pt x="8836" y="20422"/>
                </a:cubicBezTo>
                <a:lnTo>
                  <a:pt x="8836" y="18409"/>
                </a:lnTo>
                <a:cubicBezTo>
                  <a:pt x="6067" y="17695"/>
                  <a:pt x="3905" y="15533"/>
                  <a:pt x="3191" y="12764"/>
                </a:cubicBezTo>
                <a:close/>
                <a:moveTo>
                  <a:pt x="3927" y="11782"/>
                </a:moveTo>
                <a:lnTo>
                  <a:pt x="0" y="11782"/>
                </a:lnTo>
                <a:lnTo>
                  <a:pt x="0" y="9818"/>
                </a:lnTo>
                <a:lnTo>
                  <a:pt x="3927" y="9818"/>
                </a:lnTo>
                <a:close/>
                <a:moveTo>
                  <a:pt x="11782" y="3927"/>
                </a:moveTo>
                <a:lnTo>
                  <a:pt x="9818" y="3927"/>
                </a:lnTo>
                <a:lnTo>
                  <a:pt x="9818" y="0"/>
                </a:lnTo>
                <a:lnTo>
                  <a:pt x="11782" y="0"/>
                </a:lnTo>
                <a:close/>
                <a:moveTo>
                  <a:pt x="11782" y="21600"/>
                </a:moveTo>
                <a:lnTo>
                  <a:pt x="9818" y="21600"/>
                </a:lnTo>
                <a:lnTo>
                  <a:pt x="9818" y="17673"/>
                </a:lnTo>
                <a:lnTo>
                  <a:pt x="11782" y="17673"/>
                </a:lnTo>
                <a:close/>
                <a:moveTo>
                  <a:pt x="21600" y="11782"/>
                </a:moveTo>
                <a:lnTo>
                  <a:pt x="17673" y="11782"/>
                </a:lnTo>
                <a:lnTo>
                  <a:pt x="17673" y="9818"/>
                </a:lnTo>
                <a:lnTo>
                  <a:pt x="21600" y="9818"/>
                </a:lnTo>
                <a:close/>
                <a:moveTo>
                  <a:pt x="15709" y="10800"/>
                </a:moveTo>
                <a:cubicBezTo>
                  <a:pt x="15709" y="13511"/>
                  <a:pt x="13511" y="15709"/>
                  <a:pt x="10800" y="15709"/>
                </a:cubicBezTo>
                <a:cubicBezTo>
                  <a:pt x="8089" y="15709"/>
                  <a:pt x="5891" y="13511"/>
                  <a:pt x="5891" y="10800"/>
                </a:cubicBezTo>
                <a:cubicBezTo>
                  <a:pt x="5891" y="8089"/>
                  <a:pt x="8089" y="5891"/>
                  <a:pt x="10800" y="5891"/>
                </a:cubicBezTo>
                <a:cubicBezTo>
                  <a:pt x="13511" y="5891"/>
                  <a:pt x="15709" y="8089"/>
                  <a:pt x="15709" y="10800"/>
                </a:cubicBezTo>
                <a:close/>
              </a:path>
            </a:pathLst>
          </a:custGeom>
          <a:solidFill>
            <a:schemeClr val="bg1"/>
          </a:solidFill>
          <a:ln>
            <a:noFill/>
          </a:ln>
        </p:spPr>
        <p:txBody>
          <a:bodyPr spcFirstLastPara="1" wrap="square" lIns="22867" tIns="22867" rIns="22867" bIns="228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defRPr/>
            </a:pPr>
            <a:endParaRPr kumimoji="0" sz="1465" b="0" i="0" u="none" strike="noStrike" kern="1200" cap="none" spc="0" normalizeH="0" baseline="0" noProof="0">
              <a:ln>
                <a:noFill/>
              </a:ln>
              <a:solidFill>
                <a:srgbClr val="52545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33" name="Google Shape;1733;p34"/>
          <p:cNvSpPr/>
          <p:nvPr/>
        </p:nvSpPr>
        <p:spPr>
          <a:xfrm>
            <a:off x="4959350" y="4581525"/>
            <a:ext cx="252095" cy="252095"/>
          </a:xfrm>
          <a:custGeom>
            <a:avLst/>
            <a:gdLst/>
            <a:ahLst/>
            <a:cxnLst/>
            <a:rect l="l" t="t" r="r" b="b"/>
            <a:pathLst>
              <a:path w="21600" h="21600" extrusionOk="0">
                <a:moveTo>
                  <a:pt x="12764" y="1178"/>
                </a:moveTo>
                <a:lnTo>
                  <a:pt x="12764" y="3191"/>
                </a:lnTo>
                <a:cubicBezTo>
                  <a:pt x="15533" y="3905"/>
                  <a:pt x="17695" y="6067"/>
                  <a:pt x="18409" y="8836"/>
                </a:cubicBezTo>
                <a:lnTo>
                  <a:pt x="20422" y="8836"/>
                </a:lnTo>
                <a:cubicBezTo>
                  <a:pt x="19635" y="4979"/>
                  <a:pt x="16621" y="1965"/>
                  <a:pt x="12764" y="1178"/>
                </a:cubicBezTo>
                <a:close/>
                <a:moveTo>
                  <a:pt x="1178" y="8836"/>
                </a:moveTo>
                <a:lnTo>
                  <a:pt x="3191" y="8836"/>
                </a:lnTo>
                <a:cubicBezTo>
                  <a:pt x="3905" y="6067"/>
                  <a:pt x="6067" y="3905"/>
                  <a:pt x="8836" y="3191"/>
                </a:cubicBezTo>
                <a:lnTo>
                  <a:pt x="8836" y="1227"/>
                </a:lnTo>
                <a:cubicBezTo>
                  <a:pt x="4993" y="2007"/>
                  <a:pt x="1982" y="4998"/>
                  <a:pt x="1178" y="8836"/>
                </a:cubicBezTo>
                <a:close/>
                <a:moveTo>
                  <a:pt x="18409" y="12764"/>
                </a:moveTo>
                <a:cubicBezTo>
                  <a:pt x="17695" y="15533"/>
                  <a:pt x="15533" y="17695"/>
                  <a:pt x="12764" y="18409"/>
                </a:cubicBezTo>
                <a:lnTo>
                  <a:pt x="12764" y="20422"/>
                </a:lnTo>
                <a:cubicBezTo>
                  <a:pt x="16621" y="19635"/>
                  <a:pt x="19635" y="16621"/>
                  <a:pt x="20422" y="12764"/>
                </a:cubicBezTo>
                <a:close/>
                <a:moveTo>
                  <a:pt x="3191" y="12764"/>
                </a:moveTo>
                <a:lnTo>
                  <a:pt x="1227" y="12764"/>
                </a:lnTo>
                <a:cubicBezTo>
                  <a:pt x="2007" y="16607"/>
                  <a:pt x="4998" y="19618"/>
                  <a:pt x="8836" y="20422"/>
                </a:cubicBezTo>
                <a:lnTo>
                  <a:pt x="8836" y="18409"/>
                </a:lnTo>
                <a:cubicBezTo>
                  <a:pt x="6067" y="17695"/>
                  <a:pt x="3905" y="15533"/>
                  <a:pt x="3191" y="12764"/>
                </a:cubicBezTo>
                <a:close/>
                <a:moveTo>
                  <a:pt x="3927" y="11782"/>
                </a:moveTo>
                <a:lnTo>
                  <a:pt x="0" y="11782"/>
                </a:lnTo>
                <a:lnTo>
                  <a:pt x="0" y="9818"/>
                </a:lnTo>
                <a:lnTo>
                  <a:pt x="3927" y="9818"/>
                </a:lnTo>
                <a:close/>
                <a:moveTo>
                  <a:pt x="11782" y="3927"/>
                </a:moveTo>
                <a:lnTo>
                  <a:pt x="9818" y="3927"/>
                </a:lnTo>
                <a:lnTo>
                  <a:pt x="9818" y="0"/>
                </a:lnTo>
                <a:lnTo>
                  <a:pt x="11782" y="0"/>
                </a:lnTo>
                <a:close/>
                <a:moveTo>
                  <a:pt x="11782" y="21600"/>
                </a:moveTo>
                <a:lnTo>
                  <a:pt x="9818" y="21600"/>
                </a:lnTo>
                <a:lnTo>
                  <a:pt x="9818" y="17673"/>
                </a:lnTo>
                <a:lnTo>
                  <a:pt x="11782" y="17673"/>
                </a:lnTo>
                <a:close/>
                <a:moveTo>
                  <a:pt x="21600" y="11782"/>
                </a:moveTo>
                <a:lnTo>
                  <a:pt x="17673" y="11782"/>
                </a:lnTo>
                <a:lnTo>
                  <a:pt x="17673" y="9818"/>
                </a:lnTo>
                <a:lnTo>
                  <a:pt x="21600" y="9818"/>
                </a:lnTo>
                <a:close/>
                <a:moveTo>
                  <a:pt x="15709" y="10800"/>
                </a:moveTo>
                <a:cubicBezTo>
                  <a:pt x="15709" y="13511"/>
                  <a:pt x="13511" y="15709"/>
                  <a:pt x="10800" y="15709"/>
                </a:cubicBezTo>
                <a:cubicBezTo>
                  <a:pt x="8089" y="15709"/>
                  <a:pt x="5891" y="13511"/>
                  <a:pt x="5891" y="10800"/>
                </a:cubicBezTo>
                <a:cubicBezTo>
                  <a:pt x="5891" y="8089"/>
                  <a:pt x="8089" y="5891"/>
                  <a:pt x="10800" y="5891"/>
                </a:cubicBezTo>
                <a:cubicBezTo>
                  <a:pt x="13511" y="5891"/>
                  <a:pt x="15709" y="8089"/>
                  <a:pt x="15709" y="10800"/>
                </a:cubicBezTo>
                <a:close/>
              </a:path>
            </a:pathLst>
          </a:custGeom>
          <a:solidFill>
            <a:schemeClr val="bg1"/>
          </a:solidFill>
          <a:ln>
            <a:noFill/>
          </a:ln>
        </p:spPr>
        <p:txBody>
          <a:bodyPr spcFirstLastPara="1" wrap="square" lIns="22867" tIns="22867" rIns="22867" bIns="228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defRPr/>
            </a:pPr>
            <a:endParaRPr kumimoji="0" sz="1465" b="0" i="0" u="none" strike="noStrike" kern="1200" cap="none" spc="0" normalizeH="0" baseline="0" noProof="0">
              <a:ln>
                <a:noFill/>
              </a:ln>
              <a:solidFill>
                <a:srgbClr val="52545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34" name="Google Shape;1734;p34"/>
          <p:cNvSpPr/>
          <p:nvPr/>
        </p:nvSpPr>
        <p:spPr>
          <a:xfrm>
            <a:off x="7562850" y="4581525"/>
            <a:ext cx="252095" cy="252095"/>
          </a:xfrm>
          <a:custGeom>
            <a:avLst/>
            <a:gdLst/>
            <a:ahLst/>
            <a:cxnLst/>
            <a:rect l="l" t="t" r="r" b="b"/>
            <a:pathLst>
              <a:path w="21600" h="21600" extrusionOk="0">
                <a:moveTo>
                  <a:pt x="12764" y="1178"/>
                </a:moveTo>
                <a:lnTo>
                  <a:pt x="12764" y="3191"/>
                </a:lnTo>
                <a:cubicBezTo>
                  <a:pt x="15533" y="3905"/>
                  <a:pt x="17695" y="6067"/>
                  <a:pt x="18409" y="8836"/>
                </a:cubicBezTo>
                <a:lnTo>
                  <a:pt x="20422" y="8836"/>
                </a:lnTo>
                <a:cubicBezTo>
                  <a:pt x="19635" y="4979"/>
                  <a:pt x="16621" y="1965"/>
                  <a:pt x="12764" y="1178"/>
                </a:cubicBezTo>
                <a:close/>
                <a:moveTo>
                  <a:pt x="1178" y="8836"/>
                </a:moveTo>
                <a:lnTo>
                  <a:pt x="3191" y="8836"/>
                </a:lnTo>
                <a:cubicBezTo>
                  <a:pt x="3905" y="6067"/>
                  <a:pt x="6067" y="3905"/>
                  <a:pt x="8836" y="3191"/>
                </a:cubicBezTo>
                <a:lnTo>
                  <a:pt x="8836" y="1227"/>
                </a:lnTo>
                <a:cubicBezTo>
                  <a:pt x="4993" y="2007"/>
                  <a:pt x="1982" y="4998"/>
                  <a:pt x="1178" y="8836"/>
                </a:cubicBezTo>
                <a:close/>
                <a:moveTo>
                  <a:pt x="18409" y="12764"/>
                </a:moveTo>
                <a:cubicBezTo>
                  <a:pt x="17695" y="15533"/>
                  <a:pt x="15533" y="17695"/>
                  <a:pt x="12764" y="18409"/>
                </a:cubicBezTo>
                <a:lnTo>
                  <a:pt x="12764" y="20422"/>
                </a:lnTo>
                <a:cubicBezTo>
                  <a:pt x="16621" y="19635"/>
                  <a:pt x="19635" y="16621"/>
                  <a:pt x="20422" y="12764"/>
                </a:cubicBezTo>
                <a:close/>
                <a:moveTo>
                  <a:pt x="3191" y="12764"/>
                </a:moveTo>
                <a:lnTo>
                  <a:pt x="1227" y="12764"/>
                </a:lnTo>
                <a:cubicBezTo>
                  <a:pt x="2007" y="16607"/>
                  <a:pt x="4998" y="19618"/>
                  <a:pt x="8836" y="20422"/>
                </a:cubicBezTo>
                <a:lnTo>
                  <a:pt x="8836" y="18409"/>
                </a:lnTo>
                <a:cubicBezTo>
                  <a:pt x="6067" y="17695"/>
                  <a:pt x="3905" y="15533"/>
                  <a:pt x="3191" y="12764"/>
                </a:cubicBezTo>
                <a:close/>
                <a:moveTo>
                  <a:pt x="3927" y="11782"/>
                </a:moveTo>
                <a:lnTo>
                  <a:pt x="0" y="11782"/>
                </a:lnTo>
                <a:lnTo>
                  <a:pt x="0" y="9818"/>
                </a:lnTo>
                <a:lnTo>
                  <a:pt x="3927" y="9818"/>
                </a:lnTo>
                <a:close/>
                <a:moveTo>
                  <a:pt x="11782" y="3927"/>
                </a:moveTo>
                <a:lnTo>
                  <a:pt x="9818" y="3927"/>
                </a:lnTo>
                <a:lnTo>
                  <a:pt x="9818" y="0"/>
                </a:lnTo>
                <a:lnTo>
                  <a:pt x="11782" y="0"/>
                </a:lnTo>
                <a:close/>
                <a:moveTo>
                  <a:pt x="11782" y="21600"/>
                </a:moveTo>
                <a:lnTo>
                  <a:pt x="9818" y="21600"/>
                </a:lnTo>
                <a:lnTo>
                  <a:pt x="9818" y="17673"/>
                </a:lnTo>
                <a:lnTo>
                  <a:pt x="11782" y="17673"/>
                </a:lnTo>
                <a:close/>
                <a:moveTo>
                  <a:pt x="21600" y="11782"/>
                </a:moveTo>
                <a:lnTo>
                  <a:pt x="17673" y="11782"/>
                </a:lnTo>
                <a:lnTo>
                  <a:pt x="17673" y="9818"/>
                </a:lnTo>
                <a:lnTo>
                  <a:pt x="21600" y="9818"/>
                </a:lnTo>
                <a:close/>
                <a:moveTo>
                  <a:pt x="15709" y="10800"/>
                </a:moveTo>
                <a:cubicBezTo>
                  <a:pt x="15709" y="13511"/>
                  <a:pt x="13511" y="15709"/>
                  <a:pt x="10800" y="15709"/>
                </a:cubicBezTo>
                <a:cubicBezTo>
                  <a:pt x="8089" y="15709"/>
                  <a:pt x="5891" y="13511"/>
                  <a:pt x="5891" y="10800"/>
                </a:cubicBezTo>
                <a:cubicBezTo>
                  <a:pt x="5891" y="8089"/>
                  <a:pt x="8089" y="5891"/>
                  <a:pt x="10800" y="5891"/>
                </a:cubicBezTo>
                <a:cubicBezTo>
                  <a:pt x="13511" y="5891"/>
                  <a:pt x="15709" y="8089"/>
                  <a:pt x="15709" y="10800"/>
                </a:cubicBezTo>
                <a:close/>
              </a:path>
            </a:pathLst>
          </a:custGeom>
          <a:solidFill>
            <a:schemeClr val="bg1"/>
          </a:solidFill>
          <a:ln>
            <a:noFill/>
          </a:ln>
        </p:spPr>
        <p:txBody>
          <a:bodyPr spcFirstLastPara="1" wrap="square" lIns="22867" tIns="22867" rIns="22867" bIns="228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defRPr/>
            </a:pPr>
            <a:endParaRPr kumimoji="0" sz="1465" b="0" i="0" u="none" strike="noStrike" kern="1200" cap="none" spc="0" normalizeH="0" baseline="0" noProof="0">
              <a:ln>
                <a:noFill/>
              </a:ln>
              <a:solidFill>
                <a:srgbClr val="52545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35" name="Google Shape;1735;p34"/>
          <p:cNvSpPr/>
          <p:nvPr/>
        </p:nvSpPr>
        <p:spPr>
          <a:xfrm>
            <a:off x="6264275" y="4581525"/>
            <a:ext cx="252095" cy="252095"/>
          </a:xfrm>
          <a:custGeom>
            <a:avLst/>
            <a:gdLst/>
            <a:ahLst/>
            <a:cxnLst/>
            <a:rect l="l" t="t" r="r" b="b"/>
            <a:pathLst>
              <a:path w="21600" h="21600" extrusionOk="0">
                <a:moveTo>
                  <a:pt x="12764" y="1178"/>
                </a:moveTo>
                <a:lnTo>
                  <a:pt x="12764" y="3191"/>
                </a:lnTo>
                <a:cubicBezTo>
                  <a:pt x="15533" y="3905"/>
                  <a:pt x="17695" y="6067"/>
                  <a:pt x="18409" y="8836"/>
                </a:cubicBezTo>
                <a:lnTo>
                  <a:pt x="20422" y="8836"/>
                </a:lnTo>
                <a:cubicBezTo>
                  <a:pt x="19635" y="4979"/>
                  <a:pt x="16621" y="1965"/>
                  <a:pt x="12764" y="1178"/>
                </a:cubicBezTo>
                <a:close/>
                <a:moveTo>
                  <a:pt x="1178" y="8836"/>
                </a:moveTo>
                <a:lnTo>
                  <a:pt x="3191" y="8836"/>
                </a:lnTo>
                <a:cubicBezTo>
                  <a:pt x="3905" y="6067"/>
                  <a:pt x="6067" y="3905"/>
                  <a:pt x="8836" y="3191"/>
                </a:cubicBezTo>
                <a:lnTo>
                  <a:pt x="8836" y="1227"/>
                </a:lnTo>
                <a:cubicBezTo>
                  <a:pt x="4993" y="2007"/>
                  <a:pt x="1982" y="4998"/>
                  <a:pt x="1178" y="8836"/>
                </a:cubicBezTo>
                <a:close/>
                <a:moveTo>
                  <a:pt x="18409" y="12764"/>
                </a:moveTo>
                <a:cubicBezTo>
                  <a:pt x="17695" y="15533"/>
                  <a:pt x="15533" y="17695"/>
                  <a:pt x="12764" y="18409"/>
                </a:cubicBezTo>
                <a:lnTo>
                  <a:pt x="12764" y="20422"/>
                </a:lnTo>
                <a:cubicBezTo>
                  <a:pt x="16621" y="19635"/>
                  <a:pt x="19635" y="16621"/>
                  <a:pt x="20422" y="12764"/>
                </a:cubicBezTo>
                <a:close/>
                <a:moveTo>
                  <a:pt x="3191" y="12764"/>
                </a:moveTo>
                <a:lnTo>
                  <a:pt x="1227" y="12764"/>
                </a:lnTo>
                <a:cubicBezTo>
                  <a:pt x="2007" y="16607"/>
                  <a:pt x="4998" y="19618"/>
                  <a:pt x="8836" y="20422"/>
                </a:cubicBezTo>
                <a:lnTo>
                  <a:pt x="8836" y="18409"/>
                </a:lnTo>
                <a:cubicBezTo>
                  <a:pt x="6067" y="17695"/>
                  <a:pt x="3905" y="15533"/>
                  <a:pt x="3191" y="12764"/>
                </a:cubicBezTo>
                <a:close/>
                <a:moveTo>
                  <a:pt x="3927" y="11782"/>
                </a:moveTo>
                <a:lnTo>
                  <a:pt x="0" y="11782"/>
                </a:lnTo>
                <a:lnTo>
                  <a:pt x="0" y="9818"/>
                </a:lnTo>
                <a:lnTo>
                  <a:pt x="3927" y="9818"/>
                </a:lnTo>
                <a:close/>
                <a:moveTo>
                  <a:pt x="11782" y="3927"/>
                </a:moveTo>
                <a:lnTo>
                  <a:pt x="9818" y="3927"/>
                </a:lnTo>
                <a:lnTo>
                  <a:pt x="9818" y="0"/>
                </a:lnTo>
                <a:lnTo>
                  <a:pt x="11782" y="0"/>
                </a:lnTo>
                <a:close/>
                <a:moveTo>
                  <a:pt x="11782" y="21600"/>
                </a:moveTo>
                <a:lnTo>
                  <a:pt x="9818" y="21600"/>
                </a:lnTo>
                <a:lnTo>
                  <a:pt x="9818" y="17673"/>
                </a:lnTo>
                <a:lnTo>
                  <a:pt x="11782" y="17673"/>
                </a:lnTo>
                <a:close/>
                <a:moveTo>
                  <a:pt x="21600" y="11782"/>
                </a:moveTo>
                <a:lnTo>
                  <a:pt x="17673" y="11782"/>
                </a:lnTo>
                <a:lnTo>
                  <a:pt x="17673" y="9818"/>
                </a:lnTo>
                <a:lnTo>
                  <a:pt x="21600" y="9818"/>
                </a:lnTo>
                <a:close/>
                <a:moveTo>
                  <a:pt x="15709" y="10800"/>
                </a:moveTo>
                <a:cubicBezTo>
                  <a:pt x="15709" y="13511"/>
                  <a:pt x="13511" y="15709"/>
                  <a:pt x="10800" y="15709"/>
                </a:cubicBezTo>
                <a:cubicBezTo>
                  <a:pt x="8089" y="15709"/>
                  <a:pt x="5891" y="13511"/>
                  <a:pt x="5891" y="10800"/>
                </a:cubicBezTo>
                <a:cubicBezTo>
                  <a:pt x="5891" y="8089"/>
                  <a:pt x="8089" y="5891"/>
                  <a:pt x="10800" y="5891"/>
                </a:cubicBezTo>
                <a:cubicBezTo>
                  <a:pt x="13511" y="5891"/>
                  <a:pt x="15709" y="8089"/>
                  <a:pt x="15709" y="10800"/>
                </a:cubicBezTo>
                <a:close/>
              </a:path>
            </a:pathLst>
          </a:custGeom>
          <a:solidFill>
            <a:schemeClr val="bg1"/>
          </a:solidFill>
          <a:ln>
            <a:noFill/>
          </a:ln>
        </p:spPr>
        <p:txBody>
          <a:bodyPr spcFirstLastPara="1" wrap="square" lIns="22867" tIns="22867" rIns="22867" bIns="228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defRPr/>
            </a:pPr>
            <a:endParaRPr kumimoji="0" sz="1465" b="0" i="0" u="none" strike="noStrike" kern="1200" cap="none" spc="0" normalizeH="0" baseline="0" noProof="0">
              <a:ln>
                <a:noFill/>
              </a:ln>
              <a:solidFill>
                <a:srgbClr val="52545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36" name="Google Shape;1736;p34"/>
          <p:cNvSpPr/>
          <p:nvPr/>
        </p:nvSpPr>
        <p:spPr>
          <a:xfrm>
            <a:off x="8874125" y="4581525"/>
            <a:ext cx="252095" cy="252095"/>
          </a:xfrm>
          <a:custGeom>
            <a:avLst/>
            <a:gdLst/>
            <a:ahLst/>
            <a:cxnLst/>
            <a:rect l="l" t="t" r="r" b="b"/>
            <a:pathLst>
              <a:path w="21600" h="21600" extrusionOk="0">
                <a:moveTo>
                  <a:pt x="12764" y="1178"/>
                </a:moveTo>
                <a:lnTo>
                  <a:pt x="12764" y="3191"/>
                </a:lnTo>
                <a:cubicBezTo>
                  <a:pt x="15533" y="3905"/>
                  <a:pt x="17695" y="6067"/>
                  <a:pt x="18409" y="8836"/>
                </a:cubicBezTo>
                <a:lnTo>
                  <a:pt x="20422" y="8836"/>
                </a:lnTo>
                <a:cubicBezTo>
                  <a:pt x="19635" y="4979"/>
                  <a:pt x="16621" y="1965"/>
                  <a:pt x="12764" y="1178"/>
                </a:cubicBezTo>
                <a:close/>
                <a:moveTo>
                  <a:pt x="1178" y="8836"/>
                </a:moveTo>
                <a:lnTo>
                  <a:pt x="3191" y="8836"/>
                </a:lnTo>
                <a:cubicBezTo>
                  <a:pt x="3905" y="6067"/>
                  <a:pt x="6067" y="3905"/>
                  <a:pt x="8836" y="3191"/>
                </a:cubicBezTo>
                <a:lnTo>
                  <a:pt x="8836" y="1227"/>
                </a:lnTo>
                <a:cubicBezTo>
                  <a:pt x="4993" y="2007"/>
                  <a:pt x="1982" y="4998"/>
                  <a:pt x="1178" y="8836"/>
                </a:cubicBezTo>
                <a:close/>
                <a:moveTo>
                  <a:pt x="18409" y="12764"/>
                </a:moveTo>
                <a:cubicBezTo>
                  <a:pt x="17695" y="15533"/>
                  <a:pt x="15533" y="17695"/>
                  <a:pt x="12764" y="18409"/>
                </a:cubicBezTo>
                <a:lnTo>
                  <a:pt x="12764" y="20422"/>
                </a:lnTo>
                <a:cubicBezTo>
                  <a:pt x="16621" y="19635"/>
                  <a:pt x="19635" y="16621"/>
                  <a:pt x="20422" y="12764"/>
                </a:cubicBezTo>
                <a:close/>
                <a:moveTo>
                  <a:pt x="3191" y="12764"/>
                </a:moveTo>
                <a:lnTo>
                  <a:pt x="1227" y="12764"/>
                </a:lnTo>
                <a:cubicBezTo>
                  <a:pt x="2007" y="16607"/>
                  <a:pt x="4998" y="19618"/>
                  <a:pt x="8836" y="20422"/>
                </a:cubicBezTo>
                <a:lnTo>
                  <a:pt x="8836" y="18409"/>
                </a:lnTo>
                <a:cubicBezTo>
                  <a:pt x="6067" y="17695"/>
                  <a:pt x="3905" y="15533"/>
                  <a:pt x="3191" y="12764"/>
                </a:cubicBezTo>
                <a:close/>
                <a:moveTo>
                  <a:pt x="3927" y="11782"/>
                </a:moveTo>
                <a:lnTo>
                  <a:pt x="0" y="11782"/>
                </a:lnTo>
                <a:lnTo>
                  <a:pt x="0" y="9818"/>
                </a:lnTo>
                <a:lnTo>
                  <a:pt x="3927" y="9818"/>
                </a:lnTo>
                <a:close/>
                <a:moveTo>
                  <a:pt x="11782" y="3927"/>
                </a:moveTo>
                <a:lnTo>
                  <a:pt x="9818" y="3927"/>
                </a:lnTo>
                <a:lnTo>
                  <a:pt x="9818" y="0"/>
                </a:lnTo>
                <a:lnTo>
                  <a:pt x="11782" y="0"/>
                </a:lnTo>
                <a:close/>
                <a:moveTo>
                  <a:pt x="11782" y="21600"/>
                </a:moveTo>
                <a:lnTo>
                  <a:pt x="9818" y="21600"/>
                </a:lnTo>
                <a:lnTo>
                  <a:pt x="9818" y="17673"/>
                </a:lnTo>
                <a:lnTo>
                  <a:pt x="11782" y="17673"/>
                </a:lnTo>
                <a:close/>
                <a:moveTo>
                  <a:pt x="21600" y="11782"/>
                </a:moveTo>
                <a:lnTo>
                  <a:pt x="17673" y="11782"/>
                </a:lnTo>
                <a:lnTo>
                  <a:pt x="17673" y="9818"/>
                </a:lnTo>
                <a:lnTo>
                  <a:pt x="21600" y="9818"/>
                </a:lnTo>
                <a:close/>
                <a:moveTo>
                  <a:pt x="15709" y="10800"/>
                </a:moveTo>
                <a:cubicBezTo>
                  <a:pt x="15709" y="13511"/>
                  <a:pt x="13511" y="15709"/>
                  <a:pt x="10800" y="15709"/>
                </a:cubicBezTo>
                <a:cubicBezTo>
                  <a:pt x="8089" y="15709"/>
                  <a:pt x="5891" y="13511"/>
                  <a:pt x="5891" y="10800"/>
                </a:cubicBezTo>
                <a:cubicBezTo>
                  <a:pt x="5891" y="8089"/>
                  <a:pt x="8089" y="5891"/>
                  <a:pt x="10800" y="5891"/>
                </a:cubicBezTo>
                <a:cubicBezTo>
                  <a:pt x="13511" y="5891"/>
                  <a:pt x="15709" y="8089"/>
                  <a:pt x="15709" y="10800"/>
                </a:cubicBezTo>
                <a:close/>
              </a:path>
            </a:pathLst>
          </a:custGeom>
          <a:solidFill>
            <a:schemeClr val="bg1"/>
          </a:solidFill>
          <a:ln>
            <a:noFill/>
          </a:ln>
        </p:spPr>
        <p:txBody>
          <a:bodyPr spcFirstLastPara="1" wrap="square" lIns="22867" tIns="22867" rIns="22867" bIns="228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defRPr/>
            </a:pPr>
            <a:endParaRPr kumimoji="0" sz="1465" b="0" i="0" u="none" strike="noStrike" kern="1200" cap="none" spc="0" normalizeH="0" baseline="0" noProof="0">
              <a:ln>
                <a:noFill/>
              </a:ln>
              <a:solidFill>
                <a:srgbClr val="52545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37" name="Google Shape;1737;p34"/>
          <p:cNvSpPr/>
          <p:nvPr/>
        </p:nvSpPr>
        <p:spPr>
          <a:xfrm>
            <a:off x="10178415" y="4581525"/>
            <a:ext cx="252095" cy="252095"/>
          </a:xfrm>
          <a:custGeom>
            <a:avLst/>
            <a:gdLst/>
            <a:ahLst/>
            <a:cxnLst/>
            <a:rect l="l" t="t" r="r" b="b"/>
            <a:pathLst>
              <a:path w="21600" h="21600" extrusionOk="0">
                <a:moveTo>
                  <a:pt x="12764" y="1178"/>
                </a:moveTo>
                <a:lnTo>
                  <a:pt x="12764" y="3191"/>
                </a:lnTo>
                <a:cubicBezTo>
                  <a:pt x="15533" y="3905"/>
                  <a:pt x="17695" y="6067"/>
                  <a:pt x="18409" y="8836"/>
                </a:cubicBezTo>
                <a:lnTo>
                  <a:pt x="20422" y="8836"/>
                </a:lnTo>
                <a:cubicBezTo>
                  <a:pt x="19635" y="4979"/>
                  <a:pt x="16621" y="1965"/>
                  <a:pt x="12764" y="1178"/>
                </a:cubicBezTo>
                <a:close/>
                <a:moveTo>
                  <a:pt x="1178" y="8836"/>
                </a:moveTo>
                <a:lnTo>
                  <a:pt x="3191" y="8836"/>
                </a:lnTo>
                <a:cubicBezTo>
                  <a:pt x="3905" y="6067"/>
                  <a:pt x="6067" y="3905"/>
                  <a:pt x="8836" y="3191"/>
                </a:cubicBezTo>
                <a:lnTo>
                  <a:pt x="8836" y="1227"/>
                </a:lnTo>
                <a:cubicBezTo>
                  <a:pt x="4993" y="2007"/>
                  <a:pt x="1982" y="4998"/>
                  <a:pt x="1178" y="8836"/>
                </a:cubicBezTo>
                <a:close/>
                <a:moveTo>
                  <a:pt x="18409" y="12764"/>
                </a:moveTo>
                <a:cubicBezTo>
                  <a:pt x="17695" y="15533"/>
                  <a:pt x="15533" y="17695"/>
                  <a:pt x="12764" y="18409"/>
                </a:cubicBezTo>
                <a:lnTo>
                  <a:pt x="12764" y="20422"/>
                </a:lnTo>
                <a:cubicBezTo>
                  <a:pt x="16621" y="19635"/>
                  <a:pt x="19635" y="16621"/>
                  <a:pt x="20422" y="12764"/>
                </a:cubicBezTo>
                <a:close/>
                <a:moveTo>
                  <a:pt x="3191" y="12764"/>
                </a:moveTo>
                <a:lnTo>
                  <a:pt x="1227" y="12764"/>
                </a:lnTo>
                <a:cubicBezTo>
                  <a:pt x="2007" y="16607"/>
                  <a:pt x="4998" y="19618"/>
                  <a:pt x="8836" y="20422"/>
                </a:cubicBezTo>
                <a:lnTo>
                  <a:pt x="8836" y="18409"/>
                </a:lnTo>
                <a:cubicBezTo>
                  <a:pt x="6067" y="17695"/>
                  <a:pt x="3905" y="15533"/>
                  <a:pt x="3191" y="12764"/>
                </a:cubicBezTo>
                <a:close/>
                <a:moveTo>
                  <a:pt x="3927" y="11782"/>
                </a:moveTo>
                <a:lnTo>
                  <a:pt x="0" y="11782"/>
                </a:lnTo>
                <a:lnTo>
                  <a:pt x="0" y="9818"/>
                </a:lnTo>
                <a:lnTo>
                  <a:pt x="3927" y="9818"/>
                </a:lnTo>
                <a:close/>
                <a:moveTo>
                  <a:pt x="11782" y="3927"/>
                </a:moveTo>
                <a:lnTo>
                  <a:pt x="9818" y="3927"/>
                </a:lnTo>
                <a:lnTo>
                  <a:pt x="9818" y="0"/>
                </a:lnTo>
                <a:lnTo>
                  <a:pt x="11782" y="0"/>
                </a:lnTo>
                <a:close/>
                <a:moveTo>
                  <a:pt x="11782" y="21600"/>
                </a:moveTo>
                <a:lnTo>
                  <a:pt x="9818" y="21600"/>
                </a:lnTo>
                <a:lnTo>
                  <a:pt x="9818" y="17673"/>
                </a:lnTo>
                <a:lnTo>
                  <a:pt x="11782" y="17673"/>
                </a:lnTo>
                <a:close/>
                <a:moveTo>
                  <a:pt x="21600" y="11782"/>
                </a:moveTo>
                <a:lnTo>
                  <a:pt x="17673" y="11782"/>
                </a:lnTo>
                <a:lnTo>
                  <a:pt x="17673" y="9818"/>
                </a:lnTo>
                <a:lnTo>
                  <a:pt x="21600" y="9818"/>
                </a:lnTo>
                <a:close/>
                <a:moveTo>
                  <a:pt x="15709" y="10800"/>
                </a:moveTo>
                <a:cubicBezTo>
                  <a:pt x="15709" y="13511"/>
                  <a:pt x="13511" y="15709"/>
                  <a:pt x="10800" y="15709"/>
                </a:cubicBezTo>
                <a:cubicBezTo>
                  <a:pt x="8089" y="15709"/>
                  <a:pt x="5891" y="13511"/>
                  <a:pt x="5891" y="10800"/>
                </a:cubicBezTo>
                <a:cubicBezTo>
                  <a:pt x="5891" y="8089"/>
                  <a:pt x="8089" y="5891"/>
                  <a:pt x="10800" y="5891"/>
                </a:cubicBezTo>
                <a:cubicBezTo>
                  <a:pt x="13511" y="5891"/>
                  <a:pt x="15709" y="8089"/>
                  <a:pt x="15709" y="10800"/>
                </a:cubicBezTo>
                <a:close/>
              </a:path>
            </a:pathLst>
          </a:custGeom>
          <a:solidFill>
            <a:schemeClr val="bg1"/>
          </a:solidFill>
          <a:ln>
            <a:noFill/>
          </a:ln>
        </p:spPr>
        <p:txBody>
          <a:bodyPr spcFirstLastPara="1" wrap="square" lIns="22867" tIns="22867" rIns="22867" bIns="228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defRPr/>
            </a:pPr>
            <a:endParaRPr kumimoji="0" sz="1465" b="0" i="0" u="none" strike="noStrike" kern="1200" cap="none" spc="0" normalizeH="0" baseline="0" noProof="0">
              <a:ln>
                <a:noFill/>
              </a:ln>
              <a:solidFill>
                <a:srgbClr val="525455"/>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4" name="Google Shape;1709;p34"/>
          <p:cNvSpPr/>
          <p:nvPr/>
        </p:nvSpPr>
        <p:spPr>
          <a:xfrm>
            <a:off x="3549650" y="5179695"/>
            <a:ext cx="495935" cy="269875"/>
          </a:xfrm>
          <a:prstGeom prst="roundRect">
            <a:avLst>
              <a:gd name="adj" fmla="val 50000"/>
            </a:avLst>
          </a:prstGeom>
          <a:solidFill>
            <a:schemeClr val="accent5"/>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525455"/>
              </a:buClr>
              <a:buSzPts val="1100"/>
              <a:buFontTx/>
              <a:buNone/>
              <a:defRPr/>
            </a:pPr>
            <a:endParaRPr kumimoji="0" sz="1465" b="0" i="0" u="none" strike="noStrike" kern="1200" cap="none" spc="0" normalizeH="0" baseline="0" noProof="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5" name="Google Shape;1710;p34"/>
          <p:cNvSpPr/>
          <p:nvPr/>
        </p:nvSpPr>
        <p:spPr>
          <a:xfrm>
            <a:off x="3612515" y="5201920"/>
            <a:ext cx="369570" cy="193040"/>
          </a:xfrm>
          <a:custGeom>
            <a:avLst/>
            <a:gdLst/>
            <a:ahLst/>
            <a:cxnLst/>
            <a:rect l="l" t="t" r="r" b="b"/>
            <a:pathLst>
              <a:path w="21600" h="120000" extrusionOk="0">
                <a:moveTo>
                  <a:pt x="0" y="0"/>
                </a:moveTo>
                <a:lnTo>
                  <a:pt x="21600" y="0"/>
                </a:lnTo>
                <a:lnTo>
                  <a:pt x="21600" y="0"/>
                </a:lnTo>
                <a:lnTo>
                  <a:pt x="0" y="0"/>
                </a:lnTo>
                <a:close/>
              </a:path>
            </a:pathLst>
          </a:custGeom>
          <a:noFill/>
          <a:ln>
            <a:noFill/>
          </a:ln>
          <a:extLst>
            <a:ext uri="{909E8E84-426E-40DD-AFC4-6F175D3DCCD1}">
              <a14:hiddenFill xmlns:a14="http://schemas.microsoft.com/office/drawing/2010/main">
                <a:solidFill>
                  <a:schemeClr val="accent5"/>
                </a:solidFill>
              </a14:hiddenFill>
            </a:ext>
          </a:extLst>
        </p:spPr>
        <p:txBody>
          <a:bodyPr spcFirstLastPara="1" wrap="square" lIns="25400" tIns="25400" rIns="25400" bIns="25400" anchor="t" anchorCtr="0">
            <a:noAutofit/>
          </a:bodyPr>
          <a:lstStyle/>
          <a:p>
            <a:pPr marL="0" marR="0" lvl="0" indent="0" algn="ctr" defTabSz="914400" rtl="0" eaLnBrk="1" fontAlgn="auto" latinLnBrk="0" hangingPunct="1">
              <a:lnSpc>
                <a:spcPct val="100000"/>
              </a:lnSpc>
              <a:spcBef>
                <a:spcPts val="0"/>
              </a:spcBef>
              <a:spcAft>
                <a:spcPts val="0"/>
              </a:spcAft>
              <a:buClr>
                <a:prstClr val="white"/>
              </a:buClr>
              <a:buSzPts val="700"/>
              <a:buFontTx/>
              <a:buNone/>
              <a:defRPr/>
            </a:pPr>
            <a:r>
              <a:rPr kumimoji="0" lang="en-GB" sz="935"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A</a:t>
            </a:r>
            <a:endParaRPr kumimoji="0" lang="en-GB" sz="935"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7" name="Google Shape;1712;p34"/>
          <p:cNvSpPr/>
          <p:nvPr/>
        </p:nvSpPr>
        <p:spPr>
          <a:xfrm>
            <a:off x="4854575" y="5179695"/>
            <a:ext cx="495935" cy="269875"/>
          </a:xfrm>
          <a:prstGeom prst="roundRect">
            <a:avLst>
              <a:gd name="adj" fmla="val 50000"/>
            </a:avLst>
          </a:prstGeom>
          <a:solidFill>
            <a:schemeClr val="accent5"/>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525455"/>
              </a:buClr>
              <a:buSzPts val="1100"/>
              <a:buFontTx/>
              <a:buNone/>
              <a:defRPr/>
            </a:pPr>
            <a:endParaRPr kumimoji="0" sz="1465" b="0" i="0" u="none" strike="noStrike" kern="1200" cap="none" spc="0" normalizeH="0" baseline="0" noProof="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8" name="Google Shape;1713;p34"/>
          <p:cNvSpPr/>
          <p:nvPr/>
        </p:nvSpPr>
        <p:spPr>
          <a:xfrm>
            <a:off x="4918075" y="5201920"/>
            <a:ext cx="369570" cy="193040"/>
          </a:xfrm>
          <a:custGeom>
            <a:avLst/>
            <a:gdLst/>
            <a:ahLst/>
            <a:cxnLst/>
            <a:rect l="l" t="t" r="r" b="b"/>
            <a:pathLst>
              <a:path w="21600" h="120000" extrusionOk="0">
                <a:moveTo>
                  <a:pt x="0" y="0"/>
                </a:moveTo>
                <a:lnTo>
                  <a:pt x="21600" y="0"/>
                </a:lnTo>
                <a:lnTo>
                  <a:pt x="21600" y="0"/>
                </a:lnTo>
                <a:lnTo>
                  <a:pt x="0" y="0"/>
                </a:lnTo>
                <a:close/>
              </a:path>
            </a:pathLst>
          </a:custGeom>
          <a:noFill/>
          <a:ln>
            <a:noFill/>
          </a:ln>
          <a:extLst>
            <a:ext uri="{909E8E84-426E-40DD-AFC4-6F175D3DCCD1}">
              <a14:hiddenFill xmlns:a14="http://schemas.microsoft.com/office/drawing/2010/main">
                <a:solidFill>
                  <a:schemeClr val="accent5"/>
                </a:solidFill>
              </a14:hiddenFill>
            </a:ext>
          </a:extLst>
        </p:spPr>
        <p:txBody>
          <a:bodyPr spcFirstLastPara="1" wrap="square" lIns="25400" tIns="25400" rIns="25400" bIns="25400" anchor="t" anchorCtr="0">
            <a:noAutofit/>
          </a:bodyPr>
          <a:lstStyle/>
          <a:p>
            <a:pPr marL="0" marR="0" lvl="0" indent="0" algn="ctr" defTabSz="914400" rtl="0" eaLnBrk="1" fontAlgn="auto" latinLnBrk="0" hangingPunct="1">
              <a:lnSpc>
                <a:spcPct val="100000"/>
              </a:lnSpc>
              <a:spcBef>
                <a:spcPts val="0"/>
              </a:spcBef>
              <a:spcAft>
                <a:spcPts val="0"/>
              </a:spcAft>
              <a:buClr>
                <a:prstClr val="white"/>
              </a:buClr>
              <a:buSzPts val="700"/>
              <a:buFontTx/>
              <a:buNone/>
              <a:defRPr/>
            </a:pPr>
            <a:r>
              <a:rPr kumimoji="0" lang="en-GB" sz="935"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B</a:t>
            </a:r>
            <a:endParaRPr kumimoji="0" lang="en-GB" sz="935"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9" name="Google Shape;1715;p34"/>
          <p:cNvSpPr/>
          <p:nvPr/>
        </p:nvSpPr>
        <p:spPr>
          <a:xfrm>
            <a:off x="6159500" y="5179695"/>
            <a:ext cx="495935" cy="269875"/>
          </a:xfrm>
          <a:prstGeom prst="roundRect">
            <a:avLst>
              <a:gd name="adj" fmla="val 50000"/>
            </a:avLst>
          </a:prstGeom>
          <a:solidFill>
            <a:schemeClr val="accent5"/>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525455"/>
              </a:buClr>
              <a:buSzPts val="1100"/>
              <a:buFontTx/>
              <a:buNone/>
              <a:defRPr/>
            </a:pPr>
            <a:endParaRPr kumimoji="0" sz="1465" b="0" i="0" u="none" strike="noStrike" kern="1200" cap="none" spc="0" normalizeH="0" baseline="0" noProof="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0" name="Google Shape;1716;p34"/>
          <p:cNvSpPr/>
          <p:nvPr/>
        </p:nvSpPr>
        <p:spPr>
          <a:xfrm>
            <a:off x="6223000" y="5201920"/>
            <a:ext cx="369570" cy="193040"/>
          </a:xfrm>
          <a:custGeom>
            <a:avLst/>
            <a:gdLst/>
            <a:ahLst/>
            <a:cxnLst/>
            <a:rect l="l" t="t" r="r" b="b"/>
            <a:pathLst>
              <a:path w="21600" h="120000" extrusionOk="0">
                <a:moveTo>
                  <a:pt x="0" y="0"/>
                </a:moveTo>
                <a:lnTo>
                  <a:pt x="21600" y="0"/>
                </a:lnTo>
                <a:lnTo>
                  <a:pt x="21600" y="0"/>
                </a:lnTo>
                <a:lnTo>
                  <a:pt x="0" y="0"/>
                </a:lnTo>
                <a:close/>
              </a:path>
            </a:pathLst>
          </a:custGeom>
          <a:noFill/>
          <a:ln>
            <a:noFill/>
          </a:ln>
          <a:extLst>
            <a:ext uri="{909E8E84-426E-40DD-AFC4-6F175D3DCCD1}">
              <a14:hiddenFill xmlns:a14="http://schemas.microsoft.com/office/drawing/2010/main">
                <a:solidFill>
                  <a:schemeClr val="accent5"/>
                </a:solidFill>
              </a14:hiddenFill>
            </a:ext>
          </a:extLst>
        </p:spPr>
        <p:txBody>
          <a:bodyPr spcFirstLastPara="1" wrap="square" lIns="25400" tIns="25400" rIns="25400" bIns="25400" anchor="t" anchorCtr="0">
            <a:noAutofit/>
          </a:bodyPr>
          <a:lstStyle/>
          <a:p>
            <a:pPr marL="0" marR="0" lvl="0" indent="0" algn="ctr" defTabSz="914400" rtl="0" eaLnBrk="1" fontAlgn="auto" latinLnBrk="0" hangingPunct="1">
              <a:lnSpc>
                <a:spcPct val="100000"/>
              </a:lnSpc>
              <a:spcBef>
                <a:spcPts val="0"/>
              </a:spcBef>
              <a:spcAft>
                <a:spcPts val="0"/>
              </a:spcAft>
              <a:buClr>
                <a:prstClr val="white"/>
              </a:buClr>
              <a:buSzPts val="700"/>
              <a:buFontTx/>
              <a:buNone/>
              <a:defRPr/>
            </a:pPr>
            <a:r>
              <a:rPr kumimoji="0" lang="en-GB" sz="935"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C</a:t>
            </a:r>
            <a:endParaRPr kumimoji="0" lang="en-GB" sz="935"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1" name="Google Shape;1718;p34"/>
          <p:cNvSpPr/>
          <p:nvPr/>
        </p:nvSpPr>
        <p:spPr>
          <a:xfrm>
            <a:off x="7464425" y="5179695"/>
            <a:ext cx="495935" cy="269875"/>
          </a:xfrm>
          <a:prstGeom prst="roundRect">
            <a:avLst>
              <a:gd name="adj" fmla="val 50000"/>
            </a:avLst>
          </a:prstGeom>
          <a:solidFill>
            <a:schemeClr val="accent5"/>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525455"/>
              </a:buClr>
              <a:buSzPts val="1100"/>
              <a:buFontTx/>
              <a:buNone/>
              <a:defRPr/>
            </a:pPr>
            <a:endParaRPr kumimoji="0" sz="1465"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5" name="Google Shape;1719;p34"/>
          <p:cNvSpPr/>
          <p:nvPr/>
        </p:nvSpPr>
        <p:spPr>
          <a:xfrm>
            <a:off x="7527925" y="5201920"/>
            <a:ext cx="369570" cy="193040"/>
          </a:xfrm>
          <a:custGeom>
            <a:avLst/>
            <a:gdLst/>
            <a:ahLst/>
            <a:cxnLst/>
            <a:rect l="l" t="t" r="r" b="b"/>
            <a:pathLst>
              <a:path w="21600" h="120000" extrusionOk="0">
                <a:moveTo>
                  <a:pt x="0" y="0"/>
                </a:moveTo>
                <a:lnTo>
                  <a:pt x="21600" y="0"/>
                </a:lnTo>
                <a:lnTo>
                  <a:pt x="21600" y="0"/>
                </a:lnTo>
                <a:lnTo>
                  <a:pt x="0" y="0"/>
                </a:lnTo>
                <a:close/>
              </a:path>
            </a:pathLst>
          </a:custGeom>
          <a:noFill/>
          <a:ln>
            <a:noFill/>
          </a:ln>
          <a:extLst>
            <a:ext uri="{909E8E84-426E-40DD-AFC4-6F175D3DCCD1}">
              <a14:hiddenFill xmlns:a14="http://schemas.microsoft.com/office/drawing/2010/main">
                <a:solidFill>
                  <a:schemeClr val="accent5"/>
                </a:solidFill>
              </a14:hiddenFill>
            </a:ext>
          </a:extLst>
        </p:spPr>
        <p:txBody>
          <a:bodyPr spcFirstLastPara="1" wrap="square" lIns="25400" tIns="25400" rIns="25400" bIns="25400" anchor="t" anchorCtr="0">
            <a:noAutofit/>
          </a:bodyPr>
          <a:lstStyle/>
          <a:p>
            <a:pPr marL="0" marR="0" lvl="0" indent="0" algn="ctr" defTabSz="914400" rtl="0" eaLnBrk="1" fontAlgn="auto" latinLnBrk="0" hangingPunct="1">
              <a:lnSpc>
                <a:spcPct val="100000"/>
              </a:lnSpc>
              <a:spcBef>
                <a:spcPts val="0"/>
              </a:spcBef>
              <a:spcAft>
                <a:spcPts val="0"/>
              </a:spcAft>
              <a:buClr>
                <a:prstClr val="white"/>
              </a:buClr>
              <a:buSzPts val="700"/>
              <a:buFontTx/>
              <a:buNone/>
              <a:defRPr/>
            </a:pPr>
            <a:r>
              <a:rPr kumimoji="0" lang="en-GB" sz="935"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D</a:t>
            </a:r>
            <a:endParaRPr kumimoji="0" lang="en-GB" sz="935"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1" name="Google Shape;1721;p34"/>
          <p:cNvSpPr/>
          <p:nvPr/>
        </p:nvSpPr>
        <p:spPr>
          <a:xfrm>
            <a:off x="8769985" y="5179695"/>
            <a:ext cx="495935" cy="269875"/>
          </a:xfrm>
          <a:prstGeom prst="roundRect">
            <a:avLst>
              <a:gd name="adj" fmla="val 50000"/>
            </a:avLst>
          </a:prstGeom>
          <a:solidFill>
            <a:schemeClr val="accent5"/>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525455"/>
              </a:buClr>
              <a:buSzPts val="1100"/>
              <a:buFontTx/>
              <a:buNone/>
              <a:defRPr/>
            </a:pPr>
            <a:endParaRPr kumimoji="0" sz="1465" b="0" i="0" u="none" strike="noStrike" kern="1200" cap="none" spc="0" normalizeH="0" baseline="0" noProof="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2" name="Google Shape;1722;p34"/>
          <p:cNvSpPr/>
          <p:nvPr/>
        </p:nvSpPr>
        <p:spPr>
          <a:xfrm>
            <a:off x="8832850" y="5201920"/>
            <a:ext cx="369570" cy="193040"/>
          </a:xfrm>
          <a:custGeom>
            <a:avLst/>
            <a:gdLst/>
            <a:ahLst/>
            <a:cxnLst/>
            <a:rect l="l" t="t" r="r" b="b"/>
            <a:pathLst>
              <a:path w="21600" h="120000" extrusionOk="0">
                <a:moveTo>
                  <a:pt x="0" y="0"/>
                </a:moveTo>
                <a:lnTo>
                  <a:pt x="21600" y="0"/>
                </a:lnTo>
                <a:lnTo>
                  <a:pt x="21600" y="0"/>
                </a:lnTo>
                <a:lnTo>
                  <a:pt x="0" y="0"/>
                </a:lnTo>
                <a:close/>
              </a:path>
            </a:pathLst>
          </a:custGeom>
          <a:noFill/>
          <a:ln>
            <a:noFill/>
          </a:ln>
          <a:extLst>
            <a:ext uri="{909E8E84-426E-40DD-AFC4-6F175D3DCCD1}">
              <a14:hiddenFill xmlns:a14="http://schemas.microsoft.com/office/drawing/2010/main">
                <a:solidFill>
                  <a:schemeClr val="accent5"/>
                </a:solidFill>
              </a14:hiddenFill>
            </a:ext>
          </a:extLst>
        </p:spPr>
        <p:txBody>
          <a:bodyPr spcFirstLastPara="1" wrap="square" lIns="25400" tIns="25400" rIns="25400" bIns="25400" anchor="t" anchorCtr="0">
            <a:noAutofit/>
          </a:bodyPr>
          <a:lstStyle/>
          <a:p>
            <a:pPr marL="0" marR="0" lvl="0" indent="0" algn="ctr" defTabSz="914400" rtl="0" eaLnBrk="1" fontAlgn="auto" latinLnBrk="0" hangingPunct="1">
              <a:lnSpc>
                <a:spcPct val="100000"/>
              </a:lnSpc>
              <a:spcBef>
                <a:spcPts val="0"/>
              </a:spcBef>
              <a:spcAft>
                <a:spcPts val="0"/>
              </a:spcAft>
              <a:buClr>
                <a:prstClr val="white"/>
              </a:buClr>
              <a:buSzPts val="700"/>
              <a:buFontTx/>
              <a:buNone/>
              <a:defRPr/>
            </a:pPr>
            <a:r>
              <a:rPr kumimoji="0" lang="en-GB" sz="935"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E</a:t>
            </a:r>
            <a:endParaRPr kumimoji="0" lang="en-GB" sz="935"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4" name="Google Shape;1724;p34"/>
          <p:cNvSpPr/>
          <p:nvPr/>
        </p:nvSpPr>
        <p:spPr>
          <a:xfrm>
            <a:off x="10074910" y="5179695"/>
            <a:ext cx="495935" cy="269875"/>
          </a:xfrm>
          <a:prstGeom prst="roundRect">
            <a:avLst>
              <a:gd name="adj" fmla="val 50000"/>
            </a:avLst>
          </a:prstGeom>
          <a:solidFill>
            <a:schemeClr val="accent5"/>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525455"/>
              </a:buClr>
              <a:buSzPts val="1100"/>
              <a:buFontTx/>
              <a:buNone/>
              <a:defRPr/>
            </a:pPr>
            <a:endParaRPr kumimoji="0" sz="1465" b="0" i="0" u="none" strike="noStrike" kern="1200" cap="none" spc="0" normalizeH="0" baseline="0" noProof="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5" name="Google Shape;1725;p34"/>
          <p:cNvSpPr/>
          <p:nvPr/>
        </p:nvSpPr>
        <p:spPr>
          <a:xfrm>
            <a:off x="10137775" y="5201920"/>
            <a:ext cx="369570" cy="193040"/>
          </a:xfrm>
          <a:custGeom>
            <a:avLst/>
            <a:gdLst/>
            <a:ahLst/>
            <a:cxnLst/>
            <a:rect l="l" t="t" r="r" b="b"/>
            <a:pathLst>
              <a:path w="21600" h="120000" extrusionOk="0">
                <a:moveTo>
                  <a:pt x="0" y="0"/>
                </a:moveTo>
                <a:lnTo>
                  <a:pt x="21600" y="0"/>
                </a:lnTo>
                <a:lnTo>
                  <a:pt x="21600" y="0"/>
                </a:lnTo>
                <a:lnTo>
                  <a:pt x="0" y="0"/>
                </a:lnTo>
                <a:close/>
              </a:path>
            </a:pathLst>
          </a:custGeom>
          <a:noFill/>
          <a:ln>
            <a:noFill/>
          </a:ln>
          <a:extLst>
            <a:ext uri="{909E8E84-426E-40DD-AFC4-6F175D3DCCD1}">
              <a14:hiddenFill xmlns:a14="http://schemas.microsoft.com/office/drawing/2010/main">
                <a:solidFill>
                  <a:schemeClr val="accent5"/>
                </a:solidFill>
              </a14:hiddenFill>
            </a:ext>
          </a:extLst>
        </p:spPr>
        <p:txBody>
          <a:bodyPr spcFirstLastPara="1" wrap="square" lIns="25400" tIns="25400" rIns="25400" bIns="25400" anchor="t" anchorCtr="0">
            <a:noAutofit/>
          </a:bodyPr>
          <a:lstStyle/>
          <a:p>
            <a:pPr marL="0" marR="0" lvl="0" indent="0" algn="ctr" defTabSz="914400" rtl="0" eaLnBrk="1" fontAlgn="auto" latinLnBrk="0" hangingPunct="1">
              <a:lnSpc>
                <a:spcPct val="100000"/>
              </a:lnSpc>
              <a:spcBef>
                <a:spcPts val="0"/>
              </a:spcBef>
              <a:spcAft>
                <a:spcPts val="0"/>
              </a:spcAft>
              <a:buClr>
                <a:prstClr val="white"/>
              </a:buClr>
              <a:buSzPts val="700"/>
              <a:buFontTx/>
              <a:buNone/>
              <a:defRPr/>
            </a:pPr>
            <a:r>
              <a:rPr kumimoji="0" lang="en-GB" sz="935"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F</a:t>
            </a:r>
            <a:endParaRPr kumimoji="0" lang="en-GB" sz="935"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6" name="箭头: 燕尾形 29"/>
          <p:cNvSpPr/>
          <p:nvPr/>
        </p:nvSpPr>
        <p:spPr>
          <a:xfrm>
            <a:off x="2724150" y="1925955"/>
            <a:ext cx="541655" cy="393700"/>
          </a:xfrm>
          <a:prstGeom prst="notchedRightArrow">
            <a:avLst/>
          </a:prstGeom>
          <a:solidFill>
            <a:schemeClr val="accent1"/>
          </a:solidFill>
          <a:ln>
            <a:noFill/>
          </a:ln>
        </p:spPr>
        <p:txBody>
          <a:bodyPr spcFirstLastPara="1" wrap="square" lIns="0" tIns="0" rIns="0" bIns="0" rtlCol="0" anchor="ctr" anchorCtr="0">
            <a:noAutofit/>
          </a:bodyPr>
          <a:lstStyle/>
          <a:p>
            <a:pPr lvl="0" algn="ctr">
              <a:spcBef>
                <a:spcPts val="0"/>
              </a:spcBef>
              <a:spcAft>
                <a:spcPts val="0"/>
              </a:spcAft>
              <a:buClr>
                <a:srgbClr val="525455"/>
              </a:buClr>
              <a:buSzPts val="1100"/>
              <a:buFontTx/>
              <a:defRPr/>
            </a:pPr>
            <a:endParaRPr sz="1465" b="1"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666" name="箭头: 燕尾形 1665"/>
          <p:cNvSpPr/>
          <p:nvPr/>
        </p:nvSpPr>
        <p:spPr>
          <a:xfrm>
            <a:off x="2720340" y="5126355"/>
            <a:ext cx="541655" cy="393700"/>
          </a:xfrm>
          <a:prstGeom prst="notchedRightArrow">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2328C"/>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80" name="Venn diagram"/>
          <p:cNvSpPr txBox="1"/>
          <p:nvPr/>
        </p:nvSpPr>
        <p:spPr>
          <a:xfrm rot="16200000">
            <a:off x="3456940" y="1413510"/>
            <a:ext cx="932815" cy="242570"/>
          </a:xfrm>
          <a:prstGeom prst="rect">
            <a:avLst/>
          </a:prstGeom>
          <a:ln w="12700">
            <a:miter lim="400000"/>
          </a:ln>
        </p:spPr>
        <p:txBody>
          <a:bodyPr lIns="25400" tIns="25400" rIns="25400" bIns="25400">
            <a:spAutoFit/>
          </a:bodyPr>
          <a:lstStyle>
            <a:lvl1pPr algn="r">
              <a:defRPr sz="2500">
                <a:solidFill>
                  <a:srgbClr val="535353"/>
                </a:solidFill>
                <a:latin typeface="Barlow SemiBold" panose="00000700000000000000"/>
                <a:ea typeface="Barlow SemiBold" panose="00000700000000000000"/>
                <a:cs typeface="Barlow SemiBold" panose="00000700000000000000"/>
                <a:sym typeface="Barlow SemiBold" panose="00000700000000000000"/>
              </a:defRPr>
            </a:lvl1pPr>
          </a:lstStyle>
          <a:p>
            <a:r>
              <a:rPr lang="en-US" altLang="zh-CN"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2025</a:t>
            </a:r>
            <a:r>
              <a:rPr lang="zh-CN" altLang="en-US"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年</a:t>
            </a:r>
            <a:r>
              <a:rPr lang="en-US" altLang="zh-CN"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1</a:t>
            </a:r>
            <a:r>
              <a:rPr lang="zh-CN" altLang="en-US"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月</a:t>
            </a:r>
            <a:endParaRPr lang="zh-CN" altLang="en-US"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81" name="Venn diagram"/>
          <p:cNvSpPr txBox="1"/>
          <p:nvPr/>
        </p:nvSpPr>
        <p:spPr>
          <a:xfrm rot="16200000">
            <a:off x="4761865" y="1413510"/>
            <a:ext cx="932815" cy="242570"/>
          </a:xfrm>
          <a:prstGeom prst="rect">
            <a:avLst/>
          </a:prstGeom>
          <a:ln w="12700">
            <a:miter lim="400000"/>
          </a:ln>
        </p:spPr>
        <p:txBody>
          <a:bodyPr lIns="25400" tIns="25400" rIns="25400" bIns="25400">
            <a:spAutoFit/>
          </a:bodyPr>
          <a:lstStyle>
            <a:lvl1pPr algn="r">
              <a:defRPr sz="2500">
                <a:solidFill>
                  <a:srgbClr val="535353"/>
                </a:solidFill>
                <a:latin typeface="Barlow SemiBold" panose="00000700000000000000"/>
                <a:ea typeface="Barlow SemiBold" panose="00000700000000000000"/>
                <a:cs typeface="Barlow SemiBold" panose="00000700000000000000"/>
                <a:sym typeface="Barlow SemiBold" panose="00000700000000000000"/>
              </a:defRPr>
            </a:lvl1pPr>
          </a:lstStyle>
          <a:p>
            <a:r>
              <a:rPr lang="en-US" altLang="zh-CN"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2025</a:t>
            </a:r>
            <a:r>
              <a:rPr lang="zh-CN" altLang="en-US"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年</a:t>
            </a:r>
            <a:r>
              <a:rPr lang="en-US" altLang="zh-CN"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2</a:t>
            </a:r>
            <a:r>
              <a:rPr lang="zh-CN" altLang="en-US"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月</a:t>
            </a:r>
            <a:endParaRPr lang="zh-CN" altLang="en-US"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82" name="Venn diagram"/>
          <p:cNvSpPr txBox="1"/>
          <p:nvPr/>
        </p:nvSpPr>
        <p:spPr>
          <a:xfrm rot="16200000">
            <a:off x="7371715" y="1413510"/>
            <a:ext cx="932815" cy="242570"/>
          </a:xfrm>
          <a:prstGeom prst="rect">
            <a:avLst/>
          </a:prstGeom>
          <a:ln w="12700">
            <a:miter lim="400000"/>
          </a:ln>
        </p:spPr>
        <p:txBody>
          <a:bodyPr lIns="25400" tIns="25400" rIns="25400" bIns="25400">
            <a:spAutoFit/>
          </a:bodyPr>
          <a:lstStyle>
            <a:lvl1pPr algn="r">
              <a:defRPr sz="2500">
                <a:solidFill>
                  <a:srgbClr val="535353"/>
                </a:solidFill>
                <a:latin typeface="Barlow SemiBold" panose="00000700000000000000"/>
                <a:ea typeface="Barlow SemiBold" panose="00000700000000000000"/>
                <a:cs typeface="Barlow SemiBold" panose="00000700000000000000"/>
                <a:sym typeface="Barlow SemiBold" panose="00000700000000000000"/>
              </a:defRPr>
            </a:lvl1pPr>
          </a:lstStyle>
          <a:p>
            <a:r>
              <a:rPr lang="en-US" altLang="zh-CN"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2025</a:t>
            </a:r>
            <a:r>
              <a:rPr lang="zh-CN" altLang="en-US"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年</a:t>
            </a:r>
            <a:r>
              <a:rPr lang="en-US" altLang="zh-CN"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4</a:t>
            </a:r>
            <a:r>
              <a:rPr lang="zh-CN" altLang="en-US"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月</a:t>
            </a:r>
            <a:endParaRPr lang="zh-CN" altLang="en-US"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87" name="Venn diagram"/>
          <p:cNvSpPr txBox="1"/>
          <p:nvPr/>
        </p:nvSpPr>
        <p:spPr>
          <a:xfrm rot="16200000">
            <a:off x="6066790" y="1413510"/>
            <a:ext cx="932815" cy="242570"/>
          </a:xfrm>
          <a:prstGeom prst="rect">
            <a:avLst/>
          </a:prstGeom>
          <a:ln w="12700">
            <a:miter lim="400000"/>
          </a:ln>
        </p:spPr>
        <p:txBody>
          <a:bodyPr lIns="25400" tIns="25400" rIns="25400" bIns="25400">
            <a:spAutoFit/>
          </a:bodyPr>
          <a:lstStyle>
            <a:lvl1pPr algn="r">
              <a:defRPr sz="2500">
                <a:solidFill>
                  <a:srgbClr val="535353"/>
                </a:solidFill>
                <a:latin typeface="Barlow SemiBold" panose="00000700000000000000"/>
                <a:ea typeface="Barlow SemiBold" panose="00000700000000000000"/>
                <a:cs typeface="Barlow SemiBold" panose="00000700000000000000"/>
                <a:sym typeface="Barlow SemiBold" panose="00000700000000000000"/>
              </a:defRPr>
            </a:lvl1pPr>
          </a:lstStyle>
          <a:p>
            <a:r>
              <a:rPr lang="en-US" altLang="zh-CN"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2025</a:t>
            </a:r>
            <a:r>
              <a:rPr lang="zh-CN" altLang="en-US"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年</a:t>
            </a:r>
            <a:r>
              <a:rPr lang="en-US" altLang="zh-CN"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3</a:t>
            </a:r>
            <a:r>
              <a:rPr lang="zh-CN" altLang="en-US"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月</a:t>
            </a:r>
            <a:endParaRPr lang="zh-CN" altLang="en-US"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89" name="Venn diagram"/>
          <p:cNvSpPr txBox="1"/>
          <p:nvPr/>
        </p:nvSpPr>
        <p:spPr>
          <a:xfrm rot="16200000">
            <a:off x="8676640" y="1413510"/>
            <a:ext cx="932815" cy="242570"/>
          </a:xfrm>
          <a:prstGeom prst="rect">
            <a:avLst/>
          </a:prstGeom>
          <a:ln w="12700">
            <a:miter lim="400000"/>
          </a:ln>
        </p:spPr>
        <p:txBody>
          <a:bodyPr lIns="25400" tIns="25400" rIns="25400" bIns="25400">
            <a:spAutoFit/>
          </a:bodyPr>
          <a:lstStyle>
            <a:lvl1pPr algn="r">
              <a:defRPr sz="2500">
                <a:solidFill>
                  <a:srgbClr val="535353"/>
                </a:solidFill>
                <a:latin typeface="Barlow SemiBold" panose="00000700000000000000"/>
                <a:ea typeface="Barlow SemiBold" panose="00000700000000000000"/>
                <a:cs typeface="Barlow SemiBold" panose="00000700000000000000"/>
                <a:sym typeface="Barlow SemiBold" panose="00000700000000000000"/>
              </a:defRPr>
            </a:lvl1pPr>
          </a:lstStyle>
          <a:p>
            <a:r>
              <a:rPr lang="en-US" altLang="zh-CN"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2025</a:t>
            </a:r>
            <a:r>
              <a:rPr lang="zh-CN" altLang="en-US"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年</a:t>
            </a:r>
            <a:r>
              <a:rPr lang="en-US" altLang="zh-CN"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5</a:t>
            </a:r>
            <a:r>
              <a:rPr lang="zh-CN" altLang="en-US"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月</a:t>
            </a:r>
            <a:endParaRPr lang="zh-CN" altLang="en-US"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90" name="Venn diagram"/>
          <p:cNvSpPr txBox="1"/>
          <p:nvPr/>
        </p:nvSpPr>
        <p:spPr>
          <a:xfrm rot="16200000">
            <a:off x="9981565" y="1413510"/>
            <a:ext cx="932815" cy="242570"/>
          </a:xfrm>
          <a:prstGeom prst="rect">
            <a:avLst/>
          </a:prstGeom>
          <a:ln w="12700">
            <a:miter lim="400000"/>
          </a:ln>
        </p:spPr>
        <p:txBody>
          <a:bodyPr lIns="25400" tIns="25400" rIns="25400" bIns="25400">
            <a:spAutoFit/>
          </a:bodyPr>
          <a:lstStyle>
            <a:lvl1pPr algn="r">
              <a:defRPr sz="2500">
                <a:solidFill>
                  <a:srgbClr val="535353"/>
                </a:solidFill>
                <a:latin typeface="Barlow SemiBold" panose="00000700000000000000"/>
                <a:ea typeface="Barlow SemiBold" panose="00000700000000000000"/>
                <a:cs typeface="Barlow SemiBold" panose="00000700000000000000"/>
                <a:sym typeface="Barlow SemiBold" panose="00000700000000000000"/>
              </a:defRPr>
            </a:lvl1pPr>
          </a:lstStyle>
          <a:p>
            <a:r>
              <a:rPr lang="en-US" altLang="zh-CN"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2025</a:t>
            </a:r>
            <a:r>
              <a:rPr lang="zh-CN" altLang="en-US"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年</a:t>
            </a:r>
            <a:r>
              <a:rPr lang="en-US" altLang="zh-CN"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6</a:t>
            </a:r>
            <a:r>
              <a:rPr lang="zh-CN" altLang="en-US"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月</a:t>
            </a:r>
            <a:endParaRPr lang="zh-CN" altLang="en-US" sz="125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91" name="Google Shape;1680;p34"/>
          <p:cNvSpPr txBox="1"/>
          <p:nvPr/>
        </p:nvSpPr>
        <p:spPr>
          <a:xfrm>
            <a:off x="5139690" y="3402965"/>
            <a:ext cx="1135380" cy="819785"/>
          </a:xfrm>
          <a:prstGeom prst="rect">
            <a:avLst/>
          </a:prstGeom>
          <a:noFill/>
          <a:ln>
            <a:noFill/>
          </a:ln>
        </p:spPr>
        <p:txBody>
          <a:bodyPr spcFirstLastPara="1" wrap="square" lIns="25400" tIns="25400" rIns="25400" bIns="25400" anchor="t" anchorCtr="0">
            <a:spAutoFit/>
          </a:bodyPr>
          <a:lstStyle/>
          <a:p>
            <a:pPr marL="0" marR="0" lvl="0" indent="0" algn="l" defTabSz="914400" rtl="0" eaLnBrk="1" fontAlgn="auto" latinLnBrk="0" hangingPunct="1">
              <a:lnSpc>
                <a:spcPct val="100000"/>
              </a:lnSpc>
              <a:spcBef>
                <a:spcPts val="0"/>
              </a:spcBef>
              <a:spcAft>
                <a:spcPts val="0"/>
              </a:spcAft>
              <a:buClr>
                <a:srgbClr val="44546A"/>
              </a:buClr>
              <a:buSzPts val="800"/>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优化产品的界面设计、功能架构、交互流程等，以提升用户体验和易用性。</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marL="0" marR="0" lvl="0" indent="0" algn="l" defTabSz="914400" rtl="0" eaLnBrk="1" fontAlgn="auto" latinLnBrk="0" hangingPunct="1">
              <a:lnSpc>
                <a:spcPct val="100000"/>
              </a:lnSpc>
              <a:spcBef>
                <a:spcPts val="0"/>
              </a:spcBef>
              <a:spcAft>
                <a:spcPts val="0"/>
              </a:spcAft>
              <a:buClr>
                <a:srgbClr val="44546A"/>
              </a:buClr>
              <a:buSzPts val="800"/>
              <a:buFontTx/>
              <a:buNone/>
              <a:defRPr/>
            </a:pP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92" name="Google Shape;1681;p34"/>
          <p:cNvSpPr txBox="1"/>
          <p:nvPr/>
        </p:nvSpPr>
        <p:spPr>
          <a:xfrm>
            <a:off x="5142865" y="3138805"/>
            <a:ext cx="1119505" cy="234950"/>
          </a:xfrm>
          <a:prstGeom prst="rect">
            <a:avLst/>
          </a:prstGeom>
          <a:noFill/>
          <a:ln>
            <a:noFill/>
          </a:ln>
        </p:spPr>
        <p:txBody>
          <a:bodyPr spcFirstLastPara="1" wrap="square" lIns="25400" tIns="25400" rIns="25400" bIns="25400" anchor="t" anchorCtr="0">
            <a:spAutoFit/>
          </a:bodyPr>
          <a:lstStyle/>
          <a:p>
            <a:pPr marL="0" marR="0" lvl="0" indent="0" algn="l" defTabSz="914400" rtl="0" eaLnBrk="1" fontAlgn="auto" latinLnBrk="0" hangingPunct="1">
              <a:lnSpc>
                <a:spcPct val="100000"/>
              </a:lnSpc>
              <a:spcBef>
                <a:spcPts val="0"/>
              </a:spcBef>
              <a:spcAft>
                <a:spcPts val="0"/>
              </a:spcAft>
              <a:buClr>
                <a:prstClr val="black"/>
              </a:buClr>
              <a:buSzPts val="900"/>
              <a:buFontTx/>
              <a:buNone/>
              <a:defRPr/>
            </a:pPr>
            <a:r>
              <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设计优化</a:t>
            </a:r>
            <a:endPar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94" name="Google Shape;1680;p34"/>
          <p:cNvSpPr txBox="1"/>
          <p:nvPr/>
        </p:nvSpPr>
        <p:spPr>
          <a:xfrm>
            <a:off x="6494780" y="3402965"/>
            <a:ext cx="1135380" cy="974090"/>
          </a:xfrm>
          <a:prstGeom prst="rect">
            <a:avLst/>
          </a:prstGeom>
          <a:noFill/>
          <a:ln>
            <a:noFill/>
          </a:ln>
        </p:spPr>
        <p:txBody>
          <a:bodyPr spcFirstLastPara="1" wrap="square" lIns="25400" tIns="25400" rIns="25400" bIns="25400" anchor="t" anchorCtr="0">
            <a:spAutoFit/>
          </a:bodyPr>
          <a:lstStyle/>
          <a:p>
            <a:pPr marL="0" marR="0" lvl="0" indent="0" algn="l" defTabSz="914400" rtl="0" eaLnBrk="1" fontAlgn="auto" latinLnBrk="0" hangingPunct="1">
              <a:lnSpc>
                <a:spcPct val="100000"/>
              </a:lnSpc>
              <a:spcBef>
                <a:spcPts val="0"/>
              </a:spcBef>
              <a:spcAft>
                <a:spcPts val="0"/>
              </a:spcAft>
              <a:buClr>
                <a:srgbClr val="44546A"/>
              </a:buClr>
              <a:buSzPts val="800"/>
              <a:buFontTx/>
              <a:buNone/>
              <a:defRPr/>
            </a:pPr>
            <a:r>
              <a:rPr kumimoji="0" lang="zh-CN" altLang="en-US" sz="1000" b="0" i="0" u="none" strike="noStrike" kern="1200" cap="none" spc="0" normalizeH="0" baseline="0" noProof="0" dirty="0">
                <a:ln>
                  <a:noFill/>
                </a:ln>
                <a:solidFill>
                  <a:srgbClr val="44546A">
                    <a:lumMod val="75000"/>
                  </a:srgbClr>
                </a:solidFill>
                <a:effectLst/>
                <a:uLnTx/>
                <a:uFillTx/>
                <a:latin typeface="微软雅黑" panose="020B0503020204020204" charset="-122"/>
                <a:ea typeface="微软雅黑" panose="020B0503020204020204" charset="-122"/>
                <a:cs typeface="微软雅黑" panose="020B0503020204020204" charset="-122"/>
                <a:sym typeface="+mn-ea"/>
              </a:rPr>
              <a:t>优化产品的技术架构、性能、安全性等方面，确保产品在运行和扩展上的效率和可靠性。</a:t>
            </a:r>
            <a:endParaRPr kumimoji="0" lang="zh-CN" altLang="en-US" sz="1000" b="0" i="0" u="none" strike="noStrike" kern="1200" cap="none" spc="0" normalizeH="0" baseline="0" noProof="0" dirty="0">
              <a:ln>
                <a:noFill/>
              </a:ln>
              <a:solidFill>
                <a:srgbClr val="44546A">
                  <a:lumMod val="75000"/>
                </a:srgbClr>
              </a:solidFill>
              <a:effectLst/>
              <a:uLnTx/>
              <a:uFillTx/>
              <a:latin typeface="微软雅黑" panose="020B0503020204020204" charset="-122"/>
              <a:ea typeface="微软雅黑" panose="020B0503020204020204" charset="-122"/>
              <a:cs typeface="微软雅黑" panose="020B0503020204020204" charset="-122"/>
              <a:sym typeface="+mn-ea"/>
            </a:endParaRPr>
          </a:p>
          <a:p>
            <a:pPr marL="0" marR="0" lvl="0" indent="0" algn="l" defTabSz="914400" rtl="0" eaLnBrk="1" fontAlgn="auto" latinLnBrk="0" hangingPunct="1">
              <a:lnSpc>
                <a:spcPct val="100000"/>
              </a:lnSpc>
              <a:spcBef>
                <a:spcPts val="0"/>
              </a:spcBef>
              <a:spcAft>
                <a:spcPts val="0"/>
              </a:spcAft>
              <a:buClr>
                <a:srgbClr val="44546A"/>
              </a:buClr>
              <a:buSzPts val="800"/>
              <a:buFontTx/>
              <a:buNone/>
              <a:defRPr/>
            </a:pPr>
            <a:endParaRPr kumimoji="0" lang="zh-CN" altLang="en-US" sz="1000" b="0" i="0" u="none" strike="noStrike" kern="1200" cap="none" spc="0" normalizeH="0" baseline="0" noProof="0" dirty="0">
              <a:ln>
                <a:noFill/>
              </a:ln>
              <a:solidFill>
                <a:srgbClr val="44546A">
                  <a:lumMod val="75000"/>
                </a:srgb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95" name="Google Shape;1681;p34"/>
          <p:cNvSpPr txBox="1"/>
          <p:nvPr/>
        </p:nvSpPr>
        <p:spPr>
          <a:xfrm>
            <a:off x="6497955" y="3138805"/>
            <a:ext cx="1119505" cy="234950"/>
          </a:xfrm>
          <a:prstGeom prst="rect">
            <a:avLst/>
          </a:prstGeom>
          <a:noFill/>
          <a:ln>
            <a:noFill/>
          </a:ln>
        </p:spPr>
        <p:txBody>
          <a:bodyPr spcFirstLastPara="1" wrap="square" lIns="25400" tIns="25400" rIns="25400" bIns="25400" anchor="t" anchorCtr="0">
            <a:spAutoFit/>
          </a:bodyPr>
          <a:lstStyle/>
          <a:p>
            <a:pPr marL="0" marR="0" lvl="0" indent="0" algn="l" defTabSz="914400" rtl="0" eaLnBrk="1" fontAlgn="auto" latinLnBrk="0" hangingPunct="1">
              <a:lnSpc>
                <a:spcPct val="100000"/>
              </a:lnSpc>
              <a:spcBef>
                <a:spcPts val="0"/>
              </a:spcBef>
              <a:spcAft>
                <a:spcPts val="0"/>
              </a:spcAft>
              <a:buClr>
                <a:prstClr val="black"/>
              </a:buClr>
              <a:buSzPts val="900"/>
              <a:buFontTx/>
              <a:buNone/>
              <a:defRPr/>
            </a:pPr>
            <a:r>
              <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技术优化</a:t>
            </a:r>
            <a:endPar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96" name="Google Shape;1680;p34"/>
          <p:cNvSpPr txBox="1"/>
          <p:nvPr/>
        </p:nvSpPr>
        <p:spPr>
          <a:xfrm>
            <a:off x="7810500" y="3402965"/>
            <a:ext cx="1135380" cy="666115"/>
          </a:xfrm>
          <a:prstGeom prst="rect">
            <a:avLst/>
          </a:prstGeom>
          <a:noFill/>
          <a:ln>
            <a:noFill/>
          </a:ln>
        </p:spPr>
        <p:txBody>
          <a:bodyPr spcFirstLastPara="1" wrap="square" lIns="25400" tIns="25400" rIns="25400" bIns="25400" anchor="t" anchorCtr="0">
            <a:spAutoFit/>
          </a:bodyPr>
          <a:lstStyle/>
          <a:p>
            <a:pPr marL="0" marR="0" lvl="0" indent="0" algn="l" defTabSz="914400" rtl="0" eaLnBrk="1" fontAlgn="auto" latinLnBrk="0" hangingPunct="1">
              <a:lnSpc>
                <a:spcPct val="100000"/>
              </a:lnSpc>
              <a:spcBef>
                <a:spcPts val="0"/>
              </a:spcBef>
              <a:spcAft>
                <a:spcPts val="0"/>
              </a:spcAft>
              <a:buClr>
                <a:srgbClr val="44546A"/>
              </a:buClr>
              <a:buSzPts val="800"/>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进行全面的功能测试、性能测试和用户验收测试，确保产品质量和稳定性。</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97" name="Google Shape;1681;p34"/>
          <p:cNvSpPr txBox="1"/>
          <p:nvPr/>
        </p:nvSpPr>
        <p:spPr>
          <a:xfrm>
            <a:off x="7813675" y="3138805"/>
            <a:ext cx="1119505" cy="234950"/>
          </a:xfrm>
          <a:prstGeom prst="rect">
            <a:avLst/>
          </a:prstGeom>
          <a:noFill/>
          <a:ln>
            <a:noFill/>
          </a:ln>
        </p:spPr>
        <p:txBody>
          <a:bodyPr spcFirstLastPara="1" wrap="square" lIns="25400" tIns="25400" rIns="25400" bIns="25400" anchor="t" anchorCtr="0">
            <a:spAutoFit/>
          </a:bodyPr>
          <a:lstStyle/>
          <a:p>
            <a:pPr marL="0" marR="0" lvl="0" indent="0" algn="l" defTabSz="914400" rtl="0" eaLnBrk="1" fontAlgn="auto" latinLnBrk="0" hangingPunct="1">
              <a:lnSpc>
                <a:spcPct val="100000"/>
              </a:lnSpc>
              <a:spcBef>
                <a:spcPts val="0"/>
              </a:spcBef>
              <a:spcAft>
                <a:spcPts val="0"/>
              </a:spcAft>
              <a:buClr>
                <a:prstClr val="black"/>
              </a:buClr>
              <a:buSzPts val="900"/>
              <a:buFontTx/>
              <a:buNone/>
              <a:defRPr/>
            </a:pPr>
            <a:r>
              <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测试验证</a:t>
            </a:r>
            <a:endPar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98" name="Google Shape;1680;p34"/>
          <p:cNvSpPr txBox="1"/>
          <p:nvPr/>
        </p:nvSpPr>
        <p:spPr>
          <a:xfrm>
            <a:off x="9126220" y="3402965"/>
            <a:ext cx="1135380" cy="819785"/>
          </a:xfrm>
          <a:prstGeom prst="rect">
            <a:avLst/>
          </a:prstGeom>
          <a:noFill/>
          <a:ln>
            <a:noFill/>
          </a:ln>
        </p:spPr>
        <p:txBody>
          <a:bodyPr spcFirstLastPara="1" wrap="square" lIns="25400" tIns="25400" rIns="25400" bIns="25400" anchor="t" anchorCtr="0">
            <a:spAutoFit/>
          </a:bodyPr>
          <a:lstStyle/>
          <a:p>
            <a:pPr marL="0" marR="0" lvl="0" indent="0" algn="l" defTabSz="914400" rtl="0" eaLnBrk="1" fontAlgn="auto" latinLnBrk="0" hangingPunct="1">
              <a:lnSpc>
                <a:spcPct val="100000"/>
              </a:lnSpc>
              <a:spcBef>
                <a:spcPts val="0"/>
              </a:spcBef>
              <a:spcAft>
                <a:spcPts val="0"/>
              </a:spcAft>
              <a:buClr>
                <a:srgbClr val="44546A"/>
              </a:buClr>
              <a:buSzPts val="800"/>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将优化后产品发布到市场，监测用户使用情况和反馈，解决新版本可能存在的问题。</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99" name="Google Shape;1681;p34"/>
          <p:cNvSpPr txBox="1"/>
          <p:nvPr/>
        </p:nvSpPr>
        <p:spPr>
          <a:xfrm>
            <a:off x="9129395" y="3138805"/>
            <a:ext cx="1119505" cy="234950"/>
          </a:xfrm>
          <a:prstGeom prst="rect">
            <a:avLst/>
          </a:prstGeom>
          <a:noFill/>
          <a:ln>
            <a:noFill/>
          </a:ln>
        </p:spPr>
        <p:txBody>
          <a:bodyPr spcFirstLastPara="1" wrap="square" lIns="25400" tIns="25400" rIns="25400" bIns="25400" anchor="t" anchorCtr="0">
            <a:spAutoFit/>
          </a:bodyPr>
          <a:lstStyle/>
          <a:p>
            <a:pPr marL="0" marR="0" lvl="0" indent="0" algn="l" defTabSz="914400" rtl="0" eaLnBrk="1" fontAlgn="auto" latinLnBrk="0" hangingPunct="1">
              <a:lnSpc>
                <a:spcPct val="100000"/>
              </a:lnSpc>
              <a:spcBef>
                <a:spcPts val="0"/>
              </a:spcBef>
              <a:spcAft>
                <a:spcPts val="0"/>
              </a:spcAft>
              <a:buClr>
                <a:prstClr val="black"/>
              </a:buClr>
              <a:buSzPts val="900"/>
              <a:buFontTx/>
              <a:buNone/>
              <a:defRPr/>
            </a:pPr>
            <a:r>
              <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反馈收集</a:t>
            </a:r>
            <a:endPar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01" name="Google Shape;1680;p34"/>
          <p:cNvSpPr txBox="1"/>
          <p:nvPr/>
        </p:nvSpPr>
        <p:spPr>
          <a:xfrm>
            <a:off x="10507345" y="3402965"/>
            <a:ext cx="1135380" cy="819785"/>
          </a:xfrm>
          <a:prstGeom prst="rect">
            <a:avLst/>
          </a:prstGeom>
          <a:noFill/>
          <a:ln>
            <a:noFill/>
          </a:ln>
        </p:spPr>
        <p:txBody>
          <a:bodyPr spcFirstLastPara="1" wrap="square" lIns="25400" tIns="25400" rIns="25400" bIns="25400" anchor="t" anchorCtr="0">
            <a:spAutoFit/>
          </a:bodyPr>
          <a:lstStyle/>
          <a:p>
            <a:pPr marL="0" marR="0" lvl="0" indent="0" algn="l" defTabSz="914400" rtl="0" eaLnBrk="1" fontAlgn="auto" latinLnBrk="0" hangingPunct="1">
              <a:lnSpc>
                <a:spcPct val="100000"/>
              </a:lnSpc>
              <a:spcBef>
                <a:spcPts val="0"/>
              </a:spcBef>
              <a:spcAft>
                <a:spcPts val="0"/>
              </a:spcAft>
              <a:buClr>
                <a:srgbClr val="44546A"/>
              </a:buClr>
              <a:buSzPts val="800"/>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基于收集到的用户反馈和市场数据，持续优化产品，以适应市场和用户需求的变化。</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02" name="Google Shape;1681;p34"/>
          <p:cNvSpPr txBox="1"/>
          <p:nvPr/>
        </p:nvSpPr>
        <p:spPr>
          <a:xfrm>
            <a:off x="10510520" y="3138805"/>
            <a:ext cx="1119505" cy="234950"/>
          </a:xfrm>
          <a:prstGeom prst="rect">
            <a:avLst/>
          </a:prstGeom>
          <a:noFill/>
          <a:ln>
            <a:noFill/>
          </a:ln>
        </p:spPr>
        <p:txBody>
          <a:bodyPr spcFirstLastPara="1" wrap="square" lIns="25400" tIns="25400" rIns="25400" bIns="25400" anchor="t" anchorCtr="0">
            <a:spAutoFit/>
          </a:bodyPr>
          <a:lstStyle/>
          <a:p>
            <a:pPr marL="0" marR="0" lvl="0" indent="0" algn="l" defTabSz="914400" rtl="0" eaLnBrk="1" fontAlgn="auto" latinLnBrk="0" hangingPunct="1">
              <a:lnSpc>
                <a:spcPct val="100000"/>
              </a:lnSpc>
              <a:spcBef>
                <a:spcPts val="0"/>
              </a:spcBef>
              <a:spcAft>
                <a:spcPts val="0"/>
              </a:spcAft>
              <a:buClr>
                <a:prstClr val="black"/>
              </a:buClr>
              <a:buSzPts val="900"/>
              <a:buFontTx/>
              <a:buNone/>
              <a:defRPr/>
            </a:pPr>
            <a:r>
              <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持续改进</a:t>
            </a:r>
            <a:endPar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43" name="Google Shape;1704;p34"/>
          <p:cNvSpPr txBox="1"/>
          <p:nvPr/>
        </p:nvSpPr>
        <p:spPr>
          <a:xfrm>
            <a:off x="661670" y="3418205"/>
            <a:ext cx="1379220" cy="234950"/>
          </a:xfrm>
          <a:prstGeom prst="rect">
            <a:avLst/>
          </a:prstGeom>
          <a:noFill/>
          <a:ln>
            <a:noFill/>
          </a:ln>
        </p:spPr>
        <p:txBody>
          <a:bodyPr spcFirstLastPara="1" wrap="square" lIns="25400" tIns="25400" rIns="25400" bIns="25400" anchor="t" anchorCtr="0">
            <a:spAutoFit/>
          </a:bodyPr>
          <a:lstStyle/>
          <a:p>
            <a:pPr marL="0" marR="0" lvl="0" indent="0" algn="ctr" defTabSz="914400" rtl="0" eaLnBrk="1" fontAlgn="auto" latinLnBrk="0" hangingPunct="1">
              <a:lnSpc>
                <a:spcPct val="100000"/>
              </a:lnSpc>
              <a:spcBef>
                <a:spcPts val="0"/>
              </a:spcBef>
              <a:spcAft>
                <a:spcPts val="0"/>
              </a:spcAft>
              <a:buClr>
                <a:prstClr val="black"/>
              </a:buClr>
              <a:buSzPts val="900"/>
              <a:buFontTx/>
              <a:buNone/>
              <a:defRPr/>
            </a:pPr>
            <a:r>
              <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时间轴</a:t>
            </a:r>
            <a:endPar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44" name="Google Shape;1704;p34"/>
          <p:cNvSpPr txBox="1"/>
          <p:nvPr/>
        </p:nvSpPr>
        <p:spPr>
          <a:xfrm>
            <a:off x="663575" y="3754755"/>
            <a:ext cx="1379220" cy="234950"/>
          </a:xfrm>
          <a:prstGeom prst="rect">
            <a:avLst/>
          </a:prstGeom>
          <a:noFill/>
          <a:ln>
            <a:noFill/>
          </a:ln>
        </p:spPr>
        <p:txBody>
          <a:bodyPr spcFirstLastPara="1" wrap="square" lIns="25400" tIns="25400" rIns="25400" bIns="25400" anchor="t" anchorCtr="0">
            <a:spAutoFit/>
          </a:bodyPr>
          <a:lstStyle/>
          <a:p>
            <a:pPr marL="0" marR="0" lvl="0" indent="0" algn="ctr" defTabSz="914400" rtl="0" eaLnBrk="1" fontAlgn="auto" latinLnBrk="0" hangingPunct="1">
              <a:lnSpc>
                <a:spcPct val="100000"/>
              </a:lnSpc>
              <a:spcBef>
                <a:spcPts val="0"/>
              </a:spcBef>
              <a:spcAft>
                <a:spcPts val="0"/>
              </a:spcAft>
              <a:buClr>
                <a:prstClr val="black"/>
              </a:buClr>
              <a:buSzPts val="900"/>
              <a:buFontTx/>
              <a:buNone/>
              <a:defRPr/>
            </a:pPr>
            <a:r>
              <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项目轴</a:t>
            </a:r>
            <a:endPar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45" name="Google Shape;1705;p34"/>
          <p:cNvSpPr/>
          <p:nvPr/>
        </p:nvSpPr>
        <p:spPr>
          <a:xfrm>
            <a:off x="2040890" y="3432175"/>
            <a:ext cx="191770" cy="163195"/>
          </a:xfrm>
          <a:custGeom>
            <a:avLst/>
            <a:gdLst/>
            <a:ahLst/>
            <a:cxnLst/>
            <a:rect l="l" t="t" r="r" b="b"/>
            <a:pathLst>
              <a:path w="21600" h="21600" extrusionOk="0">
                <a:moveTo>
                  <a:pt x="1093" y="0"/>
                </a:moveTo>
                <a:cubicBezTo>
                  <a:pt x="499" y="0"/>
                  <a:pt x="0" y="584"/>
                  <a:pt x="0" y="1283"/>
                </a:cubicBezTo>
                <a:cubicBezTo>
                  <a:pt x="0" y="1537"/>
                  <a:pt x="86" y="1788"/>
                  <a:pt x="205" y="1978"/>
                </a:cubicBezTo>
                <a:lnTo>
                  <a:pt x="5189" y="10800"/>
                </a:lnTo>
                <a:lnTo>
                  <a:pt x="205" y="19649"/>
                </a:lnTo>
                <a:cubicBezTo>
                  <a:pt x="86" y="19839"/>
                  <a:pt x="0" y="20089"/>
                  <a:pt x="0" y="20344"/>
                </a:cubicBezTo>
                <a:cubicBezTo>
                  <a:pt x="0" y="21042"/>
                  <a:pt x="499" y="21600"/>
                  <a:pt x="1093" y="21600"/>
                </a:cubicBezTo>
                <a:lnTo>
                  <a:pt x="4325" y="21600"/>
                </a:lnTo>
                <a:cubicBezTo>
                  <a:pt x="4702" y="21600"/>
                  <a:pt x="5041" y="21382"/>
                  <a:pt x="5235" y="21039"/>
                </a:cubicBezTo>
                <a:lnTo>
                  <a:pt x="10629" y="11495"/>
                </a:lnTo>
                <a:cubicBezTo>
                  <a:pt x="10748" y="11304"/>
                  <a:pt x="10811" y="11054"/>
                  <a:pt x="10811" y="10800"/>
                </a:cubicBezTo>
                <a:cubicBezTo>
                  <a:pt x="10811" y="10546"/>
                  <a:pt x="10748" y="10296"/>
                  <a:pt x="10629" y="10105"/>
                </a:cubicBezTo>
                <a:lnTo>
                  <a:pt x="5235" y="588"/>
                </a:lnTo>
                <a:cubicBezTo>
                  <a:pt x="5041" y="245"/>
                  <a:pt x="4702" y="0"/>
                  <a:pt x="4325" y="0"/>
                </a:cubicBezTo>
                <a:lnTo>
                  <a:pt x="1093" y="0"/>
                </a:lnTo>
                <a:close/>
                <a:moveTo>
                  <a:pt x="11881" y="0"/>
                </a:moveTo>
                <a:cubicBezTo>
                  <a:pt x="11287" y="0"/>
                  <a:pt x="10811" y="584"/>
                  <a:pt x="10811" y="1283"/>
                </a:cubicBezTo>
                <a:cubicBezTo>
                  <a:pt x="10811" y="1537"/>
                  <a:pt x="10875" y="1788"/>
                  <a:pt x="10993" y="1978"/>
                </a:cubicBezTo>
                <a:lnTo>
                  <a:pt x="15978" y="10800"/>
                </a:lnTo>
                <a:lnTo>
                  <a:pt x="10993" y="19649"/>
                </a:lnTo>
                <a:cubicBezTo>
                  <a:pt x="10875" y="19839"/>
                  <a:pt x="10811" y="20089"/>
                  <a:pt x="10811" y="20344"/>
                </a:cubicBezTo>
                <a:cubicBezTo>
                  <a:pt x="10811" y="21042"/>
                  <a:pt x="11287" y="21600"/>
                  <a:pt x="11881" y="21600"/>
                </a:cubicBezTo>
                <a:lnTo>
                  <a:pt x="15113" y="21600"/>
                </a:lnTo>
                <a:cubicBezTo>
                  <a:pt x="15491" y="21600"/>
                  <a:pt x="15829" y="21382"/>
                  <a:pt x="16024" y="21039"/>
                </a:cubicBezTo>
                <a:lnTo>
                  <a:pt x="21418" y="11495"/>
                </a:lnTo>
                <a:cubicBezTo>
                  <a:pt x="21537" y="11304"/>
                  <a:pt x="21600" y="11054"/>
                  <a:pt x="21600" y="10800"/>
                </a:cubicBezTo>
                <a:cubicBezTo>
                  <a:pt x="21600" y="10546"/>
                  <a:pt x="21537" y="10296"/>
                  <a:pt x="21418" y="10105"/>
                </a:cubicBezTo>
                <a:lnTo>
                  <a:pt x="16024" y="588"/>
                </a:lnTo>
                <a:cubicBezTo>
                  <a:pt x="15829" y="245"/>
                  <a:pt x="15491" y="0"/>
                  <a:pt x="15113" y="0"/>
                </a:cubicBezTo>
                <a:lnTo>
                  <a:pt x="11881" y="0"/>
                </a:lnTo>
                <a:close/>
              </a:path>
            </a:pathLst>
          </a:custGeom>
          <a:solidFill>
            <a:schemeClr val="bg1">
              <a:lumMod val="95000"/>
            </a:schemeClr>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defRPr/>
            </a:pPr>
            <a:endParaRPr kumimoji="0" sz="1465" b="0" i="0" u="none" strike="noStrike" kern="1200" cap="none" spc="0" normalizeH="0" baseline="0" noProof="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48" name="Google Shape;1705;p34"/>
          <p:cNvSpPr/>
          <p:nvPr/>
        </p:nvSpPr>
        <p:spPr>
          <a:xfrm>
            <a:off x="2040890" y="3788410"/>
            <a:ext cx="191770" cy="163195"/>
          </a:xfrm>
          <a:custGeom>
            <a:avLst/>
            <a:gdLst/>
            <a:ahLst/>
            <a:cxnLst/>
            <a:rect l="l" t="t" r="r" b="b"/>
            <a:pathLst>
              <a:path w="21600" h="21600" extrusionOk="0">
                <a:moveTo>
                  <a:pt x="1093" y="0"/>
                </a:moveTo>
                <a:cubicBezTo>
                  <a:pt x="499" y="0"/>
                  <a:pt x="0" y="584"/>
                  <a:pt x="0" y="1283"/>
                </a:cubicBezTo>
                <a:cubicBezTo>
                  <a:pt x="0" y="1537"/>
                  <a:pt x="86" y="1788"/>
                  <a:pt x="205" y="1978"/>
                </a:cubicBezTo>
                <a:lnTo>
                  <a:pt x="5189" y="10800"/>
                </a:lnTo>
                <a:lnTo>
                  <a:pt x="205" y="19649"/>
                </a:lnTo>
                <a:cubicBezTo>
                  <a:pt x="86" y="19839"/>
                  <a:pt x="0" y="20089"/>
                  <a:pt x="0" y="20344"/>
                </a:cubicBezTo>
                <a:cubicBezTo>
                  <a:pt x="0" y="21042"/>
                  <a:pt x="499" y="21600"/>
                  <a:pt x="1093" y="21600"/>
                </a:cubicBezTo>
                <a:lnTo>
                  <a:pt x="4325" y="21600"/>
                </a:lnTo>
                <a:cubicBezTo>
                  <a:pt x="4702" y="21600"/>
                  <a:pt x="5041" y="21382"/>
                  <a:pt x="5235" y="21039"/>
                </a:cubicBezTo>
                <a:lnTo>
                  <a:pt x="10629" y="11495"/>
                </a:lnTo>
                <a:cubicBezTo>
                  <a:pt x="10748" y="11304"/>
                  <a:pt x="10811" y="11054"/>
                  <a:pt x="10811" y="10800"/>
                </a:cubicBezTo>
                <a:cubicBezTo>
                  <a:pt x="10811" y="10546"/>
                  <a:pt x="10748" y="10296"/>
                  <a:pt x="10629" y="10105"/>
                </a:cubicBezTo>
                <a:lnTo>
                  <a:pt x="5235" y="588"/>
                </a:lnTo>
                <a:cubicBezTo>
                  <a:pt x="5041" y="245"/>
                  <a:pt x="4702" y="0"/>
                  <a:pt x="4325" y="0"/>
                </a:cubicBezTo>
                <a:lnTo>
                  <a:pt x="1093" y="0"/>
                </a:lnTo>
                <a:close/>
                <a:moveTo>
                  <a:pt x="11881" y="0"/>
                </a:moveTo>
                <a:cubicBezTo>
                  <a:pt x="11287" y="0"/>
                  <a:pt x="10811" y="584"/>
                  <a:pt x="10811" y="1283"/>
                </a:cubicBezTo>
                <a:cubicBezTo>
                  <a:pt x="10811" y="1537"/>
                  <a:pt x="10875" y="1788"/>
                  <a:pt x="10993" y="1978"/>
                </a:cubicBezTo>
                <a:lnTo>
                  <a:pt x="15978" y="10800"/>
                </a:lnTo>
                <a:lnTo>
                  <a:pt x="10993" y="19649"/>
                </a:lnTo>
                <a:cubicBezTo>
                  <a:pt x="10875" y="19839"/>
                  <a:pt x="10811" y="20089"/>
                  <a:pt x="10811" y="20344"/>
                </a:cubicBezTo>
                <a:cubicBezTo>
                  <a:pt x="10811" y="21042"/>
                  <a:pt x="11287" y="21600"/>
                  <a:pt x="11881" y="21600"/>
                </a:cubicBezTo>
                <a:lnTo>
                  <a:pt x="15113" y="21600"/>
                </a:lnTo>
                <a:cubicBezTo>
                  <a:pt x="15491" y="21600"/>
                  <a:pt x="15829" y="21382"/>
                  <a:pt x="16024" y="21039"/>
                </a:cubicBezTo>
                <a:lnTo>
                  <a:pt x="21418" y="11495"/>
                </a:lnTo>
                <a:cubicBezTo>
                  <a:pt x="21537" y="11304"/>
                  <a:pt x="21600" y="11054"/>
                  <a:pt x="21600" y="10800"/>
                </a:cubicBezTo>
                <a:cubicBezTo>
                  <a:pt x="21600" y="10546"/>
                  <a:pt x="21537" y="10296"/>
                  <a:pt x="21418" y="10105"/>
                </a:cubicBezTo>
                <a:lnTo>
                  <a:pt x="16024" y="588"/>
                </a:lnTo>
                <a:cubicBezTo>
                  <a:pt x="15829" y="245"/>
                  <a:pt x="15491" y="0"/>
                  <a:pt x="15113" y="0"/>
                </a:cubicBezTo>
                <a:lnTo>
                  <a:pt x="11881" y="0"/>
                </a:lnTo>
                <a:close/>
              </a:path>
            </a:pathLst>
          </a:custGeom>
          <a:solidFill>
            <a:schemeClr val="bg1">
              <a:lumMod val="95000"/>
            </a:schemeClr>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defRPr/>
            </a:pPr>
            <a:endParaRPr kumimoji="0" sz="1465" b="0" i="0" u="none" strike="noStrike" kern="1200" cap="none" spc="0" normalizeH="0" baseline="0" noProof="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49" name="Google Shape;1680;p34"/>
          <p:cNvSpPr txBox="1"/>
          <p:nvPr/>
        </p:nvSpPr>
        <p:spPr>
          <a:xfrm>
            <a:off x="3262630" y="5849620"/>
            <a:ext cx="1135380" cy="666115"/>
          </a:xfrm>
          <a:prstGeom prst="rect">
            <a:avLst/>
          </a:prstGeom>
          <a:noFill/>
          <a:ln>
            <a:noFill/>
          </a:ln>
        </p:spPr>
        <p:txBody>
          <a:bodyPr spcFirstLastPara="1" wrap="square" lIns="25400" tIns="25400" rIns="25400" bIns="25400" anchor="t" anchorCtr="0">
            <a:spAutoFit/>
          </a:bodyPr>
          <a:lstStyle/>
          <a:p>
            <a:pPr marL="0" marR="0" lvl="0" indent="0" algn="l" defTabSz="914400" rtl="0" eaLnBrk="1" fontAlgn="auto" latinLnBrk="0" hangingPunct="1">
              <a:lnSpc>
                <a:spcPct val="100000"/>
              </a:lnSpc>
              <a:spcBef>
                <a:spcPts val="0"/>
              </a:spcBef>
              <a:spcAft>
                <a:spcPts val="0"/>
              </a:spcAft>
              <a:buClr>
                <a:srgbClr val="44546A"/>
              </a:buClr>
              <a:buSzPts val="800"/>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分析目标市场的特征、竞争对手。确定目标市场细分和目标客户群体。</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50" name="Google Shape;1681;p34"/>
          <p:cNvSpPr txBox="1"/>
          <p:nvPr/>
        </p:nvSpPr>
        <p:spPr>
          <a:xfrm>
            <a:off x="3265805" y="5585460"/>
            <a:ext cx="1119505" cy="234950"/>
          </a:xfrm>
          <a:prstGeom prst="rect">
            <a:avLst/>
          </a:prstGeom>
          <a:noFill/>
          <a:ln>
            <a:noFill/>
          </a:ln>
        </p:spPr>
        <p:txBody>
          <a:bodyPr spcFirstLastPara="1" wrap="square" lIns="25400" tIns="25400" rIns="25400" bIns="25400" anchor="t" anchorCtr="0">
            <a:spAutoFit/>
          </a:bodyPr>
          <a:lstStyle/>
          <a:p>
            <a:pPr marL="0" marR="0" lvl="0" indent="0" algn="ctr" defTabSz="914400" rtl="0" eaLnBrk="1" fontAlgn="auto" latinLnBrk="0" hangingPunct="1">
              <a:lnSpc>
                <a:spcPct val="100000"/>
              </a:lnSpc>
              <a:spcBef>
                <a:spcPts val="0"/>
              </a:spcBef>
              <a:spcAft>
                <a:spcPts val="0"/>
              </a:spcAft>
              <a:buClr>
                <a:prstClr val="black"/>
              </a:buClr>
              <a:buSzPts val="900"/>
              <a:buFontTx/>
              <a:buNone/>
              <a:defRPr/>
            </a:pP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mn-ea"/>
              </a:rPr>
              <a:t>市场分析</a:t>
            </a:r>
            <a:endParaRPr kumimoji="0" lang="zh-CN" altLang="en-US" sz="12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51" name="文本框 250"/>
          <p:cNvSpPr txBox="1"/>
          <p:nvPr/>
        </p:nvSpPr>
        <p:spPr>
          <a:xfrm>
            <a:off x="229235" y="1421130"/>
            <a:ext cx="2144395" cy="307975"/>
          </a:xfrm>
          <a:prstGeom prst="rect">
            <a:avLst/>
          </a:prstGeom>
          <a:noFill/>
        </p:spPr>
        <p:txBody>
          <a:bodyPr wrap="square" rtlCol="0">
            <a:spAutoFit/>
          </a:bodyPr>
          <a:lstStyle/>
          <a:p>
            <a:pPr algn="l"/>
            <a:r>
              <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重点工作</a:t>
            </a:r>
            <a:r>
              <a:rPr kumimoji="1" lang="en-US" altLang="zh-CN" sz="1400" b="1" dirty="0">
                <a:solidFill>
                  <a:schemeClr val="accent1"/>
                </a:solidFill>
                <a:latin typeface="微软雅黑" panose="020B0503020204020204" charset="-122"/>
                <a:ea typeface="微软雅黑" panose="020B0503020204020204" charset="-122"/>
                <a:cs typeface="微软雅黑" panose="020B0503020204020204" charset="-122"/>
              </a:rPr>
              <a:t>-</a:t>
            </a:r>
            <a:r>
              <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产品优化</a:t>
            </a:r>
            <a:endPar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52" name="文本框 251"/>
          <p:cNvSpPr txBox="1"/>
          <p:nvPr/>
        </p:nvSpPr>
        <p:spPr>
          <a:xfrm>
            <a:off x="260350" y="1723390"/>
            <a:ext cx="2280285" cy="988695"/>
          </a:xfrm>
          <a:prstGeom prst="rect">
            <a:avLst/>
          </a:prstGeom>
          <a:noFill/>
        </p:spPr>
        <p:txBody>
          <a:bodyPr wrap="square" rtlCol="0">
            <a:spAutoFit/>
          </a:bodyPr>
          <a:lstStyle/>
          <a:p>
            <a:pPr algn="l">
              <a:lnSpc>
                <a:spcPct val="150000"/>
              </a:lnSpc>
            </a:pPr>
            <a:r>
              <a:rPr kumimoji="1" lang="zh-CN" altLang="en-US" sz="1000" dirty="0">
                <a:solidFill>
                  <a:schemeClr val="tx2"/>
                </a:solidFill>
                <a:latin typeface="微软雅黑" panose="020B0503020204020204" charset="-122"/>
                <a:ea typeface="微软雅黑" panose="020B0503020204020204" charset="-122"/>
                <a:cs typeface="微软雅黑" panose="020B0503020204020204" charset="-122"/>
              </a:rPr>
              <a:t>对现有产品的各个方面进行优化，以提升其市场竞争力，旨在使产品更符合用户需求、更有效地解决问题，并增强其在市场上的表现和吸引力。</a:t>
            </a:r>
            <a:endParaRPr kumimoji="1"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53" name="文本框 252"/>
          <p:cNvSpPr txBox="1"/>
          <p:nvPr/>
        </p:nvSpPr>
        <p:spPr>
          <a:xfrm>
            <a:off x="260350" y="4833620"/>
            <a:ext cx="2144395" cy="307975"/>
          </a:xfrm>
          <a:prstGeom prst="rect">
            <a:avLst/>
          </a:prstGeom>
          <a:noFill/>
        </p:spPr>
        <p:txBody>
          <a:bodyPr wrap="square" rtlCol="0">
            <a:spAutoFit/>
          </a:bodyPr>
          <a:lstStyle/>
          <a:p>
            <a:r>
              <a:rPr kumimoji="1" lang="zh-CN" altLang="en-US" sz="1400" b="1" dirty="0">
                <a:solidFill>
                  <a:schemeClr val="accent5"/>
                </a:solidFill>
                <a:latin typeface="微软雅黑" panose="020B0503020204020204" charset="-122"/>
                <a:ea typeface="微软雅黑" panose="020B0503020204020204" charset="-122"/>
                <a:cs typeface="微软雅黑" panose="020B0503020204020204" charset="-122"/>
              </a:rPr>
              <a:t>重点工作</a:t>
            </a:r>
            <a:r>
              <a:rPr kumimoji="1" lang="en-US" altLang="zh-CN" sz="1400" b="1" dirty="0">
                <a:solidFill>
                  <a:schemeClr val="accent5"/>
                </a:solidFill>
                <a:latin typeface="微软雅黑" panose="020B0503020204020204" charset="-122"/>
                <a:ea typeface="微软雅黑" panose="020B0503020204020204" charset="-122"/>
                <a:cs typeface="微软雅黑" panose="020B0503020204020204" charset="-122"/>
              </a:rPr>
              <a:t>-</a:t>
            </a:r>
            <a:r>
              <a:rPr kumimoji="1" lang="zh-CN" altLang="en-US" sz="1400" b="1" dirty="0">
                <a:solidFill>
                  <a:schemeClr val="accent5"/>
                </a:solidFill>
                <a:latin typeface="微软雅黑" panose="020B0503020204020204" charset="-122"/>
                <a:ea typeface="微软雅黑" panose="020B0503020204020204" charset="-122"/>
                <a:cs typeface="微软雅黑" panose="020B0503020204020204" charset="-122"/>
              </a:rPr>
              <a:t>营销推广</a:t>
            </a:r>
            <a:endParaRPr kumimoji="1" lang="zh-CN" altLang="en-US" sz="14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254" name="文本框 253"/>
          <p:cNvSpPr txBox="1"/>
          <p:nvPr/>
        </p:nvSpPr>
        <p:spPr>
          <a:xfrm>
            <a:off x="260350" y="5136515"/>
            <a:ext cx="2280285" cy="988695"/>
          </a:xfrm>
          <a:prstGeom prst="rect">
            <a:avLst/>
          </a:prstGeom>
          <a:noFill/>
        </p:spPr>
        <p:txBody>
          <a:bodyPr wrap="square" rtlCol="0">
            <a:spAutoFit/>
          </a:bodyPr>
          <a:lstStyle/>
          <a:p>
            <a:pPr>
              <a:lnSpc>
                <a:spcPct val="150000"/>
              </a:lnSpc>
            </a:pPr>
            <a:r>
              <a:rPr kumimoji="1" lang="zh-CN" altLang="en-US" sz="1000" dirty="0">
                <a:solidFill>
                  <a:schemeClr val="tx2"/>
                </a:solidFill>
                <a:latin typeface="微软雅黑" panose="020B0503020204020204" charset="-122"/>
                <a:ea typeface="微软雅黑" panose="020B0503020204020204" charset="-122"/>
                <a:cs typeface="微软雅黑" panose="020B0503020204020204" charset="-122"/>
              </a:rPr>
              <a:t>通过多种手段和渠道，向目标受众传播和推广产品或服务，以达到销售增长、品牌认知提升和市场占有率增长等商业目标的过程。</a:t>
            </a:r>
            <a:endParaRPr kumimoji="1"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55" name="Google Shape;1680;p34"/>
          <p:cNvSpPr txBox="1"/>
          <p:nvPr/>
        </p:nvSpPr>
        <p:spPr>
          <a:xfrm>
            <a:off x="4628515" y="5849620"/>
            <a:ext cx="1135380" cy="974090"/>
          </a:xfrm>
          <a:prstGeom prst="rect">
            <a:avLst/>
          </a:prstGeom>
          <a:noFill/>
          <a:ln>
            <a:noFill/>
          </a:ln>
        </p:spPr>
        <p:txBody>
          <a:bodyPr spcFirstLastPara="1" wrap="square" lIns="25400" tIns="25400" rIns="25400" bIns="25400" anchor="t" anchorCtr="0">
            <a:spAutoFit/>
          </a:bodyPr>
          <a:lstStyle/>
          <a:p>
            <a:pPr marL="0" marR="0" lvl="0" indent="0" algn="l" defTabSz="914400" rtl="0" eaLnBrk="1" fontAlgn="auto" latinLnBrk="0" hangingPunct="1">
              <a:lnSpc>
                <a:spcPct val="100000"/>
              </a:lnSpc>
              <a:spcBef>
                <a:spcPts val="0"/>
              </a:spcBef>
              <a:spcAft>
                <a:spcPts val="0"/>
              </a:spcAft>
              <a:buClr>
                <a:srgbClr val="44546A"/>
              </a:buClr>
              <a:buSzPts val="800"/>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设定营销目标和销售目标。确定营销策略和方法。确定营销活动的预算和资源分配。</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marL="0" marR="0" lvl="0" indent="0" algn="l" defTabSz="914400" rtl="0" eaLnBrk="1" fontAlgn="auto" latinLnBrk="0" hangingPunct="1">
              <a:lnSpc>
                <a:spcPct val="100000"/>
              </a:lnSpc>
              <a:spcBef>
                <a:spcPts val="0"/>
              </a:spcBef>
              <a:spcAft>
                <a:spcPts val="0"/>
              </a:spcAft>
              <a:buClr>
                <a:srgbClr val="44546A"/>
              </a:buClr>
              <a:buSzPts val="800"/>
              <a:buFontTx/>
              <a:buNone/>
              <a:defRPr/>
            </a:pP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56" name="Google Shape;1681;p34"/>
          <p:cNvSpPr txBox="1"/>
          <p:nvPr/>
        </p:nvSpPr>
        <p:spPr>
          <a:xfrm>
            <a:off x="4602480" y="5585460"/>
            <a:ext cx="1016000" cy="234950"/>
          </a:xfrm>
          <a:prstGeom prst="rect">
            <a:avLst/>
          </a:prstGeom>
          <a:noFill/>
          <a:ln>
            <a:noFill/>
          </a:ln>
        </p:spPr>
        <p:txBody>
          <a:bodyPr spcFirstLastPara="1" wrap="square" lIns="25400" tIns="25400" rIns="25400" bIns="25400" anchor="t" anchorCtr="0">
            <a:spAutoFit/>
          </a:bodyPr>
          <a:lstStyle/>
          <a:p>
            <a:pPr marL="0" marR="0" lvl="0" indent="0" algn="ctr" defTabSz="914400" rtl="0" eaLnBrk="1" fontAlgn="auto" latinLnBrk="0" hangingPunct="1">
              <a:lnSpc>
                <a:spcPct val="100000"/>
              </a:lnSpc>
              <a:spcBef>
                <a:spcPts val="0"/>
              </a:spcBef>
              <a:spcAft>
                <a:spcPts val="0"/>
              </a:spcAft>
              <a:buClr>
                <a:prstClr val="black"/>
              </a:buClr>
              <a:buSzPts val="900"/>
              <a:buFontTx/>
              <a:buNone/>
              <a:defRPr/>
            </a:pP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mn-ea"/>
              </a:rPr>
              <a:t>营销策略</a:t>
            </a:r>
            <a:endParaRPr kumimoji="0" lang="zh-CN" altLang="en-US" sz="12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57" name="Google Shape;1680;p34"/>
          <p:cNvSpPr txBox="1"/>
          <p:nvPr/>
        </p:nvSpPr>
        <p:spPr>
          <a:xfrm>
            <a:off x="6040755" y="5849620"/>
            <a:ext cx="1135380" cy="1204595"/>
          </a:xfrm>
          <a:prstGeom prst="rect">
            <a:avLst/>
          </a:prstGeom>
          <a:noFill/>
          <a:ln>
            <a:noFill/>
          </a:ln>
        </p:spPr>
        <p:txBody>
          <a:bodyPr spcFirstLastPara="1" wrap="square" lIns="25400" tIns="25400" rIns="25400" bIns="25400" anchor="t" anchorCtr="0">
            <a:spAutoFit/>
          </a:bodyPr>
          <a:lstStyle/>
          <a:p>
            <a:pPr lvl="0" algn="l">
              <a:spcBef>
                <a:spcPts val="0"/>
              </a:spcBef>
              <a:spcAft>
                <a:spcPts val="0"/>
              </a:spcAft>
              <a:buClr>
                <a:srgbClr val="44546A"/>
              </a:buClr>
              <a:buSzPts val="800"/>
              <a:buFontTx/>
              <a:defRPr/>
            </a:pP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具体规划营销活动时间表和内容。确定营销渠道，如广告、公关等具体实施方案。</a:t>
            </a:r>
            <a:endPar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58" name="Google Shape;1681;p34"/>
          <p:cNvSpPr txBox="1"/>
          <p:nvPr/>
        </p:nvSpPr>
        <p:spPr>
          <a:xfrm>
            <a:off x="5939155" y="5585460"/>
            <a:ext cx="1023620" cy="234950"/>
          </a:xfrm>
          <a:prstGeom prst="rect">
            <a:avLst/>
          </a:prstGeom>
          <a:noFill/>
          <a:ln>
            <a:noFill/>
          </a:ln>
        </p:spPr>
        <p:txBody>
          <a:bodyPr spcFirstLastPara="1" wrap="square" lIns="25400" tIns="25400" rIns="25400" bIns="25400" anchor="t" anchorCtr="0">
            <a:spAutoFit/>
          </a:bodyPr>
          <a:lstStyle/>
          <a:p>
            <a:pPr marL="0" marR="0" lvl="0" indent="0" algn="ctr" defTabSz="914400" rtl="0" eaLnBrk="1" fontAlgn="auto" latinLnBrk="0" hangingPunct="1">
              <a:lnSpc>
                <a:spcPct val="100000"/>
              </a:lnSpc>
              <a:spcBef>
                <a:spcPts val="0"/>
              </a:spcBef>
              <a:spcAft>
                <a:spcPts val="0"/>
              </a:spcAft>
              <a:buClr>
                <a:prstClr val="black"/>
              </a:buClr>
              <a:buSzPts val="900"/>
              <a:buFontTx/>
              <a:buNone/>
              <a:defRPr/>
            </a:pP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mn-ea"/>
              </a:rPr>
              <a:t>营销计划</a:t>
            </a:r>
            <a:endParaRPr kumimoji="0" lang="zh-CN" altLang="en-US" sz="12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59" name="Google Shape;1680;p34"/>
          <p:cNvSpPr txBox="1"/>
          <p:nvPr/>
        </p:nvSpPr>
        <p:spPr>
          <a:xfrm>
            <a:off x="7286625" y="5849620"/>
            <a:ext cx="1135380" cy="1204595"/>
          </a:xfrm>
          <a:prstGeom prst="rect">
            <a:avLst/>
          </a:prstGeom>
          <a:noFill/>
          <a:ln>
            <a:noFill/>
          </a:ln>
        </p:spPr>
        <p:txBody>
          <a:bodyPr spcFirstLastPara="1" wrap="square" lIns="25400" tIns="25400" rIns="25400" bIns="25400" anchor="t" anchorCtr="0">
            <a:spAutoFit/>
          </a:bodyPr>
          <a:lstStyle/>
          <a:p>
            <a:pPr lvl="0" algn="l">
              <a:spcBef>
                <a:spcPts val="0"/>
              </a:spcBef>
              <a:spcAft>
                <a:spcPts val="0"/>
              </a:spcAft>
              <a:buClr>
                <a:srgbClr val="44546A"/>
              </a:buClr>
              <a:buSzPts val="800"/>
              <a:buFontTx/>
              <a:defRPr/>
            </a:pP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进行广告投放、促销活动等具体实施。确保各项活动按计划推进，并监控实施效果。</a:t>
            </a:r>
            <a:endPar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60" name="Google Shape;1681;p34"/>
          <p:cNvSpPr txBox="1"/>
          <p:nvPr/>
        </p:nvSpPr>
        <p:spPr>
          <a:xfrm>
            <a:off x="7275830" y="5585460"/>
            <a:ext cx="966470" cy="234950"/>
          </a:xfrm>
          <a:prstGeom prst="rect">
            <a:avLst/>
          </a:prstGeom>
          <a:noFill/>
          <a:ln>
            <a:noFill/>
          </a:ln>
        </p:spPr>
        <p:txBody>
          <a:bodyPr spcFirstLastPara="1" wrap="square" lIns="25400" tIns="25400" rIns="25400" bIns="25400" anchor="t" anchorCtr="0">
            <a:spAutoFit/>
          </a:bodyPr>
          <a:lstStyle/>
          <a:p>
            <a:pPr marL="0" marR="0" lvl="0" indent="0" algn="ctr" defTabSz="914400" rtl="0" eaLnBrk="1" fontAlgn="auto" latinLnBrk="0" hangingPunct="1">
              <a:lnSpc>
                <a:spcPct val="100000"/>
              </a:lnSpc>
              <a:spcBef>
                <a:spcPts val="0"/>
              </a:spcBef>
              <a:spcAft>
                <a:spcPts val="0"/>
              </a:spcAft>
              <a:buClr>
                <a:prstClr val="black"/>
              </a:buClr>
              <a:buSzPts val="900"/>
              <a:buFontTx/>
              <a:buNone/>
              <a:defRPr/>
            </a:pP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mn-ea"/>
              </a:rPr>
              <a:t>营销活动</a:t>
            </a:r>
            <a:endParaRPr kumimoji="0" lang="zh-CN" altLang="en-US" sz="12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61" name="Google Shape;1680;p34"/>
          <p:cNvSpPr txBox="1"/>
          <p:nvPr/>
        </p:nvSpPr>
        <p:spPr>
          <a:xfrm>
            <a:off x="8683625" y="5849620"/>
            <a:ext cx="1135380" cy="1204595"/>
          </a:xfrm>
          <a:prstGeom prst="rect">
            <a:avLst/>
          </a:prstGeom>
          <a:noFill/>
          <a:ln>
            <a:noFill/>
          </a:ln>
        </p:spPr>
        <p:txBody>
          <a:bodyPr spcFirstLastPara="1" wrap="square" lIns="25400" tIns="25400" rIns="25400" bIns="25400" anchor="t" anchorCtr="0">
            <a:spAutoFit/>
          </a:bodyPr>
          <a:lstStyle/>
          <a:p>
            <a:pPr lvl="0" algn="l">
              <a:spcBef>
                <a:spcPts val="0"/>
              </a:spcBef>
              <a:spcAft>
                <a:spcPts val="0"/>
              </a:spcAft>
              <a:buClr>
                <a:srgbClr val="44546A"/>
              </a:buClr>
              <a:buSzPts val="800"/>
              <a:buFontTx/>
              <a:defRPr/>
            </a:pP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评估各项营销活动的成效。根据反馈数据，优化营销策略和活动，提高效率和效果。</a:t>
            </a:r>
            <a:endPar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62" name="Google Shape;1681;p34"/>
          <p:cNvSpPr txBox="1"/>
          <p:nvPr/>
        </p:nvSpPr>
        <p:spPr>
          <a:xfrm>
            <a:off x="8612505" y="5585460"/>
            <a:ext cx="912495" cy="234950"/>
          </a:xfrm>
          <a:prstGeom prst="rect">
            <a:avLst/>
          </a:prstGeom>
          <a:noFill/>
          <a:ln>
            <a:noFill/>
          </a:ln>
        </p:spPr>
        <p:txBody>
          <a:bodyPr spcFirstLastPara="1" wrap="square" lIns="25400" tIns="25400" rIns="25400" bIns="25400" anchor="t" anchorCtr="0">
            <a:spAutoFit/>
          </a:bodyPr>
          <a:lstStyle/>
          <a:p>
            <a:pPr marL="0" marR="0" lvl="0" indent="0" algn="ctr" defTabSz="914400" rtl="0" eaLnBrk="1" fontAlgn="auto" latinLnBrk="0" hangingPunct="1">
              <a:lnSpc>
                <a:spcPct val="100000"/>
              </a:lnSpc>
              <a:spcBef>
                <a:spcPts val="0"/>
              </a:spcBef>
              <a:spcAft>
                <a:spcPts val="0"/>
              </a:spcAft>
              <a:buClr>
                <a:prstClr val="black"/>
              </a:buClr>
              <a:buSzPts val="900"/>
              <a:buFontTx/>
              <a:buNone/>
              <a:defRPr/>
            </a:pP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mn-ea"/>
              </a:rPr>
              <a:t>评估调整</a:t>
            </a:r>
            <a:endParaRPr kumimoji="0" lang="zh-CN" altLang="en-US" sz="12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63" name="Google Shape;1680;p34"/>
          <p:cNvSpPr txBox="1"/>
          <p:nvPr/>
        </p:nvSpPr>
        <p:spPr>
          <a:xfrm>
            <a:off x="9946005" y="5849620"/>
            <a:ext cx="1135380" cy="1204595"/>
          </a:xfrm>
          <a:prstGeom prst="rect">
            <a:avLst/>
          </a:prstGeom>
          <a:noFill/>
          <a:ln>
            <a:noFill/>
          </a:ln>
        </p:spPr>
        <p:txBody>
          <a:bodyPr spcFirstLastPara="1" wrap="square" lIns="25400" tIns="25400" rIns="25400" bIns="25400" anchor="t" anchorCtr="0">
            <a:spAutoFit/>
          </a:bodyPr>
          <a:lstStyle/>
          <a:p>
            <a:pPr lvl="0" algn="l">
              <a:spcBef>
                <a:spcPts val="0"/>
              </a:spcBef>
              <a:spcAft>
                <a:spcPts val="0"/>
              </a:spcAft>
              <a:buClr>
                <a:srgbClr val="44546A"/>
              </a:buClr>
              <a:buSzPts val="800"/>
              <a:buFontTx/>
              <a:defRPr/>
            </a:pP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汇总数据，进行总结分析。向管理层汇报营销成果。制定下一阶段营销计划和策略。</a:t>
            </a:r>
            <a:endPar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64" name="Google Shape;1681;p34"/>
          <p:cNvSpPr txBox="1"/>
          <p:nvPr/>
        </p:nvSpPr>
        <p:spPr>
          <a:xfrm>
            <a:off x="9949180" y="5585460"/>
            <a:ext cx="857885" cy="234950"/>
          </a:xfrm>
          <a:prstGeom prst="rect">
            <a:avLst/>
          </a:prstGeom>
          <a:noFill/>
          <a:ln>
            <a:noFill/>
          </a:ln>
        </p:spPr>
        <p:txBody>
          <a:bodyPr spcFirstLastPara="1" wrap="square" lIns="25400" tIns="25400" rIns="25400" bIns="25400" anchor="t" anchorCtr="0">
            <a:spAutoFit/>
          </a:bodyPr>
          <a:lstStyle/>
          <a:p>
            <a:pPr marL="0" marR="0" lvl="0" indent="0" algn="ctr" defTabSz="914400" rtl="0" eaLnBrk="1" fontAlgn="auto" latinLnBrk="0" hangingPunct="1">
              <a:lnSpc>
                <a:spcPct val="100000"/>
              </a:lnSpc>
              <a:spcBef>
                <a:spcPts val="0"/>
              </a:spcBef>
              <a:spcAft>
                <a:spcPts val="0"/>
              </a:spcAft>
              <a:buClr>
                <a:prstClr val="black"/>
              </a:buClr>
              <a:buSzPts val="900"/>
              <a:buFontTx/>
              <a:buNone/>
              <a:defRPr/>
            </a:pP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mn-ea"/>
              </a:rPr>
              <a:t>总结报告</a:t>
            </a:r>
            <a:endParaRPr kumimoji="0" lang="zh-CN" altLang="en-US" sz="12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endParaRPr>
          </a:p>
        </p:txBody>
      </p: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2" name="图片 1"/>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1" name="文本框 10"/>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下半年能力提升规划</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 name="Rounded Rectangle"/>
          <p:cNvSpPr/>
          <p:nvPr>
            <p:custDataLst>
              <p:tags r:id="rId3"/>
            </p:custDataLst>
          </p:nvPr>
        </p:nvSpPr>
        <p:spPr>
          <a:xfrm>
            <a:off x="4462706" y="6133062"/>
            <a:ext cx="1571924" cy="335321"/>
          </a:xfrm>
          <a:prstGeom prst="roundRect">
            <a:avLst>
              <a:gd name="adj" fmla="val 8232"/>
            </a:avLst>
          </a:prstGeom>
          <a:solidFill>
            <a:schemeClr val="accent1">
              <a:lumMod val="60000"/>
              <a:lumOff val="40000"/>
            </a:schemeClr>
          </a:solidFill>
          <a:ln w="12700" cap="flat">
            <a:noFill/>
            <a:miter lim="400000"/>
          </a:ln>
          <a:effectLst/>
        </p:spPr>
        <p:txBody>
          <a:bodyPr wrap="square" lIns="0" tIns="0" rIns="0" bIns="0" numCol="1" anchor="ctr">
            <a:noAutofit/>
          </a:bodyPr>
          <a:lstStyle/>
          <a:p>
            <a:pPr>
              <a:spcAft>
                <a:spcPts val="500"/>
              </a:spcAft>
            </a:pPr>
            <a:endParaRPr sz="900">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7" name="Group"/>
          <p:cNvGrpSpPr/>
          <p:nvPr>
            <p:custDataLst>
              <p:tags r:id="rId4"/>
            </p:custDataLst>
          </p:nvPr>
        </p:nvGrpSpPr>
        <p:grpSpPr>
          <a:xfrm>
            <a:off x="2563134" y="6133062"/>
            <a:ext cx="1770915" cy="335321"/>
            <a:chOff x="0" y="0"/>
            <a:chExt cx="3313478" cy="643398"/>
          </a:xfrm>
          <a:solidFill>
            <a:schemeClr val="accent2"/>
          </a:solidFill>
        </p:grpSpPr>
        <p:sp>
          <p:nvSpPr>
            <p:cNvPr id="9" name="Rounded Rectangle"/>
            <p:cNvSpPr/>
            <p:nvPr>
              <p:custDataLst>
                <p:tags r:id="rId5"/>
              </p:custDataLst>
            </p:nvPr>
          </p:nvSpPr>
          <p:spPr>
            <a:xfrm>
              <a:off x="0" y="0"/>
              <a:ext cx="3313478" cy="643398"/>
            </a:xfrm>
            <a:prstGeom prst="roundRect">
              <a:avLst>
                <a:gd name="adj" fmla="val 8232"/>
              </a:avLst>
            </a:prstGeom>
            <a:solidFill>
              <a:schemeClr val="accent1">
                <a:lumMod val="60000"/>
                <a:lumOff val="40000"/>
              </a:schemeClr>
            </a:solidFill>
            <a:ln w="12700" cap="flat">
              <a:noFill/>
              <a:miter lim="400000"/>
            </a:ln>
            <a:effectLst/>
          </p:spPr>
          <p:txBody>
            <a:bodyPr wrap="square" lIns="0" tIns="0" rIns="0" bIns="0" numCol="1" anchor="ctr">
              <a:noAutofit/>
            </a:bodyPr>
            <a:lstStyle/>
            <a:p>
              <a:pPr>
                <a:spcAft>
                  <a:spcPts val="500"/>
                </a:spcAft>
              </a:pPr>
              <a:endParaRPr sz="9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 name="Venn diagram"/>
            <p:cNvSpPr/>
            <p:nvPr>
              <p:custDataLst>
                <p:tags r:id="rId6"/>
              </p:custDataLst>
            </p:nvPr>
          </p:nvSpPr>
          <p:spPr>
            <a:xfrm>
              <a:off x="639734" y="118498"/>
              <a:ext cx="2034012" cy="39369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grpFill/>
            <a:ln w="12700" cap="flat">
              <a:noFill/>
              <a:miter lim="400000"/>
            </a:ln>
            <a:effectLst/>
          </p:spPr>
          <p:txBody>
            <a:bodyPr wrap="square" lIns="25400" tIns="25400" rIns="25400" bIns="25400" numCol="1" anchor="t">
              <a:spAutoFit/>
            </a:bodyPr>
            <a:lstStyle>
              <a:lvl1pPr>
                <a:defRPr sz="2000">
                  <a:solidFill>
                    <a:srgbClr val="F7F5F7"/>
                  </a:solidFill>
                  <a:latin typeface="Barlow SemiBold" panose="00000700000000000000"/>
                  <a:ea typeface="Barlow SemiBold" panose="00000700000000000000"/>
                  <a:cs typeface="Barlow SemiBold" panose="00000700000000000000"/>
                  <a:sym typeface="Barlow SemiBold" panose="00000700000000000000"/>
                </a:defRPr>
              </a:lvl1pPr>
            </a:lstStyle>
            <a:p>
              <a:pPr>
                <a:spcAft>
                  <a:spcPts val="500"/>
                </a:spcAft>
              </a:pPr>
              <a:endParaRPr sz="100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
        <p:nvSpPr>
          <p:cNvPr id="6" name="Rounded Rectangle"/>
          <p:cNvSpPr/>
          <p:nvPr>
            <p:custDataLst>
              <p:tags r:id="rId7"/>
            </p:custDataLst>
          </p:nvPr>
        </p:nvSpPr>
        <p:spPr>
          <a:xfrm>
            <a:off x="6239510" y="1189990"/>
            <a:ext cx="1885315" cy="5278120"/>
          </a:xfrm>
          <a:prstGeom prst="roundRect">
            <a:avLst>
              <a:gd name="adj" fmla="val 1647"/>
            </a:avLst>
          </a:prstGeom>
          <a:pattFill prst="divot">
            <a:fgClr>
              <a:schemeClr val="accent5">
                <a:lumMod val="20000"/>
                <a:lumOff val="80000"/>
              </a:schemeClr>
            </a:fgClr>
            <a:bgClr>
              <a:schemeClr val="bg1"/>
            </a:bgClr>
          </a:pattFill>
          <a:ln w="18097" cap="flat" cmpd="sng">
            <a:solidFill>
              <a:schemeClr val="accent5"/>
            </a:solidFill>
            <a:prstDash val="solid"/>
            <a:round/>
            <a:headEnd type="none" w="sm" len="sm"/>
            <a:tailEnd type="none" w="sm" len="sm"/>
          </a:ln>
          <a:effectLst/>
        </p:spPr>
        <p:txBody>
          <a:bodyPr spcFirstLastPara="1" wrap="square" lIns="0" tIns="0" rIns="0" bIns="0" anchor="ctr" anchorCtr="0">
            <a:noAutofit/>
          </a:bodyPr>
          <a:lstStyle/>
          <a:p>
            <a:pPr lvl="0" algn="ctr">
              <a:buClr>
                <a:srgbClr val="525455"/>
              </a:buClr>
              <a:buSzPts val="1100"/>
              <a:buFontTx/>
            </a:pPr>
            <a:endParaRPr sz="1395">
              <a:solidFill>
                <a:srgbClr val="525455"/>
              </a:solidFill>
              <a:latin typeface="微软雅黑" panose="020B0503020204020204" charset="-122"/>
              <a:ea typeface="微软雅黑" panose="020B0503020204020204" charset="-122"/>
              <a:cs typeface="微软雅黑" panose="020B0503020204020204" charset="-122"/>
              <a:sym typeface="+mn-ea"/>
            </a:endParaRPr>
          </a:p>
        </p:txBody>
      </p:sp>
      <p:sp>
        <p:nvSpPr>
          <p:cNvPr id="8" name="Shape"/>
          <p:cNvSpPr/>
          <p:nvPr>
            <p:custDataLst>
              <p:tags r:id="rId8"/>
            </p:custDataLst>
          </p:nvPr>
        </p:nvSpPr>
        <p:spPr>
          <a:xfrm>
            <a:off x="-10633" y="3139505"/>
            <a:ext cx="11934083" cy="2202639"/>
          </a:xfrm>
          <a:custGeom>
            <a:avLst/>
            <a:gdLst/>
            <a:ahLst/>
            <a:cxnLst>
              <a:cxn ang="0">
                <a:pos x="wd2" y="hd2"/>
              </a:cxn>
              <a:cxn ang="5400000">
                <a:pos x="wd2" y="hd2"/>
              </a:cxn>
              <a:cxn ang="10800000">
                <a:pos x="wd2" y="hd2"/>
              </a:cxn>
              <a:cxn ang="16200000">
                <a:pos x="wd2" y="hd2"/>
              </a:cxn>
            </a:cxnLst>
            <a:rect l="0" t="0" r="r" b="b"/>
            <a:pathLst>
              <a:path w="21600" h="21600" extrusionOk="0">
                <a:moveTo>
                  <a:pt x="1" y="15093"/>
                </a:moveTo>
                <a:lnTo>
                  <a:pt x="7852" y="15083"/>
                </a:lnTo>
                <a:lnTo>
                  <a:pt x="19611" y="1853"/>
                </a:lnTo>
                <a:lnTo>
                  <a:pt x="19542" y="0"/>
                </a:lnTo>
                <a:lnTo>
                  <a:pt x="21600" y="2934"/>
                </a:lnTo>
                <a:lnTo>
                  <a:pt x="19925" y="10041"/>
                </a:lnTo>
                <a:lnTo>
                  <a:pt x="19858" y="8206"/>
                </a:lnTo>
                <a:lnTo>
                  <a:pt x="7954" y="21600"/>
                </a:lnTo>
                <a:lnTo>
                  <a:pt x="0" y="21590"/>
                </a:lnTo>
                <a:lnTo>
                  <a:pt x="1" y="15093"/>
                </a:lnTo>
                <a:close/>
              </a:path>
            </a:pathLst>
          </a:custGeom>
          <a:gradFill>
            <a:gsLst>
              <a:gs pos="0">
                <a:schemeClr val="accent1">
                  <a:lumMod val="60000"/>
                  <a:lumOff val="40000"/>
                </a:schemeClr>
              </a:gs>
              <a:gs pos="88000">
                <a:schemeClr val="accent1"/>
              </a:gs>
            </a:gsLst>
            <a:lin ang="0" scaled="0"/>
          </a:gradFill>
          <a:ln w="12700">
            <a:miter lim="400000"/>
          </a:ln>
        </p:spPr>
        <p:txBody>
          <a:bodyPr lIns="0" tIns="0" rIns="0" bIns="0"/>
          <a:lstStyle/>
          <a:p>
            <a:pPr>
              <a:spcAft>
                <a:spcPts val="500"/>
              </a:spcAft>
            </a:pPr>
            <a:endParaRPr sz="900" dirty="0">
              <a:latin typeface="微软雅黑" panose="020B0503020204020204" charset="-122"/>
              <a:ea typeface="微软雅黑" panose="020B0503020204020204" charset="-122"/>
              <a:cs typeface="微软雅黑" panose="020B0503020204020204" charset="-122"/>
            </a:endParaRPr>
          </a:p>
        </p:txBody>
      </p:sp>
      <p:sp>
        <p:nvSpPr>
          <p:cNvPr id="16" name="Line"/>
          <p:cNvSpPr/>
          <p:nvPr>
            <p:custDataLst>
              <p:tags r:id="rId9"/>
            </p:custDataLst>
          </p:nvPr>
        </p:nvSpPr>
        <p:spPr>
          <a:xfrm flipH="1">
            <a:off x="467898" y="2813950"/>
            <a:ext cx="0" cy="3680995"/>
          </a:xfrm>
          <a:prstGeom prst="line">
            <a:avLst/>
          </a:prstGeom>
          <a:ln w="19050">
            <a:solidFill>
              <a:schemeClr val="bg2">
                <a:lumMod val="90000"/>
              </a:schemeClr>
            </a:solidFill>
            <a:custDash>
              <a:ds d="200000" sp="200000"/>
            </a:custDash>
            <a:miter lim="400000"/>
          </a:ln>
        </p:spPr>
        <p:txBody>
          <a:bodyPr lIns="22859" tIns="22859" rIns="22859" bIns="22859"/>
          <a:lstStyle/>
          <a:p>
            <a:pPr>
              <a:spcAft>
                <a:spcPts val="500"/>
              </a:spcAft>
              <a:defRPr>
                <a:latin typeface="+mn-lt"/>
                <a:ea typeface="+mn-ea"/>
                <a:cs typeface="+mn-cs"/>
                <a:sym typeface="Helvetica"/>
              </a:defRPr>
            </a:pPr>
            <a:endParaRPr sz="9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 name="Line"/>
          <p:cNvSpPr/>
          <p:nvPr>
            <p:custDataLst>
              <p:tags r:id="rId10"/>
            </p:custDataLst>
          </p:nvPr>
        </p:nvSpPr>
        <p:spPr>
          <a:xfrm flipH="1">
            <a:off x="2474273" y="2801896"/>
            <a:ext cx="0" cy="3695801"/>
          </a:xfrm>
          <a:prstGeom prst="line">
            <a:avLst/>
          </a:prstGeom>
          <a:ln w="19050">
            <a:solidFill>
              <a:schemeClr val="bg2">
                <a:lumMod val="90000"/>
              </a:schemeClr>
            </a:solidFill>
            <a:custDash>
              <a:ds d="200000" sp="200000"/>
            </a:custDash>
            <a:miter lim="400000"/>
          </a:ln>
        </p:spPr>
        <p:txBody>
          <a:bodyPr lIns="22859" tIns="22859" rIns="22859" bIns="22859"/>
          <a:lstStyle/>
          <a:p>
            <a:pPr>
              <a:spcAft>
                <a:spcPts val="500"/>
              </a:spcAft>
              <a:defRPr>
                <a:latin typeface="+mn-lt"/>
                <a:ea typeface="+mn-ea"/>
                <a:cs typeface="+mn-cs"/>
                <a:sym typeface="Helvetica"/>
              </a:defRPr>
            </a:pPr>
            <a:endParaRPr sz="9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2" name="Line"/>
          <p:cNvSpPr/>
          <p:nvPr>
            <p:custDataLst>
              <p:tags r:id="rId11"/>
            </p:custDataLst>
          </p:nvPr>
        </p:nvSpPr>
        <p:spPr>
          <a:xfrm flipH="1">
            <a:off x="4398377" y="2813950"/>
            <a:ext cx="0" cy="3683747"/>
          </a:xfrm>
          <a:prstGeom prst="line">
            <a:avLst/>
          </a:prstGeom>
          <a:ln w="19050">
            <a:solidFill>
              <a:schemeClr val="bg2">
                <a:lumMod val="90000"/>
              </a:schemeClr>
            </a:solidFill>
            <a:custDash>
              <a:ds d="200000" sp="200000"/>
            </a:custDash>
            <a:miter lim="400000"/>
          </a:ln>
        </p:spPr>
        <p:txBody>
          <a:bodyPr lIns="22859" tIns="22859" rIns="22859" bIns="22859"/>
          <a:lstStyle/>
          <a:p>
            <a:pPr>
              <a:spcAft>
                <a:spcPts val="500"/>
              </a:spcAft>
              <a:defRPr>
                <a:latin typeface="+mn-lt"/>
                <a:ea typeface="+mn-ea"/>
                <a:cs typeface="+mn-cs"/>
                <a:sym typeface="Helvetica"/>
              </a:defRPr>
            </a:pPr>
            <a:endParaRPr sz="9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3" name="Line"/>
          <p:cNvSpPr/>
          <p:nvPr>
            <p:custDataLst>
              <p:tags r:id="rId12"/>
            </p:custDataLst>
          </p:nvPr>
        </p:nvSpPr>
        <p:spPr>
          <a:xfrm flipH="1">
            <a:off x="6117266" y="1190004"/>
            <a:ext cx="0" cy="5307693"/>
          </a:xfrm>
          <a:prstGeom prst="line">
            <a:avLst/>
          </a:prstGeom>
          <a:ln w="19050">
            <a:solidFill>
              <a:schemeClr val="bg2">
                <a:lumMod val="90000"/>
              </a:schemeClr>
            </a:solidFill>
            <a:custDash>
              <a:ds d="200000" sp="200000"/>
            </a:custDash>
            <a:miter lim="400000"/>
          </a:ln>
        </p:spPr>
        <p:txBody>
          <a:bodyPr lIns="22859" tIns="22859" rIns="22859" bIns="22859"/>
          <a:lstStyle/>
          <a:p>
            <a:pPr>
              <a:spcAft>
                <a:spcPts val="500"/>
              </a:spcAft>
              <a:defRPr>
                <a:latin typeface="+mn-lt"/>
                <a:ea typeface="+mn-ea"/>
                <a:cs typeface="+mn-cs"/>
                <a:sym typeface="Helvetica"/>
              </a:defRPr>
            </a:pPr>
            <a:endParaRPr sz="9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4" name="Line"/>
          <p:cNvSpPr/>
          <p:nvPr>
            <p:custDataLst>
              <p:tags r:id="rId13"/>
            </p:custDataLst>
          </p:nvPr>
        </p:nvSpPr>
        <p:spPr>
          <a:xfrm flipH="1">
            <a:off x="8201396" y="1190004"/>
            <a:ext cx="0" cy="5307693"/>
          </a:xfrm>
          <a:prstGeom prst="line">
            <a:avLst/>
          </a:prstGeom>
          <a:ln w="19050">
            <a:solidFill>
              <a:schemeClr val="bg2">
                <a:lumMod val="90000"/>
              </a:schemeClr>
            </a:solidFill>
            <a:custDash>
              <a:ds d="200000" sp="200000"/>
            </a:custDash>
            <a:miter lim="400000"/>
          </a:ln>
        </p:spPr>
        <p:txBody>
          <a:bodyPr lIns="22859" tIns="22859" rIns="22859" bIns="22859"/>
          <a:lstStyle/>
          <a:p>
            <a:pPr>
              <a:spcAft>
                <a:spcPts val="500"/>
              </a:spcAft>
              <a:defRPr>
                <a:latin typeface="+mn-lt"/>
                <a:ea typeface="+mn-ea"/>
                <a:cs typeface="+mn-cs"/>
                <a:sym typeface="Helvetica"/>
              </a:defRPr>
            </a:pPr>
            <a:endParaRPr sz="9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5" name="Line"/>
          <p:cNvSpPr/>
          <p:nvPr>
            <p:custDataLst>
              <p:tags r:id="rId14"/>
            </p:custDataLst>
          </p:nvPr>
        </p:nvSpPr>
        <p:spPr>
          <a:xfrm flipH="1">
            <a:off x="10022960" y="1190004"/>
            <a:ext cx="0" cy="5307693"/>
          </a:xfrm>
          <a:prstGeom prst="line">
            <a:avLst/>
          </a:prstGeom>
          <a:ln w="19050">
            <a:solidFill>
              <a:schemeClr val="bg2">
                <a:lumMod val="90000"/>
              </a:schemeClr>
            </a:solidFill>
            <a:custDash>
              <a:ds d="200000" sp="200000"/>
            </a:custDash>
            <a:miter lim="400000"/>
          </a:ln>
        </p:spPr>
        <p:txBody>
          <a:bodyPr lIns="22859" tIns="22859" rIns="22859" bIns="22859"/>
          <a:lstStyle/>
          <a:p>
            <a:pPr>
              <a:spcAft>
                <a:spcPts val="500"/>
              </a:spcAft>
              <a:defRPr>
                <a:latin typeface="+mn-lt"/>
                <a:ea typeface="+mn-ea"/>
                <a:cs typeface="+mn-cs"/>
                <a:sym typeface="Helvetica"/>
              </a:defRPr>
            </a:pPr>
            <a:endParaRPr sz="9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6" name="Line"/>
          <p:cNvSpPr/>
          <p:nvPr>
            <p:custDataLst>
              <p:tags r:id="rId15"/>
            </p:custDataLst>
          </p:nvPr>
        </p:nvSpPr>
        <p:spPr>
          <a:xfrm>
            <a:off x="0" y="3429590"/>
            <a:ext cx="11905069" cy="156129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7925" y="21600"/>
                </a:lnTo>
                <a:lnTo>
                  <a:pt x="21600" y="0"/>
                </a:lnTo>
              </a:path>
            </a:pathLst>
          </a:custGeom>
          <a:ln w="25400">
            <a:solidFill>
              <a:schemeClr val="bg1"/>
            </a:solidFill>
            <a:prstDash val="dash"/>
          </a:ln>
        </p:spPr>
        <p:txBody>
          <a:bodyPr lIns="0" tIns="0" rIns="0" bIns="0"/>
          <a:lstStyle/>
          <a:p>
            <a:pPr>
              <a:spcAft>
                <a:spcPts val="500"/>
              </a:spcAft>
            </a:pPr>
            <a:endParaRPr sz="900">
              <a:latin typeface="微软雅黑" panose="020B0503020204020204" charset="-122"/>
              <a:ea typeface="微软雅黑" panose="020B0503020204020204" charset="-122"/>
              <a:cs typeface="微软雅黑" panose="020B0503020204020204" charset="-122"/>
            </a:endParaRPr>
          </a:p>
        </p:txBody>
      </p:sp>
      <p:sp>
        <p:nvSpPr>
          <p:cNvPr id="27" name="Rounded Rectangle"/>
          <p:cNvSpPr/>
          <p:nvPr>
            <p:custDataLst>
              <p:tags r:id="rId16"/>
            </p:custDataLst>
          </p:nvPr>
        </p:nvSpPr>
        <p:spPr>
          <a:xfrm>
            <a:off x="6336673" y="5626547"/>
            <a:ext cx="1690988" cy="335321"/>
          </a:xfrm>
          <a:prstGeom prst="roundRect">
            <a:avLst>
              <a:gd name="adj" fmla="val 8232"/>
            </a:avLst>
          </a:prstGeom>
          <a:solidFill>
            <a:schemeClr val="accent5"/>
          </a:solidFill>
          <a:ln w="12700" cap="flat">
            <a:noFill/>
            <a:miter lim="400000"/>
          </a:ln>
          <a:effectLst/>
        </p:spPr>
        <p:txBody>
          <a:bodyPr wrap="square" lIns="0" tIns="0" rIns="0" bIns="0" numCol="1" anchor="ctr">
            <a:noAutofit/>
          </a:bodyPr>
          <a:lstStyle/>
          <a:p>
            <a:pPr algn="ctr">
              <a:spcAft>
                <a:spcPts val="500"/>
              </a:spcAft>
            </a:pPr>
            <a:endParaRPr sz="9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8" name="Rounded Rectangle"/>
          <p:cNvSpPr/>
          <p:nvPr>
            <p:custDataLst>
              <p:tags r:id="rId17"/>
            </p:custDataLst>
          </p:nvPr>
        </p:nvSpPr>
        <p:spPr>
          <a:xfrm>
            <a:off x="522815" y="6133062"/>
            <a:ext cx="1896542" cy="335321"/>
          </a:xfrm>
          <a:prstGeom prst="roundRect">
            <a:avLst>
              <a:gd name="adj" fmla="val 8232"/>
            </a:avLst>
          </a:prstGeom>
          <a:solidFill>
            <a:schemeClr val="accent1">
              <a:lumMod val="60000"/>
              <a:lumOff val="40000"/>
            </a:schemeClr>
          </a:solidFill>
          <a:ln w="12700" cap="flat">
            <a:noFill/>
            <a:miter lim="400000"/>
          </a:ln>
          <a:effectLst/>
        </p:spPr>
        <p:txBody>
          <a:bodyPr wrap="square" lIns="0" tIns="0" rIns="0" bIns="0" numCol="1" anchor="ctr">
            <a:noAutofit/>
          </a:bodyPr>
          <a:lstStyle/>
          <a:p>
            <a:pPr>
              <a:spcAft>
                <a:spcPts val="500"/>
              </a:spcAft>
            </a:pPr>
            <a:endParaRPr sz="9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9" name="Venn diagram"/>
          <p:cNvSpPr/>
          <p:nvPr>
            <p:custDataLst>
              <p:tags r:id="rId18"/>
            </p:custDataLst>
          </p:nvPr>
        </p:nvSpPr>
        <p:spPr>
          <a:xfrm>
            <a:off x="991713" y="6167352"/>
            <a:ext cx="1124162" cy="266065"/>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F7F5F7"/>
                </a:solidFill>
                <a:latin typeface="Barlow SemiBold" panose="00000700000000000000"/>
                <a:ea typeface="Barlow SemiBold" panose="00000700000000000000"/>
                <a:cs typeface="Barlow SemiBold" panose="00000700000000000000"/>
                <a:sym typeface="Barlow SemiBold" panose="00000700000000000000"/>
              </a:defRPr>
            </a:lvl1pPr>
          </a:lstStyle>
          <a:p>
            <a:pPr>
              <a:spcAft>
                <a:spcPts val="500"/>
              </a:spcAft>
            </a:pPr>
            <a:r>
              <a:rPr lang="en-US" altLang="zh-CN"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2026</a:t>
            </a: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年</a:t>
            </a:r>
            <a:r>
              <a:rPr lang="en-US" altLang="zh-CN"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7</a:t>
            </a: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月</a:t>
            </a:r>
            <a:endParaRPr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0" name="Venn diagram"/>
          <p:cNvSpPr/>
          <p:nvPr>
            <p:custDataLst>
              <p:tags r:id="rId19"/>
            </p:custDataLst>
          </p:nvPr>
        </p:nvSpPr>
        <p:spPr>
          <a:xfrm>
            <a:off x="2937472" y="6167352"/>
            <a:ext cx="1114915" cy="266065"/>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F7F5F7"/>
                </a:solidFill>
                <a:latin typeface="Barlow SemiBold" panose="00000700000000000000"/>
                <a:ea typeface="Barlow SemiBold" panose="00000700000000000000"/>
                <a:cs typeface="Barlow SemiBold" panose="00000700000000000000"/>
                <a:sym typeface="Barlow SemiBold" panose="00000700000000000000"/>
              </a:defRPr>
            </a:lvl1pPr>
          </a:lstStyle>
          <a:p>
            <a:pPr>
              <a:spcAft>
                <a:spcPts val="500"/>
              </a:spcAft>
            </a:pPr>
            <a:r>
              <a:rPr lang="en-US" altLang="zh-CN"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2026</a:t>
            </a: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年</a:t>
            </a:r>
            <a:r>
              <a:rPr lang="en-US" altLang="zh-CN"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8</a:t>
            </a: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月</a:t>
            </a:r>
            <a:endParaRPr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1" name="Venn diagram"/>
          <p:cNvSpPr/>
          <p:nvPr>
            <p:custDataLst>
              <p:tags r:id="rId20"/>
            </p:custDataLst>
          </p:nvPr>
        </p:nvSpPr>
        <p:spPr>
          <a:xfrm>
            <a:off x="4755636" y="6167352"/>
            <a:ext cx="1069321" cy="266065"/>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F7F5F7"/>
                </a:solidFill>
                <a:latin typeface="Barlow SemiBold" panose="00000700000000000000"/>
                <a:ea typeface="Barlow SemiBold" panose="00000700000000000000"/>
                <a:cs typeface="Barlow SemiBold" panose="00000700000000000000"/>
                <a:sym typeface="Barlow SemiBold" panose="00000700000000000000"/>
              </a:defRPr>
            </a:lvl1pPr>
          </a:lstStyle>
          <a:p>
            <a:pPr>
              <a:spcAft>
                <a:spcPts val="500"/>
              </a:spcAft>
            </a:pPr>
            <a:r>
              <a:rPr lang="en-US" altLang="zh-CN"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2026</a:t>
            </a: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年</a:t>
            </a:r>
            <a:r>
              <a:rPr lang="en-US" altLang="zh-CN"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9</a:t>
            </a: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月</a:t>
            </a:r>
            <a:endParaRPr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2" name="Venn diagram"/>
          <p:cNvSpPr/>
          <p:nvPr>
            <p:custDataLst>
              <p:tags r:id="rId21"/>
            </p:custDataLst>
          </p:nvPr>
        </p:nvSpPr>
        <p:spPr>
          <a:xfrm>
            <a:off x="6540411" y="5652311"/>
            <a:ext cx="1283513" cy="266065"/>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F7F5F7"/>
                </a:solidFill>
                <a:latin typeface="Barlow SemiBold" panose="00000700000000000000"/>
                <a:ea typeface="Barlow SemiBold" panose="00000700000000000000"/>
                <a:cs typeface="Barlow SemiBold" panose="00000700000000000000"/>
                <a:sym typeface="Barlow SemiBold" panose="00000700000000000000"/>
              </a:defRPr>
            </a:lvl1pPr>
          </a:lstStyle>
          <a:p>
            <a:pPr algn="ctr">
              <a:spcAft>
                <a:spcPts val="500"/>
              </a:spcAft>
            </a:pPr>
            <a:r>
              <a:rPr lang="en-US" altLang="zh-CN"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2026</a:t>
            </a: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年</a:t>
            </a:r>
            <a:r>
              <a:rPr lang="en-US" altLang="zh-CN"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10</a:t>
            </a: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月</a:t>
            </a:r>
            <a:endParaRPr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3" name="Group"/>
          <p:cNvGrpSpPr/>
          <p:nvPr>
            <p:custDataLst>
              <p:tags r:id="rId22"/>
            </p:custDataLst>
          </p:nvPr>
        </p:nvGrpSpPr>
        <p:grpSpPr>
          <a:xfrm>
            <a:off x="8293515" y="6133062"/>
            <a:ext cx="1648823" cy="335321"/>
            <a:chOff x="0" y="0"/>
            <a:chExt cx="3313478" cy="643398"/>
          </a:xfrm>
          <a:solidFill>
            <a:schemeClr val="accent2"/>
          </a:solidFill>
        </p:grpSpPr>
        <p:sp>
          <p:nvSpPr>
            <p:cNvPr id="34" name="Rounded Rectangle"/>
            <p:cNvSpPr/>
            <p:nvPr>
              <p:custDataLst>
                <p:tags r:id="rId23"/>
              </p:custDataLst>
            </p:nvPr>
          </p:nvSpPr>
          <p:spPr>
            <a:xfrm>
              <a:off x="0" y="0"/>
              <a:ext cx="3313478" cy="643398"/>
            </a:xfrm>
            <a:prstGeom prst="roundRect">
              <a:avLst>
                <a:gd name="adj" fmla="val 8232"/>
              </a:avLst>
            </a:prstGeom>
            <a:solidFill>
              <a:schemeClr val="accent1"/>
            </a:solidFill>
            <a:ln w="12700" cap="flat">
              <a:noFill/>
              <a:miter lim="400000"/>
            </a:ln>
            <a:effectLst/>
          </p:spPr>
          <p:txBody>
            <a:bodyPr wrap="square" lIns="0" tIns="0" rIns="0" bIns="0" numCol="1" anchor="ctr">
              <a:noAutofit/>
            </a:bodyPr>
            <a:lstStyle/>
            <a:p>
              <a:pPr>
                <a:spcAft>
                  <a:spcPts val="500"/>
                </a:spcAft>
              </a:pPr>
              <a:endParaRPr sz="9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5" name="Venn diagram"/>
            <p:cNvSpPr/>
            <p:nvPr>
              <p:custDataLst>
                <p:tags r:id="rId24"/>
              </p:custDataLst>
            </p:nvPr>
          </p:nvSpPr>
          <p:spPr>
            <a:xfrm>
              <a:off x="638766" y="77694"/>
              <a:ext cx="2318614" cy="51051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grpFill/>
            <a:ln w="12700" cap="flat">
              <a:noFill/>
              <a:miter lim="400000"/>
            </a:ln>
            <a:effectLst/>
          </p:spPr>
          <p:txBody>
            <a:bodyPr wrap="square" lIns="25400" tIns="25400" rIns="25400" bIns="25400" numCol="1" anchor="t">
              <a:spAutoFit/>
            </a:bodyPr>
            <a:lstStyle>
              <a:lvl1pPr>
                <a:defRPr sz="2000">
                  <a:solidFill>
                    <a:srgbClr val="F7F5F7"/>
                  </a:solidFill>
                  <a:latin typeface="Barlow SemiBold" panose="00000700000000000000"/>
                  <a:ea typeface="Barlow SemiBold" panose="00000700000000000000"/>
                  <a:cs typeface="Barlow SemiBold" panose="00000700000000000000"/>
                  <a:sym typeface="Barlow SemiBold" panose="00000700000000000000"/>
                </a:defRPr>
              </a:lvl1pPr>
            </a:lstStyle>
            <a:p>
              <a:pPr>
                <a:spcAft>
                  <a:spcPts val="500"/>
                </a:spcAft>
              </a:pPr>
              <a:r>
                <a:rPr lang="en-US" altLang="zh-CN"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2026</a:t>
              </a: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年</a:t>
              </a:r>
              <a:r>
                <a:rPr lang="en-US" altLang="zh-CN"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11</a:t>
              </a: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月</a:t>
              </a:r>
              <a:endParaRPr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36" name="Group"/>
          <p:cNvGrpSpPr/>
          <p:nvPr>
            <p:custDataLst>
              <p:tags r:id="rId25"/>
            </p:custDataLst>
          </p:nvPr>
        </p:nvGrpSpPr>
        <p:grpSpPr>
          <a:xfrm>
            <a:off x="10107170" y="6133062"/>
            <a:ext cx="1726886" cy="335321"/>
            <a:chOff x="0" y="0"/>
            <a:chExt cx="3313478" cy="643398"/>
          </a:xfrm>
          <a:solidFill>
            <a:schemeClr val="accent1"/>
          </a:solidFill>
        </p:grpSpPr>
        <p:sp>
          <p:nvSpPr>
            <p:cNvPr id="37" name="Rounded Rectangle"/>
            <p:cNvSpPr/>
            <p:nvPr>
              <p:custDataLst>
                <p:tags r:id="rId26"/>
              </p:custDataLst>
            </p:nvPr>
          </p:nvSpPr>
          <p:spPr>
            <a:xfrm>
              <a:off x="0" y="0"/>
              <a:ext cx="3313478" cy="643398"/>
            </a:xfrm>
            <a:prstGeom prst="roundRect">
              <a:avLst>
                <a:gd name="adj" fmla="val 8232"/>
              </a:avLst>
            </a:prstGeom>
            <a:grpFill/>
            <a:ln w="12700" cap="flat">
              <a:noFill/>
              <a:miter lim="400000"/>
            </a:ln>
            <a:effectLst/>
          </p:spPr>
          <p:txBody>
            <a:bodyPr wrap="square" lIns="0" tIns="0" rIns="0" bIns="0" numCol="1" anchor="ctr">
              <a:noAutofit/>
            </a:bodyPr>
            <a:lstStyle/>
            <a:p>
              <a:pPr>
                <a:spcAft>
                  <a:spcPts val="500"/>
                </a:spcAft>
              </a:pPr>
              <a:endParaRPr sz="9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8" name="Venn diagram"/>
            <p:cNvSpPr/>
            <p:nvPr>
              <p:custDataLst>
                <p:tags r:id="rId27"/>
              </p:custDataLst>
            </p:nvPr>
          </p:nvSpPr>
          <p:spPr>
            <a:xfrm>
              <a:off x="660134" y="77694"/>
              <a:ext cx="2613244" cy="51051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grpFill/>
            <a:ln w="12700" cap="flat">
              <a:noFill/>
              <a:miter lim="400000"/>
            </a:ln>
            <a:effectLst/>
          </p:spPr>
          <p:txBody>
            <a:bodyPr wrap="square" lIns="25400" tIns="25400" rIns="25400" bIns="25400" numCol="1" anchor="t">
              <a:spAutoFit/>
            </a:bodyPr>
            <a:lstStyle>
              <a:lvl1pPr>
                <a:defRPr sz="2000">
                  <a:solidFill>
                    <a:srgbClr val="F7F5F7"/>
                  </a:solidFill>
                  <a:latin typeface="Barlow SemiBold" panose="00000700000000000000"/>
                  <a:ea typeface="Barlow SemiBold" panose="00000700000000000000"/>
                  <a:cs typeface="Barlow SemiBold" panose="00000700000000000000"/>
                  <a:sym typeface="Barlow SemiBold" panose="00000700000000000000"/>
                </a:defRPr>
              </a:lvl1pPr>
            </a:lstStyle>
            <a:p>
              <a:pPr>
                <a:spcAft>
                  <a:spcPts val="500"/>
                </a:spcAft>
              </a:pPr>
              <a:r>
                <a:rPr lang="en-US" altLang="zh-CN"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2026</a:t>
              </a: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年</a:t>
              </a:r>
              <a:r>
                <a:rPr lang="en-US" altLang="zh-CN"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12</a:t>
              </a: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月</a:t>
              </a:r>
              <a:endParaRPr sz="14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
        <p:nvSpPr>
          <p:cNvPr id="39" name="Lorem Ipsum is simply dummy text of the printing and typesetting industry. Lorem Ipsum has been the industry's standard dummy text ever since the 1500s, when an unknown printer took a galley of type and scrambled it to make a type specimen book. It has s"/>
          <p:cNvSpPr/>
          <p:nvPr>
            <p:custDataLst>
              <p:tags r:id="rId28"/>
            </p:custDataLst>
          </p:nvPr>
        </p:nvSpPr>
        <p:spPr>
          <a:xfrm>
            <a:off x="6455472" y="2097344"/>
            <a:ext cx="1453391" cy="1409104"/>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9D9F9D"/>
                </a:solidFill>
                <a:latin typeface="Barlow Medium" panose="00000600000000000000"/>
                <a:ea typeface="Barlow Medium" panose="00000600000000000000"/>
                <a:cs typeface="Barlow Medium" panose="00000600000000000000"/>
                <a:sym typeface="Barlow Medium" panose="00000600000000000000"/>
              </a:defRPr>
            </a:lvl1pPr>
          </a:lstStyle>
          <a:p>
            <a:pPr algn="ctr">
              <a:lnSpc>
                <a:spcPct val="150000"/>
              </a:lnSpc>
              <a:spcAft>
                <a:spcPts val="500"/>
              </a:spcAft>
            </a:pPr>
            <a:r>
              <a:rPr lang="zh-CN" altLang="en-US" sz="1000" u="none" strike="noStrike" dirty="0">
                <a:solidFill>
                  <a:schemeClr val="tx2"/>
                </a:solidFill>
                <a:effectLst/>
                <a:latin typeface="微软雅黑" panose="020B0503020204020204" charset="-122"/>
                <a:ea typeface="微软雅黑" panose="020B0503020204020204" charset="-122"/>
                <a:cs typeface="微软雅黑" panose="020B0503020204020204" charset="-122"/>
                <a:sym typeface="微软雅黑" panose="020B0503020204020204" charset="-122"/>
              </a:rPr>
              <a:t>每季度回顾个人和团队的表现，识别成功的实践和改进的机会。积极寻求领导和同事的反馈，了解自己的盲点和提升空间，持续改进和成长。</a:t>
            </a:r>
            <a:endParaRPr lang="zh-CN" altLang="en-US" sz="1000" u="none" strike="noStrike" dirty="0">
              <a:solidFill>
                <a:schemeClr val="tx2"/>
              </a:solidFill>
              <a:effectLst/>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0" name="Lorem Ipsum is simply dummy text of the printing and typesetting industry. Lorem Ipsum has been the industry's standard dummy text ever since the 1500s, when an unknown printer took a galley of type and scrambled it to make a type specimen book. It has s"/>
          <p:cNvSpPr/>
          <p:nvPr>
            <p:custDataLst>
              <p:tags r:id="rId29"/>
            </p:custDataLst>
          </p:nvPr>
        </p:nvSpPr>
        <p:spPr>
          <a:xfrm>
            <a:off x="6371184" y="1597118"/>
            <a:ext cx="1621967" cy="28212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400">
                <a:solidFill>
                  <a:srgbClr val="535353"/>
                </a:solidFill>
                <a:latin typeface="Barlow SemiBold" panose="00000700000000000000"/>
                <a:ea typeface="Barlow SemiBold" panose="00000700000000000000"/>
                <a:cs typeface="Barlow SemiBold" panose="00000700000000000000"/>
                <a:sym typeface="Barlow SemiBold" panose="00000700000000000000"/>
              </a:defRPr>
            </a:lvl1pPr>
          </a:lstStyle>
          <a:p>
            <a:pPr algn="ctr">
              <a:spcAft>
                <a:spcPts val="500"/>
              </a:spcAft>
            </a:pPr>
            <a:r>
              <a:rPr kumimoji="1" lang="zh-CN" altLang="en-US" sz="15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自我认知提升</a:t>
            </a:r>
            <a:endParaRPr kumimoji="1" lang="zh-CN" altLang="en-US" sz="15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1" name="Lorem Ipsum is simply dummy text of the printing and typesetting industry. Lorem Ipsum has been the industry's standard dummy text ever since the 1500s, when an unknown printer took a galley of type and scrambled it to make a type specimen book. It has s"/>
          <p:cNvSpPr/>
          <p:nvPr>
            <p:custDataLst>
              <p:tags r:id="rId30"/>
            </p:custDataLst>
          </p:nvPr>
        </p:nvSpPr>
        <p:spPr>
          <a:xfrm>
            <a:off x="8317198" y="2097344"/>
            <a:ext cx="1613611" cy="94743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9D9F9D"/>
                </a:solidFill>
                <a:latin typeface="Barlow Medium" panose="00000600000000000000"/>
                <a:ea typeface="Barlow Medium" panose="00000600000000000000"/>
                <a:cs typeface="Barlow Medium" panose="00000600000000000000"/>
                <a:sym typeface="Barlow Medium" panose="00000600000000000000"/>
              </a:defRPr>
            </a:lvl1pPr>
          </a:lstStyle>
          <a:p>
            <a:pPr>
              <a:lnSpc>
                <a:spcPct val="150000"/>
              </a:lnSpc>
              <a:spcAft>
                <a:spcPts val="500"/>
              </a:spcAft>
            </a:pPr>
            <a:r>
              <a:rPr lang="zh-CN" altLang="en-US" sz="1000" u="none" strike="noStrike" dirty="0">
                <a:solidFill>
                  <a:schemeClr val="tx2"/>
                </a:solidFill>
                <a:effectLst/>
                <a:latin typeface="微软雅黑" panose="020B0503020204020204" charset="-122"/>
                <a:ea typeface="微软雅黑" panose="020B0503020204020204" charset="-122"/>
                <a:cs typeface="微软雅黑" panose="020B0503020204020204" charset="-122"/>
                <a:sym typeface="微软雅黑" panose="020B0503020204020204" charset="-122"/>
              </a:rPr>
              <a:t>根据个人能力和公司需求，制定未来</a:t>
            </a:r>
            <a:r>
              <a:rPr lang="en-US" altLang="zh-CN" sz="1000" u="none" strike="noStrike" dirty="0">
                <a:solidFill>
                  <a:schemeClr val="tx2"/>
                </a:solidFill>
                <a:effectLst/>
                <a:latin typeface="微软雅黑" panose="020B0503020204020204" charset="-122"/>
                <a:ea typeface="微软雅黑" panose="020B0503020204020204" charset="-122"/>
                <a:cs typeface="微软雅黑" panose="020B0503020204020204" charset="-122"/>
                <a:sym typeface="微软雅黑" panose="020B0503020204020204" charset="-122"/>
              </a:rPr>
              <a:t>1</a:t>
            </a:r>
            <a:r>
              <a:rPr lang="zh-CN" altLang="en-US" sz="1000" u="none" strike="noStrike" dirty="0">
                <a:solidFill>
                  <a:schemeClr val="tx2"/>
                </a:solidFill>
                <a:effectLst/>
                <a:latin typeface="微软雅黑" panose="020B0503020204020204" charset="-122"/>
                <a:ea typeface="微软雅黑" panose="020B0503020204020204" charset="-122"/>
                <a:cs typeface="微软雅黑" panose="020B0503020204020204" charset="-122"/>
                <a:sym typeface="微软雅黑" panose="020B0503020204020204" charset="-122"/>
              </a:rPr>
              <a:t>至</a:t>
            </a:r>
            <a:r>
              <a:rPr lang="en-US" altLang="zh-CN" sz="1000" u="none" strike="noStrike" dirty="0">
                <a:solidFill>
                  <a:schemeClr val="tx2"/>
                </a:solidFill>
                <a:effectLst/>
                <a:latin typeface="微软雅黑" panose="020B0503020204020204" charset="-122"/>
                <a:ea typeface="微软雅黑" panose="020B0503020204020204" charset="-122"/>
                <a:cs typeface="微软雅黑" panose="020B0503020204020204" charset="-122"/>
                <a:sym typeface="微软雅黑" panose="020B0503020204020204" charset="-122"/>
              </a:rPr>
              <a:t>3</a:t>
            </a:r>
            <a:r>
              <a:rPr lang="zh-CN" altLang="en-US" sz="1000" u="none" strike="noStrike" dirty="0">
                <a:solidFill>
                  <a:schemeClr val="tx2"/>
                </a:solidFill>
                <a:effectLst/>
                <a:latin typeface="微软雅黑" panose="020B0503020204020204" charset="-122"/>
                <a:ea typeface="微软雅黑" panose="020B0503020204020204" charset="-122"/>
                <a:cs typeface="微软雅黑" panose="020B0503020204020204" charset="-122"/>
                <a:sym typeface="微软雅黑" panose="020B0503020204020204" charset="-122"/>
              </a:rPr>
              <a:t>年的职业发展路径，包括晋升到更高级别的销售管理或战略规划职位。</a:t>
            </a:r>
            <a:endParaRPr lang="zh-CN" altLang="en-US" sz="1000" u="none" strike="noStrike" dirty="0">
              <a:solidFill>
                <a:schemeClr val="tx2"/>
              </a:solidFill>
              <a:effectLst/>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2" name="Lorem Ipsum is simply dummy text of the printing and typesetting industry. Lorem Ipsum has been the industry's standard dummy text ever since the 1500s, when an unknown printer took a galley of type and scrambled it to make a type specimen book. It has s"/>
          <p:cNvSpPr/>
          <p:nvPr>
            <p:custDataLst>
              <p:tags r:id="rId31"/>
            </p:custDataLst>
          </p:nvPr>
        </p:nvSpPr>
        <p:spPr>
          <a:xfrm>
            <a:off x="8295640" y="1597025"/>
            <a:ext cx="1726565" cy="266065"/>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400">
                <a:solidFill>
                  <a:srgbClr val="535353"/>
                </a:solidFill>
                <a:latin typeface="Barlow SemiBold" panose="00000700000000000000"/>
                <a:ea typeface="Barlow SemiBold" panose="00000700000000000000"/>
                <a:cs typeface="Barlow SemiBold" panose="00000700000000000000"/>
                <a:sym typeface="Barlow SemiBold" panose="00000700000000000000"/>
              </a:defRPr>
            </a:lvl1pPr>
          </a:lstStyle>
          <a:p>
            <a:pPr algn="ctr">
              <a:spcAft>
                <a:spcPts val="500"/>
              </a:spcAft>
            </a:pPr>
            <a:r>
              <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明确晋升路径</a:t>
            </a:r>
            <a:endPar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3" name="Lorem Ipsum is simply dummy text of the printing and typesetting industry. Lorem Ipsum has been the industry's standard dummy text ever since the 1500s, when an unknown printer took a galley of type and scrambled it to make a type specimen book. It has s"/>
          <p:cNvSpPr/>
          <p:nvPr>
            <p:custDataLst>
              <p:tags r:id="rId32"/>
            </p:custDataLst>
          </p:nvPr>
        </p:nvSpPr>
        <p:spPr>
          <a:xfrm>
            <a:off x="10143165" y="2097344"/>
            <a:ext cx="1761901" cy="71660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9D9F9D"/>
                </a:solidFill>
                <a:latin typeface="Barlow Medium" panose="00000600000000000000"/>
                <a:ea typeface="Barlow Medium" panose="00000600000000000000"/>
                <a:cs typeface="Barlow Medium" panose="00000600000000000000"/>
                <a:sym typeface="Barlow Medium" panose="00000600000000000000"/>
              </a:defRPr>
            </a:lvl1pPr>
          </a:lstStyle>
          <a:p>
            <a:pPr>
              <a:lnSpc>
                <a:spcPct val="150000"/>
              </a:lnSpc>
              <a:spcAft>
                <a:spcPts val="500"/>
              </a:spcAft>
            </a:pPr>
            <a:r>
              <a:rPr lang="zh-CN" altLang="en-US" sz="1000" u="none" strike="noStrike" dirty="0">
                <a:solidFill>
                  <a:schemeClr val="tx2"/>
                </a:solidFill>
                <a:effectLst/>
                <a:latin typeface="微软雅黑" panose="020B0503020204020204" charset="-122"/>
                <a:ea typeface="微软雅黑" panose="020B0503020204020204" charset="-122"/>
                <a:cs typeface="微软雅黑" panose="020B0503020204020204" charset="-122"/>
                <a:sym typeface="微软雅黑" panose="020B0503020204020204" charset="-122"/>
              </a:rPr>
              <a:t>关注身心健康，保持良好的工作与生活平衡，提高工作效率和工作满意度。</a:t>
            </a:r>
            <a:endParaRPr lang="zh-CN" altLang="en-US" sz="1000" u="none" strike="noStrike" dirty="0">
              <a:solidFill>
                <a:schemeClr val="tx2"/>
              </a:solidFill>
              <a:effectLst/>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4" name="Lorem Ipsum is simply dummy text of the printing and typesetting industry. Lorem Ipsum has been the industry's standard dummy text ever since the 1500s, when an unknown printer took a galley of type and scrambled it to make a type specimen book. It has s"/>
          <p:cNvSpPr/>
          <p:nvPr>
            <p:custDataLst>
              <p:tags r:id="rId33"/>
            </p:custDataLst>
          </p:nvPr>
        </p:nvSpPr>
        <p:spPr>
          <a:xfrm>
            <a:off x="10121900" y="1597118"/>
            <a:ext cx="1887456" cy="28212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400">
                <a:solidFill>
                  <a:srgbClr val="535353"/>
                </a:solidFill>
                <a:latin typeface="Barlow SemiBold" panose="00000700000000000000"/>
                <a:ea typeface="Barlow SemiBold" panose="00000700000000000000"/>
                <a:cs typeface="Barlow SemiBold" panose="00000700000000000000"/>
                <a:sym typeface="Barlow SemiBold" panose="00000700000000000000"/>
              </a:defRPr>
            </a:lvl1pPr>
          </a:lstStyle>
          <a:p>
            <a:pPr algn="ctr">
              <a:spcAft>
                <a:spcPts val="500"/>
              </a:spcAft>
            </a:pPr>
            <a:r>
              <a:rPr kumimoji="1" lang="zh-CN" altLang="en-US" sz="15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综合素质提升</a:t>
            </a:r>
            <a:endParaRPr kumimoji="1" lang="zh-CN" altLang="en-US" sz="15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2" name="文本框 51"/>
          <p:cNvSpPr txBox="1"/>
          <p:nvPr>
            <p:custDataLst>
              <p:tags r:id="rId34"/>
            </p:custDataLst>
          </p:nvPr>
        </p:nvSpPr>
        <p:spPr>
          <a:xfrm>
            <a:off x="2566749" y="3167832"/>
            <a:ext cx="1742768" cy="1750672"/>
          </a:xfrm>
          <a:prstGeom prst="rect">
            <a:avLst/>
          </a:prstGeom>
          <a:noFill/>
        </p:spPr>
        <p:txBody>
          <a:bodyPr wrap="square" rtlCol="0">
            <a:spAutoFit/>
          </a:bodyPr>
          <a:lstStyle/>
          <a:p>
            <a:pPr algn="l">
              <a:lnSpc>
                <a:spcPct val="150000"/>
              </a:lnSpc>
              <a:spcAft>
                <a:spcPts val="500"/>
              </a:spcAft>
            </a:pPr>
            <a:r>
              <a:rPr lang="zh-CN" altLang="en-US" sz="1000" u="none" strike="noStrike" dirty="0">
                <a:solidFill>
                  <a:schemeClr val="tx2"/>
                </a:solidFill>
                <a:effectLst/>
                <a:latin typeface="微软雅黑" panose="020B0503020204020204" charset="-122"/>
                <a:ea typeface="微软雅黑" panose="020B0503020204020204" charset="-122"/>
                <a:cs typeface="微软雅黑" panose="020B0503020204020204" charset="-122"/>
              </a:rPr>
              <a:t>积极参与行业会议、网络社区，并分享专业见解和经验，扩展个人在行业内的影响力。主动承担项目领导或团队协调角色，锻炼领导团队能力。</a:t>
            </a:r>
            <a:endParaRPr lang="zh-CN" altLang="en-US" sz="1000" u="none" strike="noStrike" dirty="0">
              <a:solidFill>
                <a:schemeClr val="tx2"/>
              </a:solidFill>
              <a:effectLst/>
              <a:latin typeface="微软雅黑" panose="020B0503020204020204" charset="-122"/>
              <a:ea typeface="微软雅黑" panose="020B0503020204020204" charset="-122"/>
              <a:cs typeface="微软雅黑" panose="020B0503020204020204" charset="-122"/>
            </a:endParaRPr>
          </a:p>
          <a:p>
            <a:pPr>
              <a:lnSpc>
                <a:spcPct val="150000"/>
              </a:lnSpc>
              <a:spcAft>
                <a:spcPts val="500"/>
              </a:spcAft>
            </a:pPr>
            <a:b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br>
            <a:endParaRPr kumimoji="1"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custDataLst>
              <p:tags r:id="rId35"/>
            </p:custDataLst>
          </p:nvPr>
        </p:nvSpPr>
        <p:spPr>
          <a:xfrm>
            <a:off x="2577790" y="2769451"/>
            <a:ext cx="1683078" cy="323165"/>
          </a:xfrm>
          <a:prstGeom prst="rect">
            <a:avLst/>
          </a:prstGeom>
          <a:noFill/>
        </p:spPr>
        <p:txBody>
          <a:bodyPr wrap="square" rtlCol="0">
            <a:spAutoFit/>
          </a:bodyPr>
          <a:lstStyle/>
          <a:p>
            <a:pPr algn="ctr">
              <a:spcAft>
                <a:spcPts val="500"/>
              </a:spcAft>
            </a:pPr>
            <a:r>
              <a:rPr kumimoji="1" lang="zh-CN" altLang="en-US" sz="15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领导能力提升</a:t>
            </a:r>
            <a:endParaRPr kumimoji="1" lang="zh-CN" altLang="en-US" sz="15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55" name="文本框 54"/>
          <p:cNvSpPr txBox="1"/>
          <p:nvPr>
            <p:custDataLst>
              <p:tags r:id="rId36"/>
            </p:custDataLst>
          </p:nvPr>
        </p:nvSpPr>
        <p:spPr>
          <a:xfrm>
            <a:off x="4469975" y="3167832"/>
            <a:ext cx="1610083" cy="988476"/>
          </a:xfrm>
          <a:prstGeom prst="rect">
            <a:avLst/>
          </a:prstGeom>
          <a:noFill/>
        </p:spPr>
        <p:txBody>
          <a:bodyPr wrap="square" rtlCol="0">
            <a:spAutoFit/>
          </a:bodyPr>
          <a:lstStyle/>
          <a:p>
            <a:pPr algn="just">
              <a:lnSpc>
                <a:spcPct val="150000"/>
              </a:lnSpc>
              <a:spcAft>
                <a:spcPts val="500"/>
              </a:spcAft>
            </a:pPr>
            <a:r>
              <a:rPr lang="zh-CN" altLang="en-US" sz="1000" u="none" strike="noStrike" dirty="0">
                <a:solidFill>
                  <a:schemeClr val="tx2"/>
                </a:solidFill>
                <a:effectLst/>
                <a:latin typeface="微软雅黑" panose="020B0503020204020204" charset="-122"/>
                <a:ea typeface="微软雅黑" panose="020B0503020204020204" charset="-122"/>
                <a:cs typeface="微软雅黑" panose="020B0503020204020204" charset="-122"/>
              </a:rPr>
              <a:t>定期与现有客户沟通，建立稳固的关系，了解客户需求，提供定制化的解决方案。</a:t>
            </a:r>
            <a:endParaRPr kumimoji="1" lang="zh-CN" altLang="en-US" sz="1000" u="none" strike="noStrike"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56" name="文本框 55"/>
          <p:cNvSpPr txBox="1"/>
          <p:nvPr>
            <p:custDataLst>
              <p:tags r:id="rId37"/>
            </p:custDataLst>
          </p:nvPr>
        </p:nvSpPr>
        <p:spPr>
          <a:xfrm>
            <a:off x="4481195" y="2769235"/>
            <a:ext cx="1553845" cy="321945"/>
          </a:xfrm>
          <a:prstGeom prst="rect">
            <a:avLst/>
          </a:prstGeom>
          <a:noFill/>
        </p:spPr>
        <p:txBody>
          <a:bodyPr wrap="square" rtlCol="0">
            <a:spAutoFit/>
          </a:bodyPr>
          <a:lstStyle/>
          <a:p>
            <a:pPr algn="ctr">
              <a:spcAft>
                <a:spcPts val="500"/>
              </a:spcAft>
            </a:pPr>
            <a:r>
              <a:rPr kumimoji="1" lang="zh-CN" altLang="en-US" sz="15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客户关系提升</a:t>
            </a:r>
            <a:endParaRPr kumimoji="1" lang="zh-CN" altLang="en-US" sz="15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57" name="Lorem Ipsum is simply dummy text of the printing and typesetting industry. Lorem Ipsum has been the industry's standard dummy text ever since the 1500s, when an unknown printer took a galley of type and scrambled it to make a type specimen book. It has s"/>
          <p:cNvSpPr/>
          <p:nvPr>
            <p:custDataLst>
              <p:tags r:id="rId38"/>
            </p:custDataLst>
          </p:nvPr>
        </p:nvSpPr>
        <p:spPr>
          <a:xfrm>
            <a:off x="8317198" y="4775048"/>
            <a:ext cx="1613611" cy="94743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9D9F9D"/>
                </a:solidFill>
                <a:latin typeface="Barlow Medium" panose="00000600000000000000"/>
                <a:ea typeface="Barlow Medium" panose="00000600000000000000"/>
                <a:cs typeface="Barlow Medium" panose="00000600000000000000"/>
                <a:sym typeface="Barlow Medium" panose="00000600000000000000"/>
              </a:defRPr>
            </a:lvl1pPr>
          </a:lstStyle>
          <a:p>
            <a:pPr>
              <a:lnSpc>
                <a:spcPct val="150000"/>
              </a:lnSpc>
              <a:spcAft>
                <a:spcPts val="500"/>
              </a:spcAft>
            </a:pPr>
            <a:r>
              <a:rPr lang="zh-CN" altLang="en-US" sz="1000" u="none" strike="noStrike" dirty="0">
                <a:solidFill>
                  <a:schemeClr val="tx1"/>
                </a:solidFill>
                <a:effectLst/>
                <a:latin typeface="微软雅黑" panose="020B0503020204020204" charset="-122"/>
                <a:ea typeface="微软雅黑" panose="020B0503020204020204" charset="-122"/>
                <a:cs typeface="微软雅黑" panose="020B0503020204020204" charset="-122"/>
                <a:sym typeface="微软雅黑" panose="020B0503020204020204" charset="-122"/>
              </a:rPr>
              <a:t>与上级领导沟通，制定实现职业目标的发展计划，包括技能培训、项目经验积累和跨部门协作等。</a:t>
            </a:r>
            <a:endParaRPr lang="zh-CN" altLang="en-US" sz="1000" u="none" strike="noStrike" dirty="0">
              <a:solidFill>
                <a:schemeClr val="tx1"/>
              </a:solidFill>
              <a:effectLst/>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8" name="Lorem Ipsum is simply dummy text of the printing and typesetting industry. Lorem Ipsum has been the industry's standard dummy text ever since the 1500s, when an unknown printer took a galley of type and scrambled it to make a type specimen book. It has s"/>
          <p:cNvSpPr/>
          <p:nvPr>
            <p:custDataLst>
              <p:tags r:id="rId39"/>
            </p:custDataLst>
          </p:nvPr>
        </p:nvSpPr>
        <p:spPr>
          <a:xfrm>
            <a:off x="10143165" y="4763451"/>
            <a:ext cx="1761901" cy="94743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9D9F9D"/>
                </a:solidFill>
                <a:latin typeface="Barlow Medium" panose="00000600000000000000"/>
                <a:ea typeface="Barlow Medium" panose="00000600000000000000"/>
                <a:cs typeface="Barlow Medium" panose="00000600000000000000"/>
                <a:sym typeface="Barlow Medium" panose="00000600000000000000"/>
              </a:defRPr>
            </a:lvl1pPr>
          </a:lstStyle>
          <a:p>
            <a:pPr>
              <a:lnSpc>
                <a:spcPct val="150000"/>
              </a:lnSpc>
              <a:spcAft>
                <a:spcPts val="500"/>
              </a:spcAft>
            </a:pPr>
            <a:r>
              <a:rPr lang="zh-CN" altLang="en-US" sz="1000" u="none" strike="noStrike" dirty="0">
                <a:solidFill>
                  <a:schemeClr val="tx1"/>
                </a:solidFill>
                <a:effectLst/>
                <a:latin typeface="微软雅黑" panose="020B0503020204020204" charset="-122"/>
                <a:ea typeface="微软雅黑" panose="020B0503020204020204" charset="-122"/>
                <a:cs typeface="微软雅黑" panose="020B0503020204020204" charset="-122"/>
                <a:sym typeface="微软雅黑" panose="020B0503020204020204" charset="-122"/>
              </a:rPr>
              <a:t>每天开始前列出任务并根据重要性排序，确保首先完成最重要的任务。将工作时间划分成小块，集中精力进行工作。</a:t>
            </a:r>
            <a:endParaRPr lang="zh-CN" altLang="en-US" sz="1000" u="none" strike="noStrike" dirty="0">
              <a:solidFill>
                <a:schemeClr val="tx1"/>
              </a:solidFill>
              <a:effectLst/>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67" name="组合 66"/>
          <p:cNvGrpSpPr/>
          <p:nvPr>
            <p:custDataLst>
              <p:tags r:id="rId40"/>
            </p:custDataLst>
          </p:nvPr>
        </p:nvGrpSpPr>
        <p:grpSpPr>
          <a:xfrm>
            <a:off x="5033721" y="4550578"/>
            <a:ext cx="479931" cy="482065"/>
            <a:chOff x="264440" y="4782841"/>
            <a:chExt cx="505710" cy="507958"/>
          </a:xfrm>
        </p:grpSpPr>
        <p:sp>
          <p:nvSpPr>
            <p:cNvPr id="71" name="椭圆 70"/>
            <p:cNvSpPr/>
            <p:nvPr>
              <p:custDataLst>
                <p:tags r:id="rId41"/>
              </p:custDataLst>
            </p:nvPr>
          </p:nvSpPr>
          <p:spPr>
            <a:xfrm>
              <a:off x="264440" y="4787564"/>
              <a:ext cx="503235" cy="50323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微软雅黑" panose="020B0503020204020204" charset="-122"/>
                <a:ea typeface="微软雅黑" panose="020B0503020204020204" charset="-122"/>
                <a:cs typeface="微软雅黑" panose="020B0503020204020204" charset="-122"/>
              </a:endParaRPr>
            </a:p>
          </p:txBody>
        </p:sp>
        <p:pic>
          <p:nvPicPr>
            <p:cNvPr id="88" name="图形 55" descr="徽章勾号 1 纯色填充"/>
            <p:cNvPicPr>
              <a:picLocks noChangeAspect="1"/>
            </p:cNvPicPr>
            <p:nvPr>
              <p:custDataLst>
                <p:tags r:id="rId42"/>
              </p:custDataLst>
            </p:nvPr>
          </p:nvPicPr>
          <p:blipFill>
            <a:blip r:embed="rId43">
              <a:extLst>
                <a:ext uri="{96DAC541-7B7A-43D3-8B79-37D633B846F1}">
                  <asvg:svgBlip xmlns:asvg="http://schemas.microsoft.com/office/drawing/2016/SVG/main" r:embed="rId44"/>
                </a:ext>
              </a:extLst>
            </a:blip>
            <a:stretch>
              <a:fillRect/>
            </a:stretch>
          </p:blipFill>
          <p:spPr>
            <a:xfrm>
              <a:off x="266914" y="4782841"/>
              <a:ext cx="503236" cy="503236"/>
            </a:xfrm>
            <a:prstGeom prst="rect">
              <a:avLst/>
            </a:prstGeom>
          </p:spPr>
        </p:pic>
      </p:grpSp>
      <p:grpSp>
        <p:nvGrpSpPr>
          <p:cNvPr id="89" name="组合 88"/>
          <p:cNvGrpSpPr/>
          <p:nvPr>
            <p:custDataLst>
              <p:tags r:id="rId45"/>
            </p:custDataLst>
          </p:nvPr>
        </p:nvGrpSpPr>
        <p:grpSpPr>
          <a:xfrm>
            <a:off x="6925219" y="4200100"/>
            <a:ext cx="479931" cy="482065"/>
            <a:chOff x="264440" y="4782841"/>
            <a:chExt cx="505710" cy="507958"/>
          </a:xfrm>
        </p:grpSpPr>
        <p:sp>
          <p:nvSpPr>
            <p:cNvPr id="90" name="椭圆 89"/>
            <p:cNvSpPr/>
            <p:nvPr>
              <p:custDataLst>
                <p:tags r:id="rId46"/>
              </p:custDataLst>
            </p:nvPr>
          </p:nvSpPr>
          <p:spPr>
            <a:xfrm>
              <a:off x="264440" y="4787564"/>
              <a:ext cx="503235" cy="50323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微软雅黑" panose="020B0503020204020204" charset="-122"/>
                <a:ea typeface="微软雅黑" panose="020B0503020204020204" charset="-122"/>
                <a:cs typeface="微软雅黑" panose="020B0503020204020204" charset="-122"/>
              </a:endParaRPr>
            </a:p>
          </p:txBody>
        </p:sp>
        <p:pic>
          <p:nvPicPr>
            <p:cNvPr id="91" name="图形 58" descr="徽章勾号 1 纯色填充"/>
            <p:cNvPicPr>
              <a:picLocks noChangeAspect="1"/>
            </p:cNvPicPr>
            <p:nvPr>
              <p:custDataLst>
                <p:tags r:id="rId47"/>
              </p:custDataLst>
            </p:nvPr>
          </p:nvPicPr>
          <p:blipFill>
            <a:blip r:embed="rId48">
              <a:extLst>
                <a:ext uri="{96DAC541-7B7A-43D3-8B79-37D633B846F1}">
                  <asvg:svgBlip xmlns:asvg="http://schemas.microsoft.com/office/drawing/2016/SVG/main" r:embed="rId49"/>
                </a:ext>
              </a:extLst>
            </a:blip>
            <a:stretch>
              <a:fillRect/>
            </a:stretch>
          </p:blipFill>
          <p:spPr>
            <a:xfrm>
              <a:off x="266914" y="4782841"/>
              <a:ext cx="503236" cy="503236"/>
            </a:xfrm>
            <a:prstGeom prst="rect">
              <a:avLst/>
            </a:prstGeom>
          </p:spPr>
        </p:pic>
      </p:grpSp>
      <p:grpSp>
        <p:nvGrpSpPr>
          <p:cNvPr id="92" name="组合 91"/>
          <p:cNvGrpSpPr/>
          <p:nvPr>
            <p:custDataLst>
              <p:tags r:id="rId50"/>
            </p:custDataLst>
          </p:nvPr>
        </p:nvGrpSpPr>
        <p:grpSpPr>
          <a:xfrm>
            <a:off x="8882350" y="3804260"/>
            <a:ext cx="479931" cy="482065"/>
            <a:chOff x="264440" y="4782841"/>
            <a:chExt cx="505710" cy="507958"/>
          </a:xfrm>
        </p:grpSpPr>
        <p:sp>
          <p:nvSpPr>
            <p:cNvPr id="93" name="椭圆 92"/>
            <p:cNvSpPr/>
            <p:nvPr>
              <p:custDataLst>
                <p:tags r:id="rId51"/>
              </p:custDataLst>
            </p:nvPr>
          </p:nvSpPr>
          <p:spPr>
            <a:xfrm>
              <a:off x="264440" y="4787564"/>
              <a:ext cx="503235" cy="50323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微软雅黑" panose="020B0503020204020204" charset="-122"/>
                <a:ea typeface="微软雅黑" panose="020B0503020204020204" charset="-122"/>
                <a:cs typeface="微软雅黑" panose="020B0503020204020204" charset="-122"/>
              </a:endParaRPr>
            </a:p>
          </p:txBody>
        </p:sp>
        <p:pic>
          <p:nvPicPr>
            <p:cNvPr id="94" name="图形 61" descr="徽章勾号 1 纯色填充"/>
            <p:cNvPicPr>
              <a:picLocks noChangeAspect="1"/>
            </p:cNvPicPr>
            <p:nvPr>
              <p:custDataLst>
                <p:tags r:id="rId52"/>
              </p:custDataLst>
            </p:nvPr>
          </p:nvPicPr>
          <p:blipFill>
            <a:blip r:embed="rId53">
              <a:extLst>
                <a:ext uri="{96DAC541-7B7A-43D3-8B79-37D633B846F1}">
                  <asvg:svgBlip xmlns:asvg="http://schemas.microsoft.com/office/drawing/2016/SVG/main" r:embed="rId54"/>
                </a:ext>
              </a:extLst>
            </a:blip>
            <a:stretch>
              <a:fillRect/>
            </a:stretch>
          </p:blipFill>
          <p:spPr>
            <a:xfrm>
              <a:off x="266914" y="4782841"/>
              <a:ext cx="503236" cy="503236"/>
            </a:xfrm>
            <a:prstGeom prst="rect">
              <a:avLst/>
            </a:prstGeom>
          </p:spPr>
        </p:pic>
      </p:grpSp>
      <p:grpSp>
        <p:nvGrpSpPr>
          <p:cNvPr id="95" name="组合 94"/>
          <p:cNvGrpSpPr/>
          <p:nvPr>
            <p:custDataLst>
              <p:tags r:id="rId55"/>
            </p:custDataLst>
          </p:nvPr>
        </p:nvGrpSpPr>
        <p:grpSpPr>
          <a:xfrm>
            <a:off x="10578705" y="3429106"/>
            <a:ext cx="479931" cy="482065"/>
            <a:chOff x="264440" y="4782841"/>
            <a:chExt cx="505710" cy="507958"/>
          </a:xfrm>
        </p:grpSpPr>
        <p:sp>
          <p:nvSpPr>
            <p:cNvPr id="96" name="椭圆 95"/>
            <p:cNvSpPr/>
            <p:nvPr>
              <p:custDataLst>
                <p:tags r:id="rId56"/>
              </p:custDataLst>
            </p:nvPr>
          </p:nvSpPr>
          <p:spPr>
            <a:xfrm>
              <a:off x="264440" y="4787564"/>
              <a:ext cx="503235" cy="50323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微软雅黑" panose="020B0503020204020204" charset="-122"/>
                <a:ea typeface="微软雅黑" panose="020B0503020204020204" charset="-122"/>
                <a:cs typeface="微软雅黑" panose="020B0503020204020204" charset="-122"/>
              </a:endParaRPr>
            </a:p>
          </p:txBody>
        </p:sp>
        <p:pic>
          <p:nvPicPr>
            <p:cNvPr id="97" name="图形 64" descr="徽章勾号 1 纯色填充"/>
            <p:cNvPicPr>
              <a:picLocks noChangeAspect="1"/>
            </p:cNvPicPr>
            <p:nvPr>
              <p:custDataLst>
                <p:tags r:id="rId57"/>
              </p:custDataLst>
            </p:nvPr>
          </p:nvPicPr>
          <p:blipFill>
            <a:blip r:embed="rId53">
              <a:extLst>
                <a:ext uri="{96DAC541-7B7A-43D3-8B79-37D633B846F1}">
                  <asvg:svgBlip xmlns:asvg="http://schemas.microsoft.com/office/drawing/2016/SVG/main" r:embed="rId58"/>
                </a:ext>
              </a:extLst>
            </a:blip>
            <a:stretch>
              <a:fillRect/>
            </a:stretch>
          </p:blipFill>
          <p:spPr>
            <a:xfrm>
              <a:off x="266914" y="4782841"/>
              <a:ext cx="503236" cy="503236"/>
            </a:xfrm>
            <a:prstGeom prst="rect">
              <a:avLst/>
            </a:prstGeom>
          </p:spPr>
        </p:pic>
      </p:grpSp>
      <p:grpSp>
        <p:nvGrpSpPr>
          <p:cNvPr id="20" name="组合 19"/>
          <p:cNvGrpSpPr/>
          <p:nvPr>
            <p:custDataLst>
              <p:tags r:id="rId59"/>
            </p:custDataLst>
          </p:nvPr>
        </p:nvGrpSpPr>
        <p:grpSpPr>
          <a:xfrm>
            <a:off x="3207273" y="4785815"/>
            <a:ext cx="479931" cy="482065"/>
            <a:chOff x="264440" y="4782841"/>
            <a:chExt cx="505710" cy="507958"/>
          </a:xfrm>
        </p:grpSpPr>
        <p:sp>
          <p:nvSpPr>
            <p:cNvPr id="21" name="椭圆 20"/>
            <p:cNvSpPr/>
            <p:nvPr>
              <p:custDataLst>
                <p:tags r:id="rId60"/>
              </p:custDataLst>
            </p:nvPr>
          </p:nvSpPr>
          <p:spPr>
            <a:xfrm>
              <a:off x="264440" y="4787564"/>
              <a:ext cx="503235" cy="50323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微软雅黑" panose="020B0503020204020204" charset="-122"/>
                <a:ea typeface="微软雅黑" panose="020B0503020204020204" charset="-122"/>
                <a:cs typeface="微软雅黑" panose="020B0503020204020204" charset="-122"/>
              </a:endParaRPr>
            </a:p>
          </p:txBody>
        </p:sp>
        <p:pic>
          <p:nvPicPr>
            <p:cNvPr id="45" name="图形 52" descr="徽章勾号 1 纯色填充"/>
            <p:cNvPicPr>
              <a:picLocks noChangeAspect="1"/>
            </p:cNvPicPr>
            <p:nvPr>
              <p:custDataLst>
                <p:tags r:id="rId61"/>
              </p:custDataLst>
            </p:nvPr>
          </p:nvPicPr>
          <p:blipFill>
            <a:blip r:embed="rId43">
              <a:extLst>
                <a:ext uri="{96DAC541-7B7A-43D3-8B79-37D633B846F1}">
                  <asvg:svgBlip xmlns:asvg="http://schemas.microsoft.com/office/drawing/2016/SVG/main" r:embed="rId62"/>
                </a:ext>
              </a:extLst>
            </a:blip>
            <a:stretch>
              <a:fillRect/>
            </a:stretch>
          </p:blipFill>
          <p:spPr>
            <a:xfrm>
              <a:off x="266914" y="4782841"/>
              <a:ext cx="503236" cy="503236"/>
            </a:xfrm>
            <a:prstGeom prst="rect">
              <a:avLst/>
            </a:prstGeom>
          </p:spPr>
        </p:pic>
      </p:grpSp>
      <p:grpSp>
        <p:nvGrpSpPr>
          <p:cNvPr id="46" name="组合 45"/>
          <p:cNvGrpSpPr/>
          <p:nvPr>
            <p:custDataLst>
              <p:tags r:id="rId63"/>
            </p:custDataLst>
          </p:nvPr>
        </p:nvGrpSpPr>
        <p:grpSpPr>
          <a:xfrm>
            <a:off x="1229436" y="4785815"/>
            <a:ext cx="479931" cy="482065"/>
            <a:chOff x="264440" y="4782841"/>
            <a:chExt cx="505710" cy="507958"/>
          </a:xfrm>
        </p:grpSpPr>
        <p:sp>
          <p:nvSpPr>
            <p:cNvPr id="49" name="椭圆 48"/>
            <p:cNvSpPr/>
            <p:nvPr>
              <p:custDataLst>
                <p:tags r:id="rId64"/>
              </p:custDataLst>
            </p:nvPr>
          </p:nvSpPr>
          <p:spPr>
            <a:xfrm>
              <a:off x="264440" y="4787564"/>
              <a:ext cx="503235" cy="50323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微软雅黑" panose="020B0503020204020204" charset="-122"/>
                <a:ea typeface="微软雅黑" panose="020B0503020204020204" charset="-122"/>
                <a:cs typeface="微软雅黑" panose="020B0503020204020204" charset="-122"/>
              </a:endParaRPr>
            </a:p>
          </p:txBody>
        </p:sp>
        <p:pic>
          <p:nvPicPr>
            <p:cNvPr id="50" name="图形 55" descr="徽章勾号 1 纯色填充"/>
            <p:cNvPicPr>
              <a:picLocks noChangeAspect="1"/>
            </p:cNvPicPr>
            <p:nvPr>
              <p:custDataLst>
                <p:tags r:id="rId65"/>
              </p:custDataLst>
            </p:nvPr>
          </p:nvPicPr>
          <p:blipFill>
            <a:blip r:embed="rId43">
              <a:extLst>
                <a:ext uri="{96DAC541-7B7A-43D3-8B79-37D633B846F1}">
                  <asvg:svgBlip xmlns:asvg="http://schemas.microsoft.com/office/drawing/2016/SVG/main" r:embed="rId66"/>
                </a:ext>
              </a:extLst>
            </a:blip>
            <a:stretch>
              <a:fillRect/>
            </a:stretch>
          </p:blipFill>
          <p:spPr>
            <a:xfrm>
              <a:off x="266914" y="4782841"/>
              <a:ext cx="503236" cy="503236"/>
            </a:xfrm>
            <a:prstGeom prst="rect">
              <a:avLst/>
            </a:prstGeom>
          </p:spPr>
        </p:pic>
      </p:grpSp>
      <p:sp>
        <p:nvSpPr>
          <p:cNvPr id="53" name="文本框 52"/>
          <p:cNvSpPr txBox="1"/>
          <p:nvPr>
            <p:custDataLst>
              <p:tags r:id="rId67"/>
            </p:custDataLst>
          </p:nvPr>
        </p:nvSpPr>
        <p:spPr>
          <a:xfrm>
            <a:off x="522814" y="3167832"/>
            <a:ext cx="1896543" cy="1618392"/>
          </a:xfrm>
          <a:prstGeom prst="rect">
            <a:avLst/>
          </a:prstGeom>
          <a:noFill/>
        </p:spPr>
        <p:txBody>
          <a:bodyPr wrap="square" rtlCol="0">
            <a:spAutoFit/>
          </a:bodyPr>
          <a:lstStyle/>
          <a:p>
            <a:pPr algn="just">
              <a:lnSpc>
                <a:spcPct val="150000"/>
              </a:lnSpc>
              <a:spcAft>
                <a:spcPts val="500"/>
              </a:spcAft>
            </a:pPr>
            <a:r>
              <a:rPr lang="zh-CN" altLang="en-US" sz="1000" u="none" strike="noStrike" dirty="0">
                <a:solidFill>
                  <a:schemeClr val="tx2"/>
                </a:solidFill>
                <a:effectLst/>
                <a:latin typeface="微软雅黑" panose="020B0503020204020204" charset="-122"/>
                <a:ea typeface="微软雅黑" panose="020B0503020204020204" charset="-122"/>
                <a:cs typeface="微软雅黑" panose="020B0503020204020204" charset="-122"/>
              </a:rPr>
              <a:t>参与内部和外部的销售培训课程，如产品知识、销售技巧、市场趋势等。通过实战演练、角色扮演和导师指导等方式，不断提升销售谈判。</a:t>
            </a:r>
            <a:endParaRPr lang="zh-CN" altLang="en-US" sz="1000" u="none" strike="noStrike" dirty="0">
              <a:solidFill>
                <a:schemeClr val="tx2"/>
              </a:solidFill>
              <a:effectLst/>
              <a:latin typeface="微软雅黑" panose="020B0503020204020204" charset="-122"/>
              <a:ea typeface="微软雅黑" panose="020B0503020204020204" charset="-122"/>
              <a:cs typeface="微软雅黑" panose="020B0503020204020204" charset="-122"/>
            </a:endParaRPr>
          </a:p>
          <a:p>
            <a:pPr>
              <a:spcAft>
                <a:spcPts val="500"/>
              </a:spcAft>
            </a:pPr>
            <a:b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br>
            <a:endParaRPr kumimoji="1"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0" name="文本框 59"/>
          <p:cNvSpPr txBox="1"/>
          <p:nvPr>
            <p:custDataLst>
              <p:tags r:id="rId68"/>
            </p:custDataLst>
          </p:nvPr>
        </p:nvSpPr>
        <p:spPr>
          <a:xfrm>
            <a:off x="549910" y="2769235"/>
            <a:ext cx="1924050" cy="321945"/>
          </a:xfrm>
          <a:prstGeom prst="rect">
            <a:avLst/>
          </a:prstGeom>
          <a:noFill/>
        </p:spPr>
        <p:txBody>
          <a:bodyPr wrap="square" rtlCol="0">
            <a:spAutoFit/>
          </a:bodyPr>
          <a:lstStyle/>
          <a:p>
            <a:pPr algn="ctr">
              <a:spcAft>
                <a:spcPts val="500"/>
              </a:spcAft>
            </a:pPr>
            <a:r>
              <a:rPr kumimoji="1" lang="zh-CN" altLang="en-US" sz="15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销售能力提升</a:t>
            </a:r>
            <a:endParaRPr kumimoji="1" lang="zh-CN" altLang="en-US" sz="15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611" name="子陵职场PPT1"/>
          <p:cNvSpPr/>
          <p:nvPr/>
        </p:nvSpPr>
        <p:spPr>
          <a:xfrm flipH="1">
            <a:off x="381000" y="1179195"/>
            <a:ext cx="5546725" cy="1323340"/>
          </a:xfrm>
          <a:custGeom>
            <a:avLst/>
            <a:gdLst>
              <a:gd name="connsiteX0" fmla="*/ 160 w 11153"/>
              <a:gd name="connsiteY0" fmla="*/ 0 h 1576"/>
              <a:gd name="connsiteX1" fmla="*/ 0 w 11153"/>
              <a:gd name="connsiteY1" fmla="*/ 89 h 1576"/>
              <a:gd name="connsiteX2" fmla="*/ 0 w 11153"/>
              <a:gd name="connsiteY2" fmla="*/ 1185 h 1576"/>
              <a:gd name="connsiteX3" fmla="*/ 118 w 11153"/>
              <a:gd name="connsiteY3" fmla="*/ 1270 h 1576"/>
              <a:gd name="connsiteX4" fmla="*/ 9660 w 11153"/>
              <a:gd name="connsiteY4" fmla="*/ 1261 h 1576"/>
              <a:gd name="connsiteX5" fmla="*/ 10106 w 11153"/>
              <a:gd name="connsiteY5" fmla="*/ 1576 h 1576"/>
              <a:gd name="connsiteX6" fmla="*/ 10605 w 11153"/>
              <a:gd name="connsiteY6" fmla="*/ 1286 h 1576"/>
              <a:gd name="connsiteX7" fmla="*/ 11149 w 11153"/>
              <a:gd name="connsiteY7" fmla="*/ 1270 h 1576"/>
              <a:gd name="connsiteX8" fmla="*/ 11153 w 11153"/>
              <a:gd name="connsiteY8" fmla="*/ 89 h 1576"/>
              <a:gd name="connsiteX9" fmla="*/ 11049 w 11153"/>
              <a:gd name="connsiteY9" fmla="*/ 6 h 1576"/>
              <a:gd name="connsiteX10" fmla="*/ 160 w 11153"/>
              <a:gd name="connsiteY10" fmla="*/ 0 h 1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53" h="1576" extrusionOk="0">
                <a:moveTo>
                  <a:pt x="160" y="0"/>
                </a:moveTo>
                <a:cubicBezTo>
                  <a:pt x="-1" y="0"/>
                  <a:pt x="0" y="50"/>
                  <a:pt x="0" y="89"/>
                </a:cubicBezTo>
                <a:lnTo>
                  <a:pt x="0" y="1185"/>
                </a:lnTo>
                <a:cubicBezTo>
                  <a:pt x="0" y="1225"/>
                  <a:pt x="3" y="1270"/>
                  <a:pt x="118" y="1270"/>
                </a:cubicBezTo>
                <a:lnTo>
                  <a:pt x="9660" y="1261"/>
                </a:lnTo>
                <a:lnTo>
                  <a:pt x="10106" y="1576"/>
                </a:lnTo>
                <a:lnTo>
                  <a:pt x="10605" y="1286"/>
                </a:lnTo>
                <a:lnTo>
                  <a:pt x="11149" y="1270"/>
                </a:lnTo>
                <a:lnTo>
                  <a:pt x="11153" y="89"/>
                </a:lnTo>
                <a:cubicBezTo>
                  <a:pt x="11152" y="50"/>
                  <a:pt x="11156" y="-8"/>
                  <a:pt x="11049" y="6"/>
                </a:cubicBezTo>
                <a:lnTo>
                  <a:pt x="160" y="0"/>
                </a:lnTo>
                <a:close/>
              </a:path>
            </a:pathLst>
          </a:custGeom>
          <a:solidFill>
            <a:schemeClr val="accent1">
              <a:lumMod val="20000"/>
              <a:lumOff val="80000"/>
              <a:alpha val="1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68" name="文本框 67"/>
          <p:cNvSpPr txBox="1"/>
          <p:nvPr/>
        </p:nvSpPr>
        <p:spPr>
          <a:xfrm>
            <a:off x="522605" y="1213485"/>
            <a:ext cx="5165725" cy="922020"/>
          </a:xfrm>
          <a:prstGeom prst="rect">
            <a:avLst/>
          </a:prstGeom>
          <a:noFill/>
        </p:spPr>
        <p:txBody>
          <a:bodyPr wrap="square" rtlCol="0">
            <a:spAutoFit/>
          </a:bodyPr>
          <a:lstStyle/>
          <a:p>
            <a:pPr>
              <a:lnSpc>
                <a:spcPct val="150000"/>
              </a:lnSpc>
              <a:spcAft>
                <a:spcPts val="500"/>
              </a:spcAft>
            </a:pPr>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rPr>
              <a:t>为了在职场中取得更好表现和职业发展，帮助自身定义和实现职业目标和职业生涯路径。通过制定和执行职业能力提升计划，有效地提升职业竞争力、实现职业目标，并在职场中获得更多的成就和满足感。</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4"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11" name="图片 10"/>
            <p:cNvPicPr>
              <a:picLocks noChangeAspect="1"/>
            </p:cNvPicPr>
            <p:nvPr userDrawn="1"/>
          </p:nvPicPr>
          <p:blipFill>
            <a:blip r:embed="rId69"/>
            <a:srcRect l="17002" t="-1765" r="56499" b="-1176"/>
            <a:stretch>
              <a:fillRect/>
            </a:stretch>
          </p:blipFill>
          <p:spPr>
            <a:xfrm>
              <a:off x="13761" y="549"/>
              <a:ext cx="1582" cy="525"/>
            </a:xfrm>
            <a:prstGeom prst="rect">
              <a:avLst/>
            </a:prstGeom>
          </p:spPr>
        </p:pic>
        <p:sp>
          <p:nvSpPr>
            <p:cNvPr id="12" name="文本框 11"/>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工作汇报时间轴</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161" name="任意形状 160"/>
          <p:cNvSpPr>
            <a:spLocks noChangeArrowheads="1"/>
          </p:cNvSpPr>
          <p:nvPr/>
        </p:nvSpPr>
        <p:spPr bwMode="auto">
          <a:xfrm>
            <a:off x="454763" y="4092727"/>
            <a:ext cx="2239576" cy="281749"/>
          </a:xfrm>
          <a:custGeom>
            <a:avLst/>
            <a:gdLst>
              <a:gd name="connsiteX0" fmla="*/ 144458 w 2239576"/>
              <a:gd name="connsiteY0" fmla="*/ 0 h 281749"/>
              <a:gd name="connsiteX1" fmla="*/ 2239576 w 2239576"/>
              <a:gd name="connsiteY1" fmla="*/ 0 h 281749"/>
              <a:gd name="connsiteX2" fmla="*/ 2095117 w 2239576"/>
              <a:gd name="connsiteY2" fmla="*/ 281749 h 281749"/>
              <a:gd name="connsiteX3" fmla="*/ 0 w 2239576"/>
              <a:gd name="connsiteY3" fmla="*/ 281749 h 281749"/>
              <a:gd name="connsiteX4" fmla="*/ 144458 w 2239576"/>
              <a:gd name="connsiteY4" fmla="*/ 0 h 281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9576" h="281749">
                <a:moveTo>
                  <a:pt x="144458" y="0"/>
                </a:moveTo>
                <a:lnTo>
                  <a:pt x="2239576" y="0"/>
                </a:lnTo>
                <a:lnTo>
                  <a:pt x="2095117" y="281749"/>
                </a:lnTo>
                <a:lnTo>
                  <a:pt x="0" y="281749"/>
                </a:lnTo>
                <a:lnTo>
                  <a:pt x="144458" y="0"/>
                </a:lnTo>
                <a:close/>
              </a:path>
            </a:pathLst>
          </a:custGeom>
          <a:solidFill>
            <a:schemeClr val="accent1">
              <a:lumMod val="40000"/>
              <a:lumOff val="60000"/>
            </a:schemeClr>
          </a:solidFill>
          <a:ln w="19050">
            <a:solidFill>
              <a:schemeClr val="bg1"/>
            </a:solidFill>
          </a:ln>
        </p:spPr>
        <p:txBody>
          <a:bodyPr wrap="square" lIns="38100" tIns="38100" rIns="38100" bIns="38100" anchor="ctr">
            <a:noAutofit/>
          </a:bodyPr>
          <a:lstStyle/>
          <a:p>
            <a:pPr algn="ctr" eaLnBrk="1"/>
            <a:r>
              <a:rPr lang="en-US" altLang="zh-CN" sz="1200" dirty="0">
                <a:solidFill>
                  <a:schemeClr val="bg1"/>
                </a:solidFill>
                <a:latin typeface="微软雅黑" panose="020B0503020204020204" charset="-122"/>
                <a:ea typeface="微软雅黑" panose="020B0503020204020204" charset="-122"/>
                <a:cs typeface="微软雅黑" panose="020B0503020204020204" charset="-122"/>
              </a:rPr>
              <a:t>2024.3-2024.4</a:t>
            </a:r>
            <a:endParaRPr lang="en-US" altLang="zh-CN"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60" name="任意形状 159"/>
          <p:cNvSpPr>
            <a:spLocks noChangeArrowheads="1"/>
          </p:cNvSpPr>
          <p:nvPr/>
        </p:nvSpPr>
        <p:spPr bwMode="auto">
          <a:xfrm>
            <a:off x="2667069" y="4092727"/>
            <a:ext cx="2239576" cy="281749"/>
          </a:xfrm>
          <a:custGeom>
            <a:avLst/>
            <a:gdLst>
              <a:gd name="connsiteX0" fmla="*/ 144459 w 2239576"/>
              <a:gd name="connsiteY0" fmla="*/ 0 h 281749"/>
              <a:gd name="connsiteX1" fmla="*/ 2239576 w 2239576"/>
              <a:gd name="connsiteY1" fmla="*/ 0 h 281749"/>
              <a:gd name="connsiteX2" fmla="*/ 2095117 w 2239576"/>
              <a:gd name="connsiteY2" fmla="*/ 281749 h 281749"/>
              <a:gd name="connsiteX3" fmla="*/ 0 w 2239576"/>
              <a:gd name="connsiteY3" fmla="*/ 281749 h 281749"/>
              <a:gd name="connsiteX4" fmla="*/ 144459 w 2239576"/>
              <a:gd name="connsiteY4" fmla="*/ 0 h 281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9576" h="281749">
                <a:moveTo>
                  <a:pt x="144459" y="0"/>
                </a:moveTo>
                <a:lnTo>
                  <a:pt x="2239576" y="0"/>
                </a:lnTo>
                <a:lnTo>
                  <a:pt x="2095117" y="281749"/>
                </a:lnTo>
                <a:lnTo>
                  <a:pt x="0" y="281749"/>
                </a:lnTo>
                <a:lnTo>
                  <a:pt x="144459" y="0"/>
                </a:lnTo>
                <a:close/>
              </a:path>
            </a:pathLst>
          </a:custGeom>
          <a:solidFill>
            <a:schemeClr val="accent5">
              <a:lumMod val="40000"/>
              <a:lumOff val="60000"/>
            </a:schemeClr>
          </a:solidFill>
          <a:ln w="19050">
            <a:solidFill>
              <a:schemeClr val="bg1"/>
            </a:solidFill>
          </a:ln>
        </p:spPr>
        <p:txBody>
          <a:bodyPr wrap="square" lIns="38100" tIns="38100" rIns="38100" bIns="38100" anchor="ctr">
            <a:noAutofit/>
          </a:bodyPr>
          <a:lstStyle/>
          <a:p>
            <a:pPr lvl="0" algn="ctr">
              <a:buClrTx/>
              <a:buSzTx/>
              <a:buFontTx/>
            </a:pPr>
            <a:r>
              <a:rPr lang="en-US" altLang="zh-CN" sz="1200" dirty="0">
                <a:solidFill>
                  <a:schemeClr val="bg1"/>
                </a:solidFill>
                <a:latin typeface="微软雅黑" panose="020B0503020204020204" charset="-122"/>
                <a:ea typeface="微软雅黑" panose="020B0503020204020204" charset="-122"/>
                <a:cs typeface="微软雅黑" panose="020B0503020204020204" charset="-122"/>
                <a:sym typeface="+mn-ea"/>
              </a:rPr>
              <a:t>2024.5-2024.6</a:t>
            </a:r>
            <a:endParaRPr lang="en-US" altLang="zh-CN" sz="12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59" name="任意形状 158"/>
          <p:cNvSpPr>
            <a:spLocks noChangeArrowheads="1"/>
          </p:cNvSpPr>
          <p:nvPr/>
        </p:nvSpPr>
        <p:spPr bwMode="auto">
          <a:xfrm>
            <a:off x="4899342" y="4092727"/>
            <a:ext cx="2239576" cy="281749"/>
          </a:xfrm>
          <a:custGeom>
            <a:avLst/>
            <a:gdLst>
              <a:gd name="connsiteX0" fmla="*/ 144459 w 2239576"/>
              <a:gd name="connsiteY0" fmla="*/ 0 h 281749"/>
              <a:gd name="connsiteX1" fmla="*/ 2239576 w 2239576"/>
              <a:gd name="connsiteY1" fmla="*/ 0 h 281749"/>
              <a:gd name="connsiteX2" fmla="*/ 2095117 w 2239576"/>
              <a:gd name="connsiteY2" fmla="*/ 281749 h 281749"/>
              <a:gd name="connsiteX3" fmla="*/ 0 w 2239576"/>
              <a:gd name="connsiteY3" fmla="*/ 281749 h 281749"/>
              <a:gd name="connsiteX4" fmla="*/ 144459 w 2239576"/>
              <a:gd name="connsiteY4" fmla="*/ 0 h 281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9576" h="281749">
                <a:moveTo>
                  <a:pt x="144459" y="0"/>
                </a:moveTo>
                <a:lnTo>
                  <a:pt x="2239576" y="0"/>
                </a:lnTo>
                <a:lnTo>
                  <a:pt x="2095117" y="281749"/>
                </a:lnTo>
                <a:lnTo>
                  <a:pt x="0" y="281749"/>
                </a:lnTo>
                <a:lnTo>
                  <a:pt x="144459" y="0"/>
                </a:lnTo>
                <a:close/>
              </a:path>
            </a:pathLst>
          </a:custGeom>
          <a:solidFill>
            <a:schemeClr val="accent1">
              <a:lumMod val="40000"/>
              <a:lumOff val="60000"/>
            </a:schemeClr>
          </a:solidFill>
          <a:ln w="19050">
            <a:solidFill>
              <a:schemeClr val="bg1"/>
            </a:solidFill>
          </a:ln>
        </p:spPr>
        <p:txBody>
          <a:bodyPr wrap="square" lIns="38100" tIns="38100" rIns="38100" bIns="38100" anchor="ctr">
            <a:noAutofit/>
          </a:bodyPr>
          <a:lstStyle/>
          <a:p>
            <a:pPr lvl="0" algn="ctr">
              <a:buClrTx/>
              <a:buSzTx/>
              <a:buFontTx/>
            </a:pPr>
            <a:r>
              <a:rPr lang="en-US" altLang="zh-CN" sz="1200" dirty="0">
                <a:solidFill>
                  <a:schemeClr val="bg1"/>
                </a:solidFill>
                <a:latin typeface="微软雅黑" panose="020B0503020204020204" charset="-122"/>
                <a:ea typeface="微软雅黑" panose="020B0503020204020204" charset="-122"/>
                <a:cs typeface="微软雅黑" panose="020B0503020204020204" charset="-122"/>
                <a:sym typeface="+mn-ea"/>
              </a:rPr>
              <a:t>2024.7-2024.8</a:t>
            </a:r>
            <a:endParaRPr lang="en-US" altLang="zh-CN" sz="12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58" name="任意形状 157"/>
          <p:cNvSpPr>
            <a:spLocks noChangeArrowheads="1"/>
          </p:cNvSpPr>
          <p:nvPr/>
        </p:nvSpPr>
        <p:spPr bwMode="auto">
          <a:xfrm>
            <a:off x="7128800" y="4092727"/>
            <a:ext cx="2239575" cy="281749"/>
          </a:xfrm>
          <a:custGeom>
            <a:avLst/>
            <a:gdLst>
              <a:gd name="connsiteX0" fmla="*/ 144459 w 2239575"/>
              <a:gd name="connsiteY0" fmla="*/ 0 h 281749"/>
              <a:gd name="connsiteX1" fmla="*/ 2239575 w 2239575"/>
              <a:gd name="connsiteY1" fmla="*/ 0 h 281749"/>
              <a:gd name="connsiteX2" fmla="*/ 2095117 w 2239575"/>
              <a:gd name="connsiteY2" fmla="*/ 281749 h 281749"/>
              <a:gd name="connsiteX3" fmla="*/ 0 w 2239575"/>
              <a:gd name="connsiteY3" fmla="*/ 281749 h 281749"/>
              <a:gd name="connsiteX4" fmla="*/ 144459 w 2239575"/>
              <a:gd name="connsiteY4" fmla="*/ 0 h 281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9575" h="281749">
                <a:moveTo>
                  <a:pt x="144459" y="0"/>
                </a:moveTo>
                <a:lnTo>
                  <a:pt x="2239575" y="0"/>
                </a:lnTo>
                <a:lnTo>
                  <a:pt x="2095117" y="281749"/>
                </a:lnTo>
                <a:lnTo>
                  <a:pt x="0" y="281749"/>
                </a:lnTo>
                <a:lnTo>
                  <a:pt x="144459" y="0"/>
                </a:lnTo>
                <a:close/>
              </a:path>
            </a:pathLst>
          </a:custGeom>
          <a:solidFill>
            <a:schemeClr val="accent5">
              <a:lumMod val="40000"/>
              <a:lumOff val="60000"/>
            </a:schemeClr>
          </a:solidFill>
          <a:ln w="19050">
            <a:solidFill>
              <a:schemeClr val="bg1"/>
            </a:solidFill>
          </a:ln>
        </p:spPr>
        <p:txBody>
          <a:bodyPr wrap="square" lIns="38100" tIns="38100" rIns="38100" bIns="38100" anchor="ctr">
            <a:noAutofit/>
          </a:bodyPr>
          <a:lstStyle/>
          <a:p>
            <a:pPr lvl="0" algn="ctr">
              <a:buClrTx/>
              <a:buSzTx/>
              <a:buFontTx/>
            </a:pPr>
            <a:r>
              <a:rPr lang="en-US" altLang="zh-CN" sz="1200" dirty="0">
                <a:solidFill>
                  <a:schemeClr val="bg1"/>
                </a:solidFill>
                <a:latin typeface="微软雅黑" panose="020B0503020204020204" charset="-122"/>
                <a:ea typeface="微软雅黑" panose="020B0503020204020204" charset="-122"/>
                <a:cs typeface="微软雅黑" panose="020B0503020204020204" charset="-122"/>
                <a:sym typeface="+mn-ea"/>
              </a:rPr>
              <a:t>2024.9-2024.10</a:t>
            </a:r>
            <a:endParaRPr lang="en-US" altLang="zh-CN" sz="12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57" name="任意形状 156"/>
          <p:cNvSpPr>
            <a:spLocks noChangeArrowheads="1"/>
          </p:cNvSpPr>
          <p:nvPr/>
        </p:nvSpPr>
        <p:spPr bwMode="auto">
          <a:xfrm>
            <a:off x="9358259" y="4092727"/>
            <a:ext cx="2239575" cy="281749"/>
          </a:xfrm>
          <a:custGeom>
            <a:avLst/>
            <a:gdLst>
              <a:gd name="connsiteX0" fmla="*/ 144458 w 2239575"/>
              <a:gd name="connsiteY0" fmla="*/ 0 h 281749"/>
              <a:gd name="connsiteX1" fmla="*/ 2239575 w 2239575"/>
              <a:gd name="connsiteY1" fmla="*/ 0 h 281749"/>
              <a:gd name="connsiteX2" fmla="*/ 2095117 w 2239575"/>
              <a:gd name="connsiteY2" fmla="*/ 281749 h 281749"/>
              <a:gd name="connsiteX3" fmla="*/ 0 w 2239575"/>
              <a:gd name="connsiteY3" fmla="*/ 281749 h 281749"/>
              <a:gd name="connsiteX4" fmla="*/ 144458 w 2239575"/>
              <a:gd name="connsiteY4" fmla="*/ 0 h 281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9575" h="281749">
                <a:moveTo>
                  <a:pt x="144458" y="0"/>
                </a:moveTo>
                <a:lnTo>
                  <a:pt x="2239575" y="0"/>
                </a:lnTo>
                <a:lnTo>
                  <a:pt x="2095117" y="281749"/>
                </a:lnTo>
                <a:lnTo>
                  <a:pt x="0" y="281749"/>
                </a:lnTo>
                <a:lnTo>
                  <a:pt x="144458" y="0"/>
                </a:lnTo>
                <a:close/>
              </a:path>
            </a:pathLst>
          </a:custGeom>
          <a:solidFill>
            <a:schemeClr val="accent1">
              <a:lumMod val="40000"/>
              <a:lumOff val="60000"/>
            </a:schemeClr>
          </a:solidFill>
          <a:ln w="19050">
            <a:solidFill>
              <a:schemeClr val="bg1"/>
            </a:solidFill>
          </a:ln>
        </p:spPr>
        <p:txBody>
          <a:bodyPr wrap="square" lIns="38100" tIns="38100" rIns="38100" bIns="38100" anchor="ctr">
            <a:noAutofit/>
          </a:bodyPr>
          <a:lstStyle/>
          <a:p>
            <a:pPr lvl="0" algn="ctr">
              <a:buClrTx/>
              <a:buSzTx/>
              <a:buFontTx/>
            </a:pPr>
            <a:r>
              <a:rPr lang="en-US" altLang="zh-CN" sz="1200" dirty="0">
                <a:solidFill>
                  <a:schemeClr val="bg1"/>
                </a:solidFill>
                <a:latin typeface="微软雅黑" panose="020B0503020204020204" charset="-122"/>
                <a:ea typeface="微软雅黑" panose="020B0503020204020204" charset="-122"/>
                <a:cs typeface="微软雅黑" panose="020B0503020204020204" charset="-122"/>
                <a:sym typeface="+mn-ea"/>
              </a:rPr>
              <a:t>2024.11-2024.12</a:t>
            </a:r>
            <a:endParaRPr lang="en-US" altLang="zh-CN" sz="12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56" name="任意形状 155"/>
          <p:cNvSpPr>
            <a:spLocks noChangeArrowheads="1"/>
          </p:cNvSpPr>
          <p:nvPr/>
        </p:nvSpPr>
        <p:spPr bwMode="auto">
          <a:xfrm>
            <a:off x="454763" y="3267197"/>
            <a:ext cx="2378979" cy="825530"/>
          </a:xfrm>
          <a:custGeom>
            <a:avLst/>
            <a:gdLst>
              <a:gd name="connsiteX0" fmla="*/ 0 w 2378979"/>
              <a:gd name="connsiteY0" fmla="*/ 0 h 825530"/>
              <a:gd name="connsiteX1" fmla="*/ 2095117 w 2378979"/>
              <a:gd name="connsiteY1" fmla="*/ 0 h 825530"/>
              <a:gd name="connsiteX2" fmla="*/ 2378979 w 2378979"/>
              <a:gd name="connsiteY2" fmla="*/ 553640 h 825530"/>
              <a:gd name="connsiteX3" fmla="*/ 2239576 w 2378979"/>
              <a:gd name="connsiteY3" fmla="*/ 825530 h 825530"/>
              <a:gd name="connsiteX4" fmla="*/ 144458 w 2378979"/>
              <a:gd name="connsiteY4" fmla="*/ 825530 h 825530"/>
              <a:gd name="connsiteX5" fmla="*/ 283862 w 2378979"/>
              <a:gd name="connsiteY5" fmla="*/ 553640 h 825530"/>
              <a:gd name="connsiteX6" fmla="*/ 0 w 2378979"/>
              <a:gd name="connsiteY6" fmla="*/ 0 h 825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8979" h="825530">
                <a:moveTo>
                  <a:pt x="0" y="0"/>
                </a:moveTo>
                <a:lnTo>
                  <a:pt x="2095117" y="0"/>
                </a:lnTo>
                <a:lnTo>
                  <a:pt x="2378979" y="553640"/>
                </a:lnTo>
                <a:lnTo>
                  <a:pt x="2239576" y="825530"/>
                </a:lnTo>
                <a:lnTo>
                  <a:pt x="144458" y="825530"/>
                </a:lnTo>
                <a:lnTo>
                  <a:pt x="283862" y="553640"/>
                </a:lnTo>
                <a:lnTo>
                  <a:pt x="0" y="0"/>
                </a:lnTo>
                <a:close/>
              </a:path>
            </a:pathLst>
          </a:custGeom>
          <a:gradFill flip="none" rotWithShape="1">
            <a:gsLst>
              <a:gs pos="73000">
                <a:schemeClr val="accent1"/>
              </a:gs>
              <a:gs pos="17000">
                <a:schemeClr val="accent1">
                  <a:lumMod val="60000"/>
                  <a:lumOff val="40000"/>
                </a:schemeClr>
              </a:gs>
            </a:gsLst>
            <a:lin ang="13500000" scaled="1"/>
            <a:tileRect/>
          </a:gra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mn-ea"/>
            </a:endParaRPr>
          </a:p>
        </p:txBody>
      </p:sp>
      <p:sp>
        <p:nvSpPr>
          <p:cNvPr id="155" name="任意形状 154"/>
          <p:cNvSpPr>
            <a:spLocks noChangeArrowheads="1"/>
          </p:cNvSpPr>
          <p:nvPr/>
        </p:nvSpPr>
        <p:spPr bwMode="auto">
          <a:xfrm>
            <a:off x="2662715" y="3267197"/>
            <a:ext cx="2378979" cy="825530"/>
          </a:xfrm>
          <a:custGeom>
            <a:avLst/>
            <a:gdLst>
              <a:gd name="connsiteX0" fmla="*/ 0 w 2378979"/>
              <a:gd name="connsiteY0" fmla="*/ 0 h 825530"/>
              <a:gd name="connsiteX1" fmla="*/ 2095117 w 2378979"/>
              <a:gd name="connsiteY1" fmla="*/ 0 h 825530"/>
              <a:gd name="connsiteX2" fmla="*/ 2378979 w 2378979"/>
              <a:gd name="connsiteY2" fmla="*/ 553640 h 825530"/>
              <a:gd name="connsiteX3" fmla="*/ 2239576 w 2378979"/>
              <a:gd name="connsiteY3" fmla="*/ 825530 h 825530"/>
              <a:gd name="connsiteX4" fmla="*/ 144459 w 2378979"/>
              <a:gd name="connsiteY4" fmla="*/ 825530 h 825530"/>
              <a:gd name="connsiteX5" fmla="*/ 283862 w 2378979"/>
              <a:gd name="connsiteY5" fmla="*/ 553640 h 825530"/>
              <a:gd name="connsiteX6" fmla="*/ 0 w 2378979"/>
              <a:gd name="connsiteY6" fmla="*/ 0 h 825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8979" h="825530">
                <a:moveTo>
                  <a:pt x="0" y="0"/>
                </a:moveTo>
                <a:lnTo>
                  <a:pt x="2095117" y="0"/>
                </a:lnTo>
                <a:lnTo>
                  <a:pt x="2378979" y="553640"/>
                </a:lnTo>
                <a:lnTo>
                  <a:pt x="2239576" y="825530"/>
                </a:lnTo>
                <a:lnTo>
                  <a:pt x="144459" y="825530"/>
                </a:lnTo>
                <a:lnTo>
                  <a:pt x="283862" y="553640"/>
                </a:lnTo>
                <a:lnTo>
                  <a:pt x="0" y="0"/>
                </a:lnTo>
                <a:close/>
              </a:path>
            </a:pathLst>
          </a:custGeom>
          <a:gradFill flip="none" rotWithShape="1">
            <a:gsLst>
              <a:gs pos="73000">
                <a:schemeClr val="accent5"/>
              </a:gs>
              <a:gs pos="17000">
                <a:schemeClr val="accent5">
                  <a:lumMod val="60000"/>
                  <a:lumOff val="40000"/>
                </a:schemeClr>
              </a:gs>
            </a:gsLst>
            <a:lin ang="13500000" scaled="1"/>
            <a:tileRect/>
          </a:gra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mn-ea"/>
            </a:endParaRPr>
          </a:p>
        </p:txBody>
      </p:sp>
      <p:sp>
        <p:nvSpPr>
          <p:cNvPr id="154" name="任意形状 153"/>
          <p:cNvSpPr>
            <a:spLocks noChangeArrowheads="1"/>
          </p:cNvSpPr>
          <p:nvPr/>
        </p:nvSpPr>
        <p:spPr bwMode="auto">
          <a:xfrm>
            <a:off x="4899342" y="3267197"/>
            <a:ext cx="2378979" cy="825530"/>
          </a:xfrm>
          <a:custGeom>
            <a:avLst/>
            <a:gdLst>
              <a:gd name="connsiteX0" fmla="*/ 0 w 2378979"/>
              <a:gd name="connsiteY0" fmla="*/ 0 h 825530"/>
              <a:gd name="connsiteX1" fmla="*/ 2095117 w 2378979"/>
              <a:gd name="connsiteY1" fmla="*/ 0 h 825530"/>
              <a:gd name="connsiteX2" fmla="*/ 2378979 w 2378979"/>
              <a:gd name="connsiteY2" fmla="*/ 553640 h 825530"/>
              <a:gd name="connsiteX3" fmla="*/ 2239576 w 2378979"/>
              <a:gd name="connsiteY3" fmla="*/ 825530 h 825530"/>
              <a:gd name="connsiteX4" fmla="*/ 144459 w 2378979"/>
              <a:gd name="connsiteY4" fmla="*/ 825530 h 825530"/>
              <a:gd name="connsiteX5" fmla="*/ 283862 w 2378979"/>
              <a:gd name="connsiteY5" fmla="*/ 553640 h 825530"/>
              <a:gd name="connsiteX6" fmla="*/ 0 w 2378979"/>
              <a:gd name="connsiteY6" fmla="*/ 0 h 825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8979" h="825530">
                <a:moveTo>
                  <a:pt x="0" y="0"/>
                </a:moveTo>
                <a:lnTo>
                  <a:pt x="2095117" y="0"/>
                </a:lnTo>
                <a:lnTo>
                  <a:pt x="2378979" y="553640"/>
                </a:lnTo>
                <a:lnTo>
                  <a:pt x="2239576" y="825530"/>
                </a:lnTo>
                <a:lnTo>
                  <a:pt x="144459" y="825530"/>
                </a:lnTo>
                <a:lnTo>
                  <a:pt x="283862" y="553640"/>
                </a:lnTo>
                <a:lnTo>
                  <a:pt x="0" y="0"/>
                </a:lnTo>
                <a:close/>
              </a:path>
            </a:pathLst>
          </a:custGeom>
          <a:gradFill flip="none" rotWithShape="1">
            <a:gsLst>
              <a:gs pos="73000">
                <a:schemeClr val="accent1"/>
              </a:gs>
              <a:gs pos="17000">
                <a:schemeClr val="accent1">
                  <a:lumMod val="60000"/>
                  <a:lumOff val="40000"/>
                </a:schemeClr>
              </a:gs>
            </a:gsLst>
            <a:lin ang="13500000" scaled="1"/>
            <a:tileRect/>
          </a:gra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mn-ea"/>
            </a:endParaRPr>
          </a:p>
        </p:txBody>
      </p:sp>
      <p:sp>
        <p:nvSpPr>
          <p:cNvPr id="153" name="任意形状 152"/>
          <p:cNvSpPr>
            <a:spLocks noChangeArrowheads="1"/>
          </p:cNvSpPr>
          <p:nvPr/>
        </p:nvSpPr>
        <p:spPr bwMode="auto">
          <a:xfrm>
            <a:off x="7128800" y="3267197"/>
            <a:ext cx="2378979" cy="825530"/>
          </a:xfrm>
          <a:custGeom>
            <a:avLst/>
            <a:gdLst>
              <a:gd name="connsiteX0" fmla="*/ 0 w 2378979"/>
              <a:gd name="connsiteY0" fmla="*/ 0 h 825530"/>
              <a:gd name="connsiteX1" fmla="*/ 2095117 w 2378979"/>
              <a:gd name="connsiteY1" fmla="*/ 0 h 825530"/>
              <a:gd name="connsiteX2" fmla="*/ 2378979 w 2378979"/>
              <a:gd name="connsiteY2" fmla="*/ 553640 h 825530"/>
              <a:gd name="connsiteX3" fmla="*/ 2239575 w 2378979"/>
              <a:gd name="connsiteY3" fmla="*/ 825530 h 825530"/>
              <a:gd name="connsiteX4" fmla="*/ 144459 w 2378979"/>
              <a:gd name="connsiteY4" fmla="*/ 825530 h 825530"/>
              <a:gd name="connsiteX5" fmla="*/ 283862 w 2378979"/>
              <a:gd name="connsiteY5" fmla="*/ 553640 h 825530"/>
              <a:gd name="connsiteX6" fmla="*/ 0 w 2378979"/>
              <a:gd name="connsiteY6" fmla="*/ 0 h 825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8979" h="825530">
                <a:moveTo>
                  <a:pt x="0" y="0"/>
                </a:moveTo>
                <a:lnTo>
                  <a:pt x="2095117" y="0"/>
                </a:lnTo>
                <a:lnTo>
                  <a:pt x="2378979" y="553640"/>
                </a:lnTo>
                <a:lnTo>
                  <a:pt x="2239575" y="825530"/>
                </a:lnTo>
                <a:lnTo>
                  <a:pt x="144459" y="825530"/>
                </a:lnTo>
                <a:lnTo>
                  <a:pt x="283862" y="553640"/>
                </a:lnTo>
                <a:lnTo>
                  <a:pt x="0" y="0"/>
                </a:lnTo>
                <a:close/>
              </a:path>
            </a:pathLst>
          </a:custGeom>
          <a:gradFill flip="none" rotWithShape="1">
            <a:gsLst>
              <a:gs pos="73000">
                <a:schemeClr val="accent5"/>
              </a:gs>
              <a:gs pos="17000">
                <a:schemeClr val="accent5">
                  <a:lumMod val="60000"/>
                  <a:lumOff val="40000"/>
                </a:schemeClr>
              </a:gs>
            </a:gsLst>
            <a:lin ang="13500000" scaled="1"/>
            <a:tileRect/>
          </a:gra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mn-ea"/>
            </a:endParaRPr>
          </a:p>
        </p:txBody>
      </p:sp>
      <p:sp>
        <p:nvSpPr>
          <p:cNvPr id="152" name="任意形状 151"/>
          <p:cNvSpPr>
            <a:spLocks noChangeArrowheads="1"/>
          </p:cNvSpPr>
          <p:nvPr/>
        </p:nvSpPr>
        <p:spPr bwMode="auto">
          <a:xfrm>
            <a:off x="9358259" y="3267197"/>
            <a:ext cx="2378979" cy="825530"/>
          </a:xfrm>
          <a:custGeom>
            <a:avLst/>
            <a:gdLst>
              <a:gd name="connsiteX0" fmla="*/ 0 w 2378979"/>
              <a:gd name="connsiteY0" fmla="*/ 0 h 825530"/>
              <a:gd name="connsiteX1" fmla="*/ 2095117 w 2378979"/>
              <a:gd name="connsiteY1" fmla="*/ 0 h 825530"/>
              <a:gd name="connsiteX2" fmla="*/ 2378979 w 2378979"/>
              <a:gd name="connsiteY2" fmla="*/ 553640 h 825530"/>
              <a:gd name="connsiteX3" fmla="*/ 2239575 w 2378979"/>
              <a:gd name="connsiteY3" fmla="*/ 825530 h 825530"/>
              <a:gd name="connsiteX4" fmla="*/ 144458 w 2378979"/>
              <a:gd name="connsiteY4" fmla="*/ 825530 h 825530"/>
              <a:gd name="connsiteX5" fmla="*/ 283862 w 2378979"/>
              <a:gd name="connsiteY5" fmla="*/ 553640 h 825530"/>
              <a:gd name="connsiteX6" fmla="*/ 0 w 2378979"/>
              <a:gd name="connsiteY6" fmla="*/ 0 h 825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8979" h="825530">
                <a:moveTo>
                  <a:pt x="0" y="0"/>
                </a:moveTo>
                <a:lnTo>
                  <a:pt x="2095117" y="0"/>
                </a:lnTo>
                <a:lnTo>
                  <a:pt x="2378979" y="553640"/>
                </a:lnTo>
                <a:lnTo>
                  <a:pt x="2239575" y="825530"/>
                </a:lnTo>
                <a:lnTo>
                  <a:pt x="144458" y="825530"/>
                </a:lnTo>
                <a:lnTo>
                  <a:pt x="283862" y="553640"/>
                </a:lnTo>
                <a:lnTo>
                  <a:pt x="0" y="0"/>
                </a:lnTo>
                <a:close/>
              </a:path>
            </a:pathLst>
          </a:custGeom>
          <a:gradFill flip="none" rotWithShape="1">
            <a:gsLst>
              <a:gs pos="73000">
                <a:schemeClr val="accent1"/>
              </a:gs>
              <a:gs pos="17000">
                <a:schemeClr val="accent1">
                  <a:lumMod val="60000"/>
                  <a:lumOff val="40000"/>
                </a:schemeClr>
              </a:gs>
            </a:gsLst>
            <a:lin ang="13500000" scaled="1"/>
            <a:tileRect/>
          </a:gra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mn-ea"/>
            </a:endParaRPr>
          </a:p>
        </p:txBody>
      </p:sp>
      <p:sp>
        <p:nvSpPr>
          <p:cNvPr id="80" name="文本框 79"/>
          <p:cNvSpPr txBox="1"/>
          <p:nvPr/>
        </p:nvSpPr>
        <p:spPr>
          <a:xfrm>
            <a:off x="1416685" y="3370580"/>
            <a:ext cx="1320800" cy="578485"/>
          </a:xfrm>
          <a:prstGeom prst="rect">
            <a:avLst/>
          </a:prstGeom>
          <a:noFill/>
        </p:spPr>
        <p:txBody>
          <a:bodyPr wrap="square" rtlCol="0">
            <a:spAutoFit/>
          </a:bodyPr>
          <a:lstStyle/>
          <a:p>
            <a:pPr algn="just">
              <a:lnSpc>
                <a:spcPct val="150000"/>
              </a:lnSpc>
            </a:pPr>
            <a:r>
              <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rPr>
              <a:t>市场调研</a:t>
            </a:r>
            <a:endParaRPr kumimoji="1" lang="en-US" altLang="zh-CN" sz="1400" b="1" dirty="0">
              <a:solidFill>
                <a:schemeClr val="bg1"/>
              </a:solidFill>
              <a:latin typeface="微软雅黑" panose="020B0503020204020204" charset="-122"/>
              <a:ea typeface="微软雅黑" panose="020B0503020204020204" charset="-122"/>
              <a:cs typeface="微软雅黑" panose="020B0503020204020204" charset="-122"/>
            </a:endParaRPr>
          </a:p>
          <a:p>
            <a:pPr algn="just">
              <a:lnSpc>
                <a:spcPct val="150000"/>
              </a:lnSpc>
            </a:pPr>
            <a:r>
              <a:rPr kumimoji="1" lang="en-US" altLang="zh-CN" sz="800" b="1" cap="all" dirty="0">
                <a:solidFill>
                  <a:schemeClr val="bg1"/>
                </a:solidFill>
                <a:latin typeface="微软雅黑" panose="020B0503020204020204" charset="-122"/>
                <a:ea typeface="微软雅黑" panose="020B0503020204020204" charset="-122"/>
                <a:cs typeface="微软雅黑" panose="020B0503020204020204" charset="-122"/>
              </a:rPr>
              <a:t>Market research</a:t>
            </a:r>
            <a:endParaRPr kumimoji="1" lang="zh-CN" altLang="en-US" sz="800" b="1" cap="all"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4" name="文本框 93"/>
          <p:cNvSpPr txBox="1"/>
          <p:nvPr/>
        </p:nvSpPr>
        <p:spPr>
          <a:xfrm>
            <a:off x="3642360" y="3370580"/>
            <a:ext cx="1320800" cy="578485"/>
          </a:xfrm>
          <a:prstGeom prst="rect">
            <a:avLst/>
          </a:prstGeom>
          <a:noFill/>
        </p:spPr>
        <p:txBody>
          <a:bodyPr wrap="square" rtlCol="0">
            <a:spAutoFit/>
          </a:bodyPr>
          <a:lstStyle/>
          <a:p>
            <a:pPr algn="just">
              <a:lnSpc>
                <a:spcPct val="150000"/>
              </a:lnSpc>
            </a:pPr>
            <a:r>
              <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rPr>
              <a:t>品牌策划</a:t>
            </a:r>
            <a:endParaRPr kumimoji="1" lang="en-US" altLang="zh-CN" sz="1400" b="1" dirty="0">
              <a:solidFill>
                <a:schemeClr val="bg1"/>
              </a:solidFill>
              <a:latin typeface="微软雅黑" panose="020B0503020204020204" charset="-122"/>
              <a:ea typeface="微软雅黑" panose="020B0503020204020204" charset="-122"/>
              <a:cs typeface="微软雅黑" panose="020B0503020204020204" charset="-122"/>
            </a:endParaRPr>
          </a:p>
          <a:p>
            <a:pPr algn="just">
              <a:lnSpc>
                <a:spcPct val="150000"/>
              </a:lnSpc>
            </a:pPr>
            <a:r>
              <a:rPr kumimoji="1" lang="en-GB" altLang="zh-CN" sz="800" b="1" dirty="0">
                <a:solidFill>
                  <a:schemeClr val="bg1"/>
                </a:solidFill>
                <a:latin typeface="微软雅黑" panose="020B0503020204020204" charset="-122"/>
                <a:ea typeface="微软雅黑" panose="020B0503020204020204" charset="-122"/>
                <a:cs typeface="微软雅黑" panose="020B0503020204020204" charset="-122"/>
              </a:rPr>
              <a:t>BRAND PLANNING</a:t>
            </a:r>
            <a:endParaRPr kumimoji="1" lang="zh-CN" altLang="en-US" sz="8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7" name="文本框 96"/>
          <p:cNvSpPr txBox="1"/>
          <p:nvPr/>
        </p:nvSpPr>
        <p:spPr>
          <a:xfrm>
            <a:off x="5853430" y="3370580"/>
            <a:ext cx="1320800" cy="578485"/>
          </a:xfrm>
          <a:prstGeom prst="rect">
            <a:avLst/>
          </a:prstGeom>
          <a:noFill/>
        </p:spPr>
        <p:txBody>
          <a:bodyPr wrap="square" rtlCol="0">
            <a:spAutoFit/>
          </a:bodyPr>
          <a:lstStyle/>
          <a:p>
            <a:pPr algn="just">
              <a:lnSpc>
                <a:spcPct val="150000"/>
              </a:lnSpc>
            </a:pPr>
            <a:r>
              <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rPr>
              <a:t>品牌设计</a:t>
            </a:r>
            <a:endParaRPr kumimoji="1" lang="en-US" altLang="zh-CN" sz="1400" b="1" dirty="0">
              <a:solidFill>
                <a:schemeClr val="bg1"/>
              </a:solidFill>
              <a:latin typeface="微软雅黑" panose="020B0503020204020204" charset="-122"/>
              <a:ea typeface="微软雅黑" panose="020B0503020204020204" charset="-122"/>
              <a:cs typeface="微软雅黑" panose="020B0503020204020204" charset="-122"/>
            </a:endParaRPr>
          </a:p>
          <a:p>
            <a:pPr algn="just">
              <a:lnSpc>
                <a:spcPct val="150000"/>
              </a:lnSpc>
            </a:pPr>
            <a:r>
              <a:rPr kumimoji="1" lang="en-US" altLang="zh-CN" sz="800" b="1" cap="all" dirty="0">
                <a:solidFill>
                  <a:schemeClr val="bg1"/>
                </a:solidFill>
                <a:latin typeface="微软雅黑" panose="020B0503020204020204" charset="-122"/>
                <a:ea typeface="微软雅黑" panose="020B0503020204020204" charset="-122"/>
                <a:cs typeface="微软雅黑" panose="020B0503020204020204" charset="-122"/>
              </a:rPr>
              <a:t>Brand design</a:t>
            </a:r>
            <a:endParaRPr kumimoji="1" lang="zh-CN" altLang="en-US" sz="800" b="1" cap="all"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00" name="文本框 99"/>
          <p:cNvSpPr txBox="1"/>
          <p:nvPr/>
        </p:nvSpPr>
        <p:spPr>
          <a:xfrm>
            <a:off x="8087360" y="3370580"/>
            <a:ext cx="1320800" cy="578485"/>
          </a:xfrm>
          <a:prstGeom prst="rect">
            <a:avLst/>
          </a:prstGeom>
          <a:noFill/>
        </p:spPr>
        <p:txBody>
          <a:bodyPr wrap="square" rtlCol="0">
            <a:spAutoFit/>
          </a:bodyPr>
          <a:lstStyle/>
          <a:p>
            <a:pPr algn="just">
              <a:lnSpc>
                <a:spcPct val="150000"/>
              </a:lnSpc>
            </a:pPr>
            <a:r>
              <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rPr>
              <a:t>市场投放</a:t>
            </a:r>
            <a:endParaRPr kumimoji="1" lang="en-US" altLang="zh-CN" sz="1400" b="1" dirty="0">
              <a:solidFill>
                <a:schemeClr val="bg1"/>
              </a:solidFill>
              <a:latin typeface="微软雅黑" panose="020B0503020204020204" charset="-122"/>
              <a:ea typeface="微软雅黑" panose="020B0503020204020204" charset="-122"/>
              <a:cs typeface="微软雅黑" panose="020B0503020204020204" charset="-122"/>
            </a:endParaRPr>
          </a:p>
          <a:p>
            <a:pPr algn="just">
              <a:lnSpc>
                <a:spcPct val="150000"/>
              </a:lnSpc>
            </a:pPr>
            <a:r>
              <a:rPr kumimoji="1" lang="en-US" altLang="zh-CN" sz="800" b="1" cap="all" dirty="0">
                <a:solidFill>
                  <a:schemeClr val="bg1"/>
                </a:solidFill>
                <a:latin typeface="微软雅黑" panose="020B0503020204020204" charset="-122"/>
                <a:ea typeface="微软雅黑" panose="020B0503020204020204" charset="-122"/>
                <a:cs typeface="微软雅黑" panose="020B0503020204020204" charset="-122"/>
              </a:rPr>
              <a:t>Market launch</a:t>
            </a:r>
            <a:endParaRPr kumimoji="1" lang="zh-CN" altLang="en-US" sz="800" b="1" cap="all"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nvSpPr>
        <p:spPr>
          <a:xfrm>
            <a:off x="10343515" y="3370580"/>
            <a:ext cx="1320800" cy="578485"/>
          </a:xfrm>
          <a:prstGeom prst="rect">
            <a:avLst/>
          </a:prstGeom>
          <a:noFill/>
        </p:spPr>
        <p:txBody>
          <a:bodyPr wrap="square" rtlCol="0">
            <a:spAutoFit/>
          </a:bodyPr>
          <a:lstStyle/>
          <a:p>
            <a:pPr algn="just">
              <a:lnSpc>
                <a:spcPct val="150000"/>
              </a:lnSpc>
            </a:pPr>
            <a:r>
              <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rPr>
              <a:t>用户反馈</a:t>
            </a:r>
            <a:endParaRPr kumimoji="1" lang="en-US" altLang="zh-CN" sz="1400" b="1" dirty="0">
              <a:solidFill>
                <a:schemeClr val="bg1"/>
              </a:solidFill>
              <a:latin typeface="微软雅黑" panose="020B0503020204020204" charset="-122"/>
              <a:ea typeface="微软雅黑" panose="020B0503020204020204" charset="-122"/>
              <a:cs typeface="微软雅黑" panose="020B0503020204020204" charset="-122"/>
            </a:endParaRPr>
          </a:p>
          <a:p>
            <a:pPr algn="just">
              <a:lnSpc>
                <a:spcPct val="150000"/>
              </a:lnSpc>
            </a:pPr>
            <a:r>
              <a:rPr lang="en-US" altLang="zh-CN" sz="800" b="1" cap="all" dirty="0">
                <a:solidFill>
                  <a:schemeClr val="bg1"/>
                </a:solidFill>
                <a:latin typeface="微软雅黑" panose="020B0503020204020204" charset="-122"/>
                <a:ea typeface="微软雅黑" panose="020B0503020204020204" charset="-122"/>
                <a:cs typeface="微软雅黑" panose="020B0503020204020204" charset="-122"/>
              </a:rPr>
              <a:t>User feedback</a:t>
            </a:r>
            <a:endParaRPr kumimoji="1" lang="zh-CN" altLang="en-US" sz="800" b="1" cap="all"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p:nvPr/>
        </p:nvSpPr>
        <p:spPr>
          <a:xfrm>
            <a:off x="1221470" y="1184697"/>
            <a:ext cx="2058608" cy="260305"/>
          </a:xfrm>
          <a:prstGeom prst="roundRect">
            <a:avLst>
              <a:gd name="adj" fmla="val 35179"/>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12" name="This is a sample text. Insert your description here."/>
          <p:cNvSpPr/>
          <p:nvPr/>
        </p:nvSpPr>
        <p:spPr>
          <a:xfrm>
            <a:off x="604105" y="1497697"/>
            <a:ext cx="3293338" cy="583558"/>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9E9F9E"/>
                </a:solidFill>
                <a:latin typeface="Barlow Medium" panose="00000600000000000000"/>
                <a:ea typeface="Barlow Medium" panose="00000600000000000000"/>
                <a:cs typeface="Barlow Medium" panose="00000600000000000000"/>
                <a:sym typeface="Barlow Medium" panose="00000600000000000000"/>
              </a:defRPr>
            </a:lvl1pPr>
          </a:lstStyle>
          <a:p>
            <a:pPr>
              <a:lnSpc>
                <a:spcPct val="150000"/>
              </a:lnSpc>
            </a:pPr>
            <a:r>
              <a:rPr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企业或组织为了了解市场环境、市场需求和消费者行为而进行的系统性数据收集、分析和解释的过程。它是企业制定市场的战略和决策的重要依据之一。</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 name="This is a sample text."/>
          <p:cNvSpPr/>
          <p:nvPr/>
        </p:nvSpPr>
        <p:spPr>
          <a:xfrm>
            <a:off x="1259693" y="1204563"/>
            <a:ext cx="1982163" cy="22057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545453"/>
                </a:solidFill>
                <a:latin typeface="Barlow SemiBold" panose="00000700000000000000"/>
                <a:ea typeface="Barlow SemiBold" panose="00000700000000000000"/>
                <a:cs typeface="Barlow SemiBold" panose="00000700000000000000"/>
                <a:sym typeface="Barlow SemiBold" panose="00000700000000000000"/>
              </a:defRPr>
            </a:lvl1pPr>
          </a:lstStyle>
          <a:p>
            <a:pPr algn="ctr"/>
            <a:r>
              <a:rPr lang="zh-CN" altLang="en-US" sz="11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市场调研 </a:t>
            </a:r>
            <a:r>
              <a:rPr lang="en-US" altLang="zh-CN" sz="11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Market research</a:t>
            </a:r>
            <a:endParaRPr sz="11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70" name="组合 69"/>
          <p:cNvGrpSpPr/>
          <p:nvPr/>
        </p:nvGrpSpPr>
        <p:grpSpPr>
          <a:xfrm>
            <a:off x="5041900" y="1164590"/>
            <a:ext cx="2058670" cy="260350"/>
            <a:chOff x="7061" y="1866"/>
            <a:chExt cx="3242" cy="410"/>
          </a:xfrm>
        </p:grpSpPr>
        <p:sp>
          <p:nvSpPr>
            <p:cNvPr id="19" name="圆角矩形 18"/>
            <p:cNvSpPr/>
            <p:nvPr/>
          </p:nvSpPr>
          <p:spPr>
            <a:xfrm>
              <a:off x="7061" y="1866"/>
              <a:ext cx="3242" cy="410"/>
            </a:xfrm>
            <a:prstGeom prst="roundRect">
              <a:avLst>
                <a:gd name="adj" fmla="val 35179"/>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20" name="This is a sample text."/>
            <p:cNvSpPr/>
            <p:nvPr/>
          </p:nvSpPr>
          <p:spPr>
            <a:xfrm>
              <a:off x="7122" y="1897"/>
              <a:ext cx="3122" cy="34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545453"/>
                  </a:solidFill>
                  <a:latin typeface="Barlow SemiBold" panose="00000700000000000000"/>
                  <a:ea typeface="Barlow SemiBold" panose="00000700000000000000"/>
                  <a:cs typeface="Barlow SemiBold" panose="00000700000000000000"/>
                  <a:sym typeface="Barlow SemiBold" panose="00000700000000000000"/>
                </a:defRPr>
              </a:lvl1pPr>
            </a:lstStyle>
            <a:p>
              <a:pPr algn="ctr"/>
              <a:r>
                <a:rPr lang="zh-CN" altLang="en-US" sz="11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品牌设计 </a:t>
              </a:r>
              <a:r>
                <a:rPr lang="en-US" altLang="zh-CN" sz="11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Brand design</a:t>
              </a:r>
              <a:endParaRPr sz="11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
        <p:nvSpPr>
          <p:cNvPr id="24" name="This is a sample text. Insert your description here."/>
          <p:cNvSpPr/>
          <p:nvPr/>
        </p:nvSpPr>
        <p:spPr>
          <a:xfrm>
            <a:off x="8346483" y="1497697"/>
            <a:ext cx="3293338" cy="583558"/>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9E9F9E"/>
                </a:solidFill>
                <a:latin typeface="Barlow Medium" panose="00000600000000000000"/>
                <a:ea typeface="Barlow Medium" panose="00000600000000000000"/>
                <a:cs typeface="Barlow Medium" panose="00000600000000000000"/>
                <a:sym typeface="Barlow Medium" panose="00000600000000000000"/>
              </a:defRPr>
            </a:lvl1pPr>
          </a:lstStyle>
          <a:p>
            <a:pPr>
              <a:lnSpc>
                <a:spcPct val="150000"/>
              </a:lnSpc>
            </a:pPr>
            <a:r>
              <a:rPr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用户反馈指的是用户对产品、服务或品牌的意见、建议、评价或体验反馈。有效管理和利用用户反馈可以帮助企业更好地理解市场需求，提升产品和服务的质量和竞争力，增强品牌在市场中的地位和影响力。</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63" name="组合 62"/>
          <p:cNvGrpSpPr/>
          <p:nvPr/>
        </p:nvGrpSpPr>
        <p:grpSpPr>
          <a:xfrm>
            <a:off x="8963817" y="1184910"/>
            <a:ext cx="2058670" cy="260350"/>
            <a:chOff x="13144" y="1866"/>
            <a:chExt cx="3242" cy="410"/>
          </a:xfrm>
        </p:grpSpPr>
        <p:sp>
          <p:nvSpPr>
            <p:cNvPr id="22" name="圆角矩形 21"/>
            <p:cNvSpPr/>
            <p:nvPr/>
          </p:nvSpPr>
          <p:spPr>
            <a:xfrm>
              <a:off x="13144" y="1866"/>
              <a:ext cx="3242" cy="410"/>
            </a:xfrm>
            <a:prstGeom prst="roundRect">
              <a:avLst>
                <a:gd name="adj" fmla="val 35179"/>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25" name="This is a sample text."/>
            <p:cNvSpPr/>
            <p:nvPr/>
          </p:nvSpPr>
          <p:spPr>
            <a:xfrm>
              <a:off x="13378" y="1904"/>
              <a:ext cx="2774" cy="34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545453"/>
                  </a:solidFill>
                  <a:latin typeface="Barlow SemiBold" panose="00000700000000000000"/>
                  <a:ea typeface="Barlow SemiBold" panose="00000700000000000000"/>
                  <a:cs typeface="Barlow SemiBold" panose="00000700000000000000"/>
                  <a:sym typeface="Barlow SemiBold" panose="00000700000000000000"/>
                </a:defRPr>
              </a:lvl1pPr>
            </a:lstStyle>
            <a:p>
              <a:pPr algn="ctr"/>
              <a:r>
                <a:rPr lang="zh-CN" altLang="en-US" sz="11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用户反馈 </a:t>
              </a:r>
              <a:r>
                <a:rPr lang="en-US" altLang="zh-CN" sz="11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User feedback</a:t>
              </a:r>
              <a:endParaRPr sz="11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aphicFrame>
        <p:nvGraphicFramePr>
          <p:cNvPr id="26" name="图示 25"/>
          <p:cNvGraphicFramePr/>
          <p:nvPr/>
        </p:nvGraphicFramePr>
        <p:xfrm>
          <a:off x="8171899" y="-200793"/>
          <a:ext cx="3237207" cy="3672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7" name="This is a sample text. Insert your description here."/>
          <p:cNvSpPr/>
          <p:nvPr/>
        </p:nvSpPr>
        <p:spPr>
          <a:xfrm>
            <a:off x="4508500" y="1887220"/>
            <a:ext cx="778510" cy="696595"/>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9E9F9E"/>
                </a:solidFill>
                <a:latin typeface="Barlow Medium" panose="00000600000000000000"/>
                <a:ea typeface="Barlow Medium" panose="00000600000000000000"/>
                <a:cs typeface="Barlow Medium" panose="00000600000000000000"/>
                <a:sym typeface="Barlow Medium" panose="00000600000000000000"/>
              </a:defRPr>
            </a:lvl1pPr>
          </a:lstStyle>
          <a:p>
            <a:pPr>
              <a:lnSpc>
                <a:spcPct val="150000"/>
              </a:lnSpc>
            </a:pPr>
            <a:r>
              <a:rPr lang="zh-CN" altLang="en-US" sz="7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品牌的标志</a:t>
            </a:r>
            <a:r>
              <a:rPr lang="en-US" altLang="zh-CN" sz="7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Logo</a:t>
            </a:r>
            <a:r>
              <a:rPr lang="zh-CN" altLang="en-US" sz="7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是品牌设计的核心，它是品牌视觉识别的基础。</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8" name="This is a sample text. Insert your description here."/>
          <p:cNvSpPr/>
          <p:nvPr/>
        </p:nvSpPr>
        <p:spPr>
          <a:xfrm>
            <a:off x="5382895" y="1887220"/>
            <a:ext cx="757555" cy="696595"/>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9E9F9E"/>
                </a:solidFill>
                <a:latin typeface="Barlow Medium" panose="00000600000000000000"/>
                <a:ea typeface="Barlow Medium" panose="00000600000000000000"/>
                <a:cs typeface="Barlow Medium" panose="00000600000000000000"/>
                <a:sym typeface="Barlow Medium" panose="00000600000000000000"/>
              </a:defRPr>
            </a:lvl1pPr>
          </a:lstStyle>
          <a:p>
            <a:pPr>
              <a:lnSpc>
                <a:spcPct val="150000"/>
              </a:lnSpc>
            </a:pPr>
            <a:r>
              <a:rPr lang="zh-CN" altLang="en-US" sz="7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选择适合品牌风格和目标市场的色彩，建立品牌的视觉识别特征。</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9" name="This is a sample text. Insert your description here."/>
          <p:cNvSpPr/>
          <p:nvPr/>
        </p:nvSpPr>
        <p:spPr>
          <a:xfrm>
            <a:off x="6191885" y="1887220"/>
            <a:ext cx="768350" cy="696595"/>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9E9F9E"/>
                </a:solidFill>
                <a:latin typeface="Barlow Medium" panose="00000600000000000000"/>
                <a:ea typeface="Barlow Medium" panose="00000600000000000000"/>
                <a:cs typeface="Barlow Medium" panose="00000600000000000000"/>
                <a:sym typeface="Barlow Medium" panose="00000600000000000000"/>
              </a:defRPr>
            </a:lvl1pPr>
          </a:lstStyle>
          <a:p>
            <a:pPr>
              <a:lnSpc>
                <a:spcPct val="150000"/>
              </a:lnSpc>
            </a:pPr>
            <a:r>
              <a:rPr lang="zh-CN" altLang="en-US" sz="7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选择适合品牌的字体和排版，确保在不同媒介的一致性和可读性。</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0" name="This is a sample text. Insert your description here."/>
          <p:cNvSpPr/>
          <p:nvPr/>
        </p:nvSpPr>
        <p:spPr>
          <a:xfrm>
            <a:off x="7023735" y="1887220"/>
            <a:ext cx="766445" cy="696595"/>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9E9F9E"/>
                </a:solidFill>
                <a:latin typeface="Barlow Medium" panose="00000600000000000000"/>
                <a:ea typeface="Barlow Medium" panose="00000600000000000000"/>
                <a:cs typeface="Barlow Medium" panose="00000600000000000000"/>
                <a:sym typeface="Barlow Medium" panose="00000600000000000000"/>
              </a:defRPr>
            </a:lvl1pPr>
          </a:lstStyle>
          <a:p>
            <a:pPr>
              <a:lnSpc>
                <a:spcPct val="150000"/>
              </a:lnSpc>
            </a:pPr>
            <a:r>
              <a:rPr lang="zh-CN" altLang="en-US" sz="7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设计和使用适当图形元素和图案，以丰富品牌的视觉语言和风格。</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6" name="圆角矩形 35"/>
          <p:cNvSpPr/>
          <p:nvPr/>
        </p:nvSpPr>
        <p:spPr>
          <a:xfrm>
            <a:off x="2757553" y="5008312"/>
            <a:ext cx="2058608" cy="260305"/>
          </a:xfrm>
          <a:prstGeom prst="roundRect">
            <a:avLst>
              <a:gd name="adj" fmla="val 35179"/>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37" name="This is a sample text. Insert your description here."/>
          <p:cNvSpPr/>
          <p:nvPr/>
        </p:nvSpPr>
        <p:spPr>
          <a:xfrm>
            <a:off x="2140188" y="5321312"/>
            <a:ext cx="3293338" cy="768224"/>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9E9F9E"/>
                </a:solidFill>
                <a:latin typeface="Barlow Medium" panose="00000600000000000000"/>
                <a:ea typeface="Barlow Medium" panose="00000600000000000000"/>
                <a:cs typeface="Barlow Medium" panose="00000600000000000000"/>
                <a:sym typeface="Barlow Medium" panose="00000600000000000000"/>
              </a:defRPr>
            </a:lvl1pPr>
          </a:lstStyle>
          <a:p>
            <a:pPr>
              <a:lnSpc>
                <a:spcPct val="150000"/>
              </a:lnSpc>
            </a:pPr>
            <a:r>
              <a:rPr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品牌策划就是使企业形象和产品品牌在消费者脑海中形成一种个性化的区隔，并使消费者与企业品牌和产品品牌之间形成统一的价值观，注重意识形态和心理描述，即对消费者的心理市场进行规划、引导和激发，通过科学手段把人们对品牌的模糊认识清晰化的过程。</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8" name="This is a sample text."/>
          <p:cNvSpPr/>
          <p:nvPr/>
        </p:nvSpPr>
        <p:spPr>
          <a:xfrm>
            <a:off x="2795775" y="5028178"/>
            <a:ext cx="1982163" cy="22057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545453"/>
                </a:solidFill>
                <a:latin typeface="Barlow SemiBold" panose="00000700000000000000"/>
                <a:ea typeface="Barlow SemiBold" panose="00000700000000000000"/>
                <a:cs typeface="Barlow SemiBold" panose="00000700000000000000"/>
                <a:sym typeface="Barlow SemiBold" panose="00000700000000000000"/>
              </a:defRPr>
            </a:lvl1pPr>
          </a:lstStyle>
          <a:p>
            <a:pPr algn="ctr"/>
            <a:r>
              <a:rPr lang="zh-CN" altLang="en-US" sz="11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品牌策划 </a:t>
            </a:r>
            <a:r>
              <a:rPr lang="en-GB" altLang="zh-CN" sz="11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Brand planning</a:t>
            </a:r>
            <a:endParaRPr sz="11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8" name="圆角矩形 127"/>
          <p:cNvSpPr/>
          <p:nvPr/>
        </p:nvSpPr>
        <p:spPr>
          <a:xfrm>
            <a:off x="2140190" y="6194560"/>
            <a:ext cx="1002271" cy="260305"/>
          </a:xfrm>
          <a:prstGeom prst="roundRect">
            <a:avLst>
              <a:gd name="adj" fmla="val 35179"/>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900" b="1" dirty="0">
                <a:solidFill>
                  <a:schemeClr val="accent5"/>
                </a:solidFill>
                <a:latin typeface="微软雅黑" panose="020B0503020204020204" charset="-122"/>
                <a:ea typeface="微软雅黑" panose="020B0503020204020204" charset="-122"/>
                <a:cs typeface="微软雅黑" panose="020B0503020204020204" charset="-122"/>
              </a:rPr>
              <a:t>品牌定位</a:t>
            </a:r>
            <a:endParaRPr kumimoji="1" lang="zh-CN" altLang="en-US" sz="9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29" name="圆角矩形 128"/>
          <p:cNvSpPr/>
          <p:nvPr/>
        </p:nvSpPr>
        <p:spPr>
          <a:xfrm>
            <a:off x="3227585" y="6194560"/>
            <a:ext cx="1002271" cy="260305"/>
          </a:xfrm>
          <a:prstGeom prst="roundRect">
            <a:avLst>
              <a:gd name="adj" fmla="val 35179"/>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900" b="1" dirty="0">
                <a:solidFill>
                  <a:schemeClr val="accent5"/>
                </a:solidFill>
                <a:latin typeface="微软雅黑" panose="020B0503020204020204" charset="-122"/>
                <a:ea typeface="微软雅黑" panose="020B0503020204020204" charset="-122"/>
                <a:cs typeface="微软雅黑" panose="020B0503020204020204" charset="-122"/>
              </a:rPr>
              <a:t>视觉风格</a:t>
            </a:r>
            <a:endParaRPr kumimoji="1" lang="zh-CN" altLang="en-US" sz="9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39" name="圆角矩形 38"/>
          <p:cNvSpPr/>
          <p:nvPr/>
        </p:nvSpPr>
        <p:spPr>
          <a:xfrm>
            <a:off x="4314980" y="6194560"/>
            <a:ext cx="1002271" cy="260305"/>
          </a:xfrm>
          <a:prstGeom prst="roundRect">
            <a:avLst>
              <a:gd name="adj" fmla="val 35179"/>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900" b="1" dirty="0">
                <a:solidFill>
                  <a:schemeClr val="accent5"/>
                </a:solidFill>
                <a:latin typeface="微软雅黑" panose="020B0503020204020204" charset="-122"/>
                <a:ea typeface="微软雅黑" panose="020B0503020204020204" charset="-122"/>
                <a:cs typeface="微软雅黑" panose="020B0503020204020204" charset="-122"/>
              </a:rPr>
              <a:t>品牌推广</a:t>
            </a:r>
            <a:endParaRPr kumimoji="1" lang="zh-CN" altLang="en-US" sz="900" b="1" dirty="0">
              <a:solidFill>
                <a:schemeClr val="accent5"/>
              </a:solidFill>
              <a:latin typeface="微软雅黑" panose="020B0503020204020204" charset="-122"/>
              <a:ea typeface="微软雅黑" panose="020B0503020204020204" charset="-122"/>
              <a:cs typeface="微软雅黑" panose="020B0503020204020204" charset="-122"/>
            </a:endParaRPr>
          </a:p>
        </p:txBody>
      </p:sp>
      <p:grpSp>
        <p:nvGrpSpPr>
          <p:cNvPr id="62" name="组合 61"/>
          <p:cNvGrpSpPr/>
          <p:nvPr/>
        </p:nvGrpSpPr>
        <p:grpSpPr>
          <a:xfrm>
            <a:off x="6602095" y="5008245"/>
            <a:ext cx="3293110" cy="1446530"/>
            <a:chOff x="10962" y="7878"/>
            <a:chExt cx="5186" cy="2278"/>
          </a:xfrm>
        </p:grpSpPr>
        <p:sp>
          <p:nvSpPr>
            <p:cNvPr id="40" name="圆角矩形 39"/>
            <p:cNvSpPr/>
            <p:nvPr/>
          </p:nvSpPr>
          <p:spPr>
            <a:xfrm>
              <a:off x="11934" y="7878"/>
              <a:ext cx="3242" cy="410"/>
            </a:xfrm>
            <a:prstGeom prst="roundRect">
              <a:avLst>
                <a:gd name="adj" fmla="val 35179"/>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41" name="This is a sample text. Insert your description here."/>
            <p:cNvSpPr/>
            <p:nvPr/>
          </p:nvSpPr>
          <p:spPr>
            <a:xfrm>
              <a:off x="10962" y="8371"/>
              <a:ext cx="5186" cy="121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9E9F9E"/>
                  </a:solidFill>
                  <a:latin typeface="Barlow Medium" panose="00000600000000000000"/>
                  <a:ea typeface="Barlow Medium" panose="00000600000000000000"/>
                  <a:cs typeface="Barlow Medium" panose="00000600000000000000"/>
                  <a:sym typeface="Barlow Medium" panose="00000600000000000000"/>
                </a:defRPr>
              </a:lvl1pPr>
            </a:lstStyle>
            <a:p>
              <a:pPr>
                <a:lnSpc>
                  <a:spcPct val="150000"/>
                </a:lnSpc>
              </a:pPr>
              <a:r>
                <a:rPr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市场投放是指企业或品牌将其产品或服务推向市场，通过各种营销手段和渠道向目标消费者进行推广和销售的过程。市场投放是营销战略的一个重要组成部分，旨在将产品或服务有效地推向消费者，并促使他们进行购买或采取其他所需的行动。</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3" name="This is a sample text."/>
            <p:cNvSpPr/>
            <p:nvPr/>
          </p:nvSpPr>
          <p:spPr>
            <a:xfrm>
              <a:off x="11994" y="7909"/>
              <a:ext cx="3122" cy="34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545453"/>
                  </a:solidFill>
                  <a:latin typeface="Barlow SemiBold" panose="00000700000000000000"/>
                  <a:ea typeface="Barlow SemiBold" panose="00000700000000000000"/>
                  <a:cs typeface="Barlow SemiBold" panose="00000700000000000000"/>
                  <a:sym typeface="Barlow SemiBold" panose="00000700000000000000"/>
                </a:defRPr>
              </a:lvl1pPr>
            </a:lstStyle>
            <a:p>
              <a:pPr algn="ctr"/>
              <a:r>
                <a:rPr lang="zh-CN" altLang="en-US" sz="11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市场投放 </a:t>
              </a:r>
              <a:r>
                <a:rPr lang="en-US" altLang="zh-CN" sz="11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Market launch</a:t>
              </a:r>
              <a:endParaRPr sz="11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4" name="圆角矩形 133"/>
            <p:cNvSpPr/>
            <p:nvPr/>
          </p:nvSpPr>
          <p:spPr>
            <a:xfrm>
              <a:off x="10962" y="9746"/>
              <a:ext cx="1578" cy="410"/>
            </a:xfrm>
            <a:prstGeom prst="roundRect">
              <a:avLst>
                <a:gd name="adj" fmla="val 35179"/>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kumimoji="1" lang="zh-CN" altLang="en-US" sz="900" b="1" dirty="0">
                  <a:solidFill>
                    <a:schemeClr val="accent5"/>
                  </a:solidFill>
                  <a:latin typeface="微软雅黑" panose="020B0503020204020204" charset="-122"/>
                  <a:ea typeface="微软雅黑" panose="020B0503020204020204" charset="-122"/>
                  <a:cs typeface="微软雅黑" panose="020B0503020204020204" charset="-122"/>
                  <a:sym typeface="+mn-ea"/>
                </a:rPr>
                <a:t>广告促销</a:t>
              </a:r>
              <a:endParaRPr kumimoji="1" lang="zh-CN" altLang="en-US" sz="900" b="1" dirty="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42" name="圆角矩形 41"/>
            <p:cNvSpPr/>
            <p:nvPr/>
          </p:nvSpPr>
          <p:spPr>
            <a:xfrm>
              <a:off x="12674" y="9746"/>
              <a:ext cx="1578" cy="410"/>
            </a:xfrm>
            <a:prstGeom prst="roundRect">
              <a:avLst>
                <a:gd name="adj" fmla="val 35179"/>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kumimoji="1" lang="zh-CN" altLang="en-US" sz="900" b="1" dirty="0">
                  <a:solidFill>
                    <a:schemeClr val="accent5"/>
                  </a:solidFill>
                  <a:latin typeface="微软雅黑" panose="020B0503020204020204" charset="-122"/>
                  <a:ea typeface="微软雅黑" panose="020B0503020204020204" charset="-122"/>
                  <a:cs typeface="微软雅黑" panose="020B0503020204020204" charset="-122"/>
                  <a:sym typeface="+mn-ea"/>
                </a:rPr>
                <a:t>渠道管理</a:t>
              </a:r>
              <a:endParaRPr kumimoji="1" lang="zh-CN" altLang="en-US" sz="900" b="1" dirty="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44" name="圆角矩形 43"/>
            <p:cNvSpPr/>
            <p:nvPr/>
          </p:nvSpPr>
          <p:spPr>
            <a:xfrm>
              <a:off x="14387" y="9746"/>
              <a:ext cx="1578" cy="410"/>
            </a:xfrm>
            <a:prstGeom prst="roundRect">
              <a:avLst>
                <a:gd name="adj" fmla="val 35179"/>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kumimoji="1" lang="zh-CN" altLang="en-US" sz="900" b="1" dirty="0">
                  <a:solidFill>
                    <a:schemeClr val="accent5"/>
                  </a:solidFill>
                  <a:latin typeface="微软雅黑" panose="020B0503020204020204" charset="-122"/>
                  <a:ea typeface="微软雅黑" panose="020B0503020204020204" charset="-122"/>
                  <a:cs typeface="微软雅黑" panose="020B0503020204020204" charset="-122"/>
                  <a:sym typeface="+mn-ea"/>
                </a:rPr>
                <a:t>品牌传播</a:t>
              </a:r>
              <a:endParaRPr kumimoji="1" lang="zh-CN" altLang="en-US" sz="900" b="1" dirty="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grpSp>
      <p:cxnSp>
        <p:nvCxnSpPr>
          <p:cNvPr id="140" name="直线箭头连接符 139"/>
          <p:cNvCxnSpPr/>
          <p:nvPr/>
        </p:nvCxnSpPr>
        <p:spPr>
          <a:xfrm>
            <a:off x="3796665" y="4374515"/>
            <a:ext cx="0" cy="556260"/>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141" name="直线箭头连接符 140"/>
          <p:cNvCxnSpPr/>
          <p:nvPr/>
        </p:nvCxnSpPr>
        <p:spPr>
          <a:xfrm>
            <a:off x="8248650" y="4374515"/>
            <a:ext cx="0" cy="556260"/>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142" name="直线箭头连接符 141"/>
          <p:cNvCxnSpPr/>
          <p:nvPr/>
        </p:nvCxnSpPr>
        <p:spPr>
          <a:xfrm flipV="1">
            <a:off x="1916430" y="2719705"/>
            <a:ext cx="0" cy="546735"/>
          </a:xfrm>
          <a:prstGeom prst="straightConnector1">
            <a:avLst/>
          </a:prstGeom>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47" name="直线连接符 6"/>
          <p:cNvCxnSpPr/>
          <p:nvPr/>
        </p:nvCxnSpPr>
        <p:spPr>
          <a:xfrm>
            <a:off x="4178808" y="1184697"/>
            <a:ext cx="0" cy="1425932"/>
          </a:xfrm>
          <a:prstGeom prst="line">
            <a:avLst/>
          </a:prstGeom>
          <a:ln>
            <a:solidFill>
              <a:schemeClr val="accent6">
                <a:lumMod val="40000"/>
                <a:lumOff val="6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48" name="直线连接符 8"/>
          <p:cNvCxnSpPr/>
          <p:nvPr/>
        </p:nvCxnSpPr>
        <p:spPr>
          <a:xfrm>
            <a:off x="8037576" y="1184697"/>
            <a:ext cx="0" cy="1425932"/>
          </a:xfrm>
          <a:prstGeom prst="line">
            <a:avLst/>
          </a:prstGeom>
          <a:ln>
            <a:solidFill>
              <a:schemeClr val="accent6">
                <a:lumMod val="40000"/>
                <a:lumOff val="6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49" name="直线连接符 9"/>
          <p:cNvCxnSpPr/>
          <p:nvPr/>
        </p:nvCxnSpPr>
        <p:spPr>
          <a:xfrm>
            <a:off x="6096254" y="5097059"/>
            <a:ext cx="0" cy="1425932"/>
          </a:xfrm>
          <a:prstGeom prst="line">
            <a:avLst/>
          </a:prstGeom>
          <a:ln>
            <a:solidFill>
              <a:schemeClr val="tx2">
                <a:lumMod val="40000"/>
                <a:lumOff val="60000"/>
              </a:schemeClr>
            </a:solidFill>
            <a:prstDash val="sysDash"/>
          </a:ln>
        </p:spPr>
        <p:style>
          <a:lnRef idx="2">
            <a:schemeClr val="accent1"/>
          </a:lnRef>
          <a:fillRef idx="0">
            <a:schemeClr val="accent1"/>
          </a:fillRef>
          <a:effectRef idx="1">
            <a:schemeClr val="accent1"/>
          </a:effectRef>
          <a:fontRef idx="minor">
            <a:schemeClr val="tx1"/>
          </a:fontRef>
        </p:style>
      </p:cxnSp>
      <p:grpSp>
        <p:nvGrpSpPr>
          <p:cNvPr id="53" name="组合 52"/>
          <p:cNvGrpSpPr/>
          <p:nvPr/>
        </p:nvGrpSpPr>
        <p:grpSpPr>
          <a:xfrm>
            <a:off x="500380" y="2220595"/>
            <a:ext cx="730250" cy="367030"/>
            <a:chOff x="788" y="3451"/>
            <a:chExt cx="1150" cy="578"/>
          </a:xfrm>
        </p:grpSpPr>
        <p:sp>
          <p:nvSpPr>
            <p:cNvPr id="50" name="圆角矩形 49"/>
            <p:cNvSpPr/>
            <p:nvPr/>
          </p:nvSpPr>
          <p:spPr>
            <a:xfrm>
              <a:off x="859" y="3451"/>
              <a:ext cx="1009" cy="578"/>
            </a:xfrm>
            <a:prstGeom prst="roundRect">
              <a:avLst>
                <a:gd name="adj" fmla="val 8650"/>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b="1" dirty="0">
                <a:latin typeface="微软雅黑" panose="020B0503020204020204" charset="-122"/>
                <a:ea typeface="微软雅黑" panose="020B0503020204020204" charset="-122"/>
                <a:cs typeface="微软雅黑" panose="020B0503020204020204" charset="-122"/>
              </a:endParaRPr>
            </a:p>
          </p:txBody>
        </p:sp>
        <p:sp>
          <p:nvSpPr>
            <p:cNvPr id="52" name="标题 2"/>
            <p:cNvSpPr>
              <a:spLocks noGrp="1"/>
            </p:cNvSpPr>
            <p:nvPr/>
          </p:nvSpPr>
          <p:spPr>
            <a:xfrm>
              <a:off x="788" y="3604"/>
              <a:ext cx="1150" cy="298"/>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ctr"/>
              <a:r>
                <a:rPr sz="1000">
                  <a:solidFill>
                    <a:schemeClr val="accent1"/>
                  </a:solidFill>
                  <a:effectLst/>
                  <a:latin typeface="微软雅黑" panose="020B0503020204020204" charset="-122"/>
                  <a:ea typeface="微软雅黑" panose="020B0503020204020204" charset="-122"/>
                  <a:cs typeface="微软雅黑" panose="020B0503020204020204" charset="-122"/>
                </a:rPr>
                <a:t>需求分析</a:t>
              </a:r>
              <a:endParaRPr lang="zh-CN" altLang="en-US" sz="1000">
                <a:solidFill>
                  <a:schemeClr val="accent1"/>
                </a:solidFill>
                <a:effectLst/>
                <a:latin typeface="微软雅黑" panose="020B0503020204020204" charset="-122"/>
                <a:ea typeface="微软雅黑" panose="020B0503020204020204" charset="-122"/>
                <a:cs typeface="微软雅黑" panose="020B0503020204020204" charset="-122"/>
              </a:endParaRPr>
            </a:p>
          </p:txBody>
        </p:sp>
      </p:grpSp>
      <p:grpSp>
        <p:nvGrpSpPr>
          <p:cNvPr id="54" name="组合 53"/>
          <p:cNvGrpSpPr/>
          <p:nvPr/>
        </p:nvGrpSpPr>
        <p:grpSpPr>
          <a:xfrm>
            <a:off x="1355725" y="2220595"/>
            <a:ext cx="730250" cy="367030"/>
            <a:chOff x="788" y="3451"/>
            <a:chExt cx="1150" cy="578"/>
          </a:xfrm>
        </p:grpSpPr>
        <p:sp>
          <p:nvSpPr>
            <p:cNvPr id="64" name="圆角矩形 63"/>
            <p:cNvSpPr/>
            <p:nvPr/>
          </p:nvSpPr>
          <p:spPr>
            <a:xfrm>
              <a:off x="859" y="3451"/>
              <a:ext cx="1009" cy="578"/>
            </a:xfrm>
            <a:prstGeom prst="roundRect">
              <a:avLst>
                <a:gd name="adj" fmla="val 8650"/>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b="1" dirty="0">
                <a:latin typeface="微软雅黑" panose="020B0503020204020204" charset="-122"/>
                <a:ea typeface="微软雅黑" panose="020B0503020204020204" charset="-122"/>
                <a:cs typeface="微软雅黑" panose="020B0503020204020204" charset="-122"/>
              </a:endParaRPr>
            </a:p>
          </p:txBody>
        </p:sp>
        <p:sp>
          <p:nvSpPr>
            <p:cNvPr id="65" name="标题 2"/>
            <p:cNvSpPr>
              <a:spLocks noGrp="1"/>
            </p:cNvSpPr>
            <p:nvPr/>
          </p:nvSpPr>
          <p:spPr>
            <a:xfrm>
              <a:off x="788" y="3604"/>
              <a:ext cx="1150" cy="298"/>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ctr"/>
              <a:r>
                <a:rPr sz="1000">
                  <a:solidFill>
                    <a:schemeClr val="accent1"/>
                  </a:solidFill>
                  <a:latin typeface="微软雅黑" panose="020B0503020204020204" charset="-122"/>
                  <a:ea typeface="微软雅黑" panose="020B0503020204020204" charset="-122"/>
                  <a:cs typeface="微软雅黑" panose="020B0503020204020204" charset="-122"/>
                </a:rPr>
                <a:t>竞品分析</a:t>
              </a:r>
              <a:endParaRPr lang="zh-CN" altLang="en-US" sz="1000">
                <a:solidFill>
                  <a:schemeClr val="accent1"/>
                </a:solidFill>
                <a:latin typeface="微软雅黑" panose="020B0503020204020204" charset="-122"/>
                <a:ea typeface="微软雅黑" panose="020B0503020204020204" charset="-122"/>
                <a:cs typeface="微软雅黑" panose="020B0503020204020204" charset="-122"/>
              </a:endParaRPr>
            </a:p>
          </p:txBody>
        </p:sp>
      </p:grpSp>
      <p:grpSp>
        <p:nvGrpSpPr>
          <p:cNvPr id="66" name="组合 65"/>
          <p:cNvGrpSpPr/>
          <p:nvPr/>
        </p:nvGrpSpPr>
        <p:grpSpPr>
          <a:xfrm>
            <a:off x="2211070" y="2220595"/>
            <a:ext cx="730250" cy="367030"/>
            <a:chOff x="788" y="3451"/>
            <a:chExt cx="1150" cy="578"/>
          </a:xfrm>
        </p:grpSpPr>
        <p:sp>
          <p:nvSpPr>
            <p:cNvPr id="67" name="圆角矩形 66"/>
            <p:cNvSpPr/>
            <p:nvPr/>
          </p:nvSpPr>
          <p:spPr>
            <a:xfrm>
              <a:off x="859" y="3451"/>
              <a:ext cx="1009" cy="578"/>
            </a:xfrm>
            <a:prstGeom prst="roundRect">
              <a:avLst>
                <a:gd name="adj" fmla="val 8650"/>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b="1" dirty="0">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71" name="标题 2"/>
            <p:cNvSpPr>
              <a:spLocks noGrp="1"/>
            </p:cNvSpPr>
            <p:nvPr/>
          </p:nvSpPr>
          <p:spPr>
            <a:xfrm>
              <a:off x="788" y="3604"/>
              <a:ext cx="1150" cy="298"/>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ctr"/>
              <a:r>
                <a:rPr sz="1000">
                  <a:solidFill>
                    <a:schemeClr val="accent1"/>
                  </a:solidFill>
                  <a:latin typeface="微软雅黑" panose="020B0503020204020204" charset="-122"/>
                  <a:ea typeface="微软雅黑" panose="020B0503020204020204" charset="-122"/>
                  <a:cs typeface="微软雅黑" panose="020B0503020204020204" charset="-122"/>
                </a:rPr>
                <a:t>数据收集</a:t>
              </a:r>
              <a:endParaRPr lang="zh-CN" altLang="en-US" sz="1000">
                <a:solidFill>
                  <a:schemeClr val="accent1"/>
                </a:solidFill>
                <a:latin typeface="微软雅黑" panose="020B0503020204020204" charset="-122"/>
                <a:ea typeface="微软雅黑" panose="020B0503020204020204" charset="-122"/>
                <a:cs typeface="微软雅黑" panose="020B0503020204020204" charset="-122"/>
              </a:endParaRPr>
            </a:p>
          </p:txBody>
        </p:sp>
      </p:grpSp>
      <p:grpSp>
        <p:nvGrpSpPr>
          <p:cNvPr id="72" name="组合 71"/>
          <p:cNvGrpSpPr/>
          <p:nvPr/>
        </p:nvGrpSpPr>
        <p:grpSpPr>
          <a:xfrm>
            <a:off x="3066415" y="2220595"/>
            <a:ext cx="730250" cy="367030"/>
            <a:chOff x="788" y="3451"/>
            <a:chExt cx="1150" cy="578"/>
          </a:xfrm>
        </p:grpSpPr>
        <p:sp>
          <p:nvSpPr>
            <p:cNvPr id="73" name="圆角矩形 72"/>
            <p:cNvSpPr/>
            <p:nvPr/>
          </p:nvSpPr>
          <p:spPr>
            <a:xfrm>
              <a:off x="859" y="3451"/>
              <a:ext cx="1009" cy="578"/>
            </a:xfrm>
            <a:prstGeom prst="roundRect">
              <a:avLst>
                <a:gd name="adj" fmla="val 8650"/>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b="1" dirty="0">
                <a:latin typeface="微软雅黑" panose="020B0503020204020204" charset="-122"/>
                <a:ea typeface="微软雅黑" panose="020B0503020204020204" charset="-122"/>
                <a:cs typeface="微软雅黑" panose="020B0503020204020204" charset="-122"/>
              </a:endParaRPr>
            </a:p>
          </p:txBody>
        </p:sp>
        <p:sp>
          <p:nvSpPr>
            <p:cNvPr id="74" name="标题 2"/>
            <p:cNvSpPr>
              <a:spLocks noGrp="1"/>
            </p:cNvSpPr>
            <p:nvPr/>
          </p:nvSpPr>
          <p:spPr>
            <a:xfrm>
              <a:off x="788" y="3604"/>
              <a:ext cx="1150" cy="298"/>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ctr"/>
              <a:r>
                <a:rPr sz="1000">
                  <a:solidFill>
                    <a:schemeClr val="accent1"/>
                  </a:solidFill>
                  <a:latin typeface="微软雅黑" panose="020B0503020204020204" charset="-122"/>
                  <a:ea typeface="微软雅黑" panose="020B0503020204020204" charset="-122"/>
                  <a:cs typeface="微软雅黑" panose="020B0503020204020204" charset="-122"/>
                </a:rPr>
                <a:t>调研报告</a:t>
              </a:r>
              <a:endParaRPr lang="zh-CN" altLang="en-US" sz="100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85" name="右箭头 84"/>
          <p:cNvSpPr/>
          <p:nvPr/>
        </p:nvSpPr>
        <p:spPr>
          <a:xfrm>
            <a:off x="1219200" y="2317750"/>
            <a:ext cx="164465" cy="194945"/>
          </a:xfrm>
          <a:prstGeom prst="rightArrow">
            <a:avLst/>
          </a:prstGeom>
          <a:gradFill flip="none" rotWithShape="1">
            <a:gsLst>
              <a:gs pos="0">
                <a:schemeClr val="accent1"/>
              </a:gs>
              <a:gs pos="98000">
                <a:schemeClr val="accent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86" name="右箭头 85"/>
          <p:cNvSpPr/>
          <p:nvPr/>
        </p:nvSpPr>
        <p:spPr>
          <a:xfrm>
            <a:off x="2074545" y="2317750"/>
            <a:ext cx="164465" cy="194945"/>
          </a:xfrm>
          <a:prstGeom prst="rightArrow">
            <a:avLst/>
          </a:prstGeom>
          <a:gradFill flip="none" rotWithShape="1">
            <a:gsLst>
              <a:gs pos="0">
                <a:schemeClr val="accent1"/>
              </a:gs>
              <a:gs pos="98000">
                <a:schemeClr val="accent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87" name="右箭头 86"/>
          <p:cNvSpPr/>
          <p:nvPr/>
        </p:nvSpPr>
        <p:spPr>
          <a:xfrm>
            <a:off x="2927350" y="2317750"/>
            <a:ext cx="164465" cy="194945"/>
          </a:xfrm>
          <a:prstGeom prst="rightArrow">
            <a:avLst/>
          </a:prstGeom>
          <a:gradFill flip="none" rotWithShape="1">
            <a:gsLst>
              <a:gs pos="0">
                <a:schemeClr val="accent1"/>
              </a:gs>
              <a:gs pos="98000">
                <a:schemeClr val="accent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93" name="Shape"/>
          <p:cNvSpPr/>
          <p:nvPr/>
        </p:nvSpPr>
        <p:spPr>
          <a:xfrm>
            <a:off x="4488815" y="1560830"/>
            <a:ext cx="962025" cy="253365"/>
          </a:xfrm>
          <a:custGeom>
            <a:avLst/>
            <a:gdLst>
              <a:gd name="connsiteX0" fmla="*/ 1306 w 1515"/>
              <a:gd name="connsiteY0" fmla="*/ 399 h 399"/>
              <a:gd name="connsiteX1" fmla="*/ 1306 w 1515"/>
              <a:gd name="connsiteY1" fmla="*/ 399 h 399"/>
              <a:gd name="connsiteX2" fmla="*/ 1515 w 1515"/>
              <a:gd name="connsiteY2" fmla="*/ 200 h 399"/>
              <a:gd name="connsiteX3" fmla="*/ 1306 w 1515"/>
              <a:gd name="connsiteY3" fmla="*/ 0 h 399"/>
              <a:gd name="connsiteX4" fmla="*/ 1306 w 1515"/>
              <a:gd name="connsiteY4" fmla="*/ 0 h 399"/>
              <a:gd name="connsiteX5" fmla="*/ 0 w 1515"/>
              <a:gd name="connsiteY5" fmla="*/ 0 h 399"/>
              <a:gd name="connsiteX6" fmla="*/ 0 w 1515"/>
              <a:gd name="connsiteY6" fmla="*/ 399 h 399"/>
              <a:gd name="connsiteX7" fmla="*/ 1306 w 1515"/>
              <a:gd name="connsiteY7" fmla="*/ 399 h 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5" h="399" extrusionOk="0">
                <a:moveTo>
                  <a:pt x="1306" y="399"/>
                </a:moveTo>
                <a:lnTo>
                  <a:pt x="1306" y="399"/>
                </a:lnTo>
                <a:lnTo>
                  <a:pt x="1515" y="200"/>
                </a:lnTo>
                <a:lnTo>
                  <a:pt x="1306" y="0"/>
                </a:lnTo>
                <a:lnTo>
                  <a:pt x="1306" y="0"/>
                </a:lnTo>
                <a:lnTo>
                  <a:pt x="0" y="0"/>
                </a:lnTo>
                <a:lnTo>
                  <a:pt x="0" y="399"/>
                </a:lnTo>
                <a:lnTo>
                  <a:pt x="1306" y="399"/>
                </a:lnTo>
                <a:close/>
              </a:path>
            </a:pathLst>
          </a:custGeom>
          <a:solidFill>
            <a:schemeClr val="accent1">
              <a:lumMod val="20000"/>
              <a:lumOff val="80000"/>
            </a:schemeClr>
          </a:solidFill>
          <a:ln w="12700">
            <a:miter lim="400000"/>
          </a:ln>
        </p:spPr>
        <p:txBody>
          <a:bodyPr lIns="0" tIns="0" rIns="0" bIns="0" anchor="ctr"/>
          <a:lstStyle/>
          <a:p>
            <a:pPr algn="ctr">
              <a:spcAft>
                <a:spcPts val="500"/>
              </a:spcAft>
            </a:pPr>
            <a:r>
              <a:rPr lang="zh-CN" altLang="en-US" sz="1000" b="1" dirty="0">
                <a:solidFill>
                  <a:schemeClr val="accent1"/>
                </a:solidFill>
                <a:latin typeface="微软雅黑" panose="020B0503020204020204" charset="-122"/>
                <a:ea typeface="微软雅黑" panose="020B0503020204020204" charset="-122"/>
                <a:cs typeface="微软雅黑" panose="020B0503020204020204" charset="-122"/>
              </a:rPr>
              <a:t>标志设计</a:t>
            </a:r>
            <a:endParaRPr lang="zh-CN" altLang="en-US" sz="10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89" name="箭头: V 形 24"/>
          <p:cNvSpPr/>
          <p:nvPr/>
        </p:nvSpPr>
        <p:spPr>
          <a:xfrm>
            <a:off x="5372100" y="1560830"/>
            <a:ext cx="867410" cy="253365"/>
          </a:xfrm>
          <a:prstGeom prst="chevron">
            <a:avLst/>
          </a:prstGeom>
          <a:solidFill>
            <a:schemeClr val="accent1">
              <a:lumMod val="20000"/>
              <a:lumOff val="80000"/>
            </a:schemeClr>
          </a:solidFill>
          <a:ln w="12700">
            <a:miter lim="400000"/>
          </a:ln>
        </p:spPr>
        <p:txBody>
          <a:bodyPr lIns="0" tIns="0" rIns="0" bIns="0" rtlCol="0" anchor="ctr">
            <a:noAutofit/>
          </a:bodyPr>
          <a:lstStyle/>
          <a:p>
            <a:pPr lvl="0" algn="ctr">
              <a:spcAft>
                <a:spcPts val="500"/>
              </a:spcAft>
              <a:buClrTx/>
              <a:buSzTx/>
              <a:buFontTx/>
            </a:pPr>
            <a:r>
              <a:rPr lang="zh-CN" altLang="en-US" sz="1000" b="1" dirty="0">
                <a:solidFill>
                  <a:schemeClr val="accent1"/>
                </a:solidFill>
                <a:latin typeface="微软雅黑" panose="020B0503020204020204" charset="-122"/>
                <a:ea typeface="微软雅黑" panose="020B0503020204020204" charset="-122"/>
                <a:cs typeface="微软雅黑" panose="020B0503020204020204" charset="-122"/>
                <a:sym typeface="+mn-ea"/>
              </a:rPr>
              <a:t>色彩设计</a:t>
            </a:r>
            <a:endParaRPr lang="zh-CN" altLang="en-US" sz="1000" b="1"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90" name="箭头: V 形 24"/>
          <p:cNvSpPr/>
          <p:nvPr/>
        </p:nvSpPr>
        <p:spPr>
          <a:xfrm>
            <a:off x="6155055" y="1560830"/>
            <a:ext cx="867410" cy="253365"/>
          </a:xfrm>
          <a:prstGeom prst="chevron">
            <a:avLst/>
          </a:prstGeom>
          <a:solidFill>
            <a:schemeClr val="accent1">
              <a:lumMod val="20000"/>
              <a:lumOff val="80000"/>
            </a:schemeClr>
          </a:solidFill>
          <a:ln w="12700">
            <a:miter lim="400000"/>
          </a:ln>
        </p:spPr>
        <p:txBody>
          <a:bodyPr lIns="0" tIns="0" rIns="0" bIns="0" rtlCol="0" anchor="ctr">
            <a:noAutofit/>
          </a:bodyPr>
          <a:lstStyle/>
          <a:p>
            <a:pPr lvl="0" algn="ctr">
              <a:spcAft>
                <a:spcPts val="500"/>
              </a:spcAft>
              <a:buClrTx/>
              <a:buSzTx/>
              <a:buFontTx/>
            </a:pPr>
            <a:r>
              <a:rPr lang="zh-CN" altLang="en-US" sz="1000" b="1" dirty="0">
                <a:solidFill>
                  <a:schemeClr val="accent1"/>
                </a:solidFill>
                <a:latin typeface="微软雅黑" panose="020B0503020204020204" charset="-122"/>
                <a:ea typeface="微软雅黑" panose="020B0503020204020204" charset="-122"/>
                <a:cs typeface="微软雅黑" panose="020B0503020204020204" charset="-122"/>
                <a:sym typeface="+mn-ea"/>
              </a:rPr>
              <a:t>排版设计</a:t>
            </a:r>
            <a:endParaRPr lang="zh-CN" altLang="en-US" sz="1000" b="1"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91" name="箭头: V 形 24"/>
          <p:cNvSpPr/>
          <p:nvPr/>
        </p:nvSpPr>
        <p:spPr>
          <a:xfrm>
            <a:off x="6944360" y="1560830"/>
            <a:ext cx="867410" cy="253365"/>
          </a:xfrm>
          <a:prstGeom prst="chevron">
            <a:avLst/>
          </a:prstGeom>
          <a:solidFill>
            <a:schemeClr val="accent1">
              <a:lumMod val="20000"/>
              <a:lumOff val="80000"/>
            </a:schemeClr>
          </a:solidFill>
          <a:ln w="12700">
            <a:miter lim="400000"/>
          </a:ln>
        </p:spPr>
        <p:txBody>
          <a:bodyPr lIns="0" tIns="0" rIns="0" bIns="0" rtlCol="0" anchor="ctr">
            <a:noAutofit/>
          </a:bodyPr>
          <a:lstStyle/>
          <a:p>
            <a:pPr lvl="0" algn="ctr">
              <a:spcAft>
                <a:spcPts val="500"/>
              </a:spcAft>
              <a:buClrTx/>
              <a:buSzTx/>
              <a:buFontTx/>
            </a:pPr>
            <a:r>
              <a:rPr lang="zh-CN" altLang="en-US" sz="1000" b="1" dirty="0">
                <a:solidFill>
                  <a:schemeClr val="accent1"/>
                </a:solidFill>
                <a:latin typeface="微软雅黑" panose="020B0503020204020204" charset="-122"/>
                <a:ea typeface="微软雅黑" panose="020B0503020204020204" charset="-122"/>
                <a:cs typeface="微软雅黑" panose="020B0503020204020204" charset="-122"/>
                <a:sym typeface="+mn-ea"/>
              </a:rPr>
              <a:t>元素设计</a:t>
            </a:r>
            <a:endParaRPr lang="zh-CN" altLang="en-US" sz="1000" b="1"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cxnSp>
        <p:nvCxnSpPr>
          <p:cNvPr id="92" name="直接连接符 91"/>
          <p:cNvCxnSpPr/>
          <p:nvPr/>
        </p:nvCxnSpPr>
        <p:spPr>
          <a:xfrm>
            <a:off x="5337175" y="1842770"/>
            <a:ext cx="3175" cy="776605"/>
          </a:xfrm>
          <a:prstGeom prst="line">
            <a:avLst/>
          </a:prstGeom>
          <a:ln w="12700" cmpd="sng">
            <a:solidFill>
              <a:schemeClr val="tx2">
                <a:lumMod val="40000"/>
                <a:lumOff val="60000"/>
              </a:schemeClr>
            </a:solidFill>
            <a:prstDash val="sysDash"/>
          </a:ln>
        </p:spPr>
        <p:style>
          <a:lnRef idx="2">
            <a:schemeClr val="accent1"/>
          </a:lnRef>
          <a:fillRef idx="0">
            <a:srgbClr val="FFFFFF"/>
          </a:fillRef>
          <a:effectRef idx="0">
            <a:srgbClr val="FFFFFF"/>
          </a:effectRef>
          <a:fontRef idx="minor">
            <a:schemeClr val="tx1"/>
          </a:fontRef>
        </p:style>
      </p:cxnSp>
      <p:grpSp>
        <p:nvGrpSpPr>
          <p:cNvPr id="143" name="组合 142"/>
          <p:cNvGrpSpPr/>
          <p:nvPr/>
        </p:nvGrpSpPr>
        <p:grpSpPr>
          <a:xfrm>
            <a:off x="8301355" y="2220595"/>
            <a:ext cx="730250" cy="367030"/>
            <a:chOff x="788" y="3451"/>
            <a:chExt cx="1150" cy="578"/>
          </a:xfrm>
        </p:grpSpPr>
        <p:sp>
          <p:nvSpPr>
            <p:cNvPr id="144" name="圆角矩形 143"/>
            <p:cNvSpPr/>
            <p:nvPr/>
          </p:nvSpPr>
          <p:spPr>
            <a:xfrm>
              <a:off x="859" y="3451"/>
              <a:ext cx="1009" cy="578"/>
            </a:xfrm>
            <a:prstGeom prst="roundRect">
              <a:avLst>
                <a:gd name="adj" fmla="val 8650"/>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45" name="标题 2"/>
            <p:cNvSpPr>
              <a:spLocks noGrp="1"/>
            </p:cNvSpPr>
            <p:nvPr/>
          </p:nvSpPr>
          <p:spPr>
            <a:xfrm>
              <a:off x="788" y="3604"/>
              <a:ext cx="1150" cy="298"/>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ctr"/>
              <a:r>
                <a:rPr sz="1000">
                  <a:solidFill>
                    <a:schemeClr val="accent1"/>
                  </a:solidFill>
                  <a:latin typeface="微软雅黑" panose="020B0503020204020204" charset="-122"/>
                  <a:ea typeface="微软雅黑" panose="020B0503020204020204" charset="-122"/>
                  <a:cs typeface="微软雅黑" panose="020B0503020204020204" charset="-122"/>
                </a:rPr>
                <a:t>产品改进</a:t>
              </a:r>
              <a:endParaRPr lang="zh-CN" altLang="en-US" sz="1000">
                <a:solidFill>
                  <a:schemeClr val="accent1"/>
                </a:solidFill>
                <a:latin typeface="微软雅黑" panose="020B0503020204020204" charset="-122"/>
                <a:ea typeface="微软雅黑" panose="020B0503020204020204" charset="-122"/>
                <a:cs typeface="微软雅黑" panose="020B0503020204020204" charset="-122"/>
              </a:endParaRPr>
            </a:p>
          </p:txBody>
        </p:sp>
      </p:grpSp>
      <p:grpSp>
        <p:nvGrpSpPr>
          <p:cNvPr id="148" name="组合 147"/>
          <p:cNvGrpSpPr/>
          <p:nvPr/>
        </p:nvGrpSpPr>
        <p:grpSpPr>
          <a:xfrm>
            <a:off x="9156700" y="2220595"/>
            <a:ext cx="730250" cy="367030"/>
            <a:chOff x="788" y="3451"/>
            <a:chExt cx="1150" cy="578"/>
          </a:xfrm>
        </p:grpSpPr>
        <p:sp>
          <p:nvSpPr>
            <p:cNvPr id="149" name="圆角矩形 148"/>
            <p:cNvSpPr/>
            <p:nvPr/>
          </p:nvSpPr>
          <p:spPr>
            <a:xfrm>
              <a:off x="859" y="3451"/>
              <a:ext cx="1009" cy="578"/>
            </a:xfrm>
            <a:prstGeom prst="roundRect">
              <a:avLst>
                <a:gd name="adj" fmla="val 8650"/>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b="1" dirty="0">
                <a:latin typeface="微软雅黑" panose="020B0503020204020204" charset="-122"/>
                <a:ea typeface="微软雅黑" panose="020B0503020204020204" charset="-122"/>
                <a:cs typeface="微软雅黑" panose="020B0503020204020204" charset="-122"/>
              </a:endParaRPr>
            </a:p>
          </p:txBody>
        </p:sp>
        <p:sp>
          <p:nvSpPr>
            <p:cNvPr id="150" name="标题 2"/>
            <p:cNvSpPr>
              <a:spLocks noGrp="1"/>
            </p:cNvSpPr>
            <p:nvPr/>
          </p:nvSpPr>
          <p:spPr>
            <a:xfrm>
              <a:off x="788" y="3604"/>
              <a:ext cx="1150" cy="298"/>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ctr"/>
              <a:r>
                <a:rPr sz="1000">
                  <a:solidFill>
                    <a:schemeClr val="accent1"/>
                  </a:solidFill>
                  <a:latin typeface="微软雅黑" panose="020B0503020204020204" charset="-122"/>
                  <a:ea typeface="微软雅黑" panose="020B0503020204020204" charset="-122"/>
                  <a:cs typeface="微软雅黑" panose="020B0503020204020204" charset="-122"/>
                </a:rPr>
                <a:t>市场定位</a:t>
              </a:r>
              <a:endParaRPr lang="zh-CN" altLang="en-US" sz="1000">
                <a:solidFill>
                  <a:schemeClr val="accent1"/>
                </a:solidFill>
                <a:latin typeface="微软雅黑" panose="020B0503020204020204" charset="-122"/>
                <a:ea typeface="微软雅黑" panose="020B0503020204020204" charset="-122"/>
                <a:cs typeface="微软雅黑" panose="020B0503020204020204" charset="-122"/>
              </a:endParaRPr>
            </a:p>
          </p:txBody>
        </p:sp>
      </p:grpSp>
      <p:grpSp>
        <p:nvGrpSpPr>
          <p:cNvPr id="151" name="组合 150"/>
          <p:cNvGrpSpPr/>
          <p:nvPr/>
        </p:nvGrpSpPr>
        <p:grpSpPr>
          <a:xfrm>
            <a:off x="10012045" y="2220595"/>
            <a:ext cx="730250" cy="367030"/>
            <a:chOff x="788" y="3451"/>
            <a:chExt cx="1150" cy="578"/>
          </a:xfrm>
        </p:grpSpPr>
        <p:sp>
          <p:nvSpPr>
            <p:cNvPr id="162" name="圆角矩形 161"/>
            <p:cNvSpPr/>
            <p:nvPr/>
          </p:nvSpPr>
          <p:spPr>
            <a:xfrm>
              <a:off x="859" y="3451"/>
              <a:ext cx="1009" cy="578"/>
            </a:xfrm>
            <a:prstGeom prst="roundRect">
              <a:avLst>
                <a:gd name="adj" fmla="val 8650"/>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b="1" dirty="0">
                <a:latin typeface="微软雅黑" panose="020B0503020204020204" charset="-122"/>
                <a:ea typeface="微软雅黑" panose="020B0503020204020204" charset="-122"/>
                <a:cs typeface="微软雅黑" panose="020B0503020204020204" charset="-122"/>
              </a:endParaRPr>
            </a:p>
          </p:txBody>
        </p:sp>
        <p:sp>
          <p:nvSpPr>
            <p:cNvPr id="163" name="标题 2"/>
            <p:cNvSpPr>
              <a:spLocks noGrp="1"/>
            </p:cNvSpPr>
            <p:nvPr/>
          </p:nvSpPr>
          <p:spPr>
            <a:xfrm>
              <a:off x="788" y="3604"/>
              <a:ext cx="1150" cy="298"/>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ctr"/>
              <a:r>
                <a:rPr sz="1000">
                  <a:solidFill>
                    <a:schemeClr val="accent1"/>
                  </a:solidFill>
                  <a:latin typeface="微软雅黑" panose="020B0503020204020204" charset="-122"/>
                  <a:ea typeface="微软雅黑" panose="020B0503020204020204" charset="-122"/>
                  <a:cs typeface="微软雅黑" panose="020B0503020204020204" charset="-122"/>
                </a:rPr>
                <a:t>客户满意</a:t>
              </a:r>
              <a:endParaRPr lang="zh-CN" altLang="en-US" sz="1000">
                <a:solidFill>
                  <a:schemeClr val="accent1"/>
                </a:solidFill>
                <a:latin typeface="微软雅黑" panose="020B0503020204020204" charset="-122"/>
                <a:ea typeface="微软雅黑" panose="020B0503020204020204" charset="-122"/>
                <a:cs typeface="微软雅黑" panose="020B0503020204020204" charset="-122"/>
              </a:endParaRPr>
            </a:p>
          </p:txBody>
        </p:sp>
      </p:grpSp>
      <p:grpSp>
        <p:nvGrpSpPr>
          <p:cNvPr id="164" name="组合 163"/>
          <p:cNvGrpSpPr/>
          <p:nvPr/>
        </p:nvGrpSpPr>
        <p:grpSpPr>
          <a:xfrm>
            <a:off x="10867390" y="2220595"/>
            <a:ext cx="730250" cy="367030"/>
            <a:chOff x="788" y="3451"/>
            <a:chExt cx="1150" cy="578"/>
          </a:xfrm>
        </p:grpSpPr>
        <p:sp>
          <p:nvSpPr>
            <p:cNvPr id="165" name="圆角矩形 164"/>
            <p:cNvSpPr/>
            <p:nvPr/>
          </p:nvSpPr>
          <p:spPr>
            <a:xfrm>
              <a:off x="859" y="3451"/>
              <a:ext cx="1009" cy="578"/>
            </a:xfrm>
            <a:prstGeom prst="roundRect">
              <a:avLst>
                <a:gd name="adj" fmla="val 8650"/>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b="1" dirty="0">
                <a:latin typeface="微软雅黑" panose="020B0503020204020204" charset="-122"/>
                <a:ea typeface="微软雅黑" panose="020B0503020204020204" charset="-122"/>
                <a:cs typeface="微软雅黑" panose="020B0503020204020204" charset="-122"/>
              </a:endParaRPr>
            </a:p>
          </p:txBody>
        </p:sp>
        <p:sp>
          <p:nvSpPr>
            <p:cNvPr id="166" name="标题 2"/>
            <p:cNvSpPr>
              <a:spLocks noGrp="1"/>
            </p:cNvSpPr>
            <p:nvPr/>
          </p:nvSpPr>
          <p:spPr>
            <a:xfrm>
              <a:off x="788" y="3604"/>
              <a:ext cx="1150" cy="298"/>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ctr"/>
              <a:r>
                <a:rPr sz="1000">
                  <a:solidFill>
                    <a:schemeClr val="accent1"/>
                  </a:solidFill>
                  <a:latin typeface="微软雅黑" panose="020B0503020204020204" charset="-122"/>
                  <a:ea typeface="微软雅黑" panose="020B0503020204020204" charset="-122"/>
                  <a:cs typeface="微软雅黑" panose="020B0503020204020204" charset="-122"/>
                </a:rPr>
                <a:t>品牌声誉</a:t>
              </a:r>
              <a:endParaRPr lang="zh-CN" altLang="en-US" sz="100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167" name="右箭头 166"/>
          <p:cNvSpPr/>
          <p:nvPr/>
        </p:nvSpPr>
        <p:spPr>
          <a:xfrm>
            <a:off x="9031605" y="2317750"/>
            <a:ext cx="164465" cy="194945"/>
          </a:xfrm>
          <a:prstGeom prst="rightArrow">
            <a:avLst/>
          </a:prstGeom>
          <a:gradFill flip="none" rotWithShape="1">
            <a:gsLst>
              <a:gs pos="0">
                <a:schemeClr val="accent1"/>
              </a:gs>
              <a:gs pos="98000">
                <a:schemeClr val="accent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68" name="右箭头 167"/>
          <p:cNvSpPr/>
          <p:nvPr/>
        </p:nvSpPr>
        <p:spPr>
          <a:xfrm>
            <a:off x="9886950" y="2317750"/>
            <a:ext cx="164465" cy="194945"/>
          </a:xfrm>
          <a:prstGeom prst="rightArrow">
            <a:avLst/>
          </a:prstGeom>
          <a:gradFill flip="none" rotWithShape="1">
            <a:gsLst>
              <a:gs pos="0">
                <a:schemeClr val="accent1"/>
              </a:gs>
              <a:gs pos="98000">
                <a:schemeClr val="accent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69" name="右箭头 168"/>
          <p:cNvSpPr/>
          <p:nvPr/>
        </p:nvSpPr>
        <p:spPr>
          <a:xfrm>
            <a:off x="10728325" y="2317750"/>
            <a:ext cx="164465" cy="194945"/>
          </a:xfrm>
          <a:prstGeom prst="rightArrow">
            <a:avLst/>
          </a:prstGeom>
          <a:gradFill flip="none" rotWithShape="1">
            <a:gsLst>
              <a:gs pos="0">
                <a:schemeClr val="accent1"/>
              </a:gs>
              <a:gs pos="98000">
                <a:schemeClr val="accent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4" name="椭圆 3"/>
          <p:cNvSpPr/>
          <p:nvPr/>
        </p:nvSpPr>
        <p:spPr>
          <a:xfrm>
            <a:off x="3091733" y="3390754"/>
            <a:ext cx="538003" cy="538003"/>
          </a:xfrm>
          <a:prstGeom prst="ellipse">
            <a:avLst/>
          </a:prstGeom>
          <a:solidFill>
            <a:schemeClr val="bg1"/>
          </a:solidFill>
          <a:ln w="38100">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en-US" altLang="zh-CN" sz="1300" b="1"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3128645" y="3398520"/>
            <a:ext cx="462280" cy="422910"/>
          </a:xfrm>
          <a:prstGeom prst="rect">
            <a:avLst/>
          </a:prstGeom>
          <a:noFill/>
        </p:spPr>
        <p:txBody>
          <a:bodyPr wrap="square" rtlCol="0" anchor="ctr" anchorCtr="0">
            <a:noAutofit/>
          </a:bodyPr>
          <a:lstStyle/>
          <a:p>
            <a:pPr algn="ctr">
              <a:lnSpc>
                <a:spcPct val="150000"/>
              </a:lnSpc>
            </a:pPr>
            <a:r>
              <a:rPr kumimoji="1" lang="en-US" sz="1600" b="1" dirty="0">
                <a:solidFill>
                  <a:schemeClr val="accent5"/>
                </a:solidFill>
                <a:latin typeface="微软雅黑" panose="020B0503020204020204" charset="-122"/>
                <a:ea typeface="微软雅黑" panose="020B0503020204020204" charset="-122"/>
                <a:cs typeface="微软雅黑" panose="020B0503020204020204" charset="-122"/>
              </a:rPr>
              <a:t>02</a:t>
            </a:r>
            <a:endParaRPr kumimoji="1" lang="en-US" sz="1600" b="1" cap="all" dirty="0">
              <a:solidFill>
                <a:schemeClr val="accent5"/>
              </a:solidFill>
              <a:latin typeface="微软雅黑" panose="020B0503020204020204" charset="-122"/>
              <a:ea typeface="微软雅黑" panose="020B0503020204020204" charset="-122"/>
              <a:cs typeface="微软雅黑" panose="020B0503020204020204" charset="-122"/>
            </a:endParaRPr>
          </a:p>
        </p:txBody>
      </p:sp>
      <p:grpSp>
        <p:nvGrpSpPr>
          <p:cNvPr id="18" name="组合 17"/>
          <p:cNvGrpSpPr/>
          <p:nvPr/>
        </p:nvGrpSpPr>
        <p:grpSpPr>
          <a:xfrm>
            <a:off x="865505" y="3390900"/>
            <a:ext cx="537210" cy="537210"/>
            <a:chOff x="1363" y="5340"/>
            <a:chExt cx="846" cy="846"/>
          </a:xfrm>
        </p:grpSpPr>
        <p:sp>
          <p:nvSpPr>
            <p:cNvPr id="14" name="椭圆 13"/>
            <p:cNvSpPr/>
            <p:nvPr/>
          </p:nvSpPr>
          <p:spPr>
            <a:xfrm>
              <a:off x="1363" y="5340"/>
              <a:ext cx="847" cy="847"/>
            </a:xfrm>
            <a:prstGeom prst="ellipse">
              <a:avLst/>
            </a:prstGeom>
            <a:solidFill>
              <a:schemeClr val="bg1"/>
            </a:solidFill>
            <a:ln w="381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zh-CN" sz="13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7" name="文本框 16"/>
            <p:cNvSpPr txBox="1"/>
            <p:nvPr/>
          </p:nvSpPr>
          <p:spPr>
            <a:xfrm>
              <a:off x="1416" y="5399"/>
              <a:ext cx="728" cy="607"/>
            </a:xfrm>
            <a:prstGeom prst="rect">
              <a:avLst/>
            </a:prstGeom>
            <a:noFill/>
          </p:spPr>
          <p:txBody>
            <a:bodyPr wrap="square" rtlCol="0" anchor="ctr" anchorCtr="0">
              <a:noAutofit/>
            </a:bodyPr>
            <a:lstStyle/>
            <a:p>
              <a:pPr algn="ctr">
                <a:lnSpc>
                  <a:spcPct val="150000"/>
                </a:lnSpc>
              </a:pPr>
              <a:r>
                <a:rPr kumimoji="1" lang="en-US" sz="1600" b="1" dirty="0">
                  <a:solidFill>
                    <a:schemeClr val="accent1"/>
                  </a:solidFill>
                  <a:latin typeface="微软雅黑" panose="020B0503020204020204" charset="-122"/>
                  <a:ea typeface="微软雅黑" panose="020B0503020204020204" charset="-122"/>
                  <a:cs typeface="微软雅黑" panose="020B0503020204020204" charset="-122"/>
                </a:rPr>
                <a:t>01</a:t>
              </a:r>
              <a:endParaRPr kumimoji="1" lang="en-US" sz="1600" b="1" cap="all" dirty="0">
                <a:solidFill>
                  <a:schemeClr val="accent1"/>
                </a:solidFill>
                <a:latin typeface="微软雅黑" panose="020B0503020204020204" charset="-122"/>
                <a:ea typeface="微软雅黑" panose="020B0503020204020204" charset="-122"/>
                <a:cs typeface="微软雅黑" panose="020B0503020204020204" charset="-122"/>
              </a:endParaRPr>
            </a:p>
          </p:txBody>
        </p:sp>
      </p:grpSp>
      <p:grpSp>
        <p:nvGrpSpPr>
          <p:cNvPr id="21" name="组合 20"/>
          <p:cNvGrpSpPr/>
          <p:nvPr/>
        </p:nvGrpSpPr>
        <p:grpSpPr>
          <a:xfrm>
            <a:off x="5306695" y="3390900"/>
            <a:ext cx="537210" cy="537210"/>
            <a:chOff x="1363" y="5340"/>
            <a:chExt cx="846" cy="846"/>
          </a:xfrm>
        </p:grpSpPr>
        <p:sp>
          <p:nvSpPr>
            <p:cNvPr id="23" name="椭圆 22"/>
            <p:cNvSpPr/>
            <p:nvPr/>
          </p:nvSpPr>
          <p:spPr>
            <a:xfrm>
              <a:off x="1363" y="5340"/>
              <a:ext cx="847" cy="847"/>
            </a:xfrm>
            <a:prstGeom prst="ellipse">
              <a:avLst/>
            </a:prstGeom>
            <a:solidFill>
              <a:schemeClr val="bg1"/>
            </a:solidFill>
            <a:ln w="381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zh-CN" sz="13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1" name="文本框 30"/>
            <p:cNvSpPr txBox="1"/>
            <p:nvPr/>
          </p:nvSpPr>
          <p:spPr>
            <a:xfrm>
              <a:off x="1416" y="5399"/>
              <a:ext cx="728" cy="607"/>
            </a:xfrm>
            <a:prstGeom prst="rect">
              <a:avLst/>
            </a:prstGeom>
            <a:noFill/>
          </p:spPr>
          <p:txBody>
            <a:bodyPr wrap="square" rtlCol="0" anchor="ctr" anchorCtr="0">
              <a:noAutofit/>
            </a:bodyPr>
            <a:lstStyle/>
            <a:p>
              <a:pPr algn="ctr">
                <a:lnSpc>
                  <a:spcPct val="150000"/>
                </a:lnSpc>
              </a:pPr>
              <a:r>
                <a:rPr kumimoji="1" lang="en-US" sz="1600" b="1" dirty="0">
                  <a:solidFill>
                    <a:schemeClr val="accent1"/>
                  </a:solidFill>
                  <a:latin typeface="微软雅黑" panose="020B0503020204020204" charset="-122"/>
                  <a:ea typeface="微软雅黑" panose="020B0503020204020204" charset="-122"/>
                  <a:cs typeface="微软雅黑" panose="020B0503020204020204" charset="-122"/>
                </a:rPr>
                <a:t>03</a:t>
              </a:r>
              <a:endParaRPr kumimoji="1" lang="en-US" sz="1600" b="1" cap="all" dirty="0">
                <a:solidFill>
                  <a:schemeClr val="accent1"/>
                </a:solidFill>
                <a:latin typeface="微软雅黑" panose="020B0503020204020204" charset="-122"/>
                <a:ea typeface="微软雅黑" panose="020B0503020204020204" charset="-122"/>
                <a:cs typeface="微软雅黑" panose="020B0503020204020204" charset="-122"/>
              </a:endParaRPr>
            </a:p>
          </p:txBody>
        </p:sp>
      </p:grpSp>
      <p:grpSp>
        <p:nvGrpSpPr>
          <p:cNvPr id="55" name="组合 54"/>
          <p:cNvGrpSpPr/>
          <p:nvPr/>
        </p:nvGrpSpPr>
        <p:grpSpPr>
          <a:xfrm>
            <a:off x="7541895" y="3398520"/>
            <a:ext cx="537210" cy="537210"/>
            <a:chOff x="1363" y="5340"/>
            <a:chExt cx="846" cy="846"/>
          </a:xfrm>
        </p:grpSpPr>
        <p:sp>
          <p:nvSpPr>
            <p:cNvPr id="56" name="椭圆 55"/>
            <p:cNvSpPr/>
            <p:nvPr/>
          </p:nvSpPr>
          <p:spPr>
            <a:xfrm>
              <a:off x="1363" y="5340"/>
              <a:ext cx="847" cy="847"/>
            </a:xfrm>
            <a:prstGeom prst="ellipse">
              <a:avLst/>
            </a:prstGeom>
            <a:solidFill>
              <a:schemeClr val="bg1"/>
            </a:solidFill>
            <a:ln w="38100">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zh-CN" sz="13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57" name="文本框 56"/>
            <p:cNvSpPr txBox="1"/>
            <p:nvPr/>
          </p:nvSpPr>
          <p:spPr>
            <a:xfrm>
              <a:off x="1416" y="5399"/>
              <a:ext cx="728" cy="607"/>
            </a:xfrm>
            <a:prstGeom prst="rect">
              <a:avLst/>
            </a:prstGeom>
            <a:noFill/>
          </p:spPr>
          <p:txBody>
            <a:bodyPr wrap="square" rtlCol="0" anchor="ctr" anchorCtr="0">
              <a:noAutofit/>
            </a:bodyPr>
            <a:lstStyle/>
            <a:p>
              <a:pPr algn="ctr">
                <a:lnSpc>
                  <a:spcPct val="150000"/>
                </a:lnSpc>
              </a:pPr>
              <a:r>
                <a:rPr kumimoji="1" lang="en-US" sz="1600" b="1" dirty="0">
                  <a:solidFill>
                    <a:schemeClr val="accent5"/>
                  </a:solidFill>
                  <a:latin typeface="微软雅黑" panose="020B0503020204020204" charset="-122"/>
                  <a:ea typeface="微软雅黑" panose="020B0503020204020204" charset="-122"/>
                  <a:cs typeface="微软雅黑" panose="020B0503020204020204" charset="-122"/>
                </a:rPr>
                <a:t>04</a:t>
              </a:r>
              <a:endParaRPr kumimoji="1" lang="en-US" sz="1600" b="1" cap="all" dirty="0">
                <a:solidFill>
                  <a:schemeClr val="accent5"/>
                </a:solidFill>
                <a:latin typeface="微软雅黑" panose="020B0503020204020204" charset="-122"/>
                <a:ea typeface="微软雅黑" panose="020B0503020204020204" charset="-122"/>
                <a:cs typeface="微软雅黑" panose="020B0503020204020204" charset="-122"/>
              </a:endParaRPr>
            </a:p>
          </p:txBody>
        </p:sp>
      </p:grpSp>
      <p:grpSp>
        <p:nvGrpSpPr>
          <p:cNvPr id="58" name="组合 57"/>
          <p:cNvGrpSpPr/>
          <p:nvPr/>
        </p:nvGrpSpPr>
        <p:grpSpPr>
          <a:xfrm>
            <a:off x="9805670" y="3402965"/>
            <a:ext cx="537210" cy="537210"/>
            <a:chOff x="1363" y="5340"/>
            <a:chExt cx="846" cy="846"/>
          </a:xfrm>
        </p:grpSpPr>
        <p:sp>
          <p:nvSpPr>
            <p:cNvPr id="59" name="椭圆 58"/>
            <p:cNvSpPr/>
            <p:nvPr/>
          </p:nvSpPr>
          <p:spPr>
            <a:xfrm>
              <a:off x="1363" y="5340"/>
              <a:ext cx="847" cy="847"/>
            </a:xfrm>
            <a:prstGeom prst="ellipse">
              <a:avLst/>
            </a:prstGeom>
            <a:solidFill>
              <a:schemeClr val="bg1"/>
            </a:solidFill>
            <a:ln w="381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zh-CN" sz="13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60" name="文本框 59"/>
            <p:cNvSpPr txBox="1"/>
            <p:nvPr/>
          </p:nvSpPr>
          <p:spPr>
            <a:xfrm>
              <a:off x="1416" y="5399"/>
              <a:ext cx="728" cy="607"/>
            </a:xfrm>
            <a:prstGeom prst="rect">
              <a:avLst/>
            </a:prstGeom>
            <a:noFill/>
          </p:spPr>
          <p:txBody>
            <a:bodyPr wrap="square" rtlCol="0" anchor="ctr" anchorCtr="0">
              <a:noAutofit/>
            </a:bodyPr>
            <a:lstStyle/>
            <a:p>
              <a:pPr algn="ctr">
                <a:lnSpc>
                  <a:spcPct val="150000"/>
                </a:lnSpc>
              </a:pPr>
              <a:r>
                <a:rPr kumimoji="1" lang="en-US" sz="1600" b="1" dirty="0">
                  <a:solidFill>
                    <a:schemeClr val="accent1"/>
                  </a:solidFill>
                  <a:latin typeface="微软雅黑" panose="020B0503020204020204" charset="-122"/>
                  <a:ea typeface="微软雅黑" panose="020B0503020204020204" charset="-122"/>
                  <a:cs typeface="微软雅黑" panose="020B0503020204020204" charset="-122"/>
                </a:rPr>
                <a:t>05</a:t>
              </a:r>
              <a:endParaRPr kumimoji="1" lang="en-US" sz="1600" b="1" cap="all" dirty="0">
                <a:solidFill>
                  <a:schemeClr val="accent1"/>
                </a:solidFill>
                <a:latin typeface="微软雅黑" panose="020B0503020204020204" charset="-122"/>
                <a:ea typeface="微软雅黑" panose="020B0503020204020204" charset="-122"/>
                <a:cs typeface="微软雅黑" panose="020B0503020204020204" charset="-122"/>
              </a:endParaRPr>
            </a:p>
          </p:txBody>
        </p:sp>
      </p:grpSp>
      <p:cxnSp>
        <p:nvCxnSpPr>
          <p:cNvPr id="68" name="直线箭头连接符 146"/>
          <p:cNvCxnSpPr/>
          <p:nvPr/>
        </p:nvCxnSpPr>
        <p:spPr>
          <a:xfrm flipV="1">
            <a:off x="10441902" y="2720057"/>
            <a:ext cx="0" cy="546506"/>
          </a:xfrm>
          <a:prstGeom prst="straightConnector1">
            <a:avLst/>
          </a:prstGeom>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69" name="直线箭头连接符 145"/>
          <p:cNvCxnSpPr/>
          <p:nvPr/>
        </p:nvCxnSpPr>
        <p:spPr>
          <a:xfrm flipV="1">
            <a:off x="6096168" y="2719422"/>
            <a:ext cx="0" cy="546506"/>
          </a:xfrm>
          <a:prstGeom prst="straightConnector1">
            <a:avLst/>
          </a:prstGeom>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75" name="直接连接符 74"/>
          <p:cNvCxnSpPr/>
          <p:nvPr/>
        </p:nvCxnSpPr>
        <p:spPr>
          <a:xfrm>
            <a:off x="6140450" y="1842770"/>
            <a:ext cx="3175" cy="776605"/>
          </a:xfrm>
          <a:prstGeom prst="line">
            <a:avLst/>
          </a:prstGeom>
          <a:ln w="12700" cmpd="sng">
            <a:solidFill>
              <a:schemeClr val="tx2">
                <a:lumMod val="40000"/>
                <a:lumOff val="6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76" name="直接连接符 75"/>
          <p:cNvCxnSpPr/>
          <p:nvPr/>
        </p:nvCxnSpPr>
        <p:spPr>
          <a:xfrm>
            <a:off x="6981190" y="1847215"/>
            <a:ext cx="3175" cy="776605"/>
          </a:xfrm>
          <a:prstGeom prst="line">
            <a:avLst/>
          </a:prstGeom>
          <a:ln w="12700" cmpd="sng">
            <a:solidFill>
              <a:schemeClr val="tx2">
                <a:lumMod val="40000"/>
                <a:lumOff val="6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8738235" y="348615"/>
            <a:ext cx="3219450" cy="332740"/>
            <a:chOff x="13761" y="549"/>
            <a:chExt cx="5070" cy="524"/>
          </a:xfrm>
        </p:grpSpPr>
        <p:pic>
          <p:nvPicPr>
            <p:cNvPr id="6" name="图片 5"/>
            <p:cNvPicPr>
              <a:picLocks noChangeAspect="1"/>
            </p:cNvPicPr>
            <p:nvPr userDrawn="1"/>
          </p:nvPicPr>
          <p:blipFill>
            <a:blip r:embed="rId8"/>
            <a:srcRect l="17002" t="-1765" r="56499" b="-1176"/>
            <a:stretch>
              <a:fillRect/>
            </a:stretch>
          </p:blipFill>
          <p:spPr>
            <a:xfrm>
              <a:off x="13761" y="549"/>
              <a:ext cx="1582" cy="525"/>
            </a:xfrm>
            <a:prstGeom prst="rect">
              <a:avLst/>
            </a:prstGeom>
          </p:spPr>
        </p:pic>
        <p:sp>
          <p:nvSpPr>
            <p:cNvPr id="8" name="文本框 7"/>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年度</a:t>
            </a:r>
            <a:r>
              <a:rPr sz="2500">
                <a:solidFill>
                  <a:schemeClr val="tx2"/>
                </a:solidFill>
                <a:effectLst/>
                <a:latin typeface="微软雅黑" panose="020B0503020204020204" charset="-122"/>
                <a:ea typeface="微软雅黑" panose="020B0503020204020204" charset="-122"/>
                <a:cs typeface="微软雅黑" panose="020B0503020204020204" charset="-122"/>
                <a:sym typeface="+mn-ea"/>
              </a:rPr>
              <a:t>工作汇报时间轴</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30" name="子陵职场PPT3"/>
          <p:cNvSpPr/>
          <p:nvPr>
            <p:custDataLst>
              <p:tags r:id="rId3"/>
            </p:custDataLst>
          </p:nvPr>
        </p:nvSpPr>
        <p:spPr>
          <a:xfrm>
            <a:off x="2466340" y="3491231"/>
            <a:ext cx="1872000" cy="600075"/>
          </a:xfrm>
          <a:prstGeom prst="chevron">
            <a:avLst>
              <a:gd name="adj" fmla="val 32014"/>
            </a:avLst>
          </a:prstGeom>
          <a:gradFill>
            <a:gsLst>
              <a:gs pos="100000">
                <a:schemeClr val="accent5"/>
              </a:gs>
              <a:gs pos="0">
                <a:schemeClr val="accent5">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77615" tIns="115887" rIns="163548" bIns="115888" numCol="1" spcCol="0" rtlCol="0" fromWordArt="0" anchor="ctr" anchorCtr="0" forceAA="0" compatLnSpc="1">
            <a:noAutofit/>
          </a:bodyPr>
          <a:lstStyle/>
          <a:p>
            <a:pPr lvl="0" algn="ctr">
              <a:buClrTx/>
              <a:buSzTx/>
              <a:buFontTx/>
            </a:pPr>
            <a:endParaRPr lang="zh-CN" altLang="en-US" sz="1600" b="1"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2" name="子陵职场PPT4"/>
          <p:cNvSpPr/>
          <p:nvPr>
            <p:custDataLst>
              <p:tags r:id="rId4"/>
            </p:custDataLst>
          </p:nvPr>
        </p:nvSpPr>
        <p:spPr>
          <a:xfrm>
            <a:off x="4251960" y="3491231"/>
            <a:ext cx="1872000" cy="600075"/>
          </a:xfrm>
          <a:prstGeom prst="chevron">
            <a:avLst>
              <a:gd name="adj" fmla="val 32014"/>
            </a:avLst>
          </a:prstGeom>
          <a:gradFill>
            <a:gsLst>
              <a:gs pos="100000">
                <a:schemeClr val="accent1"/>
              </a:gs>
              <a:gs pos="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77615" tIns="115887" rIns="163548" bIns="115888" numCol="1" spcCol="0" rtlCol="0" fromWordArt="0" anchor="ctr" anchorCtr="0" forceAA="0" compatLnSpc="1">
            <a:noAutofit/>
          </a:bodyPr>
          <a:lstStyle/>
          <a:p>
            <a:pPr lvl="0" algn="ctr">
              <a:buClrTx/>
              <a:buSzTx/>
              <a:buFontTx/>
            </a:pPr>
            <a:endParaRPr lang="zh-CN" altLang="en-US" sz="1600" b="1"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3" name="子陵职场PPT5"/>
          <p:cNvSpPr/>
          <p:nvPr>
            <p:custDataLst>
              <p:tags r:id="rId5"/>
            </p:custDataLst>
          </p:nvPr>
        </p:nvSpPr>
        <p:spPr>
          <a:xfrm>
            <a:off x="6037580" y="3491231"/>
            <a:ext cx="1872000" cy="600075"/>
          </a:xfrm>
          <a:prstGeom prst="chevron">
            <a:avLst>
              <a:gd name="adj" fmla="val 32014"/>
            </a:avLst>
          </a:prstGeom>
          <a:gradFill>
            <a:gsLst>
              <a:gs pos="100000">
                <a:schemeClr val="accent5"/>
              </a:gs>
              <a:gs pos="0">
                <a:schemeClr val="accent5">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77615" tIns="115887" rIns="163548" bIns="115888" numCol="1" spcCol="0" rtlCol="0" fromWordArt="0" anchor="ctr" anchorCtr="0" forceAA="0" compatLnSpc="1">
            <a:noAutofit/>
          </a:bodyPr>
          <a:lstStyle/>
          <a:p>
            <a:pPr lvl="0" algn="ctr">
              <a:buClrTx/>
              <a:buSzTx/>
              <a:buFontTx/>
            </a:pPr>
            <a:endParaRPr lang="zh-CN" altLang="en-US" sz="1600" b="1"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6" name="子陵职场PPT6"/>
          <p:cNvSpPr/>
          <p:nvPr>
            <p:custDataLst>
              <p:tags r:id="rId6"/>
            </p:custDataLst>
          </p:nvPr>
        </p:nvSpPr>
        <p:spPr>
          <a:xfrm>
            <a:off x="7823200" y="3491231"/>
            <a:ext cx="1872000" cy="600075"/>
          </a:xfrm>
          <a:prstGeom prst="chevron">
            <a:avLst>
              <a:gd name="adj" fmla="val 32014"/>
            </a:avLst>
          </a:prstGeom>
          <a:gradFill>
            <a:gsLst>
              <a:gs pos="100000">
                <a:schemeClr val="accent1"/>
              </a:gs>
              <a:gs pos="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77615" tIns="115887" rIns="163548" bIns="115888" numCol="1" spcCol="0" rtlCol="0" fromWordArt="0" anchor="ctr" anchorCtr="0" forceAA="0" compatLnSpc="1">
            <a:noAutofit/>
          </a:bodyPr>
          <a:lstStyle/>
          <a:p>
            <a:pPr lvl="0" algn="ctr">
              <a:buClrTx/>
              <a:buSzTx/>
              <a:buFontTx/>
            </a:pPr>
            <a:endParaRPr lang="zh-CN" altLang="en-US" sz="1600" b="1"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7" name="子陵职场PPT7"/>
          <p:cNvSpPr/>
          <p:nvPr>
            <p:custDataLst>
              <p:tags r:id="rId7"/>
            </p:custDataLst>
          </p:nvPr>
        </p:nvSpPr>
        <p:spPr>
          <a:xfrm>
            <a:off x="9608820" y="3491231"/>
            <a:ext cx="1872000" cy="600075"/>
          </a:xfrm>
          <a:prstGeom prst="chevron">
            <a:avLst>
              <a:gd name="adj" fmla="val 32014"/>
            </a:avLst>
          </a:prstGeom>
          <a:gradFill>
            <a:gsLst>
              <a:gs pos="100000">
                <a:schemeClr val="accent5"/>
              </a:gs>
              <a:gs pos="0">
                <a:schemeClr val="accent5">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77615" tIns="115887" rIns="163548" bIns="115888" numCol="1" spcCol="0" rtlCol="0" fromWordArt="0" anchor="ctr" anchorCtr="0" forceAA="0" compatLnSpc="1">
            <a:noAutofit/>
          </a:bodyPr>
          <a:lstStyle/>
          <a:p>
            <a:pPr lvl="0" algn="ctr">
              <a:buClrTx/>
              <a:buSzTx/>
              <a:buFontTx/>
            </a:pPr>
            <a:endParaRPr lang="zh-CN" altLang="en-US" sz="1600" b="1"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8" name="任意形状 17"/>
          <p:cNvSpPr/>
          <p:nvPr>
            <p:custDataLst>
              <p:tags r:id="rId8"/>
            </p:custDataLst>
          </p:nvPr>
        </p:nvSpPr>
        <p:spPr>
          <a:xfrm flipH="1">
            <a:off x="1399033" y="1417938"/>
            <a:ext cx="45719" cy="2160000"/>
          </a:xfrm>
          <a:custGeom>
            <a:avLst/>
            <a:gdLst>
              <a:gd name="connsiteX0" fmla="*/ 0 w 7620"/>
              <a:gd name="connsiteY0" fmla="*/ 2149602 h 2149602"/>
              <a:gd name="connsiteX1" fmla="*/ 0 w 7620"/>
              <a:gd name="connsiteY1" fmla="*/ 0 h 2149602"/>
            </a:gdLst>
            <a:ahLst/>
            <a:cxnLst>
              <a:cxn ang="0">
                <a:pos x="connsiteX0" y="connsiteY0"/>
              </a:cxn>
              <a:cxn ang="0">
                <a:pos x="connsiteX1" y="connsiteY1"/>
              </a:cxn>
            </a:cxnLst>
            <a:rect l="l" t="t" r="r" b="b"/>
            <a:pathLst>
              <a:path w="7620" h="2149602">
                <a:moveTo>
                  <a:pt x="0" y="2149602"/>
                </a:moveTo>
                <a:lnTo>
                  <a:pt x="0" y="0"/>
                </a:lnTo>
              </a:path>
            </a:pathLst>
          </a:custGeom>
          <a:ln w="15875" cap="flat">
            <a:solidFill>
              <a:schemeClr val="tx2">
                <a:lumMod val="40000"/>
                <a:lumOff val="60000"/>
              </a:schemeClr>
            </a:solidFill>
            <a:prstDash val="dash"/>
            <a:miter/>
            <a:tailEnd type="oval" w="lg" len="lg"/>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任意形状 47"/>
          <p:cNvSpPr/>
          <p:nvPr>
            <p:custDataLst>
              <p:tags r:id="rId9"/>
            </p:custDataLst>
          </p:nvPr>
        </p:nvSpPr>
        <p:spPr>
          <a:xfrm flipH="1">
            <a:off x="3571097" y="4168926"/>
            <a:ext cx="48074" cy="2159679"/>
          </a:xfrm>
          <a:custGeom>
            <a:avLst/>
            <a:gdLst>
              <a:gd name="connsiteX0" fmla="*/ 0 w 7620"/>
              <a:gd name="connsiteY0" fmla="*/ 2149602 h 2149602"/>
              <a:gd name="connsiteX1" fmla="*/ 0 w 7620"/>
              <a:gd name="connsiteY1" fmla="*/ 0 h 2149602"/>
            </a:gdLst>
            <a:ahLst/>
            <a:cxnLst>
              <a:cxn ang="0">
                <a:pos x="connsiteX0" y="connsiteY0"/>
              </a:cxn>
              <a:cxn ang="0">
                <a:pos x="connsiteX1" y="connsiteY1"/>
              </a:cxn>
            </a:cxnLst>
            <a:rect l="l" t="t" r="r" b="b"/>
            <a:pathLst>
              <a:path w="7620" h="2149602">
                <a:moveTo>
                  <a:pt x="0" y="2149602"/>
                </a:moveTo>
                <a:lnTo>
                  <a:pt x="0" y="0"/>
                </a:lnTo>
              </a:path>
            </a:pathLst>
          </a:custGeom>
          <a:ln w="15875" cap="flat">
            <a:solidFill>
              <a:schemeClr val="tx2">
                <a:lumMod val="40000"/>
                <a:lumOff val="60000"/>
              </a:schemeClr>
            </a:solidFill>
            <a:prstDash val="dash"/>
            <a:miter/>
            <a:tailEnd type="oval" w="lg" len="lg"/>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8" name="子陵职场PPT2"/>
          <p:cNvSpPr/>
          <p:nvPr>
            <p:custDataLst>
              <p:tags r:id="rId10"/>
            </p:custDataLst>
          </p:nvPr>
        </p:nvSpPr>
        <p:spPr>
          <a:xfrm>
            <a:off x="680720" y="3491231"/>
            <a:ext cx="1872000" cy="600075"/>
          </a:xfrm>
          <a:prstGeom prst="chevron">
            <a:avLst>
              <a:gd name="adj" fmla="val 32014"/>
            </a:avLst>
          </a:prstGeom>
          <a:gradFill>
            <a:gsLst>
              <a:gs pos="100000">
                <a:schemeClr val="accent1"/>
              </a:gs>
              <a:gs pos="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277615" tIns="115887" rIns="163548" bIns="115888" rtlCol="0" anchor="ctr">
            <a:noAutofit/>
          </a:bodyPr>
          <a:lstStyle/>
          <a:p>
            <a:pPr algn="ctr"/>
            <a:endParaRPr lang="zh-CN" altLang="en-US" sz="16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custDataLst>
              <p:tags r:id="rId11"/>
            </p:custDataLst>
          </p:nvPr>
        </p:nvSpPr>
        <p:spPr>
          <a:xfrm>
            <a:off x="967105" y="3568700"/>
            <a:ext cx="1393190" cy="414020"/>
          </a:xfrm>
          <a:prstGeom prst="rect">
            <a:avLst/>
          </a:prstGeom>
          <a:noFill/>
        </p:spPr>
        <p:txBody>
          <a:bodyPr wrap="square" rtlCol="0">
            <a:spAutoFit/>
          </a:bodyPr>
          <a:lstStyle/>
          <a:p>
            <a:pPr algn="just">
              <a:lnSpc>
                <a:spcPct val="150000"/>
              </a:lnSpc>
            </a:pPr>
            <a:r>
              <a:rPr kumimoji="1" lang="en-US" sz="1400" b="1" dirty="0">
                <a:solidFill>
                  <a:schemeClr val="bg1"/>
                </a:solidFill>
                <a:latin typeface="微软雅黑" panose="020B0503020204020204" charset="-122"/>
                <a:ea typeface="微软雅黑" panose="020B0503020204020204" charset="-122"/>
                <a:cs typeface="微软雅黑" panose="020B0503020204020204" charset="-122"/>
              </a:rPr>
              <a:t>2026</a:t>
            </a:r>
            <a:r>
              <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rPr>
              <a:t>年</a:t>
            </a:r>
            <a:r>
              <a:rPr kumimoji="1" lang="en-US" altLang="zh-CN" sz="1400" b="1" dirty="0">
                <a:solidFill>
                  <a:schemeClr val="bg1"/>
                </a:solidFill>
                <a:latin typeface="微软雅黑" panose="020B0503020204020204" charset="-122"/>
                <a:ea typeface="微软雅黑" panose="020B0503020204020204" charset="-122"/>
                <a:cs typeface="微软雅黑" panose="020B0503020204020204" charset="-122"/>
              </a:rPr>
              <a:t>1-2</a:t>
            </a:r>
            <a:r>
              <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rPr>
              <a:t>月</a:t>
            </a:r>
            <a:endParaRPr kumimoji="1" lang="zh-CN" altLang="en-US" sz="1400" b="1" cap="all"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4" name="文本框 13"/>
          <p:cNvSpPr txBox="1"/>
          <p:nvPr>
            <p:custDataLst>
              <p:tags r:id="rId12"/>
            </p:custDataLst>
          </p:nvPr>
        </p:nvSpPr>
        <p:spPr>
          <a:xfrm>
            <a:off x="2705735" y="3568700"/>
            <a:ext cx="1393190" cy="414020"/>
          </a:xfrm>
          <a:prstGeom prst="rect">
            <a:avLst/>
          </a:prstGeom>
          <a:noFill/>
        </p:spPr>
        <p:txBody>
          <a:bodyPr wrap="square" rtlCol="0">
            <a:spAutoFit/>
          </a:bodyPr>
          <a:lstStyle/>
          <a:p>
            <a:pPr algn="just">
              <a:lnSpc>
                <a:spcPct val="150000"/>
              </a:lnSpc>
            </a:pPr>
            <a:r>
              <a:rPr kumimoji="1" lang="en-US" sz="1400" b="1" dirty="0">
                <a:solidFill>
                  <a:schemeClr val="bg1"/>
                </a:solidFill>
                <a:latin typeface="微软雅黑" panose="020B0503020204020204" charset="-122"/>
                <a:ea typeface="微软雅黑" panose="020B0503020204020204" charset="-122"/>
                <a:cs typeface="微软雅黑" panose="020B0503020204020204" charset="-122"/>
              </a:rPr>
              <a:t>2026</a:t>
            </a:r>
            <a:r>
              <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rPr>
              <a:t>年</a:t>
            </a:r>
            <a:r>
              <a:rPr kumimoji="1" lang="en-US" altLang="zh-CN" sz="1400" b="1" dirty="0">
                <a:solidFill>
                  <a:schemeClr val="bg1"/>
                </a:solidFill>
                <a:latin typeface="微软雅黑" panose="020B0503020204020204" charset="-122"/>
                <a:ea typeface="微软雅黑" panose="020B0503020204020204" charset="-122"/>
                <a:cs typeface="微软雅黑" panose="020B0503020204020204" charset="-122"/>
              </a:rPr>
              <a:t>3</a:t>
            </a:r>
            <a:r>
              <a:rPr kumimoji="1" lang="en-US" altLang="zh-CN" sz="1400" b="1" dirty="0">
                <a:solidFill>
                  <a:schemeClr val="bg1"/>
                </a:solidFill>
                <a:latin typeface="微软雅黑" panose="020B0503020204020204" charset="-122"/>
                <a:ea typeface="微软雅黑" panose="020B0503020204020204" charset="-122"/>
                <a:cs typeface="微软雅黑" panose="020B0503020204020204" charset="-122"/>
              </a:rPr>
              <a:t>-4</a:t>
            </a:r>
            <a:r>
              <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rPr>
              <a:t>月</a:t>
            </a:r>
            <a:endParaRPr kumimoji="1" lang="zh-CN" altLang="en-US" sz="1400" b="1" cap="all"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custDataLst>
              <p:tags r:id="rId13"/>
            </p:custDataLst>
          </p:nvPr>
        </p:nvSpPr>
        <p:spPr>
          <a:xfrm>
            <a:off x="4571365" y="3578225"/>
            <a:ext cx="1393190" cy="414020"/>
          </a:xfrm>
          <a:prstGeom prst="rect">
            <a:avLst/>
          </a:prstGeom>
          <a:noFill/>
        </p:spPr>
        <p:txBody>
          <a:bodyPr wrap="square" rtlCol="0">
            <a:spAutoFit/>
          </a:bodyPr>
          <a:lstStyle/>
          <a:p>
            <a:pPr algn="just">
              <a:lnSpc>
                <a:spcPct val="150000"/>
              </a:lnSpc>
            </a:pPr>
            <a:r>
              <a:rPr kumimoji="1" lang="en-US" sz="1400" b="1" dirty="0">
                <a:solidFill>
                  <a:schemeClr val="bg1"/>
                </a:solidFill>
                <a:latin typeface="微软雅黑" panose="020B0503020204020204" charset="-122"/>
                <a:ea typeface="微软雅黑" panose="020B0503020204020204" charset="-122"/>
                <a:cs typeface="微软雅黑" panose="020B0503020204020204" charset="-122"/>
              </a:rPr>
              <a:t>2026</a:t>
            </a:r>
            <a:r>
              <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rPr>
              <a:t>年</a:t>
            </a:r>
            <a:r>
              <a:rPr kumimoji="1" lang="en-US" altLang="zh-CN" sz="1400" b="1" dirty="0">
                <a:solidFill>
                  <a:schemeClr val="bg1"/>
                </a:solidFill>
                <a:latin typeface="微软雅黑" panose="020B0503020204020204" charset="-122"/>
                <a:ea typeface="微软雅黑" panose="020B0503020204020204" charset="-122"/>
                <a:cs typeface="微软雅黑" panose="020B0503020204020204" charset="-122"/>
              </a:rPr>
              <a:t>5</a:t>
            </a:r>
            <a:r>
              <a:rPr kumimoji="1" lang="en-US" altLang="zh-CN" sz="1400" b="1" dirty="0">
                <a:solidFill>
                  <a:schemeClr val="bg1"/>
                </a:solidFill>
                <a:latin typeface="微软雅黑" panose="020B0503020204020204" charset="-122"/>
                <a:ea typeface="微软雅黑" panose="020B0503020204020204" charset="-122"/>
                <a:cs typeface="微软雅黑" panose="020B0503020204020204" charset="-122"/>
              </a:rPr>
              <a:t>-6</a:t>
            </a:r>
            <a:r>
              <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rPr>
              <a:t>月</a:t>
            </a:r>
            <a:endParaRPr kumimoji="1" lang="zh-CN" altLang="en-US" sz="1400" b="1" cap="all"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9" name="文本框 18"/>
          <p:cNvSpPr txBox="1"/>
          <p:nvPr>
            <p:custDataLst>
              <p:tags r:id="rId14"/>
            </p:custDataLst>
          </p:nvPr>
        </p:nvSpPr>
        <p:spPr>
          <a:xfrm>
            <a:off x="6309995" y="3578225"/>
            <a:ext cx="1393190" cy="414020"/>
          </a:xfrm>
          <a:prstGeom prst="rect">
            <a:avLst/>
          </a:prstGeom>
          <a:noFill/>
        </p:spPr>
        <p:txBody>
          <a:bodyPr wrap="square" rtlCol="0">
            <a:spAutoFit/>
          </a:bodyPr>
          <a:lstStyle/>
          <a:p>
            <a:pPr algn="just">
              <a:lnSpc>
                <a:spcPct val="150000"/>
              </a:lnSpc>
            </a:pPr>
            <a:r>
              <a:rPr kumimoji="1" lang="en-US" sz="1400" b="1" dirty="0">
                <a:solidFill>
                  <a:schemeClr val="bg1"/>
                </a:solidFill>
                <a:latin typeface="微软雅黑" panose="020B0503020204020204" charset="-122"/>
                <a:ea typeface="微软雅黑" panose="020B0503020204020204" charset="-122"/>
                <a:cs typeface="微软雅黑" panose="020B0503020204020204" charset="-122"/>
              </a:rPr>
              <a:t>2026</a:t>
            </a:r>
            <a:r>
              <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rPr>
              <a:t>年</a:t>
            </a:r>
            <a:r>
              <a:rPr kumimoji="1" lang="en-US" altLang="zh-CN" sz="1400" b="1" dirty="0">
                <a:solidFill>
                  <a:schemeClr val="bg1"/>
                </a:solidFill>
                <a:latin typeface="微软雅黑" panose="020B0503020204020204" charset="-122"/>
                <a:ea typeface="微软雅黑" panose="020B0503020204020204" charset="-122"/>
                <a:cs typeface="微软雅黑" panose="020B0503020204020204" charset="-122"/>
              </a:rPr>
              <a:t>7</a:t>
            </a:r>
            <a:r>
              <a:rPr kumimoji="1" lang="en-US" altLang="zh-CN" sz="1400" b="1" dirty="0">
                <a:solidFill>
                  <a:schemeClr val="bg1"/>
                </a:solidFill>
                <a:latin typeface="微软雅黑" panose="020B0503020204020204" charset="-122"/>
                <a:ea typeface="微软雅黑" panose="020B0503020204020204" charset="-122"/>
                <a:cs typeface="微软雅黑" panose="020B0503020204020204" charset="-122"/>
              </a:rPr>
              <a:t>-8</a:t>
            </a:r>
            <a:r>
              <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rPr>
              <a:t>月</a:t>
            </a:r>
            <a:endParaRPr kumimoji="1" lang="zh-CN" altLang="en-US" sz="1400" b="1" cap="all"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custDataLst>
              <p:tags r:id="rId15"/>
            </p:custDataLst>
          </p:nvPr>
        </p:nvSpPr>
        <p:spPr>
          <a:xfrm>
            <a:off x="8098790" y="3568700"/>
            <a:ext cx="1393190" cy="414020"/>
          </a:xfrm>
          <a:prstGeom prst="rect">
            <a:avLst/>
          </a:prstGeom>
          <a:noFill/>
        </p:spPr>
        <p:txBody>
          <a:bodyPr wrap="square" rtlCol="0">
            <a:spAutoFit/>
          </a:bodyPr>
          <a:lstStyle/>
          <a:p>
            <a:pPr algn="just">
              <a:lnSpc>
                <a:spcPct val="150000"/>
              </a:lnSpc>
            </a:pPr>
            <a:r>
              <a:rPr kumimoji="1" lang="en-US" sz="1400" b="1" dirty="0">
                <a:solidFill>
                  <a:schemeClr val="bg1"/>
                </a:solidFill>
                <a:latin typeface="微软雅黑" panose="020B0503020204020204" charset="-122"/>
                <a:ea typeface="微软雅黑" panose="020B0503020204020204" charset="-122"/>
                <a:cs typeface="微软雅黑" panose="020B0503020204020204" charset="-122"/>
              </a:rPr>
              <a:t>2026</a:t>
            </a:r>
            <a:r>
              <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rPr>
              <a:t>年</a:t>
            </a:r>
            <a:r>
              <a:rPr kumimoji="1" lang="en-US" altLang="zh-CN" sz="1400" b="1" dirty="0">
                <a:solidFill>
                  <a:schemeClr val="bg1"/>
                </a:solidFill>
                <a:latin typeface="微软雅黑" panose="020B0503020204020204" charset="-122"/>
                <a:ea typeface="微软雅黑" panose="020B0503020204020204" charset="-122"/>
                <a:cs typeface="微软雅黑" panose="020B0503020204020204" charset="-122"/>
              </a:rPr>
              <a:t>9</a:t>
            </a:r>
            <a:r>
              <a:rPr kumimoji="1" lang="en-US" altLang="zh-CN" sz="1400" b="1" dirty="0">
                <a:solidFill>
                  <a:schemeClr val="bg1"/>
                </a:solidFill>
                <a:latin typeface="微软雅黑" panose="020B0503020204020204" charset="-122"/>
                <a:ea typeface="微软雅黑" panose="020B0503020204020204" charset="-122"/>
                <a:cs typeface="微软雅黑" panose="020B0503020204020204" charset="-122"/>
              </a:rPr>
              <a:t>-10</a:t>
            </a:r>
            <a:r>
              <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rPr>
              <a:t>月</a:t>
            </a:r>
            <a:endParaRPr kumimoji="1" lang="zh-CN" altLang="en-US" sz="1400" b="1" cap="all"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3" name="文本框 22"/>
          <p:cNvSpPr txBox="1"/>
          <p:nvPr>
            <p:custDataLst>
              <p:tags r:id="rId16"/>
            </p:custDataLst>
          </p:nvPr>
        </p:nvSpPr>
        <p:spPr>
          <a:xfrm>
            <a:off x="9837420" y="3568700"/>
            <a:ext cx="1541780" cy="414020"/>
          </a:xfrm>
          <a:prstGeom prst="rect">
            <a:avLst/>
          </a:prstGeom>
          <a:noFill/>
        </p:spPr>
        <p:txBody>
          <a:bodyPr wrap="square" rtlCol="0">
            <a:spAutoFit/>
          </a:bodyPr>
          <a:lstStyle/>
          <a:p>
            <a:pPr algn="just">
              <a:lnSpc>
                <a:spcPct val="150000"/>
              </a:lnSpc>
            </a:pPr>
            <a:r>
              <a:rPr kumimoji="1" lang="en-US" sz="1400" b="1" dirty="0">
                <a:solidFill>
                  <a:schemeClr val="bg1"/>
                </a:solidFill>
                <a:latin typeface="微软雅黑" panose="020B0503020204020204" charset="-122"/>
                <a:ea typeface="微软雅黑" panose="020B0503020204020204" charset="-122"/>
                <a:cs typeface="微软雅黑" panose="020B0503020204020204" charset="-122"/>
              </a:rPr>
              <a:t>2026</a:t>
            </a:r>
            <a:r>
              <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rPr>
              <a:t>年</a:t>
            </a:r>
            <a:r>
              <a:rPr kumimoji="1" lang="en-US" altLang="zh-CN" sz="1400" b="1" dirty="0">
                <a:solidFill>
                  <a:schemeClr val="bg1"/>
                </a:solidFill>
                <a:latin typeface="微软雅黑" panose="020B0503020204020204" charset="-122"/>
                <a:ea typeface="微软雅黑" panose="020B0503020204020204" charset="-122"/>
                <a:cs typeface="微软雅黑" panose="020B0503020204020204" charset="-122"/>
              </a:rPr>
              <a:t>11</a:t>
            </a:r>
            <a:r>
              <a:rPr kumimoji="1" lang="en-US" altLang="zh-CN" sz="1400" b="1" dirty="0">
                <a:solidFill>
                  <a:schemeClr val="bg1"/>
                </a:solidFill>
                <a:latin typeface="微软雅黑" panose="020B0503020204020204" charset="-122"/>
                <a:ea typeface="微软雅黑" panose="020B0503020204020204" charset="-122"/>
                <a:cs typeface="微软雅黑" panose="020B0503020204020204" charset="-122"/>
              </a:rPr>
              <a:t>-12</a:t>
            </a:r>
            <a:r>
              <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rPr>
              <a:t>月</a:t>
            </a:r>
            <a:endParaRPr kumimoji="1" lang="zh-CN" altLang="en-US" sz="1400" b="1" cap="all"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6" name="任意形状 47"/>
          <p:cNvSpPr/>
          <p:nvPr>
            <p:custDataLst>
              <p:tags r:id="rId17"/>
            </p:custDataLst>
          </p:nvPr>
        </p:nvSpPr>
        <p:spPr>
          <a:xfrm flipH="1">
            <a:off x="7315057" y="4168926"/>
            <a:ext cx="48074" cy="2159679"/>
          </a:xfrm>
          <a:custGeom>
            <a:avLst/>
            <a:gdLst>
              <a:gd name="connsiteX0" fmla="*/ 0 w 7620"/>
              <a:gd name="connsiteY0" fmla="*/ 2149602 h 2149602"/>
              <a:gd name="connsiteX1" fmla="*/ 0 w 7620"/>
              <a:gd name="connsiteY1" fmla="*/ 0 h 2149602"/>
            </a:gdLst>
            <a:ahLst/>
            <a:cxnLst>
              <a:cxn ang="0">
                <a:pos x="connsiteX0" y="connsiteY0"/>
              </a:cxn>
              <a:cxn ang="0">
                <a:pos x="connsiteX1" y="connsiteY1"/>
              </a:cxn>
            </a:cxnLst>
            <a:rect l="l" t="t" r="r" b="b"/>
            <a:pathLst>
              <a:path w="7620" h="2149602">
                <a:moveTo>
                  <a:pt x="0" y="2149602"/>
                </a:moveTo>
                <a:lnTo>
                  <a:pt x="0" y="0"/>
                </a:lnTo>
              </a:path>
            </a:pathLst>
          </a:custGeom>
          <a:ln w="15875" cap="flat">
            <a:solidFill>
              <a:schemeClr val="tx2">
                <a:lumMod val="40000"/>
                <a:lumOff val="60000"/>
              </a:schemeClr>
            </a:solidFill>
            <a:prstDash val="dash"/>
            <a:miter/>
            <a:tailEnd type="oval" w="lg" len="lg"/>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31" name="任意形状 17"/>
          <p:cNvSpPr/>
          <p:nvPr>
            <p:custDataLst>
              <p:tags r:id="rId18"/>
            </p:custDataLst>
          </p:nvPr>
        </p:nvSpPr>
        <p:spPr>
          <a:xfrm flipH="1">
            <a:off x="5031233" y="1344278"/>
            <a:ext cx="45719" cy="2160000"/>
          </a:xfrm>
          <a:custGeom>
            <a:avLst/>
            <a:gdLst>
              <a:gd name="connsiteX0" fmla="*/ 0 w 7620"/>
              <a:gd name="connsiteY0" fmla="*/ 2149602 h 2149602"/>
              <a:gd name="connsiteX1" fmla="*/ 0 w 7620"/>
              <a:gd name="connsiteY1" fmla="*/ 0 h 2149602"/>
            </a:gdLst>
            <a:ahLst/>
            <a:cxnLst>
              <a:cxn ang="0">
                <a:pos x="connsiteX0" y="connsiteY0"/>
              </a:cxn>
              <a:cxn ang="0">
                <a:pos x="connsiteX1" y="connsiteY1"/>
              </a:cxn>
            </a:cxnLst>
            <a:rect l="l" t="t" r="r" b="b"/>
            <a:pathLst>
              <a:path w="7620" h="2149602">
                <a:moveTo>
                  <a:pt x="0" y="2149602"/>
                </a:moveTo>
                <a:lnTo>
                  <a:pt x="0" y="0"/>
                </a:lnTo>
              </a:path>
            </a:pathLst>
          </a:custGeom>
          <a:ln w="15875" cap="flat">
            <a:solidFill>
              <a:schemeClr val="tx2">
                <a:lumMod val="40000"/>
                <a:lumOff val="60000"/>
              </a:schemeClr>
            </a:solidFill>
            <a:prstDash val="dash"/>
            <a:miter/>
            <a:tailEnd type="oval" w="lg" len="lg"/>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5" name="任意形状 17"/>
          <p:cNvSpPr/>
          <p:nvPr>
            <p:custDataLst>
              <p:tags r:id="rId19"/>
            </p:custDataLst>
          </p:nvPr>
        </p:nvSpPr>
        <p:spPr>
          <a:xfrm flipH="1">
            <a:off x="8421498" y="1330943"/>
            <a:ext cx="45719" cy="2160000"/>
          </a:xfrm>
          <a:custGeom>
            <a:avLst/>
            <a:gdLst>
              <a:gd name="connsiteX0" fmla="*/ 0 w 7620"/>
              <a:gd name="connsiteY0" fmla="*/ 2149602 h 2149602"/>
              <a:gd name="connsiteX1" fmla="*/ 0 w 7620"/>
              <a:gd name="connsiteY1" fmla="*/ 0 h 2149602"/>
            </a:gdLst>
            <a:ahLst/>
            <a:cxnLst>
              <a:cxn ang="0">
                <a:pos x="connsiteX0" y="connsiteY0"/>
              </a:cxn>
              <a:cxn ang="0">
                <a:pos x="connsiteX1" y="connsiteY1"/>
              </a:cxn>
            </a:cxnLst>
            <a:rect l="l" t="t" r="r" b="b"/>
            <a:pathLst>
              <a:path w="7620" h="2149602">
                <a:moveTo>
                  <a:pt x="0" y="2149602"/>
                </a:moveTo>
                <a:lnTo>
                  <a:pt x="0" y="0"/>
                </a:lnTo>
              </a:path>
            </a:pathLst>
          </a:custGeom>
          <a:ln w="15875" cap="flat">
            <a:solidFill>
              <a:schemeClr val="tx2">
                <a:lumMod val="40000"/>
                <a:lumOff val="60000"/>
              </a:schemeClr>
            </a:solidFill>
            <a:prstDash val="dash"/>
            <a:miter/>
            <a:tailEnd type="oval" w="lg" len="lg"/>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9" name="任意形状 47"/>
          <p:cNvSpPr/>
          <p:nvPr>
            <p:custDataLst>
              <p:tags r:id="rId20"/>
            </p:custDataLst>
          </p:nvPr>
        </p:nvSpPr>
        <p:spPr>
          <a:xfrm flipH="1">
            <a:off x="10784697" y="4168926"/>
            <a:ext cx="48074" cy="2159679"/>
          </a:xfrm>
          <a:custGeom>
            <a:avLst/>
            <a:gdLst>
              <a:gd name="connsiteX0" fmla="*/ 0 w 7620"/>
              <a:gd name="connsiteY0" fmla="*/ 2149602 h 2149602"/>
              <a:gd name="connsiteX1" fmla="*/ 0 w 7620"/>
              <a:gd name="connsiteY1" fmla="*/ 0 h 2149602"/>
            </a:gdLst>
            <a:ahLst/>
            <a:cxnLst>
              <a:cxn ang="0">
                <a:pos x="connsiteX0" y="connsiteY0"/>
              </a:cxn>
              <a:cxn ang="0">
                <a:pos x="connsiteX1" y="connsiteY1"/>
              </a:cxn>
            </a:cxnLst>
            <a:rect l="l" t="t" r="r" b="b"/>
            <a:pathLst>
              <a:path w="7620" h="2149602">
                <a:moveTo>
                  <a:pt x="0" y="2149602"/>
                </a:moveTo>
                <a:lnTo>
                  <a:pt x="0" y="0"/>
                </a:lnTo>
              </a:path>
            </a:pathLst>
          </a:custGeom>
          <a:ln w="15875" cap="flat">
            <a:solidFill>
              <a:schemeClr val="tx2">
                <a:lumMod val="40000"/>
                <a:lumOff val="60000"/>
              </a:schemeClr>
            </a:solidFill>
            <a:prstDash val="dash"/>
            <a:miter/>
            <a:tailEnd type="oval" w="lg" len="lg"/>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grpSp>
        <p:nvGrpSpPr>
          <p:cNvPr id="43" name="组合 42"/>
          <p:cNvGrpSpPr/>
          <p:nvPr/>
        </p:nvGrpSpPr>
        <p:grpSpPr>
          <a:xfrm>
            <a:off x="759460" y="4472940"/>
            <a:ext cx="2554605" cy="2002790"/>
            <a:chOff x="1196" y="7060"/>
            <a:chExt cx="4023" cy="3154"/>
          </a:xfrm>
        </p:grpSpPr>
        <p:sp>
          <p:nvSpPr>
            <p:cNvPr id="6" name="任意形状 29"/>
            <p:cNvSpPr/>
            <p:nvPr>
              <p:custDataLst>
                <p:tags r:id="rId21"/>
              </p:custDataLst>
            </p:nvPr>
          </p:nvSpPr>
          <p:spPr>
            <a:xfrm>
              <a:off x="1196" y="9554"/>
              <a:ext cx="4022" cy="661"/>
            </a:xfrm>
            <a:custGeom>
              <a:avLst/>
              <a:gdLst>
                <a:gd name="connsiteX0" fmla="*/ 0 w 2554223"/>
                <a:gd name="connsiteY0" fmla="*/ 0 h 311657"/>
                <a:gd name="connsiteX1" fmla="*/ 2554224 w 2554223"/>
                <a:gd name="connsiteY1" fmla="*/ 0 h 311657"/>
                <a:gd name="connsiteX2" fmla="*/ 2554224 w 2554223"/>
                <a:gd name="connsiteY2" fmla="*/ 311658 h 311657"/>
                <a:gd name="connsiteX3" fmla="*/ 0 w 2554223"/>
                <a:gd name="connsiteY3" fmla="*/ 311658 h 311657"/>
              </a:gdLst>
              <a:ahLst/>
              <a:cxnLst>
                <a:cxn ang="0">
                  <a:pos x="connsiteX0" y="connsiteY0"/>
                </a:cxn>
                <a:cxn ang="0">
                  <a:pos x="connsiteX1" y="connsiteY1"/>
                </a:cxn>
                <a:cxn ang="0">
                  <a:pos x="connsiteX2" y="connsiteY2"/>
                </a:cxn>
                <a:cxn ang="0">
                  <a:pos x="connsiteX3" y="connsiteY3"/>
                </a:cxn>
              </a:cxnLst>
              <a:rect l="l" t="t" r="r" b="b"/>
              <a:pathLst>
                <a:path w="2554223" h="311657">
                  <a:moveTo>
                    <a:pt x="0" y="0"/>
                  </a:moveTo>
                  <a:lnTo>
                    <a:pt x="2554224" y="0"/>
                  </a:lnTo>
                  <a:lnTo>
                    <a:pt x="2554224" y="311658"/>
                  </a:lnTo>
                  <a:lnTo>
                    <a:pt x="0" y="311658"/>
                  </a:lnTo>
                  <a:close/>
                </a:path>
              </a:pathLst>
            </a:custGeom>
            <a:gradFill>
              <a:gsLst>
                <a:gs pos="100000">
                  <a:schemeClr val="accent5"/>
                </a:gs>
                <a:gs pos="0">
                  <a:schemeClr val="accent5">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77615" tIns="115887" rIns="163548" bIns="115888" numCol="1" spcCol="0" rtlCol="0" fromWordArt="0" anchor="ctr" anchorCtr="0" forceAA="0" compatLnSpc="1">
              <a:noAutofit/>
            </a:bodyPr>
            <a:lstStyle/>
            <a:p>
              <a:pPr lvl="0" algn="ctr">
                <a:buClrTx/>
                <a:buSzTx/>
                <a:buFontTx/>
              </a:pPr>
              <a:r>
                <a:rPr lang="zh-CN" altLang="en-US" b="1" dirty="0">
                  <a:solidFill>
                    <a:srgbClr val="FFFFFF"/>
                  </a:solidFill>
                  <a:latin typeface="微软雅黑" panose="020B0503020204020204" charset="-122"/>
                  <a:ea typeface="微软雅黑" panose="020B0503020204020204" charset="-122"/>
                  <a:cs typeface="微软雅黑" panose="020B0503020204020204" charset="-122"/>
                  <a:sym typeface="+mn-ea"/>
                </a:rPr>
                <a:t>② 基建优化期</a:t>
              </a:r>
              <a:endParaRPr lang="zh-CN" altLang="en-US" b="1"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7" name="圆角矩形 6"/>
            <p:cNvSpPr/>
            <p:nvPr>
              <p:custDataLst>
                <p:tags r:id="rId22"/>
              </p:custDataLst>
            </p:nvPr>
          </p:nvSpPr>
          <p:spPr>
            <a:xfrm>
              <a:off x="1197" y="7060"/>
              <a:ext cx="4022" cy="2244"/>
            </a:xfrm>
            <a:prstGeom prst="roundRect">
              <a:avLst>
                <a:gd name="adj" fmla="val 5927"/>
              </a:avLst>
            </a:prstGeom>
            <a:solidFill>
              <a:schemeClr val="tx2">
                <a:lumMod val="20000"/>
                <a:lumOff val="80000"/>
                <a:alpha val="20000"/>
              </a:schemeClr>
            </a:solidFill>
            <a:ln w="15875" cap="flat">
              <a:solidFill>
                <a:schemeClr val="tx2">
                  <a:lumMod val="20000"/>
                  <a:lumOff val="80000"/>
                </a:schemeClr>
              </a:solid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custDataLst>
                <p:tags r:id="rId23"/>
              </p:custDataLst>
            </p:nvPr>
          </p:nvSpPr>
          <p:spPr>
            <a:xfrm>
              <a:off x="1363" y="7179"/>
              <a:ext cx="3689" cy="2042"/>
            </a:xfrm>
            <a:prstGeom prst="rect">
              <a:avLst/>
            </a:prstGeom>
            <a:noFill/>
            <a:ln>
              <a:noFill/>
            </a:ln>
          </p:spPr>
          <p:txBody>
            <a:bodyPr wrap="square" rtlCol="0">
              <a:spAutoFit/>
            </a:bodyPr>
            <a:lstStyle/>
            <a:p>
              <a:pPr indent="0" fontAlgn="auto">
                <a:lnSpc>
                  <a:spcPts val="1400"/>
                </a:lnSpc>
                <a:spcAft>
                  <a:spcPts val="1000"/>
                </a:spcAft>
              </a:pP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阶段目标：</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完成用户标签清洗与自动化触达体系搭建，迭代核心功能，提升新用户留存。</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a:p>
              <a:pPr indent="0" fontAlgn="auto">
                <a:lnSpc>
                  <a:spcPts val="1400"/>
                </a:lnSpc>
                <a:spcAft>
                  <a:spcPts val="1000"/>
                </a:spcAft>
              </a:pP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完成情况：</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激活沉默用户</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200</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万，新用户次日留存率从</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40%</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提升至</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48%</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；页面加载速度提升</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15%</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grpSp>
      <p:grpSp>
        <p:nvGrpSpPr>
          <p:cNvPr id="47" name="组合 46"/>
          <p:cNvGrpSpPr/>
          <p:nvPr/>
        </p:nvGrpSpPr>
        <p:grpSpPr>
          <a:xfrm>
            <a:off x="4503420" y="4472940"/>
            <a:ext cx="2554605" cy="2002790"/>
            <a:chOff x="7092" y="7060"/>
            <a:chExt cx="4023" cy="3154"/>
          </a:xfrm>
        </p:grpSpPr>
        <p:sp>
          <p:nvSpPr>
            <p:cNvPr id="44" name="任意形状 29"/>
            <p:cNvSpPr/>
            <p:nvPr>
              <p:custDataLst>
                <p:tags r:id="rId24"/>
              </p:custDataLst>
            </p:nvPr>
          </p:nvSpPr>
          <p:spPr>
            <a:xfrm>
              <a:off x="7092" y="9554"/>
              <a:ext cx="4022" cy="661"/>
            </a:xfrm>
            <a:custGeom>
              <a:avLst/>
              <a:gdLst>
                <a:gd name="connsiteX0" fmla="*/ 0 w 2554223"/>
                <a:gd name="connsiteY0" fmla="*/ 0 h 311657"/>
                <a:gd name="connsiteX1" fmla="*/ 2554224 w 2554223"/>
                <a:gd name="connsiteY1" fmla="*/ 0 h 311657"/>
                <a:gd name="connsiteX2" fmla="*/ 2554224 w 2554223"/>
                <a:gd name="connsiteY2" fmla="*/ 311658 h 311657"/>
                <a:gd name="connsiteX3" fmla="*/ 0 w 2554223"/>
                <a:gd name="connsiteY3" fmla="*/ 311658 h 311657"/>
              </a:gdLst>
              <a:ahLst/>
              <a:cxnLst>
                <a:cxn ang="0">
                  <a:pos x="connsiteX0" y="connsiteY0"/>
                </a:cxn>
                <a:cxn ang="0">
                  <a:pos x="connsiteX1" y="connsiteY1"/>
                </a:cxn>
                <a:cxn ang="0">
                  <a:pos x="connsiteX2" y="connsiteY2"/>
                </a:cxn>
                <a:cxn ang="0">
                  <a:pos x="connsiteX3" y="connsiteY3"/>
                </a:cxn>
              </a:cxnLst>
              <a:rect l="l" t="t" r="r" b="b"/>
              <a:pathLst>
                <a:path w="2554223" h="311657">
                  <a:moveTo>
                    <a:pt x="0" y="0"/>
                  </a:moveTo>
                  <a:lnTo>
                    <a:pt x="2554224" y="0"/>
                  </a:lnTo>
                  <a:lnTo>
                    <a:pt x="2554224" y="311658"/>
                  </a:lnTo>
                  <a:lnTo>
                    <a:pt x="0" y="311658"/>
                  </a:lnTo>
                  <a:close/>
                </a:path>
              </a:pathLst>
            </a:custGeom>
            <a:gradFill>
              <a:gsLst>
                <a:gs pos="100000">
                  <a:schemeClr val="accent5"/>
                </a:gs>
                <a:gs pos="0">
                  <a:schemeClr val="accent5">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77615" tIns="115887" rIns="163548" bIns="115888" numCol="1" spcCol="0" rtlCol="0" fromWordArt="0" anchor="ctr" anchorCtr="0" forceAA="0" compatLnSpc="1">
              <a:noAutofit/>
            </a:bodyPr>
            <a:lstStyle/>
            <a:p>
              <a:pPr lvl="0" algn="ctr">
                <a:buClrTx/>
                <a:buSzTx/>
                <a:buFontTx/>
              </a:pPr>
              <a:r>
                <a:rPr lang="zh-CN" altLang="en-US" b="1" dirty="0">
                  <a:solidFill>
                    <a:srgbClr val="FFFFFF"/>
                  </a:solidFill>
                  <a:latin typeface="微软雅黑" panose="020B0503020204020204" charset="-122"/>
                  <a:ea typeface="微软雅黑" panose="020B0503020204020204" charset="-122"/>
                  <a:cs typeface="微软雅黑" panose="020B0503020204020204" charset="-122"/>
                  <a:sym typeface="+mn-ea"/>
                </a:rPr>
                <a:t>④ 精细运营期</a:t>
              </a:r>
              <a:endParaRPr lang="zh-CN" altLang="en-US" b="1"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45" name="圆角矩形 44"/>
            <p:cNvSpPr/>
            <p:nvPr>
              <p:custDataLst>
                <p:tags r:id="rId25"/>
              </p:custDataLst>
            </p:nvPr>
          </p:nvSpPr>
          <p:spPr>
            <a:xfrm>
              <a:off x="7093" y="7060"/>
              <a:ext cx="4022" cy="2244"/>
            </a:xfrm>
            <a:prstGeom prst="roundRect">
              <a:avLst>
                <a:gd name="adj" fmla="val 5927"/>
              </a:avLst>
            </a:prstGeom>
            <a:solidFill>
              <a:schemeClr val="tx2">
                <a:lumMod val="20000"/>
                <a:lumOff val="80000"/>
                <a:alpha val="20000"/>
              </a:schemeClr>
            </a:solidFill>
            <a:ln w="15875" cap="flat">
              <a:solidFill>
                <a:schemeClr val="tx2">
                  <a:lumMod val="20000"/>
                  <a:lumOff val="80000"/>
                </a:schemeClr>
              </a:solid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46" name="文本框 45"/>
            <p:cNvSpPr txBox="1"/>
            <p:nvPr>
              <p:custDataLst>
                <p:tags r:id="rId26"/>
              </p:custDataLst>
            </p:nvPr>
          </p:nvSpPr>
          <p:spPr>
            <a:xfrm>
              <a:off x="7259" y="7179"/>
              <a:ext cx="3689" cy="2042"/>
            </a:xfrm>
            <a:prstGeom prst="rect">
              <a:avLst/>
            </a:prstGeom>
            <a:noFill/>
            <a:ln>
              <a:noFill/>
            </a:ln>
          </p:spPr>
          <p:txBody>
            <a:bodyPr wrap="square" rtlCol="0">
              <a:spAutoFit/>
            </a:bodyPr>
            <a:lstStyle/>
            <a:p>
              <a:pPr indent="0" fontAlgn="auto">
                <a:lnSpc>
                  <a:spcPts val="1400"/>
                </a:lnSpc>
                <a:spcAft>
                  <a:spcPts val="1000"/>
                </a:spcAft>
              </a:pP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阶段目标：</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沉淀上半年流量，通过</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RFM</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模型与用户成长体系，提升用户生命周期价值与留存。</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a:p>
              <a:pPr indent="0" fontAlgn="auto">
                <a:lnSpc>
                  <a:spcPts val="1400"/>
                </a:lnSpc>
                <a:spcAft>
                  <a:spcPts val="1000"/>
                </a:spcAft>
              </a:pP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完成情况：</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高价值用户流失率降低</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10%</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MAU</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环比稳定增长</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5%</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，用户使用时长提升至</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22</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分钟。</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grpSp>
      <p:grpSp>
        <p:nvGrpSpPr>
          <p:cNvPr id="51" name="组合 50"/>
          <p:cNvGrpSpPr/>
          <p:nvPr/>
        </p:nvGrpSpPr>
        <p:grpSpPr>
          <a:xfrm>
            <a:off x="7973060" y="4472940"/>
            <a:ext cx="2554605" cy="2002790"/>
            <a:chOff x="12556" y="7060"/>
            <a:chExt cx="4023" cy="3154"/>
          </a:xfrm>
        </p:grpSpPr>
        <p:sp>
          <p:nvSpPr>
            <p:cNvPr id="48" name="任意形状 29"/>
            <p:cNvSpPr/>
            <p:nvPr>
              <p:custDataLst>
                <p:tags r:id="rId27"/>
              </p:custDataLst>
            </p:nvPr>
          </p:nvSpPr>
          <p:spPr>
            <a:xfrm>
              <a:off x="12556" y="9554"/>
              <a:ext cx="4022" cy="661"/>
            </a:xfrm>
            <a:custGeom>
              <a:avLst/>
              <a:gdLst>
                <a:gd name="connsiteX0" fmla="*/ 0 w 2554223"/>
                <a:gd name="connsiteY0" fmla="*/ 0 h 311657"/>
                <a:gd name="connsiteX1" fmla="*/ 2554224 w 2554223"/>
                <a:gd name="connsiteY1" fmla="*/ 0 h 311657"/>
                <a:gd name="connsiteX2" fmla="*/ 2554224 w 2554223"/>
                <a:gd name="connsiteY2" fmla="*/ 311658 h 311657"/>
                <a:gd name="connsiteX3" fmla="*/ 0 w 2554223"/>
                <a:gd name="connsiteY3" fmla="*/ 311658 h 311657"/>
              </a:gdLst>
              <a:ahLst/>
              <a:cxnLst>
                <a:cxn ang="0">
                  <a:pos x="connsiteX0" y="connsiteY0"/>
                </a:cxn>
                <a:cxn ang="0">
                  <a:pos x="connsiteX1" y="connsiteY1"/>
                </a:cxn>
                <a:cxn ang="0">
                  <a:pos x="connsiteX2" y="connsiteY2"/>
                </a:cxn>
                <a:cxn ang="0">
                  <a:pos x="connsiteX3" y="connsiteY3"/>
                </a:cxn>
              </a:cxnLst>
              <a:rect l="l" t="t" r="r" b="b"/>
              <a:pathLst>
                <a:path w="2554223" h="311657">
                  <a:moveTo>
                    <a:pt x="0" y="0"/>
                  </a:moveTo>
                  <a:lnTo>
                    <a:pt x="2554224" y="0"/>
                  </a:lnTo>
                  <a:lnTo>
                    <a:pt x="2554224" y="311658"/>
                  </a:lnTo>
                  <a:lnTo>
                    <a:pt x="0" y="311658"/>
                  </a:lnTo>
                  <a:close/>
                </a:path>
              </a:pathLst>
            </a:custGeom>
            <a:gradFill>
              <a:gsLst>
                <a:gs pos="100000">
                  <a:schemeClr val="accent5"/>
                </a:gs>
                <a:gs pos="0">
                  <a:schemeClr val="accent5">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77615" tIns="115887" rIns="163548" bIns="115888" numCol="1" spcCol="0" rtlCol="0" fromWordArt="0" anchor="ctr" anchorCtr="0" forceAA="0" compatLnSpc="1">
              <a:noAutofit/>
            </a:bodyPr>
            <a:lstStyle/>
            <a:p>
              <a:pPr lvl="0" algn="ctr">
                <a:buClrTx/>
                <a:buSzTx/>
                <a:buFontTx/>
              </a:pPr>
              <a:r>
                <a:rPr lang="zh-CN" altLang="en-US" b="1" dirty="0">
                  <a:solidFill>
                    <a:srgbClr val="FFFFFF"/>
                  </a:solidFill>
                  <a:latin typeface="微软雅黑" panose="020B0503020204020204" charset="-122"/>
                  <a:ea typeface="微软雅黑" panose="020B0503020204020204" charset="-122"/>
                  <a:cs typeface="微软雅黑" panose="020B0503020204020204" charset="-122"/>
                  <a:sym typeface="+mn-ea"/>
                </a:rPr>
                <a:t>⑥ 收官冲刺期</a:t>
              </a:r>
              <a:endParaRPr lang="zh-CN" altLang="en-US" b="1"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49" name="圆角矩形 48"/>
            <p:cNvSpPr/>
            <p:nvPr>
              <p:custDataLst>
                <p:tags r:id="rId28"/>
              </p:custDataLst>
            </p:nvPr>
          </p:nvSpPr>
          <p:spPr>
            <a:xfrm>
              <a:off x="12557" y="7060"/>
              <a:ext cx="4022" cy="2244"/>
            </a:xfrm>
            <a:prstGeom prst="roundRect">
              <a:avLst>
                <a:gd name="adj" fmla="val 5927"/>
              </a:avLst>
            </a:prstGeom>
            <a:solidFill>
              <a:schemeClr val="tx2">
                <a:lumMod val="20000"/>
                <a:lumOff val="80000"/>
                <a:alpha val="20000"/>
              </a:schemeClr>
            </a:solidFill>
            <a:ln w="15875" cap="flat">
              <a:solidFill>
                <a:schemeClr val="tx2">
                  <a:lumMod val="20000"/>
                  <a:lumOff val="80000"/>
                </a:schemeClr>
              </a:solid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0" name="文本框 49"/>
            <p:cNvSpPr txBox="1"/>
            <p:nvPr>
              <p:custDataLst>
                <p:tags r:id="rId29"/>
              </p:custDataLst>
            </p:nvPr>
          </p:nvSpPr>
          <p:spPr>
            <a:xfrm>
              <a:off x="12723" y="7179"/>
              <a:ext cx="3689" cy="2042"/>
            </a:xfrm>
            <a:prstGeom prst="rect">
              <a:avLst/>
            </a:prstGeom>
            <a:noFill/>
            <a:ln>
              <a:noFill/>
            </a:ln>
          </p:spPr>
          <p:txBody>
            <a:bodyPr wrap="square" rtlCol="0">
              <a:spAutoFit/>
            </a:bodyPr>
            <a:lstStyle/>
            <a:p>
              <a:pPr indent="0" fontAlgn="auto">
                <a:lnSpc>
                  <a:spcPts val="1400"/>
                </a:lnSpc>
                <a:spcAft>
                  <a:spcPts val="1000"/>
                </a:spcAft>
              </a:pP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阶段目标：</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全力冲刺双</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11</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、双</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12</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及年货节，完成年度</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KPI</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，并布局下一年度战略方向。</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a:p>
              <a:pPr indent="0" fontAlgn="auto">
                <a:lnSpc>
                  <a:spcPts val="1400"/>
                </a:lnSpc>
                <a:spcAft>
                  <a:spcPts val="1000"/>
                </a:spcAft>
              </a:pP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完成情况：</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双</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11GMV</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超额完成</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110%</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Q4</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营收占全年</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45%</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；付费会员数突破</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10</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万，会员客单价为普通用户</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3</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倍。</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grpSp>
      <p:grpSp>
        <p:nvGrpSpPr>
          <p:cNvPr id="55" name="组合 54"/>
          <p:cNvGrpSpPr/>
          <p:nvPr/>
        </p:nvGrpSpPr>
        <p:grpSpPr>
          <a:xfrm>
            <a:off x="1713230" y="1217295"/>
            <a:ext cx="2556510" cy="1983105"/>
            <a:chOff x="2698" y="1917"/>
            <a:chExt cx="4026" cy="3123"/>
          </a:xfrm>
        </p:grpSpPr>
        <p:sp>
          <p:nvSpPr>
            <p:cNvPr id="52" name="任意形状 19"/>
            <p:cNvSpPr/>
            <p:nvPr>
              <p:custDataLst>
                <p:tags r:id="rId30"/>
              </p:custDataLst>
            </p:nvPr>
          </p:nvSpPr>
          <p:spPr>
            <a:xfrm>
              <a:off x="2700" y="1917"/>
              <a:ext cx="4024" cy="661"/>
            </a:xfrm>
            <a:custGeom>
              <a:avLst/>
              <a:gdLst>
                <a:gd name="connsiteX0" fmla="*/ 0 w 2554223"/>
                <a:gd name="connsiteY0" fmla="*/ 0 h 311658"/>
                <a:gd name="connsiteX1" fmla="*/ 2554224 w 2554223"/>
                <a:gd name="connsiteY1" fmla="*/ 0 h 311658"/>
                <a:gd name="connsiteX2" fmla="*/ 2554224 w 2554223"/>
                <a:gd name="connsiteY2" fmla="*/ 311658 h 311658"/>
                <a:gd name="connsiteX3" fmla="*/ 0 w 2554223"/>
                <a:gd name="connsiteY3" fmla="*/ 311658 h 311658"/>
              </a:gdLst>
              <a:ahLst/>
              <a:cxnLst>
                <a:cxn ang="0">
                  <a:pos x="connsiteX0" y="connsiteY0"/>
                </a:cxn>
                <a:cxn ang="0">
                  <a:pos x="connsiteX1" y="connsiteY1"/>
                </a:cxn>
                <a:cxn ang="0">
                  <a:pos x="connsiteX2" y="connsiteY2"/>
                </a:cxn>
                <a:cxn ang="0">
                  <a:pos x="connsiteX3" y="connsiteY3"/>
                </a:cxn>
              </a:cxnLst>
              <a:rect l="l" t="t" r="r" b="b"/>
              <a:pathLst>
                <a:path w="2554223" h="311658">
                  <a:moveTo>
                    <a:pt x="0" y="0"/>
                  </a:moveTo>
                  <a:lnTo>
                    <a:pt x="2554224" y="0"/>
                  </a:lnTo>
                  <a:lnTo>
                    <a:pt x="2554224" y="311658"/>
                  </a:lnTo>
                  <a:lnTo>
                    <a:pt x="0" y="311658"/>
                  </a:lnTo>
                  <a:close/>
                </a:path>
              </a:pathLst>
            </a:custGeom>
            <a:gradFill>
              <a:gsLst>
                <a:gs pos="100000">
                  <a:schemeClr val="accent1"/>
                </a:gs>
                <a:gs pos="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77615" tIns="115887" rIns="163548" bIns="115888" numCol="1" spcCol="0" rtlCol="0" fromWordArt="0" anchor="ctr" anchorCtr="0" forceAA="0" compatLnSpc="1">
              <a:noAutofit/>
            </a:bodyPr>
            <a:lstStyle/>
            <a:p>
              <a:pPr lvl="0" algn="ctr">
                <a:buClrTx/>
                <a:buSzTx/>
                <a:buFontTx/>
              </a:pPr>
              <a:r>
                <a:rPr lang="zh-CN" altLang="en-US" b="1" dirty="0">
                  <a:solidFill>
                    <a:srgbClr val="FFFFFF"/>
                  </a:solidFill>
                  <a:latin typeface="微软雅黑" panose="020B0503020204020204" charset="-122"/>
                  <a:ea typeface="微软雅黑" panose="020B0503020204020204" charset="-122"/>
                  <a:cs typeface="微软雅黑" panose="020B0503020204020204" charset="-122"/>
                  <a:sym typeface="+mn-ea"/>
                </a:rPr>
                <a:t> ① 规划蓄水期</a:t>
              </a:r>
              <a:endParaRPr lang="zh-CN" altLang="en-US" b="1"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53" name="圆角矩形 52"/>
            <p:cNvSpPr/>
            <p:nvPr>
              <p:custDataLst>
                <p:tags r:id="rId31"/>
              </p:custDataLst>
            </p:nvPr>
          </p:nvSpPr>
          <p:spPr>
            <a:xfrm>
              <a:off x="2698" y="2796"/>
              <a:ext cx="4022" cy="2244"/>
            </a:xfrm>
            <a:prstGeom prst="roundRect">
              <a:avLst>
                <a:gd name="adj" fmla="val 5927"/>
              </a:avLst>
            </a:prstGeom>
            <a:solidFill>
              <a:schemeClr val="tx2">
                <a:lumMod val="20000"/>
                <a:lumOff val="80000"/>
                <a:alpha val="20000"/>
              </a:schemeClr>
            </a:solidFill>
            <a:ln w="15875" cap="flat">
              <a:solidFill>
                <a:schemeClr val="tx2">
                  <a:lumMod val="20000"/>
                  <a:lumOff val="80000"/>
                </a:schemeClr>
              </a:solid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custDataLst>
                <p:tags r:id="rId32"/>
              </p:custDataLst>
            </p:nvPr>
          </p:nvSpPr>
          <p:spPr>
            <a:xfrm>
              <a:off x="2864" y="2915"/>
              <a:ext cx="3689" cy="2042"/>
            </a:xfrm>
            <a:prstGeom prst="rect">
              <a:avLst/>
            </a:prstGeom>
            <a:noFill/>
            <a:ln>
              <a:noFill/>
            </a:ln>
          </p:spPr>
          <p:txBody>
            <a:bodyPr wrap="square" rtlCol="0">
              <a:spAutoFit/>
            </a:bodyPr>
            <a:lstStyle/>
            <a:p>
              <a:pPr indent="0" fontAlgn="auto">
                <a:lnSpc>
                  <a:spcPts val="1400"/>
                </a:lnSpc>
                <a:spcAft>
                  <a:spcPts val="1000"/>
                </a:spcAft>
              </a:pP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阶段目标：</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完成年度策略拆解与资源盘点，保障春节假期业务平稳过渡，为</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Q1</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淡季蓄力。</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a:p>
              <a:pPr indent="0" fontAlgn="auto">
                <a:lnSpc>
                  <a:spcPts val="1400"/>
                </a:lnSpc>
                <a:spcAft>
                  <a:spcPts val="1000"/>
                </a:spcAft>
              </a:pP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完成情况：</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输出年度运营日历及</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A/B</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测试框架；春节期间</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DAU</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仅下降</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5%</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，节后回流率达</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85%</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，超预期。</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grpSp>
      <p:grpSp>
        <p:nvGrpSpPr>
          <p:cNvPr id="59" name="组合 58"/>
          <p:cNvGrpSpPr/>
          <p:nvPr/>
        </p:nvGrpSpPr>
        <p:grpSpPr>
          <a:xfrm>
            <a:off x="5345430" y="1217295"/>
            <a:ext cx="2556510" cy="1983105"/>
            <a:chOff x="8418" y="1801"/>
            <a:chExt cx="4026" cy="3123"/>
          </a:xfrm>
        </p:grpSpPr>
        <p:sp>
          <p:nvSpPr>
            <p:cNvPr id="56" name="任意形状 19"/>
            <p:cNvSpPr/>
            <p:nvPr>
              <p:custDataLst>
                <p:tags r:id="rId33"/>
              </p:custDataLst>
            </p:nvPr>
          </p:nvSpPr>
          <p:spPr>
            <a:xfrm>
              <a:off x="8420" y="1801"/>
              <a:ext cx="4024" cy="661"/>
            </a:xfrm>
            <a:custGeom>
              <a:avLst/>
              <a:gdLst>
                <a:gd name="connsiteX0" fmla="*/ 0 w 2554223"/>
                <a:gd name="connsiteY0" fmla="*/ 0 h 311658"/>
                <a:gd name="connsiteX1" fmla="*/ 2554224 w 2554223"/>
                <a:gd name="connsiteY1" fmla="*/ 0 h 311658"/>
                <a:gd name="connsiteX2" fmla="*/ 2554224 w 2554223"/>
                <a:gd name="connsiteY2" fmla="*/ 311658 h 311658"/>
                <a:gd name="connsiteX3" fmla="*/ 0 w 2554223"/>
                <a:gd name="connsiteY3" fmla="*/ 311658 h 311658"/>
              </a:gdLst>
              <a:ahLst/>
              <a:cxnLst>
                <a:cxn ang="0">
                  <a:pos x="connsiteX0" y="connsiteY0"/>
                </a:cxn>
                <a:cxn ang="0">
                  <a:pos x="connsiteX1" y="connsiteY1"/>
                </a:cxn>
                <a:cxn ang="0">
                  <a:pos x="connsiteX2" y="connsiteY2"/>
                </a:cxn>
                <a:cxn ang="0">
                  <a:pos x="connsiteX3" y="connsiteY3"/>
                </a:cxn>
              </a:cxnLst>
              <a:rect l="l" t="t" r="r" b="b"/>
              <a:pathLst>
                <a:path w="2554223" h="311658">
                  <a:moveTo>
                    <a:pt x="0" y="0"/>
                  </a:moveTo>
                  <a:lnTo>
                    <a:pt x="2554224" y="0"/>
                  </a:lnTo>
                  <a:lnTo>
                    <a:pt x="2554224" y="311658"/>
                  </a:lnTo>
                  <a:lnTo>
                    <a:pt x="0" y="311658"/>
                  </a:lnTo>
                  <a:close/>
                </a:path>
              </a:pathLst>
            </a:custGeom>
            <a:gradFill>
              <a:gsLst>
                <a:gs pos="100000">
                  <a:schemeClr val="accent1"/>
                </a:gs>
                <a:gs pos="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77615" tIns="115887" rIns="163548" bIns="115888" numCol="1" spcCol="0" rtlCol="0" fromWordArt="0" anchor="ctr" anchorCtr="0" forceAA="0" compatLnSpc="1">
              <a:noAutofit/>
            </a:bodyPr>
            <a:lstStyle/>
            <a:p>
              <a:pPr lvl="0" algn="ctr">
                <a:buClrTx/>
                <a:buSzTx/>
                <a:buFontTx/>
              </a:pPr>
              <a:r>
                <a:rPr lang="zh-CN" altLang="en-US" b="1" dirty="0">
                  <a:solidFill>
                    <a:srgbClr val="FFFFFF"/>
                  </a:solidFill>
                  <a:latin typeface="微软雅黑" panose="020B0503020204020204" charset="-122"/>
                  <a:ea typeface="微软雅黑" panose="020B0503020204020204" charset="-122"/>
                  <a:cs typeface="微软雅黑" panose="020B0503020204020204" charset="-122"/>
                  <a:sym typeface="+mn-ea"/>
                </a:rPr>
                <a:t> ③ 爆发增长期</a:t>
              </a:r>
              <a:endParaRPr lang="zh-CN" altLang="en-US" b="1"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57" name="圆角矩形 56"/>
            <p:cNvSpPr/>
            <p:nvPr>
              <p:custDataLst>
                <p:tags r:id="rId34"/>
              </p:custDataLst>
            </p:nvPr>
          </p:nvSpPr>
          <p:spPr>
            <a:xfrm>
              <a:off x="8418" y="2680"/>
              <a:ext cx="4022" cy="2244"/>
            </a:xfrm>
            <a:prstGeom prst="roundRect">
              <a:avLst>
                <a:gd name="adj" fmla="val 5927"/>
              </a:avLst>
            </a:prstGeom>
            <a:solidFill>
              <a:schemeClr val="tx2">
                <a:lumMod val="20000"/>
                <a:lumOff val="80000"/>
                <a:alpha val="20000"/>
              </a:schemeClr>
            </a:solidFill>
            <a:ln w="15875" cap="flat">
              <a:solidFill>
                <a:schemeClr val="tx2">
                  <a:lumMod val="20000"/>
                  <a:lumOff val="80000"/>
                </a:schemeClr>
              </a:solid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8" name="文本框 57"/>
            <p:cNvSpPr txBox="1"/>
            <p:nvPr>
              <p:custDataLst>
                <p:tags r:id="rId35"/>
              </p:custDataLst>
            </p:nvPr>
          </p:nvSpPr>
          <p:spPr>
            <a:xfrm>
              <a:off x="8584" y="2799"/>
              <a:ext cx="3689" cy="2042"/>
            </a:xfrm>
            <a:prstGeom prst="rect">
              <a:avLst/>
            </a:prstGeom>
            <a:noFill/>
            <a:ln>
              <a:noFill/>
            </a:ln>
          </p:spPr>
          <p:txBody>
            <a:bodyPr wrap="square" rtlCol="0">
              <a:spAutoFit/>
            </a:bodyPr>
            <a:lstStyle/>
            <a:p>
              <a:pPr indent="0" fontAlgn="auto">
                <a:lnSpc>
                  <a:spcPts val="1400"/>
                </a:lnSpc>
                <a:spcAft>
                  <a:spcPts val="1000"/>
                </a:spcAft>
              </a:pP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阶段目标：</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借势</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618</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大促，通过多渠道投放与裂变玩法，实现用户规模与</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GMV</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的双重突破。</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a:p>
              <a:pPr indent="0" fontAlgn="auto">
                <a:lnSpc>
                  <a:spcPts val="1400"/>
                </a:lnSpc>
                <a:spcAft>
                  <a:spcPts val="1000"/>
                </a:spcAft>
              </a:pP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完成情况：</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新增用户环比增长</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80%</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618</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期间</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GMV</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创历史新高，同比增长</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120%</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，转化率达</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8.5%</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grpSp>
      <p:grpSp>
        <p:nvGrpSpPr>
          <p:cNvPr id="63" name="组合 62"/>
          <p:cNvGrpSpPr/>
          <p:nvPr/>
        </p:nvGrpSpPr>
        <p:grpSpPr>
          <a:xfrm>
            <a:off x="8735695" y="1217295"/>
            <a:ext cx="2556510" cy="1983105"/>
            <a:chOff x="13757" y="1780"/>
            <a:chExt cx="4026" cy="3123"/>
          </a:xfrm>
        </p:grpSpPr>
        <p:sp>
          <p:nvSpPr>
            <p:cNvPr id="60" name="任意形状 19"/>
            <p:cNvSpPr/>
            <p:nvPr>
              <p:custDataLst>
                <p:tags r:id="rId36"/>
              </p:custDataLst>
            </p:nvPr>
          </p:nvSpPr>
          <p:spPr>
            <a:xfrm>
              <a:off x="13759" y="1780"/>
              <a:ext cx="4024" cy="661"/>
            </a:xfrm>
            <a:custGeom>
              <a:avLst/>
              <a:gdLst>
                <a:gd name="connsiteX0" fmla="*/ 0 w 2554223"/>
                <a:gd name="connsiteY0" fmla="*/ 0 h 311658"/>
                <a:gd name="connsiteX1" fmla="*/ 2554224 w 2554223"/>
                <a:gd name="connsiteY1" fmla="*/ 0 h 311658"/>
                <a:gd name="connsiteX2" fmla="*/ 2554224 w 2554223"/>
                <a:gd name="connsiteY2" fmla="*/ 311658 h 311658"/>
                <a:gd name="connsiteX3" fmla="*/ 0 w 2554223"/>
                <a:gd name="connsiteY3" fmla="*/ 311658 h 311658"/>
              </a:gdLst>
              <a:ahLst/>
              <a:cxnLst>
                <a:cxn ang="0">
                  <a:pos x="connsiteX0" y="connsiteY0"/>
                </a:cxn>
                <a:cxn ang="0">
                  <a:pos x="connsiteX1" y="connsiteY1"/>
                </a:cxn>
                <a:cxn ang="0">
                  <a:pos x="connsiteX2" y="connsiteY2"/>
                </a:cxn>
                <a:cxn ang="0">
                  <a:pos x="connsiteX3" y="connsiteY3"/>
                </a:cxn>
              </a:cxnLst>
              <a:rect l="l" t="t" r="r" b="b"/>
              <a:pathLst>
                <a:path w="2554223" h="311658">
                  <a:moveTo>
                    <a:pt x="0" y="0"/>
                  </a:moveTo>
                  <a:lnTo>
                    <a:pt x="2554224" y="0"/>
                  </a:lnTo>
                  <a:lnTo>
                    <a:pt x="2554224" y="311658"/>
                  </a:lnTo>
                  <a:lnTo>
                    <a:pt x="0" y="311658"/>
                  </a:lnTo>
                  <a:close/>
                </a:path>
              </a:pathLst>
            </a:custGeom>
            <a:gradFill>
              <a:gsLst>
                <a:gs pos="100000">
                  <a:schemeClr val="accent1"/>
                </a:gs>
                <a:gs pos="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77615" tIns="115887" rIns="163548" bIns="115888" numCol="1" spcCol="0" rtlCol="0" fromWordArt="0" anchor="ctr" anchorCtr="0" forceAA="0" compatLnSpc="1">
              <a:noAutofit/>
            </a:bodyPr>
            <a:lstStyle/>
            <a:p>
              <a:pPr lvl="0" algn="ctr">
                <a:buClrTx/>
                <a:buSzTx/>
                <a:buFontTx/>
              </a:pPr>
              <a:r>
                <a:rPr lang="zh-CN" altLang="en-US" b="1" dirty="0">
                  <a:solidFill>
                    <a:srgbClr val="FFFFFF"/>
                  </a:solidFill>
                  <a:latin typeface="微软雅黑" panose="020B0503020204020204" charset="-122"/>
                  <a:ea typeface="微软雅黑" panose="020B0503020204020204" charset="-122"/>
                  <a:cs typeface="微软雅黑" panose="020B0503020204020204" charset="-122"/>
                  <a:sym typeface="+mn-ea"/>
                </a:rPr>
                <a:t>⑤ 双11备战期</a:t>
              </a:r>
              <a:endParaRPr lang="zh-CN" altLang="en-US" b="1"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61" name="圆角矩形 60"/>
            <p:cNvSpPr/>
            <p:nvPr>
              <p:custDataLst>
                <p:tags r:id="rId37"/>
              </p:custDataLst>
            </p:nvPr>
          </p:nvSpPr>
          <p:spPr>
            <a:xfrm>
              <a:off x="13757" y="2659"/>
              <a:ext cx="4022" cy="2244"/>
            </a:xfrm>
            <a:prstGeom prst="roundRect">
              <a:avLst>
                <a:gd name="adj" fmla="val 5927"/>
              </a:avLst>
            </a:prstGeom>
            <a:solidFill>
              <a:schemeClr val="tx2">
                <a:lumMod val="20000"/>
                <a:lumOff val="80000"/>
                <a:alpha val="20000"/>
              </a:schemeClr>
            </a:solidFill>
            <a:ln w="15875" cap="flat">
              <a:solidFill>
                <a:schemeClr val="tx2">
                  <a:lumMod val="20000"/>
                  <a:lumOff val="80000"/>
                </a:schemeClr>
              </a:solid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62" name="文本框 61"/>
            <p:cNvSpPr txBox="1"/>
            <p:nvPr>
              <p:custDataLst>
                <p:tags r:id="rId38"/>
              </p:custDataLst>
            </p:nvPr>
          </p:nvSpPr>
          <p:spPr>
            <a:xfrm>
              <a:off x="13923" y="2778"/>
              <a:ext cx="3689" cy="2042"/>
            </a:xfrm>
            <a:prstGeom prst="rect">
              <a:avLst/>
            </a:prstGeom>
            <a:noFill/>
            <a:ln>
              <a:noFill/>
            </a:ln>
          </p:spPr>
          <p:txBody>
            <a:bodyPr wrap="square" rtlCol="0">
              <a:spAutoFit/>
            </a:bodyPr>
            <a:lstStyle/>
            <a:p>
              <a:pPr indent="0" fontAlgn="auto">
                <a:lnSpc>
                  <a:spcPts val="1400"/>
                </a:lnSpc>
                <a:spcAft>
                  <a:spcPts val="1000"/>
                </a:spcAft>
              </a:pP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阶段目标：</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筹备双</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11</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大促资源，优化预售玩法与直播矩阵，完成流量蓄水与供应链协同。</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a:p>
              <a:pPr indent="0" fontAlgn="auto">
                <a:lnSpc>
                  <a:spcPts val="1400"/>
                </a:lnSpc>
                <a:spcAft>
                  <a:spcPts val="1000"/>
                </a:spcAft>
              </a:pP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完成情况：</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锁定头部主播合作，预售期定金转化率达</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35%</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；页面</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UV</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蓄水池达</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500</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万，为爆发奠定基础。</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grpSp>
      <p:cxnSp>
        <p:nvCxnSpPr>
          <p:cNvPr id="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8738235" y="348615"/>
            <a:ext cx="3219450" cy="332740"/>
            <a:chOff x="13761" y="549"/>
            <a:chExt cx="5070" cy="524"/>
          </a:xfrm>
        </p:grpSpPr>
        <p:pic>
          <p:nvPicPr>
            <p:cNvPr id="20" name="图片 19"/>
            <p:cNvPicPr>
              <a:picLocks noChangeAspect="1"/>
            </p:cNvPicPr>
            <p:nvPr userDrawn="1"/>
          </p:nvPicPr>
          <p:blipFill>
            <a:blip r:embed="rId39"/>
            <a:srcRect l="17002" t="-1765" r="56499" b="-1176"/>
            <a:stretch>
              <a:fillRect/>
            </a:stretch>
          </p:blipFill>
          <p:spPr>
            <a:xfrm>
              <a:off x="13761" y="549"/>
              <a:ext cx="1582" cy="525"/>
            </a:xfrm>
            <a:prstGeom prst="rect">
              <a:avLst/>
            </a:prstGeom>
          </p:spPr>
        </p:pic>
        <p:sp>
          <p:nvSpPr>
            <p:cNvPr id="21" name="文本框 20"/>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95694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产品研发年度</a:t>
            </a:r>
            <a:r>
              <a:rPr sz="2500">
                <a:solidFill>
                  <a:schemeClr val="tx2"/>
                </a:solidFill>
                <a:effectLst/>
                <a:latin typeface="微软雅黑" panose="020B0503020204020204" charset="-122"/>
                <a:ea typeface="微软雅黑" panose="020B0503020204020204" charset="-122"/>
                <a:cs typeface="微软雅黑" panose="020B0503020204020204" charset="-122"/>
                <a:sym typeface="+mn-ea"/>
              </a:rPr>
              <a:t>工作汇报</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4" name="任意形状 13"/>
          <p:cNvSpPr/>
          <p:nvPr/>
        </p:nvSpPr>
        <p:spPr>
          <a:xfrm>
            <a:off x="196850" y="3649980"/>
            <a:ext cx="11418570" cy="331470"/>
          </a:xfrm>
          <a:custGeom>
            <a:avLst/>
            <a:gdLst>
              <a:gd name="connsiteX0" fmla="*/ 0 w 11266169"/>
              <a:gd name="connsiteY0" fmla="*/ 0 h 331470"/>
              <a:gd name="connsiteX1" fmla="*/ 0 w 11266169"/>
              <a:gd name="connsiteY1" fmla="*/ 166370 h 331470"/>
              <a:gd name="connsiteX2" fmla="*/ 0 w 11266169"/>
              <a:gd name="connsiteY2" fmla="*/ 331470 h 331470"/>
              <a:gd name="connsiteX3" fmla="*/ 11176000 w 11266169"/>
              <a:gd name="connsiteY3" fmla="*/ 331470 h 331470"/>
              <a:gd name="connsiteX4" fmla="*/ 11266170 w 11266169"/>
              <a:gd name="connsiteY4" fmla="*/ 166370 h 331470"/>
              <a:gd name="connsiteX5" fmla="*/ 11176000 w 11266169"/>
              <a:gd name="connsiteY5" fmla="*/ 0 h 33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66169" h="331470">
                <a:moveTo>
                  <a:pt x="0" y="0"/>
                </a:moveTo>
                <a:lnTo>
                  <a:pt x="0" y="166370"/>
                </a:lnTo>
                <a:lnTo>
                  <a:pt x="0" y="331470"/>
                </a:lnTo>
                <a:lnTo>
                  <a:pt x="11176000" y="331470"/>
                </a:lnTo>
                <a:lnTo>
                  <a:pt x="11266170" y="166370"/>
                </a:lnTo>
                <a:lnTo>
                  <a:pt x="11176000" y="0"/>
                </a:lnTo>
                <a:close/>
              </a:path>
            </a:pathLst>
          </a:custGeom>
          <a:gradFill>
            <a:gsLst>
              <a:gs pos="0">
                <a:schemeClr val="accent1">
                  <a:lumMod val="20000"/>
                  <a:lumOff val="80000"/>
                </a:schemeClr>
              </a:gs>
              <a:gs pos="99000">
                <a:schemeClr val="accent1">
                  <a:lumMod val="40000"/>
                  <a:lumOff val="60000"/>
                </a:schemeClr>
              </a:gs>
            </a:gsLst>
            <a:lin ang="0" scaled="0"/>
          </a:gradFill>
          <a:ln w="12700"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20" name="图形 8"/>
          <p:cNvGrpSpPr/>
          <p:nvPr/>
        </p:nvGrpSpPr>
        <p:grpSpPr>
          <a:xfrm>
            <a:off x="252730" y="3256280"/>
            <a:ext cx="311150" cy="166370"/>
            <a:chOff x="659130" y="3732530"/>
            <a:chExt cx="311150" cy="166370"/>
          </a:xfrm>
          <a:gradFill>
            <a:gsLst>
              <a:gs pos="0">
                <a:schemeClr val="accent1">
                  <a:lumMod val="60000"/>
                  <a:lumOff val="40000"/>
                </a:schemeClr>
              </a:gs>
              <a:gs pos="99000">
                <a:schemeClr val="accent1"/>
              </a:gs>
            </a:gsLst>
            <a:lin ang="0" scaled="0"/>
          </a:gradFill>
        </p:grpSpPr>
        <p:sp>
          <p:nvSpPr>
            <p:cNvPr id="21" name="任意形状 16"/>
            <p:cNvSpPr/>
            <p:nvPr/>
          </p:nvSpPr>
          <p:spPr>
            <a:xfrm>
              <a:off x="762000" y="3732530"/>
              <a:ext cx="104139" cy="166370"/>
            </a:xfrm>
            <a:custGeom>
              <a:avLst/>
              <a:gdLst>
                <a:gd name="connsiteX0" fmla="*/ 58420 w 104139"/>
                <a:gd name="connsiteY0" fmla="*/ 0 h 166370"/>
                <a:gd name="connsiteX1" fmla="*/ 0 w 104139"/>
                <a:gd name="connsiteY1" fmla="*/ 0 h 166370"/>
                <a:gd name="connsiteX2" fmla="*/ 45720 w 104139"/>
                <a:gd name="connsiteY2" fmla="*/ 83820 h 166370"/>
                <a:gd name="connsiteX3" fmla="*/ 0 w 104139"/>
                <a:gd name="connsiteY3" fmla="*/ 166370 h 166370"/>
                <a:gd name="connsiteX4" fmla="*/ 58420 w 104139"/>
                <a:gd name="connsiteY4" fmla="*/ 166370 h 166370"/>
                <a:gd name="connsiteX5" fmla="*/ 104140 w 104139"/>
                <a:gd name="connsiteY5" fmla="*/ 83820 h 166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139" h="166370">
                  <a:moveTo>
                    <a:pt x="58420" y="0"/>
                  </a:moveTo>
                  <a:lnTo>
                    <a:pt x="0" y="0"/>
                  </a:lnTo>
                  <a:lnTo>
                    <a:pt x="45720" y="83820"/>
                  </a:lnTo>
                  <a:lnTo>
                    <a:pt x="0" y="166370"/>
                  </a:lnTo>
                  <a:lnTo>
                    <a:pt x="58420" y="166370"/>
                  </a:lnTo>
                  <a:lnTo>
                    <a:pt x="104140" y="83820"/>
                  </a:lnTo>
                  <a:close/>
                </a:path>
              </a:pathLst>
            </a:custGeom>
            <a:grpFill/>
            <a:ln w="12700"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4" name="任意形状 17"/>
            <p:cNvSpPr/>
            <p:nvPr/>
          </p:nvSpPr>
          <p:spPr>
            <a:xfrm>
              <a:off x="866139" y="3732530"/>
              <a:ext cx="104140" cy="166370"/>
            </a:xfrm>
            <a:custGeom>
              <a:avLst/>
              <a:gdLst>
                <a:gd name="connsiteX0" fmla="*/ 58420 w 104140"/>
                <a:gd name="connsiteY0" fmla="*/ 0 h 166370"/>
                <a:gd name="connsiteX1" fmla="*/ 0 w 104140"/>
                <a:gd name="connsiteY1" fmla="*/ 0 h 166370"/>
                <a:gd name="connsiteX2" fmla="*/ 44450 w 104140"/>
                <a:gd name="connsiteY2" fmla="*/ 83820 h 166370"/>
                <a:gd name="connsiteX3" fmla="*/ 0 w 104140"/>
                <a:gd name="connsiteY3" fmla="*/ 166370 h 166370"/>
                <a:gd name="connsiteX4" fmla="*/ 58420 w 104140"/>
                <a:gd name="connsiteY4" fmla="*/ 166370 h 166370"/>
                <a:gd name="connsiteX5" fmla="*/ 104140 w 104140"/>
                <a:gd name="connsiteY5" fmla="*/ 83820 h 166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140" h="166370">
                  <a:moveTo>
                    <a:pt x="58420" y="0"/>
                  </a:moveTo>
                  <a:lnTo>
                    <a:pt x="0" y="0"/>
                  </a:lnTo>
                  <a:lnTo>
                    <a:pt x="44450" y="83820"/>
                  </a:lnTo>
                  <a:lnTo>
                    <a:pt x="0" y="166370"/>
                  </a:lnTo>
                  <a:lnTo>
                    <a:pt x="58420" y="166370"/>
                  </a:lnTo>
                  <a:lnTo>
                    <a:pt x="104140" y="83820"/>
                  </a:lnTo>
                  <a:close/>
                </a:path>
              </a:pathLst>
            </a:custGeom>
            <a:grpFill/>
            <a:ln w="12700"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5" name="任意形状 19"/>
            <p:cNvSpPr/>
            <p:nvPr/>
          </p:nvSpPr>
          <p:spPr>
            <a:xfrm>
              <a:off x="659130" y="3732530"/>
              <a:ext cx="102869" cy="166370"/>
            </a:xfrm>
            <a:custGeom>
              <a:avLst/>
              <a:gdLst>
                <a:gd name="connsiteX0" fmla="*/ 58420 w 102869"/>
                <a:gd name="connsiteY0" fmla="*/ 0 h 166370"/>
                <a:gd name="connsiteX1" fmla="*/ 0 w 102869"/>
                <a:gd name="connsiteY1" fmla="*/ 0 h 166370"/>
                <a:gd name="connsiteX2" fmla="*/ 44450 w 102869"/>
                <a:gd name="connsiteY2" fmla="*/ 83820 h 166370"/>
                <a:gd name="connsiteX3" fmla="*/ 0 w 102869"/>
                <a:gd name="connsiteY3" fmla="*/ 166370 h 166370"/>
                <a:gd name="connsiteX4" fmla="*/ 58420 w 102869"/>
                <a:gd name="connsiteY4" fmla="*/ 166370 h 166370"/>
                <a:gd name="connsiteX5" fmla="*/ 102870 w 102869"/>
                <a:gd name="connsiteY5" fmla="*/ 83820 h 166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869" h="166370">
                  <a:moveTo>
                    <a:pt x="58420" y="0"/>
                  </a:moveTo>
                  <a:lnTo>
                    <a:pt x="0" y="0"/>
                  </a:lnTo>
                  <a:lnTo>
                    <a:pt x="44450" y="83820"/>
                  </a:lnTo>
                  <a:lnTo>
                    <a:pt x="0" y="166370"/>
                  </a:lnTo>
                  <a:lnTo>
                    <a:pt x="58420" y="166370"/>
                  </a:lnTo>
                  <a:lnTo>
                    <a:pt x="102870" y="83820"/>
                  </a:lnTo>
                  <a:close/>
                </a:path>
              </a:pathLst>
            </a:custGeom>
            <a:grpFill/>
            <a:ln w="12700"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109" name="组合 108"/>
          <p:cNvGrpSpPr/>
          <p:nvPr/>
        </p:nvGrpSpPr>
        <p:grpSpPr>
          <a:xfrm>
            <a:off x="949960" y="1092835"/>
            <a:ext cx="1590675" cy="2263140"/>
            <a:chOff x="2090" y="1721"/>
            <a:chExt cx="2505" cy="3564"/>
          </a:xfrm>
        </p:grpSpPr>
        <p:sp>
          <p:nvSpPr>
            <p:cNvPr id="106" name="任意形状 23"/>
            <p:cNvSpPr/>
            <p:nvPr/>
          </p:nvSpPr>
          <p:spPr>
            <a:xfrm>
              <a:off x="2090" y="1721"/>
              <a:ext cx="20" cy="3564"/>
            </a:xfrm>
            <a:custGeom>
              <a:avLst/>
              <a:gdLst>
                <a:gd name="connsiteX0" fmla="*/ 0 w 12700"/>
                <a:gd name="connsiteY0" fmla="*/ 2263140 h 2263140"/>
                <a:gd name="connsiteX1" fmla="*/ 0 w 12700"/>
                <a:gd name="connsiteY1" fmla="*/ 0 h 2263140"/>
              </a:gdLst>
              <a:ahLst/>
              <a:cxnLst>
                <a:cxn ang="0">
                  <a:pos x="connsiteX0" y="connsiteY0"/>
                </a:cxn>
                <a:cxn ang="0">
                  <a:pos x="connsiteX1" y="connsiteY1"/>
                </a:cxn>
              </a:cxnLst>
              <a:rect l="l" t="t" r="r" b="b"/>
              <a:pathLst>
                <a:path w="12700" h="2263140">
                  <a:moveTo>
                    <a:pt x="0" y="2263140"/>
                  </a:moveTo>
                  <a:lnTo>
                    <a:pt x="0" y="0"/>
                  </a:lnTo>
                </a:path>
              </a:pathLst>
            </a:custGeom>
            <a:ln w="15875" cap="flat">
              <a:solidFill>
                <a:schemeClr val="tx2">
                  <a:lumMod val="60000"/>
                  <a:lumOff val="40000"/>
                </a:schemeClr>
              </a:solidFill>
              <a:prstDash val="dash"/>
              <a:miter/>
              <a:tailEnd type="oval"/>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07" name="文本框 106"/>
            <p:cNvSpPr txBox="1"/>
            <p:nvPr/>
          </p:nvSpPr>
          <p:spPr>
            <a:xfrm>
              <a:off x="2151" y="2766"/>
              <a:ext cx="2444" cy="1981"/>
            </a:xfrm>
            <a:prstGeom prst="rect">
              <a:avLst/>
            </a:prstGeom>
            <a:noFill/>
          </p:spPr>
          <p:txBody>
            <a:bodyPr wrap="square" rtlCol="0">
              <a:spAutoFit/>
            </a:bodyPr>
            <a:lstStyle/>
            <a:p>
              <a:pPr algn="just">
                <a:lnSpc>
                  <a:spcPct val="150000"/>
                </a:lnSpc>
                <a:spcAft>
                  <a:spcPts val="1000"/>
                </a:spcAft>
              </a:pPr>
              <a:r>
                <a:rPr kumimoji="1" lang="zh-CN" altLang="en-US" sz="900" b="1" dirty="0">
                  <a:solidFill>
                    <a:schemeClr val="tx1">
                      <a:alpha val="80000"/>
                    </a:schemeClr>
                  </a:solidFill>
                  <a:latin typeface="微软雅黑" panose="020B0503020204020204" charset="-122"/>
                  <a:ea typeface="微软雅黑" panose="020B0503020204020204" charset="-122"/>
                  <a:cs typeface="微软雅黑" panose="020B0503020204020204" charset="-122"/>
                </a:rPr>
                <a:t>阶段目标：</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完成年度规划，明确</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Q1</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优先级；</a:t>
              </a:r>
              <a:endPar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a:p>
              <a:pPr algn="just">
                <a:lnSpc>
                  <a:spcPct val="150000"/>
                </a:lnSpc>
                <a:spcAft>
                  <a:spcPts val="1000"/>
                </a:spcAft>
              </a:pPr>
              <a:r>
                <a:rPr kumimoji="1" lang="zh-CN" altLang="en-US" sz="900" b="1" dirty="0">
                  <a:solidFill>
                    <a:schemeClr val="tx1">
                      <a:alpha val="80000"/>
                    </a:schemeClr>
                  </a:solidFill>
                  <a:latin typeface="微软雅黑" panose="020B0503020204020204" charset="-122"/>
                  <a:ea typeface="微软雅黑" panose="020B0503020204020204" charset="-122"/>
                  <a:cs typeface="微软雅黑" panose="020B0503020204020204" charset="-122"/>
                </a:rPr>
                <a:t>完成情况：</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输出年度产品路线图，确定</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3</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个核心项目排期，完成去年复盘报告。</a:t>
              </a:r>
              <a:endPar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p:txBody>
        </p:sp>
        <p:sp>
          <p:nvSpPr>
            <p:cNvPr id="108" name="文本框 107"/>
            <p:cNvSpPr txBox="1"/>
            <p:nvPr/>
          </p:nvSpPr>
          <p:spPr>
            <a:xfrm>
              <a:off x="2151" y="2116"/>
              <a:ext cx="2383" cy="652"/>
            </a:xfrm>
            <a:prstGeom prst="rect">
              <a:avLst/>
            </a:prstGeom>
            <a:noFill/>
          </p:spPr>
          <p:txBody>
            <a:bodyPr wrap="square" rtlCol="0">
              <a:spAutoFit/>
            </a:bodyPr>
            <a:lstStyle/>
            <a:p>
              <a:pPr algn="just">
                <a:lnSpc>
                  <a:spcPct val="150000"/>
                </a:lnSpc>
                <a:spcAft>
                  <a:spcPts val="1000"/>
                </a:spcAft>
              </a:pPr>
              <a:r>
                <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规划与复盘</a:t>
              </a:r>
              <a:endPar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grpSp>
      <p:grpSp>
        <p:nvGrpSpPr>
          <p:cNvPr id="110" name="组合 109"/>
          <p:cNvGrpSpPr/>
          <p:nvPr/>
        </p:nvGrpSpPr>
        <p:grpSpPr>
          <a:xfrm>
            <a:off x="2711450" y="1092835"/>
            <a:ext cx="1590675" cy="2263140"/>
            <a:chOff x="2090" y="1721"/>
            <a:chExt cx="2505" cy="3564"/>
          </a:xfrm>
        </p:grpSpPr>
        <p:sp>
          <p:nvSpPr>
            <p:cNvPr id="111" name="任意形状 23"/>
            <p:cNvSpPr/>
            <p:nvPr/>
          </p:nvSpPr>
          <p:spPr>
            <a:xfrm>
              <a:off x="2090" y="1721"/>
              <a:ext cx="20" cy="3564"/>
            </a:xfrm>
            <a:custGeom>
              <a:avLst/>
              <a:gdLst>
                <a:gd name="connsiteX0" fmla="*/ 0 w 12700"/>
                <a:gd name="connsiteY0" fmla="*/ 2263140 h 2263140"/>
                <a:gd name="connsiteX1" fmla="*/ 0 w 12700"/>
                <a:gd name="connsiteY1" fmla="*/ 0 h 2263140"/>
              </a:gdLst>
              <a:ahLst/>
              <a:cxnLst>
                <a:cxn ang="0">
                  <a:pos x="connsiteX0" y="connsiteY0"/>
                </a:cxn>
                <a:cxn ang="0">
                  <a:pos x="connsiteX1" y="connsiteY1"/>
                </a:cxn>
              </a:cxnLst>
              <a:rect l="l" t="t" r="r" b="b"/>
              <a:pathLst>
                <a:path w="12700" h="2263140">
                  <a:moveTo>
                    <a:pt x="0" y="2263140"/>
                  </a:moveTo>
                  <a:lnTo>
                    <a:pt x="0" y="0"/>
                  </a:lnTo>
                </a:path>
              </a:pathLst>
            </a:custGeom>
            <a:ln w="15875" cap="flat">
              <a:solidFill>
                <a:schemeClr val="tx2">
                  <a:lumMod val="60000"/>
                  <a:lumOff val="40000"/>
                </a:schemeClr>
              </a:solidFill>
              <a:prstDash val="dash"/>
              <a:miter/>
              <a:tailEnd type="oval"/>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12" name="文本框 111"/>
            <p:cNvSpPr txBox="1"/>
            <p:nvPr/>
          </p:nvSpPr>
          <p:spPr>
            <a:xfrm>
              <a:off x="2151" y="2766"/>
              <a:ext cx="2444" cy="1981"/>
            </a:xfrm>
            <a:prstGeom prst="rect">
              <a:avLst/>
            </a:prstGeom>
            <a:noFill/>
          </p:spPr>
          <p:txBody>
            <a:bodyPr wrap="square" rtlCol="0">
              <a:spAutoFit/>
            </a:bodyPr>
            <a:lstStyle/>
            <a:p>
              <a:pPr algn="just">
                <a:lnSpc>
                  <a:spcPct val="150000"/>
                </a:lnSpc>
                <a:spcAft>
                  <a:spcPts val="1000"/>
                </a:spcAft>
              </a:pPr>
              <a:r>
                <a:rPr kumimoji="1" lang="zh-CN" altLang="en-US" sz="900" b="1" dirty="0">
                  <a:solidFill>
                    <a:schemeClr val="tx1">
                      <a:alpha val="80000"/>
                    </a:schemeClr>
                  </a:solidFill>
                  <a:latin typeface="微软雅黑" panose="020B0503020204020204" charset="-122"/>
                  <a:ea typeface="微软雅黑" panose="020B0503020204020204" charset="-122"/>
                  <a:cs typeface="微软雅黑" panose="020B0503020204020204" charset="-122"/>
                </a:rPr>
                <a:t>阶段目标：</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梳理</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Q2</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需求池，启动用户调研；</a:t>
              </a:r>
              <a:endPar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a:p>
              <a:pPr algn="just">
                <a:lnSpc>
                  <a:spcPct val="150000"/>
                </a:lnSpc>
                <a:spcAft>
                  <a:spcPts val="1000"/>
                </a:spcAft>
              </a:pPr>
              <a:r>
                <a:rPr kumimoji="1" lang="zh-CN" altLang="en-US" sz="900" b="1" dirty="0">
                  <a:solidFill>
                    <a:schemeClr val="tx1">
                      <a:alpha val="80000"/>
                    </a:schemeClr>
                  </a:solidFill>
                  <a:latin typeface="微软雅黑" panose="020B0503020204020204" charset="-122"/>
                  <a:ea typeface="微软雅黑" panose="020B0503020204020204" charset="-122"/>
                  <a:cs typeface="微软雅黑" panose="020B0503020204020204" charset="-122"/>
                </a:rPr>
                <a:t>完成情况：</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输出</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Q2</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迭代计划，完成</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50+</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用户深度访谈，沉淀需求文档</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12</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份。</a:t>
              </a:r>
              <a:endPar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p:txBody>
        </p:sp>
        <p:sp>
          <p:nvSpPr>
            <p:cNvPr id="113" name="文本框 112"/>
            <p:cNvSpPr txBox="1"/>
            <p:nvPr/>
          </p:nvSpPr>
          <p:spPr>
            <a:xfrm>
              <a:off x="2151" y="2116"/>
              <a:ext cx="2383" cy="652"/>
            </a:xfrm>
            <a:prstGeom prst="rect">
              <a:avLst/>
            </a:prstGeom>
            <a:noFill/>
          </p:spPr>
          <p:txBody>
            <a:bodyPr wrap="square" rtlCol="0">
              <a:spAutoFit/>
            </a:bodyPr>
            <a:lstStyle/>
            <a:p>
              <a:pPr algn="just">
                <a:lnSpc>
                  <a:spcPct val="150000"/>
                </a:lnSpc>
                <a:spcAft>
                  <a:spcPts val="1000"/>
                </a:spcAft>
              </a:pPr>
              <a:r>
                <a:rPr kumimoji="1" lang="zh-CN" altLang="en-US"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需求梳理</a:t>
              </a:r>
              <a:endParaRPr kumimoji="1" lang="zh-CN" altLang="en-US"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114" name="组合 113"/>
          <p:cNvGrpSpPr/>
          <p:nvPr/>
        </p:nvGrpSpPr>
        <p:grpSpPr>
          <a:xfrm>
            <a:off x="4478020" y="1092835"/>
            <a:ext cx="1590675" cy="2263140"/>
            <a:chOff x="2090" y="1721"/>
            <a:chExt cx="2505" cy="3564"/>
          </a:xfrm>
        </p:grpSpPr>
        <p:sp>
          <p:nvSpPr>
            <p:cNvPr id="115" name="任意形状 23"/>
            <p:cNvSpPr/>
            <p:nvPr/>
          </p:nvSpPr>
          <p:spPr>
            <a:xfrm>
              <a:off x="2090" y="1721"/>
              <a:ext cx="20" cy="3564"/>
            </a:xfrm>
            <a:custGeom>
              <a:avLst/>
              <a:gdLst>
                <a:gd name="connsiteX0" fmla="*/ 0 w 12700"/>
                <a:gd name="connsiteY0" fmla="*/ 2263140 h 2263140"/>
                <a:gd name="connsiteX1" fmla="*/ 0 w 12700"/>
                <a:gd name="connsiteY1" fmla="*/ 0 h 2263140"/>
              </a:gdLst>
              <a:ahLst/>
              <a:cxnLst>
                <a:cxn ang="0">
                  <a:pos x="connsiteX0" y="connsiteY0"/>
                </a:cxn>
                <a:cxn ang="0">
                  <a:pos x="connsiteX1" y="connsiteY1"/>
                </a:cxn>
              </a:cxnLst>
              <a:rect l="l" t="t" r="r" b="b"/>
              <a:pathLst>
                <a:path w="12700" h="2263140">
                  <a:moveTo>
                    <a:pt x="0" y="2263140"/>
                  </a:moveTo>
                  <a:lnTo>
                    <a:pt x="0" y="0"/>
                  </a:lnTo>
                </a:path>
              </a:pathLst>
            </a:custGeom>
            <a:ln w="15875" cap="flat">
              <a:solidFill>
                <a:schemeClr val="tx2">
                  <a:lumMod val="60000"/>
                  <a:lumOff val="40000"/>
                </a:schemeClr>
              </a:solidFill>
              <a:prstDash val="dash"/>
              <a:miter/>
              <a:tailEnd type="oval"/>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16" name="文本框 115"/>
            <p:cNvSpPr txBox="1"/>
            <p:nvPr/>
          </p:nvSpPr>
          <p:spPr>
            <a:xfrm>
              <a:off x="2151" y="2766"/>
              <a:ext cx="2444" cy="1981"/>
            </a:xfrm>
            <a:prstGeom prst="rect">
              <a:avLst/>
            </a:prstGeom>
            <a:noFill/>
          </p:spPr>
          <p:txBody>
            <a:bodyPr wrap="square" rtlCol="0">
              <a:spAutoFit/>
            </a:bodyPr>
            <a:lstStyle/>
            <a:p>
              <a:pPr algn="just">
                <a:lnSpc>
                  <a:spcPct val="150000"/>
                </a:lnSpc>
                <a:spcAft>
                  <a:spcPts val="1000"/>
                </a:spcAft>
              </a:pPr>
              <a:r>
                <a:rPr kumimoji="1" lang="zh-CN" altLang="en-US" sz="900" b="1" dirty="0">
                  <a:solidFill>
                    <a:schemeClr val="tx1">
                      <a:alpha val="80000"/>
                    </a:schemeClr>
                  </a:solidFill>
                  <a:latin typeface="微软雅黑" panose="020B0503020204020204" charset="-122"/>
                  <a:ea typeface="微软雅黑" panose="020B0503020204020204" charset="-122"/>
                  <a:cs typeface="微软雅黑" panose="020B0503020204020204" charset="-122"/>
                </a:rPr>
                <a:t>阶段目标：</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优化注册流程，提升转化率；</a:t>
              </a:r>
              <a:endPar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a:p>
              <a:pPr algn="just">
                <a:lnSpc>
                  <a:spcPct val="150000"/>
                </a:lnSpc>
                <a:spcAft>
                  <a:spcPts val="1000"/>
                </a:spcAft>
              </a:pPr>
              <a:r>
                <a:rPr kumimoji="1" lang="zh-CN" altLang="en-US" sz="900" b="1" dirty="0">
                  <a:solidFill>
                    <a:schemeClr val="tx1">
                      <a:alpha val="80000"/>
                    </a:schemeClr>
                  </a:solidFill>
                  <a:latin typeface="微软雅黑" panose="020B0503020204020204" charset="-122"/>
                  <a:ea typeface="微软雅黑" panose="020B0503020204020204" charset="-122"/>
                  <a:cs typeface="微软雅黑" panose="020B0503020204020204" charset="-122"/>
                </a:rPr>
                <a:t>完成情况：</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注册转化率从</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65%</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提升至</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78%</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，平均注册时长缩短</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40</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秒。</a:t>
              </a:r>
              <a:endPar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p:txBody>
        </p:sp>
        <p:sp>
          <p:nvSpPr>
            <p:cNvPr id="117" name="文本框 116"/>
            <p:cNvSpPr txBox="1"/>
            <p:nvPr/>
          </p:nvSpPr>
          <p:spPr>
            <a:xfrm>
              <a:off x="2151" y="2116"/>
              <a:ext cx="2383" cy="652"/>
            </a:xfrm>
            <a:prstGeom prst="rect">
              <a:avLst/>
            </a:prstGeom>
            <a:noFill/>
          </p:spPr>
          <p:txBody>
            <a:bodyPr wrap="square" rtlCol="0">
              <a:spAutoFit/>
            </a:bodyPr>
            <a:lstStyle/>
            <a:p>
              <a:pPr algn="just">
                <a:lnSpc>
                  <a:spcPct val="150000"/>
                </a:lnSpc>
                <a:spcAft>
                  <a:spcPts val="1000"/>
                </a:spcAft>
              </a:pPr>
              <a:r>
                <a:rPr kumimoji="1" lang="zh-CN" altLang="en-US" sz="1400" b="1" dirty="0">
                  <a:solidFill>
                    <a:schemeClr val="accent5"/>
                  </a:solidFill>
                  <a:latin typeface="微软雅黑" panose="020B0503020204020204" charset="-122"/>
                  <a:ea typeface="微软雅黑" panose="020B0503020204020204" charset="-122"/>
                  <a:cs typeface="微软雅黑" panose="020B0503020204020204" charset="-122"/>
                </a:rPr>
                <a:t>体验</a:t>
              </a:r>
              <a:r>
                <a:rPr kumimoji="1" lang="zh-CN" altLang="en-US" sz="1400" b="1" dirty="0">
                  <a:solidFill>
                    <a:schemeClr val="accent5"/>
                  </a:solidFill>
                  <a:latin typeface="微软雅黑" panose="020B0503020204020204" charset="-122"/>
                  <a:ea typeface="微软雅黑" panose="020B0503020204020204" charset="-122"/>
                  <a:cs typeface="微软雅黑" panose="020B0503020204020204" charset="-122"/>
                  <a:sym typeface="+mn-ea"/>
                </a:rPr>
                <a:t>优化</a:t>
              </a:r>
              <a:endParaRPr kumimoji="1" lang="zh-CN" altLang="en-US" sz="1400" b="1" dirty="0">
                <a:solidFill>
                  <a:schemeClr val="accent5"/>
                </a:solidFill>
                <a:latin typeface="微软雅黑" panose="020B0503020204020204" charset="-122"/>
                <a:ea typeface="微软雅黑" panose="020B0503020204020204" charset="-122"/>
                <a:cs typeface="微软雅黑" panose="020B0503020204020204" charset="-122"/>
              </a:endParaRPr>
            </a:p>
          </p:txBody>
        </p:sp>
      </p:grpSp>
      <p:grpSp>
        <p:nvGrpSpPr>
          <p:cNvPr id="118" name="组合 117"/>
          <p:cNvGrpSpPr/>
          <p:nvPr/>
        </p:nvGrpSpPr>
        <p:grpSpPr>
          <a:xfrm>
            <a:off x="6210935" y="1092835"/>
            <a:ext cx="1590675" cy="2263140"/>
            <a:chOff x="2090" y="1721"/>
            <a:chExt cx="2505" cy="3564"/>
          </a:xfrm>
        </p:grpSpPr>
        <p:sp>
          <p:nvSpPr>
            <p:cNvPr id="119" name="任意形状 23"/>
            <p:cNvSpPr/>
            <p:nvPr/>
          </p:nvSpPr>
          <p:spPr>
            <a:xfrm>
              <a:off x="2090" y="1721"/>
              <a:ext cx="20" cy="3564"/>
            </a:xfrm>
            <a:custGeom>
              <a:avLst/>
              <a:gdLst>
                <a:gd name="connsiteX0" fmla="*/ 0 w 12700"/>
                <a:gd name="connsiteY0" fmla="*/ 2263140 h 2263140"/>
                <a:gd name="connsiteX1" fmla="*/ 0 w 12700"/>
                <a:gd name="connsiteY1" fmla="*/ 0 h 2263140"/>
              </a:gdLst>
              <a:ahLst/>
              <a:cxnLst>
                <a:cxn ang="0">
                  <a:pos x="connsiteX0" y="connsiteY0"/>
                </a:cxn>
                <a:cxn ang="0">
                  <a:pos x="connsiteX1" y="connsiteY1"/>
                </a:cxn>
              </a:cxnLst>
              <a:rect l="l" t="t" r="r" b="b"/>
              <a:pathLst>
                <a:path w="12700" h="2263140">
                  <a:moveTo>
                    <a:pt x="0" y="2263140"/>
                  </a:moveTo>
                  <a:lnTo>
                    <a:pt x="0" y="0"/>
                  </a:lnTo>
                </a:path>
              </a:pathLst>
            </a:custGeom>
            <a:ln w="15875" cap="flat">
              <a:solidFill>
                <a:schemeClr val="tx2">
                  <a:lumMod val="60000"/>
                  <a:lumOff val="40000"/>
                </a:schemeClr>
              </a:solidFill>
              <a:prstDash val="dash"/>
              <a:miter/>
              <a:tailEnd type="oval"/>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20" name="文本框 119"/>
            <p:cNvSpPr txBox="1"/>
            <p:nvPr/>
          </p:nvSpPr>
          <p:spPr>
            <a:xfrm>
              <a:off x="2151" y="2766"/>
              <a:ext cx="2444" cy="1981"/>
            </a:xfrm>
            <a:prstGeom prst="rect">
              <a:avLst/>
            </a:prstGeom>
            <a:noFill/>
          </p:spPr>
          <p:txBody>
            <a:bodyPr wrap="square" rtlCol="0">
              <a:spAutoFit/>
            </a:bodyPr>
            <a:lstStyle/>
            <a:p>
              <a:pPr algn="just">
                <a:lnSpc>
                  <a:spcPct val="150000"/>
                </a:lnSpc>
                <a:spcAft>
                  <a:spcPts val="1000"/>
                </a:spcAft>
              </a:pPr>
              <a:r>
                <a:rPr kumimoji="1" lang="zh-CN" altLang="en-US" sz="900" b="1" dirty="0">
                  <a:solidFill>
                    <a:schemeClr val="tx1">
                      <a:alpha val="80000"/>
                    </a:schemeClr>
                  </a:solidFill>
                  <a:latin typeface="微软雅黑" panose="020B0503020204020204" charset="-122"/>
                  <a:ea typeface="微软雅黑" panose="020B0503020204020204" charset="-122"/>
                  <a:cs typeface="微软雅黑" panose="020B0503020204020204" charset="-122"/>
                </a:rPr>
                <a:t>阶段目标：</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搭建数据看板，完善埋点体系；</a:t>
              </a:r>
              <a:endPar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a:p>
              <a:pPr algn="just">
                <a:lnSpc>
                  <a:spcPct val="150000"/>
                </a:lnSpc>
                <a:spcAft>
                  <a:spcPts val="1000"/>
                </a:spcAft>
              </a:pPr>
              <a:r>
                <a:rPr kumimoji="1" lang="zh-CN" altLang="en-US" sz="900" b="1" dirty="0">
                  <a:solidFill>
                    <a:schemeClr val="tx1">
                      <a:alpha val="80000"/>
                    </a:schemeClr>
                  </a:solidFill>
                  <a:latin typeface="微软雅黑" panose="020B0503020204020204" charset="-122"/>
                  <a:ea typeface="微软雅黑" panose="020B0503020204020204" charset="-122"/>
                  <a:cs typeface="微软雅黑" panose="020B0503020204020204" charset="-122"/>
                </a:rPr>
                <a:t>完成情况：</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上线数据分析看板，覆盖</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30+</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核心指标，埋点准确率提升至</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98%</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a:t>
              </a:r>
              <a:endPar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p:txBody>
        </p:sp>
        <p:sp>
          <p:nvSpPr>
            <p:cNvPr id="121" name="文本框 120"/>
            <p:cNvSpPr txBox="1"/>
            <p:nvPr/>
          </p:nvSpPr>
          <p:spPr>
            <a:xfrm>
              <a:off x="2151" y="2116"/>
              <a:ext cx="2383" cy="652"/>
            </a:xfrm>
            <a:prstGeom prst="rect">
              <a:avLst/>
            </a:prstGeom>
            <a:noFill/>
          </p:spPr>
          <p:txBody>
            <a:bodyPr wrap="square" rtlCol="0">
              <a:spAutoFit/>
            </a:bodyPr>
            <a:lstStyle/>
            <a:p>
              <a:pPr algn="just">
                <a:lnSpc>
                  <a:spcPct val="150000"/>
                </a:lnSpc>
                <a:spcAft>
                  <a:spcPts val="1000"/>
                </a:spcAft>
              </a:pPr>
              <a:r>
                <a:rPr kumimoji="1" lang="zh-CN" altLang="en-US" sz="14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数据基建</a:t>
              </a:r>
              <a:endParaRPr kumimoji="1" lang="zh-CN" altLang="en-US" sz="14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122" name="组合 121"/>
          <p:cNvGrpSpPr/>
          <p:nvPr/>
        </p:nvGrpSpPr>
        <p:grpSpPr>
          <a:xfrm>
            <a:off x="7959090" y="1092835"/>
            <a:ext cx="1590675" cy="2263140"/>
            <a:chOff x="2090" y="1721"/>
            <a:chExt cx="2505" cy="3564"/>
          </a:xfrm>
        </p:grpSpPr>
        <p:sp>
          <p:nvSpPr>
            <p:cNvPr id="123" name="任意形状 23"/>
            <p:cNvSpPr/>
            <p:nvPr/>
          </p:nvSpPr>
          <p:spPr>
            <a:xfrm>
              <a:off x="2090" y="1721"/>
              <a:ext cx="20" cy="3564"/>
            </a:xfrm>
            <a:custGeom>
              <a:avLst/>
              <a:gdLst>
                <a:gd name="connsiteX0" fmla="*/ 0 w 12700"/>
                <a:gd name="connsiteY0" fmla="*/ 2263140 h 2263140"/>
                <a:gd name="connsiteX1" fmla="*/ 0 w 12700"/>
                <a:gd name="connsiteY1" fmla="*/ 0 h 2263140"/>
              </a:gdLst>
              <a:ahLst/>
              <a:cxnLst>
                <a:cxn ang="0">
                  <a:pos x="connsiteX0" y="connsiteY0"/>
                </a:cxn>
                <a:cxn ang="0">
                  <a:pos x="connsiteX1" y="connsiteY1"/>
                </a:cxn>
              </a:cxnLst>
              <a:rect l="l" t="t" r="r" b="b"/>
              <a:pathLst>
                <a:path w="12700" h="2263140">
                  <a:moveTo>
                    <a:pt x="0" y="2263140"/>
                  </a:moveTo>
                  <a:lnTo>
                    <a:pt x="0" y="0"/>
                  </a:lnTo>
                </a:path>
              </a:pathLst>
            </a:custGeom>
            <a:ln w="15875" cap="flat">
              <a:solidFill>
                <a:schemeClr val="tx2">
                  <a:lumMod val="60000"/>
                  <a:lumOff val="40000"/>
                </a:schemeClr>
              </a:solidFill>
              <a:prstDash val="dash"/>
              <a:miter/>
              <a:tailEnd type="oval"/>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24" name="文本框 123"/>
            <p:cNvSpPr txBox="1"/>
            <p:nvPr/>
          </p:nvSpPr>
          <p:spPr>
            <a:xfrm>
              <a:off x="2151" y="2766"/>
              <a:ext cx="2444" cy="1981"/>
            </a:xfrm>
            <a:prstGeom prst="rect">
              <a:avLst/>
            </a:prstGeom>
            <a:noFill/>
          </p:spPr>
          <p:txBody>
            <a:bodyPr wrap="square" rtlCol="0">
              <a:spAutoFit/>
            </a:bodyPr>
            <a:lstStyle/>
            <a:p>
              <a:pPr algn="just">
                <a:lnSpc>
                  <a:spcPct val="150000"/>
                </a:lnSpc>
                <a:spcAft>
                  <a:spcPts val="1000"/>
                </a:spcAft>
              </a:pPr>
              <a:r>
                <a:rPr kumimoji="1" lang="zh-CN" altLang="en-US" sz="900" b="1" dirty="0">
                  <a:solidFill>
                    <a:schemeClr val="tx1">
                      <a:alpha val="80000"/>
                    </a:schemeClr>
                  </a:solidFill>
                  <a:latin typeface="微软雅黑" panose="020B0503020204020204" charset="-122"/>
                  <a:ea typeface="微软雅黑" panose="020B0503020204020204" charset="-122"/>
                  <a:cs typeface="微软雅黑" panose="020B0503020204020204" charset="-122"/>
                </a:rPr>
                <a:t>阶段目标：</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完成双</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11</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预售、凑单等功能开发；</a:t>
              </a:r>
              <a:endPar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a:p>
              <a:pPr algn="just">
                <a:lnSpc>
                  <a:spcPct val="150000"/>
                </a:lnSpc>
                <a:spcAft>
                  <a:spcPts val="1000"/>
                </a:spcAft>
              </a:pPr>
              <a:r>
                <a:rPr kumimoji="1" lang="zh-CN" altLang="en-US" sz="900" b="1" dirty="0">
                  <a:solidFill>
                    <a:schemeClr val="tx1">
                      <a:alpha val="80000"/>
                    </a:schemeClr>
                  </a:solidFill>
                  <a:latin typeface="微软雅黑" panose="020B0503020204020204" charset="-122"/>
                  <a:ea typeface="微软雅黑" panose="020B0503020204020204" charset="-122"/>
                  <a:cs typeface="微软雅黑" panose="020B0503020204020204" charset="-122"/>
                </a:rPr>
                <a:t>完成情况：</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提前完成功能开发，通过</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3</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轮压力测试，预留</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20%</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冗余容量。</a:t>
              </a:r>
              <a:endPar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p:txBody>
        </p:sp>
        <p:sp>
          <p:nvSpPr>
            <p:cNvPr id="125" name="文本框 124"/>
            <p:cNvSpPr txBox="1"/>
            <p:nvPr/>
          </p:nvSpPr>
          <p:spPr>
            <a:xfrm>
              <a:off x="2151" y="2116"/>
              <a:ext cx="2383" cy="652"/>
            </a:xfrm>
            <a:prstGeom prst="rect">
              <a:avLst/>
            </a:prstGeom>
            <a:noFill/>
          </p:spPr>
          <p:txBody>
            <a:bodyPr wrap="square" rtlCol="0">
              <a:spAutoFit/>
            </a:bodyPr>
            <a:lstStyle/>
            <a:p>
              <a:pPr algn="just">
                <a:lnSpc>
                  <a:spcPct val="150000"/>
                </a:lnSpc>
                <a:spcAft>
                  <a:spcPts val="1000"/>
                </a:spcAft>
              </a:pPr>
              <a:r>
                <a:rPr kumimoji="1" lang="zh-CN" altLang="en-US"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双</a:t>
              </a:r>
              <a:r>
                <a:rPr kumimoji="1" lang="en-US" altLang="zh-CN"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11</a:t>
              </a:r>
              <a:r>
                <a:rPr kumimoji="1" lang="zh-CN" altLang="en-US"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筹备</a:t>
              </a:r>
              <a:endParaRPr kumimoji="1" lang="zh-CN" altLang="en-US"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126" name="组合 125"/>
          <p:cNvGrpSpPr/>
          <p:nvPr/>
        </p:nvGrpSpPr>
        <p:grpSpPr>
          <a:xfrm>
            <a:off x="9692005" y="1092835"/>
            <a:ext cx="1590675" cy="2263140"/>
            <a:chOff x="2090" y="1721"/>
            <a:chExt cx="2505" cy="3564"/>
          </a:xfrm>
        </p:grpSpPr>
        <p:sp>
          <p:nvSpPr>
            <p:cNvPr id="127" name="任意形状 23"/>
            <p:cNvSpPr/>
            <p:nvPr/>
          </p:nvSpPr>
          <p:spPr>
            <a:xfrm>
              <a:off x="2090" y="1721"/>
              <a:ext cx="20" cy="3564"/>
            </a:xfrm>
            <a:custGeom>
              <a:avLst/>
              <a:gdLst>
                <a:gd name="connsiteX0" fmla="*/ 0 w 12700"/>
                <a:gd name="connsiteY0" fmla="*/ 2263140 h 2263140"/>
                <a:gd name="connsiteX1" fmla="*/ 0 w 12700"/>
                <a:gd name="connsiteY1" fmla="*/ 0 h 2263140"/>
              </a:gdLst>
              <a:ahLst/>
              <a:cxnLst>
                <a:cxn ang="0">
                  <a:pos x="connsiteX0" y="connsiteY0"/>
                </a:cxn>
                <a:cxn ang="0">
                  <a:pos x="connsiteX1" y="connsiteY1"/>
                </a:cxn>
              </a:cxnLst>
              <a:rect l="l" t="t" r="r" b="b"/>
              <a:pathLst>
                <a:path w="12700" h="2263140">
                  <a:moveTo>
                    <a:pt x="0" y="2263140"/>
                  </a:moveTo>
                  <a:lnTo>
                    <a:pt x="0" y="0"/>
                  </a:lnTo>
                </a:path>
              </a:pathLst>
            </a:custGeom>
            <a:ln w="15875" cap="flat">
              <a:solidFill>
                <a:schemeClr val="tx2">
                  <a:lumMod val="60000"/>
                  <a:lumOff val="40000"/>
                </a:schemeClr>
              </a:solidFill>
              <a:prstDash val="dash"/>
              <a:miter/>
              <a:tailEnd type="oval"/>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28" name="文本框 127"/>
            <p:cNvSpPr txBox="1"/>
            <p:nvPr/>
          </p:nvSpPr>
          <p:spPr>
            <a:xfrm>
              <a:off x="2151" y="2766"/>
              <a:ext cx="2444" cy="1981"/>
            </a:xfrm>
            <a:prstGeom prst="rect">
              <a:avLst/>
            </a:prstGeom>
            <a:noFill/>
          </p:spPr>
          <p:txBody>
            <a:bodyPr wrap="square" rtlCol="0">
              <a:spAutoFit/>
            </a:bodyPr>
            <a:lstStyle/>
            <a:p>
              <a:pPr algn="just">
                <a:lnSpc>
                  <a:spcPct val="150000"/>
                </a:lnSpc>
                <a:spcAft>
                  <a:spcPts val="1000"/>
                </a:spcAft>
              </a:pPr>
              <a:r>
                <a:rPr kumimoji="1" lang="zh-CN" altLang="en-US" sz="900" b="1" dirty="0">
                  <a:solidFill>
                    <a:schemeClr val="tx1">
                      <a:alpha val="80000"/>
                    </a:schemeClr>
                  </a:solidFill>
                  <a:latin typeface="微软雅黑" panose="020B0503020204020204" charset="-122"/>
                  <a:ea typeface="微软雅黑" panose="020B0503020204020204" charset="-122"/>
                  <a:cs typeface="微软雅黑" panose="020B0503020204020204" charset="-122"/>
                </a:rPr>
                <a:t>阶段目标：</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保障双</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11</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系统稳定与实时监控；</a:t>
              </a:r>
              <a:endPar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a:p>
              <a:pPr algn="just">
                <a:lnSpc>
                  <a:spcPct val="150000"/>
                </a:lnSpc>
                <a:spcAft>
                  <a:spcPts val="1000"/>
                </a:spcAft>
              </a:pPr>
              <a:r>
                <a:rPr kumimoji="1" lang="zh-CN" altLang="en-US" sz="900" b="1" dirty="0">
                  <a:solidFill>
                    <a:schemeClr val="tx1">
                      <a:alpha val="80000"/>
                    </a:schemeClr>
                  </a:solidFill>
                  <a:latin typeface="微软雅黑" panose="020B0503020204020204" charset="-122"/>
                  <a:ea typeface="微软雅黑" panose="020B0503020204020204" charset="-122"/>
                  <a:cs typeface="微软雅黑" panose="020B0503020204020204" charset="-122"/>
                </a:rPr>
                <a:t>完成情况：</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双</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11</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当日</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GMV</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创历史新高，系统可用性</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99.95%</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，首屏加载</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1.2</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秒内。</a:t>
              </a:r>
              <a:endPar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p:txBody>
        </p:sp>
        <p:sp>
          <p:nvSpPr>
            <p:cNvPr id="129" name="文本框 128"/>
            <p:cNvSpPr txBox="1"/>
            <p:nvPr/>
          </p:nvSpPr>
          <p:spPr>
            <a:xfrm>
              <a:off x="2151" y="2116"/>
              <a:ext cx="2383" cy="652"/>
            </a:xfrm>
            <a:prstGeom prst="rect">
              <a:avLst/>
            </a:prstGeom>
            <a:noFill/>
          </p:spPr>
          <p:txBody>
            <a:bodyPr wrap="square" rtlCol="0">
              <a:spAutoFit/>
            </a:bodyPr>
            <a:lstStyle/>
            <a:p>
              <a:pPr algn="just">
                <a:lnSpc>
                  <a:spcPct val="150000"/>
                </a:lnSpc>
                <a:spcAft>
                  <a:spcPts val="1000"/>
                </a:spcAft>
              </a:pPr>
              <a:r>
                <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大促保障</a:t>
              </a:r>
              <a:endPar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grpSp>
      <p:grpSp>
        <p:nvGrpSpPr>
          <p:cNvPr id="130" name="组合 129"/>
          <p:cNvGrpSpPr/>
          <p:nvPr/>
        </p:nvGrpSpPr>
        <p:grpSpPr>
          <a:xfrm>
            <a:off x="1873885" y="4462145"/>
            <a:ext cx="1551940" cy="1878965"/>
            <a:chOff x="2151" y="2116"/>
            <a:chExt cx="2444" cy="2959"/>
          </a:xfrm>
        </p:grpSpPr>
        <p:sp>
          <p:nvSpPr>
            <p:cNvPr id="132" name="文本框 131"/>
            <p:cNvSpPr txBox="1"/>
            <p:nvPr/>
          </p:nvSpPr>
          <p:spPr>
            <a:xfrm>
              <a:off x="2151" y="2766"/>
              <a:ext cx="2444" cy="2309"/>
            </a:xfrm>
            <a:prstGeom prst="rect">
              <a:avLst/>
            </a:prstGeom>
            <a:noFill/>
          </p:spPr>
          <p:txBody>
            <a:bodyPr wrap="square" rtlCol="0">
              <a:spAutoFit/>
            </a:bodyPr>
            <a:lstStyle/>
            <a:p>
              <a:pPr algn="just">
                <a:lnSpc>
                  <a:spcPct val="150000"/>
                </a:lnSpc>
                <a:spcAft>
                  <a:spcPts val="1000"/>
                </a:spcAft>
              </a:pPr>
              <a:r>
                <a:rPr kumimoji="1" lang="zh-CN" altLang="en-US" sz="900" b="1" dirty="0">
                  <a:solidFill>
                    <a:schemeClr val="tx1">
                      <a:alpha val="80000"/>
                    </a:schemeClr>
                  </a:solidFill>
                  <a:latin typeface="微软雅黑" panose="020B0503020204020204" charset="-122"/>
                  <a:ea typeface="微软雅黑" panose="020B0503020204020204" charset="-122"/>
                  <a:cs typeface="微软雅黑" panose="020B0503020204020204" charset="-122"/>
                </a:rPr>
                <a:t>阶段目标：</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保障春节系统稳定运行；</a:t>
              </a:r>
              <a:endPar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a:p>
              <a:pPr algn="just">
                <a:lnSpc>
                  <a:spcPct val="150000"/>
                </a:lnSpc>
                <a:spcAft>
                  <a:spcPts val="1000"/>
                </a:spcAft>
              </a:pPr>
              <a:r>
                <a:rPr kumimoji="1" lang="zh-CN" altLang="en-US" sz="900" b="1" dirty="0">
                  <a:solidFill>
                    <a:schemeClr val="tx1">
                      <a:alpha val="80000"/>
                    </a:schemeClr>
                  </a:solidFill>
                  <a:latin typeface="微软雅黑" panose="020B0503020204020204" charset="-122"/>
                  <a:ea typeface="微软雅黑" panose="020B0503020204020204" charset="-122"/>
                  <a:cs typeface="微软雅黑" panose="020B0503020204020204" charset="-122"/>
                </a:rPr>
                <a:t>完成情况：</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春节期间系统零故障，核心页面加载耗时优化</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15%</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，用户满意度提升</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5%</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a:t>
              </a:r>
              <a:endPar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p:txBody>
        </p:sp>
        <p:sp>
          <p:nvSpPr>
            <p:cNvPr id="133" name="文本框 132"/>
            <p:cNvSpPr txBox="1"/>
            <p:nvPr/>
          </p:nvSpPr>
          <p:spPr>
            <a:xfrm>
              <a:off x="2151" y="2116"/>
              <a:ext cx="2383" cy="652"/>
            </a:xfrm>
            <a:prstGeom prst="rect">
              <a:avLst/>
            </a:prstGeom>
            <a:noFill/>
          </p:spPr>
          <p:txBody>
            <a:bodyPr wrap="square" rtlCol="0">
              <a:spAutoFit/>
            </a:bodyPr>
            <a:lstStyle/>
            <a:p>
              <a:pPr algn="just">
                <a:lnSpc>
                  <a:spcPct val="150000"/>
                </a:lnSpc>
                <a:spcAft>
                  <a:spcPts val="1000"/>
                </a:spcAft>
              </a:pPr>
              <a:r>
                <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春节保障</a:t>
              </a:r>
              <a:endPar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grpSp>
      <p:grpSp>
        <p:nvGrpSpPr>
          <p:cNvPr id="134" name="组合 133"/>
          <p:cNvGrpSpPr/>
          <p:nvPr/>
        </p:nvGrpSpPr>
        <p:grpSpPr>
          <a:xfrm>
            <a:off x="3627120" y="4455160"/>
            <a:ext cx="1551940" cy="1878965"/>
            <a:chOff x="2151" y="2116"/>
            <a:chExt cx="2444" cy="2959"/>
          </a:xfrm>
        </p:grpSpPr>
        <p:sp>
          <p:nvSpPr>
            <p:cNvPr id="136" name="文本框 135"/>
            <p:cNvSpPr txBox="1"/>
            <p:nvPr/>
          </p:nvSpPr>
          <p:spPr>
            <a:xfrm>
              <a:off x="2151" y="2766"/>
              <a:ext cx="2444" cy="2309"/>
            </a:xfrm>
            <a:prstGeom prst="rect">
              <a:avLst/>
            </a:prstGeom>
            <a:noFill/>
          </p:spPr>
          <p:txBody>
            <a:bodyPr wrap="square" rtlCol="0">
              <a:spAutoFit/>
            </a:bodyPr>
            <a:lstStyle/>
            <a:p>
              <a:pPr algn="just">
                <a:lnSpc>
                  <a:spcPct val="150000"/>
                </a:lnSpc>
                <a:spcAft>
                  <a:spcPts val="1000"/>
                </a:spcAft>
              </a:pPr>
              <a:r>
                <a:rPr kumimoji="1" lang="zh-CN" altLang="en-US" sz="900" b="1" dirty="0">
                  <a:solidFill>
                    <a:schemeClr val="tx1">
                      <a:alpha val="80000"/>
                    </a:schemeClr>
                  </a:solidFill>
                  <a:latin typeface="微软雅黑" panose="020B0503020204020204" charset="-122"/>
                  <a:ea typeface="微软雅黑" panose="020B0503020204020204" charset="-122"/>
                  <a:cs typeface="微软雅黑" panose="020B0503020204020204" charset="-122"/>
                </a:rPr>
                <a:t>阶段目标：</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上线用户成长体系</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V1.0</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a:t>
              </a:r>
              <a:endPar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a:p>
              <a:pPr algn="just">
                <a:lnSpc>
                  <a:spcPct val="150000"/>
                </a:lnSpc>
                <a:spcAft>
                  <a:spcPts val="1000"/>
                </a:spcAft>
              </a:pPr>
              <a:r>
                <a:rPr kumimoji="1" lang="zh-CN" altLang="en-US" sz="900" b="1" dirty="0">
                  <a:solidFill>
                    <a:schemeClr val="tx1">
                      <a:alpha val="80000"/>
                    </a:schemeClr>
                  </a:solidFill>
                  <a:latin typeface="微软雅黑" panose="020B0503020204020204" charset="-122"/>
                  <a:ea typeface="微软雅黑" panose="020B0503020204020204" charset="-122"/>
                  <a:cs typeface="微软雅黑" panose="020B0503020204020204" charset="-122"/>
                </a:rPr>
                <a:t>完成情况：</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成长体系如期上线，参与用户达</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30</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万，次月留存率较未参与用户高</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18%</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a:t>
              </a:r>
              <a:endPar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p:txBody>
        </p:sp>
        <p:sp>
          <p:nvSpPr>
            <p:cNvPr id="137" name="文本框 136"/>
            <p:cNvSpPr txBox="1"/>
            <p:nvPr/>
          </p:nvSpPr>
          <p:spPr>
            <a:xfrm>
              <a:off x="2151" y="2116"/>
              <a:ext cx="2383" cy="652"/>
            </a:xfrm>
            <a:prstGeom prst="rect">
              <a:avLst/>
            </a:prstGeom>
            <a:noFill/>
          </p:spPr>
          <p:txBody>
            <a:bodyPr wrap="square" rtlCol="0">
              <a:spAutoFit/>
            </a:bodyPr>
            <a:lstStyle/>
            <a:p>
              <a:pPr algn="just">
                <a:lnSpc>
                  <a:spcPct val="150000"/>
                </a:lnSpc>
                <a:spcAft>
                  <a:spcPts val="1000"/>
                </a:spcAft>
              </a:pPr>
              <a:r>
                <a:rPr kumimoji="1" lang="zh-CN" altLang="en-US"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功能上线</a:t>
              </a:r>
              <a:endParaRPr kumimoji="1" lang="zh-CN" altLang="en-US"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138" name="组合 137"/>
          <p:cNvGrpSpPr/>
          <p:nvPr/>
        </p:nvGrpSpPr>
        <p:grpSpPr>
          <a:xfrm>
            <a:off x="5393690" y="4460875"/>
            <a:ext cx="1551940" cy="1878965"/>
            <a:chOff x="2151" y="2116"/>
            <a:chExt cx="2444" cy="2959"/>
          </a:xfrm>
        </p:grpSpPr>
        <p:sp>
          <p:nvSpPr>
            <p:cNvPr id="140" name="文本框 139"/>
            <p:cNvSpPr txBox="1"/>
            <p:nvPr/>
          </p:nvSpPr>
          <p:spPr>
            <a:xfrm>
              <a:off x="2151" y="2766"/>
              <a:ext cx="2444" cy="2309"/>
            </a:xfrm>
            <a:prstGeom prst="rect">
              <a:avLst/>
            </a:prstGeom>
            <a:noFill/>
          </p:spPr>
          <p:txBody>
            <a:bodyPr wrap="square" rtlCol="0">
              <a:spAutoFit/>
            </a:bodyPr>
            <a:lstStyle/>
            <a:p>
              <a:pPr algn="just">
                <a:lnSpc>
                  <a:spcPct val="150000"/>
                </a:lnSpc>
                <a:spcAft>
                  <a:spcPts val="1000"/>
                </a:spcAft>
              </a:pPr>
              <a:r>
                <a:rPr kumimoji="1" lang="zh-CN" altLang="en-US" sz="900" b="1" dirty="0">
                  <a:solidFill>
                    <a:schemeClr val="tx1">
                      <a:alpha val="80000"/>
                    </a:schemeClr>
                  </a:solidFill>
                  <a:latin typeface="微软雅黑" panose="020B0503020204020204" charset="-122"/>
                  <a:ea typeface="微软雅黑" panose="020B0503020204020204" charset="-122"/>
                  <a:cs typeface="微软雅黑" panose="020B0503020204020204" charset="-122"/>
                </a:rPr>
                <a:t>阶段目标：</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完成</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618</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大促功能开发与压测；</a:t>
              </a:r>
              <a:endPar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a:p>
              <a:pPr algn="just">
                <a:lnSpc>
                  <a:spcPct val="150000"/>
                </a:lnSpc>
                <a:spcAft>
                  <a:spcPts val="1000"/>
                </a:spcAft>
              </a:pPr>
              <a:r>
                <a:rPr kumimoji="1" lang="zh-CN" altLang="en-US" sz="900" b="1" dirty="0">
                  <a:solidFill>
                    <a:schemeClr val="tx1">
                      <a:alpha val="80000"/>
                    </a:schemeClr>
                  </a:solidFill>
                  <a:latin typeface="微软雅黑" panose="020B0503020204020204" charset="-122"/>
                  <a:ea typeface="微软雅黑" panose="020B0503020204020204" charset="-122"/>
                  <a:cs typeface="微软雅黑" panose="020B0503020204020204" charset="-122"/>
                </a:rPr>
                <a:t>完成情况：</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大促期间系统承载峰值</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QPS</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达</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8000</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，订单处理成功率</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99.5%</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，零重大事故。</a:t>
              </a:r>
              <a:endPar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p:txBody>
        </p:sp>
        <p:sp>
          <p:nvSpPr>
            <p:cNvPr id="141" name="文本框 140"/>
            <p:cNvSpPr txBox="1"/>
            <p:nvPr/>
          </p:nvSpPr>
          <p:spPr>
            <a:xfrm>
              <a:off x="2151" y="2116"/>
              <a:ext cx="2383" cy="652"/>
            </a:xfrm>
            <a:prstGeom prst="rect">
              <a:avLst/>
            </a:prstGeom>
            <a:noFill/>
          </p:spPr>
          <p:txBody>
            <a:bodyPr wrap="square" rtlCol="0">
              <a:spAutoFit/>
            </a:bodyPr>
            <a:lstStyle/>
            <a:p>
              <a:pPr algn="just">
                <a:lnSpc>
                  <a:spcPct val="150000"/>
                </a:lnSpc>
                <a:spcAft>
                  <a:spcPts val="1000"/>
                </a:spcAft>
              </a:pPr>
              <a:r>
                <a:rPr kumimoji="1" lang="zh-CN" altLang="en-US" sz="1400" b="1" dirty="0">
                  <a:solidFill>
                    <a:schemeClr val="accent5"/>
                  </a:solidFill>
                  <a:latin typeface="微软雅黑" panose="020B0503020204020204" charset="-122"/>
                  <a:ea typeface="微软雅黑" panose="020B0503020204020204" charset="-122"/>
                  <a:cs typeface="微软雅黑" panose="020B0503020204020204" charset="-122"/>
                </a:rPr>
                <a:t>大促备战</a:t>
              </a:r>
              <a:endParaRPr kumimoji="1" lang="zh-CN" altLang="en-US" sz="1400" b="1" dirty="0">
                <a:solidFill>
                  <a:schemeClr val="accent5"/>
                </a:solidFill>
                <a:latin typeface="微软雅黑" panose="020B0503020204020204" charset="-122"/>
                <a:ea typeface="微软雅黑" panose="020B0503020204020204" charset="-122"/>
                <a:cs typeface="微软雅黑" panose="020B0503020204020204" charset="-122"/>
              </a:endParaRPr>
            </a:p>
          </p:txBody>
        </p:sp>
      </p:grpSp>
      <p:grpSp>
        <p:nvGrpSpPr>
          <p:cNvPr id="142" name="组合 141"/>
          <p:cNvGrpSpPr/>
          <p:nvPr/>
        </p:nvGrpSpPr>
        <p:grpSpPr>
          <a:xfrm>
            <a:off x="7126605" y="4460875"/>
            <a:ext cx="1551940" cy="1670685"/>
            <a:chOff x="2151" y="2116"/>
            <a:chExt cx="2444" cy="2631"/>
          </a:xfrm>
        </p:grpSpPr>
        <p:sp>
          <p:nvSpPr>
            <p:cNvPr id="144" name="文本框 143"/>
            <p:cNvSpPr txBox="1"/>
            <p:nvPr/>
          </p:nvSpPr>
          <p:spPr>
            <a:xfrm>
              <a:off x="2151" y="2766"/>
              <a:ext cx="2444" cy="1981"/>
            </a:xfrm>
            <a:prstGeom prst="rect">
              <a:avLst/>
            </a:prstGeom>
            <a:noFill/>
          </p:spPr>
          <p:txBody>
            <a:bodyPr wrap="square" rtlCol="0">
              <a:spAutoFit/>
            </a:bodyPr>
            <a:lstStyle/>
            <a:p>
              <a:pPr algn="just">
                <a:lnSpc>
                  <a:spcPct val="150000"/>
                </a:lnSpc>
                <a:spcAft>
                  <a:spcPts val="1000"/>
                </a:spcAft>
              </a:pPr>
              <a:r>
                <a:rPr kumimoji="1" lang="zh-CN" altLang="en-US" sz="900" b="1" dirty="0">
                  <a:solidFill>
                    <a:schemeClr val="tx1">
                      <a:alpha val="80000"/>
                    </a:schemeClr>
                  </a:solidFill>
                  <a:latin typeface="微软雅黑" panose="020B0503020204020204" charset="-122"/>
                  <a:ea typeface="微软雅黑" panose="020B0503020204020204" charset="-122"/>
                  <a:cs typeface="微软雅黑" panose="020B0503020204020204" charset="-122"/>
                </a:rPr>
                <a:t>阶段目标：</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上线个性化推荐模块</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V1.0</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a:t>
              </a:r>
              <a:endPar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a:p>
              <a:pPr algn="just">
                <a:lnSpc>
                  <a:spcPct val="150000"/>
                </a:lnSpc>
                <a:spcAft>
                  <a:spcPts val="1000"/>
                </a:spcAft>
              </a:pPr>
              <a:r>
                <a:rPr kumimoji="1" lang="zh-CN" altLang="en-US" sz="900" b="1" dirty="0">
                  <a:solidFill>
                    <a:schemeClr val="tx1">
                      <a:alpha val="80000"/>
                    </a:schemeClr>
                  </a:solidFill>
                  <a:latin typeface="微软雅黑" panose="020B0503020204020204" charset="-122"/>
                  <a:ea typeface="微软雅黑" panose="020B0503020204020204" charset="-122"/>
                  <a:cs typeface="微软雅黑" panose="020B0503020204020204" charset="-122"/>
                </a:rPr>
                <a:t>完成情况：</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推荐位点击率提升</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25%</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，用户人均使用时长从</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15</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分钟增至</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22</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分钟。</a:t>
              </a:r>
              <a:endPar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p:txBody>
        </p:sp>
        <p:sp>
          <p:nvSpPr>
            <p:cNvPr id="145" name="文本框 144"/>
            <p:cNvSpPr txBox="1"/>
            <p:nvPr/>
          </p:nvSpPr>
          <p:spPr>
            <a:xfrm>
              <a:off x="2151" y="2116"/>
              <a:ext cx="2383" cy="652"/>
            </a:xfrm>
            <a:prstGeom prst="rect">
              <a:avLst/>
            </a:prstGeom>
            <a:noFill/>
          </p:spPr>
          <p:txBody>
            <a:bodyPr wrap="square" rtlCol="0">
              <a:spAutoFit/>
            </a:bodyPr>
            <a:lstStyle/>
            <a:p>
              <a:pPr algn="just">
                <a:lnSpc>
                  <a:spcPct val="150000"/>
                </a:lnSpc>
                <a:spcAft>
                  <a:spcPts val="1000"/>
                </a:spcAft>
              </a:pPr>
              <a:r>
                <a:rPr kumimoji="1" lang="zh-CN" altLang="en-US" sz="14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推荐算法</a:t>
              </a:r>
              <a:endParaRPr kumimoji="1" lang="zh-CN" altLang="en-US" sz="14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146" name="组合 145"/>
          <p:cNvGrpSpPr/>
          <p:nvPr/>
        </p:nvGrpSpPr>
        <p:grpSpPr>
          <a:xfrm>
            <a:off x="8874760" y="4450715"/>
            <a:ext cx="1551940" cy="1670685"/>
            <a:chOff x="2151" y="2116"/>
            <a:chExt cx="2444" cy="2631"/>
          </a:xfrm>
        </p:grpSpPr>
        <p:sp>
          <p:nvSpPr>
            <p:cNvPr id="148" name="文本框 147"/>
            <p:cNvSpPr txBox="1"/>
            <p:nvPr/>
          </p:nvSpPr>
          <p:spPr>
            <a:xfrm>
              <a:off x="2151" y="2766"/>
              <a:ext cx="2444" cy="1981"/>
            </a:xfrm>
            <a:prstGeom prst="rect">
              <a:avLst/>
            </a:prstGeom>
            <a:noFill/>
          </p:spPr>
          <p:txBody>
            <a:bodyPr wrap="square" rtlCol="0">
              <a:spAutoFit/>
            </a:bodyPr>
            <a:lstStyle/>
            <a:p>
              <a:pPr algn="just">
                <a:lnSpc>
                  <a:spcPct val="150000"/>
                </a:lnSpc>
                <a:spcAft>
                  <a:spcPts val="1000"/>
                </a:spcAft>
              </a:pPr>
              <a:r>
                <a:rPr kumimoji="1" lang="zh-CN" altLang="en-US" sz="900" b="1" dirty="0">
                  <a:solidFill>
                    <a:schemeClr val="tx1">
                      <a:alpha val="80000"/>
                    </a:schemeClr>
                  </a:solidFill>
                  <a:latin typeface="微软雅黑" panose="020B0503020204020204" charset="-122"/>
                  <a:ea typeface="微软雅黑" panose="020B0503020204020204" charset="-122"/>
                  <a:cs typeface="微软雅黑" panose="020B0503020204020204" charset="-122"/>
                </a:rPr>
                <a:t>阶段目标：</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开展年度用户满意度调研；</a:t>
              </a:r>
              <a:endPar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a:p>
              <a:pPr algn="just">
                <a:lnSpc>
                  <a:spcPct val="150000"/>
                </a:lnSpc>
                <a:spcAft>
                  <a:spcPts val="1000"/>
                </a:spcAft>
              </a:pPr>
              <a:r>
                <a:rPr kumimoji="1" lang="zh-CN" altLang="en-US" sz="900" b="1" dirty="0">
                  <a:solidFill>
                    <a:schemeClr val="tx1">
                      <a:alpha val="80000"/>
                    </a:schemeClr>
                  </a:solidFill>
                  <a:latin typeface="微软雅黑" panose="020B0503020204020204" charset="-122"/>
                  <a:ea typeface="微软雅黑" panose="020B0503020204020204" charset="-122"/>
                  <a:cs typeface="微软雅黑" panose="020B0503020204020204" charset="-122"/>
                </a:rPr>
                <a:t>完成情况：</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回收问卷</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5000</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份，</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NPS</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得分提升至</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55</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，整理优化建议</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120</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条。</a:t>
              </a:r>
              <a:endPar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p:txBody>
        </p:sp>
        <p:sp>
          <p:nvSpPr>
            <p:cNvPr id="149" name="文本框 148"/>
            <p:cNvSpPr txBox="1"/>
            <p:nvPr/>
          </p:nvSpPr>
          <p:spPr>
            <a:xfrm>
              <a:off x="2151" y="2116"/>
              <a:ext cx="2383" cy="652"/>
            </a:xfrm>
            <a:prstGeom prst="rect">
              <a:avLst/>
            </a:prstGeom>
            <a:noFill/>
          </p:spPr>
          <p:txBody>
            <a:bodyPr wrap="square" rtlCol="0">
              <a:spAutoFit/>
            </a:bodyPr>
            <a:lstStyle/>
            <a:p>
              <a:pPr algn="just">
                <a:lnSpc>
                  <a:spcPct val="150000"/>
                </a:lnSpc>
                <a:spcAft>
                  <a:spcPts val="1000"/>
                </a:spcAft>
              </a:pPr>
              <a:r>
                <a:rPr kumimoji="1" lang="zh-CN"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用户调研</a:t>
              </a:r>
              <a:endParaRPr kumimoji="1" lang="zh-CN"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150" name="组合 149"/>
          <p:cNvGrpSpPr/>
          <p:nvPr/>
        </p:nvGrpSpPr>
        <p:grpSpPr>
          <a:xfrm>
            <a:off x="10546715" y="4465955"/>
            <a:ext cx="1551940" cy="1878965"/>
            <a:chOff x="2151" y="2116"/>
            <a:chExt cx="2444" cy="2959"/>
          </a:xfrm>
        </p:grpSpPr>
        <p:sp>
          <p:nvSpPr>
            <p:cNvPr id="152" name="文本框 151"/>
            <p:cNvSpPr txBox="1"/>
            <p:nvPr/>
          </p:nvSpPr>
          <p:spPr>
            <a:xfrm>
              <a:off x="2151" y="2766"/>
              <a:ext cx="2444" cy="2309"/>
            </a:xfrm>
            <a:prstGeom prst="rect">
              <a:avLst/>
            </a:prstGeom>
            <a:noFill/>
          </p:spPr>
          <p:txBody>
            <a:bodyPr wrap="square" rtlCol="0">
              <a:spAutoFit/>
            </a:bodyPr>
            <a:lstStyle/>
            <a:p>
              <a:pPr algn="just">
                <a:lnSpc>
                  <a:spcPct val="150000"/>
                </a:lnSpc>
                <a:spcAft>
                  <a:spcPts val="1000"/>
                </a:spcAft>
              </a:pPr>
              <a:r>
                <a:rPr kumimoji="1" lang="zh-CN" altLang="en-US" sz="900" b="1" dirty="0">
                  <a:solidFill>
                    <a:schemeClr val="tx1">
                      <a:alpha val="80000"/>
                    </a:schemeClr>
                  </a:solidFill>
                  <a:latin typeface="微软雅黑" panose="020B0503020204020204" charset="-122"/>
                  <a:ea typeface="微软雅黑" panose="020B0503020204020204" charset="-122"/>
                  <a:cs typeface="微软雅黑" panose="020B0503020204020204" charset="-122"/>
                </a:rPr>
                <a:t>阶段目标：</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完成年度复盘与次年规划；</a:t>
              </a:r>
              <a:endPar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a:p>
              <a:pPr algn="just">
                <a:lnSpc>
                  <a:spcPct val="150000"/>
                </a:lnSpc>
                <a:spcAft>
                  <a:spcPts val="1000"/>
                </a:spcAft>
              </a:pPr>
              <a:r>
                <a:rPr kumimoji="1" lang="zh-CN" altLang="en-US" sz="900" b="1" dirty="0">
                  <a:solidFill>
                    <a:schemeClr val="tx1">
                      <a:alpha val="80000"/>
                    </a:schemeClr>
                  </a:solidFill>
                  <a:latin typeface="微软雅黑" panose="020B0503020204020204" charset="-122"/>
                  <a:ea typeface="微软雅黑" panose="020B0503020204020204" charset="-122"/>
                  <a:cs typeface="微软雅黑" panose="020B0503020204020204" charset="-122"/>
                </a:rPr>
                <a:t>完成情况：</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完成年度复盘报告，确定次年</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3</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个重点项目，</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AI</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助手进入</a:t>
              </a:r>
              <a:r>
                <a:rPr kumimoji="1" lang="en-US" altLang="zh-CN"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MVP</a:t>
              </a:r>
              <a:r>
                <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rPr>
                <a:t>开发阶段。</a:t>
              </a:r>
              <a:endParaRPr kumimoji="1" lang="zh-CN" altLang="en-US" sz="9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p:txBody>
        </p:sp>
        <p:sp>
          <p:nvSpPr>
            <p:cNvPr id="153" name="文本框 152"/>
            <p:cNvSpPr txBox="1"/>
            <p:nvPr/>
          </p:nvSpPr>
          <p:spPr>
            <a:xfrm>
              <a:off x="2151" y="2116"/>
              <a:ext cx="2383" cy="652"/>
            </a:xfrm>
            <a:prstGeom prst="rect">
              <a:avLst/>
            </a:prstGeom>
            <a:noFill/>
          </p:spPr>
          <p:txBody>
            <a:bodyPr wrap="square" rtlCol="0">
              <a:spAutoFit/>
            </a:bodyPr>
            <a:lstStyle/>
            <a:p>
              <a:pPr algn="just">
                <a:lnSpc>
                  <a:spcPct val="150000"/>
                </a:lnSpc>
                <a:spcAft>
                  <a:spcPts val="1000"/>
                </a:spcAft>
              </a:pPr>
              <a:r>
                <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年度收官</a:t>
              </a:r>
              <a:endPar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154" name="任意形状 23"/>
          <p:cNvSpPr/>
          <p:nvPr/>
        </p:nvSpPr>
        <p:spPr>
          <a:xfrm flipH="1" flipV="1">
            <a:off x="1777365" y="4116070"/>
            <a:ext cx="76200" cy="2504440"/>
          </a:xfrm>
          <a:custGeom>
            <a:avLst/>
            <a:gdLst>
              <a:gd name="connsiteX0" fmla="*/ 0 w 12700"/>
              <a:gd name="connsiteY0" fmla="*/ 2263140 h 2263140"/>
              <a:gd name="connsiteX1" fmla="*/ 0 w 12700"/>
              <a:gd name="connsiteY1" fmla="*/ 0 h 2263140"/>
            </a:gdLst>
            <a:ahLst/>
            <a:cxnLst>
              <a:cxn ang="0">
                <a:pos x="connsiteX0" y="connsiteY0"/>
              </a:cxn>
              <a:cxn ang="0">
                <a:pos x="connsiteX1" y="connsiteY1"/>
              </a:cxn>
            </a:cxnLst>
            <a:rect l="l" t="t" r="r" b="b"/>
            <a:pathLst>
              <a:path w="12700" h="2263140">
                <a:moveTo>
                  <a:pt x="0" y="2263140"/>
                </a:moveTo>
                <a:lnTo>
                  <a:pt x="0" y="0"/>
                </a:lnTo>
              </a:path>
            </a:pathLst>
          </a:custGeom>
          <a:ln w="15875" cap="flat">
            <a:solidFill>
              <a:schemeClr val="tx2">
                <a:lumMod val="60000"/>
                <a:lumOff val="40000"/>
              </a:schemeClr>
            </a:solidFill>
            <a:prstDash val="dash"/>
            <a:miter/>
            <a:tailEnd type="oval"/>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56" name="任意形状 23"/>
          <p:cNvSpPr/>
          <p:nvPr/>
        </p:nvSpPr>
        <p:spPr>
          <a:xfrm flipH="1" flipV="1">
            <a:off x="3509645" y="4116070"/>
            <a:ext cx="76200" cy="2504440"/>
          </a:xfrm>
          <a:custGeom>
            <a:avLst/>
            <a:gdLst>
              <a:gd name="connsiteX0" fmla="*/ 0 w 12700"/>
              <a:gd name="connsiteY0" fmla="*/ 2263140 h 2263140"/>
              <a:gd name="connsiteX1" fmla="*/ 0 w 12700"/>
              <a:gd name="connsiteY1" fmla="*/ 0 h 2263140"/>
            </a:gdLst>
            <a:ahLst/>
            <a:cxnLst>
              <a:cxn ang="0">
                <a:pos x="connsiteX0" y="connsiteY0"/>
              </a:cxn>
              <a:cxn ang="0">
                <a:pos x="connsiteX1" y="connsiteY1"/>
              </a:cxn>
            </a:cxnLst>
            <a:rect l="l" t="t" r="r" b="b"/>
            <a:pathLst>
              <a:path w="12700" h="2263140">
                <a:moveTo>
                  <a:pt x="0" y="2263140"/>
                </a:moveTo>
                <a:lnTo>
                  <a:pt x="0" y="0"/>
                </a:lnTo>
              </a:path>
            </a:pathLst>
          </a:custGeom>
          <a:ln w="15875" cap="flat">
            <a:solidFill>
              <a:schemeClr val="tx2">
                <a:lumMod val="60000"/>
                <a:lumOff val="40000"/>
              </a:schemeClr>
            </a:solidFill>
            <a:prstDash val="dash"/>
            <a:miter/>
            <a:tailEnd type="oval"/>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58" name="任意形状 23"/>
          <p:cNvSpPr/>
          <p:nvPr/>
        </p:nvSpPr>
        <p:spPr>
          <a:xfrm flipH="1" flipV="1">
            <a:off x="5254625" y="4116070"/>
            <a:ext cx="76200" cy="2504440"/>
          </a:xfrm>
          <a:custGeom>
            <a:avLst/>
            <a:gdLst>
              <a:gd name="connsiteX0" fmla="*/ 0 w 12700"/>
              <a:gd name="connsiteY0" fmla="*/ 2263140 h 2263140"/>
              <a:gd name="connsiteX1" fmla="*/ 0 w 12700"/>
              <a:gd name="connsiteY1" fmla="*/ 0 h 2263140"/>
            </a:gdLst>
            <a:ahLst/>
            <a:cxnLst>
              <a:cxn ang="0">
                <a:pos x="connsiteX0" y="connsiteY0"/>
              </a:cxn>
              <a:cxn ang="0">
                <a:pos x="connsiteX1" y="connsiteY1"/>
              </a:cxn>
            </a:cxnLst>
            <a:rect l="l" t="t" r="r" b="b"/>
            <a:pathLst>
              <a:path w="12700" h="2263140">
                <a:moveTo>
                  <a:pt x="0" y="2263140"/>
                </a:moveTo>
                <a:lnTo>
                  <a:pt x="0" y="0"/>
                </a:lnTo>
              </a:path>
            </a:pathLst>
          </a:custGeom>
          <a:ln w="15875" cap="flat">
            <a:solidFill>
              <a:schemeClr val="tx2">
                <a:lumMod val="60000"/>
                <a:lumOff val="40000"/>
              </a:schemeClr>
            </a:solidFill>
            <a:prstDash val="dash"/>
            <a:miter/>
            <a:tailEnd type="oval"/>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60" name="任意形状 23"/>
          <p:cNvSpPr/>
          <p:nvPr/>
        </p:nvSpPr>
        <p:spPr>
          <a:xfrm flipH="1" flipV="1">
            <a:off x="7035165" y="4116070"/>
            <a:ext cx="76200" cy="2504440"/>
          </a:xfrm>
          <a:custGeom>
            <a:avLst/>
            <a:gdLst>
              <a:gd name="connsiteX0" fmla="*/ 0 w 12700"/>
              <a:gd name="connsiteY0" fmla="*/ 2263140 h 2263140"/>
              <a:gd name="connsiteX1" fmla="*/ 0 w 12700"/>
              <a:gd name="connsiteY1" fmla="*/ 0 h 2263140"/>
            </a:gdLst>
            <a:ahLst/>
            <a:cxnLst>
              <a:cxn ang="0">
                <a:pos x="connsiteX0" y="connsiteY0"/>
              </a:cxn>
              <a:cxn ang="0">
                <a:pos x="connsiteX1" y="connsiteY1"/>
              </a:cxn>
            </a:cxnLst>
            <a:rect l="l" t="t" r="r" b="b"/>
            <a:pathLst>
              <a:path w="12700" h="2263140">
                <a:moveTo>
                  <a:pt x="0" y="2263140"/>
                </a:moveTo>
                <a:lnTo>
                  <a:pt x="0" y="0"/>
                </a:lnTo>
              </a:path>
            </a:pathLst>
          </a:custGeom>
          <a:ln w="15875" cap="flat">
            <a:solidFill>
              <a:schemeClr val="tx2">
                <a:lumMod val="60000"/>
                <a:lumOff val="40000"/>
              </a:schemeClr>
            </a:solidFill>
            <a:prstDash val="dash"/>
            <a:miter/>
            <a:tailEnd type="oval"/>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61" name="任意形状 23"/>
          <p:cNvSpPr/>
          <p:nvPr/>
        </p:nvSpPr>
        <p:spPr>
          <a:xfrm flipH="1" flipV="1">
            <a:off x="8767445" y="4116070"/>
            <a:ext cx="76200" cy="2504440"/>
          </a:xfrm>
          <a:custGeom>
            <a:avLst/>
            <a:gdLst>
              <a:gd name="connsiteX0" fmla="*/ 0 w 12700"/>
              <a:gd name="connsiteY0" fmla="*/ 2263140 h 2263140"/>
              <a:gd name="connsiteX1" fmla="*/ 0 w 12700"/>
              <a:gd name="connsiteY1" fmla="*/ 0 h 2263140"/>
            </a:gdLst>
            <a:ahLst/>
            <a:cxnLst>
              <a:cxn ang="0">
                <a:pos x="connsiteX0" y="connsiteY0"/>
              </a:cxn>
              <a:cxn ang="0">
                <a:pos x="connsiteX1" y="connsiteY1"/>
              </a:cxn>
            </a:cxnLst>
            <a:rect l="l" t="t" r="r" b="b"/>
            <a:pathLst>
              <a:path w="12700" h="2263140">
                <a:moveTo>
                  <a:pt x="0" y="2263140"/>
                </a:moveTo>
                <a:lnTo>
                  <a:pt x="0" y="0"/>
                </a:lnTo>
              </a:path>
            </a:pathLst>
          </a:custGeom>
          <a:ln w="15875" cap="flat">
            <a:solidFill>
              <a:schemeClr val="tx2">
                <a:lumMod val="60000"/>
                <a:lumOff val="40000"/>
              </a:schemeClr>
            </a:solidFill>
            <a:prstDash val="dash"/>
            <a:miter/>
            <a:tailEnd type="oval"/>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62" name="任意形状 23"/>
          <p:cNvSpPr/>
          <p:nvPr/>
        </p:nvSpPr>
        <p:spPr>
          <a:xfrm flipH="1" flipV="1">
            <a:off x="10465435" y="4116070"/>
            <a:ext cx="76200" cy="2504440"/>
          </a:xfrm>
          <a:custGeom>
            <a:avLst/>
            <a:gdLst>
              <a:gd name="connsiteX0" fmla="*/ 0 w 12700"/>
              <a:gd name="connsiteY0" fmla="*/ 2263140 h 2263140"/>
              <a:gd name="connsiteX1" fmla="*/ 0 w 12700"/>
              <a:gd name="connsiteY1" fmla="*/ 0 h 2263140"/>
            </a:gdLst>
            <a:ahLst/>
            <a:cxnLst>
              <a:cxn ang="0">
                <a:pos x="connsiteX0" y="connsiteY0"/>
              </a:cxn>
              <a:cxn ang="0">
                <a:pos x="connsiteX1" y="connsiteY1"/>
              </a:cxn>
            </a:cxnLst>
            <a:rect l="l" t="t" r="r" b="b"/>
            <a:pathLst>
              <a:path w="12700" h="2263140">
                <a:moveTo>
                  <a:pt x="0" y="2263140"/>
                </a:moveTo>
                <a:lnTo>
                  <a:pt x="0" y="0"/>
                </a:lnTo>
              </a:path>
            </a:pathLst>
          </a:custGeom>
          <a:ln w="15875" cap="flat">
            <a:solidFill>
              <a:schemeClr val="tx2">
                <a:lumMod val="60000"/>
                <a:lumOff val="40000"/>
              </a:schemeClr>
            </a:solidFill>
            <a:prstDash val="dash"/>
            <a:miter/>
            <a:tailEnd type="oval"/>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63" name="任意形状 22"/>
          <p:cNvSpPr/>
          <p:nvPr/>
        </p:nvSpPr>
        <p:spPr>
          <a:xfrm>
            <a:off x="2357665" y="3422651"/>
            <a:ext cx="719455" cy="720000"/>
          </a:xfrm>
          <a:custGeom>
            <a:avLst/>
            <a:gdLst>
              <a:gd name="connsiteX0" fmla="*/ 784860 w 784860"/>
              <a:gd name="connsiteY0" fmla="*/ 392430 h 784859"/>
              <a:gd name="connsiteX1" fmla="*/ 392430 w 784860"/>
              <a:gd name="connsiteY1" fmla="*/ 784860 h 784859"/>
              <a:gd name="connsiteX2" fmla="*/ 0 w 784860"/>
              <a:gd name="connsiteY2" fmla="*/ 392430 h 784859"/>
              <a:gd name="connsiteX3" fmla="*/ 392430 w 784860"/>
              <a:gd name="connsiteY3" fmla="*/ 0 h 784859"/>
              <a:gd name="connsiteX4" fmla="*/ 784860 w 784860"/>
              <a:gd name="connsiteY4" fmla="*/ 392430 h 784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4860" h="784859">
                <a:moveTo>
                  <a:pt x="784860" y="392430"/>
                </a:moveTo>
                <a:cubicBezTo>
                  <a:pt x="784860" y="609163"/>
                  <a:pt x="609163" y="784860"/>
                  <a:pt x="392430" y="784860"/>
                </a:cubicBezTo>
                <a:cubicBezTo>
                  <a:pt x="175697" y="784860"/>
                  <a:pt x="0" y="609163"/>
                  <a:pt x="0" y="392430"/>
                </a:cubicBezTo>
                <a:cubicBezTo>
                  <a:pt x="0" y="175697"/>
                  <a:pt x="175697" y="0"/>
                  <a:pt x="392430" y="0"/>
                </a:cubicBezTo>
                <a:cubicBezTo>
                  <a:pt x="609163" y="0"/>
                  <a:pt x="784860" y="175697"/>
                  <a:pt x="784860" y="392430"/>
                </a:cubicBezTo>
                <a:close/>
              </a:path>
            </a:pathLst>
          </a:custGeom>
          <a:solidFill>
            <a:schemeClr val="accent1">
              <a:lumMod val="60000"/>
              <a:lumOff val="40000"/>
            </a:schemeClr>
          </a:solidFill>
          <a:ln w="38100" cap="flat">
            <a:solidFill>
              <a:schemeClr val="bg1"/>
            </a:solidFill>
            <a:prstDash val="solid"/>
            <a:miter/>
          </a:ln>
        </p:spPr>
        <p:txBody>
          <a:bodyPr rtlCol="0" anchor="ctr"/>
          <a:lstStyle/>
          <a:p>
            <a:pPr algn="ctr">
              <a:spcAft>
                <a:spcPts val="500"/>
              </a:spcAft>
            </a:pPr>
            <a:r>
              <a:rPr lang="en-US" altLang="zh-CN" sz="1500" b="1" dirty="0">
                <a:solidFill>
                  <a:schemeClr val="bg1"/>
                </a:solidFill>
                <a:latin typeface="微软雅黑" panose="020B0503020204020204" charset="-122"/>
                <a:ea typeface="微软雅黑" panose="020B0503020204020204" charset="-122"/>
                <a:cs typeface="微软雅黑" panose="020B0503020204020204" charset="-122"/>
              </a:rPr>
              <a:t>3</a:t>
            </a:r>
            <a:r>
              <a:rPr lang="zh-CN" altLang="en-US" sz="1500" b="1"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5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64" name="任意形状 26"/>
          <p:cNvSpPr/>
          <p:nvPr/>
        </p:nvSpPr>
        <p:spPr>
          <a:xfrm>
            <a:off x="4106455" y="3422651"/>
            <a:ext cx="719455" cy="720000"/>
          </a:xfrm>
          <a:custGeom>
            <a:avLst/>
            <a:gdLst>
              <a:gd name="connsiteX0" fmla="*/ 784860 w 784859"/>
              <a:gd name="connsiteY0" fmla="*/ 392430 h 784859"/>
              <a:gd name="connsiteX1" fmla="*/ 392430 w 784859"/>
              <a:gd name="connsiteY1" fmla="*/ 784860 h 784859"/>
              <a:gd name="connsiteX2" fmla="*/ 0 w 784859"/>
              <a:gd name="connsiteY2" fmla="*/ 392430 h 784859"/>
              <a:gd name="connsiteX3" fmla="*/ 392430 w 784859"/>
              <a:gd name="connsiteY3" fmla="*/ 0 h 784859"/>
              <a:gd name="connsiteX4" fmla="*/ 784860 w 784859"/>
              <a:gd name="connsiteY4" fmla="*/ 392430 h 784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4859" h="784859">
                <a:moveTo>
                  <a:pt x="784860" y="392430"/>
                </a:moveTo>
                <a:cubicBezTo>
                  <a:pt x="784860" y="609163"/>
                  <a:pt x="609163" y="784860"/>
                  <a:pt x="392430" y="784860"/>
                </a:cubicBezTo>
                <a:cubicBezTo>
                  <a:pt x="175697" y="784860"/>
                  <a:pt x="0" y="609163"/>
                  <a:pt x="0" y="392430"/>
                </a:cubicBezTo>
                <a:cubicBezTo>
                  <a:pt x="0" y="175697"/>
                  <a:pt x="175697" y="0"/>
                  <a:pt x="392430" y="0"/>
                </a:cubicBezTo>
                <a:cubicBezTo>
                  <a:pt x="609163" y="0"/>
                  <a:pt x="784860" y="175697"/>
                  <a:pt x="784860" y="392430"/>
                </a:cubicBezTo>
                <a:close/>
              </a:path>
            </a:pathLst>
          </a:custGeom>
          <a:solidFill>
            <a:schemeClr val="accent5"/>
          </a:solidFill>
          <a:ln w="38100" cap="flat">
            <a:solidFill>
              <a:schemeClr val="bg1"/>
            </a:solidFill>
            <a:prstDash val="solid"/>
            <a:miter/>
          </a:ln>
        </p:spPr>
        <p:txBody>
          <a:bodyPr rtlCol="0" anchor="ctr"/>
          <a:lstStyle/>
          <a:p>
            <a:pPr algn="ctr">
              <a:spcAft>
                <a:spcPts val="500"/>
              </a:spcAft>
            </a:pPr>
            <a:r>
              <a:rPr lang="en-US" altLang="zh-CN" sz="1500" b="1" dirty="0">
                <a:solidFill>
                  <a:schemeClr val="bg1"/>
                </a:solidFill>
                <a:latin typeface="微软雅黑" panose="020B0503020204020204" charset="-122"/>
                <a:ea typeface="微软雅黑" panose="020B0503020204020204" charset="-122"/>
                <a:cs typeface="微软雅黑" panose="020B0503020204020204" charset="-122"/>
              </a:rPr>
              <a:t>5</a:t>
            </a:r>
            <a:r>
              <a:rPr lang="zh-CN" altLang="en-US" sz="1500" b="1"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5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65" name="任意形状 31"/>
          <p:cNvSpPr/>
          <p:nvPr/>
        </p:nvSpPr>
        <p:spPr>
          <a:xfrm>
            <a:off x="5855245" y="3422651"/>
            <a:ext cx="719455" cy="720000"/>
          </a:xfrm>
          <a:custGeom>
            <a:avLst/>
            <a:gdLst>
              <a:gd name="connsiteX0" fmla="*/ 784860 w 784860"/>
              <a:gd name="connsiteY0" fmla="*/ 392430 h 784859"/>
              <a:gd name="connsiteX1" fmla="*/ 392430 w 784860"/>
              <a:gd name="connsiteY1" fmla="*/ 784860 h 784859"/>
              <a:gd name="connsiteX2" fmla="*/ 0 w 784860"/>
              <a:gd name="connsiteY2" fmla="*/ 392430 h 784859"/>
              <a:gd name="connsiteX3" fmla="*/ 392430 w 784860"/>
              <a:gd name="connsiteY3" fmla="*/ 0 h 784859"/>
              <a:gd name="connsiteX4" fmla="*/ 784860 w 784860"/>
              <a:gd name="connsiteY4" fmla="*/ 392430 h 784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4860" h="784859">
                <a:moveTo>
                  <a:pt x="784860" y="392430"/>
                </a:moveTo>
                <a:cubicBezTo>
                  <a:pt x="784860" y="609163"/>
                  <a:pt x="609163" y="784860"/>
                  <a:pt x="392430" y="784860"/>
                </a:cubicBezTo>
                <a:cubicBezTo>
                  <a:pt x="175696" y="784860"/>
                  <a:pt x="0" y="609163"/>
                  <a:pt x="0" y="392430"/>
                </a:cubicBezTo>
                <a:cubicBezTo>
                  <a:pt x="0" y="175697"/>
                  <a:pt x="175697" y="0"/>
                  <a:pt x="392430" y="0"/>
                </a:cubicBezTo>
                <a:cubicBezTo>
                  <a:pt x="609163" y="0"/>
                  <a:pt x="784860" y="175697"/>
                  <a:pt x="784860" y="392430"/>
                </a:cubicBezTo>
                <a:close/>
              </a:path>
            </a:pathLst>
          </a:custGeom>
          <a:solidFill>
            <a:schemeClr val="accent5">
              <a:lumMod val="60000"/>
              <a:lumOff val="40000"/>
            </a:schemeClr>
          </a:solidFill>
          <a:ln w="38100" cap="flat">
            <a:solidFill>
              <a:schemeClr val="bg1"/>
            </a:solidFill>
            <a:prstDash val="solid"/>
            <a:miter/>
          </a:ln>
        </p:spPr>
        <p:txBody>
          <a:bodyPr rtlCol="0" anchor="ctr"/>
          <a:lstStyle/>
          <a:p>
            <a:pPr algn="ctr">
              <a:spcAft>
                <a:spcPts val="500"/>
              </a:spcAft>
            </a:pPr>
            <a:r>
              <a:rPr lang="en-US" altLang="zh-CN" sz="1500" b="1" dirty="0">
                <a:solidFill>
                  <a:schemeClr val="bg1"/>
                </a:solidFill>
                <a:latin typeface="微软雅黑" panose="020B0503020204020204" charset="-122"/>
                <a:ea typeface="微软雅黑" panose="020B0503020204020204" charset="-122"/>
                <a:cs typeface="微软雅黑" panose="020B0503020204020204" charset="-122"/>
              </a:rPr>
              <a:t>7</a:t>
            </a:r>
            <a:r>
              <a:rPr lang="zh-CN" altLang="en-US" sz="1500" b="1"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5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66" name="任意形状 35"/>
          <p:cNvSpPr/>
          <p:nvPr/>
        </p:nvSpPr>
        <p:spPr>
          <a:xfrm>
            <a:off x="7604035" y="3422651"/>
            <a:ext cx="719455" cy="720000"/>
          </a:xfrm>
          <a:custGeom>
            <a:avLst/>
            <a:gdLst>
              <a:gd name="connsiteX0" fmla="*/ 784860 w 784859"/>
              <a:gd name="connsiteY0" fmla="*/ 392430 h 784859"/>
              <a:gd name="connsiteX1" fmla="*/ 392430 w 784859"/>
              <a:gd name="connsiteY1" fmla="*/ 784860 h 784859"/>
              <a:gd name="connsiteX2" fmla="*/ 0 w 784859"/>
              <a:gd name="connsiteY2" fmla="*/ 392430 h 784859"/>
              <a:gd name="connsiteX3" fmla="*/ 392430 w 784859"/>
              <a:gd name="connsiteY3" fmla="*/ 0 h 784859"/>
              <a:gd name="connsiteX4" fmla="*/ 784860 w 784859"/>
              <a:gd name="connsiteY4" fmla="*/ 392430 h 784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4859" h="784859">
                <a:moveTo>
                  <a:pt x="784860" y="392430"/>
                </a:moveTo>
                <a:cubicBezTo>
                  <a:pt x="784860" y="609163"/>
                  <a:pt x="609163" y="784860"/>
                  <a:pt x="392430" y="784860"/>
                </a:cubicBezTo>
                <a:cubicBezTo>
                  <a:pt x="175697" y="784860"/>
                  <a:pt x="0" y="609163"/>
                  <a:pt x="0" y="392430"/>
                </a:cubicBezTo>
                <a:cubicBezTo>
                  <a:pt x="0" y="175697"/>
                  <a:pt x="175697" y="0"/>
                  <a:pt x="392430" y="0"/>
                </a:cubicBezTo>
                <a:cubicBezTo>
                  <a:pt x="609163" y="0"/>
                  <a:pt x="784860" y="175697"/>
                  <a:pt x="784860" y="392430"/>
                </a:cubicBezTo>
                <a:close/>
              </a:path>
            </a:pathLst>
          </a:custGeom>
          <a:solidFill>
            <a:schemeClr val="accent1">
              <a:lumMod val="60000"/>
              <a:lumOff val="40000"/>
            </a:schemeClr>
          </a:solidFill>
          <a:ln w="38100" cap="flat">
            <a:solidFill>
              <a:schemeClr val="bg1"/>
            </a:solidFill>
            <a:prstDash val="solid"/>
            <a:miter/>
          </a:ln>
        </p:spPr>
        <p:txBody>
          <a:bodyPr rtlCol="0" anchor="ctr"/>
          <a:lstStyle/>
          <a:p>
            <a:pPr algn="ctr">
              <a:spcAft>
                <a:spcPts val="500"/>
              </a:spcAft>
            </a:pPr>
            <a:r>
              <a:rPr lang="en-US" altLang="zh-CN" sz="1500" b="1" dirty="0">
                <a:solidFill>
                  <a:schemeClr val="bg1"/>
                </a:solidFill>
                <a:latin typeface="微软雅黑" panose="020B0503020204020204" charset="-122"/>
                <a:ea typeface="微软雅黑" panose="020B0503020204020204" charset="-122"/>
                <a:cs typeface="微软雅黑" panose="020B0503020204020204" charset="-122"/>
              </a:rPr>
              <a:t>9</a:t>
            </a:r>
            <a:r>
              <a:rPr lang="zh-CN" altLang="en-US" sz="1500" b="1"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5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67" name="任意形状 40"/>
          <p:cNvSpPr/>
          <p:nvPr/>
        </p:nvSpPr>
        <p:spPr>
          <a:xfrm>
            <a:off x="9352825" y="3422651"/>
            <a:ext cx="719455" cy="720000"/>
          </a:xfrm>
          <a:custGeom>
            <a:avLst/>
            <a:gdLst>
              <a:gd name="connsiteX0" fmla="*/ 784860 w 784859"/>
              <a:gd name="connsiteY0" fmla="*/ 392430 h 784859"/>
              <a:gd name="connsiteX1" fmla="*/ 392430 w 784859"/>
              <a:gd name="connsiteY1" fmla="*/ 784860 h 784859"/>
              <a:gd name="connsiteX2" fmla="*/ 0 w 784859"/>
              <a:gd name="connsiteY2" fmla="*/ 392430 h 784859"/>
              <a:gd name="connsiteX3" fmla="*/ 392430 w 784859"/>
              <a:gd name="connsiteY3" fmla="*/ 0 h 784859"/>
              <a:gd name="connsiteX4" fmla="*/ 784860 w 784859"/>
              <a:gd name="connsiteY4" fmla="*/ 392430 h 784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4859" h="784859">
                <a:moveTo>
                  <a:pt x="784860" y="392430"/>
                </a:moveTo>
                <a:cubicBezTo>
                  <a:pt x="784860" y="609163"/>
                  <a:pt x="609163" y="784860"/>
                  <a:pt x="392430" y="784860"/>
                </a:cubicBezTo>
                <a:cubicBezTo>
                  <a:pt x="175697" y="784860"/>
                  <a:pt x="0" y="609163"/>
                  <a:pt x="0" y="392430"/>
                </a:cubicBezTo>
                <a:cubicBezTo>
                  <a:pt x="0" y="175697"/>
                  <a:pt x="175697" y="0"/>
                  <a:pt x="392430" y="0"/>
                </a:cubicBezTo>
                <a:cubicBezTo>
                  <a:pt x="609163" y="0"/>
                  <a:pt x="784860" y="175697"/>
                  <a:pt x="784860" y="392430"/>
                </a:cubicBezTo>
                <a:close/>
              </a:path>
            </a:pathLst>
          </a:custGeom>
          <a:solidFill>
            <a:schemeClr val="accent1"/>
          </a:solidFill>
          <a:ln w="38100" cap="flat">
            <a:solidFill>
              <a:schemeClr val="bg1"/>
            </a:solidFill>
            <a:prstDash val="solid"/>
            <a:miter/>
          </a:ln>
        </p:spPr>
        <p:txBody>
          <a:bodyPr rtlCol="0" anchor="ctr"/>
          <a:lstStyle/>
          <a:p>
            <a:pPr algn="ctr">
              <a:spcAft>
                <a:spcPts val="500"/>
              </a:spcAft>
            </a:pPr>
            <a:r>
              <a:rPr lang="en-US" altLang="zh-CN" sz="1500" b="1" dirty="0">
                <a:solidFill>
                  <a:schemeClr val="bg1"/>
                </a:solidFill>
                <a:latin typeface="微软雅黑" panose="020B0503020204020204" charset="-122"/>
                <a:ea typeface="微软雅黑" panose="020B0503020204020204" charset="-122"/>
                <a:cs typeface="微软雅黑" panose="020B0503020204020204" charset="-122"/>
              </a:rPr>
              <a:t>11</a:t>
            </a:r>
            <a:r>
              <a:rPr lang="zh-CN" altLang="en-US" sz="1500" b="1"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5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68" name="任意形状 52"/>
          <p:cNvSpPr/>
          <p:nvPr/>
        </p:nvSpPr>
        <p:spPr>
          <a:xfrm>
            <a:off x="1483270" y="3422651"/>
            <a:ext cx="719455" cy="720000"/>
          </a:xfrm>
          <a:custGeom>
            <a:avLst/>
            <a:gdLst>
              <a:gd name="connsiteX0" fmla="*/ 784860 w 784860"/>
              <a:gd name="connsiteY0" fmla="*/ 392430 h 784859"/>
              <a:gd name="connsiteX1" fmla="*/ 392430 w 784860"/>
              <a:gd name="connsiteY1" fmla="*/ 784860 h 784859"/>
              <a:gd name="connsiteX2" fmla="*/ 0 w 784860"/>
              <a:gd name="connsiteY2" fmla="*/ 392430 h 784859"/>
              <a:gd name="connsiteX3" fmla="*/ 392430 w 784860"/>
              <a:gd name="connsiteY3" fmla="*/ 0 h 784859"/>
              <a:gd name="connsiteX4" fmla="*/ 784860 w 784860"/>
              <a:gd name="connsiteY4" fmla="*/ 392430 h 784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4860" h="784859">
                <a:moveTo>
                  <a:pt x="784860" y="392430"/>
                </a:moveTo>
                <a:cubicBezTo>
                  <a:pt x="784860" y="609163"/>
                  <a:pt x="609163" y="784860"/>
                  <a:pt x="392430" y="784860"/>
                </a:cubicBezTo>
                <a:cubicBezTo>
                  <a:pt x="175697" y="784860"/>
                  <a:pt x="0" y="609163"/>
                  <a:pt x="0" y="392430"/>
                </a:cubicBezTo>
                <a:cubicBezTo>
                  <a:pt x="0" y="175697"/>
                  <a:pt x="175697" y="0"/>
                  <a:pt x="392430" y="0"/>
                </a:cubicBezTo>
                <a:cubicBezTo>
                  <a:pt x="609163" y="0"/>
                  <a:pt x="784860" y="175697"/>
                  <a:pt x="784860" y="392430"/>
                </a:cubicBezTo>
                <a:close/>
              </a:path>
            </a:pathLst>
          </a:custGeom>
          <a:solidFill>
            <a:schemeClr val="accent1"/>
          </a:solidFill>
          <a:ln w="38100" cap="flat">
            <a:solidFill>
              <a:schemeClr val="bg1"/>
            </a:solidFill>
            <a:prstDash val="solid"/>
            <a:miter/>
          </a:ln>
        </p:spPr>
        <p:txBody>
          <a:bodyPr rtlCol="0" anchor="ctr"/>
          <a:lstStyle/>
          <a:p>
            <a:pPr algn="ctr">
              <a:spcAft>
                <a:spcPts val="500"/>
              </a:spcAft>
            </a:pPr>
            <a:r>
              <a:rPr lang="en-US" altLang="zh-CN" sz="1500" b="1" dirty="0">
                <a:solidFill>
                  <a:schemeClr val="bg1"/>
                </a:solidFill>
                <a:latin typeface="微软雅黑" panose="020B0503020204020204" charset="-122"/>
                <a:ea typeface="微软雅黑" panose="020B0503020204020204" charset="-122"/>
                <a:cs typeface="微软雅黑" panose="020B0503020204020204" charset="-122"/>
              </a:rPr>
              <a:t>2</a:t>
            </a:r>
            <a:r>
              <a:rPr lang="zh-CN" altLang="en-US" sz="1500" b="1"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5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69" name="任意形状 55"/>
          <p:cNvSpPr/>
          <p:nvPr/>
        </p:nvSpPr>
        <p:spPr>
          <a:xfrm>
            <a:off x="3232060" y="3422651"/>
            <a:ext cx="719455" cy="720000"/>
          </a:xfrm>
          <a:custGeom>
            <a:avLst/>
            <a:gdLst>
              <a:gd name="connsiteX0" fmla="*/ 784860 w 784859"/>
              <a:gd name="connsiteY0" fmla="*/ 392430 h 784859"/>
              <a:gd name="connsiteX1" fmla="*/ 392430 w 784859"/>
              <a:gd name="connsiteY1" fmla="*/ 784860 h 784859"/>
              <a:gd name="connsiteX2" fmla="*/ 0 w 784859"/>
              <a:gd name="connsiteY2" fmla="*/ 392430 h 784859"/>
              <a:gd name="connsiteX3" fmla="*/ 392430 w 784859"/>
              <a:gd name="connsiteY3" fmla="*/ 0 h 784859"/>
              <a:gd name="connsiteX4" fmla="*/ 784860 w 784859"/>
              <a:gd name="connsiteY4" fmla="*/ 392430 h 784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4859" h="784859">
                <a:moveTo>
                  <a:pt x="784860" y="392430"/>
                </a:moveTo>
                <a:cubicBezTo>
                  <a:pt x="784860" y="609163"/>
                  <a:pt x="609163" y="784860"/>
                  <a:pt x="392430" y="784860"/>
                </a:cubicBezTo>
                <a:cubicBezTo>
                  <a:pt x="175697" y="784860"/>
                  <a:pt x="0" y="609163"/>
                  <a:pt x="0" y="392430"/>
                </a:cubicBezTo>
                <a:cubicBezTo>
                  <a:pt x="0" y="175697"/>
                  <a:pt x="175697" y="0"/>
                  <a:pt x="392430" y="0"/>
                </a:cubicBezTo>
                <a:cubicBezTo>
                  <a:pt x="609163" y="0"/>
                  <a:pt x="784860" y="175697"/>
                  <a:pt x="784860" y="392430"/>
                </a:cubicBezTo>
                <a:close/>
              </a:path>
            </a:pathLst>
          </a:custGeom>
          <a:solidFill>
            <a:schemeClr val="accent1">
              <a:lumMod val="60000"/>
              <a:lumOff val="40000"/>
            </a:schemeClr>
          </a:solidFill>
          <a:ln w="38100" cap="flat">
            <a:solidFill>
              <a:schemeClr val="bg1"/>
            </a:solidFill>
            <a:prstDash val="solid"/>
            <a:miter/>
          </a:ln>
        </p:spPr>
        <p:txBody>
          <a:bodyPr rtlCol="0" anchor="ctr"/>
          <a:lstStyle/>
          <a:p>
            <a:pPr algn="ctr">
              <a:spcAft>
                <a:spcPts val="500"/>
              </a:spcAft>
            </a:pPr>
            <a:r>
              <a:rPr lang="en-US" altLang="zh-CN" sz="1500" b="1" dirty="0">
                <a:solidFill>
                  <a:schemeClr val="bg1"/>
                </a:solidFill>
                <a:latin typeface="微软雅黑" panose="020B0503020204020204" charset="-122"/>
                <a:ea typeface="微软雅黑" panose="020B0503020204020204" charset="-122"/>
                <a:cs typeface="微软雅黑" panose="020B0503020204020204" charset="-122"/>
              </a:rPr>
              <a:t>4</a:t>
            </a:r>
            <a:r>
              <a:rPr lang="zh-CN" altLang="en-US" sz="1500" b="1"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5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70" name="任意形状 81"/>
          <p:cNvSpPr/>
          <p:nvPr/>
        </p:nvSpPr>
        <p:spPr>
          <a:xfrm>
            <a:off x="4980850" y="3422651"/>
            <a:ext cx="719455" cy="720000"/>
          </a:xfrm>
          <a:custGeom>
            <a:avLst/>
            <a:gdLst>
              <a:gd name="connsiteX0" fmla="*/ 784860 w 784859"/>
              <a:gd name="connsiteY0" fmla="*/ 392430 h 784859"/>
              <a:gd name="connsiteX1" fmla="*/ 392430 w 784859"/>
              <a:gd name="connsiteY1" fmla="*/ 784860 h 784859"/>
              <a:gd name="connsiteX2" fmla="*/ 0 w 784859"/>
              <a:gd name="connsiteY2" fmla="*/ 392430 h 784859"/>
              <a:gd name="connsiteX3" fmla="*/ 392430 w 784859"/>
              <a:gd name="connsiteY3" fmla="*/ 0 h 784859"/>
              <a:gd name="connsiteX4" fmla="*/ 784860 w 784859"/>
              <a:gd name="connsiteY4" fmla="*/ 392430 h 784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4859" h="784859">
                <a:moveTo>
                  <a:pt x="784860" y="392430"/>
                </a:moveTo>
                <a:cubicBezTo>
                  <a:pt x="784860" y="609163"/>
                  <a:pt x="609163" y="784860"/>
                  <a:pt x="392430" y="784860"/>
                </a:cubicBezTo>
                <a:cubicBezTo>
                  <a:pt x="175697" y="784860"/>
                  <a:pt x="0" y="609163"/>
                  <a:pt x="0" y="392430"/>
                </a:cubicBezTo>
                <a:cubicBezTo>
                  <a:pt x="0" y="175697"/>
                  <a:pt x="175697" y="0"/>
                  <a:pt x="392430" y="0"/>
                </a:cubicBezTo>
                <a:cubicBezTo>
                  <a:pt x="609164" y="0"/>
                  <a:pt x="784860" y="175697"/>
                  <a:pt x="784860" y="392430"/>
                </a:cubicBezTo>
                <a:close/>
              </a:path>
            </a:pathLst>
          </a:custGeom>
          <a:solidFill>
            <a:schemeClr val="accent5"/>
          </a:solidFill>
          <a:ln w="38100" cap="flat">
            <a:solidFill>
              <a:schemeClr val="bg1"/>
            </a:solidFill>
            <a:prstDash val="solid"/>
            <a:miter/>
          </a:ln>
        </p:spPr>
        <p:txBody>
          <a:bodyPr rtlCol="0" anchor="ctr"/>
          <a:lstStyle/>
          <a:p>
            <a:pPr algn="ctr">
              <a:spcAft>
                <a:spcPts val="500"/>
              </a:spcAft>
            </a:pPr>
            <a:r>
              <a:rPr lang="en-US" altLang="zh-CN" sz="1500" b="1" dirty="0">
                <a:solidFill>
                  <a:schemeClr val="bg1"/>
                </a:solidFill>
                <a:latin typeface="微软雅黑" panose="020B0503020204020204" charset="-122"/>
                <a:ea typeface="微软雅黑" panose="020B0503020204020204" charset="-122"/>
                <a:cs typeface="微软雅黑" panose="020B0503020204020204" charset="-122"/>
              </a:rPr>
              <a:t>6</a:t>
            </a:r>
            <a:r>
              <a:rPr lang="zh-CN" altLang="en-US" sz="1500" b="1"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5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71" name="任意形状 84"/>
          <p:cNvSpPr/>
          <p:nvPr/>
        </p:nvSpPr>
        <p:spPr>
          <a:xfrm>
            <a:off x="6729640" y="3422651"/>
            <a:ext cx="719455" cy="720000"/>
          </a:xfrm>
          <a:custGeom>
            <a:avLst/>
            <a:gdLst>
              <a:gd name="connsiteX0" fmla="*/ 784860 w 784859"/>
              <a:gd name="connsiteY0" fmla="*/ 392430 h 784859"/>
              <a:gd name="connsiteX1" fmla="*/ 392430 w 784859"/>
              <a:gd name="connsiteY1" fmla="*/ 784860 h 784859"/>
              <a:gd name="connsiteX2" fmla="*/ 0 w 784859"/>
              <a:gd name="connsiteY2" fmla="*/ 392430 h 784859"/>
              <a:gd name="connsiteX3" fmla="*/ 392430 w 784859"/>
              <a:gd name="connsiteY3" fmla="*/ 0 h 784859"/>
              <a:gd name="connsiteX4" fmla="*/ 784860 w 784859"/>
              <a:gd name="connsiteY4" fmla="*/ 392430 h 784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4859" h="784859">
                <a:moveTo>
                  <a:pt x="784860" y="392430"/>
                </a:moveTo>
                <a:cubicBezTo>
                  <a:pt x="784860" y="609163"/>
                  <a:pt x="609163" y="784860"/>
                  <a:pt x="392430" y="784860"/>
                </a:cubicBezTo>
                <a:cubicBezTo>
                  <a:pt x="175697" y="784860"/>
                  <a:pt x="0" y="609163"/>
                  <a:pt x="0" y="392430"/>
                </a:cubicBezTo>
                <a:cubicBezTo>
                  <a:pt x="0" y="175697"/>
                  <a:pt x="175697" y="0"/>
                  <a:pt x="392430" y="0"/>
                </a:cubicBezTo>
                <a:cubicBezTo>
                  <a:pt x="609163" y="0"/>
                  <a:pt x="784860" y="175697"/>
                  <a:pt x="784860" y="392430"/>
                </a:cubicBezTo>
                <a:close/>
              </a:path>
            </a:pathLst>
          </a:custGeom>
          <a:solidFill>
            <a:schemeClr val="accent5">
              <a:lumMod val="60000"/>
              <a:lumOff val="40000"/>
            </a:schemeClr>
          </a:solidFill>
          <a:ln w="38100" cap="flat">
            <a:solidFill>
              <a:schemeClr val="bg1"/>
            </a:solidFill>
            <a:prstDash val="solid"/>
            <a:miter/>
          </a:ln>
        </p:spPr>
        <p:txBody>
          <a:bodyPr rtlCol="0" anchor="ctr"/>
          <a:lstStyle/>
          <a:p>
            <a:pPr algn="ctr">
              <a:spcAft>
                <a:spcPts val="500"/>
              </a:spcAft>
            </a:pPr>
            <a:r>
              <a:rPr lang="en-US" altLang="zh-CN" sz="1500" b="1" dirty="0">
                <a:solidFill>
                  <a:schemeClr val="bg1"/>
                </a:solidFill>
                <a:latin typeface="微软雅黑" panose="020B0503020204020204" charset="-122"/>
                <a:ea typeface="微软雅黑" panose="020B0503020204020204" charset="-122"/>
                <a:cs typeface="微软雅黑" panose="020B0503020204020204" charset="-122"/>
              </a:rPr>
              <a:t>8</a:t>
            </a:r>
            <a:r>
              <a:rPr lang="zh-CN" altLang="en-US" sz="1500" b="1"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5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72" name="任意形状 87"/>
          <p:cNvSpPr/>
          <p:nvPr/>
        </p:nvSpPr>
        <p:spPr>
          <a:xfrm>
            <a:off x="8478430" y="3422651"/>
            <a:ext cx="719455" cy="720000"/>
          </a:xfrm>
          <a:custGeom>
            <a:avLst/>
            <a:gdLst>
              <a:gd name="connsiteX0" fmla="*/ 784860 w 784859"/>
              <a:gd name="connsiteY0" fmla="*/ 392430 h 784859"/>
              <a:gd name="connsiteX1" fmla="*/ 392430 w 784859"/>
              <a:gd name="connsiteY1" fmla="*/ 784860 h 784859"/>
              <a:gd name="connsiteX2" fmla="*/ -1 w 784859"/>
              <a:gd name="connsiteY2" fmla="*/ 392430 h 784859"/>
              <a:gd name="connsiteX3" fmla="*/ 392430 w 784859"/>
              <a:gd name="connsiteY3" fmla="*/ 0 h 784859"/>
              <a:gd name="connsiteX4" fmla="*/ 784860 w 784859"/>
              <a:gd name="connsiteY4" fmla="*/ 392430 h 784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4859" h="784859">
                <a:moveTo>
                  <a:pt x="784860" y="392430"/>
                </a:moveTo>
                <a:cubicBezTo>
                  <a:pt x="784860" y="609163"/>
                  <a:pt x="609163" y="784860"/>
                  <a:pt x="392430" y="784860"/>
                </a:cubicBezTo>
                <a:cubicBezTo>
                  <a:pt x="175696" y="784860"/>
                  <a:pt x="-1" y="609163"/>
                  <a:pt x="-1" y="392430"/>
                </a:cubicBezTo>
                <a:cubicBezTo>
                  <a:pt x="-1" y="175697"/>
                  <a:pt x="175696" y="0"/>
                  <a:pt x="392430" y="0"/>
                </a:cubicBezTo>
                <a:cubicBezTo>
                  <a:pt x="609163" y="0"/>
                  <a:pt x="784860" y="175697"/>
                  <a:pt x="784860" y="392430"/>
                </a:cubicBezTo>
                <a:close/>
              </a:path>
            </a:pathLst>
          </a:custGeom>
          <a:solidFill>
            <a:schemeClr val="accent1">
              <a:lumMod val="60000"/>
              <a:lumOff val="40000"/>
            </a:schemeClr>
          </a:solidFill>
          <a:ln w="38100" cap="flat">
            <a:solidFill>
              <a:schemeClr val="bg1"/>
            </a:solidFill>
            <a:prstDash val="solid"/>
            <a:miter/>
          </a:ln>
        </p:spPr>
        <p:txBody>
          <a:bodyPr rtlCol="0" anchor="ctr"/>
          <a:lstStyle/>
          <a:p>
            <a:pPr algn="ctr">
              <a:spcAft>
                <a:spcPts val="500"/>
              </a:spcAft>
            </a:pPr>
            <a:r>
              <a:rPr lang="en-US" altLang="zh-CN" sz="1500" b="1" dirty="0">
                <a:solidFill>
                  <a:schemeClr val="bg1"/>
                </a:solidFill>
                <a:latin typeface="微软雅黑" panose="020B0503020204020204" charset="-122"/>
                <a:ea typeface="微软雅黑" panose="020B0503020204020204" charset="-122"/>
                <a:cs typeface="微软雅黑" panose="020B0503020204020204" charset="-122"/>
              </a:rPr>
              <a:t>10</a:t>
            </a:r>
            <a:r>
              <a:rPr lang="zh-CN" altLang="en-US" sz="1500" b="1"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5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73" name="任意形状 52"/>
          <p:cNvSpPr/>
          <p:nvPr/>
        </p:nvSpPr>
        <p:spPr>
          <a:xfrm>
            <a:off x="608330" y="3422651"/>
            <a:ext cx="720000" cy="720000"/>
          </a:xfrm>
          <a:custGeom>
            <a:avLst/>
            <a:gdLst>
              <a:gd name="connsiteX0" fmla="*/ 784860 w 784860"/>
              <a:gd name="connsiteY0" fmla="*/ 392430 h 784859"/>
              <a:gd name="connsiteX1" fmla="*/ 392430 w 784860"/>
              <a:gd name="connsiteY1" fmla="*/ 784860 h 784859"/>
              <a:gd name="connsiteX2" fmla="*/ 0 w 784860"/>
              <a:gd name="connsiteY2" fmla="*/ 392430 h 784859"/>
              <a:gd name="connsiteX3" fmla="*/ 392430 w 784860"/>
              <a:gd name="connsiteY3" fmla="*/ 0 h 784859"/>
              <a:gd name="connsiteX4" fmla="*/ 784860 w 784860"/>
              <a:gd name="connsiteY4" fmla="*/ 392430 h 784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4860" h="784859">
                <a:moveTo>
                  <a:pt x="784860" y="392430"/>
                </a:moveTo>
                <a:cubicBezTo>
                  <a:pt x="784860" y="609163"/>
                  <a:pt x="609163" y="784860"/>
                  <a:pt x="392430" y="784860"/>
                </a:cubicBezTo>
                <a:cubicBezTo>
                  <a:pt x="175697" y="784860"/>
                  <a:pt x="0" y="609163"/>
                  <a:pt x="0" y="392430"/>
                </a:cubicBezTo>
                <a:cubicBezTo>
                  <a:pt x="0" y="175697"/>
                  <a:pt x="175697" y="0"/>
                  <a:pt x="392430" y="0"/>
                </a:cubicBezTo>
                <a:cubicBezTo>
                  <a:pt x="609163" y="0"/>
                  <a:pt x="784860" y="175697"/>
                  <a:pt x="784860" y="392430"/>
                </a:cubicBezTo>
                <a:close/>
              </a:path>
            </a:pathLst>
          </a:custGeom>
          <a:solidFill>
            <a:schemeClr val="accent1"/>
          </a:solidFill>
          <a:ln w="38100" cap="flat">
            <a:solidFill>
              <a:schemeClr val="bg1"/>
            </a:solidFill>
            <a:prstDash val="solid"/>
            <a:miter/>
          </a:ln>
        </p:spPr>
        <p:txBody>
          <a:bodyPr rtlCol="0" anchor="ctr"/>
          <a:lstStyle/>
          <a:p>
            <a:pPr algn="ctr">
              <a:spcAft>
                <a:spcPts val="500"/>
              </a:spcAft>
            </a:pPr>
            <a:r>
              <a:rPr lang="en-US" altLang="zh-CN" sz="1500" b="1" dirty="0">
                <a:solidFill>
                  <a:schemeClr val="bg1"/>
                </a:solidFill>
                <a:latin typeface="微软雅黑" panose="020B0503020204020204" charset="-122"/>
                <a:ea typeface="微软雅黑" panose="020B0503020204020204" charset="-122"/>
                <a:cs typeface="微软雅黑" panose="020B0503020204020204" charset="-122"/>
              </a:rPr>
              <a:t>1</a:t>
            </a:r>
            <a:r>
              <a:rPr lang="zh-CN" altLang="en-US" sz="1500" b="1"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5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74" name="任意形状 40"/>
          <p:cNvSpPr/>
          <p:nvPr/>
        </p:nvSpPr>
        <p:spPr>
          <a:xfrm>
            <a:off x="10227220" y="3422651"/>
            <a:ext cx="719455" cy="720000"/>
          </a:xfrm>
          <a:custGeom>
            <a:avLst/>
            <a:gdLst>
              <a:gd name="connsiteX0" fmla="*/ 784860 w 784859"/>
              <a:gd name="connsiteY0" fmla="*/ 392430 h 784859"/>
              <a:gd name="connsiteX1" fmla="*/ 392430 w 784859"/>
              <a:gd name="connsiteY1" fmla="*/ 784860 h 784859"/>
              <a:gd name="connsiteX2" fmla="*/ 0 w 784859"/>
              <a:gd name="connsiteY2" fmla="*/ 392430 h 784859"/>
              <a:gd name="connsiteX3" fmla="*/ 392430 w 784859"/>
              <a:gd name="connsiteY3" fmla="*/ 0 h 784859"/>
              <a:gd name="connsiteX4" fmla="*/ 784860 w 784859"/>
              <a:gd name="connsiteY4" fmla="*/ 392430 h 784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4859" h="784859">
                <a:moveTo>
                  <a:pt x="784860" y="392430"/>
                </a:moveTo>
                <a:cubicBezTo>
                  <a:pt x="784860" y="609163"/>
                  <a:pt x="609163" y="784860"/>
                  <a:pt x="392430" y="784860"/>
                </a:cubicBezTo>
                <a:cubicBezTo>
                  <a:pt x="175697" y="784860"/>
                  <a:pt x="0" y="609163"/>
                  <a:pt x="0" y="392430"/>
                </a:cubicBezTo>
                <a:cubicBezTo>
                  <a:pt x="0" y="175697"/>
                  <a:pt x="175697" y="0"/>
                  <a:pt x="392430" y="0"/>
                </a:cubicBezTo>
                <a:cubicBezTo>
                  <a:pt x="609163" y="0"/>
                  <a:pt x="784860" y="175697"/>
                  <a:pt x="784860" y="392430"/>
                </a:cubicBezTo>
                <a:close/>
              </a:path>
            </a:pathLst>
          </a:custGeom>
          <a:solidFill>
            <a:schemeClr val="accent1"/>
          </a:solidFill>
          <a:ln w="38100" cap="flat">
            <a:solidFill>
              <a:schemeClr val="bg1"/>
            </a:solidFill>
            <a:prstDash val="solid"/>
            <a:miter/>
          </a:ln>
        </p:spPr>
        <p:txBody>
          <a:bodyPr rtlCol="0" anchor="ctr"/>
          <a:lstStyle/>
          <a:p>
            <a:pPr algn="ctr">
              <a:spcAft>
                <a:spcPts val="500"/>
              </a:spcAft>
            </a:pPr>
            <a:r>
              <a:rPr lang="en-US" altLang="zh-CN" sz="1500" b="1" dirty="0">
                <a:solidFill>
                  <a:schemeClr val="bg1"/>
                </a:solidFill>
                <a:latin typeface="微软雅黑" panose="020B0503020204020204" charset="-122"/>
                <a:ea typeface="微软雅黑" panose="020B0503020204020204" charset="-122"/>
                <a:cs typeface="微软雅黑" panose="020B0503020204020204" charset="-122"/>
              </a:rPr>
              <a:t>12</a:t>
            </a:r>
            <a:r>
              <a:rPr lang="zh-CN" altLang="en-US" sz="1500" b="1"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500" b="1" dirty="0">
              <a:solidFill>
                <a:schemeClr val="bg1"/>
              </a:solidFill>
              <a:latin typeface="微软雅黑" panose="020B0503020204020204" charset="-122"/>
              <a:ea typeface="微软雅黑" panose="020B0503020204020204" charset="-122"/>
              <a:cs typeface="微软雅黑" panose="020B0503020204020204" charset="-122"/>
            </a:endParaRPr>
          </a:p>
        </p:txBody>
      </p: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2" name="图片 1"/>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1" name="文本框 10"/>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95694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个人职业发展时间轴</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 name="©天蝎PPT1"/>
          <p:cNvSpPr/>
          <p:nvPr/>
        </p:nvSpPr>
        <p:spPr>
          <a:xfrm>
            <a:off x="406200" y="5476846"/>
            <a:ext cx="2364451" cy="1016870"/>
          </a:xfrm>
          <a:prstGeom prst="rect">
            <a:avLst/>
          </a:prstGeom>
          <a:solidFill>
            <a:schemeClr val="accent1">
              <a:lumMod val="20000"/>
              <a:lumOff val="8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kumimoji="1"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188" name="©天蝎PPT2"/>
          <p:cNvSpPr/>
          <p:nvPr/>
        </p:nvSpPr>
        <p:spPr>
          <a:xfrm>
            <a:off x="2847648" y="5476846"/>
            <a:ext cx="2364451" cy="1016870"/>
          </a:xfrm>
          <a:prstGeom prst="rect">
            <a:avLst/>
          </a:prstGeom>
          <a:solidFill>
            <a:schemeClr val="accent1">
              <a:lumMod val="20000"/>
              <a:lumOff val="8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189" name="©天蝎PPT3"/>
          <p:cNvSpPr/>
          <p:nvPr/>
        </p:nvSpPr>
        <p:spPr>
          <a:xfrm>
            <a:off x="5289096" y="5476846"/>
            <a:ext cx="4003684" cy="1016870"/>
          </a:xfrm>
          <a:prstGeom prst="rect">
            <a:avLst/>
          </a:prstGeom>
          <a:solidFill>
            <a:schemeClr val="accent5">
              <a:lumMod val="20000"/>
              <a:lumOff val="8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190" name="©天蝎PPT4"/>
          <p:cNvSpPr/>
          <p:nvPr/>
        </p:nvSpPr>
        <p:spPr>
          <a:xfrm>
            <a:off x="9394752" y="5476846"/>
            <a:ext cx="2364451" cy="1016870"/>
          </a:xfrm>
          <a:prstGeom prst="rect">
            <a:avLst/>
          </a:prstGeom>
          <a:solidFill>
            <a:schemeClr val="accent1">
              <a:lumMod val="20000"/>
              <a:lumOff val="8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59" name="©天蝎PPT5"/>
          <p:cNvSpPr/>
          <p:nvPr/>
        </p:nvSpPr>
        <p:spPr>
          <a:xfrm>
            <a:off x="312421" y="2967714"/>
            <a:ext cx="11464246" cy="205242"/>
          </a:xfrm>
          <a:custGeom>
            <a:avLst/>
            <a:gdLst>
              <a:gd name="connsiteX0" fmla="*/ 0 w 10434427"/>
              <a:gd name="connsiteY0" fmla="*/ 0 h 205242"/>
              <a:gd name="connsiteX1" fmla="*/ 10434428 w 10434427"/>
              <a:gd name="connsiteY1" fmla="*/ 0 h 205242"/>
              <a:gd name="connsiteX2" fmla="*/ 10434428 w 10434427"/>
              <a:gd name="connsiteY2" fmla="*/ 205242 h 205242"/>
              <a:gd name="connsiteX3" fmla="*/ 0 w 10434427"/>
              <a:gd name="connsiteY3" fmla="*/ 205242 h 205242"/>
            </a:gdLst>
            <a:ahLst/>
            <a:cxnLst>
              <a:cxn ang="0">
                <a:pos x="connsiteX0" y="connsiteY0"/>
              </a:cxn>
              <a:cxn ang="0">
                <a:pos x="connsiteX1" y="connsiteY1"/>
              </a:cxn>
              <a:cxn ang="0">
                <a:pos x="connsiteX2" y="connsiteY2"/>
              </a:cxn>
              <a:cxn ang="0">
                <a:pos x="connsiteX3" y="connsiteY3"/>
              </a:cxn>
            </a:cxnLst>
            <a:rect l="l" t="t" r="r" b="b"/>
            <a:pathLst>
              <a:path w="10434427" h="205242">
                <a:moveTo>
                  <a:pt x="0" y="0"/>
                </a:moveTo>
                <a:lnTo>
                  <a:pt x="10434428" y="0"/>
                </a:lnTo>
                <a:lnTo>
                  <a:pt x="10434428" y="205242"/>
                </a:lnTo>
                <a:lnTo>
                  <a:pt x="0" y="205242"/>
                </a:lnTo>
                <a:close/>
              </a:path>
            </a:pathLst>
          </a:custGeom>
          <a:solidFill>
            <a:schemeClr val="accent1">
              <a:lumMod val="20000"/>
              <a:lumOff val="80000"/>
              <a:alpha val="50000"/>
            </a:schemeClr>
          </a:solidFill>
          <a:ln w="6371" cap="flat">
            <a:noFill/>
            <a:prstDash val="solid"/>
            <a:miter/>
          </a:ln>
        </p:spPr>
        <p:txBody>
          <a:bodyPr rtlCol="0" anchor="ctr"/>
          <a:lstStyle/>
          <a:p>
            <a:endParaRPr lang="zh-CN" altLang="en-US">
              <a:latin typeface="微软雅黑" panose="020B0503020204020204" charset="-122"/>
              <a:ea typeface="微软雅黑" panose="020B0503020204020204" charset="-122"/>
              <a:cs typeface="+mn-ea"/>
              <a:sym typeface="Arial" panose="020B0604020202020204" pitchFamily="34" charset="0"/>
            </a:endParaRPr>
          </a:p>
        </p:txBody>
      </p:sp>
      <p:cxnSp>
        <p:nvCxnSpPr>
          <p:cNvPr id="3" name="©天蝎PPT10"/>
          <p:cNvCxnSpPr/>
          <p:nvPr/>
        </p:nvCxnSpPr>
        <p:spPr>
          <a:xfrm>
            <a:off x="370114" y="3078100"/>
            <a:ext cx="11568361" cy="0"/>
          </a:xfrm>
          <a:prstGeom prst="line">
            <a:avLst/>
          </a:prstGeom>
          <a:ln w="38100">
            <a:gradFill>
              <a:gsLst>
                <a:gs pos="0">
                  <a:schemeClr val="accent1">
                    <a:lumMod val="60000"/>
                    <a:lumOff val="40000"/>
                  </a:schemeClr>
                </a:gs>
                <a:gs pos="99000">
                  <a:schemeClr val="accent1"/>
                </a:gs>
              </a:gsLst>
              <a:lin ang="0" scaled="1"/>
            </a:gradFill>
          </a:ln>
        </p:spPr>
        <p:style>
          <a:lnRef idx="1">
            <a:schemeClr val="accent1"/>
          </a:lnRef>
          <a:fillRef idx="0">
            <a:schemeClr val="accent1"/>
          </a:fillRef>
          <a:effectRef idx="0">
            <a:schemeClr val="accent1"/>
          </a:effectRef>
          <a:fontRef idx="minor">
            <a:schemeClr val="tx1"/>
          </a:fontRef>
        </p:style>
      </p:cxnSp>
      <p:sp>
        <p:nvSpPr>
          <p:cNvPr id="6" name="©天蝎PPT11"/>
          <p:cNvSpPr/>
          <p:nvPr/>
        </p:nvSpPr>
        <p:spPr>
          <a:xfrm>
            <a:off x="1150799" y="2944523"/>
            <a:ext cx="924275" cy="251623"/>
          </a:xfrm>
          <a:prstGeom prst="roundRect">
            <a:avLst/>
          </a:prstGeom>
          <a:gradFill>
            <a:gsLst>
              <a:gs pos="0">
                <a:schemeClr val="accent1">
                  <a:lumMod val="60000"/>
                  <a:lumOff val="40000"/>
                </a:schemeClr>
              </a:gs>
              <a:gs pos="99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kumimoji="1" lang="en-US" sz="1000" b="1">
                <a:latin typeface="微软雅黑" panose="020B0503020204020204" charset="-122"/>
                <a:ea typeface="微软雅黑" panose="020B0503020204020204" charset="-122"/>
                <a:cs typeface="+mn-ea"/>
                <a:sym typeface="Arial" panose="020B0604020202020204" pitchFamily="34" charset="0"/>
              </a:rPr>
              <a:t>2019-2020</a:t>
            </a:r>
            <a:endParaRPr kumimoji="1" lang="en-US" sz="1000" b="1">
              <a:latin typeface="微软雅黑" panose="020B0503020204020204" charset="-122"/>
              <a:ea typeface="微软雅黑" panose="020B0503020204020204" charset="-122"/>
              <a:cs typeface="+mn-ea"/>
              <a:sym typeface="Arial" panose="020B0604020202020204" pitchFamily="34" charset="0"/>
            </a:endParaRPr>
          </a:p>
        </p:txBody>
      </p:sp>
      <p:sp>
        <p:nvSpPr>
          <p:cNvPr id="11" name="©天蝎PPT12"/>
          <p:cNvSpPr txBox="1"/>
          <p:nvPr/>
        </p:nvSpPr>
        <p:spPr>
          <a:xfrm>
            <a:off x="1022985" y="1391285"/>
            <a:ext cx="1924050" cy="349250"/>
          </a:xfrm>
          <a:prstGeom prst="rect">
            <a:avLst/>
          </a:prstGeom>
          <a:noFill/>
        </p:spPr>
        <p:txBody>
          <a:bodyPr wrap="square" rtlCol="0">
            <a:spAutoFit/>
          </a:bodyPr>
          <a:lstStyle/>
          <a:p>
            <a:pPr>
              <a:lnSpc>
                <a:spcPct val="120000"/>
              </a:lnSpc>
            </a:pPr>
            <a:r>
              <a:rPr lang="zh-CN" altLang="en-US" sz="1400" b="1" dirty="0">
                <a:solidFill>
                  <a:schemeClr val="accent1"/>
                </a:solidFill>
                <a:latin typeface="微软雅黑" panose="020B0503020204020204" charset="-122"/>
                <a:ea typeface="微软雅黑" panose="020B0503020204020204" charset="-122"/>
                <a:cs typeface="+mn-ea"/>
                <a:sym typeface="Arial" panose="020B0604020202020204" pitchFamily="34" charset="0"/>
              </a:rPr>
              <a:t>运营部</a:t>
            </a:r>
            <a:r>
              <a:rPr lang="en-US" altLang="zh-CN" sz="1400" b="1" dirty="0">
                <a:solidFill>
                  <a:schemeClr val="accent1"/>
                </a:solidFill>
                <a:latin typeface="微软雅黑" panose="020B0503020204020204" charset="-122"/>
                <a:ea typeface="微软雅黑" panose="020B0503020204020204" charset="-122"/>
                <a:cs typeface="+mn-ea"/>
                <a:sym typeface="Arial" panose="020B0604020202020204" pitchFamily="34" charset="0"/>
              </a:rPr>
              <a:t>-</a:t>
            </a:r>
            <a:r>
              <a:rPr lang="zh-CN" altLang="en-US" sz="1400" b="1" dirty="0">
                <a:solidFill>
                  <a:schemeClr val="accent1"/>
                </a:solidFill>
                <a:latin typeface="微软雅黑" panose="020B0503020204020204" charset="-122"/>
                <a:ea typeface="微软雅黑" panose="020B0503020204020204" charset="-122"/>
                <a:cs typeface="+mn-ea"/>
                <a:sym typeface="Arial" panose="020B0604020202020204" pitchFamily="34" charset="0"/>
              </a:rPr>
              <a:t>运营专员</a:t>
            </a:r>
            <a:endParaRPr lang="zh-CN" altLang="en-US" sz="1400" b="1" dirty="0">
              <a:solidFill>
                <a:schemeClr val="accent1"/>
              </a:solidFill>
              <a:latin typeface="微软雅黑" panose="020B0503020204020204" charset="-122"/>
              <a:ea typeface="微软雅黑" panose="020B0503020204020204" charset="-122"/>
              <a:cs typeface="+mn-ea"/>
              <a:sym typeface="Arial" panose="020B0604020202020204" pitchFamily="34" charset="0"/>
            </a:endParaRPr>
          </a:p>
        </p:txBody>
      </p:sp>
      <p:sp>
        <p:nvSpPr>
          <p:cNvPr id="12" name="©天蝎PPT13"/>
          <p:cNvSpPr txBox="1"/>
          <p:nvPr/>
        </p:nvSpPr>
        <p:spPr>
          <a:xfrm>
            <a:off x="730727" y="1698693"/>
            <a:ext cx="3354385" cy="751205"/>
          </a:xfrm>
          <a:prstGeom prst="rect">
            <a:avLst/>
          </a:prstGeom>
          <a:noFill/>
        </p:spPr>
        <p:txBody>
          <a:bodyPr wrap="square" rtlCol="0">
            <a:spAutoFit/>
          </a:bodyPr>
          <a:lstStyle/>
          <a:p>
            <a:pPr algn="l">
              <a:lnSpc>
                <a:spcPct val="130000"/>
              </a:lnSpc>
              <a:buFont typeface="微软雅黑" panose="020B0503020204020204" charset="-122"/>
              <a:buChar char="•"/>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 协助运营经理完成日常运营流程的执行与优化</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l">
              <a:lnSpc>
                <a:spcPct val="130000"/>
              </a:lnSpc>
              <a:buFont typeface="微软雅黑" panose="020B0503020204020204" charset="-122"/>
              <a:buChar char="•"/>
            </a:pPr>
            <a:r>
              <a:rPr lang="en-US" altLang="zh-CN"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 </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收集并整理运营数据，为部门决策提供基础支持</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l">
              <a:lnSpc>
                <a:spcPct val="130000"/>
              </a:lnSpc>
              <a:buFont typeface="微软雅黑" panose="020B0503020204020204" charset="-122"/>
              <a:buChar char="•"/>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 参与撰写运营报告，配合完成部门内部协调工作</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2" name="©天蝎PPT14"/>
          <p:cNvSpPr txBox="1"/>
          <p:nvPr/>
        </p:nvSpPr>
        <p:spPr>
          <a:xfrm>
            <a:off x="798823" y="5650604"/>
            <a:ext cx="1623367" cy="299056"/>
          </a:xfrm>
          <a:prstGeom prst="rect">
            <a:avLst/>
          </a:prstGeom>
          <a:noFill/>
        </p:spPr>
        <p:txBody>
          <a:bodyPr wrap="square" rtlCol="0">
            <a:spAutoFit/>
          </a:bodyPr>
          <a:lstStyle/>
          <a:p>
            <a:pPr>
              <a:lnSpc>
                <a:spcPct val="120000"/>
              </a:lnSpc>
            </a:pPr>
            <a:r>
              <a:rPr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rPr>
              <a:t>初入职场，积累经验</a:t>
            </a:r>
            <a:endParaRPr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endParaRPr>
          </a:p>
        </p:txBody>
      </p:sp>
      <p:sp>
        <p:nvSpPr>
          <p:cNvPr id="43" name="©天蝎PPT15"/>
          <p:cNvSpPr txBox="1"/>
          <p:nvPr/>
        </p:nvSpPr>
        <p:spPr>
          <a:xfrm>
            <a:off x="495414" y="5943144"/>
            <a:ext cx="2230184" cy="478155"/>
          </a:xfrm>
          <a:prstGeom prst="rect">
            <a:avLst/>
          </a:prstGeom>
          <a:noFill/>
        </p:spPr>
        <p:txBody>
          <a:bodyPr wrap="square" rtlCol="0">
            <a:spAutoFit/>
          </a:bodyPr>
          <a:lstStyle/>
          <a:p>
            <a:pPr algn="ctr">
              <a:lnSpc>
                <a:spcPct val="120000"/>
              </a:lnSpc>
            </a:pPr>
            <a:r>
              <a:rPr lang="zh-CN" altLang="en-US" sz="1050" dirty="0">
                <a:solidFill>
                  <a:schemeClr val="tx2"/>
                </a:solidFill>
                <a:latin typeface="微软雅黑" panose="020B0503020204020204" charset="-122"/>
                <a:ea typeface="微软雅黑" panose="020B0503020204020204" charset="-122"/>
                <a:cs typeface="+mn-ea"/>
                <a:sym typeface="Arial" panose="020B0604020202020204" pitchFamily="34" charset="0"/>
              </a:rPr>
              <a:t>在岗位实践中建立规范意识与协作能力，夯实运营基础。</a:t>
            </a:r>
            <a:endParaRPr lang="zh-CN" altLang="en-US" sz="1050" dirty="0">
              <a:solidFill>
                <a:schemeClr val="tx2"/>
              </a:solidFill>
              <a:latin typeface="微软雅黑" panose="020B0503020204020204" charset="-122"/>
              <a:ea typeface="微软雅黑" panose="020B0503020204020204" charset="-122"/>
              <a:cs typeface="+mn-ea"/>
              <a:sym typeface="Arial" panose="020B0604020202020204" pitchFamily="34" charset="0"/>
            </a:endParaRPr>
          </a:p>
        </p:txBody>
      </p:sp>
      <p:cxnSp>
        <p:nvCxnSpPr>
          <p:cNvPr id="53" name="©天蝎PPT16"/>
          <p:cNvCxnSpPr>
            <a:endCxn id="26" idx="4"/>
          </p:cNvCxnSpPr>
          <p:nvPr/>
        </p:nvCxnSpPr>
        <p:spPr>
          <a:xfrm>
            <a:off x="686277" y="1301038"/>
            <a:ext cx="0" cy="1824611"/>
          </a:xfrm>
          <a:prstGeom prst="line">
            <a:avLst/>
          </a:prstGeom>
          <a:ln w="15875">
            <a:gradFill>
              <a:gsLst>
                <a:gs pos="0">
                  <a:schemeClr val="accent1">
                    <a:lumMod val="20000"/>
                    <a:lumOff val="80000"/>
                    <a:alpha val="0"/>
                  </a:schemeClr>
                </a:gs>
                <a:gs pos="73000">
                  <a:schemeClr val="accent1">
                    <a:lumMod val="60000"/>
                    <a:lumOff val="40000"/>
                  </a:schemeClr>
                </a:gs>
                <a:gs pos="100000">
                  <a:schemeClr val="accent1"/>
                </a:gs>
              </a:gsLst>
              <a:lin ang="5400000" scaled="1"/>
            </a:gradFill>
          </a:ln>
        </p:spPr>
        <p:style>
          <a:lnRef idx="1">
            <a:schemeClr val="accent1"/>
          </a:lnRef>
          <a:fillRef idx="0">
            <a:schemeClr val="accent1"/>
          </a:fillRef>
          <a:effectRef idx="0">
            <a:schemeClr val="accent1"/>
          </a:effectRef>
          <a:fontRef idx="minor">
            <a:schemeClr val="tx1"/>
          </a:fontRef>
        </p:style>
      </p:cxnSp>
      <p:sp>
        <p:nvSpPr>
          <p:cNvPr id="26" name="©天蝎PPT17"/>
          <p:cNvSpPr/>
          <p:nvPr/>
        </p:nvSpPr>
        <p:spPr>
          <a:xfrm>
            <a:off x="641458" y="3036011"/>
            <a:ext cx="89638" cy="89638"/>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62" name="©天蝎PPT18"/>
          <p:cNvSpPr/>
          <p:nvPr/>
        </p:nvSpPr>
        <p:spPr>
          <a:xfrm>
            <a:off x="909834" y="2525801"/>
            <a:ext cx="748219" cy="236517"/>
          </a:xfrm>
          <a:prstGeom prst="roundRect">
            <a:avLst>
              <a:gd name="adj" fmla="val 6704"/>
            </a:avLst>
          </a:prstGeom>
          <a:solidFill>
            <a:schemeClr val="accent1">
              <a:lumMod val="20000"/>
              <a:lumOff val="80000"/>
              <a:alpha val="20120"/>
            </a:schemeClr>
          </a:solidFill>
          <a:ln w="9525">
            <a:solidFill>
              <a:schemeClr val="accent1">
                <a:alpha val="3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63" name="©天蝎PPT19"/>
          <p:cNvSpPr/>
          <p:nvPr/>
        </p:nvSpPr>
        <p:spPr>
          <a:xfrm>
            <a:off x="1717554" y="2525801"/>
            <a:ext cx="748219" cy="236517"/>
          </a:xfrm>
          <a:prstGeom prst="roundRect">
            <a:avLst>
              <a:gd name="adj" fmla="val 6704"/>
            </a:avLst>
          </a:prstGeom>
          <a:solidFill>
            <a:schemeClr val="accent1">
              <a:lumMod val="20000"/>
              <a:lumOff val="80000"/>
              <a:alpha val="20120"/>
            </a:schemeClr>
          </a:solidFill>
          <a:ln w="9525">
            <a:solidFill>
              <a:schemeClr val="accent1">
                <a:alpha val="3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64" name="©天蝎PPT20"/>
          <p:cNvSpPr/>
          <p:nvPr/>
        </p:nvSpPr>
        <p:spPr>
          <a:xfrm>
            <a:off x="2529084" y="2525801"/>
            <a:ext cx="748219" cy="236517"/>
          </a:xfrm>
          <a:prstGeom prst="roundRect">
            <a:avLst>
              <a:gd name="adj" fmla="val 6704"/>
            </a:avLst>
          </a:prstGeom>
          <a:solidFill>
            <a:schemeClr val="accent1">
              <a:lumMod val="20000"/>
              <a:lumOff val="80000"/>
              <a:alpha val="20120"/>
            </a:schemeClr>
          </a:solidFill>
          <a:ln w="9525">
            <a:solidFill>
              <a:schemeClr val="accent1">
                <a:alpha val="3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67" name="©天蝎PPT21"/>
          <p:cNvSpPr txBox="1"/>
          <p:nvPr/>
        </p:nvSpPr>
        <p:spPr>
          <a:xfrm>
            <a:off x="5097055" y="1391170"/>
            <a:ext cx="1937658" cy="349250"/>
          </a:xfrm>
          <a:prstGeom prst="rect">
            <a:avLst/>
          </a:prstGeom>
          <a:noFill/>
        </p:spPr>
        <p:txBody>
          <a:bodyPr wrap="square" rtlCol="0">
            <a:spAutoFit/>
          </a:bodyPr>
          <a:lstStyle/>
          <a:p>
            <a:pPr>
              <a:lnSpc>
                <a:spcPct val="120000"/>
              </a:lnSpc>
            </a:pPr>
            <a:r>
              <a:rPr lang="zh-CN" altLang="en-US" sz="1400" b="1" dirty="0">
                <a:solidFill>
                  <a:schemeClr val="accent1"/>
                </a:solidFill>
                <a:latin typeface="微软雅黑" panose="020B0503020204020204" charset="-122"/>
                <a:ea typeface="微软雅黑" panose="020B0503020204020204" charset="-122"/>
                <a:cs typeface="+mn-ea"/>
                <a:sym typeface="Arial" panose="020B0604020202020204" pitchFamily="34" charset="0"/>
              </a:rPr>
              <a:t>运营部</a:t>
            </a:r>
            <a:r>
              <a:rPr lang="en-US" altLang="zh-CN" sz="1400" b="1" dirty="0">
                <a:solidFill>
                  <a:schemeClr val="accent1"/>
                </a:solidFill>
                <a:latin typeface="微软雅黑" panose="020B0503020204020204" charset="-122"/>
                <a:ea typeface="微软雅黑" panose="020B0503020204020204" charset="-122"/>
                <a:cs typeface="+mn-ea"/>
                <a:sym typeface="Arial" panose="020B0604020202020204" pitchFamily="34" charset="0"/>
              </a:rPr>
              <a:t>-</a:t>
            </a:r>
            <a:r>
              <a:rPr lang="zh-CN" altLang="en-US" sz="1400" b="1" dirty="0">
                <a:solidFill>
                  <a:schemeClr val="accent1"/>
                </a:solidFill>
                <a:latin typeface="微软雅黑" panose="020B0503020204020204" charset="-122"/>
                <a:ea typeface="微软雅黑" panose="020B0503020204020204" charset="-122"/>
                <a:cs typeface="+mn-ea"/>
                <a:sym typeface="Arial" panose="020B0604020202020204" pitchFamily="34" charset="0"/>
              </a:rPr>
              <a:t>项目组长</a:t>
            </a:r>
            <a:r>
              <a:rPr lang="en-US" altLang="zh-CN" sz="1400" b="1" dirty="0">
                <a:solidFill>
                  <a:schemeClr val="accent1"/>
                </a:solidFill>
                <a:latin typeface="微软雅黑" panose="020B0503020204020204" charset="-122"/>
                <a:ea typeface="微软雅黑" panose="020B0503020204020204" charset="-122"/>
                <a:cs typeface="+mn-ea"/>
                <a:sym typeface="Arial" panose="020B0604020202020204" pitchFamily="34" charset="0"/>
              </a:rPr>
              <a:t> </a:t>
            </a:r>
            <a:endParaRPr lang="en-US" altLang="zh-CN" sz="1400" b="1" dirty="0">
              <a:solidFill>
                <a:schemeClr val="accent1"/>
              </a:solidFill>
              <a:latin typeface="微软雅黑" panose="020B0503020204020204" charset="-122"/>
              <a:ea typeface="微软雅黑" panose="020B0503020204020204" charset="-122"/>
              <a:cs typeface="+mn-ea"/>
              <a:sym typeface="Arial" panose="020B0604020202020204" pitchFamily="34" charset="0"/>
            </a:endParaRPr>
          </a:p>
        </p:txBody>
      </p:sp>
      <p:sp>
        <p:nvSpPr>
          <p:cNvPr id="68" name="©天蝎PPT22"/>
          <p:cNvSpPr txBox="1"/>
          <p:nvPr/>
        </p:nvSpPr>
        <p:spPr>
          <a:xfrm>
            <a:off x="4803241" y="1698693"/>
            <a:ext cx="3953167" cy="751205"/>
          </a:xfrm>
          <a:prstGeom prst="rect">
            <a:avLst/>
          </a:prstGeom>
          <a:noFill/>
        </p:spPr>
        <p:txBody>
          <a:bodyPr wrap="square" rtlCol="0">
            <a:spAutoFit/>
          </a:bodyPr>
          <a:lstStyle/>
          <a:p>
            <a:pPr algn="l">
              <a:lnSpc>
                <a:spcPct val="130000"/>
              </a:lnSpc>
              <a:buFont typeface="微软雅黑" panose="020B0503020204020204" charset="-122"/>
              <a:buChar char="•"/>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 带领项目团队，统筹多条线运营项目的执行与交付</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l">
              <a:lnSpc>
                <a:spcPct val="130000"/>
              </a:lnSpc>
              <a:buFont typeface="微软雅黑" panose="020B0503020204020204" charset="-122"/>
              <a:buChar char="•"/>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 优化项目管理机制，提升团队协作与执行效率</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l">
              <a:lnSpc>
                <a:spcPct val="130000"/>
              </a:lnSpc>
              <a:buFont typeface="微软雅黑" panose="020B0503020204020204" charset="-122"/>
              <a:buChar char="•"/>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 参与部门运营策略制定，推动重点项目落地</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69" name="©天蝎PPT23"/>
          <p:cNvCxnSpPr>
            <a:endCxn id="70" idx="4"/>
          </p:cNvCxnSpPr>
          <p:nvPr/>
        </p:nvCxnSpPr>
        <p:spPr>
          <a:xfrm>
            <a:off x="4758792" y="1301038"/>
            <a:ext cx="0" cy="1824611"/>
          </a:xfrm>
          <a:prstGeom prst="line">
            <a:avLst/>
          </a:prstGeom>
          <a:ln w="15875">
            <a:gradFill>
              <a:gsLst>
                <a:gs pos="0">
                  <a:schemeClr val="accent1">
                    <a:lumMod val="20000"/>
                    <a:lumOff val="80000"/>
                    <a:alpha val="0"/>
                  </a:schemeClr>
                </a:gs>
                <a:gs pos="73000">
                  <a:schemeClr val="accent1">
                    <a:lumMod val="60000"/>
                    <a:lumOff val="40000"/>
                  </a:schemeClr>
                </a:gs>
                <a:gs pos="100000">
                  <a:schemeClr val="accent1"/>
                </a:gs>
              </a:gsLst>
              <a:lin ang="5400000" scaled="1"/>
            </a:gradFill>
          </a:ln>
        </p:spPr>
        <p:style>
          <a:lnRef idx="1">
            <a:schemeClr val="accent1"/>
          </a:lnRef>
          <a:fillRef idx="0">
            <a:schemeClr val="accent1"/>
          </a:fillRef>
          <a:effectRef idx="0">
            <a:schemeClr val="accent1"/>
          </a:effectRef>
          <a:fontRef idx="minor">
            <a:schemeClr val="tx1"/>
          </a:fontRef>
        </p:style>
      </p:cxnSp>
      <p:sp>
        <p:nvSpPr>
          <p:cNvPr id="70" name="©天蝎PPT24"/>
          <p:cNvSpPr/>
          <p:nvPr/>
        </p:nvSpPr>
        <p:spPr>
          <a:xfrm>
            <a:off x="4713973" y="3036011"/>
            <a:ext cx="89638" cy="89638"/>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71" name="©天蝎PPT25"/>
          <p:cNvSpPr/>
          <p:nvPr/>
        </p:nvSpPr>
        <p:spPr>
          <a:xfrm>
            <a:off x="4982349" y="2525801"/>
            <a:ext cx="748219" cy="236517"/>
          </a:xfrm>
          <a:prstGeom prst="roundRect">
            <a:avLst>
              <a:gd name="adj" fmla="val 6704"/>
            </a:avLst>
          </a:prstGeom>
          <a:solidFill>
            <a:schemeClr val="accent1">
              <a:lumMod val="20000"/>
              <a:lumOff val="80000"/>
              <a:alpha val="20120"/>
            </a:schemeClr>
          </a:solidFill>
          <a:ln w="9525">
            <a:solidFill>
              <a:schemeClr val="accent1">
                <a:alpha val="3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72" name="©天蝎PPT26"/>
          <p:cNvSpPr/>
          <p:nvPr/>
        </p:nvSpPr>
        <p:spPr>
          <a:xfrm>
            <a:off x="5790069" y="2525801"/>
            <a:ext cx="748219" cy="236517"/>
          </a:xfrm>
          <a:prstGeom prst="roundRect">
            <a:avLst>
              <a:gd name="adj" fmla="val 6704"/>
            </a:avLst>
          </a:prstGeom>
          <a:solidFill>
            <a:schemeClr val="accent1">
              <a:lumMod val="20000"/>
              <a:lumOff val="80000"/>
              <a:alpha val="20120"/>
            </a:schemeClr>
          </a:solidFill>
          <a:ln w="9525">
            <a:solidFill>
              <a:schemeClr val="accent1">
                <a:alpha val="3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73" name="©天蝎PPT27"/>
          <p:cNvSpPr/>
          <p:nvPr/>
        </p:nvSpPr>
        <p:spPr>
          <a:xfrm>
            <a:off x="6601599" y="2525801"/>
            <a:ext cx="748219" cy="236517"/>
          </a:xfrm>
          <a:prstGeom prst="roundRect">
            <a:avLst>
              <a:gd name="adj" fmla="val 6704"/>
            </a:avLst>
          </a:prstGeom>
          <a:solidFill>
            <a:schemeClr val="accent1">
              <a:lumMod val="20000"/>
              <a:lumOff val="80000"/>
              <a:alpha val="20120"/>
            </a:schemeClr>
          </a:solidFill>
          <a:ln w="9525">
            <a:solidFill>
              <a:schemeClr val="accent1">
                <a:alpha val="3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74" name="©天蝎PPT28"/>
          <p:cNvSpPr txBox="1"/>
          <p:nvPr/>
        </p:nvSpPr>
        <p:spPr>
          <a:xfrm>
            <a:off x="9187180" y="1398905"/>
            <a:ext cx="2092960" cy="607695"/>
          </a:xfrm>
          <a:prstGeom prst="rect">
            <a:avLst/>
          </a:prstGeom>
          <a:noFill/>
        </p:spPr>
        <p:txBody>
          <a:bodyPr wrap="square" rtlCol="0">
            <a:spAutoFit/>
          </a:bodyPr>
          <a:lstStyle/>
          <a:p>
            <a:pPr>
              <a:lnSpc>
                <a:spcPct val="120000"/>
              </a:lnSpc>
            </a:pPr>
            <a:r>
              <a:rPr lang="zh-CN" altLang="en-US" sz="1400" b="1" dirty="0">
                <a:solidFill>
                  <a:schemeClr val="accent5"/>
                </a:solidFill>
                <a:latin typeface="微软雅黑" panose="020B0503020204020204" charset="-122"/>
                <a:ea typeface="微软雅黑" panose="020B0503020204020204" charset="-122"/>
                <a:cs typeface="+mn-ea"/>
                <a:sym typeface="Arial" panose="020B0604020202020204" pitchFamily="34" charset="0"/>
              </a:rPr>
              <a:t>运营部</a:t>
            </a:r>
            <a:r>
              <a:rPr lang="en-US" altLang="zh-CN" sz="1400" b="1" dirty="0">
                <a:solidFill>
                  <a:schemeClr val="accent5"/>
                </a:solidFill>
                <a:latin typeface="微软雅黑" panose="020B0503020204020204" charset="-122"/>
                <a:ea typeface="微软雅黑" panose="020B0503020204020204" charset="-122"/>
                <a:cs typeface="+mn-ea"/>
                <a:sym typeface="Arial" panose="020B0604020202020204" pitchFamily="34" charset="0"/>
              </a:rPr>
              <a:t>-</a:t>
            </a:r>
            <a:r>
              <a:rPr lang="zh-CN" altLang="en-US" sz="1400" b="1" dirty="0">
                <a:solidFill>
                  <a:schemeClr val="accent5"/>
                </a:solidFill>
                <a:latin typeface="微软雅黑" panose="020B0503020204020204" charset="-122"/>
                <a:ea typeface="微软雅黑" panose="020B0503020204020204" charset="-122"/>
                <a:cs typeface="+mn-ea"/>
                <a:sym typeface="Arial" panose="020B0604020202020204" pitchFamily="34" charset="0"/>
              </a:rPr>
              <a:t>运营总经理</a:t>
            </a:r>
            <a:r>
              <a:rPr lang="en-US" altLang="zh-CN" sz="1400" b="1" dirty="0">
                <a:solidFill>
                  <a:schemeClr val="accent5"/>
                </a:solidFill>
                <a:latin typeface="微软雅黑" panose="020B0503020204020204" charset="-122"/>
                <a:ea typeface="微软雅黑" panose="020B0503020204020204" charset="-122"/>
                <a:cs typeface="+mn-ea"/>
                <a:sym typeface="Arial" panose="020B0604020202020204" pitchFamily="34" charset="0"/>
              </a:rPr>
              <a:t> </a:t>
            </a:r>
            <a:endParaRPr lang="en-US" altLang="zh-CN" sz="1400" b="1" dirty="0">
              <a:solidFill>
                <a:schemeClr val="accent5"/>
              </a:solidFill>
              <a:latin typeface="微软雅黑" panose="020B0503020204020204" charset="-122"/>
              <a:ea typeface="微软雅黑" panose="020B0503020204020204" charset="-122"/>
              <a:cs typeface="+mn-ea"/>
              <a:sym typeface="Arial" panose="020B0604020202020204" pitchFamily="34" charset="0"/>
            </a:endParaRPr>
          </a:p>
          <a:p>
            <a:pPr>
              <a:lnSpc>
                <a:spcPct val="120000"/>
              </a:lnSpc>
            </a:pPr>
            <a:endParaRPr lang="en-US" altLang="zh-CN" sz="1400" b="1" dirty="0">
              <a:solidFill>
                <a:schemeClr val="accent5"/>
              </a:solidFill>
              <a:latin typeface="微软雅黑" panose="020B0503020204020204" charset="-122"/>
              <a:ea typeface="微软雅黑" panose="020B0503020204020204" charset="-122"/>
              <a:cs typeface="+mn-ea"/>
              <a:sym typeface="Arial" panose="020B0604020202020204" pitchFamily="34" charset="0"/>
            </a:endParaRPr>
          </a:p>
        </p:txBody>
      </p:sp>
      <p:sp>
        <p:nvSpPr>
          <p:cNvPr id="75" name="©天蝎PPT29"/>
          <p:cNvSpPr txBox="1"/>
          <p:nvPr/>
        </p:nvSpPr>
        <p:spPr>
          <a:xfrm>
            <a:off x="8871585" y="1698625"/>
            <a:ext cx="3170555" cy="751205"/>
          </a:xfrm>
          <a:prstGeom prst="rect">
            <a:avLst/>
          </a:prstGeom>
          <a:noFill/>
        </p:spPr>
        <p:txBody>
          <a:bodyPr wrap="square" rtlCol="0">
            <a:spAutoFit/>
          </a:bodyPr>
          <a:lstStyle/>
          <a:p>
            <a:pPr algn="l">
              <a:lnSpc>
                <a:spcPct val="130000"/>
              </a:lnSpc>
              <a:buFont typeface="微软雅黑" panose="020B0503020204020204" charset="-122"/>
              <a:buChar char="•"/>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 </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全面负责运营体系建设与部门整体管理工作</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l">
              <a:lnSpc>
                <a:spcPct val="130000"/>
              </a:lnSpc>
              <a:buFont typeface="微软雅黑" panose="020B0503020204020204" charset="-122"/>
              <a:buChar char="•"/>
            </a:pPr>
            <a:r>
              <a:rPr lang="en-US" altLang="zh-CN"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 </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制定年度运营规划，统筹资源配置与目标分解</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l">
              <a:lnSpc>
                <a:spcPct val="130000"/>
              </a:lnSpc>
              <a:buFont typeface="微软雅黑" panose="020B0503020204020204" charset="-122"/>
              <a:buChar char="•"/>
            </a:pPr>
            <a:r>
              <a:rPr lang="en-US" altLang="zh-CN"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 </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牵头制度建设与人才培养，支撑组织发展</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76" name="©天蝎PPT30"/>
          <p:cNvCxnSpPr>
            <a:endCxn id="77" idx="4"/>
          </p:cNvCxnSpPr>
          <p:nvPr/>
        </p:nvCxnSpPr>
        <p:spPr>
          <a:xfrm>
            <a:off x="8827062" y="1367094"/>
            <a:ext cx="0" cy="1758555"/>
          </a:xfrm>
          <a:prstGeom prst="line">
            <a:avLst/>
          </a:prstGeom>
          <a:ln w="15875">
            <a:gradFill>
              <a:gsLst>
                <a:gs pos="0">
                  <a:schemeClr val="accent5">
                    <a:lumMod val="20000"/>
                    <a:lumOff val="80000"/>
                    <a:alpha val="0"/>
                  </a:schemeClr>
                </a:gs>
                <a:gs pos="72000">
                  <a:schemeClr val="accent5">
                    <a:lumMod val="60000"/>
                    <a:lumOff val="40000"/>
                  </a:schemeClr>
                </a:gs>
                <a:gs pos="99000">
                  <a:schemeClr val="accent5"/>
                </a:gs>
              </a:gsLst>
              <a:lin ang="5400000" scaled="1"/>
            </a:gradFill>
          </a:ln>
        </p:spPr>
        <p:style>
          <a:lnRef idx="1">
            <a:schemeClr val="accent1"/>
          </a:lnRef>
          <a:fillRef idx="0">
            <a:schemeClr val="accent1"/>
          </a:fillRef>
          <a:effectRef idx="0">
            <a:schemeClr val="accent1"/>
          </a:effectRef>
          <a:fontRef idx="minor">
            <a:schemeClr val="tx1"/>
          </a:fontRef>
        </p:style>
      </p:cxnSp>
      <p:sp>
        <p:nvSpPr>
          <p:cNvPr id="77" name="©天蝎PPT31"/>
          <p:cNvSpPr/>
          <p:nvPr/>
        </p:nvSpPr>
        <p:spPr>
          <a:xfrm>
            <a:off x="8782243" y="3036011"/>
            <a:ext cx="89638" cy="89638"/>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78" name="©天蝎PPT32"/>
          <p:cNvSpPr/>
          <p:nvPr/>
        </p:nvSpPr>
        <p:spPr>
          <a:xfrm>
            <a:off x="9050619" y="2525801"/>
            <a:ext cx="748219" cy="236517"/>
          </a:xfrm>
          <a:prstGeom prst="roundRect">
            <a:avLst>
              <a:gd name="adj" fmla="val 6704"/>
            </a:avLst>
          </a:prstGeom>
          <a:solidFill>
            <a:schemeClr val="accent5">
              <a:lumMod val="20000"/>
              <a:lumOff val="80000"/>
              <a:alpha val="20000"/>
            </a:schemeClr>
          </a:solidFill>
          <a:ln w="9525">
            <a:solidFill>
              <a:schemeClr val="accent5">
                <a:alpha val="3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79" name="©天蝎PPT33"/>
          <p:cNvSpPr/>
          <p:nvPr/>
        </p:nvSpPr>
        <p:spPr>
          <a:xfrm>
            <a:off x="9858339" y="2525801"/>
            <a:ext cx="748219" cy="236517"/>
          </a:xfrm>
          <a:prstGeom prst="roundRect">
            <a:avLst>
              <a:gd name="adj" fmla="val 6704"/>
            </a:avLst>
          </a:prstGeom>
          <a:solidFill>
            <a:schemeClr val="accent5">
              <a:lumMod val="20000"/>
              <a:lumOff val="80000"/>
              <a:alpha val="20000"/>
            </a:schemeClr>
          </a:solidFill>
          <a:ln w="9525">
            <a:solidFill>
              <a:schemeClr val="accent5">
                <a:alpha val="33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80" name="©天蝎PPT34"/>
          <p:cNvSpPr/>
          <p:nvPr/>
        </p:nvSpPr>
        <p:spPr>
          <a:xfrm>
            <a:off x="10669869" y="2525801"/>
            <a:ext cx="748219" cy="236517"/>
          </a:xfrm>
          <a:prstGeom prst="roundRect">
            <a:avLst>
              <a:gd name="adj" fmla="val 6704"/>
            </a:avLst>
          </a:prstGeom>
          <a:solidFill>
            <a:schemeClr val="accent5">
              <a:lumMod val="20000"/>
              <a:lumOff val="80000"/>
              <a:alpha val="20000"/>
            </a:schemeClr>
          </a:solidFill>
          <a:ln w="9525">
            <a:solidFill>
              <a:schemeClr val="accent5">
                <a:alpha val="33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81" name="©天蝎PPT35"/>
          <p:cNvSpPr txBox="1"/>
          <p:nvPr/>
        </p:nvSpPr>
        <p:spPr>
          <a:xfrm>
            <a:off x="2956165" y="3347536"/>
            <a:ext cx="1937658" cy="349250"/>
          </a:xfrm>
          <a:prstGeom prst="rect">
            <a:avLst/>
          </a:prstGeom>
          <a:noFill/>
        </p:spPr>
        <p:txBody>
          <a:bodyPr wrap="square" rtlCol="0">
            <a:spAutoFit/>
          </a:bodyPr>
          <a:lstStyle/>
          <a:p>
            <a:pPr>
              <a:lnSpc>
                <a:spcPct val="120000"/>
              </a:lnSpc>
            </a:pPr>
            <a:r>
              <a:rPr lang="zh-CN" altLang="en-US" sz="1400" b="1" dirty="0">
                <a:solidFill>
                  <a:schemeClr val="accent1"/>
                </a:solidFill>
                <a:latin typeface="微软雅黑" panose="020B0503020204020204" charset="-122"/>
                <a:ea typeface="微软雅黑" panose="020B0503020204020204" charset="-122"/>
                <a:cs typeface="+mn-ea"/>
                <a:sym typeface="Arial" panose="020B0604020202020204" pitchFamily="34" charset="0"/>
              </a:rPr>
              <a:t>运营部</a:t>
            </a:r>
            <a:r>
              <a:rPr lang="en-US" altLang="zh-CN" sz="1400" b="1" dirty="0">
                <a:solidFill>
                  <a:schemeClr val="accent1"/>
                </a:solidFill>
                <a:latin typeface="微软雅黑" panose="020B0503020204020204" charset="-122"/>
                <a:ea typeface="微软雅黑" panose="020B0503020204020204" charset="-122"/>
                <a:cs typeface="+mn-ea"/>
                <a:sym typeface="Arial" panose="020B0604020202020204" pitchFamily="34" charset="0"/>
              </a:rPr>
              <a:t>-</a:t>
            </a:r>
            <a:r>
              <a:rPr lang="zh-CN" altLang="en-US" sz="1400" b="1" dirty="0">
                <a:solidFill>
                  <a:schemeClr val="accent1"/>
                </a:solidFill>
                <a:latin typeface="微软雅黑" panose="020B0503020204020204" charset="-122"/>
                <a:ea typeface="微软雅黑" panose="020B0503020204020204" charset="-122"/>
                <a:cs typeface="+mn-ea"/>
                <a:sym typeface="Arial" panose="020B0604020202020204" pitchFamily="34" charset="0"/>
              </a:rPr>
              <a:t>项目经理</a:t>
            </a:r>
            <a:endParaRPr lang="zh-CN" altLang="en-US" sz="1400" b="1" dirty="0">
              <a:solidFill>
                <a:schemeClr val="accent1"/>
              </a:solidFill>
              <a:latin typeface="微软雅黑" panose="020B0503020204020204" charset="-122"/>
              <a:ea typeface="微软雅黑" panose="020B0503020204020204" charset="-122"/>
              <a:cs typeface="+mn-ea"/>
              <a:sym typeface="Arial" panose="020B0604020202020204" pitchFamily="34" charset="0"/>
            </a:endParaRPr>
          </a:p>
        </p:txBody>
      </p:sp>
      <p:sp>
        <p:nvSpPr>
          <p:cNvPr id="85" name="©天蝎PPT36"/>
          <p:cNvSpPr txBox="1"/>
          <p:nvPr/>
        </p:nvSpPr>
        <p:spPr>
          <a:xfrm>
            <a:off x="2673143" y="3632767"/>
            <a:ext cx="3254062" cy="751205"/>
          </a:xfrm>
          <a:prstGeom prst="rect">
            <a:avLst/>
          </a:prstGeom>
          <a:noFill/>
        </p:spPr>
        <p:txBody>
          <a:bodyPr wrap="square" rtlCol="0">
            <a:spAutoFit/>
          </a:bodyPr>
          <a:lstStyle/>
          <a:p>
            <a:pPr algn="l">
              <a:lnSpc>
                <a:spcPct val="130000"/>
              </a:lnSpc>
              <a:buFont typeface="微软雅黑" panose="020B0503020204020204" charset="-122"/>
              <a:buChar char="•"/>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 独立负责某一业务板块的日常运营工作</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l">
              <a:lnSpc>
                <a:spcPct val="130000"/>
              </a:lnSpc>
              <a:buFont typeface="微软雅黑" panose="020B0503020204020204" charset="-122"/>
              <a:buChar char="•"/>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 深入分析运营数据，提出流程改进建议</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l">
              <a:lnSpc>
                <a:spcPct val="130000"/>
              </a:lnSpc>
              <a:buFont typeface="微软雅黑" panose="020B0503020204020204" charset="-122"/>
              <a:buChar char="•"/>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 参与跨部门协作，推动运营项目落地执行</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nvGrpSpPr>
          <p:cNvPr id="98" name="©天蝎PPT37"/>
          <p:cNvGrpSpPr/>
          <p:nvPr/>
        </p:nvGrpSpPr>
        <p:grpSpPr>
          <a:xfrm rot="10800000">
            <a:off x="2557748" y="3028945"/>
            <a:ext cx="89638" cy="1667234"/>
            <a:chOff x="2817116" y="4022018"/>
            <a:chExt cx="89638" cy="1667234"/>
          </a:xfrm>
        </p:grpSpPr>
        <p:cxnSp>
          <p:nvCxnSpPr>
            <p:cNvPr id="86" name="©天蝎PPT37-1"/>
            <p:cNvCxnSpPr/>
            <p:nvPr/>
          </p:nvCxnSpPr>
          <p:spPr>
            <a:xfrm rot="10800000" flipV="1">
              <a:off x="2861935" y="4022018"/>
              <a:ext cx="0" cy="1650142"/>
            </a:xfrm>
            <a:prstGeom prst="line">
              <a:avLst/>
            </a:prstGeom>
            <a:ln w="15875">
              <a:gradFill>
                <a:gsLst>
                  <a:gs pos="0">
                    <a:schemeClr val="accent1">
                      <a:lumMod val="20000"/>
                      <a:lumOff val="80000"/>
                      <a:alpha val="0"/>
                    </a:schemeClr>
                  </a:gs>
                  <a:gs pos="73000">
                    <a:schemeClr val="accent1">
                      <a:lumMod val="60000"/>
                      <a:lumOff val="40000"/>
                    </a:schemeClr>
                  </a:gs>
                  <a:gs pos="100000">
                    <a:schemeClr val="accent1"/>
                  </a:gs>
                </a:gsLst>
                <a:lin ang="5400000" scaled="1"/>
              </a:gradFill>
            </a:ln>
          </p:spPr>
          <p:style>
            <a:lnRef idx="1">
              <a:schemeClr val="accent1"/>
            </a:lnRef>
            <a:fillRef idx="0">
              <a:schemeClr val="accent1"/>
            </a:fillRef>
            <a:effectRef idx="0">
              <a:schemeClr val="accent1"/>
            </a:effectRef>
            <a:fontRef idx="minor">
              <a:schemeClr val="tx1"/>
            </a:fontRef>
          </p:style>
        </p:cxnSp>
        <p:sp>
          <p:nvSpPr>
            <p:cNvPr id="87" name="©天蝎PPT37-2"/>
            <p:cNvSpPr/>
            <p:nvPr/>
          </p:nvSpPr>
          <p:spPr>
            <a:xfrm>
              <a:off x="2817116" y="5599614"/>
              <a:ext cx="89638" cy="89638"/>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mn-ea"/>
                <a:sym typeface="Arial" panose="020B0604020202020204" pitchFamily="34" charset="0"/>
              </a:endParaRPr>
            </a:p>
          </p:txBody>
        </p:sp>
      </p:grpSp>
      <p:sp>
        <p:nvSpPr>
          <p:cNvPr id="88" name="©天蝎PPT38"/>
          <p:cNvSpPr/>
          <p:nvPr/>
        </p:nvSpPr>
        <p:spPr>
          <a:xfrm>
            <a:off x="2852250" y="4442570"/>
            <a:ext cx="748219" cy="236517"/>
          </a:xfrm>
          <a:prstGeom prst="roundRect">
            <a:avLst>
              <a:gd name="adj" fmla="val 6704"/>
            </a:avLst>
          </a:prstGeom>
          <a:solidFill>
            <a:schemeClr val="accent1">
              <a:lumMod val="20000"/>
              <a:lumOff val="80000"/>
              <a:alpha val="20120"/>
            </a:schemeClr>
          </a:solidFill>
          <a:ln w="9525">
            <a:solidFill>
              <a:schemeClr val="accent1">
                <a:alpha val="3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89" name="©天蝎PPT39"/>
          <p:cNvSpPr/>
          <p:nvPr/>
        </p:nvSpPr>
        <p:spPr>
          <a:xfrm>
            <a:off x="3666509" y="4442570"/>
            <a:ext cx="748030" cy="236517"/>
          </a:xfrm>
          <a:prstGeom prst="roundRect">
            <a:avLst>
              <a:gd name="adj" fmla="val 6704"/>
            </a:avLst>
          </a:prstGeom>
          <a:solidFill>
            <a:schemeClr val="accent1">
              <a:lumMod val="20000"/>
              <a:lumOff val="80000"/>
              <a:alpha val="20120"/>
            </a:schemeClr>
          </a:solidFill>
          <a:ln w="9525">
            <a:solidFill>
              <a:schemeClr val="accent1">
                <a:alpha val="3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91" name="©天蝎PPT40"/>
          <p:cNvSpPr txBox="1"/>
          <p:nvPr/>
        </p:nvSpPr>
        <p:spPr>
          <a:xfrm>
            <a:off x="7191322" y="3349077"/>
            <a:ext cx="1937658" cy="349250"/>
          </a:xfrm>
          <a:prstGeom prst="rect">
            <a:avLst/>
          </a:prstGeom>
          <a:noFill/>
        </p:spPr>
        <p:txBody>
          <a:bodyPr wrap="square" rtlCol="0">
            <a:spAutoFit/>
          </a:bodyPr>
          <a:lstStyle/>
          <a:p>
            <a:pPr>
              <a:lnSpc>
                <a:spcPct val="120000"/>
              </a:lnSpc>
            </a:pPr>
            <a:r>
              <a:rPr lang="zh-CN" altLang="en-US" sz="1400" b="1" dirty="0">
                <a:solidFill>
                  <a:schemeClr val="accent1"/>
                </a:solidFill>
                <a:latin typeface="微软雅黑" panose="020B0503020204020204" charset="-122"/>
                <a:ea typeface="微软雅黑" panose="020B0503020204020204" charset="-122"/>
                <a:cs typeface="+mn-ea"/>
                <a:sym typeface="Arial" panose="020B0604020202020204" pitchFamily="34" charset="0"/>
              </a:rPr>
              <a:t>运营部</a:t>
            </a:r>
            <a:r>
              <a:rPr lang="en-US" altLang="zh-CN" sz="1400" b="1" dirty="0">
                <a:solidFill>
                  <a:schemeClr val="accent1"/>
                </a:solidFill>
                <a:latin typeface="微软雅黑" panose="020B0503020204020204" charset="-122"/>
                <a:ea typeface="微软雅黑" panose="020B0503020204020204" charset="-122"/>
                <a:cs typeface="+mn-ea"/>
                <a:sym typeface="Arial" panose="020B0604020202020204" pitchFamily="34" charset="0"/>
              </a:rPr>
              <a:t>-</a:t>
            </a:r>
            <a:r>
              <a:rPr lang="zh-CN" altLang="en-US" sz="1400" b="1" dirty="0">
                <a:solidFill>
                  <a:schemeClr val="accent1"/>
                </a:solidFill>
                <a:latin typeface="微软雅黑" panose="020B0503020204020204" charset="-122"/>
                <a:ea typeface="微软雅黑" panose="020B0503020204020204" charset="-122"/>
                <a:cs typeface="+mn-ea"/>
                <a:sym typeface="Arial" panose="020B0604020202020204" pitchFamily="34" charset="0"/>
              </a:rPr>
              <a:t>运营副总经理</a:t>
            </a:r>
            <a:r>
              <a:rPr lang="en-US" altLang="zh-CN" sz="1400" b="1" dirty="0">
                <a:solidFill>
                  <a:schemeClr val="accent1"/>
                </a:solidFill>
                <a:latin typeface="微软雅黑" panose="020B0503020204020204" charset="-122"/>
                <a:ea typeface="微软雅黑" panose="020B0503020204020204" charset="-122"/>
                <a:cs typeface="+mn-ea"/>
                <a:sym typeface="Arial" panose="020B0604020202020204" pitchFamily="34" charset="0"/>
              </a:rPr>
              <a:t> </a:t>
            </a:r>
            <a:endParaRPr lang="zh-CN" altLang="en-US" sz="1400" b="1" dirty="0">
              <a:solidFill>
                <a:schemeClr val="accent1"/>
              </a:solidFill>
              <a:latin typeface="微软雅黑" panose="020B0503020204020204" charset="-122"/>
              <a:ea typeface="微软雅黑" panose="020B0503020204020204" charset="-122"/>
              <a:cs typeface="+mn-ea"/>
              <a:sym typeface="Arial" panose="020B0604020202020204" pitchFamily="34" charset="0"/>
            </a:endParaRPr>
          </a:p>
        </p:txBody>
      </p:sp>
      <p:sp>
        <p:nvSpPr>
          <p:cNvPr id="95" name="©天蝎PPT41"/>
          <p:cNvSpPr/>
          <p:nvPr/>
        </p:nvSpPr>
        <p:spPr>
          <a:xfrm>
            <a:off x="7109726" y="4442570"/>
            <a:ext cx="748219" cy="236517"/>
          </a:xfrm>
          <a:prstGeom prst="roundRect">
            <a:avLst>
              <a:gd name="adj" fmla="val 6704"/>
            </a:avLst>
          </a:prstGeom>
          <a:solidFill>
            <a:schemeClr val="accent1">
              <a:lumMod val="20000"/>
              <a:lumOff val="80000"/>
              <a:alpha val="20120"/>
            </a:schemeClr>
          </a:solidFill>
          <a:ln w="9525">
            <a:solidFill>
              <a:schemeClr val="accent1">
                <a:alpha val="3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96" name="©天蝎PPT42"/>
          <p:cNvSpPr/>
          <p:nvPr/>
        </p:nvSpPr>
        <p:spPr>
          <a:xfrm>
            <a:off x="7917446" y="4442570"/>
            <a:ext cx="748219" cy="236517"/>
          </a:xfrm>
          <a:prstGeom prst="roundRect">
            <a:avLst>
              <a:gd name="adj" fmla="val 6704"/>
            </a:avLst>
          </a:prstGeom>
          <a:solidFill>
            <a:schemeClr val="accent1">
              <a:lumMod val="20000"/>
              <a:lumOff val="80000"/>
              <a:alpha val="20120"/>
            </a:schemeClr>
          </a:solidFill>
          <a:ln w="9525">
            <a:solidFill>
              <a:schemeClr val="accent1">
                <a:alpha val="3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97" name="©天蝎PPT43"/>
          <p:cNvSpPr/>
          <p:nvPr/>
        </p:nvSpPr>
        <p:spPr>
          <a:xfrm>
            <a:off x="8728976" y="4442570"/>
            <a:ext cx="748219" cy="236517"/>
          </a:xfrm>
          <a:prstGeom prst="roundRect">
            <a:avLst>
              <a:gd name="adj" fmla="val 6704"/>
            </a:avLst>
          </a:prstGeom>
          <a:solidFill>
            <a:schemeClr val="accent1">
              <a:lumMod val="20000"/>
              <a:lumOff val="80000"/>
              <a:alpha val="20120"/>
            </a:schemeClr>
          </a:solidFill>
          <a:ln w="9525">
            <a:solidFill>
              <a:schemeClr val="accent1">
                <a:alpha val="3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grpSp>
        <p:nvGrpSpPr>
          <p:cNvPr id="99" name="©天蝎PPT44"/>
          <p:cNvGrpSpPr/>
          <p:nvPr/>
        </p:nvGrpSpPr>
        <p:grpSpPr>
          <a:xfrm rot="10800000">
            <a:off x="6797746" y="3028945"/>
            <a:ext cx="89638" cy="1650142"/>
            <a:chOff x="2817116" y="4039110"/>
            <a:chExt cx="89638" cy="1650142"/>
          </a:xfrm>
        </p:grpSpPr>
        <p:cxnSp>
          <p:nvCxnSpPr>
            <p:cNvPr id="100" name="©天蝎PPT44-1"/>
            <p:cNvCxnSpPr>
              <a:endCxn id="101" idx="4"/>
            </p:cNvCxnSpPr>
            <p:nvPr/>
          </p:nvCxnSpPr>
          <p:spPr>
            <a:xfrm rot="10800000" flipV="1">
              <a:off x="2861935" y="4039110"/>
              <a:ext cx="0" cy="1650142"/>
            </a:xfrm>
            <a:prstGeom prst="line">
              <a:avLst/>
            </a:prstGeom>
            <a:ln w="15875">
              <a:gradFill>
                <a:gsLst>
                  <a:gs pos="0">
                    <a:schemeClr val="accent1">
                      <a:lumMod val="20000"/>
                      <a:lumOff val="80000"/>
                      <a:alpha val="0"/>
                    </a:schemeClr>
                  </a:gs>
                  <a:gs pos="73000">
                    <a:schemeClr val="accent1">
                      <a:lumMod val="45000"/>
                      <a:lumOff val="55000"/>
                    </a:schemeClr>
                  </a:gs>
                  <a:gs pos="100000">
                    <a:schemeClr val="accent1"/>
                  </a:gs>
                </a:gsLst>
                <a:lin ang="5400000" scaled="1"/>
              </a:gradFill>
            </a:ln>
          </p:spPr>
          <p:style>
            <a:lnRef idx="1">
              <a:schemeClr val="accent1"/>
            </a:lnRef>
            <a:fillRef idx="0">
              <a:schemeClr val="accent1"/>
            </a:fillRef>
            <a:effectRef idx="0">
              <a:schemeClr val="accent1"/>
            </a:effectRef>
            <a:fontRef idx="minor">
              <a:schemeClr val="tx1"/>
            </a:fontRef>
          </p:style>
        </p:cxnSp>
        <p:sp>
          <p:nvSpPr>
            <p:cNvPr id="101" name="©天蝎PPT44-2"/>
            <p:cNvSpPr/>
            <p:nvPr/>
          </p:nvSpPr>
          <p:spPr>
            <a:xfrm>
              <a:off x="2817116" y="5599614"/>
              <a:ext cx="89638" cy="89638"/>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mn-ea"/>
                <a:sym typeface="Arial" panose="020B0604020202020204" pitchFamily="34" charset="0"/>
              </a:endParaRPr>
            </a:p>
          </p:txBody>
        </p:sp>
      </p:grpSp>
      <p:sp>
        <p:nvSpPr>
          <p:cNvPr id="7" name="©天蝎PPT45"/>
          <p:cNvSpPr/>
          <p:nvPr/>
        </p:nvSpPr>
        <p:spPr>
          <a:xfrm>
            <a:off x="11586214" y="2793134"/>
            <a:ext cx="413281" cy="569931"/>
          </a:xfrm>
          <a:custGeom>
            <a:avLst/>
            <a:gdLst>
              <a:gd name="connsiteX0" fmla="*/ 0 w 1029884"/>
              <a:gd name="connsiteY0" fmla="*/ 0 h 2112809"/>
              <a:gd name="connsiteX1" fmla="*/ 1029884 w 1029884"/>
              <a:gd name="connsiteY1" fmla="*/ 1051946 h 2112809"/>
              <a:gd name="connsiteX2" fmla="*/ 0 w 1029884"/>
              <a:gd name="connsiteY2" fmla="*/ 2112810 h 2112809"/>
              <a:gd name="connsiteX3" fmla="*/ 314652 w 1029884"/>
              <a:gd name="connsiteY3" fmla="*/ 1014745 h 2112809"/>
              <a:gd name="connsiteX4" fmla="*/ 0 w 1029884"/>
              <a:gd name="connsiteY4" fmla="*/ 0 h 2112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9884" h="2112809">
                <a:moveTo>
                  <a:pt x="0" y="0"/>
                </a:moveTo>
                <a:lnTo>
                  <a:pt x="1029884" y="1051946"/>
                </a:lnTo>
                <a:lnTo>
                  <a:pt x="0" y="2112810"/>
                </a:lnTo>
                <a:lnTo>
                  <a:pt x="314652" y="1014745"/>
                </a:lnTo>
                <a:lnTo>
                  <a:pt x="0" y="0"/>
                </a:lnTo>
                <a:close/>
              </a:path>
            </a:pathLst>
          </a:custGeom>
          <a:solidFill>
            <a:schemeClr val="accent1"/>
          </a:solidFill>
          <a:ln w="6371" cap="flat">
            <a:noFill/>
            <a:prstDash val="solid"/>
            <a:miter/>
          </a:ln>
        </p:spPr>
        <p:txBody>
          <a:bodyPr rtlCol="0" anchor="ctr"/>
          <a:lstStyle/>
          <a:p>
            <a:endParaRPr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8" name="©天蝎PPT46"/>
          <p:cNvSpPr/>
          <p:nvPr/>
        </p:nvSpPr>
        <p:spPr>
          <a:xfrm>
            <a:off x="3297314" y="2944523"/>
            <a:ext cx="924275" cy="251623"/>
          </a:xfrm>
          <a:prstGeom prst="roundRect">
            <a:avLst/>
          </a:prstGeom>
          <a:gradFill>
            <a:gsLst>
              <a:gs pos="0">
                <a:schemeClr val="accent1">
                  <a:lumMod val="60000"/>
                  <a:lumOff val="40000"/>
                </a:schemeClr>
              </a:gs>
              <a:gs pos="99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kumimoji="1" lang="en-US" altLang="zh-CN" sz="1000" b="1">
                <a:latin typeface="微软雅黑" panose="020B0503020204020204" charset="-122"/>
                <a:ea typeface="微软雅黑" panose="020B0503020204020204" charset="-122"/>
                <a:cs typeface="+mn-ea"/>
                <a:sym typeface="Arial" panose="020B0604020202020204" pitchFamily="34" charset="0"/>
              </a:rPr>
              <a:t>2020-2022</a:t>
            </a:r>
            <a:endParaRPr kumimoji="1" lang="en-US" altLang="zh-CN" sz="1000" b="1">
              <a:latin typeface="微软雅黑" panose="020B0503020204020204" charset="-122"/>
              <a:ea typeface="微软雅黑" panose="020B0503020204020204" charset="-122"/>
              <a:cs typeface="+mn-ea"/>
              <a:sym typeface="Arial" panose="020B0604020202020204" pitchFamily="34" charset="0"/>
            </a:endParaRPr>
          </a:p>
        </p:txBody>
      </p:sp>
      <p:sp>
        <p:nvSpPr>
          <p:cNvPr id="9" name="©天蝎PPT47"/>
          <p:cNvSpPr/>
          <p:nvPr/>
        </p:nvSpPr>
        <p:spPr>
          <a:xfrm>
            <a:off x="5327592" y="2944523"/>
            <a:ext cx="924275" cy="251623"/>
          </a:xfrm>
          <a:prstGeom prst="roundRect">
            <a:avLst/>
          </a:prstGeom>
          <a:gradFill>
            <a:gsLst>
              <a:gs pos="0">
                <a:schemeClr val="accent1">
                  <a:lumMod val="60000"/>
                  <a:lumOff val="40000"/>
                </a:schemeClr>
              </a:gs>
              <a:gs pos="99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kumimoji="1" lang="en-US" altLang="zh-CN" sz="1000" b="1">
                <a:latin typeface="微软雅黑" panose="020B0503020204020204" charset="-122"/>
                <a:ea typeface="微软雅黑" panose="020B0503020204020204" charset="-122"/>
                <a:cs typeface="+mn-ea"/>
                <a:sym typeface="Arial" panose="020B0604020202020204" pitchFamily="34" charset="0"/>
              </a:rPr>
              <a:t>2022-2024</a:t>
            </a:r>
            <a:endParaRPr kumimoji="1" lang="en-US" altLang="zh-CN" sz="1000" b="1">
              <a:latin typeface="微软雅黑" panose="020B0503020204020204" charset="-122"/>
              <a:ea typeface="微软雅黑" panose="020B0503020204020204" charset="-122"/>
              <a:cs typeface="+mn-ea"/>
              <a:sym typeface="Arial" panose="020B0604020202020204" pitchFamily="34" charset="0"/>
            </a:endParaRPr>
          </a:p>
        </p:txBody>
      </p:sp>
      <p:sp>
        <p:nvSpPr>
          <p:cNvPr id="13" name="©天蝎PPT48"/>
          <p:cNvSpPr/>
          <p:nvPr/>
        </p:nvSpPr>
        <p:spPr>
          <a:xfrm>
            <a:off x="7381117" y="2944523"/>
            <a:ext cx="924275" cy="251623"/>
          </a:xfrm>
          <a:prstGeom prst="roundRect">
            <a:avLst/>
          </a:prstGeom>
          <a:gradFill>
            <a:gsLst>
              <a:gs pos="0">
                <a:schemeClr val="accent1">
                  <a:lumMod val="60000"/>
                  <a:lumOff val="40000"/>
                </a:schemeClr>
              </a:gs>
              <a:gs pos="99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kumimoji="1" lang="zh-CN" altLang="en-US" sz="1000" b="1">
                <a:latin typeface="微软雅黑" panose="020B0503020204020204" charset="-122"/>
                <a:ea typeface="微软雅黑" panose="020B0503020204020204" charset="-122"/>
                <a:cs typeface="+mn-ea"/>
                <a:sym typeface="Arial" panose="020B0604020202020204" pitchFamily="34" charset="0"/>
              </a:rPr>
              <a:t>202</a:t>
            </a:r>
            <a:r>
              <a:rPr kumimoji="1" lang="en-US" altLang="zh-CN" sz="1000" b="1">
                <a:latin typeface="微软雅黑" panose="020B0503020204020204" charset="-122"/>
                <a:ea typeface="微软雅黑" panose="020B0503020204020204" charset="-122"/>
                <a:cs typeface="+mn-ea"/>
                <a:sym typeface="Arial" panose="020B0604020202020204" pitchFamily="34" charset="0"/>
              </a:rPr>
              <a:t>4</a:t>
            </a:r>
            <a:r>
              <a:rPr kumimoji="1" lang="zh-CN" altLang="en-US" sz="1000" b="1">
                <a:latin typeface="微软雅黑" panose="020B0503020204020204" charset="-122"/>
                <a:ea typeface="微软雅黑" panose="020B0503020204020204" charset="-122"/>
                <a:cs typeface="+mn-ea"/>
                <a:sym typeface="Arial" panose="020B0604020202020204" pitchFamily="34" charset="0"/>
              </a:rPr>
              <a:t>-2026</a:t>
            </a:r>
            <a:endParaRPr kumimoji="1" lang="zh-CN" altLang="en-US" sz="1000" b="1">
              <a:latin typeface="微软雅黑" panose="020B0503020204020204" charset="-122"/>
              <a:ea typeface="微软雅黑" panose="020B0503020204020204" charset="-122"/>
              <a:cs typeface="+mn-ea"/>
              <a:sym typeface="Arial" panose="020B0604020202020204" pitchFamily="34" charset="0"/>
            </a:endParaRPr>
          </a:p>
        </p:txBody>
      </p:sp>
      <p:sp>
        <p:nvSpPr>
          <p:cNvPr id="14" name="©天蝎PPT49"/>
          <p:cNvSpPr/>
          <p:nvPr/>
        </p:nvSpPr>
        <p:spPr>
          <a:xfrm>
            <a:off x="9760107" y="2944523"/>
            <a:ext cx="924275" cy="251623"/>
          </a:xfrm>
          <a:prstGeom prst="roundRect">
            <a:avLst/>
          </a:prstGeom>
          <a:gradFill>
            <a:gsLst>
              <a:gs pos="0">
                <a:schemeClr val="accent5">
                  <a:lumMod val="60000"/>
                  <a:lumOff val="40000"/>
                </a:schemeClr>
              </a:gs>
              <a:gs pos="99000">
                <a:schemeClr val="accent5"/>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kumimoji="1" lang="zh-CN" altLang="en-US" sz="1000" b="1">
                <a:latin typeface="微软雅黑" panose="020B0503020204020204" charset="-122"/>
                <a:ea typeface="微软雅黑" panose="020B0503020204020204" charset="-122"/>
                <a:cs typeface="+mn-ea"/>
                <a:sym typeface="Arial" panose="020B0604020202020204" pitchFamily="34" charset="0"/>
              </a:rPr>
              <a:t>202</a:t>
            </a:r>
            <a:r>
              <a:rPr kumimoji="1" lang="en-US" altLang="zh-CN" sz="1000" b="1">
                <a:latin typeface="微软雅黑" panose="020B0503020204020204" charset="-122"/>
                <a:ea typeface="微软雅黑" panose="020B0503020204020204" charset="-122"/>
                <a:cs typeface="+mn-ea"/>
                <a:sym typeface="Arial" panose="020B0604020202020204" pitchFamily="34" charset="0"/>
              </a:rPr>
              <a:t>6</a:t>
            </a:r>
            <a:r>
              <a:rPr kumimoji="1" lang="zh-CN" altLang="en-US" sz="1000" b="1">
                <a:latin typeface="微软雅黑" panose="020B0503020204020204" charset="-122"/>
                <a:ea typeface="微软雅黑" panose="020B0503020204020204" charset="-122"/>
                <a:cs typeface="+mn-ea"/>
                <a:sym typeface="Arial" panose="020B0604020202020204" pitchFamily="34" charset="0"/>
              </a:rPr>
              <a:t>-</a:t>
            </a:r>
            <a:r>
              <a:rPr kumimoji="1" lang="zh-CN" altLang="en-US" sz="1000" b="1">
                <a:latin typeface="微软雅黑" panose="020B0503020204020204" charset="-122"/>
                <a:ea typeface="微软雅黑" panose="020B0503020204020204" charset="-122"/>
                <a:cs typeface="+mn-ea"/>
                <a:sym typeface="Arial" panose="020B0604020202020204" pitchFamily="34" charset="0"/>
              </a:rPr>
              <a:t>至今</a:t>
            </a:r>
            <a:endParaRPr kumimoji="1" lang="zh-CN" altLang="en-US" sz="1000" b="1">
              <a:latin typeface="微软雅黑" panose="020B0503020204020204" charset="-122"/>
              <a:ea typeface="微软雅黑" panose="020B0503020204020204" charset="-122"/>
              <a:cs typeface="+mn-ea"/>
              <a:sym typeface="Arial" panose="020B0604020202020204" pitchFamily="34" charset="0"/>
            </a:endParaRPr>
          </a:p>
        </p:txBody>
      </p:sp>
      <p:grpSp>
        <p:nvGrpSpPr>
          <p:cNvPr id="187" name="©天蝎PPT50"/>
          <p:cNvGrpSpPr/>
          <p:nvPr/>
        </p:nvGrpSpPr>
        <p:grpSpPr>
          <a:xfrm>
            <a:off x="408653" y="5241684"/>
            <a:ext cx="11507987" cy="381850"/>
            <a:chOff x="340557" y="5221227"/>
            <a:chExt cx="11193815" cy="381850"/>
          </a:xfrm>
        </p:grpSpPr>
        <p:sp>
          <p:nvSpPr>
            <p:cNvPr id="15" name="©天蝎PPT50-1"/>
            <p:cNvSpPr/>
            <p:nvPr/>
          </p:nvSpPr>
          <p:spPr>
            <a:xfrm>
              <a:off x="340557" y="5221227"/>
              <a:ext cx="2479350" cy="381850"/>
            </a:xfrm>
            <a:prstGeom prst="homePlate">
              <a:avLst/>
            </a:prstGeom>
            <a:gradFill>
              <a:gsLst>
                <a:gs pos="0">
                  <a:schemeClr val="accent1">
                    <a:lumMod val="60000"/>
                    <a:lumOff val="40000"/>
                  </a:schemeClr>
                </a:gs>
                <a:gs pos="99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182" name="©天蝎PPT50-2"/>
            <p:cNvSpPr/>
            <p:nvPr/>
          </p:nvSpPr>
          <p:spPr>
            <a:xfrm>
              <a:off x="2709086" y="5221227"/>
              <a:ext cx="2479350" cy="381850"/>
            </a:xfrm>
            <a:prstGeom prst="chevron">
              <a:avLst/>
            </a:prstGeom>
            <a:gradFill>
              <a:gsLst>
                <a:gs pos="0">
                  <a:schemeClr val="accent1">
                    <a:lumMod val="60000"/>
                    <a:lumOff val="40000"/>
                  </a:schemeClr>
                </a:gs>
                <a:gs pos="99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185" name="©天蝎PPT50-3"/>
            <p:cNvSpPr/>
            <p:nvPr/>
          </p:nvSpPr>
          <p:spPr>
            <a:xfrm>
              <a:off x="5095669" y="5221227"/>
              <a:ext cx="4057471" cy="381850"/>
            </a:xfrm>
            <a:prstGeom prst="chevron">
              <a:avLst/>
            </a:prstGeom>
            <a:gradFill>
              <a:gsLst>
                <a:gs pos="0">
                  <a:schemeClr val="accent5">
                    <a:lumMod val="60000"/>
                    <a:lumOff val="40000"/>
                  </a:schemeClr>
                </a:gs>
                <a:gs pos="99000">
                  <a:schemeClr val="accent5"/>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186" name="©天蝎PPT50-4"/>
            <p:cNvSpPr/>
            <p:nvPr/>
          </p:nvSpPr>
          <p:spPr>
            <a:xfrm>
              <a:off x="9055022" y="5221227"/>
              <a:ext cx="2479350" cy="381850"/>
            </a:xfrm>
            <a:prstGeom prst="chevron">
              <a:avLst/>
            </a:prstGeom>
            <a:gradFill>
              <a:gsLst>
                <a:gs pos="0">
                  <a:schemeClr val="accent1">
                    <a:lumMod val="60000"/>
                    <a:lumOff val="40000"/>
                  </a:schemeClr>
                </a:gs>
                <a:gs pos="99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grpSp>
      <p:sp>
        <p:nvSpPr>
          <p:cNvPr id="193" name="©天蝎PPT52"/>
          <p:cNvSpPr txBox="1"/>
          <p:nvPr/>
        </p:nvSpPr>
        <p:spPr>
          <a:xfrm>
            <a:off x="1706414" y="2513254"/>
            <a:ext cx="748220" cy="260350"/>
          </a:xfrm>
          <a:prstGeom prst="rect">
            <a:avLst/>
          </a:prstGeom>
          <a:noFill/>
        </p:spPr>
        <p:txBody>
          <a:bodyPr wrap="square">
            <a:spAutoFit/>
          </a:bodyPr>
          <a:lstStyle/>
          <a:p>
            <a:pPr algn="ctr"/>
            <a:r>
              <a:rPr lang="zh-CN" altLang="en-US" sz="1100" dirty="0">
                <a:solidFill>
                  <a:schemeClr val="tx2"/>
                </a:solidFill>
                <a:latin typeface="微软雅黑" panose="020B0503020204020204" charset="-122"/>
                <a:ea typeface="微软雅黑" panose="020B0503020204020204" charset="-122"/>
                <a:cs typeface="+mn-ea"/>
                <a:sym typeface="Arial" panose="020B0604020202020204" pitchFamily="34" charset="0"/>
              </a:rPr>
              <a:t>流程执行</a:t>
            </a:r>
            <a:endParaRPr lang="zh-CN" altLang="en-US" sz="1100" dirty="0">
              <a:solidFill>
                <a:schemeClr val="tx2"/>
              </a:solidFill>
              <a:latin typeface="微软雅黑" panose="020B0503020204020204" charset="-122"/>
              <a:ea typeface="微软雅黑" panose="020B0503020204020204" charset="-122"/>
              <a:cs typeface="+mn-ea"/>
              <a:sym typeface="Arial" panose="020B0604020202020204" pitchFamily="34" charset="0"/>
            </a:endParaRPr>
          </a:p>
        </p:txBody>
      </p:sp>
      <p:sp>
        <p:nvSpPr>
          <p:cNvPr id="194" name="©天蝎PPT53"/>
          <p:cNvSpPr txBox="1"/>
          <p:nvPr/>
        </p:nvSpPr>
        <p:spPr>
          <a:xfrm>
            <a:off x="2514797" y="2513254"/>
            <a:ext cx="748220" cy="261610"/>
          </a:xfrm>
          <a:prstGeom prst="rect">
            <a:avLst/>
          </a:prstGeom>
          <a:noFill/>
        </p:spPr>
        <p:txBody>
          <a:bodyPr wrap="square">
            <a:spAutoFit/>
          </a:bodyPr>
          <a:lstStyle/>
          <a:p>
            <a:pPr algn="ctr"/>
            <a:r>
              <a:rPr lang="zh-CN" altLang="en-US" sz="1100" dirty="0">
                <a:solidFill>
                  <a:schemeClr val="tx2"/>
                </a:solidFill>
                <a:latin typeface="微软雅黑" panose="020B0503020204020204" charset="-122"/>
                <a:ea typeface="微软雅黑" panose="020B0503020204020204" charset="-122"/>
                <a:cs typeface="+mn-ea"/>
                <a:sym typeface="Arial" panose="020B0604020202020204" pitchFamily="34" charset="0"/>
              </a:rPr>
              <a:t>协调沟通</a:t>
            </a:r>
            <a:endParaRPr lang="zh-CN" altLang="en-US" sz="1100" dirty="0">
              <a:solidFill>
                <a:schemeClr val="tx2"/>
              </a:solidFill>
              <a:latin typeface="微软雅黑" panose="020B0503020204020204" charset="-122"/>
              <a:ea typeface="微软雅黑" panose="020B0503020204020204" charset="-122"/>
              <a:cs typeface="+mn-ea"/>
              <a:sym typeface="Arial" panose="020B0604020202020204" pitchFamily="34" charset="0"/>
            </a:endParaRPr>
          </a:p>
        </p:txBody>
      </p:sp>
      <p:sp>
        <p:nvSpPr>
          <p:cNvPr id="197" name="©天蝎PPT56"/>
          <p:cNvSpPr txBox="1"/>
          <p:nvPr/>
        </p:nvSpPr>
        <p:spPr>
          <a:xfrm>
            <a:off x="4983894" y="2513254"/>
            <a:ext cx="748220" cy="260350"/>
          </a:xfrm>
          <a:prstGeom prst="rect">
            <a:avLst/>
          </a:prstGeom>
          <a:noFill/>
        </p:spPr>
        <p:txBody>
          <a:bodyPr wrap="square">
            <a:spAutoFit/>
          </a:bodyPr>
          <a:lstStyle/>
          <a:p>
            <a:pPr algn="ctr"/>
            <a:r>
              <a:rPr lang="zh-CN" altLang="en-US" sz="1100" dirty="0">
                <a:latin typeface="微软雅黑" panose="020B0503020204020204" charset="-122"/>
                <a:ea typeface="微软雅黑" panose="020B0503020204020204" charset="-122"/>
                <a:cs typeface="+mn-ea"/>
                <a:sym typeface="Arial" panose="020B0604020202020204" pitchFamily="34" charset="0"/>
              </a:rPr>
              <a:t>团队带领</a:t>
            </a:r>
            <a:endParaRPr lang="zh-CN" altLang="en-US" sz="1100" dirty="0">
              <a:latin typeface="微软雅黑" panose="020B0503020204020204" charset="-122"/>
              <a:ea typeface="微软雅黑" panose="020B0503020204020204" charset="-122"/>
              <a:cs typeface="+mn-ea"/>
              <a:sym typeface="Arial" panose="020B0604020202020204" pitchFamily="34" charset="0"/>
            </a:endParaRPr>
          </a:p>
        </p:txBody>
      </p:sp>
      <p:sp>
        <p:nvSpPr>
          <p:cNvPr id="198" name="©天蝎PPT57"/>
          <p:cNvSpPr txBox="1"/>
          <p:nvPr/>
        </p:nvSpPr>
        <p:spPr>
          <a:xfrm>
            <a:off x="5792277" y="2513254"/>
            <a:ext cx="748220" cy="260350"/>
          </a:xfrm>
          <a:prstGeom prst="rect">
            <a:avLst/>
          </a:prstGeom>
          <a:noFill/>
        </p:spPr>
        <p:txBody>
          <a:bodyPr wrap="square">
            <a:spAutoFit/>
          </a:bodyPr>
          <a:lstStyle/>
          <a:p>
            <a:pPr algn="ctr"/>
            <a:r>
              <a:rPr lang="zh-CN" altLang="en-US" sz="1100" dirty="0">
                <a:latin typeface="微软雅黑" panose="020B0503020204020204" charset="-122"/>
                <a:ea typeface="微软雅黑" panose="020B0503020204020204" charset="-122"/>
                <a:cs typeface="+mn-ea"/>
                <a:sym typeface="Arial" panose="020B0604020202020204" pitchFamily="34" charset="0"/>
              </a:rPr>
              <a:t>机制优化</a:t>
            </a:r>
            <a:endParaRPr lang="zh-CN" altLang="en-US" sz="1100" dirty="0">
              <a:latin typeface="微软雅黑" panose="020B0503020204020204" charset="-122"/>
              <a:ea typeface="微软雅黑" panose="020B0503020204020204" charset="-122"/>
              <a:cs typeface="+mn-ea"/>
              <a:sym typeface="Arial" panose="020B0604020202020204" pitchFamily="34" charset="0"/>
            </a:endParaRPr>
          </a:p>
        </p:txBody>
      </p:sp>
      <p:sp>
        <p:nvSpPr>
          <p:cNvPr id="199" name="©天蝎PPT58"/>
          <p:cNvSpPr txBox="1"/>
          <p:nvPr/>
        </p:nvSpPr>
        <p:spPr>
          <a:xfrm>
            <a:off x="6600660" y="2513254"/>
            <a:ext cx="748220" cy="260350"/>
          </a:xfrm>
          <a:prstGeom prst="rect">
            <a:avLst/>
          </a:prstGeom>
          <a:noFill/>
        </p:spPr>
        <p:txBody>
          <a:bodyPr wrap="square">
            <a:spAutoFit/>
          </a:bodyPr>
          <a:lstStyle/>
          <a:p>
            <a:pPr algn="ctr"/>
            <a:r>
              <a:rPr lang="zh-CN" altLang="en-US" sz="1100" dirty="0">
                <a:latin typeface="微软雅黑" panose="020B0503020204020204" charset="-122"/>
                <a:ea typeface="微软雅黑" panose="020B0503020204020204" charset="-122"/>
                <a:cs typeface="+mn-ea"/>
                <a:sym typeface="Arial" panose="020B0604020202020204" pitchFamily="34" charset="0"/>
              </a:rPr>
              <a:t>策略落地</a:t>
            </a:r>
            <a:endParaRPr lang="zh-CN" altLang="en-US" sz="1100" dirty="0">
              <a:latin typeface="微软雅黑" panose="020B0503020204020204" charset="-122"/>
              <a:ea typeface="微软雅黑" panose="020B0503020204020204" charset="-122"/>
              <a:cs typeface="+mn-ea"/>
              <a:sym typeface="Arial" panose="020B0604020202020204" pitchFamily="34" charset="0"/>
            </a:endParaRPr>
          </a:p>
        </p:txBody>
      </p:sp>
      <p:pic>
        <p:nvPicPr>
          <p:cNvPr id="201" name="©天蝎PPT59"/>
          <p:cNvPicPr>
            <a:picLocks noChangeAspect="1"/>
          </p:cNvPicPr>
          <p:nvPr/>
        </p:nvPicPr>
        <p:blipFill>
          <a:blip r:embed="rId3" cstate="email">
            <a:extLst>
              <a:ext uri="{96DAC541-7B7A-43D3-8B79-37D633B846F1}">
                <asvg:svgBlip xmlns:asvg="http://schemas.microsoft.com/office/drawing/2016/SVG/main" r:embed="rId4"/>
              </a:ext>
            </a:extLst>
          </a:blip>
          <a:stretch>
            <a:fillRect/>
          </a:stretch>
        </p:blipFill>
        <p:spPr>
          <a:xfrm>
            <a:off x="849728" y="1437552"/>
            <a:ext cx="229801" cy="229801"/>
          </a:xfrm>
          <a:prstGeom prst="rect">
            <a:avLst/>
          </a:prstGeom>
        </p:spPr>
      </p:pic>
      <p:pic>
        <p:nvPicPr>
          <p:cNvPr id="202" name="©天蝎PPT60"/>
          <p:cNvPicPr>
            <a:picLocks noChangeAspect="1"/>
          </p:cNvPicPr>
          <p:nvPr/>
        </p:nvPicPr>
        <p:blipFill>
          <a:blip r:embed="rId3" cstate="email">
            <a:extLst>
              <a:ext uri="{96DAC541-7B7A-43D3-8B79-37D633B846F1}">
                <asvg:svgBlip xmlns:asvg="http://schemas.microsoft.com/office/drawing/2016/SVG/main" r:embed="rId5"/>
              </a:ext>
            </a:extLst>
          </a:blip>
          <a:stretch>
            <a:fillRect/>
          </a:stretch>
        </p:blipFill>
        <p:spPr>
          <a:xfrm>
            <a:off x="2788256" y="3394368"/>
            <a:ext cx="229801" cy="229801"/>
          </a:xfrm>
          <a:prstGeom prst="rect">
            <a:avLst/>
          </a:prstGeom>
        </p:spPr>
      </p:pic>
      <p:pic>
        <p:nvPicPr>
          <p:cNvPr id="203" name="©天蝎PPT61"/>
          <p:cNvPicPr>
            <a:picLocks noChangeAspect="1"/>
          </p:cNvPicPr>
          <p:nvPr/>
        </p:nvPicPr>
        <p:blipFill>
          <a:blip r:embed="rId3" cstate="email">
            <a:extLst>
              <a:ext uri="{96DAC541-7B7A-43D3-8B79-37D633B846F1}">
                <asvg:svgBlip xmlns:asvg="http://schemas.microsoft.com/office/drawing/2016/SVG/main" r:embed="rId6"/>
              </a:ext>
            </a:extLst>
          </a:blip>
          <a:stretch>
            <a:fillRect/>
          </a:stretch>
        </p:blipFill>
        <p:spPr>
          <a:xfrm>
            <a:off x="4918808" y="1437552"/>
            <a:ext cx="229801" cy="229801"/>
          </a:xfrm>
          <a:prstGeom prst="rect">
            <a:avLst/>
          </a:prstGeom>
        </p:spPr>
      </p:pic>
      <p:pic>
        <p:nvPicPr>
          <p:cNvPr id="204" name="©天蝎PPT62"/>
          <p:cNvPicPr>
            <a:picLocks noChangeAspect="1"/>
          </p:cNvPicPr>
          <p:nvPr/>
        </p:nvPicPr>
        <p:blipFill>
          <a:blip r:embed="rId3" cstate="email">
            <a:extLst>
              <a:ext uri="{96DAC541-7B7A-43D3-8B79-37D633B846F1}">
                <asvg:svgBlip xmlns:asvg="http://schemas.microsoft.com/office/drawing/2016/SVG/main" r:embed="rId7"/>
              </a:ext>
            </a:extLst>
          </a:blip>
          <a:stretch>
            <a:fillRect/>
          </a:stretch>
        </p:blipFill>
        <p:spPr>
          <a:xfrm>
            <a:off x="7040216" y="3385224"/>
            <a:ext cx="229801" cy="229801"/>
          </a:xfrm>
          <a:prstGeom prst="rect">
            <a:avLst/>
          </a:prstGeom>
        </p:spPr>
      </p:pic>
      <p:sp>
        <p:nvSpPr>
          <p:cNvPr id="205" name="©天蝎PPT63"/>
          <p:cNvSpPr txBox="1"/>
          <p:nvPr/>
        </p:nvSpPr>
        <p:spPr>
          <a:xfrm>
            <a:off x="6961679" y="3632767"/>
            <a:ext cx="3254062" cy="751205"/>
          </a:xfrm>
          <a:prstGeom prst="rect">
            <a:avLst/>
          </a:prstGeom>
          <a:noFill/>
        </p:spPr>
        <p:txBody>
          <a:bodyPr wrap="square" rtlCol="0">
            <a:spAutoFit/>
          </a:bodyPr>
          <a:lstStyle/>
          <a:p>
            <a:pPr algn="l">
              <a:lnSpc>
                <a:spcPct val="130000"/>
              </a:lnSpc>
              <a:buFont typeface="微软雅黑" panose="020B0503020204020204" charset="-122"/>
              <a:buChar char="•"/>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 协助总经理制定运营战略，分管核心业务板块</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l">
              <a:lnSpc>
                <a:spcPct val="130000"/>
              </a:lnSpc>
              <a:buFont typeface="微软雅黑" panose="020B0503020204020204" charset="-122"/>
              <a:buChar char="•"/>
            </a:pPr>
            <a:r>
              <a:rPr lang="en-US" altLang="zh-CN"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 </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统筹部门资源配置，推动运营体系建设与优化</a:t>
            </a:r>
            <a:endParaRPr lang="en-US" altLang="zh-CN"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l">
              <a:lnSpc>
                <a:spcPct val="130000"/>
              </a:lnSpc>
              <a:buFont typeface="微软雅黑" panose="020B0503020204020204" charset="-122"/>
              <a:buChar char="•"/>
            </a:pPr>
            <a:r>
              <a:rPr lang="en-US" altLang="zh-CN"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 </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负责关键人才培养与团队梯队建设</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06" name="©天蝎PPT64"/>
          <p:cNvSpPr txBox="1"/>
          <p:nvPr/>
        </p:nvSpPr>
        <p:spPr>
          <a:xfrm>
            <a:off x="7081581" y="4424350"/>
            <a:ext cx="748220" cy="260350"/>
          </a:xfrm>
          <a:prstGeom prst="rect">
            <a:avLst/>
          </a:prstGeom>
          <a:noFill/>
        </p:spPr>
        <p:txBody>
          <a:bodyPr wrap="square">
            <a:spAutoFit/>
          </a:bodyPr>
          <a:lstStyle/>
          <a:p>
            <a:pPr algn="ctr"/>
            <a:r>
              <a:rPr lang="zh-CN" altLang="en-US" sz="1100" dirty="0">
                <a:latin typeface="微软雅黑" panose="020B0503020204020204" charset="-122"/>
                <a:ea typeface="微软雅黑" panose="020B0503020204020204" charset="-122"/>
                <a:cs typeface="+mn-ea"/>
                <a:sym typeface="Arial" panose="020B0604020202020204" pitchFamily="34" charset="0"/>
              </a:rPr>
              <a:t>战略执行</a:t>
            </a:r>
            <a:endParaRPr lang="zh-CN" altLang="en-US" sz="1100" dirty="0">
              <a:latin typeface="微软雅黑" panose="020B0503020204020204" charset="-122"/>
              <a:ea typeface="微软雅黑" panose="020B0503020204020204" charset="-122"/>
              <a:cs typeface="+mn-ea"/>
              <a:sym typeface="Arial" panose="020B0604020202020204" pitchFamily="34" charset="0"/>
            </a:endParaRPr>
          </a:p>
        </p:txBody>
      </p:sp>
      <p:sp>
        <p:nvSpPr>
          <p:cNvPr id="207" name="©天蝎PPT65"/>
          <p:cNvSpPr txBox="1"/>
          <p:nvPr/>
        </p:nvSpPr>
        <p:spPr>
          <a:xfrm>
            <a:off x="7895397" y="4424350"/>
            <a:ext cx="748220" cy="260350"/>
          </a:xfrm>
          <a:prstGeom prst="rect">
            <a:avLst/>
          </a:prstGeom>
          <a:noFill/>
        </p:spPr>
        <p:txBody>
          <a:bodyPr wrap="square">
            <a:spAutoFit/>
          </a:bodyPr>
          <a:lstStyle/>
          <a:p>
            <a:pPr algn="ctr"/>
            <a:r>
              <a:rPr lang="zh-CN" altLang="en-US" sz="1100" dirty="0">
                <a:latin typeface="微软雅黑" panose="020B0503020204020204" charset="-122"/>
                <a:ea typeface="微软雅黑" panose="020B0503020204020204" charset="-122"/>
                <a:cs typeface="+mn-ea"/>
                <a:sym typeface="Arial" panose="020B0604020202020204" pitchFamily="34" charset="0"/>
              </a:rPr>
              <a:t>体系搭建</a:t>
            </a:r>
            <a:endParaRPr lang="zh-CN" altLang="en-US" sz="1100" dirty="0">
              <a:latin typeface="微软雅黑" panose="020B0503020204020204" charset="-122"/>
              <a:ea typeface="微软雅黑" panose="020B0503020204020204" charset="-122"/>
              <a:cs typeface="+mn-ea"/>
              <a:sym typeface="Arial" panose="020B0604020202020204" pitchFamily="34" charset="0"/>
            </a:endParaRPr>
          </a:p>
        </p:txBody>
      </p:sp>
      <p:sp>
        <p:nvSpPr>
          <p:cNvPr id="208" name="©天蝎PPT66"/>
          <p:cNvSpPr txBox="1"/>
          <p:nvPr/>
        </p:nvSpPr>
        <p:spPr>
          <a:xfrm>
            <a:off x="8727501" y="4424350"/>
            <a:ext cx="748220" cy="260350"/>
          </a:xfrm>
          <a:prstGeom prst="rect">
            <a:avLst/>
          </a:prstGeom>
          <a:noFill/>
        </p:spPr>
        <p:txBody>
          <a:bodyPr wrap="square">
            <a:spAutoFit/>
          </a:bodyPr>
          <a:lstStyle/>
          <a:p>
            <a:pPr algn="ctr"/>
            <a:r>
              <a:rPr lang="zh-CN" altLang="en-US" sz="1100" dirty="0">
                <a:latin typeface="微软雅黑" panose="020B0503020204020204" charset="-122"/>
                <a:ea typeface="微软雅黑" panose="020B0503020204020204" charset="-122"/>
                <a:cs typeface="+mn-ea"/>
                <a:sym typeface="Arial" panose="020B0604020202020204" pitchFamily="34" charset="0"/>
              </a:rPr>
              <a:t>人才梯队</a:t>
            </a:r>
            <a:endParaRPr lang="zh-CN" altLang="en-US" sz="1100" dirty="0">
              <a:latin typeface="微软雅黑" panose="020B0503020204020204" charset="-122"/>
              <a:ea typeface="微软雅黑" panose="020B0503020204020204" charset="-122"/>
              <a:cs typeface="+mn-ea"/>
              <a:sym typeface="Arial" panose="020B0604020202020204" pitchFamily="34" charset="0"/>
            </a:endParaRPr>
          </a:p>
        </p:txBody>
      </p:sp>
      <p:pic>
        <p:nvPicPr>
          <p:cNvPr id="209" name="©天蝎PPT67"/>
          <p:cNvPicPr>
            <a:picLocks noChangeAspect="1"/>
          </p:cNvPicPr>
          <p:nvPr/>
        </p:nvPicPr>
        <p:blipFill>
          <a:blip r:embed="rId8" cstate="email">
            <a:extLst>
              <a:ext uri="{96DAC541-7B7A-43D3-8B79-37D633B846F1}">
                <asvg:svgBlip xmlns:asvg="http://schemas.microsoft.com/office/drawing/2016/SVG/main" r:embed="rId9"/>
              </a:ext>
            </a:extLst>
          </a:blip>
          <a:stretch>
            <a:fillRect/>
          </a:stretch>
        </p:blipFill>
        <p:spPr>
          <a:xfrm>
            <a:off x="9006176" y="1437552"/>
            <a:ext cx="229801" cy="229801"/>
          </a:xfrm>
          <a:prstGeom prst="rect">
            <a:avLst/>
          </a:prstGeom>
        </p:spPr>
      </p:pic>
      <p:sp>
        <p:nvSpPr>
          <p:cNvPr id="213" name="©天蝎PPT68"/>
          <p:cNvSpPr txBox="1"/>
          <p:nvPr/>
        </p:nvSpPr>
        <p:spPr>
          <a:xfrm>
            <a:off x="3250193" y="5650604"/>
            <a:ext cx="1623367" cy="299056"/>
          </a:xfrm>
          <a:prstGeom prst="rect">
            <a:avLst/>
          </a:prstGeom>
          <a:noFill/>
        </p:spPr>
        <p:txBody>
          <a:bodyPr wrap="square" rtlCol="0">
            <a:spAutoFit/>
          </a:bodyPr>
          <a:lstStyle/>
          <a:p>
            <a:pPr>
              <a:lnSpc>
                <a:spcPct val="120000"/>
              </a:lnSpc>
            </a:pPr>
            <a:r>
              <a:rPr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rPr>
              <a:t>稳扎稳打，专业进阶</a:t>
            </a:r>
            <a:endParaRPr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endParaRPr>
          </a:p>
        </p:txBody>
      </p:sp>
      <p:sp>
        <p:nvSpPr>
          <p:cNvPr id="214" name="©天蝎PPT69"/>
          <p:cNvSpPr txBox="1"/>
          <p:nvPr/>
        </p:nvSpPr>
        <p:spPr>
          <a:xfrm>
            <a:off x="2946784" y="5943144"/>
            <a:ext cx="2230184" cy="478155"/>
          </a:xfrm>
          <a:prstGeom prst="rect">
            <a:avLst/>
          </a:prstGeom>
          <a:noFill/>
        </p:spPr>
        <p:txBody>
          <a:bodyPr wrap="square" rtlCol="0">
            <a:spAutoFit/>
          </a:bodyPr>
          <a:lstStyle/>
          <a:p>
            <a:pPr>
              <a:lnSpc>
                <a:spcPct val="120000"/>
              </a:lnSpc>
            </a:pPr>
            <a:r>
              <a:rPr lang="zh-CN" altLang="en-US" sz="1050" dirty="0">
                <a:solidFill>
                  <a:schemeClr val="tx2"/>
                </a:solidFill>
                <a:latin typeface="微软雅黑" panose="020B0503020204020204" charset="-122"/>
                <a:ea typeface="微软雅黑" panose="020B0503020204020204" charset="-122"/>
                <a:cs typeface="+mn-ea"/>
                <a:sym typeface="Arial" panose="020B0604020202020204" pitchFamily="34" charset="0"/>
              </a:rPr>
              <a:t>深入业务环节，提升数据分析与流程优化能力，逐步承担核心任务。</a:t>
            </a:r>
            <a:endParaRPr lang="zh-CN" altLang="en-US" sz="1050" dirty="0">
              <a:solidFill>
                <a:schemeClr val="tx2"/>
              </a:solidFill>
              <a:latin typeface="微软雅黑" panose="020B0503020204020204" charset="-122"/>
              <a:ea typeface="微软雅黑" panose="020B0503020204020204" charset="-122"/>
              <a:cs typeface="+mn-ea"/>
              <a:sym typeface="Arial" panose="020B0604020202020204" pitchFamily="34" charset="0"/>
            </a:endParaRPr>
          </a:p>
        </p:txBody>
      </p:sp>
      <p:sp>
        <p:nvSpPr>
          <p:cNvPr id="215" name="©天蝎PPT70"/>
          <p:cNvSpPr txBox="1"/>
          <p:nvPr/>
        </p:nvSpPr>
        <p:spPr>
          <a:xfrm>
            <a:off x="6547870" y="5650604"/>
            <a:ext cx="1623367" cy="299056"/>
          </a:xfrm>
          <a:prstGeom prst="rect">
            <a:avLst/>
          </a:prstGeom>
          <a:noFill/>
        </p:spPr>
        <p:txBody>
          <a:bodyPr wrap="square" rtlCol="0">
            <a:spAutoFit/>
          </a:bodyPr>
          <a:lstStyle/>
          <a:p>
            <a:pPr>
              <a:lnSpc>
                <a:spcPct val="120000"/>
              </a:lnSpc>
            </a:pPr>
            <a:r>
              <a:rPr lang="zh-CN" altLang="en-US" sz="1200" b="1" dirty="0">
                <a:solidFill>
                  <a:schemeClr val="accent5"/>
                </a:solidFill>
                <a:latin typeface="微软雅黑" panose="020B0503020204020204" charset="-122"/>
                <a:ea typeface="微软雅黑" panose="020B0503020204020204" charset="-122"/>
                <a:cs typeface="+mn-ea"/>
                <a:sym typeface="Arial" panose="020B0604020202020204" pitchFamily="34" charset="0"/>
              </a:rPr>
              <a:t>职业突破，成就斐然</a:t>
            </a:r>
            <a:endParaRPr lang="zh-CN" altLang="en-US" sz="1200" b="1" dirty="0">
              <a:solidFill>
                <a:schemeClr val="accent5"/>
              </a:solidFill>
              <a:latin typeface="微软雅黑" panose="020B0503020204020204" charset="-122"/>
              <a:ea typeface="微软雅黑" panose="020B0503020204020204" charset="-122"/>
              <a:cs typeface="+mn-ea"/>
              <a:sym typeface="Arial" panose="020B0604020202020204" pitchFamily="34" charset="0"/>
            </a:endParaRPr>
          </a:p>
        </p:txBody>
      </p:sp>
      <p:sp>
        <p:nvSpPr>
          <p:cNvPr id="216" name="©天蝎PPT71"/>
          <p:cNvSpPr txBox="1"/>
          <p:nvPr/>
        </p:nvSpPr>
        <p:spPr>
          <a:xfrm>
            <a:off x="5922426" y="5943144"/>
            <a:ext cx="2874254" cy="478155"/>
          </a:xfrm>
          <a:prstGeom prst="rect">
            <a:avLst/>
          </a:prstGeom>
          <a:noFill/>
        </p:spPr>
        <p:txBody>
          <a:bodyPr wrap="square" rtlCol="0">
            <a:spAutoFit/>
          </a:bodyPr>
          <a:lstStyle/>
          <a:p>
            <a:pPr algn="ctr">
              <a:lnSpc>
                <a:spcPct val="120000"/>
              </a:lnSpc>
            </a:pPr>
            <a:r>
              <a:rPr lang="zh-CN" altLang="en-US" sz="1050" dirty="0">
                <a:solidFill>
                  <a:schemeClr val="tx2"/>
                </a:solidFill>
                <a:latin typeface="微软雅黑" panose="020B0503020204020204" charset="-122"/>
                <a:ea typeface="微软雅黑" panose="020B0503020204020204" charset="-122"/>
                <a:cs typeface="+mn-ea"/>
                <a:sym typeface="Arial" panose="020B0604020202020204" pitchFamily="34" charset="0"/>
              </a:rPr>
              <a:t>承担管理职责，推动重点项目落地，实现运营效率与团队能力双提升。</a:t>
            </a:r>
            <a:endParaRPr lang="zh-CN" altLang="en-US" sz="1050" dirty="0">
              <a:solidFill>
                <a:schemeClr val="tx2"/>
              </a:solidFill>
              <a:latin typeface="微软雅黑" panose="020B0503020204020204" charset="-122"/>
              <a:ea typeface="微软雅黑" panose="020B0503020204020204" charset="-122"/>
              <a:cs typeface="+mn-ea"/>
              <a:sym typeface="Arial" panose="020B0604020202020204" pitchFamily="34" charset="0"/>
            </a:endParaRPr>
          </a:p>
        </p:txBody>
      </p:sp>
      <p:sp>
        <p:nvSpPr>
          <p:cNvPr id="217" name="©天蝎PPT72"/>
          <p:cNvSpPr txBox="1"/>
          <p:nvPr/>
        </p:nvSpPr>
        <p:spPr>
          <a:xfrm>
            <a:off x="9796909" y="5650604"/>
            <a:ext cx="1623367" cy="299056"/>
          </a:xfrm>
          <a:prstGeom prst="rect">
            <a:avLst/>
          </a:prstGeom>
          <a:noFill/>
        </p:spPr>
        <p:txBody>
          <a:bodyPr wrap="square" rtlCol="0">
            <a:spAutoFit/>
          </a:bodyPr>
          <a:lstStyle/>
          <a:p>
            <a:pPr>
              <a:lnSpc>
                <a:spcPct val="120000"/>
              </a:lnSpc>
            </a:pPr>
            <a:r>
              <a:rPr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rPr>
              <a:t>黄金阶段，事业有成</a:t>
            </a:r>
            <a:endParaRPr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endParaRPr>
          </a:p>
        </p:txBody>
      </p:sp>
      <p:sp>
        <p:nvSpPr>
          <p:cNvPr id="218" name="©天蝎PPT73"/>
          <p:cNvSpPr txBox="1"/>
          <p:nvPr/>
        </p:nvSpPr>
        <p:spPr>
          <a:xfrm>
            <a:off x="9475470" y="5942965"/>
            <a:ext cx="2226945" cy="478155"/>
          </a:xfrm>
          <a:prstGeom prst="rect">
            <a:avLst/>
          </a:prstGeom>
          <a:noFill/>
        </p:spPr>
        <p:txBody>
          <a:bodyPr wrap="square" rtlCol="0">
            <a:spAutoFit/>
          </a:bodyPr>
          <a:lstStyle/>
          <a:p>
            <a:pPr>
              <a:lnSpc>
                <a:spcPct val="120000"/>
              </a:lnSpc>
            </a:pPr>
            <a:r>
              <a:rPr lang="zh-CN" altLang="en-US" sz="1050" dirty="0">
                <a:solidFill>
                  <a:schemeClr val="tx2"/>
                </a:solidFill>
                <a:latin typeface="微软雅黑" panose="020B0503020204020204" charset="-122"/>
                <a:ea typeface="微软雅黑" panose="020B0503020204020204" charset="-122"/>
                <a:cs typeface="+mn-ea"/>
                <a:sym typeface="Arial" panose="020B0604020202020204" pitchFamily="34" charset="0"/>
              </a:rPr>
              <a:t>立足全局，统筹运营，为组织发展提供坚实支撑，持续拓展职业空间。</a:t>
            </a:r>
            <a:endParaRPr lang="zh-CN" altLang="en-US" sz="1050" dirty="0">
              <a:solidFill>
                <a:schemeClr val="tx2"/>
              </a:solidFill>
              <a:latin typeface="微软雅黑" panose="020B0503020204020204" charset="-122"/>
              <a:ea typeface="微软雅黑" panose="020B0503020204020204" charset="-122"/>
              <a:cs typeface="+mn-ea"/>
              <a:sym typeface="Arial" panose="020B0604020202020204" pitchFamily="34" charset="0"/>
            </a:endParaRPr>
          </a:p>
        </p:txBody>
      </p:sp>
      <p:sp>
        <p:nvSpPr>
          <p:cNvPr id="219" name="©天蝎PPT74"/>
          <p:cNvSpPr/>
          <p:nvPr/>
        </p:nvSpPr>
        <p:spPr>
          <a:xfrm>
            <a:off x="1010555" y="5312222"/>
            <a:ext cx="1271391" cy="251623"/>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b="1" dirty="0">
                <a:latin typeface="微软雅黑" panose="020B0503020204020204" charset="-122"/>
                <a:ea typeface="微软雅黑" panose="020B0503020204020204" charset="-122"/>
                <a:cs typeface="+mn-ea"/>
                <a:sym typeface="Arial" panose="020B0604020202020204" pitchFamily="34" charset="0"/>
              </a:rPr>
              <a:t>2019-2020</a:t>
            </a:r>
            <a:endParaRPr lang="en-US" altLang="zh-CN" sz="1100" b="1" dirty="0">
              <a:latin typeface="微软雅黑" panose="020B0503020204020204" charset="-122"/>
              <a:ea typeface="微软雅黑" panose="020B0503020204020204" charset="-122"/>
              <a:cs typeface="+mn-ea"/>
              <a:sym typeface="Arial" panose="020B0604020202020204" pitchFamily="34" charset="0"/>
            </a:endParaRPr>
          </a:p>
        </p:txBody>
      </p:sp>
      <p:sp>
        <p:nvSpPr>
          <p:cNvPr id="220" name="©天蝎PPT75"/>
          <p:cNvSpPr/>
          <p:nvPr/>
        </p:nvSpPr>
        <p:spPr>
          <a:xfrm>
            <a:off x="3460861" y="5312222"/>
            <a:ext cx="1271391" cy="251623"/>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b="1" dirty="0">
                <a:latin typeface="微软雅黑" panose="020B0503020204020204" charset="-122"/>
                <a:ea typeface="微软雅黑" panose="020B0503020204020204" charset="-122"/>
                <a:cs typeface="+mn-ea"/>
                <a:sym typeface="Arial" panose="020B0604020202020204" pitchFamily="34" charset="0"/>
              </a:rPr>
              <a:t>2020-2022</a:t>
            </a:r>
            <a:endParaRPr lang="en-US" altLang="zh-CN" sz="1100" b="1" dirty="0">
              <a:latin typeface="微软雅黑" panose="020B0503020204020204" charset="-122"/>
              <a:ea typeface="微软雅黑" panose="020B0503020204020204" charset="-122"/>
              <a:cs typeface="+mn-ea"/>
              <a:sym typeface="Arial" panose="020B0604020202020204" pitchFamily="34" charset="0"/>
            </a:endParaRPr>
          </a:p>
        </p:txBody>
      </p:sp>
      <p:sp>
        <p:nvSpPr>
          <p:cNvPr id="221" name="©天蝎PPT76"/>
          <p:cNvSpPr/>
          <p:nvPr/>
        </p:nvSpPr>
        <p:spPr>
          <a:xfrm>
            <a:off x="6706992" y="5306797"/>
            <a:ext cx="1271391" cy="251623"/>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b="1" dirty="0">
                <a:latin typeface="微软雅黑" panose="020B0503020204020204" charset="-122"/>
                <a:ea typeface="微软雅黑" panose="020B0503020204020204" charset="-122"/>
                <a:cs typeface="+mn-ea"/>
                <a:sym typeface="Arial" panose="020B0604020202020204" pitchFamily="34" charset="0"/>
              </a:rPr>
              <a:t>2022-2026</a:t>
            </a:r>
            <a:endParaRPr lang="en-US" altLang="zh-CN" sz="1100" b="1" dirty="0">
              <a:latin typeface="微软雅黑" panose="020B0503020204020204" charset="-122"/>
              <a:ea typeface="微软雅黑" panose="020B0503020204020204" charset="-122"/>
              <a:cs typeface="+mn-ea"/>
              <a:sym typeface="Arial" panose="020B0604020202020204" pitchFamily="34" charset="0"/>
            </a:endParaRPr>
          </a:p>
        </p:txBody>
      </p:sp>
      <p:sp>
        <p:nvSpPr>
          <p:cNvPr id="222" name="©天蝎PPT77"/>
          <p:cNvSpPr/>
          <p:nvPr/>
        </p:nvSpPr>
        <p:spPr>
          <a:xfrm>
            <a:off x="9970309" y="5306797"/>
            <a:ext cx="1271391" cy="251623"/>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b="1" dirty="0">
                <a:latin typeface="微软雅黑" panose="020B0503020204020204" charset="-122"/>
                <a:ea typeface="微软雅黑" panose="020B0503020204020204" charset="-122"/>
                <a:cs typeface="微软雅黑" panose="020B0503020204020204" charset="-122"/>
                <a:sym typeface="Arial" panose="020B0604020202020204" pitchFamily="34" charset="0"/>
              </a:rPr>
              <a:t>2026-</a:t>
            </a:r>
            <a:r>
              <a:rPr lang="zh-CN" altLang="en-US" sz="1100" b="1" dirty="0">
                <a:latin typeface="微软雅黑" panose="020B0503020204020204" charset="-122"/>
                <a:ea typeface="微软雅黑" panose="020B0503020204020204" charset="-122"/>
                <a:cs typeface="微软雅黑" panose="020B0503020204020204" charset="-122"/>
                <a:sym typeface="Arial" panose="020B0604020202020204" pitchFamily="34" charset="0"/>
              </a:rPr>
              <a:t>至今</a:t>
            </a:r>
            <a:endParaRPr lang="zh-CN" altLang="en-US" sz="1100" b="1" dirty="0">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6" name="©天蝎PPT78"/>
          <p:cNvSpPr txBox="1"/>
          <p:nvPr/>
        </p:nvSpPr>
        <p:spPr>
          <a:xfrm>
            <a:off x="9056685" y="2513254"/>
            <a:ext cx="748220" cy="260350"/>
          </a:xfrm>
          <a:prstGeom prst="rect">
            <a:avLst/>
          </a:prstGeom>
          <a:noFill/>
        </p:spPr>
        <p:txBody>
          <a:bodyPr wrap="square">
            <a:spAutoFit/>
          </a:bodyPr>
          <a:lstStyle/>
          <a:p>
            <a:pPr algn="ctr"/>
            <a:r>
              <a:rPr lang="zh-CN" altLang="en-US" sz="1100" dirty="0">
                <a:solidFill>
                  <a:schemeClr val="tx2"/>
                </a:solidFill>
                <a:latin typeface="微软雅黑" panose="020B0503020204020204" charset="-122"/>
                <a:ea typeface="微软雅黑" panose="020B0503020204020204" charset="-122"/>
                <a:cs typeface="+mn-ea"/>
                <a:sym typeface="Arial" panose="020B0604020202020204" pitchFamily="34" charset="0"/>
              </a:rPr>
              <a:t>全面统筹</a:t>
            </a:r>
            <a:endParaRPr lang="zh-CN" altLang="en-US" sz="1100" dirty="0">
              <a:solidFill>
                <a:schemeClr val="tx2"/>
              </a:solidFill>
              <a:latin typeface="微软雅黑" panose="020B0503020204020204" charset="-122"/>
              <a:ea typeface="微软雅黑" panose="020B0503020204020204" charset="-122"/>
              <a:cs typeface="+mn-ea"/>
              <a:sym typeface="Arial" panose="020B0604020202020204" pitchFamily="34" charset="0"/>
            </a:endParaRPr>
          </a:p>
        </p:txBody>
      </p:sp>
      <p:sp>
        <p:nvSpPr>
          <p:cNvPr id="17" name="©天蝎PPT79"/>
          <p:cNvSpPr txBox="1"/>
          <p:nvPr/>
        </p:nvSpPr>
        <p:spPr>
          <a:xfrm>
            <a:off x="9852213" y="2513254"/>
            <a:ext cx="748220" cy="260350"/>
          </a:xfrm>
          <a:prstGeom prst="rect">
            <a:avLst/>
          </a:prstGeom>
          <a:noFill/>
        </p:spPr>
        <p:txBody>
          <a:bodyPr wrap="square">
            <a:spAutoFit/>
          </a:bodyPr>
          <a:lstStyle/>
          <a:p>
            <a:pPr algn="ctr"/>
            <a:r>
              <a:rPr lang="zh-CN" altLang="en-US" sz="1100" dirty="0">
                <a:solidFill>
                  <a:schemeClr val="tx2"/>
                </a:solidFill>
                <a:latin typeface="微软雅黑" panose="020B0503020204020204" charset="-122"/>
                <a:ea typeface="微软雅黑" panose="020B0503020204020204" charset="-122"/>
                <a:cs typeface="+mn-ea"/>
                <a:sym typeface="Arial" panose="020B0604020202020204" pitchFamily="34" charset="0"/>
              </a:rPr>
              <a:t>战略决策</a:t>
            </a:r>
            <a:endParaRPr lang="zh-CN" altLang="en-US" sz="1100" dirty="0">
              <a:solidFill>
                <a:schemeClr val="tx2"/>
              </a:solidFill>
              <a:latin typeface="微软雅黑" panose="020B0503020204020204" charset="-122"/>
              <a:ea typeface="微软雅黑" panose="020B0503020204020204" charset="-122"/>
              <a:cs typeface="+mn-ea"/>
              <a:sym typeface="Arial" panose="020B0604020202020204" pitchFamily="34" charset="0"/>
            </a:endParaRPr>
          </a:p>
        </p:txBody>
      </p:sp>
      <p:sp>
        <p:nvSpPr>
          <p:cNvPr id="18" name="©天蝎PPT80"/>
          <p:cNvSpPr txBox="1"/>
          <p:nvPr/>
        </p:nvSpPr>
        <p:spPr>
          <a:xfrm>
            <a:off x="10675173" y="2513254"/>
            <a:ext cx="748220" cy="260350"/>
          </a:xfrm>
          <a:prstGeom prst="rect">
            <a:avLst/>
          </a:prstGeom>
          <a:noFill/>
        </p:spPr>
        <p:txBody>
          <a:bodyPr wrap="square">
            <a:spAutoFit/>
          </a:bodyPr>
          <a:lstStyle/>
          <a:p>
            <a:pPr algn="ctr"/>
            <a:r>
              <a:rPr lang="zh-CN" altLang="en-US" sz="1100" dirty="0">
                <a:solidFill>
                  <a:schemeClr val="tx2"/>
                </a:solidFill>
                <a:latin typeface="微软雅黑" panose="020B0503020204020204" charset="-122"/>
                <a:ea typeface="微软雅黑" panose="020B0503020204020204" charset="-122"/>
                <a:cs typeface="+mn-ea"/>
                <a:sym typeface="Arial" panose="020B0604020202020204" pitchFamily="34" charset="0"/>
              </a:rPr>
              <a:t>组织效能</a:t>
            </a:r>
            <a:endParaRPr lang="zh-CN" altLang="en-US" sz="1100" dirty="0">
              <a:solidFill>
                <a:schemeClr val="tx2"/>
              </a:solidFill>
              <a:latin typeface="微软雅黑" panose="020B0503020204020204" charset="-122"/>
              <a:ea typeface="微软雅黑" panose="020B0503020204020204" charset="-122"/>
              <a:cs typeface="+mn-ea"/>
              <a:sym typeface="Arial" panose="020B0604020202020204" pitchFamily="34" charset="0"/>
            </a:endParaRPr>
          </a:p>
        </p:txBody>
      </p:sp>
      <p:sp>
        <p:nvSpPr>
          <p:cNvPr id="19" name="©天蝎PPT51"/>
          <p:cNvSpPr txBox="1"/>
          <p:nvPr/>
        </p:nvSpPr>
        <p:spPr>
          <a:xfrm>
            <a:off x="898031" y="2513254"/>
            <a:ext cx="748220" cy="260350"/>
          </a:xfrm>
          <a:prstGeom prst="rect">
            <a:avLst/>
          </a:prstGeom>
          <a:noFill/>
        </p:spPr>
        <p:txBody>
          <a:bodyPr wrap="square">
            <a:spAutoFit/>
          </a:bodyPr>
          <a:lstStyle/>
          <a:p>
            <a:pPr algn="ctr"/>
            <a:r>
              <a:rPr lang="zh-CN" altLang="en-US" sz="1100" dirty="0">
                <a:solidFill>
                  <a:schemeClr val="tx2"/>
                </a:solidFill>
                <a:latin typeface="微软雅黑" panose="020B0503020204020204" charset="-122"/>
                <a:ea typeface="微软雅黑" panose="020B0503020204020204" charset="-122"/>
                <a:cs typeface="+mn-ea"/>
                <a:sym typeface="Arial" panose="020B0604020202020204" pitchFamily="34" charset="0"/>
              </a:rPr>
              <a:t>数据处理</a:t>
            </a:r>
            <a:endParaRPr lang="zh-CN" altLang="en-US" sz="1100" dirty="0">
              <a:solidFill>
                <a:schemeClr val="tx2"/>
              </a:solidFill>
              <a:latin typeface="微软雅黑" panose="020B0503020204020204" charset="-122"/>
              <a:ea typeface="微软雅黑" panose="020B0503020204020204" charset="-122"/>
              <a:cs typeface="+mn-ea"/>
              <a:sym typeface="Arial" panose="020B0604020202020204" pitchFamily="34" charset="0"/>
            </a:endParaRPr>
          </a:p>
        </p:txBody>
      </p:sp>
      <p:sp>
        <p:nvSpPr>
          <p:cNvPr id="22" name="©天蝎PPT39"/>
          <p:cNvSpPr/>
          <p:nvPr/>
        </p:nvSpPr>
        <p:spPr>
          <a:xfrm>
            <a:off x="4480579" y="4442570"/>
            <a:ext cx="748030" cy="236517"/>
          </a:xfrm>
          <a:prstGeom prst="roundRect">
            <a:avLst>
              <a:gd name="adj" fmla="val 6704"/>
            </a:avLst>
          </a:prstGeom>
          <a:solidFill>
            <a:schemeClr val="accent1">
              <a:lumMod val="20000"/>
              <a:lumOff val="80000"/>
              <a:alpha val="20120"/>
            </a:schemeClr>
          </a:solidFill>
          <a:ln w="9525">
            <a:solidFill>
              <a:schemeClr val="accent1">
                <a:alpha val="3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27" name="©天蝎PPT54"/>
          <p:cNvSpPr txBox="1"/>
          <p:nvPr/>
        </p:nvSpPr>
        <p:spPr>
          <a:xfrm>
            <a:off x="2863883" y="4434652"/>
            <a:ext cx="748220" cy="260350"/>
          </a:xfrm>
          <a:prstGeom prst="rect">
            <a:avLst/>
          </a:prstGeom>
          <a:noFill/>
        </p:spPr>
        <p:txBody>
          <a:bodyPr wrap="square">
            <a:spAutoFit/>
          </a:bodyPr>
          <a:lstStyle/>
          <a:p>
            <a:pPr algn="ctr"/>
            <a:r>
              <a:rPr lang="zh-CN" altLang="en-US" sz="1100" dirty="0">
                <a:latin typeface="微软雅黑" panose="020B0503020204020204" charset="-122"/>
                <a:ea typeface="微软雅黑" panose="020B0503020204020204" charset="-122"/>
                <a:cs typeface="+mn-ea"/>
                <a:sym typeface="Arial" panose="020B0604020202020204" pitchFamily="34" charset="0"/>
              </a:rPr>
              <a:t>数据分析</a:t>
            </a:r>
            <a:endParaRPr lang="zh-CN" altLang="en-US" sz="1100" dirty="0">
              <a:latin typeface="微软雅黑" panose="020B0503020204020204" charset="-122"/>
              <a:ea typeface="微软雅黑" panose="020B0503020204020204" charset="-122"/>
              <a:cs typeface="+mn-ea"/>
              <a:sym typeface="Arial" panose="020B0604020202020204" pitchFamily="34" charset="0"/>
            </a:endParaRPr>
          </a:p>
        </p:txBody>
      </p:sp>
      <p:sp>
        <p:nvSpPr>
          <p:cNvPr id="28" name="©天蝎PPT55"/>
          <p:cNvSpPr txBox="1"/>
          <p:nvPr/>
        </p:nvSpPr>
        <p:spPr>
          <a:xfrm>
            <a:off x="3672266" y="4434652"/>
            <a:ext cx="748220" cy="260350"/>
          </a:xfrm>
          <a:prstGeom prst="rect">
            <a:avLst/>
          </a:prstGeom>
          <a:noFill/>
        </p:spPr>
        <p:txBody>
          <a:bodyPr wrap="square">
            <a:spAutoFit/>
          </a:bodyPr>
          <a:lstStyle/>
          <a:p>
            <a:pPr algn="ctr"/>
            <a:r>
              <a:rPr lang="zh-CN" altLang="en-US" sz="1100" dirty="0">
                <a:latin typeface="微软雅黑" panose="020B0503020204020204" charset="-122"/>
                <a:ea typeface="微软雅黑" panose="020B0503020204020204" charset="-122"/>
                <a:cs typeface="+mn-ea"/>
                <a:sym typeface="Arial" panose="020B0604020202020204" pitchFamily="34" charset="0"/>
              </a:rPr>
              <a:t>流程优化</a:t>
            </a:r>
            <a:endParaRPr lang="zh-CN" altLang="en-US" sz="1100" dirty="0">
              <a:latin typeface="微软雅黑" panose="020B0503020204020204" charset="-122"/>
              <a:ea typeface="微软雅黑" panose="020B0503020204020204" charset="-122"/>
              <a:cs typeface="+mn-ea"/>
              <a:sym typeface="Arial" panose="020B0604020202020204" pitchFamily="34" charset="0"/>
            </a:endParaRPr>
          </a:p>
        </p:txBody>
      </p:sp>
      <p:sp>
        <p:nvSpPr>
          <p:cNvPr id="29" name="©天蝎PPT55"/>
          <p:cNvSpPr txBox="1"/>
          <p:nvPr/>
        </p:nvSpPr>
        <p:spPr>
          <a:xfrm>
            <a:off x="4492686" y="4438462"/>
            <a:ext cx="748220" cy="260350"/>
          </a:xfrm>
          <a:prstGeom prst="rect">
            <a:avLst/>
          </a:prstGeom>
          <a:noFill/>
        </p:spPr>
        <p:txBody>
          <a:bodyPr wrap="square">
            <a:spAutoFit/>
          </a:bodyPr>
          <a:lstStyle/>
          <a:p>
            <a:pPr algn="ctr"/>
            <a:r>
              <a:rPr lang="zh-CN" altLang="en-US" sz="1100" dirty="0">
                <a:latin typeface="微软雅黑" panose="020B0503020204020204" charset="-122"/>
                <a:ea typeface="微软雅黑" panose="020B0503020204020204" charset="-122"/>
                <a:cs typeface="+mn-ea"/>
                <a:sym typeface="Arial" panose="020B0604020202020204" pitchFamily="34" charset="0"/>
              </a:rPr>
              <a:t>项目协作</a:t>
            </a:r>
            <a:endParaRPr lang="zh-CN" altLang="en-US" sz="1100" dirty="0">
              <a:latin typeface="微软雅黑" panose="020B0503020204020204" charset="-122"/>
              <a:ea typeface="微软雅黑" panose="020B0503020204020204" charset="-122"/>
              <a:cs typeface="+mn-ea"/>
              <a:sym typeface="Arial" panose="020B0604020202020204" pitchFamily="34" charset="0"/>
            </a:endParaRPr>
          </a:p>
        </p:txBody>
      </p:sp>
      <p:cxnSp>
        <p:nvCxnSpPr>
          <p:cNvPr id="4"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0" name="组合 19"/>
          <p:cNvGrpSpPr/>
          <p:nvPr/>
        </p:nvGrpSpPr>
        <p:grpSpPr>
          <a:xfrm>
            <a:off x="8738235" y="348615"/>
            <a:ext cx="3219450" cy="332740"/>
            <a:chOff x="13761" y="549"/>
            <a:chExt cx="5070" cy="524"/>
          </a:xfrm>
        </p:grpSpPr>
        <p:pic>
          <p:nvPicPr>
            <p:cNvPr id="21" name="图片 20"/>
            <p:cNvPicPr>
              <a:picLocks noChangeAspect="1"/>
            </p:cNvPicPr>
            <p:nvPr userDrawn="1"/>
          </p:nvPicPr>
          <p:blipFill>
            <a:blip r:embed="rId10"/>
            <a:srcRect l="17002" t="-1765" r="56499" b="-1176"/>
            <a:stretch>
              <a:fillRect/>
            </a:stretch>
          </p:blipFill>
          <p:spPr>
            <a:xfrm>
              <a:off x="13761" y="549"/>
              <a:ext cx="1582" cy="525"/>
            </a:xfrm>
            <a:prstGeom prst="rect">
              <a:avLst/>
            </a:prstGeom>
          </p:spPr>
        </p:pic>
        <p:sp>
          <p:nvSpPr>
            <p:cNvPr id="23" name="文本框 22"/>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信息化转型的五个阶段</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16" name="isļïḑê"/>
          <p:cNvSpPr/>
          <p:nvPr/>
        </p:nvSpPr>
        <p:spPr>
          <a:xfrm>
            <a:off x="912495" y="1162685"/>
            <a:ext cx="10485755" cy="3689350"/>
          </a:xfrm>
          <a:custGeom>
            <a:avLst/>
            <a:gdLst>
              <a:gd name="connsiteX0" fmla="*/ 16666 w 16666"/>
              <a:gd name="connsiteY0" fmla="*/ 0 h 5761"/>
              <a:gd name="connsiteX1" fmla="*/ 16666 w 16666"/>
              <a:gd name="connsiteY1" fmla="*/ 5372 h 5761"/>
              <a:gd name="connsiteX2" fmla="*/ 6 w 16666"/>
              <a:gd name="connsiteY2" fmla="*/ 5719 h 5761"/>
              <a:gd name="connsiteX3" fmla="*/ 12 w 16666"/>
              <a:gd name="connsiteY3" fmla="*/ 5761 h 5761"/>
              <a:gd name="connsiteX4" fmla="*/ 12 w 16666"/>
              <a:gd name="connsiteY4" fmla="*/ 5761 h 5761"/>
              <a:gd name="connsiteX5" fmla="*/ 0 w 16666"/>
              <a:gd name="connsiteY5" fmla="*/ 5743 h 5761"/>
              <a:gd name="connsiteX6" fmla="*/ 2168 w 16666"/>
              <a:gd name="connsiteY6" fmla="*/ 4802 h 5761"/>
              <a:gd name="connsiteX7" fmla="*/ 5585 w 16666"/>
              <a:gd name="connsiteY7" fmla="*/ 4184 h 5761"/>
              <a:gd name="connsiteX8" fmla="*/ 7313 w 16666"/>
              <a:gd name="connsiteY8" fmla="*/ 3450 h 5761"/>
              <a:gd name="connsiteX9" fmla="*/ 9755 w 16666"/>
              <a:gd name="connsiteY9" fmla="*/ 2967 h 5761"/>
              <a:gd name="connsiteX10" fmla="*/ 10787 w 16666"/>
              <a:gd name="connsiteY10" fmla="*/ 2311 h 5761"/>
              <a:gd name="connsiteX11" fmla="*/ 12217 w 16666"/>
              <a:gd name="connsiteY11" fmla="*/ 1673 h 5761"/>
              <a:gd name="connsiteX12" fmla="*/ 14521 w 16666"/>
              <a:gd name="connsiteY12" fmla="*/ 1287 h 5761"/>
              <a:gd name="connsiteX13" fmla="*/ 15812 w 16666"/>
              <a:gd name="connsiteY13" fmla="*/ 360 h 5761"/>
              <a:gd name="connsiteX14" fmla="*/ 16429 w 16666"/>
              <a:gd name="connsiteY14" fmla="*/ 86 h 5761"/>
              <a:gd name="connsiteX15" fmla="*/ 16666 w 16666"/>
              <a:gd name="connsiteY15" fmla="*/ 0 h 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495" h="5810">
                <a:moveTo>
                  <a:pt x="16495" y="0"/>
                </a:moveTo>
                <a:lnTo>
                  <a:pt x="16495" y="461"/>
                </a:lnTo>
                <a:lnTo>
                  <a:pt x="16275" y="541"/>
                </a:lnTo>
                <a:cubicBezTo>
                  <a:pt x="16201" y="577"/>
                  <a:pt x="16104" y="611"/>
                  <a:pt x="16060" y="627"/>
                </a:cubicBezTo>
                <a:lnTo>
                  <a:pt x="16058" y="628"/>
                </a:lnTo>
                <a:lnTo>
                  <a:pt x="16055" y="629"/>
                </a:lnTo>
                <a:lnTo>
                  <a:pt x="16053" y="630"/>
                </a:lnTo>
                <a:lnTo>
                  <a:pt x="16050" y="631"/>
                </a:lnTo>
                <a:lnTo>
                  <a:pt x="16048" y="632"/>
                </a:lnTo>
                <a:cubicBezTo>
                  <a:pt x="15862" y="682"/>
                  <a:pt x="15553" y="851"/>
                  <a:pt x="15178" y="1197"/>
                </a:cubicBezTo>
                <a:cubicBezTo>
                  <a:pt x="14876" y="1654"/>
                  <a:pt x="13897" y="1937"/>
                  <a:pt x="13093" y="1969"/>
                </a:cubicBezTo>
                <a:cubicBezTo>
                  <a:pt x="11962" y="2034"/>
                  <a:pt x="11276" y="2425"/>
                  <a:pt x="10891" y="2637"/>
                </a:cubicBezTo>
                <a:cubicBezTo>
                  <a:pt x="10731" y="2725"/>
                  <a:pt x="10709" y="2736"/>
                  <a:pt x="10637" y="2774"/>
                </a:cubicBezTo>
                <a:cubicBezTo>
                  <a:pt x="10486" y="2852"/>
                  <a:pt x="10349" y="2974"/>
                  <a:pt x="10285" y="3030"/>
                </a:cubicBezTo>
                <a:lnTo>
                  <a:pt x="10282" y="3033"/>
                </a:lnTo>
                <a:lnTo>
                  <a:pt x="10277" y="3037"/>
                </a:lnTo>
                <a:lnTo>
                  <a:pt x="10273" y="3040"/>
                </a:lnTo>
                <a:lnTo>
                  <a:pt x="10269" y="3044"/>
                </a:lnTo>
                <a:cubicBezTo>
                  <a:pt x="10141" y="3303"/>
                  <a:pt x="9264" y="3566"/>
                  <a:pt x="8428" y="3662"/>
                </a:cubicBezTo>
                <a:cubicBezTo>
                  <a:pt x="7476" y="3771"/>
                  <a:pt x="6674" y="4050"/>
                  <a:pt x="6422" y="4245"/>
                </a:cubicBezTo>
                <a:cubicBezTo>
                  <a:pt x="6179" y="4638"/>
                  <a:pt x="3008" y="5131"/>
                  <a:pt x="2033" y="5261"/>
                </a:cubicBezTo>
                <a:cubicBezTo>
                  <a:pt x="1746" y="5299"/>
                  <a:pt x="1264" y="5456"/>
                  <a:pt x="1038" y="5529"/>
                </a:cubicBezTo>
                <a:lnTo>
                  <a:pt x="1025" y="5533"/>
                </a:lnTo>
                <a:lnTo>
                  <a:pt x="1011" y="5538"/>
                </a:lnTo>
                <a:lnTo>
                  <a:pt x="997" y="5542"/>
                </a:lnTo>
                <a:lnTo>
                  <a:pt x="979" y="5549"/>
                </a:lnTo>
                <a:cubicBezTo>
                  <a:pt x="647" y="5666"/>
                  <a:pt x="158" y="5793"/>
                  <a:pt x="0" y="5810"/>
                </a:cubicBezTo>
                <a:lnTo>
                  <a:pt x="0" y="5796"/>
                </a:lnTo>
                <a:cubicBezTo>
                  <a:pt x="211" y="5727"/>
                  <a:pt x="612" y="5497"/>
                  <a:pt x="775" y="5401"/>
                </a:cubicBezTo>
                <a:lnTo>
                  <a:pt x="785" y="5395"/>
                </a:lnTo>
                <a:lnTo>
                  <a:pt x="796" y="5388"/>
                </a:lnTo>
                <a:lnTo>
                  <a:pt x="815" y="5377"/>
                </a:lnTo>
                <a:cubicBezTo>
                  <a:pt x="1202" y="5140"/>
                  <a:pt x="1706" y="4897"/>
                  <a:pt x="1952" y="4890"/>
                </a:cubicBezTo>
                <a:cubicBezTo>
                  <a:pt x="3767" y="4659"/>
                  <a:pt x="6159" y="4155"/>
                  <a:pt x="6329" y="3853"/>
                </a:cubicBezTo>
                <a:cubicBezTo>
                  <a:pt x="6673" y="3571"/>
                  <a:pt x="7707" y="3342"/>
                  <a:pt x="8478" y="3250"/>
                </a:cubicBezTo>
                <a:cubicBezTo>
                  <a:pt x="9536" y="3119"/>
                  <a:pt x="10072" y="2817"/>
                  <a:pt x="10204" y="2629"/>
                </a:cubicBezTo>
                <a:cubicBezTo>
                  <a:pt x="10299" y="2536"/>
                  <a:pt x="10484" y="2400"/>
                  <a:pt x="10597" y="2346"/>
                </a:cubicBezTo>
                <a:cubicBezTo>
                  <a:pt x="10654" y="2316"/>
                  <a:pt x="10753" y="2261"/>
                  <a:pt x="10784" y="2245"/>
                </a:cubicBezTo>
                <a:lnTo>
                  <a:pt x="10785" y="2244"/>
                </a:lnTo>
                <a:cubicBezTo>
                  <a:pt x="10789" y="2242"/>
                  <a:pt x="10794" y="2239"/>
                  <a:pt x="10794" y="2239"/>
                </a:cubicBezTo>
                <a:cubicBezTo>
                  <a:pt x="11264" y="1923"/>
                  <a:pt x="12214" y="1566"/>
                  <a:pt x="13184" y="1534"/>
                </a:cubicBezTo>
                <a:cubicBezTo>
                  <a:pt x="14209" y="1486"/>
                  <a:pt x="14916" y="1068"/>
                  <a:pt x="15167" y="740"/>
                </a:cubicBezTo>
                <a:cubicBezTo>
                  <a:pt x="15630" y="316"/>
                  <a:pt x="15864" y="239"/>
                  <a:pt x="16016" y="185"/>
                </a:cubicBezTo>
                <a:lnTo>
                  <a:pt x="16024" y="183"/>
                </a:lnTo>
                <a:cubicBezTo>
                  <a:pt x="16092" y="160"/>
                  <a:pt x="16203" y="116"/>
                  <a:pt x="16256" y="88"/>
                </a:cubicBezTo>
                <a:lnTo>
                  <a:pt x="16495" y="0"/>
                </a:lnTo>
                <a:close/>
              </a:path>
            </a:pathLst>
          </a:custGeom>
          <a:solidFill>
            <a:schemeClr val="accent1">
              <a:lumMod val="20000"/>
              <a:lumOff val="80000"/>
            </a:schemeClr>
          </a:solidFill>
          <a:ln w="444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cxnSp>
        <p:nvCxnSpPr>
          <p:cNvPr id="6" name="直接箭头连接符 5"/>
          <p:cNvCxnSpPr/>
          <p:nvPr/>
        </p:nvCxnSpPr>
        <p:spPr>
          <a:xfrm>
            <a:off x="912495" y="4853305"/>
            <a:ext cx="1082484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7" name="直接箭头连接符 6"/>
          <p:cNvCxnSpPr>
            <a:stCxn id="9" idx="4"/>
          </p:cNvCxnSpPr>
          <p:nvPr/>
        </p:nvCxnSpPr>
        <p:spPr>
          <a:xfrm flipH="1" flipV="1">
            <a:off x="912495" y="1597025"/>
            <a:ext cx="11430" cy="3251835"/>
          </a:xfrm>
          <a:prstGeom prst="straightConnector1">
            <a:avLst/>
          </a:prstGeom>
          <a:ln>
            <a:solidFill>
              <a:schemeClr val="accent1"/>
            </a:solidFill>
            <a:tailEnd type="arrow"/>
          </a:ln>
        </p:spPr>
        <p:style>
          <a:lnRef idx="2">
            <a:schemeClr val="accent1"/>
          </a:lnRef>
          <a:fillRef idx="0">
            <a:srgbClr val="FFFFFF"/>
          </a:fillRef>
          <a:effectRef idx="0">
            <a:srgbClr val="FFFFFF"/>
          </a:effectRef>
          <a:fontRef idx="minor">
            <a:schemeClr val="tx1"/>
          </a:fontRef>
        </p:style>
      </p:cxnSp>
      <p:sp>
        <p:nvSpPr>
          <p:cNvPr id="9" name="isļïḑê"/>
          <p:cNvSpPr/>
          <p:nvPr/>
        </p:nvSpPr>
        <p:spPr>
          <a:xfrm>
            <a:off x="912495" y="1442085"/>
            <a:ext cx="10485755" cy="3411220"/>
          </a:xfrm>
          <a:custGeom>
            <a:avLst/>
            <a:gdLst>
              <a:gd name="connsiteX0" fmla="*/ 16642 w 16642"/>
              <a:gd name="connsiteY0" fmla="*/ 0 h 5372"/>
              <a:gd name="connsiteX1" fmla="*/ 16642 w 16642"/>
              <a:gd name="connsiteY1" fmla="*/ 5372 h 5372"/>
              <a:gd name="connsiteX2" fmla="*/ 16 w 16642"/>
              <a:gd name="connsiteY2" fmla="*/ 5372 h 5372"/>
              <a:gd name="connsiteX3" fmla="*/ 0 w 16642"/>
              <a:gd name="connsiteY3" fmla="*/ 5353 h 5372"/>
              <a:gd name="connsiteX4" fmla="*/ 18 w 16642"/>
              <a:gd name="connsiteY4" fmla="*/ 5365 h 5372"/>
              <a:gd name="connsiteX5" fmla="*/ 2193 w 16642"/>
              <a:gd name="connsiteY5" fmla="*/ 4802 h 5372"/>
              <a:gd name="connsiteX6" fmla="*/ 5598 w 16642"/>
              <a:gd name="connsiteY6" fmla="*/ 4184 h 5372"/>
              <a:gd name="connsiteX7" fmla="*/ 7320 w 16642"/>
              <a:gd name="connsiteY7" fmla="*/ 3450 h 5372"/>
              <a:gd name="connsiteX8" fmla="*/ 9754 w 16642"/>
              <a:gd name="connsiteY8" fmla="*/ 2967 h 5372"/>
              <a:gd name="connsiteX9" fmla="*/ 10783 w 16642"/>
              <a:gd name="connsiteY9" fmla="*/ 2311 h 5372"/>
              <a:gd name="connsiteX10" fmla="*/ 12208 w 16642"/>
              <a:gd name="connsiteY10" fmla="*/ 1673 h 5372"/>
              <a:gd name="connsiteX11" fmla="*/ 14504 w 16642"/>
              <a:gd name="connsiteY11" fmla="*/ 1287 h 5372"/>
              <a:gd name="connsiteX12" fmla="*/ 15791 w 16642"/>
              <a:gd name="connsiteY12" fmla="*/ 360 h 5372"/>
              <a:gd name="connsiteX13" fmla="*/ 16406 w 16642"/>
              <a:gd name="connsiteY13" fmla="*/ 86 h 5372"/>
              <a:gd name="connsiteX14" fmla="*/ 16642 w 16642"/>
              <a:gd name="connsiteY14" fmla="*/ 0 h 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513" h="5372">
                <a:moveTo>
                  <a:pt x="16513" y="0"/>
                </a:moveTo>
                <a:lnTo>
                  <a:pt x="16513" y="5372"/>
                </a:lnTo>
                <a:lnTo>
                  <a:pt x="0" y="5372"/>
                </a:lnTo>
                <a:lnTo>
                  <a:pt x="0" y="5354"/>
                </a:lnTo>
                <a:cubicBezTo>
                  <a:pt x="232" y="5333"/>
                  <a:pt x="742" y="5174"/>
                  <a:pt x="1036" y="5075"/>
                </a:cubicBezTo>
                <a:cubicBezTo>
                  <a:pt x="1408" y="4953"/>
                  <a:pt x="1821" y="4828"/>
                  <a:pt x="2113" y="4795"/>
                </a:cubicBezTo>
                <a:cubicBezTo>
                  <a:pt x="3871" y="4554"/>
                  <a:pt x="6101" y="4146"/>
                  <a:pt x="6447" y="3778"/>
                </a:cubicBezTo>
                <a:cubicBezTo>
                  <a:pt x="6801" y="3515"/>
                  <a:pt x="7627" y="3313"/>
                  <a:pt x="8473" y="3200"/>
                </a:cubicBezTo>
                <a:cubicBezTo>
                  <a:pt x="9566" y="3066"/>
                  <a:pt x="10093" y="2814"/>
                  <a:pt x="10284" y="2578"/>
                </a:cubicBezTo>
                <a:cubicBezTo>
                  <a:pt x="10383" y="2486"/>
                  <a:pt x="10534" y="2369"/>
                  <a:pt x="10673" y="2301"/>
                </a:cubicBezTo>
                <a:cubicBezTo>
                  <a:pt x="10736" y="2267"/>
                  <a:pt x="10836" y="2213"/>
                  <a:pt x="10868" y="2195"/>
                </a:cubicBezTo>
                <a:cubicBezTo>
                  <a:pt x="11370" y="1901"/>
                  <a:pt x="12042" y="1583"/>
                  <a:pt x="13136" y="1510"/>
                </a:cubicBezTo>
                <a:cubicBezTo>
                  <a:pt x="14193" y="1458"/>
                  <a:pt x="14858" y="1130"/>
                  <a:pt x="15198" y="725"/>
                </a:cubicBezTo>
                <a:cubicBezTo>
                  <a:pt x="15832" y="162"/>
                  <a:pt x="15957" y="244"/>
                  <a:pt x="16277" y="86"/>
                </a:cubicBezTo>
                <a:lnTo>
                  <a:pt x="16513" y="0"/>
                </a:lnTo>
                <a:close/>
              </a:path>
            </a:pathLst>
          </a:custGeom>
          <a:gradFill>
            <a:gsLst>
              <a:gs pos="0">
                <a:schemeClr val="accent1">
                  <a:lumMod val="60000"/>
                  <a:lumOff val="40000"/>
                </a:schemeClr>
              </a:gs>
              <a:gs pos="100000">
                <a:schemeClr val="accent1"/>
              </a:gs>
            </a:gsLst>
            <a:lin ang="0" scaled="0"/>
          </a:gradFill>
          <a:ln w="444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cxnSp>
        <p:nvCxnSpPr>
          <p:cNvPr id="14" name="直接连接符 13"/>
          <p:cNvCxnSpPr/>
          <p:nvPr/>
        </p:nvCxnSpPr>
        <p:spPr>
          <a:xfrm>
            <a:off x="3009900" y="3938270"/>
            <a:ext cx="0" cy="2306955"/>
          </a:xfrm>
          <a:prstGeom prst="line">
            <a:avLst/>
          </a:prstGeom>
          <a:ln>
            <a:solidFill>
              <a:schemeClr val="accent6">
                <a:lumMod val="40000"/>
                <a:lumOff val="6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15" name="直接连接符 14"/>
          <p:cNvCxnSpPr/>
          <p:nvPr/>
        </p:nvCxnSpPr>
        <p:spPr>
          <a:xfrm>
            <a:off x="5107305" y="3290570"/>
            <a:ext cx="0" cy="2967355"/>
          </a:xfrm>
          <a:prstGeom prst="line">
            <a:avLst/>
          </a:prstGeom>
          <a:ln>
            <a:solidFill>
              <a:schemeClr val="accent6">
                <a:lumMod val="40000"/>
                <a:lumOff val="6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17" name="直接连接符 16"/>
          <p:cNvCxnSpPr/>
          <p:nvPr/>
        </p:nvCxnSpPr>
        <p:spPr>
          <a:xfrm>
            <a:off x="7204710" y="2747645"/>
            <a:ext cx="0" cy="3516630"/>
          </a:xfrm>
          <a:prstGeom prst="line">
            <a:avLst/>
          </a:prstGeom>
          <a:ln>
            <a:solidFill>
              <a:schemeClr val="accent6">
                <a:lumMod val="40000"/>
                <a:lumOff val="6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18" name="直接连接符 17"/>
          <p:cNvCxnSpPr/>
          <p:nvPr/>
        </p:nvCxnSpPr>
        <p:spPr>
          <a:xfrm>
            <a:off x="9302115" y="1991995"/>
            <a:ext cx="0" cy="4270375"/>
          </a:xfrm>
          <a:prstGeom prst="line">
            <a:avLst/>
          </a:prstGeom>
          <a:ln>
            <a:solidFill>
              <a:schemeClr val="accent6">
                <a:lumMod val="40000"/>
                <a:lumOff val="60000"/>
              </a:schemeClr>
            </a:solidFill>
            <a:prstDash val="sysDash"/>
          </a:ln>
        </p:spPr>
        <p:style>
          <a:lnRef idx="2">
            <a:schemeClr val="accent1"/>
          </a:lnRef>
          <a:fillRef idx="0">
            <a:srgbClr val="FFFFFF"/>
          </a:fillRef>
          <a:effectRef idx="0">
            <a:srgbClr val="FFFFFF"/>
          </a:effectRef>
          <a:fontRef idx="minor">
            <a:schemeClr val="tx1"/>
          </a:fontRef>
        </p:style>
      </p:cxnSp>
      <p:sp>
        <p:nvSpPr>
          <p:cNvPr id="21" name="文本框 20"/>
          <p:cNvSpPr txBox="1"/>
          <p:nvPr/>
        </p:nvSpPr>
        <p:spPr>
          <a:xfrm>
            <a:off x="1208088" y="4989195"/>
            <a:ext cx="1599565" cy="337185"/>
          </a:xfrm>
          <a:prstGeom prst="rect">
            <a:avLst/>
          </a:prstGeom>
          <a:noFill/>
        </p:spPr>
        <p:txBody>
          <a:bodyPr wrap="square" rtlCol="0">
            <a:spAutoFit/>
          </a:bodyPr>
          <a:p>
            <a:pPr algn="ctr"/>
            <a:r>
              <a:rPr lang="en-US" altLang="zh-CN" sz="1600">
                <a:solidFill>
                  <a:schemeClr val="tx2"/>
                </a:solidFill>
                <a:latin typeface="微软雅黑" panose="020B0503020204020204" charset="-122"/>
                <a:ea typeface="微软雅黑" panose="020B0503020204020204" charset="-122"/>
                <a:cs typeface="微软雅黑" panose="020B0503020204020204" charset="-122"/>
              </a:rPr>
              <a:t>2010-2014</a:t>
            </a:r>
            <a:endParaRPr lang="en-US" altLang="zh-CN" sz="16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nvSpPr>
        <p:spPr>
          <a:xfrm>
            <a:off x="3280728" y="4989195"/>
            <a:ext cx="1599565" cy="337185"/>
          </a:xfrm>
          <a:prstGeom prst="rect">
            <a:avLst/>
          </a:prstGeom>
          <a:noFill/>
        </p:spPr>
        <p:txBody>
          <a:bodyPr wrap="square" rtlCol="0">
            <a:spAutoFit/>
          </a:bodyPr>
          <a:p>
            <a:pPr algn="ctr"/>
            <a:r>
              <a:rPr lang="en-US" altLang="zh-CN" sz="1600">
                <a:solidFill>
                  <a:schemeClr val="tx2"/>
                </a:solidFill>
                <a:latin typeface="微软雅黑" panose="020B0503020204020204" charset="-122"/>
                <a:ea typeface="微软雅黑" panose="020B0503020204020204" charset="-122"/>
                <a:cs typeface="微软雅黑" panose="020B0503020204020204" charset="-122"/>
              </a:rPr>
              <a:t>2014-2018</a:t>
            </a:r>
            <a:endParaRPr lang="en-US" altLang="zh-CN" sz="16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3" name="文本框 22"/>
          <p:cNvSpPr txBox="1"/>
          <p:nvPr/>
        </p:nvSpPr>
        <p:spPr>
          <a:xfrm>
            <a:off x="5375910" y="4938395"/>
            <a:ext cx="1599565" cy="337185"/>
          </a:xfrm>
          <a:prstGeom prst="rect">
            <a:avLst/>
          </a:prstGeom>
          <a:noFill/>
        </p:spPr>
        <p:txBody>
          <a:bodyPr wrap="square" rtlCol="0">
            <a:spAutoFit/>
          </a:bodyPr>
          <a:p>
            <a:pPr algn="ctr"/>
            <a:r>
              <a:rPr lang="en-US" altLang="zh-CN" sz="1600">
                <a:solidFill>
                  <a:schemeClr val="tx2"/>
                </a:solidFill>
                <a:latin typeface="微软雅黑" panose="020B0503020204020204" charset="-122"/>
                <a:ea typeface="微软雅黑" panose="020B0503020204020204" charset="-122"/>
                <a:cs typeface="微软雅黑" panose="020B0503020204020204" charset="-122"/>
              </a:rPr>
              <a:t>2018-2021</a:t>
            </a:r>
            <a:endParaRPr lang="en-US" altLang="zh-CN" sz="16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nvSpPr>
        <p:spPr>
          <a:xfrm>
            <a:off x="7467283" y="4938395"/>
            <a:ext cx="1599565" cy="337185"/>
          </a:xfrm>
          <a:prstGeom prst="rect">
            <a:avLst/>
          </a:prstGeom>
          <a:noFill/>
        </p:spPr>
        <p:txBody>
          <a:bodyPr wrap="square" rtlCol="0">
            <a:spAutoFit/>
          </a:bodyPr>
          <a:p>
            <a:pPr algn="ctr"/>
            <a:r>
              <a:rPr lang="en-US" altLang="zh-CN" sz="1600">
                <a:solidFill>
                  <a:schemeClr val="tx2"/>
                </a:solidFill>
                <a:latin typeface="微软雅黑" panose="020B0503020204020204" charset="-122"/>
                <a:ea typeface="微软雅黑" panose="020B0503020204020204" charset="-122"/>
                <a:cs typeface="微软雅黑" panose="020B0503020204020204" charset="-122"/>
              </a:rPr>
              <a:t>2021-2023</a:t>
            </a:r>
            <a:endParaRPr lang="en-US" altLang="zh-CN" sz="16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5" name="文本框 24"/>
          <p:cNvSpPr txBox="1"/>
          <p:nvPr/>
        </p:nvSpPr>
        <p:spPr>
          <a:xfrm>
            <a:off x="9552305" y="4938395"/>
            <a:ext cx="1599565" cy="337185"/>
          </a:xfrm>
          <a:prstGeom prst="rect">
            <a:avLst/>
          </a:prstGeom>
          <a:noFill/>
        </p:spPr>
        <p:txBody>
          <a:bodyPr wrap="square" rtlCol="0">
            <a:spAutoFit/>
          </a:bodyPr>
          <a:p>
            <a:pPr algn="ctr"/>
            <a:r>
              <a:rPr lang="en-US" altLang="zh-CN" sz="1600">
                <a:solidFill>
                  <a:schemeClr val="tx2"/>
                </a:solidFill>
                <a:latin typeface="微软雅黑" panose="020B0503020204020204" charset="-122"/>
                <a:ea typeface="微软雅黑" panose="020B0503020204020204" charset="-122"/>
                <a:cs typeface="微软雅黑" panose="020B0503020204020204" charset="-122"/>
              </a:rPr>
              <a:t>2023-</a:t>
            </a:r>
            <a:r>
              <a:rPr lang="zh-CN" altLang="en-US" sz="1600">
                <a:solidFill>
                  <a:schemeClr val="tx2"/>
                </a:solidFill>
                <a:latin typeface="微软雅黑" panose="020B0503020204020204" charset="-122"/>
                <a:ea typeface="微软雅黑" panose="020B0503020204020204" charset="-122"/>
                <a:cs typeface="微软雅黑" panose="020B0503020204020204" charset="-122"/>
              </a:rPr>
              <a:t>至今</a:t>
            </a:r>
            <a:endParaRPr lang="zh-CN" altLang="en-US" sz="160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28" name="组合 27"/>
          <p:cNvGrpSpPr/>
          <p:nvPr/>
        </p:nvGrpSpPr>
        <p:grpSpPr>
          <a:xfrm>
            <a:off x="1146810" y="3763645"/>
            <a:ext cx="1634490" cy="812800"/>
            <a:chOff x="1316" y="5927"/>
            <a:chExt cx="2574" cy="1280"/>
          </a:xfrm>
        </p:grpSpPr>
        <p:cxnSp>
          <p:nvCxnSpPr>
            <p:cNvPr id="26" name="直接连接符 25"/>
            <p:cNvCxnSpPr/>
            <p:nvPr/>
          </p:nvCxnSpPr>
          <p:spPr>
            <a:xfrm>
              <a:off x="1316" y="5927"/>
              <a:ext cx="1700" cy="0"/>
            </a:xfrm>
            <a:prstGeom prst="line">
              <a:avLst/>
            </a:prstGeom>
            <a:ln w="19050">
              <a:solidFill>
                <a:schemeClr val="accent1"/>
              </a:solidFill>
            </a:ln>
          </p:spPr>
          <p:style>
            <a:lnRef idx="2">
              <a:schemeClr val="accent1"/>
            </a:lnRef>
            <a:fillRef idx="0">
              <a:srgbClr val="FFFFFF"/>
            </a:fillRef>
            <a:effectRef idx="0">
              <a:srgbClr val="FFFFFF"/>
            </a:effectRef>
            <a:fontRef idx="minor">
              <a:schemeClr val="tx1"/>
            </a:fontRef>
          </p:style>
        </p:cxnSp>
        <p:cxnSp>
          <p:nvCxnSpPr>
            <p:cNvPr id="27" name="直接连接符 26"/>
            <p:cNvCxnSpPr/>
            <p:nvPr/>
          </p:nvCxnSpPr>
          <p:spPr>
            <a:xfrm>
              <a:off x="3000" y="5927"/>
              <a:ext cx="890" cy="1280"/>
            </a:xfrm>
            <a:prstGeom prst="line">
              <a:avLst/>
            </a:prstGeom>
            <a:ln w="19050">
              <a:solidFill>
                <a:schemeClr val="accent1"/>
              </a:solidFill>
              <a:tailEnd type="oval"/>
            </a:ln>
          </p:spPr>
          <p:style>
            <a:lnRef idx="2">
              <a:schemeClr val="accent1"/>
            </a:lnRef>
            <a:fillRef idx="0">
              <a:srgbClr val="FFFFFF"/>
            </a:fillRef>
            <a:effectRef idx="0">
              <a:srgbClr val="FFFFFF"/>
            </a:effectRef>
            <a:fontRef idx="minor">
              <a:schemeClr val="tx1"/>
            </a:fontRef>
          </p:style>
        </p:cxnSp>
      </p:grpSp>
      <p:sp>
        <p:nvSpPr>
          <p:cNvPr id="29" name="文本框 28"/>
          <p:cNvSpPr txBox="1"/>
          <p:nvPr/>
        </p:nvSpPr>
        <p:spPr>
          <a:xfrm>
            <a:off x="1089025" y="3429000"/>
            <a:ext cx="1487170" cy="306705"/>
          </a:xfrm>
          <a:prstGeom prst="rect">
            <a:avLst/>
          </a:prstGeom>
          <a:noFill/>
        </p:spPr>
        <p:txBody>
          <a:bodyPr wrap="square" rtlCol="0">
            <a:spAutoFit/>
          </a:bodyPr>
          <a:p>
            <a:r>
              <a:rPr lang="en-US" altLang="zh-CN" sz="1400">
                <a:solidFill>
                  <a:schemeClr val="accent1"/>
                </a:solidFill>
                <a:latin typeface="微软雅黑" panose="020B0503020204020204" charset="-122"/>
                <a:ea typeface="微软雅黑" panose="020B0503020204020204" charset="-122"/>
                <a:cs typeface="微软雅黑" panose="020B0503020204020204" charset="-122"/>
              </a:rPr>
              <a:t>@</a:t>
            </a:r>
            <a:r>
              <a:rPr lang="zh-CN" altLang="en-US" sz="1400">
                <a:solidFill>
                  <a:schemeClr val="accent1"/>
                </a:solidFill>
                <a:latin typeface="微软雅黑" panose="020B0503020204020204" charset="-122"/>
                <a:ea typeface="微软雅黑" panose="020B0503020204020204" charset="-122"/>
                <a:cs typeface="微软雅黑" panose="020B0503020204020204" charset="-122"/>
              </a:rPr>
              <a:t>技术筑基战略</a:t>
            </a:r>
            <a:endParaRPr lang="zh-CN" altLang="en-US" sz="14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0" name="文本框 29"/>
          <p:cNvSpPr txBox="1"/>
          <p:nvPr/>
        </p:nvSpPr>
        <p:spPr>
          <a:xfrm>
            <a:off x="942975" y="3821430"/>
            <a:ext cx="1487170" cy="245110"/>
          </a:xfrm>
          <a:prstGeom prst="rect">
            <a:avLst/>
          </a:prstGeom>
          <a:noFill/>
        </p:spPr>
        <p:txBody>
          <a:bodyPr wrap="square" rtlCol="0">
            <a:spAutoFit/>
          </a:bodyPr>
          <a:p>
            <a:r>
              <a:rPr 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从单点系统到统一</a:t>
            </a:r>
            <a:r>
              <a:rPr lang="zh-CN" sz="1000">
                <a:solidFill>
                  <a:schemeClr val="tx2"/>
                </a:solidFill>
                <a:latin typeface="微软雅黑" panose="020B0503020204020204" charset="-122"/>
                <a:ea typeface="微软雅黑" panose="020B0503020204020204" charset="-122"/>
                <a:cs typeface="微软雅黑" panose="020B0503020204020204" charset="-122"/>
              </a:rPr>
              <a:t>）</a:t>
            </a:r>
            <a:endParaRPr lang="zh-CN" sz="100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31" name="组合 30"/>
          <p:cNvGrpSpPr/>
          <p:nvPr/>
        </p:nvGrpSpPr>
        <p:grpSpPr>
          <a:xfrm>
            <a:off x="2824480" y="3380740"/>
            <a:ext cx="1634490" cy="812800"/>
            <a:chOff x="1316" y="5927"/>
            <a:chExt cx="2574" cy="1280"/>
          </a:xfrm>
        </p:grpSpPr>
        <p:cxnSp>
          <p:nvCxnSpPr>
            <p:cNvPr id="32" name="直接连接符 31"/>
            <p:cNvCxnSpPr/>
            <p:nvPr/>
          </p:nvCxnSpPr>
          <p:spPr>
            <a:xfrm>
              <a:off x="1316" y="5927"/>
              <a:ext cx="1700" cy="0"/>
            </a:xfrm>
            <a:prstGeom prst="line">
              <a:avLst/>
            </a:prstGeom>
            <a:ln w="19050">
              <a:solidFill>
                <a:schemeClr val="accent1"/>
              </a:solidFill>
            </a:ln>
          </p:spPr>
          <p:style>
            <a:lnRef idx="2">
              <a:schemeClr val="accent1"/>
            </a:lnRef>
            <a:fillRef idx="0">
              <a:srgbClr val="FFFFFF"/>
            </a:fillRef>
            <a:effectRef idx="0">
              <a:srgbClr val="FFFFFF"/>
            </a:effectRef>
            <a:fontRef idx="minor">
              <a:schemeClr val="tx1"/>
            </a:fontRef>
          </p:style>
        </p:cxnSp>
        <p:cxnSp>
          <p:nvCxnSpPr>
            <p:cNvPr id="33" name="直接连接符 32"/>
            <p:cNvCxnSpPr/>
            <p:nvPr/>
          </p:nvCxnSpPr>
          <p:spPr>
            <a:xfrm>
              <a:off x="3000" y="5927"/>
              <a:ext cx="890" cy="1280"/>
            </a:xfrm>
            <a:prstGeom prst="line">
              <a:avLst/>
            </a:prstGeom>
            <a:ln w="19050">
              <a:solidFill>
                <a:schemeClr val="accent1"/>
              </a:solidFill>
              <a:tailEnd type="oval"/>
            </a:ln>
          </p:spPr>
          <p:style>
            <a:lnRef idx="2">
              <a:schemeClr val="accent1"/>
            </a:lnRef>
            <a:fillRef idx="0">
              <a:srgbClr val="FFFFFF"/>
            </a:fillRef>
            <a:effectRef idx="0">
              <a:srgbClr val="FFFFFF"/>
            </a:effectRef>
            <a:fontRef idx="minor">
              <a:schemeClr val="tx1"/>
            </a:fontRef>
          </p:style>
        </p:cxnSp>
      </p:grpSp>
      <p:sp>
        <p:nvSpPr>
          <p:cNvPr id="34" name="文本框 33"/>
          <p:cNvSpPr txBox="1"/>
          <p:nvPr/>
        </p:nvSpPr>
        <p:spPr>
          <a:xfrm>
            <a:off x="2766695" y="3046095"/>
            <a:ext cx="1487170" cy="306705"/>
          </a:xfrm>
          <a:prstGeom prst="rect">
            <a:avLst/>
          </a:prstGeom>
          <a:noFill/>
        </p:spPr>
        <p:txBody>
          <a:bodyPr wrap="square" rtlCol="0">
            <a:spAutoFit/>
          </a:bodyPr>
          <a:p>
            <a:r>
              <a:rPr lang="en-US" altLang="zh-CN" sz="1400">
                <a:solidFill>
                  <a:schemeClr val="accent1"/>
                </a:solidFill>
                <a:latin typeface="微软雅黑" panose="020B0503020204020204" charset="-122"/>
                <a:ea typeface="微软雅黑" panose="020B0503020204020204" charset="-122"/>
                <a:cs typeface="微软雅黑" panose="020B0503020204020204" charset="-122"/>
              </a:rPr>
              <a:t>@</a:t>
            </a:r>
            <a:r>
              <a:rPr lang="zh-CN" altLang="en-US" sz="1400">
                <a:solidFill>
                  <a:schemeClr val="accent1"/>
                </a:solidFill>
                <a:latin typeface="微软雅黑" panose="020B0503020204020204" charset="-122"/>
                <a:ea typeface="微软雅黑" panose="020B0503020204020204" charset="-122"/>
                <a:cs typeface="微软雅黑" panose="020B0503020204020204" charset="-122"/>
              </a:rPr>
              <a:t>平台化战略</a:t>
            </a:r>
            <a:endParaRPr lang="zh-CN" altLang="en-US" sz="14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5" name="文本框 34"/>
          <p:cNvSpPr txBox="1"/>
          <p:nvPr/>
        </p:nvSpPr>
        <p:spPr>
          <a:xfrm>
            <a:off x="2706370" y="3438525"/>
            <a:ext cx="1283335" cy="398780"/>
          </a:xfrm>
          <a:prstGeom prst="rect">
            <a:avLst/>
          </a:prstGeom>
          <a:noFill/>
        </p:spPr>
        <p:txBody>
          <a:bodyPr wrap="square" rtlCol="0">
            <a:spAutoFit/>
          </a:bodyPr>
          <a:p>
            <a:r>
              <a:rPr 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从烟囱架构到服务化中台</a:t>
            </a:r>
            <a:r>
              <a:rPr lang="zh-CN" sz="1000">
                <a:solidFill>
                  <a:schemeClr val="tx2"/>
                </a:solidFill>
                <a:latin typeface="微软雅黑" panose="020B0503020204020204" charset="-122"/>
                <a:ea typeface="微软雅黑" panose="020B0503020204020204" charset="-122"/>
                <a:cs typeface="微软雅黑" panose="020B0503020204020204" charset="-122"/>
              </a:rPr>
              <a:t>）</a:t>
            </a:r>
            <a:endParaRPr lang="zh-CN" sz="100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36" name="组合 35"/>
          <p:cNvGrpSpPr/>
          <p:nvPr/>
        </p:nvGrpSpPr>
        <p:grpSpPr>
          <a:xfrm>
            <a:off x="7082790" y="2058670"/>
            <a:ext cx="1634490" cy="812800"/>
            <a:chOff x="1316" y="5927"/>
            <a:chExt cx="2574" cy="1280"/>
          </a:xfrm>
        </p:grpSpPr>
        <p:cxnSp>
          <p:nvCxnSpPr>
            <p:cNvPr id="37" name="直接连接符 36"/>
            <p:cNvCxnSpPr/>
            <p:nvPr/>
          </p:nvCxnSpPr>
          <p:spPr>
            <a:xfrm>
              <a:off x="1316" y="5927"/>
              <a:ext cx="1700" cy="0"/>
            </a:xfrm>
            <a:prstGeom prst="line">
              <a:avLst/>
            </a:prstGeom>
            <a:ln w="19050">
              <a:solidFill>
                <a:schemeClr val="accent5">
                  <a:lumMod val="60000"/>
                  <a:lumOff val="40000"/>
                </a:schemeClr>
              </a:solidFill>
            </a:ln>
          </p:spPr>
          <p:style>
            <a:lnRef idx="2">
              <a:schemeClr val="accent1"/>
            </a:lnRef>
            <a:fillRef idx="0">
              <a:srgbClr val="FFFFFF"/>
            </a:fillRef>
            <a:effectRef idx="0">
              <a:srgbClr val="FFFFFF"/>
            </a:effectRef>
            <a:fontRef idx="minor">
              <a:schemeClr val="tx1"/>
            </a:fontRef>
          </p:style>
        </p:cxnSp>
        <p:cxnSp>
          <p:nvCxnSpPr>
            <p:cNvPr id="38" name="直接连接符 37"/>
            <p:cNvCxnSpPr/>
            <p:nvPr/>
          </p:nvCxnSpPr>
          <p:spPr>
            <a:xfrm>
              <a:off x="3000" y="5927"/>
              <a:ext cx="890" cy="1280"/>
            </a:xfrm>
            <a:prstGeom prst="line">
              <a:avLst/>
            </a:prstGeom>
            <a:ln w="19050">
              <a:solidFill>
                <a:schemeClr val="accent5">
                  <a:lumMod val="60000"/>
                  <a:lumOff val="40000"/>
                </a:schemeClr>
              </a:solidFill>
              <a:tailEnd type="oval"/>
            </a:ln>
          </p:spPr>
          <p:style>
            <a:lnRef idx="2">
              <a:schemeClr val="accent1"/>
            </a:lnRef>
            <a:fillRef idx="0">
              <a:srgbClr val="FFFFFF"/>
            </a:fillRef>
            <a:effectRef idx="0">
              <a:srgbClr val="FFFFFF"/>
            </a:effectRef>
            <a:fontRef idx="minor">
              <a:schemeClr val="tx1"/>
            </a:fontRef>
          </p:style>
        </p:cxnSp>
      </p:grpSp>
      <p:sp>
        <p:nvSpPr>
          <p:cNvPr id="39" name="文本框 38"/>
          <p:cNvSpPr txBox="1"/>
          <p:nvPr/>
        </p:nvSpPr>
        <p:spPr>
          <a:xfrm>
            <a:off x="7025005" y="1724025"/>
            <a:ext cx="1433830" cy="306705"/>
          </a:xfrm>
          <a:prstGeom prst="rect">
            <a:avLst/>
          </a:prstGeom>
          <a:noFill/>
        </p:spPr>
        <p:txBody>
          <a:bodyPr wrap="square" rtlCol="0">
            <a:spAutoFit/>
          </a:bodyPr>
          <a:p>
            <a:r>
              <a:rPr lang="en-US" altLang="zh-CN" sz="1400">
                <a:solidFill>
                  <a:schemeClr val="accent5"/>
                </a:solidFill>
                <a:latin typeface="微软雅黑" panose="020B0503020204020204" charset="-122"/>
                <a:ea typeface="微软雅黑" panose="020B0503020204020204" charset="-122"/>
                <a:cs typeface="微软雅黑" panose="020B0503020204020204" charset="-122"/>
              </a:rPr>
              <a:t>@</a:t>
            </a:r>
            <a:r>
              <a:rPr lang="zh-CN" altLang="en-US" sz="1400">
                <a:solidFill>
                  <a:schemeClr val="accent5"/>
                </a:solidFill>
                <a:latin typeface="微软雅黑" panose="020B0503020204020204" charset="-122"/>
                <a:ea typeface="微软雅黑" panose="020B0503020204020204" charset="-122"/>
                <a:cs typeface="微软雅黑" panose="020B0503020204020204" charset="-122"/>
              </a:rPr>
              <a:t>智能化战略</a:t>
            </a:r>
            <a:endParaRPr lang="zh-CN" altLang="en-US" sz="140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40" name="文本框 39"/>
          <p:cNvSpPr txBox="1"/>
          <p:nvPr/>
        </p:nvSpPr>
        <p:spPr>
          <a:xfrm>
            <a:off x="6760210" y="2124075"/>
            <a:ext cx="1487170" cy="245110"/>
          </a:xfrm>
          <a:prstGeom prst="rect">
            <a:avLst/>
          </a:prstGeom>
          <a:noFill/>
        </p:spPr>
        <p:txBody>
          <a:bodyPr wrap="square" rtlCol="0">
            <a:spAutoFit/>
          </a:bodyPr>
          <a:p>
            <a:r>
              <a:rPr 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从数据孤岛到</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AI</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驱动</a:t>
            </a:r>
            <a:r>
              <a:rPr lang="zh-CN" sz="1000">
                <a:solidFill>
                  <a:schemeClr val="tx2"/>
                </a:solidFill>
                <a:latin typeface="微软雅黑" panose="020B0503020204020204" charset="-122"/>
                <a:ea typeface="微软雅黑" panose="020B0503020204020204" charset="-122"/>
                <a:cs typeface="微软雅黑" panose="020B0503020204020204" charset="-122"/>
              </a:rPr>
              <a:t>）</a:t>
            </a:r>
            <a:endParaRPr lang="zh-CN" sz="100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41" name="组合 40"/>
          <p:cNvGrpSpPr/>
          <p:nvPr/>
        </p:nvGrpSpPr>
        <p:grpSpPr>
          <a:xfrm>
            <a:off x="9000490" y="1524000"/>
            <a:ext cx="1634490" cy="812800"/>
            <a:chOff x="1316" y="5927"/>
            <a:chExt cx="2574" cy="1280"/>
          </a:xfrm>
        </p:grpSpPr>
        <p:cxnSp>
          <p:nvCxnSpPr>
            <p:cNvPr id="42" name="直接连接符 41"/>
            <p:cNvCxnSpPr/>
            <p:nvPr/>
          </p:nvCxnSpPr>
          <p:spPr>
            <a:xfrm>
              <a:off x="1316" y="5927"/>
              <a:ext cx="1700" cy="0"/>
            </a:xfrm>
            <a:prstGeom prst="line">
              <a:avLst/>
            </a:prstGeom>
            <a:ln w="19050">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cxnSp>
        <p:cxnSp>
          <p:nvCxnSpPr>
            <p:cNvPr id="43" name="直接连接符 42"/>
            <p:cNvCxnSpPr/>
            <p:nvPr/>
          </p:nvCxnSpPr>
          <p:spPr>
            <a:xfrm>
              <a:off x="3000" y="5927"/>
              <a:ext cx="890" cy="1280"/>
            </a:xfrm>
            <a:prstGeom prst="line">
              <a:avLst/>
            </a:prstGeom>
            <a:ln w="19050">
              <a:solidFill>
                <a:schemeClr val="accent1">
                  <a:lumMod val="60000"/>
                  <a:lumOff val="40000"/>
                </a:schemeClr>
              </a:solidFill>
              <a:tailEnd type="oval"/>
            </a:ln>
          </p:spPr>
          <p:style>
            <a:lnRef idx="2">
              <a:schemeClr val="accent1"/>
            </a:lnRef>
            <a:fillRef idx="0">
              <a:srgbClr val="FFFFFF"/>
            </a:fillRef>
            <a:effectRef idx="0">
              <a:srgbClr val="FFFFFF"/>
            </a:effectRef>
            <a:fontRef idx="minor">
              <a:schemeClr val="tx1"/>
            </a:fontRef>
          </p:style>
        </p:cxnSp>
      </p:grpSp>
      <p:sp>
        <p:nvSpPr>
          <p:cNvPr id="44" name="文本框 43"/>
          <p:cNvSpPr txBox="1"/>
          <p:nvPr/>
        </p:nvSpPr>
        <p:spPr>
          <a:xfrm>
            <a:off x="8942705" y="1189355"/>
            <a:ext cx="1487170" cy="306705"/>
          </a:xfrm>
          <a:prstGeom prst="rect">
            <a:avLst/>
          </a:prstGeom>
          <a:noFill/>
        </p:spPr>
        <p:txBody>
          <a:bodyPr wrap="square" rtlCol="0">
            <a:spAutoFit/>
          </a:bodyPr>
          <a:p>
            <a:r>
              <a:rPr lang="en-US" altLang="zh-CN" sz="14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a:t>
            </a:r>
            <a:r>
              <a:rPr lang="zh-CN" altLang="en-US" sz="14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生态开放战略</a:t>
            </a:r>
            <a:endParaRPr lang="zh-CN" altLang="en-US" sz="14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45" name="文本框 44"/>
          <p:cNvSpPr txBox="1"/>
          <p:nvPr/>
        </p:nvSpPr>
        <p:spPr>
          <a:xfrm>
            <a:off x="8630285" y="1581785"/>
            <a:ext cx="1653540" cy="245110"/>
          </a:xfrm>
          <a:prstGeom prst="rect">
            <a:avLst/>
          </a:prstGeom>
          <a:noFill/>
        </p:spPr>
        <p:txBody>
          <a:bodyPr wrap="square" rtlCol="0">
            <a:spAutoFit/>
          </a:bodyPr>
          <a:p>
            <a:r>
              <a:rPr lang="zh-CN" sz="100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sym typeface="+mn-ea"/>
              </a:rPr>
              <a:t>从封闭系统到</a:t>
            </a:r>
            <a:r>
              <a:rPr lang="en-US" altLang="zh-CN" sz="1000">
                <a:solidFill>
                  <a:schemeClr val="tx2"/>
                </a:solidFill>
                <a:latin typeface="微软雅黑" panose="020B0503020204020204" charset="-122"/>
                <a:ea typeface="微软雅黑" panose="020B0503020204020204" charset="-122"/>
                <a:cs typeface="微软雅黑" panose="020B0503020204020204" charset="-122"/>
                <a:sym typeface="+mn-ea"/>
              </a:rPr>
              <a:t>API</a:t>
            </a:r>
            <a:r>
              <a:rPr lang="zh-CN" altLang="en-US" sz="1000">
                <a:solidFill>
                  <a:schemeClr val="tx2"/>
                </a:solidFill>
                <a:latin typeface="微软雅黑" panose="020B0503020204020204" charset="-122"/>
                <a:ea typeface="微软雅黑" panose="020B0503020204020204" charset="-122"/>
                <a:cs typeface="微软雅黑" panose="020B0503020204020204" charset="-122"/>
                <a:sym typeface="+mn-ea"/>
              </a:rPr>
              <a:t>经济</a:t>
            </a:r>
            <a:r>
              <a:rPr lang="zh-CN" sz="1000">
                <a:solidFill>
                  <a:schemeClr val="tx2"/>
                </a:solidFill>
                <a:latin typeface="微软雅黑" panose="020B0503020204020204" charset="-122"/>
                <a:ea typeface="微软雅黑" panose="020B0503020204020204" charset="-122"/>
                <a:cs typeface="微软雅黑" panose="020B0503020204020204" charset="-122"/>
                <a:sym typeface="+mn-ea"/>
              </a:rPr>
              <a:t>）</a:t>
            </a:r>
            <a:endParaRPr lang="zh-CN" sz="100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66" name="组合 65"/>
          <p:cNvGrpSpPr/>
          <p:nvPr/>
        </p:nvGrpSpPr>
        <p:grpSpPr>
          <a:xfrm>
            <a:off x="4683760" y="2522855"/>
            <a:ext cx="2055495" cy="1147445"/>
            <a:chOff x="9795" y="3190"/>
            <a:chExt cx="3237" cy="1807"/>
          </a:xfrm>
        </p:grpSpPr>
        <p:grpSp>
          <p:nvGrpSpPr>
            <p:cNvPr id="61" name="组合 60"/>
            <p:cNvGrpSpPr/>
            <p:nvPr/>
          </p:nvGrpSpPr>
          <p:grpSpPr>
            <a:xfrm>
              <a:off x="10458" y="3717"/>
              <a:ext cx="2574" cy="1280"/>
              <a:chOff x="1316" y="5927"/>
              <a:chExt cx="2574" cy="1280"/>
            </a:xfrm>
          </p:grpSpPr>
          <p:cxnSp>
            <p:nvCxnSpPr>
              <p:cNvPr id="62" name="直接连接符 61"/>
              <p:cNvCxnSpPr/>
              <p:nvPr/>
            </p:nvCxnSpPr>
            <p:spPr>
              <a:xfrm>
                <a:off x="1316" y="5927"/>
                <a:ext cx="1700" cy="0"/>
              </a:xfrm>
              <a:prstGeom prst="line">
                <a:avLst/>
              </a:prstGeom>
              <a:ln w="19050">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cxnSp>
          <p:cxnSp>
            <p:nvCxnSpPr>
              <p:cNvPr id="63" name="直接连接符 62"/>
              <p:cNvCxnSpPr/>
              <p:nvPr/>
            </p:nvCxnSpPr>
            <p:spPr>
              <a:xfrm>
                <a:off x="3000" y="5927"/>
                <a:ext cx="890" cy="1280"/>
              </a:xfrm>
              <a:prstGeom prst="line">
                <a:avLst/>
              </a:prstGeom>
              <a:ln w="19050">
                <a:solidFill>
                  <a:schemeClr val="accent1">
                    <a:lumMod val="60000"/>
                    <a:lumOff val="40000"/>
                  </a:schemeClr>
                </a:solidFill>
                <a:tailEnd type="oval"/>
              </a:ln>
            </p:spPr>
            <p:style>
              <a:lnRef idx="2">
                <a:schemeClr val="accent1"/>
              </a:lnRef>
              <a:fillRef idx="0">
                <a:srgbClr val="FFFFFF"/>
              </a:fillRef>
              <a:effectRef idx="0">
                <a:srgbClr val="FFFFFF"/>
              </a:effectRef>
              <a:fontRef idx="minor">
                <a:schemeClr val="tx1"/>
              </a:fontRef>
            </p:style>
          </p:cxnSp>
        </p:grpSp>
        <p:sp>
          <p:nvSpPr>
            <p:cNvPr id="64" name="文本框 63"/>
            <p:cNvSpPr txBox="1"/>
            <p:nvPr/>
          </p:nvSpPr>
          <p:spPr>
            <a:xfrm>
              <a:off x="10367" y="3190"/>
              <a:ext cx="2342" cy="483"/>
            </a:xfrm>
            <a:prstGeom prst="rect">
              <a:avLst/>
            </a:prstGeom>
            <a:noFill/>
          </p:spPr>
          <p:txBody>
            <a:bodyPr wrap="square" rtlCol="0">
              <a:spAutoFit/>
            </a:bodyPr>
            <a:p>
              <a:r>
                <a:rPr lang="en-US" altLang="zh-CN" sz="14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a:t>
              </a:r>
              <a:r>
                <a:rPr lang="zh-CN" altLang="en-US" sz="14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云原生战略</a:t>
              </a:r>
              <a:endParaRPr lang="zh-CN" altLang="en-US" sz="14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65" name="文本框 64"/>
            <p:cNvSpPr txBox="1"/>
            <p:nvPr/>
          </p:nvSpPr>
          <p:spPr>
            <a:xfrm>
              <a:off x="9795" y="3808"/>
              <a:ext cx="2684" cy="386"/>
            </a:xfrm>
            <a:prstGeom prst="rect">
              <a:avLst/>
            </a:prstGeom>
            <a:noFill/>
          </p:spPr>
          <p:txBody>
            <a:bodyPr wrap="square" rtlCol="0">
              <a:spAutoFit/>
            </a:bodyPr>
            <a:p>
              <a:r>
                <a:rPr lang="zh-CN" sz="100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sym typeface="+mn-ea"/>
                </a:rPr>
                <a:t>从物理机到全域云原生</a:t>
              </a:r>
              <a:r>
                <a:rPr lang="zh-CN" sz="1000">
                  <a:solidFill>
                    <a:schemeClr val="tx2"/>
                  </a:solidFill>
                  <a:latin typeface="微软雅黑" panose="020B0503020204020204" charset="-122"/>
                  <a:ea typeface="微软雅黑" panose="020B0503020204020204" charset="-122"/>
                  <a:cs typeface="微软雅黑" panose="020B0503020204020204" charset="-122"/>
                  <a:sym typeface="+mn-ea"/>
                </a:rPr>
                <a:t>）</a:t>
              </a:r>
              <a:endParaRPr lang="zh-CN" sz="100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67" name="文本框 66"/>
          <p:cNvSpPr txBox="1"/>
          <p:nvPr/>
        </p:nvSpPr>
        <p:spPr>
          <a:xfrm>
            <a:off x="9552305" y="3168015"/>
            <a:ext cx="1773555" cy="337185"/>
          </a:xfrm>
          <a:prstGeom prst="rect">
            <a:avLst/>
          </a:prstGeom>
          <a:noFill/>
        </p:spPr>
        <p:txBody>
          <a:bodyPr wrap="square" rtlCol="0">
            <a:spAutoFit/>
          </a:bodyPr>
          <a:p>
            <a:pPr algn="ctr"/>
            <a:r>
              <a:rPr lang="zh-CN" altLang="en-US" sz="1600" b="1">
                <a:solidFill>
                  <a:schemeClr val="bg1"/>
                </a:solidFill>
                <a:latin typeface="微软雅黑" panose="020B0503020204020204" charset="-122"/>
                <a:ea typeface="微软雅黑" panose="020B0503020204020204" charset="-122"/>
                <a:cs typeface="微软雅黑" panose="020B0503020204020204" charset="-122"/>
              </a:rPr>
              <a:t>从智能到生态化</a:t>
            </a:r>
            <a:endParaRPr lang="zh-CN" altLang="en-US" sz="16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68" name="文本框 67"/>
          <p:cNvSpPr txBox="1"/>
          <p:nvPr/>
        </p:nvSpPr>
        <p:spPr>
          <a:xfrm>
            <a:off x="7306310" y="3484245"/>
            <a:ext cx="1900555" cy="337185"/>
          </a:xfrm>
          <a:prstGeom prst="rect">
            <a:avLst/>
          </a:prstGeom>
          <a:noFill/>
        </p:spPr>
        <p:txBody>
          <a:bodyPr wrap="square" rtlCol="0">
            <a:spAutoFit/>
          </a:bodyPr>
          <a:p>
            <a:pPr algn="ctr"/>
            <a:r>
              <a:rPr lang="zh-CN" altLang="en-US" sz="1600" b="1">
                <a:solidFill>
                  <a:schemeClr val="bg1"/>
                </a:solidFill>
                <a:latin typeface="微软雅黑" panose="020B0503020204020204" charset="-122"/>
                <a:ea typeface="微软雅黑" panose="020B0503020204020204" charset="-122"/>
                <a:cs typeface="微软雅黑" panose="020B0503020204020204" charset="-122"/>
                <a:sym typeface="+mn-ea"/>
              </a:rPr>
              <a:t>从云服务到智能化</a:t>
            </a:r>
            <a:endParaRPr lang="zh-CN" altLang="en-US" sz="16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69" name="文本框 68"/>
          <p:cNvSpPr txBox="1"/>
          <p:nvPr/>
        </p:nvSpPr>
        <p:spPr>
          <a:xfrm>
            <a:off x="1018540" y="1597025"/>
            <a:ext cx="1628140" cy="337185"/>
          </a:xfrm>
          <a:prstGeom prst="rect">
            <a:avLst/>
          </a:prstGeom>
          <a:noFill/>
        </p:spPr>
        <p:txBody>
          <a:bodyPr wrap="square" rtlCol="0">
            <a:spAutoFit/>
          </a:bodyPr>
          <a:p>
            <a:r>
              <a:rPr lang="zh-CN" altLang="en-US" sz="1600" b="1">
                <a:solidFill>
                  <a:schemeClr val="tx2"/>
                </a:solidFill>
                <a:latin typeface="微软雅黑" panose="020B0503020204020204" charset="-122"/>
                <a:ea typeface="微软雅黑" panose="020B0503020204020204" charset="-122"/>
                <a:cs typeface="微软雅黑" panose="020B0503020204020204" charset="-122"/>
              </a:rPr>
              <a:t>五个战略阶段</a:t>
            </a:r>
            <a:endParaRPr lang="zh-CN" altLang="en-US" sz="16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5171440" y="4067175"/>
            <a:ext cx="1849755" cy="337185"/>
          </a:xfrm>
          <a:prstGeom prst="rect">
            <a:avLst/>
          </a:prstGeom>
          <a:noFill/>
        </p:spPr>
        <p:txBody>
          <a:bodyPr wrap="square" rtlCol="0">
            <a:spAutoFit/>
          </a:bodyPr>
          <a:p>
            <a:pPr algn="ctr"/>
            <a:r>
              <a:rPr lang="zh-CN" altLang="en-US" sz="1600" b="1">
                <a:solidFill>
                  <a:schemeClr val="bg1"/>
                </a:solidFill>
                <a:latin typeface="微软雅黑" panose="020B0503020204020204" charset="-122"/>
                <a:ea typeface="微软雅黑" panose="020B0503020204020204" charset="-122"/>
                <a:cs typeface="微软雅黑" panose="020B0503020204020204" charset="-122"/>
              </a:rPr>
              <a:t>从平台到云服务化</a:t>
            </a:r>
            <a:endParaRPr lang="zh-CN" altLang="en-US" sz="16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3194050" y="4404360"/>
            <a:ext cx="1773555" cy="337185"/>
          </a:xfrm>
          <a:prstGeom prst="rect">
            <a:avLst/>
          </a:prstGeom>
          <a:noFill/>
        </p:spPr>
        <p:txBody>
          <a:bodyPr wrap="square" rtlCol="0">
            <a:spAutoFit/>
          </a:bodyPr>
          <a:p>
            <a:pPr algn="ctr"/>
            <a:r>
              <a:rPr lang="zh-CN" altLang="en-US" sz="1600" b="1">
                <a:solidFill>
                  <a:schemeClr val="bg1"/>
                </a:solidFill>
                <a:latin typeface="微软雅黑" panose="020B0503020204020204" charset="-122"/>
                <a:ea typeface="微软雅黑" panose="020B0503020204020204" charset="-122"/>
                <a:cs typeface="微软雅黑" panose="020B0503020204020204" charset="-122"/>
              </a:rPr>
              <a:t>从数据到平台化</a:t>
            </a:r>
            <a:endParaRPr lang="zh-CN" altLang="en-US" sz="16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1" name="熊大的PPT宝库36"/>
          <p:cNvSpPr/>
          <p:nvPr/>
        </p:nvSpPr>
        <p:spPr>
          <a:xfrm>
            <a:off x="589280" y="5511165"/>
            <a:ext cx="11262995" cy="252095"/>
          </a:xfrm>
          <a:prstGeom prst="rightArrow">
            <a:avLst>
              <a:gd name="adj1" fmla="val 50000"/>
              <a:gd name="adj2" fmla="val 65723"/>
            </a:avLst>
          </a:prstGeom>
          <a:gradFill>
            <a:gsLst>
              <a:gs pos="0">
                <a:schemeClr val="accent5">
                  <a:alpha val="0"/>
                </a:schemeClr>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20" name="熊大的PPT宝库37"/>
          <p:cNvCxnSpPr/>
          <p:nvPr/>
        </p:nvCxnSpPr>
        <p:spPr>
          <a:xfrm>
            <a:off x="661436" y="5494533"/>
            <a:ext cx="8928000" cy="0"/>
          </a:xfrm>
          <a:prstGeom prst="line">
            <a:avLst/>
          </a:prstGeom>
          <a:ln>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112" name="熊大的PPT宝库38"/>
          <p:cNvCxnSpPr/>
          <p:nvPr/>
        </p:nvCxnSpPr>
        <p:spPr>
          <a:xfrm>
            <a:off x="751023" y="5625269"/>
            <a:ext cx="10983595" cy="0"/>
          </a:xfrm>
          <a:prstGeom prst="line">
            <a:avLst/>
          </a:prstGeom>
          <a:ln>
            <a:solidFill>
              <a:schemeClr val="bg1"/>
            </a:solidFill>
            <a:prstDash val="lgDash"/>
          </a:ln>
        </p:spPr>
        <p:style>
          <a:lnRef idx="1">
            <a:schemeClr val="accent1"/>
          </a:lnRef>
          <a:fillRef idx="0">
            <a:schemeClr val="accent1"/>
          </a:fillRef>
          <a:effectRef idx="0">
            <a:schemeClr val="accent1"/>
          </a:effectRef>
          <a:fontRef idx="minor">
            <a:schemeClr val="tx1"/>
          </a:fontRef>
        </p:style>
      </p:cxnSp>
      <p:grpSp>
        <p:nvGrpSpPr>
          <p:cNvPr id="70" name="组合 69"/>
          <p:cNvGrpSpPr/>
          <p:nvPr/>
        </p:nvGrpSpPr>
        <p:grpSpPr>
          <a:xfrm>
            <a:off x="4009390" y="5411470"/>
            <a:ext cx="215900" cy="391795"/>
            <a:chOff x="2883" y="8402"/>
            <a:chExt cx="340" cy="617"/>
          </a:xfrm>
        </p:grpSpPr>
        <p:sp>
          <p:nvSpPr>
            <p:cNvPr id="73" name="熊大的PPT宝库39"/>
            <p:cNvSpPr/>
            <p:nvPr/>
          </p:nvSpPr>
          <p:spPr>
            <a:xfrm rot="8100000">
              <a:off x="2883" y="8402"/>
              <a:ext cx="340" cy="340"/>
            </a:xfrm>
            <a:prstGeom prst="teardrop">
              <a:avLst/>
            </a:prstGeom>
            <a:solidFill>
              <a:schemeClr val="bg1"/>
            </a:solidFill>
            <a:ln w="28575">
              <a:gradFill>
                <a:gsLst>
                  <a:gs pos="0">
                    <a:schemeClr val="accent5">
                      <a:lumMod val="60000"/>
                      <a:lumOff val="40000"/>
                    </a:schemeClr>
                  </a:gs>
                  <a:gs pos="100000">
                    <a:schemeClr val="accent5"/>
                  </a:gs>
                </a:gsLst>
                <a:lin ang="5400000" scaled="1"/>
              </a:gradFill>
            </a:ln>
          </p:spPr>
          <p:txBody>
            <a:bodyPr wrap="square" lIns="0" tIns="0" rIns="0" bIns="0" rtlCol="0" anchor="t">
              <a:spAutoFit/>
            </a:bodyPr>
            <a:lstStyle/>
            <a:p>
              <a:pPr algn="just" defTabSz="731520">
                <a:lnSpc>
                  <a:spcPct val="130000"/>
                </a:lnSpc>
              </a:pPr>
              <a:endParaRPr lang="zh-CN" altLang="en-US" sz="14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75" name="熊大的PPT宝库40"/>
            <p:cNvSpPr/>
            <p:nvPr/>
          </p:nvSpPr>
          <p:spPr>
            <a:xfrm>
              <a:off x="2927" y="8907"/>
              <a:ext cx="253" cy="113"/>
            </a:xfrm>
            <a:prstGeom prst="ellipse">
              <a:avLst/>
            </a:prstGeom>
            <a:gradFill>
              <a:gsLst>
                <a:gs pos="0">
                  <a:schemeClr val="accent5">
                    <a:lumMod val="60000"/>
                    <a:lumOff val="40000"/>
                  </a:schemeClr>
                </a:gs>
                <a:gs pos="100000">
                  <a:schemeClr val="accent5"/>
                </a:gs>
              </a:gsLst>
              <a:lin ang="0" scaled="0"/>
            </a:gradFill>
            <a:ln>
              <a:noFill/>
            </a:ln>
          </p:spPr>
          <p:txBody>
            <a:bodyPr wrap="square" lIns="0" tIns="0" rIns="0" bIns="0" rtlCol="0" anchor="t">
              <a:spAutoFit/>
            </a:bodyPr>
            <a:lstStyle/>
            <a:p>
              <a:pPr algn="just" defTabSz="731520">
                <a:lnSpc>
                  <a:spcPct val="130000"/>
                </a:lnSpc>
              </a:pPr>
              <a:endParaRPr lang="zh-CN" altLang="en-US" sz="1400" dirty="0">
                <a:solidFill>
                  <a:srgbClr val="000000"/>
                </a:solidFill>
                <a:latin typeface="微软雅黑" panose="020B0503020204020204" charset="-122"/>
                <a:ea typeface="微软雅黑" panose="020B0503020204020204" charset="-122"/>
                <a:cs typeface="微软雅黑" panose="020B0503020204020204" charset="-122"/>
              </a:endParaRPr>
            </a:p>
          </p:txBody>
        </p:sp>
      </p:grpSp>
      <p:grpSp>
        <p:nvGrpSpPr>
          <p:cNvPr id="81" name="组合 80"/>
          <p:cNvGrpSpPr/>
          <p:nvPr/>
        </p:nvGrpSpPr>
        <p:grpSpPr>
          <a:xfrm>
            <a:off x="6115685" y="5411470"/>
            <a:ext cx="215900" cy="391795"/>
            <a:chOff x="2883" y="8402"/>
            <a:chExt cx="340" cy="617"/>
          </a:xfrm>
        </p:grpSpPr>
        <p:sp>
          <p:nvSpPr>
            <p:cNvPr id="82" name="熊大的PPT宝库39"/>
            <p:cNvSpPr/>
            <p:nvPr/>
          </p:nvSpPr>
          <p:spPr>
            <a:xfrm rot="8100000">
              <a:off x="2883" y="8402"/>
              <a:ext cx="340" cy="340"/>
            </a:xfrm>
            <a:prstGeom prst="teardrop">
              <a:avLst/>
            </a:prstGeom>
            <a:solidFill>
              <a:schemeClr val="bg1"/>
            </a:solidFill>
            <a:ln w="28575">
              <a:gradFill>
                <a:gsLst>
                  <a:gs pos="0">
                    <a:schemeClr val="accent5">
                      <a:lumMod val="60000"/>
                      <a:lumOff val="40000"/>
                    </a:schemeClr>
                  </a:gs>
                  <a:gs pos="100000">
                    <a:schemeClr val="accent5"/>
                  </a:gs>
                </a:gsLst>
                <a:lin ang="5400000" scaled="1"/>
              </a:gradFill>
            </a:ln>
          </p:spPr>
          <p:txBody>
            <a:bodyPr wrap="square" lIns="0" tIns="0" rIns="0" bIns="0" rtlCol="0" anchor="t">
              <a:spAutoFit/>
            </a:bodyPr>
            <a:lstStyle/>
            <a:p>
              <a:pPr algn="just" defTabSz="731520">
                <a:lnSpc>
                  <a:spcPct val="130000"/>
                </a:lnSpc>
              </a:pPr>
              <a:endParaRPr lang="zh-CN" altLang="en-US" sz="14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3" name="熊大的PPT宝库40"/>
            <p:cNvSpPr/>
            <p:nvPr/>
          </p:nvSpPr>
          <p:spPr>
            <a:xfrm>
              <a:off x="2927" y="8907"/>
              <a:ext cx="253" cy="113"/>
            </a:xfrm>
            <a:prstGeom prst="ellipse">
              <a:avLst/>
            </a:prstGeom>
            <a:gradFill>
              <a:gsLst>
                <a:gs pos="0">
                  <a:schemeClr val="accent5">
                    <a:lumMod val="60000"/>
                    <a:lumOff val="40000"/>
                  </a:schemeClr>
                </a:gs>
                <a:gs pos="100000">
                  <a:schemeClr val="accent5"/>
                </a:gs>
              </a:gsLst>
              <a:lin ang="0" scaled="0"/>
            </a:gradFill>
            <a:ln>
              <a:noFill/>
            </a:ln>
          </p:spPr>
          <p:txBody>
            <a:bodyPr wrap="square" lIns="0" tIns="0" rIns="0" bIns="0" rtlCol="0" anchor="t">
              <a:spAutoFit/>
            </a:bodyPr>
            <a:lstStyle/>
            <a:p>
              <a:pPr algn="just" defTabSz="731520">
                <a:lnSpc>
                  <a:spcPct val="130000"/>
                </a:lnSpc>
              </a:pPr>
              <a:endParaRPr lang="zh-CN" altLang="en-US" sz="1400" dirty="0">
                <a:solidFill>
                  <a:srgbClr val="000000"/>
                </a:solidFill>
                <a:latin typeface="微软雅黑" panose="020B0503020204020204" charset="-122"/>
                <a:ea typeface="微软雅黑" panose="020B0503020204020204" charset="-122"/>
                <a:cs typeface="微软雅黑" panose="020B0503020204020204" charset="-122"/>
              </a:endParaRPr>
            </a:p>
          </p:txBody>
        </p:sp>
      </p:grpSp>
      <p:grpSp>
        <p:nvGrpSpPr>
          <p:cNvPr id="87" name="组合 86"/>
          <p:cNvGrpSpPr/>
          <p:nvPr/>
        </p:nvGrpSpPr>
        <p:grpSpPr>
          <a:xfrm>
            <a:off x="8221345" y="5411470"/>
            <a:ext cx="215900" cy="391795"/>
            <a:chOff x="2883" y="8402"/>
            <a:chExt cx="340" cy="617"/>
          </a:xfrm>
        </p:grpSpPr>
        <p:sp>
          <p:nvSpPr>
            <p:cNvPr id="88" name="熊大的PPT宝库39"/>
            <p:cNvSpPr/>
            <p:nvPr/>
          </p:nvSpPr>
          <p:spPr>
            <a:xfrm rot="8100000">
              <a:off x="2883" y="8402"/>
              <a:ext cx="340" cy="340"/>
            </a:xfrm>
            <a:prstGeom prst="teardrop">
              <a:avLst/>
            </a:prstGeom>
            <a:solidFill>
              <a:schemeClr val="bg1"/>
            </a:solidFill>
            <a:ln w="28575">
              <a:gradFill>
                <a:gsLst>
                  <a:gs pos="0">
                    <a:schemeClr val="accent5">
                      <a:lumMod val="60000"/>
                      <a:lumOff val="40000"/>
                    </a:schemeClr>
                  </a:gs>
                  <a:gs pos="100000">
                    <a:schemeClr val="accent5"/>
                  </a:gs>
                </a:gsLst>
                <a:lin ang="5400000" scaled="1"/>
              </a:gradFill>
            </a:ln>
          </p:spPr>
          <p:txBody>
            <a:bodyPr wrap="square" lIns="0" tIns="0" rIns="0" bIns="0" rtlCol="0" anchor="t">
              <a:spAutoFit/>
            </a:bodyPr>
            <a:lstStyle/>
            <a:p>
              <a:pPr algn="just" defTabSz="731520">
                <a:lnSpc>
                  <a:spcPct val="130000"/>
                </a:lnSpc>
              </a:pPr>
              <a:endParaRPr lang="zh-CN" altLang="en-US" sz="14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9" name="熊大的PPT宝库40"/>
            <p:cNvSpPr/>
            <p:nvPr/>
          </p:nvSpPr>
          <p:spPr>
            <a:xfrm>
              <a:off x="2927" y="8907"/>
              <a:ext cx="253" cy="113"/>
            </a:xfrm>
            <a:prstGeom prst="ellipse">
              <a:avLst/>
            </a:prstGeom>
            <a:gradFill>
              <a:gsLst>
                <a:gs pos="0">
                  <a:schemeClr val="accent5">
                    <a:lumMod val="60000"/>
                    <a:lumOff val="40000"/>
                  </a:schemeClr>
                </a:gs>
                <a:gs pos="100000">
                  <a:schemeClr val="accent5"/>
                </a:gs>
              </a:gsLst>
              <a:lin ang="0" scaled="0"/>
            </a:gradFill>
            <a:ln>
              <a:noFill/>
            </a:ln>
          </p:spPr>
          <p:txBody>
            <a:bodyPr wrap="square" lIns="0" tIns="0" rIns="0" bIns="0" rtlCol="0" anchor="t">
              <a:spAutoFit/>
            </a:bodyPr>
            <a:lstStyle/>
            <a:p>
              <a:pPr algn="just" defTabSz="731520">
                <a:lnSpc>
                  <a:spcPct val="130000"/>
                </a:lnSpc>
              </a:pPr>
              <a:endParaRPr lang="zh-CN" altLang="en-US" sz="1400" dirty="0">
                <a:solidFill>
                  <a:srgbClr val="000000"/>
                </a:solidFill>
                <a:latin typeface="微软雅黑" panose="020B0503020204020204" charset="-122"/>
                <a:ea typeface="微软雅黑" panose="020B0503020204020204" charset="-122"/>
                <a:cs typeface="微软雅黑" panose="020B0503020204020204" charset="-122"/>
              </a:endParaRPr>
            </a:p>
          </p:txBody>
        </p:sp>
      </p:grpSp>
      <p:grpSp>
        <p:nvGrpSpPr>
          <p:cNvPr id="99" name="组合 98"/>
          <p:cNvGrpSpPr/>
          <p:nvPr/>
        </p:nvGrpSpPr>
        <p:grpSpPr>
          <a:xfrm>
            <a:off x="10328275" y="5410835"/>
            <a:ext cx="215900" cy="391795"/>
            <a:chOff x="2883" y="8402"/>
            <a:chExt cx="340" cy="617"/>
          </a:xfrm>
        </p:grpSpPr>
        <p:sp>
          <p:nvSpPr>
            <p:cNvPr id="100" name="熊大的PPT宝库39"/>
            <p:cNvSpPr/>
            <p:nvPr/>
          </p:nvSpPr>
          <p:spPr>
            <a:xfrm rot="8100000">
              <a:off x="2883" y="8402"/>
              <a:ext cx="340" cy="340"/>
            </a:xfrm>
            <a:prstGeom prst="teardrop">
              <a:avLst/>
            </a:prstGeom>
            <a:solidFill>
              <a:schemeClr val="bg1"/>
            </a:solidFill>
            <a:ln w="28575">
              <a:gradFill>
                <a:gsLst>
                  <a:gs pos="0">
                    <a:schemeClr val="accent5">
                      <a:lumMod val="60000"/>
                      <a:lumOff val="40000"/>
                    </a:schemeClr>
                  </a:gs>
                  <a:gs pos="100000">
                    <a:schemeClr val="accent5"/>
                  </a:gs>
                </a:gsLst>
                <a:lin ang="5400000" scaled="1"/>
              </a:gradFill>
            </a:ln>
          </p:spPr>
          <p:txBody>
            <a:bodyPr wrap="square" lIns="0" tIns="0" rIns="0" bIns="0" rtlCol="0" anchor="t">
              <a:spAutoFit/>
            </a:bodyPr>
            <a:lstStyle/>
            <a:p>
              <a:pPr algn="just" defTabSz="731520">
                <a:lnSpc>
                  <a:spcPct val="130000"/>
                </a:lnSpc>
              </a:pPr>
              <a:endParaRPr lang="zh-CN" altLang="en-US" sz="14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1" name="熊大的PPT宝库40"/>
            <p:cNvSpPr/>
            <p:nvPr/>
          </p:nvSpPr>
          <p:spPr>
            <a:xfrm>
              <a:off x="2927" y="8907"/>
              <a:ext cx="253" cy="113"/>
            </a:xfrm>
            <a:prstGeom prst="ellipse">
              <a:avLst/>
            </a:prstGeom>
            <a:gradFill>
              <a:gsLst>
                <a:gs pos="0">
                  <a:schemeClr val="accent5">
                    <a:lumMod val="60000"/>
                    <a:lumOff val="40000"/>
                  </a:schemeClr>
                </a:gs>
                <a:gs pos="100000">
                  <a:schemeClr val="accent5"/>
                </a:gs>
              </a:gsLst>
              <a:lin ang="0" scaled="0"/>
            </a:gradFill>
            <a:ln>
              <a:noFill/>
            </a:ln>
          </p:spPr>
          <p:txBody>
            <a:bodyPr wrap="square" lIns="0" tIns="0" rIns="0" bIns="0" rtlCol="0" anchor="t">
              <a:spAutoFit/>
            </a:bodyPr>
            <a:lstStyle/>
            <a:p>
              <a:pPr algn="just" defTabSz="731520">
                <a:lnSpc>
                  <a:spcPct val="130000"/>
                </a:lnSpc>
              </a:pPr>
              <a:endParaRPr lang="zh-CN" altLang="en-US" sz="1400" dirty="0">
                <a:solidFill>
                  <a:srgbClr val="000000"/>
                </a:solidFill>
                <a:latin typeface="微软雅黑" panose="020B0503020204020204" charset="-122"/>
                <a:ea typeface="微软雅黑" panose="020B0503020204020204" charset="-122"/>
                <a:cs typeface="微软雅黑" panose="020B0503020204020204" charset="-122"/>
              </a:endParaRPr>
            </a:p>
          </p:txBody>
        </p:sp>
      </p:grpSp>
      <p:grpSp>
        <p:nvGrpSpPr>
          <p:cNvPr id="105" name="组合 104"/>
          <p:cNvGrpSpPr/>
          <p:nvPr/>
        </p:nvGrpSpPr>
        <p:grpSpPr>
          <a:xfrm>
            <a:off x="1858010" y="5429885"/>
            <a:ext cx="215900" cy="391795"/>
            <a:chOff x="2883" y="8402"/>
            <a:chExt cx="340" cy="617"/>
          </a:xfrm>
        </p:grpSpPr>
        <p:sp>
          <p:nvSpPr>
            <p:cNvPr id="106" name="熊大的PPT宝库39"/>
            <p:cNvSpPr/>
            <p:nvPr/>
          </p:nvSpPr>
          <p:spPr>
            <a:xfrm rot="8100000">
              <a:off x="2883" y="8402"/>
              <a:ext cx="340" cy="340"/>
            </a:xfrm>
            <a:prstGeom prst="teardrop">
              <a:avLst/>
            </a:prstGeom>
            <a:solidFill>
              <a:schemeClr val="bg1"/>
            </a:solidFill>
            <a:ln w="28575">
              <a:gradFill>
                <a:gsLst>
                  <a:gs pos="0">
                    <a:schemeClr val="accent5">
                      <a:lumMod val="60000"/>
                      <a:lumOff val="40000"/>
                    </a:schemeClr>
                  </a:gs>
                  <a:gs pos="100000">
                    <a:schemeClr val="accent5"/>
                  </a:gs>
                </a:gsLst>
                <a:lin ang="5400000" scaled="1"/>
              </a:gradFill>
            </a:ln>
          </p:spPr>
          <p:txBody>
            <a:bodyPr wrap="square" lIns="0" tIns="0" rIns="0" bIns="0" rtlCol="0" anchor="t">
              <a:spAutoFit/>
            </a:bodyPr>
            <a:lstStyle/>
            <a:p>
              <a:pPr algn="just" defTabSz="731520">
                <a:lnSpc>
                  <a:spcPct val="130000"/>
                </a:lnSpc>
              </a:pPr>
              <a:endParaRPr lang="zh-CN" altLang="en-US" sz="14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7" name="熊大的PPT宝库40"/>
            <p:cNvSpPr/>
            <p:nvPr/>
          </p:nvSpPr>
          <p:spPr>
            <a:xfrm>
              <a:off x="2927" y="8907"/>
              <a:ext cx="253" cy="113"/>
            </a:xfrm>
            <a:prstGeom prst="ellipse">
              <a:avLst/>
            </a:prstGeom>
            <a:gradFill>
              <a:gsLst>
                <a:gs pos="0">
                  <a:schemeClr val="accent5">
                    <a:lumMod val="60000"/>
                    <a:lumOff val="40000"/>
                  </a:schemeClr>
                </a:gs>
                <a:gs pos="100000">
                  <a:schemeClr val="accent5"/>
                </a:gs>
              </a:gsLst>
              <a:lin ang="0" scaled="0"/>
            </a:gradFill>
            <a:ln>
              <a:noFill/>
            </a:ln>
          </p:spPr>
          <p:txBody>
            <a:bodyPr wrap="square" lIns="0" tIns="0" rIns="0" bIns="0" rtlCol="0" anchor="t">
              <a:spAutoFit/>
            </a:bodyPr>
            <a:lstStyle/>
            <a:p>
              <a:pPr algn="just" defTabSz="731520">
                <a:lnSpc>
                  <a:spcPct val="130000"/>
                </a:lnSpc>
              </a:pPr>
              <a:endParaRPr lang="zh-CN" altLang="en-US" sz="1400" dirty="0">
                <a:solidFill>
                  <a:srgbClr val="000000"/>
                </a:solidFill>
                <a:latin typeface="微软雅黑" panose="020B0503020204020204" charset="-122"/>
                <a:ea typeface="微软雅黑" panose="020B0503020204020204" charset="-122"/>
                <a:cs typeface="微软雅黑" panose="020B0503020204020204" charset="-122"/>
              </a:endParaRPr>
            </a:p>
          </p:txBody>
        </p:sp>
      </p:grpSp>
      <p:sp>
        <p:nvSpPr>
          <p:cNvPr id="108" name="文本框 107"/>
          <p:cNvSpPr txBox="1"/>
          <p:nvPr/>
        </p:nvSpPr>
        <p:spPr>
          <a:xfrm>
            <a:off x="1784350" y="5408295"/>
            <a:ext cx="364490" cy="245110"/>
          </a:xfrm>
          <a:prstGeom prst="rect">
            <a:avLst/>
          </a:prstGeom>
          <a:noFill/>
        </p:spPr>
        <p:txBody>
          <a:bodyPr wrap="square" rtlCol="0">
            <a:spAutoFit/>
          </a:bodyPr>
          <a:p>
            <a:pPr algn="ctr"/>
            <a:r>
              <a:rPr lang="en-US" altLang="zh-CN" sz="10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1</a:t>
            </a:r>
            <a:endParaRPr lang="en-US" altLang="zh-CN" sz="10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09" name="文本框 108"/>
          <p:cNvSpPr txBox="1"/>
          <p:nvPr/>
        </p:nvSpPr>
        <p:spPr>
          <a:xfrm>
            <a:off x="3935730" y="5393055"/>
            <a:ext cx="364490" cy="245110"/>
          </a:xfrm>
          <a:prstGeom prst="rect">
            <a:avLst/>
          </a:prstGeom>
          <a:noFill/>
        </p:spPr>
        <p:txBody>
          <a:bodyPr wrap="square" rtlCol="0">
            <a:spAutoFit/>
          </a:bodyPr>
          <a:p>
            <a:pPr algn="ctr"/>
            <a:r>
              <a:rPr lang="en-US" altLang="zh-CN" sz="10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2</a:t>
            </a:r>
            <a:endParaRPr lang="en-US" altLang="zh-CN" sz="10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10" name="文本框 109"/>
          <p:cNvSpPr txBox="1"/>
          <p:nvPr/>
        </p:nvSpPr>
        <p:spPr>
          <a:xfrm>
            <a:off x="6042660" y="5389245"/>
            <a:ext cx="364490" cy="245110"/>
          </a:xfrm>
          <a:prstGeom prst="rect">
            <a:avLst/>
          </a:prstGeom>
          <a:noFill/>
        </p:spPr>
        <p:txBody>
          <a:bodyPr wrap="square" rtlCol="0">
            <a:spAutoFit/>
          </a:bodyPr>
          <a:p>
            <a:pPr algn="ctr"/>
            <a:r>
              <a:rPr lang="en-US" altLang="zh-CN" sz="10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3</a:t>
            </a:r>
            <a:endParaRPr lang="en-US" altLang="zh-CN" sz="10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11" name="文本框 110"/>
          <p:cNvSpPr txBox="1"/>
          <p:nvPr/>
        </p:nvSpPr>
        <p:spPr>
          <a:xfrm>
            <a:off x="8143875" y="5385435"/>
            <a:ext cx="364490" cy="245110"/>
          </a:xfrm>
          <a:prstGeom prst="rect">
            <a:avLst/>
          </a:prstGeom>
          <a:noFill/>
        </p:spPr>
        <p:txBody>
          <a:bodyPr wrap="square" rtlCol="0">
            <a:spAutoFit/>
          </a:bodyPr>
          <a:p>
            <a:pPr algn="ctr"/>
            <a:r>
              <a:rPr lang="en-US" altLang="zh-CN" sz="10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4</a:t>
            </a:r>
            <a:endParaRPr lang="en-US" altLang="zh-CN" sz="10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13" name="文本框 112"/>
          <p:cNvSpPr txBox="1"/>
          <p:nvPr/>
        </p:nvSpPr>
        <p:spPr>
          <a:xfrm>
            <a:off x="10250805" y="5393055"/>
            <a:ext cx="364490" cy="245110"/>
          </a:xfrm>
          <a:prstGeom prst="rect">
            <a:avLst/>
          </a:prstGeom>
          <a:noFill/>
        </p:spPr>
        <p:txBody>
          <a:bodyPr wrap="square" rtlCol="0">
            <a:spAutoFit/>
          </a:bodyPr>
          <a:p>
            <a:pPr algn="ctr"/>
            <a:r>
              <a:rPr lang="en-US" altLang="zh-CN" sz="10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5</a:t>
            </a:r>
            <a:endParaRPr lang="en-US" altLang="zh-CN" sz="10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14" name="文本框 113"/>
          <p:cNvSpPr txBox="1"/>
          <p:nvPr/>
        </p:nvSpPr>
        <p:spPr>
          <a:xfrm>
            <a:off x="1166813" y="5927090"/>
            <a:ext cx="1599565" cy="583565"/>
          </a:xfrm>
          <a:prstGeom prst="rect">
            <a:avLst/>
          </a:prstGeom>
          <a:noFill/>
        </p:spPr>
        <p:txBody>
          <a:bodyPr wrap="square" rtlCol="0">
            <a:spAutoFit/>
          </a:bodyPr>
          <a:p>
            <a:pPr algn="ctr"/>
            <a:r>
              <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rPr>
              <a:t>基础信息化</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endParaRPr>
          </a:p>
          <a:p>
            <a:pPr algn="ctr"/>
            <a:r>
              <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rPr>
              <a:t>建设期</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115" name="文本框 114"/>
          <p:cNvSpPr txBox="1"/>
          <p:nvPr/>
        </p:nvSpPr>
        <p:spPr>
          <a:xfrm>
            <a:off x="3285173" y="5927090"/>
            <a:ext cx="1599565" cy="583565"/>
          </a:xfrm>
          <a:prstGeom prst="rect">
            <a:avLst/>
          </a:prstGeom>
          <a:noFill/>
        </p:spPr>
        <p:txBody>
          <a:bodyPr wrap="square" rtlCol="0">
            <a:spAutoFit/>
          </a:bodyPr>
          <a:p>
            <a:pPr algn="ctr"/>
            <a:r>
              <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rPr>
              <a:t>开放平台</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endParaRPr>
          </a:p>
          <a:p>
            <a:pPr algn="ctr"/>
            <a:r>
              <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rPr>
              <a:t>集成阶段</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116" name="文本框 115"/>
          <p:cNvSpPr txBox="1"/>
          <p:nvPr/>
        </p:nvSpPr>
        <p:spPr>
          <a:xfrm>
            <a:off x="5410835" y="5876290"/>
            <a:ext cx="1599565" cy="583565"/>
          </a:xfrm>
          <a:prstGeom prst="rect">
            <a:avLst/>
          </a:prstGeom>
          <a:noFill/>
        </p:spPr>
        <p:txBody>
          <a:bodyPr wrap="square" rtlCol="0">
            <a:spAutoFit/>
          </a:bodyPr>
          <a:p>
            <a:pPr algn="ctr"/>
            <a:r>
              <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rPr>
              <a:t>服务化</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endParaRPr>
          </a:p>
          <a:p>
            <a:pPr algn="ctr"/>
            <a:r>
              <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rPr>
              <a:t>拆分阶段</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117" name="文本框 116"/>
          <p:cNvSpPr txBox="1"/>
          <p:nvPr/>
        </p:nvSpPr>
        <p:spPr>
          <a:xfrm>
            <a:off x="7494588" y="5876290"/>
            <a:ext cx="1599565" cy="583565"/>
          </a:xfrm>
          <a:prstGeom prst="rect">
            <a:avLst/>
          </a:prstGeom>
          <a:noFill/>
        </p:spPr>
        <p:txBody>
          <a:bodyPr wrap="square" rtlCol="0">
            <a:spAutoFit/>
          </a:bodyPr>
          <a:p>
            <a:pPr algn="ctr"/>
            <a:r>
              <a:rPr lang="en-US" altLang="zh-CN" sz="1600" b="1">
                <a:solidFill>
                  <a:schemeClr val="accent5"/>
                </a:solidFill>
                <a:latin typeface="微软雅黑" panose="020B0503020204020204" charset="-122"/>
                <a:ea typeface="微软雅黑" panose="020B0503020204020204" charset="-122"/>
                <a:cs typeface="微软雅黑" panose="020B0503020204020204" charset="-122"/>
                <a:sym typeface="+mn-ea"/>
              </a:rPr>
              <a:t>AI</a:t>
            </a:r>
            <a:r>
              <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rPr>
              <a:t>中台</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endParaRPr>
          </a:p>
          <a:p>
            <a:pPr algn="ctr"/>
            <a:r>
              <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rPr>
              <a:t>建设阶段</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118" name="文本框 117"/>
          <p:cNvSpPr txBox="1"/>
          <p:nvPr/>
        </p:nvSpPr>
        <p:spPr>
          <a:xfrm>
            <a:off x="9648190" y="5876290"/>
            <a:ext cx="1599565" cy="583565"/>
          </a:xfrm>
          <a:prstGeom prst="rect">
            <a:avLst/>
          </a:prstGeom>
          <a:noFill/>
        </p:spPr>
        <p:txBody>
          <a:bodyPr wrap="square" rtlCol="0">
            <a:spAutoFit/>
          </a:bodyPr>
          <a:p>
            <a:pPr algn="ctr"/>
            <a:r>
              <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rPr>
              <a:t>生态智能</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endParaRPr>
          </a:p>
          <a:p>
            <a:pPr algn="ctr"/>
            <a:r>
              <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rPr>
              <a:t>融合期</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cxnSp>
        <p:nvCxnSpPr>
          <p:cNvPr id="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8738235" y="348615"/>
            <a:ext cx="3219450" cy="332740"/>
            <a:chOff x="13761" y="549"/>
            <a:chExt cx="5070" cy="524"/>
          </a:xfrm>
        </p:grpSpPr>
        <p:pic>
          <p:nvPicPr>
            <p:cNvPr id="12" name="图片 11"/>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3" name="文本框 12"/>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工作汇报时间轴</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 name="Arrow"/>
          <p:cNvSpPr/>
          <p:nvPr/>
        </p:nvSpPr>
        <p:spPr>
          <a:xfrm>
            <a:off x="454762" y="1392501"/>
            <a:ext cx="11282470" cy="635001"/>
          </a:xfrm>
          <a:prstGeom prst="rightArrow">
            <a:avLst>
              <a:gd name="adj1" fmla="val 100000"/>
              <a:gd name="adj2" fmla="val 26560"/>
            </a:avLst>
          </a:prstGeom>
          <a:gradFill>
            <a:gsLst>
              <a:gs pos="100000">
                <a:schemeClr val="accent1">
                  <a:lumMod val="20000"/>
                  <a:lumOff val="80000"/>
                  <a:alpha val="20000"/>
                </a:schemeClr>
              </a:gs>
              <a:gs pos="0">
                <a:schemeClr val="accent1">
                  <a:lumMod val="20000"/>
                  <a:lumOff val="80000"/>
                </a:schemeClr>
              </a:gs>
            </a:gsLst>
            <a:lin ang="13500000" scaled="0"/>
          </a:gradFill>
          <a:ln w="12700">
            <a:miter lim="400000"/>
          </a:ln>
        </p:spPr>
        <p:txBody>
          <a:bodyPr lIns="0" tIns="0" rIns="0" bIns="0" anchor="ctr"/>
          <a:lstStyle/>
          <a:p>
            <a:r>
              <a:rPr lang="en-US" sz="900">
                <a:latin typeface="微软雅黑" panose="020B0503020204020204" charset="-122"/>
                <a:ea typeface="微软雅黑" panose="020B0503020204020204" charset="-122"/>
                <a:cs typeface="微软雅黑" panose="020B0503020204020204" charset="-122"/>
              </a:rPr>
              <a:t>.</a:t>
            </a:r>
            <a:endParaRPr lang="en-US" sz="900">
              <a:latin typeface="微软雅黑" panose="020B0503020204020204" charset="-122"/>
              <a:ea typeface="微软雅黑" panose="020B0503020204020204" charset="-122"/>
              <a:cs typeface="微软雅黑" panose="020B0503020204020204" charset="-122"/>
            </a:endParaRPr>
          </a:p>
        </p:txBody>
      </p:sp>
      <p:sp>
        <p:nvSpPr>
          <p:cNvPr id="7" name="Shape"/>
          <p:cNvSpPr/>
          <p:nvPr/>
        </p:nvSpPr>
        <p:spPr>
          <a:xfrm>
            <a:off x="2749459" y="1177551"/>
            <a:ext cx="1221489" cy="1064884"/>
          </a:xfrm>
          <a:custGeom>
            <a:avLst/>
            <a:gdLst/>
            <a:ahLst/>
            <a:cxnLst>
              <a:cxn ang="0">
                <a:pos x="wd2" y="hd2"/>
              </a:cxn>
              <a:cxn ang="5400000">
                <a:pos x="wd2" y="hd2"/>
              </a:cxn>
              <a:cxn ang="10800000">
                <a:pos x="wd2" y="hd2"/>
              </a:cxn>
              <a:cxn ang="16200000">
                <a:pos x="wd2" y="hd2"/>
              </a:cxn>
            </a:cxnLst>
            <a:rect l="0" t="0" r="r" b="b"/>
            <a:pathLst>
              <a:path w="21585" h="21577" extrusionOk="0">
                <a:moveTo>
                  <a:pt x="434" y="0"/>
                </a:moveTo>
                <a:cubicBezTo>
                  <a:pt x="273" y="-8"/>
                  <a:pt x="123" y="94"/>
                  <a:pt x="51" y="260"/>
                </a:cubicBezTo>
                <a:cubicBezTo>
                  <a:pt x="0" y="379"/>
                  <a:pt x="-4" y="519"/>
                  <a:pt x="42" y="641"/>
                </a:cubicBezTo>
                <a:lnTo>
                  <a:pt x="4808" y="10418"/>
                </a:lnTo>
                <a:cubicBezTo>
                  <a:pt x="4865" y="10529"/>
                  <a:pt x="4895" y="10657"/>
                  <a:pt x="4893" y="10786"/>
                </a:cubicBezTo>
                <a:cubicBezTo>
                  <a:pt x="4892" y="10900"/>
                  <a:pt x="4866" y="11012"/>
                  <a:pt x="4819" y="11112"/>
                </a:cubicBezTo>
                <a:lnTo>
                  <a:pt x="20" y="21002"/>
                </a:lnTo>
                <a:cubicBezTo>
                  <a:pt x="-15" y="21121"/>
                  <a:pt x="-3" y="21251"/>
                  <a:pt x="53" y="21359"/>
                </a:cubicBezTo>
                <a:cubicBezTo>
                  <a:pt x="129" y="21507"/>
                  <a:pt x="274" y="21591"/>
                  <a:pt x="423" y="21573"/>
                </a:cubicBezTo>
                <a:lnTo>
                  <a:pt x="16020" y="21577"/>
                </a:lnTo>
                <a:cubicBezTo>
                  <a:pt x="16159" y="21582"/>
                  <a:pt x="16296" y="21534"/>
                  <a:pt x="16410" y="21441"/>
                </a:cubicBezTo>
                <a:cubicBezTo>
                  <a:pt x="16492" y="21373"/>
                  <a:pt x="16558" y="21285"/>
                  <a:pt x="16604" y="21182"/>
                </a:cubicBezTo>
                <a:lnTo>
                  <a:pt x="21500" y="11154"/>
                </a:lnTo>
                <a:cubicBezTo>
                  <a:pt x="21556" y="11050"/>
                  <a:pt x="21585" y="10931"/>
                  <a:pt x="21585" y="10810"/>
                </a:cubicBezTo>
                <a:cubicBezTo>
                  <a:pt x="21585" y="10697"/>
                  <a:pt x="21558" y="10585"/>
                  <a:pt x="21509" y="10487"/>
                </a:cubicBezTo>
                <a:lnTo>
                  <a:pt x="16624" y="444"/>
                </a:lnTo>
                <a:cubicBezTo>
                  <a:pt x="16579" y="329"/>
                  <a:pt x="16509" y="228"/>
                  <a:pt x="16421" y="152"/>
                </a:cubicBezTo>
                <a:cubicBezTo>
                  <a:pt x="16296" y="44"/>
                  <a:pt x="16142" y="-9"/>
                  <a:pt x="15986" y="2"/>
                </a:cubicBezTo>
                <a:lnTo>
                  <a:pt x="434" y="0"/>
                </a:lnTo>
                <a:close/>
              </a:path>
            </a:pathLst>
          </a:custGeom>
          <a:gradFill flip="none" rotWithShape="1">
            <a:gsLst>
              <a:gs pos="29000">
                <a:schemeClr val="accent1"/>
              </a:gs>
              <a:gs pos="99000">
                <a:schemeClr val="accent1">
                  <a:lumMod val="60000"/>
                  <a:lumOff val="40000"/>
                </a:schemeClr>
              </a:gs>
            </a:gsLst>
            <a:lin ang="135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mn-ea"/>
            </a:endParaRPr>
          </a:p>
        </p:txBody>
      </p:sp>
      <p:sp>
        <p:nvSpPr>
          <p:cNvPr id="8" name="Shape"/>
          <p:cNvSpPr/>
          <p:nvPr/>
        </p:nvSpPr>
        <p:spPr>
          <a:xfrm>
            <a:off x="3922093" y="1177551"/>
            <a:ext cx="1221489" cy="1064884"/>
          </a:xfrm>
          <a:custGeom>
            <a:avLst/>
            <a:gdLst/>
            <a:ahLst/>
            <a:cxnLst>
              <a:cxn ang="0">
                <a:pos x="wd2" y="hd2"/>
              </a:cxn>
              <a:cxn ang="5400000">
                <a:pos x="wd2" y="hd2"/>
              </a:cxn>
              <a:cxn ang="10800000">
                <a:pos x="wd2" y="hd2"/>
              </a:cxn>
              <a:cxn ang="16200000">
                <a:pos x="wd2" y="hd2"/>
              </a:cxn>
            </a:cxnLst>
            <a:rect l="0" t="0" r="r" b="b"/>
            <a:pathLst>
              <a:path w="21585" h="21577" extrusionOk="0">
                <a:moveTo>
                  <a:pt x="434" y="0"/>
                </a:moveTo>
                <a:cubicBezTo>
                  <a:pt x="273" y="-8"/>
                  <a:pt x="123" y="94"/>
                  <a:pt x="51" y="260"/>
                </a:cubicBezTo>
                <a:cubicBezTo>
                  <a:pt x="0" y="379"/>
                  <a:pt x="-4" y="519"/>
                  <a:pt x="42" y="641"/>
                </a:cubicBezTo>
                <a:lnTo>
                  <a:pt x="4808" y="10418"/>
                </a:lnTo>
                <a:cubicBezTo>
                  <a:pt x="4865" y="10529"/>
                  <a:pt x="4895" y="10657"/>
                  <a:pt x="4893" y="10786"/>
                </a:cubicBezTo>
                <a:cubicBezTo>
                  <a:pt x="4892" y="10900"/>
                  <a:pt x="4866" y="11012"/>
                  <a:pt x="4819" y="11112"/>
                </a:cubicBezTo>
                <a:lnTo>
                  <a:pt x="20" y="21002"/>
                </a:lnTo>
                <a:cubicBezTo>
                  <a:pt x="-15" y="21121"/>
                  <a:pt x="-3" y="21251"/>
                  <a:pt x="53" y="21359"/>
                </a:cubicBezTo>
                <a:cubicBezTo>
                  <a:pt x="129" y="21507"/>
                  <a:pt x="274" y="21591"/>
                  <a:pt x="423" y="21573"/>
                </a:cubicBezTo>
                <a:lnTo>
                  <a:pt x="16020" y="21577"/>
                </a:lnTo>
                <a:cubicBezTo>
                  <a:pt x="16159" y="21582"/>
                  <a:pt x="16296" y="21534"/>
                  <a:pt x="16410" y="21441"/>
                </a:cubicBezTo>
                <a:cubicBezTo>
                  <a:pt x="16492" y="21373"/>
                  <a:pt x="16558" y="21285"/>
                  <a:pt x="16604" y="21182"/>
                </a:cubicBezTo>
                <a:lnTo>
                  <a:pt x="21500" y="11154"/>
                </a:lnTo>
                <a:cubicBezTo>
                  <a:pt x="21556" y="11050"/>
                  <a:pt x="21585" y="10931"/>
                  <a:pt x="21585" y="10810"/>
                </a:cubicBezTo>
                <a:cubicBezTo>
                  <a:pt x="21585" y="10697"/>
                  <a:pt x="21558" y="10585"/>
                  <a:pt x="21509" y="10487"/>
                </a:cubicBezTo>
                <a:lnTo>
                  <a:pt x="16624" y="444"/>
                </a:lnTo>
                <a:cubicBezTo>
                  <a:pt x="16579" y="329"/>
                  <a:pt x="16509" y="228"/>
                  <a:pt x="16421" y="152"/>
                </a:cubicBezTo>
                <a:cubicBezTo>
                  <a:pt x="16296" y="44"/>
                  <a:pt x="16142" y="-9"/>
                  <a:pt x="15986" y="2"/>
                </a:cubicBezTo>
                <a:lnTo>
                  <a:pt x="434" y="0"/>
                </a:lnTo>
                <a:close/>
              </a:path>
            </a:pathLst>
          </a:custGeom>
          <a:gradFill flip="none" rotWithShape="1">
            <a:gsLst>
              <a:gs pos="29000">
                <a:schemeClr val="accent1">
                  <a:lumMod val="60000"/>
                  <a:lumOff val="40000"/>
                </a:schemeClr>
              </a:gs>
              <a:gs pos="98000">
                <a:schemeClr val="accent1">
                  <a:lumMod val="40000"/>
                  <a:lumOff val="60000"/>
                </a:schemeClr>
              </a:gs>
            </a:gsLst>
            <a:lin ang="135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mn-ea"/>
            </a:endParaRPr>
          </a:p>
        </p:txBody>
      </p:sp>
      <p:sp>
        <p:nvSpPr>
          <p:cNvPr id="13" name="Shape"/>
          <p:cNvSpPr/>
          <p:nvPr/>
        </p:nvSpPr>
        <p:spPr>
          <a:xfrm>
            <a:off x="5094726" y="1177551"/>
            <a:ext cx="1221489" cy="1064884"/>
          </a:xfrm>
          <a:custGeom>
            <a:avLst/>
            <a:gdLst/>
            <a:ahLst/>
            <a:cxnLst>
              <a:cxn ang="0">
                <a:pos x="wd2" y="hd2"/>
              </a:cxn>
              <a:cxn ang="5400000">
                <a:pos x="wd2" y="hd2"/>
              </a:cxn>
              <a:cxn ang="10800000">
                <a:pos x="wd2" y="hd2"/>
              </a:cxn>
              <a:cxn ang="16200000">
                <a:pos x="wd2" y="hd2"/>
              </a:cxn>
            </a:cxnLst>
            <a:rect l="0" t="0" r="r" b="b"/>
            <a:pathLst>
              <a:path w="21585" h="21577" extrusionOk="0">
                <a:moveTo>
                  <a:pt x="434" y="0"/>
                </a:moveTo>
                <a:cubicBezTo>
                  <a:pt x="273" y="-8"/>
                  <a:pt x="123" y="94"/>
                  <a:pt x="51" y="260"/>
                </a:cubicBezTo>
                <a:cubicBezTo>
                  <a:pt x="0" y="379"/>
                  <a:pt x="-4" y="519"/>
                  <a:pt x="42" y="641"/>
                </a:cubicBezTo>
                <a:lnTo>
                  <a:pt x="4808" y="10418"/>
                </a:lnTo>
                <a:cubicBezTo>
                  <a:pt x="4865" y="10529"/>
                  <a:pt x="4895" y="10657"/>
                  <a:pt x="4893" y="10786"/>
                </a:cubicBezTo>
                <a:cubicBezTo>
                  <a:pt x="4892" y="10900"/>
                  <a:pt x="4866" y="11012"/>
                  <a:pt x="4819" y="11112"/>
                </a:cubicBezTo>
                <a:lnTo>
                  <a:pt x="20" y="21002"/>
                </a:lnTo>
                <a:cubicBezTo>
                  <a:pt x="-15" y="21121"/>
                  <a:pt x="-3" y="21251"/>
                  <a:pt x="53" y="21359"/>
                </a:cubicBezTo>
                <a:cubicBezTo>
                  <a:pt x="129" y="21507"/>
                  <a:pt x="274" y="21591"/>
                  <a:pt x="423" y="21573"/>
                </a:cubicBezTo>
                <a:lnTo>
                  <a:pt x="16020" y="21577"/>
                </a:lnTo>
                <a:cubicBezTo>
                  <a:pt x="16159" y="21582"/>
                  <a:pt x="16296" y="21534"/>
                  <a:pt x="16410" y="21441"/>
                </a:cubicBezTo>
                <a:cubicBezTo>
                  <a:pt x="16492" y="21373"/>
                  <a:pt x="16558" y="21285"/>
                  <a:pt x="16604" y="21182"/>
                </a:cubicBezTo>
                <a:lnTo>
                  <a:pt x="21500" y="11154"/>
                </a:lnTo>
                <a:cubicBezTo>
                  <a:pt x="21556" y="11050"/>
                  <a:pt x="21585" y="10931"/>
                  <a:pt x="21585" y="10810"/>
                </a:cubicBezTo>
                <a:cubicBezTo>
                  <a:pt x="21585" y="10697"/>
                  <a:pt x="21558" y="10585"/>
                  <a:pt x="21509" y="10487"/>
                </a:cubicBezTo>
                <a:lnTo>
                  <a:pt x="16624" y="444"/>
                </a:lnTo>
                <a:cubicBezTo>
                  <a:pt x="16579" y="329"/>
                  <a:pt x="16509" y="228"/>
                  <a:pt x="16421" y="152"/>
                </a:cubicBezTo>
                <a:cubicBezTo>
                  <a:pt x="16296" y="44"/>
                  <a:pt x="16142" y="-9"/>
                  <a:pt x="15986" y="2"/>
                </a:cubicBezTo>
                <a:lnTo>
                  <a:pt x="434" y="0"/>
                </a:lnTo>
                <a:close/>
              </a:path>
            </a:pathLst>
          </a:custGeom>
          <a:gradFill flip="none" rotWithShape="1">
            <a:gsLst>
              <a:gs pos="29000">
                <a:schemeClr val="accent1"/>
              </a:gs>
              <a:gs pos="99000">
                <a:schemeClr val="accent1">
                  <a:lumMod val="60000"/>
                  <a:lumOff val="40000"/>
                </a:schemeClr>
              </a:gs>
            </a:gsLst>
            <a:lin ang="135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mn-ea"/>
            </a:endParaRPr>
          </a:p>
        </p:txBody>
      </p:sp>
      <p:sp>
        <p:nvSpPr>
          <p:cNvPr id="14" name="Shape"/>
          <p:cNvSpPr/>
          <p:nvPr/>
        </p:nvSpPr>
        <p:spPr>
          <a:xfrm>
            <a:off x="6267359" y="1177551"/>
            <a:ext cx="1221489" cy="1064884"/>
          </a:xfrm>
          <a:custGeom>
            <a:avLst/>
            <a:gdLst/>
            <a:ahLst/>
            <a:cxnLst>
              <a:cxn ang="0">
                <a:pos x="wd2" y="hd2"/>
              </a:cxn>
              <a:cxn ang="5400000">
                <a:pos x="wd2" y="hd2"/>
              </a:cxn>
              <a:cxn ang="10800000">
                <a:pos x="wd2" y="hd2"/>
              </a:cxn>
              <a:cxn ang="16200000">
                <a:pos x="wd2" y="hd2"/>
              </a:cxn>
            </a:cxnLst>
            <a:rect l="0" t="0" r="r" b="b"/>
            <a:pathLst>
              <a:path w="21585" h="21577" extrusionOk="0">
                <a:moveTo>
                  <a:pt x="434" y="0"/>
                </a:moveTo>
                <a:cubicBezTo>
                  <a:pt x="273" y="-8"/>
                  <a:pt x="123" y="94"/>
                  <a:pt x="51" y="260"/>
                </a:cubicBezTo>
                <a:cubicBezTo>
                  <a:pt x="0" y="379"/>
                  <a:pt x="-4" y="519"/>
                  <a:pt x="42" y="641"/>
                </a:cubicBezTo>
                <a:lnTo>
                  <a:pt x="4808" y="10418"/>
                </a:lnTo>
                <a:cubicBezTo>
                  <a:pt x="4865" y="10529"/>
                  <a:pt x="4895" y="10657"/>
                  <a:pt x="4893" y="10786"/>
                </a:cubicBezTo>
                <a:cubicBezTo>
                  <a:pt x="4892" y="10900"/>
                  <a:pt x="4866" y="11012"/>
                  <a:pt x="4819" y="11112"/>
                </a:cubicBezTo>
                <a:lnTo>
                  <a:pt x="20" y="21002"/>
                </a:lnTo>
                <a:cubicBezTo>
                  <a:pt x="-15" y="21121"/>
                  <a:pt x="-3" y="21251"/>
                  <a:pt x="53" y="21359"/>
                </a:cubicBezTo>
                <a:cubicBezTo>
                  <a:pt x="129" y="21507"/>
                  <a:pt x="274" y="21591"/>
                  <a:pt x="423" y="21573"/>
                </a:cubicBezTo>
                <a:lnTo>
                  <a:pt x="16020" y="21577"/>
                </a:lnTo>
                <a:cubicBezTo>
                  <a:pt x="16159" y="21582"/>
                  <a:pt x="16296" y="21534"/>
                  <a:pt x="16410" y="21441"/>
                </a:cubicBezTo>
                <a:cubicBezTo>
                  <a:pt x="16492" y="21373"/>
                  <a:pt x="16558" y="21285"/>
                  <a:pt x="16604" y="21182"/>
                </a:cubicBezTo>
                <a:lnTo>
                  <a:pt x="21500" y="11154"/>
                </a:lnTo>
                <a:cubicBezTo>
                  <a:pt x="21556" y="11050"/>
                  <a:pt x="21585" y="10931"/>
                  <a:pt x="21585" y="10810"/>
                </a:cubicBezTo>
                <a:cubicBezTo>
                  <a:pt x="21585" y="10697"/>
                  <a:pt x="21558" y="10585"/>
                  <a:pt x="21509" y="10487"/>
                </a:cubicBezTo>
                <a:lnTo>
                  <a:pt x="16624" y="444"/>
                </a:lnTo>
                <a:cubicBezTo>
                  <a:pt x="16579" y="329"/>
                  <a:pt x="16509" y="228"/>
                  <a:pt x="16421" y="152"/>
                </a:cubicBezTo>
                <a:cubicBezTo>
                  <a:pt x="16296" y="44"/>
                  <a:pt x="16142" y="-9"/>
                  <a:pt x="15986" y="2"/>
                </a:cubicBezTo>
                <a:lnTo>
                  <a:pt x="434" y="0"/>
                </a:lnTo>
                <a:close/>
              </a:path>
            </a:pathLst>
          </a:custGeom>
          <a:gradFill flip="none" rotWithShape="1">
            <a:gsLst>
              <a:gs pos="29000">
                <a:schemeClr val="accent1">
                  <a:lumMod val="60000"/>
                  <a:lumOff val="40000"/>
                </a:schemeClr>
              </a:gs>
              <a:gs pos="98000">
                <a:schemeClr val="accent1">
                  <a:lumMod val="40000"/>
                  <a:lumOff val="60000"/>
                </a:schemeClr>
              </a:gs>
            </a:gsLst>
            <a:lin ang="135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mn-ea"/>
            </a:endParaRPr>
          </a:p>
        </p:txBody>
      </p:sp>
      <p:sp>
        <p:nvSpPr>
          <p:cNvPr id="17" name="Shape"/>
          <p:cNvSpPr/>
          <p:nvPr/>
        </p:nvSpPr>
        <p:spPr>
          <a:xfrm>
            <a:off x="7439992" y="1177551"/>
            <a:ext cx="1221489" cy="1064884"/>
          </a:xfrm>
          <a:custGeom>
            <a:avLst/>
            <a:gdLst/>
            <a:ahLst/>
            <a:cxnLst>
              <a:cxn ang="0">
                <a:pos x="wd2" y="hd2"/>
              </a:cxn>
              <a:cxn ang="5400000">
                <a:pos x="wd2" y="hd2"/>
              </a:cxn>
              <a:cxn ang="10800000">
                <a:pos x="wd2" y="hd2"/>
              </a:cxn>
              <a:cxn ang="16200000">
                <a:pos x="wd2" y="hd2"/>
              </a:cxn>
            </a:cxnLst>
            <a:rect l="0" t="0" r="r" b="b"/>
            <a:pathLst>
              <a:path w="21585" h="21577" extrusionOk="0">
                <a:moveTo>
                  <a:pt x="434" y="0"/>
                </a:moveTo>
                <a:cubicBezTo>
                  <a:pt x="273" y="-8"/>
                  <a:pt x="123" y="94"/>
                  <a:pt x="51" y="260"/>
                </a:cubicBezTo>
                <a:cubicBezTo>
                  <a:pt x="0" y="379"/>
                  <a:pt x="-4" y="519"/>
                  <a:pt x="42" y="641"/>
                </a:cubicBezTo>
                <a:lnTo>
                  <a:pt x="4808" y="10418"/>
                </a:lnTo>
                <a:cubicBezTo>
                  <a:pt x="4865" y="10529"/>
                  <a:pt x="4895" y="10657"/>
                  <a:pt x="4893" y="10786"/>
                </a:cubicBezTo>
                <a:cubicBezTo>
                  <a:pt x="4892" y="10900"/>
                  <a:pt x="4866" y="11012"/>
                  <a:pt x="4819" y="11112"/>
                </a:cubicBezTo>
                <a:lnTo>
                  <a:pt x="20" y="21002"/>
                </a:lnTo>
                <a:cubicBezTo>
                  <a:pt x="-15" y="21121"/>
                  <a:pt x="-3" y="21251"/>
                  <a:pt x="53" y="21359"/>
                </a:cubicBezTo>
                <a:cubicBezTo>
                  <a:pt x="129" y="21507"/>
                  <a:pt x="274" y="21591"/>
                  <a:pt x="423" y="21573"/>
                </a:cubicBezTo>
                <a:lnTo>
                  <a:pt x="16020" y="21577"/>
                </a:lnTo>
                <a:cubicBezTo>
                  <a:pt x="16159" y="21582"/>
                  <a:pt x="16296" y="21534"/>
                  <a:pt x="16410" y="21441"/>
                </a:cubicBezTo>
                <a:cubicBezTo>
                  <a:pt x="16492" y="21373"/>
                  <a:pt x="16558" y="21285"/>
                  <a:pt x="16604" y="21182"/>
                </a:cubicBezTo>
                <a:lnTo>
                  <a:pt x="21500" y="11154"/>
                </a:lnTo>
                <a:cubicBezTo>
                  <a:pt x="21556" y="11050"/>
                  <a:pt x="21585" y="10931"/>
                  <a:pt x="21585" y="10810"/>
                </a:cubicBezTo>
                <a:cubicBezTo>
                  <a:pt x="21585" y="10697"/>
                  <a:pt x="21558" y="10585"/>
                  <a:pt x="21509" y="10487"/>
                </a:cubicBezTo>
                <a:lnTo>
                  <a:pt x="16624" y="444"/>
                </a:lnTo>
                <a:cubicBezTo>
                  <a:pt x="16579" y="329"/>
                  <a:pt x="16509" y="228"/>
                  <a:pt x="16421" y="152"/>
                </a:cubicBezTo>
                <a:cubicBezTo>
                  <a:pt x="16296" y="44"/>
                  <a:pt x="16142" y="-9"/>
                  <a:pt x="15986" y="2"/>
                </a:cubicBezTo>
                <a:lnTo>
                  <a:pt x="434" y="0"/>
                </a:lnTo>
                <a:close/>
              </a:path>
            </a:pathLst>
          </a:custGeom>
          <a:gradFill flip="none" rotWithShape="1">
            <a:gsLst>
              <a:gs pos="29000">
                <a:schemeClr val="accent5"/>
              </a:gs>
              <a:gs pos="99000">
                <a:schemeClr val="accent5">
                  <a:lumMod val="60000"/>
                  <a:lumOff val="40000"/>
                </a:schemeClr>
              </a:gs>
            </a:gsLst>
            <a:lin ang="135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mn-ea"/>
            </a:endParaRPr>
          </a:p>
        </p:txBody>
      </p:sp>
      <p:sp>
        <p:nvSpPr>
          <p:cNvPr id="18" name="Shape"/>
          <p:cNvSpPr/>
          <p:nvPr/>
        </p:nvSpPr>
        <p:spPr>
          <a:xfrm>
            <a:off x="8612626" y="1177551"/>
            <a:ext cx="1221489" cy="1064884"/>
          </a:xfrm>
          <a:custGeom>
            <a:avLst/>
            <a:gdLst/>
            <a:ahLst/>
            <a:cxnLst>
              <a:cxn ang="0">
                <a:pos x="wd2" y="hd2"/>
              </a:cxn>
              <a:cxn ang="5400000">
                <a:pos x="wd2" y="hd2"/>
              </a:cxn>
              <a:cxn ang="10800000">
                <a:pos x="wd2" y="hd2"/>
              </a:cxn>
              <a:cxn ang="16200000">
                <a:pos x="wd2" y="hd2"/>
              </a:cxn>
            </a:cxnLst>
            <a:rect l="0" t="0" r="r" b="b"/>
            <a:pathLst>
              <a:path w="21585" h="21577" extrusionOk="0">
                <a:moveTo>
                  <a:pt x="434" y="0"/>
                </a:moveTo>
                <a:cubicBezTo>
                  <a:pt x="273" y="-8"/>
                  <a:pt x="123" y="94"/>
                  <a:pt x="51" y="260"/>
                </a:cubicBezTo>
                <a:cubicBezTo>
                  <a:pt x="0" y="379"/>
                  <a:pt x="-4" y="519"/>
                  <a:pt x="42" y="641"/>
                </a:cubicBezTo>
                <a:lnTo>
                  <a:pt x="4808" y="10418"/>
                </a:lnTo>
                <a:cubicBezTo>
                  <a:pt x="4865" y="10529"/>
                  <a:pt x="4895" y="10657"/>
                  <a:pt x="4893" y="10786"/>
                </a:cubicBezTo>
                <a:cubicBezTo>
                  <a:pt x="4892" y="10900"/>
                  <a:pt x="4866" y="11012"/>
                  <a:pt x="4819" y="11112"/>
                </a:cubicBezTo>
                <a:lnTo>
                  <a:pt x="20" y="21002"/>
                </a:lnTo>
                <a:cubicBezTo>
                  <a:pt x="-15" y="21121"/>
                  <a:pt x="-3" y="21251"/>
                  <a:pt x="53" y="21359"/>
                </a:cubicBezTo>
                <a:cubicBezTo>
                  <a:pt x="129" y="21507"/>
                  <a:pt x="274" y="21591"/>
                  <a:pt x="423" y="21573"/>
                </a:cubicBezTo>
                <a:lnTo>
                  <a:pt x="16020" y="21577"/>
                </a:lnTo>
                <a:cubicBezTo>
                  <a:pt x="16159" y="21582"/>
                  <a:pt x="16296" y="21534"/>
                  <a:pt x="16410" y="21441"/>
                </a:cubicBezTo>
                <a:cubicBezTo>
                  <a:pt x="16492" y="21373"/>
                  <a:pt x="16558" y="21285"/>
                  <a:pt x="16604" y="21182"/>
                </a:cubicBezTo>
                <a:lnTo>
                  <a:pt x="21500" y="11154"/>
                </a:lnTo>
                <a:cubicBezTo>
                  <a:pt x="21556" y="11050"/>
                  <a:pt x="21585" y="10931"/>
                  <a:pt x="21585" y="10810"/>
                </a:cubicBezTo>
                <a:cubicBezTo>
                  <a:pt x="21585" y="10697"/>
                  <a:pt x="21558" y="10585"/>
                  <a:pt x="21509" y="10487"/>
                </a:cubicBezTo>
                <a:lnTo>
                  <a:pt x="16624" y="444"/>
                </a:lnTo>
                <a:cubicBezTo>
                  <a:pt x="16579" y="329"/>
                  <a:pt x="16509" y="228"/>
                  <a:pt x="16421" y="152"/>
                </a:cubicBezTo>
                <a:cubicBezTo>
                  <a:pt x="16296" y="44"/>
                  <a:pt x="16142" y="-9"/>
                  <a:pt x="15986" y="2"/>
                </a:cubicBezTo>
                <a:lnTo>
                  <a:pt x="434" y="0"/>
                </a:lnTo>
                <a:close/>
              </a:path>
            </a:pathLst>
          </a:custGeom>
          <a:gradFill flip="none" rotWithShape="1">
            <a:gsLst>
              <a:gs pos="29000">
                <a:schemeClr val="accent1">
                  <a:lumMod val="60000"/>
                  <a:lumOff val="40000"/>
                </a:schemeClr>
              </a:gs>
              <a:gs pos="98000">
                <a:schemeClr val="accent1">
                  <a:lumMod val="40000"/>
                  <a:lumOff val="60000"/>
                </a:schemeClr>
              </a:gs>
            </a:gsLst>
            <a:lin ang="135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mn-ea"/>
            </a:endParaRPr>
          </a:p>
        </p:txBody>
      </p:sp>
      <p:sp>
        <p:nvSpPr>
          <p:cNvPr id="23" name="Shape"/>
          <p:cNvSpPr/>
          <p:nvPr/>
        </p:nvSpPr>
        <p:spPr>
          <a:xfrm>
            <a:off x="9785259" y="1177551"/>
            <a:ext cx="1221489" cy="1064884"/>
          </a:xfrm>
          <a:custGeom>
            <a:avLst/>
            <a:gdLst/>
            <a:ahLst/>
            <a:cxnLst>
              <a:cxn ang="0">
                <a:pos x="wd2" y="hd2"/>
              </a:cxn>
              <a:cxn ang="5400000">
                <a:pos x="wd2" y="hd2"/>
              </a:cxn>
              <a:cxn ang="10800000">
                <a:pos x="wd2" y="hd2"/>
              </a:cxn>
              <a:cxn ang="16200000">
                <a:pos x="wd2" y="hd2"/>
              </a:cxn>
            </a:cxnLst>
            <a:rect l="0" t="0" r="r" b="b"/>
            <a:pathLst>
              <a:path w="21585" h="21577" extrusionOk="0">
                <a:moveTo>
                  <a:pt x="434" y="0"/>
                </a:moveTo>
                <a:cubicBezTo>
                  <a:pt x="273" y="-8"/>
                  <a:pt x="123" y="94"/>
                  <a:pt x="51" y="260"/>
                </a:cubicBezTo>
                <a:cubicBezTo>
                  <a:pt x="0" y="379"/>
                  <a:pt x="-4" y="519"/>
                  <a:pt x="42" y="641"/>
                </a:cubicBezTo>
                <a:lnTo>
                  <a:pt x="4808" y="10418"/>
                </a:lnTo>
                <a:cubicBezTo>
                  <a:pt x="4865" y="10529"/>
                  <a:pt x="4895" y="10657"/>
                  <a:pt x="4893" y="10786"/>
                </a:cubicBezTo>
                <a:cubicBezTo>
                  <a:pt x="4892" y="10900"/>
                  <a:pt x="4866" y="11012"/>
                  <a:pt x="4819" y="11112"/>
                </a:cubicBezTo>
                <a:lnTo>
                  <a:pt x="20" y="21002"/>
                </a:lnTo>
                <a:cubicBezTo>
                  <a:pt x="-15" y="21121"/>
                  <a:pt x="-3" y="21251"/>
                  <a:pt x="53" y="21359"/>
                </a:cubicBezTo>
                <a:cubicBezTo>
                  <a:pt x="129" y="21507"/>
                  <a:pt x="274" y="21591"/>
                  <a:pt x="423" y="21573"/>
                </a:cubicBezTo>
                <a:lnTo>
                  <a:pt x="16020" y="21577"/>
                </a:lnTo>
                <a:cubicBezTo>
                  <a:pt x="16159" y="21582"/>
                  <a:pt x="16296" y="21534"/>
                  <a:pt x="16410" y="21441"/>
                </a:cubicBezTo>
                <a:cubicBezTo>
                  <a:pt x="16492" y="21373"/>
                  <a:pt x="16558" y="21285"/>
                  <a:pt x="16604" y="21182"/>
                </a:cubicBezTo>
                <a:lnTo>
                  <a:pt x="21500" y="11154"/>
                </a:lnTo>
                <a:cubicBezTo>
                  <a:pt x="21556" y="11050"/>
                  <a:pt x="21585" y="10931"/>
                  <a:pt x="21585" y="10810"/>
                </a:cubicBezTo>
                <a:cubicBezTo>
                  <a:pt x="21585" y="10697"/>
                  <a:pt x="21558" y="10585"/>
                  <a:pt x="21509" y="10487"/>
                </a:cubicBezTo>
                <a:lnTo>
                  <a:pt x="16624" y="444"/>
                </a:lnTo>
                <a:cubicBezTo>
                  <a:pt x="16579" y="329"/>
                  <a:pt x="16509" y="228"/>
                  <a:pt x="16421" y="152"/>
                </a:cubicBezTo>
                <a:cubicBezTo>
                  <a:pt x="16296" y="44"/>
                  <a:pt x="16142" y="-9"/>
                  <a:pt x="15986" y="2"/>
                </a:cubicBezTo>
                <a:lnTo>
                  <a:pt x="434" y="0"/>
                </a:lnTo>
                <a:close/>
              </a:path>
            </a:pathLst>
          </a:custGeom>
          <a:gradFill flip="none" rotWithShape="1">
            <a:gsLst>
              <a:gs pos="29000">
                <a:schemeClr val="accent1"/>
              </a:gs>
              <a:gs pos="99000">
                <a:schemeClr val="accent1">
                  <a:lumMod val="60000"/>
                  <a:lumOff val="40000"/>
                </a:schemeClr>
              </a:gs>
            </a:gsLst>
            <a:lin ang="135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mn-ea"/>
            </a:endParaRPr>
          </a:p>
        </p:txBody>
      </p:sp>
      <p:sp>
        <p:nvSpPr>
          <p:cNvPr id="5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27863" y="1581745"/>
            <a:ext cx="1191112" cy="266740"/>
          </a:xfrm>
          <a:prstGeom prst="rect">
            <a:avLst/>
          </a:prstGeom>
          <a:ln w="12700">
            <a:miter lim="400000"/>
          </a:ln>
        </p:spPr>
        <p:txBody>
          <a:bodyPr wrap="square" lIns="25400" tIns="25400" rIns="25400" bIns="25400">
            <a:spAutoFit/>
          </a:bodyPr>
          <a:lstStyle>
            <a:lvl1pPr algn="l">
              <a:defRPr sz="2200">
                <a:solidFill>
                  <a:srgbClr val="F7F5F6"/>
                </a:solidFill>
                <a:latin typeface="Barlow SemiBold" panose="00000700000000000000"/>
                <a:ea typeface="Barlow SemiBold" panose="00000700000000000000"/>
                <a:cs typeface="Barlow SemiBold" panose="00000700000000000000"/>
                <a:sym typeface="Barlow SemiBold" panose="00000700000000000000"/>
              </a:defRPr>
            </a:lvl1pPr>
          </a:lstStyle>
          <a:p>
            <a:r>
              <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项目阶段目标</a:t>
            </a:r>
            <a:endPar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5" name="Line"/>
          <p:cNvSpPr/>
          <p:nvPr/>
        </p:nvSpPr>
        <p:spPr>
          <a:xfrm flipV="1">
            <a:off x="2652183" y="2237052"/>
            <a:ext cx="0" cy="4267497"/>
          </a:xfrm>
          <a:prstGeom prst="line">
            <a:avLst/>
          </a:prstGeom>
          <a:ln w="19050">
            <a:solidFill>
              <a:schemeClr val="tx2">
                <a:lumMod val="40000"/>
                <a:lumOff val="60000"/>
                <a:alpha val="70000"/>
              </a:schemeClr>
            </a:solidFill>
            <a:custDash>
              <a:ds d="200000" sp="200000"/>
            </a:custDash>
            <a:miter lim="400000"/>
          </a:ln>
        </p:spPr>
        <p:txBody>
          <a:bodyPr lIns="22859" tIns="22859" rIns="22859" bIns="22859"/>
          <a:lstStyle/>
          <a:p>
            <a:endParaRPr sz="900">
              <a:latin typeface="微软雅黑" panose="020B0503020204020204" charset="-122"/>
              <a:ea typeface="微软雅黑" panose="020B0503020204020204" charset="-122"/>
              <a:cs typeface="微软雅黑" panose="020B0503020204020204" charset="-122"/>
            </a:endParaRPr>
          </a:p>
        </p:txBody>
      </p:sp>
      <p:sp>
        <p:nvSpPr>
          <p:cNvPr id="56" name="Line"/>
          <p:cNvSpPr/>
          <p:nvPr/>
        </p:nvSpPr>
        <p:spPr>
          <a:xfrm flipV="1">
            <a:off x="3822693" y="2237052"/>
            <a:ext cx="0" cy="4267497"/>
          </a:xfrm>
          <a:prstGeom prst="line">
            <a:avLst/>
          </a:prstGeom>
          <a:ln w="19050">
            <a:solidFill>
              <a:schemeClr val="tx2">
                <a:lumMod val="40000"/>
                <a:lumOff val="60000"/>
                <a:alpha val="70000"/>
              </a:schemeClr>
            </a:solidFill>
            <a:custDash>
              <a:ds d="200000" sp="200000"/>
            </a:custDash>
            <a:miter lim="400000"/>
          </a:ln>
        </p:spPr>
        <p:txBody>
          <a:bodyPr lIns="22859" tIns="22859" rIns="22859" bIns="22859"/>
          <a:lstStyle/>
          <a:p>
            <a:endParaRPr sz="900">
              <a:latin typeface="微软雅黑" panose="020B0503020204020204" charset="-122"/>
              <a:ea typeface="微软雅黑" panose="020B0503020204020204" charset="-122"/>
              <a:cs typeface="微软雅黑" panose="020B0503020204020204" charset="-122"/>
            </a:endParaRPr>
          </a:p>
        </p:txBody>
      </p:sp>
      <p:sp>
        <p:nvSpPr>
          <p:cNvPr id="57" name="Line"/>
          <p:cNvSpPr/>
          <p:nvPr/>
        </p:nvSpPr>
        <p:spPr>
          <a:xfrm flipV="1">
            <a:off x="4993203" y="2237052"/>
            <a:ext cx="0" cy="4267497"/>
          </a:xfrm>
          <a:prstGeom prst="line">
            <a:avLst/>
          </a:prstGeom>
          <a:ln w="19050">
            <a:solidFill>
              <a:schemeClr val="tx2">
                <a:lumMod val="40000"/>
                <a:lumOff val="60000"/>
                <a:alpha val="70000"/>
              </a:schemeClr>
            </a:solidFill>
            <a:custDash>
              <a:ds d="200000" sp="200000"/>
            </a:custDash>
            <a:miter lim="400000"/>
          </a:ln>
        </p:spPr>
        <p:txBody>
          <a:bodyPr lIns="22859" tIns="22859" rIns="22859" bIns="22859"/>
          <a:lstStyle/>
          <a:p>
            <a:endParaRPr sz="900">
              <a:latin typeface="微软雅黑" panose="020B0503020204020204" charset="-122"/>
              <a:ea typeface="微软雅黑" panose="020B0503020204020204" charset="-122"/>
              <a:cs typeface="微软雅黑" panose="020B0503020204020204" charset="-122"/>
            </a:endParaRPr>
          </a:p>
        </p:txBody>
      </p:sp>
      <p:sp>
        <p:nvSpPr>
          <p:cNvPr id="58" name="Line"/>
          <p:cNvSpPr/>
          <p:nvPr/>
        </p:nvSpPr>
        <p:spPr>
          <a:xfrm flipV="1">
            <a:off x="6163713" y="2237052"/>
            <a:ext cx="0" cy="4267497"/>
          </a:xfrm>
          <a:prstGeom prst="line">
            <a:avLst/>
          </a:prstGeom>
          <a:ln w="19050">
            <a:solidFill>
              <a:schemeClr val="tx2">
                <a:lumMod val="40000"/>
                <a:lumOff val="60000"/>
                <a:alpha val="70000"/>
              </a:schemeClr>
            </a:solidFill>
            <a:custDash>
              <a:ds d="200000" sp="200000"/>
            </a:custDash>
            <a:miter lim="400000"/>
          </a:ln>
        </p:spPr>
        <p:txBody>
          <a:bodyPr lIns="22859" tIns="22859" rIns="22859" bIns="22859"/>
          <a:lstStyle/>
          <a:p>
            <a:endParaRPr sz="900">
              <a:latin typeface="微软雅黑" panose="020B0503020204020204" charset="-122"/>
              <a:ea typeface="微软雅黑" panose="020B0503020204020204" charset="-122"/>
              <a:cs typeface="微软雅黑" panose="020B0503020204020204" charset="-122"/>
            </a:endParaRPr>
          </a:p>
        </p:txBody>
      </p:sp>
      <p:sp>
        <p:nvSpPr>
          <p:cNvPr id="59" name="Line"/>
          <p:cNvSpPr/>
          <p:nvPr/>
        </p:nvSpPr>
        <p:spPr>
          <a:xfrm flipV="1">
            <a:off x="7334223" y="2237052"/>
            <a:ext cx="0" cy="4267497"/>
          </a:xfrm>
          <a:prstGeom prst="line">
            <a:avLst/>
          </a:prstGeom>
          <a:ln w="19050">
            <a:solidFill>
              <a:schemeClr val="tx2">
                <a:lumMod val="40000"/>
                <a:lumOff val="60000"/>
                <a:alpha val="70000"/>
              </a:schemeClr>
            </a:solidFill>
            <a:custDash>
              <a:ds d="200000" sp="200000"/>
            </a:custDash>
            <a:miter lim="400000"/>
          </a:ln>
        </p:spPr>
        <p:txBody>
          <a:bodyPr lIns="22859" tIns="22859" rIns="22859" bIns="22859"/>
          <a:lstStyle/>
          <a:p>
            <a:endParaRPr sz="900">
              <a:latin typeface="微软雅黑" panose="020B0503020204020204" charset="-122"/>
              <a:ea typeface="微软雅黑" panose="020B0503020204020204" charset="-122"/>
              <a:cs typeface="微软雅黑" panose="020B0503020204020204" charset="-122"/>
            </a:endParaRPr>
          </a:p>
        </p:txBody>
      </p:sp>
      <p:sp>
        <p:nvSpPr>
          <p:cNvPr id="31" name="Line"/>
          <p:cNvSpPr/>
          <p:nvPr/>
        </p:nvSpPr>
        <p:spPr>
          <a:xfrm flipV="1">
            <a:off x="8504733" y="2237052"/>
            <a:ext cx="0" cy="4267497"/>
          </a:xfrm>
          <a:prstGeom prst="line">
            <a:avLst/>
          </a:prstGeom>
          <a:ln w="19050">
            <a:solidFill>
              <a:schemeClr val="tx2">
                <a:lumMod val="40000"/>
                <a:lumOff val="60000"/>
                <a:alpha val="70000"/>
              </a:schemeClr>
            </a:solidFill>
            <a:custDash>
              <a:ds d="200000" sp="200000"/>
            </a:custDash>
            <a:miter lim="400000"/>
          </a:ln>
        </p:spPr>
        <p:txBody>
          <a:bodyPr lIns="22859" tIns="22859" rIns="22859" bIns="22859"/>
          <a:lstStyle/>
          <a:p>
            <a:endParaRPr sz="900">
              <a:latin typeface="微软雅黑" panose="020B0503020204020204" charset="-122"/>
              <a:ea typeface="微软雅黑" panose="020B0503020204020204" charset="-122"/>
              <a:cs typeface="微软雅黑" panose="020B0503020204020204" charset="-122"/>
            </a:endParaRPr>
          </a:p>
        </p:txBody>
      </p:sp>
      <p:sp>
        <p:nvSpPr>
          <p:cNvPr id="61" name="Line"/>
          <p:cNvSpPr/>
          <p:nvPr/>
        </p:nvSpPr>
        <p:spPr>
          <a:xfrm flipV="1">
            <a:off x="9675243" y="2237052"/>
            <a:ext cx="0" cy="4267497"/>
          </a:xfrm>
          <a:prstGeom prst="line">
            <a:avLst/>
          </a:prstGeom>
          <a:ln w="19050">
            <a:solidFill>
              <a:schemeClr val="tx2">
                <a:lumMod val="40000"/>
                <a:lumOff val="60000"/>
                <a:alpha val="70000"/>
              </a:schemeClr>
            </a:solidFill>
            <a:custDash>
              <a:ds d="200000" sp="200000"/>
            </a:custDash>
            <a:miter lim="400000"/>
          </a:ln>
        </p:spPr>
        <p:txBody>
          <a:bodyPr lIns="22859" tIns="22859" rIns="22859" bIns="22859"/>
          <a:lstStyle/>
          <a:p>
            <a:endParaRPr sz="900">
              <a:latin typeface="微软雅黑" panose="020B0503020204020204" charset="-122"/>
              <a:ea typeface="微软雅黑" panose="020B0503020204020204" charset="-122"/>
              <a:cs typeface="微软雅黑" panose="020B0503020204020204" charset="-122"/>
            </a:endParaRPr>
          </a:p>
        </p:txBody>
      </p:sp>
      <p:sp>
        <p:nvSpPr>
          <p:cNvPr id="62" name="Line"/>
          <p:cNvSpPr/>
          <p:nvPr/>
        </p:nvSpPr>
        <p:spPr>
          <a:xfrm flipV="1">
            <a:off x="10845755" y="2237052"/>
            <a:ext cx="0" cy="4267497"/>
          </a:xfrm>
          <a:prstGeom prst="line">
            <a:avLst/>
          </a:prstGeom>
          <a:ln w="19050">
            <a:solidFill>
              <a:schemeClr val="tx2">
                <a:lumMod val="40000"/>
                <a:lumOff val="60000"/>
                <a:alpha val="70000"/>
              </a:schemeClr>
            </a:solidFill>
            <a:custDash>
              <a:ds d="200000" sp="200000"/>
            </a:custDash>
            <a:miter lim="400000"/>
          </a:ln>
        </p:spPr>
        <p:txBody>
          <a:bodyPr lIns="22859" tIns="22859" rIns="22859" bIns="22859"/>
          <a:lstStyle/>
          <a:p>
            <a:endParaRPr sz="900">
              <a:latin typeface="微软雅黑" panose="020B0503020204020204" charset="-122"/>
              <a:ea typeface="微软雅黑" panose="020B0503020204020204" charset="-122"/>
              <a:cs typeface="微软雅黑" panose="020B0503020204020204" charset="-122"/>
            </a:endParaRPr>
          </a:p>
        </p:txBody>
      </p:sp>
      <p:sp>
        <p:nvSpPr>
          <p:cNvPr id="32" name="Line"/>
          <p:cNvSpPr/>
          <p:nvPr/>
        </p:nvSpPr>
        <p:spPr>
          <a:xfrm flipV="1">
            <a:off x="454660" y="4425315"/>
            <a:ext cx="11282680" cy="0"/>
          </a:xfrm>
          <a:prstGeom prst="line">
            <a:avLst/>
          </a:prstGeom>
          <a:ln w="19050">
            <a:solidFill>
              <a:schemeClr val="tx2">
                <a:lumMod val="40000"/>
                <a:lumOff val="60000"/>
              </a:schemeClr>
            </a:solidFill>
          </a:ln>
        </p:spPr>
        <p:txBody>
          <a:bodyPr lIns="22859" tIns="22859" rIns="22859" bIns="22859"/>
          <a:lstStyle/>
          <a:p>
            <a:endParaRPr sz="900">
              <a:latin typeface="微软雅黑" panose="020B0503020204020204" charset="-122"/>
              <a:ea typeface="微软雅黑" panose="020B0503020204020204" charset="-122"/>
              <a:cs typeface="微软雅黑" panose="020B0503020204020204" charset="-122"/>
            </a:endParaRPr>
          </a:p>
        </p:txBody>
      </p:sp>
      <p:sp>
        <p:nvSpPr>
          <p:cNvPr id="33" name="Line"/>
          <p:cNvSpPr/>
          <p:nvPr/>
        </p:nvSpPr>
        <p:spPr>
          <a:xfrm flipV="1">
            <a:off x="454660" y="6523355"/>
            <a:ext cx="11282680" cy="0"/>
          </a:xfrm>
          <a:prstGeom prst="line">
            <a:avLst/>
          </a:prstGeom>
          <a:ln w="19050">
            <a:solidFill>
              <a:schemeClr val="tx2">
                <a:lumMod val="40000"/>
                <a:lumOff val="60000"/>
              </a:schemeClr>
            </a:solidFill>
          </a:ln>
        </p:spPr>
        <p:txBody>
          <a:bodyPr lIns="22859" tIns="22859" rIns="22859" bIns="22859"/>
          <a:lstStyle/>
          <a:p>
            <a:endParaRPr sz="900">
              <a:latin typeface="微软雅黑" panose="020B0503020204020204" charset="-122"/>
              <a:ea typeface="微软雅黑" panose="020B0503020204020204" charset="-122"/>
              <a:cs typeface="微软雅黑" panose="020B0503020204020204" charset="-122"/>
            </a:endParaRPr>
          </a:p>
        </p:txBody>
      </p:sp>
      <p:sp>
        <p:nvSpPr>
          <p:cNvPr id="101" name="右箭头 100"/>
          <p:cNvSpPr/>
          <p:nvPr/>
        </p:nvSpPr>
        <p:spPr>
          <a:xfrm>
            <a:off x="2067613" y="1580971"/>
            <a:ext cx="633208" cy="266740"/>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10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454762" y="2599415"/>
            <a:ext cx="1273871" cy="266740"/>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panose="00000700000000000000"/>
                <a:ea typeface="Barlow SemiBold" panose="00000700000000000000"/>
                <a:cs typeface="Barlow SemiBold" panose="00000700000000000000"/>
                <a:sym typeface="Barlow SemiBold" panose="00000700000000000000"/>
              </a:defRPr>
            </a:lvl1pPr>
          </a:lstStyle>
          <a:p>
            <a:r>
              <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小型工程项目</a:t>
            </a:r>
            <a:endPar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3"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461652" y="2948536"/>
            <a:ext cx="1956428" cy="857799"/>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panose="00000600000000000000"/>
                <a:ea typeface="Barlow Medium" panose="00000600000000000000"/>
                <a:cs typeface="Barlow Medium" panose="00000600000000000000"/>
                <a:sym typeface="Barlow Medium" panose="00000600000000000000"/>
              </a:defRPr>
            </a:lvl1pPr>
          </a:lstStyle>
          <a:p>
            <a:pPr algn="just">
              <a:lnSpc>
                <a:spcPct val="15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项目建设进度安排是项目管理中针对项目的执行阶段，按照时间顺序和优先级安排任务和活动的计划，这个安排通常以项目时间表的形式呈现。</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5"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454762" y="4763495"/>
            <a:ext cx="1273871" cy="266065"/>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panose="00000700000000000000"/>
                <a:ea typeface="Barlow SemiBold" panose="00000700000000000000"/>
                <a:cs typeface="Barlow SemiBold" panose="00000700000000000000"/>
                <a:sym typeface="Barlow SemiBold" panose="00000700000000000000"/>
              </a:defRPr>
            </a:lvl1pPr>
          </a:lstStyle>
          <a:p>
            <a:pPr lvl="0" algn="l">
              <a:buClrTx/>
              <a:buSzTx/>
              <a:buFontTx/>
            </a:pPr>
            <a:r>
              <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sym typeface="+mn-ea"/>
              </a:rPr>
              <a:t>大型工程项目</a:t>
            </a:r>
            <a:endPar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106"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461652" y="5112616"/>
            <a:ext cx="1956428" cy="857799"/>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panose="00000600000000000000"/>
                <a:ea typeface="Barlow Medium" panose="00000600000000000000"/>
                <a:cs typeface="Barlow Medium" panose="00000600000000000000"/>
                <a:sym typeface="Barlow Medium" panose="00000600000000000000"/>
              </a:defRPr>
            </a:lvl1pPr>
          </a:lstStyle>
          <a:p>
            <a:pPr algn="just">
              <a:lnSpc>
                <a:spcPct val="15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项目建设进度安排是项目可行性研究中的一个重要组成部分，其任务是对项目建设的投资时期议订出实际项目进度表。</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7" name="椭圆 106"/>
          <p:cNvSpPr/>
          <p:nvPr/>
        </p:nvSpPr>
        <p:spPr>
          <a:xfrm>
            <a:off x="3152143" y="1430831"/>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solidFill>
                  <a:schemeClr val="accent1"/>
                </a:solidFill>
                <a:latin typeface="微软雅黑" panose="020B0503020204020204" charset="-122"/>
                <a:ea typeface="微软雅黑" panose="020B0503020204020204" charset="-122"/>
                <a:cs typeface="微软雅黑" panose="020B0503020204020204" charset="-122"/>
              </a:rPr>
              <a:t>1</a:t>
            </a:r>
            <a:r>
              <a:rPr kumimoji="1" lang="zh-CN" altLang="en-US" sz="1200" b="1" dirty="0">
                <a:solidFill>
                  <a:schemeClr val="accent1"/>
                </a:solidFill>
                <a:latin typeface="微软雅黑" panose="020B0503020204020204" charset="-122"/>
                <a:ea typeface="微软雅黑" panose="020B0503020204020204" charset="-122"/>
                <a:cs typeface="微软雅黑" panose="020B0503020204020204" charset="-122"/>
              </a:rPr>
              <a:t>月</a:t>
            </a:r>
            <a:endParaRPr kumimoji="1" lang="zh-CN" altLang="en-US" sz="12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08" name="椭圆 107"/>
          <p:cNvSpPr/>
          <p:nvPr/>
        </p:nvSpPr>
        <p:spPr>
          <a:xfrm>
            <a:off x="4323874" y="1430831"/>
            <a:ext cx="538003" cy="538003"/>
          </a:xfrm>
          <a:prstGeom prst="ellipse">
            <a:avLst/>
          </a:prstGeom>
          <a:solidFill>
            <a:schemeClr val="bg1"/>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2</a:t>
            </a:r>
            <a:r>
              <a:rPr kumimoji="1" lang="zh-CN" altLang="en-US" sz="12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月</a:t>
            </a:r>
            <a:endParaRPr kumimoji="1" lang="zh-CN" altLang="en-US" sz="12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09" name="椭圆 108"/>
          <p:cNvSpPr/>
          <p:nvPr/>
        </p:nvSpPr>
        <p:spPr>
          <a:xfrm>
            <a:off x="5495605" y="1430831"/>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kumimoji="1" lang="en-US" altLang="zh-CN" sz="1200" b="1" dirty="0">
                <a:solidFill>
                  <a:schemeClr val="accent1"/>
                </a:solidFill>
                <a:latin typeface="微软雅黑" panose="020B0503020204020204" charset="-122"/>
                <a:ea typeface="微软雅黑" panose="020B0503020204020204" charset="-122"/>
                <a:cs typeface="微软雅黑" panose="020B0503020204020204" charset="-122"/>
                <a:sym typeface="+mn-ea"/>
              </a:rPr>
              <a:t>3月</a:t>
            </a:r>
            <a:endParaRPr kumimoji="1" lang="en-US" altLang="zh-CN" sz="1200" b="1"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110" name="椭圆 109"/>
          <p:cNvSpPr/>
          <p:nvPr/>
        </p:nvSpPr>
        <p:spPr>
          <a:xfrm>
            <a:off x="6667336" y="1430831"/>
            <a:ext cx="538003" cy="538003"/>
          </a:xfrm>
          <a:prstGeom prst="ellipse">
            <a:avLst/>
          </a:prstGeom>
          <a:solidFill>
            <a:schemeClr val="bg1"/>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kumimoji="1" lang="en-US" altLang="zh-CN" sz="12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rPr>
              <a:t>4月</a:t>
            </a:r>
            <a:endParaRPr kumimoji="1" lang="en-US" altLang="zh-CN" sz="12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11" name="椭圆 110"/>
          <p:cNvSpPr/>
          <p:nvPr/>
        </p:nvSpPr>
        <p:spPr>
          <a:xfrm>
            <a:off x="7839067" y="1430831"/>
            <a:ext cx="538003" cy="538003"/>
          </a:xfrm>
          <a:prstGeom prst="ellipse">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kumimoji="1" lang="en-US" altLang="zh-CN" sz="1200" b="1" dirty="0">
                <a:solidFill>
                  <a:schemeClr val="accent5"/>
                </a:solidFill>
                <a:latin typeface="微软雅黑" panose="020B0503020204020204" charset="-122"/>
                <a:ea typeface="微软雅黑" panose="020B0503020204020204" charset="-122"/>
                <a:cs typeface="微软雅黑" panose="020B0503020204020204" charset="-122"/>
                <a:sym typeface="+mn-ea"/>
              </a:rPr>
              <a:t>5月</a:t>
            </a:r>
            <a:endParaRPr kumimoji="1" lang="en-US" altLang="zh-CN" sz="1200" b="1" dirty="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112" name="椭圆 111"/>
          <p:cNvSpPr/>
          <p:nvPr/>
        </p:nvSpPr>
        <p:spPr>
          <a:xfrm>
            <a:off x="9010798" y="1430831"/>
            <a:ext cx="538003" cy="538003"/>
          </a:xfrm>
          <a:prstGeom prst="ellipse">
            <a:avLst/>
          </a:prstGeom>
          <a:solidFill>
            <a:schemeClr val="bg1"/>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kumimoji="1" lang="en-US" altLang="zh-CN" sz="12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rPr>
              <a:t>6月</a:t>
            </a:r>
            <a:endParaRPr kumimoji="1" lang="en-US" altLang="zh-CN" sz="12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13" name="椭圆 112"/>
          <p:cNvSpPr/>
          <p:nvPr/>
        </p:nvSpPr>
        <p:spPr>
          <a:xfrm>
            <a:off x="10182529" y="1430831"/>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kumimoji="1" lang="en-US" altLang="zh-CN" sz="1200" b="1" dirty="0">
                <a:solidFill>
                  <a:schemeClr val="accent1"/>
                </a:solidFill>
                <a:latin typeface="微软雅黑" panose="020B0503020204020204" charset="-122"/>
                <a:ea typeface="微软雅黑" panose="020B0503020204020204" charset="-122"/>
                <a:cs typeface="微软雅黑" panose="020B0503020204020204" charset="-122"/>
                <a:sym typeface="+mn-ea"/>
              </a:rPr>
              <a:t>7月</a:t>
            </a:r>
            <a:endParaRPr kumimoji="1" lang="en-US" altLang="zh-CN" sz="1200" b="1"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114"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2803079" y="4635005"/>
            <a:ext cx="841209" cy="1389380"/>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panose="00000600000000000000"/>
                <a:ea typeface="Barlow Medium" panose="00000600000000000000"/>
                <a:cs typeface="Barlow Medium" panose="00000600000000000000"/>
                <a:sym typeface="Barlow Medium" panose="00000600000000000000"/>
              </a:defRPr>
            </a:lvl1pPr>
          </a:lstStyle>
          <a:p>
            <a:pPr algn="just">
              <a:lnSpc>
                <a:spcPct val="150000"/>
              </a:lnSpc>
            </a:pPr>
            <a:r>
              <a:rPr kumimoji="1" lang="zh-CN" altLang="en-US" sz="10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立项阶段：</a:t>
            </a:r>
            <a:endParaRPr kumimoji="1" lang="zh-CN" altLang="en-US" sz="10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just">
              <a:lnSpc>
                <a:spcPct val="150000"/>
              </a:lnSpc>
            </a:pPr>
            <a:r>
              <a:rPr kumimoji="1" lang="en-US" altLang="zh-CN"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1</a:t>
            </a:r>
            <a:r>
              <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、确定项目的可行性和必要性。</a:t>
            </a:r>
            <a:endPar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just">
              <a:lnSpc>
                <a:spcPct val="150000"/>
              </a:lnSpc>
            </a:pPr>
            <a:r>
              <a:rPr kumimoji="1" lang="en-US" altLang="zh-CN"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2</a:t>
            </a:r>
            <a:r>
              <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、确定项目的基本范围和目标。</a:t>
            </a:r>
            <a:endPar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just">
              <a:lnSpc>
                <a:spcPct val="150000"/>
              </a:lnSpc>
            </a:pPr>
            <a:r>
              <a:rPr kumimoji="1" lang="en-US" altLang="zh-CN"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3</a:t>
            </a:r>
            <a:r>
              <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、制定初步的项目计划和预算。</a:t>
            </a:r>
            <a:endPar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5"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976084" y="4635005"/>
            <a:ext cx="841209" cy="1389380"/>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panose="00000600000000000000"/>
                <a:ea typeface="Barlow Medium" panose="00000600000000000000"/>
                <a:cs typeface="Barlow Medium" panose="00000600000000000000"/>
                <a:sym typeface="Barlow Medium" panose="00000600000000000000"/>
              </a:defRPr>
            </a:lvl1pPr>
          </a:lstStyle>
          <a:p>
            <a:pPr algn="just">
              <a:lnSpc>
                <a:spcPct val="150000"/>
              </a:lnSpc>
            </a:pPr>
            <a:r>
              <a:rPr kumimoji="1" lang="zh-CN" altLang="en-US" sz="10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准备阶段：</a:t>
            </a:r>
            <a:endParaRPr kumimoji="1" lang="zh-CN" altLang="en-US" sz="10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just">
              <a:lnSpc>
                <a:spcPct val="150000"/>
              </a:lnSpc>
            </a:pPr>
            <a:r>
              <a:rPr kumimoji="1" lang="en-US" altLang="zh-CN"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1</a:t>
            </a:r>
            <a:r>
              <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、完善项目的详细范围和要求。</a:t>
            </a:r>
            <a:endPar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just">
              <a:lnSpc>
                <a:spcPct val="150000"/>
              </a:lnSpc>
            </a:pPr>
            <a:r>
              <a:rPr kumimoji="1" lang="en-US" altLang="zh-CN"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2</a:t>
            </a:r>
            <a:r>
              <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、确定项目资源及供应链管理。</a:t>
            </a:r>
            <a:endPar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just">
              <a:lnSpc>
                <a:spcPct val="150000"/>
              </a:lnSpc>
            </a:pPr>
            <a:r>
              <a:rPr kumimoji="1" lang="en-US" altLang="zh-CN"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3</a:t>
            </a:r>
            <a:r>
              <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、确定项目法律、环境和安全要求。</a:t>
            </a:r>
            <a:endPar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6"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5149089" y="4635005"/>
            <a:ext cx="841209" cy="1389380"/>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panose="00000600000000000000"/>
                <a:ea typeface="Barlow Medium" panose="00000600000000000000"/>
                <a:cs typeface="Barlow Medium" panose="00000600000000000000"/>
                <a:sym typeface="Barlow Medium" panose="00000600000000000000"/>
              </a:defRPr>
            </a:lvl1pPr>
          </a:lstStyle>
          <a:p>
            <a:pPr algn="just">
              <a:lnSpc>
                <a:spcPct val="150000"/>
              </a:lnSpc>
            </a:pPr>
            <a:r>
              <a:rPr kumimoji="1" lang="zh-CN" altLang="en-US" sz="10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设计阶段：</a:t>
            </a:r>
            <a:endParaRPr kumimoji="1" lang="zh-CN" altLang="en-US" sz="10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just">
              <a:lnSpc>
                <a:spcPct val="150000"/>
              </a:lnSpc>
            </a:pPr>
            <a:r>
              <a:rPr kumimoji="1" lang="en-US" altLang="zh-CN"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1</a:t>
            </a:r>
            <a:r>
              <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、开展项目的设计和工程规划。</a:t>
            </a:r>
            <a:endPar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just">
              <a:lnSpc>
                <a:spcPct val="150000"/>
              </a:lnSpc>
            </a:pPr>
            <a:r>
              <a:rPr kumimoji="1" lang="en-US" altLang="zh-CN"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2</a:t>
            </a:r>
            <a:r>
              <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、制定详细工程设计和施工图纸。</a:t>
            </a:r>
            <a:endPar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just">
              <a:lnSpc>
                <a:spcPct val="150000"/>
              </a:lnSpc>
            </a:pPr>
            <a:r>
              <a:rPr kumimoji="1" lang="en-US" altLang="zh-CN"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3</a:t>
            </a:r>
            <a:r>
              <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、确定项目所需技术标准和规范。</a:t>
            </a:r>
            <a:endPar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7"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322094" y="4635005"/>
            <a:ext cx="841209" cy="1389380"/>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panose="00000600000000000000"/>
                <a:ea typeface="Barlow Medium" panose="00000600000000000000"/>
                <a:cs typeface="Barlow Medium" panose="00000600000000000000"/>
                <a:sym typeface="Barlow Medium" panose="00000600000000000000"/>
              </a:defRPr>
            </a:lvl1pPr>
          </a:lstStyle>
          <a:p>
            <a:pPr algn="just">
              <a:lnSpc>
                <a:spcPct val="150000"/>
              </a:lnSpc>
            </a:pPr>
            <a:r>
              <a:rPr kumimoji="1" lang="zh-CN" altLang="en-US" sz="10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招标阶段：</a:t>
            </a:r>
            <a:endParaRPr kumimoji="1" lang="zh-CN" altLang="en-US" sz="10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just">
              <a:lnSpc>
                <a:spcPct val="150000"/>
              </a:lnSpc>
            </a:pPr>
            <a:r>
              <a:rPr kumimoji="1" lang="en-US" altLang="zh-CN"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1</a:t>
            </a:r>
            <a:r>
              <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、进行项目相关物资和设备采购。</a:t>
            </a:r>
            <a:endPar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just">
              <a:lnSpc>
                <a:spcPct val="150000"/>
              </a:lnSpc>
            </a:pPr>
            <a:r>
              <a:rPr kumimoji="1" lang="en-US" altLang="zh-CN"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2</a:t>
            </a:r>
            <a:r>
              <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、发布和管理相关的招投标工作。</a:t>
            </a:r>
            <a:endPar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just">
              <a:lnSpc>
                <a:spcPct val="150000"/>
              </a:lnSpc>
            </a:pPr>
            <a:r>
              <a:rPr kumimoji="1" lang="en-US" altLang="zh-CN"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3</a:t>
            </a:r>
            <a:r>
              <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、签订合同和准备施工物资供应。</a:t>
            </a:r>
            <a:endPar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4"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7495099" y="4635005"/>
            <a:ext cx="841209" cy="1389380"/>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panose="00000600000000000000"/>
                <a:ea typeface="Barlow Medium" panose="00000600000000000000"/>
                <a:cs typeface="Barlow Medium" panose="00000600000000000000"/>
                <a:sym typeface="Barlow Medium" panose="00000600000000000000"/>
              </a:defRPr>
            </a:lvl1pPr>
          </a:lstStyle>
          <a:p>
            <a:pPr algn="just">
              <a:lnSpc>
                <a:spcPct val="150000"/>
              </a:lnSpc>
            </a:pPr>
            <a:r>
              <a:rPr kumimoji="1" lang="zh-CN" altLang="en-US" sz="10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施工阶段：</a:t>
            </a:r>
            <a:endParaRPr kumimoji="1" lang="zh-CN" altLang="en-US" sz="10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just">
              <a:lnSpc>
                <a:spcPct val="150000"/>
              </a:lnSpc>
            </a:pPr>
            <a:r>
              <a:rPr kumimoji="1" lang="en-US" altLang="zh-CN"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1</a:t>
            </a:r>
            <a:r>
              <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、实施项目的建设和工程施工。</a:t>
            </a:r>
            <a:endPar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just">
              <a:lnSpc>
                <a:spcPct val="150000"/>
              </a:lnSpc>
            </a:pPr>
            <a:r>
              <a:rPr kumimoji="1" lang="en-US" altLang="zh-CN"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2</a:t>
            </a:r>
            <a:r>
              <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、进行施工质量、安全和进度控制。</a:t>
            </a:r>
            <a:endPar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just">
              <a:lnSpc>
                <a:spcPct val="150000"/>
              </a:lnSpc>
            </a:pPr>
            <a:r>
              <a:rPr kumimoji="1" lang="en-US" altLang="zh-CN"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3</a:t>
            </a:r>
            <a:r>
              <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、协调施工团队、承包商沟通工作。</a:t>
            </a:r>
            <a:endPar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9"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668104" y="4635005"/>
            <a:ext cx="841209" cy="1389380"/>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panose="00000600000000000000"/>
                <a:ea typeface="Barlow Medium" panose="00000600000000000000"/>
                <a:cs typeface="Barlow Medium" panose="00000600000000000000"/>
                <a:sym typeface="Barlow Medium" panose="00000600000000000000"/>
              </a:defRPr>
            </a:lvl1pPr>
          </a:lstStyle>
          <a:p>
            <a:pPr algn="just">
              <a:lnSpc>
                <a:spcPct val="150000"/>
              </a:lnSpc>
            </a:pPr>
            <a:r>
              <a:rPr kumimoji="1" lang="zh-CN" altLang="en-US" sz="10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内审阶段：</a:t>
            </a:r>
            <a:endParaRPr kumimoji="1" lang="zh-CN" altLang="en-US" sz="10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just">
              <a:lnSpc>
                <a:spcPct val="150000"/>
              </a:lnSpc>
            </a:pPr>
            <a:r>
              <a:rPr kumimoji="1" lang="en-US" altLang="zh-CN"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1</a:t>
            </a:r>
            <a:r>
              <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、对已建成的工程进行内审。</a:t>
            </a:r>
            <a:endPar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just">
              <a:lnSpc>
                <a:spcPct val="150000"/>
              </a:lnSpc>
            </a:pPr>
            <a:r>
              <a:rPr kumimoji="1" lang="en-US" altLang="zh-CN"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2</a:t>
            </a:r>
            <a:r>
              <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、确保项目功能和性能符合要求。</a:t>
            </a:r>
            <a:endPar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just">
              <a:lnSpc>
                <a:spcPct val="150000"/>
              </a:lnSpc>
            </a:pPr>
            <a:r>
              <a:rPr kumimoji="1" lang="en-US" altLang="zh-CN"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3</a:t>
            </a:r>
            <a:r>
              <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、优化项目中发现的问题和缺陷。</a:t>
            </a:r>
            <a:endPar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0"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9841111" y="4635005"/>
            <a:ext cx="841209" cy="1389380"/>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panose="00000600000000000000"/>
                <a:ea typeface="Barlow Medium" panose="00000600000000000000"/>
                <a:cs typeface="Barlow Medium" panose="00000600000000000000"/>
                <a:sym typeface="Barlow Medium" panose="00000600000000000000"/>
              </a:defRPr>
            </a:lvl1pPr>
          </a:lstStyle>
          <a:p>
            <a:pPr algn="just">
              <a:lnSpc>
                <a:spcPct val="150000"/>
              </a:lnSpc>
            </a:pPr>
            <a:r>
              <a:rPr kumimoji="1" lang="zh-CN" altLang="en-US" sz="10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交付阶段：</a:t>
            </a:r>
            <a:endParaRPr kumimoji="1" lang="zh-CN" altLang="en-US" sz="10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just">
              <a:lnSpc>
                <a:spcPct val="150000"/>
              </a:lnSpc>
            </a:pPr>
            <a:r>
              <a:rPr kumimoji="1" lang="en-US" altLang="zh-CN"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1</a:t>
            </a:r>
            <a:r>
              <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、完成项目最终验收和客户交付。</a:t>
            </a:r>
            <a:endPar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just">
              <a:lnSpc>
                <a:spcPct val="150000"/>
              </a:lnSpc>
            </a:pPr>
            <a:r>
              <a:rPr kumimoji="1" lang="en-US" altLang="zh-CN"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2</a:t>
            </a:r>
            <a:r>
              <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、确保项目交付的成果符合要求。</a:t>
            </a:r>
            <a:endPar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just">
              <a:lnSpc>
                <a:spcPct val="150000"/>
              </a:lnSpc>
            </a:pPr>
            <a:r>
              <a:rPr kumimoji="1" lang="en-US" altLang="zh-CN"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3</a:t>
            </a:r>
            <a:r>
              <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、解决最终法律、财务和技术问题。</a:t>
            </a:r>
            <a:endPar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1" name="Freeform 90"/>
          <p:cNvSpPr/>
          <p:nvPr/>
        </p:nvSpPr>
        <p:spPr>
          <a:xfrm>
            <a:off x="3115548" y="6107036"/>
            <a:ext cx="216271" cy="216275"/>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chemeClr val="accent1"/>
          </a:solidFill>
          <a:ln w="12700" cap="flat">
            <a:noFill/>
            <a:miter lim="400000"/>
          </a:ln>
          <a:effectLst/>
        </p:spPr>
        <p:txBody>
          <a:bodyPr wrap="square" lIns="22860" tIns="22860" rIns="22860" bIns="22860" numCol="1" anchor="ctr">
            <a:noAutofit/>
          </a:bodyP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2" name="Freeform 90"/>
          <p:cNvSpPr/>
          <p:nvPr/>
        </p:nvSpPr>
        <p:spPr>
          <a:xfrm>
            <a:off x="4287504" y="6107036"/>
            <a:ext cx="216271" cy="216275"/>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chemeClr val="accent1">
              <a:lumMod val="60000"/>
              <a:lumOff val="40000"/>
            </a:schemeClr>
          </a:solidFill>
          <a:ln w="12700" cap="flat">
            <a:noFill/>
            <a:miter lim="400000"/>
          </a:ln>
          <a:effectLst/>
        </p:spPr>
        <p:txBody>
          <a:bodyPr wrap="square" lIns="22860" tIns="22860" rIns="22860" bIns="22860" numCol="1" anchor="ctr">
            <a:noAutofit/>
          </a:bodyP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3" name="Freeform 90"/>
          <p:cNvSpPr/>
          <p:nvPr/>
        </p:nvSpPr>
        <p:spPr>
          <a:xfrm>
            <a:off x="5459460" y="6107036"/>
            <a:ext cx="216271" cy="216275"/>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chemeClr val="accent1"/>
          </a:solidFill>
          <a:ln w="12700" cap="flat">
            <a:noFill/>
            <a:miter lim="400000"/>
          </a:ln>
          <a:effectLst/>
        </p:spPr>
        <p:txBody>
          <a:bodyPr wrap="square" lIns="22860" tIns="22860" rIns="22860" bIns="22860" numCol="1" anchor="ctr">
            <a:noAutofit/>
          </a:bodyP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4" name="Freeform 90"/>
          <p:cNvSpPr/>
          <p:nvPr/>
        </p:nvSpPr>
        <p:spPr>
          <a:xfrm>
            <a:off x="6631416" y="6107036"/>
            <a:ext cx="216271" cy="216275"/>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chemeClr val="accent1">
              <a:lumMod val="60000"/>
              <a:lumOff val="40000"/>
            </a:schemeClr>
          </a:solidFill>
          <a:ln w="12700" cap="flat">
            <a:noFill/>
            <a:miter lim="400000"/>
          </a:ln>
          <a:effectLst/>
        </p:spPr>
        <p:txBody>
          <a:bodyPr wrap="square" lIns="22860" tIns="22860" rIns="22860" bIns="22860" numCol="1" anchor="ctr">
            <a:noAutofit/>
          </a:bodyP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5" name="Freeform 90"/>
          <p:cNvSpPr/>
          <p:nvPr/>
        </p:nvSpPr>
        <p:spPr>
          <a:xfrm>
            <a:off x="7803372" y="6107036"/>
            <a:ext cx="216271" cy="216275"/>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chemeClr val="accent5"/>
          </a:solidFill>
          <a:ln w="12700" cap="flat">
            <a:noFill/>
            <a:miter lim="400000"/>
          </a:ln>
          <a:effectLst/>
        </p:spPr>
        <p:txBody>
          <a:bodyPr wrap="square" lIns="22860" tIns="22860" rIns="22860" bIns="22860" numCol="1" anchor="ctr">
            <a:noAutofit/>
          </a:bodyP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6" name="Freeform 90"/>
          <p:cNvSpPr/>
          <p:nvPr/>
        </p:nvSpPr>
        <p:spPr>
          <a:xfrm>
            <a:off x="8975328" y="6107036"/>
            <a:ext cx="216271" cy="216275"/>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chemeClr val="accent1">
              <a:lumMod val="60000"/>
              <a:lumOff val="40000"/>
            </a:schemeClr>
          </a:solidFill>
          <a:ln w="12700" cap="flat">
            <a:noFill/>
            <a:miter lim="400000"/>
          </a:ln>
          <a:effectLst/>
        </p:spPr>
        <p:txBody>
          <a:bodyPr wrap="square" lIns="22860" tIns="22860" rIns="22860" bIns="22860" numCol="1" anchor="ctr">
            <a:noAutofit/>
          </a:bodyP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7" name="Freeform 90"/>
          <p:cNvSpPr/>
          <p:nvPr/>
        </p:nvSpPr>
        <p:spPr>
          <a:xfrm>
            <a:off x="10147284" y="6107036"/>
            <a:ext cx="216271" cy="216275"/>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chemeClr val="accent1"/>
          </a:solidFill>
          <a:ln w="12700" cap="flat">
            <a:noFill/>
            <a:miter lim="400000"/>
          </a:ln>
          <a:effectLst/>
        </p:spPr>
        <p:txBody>
          <a:bodyPr wrap="square" lIns="22860" tIns="22860" rIns="22860" bIns="22860" numCol="1" anchor="ctr">
            <a:noAutofit/>
          </a:bodyP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0" name="任意形状 129"/>
          <p:cNvSpPr/>
          <p:nvPr/>
        </p:nvSpPr>
        <p:spPr>
          <a:xfrm>
            <a:off x="6304411" y="2028273"/>
            <a:ext cx="3208793" cy="2114021"/>
          </a:xfrm>
          <a:custGeom>
            <a:avLst/>
            <a:gdLst>
              <a:gd name="connsiteX0" fmla="*/ 1607715 w 3208793"/>
              <a:gd name="connsiteY0" fmla="*/ 0 h 2114021"/>
              <a:gd name="connsiteX1" fmla="*/ 1685724 w 3208793"/>
              <a:gd name="connsiteY1" fmla="*/ 498052 h 2114021"/>
              <a:gd name="connsiteX2" fmla="*/ 3104046 w 3208793"/>
              <a:gd name="connsiteY2" fmla="*/ 498052 h 2114021"/>
              <a:gd name="connsiteX3" fmla="*/ 3208793 w 3208793"/>
              <a:gd name="connsiteY3" fmla="*/ 602799 h 2114021"/>
              <a:gd name="connsiteX4" fmla="*/ 3208793 w 3208793"/>
              <a:gd name="connsiteY4" fmla="*/ 2009274 h 2114021"/>
              <a:gd name="connsiteX5" fmla="*/ 3104046 w 3208793"/>
              <a:gd name="connsiteY5" fmla="*/ 2114021 h 2114021"/>
              <a:gd name="connsiteX6" fmla="*/ 104747 w 3208793"/>
              <a:gd name="connsiteY6" fmla="*/ 2114021 h 2114021"/>
              <a:gd name="connsiteX7" fmla="*/ 0 w 3208793"/>
              <a:gd name="connsiteY7" fmla="*/ 2009274 h 2114021"/>
              <a:gd name="connsiteX8" fmla="*/ 0 w 3208793"/>
              <a:gd name="connsiteY8" fmla="*/ 602799 h 2114021"/>
              <a:gd name="connsiteX9" fmla="*/ 104747 w 3208793"/>
              <a:gd name="connsiteY9" fmla="*/ 498052 h 2114021"/>
              <a:gd name="connsiteX10" fmla="*/ 1529706 w 3208793"/>
              <a:gd name="connsiteY10" fmla="*/ 498052 h 211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08793" h="2114021">
                <a:moveTo>
                  <a:pt x="1607715" y="0"/>
                </a:moveTo>
                <a:lnTo>
                  <a:pt x="1685724" y="498052"/>
                </a:lnTo>
                <a:lnTo>
                  <a:pt x="3104046" y="498052"/>
                </a:lnTo>
                <a:cubicBezTo>
                  <a:pt x="3161896" y="498052"/>
                  <a:pt x="3208793" y="544949"/>
                  <a:pt x="3208793" y="602799"/>
                </a:cubicBezTo>
                <a:lnTo>
                  <a:pt x="3208793" y="2009274"/>
                </a:lnTo>
                <a:cubicBezTo>
                  <a:pt x="3208793" y="2067124"/>
                  <a:pt x="3161896" y="2114021"/>
                  <a:pt x="3104046" y="2114021"/>
                </a:cubicBezTo>
                <a:lnTo>
                  <a:pt x="104747" y="2114021"/>
                </a:lnTo>
                <a:cubicBezTo>
                  <a:pt x="46897" y="2114021"/>
                  <a:pt x="0" y="2067124"/>
                  <a:pt x="0" y="2009274"/>
                </a:cubicBezTo>
                <a:lnTo>
                  <a:pt x="0" y="602799"/>
                </a:lnTo>
                <a:cubicBezTo>
                  <a:pt x="0" y="544949"/>
                  <a:pt x="46897" y="498052"/>
                  <a:pt x="104747" y="498052"/>
                </a:cubicBezTo>
                <a:lnTo>
                  <a:pt x="1529706" y="498052"/>
                </a:lnTo>
                <a:close/>
              </a:path>
            </a:pathLst>
          </a:cu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131" name="文本框 130"/>
          <p:cNvSpPr txBox="1"/>
          <p:nvPr/>
        </p:nvSpPr>
        <p:spPr>
          <a:xfrm>
            <a:off x="6378268" y="2525756"/>
            <a:ext cx="1723245" cy="922020"/>
          </a:xfrm>
          <a:prstGeom prst="rect">
            <a:avLst/>
          </a:prstGeom>
          <a:noFill/>
        </p:spPr>
        <p:txBody>
          <a:bodyPr wrap="square" rtlCol="0">
            <a:spAutoFit/>
          </a:bodyPr>
          <a:lstStyle/>
          <a:p>
            <a:r>
              <a:rPr kumimoji="1" lang="en-US" altLang="zh-CN" sz="5400" b="1" dirty="0">
                <a:solidFill>
                  <a:schemeClr val="accent5"/>
                </a:solidFill>
                <a:latin typeface="微软雅黑" panose="020B0503020204020204" charset="-122"/>
                <a:ea typeface="微软雅黑" panose="020B0503020204020204" charset="-122"/>
                <a:cs typeface="微软雅黑" panose="020B0503020204020204" charset="-122"/>
              </a:rPr>
              <a:t>60%</a:t>
            </a:r>
            <a:endParaRPr kumimoji="1" lang="en-US" altLang="zh-CN" sz="54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32" name="文本框 131"/>
          <p:cNvSpPr txBox="1"/>
          <p:nvPr/>
        </p:nvSpPr>
        <p:spPr>
          <a:xfrm>
            <a:off x="6396557" y="3340374"/>
            <a:ext cx="3031528" cy="691087"/>
          </a:xfrm>
          <a:prstGeom prst="rect">
            <a:avLst/>
          </a:prstGeom>
          <a:noFill/>
        </p:spPr>
        <p:txBody>
          <a:bodyPr wrap="square" rtlCol="0">
            <a:spAutoFit/>
          </a:bodyPr>
          <a:lstStyle/>
          <a:p>
            <a:pPr algn="just">
              <a:lnSpc>
                <a:spcPct val="15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rPr>
              <a:t>按照项目计划执行，确保项目按时交付；持续监控项目进度，及时应对风险；保持团队有效沟通，及时更新项目进展和问题解决方案。</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5" name="椭圆 134"/>
          <p:cNvSpPr/>
          <p:nvPr/>
        </p:nvSpPr>
        <p:spPr>
          <a:xfrm>
            <a:off x="8792210" y="2679700"/>
            <a:ext cx="521970" cy="521970"/>
          </a:xfrm>
          <a:prstGeom prst="ellipse">
            <a:avLst/>
          </a:prstGeom>
          <a:solidFill>
            <a:schemeClr val="bg1"/>
          </a:solidFill>
          <a:ln w="317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136"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976084" y="2522741"/>
            <a:ext cx="841209" cy="1322221"/>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panose="00000600000000000000"/>
                <a:ea typeface="Barlow Medium" panose="00000600000000000000"/>
                <a:cs typeface="Barlow Medium" panose="00000600000000000000"/>
                <a:sym typeface="Barlow Medium" panose="00000600000000000000"/>
              </a:defRPr>
            </a:lvl1pPr>
          </a:lstStyle>
          <a:p>
            <a:pPr algn="just">
              <a:lnSpc>
                <a:spcPct val="150000"/>
              </a:lnSpc>
            </a:pPr>
            <a:r>
              <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确立项目目标和范围；组建项目团队；制定详细的项目执行计划，包括工作分解、时间表、资源分配和风险应对。</a:t>
            </a:r>
            <a:endPar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5"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9841111" y="2522741"/>
            <a:ext cx="841209" cy="1506887"/>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panose="00000600000000000000"/>
                <a:ea typeface="Barlow Medium" panose="00000600000000000000"/>
                <a:cs typeface="Barlow Medium" panose="00000600000000000000"/>
                <a:sym typeface="Barlow Medium" panose="00000600000000000000"/>
              </a:defRPr>
            </a:lvl1pPr>
          </a:lstStyle>
          <a:p>
            <a:pPr algn="just">
              <a:lnSpc>
                <a:spcPct val="150000"/>
              </a:lnSpc>
            </a:pPr>
            <a:r>
              <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确保项目交付的成果符合质量标准和客户要求，完成项目验收和交付流程。对项目的整体执行过程进行回顾和评估。</a:t>
            </a:r>
            <a:endParaRPr kumimoji="1" lang="zh-CN" altLang="en-US" sz="8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8" name="Freeform 90"/>
          <p:cNvSpPr/>
          <p:nvPr/>
        </p:nvSpPr>
        <p:spPr>
          <a:xfrm>
            <a:off x="4287504" y="3994772"/>
            <a:ext cx="216271" cy="216275"/>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chemeClr val="accent1">
              <a:lumMod val="60000"/>
              <a:lumOff val="40000"/>
            </a:schemeClr>
          </a:solidFill>
          <a:ln w="12700" cap="flat">
            <a:noFill/>
            <a:miter lim="400000"/>
          </a:ln>
          <a:effectLst/>
        </p:spPr>
        <p:txBody>
          <a:bodyPr wrap="square" lIns="22860" tIns="22860" rIns="22860" bIns="22860" numCol="1" anchor="ctr">
            <a:noAutofit/>
          </a:bodyP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9" name="Freeform 90"/>
          <p:cNvSpPr/>
          <p:nvPr/>
        </p:nvSpPr>
        <p:spPr>
          <a:xfrm>
            <a:off x="10147284" y="3994772"/>
            <a:ext cx="216271" cy="216275"/>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chemeClr val="accent1"/>
          </a:solidFill>
          <a:ln w="12700" cap="flat">
            <a:noFill/>
            <a:miter lim="400000"/>
          </a:ln>
          <a:effectLst/>
        </p:spPr>
        <p:txBody>
          <a:bodyPr wrap="square" lIns="22860" tIns="22860" rIns="22860" bIns="22860" numCol="1" anchor="ctr">
            <a:noAutofit/>
          </a:bodyP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43" name="图片 42" descr="数据服务"/>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34120" y="2729865"/>
            <a:ext cx="386080" cy="386080"/>
          </a:xfrm>
          <a:prstGeom prst="rect">
            <a:avLst/>
          </a:prstGeom>
        </p:spPr>
      </p:pic>
      <p:cxnSp>
        <p:nvCxnSpPr>
          <p:cNvPr id="3"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8738235" y="348615"/>
            <a:ext cx="3219450" cy="332740"/>
            <a:chOff x="13761" y="549"/>
            <a:chExt cx="5070" cy="524"/>
          </a:xfrm>
        </p:grpSpPr>
        <p:pic>
          <p:nvPicPr>
            <p:cNvPr id="6" name="图片 5"/>
            <p:cNvPicPr>
              <a:picLocks noChangeAspect="1"/>
            </p:cNvPicPr>
            <p:nvPr userDrawn="1"/>
          </p:nvPicPr>
          <p:blipFill>
            <a:blip r:embed="rId5"/>
            <a:srcRect l="17002" t="-1765" r="56499" b="-1176"/>
            <a:stretch>
              <a:fillRect/>
            </a:stretch>
          </p:blipFill>
          <p:spPr>
            <a:xfrm>
              <a:off x="13761" y="549"/>
              <a:ext cx="1582" cy="525"/>
            </a:xfrm>
            <a:prstGeom prst="rect">
              <a:avLst/>
            </a:prstGeom>
          </p:spPr>
        </p:pic>
        <p:sp>
          <p:nvSpPr>
            <p:cNvPr id="11" name="文本框 10"/>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天蝎PPT原创©18"/>
          <p:cNvSpPr/>
          <p:nvPr/>
        </p:nvSpPr>
        <p:spPr>
          <a:xfrm rot="5400000">
            <a:off x="5872206" y="-4345145"/>
            <a:ext cx="780763" cy="11389299"/>
          </a:xfrm>
          <a:custGeom>
            <a:avLst/>
            <a:gdLst>
              <a:gd name="connsiteX0" fmla="*/ 0 w 298898"/>
              <a:gd name="connsiteY0" fmla="*/ 257670 h 10698196"/>
              <a:gd name="connsiteX1" fmla="*/ 149449 w 298898"/>
              <a:gd name="connsiteY1" fmla="*/ 0 h 10698196"/>
              <a:gd name="connsiteX2" fmla="*/ 298898 w 298898"/>
              <a:gd name="connsiteY2" fmla="*/ 257670 h 10698196"/>
              <a:gd name="connsiteX3" fmla="*/ 213612 w 298898"/>
              <a:gd name="connsiteY3" fmla="*/ 257670 h 10698196"/>
              <a:gd name="connsiteX4" fmla="*/ 213612 w 298898"/>
              <a:gd name="connsiteY4" fmla="*/ 10698196 h 10698196"/>
              <a:gd name="connsiteX5" fmla="*/ 87002 w 298898"/>
              <a:gd name="connsiteY5" fmla="*/ 10698196 h 10698196"/>
              <a:gd name="connsiteX6" fmla="*/ 87002 w 298898"/>
              <a:gd name="connsiteY6" fmla="*/ 257670 h 10698196"/>
              <a:gd name="connsiteX0-1" fmla="*/ 0 w 270261"/>
              <a:gd name="connsiteY0-2" fmla="*/ 271117 h 10698196"/>
              <a:gd name="connsiteX1-3" fmla="*/ 120812 w 270261"/>
              <a:gd name="connsiteY1-4" fmla="*/ 0 h 10698196"/>
              <a:gd name="connsiteX2-5" fmla="*/ 270261 w 270261"/>
              <a:gd name="connsiteY2-6" fmla="*/ 257670 h 10698196"/>
              <a:gd name="connsiteX3-7" fmla="*/ 184975 w 270261"/>
              <a:gd name="connsiteY3-8" fmla="*/ 257670 h 10698196"/>
              <a:gd name="connsiteX4-9" fmla="*/ 184975 w 270261"/>
              <a:gd name="connsiteY4-10" fmla="*/ 10698196 h 10698196"/>
              <a:gd name="connsiteX5-11" fmla="*/ 58365 w 270261"/>
              <a:gd name="connsiteY5-12" fmla="*/ 10698196 h 10698196"/>
              <a:gd name="connsiteX6-13" fmla="*/ 58365 w 270261"/>
              <a:gd name="connsiteY6-14" fmla="*/ 257670 h 10698196"/>
              <a:gd name="connsiteX7" fmla="*/ 0 w 270261"/>
              <a:gd name="connsiteY7" fmla="*/ 271117 h 10698196"/>
              <a:gd name="connsiteX0-15" fmla="*/ 0 w 270261"/>
              <a:gd name="connsiteY0-16" fmla="*/ 432483 h 10859562"/>
              <a:gd name="connsiteX1-17" fmla="*/ 120813 w 270261"/>
              <a:gd name="connsiteY1-18" fmla="*/ 0 h 10859562"/>
              <a:gd name="connsiteX2-19" fmla="*/ 270261 w 270261"/>
              <a:gd name="connsiteY2-20" fmla="*/ 419036 h 10859562"/>
              <a:gd name="connsiteX3-21" fmla="*/ 184975 w 270261"/>
              <a:gd name="connsiteY3-22" fmla="*/ 419036 h 10859562"/>
              <a:gd name="connsiteX4-23" fmla="*/ 184975 w 270261"/>
              <a:gd name="connsiteY4-24" fmla="*/ 10859562 h 10859562"/>
              <a:gd name="connsiteX5-25" fmla="*/ 58365 w 270261"/>
              <a:gd name="connsiteY5-26" fmla="*/ 10859562 h 10859562"/>
              <a:gd name="connsiteX6-27" fmla="*/ 58365 w 270261"/>
              <a:gd name="connsiteY6-28" fmla="*/ 419036 h 10859562"/>
              <a:gd name="connsiteX7-29" fmla="*/ 0 w 270261"/>
              <a:gd name="connsiteY7-30" fmla="*/ 432483 h 10859562"/>
              <a:gd name="connsiteX0-31" fmla="*/ 0 w 237533"/>
              <a:gd name="connsiteY0-32" fmla="*/ 432483 h 10859562"/>
              <a:gd name="connsiteX1-33" fmla="*/ 120813 w 237533"/>
              <a:gd name="connsiteY1-34" fmla="*/ 0 h 10859562"/>
              <a:gd name="connsiteX2-35" fmla="*/ 237533 w 237533"/>
              <a:gd name="connsiteY2-36" fmla="*/ 405589 h 10859562"/>
              <a:gd name="connsiteX3-37" fmla="*/ 184975 w 237533"/>
              <a:gd name="connsiteY3-38" fmla="*/ 419036 h 10859562"/>
              <a:gd name="connsiteX4-39" fmla="*/ 184975 w 237533"/>
              <a:gd name="connsiteY4-40" fmla="*/ 10859562 h 10859562"/>
              <a:gd name="connsiteX5-41" fmla="*/ 58365 w 237533"/>
              <a:gd name="connsiteY5-42" fmla="*/ 10859562 h 10859562"/>
              <a:gd name="connsiteX6-43" fmla="*/ 58365 w 237533"/>
              <a:gd name="connsiteY6-44" fmla="*/ 419036 h 10859562"/>
              <a:gd name="connsiteX7-45" fmla="*/ 0 w 237533"/>
              <a:gd name="connsiteY7-46" fmla="*/ 432483 h 108595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29" y="connsiteY7-30"/>
              </a:cxn>
            </a:cxnLst>
            <a:rect l="l" t="t" r="r" b="b"/>
            <a:pathLst>
              <a:path w="237533" h="10859562">
                <a:moveTo>
                  <a:pt x="0" y="432483"/>
                </a:moveTo>
                <a:lnTo>
                  <a:pt x="120813" y="0"/>
                </a:lnTo>
                <a:lnTo>
                  <a:pt x="237533" y="405589"/>
                </a:lnTo>
                <a:lnTo>
                  <a:pt x="184975" y="419036"/>
                </a:lnTo>
                <a:lnTo>
                  <a:pt x="184975" y="10859562"/>
                </a:lnTo>
                <a:lnTo>
                  <a:pt x="58365" y="10859562"/>
                </a:lnTo>
                <a:lnTo>
                  <a:pt x="58365" y="419036"/>
                </a:lnTo>
                <a:cubicBezTo>
                  <a:pt x="29364" y="419036"/>
                  <a:pt x="29001" y="432483"/>
                  <a:pt x="0" y="432483"/>
                </a:cubicBezTo>
                <a:close/>
              </a:path>
            </a:pathLst>
          </a:custGeom>
          <a:solidFill>
            <a:schemeClr val="accent5">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年度项目规划表</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3" name="天蝎PPT原创©1-1"/>
          <p:cNvSpPr/>
          <p:nvPr/>
        </p:nvSpPr>
        <p:spPr>
          <a:xfrm>
            <a:off x="361950" y="1732915"/>
            <a:ext cx="2812415" cy="3703320"/>
          </a:xfrm>
          <a:prstGeom prst="rect">
            <a:avLst/>
          </a:prstGeom>
          <a:solidFill>
            <a:schemeClr val="accent1">
              <a:lumMod val="20000"/>
              <a:lumOff val="80000"/>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6" name="天蝎PPT原创©1-2"/>
          <p:cNvSpPr/>
          <p:nvPr/>
        </p:nvSpPr>
        <p:spPr>
          <a:xfrm>
            <a:off x="3291840" y="1732915"/>
            <a:ext cx="2812415" cy="3703320"/>
          </a:xfrm>
          <a:prstGeom prst="rect">
            <a:avLst/>
          </a:prstGeom>
          <a:solidFill>
            <a:schemeClr val="accent1">
              <a:lumMod val="20000"/>
              <a:lumOff val="80000"/>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7" name="天蝎PPT原创©1-3"/>
          <p:cNvSpPr/>
          <p:nvPr/>
        </p:nvSpPr>
        <p:spPr>
          <a:xfrm>
            <a:off x="6205220" y="1732915"/>
            <a:ext cx="2812415" cy="3702685"/>
          </a:xfrm>
          <a:prstGeom prst="rect">
            <a:avLst/>
          </a:prstGeom>
          <a:solidFill>
            <a:schemeClr val="accent1">
              <a:lumMod val="20000"/>
              <a:lumOff val="80000"/>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9" name="天蝎PPT原创©1-4"/>
          <p:cNvSpPr/>
          <p:nvPr/>
        </p:nvSpPr>
        <p:spPr>
          <a:xfrm>
            <a:off x="9135110" y="1732915"/>
            <a:ext cx="2812415" cy="3702685"/>
          </a:xfrm>
          <a:prstGeom prst="rect">
            <a:avLst/>
          </a:prstGeom>
          <a:solidFill>
            <a:schemeClr val="accent1">
              <a:lumMod val="20000"/>
              <a:lumOff val="80000"/>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10" name="天蝎PPT原创©2-1"/>
          <p:cNvSpPr/>
          <p:nvPr/>
        </p:nvSpPr>
        <p:spPr>
          <a:xfrm>
            <a:off x="372110" y="1731010"/>
            <a:ext cx="2812415" cy="983615"/>
          </a:xfrm>
          <a:prstGeom prst="rect">
            <a:avLst/>
          </a:prstGeom>
          <a:gradFill flip="none" rotWithShape="1">
            <a:gsLst>
              <a:gs pos="29000">
                <a:schemeClr val="accent1"/>
              </a:gs>
              <a:gs pos="99000">
                <a:schemeClr val="accent1">
                  <a:lumMod val="80000"/>
                  <a:lumOff val="20000"/>
                </a:schemeClr>
              </a:gs>
            </a:gsLst>
            <a:lin ang="135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11" name="天蝎PPT原创©2-2"/>
          <p:cNvSpPr/>
          <p:nvPr/>
        </p:nvSpPr>
        <p:spPr>
          <a:xfrm>
            <a:off x="3302000" y="1731010"/>
            <a:ext cx="2812415" cy="983615"/>
          </a:xfrm>
          <a:prstGeom prst="rect">
            <a:avLst/>
          </a:prstGeom>
          <a:gradFill flip="none" rotWithShape="1">
            <a:gsLst>
              <a:gs pos="29000">
                <a:schemeClr val="accent1">
                  <a:lumMod val="60000"/>
                  <a:lumOff val="40000"/>
                </a:schemeClr>
              </a:gs>
              <a:gs pos="98000">
                <a:schemeClr val="accent1">
                  <a:lumMod val="40000"/>
                  <a:lumOff val="60000"/>
                </a:schemeClr>
              </a:gs>
            </a:gsLst>
            <a:lin ang="135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12" name="天蝎PPT原创©2-3"/>
          <p:cNvSpPr/>
          <p:nvPr/>
        </p:nvSpPr>
        <p:spPr>
          <a:xfrm>
            <a:off x="6214745" y="1731010"/>
            <a:ext cx="2812415" cy="983615"/>
          </a:xfrm>
          <a:prstGeom prst="rect">
            <a:avLst/>
          </a:prstGeom>
          <a:gradFill flip="none" rotWithShape="1">
            <a:gsLst>
              <a:gs pos="29000">
                <a:schemeClr val="accent1"/>
              </a:gs>
              <a:gs pos="99000">
                <a:schemeClr val="accent1">
                  <a:lumMod val="80000"/>
                  <a:lumOff val="20000"/>
                </a:schemeClr>
              </a:gs>
            </a:gsLst>
            <a:lin ang="135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13" name="天蝎PPT原创©2-4"/>
          <p:cNvSpPr/>
          <p:nvPr/>
        </p:nvSpPr>
        <p:spPr>
          <a:xfrm>
            <a:off x="9144635" y="1731010"/>
            <a:ext cx="2812415" cy="983615"/>
          </a:xfrm>
          <a:prstGeom prst="rect">
            <a:avLst/>
          </a:prstGeom>
          <a:gradFill flip="none" rotWithShape="1">
            <a:gsLst>
              <a:gs pos="29000">
                <a:schemeClr val="accent1">
                  <a:lumMod val="60000"/>
                  <a:lumOff val="40000"/>
                </a:schemeClr>
              </a:gs>
              <a:gs pos="98000">
                <a:schemeClr val="accent1">
                  <a:lumMod val="40000"/>
                  <a:lumOff val="60000"/>
                </a:schemeClr>
              </a:gs>
            </a:gsLst>
            <a:lin ang="135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44" name="天蝎PPT原创©7"/>
          <p:cNvSpPr/>
          <p:nvPr>
            <p:custDataLst>
              <p:tags r:id="rId3"/>
            </p:custDataLst>
          </p:nvPr>
        </p:nvSpPr>
        <p:spPr>
          <a:xfrm>
            <a:off x="371833" y="5567848"/>
            <a:ext cx="1854681" cy="990293"/>
          </a:xfrm>
          <a:prstGeom prst="rect">
            <a:avLst/>
          </a:prstGeom>
          <a:gradFill>
            <a:gsLst>
              <a:gs pos="29000">
                <a:schemeClr val="accent5"/>
              </a:gs>
              <a:gs pos="99000">
                <a:schemeClr val="accent5">
                  <a:lumMod val="60000"/>
                  <a:lumOff val="40000"/>
                </a:schemeClr>
              </a:gs>
            </a:gsLst>
            <a:lin ang="135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latin typeface="微软雅黑" panose="020B0503020204020204" charset="-122"/>
              <a:ea typeface="微软雅黑" panose="020B0503020204020204" charset="-122"/>
              <a:cs typeface="+mn-ea"/>
              <a:sym typeface="Arial" panose="020B0604020202020204" pitchFamily="34" charset="0"/>
            </a:endParaRPr>
          </a:p>
        </p:txBody>
      </p:sp>
      <p:sp>
        <p:nvSpPr>
          <p:cNvPr id="345" name="天蝎PPT原创©8"/>
          <p:cNvSpPr/>
          <p:nvPr>
            <p:custDataLst>
              <p:tags r:id="rId4"/>
            </p:custDataLst>
          </p:nvPr>
        </p:nvSpPr>
        <p:spPr>
          <a:xfrm>
            <a:off x="2302525" y="5567848"/>
            <a:ext cx="9654713" cy="990293"/>
          </a:xfrm>
          <a:prstGeom prst="rect">
            <a:avLst/>
          </a:prstGeom>
          <a:solidFill>
            <a:schemeClr val="accent5">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kumimoji="1"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377" name="天蝎PPT原创©9"/>
          <p:cNvSpPr txBox="1"/>
          <p:nvPr/>
        </p:nvSpPr>
        <p:spPr>
          <a:xfrm>
            <a:off x="2633926" y="5702051"/>
            <a:ext cx="1441420" cy="688330"/>
          </a:xfrm>
          <a:prstGeom prst="rect">
            <a:avLst/>
          </a:prstGeom>
          <a:noFill/>
        </p:spPr>
        <p:txBody>
          <a:bodyPr wrap="none">
            <a:spAutoFit/>
          </a:bodyPr>
          <a:lstStyle>
            <a:defPPr>
              <a:defRPr lang="zh-CN"/>
            </a:defPPr>
            <a:lvl1pPr>
              <a:defRPr sz="1200">
                <a:solidFill>
                  <a:schemeClr val="tx1">
                    <a:lumMod val="75000"/>
                    <a:lumOff val="25000"/>
                  </a:schemeClr>
                </a:solidFill>
                <a:latin typeface="+mj-ea"/>
                <a:ea typeface="+mj-ea"/>
              </a:defRPr>
            </a:lvl1pPr>
          </a:lstStyle>
          <a:p>
            <a:pPr algn="ctr">
              <a:lnSpc>
                <a:spcPct val="120000"/>
              </a:lnSpc>
              <a:defRPr/>
            </a:pPr>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全年累计销售额</a:t>
            </a:r>
            <a:endParaRPr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lang="en-US" altLang="zh-CN" sz="20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2</a:t>
            </a:r>
            <a:r>
              <a:rPr kumimoji="0" lang="en-US" altLang="zh-CN" sz="2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rPr>
              <a:t>005 </a:t>
            </a:r>
            <a:r>
              <a:rPr kumimoji="0" lang="zh-CN" altLang="en-US" sz="14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rPr>
              <a:t>万元</a:t>
            </a:r>
            <a:endParaRPr kumimoji="0" lang="zh-CN" altLang="en-US" sz="14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378" name="天蝎PPT原创©10"/>
          <p:cNvCxnSpPr/>
          <p:nvPr/>
        </p:nvCxnSpPr>
        <p:spPr>
          <a:xfrm>
            <a:off x="4307409" y="5792580"/>
            <a:ext cx="0" cy="497676"/>
          </a:xfrm>
          <a:prstGeom prst="line">
            <a:avLst/>
          </a:prstGeom>
          <a:ln w="6350">
            <a:solidFill>
              <a:schemeClr val="tx2">
                <a:alpha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379" name="天蝎PPT原创©11"/>
          <p:cNvSpPr txBox="1"/>
          <p:nvPr/>
        </p:nvSpPr>
        <p:spPr>
          <a:xfrm>
            <a:off x="4719013" y="5702051"/>
            <a:ext cx="1082348" cy="686278"/>
          </a:xfrm>
          <a:prstGeom prst="rect">
            <a:avLst/>
          </a:prstGeom>
          <a:noFill/>
        </p:spPr>
        <p:txBody>
          <a:bodyPr wrap="none">
            <a:spAutoFit/>
          </a:bodyPr>
          <a:lstStyle>
            <a:defPPr>
              <a:defRPr lang="zh-CN"/>
            </a:defPPr>
            <a:lvl1pPr>
              <a:defRPr sz="1200">
                <a:solidFill>
                  <a:schemeClr val="tx1">
                    <a:lumMod val="75000"/>
                    <a:lumOff val="25000"/>
                  </a:schemeClr>
                </a:solidFill>
                <a:latin typeface="+mj-ea"/>
                <a:ea typeface="+mj-ea"/>
              </a:defRPr>
            </a:lvl1pPr>
          </a:lstStyle>
          <a:p>
            <a:pPr algn="ctr">
              <a:lnSpc>
                <a:spcPct val="120000"/>
              </a:lnSpc>
              <a:defRPr/>
            </a:pPr>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团队扩充至</a:t>
            </a:r>
            <a:endParaRPr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ctr">
              <a:lnSpc>
                <a:spcPct val="120000"/>
              </a:lnSpc>
              <a:defRPr/>
            </a:pPr>
            <a:r>
              <a:rPr lang="en-US" altLang="zh-CN" sz="20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25</a:t>
            </a:r>
            <a:r>
              <a:rPr lang="zh-CN" altLang="en-US" sz="14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人</a:t>
            </a:r>
            <a:endParaRPr lang="zh-CN" altLang="en-US" sz="14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80" name="天蝎PPT原创©12"/>
          <p:cNvSpPr txBox="1"/>
          <p:nvPr/>
        </p:nvSpPr>
        <p:spPr>
          <a:xfrm>
            <a:off x="6534788" y="5702051"/>
            <a:ext cx="1261884" cy="686278"/>
          </a:xfrm>
          <a:prstGeom prst="rect">
            <a:avLst/>
          </a:prstGeom>
          <a:noFill/>
        </p:spPr>
        <p:txBody>
          <a:bodyPr wrap="none">
            <a:spAutoFit/>
          </a:bodyPr>
          <a:lstStyle>
            <a:defPPr>
              <a:defRPr lang="zh-CN"/>
            </a:defPPr>
            <a:lvl1pPr>
              <a:defRPr sz="1200">
                <a:solidFill>
                  <a:schemeClr val="tx1">
                    <a:lumMod val="75000"/>
                    <a:lumOff val="25000"/>
                  </a:schemeClr>
                </a:solidFill>
                <a:latin typeface="+mj-ea"/>
                <a:ea typeface="+mj-ea"/>
              </a:defRPr>
            </a:lvl1pPr>
          </a:lstStyle>
          <a:p>
            <a:pPr algn="ctr">
              <a:lnSpc>
                <a:spcPct val="120000"/>
              </a:lnSpc>
              <a:defRPr/>
            </a:pPr>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会员总数突破</a:t>
            </a:r>
            <a:endParaRPr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ctr">
              <a:lnSpc>
                <a:spcPct val="120000"/>
              </a:lnSpc>
              <a:defRPr/>
            </a:pPr>
            <a:r>
              <a:rPr kumimoji="0" lang="en-US" altLang="zh-CN" sz="2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rPr>
              <a:t>15</a:t>
            </a:r>
            <a:r>
              <a:rPr lang="zh-CN" altLang="en-US" sz="14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万人次</a:t>
            </a:r>
            <a:endParaRPr lang="zh-CN" altLang="en-US" sz="14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81" name="天蝎PPT原创©13"/>
          <p:cNvSpPr txBox="1"/>
          <p:nvPr/>
        </p:nvSpPr>
        <p:spPr>
          <a:xfrm>
            <a:off x="8207898" y="5702051"/>
            <a:ext cx="1726755" cy="686278"/>
          </a:xfrm>
          <a:prstGeom prst="rect">
            <a:avLst/>
          </a:prstGeom>
          <a:noFill/>
        </p:spPr>
        <p:txBody>
          <a:bodyPr wrap="none">
            <a:spAutoFit/>
          </a:bodyPr>
          <a:lstStyle>
            <a:defPPr>
              <a:defRPr lang="zh-CN"/>
            </a:defPPr>
            <a:lvl1pPr>
              <a:defRPr sz="1200">
                <a:solidFill>
                  <a:schemeClr val="tx1">
                    <a:lumMod val="75000"/>
                    <a:lumOff val="25000"/>
                  </a:schemeClr>
                </a:solidFill>
                <a:latin typeface="+mj-ea"/>
                <a:ea typeface="+mj-ea"/>
              </a:defRPr>
            </a:lvl1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rPr>
              <a:t>VIP</a:t>
            </a:r>
            <a:r>
              <a:rPr kumimoji="0" lang="zh-CN" altLang="en-US" sz="14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rPr>
              <a:t>客户服务覆盖率</a:t>
            </a:r>
            <a:endParaRPr kumimoji="0" lang="en-US" altLang="zh-CN" sz="14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ctr">
              <a:lnSpc>
                <a:spcPct val="120000"/>
              </a:lnSpc>
              <a:defRPr/>
            </a:pPr>
            <a:r>
              <a:rPr lang="en-US" altLang="zh-CN" sz="20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100%</a:t>
            </a:r>
            <a:endParaRPr lang="en-US" altLang="zh-CN" sz="20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383" name="天蝎PPT原创©14"/>
          <p:cNvCxnSpPr/>
          <p:nvPr/>
        </p:nvCxnSpPr>
        <p:spPr>
          <a:xfrm>
            <a:off x="6212955" y="5792580"/>
            <a:ext cx="0" cy="497676"/>
          </a:xfrm>
          <a:prstGeom prst="line">
            <a:avLst/>
          </a:prstGeom>
          <a:ln w="6350">
            <a:solidFill>
              <a:schemeClr val="tx2">
                <a:alpha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384" name="天蝎PPT原创©15"/>
          <p:cNvCxnSpPr/>
          <p:nvPr/>
        </p:nvCxnSpPr>
        <p:spPr>
          <a:xfrm>
            <a:off x="8118501" y="5792580"/>
            <a:ext cx="0" cy="497676"/>
          </a:xfrm>
          <a:prstGeom prst="line">
            <a:avLst/>
          </a:prstGeom>
          <a:ln w="6350">
            <a:solidFill>
              <a:schemeClr val="tx2">
                <a:alpha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385" name="天蝎PPT原创©16"/>
          <p:cNvCxnSpPr/>
          <p:nvPr/>
        </p:nvCxnSpPr>
        <p:spPr>
          <a:xfrm>
            <a:off x="10024047" y="5792580"/>
            <a:ext cx="0" cy="497676"/>
          </a:xfrm>
          <a:prstGeom prst="line">
            <a:avLst/>
          </a:prstGeom>
          <a:ln w="6350">
            <a:solidFill>
              <a:schemeClr val="tx2">
                <a:alpha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389" name="天蝎PPT原创©17"/>
          <p:cNvSpPr/>
          <p:nvPr/>
        </p:nvSpPr>
        <p:spPr>
          <a:xfrm>
            <a:off x="360671" y="1145514"/>
            <a:ext cx="421067" cy="421067"/>
          </a:xfrm>
          <a:prstGeom prst="ellipse">
            <a:avLst/>
          </a:prstGeom>
          <a:gradFill flip="none" rotWithShape="1">
            <a:gsLst>
              <a:gs pos="29000">
                <a:schemeClr val="accent5"/>
              </a:gs>
              <a:gs pos="99000">
                <a:schemeClr val="accent5">
                  <a:lumMod val="60000"/>
                  <a:lumOff val="40000"/>
                </a:schemeClr>
              </a:gs>
            </a:gsLst>
            <a:lin ang="13500000" scaled="1"/>
            <a:tileRect/>
          </a:gradFill>
          <a:ln>
            <a:noFill/>
          </a:ln>
          <a:effectLst>
            <a:outerShdw blurRad="381000" dist="190500" dir="5400000" sx="90000" sy="90000" algn="ctr" rotWithShape="0">
              <a:schemeClr val="accent5">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94" name="天蝎PPT原创©19"/>
          <p:cNvSpPr txBox="1"/>
          <p:nvPr/>
        </p:nvSpPr>
        <p:spPr>
          <a:xfrm>
            <a:off x="1296668" y="1174169"/>
            <a:ext cx="1334020" cy="338554"/>
          </a:xfrm>
          <a:prstGeom prst="rect">
            <a:avLst/>
          </a:prstGeom>
          <a:noFill/>
        </p:spPr>
        <p:txBody>
          <a:bodyPr wrap="none" rtlCol="0">
            <a:spAutoFit/>
          </a:bodyPr>
          <a:lstStyle/>
          <a:p>
            <a:r>
              <a:rPr kumimoji="1"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一季度</a:t>
            </a:r>
            <a:r>
              <a:rPr kumimoji="1" lang="en-US" altLang="zh-CN" sz="16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1-3</a:t>
            </a:r>
            <a:r>
              <a:rPr kumimoji="1"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月</a:t>
            </a:r>
            <a:endParaRPr kumimoji="1"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95" name="天蝎PPT原创©20"/>
          <p:cNvSpPr txBox="1"/>
          <p:nvPr/>
        </p:nvSpPr>
        <p:spPr>
          <a:xfrm>
            <a:off x="4190723" y="1185933"/>
            <a:ext cx="1334020" cy="338554"/>
          </a:xfrm>
          <a:prstGeom prst="rect">
            <a:avLst/>
          </a:prstGeom>
          <a:noFill/>
        </p:spPr>
        <p:txBody>
          <a:bodyPr wrap="none" rtlCol="0">
            <a:spAutoFit/>
          </a:bodyPr>
          <a:lstStyle/>
          <a:p>
            <a:r>
              <a:rPr kumimoji="1"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二季度</a:t>
            </a:r>
            <a:r>
              <a:rPr kumimoji="1" lang="en-US" altLang="zh-CN" sz="16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4-6</a:t>
            </a:r>
            <a:r>
              <a:rPr kumimoji="1"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月</a:t>
            </a:r>
            <a:endParaRPr kumimoji="1"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96" name="天蝎PPT原创©21"/>
          <p:cNvSpPr txBox="1"/>
          <p:nvPr/>
        </p:nvSpPr>
        <p:spPr>
          <a:xfrm>
            <a:off x="7015586" y="1196093"/>
            <a:ext cx="1334020" cy="338554"/>
          </a:xfrm>
          <a:prstGeom prst="rect">
            <a:avLst/>
          </a:prstGeom>
          <a:noFill/>
        </p:spPr>
        <p:txBody>
          <a:bodyPr wrap="none" rtlCol="0">
            <a:spAutoFit/>
          </a:bodyPr>
          <a:lstStyle/>
          <a:p>
            <a:r>
              <a:rPr kumimoji="1"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三季度</a:t>
            </a:r>
            <a:r>
              <a:rPr kumimoji="1" lang="en-US" altLang="zh-CN" sz="16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7-9</a:t>
            </a:r>
            <a:r>
              <a:rPr kumimoji="1"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月</a:t>
            </a:r>
            <a:endParaRPr kumimoji="1"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97" name="天蝎PPT原创©22"/>
          <p:cNvSpPr txBox="1"/>
          <p:nvPr/>
        </p:nvSpPr>
        <p:spPr>
          <a:xfrm>
            <a:off x="9734641" y="1196093"/>
            <a:ext cx="1574470" cy="338554"/>
          </a:xfrm>
          <a:prstGeom prst="rect">
            <a:avLst/>
          </a:prstGeom>
          <a:noFill/>
        </p:spPr>
        <p:txBody>
          <a:bodyPr wrap="none" rtlCol="0">
            <a:spAutoFit/>
          </a:bodyPr>
          <a:lstStyle/>
          <a:p>
            <a:r>
              <a:rPr kumimoji="1"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四季度</a:t>
            </a:r>
            <a:r>
              <a:rPr kumimoji="1" lang="en-US" altLang="zh-CN" sz="16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10-12</a:t>
            </a:r>
            <a:r>
              <a:rPr kumimoji="1"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月</a:t>
            </a:r>
            <a:endParaRPr kumimoji="1"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16" name="天蝎PPT原创©24"/>
          <p:cNvCxnSpPr/>
          <p:nvPr/>
        </p:nvCxnSpPr>
        <p:spPr>
          <a:xfrm>
            <a:off x="1878666" y="1852380"/>
            <a:ext cx="0" cy="739048"/>
          </a:xfrm>
          <a:prstGeom prst="line">
            <a:avLst/>
          </a:prstGeom>
          <a:ln w="9525">
            <a:solidFill>
              <a:schemeClr val="bg1">
                <a:alpha val="30000"/>
              </a:schemeClr>
            </a:solidFill>
            <a:prstDash val="dash"/>
          </a:ln>
        </p:spPr>
        <p:style>
          <a:lnRef idx="2">
            <a:schemeClr val="accent1"/>
          </a:lnRef>
          <a:fillRef idx="0">
            <a:schemeClr val="accent1"/>
          </a:fillRef>
          <a:effectRef idx="1">
            <a:schemeClr val="accent1"/>
          </a:effectRef>
          <a:fontRef idx="minor">
            <a:schemeClr val="tx1"/>
          </a:fontRef>
        </p:style>
      </p:cxnSp>
      <p:sp>
        <p:nvSpPr>
          <p:cNvPr id="17" name="天蝎PPT原创©25"/>
          <p:cNvSpPr/>
          <p:nvPr/>
        </p:nvSpPr>
        <p:spPr>
          <a:xfrm>
            <a:off x="3279180" y="1145514"/>
            <a:ext cx="421067" cy="421067"/>
          </a:xfrm>
          <a:prstGeom prst="ellipse">
            <a:avLst/>
          </a:prstGeom>
          <a:gradFill flip="none" rotWithShape="1">
            <a:gsLst>
              <a:gs pos="29000">
                <a:schemeClr val="accent5"/>
              </a:gs>
              <a:gs pos="99000">
                <a:schemeClr val="accent5">
                  <a:lumMod val="60000"/>
                  <a:lumOff val="40000"/>
                </a:schemeClr>
              </a:gs>
            </a:gsLst>
            <a:lin ang="13500000" scaled="1"/>
            <a:tileRect/>
          </a:gradFill>
          <a:ln>
            <a:noFill/>
          </a:ln>
          <a:effectLst>
            <a:outerShdw blurRad="381000" dist="190500" dir="5400000" sx="90000" sy="90000" algn="ctr" rotWithShape="0">
              <a:schemeClr val="accent5">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05" name="天蝎PPT原创©27"/>
          <p:cNvSpPr/>
          <p:nvPr/>
        </p:nvSpPr>
        <p:spPr>
          <a:xfrm>
            <a:off x="6174299" y="1145514"/>
            <a:ext cx="421067" cy="421067"/>
          </a:xfrm>
          <a:prstGeom prst="ellipse">
            <a:avLst/>
          </a:prstGeom>
          <a:gradFill flip="none" rotWithShape="1">
            <a:gsLst>
              <a:gs pos="29000">
                <a:schemeClr val="accent5"/>
              </a:gs>
              <a:gs pos="99000">
                <a:schemeClr val="accent5">
                  <a:lumMod val="60000"/>
                  <a:lumOff val="40000"/>
                </a:schemeClr>
              </a:gs>
            </a:gsLst>
            <a:lin ang="13500000" scaled="1"/>
            <a:tileRect/>
          </a:gradFill>
          <a:ln>
            <a:noFill/>
          </a:ln>
          <a:effectLst>
            <a:outerShdw blurRad="381000" dist="190500" dir="5400000" sx="90000" sy="90000" algn="ctr" rotWithShape="0">
              <a:schemeClr val="accent5">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07" name="天蝎PPT原创©29"/>
          <p:cNvSpPr/>
          <p:nvPr/>
        </p:nvSpPr>
        <p:spPr>
          <a:xfrm>
            <a:off x="9038232" y="1145514"/>
            <a:ext cx="421067" cy="421067"/>
          </a:xfrm>
          <a:prstGeom prst="ellipse">
            <a:avLst/>
          </a:prstGeom>
          <a:gradFill flip="none" rotWithShape="1">
            <a:gsLst>
              <a:gs pos="29000">
                <a:schemeClr val="accent5"/>
              </a:gs>
              <a:gs pos="99000">
                <a:schemeClr val="accent5">
                  <a:lumMod val="60000"/>
                  <a:lumOff val="40000"/>
                </a:schemeClr>
              </a:gs>
            </a:gsLst>
            <a:lin ang="13500000" scaled="1"/>
            <a:tileRect/>
          </a:gradFill>
          <a:ln>
            <a:noFill/>
          </a:ln>
          <a:effectLst>
            <a:outerShdw blurRad="381000" dist="190500" dir="5400000" sx="90000" sy="90000" algn="ctr" rotWithShape="0">
              <a:schemeClr val="accent5">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15" name="天蝎PPT原创©31"/>
          <p:cNvSpPr txBox="1"/>
          <p:nvPr/>
        </p:nvSpPr>
        <p:spPr>
          <a:xfrm>
            <a:off x="571691" y="2205564"/>
            <a:ext cx="1107996" cy="369332"/>
          </a:xfrm>
          <a:prstGeom prst="rect">
            <a:avLst/>
          </a:prstGeom>
          <a:noFill/>
        </p:spPr>
        <p:txBody>
          <a:bodyPr wrap="none">
            <a:spAutoFit/>
          </a:bodyPr>
          <a:lstStyle/>
          <a:p>
            <a:pPr algn="ctr"/>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节庆引爆</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16" name="天蝎PPT原创©32"/>
          <p:cNvSpPr/>
          <p:nvPr/>
        </p:nvSpPr>
        <p:spPr>
          <a:xfrm>
            <a:off x="645356" y="1863880"/>
            <a:ext cx="960659" cy="305791"/>
          </a:xfrm>
          <a:prstGeom prst="roundRect">
            <a:avLst>
              <a:gd name="adj" fmla="val 5000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SG" altLang="en-US" sz="12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春节</a:t>
            </a:r>
            <a:endParaRPr lang="zh-SG" altLang="en-US" sz="12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17" name="天蝎PPT原创©33"/>
          <p:cNvSpPr/>
          <p:nvPr/>
        </p:nvSpPr>
        <p:spPr>
          <a:xfrm>
            <a:off x="568419" y="2910251"/>
            <a:ext cx="769349" cy="940924"/>
          </a:xfrm>
          <a:prstGeom prst="roundRect">
            <a:avLst>
              <a:gd name="adj" fmla="val 8390"/>
            </a:avLst>
          </a:prstGeom>
          <a:solidFill>
            <a:schemeClr val="bg1"/>
          </a:solidFill>
          <a:ln w="6350">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18" name="天蝎PPT原创©34"/>
          <p:cNvSpPr/>
          <p:nvPr/>
        </p:nvSpPr>
        <p:spPr>
          <a:xfrm>
            <a:off x="1367485" y="2910251"/>
            <a:ext cx="769349" cy="940924"/>
          </a:xfrm>
          <a:prstGeom prst="roundRect">
            <a:avLst>
              <a:gd name="adj" fmla="val 8390"/>
            </a:avLst>
          </a:prstGeom>
          <a:solidFill>
            <a:schemeClr val="bg1"/>
          </a:solidFill>
          <a:ln w="6350">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2" name="天蝎PPT原创©35"/>
          <p:cNvSpPr/>
          <p:nvPr/>
        </p:nvSpPr>
        <p:spPr>
          <a:xfrm>
            <a:off x="2166552" y="2910251"/>
            <a:ext cx="769349" cy="940924"/>
          </a:xfrm>
          <a:prstGeom prst="roundRect">
            <a:avLst>
              <a:gd name="adj" fmla="val 8390"/>
            </a:avLst>
          </a:prstGeom>
          <a:solidFill>
            <a:schemeClr val="bg1"/>
          </a:solidFill>
          <a:ln w="6350">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3" name="天蝎PPT原创©36"/>
          <p:cNvSpPr txBox="1"/>
          <p:nvPr/>
        </p:nvSpPr>
        <p:spPr>
          <a:xfrm>
            <a:off x="718938" y="3346357"/>
            <a:ext cx="466795" cy="430887"/>
          </a:xfrm>
          <a:prstGeom prst="rect">
            <a:avLst/>
          </a:prstGeom>
          <a:noFill/>
        </p:spPr>
        <p:txBody>
          <a:bodyPr wrap="none" rtlCol="0">
            <a:sp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1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rPr>
              <a:t>主题</a:t>
            </a:r>
            <a:endParaRPr kumimoji="0" lang="en-US" altLang="zh-CN" sz="11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L="0" marR="0" lvl="0" indent="0" algn="ctr" defTabSz="914400" rtl="0" eaLnBrk="1" fontAlgn="auto" latinLnBrk="0" hangingPunct="1">
              <a:spcBef>
                <a:spcPts val="0"/>
              </a:spcBef>
              <a:spcAft>
                <a:spcPts val="0"/>
              </a:spcAft>
              <a:buClrTx/>
              <a:buSzTx/>
              <a:buFontTx/>
              <a:buNone/>
              <a:defRPr/>
            </a:pPr>
            <a:r>
              <a:rPr kumimoji="0" lang="zh-CN" altLang="en-US" sz="11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rPr>
              <a:t>营销</a:t>
            </a:r>
            <a:endParaRPr kumimoji="0" lang="zh-CN" altLang="en-US" sz="11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4" name="天蝎PPT原创©37"/>
          <p:cNvSpPr txBox="1"/>
          <p:nvPr/>
        </p:nvSpPr>
        <p:spPr>
          <a:xfrm>
            <a:off x="1518763" y="3346357"/>
            <a:ext cx="466795" cy="430887"/>
          </a:xfrm>
          <a:prstGeom prst="rect">
            <a:avLst/>
          </a:prstGeom>
          <a:noFill/>
        </p:spPr>
        <p:txBody>
          <a:bodyPr wrap="none" rtlCol="0">
            <a:spAutoFit/>
          </a:bodyPr>
          <a:lstStyle/>
          <a:p>
            <a:pPr algn="ctr">
              <a:defRPr/>
            </a:pPr>
            <a:r>
              <a:rPr lang="zh-CN" altLang="en-US"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新品</a:t>
            </a:r>
            <a:endParaRPr lang="en-US" altLang="zh-CN"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ctr">
              <a:defRPr/>
            </a:pPr>
            <a:r>
              <a:rPr lang="zh-CN" altLang="en-US"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首发</a:t>
            </a:r>
            <a:endParaRPr lang="zh-CN" altLang="en-US"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5" name="天蝎PPT原创©38"/>
          <p:cNvSpPr txBox="1"/>
          <p:nvPr/>
        </p:nvSpPr>
        <p:spPr>
          <a:xfrm>
            <a:off x="2317831" y="3338761"/>
            <a:ext cx="466794" cy="430887"/>
          </a:xfrm>
          <a:prstGeom prst="rect">
            <a:avLst/>
          </a:prstGeom>
          <a:noFill/>
        </p:spPr>
        <p:txBody>
          <a:bodyPr wrap="none" rtlCol="0">
            <a:spAutoFit/>
          </a:bodyPr>
          <a:lstStyle/>
          <a:p>
            <a:pPr marR="0" lvl="0" indent="0" algn="ctr" fontAlgn="auto">
              <a:spcBef>
                <a:spcPts val="0"/>
              </a:spcBef>
              <a:spcAft>
                <a:spcPts val="0"/>
              </a:spcAft>
              <a:buClrTx/>
              <a:buSzTx/>
              <a:buFontTx/>
              <a:buNone/>
              <a:defRPr/>
            </a:pPr>
            <a:r>
              <a:rPr lang="zh-CN" altLang="en-US"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限时</a:t>
            </a:r>
            <a:endParaRPr lang="en-US" altLang="zh-CN"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R="0" lvl="0" indent="0" algn="ctr" fontAlgn="auto">
              <a:spcBef>
                <a:spcPts val="0"/>
              </a:spcBef>
              <a:spcAft>
                <a:spcPts val="0"/>
              </a:spcAft>
              <a:buClrTx/>
              <a:buSzTx/>
              <a:buFontTx/>
              <a:buNone/>
              <a:defRPr/>
            </a:pPr>
            <a:r>
              <a:rPr lang="zh-CN" altLang="en-US"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折扣</a:t>
            </a:r>
            <a:endParaRPr lang="zh-CN" altLang="en-US"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6" name="天蝎PPT原创©39"/>
          <p:cNvSpPr txBox="1"/>
          <p:nvPr/>
        </p:nvSpPr>
        <p:spPr>
          <a:xfrm>
            <a:off x="577991" y="4049172"/>
            <a:ext cx="1554042" cy="261610"/>
          </a:xfrm>
          <a:prstGeom prst="rect">
            <a:avLst/>
          </a:prstGeom>
          <a:noFill/>
        </p:spPr>
        <p:txBody>
          <a:bodyPr wrap="square" rtlCol="0">
            <a:spAutoFit/>
          </a:bodyPr>
          <a:lstStyle/>
          <a:p>
            <a:pPr marL="0" marR="0" lvl="0" indent="0" defTabSz="914400" rtl="0" eaLnBrk="1" fontAlgn="auto" latinLnBrk="0" hangingPunct="1">
              <a:spcBef>
                <a:spcPts val="0"/>
              </a:spcBef>
              <a:spcAft>
                <a:spcPts val="0"/>
              </a:spcAft>
              <a:buClrTx/>
              <a:buSzTx/>
              <a:buFontTx/>
              <a:buNone/>
              <a:defRPr/>
            </a:pPr>
            <a:r>
              <a:rPr kumimoji="0" lang="zh-CN" altLang="en-US" sz="11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rPr>
              <a:t>会员消费占比提升至</a:t>
            </a:r>
            <a:endParaRPr kumimoji="0" lang="zh-CN" altLang="en-US" sz="11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7" name="天蝎PPT原创©40"/>
          <p:cNvSpPr/>
          <p:nvPr/>
        </p:nvSpPr>
        <p:spPr>
          <a:xfrm>
            <a:off x="2220747" y="4080323"/>
            <a:ext cx="732945" cy="229241"/>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42</a:t>
            </a:r>
            <a:r>
              <a:rPr lang="en-US" altLang="zh-SG"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endParaRPr lang="zh-SG" altLang="en-US"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28" name="天蝎PPT原创©41"/>
          <p:cNvCxnSpPr/>
          <p:nvPr/>
        </p:nvCxnSpPr>
        <p:spPr>
          <a:xfrm>
            <a:off x="636151" y="4389601"/>
            <a:ext cx="2367481" cy="0"/>
          </a:xfrm>
          <a:prstGeom prst="line">
            <a:avLst/>
          </a:prstGeom>
          <a:ln w="9525">
            <a:solidFill>
              <a:schemeClr val="accent6">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sp>
        <p:nvSpPr>
          <p:cNvPr id="29" name="天蝎PPT原创©42"/>
          <p:cNvSpPr txBox="1"/>
          <p:nvPr/>
        </p:nvSpPr>
        <p:spPr>
          <a:xfrm>
            <a:off x="565799" y="4438486"/>
            <a:ext cx="1724534" cy="261610"/>
          </a:xfrm>
          <a:prstGeom prst="rect">
            <a:avLst/>
          </a:prstGeom>
          <a:noFill/>
        </p:spPr>
        <p:txBody>
          <a:bodyPr wrap="square" rtlCol="0">
            <a:spAutoFit/>
          </a:bodyPr>
          <a:lstStyle/>
          <a:p>
            <a:pPr marL="0" marR="0" lvl="0" indent="0" defTabSz="914400" rtl="0" eaLnBrk="1" fontAlgn="auto" latinLnBrk="0" hangingPunct="1">
              <a:spcBef>
                <a:spcPts val="0"/>
              </a:spcBef>
              <a:spcAft>
                <a:spcPts val="0"/>
              </a:spcAft>
              <a:buClrTx/>
              <a:buSzTx/>
              <a:buFontTx/>
              <a:buNone/>
              <a:defRPr/>
            </a:pPr>
            <a:r>
              <a:rPr kumimoji="0" lang="zh-CN" altLang="en-US" sz="11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rPr>
              <a:t>活动期间客单价提升至</a:t>
            </a:r>
            <a:endParaRPr kumimoji="0" lang="zh-CN" altLang="en-US" sz="11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0" name="天蝎PPT原创©43"/>
          <p:cNvSpPr/>
          <p:nvPr/>
        </p:nvSpPr>
        <p:spPr>
          <a:xfrm>
            <a:off x="2220747" y="4469638"/>
            <a:ext cx="732945" cy="229241"/>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200</a:t>
            </a:r>
            <a:r>
              <a:rPr lang="zh-CN" altLang="en-US"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以上</a:t>
            </a:r>
            <a:endParaRPr lang="zh-SG" altLang="en-US"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31" name="天蝎PPT原创©44"/>
          <p:cNvCxnSpPr/>
          <p:nvPr/>
        </p:nvCxnSpPr>
        <p:spPr>
          <a:xfrm>
            <a:off x="636151" y="4778916"/>
            <a:ext cx="2367481" cy="0"/>
          </a:xfrm>
          <a:prstGeom prst="line">
            <a:avLst/>
          </a:prstGeom>
          <a:ln w="9525">
            <a:solidFill>
              <a:schemeClr val="accent6">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sp>
        <p:nvSpPr>
          <p:cNvPr id="32" name="天蝎PPT原创©45"/>
          <p:cNvSpPr txBox="1"/>
          <p:nvPr/>
        </p:nvSpPr>
        <p:spPr>
          <a:xfrm>
            <a:off x="560262" y="4878601"/>
            <a:ext cx="1554042" cy="261610"/>
          </a:xfrm>
          <a:prstGeom prst="rect">
            <a:avLst/>
          </a:prstGeom>
          <a:noFill/>
        </p:spPr>
        <p:txBody>
          <a:bodyPr wrap="square" rtlCol="0">
            <a:spAutoFit/>
          </a:bodyPr>
          <a:lstStyle/>
          <a:p>
            <a:pPr marL="0" marR="0" lvl="0" indent="0" defTabSz="914400" rtl="0" eaLnBrk="1" fontAlgn="auto" latinLnBrk="0" hangingPunct="1">
              <a:spcBef>
                <a:spcPts val="0"/>
              </a:spcBef>
              <a:spcAft>
                <a:spcPts val="0"/>
              </a:spcAft>
              <a:buClrTx/>
              <a:buSzTx/>
              <a:buFontTx/>
              <a:buNone/>
              <a:defRPr/>
            </a:pPr>
            <a:r>
              <a:rPr kumimoji="0" lang="zh-CN" altLang="en-US" sz="11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rPr>
              <a:t>门店日均客流量突破</a:t>
            </a:r>
            <a:endParaRPr kumimoji="0" lang="zh-CN" altLang="en-US" sz="11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3" name="天蝎PPT原创©46"/>
          <p:cNvSpPr/>
          <p:nvPr/>
        </p:nvSpPr>
        <p:spPr>
          <a:xfrm>
            <a:off x="2208397" y="4909752"/>
            <a:ext cx="732945" cy="229241"/>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500</a:t>
            </a:r>
            <a:r>
              <a:rPr lang="zh-CN" altLang="en-US"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人次</a:t>
            </a:r>
            <a:endParaRPr lang="zh-SG" altLang="en-US"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443" name="天蝎PPT原创©47"/>
          <p:cNvCxnSpPr/>
          <p:nvPr/>
        </p:nvCxnSpPr>
        <p:spPr>
          <a:xfrm>
            <a:off x="618422" y="5219030"/>
            <a:ext cx="2367481" cy="0"/>
          </a:xfrm>
          <a:prstGeom prst="line">
            <a:avLst/>
          </a:prstGeom>
          <a:ln w="9525">
            <a:solidFill>
              <a:schemeClr val="accent6">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sp>
        <p:nvSpPr>
          <p:cNvPr id="447" name="天蝎PPT原创©48"/>
          <p:cNvSpPr txBox="1"/>
          <p:nvPr/>
        </p:nvSpPr>
        <p:spPr>
          <a:xfrm>
            <a:off x="2061954" y="1832642"/>
            <a:ext cx="902811" cy="753283"/>
          </a:xfrm>
          <a:prstGeom prst="rect">
            <a:avLst/>
          </a:prstGeom>
          <a:noFill/>
        </p:spPr>
        <p:txBody>
          <a:bodyPr wrap="none">
            <a:spAutoFit/>
          </a:bodyPr>
          <a:lstStyle>
            <a:defPPr>
              <a:defRPr lang="zh-CN"/>
            </a:defPPr>
            <a:lvl1pPr>
              <a:defRPr sz="1200">
                <a:solidFill>
                  <a:schemeClr val="tx1">
                    <a:lumMod val="75000"/>
                    <a:lumOff val="25000"/>
                  </a:schemeClr>
                </a:solidFill>
                <a:latin typeface="+mj-ea"/>
                <a:ea typeface="+mj-ea"/>
              </a:defRPr>
            </a:lvl1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rPr>
              <a:t>季度目标</a:t>
            </a:r>
            <a:endParaRPr kumimoji="0" lang="en-US" altLang="zh-CN" sz="14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lang="en-US" altLang="zh-CN" sz="2400"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380</a:t>
            </a:r>
            <a:r>
              <a:rPr lang="zh-CN" altLang="en-US" sz="16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万</a:t>
            </a:r>
            <a:endParaRPr kumimoji="0" lang="en-US" altLang="zh-CN" sz="16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448" name="天蝎PPT原创©49"/>
          <p:cNvCxnSpPr/>
          <p:nvPr/>
        </p:nvCxnSpPr>
        <p:spPr>
          <a:xfrm>
            <a:off x="4761087" y="1852380"/>
            <a:ext cx="0" cy="739048"/>
          </a:xfrm>
          <a:prstGeom prst="line">
            <a:avLst/>
          </a:prstGeom>
          <a:ln w="9525">
            <a:solidFill>
              <a:schemeClr val="bg1">
                <a:alpha val="30000"/>
              </a:schemeClr>
            </a:solidFill>
            <a:prstDash val="dash"/>
          </a:ln>
        </p:spPr>
        <p:style>
          <a:lnRef idx="2">
            <a:schemeClr val="accent1"/>
          </a:lnRef>
          <a:fillRef idx="0">
            <a:schemeClr val="accent1"/>
          </a:fillRef>
          <a:effectRef idx="1">
            <a:schemeClr val="accent1"/>
          </a:effectRef>
          <a:fontRef idx="minor">
            <a:schemeClr val="tx1"/>
          </a:fontRef>
        </p:style>
      </p:cxnSp>
      <p:sp>
        <p:nvSpPr>
          <p:cNvPr id="34" name="天蝎PPT原创©50"/>
          <p:cNvSpPr txBox="1"/>
          <p:nvPr/>
        </p:nvSpPr>
        <p:spPr>
          <a:xfrm>
            <a:off x="3454110" y="2205564"/>
            <a:ext cx="1107996" cy="369332"/>
          </a:xfrm>
          <a:prstGeom prst="rect">
            <a:avLst/>
          </a:prstGeom>
          <a:noFill/>
        </p:spPr>
        <p:txBody>
          <a:bodyPr wrap="none">
            <a:spAutoFit/>
          </a:bodyPr>
          <a:lstStyle/>
          <a:p>
            <a:pPr algn="ctr"/>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深耕用户</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5" name="天蝎PPT原创©51"/>
          <p:cNvSpPr/>
          <p:nvPr/>
        </p:nvSpPr>
        <p:spPr>
          <a:xfrm>
            <a:off x="3527777" y="1866420"/>
            <a:ext cx="960659" cy="305791"/>
          </a:xfrm>
          <a:prstGeom prst="roundRect">
            <a:avLst>
              <a:gd name="adj" fmla="val 5000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SG" altLang="en-US" sz="12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会员体系</a:t>
            </a:r>
            <a:endParaRPr lang="zh-SG" altLang="en-US" sz="12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36" name="天蝎PPT原创©52"/>
          <p:cNvCxnSpPr/>
          <p:nvPr/>
        </p:nvCxnSpPr>
        <p:spPr>
          <a:xfrm>
            <a:off x="7682540" y="1852380"/>
            <a:ext cx="0" cy="739048"/>
          </a:xfrm>
          <a:prstGeom prst="line">
            <a:avLst/>
          </a:prstGeom>
          <a:ln w="9525">
            <a:solidFill>
              <a:schemeClr val="bg1">
                <a:alpha val="30000"/>
              </a:schemeClr>
            </a:solidFill>
            <a:prstDash val="dash"/>
          </a:ln>
        </p:spPr>
        <p:style>
          <a:lnRef idx="2">
            <a:schemeClr val="accent1"/>
          </a:lnRef>
          <a:fillRef idx="0">
            <a:schemeClr val="accent1"/>
          </a:fillRef>
          <a:effectRef idx="1">
            <a:schemeClr val="accent1"/>
          </a:effectRef>
          <a:fontRef idx="minor">
            <a:schemeClr val="tx1"/>
          </a:fontRef>
        </p:style>
      </p:cxnSp>
      <p:sp>
        <p:nvSpPr>
          <p:cNvPr id="453" name="天蝎PPT原创©53"/>
          <p:cNvSpPr txBox="1"/>
          <p:nvPr/>
        </p:nvSpPr>
        <p:spPr>
          <a:xfrm>
            <a:off x="6375563" y="2205564"/>
            <a:ext cx="1107996" cy="369332"/>
          </a:xfrm>
          <a:prstGeom prst="rect">
            <a:avLst/>
          </a:prstGeom>
          <a:noFill/>
        </p:spPr>
        <p:txBody>
          <a:bodyPr wrap="none">
            <a:spAutoFit/>
          </a:bodyPr>
          <a:lstStyle/>
          <a:p>
            <a:pPr algn="ctr"/>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杠杆撬动</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54" name="天蝎PPT原创©54"/>
          <p:cNvSpPr/>
          <p:nvPr/>
        </p:nvSpPr>
        <p:spPr>
          <a:xfrm>
            <a:off x="6449230" y="1891820"/>
            <a:ext cx="960659" cy="305791"/>
          </a:xfrm>
          <a:prstGeom prst="roundRect">
            <a:avLst>
              <a:gd name="adj" fmla="val 5000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SG" altLang="en-US" sz="12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暑期消费</a:t>
            </a:r>
            <a:endParaRPr lang="zh-SG" altLang="en-US" sz="12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456" name="天蝎PPT原创©55"/>
          <p:cNvCxnSpPr/>
          <p:nvPr/>
        </p:nvCxnSpPr>
        <p:spPr>
          <a:xfrm>
            <a:off x="10640411" y="1852380"/>
            <a:ext cx="0" cy="739048"/>
          </a:xfrm>
          <a:prstGeom prst="line">
            <a:avLst/>
          </a:prstGeom>
          <a:ln w="9525">
            <a:solidFill>
              <a:schemeClr val="bg1">
                <a:alpha val="30000"/>
              </a:schemeClr>
            </a:solidFill>
            <a:prstDash val="dash"/>
          </a:ln>
        </p:spPr>
        <p:style>
          <a:lnRef idx="2">
            <a:schemeClr val="accent1"/>
          </a:lnRef>
          <a:fillRef idx="0">
            <a:schemeClr val="accent1"/>
          </a:fillRef>
          <a:effectRef idx="1">
            <a:schemeClr val="accent1"/>
          </a:effectRef>
          <a:fontRef idx="minor">
            <a:schemeClr val="tx1"/>
          </a:fontRef>
        </p:style>
      </p:cxnSp>
      <p:sp>
        <p:nvSpPr>
          <p:cNvPr id="37" name="天蝎PPT原创©56"/>
          <p:cNvSpPr txBox="1"/>
          <p:nvPr/>
        </p:nvSpPr>
        <p:spPr>
          <a:xfrm>
            <a:off x="9333439" y="2205564"/>
            <a:ext cx="1107996" cy="369332"/>
          </a:xfrm>
          <a:prstGeom prst="rect">
            <a:avLst/>
          </a:prstGeom>
          <a:noFill/>
        </p:spPr>
        <p:txBody>
          <a:bodyPr wrap="none">
            <a:spAutoFit/>
          </a:bodyPr>
          <a:lstStyle/>
          <a:p>
            <a:pPr algn="ctr"/>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冲刺收官</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8" name="天蝎PPT原创©57"/>
          <p:cNvSpPr/>
          <p:nvPr/>
        </p:nvSpPr>
        <p:spPr>
          <a:xfrm>
            <a:off x="9407101" y="1891820"/>
            <a:ext cx="960659" cy="305791"/>
          </a:xfrm>
          <a:prstGeom prst="roundRect">
            <a:avLst>
              <a:gd name="adj" fmla="val 5000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SG" altLang="en-US" sz="12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年中大促</a:t>
            </a:r>
            <a:endParaRPr lang="zh-SG" altLang="en-US" sz="12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9" name="天蝎PPT原创©58"/>
          <p:cNvSpPr txBox="1"/>
          <p:nvPr/>
        </p:nvSpPr>
        <p:spPr>
          <a:xfrm>
            <a:off x="3479252" y="4049172"/>
            <a:ext cx="1724534" cy="261610"/>
          </a:xfrm>
          <a:prstGeom prst="rect">
            <a:avLst/>
          </a:prstGeom>
          <a:noFill/>
        </p:spPr>
        <p:txBody>
          <a:bodyPr wrap="square" rtlCol="0">
            <a:spAutoFit/>
          </a:bodyPr>
          <a:lstStyle/>
          <a:p>
            <a:pPr>
              <a:defRPr/>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高等级会员复购率提升</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40" name="天蝎PPT原创©59"/>
          <p:cNvCxnSpPr/>
          <p:nvPr/>
        </p:nvCxnSpPr>
        <p:spPr>
          <a:xfrm>
            <a:off x="3537412" y="4389601"/>
            <a:ext cx="2367481" cy="0"/>
          </a:xfrm>
          <a:prstGeom prst="line">
            <a:avLst/>
          </a:prstGeom>
          <a:ln w="9525">
            <a:solidFill>
              <a:schemeClr val="accent6">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sp>
        <p:nvSpPr>
          <p:cNvPr id="41" name="天蝎PPT原创©60"/>
          <p:cNvSpPr txBox="1"/>
          <p:nvPr/>
        </p:nvSpPr>
        <p:spPr>
          <a:xfrm>
            <a:off x="3479252" y="4438486"/>
            <a:ext cx="1654368" cy="261610"/>
          </a:xfrm>
          <a:prstGeom prst="rect">
            <a:avLst/>
          </a:prstGeom>
          <a:noFill/>
        </p:spPr>
        <p:txBody>
          <a:bodyPr wrap="square" rtlCol="0">
            <a:spAutoFit/>
          </a:bodyPr>
          <a:lstStyle/>
          <a:p>
            <a:pPr>
              <a:defRPr/>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新增付费会员人数增加</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488" name="天蝎PPT原创©61"/>
          <p:cNvCxnSpPr/>
          <p:nvPr/>
        </p:nvCxnSpPr>
        <p:spPr>
          <a:xfrm>
            <a:off x="3537412" y="4778916"/>
            <a:ext cx="2367481" cy="0"/>
          </a:xfrm>
          <a:prstGeom prst="line">
            <a:avLst/>
          </a:prstGeom>
          <a:ln w="9525">
            <a:solidFill>
              <a:schemeClr val="accent6">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sp>
        <p:nvSpPr>
          <p:cNvPr id="489" name="天蝎PPT原创©62"/>
          <p:cNvSpPr txBox="1"/>
          <p:nvPr/>
        </p:nvSpPr>
        <p:spPr>
          <a:xfrm>
            <a:off x="3461523" y="4878601"/>
            <a:ext cx="1554042" cy="261610"/>
          </a:xfrm>
          <a:prstGeom prst="rect">
            <a:avLst/>
          </a:prstGeom>
          <a:noFill/>
        </p:spPr>
        <p:txBody>
          <a:bodyPr wrap="square" rtlCol="0">
            <a:spAutoFit/>
          </a:bodyPr>
          <a:lstStyle/>
          <a:p>
            <a:pPr>
              <a:defRPr/>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会员客单价提升至</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491" name="天蝎PPT原创©63"/>
          <p:cNvCxnSpPr/>
          <p:nvPr/>
        </p:nvCxnSpPr>
        <p:spPr>
          <a:xfrm>
            <a:off x="3519683" y="5219030"/>
            <a:ext cx="2367481" cy="0"/>
          </a:xfrm>
          <a:prstGeom prst="line">
            <a:avLst/>
          </a:prstGeom>
          <a:ln w="9525">
            <a:solidFill>
              <a:schemeClr val="accent6">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sp>
        <p:nvSpPr>
          <p:cNvPr id="42" name="天蝎PPT原创©64"/>
          <p:cNvSpPr/>
          <p:nvPr/>
        </p:nvSpPr>
        <p:spPr>
          <a:xfrm>
            <a:off x="6435819" y="2910251"/>
            <a:ext cx="769349" cy="940924"/>
          </a:xfrm>
          <a:prstGeom prst="roundRect">
            <a:avLst>
              <a:gd name="adj" fmla="val 8390"/>
            </a:avLst>
          </a:prstGeom>
          <a:solidFill>
            <a:schemeClr val="bg1"/>
          </a:solidFill>
          <a:ln w="6350">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93" name="天蝎PPT原创©65"/>
          <p:cNvSpPr/>
          <p:nvPr/>
        </p:nvSpPr>
        <p:spPr>
          <a:xfrm>
            <a:off x="7234885" y="2910251"/>
            <a:ext cx="769349" cy="940924"/>
          </a:xfrm>
          <a:prstGeom prst="roundRect">
            <a:avLst>
              <a:gd name="adj" fmla="val 8390"/>
            </a:avLst>
          </a:prstGeom>
          <a:solidFill>
            <a:schemeClr val="bg1"/>
          </a:solidFill>
          <a:ln w="6350">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94" name="天蝎PPT原创©66"/>
          <p:cNvSpPr/>
          <p:nvPr/>
        </p:nvSpPr>
        <p:spPr>
          <a:xfrm>
            <a:off x="8033952" y="2910251"/>
            <a:ext cx="769349" cy="940924"/>
          </a:xfrm>
          <a:prstGeom prst="roundRect">
            <a:avLst>
              <a:gd name="adj" fmla="val 8390"/>
            </a:avLst>
          </a:prstGeom>
          <a:solidFill>
            <a:schemeClr val="bg1"/>
          </a:solidFill>
          <a:ln w="6350">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510" name="天蝎PPT原创©67"/>
          <p:cNvSpPr txBox="1"/>
          <p:nvPr/>
        </p:nvSpPr>
        <p:spPr>
          <a:xfrm>
            <a:off x="6445391" y="4049172"/>
            <a:ext cx="1554042" cy="261610"/>
          </a:xfrm>
          <a:prstGeom prst="rect">
            <a:avLst/>
          </a:prstGeom>
          <a:noFill/>
        </p:spPr>
        <p:txBody>
          <a:bodyPr wrap="square" rtlCol="0">
            <a:spAutoFit/>
          </a:bodyPr>
          <a:lstStyle/>
          <a:p>
            <a:pPr marR="0" lvl="0" indent="0" fontAlgn="auto">
              <a:spcBef>
                <a:spcPts val="0"/>
              </a:spcBef>
              <a:spcAft>
                <a:spcPts val="0"/>
              </a:spcAft>
              <a:buClrTx/>
              <a:buSzTx/>
              <a:buFontTx/>
              <a:buNone/>
              <a:defRPr/>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积分兑换率突破</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512" name="天蝎PPT原创©68"/>
          <p:cNvCxnSpPr/>
          <p:nvPr/>
        </p:nvCxnSpPr>
        <p:spPr>
          <a:xfrm>
            <a:off x="6503551" y="4389601"/>
            <a:ext cx="2367481" cy="0"/>
          </a:xfrm>
          <a:prstGeom prst="line">
            <a:avLst/>
          </a:prstGeom>
          <a:ln w="9525">
            <a:solidFill>
              <a:schemeClr val="accent6">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sp>
        <p:nvSpPr>
          <p:cNvPr id="513" name="天蝎PPT原创©69"/>
          <p:cNvSpPr txBox="1"/>
          <p:nvPr/>
        </p:nvSpPr>
        <p:spPr>
          <a:xfrm>
            <a:off x="6445391" y="4438486"/>
            <a:ext cx="1554042" cy="261610"/>
          </a:xfrm>
          <a:prstGeom prst="rect">
            <a:avLst/>
          </a:prstGeom>
          <a:noFill/>
        </p:spPr>
        <p:txBody>
          <a:bodyPr wrap="square" rtlCol="0">
            <a:spAutoFit/>
          </a:bodyPr>
          <a:lstStyle/>
          <a:p>
            <a:pPr marR="0" lvl="0" indent="0" fontAlgn="auto">
              <a:spcBef>
                <a:spcPts val="0"/>
              </a:spcBef>
              <a:spcAft>
                <a:spcPts val="0"/>
              </a:spcAft>
              <a:buClrTx/>
              <a:buSzTx/>
              <a:buFontTx/>
              <a:buNone/>
              <a:defRPr/>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连带销售率提升至</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515" name="天蝎PPT原创©70"/>
          <p:cNvCxnSpPr/>
          <p:nvPr/>
        </p:nvCxnSpPr>
        <p:spPr>
          <a:xfrm>
            <a:off x="6503551" y="4778916"/>
            <a:ext cx="2367481" cy="0"/>
          </a:xfrm>
          <a:prstGeom prst="line">
            <a:avLst/>
          </a:prstGeom>
          <a:ln w="9525">
            <a:solidFill>
              <a:schemeClr val="accent6">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sp>
        <p:nvSpPr>
          <p:cNvPr id="516" name="天蝎PPT原创©71"/>
          <p:cNvSpPr txBox="1"/>
          <p:nvPr/>
        </p:nvSpPr>
        <p:spPr>
          <a:xfrm>
            <a:off x="6427662" y="4878601"/>
            <a:ext cx="1554042" cy="261610"/>
          </a:xfrm>
          <a:prstGeom prst="rect">
            <a:avLst/>
          </a:prstGeom>
          <a:noFill/>
        </p:spPr>
        <p:txBody>
          <a:bodyPr wrap="square" rtlCol="0">
            <a:spAutoFit/>
          </a:bodyPr>
          <a:lstStyle/>
          <a:p>
            <a:pPr marR="0" lvl="0" indent="0" fontAlgn="auto">
              <a:spcBef>
                <a:spcPts val="0"/>
              </a:spcBef>
              <a:spcAft>
                <a:spcPts val="0"/>
              </a:spcAft>
              <a:buClrTx/>
              <a:buSzTx/>
              <a:buFontTx/>
              <a:buNone/>
              <a:defRPr/>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沉睡会员唤醒率达成</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518" name="天蝎PPT原创©72"/>
          <p:cNvCxnSpPr/>
          <p:nvPr/>
        </p:nvCxnSpPr>
        <p:spPr>
          <a:xfrm>
            <a:off x="6485822" y="5219030"/>
            <a:ext cx="2367481" cy="0"/>
          </a:xfrm>
          <a:prstGeom prst="line">
            <a:avLst/>
          </a:prstGeom>
          <a:ln w="9525">
            <a:solidFill>
              <a:schemeClr val="accent6">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sp>
        <p:nvSpPr>
          <p:cNvPr id="519" name="天蝎PPT原创©73"/>
          <p:cNvSpPr/>
          <p:nvPr/>
        </p:nvSpPr>
        <p:spPr>
          <a:xfrm>
            <a:off x="9346659" y="2910251"/>
            <a:ext cx="769349" cy="940924"/>
          </a:xfrm>
          <a:prstGeom prst="roundRect">
            <a:avLst>
              <a:gd name="adj" fmla="val 8390"/>
            </a:avLst>
          </a:prstGeom>
          <a:solidFill>
            <a:schemeClr val="bg1"/>
          </a:solidFill>
          <a:ln w="6350">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520" name="天蝎PPT原创©74"/>
          <p:cNvSpPr/>
          <p:nvPr/>
        </p:nvSpPr>
        <p:spPr>
          <a:xfrm>
            <a:off x="10145725" y="2910251"/>
            <a:ext cx="769349" cy="940924"/>
          </a:xfrm>
          <a:prstGeom prst="roundRect">
            <a:avLst>
              <a:gd name="adj" fmla="val 8390"/>
            </a:avLst>
          </a:prstGeom>
          <a:solidFill>
            <a:schemeClr val="bg1"/>
          </a:solidFill>
          <a:ln w="6350">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521" name="天蝎PPT原创©75"/>
          <p:cNvSpPr/>
          <p:nvPr/>
        </p:nvSpPr>
        <p:spPr>
          <a:xfrm>
            <a:off x="10944792" y="2910251"/>
            <a:ext cx="769349" cy="940924"/>
          </a:xfrm>
          <a:prstGeom prst="roundRect">
            <a:avLst>
              <a:gd name="adj" fmla="val 8390"/>
            </a:avLst>
          </a:prstGeom>
          <a:solidFill>
            <a:schemeClr val="bg1"/>
          </a:solidFill>
          <a:ln w="6350">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537" name="天蝎PPT原创©76"/>
          <p:cNvSpPr txBox="1"/>
          <p:nvPr/>
        </p:nvSpPr>
        <p:spPr>
          <a:xfrm>
            <a:off x="9356231" y="4049172"/>
            <a:ext cx="1554042" cy="261610"/>
          </a:xfrm>
          <a:prstGeom prst="rect">
            <a:avLst/>
          </a:prstGeom>
          <a:noFill/>
        </p:spPr>
        <p:txBody>
          <a:bodyPr wrap="square" rtlCol="0">
            <a:spAutoFit/>
          </a:bodyPr>
          <a:lstStyle/>
          <a:p>
            <a:pPr>
              <a:defRPr/>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大促单日峰值突破</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538" name="天蝎PPT原创©77"/>
          <p:cNvSpPr/>
          <p:nvPr/>
        </p:nvSpPr>
        <p:spPr>
          <a:xfrm>
            <a:off x="11095355" y="4080510"/>
            <a:ext cx="636905" cy="229235"/>
          </a:xfrm>
          <a:prstGeom prst="roundRect">
            <a:avLst>
              <a:gd name="adj" fmla="val 50000"/>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en-US" altLang="zh-CN"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80万+</a:t>
            </a:r>
            <a:endParaRPr lang="en-US" altLang="zh-CN"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539" name="天蝎PPT原创©78"/>
          <p:cNvCxnSpPr/>
          <p:nvPr/>
        </p:nvCxnSpPr>
        <p:spPr>
          <a:xfrm>
            <a:off x="9414391" y="4389601"/>
            <a:ext cx="2367481" cy="0"/>
          </a:xfrm>
          <a:prstGeom prst="line">
            <a:avLst/>
          </a:prstGeom>
          <a:ln w="9525">
            <a:solidFill>
              <a:schemeClr val="accent6">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sp>
        <p:nvSpPr>
          <p:cNvPr id="540" name="天蝎PPT原创©79"/>
          <p:cNvSpPr txBox="1"/>
          <p:nvPr/>
        </p:nvSpPr>
        <p:spPr>
          <a:xfrm>
            <a:off x="9356231" y="4438486"/>
            <a:ext cx="1554042" cy="261610"/>
          </a:xfrm>
          <a:prstGeom prst="rect">
            <a:avLst/>
          </a:prstGeom>
          <a:noFill/>
        </p:spPr>
        <p:txBody>
          <a:bodyPr wrap="square" rtlCol="0">
            <a:spAutoFit/>
          </a:bodyPr>
          <a:lstStyle/>
          <a:p>
            <a:pPr>
              <a:defRPr/>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新客转化率提升至</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541" name="天蝎PPT原创©80"/>
          <p:cNvSpPr/>
          <p:nvPr/>
        </p:nvSpPr>
        <p:spPr>
          <a:xfrm>
            <a:off x="11095990" y="4469765"/>
            <a:ext cx="636270" cy="229235"/>
          </a:xfrm>
          <a:prstGeom prst="roundRect">
            <a:avLst>
              <a:gd name="adj" fmla="val 50000"/>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en-US" altLang="zh-CN"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12%</a:t>
            </a:r>
            <a:endParaRPr lang="en-US" altLang="zh-CN"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542" name="天蝎PPT原创©81"/>
          <p:cNvCxnSpPr/>
          <p:nvPr/>
        </p:nvCxnSpPr>
        <p:spPr>
          <a:xfrm>
            <a:off x="9414391" y="4778916"/>
            <a:ext cx="2367481" cy="0"/>
          </a:xfrm>
          <a:prstGeom prst="line">
            <a:avLst/>
          </a:prstGeom>
          <a:ln w="9525">
            <a:solidFill>
              <a:schemeClr val="accent6">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sp>
        <p:nvSpPr>
          <p:cNvPr id="543" name="天蝎PPT原创©82"/>
          <p:cNvSpPr txBox="1"/>
          <p:nvPr/>
        </p:nvSpPr>
        <p:spPr>
          <a:xfrm>
            <a:off x="9338501" y="4878601"/>
            <a:ext cx="1757295" cy="261610"/>
          </a:xfrm>
          <a:prstGeom prst="rect">
            <a:avLst/>
          </a:prstGeom>
          <a:noFill/>
        </p:spPr>
        <p:txBody>
          <a:bodyPr wrap="square" rtlCol="0">
            <a:spAutoFit/>
          </a:bodyPr>
          <a:lstStyle/>
          <a:p>
            <a:pPr>
              <a:defRPr/>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滞销品库存周转率提升</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544" name="天蝎PPT原创©83"/>
          <p:cNvSpPr/>
          <p:nvPr/>
        </p:nvSpPr>
        <p:spPr>
          <a:xfrm>
            <a:off x="11096625" y="4909820"/>
            <a:ext cx="622935" cy="229235"/>
          </a:xfrm>
          <a:prstGeom prst="roundRect">
            <a:avLst>
              <a:gd name="adj" fmla="val 50000"/>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en-US" altLang="zh-CN"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33%</a:t>
            </a:r>
            <a:endParaRPr lang="en-US" altLang="zh-CN"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545" name="天蝎PPT原创©84"/>
          <p:cNvCxnSpPr/>
          <p:nvPr/>
        </p:nvCxnSpPr>
        <p:spPr>
          <a:xfrm>
            <a:off x="9396662" y="5219030"/>
            <a:ext cx="2367481" cy="0"/>
          </a:xfrm>
          <a:prstGeom prst="line">
            <a:avLst/>
          </a:prstGeom>
          <a:ln w="9525">
            <a:solidFill>
              <a:schemeClr val="accent6">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sp>
        <p:nvSpPr>
          <p:cNvPr id="689" name="天蝎PPT原创©85"/>
          <p:cNvSpPr txBox="1"/>
          <p:nvPr/>
        </p:nvSpPr>
        <p:spPr>
          <a:xfrm>
            <a:off x="4971409" y="1832642"/>
            <a:ext cx="902811" cy="753283"/>
          </a:xfrm>
          <a:prstGeom prst="rect">
            <a:avLst/>
          </a:prstGeom>
          <a:noFill/>
        </p:spPr>
        <p:txBody>
          <a:bodyPr wrap="none">
            <a:spAutoFit/>
          </a:bodyPr>
          <a:lstStyle>
            <a:defPPr>
              <a:defRPr lang="zh-CN"/>
            </a:defPPr>
            <a:lvl1pPr>
              <a:defRPr sz="1200">
                <a:solidFill>
                  <a:schemeClr val="tx1">
                    <a:lumMod val="75000"/>
                    <a:lumOff val="25000"/>
                  </a:schemeClr>
                </a:solidFill>
                <a:latin typeface="+mj-ea"/>
                <a:ea typeface="+mj-ea"/>
              </a:defRPr>
            </a:lvl1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rPr>
              <a:t>季度目标</a:t>
            </a:r>
            <a:endParaRPr kumimoji="0" lang="en-US" altLang="zh-CN" sz="14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lang="en-US" altLang="zh-CN" sz="2400"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420</a:t>
            </a:r>
            <a:r>
              <a:rPr lang="zh-CN" altLang="en-US" sz="16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万</a:t>
            </a:r>
            <a:endParaRPr kumimoji="0" lang="en-US" altLang="zh-CN" sz="16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690" name="天蝎PPT原创©86"/>
          <p:cNvSpPr txBox="1"/>
          <p:nvPr/>
        </p:nvSpPr>
        <p:spPr>
          <a:xfrm>
            <a:off x="7845237" y="1832642"/>
            <a:ext cx="902811" cy="753283"/>
          </a:xfrm>
          <a:prstGeom prst="rect">
            <a:avLst/>
          </a:prstGeom>
          <a:noFill/>
        </p:spPr>
        <p:txBody>
          <a:bodyPr wrap="none">
            <a:spAutoFit/>
          </a:bodyPr>
          <a:lstStyle>
            <a:defPPr>
              <a:defRPr lang="zh-CN"/>
            </a:defPPr>
            <a:lvl1pPr>
              <a:defRPr sz="1200">
                <a:solidFill>
                  <a:schemeClr val="tx1">
                    <a:lumMod val="75000"/>
                    <a:lumOff val="25000"/>
                  </a:schemeClr>
                </a:solidFill>
                <a:latin typeface="+mj-ea"/>
                <a:ea typeface="+mj-ea"/>
              </a:defRPr>
            </a:lvl1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rPr>
              <a:t>季度目标</a:t>
            </a:r>
            <a:endParaRPr kumimoji="0" lang="en-US" altLang="zh-CN" sz="14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lang="en-US" altLang="zh-CN" sz="2400"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450</a:t>
            </a:r>
            <a:r>
              <a:rPr lang="zh-CN" altLang="en-US" sz="16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万</a:t>
            </a:r>
            <a:endParaRPr kumimoji="0" lang="zh-CN" altLang="en-US" sz="16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691" name="天蝎PPT原创©87"/>
          <p:cNvSpPr txBox="1"/>
          <p:nvPr/>
        </p:nvSpPr>
        <p:spPr>
          <a:xfrm>
            <a:off x="10825943" y="1832642"/>
            <a:ext cx="902811" cy="753283"/>
          </a:xfrm>
          <a:prstGeom prst="rect">
            <a:avLst/>
          </a:prstGeom>
          <a:noFill/>
        </p:spPr>
        <p:txBody>
          <a:bodyPr wrap="none">
            <a:spAutoFit/>
          </a:bodyPr>
          <a:lstStyle>
            <a:defPPr>
              <a:defRPr lang="zh-CN"/>
            </a:defPPr>
            <a:lvl1pPr>
              <a:defRPr sz="1200">
                <a:solidFill>
                  <a:schemeClr val="tx1">
                    <a:lumMod val="75000"/>
                    <a:lumOff val="25000"/>
                  </a:schemeClr>
                </a:solidFill>
                <a:latin typeface="+mj-ea"/>
                <a:ea typeface="+mj-ea"/>
              </a:defRPr>
            </a:lvl1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rPr>
              <a:t>季度目标</a:t>
            </a:r>
            <a:endParaRPr kumimoji="0" lang="en-US" altLang="zh-CN" sz="14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lang="en-US" altLang="zh-CN" sz="2400"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800</a:t>
            </a:r>
            <a:r>
              <a:rPr lang="zh-CN" altLang="en-US" sz="16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万</a:t>
            </a:r>
            <a:endParaRPr kumimoji="0" lang="zh-CN" altLang="en-US" sz="16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3" name="天蝎PPT原创©88"/>
          <p:cNvSpPr txBox="1"/>
          <p:nvPr/>
        </p:nvSpPr>
        <p:spPr>
          <a:xfrm>
            <a:off x="542777" y="6056741"/>
            <a:ext cx="1539204" cy="369332"/>
          </a:xfrm>
          <a:prstGeom prst="rect">
            <a:avLst/>
          </a:prstGeom>
          <a:noFill/>
        </p:spPr>
        <p:txBody>
          <a:bodyPr wrap="none" rtlCol="0">
            <a:spAutoFit/>
          </a:bodyPr>
          <a:lstStyle/>
          <a:p>
            <a:r>
              <a:rPr kumimoji="1" lang="en-US" altLang="zh-CN"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2025</a:t>
            </a:r>
            <a:r>
              <a:rPr kumimoji="1" lang="zh-CN" altLang="en-US"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年度</a:t>
            </a:r>
            <a:r>
              <a:rPr kumimoji="1" lang="en-US" altLang="zh-CN"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KPI</a:t>
            </a:r>
            <a:endParaRPr kumimoji="1" lang="zh-CN" altLang="en-US"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pic>
        <p:nvPicPr>
          <p:cNvPr id="44" name="天蝎PPT原创©89"/>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35440" y="5688600"/>
            <a:ext cx="327467" cy="327467"/>
          </a:xfrm>
          <a:prstGeom prst="rect">
            <a:avLst/>
          </a:prstGeom>
        </p:spPr>
      </p:pic>
      <p:pic>
        <p:nvPicPr>
          <p:cNvPr id="47" name="天蝎PPT原创©92"/>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75366" y="3023487"/>
            <a:ext cx="302688" cy="302688"/>
          </a:xfrm>
          <a:prstGeom prst="rect">
            <a:avLst/>
          </a:prstGeom>
        </p:spPr>
      </p:pic>
      <p:sp>
        <p:nvSpPr>
          <p:cNvPr id="693" name="天蝎PPT原创©93"/>
          <p:cNvSpPr/>
          <p:nvPr/>
        </p:nvSpPr>
        <p:spPr>
          <a:xfrm>
            <a:off x="3528789" y="2910251"/>
            <a:ext cx="769349" cy="940924"/>
          </a:xfrm>
          <a:prstGeom prst="roundRect">
            <a:avLst>
              <a:gd name="adj" fmla="val 8390"/>
            </a:avLst>
          </a:prstGeom>
          <a:solidFill>
            <a:schemeClr val="bg1"/>
          </a:solidFill>
          <a:ln w="6350">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694" name="天蝎PPT原创©94"/>
          <p:cNvSpPr/>
          <p:nvPr/>
        </p:nvSpPr>
        <p:spPr>
          <a:xfrm>
            <a:off x="4327855" y="2910251"/>
            <a:ext cx="769349" cy="940924"/>
          </a:xfrm>
          <a:prstGeom prst="roundRect">
            <a:avLst>
              <a:gd name="adj" fmla="val 8390"/>
            </a:avLst>
          </a:prstGeom>
          <a:solidFill>
            <a:schemeClr val="bg1"/>
          </a:solidFill>
          <a:ln w="6350">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695" name="天蝎PPT原创©95"/>
          <p:cNvSpPr/>
          <p:nvPr/>
        </p:nvSpPr>
        <p:spPr>
          <a:xfrm>
            <a:off x="5126922" y="2910251"/>
            <a:ext cx="769349" cy="940924"/>
          </a:xfrm>
          <a:prstGeom prst="roundRect">
            <a:avLst>
              <a:gd name="adj" fmla="val 8390"/>
            </a:avLst>
          </a:prstGeom>
          <a:solidFill>
            <a:schemeClr val="bg1"/>
          </a:solidFill>
          <a:ln w="6350">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696" name="天蝎PPT原创©96"/>
          <p:cNvSpPr txBox="1"/>
          <p:nvPr/>
        </p:nvSpPr>
        <p:spPr>
          <a:xfrm>
            <a:off x="3679309" y="3346357"/>
            <a:ext cx="466794" cy="430887"/>
          </a:xfrm>
          <a:prstGeom prst="rect">
            <a:avLst/>
          </a:prstGeom>
          <a:noFill/>
        </p:spPr>
        <p:txBody>
          <a:bodyPr wrap="none" rtlCol="0">
            <a:sp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1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rPr>
              <a:t>会员</a:t>
            </a:r>
            <a:endParaRPr kumimoji="0" lang="en-US" altLang="zh-CN" sz="11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L="0" marR="0" lvl="0" indent="0" algn="ctr" defTabSz="914400" rtl="0" eaLnBrk="1" fontAlgn="auto" latinLnBrk="0" hangingPunct="1">
              <a:spcBef>
                <a:spcPts val="0"/>
              </a:spcBef>
              <a:spcAft>
                <a:spcPts val="0"/>
              </a:spcAft>
              <a:buClrTx/>
              <a:buSzTx/>
              <a:buFontTx/>
              <a:buNone/>
              <a:defRPr/>
            </a:pPr>
            <a:r>
              <a:rPr kumimoji="0" lang="zh-CN" altLang="en-US" sz="11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rPr>
              <a:t>专享</a:t>
            </a:r>
            <a:endParaRPr kumimoji="0" lang="zh-CN" altLang="en-US" sz="11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697" name="天蝎PPT原创©97"/>
          <p:cNvSpPr txBox="1"/>
          <p:nvPr/>
        </p:nvSpPr>
        <p:spPr>
          <a:xfrm>
            <a:off x="4479134" y="3346357"/>
            <a:ext cx="466794" cy="430887"/>
          </a:xfrm>
          <a:prstGeom prst="rect">
            <a:avLst/>
          </a:prstGeom>
          <a:noFill/>
        </p:spPr>
        <p:txBody>
          <a:bodyPr wrap="none" rtlCol="0">
            <a:spAutoFit/>
          </a:bodyPr>
          <a:lstStyle/>
          <a:p>
            <a:pPr algn="ctr">
              <a:defRPr/>
            </a:pPr>
            <a:r>
              <a:rPr lang="zh-CN" altLang="en-US"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社群</a:t>
            </a:r>
            <a:endParaRPr lang="en-US" altLang="zh-CN"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ctr">
              <a:defRPr/>
            </a:pPr>
            <a:r>
              <a:rPr lang="zh-CN" altLang="en-US"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运营</a:t>
            </a:r>
            <a:endParaRPr lang="zh-CN" altLang="en-US"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698" name="天蝎PPT原创©98"/>
          <p:cNvSpPr txBox="1"/>
          <p:nvPr/>
        </p:nvSpPr>
        <p:spPr>
          <a:xfrm>
            <a:off x="5278197" y="3338761"/>
            <a:ext cx="466794" cy="430887"/>
          </a:xfrm>
          <a:prstGeom prst="rect">
            <a:avLst/>
          </a:prstGeom>
          <a:noFill/>
        </p:spPr>
        <p:txBody>
          <a:bodyPr wrap="none" rtlCol="0">
            <a:spAutoFit/>
          </a:bodyPr>
          <a:lstStyle/>
          <a:p>
            <a:pPr marR="0" lvl="0" indent="0" algn="ctr" fontAlgn="auto">
              <a:spcBef>
                <a:spcPts val="0"/>
              </a:spcBef>
              <a:spcAft>
                <a:spcPts val="0"/>
              </a:spcAft>
              <a:buClrTx/>
              <a:buSzTx/>
              <a:buFontTx/>
              <a:buNone/>
              <a:defRPr/>
            </a:pPr>
            <a:r>
              <a:rPr lang="zh-CN" altLang="en-US"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跨界</a:t>
            </a:r>
            <a:endParaRPr lang="en-US" altLang="zh-CN"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R="0" lvl="0" indent="0" algn="ctr" fontAlgn="auto">
              <a:spcBef>
                <a:spcPts val="0"/>
              </a:spcBef>
              <a:spcAft>
                <a:spcPts val="0"/>
              </a:spcAft>
              <a:buClrTx/>
              <a:buSzTx/>
              <a:buFontTx/>
              <a:buNone/>
              <a:defRPr/>
            </a:pPr>
            <a:r>
              <a:rPr lang="zh-CN" altLang="en-US"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合作</a:t>
            </a:r>
            <a:endParaRPr lang="zh-CN" altLang="en-US"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702" name="天蝎PPT原创©102"/>
          <p:cNvSpPr txBox="1"/>
          <p:nvPr/>
        </p:nvSpPr>
        <p:spPr>
          <a:xfrm>
            <a:off x="6595309" y="3346357"/>
            <a:ext cx="466794" cy="430887"/>
          </a:xfrm>
          <a:prstGeom prst="rect">
            <a:avLst/>
          </a:prstGeom>
          <a:noFill/>
        </p:spPr>
        <p:txBody>
          <a:bodyPr wrap="none" rtlCol="0">
            <a:sp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1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rPr>
              <a:t>积分</a:t>
            </a:r>
            <a:endParaRPr kumimoji="0" lang="en-US" altLang="zh-CN" sz="11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L="0" marR="0" lvl="0" indent="0" algn="ctr" defTabSz="914400" rtl="0" eaLnBrk="1" fontAlgn="auto" latinLnBrk="0" hangingPunct="1">
              <a:spcBef>
                <a:spcPts val="0"/>
              </a:spcBef>
              <a:spcAft>
                <a:spcPts val="0"/>
              </a:spcAft>
              <a:buClrTx/>
              <a:buSzTx/>
              <a:buFontTx/>
              <a:buNone/>
              <a:defRPr/>
            </a:pPr>
            <a:r>
              <a:rPr kumimoji="0" lang="zh-CN" altLang="en-US" sz="11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rPr>
              <a:t>翻倍</a:t>
            </a:r>
            <a:endParaRPr kumimoji="0" lang="zh-CN" altLang="en-US" sz="11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703" name="天蝎PPT原创©103"/>
          <p:cNvSpPr txBox="1"/>
          <p:nvPr/>
        </p:nvSpPr>
        <p:spPr>
          <a:xfrm>
            <a:off x="7395134" y="3346357"/>
            <a:ext cx="466794" cy="430887"/>
          </a:xfrm>
          <a:prstGeom prst="rect">
            <a:avLst/>
          </a:prstGeom>
          <a:noFill/>
        </p:spPr>
        <p:txBody>
          <a:bodyPr wrap="none" rtlCol="0">
            <a:spAutoFit/>
          </a:bodyPr>
          <a:lstStyle/>
          <a:p>
            <a:pPr algn="ctr">
              <a:defRPr/>
            </a:pPr>
            <a:r>
              <a:rPr lang="zh-CN" altLang="en-US"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直播</a:t>
            </a:r>
            <a:endParaRPr lang="en-US" altLang="zh-CN"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ctr">
              <a:defRPr/>
            </a:pPr>
            <a:r>
              <a:rPr lang="zh-CN" altLang="en-US"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带货</a:t>
            </a:r>
            <a:endParaRPr lang="zh-CN" altLang="en-US"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704" name="天蝎PPT原创©104"/>
          <p:cNvSpPr txBox="1"/>
          <p:nvPr/>
        </p:nvSpPr>
        <p:spPr>
          <a:xfrm>
            <a:off x="8194197" y="3338761"/>
            <a:ext cx="466794" cy="430887"/>
          </a:xfrm>
          <a:prstGeom prst="rect">
            <a:avLst/>
          </a:prstGeom>
          <a:noFill/>
        </p:spPr>
        <p:txBody>
          <a:bodyPr wrap="none" rtlCol="0">
            <a:spAutoFit/>
          </a:bodyPr>
          <a:lstStyle/>
          <a:p>
            <a:pPr marR="0" lvl="0" indent="0" algn="ctr" fontAlgn="auto">
              <a:spcBef>
                <a:spcPts val="0"/>
              </a:spcBef>
              <a:spcAft>
                <a:spcPts val="0"/>
              </a:spcAft>
              <a:buClrTx/>
              <a:buSzTx/>
              <a:buFontTx/>
              <a:buNone/>
              <a:defRPr/>
            </a:pPr>
            <a:r>
              <a:rPr lang="zh-CN" altLang="en-US"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场景</a:t>
            </a:r>
            <a:endParaRPr lang="en-US" altLang="zh-CN"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R="0" lvl="0" indent="0" algn="ctr" fontAlgn="auto">
              <a:spcBef>
                <a:spcPts val="0"/>
              </a:spcBef>
              <a:spcAft>
                <a:spcPts val="0"/>
              </a:spcAft>
              <a:buClrTx/>
              <a:buSzTx/>
              <a:buFontTx/>
              <a:buNone/>
              <a:defRPr/>
            </a:pPr>
            <a:r>
              <a:rPr lang="zh-CN" altLang="en-US"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营销</a:t>
            </a:r>
            <a:endParaRPr lang="zh-CN" altLang="en-US"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pic>
        <p:nvPicPr>
          <p:cNvPr id="51" name="天蝎PPT原创©106"/>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505126" y="3043625"/>
            <a:ext cx="291545" cy="291545"/>
          </a:xfrm>
          <a:prstGeom prst="rect">
            <a:avLst/>
          </a:prstGeom>
        </p:spPr>
      </p:pic>
      <p:pic>
        <p:nvPicPr>
          <p:cNvPr id="52" name="天蝎PPT原创©107"/>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304491" y="3059630"/>
            <a:ext cx="253362" cy="253362"/>
          </a:xfrm>
          <a:prstGeom prst="rect">
            <a:avLst/>
          </a:prstGeom>
        </p:spPr>
      </p:pic>
      <p:sp>
        <p:nvSpPr>
          <p:cNvPr id="709" name="天蝎PPT原创©108"/>
          <p:cNvSpPr txBox="1"/>
          <p:nvPr/>
        </p:nvSpPr>
        <p:spPr>
          <a:xfrm>
            <a:off x="9498531" y="3346357"/>
            <a:ext cx="463550" cy="429895"/>
          </a:xfrm>
          <a:prstGeom prst="rect">
            <a:avLst/>
          </a:prstGeom>
          <a:noFill/>
        </p:spPr>
        <p:txBody>
          <a:bodyPr wrap="none" rtlCol="0">
            <a:sp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1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rPr>
              <a:t>活动</a:t>
            </a:r>
            <a:endParaRPr kumimoji="0" lang="zh-CN" altLang="en-US" sz="11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L="0" marR="0" lvl="0" indent="0" algn="ctr" defTabSz="914400" rtl="0" eaLnBrk="1" fontAlgn="auto" latinLnBrk="0" hangingPunct="1">
              <a:spcBef>
                <a:spcPts val="0"/>
              </a:spcBef>
              <a:spcAft>
                <a:spcPts val="0"/>
              </a:spcAft>
              <a:buClrTx/>
              <a:buSzTx/>
              <a:buFontTx/>
              <a:buNone/>
              <a:defRPr/>
            </a:pPr>
            <a:r>
              <a:rPr kumimoji="0" lang="zh-CN" altLang="en-US" sz="11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rPr>
              <a:t>加码</a:t>
            </a:r>
            <a:endParaRPr kumimoji="0" lang="zh-CN" altLang="en-US" sz="11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710" name="天蝎PPT原创©109"/>
          <p:cNvSpPr txBox="1"/>
          <p:nvPr/>
        </p:nvSpPr>
        <p:spPr>
          <a:xfrm>
            <a:off x="10298356" y="3346357"/>
            <a:ext cx="463550" cy="429895"/>
          </a:xfrm>
          <a:prstGeom prst="rect">
            <a:avLst/>
          </a:prstGeom>
          <a:noFill/>
        </p:spPr>
        <p:txBody>
          <a:bodyPr wrap="none" rtlCol="0">
            <a:spAutoFit/>
          </a:bodyPr>
          <a:lstStyle/>
          <a:p>
            <a:pPr algn="ctr">
              <a:defRPr/>
            </a:pPr>
            <a:r>
              <a:rPr lang="zh-CN"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全站</a:t>
            </a:r>
            <a:endParaRPr lang="zh-CN"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ctr">
              <a:defRPr/>
            </a:pPr>
            <a:r>
              <a:rPr lang="zh-CN"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推广</a:t>
            </a:r>
            <a:endParaRPr lang="zh-CN"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711" name="天蝎PPT原创©110"/>
          <p:cNvSpPr txBox="1"/>
          <p:nvPr/>
        </p:nvSpPr>
        <p:spPr>
          <a:xfrm>
            <a:off x="11097419" y="3338761"/>
            <a:ext cx="463550" cy="429895"/>
          </a:xfrm>
          <a:prstGeom prst="rect">
            <a:avLst/>
          </a:prstGeom>
          <a:noFill/>
        </p:spPr>
        <p:txBody>
          <a:bodyPr wrap="none" rtlCol="0">
            <a:spAutoFit/>
          </a:bodyPr>
          <a:lstStyle/>
          <a:p>
            <a:pPr marR="0" lvl="0" indent="0" algn="ctr" fontAlgn="auto">
              <a:spcBef>
                <a:spcPts val="0"/>
              </a:spcBef>
              <a:spcAft>
                <a:spcPts val="0"/>
              </a:spcAft>
              <a:buClrTx/>
              <a:buSzTx/>
              <a:buFontTx/>
              <a:buNone/>
              <a:defRPr/>
            </a:pPr>
            <a:r>
              <a:rPr lang="zh-CN"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礼券</a:t>
            </a:r>
            <a:endParaRPr lang="zh-CN"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R="0" lvl="0" indent="0" algn="ctr" fontAlgn="auto">
              <a:spcBef>
                <a:spcPts val="0"/>
              </a:spcBef>
              <a:spcAft>
                <a:spcPts val="0"/>
              </a:spcAft>
              <a:buClrTx/>
              <a:buSzTx/>
              <a:buFontTx/>
              <a:buNone/>
              <a:defRPr/>
            </a:pPr>
            <a:r>
              <a:rPr lang="zh-CN"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派发</a:t>
            </a:r>
            <a:endParaRPr lang="zh-CN" sz="11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734" name="天蝎PPT原创©114"/>
          <p:cNvSpPr/>
          <p:nvPr/>
        </p:nvSpPr>
        <p:spPr>
          <a:xfrm>
            <a:off x="5182608" y="4080323"/>
            <a:ext cx="732945" cy="229241"/>
          </a:xfrm>
          <a:prstGeom prst="roundRect">
            <a:avLst>
              <a:gd name="adj" fmla="val 50000"/>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65</a:t>
            </a:r>
            <a:r>
              <a:rPr lang="en-US" altLang="zh-SG"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endParaRPr lang="zh-SG" altLang="en-US"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735" name="天蝎PPT原创©115"/>
          <p:cNvSpPr/>
          <p:nvPr/>
        </p:nvSpPr>
        <p:spPr>
          <a:xfrm>
            <a:off x="5182608" y="4469638"/>
            <a:ext cx="732945" cy="229241"/>
          </a:xfrm>
          <a:prstGeom prst="roundRect">
            <a:avLst>
              <a:gd name="adj" fmla="val 50000"/>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en-US" altLang="zh-CN"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3000人</a:t>
            </a:r>
            <a:endParaRPr lang="en-US" altLang="zh-CN"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736" name="天蝎PPT原创©116"/>
          <p:cNvSpPr/>
          <p:nvPr/>
        </p:nvSpPr>
        <p:spPr>
          <a:xfrm>
            <a:off x="5170258" y="4909752"/>
            <a:ext cx="732945" cy="229241"/>
          </a:xfrm>
          <a:prstGeom prst="roundRect">
            <a:avLst>
              <a:gd name="adj" fmla="val 50000"/>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en-US" altLang="zh-CN"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320元+</a:t>
            </a:r>
            <a:endParaRPr lang="en-US" altLang="zh-CN"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737" name="天蝎PPT原创©117"/>
          <p:cNvSpPr/>
          <p:nvPr/>
        </p:nvSpPr>
        <p:spPr>
          <a:xfrm>
            <a:off x="8134529" y="4080323"/>
            <a:ext cx="732945" cy="229241"/>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SG"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40%</a:t>
            </a:r>
            <a:endParaRPr lang="en-US" altLang="zh-SG"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738" name="天蝎PPT原创©118"/>
          <p:cNvSpPr/>
          <p:nvPr/>
        </p:nvSpPr>
        <p:spPr>
          <a:xfrm>
            <a:off x="8134529" y="4469638"/>
            <a:ext cx="732945" cy="229241"/>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50</a:t>
            </a:r>
            <a:r>
              <a:rPr lang="zh-CN" altLang="en-US"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人</a:t>
            </a:r>
            <a:endParaRPr lang="zh-CN" altLang="en-US"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739" name="天蝎PPT原创©119"/>
          <p:cNvSpPr/>
          <p:nvPr/>
        </p:nvSpPr>
        <p:spPr>
          <a:xfrm>
            <a:off x="8122179" y="4909752"/>
            <a:ext cx="732945" cy="229241"/>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30%</a:t>
            </a:r>
            <a:endParaRPr lang="en-US" altLang="zh-CN" sz="105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740" name="天蝎PPT原创©120"/>
          <p:cNvSpPr txBox="1"/>
          <p:nvPr/>
        </p:nvSpPr>
        <p:spPr>
          <a:xfrm>
            <a:off x="10336872" y="5702051"/>
            <a:ext cx="1261884" cy="686278"/>
          </a:xfrm>
          <a:prstGeom prst="rect">
            <a:avLst/>
          </a:prstGeom>
          <a:noFill/>
        </p:spPr>
        <p:txBody>
          <a:bodyPr wrap="none">
            <a:spAutoFit/>
          </a:bodyPr>
          <a:lstStyle>
            <a:defPPr>
              <a:defRPr lang="zh-CN"/>
            </a:defPPr>
            <a:lvl1pPr>
              <a:defRPr sz="1200">
                <a:solidFill>
                  <a:schemeClr val="tx1">
                    <a:lumMod val="75000"/>
                    <a:lumOff val="25000"/>
                  </a:schemeClr>
                </a:solidFill>
                <a:latin typeface="+mj-ea"/>
                <a:ea typeface="+mj-ea"/>
              </a:defRPr>
            </a:lvl1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rPr>
              <a:t>线上渠道占比</a:t>
            </a:r>
            <a:endParaRPr kumimoji="0" lang="en-US" altLang="zh-CN" sz="14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lang="en-US" altLang="zh-CN" sz="20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45%</a:t>
            </a:r>
            <a:endParaRPr lang="en-US" altLang="zh-CN" sz="20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pic>
        <p:nvPicPr>
          <p:cNvPr id="56" name="图片 55" descr="数据分析 (1)"/>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42645" y="3052445"/>
            <a:ext cx="262890" cy="262890"/>
          </a:xfrm>
          <a:prstGeom prst="rect">
            <a:avLst/>
          </a:prstGeom>
        </p:spPr>
      </p:pic>
      <p:pic>
        <p:nvPicPr>
          <p:cNvPr id="58" name="图片 57" descr="新品发布"/>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590675" y="3002915"/>
            <a:ext cx="320040" cy="320040"/>
          </a:xfrm>
          <a:prstGeom prst="rect">
            <a:avLst/>
          </a:prstGeom>
        </p:spPr>
      </p:pic>
      <p:pic>
        <p:nvPicPr>
          <p:cNvPr id="59" name="图片 58" descr="优惠 折扣 福利 券 钱 红包 人民币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402205" y="3013075"/>
            <a:ext cx="297815" cy="297815"/>
          </a:xfrm>
          <a:prstGeom prst="rect">
            <a:avLst/>
          </a:prstGeom>
        </p:spPr>
      </p:pic>
      <p:pic>
        <p:nvPicPr>
          <p:cNvPr id="61" name="图片 60" descr="社群"/>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525645" y="2989580"/>
            <a:ext cx="358775" cy="358775"/>
          </a:xfrm>
          <a:prstGeom prst="rect">
            <a:avLst/>
          </a:prstGeom>
        </p:spPr>
      </p:pic>
      <p:pic>
        <p:nvPicPr>
          <p:cNvPr id="62" name="图片 61" descr="会员"/>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3769360" y="3023235"/>
            <a:ext cx="292100" cy="292100"/>
          </a:xfrm>
          <a:prstGeom prst="rect">
            <a:avLst/>
          </a:prstGeom>
        </p:spPr>
      </p:pic>
      <p:pic>
        <p:nvPicPr>
          <p:cNvPr id="64" name="图片 63" descr="跨界商域v3.0-82"/>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5330825" y="2990215"/>
            <a:ext cx="339725" cy="339725"/>
          </a:xfrm>
          <a:prstGeom prst="rect">
            <a:avLst/>
          </a:prstGeom>
        </p:spPr>
      </p:pic>
      <p:pic>
        <p:nvPicPr>
          <p:cNvPr id="224" name="图片 223" descr="礼盒"/>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9584055" y="3028315"/>
            <a:ext cx="287020" cy="287020"/>
          </a:xfrm>
          <a:prstGeom prst="rect">
            <a:avLst/>
          </a:prstGeom>
        </p:spPr>
      </p:pic>
      <p:pic>
        <p:nvPicPr>
          <p:cNvPr id="225" name="图片 224" descr="商品推广"/>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0379710" y="3023235"/>
            <a:ext cx="316230" cy="316230"/>
          </a:xfrm>
          <a:prstGeom prst="rect">
            <a:avLst/>
          </a:prstGeom>
        </p:spPr>
      </p:pic>
      <p:pic>
        <p:nvPicPr>
          <p:cNvPr id="227" name="图片 226" descr="money"/>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1179175" y="3023870"/>
            <a:ext cx="299085" cy="299085"/>
          </a:xfrm>
          <a:prstGeom prst="rect">
            <a:avLst/>
          </a:prstGeom>
        </p:spPr>
      </p:pic>
      <p:sp>
        <p:nvSpPr>
          <p:cNvPr id="2" name="天蝎PPT原创©23"/>
          <p:cNvSpPr txBox="1"/>
          <p:nvPr/>
        </p:nvSpPr>
        <p:spPr>
          <a:xfrm>
            <a:off x="350760" y="1194942"/>
            <a:ext cx="438150" cy="306705"/>
          </a:xfrm>
          <a:prstGeom prst="rect">
            <a:avLst/>
          </a:prstGeom>
          <a:noFill/>
        </p:spPr>
        <p:txBody>
          <a:bodyPr wrap="none" rtlCol="0">
            <a:spAutoFit/>
          </a:bodyPr>
          <a:lstStyle/>
          <a:p>
            <a:r>
              <a:rPr kumimoji="1" lang="en-US" altLang="zh-CN" sz="1400"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Q1</a:t>
            </a:r>
            <a:endParaRPr kumimoji="1" lang="en-US" altLang="zh-CN" sz="1400"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 name="天蝎PPT原创©26"/>
          <p:cNvSpPr txBox="1"/>
          <p:nvPr/>
        </p:nvSpPr>
        <p:spPr>
          <a:xfrm>
            <a:off x="3283239" y="1194942"/>
            <a:ext cx="438150" cy="306705"/>
          </a:xfrm>
          <a:prstGeom prst="rect">
            <a:avLst/>
          </a:prstGeom>
          <a:noFill/>
        </p:spPr>
        <p:txBody>
          <a:bodyPr wrap="none" rtlCol="0">
            <a:spAutoFit/>
          </a:bodyPr>
          <a:lstStyle/>
          <a:p>
            <a:r>
              <a:rPr kumimoji="1" lang="en-US" altLang="zh-CN" sz="1400"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Q2</a:t>
            </a:r>
            <a:endParaRPr kumimoji="1" lang="en-US" altLang="zh-CN" sz="1400"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8" name="天蝎PPT原创©28"/>
          <p:cNvSpPr txBox="1"/>
          <p:nvPr/>
        </p:nvSpPr>
        <p:spPr>
          <a:xfrm>
            <a:off x="6164388" y="1194942"/>
            <a:ext cx="438150" cy="306705"/>
          </a:xfrm>
          <a:prstGeom prst="rect">
            <a:avLst/>
          </a:prstGeom>
          <a:noFill/>
        </p:spPr>
        <p:txBody>
          <a:bodyPr wrap="none" rtlCol="0">
            <a:spAutoFit/>
          </a:bodyPr>
          <a:lstStyle/>
          <a:p>
            <a:r>
              <a:rPr kumimoji="1" lang="en-US" altLang="zh-CN" sz="1400"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Q3</a:t>
            </a:r>
            <a:endParaRPr kumimoji="1" lang="en-US" altLang="zh-CN" sz="1400"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1" name="天蝎PPT原创©30"/>
          <p:cNvSpPr txBox="1"/>
          <p:nvPr/>
        </p:nvSpPr>
        <p:spPr>
          <a:xfrm>
            <a:off x="9028321" y="1194942"/>
            <a:ext cx="438150" cy="306705"/>
          </a:xfrm>
          <a:prstGeom prst="rect">
            <a:avLst/>
          </a:prstGeom>
          <a:noFill/>
        </p:spPr>
        <p:txBody>
          <a:bodyPr wrap="none" rtlCol="0">
            <a:spAutoFit/>
          </a:bodyPr>
          <a:lstStyle/>
          <a:p>
            <a:r>
              <a:rPr kumimoji="1" lang="en-US" altLang="zh-CN" sz="1400"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Q4</a:t>
            </a:r>
            <a:endParaRPr kumimoji="1" lang="en-US" altLang="zh-CN" sz="1400"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1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13" name="图片 12"/>
            <p:cNvPicPr>
              <a:picLocks noChangeAspect="1"/>
            </p:cNvPicPr>
            <p:nvPr userDrawn="1"/>
          </p:nvPicPr>
          <p:blipFill>
            <a:blip r:embed="rId31"/>
            <a:srcRect l="17002" t="-1765" r="56499" b="-1176"/>
            <a:stretch>
              <a:fillRect/>
            </a:stretch>
          </p:blipFill>
          <p:spPr>
            <a:xfrm>
              <a:off x="13761" y="549"/>
              <a:ext cx="1582" cy="525"/>
            </a:xfrm>
            <a:prstGeom prst="rect">
              <a:avLst/>
            </a:prstGeom>
          </p:spPr>
        </p:pic>
        <p:sp>
          <p:nvSpPr>
            <p:cNvPr id="14" name="文本框 13"/>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营销推广计划时间表</a:t>
            </a:r>
            <a:endParaRPr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3" name="图片 2"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165" name="矩形: 圆角 58"/>
          <p:cNvSpPr/>
          <p:nvPr/>
        </p:nvSpPr>
        <p:spPr>
          <a:xfrm flipH="1">
            <a:off x="392111" y="5829996"/>
            <a:ext cx="1079252" cy="522685"/>
          </a:xfrm>
          <a:prstGeom prst="roundRect">
            <a:avLst>
              <a:gd name="adj" fmla="val 4253"/>
            </a:avLst>
          </a:prstGeom>
          <a:solidFill>
            <a:sysClr val="window" lastClr="FFFFFF"/>
          </a:solidFill>
          <a:ln w="12700" cap="flat" cmpd="sng" algn="ctr">
            <a:solidFill>
              <a:schemeClr val="accent5"/>
            </a:solidFill>
            <a:prstDash val="solid"/>
            <a:miter lim="800000"/>
          </a:ln>
          <a:effectLst/>
        </p:spPr>
        <p:txBody>
          <a:bodyPr rtlCol="0" anchor="ctr"/>
          <a:lstStyle/>
          <a:p>
            <a:pPr algn="ctr"/>
            <a:endParaRPr lang="zh-CN" altLang="en-US" dirty="0">
              <a:solidFill>
                <a:schemeClr val="accent5"/>
              </a:solidFill>
              <a:latin typeface="微软雅黑" panose="020B0503020204020204" charset="-122"/>
              <a:ea typeface="微软雅黑" panose="020B0503020204020204" charset="-122"/>
              <a:cs typeface="微软雅黑" panose="020B0503020204020204" charset="-122"/>
            </a:endParaRPr>
          </a:p>
        </p:txBody>
      </p:sp>
      <p:grpSp>
        <p:nvGrpSpPr>
          <p:cNvPr id="149" name="组合 148"/>
          <p:cNvGrpSpPr/>
          <p:nvPr/>
        </p:nvGrpSpPr>
        <p:grpSpPr>
          <a:xfrm>
            <a:off x="1584823" y="4016709"/>
            <a:ext cx="2450457" cy="1650344"/>
            <a:chOff x="1584823" y="3217776"/>
            <a:chExt cx="2450457" cy="1542196"/>
          </a:xfrm>
        </p:grpSpPr>
        <p:sp>
          <p:nvSpPr>
            <p:cNvPr id="144" name="矩形: 圆角 565"/>
            <p:cNvSpPr/>
            <p:nvPr/>
          </p:nvSpPr>
          <p:spPr>
            <a:xfrm flipH="1">
              <a:off x="1584823" y="3217776"/>
              <a:ext cx="2450457" cy="483747"/>
            </a:xfrm>
            <a:prstGeom prst="roundRect">
              <a:avLst>
                <a:gd name="adj" fmla="val 3718"/>
              </a:avLst>
            </a:prstGeom>
            <a:solidFill>
              <a:schemeClr val="bg1"/>
            </a:solidFill>
            <a:ln>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47" name="矩形: 圆角 565"/>
            <p:cNvSpPr/>
            <p:nvPr/>
          </p:nvSpPr>
          <p:spPr>
            <a:xfrm flipH="1">
              <a:off x="1584823" y="3750132"/>
              <a:ext cx="2450457" cy="483747"/>
            </a:xfrm>
            <a:prstGeom prst="roundRect">
              <a:avLst>
                <a:gd name="adj" fmla="val 3718"/>
              </a:avLst>
            </a:prstGeom>
            <a:solidFill>
              <a:schemeClr val="bg1"/>
            </a:solidFill>
            <a:ln>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48" name="矩形: 圆角 565"/>
            <p:cNvSpPr/>
            <p:nvPr/>
          </p:nvSpPr>
          <p:spPr>
            <a:xfrm flipH="1">
              <a:off x="1584823" y="4276225"/>
              <a:ext cx="2450457" cy="483747"/>
            </a:xfrm>
            <a:prstGeom prst="roundRect">
              <a:avLst>
                <a:gd name="adj" fmla="val 3718"/>
              </a:avLst>
            </a:prstGeom>
            <a:solidFill>
              <a:schemeClr val="bg1"/>
            </a:solidFill>
            <a:ln>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150" name="组合 149"/>
          <p:cNvGrpSpPr/>
          <p:nvPr/>
        </p:nvGrpSpPr>
        <p:grpSpPr>
          <a:xfrm>
            <a:off x="4157542" y="4016709"/>
            <a:ext cx="2450457" cy="1650344"/>
            <a:chOff x="1584823" y="3217776"/>
            <a:chExt cx="2450457" cy="1542196"/>
          </a:xfrm>
        </p:grpSpPr>
        <p:sp>
          <p:nvSpPr>
            <p:cNvPr id="151" name="矩形: 圆角 565"/>
            <p:cNvSpPr/>
            <p:nvPr/>
          </p:nvSpPr>
          <p:spPr>
            <a:xfrm flipH="1">
              <a:off x="1584823" y="3217776"/>
              <a:ext cx="2450457" cy="483747"/>
            </a:xfrm>
            <a:prstGeom prst="roundRect">
              <a:avLst>
                <a:gd name="adj" fmla="val 3718"/>
              </a:avLst>
            </a:prstGeom>
            <a:solidFill>
              <a:schemeClr val="bg1"/>
            </a:solidFill>
            <a:ln>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2" name="矩形: 圆角 565"/>
            <p:cNvSpPr/>
            <p:nvPr/>
          </p:nvSpPr>
          <p:spPr>
            <a:xfrm flipH="1">
              <a:off x="1584823" y="3750132"/>
              <a:ext cx="2450457" cy="483747"/>
            </a:xfrm>
            <a:prstGeom prst="roundRect">
              <a:avLst>
                <a:gd name="adj" fmla="val 3718"/>
              </a:avLst>
            </a:prstGeom>
            <a:solidFill>
              <a:schemeClr val="bg1"/>
            </a:solidFill>
            <a:ln>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3" name="矩形: 圆角 565"/>
            <p:cNvSpPr/>
            <p:nvPr/>
          </p:nvSpPr>
          <p:spPr>
            <a:xfrm flipH="1">
              <a:off x="1584823" y="4276225"/>
              <a:ext cx="2450457" cy="483747"/>
            </a:xfrm>
            <a:prstGeom prst="roundRect">
              <a:avLst>
                <a:gd name="adj" fmla="val 3718"/>
              </a:avLst>
            </a:prstGeom>
            <a:solidFill>
              <a:schemeClr val="bg1"/>
            </a:solidFill>
            <a:ln>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154" name="组合 153"/>
          <p:cNvGrpSpPr/>
          <p:nvPr/>
        </p:nvGrpSpPr>
        <p:grpSpPr>
          <a:xfrm>
            <a:off x="6738009" y="4016709"/>
            <a:ext cx="2450457" cy="1650344"/>
            <a:chOff x="1584823" y="3217776"/>
            <a:chExt cx="2450457" cy="1542196"/>
          </a:xfrm>
        </p:grpSpPr>
        <p:sp>
          <p:nvSpPr>
            <p:cNvPr id="155" name="矩形: 圆角 565"/>
            <p:cNvSpPr/>
            <p:nvPr/>
          </p:nvSpPr>
          <p:spPr>
            <a:xfrm flipH="1">
              <a:off x="1584823" y="3217776"/>
              <a:ext cx="2450457" cy="483747"/>
            </a:xfrm>
            <a:prstGeom prst="roundRect">
              <a:avLst>
                <a:gd name="adj" fmla="val 3718"/>
              </a:avLst>
            </a:prstGeom>
            <a:solidFill>
              <a:schemeClr val="bg1"/>
            </a:solidFill>
            <a:ln>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6" name="矩形: 圆角 565"/>
            <p:cNvSpPr/>
            <p:nvPr/>
          </p:nvSpPr>
          <p:spPr>
            <a:xfrm flipH="1">
              <a:off x="1584823" y="3750132"/>
              <a:ext cx="2450457" cy="483747"/>
            </a:xfrm>
            <a:prstGeom prst="roundRect">
              <a:avLst>
                <a:gd name="adj" fmla="val 3718"/>
              </a:avLst>
            </a:prstGeom>
            <a:solidFill>
              <a:schemeClr val="bg1"/>
            </a:solidFill>
            <a:ln>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7" name="矩形: 圆角 565"/>
            <p:cNvSpPr/>
            <p:nvPr/>
          </p:nvSpPr>
          <p:spPr>
            <a:xfrm flipH="1">
              <a:off x="1584823" y="4276225"/>
              <a:ext cx="2450457" cy="483747"/>
            </a:xfrm>
            <a:prstGeom prst="roundRect">
              <a:avLst>
                <a:gd name="adj" fmla="val 3718"/>
              </a:avLst>
            </a:prstGeom>
            <a:solidFill>
              <a:schemeClr val="bg1"/>
            </a:solidFill>
            <a:ln>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158" name="组合 157"/>
          <p:cNvGrpSpPr/>
          <p:nvPr/>
        </p:nvGrpSpPr>
        <p:grpSpPr>
          <a:xfrm>
            <a:off x="9295229" y="4016709"/>
            <a:ext cx="2450457" cy="1650344"/>
            <a:chOff x="1584823" y="3217776"/>
            <a:chExt cx="2450457" cy="1542196"/>
          </a:xfrm>
        </p:grpSpPr>
        <p:sp>
          <p:nvSpPr>
            <p:cNvPr id="159" name="矩形: 圆角 565"/>
            <p:cNvSpPr/>
            <p:nvPr/>
          </p:nvSpPr>
          <p:spPr>
            <a:xfrm flipH="1">
              <a:off x="1584823" y="3217776"/>
              <a:ext cx="2450457" cy="483747"/>
            </a:xfrm>
            <a:prstGeom prst="roundRect">
              <a:avLst>
                <a:gd name="adj" fmla="val 3718"/>
              </a:avLst>
            </a:prstGeom>
            <a:solidFill>
              <a:schemeClr val="bg1"/>
            </a:solidFill>
            <a:ln>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0" name="矩形: 圆角 565"/>
            <p:cNvSpPr/>
            <p:nvPr/>
          </p:nvSpPr>
          <p:spPr>
            <a:xfrm flipH="1">
              <a:off x="1584823" y="3750132"/>
              <a:ext cx="2450457" cy="483747"/>
            </a:xfrm>
            <a:prstGeom prst="roundRect">
              <a:avLst>
                <a:gd name="adj" fmla="val 3718"/>
              </a:avLst>
            </a:prstGeom>
            <a:solidFill>
              <a:schemeClr val="bg1"/>
            </a:solidFill>
            <a:ln>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1" name="矩形: 圆角 565"/>
            <p:cNvSpPr/>
            <p:nvPr/>
          </p:nvSpPr>
          <p:spPr>
            <a:xfrm flipH="1">
              <a:off x="1584823" y="4276225"/>
              <a:ext cx="2450457" cy="483747"/>
            </a:xfrm>
            <a:prstGeom prst="roundRect">
              <a:avLst>
                <a:gd name="adj" fmla="val 3718"/>
              </a:avLst>
            </a:prstGeom>
            <a:solidFill>
              <a:schemeClr val="bg1"/>
            </a:solidFill>
            <a:ln>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138" name="矩形: 圆角 58"/>
          <p:cNvSpPr/>
          <p:nvPr/>
        </p:nvSpPr>
        <p:spPr>
          <a:xfrm flipH="1">
            <a:off x="392111" y="2622616"/>
            <a:ext cx="1079252" cy="553170"/>
          </a:xfrm>
          <a:prstGeom prst="roundRect">
            <a:avLst>
              <a:gd name="adj" fmla="val 4253"/>
            </a:avLst>
          </a:prstGeom>
          <a:solidFill>
            <a:sysClr val="window" lastClr="FFFFFF"/>
          </a:solidFill>
          <a:ln w="12700" cap="flat" cmpd="sng" algn="ctr">
            <a:solidFill>
              <a:schemeClr val="accent1"/>
            </a:solidFill>
            <a:prstDash val="solid"/>
            <a:miter lim="800000"/>
          </a:ln>
          <a:effectLst/>
        </p:spPr>
        <p:txBody>
          <a:bodyPr rtlCol="0" anchor="ctr"/>
          <a:lstStyle/>
          <a:p>
            <a:pPr algn="ctr"/>
            <a:endParaRPr lang="zh-CN" altLang="en-US"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39" name="矩形: 圆角 58"/>
          <p:cNvSpPr/>
          <p:nvPr/>
        </p:nvSpPr>
        <p:spPr>
          <a:xfrm flipH="1">
            <a:off x="392111" y="3391593"/>
            <a:ext cx="1079252" cy="2261216"/>
          </a:xfrm>
          <a:prstGeom prst="roundRect">
            <a:avLst>
              <a:gd name="adj" fmla="val 4253"/>
            </a:avLst>
          </a:prstGeom>
          <a:solidFill>
            <a:sysClr val="window" lastClr="FFFFFF"/>
          </a:solidFill>
          <a:ln w="12700" cap="flat" cmpd="sng" algn="ctr">
            <a:solidFill>
              <a:schemeClr val="accent1"/>
            </a:solidFill>
            <a:prstDash val="solid"/>
            <a:miter lim="800000"/>
          </a:ln>
          <a:effectLst/>
        </p:spPr>
        <p:txBody>
          <a:bodyPr rtlCol="0" anchor="ctr"/>
          <a:lstStyle/>
          <a:p>
            <a:pPr algn="ctr"/>
            <a:endParaRPr lang="zh-CN" altLang="en-US"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3" name="矩形: 圆角 58"/>
          <p:cNvSpPr/>
          <p:nvPr/>
        </p:nvSpPr>
        <p:spPr>
          <a:xfrm flipH="1">
            <a:off x="392111" y="1132232"/>
            <a:ext cx="11363323" cy="557958"/>
          </a:xfrm>
          <a:prstGeom prst="roundRect">
            <a:avLst>
              <a:gd name="adj" fmla="val 4253"/>
            </a:avLst>
          </a:prstGeom>
          <a:solidFill>
            <a:sysClr val="window" lastClr="FFFFFF"/>
          </a:solidFill>
          <a:ln w="12700" cap="flat" cmpd="sng" algn="ctr">
            <a:solidFill>
              <a:schemeClr val="accent5"/>
            </a:solidFill>
            <a:prstDash val="solid"/>
            <a:miter lim="800000"/>
          </a:ln>
          <a:effectLst/>
        </p:spPr>
        <p:txBody>
          <a:bodyPr rtlCol="0" anchor="ctr">
            <a:noAutofit/>
          </a:bodyPr>
          <a:lstStyle/>
          <a:p>
            <a:pPr lvl="0" algn="ctr">
              <a:buClrTx/>
              <a:buSzTx/>
              <a:buFontTx/>
            </a:pPr>
            <a:endParaRPr lang="zh-CN" altLang="en-US" dirty="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14" name="文本框 13"/>
          <p:cNvSpPr txBox="1"/>
          <p:nvPr/>
        </p:nvSpPr>
        <p:spPr>
          <a:xfrm>
            <a:off x="4118610" y="1227455"/>
            <a:ext cx="3072765" cy="368300"/>
          </a:xfrm>
          <a:prstGeom prst="rect">
            <a:avLst/>
          </a:prstGeom>
          <a:noFill/>
        </p:spPr>
        <p:txBody>
          <a:bodyPr wrap="square" rtlCol="0">
            <a:spAutoFit/>
          </a:bodyPr>
          <a:lstStyle/>
          <a:p>
            <a:pPr algn="ctr"/>
            <a:r>
              <a:rPr lang="zh-CN" altLang="en-US" b="1" dirty="0">
                <a:solidFill>
                  <a:schemeClr val="accent5"/>
                </a:solidFill>
                <a:latin typeface="微软雅黑" panose="020B0503020204020204" charset="-122"/>
                <a:ea typeface="微软雅黑" panose="020B0503020204020204" charset="-122"/>
                <a:cs typeface="微软雅黑" panose="020B0503020204020204" charset="-122"/>
              </a:rPr>
              <a:t>下阶段推广铺排计划</a:t>
            </a:r>
            <a:endParaRPr kumimoji="1" lang="en-US" altLang="zh-CN" b="1" dirty="0">
              <a:solidFill>
                <a:schemeClr val="accent5"/>
              </a:solidFill>
              <a:latin typeface="微软雅黑" panose="020B0503020204020204" charset="-122"/>
              <a:ea typeface="微软雅黑" panose="020B0503020204020204" charset="-122"/>
              <a:cs typeface="微软雅黑" panose="020B0503020204020204" charset="-122"/>
            </a:endParaRPr>
          </a:p>
        </p:txBody>
      </p:sp>
      <p:grpSp>
        <p:nvGrpSpPr>
          <p:cNvPr id="17" name="组合 16"/>
          <p:cNvGrpSpPr/>
          <p:nvPr/>
        </p:nvGrpSpPr>
        <p:grpSpPr>
          <a:xfrm>
            <a:off x="1590262" y="2621915"/>
            <a:ext cx="10144154" cy="553998"/>
            <a:chOff x="2756031" y="1888971"/>
            <a:chExt cx="8208986" cy="553998"/>
          </a:xfrm>
        </p:grpSpPr>
        <p:sp>
          <p:nvSpPr>
            <p:cNvPr id="15" name="矩形: 圆顶角 4"/>
            <p:cNvSpPr/>
            <p:nvPr/>
          </p:nvSpPr>
          <p:spPr>
            <a:xfrm>
              <a:off x="2756031" y="1888971"/>
              <a:ext cx="2103662" cy="553998"/>
            </a:xfrm>
            <a:prstGeom prst="homePlate">
              <a:avLst/>
            </a:prstGeom>
            <a:solidFill>
              <a:schemeClr val="bg1"/>
            </a:solidFill>
            <a:ln>
              <a:solidFill>
                <a:schemeClr val="accent1"/>
              </a:solidFill>
            </a:ln>
            <a:effectLst>
              <a:outerShdw blurRad="177800" dist="50800" dir="2700000" sx="99000" sy="99000" algn="tl" rotWithShape="0">
                <a:schemeClr val="accent1">
                  <a:alpha val="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16" name="矩形: 圆顶角 4"/>
            <p:cNvSpPr/>
            <p:nvPr/>
          </p:nvSpPr>
          <p:spPr>
            <a:xfrm>
              <a:off x="4802003" y="1888971"/>
              <a:ext cx="2103662" cy="553998"/>
            </a:xfrm>
            <a:prstGeom prst="chevron">
              <a:avLst/>
            </a:prstGeom>
            <a:solidFill>
              <a:schemeClr val="bg1"/>
            </a:solidFill>
            <a:ln>
              <a:solidFill>
                <a:schemeClr val="accent1"/>
              </a:solidFill>
            </a:ln>
            <a:effectLst>
              <a:outerShdw blurRad="177800" dist="50800" dir="2700000" sx="99000" sy="99000" algn="tl" rotWithShape="0">
                <a:schemeClr val="accent1">
                  <a:alpha val="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18" name="矩形: 圆顶角 4"/>
            <p:cNvSpPr/>
            <p:nvPr/>
          </p:nvSpPr>
          <p:spPr>
            <a:xfrm>
              <a:off x="6825012" y="1888971"/>
              <a:ext cx="2103662" cy="553998"/>
            </a:xfrm>
            <a:prstGeom prst="chevron">
              <a:avLst/>
            </a:prstGeom>
            <a:solidFill>
              <a:schemeClr val="bg1"/>
            </a:solidFill>
            <a:ln>
              <a:solidFill>
                <a:schemeClr val="accent1"/>
              </a:solidFill>
            </a:ln>
            <a:effectLst>
              <a:outerShdw blurRad="177800" dist="50800" dir="2700000" sx="99000" sy="99000" algn="tl" rotWithShape="0">
                <a:schemeClr val="accent1">
                  <a:alpha val="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19" name="矩形: 圆顶角 4"/>
            <p:cNvSpPr/>
            <p:nvPr/>
          </p:nvSpPr>
          <p:spPr>
            <a:xfrm>
              <a:off x="8861355" y="1888971"/>
              <a:ext cx="2103662" cy="553998"/>
            </a:xfrm>
            <a:prstGeom prst="chevron">
              <a:avLst/>
            </a:prstGeom>
            <a:solidFill>
              <a:schemeClr val="bg1"/>
            </a:solidFill>
            <a:ln>
              <a:solidFill>
                <a:schemeClr val="accent1"/>
              </a:solidFill>
            </a:ln>
            <a:effectLst>
              <a:outerShdw blurRad="177800" dist="50800" dir="2700000" sx="99000" sy="99000" algn="tl" rotWithShape="0">
                <a:schemeClr val="accent1">
                  <a:alpha val="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grpSp>
      <p:sp>
        <p:nvSpPr>
          <p:cNvPr id="20" name="文本框 19"/>
          <p:cNvSpPr txBox="1"/>
          <p:nvPr/>
        </p:nvSpPr>
        <p:spPr>
          <a:xfrm>
            <a:off x="474261" y="2717954"/>
            <a:ext cx="899715" cy="307777"/>
          </a:xfrm>
          <a:prstGeom prst="rect">
            <a:avLst/>
          </a:prstGeom>
          <a:noFill/>
        </p:spPr>
        <p:txBody>
          <a:bodyPr wrap="square">
            <a:spAutoFit/>
          </a:bodyPr>
          <a:lstStyle/>
          <a:p>
            <a:pPr lvl="0" algn="ctr">
              <a:buClrTx/>
              <a:buSzTx/>
              <a:buFontTx/>
            </a:pPr>
            <a:r>
              <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sym typeface="+mn-ea"/>
              </a:rPr>
              <a:t>时间阶段</a:t>
            </a:r>
            <a:endPar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21" name="文本框 20"/>
          <p:cNvSpPr txBox="1"/>
          <p:nvPr/>
        </p:nvSpPr>
        <p:spPr>
          <a:xfrm>
            <a:off x="413713" y="4403192"/>
            <a:ext cx="1036047" cy="307777"/>
          </a:xfrm>
          <a:prstGeom prst="rect">
            <a:avLst/>
          </a:prstGeom>
          <a:noFill/>
        </p:spPr>
        <p:txBody>
          <a:bodyPr wrap="square">
            <a:spAutoFit/>
          </a:bodyPr>
          <a:lstStyle/>
          <a:p>
            <a:pPr lvl="0" algn="ctr">
              <a:buClrTx/>
              <a:buSzTx/>
              <a:buFontTx/>
            </a:pPr>
            <a:r>
              <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sym typeface="+mn-ea"/>
              </a:rPr>
              <a:t>活动内容</a:t>
            </a:r>
            <a:endPar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26" name="文本框 25"/>
          <p:cNvSpPr txBox="1"/>
          <p:nvPr/>
        </p:nvSpPr>
        <p:spPr>
          <a:xfrm>
            <a:off x="2354293" y="2676158"/>
            <a:ext cx="810035" cy="307777"/>
          </a:xfrm>
          <a:prstGeom prst="rect">
            <a:avLst/>
          </a:prstGeom>
          <a:noFill/>
        </p:spPr>
        <p:txBody>
          <a:bodyPr wrap="square" rtlCol="0">
            <a:spAutoFit/>
          </a:bodyPr>
          <a:lstStyle/>
          <a:p>
            <a:r>
              <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预热期</a:t>
            </a:r>
            <a:endPar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7" name="文本框 26"/>
          <p:cNvSpPr txBox="1"/>
          <p:nvPr/>
        </p:nvSpPr>
        <p:spPr>
          <a:xfrm>
            <a:off x="5115079" y="2652911"/>
            <a:ext cx="810035" cy="307777"/>
          </a:xfrm>
          <a:prstGeom prst="rect">
            <a:avLst/>
          </a:prstGeom>
          <a:noFill/>
        </p:spPr>
        <p:txBody>
          <a:bodyPr wrap="square" rtlCol="0">
            <a:spAutoFit/>
          </a:bodyPr>
          <a:lstStyle/>
          <a:p>
            <a:r>
              <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高潮期</a:t>
            </a:r>
            <a:endPar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8" name="文本框 27"/>
          <p:cNvSpPr txBox="1"/>
          <p:nvPr/>
        </p:nvSpPr>
        <p:spPr>
          <a:xfrm>
            <a:off x="7631465" y="2645162"/>
            <a:ext cx="810035" cy="307777"/>
          </a:xfrm>
          <a:prstGeom prst="rect">
            <a:avLst/>
          </a:prstGeom>
          <a:noFill/>
        </p:spPr>
        <p:txBody>
          <a:bodyPr wrap="square" rtlCol="0">
            <a:spAutoFit/>
          </a:bodyPr>
          <a:lstStyle/>
          <a:p>
            <a:r>
              <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爆发期</a:t>
            </a:r>
            <a:endPar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nvSpPr>
        <p:spPr>
          <a:xfrm>
            <a:off x="10041451" y="2645162"/>
            <a:ext cx="810035" cy="307777"/>
          </a:xfrm>
          <a:prstGeom prst="rect">
            <a:avLst/>
          </a:prstGeom>
          <a:noFill/>
        </p:spPr>
        <p:txBody>
          <a:bodyPr wrap="square" rtlCol="0">
            <a:spAutoFit/>
          </a:bodyPr>
          <a:lstStyle/>
          <a:p>
            <a:r>
              <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长尾期</a:t>
            </a:r>
            <a:endPar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1" name="矩形: 圆角 192"/>
          <p:cNvSpPr/>
          <p:nvPr/>
        </p:nvSpPr>
        <p:spPr>
          <a:xfrm>
            <a:off x="1590252" y="3390144"/>
            <a:ext cx="2439602" cy="509814"/>
          </a:xfrm>
          <a:prstGeom prst="roundRect">
            <a:avLst>
              <a:gd name="adj" fmla="val 13820"/>
            </a:avLst>
          </a:prstGeom>
          <a:gradFill>
            <a:gsLst>
              <a:gs pos="0">
                <a:schemeClr val="accent1">
                  <a:lumMod val="60000"/>
                  <a:lumOff val="40000"/>
                </a:schemeClr>
              </a:gs>
              <a:gs pos="100000">
                <a:schemeClr val="accent1"/>
              </a:gs>
            </a:gsLst>
            <a:lin ang="2700000" scaled="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endParaRPr lang="zh-CN" altLang="en-US" sz="1945" dirty="0">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38" name="文本框 37"/>
          <p:cNvSpPr txBox="1"/>
          <p:nvPr/>
        </p:nvSpPr>
        <p:spPr>
          <a:xfrm>
            <a:off x="1803421" y="3491162"/>
            <a:ext cx="2127959" cy="307777"/>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rPr>
              <a:t>合作确认 资源对接</a:t>
            </a:r>
            <a:endParaRPr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9" name="矩形: 圆角 511"/>
          <p:cNvSpPr/>
          <p:nvPr/>
        </p:nvSpPr>
        <p:spPr>
          <a:xfrm>
            <a:off x="4161339" y="3390144"/>
            <a:ext cx="2439602" cy="509814"/>
          </a:xfrm>
          <a:prstGeom prst="roundRect">
            <a:avLst>
              <a:gd name="adj" fmla="val 13820"/>
            </a:avLst>
          </a:prstGeom>
          <a:gradFill>
            <a:gsLst>
              <a:gs pos="0">
                <a:schemeClr val="accent1">
                  <a:lumMod val="60000"/>
                  <a:lumOff val="40000"/>
                </a:schemeClr>
              </a:gs>
              <a:gs pos="100000">
                <a:schemeClr val="accent1"/>
              </a:gs>
            </a:gsLst>
            <a:lin ang="2700000" scaled="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56" name="文本框 55"/>
          <p:cNvSpPr txBox="1"/>
          <p:nvPr/>
        </p:nvSpPr>
        <p:spPr>
          <a:xfrm>
            <a:off x="4374509" y="3491162"/>
            <a:ext cx="2127959" cy="307777"/>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rPr>
              <a:t>话题炒作 高潮推动</a:t>
            </a:r>
            <a:endParaRPr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67" name="矩形: 圆角 529"/>
          <p:cNvSpPr/>
          <p:nvPr/>
        </p:nvSpPr>
        <p:spPr>
          <a:xfrm>
            <a:off x="6752245" y="3390144"/>
            <a:ext cx="2439602" cy="509814"/>
          </a:xfrm>
          <a:prstGeom prst="roundRect">
            <a:avLst>
              <a:gd name="adj" fmla="val 13820"/>
            </a:avLst>
          </a:prstGeom>
          <a:gradFill>
            <a:gsLst>
              <a:gs pos="0">
                <a:schemeClr val="accent1">
                  <a:lumMod val="60000"/>
                  <a:lumOff val="40000"/>
                </a:schemeClr>
              </a:gs>
              <a:gs pos="100000">
                <a:schemeClr val="accent1"/>
              </a:gs>
            </a:gsLst>
            <a:lin ang="2700000" scaled="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73" name="文本框 72"/>
          <p:cNvSpPr txBox="1"/>
          <p:nvPr/>
        </p:nvSpPr>
        <p:spPr>
          <a:xfrm>
            <a:off x="7144223" y="4162056"/>
            <a:ext cx="1623093" cy="239371"/>
          </a:xfrm>
          <a:prstGeom prst="rect">
            <a:avLst/>
          </a:prstGeom>
          <a:noFill/>
          <a:effectLst/>
        </p:spPr>
        <p:txBody>
          <a:bodyPr wrap="none" lIns="79004" tIns="39502" rIns="79004" bIns="39502" rtlCol="0">
            <a:spAutoFit/>
          </a:bodyPr>
          <a:lstStyle/>
          <a:p>
            <a:r>
              <a:rPr lang="zh-CN" altLang="en-US" sz="1035" dirty="0">
                <a:solidFill>
                  <a:schemeClr val="tx2"/>
                </a:solidFill>
                <a:latin typeface="微软雅黑" panose="020B0503020204020204" charset="-122"/>
                <a:ea typeface="微软雅黑" panose="020B0503020204020204" charset="-122"/>
                <a:cs typeface="微软雅黑" panose="020B0503020204020204" charset="-122"/>
              </a:rPr>
              <a:t>多位明星同时发微博宣传</a:t>
            </a:r>
            <a:endParaRPr lang="zh-CN" altLang="en-US" sz="1035"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4" name="文本框 73"/>
          <p:cNvSpPr txBox="1"/>
          <p:nvPr/>
        </p:nvSpPr>
        <p:spPr>
          <a:xfrm>
            <a:off x="6965415" y="3491162"/>
            <a:ext cx="2127959" cy="307777"/>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rPr>
              <a:t>圈层事件 激发共鸣</a:t>
            </a:r>
            <a:endParaRPr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79" name="文本框 78"/>
          <p:cNvSpPr txBox="1"/>
          <p:nvPr/>
        </p:nvSpPr>
        <p:spPr>
          <a:xfrm>
            <a:off x="7115516" y="4740913"/>
            <a:ext cx="1889192" cy="239371"/>
          </a:xfrm>
          <a:prstGeom prst="rect">
            <a:avLst/>
          </a:prstGeom>
          <a:noFill/>
          <a:effectLst/>
        </p:spPr>
        <p:txBody>
          <a:bodyPr wrap="none" lIns="79004" tIns="39502" rIns="79004" bIns="39502" rtlCol="0">
            <a:spAutoFit/>
          </a:bodyPr>
          <a:lstStyle/>
          <a:p>
            <a:r>
              <a:rPr lang="zh-CN" altLang="en-US" sz="1035" dirty="0">
                <a:solidFill>
                  <a:schemeClr val="tx2"/>
                </a:solidFill>
                <a:latin typeface="微软雅黑" panose="020B0503020204020204" charset="-122"/>
                <a:ea typeface="微软雅黑" panose="020B0503020204020204" charset="-122"/>
                <a:cs typeface="微软雅黑" panose="020B0503020204020204" charset="-122"/>
              </a:rPr>
              <a:t>发起微博话题，吸引粉丝讨论</a:t>
            </a:r>
            <a:endParaRPr lang="zh-CN" altLang="en-US" sz="1035"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4" name="文本框 83"/>
          <p:cNvSpPr txBox="1"/>
          <p:nvPr/>
        </p:nvSpPr>
        <p:spPr>
          <a:xfrm>
            <a:off x="7168443" y="5307427"/>
            <a:ext cx="1623093" cy="239371"/>
          </a:xfrm>
          <a:prstGeom prst="rect">
            <a:avLst/>
          </a:prstGeom>
          <a:noFill/>
          <a:effectLst/>
        </p:spPr>
        <p:txBody>
          <a:bodyPr wrap="none" lIns="79004" tIns="39502" rIns="79004" bIns="39502" rtlCol="0">
            <a:spAutoFit/>
          </a:bodyPr>
          <a:lstStyle/>
          <a:p>
            <a:r>
              <a:rPr lang="zh-CN" altLang="en-US" sz="1035" dirty="0">
                <a:solidFill>
                  <a:schemeClr val="tx2"/>
                </a:solidFill>
                <a:latin typeface="微软雅黑" panose="020B0503020204020204" charset="-122"/>
                <a:ea typeface="微软雅黑" panose="020B0503020204020204" charset="-122"/>
                <a:cs typeface="微软雅黑" panose="020B0503020204020204" charset="-122"/>
              </a:rPr>
              <a:t>流量收割，周边电商转化</a:t>
            </a:r>
            <a:endParaRPr lang="zh-CN" altLang="en-US" sz="1035"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5" name="矩形: 圆角 547"/>
          <p:cNvSpPr/>
          <p:nvPr/>
        </p:nvSpPr>
        <p:spPr>
          <a:xfrm>
            <a:off x="9304423" y="3390144"/>
            <a:ext cx="2439602" cy="509814"/>
          </a:xfrm>
          <a:prstGeom prst="roundRect">
            <a:avLst>
              <a:gd name="adj" fmla="val 13820"/>
            </a:avLst>
          </a:prstGeom>
          <a:gradFill>
            <a:gsLst>
              <a:gs pos="0">
                <a:schemeClr val="accent1">
                  <a:lumMod val="60000"/>
                  <a:lumOff val="40000"/>
                </a:schemeClr>
              </a:gs>
              <a:gs pos="100000">
                <a:schemeClr val="accent1"/>
              </a:gs>
            </a:gsLst>
            <a:lin ang="2700000" scaled="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91" name="文本框 90"/>
          <p:cNvSpPr txBox="1"/>
          <p:nvPr/>
        </p:nvSpPr>
        <p:spPr>
          <a:xfrm>
            <a:off x="9621975" y="4143641"/>
            <a:ext cx="1889192" cy="239371"/>
          </a:xfrm>
          <a:prstGeom prst="rect">
            <a:avLst/>
          </a:prstGeom>
          <a:noFill/>
          <a:effectLst/>
        </p:spPr>
        <p:txBody>
          <a:bodyPr wrap="none" lIns="79004" tIns="39502" rIns="79004" bIns="39502" rtlCol="0">
            <a:spAutoFit/>
          </a:bodyPr>
          <a:lstStyle/>
          <a:p>
            <a:r>
              <a:rPr lang="zh-CN" altLang="en-US" sz="1035" dirty="0">
                <a:solidFill>
                  <a:schemeClr val="tx2"/>
                </a:solidFill>
                <a:latin typeface="微软雅黑" panose="020B0503020204020204" charset="-122"/>
                <a:ea typeface="微软雅黑" panose="020B0503020204020204" charset="-122"/>
                <a:cs typeface="微软雅黑" panose="020B0503020204020204" charset="-122"/>
              </a:rPr>
              <a:t>话题持续发酵，长尾流量获取</a:t>
            </a:r>
            <a:endParaRPr lang="zh-CN" altLang="en-US" sz="1035"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2" name="文本框 91"/>
          <p:cNvSpPr txBox="1"/>
          <p:nvPr/>
        </p:nvSpPr>
        <p:spPr>
          <a:xfrm>
            <a:off x="9517592" y="3491162"/>
            <a:ext cx="2127959" cy="307777"/>
          </a:xfrm>
          <a:prstGeom prst="rect">
            <a:avLst/>
          </a:prstGeom>
          <a:noFill/>
          <a:effectLst/>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rPr>
              <a:t>持续发酵 细水长流</a:t>
            </a:r>
            <a:endParaRPr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04" name="矩形: 圆角 571"/>
          <p:cNvSpPr/>
          <p:nvPr/>
        </p:nvSpPr>
        <p:spPr>
          <a:xfrm>
            <a:off x="1584822" y="5847463"/>
            <a:ext cx="10187477" cy="509814"/>
          </a:xfrm>
          <a:prstGeom prst="roundRect">
            <a:avLst>
              <a:gd name="adj" fmla="val 7149"/>
            </a:avLst>
          </a:prstGeom>
          <a:gradFill>
            <a:gsLst>
              <a:gs pos="0">
                <a:schemeClr val="accent5">
                  <a:lumMod val="60000"/>
                  <a:lumOff val="40000"/>
                </a:schemeClr>
              </a:gs>
              <a:gs pos="100000">
                <a:schemeClr val="accent5"/>
              </a:gs>
            </a:gsLst>
            <a:lin ang="2700000" scaled="0"/>
          </a:gradFill>
          <a:ln w="38100">
            <a:noFill/>
          </a:ln>
          <a:effectLst>
            <a:outerShdw blurRad="254000" dist="50800" dir="5400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dirty="0">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13" name="文本框 112"/>
          <p:cNvSpPr txBox="1"/>
          <p:nvPr/>
        </p:nvSpPr>
        <p:spPr>
          <a:xfrm>
            <a:off x="3101983" y="5935865"/>
            <a:ext cx="2251150" cy="338554"/>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en-US" altLang="zh-CN" sz="1600" b="1" dirty="0">
                <a:solidFill>
                  <a:schemeClr val="bg1"/>
                </a:solidFill>
                <a:latin typeface="微软雅黑" panose="020B0503020204020204" charset="-122"/>
                <a:ea typeface="微软雅黑" panose="020B0503020204020204" charset="-122"/>
                <a:cs typeface="微软雅黑" panose="020B0503020204020204" charset="-122"/>
              </a:rPr>
              <a:t>1000+</a:t>
            </a: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rPr>
              <a:t>篇笔记、文章</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14" name="文本框 113"/>
          <p:cNvSpPr txBox="1"/>
          <p:nvPr/>
        </p:nvSpPr>
        <p:spPr>
          <a:xfrm>
            <a:off x="5810786" y="5935865"/>
            <a:ext cx="1814614" cy="338554"/>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en-US" altLang="zh-CN" sz="1600" b="1" dirty="0">
                <a:solidFill>
                  <a:schemeClr val="bg1"/>
                </a:solidFill>
                <a:latin typeface="微软雅黑" panose="020B0503020204020204" charset="-122"/>
                <a:ea typeface="微软雅黑" panose="020B0503020204020204" charset="-122"/>
                <a:cs typeface="微软雅黑" panose="020B0503020204020204" charset="-122"/>
              </a:rPr>
              <a:t>1000w+</a:t>
            </a: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rPr>
              <a:t>浏览量</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15" name="文本框 114"/>
          <p:cNvSpPr txBox="1"/>
          <p:nvPr/>
        </p:nvSpPr>
        <p:spPr>
          <a:xfrm>
            <a:off x="8143068" y="5935865"/>
            <a:ext cx="1814614" cy="338554"/>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en-US" altLang="zh-CN" sz="1600" b="1" dirty="0">
                <a:solidFill>
                  <a:schemeClr val="bg1"/>
                </a:solidFill>
                <a:latin typeface="微软雅黑" panose="020B0503020204020204" charset="-122"/>
                <a:ea typeface="微软雅黑" panose="020B0503020204020204" charset="-122"/>
                <a:cs typeface="微软雅黑" panose="020B0503020204020204" charset="-122"/>
              </a:rPr>
              <a:t>10w</a:t>
            </a: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rPr>
              <a:t>转化粉丝</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endParaRPr>
          </a:p>
        </p:txBody>
      </p:sp>
      <p:cxnSp>
        <p:nvCxnSpPr>
          <p:cNvPr id="116" name="直接连接符 575"/>
          <p:cNvCxnSpPr/>
          <p:nvPr/>
        </p:nvCxnSpPr>
        <p:spPr>
          <a:xfrm>
            <a:off x="5569723" y="6006437"/>
            <a:ext cx="0" cy="20662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7" name="直接连接符 576"/>
          <p:cNvCxnSpPr/>
          <p:nvPr/>
        </p:nvCxnSpPr>
        <p:spPr>
          <a:xfrm>
            <a:off x="7911066" y="6006437"/>
            <a:ext cx="0" cy="20662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3" name="文本框 132"/>
          <p:cNvSpPr txBox="1"/>
          <p:nvPr/>
        </p:nvSpPr>
        <p:spPr>
          <a:xfrm>
            <a:off x="2082872" y="2907290"/>
            <a:ext cx="1547218" cy="261610"/>
          </a:xfrm>
          <a:prstGeom prst="rect">
            <a:avLst/>
          </a:prstGeom>
          <a:noFill/>
        </p:spPr>
        <p:txBody>
          <a:bodyPr wrap="none" rtlCol="0">
            <a:spAutoFit/>
          </a:bodyPr>
          <a:lstStyle/>
          <a:p>
            <a:r>
              <a:rPr kumimoji="1" lang="en-US" altLang="zh-CN" sz="1100" dirty="0">
                <a:solidFill>
                  <a:schemeClr val="tx2"/>
                </a:solidFill>
                <a:latin typeface="微软雅黑" panose="020B0503020204020204" charset="-122"/>
                <a:ea typeface="微软雅黑" panose="020B0503020204020204" charset="-122"/>
                <a:cs typeface="微软雅黑" panose="020B0503020204020204" charset="-122"/>
              </a:rPr>
              <a:t>2024.5.10-2024.5.18</a:t>
            </a:r>
            <a:endParaRPr kumimoji="1" lang="en-US" altLang="zh-CN" sz="11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4" name="文本框 133"/>
          <p:cNvSpPr txBox="1"/>
          <p:nvPr/>
        </p:nvSpPr>
        <p:spPr>
          <a:xfrm>
            <a:off x="4809318" y="2898678"/>
            <a:ext cx="1547218" cy="261610"/>
          </a:xfrm>
          <a:prstGeom prst="rect">
            <a:avLst/>
          </a:prstGeom>
          <a:noFill/>
        </p:spPr>
        <p:txBody>
          <a:bodyPr wrap="none" rtlCol="0">
            <a:spAutoFit/>
          </a:bodyPr>
          <a:lstStyle/>
          <a:p>
            <a:r>
              <a:rPr kumimoji="1" lang="en-US" altLang="zh-CN" sz="1100" dirty="0">
                <a:solidFill>
                  <a:schemeClr val="tx2"/>
                </a:solidFill>
                <a:latin typeface="微软雅黑" panose="020B0503020204020204" charset="-122"/>
                <a:ea typeface="微软雅黑" panose="020B0503020204020204" charset="-122"/>
                <a:cs typeface="微软雅黑" panose="020B0503020204020204" charset="-122"/>
              </a:rPr>
              <a:t>2024.5.19-2024.6.18</a:t>
            </a:r>
            <a:endParaRPr kumimoji="1" lang="en-US" altLang="zh-CN" sz="11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5" name="文本框 134"/>
          <p:cNvSpPr txBox="1"/>
          <p:nvPr/>
        </p:nvSpPr>
        <p:spPr>
          <a:xfrm>
            <a:off x="7258050" y="2898678"/>
            <a:ext cx="1547218" cy="261610"/>
          </a:xfrm>
          <a:prstGeom prst="rect">
            <a:avLst/>
          </a:prstGeom>
          <a:noFill/>
        </p:spPr>
        <p:txBody>
          <a:bodyPr wrap="none" rtlCol="0">
            <a:spAutoFit/>
          </a:bodyPr>
          <a:lstStyle/>
          <a:p>
            <a:r>
              <a:rPr kumimoji="1" lang="en-US" altLang="zh-CN" sz="1100" dirty="0">
                <a:solidFill>
                  <a:schemeClr val="tx2"/>
                </a:solidFill>
                <a:latin typeface="微软雅黑" panose="020B0503020204020204" charset="-122"/>
                <a:ea typeface="微软雅黑" panose="020B0503020204020204" charset="-122"/>
                <a:cs typeface="微软雅黑" panose="020B0503020204020204" charset="-122"/>
              </a:rPr>
              <a:t>2024.6.18-2024.6.30</a:t>
            </a:r>
            <a:endParaRPr kumimoji="1" lang="en-US" altLang="zh-CN" sz="11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6" name="文本框 135"/>
          <p:cNvSpPr txBox="1"/>
          <p:nvPr/>
        </p:nvSpPr>
        <p:spPr>
          <a:xfrm>
            <a:off x="9714531" y="2914176"/>
            <a:ext cx="1463862" cy="261610"/>
          </a:xfrm>
          <a:prstGeom prst="rect">
            <a:avLst/>
          </a:prstGeom>
          <a:noFill/>
        </p:spPr>
        <p:txBody>
          <a:bodyPr wrap="none" rtlCol="0">
            <a:spAutoFit/>
          </a:bodyPr>
          <a:lstStyle/>
          <a:p>
            <a:r>
              <a:rPr kumimoji="1" lang="en-US" altLang="zh-CN" sz="1100" dirty="0">
                <a:solidFill>
                  <a:schemeClr val="tx2"/>
                </a:solidFill>
                <a:latin typeface="微软雅黑" panose="020B0503020204020204" charset="-122"/>
                <a:ea typeface="微软雅黑" panose="020B0503020204020204" charset="-122"/>
                <a:cs typeface="微软雅黑" panose="020B0503020204020204" charset="-122"/>
              </a:rPr>
              <a:t>2024.7.1-2024.7.15</a:t>
            </a:r>
            <a:endParaRPr kumimoji="1" lang="en-US" altLang="zh-CN" sz="11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43" name="文本框 142"/>
          <p:cNvSpPr txBox="1"/>
          <p:nvPr/>
        </p:nvSpPr>
        <p:spPr>
          <a:xfrm>
            <a:off x="474261" y="5932937"/>
            <a:ext cx="899715" cy="307777"/>
          </a:xfrm>
          <a:prstGeom prst="rect">
            <a:avLst/>
          </a:prstGeom>
          <a:noFill/>
        </p:spPr>
        <p:txBody>
          <a:bodyPr wrap="square">
            <a:spAutoFit/>
          </a:bodyPr>
          <a:lstStyle/>
          <a:p>
            <a:pPr lvl="0" algn="ctr">
              <a:buClrTx/>
              <a:buSzTx/>
              <a:buFontTx/>
            </a:pPr>
            <a:r>
              <a:rPr lang="zh-CN" altLang="en-US" sz="1400" b="1" dirty="0">
                <a:solidFill>
                  <a:schemeClr val="accent5"/>
                </a:solidFill>
                <a:latin typeface="微软雅黑" panose="020B0503020204020204" charset="-122"/>
                <a:ea typeface="微软雅黑" panose="020B0503020204020204" charset="-122"/>
                <a:cs typeface="微软雅黑" panose="020B0503020204020204" charset="-122"/>
                <a:sym typeface="+mn-ea"/>
              </a:rPr>
              <a:t>预估效果</a:t>
            </a:r>
            <a:endParaRPr lang="zh-CN" altLang="en-US" sz="1400" b="1" dirty="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37" name="文本框 36"/>
          <p:cNvSpPr txBox="1"/>
          <p:nvPr/>
        </p:nvSpPr>
        <p:spPr>
          <a:xfrm>
            <a:off x="2070319" y="4136298"/>
            <a:ext cx="1490043" cy="239371"/>
          </a:xfrm>
          <a:prstGeom prst="rect">
            <a:avLst/>
          </a:prstGeom>
          <a:noFill/>
          <a:effectLst/>
        </p:spPr>
        <p:txBody>
          <a:bodyPr wrap="none" lIns="79004" tIns="39502" rIns="79004" bIns="39502" rtlCol="0">
            <a:spAutoFit/>
          </a:bodyPr>
          <a:lstStyle/>
          <a:p>
            <a:r>
              <a:rPr lang="zh-CN" altLang="en-US" sz="1035" dirty="0">
                <a:solidFill>
                  <a:schemeClr val="tx2"/>
                </a:solidFill>
                <a:latin typeface="微软雅黑" panose="020B0503020204020204" charset="-122"/>
                <a:ea typeface="微软雅黑" panose="020B0503020204020204" charset="-122"/>
                <a:cs typeface="微软雅黑" panose="020B0503020204020204" charset="-122"/>
              </a:rPr>
              <a:t>合作方确定，资源就位</a:t>
            </a:r>
            <a:endParaRPr lang="zh-CN" altLang="en-US" sz="1035"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3" name="文本框 42"/>
          <p:cNvSpPr txBox="1"/>
          <p:nvPr/>
        </p:nvSpPr>
        <p:spPr>
          <a:xfrm>
            <a:off x="2070319" y="4741654"/>
            <a:ext cx="1369819" cy="239371"/>
          </a:xfrm>
          <a:prstGeom prst="rect">
            <a:avLst/>
          </a:prstGeom>
          <a:noFill/>
          <a:effectLst/>
        </p:spPr>
        <p:txBody>
          <a:bodyPr wrap="none" lIns="79004" tIns="39502" rIns="79004" bIns="39502" rtlCol="0">
            <a:spAutoFit/>
          </a:bodyPr>
          <a:lstStyle/>
          <a:p>
            <a:r>
              <a:rPr lang="zh-CN" altLang="en-US" sz="1035" dirty="0">
                <a:solidFill>
                  <a:schemeClr val="tx2"/>
                </a:solidFill>
                <a:latin typeface="微软雅黑" panose="020B0503020204020204" charset="-122"/>
                <a:ea typeface="微软雅黑" panose="020B0503020204020204" charset="-122"/>
                <a:cs typeface="微软雅黑" panose="020B0503020204020204" charset="-122"/>
              </a:rPr>
              <a:t>敲定关键</a:t>
            </a:r>
            <a:r>
              <a:rPr lang="en-US" altLang="zh-CN" sz="1035" dirty="0">
                <a:solidFill>
                  <a:schemeClr val="tx2"/>
                </a:solidFill>
                <a:latin typeface="微软雅黑" panose="020B0503020204020204" charset="-122"/>
                <a:ea typeface="微软雅黑" panose="020B0503020204020204" charset="-122"/>
                <a:cs typeface="微软雅黑" panose="020B0503020204020204" charset="-122"/>
              </a:rPr>
              <a:t>KOL</a:t>
            </a:r>
            <a:r>
              <a:rPr lang="zh-CN" altLang="en-US" sz="1035" dirty="0">
                <a:solidFill>
                  <a:schemeClr val="tx2"/>
                </a:solidFill>
                <a:latin typeface="微软雅黑" panose="020B0503020204020204" charset="-122"/>
                <a:ea typeface="微软雅黑" panose="020B0503020204020204" charset="-122"/>
                <a:cs typeface="微软雅黑" panose="020B0503020204020204" charset="-122"/>
              </a:rPr>
              <a:t>、</a:t>
            </a:r>
            <a:r>
              <a:rPr lang="en-US" altLang="zh-CN" sz="1035" dirty="0">
                <a:solidFill>
                  <a:schemeClr val="tx2"/>
                </a:solidFill>
                <a:latin typeface="微软雅黑" panose="020B0503020204020204" charset="-122"/>
                <a:ea typeface="微软雅黑" panose="020B0503020204020204" charset="-122"/>
                <a:cs typeface="微软雅黑" panose="020B0503020204020204" charset="-122"/>
              </a:rPr>
              <a:t>KOC</a:t>
            </a:r>
            <a:endParaRPr lang="en-US" altLang="zh-CN" sz="1035"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8" name="文本框 47"/>
          <p:cNvSpPr txBox="1"/>
          <p:nvPr/>
        </p:nvSpPr>
        <p:spPr>
          <a:xfrm>
            <a:off x="2236043" y="5307428"/>
            <a:ext cx="957847" cy="239371"/>
          </a:xfrm>
          <a:prstGeom prst="rect">
            <a:avLst/>
          </a:prstGeom>
          <a:noFill/>
          <a:effectLst/>
        </p:spPr>
        <p:txBody>
          <a:bodyPr wrap="none" lIns="79004" tIns="39502" rIns="79004" bIns="39502" rtlCol="0">
            <a:spAutoFit/>
          </a:bodyPr>
          <a:lstStyle/>
          <a:p>
            <a:r>
              <a:rPr lang="zh-CN" altLang="en-US" sz="1035" dirty="0">
                <a:solidFill>
                  <a:schemeClr val="tx2"/>
                </a:solidFill>
                <a:latin typeface="微软雅黑" panose="020B0503020204020204" charset="-122"/>
                <a:ea typeface="微软雅黑" panose="020B0503020204020204" charset="-122"/>
                <a:cs typeface="微软雅黑" panose="020B0503020204020204" charset="-122"/>
              </a:rPr>
              <a:t>确定营销方向</a:t>
            </a:r>
            <a:endParaRPr lang="zh-CN" altLang="en-US" sz="1035"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2" name="文本框 161"/>
          <p:cNvSpPr txBox="1"/>
          <p:nvPr/>
        </p:nvSpPr>
        <p:spPr>
          <a:xfrm>
            <a:off x="4447980" y="4162056"/>
            <a:ext cx="1889192" cy="239371"/>
          </a:xfrm>
          <a:prstGeom prst="rect">
            <a:avLst/>
          </a:prstGeom>
          <a:noFill/>
          <a:effectLst/>
        </p:spPr>
        <p:txBody>
          <a:bodyPr wrap="none" lIns="79004" tIns="39502" rIns="79004" bIns="39502" rtlCol="0">
            <a:spAutoFit/>
          </a:bodyPr>
          <a:lstStyle/>
          <a:p>
            <a:r>
              <a:rPr lang="zh-CN" altLang="en-US" sz="1035" dirty="0">
                <a:solidFill>
                  <a:schemeClr val="tx2"/>
                </a:solidFill>
                <a:latin typeface="微软雅黑" panose="020B0503020204020204" charset="-122"/>
                <a:ea typeface="微软雅黑" panose="020B0503020204020204" charset="-122"/>
                <a:cs typeface="微软雅黑" panose="020B0503020204020204" charset="-122"/>
              </a:rPr>
              <a:t>发起微博话题，吸引粉丝讨论</a:t>
            </a:r>
            <a:endParaRPr lang="zh-CN" altLang="en-US" sz="1035"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3" name="文本框 162"/>
          <p:cNvSpPr txBox="1"/>
          <p:nvPr/>
        </p:nvSpPr>
        <p:spPr>
          <a:xfrm>
            <a:off x="4447980" y="4728726"/>
            <a:ext cx="1889192" cy="239371"/>
          </a:xfrm>
          <a:prstGeom prst="rect">
            <a:avLst/>
          </a:prstGeom>
          <a:noFill/>
          <a:effectLst/>
        </p:spPr>
        <p:txBody>
          <a:bodyPr wrap="none" lIns="79004" tIns="39502" rIns="79004" bIns="39502" rtlCol="0">
            <a:spAutoFit/>
          </a:bodyPr>
          <a:lstStyle/>
          <a:p>
            <a:r>
              <a:rPr lang="zh-CN" altLang="en-US" sz="1035" dirty="0">
                <a:solidFill>
                  <a:schemeClr val="tx2"/>
                </a:solidFill>
                <a:latin typeface="微软雅黑" panose="020B0503020204020204" charset="-122"/>
                <a:ea typeface="微软雅黑" panose="020B0503020204020204" charset="-122"/>
                <a:cs typeface="微软雅黑" panose="020B0503020204020204" charset="-122"/>
              </a:rPr>
              <a:t>发起小红书</a:t>
            </a:r>
            <a:r>
              <a:rPr lang="en-US" altLang="zh-CN" sz="1035" dirty="0">
                <a:solidFill>
                  <a:schemeClr val="tx2"/>
                </a:solidFill>
                <a:latin typeface="微软雅黑" panose="020B0503020204020204" charset="-122"/>
                <a:ea typeface="微软雅黑" panose="020B0503020204020204" charset="-122"/>
                <a:cs typeface="微软雅黑" panose="020B0503020204020204" charset="-122"/>
              </a:rPr>
              <a:t>KOC</a:t>
            </a:r>
            <a:r>
              <a:rPr lang="zh-CN" altLang="en-US" sz="1035" dirty="0">
                <a:solidFill>
                  <a:schemeClr val="tx2"/>
                </a:solidFill>
                <a:latin typeface="微软雅黑" panose="020B0503020204020204" charset="-122"/>
                <a:ea typeface="微软雅黑" panose="020B0503020204020204" charset="-122"/>
                <a:cs typeface="微软雅黑" panose="020B0503020204020204" charset="-122"/>
              </a:rPr>
              <a:t>推，抬高热度</a:t>
            </a:r>
            <a:endParaRPr lang="zh-CN" altLang="en-US" sz="1035"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4" name="文本框 163"/>
          <p:cNvSpPr txBox="1"/>
          <p:nvPr/>
        </p:nvSpPr>
        <p:spPr>
          <a:xfrm>
            <a:off x="4447980" y="5290635"/>
            <a:ext cx="1756142" cy="239371"/>
          </a:xfrm>
          <a:prstGeom prst="rect">
            <a:avLst/>
          </a:prstGeom>
          <a:noFill/>
          <a:effectLst/>
        </p:spPr>
        <p:txBody>
          <a:bodyPr wrap="none" lIns="79004" tIns="39502" rIns="79004" bIns="39502" rtlCol="0">
            <a:spAutoFit/>
          </a:bodyPr>
          <a:lstStyle/>
          <a:p>
            <a:r>
              <a:rPr lang="zh-CN" altLang="en-US" sz="1035" dirty="0">
                <a:solidFill>
                  <a:schemeClr val="tx2"/>
                </a:solidFill>
                <a:latin typeface="微软雅黑" panose="020B0503020204020204" charset="-122"/>
                <a:ea typeface="微软雅黑" panose="020B0503020204020204" charset="-122"/>
                <a:cs typeface="微软雅黑" panose="020B0503020204020204" charset="-122"/>
              </a:rPr>
              <a:t>发起公众号，吸引粉丝讨论</a:t>
            </a:r>
            <a:endParaRPr lang="zh-CN" altLang="en-US" sz="1035"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6" name="文本框 165"/>
          <p:cNvSpPr txBox="1"/>
          <p:nvPr/>
        </p:nvSpPr>
        <p:spPr>
          <a:xfrm>
            <a:off x="9621975" y="4740754"/>
            <a:ext cx="1889192" cy="239371"/>
          </a:xfrm>
          <a:prstGeom prst="rect">
            <a:avLst/>
          </a:prstGeom>
          <a:noFill/>
          <a:effectLst/>
        </p:spPr>
        <p:txBody>
          <a:bodyPr wrap="none" lIns="79004" tIns="39502" rIns="79004" bIns="39502" rtlCol="0">
            <a:spAutoFit/>
          </a:bodyPr>
          <a:lstStyle/>
          <a:p>
            <a:r>
              <a:rPr lang="zh-CN" altLang="en-US" sz="1035" dirty="0">
                <a:solidFill>
                  <a:schemeClr val="tx2"/>
                </a:solidFill>
                <a:latin typeface="微软雅黑" panose="020B0503020204020204" charset="-122"/>
                <a:ea typeface="微软雅黑" panose="020B0503020204020204" charset="-122"/>
                <a:cs typeface="微软雅黑" panose="020B0503020204020204" charset="-122"/>
              </a:rPr>
              <a:t>话题持续发酵，长尾流量获取</a:t>
            </a:r>
            <a:endParaRPr lang="zh-CN" altLang="en-US" sz="1035"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7" name="文本框 166"/>
          <p:cNvSpPr txBox="1"/>
          <p:nvPr/>
        </p:nvSpPr>
        <p:spPr>
          <a:xfrm>
            <a:off x="9621975" y="5287833"/>
            <a:ext cx="1889192" cy="239371"/>
          </a:xfrm>
          <a:prstGeom prst="rect">
            <a:avLst/>
          </a:prstGeom>
          <a:noFill/>
          <a:effectLst/>
        </p:spPr>
        <p:txBody>
          <a:bodyPr wrap="none" lIns="79004" tIns="39502" rIns="79004" bIns="39502" rtlCol="0">
            <a:spAutoFit/>
          </a:bodyPr>
          <a:lstStyle/>
          <a:p>
            <a:r>
              <a:rPr lang="zh-CN" altLang="en-US" sz="1035" dirty="0">
                <a:solidFill>
                  <a:schemeClr val="tx2"/>
                </a:solidFill>
                <a:latin typeface="微软雅黑" panose="020B0503020204020204" charset="-122"/>
                <a:ea typeface="微软雅黑" panose="020B0503020204020204" charset="-122"/>
                <a:cs typeface="微软雅黑" panose="020B0503020204020204" charset="-122"/>
              </a:rPr>
              <a:t>话题持续发酵，长尾流量获取</a:t>
            </a:r>
            <a:endParaRPr lang="zh-CN" altLang="en-US" sz="1035"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183" name="组合 182"/>
          <p:cNvGrpSpPr/>
          <p:nvPr/>
        </p:nvGrpSpPr>
        <p:grpSpPr>
          <a:xfrm>
            <a:off x="555941" y="1899006"/>
            <a:ext cx="11188084" cy="530860"/>
            <a:chOff x="1623695" y="1221740"/>
            <a:chExt cx="10470515" cy="530860"/>
          </a:xfrm>
        </p:grpSpPr>
        <p:sp>
          <p:nvSpPr>
            <p:cNvPr id="184" name="矩形 183"/>
            <p:cNvSpPr/>
            <p:nvPr/>
          </p:nvSpPr>
          <p:spPr>
            <a:xfrm>
              <a:off x="1857375" y="1279193"/>
              <a:ext cx="9925050" cy="64800"/>
            </a:xfrm>
            <a:prstGeom prst="rect">
              <a:avLst/>
            </a:prstGeom>
            <a:solidFill>
              <a:schemeClr val="accent5">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5" name="椭圆 184"/>
            <p:cNvSpPr/>
            <p:nvPr/>
          </p:nvSpPr>
          <p:spPr>
            <a:xfrm>
              <a:off x="9176385" y="1221740"/>
              <a:ext cx="179705" cy="179705"/>
            </a:xfrm>
            <a:prstGeom prst="ellipse">
              <a:avLst/>
            </a:prstGeom>
            <a:solidFill>
              <a:schemeClr val="accent5">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6" name="椭圆 185"/>
            <p:cNvSpPr/>
            <p:nvPr/>
          </p:nvSpPr>
          <p:spPr>
            <a:xfrm>
              <a:off x="11643360" y="1221740"/>
              <a:ext cx="179705" cy="179705"/>
            </a:xfrm>
            <a:prstGeom prst="ellipse">
              <a:avLst/>
            </a:prstGeom>
            <a:solidFill>
              <a:schemeClr val="accent5">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7" name="矩形 186"/>
            <p:cNvSpPr/>
            <p:nvPr/>
          </p:nvSpPr>
          <p:spPr>
            <a:xfrm>
              <a:off x="1857375" y="1279193"/>
              <a:ext cx="4896000" cy="64800"/>
            </a:xfrm>
            <a:prstGeom prst="rect">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8" name="椭圆 187"/>
            <p:cNvSpPr/>
            <p:nvPr/>
          </p:nvSpPr>
          <p:spPr>
            <a:xfrm>
              <a:off x="4242435" y="1221740"/>
              <a:ext cx="179705" cy="179705"/>
            </a:xfrm>
            <a:prstGeom prst="ellips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9" name="椭圆 188"/>
            <p:cNvSpPr/>
            <p:nvPr/>
          </p:nvSpPr>
          <p:spPr>
            <a:xfrm>
              <a:off x="6709410" y="1221740"/>
              <a:ext cx="179705" cy="179705"/>
            </a:xfrm>
            <a:prstGeom prst="ellipse">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90" name="椭圆 189"/>
            <p:cNvSpPr/>
            <p:nvPr/>
          </p:nvSpPr>
          <p:spPr>
            <a:xfrm>
              <a:off x="1775460" y="1221740"/>
              <a:ext cx="179705" cy="179705"/>
            </a:xfrm>
            <a:prstGeom prst="ellips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91" name="文本框 190"/>
            <p:cNvSpPr txBox="1"/>
            <p:nvPr/>
          </p:nvSpPr>
          <p:spPr>
            <a:xfrm>
              <a:off x="1623695" y="1464310"/>
              <a:ext cx="570865" cy="288290"/>
            </a:xfrm>
            <a:prstGeom prst="rect">
              <a:avLst/>
            </a:prstGeom>
            <a:noFill/>
          </p:spPr>
          <p:txBody>
            <a:bodyPr wrap="square" rtlCol="0">
              <a:noAutofit/>
            </a:bodyPr>
            <a:lstStyle/>
            <a:p>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启动</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92" name="文本框 191"/>
            <p:cNvSpPr txBox="1"/>
            <p:nvPr/>
          </p:nvSpPr>
          <p:spPr>
            <a:xfrm>
              <a:off x="4086860" y="1464310"/>
              <a:ext cx="570865" cy="288290"/>
            </a:xfrm>
            <a:prstGeom prst="rect">
              <a:avLst/>
            </a:prstGeom>
            <a:noFill/>
          </p:spPr>
          <p:txBody>
            <a:bodyPr wrap="square" rtlCol="0">
              <a:noAutofit/>
            </a:bodyPr>
            <a:lstStyle/>
            <a:p>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规划</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93" name="文本框 192"/>
            <p:cNvSpPr txBox="1"/>
            <p:nvPr/>
          </p:nvSpPr>
          <p:spPr>
            <a:xfrm>
              <a:off x="6556375" y="1464310"/>
              <a:ext cx="570865" cy="288290"/>
            </a:xfrm>
            <a:prstGeom prst="rect">
              <a:avLst/>
            </a:prstGeom>
            <a:noFill/>
          </p:spPr>
          <p:txBody>
            <a:bodyPr wrap="square" rtlCol="0">
              <a:noAutofit/>
            </a:bodyPr>
            <a:lstStyle/>
            <a:p>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执行</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94" name="文本框 193"/>
            <p:cNvSpPr txBox="1"/>
            <p:nvPr/>
          </p:nvSpPr>
          <p:spPr>
            <a:xfrm>
              <a:off x="9013190" y="1464310"/>
              <a:ext cx="570865" cy="288290"/>
            </a:xfrm>
            <a:prstGeom prst="rect">
              <a:avLst/>
            </a:prstGeom>
            <a:noFill/>
          </p:spPr>
          <p:txBody>
            <a:bodyPr wrap="square" rtlCol="0">
              <a:noAutofit/>
            </a:bodyPr>
            <a:lstStyle/>
            <a:p>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优化</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95" name="文本框 194"/>
            <p:cNvSpPr txBox="1"/>
            <p:nvPr/>
          </p:nvSpPr>
          <p:spPr>
            <a:xfrm>
              <a:off x="11523345" y="1464310"/>
              <a:ext cx="570865" cy="288290"/>
            </a:xfrm>
            <a:prstGeom prst="rect">
              <a:avLst/>
            </a:prstGeom>
            <a:noFill/>
          </p:spPr>
          <p:txBody>
            <a:bodyPr wrap="square" rtlCol="0">
              <a:noAutofit/>
            </a:bodyPr>
            <a:lstStyle/>
            <a:p>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复盘</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grpSp>
      <p:cxnSp>
        <p:nvCxnSpPr>
          <p:cNvPr id="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8738235" y="348615"/>
            <a:ext cx="3219450" cy="332740"/>
            <a:chOff x="13761" y="549"/>
            <a:chExt cx="5070" cy="524"/>
          </a:xfrm>
        </p:grpSpPr>
        <p:pic>
          <p:nvPicPr>
            <p:cNvPr id="10" name="图片 9"/>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1" name="文本框 10"/>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lang="en-US" altLang="zh-CN" sz="2500">
                <a:solidFill>
                  <a:schemeClr val="tx2"/>
                </a:solidFill>
                <a:effectLst/>
                <a:latin typeface="微软雅黑" panose="020B0503020204020204" charset="-122"/>
                <a:ea typeface="微软雅黑" panose="020B0503020204020204" charset="-122"/>
                <a:cs typeface="微软雅黑" panose="020B0503020204020204" charset="-122"/>
              </a:rPr>
              <a:t>2026</a:t>
            </a:r>
            <a:r>
              <a:rPr sz="2500">
                <a:solidFill>
                  <a:schemeClr val="tx2"/>
                </a:solidFill>
                <a:effectLst/>
                <a:latin typeface="微软雅黑" panose="020B0503020204020204" charset="-122"/>
                <a:ea typeface="微软雅黑" panose="020B0503020204020204" charset="-122"/>
                <a:cs typeface="微软雅黑" panose="020B0503020204020204" charset="-122"/>
              </a:rPr>
              <a:t>年各月工作计划</a:t>
            </a:r>
            <a:endParaRPr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3" name="图片 2"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7" name="任意形状 6"/>
          <p:cNvSpPr/>
          <p:nvPr/>
        </p:nvSpPr>
        <p:spPr>
          <a:xfrm>
            <a:off x="451866" y="1146810"/>
            <a:ext cx="1253490" cy="505968"/>
          </a:xfrm>
          <a:custGeom>
            <a:avLst/>
            <a:gdLst>
              <a:gd name="connsiteX0" fmla="*/ 0 w 1253490"/>
              <a:gd name="connsiteY0" fmla="*/ 0 h 505968"/>
              <a:gd name="connsiteX1" fmla="*/ 1253490 w 1253490"/>
              <a:gd name="connsiteY1" fmla="*/ 0 h 505968"/>
              <a:gd name="connsiteX2" fmla="*/ 1253490 w 1253490"/>
              <a:gd name="connsiteY2" fmla="*/ 505968 h 505968"/>
              <a:gd name="connsiteX3" fmla="*/ 0 w 1253490"/>
              <a:gd name="connsiteY3" fmla="*/ 505968 h 505968"/>
            </a:gdLst>
            <a:ahLst/>
            <a:cxnLst>
              <a:cxn ang="0">
                <a:pos x="connsiteX0" y="connsiteY0"/>
              </a:cxn>
              <a:cxn ang="0">
                <a:pos x="connsiteX1" y="connsiteY1"/>
              </a:cxn>
              <a:cxn ang="0">
                <a:pos x="connsiteX2" y="connsiteY2"/>
              </a:cxn>
              <a:cxn ang="0">
                <a:pos x="connsiteX3" y="connsiteY3"/>
              </a:cxn>
            </a:cxnLst>
            <a:rect l="l" t="t" r="r" b="b"/>
            <a:pathLst>
              <a:path w="1253490" h="505968">
                <a:moveTo>
                  <a:pt x="0" y="0"/>
                </a:moveTo>
                <a:lnTo>
                  <a:pt x="1253490" y="0"/>
                </a:lnTo>
                <a:lnTo>
                  <a:pt x="1253490" y="505968"/>
                </a:lnTo>
                <a:lnTo>
                  <a:pt x="0" y="505968"/>
                </a:lnTo>
                <a:close/>
              </a:path>
            </a:pathLst>
          </a:custGeom>
          <a:solidFill>
            <a:schemeClr val="accent1"/>
          </a:solidFill>
          <a:ln w="19050" cap="flat">
            <a:solidFill>
              <a:schemeClr val="bg1"/>
            </a:solidFill>
            <a:prstDash val="solid"/>
            <a:miter/>
          </a:ln>
        </p:spPr>
        <p:txBody>
          <a:bodyPr rtlCol="0" anchor="ctr"/>
          <a:lstStyle/>
          <a:p>
            <a:pPr algn="ctr"/>
            <a:r>
              <a:rPr lang="en-US" altLang="zh-CN" sz="1600" b="1" dirty="0">
                <a:solidFill>
                  <a:schemeClr val="bg1"/>
                </a:solidFill>
                <a:latin typeface="微软雅黑" panose="020B0503020204020204" charset="-122"/>
                <a:ea typeface="微软雅黑" panose="020B0503020204020204" charset="-122"/>
                <a:cs typeface="微软雅黑" panose="020B0503020204020204" charset="-122"/>
              </a:rPr>
              <a:t>1</a:t>
            </a: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 name="任意形状 7"/>
          <p:cNvSpPr/>
          <p:nvPr/>
        </p:nvSpPr>
        <p:spPr>
          <a:xfrm>
            <a:off x="1705356" y="1146810"/>
            <a:ext cx="1253490" cy="505968"/>
          </a:xfrm>
          <a:custGeom>
            <a:avLst/>
            <a:gdLst>
              <a:gd name="connsiteX0" fmla="*/ 0 w 1253490"/>
              <a:gd name="connsiteY0" fmla="*/ 0 h 505968"/>
              <a:gd name="connsiteX1" fmla="*/ 1253490 w 1253490"/>
              <a:gd name="connsiteY1" fmla="*/ 0 h 505968"/>
              <a:gd name="connsiteX2" fmla="*/ 1253490 w 1253490"/>
              <a:gd name="connsiteY2" fmla="*/ 505968 h 505968"/>
              <a:gd name="connsiteX3" fmla="*/ 0 w 1253490"/>
              <a:gd name="connsiteY3" fmla="*/ 505968 h 505968"/>
            </a:gdLst>
            <a:ahLst/>
            <a:cxnLst>
              <a:cxn ang="0">
                <a:pos x="connsiteX0" y="connsiteY0"/>
              </a:cxn>
              <a:cxn ang="0">
                <a:pos x="connsiteX1" y="connsiteY1"/>
              </a:cxn>
              <a:cxn ang="0">
                <a:pos x="connsiteX2" y="connsiteY2"/>
              </a:cxn>
              <a:cxn ang="0">
                <a:pos x="connsiteX3" y="connsiteY3"/>
              </a:cxn>
            </a:cxnLst>
            <a:rect l="l" t="t" r="r" b="b"/>
            <a:pathLst>
              <a:path w="1253490" h="505968">
                <a:moveTo>
                  <a:pt x="0" y="0"/>
                </a:moveTo>
                <a:lnTo>
                  <a:pt x="1253490" y="0"/>
                </a:lnTo>
                <a:lnTo>
                  <a:pt x="1253490" y="505968"/>
                </a:lnTo>
                <a:lnTo>
                  <a:pt x="0" y="505968"/>
                </a:lnTo>
                <a:close/>
              </a:path>
            </a:pathLst>
          </a:custGeom>
          <a:solidFill>
            <a:schemeClr val="accent1"/>
          </a:solidFill>
          <a:ln w="19050" cap="flat">
            <a:solidFill>
              <a:schemeClr val="bg1"/>
            </a:solidFill>
            <a:prstDash val="solid"/>
            <a:miter/>
          </a:ln>
        </p:spPr>
        <p:txBody>
          <a:bodyPr rtlCol="0" anchor="ctr"/>
          <a:lstStyle/>
          <a:p>
            <a:pPr algn="ctr"/>
            <a:r>
              <a:rPr lang="en-US" altLang="zh-CN" sz="1600" b="1" dirty="0">
                <a:solidFill>
                  <a:schemeClr val="bg1"/>
                </a:solidFill>
                <a:latin typeface="微软雅黑" panose="020B0503020204020204" charset="-122"/>
                <a:ea typeface="微软雅黑" panose="020B0503020204020204" charset="-122"/>
                <a:cs typeface="微软雅黑" panose="020B0503020204020204" charset="-122"/>
              </a:rPr>
              <a:t>2</a:t>
            </a: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 name="任意形状 8"/>
          <p:cNvSpPr/>
          <p:nvPr/>
        </p:nvSpPr>
        <p:spPr>
          <a:xfrm>
            <a:off x="2958846" y="1146810"/>
            <a:ext cx="1253490" cy="505968"/>
          </a:xfrm>
          <a:custGeom>
            <a:avLst/>
            <a:gdLst>
              <a:gd name="connsiteX0" fmla="*/ 0 w 1253490"/>
              <a:gd name="connsiteY0" fmla="*/ 0 h 505968"/>
              <a:gd name="connsiteX1" fmla="*/ 1253490 w 1253490"/>
              <a:gd name="connsiteY1" fmla="*/ 0 h 505968"/>
              <a:gd name="connsiteX2" fmla="*/ 1253490 w 1253490"/>
              <a:gd name="connsiteY2" fmla="*/ 505968 h 505968"/>
              <a:gd name="connsiteX3" fmla="*/ 0 w 1253490"/>
              <a:gd name="connsiteY3" fmla="*/ 505968 h 505968"/>
            </a:gdLst>
            <a:ahLst/>
            <a:cxnLst>
              <a:cxn ang="0">
                <a:pos x="connsiteX0" y="connsiteY0"/>
              </a:cxn>
              <a:cxn ang="0">
                <a:pos x="connsiteX1" y="connsiteY1"/>
              </a:cxn>
              <a:cxn ang="0">
                <a:pos x="connsiteX2" y="connsiteY2"/>
              </a:cxn>
              <a:cxn ang="0">
                <a:pos x="connsiteX3" y="connsiteY3"/>
              </a:cxn>
            </a:cxnLst>
            <a:rect l="l" t="t" r="r" b="b"/>
            <a:pathLst>
              <a:path w="1253490" h="505968">
                <a:moveTo>
                  <a:pt x="0" y="0"/>
                </a:moveTo>
                <a:lnTo>
                  <a:pt x="1253490" y="0"/>
                </a:lnTo>
                <a:lnTo>
                  <a:pt x="1253490" y="505968"/>
                </a:lnTo>
                <a:lnTo>
                  <a:pt x="0" y="505968"/>
                </a:lnTo>
                <a:close/>
              </a:path>
            </a:pathLst>
          </a:custGeom>
          <a:solidFill>
            <a:schemeClr val="accent1"/>
          </a:solidFill>
          <a:ln w="19050" cap="flat">
            <a:solidFill>
              <a:schemeClr val="bg1"/>
            </a:solidFill>
            <a:prstDash val="solid"/>
            <a:miter/>
          </a:ln>
        </p:spPr>
        <p:txBody>
          <a:bodyPr rtlCol="0" anchor="ctr"/>
          <a:lstStyle/>
          <a:p>
            <a:pPr algn="ctr"/>
            <a:r>
              <a:rPr lang="en-US" altLang="zh-CN" sz="1600" b="1" dirty="0">
                <a:solidFill>
                  <a:schemeClr val="bg1"/>
                </a:solidFill>
                <a:latin typeface="微软雅黑" panose="020B0503020204020204" charset="-122"/>
                <a:ea typeface="微软雅黑" panose="020B0503020204020204" charset="-122"/>
                <a:cs typeface="微软雅黑" panose="020B0503020204020204" charset="-122"/>
              </a:rPr>
              <a:t>3</a:t>
            </a: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0" name="任意形状 9"/>
          <p:cNvSpPr/>
          <p:nvPr/>
        </p:nvSpPr>
        <p:spPr>
          <a:xfrm>
            <a:off x="4212336" y="1146810"/>
            <a:ext cx="1253490" cy="505968"/>
          </a:xfrm>
          <a:custGeom>
            <a:avLst/>
            <a:gdLst>
              <a:gd name="connsiteX0" fmla="*/ 0 w 1253490"/>
              <a:gd name="connsiteY0" fmla="*/ 0 h 505968"/>
              <a:gd name="connsiteX1" fmla="*/ 1253490 w 1253490"/>
              <a:gd name="connsiteY1" fmla="*/ 0 h 505968"/>
              <a:gd name="connsiteX2" fmla="*/ 1253490 w 1253490"/>
              <a:gd name="connsiteY2" fmla="*/ 505968 h 505968"/>
              <a:gd name="connsiteX3" fmla="*/ 0 w 1253490"/>
              <a:gd name="connsiteY3" fmla="*/ 505968 h 505968"/>
            </a:gdLst>
            <a:ahLst/>
            <a:cxnLst>
              <a:cxn ang="0">
                <a:pos x="connsiteX0" y="connsiteY0"/>
              </a:cxn>
              <a:cxn ang="0">
                <a:pos x="connsiteX1" y="connsiteY1"/>
              </a:cxn>
              <a:cxn ang="0">
                <a:pos x="connsiteX2" y="connsiteY2"/>
              </a:cxn>
              <a:cxn ang="0">
                <a:pos x="connsiteX3" y="connsiteY3"/>
              </a:cxn>
            </a:cxnLst>
            <a:rect l="l" t="t" r="r" b="b"/>
            <a:pathLst>
              <a:path w="1253490" h="505968">
                <a:moveTo>
                  <a:pt x="0" y="0"/>
                </a:moveTo>
                <a:lnTo>
                  <a:pt x="1253490" y="0"/>
                </a:lnTo>
                <a:lnTo>
                  <a:pt x="1253490" y="505968"/>
                </a:lnTo>
                <a:lnTo>
                  <a:pt x="0" y="505968"/>
                </a:lnTo>
                <a:close/>
              </a:path>
            </a:pathLst>
          </a:custGeom>
          <a:solidFill>
            <a:schemeClr val="accent1">
              <a:lumMod val="60000"/>
              <a:lumOff val="40000"/>
            </a:schemeClr>
          </a:solidFill>
          <a:ln w="19050" cap="flat">
            <a:solidFill>
              <a:schemeClr val="bg1"/>
            </a:solidFill>
            <a:prstDash val="solid"/>
            <a:miter/>
          </a:ln>
        </p:spPr>
        <p:txBody>
          <a:bodyPr rtlCol="0" anchor="ctr"/>
          <a:lstStyle/>
          <a:p>
            <a:pPr algn="ctr"/>
            <a:r>
              <a:rPr lang="en-US" altLang="zh-CN" sz="1600" b="1" dirty="0">
                <a:solidFill>
                  <a:schemeClr val="bg1"/>
                </a:solidFill>
                <a:latin typeface="微软雅黑" panose="020B0503020204020204" charset="-122"/>
                <a:ea typeface="微软雅黑" panose="020B0503020204020204" charset="-122"/>
                <a:cs typeface="微软雅黑" panose="020B0503020204020204" charset="-122"/>
              </a:rPr>
              <a:t>4</a:t>
            </a: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1" name="任意形状 10"/>
          <p:cNvSpPr/>
          <p:nvPr/>
        </p:nvSpPr>
        <p:spPr>
          <a:xfrm>
            <a:off x="5465826" y="1146810"/>
            <a:ext cx="1253490" cy="505968"/>
          </a:xfrm>
          <a:custGeom>
            <a:avLst/>
            <a:gdLst>
              <a:gd name="connsiteX0" fmla="*/ 0 w 1253490"/>
              <a:gd name="connsiteY0" fmla="*/ 0 h 505968"/>
              <a:gd name="connsiteX1" fmla="*/ 1253490 w 1253490"/>
              <a:gd name="connsiteY1" fmla="*/ 0 h 505968"/>
              <a:gd name="connsiteX2" fmla="*/ 1253490 w 1253490"/>
              <a:gd name="connsiteY2" fmla="*/ 505968 h 505968"/>
              <a:gd name="connsiteX3" fmla="*/ 0 w 1253490"/>
              <a:gd name="connsiteY3" fmla="*/ 505968 h 505968"/>
            </a:gdLst>
            <a:ahLst/>
            <a:cxnLst>
              <a:cxn ang="0">
                <a:pos x="connsiteX0" y="connsiteY0"/>
              </a:cxn>
              <a:cxn ang="0">
                <a:pos x="connsiteX1" y="connsiteY1"/>
              </a:cxn>
              <a:cxn ang="0">
                <a:pos x="connsiteX2" y="connsiteY2"/>
              </a:cxn>
              <a:cxn ang="0">
                <a:pos x="connsiteX3" y="connsiteY3"/>
              </a:cxn>
            </a:cxnLst>
            <a:rect l="l" t="t" r="r" b="b"/>
            <a:pathLst>
              <a:path w="1253490" h="505968">
                <a:moveTo>
                  <a:pt x="0" y="0"/>
                </a:moveTo>
                <a:lnTo>
                  <a:pt x="1253490" y="0"/>
                </a:lnTo>
                <a:lnTo>
                  <a:pt x="1253490" y="505968"/>
                </a:lnTo>
                <a:lnTo>
                  <a:pt x="0" y="505968"/>
                </a:lnTo>
                <a:close/>
              </a:path>
            </a:pathLst>
          </a:custGeom>
          <a:solidFill>
            <a:schemeClr val="accent1">
              <a:lumMod val="60000"/>
              <a:lumOff val="40000"/>
            </a:schemeClr>
          </a:solidFill>
          <a:ln w="19050" cap="flat">
            <a:solidFill>
              <a:schemeClr val="bg1"/>
            </a:solidFill>
            <a:prstDash val="solid"/>
            <a:miter/>
          </a:ln>
        </p:spPr>
        <p:txBody>
          <a:bodyPr rtlCol="0" anchor="ctr"/>
          <a:lstStyle/>
          <a:p>
            <a:pPr algn="ctr"/>
            <a:r>
              <a:rPr lang="en-US" altLang="zh-CN" sz="1600" b="1" dirty="0">
                <a:solidFill>
                  <a:schemeClr val="bg1"/>
                </a:solidFill>
                <a:latin typeface="微软雅黑" panose="020B0503020204020204" charset="-122"/>
                <a:ea typeface="微软雅黑" panose="020B0503020204020204" charset="-122"/>
                <a:cs typeface="微软雅黑" panose="020B0503020204020204" charset="-122"/>
              </a:rPr>
              <a:t>5</a:t>
            </a: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 name="任意形状 11"/>
          <p:cNvSpPr/>
          <p:nvPr/>
        </p:nvSpPr>
        <p:spPr>
          <a:xfrm flipH="1">
            <a:off x="4157473" y="1866138"/>
            <a:ext cx="45719" cy="1367063"/>
          </a:xfrm>
          <a:custGeom>
            <a:avLst/>
            <a:gdLst>
              <a:gd name="connsiteX0" fmla="*/ 0 w 7620"/>
              <a:gd name="connsiteY0" fmla="*/ 0 h 1744979"/>
              <a:gd name="connsiteX1" fmla="*/ 0 w 7620"/>
              <a:gd name="connsiteY1" fmla="*/ 1744980 h 1744979"/>
            </a:gdLst>
            <a:ahLst/>
            <a:cxnLst>
              <a:cxn ang="0">
                <a:pos x="connsiteX0" y="connsiteY0"/>
              </a:cxn>
              <a:cxn ang="0">
                <a:pos x="connsiteX1" y="connsiteY1"/>
              </a:cxn>
            </a:cxnLst>
            <a:rect l="l" t="t" r="r" b="b"/>
            <a:pathLst>
              <a:path w="7620" h="1744979">
                <a:moveTo>
                  <a:pt x="0" y="0"/>
                </a:moveTo>
                <a:lnTo>
                  <a:pt x="0" y="1744980"/>
                </a:lnTo>
              </a:path>
            </a:pathLst>
          </a:custGeom>
          <a:ln w="15875" cap="flat">
            <a:solidFill>
              <a:schemeClr val="tx2">
                <a:lumMod val="40000"/>
                <a:lumOff val="6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 name="任意形状 12"/>
          <p:cNvSpPr/>
          <p:nvPr/>
        </p:nvSpPr>
        <p:spPr>
          <a:xfrm>
            <a:off x="5471160" y="3992118"/>
            <a:ext cx="1253490" cy="505967"/>
          </a:xfrm>
          <a:custGeom>
            <a:avLst/>
            <a:gdLst>
              <a:gd name="connsiteX0" fmla="*/ 0 w 1253490"/>
              <a:gd name="connsiteY0" fmla="*/ 0 h 505967"/>
              <a:gd name="connsiteX1" fmla="*/ 1253490 w 1253490"/>
              <a:gd name="connsiteY1" fmla="*/ 0 h 505967"/>
              <a:gd name="connsiteX2" fmla="*/ 1253490 w 1253490"/>
              <a:gd name="connsiteY2" fmla="*/ 505968 h 505967"/>
              <a:gd name="connsiteX3" fmla="*/ 0 w 1253490"/>
              <a:gd name="connsiteY3" fmla="*/ 505968 h 505967"/>
            </a:gdLst>
            <a:ahLst/>
            <a:cxnLst>
              <a:cxn ang="0">
                <a:pos x="connsiteX0" y="connsiteY0"/>
              </a:cxn>
              <a:cxn ang="0">
                <a:pos x="connsiteX1" y="connsiteY1"/>
              </a:cxn>
              <a:cxn ang="0">
                <a:pos x="connsiteX2" y="connsiteY2"/>
              </a:cxn>
              <a:cxn ang="0">
                <a:pos x="connsiteX3" y="connsiteY3"/>
              </a:cxn>
            </a:cxnLst>
            <a:rect l="l" t="t" r="r" b="b"/>
            <a:pathLst>
              <a:path w="1253490" h="505967">
                <a:moveTo>
                  <a:pt x="0" y="0"/>
                </a:moveTo>
                <a:lnTo>
                  <a:pt x="1253490" y="0"/>
                </a:lnTo>
                <a:lnTo>
                  <a:pt x="1253490" y="505968"/>
                </a:lnTo>
                <a:lnTo>
                  <a:pt x="0" y="505968"/>
                </a:lnTo>
                <a:close/>
              </a:path>
            </a:pathLst>
          </a:custGeom>
          <a:solidFill>
            <a:schemeClr val="accent5">
              <a:lumMod val="60000"/>
              <a:lumOff val="40000"/>
            </a:schemeClr>
          </a:solidFill>
          <a:ln w="19050" cap="flat">
            <a:solidFill>
              <a:schemeClr val="bg1"/>
            </a:solidFill>
            <a:prstDash val="solid"/>
            <a:miter/>
          </a:ln>
        </p:spPr>
        <p:txBody>
          <a:bodyPr rtlCol="0" anchor="ctr"/>
          <a:lstStyle/>
          <a:p>
            <a:pPr algn="ctr"/>
            <a:r>
              <a:rPr lang="en-US" altLang="zh-CN" sz="1600" b="1" dirty="0">
                <a:solidFill>
                  <a:schemeClr val="bg1"/>
                </a:solidFill>
                <a:latin typeface="微软雅黑" panose="020B0503020204020204" charset="-122"/>
                <a:ea typeface="微软雅黑" panose="020B0503020204020204" charset="-122"/>
                <a:cs typeface="微软雅黑" panose="020B0503020204020204" charset="-122"/>
              </a:rPr>
              <a:t>11</a:t>
            </a: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 name="任意形状 13"/>
          <p:cNvSpPr/>
          <p:nvPr/>
        </p:nvSpPr>
        <p:spPr>
          <a:xfrm>
            <a:off x="6724650" y="3992118"/>
            <a:ext cx="1253490" cy="505967"/>
          </a:xfrm>
          <a:custGeom>
            <a:avLst/>
            <a:gdLst>
              <a:gd name="connsiteX0" fmla="*/ 0 w 1253490"/>
              <a:gd name="connsiteY0" fmla="*/ 0 h 505967"/>
              <a:gd name="connsiteX1" fmla="*/ 1253490 w 1253490"/>
              <a:gd name="connsiteY1" fmla="*/ 0 h 505967"/>
              <a:gd name="connsiteX2" fmla="*/ 1253490 w 1253490"/>
              <a:gd name="connsiteY2" fmla="*/ 505968 h 505967"/>
              <a:gd name="connsiteX3" fmla="*/ 0 w 1253490"/>
              <a:gd name="connsiteY3" fmla="*/ 505968 h 505967"/>
            </a:gdLst>
            <a:ahLst/>
            <a:cxnLst>
              <a:cxn ang="0">
                <a:pos x="connsiteX0" y="connsiteY0"/>
              </a:cxn>
              <a:cxn ang="0">
                <a:pos x="connsiteX1" y="connsiteY1"/>
              </a:cxn>
              <a:cxn ang="0">
                <a:pos x="connsiteX2" y="connsiteY2"/>
              </a:cxn>
              <a:cxn ang="0">
                <a:pos x="connsiteX3" y="connsiteY3"/>
              </a:cxn>
            </a:cxnLst>
            <a:rect l="l" t="t" r="r" b="b"/>
            <a:pathLst>
              <a:path w="1253490" h="505967">
                <a:moveTo>
                  <a:pt x="0" y="0"/>
                </a:moveTo>
                <a:lnTo>
                  <a:pt x="1253490" y="0"/>
                </a:lnTo>
                <a:lnTo>
                  <a:pt x="1253490" y="505968"/>
                </a:lnTo>
                <a:lnTo>
                  <a:pt x="0" y="505968"/>
                </a:lnTo>
                <a:close/>
              </a:path>
            </a:pathLst>
          </a:custGeom>
          <a:solidFill>
            <a:schemeClr val="accent5">
              <a:lumMod val="60000"/>
              <a:lumOff val="40000"/>
            </a:schemeClr>
          </a:solidFill>
          <a:ln w="19050" cap="flat">
            <a:solidFill>
              <a:schemeClr val="bg1"/>
            </a:solidFill>
            <a:prstDash val="solid"/>
            <a:miter/>
          </a:ln>
        </p:spPr>
        <p:txBody>
          <a:bodyPr rtlCol="0" anchor="ctr"/>
          <a:lstStyle/>
          <a:p>
            <a:pPr algn="ctr"/>
            <a:r>
              <a:rPr lang="en-US" altLang="zh-CN" sz="1600" b="1" dirty="0">
                <a:solidFill>
                  <a:schemeClr val="bg1"/>
                </a:solidFill>
                <a:latin typeface="微软雅黑" panose="020B0503020204020204" charset="-122"/>
                <a:ea typeface="微软雅黑" panose="020B0503020204020204" charset="-122"/>
                <a:cs typeface="微软雅黑" panose="020B0503020204020204" charset="-122"/>
              </a:rPr>
              <a:t>10</a:t>
            </a: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6" name="任意形状 14"/>
          <p:cNvSpPr/>
          <p:nvPr/>
        </p:nvSpPr>
        <p:spPr>
          <a:xfrm>
            <a:off x="7978140" y="3992118"/>
            <a:ext cx="1253490" cy="505967"/>
          </a:xfrm>
          <a:custGeom>
            <a:avLst/>
            <a:gdLst>
              <a:gd name="connsiteX0" fmla="*/ 0 w 1253490"/>
              <a:gd name="connsiteY0" fmla="*/ 0 h 505967"/>
              <a:gd name="connsiteX1" fmla="*/ 1253490 w 1253490"/>
              <a:gd name="connsiteY1" fmla="*/ 0 h 505967"/>
              <a:gd name="connsiteX2" fmla="*/ 1253490 w 1253490"/>
              <a:gd name="connsiteY2" fmla="*/ 505968 h 505967"/>
              <a:gd name="connsiteX3" fmla="*/ 0 w 1253490"/>
              <a:gd name="connsiteY3" fmla="*/ 505968 h 505967"/>
            </a:gdLst>
            <a:ahLst/>
            <a:cxnLst>
              <a:cxn ang="0">
                <a:pos x="connsiteX0" y="connsiteY0"/>
              </a:cxn>
              <a:cxn ang="0">
                <a:pos x="connsiteX1" y="connsiteY1"/>
              </a:cxn>
              <a:cxn ang="0">
                <a:pos x="connsiteX2" y="connsiteY2"/>
              </a:cxn>
              <a:cxn ang="0">
                <a:pos x="connsiteX3" y="connsiteY3"/>
              </a:cxn>
            </a:cxnLst>
            <a:rect l="l" t="t" r="r" b="b"/>
            <a:pathLst>
              <a:path w="1253490" h="505967">
                <a:moveTo>
                  <a:pt x="0" y="0"/>
                </a:moveTo>
                <a:lnTo>
                  <a:pt x="1253490" y="0"/>
                </a:lnTo>
                <a:lnTo>
                  <a:pt x="1253490" y="505968"/>
                </a:lnTo>
                <a:lnTo>
                  <a:pt x="0" y="505968"/>
                </a:lnTo>
                <a:close/>
              </a:path>
            </a:pathLst>
          </a:custGeom>
          <a:solidFill>
            <a:schemeClr val="accent5"/>
          </a:solidFill>
          <a:ln w="19050" cap="flat">
            <a:solidFill>
              <a:schemeClr val="bg1"/>
            </a:solidFill>
            <a:prstDash val="solid"/>
            <a:miter/>
          </a:ln>
        </p:spPr>
        <p:txBody>
          <a:bodyPr rtlCol="0" anchor="ctr"/>
          <a:lstStyle/>
          <a:p>
            <a:pPr algn="ctr"/>
            <a:r>
              <a:rPr lang="en-US" altLang="zh-CN" sz="1600" b="1" dirty="0">
                <a:solidFill>
                  <a:schemeClr val="bg1"/>
                </a:solidFill>
                <a:latin typeface="微软雅黑" panose="020B0503020204020204" charset="-122"/>
                <a:ea typeface="微软雅黑" panose="020B0503020204020204" charset="-122"/>
                <a:cs typeface="微软雅黑" panose="020B0503020204020204" charset="-122"/>
              </a:rPr>
              <a:t>9</a:t>
            </a: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2" name="任意形状 15"/>
          <p:cNvSpPr/>
          <p:nvPr/>
        </p:nvSpPr>
        <p:spPr>
          <a:xfrm>
            <a:off x="9231630" y="3992118"/>
            <a:ext cx="1253490" cy="505967"/>
          </a:xfrm>
          <a:custGeom>
            <a:avLst/>
            <a:gdLst>
              <a:gd name="connsiteX0" fmla="*/ 0 w 1253490"/>
              <a:gd name="connsiteY0" fmla="*/ 0 h 505967"/>
              <a:gd name="connsiteX1" fmla="*/ 1253490 w 1253490"/>
              <a:gd name="connsiteY1" fmla="*/ 0 h 505967"/>
              <a:gd name="connsiteX2" fmla="*/ 1253490 w 1253490"/>
              <a:gd name="connsiteY2" fmla="*/ 505968 h 505967"/>
              <a:gd name="connsiteX3" fmla="*/ 0 w 1253490"/>
              <a:gd name="connsiteY3" fmla="*/ 505968 h 505967"/>
            </a:gdLst>
            <a:ahLst/>
            <a:cxnLst>
              <a:cxn ang="0">
                <a:pos x="connsiteX0" y="connsiteY0"/>
              </a:cxn>
              <a:cxn ang="0">
                <a:pos x="connsiteX1" y="connsiteY1"/>
              </a:cxn>
              <a:cxn ang="0">
                <a:pos x="connsiteX2" y="connsiteY2"/>
              </a:cxn>
              <a:cxn ang="0">
                <a:pos x="connsiteX3" y="connsiteY3"/>
              </a:cxn>
            </a:cxnLst>
            <a:rect l="l" t="t" r="r" b="b"/>
            <a:pathLst>
              <a:path w="1253490" h="505967">
                <a:moveTo>
                  <a:pt x="0" y="0"/>
                </a:moveTo>
                <a:lnTo>
                  <a:pt x="1253490" y="0"/>
                </a:lnTo>
                <a:lnTo>
                  <a:pt x="1253490" y="505968"/>
                </a:lnTo>
                <a:lnTo>
                  <a:pt x="0" y="505968"/>
                </a:lnTo>
                <a:close/>
              </a:path>
            </a:pathLst>
          </a:custGeom>
          <a:solidFill>
            <a:schemeClr val="accent5"/>
          </a:solidFill>
          <a:ln w="19050" cap="flat">
            <a:solidFill>
              <a:schemeClr val="bg1"/>
            </a:solidFill>
            <a:prstDash val="solid"/>
            <a:miter/>
          </a:ln>
        </p:spPr>
        <p:txBody>
          <a:bodyPr rtlCol="0" anchor="ctr"/>
          <a:lstStyle/>
          <a:p>
            <a:pPr algn="ctr"/>
            <a:r>
              <a:rPr lang="en-US" altLang="zh-CN" sz="1600" b="1" dirty="0">
                <a:solidFill>
                  <a:schemeClr val="bg1"/>
                </a:solidFill>
                <a:latin typeface="微软雅黑" panose="020B0503020204020204" charset="-122"/>
                <a:ea typeface="微软雅黑" panose="020B0503020204020204" charset="-122"/>
                <a:cs typeface="微软雅黑" panose="020B0503020204020204" charset="-122"/>
              </a:rPr>
              <a:t>8</a:t>
            </a: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3" name="任意形状 16"/>
          <p:cNvSpPr/>
          <p:nvPr/>
        </p:nvSpPr>
        <p:spPr>
          <a:xfrm>
            <a:off x="10485120" y="3992118"/>
            <a:ext cx="1253490" cy="505967"/>
          </a:xfrm>
          <a:custGeom>
            <a:avLst/>
            <a:gdLst>
              <a:gd name="connsiteX0" fmla="*/ 0 w 1253490"/>
              <a:gd name="connsiteY0" fmla="*/ 0 h 505967"/>
              <a:gd name="connsiteX1" fmla="*/ 1253490 w 1253490"/>
              <a:gd name="connsiteY1" fmla="*/ 0 h 505967"/>
              <a:gd name="connsiteX2" fmla="*/ 1253490 w 1253490"/>
              <a:gd name="connsiteY2" fmla="*/ 505968 h 505967"/>
              <a:gd name="connsiteX3" fmla="*/ 0 w 1253490"/>
              <a:gd name="connsiteY3" fmla="*/ 505968 h 505967"/>
            </a:gdLst>
            <a:ahLst/>
            <a:cxnLst>
              <a:cxn ang="0">
                <a:pos x="connsiteX0" y="connsiteY0"/>
              </a:cxn>
              <a:cxn ang="0">
                <a:pos x="connsiteX1" y="connsiteY1"/>
              </a:cxn>
              <a:cxn ang="0">
                <a:pos x="connsiteX2" y="connsiteY2"/>
              </a:cxn>
              <a:cxn ang="0">
                <a:pos x="connsiteX3" y="connsiteY3"/>
              </a:cxn>
            </a:cxnLst>
            <a:rect l="l" t="t" r="r" b="b"/>
            <a:pathLst>
              <a:path w="1253490" h="505967">
                <a:moveTo>
                  <a:pt x="0" y="0"/>
                </a:moveTo>
                <a:lnTo>
                  <a:pt x="1253490" y="0"/>
                </a:lnTo>
                <a:lnTo>
                  <a:pt x="1253490" y="505968"/>
                </a:lnTo>
                <a:lnTo>
                  <a:pt x="0" y="505968"/>
                </a:lnTo>
                <a:close/>
              </a:path>
            </a:pathLst>
          </a:custGeom>
          <a:solidFill>
            <a:schemeClr val="accent5"/>
          </a:solidFill>
          <a:ln w="19050" cap="flat">
            <a:solidFill>
              <a:schemeClr val="bg1"/>
            </a:solidFill>
            <a:prstDash val="solid"/>
            <a:miter/>
          </a:ln>
        </p:spPr>
        <p:txBody>
          <a:bodyPr rtlCol="0" anchor="ctr"/>
          <a:lstStyle/>
          <a:p>
            <a:pPr algn="ctr"/>
            <a:r>
              <a:rPr lang="en-US" altLang="zh-CN" sz="1600" b="1" dirty="0">
                <a:solidFill>
                  <a:schemeClr val="bg1"/>
                </a:solidFill>
                <a:latin typeface="微软雅黑" panose="020B0503020204020204" charset="-122"/>
                <a:ea typeface="微软雅黑" panose="020B0503020204020204" charset="-122"/>
                <a:cs typeface="微软雅黑" panose="020B0503020204020204" charset="-122"/>
              </a:rPr>
              <a:t>7</a:t>
            </a: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4" name="任意形状 17"/>
          <p:cNvSpPr/>
          <p:nvPr/>
        </p:nvSpPr>
        <p:spPr>
          <a:xfrm>
            <a:off x="7978140" y="4658106"/>
            <a:ext cx="7620" cy="1744980"/>
          </a:xfrm>
          <a:custGeom>
            <a:avLst/>
            <a:gdLst>
              <a:gd name="connsiteX0" fmla="*/ 0 w 7620"/>
              <a:gd name="connsiteY0" fmla="*/ 0 h 1744980"/>
              <a:gd name="connsiteX1" fmla="*/ 0 w 7620"/>
              <a:gd name="connsiteY1" fmla="*/ 1744980 h 1744980"/>
            </a:gdLst>
            <a:ahLst/>
            <a:cxnLst>
              <a:cxn ang="0">
                <a:pos x="connsiteX0" y="connsiteY0"/>
              </a:cxn>
              <a:cxn ang="0">
                <a:pos x="connsiteX1" y="connsiteY1"/>
              </a:cxn>
            </a:cxnLst>
            <a:rect l="l" t="t" r="r" b="b"/>
            <a:pathLst>
              <a:path w="7620" h="1744980">
                <a:moveTo>
                  <a:pt x="0" y="0"/>
                </a:moveTo>
                <a:lnTo>
                  <a:pt x="0" y="1744980"/>
                </a:lnTo>
              </a:path>
            </a:pathLst>
          </a:custGeom>
          <a:ln w="15875" cap="flat">
            <a:solidFill>
              <a:schemeClr val="tx2">
                <a:lumMod val="40000"/>
                <a:lumOff val="60000"/>
              </a:schemeClr>
            </a:solidFill>
            <a:prstDash val="dash"/>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5" name="任意形状 18"/>
          <p:cNvSpPr/>
          <p:nvPr/>
        </p:nvSpPr>
        <p:spPr>
          <a:xfrm>
            <a:off x="6719316" y="1146810"/>
            <a:ext cx="1430273" cy="505967"/>
          </a:xfrm>
          <a:custGeom>
            <a:avLst/>
            <a:gdLst>
              <a:gd name="connsiteX0" fmla="*/ 1253490 w 1430273"/>
              <a:gd name="connsiteY0" fmla="*/ 0 h 505967"/>
              <a:gd name="connsiteX1" fmla="*/ 1253490 w 1430273"/>
              <a:gd name="connsiteY1" fmla="*/ 0 h 505967"/>
              <a:gd name="connsiteX2" fmla="*/ 0 w 1430273"/>
              <a:gd name="connsiteY2" fmla="*/ 0 h 505967"/>
              <a:gd name="connsiteX3" fmla="*/ 0 w 1430273"/>
              <a:gd name="connsiteY3" fmla="*/ 505968 h 505967"/>
              <a:gd name="connsiteX4" fmla="*/ 1253490 w 1430273"/>
              <a:gd name="connsiteY4" fmla="*/ 505968 h 505967"/>
              <a:gd name="connsiteX5" fmla="*/ 1253490 w 1430273"/>
              <a:gd name="connsiteY5" fmla="*/ 505968 h 505967"/>
              <a:gd name="connsiteX6" fmla="*/ 1430274 w 1430273"/>
              <a:gd name="connsiteY6" fmla="*/ 252984 h 505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0273" h="505967">
                <a:moveTo>
                  <a:pt x="1253490" y="0"/>
                </a:moveTo>
                <a:lnTo>
                  <a:pt x="1253490" y="0"/>
                </a:lnTo>
                <a:lnTo>
                  <a:pt x="0" y="0"/>
                </a:lnTo>
                <a:lnTo>
                  <a:pt x="0" y="505968"/>
                </a:lnTo>
                <a:lnTo>
                  <a:pt x="1253490" y="505968"/>
                </a:lnTo>
                <a:lnTo>
                  <a:pt x="1253490" y="505968"/>
                </a:lnTo>
                <a:lnTo>
                  <a:pt x="1430274" y="252984"/>
                </a:lnTo>
                <a:close/>
              </a:path>
            </a:pathLst>
          </a:custGeom>
          <a:solidFill>
            <a:schemeClr val="accent1">
              <a:lumMod val="60000"/>
              <a:lumOff val="40000"/>
            </a:schemeClr>
          </a:solidFill>
          <a:ln w="19050" cap="flat">
            <a:solidFill>
              <a:schemeClr val="bg1"/>
            </a:solidFill>
            <a:prstDash val="solid"/>
            <a:miter/>
          </a:ln>
        </p:spPr>
        <p:txBody>
          <a:bodyPr rtlCol="0" anchor="ctr"/>
          <a:lstStyle/>
          <a:p>
            <a:pPr algn="ctr"/>
            <a:r>
              <a:rPr lang="en-US" altLang="zh-CN" sz="1600" b="1" dirty="0">
                <a:solidFill>
                  <a:schemeClr val="bg1"/>
                </a:solidFill>
                <a:latin typeface="微软雅黑" panose="020B0503020204020204" charset="-122"/>
                <a:ea typeface="微软雅黑" panose="020B0503020204020204" charset="-122"/>
                <a:cs typeface="微软雅黑" panose="020B0503020204020204" charset="-122"/>
              </a:rPr>
              <a:t>6</a:t>
            </a: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0" name="任意形状 19"/>
          <p:cNvSpPr/>
          <p:nvPr/>
        </p:nvSpPr>
        <p:spPr>
          <a:xfrm>
            <a:off x="4040885" y="3992118"/>
            <a:ext cx="1430274" cy="505967"/>
          </a:xfrm>
          <a:custGeom>
            <a:avLst/>
            <a:gdLst>
              <a:gd name="connsiteX0" fmla="*/ 176784 w 1430274"/>
              <a:gd name="connsiteY0" fmla="*/ 0 h 505967"/>
              <a:gd name="connsiteX1" fmla="*/ 0 w 1430274"/>
              <a:gd name="connsiteY1" fmla="*/ 252984 h 505967"/>
              <a:gd name="connsiteX2" fmla="*/ 176784 w 1430274"/>
              <a:gd name="connsiteY2" fmla="*/ 505968 h 505967"/>
              <a:gd name="connsiteX3" fmla="*/ 176784 w 1430274"/>
              <a:gd name="connsiteY3" fmla="*/ 505968 h 505967"/>
              <a:gd name="connsiteX4" fmla="*/ 1430274 w 1430274"/>
              <a:gd name="connsiteY4" fmla="*/ 505968 h 505967"/>
              <a:gd name="connsiteX5" fmla="*/ 1430274 w 1430274"/>
              <a:gd name="connsiteY5" fmla="*/ 0 h 505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30274" h="505967">
                <a:moveTo>
                  <a:pt x="176784" y="0"/>
                </a:moveTo>
                <a:lnTo>
                  <a:pt x="0" y="252984"/>
                </a:lnTo>
                <a:lnTo>
                  <a:pt x="176784" y="505968"/>
                </a:lnTo>
                <a:lnTo>
                  <a:pt x="176784" y="505968"/>
                </a:lnTo>
                <a:lnTo>
                  <a:pt x="1430274" y="505968"/>
                </a:lnTo>
                <a:lnTo>
                  <a:pt x="1430274" y="0"/>
                </a:lnTo>
                <a:close/>
              </a:path>
            </a:pathLst>
          </a:custGeom>
          <a:solidFill>
            <a:schemeClr val="accent5">
              <a:lumMod val="60000"/>
              <a:lumOff val="40000"/>
            </a:schemeClr>
          </a:solidFill>
          <a:ln w="19050" cap="flat">
            <a:solidFill>
              <a:schemeClr val="bg1"/>
            </a:solidFill>
            <a:prstDash val="solid"/>
            <a:miter/>
          </a:ln>
        </p:spPr>
        <p:txBody>
          <a:bodyPr rtlCol="0" anchor="ctr"/>
          <a:lstStyle/>
          <a:p>
            <a:pPr algn="ctr"/>
            <a:r>
              <a:rPr lang="en-US" altLang="zh-CN" sz="1600" b="1" dirty="0">
                <a:solidFill>
                  <a:schemeClr val="bg1"/>
                </a:solidFill>
                <a:latin typeface="微软雅黑" panose="020B0503020204020204" charset="-122"/>
                <a:ea typeface="微软雅黑" panose="020B0503020204020204" charset="-122"/>
                <a:cs typeface="微软雅黑" panose="020B0503020204020204" charset="-122"/>
              </a:rPr>
              <a:t>12</a:t>
            </a: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rPr>
              <a:t>月</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2" name="任意形状 26"/>
          <p:cNvSpPr/>
          <p:nvPr/>
        </p:nvSpPr>
        <p:spPr>
          <a:xfrm>
            <a:off x="588263" y="1942288"/>
            <a:ext cx="252984" cy="248412"/>
          </a:xfrm>
          <a:custGeom>
            <a:avLst/>
            <a:gdLst>
              <a:gd name="connsiteX0" fmla="*/ 126492 w 252984"/>
              <a:gd name="connsiteY0" fmla="*/ 0 h 248412"/>
              <a:gd name="connsiteX1" fmla="*/ 0 w 252984"/>
              <a:gd name="connsiteY1" fmla="*/ 124206 h 248412"/>
              <a:gd name="connsiteX2" fmla="*/ 126492 w 252984"/>
              <a:gd name="connsiteY2" fmla="*/ 248412 h 248412"/>
              <a:gd name="connsiteX3" fmla="*/ 252984 w 252984"/>
              <a:gd name="connsiteY3" fmla="*/ 124206 h 248412"/>
              <a:gd name="connsiteX4" fmla="*/ 126492 w 252984"/>
              <a:gd name="connsiteY4" fmla="*/ 0 h 248412"/>
              <a:gd name="connsiteX5" fmla="*/ 108204 w 252984"/>
              <a:gd name="connsiteY5" fmla="*/ 200406 h 248412"/>
              <a:gd name="connsiteX6" fmla="*/ 34290 w 252984"/>
              <a:gd name="connsiteY6" fmla="*/ 127254 h 248412"/>
              <a:gd name="connsiteX7" fmla="*/ 64008 w 252984"/>
              <a:gd name="connsiteY7" fmla="*/ 99060 h 248412"/>
              <a:gd name="connsiteX8" fmla="*/ 108966 w 252984"/>
              <a:gd name="connsiteY8" fmla="*/ 142494 h 248412"/>
              <a:gd name="connsiteX9" fmla="*/ 190500 w 252984"/>
              <a:gd name="connsiteY9" fmla="*/ 62484 h 248412"/>
              <a:gd name="connsiteX10" fmla="*/ 220218 w 252984"/>
              <a:gd name="connsiteY10" fmla="*/ 90678 h 248412"/>
              <a:gd name="connsiteX11" fmla="*/ 108204 w 252984"/>
              <a:gd name="connsiteY11" fmla="*/ 200406 h 248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84" h="248412">
                <a:moveTo>
                  <a:pt x="126492" y="0"/>
                </a:moveTo>
                <a:cubicBezTo>
                  <a:pt x="57150" y="0"/>
                  <a:pt x="0" y="56388"/>
                  <a:pt x="0" y="124206"/>
                </a:cubicBezTo>
                <a:cubicBezTo>
                  <a:pt x="0" y="192786"/>
                  <a:pt x="56388" y="248412"/>
                  <a:pt x="126492" y="248412"/>
                </a:cubicBezTo>
                <a:cubicBezTo>
                  <a:pt x="196596" y="248412"/>
                  <a:pt x="252984" y="192024"/>
                  <a:pt x="252984" y="124206"/>
                </a:cubicBezTo>
                <a:cubicBezTo>
                  <a:pt x="252222" y="54864"/>
                  <a:pt x="195072" y="0"/>
                  <a:pt x="126492" y="0"/>
                </a:cubicBezTo>
                <a:close/>
                <a:moveTo>
                  <a:pt x="108204" y="200406"/>
                </a:moveTo>
                <a:lnTo>
                  <a:pt x="34290" y="127254"/>
                </a:lnTo>
                <a:lnTo>
                  <a:pt x="64008" y="99060"/>
                </a:lnTo>
                <a:lnTo>
                  <a:pt x="108966" y="142494"/>
                </a:lnTo>
                <a:lnTo>
                  <a:pt x="190500" y="62484"/>
                </a:lnTo>
                <a:lnTo>
                  <a:pt x="220218" y="90678"/>
                </a:lnTo>
                <a:lnTo>
                  <a:pt x="108204" y="200406"/>
                </a:lnTo>
                <a:close/>
              </a:path>
            </a:pathLst>
          </a:custGeom>
          <a:solidFill>
            <a:schemeClr val="accent1"/>
          </a:solidFill>
          <a:ln w="7620"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3" name="任意形状 27"/>
          <p:cNvSpPr/>
          <p:nvPr/>
        </p:nvSpPr>
        <p:spPr>
          <a:xfrm>
            <a:off x="588263" y="2707084"/>
            <a:ext cx="252984" cy="248412"/>
          </a:xfrm>
          <a:custGeom>
            <a:avLst/>
            <a:gdLst>
              <a:gd name="connsiteX0" fmla="*/ 126492 w 252984"/>
              <a:gd name="connsiteY0" fmla="*/ 0 h 248412"/>
              <a:gd name="connsiteX1" fmla="*/ 0 w 252984"/>
              <a:gd name="connsiteY1" fmla="*/ 124206 h 248412"/>
              <a:gd name="connsiteX2" fmla="*/ 126492 w 252984"/>
              <a:gd name="connsiteY2" fmla="*/ 248412 h 248412"/>
              <a:gd name="connsiteX3" fmla="*/ 252984 w 252984"/>
              <a:gd name="connsiteY3" fmla="*/ 124206 h 248412"/>
              <a:gd name="connsiteX4" fmla="*/ 126492 w 252984"/>
              <a:gd name="connsiteY4" fmla="*/ 0 h 248412"/>
              <a:gd name="connsiteX5" fmla="*/ 108204 w 252984"/>
              <a:gd name="connsiteY5" fmla="*/ 200406 h 248412"/>
              <a:gd name="connsiteX6" fmla="*/ 34290 w 252984"/>
              <a:gd name="connsiteY6" fmla="*/ 127254 h 248412"/>
              <a:gd name="connsiteX7" fmla="*/ 64008 w 252984"/>
              <a:gd name="connsiteY7" fmla="*/ 99060 h 248412"/>
              <a:gd name="connsiteX8" fmla="*/ 108966 w 252984"/>
              <a:gd name="connsiteY8" fmla="*/ 142494 h 248412"/>
              <a:gd name="connsiteX9" fmla="*/ 190500 w 252984"/>
              <a:gd name="connsiteY9" fmla="*/ 62484 h 248412"/>
              <a:gd name="connsiteX10" fmla="*/ 220218 w 252984"/>
              <a:gd name="connsiteY10" fmla="*/ 90678 h 248412"/>
              <a:gd name="connsiteX11" fmla="*/ 108204 w 252984"/>
              <a:gd name="connsiteY11" fmla="*/ 200406 h 248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84" h="248412">
                <a:moveTo>
                  <a:pt x="126492" y="0"/>
                </a:moveTo>
                <a:cubicBezTo>
                  <a:pt x="57150" y="0"/>
                  <a:pt x="0" y="56388"/>
                  <a:pt x="0" y="124206"/>
                </a:cubicBezTo>
                <a:cubicBezTo>
                  <a:pt x="0" y="192786"/>
                  <a:pt x="56388" y="248412"/>
                  <a:pt x="126492" y="248412"/>
                </a:cubicBezTo>
                <a:cubicBezTo>
                  <a:pt x="196596" y="248412"/>
                  <a:pt x="252984" y="192024"/>
                  <a:pt x="252984" y="124206"/>
                </a:cubicBezTo>
                <a:cubicBezTo>
                  <a:pt x="252222" y="54864"/>
                  <a:pt x="195072" y="0"/>
                  <a:pt x="126492" y="0"/>
                </a:cubicBezTo>
                <a:close/>
                <a:moveTo>
                  <a:pt x="108204" y="200406"/>
                </a:moveTo>
                <a:lnTo>
                  <a:pt x="34290" y="127254"/>
                </a:lnTo>
                <a:lnTo>
                  <a:pt x="64008" y="99060"/>
                </a:lnTo>
                <a:lnTo>
                  <a:pt x="108966" y="142494"/>
                </a:lnTo>
                <a:lnTo>
                  <a:pt x="190500" y="62484"/>
                </a:lnTo>
                <a:lnTo>
                  <a:pt x="220218" y="90678"/>
                </a:lnTo>
                <a:lnTo>
                  <a:pt x="108204" y="200406"/>
                </a:lnTo>
                <a:close/>
              </a:path>
            </a:pathLst>
          </a:custGeom>
          <a:solidFill>
            <a:schemeClr val="accent1"/>
          </a:solidFill>
          <a:ln w="7620"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4" name="任意形状 29"/>
          <p:cNvSpPr/>
          <p:nvPr/>
        </p:nvSpPr>
        <p:spPr>
          <a:xfrm>
            <a:off x="4348734" y="1942288"/>
            <a:ext cx="252984" cy="248412"/>
          </a:xfrm>
          <a:custGeom>
            <a:avLst/>
            <a:gdLst>
              <a:gd name="connsiteX0" fmla="*/ 126492 w 252984"/>
              <a:gd name="connsiteY0" fmla="*/ 0 h 248412"/>
              <a:gd name="connsiteX1" fmla="*/ 0 w 252984"/>
              <a:gd name="connsiteY1" fmla="*/ 124206 h 248412"/>
              <a:gd name="connsiteX2" fmla="*/ 126492 w 252984"/>
              <a:gd name="connsiteY2" fmla="*/ 248412 h 248412"/>
              <a:gd name="connsiteX3" fmla="*/ 252984 w 252984"/>
              <a:gd name="connsiteY3" fmla="*/ 124206 h 248412"/>
              <a:gd name="connsiteX4" fmla="*/ 126492 w 252984"/>
              <a:gd name="connsiteY4" fmla="*/ 0 h 248412"/>
              <a:gd name="connsiteX5" fmla="*/ 108204 w 252984"/>
              <a:gd name="connsiteY5" fmla="*/ 200406 h 248412"/>
              <a:gd name="connsiteX6" fmla="*/ 34290 w 252984"/>
              <a:gd name="connsiteY6" fmla="*/ 127254 h 248412"/>
              <a:gd name="connsiteX7" fmla="*/ 64008 w 252984"/>
              <a:gd name="connsiteY7" fmla="*/ 99060 h 248412"/>
              <a:gd name="connsiteX8" fmla="*/ 108966 w 252984"/>
              <a:gd name="connsiteY8" fmla="*/ 142494 h 248412"/>
              <a:gd name="connsiteX9" fmla="*/ 190500 w 252984"/>
              <a:gd name="connsiteY9" fmla="*/ 62484 h 248412"/>
              <a:gd name="connsiteX10" fmla="*/ 220218 w 252984"/>
              <a:gd name="connsiteY10" fmla="*/ 90678 h 248412"/>
              <a:gd name="connsiteX11" fmla="*/ 108204 w 252984"/>
              <a:gd name="connsiteY11" fmla="*/ 200406 h 248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84" h="248412">
                <a:moveTo>
                  <a:pt x="126492" y="0"/>
                </a:moveTo>
                <a:cubicBezTo>
                  <a:pt x="57150" y="0"/>
                  <a:pt x="0" y="56388"/>
                  <a:pt x="0" y="124206"/>
                </a:cubicBezTo>
                <a:cubicBezTo>
                  <a:pt x="0" y="192786"/>
                  <a:pt x="56388" y="248412"/>
                  <a:pt x="126492" y="248412"/>
                </a:cubicBezTo>
                <a:cubicBezTo>
                  <a:pt x="196596" y="248412"/>
                  <a:pt x="252984" y="192024"/>
                  <a:pt x="252984" y="124206"/>
                </a:cubicBezTo>
                <a:cubicBezTo>
                  <a:pt x="252222" y="54864"/>
                  <a:pt x="195072" y="0"/>
                  <a:pt x="126492" y="0"/>
                </a:cubicBezTo>
                <a:close/>
                <a:moveTo>
                  <a:pt x="108204" y="200406"/>
                </a:moveTo>
                <a:lnTo>
                  <a:pt x="34290" y="127254"/>
                </a:lnTo>
                <a:lnTo>
                  <a:pt x="64008" y="99060"/>
                </a:lnTo>
                <a:lnTo>
                  <a:pt x="108966" y="142494"/>
                </a:lnTo>
                <a:lnTo>
                  <a:pt x="190500" y="62484"/>
                </a:lnTo>
                <a:lnTo>
                  <a:pt x="220218" y="90678"/>
                </a:lnTo>
                <a:lnTo>
                  <a:pt x="108204" y="200406"/>
                </a:lnTo>
                <a:close/>
              </a:path>
            </a:pathLst>
          </a:custGeom>
          <a:solidFill>
            <a:schemeClr val="accent1">
              <a:lumMod val="60000"/>
              <a:lumOff val="40000"/>
            </a:schemeClr>
          </a:solidFill>
          <a:ln w="7620"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5" name="任意形状 30"/>
          <p:cNvSpPr/>
          <p:nvPr/>
        </p:nvSpPr>
        <p:spPr>
          <a:xfrm>
            <a:off x="4348734" y="2707084"/>
            <a:ext cx="252984" cy="248412"/>
          </a:xfrm>
          <a:custGeom>
            <a:avLst/>
            <a:gdLst>
              <a:gd name="connsiteX0" fmla="*/ 126492 w 252984"/>
              <a:gd name="connsiteY0" fmla="*/ 0 h 248412"/>
              <a:gd name="connsiteX1" fmla="*/ 0 w 252984"/>
              <a:gd name="connsiteY1" fmla="*/ 124206 h 248412"/>
              <a:gd name="connsiteX2" fmla="*/ 126492 w 252984"/>
              <a:gd name="connsiteY2" fmla="*/ 248412 h 248412"/>
              <a:gd name="connsiteX3" fmla="*/ 252984 w 252984"/>
              <a:gd name="connsiteY3" fmla="*/ 124206 h 248412"/>
              <a:gd name="connsiteX4" fmla="*/ 126492 w 252984"/>
              <a:gd name="connsiteY4" fmla="*/ 0 h 248412"/>
              <a:gd name="connsiteX5" fmla="*/ 108204 w 252984"/>
              <a:gd name="connsiteY5" fmla="*/ 200406 h 248412"/>
              <a:gd name="connsiteX6" fmla="*/ 34290 w 252984"/>
              <a:gd name="connsiteY6" fmla="*/ 127254 h 248412"/>
              <a:gd name="connsiteX7" fmla="*/ 64008 w 252984"/>
              <a:gd name="connsiteY7" fmla="*/ 99060 h 248412"/>
              <a:gd name="connsiteX8" fmla="*/ 108966 w 252984"/>
              <a:gd name="connsiteY8" fmla="*/ 142494 h 248412"/>
              <a:gd name="connsiteX9" fmla="*/ 190500 w 252984"/>
              <a:gd name="connsiteY9" fmla="*/ 62484 h 248412"/>
              <a:gd name="connsiteX10" fmla="*/ 220218 w 252984"/>
              <a:gd name="connsiteY10" fmla="*/ 90678 h 248412"/>
              <a:gd name="connsiteX11" fmla="*/ 108204 w 252984"/>
              <a:gd name="connsiteY11" fmla="*/ 200406 h 248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84" h="248412">
                <a:moveTo>
                  <a:pt x="126492" y="0"/>
                </a:moveTo>
                <a:cubicBezTo>
                  <a:pt x="57150" y="0"/>
                  <a:pt x="0" y="56388"/>
                  <a:pt x="0" y="124206"/>
                </a:cubicBezTo>
                <a:cubicBezTo>
                  <a:pt x="0" y="192786"/>
                  <a:pt x="56388" y="248412"/>
                  <a:pt x="126492" y="248412"/>
                </a:cubicBezTo>
                <a:cubicBezTo>
                  <a:pt x="196596" y="248412"/>
                  <a:pt x="252984" y="192024"/>
                  <a:pt x="252984" y="124206"/>
                </a:cubicBezTo>
                <a:cubicBezTo>
                  <a:pt x="252222" y="54864"/>
                  <a:pt x="195072" y="0"/>
                  <a:pt x="126492" y="0"/>
                </a:cubicBezTo>
                <a:close/>
                <a:moveTo>
                  <a:pt x="108204" y="200406"/>
                </a:moveTo>
                <a:lnTo>
                  <a:pt x="34290" y="127254"/>
                </a:lnTo>
                <a:lnTo>
                  <a:pt x="64008" y="99060"/>
                </a:lnTo>
                <a:lnTo>
                  <a:pt x="108966" y="142494"/>
                </a:lnTo>
                <a:lnTo>
                  <a:pt x="190500" y="62484"/>
                </a:lnTo>
                <a:lnTo>
                  <a:pt x="220218" y="90678"/>
                </a:lnTo>
                <a:lnTo>
                  <a:pt x="108204" y="200406"/>
                </a:lnTo>
                <a:close/>
              </a:path>
            </a:pathLst>
          </a:custGeom>
          <a:solidFill>
            <a:schemeClr val="accent1">
              <a:lumMod val="60000"/>
              <a:lumOff val="40000"/>
            </a:schemeClr>
          </a:solidFill>
          <a:ln w="7620"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40" name="文本框 39"/>
          <p:cNvSpPr txBox="1"/>
          <p:nvPr/>
        </p:nvSpPr>
        <p:spPr>
          <a:xfrm>
            <a:off x="907665" y="1848623"/>
            <a:ext cx="2820358" cy="532390"/>
          </a:xfrm>
          <a:prstGeom prst="rect">
            <a:avLst/>
          </a:prstGeom>
          <a:noFill/>
          <a:ln>
            <a:noFill/>
          </a:ln>
          <a:effectLst/>
        </p:spPr>
        <p:txBody>
          <a:bodyPr wrap="square" rtlCol="0">
            <a:spAutoFit/>
          </a:bodyPr>
          <a:lstStyle/>
          <a:p>
            <a:pPr algn="just">
              <a:lnSpc>
                <a:spcPct val="150000"/>
              </a:lnSpc>
              <a:spcAft>
                <a:spcPts val="1000"/>
              </a:spcAft>
            </a:pP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目标分解：</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明确年度责任目标，细化季度工作任务，确保执行方向清晰明确。</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41" name="文本框 40"/>
          <p:cNvSpPr txBox="1"/>
          <p:nvPr/>
        </p:nvSpPr>
        <p:spPr>
          <a:xfrm>
            <a:off x="907665" y="2596949"/>
            <a:ext cx="2820358" cy="532390"/>
          </a:xfrm>
          <a:prstGeom prst="rect">
            <a:avLst/>
          </a:prstGeom>
          <a:noFill/>
          <a:ln>
            <a:noFill/>
          </a:ln>
          <a:effectLst/>
        </p:spPr>
        <p:txBody>
          <a:bodyPr wrap="square" rtlCol="0">
            <a:spAutoFit/>
          </a:bodyPr>
          <a:lstStyle/>
          <a:p>
            <a:pPr algn="just">
              <a:lnSpc>
                <a:spcPct val="150000"/>
              </a:lnSpc>
              <a:spcAft>
                <a:spcPts val="1000"/>
              </a:spcAft>
            </a:pP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资源整合：</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优化项目资源配置，提升团队协作效率，推动项目顺利启动。</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42" name="文本框 41"/>
          <p:cNvSpPr txBox="1"/>
          <p:nvPr/>
        </p:nvSpPr>
        <p:spPr>
          <a:xfrm>
            <a:off x="4673753" y="1848623"/>
            <a:ext cx="2820358" cy="532390"/>
          </a:xfrm>
          <a:prstGeom prst="rect">
            <a:avLst/>
          </a:prstGeom>
          <a:noFill/>
          <a:ln>
            <a:noFill/>
          </a:ln>
          <a:effectLst/>
        </p:spPr>
        <p:txBody>
          <a:bodyPr wrap="square" rtlCol="0">
            <a:spAutoFit/>
          </a:bodyPr>
          <a:lstStyle/>
          <a:p>
            <a:pPr algn="just">
              <a:lnSpc>
                <a:spcPct val="150000"/>
              </a:lnSpc>
              <a:spcAft>
                <a:spcPts val="1000"/>
              </a:spcAft>
            </a:pP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市场拓展：</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新增客户</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30</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家，销售额同比增长</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12%</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，扩大市场份额显著。</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36" name="文本框 35"/>
          <p:cNvSpPr txBox="1"/>
          <p:nvPr/>
        </p:nvSpPr>
        <p:spPr>
          <a:xfrm>
            <a:off x="4673753" y="2596949"/>
            <a:ext cx="2820358" cy="532390"/>
          </a:xfrm>
          <a:prstGeom prst="rect">
            <a:avLst/>
          </a:prstGeom>
          <a:noFill/>
          <a:ln>
            <a:noFill/>
          </a:ln>
          <a:effectLst/>
        </p:spPr>
        <p:txBody>
          <a:bodyPr wrap="square" rtlCol="0">
            <a:spAutoFit/>
          </a:bodyPr>
          <a:lstStyle/>
          <a:p>
            <a:pPr algn="just">
              <a:lnSpc>
                <a:spcPct val="150000"/>
              </a:lnSpc>
              <a:spcAft>
                <a:spcPts val="1000"/>
              </a:spcAft>
            </a:pP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流程优化：</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改进内部流程，减少冗余环节，加速提升整体运营效率显著。</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45" name="任意形状 44"/>
          <p:cNvSpPr/>
          <p:nvPr/>
        </p:nvSpPr>
        <p:spPr>
          <a:xfrm>
            <a:off x="4354351" y="4790748"/>
            <a:ext cx="252984" cy="248412"/>
          </a:xfrm>
          <a:custGeom>
            <a:avLst/>
            <a:gdLst>
              <a:gd name="connsiteX0" fmla="*/ 126492 w 252984"/>
              <a:gd name="connsiteY0" fmla="*/ 0 h 248412"/>
              <a:gd name="connsiteX1" fmla="*/ 0 w 252984"/>
              <a:gd name="connsiteY1" fmla="*/ 124206 h 248412"/>
              <a:gd name="connsiteX2" fmla="*/ 126492 w 252984"/>
              <a:gd name="connsiteY2" fmla="*/ 248412 h 248412"/>
              <a:gd name="connsiteX3" fmla="*/ 252984 w 252984"/>
              <a:gd name="connsiteY3" fmla="*/ 124206 h 248412"/>
              <a:gd name="connsiteX4" fmla="*/ 126492 w 252984"/>
              <a:gd name="connsiteY4" fmla="*/ 0 h 248412"/>
              <a:gd name="connsiteX5" fmla="*/ 108204 w 252984"/>
              <a:gd name="connsiteY5" fmla="*/ 200406 h 248412"/>
              <a:gd name="connsiteX6" fmla="*/ 34290 w 252984"/>
              <a:gd name="connsiteY6" fmla="*/ 127254 h 248412"/>
              <a:gd name="connsiteX7" fmla="*/ 64008 w 252984"/>
              <a:gd name="connsiteY7" fmla="*/ 99060 h 248412"/>
              <a:gd name="connsiteX8" fmla="*/ 108966 w 252984"/>
              <a:gd name="connsiteY8" fmla="*/ 142494 h 248412"/>
              <a:gd name="connsiteX9" fmla="*/ 190500 w 252984"/>
              <a:gd name="connsiteY9" fmla="*/ 62484 h 248412"/>
              <a:gd name="connsiteX10" fmla="*/ 220218 w 252984"/>
              <a:gd name="connsiteY10" fmla="*/ 90678 h 248412"/>
              <a:gd name="connsiteX11" fmla="*/ 108204 w 252984"/>
              <a:gd name="connsiteY11" fmla="*/ 200406 h 248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84" h="248412">
                <a:moveTo>
                  <a:pt x="126492" y="0"/>
                </a:moveTo>
                <a:cubicBezTo>
                  <a:pt x="57150" y="0"/>
                  <a:pt x="0" y="56388"/>
                  <a:pt x="0" y="124206"/>
                </a:cubicBezTo>
                <a:cubicBezTo>
                  <a:pt x="0" y="192786"/>
                  <a:pt x="56388" y="248412"/>
                  <a:pt x="126492" y="248412"/>
                </a:cubicBezTo>
                <a:cubicBezTo>
                  <a:pt x="196596" y="248412"/>
                  <a:pt x="252984" y="192024"/>
                  <a:pt x="252984" y="124206"/>
                </a:cubicBezTo>
                <a:cubicBezTo>
                  <a:pt x="252222" y="54864"/>
                  <a:pt x="195072" y="0"/>
                  <a:pt x="126492" y="0"/>
                </a:cubicBezTo>
                <a:close/>
                <a:moveTo>
                  <a:pt x="108204" y="200406"/>
                </a:moveTo>
                <a:lnTo>
                  <a:pt x="34290" y="127254"/>
                </a:lnTo>
                <a:lnTo>
                  <a:pt x="64008" y="99060"/>
                </a:lnTo>
                <a:lnTo>
                  <a:pt x="108966" y="142494"/>
                </a:lnTo>
                <a:lnTo>
                  <a:pt x="190500" y="62484"/>
                </a:lnTo>
                <a:lnTo>
                  <a:pt x="220218" y="90678"/>
                </a:lnTo>
                <a:lnTo>
                  <a:pt x="108204" y="200406"/>
                </a:lnTo>
                <a:close/>
              </a:path>
            </a:pathLst>
          </a:custGeom>
          <a:solidFill>
            <a:schemeClr val="accent5">
              <a:lumMod val="60000"/>
              <a:lumOff val="40000"/>
            </a:schemeClr>
          </a:solidFill>
          <a:ln w="7620"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46" name="任意形状 45"/>
          <p:cNvSpPr/>
          <p:nvPr/>
        </p:nvSpPr>
        <p:spPr>
          <a:xfrm>
            <a:off x="4354351" y="5592864"/>
            <a:ext cx="252984" cy="248412"/>
          </a:xfrm>
          <a:custGeom>
            <a:avLst/>
            <a:gdLst>
              <a:gd name="connsiteX0" fmla="*/ 126492 w 252984"/>
              <a:gd name="connsiteY0" fmla="*/ 0 h 248412"/>
              <a:gd name="connsiteX1" fmla="*/ 0 w 252984"/>
              <a:gd name="connsiteY1" fmla="*/ 124206 h 248412"/>
              <a:gd name="connsiteX2" fmla="*/ 126492 w 252984"/>
              <a:gd name="connsiteY2" fmla="*/ 248412 h 248412"/>
              <a:gd name="connsiteX3" fmla="*/ 252984 w 252984"/>
              <a:gd name="connsiteY3" fmla="*/ 124206 h 248412"/>
              <a:gd name="connsiteX4" fmla="*/ 126492 w 252984"/>
              <a:gd name="connsiteY4" fmla="*/ 0 h 248412"/>
              <a:gd name="connsiteX5" fmla="*/ 108204 w 252984"/>
              <a:gd name="connsiteY5" fmla="*/ 200406 h 248412"/>
              <a:gd name="connsiteX6" fmla="*/ 34290 w 252984"/>
              <a:gd name="connsiteY6" fmla="*/ 127254 h 248412"/>
              <a:gd name="connsiteX7" fmla="*/ 64008 w 252984"/>
              <a:gd name="connsiteY7" fmla="*/ 99060 h 248412"/>
              <a:gd name="connsiteX8" fmla="*/ 108966 w 252984"/>
              <a:gd name="connsiteY8" fmla="*/ 142494 h 248412"/>
              <a:gd name="connsiteX9" fmla="*/ 190500 w 252984"/>
              <a:gd name="connsiteY9" fmla="*/ 62484 h 248412"/>
              <a:gd name="connsiteX10" fmla="*/ 220218 w 252984"/>
              <a:gd name="connsiteY10" fmla="*/ 90678 h 248412"/>
              <a:gd name="connsiteX11" fmla="*/ 108204 w 252984"/>
              <a:gd name="connsiteY11" fmla="*/ 200406 h 248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84" h="248412">
                <a:moveTo>
                  <a:pt x="126492" y="0"/>
                </a:moveTo>
                <a:cubicBezTo>
                  <a:pt x="57150" y="0"/>
                  <a:pt x="0" y="56388"/>
                  <a:pt x="0" y="124206"/>
                </a:cubicBezTo>
                <a:cubicBezTo>
                  <a:pt x="0" y="192786"/>
                  <a:pt x="56388" y="248412"/>
                  <a:pt x="126492" y="248412"/>
                </a:cubicBezTo>
                <a:cubicBezTo>
                  <a:pt x="196596" y="248412"/>
                  <a:pt x="252984" y="192024"/>
                  <a:pt x="252984" y="124206"/>
                </a:cubicBezTo>
                <a:cubicBezTo>
                  <a:pt x="252222" y="54864"/>
                  <a:pt x="195072" y="0"/>
                  <a:pt x="126492" y="0"/>
                </a:cubicBezTo>
                <a:close/>
                <a:moveTo>
                  <a:pt x="108204" y="200406"/>
                </a:moveTo>
                <a:lnTo>
                  <a:pt x="34290" y="127254"/>
                </a:lnTo>
                <a:lnTo>
                  <a:pt x="64008" y="99060"/>
                </a:lnTo>
                <a:lnTo>
                  <a:pt x="108966" y="142494"/>
                </a:lnTo>
                <a:lnTo>
                  <a:pt x="190500" y="62484"/>
                </a:lnTo>
                <a:lnTo>
                  <a:pt x="220218" y="90678"/>
                </a:lnTo>
                <a:lnTo>
                  <a:pt x="108204" y="200406"/>
                </a:lnTo>
                <a:close/>
              </a:path>
            </a:pathLst>
          </a:custGeom>
          <a:solidFill>
            <a:schemeClr val="accent5">
              <a:lumMod val="60000"/>
              <a:lumOff val="40000"/>
            </a:schemeClr>
          </a:solidFill>
          <a:ln w="7620"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47" name="任意形状 46"/>
          <p:cNvSpPr/>
          <p:nvPr/>
        </p:nvSpPr>
        <p:spPr>
          <a:xfrm>
            <a:off x="8114822" y="4790748"/>
            <a:ext cx="252984" cy="248412"/>
          </a:xfrm>
          <a:custGeom>
            <a:avLst/>
            <a:gdLst>
              <a:gd name="connsiteX0" fmla="*/ 126492 w 252984"/>
              <a:gd name="connsiteY0" fmla="*/ 0 h 248412"/>
              <a:gd name="connsiteX1" fmla="*/ 0 w 252984"/>
              <a:gd name="connsiteY1" fmla="*/ 124206 h 248412"/>
              <a:gd name="connsiteX2" fmla="*/ 126492 w 252984"/>
              <a:gd name="connsiteY2" fmla="*/ 248412 h 248412"/>
              <a:gd name="connsiteX3" fmla="*/ 252984 w 252984"/>
              <a:gd name="connsiteY3" fmla="*/ 124206 h 248412"/>
              <a:gd name="connsiteX4" fmla="*/ 126492 w 252984"/>
              <a:gd name="connsiteY4" fmla="*/ 0 h 248412"/>
              <a:gd name="connsiteX5" fmla="*/ 108204 w 252984"/>
              <a:gd name="connsiteY5" fmla="*/ 200406 h 248412"/>
              <a:gd name="connsiteX6" fmla="*/ 34290 w 252984"/>
              <a:gd name="connsiteY6" fmla="*/ 127254 h 248412"/>
              <a:gd name="connsiteX7" fmla="*/ 64008 w 252984"/>
              <a:gd name="connsiteY7" fmla="*/ 99060 h 248412"/>
              <a:gd name="connsiteX8" fmla="*/ 108966 w 252984"/>
              <a:gd name="connsiteY8" fmla="*/ 142494 h 248412"/>
              <a:gd name="connsiteX9" fmla="*/ 190500 w 252984"/>
              <a:gd name="connsiteY9" fmla="*/ 62484 h 248412"/>
              <a:gd name="connsiteX10" fmla="*/ 220218 w 252984"/>
              <a:gd name="connsiteY10" fmla="*/ 90678 h 248412"/>
              <a:gd name="connsiteX11" fmla="*/ 108204 w 252984"/>
              <a:gd name="connsiteY11" fmla="*/ 200406 h 248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84" h="248412">
                <a:moveTo>
                  <a:pt x="126492" y="0"/>
                </a:moveTo>
                <a:cubicBezTo>
                  <a:pt x="57150" y="0"/>
                  <a:pt x="0" y="56388"/>
                  <a:pt x="0" y="124206"/>
                </a:cubicBezTo>
                <a:cubicBezTo>
                  <a:pt x="0" y="192786"/>
                  <a:pt x="56388" y="248412"/>
                  <a:pt x="126492" y="248412"/>
                </a:cubicBezTo>
                <a:cubicBezTo>
                  <a:pt x="196596" y="248412"/>
                  <a:pt x="252984" y="192024"/>
                  <a:pt x="252984" y="124206"/>
                </a:cubicBezTo>
                <a:cubicBezTo>
                  <a:pt x="252222" y="54864"/>
                  <a:pt x="195072" y="0"/>
                  <a:pt x="126492" y="0"/>
                </a:cubicBezTo>
                <a:close/>
                <a:moveTo>
                  <a:pt x="108204" y="200406"/>
                </a:moveTo>
                <a:lnTo>
                  <a:pt x="34290" y="127254"/>
                </a:lnTo>
                <a:lnTo>
                  <a:pt x="64008" y="99060"/>
                </a:lnTo>
                <a:lnTo>
                  <a:pt x="108966" y="142494"/>
                </a:lnTo>
                <a:lnTo>
                  <a:pt x="190500" y="62484"/>
                </a:lnTo>
                <a:lnTo>
                  <a:pt x="220218" y="90678"/>
                </a:lnTo>
                <a:lnTo>
                  <a:pt x="108204" y="200406"/>
                </a:lnTo>
                <a:close/>
              </a:path>
            </a:pathLst>
          </a:custGeom>
          <a:solidFill>
            <a:schemeClr val="accent5"/>
          </a:solidFill>
          <a:ln w="7620"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9" name="任意形状 47"/>
          <p:cNvSpPr/>
          <p:nvPr/>
        </p:nvSpPr>
        <p:spPr>
          <a:xfrm>
            <a:off x="8114822" y="5592864"/>
            <a:ext cx="252984" cy="248412"/>
          </a:xfrm>
          <a:custGeom>
            <a:avLst/>
            <a:gdLst>
              <a:gd name="connsiteX0" fmla="*/ 126492 w 252984"/>
              <a:gd name="connsiteY0" fmla="*/ 0 h 248412"/>
              <a:gd name="connsiteX1" fmla="*/ 0 w 252984"/>
              <a:gd name="connsiteY1" fmla="*/ 124206 h 248412"/>
              <a:gd name="connsiteX2" fmla="*/ 126492 w 252984"/>
              <a:gd name="connsiteY2" fmla="*/ 248412 h 248412"/>
              <a:gd name="connsiteX3" fmla="*/ 252984 w 252984"/>
              <a:gd name="connsiteY3" fmla="*/ 124206 h 248412"/>
              <a:gd name="connsiteX4" fmla="*/ 126492 w 252984"/>
              <a:gd name="connsiteY4" fmla="*/ 0 h 248412"/>
              <a:gd name="connsiteX5" fmla="*/ 108204 w 252984"/>
              <a:gd name="connsiteY5" fmla="*/ 200406 h 248412"/>
              <a:gd name="connsiteX6" fmla="*/ 34290 w 252984"/>
              <a:gd name="connsiteY6" fmla="*/ 127254 h 248412"/>
              <a:gd name="connsiteX7" fmla="*/ 64008 w 252984"/>
              <a:gd name="connsiteY7" fmla="*/ 99060 h 248412"/>
              <a:gd name="connsiteX8" fmla="*/ 108966 w 252984"/>
              <a:gd name="connsiteY8" fmla="*/ 142494 h 248412"/>
              <a:gd name="connsiteX9" fmla="*/ 190500 w 252984"/>
              <a:gd name="connsiteY9" fmla="*/ 62484 h 248412"/>
              <a:gd name="connsiteX10" fmla="*/ 220218 w 252984"/>
              <a:gd name="connsiteY10" fmla="*/ 90678 h 248412"/>
              <a:gd name="connsiteX11" fmla="*/ 108204 w 252984"/>
              <a:gd name="connsiteY11" fmla="*/ 200406 h 248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84" h="248412">
                <a:moveTo>
                  <a:pt x="126492" y="0"/>
                </a:moveTo>
                <a:cubicBezTo>
                  <a:pt x="57150" y="0"/>
                  <a:pt x="0" y="56388"/>
                  <a:pt x="0" y="124206"/>
                </a:cubicBezTo>
                <a:cubicBezTo>
                  <a:pt x="0" y="192786"/>
                  <a:pt x="56388" y="248412"/>
                  <a:pt x="126492" y="248412"/>
                </a:cubicBezTo>
                <a:cubicBezTo>
                  <a:pt x="196596" y="248412"/>
                  <a:pt x="252984" y="192024"/>
                  <a:pt x="252984" y="124206"/>
                </a:cubicBezTo>
                <a:cubicBezTo>
                  <a:pt x="252222" y="54864"/>
                  <a:pt x="195072" y="0"/>
                  <a:pt x="126492" y="0"/>
                </a:cubicBezTo>
                <a:close/>
                <a:moveTo>
                  <a:pt x="108204" y="200406"/>
                </a:moveTo>
                <a:lnTo>
                  <a:pt x="34290" y="127254"/>
                </a:lnTo>
                <a:lnTo>
                  <a:pt x="64008" y="99060"/>
                </a:lnTo>
                <a:lnTo>
                  <a:pt x="108966" y="142494"/>
                </a:lnTo>
                <a:lnTo>
                  <a:pt x="190500" y="62484"/>
                </a:lnTo>
                <a:lnTo>
                  <a:pt x="220218" y="90678"/>
                </a:lnTo>
                <a:lnTo>
                  <a:pt x="108204" y="200406"/>
                </a:lnTo>
                <a:close/>
              </a:path>
            </a:pathLst>
          </a:custGeom>
          <a:solidFill>
            <a:schemeClr val="accent5"/>
          </a:solidFill>
          <a:ln w="7620"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44" name="文本框 43"/>
          <p:cNvSpPr txBox="1"/>
          <p:nvPr/>
        </p:nvSpPr>
        <p:spPr>
          <a:xfrm>
            <a:off x="4673753" y="4687939"/>
            <a:ext cx="2820358" cy="532390"/>
          </a:xfrm>
          <a:prstGeom prst="rect">
            <a:avLst/>
          </a:prstGeom>
          <a:noFill/>
          <a:ln>
            <a:noFill/>
          </a:ln>
          <a:effectLst/>
        </p:spPr>
        <p:txBody>
          <a:bodyPr wrap="square" rtlCol="0">
            <a:spAutoFit/>
          </a:bodyPr>
          <a:lstStyle/>
          <a:p>
            <a:pPr algn="just">
              <a:lnSpc>
                <a:spcPct val="150000"/>
              </a:lnSpc>
              <a:spcAft>
                <a:spcPts val="1000"/>
              </a:spcAft>
            </a:pP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业绩冲刺：</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超额完成年度任务目标，营收同比增长</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18%</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，实现业绩突破显著。</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50" name="文本框 49"/>
          <p:cNvSpPr txBox="1"/>
          <p:nvPr/>
        </p:nvSpPr>
        <p:spPr>
          <a:xfrm>
            <a:off x="4673753" y="5482729"/>
            <a:ext cx="2820358" cy="532390"/>
          </a:xfrm>
          <a:prstGeom prst="rect">
            <a:avLst/>
          </a:prstGeom>
          <a:noFill/>
          <a:ln>
            <a:noFill/>
          </a:ln>
          <a:effectLst/>
        </p:spPr>
        <p:txBody>
          <a:bodyPr wrap="square" rtlCol="0">
            <a:spAutoFit/>
          </a:bodyPr>
          <a:lstStyle/>
          <a:p>
            <a:pPr algn="just">
              <a:lnSpc>
                <a:spcPct val="150000"/>
              </a:lnSpc>
              <a:spcAft>
                <a:spcPts val="1000"/>
              </a:spcAft>
            </a:pP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总结规划：</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提炼经验，总结不足与优势，制定新年度工作计划，明确发展方向清晰。</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51" name="文本框 50"/>
          <p:cNvSpPr txBox="1"/>
          <p:nvPr/>
        </p:nvSpPr>
        <p:spPr>
          <a:xfrm>
            <a:off x="8439841" y="4687939"/>
            <a:ext cx="2820358" cy="532390"/>
          </a:xfrm>
          <a:prstGeom prst="rect">
            <a:avLst/>
          </a:prstGeom>
          <a:noFill/>
          <a:ln>
            <a:noFill/>
          </a:ln>
          <a:effectLst/>
        </p:spPr>
        <p:txBody>
          <a:bodyPr wrap="square" rtlCol="0">
            <a:spAutoFit/>
          </a:bodyPr>
          <a:lstStyle/>
          <a:p>
            <a:pPr algn="just">
              <a:lnSpc>
                <a:spcPct val="150000"/>
              </a:lnSpc>
              <a:spcAft>
                <a:spcPts val="1000"/>
              </a:spcAft>
            </a:pP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品质提升：</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优化生产流程，产品合格率提升至</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98%</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，确保质量稳定可靠。</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52" name="文本框 51"/>
          <p:cNvSpPr txBox="1"/>
          <p:nvPr/>
        </p:nvSpPr>
        <p:spPr>
          <a:xfrm>
            <a:off x="8439841" y="5482729"/>
            <a:ext cx="2820358" cy="532390"/>
          </a:xfrm>
          <a:prstGeom prst="rect">
            <a:avLst/>
          </a:prstGeom>
          <a:noFill/>
          <a:ln>
            <a:noFill/>
          </a:ln>
          <a:effectLst/>
        </p:spPr>
        <p:txBody>
          <a:bodyPr wrap="square" rtlCol="0">
            <a:spAutoFit/>
          </a:bodyPr>
          <a:lstStyle/>
          <a:p>
            <a:pPr algn="just">
              <a:lnSpc>
                <a:spcPct val="150000"/>
              </a:lnSpc>
              <a:spcAft>
                <a:spcPts val="1000"/>
              </a:spcAft>
            </a:pP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成本管控：</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实施降本增效措施，降低运营成本</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5%</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，提升利润率效果显著。</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cxnSp>
        <p:nvCxnSpPr>
          <p:cNvPr id="53" name="直线箭头连接符 25"/>
          <p:cNvCxnSpPr/>
          <p:nvPr/>
        </p:nvCxnSpPr>
        <p:spPr>
          <a:xfrm flipH="1">
            <a:off x="3133663" y="4242169"/>
            <a:ext cx="795528"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54" name="直线箭头连接符 31"/>
          <p:cNvCxnSpPr/>
          <p:nvPr/>
        </p:nvCxnSpPr>
        <p:spPr>
          <a:xfrm>
            <a:off x="8293537" y="1398385"/>
            <a:ext cx="756000" cy="0"/>
          </a:xfrm>
          <a:prstGeom prst="straightConnector1">
            <a:avLst/>
          </a:prstGeom>
          <a:ln>
            <a:solidFill>
              <a:schemeClr val="accent1">
                <a:lumMod val="60000"/>
                <a:lumOff val="40000"/>
              </a:schemeClr>
            </a:solidFill>
            <a:tailEnd type="triangle"/>
          </a:ln>
        </p:spPr>
        <p:style>
          <a:lnRef idx="2">
            <a:schemeClr val="accent2"/>
          </a:lnRef>
          <a:fillRef idx="0">
            <a:schemeClr val="accent2"/>
          </a:fillRef>
          <a:effectRef idx="1">
            <a:schemeClr val="accent2"/>
          </a:effectRef>
          <a:fontRef idx="minor">
            <a:schemeClr val="tx1"/>
          </a:fontRef>
        </p:style>
      </p:cxnSp>
      <p:sp>
        <p:nvSpPr>
          <p:cNvPr id="55" name="任意形状 23"/>
          <p:cNvSpPr/>
          <p:nvPr/>
        </p:nvSpPr>
        <p:spPr>
          <a:xfrm>
            <a:off x="9231630" y="1146810"/>
            <a:ext cx="2506980" cy="2471166"/>
          </a:xfrm>
          <a:custGeom>
            <a:avLst/>
            <a:gdLst>
              <a:gd name="connsiteX0" fmla="*/ 0 w 2506980"/>
              <a:gd name="connsiteY0" fmla="*/ 0 h 2471166"/>
              <a:gd name="connsiteX1" fmla="*/ 2506980 w 2506980"/>
              <a:gd name="connsiteY1" fmla="*/ 0 h 2471166"/>
              <a:gd name="connsiteX2" fmla="*/ 2506980 w 2506980"/>
              <a:gd name="connsiteY2" fmla="*/ 2471166 h 2471166"/>
              <a:gd name="connsiteX3" fmla="*/ 0 w 2506980"/>
              <a:gd name="connsiteY3" fmla="*/ 2471166 h 2471166"/>
            </a:gdLst>
            <a:ahLst/>
            <a:cxnLst>
              <a:cxn ang="0">
                <a:pos x="connsiteX0" y="connsiteY0"/>
              </a:cxn>
              <a:cxn ang="0">
                <a:pos x="connsiteX1" y="connsiteY1"/>
              </a:cxn>
              <a:cxn ang="0">
                <a:pos x="connsiteX2" y="connsiteY2"/>
              </a:cxn>
              <a:cxn ang="0">
                <a:pos x="connsiteX3" y="connsiteY3"/>
              </a:cxn>
            </a:cxnLst>
            <a:rect l="l" t="t" r="r" b="b"/>
            <a:pathLst>
              <a:path w="2506980" h="2471166">
                <a:moveTo>
                  <a:pt x="0" y="0"/>
                </a:moveTo>
                <a:lnTo>
                  <a:pt x="2506980" y="0"/>
                </a:lnTo>
                <a:lnTo>
                  <a:pt x="2506980" y="2471166"/>
                </a:lnTo>
                <a:lnTo>
                  <a:pt x="0" y="2471166"/>
                </a:lnTo>
                <a:close/>
              </a:path>
            </a:pathLst>
          </a:custGeom>
          <a:solidFill>
            <a:schemeClr val="accent1">
              <a:lumMod val="20000"/>
              <a:lumOff val="80000"/>
              <a:alpha val="20000"/>
            </a:schemeClr>
          </a:solidFill>
          <a:ln w="7620"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7" name="任意形状 20"/>
          <p:cNvSpPr/>
          <p:nvPr/>
        </p:nvSpPr>
        <p:spPr>
          <a:xfrm>
            <a:off x="9231630" y="1146810"/>
            <a:ext cx="2506980" cy="505966"/>
          </a:xfrm>
          <a:custGeom>
            <a:avLst/>
            <a:gdLst>
              <a:gd name="connsiteX0" fmla="*/ 0 w 2506980"/>
              <a:gd name="connsiteY0" fmla="*/ 0 h 505968"/>
              <a:gd name="connsiteX1" fmla="*/ 2506980 w 2506980"/>
              <a:gd name="connsiteY1" fmla="*/ 0 h 505968"/>
              <a:gd name="connsiteX2" fmla="*/ 2506980 w 2506980"/>
              <a:gd name="connsiteY2" fmla="*/ 505968 h 505968"/>
              <a:gd name="connsiteX3" fmla="*/ 0 w 2506980"/>
              <a:gd name="connsiteY3" fmla="*/ 505968 h 505968"/>
            </a:gdLst>
            <a:ahLst/>
            <a:cxnLst>
              <a:cxn ang="0">
                <a:pos x="connsiteX0" y="connsiteY0"/>
              </a:cxn>
              <a:cxn ang="0">
                <a:pos x="connsiteX1" y="connsiteY1"/>
              </a:cxn>
              <a:cxn ang="0">
                <a:pos x="connsiteX2" y="connsiteY2"/>
              </a:cxn>
              <a:cxn ang="0">
                <a:pos x="connsiteX3" y="connsiteY3"/>
              </a:cxn>
            </a:cxnLst>
            <a:rect l="l" t="t" r="r" b="b"/>
            <a:pathLst>
              <a:path w="2506980" h="505968">
                <a:moveTo>
                  <a:pt x="0" y="0"/>
                </a:moveTo>
                <a:lnTo>
                  <a:pt x="2506980" y="0"/>
                </a:lnTo>
                <a:lnTo>
                  <a:pt x="2506980" y="505968"/>
                </a:lnTo>
                <a:lnTo>
                  <a:pt x="0" y="505968"/>
                </a:lnTo>
                <a:close/>
              </a:path>
            </a:pathLst>
          </a:custGeom>
          <a:solidFill>
            <a:schemeClr val="accent1">
              <a:lumMod val="60000"/>
              <a:lumOff val="40000"/>
            </a:schemeClr>
          </a:solidFill>
          <a:ln w="7620" cap="flat">
            <a:noFill/>
            <a:prstDash val="solid"/>
            <a:miter/>
          </a:ln>
        </p:spPr>
        <p:txBody>
          <a:bodyPr rtlCol="0" anchor="ctr"/>
          <a:lstStyle/>
          <a:p>
            <a:pPr algn="ctr"/>
            <a:r>
              <a:rPr lang="en-US" altLang="zh-CN" b="1" dirty="0">
                <a:solidFill>
                  <a:schemeClr val="bg1"/>
                </a:solidFill>
                <a:latin typeface="微软雅黑" panose="020B0503020204020204" charset="-122"/>
                <a:ea typeface="微软雅黑" panose="020B0503020204020204" charset="-122"/>
                <a:cs typeface="微软雅黑" panose="020B0503020204020204" charset="-122"/>
              </a:rPr>
              <a:t>2025</a:t>
            </a:r>
            <a:r>
              <a:rPr lang="zh-CN" altLang="en-US" b="1" dirty="0">
                <a:solidFill>
                  <a:schemeClr val="bg1"/>
                </a:solidFill>
                <a:latin typeface="微软雅黑" panose="020B0503020204020204" charset="-122"/>
                <a:ea typeface="微软雅黑" panose="020B0503020204020204" charset="-122"/>
                <a:cs typeface="微软雅黑" panose="020B0503020204020204" charset="-122"/>
              </a:rPr>
              <a:t>年上半年总结</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8" name="文本框 57"/>
          <p:cNvSpPr txBox="1"/>
          <p:nvPr/>
        </p:nvSpPr>
        <p:spPr>
          <a:xfrm>
            <a:off x="9302877" y="1861220"/>
            <a:ext cx="2364487" cy="1353127"/>
          </a:xfrm>
          <a:prstGeom prst="rect">
            <a:avLst/>
          </a:prstGeom>
          <a:noFill/>
          <a:ln>
            <a:noFill/>
          </a:ln>
        </p:spPr>
        <p:txBody>
          <a:bodyPr wrap="square" rtlCol="0">
            <a:spAutoFit/>
          </a:bodyPr>
          <a:lstStyle/>
          <a:p>
            <a:pPr>
              <a:lnSpc>
                <a:spcPct val="150000"/>
              </a:lnSpc>
              <a:spcAft>
                <a:spcPts val="1000"/>
              </a:spcAft>
            </a:pP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目标达成：</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完成重点项目阶段性工作任务，高效的同时确保高质量交付，提升团队执行力。</a:t>
            </a:r>
            <a:endPar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endParaRPr>
          </a:p>
          <a:p>
            <a:pPr>
              <a:lnSpc>
                <a:spcPct val="150000"/>
              </a:lnSpc>
              <a:spcAft>
                <a:spcPts val="1000"/>
              </a:spcAft>
            </a:pPr>
            <a:r>
              <a:rPr lang="zh-CN" altLang="en-US" sz="1000" b="1" dirty="0">
                <a:solidFill>
                  <a:schemeClr val="tx2"/>
                </a:solidFill>
                <a:latin typeface="微软雅黑" panose="020B0503020204020204" charset="-122"/>
                <a:ea typeface="微软雅黑" panose="020B0503020204020204" charset="-122"/>
                <a:cs typeface="微软雅黑" panose="020B0503020204020204" charset="-122"/>
              </a:rPr>
              <a:t>创新突破</a:t>
            </a: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引入新技术，优化流程，提升生产效率，推动业务模式升级。</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59" name="矩形 58"/>
          <p:cNvSpPr/>
          <p:nvPr/>
        </p:nvSpPr>
        <p:spPr>
          <a:xfrm>
            <a:off x="9231630" y="3460497"/>
            <a:ext cx="2504693" cy="15062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60" name="任意形状 32"/>
          <p:cNvSpPr/>
          <p:nvPr/>
        </p:nvSpPr>
        <p:spPr>
          <a:xfrm>
            <a:off x="461010" y="3994404"/>
            <a:ext cx="2506980" cy="2471166"/>
          </a:xfrm>
          <a:custGeom>
            <a:avLst/>
            <a:gdLst>
              <a:gd name="connsiteX0" fmla="*/ 0 w 2506980"/>
              <a:gd name="connsiteY0" fmla="*/ 0 h 2471166"/>
              <a:gd name="connsiteX1" fmla="*/ 2506980 w 2506980"/>
              <a:gd name="connsiteY1" fmla="*/ 0 h 2471166"/>
              <a:gd name="connsiteX2" fmla="*/ 2506980 w 2506980"/>
              <a:gd name="connsiteY2" fmla="*/ 2471166 h 2471166"/>
              <a:gd name="connsiteX3" fmla="*/ 0 w 2506980"/>
              <a:gd name="connsiteY3" fmla="*/ 2471166 h 2471166"/>
            </a:gdLst>
            <a:ahLst/>
            <a:cxnLst>
              <a:cxn ang="0">
                <a:pos x="connsiteX0" y="connsiteY0"/>
              </a:cxn>
              <a:cxn ang="0">
                <a:pos x="connsiteX1" y="connsiteY1"/>
              </a:cxn>
              <a:cxn ang="0">
                <a:pos x="connsiteX2" y="connsiteY2"/>
              </a:cxn>
              <a:cxn ang="0">
                <a:pos x="connsiteX3" y="connsiteY3"/>
              </a:cxn>
            </a:cxnLst>
            <a:rect l="l" t="t" r="r" b="b"/>
            <a:pathLst>
              <a:path w="2506980" h="2471166">
                <a:moveTo>
                  <a:pt x="0" y="0"/>
                </a:moveTo>
                <a:lnTo>
                  <a:pt x="2506980" y="0"/>
                </a:lnTo>
                <a:lnTo>
                  <a:pt x="2506980" y="2471166"/>
                </a:lnTo>
                <a:lnTo>
                  <a:pt x="0" y="2471166"/>
                </a:lnTo>
                <a:close/>
              </a:path>
            </a:pathLst>
          </a:custGeom>
          <a:solidFill>
            <a:schemeClr val="accent5">
              <a:lumMod val="20000"/>
              <a:lumOff val="80000"/>
              <a:alpha val="20000"/>
            </a:schemeClr>
          </a:solidFill>
          <a:ln w="7620"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61" name="任意形状 35"/>
          <p:cNvSpPr/>
          <p:nvPr/>
        </p:nvSpPr>
        <p:spPr>
          <a:xfrm>
            <a:off x="461009" y="3994404"/>
            <a:ext cx="2506980" cy="505968"/>
          </a:xfrm>
          <a:custGeom>
            <a:avLst/>
            <a:gdLst>
              <a:gd name="connsiteX0" fmla="*/ 0 w 2506980"/>
              <a:gd name="connsiteY0" fmla="*/ 0 h 505968"/>
              <a:gd name="connsiteX1" fmla="*/ 2506980 w 2506980"/>
              <a:gd name="connsiteY1" fmla="*/ 0 h 505968"/>
              <a:gd name="connsiteX2" fmla="*/ 2506980 w 2506980"/>
              <a:gd name="connsiteY2" fmla="*/ 505968 h 505968"/>
              <a:gd name="connsiteX3" fmla="*/ 0 w 2506980"/>
              <a:gd name="connsiteY3" fmla="*/ 505968 h 505968"/>
            </a:gdLst>
            <a:ahLst/>
            <a:cxnLst>
              <a:cxn ang="0">
                <a:pos x="connsiteX0" y="connsiteY0"/>
              </a:cxn>
              <a:cxn ang="0">
                <a:pos x="connsiteX1" y="connsiteY1"/>
              </a:cxn>
              <a:cxn ang="0">
                <a:pos x="connsiteX2" y="connsiteY2"/>
              </a:cxn>
              <a:cxn ang="0">
                <a:pos x="connsiteX3" y="connsiteY3"/>
              </a:cxn>
            </a:cxnLst>
            <a:rect l="l" t="t" r="r" b="b"/>
            <a:pathLst>
              <a:path w="2506980" h="505968">
                <a:moveTo>
                  <a:pt x="0" y="0"/>
                </a:moveTo>
                <a:lnTo>
                  <a:pt x="2506980" y="0"/>
                </a:lnTo>
                <a:lnTo>
                  <a:pt x="2506980" y="505968"/>
                </a:lnTo>
                <a:lnTo>
                  <a:pt x="0" y="505968"/>
                </a:lnTo>
                <a:close/>
              </a:path>
            </a:pathLst>
          </a:custGeom>
          <a:solidFill>
            <a:schemeClr val="accent5">
              <a:lumMod val="60000"/>
              <a:lumOff val="40000"/>
            </a:schemeClr>
          </a:solidFill>
          <a:ln w="7620" cap="flat">
            <a:noFill/>
            <a:prstDash val="solid"/>
            <a:miter/>
          </a:ln>
        </p:spPr>
        <p:txBody>
          <a:bodyPr rtlCol="0" anchor="ctr"/>
          <a:lstStyle/>
          <a:p>
            <a:pPr algn="ctr"/>
            <a:r>
              <a:rPr lang="en-US" altLang="zh-CN" b="1" dirty="0">
                <a:solidFill>
                  <a:schemeClr val="bg1"/>
                </a:solidFill>
                <a:latin typeface="微软雅黑" panose="020B0503020204020204" charset="-122"/>
                <a:ea typeface="微软雅黑" panose="020B0503020204020204" charset="-122"/>
                <a:cs typeface="微软雅黑" panose="020B0503020204020204" charset="-122"/>
              </a:rPr>
              <a:t>2025</a:t>
            </a:r>
            <a:r>
              <a:rPr lang="zh-CN" altLang="en-US" b="1" dirty="0">
                <a:solidFill>
                  <a:schemeClr val="bg1"/>
                </a:solidFill>
                <a:latin typeface="微软雅黑" panose="020B0503020204020204" charset="-122"/>
                <a:ea typeface="微软雅黑" panose="020B0503020204020204" charset="-122"/>
                <a:cs typeface="微软雅黑" panose="020B0503020204020204" charset="-122"/>
              </a:rPr>
              <a:t>年下半年规划</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62" name="文本框 61"/>
          <p:cNvSpPr txBox="1"/>
          <p:nvPr/>
        </p:nvSpPr>
        <p:spPr>
          <a:xfrm>
            <a:off x="532257" y="4708814"/>
            <a:ext cx="2364487" cy="1353127"/>
          </a:xfrm>
          <a:prstGeom prst="rect">
            <a:avLst/>
          </a:prstGeom>
          <a:noFill/>
          <a:ln>
            <a:noFill/>
          </a:ln>
        </p:spPr>
        <p:txBody>
          <a:bodyPr wrap="square" rtlCol="0">
            <a:spAutoFit/>
          </a:bodyPr>
          <a:lstStyle/>
          <a:p>
            <a:pPr>
              <a:lnSpc>
                <a:spcPct val="150000"/>
              </a:lnSpc>
              <a:spcAft>
                <a:spcPts val="1000"/>
              </a:spcAft>
            </a:pP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市场拓展：</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新增目标客户</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50</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家，业绩同比增长</a:t>
            </a:r>
            <a:r>
              <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rPr>
              <a:t>15%</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，扩大市场份额，提升企业品牌影响力。</a:t>
            </a:r>
            <a:endParaRPr lang="en-US" altLang="zh-CN" sz="1000" dirty="0">
              <a:solidFill>
                <a:schemeClr val="tx2"/>
              </a:solidFill>
              <a:effectLst/>
              <a:latin typeface="微软雅黑" panose="020B0503020204020204" charset="-122"/>
              <a:ea typeface="微软雅黑" panose="020B0503020204020204" charset="-122"/>
              <a:cs typeface="微软雅黑" panose="020B0503020204020204" charset="-122"/>
            </a:endParaRPr>
          </a:p>
          <a:p>
            <a:pPr>
              <a:lnSpc>
                <a:spcPct val="150000"/>
              </a:lnSpc>
              <a:spcAft>
                <a:spcPts val="1000"/>
              </a:spcAft>
            </a:pPr>
            <a:r>
              <a:rPr lang="zh-CN" altLang="en-US" sz="1000" b="1" dirty="0">
                <a:solidFill>
                  <a:schemeClr val="tx2"/>
                </a:solidFill>
                <a:latin typeface="微软雅黑" panose="020B0503020204020204" charset="-122"/>
                <a:ea typeface="微软雅黑" panose="020B0503020204020204" charset="-122"/>
                <a:cs typeface="微软雅黑" panose="020B0503020204020204" charset="-122"/>
              </a:rPr>
              <a:t>人才培养</a:t>
            </a: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a:t>
            </a: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开展技能培训，提升专业能力，增强核心竞争力，推动持续发展。</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63" name="矩形 62"/>
          <p:cNvSpPr/>
          <p:nvPr/>
        </p:nvSpPr>
        <p:spPr>
          <a:xfrm>
            <a:off x="461010" y="6319342"/>
            <a:ext cx="2504693" cy="154319"/>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64" name="右箭头 63"/>
          <p:cNvSpPr/>
          <p:nvPr/>
        </p:nvSpPr>
        <p:spPr>
          <a:xfrm>
            <a:off x="451865" y="3343987"/>
            <a:ext cx="7697723" cy="333977"/>
          </a:xfrm>
          <a:prstGeom prst="rightArrow">
            <a:avLst/>
          </a:prstGeom>
          <a:gradFill>
            <a:gsLst>
              <a:gs pos="100000">
                <a:schemeClr val="accent1">
                  <a:alpha val="0"/>
                </a:schemeClr>
              </a:gs>
              <a:gs pos="0">
                <a:schemeClr val="accent1"/>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65" name="右箭头 64"/>
          <p:cNvSpPr/>
          <p:nvPr/>
        </p:nvSpPr>
        <p:spPr>
          <a:xfrm rot="10800000">
            <a:off x="4040882" y="6208195"/>
            <a:ext cx="7690105" cy="333977"/>
          </a:xfrm>
          <a:prstGeom prst="rightArrow">
            <a:avLst/>
          </a:prstGeom>
          <a:gradFill>
            <a:gsLst>
              <a:gs pos="100000">
                <a:schemeClr val="accent5">
                  <a:alpha val="0"/>
                </a:schemeClr>
              </a:gs>
              <a:gs pos="0">
                <a:schemeClr val="accent5"/>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微软雅黑" panose="020B0503020204020204" charset="-122"/>
              <a:ea typeface="微软雅黑" panose="020B0503020204020204" charset="-122"/>
              <a:cs typeface="微软雅黑" panose="020B0503020204020204" charset="-122"/>
            </a:endParaRPr>
          </a:p>
        </p:txBody>
      </p: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13" name="图片 12"/>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4" name="文本框 13"/>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lang="en-US" altLang="zh-CN" sz="2500">
                <a:solidFill>
                  <a:schemeClr val="tx2"/>
                </a:solidFill>
                <a:effectLst/>
                <a:latin typeface="微软雅黑" panose="020B0503020204020204" charset="-122"/>
                <a:ea typeface="微软雅黑" panose="020B0503020204020204" charset="-122"/>
                <a:cs typeface="微软雅黑" panose="020B0503020204020204" charset="-122"/>
              </a:rPr>
              <a:t>2026</a:t>
            </a:r>
            <a:r>
              <a:rPr sz="2500">
                <a:solidFill>
                  <a:schemeClr val="tx2"/>
                </a:solidFill>
                <a:effectLst/>
                <a:latin typeface="微软雅黑" panose="020B0503020204020204" charset="-122"/>
                <a:ea typeface="微软雅黑" panose="020B0503020204020204" charset="-122"/>
                <a:cs typeface="微软雅黑" panose="020B0503020204020204" charset="-122"/>
              </a:rPr>
              <a:t>年各月工作计划</a:t>
            </a:r>
            <a:endParaRPr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3" name="图片 2"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13" name="任意形状 56"/>
          <p:cNvSpPr/>
          <p:nvPr/>
        </p:nvSpPr>
        <p:spPr>
          <a:xfrm>
            <a:off x="1316989" y="2824727"/>
            <a:ext cx="10382147" cy="809422"/>
          </a:xfrm>
          <a:custGeom>
            <a:avLst/>
            <a:gdLst>
              <a:gd name="connsiteX0" fmla="*/ 0 w 721360"/>
              <a:gd name="connsiteY0" fmla="*/ 0 h 721359"/>
              <a:gd name="connsiteX1" fmla="*/ 721360 w 721360"/>
              <a:gd name="connsiteY1" fmla="*/ 0 h 721359"/>
              <a:gd name="connsiteX2" fmla="*/ 721360 w 721360"/>
              <a:gd name="connsiteY2" fmla="*/ 721360 h 721359"/>
              <a:gd name="connsiteX3" fmla="*/ 0 w 721360"/>
              <a:gd name="connsiteY3" fmla="*/ 721360 h 721359"/>
            </a:gdLst>
            <a:ahLst/>
            <a:cxnLst>
              <a:cxn ang="0">
                <a:pos x="connsiteX0" y="connsiteY0"/>
              </a:cxn>
              <a:cxn ang="0">
                <a:pos x="connsiteX1" y="connsiteY1"/>
              </a:cxn>
              <a:cxn ang="0">
                <a:pos x="connsiteX2" y="connsiteY2"/>
              </a:cxn>
              <a:cxn ang="0">
                <a:pos x="connsiteX3" y="connsiteY3"/>
              </a:cxn>
            </a:cxnLst>
            <a:rect l="l" t="t" r="r" b="b"/>
            <a:pathLst>
              <a:path w="721360" h="721359">
                <a:moveTo>
                  <a:pt x="0" y="0"/>
                </a:moveTo>
                <a:lnTo>
                  <a:pt x="721360" y="0"/>
                </a:lnTo>
                <a:lnTo>
                  <a:pt x="721360" y="721360"/>
                </a:lnTo>
                <a:lnTo>
                  <a:pt x="0" y="721360"/>
                </a:lnTo>
                <a:close/>
              </a:path>
            </a:pathLst>
          </a:custGeom>
          <a:solidFill>
            <a:schemeClr val="accent1">
              <a:lumMod val="20000"/>
              <a:lumOff val="80000"/>
              <a:alpha val="40000"/>
            </a:schemeClr>
          </a:solidFill>
          <a:ln w="12700" cap="flat">
            <a:noFill/>
            <a:prstDash val="solid"/>
            <a:miter/>
          </a:ln>
        </p:spPr>
        <p:txBody>
          <a:bodyPr vert="eaVert" rtlCol="0" anchor="ctr"/>
          <a:lstStyle/>
          <a:p>
            <a:pPr algn="ctr"/>
            <a:endParaRPr lang="zh-CN" altLang="en-US" sz="120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4" name="任意形状 8"/>
          <p:cNvSpPr/>
          <p:nvPr/>
        </p:nvSpPr>
        <p:spPr>
          <a:xfrm>
            <a:off x="1319530" y="1160781"/>
            <a:ext cx="10513955" cy="721359"/>
          </a:xfrm>
          <a:custGeom>
            <a:avLst/>
            <a:gdLst>
              <a:gd name="connsiteX0" fmla="*/ 0 w 10372089"/>
              <a:gd name="connsiteY0" fmla="*/ 0 h 721359"/>
              <a:gd name="connsiteX1" fmla="*/ 0 w 10372089"/>
              <a:gd name="connsiteY1" fmla="*/ 360680 h 721359"/>
              <a:gd name="connsiteX2" fmla="*/ 0 w 10372089"/>
              <a:gd name="connsiteY2" fmla="*/ 721360 h 721359"/>
              <a:gd name="connsiteX3" fmla="*/ 10233660 w 10372089"/>
              <a:gd name="connsiteY3" fmla="*/ 721360 h 721359"/>
              <a:gd name="connsiteX4" fmla="*/ 10372090 w 10372089"/>
              <a:gd name="connsiteY4" fmla="*/ 360680 h 721359"/>
              <a:gd name="connsiteX5" fmla="*/ 10233660 w 10372089"/>
              <a:gd name="connsiteY5" fmla="*/ 0 h 721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72089" h="721359">
                <a:moveTo>
                  <a:pt x="0" y="0"/>
                </a:moveTo>
                <a:lnTo>
                  <a:pt x="0" y="360680"/>
                </a:lnTo>
                <a:lnTo>
                  <a:pt x="0" y="721360"/>
                </a:lnTo>
                <a:lnTo>
                  <a:pt x="10233660" y="721360"/>
                </a:lnTo>
                <a:lnTo>
                  <a:pt x="10372090" y="360680"/>
                </a:lnTo>
                <a:lnTo>
                  <a:pt x="10233660" y="0"/>
                </a:lnTo>
                <a:close/>
              </a:path>
            </a:pathLst>
          </a:custGeom>
          <a:gradFill>
            <a:gsLst>
              <a:gs pos="0">
                <a:schemeClr val="accent1"/>
              </a:gs>
              <a:gs pos="99000">
                <a:schemeClr val="accent1">
                  <a:lumMod val="60000"/>
                  <a:lumOff val="40000"/>
                </a:schemeClr>
              </a:gs>
            </a:gsLst>
            <a:lin ang="10800000" scaled="0"/>
          </a:gradFill>
          <a:ln w="12700"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5" name="任意形状 10"/>
          <p:cNvSpPr/>
          <p:nvPr/>
        </p:nvSpPr>
        <p:spPr>
          <a:xfrm>
            <a:off x="1319530" y="1990090"/>
            <a:ext cx="12700" cy="1670050"/>
          </a:xfrm>
          <a:custGeom>
            <a:avLst/>
            <a:gdLst>
              <a:gd name="connsiteX0" fmla="*/ 0 w 12700"/>
              <a:gd name="connsiteY0" fmla="*/ 0 h 1670050"/>
              <a:gd name="connsiteX1" fmla="*/ 0 w 12700"/>
              <a:gd name="connsiteY1" fmla="*/ 1670050 h 1670050"/>
            </a:gdLst>
            <a:ahLst/>
            <a:cxnLst>
              <a:cxn ang="0">
                <a:pos x="connsiteX0" y="connsiteY0"/>
              </a:cxn>
              <a:cxn ang="0">
                <a:pos x="connsiteX1" y="connsiteY1"/>
              </a:cxn>
            </a:cxnLst>
            <a:rect l="l" t="t" r="r" b="b"/>
            <a:pathLst>
              <a:path w="12700" h="1670050">
                <a:moveTo>
                  <a:pt x="0" y="0"/>
                </a:moveTo>
                <a:lnTo>
                  <a:pt x="0" y="1670050"/>
                </a:lnTo>
              </a:path>
            </a:pathLst>
          </a:custGeom>
          <a:ln w="15875" cap="flat">
            <a:solidFill>
              <a:schemeClr val="tx2">
                <a:lumMod val="40000"/>
                <a:lumOff val="6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6" name="任意形状 11"/>
          <p:cNvSpPr/>
          <p:nvPr/>
        </p:nvSpPr>
        <p:spPr>
          <a:xfrm>
            <a:off x="3048000" y="1990090"/>
            <a:ext cx="12700" cy="1670050"/>
          </a:xfrm>
          <a:custGeom>
            <a:avLst/>
            <a:gdLst>
              <a:gd name="connsiteX0" fmla="*/ 0 w 12700"/>
              <a:gd name="connsiteY0" fmla="*/ 0 h 1670050"/>
              <a:gd name="connsiteX1" fmla="*/ 0 w 12700"/>
              <a:gd name="connsiteY1" fmla="*/ 1670050 h 1670050"/>
            </a:gdLst>
            <a:ahLst/>
            <a:cxnLst>
              <a:cxn ang="0">
                <a:pos x="connsiteX0" y="connsiteY0"/>
              </a:cxn>
              <a:cxn ang="0">
                <a:pos x="connsiteX1" y="connsiteY1"/>
              </a:cxn>
            </a:cxnLst>
            <a:rect l="l" t="t" r="r" b="b"/>
            <a:pathLst>
              <a:path w="12700" h="1670050">
                <a:moveTo>
                  <a:pt x="0" y="0"/>
                </a:moveTo>
                <a:lnTo>
                  <a:pt x="0" y="1670050"/>
                </a:lnTo>
              </a:path>
            </a:pathLst>
          </a:custGeom>
          <a:ln w="15875" cap="flat">
            <a:solidFill>
              <a:schemeClr val="tx2">
                <a:lumMod val="40000"/>
                <a:lumOff val="6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7" name="任意形状 12"/>
          <p:cNvSpPr/>
          <p:nvPr/>
        </p:nvSpPr>
        <p:spPr>
          <a:xfrm>
            <a:off x="4776470" y="1990090"/>
            <a:ext cx="12700" cy="1670050"/>
          </a:xfrm>
          <a:custGeom>
            <a:avLst/>
            <a:gdLst>
              <a:gd name="connsiteX0" fmla="*/ 0 w 12700"/>
              <a:gd name="connsiteY0" fmla="*/ 0 h 1670050"/>
              <a:gd name="connsiteX1" fmla="*/ 0 w 12700"/>
              <a:gd name="connsiteY1" fmla="*/ 1670050 h 1670050"/>
            </a:gdLst>
            <a:ahLst/>
            <a:cxnLst>
              <a:cxn ang="0">
                <a:pos x="connsiteX0" y="connsiteY0"/>
              </a:cxn>
              <a:cxn ang="0">
                <a:pos x="connsiteX1" y="connsiteY1"/>
              </a:cxn>
            </a:cxnLst>
            <a:rect l="l" t="t" r="r" b="b"/>
            <a:pathLst>
              <a:path w="12700" h="1670050">
                <a:moveTo>
                  <a:pt x="0" y="0"/>
                </a:moveTo>
                <a:lnTo>
                  <a:pt x="0" y="1670050"/>
                </a:lnTo>
              </a:path>
            </a:pathLst>
          </a:custGeom>
          <a:ln w="15875" cap="flat">
            <a:solidFill>
              <a:schemeClr val="tx2">
                <a:lumMod val="40000"/>
                <a:lumOff val="6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8" name="任意形状 13"/>
          <p:cNvSpPr/>
          <p:nvPr/>
        </p:nvSpPr>
        <p:spPr>
          <a:xfrm>
            <a:off x="6506209" y="1990090"/>
            <a:ext cx="12700" cy="1670050"/>
          </a:xfrm>
          <a:custGeom>
            <a:avLst/>
            <a:gdLst>
              <a:gd name="connsiteX0" fmla="*/ 0 w 12700"/>
              <a:gd name="connsiteY0" fmla="*/ 0 h 1670050"/>
              <a:gd name="connsiteX1" fmla="*/ 0 w 12700"/>
              <a:gd name="connsiteY1" fmla="*/ 1670050 h 1670050"/>
            </a:gdLst>
            <a:ahLst/>
            <a:cxnLst>
              <a:cxn ang="0">
                <a:pos x="connsiteX0" y="connsiteY0"/>
              </a:cxn>
              <a:cxn ang="0">
                <a:pos x="connsiteX1" y="connsiteY1"/>
              </a:cxn>
            </a:cxnLst>
            <a:rect l="l" t="t" r="r" b="b"/>
            <a:pathLst>
              <a:path w="12700" h="1670050">
                <a:moveTo>
                  <a:pt x="0" y="0"/>
                </a:moveTo>
                <a:lnTo>
                  <a:pt x="0" y="1670050"/>
                </a:lnTo>
              </a:path>
            </a:pathLst>
          </a:custGeom>
          <a:ln w="15875" cap="flat">
            <a:solidFill>
              <a:schemeClr val="tx2">
                <a:lumMod val="40000"/>
                <a:lumOff val="6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9" name="任意形状 14"/>
          <p:cNvSpPr/>
          <p:nvPr/>
        </p:nvSpPr>
        <p:spPr>
          <a:xfrm>
            <a:off x="8234680" y="1990090"/>
            <a:ext cx="12700" cy="1670050"/>
          </a:xfrm>
          <a:custGeom>
            <a:avLst/>
            <a:gdLst>
              <a:gd name="connsiteX0" fmla="*/ 0 w 12700"/>
              <a:gd name="connsiteY0" fmla="*/ 0 h 1670050"/>
              <a:gd name="connsiteX1" fmla="*/ 0 w 12700"/>
              <a:gd name="connsiteY1" fmla="*/ 1670050 h 1670050"/>
            </a:gdLst>
            <a:ahLst/>
            <a:cxnLst>
              <a:cxn ang="0">
                <a:pos x="connsiteX0" y="connsiteY0"/>
              </a:cxn>
              <a:cxn ang="0">
                <a:pos x="connsiteX1" y="connsiteY1"/>
              </a:cxn>
            </a:cxnLst>
            <a:rect l="l" t="t" r="r" b="b"/>
            <a:pathLst>
              <a:path w="12700" h="1670050">
                <a:moveTo>
                  <a:pt x="0" y="0"/>
                </a:moveTo>
                <a:lnTo>
                  <a:pt x="0" y="1670050"/>
                </a:lnTo>
              </a:path>
            </a:pathLst>
          </a:custGeom>
          <a:ln w="15875" cap="flat">
            <a:solidFill>
              <a:schemeClr val="tx2">
                <a:lumMod val="40000"/>
                <a:lumOff val="6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0" name="任意形状 15"/>
          <p:cNvSpPr/>
          <p:nvPr/>
        </p:nvSpPr>
        <p:spPr>
          <a:xfrm>
            <a:off x="9963150" y="1990090"/>
            <a:ext cx="12700" cy="1670050"/>
          </a:xfrm>
          <a:custGeom>
            <a:avLst/>
            <a:gdLst>
              <a:gd name="connsiteX0" fmla="*/ 0 w 12700"/>
              <a:gd name="connsiteY0" fmla="*/ 0 h 1670050"/>
              <a:gd name="connsiteX1" fmla="*/ 0 w 12700"/>
              <a:gd name="connsiteY1" fmla="*/ 1670050 h 1670050"/>
            </a:gdLst>
            <a:ahLst/>
            <a:cxnLst>
              <a:cxn ang="0">
                <a:pos x="connsiteX0" y="connsiteY0"/>
              </a:cxn>
              <a:cxn ang="0">
                <a:pos x="connsiteX1" y="connsiteY1"/>
              </a:cxn>
            </a:cxnLst>
            <a:rect l="l" t="t" r="r" b="b"/>
            <a:pathLst>
              <a:path w="12700" h="1670050">
                <a:moveTo>
                  <a:pt x="0" y="0"/>
                </a:moveTo>
                <a:lnTo>
                  <a:pt x="0" y="1670050"/>
                </a:lnTo>
              </a:path>
            </a:pathLst>
          </a:custGeom>
          <a:ln w="15875" cap="flat">
            <a:solidFill>
              <a:schemeClr val="tx2">
                <a:lumMod val="40000"/>
                <a:lumOff val="6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1" name="任意形状 16"/>
          <p:cNvSpPr/>
          <p:nvPr/>
        </p:nvSpPr>
        <p:spPr>
          <a:xfrm>
            <a:off x="11691620" y="1990090"/>
            <a:ext cx="12700" cy="1670050"/>
          </a:xfrm>
          <a:custGeom>
            <a:avLst/>
            <a:gdLst>
              <a:gd name="connsiteX0" fmla="*/ 0 w 12700"/>
              <a:gd name="connsiteY0" fmla="*/ 0 h 1670050"/>
              <a:gd name="connsiteX1" fmla="*/ 0 w 12700"/>
              <a:gd name="connsiteY1" fmla="*/ 1670050 h 1670050"/>
            </a:gdLst>
            <a:ahLst/>
            <a:cxnLst>
              <a:cxn ang="0">
                <a:pos x="connsiteX0" y="connsiteY0"/>
              </a:cxn>
              <a:cxn ang="0">
                <a:pos x="connsiteX1" y="connsiteY1"/>
              </a:cxn>
            </a:cxnLst>
            <a:rect l="l" t="t" r="r" b="b"/>
            <a:pathLst>
              <a:path w="12700" h="1670050">
                <a:moveTo>
                  <a:pt x="0" y="0"/>
                </a:moveTo>
                <a:lnTo>
                  <a:pt x="0" y="1670050"/>
                </a:lnTo>
              </a:path>
            </a:pathLst>
          </a:custGeom>
          <a:ln w="15875" cap="flat">
            <a:solidFill>
              <a:schemeClr val="tx2">
                <a:lumMod val="40000"/>
                <a:lumOff val="6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6" name="任意形状 17"/>
          <p:cNvSpPr/>
          <p:nvPr/>
        </p:nvSpPr>
        <p:spPr>
          <a:xfrm>
            <a:off x="1319530" y="4801871"/>
            <a:ext cx="12700" cy="1668779"/>
          </a:xfrm>
          <a:custGeom>
            <a:avLst/>
            <a:gdLst>
              <a:gd name="connsiteX0" fmla="*/ 0 w 12700"/>
              <a:gd name="connsiteY0" fmla="*/ 0 h 1668779"/>
              <a:gd name="connsiteX1" fmla="*/ 0 w 12700"/>
              <a:gd name="connsiteY1" fmla="*/ 1668780 h 1668779"/>
            </a:gdLst>
            <a:ahLst/>
            <a:cxnLst>
              <a:cxn ang="0">
                <a:pos x="connsiteX0" y="connsiteY0"/>
              </a:cxn>
              <a:cxn ang="0">
                <a:pos x="connsiteX1" y="connsiteY1"/>
              </a:cxn>
            </a:cxnLst>
            <a:rect l="l" t="t" r="r" b="b"/>
            <a:pathLst>
              <a:path w="12700" h="1668779">
                <a:moveTo>
                  <a:pt x="0" y="0"/>
                </a:moveTo>
                <a:lnTo>
                  <a:pt x="0" y="1668780"/>
                </a:lnTo>
              </a:path>
            </a:pathLst>
          </a:custGeom>
          <a:ln w="12700" cap="flat">
            <a:solidFill>
              <a:schemeClr val="tx2">
                <a:lumMod val="40000"/>
                <a:lumOff val="6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7" name="任意形状 18"/>
          <p:cNvSpPr/>
          <p:nvPr/>
        </p:nvSpPr>
        <p:spPr>
          <a:xfrm>
            <a:off x="3048000" y="4801871"/>
            <a:ext cx="12700" cy="1668779"/>
          </a:xfrm>
          <a:custGeom>
            <a:avLst/>
            <a:gdLst>
              <a:gd name="connsiteX0" fmla="*/ 0 w 12700"/>
              <a:gd name="connsiteY0" fmla="*/ 0 h 1668779"/>
              <a:gd name="connsiteX1" fmla="*/ 0 w 12700"/>
              <a:gd name="connsiteY1" fmla="*/ 1668780 h 1668779"/>
            </a:gdLst>
            <a:ahLst/>
            <a:cxnLst>
              <a:cxn ang="0">
                <a:pos x="connsiteX0" y="connsiteY0"/>
              </a:cxn>
              <a:cxn ang="0">
                <a:pos x="connsiteX1" y="connsiteY1"/>
              </a:cxn>
            </a:cxnLst>
            <a:rect l="l" t="t" r="r" b="b"/>
            <a:pathLst>
              <a:path w="12700" h="1668779">
                <a:moveTo>
                  <a:pt x="0" y="0"/>
                </a:moveTo>
                <a:lnTo>
                  <a:pt x="0" y="1668780"/>
                </a:lnTo>
              </a:path>
            </a:pathLst>
          </a:custGeom>
          <a:ln w="15875" cap="flat">
            <a:solidFill>
              <a:schemeClr val="tx2">
                <a:lumMod val="40000"/>
                <a:lumOff val="6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8" name="任意形状 19"/>
          <p:cNvSpPr/>
          <p:nvPr/>
        </p:nvSpPr>
        <p:spPr>
          <a:xfrm>
            <a:off x="4776470" y="4801871"/>
            <a:ext cx="12700" cy="1668779"/>
          </a:xfrm>
          <a:custGeom>
            <a:avLst/>
            <a:gdLst>
              <a:gd name="connsiteX0" fmla="*/ 0 w 12700"/>
              <a:gd name="connsiteY0" fmla="*/ 0 h 1668779"/>
              <a:gd name="connsiteX1" fmla="*/ 0 w 12700"/>
              <a:gd name="connsiteY1" fmla="*/ 1668780 h 1668779"/>
            </a:gdLst>
            <a:ahLst/>
            <a:cxnLst>
              <a:cxn ang="0">
                <a:pos x="connsiteX0" y="connsiteY0"/>
              </a:cxn>
              <a:cxn ang="0">
                <a:pos x="connsiteX1" y="connsiteY1"/>
              </a:cxn>
            </a:cxnLst>
            <a:rect l="l" t="t" r="r" b="b"/>
            <a:pathLst>
              <a:path w="12700" h="1668779">
                <a:moveTo>
                  <a:pt x="0" y="0"/>
                </a:moveTo>
                <a:lnTo>
                  <a:pt x="0" y="1668780"/>
                </a:lnTo>
              </a:path>
            </a:pathLst>
          </a:custGeom>
          <a:ln w="15875" cap="flat">
            <a:solidFill>
              <a:schemeClr val="tx2">
                <a:lumMod val="40000"/>
                <a:lumOff val="6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9" name="任意形状 20"/>
          <p:cNvSpPr/>
          <p:nvPr/>
        </p:nvSpPr>
        <p:spPr>
          <a:xfrm>
            <a:off x="6506209" y="4801871"/>
            <a:ext cx="12700" cy="1668779"/>
          </a:xfrm>
          <a:custGeom>
            <a:avLst/>
            <a:gdLst>
              <a:gd name="connsiteX0" fmla="*/ 0 w 12700"/>
              <a:gd name="connsiteY0" fmla="*/ 0 h 1668779"/>
              <a:gd name="connsiteX1" fmla="*/ 0 w 12700"/>
              <a:gd name="connsiteY1" fmla="*/ 1668780 h 1668779"/>
            </a:gdLst>
            <a:ahLst/>
            <a:cxnLst>
              <a:cxn ang="0">
                <a:pos x="connsiteX0" y="connsiteY0"/>
              </a:cxn>
              <a:cxn ang="0">
                <a:pos x="connsiteX1" y="connsiteY1"/>
              </a:cxn>
            </a:cxnLst>
            <a:rect l="l" t="t" r="r" b="b"/>
            <a:pathLst>
              <a:path w="12700" h="1668779">
                <a:moveTo>
                  <a:pt x="0" y="0"/>
                </a:moveTo>
                <a:lnTo>
                  <a:pt x="0" y="1668780"/>
                </a:lnTo>
              </a:path>
            </a:pathLst>
          </a:custGeom>
          <a:ln w="15875" cap="flat">
            <a:solidFill>
              <a:schemeClr val="tx2">
                <a:lumMod val="40000"/>
                <a:lumOff val="6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1" name="任意形状 21"/>
          <p:cNvSpPr/>
          <p:nvPr/>
        </p:nvSpPr>
        <p:spPr>
          <a:xfrm>
            <a:off x="8234680" y="4801871"/>
            <a:ext cx="12700" cy="1668779"/>
          </a:xfrm>
          <a:custGeom>
            <a:avLst/>
            <a:gdLst>
              <a:gd name="connsiteX0" fmla="*/ 0 w 12700"/>
              <a:gd name="connsiteY0" fmla="*/ 0 h 1668779"/>
              <a:gd name="connsiteX1" fmla="*/ 0 w 12700"/>
              <a:gd name="connsiteY1" fmla="*/ 1668780 h 1668779"/>
            </a:gdLst>
            <a:ahLst/>
            <a:cxnLst>
              <a:cxn ang="0">
                <a:pos x="connsiteX0" y="connsiteY0"/>
              </a:cxn>
              <a:cxn ang="0">
                <a:pos x="connsiteX1" y="connsiteY1"/>
              </a:cxn>
            </a:cxnLst>
            <a:rect l="l" t="t" r="r" b="b"/>
            <a:pathLst>
              <a:path w="12700" h="1668779">
                <a:moveTo>
                  <a:pt x="0" y="0"/>
                </a:moveTo>
                <a:lnTo>
                  <a:pt x="0" y="1668780"/>
                </a:lnTo>
              </a:path>
            </a:pathLst>
          </a:custGeom>
          <a:ln w="15875" cap="flat">
            <a:solidFill>
              <a:schemeClr val="tx2">
                <a:lumMod val="40000"/>
                <a:lumOff val="6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7" name="任意形状 22"/>
          <p:cNvSpPr/>
          <p:nvPr/>
        </p:nvSpPr>
        <p:spPr>
          <a:xfrm>
            <a:off x="9963150" y="4801871"/>
            <a:ext cx="12700" cy="1668779"/>
          </a:xfrm>
          <a:custGeom>
            <a:avLst/>
            <a:gdLst>
              <a:gd name="connsiteX0" fmla="*/ 0 w 12700"/>
              <a:gd name="connsiteY0" fmla="*/ 0 h 1668779"/>
              <a:gd name="connsiteX1" fmla="*/ 0 w 12700"/>
              <a:gd name="connsiteY1" fmla="*/ 1668780 h 1668779"/>
            </a:gdLst>
            <a:ahLst/>
            <a:cxnLst>
              <a:cxn ang="0">
                <a:pos x="connsiteX0" y="connsiteY0"/>
              </a:cxn>
              <a:cxn ang="0">
                <a:pos x="connsiteX1" y="connsiteY1"/>
              </a:cxn>
            </a:cxnLst>
            <a:rect l="l" t="t" r="r" b="b"/>
            <a:pathLst>
              <a:path w="12700" h="1668779">
                <a:moveTo>
                  <a:pt x="0" y="0"/>
                </a:moveTo>
                <a:lnTo>
                  <a:pt x="0" y="1668780"/>
                </a:lnTo>
              </a:path>
            </a:pathLst>
          </a:custGeom>
          <a:ln w="15875" cap="flat">
            <a:solidFill>
              <a:schemeClr val="tx2">
                <a:lumMod val="40000"/>
                <a:lumOff val="6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8" name="任意形状 23"/>
          <p:cNvSpPr/>
          <p:nvPr/>
        </p:nvSpPr>
        <p:spPr>
          <a:xfrm>
            <a:off x="11691620" y="4801871"/>
            <a:ext cx="12700" cy="1668779"/>
          </a:xfrm>
          <a:custGeom>
            <a:avLst/>
            <a:gdLst>
              <a:gd name="connsiteX0" fmla="*/ 0 w 12700"/>
              <a:gd name="connsiteY0" fmla="*/ 0 h 1668779"/>
              <a:gd name="connsiteX1" fmla="*/ 0 w 12700"/>
              <a:gd name="connsiteY1" fmla="*/ 1668780 h 1668779"/>
            </a:gdLst>
            <a:ahLst/>
            <a:cxnLst>
              <a:cxn ang="0">
                <a:pos x="connsiteX0" y="connsiteY0"/>
              </a:cxn>
              <a:cxn ang="0">
                <a:pos x="connsiteX1" y="connsiteY1"/>
              </a:cxn>
            </a:cxnLst>
            <a:rect l="l" t="t" r="r" b="b"/>
            <a:pathLst>
              <a:path w="12700" h="1668779">
                <a:moveTo>
                  <a:pt x="0" y="0"/>
                </a:moveTo>
                <a:lnTo>
                  <a:pt x="0" y="1668780"/>
                </a:lnTo>
              </a:path>
            </a:pathLst>
          </a:custGeom>
          <a:ln w="15875" cap="flat">
            <a:solidFill>
              <a:schemeClr val="tx2">
                <a:lumMod val="40000"/>
                <a:lumOff val="6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43" name="任意形状 24"/>
          <p:cNvSpPr/>
          <p:nvPr/>
        </p:nvSpPr>
        <p:spPr>
          <a:xfrm>
            <a:off x="425450" y="1160781"/>
            <a:ext cx="721360" cy="721359"/>
          </a:xfrm>
          <a:custGeom>
            <a:avLst/>
            <a:gdLst>
              <a:gd name="connsiteX0" fmla="*/ 0 w 721360"/>
              <a:gd name="connsiteY0" fmla="*/ 0 h 721359"/>
              <a:gd name="connsiteX1" fmla="*/ 721360 w 721360"/>
              <a:gd name="connsiteY1" fmla="*/ 0 h 721359"/>
              <a:gd name="connsiteX2" fmla="*/ 721360 w 721360"/>
              <a:gd name="connsiteY2" fmla="*/ 721360 h 721359"/>
              <a:gd name="connsiteX3" fmla="*/ 0 w 721360"/>
              <a:gd name="connsiteY3" fmla="*/ 721360 h 721359"/>
            </a:gdLst>
            <a:ahLst/>
            <a:cxnLst>
              <a:cxn ang="0">
                <a:pos x="connsiteX0" y="connsiteY0"/>
              </a:cxn>
              <a:cxn ang="0">
                <a:pos x="connsiteX1" y="connsiteY1"/>
              </a:cxn>
              <a:cxn ang="0">
                <a:pos x="connsiteX2" y="connsiteY2"/>
              </a:cxn>
              <a:cxn ang="0">
                <a:pos x="connsiteX3" y="connsiteY3"/>
              </a:cxn>
            </a:cxnLst>
            <a:rect l="l" t="t" r="r" b="b"/>
            <a:pathLst>
              <a:path w="721360" h="721359">
                <a:moveTo>
                  <a:pt x="0" y="0"/>
                </a:moveTo>
                <a:lnTo>
                  <a:pt x="721360" y="0"/>
                </a:lnTo>
                <a:lnTo>
                  <a:pt x="721360" y="721360"/>
                </a:lnTo>
                <a:lnTo>
                  <a:pt x="0" y="721360"/>
                </a:lnTo>
                <a:close/>
              </a:path>
            </a:pathLst>
          </a:custGeom>
          <a:gradFill>
            <a:gsLst>
              <a:gs pos="0">
                <a:schemeClr val="accent1"/>
              </a:gs>
              <a:gs pos="99000">
                <a:schemeClr val="accent1">
                  <a:lumMod val="60000"/>
                  <a:lumOff val="40000"/>
                </a:schemeClr>
              </a:gs>
            </a:gsLst>
            <a:lin ang="2700000" scaled="0"/>
          </a:gradFill>
          <a:ln w="12700" cap="flat">
            <a:noFill/>
            <a:prstDash val="solid"/>
            <a:miter/>
          </a:ln>
        </p:spPr>
        <p:txBody>
          <a:bodyPr rtlCol="0" anchor="ctr"/>
          <a:lstStyle/>
          <a:p>
            <a:pPr algn="ctr"/>
            <a:endParaRPr lang="zh-CN" altLang="en-US"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8" name="任意形状 25"/>
          <p:cNvSpPr/>
          <p:nvPr/>
        </p:nvSpPr>
        <p:spPr>
          <a:xfrm>
            <a:off x="425450" y="3978911"/>
            <a:ext cx="721360" cy="721360"/>
          </a:xfrm>
          <a:custGeom>
            <a:avLst/>
            <a:gdLst>
              <a:gd name="connsiteX0" fmla="*/ 0 w 721360"/>
              <a:gd name="connsiteY0" fmla="*/ 0 h 721360"/>
              <a:gd name="connsiteX1" fmla="*/ 721360 w 721360"/>
              <a:gd name="connsiteY1" fmla="*/ 0 h 721360"/>
              <a:gd name="connsiteX2" fmla="*/ 721360 w 721360"/>
              <a:gd name="connsiteY2" fmla="*/ 721360 h 721360"/>
              <a:gd name="connsiteX3" fmla="*/ 0 w 721360"/>
              <a:gd name="connsiteY3" fmla="*/ 721360 h 721360"/>
            </a:gdLst>
            <a:ahLst/>
            <a:cxnLst>
              <a:cxn ang="0">
                <a:pos x="connsiteX0" y="connsiteY0"/>
              </a:cxn>
              <a:cxn ang="0">
                <a:pos x="connsiteX1" y="connsiteY1"/>
              </a:cxn>
              <a:cxn ang="0">
                <a:pos x="connsiteX2" y="connsiteY2"/>
              </a:cxn>
              <a:cxn ang="0">
                <a:pos x="connsiteX3" y="connsiteY3"/>
              </a:cxn>
            </a:cxnLst>
            <a:rect l="l" t="t" r="r" b="b"/>
            <a:pathLst>
              <a:path w="721360" h="721360">
                <a:moveTo>
                  <a:pt x="0" y="0"/>
                </a:moveTo>
                <a:lnTo>
                  <a:pt x="721360" y="0"/>
                </a:lnTo>
                <a:lnTo>
                  <a:pt x="721360" y="721360"/>
                </a:lnTo>
                <a:lnTo>
                  <a:pt x="0" y="721360"/>
                </a:lnTo>
                <a:close/>
              </a:path>
            </a:pathLst>
          </a:custGeom>
          <a:gradFill>
            <a:gsLst>
              <a:gs pos="0">
                <a:schemeClr val="accent5"/>
              </a:gs>
              <a:gs pos="99000">
                <a:schemeClr val="accent5">
                  <a:lumMod val="60000"/>
                  <a:lumOff val="40000"/>
                </a:schemeClr>
              </a:gs>
            </a:gsLst>
            <a:lin ang="2700000" scaled="0"/>
          </a:gradFill>
          <a:ln w="12700" cap="flat">
            <a:noFill/>
            <a:prstDash val="solid"/>
            <a:miter/>
          </a:ln>
        </p:spPr>
        <p:txBody>
          <a:bodyPr rtlCol="0" anchor="ctr"/>
          <a:lstStyle/>
          <a:p>
            <a:pPr algn="ctr"/>
            <a:endParaRPr lang="zh-CN" altLang="en-US"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70" name="任意形状 30"/>
          <p:cNvSpPr/>
          <p:nvPr/>
        </p:nvSpPr>
        <p:spPr>
          <a:xfrm>
            <a:off x="425450" y="1988095"/>
            <a:ext cx="721360" cy="1670050"/>
          </a:xfrm>
          <a:custGeom>
            <a:avLst/>
            <a:gdLst>
              <a:gd name="connsiteX0" fmla="*/ 0 w 721360"/>
              <a:gd name="connsiteY0" fmla="*/ 0 h 721359"/>
              <a:gd name="connsiteX1" fmla="*/ 721360 w 721360"/>
              <a:gd name="connsiteY1" fmla="*/ 0 h 721359"/>
              <a:gd name="connsiteX2" fmla="*/ 721360 w 721360"/>
              <a:gd name="connsiteY2" fmla="*/ 721360 h 721359"/>
              <a:gd name="connsiteX3" fmla="*/ 0 w 721360"/>
              <a:gd name="connsiteY3" fmla="*/ 721360 h 721359"/>
            </a:gdLst>
            <a:ahLst/>
            <a:cxnLst>
              <a:cxn ang="0">
                <a:pos x="connsiteX0" y="connsiteY0"/>
              </a:cxn>
              <a:cxn ang="0">
                <a:pos x="connsiteX1" y="connsiteY1"/>
              </a:cxn>
              <a:cxn ang="0">
                <a:pos x="connsiteX2" y="connsiteY2"/>
              </a:cxn>
              <a:cxn ang="0">
                <a:pos x="connsiteX3" y="connsiteY3"/>
              </a:cxn>
            </a:cxnLst>
            <a:rect l="l" t="t" r="r" b="b"/>
            <a:pathLst>
              <a:path w="721360" h="721359">
                <a:moveTo>
                  <a:pt x="0" y="0"/>
                </a:moveTo>
                <a:lnTo>
                  <a:pt x="721360" y="0"/>
                </a:lnTo>
                <a:lnTo>
                  <a:pt x="721360" y="721360"/>
                </a:lnTo>
                <a:lnTo>
                  <a:pt x="0" y="721360"/>
                </a:lnTo>
                <a:close/>
              </a:path>
            </a:pathLst>
          </a:custGeom>
          <a:solidFill>
            <a:schemeClr val="bg1"/>
          </a:solidFill>
          <a:ln w="12700" cap="flat">
            <a:solidFill>
              <a:schemeClr val="accent1"/>
            </a:solidFill>
            <a:prstDash val="solid"/>
            <a:miter/>
          </a:ln>
        </p:spPr>
        <p:txBody>
          <a:bodyPr vert="eaVert" rtlCol="0" anchor="ctr"/>
          <a:lstStyle/>
          <a:p>
            <a:pPr algn="ctr"/>
            <a:r>
              <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上半年工作计划</a:t>
            </a:r>
            <a:endPar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71" name="任意形状 31"/>
          <p:cNvSpPr/>
          <p:nvPr/>
        </p:nvSpPr>
        <p:spPr>
          <a:xfrm>
            <a:off x="425450" y="4796609"/>
            <a:ext cx="721360" cy="1670050"/>
          </a:xfrm>
          <a:custGeom>
            <a:avLst/>
            <a:gdLst>
              <a:gd name="connsiteX0" fmla="*/ 0 w 721360"/>
              <a:gd name="connsiteY0" fmla="*/ 0 h 721359"/>
              <a:gd name="connsiteX1" fmla="*/ 721360 w 721360"/>
              <a:gd name="connsiteY1" fmla="*/ 0 h 721359"/>
              <a:gd name="connsiteX2" fmla="*/ 721360 w 721360"/>
              <a:gd name="connsiteY2" fmla="*/ 721360 h 721359"/>
              <a:gd name="connsiteX3" fmla="*/ 0 w 721360"/>
              <a:gd name="connsiteY3" fmla="*/ 721360 h 721359"/>
            </a:gdLst>
            <a:ahLst/>
            <a:cxnLst>
              <a:cxn ang="0">
                <a:pos x="connsiteX0" y="connsiteY0"/>
              </a:cxn>
              <a:cxn ang="0">
                <a:pos x="connsiteX1" y="connsiteY1"/>
              </a:cxn>
              <a:cxn ang="0">
                <a:pos x="connsiteX2" y="connsiteY2"/>
              </a:cxn>
              <a:cxn ang="0">
                <a:pos x="connsiteX3" y="connsiteY3"/>
              </a:cxn>
            </a:cxnLst>
            <a:rect l="l" t="t" r="r" b="b"/>
            <a:pathLst>
              <a:path w="721360" h="721359">
                <a:moveTo>
                  <a:pt x="0" y="0"/>
                </a:moveTo>
                <a:lnTo>
                  <a:pt x="721360" y="0"/>
                </a:lnTo>
                <a:lnTo>
                  <a:pt x="721360" y="721360"/>
                </a:lnTo>
                <a:lnTo>
                  <a:pt x="0" y="721360"/>
                </a:lnTo>
                <a:close/>
              </a:path>
            </a:pathLst>
          </a:custGeom>
          <a:solidFill>
            <a:schemeClr val="bg2"/>
          </a:solidFill>
          <a:ln w="12700" cap="flat">
            <a:solidFill>
              <a:schemeClr val="accent5"/>
            </a:solidFill>
            <a:prstDash val="solid"/>
            <a:miter/>
          </a:ln>
        </p:spPr>
        <p:txBody>
          <a:bodyPr vert="eaVert" rtlCol="0" anchor="ctr"/>
          <a:lstStyle/>
          <a:p>
            <a:pPr algn="ctr"/>
            <a:r>
              <a:rPr lang="zh-CN" altLang="en-US" sz="1400" b="1" dirty="0">
                <a:solidFill>
                  <a:schemeClr val="accent5"/>
                </a:solidFill>
                <a:latin typeface="微软雅黑" panose="020B0503020204020204" charset="-122"/>
                <a:ea typeface="微软雅黑" panose="020B0503020204020204" charset="-122"/>
                <a:cs typeface="微软雅黑" panose="020B0503020204020204" charset="-122"/>
              </a:rPr>
              <a:t>下半年工作计划</a:t>
            </a:r>
            <a:endParaRPr lang="zh-CN" altLang="en-US" sz="1400" b="1" dirty="0">
              <a:solidFill>
                <a:schemeClr val="accent5"/>
              </a:solidFill>
              <a:latin typeface="微软雅黑" panose="020B0503020204020204" charset="-122"/>
              <a:ea typeface="微软雅黑" panose="020B0503020204020204" charset="-122"/>
              <a:cs typeface="微软雅黑" panose="020B0503020204020204" charset="-122"/>
            </a:endParaRPr>
          </a:p>
        </p:txBody>
      </p:sp>
      <p:cxnSp>
        <p:nvCxnSpPr>
          <p:cNvPr id="78" name="直线连接符 38"/>
          <p:cNvCxnSpPr/>
          <p:nvPr/>
        </p:nvCxnSpPr>
        <p:spPr>
          <a:xfrm>
            <a:off x="1455568" y="1521460"/>
            <a:ext cx="10248752" cy="0"/>
          </a:xfrm>
          <a:prstGeom prst="line">
            <a:avLst/>
          </a:prstGeom>
          <a:ln w="15875">
            <a:solidFill>
              <a:schemeClr val="bg1"/>
            </a:solidFill>
            <a:tailEnd type="triangle" w="lg" len="med"/>
          </a:ln>
        </p:spPr>
        <p:style>
          <a:lnRef idx="2">
            <a:schemeClr val="accent1"/>
          </a:lnRef>
          <a:fillRef idx="0">
            <a:schemeClr val="accent1"/>
          </a:fillRef>
          <a:effectRef idx="1">
            <a:schemeClr val="accent1"/>
          </a:effectRef>
          <a:fontRef idx="minor">
            <a:schemeClr val="tx1"/>
          </a:fontRef>
        </p:style>
      </p:cxnSp>
      <p:sp>
        <p:nvSpPr>
          <p:cNvPr id="79" name="圆角矩形 78"/>
          <p:cNvSpPr/>
          <p:nvPr/>
        </p:nvSpPr>
        <p:spPr>
          <a:xfrm>
            <a:off x="1676400" y="1361440"/>
            <a:ext cx="1186759" cy="320040"/>
          </a:xfrm>
          <a:prstGeom prst="roundRect">
            <a:avLst>
              <a:gd name="adj" fmla="val 50000"/>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solidFill>
                  <a:schemeClr val="accent1"/>
                </a:solidFill>
                <a:latin typeface="微软雅黑" panose="020B0503020204020204" charset="-122"/>
                <a:ea typeface="微软雅黑" panose="020B0503020204020204" charset="-122"/>
                <a:cs typeface="微软雅黑" panose="020B0503020204020204" charset="-122"/>
              </a:rPr>
              <a:t>1</a:t>
            </a:r>
            <a:r>
              <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月</a:t>
            </a:r>
            <a:endPar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80" name="圆角矩形 79"/>
          <p:cNvSpPr/>
          <p:nvPr/>
        </p:nvSpPr>
        <p:spPr>
          <a:xfrm>
            <a:off x="3405088" y="1361440"/>
            <a:ext cx="1186759" cy="320040"/>
          </a:xfrm>
          <a:prstGeom prst="roundRect">
            <a:avLst>
              <a:gd name="adj" fmla="val 50000"/>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solidFill>
                  <a:schemeClr val="accent1"/>
                </a:solidFill>
                <a:latin typeface="微软雅黑" panose="020B0503020204020204" charset="-122"/>
                <a:ea typeface="微软雅黑" panose="020B0503020204020204" charset="-122"/>
                <a:cs typeface="微软雅黑" panose="020B0503020204020204" charset="-122"/>
              </a:rPr>
              <a:t>2</a:t>
            </a:r>
            <a:r>
              <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月</a:t>
            </a:r>
            <a:endPar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81" name="圆角矩形 80"/>
          <p:cNvSpPr/>
          <p:nvPr/>
        </p:nvSpPr>
        <p:spPr>
          <a:xfrm>
            <a:off x="5133776" y="1361440"/>
            <a:ext cx="1186759" cy="320040"/>
          </a:xfrm>
          <a:prstGeom prst="roundRect">
            <a:avLst>
              <a:gd name="adj" fmla="val 50000"/>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solidFill>
                  <a:schemeClr val="accent1"/>
                </a:solidFill>
                <a:latin typeface="微软雅黑" panose="020B0503020204020204" charset="-122"/>
                <a:ea typeface="微软雅黑" panose="020B0503020204020204" charset="-122"/>
                <a:cs typeface="微软雅黑" panose="020B0503020204020204" charset="-122"/>
              </a:rPr>
              <a:t>3</a:t>
            </a:r>
            <a:r>
              <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月</a:t>
            </a:r>
            <a:endPar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82" name="圆角矩形 81"/>
          <p:cNvSpPr/>
          <p:nvPr/>
        </p:nvSpPr>
        <p:spPr>
          <a:xfrm>
            <a:off x="6862464" y="1361440"/>
            <a:ext cx="1186759" cy="320040"/>
          </a:xfrm>
          <a:prstGeom prst="roundRect">
            <a:avLst>
              <a:gd name="adj" fmla="val 50000"/>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solidFill>
                  <a:schemeClr val="accent1"/>
                </a:solidFill>
                <a:latin typeface="微软雅黑" panose="020B0503020204020204" charset="-122"/>
                <a:ea typeface="微软雅黑" panose="020B0503020204020204" charset="-122"/>
                <a:cs typeface="微软雅黑" panose="020B0503020204020204" charset="-122"/>
              </a:rPr>
              <a:t>4</a:t>
            </a:r>
            <a:r>
              <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月</a:t>
            </a:r>
            <a:endPar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83" name="圆角矩形 82"/>
          <p:cNvSpPr/>
          <p:nvPr/>
        </p:nvSpPr>
        <p:spPr>
          <a:xfrm>
            <a:off x="8591152" y="1361440"/>
            <a:ext cx="1186759" cy="320040"/>
          </a:xfrm>
          <a:prstGeom prst="roundRect">
            <a:avLst>
              <a:gd name="adj" fmla="val 50000"/>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solidFill>
                  <a:schemeClr val="accent1"/>
                </a:solidFill>
                <a:latin typeface="微软雅黑" panose="020B0503020204020204" charset="-122"/>
                <a:ea typeface="微软雅黑" panose="020B0503020204020204" charset="-122"/>
                <a:cs typeface="微软雅黑" panose="020B0503020204020204" charset="-122"/>
              </a:rPr>
              <a:t>5</a:t>
            </a:r>
            <a:r>
              <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月</a:t>
            </a:r>
            <a:endPar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84" name="圆角矩形 83"/>
          <p:cNvSpPr/>
          <p:nvPr/>
        </p:nvSpPr>
        <p:spPr>
          <a:xfrm>
            <a:off x="10319839" y="1361440"/>
            <a:ext cx="1186759" cy="320040"/>
          </a:xfrm>
          <a:prstGeom prst="roundRect">
            <a:avLst>
              <a:gd name="adj" fmla="val 50000"/>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solidFill>
                  <a:schemeClr val="accent1"/>
                </a:solidFill>
                <a:latin typeface="微软雅黑" panose="020B0503020204020204" charset="-122"/>
                <a:ea typeface="微软雅黑" panose="020B0503020204020204" charset="-122"/>
                <a:cs typeface="微软雅黑" panose="020B0503020204020204" charset="-122"/>
              </a:rPr>
              <a:t>6</a:t>
            </a:r>
            <a:r>
              <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月</a:t>
            </a:r>
            <a:endParaRPr kumimoji="1"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85" name="任意形状 48"/>
          <p:cNvSpPr/>
          <p:nvPr/>
        </p:nvSpPr>
        <p:spPr>
          <a:xfrm>
            <a:off x="1319530" y="3980181"/>
            <a:ext cx="10513955" cy="721359"/>
          </a:xfrm>
          <a:custGeom>
            <a:avLst/>
            <a:gdLst>
              <a:gd name="connsiteX0" fmla="*/ 0 w 10372089"/>
              <a:gd name="connsiteY0" fmla="*/ 0 h 721359"/>
              <a:gd name="connsiteX1" fmla="*/ 0 w 10372089"/>
              <a:gd name="connsiteY1" fmla="*/ 360680 h 721359"/>
              <a:gd name="connsiteX2" fmla="*/ 0 w 10372089"/>
              <a:gd name="connsiteY2" fmla="*/ 721360 h 721359"/>
              <a:gd name="connsiteX3" fmla="*/ 10233660 w 10372089"/>
              <a:gd name="connsiteY3" fmla="*/ 721360 h 721359"/>
              <a:gd name="connsiteX4" fmla="*/ 10372090 w 10372089"/>
              <a:gd name="connsiteY4" fmla="*/ 360680 h 721359"/>
              <a:gd name="connsiteX5" fmla="*/ 10233660 w 10372089"/>
              <a:gd name="connsiteY5" fmla="*/ 0 h 721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72089" h="721359">
                <a:moveTo>
                  <a:pt x="0" y="0"/>
                </a:moveTo>
                <a:lnTo>
                  <a:pt x="0" y="360680"/>
                </a:lnTo>
                <a:lnTo>
                  <a:pt x="0" y="721360"/>
                </a:lnTo>
                <a:lnTo>
                  <a:pt x="10233660" y="721360"/>
                </a:lnTo>
                <a:lnTo>
                  <a:pt x="10372090" y="360680"/>
                </a:lnTo>
                <a:lnTo>
                  <a:pt x="10233660" y="0"/>
                </a:lnTo>
                <a:close/>
              </a:path>
            </a:pathLst>
          </a:custGeom>
          <a:gradFill>
            <a:gsLst>
              <a:gs pos="0">
                <a:schemeClr val="accent5"/>
              </a:gs>
              <a:gs pos="99000">
                <a:schemeClr val="accent5">
                  <a:lumMod val="60000"/>
                  <a:lumOff val="40000"/>
                </a:schemeClr>
              </a:gs>
            </a:gsLst>
            <a:lin ang="10800000" scaled="0"/>
          </a:gradFill>
          <a:ln w="12700"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cxnSp>
        <p:nvCxnSpPr>
          <p:cNvPr id="86" name="直线连接符 49"/>
          <p:cNvCxnSpPr/>
          <p:nvPr/>
        </p:nvCxnSpPr>
        <p:spPr>
          <a:xfrm>
            <a:off x="1455568" y="4340860"/>
            <a:ext cx="10248752" cy="0"/>
          </a:xfrm>
          <a:prstGeom prst="line">
            <a:avLst/>
          </a:prstGeom>
          <a:ln w="15875">
            <a:solidFill>
              <a:schemeClr val="bg1"/>
            </a:solidFill>
            <a:tailEnd type="triangle" w="lg" len="med"/>
          </a:ln>
        </p:spPr>
        <p:style>
          <a:lnRef idx="2">
            <a:schemeClr val="accent1"/>
          </a:lnRef>
          <a:fillRef idx="0">
            <a:schemeClr val="accent1"/>
          </a:fillRef>
          <a:effectRef idx="1">
            <a:schemeClr val="accent1"/>
          </a:effectRef>
          <a:fontRef idx="minor">
            <a:schemeClr val="tx1"/>
          </a:fontRef>
        </p:style>
      </p:cxnSp>
      <p:sp>
        <p:nvSpPr>
          <p:cNvPr id="87" name="圆角矩形 86"/>
          <p:cNvSpPr/>
          <p:nvPr/>
        </p:nvSpPr>
        <p:spPr>
          <a:xfrm>
            <a:off x="1676400" y="4180840"/>
            <a:ext cx="1186759" cy="320040"/>
          </a:xfrm>
          <a:prstGeom prst="roundRect">
            <a:avLst>
              <a:gd name="adj" fmla="val 50000"/>
            </a:avLst>
          </a:prstGeom>
          <a:solidFill>
            <a:schemeClr val="bg1"/>
          </a:solid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solidFill>
                  <a:schemeClr val="accent5"/>
                </a:solidFill>
                <a:latin typeface="微软雅黑" panose="020B0503020204020204" charset="-122"/>
                <a:ea typeface="微软雅黑" panose="020B0503020204020204" charset="-122"/>
                <a:cs typeface="微软雅黑" panose="020B0503020204020204" charset="-122"/>
              </a:rPr>
              <a:t>7</a:t>
            </a:r>
            <a:r>
              <a:rPr kumimoji="1" lang="zh-CN" altLang="en-US" sz="1400" b="1" dirty="0">
                <a:solidFill>
                  <a:schemeClr val="accent5"/>
                </a:solidFill>
                <a:latin typeface="微软雅黑" panose="020B0503020204020204" charset="-122"/>
                <a:ea typeface="微软雅黑" panose="020B0503020204020204" charset="-122"/>
                <a:cs typeface="微软雅黑" panose="020B0503020204020204" charset="-122"/>
              </a:rPr>
              <a:t>月</a:t>
            </a:r>
            <a:endParaRPr kumimoji="1" lang="zh-CN" altLang="en-US" sz="14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88" name="圆角矩形 87"/>
          <p:cNvSpPr/>
          <p:nvPr/>
        </p:nvSpPr>
        <p:spPr>
          <a:xfrm>
            <a:off x="3405088" y="4180840"/>
            <a:ext cx="1186759" cy="320040"/>
          </a:xfrm>
          <a:prstGeom prst="roundRect">
            <a:avLst>
              <a:gd name="adj" fmla="val 50000"/>
            </a:avLst>
          </a:prstGeom>
          <a:solidFill>
            <a:schemeClr val="bg1"/>
          </a:solid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solidFill>
                  <a:schemeClr val="accent5"/>
                </a:solidFill>
                <a:latin typeface="微软雅黑" panose="020B0503020204020204" charset="-122"/>
                <a:ea typeface="微软雅黑" panose="020B0503020204020204" charset="-122"/>
                <a:cs typeface="微软雅黑" panose="020B0503020204020204" charset="-122"/>
              </a:rPr>
              <a:t>8</a:t>
            </a:r>
            <a:r>
              <a:rPr kumimoji="1" lang="zh-CN" altLang="en-US" sz="1400" b="1" dirty="0">
                <a:solidFill>
                  <a:schemeClr val="accent5"/>
                </a:solidFill>
                <a:latin typeface="微软雅黑" panose="020B0503020204020204" charset="-122"/>
                <a:ea typeface="微软雅黑" panose="020B0503020204020204" charset="-122"/>
                <a:cs typeface="微软雅黑" panose="020B0503020204020204" charset="-122"/>
              </a:rPr>
              <a:t>月</a:t>
            </a:r>
            <a:endParaRPr kumimoji="1" lang="zh-CN" altLang="en-US" sz="14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89" name="圆角矩形 88"/>
          <p:cNvSpPr/>
          <p:nvPr/>
        </p:nvSpPr>
        <p:spPr>
          <a:xfrm>
            <a:off x="5133776" y="4180840"/>
            <a:ext cx="1186759" cy="320040"/>
          </a:xfrm>
          <a:prstGeom prst="roundRect">
            <a:avLst>
              <a:gd name="adj" fmla="val 50000"/>
            </a:avLst>
          </a:prstGeom>
          <a:solidFill>
            <a:schemeClr val="bg1"/>
          </a:solid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solidFill>
                  <a:schemeClr val="accent5"/>
                </a:solidFill>
                <a:latin typeface="微软雅黑" panose="020B0503020204020204" charset="-122"/>
                <a:ea typeface="微软雅黑" panose="020B0503020204020204" charset="-122"/>
                <a:cs typeface="微软雅黑" panose="020B0503020204020204" charset="-122"/>
              </a:rPr>
              <a:t>9</a:t>
            </a:r>
            <a:r>
              <a:rPr kumimoji="1" lang="zh-CN" altLang="en-US" sz="1400" b="1" dirty="0">
                <a:solidFill>
                  <a:schemeClr val="accent5"/>
                </a:solidFill>
                <a:latin typeface="微软雅黑" panose="020B0503020204020204" charset="-122"/>
                <a:ea typeface="微软雅黑" panose="020B0503020204020204" charset="-122"/>
                <a:cs typeface="微软雅黑" panose="020B0503020204020204" charset="-122"/>
              </a:rPr>
              <a:t>月</a:t>
            </a:r>
            <a:endParaRPr kumimoji="1" lang="zh-CN" altLang="en-US" sz="14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90" name="圆角矩形 89"/>
          <p:cNvSpPr/>
          <p:nvPr/>
        </p:nvSpPr>
        <p:spPr>
          <a:xfrm>
            <a:off x="6862464" y="4180840"/>
            <a:ext cx="1186759" cy="320040"/>
          </a:xfrm>
          <a:prstGeom prst="roundRect">
            <a:avLst>
              <a:gd name="adj" fmla="val 50000"/>
            </a:avLst>
          </a:prstGeom>
          <a:solidFill>
            <a:schemeClr val="bg1"/>
          </a:solid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solidFill>
                  <a:schemeClr val="accent5"/>
                </a:solidFill>
                <a:latin typeface="微软雅黑" panose="020B0503020204020204" charset="-122"/>
                <a:ea typeface="微软雅黑" panose="020B0503020204020204" charset="-122"/>
                <a:cs typeface="微软雅黑" panose="020B0503020204020204" charset="-122"/>
              </a:rPr>
              <a:t>10</a:t>
            </a:r>
            <a:r>
              <a:rPr kumimoji="1" lang="zh-CN" altLang="en-US" sz="1400" b="1" dirty="0">
                <a:solidFill>
                  <a:schemeClr val="accent5"/>
                </a:solidFill>
                <a:latin typeface="微软雅黑" panose="020B0503020204020204" charset="-122"/>
                <a:ea typeface="微软雅黑" panose="020B0503020204020204" charset="-122"/>
                <a:cs typeface="微软雅黑" panose="020B0503020204020204" charset="-122"/>
              </a:rPr>
              <a:t>月</a:t>
            </a:r>
            <a:endParaRPr kumimoji="1" lang="zh-CN" altLang="en-US" sz="14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91" name="圆角矩形 90"/>
          <p:cNvSpPr/>
          <p:nvPr/>
        </p:nvSpPr>
        <p:spPr>
          <a:xfrm>
            <a:off x="8591152" y="4180840"/>
            <a:ext cx="1186759" cy="320040"/>
          </a:xfrm>
          <a:prstGeom prst="roundRect">
            <a:avLst>
              <a:gd name="adj" fmla="val 50000"/>
            </a:avLst>
          </a:prstGeom>
          <a:solidFill>
            <a:schemeClr val="bg1"/>
          </a:solid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solidFill>
                  <a:schemeClr val="accent5"/>
                </a:solidFill>
                <a:latin typeface="微软雅黑" panose="020B0503020204020204" charset="-122"/>
                <a:ea typeface="微软雅黑" panose="020B0503020204020204" charset="-122"/>
                <a:cs typeface="微软雅黑" panose="020B0503020204020204" charset="-122"/>
              </a:rPr>
              <a:t>11</a:t>
            </a:r>
            <a:r>
              <a:rPr kumimoji="1" lang="zh-CN" altLang="en-US" sz="1400" b="1" dirty="0">
                <a:solidFill>
                  <a:schemeClr val="accent5"/>
                </a:solidFill>
                <a:latin typeface="微软雅黑" panose="020B0503020204020204" charset="-122"/>
                <a:ea typeface="微软雅黑" panose="020B0503020204020204" charset="-122"/>
                <a:cs typeface="微软雅黑" panose="020B0503020204020204" charset="-122"/>
              </a:rPr>
              <a:t>月</a:t>
            </a:r>
            <a:endParaRPr kumimoji="1" lang="zh-CN" altLang="en-US" sz="14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92" name="圆角矩形 91"/>
          <p:cNvSpPr/>
          <p:nvPr/>
        </p:nvSpPr>
        <p:spPr>
          <a:xfrm>
            <a:off x="10319839" y="4180840"/>
            <a:ext cx="1186759" cy="320040"/>
          </a:xfrm>
          <a:prstGeom prst="roundRect">
            <a:avLst>
              <a:gd name="adj" fmla="val 50000"/>
            </a:avLst>
          </a:prstGeom>
          <a:solidFill>
            <a:schemeClr val="bg1"/>
          </a:solid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solidFill>
                  <a:schemeClr val="accent5"/>
                </a:solidFill>
                <a:latin typeface="微软雅黑" panose="020B0503020204020204" charset="-122"/>
                <a:ea typeface="微软雅黑" panose="020B0503020204020204" charset="-122"/>
                <a:cs typeface="微软雅黑" panose="020B0503020204020204" charset="-122"/>
              </a:rPr>
              <a:t>12</a:t>
            </a:r>
            <a:r>
              <a:rPr kumimoji="1" lang="zh-CN" altLang="en-US" sz="1400" b="1" dirty="0">
                <a:solidFill>
                  <a:schemeClr val="accent5"/>
                </a:solidFill>
                <a:latin typeface="微软雅黑" panose="020B0503020204020204" charset="-122"/>
                <a:ea typeface="微软雅黑" panose="020B0503020204020204" charset="-122"/>
                <a:cs typeface="微软雅黑" panose="020B0503020204020204" charset="-122"/>
              </a:rPr>
              <a:t>月</a:t>
            </a:r>
            <a:endParaRPr kumimoji="1" lang="zh-CN" altLang="en-US" sz="14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93" name="椭圆 92"/>
          <p:cNvSpPr/>
          <p:nvPr/>
        </p:nvSpPr>
        <p:spPr>
          <a:xfrm>
            <a:off x="540698" y="1276028"/>
            <a:ext cx="490865" cy="49086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94" name="椭圆 93"/>
          <p:cNvSpPr/>
          <p:nvPr/>
        </p:nvSpPr>
        <p:spPr>
          <a:xfrm>
            <a:off x="540698" y="4094159"/>
            <a:ext cx="490865" cy="49086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grpSp>
        <p:nvGrpSpPr>
          <p:cNvPr id="95" name="Google Shape;10776;p79"/>
          <p:cNvGrpSpPr/>
          <p:nvPr/>
        </p:nvGrpSpPr>
        <p:grpSpPr>
          <a:xfrm>
            <a:off x="635816" y="4232018"/>
            <a:ext cx="285989" cy="217684"/>
            <a:chOff x="-47523400" y="3973950"/>
            <a:chExt cx="300100" cy="228425"/>
          </a:xfrm>
          <a:gradFill>
            <a:gsLst>
              <a:gs pos="0">
                <a:schemeClr val="accent5"/>
              </a:gs>
              <a:gs pos="99000">
                <a:schemeClr val="accent5">
                  <a:lumMod val="60000"/>
                  <a:lumOff val="40000"/>
                </a:schemeClr>
              </a:gs>
            </a:gsLst>
            <a:lin ang="2700000" scaled="0"/>
          </a:gradFill>
        </p:grpSpPr>
        <p:sp>
          <p:nvSpPr>
            <p:cNvPr id="96" name="Google Shape;10777;p79"/>
            <p:cNvSpPr/>
            <p:nvPr/>
          </p:nvSpPr>
          <p:spPr>
            <a:xfrm>
              <a:off x="-47417075" y="4061375"/>
              <a:ext cx="15775" cy="15775"/>
            </a:xfrm>
            <a:custGeom>
              <a:avLst/>
              <a:gdLst/>
              <a:ahLst/>
              <a:cxnLst/>
              <a:rect l="l" t="t" r="r" b="b"/>
              <a:pathLst>
                <a:path w="631" h="631" extrusionOk="0">
                  <a:moveTo>
                    <a:pt x="0" y="0"/>
                  </a:moveTo>
                  <a:lnTo>
                    <a:pt x="0" y="630"/>
                  </a:lnTo>
                  <a:cubicBezTo>
                    <a:pt x="284" y="536"/>
                    <a:pt x="504" y="315"/>
                    <a:pt x="6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微软雅黑" panose="020B0503020204020204" charset="-122"/>
                <a:ea typeface="微软雅黑" panose="020B0503020204020204" charset="-122"/>
                <a:cs typeface="微软雅黑" panose="020B0503020204020204" charset="-122"/>
              </a:endParaRPr>
            </a:p>
          </p:txBody>
        </p:sp>
        <p:sp>
          <p:nvSpPr>
            <p:cNvPr id="97" name="Google Shape;10778;p79"/>
            <p:cNvSpPr/>
            <p:nvPr/>
          </p:nvSpPr>
          <p:spPr>
            <a:xfrm>
              <a:off x="-47417875" y="4061375"/>
              <a:ext cx="52800" cy="52775"/>
            </a:xfrm>
            <a:custGeom>
              <a:avLst/>
              <a:gdLst/>
              <a:ahLst/>
              <a:cxnLst/>
              <a:rect l="l" t="t" r="r" b="b"/>
              <a:pathLst>
                <a:path w="2112" h="2111" extrusionOk="0">
                  <a:moveTo>
                    <a:pt x="1356" y="0"/>
                  </a:moveTo>
                  <a:cubicBezTo>
                    <a:pt x="1261" y="693"/>
                    <a:pt x="694" y="1260"/>
                    <a:pt x="1" y="1386"/>
                  </a:cubicBezTo>
                  <a:lnTo>
                    <a:pt x="1" y="2111"/>
                  </a:lnTo>
                  <a:lnTo>
                    <a:pt x="2112" y="2111"/>
                  </a:lnTo>
                  <a:lnTo>
                    <a:pt x="211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微软雅黑" panose="020B0503020204020204" charset="-122"/>
                <a:ea typeface="微软雅黑" panose="020B0503020204020204" charset="-122"/>
                <a:cs typeface="微软雅黑" panose="020B0503020204020204" charset="-122"/>
              </a:endParaRPr>
            </a:p>
          </p:txBody>
        </p:sp>
        <p:sp>
          <p:nvSpPr>
            <p:cNvPr id="98" name="Google Shape;10779;p79"/>
            <p:cNvSpPr/>
            <p:nvPr/>
          </p:nvSpPr>
          <p:spPr>
            <a:xfrm>
              <a:off x="-47453300" y="4026700"/>
              <a:ext cx="51200" cy="51225"/>
            </a:xfrm>
            <a:custGeom>
              <a:avLst/>
              <a:gdLst/>
              <a:ahLst/>
              <a:cxnLst/>
              <a:rect l="l" t="t" r="r" b="b"/>
              <a:pathLst>
                <a:path w="2048" h="2049" extrusionOk="0">
                  <a:moveTo>
                    <a:pt x="1071" y="1"/>
                  </a:moveTo>
                  <a:cubicBezTo>
                    <a:pt x="473" y="1"/>
                    <a:pt x="0" y="473"/>
                    <a:pt x="0" y="1072"/>
                  </a:cubicBezTo>
                  <a:cubicBezTo>
                    <a:pt x="0" y="1545"/>
                    <a:pt x="284" y="1891"/>
                    <a:pt x="693" y="2049"/>
                  </a:cubicBezTo>
                  <a:lnTo>
                    <a:pt x="693" y="1072"/>
                  </a:lnTo>
                  <a:cubicBezTo>
                    <a:pt x="693" y="883"/>
                    <a:pt x="851" y="725"/>
                    <a:pt x="1071" y="725"/>
                  </a:cubicBezTo>
                  <a:lnTo>
                    <a:pt x="2048" y="725"/>
                  </a:lnTo>
                  <a:cubicBezTo>
                    <a:pt x="1922" y="284"/>
                    <a:pt x="1512" y="1"/>
                    <a:pt x="107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微软雅黑" panose="020B0503020204020204" charset="-122"/>
                <a:ea typeface="微软雅黑" panose="020B0503020204020204" charset="-122"/>
                <a:cs typeface="微软雅黑" panose="020B0503020204020204" charset="-122"/>
              </a:endParaRPr>
            </a:p>
          </p:txBody>
        </p:sp>
        <p:sp>
          <p:nvSpPr>
            <p:cNvPr id="99" name="Google Shape;10780;p79"/>
            <p:cNvSpPr/>
            <p:nvPr/>
          </p:nvSpPr>
          <p:spPr>
            <a:xfrm>
              <a:off x="-47506875" y="3973950"/>
              <a:ext cx="264675" cy="174875"/>
            </a:xfrm>
            <a:custGeom>
              <a:avLst/>
              <a:gdLst/>
              <a:ahLst/>
              <a:cxnLst/>
              <a:rect l="l" t="t" r="r" b="b"/>
              <a:pathLst>
                <a:path w="10587" h="6995" extrusionOk="0">
                  <a:moveTo>
                    <a:pt x="8854" y="1418"/>
                  </a:moveTo>
                  <a:cubicBezTo>
                    <a:pt x="9074" y="1418"/>
                    <a:pt x="9232" y="1575"/>
                    <a:pt x="9232" y="1764"/>
                  </a:cubicBezTo>
                  <a:cubicBezTo>
                    <a:pt x="9232" y="1953"/>
                    <a:pt x="9074" y="2111"/>
                    <a:pt x="8854" y="2111"/>
                  </a:cubicBezTo>
                  <a:lnTo>
                    <a:pt x="7436" y="2111"/>
                  </a:lnTo>
                  <a:cubicBezTo>
                    <a:pt x="7247" y="2111"/>
                    <a:pt x="7089" y="1953"/>
                    <a:pt x="7089" y="1764"/>
                  </a:cubicBezTo>
                  <a:cubicBezTo>
                    <a:pt x="7089" y="1575"/>
                    <a:pt x="7247" y="1418"/>
                    <a:pt x="7436" y="1418"/>
                  </a:cubicBezTo>
                  <a:close/>
                  <a:moveTo>
                    <a:pt x="8854" y="2772"/>
                  </a:moveTo>
                  <a:cubicBezTo>
                    <a:pt x="9074" y="2772"/>
                    <a:pt x="9232" y="2930"/>
                    <a:pt x="9232" y="3151"/>
                  </a:cubicBezTo>
                  <a:cubicBezTo>
                    <a:pt x="9232" y="3340"/>
                    <a:pt x="9074" y="3497"/>
                    <a:pt x="8854" y="3497"/>
                  </a:cubicBezTo>
                  <a:lnTo>
                    <a:pt x="7436" y="3497"/>
                  </a:lnTo>
                  <a:cubicBezTo>
                    <a:pt x="7247" y="3497"/>
                    <a:pt x="7089" y="3340"/>
                    <a:pt x="7089" y="3151"/>
                  </a:cubicBezTo>
                  <a:cubicBezTo>
                    <a:pt x="7089" y="2930"/>
                    <a:pt x="7247" y="2772"/>
                    <a:pt x="7436" y="2772"/>
                  </a:cubicBezTo>
                  <a:close/>
                  <a:moveTo>
                    <a:pt x="8854" y="4190"/>
                  </a:moveTo>
                  <a:cubicBezTo>
                    <a:pt x="9074" y="4190"/>
                    <a:pt x="9232" y="4348"/>
                    <a:pt x="9232" y="4568"/>
                  </a:cubicBezTo>
                  <a:cubicBezTo>
                    <a:pt x="9232" y="4757"/>
                    <a:pt x="9074" y="4915"/>
                    <a:pt x="8854" y="4915"/>
                  </a:cubicBezTo>
                  <a:lnTo>
                    <a:pt x="7436" y="4915"/>
                  </a:lnTo>
                  <a:cubicBezTo>
                    <a:pt x="7247" y="4915"/>
                    <a:pt x="7089" y="4757"/>
                    <a:pt x="7089" y="4568"/>
                  </a:cubicBezTo>
                  <a:cubicBezTo>
                    <a:pt x="7089" y="4348"/>
                    <a:pt x="7247" y="4190"/>
                    <a:pt x="7436" y="4190"/>
                  </a:cubicBezTo>
                  <a:close/>
                  <a:moveTo>
                    <a:pt x="3246" y="1355"/>
                  </a:moveTo>
                  <a:cubicBezTo>
                    <a:pt x="4096" y="1355"/>
                    <a:pt x="4821" y="1953"/>
                    <a:pt x="4979" y="2772"/>
                  </a:cubicBezTo>
                  <a:lnTo>
                    <a:pt x="6081" y="2772"/>
                  </a:lnTo>
                  <a:cubicBezTo>
                    <a:pt x="6270" y="2772"/>
                    <a:pt x="6428" y="2930"/>
                    <a:pt x="6428" y="3151"/>
                  </a:cubicBezTo>
                  <a:lnTo>
                    <a:pt x="6428" y="5986"/>
                  </a:lnTo>
                  <a:lnTo>
                    <a:pt x="6396" y="5986"/>
                  </a:lnTo>
                  <a:cubicBezTo>
                    <a:pt x="6396" y="6175"/>
                    <a:pt x="6239" y="6333"/>
                    <a:pt x="6018" y="6333"/>
                  </a:cubicBezTo>
                  <a:lnTo>
                    <a:pt x="3246" y="6333"/>
                  </a:lnTo>
                  <a:cubicBezTo>
                    <a:pt x="3025" y="6333"/>
                    <a:pt x="2868" y="6175"/>
                    <a:pt x="2868" y="5986"/>
                  </a:cubicBezTo>
                  <a:lnTo>
                    <a:pt x="2868" y="4883"/>
                  </a:lnTo>
                  <a:cubicBezTo>
                    <a:pt x="2080" y="4726"/>
                    <a:pt x="1450" y="4001"/>
                    <a:pt x="1450" y="3151"/>
                  </a:cubicBezTo>
                  <a:cubicBezTo>
                    <a:pt x="1450" y="2142"/>
                    <a:pt x="2238" y="1355"/>
                    <a:pt x="3246" y="1355"/>
                  </a:cubicBezTo>
                  <a:close/>
                  <a:moveTo>
                    <a:pt x="8854" y="5608"/>
                  </a:moveTo>
                  <a:cubicBezTo>
                    <a:pt x="9074" y="5608"/>
                    <a:pt x="9232" y="5765"/>
                    <a:pt x="9232" y="5986"/>
                  </a:cubicBezTo>
                  <a:cubicBezTo>
                    <a:pt x="9232" y="6175"/>
                    <a:pt x="9074" y="6333"/>
                    <a:pt x="8854" y="6333"/>
                  </a:cubicBezTo>
                  <a:lnTo>
                    <a:pt x="7436" y="6333"/>
                  </a:lnTo>
                  <a:cubicBezTo>
                    <a:pt x="7247" y="6333"/>
                    <a:pt x="7089" y="6175"/>
                    <a:pt x="7089" y="5986"/>
                  </a:cubicBezTo>
                  <a:cubicBezTo>
                    <a:pt x="7089" y="5765"/>
                    <a:pt x="7247" y="5608"/>
                    <a:pt x="7436" y="5608"/>
                  </a:cubicBezTo>
                  <a:close/>
                  <a:moveTo>
                    <a:pt x="347" y="0"/>
                  </a:moveTo>
                  <a:cubicBezTo>
                    <a:pt x="158" y="0"/>
                    <a:pt x="1" y="158"/>
                    <a:pt x="1" y="347"/>
                  </a:cubicBezTo>
                  <a:lnTo>
                    <a:pt x="1" y="6994"/>
                  </a:lnTo>
                  <a:lnTo>
                    <a:pt x="10586" y="6994"/>
                  </a:lnTo>
                  <a:lnTo>
                    <a:pt x="10586" y="347"/>
                  </a:lnTo>
                  <a:cubicBezTo>
                    <a:pt x="10586" y="158"/>
                    <a:pt x="10429" y="0"/>
                    <a:pt x="102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微软雅黑" panose="020B0503020204020204" charset="-122"/>
                <a:ea typeface="微软雅黑" panose="020B0503020204020204" charset="-122"/>
                <a:cs typeface="微软雅黑" panose="020B0503020204020204" charset="-122"/>
              </a:endParaRPr>
            </a:p>
          </p:txBody>
        </p:sp>
        <p:sp>
          <p:nvSpPr>
            <p:cNvPr id="100" name="Google Shape;10781;p79"/>
            <p:cNvSpPr/>
            <p:nvPr/>
          </p:nvSpPr>
          <p:spPr>
            <a:xfrm>
              <a:off x="-47523400" y="4166900"/>
              <a:ext cx="300100" cy="35475"/>
            </a:xfrm>
            <a:custGeom>
              <a:avLst/>
              <a:gdLst/>
              <a:ahLst/>
              <a:cxnLst/>
              <a:rect l="l" t="t" r="r" b="b"/>
              <a:pathLst>
                <a:path w="12004" h="1419" extrusionOk="0">
                  <a:moveTo>
                    <a:pt x="0" y="1"/>
                  </a:moveTo>
                  <a:lnTo>
                    <a:pt x="0" y="1040"/>
                  </a:lnTo>
                  <a:cubicBezTo>
                    <a:pt x="0" y="1261"/>
                    <a:pt x="158" y="1418"/>
                    <a:pt x="347" y="1418"/>
                  </a:cubicBezTo>
                  <a:lnTo>
                    <a:pt x="11657" y="1418"/>
                  </a:lnTo>
                  <a:cubicBezTo>
                    <a:pt x="11846" y="1418"/>
                    <a:pt x="12004" y="1261"/>
                    <a:pt x="12004" y="1040"/>
                  </a:cubicBezTo>
                  <a:lnTo>
                    <a:pt x="1200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微软雅黑" panose="020B0503020204020204" charset="-122"/>
                <a:ea typeface="微软雅黑" panose="020B0503020204020204" charset="-122"/>
                <a:cs typeface="微软雅黑" panose="020B0503020204020204" charset="-122"/>
              </a:endParaRPr>
            </a:p>
          </p:txBody>
        </p:sp>
      </p:grpSp>
      <p:sp>
        <p:nvSpPr>
          <p:cNvPr id="101" name="Freeform 20"/>
          <p:cNvSpPr>
            <a:spLocks noChangeArrowheads="1"/>
          </p:cNvSpPr>
          <p:nvPr/>
        </p:nvSpPr>
        <p:spPr bwMode="auto">
          <a:xfrm>
            <a:off x="658433" y="1393763"/>
            <a:ext cx="255395" cy="255395"/>
          </a:xfrm>
          <a:custGeom>
            <a:avLst/>
            <a:gdLst>
              <a:gd name="T0" fmla="*/ 933 w 1166"/>
              <a:gd name="T1" fmla="*/ 350 h 1165"/>
              <a:gd name="T2" fmla="*/ 933 w 1166"/>
              <a:gd name="T3" fmla="*/ 232 h 1165"/>
              <a:gd name="T4" fmla="*/ 233 w 1166"/>
              <a:gd name="T5" fmla="*/ 232 h 1165"/>
              <a:gd name="T6" fmla="*/ 233 w 1166"/>
              <a:gd name="T7" fmla="*/ 350 h 1165"/>
              <a:gd name="T8" fmla="*/ 933 w 1166"/>
              <a:gd name="T9" fmla="*/ 350 h 1165"/>
              <a:gd name="T10" fmla="*/ 933 w 1166"/>
              <a:gd name="T11" fmla="*/ 524 h 1165"/>
              <a:gd name="T12" fmla="*/ 933 w 1166"/>
              <a:gd name="T13" fmla="*/ 407 h 1165"/>
              <a:gd name="T14" fmla="*/ 233 w 1166"/>
              <a:gd name="T15" fmla="*/ 407 h 1165"/>
              <a:gd name="T16" fmla="*/ 233 w 1166"/>
              <a:gd name="T17" fmla="*/ 524 h 1165"/>
              <a:gd name="T18" fmla="*/ 933 w 1166"/>
              <a:gd name="T19" fmla="*/ 524 h 1165"/>
              <a:gd name="T20" fmla="*/ 933 w 1166"/>
              <a:gd name="T21" fmla="*/ 699 h 1165"/>
              <a:gd name="T22" fmla="*/ 933 w 1166"/>
              <a:gd name="T23" fmla="*/ 582 h 1165"/>
              <a:gd name="T24" fmla="*/ 233 w 1166"/>
              <a:gd name="T25" fmla="*/ 582 h 1165"/>
              <a:gd name="T26" fmla="*/ 233 w 1166"/>
              <a:gd name="T27" fmla="*/ 699 h 1165"/>
              <a:gd name="T28" fmla="*/ 933 w 1166"/>
              <a:gd name="T29" fmla="*/ 699 h 1165"/>
              <a:gd name="T30" fmla="*/ 1165 w 1166"/>
              <a:gd name="T31" fmla="*/ 114 h 1165"/>
              <a:gd name="T32" fmla="*/ 1165 w 1166"/>
              <a:gd name="T33" fmla="*/ 1164 h 1165"/>
              <a:gd name="T34" fmla="*/ 933 w 1166"/>
              <a:gd name="T35" fmla="*/ 932 h 1165"/>
              <a:gd name="T36" fmla="*/ 115 w 1166"/>
              <a:gd name="T37" fmla="*/ 932 h 1165"/>
              <a:gd name="T38" fmla="*/ 0 w 1166"/>
              <a:gd name="T39" fmla="*/ 814 h 1165"/>
              <a:gd name="T40" fmla="*/ 0 w 1166"/>
              <a:gd name="T41" fmla="*/ 114 h 1165"/>
              <a:gd name="T42" fmla="*/ 115 w 1166"/>
              <a:gd name="T43" fmla="*/ 0 h 1165"/>
              <a:gd name="T44" fmla="*/ 1050 w 1166"/>
              <a:gd name="T45" fmla="*/ 0 h 1165"/>
              <a:gd name="T46" fmla="*/ 1165 w 1166"/>
              <a:gd name="T47" fmla="*/ 114 h 1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66" h="1165">
                <a:moveTo>
                  <a:pt x="933" y="350"/>
                </a:moveTo>
                <a:lnTo>
                  <a:pt x="933" y="232"/>
                </a:lnTo>
                <a:lnTo>
                  <a:pt x="233" y="232"/>
                </a:lnTo>
                <a:lnTo>
                  <a:pt x="233" y="350"/>
                </a:lnTo>
                <a:lnTo>
                  <a:pt x="933" y="350"/>
                </a:lnTo>
                <a:close/>
                <a:moveTo>
                  <a:pt x="933" y="524"/>
                </a:moveTo>
                <a:lnTo>
                  <a:pt x="933" y="407"/>
                </a:lnTo>
                <a:lnTo>
                  <a:pt x="233" y="407"/>
                </a:lnTo>
                <a:lnTo>
                  <a:pt x="233" y="524"/>
                </a:lnTo>
                <a:lnTo>
                  <a:pt x="933" y="524"/>
                </a:lnTo>
                <a:close/>
                <a:moveTo>
                  <a:pt x="933" y="699"/>
                </a:moveTo>
                <a:lnTo>
                  <a:pt x="933" y="582"/>
                </a:lnTo>
                <a:lnTo>
                  <a:pt x="233" y="582"/>
                </a:lnTo>
                <a:lnTo>
                  <a:pt x="233" y="699"/>
                </a:lnTo>
                <a:lnTo>
                  <a:pt x="933" y="699"/>
                </a:lnTo>
                <a:close/>
                <a:moveTo>
                  <a:pt x="1165" y="114"/>
                </a:moveTo>
                <a:lnTo>
                  <a:pt x="1165" y="1164"/>
                </a:lnTo>
                <a:lnTo>
                  <a:pt x="933" y="932"/>
                </a:lnTo>
                <a:lnTo>
                  <a:pt x="115" y="932"/>
                </a:lnTo>
                <a:cubicBezTo>
                  <a:pt x="52" y="932"/>
                  <a:pt x="0" y="877"/>
                  <a:pt x="0" y="814"/>
                </a:cubicBezTo>
                <a:lnTo>
                  <a:pt x="0" y="114"/>
                </a:lnTo>
                <a:cubicBezTo>
                  <a:pt x="0" y="51"/>
                  <a:pt x="52" y="0"/>
                  <a:pt x="115" y="0"/>
                </a:cubicBezTo>
                <a:lnTo>
                  <a:pt x="1050" y="0"/>
                </a:lnTo>
                <a:cubicBezTo>
                  <a:pt x="1113" y="0"/>
                  <a:pt x="1165" y="51"/>
                  <a:pt x="1165" y="114"/>
                </a:cubicBezTo>
                <a:close/>
              </a:path>
            </a:pathLst>
          </a:custGeom>
          <a:gradFill>
            <a:gsLst>
              <a:gs pos="0">
                <a:schemeClr val="accent1"/>
              </a:gs>
              <a:gs pos="99000">
                <a:schemeClr val="accent1">
                  <a:lumMod val="60000"/>
                  <a:lumOff val="40000"/>
                </a:schemeClr>
              </a:gs>
            </a:gsLst>
            <a:lin ang="2700000" scaled="0"/>
          </a:gra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latin typeface="微软雅黑" panose="020B0503020204020204" charset="-122"/>
              <a:ea typeface="微软雅黑" panose="020B0503020204020204" charset="-122"/>
              <a:cs typeface="微软雅黑" panose="020B0503020204020204" charset="-122"/>
            </a:endParaRPr>
          </a:p>
        </p:txBody>
      </p:sp>
      <p:sp>
        <p:nvSpPr>
          <p:cNvPr id="102" name="任意形状 62"/>
          <p:cNvSpPr/>
          <p:nvPr/>
        </p:nvSpPr>
        <p:spPr>
          <a:xfrm>
            <a:off x="1316989" y="5656418"/>
            <a:ext cx="10382147" cy="809422"/>
          </a:xfrm>
          <a:custGeom>
            <a:avLst/>
            <a:gdLst>
              <a:gd name="connsiteX0" fmla="*/ 0 w 721360"/>
              <a:gd name="connsiteY0" fmla="*/ 0 h 721359"/>
              <a:gd name="connsiteX1" fmla="*/ 721360 w 721360"/>
              <a:gd name="connsiteY1" fmla="*/ 0 h 721359"/>
              <a:gd name="connsiteX2" fmla="*/ 721360 w 721360"/>
              <a:gd name="connsiteY2" fmla="*/ 721360 h 721359"/>
              <a:gd name="connsiteX3" fmla="*/ 0 w 721360"/>
              <a:gd name="connsiteY3" fmla="*/ 721360 h 721359"/>
            </a:gdLst>
            <a:ahLst/>
            <a:cxnLst>
              <a:cxn ang="0">
                <a:pos x="connsiteX0" y="connsiteY0"/>
              </a:cxn>
              <a:cxn ang="0">
                <a:pos x="connsiteX1" y="connsiteY1"/>
              </a:cxn>
              <a:cxn ang="0">
                <a:pos x="connsiteX2" y="connsiteY2"/>
              </a:cxn>
              <a:cxn ang="0">
                <a:pos x="connsiteX3" y="connsiteY3"/>
              </a:cxn>
            </a:cxnLst>
            <a:rect l="l" t="t" r="r" b="b"/>
            <a:pathLst>
              <a:path w="721360" h="721359">
                <a:moveTo>
                  <a:pt x="0" y="0"/>
                </a:moveTo>
                <a:lnTo>
                  <a:pt x="721360" y="0"/>
                </a:lnTo>
                <a:lnTo>
                  <a:pt x="721360" y="721360"/>
                </a:lnTo>
                <a:lnTo>
                  <a:pt x="0" y="721360"/>
                </a:lnTo>
                <a:close/>
              </a:path>
            </a:pathLst>
          </a:custGeom>
          <a:solidFill>
            <a:schemeClr val="accent5">
              <a:lumMod val="20000"/>
              <a:lumOff val="80000"/>
              <a:alpha val="40000"/>
            </a:schemeClr>
          </a:solidFill>
          <a:ln w="12700" cap="flat">
            <a:noFill/>
            <a:prstDash val="solid"/>
            <a:miter/>
          </a:ln>
        </p:spPr>
        <p:txBody>
          <a:bodyPr vert="eaVert" rtlCol="0" anchor="ctr">
            <a:noAutofit/>
          </a:bodyPr>
          <a:lstStyle/>
          <a:p>
            <a:pPr lvl="0" algn="ctr">
              <a:buClrTx/>
              <a:buSzTx/>
              <a:buFontTx/>
            </a:pPr>
            <a:endParaRPr lang="zh-CN" altLang="en-US" sz="1200"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103"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1470808" y="4961945"/>
            <a:ext cx="1392351" cy="140660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panose="00000600000000000000"/>
                <a:ea typeface="Barlow Medium" panose="00000600000000000000"/>
                <a:cs typeface="Barlow Medium" panose="00000600000000000000"/>
                <a:sym typeface="Barlow Medium" panose="00000600000000000000"/>
              </a:defRPr>
            </a:lvl1pPr>
          </a:lstStyle>
          <a:p>
            <a:pPr marL="228600" indent="-228600" algn="just">
              <a:lnSpc>
                <a:spcPct val="150000"/>
              </a:lnSpc>
              <a:spcAft>
                <a:spcPts val="1000"/>
              </a:spcAft>
              <a:buFont typeface="+mj-ea"/>
              <a:buAutoNum type="circleNumDbPlain"/>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目标回顾：</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回顾上半年工作，对比年初目标，评估达成情况。</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28600" indent="-228600" algn="just">
              <a:lnSpc>
                <a:spcPct val="150000"/>
              </a:lnSpc>
              <a:spcAft>
                <a:spcPts val="1000"/>
              </a:spcAft>
              <a:buFont typeface="+mj-ea"/>
              <a:buAutoNum type="circleNumDbPlain"/>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策略调整：</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根据上半年工作成果，调整下半年工作策略。</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4"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199496" y="4961945"/>
            <a:ext cx="1392351" cy="140660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panose="00000600000000000000"/>
                <a:ea typeface="Barlow Medium" panose="00000600000000000000"/>
                <a:cs typeface="Barlow Medium" panose="00000600000000000000"/>
                <a:sym typeface="Barlow Medium" panose="00000600000000000000"/>
              </a:defRPr>
            </a:lvl1pPr>
          </a:lstStyle>
          <a:p>
            <a:pPr marL="228600" indent="-228600" algn="just">
              <a:lnSpc>
                <a:spcPct val="150000"/>
              </a:lnSpc>
              <a:spcAft>
                <a:spcPts val="1000"/>
              </a:spcAft>
              <a:buFont typeface="+mj-ea"/>
              <a:buAutoNum type="circleNumDbPlain"/>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业务拓展：</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探索新的业务领域和机会，寻找新的业务增长点。</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28600" indent="-228600" algn="just">
              <a:lnSpc>
                <a:spcPct val="150000"/>
              </a:lnSpc>
              <a:spcAft>
                <a:spcPts val="1000"/>
              </a:spcAft>
              <a:buFont typeface="+mj-ea"/>
              <a:buAutoNum type="circleNumDbPlain"/>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客户维护：</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加强客户的沟通，了解客户需求，提供优质服务。</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5"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4928184" y="4961945"/>
            <a:ext cx="1392351" cy="140660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panose="00000600000000000000"/>
                <a:ea typeface="Barlow Medium" panose="00000600000000000000"/>
                <a:cs typeface="Barlow Medium" panose="00000600000000000000"/>
                <a:sym typeface="Barlow Medium" panose="00000600000000000000"/>
              </a:defRPr>
            </a:lvl1pPr>
          </a:lstStyle>
          <a:p>
            <a:pPr marL="228600" indent="-228600" algn="just">
              <a:lnSpc>
                <a:spcPct val="150000"/>
              </a:lnSpc>
              <a:spcAft>
                <a:spcPts val="1000"/>
              </a:spcAft>
              <a:buFont typeface="+mj-ea"/>
              <a:buAutoNum type="circleNumDbPlain"/>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团队建设：</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组织团队建设活动，增强团队凝聚力和协作能力。</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28600" indent="-228600" algn="just">
              <a:lnSpc>
                <a:spcPct val="150000"/>
              </a:lnSpc>
              <a:spcAft>
                <a:spcPts val="1000"/>
              </a:spcAft>
              <a:buFont typeface="+mj-ea"/>
              <a:buAutoNum type="circleNumDbPlain"/>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技能提升：</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提供内外部培训机会，提升团队整体技能水平。</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6"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656872" y="4961945"/>
            <a:ext cx="1392351" cy="140660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panose="00000600000000000000"/>
                <a:ea typeface="Barlow Medium" panose="00000600000000000000"/>
                <a:cs typeface="Barlow Medium" panose="00000600000000000000"/>
                <a:sym typeface="Barlow Medium" panose="00000600000000000000"/>
              </a:defRPr>
            </a:lvl1pPr>
          </a:lstStyle>
          <a:p>
            <a:pPr marL="228600" indent="-228600" algn="just">
              <a:lnSpc>
                <a:spcPct val="150000"/>
              </a:lnSpc>
              <a:spcAft>
                <a:spcPts val="1000"/>
              </a:spcAft>
              <a:buFont typeface="+mj-ea"/>
              <a:buAutoNum type="circleNumDbPlain"/>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市场分析：</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分析市场动态和竞争对手，为工作提供数据支持。</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28600" indent="-228600" algn="just">
              <a:lnSpc>
                <a:spcPct val="150000"/>
              </a:lnSpc>
              <a:spcAft>
                <a:spcPts val="1000"/>
              </a:spcAft>
              <a:buFont typeface="+mj-ea"/>
              <a:buAutoNum type="circleNumDbPlain"/>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策略优化：</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根据市场分析，优化产品策略提高市场竞争力。</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7"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385560" y="4961945"/>
            <a:ext cx="1392351" cy="140660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panose="00000600000000000000"/>
                <a:ea typeface="Barlow Medium" panose="00000600000000000000"/>
                <a:cs typeface="Barlow Medium" panose="00000600000000000000"/>
                <a:sym typeface="Barlow Medium" panose="00000600000000000000"/>
              </a:defRPr>
            </a:lvl1pPr>
          </a:lstStyle>
          <a:p>
            <a:pPr marL="228600" indent="-228600" algn="just">
              <a:lnSpc>
                <a:spcPct val="150000"/>
              </a:lnSpc>
              <a:spcAft>
                <a:spcPts val="1000"/>
              </a:spcAft>
              <a:buFont typeface="+mj-ea"/>
              <a:buAutoNum type="circleNumDbPlain"/>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目标冲刺：</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全力冲刺年度工作目标，确保各项任务按时完成。</a:t>
            </a:r>
            <a:endPar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28600" indent="-228600" algn="just">
              <a:lnSpc>
                <a:spcPct val="150000"/>
              </a:lnSpc>
              <a:spcAft>
                <a:spcPts val="1000"/>
              </a:spcAft>
              <a:buFont typeface="+mj-ea"/>
              <a:buAutoNum type="circleNumDbPlain"/>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客户感谢：</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向重要客户表达感谢，为来年合作奠定良好基础。</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8"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10114247" y="4961945"/>
            <a:ext cx="1392351" cy="140660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panose="00000600000000000000"/>
                <a:ea typeface="Barlow Medium" panose="00000600000000000000"/>
                <a:cs typeface="Barlow Medium" panose="00000600000000000000"/>
                <a:sym typeface="Barlow Medium" panose="00000600000000000000"/>
              </a:defRPr>
            </a:lvl1pPr>
          </a:lstStyle>
          <a:p>
            <a:pPr marL="228600" indent="-228600" algn="just">
              <a:lnSpc>
                <a:spcPct val="150000"/>
              </a:lnSpc>
              <a:spcAft>
                <a:spcPts val="1000"/>
              </a:spcAft>
              <a:buFont typeface="+mj-ea"/>
              <a:buAutoNum type="circleNumDbPlain"/>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工作总结：</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对下半年进行全面总结，提炼可复制的工作模式。</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28600" indent="-228600" algn="just">
              <a:lnSpc>
                <a:spcPct val="150000"/>
              </a:lnSpc>
              <a:spcAft>
                <a:spcPts val="1000"/>
              </a:spcAft>
              <a:buFont typeface="+mj-ea"/>
              <a:buAutoNum type="circleNumDbPlain"/>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未来规划：</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规划下一年度的方向和重点任务，为来年奠定基础。</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9"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1470808" y="2113919"/>
            <a:ext cx="1392351" cy="140660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panose="00000600000000000000"/>
                <a:ea typeface="Barlow Medium" panose="00000600000000000000"/>
                <a:cs typeface="Barlow Medium" panose="00000600000000000000"/>
                <a:sym typeface="Barlow Medium" panose="00000600000000000000"/>
              </a:defRPr>
            </a:lvl1pPr>
          </a:lstStyle>
          <a:p>
            <a:pPr marL="228600" indent="-228600" algn="just">
              <a:lnSpc>
                <a:spcPct val="150000"/>
              </a:lnSpc>
              <a:spcAft>
                <a:spcPts val="1000"/>
              </a:spcAft>
              <a:buFont typeface="+mj-ea"/>
              <a:buAutoNum type="circleNumDbPlain"/>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目标设定：</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明确个人的主要目标，与公司整体战略保持一致。</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28600" indent="-228600" algn="just">
              <a:lnSpc>
                <a:spcPct val="150000"/>
              </a:lnSpc>
              <a:spcAft>
                <a:spcPts val="1000"/>
              </a:spcAft>
              <a:buFont typeface="+mj-ea"/>
              <a:buAutoNum type="circleNumDbPlain"/>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资源筹备：</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评估筹备完成项目所需的资源，包括人力、物力。</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0"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199496" y="2113919"/>
            <a:ext cx="1392351" cy="140660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panose="00000600000000000000"/>
                <a:ea typeface="Barlow Medium" panose="00000600000000000000"/>
                <a:cs typeface="Barlow Medium" panose="00000600000000000000"/>
                <a:sym typeface="Barlow Medium" panose="00000600000000000000"/>
              </a:defRPr>
            </a:lvl1pPr>
          </a:lstStyle>
          <a:p>
            <a:pPr marL="228600" indent="-228600" algn="just">
              <a:lnSpc>
                <a:spcPct val="150000"/>
              </a:lnSpc>
              <a:spcAft>
                <a:spcPts val="1000"/>
              </a:spcAft>
              <a:buFont typeface="+mj-ea"/>
              <a:buAutoNum type="circleNumDbPlain"/>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团队整合：</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加强团队成员之间的沟通，促进团队凝聚力提升。</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28600" indent="-228600" algn="just">
              <a:lnSpc>
                <a:spcPct val="150000"/>
              </a:lnSpc>
              <a:spcAft>
                <a:spcPts val="1000"/>
              </a:spcAft>
              <a:buFont typeface="+mj-ea"/>
              <a:buAutoNum type="circleNumDbPlain"/>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文化塑造：</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强化公司文化和价值观，营造良好的工作氛围。</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4928184" y="2113919"/>
            <a:ext cx="1392351" cy="140660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panose="00000600000000000000"/>
                <a:ea typeface="Barlow Medium" panose="00000600000000000000"/>
                <a:cs typeface="Barlow Medium" panose="00000600000000000000"/>
                <a:sym typeface="Barlow Medium" panose="00000600000000000000"/>
              </a:defRPr>
            </a:lvl1pPr>
          </a:lstStyle>
          <a:p>
            <a:pPr marL="228600" indent="-228600" algn="just">
              <a:lnSpc>
                <a:spcPct val="150000"/>
              </a:lnSpc>
              <a:spcAft>
                <a:spcPts val="1000"/>
              </a:spcAft>
              <a:buFont typeface="+mj-ea"/>
              <a:buAutoNum type="circleNumDbPlain"/>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团队分工：</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明确团队成员在项目中的具体职责和分工。</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28600" indent="-228600" algn="just">
              <a:lnSpc>
                <a:spcPct val="150000"/>
              </a:lnSpc>
              <a:spcAft>
                <a:spcPts val="1000"/>
              </a:spcAft>
              <a:buFont typeface="+mj-ea"/>
              <a:buAutoNum type="circleNumDbPlain"/>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初步实施：</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项目的初步实施，包括市场调研、客户沟通等。</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656872" y="2113919"/>
            <a:ext cx="1392351" cy="140660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panose="00000600000000000000"/>
                <a:ea typeface="Barlow Medium" panose="00000600000000000000"/>
                <a:cs typeface="Barlow Medium" panose="00000600000000000000"/>
                <a:sym typeface="Barlow Medium" panose="00000600000000000000"/>
              </a:defRPr>
            </a:lvl1pPr>
          </a:lstStyle>
          <a:p>
            <a:pPr marL="228600" indent="-228600" algn="just">
              <a:lnSpc>
                <a:spcPct val="150000"/>
              </a:lnSpc>
              <a:spcAft>
                <a:spcPts val="1000"/>
              </a:spcAft>
              <a:buFont typeface="+mj-ea"/>
              <a:buAutoNum type="circleNumDbPlain"/>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进度跟踪：</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定期跟踪项目的进度，确保项目按计划推进。</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28600" indent="-228600" algn="just">
              <a:lnSpc>
                <a:spcPct val="150000"/>
              </a:lnSpc>
              <a:spcAft>
                <a:spcPts val="1000"/>
              </a:spcAft>
              <a:buFont typeface="+mj-ea"/>
              <a:buAutoNum type="circleNumDbPlain"/>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问题反馈：</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及时发现并解决项目遇到的问题，确保项目质量。</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3"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385560" y="2113919"/>
            <a:ext cx="1392351" cy="140660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panose="00000600000000000000"/>
                <a:ea typeface="Barlow Medium" panose="00000600000000000000"/>
                <a:cs typeface="Barlow Medium" panose="00000600000000000000"/>
                <a:sym typeface="Barlow Medium" panose="00000600000000000000"/>
              </a:defRPr>
            </a:lvl1pPr>
          </a:lstStyle>
          <a:p>
            <a:pPr marL="228600" indent="-228600" algn="just">
              <a:lnSpc>
                <a:spcPct val="150000"/>
              </a:lnSpc>
              <a:spcAft>
                <a:spcPts val="1000"/>
              </a:spcAft>
              <a:buFont typeface="+mj-ea"/>
              <a:buAutoNum type="circleNumDbPlain"/>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成果展示：</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通过内部会议等形式，向公司展示阶段性成果。</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28600" indent="-228600" algn="just">
              <a:lnSpc>
                <a:spcPct val="150000"/>
              </a:lnSpc>
              <a:spcAft>
                <a:spcPts val="1000"/>
              </a:spcAft>
              <a:buFont typeface="+mj-ea"/>
              <a:buAutoNum type="circleNumDbPlain"/>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客户反馈：</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积极收集客户反馈，调整项目方向或优化产品。</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4"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10114247" y="2113919"/>
            <a:ext cx="1392351" cy="140660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panose="00000600000000000000"/>
                <a:ea typeface="Barlow Medium" panose="00000600000000000000"/>
                <a:cs typeface="Barlow Medium" panose="00000600000000000000"/>
                <a:sym typeface="Barlow Medium" panose="00000600000000000000"/>
              </a:defRPr>
            </a:lvl1pPr>
          </a:lstStyle>
          <a:p>
            <a:pPr marL="228600" indent="-228600" algn="just">
              <a:lnSpc>
                <a:spcPct val="150000"/>
              </a:lnSpc>
              <a:spcAft>
                <a:spcPts val="1000"/>
              </a:spcAft>
              <a:buFont typeface="+mj-ea"/>
              <a:buAutoNum type="circleNumDbPlain"/>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工作总结：</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对上半年进行总结，分析成功经验和不足之处。</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28600" indent="-228600" algn="just">
              <a:lnSpc>
                <a:spcPct val="150000"/>
              </a:lnSpc>
              <a:spcAft>
                <a:spcPts val="1000"/>
              </a:spcAft>
              <a:buFont typeface="+mj-ea"/>
              <a:buAutoNum type="circleNumDbPlain"/>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团队复盘：</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组织团队复盘会议，讨论亮点与待改进之处。</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8738235" y="348615"/>
            <a:ext cx="3219450" cy="332740"/>
            <a:chOff x="13761" y="549"/>
            <a:chExt cx="5070" cy="524"/>
          </a:xfrm>
        </p:grpSpPr>
        <p:pic>
          <p:nvPicPr>
            <p:cNvPr id="10" name="图片 9"/>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1" name="文本框 10"/>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我的职业发展规划</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36" name="猫爪PPT-2-1"/>
          <p:cNvSpPr/>
          <p:nvPr>
            <p:custDataLst>
              <p:tags r:id="rId3"/>
            </p:custDataLst>
          </p:nvPr>
        </p:nvSpPr>
        <p:spPr>
          <a:xfrm>
            <a:off x="0" y="3338830"/>
            <a:ext cx="11887200" cy="702310"/>
          </a:xfrm>
          <a:prstGeom prst="homePlate">
            <a:avLst/>
          </a:prstGeom>
          <a:gradFill>
            <a:gsLst>
              <a:gs pos="0">
                <a:schemeClr val="accent1"/>
              </a:gs>
              <a:gs pos="99000">
                <a:schemeClr val="accent1">
                  <a:lumMod val="60000"/>
                  <a:lumOff val="40000"/>
                </a:schemeClr>
              </a:gs>
            </a:gsLst>
            <a:lin ang="10800000" scaled="0"/>
          </a:gradFill>
          <a:ln>
            <a:noFill/>
          </a:ln>
        </p:spPr>
        <p:txBody>
          <a:bodyPr vert="horz" wrap="square" lIns="91440" tIns="45720" rIns="91440" bIns="45720" numCol="1" anchor="t" anchorCtr="0" compatLnSpc="1"/>
          <a:lstStyle/>
          <a:p>
            <a:endParaRPr lang="zh-CN" altLang="en-US" sz="2800">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71" name="组合 70"/>
          <p:cNvGrpSpPr/>
          <p:nvPr>
            <p:custDataLst>
              <p:tags r:id="rId4"/>
            </p:custDataLst>
          </p:nvPr>
        </p:nvGrpSpPr>
        <p:grpSpPr>
          <a:xfrm>
            <a:off x="2991485" y="1149985"/>
            <a:ext cx="2453005" cy="2270760"/>
            <a:chOff x="4560" y="1824"/>
            <a:chExt cx="3863" cy="3576"/>
          </a:xfrm>
        </p:grpSpPr>
        <p:sp>
          <p:nvSpPr>
            <p:cNvPr id="198" name="任意形状 197"/>
            <p:cNvSpPr/>
            <p:nvPr>
              <p:custDataLst>
                <p:tags r:id="rId5"/>
              </p:custDataLst>
            </p:nvPr>
          </p:nvSpPr>
          <p:spPr>
            <a:xfrm flipH="1">
              <a:off x="4560" y="1882"/>
              <a:ext cx="72" cy="3518"/>
            </a:xfrm>
            <a:custGeom>
              <a:avLst/>
              <a:gdLst>
                <a:gd name="connsiteX0" fmla="*/ 0 w 7620"/>
                <a:gd name="connsiteY0" fmla="*/ 0 h 2509266"/>
                <a:gd name="connsiteX1" fmla="*/ 0 w 7620"/>
                <a:gd name="connsiteY1" fmla="*/ 2509266 h 2509266"/>
              </a:gdLst>
              <a:ahLst/>
              <a:cxnLst>
                <a:cxn ang="0">
                  <a:pos x="connsiteX0" y="connsiteY0"/>
                </a:cxn>
                <a:cxn ang="0">
                  <a:pos x="connsiteX1" y="connsiteY1"/>
                </a:cxn>
              </a:cxnLst>
              <a:rect l="l" t="t" r="r" b="b"/>
              <a:pathLst>
                <a:path w="7620" h="2509266">
                  <a:moveTo>
                    <a:pt x="0" y="0"/>
                  </a:moveTo>
                  <a:lnTo>
                    <a:pt x="0" y="2509266"/>
                  </a:lnTo>
                </a:path>
              </a:pathLst>
            </a:custGeom>
            <a:ln w="15875" cap="flat">
              <a:solidFill>
                <a:schemeClr val="tx2">
                  <a:lumMod val="40000"/>
                  <a:lumOff val="60000"/>
                </a:schemeClr>
              </a:solidFill>
              <a:prstDash val="dash"/>
              <a:miter/>
              <a:headEnd type="oval"/>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37" name="文本框 236"/>
            <p:cNvSpPr txBox="1"/>
            <p:nvPr>
              <p:custDataLst>
                <p:tags r:id="rId6"/>
              </p:custDataLst>
            </p:nvPr>
          </p:nvSpPr>
          <p:spPr>
            <a:xfrm>
              <a:off x="4743" y="2694"/>
              <a:ext cx="3681" cy="2163"/>
            </a:xfrm>
            <a:prstGeom prst="rect">
              <a:avLst/>
            </a:prstGeom>
            <a:noFill/>
          </p:spPr>
          <p:txBody>
            <a:bodyPr wrap="square">
              <a:spAutoFit/>
            </a:bodyPr>
            <a:lstStyle/>
            <a:p>
              <a:pPr marL="228600" indent="-228600" algn="just">
                <a:lnSpc>
                  <a:spcPct val="150000"/>
                </a:lnSpc>
                <a:spcAft>
                  <a:spcPts val="1000"/>
                </a:spcAft>
                <a:buFont typeface="+mj-lt"/>
                <a:buAutoNum type="arabicPeriod"/>
              </a:pPr>
              <a:r>
                <a:rPr lang="zh-CN" altLang="en-US" sz="1000" b="1" dirty="0">
                  <a:solidFill>
                    <a:schemeClr val="tx2"/>
                  </a:solidFill>
                  <a:latin typeface="微软雅黑" panose="020B0503020204020204" charset="-122"/>
                  <a:ea typeface="微软雅黑" panose="020B0503020204020204" charset="-122"/>
                  <a:cs typeface="微软雅黑" panose="020B0503020204020204" charset="-122"/>
                </a:rPr>
                <a:t>爆款制造：</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集中资源冲击单一渠道或活动，力求产出行业级爆款案例，形成可复制的爆款方法论。</a:t>
              </a:r>
              <a:endParaRPr lang="en-US" altLang="zh-CN" sz="1000" dirty="0">
                <a:solidFill>
                  <a:schemeClr val="tx2"/>
                </a:solidFill>
                <a:latin typeface="微软雅黑" panose="020B0503020204020204" charset="-122"/>
                <a:ea typeface="微软雅黑" panose="020B0503020204020204" charset="-122"/>
                <a:cs typeface="微软雅黑" panose="020B0503020204020204" charset="-122"/>
              </a:endParaRPr>
            </a:p>
            <a:p>
              <a:pPr marL="228600" indent="-228600" algn="just">
                <a:lnSpc>
                  <a:spcPct val="150000"/>
                </a:lnSpc>
                <a:spcAft>
                  <a:spcPts val="1000"/>
                </a:spcAft>
                <a:buFont typeface="+mj-lt"/>
                <a:buAutoNum type="arabicPeriod"/>
              </a:pPr>
              <a:r>
                <a:rPr lang="zh-CN" altLang="en-US" sz="1000" b="1" dirty="0">
                  <a:solidFill>
                    <a:schemeClr val="tx2"/>
                  </a:solidFill>
                  <a:latin typeface="微软雅黑" panose="020B0503020204020204" charset="-122"/>
                  <a:ea typeface="微软雅黑" panose="020B0503020204020204" charset="-122"/>
                  <a:cs typeface="微软雅黑" panose="020B0503020204020204" charset="-122"/>
                </a:rPr>
                <a:t>用户深耕：</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挖掘深层需求，将用户洞察转化为高粘性策略。</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5" name="矩形 44"/>
            <p:cNvSpPr/>
            <p:nvPr>
              <p:custDataLst>
                <p:tags r:id="rId7"/>
              </p:custDataLst>
            </p:nvPr>
          </p:nvSpPr>
          <p:spPr>
            <a:xfrm>
              <a:off x="4825" y="1824"/>
              <a:ext cx="3518" cy="533"/>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增长突破年</a:t>
              </a:r>
              <a:endParaRPr kumimoji="1" lang="zh-CN" altLang="en-US" sz="1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72" name="组合 71"/>
          <p:cNvGrpSpPr/>
          <p:nvPr>
            <p:custDataLst>
              <p:tags r:id="rId8"/>
            </p:custDataLst>
          </p:nvPr>
        </p:nvGrpSpPr>
        <p:grpSpPr>
          <a:xfrm>
            <a:off x="5520055" y="1149985"/>
            <a:ext cx="2458085" cy="2270760"/>
            <a:chOff x="8469" y="1824"/>
            <a:chExt cx="3871" cy="3576"/>
          </a:xfrm>
        </p:grpSpPr>
        <p:sp>
          <p:nvSpPr>
            <p:cNvPr id="43" name="任意形状 34"/>
            <p:cNvSpPr/>
            <p:nvPr>
              <p:custDataLst>
                <p:tags r:id="rId9"/>
              </p:custDataLst>
            </p:nvPr>
          </p:nvSpPr>
          <p:spPr>
            <a:xfrm flipH="1">
              <a:off x="8469" y="1882"/>
              <a:ext cx="72" cy="3518"/>
            </a:xfrm>
            <a:custGeom>
              <a:avLst/>
              <a:gdLst>
                <a:gd name="connsiteX0" fmla="*/ 0 w 7620"/>
                <a:gd name="connsiteY0" fmla="*/ 0 h 2509266"/>
                <a:gd name="connsiteX1" fmla="*/ 0 w 7620"/>
                <a:gd name="connsiteY1" fmla="*/ 2509266 h 2509266"/>
              </a:gdLst>
              <a:ahLst/>
              <a:cxnLst>
                <a:cxn ang="0">
                  <a:pos x="connsiteX0" y="connsiteY0"/>
                </a:cxn>
                <a:cxn ang="0">
                  <a:pos x="connsiteX1" y="connsiteY1"/>
                </a:cxn>
              </a:cxnLst>
              <a:rect l="l" t="t" r="r" b="b"/>
              <a:pathLst>
                <a:path w="7620" h="2509266">
                  <a:moveTo>
                    <a:pt x="0" y="0"/>
                  </a:moveTo>
                  <a:lnTo>
                    <a:pt x="0" y="2509266"/>
                  </a:lnTo>
                </a:path>
              </a:pathLst>
            </a:custGeom>
            <a:ln w="15875" cap="flat">
              <a:solidFill>
                <a:schemeClr val="tx2">
                  <a:lumMod val="40000"/>
                  <a:lumOff val="60000"/>
                </a:schemeClr>
              </a:solidFill>
              <a:prstDash val="dash"/>
              <a:miter/>
              <a:headEnd type="oval"/>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47" name="文本框 46"/>
            <p:cNvSpPr txBox="1"/>
            <p:nvPr>
              <p:custDataLst>
                <p:tags r:id="rId10"/>
              </p:custDataLst>
            </p:nvPr>
          </p:nvSpPr>
          <p:spPr>
            <a:xfrm>
              <a:off x="8660" y="2694"/>
              <a:ext cx="3681" cy="2163"/>
            </a:xfrm>
            <a:prstGeom prst="rect">
              <a:avLst/>
            </a:prstGeom>
            <a:noFill/>
          </p:spPr>
          <p:txBody>
            <a:bodyPr wrap="square">
              <a:spAutoFit/>
            </a:bodyPr>
            <a:lstStyle/>
            <a:p>
              <a:pPr marL="228600" indent="-228600" algn="just">
                <a:lnSpc>
                  <a:spcPct val="150000"/>
                </a:lnSpc>
                <a:spcAft>
                  <a:spcPts val="1000"/>
                </a:spcAft>
                <a:buFont typeface="+mj-lt"/>
                <a:buAutoNum type="arabicPeriod"/>
              </a:pPr>
              <a:r>
                <a:rPr lang="zh-CN" altLang="en-US" sz="1000" b="1" dirty="0">
                  <a:solidFill>
                    <a:schemeClr val="tx2"/>
                  </a:solidFill>
                  <a:latin typeface="微软雅黑" panose="020B0503020204020204" charset="-122"/>
                  <a:ea typeface="微软雅黑" panose="020B0503020204020204" charset="-122"/>
                  <a:cs typeface="微软雅黑" panose="020B0503020204020204" charset="-122"/>
                </a:rPr>
                <a:t>全域布局：</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搭建多平台、多维度的流量矩阵，平衡公域与私域，构建抗风险的流量生态。</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a:p>
              <a:pPr marL="228600" indent="-228600" algn="just">
                <a:lnSpc>
                  <a:spcPct val="150000"/>
                </a:lnSpc>
                <a:spcAft>
                  <a:spcPts val="1000"/>
                </a:spcAft>
                <a:buFont typeface="+mj-lt"/>
                <a:buAutoNum type="arabicPeriod"/>
              </a:pPr>
              <a:r>
                <a:rPr lang="zh-CN" altLang="en-US" sz="1000" b="1" dirty="0">
                  <a:solidFill>
                    <a:schemeClr val="tx2"/>
                  </a:solidFill>
                  <a:latin typeface="微软雅黑" panose="020B0503020204020204" charset="-122"/>
                  <a:ea typeface="微软雅黑" panose="020B0503020204020204" charset="-122"/>
                  <a:cs typeface="微软雅黑" panose="020B0503020204020204" charset="-122"/>
                </a:rPr>
                <a:t>伙伴共赢：</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拓展异业合作与</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KOL</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资源，建立互利共赢的生态圈。</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9" name="矩形 48"/>
            <p:cNvSpPr/>
            <p:nvPr>
              <p:custDataLst>
                <p:tags r:id="rId11"/>
              </p:custDataLst>
            </p:nvPr>
          </p:nvSpPr>
          <p:spPr>
            <a:xfrm>
              <a:off x="8742" y="1824"/>
              <a:ext cx="3518" cy="53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生态构建年</a:t>
              </a:r>
              <a:endParaRPr kumimoji="1" lang="zh-CN" altLang="en-US" sz="1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73" name="组合 72"/>
          <p:cNvGrpSpPr/>
          <p:nvPr>
            <p:custDataLst>
              <p:tags r:id="rId12"/>
            </p:custDataLst>
          </p:nvPr>
        </p:nvGrpSpPr>
        <p:grpSpPr>
          <a:xfrm>
            <a:off x="8033385" y="1149985"/>
            <a:ext cx="2463165" cy="2270125"/>
            <a:chOff x="12378" y="1811"/>
            <a:chExt cx="3879" cy="3575"/>
          </a:xfrm>
        </p:grpSpPr>
        <p:sp>
          <p:nvSpPr>
            <p:cNvPr id="230" name="任意形状 229"/>
            <p:cNvSpPr/>
            <p:nvPr>
              <p:custDataLst>
                <p:tags r:id="rId13"/>
              </p:custDataLst>
            </p:nvPr>
          </p:nvSpPr>
          <p:spPr>
            <a:xfrm flipH="1">
              <a:off x="12378" y="1868"/>
              <a:ext cx="72" cy="3518"/>
            </a:xfrm>
            <a:custGeom>
              <a:avLst/>
              <a:gdLst>
                <a:gd name="connsiteX0" fmla="*/ 0 w 7620"/>
                <a:gd name="connsiteY0" fmla="*/ 0 h 2509266"/>
                <a:gd name="connsiteX1" fmla="*/ 0 w 7620"/>
                <a:gd name="connsiteY1" fmla="*/ 2509266 h 2509266"/>
              </a:gdLst>
              <a:ahLst/>
              <a:cxnLst>
                <a:cxn ang="0">
                  <a:pos x="connsiteX0" y="connsiteY0"/>
                </a:cxn>
                <a:cxn ang="0">
                  <a:pos x="connsiteX1" y="connsiteY1"/>
                </a:cxn>
              </a:cxnLst>
              <a:rect l="l" t="t" r="r" b="b"/>
              <a:pathLst>
                <a:path w="7620" h="2509266">
                  <a:moveTo>
                    <a:pt x="0" y="0"/>
                  </a:moveTo>
                  <a:lnTo>
                    <a:pt x="0" y="2509266"/>
                  </a:lnTo>
                </a:path>
              </a:pathLst>
            </a:custGeom>
            <a:ln w="15875" cap="flat">
              <a:solidFill>
                <a:schemeClr val="tx2">
                  <a:lumMod val="40000"/>
                  <a:lumOff val="60000"/>
                </a:schemeClr>
              </a:solidFill>
              <a:prstDash val="dash"/>
              <a:miter/>
              <a:headEnd type="oval"/>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1" name="文本框 50"/>
            <p:cNvSpPr txBox="1"/>
            <p:nvPr>
              <p:custDataLst>
                <p:tags r:id="rId14"/>
              </p:custDataLst>
            </p:nvPr>
          </p:nvSpPr>
          <p:spPr>
            <a:xfrm>
              <a:off x="12577" y="2694"/>
              <a:ext cx="3681" cy="2163"/>
            </a:xfrm>
            <a:prstGeom prst="rect">
              <a:avLst/>
            </a:prstGeom>
            <a:noFill/>
          </p:spPr>
          <p:txBody>
            <a:bodyPr wrap="square">
              <a:spAutoFit/>
            </a:bodyPr>
            <a:lstStyle/>
            <a:p>
              <a:pPr marL="228600" indent="-228600" algn="just">
                <a:lnSpc>
                  <a:spcPct val="150000"/>
                </a:lnSpc>
                <a:spcAft>
                  <a:spcPts val="1000"/>
                </a:spcAft>
                <a:buFont typeface="+mj-lt"/>
                <a:buAutoNum type="arabicPeriod"/>
              </a:pPr>
              <a:r>
                <a:rPr lang="zh-CN" altLang="en-US" sz="1000" b="1" dirty="0">
                  <a:solidFill>
                    <a:schemeClr val="tx2"/>
                  </a:solidFill>
                  <a:latin typeface="微软雅黑" panose="020B0503020204020204" charset="-122"/>
                  <a:ea typeface="微软雅黑" panose="020B0503020204020204" charset="-122"/>
                  <a:cs typeface="微软雅黑" panose="020B0503020204020204" charset="-122"/>
                </a:rPr>
                <a:t>梯队建设：</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建立人才梯队，通过师徒制与轮岗制，培养骨干力量，让团队能力不依赖于单点。</a:t>
              </a:r>
              <a:endParaRPr lang="en-US" altLang="zh-CN" sz="1000" dirty="0">
                <a:solidFill>
                  <a:schemeClr val="tx2"/>
                </a:solidFill>
                <a:latin typeface="微软雅黑" panose="020B0503020204020204" charset="-122"/>
                <a:ea typeface="微软雅黑" panose="020B0503020204020204" charset="-122"/>
                <a:cs typeface="微软雅黑" panose="020B0503020204020204" charset="-122"/>
              </a:endParaRPr>
            </a:p>
            <a:p>
              <a:pPr marL="228600" indent="-228600" algn="just">
                <a:lnSpc>
                  <a:spcPct val="150000"/>
                </a:lnSpc>
                <a:spcAft>
                  <a:spcPts val="1000"/>
                </a:spcAft>
                <a:buFont typeface="+mj-lt"/>
                <a:buAutoNum type="arabicPeriod"/>
              </a:pPr>
              <a:r>
                <a:rPr lang="zh-CN" altLang="en-US" sz="1000" b="1" dirty="0">
                  <a:solidFill>
                    <a:schemeClr val="tx2"/>
                  </a:solidFill>
                  <a:latin typeface="微软雅黑" panose="020B0503020204020204" charset="-122"/>
                  <a:ea typeface="微软雅黑" panose="020B0503020204020204" charset="-122"/>
                  <a:cs typeface="微软雅黑" panose="020B0503020204020204" charset="-122"/>
                </a:rPr>
                <a:t>文化塑造：</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沉淀团队工作方法与价值观，提升整体战斗力与归属感。</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2" name="矩形 51"/>
            <p:cNvSpPr/>
            <p:nvPr>
              <p:custDataLst>
                <p:tags r:id="rId15"/>
              </p:custDataLst>
            </p:nvPr>
          </p:nvSpPr>
          <p:spPr>
            <a:xfrm>
              <a:off x="12659" y="1811"/>
              <a:ext cx="3518" cy="533"/>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赋能领导年</a:t>
              </a:r>
              <a:endParaRPr kumimoji="1" lang="zh-CN" altLang="en-US" sz="1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70" name="组合 69"/>
          <p:cNvGrpSpPr/>
          <p:nvPr>
            <p:custDataLst>
              <p:tags r:id="rId16"/>
            </p:custDataLst>
          </p:nvPr>
        </p:nvGrpSpPr>
        <p:grpSpPr>
          <a:xfrm>
            <a:off x="454025" y="1149985"/>
            <a:ext cx="2482215" cy="2233930"/>
            <a:chOff x="480" y="1811"/>
            <a:chExt cx="3909" cy="3518"/>
          </a:xfrm>
        </p:grpSpPr>
        <p:sp>
          <p:nvSpPr>
            <p:cNvPr id="44" name="文本框 43"/>
            <p:cNvSpPr txBox="1"/>
            <p:nvPr>
              <p:custDataLst>
                <p:tags r:id="rId17"/>
              </p:custDataLst>
            </p:nvPr>
          </p:nvSpPr>
          <p:spPr>
            <a:xfrm>
              <a:off x="709" y="2694"/>
              <a:ext cx="3681" cy="2163"/>
            </a:xfrm>
            <a:prstGeom prst="rect">
              <a:avLst/>
            </a:prstGeom>
            <a:noFill/>
          </p:spPr>
          <p:txBody>
            <a:bodyPr wrap="square">
              <a:spAutoFit/>
            </a:bodyPr>
            <a:lstStyle/>
            <a:p>
              <a:pPr marL="228600" indent="-228600" algn="just">
                <a:lnSpc>
                  <a:spcPct val="150000"/>
                </a:lnSpc>
                <a:spcAft>
                  <a:spcPts val="1000"/>
                </a:spcAft>
                <a:buFont typeface="+mj-lt"/>
                <a:buAutoNum type="arabicPeriod"/>
              </a:pPr>
              <a:r>
                <a:rPr lang="zh-CN" altLang="en-US" sz="1000" b="1" dirty="0">
                  <a:solidFill>
                    <a:schemeClr val="tx2"/>
                  </a:solidFill>
                  <a:latin typeface="微软雅黑" panose="020B0503020204020204" charset="-122"/>
                  <a:ea typeface="微软雅黑" panose="020B0503020204020204" charset="-122"/>
                  <a:cs typeface="微软雅黑" panose="020B0503020204020204" charset="-122"/>
                </a:rPr>
                <a:t>流程精进：</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梳理核心业务</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SOP</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，建立数据监控看板，确保日常工作零差错、高效率流转。</a:t>
              </a:r>
              <a:endParaRPr lang="en-US" altLang="zh-CN" sz="1000" dirty="0">
                <a:solidFill>
                  <a:schemeClr val="tx2"/>
                </a:solidFill>
                <a:latin typeface="微软雅黑" panose="020B0503020204020204" charset="-122"/>
                <a:ea typeface="微软雅黑" panose="020B0503020204020204" charset="-122"/>
                <a:cs typeface="微软雅黑" panose="020B0503020204020204" charset="-122"/>
              </a:endParaRPr>
            </a:p>
            <a:p>
              <a:pPr marL="228600" indent="-228600" algn="just">
                <a:lnSpc>
                  <a:spcPct val="150000"/>
                </a:lnSpc>
                <a:spcAft>
                  <a:spcPts val="1000"/>
                </a:spcAft>
                <a:buFont typeface="+mj-lt"/>
                <a:buAutoNum type="arabicPeriod"/>
              </a:pPr>
              <a:r>
                <a:rPr lang="zh-CN" altLang="en-US" sz="1000" b="1" dirty="0">
                  <a:solidFill>
                    <a:schemeClr val="tx2"/>
                  </a:solidFill>
                  <a:latin typeface="微软雅黑" panose="020B0503020204020204" charset="-122"/>
                  <a:ea typeface="微软雅黑" panose="020B0503020204020204" charset="-122"/>
                  <a:cs typeface="微软雅黑" panose="020B0503020204020204" charset="-122"/>
                </a:rPr>
                <a:t>数据敏感：</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每日复盘核心指标，培养对数据波动的本能反应。</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4" name="矩形 163"/>
            <p:cNvSpPr/>
            <p:nvPr>
              <p:custDataLst>
                <p:tags r:id="rId18"/>
              </p:custDataLst>
            </p:nvPr>
          </p:nvSpPr>
          <p:spPr>
            <a:xfrm>
              <a:off x="791" y="1824"/>
              <a:ext cx="3518" cy="53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专业筑基年</a:t>
              </a:r>
              <a:endParaRPr kumimoji="1" lang="zh-CN" altLang="en-US" sz="1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3" name="任意形状 261"/>
            <p:cNvSpPr/>
            <p:nvPr>
              <p:custDataLst>
                <p:tags r:id="rId19"/>
              </p:custDataLst>
            </p:nvPr>
          </p:nvSpPr>
          <p:spPr>
            <a:xfrm flipH="1">
              <a:off x="480" y="1811"/>
              <a:ext cx="72" cy="3518"/>
            </a:xfrm>
            <a:custGeom>
              <a:avLst/>
              <a:gdLst>
                <a:gd name="connsiteX0" fmla="*/ 0 w 7620"/>
                <a:gd name="connsiteY0" fmla="*/ 0 h 2509266"/>
                <a:gd name="connsiteX1" fmla="*/ 0 w 7620"/>
                <a:gd name="connsiteY1" fmla="*/ 2509266 h 2509266"/>
              </a:gdLst>
              <a:ahLst/>
              <a:cxnLst>
                <a:cxn ang="0">
                  <a:pos x="connsiteX0" y="connsiteY0"/>
                </a:cxn>
                <a:cxn ang="0">
                  <a:pos x="connsiteX1" y="connsiteY1"/>
                </a:cxn>
              </a:cxnLst>
              <a:rect l="l" t="t" r="r" b="b"/>
              <a:pathLst>
                <a:path w="7620" h="2509266">
                  <a:moveTo>
                    <a:pt x="0" y="0"/>
                  </a:moveTo>
                  <a:lnTo>
                    <a:pt x="0" y="2509266"/>
                  </a:lnTo>
                </a:path>
              </a:pathLst>
            </a:custGeom>
            <a:ln w="15875" cap="flat">
              <a:solidFill>
                <a:schemeClr val="tx2">
                  <a:lumMod val="40000"/>
                  <a:lumOff val="60000"/>
                </a:schemeClr>
              </a:solidFill>
              <a:prstDash val="dash"/>
              <a:miter/>
              <a:headEnd type="oval"/>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74" name="组合 73"/>
          <p:cNvGrpSpPr/>
          <p:nvPr>
            <p:custDataLst>
              <p:tags r:id="rId20"/>
            </p:custDataLst>
          </p:nvPr>
        </p:nvGrpSpPr>
        <p:grpSpPr>
          <a:xfrm>
            <a:off x="1517015" y="4106545"/>
            <a:ext cx="2422525" cy="2274570"/>
            <a:chOff x="2628" y="6590"/>
            <a:chExt cx="3815" cy="3582"/>
          </a:xfrm>
        </p:grpSpPr>
        <p:sp>
          <p:nvSpPr>
            <p:cNvPr id="55" name="任意形状 26"/>
            <p:cNvSpPr/>
            <p:nvPr>
              <p:custDataLst>
                <p:tags r:id="rId21"/>
              </p:custDataLst>
            </p:nvPr>
          </p:nvSpPr>
          <p:spPr>
            <a:xfrm>
              <a:off x="2628" y="6590"/>
              <a:ext cx="72" cy="3526"/>
            </a:xfrm>
            <a:custGeom>
              <a:avLst/>
              <a:gdLst>
                <a:gd name="connsiteX0" fmla="*/ 0 w 7620"/>
                <a:gd name="connsiteY0" fmla="*/ 0 h 2510028"/>
                <a:gd name="connsiteX1" fmla="*/ 0 w 7620"/>
                <a:gd name="connsiteY1" fmla="*/ 2510028 h 2510028"/>
              </a:gdLst>
              <a:ahLst/>
              <a:cxnLst>
                <a:cxn ang="0">
                  <a:pos x="connsiteX0" y="connsiteY0"/>
                </a:cxn>
                <a:cxn ang="0">
                  <a:pos x="connsiteX1" y="connsiteY1"/>
                </a:cxn>
              </a:cxnLst>
              <a:rect l="l" t="t" r="r" b="b"/>
              <a:pathLst>
                <a:path w="7620" h="2510028">
                  <a:moveTo>
                    <a:pt x="0" y="0"/>
                  </a:moveTo>
                  <a:lnTo>
                    <a:pt x="0" y="2510028"/>
                  </a:lnTo>
                </a:path>
              </a:pathLst>
            </a:custGeom>
            <a:ln w="15875" cap="flat">
              <a:solidFill>
                <a:schemeClr val="tx2">
                  <a:lumMod val="40000"/>
                  <a:lumOff val="60000"/>
                </a:schemeClr>
              </a:solidFill>
              <a:prstDash val="dash"/>
              <a:miter/>
              <a:tailEnd type="oval"/>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32" name="文本框 231"/>
            <p:cNvSpPr txBox="1"/>
            <p:nvPr>
              <p:custDataLst>
                <p:tags r:id="rId22"/>
              </p:custDataLst>
            </p:nvPr>
          </p:nvSpPr>
          <p:spPr>
            <a:xfrm>
              <a:off x="2763" y="7097"/>
              <a:ext cx="3681" cy="2163"/>
            </a:xfrm>
            <a:prstGeom prst="rect">
              <a:avLst/>
            </a:prstGeom>
            <a:noFill/>
          </p:spPr>
          <p:txBody>
            <a:bodyPr wrap="square">
              <a:spAutoFit/>
            </a:bodyPr>
            <a:lstStyle/>
            <a:p>
              <a:pPr marL="228600" indent="-228600" algn="just">
                <a:lnSpc>
                  <a:spcPct val="150000"/>
                </a:lnSpc>
                <a:spcAft>
                  <a:spcPts val="1000"/>
                </a:spcAft>
                <a:buFont typeface="+mj-lt"/>
                <a:buAutoNum type="arabicPeriod"/>
              </a:pPr>
              <a:r>
                <a:rPr lang="zh-CN" altLang="en-US" sz="1000" b="1" dirty="0">
                  <a:solidFill>
                    <a:schemeClr val="tx2"/>
                  </a:solidFill>
                  <a:latin typeface="微软雅黑" panose="020B0503020204020204" charset="-122"/>
                  <a:ea typeface="微软雅黑" panose="020B0503020204020204" charset="-122"/>
                  <a:cs typeface="微软雅黑" panose="020B0503020204020204" charset="-122"/>
                </a:rPr>
                <a:t>技能拓宽：</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主动涉猎文案、设计或投放等上下游技能，消除协作壁垒，让自己成为团队的</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万能补丁</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a:t>
              </a:r>
              <a:endParaRPr lang="en-US" altLang="zh-CN" sz="1000" dirty="0">
                <a:solidFill>
                  <a:schemeClr val="tx2"/>
                </a:solidFill>
                <a:latin typeface="微软雅黑" panose="020B0503020204020204" charset="-122"/>
                <a:ea typeface="微软雅黑" panose="020B0503020204020204" charset="-122"/>
                <a:cs typeface="微软雅黑" panose="020B0503020204020204" charset="-122"/>
              </a:endParaRPr>
            </a:p>
            <a:p>
              <a:pPr marL="228600" indent="-228600" algn="just">
                <a:lnSpc>
                  <a:spcPct val="150000"/>
                </a:lnSpc>
                <a:spcAft>
                  <a:spcPts val="1000"/>
                </a:spcAft>
                <a:buFont typeface="+mj-lt"/>
                <a:buAutoNum type="arabicPeriod"/>
              </a:pPr>
              <a:r>
                <a:rPr lang="zh-CN" altLang="en-US" sz="1000" b="1" dirty="0">
                  <a:solidFill>
                    <a:schemeClr val="tx2"/>
                  </a:solidFill>
                  <a:latin typeface="微软雅黑" panose="020B0503020204020204" charset="-122"/>
                  <a:ea typeface="微软雅黑" panose="020B0503020204020204" charset="-122"/>
                  <a:cs typeface="微软雅黑" panose="020B0503020204020204" charset="-122"/>
                </a:rPr>
                <a:t>项目领跑：</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从策划到落地全程把控，积累完整的项目闭环经验。</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33" name="矩形 232"/>
            <p:cNvSpPr/>
            <p:nvPr>
              <p:custDataLst>
                <p:tags r:id="rId23"/>
              </p:custDataLst>
            </p:nvPr>
          </p:nvSpPr>
          <p:spPr>
            <a:xfrm>
              <a:off x="2845" y="9640"/>
              <a:ext cx="3518" cy="53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能力破局年</a:t>
              </a:r>
              <a:endParaRPr kumimoji="1" lang="zh-CN" altLang="en-US" sz="1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75" name="组合 74"/>
          <p:cNvGrpSpPr/>
          <p:nvPr>
            <p:custDataLst>
              <p:tags r:id="rId24"/>
            </p:custDataLst>
          </p:nvPr>
        </p:nvGrpSpPr>
        <p:grpSpPr>
          <a:xfrm>
            <a:off x="4057015" y="4106545"/>
            <a:ext cx="2414905" cy="2274570"/>
            <a:chOff x="6558" y="6590"/>
            <a:chExt cx="3803" cy="3582"/>
          </a:xfrm>
        </p:grpSpPr>
        <p:sp>
          <p:nvSpPr>
            <p:cNvPr id="57" name="任意形状 27"/>
            <p:cNvSpPr/>
            <p:nvPr>
              <p:custDataLst>
                <p:tags r:id="rId25"/>
              </p:custDataLst>
            </p:nvPr>
          </p:nvSpPr>
          <p:spPr>
            <a:xfrm>
              <a:off x="6558" y="6590"/>
              <a:ext cx="72" cy="3526"/>
            </a:xfrm>
            <a:custGeom>
              <a:avLst/>
              <a:gdLst>
                <a:gd name="connsiteX0" fmla="*/ 0 w 7620"/>
                <a:gd name="connsiteY0" fmla="*/ 0 h 2510028"/>
                <a:gd name="connsiteX1" fmla="*/ 0 w 7620"/>
                <a:gd name="connsiteY1" fmla="*/ 2510028 h 2510028"/>
              </a:gdLst>
              <a:ahLst/>
              <a:cxnLst>
                <a:cxn ang="0">
                  <a:pos x="connsiteX0" y="connsiteY0"/>
                </a:cxn>
                <a:cxn ang="0">
                  <a:pos x="connsiteX1" y="connsiteY1"/>
                </a:cxn>
              </a:cxnLst>
              <a:rect l="l" t="t" r="r" b="b"/>
              <a:pathLst>
                <a:path w="7620" h="2510028">
                  <a:moveTo>
                    <a:pt x="0" y="0"/>
                  </a:moveTo>
                  <a:lnTo>
                    <a:pt x="0" y="2510028"/>
                  </a:lnTo>
                </a:path>
              </a:pathLst>
            </a:custGeom>
            <a:ln w="15875" cap="flat">
              <a:solidFill>
                <a:schemeClr val="tx2">
                  <a:lumMod val="40000"/>
                  <a:lumOff val="60000"/>
                </a:schemeClr>
              </a:solidFill>
              <a:prstDash val="dash"/>
              <a:miter/>
              <a:tailEnd type="oval"/>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60" name="文本框 59"/>
            <p:cNvSpPr txBox="1"/>
            <p:nvPr>
              <p:custDataLst>
                <p:tags r:id="rId26"/>
              </p:custDataLst>
            </p:nvPr>
          </p:nvSpPr>
          <p:spPr>
            <a:xfrm>
              <a:off x="6681" y="7097"/>
              <a:ext cx="3681" cy="2163"/>
            </a:xfrm>
            <a:prstGeom prst="rect">
              <a:avLst/>
            </a:prstGeom>
            <a:noFill/>
          </p:spPr>
          <p:txBody>
            <a:bodyPr wrap="square">
              <a:spAutoFit/>
            </a:bodyPr>
            <a:lstStyle/>
            <a:p>
              <a:pPr marL="228600" indent="-228600" algn="just">
                <a:lnSpc>
                  <a:spcPct val="150000"/>
                </a:lnSpc>
                <a:spcAft>
                  <a:spcPts val="1000"/>
                </a:spcAft>
                <a:buFont typeface="+mj-lt"/>
                <a:buAutoNum type="arabicPeriod"/>
              </a:pPr>
              <a:r>
                <a:rPr lang="zh-CN" altLang="en-US" sz="1000" b="1" dirty="0">
                  <a:solidFill>
                    <a:schemeClr val="tx2"/>
                  </a:solidFill>
                  <a:latin typeface="微软雅黑" panose="020B0503020204020204" charset="-122"/>
                  <a:ea typeface="微软雅黑" panose="020B0503020204020204" charset="-122"/>
                  <a:cs typeface="微软雅黑" panose="020B0503020204020204" charset="-122"/>
                </a:rPr>
                <a:t>工具赋能：</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引入自动化工具或</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RPA</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机器人，解放重复人力，将团队人效提升</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30%</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以上。</a:t>
              </a:r>
              <a:endParaRPr lang="en-US" altLang="zh-CN" sz="1000" dirty="0">
                <a:solidFill>
                  <a:schemeClr val="tx2"/>
                </a:solidFill>
                <a:latin typeface="微软雅黑" panose="020B0503020204020204" charset="-122"/>
                <a:ea typeface="微软雅黑" panose="020B0503020204020204" charset="-122"/>
                <a:cs typeface="微软雅黑" panose="020B0503020204020204" charset="-122"/>
              </a:endParaRPr>
            </a:p>
            <a:p>
              <a:pPr marL="228600" indent="-228600" algn="just">
                <a:lnSpc>
                  <a:spcPct val="150000"/>
                </a:lnSpc>
                <a:spcAft>
                  <a:spcPts val="1000"/>
                </a:spcAft>
                <a:buFont typeface="+mj-lt"/>
                <a:buAutoNum type="arabicPeriod"/>
              </a:pPr>
              <a:r>
                <a:rPr lang="zh-CN" altLang="en-US" sz="1000" b="1" dirty="0">
                  <a:solidFill>
                    <a:schemeClr val="tx2"/>
                  </a:solidFill>
                  <a:latin typeface="微软雅黑" panose="020B0503020204020204" charset="-122"/>
                  <a:ea typeface="微软雅黑" panose="020B0503020204020204" charset="-122"/>
                  <a:cs typeface="微软雅黑" panose="020B0503020204020204" charset="-122"/>
                </a:rPr>
                <a:t>机制建立：</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建立标准化运营体系，告别</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人治</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，转向</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法治</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1" name="矩形 60"/>
            <p:cNvSpPr/>
            <p:nvPr>
              <p:custDataLst>
                <p:tags r:id="rId27"/>
              </p:custDataLst>
            </p:nvPr>
          </p:nvSpPr>
          <p:spPr>
            <a:xfrm>
              <a:off x="6763" y="9640"/>
              <a:ext cx="3518" cy="533"/>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效率优化年</a:t>
              </a:r>
              <a:endParaRPr kumimoji="1" lang="zh-CN" altLang="en-US" sz="1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76" name="组合 75"/>
          <p:cNvGrpSpPr/>
          <p:nvPr>
            <p:custDataLst>
              <p:tags r:id="rId28"/>
            </p:custDataLst>
          </p:nvPr>
        </p:nvGrpSpPr>
        <p:grpSpPr>
          <a:xfrm>
            <a:off x="6589395" y="4106545"/>
            <a:ext cx="2407285" cy="2274570"/>
            <a:chOff x="10467" y="6590"/>
            <a:chExt cx="3791" cy="3582"/>
          </a:xfrm>
        </p:grpSpPr>
        <p:sp>
          <p:nvSpPr>
            <p:cNvPr id="59" name="任意形状 29"/>
            <p:cNvSpPr/>
            <p:nvPr>
              <p:custDataLst>
                <p:tags r:id="rId29"/>
              </p:custDataLst>
            </p:nvPr>
          </p:nvSpPr>
          <p:spPr>
            <a:xfrm>
              <a:off x="10467" y="6590"/>
              <a:ext cx="72" cy="3526"/>
            </a:xfrm>
            <a:custGeom>
              <a:avLst/>
              <a:gdLst>
                <a:gd name="connsiteX0" fmla="*/ 0 w 7620"/>
                <a:gd name="connsiteY0" fmla="*/ 0 h 2510028"/>
                <a:gd name="connsiteX1" fmla="*/ 0 w 7620"/>
                <a:gd name="connsiteY1" fmla="*/ 2510028 h 2510028"/>
              </a:gdLst>
              <a:ahLst/>
              <a:cxnLst>
                <a:cxn ang="0">
                  <a:pos x="connsiteX0" y="connsiteY0"/>
                </a:cxn>
                <a:cxn ang="0">
                  <a:pos x="connsiteX1" y="connsiteY1"/>
                </a:cxn>
              </a:cxnLst>
              <a:rect l="l" t="t" r="r" b="b"/>
              <a:pathLst>
                <a:path w="7620" h="2510028">
                  <a:moveTo>
                    <a:pt x="0" y="0"/>
                  </a:moveTo>
                  <a:lnTo>
                    <a:pt x="0" y="2510028"/>
                  </a:lnTo>
                </a:path>
              </a:pathLst>
            </a:custGeom>
            <a:ln w="15875" cap="flat">
              <a:solidFill>
                <a:schemeClr val="tx2">
                  <a:lumMod val="40000"/>
                  <a:lumOff val="60000"/>
                </a:schemeClr>
              </a:solidFill>
              <a:prstDash val="dash"/>
              <a:miter/>
              <a:tailEnd type="oval"/>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63" name="文本框 62"/>
            <p:cNvSpPr txBox="1"/>
            <p:nvPr>
              <p:custDataLst>
                <p:tags r:id="rId30"/>
              </p:custDataLst>
            </p:nvPr>
          </p:nvSpPr>
          <p:spPr>
            <a:xfrm>
              <a:off x="10578" y="7097"/>
              <a:ext cx="3681" cy="2163"/>
            </a:xfrm>
            <a:prstGeom prst="rect">
              <a:avLst/>
            </a:prstGeom>
            <a:noFill/>
          </p:spPr>
          <p:txBody>
            <a:bodyPr wrap="square">
              <a:spAutoFit/>
            </a:bodyPr>
            <a:lstStyle/>
            <a:p>
              <a:pPr marL="228600" indent="-228600" algn="just">
                <a:lnSpc>
                  <a:spcPct val="150000"/>
                </a:lnSpc>
                <a:spcAft>
                  <a:spcPts val="1000"/>
                </a:spcAft>
                <a:buFont typeface="+mj-lt"/>
                <a:buAutoNum type="arabicPeriod"/>
              </a:pPr>
              <a:r>
                <a:rPr lang="zh-CN" altLang="en-US" sz="1000" b="1" dirty="0">
                  <a:solidFill>
                    <a:schemeClr val="tx2"/>
                  </a:solidFill>
                  <a:latin typeface="微软雅黑" panose="020B0503020204020204" charset="-122"/>
                  <a:ea typeface="微软雅黑" panose="020B0503020204020204" charset="-122"/>
                  <a:cs typeface="微软雅黑" panose="020B0503020204020204" charset="-122"/>
                </a:rPr>
                <a:t>盈亏算账：</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学会看</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P&amp;L</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报表，从</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花钱做活动</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转变为</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投资看</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ROI”</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，具备经营者意识。</a:t>
              </a:r>
              <a:endParaRPr lang="en-US" altLang="zh-CN" sz="1000" dirty="0">
                <a:solidFill>
                  <a:schemeClr val="tx2"/>
                </a:solidFill>
                <a:latin typeface="微软雅黑" panose="020B0503020204020204" charset="-122"/>
                <a:ea typeface="微软雅黑" panose="020B0503020204020204" charset="-122"/>
                <a:cs typeface="微软雅黑" panose="020B0503020204020204" charset="-122"/>
              </a:endParaRPr>
            </a:p>
            <a:p>
              <a:pPr marL="228600" indent="-228600" algn="just">
                <a:lnSpc>
                  <a:spcPct val="150000"/>
                </a:lnSpc>
                <a:spcAft>
                  <a:spcPts val="1000"/>
                </a:spcAft>
                <a:buFont typeface="+mj-lt"/>
                <a:buAutoNum type="arabicPeriod"/>
              </a:pPr>
              <a:r>
                <a:rPr lang="zh-CN" altLang="en-US" sz="1000" b="1" dirty="0">
                  <a:solidFill>
                    <a:schemeClr val="tx2"/>
                  </a:solidFill>
                  <a:latin typeface="微软雅黑" panose="020B0503020204020204" charset="-122"/>
                  <a:ea typeface="微软雅黑" panose="020B0503020204020204" charset="-122"/>
                  <a:cs typeface="微软雅黑" panose="020B0503020204020204" charset="-122"/>
                </a:rPr>
                <a:t>商业洞察：</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寻找业务新的增长点或创新模式，探索商业化变现路径。</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4" name="矩形 63"/>
            <p:cNvSpPr/>
            <p:nvPr>
              <p:custDataLst>
                <p:tags r:id="rId31"/>
              </p:custDataLst>
            </p:nvPr>
          </p:nvSpPr>
          <p:spPr>
            <a:xfrm>
              <a:off x="10660" y="9640"/>
              <a:ext cx="3518" cy="53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商业进化年</a:t>
              </a:r>
              <a:endParaRPr kumimoji="1" lang="zh-CN" altLang="en-US" sz="1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77" name="组合 76"/>
          <p:cNvGrpSpPr/>
          <p:nvPr>
            <p:custDataLst>
              <p:tags r:id="rId32"/>
            </p:custDataLst>
          </p:nvPr>
        </p:nvGrpSpPr>
        <p:grpSpPr>
          <a:xfrm>
            <a:off x="9114155" y="4106545"/>
            <a:ext cx="2399665" cy="2274570"/>
            <a:chOff x="14381" y="6590"/>
            <a:chExt cx="3779" cy="3582"/>
          </a:xfrm>
        </p:grpSpPr>
        <p:sp>
          <p:nvSpPr>
            <p:cNvPr id="201" name="任意形状 200"/>
            <p:cNvSpPr/>
            <p:nvPr>
              <p:custDataLst>
                <p:tags r:id="rId33"/>
              </p:custDataLst>
            </p:nvPr>
          </p:nvSpPr>
          <p:spPr>
            <a:xfrm>
              <a:off x="14381" y="6590"/>
              <a:ext cx="72" cy="3526"/>
            </a:xfrm>
            <a:custGeom>
              <a:avLst/>
              <a:gdLst>
                <a:gd name="connsiteX0" fmla="*/ 0 w 7620"/>
                <a:gd name="connsiteY0" fmla="*/ 0 h 2510028"/>
                <a:gd name="connsiteX1" fmla="*/ 0 w 7620"/>
                <a:gd name="connsiteY1" fmla="*/ 2510028 h 2510028"/>
              </a:gdLst>
              <a:ahLst/>
              <a:cxnLst>
                <a:cxn ang="0">
                  <a:pos x="connsiteX0" y="connsiteY0"/>
                </a:cxn>
                <a:cxn ang="0">
                  <a:pos x="connsiteX1" y="connsiteY1"/>
                </a:cxn>
              </a:cxnLst>
              <a:rect l="l" t="t" r="r" b="b"/>
              <a:pathLst>
                <a:path w="7620" h="2510028">
                  <a:moveTo>
                    <a:pt x="0" y="0"/>
                  </a:moveTo>
                  <a:lnTo>
                    <a:pt x="0" y="2510028"/>
                  </a:lnTo>
                </a:path>
              </a:pathLst>
            </a:custGeom>
            <a:ln w="15875" cap="flat">
              <a:solidFill>
                <a:schemeClr val="tx2">
                  <a:lumMod val="40000"/>
                  <a:lumOff val="60000"/>
                </a:schemeClr>
              </a:solidFill>
              <a:prstDash val="dash"/>
              <a:miter/>
              <a:tailEnd type="oval"/>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65" name="文本框 64"/>
            <p:cNvSpPr txBox="1"/>
            <p:nvPr>
              <p:custDataLst>
                <p:tags r:id="rId34"/>
              </p:custDataLst>
            </p:nvPr>
          </p:nvSpPr>
          <p:spPr>
            <a:xfrm>
              <a:off x="14480" y="7097"/>
              <a:ext cx="3681" cy="2163"/>
            </a:xfrm>
            <a:prstGeom prst="rect">
              <a:avLst/>
            </a:prstGeom>
            <a:noFill/>
          </p:spPr>
          <p:txBody>
            <a:bodyPr wrap="square">
              <a:spAutoFit/>
            </a:bodyPr>
            <a:lstStyle/>
            <a:p>
              <a:pPr marL="228600" indent="-228600" algn="just">
                <a:lnSpc>
                  <a:spcPct val="150000"/>
                </a:lnSpc>
                <a:spcAft>
                  <a:spcPts val="1000"/>
                </a:spcAft>
                <a:buFont typeface="+mj-lt"/>
                <a:buAutoNum type="arabicPeriod"/>
              </a:pPr>
              <a:r>
                <a:rPr lang="zh-CN" altLang="en-US" sz="1000" b="1" dirty="0">
                  <a:solidFill>
                    <a:schemeClr val="tx2"/>
                  </a:solidFill>
                  <a:latin typeface="微软雅黑" panose="020B0503020204020204" charset="-122"/>
                  <a:ea typeface="微软雅黑" panose="020B0503020204020204" charset="-122"/>
                  <a:cs typeface="微软雅黑" panose="020B0503020204020204" charset="-122"/>
                </a:rPr>
                <a:t>洞察趋势：</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参与公司顶层战略讨论，能将行业趋势拆解为具体的运营落地动作，具备业务一号位视野。</a:t>
              </a:r>
              <a:endParaRPr lang="en-US" altLang="zh-CN" sz="1000" dirty="0">
                <a:solidFill>
                  <a:schemeClr val="tx2"/>
                </a:solidFill>
                <a:latin typeface="微软雅黑" panose="020B0503020204020204" charset="-122"/>
                <a:ea typeface="微软雅黑" panose="020B0503020204020204" charset="-122"/>
                <a:cs typeface="微软雅黑" panose="020B0503020204020204" charset="-122"/>
              </a:endParaRPr>
            </a:p>
            <a:p>
              <a:pPr marL="228600" indent="-228600" algn="just">
                <a:lnSpc>
                  <a:spcPct val="150000"/>
                </a:lnSpc>
                <a:spcAft>
                  <a:spcPts val="1000"/>
                </a:spcAft>
                <a:buFont typeface="+mj-lt"/>
                <a:buAutoNum type="arabicPeriod"/>
              </a:pPr>
              <a:r>
                <a:rPr lang="zh-CN" altLang="en-US" sz="1000" b="1" dirty="0">
                  <a:solidFill>
                    <a:schemeClr val="tx2"/>
                  </a:solidFill>
                  <a:latin typeface="微软雅黑" panose="020B0503020204020204" charset="-122"/>
                  <a:ea typeface="微软雅黑" panose="020B0503020204020204" charset="-122"/>
                  <a:cs typeface="微软雅黑" panose="020B0503020204020204" charset="-122"/>
                </a:rPr>
                <a:t>价值放大：</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审视运营资产，通过运营手段提升企业整体估值。</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6" name="矩形 65"/>
            <p:cNvSpPr/>
            <p:nvPr>
              <p:custDataLst>
                <p:tags r:id="rId35"/>
              </p:custDataLst>
            </p:nvPr>
          </p:nvSpPr>
          <p:spPr>
            <a:xfrm>
              <a:off x="14562" y="9640"/>
              <a:ext cx="3518" cy="533"/>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战略远见年</a:t>
              </a:r>
              <a:endParaRPr kumimoji="1" lang="zh-CN" altLang="en-US" sz="1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128" name="Google Shape;1681;p34"/>
          <p:cNvSpPr txBox="1"/>
          <p:nvPr>
            <p:custDataLst>
              <p:tags r:id="rId36"/>
            </p:custDataLst>
          </p:nvPr>
        </p:nvSpPr>
        <p:spPr>
          <a:xfrm>
            <a:off x="199390" y="3717925"/>
            <a:ext cx="620395" cy="234950"/>
          </a:xfrm>
          <a:prstGeom prst="rect">
            <a:avLst/>
          </a:prstGeom>
          <a:noFill/>
          <a:ln>
            <a:noFill/>
          </a:ln>
        </p:spPr>
        <p:txBody>
          <a:bodyPr spcFirstLastPara="1" wrap="square" lIns="25400" tIns="25400" rIns="25400" bIns="25400" anchor="t" anchorCtr="0">
            <a:spAutoFit/>
          </a:bodyPr>
          <a:lstStyle/>
          <a:p>
            <a:pPr marL="0" marR="0" lvl="0" indent="0" algn="ctr" defTabSz="914400" rtl="0" eaLnBrk="1" fontAlgn="auto" latinLnBrk="0" hangingPunct="1">
              <a:lnSpc>
                <a:spcPct val="100000"/>
              </a:lnSpc>
              <a:spcBef>
                <a:spcPts val="0"/>
              </a:spcBef>
              <a:spcAft>
                <a:spcPts val="0"/>
              </a:spcAft>
              <a:buClr>
                <a:prstClr val="black"/>
              </a:buClr>
              <a:buSzPts val="900"/>
              <a:buFontTx/>
              <a:buNone/>
              <a:defRPr/>
            </a:pPr>
            <a:r>
              <a:rPr kumimoji="0" 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2020</a:t>
            </a:r>
            <a:r>
              <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年</a:t>
            </a:r>
            <a:endPar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1" name="Google Shape;1681;p34"/>
          <p:cNvSpPr txBox="1"/>
          <p:nvPr>
            <p:custDataLst>
              <p:tags r:id="rId37"/>
            </p:custDataLst>
          </p:nvPr>
        </p:nvSpPr>
        <p:spPr>
          <a:xfrm>
            <a:off x="1419225" y="3717925"/>
            <a:ext cx="620395" cy="234950"/>
          </a:xfrm>
          <a:prstGeom prst="rect">
            <a:avLst/>
          </a:prstGeom>
          <a:noFill/>
          <a:ln>
            <a:noFill/>
          </a:ln>
        </p:spPr>
        <p:txBody>
          <a:bodyPr spcFirstLastPara="1" wrap="square" lIns="25400" tIns="25400" rIns="25400" bIns="25400" anchor="t" anchorCtr="0">
            <a:spAutoFit/>
          </a:bodyPr>
          <a:lstStyle/>
          <a:p>
            <a:pPr marL="0" marR="0" lvl="0" indent="0" algn="ctr" defTabSz="914400" rtl="0" eaLnBrk="1" fontAlgn="auto" latinLnBrk="0" hangingPunct="1">
              <a:lnSpc>
                <a:spcPct val="100000"/>
              </a:lnSpc>
              <a:spcBef>
                <a:spcPts val="0"/>
              </a:spcBef>
              <a:spcAft>
                <a:spcPts val="0"/>
              </a:spcAft>
              <a:buClr>
                <a:prstClr val="black"/>
              </a:buClr>
              <a:buSzPts val="900"/>
              <a:buFontTx/>
              <a:buNone/>
              <a:defRPr/>
            </a:pPr>
            <a:r>
              <a:rPr kumimoji="0" 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2021</a:t>
            </a:r>
            <a:r>
              <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年</a:t>
            </a:r>
            <a:endPar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2" name="Google Shape;1681;p34"/>
          <p:cNvSpPr txBox="1"/>
          <p:nvPr>
            <p:custDataLst>
              <p:tags r:id="rId38"/>
            </p:custDataLst>
          </p:nvPr>
        </p:nvSpPr>
        <p:spPr>
          <a:xfrm>
            <a:off x="2639060" y="3717925"/>
            <a:ext cx="620395" cy="234950"/>
          </a:xfrm>
          <a:prstGeom prst="rect">
            <a:avLst/>
          </a:prstGeom>
          <a:noFill/>
          <a:ln>
            <a:noFill/>
          </a:ln>
        </p:spPr>
        <p:txBody>
          <a:bodyPr spcFirstLastPara="1" wrap="square" lIns="25400" tIns="25400" rIns="25400" bIns="25400" anchor="t" anchorCtr="0">
            <a:spAutoFit/>
          </a:bodyPr>
          <a:lstStyle/>
          <a:p>
            <a:pPr marL="0" marR="0" lvl="0" indent="0" algn="ctr" defTabSz="914400" rtl="0" eaLnBrk="1" fontAlgn="auto" latinLnBrk="0" hangingPunct="1">
              <a:lnSpc>
                <a:spcPct val="100000"/>
              </a:lnSpc>
              <a:spcBef>
                <a:spcPts val="0"/>
              </a:spcBef>
              <a:spcAft>
                <a:spcPts val="0"/>
              </a:spcAft>
              <a:buClr>
                <a:prstClr val="black"/>
              </a:buClr>
              <a:buSzPts val="900"/>
              <a:buFontTx/>
              <a:buNone/>
              <a:defRPr/>
            </a:pPr>
            <a:r>
              <a:rPr kumimoji="0" 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2022</a:t>
            </a:r>
            <a:r>
              <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年</a:t>
            </a:r>
            <a:endPar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3" name="Google Shape;1681;p34"/>
          <p:cNvSpPr txBox="1"/>
          <p:nvPr>
            <p:custDataLst>
              <p:tags r:id="rId39"/>
            </p:custDataLst>
          </p:nvPr>
        </p:nvSpPr>
        <p:spPr>
          <a:xfrm>
            <a:off x="3858895" y="3717925"/>
            <a:ext cx="620395" cy="234950"/>
          </a:xfrm>
          <a:prstGeom prst="rect">
            <a:avLst/>
          </a:prstGeom>
          <a:noFill/>
          <a:ln>
            <a:noFill/>
          </a:ln>
        </p:spPr>
        <p:txBody>
          <a:bodyPr spcFirstLastPara="1" wrap="square" lIns="25400" tIns="25400" rIns="25400" bIns="25400" anchor="t" anchorCtr="0">
            <a:spAutoFit/>
          </a:bodyPr>
          <a:lstStyle/>
          <a:p>
            <a:pPr marL="0" marR="0" lvl="0" indent="0" algn="ctr" defTabSz="914400" rtl="0" eaLnBrk="1" fontAlgn="auto" latinLnBrk="0" hangingPunct="1">
              <a:lnSpc>
                <a:spcPct val="100000"/>
              </a:lnSpc>
              <a:spcBef>
                <a:spcPts val="0"/>
              </a:spcBef>
              <a:spcAft>
                <a:spcPts val="0"/>
              </a:spcAft>
              <a:buClr>
                <a:prstClr val="black"/>
              </a:buClr>
              <a:buSzPts val="900"/>
              <a:buFontTx/>
              <a:buNone/>
              <a:defRPr/>
            </a:pPr>
            <a:r>
              <a:rPr kumimoji="0" 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2023</a:t>
            </a:r>
            <a:r>
              <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年</a:t>
            </a:r>
            <a:endPar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4" name="Google Shape;1681;p34"/>
          <p:cNvSpPr txBox="1"/>
          <p:nvPr>
            <p:custDataLst>
              <p:tags r:id="rId40"/>
            </p:custDataLst>
          </p:nvPr>
        </p:nvSpPr>
        <p:spPr>
          <a:xfrm>
            <a:off x="5078730" y="3717925"/>
            <a:ext cx="620395" cy="234950"/>
          </a:xfrm>
          <a:prstGeom prst="rect">
            <a:avLst/>
          </a:prstGeom>
          <a:noFill/>
          <a:ln>
            <a:noFill/>
          </a:ln>
        </p:spPr>
        <p:txBody>
          <a:bodyPr spcFirstLastPara="1" wrap="square" lIns="25400" tIns="25400" rIns="25400" bIns="25400" anchor="t" anchorCtr="0">
            <a:spAutoFit/>
          </a:bodyPr>
          <a:lstStyle/>
          <a:p>
            <a:pPr marL="0" marR="0" lvl="0" indent="0" algn="ctr" defTabSz="914400" rtl="0" eaLnBrk="1" fontAlgn="auto" latinLnBrk="0" hangingPunct="1">
              <a:lnSpc>
                <a:spcPct val="100000"/>
              </a:lnSpc>
              <a:spcBef>
                <a:spcPts val="0"/>
              </a:spcBef>
              <a:spcAft>
                <a:spcPts val="0"/>
              </a:spcAft>
              <a:buClr>
                <a:prstClr val="black"/>
              </a:buClr>
              <a:buSzPts val="900"/>
              <a:buFontTx/>
              <a:buNone/>
              <a:defRPr/>
            </a:pPr>
            <a:r>
              <a:rPr kumimoji="0" 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2024</a:t>
            </a:r>
            <a:r>
              <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年</a:t>
            </a:r>
            <a:endPar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5" name="Google Shape;1681;p34"/>
          <p:cNvSpPr txBox="1"/>
          <p:nvPr>
            <p:custDataLst>
              <p:tags r:id="rId41"/>
            </p:custDataLst>
          </p:nvPr>
        </p:nvSpPr>
        <p:spPr>
          <a:xfrm>
            <a:off x="6298565" y="3717925"/>
            <a:ext cx="620395" cy="234950"/>
          </a:xfrm>
          <a:prstGeom prst="rect">
            <a:avLst/>
          </a:prstGeom>
          <a:noFill/>
          <a:ln>
            <a:noFill/>
          </a:ln>
        </p:spPr>
        <p:txBody>
          <a:bodyPr spcFirstLastPara="1" wrap="square" lIns="25400" tIns="25400" rIns="25400" bIns="25400" anchor="t" anchorCtr="0">
            <a:spAutoFit/>
          </a:bodyPr>
          <a:lstStyle/>
          <a:p>
            <a:pPr marL="0" marR="0" lvl="0" indent="0" algn="ctr" defTabSz="914400" rtl="0" eaLnBrk="1" fontAlgn="auto" latinLnBrk="0" hangingPunct="1">
              <a:lnSpc>
                <a:spcPct val="100000"/>
              </a:lnSpc>
              <a:spcBef>
                <a:spcPts val="0"/>
              </a:spcBef>
              <a:spcAft>
                <a:spcPts val="0"/>
              </a:spcAft>
              <a:buClr>
                <a:prstClr val="black"/>
              </a:buClr>
              <a:buSzPts val="900"/>
              <a:buFontTx/>
              <a:buNone/>
              <a:defRPr/>
            </a:pPr>
            <a:r>
              <a:rPr kumimoji="0" 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2025</a:t>
            </a:r>
            <a:r>
              <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年</a:t>
            </a:r>
            <a:endPar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6" name="Google Shape;1681;p34"/>
          <p:cNvSpPr txBox="1"/>
          <p:nvPr>
            <p:custDataLst>
              <p:tags r:id="rId42"/>
            </p:custDataLst>
          </p:nvPr>
        </p:nvSpPr>
        <p:spPr>
          <a:xfrm>
            <a:off x="7518400" y="3717925"/>
            <a:ext cx="620395" cy="234950"/>
          </a:xfrm>
          <a:prstGeom prst="rect">
            <a:avLst/>
          </a:prstGeom>
          <a:noFill/>
          <a:ln>
            <a:noFill/>
          </a:ln>
        </p:spPr>
        <p:txBody>
          <a:bodyPr spcFirstLastPara="1" wrap="square" lIns="25400" tIns="25400" rIns="25400" bIns="25400" anchor="t" anchorCtr="0">
            <a:spAutoFit/>
          </a:bodyPr>
          <a:lstStyle/>
          <a:p>
            <a:pPr marL="0" marR="0" lvl="0" indent="0" algn="ctr" defTabSz="914400" rtl="0" eaLnBrk="1" fontAlgn="auto" latinLnBrk="0" hangingPunct="1">
              <a:lnSpc>
                <a:spcPct val="100000"/>
              </a:lnSpc>
              <a:spcBef>
                <a:spcPts val="0"/>
              </a:spcBef>
              <a:spcAft>
                <a:spcPts val="0"/>
              </a:spcAft>
              <a:buClr>
                <a:prstClr val="black"/>
              </a:buClr>
              <a:buSzPts val="900"/>
              <a:buFontTx/>
              <a:buNone/>
              <a:defRPr/>
            </a:pPr>
            <a:r>
              <a:rPr kumimoji="0" 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2026</a:t>
            </a:r>
            <a:r>
              <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年</a:t>
            </a:r>
            <a:endPar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7" name="Google Shape;1681;p34"/>
          <p:cNvSpPr txBox="1"/>
          <p:nvPr>
            <p:custDataLst>
              <p:tags r:id="rId43"/>
            </p:custDataLst>
          </p:nvPr>
        </p:nvSpPr>
        <p:spPr>
          <a:xfrm>
            <a:off x="8738235" y="3717925"/>
            <a:ext cx="620395" cy="234950"/>
          </a:xfrm>
          <a:prstGeom prst="rect">
            <a:avLst/>
          </a:prstGeom>
          <a:noFill/>
          <a:ln>
            <a:noFill/>
          </a:ln>
        </p:spPr>
        <p:txBody>
          <a:bodyPr spcFirstLastPara="1" wrap="square" lIns="25400" tIns="25400" rIns="25400" bIns="25400" anchor="t" anchorCtr="0">
            <a:spAutoFit/>
          </a:bodyPr>
          <a:lstStyle/>
          <a:p>
            <a:pPr marL="0" marR="0" lvl="0" indent="0" algn="ctr" defTabSz="914400" rtl="0" eaLnBrk="1" fontAlgn="auto" latinLnBrk="0" hangingPunct="1">
              <a:lnSpc>
                <a:spcPct val="100000"/>
              </a:lnSpc>
              <a:spcBef>
                <a:spcPts val="0"/>
              </a:spcBef>
              <a:spcAft>
                <a:spcPts val="0"/>
              </a:spcAft>
              <a:buClr>
                <a:prstClr val="black"/>
              </a:buClr>
              <a:buSzPts val="900"/>
              <a:buFontTx/>
              <a:buNone/>
              <a:defRPr/>
            </a:pPr>
            <a:r>
              <a:rPr kumimoji="0" 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2027</a:t>
            </a:r>
            <a:r>
              <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年</a:t>
            </a:r>
            <a:endParaRPr kumimoji="0" lang="zh-CN" altLang="en-US" sz="1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179" name="组合 178"/>
          <p:cNvGrpSpPr/>
          <p:nvPr>
            <p:custDataLst>
              <p:tags r:id="rId44"/>
            </p:custDataLst>
          </p:nvPr>
        </p:nvGrpSpPr>
        <p:grpSpPr>
          <a:xfrm rot="0">
            <a:off x="8743315" y="-690880"/>
            <a:ext cx="2085975" cy="189865"/>
            <a:chOff x="776" y="5508"/>
            <a:chExt cx="2851" cy="394"/>
          </a:xfrm>
        </p:grpSpPr>
        <p:cxnSp>
          <p:nvCxnSpPr>
            <p:cNvPr id="180" name="猫爪PPT-2-3"/>
            <p:cNvCxnSpPr/>
            <p:nvPr>
              <p:custDataLst>
                <p:tags r:id="rId45"/>
              </p:custDataLst>
            </p:nvPr>
          </p:nvCxnSpPr>
          <p:spPr>
            <a:xfrm>
              <a:off x="776" y="5679"/>
              <a:ext cx="0" cy="223"/>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1" name="猫爪PPT-2-4"/>
            <p:cNvCxnSpPr/>
            <p:nvPr>
              <p:custDataLst>
                <p:tags r:id="rId46"/>
              </p:custDataLst>
            </p:nvPr>
          </p:nvCxnSpPr>
          <p:spPr>
            <a:xfrm>
              <a:off x="943" y="5679"/>
              <a:ext cx="0" cy="223"/>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2" name="猫爪PPT-2-5"/>
            <p:cNvCxnSpPr/>
            <p:nvPr>
              <p:custDataLst>
                <p:tags r:id="rId47"/>
              </p:custDataLst>
            </p:nvPr>
          </p:nvCxnSpPr>
          <p:spPr>
            <a:xfrm>
              <a:off x="1111" y="5679"/>
              <a:ext cx="0" cy="223"/>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3" name="猫爪PPT-2-6"/>
            <p:cNvCxnSpPr/>
            <p:nvPr>
              <p:custDataLst>
                <p:tags r:id="rId48"/>
              </p:custDataLst>
            </p:nvPr>
          </p:nvCxnSpPr>
          <p:spPr>
            <a:xfrm>
              <a:off x="1279" y="5679"/>
              <a:ext cx="0" cy="223"/>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4" name="猫爪PPT-2-7"/>
            <p:cNvCxnSpPr/>
            <p:nvPr>
              <p:custDataLst>
                <p:tags r:id="rId49"/>
              </p:custDataLst>
            </p:nvPr>
          </p:nvCxnSpPr>
          <p:spPr>
            <a:xfrm>
              <a:off x="1614" y="5679"/>
              <a:ext cx="0" cy="223"/>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5" name="猫爪PPT-2-8"/>
            <p:cNvCxnSpPr/>
            <p:nvPr>
              <p:custDataLst>
                <p:tags r:id="rId50"/>
              </p:custDataLst>
            </p:nvPr>
          </p:nvCxnSpPr>
          <p:spPr>
            <a:xfrm>
              <a:off x="1950" y="5679"/>
              <a:ext cx="0" cy="223"/>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6" name="猫爪PPT-2-9"/>
            <p:cNvCxnSpPr/>
            <p:nvPr>
              <p:custDataLst>
                <p:tags r:id="rId51"/>
              </p:custDataLst>
            </p:nvPr>
          </p:nvCxnSpPr>
          <p:spPr>
            <a:xfrm>
              <a:off x="1447" y="5679"/>
              <a:ext cx="0" cy="223"/>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7" name="猫爪PPT-2-10"/>
            <p:cNvCxnSpPr/>
            <p:nvPr>
              <p:custDataLst>
                <p:tags r:id="rId52"/>
              </p:custDataLst>
            </p:nvPr>
          </p:nvCxnSpPr>
          <p:spPr>
            <a:xfrm>
              <a:off x="1782" y="5679"/>
              <a:ext cx="0" cy="223"/>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8" name="猫爪PPT-2-11"/>
            <p:cNvCxnSpPr/>
            <p:nvPr>
              <p:custDataLst>
                <p:tags r:id="rId53"/>
              </p:custDataLst>
            </p:nvPr>
          </p:nvCxnSpPr>
          <p:spPr>
            <a:xfrm>
              <a:off x="2117" y="5679"/>
              <a:ext cx="0" cy="223"/>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9" name="猫爪PPT-2-12"/>
            <p:cNvCxnSpPr/>
            <p:nvPr>
              <p:custDataLst>
                <p:tags r:id="rId54"/>
              </p:custDataLst>
            </p:nvPr>
          </p:nvCxnSpPr>
          <p:spPr>
            <a:xfrm>
              <a:off x="2285" y="5679"/>
              <a:ext cx="0" cy="223"/>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90" name="猫爪PPT-2-13"/>
            <p:cNvCxnSpPr/>
            <p:nvPr>
              <p:custDataLst>
                <p:tags r:id="rId55"/>
              </p:custDataLst>
            </p:nvPr>
          </p:nvCxnSpPr>
          <p:spPr>
            <a:xfrm>
              <a:off x="2453" y="5679"/>
              <a:ext cx="0" cy="223"/>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91" name="猫爪PPT-2-14"/>
            <p:cNvCxnSpPr/>
            <p:nvPr>
              <p:custDataLst>
                <p:tags r:id="rId56"/>
              </p:custDataLst>
            </p:nvPr>
          </p:nvCxnSpPr>
          <p:spPr>
            <a:xfrm>
              <a:off x="2620" y="5508"/>
              <a:ext cx="0" cy="394"/>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92" name="猫爪PPT-2-15"/>
            <p:cNvCxnSpPr/>
            <p:nvPr>
              <p:custDataLst>
                <p:tags r:id="rId57"/>
              </p:custDataLst>
            </p:nvPr>
          </p:nvCxnSpPr>
          <p:spPr>
            <a:xfrm>
              <a:off x="2788" y="5679"/>
              <a:ext cx="0" cy="223"/>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93" name="猫爪PPT-2-16"/>
            <p:cNvCxnSpPr/>
            <p:nvPr>
              <p:custDataLst>
                <p:tags r:id="rId58"/>
              </p:custDataLst>
            </p:nvPr>
          </p:nvCxnSpPr>
          <p:spPr>
            <a:xfrm>
              <a:off x="2956" y="5679"/>
              <a:ext cx="0" cy="223"/>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94" name="猫爪PPT-2-17"/>
            <p:cNvCxnSpPr/>
            <p:nvPr>
              <p:custDataLst>
                <p:tags r:id="rId59"/>
              </p:custDataLst>
            </p:nvPr>
          </p:nvCxnSpPr>
          <p:spPr>
            <a:xfrm>
              <a:off x="3124" y="5679"/>
              <a:ext cx="0" cy="223"/>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95" name="猫爪PPT-2-18"/>
            <p:cNvCxnSpPr/>
            <p:nvPr>
              <p:custDataLst>
                <p:tags r:id="rId60"/>
              </p:custDataLst>
            </p:nvPr>
          </p:nvCxnSpPr>
          <p:spPr>
            <a:xfrm>
              <a:off x="3291" y="5679"/>
              <a:ext cx="0" cy="223"/>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96" name="猫爪PPT-2-19"/>
            <p:cNvCxnSpPr/>
            <p:nvPr>
              <p:custDataLst>
                <p:tags r:id="rId61"/>
              </p:custDataLst>
            </p:nvPr>
          </p:nvCxnSpPr>
          <p:spPr>
            <a:xfrm>
              <a:off x="3459" y="5679"/>
              <a:ext cx="0" cy="223"/>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97" name="猫爪PPT-2-20"/>
            <p:cNvCxnSpPr/>
            <p:nvPr>
              <p:custDataLst>
                <p:tags r:id="rId62"/>
              </p:custDataLst>
            </p:nvPr>
          </p:nvCxnSpPr>
          <p:spPr>
            <a:xfrm>
              <a:off x="3627" y="5679"/>
              <a:ext cx="0" cy="223"/>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cxnSp>
        <p:nvCxnSpPr>
          <p:cNvPr id="199" name="猫爪PPT-2-21"/>
          <p:cNvCxnSpPr/>
          <p:nvPr>
            <p:custDataLst>
              <p:tags r:id="rId63"/>
            </p:custDataLst>
          </p:nvPr>
        </p:nvCxnSpPr>
        <p:spPr>
          <a:xfrm>
            <a:off x="63246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00" name="猫爪PPT-2-22"/>
          <p:cNvCxnSpPr/>
          <p:nvPr>
            <p:custDataLst>
              <p:tags r:id="rId64"/>
            </p:custDataLst>
          </p:nvPr>
        </p:nvCxnSpPr>
        <p:spPr>
          <a:xfrm>
            <a:off x="75565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02" name="猫爪PPT-2-23"/>
          <p:cNvCxnSpPr/>
          <p:nvPr>
            <p:custDataLst>
              <p:tags r:id="rId65"/>
            </p:custDataLst>
          </p:nvPr>
        </p:nvCxnSpPr>
        <p:spPr>
          <a:xfrm>
            <a:off x="878205"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03" name="猫爪PPT-2-24"/>
          <p:cNvCxnSpPr/>
          <p:nvPr>
            <p:custDataLst>
              <p:tags r:id="rId66"/>
            </p:custDataLst>
          </p:nvPr>
        </p:nvCxnSpPr>
        <p:spPr>
          <a:xfrm>
            <a:off x="1001395"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04" name="猫爪PPT-2-25"/>
          <p:cNvCxnSpPr/>
          <p:nvPr>
            <p:custDataLst>
              <p:tags r:id="rId67"/>
            </p:custDataLst>
          </p:nvPr>
        </p:nvCxnSpPr>
        <p:spPr>
          <a:xfrm>
            <a:off x="1123315"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05" name="猫爪PPT-2-26"/>
          <p:cNvCxnSpPr/>
          <p:nvPr>
            <p:custDataLst>
              <p:tags r:id="rId68"/>
            </p:custDataLst>
          </p:nvPr>
        </p:nvCxnSpPr>
        <p:spPr>
          <a:xfrm>
            <a:off x="1246505" y="-678180"/>
            <a:ext cx="0" cy="18986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06" name="猫爪PPT-2-27"/>
          <p:cNvCxnSpPr/>
          <p:nvPr>
            <p:custDataLst>
              <p:tags r:id="rId69"/>
            </p:custDataLst>
          </p:nvPr>
        </p:nvCxnSpPr>
        <p:spPr>
          <a:xfrm>
            <a:off x="136906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07" name="猫爪PPT-2-28"/>
          <p:cNvCxnSpPr/>
          <p:nvPr>
            <p:custDataLst>
              <p:tags r:id="rId70"/>
            </p:custDataLst>
          </p:nvPr>
        </p:nvCxnSpPr>
        <p:spPr>
          <a:xfrm>
            <a:off x="1491615"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08" name="猫爪PPT-2-29"/>
          <p:cNvCxnSpPr/>
          <p:nvPr>
            <p:custDataLst>
              <p:tags r:id="rId71"/>
            </p:custDataLst>
          </p:nvPr>
        </p:nvCxnSpPr>
        <p:spPr>
          <a:xfrm>
            <a:off x="161417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09" name="猫爪PPT-2-30"/>
          <p:cNvCxnSpPr/>
          <p:nvPr>
            <p:custDataLst>
              <p:tags r:id="rId72"/>
            </p:custDataLst>
          </p:nvPr>
        </p:nvCxnSpPr>
        <p:spPr>
          <a:xfrm>
            <a:off x="173736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0" name="猫爪PPT-2-31"/>
          <p:cNvCxnSpPr/>
          <p:nvPr>
            <p:custDataLst>
              <p:tags r:id="rId73"/>
            </p:custDataLst>
          </p:nvPr>
        </p:nvCxnSpPr>
        <p:spPr>
          <a:xfrm>
            <a:off x="186055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1" name="猫爪PPT-2-32"/>
          <p:cNvCxnSpPr/>
          <p:nvPr>
            <p:custDataLst>
              <p:tags r:id="rId74"/>
            </p:custDataLst>
          </p:nvPr>
        </p:nvCxnSpPr>
        <p:spPr>
          <a:xfrm>
            <a:off x="198247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2" name="猫爪PPT-2-33"/>
          <p:cNvCxnSpPr/>
          <p:nvPr>
            <p:custDataLst>
              <p:tags r:id="rId75"/>
            </p:custDataLst>
          </p:nvPr>
        </p:nvCxnSpPr>
        <p:spPr>
          <a:xfrm>
            <a:off x="210566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3" name="猫爪PPT-2-34"/>
          <p:cNvCxnSpPr/>
          <p:nvPr>
            <p:custDataLst>
              <p:tags r:id="rId76"/>
            </p:custDataLst>
          </p:nvPr>
        </p:nvCxnSpPr>
        <p:spPr>
          <a:xfrm>
            <a:off x="2228215"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4" name="猫爪PPT-2-35"/>
          <p:cNvCxnSpPr/>
          <p:nvPr>
            <p:custDataLst>
              <p:tags r:id="rId77"/>
            </p:custDataLst>
          </p:nvPr>
        </p:nvCxnSpPr>
        <p:spPr>
          <a:xfrm>
            <a:off x="235077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5" name="猫爪PPT-2-36"/>
          <p:cNvCxnSpPr/>
          <p:nvPr>
            <p:custDataLst>
              <p:tags r:id="rId78"/>
            </p:custDataLst>
          </p:nvPr>
        </p:nvCxnSpPr>
        <p:spPr>
          <a:xfrm>
            <a:off x="2473325"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6" name="猫爪PPT-2-37"/>
          <p:cNvCxnSpPr/>
          <p:nvPr>
            <p:custDataLst>
              <p:tags r:id="rId79"/>
            </p:custDataLst>
          </p:nvPr>
        </p:nvCxnSpPr>
        <p:spPr>
          <a:xfrm>
            <a:off x="2596515"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7" name="猫爪PPT-2-38"/>
          <p:cNvCxnSpPr/>
          <p:nvPr>
            <p:custDataLst>
              <p:tags r:id="rId80"/>
            </p:custDataLst>
          </p:nvPr>
        </p:nvCxnSpPr>
        <p:spPr>
          <a:xfrm>
            <a:off x="2718435" y="-678180"/>
            <a:ext cx="0" cy="18986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8" name="猫爪PPT-2-39"/>
          <p:cNvCxnSpPr/>
          <p:nvPr>
            <p:custDataLst>
              <p:tags r:id="rId81"/>
            </p:custDataLst>
          </p:nvPr>
        </p:nvCxnSpPr>
        <p:spPr>
          <a:xfrm>
            <a:off x="2841625"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9" name="猫爪PPT-2-40"/>
          <p:cNvCxnSpPr/>
          <p:nvPr>
            <p:custDataLst>
              <p:tags r:id="rId82"/>
            </p:custDataLst>
          </p:nvPr>
        </p:nvCxnSpPr>
        <p:spPr>
          <a:xfrm>
            <a:off x="2964815"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26" name="猫爪PPT-2-41"/>
          <p:cNvCxnSpPr/>
          <p:nvPr>
            <p:custDataLst>
              <p:tags r:id="rId83"/>
            </p:custDataLst>
          </p:nvPr>
        </p:nvCxnSpPr>
        <p:spPr>
          <a:xfrm>
            <a:off x="308737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27" name="猫爪PPT-2-42"/>
          <p:cNvCxnSpPr/>
          <p:nvPr>
            <p:custDataLst>
              <p:tags r:id="rId84"/>
            </p:custDataLst>
          </p:nvPr>
        </p:nvCxnSpPr>
        <p:spPr>
          <a:xfrm>
            <a:off x="3209925"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28" name="猫爪PPT-2-43"/>
          <p:cNvCxnSpPr/>
          <p:nvPr>
            <p:custDataLst>
              <p:tags r:id="rId85"/>
            </p:custDataLst>
          </p:nvPr>
        </p:nvCxnSpPr>
        <p:spPr>
          <a:xfrm>
            <a:off x="333248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29" name="猫爪PPT-2-44"/>
          <p:cNvCxnSpPr/>
          <p:nvPr>
            <p:custDataLst>
              <p:tags r:id="rId86"/>
            </p:custDataLst>
          </p:nvPr>
        </p:nvCxnSpPr>
        <p:spPr>
          <a:xfrm>
            <a:off x="345567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1" name="猫爪PPT-2-45"/>
          <p:cNvCxnSpPr/>
          <p:nvPr>
            <p:custDataLst>
              <p:tags r:id="rId87"/>
            </p:custDataLst>
          </p:nvPr>
        </p:nvCxnSpPr>
        <p:spPr>
          <a:xfrm>
            <a:off x="357759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4" name="猫爪PPT-2-46"/>
          <p:cNvCxnSpPr/>
          <p:nvPr>
            <p:custDataLst>
              <p:tags r:id="rId88"/>
            </p:custDataLst>
          </p:nvPr>
        </p:nvCxnSpPr>
        <p:spPr>
          <a:xfrm>
            <a:off x="370078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5" name="猫爪PPT-2-47"/>
          <p:cNvCxnSpPr/>
          <p:nvPr>
            <p:custDataLst>
              <p:tags r:id="rId89"/>
            </p:custDataLst>
          </p:nvPr>
        </p:nvCxnSpPr>
        <p:spPr>
          <a:xfrm>
            <a:off x="3823335"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3" name="猫爪PPT-2-48"/>
          <p:cNvCxnSpPr/>
          <p:nvPr>
            <p:custDataLst>
              <p:tags r:id="rId90"/>
            </p:custDataLst>
          </p:nvPr>
        </p:nvCxnSpPr>
        <p:spPr>
          <a:xfrm>
            <a:off x="3946525"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5" name="猫爪PPT-2-49"/>
          <p:cNvCxnSpPr/>
          <p:nvPr>
            <p:custDataLst>
              <p:tags r:id="rId91"/>
            </p:custDataLst>
          </p:nvPr>
        </p:nvCxnSpPr>
        <p:spPr>
          <a:xfrm>
            <a:off x="4068445"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0" name="猫爪PPT-2-50"/>
          <p:cNvCxnSpPr/>
          <p:nvPr>
            <p:custDataLst>
              <p:tags r:id="rId92"/>
            </p:custDataLst>
          </p:nvPr>
        </p:nvCxnSpPr>
        <p:spPr>
          <a:xfrm>
            <a:off x="4191635" y="-678180"/>
            <a:ext cx="0" cy="18986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3" name="猫爪PPT-2-51"/>
          <p:cNvCxnSpPr/>
          <p:nvPr>
            <p:custDataLst>
              <p:tags r:id="rId93"/>
            </p:custDataLst>
          </p:nvPr>
        </p:nvCxnSpPr>
        <p:spPr>
          <a:xfrm>
            <a:off x="4314825"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4" name="猫爪PPT-2-52"/>
          <p:cNvCxnSpPr/>
          <p:nvPr>
            <p:custDataLst>
              <p:tags r:id="rId94"/>
            </p:custDataLst>
          </p:nvPr>
        </p:nvCxnSpPr>
        <p:spPr>
          <a:xfrm>
            <a:off x="4436745"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6" name="猫爪PPT-2-53"/>
          <p:cNvCxnSpPr/>
          <p:nvPr>
            <p:custDataLst>
              <p:tags r:id="rId95"/>
            </p:custDataLst>
          </p:nvPr>
        </p:nvCxnSpPr>
        <p:spPr>
          <a:xfrm>
            <a:off x="4559935"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7" name="猫爪PPT-2-54"/>
          <p:cNvCxnSpPr/>
          <p:nvPr>
            <p:custDataLst>
              <p:tags r:id="rId96"/>
            </p:custDataLst>
          </p:nvPr>
        </p:nvCxnSpPr>
        <p:spPr>
          <a:xfrm>
            <a:off x="468249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8" name="猫爪PPT-2-55"/>
          <p:cNvCxnSpPr/>
          <p:nvPr>
            <p:custDataLst>
              <p:tags r:id="rId97"/>
            </p:custDataLst>
          </p:nvPr>
        </p:nvCxnSpPr>
        <p:spPr>
          <a:xfrm>
            <a:off x="4805045"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9" name="猫爪PPT-2-56"/>
          <p:cNvCxnSpPr/>
          <p:nvPr>
            <p:custDataLst>
              <p:tags r:id="rId98"/>
            </p:custDataLst>
          </p:nvPr>
        </p:nvCxnSpPr>
        <p:spPr>
          <a:xfrm>
            <a:off x="492760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0" name="猫爪PPT-2-57"/>
          <p:cNvCxnSpPr/>
          <p:nvPr>
            <p:custDataLst>
              <p:tags r:id="rId99"/>
            </p:custDataLst>
          </p:nvPr>
        </p:nvCxnSpPr>
        <p:spPr>
          <a:xfrm>
            <a:off x="505079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1" name="猫爪PPT-2-58"/>
          <p:cNvCxnSpPr/>
          <p:nvPr>
            <p:custDataLst>
              <p:tags r:id="rId100"/>
            </p:custDataLst>
          </p:nvPr>
        </p:nvCxnSpPr>
        <p:spPr>
          <a:xfrm>
            <a:off x="517398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2" name="猫爪PPT-2-59"/>
          <p:cNvCxnSpPr/>
          <p:nvPr>
            <p:custDataLst>
              <p:tags r:id="rId101"/>
            </p:custDataLst>
          </p:nvPr>
        </p:nvCxnSpPr>
        <p:spPr>
          <a:xfrm>
            <a:off x="529590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3" name="猫爪PPT-2-60"/>
          <p:cNvCxnSpPr/>
          <p:nvPr>
            <p:custDataLst>
              <p:tags r:id="rId102"/>
            </p:custDataLst>
          </p:nvPr>
        </p:nvCxnSpPr>
        <p:spPr>
          <a:xfrm>
            <a:off x="541909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4" name="猫爪PPT-2-61"/>
          <p:cNvCxnSpPr/>
          <p:nvPr>
            <p:custDataLst>
              <p:tags r:id="rId103"/>
            </p:custDataLst>
          </p:nvPr>
        </p:nvCxnSpPr>
        <p:spPr>
          <a:xfrm>
            <a:off x="5541645"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5" name="猫爪PPT-2-62"/>
          <p:cNvCxnSpPr/>
          <p:nvPr>
            <p:custDataLst>
              <p:tags r:id="rId104"/>
            </p:custDataLst>
          </p:nvPr>
        </p:nvCxnSpPr>
        <p:spPr>
          <a:xfrm>
            <a:off x="5664200" y="-678180"/>
            <a:ext cx="0" cy="18986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7" name="猫爪PPT-2-63"/>
          <p:cNvCxnSpPr/>
          <p:nvPr>
            <p:custDataLst>
              <p:tags r:id="rId105"/>
            </p:custDataLst>
          </p:nvPr>
        </p:nvCxnSpPr>
        <p:spPr>
          <a:xfrm>
            <a:off x="5786755"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8" name="猫爪PPT-2-64"/>
          <p:cNvCxnSpPr/>
          <p:nvPr>
            <p:custDataLst>
              <p:tags r:id="rId106"/>
            </p:custDataLst>
          </p:nvPr>
        </p:nvCxnSpPr>
        <p:spPr>
          <a:xfrm>
            <a:off x="5909945"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9" name="猫爪PPT-2-65"/>
          <p:cNvCxnSpPr/>
          <p:nvPr>
            <p:custDataLst>
              <p:tags r:id="rId107"/>
            </p:custDataLst>
          </p:nvPr>
        </p:nvCxnSpPr>
        <p:spPr>
          <a:xfrm>
            <a:off x="603250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0" name="猫爪PPT-2-66"/>
          <p:cNvCxnSpPr/>
          <p:nvPr>
            <p:custDataLst>
              <p:tags r:id="rId108"/>
            </p:custDataLst>
          </p:nvPr>
        </p:nvCxnSpPr>
        <p:spPr>
          <a:xfrm>
            <a:off x="6155055"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1" name="猫爪PPT-2-67"/>
          <p:cNvCxnSpPr/>
          <p:nvPr>
            <p:custDataLst>
              <p:tags r:id="rId109"/>
            </p:custDataLst>
          </p:nvPr>
        </p:nvCxnSpPr>
        <p:spPr>
          <a:xfrm>
            <a:off x="627761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2" name="猫爪PPT-2-68"/>
          <p:cNvCxnSpPr/>
          <p:nvPr>
            <p:custDataLst>
              <p:tags r:id="rId110"/>
            </p:custDataLst>
          </p:nvPr>
        </p:nvCxnSpPr>
        <p:spPr>
          <a:xfrm>
            <a:off x="640080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3" name="猫爪PPT-2-69"/>
          <p:cNvCxnSpPr/>
          <p:nvPr>
            <p:custDataLst>
              <p:tags r:id="rId111"/>
            </p:custDataLst>
          </p:nvPr>
        </p:nvCxnSpPr>
        <p:spPr>
          <a:xfrm>
            <a:off x="6523355"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4" name="猫爪PPT-2-70"/>
          <p:cNvCxnSpPr/>
          <p:nvPr>
            <p:custDataLst>
              <p:tags r:id="rId112"/>
            </p:custDataLst>
          </p:nvPr>
        </p:nvCxnSpPr>
        <p:spPr>
          <a:xfrm>
            <a:off x="664591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5" name="猫爪PPT-2-71"/>
          <p:cNvCxnSpPr/>
          <p:nvPr>
            <p:custDataLst>
              <p:tags r:id="rId113"/>
            </p:custDataLst>
          </p:nvPr>
        </p:nvCxnSpPr>
        <p:spPr>
          <a:xfrm>
            <a:off x="676910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6" name="猫爪PPT-2-72"/>
          <p:cNvCxnSpPr/>
          <p:nvPr>
            <p:custDataLst>
              <p:tags r:id="rId114"/>
            </p:custDataLst>
          </p:nvPr>
        </p:nvCxnSpPr>
        <p:spPr>
          <a:xfrm>
            <a:off x="6891655"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7" name="猫爪PPT-2-73"/>
          <p:cNvCxnSpPr/>
          <p:nvPr>
            <p:custDataLst>
              <p:tags r:id="rId115"/>
            </p:custDataLst>
          </p:nvPr>
        </p:nvCxnSpPr>
        <p:spPr>
          <a:xfrm>
            <a:off x="701421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8" name="猫爪PPT-2-74"/>
          <p:cNvCxnSpPr/>
          <p:nvPr>
            <p:custDataLst>
              <p:tags r:id="rId116"/>
            </p:custDataLst>
          </p:nvPr>
        </p:nvCxnSpPr>
        <p:spPr>
          <a:xfrm>
            <a:off x="7136765" y="-678180"/>
            <a:ext cx="0" cy="18986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nvGrpSpPr>
          <p:cNvPr id="359" name="组合 358"/>
          <p:cNvGrpSpPr/>
          <p:nvPr>
            <p:custDataLst>
              <p:tags r:id="rId117"/>
            </p:custDataLst>
          </p:nvPr>
        </p:nvGrpSpPr>
        <p:grpSpPr>
          <a:xfrm rot="0">
            <a:off x="7259955" y="-595630"/>
            <a:ext cx="981710" cy="107315"/>
            <a:chOff x="9379868" y="2818486"/>
            <a:chExt cx="994528" cy="195921"/>
          </a:xfrm>
        </p:grpSpPr>
        <p:cxnSp>
          <p:nvCxnSpPr>
            <p:cNvPr id="360" name="猫爪PPT-2-75"/>
            <p:cNvCxnSpPr/>
            <p:nvPr>
              <p:custDataLst>
                <p:tags r:id="rId118"/>
              </p:custDataLst>
            </p:nvPr>
          </p:nvCxnSpPr>
          <p:spPr>
            <a:xfrm>
              <a:off x="9379868" y="2818486"/>
              <a:ext cx="0" cy="195921"/>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1" name="猫爪PPT-2-76"/>
            <p:cNvCxnSpPr/>
            <p:nvPr>
              <p:custDataLst>
                <p:tags r:id="rId119"/>
              </p:custDataLst>
            </p:nvPr>
          </p:nvCxnSpPr>
          <p:spPr>
            <a:xfrm>
              <a:off x="9504184" y="2818486"/>
              <a:ext cx="0" cy="195921"/>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2" name="猫爪PPT-2-77"/>
            <p:cNvCxnSpPr/>
            <p:nvPr>
              <p:custDataLst>
                <p:tags r:id="rId120"/>
              </p:custDataLst>
            </p:nvPr>
          </p:nvCxnSpPr>
          <p:spPr>
            <a:xfrm>
              <a:off x="9628500" y="2818486"/>
              <a:ext cx="0" cy="195921"/>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3" name="猫爪PPT-2-78"/>
            <p:cNvCxnSpPr/>
            <p:nvPr>
              <p:custDataLst>
                <p:tags r:id="rId121"/>
              </p:custDataLst>
            </p:nvPr>
          </p:nvCxnSpPr>
          <p:spPr>
            <a:xfrm>
              <a:off x="9877132" y="2818486"/>
              <a:ext cx="0" cy="195921"/>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4" name="猫爪PPT-2-79"/>
            <p:cNvCxnSpPr/>
            <p:nvPr>
              <p:custDataLst>
                <p:tags r:id="rId122"/>
              </p:custDataLst>
            </p:nvPr>
          </p:nvCxnSpPr>
          <p:spPr>
            <a:xfrm>
              <a:off x="10125764" y="2818486"/>
              <a:ext cx="0" cy="195921"/>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5" name="猫爪PPT-2-80"/>
            <p:cNvCxnSpPr/>
            <p:nvPr>
              <p:custDataLst>
                <p:tags r:id="rId123"/>
              </p:custDataLst>
            </p:nvPr>
          </p:nvCxnSpPr>
          <p:spPr>
            <a:xfrm>
              <a:off x="9752816" y="2818486"/>
              <a:ext cx="0" cy="195921"/>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6" name="猫爪PPT-2-81"/>
            <p:cNvCxnSpPr/>
            <p:nvPr>
              <p:custDataLst>
                <p:tags r:id="rId124"/>
              </p:custDataLst>
            </p:nvPr>
          </p:nvCxnSpPr>
          <p:spPr>
            <a:xfrm>
              <a:off x="10001448" y="2818486"/>
              <a:ext cx="0" cy="195921"/>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7" name="猫爪PPT-2-82"/>
            <p:cNvCxnSpPr/>
            <p:nvPr>
              <p:custDataLst>
                <p:tags r:id="rId125"/>
              </p:custDataLst>
            </p:nvPr>
          </p:nvCxnSpPr>
          <p:spPr>
            <a:xfrm>
              <a:off x="10250080" y="2818486"/>
              <a:ext cx="0" cy="195921"/>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8" name="猫爪PPT-2-83"/>
            <p:cNvCxnSpPr/>
            <p:nvPr>
              <p:custDataLst>
                <p:tags r:id="rId126"/>
              </p:custDataLst>
            </p:nvPr>
          </p:nvCxnSpPr>
          <p:spPr>
            <a:xfrm>
              <a:off x="10374396" y="2818486"/>
              <a:ext cx="0" cy="195921"/>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cxnSp>
        <p:nvCxnSpPr>
          <p:cNvPr id="369" name="猫爪PPT-2-84"/>
          <p:cNvCxnSpPr/>
          <p:nvPr>
            <p:custDataLst>
              <p:tags r:id="rId127"/>
            </p:custDataLst>
          </p:nvPr>
        </p:nvCxnSpPr>
        <p:spPr>
          <a:xfrm>
            <a:off x="8364220"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0" name="猫爪PPT-2-85"/>
          <p:cNvCxnSpPr/>
          <p:nvPr>
            <p:custDataLst>
              <p:tags r:id="rId128"/>
            </p:custDataLst>
          </p:nvPr>
        </p:nvCxnSpPr>
        <p:spPr>
          <a:xfrm>
            <a:off x="8486775" y="-595630"/>
            <a:ext cx="0" cy="10731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1" name="猫爪PPT-2-86"/>
          <p:cNvCxnSpPr/>
          <p:nvPr>
            <p:custDataLst>
              <p:tags r:id="rId129"/>
            </p:custDataLst>
          </p:nvPr>
        </p:nvCxnSpPr>
        <p:spPr>
          <a:xfrm>
            <a:off x="8609330" y="-678180"/>
            <a:ext cx="0" cy="18986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nvGrpSpPr>
          <p:cNvPr id="372" name="组合 371"/>
          <p:cNvGrpSpPr/>
          <p:nvPr>
            <p:custDataLst>
              <p:tags r:id="rId130"/>
            </p:custDataLst>
          </p:nvPr>
        </p:nvGrpSpPr>
        <p:grpSpPr>
          <a:xfrm rot="0">
            <a:off x="10931525" y="-688975"/>
            <a:ext cx="613410" cy="189865"/>
            <a:chOff x="1782" y="5508"/>
            <a:chExt cx="838" cy="394"/>
          </a:xfrm>
        </p:grpSpPr>
        <p:cxnSp>
          <p:nvCxnSpPr>
            <p:cNvPr id="373" name="猫爪PPT-2-8"/>
            <p:cNvCxnSpPr/>
            <p:nvPr>
              <p:custDataLst>
                <p:tags r:id="rId131"/>
              </p:custDataLst>
            </p:nvPr>
          </p:nvCxnSpPr>
          <p:spPr>
            <a:xfrm>
              <a:off x="1950" y="5679"/>
              <a:ext cx="0" cy="223"/>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4" name="猫爪PPT-2-10"/>
            <p:cNvCxnSpPr/>
            <p:nvPr>
              <p:custDataLst>
                <p:tags r:id="rId132"/>
              </p:custDataLst>
            </p:nvPr>
          </p:nvCxnSpPr>
          <p:spPr>
            <a:xfrm>
              <a:off x="1782" y="5679"/>
              <a:ext cx="0" cy="223"/>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5" name="猫爪PPT-2-11"/>
            <p:cNvCxnSpPr/>
            <p:nvPr>
              <p:custDataLst>
                <p:tags r:id="rId133"/>
              </p:custDataLst>
            </p:nvPr>
          </p:nvCxnSpPr>
          <p:spPr>
            <a:xfrm>
              <a:off x="2117" y="5679"/>
              <a:ext cx="0" cy="223"/>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6" name="猫爪PPT-2-12"/>
            <p:cNvCxnSpPr/>
            <p:nvPr>
              <p:custDataLst>
                <p:tags r:id="rId134"/>
              </p:custDataLst>
            </p:nvPr>
          </p:nvCxnSpPr>
          <p:spPr>
            <a:xfrm>
              <a:off x="2285" y="5679"/>
              <a:ext cx="0" cy="223"/>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7" name="猫爪PPT-2-13"/>
            <p:cNvCxnSpPr/>
            <p:nvPr>
              <p:custDataLst>
                <p:tags r:id="rId135"/>
              </p:custDataLst>
            </p:nvPr>
          </p:nvCxnSpPr>
          <p:spPr>
            <a:xfrm>
              <a:off x="2453" y="5679"/>
              <a:ext cx="0" cy="223"/>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8" name="猫爪PPT-2-14"/>
            <p:cNvCxnSpPr/>
            <p:nvPr>
              <p:custDataLst>
                <p:tags r:id="rId136"/>
              </p:custDataLst>
            </p:nvPr>
          </p:nvCxnSpPr>
          <p:spPr>
            <a:xfrm>
              <a:off x="2620" y="5508"/>
              <a:ext cx="0" cy="394"/>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grpSp>
        <p:nvGrpSpPr>
          <p:cNvPr id="408" name="组合 407"/>
          <p:cNvGrpSpPr/>
          <p:nvPr/>
        </p:nvGrpSpPr>
        <p:grpSpPr>
          <a:xfrm>
            <a:off x="509270" y="3471545"/>
            <a:ext cx="2292985" cy="189230"/>
            <a:chOff x="802" y="5387"/>
            <a:chExt cx="3898" cy="298"/>
          </a:xfrm>
        </p:grpSpPr>
        <p:grpSp>
          <p:nvGrpSpPr>
            <p:cNvPr id="396" name="组合 395"/>
            <p:cNvGrpSpPr/>
            <p:nvPr/>
          </p:nvGrpSpPr>
          <p:grpSpPr>
            <a:xfrm>
              <a:off x="802" y="5387"/>
              <a:ext cx="1872" cy="299"/>
              <a:chOff x="9120" y="-868"/>
              <a:chExt cx="1740" cy="299"/>
            </a:xfrm>
          </p:grpSpPr>
          <p:cxnSp>
            <p:nvCxnSpPr>
              <p:cNvPr id="383" name="猫爪PPT-2-62"/>
              <p:cNvCxnSpPr/>
              <p:nvPr>
                <p:custDataLst>
                  <p:tags r:id="rId137"/>
                </p:custDataLst>
              </p:nvPr>
            </p:nvCxnSpPr>
            <p:spPr>
              <a:xfrm>
                <a:off x="9120" y="-868"/>
                <a:ext cx="0" cy="29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4" name="猫爪PPT-2-63"/>
              <p:cNvCxnSpPr/>
              <p:nvPr>
                <p:custDataLst>
                  <p:tags r:id="rId138"/>
                </p:custDataLst>
              </p:nvPr>
            </p:nvCxnSpPr>
            <p:spPr>
              <a:xfrm>
                <a:off x="9313"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5" name="猫爪PPT-2-64"/>
              <p:cNvCxnSpPr/>
              <p:nvPr>
                <p:custDataLst>
                  <p:tags r:id="rId139"/>
                </p:custDataLst>
              </p:nvPr>
            </p:nvCxnSpPr>
            <p:spPr>
              <a:xfrm>
                <a:off x="9507"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6" name="猫爪PPT-2-65"/>
              <p:cNvCxnSpPr/>
              <p:nvPr>
                <p:custDataLst>
                  <p:tags r:id="rId140"/>
                </p:custDataLst>
              </p:nvPr>
            </p:nvCxnSpPr>
            <p:spPr>
              <a:xfrm>
                <a:off x="9700"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7" name="猫爪PPT-2-66"/>
              <p:cNvCxnSpPr/>
              <p:nvPr>
                <p:custDataLst>
                  <p:tags r:id="rId141"/>
                </p:custDataLst>
              </p:nvPr>
            </p:nvCxnSpPr>
            <p:spPr>
              <a:xfrm>
                <a:off x="9893"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8" name="猫爪PPT-2-67"/>
              <p:cNvCxnSpPr/>
              <p:nvPr>
                <p:custDataLst>
                  <p:tags r:id="rId142"/>
                </p:custDataLst>
              </p:nvPr>
            </p:nvCxnSpPr>
            <p:spPr>
              <a:xfrm>
                <a:off x="10086"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9" name="猫爪PPT-2-68"/>
              <p:cNvCxnSpPr/>
              <p:nvPr>
                <p:custDataLst>
                  <p:tags r:id="rId143"/>
                </p:custDataLst>
              </p:nvPr>
            </p:nvCxnSpPr>
            <p:spPr>
              <a:xfrm>
                <a:off x="10280"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90" name="猫爪PPT-2-69"/>
              <p:cNvCxnSpPr/>
              <p:nvPr>
                <p:custDataLst>
                  <p:tags r:id="rId144"/>
                </p:custDataLst>
              </p:nvPr>
            </p:nvCxnSpPr>
            <p:spPr>
              <a:xfrm>
                <a:off x="10473"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91" name="猫爪PPT-2-70"/>
              <p:cNvCxnSpPr/>
              <p:nvPr>
                <p:custDataLst>
                  <p:tags r:id="rId145"/>
                </p:custDataLst>
              </p:nvPr>
            </p:nvCxnSpPr>
            <p:spPr>
              <a:xfrm>
                <a:off x="10666"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92" name="猫爪PPT-2-71"/>
              <p:cNvCxnSpPr/>
              <p:nvPr>
                <p:custDataLst>
                  <p:tags r:id="rId146"/>
                </p:custDataLst>
              </p:nvPr>
            </p:nvCxnSpPr>
            <p:spPr>
              <a:xfrm>
                <a:off x="10860"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grpSp>
          <p:nvGrpSpPr>
            <p:cNvPr id="397" name="组合 396"/>
            <p:cNvGrpSpPr/>
            <p:nvPr/>
          </p:nvGrpSpPr>
          <p:grpSpPr>
            <a:xfrm>
              <a:off x="2828" y="5387"/>
              <a:ext cx="1872" cy="299"/>
              <a:chOff x="9120" y="-868"/>
              <a:chExt cx="1740" cy="299"/>
            </a:xfrm>
          </p:grpSpPr>
          <p:cxnSp>
            <p:nvCxnSpPr>
              <p:cNvPr id="398" name="猫爪PPT-2-62"/>
              <p:cNvCxnSpPr/>
              <p:nvPr>
                <p:custDataLst>
                  <p:tags r:id="rId147"/>
                </p:custDataLst>
              </p:nvPr>
            </p:nvCxnSpPr>
            <p:spPr>
              <a:xfrm>
                <a:off x="9120" y="-868"/>
                <a:ext cx="0" cy="29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99" name="猫爪PPT-2-63"/>
              <p:cNvCxnSpPr/>
              <p:nvPr>
                <p:custDataLst>
                  <p:tags r:id="rId148"/>
                </p:custDataLst>
              </p:nvPr>
            </p:nvCxnSpPr>
            <p:spPr>
              <a:xfrm>
                <a:off x="9313"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00" name="猫爪PPT-2-64"/>
              <p:cNvCxnSpPr/>
              <p:nvPr>
                <p:custDataLst>
                  <p:tags r:id="rId149"/>
                </p:custDataLst>
              </p:nvPr>
            </p:nvCxnSpPr>
            <p:spPr>
              <a:xfrm>
                <a:off x="9507"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01" name="猫爪PPT-2-65"/>
              <p:cNvCxnSpPr/>
              <p:nvPr>
                <p:custDataLst>
                  <p:tags r:id="rId150"/>
                </p:custDataLst>
              </p:nvPr>
            </p:nvCxnSpPr>
            <p:spPr>
              <a:xfrm>
                <a:off x="9700"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02" name="猫爪PPT-2-66"/>
              <p:cNvCxnSpPr/>
              <p:nvPr>
                <p:custDataLst>
                  <p:tags r:id="rId151"/>
                </p:custDataLst>
              </p:nvPr>
            </p:nvCxnSpPr>
            <p:spPr>
              <a:xfrm>
                <a:off x="9893"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03" name="猫爪PPT-2-67"/>
              <p:cNvCxnSpPr/>
              <p:nvPr>
                <p:custDataLst>
                  <p:tags r:id="rId152"/>
                </p:custDataLst>
              </p:nvPr>
            </p:nvCxnSpPr>
            <p:spPr>
              <a:xfrm>
                <a:off x="10086"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04" name="猫爪PPT-2-68"/>
              <p:cNvCxnSpPr/>
              <p:nvPr>
                <p:custDataLst>
                  <p:tags r:id="rId153"/>
                </p:custDataLst>
              </p:nvPr>
            </p:nvCxnSpPr>
            <p:spPr>
              <a:xfrm>
                <a:off x="10280"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05" name="猫爪PPT-2-69"/>
              <p:cNvCxnSpPr/>
              <p:nvPr>
                <p:custDataLst>
                  <p:tags r:id="rId154"/>
                </p:custDataLst>
              </p:nvPr>
            </p:nvCxnSpPr>
            <p:spPr>
              <a:xfrm>
                <a:off x="10473"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06" name="猫爪PPT-2-70"/>
              <p:cNvCxnSpPr/>
              <p:nvPr>
                <p:custDataLst>
                  <p:tags r:id="rId155"/>
                </p:custDataLst>
              </p:nvPr>
            </p:nvCxnSpPr>
            <p:spPr>
              <a:xfrm>
                <a:off x="10666"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07" name="猫爪PPT-2-71"/>
              <p:cNvCxnSpPr/>
              <p:nvPr>
                <p:custDataLst>
                  <p:tags r:id="rId156"/>
                </p:custDataLst>
              </p:nvPr>
            </p:nvCxnSpPr>
            <p:spPr>
              <a:xfrm>
                <a:off x="10860"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grpSp>
      <p:grpSp>
        <p:nvGrpSpPr>
          <p:cNvPr id="478" name="组合 477"/>
          <p:cNvGrpSpPr/>
          <p:nvPr/>
        </p:nvGrpSpPr>
        <p:grpSpPr>
          <a:xfrm>
            <a:off x="2928620" y="3471545"/>
            <a:ext cx="2292985" cy="189230"/>
            <a:chOff x="802" y="5387"/>
            <a:chExt cx="3898" cy="298"/>
          </a:xfrm>
        </p:grpSpPr>
        <p:grpSp>
          <p:nvGrpSpPr>
            <p:cNvPr id="479" name="组合 478"/>
            <p:cNvGrpSpPr/>
            <p:nvPr/>
          </p:nvGrpSpPr>
          <p:grpSpPr>
            <a:xfrm>
              <a:off x="802" y="5387"/>
              <a:ext cx="1872" cy="299"/>
              <a:chOff x="9120" y="-868"/>
              <a:chExt cx="1740" cy="299"/>
            </a:xfrm>
          </p:grpSpPr>
          <p:cxnSp>
            <p:nvCxnSpPr>
              <p:cNvPr id="480" name="猫爪PPT-2-62"/>
              <p:cNvCxnSpPr/>
              <p:nvPr>
                <p:custDataLst>
                  <p:tags r:id="rId157"/>
                </p:custDataLst>
              </p:nvPr>
            </p:nvCxnSpPr>
            <p:spPr>
              <a:xfrm>
                <a:off x="9120" y="-868"/>
                <a:ext cx="0" cy="29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81" name="猫爪PPT-2-63"/>
              <p:cNvCxnSpPr/>
              <p:nvPr>
                <p:custDataLst>
                  <p:tags r:id="rId158"/>
                </p:custDataLst>
              </p:nvPr>
            </p:nvCxnSpPr>
            <p:spPr>
              <a:xfrm>
                <a:off x="9313"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82" name="猫爪PPT-2-64"/>
              <p:cNvCxnSpPr/>
              <p:nvPr>
                <p:custDataLst>
                  <p:tags r:id="rId159"/>
                </p:custDataLst>
              </p:nvPr>
            </p:nvCxnSpPr>
            <p:spPr>
              <a:xfrm>
                <a:off x="9507"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83" name="猫爪PPT-2-65"/>
              <p:cNvCxnSpPr/>
              <p:nvPr>
                <p:custDataLst>
                  <p:tags r:id="rId160"/>
                </p:custDataLst>
              </p:nvPr>
            </p:nvCxnSpPr>
            <p:spPr>
              <a:xfrm>
                <a:off x="9700"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84" name="猫爪PPT-2-66"/>
              <p:cNvCxnSpPr/>
              <p:nvPr>
                <p:custDataLst>
                  <p:tags r:id="rId161"/>
                </p:custDataLst>
              </p:nvPr>
            </p:nvCxnSpPr>
            <p:spPr>
              <a:xfrm>
                <a:off x="9893"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85" name="猫爪PPT-2-67"/>
              <p:cNvCxnSpPr/>
              <p:nvPr>
                <p:custDataLst>
                  <p:tags r:id="rId162"/>
                </p:custDataLst>
              </p:nvPr>
            </p:nvCxnSpPr>
            <p:spPr>
              <a:xfrm>
                <a:off x="10086"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86" name="猫爪PPT-2-68"/>
              <p:cNvCxnSpPr/>
              <p:nvPr>
                <p:custDataLst>
                  <p:tags r:id="rId163"/>
                </p:custDataLst>
              </p:nvPr>
            </p:nvCxnSpPr>
            <p:spPr>
              <a:xfrm>
                <a:off x="10280"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87" name="猫爪PPT-2-69"/>
              <p:cNvCxnSpPr/>
              <p:nvPr>
                <p:custDataLst>
                  <p:tags r:id="rId164"/>
                </p:custDataLst>
              </p:nvPr>
            </p:nvCxnSpPr>
            <p:spPr>
              <a:xfrm>
                <a:off x="10473"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88" name="猫爪PPT-2-70"/>
              <p:cNvCxnSpPr/>
              <p:nvPr>
                <p:custDataLst>
                  <p:tags r:id="rId165"/>
                </p:custDataLst>
              </p:nvPr>
            </p:nvCxnSpPr>
            <p:spPr>
              <a:xfrm>
                <a:off x="10666"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89" name="猫爪PPT-2-71"/>
              <p:cNvCxnSpPr/>
              <p:nvPr>
                <p:custDataLst>
                  <p:tags r:id="rId166"/>
                </p:custDataLst>
              </p:nvPr>
            </p:nvCxnSpPr>
            <p:spPr>
              <a:xfrm>
                <a:off x="10860"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grpSp>
          <p:nvGrpSpPr>
            <p:cNvPr id="490" name="组合 489"/>
            <p:cNvGrpSpPr/>
            <p:nvPr/>
          </p:nvGrpSpPr>
          <p:grpSpPr>
            <a:xfrm>
              <a:off x="2828" y="5387"/>
              <a:ext cx="1872" cy="299"/>
              <a:chOff x="9120" y="-868"/>
              <a:chExt cx="1740" cy="299"/>
            </a:xfrm>
          </p:grpSpPr>
          <p:cxnSp>
            <p:nvCxnSpPr>
              <p:cNvPr id="491" name="猫爪PPT-2-62"/>
              <p:cNvCxnSpPr/>
              <p:nvPr>
                <p:custDataLst>
                  <p:tags r:id="rId167"/>
                </p:custDataLst>
              </p:nvPr>
            </p:nvCxnSpPr>
            <p:spPr>
              <a:xfrm>
                <a:off x="9120" y="-868"/>
                <a:ext cx="0" cy="29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92" name="猫爪PPT-2-63"/>
              <p:cNvCxnSpPr/>
              <p:nvPr>
                <p:custDataLst>
                  <p:tags r:id="rId168"/>
                </p:custDataLst>
              </p:nvPr>
            </p:nvCxnSpPr>
            <p:spPr>
              <a:xfrm>
                <a:off x="9313"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93" name="猫爪PPT-2-64"/>
              <p:cNvCxnSpPr/>
              <p:nvPr>
                <p:custDataLst>
                  <p:tags r:id="rId169"/>
                </p:custDataLst>
              </p:nvPr>
            </p:nvCxnSpPr>
            <p:spPr>
              <a:xfrm>
                <a:off x="9507"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94" name="猫爪PPT-2-65"/>
              <p:cNvCxnSpPr/>
              <p:nvPr>
                <p:custDataLst>
                  <p:tags r:id="rId170"/>
                </p:custDataLst>
              </p:nvPr>
            </p:nvCxnSpPr>
            <p:spPr>
              <a:xfrm>
                <a:off x="9700"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95" name="猫爪PPT-2-66"/>
              <p:cNvCxnSpPr/>
              <p:nvPr>
                <p:custDataLst>
                  <p:tags r:id="rId171"/>
                </p:custDataLst>
              </p:nvPr>
            </p:nvCxnSpPr>
            <p:spPr>
              <a:xfrm>
                <a:off x="9893"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96" name="猫爪PPT-2-67"/>
              <p:cNvCxnSpPr/>
              <p:nvPr>
                <p:custDataLst>
                  <p:tags r:id="rId172"/>
                </p:custDataLst>
              </p:nvPr>
            </p:nvCxnSpPr>
            <p:spPr>
              <a:xfrm>
                <a:off x="10086"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97" name="猫爪PPT-2-68"/>
              <p:cNvCxnSpPr/>
              <p:nvPr>
                <p:custDataLst>
                  <p:tags r:id="rId173"/>
                </p:custDataLst>
              </p:nvPr>
            </p:nvCxnSpPr>
            <p:spPr>
              <a:xfrm>
                <a:off x="10280"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98" name="猫爪PPT-2-69"/>
              <p:cNvCxnSpPr/>
              <p:nvPr>
                <p:custDataLst>
                  <p:tags r:id="rId174"/>
                </p:custDataLst>
              </p:nvPr>
            </p:nvCxnSpPr>
            <p:spPr>
              <a:xfrm>
                <a:off x="10473"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99" name="猫爪PPT-2-70"/>
              <p:cNvCxnSpPr/>
              <p:nvPr>
                <p:custDataLst>
                  <p:tags r:id="rId175"/>
                </p:custDataLst>
              </p:nvPr>
            </p:nvCxnSpPr>
            <p:spPr>
              <a:xfrm>
                <a:off x="10666"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00" name="猫爪PPT-2-71"/>
              <p:cNvCxnSpPr/>
              <p:nvPr>
                <p:custDataLst>
                  <p:tags r:id="rId176"/>
                </p:custDataLst>
              </p:nvPr>
            </p:nvCxnSpPr>
            <p:spPr>
              <a:xfrm>
                <a:off x="10860"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grpSp>
      <p:grpSp>
        <p:nvGrpSpPr>
          <p:cNvPr id="501" name="组合 500"/>
          <p:cNvGrpSpPr/>
          <p:nvPr/>
        </p:nvGrpSpPr>
        <p:grpSpPr>
          <a:xfrm>
            <a:off x="5353685" y="3479800"/>
            <a:ext cx="2292985" cy="189230"/>
            <a:chOff x="802" y="5387"/>
            <a:chExt cx="3898" cy="298"/>
          </a:xfrm>
        </p:grpSpPr>
        <p:grpSp>
          <p:nvGrpSpPr>
            <p:cNvPr id="502" name="组合 501"/>
            <p:cNvGrpSpPr/>
            <p:nvPr/>
          </p:nvGrpSpPr>
          <p:grpSpPr>
            <a:xfrm>
              <a:off x="802" y="5387"/>
              <a:ext cx="1872" cy="299"/>
              <a:chOff x="9120" y="-868"/>
              <a:chExt cx="1740" cy="299"/>
            </a:xfrm>
          </p:grpSpPr>
          <p:cxnSp>
            <p:nvCxnSpPr>
              <p:cNvPr id="503" name="猫爪PPT-2-62"/>
              <p:cNvCxnSpPr/>
              <p:nvPr>
                <p:custDataLst>
                  <p:tags r:id="rId177"/>
                </p:custDataLst>
              </p:nvPr>
            </p:nvCxnSpPr>
            <p:spPr>
              <a:xfrm>
                <a:off x="9120" y="-868"/>
                <a:ext cx="0" cy="29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04" name="猫爪PPT-2-63"/>
              <p:cNvCxnSpPr/>
              <p:nvPr>
                <p:custDataLst>
                  <p:tags r:id="rId178"/>
                </p:custDataLst>
              </p:nvPr>
            </p:nvCxnSpPr>
            <p:spPr>
              <a:xfrm>
                <a:off x="9313"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05" name="猫爪PPT-2-64"/>
              <p:cNvCxnSpPr/>
              <p:nvPr>
                <p:custDataLst>
                  <p:tags r:id="rId179"/>
                </p:custDataLst>
              </p:nvPr>
            </p:nvCxnSpPr>
            <p:spPr>
              <a:xfrm>
                <a:off x="9507"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06" name="猫爪PPT-2-65"/>
              <p:cNvCxnSpPr/>
              <p:nvPr>
                <p:custDataLst>
                  <p:tags r:id="rId180"/>
                </p:custDataLst>
              </p:nvPr>
            </p:nvCxnSpPr>
            <p:spPr>
              <a:xfrm>
                <a:off x="9700"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07" name="猫爪PPT-2-66"/>
              <p:cNvCxnSpPr/>
              <p:nvPr>
                <p:custDataLst>
                  <p:tags r:id="rId181"/>
                </p:custDataLst>
              </p:nvPr>
            </p:nvCxnSpPr>
            <p:spPr>
              <a:xfrm>
                <a:off x="9893"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08" name="猫爪PPT-2-67"/>
              <p:cNvCxnSpPr/>
              <p:nvPr>
                <p:custDataLst>
                  <p:tags r:id="rId182"/>
                </p:custDataLst>
              </p:nvPr>
            </p:nvCxnSpPr>
            <p:spPr>
              <a:xfrm>
                <a:off x="10086"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09" name="猫爪PPT-2-68"/>
              <p:cNvCxnSpPr/>
              <p:nvPr>
                <p:custDataLst>
                  <p:tags r:id="rId183"/>
                </p:custDataLst>
              </p:nvPr>
            </p:nvCxnSpPr>
            <p:spPr>
              <a:xfrm>
                <a:off x="10280"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10" name="猫爪PPT-2-69"/>
              <p:cNvCxnSpPr/>
              <p:nvPr>
                <p:custDataLst>
                  <p:tags r:id="rId184"/>
                </p:custDataLst>
              </p:nvPr>
            </p:nvCxnSpPr>
            <p:spPr>
              <a:xfrm>
                <a:off x="10473"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11" name="猫爪PPT-2-70"/>
              <p:cNvCxnSpPr/>
              <p:nvPr>
                <p:custDataLst>
                  <p:tags r:id="rId185"/>
                </p:custDataLst>
              </p:nvPr>
            </p:nvCxnSpPr>
            <p:spPr>
              <a:xfrm>
                <a:off x="10666"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12" name="猫爪PPT-2-71"/>
              <p:cNvCxnSpPr/>
              <p:nvPr>
                <p:custDataLst>
                  <p:tags r:id="rId186"/>
                </p:custDataLst>
              </p:nvPr>
            </p:nvCxnSpPr>
            <p:spPr>
              <a:xfrm>
                <a:off x="10860"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grpSp>
          <p:nvGrpSpPr>
            <p:cNvPr id="513" name="组合 512"/>
            <p:cNvGrpSpPr/>
            <p:nvPr/>
          </p:nvGrpSpPr>
          <p:grpSpPr>
            <a:xfrm>
              <a:off x="2828" y="5387"/>
              <a:ext cx="1872" cy="299"/>
              <a:chOff x="9120" y="-868"/>
              <a:chExt cx="1740" cy="299"/>
            </a:xfrm>
          </p:grpSpPr>
          <p:cxnSp>
            <p:nvCxnSpPr>
              <p:cNvPr id="514" name="猫爪PPT-2-62"/>
              <p:cNvCxnSpPr/>
              <p:nvPr>
                <p:custDataLst>
                  <p:tags r:id="rId187"/>
                </p:custDataLst>
              </p:nvPr>
            </p:nvCxnSpPr>
            <p:spPr>
              <a:xfrm>
                <a:off x="9120" y="-868"/>
                <a:ext cx="0" cy="29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15" name="猫爪PPT-2-63"/>
              <p:cNvCxnSpPr/>
              <p:nvPr>
                <p:custDataLst>
                  <p:tags r:id="rId188"/>
                </p:custDataLst>
              </p:nvPr>
            </p:nvCxnSpPr>
            <p:spPr>
              <a:xfrm>
                <a:off x="9313"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16" name="猫爪PPT-2-64"/>
              <p:cNvCxnSpPr/>
              <p:nvPr>
                <p:custDataLst>
                  <p:tags r:id="rId189"/>
                </p:custDataLst>
              </p:nvPr>
            </p:nvCxnSpPr>
            <p:spPr>
              <a:xfrm>
                <a:off x="9507"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17" name="猫爪PPT-2-65"/>
              <p:cNvCxnSpPr/>
              <p:nvPr>
                <p:custDataLst>
                  <p:tags r:id="rId190"/>
                </p:custDataLst>
              </p:nvPr>
            </p:nvCxnSpPr>
            <p:spPr>
              <a:xfrm>
                <a:off x="9700"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18" name="猫爪PPT-2-66"/>
              <p:cNvCxnSpPr/>
              <p:nvPr>
                <p:custDataLst>
                  <p:tags r:id="rId191"/>
                </p:custDataLst>
              </p:nvPr>
            </p:nvCxnSpPr>
            <p:spPr>
              <a:xfrm>
                <a:off x="9893"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19" name="猫爪PPT-2-67"/>
              <p:cNvCxnSpPr/>
              <p:nvPr>
                <p:custDataLst>
                  <p:tags r:id="rId192"/>
                </p:custDataLst>
              </p:nvPr>
            </p:nvCxnSpPr>
            <p:spPr>
              <a:xfrm>
                <a:off x="10086"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20" name="猫爪PPT-2-68"/>
              <p:cNvCxnSpPr/>
              <p:nvPr>
                <p:custDataLst>
                  <p:tags r:id="rId193"/>
                </p:custDataLst>
              </p:nvPr>
            </p:nvCxnSpPr>
            <p:spPr>
              <a:xfrm>
                <a:off x="10280"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21" name="猫爪PPT-2-69"/>
              <p:cNvCxnSpPr/>
              <p:nvPr>
                <p:custDataLst>
                  <p:tags r:id="rId194"/>
                </p:custDataLst>
              </p:nvPr>
            </p:nvCxnSpPr>
            <p:spPr>
              <a:xfrm>
                <a:off x="10473"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22" name="猫爪PPT-2-70"/>
              <p:cNvCxnSpPr/>
              <p:nvPr>
                <p:custDataLst>
                  <p:tags r:id="rId195"/>
                </p:custDataLst>
              </p:nvPr>
            </p:nvCxnSpPr>
            <p:spPr>
              <a:xfrm>
                <a:off x="10666"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23" name="猫爪PPT-2-71"/>
              <p:cNvCxnSpPr/>
              <p:nvPr>
                <p:custDataLst>
                  <p:tags r:id="rId196"/>
                </p:custDataLst>
              </p:nvPr>
            </p:nvCxnSpPr>
            <p:spPr>
              <a:xfrm>
                <a:off x="10860"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grpSp>
      <p:grpSp>
        <p:nvGrpSpPr>
          <p:cNvPr id="524" name="组合 523"/>
          <p:cNvGrpSpPr/>
          <p:nvPr/>
        </p:nvGrpSpPr>
        <p:grpSpPr>
          <a:xfrm>
            <a:off x="7773035" y="3479800"/>
            <a:ext cx="2292985" cy="189230"/>
            <a:chOff x="802" y="5387"/>
            <a:chExt cx="3898" cy="298"/>
          </a:xfrm>
        </p:grpSpPr>
        <p:grpSp>
          <p:nvGrpSpPr>
            <p:cNvPr id="525" name="组合 524"/>
            <p:cNvGrpSpPr/>
            <p:nvPr/>
          </p:nvGrpSpPr>
          <p:grpSpPr>
            <a:xfrm>
              <a:off x="802" y="5387"/>
              <a:ext cx="1872" cy="299"/>
              <a:chOff x="9120" y="-868"/>
              <a:chExt cx="1740" cy="299"/>
            </a:xfrm>
          </p:grpSpPr>
          <p:cxnSp>
            <p:nvCxnSpPr>
              <p:cNvPr id="526" name="猫爪PPT-2-62"/>
              <p:cNvCxnSpPr/>
              <p:nvPr>
                <p:custDataLst>
                  <p:tags r:id="rId197"/>
                </p:custDataLst>
              </p:nvPr>
            </p:nvCxnSpPr>
            <p:spPr>
              <a:xfrm>
                <a:off x="9120" y="-868"/>
                <a:ext cx="0" cy="29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27" name="猫爪PPT-2-63"/>
              <p:cNvCxnSpPr/>
              <p:nvPr>
                <p:custDataLst>
                  <p:tags r:id="rId198"/>
                </p:custDataLst>
              </p:nvPr>
            </p:nvCxnSpPr>
            <p:spPr>
              <a:xfrm>
                <a:off x="9313"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28" name="猫爪PPT-2-64"/>
              <p:cNvCxnSpPr/>
              <p:nvPr>
                <p:custDataLst>
                  <p:tags r:id="rId199"/>
                </p:custDataLst>
              </p:nvPr>
            </p:nvCxnSpPr>
            <p:spPr>
              <a:xfrm>
                <a:off x="9507"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29" name="猫爪PPT-2-65"/>
              <p:cNvCxnSpPr/>
              <p:nvPr>
                <p:custDataLst>
                  <p:tags r:id="rId200"/>
                </p:custDataLst>
              </p:nvPr>
            </p:nvCxnSpPr>
            <p:spPr>
              <a:xfrm>
                <a:off x="9700"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30" name="猫爪PPT-2-66"/>
              <p:cNvCxnSpPr/>
              <p:nvPr>
                <p:custDataLst>
                  <p:tags r:id="rId201"/>
                </p:custDataLst>
              </p:nvPr>
            </p:nvCxnSpPr>
            <p:spPr>
              <a:xfrm>
                <a:off x="9893"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31" name="猫爪PPT-2-67"/>
              <p:cNvCxnSpPr/>
              <p:nvPr>
                <p:custDataLst>
                  <p:tags r:id="rId202"/>
                </p:custDataLst>
              </p:nvPr>
            </p:nvCxnSpPr>
            <p:spPr>
              <a:xfrm>
                <a:off x="10086"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32" name="猫爪PPT-2-68"/>
              <p:cNvCxnSpPr/>
              <p:nvPr>
                <p:custDataLst>
                  <p:tags r:id="rId203"/>
                </p:custDataLst>
              </p:nvPr>
            </p:nvCxnSpPr>
            <p:spPr>
              <a:xfrm>
                <a:off x="10280"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33" name="猫爪PPT-2-69"/>
              <p:cNvCxnSpPr/>
              <p:nvPr>
                <p:custDataLst>
                  <p:tags r:id="rId204"/>
                </p:custDataLst>
              </p:nvPr>
            </p:nvCxnSpPr>
            <p:spPr>
              <a:xfrm>
                <a:off x="10473"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34" name="猫爪PPT-2-70"/>
              <p:cNvCxnSpPr/>
              <p:nvPr>
                <p:custDataLst>
                  <p:tags r:id="rId205"/>
                </p:custDataLst>
              </p:nvPr>
            </p:nvCxnSpPr>
            <p:spPr>
              <a:xfrm>
                <a:off x="10666"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35" name="猫爪PPT-2-71"/>
              <p:cNvCxnSpPr/>
              <p:nvPr>
                <p:custDataLst>
                  <p:tags r:id="rId206"/>
                </p:custDataLst>
              </p:nvPr>
            </p:nvCxnSpPr>
            <p:spPr>
              <a:xfrm>
                <a:off x="10860"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grpSp>
          <p:nvGrpSpPr>
            <p:cNvPr id="536" name="组合 535"/>
            <p:cNvGrpSpPr/>
            <p:nvPr/>
          </p:nvGrpSpPr>
          <p:grpSpPr>
            <a:xfrm>
              <a:off x="2828" y="5387"/>
              <a:ext cx="1872" cy="299"/>
              <a:chOff x="9120" y="-868"/>
              <a:chExt cx="1740" cy="299"/>
            </a:xfrm>
          </p:grpSpPr>
          <p:cxnSp>
            <p:nvCxnSpPr>
              <p:cNvPr id="537" name="猫爪PPT-2-62"/>
              <p:cNvCxnSpPr/>
              <p:nvPr>
                <p:custDataLst>
                  <p:tags r:id="rId207"/>
                </p:custDataLst>
              </p:nvPr>
            </p:nvCxnSpPr>
            <p:spPr>
              <a:xfrm>
                <a:off x="9120" y="-868"/>
                <a:ext cx="0" cy="29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38" name="猫爪PPT-2-63"/>
              <p:cNvCxnSpPr/>
              <p:nvPr>
                <p:custDataLst>
                  <p:tags r:id="rId208"/>
                </p:custDataLst>
              </p:nvPr>
            </p:nvCxnSpPr>
            <p:spPr>
              <a:xfrm>
                <a:off x="9313"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39" name="猫爪PPT-2-64"/>
              <p:cNvCxnSpPr/>
              <p:nvPr>
                <p:custDataLst>
                  <p:tags r:id="rId209"/>
                </p:custDataLst>
              </p:nvPr>
            </p:nvCxnSpPr>
            <p:spPr>
              <a:xfrm>
                <a:off x="9507"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40" name="猫爪PPT-2-65"/>
              <p:cNvCxnSpPr/>
              <p:nvPr>
                <p:custDataLst>
                  <p:tags r:id="rId210"/>
                </p:custDataLst>
              </p:nvPr>
            </p:nvCxnSpPr>
            <p:spPr>
              <a:xfrm>
                <a:off x="9700"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41" name="猫爪PPT-2-66"/>
              <p:cNvCxnSpPr/>
              <p:nvPr>
                <p:custDataLst>
                  <p:tags r:id="rId211"/>
                </p:custDataLst>
              </p:nvPr>
            </p:nvCxnSpPr>
            <p:spPr>
              <a:xfrm>
                <a:off x="9893"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42" name="猫爪PPT-2-67"/>
              <p:cNvCxnSpPr/>
              <p:nvPr>
                <p:custDataLst>
                  <p:tags r:id="rId212"/>
                </p:custDataLst>
              </p:nvPr>
            </p:nvCxnSpPr>
            <p:spPr>
              <a:xfrm>
                <a:off x="10086"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43" name="猫爪PPT-2-68"/>
              <p:cNvCxnSpPr/>
              <p:nvPr>
                <p:custDataLst>
                  <p:tags r:id="rId213"/>
                </p:custDataLst>
              </p:nvPr>
            </p:nvCxnSpPr>
            <p:spPr>
              <a:xfrm>
                <a:off x="10280"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44" name="猫爪PPT-2-69"/>
              <p:cNvCxnSpPr/>
              <p:nvPr>
                <p:custDataLst>
                  <p:tags r:id="rId214"/>
                </p:custDataLst>
              </p:nvPr>
            </p:nvCxnSpPr>
            <p:spPr>
              <a:xfrm>
                <a:off x="10473"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45" name="猫爪PPT-2-70"/>
              <p:cNvCxnSpPr/>
              <p:nvPr>
                <p:custDataLst>
                  <p:tags r:id="rId215"/>
                </p:custDataLst>
              </p:nvPr>
            </p:nvCxnSpPr>
            <p:spPr>
              <a:xfrm>
                <a:off x="10666"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46" name="猫爪PPT-2-71"/>
              <p:cNvCxnSpPr/>
              <p:nvPr>
                <p:custDataLst>
                  <p:tags r:id="rId216"/>
                </p:custDataLst>
              </p:nvPr>
            </p:nvCxnSpPr>
            <p:spPr>
              <a:xfrm>
                <a:off x="10860" y="-738"/>
                <a:ext cx="0" cy="169"/>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grp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2" name="图片 1"/>
            <p:cNvPicPr>
              <a:picLocks noChangeAspect="1"/>
            </p:cNvPicPr>
            <p:nvPr userDrawn="1"/>
          </p:nvPicPr>
          <p:blipFill>
            <a:blip r:embed="rId217"/>
            <a:srcRect l="17002" t="-1765" r="56499" b="-1176"/>
            <a:stretch>
              <a:fillRect/>
            </a:stretch>
          </p:blipFill>
          <p:spPr>
            <a:xfrm>
              <a:off x="13761" y="549"/>
              <a:ext cx="1582" cy="525"/>
            </a:xfrm>
            <a:prstGeom prst="rect">
              <a:avLst/>
            </a:prstGeom>
          </p:spPr>
        </p:pic>
        <p:sp>
          <p:nvSpPr>
            <p:cNvPr id="11" name="文本框 10"/>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项目规划</a:t>
            </a:r>
            <a:r>
              <a:rPr lang="en-US" altLang="zh-CN" sz="2500">
                <a:solidFill>
                  <a:schemeClr val="tx2"/>
                </a:solidFill>
                <a:effectLst/>
                <a:latin typeface="微软雅黑" panose="020B0503020204020204" charset="-122"/>
                <a:ea typeface="微软雅黑" panose="020B0503020204020204" charset="-122"/>
                <a:cs typeface="微软雅黑" panose="020B0503020204020204" charset="-122"/>
              </a:rPr>
              <a:t>/</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目标制定</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8" name="矩形 7"/>
          <p:cNvSpPr/>
          <p:nvPr/>
        </p:nvSpPr>
        <p:spPr>
          <a:xfrm>
            <a:off x="6205748" y="3176218"/>
            <a:ext cx="2691410" cy="3408623"/>
          </a:xfrm>
          <a:prstGeom prst="rect">
            <a:avLst/>
          </a:prstGeom>
          <a:solidFill>
            <a:schemeClr val="accent1">
              <a:lumMod val="20000"/>
              <a:lumOff val="80000"/>
              <a:alpha val="2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4" name="直线连接符 516"/>
          <p:cNvCxnSpPr/>
          <p:nvPr/>
        </p:nvCxnSpPr>
        <p:spPr>
          <a:xfrm>
            <a:off x="6537801" y="4422513"/>
            <a:ext cx="0" cy="1104576"/>
          </a:xfrm>
          <a:prstGeom prst="line">
            <a:avLst/>
          </a:prstGeom>
          <a:ln w="127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9104976" y="2687709"/>
            <a:ext cx="2691410" cy="3897132"/>
          </a:xfrm>
          <a:prstGeom prst="rect">
            <a:avLst/>
          </a:prstGeom>
          <a:solidFill>
            <a:schemeClr val="accent5">
              <a:lumMod val="20000"/>
              <a:lumOff val="80000"/>
              <a:alpha val="2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 name="矩形 15"/>
          <p:cNvSpPr/>
          <p:nvPr/>
        </p:nvSpPr>
        <p:spPr>
          <a:xfrm>
            <a:off x="9105040" y="5867035"/>
            <a:ext cx="2691410" cy="715642"/>
          </a:xfrm>
          <a:prstGeom prst="rect">
            <a:avLst/>
          </a:prstGeom>
          <a:gradFill>
            <a:gsLst>
              <a:gs pos="0">
                <a:schemeClr val="accent5"/>
              </a:gs>
              <a:gs pos="100000">
                <a:schemeClr val="accent5">
                  <a:lumMod val="60000"/>
                  <a:lumOff val="40000"/>
                </a:schemeClr>
              </a:gs>
            </a:gsLst>
            <a:lin ang="2700000" scaled="0"/>
          </a:gradFill>
          <a:ln w="12700" cap="flat" cmpd="sng" algn="ctr">
            <a:noFill/>
            <a:prstDash val="dash"/>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0" name="三角形 514"/>
          <p:cNvSpPr/>
          <p:nvPr/>
        </p:nvSpPr>
        <p:spPr>
          <a:xfrm rot="10800000" flipV="1">
            <a:off x="10297552" y="5678177"/>
            <a:ext cx="306386" cy="188356"/>
          </a:xfrm>
          <a:prstGeom prst="triangle">
            <a:avLst/>
          </a:prstGeom>
          <a:gradFill>
            <a:gsLst>
              <a:gs pos="0">
                <a:schemeClr val="accent5"/>
              </a:gs>
              <a:gs pos="100000">
                <a:schemeClr val="accent5">
                  <a:lumMod val="60000"/>
                  <a:lumOff val="4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2" name="矩形 21"/>
          <p:cNvSpPr/>
          <p:nvPr/>
        </p:nvSpPr>
        <p:spPr>
          <a:xfrm>
            <a:off x="6209440" y="5867035"/>
            <a:ext cx="2691410" cy="715642"/>
          </a:xfrm>
          <a:prstGeom prst="rect">
            <a:avLst/>
          </a:prstGeom>
          <a:gradFill>
            <a:gsLst>
              <a:gs pos="0">
                <a:schemeClr val="accent1"/>
              </a:gs>
              <a:gs pos="100000">
                <a:schemeClr val="accent1">
                  <a:lumMod val="60000"/>
                  <a:lumOff val="40000"/>
                </a:schemeClr>
              </a:gs>
            </a:gsLst>
            <a:lin ang="2700000" scaled="0"/>
          </a:gradFill>
          <a:ln w="12700" cap="flat" cmpd="sng" algn="ctr">
            <a:noFill/>
            <a:prstDash val="dash"/>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4" name="三角形 512"/>
          <p:cNvSpPr/>
          <p:nvPr/>
        </p:nvSpPr>
        <p:spPr>
          <a:xfrm rot="10800000" flipV="1">
            <a:off x="7401952" y="5678177"/>
            <a:ext cx="306386" cy="188356"/>
          </a:xfrm>
          <a:prstGeom prst="triangle">
            <a:avLst/>
          </a:prstGeom>
          <a:gradFill>
            <a:gsLst>
              <a:gs pos="0">
                <a:schemeClr val="accent1"/>
              </a:gs>
              <a:gs pos="100000">
                <a:schemeClr val="accent1">
                  <a:lumMod val="60000"/>
                  <a:lumOff val="4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5" name="矩形 24"/>
          <p:cNvSpPr/>
          <p:nvPr/>
        </p:nvSpPr>
        <p:spPr>
          <a:xfrm>
            <a:off x="3273894" y="3783059"/>
            <a:ext cx="2691410" cy="2801782"/>
          </a:xfrm>
          <a:prstGeom prst="rect">
            <a:avLst/>
          </a:prstGeom>
          <a:solidFill>
            <a:schemeClr val="accent5">
              <a:lumMod val="20000"/>
              <a:lumOff val="80000"/>
              <a:alpha val="2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2" name="矩形 31"/>
          <p:cNvSpPr/>
          <p:nvPr/>
        </p:nvSpPr>
        <p:spPr>
          <a:xfrm>
            <a:off x="3275740" y="5867035"/>
            <a:ext cx="2691410" cy="715642"/>
          </a:xfrm>
          <a:prstGeom prst="rect">
            <a:avLst/>
          </a:prstGeom>
          <a:gradFill>
            <a:gsLst>
              <a:gs pos="0">
                <a:schemeClr val="accent5"/>
              </a:gs>
              <a:gs pos="100000">
                <a:schemeClr val="accent5">
                  <a:lumMod val="60000"/>
                  <a:lumOff val="40000"/>
                </a:schemeClr>
              </a:gs>
            </a:gsLst>
            <a:lin ang="2700000" scaled="0"/>
          </a:gradFill>
          <a:ln w="12700" cap="flat" cmpd="sng" algn="ctr">
            <a:noFill/>
            <a:prstDash val="dash"/>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 name="三角形 510"/>
          <p:cNvSpPr/>
          <p:nvPr/>
        </p:nvSpPr>
        <p:spPr>
          <a:xfrm rot="10800000" flipV="1">
            <a:off x="4468252" y="5678177"/>
            <a:ext cx="306386" cy="188356"/>
          </a:xfrm>
          <a:prstGeom prst="triangle">
            <a:avLst/>
          </a:prstGeom>
          <a:gradFill>
            <a:gsLst>
              <a:gs pos="0">
                <a:schemeClr val="accent5"/>
              </a:gs>
              <a:gs pos="100000">
                <a:schemeClr val="accent5">
                  <a:lumMod val="60000"/>
                  <a:lumOff val="4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4" name="矩形 33"/>
          <p:cNvSpPr/>
          <p:nvPr/>
        </p:nvSpPr>
        <p:spPr>
          <a:xfrm>
            <a:off x="342040" y="3982778"/>
            <a:ext cx="2691410" cy="2602063"/>
          </a:xfrm>
          <a:prstGeom prst="rect">
            <a:avLst/>
          </a:prstGeom>
          <a:solidFill>
            <a:schemeClr val="accent1">
              <a:lumMod val="20000"/>
              <a:lumOff val="80000"/>
              <a:alpha val="2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5" name="五边形 706"/>
          <p:cNvSpPr/>
          <p:nvPr/>
        </p:nvSpPr>
        <p:spPr>
          <a:xfrm>
            <a:off x="369163" y="1143175"/>
            <a:ext cx="6857539" cy="518315"/>
          </a:xfrm>
          <a:prstGeom prst="homePlate">
            <a:avLst/>
          </a:prstGeom>
          <a:gradFill>
            <a:gsLst>
              <a:gs pos="0">
                <a:schemeClr val="accent1"/>
              </a:gs>
              <a:gs pos="100000">
                <a:schemeClr val="accent1">
                  <a:lumMod val="60000"/>
                  <a:lumOff val="4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6" name="组合 35"/>
          <p:cNvGrpSpPr/>
          <p:nvPr/>
        </p:nvGrpSpPr>
        <p:grpSpPr>
          <a:xfrm>
            <a:off x="1278209" y="3549192"/>
            <a:ext cx="873320" cy="873320"/>
            <a:chOff x="1390973" y="1041271"/>
            <a:chExt cx="687451" cy="687450"/>
          </a:xfrm>
          <a:gradFill>
            <a:gsLst>
              <a:gs pos="0">
                <a:schemeClr val="accent1"/>
              </a:gs>
              <a:gs pos="100000">
                <a:schemeClr val="accent1">
                  <a:lumMod val="60000"/>
                  <a:lumOff val="40000"/>
                </a:schemeClr>
              </a:gs>
            </a:gsLst>
            <a:lin ang="2700000" scaled="0"/>
          </a:gradFill>
        </p:grpSpPr>
        <p:sp>
          <p:nvSpPr>
            <p:cNvPr id="37" name="椭圆 36"/>
            <p:cNvSpPr/>
            <p:nvPr/>
          </p:nvSpPr>
          <p:spPr>
            <a:xfrm>
              <a:off x="1390973" y="1041271"/>
              <a:ext cx="687451" cy="687450"/>
            </a:xfrm>
            <a:prstGeom prst="ellipse">
              <a:avLst/>
            </a:prstGeom>
            <a:grp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8" name="flag-pole-with-black-flag_38306"/>
            <p:cNvSpPr/>
            <p:nvPr/>
          </p:nvSpPr>
          <p:spPr>
            <a:xfrm>
              <a:off x="1608722" y="1229976"/>
              <a:ext cx="285637" cy="340022"/>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bg1"/>
            </a:solidFill>
            <a:ln w="12700" cap="flat" cmpd="sng" algn="ctr">
              <a:noFill/>
              <a:prstDash val="solid"/>
              <a:miter lim="800000"/>
            </a:ln>
            <a:effectLst/>
          </p:spPr>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0" cap="none" spc="0" normalizeH="0" baseline="0" noProof="0">
                <a:ln>
                  <a:noFill/>
                </a:ln>
                <a:solidFill>
                  <a:srgbClr val="F9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
        <p:nvSpPr>
          <p:cNvPr id="39" name="椭圆 38"/>
          <p:cNvSpPr/>
          <p:nvPr/>
        </p:nvSpPr>
        <p:spPr>
          <a:xfrm>
            <a:off x="346015" y="3340900"/>
            <a:ext cx="254448" cy="25444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40" name="直线连接符 629"/>
          <p:cNvCxnSpPr/>
          <p:nvPr/>
        </p:nvCxnSpPr>
        <p:spPr>
          <a:xfrm>
            <a:off x="3148163" y="3066247"/>
            <a:ext cx="0" cy="171662"/>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41" name="图形 634"/>
          <p:cNvSpPr/>
          <p:nvPr/>
        </p:nvSpPr>
        <p:spPr>
          <a:xfrm>
            <a:off x="369165" y="1484874"/>
            <a:ext cx="11179233" cy="1982275"/>
          </a:xfrm>
          <a:custGeom>
            <a:avLst/>
            <a:gdLst>
              <a:gd name="connsiteX0" fmla="*/ 0 w 2934062"/>
              <a:gd name="connsiteY0" fmla="*/ 631963 h 631962"/>
              <a:gd name="connsiteX1" fmla="*/ 2934063 w 2934062"/>
              <a:gd name="connsiteY1" fmla="*/ 0 h 631962"/>
            </a:gdLst>
            <a:ahLst/>
            <a:cxnLst>
              <a:cxn ang="0">
                <a:pos x="connsiteX0" y="connsiteY0"/>
              </a:cxn>
              <a:cxn ang="0">
                <a:pos x="connsiteX1" y="connsiteY1"/>
              </a:cxn>
            </a:cxnLst>
            <a:rect l="l" t="t" r="r" b="b"/>
            <a:pathLst>
              <a:path w="2934062" h="631962">
                <a:moveTo>
                  <a:pt x="0" y="631963"/>
                </a:moveTo>
                <a:cubicBezTo>
                  <a:pt x="1064540" y="577392"/>
                  <a:pt x="2156371" y="364484"/>
                  <a:pt x="2934063" y="0"/>
                </a:cubicBezTo>
              </a:path>
            </a:pathLst>
          </a:custGeom>
          <a:noFill/>
          <a:ln w="88900" cap="flat">
            <a:gradFill>
              <a:gsLst>
                <a:gs pos="0">
                  <a:schemeClr val="accent1"/>
                </a:gs>
                <a:gs pos="100000">
                  <a:schemeClr val="accent1">
                    <a:lumMod val="60000"/>
                    <a:lumOff val="40000"/>
                  </a:schemeClr>
                </a:gs>
              </a:gsLst>
              <a:lin ang="0" scaled="1"/>
            </a:gra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1313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2" name="三角形 636"/>
          <p:cNvSpPr/>
          <p:nvPr/>
        </p:nvSpPr>
        <p:spPr>
          <a:xfrm rot="4115951">
            <a:off x="11508856" y="1267694"/>
            <a:ext cx="298216" cy="339676"/>
          </a:xfrm>
          <a:prstGeom prst="triangl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43" name="组合 42"/>
          <p:cNvGrpSpPr/>
          <p:nvPr/>
        </p:nvGrpSpPr>
        <p:grpSpPr>
          <a:xfrm>
            <a:off x="705250" y="4619188"/>
            <a:ext cx="2002593" cy="328104"/>
            <a:chOff x="8931417" y="1756645"/>
            <a:chExt cx="1741923" cy="285396"/>
          </a:xfrm>
        </p:grpSpPr>
        <p:sp>
          <p:nvSpPr>
            <p:cNvPr id="44" name="圆角矩形 667"/>
            <p:cNvSpPr/>
            <p:nvPr/>
          </p:nvSpPr>
          <p:spPr>
            <a:xfrm>
              <a:off x="8931417" y="1756645"/>
              <a:ext cx="1741923" cy="285396"/>
            </a:xfrm>
            <a:prstGeom prst="roundRect">
              <a:avLst>
                <a:gd name="adj" fmla="val 50000"/>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5" name="文本框 44"/>
            <p:cNvSpPr txBox="1"/>
            <p:nvPr/>
          </p:nvSpPr>
          <p:spPr>
            <a:xfrm>
              <a:off x="9257939" y="1824191"/>
              <a:ext cx="1344810" cy="16062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新品推广与品牌宣传</a:t>
              </a:r>
              <a:endPar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6" name="椭圆 45"/>
            <p:cNvSpPr/>
            <p:nvPr/>
          </p:nvSpPr>
          <p:spPr>
            <a:xfrm>
              <a:off x="8972912" y="1790014"/>
              <a:ext cx="218661" cy="218661"/>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7" name="矩形 2"/>
            <p:cNvSpPr/>
            <p:nvPr/>
          </p:nvSpPr>
          <p:spPr>
            <a:xfrm rot="2700000">
              <a:off x="9056210" y="1835105"/>
              <a:ext cx="57271" cy="98140"/>
            </a:xfrm>
            <a:custGeom>
              <a:avLst/>
              <a:gdLst>
                <a:gd name="connsiteX0" fmla="*/ 0 w 415436"/>
                <a:gd name="connsiteY0" fmla="*/ 0 h 415436"/>
                <a:gd name="connsiteX1" fmla="*/ 415436 w 415436"/>
                <a:gd name="connsiteY1" fmla="*/ 0 h 415436"/>
                <a:gd name="connsiteX2" fmla="*/ 415436 w 415436"/>
                <a:gd name="connsiteY2" fmla="*/ 415436 h 415436"/>
                <a:gd name="connsiteX3" fmla="*/ 0 w 415436"/>
                <a:gd name="connsiteY3" fmla="*/ 415436 h 415436"/>
                <a:gd name="connsiteX4" fmla="*/ 0 w 415436"/>
                <a:gd name="connsiteY4" fmla="*/ 0 h 415436"/>
                <a:gd name="connsiteX0-1" fmla="*/ 0 w 415436"/>
                <a:gd name="connsiteY0-2" fmla="*/ 415436 h 415436"/>
                <a:gd name="connsiteX1-3" fmla="*/ 415436 w 415436"/>
                <a:gd name="connsiteY1-4" fmla="*/ 0 h 415436"/>
                <a:gd name="connsiteX2-5" fmla="*/ 415436 w 415436"/>
                <a:gd name="connsiteY2-6" fmla="*/ 415436 h 415436"/>
                <a:gd name="connsiteX3-7" fmla="*/ 0 w 415436"/>
                <a:gd name="connsiteY3-8" fmla="*/ 415436 h 415436"/>
                <a:gd name="connsiteX0-9" fmla="*/ 0 w 218174"/>
                <a:gd name="connsiteY0-10" fmla="*/ 415436 h 415436"/>
                <a:gd name="connsiteX1-11" fmla="*/ 218174 w 218174"/>
                <a:gd name="connsiteY1-12" fmla="*/ 0 h 415436"/>
                <a:gd name="connsiteX2-13" fmla="*/ 218174 w 218174"/>
                <a:gd name="connsiteY2-14" fmla="*/ 415436 h 415436"/>
                <a:gd name="connsiteX3-15" fmla="*/ 0 w 218174"/>
                <a:gd name="connsiteY3-16" fmla="*/ 415436 h 415436"/>
                <a:gd name="connsiteX0-17" fmla="*/ 0 w 218174"/>
                <a:gd name="connsiteY0-18" fmla="*/ 415436 h 415436"/>
                <a:gd name="connsiteX1-19" fmla="*/ 118424 w 218174"/>
                <a:gd name="connsiteY1-20" fmla="*/ 208567 h 415436"/>
                <a:gd name="connsiteX2-21" fmla="*/ 218174 w 218174"/>
                <a:gd name="connsiteY2-22" fmla="*/ 0 h 415436"/>
                <a:gd name="connsiteX3-23" fmla="*/ 218174 w 218174"/>
                <a:gd name="connsiteY3-24" fmla="*/ 415436 h 415436"/>
                <a:gd name="connsiteX4-25" fmla="*/ 0 w 218174"/>
                <a:gd name="connsiteY4-26" fmla="*/ 415436 h 415436"/>
                <a:gd name="connsiteX0-27" fmla="*/ 27697 w 245871"/>
                <a:gd name="connsiteY0-28" fmla="*/ 415436 h 415436"/>
                <a:gd name="connsiteX1-29" fmla="*/ 0 w 245871"/>
                <a:gd name="connsiteY1-30" fmla="*/ 120895 h 415436"/>
                <a:gd name="connsiteX2-31" fmla="*/ 245871 w 245871"/>
                <a:gd name="connsiteY2-32" fmla="*/ 0 h 415436"/>
                <a:gd name="connsiteX3-33" fmla="*/ 245871 w 245871"/>
                <a:gd name="connsiteY3-34" fmla="*/ 415436 h 415436"/>
                <a:gd name="connsiteX4-35" fmla="*/ 27697 w 245871"/>
                <a:gd name="connsiteY4-36" fmla="*/ 415436 h 415436"/>
                <a:gd name="connsiteX0-37" fmla="*/ 0 w 245871"/>
                <a:gd name="connsiteY0-38" fmla="*/ 120895 h 415436"/>
                <a:gd name="connsiteX1-39" fmla="*/ 245871 w 245871"/>
                <a:gd name="connsiteY1-40" fmla="*/ 0 h 415436"/>
                <a:gd name="connsiteX2-41" fmla="*/ 245871 w 245871"/>
                <a:gd name="connsiteY2-42" fmla="*/ 415436 h 415436"/>
                <a:gd name="connsiteX3-43" fmla="*/ 27697 w 245871"/>
                <a:gd name="connsiteY3-44" fmla="*/ 415436 h 415436"/>
                <a:gd name="connsiteX4-45" fmla="*/ 91440 w 245871"/>
                <a:gd name="connsiteY4-46" fmla="*/ 212335 h 415436"/>
                <a:gd name="connsiteX0-47" fmla="*/ 0 w 245871"/>
                <a:gd name="connsiteY0-48" fmla="*/ 120895 h 415436"/>
                <a:gd name="connsiteX1-49" fmla="*/ 245871 w 245871"/>
                <a:gd name="connsiteY1-50" fmla="*/ 0 h 415436"/>
                <a:gd name="connsiteX2-51" fmla="*/ 245871 w 245871"/>
                <a:gd name="connsiteY2-52" fmla="*/ 415436 h 415436"/>
                <a:gd name="connsiteX3-53" fmla="*/ 27697 w 245871"/>
                <a:gd name="connsiteY3-54" fmla="*/ 415436 h 415436"/>
                <a:gd name="connsiteX0-55" fmla="*/ 218174 w 218174"/>
                <a:gd name="connsiteY0-56" fmla="*/ 0 h 415436"/>
                <a:gd name="connsiteX1-57" fmla="*/ 218174 w 218174"/>
                <a:gd name="connsiteY1-58" fmla="*/ 415436 h 415436"/>
                <a:gd name="connsiteX2-59" fmla="*/ 0 w 218174"/>
                <a:gd name="connsiteY2-60" fmla="*/ 415436 h 415436"/>
              </a:gdLst>
              <a:ahLst/>
              <a:cxnLst>
                <a:cxn ang="0">
                  <a:pos x="connsiteX0-1" y="connsiteY0-2"/>
                </a:cxn>
                <a:cxn ang="0">
                  <a:pos x="connsiteX1-3" y="connsiteY1-4"/>
                </a:cxn>
                <a:cxn ang="0">
                  <a:pos x="connsiteX2-5" y="connsiteY2-6"/>
                </a:cxn>
              </a:cxnLst>
              <a:rect l="l" t="t" r="r" b="b"/>
              <a:pathLst>
                <a:path w="218174" h="415436">
                  <a:moveTo>
                    <a:pt x="218174" y="0"/>
                  </a:moveTo>
                  <a:lnTo>
                    <a:pt x="218174" y="415436"/>
                  </a:lnTo>
                  <a:lnTo>
                    <a:pt x="0" y="415436"/>
                  </a:lnTo>
                </a:path>
              </a:pathLst>
            </a:custGeom>
            <a:noFill/>
            <a:ln w="38100" cap="rnd">
              <a:solidFill>
                <a:schemeClr val="accent1">
                  <a:lumMod val="40000"/>
                  <a:lumOff val="60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accent1">
                    <a:lumMod val="40000"/>
                    <a:lumOff val="60000"/>
                  </a:schemeClr>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
        <p:nvSpPr>
          <p:cNvPr id="48" name="文本框 47"/>
          <p:cNvSpPr txBox="1"/>
          <p:nvPr/>
        </p:nvSpPr>
        <p:spPr>
          <a:xfrm>
            <a:off x="964134" y="2789518"/>
            <a:ext cx="1447222" cy="27686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第一季度</a:t>
            </a:r>
            <a:endParaRPr kumimoji="0" lang="zh-CN" altLang="en-US" sz="18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9" name="文本框 48"/>
          <p:cNvSpPr txBox="1"/>
          <p:nvPr/>
        </p:nvSpPr>
        <p:spPr>
          <a:xfrm>
            <a:off x="1058156" y="3035593"/>
            <a:ext cx="1259178" cy="230832"/>
          </a:xfrm>
          <a:prstGeom prst="rect">
            <a:avLst/>
          </a:prstGeom>
          <a:noFill/>
        </p:spPr>
        <p:txBody>
          <a:bodyPr wrap="square" rtlCol="0">
            <a:spAutoFit/>
          </a:bodyPr>
          <a:lstStyle>
            <a:defPPr>
              <a:defRPr lang="zh-CN"/>
            </a:defPPr>
            <a:lvl1pPr marR="0" lvl="0" indent="0" fontAlgn="auto">
              <a:lnSpc>
                <a:spcPct val="100000"/>
              </a:lnSpc>
              <a:spcBef>
                <a:spcPts val="0"/>
              </a:spcBef>
              <a:spcAft>
                <a:spcPts val="0"/>
              </a:spcAft>
              <a:buClrTx/>
              <a:buSzTx/>
              <a:buFontTx/>
              <a:buNone/>
              <a:defRPr kumimoji="0" sz="1200" b="0" i="0" u="none" strike="noStrike" cap="none" spc="0" normalizeH="0" baseline="0">
                <a:ln>
                  <a:noFill/>
                </a:ln>
                <a:solidFill>
                  <a:schemeClr val="bg2">
                    <a:alpha val="40000"/>
                  </a:scheme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all"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first quarter</a:t>
            </a:r>
            <a:endParaRPr kumimoji="0" lang="en-US" altLang="zh-CN" sz="900" b="0" i="0" u="none" strike="noStrike" kern="1200" cap="all"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0" name="文本框 49"/>
          <p:cNvSpPr txBox="1"/>
          <p:nvPr/>
        </p:nvSpPr>
        <p:spPr>
          <a:xfrm>
            <a:off x="8650307" y="1303233"/>
            <a:ext cx="2660880" cy="27686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第四季度</a:t>
            </a:r>
            <a:endParaRPr kumimoji="0" lang="zh-CN" altLang="en-US" sz="18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1" name="文本框 50"/>
          <p:cNvSpPr txBox="1"/>
          <p:nvPr/>
        </p:nvSpPr>
        <p:spPr>
          <a:xfrm>
            <a:off x="9351158" y="1549308"/>
            <a:ext cx="1259178" cy="229870"/>
          </a:xfrm>
          <a:prstGeom prst="rect">
            <a:avLst/>
          </a:prstGeom>
          <a:noFill/>
        </p:spPr>
        <p:txBody>
          <a:bodyPr wrap="square" rtlCol="0">
            <a:spAutoFit/>
          </a:bodyPr>
          <a:lstStyle>
            <a:defPPr>
              <a:defRPr lang="zh-CN"/>
            </a:defPPr>
            <a:lvl1pPr marR="0" lvl="0" indent="0" fontAlgn="auto">
              <a:lnSpc>
                <a:spcPct val="100000"/>
              </a:lnSpc>
              <a:spcBef>
                <a:spcPts val="0"/>
              </a:spcBef>
              <a:spcAft>
                <a:spcPts val="0"/>
              </a:spcAft>
              <a:buClrTx/>
              <a:buSzTx/>
              <a:buFontTx/>
              <a:buNone/>
              <a:defRPr kumimoji="0" sz="1200" b="0" i="0" u="none" strike="noStrike" cap="none" spc="0" normalizeH="0" baseline="0">
                <a:ln>
                  <a:noFill/>
                </a:ln>
                <a:solidFill>
                  <a:schemeClr val="bg2">
                    <a:alpha val="40000"/>
                  </a:scheme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all"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Fourth quarter</a:t>
            </a:r>
            <a:endParaRPr kumimoji="0" lang="en-US" altLang="zh-CN" sz="900" b="0" i="0" u="none" strike="noStrike" kern="1200" cap="all"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2" name="文本框 51"/>
          <p:cNvSpPr txBox="1"/>
          <p:nvPr/>
        </p:nvSpPr>
        <p:spPr>
          <a:xfrm>
            <a:off x="3895988" y="2470662"/>
            <a:ext cx="1447222" cy="27686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第二季度</a:t>
            </a:r>
            <a:endParaRPr kumimoji="0" lang="zh-CN" altLang="en-US" sz="18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3" name="文本框 52"/>
          <p:cNvSpPr txBox="1"/>
          <p:nvPr/>
        </p:nvSpPr>
        <p:spPr>
          <a:xfrm>
            <a:off x="3990010" y="2716737"/>
            <a:ext cx="1259178" cy="229870"/>
          </a:xfrm>
          <a:prstGeom prst="rect">
            <a:avLst/>
          </a:prstGeom>
          <a:noFill/>
        </p:spPr>
        <p:txBody>
          <a:bodyPr wrap="square" rtlCol="0">
            <a:spAutoFit/>
          </a:bodyPr>
          <a:lstStyle>
            <a:defPPr>
              <a:defRPr lang="zh-CN"/>
            </a:defPPr>
            <a:lvl1pPr marR="0" lvl="0" indent="0" fontAlgn="auto">
              <a:lnSpc>
                <a:spcPct val="100000"/>
              </a:lnSpc>
              <a:spcBef>
                <a:spcPts val="0"/>
              </a:spcBef>
              <a:spcAft>
                <a:spcPts val="0"/>
              </a:spcAft>
              <a:buClrTx/>
              <a:buSzTx/>
              <a:buFontTx/>
              <a:buNone/>
              <a:defRPr kumimoji="0" sz="1200" b="0" i="0" u="none" strike="noStrike" cap="none" spc="0" normalizeH="0" baseline="0">
                <a:ln>
                  <a:noFill/>
                </a:ln>
                <a:solidFill>
                  <a:schemeClr val="bg2">
                    <a:alpha val="40000"/>
                  </a:scheme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all"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Second quarter</a:t>
            </a:r>
            <a:endParaRPr kumimoji="0" lang="en-US" altLang="zh-CN" sz="900" b="0" i="0" u="none" strike="noStrike" kern="1200" cap="all"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4" name="文本框 53"/>
          <p:cNvSpPr txBox="1"/>
          <p:nvPr/>
        </p:nvSpPr>
        <p:spPr>
          <a:xfrm>
            <a:off x="6827842" y="1945161"/>
            <a:ext cx="1447222" cy="27686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第三季度</a:t>
            </a:r>
            <a:endParaRPr kumimoji="0" lang="zh-CN" altLang="en-US" sz="18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5" name="文本框 54"/>
          <p:cNvSpPr txBox="1"/>
          <p:nvPr/>
        </p:nvSpPr>
        <p:spPr>
          <a:xfrm>
            <a:off x="6921864" y="2191236"/>
            <a:ext cx="1259178" cy="229870"/>
          </a:xfrm>
          <a:prstGeom prst="rect">
            <a:avLst/>
          </a:prstGeom>
          <a:noFill/>
        </p:spPr>
        <p:txBody>
          <a:bodyPr wrap="square" rtlCol="0">
            <a:spAutoFit/>
          </a:bodyPr>
          <a:lstStyle>
            <a:defPPr>
              <a:defRPr lang="zh-CN"/>
            </a:defPPr>
            <a:lvl1pPr marR="0" lvl="0" indent="0" fontAlgn="auto">
              <a:lnSpc>
                <a:spcPct val="100000"/>
              </a:lnSpc>
              <a:spcBef>
                <a:spcPts val="0"/>
              </a:spcBef>
              <a:spcAft>
                <a:spcPts val="0"/>
              </a:spcAft>
              <a:buClrTx/>
              <a:buSzTx/>
              <a:buFontTx/>
              <a:buNone/>
              <a:defRPr kumimoji="0" sz="1200" b="0" i="0" u="none" strike="noStrike" cap="none" spc="0" normalizeH="0" baseline="0">
                <a:ln>
                  <a:noFill/>
                </a:ln>
                <a:solidFill>
                  <a:schemeClr val="bg2">
                    <a:alpha val="40000"/>
                  </a:scheme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all"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Third quarter</a:t>
            </a:r>
            <a:endParaRPr kumimoji="0" lang="en-US" altLang="zh-CN" sz="900" b="0" i="0" u="none" strike="noStrike" kern="1200" cap="all"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6" name="TextBox 50"/>
          <p:cNvSpPr txBox="1"/>
          <p:nvPr/>
        </p:nvSpPr>
        <p:spPr>
          <a:xfrm>
            <a:off x="424992" y="1721185"/>
            <a:ext cx="5621564" cy="540917"/>
          </a:xfrm>
          <a:prstGeom prst="rect">
            <a:avLst/>
          </a:prstGeom>
          <a:noFill/>
        </p:spPr>
        <p:txBody>
          <a:bodyPr wrap="square" rtlCol="0">
            <a:spAutoFit/>
          </a:bodyPr>
          <a:lstStyle>
            <a:defPPr>
              <a:defRPr lang="zh-CN"/>
            </a:defPPr>
            <a:lvl1pPr>
              <a:lnSpc>
                <a:spcPct val="120000"/>
              </a:lnSpc>
              <a:defRPr sz="1200">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核心目标一：提升品牌市场份额，增强品牌知名度和美誉度，提高购买转化率</a:t>
            </a:r>
            <a:endPar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核心目标二：增强用户粘性和忠诚度</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7" name="TextBox 50"/>
          <p:cNvSpPr txBox="1"/>
          <p:nvPr/>
        </p:nvSpPr>
        <p:spPr>
          <a:xfrm>
            <a:off x="479708" y="1220587"/>
            <a:ext cx="643890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2026</a:t>
            </a:r>
            <a:r>
              <a:rPr kumimoji="0" lang="zh-CN" altLang="en-US" sz="2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年度营销活动的时间轴规划 </a:t>
            </a:r>
            <a:r>
              <a:rPr kumimoji="0" lang="en-US" altLang="zh-CN" sz="2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a:t>
            </a:r>
            <a:r>
              <a:rPr kumimoji="0" lang="zh-CN" altLang="en-US" sz="2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 线上商城运营策划部</a:t>
            </a:r>
            <a:endParaRPr kumimoji="0" lang="en-US" sz="2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8" name="矩形 57"/>
          <p:cNvSpPr/>
          <p:nvPr/>
        </p:nvSpPr>
        <p:spPr>
          <a:xfrm>
            <a:off x="374404" y="1854434"/>
            <a:ext cx="70639" cy="7063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9" name="矩形 58"/>
          <p:cNvSpPr/>
          <p:nvPr/>
        </p:nvSpPr>
        <p:spPr>
          <a:xfrm>
            <a:off x="374404" y="2079859"/>
            <a:ext cx="70639" cy="7063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0" name="矩形 59"/>
          <p:cNvSpPr/>
          <p:nvPr/>
        </p:nvSpPr>
        <p:spPr>
          <a:xfrm>
            <a:off x="342040" y="5867035"/>
            <a:ext cx="2691410" cy="715642"/>
          </a:xfrm>
          <a:prstGeom prst="rect">
            <a:avLst/>
          </a:prstGeom>
          <a:gradFill>
            <a:gsLst>
              <a:gs pos="0">
                <a:schemeClr val="accent1"/>
              </a:gs>
              <a:gs pos="100000">
                <a:schemeClr val="accent1">
                  <a:lumMod val="60000"/>
                  <a:lumOff val="40000"/>
                </a:schemeClr>
              </a:gs>
            </a:gsLst>
            <a:lin ang="2700000" scaled="0"/>
          </a:gradFill>
          <a:ln w="12700" cap="flat" cmpd="sng" algn="ctr">
            <a:noFill/>
            <a:prstDash val="dash"/>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1" name="三角形 3"/>
          <p:cNvSpPr/>
          <p:nvPr/>
        </p:nvSpPr>
        <p:spPr>
          <a:xfrm rot="10800000" flipV="1">
            <a:off x="1534552" y="5678177"/>
            <a:ext cx="306386" cy="188356"/>
          </a:xfrm>
          <a:prstGeom prst="triangle">
            <a:avLst/>
          </a:prstGeom>
          <a:gradFill>
            <a:gsLst>
              <a:gs pos="0">
                <a:schemeClr val="accent1"/>
              </a:gs>
              <a:gs pos="100000">
                <a:schemeClr val="accent1">
                  <a:lumMod val="60000"/>
                  <a:lumOff val="40000"/>
                </a:schemeClr>
              </a:gs>
            </a:gsLst>
            <a:lin ang="2700000" scaled="0"/>
          </a:gradFill>
          <a:ln w="12700" cap="flat" cmpd="sng" algn="ctr">
            <a:noFill/>
            <a:prstDash val="dash"/>
            <a:miter lim="800000"/>
          </a:ln>
          <a:effectLst/>
        </p:spPr>
        <p:txBody>
          <a:bodyPr wrap="square" rtlCol="0" anchor="ctr">
            <a:noAutofit/>
          </a:bodyPr>
          <a:lstStyle/>
          <a:p>
            <a:pPr lvl="0" algn="ctr">
              <a:spcBef>
                <a:spcPts val="0"/>
              </a:spcBef>
              <a:spcAft>
                <a:spcPts val="0"/>
              </a:spcAft>
              <a:buClrTx/>
              <a:buSzTx/>
              <a:buFontTx/>
              <a:defRPr/>
            </a:pPr>
            <a:endParaRPr lang="zh-CN" altLang="en-US" kern="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62" name="组合 61"/>
          <p:cNvGrpSpPr/>
          <p:nvPr/>
        </p:nvGrpSpPr>
        <p:grpSpPr>
          <a:xfrm>
            <a:off x="7114793" y="2826521"/>
            <a:ext cx="873320" cy="873320"/>
            <a:chOff x="1390973" y="1041271"/>
            <a:chExt cx="687451" cy="687450"/>
          </a:xfrm>
          <a:gradFill>
            <a:gsLst>
              <a:gs pos="0">
                <a:schemeClr val="accent1"/>
              </a:gs>
              <a:gs pos="100000">
                <a:schemeClr val="accent1">
                  <a:lumMod val="60000"/>
                  <a:lumOff val="40000"/>
                </a:schemeClr>
              </a:gs>
            </a:gsLst>
            <a:lin ang="2700000" scaled="0"/>
          </a:gradFill>
        </p:grpSpPr>
        <p:sp>
          <p:nvSpPr>
            <p:cNvPr id="63" name="椭圆 62"/>
            <p:cNvSpPr/>
            <p:nvPr/>
          </p:nvSpPr>
          <p:spPr>
            <a:xfrm>
              <a:off x="1390973" y="1041271"/>
              <a:ext cx="687451" cy="687450"/>
            </a:xfrm>
            <a:prstGeom prst="ellipse">
              <a:avLst/>
            </a:prstGeom>
            <a:grp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4" name="flag-pole-with-black-flag_38306"/>
            <p:cNvSpPr/>
            <p:nvPr/>
          </p:nvSpPr>
          <p:spPr>
            <a:xfrm>
              <a:off x="1608722" y="1229976"/>
              <a:ext cx="285637" cy="340022"/>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bg1"/>
            </a:solidFill>
            <a:ln w="12700" cap="flat" cmpd="sng" algn="ctr">
              <a:noFill/>
              <a:prstDash val="solid"/>
              <a:miter lim="800000"/>
            </a:ln>
            <a:effectLst/>
          </p:spPr>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0" cap="none" spc="0" normalizeH="0" baseline="0" noProof="0">
                <a:ln>
                  <a:noFill/>
                </a:ln>
                <a:solidFill>
                  <a:srgbClr val="F9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
        <p:nvSpPr>
          <p:cNvPr id="65" name="椭圆 64"/>
          <p:cNvSpPr/>
          <p:nvPr/>
        </p:nvSpPr>
        <p:spPr>
          <a:xfrm>
            <a:off x="4182939" y="3301543"/>
            <a:ext cx="873320" cy="873320"/>
          </a:xfrm>
          <a:prstGeom prst="ellipse">
            <a:avLst/>
          </a:prstGeom>
          <a:gradFill>
            <a:gsLst>
              <a:gs pos="0">
                <a:schemeClr val="accent5"/>
              </a:gs>
              <a:gs pos="100000">
                <a:schemeClr val="accent5">
                  <a:lumMod val="60000"/>
                  <a:lumOff val="40000"/>
                </a:schemeClr>
              </a:gs>
            </a:gsLst>
            <a:lin ang="27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6" name="椭圆 65"/>
          <p:cNvSpPr/>
          <p:nvPr/>
        </p:nvSpPr>
        <p:spPr>
          <a:xfrm>
            <a:off x="10014021" y="2120443"/>
            <a:ext cx="873320" cy="873320"/>
          </a:xfrm>
          <a:prstGeom prst="ellipse">
            <a:avLst/>
          </a:prstGeom>
          <a:gradFill>
            <a:gsLst>
              <a:gs pos="0">
                <a:schemeClr val="accent5"/>
              </a:gs>
              <a:gs pos="100000">
                <a:schemeClr val="accent5">
                  <a:lumMod val="60000"/>
                  <a:lumOff val="40000"/>
                </a:schemeClr>
              </a:gs>
            </a:gsLst>
            <a:lin ang="27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7" name="TextBox 50"/>
          <p:cNvSpPr txBox="1"/>
          <p:nvPr/>
        </p:nvSpPr>
        <p:spPr>
          <a:xfrm>
            <a:off x="787499" y="6045833"/>
            <a:ext cx="1800493"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增强品牌认知度</a:t>
            </a: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9" name="TextBox 50"/>
          <p:cNvSpPr txBox="1"/>
          <p:nvPr/>
        </p:nvSpPr>
        <p:spPr>
          <a:xfrm>
            <a:off x="3836615" y="6045833"/>
            <a:ext cx="1569660"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节日特色活动</a:t>
            </a: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0" name="TextBox 50"/>
          <p:cNvSpPr txBox="1"/>
          <p:nvPr/>
        </p:nvSpPr>
        <p:spPr>
          <a:xfrm>
            <a:off x="6770315" y="6045833"/>
            <a:ext cx="1569660"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增强品牌形象</a:t>
            </a: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4" name="TextBox 50"/>
          <p:cNvSpPr txBox="1"/>
          <p:nvPr/>
        </p:nvSpPr>
        <p:spPr>
          <a:xfrm>
            <a:off x="9435083" y="6045833"/>
            <a:ext cx="2031326"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线上线下互动活动</a:t>
            </a: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75" name="组合 74"/>
          <p:cNvGrpSpPr/>
          <p:nvPr/>
        </p:nvGrpSpPr>
        <p:grpSpPr>
          <a:xfrm>
            <a:off x="3618303" y="4386106"/>
            <a:ext cx="2002593" cy="328104"/>
            <a:chOff x="8931417" y="1756645"/>
            <a:chExt cx="1741923" cy="285396"/>
          </a:xfrm>
        </p:grpSpPr>
        <p:sp>
          <p:nvSpPr>
            <p:cNvPr id="76" name="圆角矩形 465"/>
            <p:cNvSpPr/>
            <p:nvPr/>
          </p:nvSpPr>
          <p:spPr>
            <a:xfrm>
              <a:off x="8931417" y="1756645"/>
              <a:ext cx="1741923" cy="285396"/>
            </a:xfrm>
            <a:prstGeom prst="roundRect">
              <a:avLst>
                <a:gd name="adj" fmla="val 50000"/>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7" name="文本框 76"/>
            <p:cNvSpPr txBox="1"/>
            <p:nvPr/>
          </p:nvSpPr>
          <p:spPr>
            <a:xfrm>
              <a:off x="9257939" y="1824191"/>
              <a:ext cx="1344810" cy="16062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节日营销与用户互动</a:t>
              </a:r>
              <a:endPar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8" name="椭圆 77"/>
            <p:cNvSpPr/>
            <p:nvPr/>
          </p:nvSpPr>
          <p:spPr>
            <a:xfrm>
              <a:off x="8972912" y="1790014"/>
              <a:ext cx="218661" cy="218661"/>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9" name="矩形 2"/>
            <p:cNvSpPr/>
            <p:nvPr/>
          </p:nvSpPr>
          <p:spPr>
            <a:xfrm rot="2700000">
              <a:off x="9056210" y="1835105"/>
              <a:ext cx="57271" cy="98140"/>
            </a:xfrm>
            <a:custGeom>
              <a:avLst/>
              <a:gdLst>
                <a:gd name="connsiteX0" fmla="*/ 0 w 415436"/>
                <a:gd name="connsiteY0" fmla="*/ 0 h 415436"/>
                <a:gd name="connsiteX1" fmla="*/ 415436 w 415436"/>
                <a:gd name="connsiteY1" fmla="*/ 0 h 415436"/>
                <a:gd name="connsiteX2" fmla="*/ 415436 w 415436"/>
                <a:gd name="connsiteY2" fmla="*/ 415436 h 415436"/>
                <a:gd name="connsiteX3" fmla="*/ 0 w 415436"/>
                <a:gd name="connsiteY3" fmla="*/ 415436 h 415436"/>
                <a:gd name="connsiteX4" fmla="*/ 0 w 415436"/>
                <a:gd name="connsiteY4" fmla="*/ 0 h 415436"/>
                <a:gd name="connsiteX0-1" fmla="*/ 0 w 415436"/>
                <a:gd name="connsiteY0-2" fmla="*/ 415436 h 415436"/>
                <a:gd name="connsiteX1-3" fmla="*/ 415436 w 415436"/>
                <a:gd name="connsiteY1-4" fmla="*/ 0 h 415436"/>
                <a:gd name="connsiteX2-5" fmla="*/ 415436 w 415436"/>
                <a:gd name="connsiteY2-6" fmla="*/ 415436 h 415436"/>
                <a:gd name="connsiteX3-7" fmla="*/ 0 w 415436"/>
                <a:gd name="connsiteY3-8" fmla="*/ 415436 h 415436"/>
                <a:gd name="connsiteX0-9" fmla="*/ 0 w 218174"/>
                <a:gd name="connsiteY0-10" fmla="*/ 415436 h 415436"/>
                <a:gd name="connsiteX1-11" fmla="*/ 218174 w 218174"/>
                <a:gd name="connsiteY1-12" fmla="*/ 0 h 415436"/>
                <a:gd name="connsiteX2-13" fmla="*/ 218174 w 218174"/>
                <a:gd name="connsiteY2-14" fmla="*/ 415436 h 415436"/>
                <a:gd name="connsiteX3-15" fmla="*/ 0 w 218174"/>
                <a:gd name="connsiteY3-16" fmla="*/ 415436 h 415436"/>
                <a:gd name="connsiteX0-17" fmla="*/ 0 w 218174"/>
                <a:gd name="connsiteY0-18" fmla="*/ 415436 h 415436"/>
                <a:gd name="connsiteX1-19" fmla="*/ 118424 w 218174"/>
                <a:gd name="connsiteY1-20" fmla="*/ 208567 h 415436"/>
                <a:gd name="connsiteX2-21" fmla="*/ 218174 w 218174"/>
                <a:gd name="connsiteY2-22" fmla="*/ 0 h 415436"/>
                <a:gd name="connsiteX3-23" fmla="*/ 218174 w 218174"/>
                <a:gd name="connsiteY3-24" fmla="*/ 415436 h 415436"/>
                <a:gd name="connsiteX4-25" fmla="*/ 0 w 218174"/>
                <a:gd name="connsiteY4-26" fmla="*/ 415436 h 415436"/>
                <a:gd name="connsiteX0-27" fmla="*/ 27697 w 245871"/>
                <a:gd name="connsiteY0-28" fmla="*/ 415436 h 415436"/>
                <a:gd name="connsiteX1-29" fmla="*/ 0 w 245871"/>
                <a:gd name="connsiteY1-30" fmla="*/ 120895 h 415436"/>
                <a:gd name="connsiteX2-31" fmla="*/ 245871 w 245871"/>
                <a:gd name="connsiteY2-32" fmla="*/ 0 h 415436"/>
                <a:gd name="connsiteX3-33" fmla="*/ 245871 w 245871"/>
                <a:gd name="connsiteY3-34" fmla="*/ 415436 h 415436"/>
                <a:gd name="connsiteX4-35" fmla="*/ 27697 w 245871"/>
                <a:gd name="connsiteY4-36" fmla="*/ 415436 h 415436"/>
                <a:gd name="connsiteX0-37" fmla="*/ 0 w 245871"/>
                <a:gd name="connsiteY0-38" fmla="*/ 120895 h 415436"/>
                <a:gd name="connsiteX1-39" fmla="*/ 245871 w 245871"/>
                <a:gd name="connsiteY1-40" fmla="*/ 0 h 415436"/>
                <a:gd name="connsiteX2-41" fmla="*/ 245871 w 245871"/>
                <a:gd name="connsiteY2-42" fmla="*/ 415436 h 415436"/>
                <a:gd name="connsiteX3-43" fmla="*/ 27697 w 245871"/>
                <a:gd name="connsiteY3-44" fmla="*/ 415436 h 415436"/>
                <a:gd name="connsiteX4-45" fmla="*/ 91440 w 245871"/>
                <a:gd name="connsiteY4-46" fmla="*/ 212335 h 415436"/>
                <a:gd name="connsiteX0-47" fmla="*/ 0 w 245871"/>
                <a:gd name="connsiteY0-48" fmla="*/ 120895 h 415436"/>
                <a:gd name="connsiteX1-49" fmla="*/ 245871 w 245871"/>
                <a:gd name="connsiteY1-50" fmla="*/ 0 h 415436"/>
                <a:gd name="connsiteX2-51" fmla="*/ 245871 w 245871"/>
                <a:gd name="connsiteY2-52" fmla="*/ 415436 h 415436"/>
                <a:gd name="connsiteX3-53" fmla="*/ 27697 w 245871"/>
                <a:gd name="connsiteY3-54" fmla="*/ 415436 h 415436"/>
                <a:gd name="connsiteX0-55" fmla="*/ 218174 w 218174"/>
                <a:gd name="connsiteY0-56" fmla="*/ 0 h 415436"/>
                <a:gd name="connsiteX1-57" fmla="*/ 218174 w 218174"/>
                <a:gd name="connsiteY1-58" fmla="*/ 415436 h 415436"/>
                <a:gd name="connsiteX2-59" fmla="*/ 0 w 218174"/>
                <a:gd name="connsiteY2-60" fmla="*/ 415436 h 415436"/>
              </a:gdLst>
              <a:ahLst/>
              <a:cxnLst>
                <a:cxn ang="0">
                  <a:pos x="connsiteX0-1" y="connsiteY0-2"/>
                </a:cxn>
                <a:cxn ang="0">
                  <a:pos x="connsiteX1-3" y="connsiteY1-4"/>
                </a:cxn>
                <a:cxn ang="0">
                  <a:pos x="connsiteX2-5" y="connsiteY2-6"/>
                </a:cxn>
              </a:cxnLst>
              <a:rect l="l" t="t" r="r" b="b"/>
              <a:pathLst>
                <a:path w="218174" h="415436">
                  <a:moveTo>
                    <a:pt x="218174" y="0"/>
                  </a:moveTo>
                  <a:lnTo>
                    <a:pt x="218174" y="415436"/>
                  </a:lnTo>
                  <a:lnTo>
                    <a:pt x="0" y="415436"/>
                  </a:lnTo>
                </a:path>
              </a:pathLst>
            </a:custGeom>
            <a:noFill/>
            <a:ln w="38100" cap="rnd">
              <a:solidFill>
                <a:schemeClr val="accent5">
                  <a:lumMod val="40000"/>
                  <a:lumOff val="60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80" name="组合 79"/>
          <p:cNvGrpSpPr/>
          <p:nvPr/>
        </p:nvGrpSpPr>
        <p:grpSpPr>
          <a:xfrm>
            <a:off x="6511696" y="3902012"/>
            <a:ext cx="2002593" cy="328104"/>
            <a:chOff x="8931417" y="1756645"/>
            <a:chExt cx="1741923" cy="285396"/>
          </a:xfrm>
        </p:grpSpPr>
        <p:sp>
          <p:nvSpPr>
            <p:cNvPr id="81" name="圆角矩形 470"/>
            <p:cNvSpPr/>
            <p:nvPr/>
          </p:nvSpPr>
          <p:spPr>
            <a:xfrm>
              <a:off x="8931417" y="1756645"/>
              <a:ext cx="1741923" cy="285396"/>
            </a:xfrm>
            <a:prstGeom prst="roundRect">
              <a:avLst>
                <a:gd name="adj" fmla="val 50000"/>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2" name="文本框 81"/>
            <p:cNvSpPr txBox="1"/>
            <p:nvPr/>
          </p:nvSpPr>
          <p:spPr>
            <a:xfrm>
              <a:off x="9257939" y="1824191"/>
              <a:ext cx="1344810" cy="16062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暑期促销与跨界合作</a:t>
              </a:r>
              <a:endPar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3" name="椭圆 82"/>
            <p:cNvSpPr/>
            <p:nvPr/>
          </p:nvSpPr>
          <p:spPr>
            <a:xfrm>
              <a:off x="8972912" y="1790014"/>
              <a:ext cx="218661" cy="218661"/>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4" name="矩形 2"/>
            <p:cNvSpPr/>
            <p:nvPr/>
          </p:nvSpPr>
          <p:spPr>
            <a:xfrm rot="2700000">
              <a:off x="9056210" y="1835105"/>
              <a:ext cx="57271" cy="98140"/>
            </a:xfrm>
            <a:custGeom>
              <a:avLst/>
              <a:gdLst>
                <a:gd name="connsiteX0" fmla="*/ 0 w 415436"/>
                <a:gd name="connsiteY0" fmla="*/ 0 h 415436"/>
                <a:gd name="connsiteX1" fmla="*/ 415436 w 415436"/>
                <a:gd name="connsiteY1" fmla="*/ 0 h 415436"/>
                <a:gd name="connsiteX2" fmla="*/ 415436 w 415436"/>
                <a:gd name="connsiteY2" fmla="*/ 415436 h 415436"/>
                <a:gd name="connsiteX3" fmla="*/ 0 w 415436"/>
                <a:gd name="connsiteY3" fmla="*/ 415436 h 415436"/>
                <a:gd name="connsiteX4" fmla="*/ 0 w 415436"/>
                <a:gd name="connsiteY4" fmla="*/ 0 h 415436"/>
                <a:gd name="connsiteX0-1" fmla="*/ 0 w 415436"/>
                <a:gd name="connsiteY0-2" fmla="*/ 415436 h 415436"/>
                <a:gd name="connsiteX1-3" fmla="*/ 415436 w 415436"/>
                <a:gd name="connsiteY1-4" fmla="*/ 0 h 415436"/>
                <a:gd name="connsiteX2-5" fmla="*/ 415436 w 415436"/>
                <a:gd name="connsiteY2-6" fmla="*/ 415436 h 415436"/>
                <a:gd name="connsiteX3-7" fmla="*/ 0 w 415436"/>
                <a:gd name="connsiteY3-8" fmla="*/ 415436 h 415436"/>
                <a:gd name="connsiteX0-9" fmla="*/ 0 w 218174"/>
                <a:gd name="connsiteY0-10" fmla="*/ 415436 h 415436"/>
                <a:gd name="connsiteX1-11" fmla="*/ 218174 w 218174"/>
                <a:gd name="connsiteY1-12" fmla="*/ 0 h 415436"/>
                <a:gd name="connsiteX2-13" fmla="*/ 218174 w 218174"/>
                <a:gd name="connsiteY2-14" fmla="*/ 415436 h 415436"/>
                <a:gd name="connsiteX3-15" fmla="*/ 0 w 218174"/>
                <a:gd name="connsiteY3-16" fmla="*/ 415436 h 415436"/>
                <a:gd name="connsiteX0-17" fmla="*/ 0 w 218174"/>
                <a:gd name="connsiteY0-18" fmla="*/ 415436 h 415436"/>
                <a:gd name="connsiteX1-19" fmla="*/ 118424 w 218174"/>
                <a:gd name="connsiteY1-20" fmla="*/ 208567 h 415436"/>
                <a:gd name="connsiteX2-21" fmla="*/ 218174 w 218174"/>
                <a:gd name="connsiteY2-22" fmla="*/ 0 h 415436"/>
                <a:gd name="connsiteX3-23" fmla="*/ 218174 w 218174"/>
                <a:gd name="connsiteY3-24" fmla="*/ 415436 h 415436"/>
                <a:gd name="connsiteX4-25" fmla="*/ 0 w 218174"/>
                <a:gd name="connsiteY4-26" fmla="*/ 415436 h 415436"/>
                <a:gd name="connsiteX0-27" fmla="*/ 27697 w 245871"/>
                <a:gd name="connsiteY0-28" fmla="*/ 415436 h 415436"/>
                <a:gd name="connsiteX1-29" fmla="*/ 0 w 245871"/>
                <a:gd name="connsiteY1-30" fmla="*/ 120895 h 415436"/>
                <a:gd name="connsiteX2-31" fmla="*/ 245871 w 245871"/>
                <a:gd name="connsiteY2-32" fmla="*/ 0 h 415436"/>
                <a:gd name="connsiteX3-33" fmla="*/ 245871 w 245871"/>
                <a:gd name="connsiteY3-34" fmla="*/ 415436 h 415436"/>
                <a:gd name="connsiteX4-35" fmla="*/ 27697 w 245871"/>
                <a:gd name="connsiteY4-36" fmla="*/ 415436 h 415436"/>
                <a:gd name="connsiteX0-37" fmla="*/ 0 w 245871"/>
                <a:gd name="connsiteY0-38" fmla="*/ 120895 h 415436"/>
                <a:gd name="connsiteX1-39" fmla="*/ 245871 w 245871"/>
                <a:gd name="connsiteY1-40" fmla="*/ 0 h 415436"/>
                <a:gd name="connsiteX2-41" fmla="*/ 245871 w 245871"/>
                <a:gd name="connsiteY2-42" fmla="*/ 415436 h 415436"/>
                <a:gd name="connsiteX3-43" fmla="*/ 27697 w 245871"/>
                <a:gd name="connsiteY3-44" fmla="*/ 415436 h 415436"/>
                <a:gd name="connsiteX4-45" fmla="*/ 91440 w 245871"/>
                <a:gd name="connsiteY4-46" fmla="*/ 212335 h 415436"/>
                <a:gd name="connsiteX0-47" fmla="*/ 0 w 245871"/>
                <a:gd name="connsiteY0-48" fmla="*/ 120895 h 415436"/>
                <a:gd name="connsiteX1-49" fmla="*/ 245871 w 245871"/>
                <a:gd name="connsiteY1-50" fmla="*/ 0 h 415436"/>
                <a:gd name="connsiteX2-51" fmla="*/ 245871 w 245871"/>
                <a:gd name="connsiteY2-52" fmla="*/ 415436 h 415436"/>
                <a:gd name="connsiteX3-53" fmla="*/ 27697 w 245871"/>
                <a:gd name="connsiteY3-54" fmla="*/ 415436 h 415436"/>
                <a:gd name="connsiteX0-55" fmla="*/ 218174 w 218174"/>
                <a:gd name="connsiteY0-56" fmla="*/ 0 h 415436"/>
                <a:gd name="connsiteX1-57" fmla="*/ 218174 w 218174"/>
                <a:gd name="connsiteY1-58" fmla="*/ 415436 h 415436"/>
                <a:gd name="connsiteX2-59" fmla="*/ 0 w 218174"/>
                <a:gd name="connsiteY2-60" fmla="*/ 415436 h 415436"/>
              </a:gdLst>
              <a:ahLst/>
              <a:cxnLst>
                <a:cxn ang="0">
                  <a:pos x="connsiteX0-1" y="connsiteY0-2"/>
                </a:cxn>
                <a:cxn ang="0">
                  <a:pos x="connsiteX1-3" y="connsiteY1-4"/>
                </a:cxn>
                <a:cxn ang="0">
                  <a:pos x="connsiteX2-5" y="connsiteY2-6"/>
                </a:cxn>
              </a:cxnLst>
              <a:rect l="l" t="t" r="r" b="b"/>
              <a:pathLst>
                <a:path w="218174" h="415436">
                  <a:moveTo>
                    <a:pt x="218174" y="0"/>
                  </a:moveTo>
                  <a:lnTo>
                    <a:pt x="218174" y="415436"/>
                  </a:lnTo>
                  <a:lnTo>
                    <a:pt x="0" y="415436"/>
                  </a:lnTo>
                </a:path>
              </a:pathLst>
            </a:custGeom>
            <a:noFill/>
            <a:ln w="38100" cap="rnd">
              <a:solidFill>
                <a:schemeClr val="accent1">
                  <a:lumMod val="40000"/>
                  <a:lumOff val="60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85" name="组合 84"/>
          <p:cNvGrpSpPr/>
          <p:nvPr/>
        </p:nvGrpSpPr>
        <p:grpSpPr>
          <a:xfrm>
            <a:off x="9449385" y="3218526"/>
            <a:ext cx="2002593" cy="328104"/>
            <a:chOff x="8931417" y="1756645"/>
            <a:chExt cx="1741923" cy="285396"/>
          </a:xfrm>
        </p:grpSpPr>
        <p:sp>
          <p:nvSpPr>
            <p:cNvPr id="86" name="圆角矩形 475"/>
            <p:cNvSpPr/>
            <p:nvPr/>
          </p:nvSpPr>
          <p:spPr>
            <a:xfrm>
              <a:off x="8931417" y="1756645"/>
              <a:ext cx="1741923" cy="285396"/>
            </a:xfrm>
            <a:prstGeom prst="roundRect">
              <a:avLst>
                <a:gd name="adj" fmla="val 50000"/>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7" name="文本框 86"/>
            <p:cNvSpPr txBox="1"/>
            <p:nvPr/>
          </p:nvSpPr>
          <p:spPr>
            <a:xfrm>
              <a:off x="9257939" y="1824191"/>
              <a:ext cx="1344810" cy="16062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秋冬新品与双</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11</a:t>
              </a: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大促</a:t>
              </a:r>
              <a:endPar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56" name="椭圆 255"/>
            <p:cNvSpPr/>
            <p:nvPr/>
          </p:nvSpPr>
          <p:spPr>
            <a:xfrm>
              <a:off x="8972912" y="1790014"/>
              <a:ext cx="218661" cy="218661"/>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57" name="矩形 2"/>
            <p:cNvSpPr/>
            <p:nvPr/>
          </p:nvSpPr>
          <p:spPr>
            <a:xfrm rot="2700000">
              <a:off x="9056210" y="1835105"/>
              <a:ext cx="57271" cy="98140"/>
            </a:xfrm>
            <a:custGeom>
              <a:avLst/>
              <a:gdLst>
                <a:gd name="connsiteX0" fmla="*/ 0 w 415436"/>
                <a:gd name="connsiteY0" fmla="*/ 0 h 415436"/>
                <a:gd name="connsiteX1" fmla="*/ 415436 w 415436"/>
                <a:gd name="connsiteY1" fmla="*/ 0 h 415436"/>
                <a:gd name="connsiteX2" fmla="*/ 415436 w 415436"/>
                <a:gd name="connsiteY2" fmla="*/ 415436 h 415436"/>
                <a:gd name="connsiteX3" fmla="*/ 0 w 415436"/>
                <a:gd name="connsiteY3" fmla="*/ 415436 h 415436"/>
                <a:gd name="connsiteX4" fmla="*/ 0 w 415436"/>
                <a:gd name="connsiteY4" fmla="*/ 0 h 415436"/>
                <a:gd name="connsiteX0-1" fmla="*/ 0 w 415436"/>
                <a:gd name="connsiteY0-2" fmla="*/ 415436 h 415436"/>
                <a:gd name="connsiteX1-3" fmla="*/ 415436 w 415436"/>
                <a:gd name="connsiteY1-4" fmla="*/ 0 h 415436"/>
                <a:gd name="connsiteX2-5" fmla="*/ 415436 w 415436"/>
                <a:gd name="connsiteY2-6" fmla="*/ 415436 h 415436"/>
                <a:gd name="connsiteX3-7" fmla="*/ 0 w 415436"/>
                <a:gd name="connsiteY3-8" fmla="*/ 415436 h 415436"/>
                <a:gd name="connsiteX0-9" fmla="*/ 0 w 218174"/>
                <a:gd name="connsiteY0-10" fmla="*/ 415436 h 415436"/>
                <a:gd name="connsiteX1-11" fmla="*/ 218174 w 218174"/>
                <a:gd name="connsiteY1-12" fmla="*/ 0 h 415436"/>
                <a:gd name="connsiteX2-13" fmla="*/ 218174 w 218174"/>
                <a:gd name="connsiteY2-14" fmla="*/ 415436 h 415436"/>
                <a:gd name="connsiteX3-15" fmla="*/ 0 w 218174"/>
                <a:gd name="connsiteY3-16" fmla="*/ 415436 h 415436"/>
                <a:gd name="connsiteX0-17" fmla="*/ 0 w 218174"/>
                <a:gd name="connsiteY0-18" fmla="*/ 415436 h 415436"/>
                <a:gd name="connsiteX1-19" fmla="*/ 118424 w 218174"/>
                <a:gd name="connsiteY1-20" fmla="*/ 208567 h 415436"/>
                <a:gd name="connsiteX2-21" fmla="*/ 218174 w 218174"/>
                <a:gd name="connsiteY2-22" fmla="*/ 0 h 415436"/>
                <a:gd name="connsiteX3-23" fmla="*/ 218174 w 218174"/>
                <a:gd name="connsiteY3-24" fmla="*/ 415436 h 415436"/>
                <a:gd name="connsiteX4-25" fmla="*/ 0 w 218174"/>
                <a:gd name="connsiteY4-26" fmla="*/ 415436 h 415436"/>
                <a:gd name="connsiteX0-27" fmla="*/ 27697 w 245871"/>
                <a:gd name="connsiteY0-28" fmla="*/ 415436 h 415436"/>
                <a:gd name="connsiteX1-29" fmla="*/ 0 w 245871"/>
                <a:gd name="connsiteY1-30" fmla="*/ 120895 h 415436"/>
                <a:gd name="connsiteX2-31" fmla="*/ 245871 w 245871"/>
                <a:gd name="connsiteY2-32" fmla="*/ 0 h 415436"/>
                <a:gd name="connsiteX3-33" fmla="*/ 245871 w 245871"/>
                <a:gd name="connsiteY3-34" fmla="*/ 415436 h 415436"/>
                <a:gd name="connsiteX4-35" fmla="*/ 27697 w 245871"/>
                <a:gd name="connsiteY4-36" fmla="*/ 415436 h 415436"/>
                <a:gd name="connsiteX0-37" fmla="*/ 0 w 245871"/>
                <a:gd name="connsiteY0-38" fmla="*/ 120895 h 415436"/>
                <a:gd name="connsiteX1-39" fmla="*/ 245871 w 245871"/>
                <a:gd name="connsiteY1-40" fmla="*/ 0 h 415436"/>
                <a:gd name="connsiteX2-41" fmla="*/ 245871 w 245871"/>
                <a:gd name="connsiteY2-42" fmla="*/ 415436 h 415436"/>
                <a:gd name="connsiteX3-43" fmla="*/ 27697 w 245871"/>
                <a:gd name="connsiteY3-44" fmla="*/ 415436 h 415436"/>
                <a:gd name="connsiteX4-45" fmla="*/ 91440 w 245871"/>
                <a:gd name="connsiteY4-46" fmla="*/ 212335 h 415436"/>
                <a:gd name="connsiteX0-47" fmla="*/ 0 w 245871"/>
                <a:gd name="connsiteY0-48" fmla="*/ 120895 h 415436"/>
                <a:gd name="connsiteX1-49" fmla="*/ 245871 w 245871"/>
                <a:gd name="connsiteY1-50" fmla="*/ 0 h 415436"/>
                <a:gd name="connsiteX2-51" fmla="*/ 245871 w 245871"/>
                <a:gd name="connsiteY2-52" fmla="*/ 415436 h 415436"/>
                <a:gd name="connsiteX3-53" fmla="*/ 27697 w 245871"/>
                <a:gd name="connsiteY3-54" fmla="*/ 415436 h 415436"/>
                <a:gd name="connsiteX0-55" fmla="*/ 218174 w 218174"/>
                <a:gd name="connsiteY0-56" fmla="*/ 0 h 415436"/>
                <a:gd name="connsiteX1-57" fmla="*/ 218174 w 218174"/>
                <a:gd name="connsiteY1-58" fmla="*/ 415436 h 415436"/>
                <a:gd name="connsiteX2-59" fmla="*/ 0 w 218174"/>
                <a:gd name="connsiteY2-60" fmla="*/ 415436 h 415436"/>
              </a:gdLst>
              <a:ahLst/>
              <a:cxnLst>
                <a:cxn ang="0">
                  <a:pos x="connsiteX0-1" y="connsiteY0-2"/>
                </a:cxn>
                <a:cxn ang="0">
                  <a:pos x="connsiteX1-3" y="connsiteY1-4"/>
                </a:cxn>
                <a:cxn ang="0">
                  <a:pos x="connsiteX2-5" y="connsiteY2-6"/>
                </a:cxn>
              </a:cxnLst>
              <a:rect l="l" t="t" r="r" b="b"/>
              <a:pathLst>
                <a:path w="218174" h="415436">
                  <a:moveTo>
                    <a:pt x="218174" y="0"/>
                  </a:moveTo>
                  <a:lnTo>
                    <a:pt x="218174" y="415436"/>
                  </a:lnTo>
                  <a:lnTo>
                    <a:pt x="0" y="415436"/>
                  </a:lnTo>
                </a:path>
              </a:pathLst>
            </a:custGeom>
            <a:noFill/>
            <a:ln w="38100" cap="rnd">
              <a:solidFill>
                <a:schemeClr val="accent5">
                  <a:lumMod val="40000"/>
                  <a:lumOff val="60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258" name="组合 257"/>
          <p:cNvGrpSpPr/>
          <p:nvPr/>
        </p:nvGrpSpPr>
        <p:grpSpPr>
          <a:xfrm>
            <a:off x="9301986" y="3747677"/>
            <a:ext cx="2308902" cy="496041"/>
            <a:chOff x="9278620" y="3660421"/>
            <a:chExt cx="2308902" cy="496041"/>
          </a:xfrm>
        </p:grpSpPr>
        <p:sp>
          <p:nvSpPr>
            <p:cNvPr id="259" name="矩形: 圆角 103"/>
            <p:cNvSpPr/>
            <p:nvPr/>
          </p:nvSpPr>
          <p:spPr>
            <a:xfrm>
              <a:off x="9278620" y="3660421"/>
              <a:ext cx="2308902" cy="496041"/>
            </a:xfrm>
            <a:prstGeom prst="roundRect">
              <a:avLst>
                <a:gd name="adj" fmla="val 0"/>
              </a:avLst>
            </a:prstGeom>
            <a:noFill/>
            <a:ln w="9525" cap="flat" cmpd="sng" algn="ctr">
              <a:solidFill>
                <a:schemeClr val="tx2">
                  <a:lumMod val="60000"/>
                  <a:lumOff val="40000"/>
                </a:schemeClr>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60" name="文本框 259"/>
            <p:cNvSpPr txBox="1"/>
            <p:nvPr/>
          </p:nvSpPr>
          <p:spPr>
            <a:xfrm>
              <a:off x="9404784" y="3812622"/>
              <a:ext cx="676854" cy="210185"/>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900" u="none" strike="noStrike" cap="none" spc="0" normalizeH="0" baseline="0">
                  <a:ln>
                    <a:noFill/>
                  </a:ln>
                  <a:solidFill>
                    <a:schemeClr val="bg1">
                      <a:alpha val="65000"/>
                    </a:scheme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秋冬新品</a:t>
              </a:r>
              <a:endParaRPr kumimoji="0" lang="zh-CN" altLang="en-US" sz="1200" b="1" i="0" u="none" strike="noStrike" kern="1200" cap="none" spc="0" normalizeH="0" baseline="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61" name="圆角矩形 62"/>
            <p:cNvSpPr/>
            <p:nvPr/>
          </p:nvSpPr>
          <p:spPr>
            <a:xfrm>
              <a:off x="10082913" y="3794591"/>
              <a:ext cx="676854" cy="227985"/>
            </a:xfrm>
            <a:prstGeom prst="roundRect">
              <a:avLst>
                <a:gd name="adj" fmla="val 0"/>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62" name="文本框 261"/>
            <p:cNvSpPr txBox="1"/>
            <p:nvPr/>
          </p:nvSpPr>
          <p:spPr>
            <a:xfrm>
              <a:off x="10107018" y="3839334"/>
              <a:ext cx="628645" cy="138499"/>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时尚博主</a:t>
              </a:r>
              <a:endParaRPr kumimoji="0" lang="zh-CN" altLang="en-US" sz="9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63" name="圆角矩形 479"/>
            <p:cNvSpPr/>
            <p:nvPr/>
          </p:nvSpPr>
          <p:spPr>
            <a:xfrm>
              <a:off x="10809744" y="3794591"/>
              <a:ext cx="676854" cy="227985"/>
            </a:xfrm>
            <a:prstGeom prst="roundRect">
              <a:avLst>
                <a:gd name="adj" fmla="val 0"/>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64" name="文本框 263"/>
            <p:cNvSpPr txBox="1"/>
            <p:nvPr/>
          </p:nvSpPr>
          <p:spPr>
            <a:xfrm>
              <a:off x="10833849" y="3839334"/>
              <a:ext cx="628645" cy="138499"/>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GB" sz="9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平台</a:t>
              </a:r>
              <a:r>
                <a:rPr kumimoji="0" lang="en-GB" altLang="zh-CN" sz="9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KOL</a:t>
              </a:r>
              <a:endParaRPr kumimoji="0" lang="en-US" altLang="zh-CN" sz="9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265" name="组合 264"/>
          <p:cNvGrpSpPr/>
          <p:nvPr/>
        </p:nvGrpSpPr>
        <p:grpSpPr>
          <a:xfrm>
            <a:off x="9301986" y="4415587"/>
            <a:ext cx="2308902" cy="496041"/>
            <a:chOff x="9278620" y="3660421"/>
            <a:chExt cx="2308902" cy="496041"/>
          </a:xfrm>
        </p:grpSpPr>
        <p:sp>
          <p:nvSpPr>
            <p:cNvPr id="266" name="矩形: 圆角 103"/>
            <p:cNvSpPr/>
            <p:nvPr/>
          </p:nvSpPr>
          <p:spPr>
            <a:xfrm>
              <a:off x="9278620" y="3660421"/>
              <a:ext cx="2308902" cy="496041"/>
            </a:xfrm>
            <a:prstGeom prst="roundRect">
              <a:avLst>
                <a:gd name="adj" fmla="val 0"/>
              </a:avLst>
            </a:prstGeom>
            <a:noFill/>
            <a:ln w="9525" cap="flat" cmpd="sng" algn="ctr">
              <a:solidFill>
                <a:schemeClr val="tx2">
                  <a:lumMod val="60000"/>
                  <a:lumOff val="40000"/>
                </a:schemeClr>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67" name="文本框 266"/>
            <p:cNvSpPr txBox="1"/>
            <p:nvPr/>
          </p:nvSpPr>
          <p:spPr>
            <a:xfrm>
              <a:off x="9404784" y="3812622"/>
              <a:ext cx="676854" cy="210185"/>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900" u="none" strike="noStrike" cap="none" spc="0" normalizeH="0" baseline="0">
                  <a:ln>
                    <a:noFill/>
                  </a:ln>
                  <a:solidFill>
                    <a:schemeClr val="bg1">
                      <a:alpha val="65000"/>
                    </a:scheme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双</a:t>
              </a:r>
              <a:r>
                <a:rPr kumimoji="0" lang="en-US" altLang="zh-CN" sz="1200" b="1" i="0" u="none" strike="noStrike" kern="1200" cap="none" spc="0" normalizeH="0" baseline="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11</a:t>
              </a:r>
              <a:r>
                <a:rPr kumimoji="0" lang="zh-CN" altLang="en-US" sz="1200" b="1" i="0" u="none" strike="noStrike" kern="1200" cap="none" spc="0" normalizeH="0" baseline="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大促</a:t>
              </a:r>
              <a:endParaRPr kumimoji="0" lang="zh-CN" altLang="en-US" sz="1200" b="1" i="0" u="none" strike="noStrike" kern="1200" cap="none" spc="0" normalizeH="0" baseline="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68" name="圆角矩形 486"/>
            <p:cNvSpPr/>
            <p:nvPr/>
          </p:nvSpPr>
          <p:spPr>
            <a:xfrm>
              <a:off x="10082913" y="3794591"/>
              <a:ext cx="676854" cy="227985"/>
            </a:xfrm>
            <a:prstGeom prst="roundRect">
              <a:avLst>
                <a:gd name="adj" fmla="val 0"/>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69" name="文本框 268"/>
            <p:cNvSpPr txBox="1"/>
            <p:nvPr/>
          </p:nvSpPr>
          <p:spPr>
            <a:xfrm>
              <a:off x="10107018" y="3839334"/>
              <a:ext cx="628645" cy="138499"/>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线上促销</a:t>
              </a:r>
              <a:endParaRPr kumimoji="0" lang="zh-CN" altLang="en-US" sz="9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70" name="圆角矩形 488"/>
            <p:cNvSpPr/>
            <p:nvPr/>
          </p:nvSpPr>
          <p:spPr>
            <a:xfrm>
              <a:off x="10809744" y="3794591"/>
              <a:ext cx="676854" cy="227985"/>
            </a:xfrm>
            <a:prstGeom prst="roundRect">
              <a:avLst>
                <a:gd name="adj" fmla="val 0"/>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71" name="文本框 270"/>
            <p:cNvSpPr txBox="1"/>
            <p:nvPr/>
          </p:nvSpPr>
          <p:spPr>
            <a:xfrm>
              <a:off x="10833849" y="3839334"/>
              <a:ext cx="628645" cy="138499"/>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用户互动</a:t>
              </a:r>
              <a:endParaRPr kumimoji="0" lang="zh-CN" altLang="en-US" sz="9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
        <p:nvSpPr>
          <p:cNvPr id="272" name="文本框 271"/>
          <p:cNvSpPr txBox="1"/>
          <p:nvPr/>
        </p:nvSpPr>
        <p:spPr>
          <a:xfrm>
            <a:off x="9281200" y="5123961"/>
            <a:ext cx="2322266" cy="452688"/>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圣诞节和元旦期间推出跨年大促，结合线上线下互动活动</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73" name="文本框 272"/>
          <p:cNvSpPr txBox="1"/>
          <p:nvPr/>
        </p:nvSpPr>
        <p:spPr>
          <a:xfrm>
            <a:off x="6603001" y="4461545"/>
            <a:ext cx="2052027" cy="436530"/>
          </a:xfrm>
          <a:prstGeom prst="rect">
            <a:avLst/>
          </a:prstGeom>
          <a:noFill/>
        </p:spPr>
        <p:txBody>
          <a:bodyPr wrap="square" rtlCol="0">
            <a:spAutoFit/>
          </a:body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暑期大促销，针对学生群体推出优惠活动</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84" name="椭圆 283"/>
          <p:cNvSpPr/>
          <p:nvPr/>
        </p:nvSpPr>
        <p:spPr>
          <a:xfrm>
            <a:off x="6449233" y="4525749"/>
            <a:ext cx="184666" cy="184666"/>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85" name="文本框 284"/>
          <p:cNvSpPr txBox="1"/>
          <p:nvPr/>
        </p:nvSpPr>
        <p:spPr>
          <a:xfrm>
            <a:off x="6465036" y="4552719"/>
            <a:ext cx="151148"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1</a:t>
            </a:r>
            <a:endParaRPr kumimoji="0" lang="en-US" altLang="zh-CN" sz="9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86" name="文本框 285"/>
          <p:cNvSpPr txBox="1"/>
          <p:nvPr/>
        </p:nvSpPr>
        <p:spPr>
          <a:xfrm>
            <a:off x="6603001" y="5038462"/>
            <a:ext cx="2052027" cy="436530"/>
          </a:xfrm>
          <a:prstGeom prst="rect">
            <a:avLst/>
          </a:prstGeom>
          <a:noFill/>
        </p:spPr>
        <p:txBody>
          <a:bodyPr wrap="square" rtlCol="0">
            <a:spAutoFit/>
          </a:body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与知名品牌或</a:t>
            </a:r>
            <a:r>
              <a:rPr kumimoji="0" lang="en-GB"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IP</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合作，推出联名产品或限定系列</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87" name="椭圆 286"/>
          <p:cNvSpPr/>
          <p:nvPr/>
        </p:nvSpPr>
        <p:spPr>
          <a:xfrm>
            <a:off x="6449233" y="5102666"/>
            <a:ext cx="184666" cy="184666"/>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88" name="文本框 287"/>
          <p:cNvSpPr txBox="1"/>
          <p:nvPr/>
        </p:nvSpPr>
        <p:spPr>
          <a:xfrm>
            <a:off x="6465036" y="5129636"/>
            <a:ext cx="151148"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2</a:t>
            </a:r>
            <a:endParaRPr kumimoji="0" lang="en-US" altLang="zh-CN" sz="9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89" name="文本框 288"/>
          <p:cNvSpPr txBox="1"/>
          <p:nvPr/>
        </p:nvSpPr>
        <p:spPr>
          <a:xfrm>
            <a:off x="3581268" y="4964336"/>
            <a:ext cx="2076662" cy="525145"/>
          </a:xfrm>
          <a:prstGeom prst="rect">
            <a:avLst/>
          </a:prstGeom>
          <a:noFill/>
        </p:spPr>
        <p:txBody>
          <a:bodyPr wrap="square" lIns="0" tIns="0" rIns="0" bIns="0" rtlCol="0">
            <a:spAutoFit/>
          </a:bodyPr>
          <a:lstStyle/>
          <a:p>
            <a:pPr lvl="0" algn="l">
              <a:lnSpc>
                <a:spcPct val="114000"/>
              </a:lnSpc>
              <a:spcBef>
                <a:spcPts val="0"/>
              </a:spcBef>
              <a:spcAft>
                <a:spcPts val="0"/>
              </a:spcAft>
              <a:buClrTx/>
              <a:buSzTx/>
              <a:buFontTx/>
              <a:defRPr/>
            </a:pPr>
            <a:r>
              <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清明节期间推出折扣活动，五一劳动节推出特别优惠，儿童节期间推出儿童用品系列活动</a:t>
            </a:r>
            <a:endParaRPr lang="zh-CN" altLang="en-US" sz="10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90" name="文本框 289"/>
          <p:cNvSpPr txBox="1"/>
          <p:nvPr/>
        </p:nvSpPr>
        <p:spPr>
          <a:xfrm>
            <a:off x="655187" y="5182892"/>
            <a:ext cx="2076662" cy="344197"/>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推出春季新品系列，策划情人节主题活动，进行品牌周年庆活动</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91" name="statistics-settings_72708"/>
          <p:cNvSpPr>
            <a:spLocks noChangeAspect="1"/>
          </p:cNvSpPr>
          <p:nvPr/>
        </p:nvSpPr>
        <p:spPr>
          <a:xfrm>
            <a:off x="4382055" y="3523414"/>
            <a:ext cx="411633" cy="396000"/>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1200" cap="none" spc="0" normalizeH="0" baseline="0" noProof="0">
              <a:ln>
                <a:noFill/>
              </a:ln>
              <a:solidFill>
                <a:srgbClr val="F9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92" name="statistics-settings_72708"/>
          <p:cNvSpPr>
            <a:spLocks noChangeAspect="1"/>
          </p:cNvSpPr>
          <p:nvPr/>
        </p:nvSpPr>
        <p:spPr>
          <a:xfrm>
            <a:off x="10211355" y="2342314"/>
            <a:ext cx="411633" cy="396000"/>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1200" cap="none" spc="0" normalizeH="0" baseline="0" noProof="0">
              <a:ln>
                <a:noFill/>
              </a:ln>
              <a:solidFill>
                <a:srgbClr val="F9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293" name="直线连接符 6"/>
          <p:cNvCxnSpPr/>
          <p:nvPr/>
        </p:nvCxnSpPr>
        <p:spPr>
          <a:xfrm>
            <a:off x="6076894" y="2700961"/>
            <a:ext cx="0" cy="171662"/>
          </a:xfrm>
          <a:prstGeom prst="line">
            <a:avLst/>
          </a:prstGeom>
          <a:ln w="635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94" name="直线连接符 9"/>
          <p:cNvCxnSpPr/>
          <p:nvPr/>
        </p:nvCxnSpPr>
        <p:spPr>
          <a:xfrm>
            <a:off x="9005624" y="2088759"/>
            <a:ext cx="0" cy="171662"/>
          </a:xfrm>
          <a:prstGeom prst="line">
            <a:avLst/>
          </a:prstGeom>
          <a:ln w="635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2" name="图片 1"/>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1" name="文本框 10"/>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个人年度重点成果回顾</a:t>
            </a:r>
            <a:endParaRPr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3" name="组合 2"/>
          <p:cNvGrpSpPr/>
          <p:nvPr/>
        </p:nvGrpSpPr>
        <p:grpSpPr>
          <a:xfrm>
            <a:off x="227012" y="1186344"/>
            <a:ext cx="11737973" cy="2561194"/>
            <a:chOff x="508130" y="908051"/>
            <a:chExt cx="11456855" cy="2579921"/>
          </a:xfrm>
        </p:grpSpPr>
        <p:sp>
          <p:nvSpPr>
            <p:cNvPr id="17" name="等腰三角形 16"/>
            <p:cNvSpPr/>
            <p:nvPr/>
          </p:nvSpPr>
          <p:spPr>
            <a:xfrm rot="5400000">
              <a:off x="10935836" y="1277030"/>
              <a:ext cx="368458" cy="408798"/>
            </a:xfrm>
            <a:prstGeom prst="triangle">
              <a:avLst>
                <a:gd name="adj" fmla="val 30422"/>
              </a:avLst>
            </a:prstGeom>
            <a:gradFill flip="none" rotWithShape="1">
              <a:gsLst>
                <a:gs pos="61000">
                  <a:schemeClr val="accent1">
                    <a:alpha val="20000"/>
                  </a:schemeClr>
                </a:gs>
                <a:gs pos="29000">
                  <a:schemeClr val="accent1">
                    <a:alpha val="0"/>
                  </a:schemeClr>
                </a:gs>
                <a:gs pos="100000">
                  <a:schemeClr val="accent1">
                    <a:alpha val="3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8" name="任意多边形: 形状 99"/>
            <p:cNvSpPr/>
            <p:nvPr/>
          </p:nvSpPr>
          <p:spPr>
            <a:xfrm>
              <a:off x="11691104" y="908201"/>
              <a:ext cx="273881" cy="1813273"/>
            </a:xfrm>
            <a:custGeom>
              <a:avLst/>
              <a:gdLst>
                <a:gd name="connsiteX0" fmla="*/ 0 w 266217"/>
                <a:gd name="connsiteY0" fmla="*/ 1099595 h 3009417"/>
                <a:gd name="connsiteX1" fmla="*/ 266217 w 266217"/>
                <a:gd name="connsiteY1" fmla="*/ 0 h 3009417"/>
                <a:gd name="connsiteX2" fmla="*/ 266217 w 266217"/>
                <a:gd name="connsiteY2" fmla="*/ 3009417 h 3009417"/>
                <a:gd name="connsiteX3" fmla="*/ 23149 w 266217"/>
                <a:gd name="connsiteY3" fmla="*/ 3009417 h 3009417"/>
                <a:gd name="connsiteX4" fmla="*/ 0 w 266217"/>
                <a:gd name="connsiteY4" fmla="*/ 1099595 h 3009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217" h="3009417">
                  <a:moveTo>
                    <a:pt x="0" y="1099595"/>
                  </a:moveTo>
                  <a:lnTo>
                    <a:pt x="266217" y="0"/>
                  </a:lnTo>
                  <a:lnTo>
                    <a:pt x="266217" y="3009417"/>
                  </a:lnTo>
                  <a:lnTo>
                    <a:pt x="23149" y="3009417"/>
                  </a:lnTo>
                  <a:lnTo>
                    <a:pt x="0" y="1099595"/>
                  </a:lnTo>
                  <a:close/>
                </a:path>
              </a:pathLst>
            </a:custGeom>
            <a:gradFill flip="none" rotWithShape="1">
              <a:gsLst>
                <a:gs pos="61000">
                  <a:schemeClr val="accent1">
                    <a:alpha val="20000"/>
                  </a:schemeClr>
                </a:gs>
                <a:gs pos="29000">
                  <a:schemeClr val="accent1">
                    <a:alpha val="0"/>
                  </a:schemeClr>
                </a:gs>
                <a:gs pos="100000">
                  <a:schemeClr val="accent1">
                    <a:alpha val="3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9" name="任意多边形: 形状 100"/>
            <p:cNvSpPr/>
            <p:nvPr/>
          </p:nvSpPr>
          <p:spPr>
            <a:xfrm>
              <a:off x="599571" y="1477424"/>
              <a:ext cx="10795811" cy="1269647"/>
            </a:xfrm>
            <a:custGeom>
              <a:avLst/>
              <a:gdLst>
                <a:gd name="connsiteX0" fmla="*/ 10781933 w 10795811"/>
                <a:gd name="connsiteY0" fmla="*/ 0 h 2078817"/>
                <a:gd name="connsiteX1" fmla="*/ 10784522 w 10795811"/>
                <a:gd name="connsiteY1" fmla="*/ 1625 h 2078817"/>
                <a:gd name="connsiteX2" fmla="*/ 10795811 w 10795811"/>
                <a:gd name="connsiteY2" fmla="*/ 2078817 h 2078817"/>
                <a:gd name="connsiteX3" fmla="*/ 0 w 10795811"/>
                <a:gd name="connsiteY3" fmla="*/ 2078817 h 2078817"/>
                <a:gd name="connsiteX4" fmla="*/ 0 w 10795811"/>
                <a:gd name="connsiteY4" fmla="*/ 1519202 h 2078817"/>
                <a:gd name="connsiteX5" fmla="*/ 8451 w 10795811"/>
                <a:gd name="connsiteY5" fmla="*/ 1520241 h 2078817"/>
                <a:gd name="connsiteX6" fmla="*/ 2131626 w 10795811"/>
                <a:gd name="connsiteY6" fmla="*/ 1660364 h 2078817"/>
                <a:gd name="connsiteX7" fmla="*/ 2879999 w 10795811"/>
                <a:gd name="connsiteY7" fmla="*/ 1670149 h 2078817"/>
                <a:gd name="connsiteX8" fmla="*/ 2880130 w 10795811"/>
                <a:gd name="connsiteY8" fmla="*/ 1670149 h 2078817"/>
                <a:gd name="connsiteX9" fmla="*/ 3733989 w 10795811"/>
                <a:gd name="connsiteY9" fmla="*/ 1657395 h 2078817"/>
                <a:gd name="connsiteX10" fmla="*/ 10589678 w 10795811"/>
                <a:gd name="connsiteY10" fmla="*/ 151323 h 2078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95811" h="2078817">
                  <a:moveTo>
                    <a:pt x="10781933" y="0"/>
                  </a:moveTo>
                  <a:lnTo>
                    <a:pt x="10784522" y="1625"/>
                  </a:lnTo>
                  <a:lnTo>
                    <a:pt x="10795811" y="2078817"/>
                  </a:lnTo>
                  <a:lnTo>
                    <a:pt x="0" y="2078817"/>
                  </a:lnTo>
                  <a:lnTo>
                    <a:pt x="0" y="1519202"/>
                  </a:lnTo>
                  <a:lnTo>
                    <a:pt x="8451" y="1520241"/>
                  </a:lnTo>
                  <a:cubicBezTo>
                    <a:pt x="680012" y="1592978"/>
                    <a:pt x="1391956" y="1640934"/>
                    <a:pt x="2131626" y="1660364"/>
                  </a:cubicBezTo>
                  <a:lnTo>
                    <a:pt x="2879999" y="1670149"/>
                  </a:lnTo>
                  <a:lnTo>
                    <a:pt x="2880130" y="1670149"/>
                  </a:lnTo>
                  <a:lnTo>
                    <a:pt x="3733989" y="1657395"/>
                  </a:lnTo>
                  <a:cubicBezTo>
                    <a:pt x="6834981" y="1564241"/>
                    <a:pt x="9434453" y="969263"/>
                    <a:pt x="10589678" y="151323"/>
                  </a:cubicBezTo>
                  <a:close/>
                </a:path>
              </a:pathLst>
            </a:custGeom>
            <a:gradFill flip="none" rotWithShape="1">
              <a:gsLst>
                <a:gs pos="49000">
                  <a:schemeClr val="accent1">
                    <a:alpha val="10000"/>
                  </a:schemeClr>
                </a:gs>
                <a:gs pos="0">
                  <a:schemeClr val="accent1">
                    <a:alpha val="0"/>
                  </a:schemeClr>
                </a:gs>
                <a:gs pos="100000">
                  <a:schemeClr val="accent1">
                    <a:alpha val="2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1" name="任意多边形: 形状 101"/>
            <p:cNvSpPr/>
            <p:nvPr/>
          </p:nvSpPr>
          <p:spPr>
            <a:xfrm>
              <a:off x="508130" y="908051"/>
              <a:ext cx="11454229" cy="1589423"/>
            </a:xfrm>
            <a:custGeom>
              <a:avLst/>
              <a:gdLst>
                <a:gd name="connsiteX0" fmla="*/ 11454229 w 11454229"/>
                <a:gd name="connsiteY0" fmla="*/ 0 h 2602392"/>
                <a:gd name="connsiteX1" fmla="*/ 11188421 w 11454229"/>
                <a:gd name="connsiteY1" fmla="*/ 1129963 h 2602392"/>
                <a:gd name="connsiteX2" fmla="*/ 10873373 w 11454229"/>
                <a:gd name="connsiteY2" fmla="*/ 932243 h 2602392"/>
                <a:gd name="connsiteX3" fmla="*/ 10681118 w 11454229"/>
                <a:gd name="connsiteY3" fmla="*/ 1083566 h 2602392"/>
                <a:gd name="connsiteX4" fmla="*/ 3825429 w 11454229"/>
                <a:gd name="connsiteY4" fmla="*/ 2589638 h 2602392"/>
                <a:gd name="connsiteX5" fmla="*/ 2971570 w 11454229"/>
                <a:gd name="connsiteY5" fmla="*/ 2602392 h 2602392"/>
                <a:gd name="connsiteX6" fmla="*/ 2971439 w 11454229"/>
                <a:gd name="connsiteY6" fmla="*/ 2602392 h 2602392"/>
                <a:gd name="connsiteX7" fmla="*/ 2223066 w 11454229"/>
                <a:gd name="connsiteY7" fmla="*/ 2592607 h 2602392"/>
                <a:gd name="connsiteX8" fmla="*/ 99891 w 11454229"/>
                <a:gd name="connsiteY8" fmla="*/ 2452484 h 2602392"/>
                <a:gd name="connsiteX9" fmla="*/ 0 w 11454229"/>
                <a:gd name="connsiteY9" fmla="*/ 2440204 h 2602392"/>
                <a:gd name="connsiteX10" fmla="*/ 0 w 11454229"/>
                <a:gd name="connsiteY10" fmla="*/ 2390806 h 2602392"/>
                <a:gd name="connsiteX11" fmla="*/ 141860 w 11454229"/>
                <a:gd name="connsiteY11" fmla="*/ 2405581 h 2602392"/>
                <a:gd name="connsiteX12" fmla="*/ 2625420 w 11454229"/>
                <a:gd name="connsiteY12" fmla="*/ 2516650 h 2602392"/>
                <a:gd name="connsiteX13" fmla="*/ 10414128 w 11454229"/>
                <a:gd name="connsiteY13" fmla="*/ 939746 h 2602392"/>
                <a:gd name="connsiteX14" fmla="*/ 10612323 w 11454229"/>
                <a:gd name="connsiteY14" fmla="*/ 768412 h 2602392"/>
                <a:gd name="connsiteX15" fmla="*/ 10403228 w 11454229"/>
                <a:gd name="connsiteY15" fmla="*/ 637187 h 260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454229" h="2602392">
                  <a:moveTo>
                    <a:pt x="11454229" y="0"/>
                  </a:moveTo>
                  <a:lnTo>
                    <a:pt x="11188421" y="1129963"/>
                  </a:lnTo>
                  <a:lnTo>
                    <a:pt x="10873373" y="932243"/>
                  </a:lnTo>
                  <a:lnTo>
                    <a:pt x="10681118" y="1083566"/>
                  </a:lnTo>
                  <a:cubicBezTo>
                    <a:pt x="9525893" y="1901506"/>
                    <a:pt x="6926421" y="2496484"/>
                    <a:pt x="3825429" y="2589638"/>
                  </a:cubicBezTo>
                  <a:lnTo>
                    <a:pt x="2971570" y="2602392"/>
                  </a:lnTo>
                  <a:lnTo>
                    <a:pt x="2971439" y="2602392"/>
                  </a:lnTo>
                  <a:lnTo>
                    <a:pt x="2223066" y="2592607"/>
                  </a:lnTo>
                  <a:cubicBezTo>
                    <a:pt x="1483396" y="2573177"/>
                    <a:pt x="771452" y="2525221"/>
                    <a:pt x="99891" y="2452484"/>
                  </a:cubicBezTo>
                  <a:lnTo>
                    <a:pt x="0" y="2440204"/>
                  </a:lnTo>
                  <a:lnTo>
                    <a:pt x="0" y="2390806"/>
                  </a:lnTo>
                  <a:lnTo>
                    <a:pt x="141860" y="2405581"/>
                  </a:lnTo>
                  <a:cubicBezTo>
                    <a:pt x="926417" y="2477764"/>
                    <a:pt x="1760566" y="2516650"/>
                    <a:pt x="2625420" y="2516650"/>
                  </a:cubicBezTo>
                  <a:cubicBezTo>
                    <a:pt x="6172670" y="2516650"/>
                    <a:pt x="9203405" y="1862489"/>
                    <a:pt x="10414128" y="939746"/>
                  </a:cubicBezTo>
                  <a:lnTo>
                    <a:pt x="10612323" y="768412"/>
                  </a:lnTo>
                  <a:lnTo>
                    <a:pt x="10403228" y="637187"/>
                  </a:lnTo>
                  <a:close/>
                </a:path>
              </a:pathLst>
            </a:custGeom>
            <a:gradFill>
              <a:gsLst>
                <a:gs pos="46000">
                  <a:schemeClr val="accent1"/>
                </a:gs>
                <a:gs pos="0">
                  <a:schemeClr val="accent1">
                    <a:alpha val="0"/>
                  </a:schemeClr>
                </a:gs>
                <a:gs pos="100000">
                  <a:schemeClr val="accent1"/>
                </a:gs>
              </a:gsLst>
              <a:lin ang="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3" name="任意多边形: 形状 102"/>
            <p:cNvSpPr/>
            <p:nvPr/>
          </p:nvSpPr>
          <p:spPr>
            <a:xfrm>
              <a:off x="11382862" y="1238954"/>
              <a:ext cx="327611" cy="2249018"/>
            </a:xfrm>
            <a:custGeom>
              <a:avLst/>
              <a:gdLst>
                <a:gd name="connsiteX0" fmla="*/ 289560 w 325120"/>
                <a:gd name="connsiteY0" fmla="*/ 193040 h 2108200"/>
                <a:gd name="connsiteX1" fmla="*/ 0 w 325120"/>
                <a:gd name="connsiteY1" fmla="*/ 0 h 2108200"/>
                <a:gd name="connsiteX2" fmla="*/ 0 w 325120"/>
                <a:gd name="connsiteY2" fmla="*/ 2108200 h 2108200"/>
                <a:gd name="connsiteX3" fmla="*/ 325120 w 325120"/>
                <a:gd name="connsiteY3" fmla="*/ 2108200 h 2108200"/>
                <a:gd name="connsiteX4" fmla="*/ 289560 w 325120"/>
                <a:gd name="connsiteY4" fmla="*/ 193040 h 2108200"/>
                <a:gd name="connsiteX0-1" fmla="*/ 304800 w 325120"/>
                <a:gd name="connsiteY0-2" fmla="*/ 187960 h 2108200"/>
                <a:gd name="connsiteX1-3" fmla="*/ 0 w 325120"/>
                <a:gd name="connsiteY1-4" fmla="*/ 0 h 2108200"/>
                <a:gd name="connsiteX2-5" fmla="*/ 0 w 325120"/>
                <a:gd name="connsiteY2-6" fmla="*/ 2108200 h 2108200"/>
                <a:gd name="connsiteX3-7" fmla="*/ 325120 w 325120"/>
                <a:gd name="connsiteY3-8" fmla="*/ 2108200 h 2108200"/>
                <a:gd name="connsiteX4-9" fmla="*/ 304800 w 325120"/>
                <a:gd name="connsiteY4-10" fmla="*/ 187960 h 2108200"/>
                <a:gd name="connsiteX0-11" fmla="*/ 316230 w 336550"/>
                <a:gd name="connsiteY0-12" fmla="*/ 233680 h 2153920"/>
                <a:gd name="connsiteX1-13" fmla="*/ 0 w 336550"/>
                <a:gd name="connsiteY1-14" fmla="*/ 0 h 2153920"/>
                <a:gd name="connsiteX2-15" fmla="*/ 11430 w 336550"/>
                <a:gd name="connsiteY2-16" fmla="*/ 2153920 h 2153920"/>
                <a:gd name="connsiteX3-17" fmla="*/ 336550 w 336550"/>
                <a:gd name="connsiteY3-18" fmla="*/ 2153920 h 2153920"/>
                <a:gd name="connsiteX4-19" fmla="*/ 316230 w 336550"/>
                <a:gd name="connsiteY4-20" fmla="*/ 233680 h 2153920"/>
                <a:gd name="connsiteX0-1-1" fmla="*/ 318198 w 338518"/>
                <a:gd name="connsiteY0-2-2" fmla="*/ 240053 h 2160293"/>
                <a:gd name="connsiteX1-3-3" fmla="*/ 0 w 338518"/>
                <a:gd name="connsiteY1-4-4" fmla="*/ 0 h 2160293"/>
                <a:gd name="connsiteX2-5-5" fmla="*/ 13398 w 338518"/>
                <a:gd name="connsiteY2-6-6" fmla="*/ 2160293 h 2160293"/>
                <a:gd name="connsiteX3-7-7" fmla="*/ 338518 w 338518"/>
                <a:gd name="connsiteY3-8-8" fmla="*/ 2160293 h 2160293"/>
                <a:gd name="connsiteX4-9-9" fmla="*/ 318198 w 338518"/>
                <a:gd name="connsiteY4-10-10" fmla="*/ 240053 h 2160293"/>
              </a:gdLst>
              <a:ahLst/>
              <a:cxnLst>
                <a:cxn ang="0">
                  <a:pos x="connsiteX0-1-1" y="connsiteY0-2-2"/>
                </a:cxn>
                <a:cxn ang="0">
                  <a:pos x="connsiteX1-3-3" y="connsiteY1-4-4"/>
                </a:cxn>
                <a:cxn ang="0">
                  <a:pos x="connsiteX2-5-5" y="connsiteY2-6-6"/>
                </a:cxn>
                <a:cxn ang="0">
                  <a:pos x="connsiteX3-7-7" y="connsiteY3-8-8"/>
                </a:cxn>
                <a:cxn ang="0">
                  <a:pos x="connsiteX4-9-9" y="connsiteY4-10-10"/>
                </a:cxn>
              </a:cxnLst>
              <a:rect l="l" t="t" r="r" b="b"/>
              <a:pathLst>
                <a:path w="338518" h="2160293">
                  <a:moveTo>
                    <a:pt x="318198" y="240053"/>
                  </a:moveTo>
                  <a:lnTo>
                    <a:pt x="0" y="0"/>
                  </a:lnTo>
                  <a:lnTo>
                    <a:pt x="13398" y="2160293"/>
                  </a:lnTo>
                  <a:lnTo>
                    <a:pt x="338518" y="2160293"/>
                  </a:lnTo>
                  <a:lnTo>
                    <a:pt x="318198" y="240053"/>
                  </a:lnTo>
                  <a:close/>
                </a:path>
              </a:pathLst>
            </a:custGeom>
            <a:gradFill flip="none" rotWithShape="1">
              <a:gsLst>
                <a:gs pos="49000">
                  <a:schemeClr val="accent1">
                    <a:alpha val="20000"/>
                  </a:schemeClr>
                </a:gs>
                <a:gs pos="0">
                  <a:schemeClr val="accent1">
                    <a:alpha val="0"/>
                  </a:schemeClr>
                </a:gs>
                <a:gs pos="100000">
                  <a:schemeClr val="accent1">
                    <a:alpha val="3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26" name="矩形 25"/>
          <p:cNvSpPr/>
          <p:nvPr/>
        </p:nvSpPr>
        <p:spPr>
          <a:xfrm>
            <a:off x="8939317" y="3761751"/>
            <a:ext cx="2815900" cy="2907751"/>
          </a:xfrm>
          <a:prstGeom prst="rect">
            <a:avLst/>
          </a:prstGeom>
          <a:gradFill>
            <a:gsLst>
              <a:gs pos="0">
                <a:schemeClr val="bg1">
                  <a:alpha val="0"/>
                </a:schemeClr>
              </a:gs>
              <a:gs pos="100000">
                <a:schemeClr val="accent5">
                  <a:lumMod val="20000"/>
                  <a:lumOff val="80000"/>
                </a:schemeClr>
              </a:gs>
            </a:gsLst>
            <a:lin ang="16200000" scaled="1"/>
          </a:gradFill>
          <a:ln w="12700">
            <a:gradFill flip="none" rotWithShape="1">
              <a:gsLst>
                <a:gs pos="0">
                  <a:schemeClr val="accent4">
                    <a:alpha val="0"/>
                  </a:schemeClr>
                </a:gs>
                <a:gs pos="100000">
                  <a:schemeClr val="accent4"/>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7" name="矩形 26"/>
          <p:cNvSpPr/>
          <p:nvPr/>
        </p:nvSpPr>
        <p:spPr>
          <a:xfrm>
            <a:off x="6039073" y="3761751"/>
            <a:ext cx="2815900" cy="2907751"/>
          </a:xfrm>
          <a:prstGeom prst="rect">
            <a:avLst/>
          </a:prstGeom>
          <a:gradFill>
            <a:gsLst>
              <a:gs pos="0">
                <a:schemeClr val="bg1">
                  <a:alpha val="0"/>
                </a:schemeClr>
              </a:gs>
              <a:gs pos="100000">
                <a:schemeClr val="accent1">
                  <a:lumMod val="20000"/>
                  <a:lumOff val="80000"/>
                </a:schemeClr>
              </a:gs>
            </a:gsLst>
            <a:lin ang="16200000" scaled="1"/>
          </a:gradFill>
          <a:ln w="12700">
            <a:gradFill flip="none" rotWithShape="1">
              <a:gsLst>
                <a:gs pos="0">
                  <a:schemeClr val="accent1">
                    <a:alpha val="0"/>
                  </a:schemeClr>
                </a:gs>
                <a:gs pos="100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8" name="矩形 27"/>
          <p:cNvSpPr/>
          <p:nvPr/>
        </p:nvSpPr>
        <p:spPr>
          <a:xfrm>
            <a:off x="3131611" y="3761751"/>
            <a:ext cx="2823118" cy="2907751"/>
          </a:xfrm>
          <a:prstGeom prst="rect">
            <a:avLst/>
          </a:prstGeom>
          <a:gradFill>
            <a:gsLst>
              <a:gs pos="0">
                <a:schemeClr val="bg1">
                  <a:alpha val="0"/>
                </a:schemeClr>
              </a:gs>
              <a:gs pos="100000">
                <a:schemeClr val="accent5">
                  <a:lumMod val="20000"/>
                  <a:lumOff val="80000"/>
                </a:schemeClr>
              </a:gs>
            </a:gsLst>
            <a:lin ang="16200000" scaled="1"/>
          </a:gradFill>
          <a:ln w="12700">
            <a:gradFill flip="none" rotWithShape="1">
              <a:gsLst>
                <a:gs pos="0">
                  <a:schemeClr val="accent4">
                    <a:alpha val="0"/>
                  </a:schemeClr>
                </a:gs>
                <a:gs pos="100000">
                  <a:schemeClr val="accent4"/>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9" name="矩形 28"/>
          <p:cNvSpPr/>
          <p:nvPr/>
        </p:nvSpPr>
        <p:spPr>
          <a:xfrm>
            <a:off x="233907" y="3761751"/>
            <a:ext cx="2820578" cy="2907751"/>
          </a:xfrm>
          <a:prstGeom prst="rect">
            <a:avLst/>
          </a:prstGeom>
          <a:gradFill>
            <a:gsLst>
              <a:gs pos="0">
                <a:schemeClr val="bg1">
                  <a:alpha val="0"/>
                </a:schemeClr>
              </a:gs>
              <a:gs pos="100000">
                <a:schemeClr val="accent1">
                  <a:lumMod val="20000"/>
                  <a:lumOff val="80000"/>
                </a:schemeClr>
              </a:gs>
            </a:gsLst>
            <a:lin ang="16200000" scaled="1"/>
          </a:gradFill>
          <a:ln w="12700">
            <a:gradFill flip="none" rotWithShape="1">
              <a:gsLst>
                <a:gs pos="0">
                  <a:schemeClr val="accent1">
                    <a:alpha val="0"/>
                  </a:schemeClr>
                </a:gs>
                <a:gs pos="100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0" name="箭头: V 形 107"/>
          <p:cNvSpPr/>
          <p:nvPr/>
        </p:nvSpPr>
        <p:spPr>
          <a:xfrm>
            <a:off x="3131611" y="3359883"/>
            <a:ext cx="3025990" cy="402639"/>
          </a:xfrm>
          <a:prstGeom prst="chevron">
            <a:avLst/>
          </a:prstGeom>
          <a:gradFill>
            <a:gsLst>
              <a:gs pos="0">
                <a:schemeClr val="accent5">
                  <a:lumMod val="60000"/>
                  <a:lumOff val="40000"/>
                </a:schemeClr>
              </a:gs>
              <a:gs pos="80000">
                <a:schemeClr val="accent5"/>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2025.07-2025.12</a:t>
            </a:r>
            <a:endParaRPr kumimoji="0" lang="en-US" altLang="zh-CN" sz="16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9" name="箭头: V 形 108"/>
          <p:cNvSpPr/>
          <p:nvPr/>
        </p:nvSpPr>
        <p:spPr>
          <a:xfrm>
            <a:off x="6031856" y="3359883"/>
            <a:ext cx="3025990" cy="402639"/>
          </a:xfrm>
          <a:prstGeom prst="chevron">
            <a:avLst/>
          </a:prstGeom>
          <a:gradFill>
            <a:gsLst>
              <a:gs pos="0">
                <a:schemeClr val="accent1">
                  <a:lumMod val="60000"/>
                  <a:lumOff val="40000"/>
                </a:schemeClr>
              </a:gs>
              <a:gs pos="80000">
                <a:schemeClr val="accent1"/>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en-US" altLang="zh-CN" sz="160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rPr>
              <a:t>2026.01-2026.06</a:t>
            </a:r>
            <a:endParaRPr lang="en-US" altLang="zh-CN" sz="160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31" name="箭头: V 形 109"/>
          <p:cNvSpPr/>
          <p:nvPr/>
        </p:nvSpPr>
        <p:spPr>
          <a:xfrm>
            <a:off x="231366" y="3359883"/>
            <a:ext cx="3033210" cy="402639"/>
          </a:xfrm>
          <a:prstGeom prst="chevron">
            <a:avLst/>
          </a:prstGeom>
          <a:gradFill>
            <a:gsLst>
              <a:gs pos="0">
                <a:schemeClr val="accent1">
                  <a:lumMod val="60000"/>
                  <a:lumOff val="40000"/>
                </a:schemeClr>
              </a:gs>
              <a:gs pos="80000">
                <a:schemeClr val="accent1"/>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en-US" altLang="zh-CN" sz="160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rPr>
              <a:t>2025.01-2025.6</a:t>
            </a:r>
            <a:endParaRPr lang="en-US" altLang="zh-CN" sz="160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68" name="箭头: V 形 110"/>
          <p:cNvSpPr/>
          <p:nvPr/>
        </p:nvSpPr>
        <p:spPr>
          <a:xfrm>
            <a:off x="8932099" y="3359883"/>
            <a:ext cx="3025990" cy="402639"/>
          </a:xfrm>
          <a:prstGeom prst="chevron">
            <a:avLst/>
          </a:prstGeom>
          <a:gradFill>
            <a:gsLst>
              <a:gs pos="0">
                <a:schemeClr val="accent5">
                  <a:lumMod val="60000"/>
                  <a:lumOff val="40000"/>
                </a:schemeClr>
              </a:gs>
              <a:gs pos="80000">
                <a:schemeClr val="accent5"/>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en-US" altLang="zh-CN" sz="160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rPr>
              <a:t>2024.01-2024.12</a:t>
            </a:r>
            <a:endParaRPr lang="en-US" altLang="zh-CN" sz="160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12" name="任意多边形: 形状 106"/>
          <p:cNvSpPr/>
          <p:nvPr/>
        </p:nvSpPr>
        <p:spPr>
          <a:xfrm>
            <a:off x="1505268" y="2354234"/>
            <a:ext cx="277857" cy="361438"/>
          </a:xfrm>
          <a:custGeom>
            <a:avLst/>
            <a:gdLst>
              <a:gd name="T0" fmla="*/ 1520 w 3040"/>
              <a:gd name="T1" fmla="*/ 0 h 3960"/>
              <a:gd name="T2" fmla="*/ 0 w 3040"/>
              <a:gd name="T3" fmla="*/ 1520 h 3960"/>
              <a:gd name="T4" fmla="*/ 309 w 3040"/>
              <a:gd name="T5" fmla="*/ 2438 h 3960"/>
              <a:gd name="T6" fmla="*/ 1024 w 3040"/>
              <a:gd name="T7" fmla="*/ 2957 h 3960"/>
              <a:gd name="T8" fmla="*/ 1391 w 3040"/>
              <a:gd name="T9" fmla="*/ 3872 h 3960"/>
              <a:gd name="T10" fmla="*/ 1520 w 3040"/>
              <a:gd name="T11" fmla="*/ 3960 h 3960"/>
              <a:gd name="T12" fmla="*/ 1649 w 3040"/>
              <a:gd name="T13" fmla="*/ 3872 h 3960"/>
              <a:gd name="T14" fmla="*/ 2016 w 3040"/>
              <a:gd name="T15" fmla="*/ 2957 h 3960"/>
              <a:gd name="T16" fmla="*/ 2731 w 3040"/>
              <a:gd name="T17" fmla="*/ 2438 h 3960"/>
              <a:gd name="T18" fmla="*/ 3040 w 3040"/>
              <a:gd name="T19" fmla="*/ 1520 h 3960"/>
              <a:gd name="T20" fmla="*/ 1520 w 3040"/>
              <a:gd name="T21" fmla="*/ 0 h 3960"/>
              <a:gd name="T22" fmla="*/ 1520 w 3040"/>
              <a:gd name="T23" fmla="*/ 969 h 3960"/>
              <a:gd name="T24" fmla="*/ 2071 w 3040"/>
              <a:gd name="T25" fmla="*/ 1520 h 3960"/>
              <a:gd name="T26" fmla="*/ 1520 w 3040"/>
              <a:gd name="T27" fmla="*/ 2071 h 3960"/>
              <a:gd name="T28" fmla="*/ 969 w 3040"/>
              <a:gd name="T29" fmla="*/ 1520 h 3960"/>
              <a:gd name="T30" fmla="*/ 1520 w 3040"/>
              <a:gd name="T31" fmla="*/ 969 h 3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40" h="3960">
                <a:moveTo>
                  <a:pt x="1520" y="0"/>
                </a:moveTo>
                <a:cubicBezTo>
                  <a:pt x="682" y="0"/>
                  <a:pt x="0" y="682"/>
                  <a:pt x="0" y="1520"/>
                </a:cubicBezTo>
                <a:cubicBezTo>
                  <a:pt x="0" y="1855"/>
                  <a:pt x="107" y="2172"/>
                  <a:pt x="309" y="2438"/>
                </a:cubicBezTo>
                <a:cubicBezTo>
                  <a:pt x="490" y="2677"/>
                  <a:pt x="742" y="2859"/>
                  <a:pt x="1024" y="2957"/>
                </a:cubicBezTo>
                <a:lnTo>
                  <a:pt x="1391" y="3872"/>
                </a:lnTo>
                <a:cubicBezTo>
                  <a:pt x="1412" y="3925"/>
                  <a:pt x="1463" y="3960"/>
                  <a:pt x="1520" y="3960"/>
                </a:cubicBezTo>
                <a:cubicBezTo>
                  <a:pt x="1577" y="3960"/>
                  <a:pt x="1628" y="3925"/>
                  <a:pt x="1649" y="3872"/>
                </a:cubicBezTo>
                <a:lnTo>
                  <a:pt x="2016" y="2957"/>
                </a:lnTo>
                <a:cubicBezTo>
                  <a:pt x="2298" y="2859"/>
                  <a:pt x="2550" y="2677"/>
                  <a:pt x="2731" y="2438"/>
                </a:cubicBezTo>
                <a:cubicBezTo>
                  <a:pt x="2933" y="2172"/>
                  <a:pt x="3040" y="1855"/>
                  <a:pt x="3040" y="1520"/>
                </a:cubicBezTo>
                <a:cubicBezTo>
                  <a:pt x="3040" y="682"/>
                  <a:pt x="2358" y="0"/>
                  <a:pt x="1520" y="0"/>
                </a:cubicBezTo>
                <a:close/>
                <a:moveTo>
                  <a:pt x="1520" y="969"/>
                </a:moveTo>
                <a:cubicBezTo>
                  <a:pt x="1824" y="969"/>
                  <a:pt x="2071" y="1216"/>
                  <a:pt x="2071" y="1520"/>
                </a:cubicBezTo>
                <a:cubicBezTo>
                  <a:pt x="2071" y="1824"/>
                  <a:pt x="1824" y="2071"/>
                  <a:pt x="1520" y="2071"/>
                </a:cubicBezTo>
                <a:cubicBezTo>
                  <a:pt x="1216" y="2071"/>
                  <a:pt x="969" y="1824"/>
                  <a:pt x="969" y="1520"/>
                </a:cubicBezTo>
                <a:cubicBezTo>
                  <a:pt x="969" y="1216"/>
                  <a:pt x="1216" y="969"/>
                  <a:pt x="1520" y="969"/>
                </a:cubicBezTo>
                <a:close/>
              </a:path>
            </a:pathLst>
          </a:custGeom>
          <a:gradFill>
            <a:gsLst>
              <a:gs pos="0">
                <a:schemeClr val="accent5">
                  <a:lumMod val="60000"/>
                  <a:lumOff val="40000"/>
                </a:schemeClr>
              </a:gs>
              <a:gs pos="100000">
                <a:schemeClr val="accent5"/>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3" name="文本框 112"/>
          <p:cNvSpPr txBox="1"/>
          <p:nvPr/>
        </p:nvSpPr>
        <p:spPr>
          <a:xfrm>
            <a:off x="686245" y="2811765"/>
            <a:ext cx="1913360" cy="346075"/>
          </a:xfrm>
          <a:prstGeom prst="rect">
            <a:avLst/>
          </a:prstGeom>
          <a:noFill/>
          <a:effectLst/>
        </p:spPr>
        <p:txBody>
          <a:bodyPr wrap="squar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品类销售攀升</a:t>
            </a:r>
            <a:endPar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1" name="文本框 70"/>
          <p:cNvSpPr txBox="1"/>
          <p:nvPr/>
        </p:nvSpPr>
        <p:spPr>
          <a:xfrm>
            <a:off x="686435" y="1751330"/>
            <a:ext cx="2122805" cy="533399"/>
          </a:xfrm>
          <a:prstGeom prst="roundRect">
            <a:avLst>
              <a:gd name="adj" fmla="val 0"/>
            </a:avLst>
          </a:prstGeom>
          <a:solidFill>
            <a:schemeClr val="bg1"/>
          </a:solidFill>
          <a:ln w="12700">
            <a:noFill/>
            <a:prstDash val="solid"/>
          </a:ln>
        </p:spPr>
        <p:txBody>
          <a:bodyPr wrap="square">
            <a:spAutoFit/>
          </a:bodyPr>
          <a:lstStyle/>
          <a:p>
            <a:pPr marL="0" marR="0" lvl="0" indent="0" algn="just"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深耕家居赛道，联动商家促销，实现销售额跨越式增长。</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2" name="文本框 71"/>
          <p:cNvSpPr txBox="1"/>
          <p:nvPr/>
        </p:nvSpPr>
        <p:spPr>
          <a:xfrm>
            <a:off x="3586490" y="2811765"/>
            <a:ext cx="1913360" cy="346075"/>
          </a:xfrm>
          <a:prstGeom prst="rect">
            <a:avLst/>
          </a:prstGeom>
          <a:noFill/>
          <a:effectLst/>
        </p:spPr>
        <p:txBody>
          <a:bodyPr wrap="squar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用户规模扩容</a:t>
            </a:r>
            <a:endPar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6" name="文本框 115"/>
          <p:cNvSpPr txBox="1"/>
          <p:nvPr/>
        </p:nvSpPr>
        <p:spPr>
          <a:xfrm>
            <a:off x="3586480" y="1751330"/>
            <a:ext cx="2012950" cy="533399"/>
          </a:xfrm>
          <a:prstGeom prst="roundRect">
            <a:avLst>
              <a:gd name="adj" fmla="val 0"/>
            </a:avLst>
          </a:prstGeom>
          <a:solidFill>
            <a:schemeClr val="bg1"/>
          </a:solidFill>
          <a:ln w="12700">
            <a:noFill/>
            <a:prstDash val="solid"/>
          </a:ln>
        </p:spPr>
        <p:txBody>
          <a:bodyPr wrap="square">
            <a:spAutoFit/>
          </a:bodyPr>
          <a:lstStyle/>
          <a:p>
            <a:pPr lvl="0" algn="just">
              <a:lnSpc>
                <a:spcPct val="120000"/>
              </a:lnSpc>
              <a:spcBef>
                <a:spcPts val="600"/>
              </a:spcBef>
              <a:spcAft>
                <a:spcPts val="0"/>
              </a:spcAft>
              <a:buClrTx/>
              <a:buSzTx/>
              <a:buFontTx/>
              <a:defRPr/>
            </a:pPr>
            <a:r>
              <a:rPr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精准定位客群，优化获客链路，核心用户持续增长。</a:t>
            </a:r>
            <a:endParaRPr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17" name="文本框 116"/>
          <p:cNvSpPr txBox="1"/>
          <p:nvPr/>
        </p:nvSpPr>
        <p:spPr>
          <a:xfrm>
            <a:off x="6486735" y="2680986"/>
            <a:ext cx="1913360" cy="346075"/>
          </a:xfrm>
          <a:prstGeom prst="rect">
            <a:avLst/>
          </a:prstGeom>
          <a:noFill/>
          <a:effectLst/>
        </p:spPr>
        <p:txBody>
          <a:bodyPr wrap="squar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商家生态优化</a:t>
            </a:r>
            <a:endPar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8" name="文本框 117"/>
          <p:cNvSpPr txBox="1"/>
          <p:nvPr/>
        </p:nvSpPr>
        <p:spPr>
          <a:xfrm>
            <a:off x="6486525" y="1515110"/>
            <a:ext cx="2092325" cy="533399"/>
          </a:xfrm>
          <a:prstGeom prst="roundRect">
            <a:avLst>
              <a:gd name="adj" fmla="val 0"/>
            </a:avLst>
          </a:prstGeom>
          <a:solidFill>
            <a:schemeClr val="bg1"/>
          </a:solidFill>
          <a:ln w="12700">
            <a:noFill/>
            <a:prstDash val="solid"/>
          </a:ln>
        </p:spPr>
        <p:txBody>
          <a:bodyPr wrap="square">
            <a:spAutoFit/>
          </a:bodyPr>
          <a:lstStyle/>
          <a:p>
            <a:pPr lvl="0" algn="just">
              <a:lnSpc>
                <a:spcPct val="120000"/>
              </a:lnSpc>
              <a:spcBef>
                <a:spcPts val="600"/>
              </a:spcBef>
              <a:spcAft>
                <a:spcPts val="0"/>
              </a:spcAft>
              <a:buClrTx/>
              <a:buSzTx/>
              <a:buFontTx/>
              <a:defRPr/>
            </a:pPr>
            <a:r>
              <a:rPr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扩容优质商家，赋能运营能力，商家存活率与效能双升。</a:t>
            </a:r>
            <a:endParaRPr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19" name="任意多边形: 形状 106"/>
          <p:cNvSpPr/>
          <p:nvPr/>
        </p:nvSpPr>
        <p:spPr>
          <a:xfrm>
            <a:off x="4404242" y="2361598"/>
            <a:ext cx="277857" cy="361438"/>
          </a:xfrm>
          <a:custGeom>
            <a:avLst/>
            <a:gdLst>
              <a:gd name="T0" fmla="*/ 1520 w 3040"/>
              <a:gd name="T1" fmla="*/ 0 h 3960"/>
              <a:gd name="T2" fmla="*/ 0 w 3040"/>
              <a:gd name="T3" fmla="*/ 1520 h 3960"/>
              <a:gd name="T4" fmla="*/ 309 w 3040"/>
              <a:gd name="T5" fmla="*/ 2438 h 3960"/>
              <a:gd name="T6" fmla="*/ 1024 w 3040"/>
              <a:gd name="T7" fmla="*/ 2957 h 3960"/>
              <a:gd name="T8" fmla="*/ 1391 w 3040"/>
              <a:gd name="T9" fmla="*/ 3872 h 3960"/>
              <a:gd name="T10" fmla="*/ 1520 w 3040"/>
              <a:gd name="T11" fmla="*/ 3960 h 3960"/>
              <a:gd name="T12" fmla="*/ 1649 w 3040"/>
              <a:gd name="T13" fmla="*/ 3872 h 3960"/>
              <a:gd name="T14" fmla="*/ 2016 w 3040"/>
              <a:gd name="T15" fmla="*/ 2957 h 3960"/>
              <a:gd name="T16" fmla="*/ 2731 w 3040"/>
              <a:gd name="T17" fmla="*/ 2438 h 3960"/>
              <a:gd name="T18" fmla="*/ 3040 w 3040"/>
              <a:gd name="T19" fmla="*/ 1520 h 3960"/>
              <a:gd name="T20" fmla="*/ 1520 w 3040"/>
              <a:gd name="T21" fmla="*/ 0 h 3960"/>
              <a:gd name="T22" fmla="*/ 1520 w 3040"/>
              <a:gd name="T23" fmla="*/ 969 h 3960"/>
              <a:gd name="T24" fmla="*/ 2071 w 3040"/>
              <a:gd name="T25" fmla="*/ 1520 h 3960"/>
              <a:gd name="T26" fmla="*/ 1520 w 3040"/>
              <a:gd name="T27" fmla="*/ 2071 h 3960"/>
              <a:gd name="T28" fmla="*/ 969 w 3040"/>
              <a:gd name="T29" fmla="*/ 1520 h 3960"/>
              <a:gd name="T30" fmla="*/ 1520 w 3040"/>
              <a:gd name="T31" fmla="*/ 969 h 3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40" h="3960">
                <a:moveTo>
                  <a:pt x="1520" y="0"/>
                </a:moveTo>
                <a:cubicBezTo>
                  <a:pt x="682" y="0"/>
                  <a:pt x="0" y="682"/>
                  <a:pt x="0" y="1520"/>
                </a:cubicBezTo>
                <a:cubicBezTo>
                  <a:pt x="0" y="1855"/>
                  <a:pt x="107" y="2172"/>
                  <a:pt x="309" y="2438"/>
                </a:cubicBezTo>
                <a:cubicBezTo>
                  <a:pt x="490" y="2677"/>
                  <a:pt x="742" y="2859"/>
                  <a:pt x="1024" y="2957"/>
                </a:cubicBezTo>
                <a:lnTo>
                  <a:pt x="1391" y="3872"/>
                </a:lnTo>
                <a:cubicBezTo>
                  <a:pt x="1412" y="3925"/>
                  <a:pt x="1463" y="3960"/>
                  <a:pt x="1520" y="3960"/>
                </a:cubicBezTo>
                <a:cubicBezTo>
                  <a:pt x="1577" y="3960"/>
                  <a:pt x="1628" y="3925"/>
                  <a:pt x="1649" y="3872"/>
                </a:cubicBezTo>
                <a:lnTo>
                  <a:pt x="2016" y="2957"/>
                </a:lnTo>
                <a:cubicBezTo>
                  <a:pt x="2298" y="2859"/>
                  <a:pt x="2550" y="2677"/>
                  <a:pt x="2731" y="2438"/>
                </a:cubicBezTo>
                <a:cubicBezTo>
                  <a:pt x="2933" y="2172"/>
                  <a:pt x="3040" y="1855"/>
                  <a:pt x="3040" y="1520"/>
                </a:cubicBezTo>
                <a:cubicBezTo>
                  <a:pt x="3040" y="682"/>
                  <a:pt x="2358" y="0"/>
                  <a:pt x="1520" y="0"/>
                </a:cubicBezTo>
                <a:close/>
                <a:moveTo>
                  <a:pt x="1520" y="969"/>
                </a:moveTo>
                <a:cubicBezTo>
                  <a:pt x="1824" y="969"/>
                  <a:pt x="2071" y="1216"/>
                  <a:pt x="2071" y="1520"/>
                </a:cubicBezTo>
                <a:cubicBezTo>
                  <a:pt x="2071" y="1824"/>
                  <a:pt x="1824" y="2071"/>
                  <a:pt x="1520" y="2071"/>
                </a:cubicBezTo>
                <a:cubicBezTo>
                  <a:pt x="1216" y="2071"/>
                  <a:pt x="969" y="1824"/>
                  <a:pt x="969" y="1520"/>
                </a:cubicBezTo>
                <a:cubicBezTo>
                  <a:pt x="969" y="1216"/>
                  <a:pt x="1216" y="969"/>
                  <a:pt x="1520" y="969"/>
                </a:cubicBezTo>
                <a:close/>
              </a:path>
            </a:pathLst>
          </a:custGeom>
          <a:gradFill>
            <a:gsLst>
              <a:gs pos="0">
                <a:schemeClr val="accent5">
                  <a:lumMod val="60000"/>
                  <a:lumOff val="40000"/>
                </a:schemeClr>
              </a:gs>
              <a:gs pos="100000">
                <a:schemeClr val="accent5"/>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en-US"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20" name="任意多边形: 形状 106"/>
          <p:cNvSpPr/>
          <p:nvPr/>
        </p:nvSpPr>
        <p:spPr>
          <a:xfrm>
            <a:off x="7308095" y="2169445"/>
            <a:ext cx="277857" cy="361438"/>
          </a:xfrm>
          <a:custGeom>
            <a:avLst/>
            <a:gdLst>
              <a:gd name="T0" fmla="*/ 1520 w 3040"/>
              <a:gd name="T1" fmla="*/ 0 h 3960"/>
              <a:gd name="T2" fmla="*/ 0 w 3040"/>
              <a:gd name="T3" fmla="*/ 1520 h 3960"/>
              <a:gd name="T4" fmla="*/ 309 w 3040"/>
              <a:gd name="T5" fmla="*/ 2438 h 3960"/>
              <a:gd name="T6" fmla="*/ 1024 w 3040"/>
              <a:gd name="T7" fmla="*/ 2957 h 3960"/>
              <a:gd name="T8" fmla="*/ 1391 w 3040"/>
              <a:gd name="T9" fmla="*/ 3872 h 3960"/>
              <a:gd name="T10" fmla="*/ 1520 w 3040"/>
              <a:gd name="T11" fmla="*/ 3960 h 3960"/>
              <a:gd name="T12" fmla="*/ 1649 w 3040"/>
              <a:gd name="T13" fmla="*/ 3872 h 3960"/>
              <a:gd name="T14" fmla="*/ 2016 w 3040"/>
              <a:gd name="T15" fmla="*/ 2957 h 3960"/>
              <a:gd name="T16" fmla="*/ 2731 w 3040"/>
              <a:gd name="T17" fmla="*/ 2438 h 3960"/>
              <a:gd name="T18" fmla="*/ 3040 w 3040"/>
              <a:gd name="T19" fmla="*/ 1520 h 3960"/>
              <a:gd name="T20" fmla="*/ 1520 w 3040"/>
              <a:gd name="T21" fmla="*/ 0 h 3960"/>
              <a:gd name="T22" fmla="*/ 1520 w 3040"/>
              <a:gd name="T23" fmla="*/ 969 h 3960"/>
              <a:gd name="T24" fmla="*/ 2071 w 3040"/>
              <a:gd name="T25" fmla="*/ 1520 h 3960"/>
              <a:gd name="T26" fmla="*/ 1520 w 3040"/>
              <a:gd name="T27" fmla="*/ 2071 h 3960"/>
              <a:gd name="T28" fmla="*/ 969 w 3040"/>
              <a:gd name="T29" fmla="*/ 1520 h 3960"/>
              <a:gd name="T30" fmla="*/ 1520 w 3040"/>
              <a:gd name="T31" fmla="*/ 969 h 3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40" h="3960">
                <a:moveTo>
                  <a:pt x="1520" y="0"/>
                </a:moveTo>
                <a:cubicBezTo>
                  <a:pt x="682" y="0"/>
                  <a:pt x="0" y="682"/>
                  <a:pt x="0" y="1520"/>
                </a:cubicBezTo>
                <a:cubicBezTo>
                  <a:pt x="0" y="1855"/>
                  <a:pt x="107" y="2172"/>
                  <a:pt x="309" y="2438"/>
                </a:cubicBezTo>
                <a:cubicBezTo>
                  <a:pt x="490" y="2677"/>
                  <a:pt x="742" y="2859"/>
                  <a:pt x="1024" y="2957"/>
                </a:cubicBezTo>
                <a:lnTo>
                  <a:pt x="1391" y="3872"/>
                </a:lnTo>
                <a:cubicBezTo>
                  <a:pt x="1412" y="3925"/>
                  <a:pt x="1463" y="3960"/>
                  <a:pt x="1520" y="3960"/>
                </a:cubicBezTo>
                <a:cubicBezTo>
                  <a:pt x="1577" y="3960"/>
                  <a:pt x="1628" y="3925"/>
                  <a:pt x="1649" y="3872"/>
                </a:cubicBezTo>
                <a:lnTo>
                  <a:pt x="2016" y="2957"/>
                </a:lnTo>
                <a:cubicBezTo>
                  <a:pt x="2298" y="2859"/>
                  <a:pt x="2550" y="2677"/>
                  <a:pt x="2731" y="2438"/>
                </a:cubicBezTo>
                <a:cubicBezTo>
                  <a:pt x="2933" y="2172"/>
                  <a:pt x="3040" y="1855"/>
                  <a:pt x="3040" y="1520"/>
                </a:cubicBezTo>
                <a:cubicBezTo>
                  <a:pt x="3040" y="682"/>
                  <a:pt x="2358" y="0"/>
                  <a:pt x="1520" y="0"/>
                </a:cubicBezTo>
                <a:close/>
                <a:moveTo>
                  <a:pt x="1520" y="969"/>
                </a:moveTo>
                <a:cubicBezTo>
                  <a:pt x="1824" y="969"/>
                  <a:pt x="2071" y="1216"/>
                  <a:pt x="2071" y="1520"/>
                </a:cubicBezTo>
                <a:cubicBezTo>
                  <a:pt x="2071" y="1824"/>
                  <a:pt x="1824" y="2071"/>
                  <a:pt x="1520" y="2071"/>
                </a:cubicBezTo>
                <a:cubicBezTo>
                  <a:pt x="1216" y="2071"/>
                  <a:pt x="969" y="1824"/>
                  <a:pt x="969" y="1520"/>
                </a:cubicBezTo>
                <a:cubicBezTo>
                  <a:pt x="969" y="1216"/>
                  <a:pt x="1216" y="969"/>
                  <a:pt x="1520" y="969"/>
                </a:cubicBezTo>
                <a:close/>
              </a:path>
            </a:pathLst>
          </a:custGeom>
          <a:gradFill>
            <a:gsLst>
              <a:gs pos="0">
                <a:schemeClr val="accent5">
                  <a:lumMod val="60000"/>
                  <a:lumOff val="40000"/>
                </a:schemeClr>
              </a:gs>
              <a:gs pos="100000">
                <a:schemeClr val="accent5"/>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en-US"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21" name="任意多边形: 形状 106"/>
          <p:cNvSpPr/>
          <p:nvPr/>
        </p:nvSpPr>
        <p:spPr>
          <a:xfrm>
            <a:off x="10208339" y="1629650"/>
            <a:ext cx="277857" cy="361438"/>
          </a:xfrm>
          <a:custGeom>
            <a:avLst/>
            <a:gdLst>
              <a:gd name="T0" fmla="*/ 1520 w 3040"/>
              <a:gd name="T1" fmla="*/ 0 h 3960"/>
              <a:gd name="T2" fmla="*/ 0 w 3040"/>
              <a:gd name="T3" fmla="*/ 1520 h 3960"/>
              <a:gd name="T4" fmla="*/ 309 w 3040"/>
              <a:gd name="T5" fmla="*/ 2438 h 3960"/>
              <a:gd name="T6" fmla="*/ 1024 w 3040"/>
              <a:gd name="T7" fmla="*/ 2957 h 3960"/>
              <a:gd name="T8" fmla="*/ 1391 w 3040"/>
              <a:gd name="T9" fmla="*/ 3872 h 3960"/>
              <a:gd name="T10" fmla="*/ 1520 w 3040"/>
              <a:gd name="T11" fmla="*/ 3960 h 3960"/>
              <a:gd name="T12" fmla="*/ 1649 w 3040"/>
              <a:gd name="T13" fmla="*/ 3872 h 3960"/>
              <a:gd name="T14" fmla="*/ 2016 w 3040"/>
              <a:gd name="T15" fmla="*/ 2957 h 3960"/>
              <a:gd name="T16" fmla="*/ 2731 w 3040"/>
              <a:gd name="T17" fmla="*/ 2438 h 3960"/>
              <a:gd name="T18" fmla="*/ 3040 w 3040"/>
              <a:gd name="T19" fmla="*/ 1520 h 3960"/>
              <a:gd name="T20" fmla="*/ 1520 w 3040"/>
              <a:gd name="T21" fmla="*/ 0 h 3960"/>
              <a:gd name="T22" fmla="*/ 1520 w 3040"/>
              <a:gd name="T23" fmla="*/ 969 h 3960"/>
              <a:gd name="T24" fmla="*/ 2071 w 3040"/>
              <a:gd name="T25" fmla="*/ 1520 h 3960"/>
              <a:gd name="T26" fmla="*/ 1520 w 3040"/>
              <a:gd name="T27" fmla="*/ 2071 h 3960"/>
              <a:gd name="T28" fmla="*/ 969 w 3040"/>
              <a:gd name="T29" fmla="*/ 1520 h 3960"/>
              <a:gd name="T30" fmla="*/ 1520 w 3040"/>
              <a:gd name="T31" fmla="*/ 969 h 3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40" h="3960">
                <a:moveTo>
                  <a:pt x="1520" y="0"/>
                </a:moveTo>
                <a:cubicBezTo>
                  <a:pt x="682" y="0"/>
                  <a:pt x="0" y="682"/>
                  <a:pt x="0" y="1520"/>
                </a:cubicBezTo>
                <a:cubicBezTo>
                  <a:pt x="0" y="1855"/>
                  <a:pt x="107" y="2172"/>
                  <a:pt x="309" y="2438"/>
                </a:cubicBezTo>
                <a:cubicBezTo>
                  <a:pt x="490" y="2677"/>
                  <a:pt x="742" y="2859"/>
                  <a:pt x="1024" y="2957"/>
                </a:cubicBezTo>
                <a:lnTo>
                  <a:pt x="1391" y="3872"/>
                </a:lnTo>
                <a:cubicBezTo>
                  <a:pt x="1412" y="3925"/>
                  <a:pt x="1463" y="3960"/>
                  <a:pt x="1520" y="3960"/>
                </a:cubicBezTo>
                <a:cubicBezTo>
                  <a:pt x="1577" y="3960"/>
                  <a:pt x="1628" y="3925"/>
                  <a:pt x="1649" y="3872"/>
                </a:cubicBezTo>
                <a:lnTo>
                  <a:pt x="2016" y="2957"/>
                </a:lnTo>
                <a:cubicBezTo>
                  <a:pt x="2298" y="2859"/>
                  <a:pt x="2550" y="2677"/>
                  <a:pt x="2731" y="2438"/>
                </a:cubicBezTo>
                <a:cubicBezTo>
                  <a:pt x="2933" y="2172"/>
                  <a:pt x="3040" y="1855"/>
                  <a:pt x="3040" y="1520"/>
                </a:cubicBezTo>
                <a:cubicBezTo>
                  <a:pt x="3040" y="682"/>
                  <a:pt x="2358" y="0"/>
                  <a:pt x="1520" y="0"/>
                </a:cubicBezTo>
                <a:close/>
                <a:moveTo>
                  <a:pt x="1520" y="969"/>
                </a:moveTo>
                <a:cubicBezTo>
                  <a:pt x="1824" y="969"/>
                  <a:pt x="2071" y="1216"/>
                  <a:pt x="2071" y="1520"/>
                </a:cubicBezTo>
                <a:cubicBezTo>
                  <a:pt x="2071" y="1824"/>
                  <a:pt x="1824" y="2071"/>
                  <a:pt x="1520" y="2071"/>
                </a:cubicBezTo>
                <a:cubicBezTo>
                  <a:pt x="1216" y="2071"/>
                  <a:pt x="969" y="1824"/>
                  <a:pt x="969" y="1520"/>
                </a:cubicBezTo>
                <a:cubicBezTo>
                  <a:pt x="969" y="1216"/>
                  <a:pt x="1216" y="969"/>
                  <a:pt x="1520" y="969"/>
                </a:cubicBezTo>
                <a:close/>
              </a:path>
            </a:pathLst>
          </a:custGeom>
          <a:gradFill>
            <a:gsLst>
              <a:gs pos="0">
                <a:schemeClr val="accent5">
                  <a:lumMod val="60000"/>
                  <a:lumOff val="40000"/>
                </a:schemeClr>
              </a:gs>
              <a:gs pos="100000">
                <a:schemeClr val="accent5"/>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en-US"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22" name="文本框 121"/>
          <p:cNvSpPr txBox="1"/>
          <p:nvPr/>
        </p:nvSpPr>
        <p:spPr>
          <a:xfrm>
            <a:off x="9386978" y="2339138"/>
            <a:ext cx="1913360" cy="346075"/>
          </a:xfrm>
          <a:prstGeom prst="rect">
            <a:avLst/>
          </a:prstGeom>
          <a:noFill/>
          <a:effectLst/>
        </p:spPr>
        <p:txBody>
          <a:bodyPr wrap="squar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转化效率提升</a:t>
            </a:r>
            <a:endPar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3" name="文本框 122"/>
          <p:cNvSpPr txBox="1"/>
          <p:nvPr/>
        </p:nvSpPr>
        <p:spPr>
          <a:xfrm>
            <a:off x="9057640" y="1039495"/>
            <a:ext cx="2036445" cy="533399"/>
          </a:xfrm>
          <a:prstGeom prst="roundRect">
            <a:avLst>
              <a:gd name="adj" fmla="val 0"/>
            </a:avLst>
          </a:prstGeom>
          <a:noFill/>
          <a:ln w="12700">
            <a:noFill/>
            <a:prstDash val="solid"/>
          </a:ln>
        </p:spPr>
        <p:txBody>
          <a:bodyPr wrap="square">
            <a:spAutoFit/>
          </a:bodyPr>
          <a:lstStyle/>
          <a:p>
            <a:pPr lvl="0" algn="just">
              <a:lnSpc>
                <a:spcPct val="120000"/>
              </a:lnSpc>
              <a:spcBef>
                <a:spcPts val="600"/>
              </a:spcBef>
              <a:spcAft>
                <a:spcPts val="0"/>
              </a:spcAft>
              <a:buClrTx/>
              <a:buSzTx/>
              <a:buFontTx/>
              <a:defRPr/>
            </a:pPr>
            <a:r>
              <a:rPr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优化页面体验，精准匹配供需，全链路转化效率提升。</a:t>
            </a:r>
            <a:endParaRPr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nvGrpSpPr>
          <p:cNvPr id="2" name="组合 1"/>
          <p:cNvGrpSpPr/>
          <p:nvPr/>
        </p:nvGrpSpPr>
        <p:grpSpPr>
          <a:xfrm>
            <a:off x="439420" y="4003040"/>
            <a:ext cx="2408555" cy="1042035"/>
            <a:chOff x="692" y="6304"/>
            <a:chExt cx="3793" cy="1641"/>
          </a:xfrm>
        </p:grpSpPr>
        <p:sp>
          <p:nvSpPr>
            <p:cNvPr id="124" name="文本框 123"/>
            <p:cNvSpPr txBox="1"/>
            <p:nvPr/>
          </p:nvSpPr>
          <p:spPr>
            <a:xfrm>
              <a:off x="965" y="6777"/>
              <a:ext cx="3521" cy="1169"/>
            </a:xfrm>
            <a:prstGeom prst="rect">
              <a:avLst/>
            </a:prstGeom>
            <a:noFill/>
          </p:spPr>
          <p:txBody>
            <a:bodyPr wrap="square">
              <a:spAutoFit/>
            </a:bodyPr>
            <a:lstStyle>
              <a:defPPr>
                <a:defRPr lang="zh-CN"/>
              </a:defPPr>
              <a:lvl1pPr algn="just">
                <a:lnSpc>
                  <a:spcPct val="120000"/>
                </a:lnSpc>
                <a:spcBef>
                  <a:spcPts val="600"/>
                </a:spcBef>
                <a:defRPr sz="1200">
                  <a:latin typeface="思源黑体 CN Regular" panose="020B0500000000000000" charset="-122"/>
                  <a:ea typeface="思源黑体 CN Regular" panose="020B0500000000000000" charset="-122"/>
                  <a:cs typeface="OPPOSans M" panose="00020600040101010101" pitchFamily="18" charset="-122"/>
                </a:defRPr>
              </a:lvl1pPr>
            </a:lstStyle>
            <a:p>
              <a:pPr marL="0" marR="0" lvl="0" indent="0" algn="just"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全年品类销售额达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8.2 </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亿元，较去年增长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45%</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，超额完成年度目标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18%</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7" name="文本框 126"/>
            <p:cNvSpPr txBox="1"/>
            <p:nvPr/>
          </p:nvSpPr>
          <p:spPr>
            <a:xfrm>
              <a:off x="965" y="6304"/>
              <a:ext cx="2217" cy="53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整体营收突破</a:t>
              </a:r>
              <a:endPar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140" name="组合 139"/>
            <p:cNvGrpSpPr/>
            <p:nvPr/>
          </p:nvGrpSpPr>
          <p:grpSpPr>
            <a:xfrm>
              <a:off x="692" y="6418"/>
              <a:ext cx="255" cy="255"/>
              <a:chOff x="-292825" y="4083833"/>
              <a:chExt cx="162032" cy="162032"/>
            </a:xfrm>
            <a:solidFill>
              <a:schemeClr val="bg1"/>
            </a:solidFill>
            <a:effectLst/>
          </p:grpSpPr>
          <p:sp>
            <p:nvSpPr>
              <p:cNvPr id="141" name="流程图: 接点 140"/>
              <p:cNvSpPr/>
              <p:nvPr/>
            </p:nvSpPr>
            <p:spPr>
              <a:xfrm flipV="1">
                <a:off x="-270234" y="4106424"/>
                <a:ext cx="116851" cy="116851"/>
              </a:xfrm>
              <a:prstGeom prst="flowChartConnector">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2" name="流程图: 接点 141"/>
              <p:cNvSpPr/>
              <p:nvPr/>
            </p:nvSpPr>
            <p:spPr>
              <a:xfrm flipV="1">
                <a:off x="-292825" y="4083833"/>
                <a:ext cx="162032" cy="162032"/>
              </a:xfrm>
              <a:prstGeom prst="flowChartConnector">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grpSp>
      <p:grpSp>
        <p:nvGrpSpPr>
          <p:cNvPr id="7" name="组合 6"/>
          <p:cNvGrpSpPr/>
          <p:nvPr/>
        </p:nvGrpSpPr>
        <p:grpSpPr>
          <a:xfrm>
            <a:off x="439420" y="5196840"/>
            <a:ext cx="2408555" cy="1026795"/>
            <a:chOff x="692" y="8184"/>
            <a:chExt cx="3793" cy="1617"/>
          </a:xfrm>
        </p:grpSpPr>
        <p:sp>
          <p:nvSpPr>
            <p:cNvPr id="125" name="文本框 124"/>
            <p:cNvSpPr txBox="1"/>
            <p:nvPr/>
          </p:nvSpPr>
          <p:spPr>
            <a:xfrm>
              <a:off x="965" y="8633"/>
              <a:ext cx="3521" cy="1169"/>
            </a:xfrm>
            <a:prstGeom prst="rect">
              <a:avLst/>
            </a:prstGeom>
            <a:noFill/>
          </p:spPr>
          <p:txBody>
            <a:bodyPr wrap="square">
              <a:spAutoFit/>
            </a:bodyPr>
            <a:lstStyle>
              <a:defPPr>
                <a:defRPr lang="zh-CN"/>
              </a:defPPr>
              <a:lvl1pPr algn="just">
                <a:lnSpc>
                  <a:spcPct val="120000"/>
                </a:lnSpc>
                <a:spcBef>
                  <a:spcPts val="600"/>
                </a:spcBef>
                <a:defRPr sz="1200">
                  <a:latin typeface="思源黑体 CN Regular" panose="020B0500000000000000" charset="-122"/>
                  <a:ea typeface="思源黑体 CN Regular" panose="020B0500000000000000" charset="-122"/>
                  <a:cs typeface="OPPOSans M" panose="00020600040101010101" pitchFamily="18" charset="-122"/>
                </a:defRPr>
              </a:lvl1pPr>
            </a:lstStyle>
            <a:p>
              <a:pPr marL="0" marR="0" lvl="0" indent="0" algn="just"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双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11 </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单场销售额破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2.3 </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亿元，占平台家居类总销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32%</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，同比增长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52%</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6" name="文本框 125"/>
            <p:cNvSpPr txBox="1"/>
            <p:nvPr/>
          </p:nvSpPr>
          <p:spPr>
            <a:xfrm>
              <a:off x="965" y="8184"/>
              <a:ext cx="3368" cy="53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大促表现亮眼</a:t>
              </a:r>
              <a:endPar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143" name="组合 142"/>
            <p:cNvGrpSpPr/>
            <p:nvPr/>
          </p:nvGrpSpPr>
          <p:grpSpPr>
            <a:xfrm>
              <a:off x="692" y="8323"/>
              <a:ext cx="255" cy="255"/>
              <a:chOff x="-292825" y="4083833"/>
              <a:chExt cx="162032" cy="162032"/>
            </a:xfrm>
            <a:solidFill>
              <a:schemeClr val="bg1"/>
            </a:solidFill>
            <a:effectLst/>
          </p:grpSpPr>
          <p:sp>
            <p:nvSpPr>
              <p:cNvPr id="144" name="流程图: 接点 143"/>
              <p:cNvSpPr/>
              <p:nvPr/>
            </p:nvSpPr>
            <p:spPr>
              <a:xfrm flipV="1">
                <a:off x="-270234" y="4106424"/>
                <a:ext cx="116851" cy="116851"/>
              </a:xfrm>
              <a:prstGeom prst="flowChartConnector">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5" name="流程图: 接点 144"/>
              <p:cNvSpPr/>
              <p:nvPr/>
            </p:nvSpPr>
            <p:spPr>
              <a:xfrm flipV="1">
                <a:off x="-292825" y="4083833"/>
                <a:ext cx="162032" cy="162032"/>
              </a:xfrm>
              <a:prstGeom prst="flowChartConnector">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grpSp>
      <p:grpSp>
        <p:nvGrpSpPr>
          <p:cNvPr id="4" name="组合 3"/>
          <p:cNvGrpSpPr/>
          <p:nvPr/>
        </p:nvGrpSpPr>
        <p:grpSpPr>
          <a:xfrm>
            <a:off x="3342640" y="4003040"/>
            <a:ext cx="2408555" cy="1042035"/>
            <a:chOff x="5263" y="6124"/>
            <a:chExt cx="3793" cy="1641"/>
          </a:xfrm>
        </p:grpSpPr>
        <p:sp>
          <p:nvSpPr>
            <p:cNvPr id="128" name="文本框 127"/>
            <p:cNvSpPr txBox="1"/>
            <p:nvPr/>
          </p:nvSpPr>
          <p:spPr>
            <a:xfrm>
              <a:off x="5536" y="6597"/>
              <a:ext cx="3521" cy="1169"/>
            </a:xfrm>
            <a:prstGeom prst="rect">
              <a:avLst/>
            </a:prstGeom>
            <a:noFill/>
          </p:spPr>
          <p:txBody>
            <a:bodyPr wrap="square">
              <a:spAutoFit/>
            </a:bodyPr>
            <a:lstStyle>
              <a:defPPr>
                <a:defRPr lang="zh-CN"/>
              </a:defPPr>
              <a:lvl1pPr algn="just">
                <a:lnSpc>
                  <a:spcPct val="120000"/>
                </a:lnSpc>
                <a:spcBef>
                  <a:spcPts val="600"/>
                </a:spcBef>
                <a:defRPr sz="1200">
                  <a:latin typeface="思源黑体 CN Regular" panose="020B0500000000000000" charset="-122"/>
                  <a:ea typeface="思源黑体 CN Regular" panose="020B0500000000000000" charset="-122"/>
                  <a:cs typeface="OPPOSans M" panose="00020600040101010101" pitchFamily="18" charset="-122"/>
                </a:defRPr>
              </a:lvl1pPr>
            </a:lstStyle>
            <a:p>
              <a:pPr marL="0" marR="0" lvl="0" indent="0" algn="just"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年度累计购买用户达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128 </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万，新增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65 </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万，增长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103%</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，其中新客转化率提升至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15%</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1" name="文本框 130"/>
            <p:cNvSpPr txBox="1"/>
            <p:nvPr/>
          </p:nvSpPr>
          <p:spPr>
            <a:xfrm>
              <a:off x="5536" y="6124"/>
              <a:ext cx="2217" cy="53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购买用户增长</a:t>
              </a:r>
              <a:endParaRPr kumimoji="0" lang="zh-CN" altLang="en-US" sz="16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146" name="组合 145"/>
            <p:cNvGrpSpPr/>
            <p:nvPr/>
          </p:nvGrpSpPr>
          <p:grpSpPr>
            <a:xfrm>
              <a:off x="5263" y="6238"/>
              <a:ext cx="255" cy="255"/>
              <a:chOff x="-292825" y="4083833"/>
              <a:chExt cx="162032" cy="162032"/>
            </a:xfrm>
            <a:solidFill>
              <a:schemeClr val="bg1"/>
            </a:solidFill>
            <a:effectLst/>
          </p:grpSpPr>
          <p:sp>
            <p:nvSpPr>
              <p:cNvPr id="147" name="流程图: 接点 146"/>
              <p:cNvSpPr/>
              <p:nvPr/>
            </p:nvSpPr>
            <p:spPr>
              <a:xfrm flipV="1">
                <a:off x="-270234" y="4106424"/>
                <a:ext cx="116851" cy="116851"/>
              </a:xfrm>
              <a:prstGeom prst="flowChartConnector">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8" name="流程图: 接点 147"/>
              <p:cNvSpPr/>
              <p:nvPr/>
            </p:nvSpPr>
            <p:spPr>
              <a:xfrm flipV="1">
                <a:off x="-292825" y="4083833"/>
                <a:ext cx="162032" cy="162032"/>
              </a:xfrm>
              <a:prstGeom prst="flowChartConnector">
                <a:avLst/>
              </a:prstGeom>
              <a:grp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grpSp>
      <p:grpSp>
        <p:nvGrpSpPr>
          <p:cNvPr id="6" name="组合 5"/>
          <p:cNvGrpSpPr/>
          <p:nvPr/>
        </p:nvGrpSpPr>
        <p:grpSpPr>
          <a:xfrm>
            <a:off x="3342005" y="5196840"/>
            <a:ext cx="2408555" cy="1030605"/>
            <a:chOff x="5263" y="8445"/>
            <a:chExt cx="3793" cy="1623"/>
          </a:xfrm>
        </p:grpSpPr>
        <p:sp>
          <p:nvSpPr>
            <p:cNvPr id="129" name="文本框 128"/>
            <p:cNvSpPr txBox="1"/>
            <p:nvPr/>
          </p:nvSpPr>
          <p:spPr>
            <a:xfrm>
              <a:off x="5536" y="8894"/>
              <a:ext cx="3521" cy="1175"/>
            </a:xfrm>
            <a:prstGeom prst="rect">
              <a:avLst/>
            </a:prstGeom>
            <a:noFill/>
          </p:spPr>
          <p:txBody>
            <a:bodyPr wrap="square">
              <a:spAutoFit/>
            </a:bodyPr>
            <a:lstStyle>
              <a:defPPr>
                <a:defRPr lang="zh-CN"/>
              </a:defPPr>
              <a:lvl1pPr algn="just">
                <a:lnSpc>
                  <a:spcPct val="120000"/>
                </a:lnSpc>
                <a:spcBef>
                  <a:spcPts val="600"/>
                </a:spcBef>
                <a:defRPr sz="1200">
                  <a:latin typeface="思源黑体 CN Regular" panose="020B0500000000000000" charset="-122"/>
                  <a:ea typeface="思源黑体 CN Regular" panose="020B0500000000000000" charset="-122"/>
                  <a:cs typeface="OPPOSans M" panose="00020600040101010101" pitchFamily="18" charset="-122"/>
                </a:defRPr>
              </a:lvl1pPr>
            </a:lstStyle>
            <a:p>
              <a:pPr marL="0" marR="0" lvl="0" indent="0" algn="just"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品类月均活跃用户（</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MAU</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）达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320 </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万，较去年增长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68%</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，用户停留时长增加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22%</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0" name="文本框 129"/>
            <p:cNvSpPr txBox="1"/>
            <p:nvPr/>
          </p:nvSpPr>
          <p:spPr>
            <a:xfrm>
              <a:off x="5536" y="8445"/>
              <a:ext cx="3368" cy="53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用户活跃度提升</a:t>
              </a:r>
              <a:endParaRPr kumimoji="0" lang="zh-CN" altLang="en-US" sz="16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149" name="组合 148"/>
            <p:cNvGrpSpPr/>
            <p:nvPr/>
          </p:nvGrpSpPr>
          <p:grpSpPr>
            <a:xfrm>
              <a:off x="5263" y="8584"/>
              <a:ext cx="255" cy="255"/>
              <a:chOff x="-292825" y="4083833"/>
              <a:chExt cx="162032" cy="162032"/>
            </a:xfrm>
            <a:solidFill>
              <a:schemeClr val="bg1"/>
            </a:solidFill>
            <a:effectLst/>
          </p:grpSpPr>
          <p:sp>
            <p:nvSpPr>
              <p:cNvPr id="150" name="流程图: 接点 149"/>
              <p:cNvSpPr/>
              <p:nvPr/>
            </p:nvSpPr>
            <p:spPr>
              <a:xfrm flipV="1">
                <a:off x="-270234" y="4106424"/>
                <a:ext cx="116851" cy="116851"/>
              </a:xfrm>
              <a:prstGeom prst="flowChartConnector">
                <a:avLst/>
              </a:prstGeom>
              <a:grp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1" name="流程图: 接点 150"/>
              <p:cNvSpPr/>
              <p:nvPr/>
            </p:nvSpPr>
            <p:spPr>
              <a:xfrm flipV="1">
                <a:off x="-292825" y="4083833"/>
                <a:ext cx="162032" cy="162032"/>
              </a:xfrm>
              <a:prstGeom prst="flowChartConnector">
                <a:avLst/>
              </a:prstGeom>
              <a:grp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grpSp>
      <p:grpSp>
        <p:nvGrpSpPr>
          <p:cNvPr id="9" name="组合 8"/>
          <p:cNvGrpSpPr/>
          <p:nvPr/>
        </p:nvGrpSpPr>
        <p:grpSpPr>
          <a:xfrm>
            <a:off x="6244590" y="4003040"/>
            <a:ext cx="2495550" cy="1045845"/>
            <a:chOff x="9832" y="6124"/>
            <a:chExt cx="3930" cy="1647"/>
          </a:xfrm>
        </p:grpSpPr>
        <p:sp>
          <p:nvSpPr>
            <p:cNvPr id="132" name="文本框 131"/>
            <p:cNvSpPr txBox="1"/>
            <p:nvPr/>
          </p:nvSpPr>
          <p:spPr>
            <a:xfrm>
              <a:off x="10104" y="6597"/>
              <a:ext cx="3659" cy="1175"/>
            </a:xfrm>
            <a:prstGeom prst="rect">
              <a:avLst/>
            </a:prstGeom>
            <a:noFill/>
          </p:spPr>
          <p:txBody>
            <a:bodyPr wrap="square">
              <a:spAutoFit/>
            </a:bodyPr>
            <a:lstStyle>
              <a:defPPr>
                <a:defRPr lang="zh-CN"/>
              </a:defPPr>
              <a:lvl1pPr algn="just">
                <a:lnSpc>
                  <a:spcPct val="120000"/>
                </a:lnSpc>
                <a:spcBef>
                  <a:spcPts val="600"/>
                </a:spcBef>
                <a:defRPr sz="1200">
                  <a:latin typeface="思源黑体 CN Regular" panose="020B0500000000000000" charset="-122"/>
                  <a:ea typeface="思源黑体 CN Regular" panose="020B0500000000000000" charset="-122"/>
                  <a:cs typeface="OPPOSans M" panose="00020600040101010101" pitchFamily="18" charset="-122"/>
                </a:defRPr>
              </a:lvl1pPr>
            </a:lstStyle>
            <a:p>
              <a:pPr marL="0" marR="0" lvl="0" indent="0" algn="just"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新增优质商家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280 </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家，品类商家总数达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850 </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家，增长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49%</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，头部商家占比提升至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25%</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3" name="文本框 72"/>
            <p:cNvSpPr txBox="1"/>
            <p:nvPr/>
          </p:nvSpPr>
          <p:spPr>
            <a:xfrm>
              <a:off x="10104" y="6124"/>
              <a:ext cx="2217" cy="53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商家数量增长</a:t>
              </a:r>
              <a:endPar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152" name="组合 151"/>
            <p:cNvGrpSpPr/>
            <p:nvPr/>
          </p:nvGrpSpPr>
          <p:grpSpPr>
            <a:xfrm>
              <a:off x="9832" y="6238"/>
              <a:ext cx="255" cy="255"/>
              <a:chOff x="-292825" y="4083833"/>
              <a:chExt cx="162032" cy="162032"/>
            </a:xfrm>
            <a:solidFill>
              <a:schemeClr val="bg1"/>
            </a:solidFill>
            <a:effectLst/>
          </p:grpSpPr>
          <p:sp>
            <p:nvSpPr>
              <p:cNvPr id="153" name="流程图: 接点 152"/>
              <p:cNvSpPr/>
              <p:nvPr/>
            </p:nvSpPr>
            <p:spPr>
              <a:xfrm flipV="1">
                <a:off x="-270234" y="4106424"/>
                <a:ext cx="116851" cy="116851"/>
              </a:xfrm>
              <a:prstGeom prst="flowChartConnector">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4" name="流程图: 接点 153"/>
              <p:cNvSpPr/>
              <p:nvPr/>
            </p:nvSpPr>
            <p:spPr>
              <a:xfrm flipV="1">
                <a:off x="-292825" y="4083833"/>
                <a:ext cx="162032" cy="162032"/>
              </a:xfrm>
              <a:prstGeom prst="flowChartConnector">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grpSp>
      <p:grpSp>
        <p:nvGrpSpPr>
          <p:cNvPr id="11" name="组合 10"/>
          <p:cNvGrpSpPr/>
          <p:nvPr/>
        </p:nvGrpSpPr>
        <p:grpSpPr>
          <a:xfrm>
            <a:off x="6243320" y="5196840"/>
            <a:ext cx="2495550" cy="1026795"/>
            <a:chOff x="9832" y="8445"/>
            <a:chExt cx="3930" cy="1617"/>
          </a:xfrm>
        </p:grpSpPr>
        <p:sp>
          <p:nvSpPr>
            <p:cNvPr id="133" name="文本框 132"/>
            <p:cNvSpPr txBox="1"/>
            <p:nvPr/>
          </p:nvSpPr>
          <p:spPr>
            <a:xfrm>
              <a:off x="10104" y="8894"/>
              <a:ext cx="3659" cy="1169"/>
            </a:xfrm>
            <a:prstGeom prst="rect">
              <a:avLst/>
            </a:prstGeom>
            <a:noFill/>
          </p:spPr>
          <p:txBody>
            <a:bodyPr wrap="square">
              <a:spAutoFit/>
            </a:bodyPr>
            <a:lstStyle>
              <a:defPPr>
                <a:defRPr lang="zh-CN"/>
              </a:defPPr>
              <a:lvl1pPr algn="just">
                <a:lnSpc>
                  <a:spcPct val="120000"/>
                </a:lnSpc>
                <a:spcBef>
                  <a:spcPts val="600"/>
                </a:spcBef>
                <a:defRPr sz="1200">
                  <a:latin typeface="思源黑体 CN Regular" panose="020B0500000000000000" charset="-122"/>
                  <a:ea typeface="思源黑体 CN Regular" panose="020B0500000000000000" charset="-122"/>
                  <a:cs typeface="OPPOSans M" panose="00020600040101010101" pitchFamily="18" charset="-122"/>
                </a:defRPr>
              </a:lvl1pPr>
            </a:lstStyle>
            <a:p>
              <a:pPr marL="0" marR="0" lvl="0" indent="0" algn="just"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商家平均动销率从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42% </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提升至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68%</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，增长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62%</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，中小商家月均营收增长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58%</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4" name="文本框 133"/>
            <p:cNvSpPr txBox="1"/>
            <p:nvPr/>
          </p:nvSpPr>
          <p:spPr>
            <a:xfrm>
              <a:off x="10104" y="8445"/>
              <a:ext cx="3368" cy="53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商家效能提升</a:t>
              </a:r>
              <a:endPar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155" name="组合 154"/>
            <p:cNvGrpSpPr/>
            <p:nvPr/>
          </p:nvGrpSpPr>
          <p:grpSpPr>
            <a:xfrm>
              <a:off x="9832" y="8584"/>
              <a:ext cx="255" cy="255"/>
              <a:chOff x="-292825" y="4083833"/>
              <a:chExt cx="162032" cy="162032"/>
            </a:xfrm>
            <a:solidFill>
              <a:schemeClr val="bg1"/>
            </a:solidFill>
            <a:effectLst/>
          </p:grpSpPr>
          <p:sp>
            <p:nvSpPr>
              <p:cNvPr id="156" name="流程图: 接点 155"/>
              <p:cNvSpPr/>
              <p:nvPr/>
            </p:nvSpPr>
            <p:spPr>
              <a:xfrm flipV="1">
                <a:off x="-270234" y="4106424"/>
                <a:ext cx="116851" cy="116851"/>
              </a:xfrm>
              <a:prstGeom prst="flowChartConnector">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7" name="流程图: 接点 156"/>
              <p:cNvSpPr/>
              <p:nvPr/>
            </p:nvSpPr>
            <p:spPr>
              <a:xfrm flipV="1">
                <a:off x="-292825" y="4083833"/>
                <a:ext cx="162032" cy="162032"/>
              </a:xfrm>
              <a:prstGeom prst="flowChartConnector">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grpSp>
      <p:grpSp>
        <p:nvGrpSpPr>
          <p:cNvPr id="12" name="组合 11"/>
          <p:cNvGrpSpPr/>
          <p:nvPr/>
        </p:nvGrpSpPr>
        <p:grpSpPr>
          <a:xfrm>
            <a:off x="9143365" y="4003040"/>
            <a:ext cx="2408555" cy="1042035"/>
            <a:chOff x="14399" y="6124"/>
            <a:chExt cx="3793" cy="1641"/>
          </a:xfrm>
        </p:grpSpPr>
        <p:sp>
          <p:nvSpPr>
            <p:cNvPr id="136" name="文本框 135"/>
            <p:cNvSpPr txBox="1"/>
            <p:nvPr/>
          </p:nvSpPr>
          <p:spPr>
            <a:xfrm>
              <a:off x="14672" y="6597"/>
              <a:ext cx="3521" cy="1169"/>
            </a:xfrm>
            <a:prstGeom prst="rect">
              <a:avLst/>
            </a:prstGeom>
            <a:noFill/>
          </p:spPr>
          <p:txBody>
            <a:bodyPr wrap="square">
              <a:spAutoFit/>
            </a:bodyPr>
            <a:lstStyle>
              <a:defPPr>
                <a:defRPr lang="zh-CN"/>
              </a:defPPr>
              <a:lvl1pPr algn="just">
                <a:lnSpc>
                  <a:spcPct val="120000"/>
                </a:lnSpc>
                <a:spcBef>
                  <a:spcPts val="600"/>
                </a:spcBef>
                <a:defRPr sz="1200">
                  <a:latin typeface="思源黑体 CN Regular" panose="020B0500000000000000" charset="-122"/>
                  <a:ea typeface="思源黑体 CN Regular" panose="020B0500000000000000" charset="-122"/>
                  <a:cs typeface="OPPOSans M" panose="00020600040101010101" pitchFamily="18" charset="-122"/>
                </a:defRPr>
              </a:lvl1pPr>
            </a:lstStyle>
            <a:p>
              <a:pPr marL="0" marR="0" lvl="0" indent="0" algn="just"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品类搜索转化率从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6.8% </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提升至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11.2%</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，增长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65%</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，核心单品点击率提升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38%</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9" name="文本框 138"/>
            <p:cNvSpPr txBox="1"/>
            <p:nvPr/>
          </p:nvSpPr>
          <p:spPr>
            <a:xfrm>
              <a:off x="14672" y="6124"/>
              <a:ext cx="2217" cy="53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搜索转化增长</a:t>
              </a:r>
              <a:endParaRPr kumimoji="0" lang="zh-CN" altLang="en-US" sz="16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158" name="组合 157"/>
            <p:cNvGrpSpPr/>
            <p:nvPr/>
          </p:nvGrpSpPr>
          <p:grpSpPr>
            <a:xfrm>
              <a:off x="14399" y="6238"/>
              <a:ext cx="255" cy="255"/>
              <a:chOff x="-292825" y="4083833"/>
              <a:chExt cx="162032" cy="162032"/>
            </a:xfrm>
            <a:solidFill>
              <a:schemeClr val="bg1"/>
            </a:solidFill>
            <a:effectLst/>
          </p:grpSpPr>
          <p:sp>
            <p:nvSpPr>
              <p:cNvPr id="159" name="流程图: 接点 158"/>
              <p:cNvSpPr/>
              <p:nvPr/>
            </p:nvSpPr>
            <p:spPr>
              <a:xfrm flipV="1">
                <a:off x="-270234" y="4106424"/>
                <a:ext cx="116851" cy="116851"/>
              </a:xfrm>
              <a:prstGeom prst="flowChartConnector">
                <a:avLst/>
              </a:prstGeom>
              <a:grp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0" name="流程图: 接点 159"/>
              <p:cNvSpPr/>
              <p:nvPr/>
            </p:nvSpPr>
            <p:spPr>
              <a:xfrm flipV="1">
                <a:off x="-292825" y="4083833"/>
                <a:ext cx="162032" cy="162032"/>
              </a:xfrm>
              <a:prstGeom prst="flowChartConnector">
                <a:avLst/>
              </a:prstGeom>
              <a:grp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grpSp>
      <p:grpSp>
        <p:nvGrpSpPr>
          <p:cNvPr id="13" name="组合 12"/>
          <p:cNvGrpSpPr/>
          <p:nvPr/>
        </p:nvGrpSpPr>
        <p:grpSpPr>
          <a:xfrm>
            <a:off x="9143365" y="5196840"/>
            <a:ext cx="2408555" cy="1026795"/>
            <a:chOff x="14399" y="8445"/>
            <a:chExt cx="3793" cy="1617"/>
          </a:xfrm>
        </p:grpSpPr>
        <p:sp>
          <p:nvSpPr>
            <p:cNvPr id="137" name="文本框 136"/>
            <p:cNvSpPr txBox="1"/>
            <p:nvPr/>
          </p:nvSpPr>
          <p:spPr>
            <a:xfrm>
              <a:off x="14672" y="8894"/>
              <a:ext cx="3521" cy="1169"/>
            </a:xfrm>
            <a:prstGeom prst="rect">
              <a:avLst/>
            </a:prstGeom>
            <a:noFill/>
          </p:spPr>
          <p:txBody>
            <a:bodyPr wrap="square">
              <a:spAutoFit/>
            </a:bodyPr>
            <a:lstStyle>
              <a:defPPr>
                <a:defRPr lang="zh-CN"/>
              </a:defPPr>
              <a:lvl1pPr algn="just">
                <a:lnSpc>
                  <a:spcPct val="120000"/>
                </a:lnSpc>
                <a:spcBef>
                  <a:spcPts val="600"/>
                </a:spcBef>
                <a:defRPr sz="1200">
                  <a:latin typeface="思源黑体 CN Regular" panose="020B0500000000000000" charset="-122"/>
                  <a:ea typeface="思源黑体 CN Regular" panose="020B0500000000000000" charset="-122"/>
                  <a:cs typeface="OPPOSans M" panose="00020600040101010101" pitchFamily="18" charset="-122"/>
                </a:defRPr>
              </a:lvl1pPr>
            </a:lstStyle>
            <a:p>
              <a:pPr marL="0" marR="0" lvl="0" indent="0" algn="just"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品类用户复购率达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42%</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，较去年提升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14 </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个百分点，复购贡献营收占比达 </a:t>
              </a:r>
              <a:r>
                <a:rPr kumimoji="0"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55%</a:t>
              </a: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8" name="文本框 137"/>
            <p:cNvSpPr txBox="1"/>
            <p:nvPr/>
          </p:nvSpPr>
          <p:spPr>
            <a:xfrm>
              <a:off x="14672" y="8445"/>
              <a:ext cx="3368" cy="53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复购表现优异</a:t>
              </a:r>
              <a:endParaRPr kumimoji="0" lang="zh-CN" altLang="en-US" sz="16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161" name="组合 160"/>
            <p:cNvGrpSpPr/>
            <p:nvPr/>
          </p:nvGrpSpPr>
          <p:grpSpPr>
            <a:xfrm>
              <a:off x="14399" y="8584"/>
              <a:ext cx="255" cy="255"/>
              <a:chOff x="-292825" y="4083833"/>
              <a:chExt cx="162032" cy="162032"/>
            </a:xfrm>
            <a:solidFill>
              <a:schemeClr val="bg1"/>
            </a:solidFill>
            <a:effectLst/>
          </p:grpSpPr>
          <p:sp>
            <p:nvSpPr>
              <p:cNvPr id="162" name="流程图: 接点 161"/>
              <p:cNvSpPr/>
              <p:nvPr/>
            </p:nvSpPr>
            <p:spPr>
              <a:xfrm flipV="1">
                <a:off x="-270234" y="4106424"/>
                <a:ext cx="116851" cy="116851"/>
              </a:xfrm>
              <a:prstGeom prst="flowChartConnector">
                <a:avLst/>
              </a:prstGeom>
              <a:grp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3" name="流程图: 接点 162"/>
              <p:cNvSpPr/>
              <p:nvPr/>
            </p:nvSpPr>
            <p:spPr>
              <a:xfrm flipV="1">
                <a:off x="-292825" y="4083833"/>
                <a:ext cx="162032" cy="162032"/>
              </a:xfrm>
              <a:prstGeom prst="flowChartConnector">
                <a:avLst/>
              </a:prstGeom>
              <a:grp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grpSp>
      <p:cxnSp>
        <p:nvCxnSpPr>
          <p:cNvPr id="8"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4" name="组合 13"/>
          <p:cNvGrpSpPr/>
          <p:nvPr/>
        </p:nvGrpSpPr>
        <p:grpSpPr>
          <a:xfrm>
            <a:off x="8738235" y="348615"/>
            <a:ext cx="3219450" cy="332740"/>
            <a:chOff x="13761" y="549"/>
            <a:chExt cx="5070" cy="524"/>
          </a:xfrm>
        </p:grpSpPr>
        <p:pic>
          <p:nvPicPr>
            <p:cNvPr id="15" name="图片 14"/>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6" name="文本框 15"/>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矩形 140"/>
          <p:cNvSpPr/>
          <p:nvPr/>
        </p:nvSpPr>
        <p:spPr>
          <a:xfrm>
            <a:off x="356235" y="2676525"/>
            <a:ext cx="2147570" cy="3686175"/>
          </a:xfrm>
          <a:prstGeom prst="rect">
            <a:avLst/>
          </a:prstGeom>
          <a:solidFill>
            <a:schemeClr val="accent1">
              <a:lumMod val="20000"/>
              <a:lumOff val="80000"/>
              <a:alpha val="10000"/>
            </a:schemeClr>
          </a:solidFill>
          <a:ln w="6350">
            <a:solidFill>
              <a:srgbClr val="2479FA">
                <a:alpha val="10000"/>
              </a:srgbClr>
            </a:solidFill>
          </a:ln>
          <a:effectLst>
            <a:outerShdw blurRad="127000" dist="101600" dir="5400000" algn="t" rotWithShape="0">
              <a:schemeClr val="accent1">
                <a:lumMod val="40000"/>
                <a:lumOff val="60000"/>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2" name="矩形 141"/>
          <p:cNvSpPr/>
          <p:nvPr/>
        </p:nvSpPr>
        <p:spPr>
          <a:xfrm>
            <a:off x="2647315" y="2676525"/>
            <a:ext cx="2319020" cy="3686175"/>
          </a:xfrm>
          <a:prstGeom prst="rect">
            <a:avLst/>
          </a:prstGeom>
          <a:solidFill>
            <a:schemeClr val="accent5">
              <a:lumMod val="20000"/>
              <a:lumOff val="80000"/>
              <a:alpha val="10000"/>
            </a:schemeClr>
          </a:solidFill>
          <a:ln w="6350">
            <a:solidFill>
              <a:srgbClr val="2479FA">
                <a:alpha val="10000"/>
              </a:srgbClr>
            </a:solidFill>
          </a:ln>
          <a:effectLst>
            <a:outerShdw blurRad="127000" dist="101600" dir="5400000" algn="t" rotWithShape="0">
              <a:schemeClr val="accent5">
                <a:lumMod val="40000"/>
                <a:lumOff val="60000"/>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3" name="矩形 142"/>
          <p:cNvSpPr/>
          <p:nvPr/>
        </p:nvSpPr>
        <p:spPr>
          <a:xfrm>
            <a:off x="5121275" y="2676525"/>
            <a:ext cx="3217545" cy="3686175"/>
          </a:xfrm>
          <a:prstGeom prst="rect">
            <a:avLst/>
          </a:prstGeom>
          <a:solidFill>
            <a:schemeClr val="accent1">
              <a:lumMod val="20000"/>
              <a:lumOff val="80000"/>
              <a:alpha val="10000"/>
            </a:schemeClr>
          </a:solidFill>
          <a:ln w="6350">
            <a:solidFill>
              <a:srgbClr val="2479FA">
                <a:alpha val="10000"/>
              </a:srgbClr>
            </a:solidFill>
          </a:ln>
          <a:effectLst>
            <a:outerShdw blurRad="127000" dist="101600" dir="5400000" algn="t" rotWithShape="0">
              <a:schemeClr val="accent1">
                <a:lumMod val="40000"/>
                <a:lumOff val="60000"/>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en-US"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44" name="矩形 143"/>
          <p:cNvSpPr/>
          <p:nvPr/>
        </p:nvSpPr>
        <p:spPr>
          <a:xfrm>
            <a:off x="8554720" y="2676525"/>
            <a:ext cx="3217545" cy="3686175"/>
          </a:xfrm>
          <a:prstGeom prst="rect">
            <a:avLst/>
          </a:prstGeom>
          <a:solidFill>
            <a:schemeClr val="accent5">
              <a:lumMod val="20000"/>
              <a:lumOff val="80000"/>
              <a:alpha val="10000"/>
            </a:schemeClr>
          </a:solidFill>
          <a:ln w="6350">
            <a:solidFill>
              <a:srgbClr val="2479FA">
                <a:alpha val="10000"/>
              </a:srgbClr>
            </a:solidFill>
          </a:ln>
          <a:effectLst>
            <a:outerShdw blurRad="127000" dist="101600" dir="5400000" algn="t" rotWithShape="0">
              <a:schemeClr val="accent5">
                <a:lumMod val="40000"/>
                <a:lumOff val="60000"/>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en-US"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48" name="矩形 147"/>
          <p:cNvSpPr/>
          <p:nvPr/>
        </p:nvSpPr>
        <p:spPr>
          <a:xfrm>
            <a:off x="5121275" y="2316480"/>
            <a:ext cx="3217545" cy="453390"/>
          </a:xfrm>
          <a:prstGeom prst="rect">
            <a:avLst/>
          </a:prstGeom>
          <a:gradFill>
            <a:gsLst>
              <a:gs pos="0">
                <a:schemeClr val="accent1">
                  <a:lumMod val="60000"/>
                  <a:lumOff val="40000"/>
                </a:schemeClr>
              </a:gs>
              <a:gs pos="100000">
                <a:schemeClr val="accent1"/>
              </a:gs>
            </a:gsLst>
            <a:lin ang="270000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en-US"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49" name="矩形 148"/>
          <p:cNvSpPr/>
          <p:nvPr/>
        </p:nvSpPr>
        <p:spPr>
          <a:xfrm>
            <a:off x="8554720" y="2316480"/>
            <a:ext cx="3217545" cy="453390"/>
          </a:xfrm>
          <a:prstGeom prst="rect">
            <a:avLst/>
          </a:prstGeom>
          <a:gradFill>
            <a:gsLst>
              <a:gs pos="0">
                <a:schemeClr val="accent5">
                  <a:lumMod val="60000"/>
                  <a:lumOff val="40000"/>
                </a:schemeClr>
              </a:gs>
              <a:gs pos="100000">
                <a:schemeClr val="accent5"/>
              </a:gs>
            </a:gsLst>
            <a:lin ang="270000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en-US"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53" name="文本框 152"/>
          <p:cNvSpPr txBox="1"/>
          <p:nvPr/>
        </p:nvSpPr>
        <p:spPr>
          <a:xfrm>
            <a:off x="5915660" y="2386965"/>
            <a:ext cx="1628775" cy="294640"/>
          </a:xfrm>
          <a:prstGeom prst="rect">
            <a:avLst/>
          </a:prstGeom>
          <a:noFill/>
          <a:ln>
            <a:noFill/>
          </a:ln>
        </p:spPr>
        <p:txBody>
          <a:bodyPr wrap="square" lIns="0" tIns="0" rIns="0" bIns="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bg1"/>
                </a:solidFill>
                <a:effectLst>
                  <a:outerShdw blurRad="190500" dist="127000" dir="5400000" algn="t" rotWithShape="0">
                    <a:schemeClr val="tx2">
                      <a:alpha val="20000"/>
                    </a:schemeClr>
                  </a:outerShdw>
                </a:effectLst>
                <a:uLnTx/>
                <a:uFillTx/>
                <a:latin typeface="微软雅黑" panose="020B0503020204020204" charset="-122"/>
                <a:ea typeface="微软雅黑" panose="020B0503020204020204" charset="-122"/>
                <a:cs typeface="微软雅黑" panose="020B0503020204020204" charset="-122"/>
              </a:rPr>
              <a:t>加速期</a:t>
            </a:r>
            <a:endParaRPr kumimoji="0" lang="zh-CN" altLang="en-US" sz="1600" b="1" i="0" u="none" strike="noStrike" kern="1200" cap="none" spc="0" normalizeH="0" baseline="0" noProof="0" dirty="0">
              <a:ln>
                <a:noFill/>
              </a:ln>
              <a:solidFill>
                <a:schemeClr val="bg1"/>
              </a:solidFill>
              <a:effectLst>
                <a:outerShdw blurRad="190500" dist="127000" dir="5400000" algn="t" rotWithShape="0">
                  <a:schemeClr val="tx2">
                    <a:alpha val="20000"/>
                  </a:schemeClr>
                </a:outerShdw>
              </a:effectLst>
              <a:uLnTx/>
              <a:uFillTx/>
              <a:latin typeface="微软雅黑" panose="020B0503020204020204" charset="-122"/>
              <a:ea typeface="微软雅黑" panose="020B0503020204020204" charset="-122"/>
              <a:cs typeface="微软雅黑" panose="020B0503020204020204" charset="-122"/>
            </a:endParaRPr>
          </a:p>
        </p:txBody>
      </p:sp>
      <p:sp>
        <p:nvSpPr>
          <p:cNvPr id="154" name="文本框 153"/>
          <p:cNvSpPr txBox="1"/>
          <p:nvPr/>
        </p:nvSpPr>
        <p:spPr>
          <a:xfrm>
            <a:off x="9348470" y="2386965"/>
            <a:ext cx="1628775" cy="294640"/>
          </a:xfrm>
          <a:prstGeom prst="rect">
            <a:avLst/>
          </a:prstGeom>
          <a:noFill/>
          <a:ln>
            <a:noFill/>
          </a:ln>
        </p:spPr>
        <p:txBody>
          <a:bodyPr wrap="square" lIns="0" tIns="0" rIns="0" bIns="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bg1"/>
                </a:solidFill>
                <a:effectLst>
                  <a:outerShdw blurRad="190500" dist="127000" dir="5400000" algn="t" rotWithShape="0">
                    <a:schemeClr val="tx2">
                      <a:alpha val="20000"/>
                    </a:schemeClr>
                  </a:outerShdw>
                </a:effectLst>
                <a:uLnTx/>
                <a:uFillTx/>
                <a:latin typeface="微软雅黑" panose="020B0503020204020204" charset="-122"/>
                <a:ea typeface="微软雅黑" panose="020B0503020204020204" charset="-122"/>
                <a:cs typeface="微软雅黑" panose="020B0503020204020204" charset="-122"/>
              </a:rPr>
              <a:t>爆发期</a:t>
            </a:r>
            <a:endParaRPr kumimoji="0" lang="zh-CN" altLang="en-US" sz="1600" b="1" i="0" u="none" strike="noStrike" kern="1200" cap="none" spc="0" normalizeH="0" baseline="0" noProof="0" dirty="0">
              <a:ln>
                <a:noFill/>
              </a:ln>
              <a:solidFill>
                <a:schemeClr val="bg1"/>
              </a:solidFill>
              <a:effectLst>
                <a:outerShdw blurRad="190500" dist="127000" dir="5400000" algn="t" rotWithShape="0">
                  <a:schemeClr val="tx2">
                    <a:alpha val="20000"/>
                  </a:schemeClr>
                </a:outerShdw>
              </a:effectLst>
              <a:uLnTx/>
              <a:uFillTx/>
              <a:latin typeface="微软雅黑" panose="020B0503020204020204" charset="-122"/>
              <a:ea typeface="微软雅黑" panose="020B0503020204020204" charset="-122"/>
              <a:cs typeface="微软雅黑" panose="020B0503020204020204" charset="-122"/>
            </a:endParaRPr>
          </a:p>
        </p:txBody>
      </p:sp>
      <p:sp>
        <p:nvSpPr>
          <p:cNvPr id="166" name="文本框 165"/>
          <p:cNvSpPr txBox="1"/>
          <p:nvPr/>
        </p:nvSpPr>
        <p:spPr>
          <a:xfrm>
            <a:off x="5298440" y="3347720"/>
            <a:ext cx="2863215" cy="368935"/>
          </a:xfrm>
          <a:prstGeom prst="rect">
            <a:avLst/>
          </a:prstGeom>
          <a:noFill/>
        </p:spPr>
        <p:txBody>
          <a:bodyPr wrap="square" lIns="0" tIns="0" rIns="0" bIns="0">
            <a:spAutoFit/>
          </a:bodyPr>
          <a:lstStyle/>
          <a:p>
            <a:pPr marL="171450" lvl="0" indent="-171450" algn="just">
              <a:lnSpc>
                <a:spcPct val="120000"/>
              </a:lnSpc>
              <a:spcBef>
                <a:spcPts val="0"/>
              </a:spcBef>
              <a:spcAft>
                <a:spcPts val="1000"/>
              </a:spcAft>
              <a:buClrTx/>
              <a:buSzTx/>
              <a:buFont typeface="Wingdings" panose="05000000000000000000" charset="0"/>
              <a:buChar char="l"/>
              <a:defRPr/>
            </a:pPr>
            <a:r>
              <a:rPr lang="zh-CN" altLang="en-US" sz="1200" dirty="0">
                <a:solidFill>
                  <a:srgbClr val="374151"/>
                </a:solidFill>
                <a:effectLst/>
                <a:latin typeface="微软雅黑" panose="020B0503020204020204" charset="-122"/>
                <a:ea typeface="微软雅黑" panose="020B0503020204020204" charset="-122"/>
                <a:cs typeface="微软雅黑" panose="020B0503020204020204" charset="-122"/>
                <a:sym typeface="+mn-ea"/>
              </a:rPr>
              <a:t>企业微信与微信实现消息互通，打通微信支付、公众号等生态能力</a:t>
            </a:r>
            <a:endParaRPr lang="zh-CN" altLang="en-US" sz="1200" dirty="0">
              <a:solidFill>
                <a:srgbClr val="374151"/>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69" name="文本框 168"/>
          <p:cNvSpPr txBox="1"/>
          <p:nvPr/>
        </p:nvSpPr>
        <p:spPr>
          <a:xfrm>
            <a:off x="8730615" y="4144645"/>
            <a:ext cx="2863215" cy="1804670"/>
          </a:xfrm>
          <a:prstGeom prst="rect">
            <a:avLst/>
          </a:prstGeom>
          <a:noFill/>
        </p:spPr>
        <p:txBody>
          <a:bodyPr wrap="square" lIns="0" tIns="0" rIns="0" bIns="0">
            <a:spAutoFit/>
          </a:bodyPr>
          <a:lstStyle/>
          <a:p>
            <a:pPr marL="171450" lvl="0" indent="-171450" algn="just">
              <a:lnSpc>
                <a:spcPct val="120000"/>
              </a:lnSpc>
              <a:spcBef>
                <a:spcPts val="0"/>
              </a:spcBef>
              <a:spcAft>
                <a:spcPts val="1000"/>
              </a:spcAft>
              <a:buClrTx/>
              <a:buSzTx/>
              <a:buFont typeface="Wingdings" panose="05000000000000000000" charset="0"/>
              <a:buChar char="l"/>
              <a:defRPr/>
            </a:pPr>
            <a:r>
              <a:rPr lang="zh-CN" altLang="en-US" sz="1200" dirty="0">
                <a:solidFill>
                  <a:srgbClr val="374151"/>
                </a:solidFill>
                <a:effectLst/>
                <a:latin typeface="微软雅黑" panose="020B0503020204020204" charset="-122"/>
                <a:ea typeface="微软雅黑" panose="020B0503020204020204" charset="-122"/>
                <a:cs typeface="微软雅黑" panose="020B0503020204020204" charset="-122"/>
                <a:sym typeface="+mn-ea"/>
              </a:rPr>
              <a:t>传统线下经营模式受阻，企业直播大爆发，私域运营加速向传统企业渗透;</a:t>
            </a:r>
            <a:endParaRPr lang="zh-CN" altLang="en-US" sz="1200" dirty="0">
              <a:solidFill>
                <a:srgbClr val="374151"/>
              </a:solidFill>
              <a:effectLst/>
              <a:latin typeface="微软雅黑" panose="020B0503020204020204" charset="-122"/>
              <a:ea typeface="微软雅黑" panose="020B0503020204020204" charset="-122"/>
              <a:cs typeface="微软雅黑" panose="020B0503020204020204" charset="-122"/>
              <a:sym typeface="+mn-ea"/>
            </a:endParaRPr>
          </a:p>
          <a:p>
            <a:pPr marL="171450" lvl="0" indent="-171450" algn="just">
              <a:lnSpc>
                <a:spcPct val="120000"/>
              </a:lnSpc>
              <a:spcBef>
                <a:spcPts val="0"/>
              </a:spcBef>
              <a:spcAft>
                <a:spcPts val="1000"/>
              </a:spcAft>
              <a:buClrTx/>
              <a:buSzTx/>
              <a:buFont typeface="Wingdings" panose="05000000000000000000" charset="0"/>
              <a:buChar char="l"/>
              <a:defRPr/>
            </a:pPr>
            <a:r>
              <a:rPr lang="zh-CN" altLang="en-US" sz="1200" dirty="0">
                <a:solidFill>
                  <a:srgbClr val="374151"/>
                </a:solidFill>
                <a:effectLst/>
                <a:latin typeface="微软雅黑" panose="020B0503020204020204" charset="-122"/>
                <a:ea typeface="微软雅黑" panose="020B0503020204020204" charset="-122"/>
                <a:cs typeface="微软雅黑" panose="020B0503020204020204" charset="-122"/>
                <a:sym typeface="+mn-ea"/>
              </a:rPr>
              <a:t>微信视频号上线，并在企业微信与微信间实现互通，成为新的私域阵地;</a:t>
            </a:r>
            <a:endParaRPr lang="zh-CN" altLang="en-US" sz="1200" dirty="0">
              <a:solidFill>
                <a:srgbClr val="374151"/>
              </a:solidFill>
              <a:effectLst/>
              <a:latin typeface="微软雅黑" panose="020B0503020204020204" charset="-122"/>
              <a:ea typeface="微软雅黑" panose="020B0503020204020204" charset="-122"/>
              <a:cs typeface="微软雅黑" panose="020B0503020204020204" charset="-122"/>
              <a:sym typeface="+mn-ea"/>
            </a:endParaRPr>
          </a:p>
          <a:p>
            <a:pPr marL="171450" lvl="0" indent="-171450" algn="just">
              <a:lnSpc>
                <a:spcPct val="120000"/>
              </a:lnSpc>
              <a:spcBef>
                <a:spcPts val="0"/>
              </a:spcBef>
              <a:spcAft>
                <a:spcPts val="1000"/>
              </a:spcAft>
              <a:buClrTx/>
              <a:buSzTx/>
              <a:buFont typeface="Wingdings" panose="05000000000000000000" charset="0"/>
              <a:buChar char="l"/>
              <a:defRPr/>
            </a:pPr>
            <a:r>
              <a:rPr lang="zh-CN" altLang="en-US" sz="1200" dirty="0">
                <a:solidFill>
                  <a:srgbClr val="374151"/>
                </a:solidFill>
                <a:effectLst/>
                <a:latin typeface="微软雅黑" panose="020B0503020204020204" charset="-122"/>
                <a:ea typeface="微软雅黑" panose="020B0503020204020204" charset="-122"/>
                <a:cs typeface="微软雅黑" panose="020B0503020204020204" charset="-122"/>
                <a:sym typeface="+mn-ea"/>
              </a:rPr>
              <a:t>以小鹅通为代表的私域运营Saas与微信、抖音、快手、小红书等众多生态互通，加速私域能力建设。</a:t>
            </a:r>
            <a:endParaRPr lang="zh-CN" altLang="en-US" sz="1200" dirty="0">
              <a:solidFill>
                <a:srgbClr val="374151"/>
              </a:solidFill>
              <a:effectLst/>
              <a:latin typeface="微软雅黑" panose="020B0503020204020204" charset="-122"/>
              <a:ea typeface="微软雅黑" panose="020B0503020204020204" charset="-122"/>
              <a:cs typeface="微软雅黑" panose="020B0503020204020204" charset="-122"/>
              <a:sym typeface="+mn-ea"/>
            </a:endParaRPr>
          </a:p>
        </p:txBody>
      </p:sp>
      <p:cxnSp>
        <p:nvCxnSpPr>
          <p:cNvPr id="180" name="直接连接符 179"/>
          <p:cNvCxnSpPr/>
          <p:nvPr/>
        </p:nvCxnSpPr>
        <p:spPr>
          <a:xfrm>
            <a:off x="8561070" y="6362700"/>
            <a:ext cx="3215005" cy="0"/>
          </a:xfrm>
          <a:prstGeom prst="line">
            <a:avLst/>
          </a:prstGeom>
          <a:ln w="38100" cap="flat" cmpd="sng" algn="ctr">
            <a:solidFill>
              <a:schemeClr val="accent5"/>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latin typeface="微软雅黑" panose="020B0503020204020204" charset="-122"/>
                <a:ea typeface="微软雅黑" panose="020B0503020204020204" charset="-122"/>
                <a:cs typeface="微软雅黑" panose="020B0503020204020204" charset="-122"/>
              </a:rPr>
              <a:t>-</a:t>
            </a:r>
            <a:r>
              <a:rPr sz="2500">
                <a:solidFill>
                  <a:schemeClr val="accent1"/>
                </a:solidFill>
                <a:latin typeface="微软雅黑" panose="020B0503020204020204" charset="-122"/>
                <a:ea typeface="微软雅黑" panose="020B0503020204020204" charset="-122"/>
                <a:cs typeface="微软雅黑" panose="020B0503020204020204" charset="-122"/>
              </a:rPr>
              <a:t>时间流程架构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私域运营的发展脉络</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grpSp>
        <p:nvGrpSpPr>
          <p:cNvPr id="7" name="组合 6"/>
          <p:cNvGrpSpPr/>
          <p:nvPr/>
        </p:nvGrpSpPr>
        <p:grpSpPr>
          <a:xfrm>
            <a:off x="355600" y="1058545"/>
            <a:ext cx="11417300" cy="1084580"/>
            <a:chOff x="425" y="4355"/>
            <a:chExt cx="17980" cy="1708"/>
          </a:xfrm>
        </p:grpSpPr>
        <p:sp>
          <p:nvSpPr>
            <p:cNvPr id="138" name="矩形 137"/>
            <p:cNvSpPr/>
            <p:nvPr/>
          </p:nvSpPr>
          <p:spPr>
            <a:xfrm>
              <a:off x="425" y="4355"/>
              <a:ext cx="17980" cy="1709"/>
            </a:xfrm>
            <a:prstGeom prst="rect">
              <a:avLst/>
            </a:prstGeom>
            <a:solidFill>
              <a:schemeClr val="accent1">
                <a:lumMod val="20000"/>
                <a:lumOff val="80000"/>
                <a:alpha val="20000"/>
              </a:schemeClr>
            </a:solidFill>
            <a:ln>
              <a:solidFill>
                <a:schemeClr val="accent1">
                  <a:alpha val="2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endParaRPr lang="zh-CN" altLang="en-US" sz="16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nvSpPr>
          <p:spPr>
            <a:xfrm>
              <a:off x="780" y="4556"/>
              <a:ext cx="17271" cy="1307"/>
            </a:xfrm>
            <a:prstGeom prst="rect">
              <a:avLst/>
            </a:prstGeom>
            <a:noFill/>
          </p:spPr>
          <p:txBody>
            <a:bodyPr wrap="square" rtlCol="0">
              <a:spAutoFit/>
            </a:bodyPr>
            <a:p>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私域运营最早始于</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两微</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时代，</a:t>
              </a:r>
              <a:r>
                <a:rPr lang="zh-CN" altLang="en-US" sz="1600" b="1">
                  <a:solidFill>
                    <a:schemeClr val="tx2"/>
                  </a:solidFill>
                  <a:latin typeface="微软雅黑" panose="020B0503020204020204" charset="-122"/>
                  <a:ea typeface="微软雅黑" panose="020B0503020204020204" charset="-122"/>
                  <a:cs typeface="微软雅黑" panose="020B0503020204020204" charset="-122"/>
                  <a:sym typeface="+mn-ea"/>
                </a:rPr>
                <a:t>企业获得了与用户关系更直接的品牌宣传渠道。</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2018</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年以来，</a:t>
              </a:r>
              <a:r>
                <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rPr>
                <a:t>企业微信与微信逐步打通</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，推动围绕微信、企业微信的服务商生态走向专业化，私域运营能力得以不断完善。进入</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2020</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年，黑天鹅事件的出现加速企业线上运营意识的发展，越来越多的企业开始认识到私域运营的重要性，并</a:t>
              </a:r>
              <a:r>
                <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rPr>
                <a:t>利用私域运营</a:t>
              </a:r>
              <a:r>
                <a:rPr lang="en-US" altLang="zh-CN" sz="1600" b="1">
                  <a:solidFill>
                    <a:schemeClr val="accent5"/>
                  </a:solidFill>
                  <a:latin typeface="微软雅黑" panose="020B0503020204020204" charset="-122"/>
                  <a:ea typeface="微软雅黑" panose="020B0503020204020204" charset="-122"/>
                  <a:cs typeface="微软雅黑" panose="020B0503020204020204" charset="-122"/>
                  <a:sym typeface="+mn-ea"/>
                </a:rPr>
                <a:t>SaaS</a:t>
              </a:r>
              <a:r>
                <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rPr>
                <a:t>快速转战线上</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a:t>
              </a:r>
              <a:endParaRPr lang="zh-CN" altLang="en-US" sz="160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171" name="任意多边形: 形状 170"/>
          <p:cNvSpPr/>
          <p:nvPr/>
        </p:nvSpPr>
        <p:spPr>
          <a:xfrm>
            <a:off x="725170" y="3063240"/>
            <a:ext cx="10252075" cy="2853055"/>
          </a:xfrm>
          <a:custGeom>
            <a:avLst/>
            <a:gdLst>
              <a:gd name="connsiteX0" fmla="*/ 0 w 9793224"/>
              <a:gd name="connsiteY0" fmla="*/ 2843784 h 2843784"/>
              <a:gd name="connsiteX1" fmla="*/ 3538728 w 9793224"/>
              <a:gd name="connsiteY1" fmla="*/ 2514600 h 2843784"/>
              <a:gd name="connsiteX2" fmla="*/ 6976872 w 9793224"/>
              <a:gd name="connsiteY2" fmla="*/ 1024128 h 2843784"/>
              <a:gd name="connsiteX3" fmla="*/ 8860536 w 9793224"/>
              <a:gd name="connsiteY3" fmla="*/ 265176 h 2843784"/>
              <a:gd name="connsiteX4" fmla="*/ 9793224 w 9793224"/>
              <a:gd name="connsiteY4" fmla="*/ 0 h 2843784"/>
              <a:gd name="connsiteX0-1" fmla="*/ 0 w 9793224"/>
              <a:gd name="connsiteY0-2" fmla="*/ 2843784 h 2843784"/>
              <a:gd name="connsiteX1-3" fmla="*/ 3538728 w 9793224"/>
              <a:gd name="connsiteY1-4" fmla="*/ 2514600 h 2843784"/>
              <a:gd name="connsiteX2-5" fmla="*/ 6976872 w 9793224"/>
              <a:gd name="connsiteY2-6" fmla="*/ 1024128 h 2843784"/>
              <a:gd name="connsiteX3-7" fmla="*/ 8860536 w 9793224"/>
              <a:gd name="connsiteY3-8" fmla="*/ 265176 h 2843784"/>
              <a:gd name="connsiteX4-9" fmla="*/ 9793224 w 9793224"/>
              <a:gd name="connsiteY4-10" fmla="*/ 0 h 2843784"/>
              <a:gd name="connsiteX0-11" fmla="*/ 0 w 9793224"/>
              <a:gd name="connsiteY0-12" fmla="*/ 2843784 h 2843784"/>
              <a:gd name="connsiteX1-13" fmla="*/ 3538728 w 9793224"/>
              <a:gd name="connsiteY1-14" fmla="*/ 2514600 h 2843784"/>
              <a:gd name="connsiteX2-15" fmla="*/ 6976872 w 9793224"/>
              <a:gd name="connsiteY2-16" fmla="*/ 1024128 h 2843784"/>
              <a:gd name="connsiteX3-17" fmla="*/ 8860536 w 9793224"/>
              <a:gd name="connsiteY3-18" fmla="*/ 265176 h 2843784"/>
              <a:gd name="connsiteX4-19" fmla="*/ 9793224 w 9793224"/>
              <a:gd name="connsiteY4-20" fmla="*/ 0 h 2843784"/>
              <a:gd name="connsiteX0-21" fmla="*/ 0 w 9793224"/>
              <a:gd name="connsiteY0-22" fmla="*/ 2843784 h 2843784"/>
              <a:gd name="connsiteX1-23" fmla="*/ 3538728 w 9793224"/>
              <a:gd name="connsiteY1-24" fmla="*/ 2514600 h 2843784"/>
              <a:gd name="connsiteX2-25" fmla="*/ 6976872 w 9793224"/>
              <a:gd name="connsiteY2-26" fmla="*/ 1024128 h 2843784"/>
              <a:gd name="connsiteX3-27" fmla="*/ 8860536 w 9793224"/>
              <a:gd name="connsiteY3-28" fmla="*/ 265176 h 2843784"/>
              <a:gd name="connsiteX4-29" fmla="*/ 9793224 w 9793224"/>
              <a:gd name="connsiteY4-30" fmla="*/ 0 h 2843784"/>
              <a:gd name="connsiteX0-31" fmla="*/ 0 w 9807511"/>
              <a:gd name="connsiteY0-32" fmla="*/ 2853309 h 2853309"/>
              <a:gd name="connsiteX1-33" fmla="*/ 3538728 w 9807511"/>
              <a:gd name="connsiteY1-34" fmla="*/ 2524125 h 2853309"/>
              <a:gd name="connsiteX2-35" fmla="*/ 6976872 w 9807511"/>
              <a:gd name="connsiteY2-36" fmla="*/ 1033653 h 2853309"/>
              <a:gd name="connsiteX3-37" fmla="*/ 8860536 w 9807511"/>
              <a:gd name="connsiteY3-38" fmla="*/ 274701 h 2853309"/>
              <a:gd name="connsiteX4-39" fmla="*/ 9807511 w 9807511"/>
              <a:gd name="connsiteY4-40" fmla="*/ 0 h 2853309"/>
              <a:gd name="connsiteX0-41" fmla="*/ 0 w 9807511"/>
              <a:gd name="connsiteY0-42" fmla="*/ 2853309 h 2853309"/>
              <a:gd name="connsiteX1-43" fmla="*/ 3538728 w 9807511"/>
              <a:gd name="connsiteY1-44" fmla="*/ 2524125 h 2853309"/>
              <a:gd name="connsiteX2-45" fmla="*/ 6976872 w 9807511"/>
              <a:gd name="connsiteY2-46" fmla="*/ 1033653 h 2853309"/>
              <a:gd name="connsiteX3-47" fmla="*/ 8860536 w 9807511"/>
              <a:gd name="connsiteY3-48" fmla="*/ 274701 h 2853309"/>
              <a:gd name="connsiteX4-49" fmla="*/ 9807511 w 9807511"/>
              <a:gd name="connsiteY4-50" fmla="*/ 0 h 2853309"/>
              <a:gd name="connsiteX0-51" fmla="*/ 0 w 9807511"/>
              <a:gd name="connsiteY0-52" fmla="*/ 2853309 h 2853309"/>
              <a:gd name="connsiteX1-53" fmla="*/ 3538728 w 9807511"/>
              <a:gd name="connsiteY1-54" fmla="*/ 2524125 h 2853309"/>
              <a:gd name="connsiteX2-55" fmla="*/ 6976872 w 9807511"/>
              <a:gd name="connsiteY2-56" fmla="*/ 1033653 h 2853309"/>
              <a:gd name="connsiteX3-57" fmla="*/ 8860536 w 9807511"/>
              <a:gd name="connsiteY3-58" fmla="*/ 274701 h 2853309"/>
              <a:gd name="connsiteX4-59" fmla="*/ 9807511 w 9807511"/>
              <a:gd name="connsiteY4-60" fmla="*/ 0 h 285330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807511" h="2853309">
                <a:moveTo>
                  <a:pt x="0" y="2853309"/>
                </a:moveTo>
                <a:cubicBezTo>
                  <a:pt x="1187958" y="2840355"/>
                  <a:pt x="2375916" y="2827401"/>
                  <a:pt x="3538728" y="2524125"/>
                </a:cubicBezTo>
                <a:cubicBezTo>
                  <a:pt x="4701540" y="2220849"/>
                  <a:pt x="6089904" y="1408557"/>
                  <a:pt x="6976872" y="1033653"/>
                </a:cubicBezTo>
                <a:cubicBezTo>
                  <a:pt x="7863840" y="658749"/>
                  <a:pt x="8391144" y="445389"/>
                  <a:pt x="8860536" y="274701"/>
                </a:cubicBezTo>
                <a:cubicBezTo>
                  <a:pt x="9329928" y="104013"/>
                  <a:pt x="9566338" y="56769"/>
                  <a:pt x="9807511" y="0"/>
                </a:cubicBezTo>
              </a:path>
            </a:pathLst>
          </a:custGeom>
          <a:noFill/>
          <a:ln w="38100" cap="flat" cmpd="sng" algn="ctr">
            <a:solidFill>
              <a:schemeClr val="accent1"/>
            </a:solidFill>
            <a:prstDash val="solid"/>
            <a:miter lim="800000"/>
            <a:headEnd type="none" w="med" len="med"/>
            <a:tailEnd type="none" w="med" len="med"/>
          </a:ln>
          <a:effectLst>
            <a:outerShdw blurRad="50800" dist="127000" dir="5400000" algn="t" rotWithShape="0">
              <a:schemeClr val="accent1">
                <a:lumMod val="60000"/>
                <a:lumOff val="4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6" name="矩形 145"/>
          <p:cNvSpPr/>
          <p:nvPr/>
        </p:nvSpPr>
        <p:spPr>
          <a:xfrm>
            <a:off x="356235" y="2316480"/>
            <a:ext cx="2147570" cy="453390"/>
          </a:xfrm>
          <a:prstGeom prst="rect">
            <a:avLst/>
          </a:prstGeom>
          <a:gradFill>
            <a:gsLst>
              <a:gs pos="0">
                <a:schemeClr val="accent1">
                  <a:lumMod val="60000"/>
                  <a:lumOff val="40000"/>
                </a:schemeClr>
              </a:gs>
              <a:gs pos="100000">
                <a:schemeClr val="accent1"/>
              </a:gs>
            </a:gsLst>
            <a:lin ang="270000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1" name="文本框 150"/>
          <p:cNvSpPr txBox="1"/>
          <p:nvPr/>
        </p:nvSpPr>
        <p:spPr>
          <a:xfrm>
            <a:off x="885825" y="2386965"/>
            <a:ext cx="1087120" cy="294640"/>
          </a:xfrm>
          <a:prstGeom prst="rect">
            <a:avLst/>
          </a:prstGeom>
          <a:noFill/>
          <a:ln>
            <a:noFill/>
          </a:ln>
        </p:spPr>
        <p:txBody>
          <a:bodyPr wrap="square" lIns="0" tIns="0" rIns="0" bIns="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bg1"/>
                </a:solidFill>
                <a:effectLst>
                  <a:outerShdw blurRad="190500" dist="127000" dir="5400000" algn="t" rotWithShape="0">
                    <a:schemeClr val="tx2">
                      <a:alpha val="20000"/>
                    </a:schemeClr>
                  </a:outerShdw>
                </a:effectLst>
                <a:uLnTx/>
                <a:uFillTx/>
                <a:latin typeface="微软雅黑" panose="020B0503020204020204" charset="-122"/>
                <a:ea typeface="微软雅黑" panose="020B0503020204020204" charset="-122"/>
                <a:cs typeface="微软雅黑" panose="020B0503020204020204" charset="-122"/>
              </a:rPr>
              <a:t>萌芽期</a:t>
            </a:r>
            <a:endParaRPr kumimoji="0" lang="zh-CN" altLang="en-US" sz="1600" b="1" i="0" u="none" strike="noStrike" kern="1200" cap="none" spc="0" normalizeH="0" baseline="0" noProof="0" dirty="0">
              <a:ln>
                <a:noFill/>
              </a:ln>
              <a:solidFill>
                <a:schemeClr val="bg1"/>
              </a:solidFill>
              <a:effectLst>
                <a:outerShdw blurRad="190500" dist="127000" dir="5400000" algn="t" rotWithShape="0">
                  <a:schemeClr val="tx2">
                    <a:alpha val="20000"/>
                  </a:schemeClr>
                </a:outerShdw>
              </a:effectLst>
              <a:uLnTx/>
              <a:uFillTx/>
              <a:latin typeface="微软雅黑" panose="020B0503020204020204" charset="-122"/>
              <a:ea typeface="微软雅黑" panose="020B0503020204020204" charset="-122"/>
              <a:cs typeface="微软雅黑" panose="020B0503020204020204" charset="-122"/>
            </a:endParaRPr>
          </a:p>
        </p:txBody>
      </p:sp>
      <p:cxnSp>
        <p:nvCxnSpPr>
          <p:cNvPr id="156" name="直接连接符 155"/>
          <p:cNvCxnSpPr/>
          <p:nvPr/>
        </p:nvCxnSpPr>
        <p:spPr>
          <a:xfrm>
            <a:off x="356235" y="6362700"/>
            <a:ext cx="2145665" cy="0"/>
          </a:xfrm>
          <a:prstGeom prst="line">
            <a:avLst/>
          </a:prstGeom>
          <a:ln w="38100" cap="flat" cmpd="sng" algn="ctr">
            <a:solidFill>
              <a:schemeClr val="accent1"/>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5" name="文本框 164"/>
          <p:cNvSpPr txBox="1"/>
          <p:nvPr/>
        </p:nvSpPr>
        <p:spPr>
          <a:xfrm>
            <a:off x="504190" y="3347720"/>
            <a:ext cx="1881505" cy="663575"/>
          </a:xfrm>
          <a:prstGeom prst="rect">
            <a:avLst/>
          </a:prstGeom>
          <a:noFill/>
        </p:spPr>
        <p:txBody>
          <a:bodyPr wrap="square" lIns="0" tIns="0" rIns="0" bIns="0">
            <a:spAutoFit/>
          </a:bodyPr>
          <a:lstStyle/>
          <a:p>
            <a:pPr marL="171450" lvl="0" indent="-171450" algn="just">
              <a:lnSpc>
                <a:spcPct val="120000"/>
              </a:lnSpc>
              <a:spcBef>
                <a:spcPts val="0"/>
              </a:spcBef>
              <a:spcAft>
                <a:spcPts val="0"/>
              </a:spcAft>
              <a:buClrTx/>
              <a:buSzTx/>
              <a:buFont typeface="Wingdings" panose="05000000000000000000" charset="0"/>
              <a:buChar char="l"/>
              <a:defRPr/>
            </a:pPr>
            <a:r>
              <a:rPr lang="zh-CN" altLang="en-US" sz="1200" dirty="0">
                <a:solidFill>
                  <a:srgbClr val="374151"/>
                </a:solidFill>
                <a:effectLst/>
                <a:latin typeface="微软雅黑" panose="020B0503020204020204" charset="-122"/>
                <a:ea typeface="微软雅黑" panose="020B0503020204020204" charset="-122"/>
                <a:cs typeface="微软雅黑" panose="020B0503020204020204" charset="-122"/>
                <a:sym typeface="+mn-ea"/>
              </a:rPr>
              <a:t>微博、微信公众号兴起，新媒体运营向具有社交属性的内容运营迈进。</a:t>
            </a:r>
            <a:endParaRPr lang="zh-CN" altLang="en-US" sz="1200" dirty="0">
              <a:solidFill>
                <a:srgbClr val="374151"/>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47" name="矩形 146"/>
          <p:cNvSpPr/>
          <p:nvPr/>
        </p:nvSpPr>
        <p:spPr>
          <a:xfrm>
            <a:off x="2647315" y="2316480"/>
            <a:ext cx="2319020" cy="453390"/>
          </a:xfrm>
          <a:prstGeom prst="rect">
            <a:avLst/>
          </a:prstGeom>
          <a:gradFill>
            <a:gsLst>
              <a:gs pos="0">
                <a:schemeClr val="accent5">
                  <a:lumMod val="60000"/>
                  <a:lumOff val="40000"/>
                </a:schemeClr>
              </a:gs>
              <a:gs pos="100000">
                <a:schemeClr val="accent5"/>
              </a:gs>
            </a:gsLst>
            <a:lin ang="270000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2" name="文本框 151"/>
          <p:cNvSpPr txBox="1"/>
          <p:nvPr/>
        </p:nvSpPr>
        <p:spPr>
          <a:xfrm>
            <a:off x="3220085" y="2386965"/>
            <a:ext cx="1174115" cy="294640"/>
          </a:xfrm>
          <a:prstGeom prst="rect">
            <a:avLst/>
          </a:prstGeom>
          <a:noFill/>
          <a:ln>
            <a:noFill/>
          </a:ln>
        </p:spPr>
        <p:txBody>
          <a:bodyPr wrap="square" lIns="0" tIns="0" rIns="0" bIns="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bg1"/>
                </a:solidFill>
                <a:effectLst>
                  <a:outerShdw blurRad="190500" dist="127000" dir="5400000" algn="t" rotWithShape="0">
                    <a:schemeClr val="tx2">
                      <a:alpha val="20000"/>
                    </a:schemeClr>
                  </a:outerShdw>
                </a:effectLst>
                <a:uLnTx/>
                <a:uFillTx/>
                <a:latin typeface="微软雅黑" panose="020B0503020204020204" charset="-122"/>
                <a:ea typeface="微软雅黑" panose="020B0503020204020204" charset="-122"/>
                <a:cs typeface="微软雅黑" panose="020B0503020204020204" charset="-122"/>
              </a:rPr>
              <a:t>成长期</a:t>
            </a:r>
            <a:endParaRPr kumimoji="0" lang="zh-CN" altLang="en-US" sz="1600" b="1" i="0" u="none" strike="noStrike" kern="1200" cap="none" spc="0" normalizeH="0" baseline="0" noProof="0" dirty="0">
              <a:ln>
                <a:noFill/>
              </a:ln>
              <a:solidFill>
                <a:schemeClr val="bg1"/>
              </a:solidFill>
              <a:effectLst>
                <a:outerShdw blurRad="190500" dist="127000" dir="5400000" algn="t" rotWithShape="0">
                  <a:schemeClr val="tx2">
                    <a:alpha val="20000"/>
                  </a:schemeClr>
                </a:outerShdw>
              </a:effectLst>
              <a:uLnTx/>
              <a:uFillTx/>
              <a:latin typeface="微软雅黑" panose="020B0503020204020204" charset="-122"/>
              <a:ea typeface="微软雅黑" panose="020B0503020204020204" charset="-122"/>
              <a:cs typeface="微软雅黑" panose="020B0503020204020204" charset="-122"/>
            </a:endParaRPr>
          </a:p>
        </p:txBody>
      </p:sp>
      <p:sp>
        <p:nvSpPr>
          <p:cNvPr id="168" name="文本框 167"/>
          <p:cNvSpPr txBox="1"/>
          <p:nvPr/>
        </p:nvSpPr>
        <p:spPr>
          <a:xfrm>
            <a:off x="2774315" y="3347720"/>
            <a:ext cx="2063750" cy="1583690"/>
          </a:xfrm>
          <a:prstGeom prst="rect">
            <a:avLst/>
          </a:prstGeom>
          <a:noFill/>
        </p:spPr>
        <p:txBody>
          <a:bodyPr wrap="square" lIns="0" tIns="0" rIns="0" bIns="0">
            <a:spAutoFit/>
          </a:bodyPr>
          <a:lstStyle/>
          <a:p>
            <a:pPr marL="171450" lvl="0" indent="-171450" algn="just" fontAlgn="auto">
              <a:lnSpc>
                <a:spcPct val="120000"/>
              </a:lnSpc>
              <a:spcBef>
                <a:spcPts val="0"/>
              </a:spcBef>
              <a:spcAft>
                <a:spcPts val="1000"/>
              </a:spcAft>
              <a:buClrTx/>
              <a:buSzTx/>
              <a:buFont typeface="Wingdings" panose="05000000000000000000" charset="0"/>
              <a:buChar char="l"/>
              <a:defRPr/>
            </a:pPr>
            <a:r>
              <a:rPr lang="zh-CN" altLang="en-US" sz="1200" dirty="0">
                <a:solidFill>
                  <a:srgbClr val="374151"/>
                </a:solidFill>
                <a:effectLst/>
                <a:latin typeface="微软雅黑" panose="020B0503020204020204" charset="-122"/>
                <a:ea typeface="微软雅黑" panose="020B0503020204020204" charset="-122"/>
                <a:cs typeface="微软雅黑" panose="020B0503020204020204" charset="-122"/>
                <a:sym typeface="+mn-ea"/>
              </a:rPr>
              <a:t>微信群和微信支付上线，形成微信体系内的交易闭环；</a:t>
            </a:r>
            <a:endParaRPr lang="zh-CN" altLang="en-US" sz="1200" dirty="0">
              <a:solidFill>
                <a:srgbClr val="374151"/>
              </a:solidFill>
              <a:effectLst/>
              <a:latin typeface="微软雅黑" panose="020B0503020204020204" charset="-122"/>
              <a:ea typeface="微软雅黑" panose="020B0503020204020204" charset="-122"/>
              <a:cs typeface="微软雅黑" panose="020B0503020204020204" charset="-122"/>
              <a:sym typeface="+mn-ea"/>
            </a:endParaRPr>
          </a:p>
          <a:p>
            <a:pPr marL="171450" lvl="0" indent="-171450" algn="just" fontAlgn="auto">
              <a:lnSpc>
                <a:spcPct val="120000"/>
              </a:lnSpc>
              <a:spcBef>
                <a:spcPts val="0"/>
              </a:spcBef>
              <a:spcAft>
                <a:spcPts val="1000"/>
              </a:spcAft>
              <a:buClrTx/>
              <a:buSzTx/>
              <a:buFont typeface="Wingdings" panose="05000000000000000000" charset="0"/>
              <a:buChar char="l"/>
              <a:defRPr/>
            </a:pPr>
            <a:r>
              <a:rPr lang="zh-CN" altLang="en-US" sz="1200" dirty="0">
                <a:solidFill>
                  <a:srgbClr val="374151"/>
                </a:solidFill>
                <a:effectLst/>
                <a:latin typeface="微软雅黑" panose="020B0503020204020204" charset="-122"/>
                <a:ea typeface="微软雅黑" panose="020B0503020204020204" charset="-122"/>
                <a:cs typeface="微软雅黑" panose="020B0503020204020204" charset="-122"/>
                <a:sym typeface="+mn-ea"/>
              </a:rPr>
              <a:t>社交电商发展日渐成熟，分化出品牌型、平台型等模式；</a:t>
            </a:r>
            <a:endParaRPr lang="zh-CN" altLang="en-US" sz="1200" dirty="0">
              <a:solidFill>
                <a:srgbClr val="374151"/>
              </a:solidFill>
              <a:effectLst/>
              <a:latin typeface="微软雅黑" panose="020B0503020204020204" charset="-122"/>
              <a:ea typeface="微软雅黑" panose="020B0503020204020204" charset="-122"/>
              <a:cs typeface="微软雅黑" panose="020B0503020204020204" charset="-122"/>
              <a:sym typeface="+mn-ea"/>
            </a:endParaRPr>
          </a:p>
          <a:p>
            <a:pPr marL="171450" lvl="0" indent="-171450" algn="just" fontAlgn="auto">
              <a:lnSpc>
                <a:spcPct val="120000"/>
              </a:lnSpc>
              <a:spcBef>
                <a:spcPts val="0"/>
              </a:spcBef>
              <a:spcAft>
                <a:spcPts val="1000"/>
              </a:spcAft>
              <a:buClrTx/>
              <a:buSzTx/>
              <a:buFont typeface="Wingdings" panose="05000000000000000000" charset="0"/>
              <a:buChar char="l"/>
              <a:defRPr/>
            </a:pPr>
            <a:r>
              <a:rPr lang="zh-CN" altLang="en-US" sz="1200" dirty="0">
                <a:solidFill>
                  <a:srgbClr val="374151"/>
                </a:solidFill>
                <a:effectLst/>
                <a:latin typeface="微软雅黑" panose="020B0503020204020204" charset="-122"/>
                <a:ea typeface="微软雅黑" panose="020B0503020204020204" charset="-122"/>
                <a:cs typeface="微软雅黑" panose="020B0503020204020204" charset="-122"/>
                <a:sym typeface="+mn-ea"/>
              </a:rPr>
              <a:t>知识付费与私域电商相结合，迈向社群经济。</a:t>
            </a:r>
            <a:endParaRPr lang="zh-CN" altLang="en-US" sz="1200" dirty="0">
              <a:solidFill>
                <a:srgbClr val="374151"/>
              </a:solidFill>
              <a:effectLst/>
              <a:latin typeface="微软雅黑" panose="020B0503020204020204" charset="-122"/>
              <a:ea typeface="微软雅黑" panose="020B0503020204020204" charset="-122"/>
              <a:cs typeface="微软雅黑" panose="020B0503020204020204" charset="-122"/>
              <a:sym typeface="+mn-ea"/>
            </a:endParaRPr>
          </a:p>
        </p:txBody>
      </p:sp>
      <p:cxnSp>
        <p:nvCxnSpPr>
          <p:cNvPr id="178" name="直接连接符 177"/>
          <p:cNvCxnSpPr/>
          <p:nvPr/>
        </p:nvCxnSpPr>
        <p:spPr>
          <a:xfrm>
            <a:off x="2647315" y="6362700"/>
            <a:ext cx="2317115" cy="0"/>
          </a:xfrm>
          <a:prstGeom prst="line">
            <a:avLst/>
          </a:prstGeom>
          <a:ln w="38100" cap="flat" cmpd="sng" algn="ctr">
            <a:solidFill>
              <a:schemeClr val="accent5"/>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0" name="rocket-flying_72487"/>
          <p:cNvSpPr/>
          <p:nvPr/>
        </p:nvSpPr>
        <p:spPr>
          <a:xfrm rot="4592817">
            <a:off x="10919874" y="2852537"/>
            <a:ext cx="271796" cy="381196"/>
          </a:xfrm>
          <a:custGeom>
            <a:avLst/>
            <a:gdLst>
              <a:gd name="T0" fmla="*/ 5809 w 5812"/>
              <a:gd name="T1" fmla="*/ 6108 h 8163"/>
              <a:gd name="T2" fmla="*/ 4840 w 5812"/>
              <a:gd name="T3" fmla="*/ 4042 h 8163"/>
              <a:gd name="T4" fmla="*/ 4702 w 5812"/>
              <a:gd name="T5" fmla="*/ 3922 h 8163"/>
              <a:gd name="T6" fmla="*/ 3828 w 5812"/>
              <a:gd name="T7" fmla="*/ 888 h 8163"/>
              <a:gd name="T8" fmla="*/ 2944 w 5812"/>
              <a:gd name="T9" fmla="*/ 13 h 8163"/>
              <a:gd name="T10" fmla="*/ 2868 w 5812"/>
              <a:gd name="T11" fmla="*/ 13 h 8163"/>
              <a:gd name="T12" fmla="*/ 1984 w 5812"/>
              <a:gd name="T13" fmla="*/ 888 h 8163"/>
              <a:gd name="T14" fmla="*/ 1110 w 5812"/>
              <a:gd name="T15" fmla="*/ 3922 h 8163"/>
              <a:gd name="T16" fmla="*/ 972 w 5812"/>
              <a:gd name="T17" fmla="*/ 4042 h 8163"/>
              <a:gd name="T18" fmla="*/ 3 w 5812"/>
              <a:gd name="T19" fmla="*/ 6108 h 8163"/>
              <a:gd name="T20" fmla="*/ 35 w 5812"/>
              <a:gd name="T21" fmla="*/ 6200 h 8163"/>
              <a:gd name="T22" fmla="*/ 124 w 5812"/>
              <a:gd name="T23" fmla="*/ 6239 h 8163"/>
              <a:gd name="T24" fmla="*/ 1659 w 5812"/>
              <a:gd name="T25" fmla="*/ 6239 h 8163"/>
              <a:gd name="T26" fmla="*/ 1926 w 5812"/>
              <a:gd name="T27" fmla="*/ 6630 h 8163"/>
              <a:gd name="T28" fmla="*/ 1980 w 5812"/>
              <a:gd name="T29" fmla="*/ 6652 h 8163"/>
              <a:gd name="T30" fmla="*/ 2017 w 5812"/>
              <a:gd name="T31" fmla="*/ 6652 h 8163"/>
              <a:gd name="T32" fmla="*/ 2743 w 5812"/>
              <a:gd name="T33" fmla="*/ 8098 h 8163"/>
              <a:gd name="T34" fmla="*/ 2906 w 5812"/>
              <a:gd name="T35" fmla="*/ 8163 h 8163"/>
              <a:gd name="T36" fmla="*/ 3069 w 5812"/>
              <a:gd name="T37" fmla="*/ 8098 h 8163"/>
              <a:gd name="T38" fmla="*/ 3795 w 5812"/>
              <a:gd name="T39" fmla="*/ 6652 h 8163"/>
              <a:gd name="T40" fmla="*/ 3832 w 5812"/>
              <a:gd name="T41" fmla="*/ 6652 h 8163"/>
              <a:gd name="T42" fmla="*/ 3886 w 5812"/>
              <a:gd name="T43" fmla="*/ 6630 h 8163"/>
              <a:gd name="T44" fmla="*/ 4153 w 5812"/>
              <a:gd name="T45" fmla="*/ 6239 h 8163"/>
              <a:gd name="T46" fmla="*/ 5688 w 5812"/>
              <a:gd name="T47" fmla="*/ 6239 h 8163"/>
              <a:gd name="T48" fmla="*/ 5777 w 5812"/>
              <a:gd name="T49" fmla="*/ 6200 h 8163"/>
              <a:gd name="T50" fmla="*/ 5809 w 5812"/>
              <a:gd name="T51" fmla="*/ 6108 h 8163"/>
              <a:gd name="T52" fmla="*/ 2906 w 5812"/>
              <a:gd name="T53" fmla="*/ 2094 h 8163"/>
              <a:gd name="T54" fmla="*/ 3576 w 5812"/>
              <a:gd name="T55" fmla="*/ 2764 h 8163"/>
              <a:gd name="T56" fmla="*/ 2906 w 5812"/>
              <a:gd name="T57" fmla="*/ 3434 h 8163"/>
              <a:gd name="T58" fmla="*/ 2236 w 5812"/>
              <a:gd name="T59" fmla="*/ 2764 h 8163"/>
              <a:gd name="T60" fmla="*/ 2906 w 5812"/>
              <a:gd name="T61" fmla="*/ 2094 h 8163"/>
              <a:gd name="T62" fmla="*/ 2906 w 5812"/>
              <a:gd name="T63" fmla="*/ 7567 h 8163"/>
              <a:gd name="T64" fmla="*/ 2494 w 5812"/>
              <a:gd name="T65" fmla="*/ 6652 h 8163"/>
              <a:gd name="T66" fmla="*/ 3318 w 5812"/>
              <a:gd name="T67" fmla="*/ 6652 h 8163"/>
              <a:gd name="T68" fmla="*/ 2906 w 5812"/>
              <a:gd name="T69" fmla="*/ 7567 h 8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812" h="8163">
                <a:moveTo>
                  <a:pt x="5809" y="6108"/>
                </a:moveTo>
                <a:cubicBezTo>
                  <a:pt x="5733" y="5070"/>
                  <a:pt x="5240" y="4412"/>
                  <a:pt x="4840" y="4042"/>
                </a:cubicBezTo>
                <a:cubicBezTo>
                  <a:pt x="4793" y="3999"/>
                  <a:pt x="4748" y="3959"/>
                  <a:pt x="4702" y="3922"/>
                </a:cubicBezTo>
                <a:cubicBezTo>
                  <a:pt x="4702" y="2430"/>
                  <a:pt x="4227" y="1449"/>
                  <a:pt x="3828" y="888"/>
                </a:cubicBezTo>
                <a:cubicBezTo>
                  <a:pt x="3393" y="277"/>
                  <a:pt x="2962" y="24"/>
                  <a:pt x="2944" y="13"/>
                </a:cubicBezTo>
                <a:cubicBezTo>
                  <a:pt x="2920" y="0"/>
                  <a:pt x="2892" y="0"/>
                  <a:pt x="2868" y="13"/>
                </a:cubicBezTo>
                <a:cubicBezTo>
                  <a:pt x="2850" y="24"/>
                  <a:pt x="2419" y="277"/>
                  <a:pt x="1984" y="888"/>
                </a:cubicBezTo>
                <a:cubicBezTo>
                  <a:pt x="1585" y="1449"/>
                  <a:pt x="1110" y="2430"/>
                  <a:pt x="1110" y="3922"/>
                </a:cubicBezTo>
                <a:cubicBezTo>
                  <a:pt x="1064" y="3959"/>
                  <a:pt x="1019" y="3999"/>
                  <a:pt x="972" y="4042"/>
                </a:cubicBezTo>
                <a:cubicBezTo>
                  <a:pt x="572" y="4412"/>
                  <a:pt x="79" y="5070"/>
                  <a:pt x="3" y="6108"/>
                </a:cubicBezTo>
                <a:cubicBezTo>
                  <a:pt x="0" y="6142"/>
                  <a:pt x="12" y="6176"/>
                  <a:pt x="35" y="6200"/>
                </a:cubicBezTo>
                <a:cubicBezTo>
                  <a:pt x="58" y="6225"/>
                  <a:pt x="90" y="6239"/>
                  <a:pt x="124" y="6239"/>
                </a:cubicBezTo>
                <a:lnTo>
                  <a:pt x="1659" y="6239"/>
                </a:lnTo>
                <a:cubicBezTo>
                  <a:pt x="1747" y="6406"/>
                  <a:pt x="1837" y="6540"/>
                  <a:pt x="1926" y="6630"/>
                </a:cubicBezTo>
                <a:cubicBezTo>
                  <a:pt x="1940" y="6644"/>
                  <a:pt x="1959" y="6652"/>
                  <a:pt x="1980" y="6652"/>
                </a:cubicBezTo>
                <a:lnTo>
                  <a:pt x="2017" y="6652"/>
                </a:lnTo>
                <a:cubicBezTo>
                  <a:pt x="2073" y="7455"/>
                  <a:pt x="2714" y="8071"/>
                  <a:pt x="2743" y="8098"/>
                </a:cubicBezTo>
                <a:cubicBezTo>
                  <a:pt x="2788" y="8141"/>
                  <a:pt x="2847" y="8163"/>
                  <a:pt x="2906" y="8163"/>
                </a:cubicBezTo>
                <a:cubicBezTo>
                  <a:pt x="2965" y="8163"/>
                  <a:pt x="3024" y="8141"/>
                  <a:pt x="3069" y="8098"/>
                </a:cubicBezTo>
                <a:cubicBezTo>
                  <a:pt x="3098" y="8071"/>
                  <a:pt x="3738" y="7455"/>
                  <a:pt x="3795" y="6652"/>
                </a:cubicBezTo>
                <a:lnTo>
                  <a:pt x="3832" y="6652"/>
                </a:lnTo>
                <a:cubicBezTo>
                  <a:pt x="3853" y="6652"/>
                  <a:pt x="3872" y="6644"/>
                  <a:pt x="3886" y="6630"/>
                </a:cubicBezTo>
                <a:cubicBezTo>
                  <a:pt x="3975" y="6540"/>
                  <a:pt x="4065" y="6406"/>
                  <a:pt x="4153" y="6239"/>
                </a:cubicBezTo>
                <a:lnTo>
                  <a:pt x="5688" y="6239"/>
                </a:lnTo>
                <a:cubicBezTo>
                  <a:pt x="5721" y="6239"/>
                  <a:pt x="5754" y="6225"/>
                  <a:pt x="5777" y="6200"/>
                </a:cubicBezTo>
                <a:cubicBezTo>
                  <a:pt x="5800" y="6176"/>
                  <a:pt x="5812" y="6142"/>
                  <a:pt x="5809" y="6108"/>
                </a:cubicBezTo>
                <a:close/>
                <a:moveTo>
                  <a:pt x="2906" y="2094"/>
                </a:moveTo>
                <a:cubicBezTo>
                  <a:pt x="3276" y="2094"/>
                  <a:pt x="3576" y="2394"/>
                  <a:pt x="3576" y="2764"/>
                </a:cubicBezTo>
                <a:cubicBezTo>
                  <a:pt x="3576" y="3134"/>
                  <a:pt x="3276" y="3434"/>
                  <a:pt x="2906" y="3434"/>
                </a:cubicBezTo>
                <a:cubicBezTo>
                  <a:pt x="2536" y="3434"/>
                  <a:pt x="2236" y="3134"/>
                  <a:pt x="2236" y="2764"/>
                </a:cubicBezTo>
                <a:cubicBezTo>
                  <a:pt x="2236" y="2394"/>
                  <a:pt x="2536" y="2094"/>
                  <a:pt x="2906" y="2094"/>
                </a:cubicBezTo>
                <a:close/>
                <a:moveTo>
                  <a:pt x="2906" y="7567"/>
                </a:moveTo>
                <a:cubicBezTo>
                  <a:pt x="2749" y="7369"/>
                  <a:pt x="2531" y="7032"/>
                  <a:pt x="2494" y="6652"/>
                </a:cubicBezTo>
                <a:lnTo>
                  <a:pt x="3318" y="6652"/>
                </a:lnTo>
                <a:cubicBezTo>
                  <a:pt x="3281" y="7032"/>
                  <a:pt x="3063" y="7369"/>
                  <a:pt x="2906" y="7567"/>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7" name="椭圆 56"/>
          <p:cNvSpPr/>
          <p:nvPr/>
        </p:nvSpPr>
        <p:spPr>
          <a:xfrm>
            <a:off x="1309267" y="5846112"/>
            <a:ext cx="108000" cy="108000"/>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lumMod val="85000"/>
                  <a:lumOff val="15000"/>
                </a:prst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8" name="文本框 57"/>
          <p:cNvSpPr txBox="1"/>
          <p:nvPr/>
        </p:nvSpPr>
        <p:spPr>
          <a:xfrm>
            <a:off x="1059180" y="5488940"/>
            <a:ext cx="739775" cy="257810"/>
          </a:xfrm>
          <a:prstGeom prst="rect">
            <a:avLst/>
          </a:prstGeom>
          <a:noFill/>
        </p:spPr>
        <p:txBody>
          <a:bodyPr wrap="square" lIns="0" tIns="0" rIns="0" bIns="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lang="en-US" sz="1400" b="1" dirty="0">
                <a:solidFill>
                  <a:schemeClr val="accent1"/>
                </a:solidFill>
                <a:latin typeface="微软雅黑" panose="020B0503020204020204" charset="-122"/>
                <a:ea typeface="微软雅黑" panose="020B0503020204020204" charset="-122"/>
                <a:cs typeface="微软雅黑" panose="020B0503020204020204" charset="-122"/>
              </a:rPr>
              <a:t>2010</a:t>
            </a:r>
            <a:r>
              <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年</a:t>
            </a:r>
            <a:endParaRPr kumimoji="0" lang="zh-CN" altLang="en-US" sz="14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9" name="椭圆 58"/>
          <p:cNvSpPr/>
          <p:nvPr/>
        </p:nvSpPr>
        <p:spPr>
          <a:xfrm>
            <a:off x="3693057" y="5650532"/>
            <a:ext cx="108000" cy="108000"/>
          </a:xfrm>
          <a:prstGeom prst="ellipse">
            <a:avLst/>
          </a:prstGeom>
          <a:solidFill>
            <a:schemeClr val="accent5"/>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lumMod val="85000"/>
                  <a:lumOff val="15000"/>
                </a:prst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0" name="文本框 59"/>
          <p:cNvSpPr txBox="1"/>
          <p:nvPr/>
        </p:nvSpPr>
        <p:spPr>
          <a:xfrm>
            <a:off x="3442970" y="5293360"/>
            <a:ext cx="739775" cy="257810"/>
          </a:xfrm>
          <a:prstGeom prst="rect">
            <a:avLst/>
          </a:prstGeom>
          <a:noFill/>
        </p:spPr>
        <p:txBody>
          <a:bodyPr wrap="square" lIns="0" tIns="0" rIns="0" bIns="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lang="en-US" sz="1400" b="1" dirty="0">
                <a:solidFill>
                  <a:schemeClr val="accent5"/>
                </a:solidFill>
                <a:latin typeface="微软雅黑" panose="020B0503020204020204" charset="-122"/>
                <a:ea typeface="微软雅黑" panose="020B0503020204020204" charset="-122"/>
                <a:cs typeface="微软雅黑" panose="020B0503020204020204" charset="-122"/>
              </a:rPr>
              <a:t>2013</a:t>
            </a:r>
            <a:r>
              <a:rPr lang="zh-CN" altLang="en-US" sz="1400" b="1" dirty="0">
                <a:solidFill>
                  <a:schemeClr val="accent5"/>
                </a:solidFill>
                <a:latin typeface="微软雅黑" panose="020B0503020204020204" charset="-122"/>
                <a:ea typeface="微软雅黑" panose="020B0503020204020204" charset="-122"/>
                <a:cs typeface="微软雅黑" panose="020B0503020204020204" charset="-122"/>
              </a:rPr>
              <a:t>年</a:t>
            </a:r>
            <a:endParaRPr kumimoji="0" lang="zh-CN" altLang="en-US" sz="14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1" name="椭圆 60"/>
          <p:cNvSpPr/>
          <p:nvPr/>
        </p:nvSpPr>
        <p:spPr>
          <a:xfrm>
            <a:off x="6550557" y="4678347"/>
            <a:ext cx="108000" cy="108000"/>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lumMod val="85000"/>
                  <a:lumOff val="15000"/>
                </a:prst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2" name="文本框 61"/>
          <p:cNvSpPr txBox="1"/>
          <p:nvPr/>
        </p:nvSpPr>
        <p:spPr>
          <a:xfrm>
            <a:off x="6112510" y="4341495"/>
            <a:ext cx="739775" cy="257810"/>
          </a:xfrm>
          <a:prstGeom prst="rect">
            <a:avLst/>
          </a:prstGeom>
          <a:noFill/>
        </p:spPr>
        <p:txBody>
          <a:bodyPr wrap="square" lIns="0" tIns="0" rIns="0" bIns="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lang="en-US" sz="1400" b="1" dirty="0">
                <a:solidFill>
                  <a:schemeClr val="accent1"/>
                </a:solidFill>
                <a:latin typeface="微软雅黑" panose="020B0503020204020204" charset="-122"/>
                <a:ea typeface="微软雅黑" panose="020B0503020204020204" charset="-122"/>
                <a:cs typeface="微软雅黑" panose="020B0503020204020204" charset="-122"/>
              </a:rPr>
              <a:t>2018</a:t>
            </a:r>
            <a:r>
              <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年</a:t>
            </a:r>
            <a:endParaRPr kumimoji="0" lang="zh-CN" altLang="en-US" sz="14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63" name="直接连接符 62"/>
          <p:cNvCxnSpPr/>
          <p:nvPr/>
        </p:nvCxnSpPr>
        <p:spPr>
          <a:xfrm>
            <a:off x="5111750" y="6362700"/>
            <a:ext cx="3222625" cy="0"/>
          </a:xfrm>
          <a:prstGeom prst="line">
            <a:avLst/>
          </a:prstGeom>
          <a:ln w="38100" cap="flat" cmpd="sng" algn="ctr">
            <a:solidFill>
              <a:schemeClr val="accent1"/>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4" name="文本框 63"/>
          <p:cNvSpPr txBox="1"/>
          <p:nvPr/>
        </p:nvSpPr>
        <p:spPr>
          <a:xfrm>
            <a:off x="5379720" y="5389880"/>
            <a:ext cx="2863215" cy="368935"/>
          </a:xfrm>
          <a:prstGeom prst="rect">
            <a:avLst/>
          </a:prstGeom>
          <a:noFill/>
        </p:spPr>
        <p:txBody>
          <a:bodyPr wrap="square" lIns="0" tIns="0" rIns="0" bIns="0">
            <a:spAutoFit/>
          </a:bodyPr>
          <a:lstStyle/>
          <a:p>
            <a:pPr marL="171450" lvl="0" indent="-171450" algn="just">
              <a:lnSpc>
                <a:spcPct val="120000"/>
              </a:lnSpc>
              <a:spcBef>
                <a:spcPts val="0"/>
              </a:spcBef>
              <a:spcAft>
                <a:spcPts val="1000"/>
              </a:spcAft>
              <a:buClrTx/>
              <a:buSzTx/>
              <a:buFont typeface="Wingdings" panose="05000000000000000000" charset="0"/>
              <a:buChar char="l"/>
              <a:defRPr/>
            </a:pPr>
            <a:r>
              <a:rPr lang="zh-CN" altLang="en-US" sz="1200" dirty="0">
                <a:solidFill>
                  <a:srgbClr val="374151"/>
                </a:solidFill>
                <a:effectLst/>
                <a:latin typeface="微软雅黑" panose="020B0503020204020204" charset="-122"/>
                <a:ea typeface="微软雅黑" panose="020B0503020204020204" charset="-122"/>
                <a:cs typeface="微软雅黑" panose="020B0503020204020204" charset="-122"/>
                <a:sym typeface="+mn-ea"/>
              </a:rPr>
              <a:t>企业微信开放性增强，催生企业微信服务生态，SCRM乘风而起</a:t>
            </a:r>
            <a:endParaRPr lang="zh-CN" altLang="en-US" sz="1200" dirty="0">
              <a:solidFill>
                <a:srgbClr val="374151"/>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66" name="椭圆 65"/>
          <p:cNvSpPr/>
          <p:nvPr/>
        </p:nvSpPr>
        <p:spPr>
          <a:xfrm>
            <a:off x="9888752" y="3299127"/>
            <a:ext cx="108000" cy="108000"/>
          </a:xfrm>
          <a:prstGeom prst="ellipse">
            <a:avLst/>
          </a:prstGeom>
          <a:solidFill>
            <a:schemeClr val="accent5"/>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lumMod val="85000"/>
                  <a:lumOff val="15000"/>
                </a:prst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7" name="文本框 66"/>
          <p:cNvSpPr txBox="1"/>
          <p:nvPr/>
        </p:nvSpPr>
        <p:spPr>
          <a:xfrm>
            <a:off x="9464675" y="2951480"/>
            <a:ext cx="739775" cy="257810"/>
          </a:xfrm>
          <a:prstGeom prst="rect">
            <a:avLst/>
          </a:prstGeom>
          <a:noFill/>
        </p:spPr>
        <p:txBody>
          <a:bodyPr wrap="square" lIns="0" tIns="0" rIns="0" bIns="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lang="en-US" sz="1400" b="1" dirty="0">
                <a:solidFill>
                  <a:schemeClr val="accent5"/>
                </a:solidFill>
                <a:latin typeface="微软雅黑" panose="020B0503020204020204" charset="-122"/>
                <a:ea typeface="微软雅黑" panose="020B0503020204020204" charset="-122"/>
                <a:cs typeface="微软雅黑" panose="020B0503020204020204" charset="-122"/>
              </a:rPr>
              <a:t>2020</a:t>
            </a:r>
            <a:r>
              <a:rPr lang="zh-CN" altLang="en-US" sz="1400" b="1" dirty="0">
                <a:solidFill>
                  <a:schemeClr val="accent5"/>
                </a:solidFill>
                <a:latin typeface="微软雅黑" panose="020B0503020204020204" charset="-122"/>
                <a:ea typeface="微软雅黑" panose="020B0503020204020204" charset="-122"/>
                <a:cs typeface="微软雅黑" panose="020B0503020204020204" charset="-122"/>
              </a:rPr>
              <a:t>年</a:t>
            </a:r>
            <a:endParaRPr kumimoji="0" lang="zh-CN" altLang="en-US" sz="14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2" name="图片 1"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10" name="图片 9"/>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1" name="文本框 10"/>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latin typeface="微软雅黑" panose="020B0503020204020204" charset="-122"/>
                <a:ea typeface="微软雅黑" panose="020B0503020204020204" charset="-122"/>
                <a:cs typeface="微软雅黑" panose="020B0503020204020204" charset="-122"/>
              </a:rPr>
              <a:t>-</a:t>
            </a:r>
            <a:r>
              <a:rPr sz="2500">
                <a:solidFill>
                  <a:schemeClr val="accent1"/>
                </a:solidFill>
                <a:latin typeface="微软雅黑" panose="020B0503020204020204" charset="-122"/>
                <a:ea typeface="微软雅黑" panose="020B0503020204020204" charset="-122"/>
                <a:cs typeface="微软雅黑" panose="020B0503020204020204" charset="-122"/>
              </a:rPr>
              <a:t>时间流程架构 | </a:t>
            </a:r>
            <a:r>
              <a:rPr sz="2500">
                <a:solidFill>
                  <a:schemeClr val="tx2"/>
                </a:solidFill>
                <a:effectLst/>
                <a:latin typeface="微软雅黑" panose="020B0503020204020204" charset="-122"/>
                <a:ea typeface="微软雅黑" panose="020B0503020204020204" charset="-122"/>
                <a:cs typeface="微软雅黑" panose="020B0503020204020204" charset="-122"/>
                <a:sym typeface="+mn-ea"/>
              </a:rPr>
              <a:t>年度工作项目规划</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2" name="图片 1"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19" name="任意形状 18"/>
          <p:cNvSpPr/>
          <p:nvPr/>
        </p:nvSpPr>
        <p:spPr>
          <a:xfrm>
            <a:off x="640953" y="1143382"/>
            <a:ext cx="11097656" cy="713994"/>
          </a:xfrm>
          <a:custGeom>
            <a:avLst/>
            <a:gdLst>
              <a:gd name="connsiteX0" fmla="*/ 11138154 w 11138153"/>
              <a:gd name="connsiteY0" fmla="*/ 357378 h 713994"/>
              <a:gd name="connsiteX1" fmla="*/ 10855452 w 11138153"/>
              <a:gd name="connsiteY1" fmla="*/ 0 h 713994"/>
              <a:gd name="connsiteX2" fmla="*/ 10855452 w 11138153"/>
              <a:gd name="connsiteY2" fmla="*/ 161544 h 713994"/>
              <a:gd name="connsiteX3" fmla="*/ 0 w 11138153"/>
              <a:gd name="connsiteY3" fmla="*/ 161544 h 713994"/>
              <a:gd name="connsiteX4" fmla="*/ 0 w 11138153"/>
              <a:gd name="connsiteY4" fmla="*/ 552450 h 713994"/>
              <a:gd name="connsiteX5" fmla="*/ 10855452 w 11138153"/>
              <a:gd name="connsiteY5" fmla="*/ 552450 h 713994"/>
              <a:gd name="connsiteX6" fmla="*/ 10855452 w 11138153"/>
              <a:gd name="connsiteY6" fmla="*/ 713994 h 713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8153" h="713994">
                <a:moveTo>
                  <a:pt x="11138154" y="357378"/>
                </a:moveTo>
                <a:lnTo>
                  <a:pt x="10855452" y="0"/>
                </a:lnTo>
                <a:lnTo>
                  <a:pt x="10855452" y="161544"/>
                </a:lnTo>
                <a:lnTo>
                  <a:pt x="0" y="161544"/>
                </a:lnTo>
                <a:lnTo>
                  <a:pt x="0" y="552450"/>
                </a:lnTo>
                <a:lnTo>
                  <a:pt x="10855452" y="552450"/>
                </a:lnTo>
                <a:lnTo>
                  <a:pt x="10855452" y="713994"/>
                </a:lnTo>
                <a:close/>
              </a:path>
            </a:pathLst>
          </a:custGeom>
          <a:solidFill>
            <a:schemeClr val="accent1">
              <a:lumMod val="20000"/>
              <a:lumOff val="80000"/>
              <a:alpha val="50000"/>
            </a:schemeClr>
          </a:solidFill>
          <a:ln w="7620"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84" name="Placeholder text"/>
          <p:cNvSpPr txBox="1"/>
          <p:nvPr/>
        </p:nvSpPr>
        <p:spPr>
          <a:xfrm>
            <a:off x="1232992" y="1382398"/>
            <a:ext cx="1834292" cy="234950"/>
          </a:xfrm>
          <a:prstGeom prst="rect">
            <a:avLst/>
          </a:prstGeom>
          <a:ln w="12700">
            <a:miter lim="400000"/>
          </a:ln>
        </p:spPr>
        <p:txBody>
          <a:bodyPr wrap="square" lIns="25400" tIns="25400" rIns="25400" bIns="25400">
            <a:spAutoFit/>
          </a:bodyPr>
          <a:lstStyle>
            <a:lvl1pPr defTabSz="457200">
              <a:defRPr sz="2600">
                <a:latin typeface="DM Sans Medium"/>
                <a:ea typeface="DM Sans Medium"/>
                <a:cs typeface="DM Sans Medium"/>
                <a:sym typeface="DM Sans Medium"/>
              </a:defRPr>
            </a:lvl1pPr>
          </a:lstStyle>
          <a:p>
            <a:pPr marL="0" marR="0" lvl="0" indent="0" algn="ctr" defTabSz="457200" rtl="0" eaLnBrk="1" fontAlgn="auto" latinLnBrk="0" hangingPunct="1">
              <a:lnSpc>
                <a:spcPct val="100000"/>
              </a:lnSpc>
              <a:spcBef>
                <a:spcPts val="0"/>
              </a:spcBef>
              <a:spcAft>
                <a:spcPts val="500"/>
              </a:spcAft>
              <a:buClrTx/>
              <a:buSzTx/>
              <a:buFontTx/>
              <a:buNone/>
              <a:defRPr/>
            </a:pPr>
            <a:r>
              <a:rPr kumimoji="0" lang="en-US" altLang="zh-CN"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2026</a:t>
            </a:r>
            <a:r>
              <a:rPr kumimoji="0" lang="zh-CN" altLang="en-US"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年</a:t>
            </a:r>
            <a:r>
              <a:rPr kumimoji="0" lang="en-US" altLang="zh-CN"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01</a:t>
            </a:r>
            <a:r>
              <a:rPr kumimoji="0" lang="zh-CN" altLang="en-US"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月</a:t>
            </a:r>
            <a:r>
              <a:rPr kumimoji="0" lang="en-US" altLang="zh-CN"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-03</a:t>
            </a:r>
            <a:r>
              <a:rPr kumimoji="0" lang="zh-CN" altLang="en-US"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月</a:t>
            </a:r>
            <a:endParaRPr kumimoji="0" lang="zh-CN" altLang="en-US"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5" name="Placeholder text"/>
          <p:cNvSpPr txBox="1"/>
          <p:nvPr/>
        </p:nvSpPr>
        <p:spPr>
          <a:xfrm>
            <a:off x="3935726" y="1382398"/>
            <a:ext cx="1834292" cy="234950"/>
          </a:xfrm>
          <a:prstGeom prst="rect">
            <a:avLst/>
          </a:prstGeom>
          <a:ln w="12700">
            <a:miter lim="400000"/>
          </a:ln>
        </p:spPr>
        <p:txBody>
          <a:bodyPr wrap="square" lIns="25400" tIns="25400" rIns="25400" bIns="25400">
            <a:spAutoFit/>
          </a:bodyPr>
          <a:lstStyle>
            <a:lvl1pPr defTabSz="457200">
              <a:defRPr sz="2600">
                <a:latin typeface="DM Sans Medium"/>
                <a:ea typeface="DM Sans Medium"/>
                <a:cs typeface="DM Sans Medium"/>
                <a:sym typeface="DM Sans Medium"/>
              </a:defRPr>
            </a:lvl1pPr>
          </a:lstStyle>
          <a:p>
            <a:pPr marL="0" marR="0" lvl="0" indent="0" algn="ctr" defTabSz="457200" rtl="0" eaLnBrk="1" fontAlgn="auto" latinLnBrk="0" hangingPunct="1">
              <a:lnSpc>
                <a:spcPct val="100000"/>
              </a:lnSpc>
              <a:spcBef>
                <a:spcPts val="0"/>
              </a:spcBef>
              <a:spcAft>
                <a:spcPts val="500"/>
              </a:spcAft>
              <a:buClrTx/>
              <a:buSzTx/>
              <a:buFontTx/>
              <a:buNone/>
              <a:defRPr/>
            </a:pPr>
            <a:r>
              <a:rPr kumimoji="0" lang="en-US" altLang="zh-CN"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2026</a:t>
            </a:r>
            <a:r>
              <a:rPr kumimoji="0" lang="zh-CN" altLang="en-US"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年</a:t>
            </a:r>
            <a:r>
              <a:rPr kumimoji="0" lang="en-US" altLang="zh-CN"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04</a:t>
            </a:r>
            <a:r>
              <a:rPr kumimoji="0" lang="zh-CN" altLang="en-US"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月</a:t>
            </a:r>
            <a:r>
              <a:rPr kumimoji="0" lang="en-US" altLang="zh-CN"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a:t>
            </a:r>
            <a:r>
              <a:rPr kumimoji="0" lang="en-US"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0</a:t>
            </a:r>
            <a:r>
              <a:rPr kumimoji="0" lang="en-US" altLang="zh-CN"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6</a:t>
            </a:r>
            <a:r>
              <a:rPr kumimoji="0" lang="zh-CN" altLang="en-US"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月</a:t>
            </a:r>
            <a:endParaRPr kumimoji="0" lang="zh-CN" altLang="en-US"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6" name="Placeholder text"/>
          <p:cNvSpPr txBox="1"/>
          <p:nvPr/>
        </p:nvSpPr>
        <p:spPr>
          <a:xfrm>
            <a:off x="6638459" y="1382398"/>
            <a:ext cx="1834292" cy="234950"/>
          </a:xfrm>
          <a:prstGeom prst="rect">
            <a:avLst/>
          </a:prstGeom>
          <a:ln w="12700">
            <a:miter lim="400000"/>
          </a:ln>
        </p:spPr>
        <p:txBody>
          <a:bodyPr wrap="square" lIns="25400" tIns="25400" rIns="25400" bIns="25400">
            <a:spAutoFit/>
          </a:bodyPr>
          <a:lstStyle>
            <a:lvl1pPr defTabSz="457200">
              <a:defRPr sz="2600">
                <a:latin typeface="DM Sans Medium"/>
                <a:ea typeface="DM Sans Medium"/>
                <a:cs typeface="DM Sans Medium"/>
                <a:sym typeface="DM Sans Medium"/>
              </a:defRPr>
            </a:lvl1pPr>
          </a:lstStyle>
          <a:p>
            <a:pPr marL="0" marR="0" lvl="0" indent="0" algn="ctr" defTabSz="457200" rtl="0" eaLnBrk="1" fontAlgn="auto" latinLnBrk="0" hangingPunct="1">
              <a:lnSpc>
                <a:spcPct val="100000"/>
              </a:lnSpc>
              <a:spcBef>
                <a:spcPts val="0"/>
              </a:spcBef>
              <a:spcAft>
                <a:spcPts val="500"/>
              </a:spcAft>
              <a:buClrTx/>
              <a:buSzTx/>
              <a:buFontTx/>
              <a:buNone/>
              <a:defRPr/>
            </a:pPr>
            <a:r>
              <a:rPr kumimoji="0" lang="en-US" altLang="zh-CN"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2026</a:t>
            </a:r>
            <a:r>
              <a:rPr kumimoji="0" lang="zh-CN" altLang="en-US"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年</a:t>
            </a:r>
            <a:r>
              <a:rPr kumimoji="0" lang="en-US" altLang="zh-CN"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07</a:t>
            </a:r>
            <a:r>
              <a:rPr kumimoji="0" lang="zh-CN" altLang="en-US"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月</a:t>
            </a:r>
            <a:r>
              <a:rPr kumimoji="0" lang="en-US" altLang="zh-CN"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a:t>
            </a:r>
            <a:r>
              <a:rPr kumimoji="0" lang="en-US"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0</a:t>
            </a:r>
            <a:r>
              <a:rPr kumimoji="0" lang="en-US" altLang="zh-CN"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9</a:t>
            </a:r>
            <a:r>
              <a:rPr kumimoji="0" lang="zh-CN" altLang="en-US"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月</a:t>
            </a:r>
            <a:endParaRPr kumimoji="0" lang="zh-CN" altLang="en-US"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7" name="Placeholder text"/>
          <p:cNvSpPr txBox="1"/>
          <p:nvPr/>
        </p:nvSpPr>
        <p:spPr>
          <a:xfrm>
            <a:off x="9411994" y="1382398"/>
            <a:ext cx="1834292" cy="234950"/>
          </a:xfrm>
          <a:prstGeom prst="rect">
            <a:avLst/>
          </a:prstGeom>
          <a:ln w="12700">
            <a:miter lim="400000"/>
          </a:ln>
        </p:spPr>
        <p:txBody>
          <a:bodyPr wrap="square" lIns="25400" tIns="25400" rIns="25400" bIns="25400">
            <a:spAutoFit/>
          </a:bodyPr>
          <a:lstStyle>
            <a:lvl1pPr defTabSz="457200">
              <a:defRPr sz="2600">
                <a:latin typeface="DM Sans Medium"/>
                <a:ea typeface="DM Sans Medium"/>
                <a:cs typeface="DM Sans Medium"/>
                <a:sym typeface="DM Sans Medium"/>
              </a:defRPr>
            </a:lvl1pPr>
          </a:lstStyle>
          <a:p>
            <a:pPr marL="0" marR="0" lvl="0" indent="0" algn="ctr" defTabSz="457200" rtl="0" eaLnBrk="1" fontAlgn="auto" latinLnBrk="0" hangingPunct="1">
              <a:lnSpc>
                <a:spcPct val="100000"/>
              </a:lnSpc>
              <a:spcBef>
                <a:spcPts val="0"/>
              </a:spcBef>
              <a:spcAft>
                <a:spcPts val="500"/>
              </a:spcAft>
              <a:buClrTx/>
              <a:buSzTx/>
              <a:buFontTx/>
              <a:buNone/>
              <a:defRPr/>
            </a:pPr>
            <a:r>
              <a:rPr kumimoji="0" lang="en-US" altLang="zh-CN"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2026</a:t>
            </a:r>
            <a:r>
              <a:rPr kumimoji="0" lang="zh-CN" altLang="en-US"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年</a:t>
            </a:r>
            <a:r>
              <a:rPr kumimoji="0" lang="en-US" altLang="zh-CN"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10</a:t>
            </a:r>
            <a:r>
              <a:rPr kumimoji="0" lang="zh-CN" altLang="en-US"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月</a:t>
            </a:r>
            <a:r>
              <a:rPr kumimoji="0" lang="en-US"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a:t>
            </a:r>
            <a:r>
              <a:rPr kumimoji="0" lang="en-US" altLang="zh-CN"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12</a:t>
            </a:r>
            <a:r>
              <a:rPr kumimoji="0" lang="zh-CN" altLang="en-US"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月</a:t>
            </a:r>
            <a:endParaRPr kumimoji="0" lang="zh-CN" altLang="en-US" sz="1200" b="1"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0" name="任意形状 109"/>
          <p:cNvSpPr/>
          <p:nvPr/>
        </p:nvSpPr>
        <p:spPr>
          <a:xfrm>
            <a:off x="467759" y="2982828"/>
            <a:ext cx="11251692" cy="7620"/>
          </a:xfrm>
          <a:custGeom>
            <a:avLst/>
            <a:gdLst>
              <a:gd name="connsiteX0" fmla="*/ 0 w 11251692"/>
              <a:gd name="connsiteY0" fmla="*/ 0 h 7620"/>
              <a:gd name="connsiteX1" fmla="*/ 11251692 w 11251692"/>
              <a:gd name="connsiteY1" fmla="*/ 0 h 7620"/>
            </a:gdLst>
            <a:ahLst/>
            <a:cxnLst>
              <a:cxn ang="0">
                <a:pos x="connsiteX0" y="connsiteY0"/>
              </a:cxn>
              <a:cxn ang="0">
                <a:pos x="connsiteX1" y="connsiteY1"/>
              </a:cxn>
            </a:cxnLst>
            <a:rect l="l" t="t" r="r" b="b"/>
            <a:pathLst>
              <a:path w="11251692" h="7620">
                <a:moveTo>
                  <a:pt x="0" y="0"/>
                </a:moveTo>
                <a:lnTo>
                  <a:pt x="11251692" y="0"/>
                </a:lnTo>
              </a:path>
            </a:pathLst>
          </a:custGeom>
          <a:ln w="15875" cap="flat">
            <a:solidFill>
              <a:schemeClr val="tx2">
                <a:lumMod val="40000"/>
                <a:lumOff val="6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11" name="任意形状 110"/>
          <p:cNvSpPr/>
          <p:nvPr/>
        </p:nvSpPr>
        <p:spPr>
          <a:xfrm>
            <a:off x="467759" y="4095801"/>
            <a:ext cx="11251692" cy="7620"/>
          </a:xfrm>
          <a:custGeom>
            <a:avLst/>
            <a:gdLst>
              <a:gd name="connsiteX0" fmla="*/ 0 w 11251692"/>
              <a:gd name="connsiteY0" fmla="*/ 0 h 7620"/>
              <a:gd name="connsiteX1" fmla="*/ 11251692 w 11251692"/>
              <a:gd name="connsiteY1" fmla="*/ 0 h 7620"/>
            </a:gdLst>
            <a:ahLst/>
            <a:cxnLst>
              <a:cxn ang="0">
                <a:pos x="connsiteX0" y="connsiteY0"/>
              </a:cxn>
              <a:cxn ang="0">
                <a:pos x="connsiteX1" y="connsiteY1"/>
              </a:cxn>
            </a:cxnLst>
            <a:rect l="l" t="t" r="r" b="b"/>
            <a:pathLst>
              <a:path w="11251692" h="7620">
                <a:moveTo>
                  <a:pt x="0" y="0"/>
                </a:moveTo>
                <a:lnTo>
                  <a:pt x="11251692" y="0"/>
                </a:lnTo>
              </a:path>
            </a:pathLst>
          </a:custGeom>
          <a:ln w="15875" cap="flat">
            <a:solidFill>
              <a:schemeClr val="tx2">
                <a:lumMod val="40000"/>
                <a:lumOff val="6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4" name="任意形状 13"/>
          <p:cNvSpPr/>
          <p:nvPr/>
        </p:nvSpPr>
        <p:spPr>
          <a:xfrm>
            <a:off x="8553008" y="1143763"/>
            <a:ext cx="713231" cy="713232"/>
          </a:xfrm>
          <a:custGeom>
            <a:avLst/>
            <a:gdLst>
              <a:gd name="connsiteX0" fmla="*/ 713232 w 713231"/>
              <a:gd name="connsiteY0" fmla="*/ 356616 h 713232"/>
              <a:gd name="connsiteX1" fmla="*/ 356616 w 713231"/>
              <a:gd name="connsiteY1" fmla="*/ 713232 h 713232"/>
              <a:gd name="connsiteX2" fmla="*/ 0 w 713231"/>
              <a:gd name="connsiteY2" fmla="*/ 356616 h 713232"/>
              <a:gd name="connsiteX3" fmla="*/ 356616 w 713231"/>
              <a:gd name="connsiteY3" fmla="*/ 0 h 713232"/>
              <a:gd name="connsiteX4" fmla="*/ 713232 w 713231"/>
              <a:gd name="connsiteY4" fmla="*/ 356616 h 713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3231" h="713232">
                <a:moveTo>
                  <a:pt x="713232" y="356616"/>
                </a:moveTo>
                <a:cubicBezTo>
                  <a:pt x="713232" y="553570"/>
                  <a:pt x="553570" y="713232"/>
                  <a:pt x="356616" y="713232"/>
                </a:cubicBezTo>
                <a:cubicBezTo>
                  <a:pt x="159662" y="713232"/>
                  <a:pt x="0" y="553570"/>
                  <a:pt x="0" y="356616"/>
                </a:cubicBezTo>
                <a:cubicBezTo>
                  <a:pt x="0" y="159662"/>
                  <a:pt x="159662" y="0"/>
                  <a:pt x="356616" y="0"/>
                </a:cubicBezTo>
                <a:cubicBezTo>
                  <a:pt x="553570" y="0"/>
                  <a:pt x="713232" y="159662"/>
                  <a:pt x="713232" y="356616"/>
                </a:cubicBezTo>
                <a:close/>
              </a:path>
            </a:pathLst>
          </a:custGeom>
          <a:solidFill>
            <a:schemeClr val="accent5">
              <a:lumMod val="60000"/>
              <a:lumOff val="40000"/>
            </a:schemeClr>
          </a:solidFill>
          <a:ln w="7620" cap="flat">
            <a:noFill/>
            <a:prstDash val="solid"/>
            <a:miter/>
          </a:ln>
        </p:spPr>
        <p:txBody>
          <a:bodyPr rtlCol="0" anchor="ctr"/>
          <a:lstStyle/>
          <a:p>
            <a:pPr algn="ctr"/>
            <a:r>
              <a:rPr lang="en-US" altLang="zh-CN" b="1" dirty="0">
                <a:solidFill>
                  <a:schemeClr val="bg1"/>
                </a:solidFill>
                <a:latin typeface="微软雅黑" panose="020B0503020204020204" charset="-122"/>
                <a:ea typeface="微软雅黑" panose="020B0503020204020204" charset="-122"/>
                <a:cs typeface="微软雅黑" panose="020B0503020204020204" charset="-122"/>
              </a:rPr>
              <a:t>Q4</a:t>
            </a:r>
            <a:endParaRPr lang="en-US" altLang="zh-CN"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3" name="任意形状 12"/>
          <p:cNvSpPr/>
          <p:nvPr/>
        </p:nvSpPr>
        <p:spPr>
          <a:xfrm>
            <a:off x="8905875" y="1860550"/>
            <a:ext cx="76200" cy="4432935"/>
          </a:xfrm>
          <a:custGeom>
            <a:avLst/>
            <a:gdLst>
              <a:gd name="connsiteX0" fmla="*/ 0 w 7620"/>
              <a:gd name="connsiteY0" fmla="*/ 3888486 h 3888486"/>
              <a:gd name="connsiteX1" fmla="*/ 0 w 7620"/>
              <a:gd name="connsiteY1" fmla="*/ 0 h 3888486"/>
            </a:gdLst>
            <a:ahLst/>
            <a:cxnLst>
              <a:cxn ang="0">
                <a:pos x="connsiteX0" y="connsiteY0"/>
              </a:cxn>
              <a:cxn ang="0">
                <a:pos x="connsiteX1" y="connsiteY1"/>
              </a:cxn>
            </a:cxnLst>
            <a:rect l="l" t="t" r="r" b="b"/>
            <a:pathLst>
              <a:path w="7620" h="3888486">
                <a:moveTo>
                  <a:pt x="0" y="3888486"/>
                </a:moveTo>
                <a:lnTo>
                  <a:pt x="0" y="0"/>
                </a:lnTo>
              </a:path>
            </a:pathLst>
          </a:custGeom>
          <a:ln w="15875" cap="flat">
            <a:solidFill>
              <a:schemeClr val="tx2">
                <a:lumMod val="40000"/>
                <a:lumOff val="6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1" name="任意形状 20"/>
          <p:cNvSpPr/>
          <p:nvPr/>
        </p:nvSpPr>
        <p:spPr>
          <a:xfrm>
            <a:off x="5855675" y="1143763"/>
            <a:ext cx="713231" cy="713232"/>
          </a:xfrm>
          <a:custGeom>
            <a:avLst/>
            <a:gdLst>
              <a:gd name="connsiteX0" fmla="*/ 713232 w 713231"/>
              <a:gd name="connsiteY0" fmla="*/ 356616 h 713232"/>
              <a:gd name="connsiteX1" fmla="*/ 356616 w 713231"/>
              <a:gd name="connsiteY1" fmla="*/ 713232 h 713232"/>
              <a:gd name="connsiteX2" fmla="*/ 0 w 713231"/>
              <a:gd name="connsiteY2" fmla="*/ 356616 h 713232"/>
              <a:gd name="connsiteX3" fmla="*/ 356616 w 713231"/>
              <a:gd name="connsiteY3" fmla="*/ 0 h 713232"/>
              <a:gd name="connsiteX4" fmla="*/ 713232 w 713231"/>
              <a:gd name="connsiteY4" fmla="*/ 356616 h 713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3231" h="713232">
                <a:moveTo>
                  <a:pt x="713232" y="356616"/>
                </a:moveTo>
                <a:cubicBezTo>
                  <a:pt x="713232" y="553570"/>
                  <a:pt x="553570" y="713232"/>
                  <a:pt x="356616" y="713232"/>
                </a:cubicBezTo>
                <a:cubicBezTo>
                  <a:pt x="159663" y="713232"/>
                  <a:pt x="0" y="553570"/>
                  <a:pt x="0" y="356616"/>
                </a:cubicBezTo>
                <a:cubicBezTo>
                  <a:pt x="0" y="159662"/>
                  <a:pt x="159663" y="0"/>
                  <a:pt x="356616" y="0"/>
                </a:cubicBezTo>
                <a:cubicBezTo>
                  <a:pt x="553570" y="0"/>
                  <a:pt x="713232" y="159662"/>
                  <a:pt x="713232" y="356616"/>
                </a:cubicBezTo>
                <a:close/>
              </a:path>
            </a:pathLst>
          </a:custGeom>
          <a:solidFill>
            <a:schemeClr val="accent5"/>
          </a:solidFill>
          <a:ln w="7620" cap="flat">
            <a:noFill/>
            <a:prstDash val="solid"/>
            <a:miter/>
          </a:ln>
        </p:spPr>
        <p:txBody>
          <a:bodyPr rtlCol="0" anchor="ctr"/>
          <a:lstStyle/>
          <a:p>
            <a:pPr algn="ctr"/>
            <a:r>
              <a:rPr lang="en-US" altLang="zh-CN" b="1" dirty="0">
                <a:solidFill>
                  <a:schemeClr val="bg1"/>
                </a:solidFill>
                <a:latin typeface="微软雅黑" panose="020B0503020204020204" charset="-122"/>
                <a:ea typeface="微软雅黑" panose="020B0503020204020204" charset="-122"/>
                <a:cs typeface="微软雅黑" panose="020B0503020204020204" charset="-122"/>
              </a:rPr>
              <a:t>Q3</a:t>
            </a:r>
            <a:endParaRPr lang="en-US" altLang="zh-CN"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2" name="任意形状 21"/>
          <p:cNvSpPr/>
          <p:nvPr/>
        </p:nvSpPr>
        <p:spPr>
          <a:xfrm>
            <a:off x="6208395" y="1860550"/>
            <a:ext cx="76200" cy="4395470"/>
          </a:xfrm>
          <a:custGeom>
            <a:avLst/>
            <a:gdLst>
              <a:gd name="connsiteX0" fmla="*/ 0 w 7620"/>
              <a:gd name="connsiteY0" fmla="*/ 3888486 h 3888486"/>
              <a:gd name="connsiteX1" fmla="*/ 0 w 7620"/>
              <a:gd name="connsiteY1" fmla="*/ 0 h 3888486"/>
            </a:gdLst>
            <a:ahLst/>
            <a:cxnLst>
              <a:cxn ang="0">
                <a:pos x="connsiteX0" y="connsiteY0"/>
              </a:cxn>
              <a:cxn ang="0">
                <a:pos x="connsiteX1" y="connsiteY1"/>
              </a:cxn>
            </a:cxnLst>
            <a:rect l="l" t="t" r="r" b="b"/>
            <a:pathLst>
              <a:path w="7620" h="3888486">
                <a:moveTo>
                  <a:pt x="0" y="3888486"/>
                </a:moveTo>
                <a:lnTo>
                  <a:pt x="0" y="0"/>
                </a:lnTo>
              </a:path>
            </a:pathLst>
          </a:custGeom>
          <a:ln w="15875" cap="flat">
            <a:solidFill>
              <a:schemeClr val="tx2">
                <a:lumMod val="40000"/>
                <a:lumOff val="6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8" name="任意形状 17"/>
          <p:cNvSpPr/>
          <p:nvPr/>
        </p:nvSpPr>
        <p:spPr>
          <a:xfrm>
            <a:off x="3158342" y="1143763"/>
            <a:ext cx="713232" cy="713232"/>
          </a:xfrm>
          <a:custGeom>
            <a:avLst/>
            <a:gdLst>
              <a:gd name="connsiteX0" fmla="*/ 713232 w 713232"/>
              <a:gd name="connsiteY0" fmla="*/ 356616 h 713232"/>
              <a:gd name="connsiteX1" fmla="*/ 356616 w 713232"/>
              <a:gd name="connsiteY1" fmla="*/ 713232 h 713232"/>
              <a:gd name="connsiteX2" fmla="*/ 0 w 713232"/>
              <a:gd name="connsiteY2" fmla="*/ 356616 h 713232"/>
              <a:gd name="connsiteX3" fmla="*/ 356616 w 713232"/>
              <a:gd name="connsiteY3" fmla="*/ 0 h 713232"/>
              <a:gd name="connsiteX4" fmla="*/ 713232 w 713232"/>
              <a:gd name="connsiteY4" fmla="*/ 356616 h 713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3232" h="713232">
                <a:moveTo>
                  <a:pt x="713232" y="356616"/>
                </a:moveTo>
                <a:cubicBezTo>
                  <a:pt x="713232" y="553570"/>
                  <a:pt x="553570" y="713232"/>
                  <a:pt x="356616" y="713232"/>
                </a:cubicBezTo>
                <a:cubicBezTo>
                  <a:pt x="159663" y="713232"/>
                  <a:pt x="0" y="553570"/>
                  <a:pt x="0" y="356616"/>
                </a:cubicBezTo>
                <a:cubicBezTo>
                  <a:pt x="0" y="159662"/>
                  <a:pt x="159663" y="0"/>
                  <a:pt x="356616" y="0"/>
                </a:cubicBezTo>
                <a:cubicBezTo>
                  <a:pt x="553570" y="0"/>
                  <a:pt x="713232" y="159662"/>
                  <a:pt x="713232" y="356616"/>
                </a:cubicBezTo>
                <a:close/>
              </a:path>
            </a:pathLst>
          </a:custGeom>
          <a:solidFill>
            <a:schemeClr val="accent1">
              <a:lumMod val="60000"/>
              <a:lumOff val="40000"/>
            </a:schemeClr>
          </a:solidFill>
          <a:ln w="7620" cap="flat">
            <a:noFill/>
            <a:prstDash val="solid"/>
            <a:miter/>
          </a:ln>
        </p:spPr>
        <p:txBody>
          <a:bodyPr rtlCol="0" anchor="ctr"/>
          <a:lstStyle/>
          <a:p>
            <a:pPr algn="ctr"/>
            <a:r>
              <a:rPr lang="en-US" altLang="zh-CN" b="1" dirty="0">
                <a:solidFill>
                  <a:schemeClr val="bg1"/>
                </a:solidFill>
                <a:latin typeface="微软雅黑" panose="020B0503020204020204" charset="-122"/>
                <a:ea typeface="微软雅黑" panose="020B0503020204020204" charset="-122"/>
                <a:cs typeface="微软雅黑" panose="020B0503020204020204" charset="-122"/>
              </a:rPr>
              <a:t>Q2</a:t>
            </a:r>
            <a:endParaRPr lang="en-US" altLang="zh-CN"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7" name="任意形状 16"/>
          <p:cNvSpPr/>
          <p:nvPr/>
        </p:nvSpPr>
        <p:spPr>
          <a:xfrm>
            <a:off x="3510915" y="1860550"/>
            <a:ext cx="76200" cy="4395470"/>
          </a:xfrm>
          <a:custGeom>
            <a:avLst/>
            <a:gdLst>
              <a:gd name="connsiteX0" fmla="*/ 0 w 7620"/>
              <a:gd name="connsiteY0" fmla="*/ 3888486 h 3888486"/>
              <a:gd name="connsiteX1" fmla="*/ 0 w 7620"/>
              <a:gd name="connsiteY1" fmla="*/ 0 h 3888486"/>
            </a:gdLst>
            <a:ahLst/>
            <a:cxnLst>
              <a:cxn ang="0">
                <a:pos x="connsiteX0" y="connsiteY0"/>
              </a:cxn>
              <a:cxn ang="0">
                <a:pos x="connsiteX1" y="connsiteY1"/>
              </a:cxn>
            </a:cxnLst>
            <a:rect l="l" t="t" r="r" b="b"/>
            <a:pathLst>
              <a:path w="7620" h="3888486">
                <a:moveTo>
                  <a:pt x="0" y="3888486"/>
                </a:moveTo>
                <a:lnTo>
                  <a:pt x="0" y="0"/>
                </a:lnTo>
              </a:path>
            </a:pathLst>
          </a:custGeom>
          <a:ln w="15875" cap="flat">
            <a:solidFill>
              <a:schemeClr val="tx2">
                <a:lumMod val="40000"/>
                <a:lumOff val="6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5" name="任意形状 8"/>
          <p:cNvSpPr/>
          <p:nvPr/>
        </p:nvSpPr>
        <p:spPr>
          <a:xfrm flipH="1">
            <a:off x="753745" y="1860550"/>
            <a:ext cx="76200" cy="4391660"/>
          </a:xfrm>
          <a:custGeom>
            <a:avLst/>
            <a:gdLst>
              <a:gd name="connsiteX0" fmla="*/ 0 w 7620"/>
              <a:gd name="connsiteY0" fmla="*/ 3888486 h 3888486"/>
              <a:gd name="connsiteX1" fmla="*/ 0 w 7620"/>
              <a:gd name="connsiteY1" fmla="*/ 0 h 3888486"/>
            </a:gdLst>
            <a:ahLst/>
            <a:cxnLst>
              <a:cxn ang="0">
                <a:pos x="connsiteX0" y="connsiteY0"/>
              </a:cxn>
              <a:cxn ang="0">
                <a:pos x="connsiteX1" y="connsiteY1"/>
              </a:cxn>
            </a:cxnLst>
            <a:rect l="l" t="t" r="r" b="b"/>
            <a:pathLst>
              <a:path w="7620" h="3888486">
                <a:moveTo>
                  <a:pt x="0" y="3888486"/>
                </a:moveTo>
                <a:lnTo>
                  <a:pt x="0" y="0"/>
                </a:lnTo>
              </a:path>
            </a:pathLst>
          </a:custGeom>
          <a:ln w="15875" cap="flat">
            <a:solidFill>
              <a:schemeClr val="tx2">
                <a:lumMod val="40000"/>
                <a:lumOff val="6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3" name="任意形状 9"/>
          <p:cNvSpPr/>
          <p:nvPr/>
        </p:nvSpPr>
        <p:spPr>
          <a:xfrm>
            <a:off x="461009" y="1143763"/>
            <a:ext cx="713232" cy="713232"/>
          </a:xfrm>
          <a:custGeom>
            <a:avLst/>
            <a:gdLst>
              <a:gd name="connsiteX0" fmla="*/ 713232 w 713232"/>
              <a:gd name="connsiteY0" fmla="*/ 356616 h 713232"/>
              <a:gd name="connsiteX1" fmla="*/ 356616 w 713232"/>
              <a:gd name="connsiteY1" fmla="*/ 713232 h 713232"/>
              <a:gd name="connsiteX2" fmla="*/ 0 w 713232"/>
              <a:gd name="connsiteY2" fmla="*/ 356616 h 713232"/>
              <a:gd name="connsiteX3" fmla="*/ 356616 w 713232"/>
              <a:gd name="connsiteY3" fmla="*/ 0 h 713232"/>
              <a:gd name="connsiteX4" fmla="*/ 713232 w 713232"/>
              <a:gd name="connsiteY4" fmla="*/ 356616 h 713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3232" h="713232">
                <a:moveTo>
                  <a:pt x="713232" y="356616"/>
                </a:moveTo>
                <a:cubicBezTo>
                  <a:pt x="713232" y="553570"/>
                  <a:pt x="553570" y="713232"/>
                  <a:pt x="356616" y="713232"/>
                </a:cubicBezTo>
                <a:cubicBezTo>
                  <a:pt x="159662" y="713232"/>
                  <a:pt x="0" y="553570"/>
                  <a:pt x="0" y="356616"/>
                </a:cubicBezTo>
                <a:cubicBezTo>
                  <a:pt x="0" y="159662"/>
                  <a:pt x="159662" y="0"/>
                  <a:pt x="356616" y="0"/>
                </a:cubicBezTo>
                <a:cubicBezTo>
                  <a:pt x="553570" y="0"/>
                  <a:pt x="713232" y="159662"/>
                  <a:pt x="713232" y="356616"/>
                </a:cubicBezTo>
                <a:close/>
              </a:path>
            </a:pathLst>
          </a:custGeom>
          <a:solidFill>
            <a:schemeClr val="accent1"/>
          </a:solidFill>
          <a:ln w="7620" cap="flat">
            <a:noFill/>
            <a:prstDash val="solid"/>
            <a:miter/>
          </a:ln>
        </p:spPr>
        <p:txBody>
          <a:bodyPr rtlCol="0" anchor="ctr"/>
          <a:lstStyle/>
          <a:p>
            <a:pPr algn="ctr"/>
            <a:r>
              <a:rPr lang="en-US" altLang="zh-CN" b="1" dirty="0">
                <a:solidFill>
                  <a:schemeClr val="bg1"/>
                </a:solidFill>
                <a:latin typeface="微软雅黑" panose="020B0503020204020204" charset="-122"/>
                <a:ea typeface="微软雅黑" panose="020B0503020204020204" charset="-122"/>
                <a:cs typeface="微软雅黑" panose="020B0503020204020204" charset="-122"/>
              </a:rPr>
              <a:t>Q1</a:t>
            </a:r>
            <a:endParaRPr lang="en-US" altLang="zh-CN" b="1" dirty="0">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41" name="组合 40"/>
          <p:cNvGrpSpPr/>
          <p:nvPr/>
        </p:nvGrpSpPr>
        <p:grpSpPr>
          <a:xfrm>
            <a:off x="683260" y="2113280"/>
            <a:ext cx="10440670" cy="756920"/>
            <a:chOff x="1076" y="3328"/>
            <a:chExt cx="16442" cy="1192"/>
          </a:xfrm>
        </p:grpSpPr>
        <p:sp>
          <p:nvSpPr>
            <p:cNvPr id="72" name="TextBox 70"/>
            <p:cNvSpPr txBox="1"/>
            <p:nvPr/>
          </p:nvSpPr>
          <p:spPr>
            <a:xfrm>
              <a:off x="1888" y="3328"/>
              <a:ext cx="1858" cy="436"/>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500"/>
                </a:spcAft>
                <a:buClrTx/>
                <a:buSzTx/>
                <a:buFontTx/>
                <a:buNone/>
                <a:defRPr/>
              </a:pPr>
              <a:r>
                <a:rPr kumimoji="0" lang="en-US" altLang="zh-CN"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01.</a:t>
              </a:r>
              <a:r>
                <a:rPr lang="zh-CN" altLang="en-US" sz="1200" b="1" noProof="1">
                  <a:solidFill>
                    <a:schemeClr val="tx2"/>
                  </a:solidFill>
                  <a:latin typeface="微软雅黑" panose="020B0503020204020204" charset="-122"/>
                  <a:ea typeface="微软雅黑" panose="020B0503020204020204" charset="-122"/>
                  <a:cs typeface="微软雅黑" panose="020B0503020204020204" charset="-122"/>
                </a:rPr>
                <a:t>业绩稳步增长</a:t>
              </a:r>
              <a:endPar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3" name="TextBox 71"/>
            <p:cNvSpPr txBox="1"/>
            <p:nvPr/>
          </p:nvSpPr>
          <p:spPr>
            <a:xfrm>
              <a:off x="1888" y="3682"/>
              <a:ext cx="2853" cy="838"/>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500"/>
                </a:spcAft>
                <a:buClrTx/>
                <a:buSzTx/>
                <a:buFontTx/>
                <a:buNone/>
                <a:defRPr/>
              </a:pP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销售额同比增长</a:t>
              </a:r>
              <a:r>
                <a:rPr kumimoji="0" lang="en-US" altLang="zh-CN"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10%</a:t>
              </a: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，完成季度目标，为全年奠定基础。</a:t>
              </a:r>
              <a:endPar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0" name="TextBox 70"/>
            <p:cNvSpPr txBox="1"/>
            <p:nvPr/>
          </p:nvSpPr>
          <p:spPr>
            <a:xfrm>
              <a:off x="6178" y="3328"/>
              <a:ext cx="1937" cy="436"/>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500"/>
                </a:spcAft>
                <a:buClrTx/>
                <a:buSzTx/>
                <a:buFontTx/>
                <a:buNone/>
                <a:defRPr/>
              </a:pPr>
              <a:r>
                <a:rPr kumimoji="0" lang="en-US" altLang="zh-CN"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01.</a:t>
              </a:r>
              <a:r>
                <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新型产品上线</a:t>
              </a:r>
              <a:endPar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1" name="TextBox 71"/>
            <p:cNvSpPr txBox="1"/>
            <p:nvPr/>
          </p:nvSpPr>
          <p:spPr>
            <a:xfrm>
              <a:off x="6178" y="3682"/>
              <a:ext cx="2853" cy="838"/>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500"/>
                </a:spcAft>
                <a:buClrTx/>
                <a:buSzTx/>
                <a:buFontTx/>
                <a:buNone/>
                <a:defRPr/>
              </a:pP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成功推出</a:t>
              </a:r>
              <a:r>
                <a:rPr kumimoji="0" lang="en-US" altLang="zh-CN"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1</a:t>
              </a: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款新产品，市场反馈良好，销售额贡献显著。</a:t>
              </a:r>
              <a:endPar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7" name="TextBox 70"/>
            <p:cNvSpPr txBox="1"/>
            <p:nvPr/>
          </p:nvSpPr>
          <p:spPr>
            <a:xfrm>
              <a:off x="10425" y="3328"/>
              <a:ext cx="1853" cy="436"/>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500"/>
                </a:spcAft>
                <a:buClrTx/>
                <a:buSzTx/>
                <a:buFontTx/>
                <a:buNone/>
                <a:defRPr/>
              </a:pPr>
              <a:r>
                <a:rPr kumimoji="0" lang="en-US" altLang="zh-CN"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01.</a:t>
              </a:r>
              <a:r>
                <a:rPr lang="zh-CN" altLang="en-US" sz="1200" b="1" noProof="1">
                  <a:solidFill>
                    <a:schemeClr val="tx2"/>
                  </a:solidFill>
                  <a:latin typeface="微软雅黑" panose="020B0503020204020204" charset="-122"/>
                  <a:ea typeface="微软雅黑" panose="020B0503020204020204" charset="-122"/>
                  <a:cs typeface="微软雅黑" panose="020B0503020204020204" charset="-122"/>
                </a:rPr>
                <a:t>重点项目推进</a:t>
              </a:r>
              <a:endPar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8" name="TextBox 71"/>
            <p:cNvSpPr txBox="1"/>
            <p:nvPr/>
          </p:nvSpPr>
          <p:spPr>
            <a:xfrm>
              <a:off x="10425" y="3682"/>
              <a:ext cx="2853" cy="838"/>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500"/>
                </a:spcAft>
                <a:buClrTx/>
                <a:buSzTx/>
                <a:buFontTx/>
                <a:buNone/>
                <a:defRPr/>
              </a:pP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完成</a:t>
              </a:r>
              <a:r>
                <a:rPr kumimoji="0" lang="en-US" altLang="zh-CN"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a:t>
              </a: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个重点项目，进度符合预期，为年底目标提供保障。</a:t>
              </a:r>
              <a:endPar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4" name="TextBox 70"/>
            <p:cNvSpPr txBox="1"/>
            <p:nvPr/>
          </p:nvSpPr>
          <p:spPr>
            <a:xfrm>
              <a:off x="14666" y="3330"/>
              <a:ext cx="1931" cy="434"/>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500"/>
                </a:spcAft>
                <a:buClrTx/>
                <a:buSzTx/>
                <a:buFontTx/>
                <a:buNone/>
                <a:defRPr/>
              </a:pPr>
              <a:r>
                <a:rPr kumimoji="0" lang="en-US" altLang="zh-CN"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01.</a:t>
              </a:r>
              <a:r>
                <a:rPr lang="zh-CN" altLang="en-US" sz="1200" b="1" noProof="1">
                  <a:solidFill>
                    <a:schemeClr val="tx2"/>
                  </a:solidFill>
                  <a:latin typeface="微软雅黑" panose="020B0503020204020204" charset="-122"/>
                  <a:ea typeface="微软雅黑" panose="020B0503020204020204" charset="-122"/>
                  <a:cs typeface="微软雅黑" panose="020B0503020204020204" charset="-122"/>
                </a:rPr>
                <a:t>年度目标达成</a:t>
              </a:r>
              <a:endPar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5" name="TextBox 71"/>
            <p:cNvSpPr txBox="1"/>
            <p:nvPr/>
          </p:nvSpPr>
          <p:spPr>
            <a:xfrm>
              <a:off x="14666" y="3682"/>
              <a:ext cx="2853" cy="838"/>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500"/>
                </a:spcAft>
                <a:buClrTx/>
                <a:buSzTx/>
                <a:buFontTx/>
                <a:buNone/>
                <a:defRPr/>
              </a:pP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超额完成全年销售目标，同比增长</a:t>
              </a:r>
              <a:r>
                <a:rPr kumimoji="0" lang="en-US" altLang="zh-CN"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15%</a:t>
              </a: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，业绩表现优异。</a:t>
              </a:r>
              <a:endPar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1" name="任意形状 50"/>
            <p:cNvSpPr/>
            <p:nvPr/>
          </p:nvSpPr>
          <p:spPr>
            <a:xfrm>
              <a:off x="13820" y="3379"/>
              <a:ext cx="422" cy="422"/>
            </a:xfrm>
            <a:custGeom>
              <a:avLst/>
              <a:gdLst>
                <a:gd name="connsiteX0" fmla="*/ 268224 w 268223"/>
                <a:gd name="connsiteY0" fmla="*/ 134112 h 268224"/>
                <a:gd name="connsiteX1" fmla="*/ 134112 w 268223"/>
                <a:gd name="connsiteY1" fmla="*/ 268224 h 268224"/>
                <a:gd name="connsiteX2" fmla="*/ 0 w 268223"/>
                <a:gd name="connsiteY2" fmla="*/ 134112 h 268224"/>
                <a:gd name="connsiteX3" fmla="*/ 134112 w 268223"/>
                <a:gd name="connsiteY3" fmla="*/ 0 h 268224"/>
                <a:gd name="connsiteX4" fmla="*/ 268224 w 268223"/>
                <a:gd name="connsiteY4" fmla="*/ 134112 h 268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3" h="268224">
                  <a:moveTo>
                    <a:pt x="268224" y="134112"/>
                  </a:moveTo>
                  <a:cubicBezTo>
                    <a:pt x="268224" y="208180"/>
                    <a:pt x="208180" y="268224"/>
                    <a:pt x="134112" y="268224"/>
                  </a:cubicBezTo>
                  <a:cubicBezTo>
                    <a:pt x="60044" y="268224"/>
                    <a:pt x="0" y="208180"/>
                    <a:pt x="0" y="134112"/>
                  </a:cubicBezTo>
                  <a:cubicBezTo>
                    <a:pt x="0" y="60044"/>
                    <a:pt x="60044" y="0"/>
                    <a:pt x="134112" y="0"/>
                  </a:cubicBezTo>
                  <a:cubicBezTo>
                    <a:pt x="208180" y="0"/>
                    <a:pt x="268224" y="60044"/>
                    <a:pt x="268224" y="134112"/>
                  </a:cubicBezTo>
                  <a:close/>
                </a:path>
              </a:pathLst>
            </a:custGeom>
            <a:solidFill>
              <a:srgbClr val="FFFFFF"/>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2" name="任意形状 51"/>
            <p:cNvSpPr/>
            <p:nvPr/>
          </p:nvSpPr>
          <p:spPr>
            <a:xfrm>
              <a:off x="13820" y="3380"/>
              <a:ext cx="422" cy="422"/>
            </a:xfrm>
            <a:custGeom>
              <a:avLst/>
              <a:gdLst>
                <a:gd name="connsiteX0" fmla="*/ 115062 w 268223"/>
                <a:gd name="connsiteY0" fmla="*/ 216408 h 268224"/>
                <a:gd name="connsiteX1" fmla="*/ 36575 w 268223"/>
                <a:gd name="connsiteY1" fmla="*/ 137922 h 268224"/>
                <a:gd name="connsiteX2" fmla="*/ 67818 w 268223"/>
                <a:gd name="connsiteY2" fmla="*/ 106680 h 268224"/>
                <a:gd name="connsiteX3" fmla="*/ 115062 w 268223"/>
                <a:gd name="connsiteY3" fmla="*/ 153924 h 268224"/>
                <a:gd name="connsiteX4" fmla="*/ 201168 w 268223"/>
                <a:gd name="connsiteY4" fmla="*/ 67818 h 268224"/>
                <a:gd name="connsiteX5" fmla="*/ 232410 w 268223"/>
                <a:gd name="connsiteY5" fmla="*/ 99060 h 268224"/>
                <a:gd name="connsiteX6" fmla="*/ 115062 w 268223"/>
                <a:gd name="connsiteY6" fmla="*/ 216408 h 268224"/>
                <a:gd name="connsiteX7" fmla="*/ 134112 w 268223"/>
                <a:gd name="connsiteY7" fmla="*/ 0 h 268224"/>
                <a:gd name="connsiteX8" fmla="*/ 0 w 268223"/>
                <a:gd name="connsiteY8" fmla="*/ 134112 h 268224"/>
                <a:gd name="connsiteX9" fmla="*/ 134112 w 268223"/>
                <a:gd name="connsiteY9" fmla="*/ 268224 h 268224"/>
                <a:gd name="connsiteX10" fmla="*/ 268224 w 268223"/>
                <a:gd name="connsiteY10" fmla="*/ 134112 h 268224"/>
                <a:gd name="connsiteX11" fmla="*/ 134112 w 268223"/>
                <a:gd name="connsiteY11" fmla="*/ 0 h 268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223" h="268224">
                  <a:moveTo>
                    <a:pt x="115062" y="216408"/>
                  </a:moveTo>
                  <a:lnTo>
                    <a:pt x="36575" y="137922"/>
                  </a:lnTo>
                  <a:lnTo>
                    <a:pt x="67818" y="106680"/>
                  </a:lnTo>
                  <a:lnTo>
                    <a:pt x="115062" y="153924"/>
                  </a:lnTo>
                  <a:lnTo>
                    <a:pt x="201168" y="67818"/>
                  </a:lnTo>
                  <a:lnTo>
                    <a:pt x="232410" y="99060"/>
                  </a:lnTo>
                  <a:lnTo>
                    <a:pt x="115062" y="216408"/>
                  </a:lnTo>
                  <a:close/>
                  <a:moveTo>
                    <a:pt x="134112" y="0"/>
                  </a:moveTo>
                  <a:cubicBezTo>
                    <a:pt x="60198" y="0"/>
                    <a:pt x="0" y="60198"/>
                    <a:pt x="0" y="134112"/>
                  </a:cubicBezTo>
                  <a:cubicBezTo>
                    <a:pt x="0" y="208026"/>
                    <a:pt x="60198" y="268224"/>
                    <a:pt x="134112" y="268224"/>
                  </a:cubicBezTo>
                  <a:cubicBezTo>
                    <a:pt x="208025" y="268224"/>
                    <a:pt x="268224" y="208026"/>
                    <a:pt x="268224" y="134112"/>
                  </a:cubicBezTo>
                  <a:cubicBezTo>
                    <a:pt x="268224" y="60198"/>
                    <a:pt x="208025" y="0"/>
                    <a:pt x="134112" y="0"/>
                  </a:cubicBezTo>
                  <a:close/>
                </a:path>
              </a:pathLst>
            </a:custGeom>
            <a:solidFill>
              <a:schemeClr val="accent5">
                <a:lumMod val="60000"/>
                <a:lumOff val="40000"/>
              </a:schemeClr>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42" name="任意形状 41"/>
            <p:cNvSpPr/>
            <p:nvPr/>
          </p:nvSpPr>
          <p:spPr>
            <a:xfrm>
              <a:off x="9572" y="3379"/>
              <a:ext cx="422" cy="422"/>
            </a:xfrm>
            <a:custGeom>
              <a:avLst/>
              <a:gdLst>
                <a:gd name="connsiteX0" fmla="*/ 268224 w 268224"/>
                <a:gd name="connsiteY0" fmla="*/ 134112 h 268224"/>
                <a:gd name="connsiteX1" fmla="*/ 134112 w 268224"/>
                <a:gd name="connsiteY1" fmla="*/ 268224 h 268224"/>
                <a:gd name="connsiteX2" fmla="*/ 0 w 268224"/>
                <a:gd name="connsiteY2" fmla="*/ 134112 h 268224"/>
                <a:gd name="connsiteX3" fmla="*/ 134112 w 268224"/>
                <a:gd name="connsiteY3" fmla="*/ 0 h 268224"/>
                <a:gd name="connsiteX4" fmla="*/ 268224 w 268224"/>
                <a:gd name="connsiteY4" fmla="*/ 134112 h 268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4" h="268224">
                  <a:moveTo>
                    <a:pt x="268224" y="134112"/>
                  </a:moveTo>
                  <a:cubicBezTo>
                    <a:pt x="268224" y="208180"/>
                    <a:pt x="208180" y="268224"/>
                    <a:pt x="134112" y="268224"/>
                  </a:cubicBezTo>
                  <a:cubicBezTo>
                    <a:pt x="60044" y="268224"/>
                    <a:pt x="0" y="208180"/>
                    <a:pt x="0" y="134112"/>
                  </a:cubicBezTo>
                  <a:cubicBezTo>
                    <a:pt x="0" y="60044"/>
                    <a:pt x="60044" y="0"/>
                    <a:pt x="134112" y="0"/>
                  </a:cubicBezTo>
                  <a:cubicBezTo>
                    <a:pt x="208180" y="0"/>
                    <a:pt x="268224" y="60044"/>
                    <a:pt x="268224" y="134112"/>
                  </a:cubicBezTo>
                  <a:close/>
                </a:path>
              </a:pathLst>
            </a:custGeom>
            <a:solidFill>
              <a:srgbClr val="FFFFFF"/>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43" name="任意形状 42"/>
            <p:cNvSpPr/>
            <p:nvPr/>
          </p:nvSpPr>
          <p:spPr>
            <a:xfrm>
              <a:off x="9572" y="3380"/>
              <a:ext cx="422" cy="422"/>
            </a:xfrm>
            <a:custGeom>
              <a:avLst/>
              <a:gdLst>
                <a:gd name="connsiteX0" fmla="*/ 115062 w 268224"/>
                <a:gd name="connsiteY0" fmla="*/ 216408 h 268224"/>
                <a:gd name="connsiteX1" fmla="*/ 36576 w 268224"/>
                <a:gd name="connsiteY1" fmla="*/ 137922 h 268224"/>
                <a:gd name="connsiteX2" fmla="*/ 67818 w 268224"/>
                <a:gd name="connsiteY2" fmla="*/ 106680 h 268224"/>
                <a:gd name="connsiteX3" fmla="*/ 115062 w 268224"/>
                <a:gd name="connsiteY3" fmla="*/ 153924 h 268224"/>
                <a:gd name="connsiteX4" fmla="*/ 201168 w 268224"/>
                <a:gd name="connsiteY4" fmla="*/ 67818 h 268224"/>
                <a:gd name="connsiteX5" fmla="*/ 232410 w 268224"/>
                <a:gd name="connsiteY5" fmla="*/ 99060 h 268224"/>
                <a:gd name="connsiteX6" fmla="*/ 115062 w 268224"/>
                <a:gd name="connsiteY6" fmla="*/ 216408 h 268224"/>
                <a:gd name="connsiteX7" fmla="*/ 134112 w 268224"/>
                <a:gd name="connsiteY7" fmla="*/ 0 h 268224"/>
                <a:gd name="connsiteX8" fmla="*/ 0 w 268224"/>
                <a:gd name="connsiteY8" fmla="*/ 134112 h 268224"/>
                <a:gd name="connsiteX9" fmla="*/ 134112 w 268224"/>
                <a:gd name="connsiteY9" fmla="*/ 268224 h 268224"/>
                <a:gd name="connsiteX10" fmla="*/ 268224 w 268224"/>
                <a:gd name="connsiteY10" fmla="*/ 134112 h 268224"/>
                <a:gd name="connsiteX11" fmla="*/ 134112 w 268224"/>
                <a:gd name="connsiteY11" fmla="*/ 0 h 268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224" h="268224">
                  <a:moveTo>
                    <a:pt x="115062" y="216408"/>
                  </a:moveTo>
                  <a:lnTo>
                    <a:pt x="36576" y="137922"/>
                  </a:lnTo>
                  <a:lnTo>
                    <a:pt x="67818" y="106680"/>
                  </a:lnTo>
                  <a:lnTo>
                    <a:pt x="115062" y="153924"/>
                  </a:lnTo>
                  <a:lnTo>
                    <a:pt x="201168" y="67818"/>
                  </a:lnTo>
                  <a:lnTo>
                    <a:pt x="232410" y="99060"/>
                  </a:lnTo>
                  <a:lnTo>
                    <a:pt x="115062" y="216408"/>
                  </a:lnTo>
                  <a:close/>
                  <a:moveTo>
                    <a:pt x="134112" y="0"/>
                  </a:moveTo>
                  <a:cubicBezTo>
                    <a:pt x="60198" y="0"/>
                    <a:pt x="0" y="60198"/>
                    <a:pt x="0" y="134112"/>
                  </a:cubicBezTo>
                  <a:cubicBezTo>
                    <a:pt x="0" y="208026"/>
                    <a:pt x="60198" y="268224"/>
                    <a:pt x="134112" y="268224"/>
                  </a:cubicBezTo>
                  <a:cubicBezTo>
                    <a:pt x="208026" y="268224"/>
                    <a:pt x="268224" y="208026"/>
                    <a:pt x="268224" y="134112"/>
                  </a:cubicBezTo>
                  <a:cubicBezTo>
                    <a:pt x="268224" y="60198"/>
                    <a:pt x="208026" y="0"/>
                    <a:pt x="134112" y="0"/>
                  </a:cubicBezTo>
                  <a:close/>
                </a:path>
              </a:pathLst>
            </a:custGeom>
            <a:solidFill>
              <a:schemeClr val="accent5"/>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3" name="任意形状 32"/>
            <p:cNvSpPr/>
            <p:nvPr/>
          </p:nvSpPr>
          <p:spPr>
            <a:xfrm>
              <a:off x="5324" y="3379"/>
              <a:ext cx="420" cy="420"/>
            </a:xfrm>
            <a:custGeom>
              <a:avLst/>
              <a:gdLst>
                <a:gd name="connsiteX0" fmla="*/ 268224 w 268224"/>
                <a:gd name="connsiteY0" fmla="*/ 134112 h 268224"/>
                <a:gd name="connsiteX1" fmla="*/ 134112 w 268224"/>
                <a:gd name="connsiteY1" fmla="*/ 268224 h 268224"/>
                <a:gd name="connsiteX2" fmla="*/ 0 w 268224"/>
                <a:gd name="connsiteY2" fmla="*/ 134112 h 268224"/>
                <a:gd name="connsiteX3" fmla="*/ 134112 w 268224"/>
                <a:gd name="connsiteY3" fmla="*/ 0 h 268224"/>
                <a:gd name="connsiteX4" fmla="*/ 268224 w 268224"/>
                <a:gd name="connsiteY4" fmla="*/ 134112 h 268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4" h="268224">
                  <a:moveTo>
                    <a:pt x="268224" y="134112"/>
                  </a:moveTo>
                  <a:cubicBezTo>
                    <a:pt x="268224" y="208180"/>
                    <a:pt x="208180" y="268224"/>
                    <a:pt x="134112" y="268224"/>
                  </a:cubicBezTo>
                  <a:cubicBezTo>
                    <a:pt x="60044" y="268224"/>
                    <a:pt x="0" y="208180"/>
                    <a:pt x="0" y="134112"/>
                  </a:cubicBezTo>
                  <a:cubicBezTo>
                    <a:pt x="0" y="60044"/>
                    <a:pt x="60044" y="0"/>
                    <a:pt x="134112" y="0"/>
                  </a:cubicBezTo>
                  <a:cubicBezTo>
                    <a:pt x="208180" y="0"/>
                    <a:pt x="268224" y="60044"/>
                    <a:pt x="268224" y="134112"/>
                  </a:cubicBezTo>
                  <a:close/>
                </a:path>
              </a:pathLst>
            </a:custGeom>
            <a:solidFill>
              <a:srgbClr val="FFFFFF"/>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4" name="任意形状 33"/>
            <p:cNvSpPr/>
            <p:nvPr/>
          </p:nvSpPr>
          <p:spPr>
            <a:xfrm>
              <a:off x="5324" y="3380"/>
              <a:ext cx="420" cy="420"/>
            </a:xfrm>
            <a:custGeom>
              <a:avLst/>
              <a:gdLst>
                <a:gd name="connsiteX0" fmla="*/ 115062 w 268223"/>
                <a:gd name="connsiteY0" fmla="*/ 216408 h 268224"/>
                <a:gd name="connsiteX1" fmla="*/ 36576 w 268223"/>
                <a:gd name="connsiteY1" fmla="*/ 137922 h 268224"/>
                <a:gd name="connsiteX2" fmla="*/ 67818 w 268223"/>
                <a:gd name="connsiteY2" fmla="*/ 106680 h 268224"/>
                <a:gd name="connsiteX3" fmla="*/ 115062 w 268223"/>
                <a:gd name="connsiteY3" fmla="*/ 153924 h 268224"/>
                <a:gd name="connsiteX4" fmla="*/ 201168 w 268223"/>
                <a:gd name="connsiteY4" fmla="*/ 67818 h 268224"/>
                <a:gd name="connsiteX5" fmla="*/ 232410 w 268223"/>
                <a:gd name="connsiteY5" fmla="*/ 99060 h 268224"/>
                <a:gd name="connsiteX6" fmla="*/ 115062 w 268223"/>
                <a:gd name="connsiteY6" fmla="*/ 216408 h 268224"/>
                <a:gd name="connsiteX7" fmla="*/ 134112 w 268223"/>
                <a:gd name="connsiteY7" fmla="*/ 0 h 268224"/>
                <a:gd name="connsiteX8" fmla="*/ 0 w 268223"/>
                <a:gd name="connsiteY8" fmla="*/ 134112 h 268224"/>
                <a:gd name="connsiteX9" fmla="*/ 134112 w 268223"/>
                <a:gd name="connsiteY9" fmla="*/ 268224 h 268224"/>
                <a:gd name="connsiteX10" fmla="*/ 268224 w 268223"/>
                <a:gd name="connsiteY10" fmla="*/ 134112 h 268224"/>
                <a:gd name="connsiteX11" fmla="*/ 134112 w 268223"/>
                <a:gd name="connsiteY11" fmla="*/ 0 h 268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223" h="268224">
                  <a:moveTo>
                    <a:pt x="115062" y="216408"/>
                  </a:moveTo>
                  <a:lnTo>
                    <a:pt x="36576" y="137922"/>
                  </a:lnTo>
                  <a:lnTo>
                    <a:pt x="67818" y="106680"/>
                  </a:lnTo>
                  <a:lnTo>
                    <a:pt x="115062" y="153924"/>
                  </a:lnTo>
                  <a:lnTo>
                    <a:pt x="201168" y="67818"/>
                  </a:lnTo>
                  <a:lnTo>
                    <a:pt x="232410" y="99060"/>
                  </a:lnTo>
                  <a:lnTo>
                    <a:pt x="115062" y="216408"/>
                  </a:lnTo>
                  <a:close/>
                  <a:moveTo>
                    <a:pt x="134112" y="0"/>
                  </a:moveTo>
                  <a:cubicBezTo>
                    <a:pt x="60198" y="0"/>
                    <a:pt x="0" y="60198"/>
                    <a:pt x="0" y="134112"/>
                  </a:cubicBezTo>
                  <a:cubicBezTo>
                    <a:pt x="0" y="208026"/>
                    <a:pt x="60198" y="268224"/>
                    <a:pt x="134112" y="268224"/>
                  </a:cubicBezTo>
                  <a:cubicBezTo>
                    <a:pt x="208026" y="268224"/>
                    <a:pt x="268224" y="208026"/>
                    <a:pt x="268224" y="134112"/>
                  </a:cubicBezTo>
                  <a:cubicBezTo>
                    <a:pt x="268224" y="60198"/>
                    <a:pt x="208026" y="0"/>
                    <a:pt x="134112" y="0"/>
                  </a:cubicBezTo>
                  <a:close/>
                </a:path>
              </a:pathLst>
            </a:custGeom>
            <a:solidFill>
              <a:schemeClr val="accent1">
                <a:lumMod val="60000"/>
                <a:lumOff val="40000"/>
              </a:schemeClr>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4" name="任意形状 23"/>
            <p:cNvSpPr/>
            <p:nvPr/>
          </p:nvSpPr>
          <p:spPr>
            <a:xfrm>
              <a:off x="1076" y="3379"/>
              <a:ext cx="422" cy="422"/>
            </a:xfrm>
            <a:custGeom>
              <a:avLst/>
              <a:gdLst>
                <a:gd name="connsiteX0" fmla="*/ 268224 w 268224"/>
                <a:gd name="connsiteY0" fmla="*/ 134112 h 268224"/>
                <a:gd name="connsiteX1" fmla="*/ 134112 w 268224"/>
                <a:gd name="connsiteY1" fmla="*/ 268224 h 268224"/>
                <a:gd name="connsiteX2" fmla="*/ 0 w 268224"/>
                <a:gd name="connsiteY2" fmla="*/ 134112 h 268224"/>
                <a:gd name="connsiteX3" fmla="*/ 134112 w 268224"/>
                <a:gd name="connsiteY3" fmla="*/ 0 h 268224"/>
                <a:gd name="connsiteX4" fmla="*/ 268224 w 268224"/>
                <a:gd name="connsiteY4" fmla="*/ 134112 h 268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4" h="268224">
                  <a:moveTo>
                    <a:pt x="268224" y="134112"/>
                  </a:moveTo>
                  <a:cubicBezTo>
                    <a:pt x="268224" y="208180"/>
                    <a:pt x="208180" y="268224"/>
                    <a:pt x="134112" y="268224"/>
                  </a:cubicBezTo>
                  <a:cubicBezTo>
                    <a:pt x="60044" y="268224"/>
                    <a:pt x="0" y="208180"/>
                    <a:pt x="0" y="134112"/>
                  </a:cubicBezTo>
                  <a:cubicBezTo>
                    <a:pt x="0" y="60044"/>
                    <a:pt x="60044" y="0"/>
                    <a:pt x="134112" y="0"/>
                  </a:cubicBezTo>
                  <a:cubicBezTo>
                    <a:pt x="208180" y="0"/>
                    <a:pt x="268224" y="60044"/>
                    <a:pt x="268224" y="134112"/>
                  </a:cubicBezTo>
                  <a:close/>
                </a:path>
              </a:pathLst>
            </a:custGeom>
            <a:solidFill>
              <a:srgbClr val="FFFFFF"/>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5" name="任意形状 24"/>
            <p:cNvSpPr/>
            <p:nvPr/>
          </p:nvSpPr>
          <p:spPr>
            <a:xfrm>
              <a:off x="1076" y="3380"/>
              <a:ext cx="422" cy="422"/>
            </a:xfrm>
            <a:custGeom>
              <a:avLst/>
              <a:gdLst>
                <a:gd name="connsiteX0" fmla="*/ 115824 w 268224"/>
                <a:gd name="connsiteY0" fmla="*/ 216408 h 268224"/>
                <a:gd name="connsiteX1" fmla="*/ 37338 w 268224"/>
                <a:gd name="connsiteY1" fmla="*/ 137922 h 268224"/>
                <a:gd name="connsiteX2" fmla="*/ 68580 w 268224"/>
                <a:gd name="connsiteY2" fmla="*/ 106680 h 268224"/>
                <a:gd name="connsiteX3" fmla="*/ 115824 w 268224"/>
                <a:gd name="connsiteY3" fmla="*/ 153924 h 268224"/>
                <a:gd name="connsiteX4" fmla="*/ 201930 w 268224"/>
                <a:gd name="connsiteY4" fmla="*/ 67818 h 268224"/>
                <a:gd name="connsiteX5" fmla="*/ 233172 w 268224"/>
                <a:gd name="connsiteY5" fmla="*/ 99060 h 268224"/>
                <a:gd name="connsiteX6" fmla="*/ 115824 w 268224"/>
                <a:gd name="connsiteY6" fmla="*/ 216408 h 268224"/>
                <a:gd name="connsiteX7" fmla="*/ 134112 w 268224"/>
                <a:gd name="connsiteY7" fmla="*/ 0 h 268224"/>
                <a:gd name="connsiteX8" fmla="*/ 0 w 268224"/>
                <a:gd name="connsiteY8" fmla="*/ 134112 h 268224"/>
                <a:gd name="connsiteX9" fmla="*/ 134112 w 268224"/>
                <a:gd name="connsiteY9" fmla="*/ 268224 h 268224"/>
                <a:gd name="connsiteX10" fmla="*/ 268224 w 268224"/>
                <a:gd name="connsiteY10" fmla="*/ 134112 h 268224"/>
                <a:gd name="connsiteX11" fmla="*/ 134112 w 268224"/>
                <a:gd name="connsiteY11" fmla="*/ 0 h 268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224" h="268224">
                  <a:moveTo>
                    <a:pt x="115824" y="216408"/>
                  </a:moveTo>
                  <a:lnTo>
                    <a:pt x="37338" y="137922"/>
                  </a:lnTo>
                  <a:lnTo>
                    <a:pt x="68580" y="106680"/>
                  </a:lnTo>
                  <a:lnTo>
                    <a:pt x="115824" y="153924"/>
                  </a:lnTo>
                  <a:lnTo>
                    <a:pt x="201930" y="67818"/>
                  </a:lnTo>
                  <a:lnTo>
                    <a:pt x="233172" y="99060"/>
                  </a:lnTo>
                  <a:lnTo>
                    <a:pt x="115824" y="216408"/>
                  </a:lnTo>
                  <a:close/>
                  <a:moveTo>
                    <a:pt x="134112" y="0"/>
                  </a:moveTo>
                  <a:cubicBezTo>
                    <a:pt x="60198" y="0"/>
                    <a:pt x="0" y="60198"/>
                    <a:pt x="0" y="134112"/>
                  </a:cubicBezTo>
                  <a:cubicBezTo>
                    <a:pt x="0" y="208026"/>
                    <a:pt x="60198" y="268224"/>
                    <a:pt x="134112" y="268224"/>
                  </a:cubicBezTo>
                  <a:cubicBezTo>
                    <a:pt x="208026" y="268224"/>
                    <a:pt x="268224" y="208026"/>
                    <a:pt x="268224" y="134112"/>
                  </a:cubicBezTo>
                  <a:cubicBezTo>
                    <a:pt x="268224" y="60198"/>
                    <a:pt x="208788" y="0"/>
                    <a:pt x="134112" y="0"/>
                  </a:cubicBezTo>
                  <a:close/>
                </a:path>
              </a:pathLst>
            </a:custGeom>
            <a:solidFill>
              <a:schemeClr val="accent1"/>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38" name="组合 37"/>
          <p:cNvGrpSpPr/>
          <p:nvPr/>
        </p:nvGrpSpPr>
        <p:grpSpPr>
          <a:xfrm>
            <a:off x="683260" y="3166745"/>
            <a:ext cx="10443845" cy="782320"/>
            <a:chOff x="1076" y="5475"/>
            <a:chExt cx="16447" cy="1232"/>
          </a:xfrm>
        </p:grpSpPr>
        <p:sp>
          <p:nvSpPr>
            <p:cNvPr id="74" name="TextBox 70"/>
            <p:cNvSpPr txBox="1"/>
            <p:nvPr/>
          </p:nvSpPr>
          <p:spPr>
            <a:xfrm>
              <a:off x="1893" y="5475"/>
              <a:ext cx="1853" cy="436"/>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500"/>
                </a:spcAft>
                <a:buClrTx/>
                <a:buSzTx/>
                <a:buFontTx/>
                <a:buNone/>
                <a:defRPr/>
              </a:pPr>
              <a:r>
                <a:rPr kumimoji="0" lang="en-US" altLang="zh-CN"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02.</a:t>
              </a:r>
              <a:r>
                <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流程优化实施</a:t>
              </a:r>
              <a:endPar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6" name="TextBox 71"/>
            <p:cNvSpPr txBox="1"/>
            <p:nvPr/>
          </p:nvSpPr>
          <p:spPr>
            <a:xfrm>
              <a:off x="1893" y="5869"/>
              <a:ext cx="2853" cy="838"/>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500"/>
                </a:spcAft>
                <a:buClrTx/>
                <a:buSzTx/>
                <a:buFontTx/>
                <a:buNone/>
                <a:defRPr/>
              </a:pP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优化内部流程</a:t>
              </a:r>
              <a:r>
                <a:rPr kumimoji="0" lang="en-US" altLang="zh-CN"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a:t>
              </a: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项，效率提升</a:t>
              </a:r>
              <a:r>
                <a:rPr kumimoji="0" lang="en-US" altLang="zh-CN"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15%</a:t>
              </a: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，减少资源浪费。</a:t>
              </a:r>
              <a:endPar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2" name="TextBox 70"/>
            <p:cNvSpPr txBox="1"/>
            <p:nvPr/>
          </p:nvSpPr>
          <p:spPr>
            <a:xfrm>
              <a:off x="6183" y="5477"/>
              <a:ext cx="2082" cy="434"/>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500"/>
                </a:spcAft>
                <a:buClrTx/>
                <a:buSzTx/>
                <a:buFontTx/>
                <a:buNone/>
                <a:defRPr/>
              </a:pPr>
              <a:r>
                <a:rPr kumimoji="0" lang="en-US" altLang="zh-CN"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02.</a:t>
              </a:r>
              <a:r>
                <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成本管控见效</a:t>
              </a:r>
              <a:endPar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4" name="TextBox 71"/>
            <p:cNvSpPr txBox="1"/>
            <p:nvPr/>
          </p:nvSpPr>
          <p:spPr>
            <a:xfrm>
              <a:off x="6183" y="5869"/>
              <a:ext cx="2853" cy="838"/>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500"/>
                </a:spcAft>
                <a:buClrTx/>
                <a:buSzTx/>
                <a:buFontTx/>
                <a:buNone/>
                <a:defRPr/>
              </a:pP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通过优化采购流程，成本降低</a:t>
              </a:r>
              <a:r>
                <a:rPr kumimoji="0" lang="en-US" altLang="zh-CN"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8%</a:t>
              </a: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，利润率提升</a:t>
              </a:r>
              <a:r>
                <a:rPr kumimoji="0" lang="en-US" altLang="zh-CN"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5%</a:t>
              </a: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endPar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9" name="TextBox 70"/>
            <p:cNvSpPr txBox="1"/>
            <p:nvPr/>
          </p:nvSpPr>
          <p:spPr>
            <a:xfrm>
              <a:off x="10430" y="5475"/>
              <a:ext cx="1848" cy="436"/>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500"/>
                </a:spcAft>
                <a:buClrTx/>
                <a:buSzTx/>
                <a:buFontTx/>
                <a:buNone/>
                <a:defRPr/>
              </a:pPr>
              <a:r>
                <a:rPr kumimoji="0" lang="en-US" altLang="zh-CN"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02.</a:t>
              </a:r>
              <a:r>
                <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 部门协作加强</a:t>
              </a:r>
              <a:endPar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1" name="TextBox 71"/>
            <p:cNvSpPr txBox="1"/>
            <p:nvPr/>
          </p:nvSpPr>
          <p:spPr>
            <a:xfrm>
              <a:off x="10430" y="5869"/>
              <a:ext cx="2853" cy="838"/>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500"/>
                </a:spcAft>
                <a:buClrTx/>
                <a:buSzTx/>
                <a:buFontTx/>
                <a:buNone/>
                <a:defRPr/>
              </a:pP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组织跨部门会议</a:t>
              </a:r>
              <a:r>
                <a:rPr kumimoji="0" lang="en-US" altLang="zh-CN"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4</a:t>
              </a: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次，解决协作问题，项目交付效率提升。</a:t>
              </a:r>
              <a:endPar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6" name="TextBox 70"/>
            <p:cNvSpPr txBox="1"/>
            <p:nvPr/>
          </p:nvSpPr>
          <p:spPr>
            <a:xfrm>
              <a:off x="14671" y="5477"/>
              <a:ext cx="2320" cy="434"/>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500"/>
                </a:spcAft>
                <a:buClrTx/>
                <a:buSzTx/>
                <a:buFontTx/>
                <a:buNone/>
                <a:defRPr/>
              </a:pPr>
              <a:r>
                <a:rPr kumimoji="0" lang="en-US" altLang="zh-CN"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02.</a:t>
              </a:r>
              <a:r>
                <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问题整改落实</a:t>
              </a:r>
              <a:endPar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8" name="TextBox 71"/>
            <p:cNvSpPr txBox="1"/>
            <p:nvPr/>
          </p:nvSpPr>
          <p:spPr>
            <a:xfrm>
              <a:off x="14671" y="5869"/>
              <a:ext cx="2853" cy="838"/>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500"/>
                </a:spcAft>
                <a:buClrTx/>
                <a:buSzTx/>
                <a:buFontTx/>
                <a:buNone/>
                <a:defRPr/>
              </a:pP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针对全年问题制定整改计划，已完成</a:t>
              </a:r>
              <a:r>
                <a:rPr kumimoji="0" lang="en-US" altLang="zh-CN"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80%</a:t>
              </a: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，效果显著。</a:t>
              </a:r>
              <a:endPar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4" name="任意形状 53"/>
            <p:cNvSpPr/>
            <p:nvPr/>
          </p:nvSpPr>
          <p:spPr>
            <a:xfrm>
              <a:off x="13820" y="5522"/>
              <a:ext cx="422" cy="422"/>
            </a:xfrm>
            <a:custGeom>
              <a:avLst/>
              <a:gdLst>
                <a:gd name="connsiteX0" fmla="*/ 268224 w 268223"/>
                <a:gd name="connsiteY0" fmla="*/ 134112 h 268224"/>
                <a:gd name="connsiteX1" fmla="*/ 134112 w 268223"/>
                <a:gd name="connsiteY1" fmla="*/ 268224 h 268224"/>
                <a:gd name="connsiteX2" fmla="*/ 0 w 268223"/>
                <a:gd name="connsiteY2" fmla="*/ 134112 h 268224"/>
                <a:gd name="connsiteX3" fmla="*/ 134112 w 268223"/>
                <a:gd name="connsiteY3" fmla="*/ 0 h 268224"/>
                <a:gd name="connsiteX4" fmla="*/ 268224 w 268223"/>
                <a:gd name="connsiteY4" fmla="*/ 134112 h 268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3" h="268224">
                  <a:moveTo>
                    <a:pt x="268224" y="134112"/>
                  </a:moveTo>
                  <a:cubicBezTo>
                    <a:pt x="268224" y="208180"/>
                    <a:pt x="208180" y="268224"/>
                    <a:pt x="134112" y="268224"/>
                  </a:cubicBezTo>
                  <a:cubicBezTo>
                    <a:pt x="60044" y="268224"/>
                    <a:pt x="0" y="208180"/>
                    <a:pt x="0" y="134112"/>
                  </a:cubicBezTo>
                  <a:cubicBezTo>
                    <a:pt x="0" y="60044"/>
                    <a:pt x="60044" y="0"/>
                    <a:pt x="134112" y="0"/>
                  </a:cubicBezTo>
                  <a:cubicBezTo>
                    <a:pt x="208180" y="0"/>
                    <a:pt x="268224" y="60044"/>
                    <a:pt x="268224" y="134112"/>
                  </a:cubicBezTo>
                  <a:close/>
                </a:path>
              </a:pathLst>
            </a:custGeom>
            <a:solidFill>
              <a:srgbClr val="FFFFFF"/>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5" name="任意形状 54"/>
            <p:cNvSpPr/>
            <p:nvPr/>
          </p:nvSpPr>
          <p:spPr>
            <a:xfrm>
              <a:off x="13820" y="5522"/>
              <a:ext cx="422" cy="422"/>
            </a:xfrm>
            <a:custGeom>
              <a:avLst/>
              <a:gdLst>
                <a:gd name="connsiteX0" fmla="*/ 115062 w 268223"/>
                <a:gd name="connsiteY0" fmla="*/ 217170 h 268224"/>
                <a:gd name="connsiteX1" fmla="*/ 36575 w 268223"/>
                <a:gd name="connsiteY1" fmla="*/ 138684 h 268224"/>
                <a:gd name="connsiteX2" fmla="*/ 67818 w 268223"/>
                <a:gd name="connsiteY2" fmla="*/ 107442 h 268224"/>
                <a:gd name="connsiteX3" fmla="*/ 115062 w 268223"/>
                <a:gd name="connsiteY3" fmla="*/ 154686 h 268224"/>
                <a:gd name="connsiteX4" fmla="*/ 201168 w 268223"/>
                <a:gd name="connsiteY4" fmla="*/ 68580 h 268224"/>
                <a:gd name="connsiteX5" fmla="*/ 232410 w 268223"/>
                <a:gd name="connsiteY5" fmla="*/ 99822 h 268224"/>
                <a:gd name="connsiteX6" fmla="*/ 115062 w 268223"/>
                <a:gd name="connsiteY6" fmla="*/ 217170 h 268224"/>
                <a:gd name="connsiteX7" fmla="*/ 134112 w 268223"/>
                <a:gd name="connsiteY7" fmla="*/ 0 h 268224"/>
                <a:gd name="connsiteX8" fmla="*/ 0 w 268223"/>
                <a:gd name="connsiteY8" fmla="*/ 134112 h 268224"/>
                <a:gd name="connsiteX9" fmla="*/ 134112 w 268223"/>
                <a:gd name="connsiteY9" fmla="*/ 268224 h 268224"/>
                <a:gd name="connsiteX10" fmla="*/ 268224 w 268223"/>
                <a:gd name="connsiteY10" fmla="*/ 134112 h 268224"/>
                <a:gd name="connsiteX11" fmla="*/ 134112 w 268223"/>
                <a:gd name="connsiteY11" fmla="*/ 0 h 268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223" h="268224">
                  <a:moveTo>
                    <a:pt x="115062" y="217170"/>
                  </a:moveTo>
                  <a:lnTo>
                    <a:pt x="36575" y="138684"/>
                  </a:lnTo>
                  <a:lnTo>
                    <a:pt x="67818" y="107442"/>
                  </a:lnTo>
                  <a:lnTo>
                    <a:pt x="115062" y="154686"/>
                  </a:lnTo>
                  <a:lnTo>
                    <a:pt x="201168" y="68580"/>
                  </a:lnTo>
                  <a:lnTo>
                    <a:pt x="232410" y="99822"/>
                  </a:lnTo>
                  <a:lnTo>
                    <a:pt x="115062" y="217170"/>
                  </a:lnTo>
                  <a:close/>
                  <a:moveTo>
                    <a:pt x="134112" y="0"/>
                  </a:moveTo>
                  <a:cubicBezTo>
                    <a:pt x="60198" y="0"/>
                    <a:pt x="0" y="60198"/>
                    <a:pt x="0" y="134112"/>
                  </a:cubicBezTo>
                  <a:cubicBezTo>
                    <a:pt x="0" y="208026"/>
                    <a:pt x="60198" y="268224"/>
                    <a:pt x="134112" y="268224"/>
                  </a:cubicBezTo>
                  <a:cubicBezTo>
                    <a:pt x="208025" y="268224"/>
                    <a:pt x="268224" y="208026"/>
                    <a:pt x="268224" y="134112"/>
                  </a:cubicBezTo>
                  <a:cubicBezTo>
                    <a:pt x="267462" y="59436"/>
                    <a:pt x="208025" y="0"/>
                    <a:pt x="134112" y="0"/>
                  </a:cubicBezTo>
                  <a:close/>
                </a:path>
              </a:pathLst>
            </a:custGeom>
            <a:solidFill>
              <a:schemeClr val="accent5">
                <a:lumMod val="60000"/>
                <a:lumOff val="40000"/>
              </a:schemeClr>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45" name="任意形状 44"/>
            <p:cNvSpPr/>
            <p:nvPr/>
          </p:nvSpPr>
          <p:spPr>
            <a:xfrm>
              <a:off x="9572" y="5522"/>
              <a:ext cx="422" cy="422"/>
            </a:xfrm>
            <a:custGeom>
              <a:avLst/>
              <a:gdLst>
                <a:gd name="connsiteX0" fmla="*/ 268224 w 268224"/>
                <a:gd name="connsiteY0" fmla="*/ 134112 h 268224"/>
                <a:gd name="connsiteX1" fmla="*/ 134112 w 268224"/>
                <a:gd name="connsiteY1" fmla="*/ 268224 h 268224"/>
                <a:gd name="connsiteX2" fmla="*/ 0 w 268224"/>
                <a:gd name="connsiteY2" fmla="*/ 134112 h 268224"/>
                <a:gd name="connsiteX3" fmla="*/ 134112 w 268224"/>
                <a:gd name="connsiteY3" fmla="*/ 0 h 268224"/>
                <a:gd name="connsiteX4" fmla="*/ 268224 w 268224"/>
                <a:gd name="connsiteY4" fmla="*/ 134112 h 268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4" h="268224">
                  <a:moveTo>
                    <a:pt x="268224" y="134112"/>
                  </a:moveTo>
                  <a:cubicBezTo>
                    <a:pt x="268224" y="208180"/>
                    <a:pt x="208180" y="268224"/>
                    <a:pt x="134112" y="268224"/>
                  </a:cubicBezTo>
                  <a:cubicBezTo>
                    <a:pt x="60044" y="268224"/>
                    <a:pt x="0" y="208180"/>
                    <a:pt x="0" y="134112"/>
                  </a:cubicBezTo>
                  <a:cubicBezTo>
                    <a:pt x="0" y="60044"/>
                    <a:pt x="60044" y="0"/>
                    <a:pt x="134112" y="0"/>
                  </a:cubicBezTo>
                  <a:cubicBezTo>
                    <a:pt x="208180" y="0"/>
                    <a:pt x="268224" y="60044"/>
                    <a:pt x="268224" y="134112"/>
                  </a:cubicBezTo>
                  <a:close/>
                </a:path>
              </a:pathLst>
            </a:custGeom>
            <a:solidFill>
              <a:srgbClr val="FFFFFF"/>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46" name="任意形状 45"/>
            <p:cNvSpPr/>
            <p:nvPr/>
          </p:nvSpPr>
          <p:spPr>
            <a:xfrm>
              <a:off x="9572" y="5522"/>
              <a:ext cx="422" cy="422"/>
            </a:xfrm>
            <a:custGeom>
              <a:avLst/>
              <a:gdLst>
                <a:gd name="connsiteX0" fmla="*/ 115062 w 268224"/>
                <a:gd name="connsiteY0" fmla="*/ 217170 h 268224"/>
                <a:gd name="connsiteX1" fmla="*/ 36576 w 268224"/>
                <a:gd name="connsiteY1" fmla="*/ 138684 h 268224"/>
                <a:gd name="connsiteX2" fmla="*/ 67818 w 268224"/>
                <a:gd name="connsiteY2" fmla="*/ 107442 h 268224"/>
                <a:gd name="connsiteX3" fmla="*/ 115062 w 268224"/>
                <a:gd name="connsiteY3" fmla="*/ 154686 h 268224"/>
                <a:gd name="connsiteX4" fmla="*/ 201168 w 268224"/>
                <a:gd name="connsiteY4" fmla="*/ 68580 h 268224"/>
                <a:gd name="connsiteX5" fmla="*/ 232410 w 268224"/>
                <a:gd name="connsiteY5" fmla="*/ 99822 h 268224"/>
                <a:gd name="connsiteX6" fmla="*/ 115062 w 268224"/>
                <a:gd name="connsiteY6" fmla="*/ 217170 h 268224"/>
                <a:gd name="connsiteX7" fmla="*/ 134112 w 268224"/>
                <a:gd name="connsiteY7" fmla="*/ 0 h 268224"/>
                <a:gd name="connsiteX8" fmla="*/ 0 w 268224"/>
                <a:gd name="connsiteY8" fmla="*/ 134112 h 268224"/>
                <a:gd name="connsiteX9" fmla="*/ 134112 w 268224"/>
                <a:gd name="connsiteY9" fmla="*/ 268224 h 268224"/>
                <a:gd name="connsiteX10" fmla="*/ 268224 w 268224"/>
                <a:gd name="connsiteY10" fmla="*/ 134112 h 268224"/>
                <a:gd name="connsiteX11" fmla="*/ 134112 w 268224"/>
                <a:gd name="connsiteY11" fmla="*/ 0 h 268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224" h="268224">
                  <a:moveTo>
                    <a:pt x="115062" y="217170"/>
                  </a:moveTo>
                  <a:lnTo>
                    <a:pt x="36576" y="138684"/>
                  </a:lnTo>
                  <a:lnTo>
                    <a:pt x="67818" y="107442"/>
                  </a:lnTo>
                  <a:lnTo>
                    <a:pt x="115062" y="154686"/>
                  </a:lnTo>
                  <a:lnTo>
                    <a:pt x="201168" y="68580"/>
                  </a:lnTo>
                  <a:lnTo>
                    <a:pt x="232410" y="99822"/>
                  </a:lnTo>
                  <a:lnTo>
                    <a:pt x="115062" y="217170"/>
                  </a:lnTo>
                  <a:close/>
                  <a:moveTo>
                    <a:pt x="134112" y="0"/>
                  </a:moveTo>
                  <a:cubicBezTo>
                    <a:pt x="60198" y="0"/>
                    <a:pt x="0" y="60198"/>
                    <a:pt x="0" y="134112"/>
                  </a:cubicBezTo>
                  <a:cubicBezTo>
                    <a:pt x="0" y="208026"/>
                    <a:pt x="60198" y="268224"/>
                    <a:pt x="134112" y="268224"/>
                  </a:cubicBezTo>
                  <a:cubicBezTo>
                    <a:pt x="208026" y="268224"/>
                    <a:pt x="268224" y="208026"/>
                    <a:pt x="268224" y="134112"/>
                  </a:cubicBezTo>
                  <a:cubicBezTo>
                    <a:pt x="268224" y="59436"/>
                    <a:pt x="208026" y="0"/>
                    <a:pt x="134112" y="0"/>
                  </a:cubicBezTo>
                  <a:close/>
                </a:path>
              </a:pathLst>
            </a:custGeom>
            <a:solidFill>
              <a:schemeClr val="accent5"/>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6" name="任意形状 35"/>
            <p:cNvSpPr/>
            <p:nvPr/>
          </p:nvSpPr>
          <p:spPr>
            <a:xfrm>
              <a:off x="5324" y="5522"/>
              <a:ext cx="420" cy="420"/>
            </a:xfrm>
            <a:custGeom>
              <a:avLst/>
              <a:gdLst>
                <a:gd name="connsiteX0" fmla="*/ 268224 w 268224"/>
                <a:gd name="connsiteY0" fmla="*/ 134112 h 268224"/>
                <a:gd name="connsiteX1" fmla="*/ 134112 w 268224"/>
                <a:gd name="connsiteY1" fmla="*/ 268224 h 268224"/>
                <a:gd name="connsiteX2" fmla="*/ 0 w 268224"/>
                <a:gd name="connsiteY2" fmla="*/ 134112 h 268224"/>
                <a:gd name="connsiteX3" fmla="*/ 134112 w 268224"/>
                <a:gd name="connsiteY3" fmla="*/ 0 h 268224"/>
                <a:gd name="connsiteX4" fmla="*/ 268224 w 268224"/>
                <a:gd name="connsiteY4" fmla="*/ 134112 h 268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4" h="268224">
                  <a:moveTo>
                    <a:pt x="268224" y="134112"/>
                  </a:moveTo>
                  <a:cubicBezTo>
                    <a:pt x="268224" y="208180"/>
                    <a:pt x="208180" y="268224"/>
                    <a:pt x="134112" y="268224"/>
                  </a:cubicBezTo>
                  <a:cubicBezTo>
                    <a:pt x="60044" y="268224"/>
                    <a:pt x="0" y="208180"/>
                    <a:pt x="0" y="134112"/>
                  </a:cubicBezTo>
                  <a:cubicBezTo>
                    <a:pt x="0" y="60044"/>
                    <a:pt x="60044" y="0"/>
                    <a:pt x="134112" y="0"/>
                  </a:cubicBezTo>
                  <a:cubicBezTo>
                    <a:pt x="208180" y="0"/>
                    <a:pt x="268224" y="60044"/>
                    <a:pt x="268224" y="134112"/>
                  </a:cubicBezTo>
                  <a:close/>
                </a:path>
              </a:pathLst>
            </a:custGeom>
            <a:solidFill>
              <a:srgbClr val="FFFFFF"/>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7" name="任意形状 36"/>
            <p:cNvSpPr/>
            <p:nvPr/>
          </p:nvSpPr>
          <p:spPr>
            <a:xfrm>
              <a:off x="5324" y="5522"/>
              <a:ext cx="420" cy="420"/>
            </a:xfrm>
            <a:custGeom>
              <a:avLst/>
              <a:gdLst>
                <a:gd name="connsiteX0" fmla="*/ 115062 w 268223"/>
                <a:gd name="connsiteY0" fmla="*/ 217170 h 268224"/>
                <a:gd name="connsiteX1" fmla="*/ 36576 w 268223"/>
                <a:gd name="connsiteY1" fmla="*/ 138684 h 268224"/>
                <a:gd name="connsiteX2" fmla="*/ 67818 w 268223"/>
                <a:gd name="connsiteY2" fmla="*/ 107442 h 268224"/>
                <a:gd name="connsiteX3" fmla="*/ 115062 w 268223"/>
                <a:gd name="connsiteY3" fmla="*/ 154686 h 268224"/>
                <a:gd name="connsiteX4" fmla="*/ 201168 w 268223"/>
                <a:gd name="connsiteY4" fmla="*/ 68580 h 268224"/>
                <a:gd name="connsiteX5" fmla="*/ 232410 w 268223"/>
                <a:gd name="connsiteY5" fmla="*/ 99822 h 268224"/>
                <a:gd name="connsiteX6" fmla="*/ 115062 w 268223"/>
                <a:gd name="connsiteY6" fmla="*/ 217170 h 268224"/>
                <a:gd name="connsiteX7" fmla="*/ 134112 w 268223"/>
                <a:gd name="connsiteY7" fmla="*/ 0 h 268224"/>
                <a:gd name="connsiteX8" fmla="*/ 0 w 268223"/>
                <a:gd name="connsiteY8" fmla="*/ 134112 h 268224"/>
                <a:gd name="connsiteX9" fmla="*/ 134112 w 268223"/>
                <a:gd name="connsiteY9" fmla="*/ 268224 h 268224"/>
                <a:gd name="connsiteX10" fmla="*/ 268224 w 268223"/>
                <a:gd name="connsiteY10" fmla="*/ 134112 h 268224"/>
                <a:gd name="connsiteX11" fmla="*/ 134112 w 268223"/>
                <a:gd name="connsiteY11" fmla="*/ 0 h 268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223" h="268224">
                  <a:moveTo>
                    <a:pt x="115062" y="217170"/>
                  </a:moveTo>
                  <a:lnTo>
                    <a:pt x="36576" y="138684"/>
                  </a:lnTo>
                  <a:lnTo>
                    <a:pt x="67818" y="107442"/>
                  </a:lnTo>
                  <a:lnTo>
                    <a:pt x="115062" y="154686"/>
                  </a:lnTo>
                  <a:lnTo>
                    <a:pt x="201168" y="68580"/>
                  </a:lnTo>
                  <a:lnTo>
                    <a:pt x="232410" y="99822"/>
                  </a:lnTo>
                  <a:lnTo>
                    <a:pt x="115062" y="217170"/>
                  </a:lnTo>
                  <a:close/>
                  <a:moveTo>
                    <a:pt x="134112" y="0"/>
                  </a:moveTo>
                  <a:cubicBezTo>
                    <a:pt x="60198" y="0"/>
                    <a:pt x="0" y="60198"/>
                    <a:pt x="0" y="134112"/>
                  </a:cubicBezTo>
                  <a:cubicBezTo>
                    <a:pt x="0" y="208026"/>
                    <a:pt x="60198" y="268224"/>
                    <a:pt x="134112" y="268224"/>
                  </a:cubicBezTo>
                  <a:cubicBezTo>
                    <a:pt x="208026" y="268224"/>
                    <a:pt x="268224" y="208026"/>
                    <a:pt x="268224" y="134112"/>
                  </a:cubicBezTo>
                  <a:cubicBezTo>
                    <a:pt x="268224" y="59436"/>
                    <a:pt x="208026" y="0"/>
                    <a:pt x="134112" y="0"/>
                  </a:cubicBezTo>
                  <a:close/>
                </a:path>
              </a:pathLst>
            </a:custGeom>
            <a:solidFill>
              <a:schemeClr val="accent1">
                <a:lumMod val="60000"/>
                <a:lumOff val="40000"/>
              </a:schemeClr>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7" name="任意形状 26"/>
            <p:cNvSpPr/>
            <p:nvPr/>
          </p:nvSpPr>
          <p:spPr>
            <a:xfrm>
              <a:off x="1076" y="5522"/>
              <a:ext cx="422" cy="422"/>
            </a:xfrm>
            <a:custGeom>
              <a:avLst/>
              <a:gdLst>
                <a:gd name="connsiteX0" fmla="*/ 268224 w 268224"/>
                <a:gd name="connsiteY0" fmla="*/ 134112 h 268224"/>
                <a:gd name="connsiteX1" fmla="*/ 134112 w 268224"/>
                <a:gd name="connsiteY1" fmla="*/ 268224 h 268224"/>
                <a:gd name="connsiteX2" fmla="*/ 0 w 268224"/>
                <a:gd name="connsiteY2" fmla="*/ 134112 h 268224"/>
                <a:gd name="connsiteX3" fmla="*/ 134112 w 268224"/>
                <a:gd name="connsiteY3" fmla="*/ 0 h 268224"/>
                <a:gd name="connsiteX4" fmla="*/ 268224 w 268224"/>
                <a:gd name="connsiteY4" fmla="*/ 134112 h 268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4" h="268224">
                  <a:moveTo>
                    <a:pt x="268224" y="134112"/>
                  </a:moveTo>
                  <a:cubicBezTo>
                    <a:pt x="268224" y="208180"/>
                    <a:pt x="208180" y="268224"/>
                    <a:pt x="134112" y="268224"/>
                  </a:cubicBezTo>
                  <a:cubicBezTo>
                    <a:pt x="60044" y="268224"/>
                    <a:pt x="0" y="208180"/>
                    <a:pt x="0" y="134112"/>
                  </a:cubicBezTo>
                  <a:cubicBezTo>
                    <a:pt x="0" y="60044"/>
                    <a:pt x="60044" y="0"/>
                    <a:pt x="134112" y="0"/>
                  </a:cubicBezTo>
                  <a:cubicBezTo>
                    <a:pt x="208180" y="0"/>
                    <a:pt x="268224" y="60044"/>
                    <a:pt x="268224" y="134112"/>
                  </a:cubicBezTo>
                  <a:close/>
                </a:path>
              </a:pathLst>
            </a:custGeom>
            <a:solidFill>
              <a:srgbClr val="FFFFFF"/>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28" name="任意形状 27"/>
            <p:cNvSpPr/>
            <p:nvPr/>
          </p:nvSpPr>
          <p:spPr>
            <a:xfrm>
              <a:off x="1076" y="5522"/>
              <a:ext cx="422" cy="422"/>
            </a:xfrm>
            <a:custGeom>
              <a:avLst/>
              <a:gdLst>
                <a:gd name="connsiteX0" fmla="*/ 115824 w 268224"/>
                <a:gd name="connsiteY0" fmla="*/ 217170 h 268224"/>
                <a:gd name="connsiteX1" fmla="*/ 37338 w 268224"/>
                <a:gd name="connsiteY1" fmla="*/ 138684 h 268224"/>
                <a:gd name="connsiteX2" fmla="*/ 68580 w 268224"/>
                <a:gd name="connsiteY2" fmla="*/ 107442 h 268224"/>
                <a:gd name="connsiteX3" fmla="*/ 115824 w 268224"/>
                <a:gd name="connsiteY3" fmla="*/ 154686 h 268224"/>
                <a:gd name="connsiteX4" fmla="*/ 201930 w 268224"/>
                <a:gd name="connsiteY4" fmla="*/ 68580 h 268224"/>
                <a:gd name="connsiteX5" fmla="*/ 233172 w 268224"/>
                <a:gd name="connsiteY5" fmla="*/ 99822 h 268224"/>
                <a:gd name="connsiteX6" fmla="*/ 115824 w 268224"/>
                <a:gd name="connsiteY6" fmla="*/ 217170 h 268224"/>
                <a:gd name="connsiteX7" fmla="*/ 134112 w 268224"/>
                <a:gd name="connsiteY7" fmla="*/ 0 h 268224"/>
                <a:gd name="connsiteX8" fmla="*/ 0 w 268224"/>
                <a:gd name="connsiteY8" fmla="*/ 134112 h 268224"/>
                <a:gd name="connsiteX9" fmla="*/ 134112 w 268224"/>
                <a:gd name="connsiteY9" fmla="*/ 268224 h 268224"/>
                <a:gd name="connsiteX10" fmla="*/ 268224 w 268224"/>
                <a:gd name="connsiteY10" fmla="*/ 134112 h 268224"/>
                <a:gd name="connsiteX11" fmla="*/ 134112 w 268224"/>
                <a:gd name="connsiteY11" fmla="*/ 0 h 268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224" h="268224">
                  <a:moveTo>
                    <a:pt x="115824" y="217170"/>
                  </a:moveTo>
                  <a:lnTo>
                    <a:pt x="37338" y="138684"/>
                  </a:lnTo>
                  <a:lnTo>
                    <a:pt x="68580" y="107442"/>
                  </a:lnTo>
                  <a:lnTo>
                    <a:pt x="115824" y="154686"/>
                  </a:lnTo>
                  <a:lnTo>
                    <a:pt x="201930" y="68580"/>
                  </a:lnTo>
                  <a:lnTo>
                    <a:pt x="233172" y="99822"/>
                  </a:lnTo>
                  <a:lnTo>
                    <a:pt x="115824" y="217170"/>
                  </a:lnTo>
                  <a:close/>
                  <a:moveTo>
                    <a:pt x="134112" y="0"/>
                  </a:moveTo>
                  <a:cubicBezTo>
                    <a:pt x="60198" y="0"/>
                    <a:pt x="0" y="60198"/>
                    <a:pt x="0" y="134112"/>
                  </a:cubicBezTo>
                  <a:cubicBezTo>
                    <a:pt x="0" y="208026"/>
                    <a:pt x="60198" y="268224"/>
                    <a:pt x="134112" y="268224"/>
                  </a:cubicBezTo>
                  <a:cubicBezTo>
                    <a:pt x="208026" y="268224"/>
                    <a:pt x="268224" y="208026"/>
                    <a:pt x="268224" y="134112"/>
                  </a:cubicBezTo>
                  <a:cubicBezTo>
                    <a:pt x="268224" y="59436"/>
                    <a:pt x="208788" y="0"/>
                    <a:pt x="134112" y="0"/>
                  </a:cubicBezTo>
                  <a:close/>
                </a:path>
              </a:pathLst>
            </a:custGeom>
            <a:solidFill>
              <a:schemeClr val="accent1"/>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35" name="组合 34"/>
          <p:cNvGrpSpPr/>
          <p:nvPr/>
        </p:nvGrpSpPr>
        <p:grpSpPr>
          <a:xfrm>
            <a:off x="683260" y="4245610"/>
            <a:ext cx="10473055" cy="788670"/>
            <a:chOff x="1076" y="7488"/>
            <a:chExt cx="16493" cy="1242"/>
          </a:xfrm>
        </p:grpSpPr>
        <p:sp>
          <p:nvSpPr>
            <p:cNvPr id="75" name="TextBox 70"/>
            <p:cNvSpPr txBox="1"/>
            <p:nvPr/>
          </p:nvSpPr>
          <p:spPr>
            <a:xfrm>
              <a:off x="1900" y="7488"/>
              <a:ext cx="1846" cy="436"/>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500"/>
                </a:spcAft>
                <a:buClrTx/>
                <a:buSzTx/>
                <a:buFontTx/>
                <a:buNone/>
                <a:defRPr/>
              </a:pPr>
              <a:r>
                <a:rPr kumimoji="0" lang="en-US" altLang="zh-CN"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03.</a:t>
              </a:r>
              <a:r>
                <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团队能力提升</a:t>
              </a:r>
              <a:endPar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7" name="TextBox 71"/>
            <p:cNvSpPr txBox="1"/>
            <p:nvPr/>
          </p:nvSpPr>
          <p:spPr>
            <a:xfrm>
              <a:off x="1939" y="7892"/>
              <a:ext cx="2853" cy="838"/>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500"/>
                </a:spcAft>
                <a:buClrTx/>
                <a:buSzTx/>
                <a:buFontTx/>
                <a:buNone/>
                <a:defRPr/>
              </a:pP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组织培训</a:t>
              </a:r>
              <a:r>
                <a:rPr kumimoji="0" lang="en-US" altLang="zh-CN"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3</a:t>
              </a: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次，员工技能显著提高，团队协作更加顺畅。</a:t>
              </a:r>
              <a:endPar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3" name="TextBox 70"/>
            <p:cNvSpPr txBox="1"/>
            <p:nvPr/>
          </p:nvSpPr>
          <p:spPr>
            <a:xfrm>
              <a:off x="6190" y="7488"/>
              <a:ext cx="2075" cy="436"/>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500"/>
                </a:spcAft>
                <a:buClrTx/>
                <a:buSzTx/>
                <a:buFontTx/>
                <a:buNone/>
                <a:defRPr/>
              </a:pPr>
              <a:r>
                <a:rPr kumimoji="0" lang="en-US" altLang="zh-CN"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03.</a:t>
              </a:r>
              <a:r>
                <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客户满意度提升</a:t>
              </a:r>
              <a:endPar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5" name="TextBox 71"/>
            <p:cNvSpPr txBox="1"/>
            <p:nvPr/>
          </p:nvSpPr>
          <p:spPr>
            <a:xfrm>
              <a:off x="6229" y="7892"/>
              <a:ext cx="2853" cy="838"/>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500"/>
                </a:spcAft>
                <a:buClrTx/>
                <a:buSzTx/>
                <a:buFontTx/>
                <a:buNone/>
                <a:defRPr/>
              </a:pP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客户投诉率下降</a:t>
              </a:r>
              <a:r>
                <a:rPr kumimoji="0" lang="en-US" altLang="zh-CN"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20%</a:t>
              </a: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，服务质量改善，客户忠诚度增强。</a:t>
              </a:r>
              <a:endPar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0" name="TextBox 70"/>
            <p:cNvSpPr txBox="1"/>
            <p:nvPr/>
          </p:nvSpPr>
          <p:spPr>
            <a:xfrm>
              <a:off x="10437" y="7488"/>
              <a:ext cx="1841" cy="436"/>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500"/>
                </a:spcAft>
                <a:buClrTx/>
                <a:buSzTx/>
                <a:buFontTx/>
                <a:buNone/>
                <a:defRPr/>
              </a:pPr>
              <a:r>
                <a:rPr kumimoji="0" lang="en-US" altLang="zh-CN"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03.</a:t>
              </a:r>
              <a:r>
                <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市场扩展成果</a:t>
              </a:r>
              <a:endPar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2" name="TextBox 71"/>
            <p:cNvSpPr txBox="1"/>
            <p:nvPr/>
          </p:nvSpPr>
          <p:spPr>
            <a:xfrm>
              <a:off x="10476" y="7892"/>
              <a:ext cx="2853" cy="838"/>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500"/>
                </a:spcAft>
                <a:buClrTx/>
                <a:buSzTx/>
                <a:buFontTx/>
                <a:buNone/>
                <a:defRPr/>
              </a:pP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新增合作客户</a:t>
              </a:r>
              <a:r>
                <a:rPr kumimoji="0" lang="en-US" altLang="zh-CN"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5</a:t>
              </a: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家，市场份额扩大，品牌影响力提升。</a:t>
              </a:r>
              <a:endPar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7" name="TextBox 70"/>
            <p:cNvSpPr txBox="1"/>
            <p:nvPr/>
          </p:nvSpPr>
          <p:spPr>
            <a:xfrm>
              <a:off x="14678" y="7488"/>
              <a:ext cx="1919" cy="436"/>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500"/>
                </a:spcAft>
                <a:buClrTx/>
                <a:buSzTx/>
                <a:buFontTx/>
                <a:buNone/>
                <a:defRPr/>
              </a:pPr>
              <a:r>
                <a:rPr kumimoji="0" lang="en-US" altLang="zh-CN"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03.</a:t>
              </a:r>
              <a:r>
                <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明年规划启动</a:t>
              </a:r>
              <a:endPar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9" name="TextBox 71"/>
            <p:cNvSpPr txBox="1"/>
            <p:nvPr/>
          </p:nvSpPr>
          <p:spPr>
            <a:xfrm>
              <a:off x="14717" y="7892"/>
              <a:ext cx="2853" cy="838"/>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500"/>
                </a:spcAft>
                <a:buClrTx/>
                <a:buSzTx/>
                <a:buFontTx/>
                <a:buNone/>
                <a:defRPr/>
              </a:pP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制定下年度工作计划，明确目标与重点，为开局做好准备。</a:t>
              </a:r>
              <a:endPar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 name="任意形状 56"/>
            <p:cNvSpPr/>
            <p:nvPr/>
          </p:nvSpPr>
          <p:spPr>
            <a:xfrm>
              <a:off x="13820" y="7538"/>
              <a:ext cx="422" cy="422"/>
            </a:xfrm>
            <a:custGeom>
              <a:avLst/>
              <a:gdLst>
                <a:gd name="connsiteX0" fmla="*/ 268224 w 268223"/>
                <a:gd name="connsiteY0" fmla="*/ 134112 h 268224"/>
                <a:gd name="connsiteX1" fmla="*/ 134112 w 268223"/>
                <a:gd name="connsiteY1" fmla="*/ 268224 h 268224"/>
                <a:gd name="connsiteX2" fmla="*/ 0 w 268223"/>
                <a:gd name="connsiteY2" fmla="*/ 134112 h 268224"/>
                <a:gd name="connsiteX3" fmla="*/ 134112 w 268223"/>
                <a:gd name="connsiteY3" fmla="*/ 0 h 268224"/>
                <a:gd name="connsiteX4" fmla="*/ 268224 w 268223"/>
                <a:gd name="connsiteY4" fmla="*/ 134112 h 268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3" h="268224">
                  <a:moveTo>
                    <a:pt x="268224" y="134112"/>
                  </a:moveTo>
                  <a:cubicBezTo>
                    <a:pt x="268224" y="208180"/>
                    <a:pt x="208180" y="268224"/>
                    <a:pt x="134112" y="268224"/>
                  </a:cubicBezTo>
                  <a:cubicBezTo>
                    <a:pt x="60044" y="268224"/>
                    <a:pt x="0" y="208180"/>
                    <a:pt x="0" y="134112"/>
                  </a:cubicBezTo>
                  <a:cubicBezTo>
                    <a:pt x="0" y="60044"/>
                    <a:pt x="60044" y="0"/>
                    <a:pt x="134112" y="0"/>
                  </a:cubicBezTo>
                  <a:cubicBezTo>
                    <a:pt x="208180" y="0"/>
                    <a:pt x="268224" y="60044"/>
                    <a:pt x="268224" y="134112"/>
                  </a:cubicBezTo>
                  <a:close/>
                </a:path>
              </a:pathLst>
            </a:custGeom>
            <a:solidFill>
              <a:srgbClr val="FFFFFF"/>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8" name="任意形状 57"/>
            <p:cNvSpPr/>
            <p:nvPr/>
          </p:nvSpPr>
          <p:spPr>
            <a:xfrm>
              <a:off x="13820" y="7538"/>
              <a:ext cx="422" cy="422"/>
            </a:xfrm>
            <a:custGeom>
              <a:avLst/>
              <a:gdLst>
                <a:gd name="connsiteX0" fmla="*/ 115062 w 268223"/>
                <a:gd name="connsiteY0" fmla="*/ 217170 h 268224"/>
                <a:gd name="connsiteX1" fmla="*/ 36575 w 268223"/>
                <a:gd name="connsiteY1" fmla="*/ 138684 h 268224"/>
                <a:gd name="connsiteX2" fmla="*/ 67818 w 268223"/>
                <a:gd name="connsiteY2" fmla="*/ 107442 h 268224"/>
                <a:gd name="connsiteX3" fmla="*/ 115062 w 268223"/>
                <a:gd name="connsiteY3" fmla="*/ 154686 h 268224"/>
                <a:gd name="connsiteX4" fmla="*/ 201168 w 268223"/>
                <a:gd name="connsiteY4" fmla="*/ 68580 h 268224"/>
                <a:gd name="connsiteX5" fmla="*/ 232410 w 268223"/>
                <a:gd name="connsiteY5" fmla="*/ 99822 h 268224"/>
                <a:gd name="connsiteX6" fmla="*/ 115062 w 268223"/>
                <a:gd name="connsiteY6" fmla="*/ 217170 h 268224"/>
                <a:gd name="connsiteX7" fmla="*/ 134112 w 268223"/>
                <a:gd name="connsiteY7" fmla="*/ 0 h 268224"/>
                <a:gd name="connsiteX8" fmla="*/ 0 w 268223"/>
                <a:gd name="connsiteY8" fmla="*/ 134112 h 268224"/>
                <a:gd name="connsiteX9" fmla="*/ 134112 w 268223"/>
                <a:gd name="connsiteY9" fmla="*/ 268224 h 268224"/>
                <a:gd name="connsiteX10" fmla="*/ 268224 w 268223"/>
                <a:gd name="connsiteY10" fmla="*/ 134112 h 268224"/>
                <a:gd name="connsiteX11" fmla="*/ 134112 w 268223"/>
                <a:gd name="connsiteY11" fmla="*/ 0 h 268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223" h="268224">
                  <a:moveTo>
                    <a:pt x="115062" y="217170"/>
                  </a:moveTo>
                  <a:lnTo>
                    <a:pt x="36575" y="138684"/>
                  </a:lnTo>
                  <a:lnTo>
                    <a:pt x="67818" y="107442"/>
                  </a:lnTo>
                  <a:lnTo>
                    <a:pt x="115062" y="154686"/>
                  </a:lnTo>
                  <a:lnTo>
                    <a:pt x="201168" y="68580"/>
                  </a:lnTo>
                  <a:lnTo>
                    <a:pt x="232410" y="99822"/>
                  </a:lnTo>
                  <a:lnTo>
                    <a:pt x="115062" y="217170"/>
                  </a:lnTo>
                  <a:close/>
                  <a:moveTo>
                    <a:pt x="134112" y="0"/>
                  </a:moveTo>
                  <a:cubicBezTo>
                    <a:pt x="60198" y="0"/>
                    <a:pt x="0" y="60198"/>
                    <a:pt x="0" y="134112"/>
                  </a:cubicBezTo>
                  <a:cubicBezTo>
                    <a:pt x="0" y="208026"/>
                    <a:pt x="60198" y="268224"/>
                    <a:pt x="134112" y="268224"/>
                  </a:cubicBezTo>
                  <a:cubicBezTo>
                    <a:pt x="208025" y="268224"/>
                    <a:pt x="268224" y="208026"/>
                    <a:pt x="268224" y="134112"/>
                  </a:cubicBezTo>
                  <a:cubicBezTo>
                    <a:pt x="267462" y="60198"/>
                    <a:pt x="208025" y="0"/>
                    <a:pt x="134112" y="0"/>
                  </a:cubicBezTo>
                  <a:close/>
                </a:path>
              </a:pathLst>
            </a:custGeom>
            <a:solidFill>
              <a:schemeClr val="accent5">
                <a:lumMod val="60000"/>
                <a:lumOff val="40000"/>
              </a:schemeClr>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48" name="任意形状 47"/>
            <p:cNvSpPr/>
            <p:nvPr/>
          </p:nvSpPr>
          <p:spPr>
            <a:xfrm>
              <a:off x="9572" y="7538"/>
              <a:ext cx="422" cy="422"/>
            </a:xfrm>
            <a:custGeom>
              <a:avLst/>
              <a:gdLst>
                <a:gd name="connsiteX0" fmla="*/ 268224 w 268224"/>
                <a:gd name="connsiteY0" fmla="*/ 134112 h 268224"/>
                <a:gd name="connsiteX1" fmla="*/ 134112 w 268224"/>
                <a:gd name="connsiteY1" fmla="*/ 268224 h 268224"/>
                <a:gd name="connsiteX2" fmla="*/ 0 w 268224"/>
                <a:gd name="connsiteY2" fmla="*/ 134112 h 268224"/>
                <a:gd name="connsiteX3" fmla="*/ 134112 w 268224"/>
                <a:gd name="connsiteY3" fmla="*/ 0 h 268224"/>
                <a:gd name="connsiteX4" fmla="*/ 268224 w 268224"/>
                <a:gd name="connsiteY4" fmla="*/ 134112 h 268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4" h="268224">
                  <a:moveTo>
                    <a:pt x="268224" y="134112"/>
                  </a:moveTo>
                  <a:cubicBezTo>
                    <a:pt x="268224" y="208180"/>
                    <a:pt x="208180" y="268224"/>
                    <a:pt x="134112" y="268224"/>
                  </a:cubicBezTo>
                  <a:cubicBezTo>
                    <a:pt x="60044" y="268224"/>
                    <a:pt x="0" y="208180"/>
                    <a:pt x="0" y="134112"/>
                  </a:cubicBezTo>
                  <a:cubicBezTo>
                    <a:pt x="0" y="60044"/>
                    <a:pt x="60044" y="0"/>
                    <a:pt x="134112" y="0"/>
                  </a:cubicBezTo>
                  <a:cubicBezTo>
                    <a:pt x="208180" y="0"/>
                    <a:pt x="268224" y="60044"/>
                    <a:pt x="268224" y="134112"/>
                  </a:cubicBezTo>
                  <a:close/>
                </a:path>
              </a:pathLst>
            </a:custGeom>
            <a:solidFill>
              <a:srgbClr val="FFFFFF"/>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49" name="任意形状 48"/>
            <p:cNvSpPr/>
            <p:nvPr/>
          </p:nvSpPr>
          <p:spPr>
            <a:xfrm>
              <a:off x="9572" y="7538"/>
              <a:ext cx="422" cy="422"/>
            </a:xfrm>
            <a:custGeom>
              <a:avLst/>
              <a:gdLst>
                <a:gd name="connsiteX0" fmla="*/ 115062 w 268224"/>
                <a:gd name="connsiteY0" fmla="*/ 217170 h 268224"/>
                <a:gd name="connsiteX1" fmla="*/ 36576 w 268224"/>
                <a:gd name="connsiteY1" fmla="*/ 138684 h 268224"/>
                <a:gd name="connsiteX2" fmla="*/ 67818 w 268224"/>
                <a:gd name="connsiteY2" fmla="*/ 107442 h 268224"/>
                <a:gd name="connsiteX3" fmla="*/ 115062 w 268224"/>
                <a:gd name="connsiteY3" fmla="*/ 154686 h 268224"/>
                <a:gd name="connsiteX4" fmla="*/ 201168 w 268224"/>
                <a:gd name="connsiteY4" fmla="*/ 68580 h 268224"/>
                <a:gd name="connsiteX5" fmla="*/ 232410 w 268224"/>
                <a:gd name="connsiteY5" fmla="*/ 99822 h 268224"/>
                <a:gd name="connsiteX6" fmla="*/ 115062 w 268224"/>
                <a:gd name="connsiteY6" fmla="*/ 217170 h 268224"/>
                <a:gd name="connsiteX7" fmla="*/ 134112 w 268224"/>
                <a:gd name="connsiteY7" fmla="*/ 0 h 268224"/>
                <a:gd name="connsiteX8" fmla="*/ 0 w 268224"/>
                <a:gd name="connsiteY8" fmla="*/ 134112 h 268224"/>
                <a:gd name="connsiteX9" fmla="*/ 134112 w 268224"/>
                <a:gd name="connsiteY9" fmla="*/ 268224 h 268224"/>
                <a:gd name="connsiteX10" fmla="*/ 268224 w 268224"/>
                <a:gd name="connsiteY10" fmla="*/ 134112 h 268224"/>
                <a:gd name="connsiteX11" fmla="*/ 134112 w 268224"/>
                <a:gd name="connsiteY11" fmla="*/ 0 h 268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224" h="268224">
                  <a:moveTo>
                    <a:pt x="115062" y="217170"/>
                  </a:moveTo>
                  <a:lnTo>
                    <a:pt x="36576" y="138684"/>
                  </a:lnTo>
                  <a:lnTo>
                    <a:pt x="67818" y="107442"/>
                  </a:lnTo>
                  <a:lnTo>
                    <a:pt x="115062" y="154686"/>
                  </a:lnTo>
                  <a:lnTo>
                    <a:pt x="201168" y="68580"/>
                  </a:lnTo>
                  <a:lnTo>
                    <a:pt x="232410" y="99822"/>
                  </a:lnTo>
                  <a:lnTo>
                    <a:pt x="115062" y="217170"/>
                  </a:lnTo>
                  <a:close/>
                  <a:moveTo>
                    <a:pt x="134112" y="0"/>
                  </a:moveTo>
                  <a:cubicBezTo>
                    <a:pt x="60198" y="0"/>
                    <a:pt x="0" y="60198"/>
                    <a:pt x="0" y="134112"/>
                  </a:cubicBezTo>
                  <a:cubicBezTo>
                    <a:pt x="0" y="208026"/>
                    <a:pt x="60198" y="268224"/>
                    <a:pt x="134112" y="268224"/>
                  </a:cubicBezTo>
                  <a:cubicBezTo>
                    <a:pt x="208026" y="268224"/>
                    <a:pt x="268224" y="208026"/>
                    <a:pt x="268224" y="134112"/>
                  </a:cubicBezTo>
                  <a:cubicBezTo>
                    <a:pt x="268224" y="60198"/>
                    <a:pt x="208026" y="0"/>
                    <a:pt x="134112" y="0"/>
                  </a:cubicBezTo>
                  <a:close/>
                </a:path>
              </a:pathLst>
            </a:custGeom>
            <a:solidFill>
              <a:schemeClr val="accent5"/>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9" name="任意形状 38"/>
            <p:cNvSpPr/>
            <p:nvPr/>
          </p:nvSpPr>
          <p:spPr>
            <a:xfrm>
              <a:off x="5324" y="7538"/>
              <a:ext cx="420" cy="420"/>
            </a:xfrm>
            <a:custGeom>
              <a:avLst/>
              <a:gdLst>
                <a:gd name="connsiteX0" fmla="*/ 268224 w 268224"/>
                <a:gd name="connsiteY0" fmla="*/ 134112 h 268224"/>
                <a:gd name="connsiteX1" fmla="*/ 134112 w 268224"/>
                <a:gd name="connsiteY1" fmla="*/ 268224 h 268224"/>
                <a:gd name="connsiteX2" fmla="*/ 0 w 268224"/>
                <a:gd name="connsiteY2" fmla="*/ 134112 h 268224"/>
                <a:gd name="connsiteX3" fmla="*/ 134112 w 268224"/>
                <a:gd name="connsiteY3" fmla="*/ 0 h 268224"/>
                <a:gd name="connsiteX4" fmla="*/ 268224 w 268224"/>
                <a:gd name="connsiteY4" fmla="*/ 134112 h 268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4" h="268224">
                  <a:moveTo>
                    <a:pt x="268224" y="134112"/>
                  </a:moveTo>
                  <a:cubicBezTo>
                    <a:pt x="268224" y="208180"/>
                    <a:pt x="208180" y="268224"/>
                    <a:pt x="134112" y="268224"/>
                  </a:cubicBezTo>
                  <a:cubicBezTo>
                    <a:pt x="60044" y="268224"/>
                    <a:pt x="0" y="208180"/>
                    <a:pt x="0" y="134112"/>
                  </a:cubicBezTo>
                  <a:cubicBezTo>
                    <a:pt x="0" y="60044"/>
                    <a:pt x="60044" y="0"/>
                    <a:pt x="134112" y="0"/>
                  </a:cubicBezTo>
                  <a:cubicBezTo>
                    <a:pt x="208180" y="0"/>
                    <a:pt x="268224" y="60044"/>
                    <a:pt x="268224" y="134112"/>
                  </a:cubicBezTo>
                  <a:close/>
                </a:path>
              </a:pathLst>
            </a:custGeom>
            <a:solidFill>
              <a:srgbClr val="FFFFFF"/>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40" name="任意形状 39"/>
            <p:cNvSpPr/>
            <p:nvPr/>
          </p:nvSpPr>
          <p:spPr>
            <a:xfrm>
              <a:off x="5324" y="7538"/>
              <a:ext cx="420" cy="420"/>
            </a:xfrm>
            <a:custGeom>
              <a:avLst/>
              <a:gdLst>
                <a:gd name="connsiteX0" fmla="*/ 115062 w 268223"/>
                <a:gd name="connsiteY0" fmla="*/ 217170 h 268224"/>
                <a:gd name="connsiteX1" fmla="*/ 36576 w 268223"/>
                <a:gd name="connsiteY1" fmla="*/ 138684 h 268224"/>
                <a:gd name="connsiteX2" fmla="*/ 67818 w 268223"/>
                <a:gd name="connsiteY2" fmla="*/ 107442 h 268224"/>
                <a:gd name="connsiteX3" fmla="*/ 115062 w 268223"/>
                <a:gd name="connsiteY3" fmla="*/ 154686 h 268224"/>
                <a:gd name="connsiteX4" fmla="*/ 201168 w 268223"/>
                <a:gd name="connsiteY4" fmla="*/ 68580 h 268224"/>
                <a:gd name="connsiteX5" fmla="*/ 232410 w 268223"/>
                <a:gd name="connsiteY5" fmla="*/ 99822 h 268224"/>
                <a:gd name="connsiteX6" fmla="*/ 115062 w 268223"/>
                <a:gd name="connsiteY6" fmla="*/ 217170 h 268224"/>
                <a:gd name="connsiteX7" fmla="*/ 134112 w 268223"/>
                <a:gd name="connsiteY7" fmla="*/ 0 h 268224"/>
                <a:gd name="connsiteX8" fmla="*/ 0 w 268223"/>
                <a:gd name="connsiteY8" fmla="*/ 134112 h 268224"/>
                <a:gd name="connsiteX9" fmla="*/ 134112 w 268223"/>
                <a:gd name="connsiteY9" fmla="*/ 268224 h 268224"/>
                <a:gd name="connsiteX10" fmla="*/ 268224 w 268223"/>
                <a:gd name="connsiteY10" fmla="*/ 134112 h 268224"/>
                <a:gd name="connsiteX11" fmla="*/ 134112 w 268223"/>
                <a:gd name="connsiteY11" fmla="*/ 0 h 268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223" h="268224">
                  <a:moveTo>
                    <a:pt x="115062" y="217170"/>
                  </a:moveTo>
                  <a:lnTo>
                    <a:pt x="36576" y="138684"/>
                  </a:lnTo>
                  <a:lnTo>
                    <a:pt x="67818" y="107442"/>
                  </a:lnTo>
                  <a:lnTo>
                    <a:pt x="115062" y="154686"/>
                  </a:lnTo>
                  <a:lnTo>
                    <a:pt x="201168" y="68580"/>
                  </a:lnTo>
                  <a:lnTo>
                    <a:pt x="232410" y="99822"/>
                  </a:lnTo>
                  <a:lnTo>
                    <a:pt x="115062" y="217170"/>
                  </a:lnTo>
                  <a:close/>
                  <a:moveTo>
                    <a:pt x="134112" y="0"/>
                  </a:moveTo>
                  <a:cubicBezTo>
                    <a:pt x="60198" y="0"/>
                    <a:pt x="0" y="60198"/>
                    <a:pt x="0" y="134112"/>
                  </a:cubicBezTo>
                  <a:cubicBezTo>
                    <a:pt x="0" y="208026"/>
                    <a:pt x="60198" y="268224"/>
                    <a:pt x="134112" y="268224"/>
                  </a:cubicBezTo>
                  <a:cubicBezTo>
                    <a:pt x="208026" y="268224"/>
                    <a:pt x="268224" y="208026"/>
                    <a:pt x="268224" y="134112"/>
                  </a:cubicBezTo>
                  <a:cubicBezTo>
                    <a:pt x="268224" y="60198"/>
                    <a:pt x="208026" y="0"/>
                    <a:pt x="134112" y="0"/>
                  </a:cubicBezTo>
                  <a:close/>
                </a:path>
              </a:pathLst>
            </a:custGeom>
            <a:solidFill>
              <a:schemeClr val="accent1">
                <a:lumMod val="60000"/>
                <a:lumOff val="40000"/>
              </a:schemeClr>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0" name="任意形状 29"/>
            <p:cNvSpPr/>
            <p:nvPr/>
          </p:nvSpPr>
          <p:spPr>
            <a:xfrm>
              <a:off x="1076" y="7538"/>
              <a:ext cx="422" cy="422"/>
            </a:xfrm>
            <a:custGeom>
              <a:avLst/>
              <a:gdLst>
                <a:gd name="connsiteX0" fmla="*/ 268224 w 268224"/>
                <a:gd name="connsiteY0" fmla="*/ 134112 h 268224"/>
                <a:gd name="connsiteX1" fmla="*/ 134112 w 268224"/>
                <a:gd name="connsiteY1" fmla="*/ 268224 h 268224"/>
                <a:gd name="connsiteX2" fmla="*/ 0 w 268224"/>
                <a:gd name="connsiteY2" fmla="*/ 134112 h 268224"/>
                <a:gd name="connsiteX3" fmla="*/ 134112 w 268224"/>
                <a:gd name="connsiteY3" fmla="*/ 0 h 268224"/>
                <a:gd name="connsiteX4" fmla="*/ 268224 w 268224"/>
                <a:gd name="connsiteY4" fmla="*/ 134112 h 268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4" h="268224">
                  <a:moveTo>
                    <a:pt x="268224" y="134112"/>
                  </a:moveTo>
                  <a:cubicBezTo>
                    <a:pt x="268224" y="208180"/>
                    <a:pt x="208180" y="268224"/>
                    <a:pt x="134112" y="268224"/>
                  </a:cubicBezTo>
                  <a:cubicBezTo>
                    <a:pt x="60044" y="268224"/>
                    <a:pt x="0" y="208180"/>
                    <a:pt x="0" y="134112"/>
                  </a:cubicBezTo>
                  <a:cubicBezTo>
                    <a:pt x="0" y="60044"/>
                    <a:pt x="60044" y="0"/>
                    <a:pt x="134112" y="0"/>
                  </a:cubicBezTo>
                  <a:cubicBezTo>
                    <a:pt x="208180" y="0"/>
                    <a:pt x="268224" y="60044"/>
                    <a:pt x="268224" y="134112"/>
                  </a:cubicBezTo>
                  <a:close/>
                </a:path>
              </a:pathLst>
            </a:custGeom>
            <a:solidFill>
              <a:srgbClr val="FFFFFF"/>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1" name="任意形状 30"/>
            <p:cNvSpPr/>
            <p:nvPr/>
          </p:nvSpPr>
          <p:spPr>
            <a:xfrm>
              <a:off x="1076" y="7538"/>
              <a:ext cx="422" cy="422"/>
            </a:xfrm>
            <a:custGeom>
              <a:avLst/>
              <a:gdLst>
                <a:gd name="connsiteX0" fmla="*/ 115824 w 268224"/>
                <a:gd name="connsiteY0" fmla="*/ 217170 h 268224"/>
                <a:gd name="connsiteX1" fmla="*/ 37338 w 268224"/>
                <a:gd name="connsiteY1" fmla="*/ 138684 h 268224"/>
                <a:gd name="connsiteX2" fmla="*/ 68580 w 268224"/>
                <a:gd name="connsiteY2" fmla="*/ 107442 h 268224"/>
                <a:gd name="connsiteX3" fmla="*/ 115824 w 268224"/>
                <a:gd name="connsiteY3" fmla="*/ 154686 h 268224"/>
                <a:gd name="connsiteX4" fmla="*/ 201930 w 268224"/>
                <a:gd name="connsiteY4" fmla="*/ 68580 h 268224"/>
                <a:gd name="connsiteX5" fmla="*/ 233172 w 268224"/>
                <a:gd name="connsiteY5" fmla="*/ 99822 h 268224"/>
                <a:gd name="connsiteX6" fmla="*/ 115824 w 268224"/>
                <a:gd name="connsiteY6" fmla="*/ 217170 h 268224"/>
                <a:gd name="connsiteX7" fmla="*/ 134112 w 268224"/>
                <a:gd name="connsiteY7" fmla="*/ 0 h 268224"/>
                <a:gd name="connsiteX8" fmla="*/ 0 w 268224"/>
                <a:gd name="connsiteY8" fmla="*/ 134112 h 268224"/>
                <a:gd name="connsiteX9" fmla="*/ 134112 w 268224"/>
                <a:gd name="connsiteY9" fmla="*/ 268224 h 268224"/>
                <a:gd name="connsiteX10" fmla="*/ 268224 w 268224"/>
                <a:gd name="connsiteY10" fmla="*/ 134112 h 268224"/>
                <a:gd name="connsiteX11" fmla="*/ 134112 w 268224"/>
                <a:gd name="connsiteY11" fmla="*/ 0 h 268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224" h="268224">
                  <a:moveTo>
                    <a:pt x="115824" y="217170"/>
                  </a:moveTo>
                  <a:lnTo>
                    <a:pt x="37338" y="138684"/>
                  </a:lnTo>
                  <a:lnTo>
                    <a:pt x="68580" y="107442"/>
                  </a:lnTo>
                  <a:lnTo>
                    <a:pt x="115824" y="154686"/>
                  </a:lnTo>
                  <a:lnTo>
                    <a:pt x="201930" y="68580"/>
                  </a:lnTo>
                  <a:lnTo>
                    <a:pt x="233172" y="99822"/>
                  </a:lnTo>
                  <a:lnTo>
                    <a:pt x="115824" y="217170"/>
                  </a:lnTo>
                  <a:close/>
                  <a:moveTo>
                    <a:pt x="134112" y="0"/>
                  </a:moveTo>
                  <a:cubicBezTo>
                    <a:pt x="60198" y="0"/>
                    <a:pt x="0" y="60198"/>
                    <a:pt x="0" y="134112"/>
                  </a:cubicBezTo>
                  <a:cubicBezTo>
                    <a:pt x="0" y="208026"/>
                    <a:pt x="60198" y="268224"/>
                    <a:pt x="134112" y="268224"/>
                  </a:cubicBezTo>
                  <a:cubicBezTo>
                    <a:pt x="208026" y="268224"/>
                    <a:pt x="268224" y="208026"/>
                    <a:pt x="268224" y="134112"/>
                  </a:cubicBezTo>
                  <a:cubicBezTo>
                    <a:pt x="268224" y="60198"/>
                    <a:pt x="208788" y="0"/>
                    <a:pt x="134112" y="0"/>
                  </a:cubicBezTo>
                  <a:close/>
                </a:path>
              </a:pathLst>
            </a:custGeom>
            <a:solidFill>
              <a:schemeClr val="accent1"/>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grpSp>
      <p:sp>
        <p:nvSpPr>
          <p:cNvPr id="191" name="Line"/>
          <p:cNvSpPr/>
          <p:nvPr/>
        </p:nvSpPr>
        <p:spPr>
          <a:xfrm>
            <a:off x="454763" y="6363398"/>
            <a:ext cx="11282474" cy="0"/>
          </a:xfrm>
          <a:prstGeom prst="line">
            <a:avLst/>
          </a:prstGeom>
          <a:ln w="38100">
            <a:solidFill>
              <a:schemeClr val="accent1">
                <a:lumMod val="20000"/>
                <a:lumOff val="80000"/>
              </a:schemeClr>
            </a:solidFill>
            <a:miter lim="400000"/>
            <a:tailEnd type="triangle"/>
          </a:ln>
        </p:spPr>
        <p:txBody>
          <a:bodyPr lIns="0" tIns="0" rIns="0" bIns="0" anchor="ctr"/>
          <a:lstStyle/>
          <a:p>
            <a:pPr>
              <a:spcAft>
                <a:spcPts val="500"/>
              </a:spcAft>
              <a:defRPr sz="3200">
                <a:solidFill>
                  <a:srgbClr val="FFFFFF"/>
                </a:solidFill>
              </a:defRPr>
            </a:pPr>
            <a:endParaRPr sz="1600">
              <a:latin typeface="微软雅黑" panose="020B0503020204020204" charset="-122"/>
              <a:ea typeface="微软雅黑" panose="020B0503020204020204" charset="-122"/>
              <a:cs typeface="微软雅黑" panose="020B0503020204020204" charset="-122"/>
            </a:endParaRPr>
          </a:p>
        </p:txBody>
      </p:sp>
      <p:grpSp>
        <p:nvGrpSpPr>
          <p:cNvPr id="32" name="组合 31"/>
          <p:cNvGrpSpPr/>
          <p:nvPr/>
        </p:nvGrpSpPr>
        <p:grpSpPr>
          <a:xfrm>
            <a:off x="728980" y="6256020"/>
            <a:ext cx="214630" cy="214630"/>
            <a:chOff x="1724" y="9852"/>
            <a:chExt cx="338" cy="338"/>
          </a:xfrm>
        </p:grpSpPr>
        <p:sp>
          <p:nvSpPr>
            <p:cNvPr id="193" name="Circle"/>
            <p:cNvSpPr/>
            <p:nvPr/>
          </p:nvSpPr>
          <p:spPr>
            <a:xfrm>
              <a:off x="1724" y="9852"/>
              <a:ext cx="338" cy="338"/>
            </a:xfrm>
            <a:prstGeom prst="ellipse">
              <a:avLst/>
            </a:prstGeom>
            <a:solidFill>
              <a:schemeClr val="accent1"/>
            </a:solidFill>
            <a:ln w="12700" cap="flat">
              <a:noFill/>
              <a:miter lim="400000"/>
            </a:ln>
            <a:effectLst/>
          </p:spPr>
          <p:txBody>
            <a:bodyPr wrap="square" lIns="0" tIns="0" rIns="0" bIns="0" numCol="1" anchor="ctr">
              <a:noAutofit/>
            </a:bodyPr>
            <a:lstStyle/>
            <a:p>
              <a:pPr>
                <a:spcAft>
                  <a:spcPts val="500"/>
                </a:spcAft>
                <a:defRPr sz="3200">
                  <a:solidFill>
                    <a:srgbClr val="FFFFFF"/>
                  </a:solidFill>
                </a:defRPr>
              </a:pPr>
              <a:endParaRPr sz="1600">
                <a:latin typeface="微软雅黑" panose="020B0503020204020204" charset="-122"/>
                <a:ea typeface="微软雅黑" panose="020B0503020204020204" charset="-122"/>
                <a:cs typeface="微软雅黑" panose="020B0503020204020204" charset="-122"/>
              </a:endParaRPr>
            </a:p>
          </p:txBody>
        </p:sp>
        <p:sp>
          <p:nvSpPr>
            <p:cNvPr id="194" name="Circle"/>
            <p:cNvSpPr/>
            <p:nvPr/>
          </p:nvSpPr>
          <p:spPr>
            <a:xfrm>
              <a:off x="1834" y="9963"/>
              <a:ext cx="117" cy="117"/>
            </a:xfrm>
            <a:prstGeom prst="ellipse">
              <a:avLst/>
            </a:prstGeom>
            <a:solidFill>
              <a:srgbClr val="FFFFFF"/>
            </a:solidFill>
            <a:ln w="12700" cap="flat">
              <a:noFill/>
              <a:miter lim="400000"/>
            </a:ln>
            <a:effectLst/>
          </p:spPr>
          <p:txBody>
            <a:bodyPr wrap="square" lIns="0" tIns="0" rIns="0" bIns="0" numCol="1" anchor="ctr">
              <a:noAutofit/>
            </a:bodyPr>
            <a:lstStyle/>
            <a:p>
              <a:pPr>
                <a:spcAft>
                  <a:spcPts val="500"/>
                </a:spcAft>
                <a:defRPr sz="3200">
                  <a:solidFill>
                    <a:srgbClr val="FFFFFF"/>
                  </a:solidFill>
                </a:defRPr>
              </a:pPr>
              <a:endParaRPr sz="1600">
                <a:latin typeface="微软雅黑" panose="020B0503020204020204" charset="-122"/>
                <a:ea typeface="微软雅黑" panose="020B0503020204020204" charset="-122"/>
                <a:cs typeface="微软雅黑" panose="020B0503020204020204" charset="-122"/>
              </a:endParaRPr>
            </a:p>
          </p:txBody>
        </p:sp>
      </p:grpSp>
      <p:grpSp>
        <p:nvGrpSpPr>
          <p:cNvPr id="89" name="组合 88"/>
          <p:cNvGrpSpPr/>
          <p:nvPr/>
        </p:nvGrpSpPr>
        <p:grpSpPr>
          <a:xfrm>
            <a:off x="3408045" y="6252210"/>
            <a:ext cx="214630" cy="214630"/>
            <a:chOff x="5824" y="9852"/>
            <a:chExt cx="338" cy="338"/>
          </a:xfrm>
        </p:grpSpPr>
        <p:sp>
          <p:nvSpPr>
            <p:cNvPr id="196" name="Circle"/>
            <p:cNvSpPr/>
            <p:nvPr/>
          </p:nvSpPr>
          <p:spPr>
            <a:xfrm>
              <a:off x="5824" y="9852"/>
              <a:ext cx="338" cy="338"/>
            </a:xfrm>
            <a:prstGeom prst="ellipse">
              <a:avLst/>
            </a:prstGeom>
            <a:solidFill>
              <a:schemeClr val="accent1">
                <a:lumMod val="60000"/>
                <a:lumOff val="40000"/>
              </a:schemeClr>
            </a:solidFill>
            <a:ln w="12700" cap="flat">
              <a:noFill/>
              <a:miter lim="400000"/>
            </a:ln>
            <a:effectLst/>
          </p:spPr>
          <p:txBody>
            <a:bodyPr wrap="square" lIns="0" tIns="0" rIns="0" bIns="0" numCol="1" anchor="ctr">
              <a:noAutofit/>
            </a:bodyPr>
            <a:lstStyle/>
            <a:p>
              <a:pPr>
                <a:spcAft>
                  <a:spcPts val="500"/>
                </a:spcAft>
                <a:defRPr sz="3200">
                  <a:solidFill>
                    <a:srgbClr val="FFFFFF"/>
                  </a:solidFill>
                </a:defRPr>
              </a:pPr>
              <a:endParaRPr sz="1600">
                <a:latin typeface="微软雅黑" panose="020B0503020204020204" charset="-122"/>
                <a:ea typeface="微软雅黑" panose="020B0503020204020204" charset="-122"/>
                <a:cs typeface="微软雅黑" panose="020B0503020204020204" charset="-122"/>
              </a:endParaRPr>
            </a:p>
          </p:txBody>
        </p:sp>
        <p:sp>
          <p:nvSpPr>
            <p:cNvPr id="197" name="Circle"/>
            <p:cNvSpPr/>
            <p:nvPr/>
          </p:nvSpPr>
          <p:spPr>
            <a:xfrm>
              <a:off x="5934" y="9963"/>
              <a:ext cx="117" cy="117"/>
            </a:xfrm>
            <a:prstGeom prst="ellipse">
              <a:avLst/>
            </a:prstGeom>
            <a:solidFill>
              <a:srgbClr val="FFFFFF"/>
            </a:solidFill>
            <a:ln w="12700" cap="flat">
              <a:noFill/>
              <a:miter lim="400000"/>
            </a:ln>
            <a:effectLst/>
          </p:spPr>
          <p:txBody>
            <a:bodyPr wrap="square" lIns="0" tIns="0" rIns="0" bIns="0" numCol="1" anchor="ctr">
              <a:noAutofit/>
            </a:bodyPr>
            <a:lstStyle/>
            <a:p>
              <a:pPr>
                <a:spcAft>
                  <a:spcPts val="500"/>
                </a:spcAft>
                <a:defRPr sz="3200">
                  <a:solidFill>
                    <a:srgbClr val="FFFFFF"/>
                  </a:solidFill>
                </a:defRPr>
              </a:pPr>
              <a:endParaRPr sz="1600">
                <a:latin typeface="微软雅黑" panose="020B0503020204020204" charset="-122"/>
                <a:ea typeface="微软雅黑" panose="020B0503020204020204" charset="-122"/>
                <a:cs typeface="微软雅黑" panose="020B0503020204020204" charset="-122"/>
              </a:endParaRPr>
            </a:p>
          </p:txBody>
        </p:sp>
      </p:grpSp>
      <p:grpSp>
        <p:nvGrpSpPr>
          <p:cNvPr id="44" name="组合 43"/>
          <p:cNvGrpSpPr/>
          <p:nvPr/>
        </p:nvGrpSpPr>
        <p:grpSpPr>
          <a:xfrm>
            <a:off x="683260" y="5332095"/>
            <a:ext cx="10473690" cy="808355"/>
            <a:chOff x="1076" y="7490"/>
            <a:chExt cx="16494" cy="1273"/>
          </a:xfrm>
        </p:grpSpPr>
        <p:sp>
          <p:nvSpPr>
            <p:cNvPr id="47" name="TextBox 70"/>
            <p:cNvSpPr txBox="1"/>
            <p:nvPr/>
          </p:nvSpPr>
          <p:spPr>
            <a:xfrm>
              <a:off x="1900" y="7490"/>
              <a:ext cx="1846" cy="434"/>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500"/>
                </a:spcAft>
                <a:buClrTx/>
                <a:buSzTx/>
                <a:buFontTx/>
                <a:buNone/>
                <a:defRPr/>
              </a:pPr>
              <a:r>
                <a:rPr kumimoji="0" lang="en-US" altLang="zh-CN"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04.</a:t>
              </a:r>
              <a:r>
                <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市场布局启动</a:t>
              </a:r>
              <a:endPar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0" name="TextBox 71"/>
            <p:cNvSpPr txBox="1"/>
            <p:nvPr/>
          </p:nvSpPr>
          <p:spPr>
            <a:xfrm>
              <a:off x="1939" y="7892"/>
              <a:ext cx="2853" cy="871"/>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500"/>
                </a:spcAft>
                <a:buClrTx/>
                <a:buSzTx/>
                <a:buFontTx/>
                <a:buNone/>
                <a:defRPr/>
              </a:pP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初步完成重点区域市场调研，确定上半年拓展方向。</a:t>
              </a:r>
              <a:endPar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3" name="TextBox 70"/>
            <p:cNvSpPr txBox="1"/>
            <p:nvPr/>
          </p:nvSpPr>
          <p:spPr>
            <a:xfrm>
              <a:off x="6190" y="7490"/>
              <a:ext cx="2075" cy="434"/>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500"/>
                </a:spcAft>
                <a:buClrTx/>
                <a:buSzTx/>
                <a:buFontTx/>
                <a:buNone/>
                <a:defRPr/>
              </a:pPr>
              <a:r>
                <a:rPr kumimoji="0" lang="en-US" altLang="zh-CN"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04.</a:t>
              </a:r>
              <a:r>
                <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供应链优化落地</a:t>
              </a:r>
              <a:endPar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6" name="TextBox 71"/>
            <p:cNvSpPr txBox="1"/>
            <p:nvPr/>
          </p:nvSpPr>
          <p:spPr>
            <a:xfrm>
              <a:off x="6229" y="7892"/>
              <a:ext cx="2853" cy="871"/>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500"/>
                </a:spcAft>
                <a:buClrTx/>
                <a:buSzTx/>
                <a:buFontTx/>
                <a:buNone/>
                <a:defRPr/>
              </a:pP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引入新供应商，关键物料交付周期缩短</a:t>
              </a:r>
              <a:r>
                <a:rPr kumimoji="0" lang="en-US" altLang="zh-CN"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12%</a:t>
              </a: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endPar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5" name="TextBox 70"/>
            <p:cNvSpPr txBox="1"/>
            <p:nvPr/>
          </p:nvSpPr>
          <p:spPr>
            <a:xfrm>
              <a:off x="10437" y="7490"/>
              <a:ext cx="2057" cy="434"/>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500"/>
                </a:spcAft>
                <a:buClrTx/>
                <a:buSzTx/>
                <a:buFontTx/>
                <a:buNone/>
                <a:defRPr/>
              </a:pPr>
              <a:r>
                <a:rPr kumimoji="0" lang="en-US" altLang="zh-CN"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04.</a:t>
              </a:r>
              <a:r>
                <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数字化工具应用</a:t>
              </a:r>
              <a:endPar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8" name="TextBox 71"/>
            <p:cNvSpPr txBox="1"/>
            <p:nvPr/>
          </p:nvSpPr>
          <p:spPr>
            <a:xfrm>
              <a:off x="10476" y="7892"/>
              <a:ext cx="2853" cy="871"/>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500"/>
                </a:spcAft>
                <a:buClrTx/>
                <a:buSzTx/>
                <a:buFontTx/>
                <a:buNone/>
                <a:defRPr/>
              </a:pP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线项目管理系统，关键节点可视化率达</a:t>
              </a:r>
              <a:r>
                <a:rPr kumimoji="0" lang="en-US" altLang="zh-CN"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100%</a:t>
              </a: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endPar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9" name="TextBox 70"/>
            <p:cNvSpPr txBox="1"/>
            <p:nvPr/>
          </p:nvSpPr>
          <p:spPr>
            <a:xfrm>
              <a:off x="14678" y="7490"/>
              <a:ext cx="1919" cy="434"/>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500"/>
                </a:spcAft>
                <a:buClrTx/>
                <a:buSzTx/>
                <a:buFontTx/>
                <a:buNone/>
                <a:defRPr/>
              </a:pPr>
              <a:r>
                <a:rPr kumimoji="0" lang="en-US" altLang="zh-CN"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04.</a:t>
              </a:r>
              <a:r>
                <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人才梯队建设</a:t>
              </a:r>
              <a:endParaRPr kumimoji="0" lang="zh-CN" altLang="en-US" sz="1200" b="1"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0" name="TextBox 71"/>
            <p:cNvSpPr txBox="1"/>
            <p:nvPr/>
          </p:nvSpPr>
          <p:spPr>
            <a:xfrm>
              <a:off x="14717" y="7892"/>
              <a:ext cx="2853" cy="871"/>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500"/>
                </a:spcAft>
                <a:buClrTx/>
                <a:buSzTx/>
                <a:buFontTx/>
                <a:buNone/>
                <a:defRPr/>
              </a:pP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完成关键岗位继任计划，内部晋升率达</a:t>
              </a:r>
              <a:r>
                <a:rPr kumimoji="0" lang="en-US" altLang="zh-CN"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30%</a:t>
              </a:r>
              <a:r>
                <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endParaRPr kumimoji="0" lang="zh-CN" altLang="en-US" sz="1000" u="none" strike="noStrike" kern="1200" cap="none" spc="0" normalizeH="0" baseline="0" noProof="1">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1" name="任意形状 56"/>
            <p:cNvSpPr/>
            <p:nvPr/>
          </p:nvSpPr>
          <p:spPr>
            <a:xfrm>
              <a:off x="13820" y="7538"/>
              <a:ext cx="422" cy="422"/>
            </a:xfrm>
            <a:custGeom>
              <a:avLst/>
              <a:gdLst>
                <a:gd name="connsiteX0" fmla="*/ 268224 w 268223"/>
                <a:gd name="connsiteY0" fmla="*/ 134112 h 268224"/>
                <a:gd name="connsiteX1" fmla="*/ 134112 w 268223"/>
                <a:gd name="connsiteY1" fmla="*/ 268224 h 268224"/>
                <a:gd name="connsiteX2" fmla="*/ 0 w 268223"/>
                <a:gd name="connsiteY2" fmla="*/ 134112 h 268224"/>
                <a:gd name="connsiteX3" fmla="*/ 134112 w 268223"/>
                <a:gd name="connsiteY3" fmla="*/ 0 h 268224"/>
                <a:gd name="connsiteX4" fmla="*/ 268224 w 268223"/>
                <a:gd name="connsiteY4" fmla="*/ 134112 h 268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3" h="268224">
                  <a:moveTo>
                    <a:pt x="268224" y="134112"/>
                  </a:moveTo>
                  <a:cubicBezTo>
                    <a:pt x="268224" y="208180"/>
                    <a:pt x="208180" y="268224"/>
                    <a:pt x="134112" y="268224"/>
                  </a:cubicBezTo>
                  <a:cubicBezTo>
                    <a:pt x="60044" y="268224"/>
                    <a:pt x="0" y="208180"/>
                    <a:pt x="0" y="134112"/>
                  </a:cubicBezTo>
                  <a:cubicBezTo>
                    <a:pt x="0" y="60044"/>
                    <a:pt x="60044" y="0"/>
                    <a:pt x="134112" y="0"/>
                  </a:cubicBezTo>
                  <a:cubicBezTo>
                    <a:pt x="208180" y="0"/>
                    <a:pt x="268224" y="60044"/>
                    <a:pt x="268224" y="134112"/>
                  </a:cubicBezTo>
                  <a:close/>
                </a:path>
              </a:pathLst>
            </a:custGeom>
            <a:solidFill>
              <a:srgbClr val="FFFFFF"/>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78" name="任意形状 57"/>
            <p:cNvSpPr/>
            <p:nvPr/>
          </p:nvSpPr>
          <p:spPr>
            <a:xfrm>
              <a:off x="13820" y="7538"/>
              <a:ext cx="422" cy="422"/>
            </a:xfrm>
            <a:custGeom>
              <a:avLst/>
              <a:gdLst>
                <a:gd name="connsiteX0" fmla="*/ 115062 w 268223"/>
                <a:gd name="connsiteY0" fmla="*/ 217170 h 268224"/>
                <a:gd name="connsiteX1" fmla="*/ 36575 w 268223"/>
                <a:gd name="connsiteY1" fmla="*/ 138684 h 268224"/>
                <a:gd name="connsiteX2" fmla="*/ 67818 w 268223"/>
                <a:gd name="connsiteY2" fmla="*/ 107442 h 268224"/>
                <a:gd name="connsiteX3" fmla="*/ 115062 w 268223"/>
                <a:gd name="connsiteY3" fmla="*/ 154686 h 268224"/>
                <a:gd name="connsiteX4" fmla="*/ 201168 w 268223"/>
                <a:gd name="connsiteY4" fmla="*/ 68580 h 268224"/>
                <a:gd name="connsiteX5" fmla="*/ 232410 w 268223"/>
                <a:gd name="connsiteY5" fmla="*/ 99822 h 268224"/>
                <a:gd name="connsiteX6" fmla="*/ 115062 w 268223"/>
                <a:gd name="connsiteY6" fmla="*/ 217170 h 268224"/>
                <a:gd name="connsiteX7" fmla="*/ 134112 w 268223"/>
                <a:gd name="connsiteY7" fmla="*/ 0 h 268224"/>
                <a:gd name="connsiteX8" fmla="*/ 0 w 268223"/>
                <a:gd name="connsiteY8" fmla="*/ 134112 h 268224"/>
                <a:gd name="connsiteX9" fmla="*/ 134112 w 268223"/>
                <a:gd name="connsiteY9" fmla="*/ 268224 h 268224"/>
                <a:gd name="connsiteX10" fmla="*/ 268224 w 268223"/>
                <a:gd name="connsiteY10" fmla="*/ 134112 h 268224"/>
                <a:gd name="connsiteX11" fmla="*/ 134112 w 268223"/>
                <a:gd name="connsiteY11" fmla="*/ 0 h 268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223" h="268224">
                  <a:moveTo>
                    <a:pt x="115062" y="217170"/>
                  </a:moveTo>
                  <a:lnTo>
                    <a:pt x="36575" y="138684"/>
                  </a:lnTo>
                  <a:lnTo>
                    <a:pt x="67818" y="107442"/>
                  </a:lnTo>
                  <a:lnTo>
                    <a:pt x="115062" y="154686"/>
                  </a:lnTo>
                  <a:lnTo>
                    <a:pt x="201168" y="68580"/>
                  </a:lnTo>
                  <a:lnTo>
                    <a:pt x="232410" y="99822"/>
                  </a:lnTo>
                  <a:lnTo>
                    <a:pt x="115062" y="217170"/>
                  </a:lnTo>
                  <a:close/>
                  <a:moveTo>
                    <a:pt x="134112" y="0"/>
                  </a:moveTo>
                  <a:cubicBezTo>
                    <a:pt x="60198" y="0"/>
                    <a:pt x="0" y="60198"/>
                    <a:pt x="0" y="134112"/>
                  </a:cubicBezTo>
                  <a:cubicBezTo>
                    <a:pt x="0" y="208026"/>
                    <a:pt x="60198" y="268224"/>
                    <a:pt x="134112" y="268224"/>
                  </a:cubicBezTo>
                  <a:cubicBezTo>
                    <a:pt x="208025" y="268224"/>
                    <a:pt x="268224" y="208026"/>
                    <a:pt x="268224" y="134112"/>
                  </a:cubicBezTo>
                  <a:cubicBezTo>
                    <a:pt x="267462" y="60198"/>
                    <a:pt x="208025" y="0"/>
                    <a:pt x="134112" y="0"/>
                  </a:cubicBezTo>
                  <a:close/>
                </a:path>
              </a:pathLst>
            </a:custGeom>
            <a:solidFill>
              <a:schemeClr val="accent5">
                <a:lumMod val="60000"/>
                <a:lumOff val="40000"/>
              </a:schemeClr>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79" name="任意形状 47"/>
            <p:cNvSpPr/>
            <p:nvPr/>
          </p:nvSpPr>
          <p:spPr>
            <a:xfrm>
              <a:off x="9572" y="7538"/>
              <a:ext cx="422" cy="422"/>
            </a:xfrm>
            <a:custGeom>
              <a:avLst/>
              <a:gdLst>
                <a:gd name="connsiteX0" fmla="*/ 268224 w 268224"/>
                <a:gd name="connsiteY0" fmla="*/ 134112 h 268224"/>
                <a:gd name="connsiteX1" fmla="*/ 134112 w 268224"/>
                <a:gd name="connsiteY1" fmla="*/ 268224 h 268224"/>
                <a:gd name="connsiteX2" fmla="*/ 0 w 268224"/>
                <a:gd name="connsiteY2" fmla="*/ 134112 h 268224"/>
                <a:gd name="connsiteX3" fmla="*/ 134112 w 268224"/>
                <a:gd name="connsiteY3" fmla="*/ 0 h 268224"/>
                <a:gd name="connsiteX4" fmla="*/ 268224 w 268224"/>
                <a:gd name="connsiteY4" fmla="*/ 134112 h 268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4" h="268224">
                  <a:moveTo>
                    <a:pt x="268224" y="134112"/>
                  </a:moveTo>
                  <a:cubicBezTo>
                    <a:pt x="268224" y="208180"/>
                    <a:pt x="208180" y="268224"/>
                    <a:pt x="134112" y="268224"/>
                  </a:cubicBezTo>
                  <a:cubicBezTo>
                    <a:pt x="60044" y="268224"/>
                    <a:pt x="0" y="208180"/>
                    <a:pt x="0" y="134112"/>
                  </a:cubicBezTo>
                  <a:cubicBezTo>
                    <a:pt x="0" y="60044"/>
                    <a:pt x="60044" y="0"/>
                    <a:pt x="134112" y="0"/>
                  </a:cubicBezTo>
                  <a:cubicBezTo>
                    <a:pt x="208180" y="0"/>
                    <a:pt x="268224" y="60044"/>
                    <a:pt x="268224" y="134112"/>
                  </a:cubicBezTo>
                  <a:close/>
                </a:path>
              </a:pathLst>
            </a:custGeom>
            <a:solidFill>
              <a:srgbClr val="FFFFFF"/>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80" name="任意形状 48"/>
            <p:cNvSpPr/>
            <p:nvPr/>
          </p:nvSpPr>
          <p:spPr>
            <a:xfrm>
              <a:off x="9572" y="7538"/>
              <a:ext cx="422" cy="422"/>
            </a:xfrm>
            <a:custGeom>
              <a:avLst/>
              <a:gdLst>
                <a:gd name="connsiteX0" fmla="*/ 115062 w 268224"/>
                <a:gd name="connsiteY0" fmla="*/ 217170 h 268224"/>
                <a:gd name="connsiteX1" fmla="*/ 36576 w 268224"/>
                <a:gd name="connsiteY1" fmla="*/ 138684 h 268224"/>
                <a:gd name="connsiteX2" fmla="*/ 67818 w 268224"/>
                <a:gd name="connsiteY2" fmla="*/ 107442 h 268224"/>
                <a:gd name="connsiteX3" fmla="*/ 115062 w 268224"/>
                <a:gd name="connsiteY3" fmla="*/ 154686 h 268224"/>
                <a:gd name="connsiteX4" fmla="*/ 201168 w 268224"/>
                <a:gd name="connsiteY4" fmla="*/ 68580 h 268224"/>
                <a:gd name="connsiteX5" fmla="*/ 232410 w 268224"/>
                <a:gd name="connsiteY5" fmla="*/ 99822 h 268224"/>
                <a:gd name="connsiteX6" fmla="*/ 115062 w 268224"/>
                <a:gd name="connsiteY6" fmla="*/ 217170 h 268224"/>
                <a:gd name="connsiteX7" fmla="*/ 134112 w 268224"/>
                <a:gd name="connsiteY7" fmla="*/ 0 h 268224"/>
                <a:gd name="connsiteX8" fmla="*/ 0 w 268224"/>
                <a:gd name="connsiteY8" fmla="*/ 134112 h 268224"/>
                <a:gd name="connsiteX9" fmla="*/ 134112 w 268224"/>
                <a:gd name="connsiteY9" fmla="*/ 268224 h 268224"/>
                <a:gd name="connsiteX10" fmla="*/ 268224 w 268224"/>
                <a:gd name="connsiteY10" fmla="*/ 134112 h 268224"/>
                <a:gd name="connsiteX11" fmla="*/ 134112 w 268224"/>
                <a:gd name="connsiteY11" fmla="*/ 0 h 268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224" h="268224">
                  <a:moveTo>
                    <a:pt x="115062" y="217170"/>
                  </a:moveTo>
                  <a:lnTo>
                    <a:pt x="36576" y="138684"/>
                  </a:lnTo>
                  <a:lnTo>
                    <a:pt x="67818" y="107442"/>
                  </a:lnTo>
                  <a:lnTo>
                    <a:pt x="115062" y="154686"/>
                  </a:lnTo>
                  <a:lnTo>
                    <a:pt x="201168" y="68580"/>
                  </a:lnTo>
                  <a:lnTo>
                    <a:pt x="232410" y="99822"/>
                  </a:lnTo>
                  <a:lnTo>
                    <a:pt x="115062" y="217170"/>
                  </a:lnTo>
                  <a:close/>
                  <a:moveTo>
                    <a:pt x="134112" y="0"/>
                  </a:moveTo>
                  <a:cubicBezTo>
                    <a:pt x="60198" y="0"/>
                    <a:pt x="0" y="60198"/>
                    <a:pt x="0" y="134112"/>
                  </a:cubicBezTo>
                  <a:cubicBezTo>
                    <a:pt x="0" y="208026"/>
                    <a:pt x="60198" y="268224"/>
                    <a:pt x="134112" y="268224"/>
                  </a:cubicBezTo>
                  <a:cubicBezTo>
                    <a:pt x="208026" y="268224"/>
                    <a:pt x="268224" y="208026"/>
                    <a:pt x="268224" y="134112"/>
                  </a:cubicBezTo>
                  <a:cubicBezTo>
                    <a:pt x="268224" y="60198"/>
                    <a:pt x="208026" y="0"/>
                    <a:pt x="134112" y="0"/>
                  </a:cubicBezTo>
                  <a:close/>
                </a:path>
              </a:pathLst>
            </a:custGeom>
            <a:solidFill>
              <a:schemeClr val="accent5"/>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81" name="任意形状 38"/>
            <p:cNvSpPr/>
            <p:nvPr/>
          </p:nvSpPr>
          <p:spPr>
            <a:xfrm>
              <a:off x="5324" y="7538"/>
              <a:ext cx="420" cy="420"/>
            </a:xfrm>
            <a:custGeom>
              <a:avLst/>
              <a:gdLst>
                <a:gd name="connsiteX0" fmla="*/ 268224 w 268224"/>
                <a:gd name="connsiteY0" fmla="*/ 134112 h 268224"/>
                <a:gd name="connsiteX1" fmla="*/ 134112 w 268224"/>
                <a:gd name="connsiteY1" fmla="*/ 268224 h 268224"/>
                <a:gd name="connsiteX2" fmla="*/ 0 w 268224"/>
                <a:gd name="connsiteY2" fmla="*/ 134112 h 268224"/>
                <a:gd name="connsiteX3" fmla="*/ 134112 w 268224"/>
                <a:gd name="connsiteY3" fmla="*/ 0 h 268224"/>
                <a:gd name="connsiteX4" fmla="*/ 268224 w 268224"/>
                <a:gd name="connsiteY4" fmla="*/ 134112 h 268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4" h="268224">
                  <a:moveTo>
                    <a:pt x="268224" y="134112"/>
                  </a:moveTo>
                  <a:cubicBezTo>
                    <a:pt x="268224" y="208180"/>
                    <a:pt x="208180" y="268224"/>
                    <a:pt x="134112" y="268224"/>
                  </a:cubicBezTo>
                  <a:cubicBezTo>
                    <a:pt x="60044" y="268224"/>
                    <a:pt x="0" y="208180"/>
                    <a:pt x="0" y="134112"/>
                  </a:cubicBezTo>
                  <a:cubicBezTo>
                    <a:pt x="0" y="60044"/>
                    <a:pt x="60044" y="0"/>
                    <a:pt x="134112" y="0"/>
                  </a:cubicBezTo>
                  <a:cubicBezTo>
                    <a:pt x="208180" y="0"/>
                    <a:pt x="268224" y="60044"/>
                    <a:pt x="268224" y="134112"/>
                  </a:cubicBezTo>
                  <a:close/>
                </a:path>
              </a:pathLst>
            </a:custGeom>
            <a:solidFill>
              <a:srgbClr val="FFFFFF"/>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82" name="任意形状 39"/>
            <p:cNvSpPr/>
            <p:nvPr/>
          </p:nvSpPr>
          <p:spPr>
            <a:xfrm>
              <a:off x="5324" y="7538"/>
              <a:ext cx="420" cy="420"/>
            </a:xfrm>
            <a:custGeom>
              <a:avLst/>
              <a:gdLst>
                <a:gd name="connsiteX0" fmla="*/ 115062 w 268223"/>
                <a:gd name="connsiteY0" fmla="*/ 217170 h 268224"/>
                <a:gd name="connsiteX1" fmla="*/ 36576 w 268223"/>
                <a:gd name="connsiteY1" fmla="*/ 138684 h 268224"/>
                <a:gd name="connsiteX2" fmla="*/ 67818 w 268223"/>
                <a:gd name="connsiteY2" fmla="*/ 107442 h 268224"/>
                <a:gd name="connsiteX3" fmla="*/ 115062 w 268223"/>
                <a:gd name="connsiteY3" fmla="*/ 154686 h 268224"/>
                <a:gd name="connsiteX4" fmla="*/ 201168 w 268223"/>
                <a:gd name="connsiteY4" fmla="*/ 68580 h 268224"/>
                <a:gd name="connsiteX5" fmla="*/ 232410 w 268223"/>
                <a:gd name="connsiteY5" fmla="*/ 99822 h 268224"/>
                <a:gd name="connsiteX6" fmla="*/ 115062 w 268223"/>
                <a:gd name="connsiteY6" fmla="*/ 217170 h 268224"/>
                <a:gd name="connsiteX7" fmla="*/ 134112 w 268223"/>
                <a:gd name="connsiteY7" fmla="*/ 0 h 268224"/>
                <a:gd name="connsiteX8" fmla="*/ 0 w 268223"/>
                <a:gd name="connsiteY8" fmla="*/ 134112 h 268224"/>
                <a:gd name="connsiteX9" fmla="*/ 134112 w 268223"/>
                <a:gd name="connsiteY9" fmla="*/ 268224 h 268224"/>
                <a:gd name="connsiteX10" fmla="*/ 268224 w 268223"/>
                <a:gd name="connsiteY10" fmla="*/ 134112 h 268224"/>
                <a:gd name="connsiteX11" fmla="*/ 134112 w 268223"/>
                <a:gd name="connsiteY11" fmla="*/ 0 h 268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223" h="268224">
                  <a:moveTo>
                    <a:pt x="115062" y="217170"/>
                  </a:moveTo>
                  <a:lnTo>
                    <a:pt x="36576" y="138684"/>
                  </a:lnTo>
                  <a:lnTo>
                    <a:pt x="67818" y="107442"/>
                  </a:lnTo>
                  <a:lnTo>
                    <a:pt x="115062" y="154686"/>
                  </a:lnTo>
                  <a:lnTo>
                    <a:pt x="201168" y="68580"/>
                  </a:lnTo>
                  <a:lnTo>
                    <a:pt x="232410" y="99822"/>
                  </a:lnTo>
                  <a:lnTo>
                    <a:pt x="115062" y="217170"/>
                  </a:lnTo>
                  <a:close/>
                  <a:moveTo>
                    <a:pt x="134112" y="0"/>
                  </a:moveTo>
                  <a:cubicBezTo>
                    <a:pt x="60198" y="0"/>
                    <a:pt x="0" y="60198"/>
                    <a:pt x="0" y="134112"/>
                  </a:cubicBezTo>
                  <a:cubicBezTo>
                    <a:pt x="0" y="208026"/>
                    <a:pt x="60198" y="268224"/>
                    <a:pt x="134112" y="268224"/>
                  </a:cubicBezTo>
                  <a:cubicBezTo>
                    <a:pt x="208026" y="268224"/>
                    <a:pt x="268224" y="208026"/>
                    <a:pt x="268224" y="134112"/>
                  </a:cubicBezTo>
                  <a:cubicBezTo>
                    <a:pt x="268224" y="60198"/>
                    <a:pt x="208026" y="0"/>
                    <a:pt x="134112" y="0"/>
                  </a:cubicBezTo>
                  <a:close/>
                </a:path>
              </a:pathLst>
            </a:custGeom>
            <a:solidFill>
              <a:schemeClr val="accent1">
                <a:lumMod val="60000"/>
                <a:lumOff val="40000"/>
              </a:schemeClr>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83" name="任意形状 29"/>
            <p:cNvSpPr/>
            <p:nvPr/>
          </p:nvSpPr>
          <p:spPr>
            <a:xfrm>
              <a:off x="1076" y="7538"/>
              <a:ext cx="422" cy="422"/>
            </a:xfrm>
            <a:custGeom>
              <a:avLst/>
              <a:gdLst>
                <a:gd name="connsiteX0" fmla="*/ 268224 w 268224"/>
                <a:gd name="connsiteY0" fmla="*/ 134112 h 268224"/>
                <a:gd name="connsiteX1" fmla="*/ 134112 w 268224"/>
                <a:gd name="connsiteY1" fmla="*/ 268224 h 268224"/>
                <a:gd name="connsiteX2" fmla="*/ 0 w 268224"/>
                <a:gd name="connsiteY2" fmla="*/ 134112 h 268224"/>
                <a:gd name="connsiteX3" fmla="*/ 134112 w 268224"/>
                <a:gd name="connsiteY3" fmla="*/ 0 h 268224"/>
                <a:gd name="connsiteX4" fmla="*/ 268224 w 268224"/>
                <a:gd name="connsiteY4" fmla="*/ 134112 h 268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4" h="268224">
                  <a:moveTo>
                    <a:pt x="268224" y="134112"/>
                  </a:moveTo>
                  <a:cubicBezTo>
                    <a:pt x="268224" y="208180"/>
                    <a:pt x="208180" y="268224"/>
                    <a:pt x="134112" y="268224"/>
                  </a:cubicBezTo>
                  <a:cubicBezTo>
                    <a:pt x="60044" y="268224"/>
                    <a:pt x="0" y="208180"/>
                    <a:pt x="0" y="134112"/>
                  </a:cubicBezTo>
                  <a:cubicBezTo>
                    <a:pt x="0" y="60044"/>
                    <a:pt x="60044" y="0"/>
                    <a:pt x="134112" y="0"/>
                  </a:cubicBezTo>
                  <a:cubicBezTo>
                    <a:pt x="208180" y="0"/>
                    <a:pt x="268224" y="60044"/>
                    <a:pt x="268224" y="134112"/>
                  </a:cubicBezTo>
                  <a:close/>
                </a:path>
              </a:pathLst>
            </a:custGeom>
            <a:solidFill>
              <a:srgbClr val="FFFFFF"/>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88" name="任意形状 30"/>
            <p:cNvSpPr/>
            <p:nvPr/>
          </p:nvSpPr>
          <p:spPr>
            <a:xfrm>
              <a:off x="1076" y="7538"/>
              <a:ext cx="422" cy="422"/>
            </a:xfrm>
            <a:custGeom>
              <a:avLst/>
              <a:gdLst>
                <a:gd name="connsiteX0" fmla="*/ 115824 w 268224"/>
                <a:gd name="connsiteY0" fmla="*/ 217170 h 268224"/>
                <a:gd name="connsiteX1" fmla="*/ 37338 w 268224"/>
                <a:gd name="connsiteY1" fmla="*/ 138684 h 268224"/>
                <a:gd name="connsiteX2" fmla="*/ 68580 w 268224"/>
                <a:gd name="connsiteY2" fmla="*/ 107442 h 268224"/>
                <a:gd name="connsiteX3" fmla="*/ 115824 w 268224"/>
                <a:gd name="connsiteY3" fmla="*/ 154686 h 268224"/>
                <a:gd name="connsiteX4" fmla="*/ 201930 w 268224"/>
                <a:gd name="connsiteY4" fmla="*/ 68580 h 268224"/>
                <a:gd name="connsiteX5" fmla="*/ 233172 w 268224"/>
                <a:gd name="connsiteY5" fmla="*/ 99822 h 268224"/>
                <a:gd name="connsiteX6" fmla="*/ 115824 w 268224"/>
                <a:gd name="connsiteY6" fmla="*/ 217170 h 268224"/>
                <a:gd name="connsiteX7" fmla="*/ 134112 w 268224"/>
                <a:gd name="connsiteY7" fmla="*/ 0 h 268224"/>
                <a:gd name="connsiteX8" fmla="*/ 0 w 268224"/>
                <a:gd name="connsiteY8" fmla="*/ 134112 h 268224"/>
                <a:gd name="connsiteX9" fmla="*/ 134112 w 268224"/>
                <a:gd name="connsiteY9" fmla="*/ 268224 h 268224"/>
                <a:gd name="connsiteX10" fmla="*/ 268224 w 268224"/>
                <a:gd name="connsiteY10" fmla="*/ 134112 h 268224"/>
                <a:gd name="connsiteX11" fmla="*/ 134112 w 268224"/>
                <a:gd name="connsiteY11" fmla="*/ 0 h 268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224" h="268224">
                  <a:moveTo>
                    <a:pt x="115824" y="217170"/>
                  </a:moveTo>
                  <a:lnTo>
                    <a:pt x="37338" y="138684"/>
                  </a:lnTo>
                  <a:lnTo>
                    <a:pt x="68580" y="107442"/>
                  </a:lnTo>
                  <a:lnTo>
                    <a:pt x="115824" y="154686"/>
                  </a:lnTo>
                  <a:lnTo>
                    <a:pt x="201930" y="68580"/>
                  </a:lnTo>
                  <a:lnTo>
                    <a:pt x="233172" y="99822"/>
                  </a:lnTo>
                  <a:lnTo>
                    <a:pt x="115824" y="217170"/>
                  </a:lnTo>
                  <a:close/>
                  <a:moveTo>
                    <a:pt x="134112" y="0"/>
                  </a:moveTo>
                  <a:cubicBezTo>
                    <a:pt x="60198" y="0"/>
                    <a:pt x="0" y="60198"/>
                    <a:pt x="0" y="134112"/>
                  </a:cubicBezTo>
                  <a:cubicBezTo>
                    <a:pt x="0" y="208026"/>
                    <a:pt x="60198" y="268224"/>
                    <a:pt x="134112" y="268224"/>
                  </a:cubicBezTo>
                  <a:cubicBezTo>
                    <a:pt x="208026" y="268224"/>
                    <a:pt x="268224" y="208026"/>
                    <a:pt x="268224" y="134112"/>
                  </a:cubicBezTo>
                  <a:cubicBezTo>
                    <a:pt x="268224" y="60198"/>
                    <a:pt x="208788" y="0"/>
                    <a:pt x="134112" y="0"/>
                  </a:cubicBezTo>
                  <a:close/>
                </a:path>
              </a:pathLst>
            </a:custGeom>
            <a:solidFill>
              <a:schemeClr val="accent1"/>
            </a:solidFill>
            <a:ln w="4572"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grpSp>
      <p:sp>
        <p:nvSpPr>
          <p:cNvPr id="96" name="任意形状 109"/>
          <p:cNvSpPr/>
          <p:nvPr/>
        </p:nvSpPr>
        <p:spPr>
          <a:xfrm>
            <a:off x="486809" y="5167228"/>
            <a:ext cx="11251692" cy="7620"/>
          </a:xfrm>
          <a:custGeom>
            <a:avLst/>
            <a:gdLst>
              <a:gd name="connsiteX0" fmla="*/ 0 w 11251692"/>
              <a:gd name="connsiteY0" fmla="*/ 0 h 7620"/>
              <a:gd name="connsiteX1" fmla="*/ 11251692 w 11251692"/>
              <a:gd name="connsiteY1" fmla="*/ 0 h 7620"/>
            </a:gdLst>
            <a:ahLst/>
            <a:cxnLst>
              <a:cxn ang="0">
                <a:pos x="connsiteX0" y="connsiteY0"/>
              </a:cxn>
              <a:cxn ang="0">
                <a:pos x="connsiteX1" y="connsiteY1"/>
              </a:cxn>
            </a:cxnLst>
            <a:rect l="l" t="t" r="r" b="b"/>
            <a:pathLst>
              <a:path w="11251692" h="7620">
                <a:moveTo>
                  <a:pt x="0" y="0"/>
                </a:moveTo>
                <a:lnTo>
                  <a:pt x="11251692" y="0"/>
                </a:lnTo>
              </a:path>
            </a:pathLst>
          </a:custGeom>
          <a:ln w="15875" cap="flat">
            <a:solidFill>
              <a:schemeClr val="tx2">
                <a:lumMod val="40000"/>
                <a:lumOff val="6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112" name="组合 111"/>
          <p:cNvGrpSpPr/>
          <p:nvPr/>
        </p:nvGrpSpPr>
        <p:grpSpPr>
          <a:xfrm>
            <a:off x="6104890" y="6252210"/>
            <a:ext cx="214630" cy="214630"/>
            <a:chOff x="5824" y="9852"/>
            <a:chExt cx="338" cy="338"/>
          </a:xfrm>
        </p:grpSpPr>
        <p:sp>
          <p:nvSpPr>
            <p:cNvPr id="113" name="Circle"/>
            <p:cNvSpPr/>
            <p:nvPr/>
          </p:nvSpPr>
          <p:spPr>
            <a:xfrm>
              <a:off x="5824" y="9852"/>
              <a:ext cx="338" cy="338"/>
            </a:xfrm>
            <a:prstGeom prst="ellipse">
              <a:avLst/>
            </a:prstGeom>
            <a:solidFill>
              <a:schemeClr val="accent5"/>
            </a:solidFill>
            <a:ln w="12700" cap="flat">
              <a:noFill/>
              <a:miter lim="400000"/>
            </a:ln>
            <a:effectLst/>
          </p:spPr>
          <p:txBody>
            <a:bodyPr wrap="square" lIns="0" tIns="0" rIns="0" bIns="0" numCol="1" anchor="ctr">
              <a:noAutofit/>
            </a:bodyPr>
            <a:lstStyle/>
            <a:p>
              <a:pPr>
                <a:spcAft>
                  <a:spcPts val="500"/>
                </a:spcAft>
                <a:defRPr sz="3200">
                  <a:solidFill>
                    <a:srgbClr val="FFFFFF"/>
                  </a:solidFill>
                </a:defRPr>
              </a:pPr>
              <a:endParaRPr sz="1600">
                <a:latin typeface="微软雅黑" panose="020B0503020204020204" charset="-122"/>
                <a:ea typeface="微软雅黑" panose="020B0503020204020204" charset="-122"/>
                <a:cs typeface="微软雅黑" panose="020B0503020204020204" charset="-122"/>
              </a:endParaRPr>
            </a:p>
          </p:txBody>
        </p:sp>
        <p:sp>
          <p:nvSpPr>
            <p:cNvPr id="114" name="Circle"/>
            <p:cNvSpPr/>
            <p:nvPr/>
          </p:nvSpPr>
          <p:spPr>
            <a:xfrm>
              <a:off x="5934" y="9963"/>
              <a:ext cx="117" cy="117"/>
            </a:xfrm>
            <a:prstGeom prst="ellipse">
              <a:avLst/>
            </a:prstGeom>
            <a:solidFill>
              <a:srgbClr val="FFFFFF"/>
            </a:solidFill>
            <a:ln w="12700" cap="flat">
              <a:noFill/>
              <a:miter lim="400000"/>
            </a:ln>
            <a:effectLst/>
          </p:spPr>
          <p:txBody>
            <a:bodyPr wrap="square" lIns="0" tIns="0" rIns="0" bIns="0" numCol="1" anchor="ctr">
              <a:noAutofit/>
            </a:bodyPr>
            <a:lstStyle/>
            <a:p>
              <a:pPr>
                <a:spcAft>
                  <a:spcPts val="500"/>
                </a:spcAft>
                <a:defRPr sz="3200">
                  <a:solidFill>
                    <a:srgbClr val="FFFFFF"/>
                  </a:solidFill>
                </a:defRPr>
              </a:pPr>
              <a:endParaRPr sz="1600">
                <a:latin typeface="微软雅黑" panose="020B0503020204020204" charset="-122"/>
                <a:ea typeface="微软雅黑" panose="020B0503020204020204" charset="-122"/>
                <a:cs typeface="微软雅黑" panose="020B0503020204020204" charset="-122"/>
              </a:endParaRPr>
            </a:p>
          </p:txBody>
        </p:sp>
      </p:grpSp>
      <p:grpSp>
        <p:nvGrpSpPr>
          <p:cNvPr id="115" name="组合 114"/>
          <p:cNvGrpSpPr/>
          <p:nvPr/>
        </p:nvGrpSpPr>
        <p:grpSpPr>
          <a:xfrm>
            <a:off x="8803005" y="6275070"/>
            <a:ext cx="214630" cy="214630"/>
            <a:chOff x="5824" y="9852"/>
            <a:chExt cx="338" cy="338"/>
          </a:xfrm>
        </p:grpSpPr>
        <p:sp>
          <p:nvSpPr>
            <p:cNvPr id="116" name="Circle"/>
            <p:cNvSpPr/>
            <p:nvPr/>
          </p:nvSpPr>
          <p:spPr>
            <a:xfrm>
              <a:off x="5824" y="9852"/>
              <a:ext cx="338" cy="338"/>
            </a:xfrm>
            <a:prstGeom prst="ellipse">
              <a:avLst/>
            </a:prstGeom>
            <a:solidFill>
              <a:schemeClr val="accent5">
                <a:lumMod val="60000"/>
                <a:lumOff val="40000"/>
              </a:schemeClr>
            </a:solidFill>
            <a:ln w="12700" cap="flat">
              <a:noFill/>
              <a:miter lim="400000"/>
            </a:ln>
            <a:effectLst/>
          </p:spPr>
          <p:txBody>
            <a:bodyPr wrap="square" lIns="0" tIns="0" rIns="0" bIns="0" numCol="1" anchor="ctr">
              <a:noAutofit/>
            </a:bodyPr>
            <a:lstStyle/>
            <a:p>
              <a:pPr>
                <a:spcAft>
                  <a:spcPts val="500"/>
                </a:spcAft>
                <a:defRPr sz="3200">
                  <a:solidFill>
                    <a:srgbClr val="FFFFFF"/>
                  </a:solidFill>
                </a:defRPr>
              </a:pPr>
              <a:endParaRPr sz="1600">
                <a:latin typeface="微软雅黑" panose="020B0503020204020204" charset="-122"/>
                <a:ea typeface="微软雅黑" panose="020B0503020204020204" charset="-122"/>
                <a:cs typeface="微软雅黑" panose="020B0503020204020204" charset="-122"/>
              </a:endParaRPr>
            </a:p>
          </p:txBody>
        </p:sp>
        <p:sp>
          <p:nvSpPr>
            <p:cNvPr id="117" name="Circle"/>
            <p:cNvSpPr/>
            <p:nvPr/>
          </p:nvSpPr>
          <p:spPr>
            <a:xfrm>
              <a:off x="5934" y="9963"/>
              <a:ext cx="117" cy="117"/>
            </a:xfrm>
            <a:prstGeom prst="ellipse">
              <a:avLst/>
            </a:prstGeom>
            <a:solidFill>
              <a:srgbClr val="FFFFFF"/>
            </a:solidFill>
            <a:ln w="12700" cap="flat">
              <a:noFill/>
              <a:miter lim="400000"/>
            </a:ln>
            <a:effectLst/>
          </p:spPr>
          <p:txBody>
            <a:bodyPr wrap="square" lIns="0" tIns="0" rIns="0" bIns="0" numCol="1" anchor="ctr">
              <a:noAutofit/>
            </a:bodyPr>
            <a:lstStyle/>
            <a:p>
              <a:pPr>
                <a:spcAft>
                  <a:spcPts val="500"/>
                </a:spcAft>
                <a:defRPr sz="3200">
                  <a:solidFill>
                    <a:srgbClr val="FFFFFF"/>
                  </a:solidFill>
                </a:defRPr>
              </a:pPr>
              <a:endParaRPr sz="1600">
                <a:latin typeface="微软雅黑" panose="020B0503020204020204" charset="-122"/>
                <a:ea typeface="微软雅黑" panose="020B0503020204020204" charset="-122"/>
                <a:cs typeface="微软雅黑" panose="020B0503020204020204" charset="-122"/>
              </a:endParaRPr>
            </a:p>
          </p:txBody>
        </p:sp>
      </p:grpSp>
      <p:cxnSp>
        <p:nvCxnSpPr>
          <p:cNvPr id="3"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8738235" y="348615"/>
            <a:ext cx="3219450" cy="332740"/>
            <a:chOff x="13761" y="549"/>
            <a:chExt cx="5070" cy="524"/>
          </a:xfrm>
        </p:grpSpPr>
        <p:pic>
          <p:nvPicPr>
            <p:cNvPr id="10" name="图片 9"/>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1" name="文本框 10"/>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汽车客户运营推进思路</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3" name="椭圆 2"/>
          <p:cNvSpPr/>
          <p:nvPr/>
        </p:nvSpPr>
        <p:spPr>
          <a:xfrm>
            <a:off x="716280" y="1099820"/>
            <a:ext cx="628650" cy="628650"/>
          </a:xfrm>
          <a:prstGeom prst="ellipse">
            <a:avLst/>
          </a:prstGeom>
          <a:solidFill>
            <a:schemeClr val="accent5"/>
          </a:solidFill>
          <a:ln w="19050">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cxnSp>
        <p:nvCxnSpPr>
          <p:cNvPr id="4" name="直接箭头连接符 3"/>
          <p:cNvCxnSpPr>
            <a:stCxn id="3" idx="6"/>
          </p:cNvCxnSpPr>
          <p:nvPr/>
        </p:nvCxnSpPr>
        <p:spPr>
          <a:xfrm>
            <a:off x="1344930" y="1414145"/>
            <a:ext cx="9976485" cy="0"/>
          </a:xfrm>
          <a:prstGeom prst="straightConnector1">
            <a:avLst/>
          </a:prstGeom>
          <a:ln w="19050">
            <a:solidFill>
              <a:schemeClr val="accent5"/>
            </a:solidFill>
            <a:tailEnd type="arrow"/>
          </a:ln>
        </p:spPr>
        <p:style>
          <a:lnRef idx="2">
            <a:schemeClr val="accent1"/>
          </a:lnRef>
          <a:fillRef idx="0">
            <a:srgbClr val="FFFFFF"/>
          </a:fillRef>
          <a:effectRef idx="0">
            <a:srgbClr val="FFFFFF"/>
          </a:effectRef>
          <a:fontRef idx="minor">
            <a:schemeClr val="tx1"/>
          </a:fontRef>
        </p:style>
      </p:cxnSp>
      <p:cxnSp>
        <p:nvCxnSpPr>
          <p:cNvPr id="6" name="直接箭头连接符 5"/>
          <p:cNvCxnSpPr>
            <a:stCxn id="3" idx="4"/>
          </p:cNvCxnSpPr>
          <p:nvPr/>
        </p:nvCxnSpPr>
        <p:spPr>
          <a:xfrm>
            <a:off x="1030605" y="1728470"/>
            <a:ext cx="0" cy="4777740"/>
          </a:xfrm>
          <a:prstGeom prst="straightConnector1">
            <a:avLst/>
          </a:prstGeom>
          <a:ln w="19050">
            <a:solidFill>
              <a:schemeClr val="accent5"/>
            </a:solidFill>
            <a:tailEnd type="arrow"/>
          </a:ln>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1355725" y="1988185"/>
            <a:ext cx="1653540" cy="337185"/>
          </a:xfrm>
          <a:prstGeom prst="rect">
            <a:avLst/>
          </a:prstGeom>
          <a:noFill/>
        </p:spPr>
        <p:txBody>
          <a:bodyPr wrap="square" rtlCol="0">
            <a:spAutoFit/>
          </a:bodyPr>
          <a:p>
            <a:pPr algn="ctr"/>
            <a:r>
              <a:rPr lang="zh-CN" altLang="en-US" sz="1600" b="1">
                <a:solidFill>
                  <a:schemeClr val="accent5"/>
                </a:solidFill>
                <a:latin typeface="微软雅黑" panose="020B0503020204020204" charset="-122"/>
                <a:ea typeface="微软雅黑" panose="020B0503020204020204" charset="-122"/>
                <a:cs typeface="微软雅黑" panose="020B0503020204020204" charset="-122"/>
              </a:rPr>
              <a:t>客户生命周期</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9" name="五边形 8"/>
          <p:cNvSpPr/>
          <p:nvPr>
            <p:custDataLst>
              <p:tags r:id="rId3"/>
            </p:custDataLst>
          </p:nvPr>
        </p:nvSpPr>
        <p:spPr>
          <a:xfrm>
            <a:off x="2998470" y="1800860"/>
            <a:ext cx="1501775" cy="699135"/>
          </a:xfrm>
          <a:prstGeom prst="homePlate">
            <a:avLst/>
          </a:prstGeom>
          <a:gradFill>
            <a:gsLst>
              <a:gs pos="0">
                <a:schemeClr val="accent1"/>
              </a:gs>
              <a:gs pos="100000">
                <a:schemeClr val="accent1">
                  <a:lumMod val="60000"/>
                  <a:lumOff val="4000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1" name="燕尾形 10"/>
          <p:cNvSpPr/>
          <p:nvPr>
            <p:custDataLst>
              <p:tags r:id="rId4"/>
            </p:custDataLst>
          </p:nvPr>
        </p:nvSpPr>
        <p:spPr>
          <a:xfrm>
            <a:off x="4229100" y="1800860"/>
            <a:ext cx="1665605" cy="706755"/>
          </a:xfrm>
          <a:prstGeom prst="chevron">
            <a:avLst/>
          </a:prstGeom>
          <a:gradFill>
            <a:gsLst>
              <a:gs pos="0">
                <a:schemeClr val="accent1"/>
              </a:gs>
              <a:gs pos="100000">
                <a:schemeClr val="accent1">
                  <a:lumMod val="60000"/>
                  <a:lumOff val="4000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2" name="燕尾形 11"/>
          <p:cNvSpPr/>
          <p:nvPr>
            <p:custDataLst>
              <p:tags r:id="rId5"/>
            </p:custDataLst>
          </p:nvPr>
        </p:nvSpPr>
        <p:spPr>
          <a:xfrm>
            <a:off x="5623560" y="1800860"/>
            <a:ext cx="1665605" cy="706755"/>
          </a:xfrm>
          <a:prstGeom prst="chevron">
            <a:avLst/>
          </a:prstGeom>
          <a:gradFill>
            <a:gsLst>
              <a:gs pos="0">
                <a:schemeClr val="accent5"/>
              </a:gs>
              <a:gs pos="100000">
                <a:schemeClr val="accent5">
                  <a:lumMod val="60000"/>
                  <a:lumOff val="4000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3" name="燕尾形 12"/>
          <p:cNvSpPr/>
          <p:nvPr>
            <p:custDataLst>
              <p:tags r:id="rId6"/>
            </p:custDataLst>
          </p:nvPr>
        </p:nvSpPr>
        <p:spPr>
          <a:xfrm>
            <a:off x="7018020" y="1800860"/>
            <a:ext cx="1665605" cy="706755"/>
          </a:xfrm>
          <a:prstGeom prst="chevron">
            <a:avLst/>
          </a:prstGeom>
          <a:gradFill>
            <a:gsLst>
              <a:gs pos="0">
                <a:schemeClr val="accent5"/>
              </a:gs>
              <a:gs pos="100000">
                <a:schemeClr val="accent5">
                  <a:lumMod val="60000"/>
                  <a:lumOff val="4000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4" name="燕尾形 13"/>
          <p:cNvSpPr/>
          <p:nvPr>
            <p:custDataLst>
              <p:tags r:id="rId7"/>
            </p:custDataLst>
          </p:nvPr>
        </p:nvSpPr>
        <p:spPr>
          <a:xfrm>
            <a:off x="9806940" y="1800860"/>
            <a:ext cx="1558290" cy="706755"/>
          </a:xfrm>
          <a:prstGeom prst="chevron">
            <a:avLst/>
          </a:prstGeom>
          <a:gradFill>
            <a:gsLst>
              <a:gs pos="0">
                <a:schemeClr val="accent1"/>
              </a:gs>
              <a:gs pos="100000">
                <a:schemeClr val="accent1">
                  <a:lumMod val="60000"/>
                  <a:lumOff val="4000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graphicFrame>
        <p:nvGraphicFramePr>
          <p:cNvPr id="15" name="表格 14"/>
          <p:cNvGraphicFramePr/>
          <p:nvPr>
            <p:custDataLst>
              <p:tags r:id="rId8"/>
            </p:custDataLst>
          </p:nvPr>
        </p:nvGraphicFramePr>
        <p:xfrm>
          <a:off x="1400810" y="3602990"/>
          <a:ext cx="9862820" cy="3103880"/>
        </p:xfrm>
        <a:graphic>
          <a:graphicData uri="http://schemas.openxmlformats.org/drawingml/2006/table">
            <a:tbl>
              <a:tblPr firstRow="1" lastRow="1" bandRow="1">
                <a:tableStyleId>{F1E6A8D6-9716-4E29-9561-8EDCAC0E31F7}</a:tableStyleId>
              </a:tblPr>
              <a:tblGrid>
                <a:gridCol w="647065"/>
                <a:gridCol w="976630"/>
                <a:gridCol w="1183005"/>
                <a:gridCol w="1423035"/>
                <a:gridCol w="1411605"/>
                <a:gridCol w="1363980"/>
                <a:gridCol w="1422400"/>
                <a:gridCol w="1435100"/>
              </a:tblGrid>
              <a:tr h="457200">
                <a:tc rowSpan="2">
                  <a:txBody>
                    <a:bodyPr/>
                    <a:p>
                      <a:pPr algn="ctr">
                        <a:buNone/>
                      </a:pPr>
                      <a:r>
                        <a:rPr lang="zh-CN" altLang="en-US" sz="1200" b="1">
                          <a:solidFill>
                            <a:schemeClr val="tx2"/>
                          </a:solidFill>
                          <a:latin typeface="微软雅黑" panose="020B0503020204020204" charset="-122"/>
                          <a:ea typeface="微软雅黑" panose="020B0503020204020204" charset="-122"/>
                          <a:cs typeface="微软雅黑" panose="020B0503020204020204" charset="-122"/>
                        </a:rPr>
                        <a:t>体验类</a:t>
                      </a:r>
                      <a:endParaRPr lang="zh-CN" altLang="en-US" sz="1200" b="1">
                        <a:solidFill>
                          <a:schemeClr val="tx2"/>
                        </a:solidFill>
                        <a:latin typeface="微软雅黑" panose="020B0503020204020204" charset="-122"/>
                        <a:ea typeface="微软雅黑" panose="020B0503020204020204" charset="-122"/>
                        <a:cs typeface="微软雅黑" panose="020B0503020204020204" charset="-122"/>
                      </a:endParaRPr>
                    </a:p>
                  </a:txBody>
                  <a:tcPr anchor="ctr" anchorCtr="0">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lgn="ctr">
                        <a:buNone/>
                      </a:pPr>
                      <a:r>
                        <a:rPr lang="zh-CN" altLang="en-US" sz="1200" b="0">
                          <a:solidFill>
                            <a:schemeClr val="tx2"/>
                          </a:solidFill>
                          <a:latin typeface="微软雅黑" panose="020B0503020204020204" charset="-122"/>
                          <a:ea typeface="微软雅黑" panose="020B0503020204020204" charset="-122"/>
                          <a:cs typeface="微软雅黑" panose="020B0503020204020204" charset="-122"/>
                        </a:rPr>
                        <a:t>感官体验型</a:t>
                      </a:r>
                      <a:endParaRPr lang="zh-CN" altLang="en-US" sz="1200" b="0">
                        <a:solidFill>
                          <a:schemeClr val="tx2"/>
                        </a:solidFill>
                        <a:latin typeface="微软雅黑" panose="020B0503020204020204" charset="-122"/>
                        <a:ea typeface="微软雅黑" panose="020B0503020204020204" charset="-122"/>
                        <a:cs typeface="微软雅黑" panose="020B0503020204020204" charset="-122"/>
                      </a:endParaRPr>
                    </a:p>
                  </a:txBody>
                  <a:tcPr anchor="ctr" anchorCtr="0">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1">
                        <a:lumMod val="40000"/>
                        <a:lumOff val="60000"/>
                      </a:schemeClr>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5">
                        <a:lumMod val="20000"/>
                        <a:lumOff val="80000"/>
                        <a:alpha val="50000"/>
                      </a:schemeClr>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5">
                        <a:lumMod val="20000"/>
                        <a:lumOff val="80000"/>
                        <a:alpha val="50000"/>
                      </a:schemeClr>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1">
                        <a:lumMod val="20000"/>
                        <a:lumOff val="80000"/>
                        <a:alpha val="50000"/>
                      </a:schemeClr>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1">
                        <a:lumMod val="20000"/>
                        <a:lumOff val="80000"/>
                        <a:alpha val="50000"/>
                      </a:schemeClr>
                    </a:solidFill>
                  </a:tcPr>
                </a:tc>
              </a:tr>
              <a:tr h="365760">
                <a:tc vMerge="1">
                  <a:tcPr>
                    <a:lnL w="12700">
                      <a:solidFill>
                        <a:schemeClr val="accent6">
                          <a:lumMod val="40000"/>
                          <a:lumOff val="60000"/>
                        </a:schemeClr>
                      </a:solidFill>
                      <a:prstDash val="solid"/>
                    </a:lnL>
                    <a:lnR w="12700">
                      <a:solidFill>
                        <a:schemeClr val="accent6">
                          <a:lumMod val="40000"/>
                          <a:lumOff val="60000"/>
                        </a:schemeClr>
                      </a:solidFill>
                      <a:prstDash val="solid"/>
                    </a:lnR>
                    <a:lnB w="12700">
                      <a:solidFill>
                        <a:schemeClr val="accent6">
                          <a:lumMod val="40000"/>
                          <a:lumOff val="60000"/>
                        </a:schemeClr>
                      </a:solidFill>
                      <a:prstDash val="solid"/>
                    </a:lnB>
                    <a:solidFill>
                      <a:schemeClr val="bg2">
                        <a:lumMod val="95000"/>
                      </a:schemeClr>
                    </a:solidFill>
                  </a:tcPr>
                </a:tc>
                <a:tc>
                  <a:txBody>
                    <a:bodyPr/>
                    <a:p>
                      <a:pPr algn="ctr">
                        <a:buNone/>
                      </a:pPr>
                      <a:r>
                        <a:rPr lang="zh-CN" altLang="en-US" sz="1200" b="0">
                          <a:solidFill>
                            <a:schemeClr val="tx2"/>
                          </a:solidFill>
                          <a:latin typeface="微软雅黑" panose="020B0503020204020204" charset="-122"/>
                          <a:ea typeface="微软雅黑" panose="020B0503020204020204" charset="-122"/>
                          <a:cs typeface="微软雅黑" panose="020B0503020204020204" charset="-122"/>
                        </a:rPr>
                        <a:t>情感共鸣型</a:t>
                      </a:r>
                      <a:endParaRPr lang="zh-CN" altLang="en-US" sz="1200" b="0">
                        <a:solidFill>
                          <a:schemeClr val="tx2"/>
                        </a:solidFill>
                        <a:latin typeface="微软雅黑" panose="020B0503020204020204" charset="-122"/>
                        <a:ea typeface="微软雅黑" panose="020B0503020204020204" charset="-122"/>
                        <a:cs typeface="微软雅黑" panose="020B0503020204020204" charset="-122"/>
                      </a:endParaRPr>
                    </a:p>
                  </a:txBody>
                  <a:tcPr anchor="ctr" anchorCtr="0">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1">
                        <a:lumMod val="60000"/>
                        <a:lumOff val="40000"/>
                      </a:schemeClr>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5">
                        <a:lumMod val="40000"/>
                        <a:lumOff val="60000"/>
                      </a:schemeClr>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5">
                        <a:lumMod val="40000"/>
                        <a:lumOff val="60000"/>
                      </a:schemeClr>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1">
                        <a:lumMod val="20000"/>
                        <a:lumOff val="80000"/>
                        <a:alpha val="50000"/>
                      </a:schemeClr>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1">
                        <a:lumMod val="20000"/>
                        <a:lumOff val="80000"/>
                        <a:alpha val="50000"/>
                      </a:schemeClr>
                    </a:solidFill>
                  </a:tcPr>
                </a:tc>
              </a:tr>
              <a:tr h="452120">
                <a:tc>
                  <a:txBody>
                    <a:bodyPr/>
                    <a:p>
                      <a:pPr algn="ctr">
                        <a:buNone/>
                      </a:pPr>
                      <a:r>
                        <a:rPr lang="zh-CN" altLang="en-US" sz="1200" b="1">
                          <a:solidFill>
                            <a:schemeClr val="tx2"/>
                          </a:solidFill>
                          <a:latin typeface="微软雅黑" panose="020B0503020204020204" charset="-122"/>
                          <a:ea typeface="微软雅黑" panose="020B0503020204020204" charset="-122"/>
                          <a:cs typeface="微软雅黑" panose="020B0503020204020204" charset="-122"/>
                        </a:rPr>
                        <a:t>服务类</a:t>
                      </a:r>
                      <a:endParaRPr lang="zh-CN" altLang="en-US" sz="1200" b="1">
                        <a:solidFill>
                          <a:schemeClr val="tx2"/>
                        </a:solidFill>
                        <a:latin typeface="微软雅黑" panose="020B0503020204020204" charset="-122"/>
                        <a:ea typeface="微软雅黑" panose="020B0503020204020204" charset="-122"/>
                        <a:cs typeface="微软雅黑" panose="020B0503020204020204" charset="-122"/>
                      </a:endParaRPr>
                    </a:p>
                  </a:txBody>
                  <a:tcPr anchor="ctr" anchorCtr="0">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lgn="ctr">
                        <a:buNone/>
                      </a:pPr>
                      <a:r>
                        <a:rPr lang="zh-CN" altLang="en-US" sz="1200" b="0">
                          <a:solidFill>
                            <a:schemeClr val="tx2"/>
                          </a:solidFill>
                          <a:latin typeface="微软雅黑" panose="020B0503020204020204" charset="-122"/>
                          <a:ea typeface="微软雅黑" panose="020B0503020204020204" charset="-122"/>
                          <a:cs typeface="微软雅黑" panose="020B0503020204020204" charset="-122"/>
                        </a:rPr>
                        <a:t>省心托管型</a:t>
                      </a:r>
                      <a:endParaRPr lang="zh-CN" altLang="en-US" sz="1200" b="0">
                        <a:solidFill>
                          <a:schemeClr val="tx2"/>
                        </a:solidFill>
                        <a:latin typeface="微软雅黑" panose="020B0503020204020204" charset="-122"/>
                        <a:ea typeface="微软雅黑" panose="020B0503020204020204" charset="-122"/>
                        <a:cs typeface="微软雅黑" panose="020B0503020204020204" charset="-122"/>
                      </a:endParaRPr>
                    </a:p>
                  </a:txBody>
                  <a:tcPr anchor="ctr" anchorCtr="0">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5">
                        <a:lumMod val="60000"/>
                        <a:lumOff val="40000"/>
                      </a:schemeClr>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5">
                        <a:lumMod val="60000"/>
                        <a:lumOff val="40000"/>
                      </a:schemeClr>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1">
                        <a:lumMod val="20000"/>
                        <a:lumOff val="80000"/>
                      </a:schemeClr>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r>
              <a:tr h="365760">
                <a:tc rowSpan="5">
                  <a:txBody>
                    <a:bodyPr/>
                    <a:p>
                      <a:pPr algn="ctr">
                        <a:buNone/>
                      </a:pPr>
                      <a:r>
                        <a:rPr lang="zh-CN" altLang="en-US" sz="1200" b="1">
                          <a:solidFill>
                            <a:schemeClr val="tx2"/>
                          </a:solidFill>
                          <a:latin typeface="微软雅黑" panose="020B0503020204020204" charset="-122"/>
                          <a:ea typeface="微软雅黑" panose="020B0503020204020204" charset="-122"/>
                          <a:cs typeface="微软雅黑" panose="020B0503020204020204" charset="-122"/>
                        </a:rPr>
                        <a:t>功能类</a:t>
                      </a:r>
                      <a:endParaRPr lang="zh-CN" altLang="en-US" sz="1200" b="1">
                        <a:solidFill>
                          <a:schemeClr val="tx2"/>
                        </a:solidFill>
                        <a:latin typeface="微软雅黑" panose="020B0503020204020204" charset="-122"/>
                        <a:ea typeface="微软雅黑" panose="020B0503020204020204" charset="-122"/>
                        <a:cs typeface="微软雅黑" panose="020B0503020204020204" charset="-122"/>
                      </a:endParaRPr>
                    </a:p>
                  </a:txBody>
                  <a:tcPr anchor="ctr" anchorCtr="0">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lgn="ctr">
                        <a:buNone/>
                      </a:pPr>
                      <a:r>
                        <a:rPr lang="zh-CN" altLang="en-US" sz="1200" b="0">
                          <a:solidFill>
                            <a:schemeClr val="tx2"/>
                          </a:solidFill>
                          <a:latin typeface="微软雅黑" panose="020B0503020204020204" charset="-122"/>
                          <a:ea typeface="微软雅黑" panose="020B0503020204020204" charset="-122"/>
                          <a:cs typeface="微软雅黑" panose="020B0503020204020204" charset="-122"/>
                        </a:rPr>
                        <a:t>用车保障型</a:t>
                      </a:r>
                      <a:endParaRPr lang="zh-CN" altLang="en-US" sz="1200" b="0">
                        <a:solidFill>
                          <a:schemeClr val="tx2"/>
                        </a:solidFill>
                        <a:latin typeface="微软雅黑" panose="020B0503020204020204" charset="-122"/>
                        <a:ea typeface="微软雅黑" panose="020B0503020204020204" charset="-122"/>
                        <a:cs typeface="微软雅黑" panose="020B0503020204020204" charset="-122"/>
                      </a:endParaRPr>
                    </a:p>
                  </a:txBody>
                  <a:tcPr anchor="ctr" anchorCtr="0">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1">
                        <a:lumMod val="60000"/>
                        <a:lumOff val="40000"/>
                      </a:schemeClr>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1">
                        <a:lumMod val="20000"/>
                        <a:lumOff val="80000"/>
                        <a:alpha val="50000"/>
                      </a:schemeClr>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r>
              <a:tr h="365760">
                <a:tc vMerge="1">
                  <a:tcPr>
                    <a:lnL w="12700">
                      <a:solidFill>
                        <a:schemeClr val="accent6">
                          <a:lumMod val="40000"/>
                          <a:lumOff val="60000"/>
                        </a:schemeClr>
                      </a:solidFill>
                      <a:prstDash val="solid"/>
                    </a:lnL>
                    <a:lnR w="12700">
                      <a:solidFill>
                        <a:schemeClr val="accent6">
                          <a:lumMod val="40000"/>
                          <a:lumOff val="60000"/>
                        </a:schemeClr>
                      </a:solidFill>
                      <a:prstDash val="solid"/>
                    </a:lnR>
                    <a:solidFill>
                      <a:schemeClr val="bg2">
                        <a:lumMod val="95000"/>
                      </a:schemeClr>
                    </a:solidFill>
                  </a:tcPr>
                </a:tc>
                <a:tc>
                  <a:txBody>
                    <a:bodyPr/>
                    <a:p>
                      <a:pPr algn="ctr">
                        <a:buNone/>
                      </a:pPr>
                      <a:r>
                        <a:rPr lang="zh-CN" sz="1200" b="0">
                          <a:solidFill>
                            <a:schemeClr val="tx2"/>
                          </a:solidFill>
                          <a:latin typeface="微软雅黑" panose="020B0503020204020204" charset="-122"/>
                          <a:ea typeface="微软雅黑" panose="020B0503020204020204" charset="-122"/>
                          <a:cs typeface="微软雅黑" panose="020B0503020204020204" charset="-122"/>
                        </a:rPr>
                        <a:t>养车无忧型</a:t>
                      </a:r>
                      <a:endParaRPr lang="zh-CN" sz="1200" b="0">
                        <a:solidFill>
                          <a:schemeClr val="tx2"/>
                        </a:solidFill>
                        <a:latin typeface="微软雅黑" panose="020B0503020204020204" charset="-122"/>
                        <a:ea typeface="微软雅黑" panose="020B0503020204020204" charset="-122"/>
                        <a:cs typeface="微软雅黑" panose="020B0503020204020204" charset="-122"/>
                      </a:endParaRPr>
                    </a:p>
                  </a:txBody>
                  <a:tcPr anchor="ctr" anchorCtr="0">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1">
                        <a:lumMod val="60000"/>
                        <a:lumOff val="40000"/>
                      </a:schemeClr>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1">
                        <a:lumMod val="20000"/>
                        <a:lumOff val="80000"/>
                        <a:alpha val="50000"/>
                      </a:schemeClr>
                    </a:solidFill>
                  </a:tcPr>
                </a:tc>
                <a:tc>
                  <a:txBody>
                    <a:bodyPr/>
                    <a:p>
                      <a:pPr>
                        <a:buNone/>
                      </a:pPr>
                      <a:endParaRPr lang="zh-CN" altLang="en-US">
                        <a:solidFill>
                          <a:srgbClr val="08090C"/>
                        </a:solidFill>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5">
                        <a:lumMod val="20000"/>
                        <a:lumOff val="80000"/>
                        <a:alpha val="50000"/>
                      </a:schemeClr>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r>
              <a:tr h="365760">
                <a:tc vMerge="1">
                  <a:tcPr>
                    <a:lnL w="12700">
                      <a:solidFill>
                        <a:schemeClr val="accent6">
                          <a:lumMod val="40000"/>
                          <a:lumOff val="60000"/>
                        </a:schemeClr>
                      </a:solidFill>
                      <a:prstDash val="solid"/>
                    </a:lnL>
                    <a:lnR w="12700">
                      <a:solidFill>
                        <a:schemeClr val="accent6">
                          <a:lumMod val="40000"/>
                          <a:lumOff val="60000"/>
                        </a:schemeClr>
                      </a:solidFill>
                      <a:prstDash val="solid"/>
                    </a:lnR>
                    <a:solidFill>
                      <a:schemeClr val="bg2">
                        <a:lumMod val="95000"/>
                      </a:schemeClr>
                    </a:solidFill>
                  </a:tcPr>
                </a:tc>
                <a:tc>
                  <a:txBody>
                    <a:bodyPr/>
                    <a:p>
                      <a:pPr algn="ctr">
                        <a:buNone/>
                      </a:pPr>
                      <a:r>
                        <a:rPr lang="zh-CN" altLang="en-US" sz="1200" b="0">
                          <a:solidFill>
                            <a:schemeClr val="tx2"/>
                          </a:solidFill>
                          <a:latin typeface="微软雅黑" panose="020B0503020204020204" charset="-122"/>
                          <a:ea typeface="微软雅黑" panose="020B0503020204020204" charset="-122"/>
                          <a:cs typeface="微软雅黑" panose="020B0503020204020204" charset="-122"/>
                        </a:rPr>
                        <a:t>安全防御型</a:t>
                      </a:r>
                      <a:endParaRPr lang="zh-CN" altLang="en-US" sz="1200" b="0">
                        <a:solidFill>
                          <a:schemeClr val="tx2"/>
                        </a:solidFill>
                        <a:latin typeface="微软雅黑" panose="020B0503020204020204" charset="-122"/>
                        <a:ea typeface="微软雅黑" panose="020B0503020204020204" charset="-122"/>
                        <a:cs typeface="微软雅黑" panose="020B0503020204020204" charset="-122"/>
                      </a:endParaRPr>
                    </a:p>
                  </a:txBody>
                  <a:tcPr anchor="ctr" anchorCtr="0">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1">
                        <a:lumMod val="40000"/>
                        <a:lumOff val="60000"/>
                        <a:alpha val="50000"/>
                      </a:schemeClr>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5">
                        <a:lumMod val="20000"/>
                        <a:lumOff val="80000"/>
                        <a:alpha val="50000"/>
                      </a:schemeClr>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5">
                        <a:lumMod val="20000"/>
                        <a:lumOff val="80000"/>
                        <a:alpha val="50000"/>
                      </a:schemeClr>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r>
              <a:tr h="365760">
                <a:tc vMerge="1">
                  <a:tcPr>
                    <a:lnL w="12700">
                      <a:solidFill>
                        <a:schemeClr val="accent6">
                          <a:lumMod val="40000"/>
                          <a:lumOff val="60000"/>
                        </a:schemeClr>
                      </a:solidFill>
                      <a:prstDash val="solid"/>
                    </a:lnL>
                    <a:lnR w="12700">
                      <a:solidFill>
                        <a:schemeClr val="accent6">
                          <a:lumMod val="40000"/>
                          <a:lumOff val="60000"/>
                        </a:schemeClr>
                      </a:solidFill>
                      <a:prstDash val="solid"/>
                    </a:lnR>
                    <a:solidFill>
                      <a:schemeClr val="bg2">
                        <a:lumMod val="95000"/>
                      </a:schemeClr>
                    </a:solidFill>
                  </a:tcPr>
                </a:tc>
                <a:tc>
                  <a:txBody>
                    <a:bodyPr/>
                    <a:p>
                      <a:pPr algn="ctr">
                        <a:buNone/>
                      </a:pPr>
                      <a:r>
                        <a:rPr lang="zh-CN" sz="1200" b="0">
                          <a:solidFill>
                            <a:schemeClr val="tx2"/>
                          </a:solidFill>
                          <a:latin typeface="微软雅黑" panose="020B0503020204020204" charset="-122"/>
                          <a:ea typeface="微软雅黑" panose="020B0503020204020204" charset="-122"/>
                          <a:cs typeface="微软雅黑" panose="020B0503020204020204" charset="-122"/>
                        </a:rPr>
                        <a:t>外观美容型</a:t>
                      </a:r>
                      <a:endParaRPr lang="zh-CN" sz="1200" b="0">
                        <a:solidFill>
                          <a:schemeClr val="tx2"/>
                        </a:solidFill>
                        <a:latin typeface="微软雅黑" panose="020B0503020204020204" charset="-122"/>
                        <a:ea typeface="微软雅黑" panose="020B0503020204020204" charset="-122"/>
                        <a:cs typeface="微软雅黑" panose="020B0503020204020204" charset="-122"/>
                      </a:endParaRPr>
                    </a:p>
                  </a:txBody>
                  <a:tcPr anchor="ctr" anchorCtr="0">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1">
                        <a:lumMod val="60000"/>
                        <a:lumOff val="40000"/>
                      </a:schemeClr>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5">
                        <a:lumMod val="40000"/>
                        <a:lumOff val="60000"/>
                      </a:schemeClr>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5">
                        <a:lumMod val="40000"/>
                        <a:lumOff val="60000"/>
                      </a:schemeClr>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r>
              <a:tr h="365760">
                <a:tc vMerge="1">
                  <a:tcPr>
                    <a:lnL w="12700">
                      <a:solidFill>
                        <a:schemeClr val="accent6">
                          <a:lumMod val="40000"/>
                          <a:lumOff val="60000"/>
                        </a:schemeClr>
                      </a:solidFill>
                      <a:prstDash val="solid"/>
                    </a:lnL>
                    <a:lnR w="12700">
                      <a:solidFill>
                        <a:schemeClr val="accent6">
                          <a:lumMod val="40000"/>
                          <a:lumOff val="60000"/>
                        </a:schemeClr>
                      </a:solidFill>
                      <a:prstDash val="solid"/>
                    </a:lnR>
                    <a:lnB w="12700">
                      <a:solidFill>
                        <a:schemeClr val="accent6">
                          <a:lumMod val="40000"/>
                          <a:lumOff val="60000"/>
                        </a:schemeClr>
                      </a:solidFill>
                      <a:prstDash val="solid"/>
                    </a:lnB>
                    <a:solidFill>
                      <a:schemeClr val="bg2">
                        <a:lumMod val="95000"/>
                      </a:schemeClr>
                    </a:solidFill>
                  </a:tcPr>
                </a:tc>
                <a:tc>
                  <a:txBody>
                    <a:bodyPr/>
                    <a:p>
                      <a:pPr algn="ctr">
                        <a:buNone/>
                      </a:pPr>
                      <a:r>
                        <a:rPr lang="zh-CN" altLang="en-US" sz="1200" b="0">
                          <a:solidFill>
                            <a:schemeClr val="tx2"/>
                          </a:solidFill>
                          <a:latin typeface="微软雅黑" panose="020B0503020204020204" charset="-122"/>
                          <a:ea typeface="微软雅黑" panose="020B0503020204020204" charset="-122"/>
                          <a:cs typeface="微软雅黑" panose="020B0503020204020204" charset="-122"/>
                        </a:rPr>
                        <a:t>硬件改装型</a:t>
                      </a:r>
                      <a:endParaRPr lang="zh-CN" altLang="en-US" sz="1200" b="0">
                        <a:solidFill>
                          <a:schemeClr val="tx2"/>
                        </a:solidFill>
                        <a:latin typeface="微软雅黑" panose="020B0503020204020204" charset="-122"/>
                        <a:ea typeface="微软雅黑" panose="020B0503020204020204" charset="-122"/>
                        <a:cs typeface="微软雅黑" panose="020B0503020204020204" charset="-122"/>
                      </a:endParaRPr>
                    </a:p>
                  </a:txBody>
                  <a:tcPr anchor="ctr" anchorCtr="0">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bg1"/>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5">
                        <a:lumMod val="60000"/>
                        <a:lumOff val="40000"/>
                      </a:schemeClr>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5">
                        <a:lumMod val="60000"/>
                        <a:lumOff val="40000"/>
                      </a:schemeClr>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1">
                        <a:lumMod val="20000"/>
                        <a:lumOff val="80000"/>
                        <a:alpha val="50000"/>
                      </a:schemeClr>
                    </a:solidFill>
                  </a:tcPr>
                </a:tc>
                <a:tc>
                  <a:txBody>
                    <a:bodyPr/>
                    <a:p>
                      <a:pPr>
                        <a:buNone/>
                      </a:pPr>
                      <a:endParaRPr lang="zh-CN" altLang="en-US">
                        <a:latin typeface="微软雅黑" panose="020B0503020204020204" charset="-122"/>
                        <a:ea typeface="微软雅黑" panose="020B0503020204020204" charset="-122"/>
                        <a:cs typeface="微软雅黑" panose="020B0503020204020204" charset="-122"/>
                      </a:endParaRPr>
                    </a:p>
                  </a:txBody>
                  <a:tcPr>
                    <a:lnL w="12700">
                      <a:solidFill>
                        <a:schemeClr val="accent6">
                          <a:lumMod val="40000"/>
                          <a:lumOff val="60000"/>
                        </a:schemeClr>
                      </a:solidFill>
                      <a:prstDash val="solid"/>
                    </a:lnL>
                    <a:lnR w="12700">
                      <a:solidFill>
                        <a:schemeClr val="accent6">
                          <a:lumMod val="40000"/>
                          <a:lumOff val="60000"/>
                        </a:schemeClr>
                      </a:solidFill>
                      <a:prstDash val="solid"/>
                    </a:lnR>
                    <a:lnT w="12700">
                      <a:solidFill>
                        <a:schemeClr val="accent6">
                          <a:lumMod val="40000"/>
                          <a:lumOff val="60000"/>
                        </a:schemeClr>
                      </a:solidFill>
                      <a:prstDash val="solid"/>
                    </a:lnT>
                    <a:lnB w="12700">
                      <a:solidFill>
                        <a:schemeClr val="accent6">
                          <a:lumMod val="40000"/>
                          <a:lumOff val="60000"/>
                        </a:schemeClr>
                      </a:solidFill>
                      <a:prstDash val="solid"/>
                    </a:lnB>
                    <a:solidFill>
                      <a:schemeClr val="accent1">
                        <a:lumMod val="20000"/>
                        <a:lumOff val="80000"/>
                        <a:alpha val="50000"/>
                      </a:schemeClr>
                    </a:solidFill>
                  </a:tcPr>
                </a:tc>
              </a:tr>
            </a:tbl>
          </a:graphicData>
        </a:graphic>
      </p:graphicFrame>
      <p:sp>
        <p:nvSpPr>
          <p:cNvPr id="16" name="文本框 15"/>
          <p:cNvSpPr txBox="1"/>
          <p:nvPr/>
        </p:nvSpPr>
        <p:spPr>
          <a:xfrm>
            <a:off x="648335" y="1153160"/>
            <a:ext cx="764540" cy="521970"/>
          </a:xfrm>
          <a:prstGeom prst="rect">
            <a:avLst/>
          </a:prstGeom>
          <a:noFill/>
          <a:extLst>
            <a:ext uri="{909E8E84-426E-40DD-AFC4-6F175D3DCCD1}">
              <a14:hiddenFill xmlns:a14="http://schemas.microsoft.com/office/drawing/2010/main">
                <a:solidFill>
                  <a:schemeClr val="accent5"/>
                </a:solidFill>
              </a14:hiddenFill>
            </a:ext>
          </a:extLst>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数据</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支撑</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7" name="矩形 16"/>
          <p:cNvSpPr/>
          <p:nvPr/>
        </p:nvSpPr>
        <p:spPr>
          <a:xfrm>
            <a:off x="5252085" y="1241425"/>
            <a:ext cx="2025015" cy="33655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solidFill>
                  <a:schemeClr val="accent5"/>
                </a:solidFill>
                <a:latin typeface="微软雅黑" panose="020B0503020204020204" charset="-122"/>
                <a:ea typeface="微软雅黑" panose="020B0503020204020204" charset="-122"/>
                <a:cs typeface="微软雅黑" panose="020B0503020204020204" charset="-122"/>
              </a:rPr>
              <a:t>车主运营精细化</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9" name="矩形 18"/>
          <p:cNvSpPr/>
          <p:nvPr/>
        </p:nvSpPr>
        <p:spPr>
          <a:xfrm>
            <a:off x="956945" y="2942590"/>
            <a:ext cx="353060" cy="202628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0" name="矩形 19"/>
          <p:cNvSpPr/>
          <p:nvPr/>
        </p:nvSpPr>
        <p:spPr>
          <a:xfrm>
            <a:off x="783590" y="2961005"/>
            <a:ext cx="459740" cy="205676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rPr>
              <a:t>产品推荐精准化</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26" name="文本框 25"/>
          <p:cNvSpPr txBox="1"/>
          <p:nvPr/>
        </p:nvSpPr>
        <p:spPr>
          <a:xfrm>
            <a:off x="1400810" y="2886710"/>
            <a:ext cx="1653540" cy="337185"/>
          </a:xfrm>
          <a:prstGeom prst="rect">
            <a:avLst/>
          </a:prstGeom>
          <a:noFill/>
        </p:spPr>
        <p:txBody>
          <a:bodyPr wrap="square" rtlCol="0">
            <a:spAutoFit/>
          </a:bodyPr>
          <a:p>
            <a:pPr algn="ctr"/>
            <a:r>
              <a:rPr lang="zh-CN" altLang="en-US" sz="1600" b="1">
                <a:solidFill>
                  <a:schemeClr val="accent5"/>
                </a:solidFill>
                <a:latin typeface="微软雅黑" panose="020B0503020204020204" charset="-122"/>
                <a:ea typeface="微软雅黑" panose="020B0503020204020204" charset="-122"/>
                <a:cs typeface="微软雅黑" panose="020B0503020204020204" charset="-122"/>
              </a:rPr>
              <a:t>营销目的</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28" name="燕尾形 27"/>
          <p:cNvSpPr/>
          <p:nvPr>
            <p:custDataLst>
              <p:tags r:id="rId9"/>
            </p:custDataLst>
          </p:nvPr>
        </p:nvSpPr>
        <p:spPr>
          <a:xfrm>
            <a:off x="8412480" y="1800860"/>
            <a:ext cx="1665605" cy="706755"/>
          </a:xfrm>
          <a:prstGeom prst="chevron">
            <a:avLst/>
          </a:prstGeom>
          <a:gradFill>
            <a:gsLst>
              <a:gs pos="0">
                <a:schemeClr val="accent1"/>
              </a:gs>
              <a:gs pos="100000">
                <a:schemeClr val="accent1">
                  <a:lumMod val="60000"/>
                  <a:lumOff val="4000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38" name="文本框 37"/>
          <p:cNvSpPr txBox="1"/>
          <p:nvPr>
            <p:custDataLst>
              <p:tags r:id="rId10"/>
            </p:custDataLst>
          </p:nvPr>
        </p:nvSpPr>
        <p:spPr>
          <a:xfrm>
            <a:off x="3022600" y="2597150"/>
            <a:ext cx="1229995" cy="829945"/>
          </a:xfrm>
          <a:prstGeom prst="rect">
            <a:avLst/>
          </a:prstGeom>
          <a:noFill/>
        </p:spPr>
        <p:txBody>
          <a:bodyPr wrap="square" rtlCol="0">
            <a:spAutoFit/>
          </a:bodyPr>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sym typeface="+mn-ea"/>
              </a:rPr>
              <a:t>快速渗透，提升渗透率与高客单价产品的转化率</a:t>
            </a:r>
            <a:endParaRPr lang="zh-CN" altLang="en-US" sz="12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39" name="文本框 38"/>
          <p:cNvSpPr txBox="1"/>
          <p:nvPr>
            <p:custDataLst>
              <p:tags r:id="rId11"/>
            </p:custDataLst>
          </p:nvPr>
        </p:nvSpPr>
        <p:spPr>
          <a:xfrm>
            <a:off x="4392295" y="2597150"/>
            <a:ext cx="1229995" cy="829945"/>
          </a:xfrm>
          <a:prstGeom prst="rect">
            <a:avLst/>
          </a:prstGeom>
          <a:noFill/>
        </p:spPr>
        <p:txBody>
          <a:bodyPr wrap="square" rtlCol="0">
            <a:spAutoFit/>
          </a:bodyPr>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rPr>
              <a:t>高频营销，抓住用户痛点，促进活跃，提升转化</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0" name="文本框 39"/>
          <p:cNvSpPr txBox="1"/>
          <p:nvPr>
            <p:custDataLst>
              <p:tags r:id="rId12"/>
            </p:custDataLst>
          </p:nvPr>
        </p:nvSpPr>
        <p:spPr>
          <a:xfrm>
            <a:off x="5761990" y="2597150"/>
            <a:ext cx="1229995" cy="829945"/>
          </a:xfrm>
          <a:prstGeom prst="rect">
            <a:avLst/>
          </a:prstGeom>
          <a:noFill/>
        </p:spPr>
        <p:txBody>
          <a:bodyPr wrap="square" rtlCol="0">
            <a:spAutoFit/>
          </a:bodyPr>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rPr>
              <a:t>积分体系绑定高频服务</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固化忠诚行为，建立服务依赖</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1" name="文本框 40"/>
          <p:cNvSpPr txBox="1"/>
          <p:nvPr>
            <p:custDataLst>
              <p:tags r:id="rId13"/>
            </p:custDataLst>
          </p:nvPr>
        </p:nvSpPr>
        <p:spPr>
          <a:xfrm>
            <a:off x="7131685" y="2597150"/>
            <a:ext cx="1229995" cy="829945"/>
          </a:xfrm>
          <a:prstGeom prst="rect">
            <a:avLst/>
          </a:prstGeom>
          <a:noFill/>
        </p:spPr>
        <p:txBody>
          <a:bodyPr wrap="square" rtlCol="0">
            <a:spAutoFit/>
          </a:bodyPr>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rPr>
              <a:t>多重营销，深挖需求，提升转化率与复购率</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2" name="文本框 41"/>
          <p:cNvSpPr txBox="1"/>
          <p:nvPr>
            <p:custDataLst>
              <p:tags r:id="rId14"/>
            </p:custDataLst>
          </p:nvPr>
        </p:nvSpPr>
        <p:spPr>
          <a:xfrm>
            <a:off x="8501380" y="2597150"/>
            <a:ext cx="1229995" cy="829945"/>
          </a:xfrm>
          <a:prstGeom prst="rect">
            <a:avLst/>
          </a:prstGeom>
          <a:noFill/>
        </p:spPr>
        <p:txBody>
          <a:bodyPr wrap="square" rtlCol="0">
            <a:spAutoFit/>
          </a:bodyPr>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rPr>
              <a:t>低强度维系（生日福利</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延缓流失，维持基础贡献</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3" name="文本框 42"/>
          <p:cNvSpPr txBox="1"/>
          <p:nvPr>
            <p:custDataLst>
              <p:tags r:id="rId15"/>
            </p:custDataLst>
          </p:nvPr>
        </p:nvSpPr>
        <p:spPr>
          <a:xfrm>
            <a:off x="9871075" y="2597150"/>
            <a:ext cx="1229995" cy="829945"/>
          </a:xfrm>
          <a:prstGeom prst="rect">
            <a:avLst/>
          </a:prstGeom>
          <a:noFill/>
        </p:spPr>
        <p:txBody>
          <a:bodyPr wrap="square" rtlCol="0">
            <a:spAutoFit/>
          </a:bodyPr>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rPr>
              <a:t>客户召回，硬件升级定向推送（旧换新补贴）</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 name="矩形 7"/>
          <p:cNvSpPr/>
          <p:nvPr>
            <p:custDataLst>
              <p:tags r:id="rId16"/>
            </p:custDataLst>
          </p:nvPr>
        </p:nvSpPr>
        <p:spPr>
          <a:xfrm>
            <a:off x="3127375" y="1873885"/>
            <a:ext cx="1142365" cy="553085"/>
          </a:xfrm>
          <a:prstGeom prst="rect">
            <a:avLst/>
          </a:prstGeom>
          <a:noFill/>
          <a:ln>
            <a:noFill/>
          </a:ln>
          <a:extLst>
            <a:ext uri="{909E8E84-426E-40DD-AFC4-6F175D3DCCD1}">
              <a14:hiddenFill xmlns:a14="http://schemas.microsoft.com/office/drawing/2010/main">
                <a:gradFill>
                  <a:gsLst>
                    <a:gs pos="0">
                      <a:schemeClr val="accent1"/>
                    </a:gs>
                    <a:gs pos="100000">
                      <a:schemeClr val="accent1">
                        <a:lumMod val="60000"/>
                        <a:lumOff val="40000"/>
                      </a:schemeClr>
                    </a:gs>
                  </a:gsLst>
                  <a:lin ang="2700000" scaled="0"/>
                </a:gra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500" b="1">
                <a:latin typeface="微软雅黑" panose="020B0503020204020204" charset="-122"/>
                <a:ea typeface="微软雅黑" panose="020B0503020204020204" charset="-122"/>
                <a:cs typeface="微软雅黑" panose="020B0503020204020204" charset="-122"/>
                <a:sym typeface="+mn-ea"/>
              </a:rPr>
              <a:t>引入期</a:t>
            </a:r>
            <a:endParaRPr lang="zh-CN" altLang="en-US" sz="1500" b="1">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1500" b="1">
                <a:latin typeface="微软雅黑" panose="020B0503020204020204" charset="-122"/>
                <a:ea typeface="微软雅黑" panose="020B0503020204020204" charset="-122"/>
                <a:cs typeface="微软雅黑" panose="020B0503020204020204" charset="-122"/>
                <a:sym typeface="+mn-ea"/>
              </a:rPr>
              <a:t>新车交付</a:t>
            </a:r>
            <a:endParaRPr lang="zh-CN" altLang="en-US" sz="1500" b="1">
              <a:latin typeface="微软雅黑" panose="020B0503020204020204" charset="-122"/>
              <a:ea typeface="微软雅黑" panose="020B0503020204020204" charset="-122"/>
              <a:cs typeface="微软雅黑" panose="020B0503020204020204" charset="-122"/>
              <a:sym typeface="+mn-ea"/>
            </a:endParaRPr>
          </a:p>
        </p:txBody>
      </p:sp>
      <p:sp>
        <p:nvSpPr>
          <p:cNvPr id="18" name="文本框 17"/>
          <p:cNvSpPr txBox="1"/>
          <p:nvPr>
            <p:custDataLst>
              <p:tags r:id="rId17"/>
            </p:custDataLst>
          </p:nvPr>
        </p:nvSpPr>
        <p:spPr>
          <a:xfrm>
            <a:off x="4528820" y="1880235"/>
            <a:ext cx="1142365" cy="553085"/>
          </a:xfrm>
          <a:prstGeom prst="rect">
            <a:avLst/>
          </a:prstGeom>
          <a:noFill/>
        </p:spPr>
        <p:txBody>
          <a:bodyPr wrap="square" rtlCol="0">
            <a:spAutoFit/>
          </a:bodyPr>
          <a:p>
            <a:pPr algn="ctr"/>
            <a:r>
              <a:rPr lang="zh-CN" altLang="en-US" sz="1500" b="1">
                <a:solidFill>
                  <a:schemeClr val="bg1"/>
                </a:solidFill>
                <a:latin typeface="微软雅黑" panose="020B0503020204020204" charset="-122"/>
                <a:ea typeface="微软雅黑" panose="020B0503020204020204" charset="-122"/>
                <a:cs typeface="微软雅黑" panose="020B0503020204020204" charset="-122"/>
              </a:rPr>
              <a:t>成长期</a:t>
            </a:r>
            <a:endParaRPr lang="zh-CN" altLang="en-US" sz="1500" b="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500" b="1">
                <a:solidFill>
                  <a:schemeClr val="bg1"/>
                </a:solidFill>
                <a:latin typeface="微软雅黑" panose="020B0503020204020204" charset="-122"/>
                <a:ea typeface="微软雅黑" panose="020B0503020204020204" charset="-122"/>
                <a:cs typeface="微软雅黑" panose="020B0503020204020204" charset="-122"/>
              </a:rPr>
              <a:t>交车</a:t>
            </a:r>
            <a:r>
              <a:rPr lang="en-US" altLang="zh-CN" sz="1500" b="1">
                <a:solidFill>
                  <a:schemeClr val="bg1"/>
                </a:solidFill>
                <a:latin typeface="微软雅黑" panose="020B0503020204020204" charset="-122"/>
                <a:ea typeface="微软雅黑" panose="020B0503020204020204" charset="-122"/>
                <a:cs typeface="微软雅黑" panose="020B0503020204020204" charset="-122"/>
              </a:rPr>
              <a:t>100</a:t>
            </a:r>
            <a:r>
              <a:rPr lang="zh-CN" altLang="en-US" sz="1500" b="1">
                <a:solidFill>
                  <a:schemeClr val="bg1"/>
                </a:solidFill>
                <a:latin typeface="微软雅黑" panose="020B0503020204020204" charset="-122"/>
                <a:ea typeface="微软雅黑" panose="020B0503020204020204" charset="-122"/>
                <a:cs typeface="微软雅黑" panose="020B0503020204020204" charset="-122"/>
              </a:rPr>
              <a:t>天</a:t>
            </a:r>
            <a:endParaRPr lang="zh-CN" altLang="en-US" sz="15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1" name="文本框 20"/>
          <p:cNvSpPr txBox="1"/>
          <p:nvPr>
            <p:custDataLst>
              <p:tags r:id="rId18"/>
            </p:custDataLst>
          </p:nvPr>
        </p:nvSpPr>
        <p:spPr>
          <a:xfrm>
            <a:off x="5928995" y="1873885"/>
            <a:ext cx="1142365" cy="553085"/>
          </a:xfrm>
          <a:prstGeom prst="rect">
            <a:avLst/>
          </a:prstGeom>
          <a:noFill/>
        </p:spPr>
        <p:txBody>
          <a:bodyPr wrap="square" rtlCol="0">
            <a:spAutoFit/>
          </a:bodyPr>
          <a:p>
            <a:pPr algn="ctr"/>
            <a:r>
              <a:rPr lang="zh-CN" altLang="en-US" sz="1500" b="1">
                <a:solidFill>
                  <a:schemeClr val="bg1"/>
                </a:solidFill>
                <a:latin typeface="微软雅黑" panose="020B0503020204020204" charset="-122"/>
                <a:ea typeface="微软雅黑" panose="020B0503020204020204" charset="-122"/>
                <a:cs typeface="微软雅黑" panose="020B0503020204020204" charset="-122"/>
              </a:rPr>
              <a:t>养成期</a:t>
            </a:r>
            <a:endParaRPr lang="zh-CN" altLang="en-US" sz="1500" b="1">
              <a:solidFill>
                <a:schemeClr val="bg1"/>
              </a:solidFill>
              <a:latin typeface="微软雅黑" panose="020B0503020204020204" charset="-122"/>
              <a:ea typeface="微软雅黑" panose="020B0503020204020204" charset="-122"/>
              <a:cs typeface="微软雅黑" panose="020B0503020204020204" charset="-122"/>
            </a:endParaRPr>
          </a:p>
          <a:p>
            <a:pPr algn="ctr"/>
            <a:r>
              <a:rPr lang="en-US" altLang="zh-CN" sz="1500" b="1">
                <a:solidFill>
                  <a:schemeClr val="bg1"/>
                </a:solidFill>
                <a:latin typeface="微软雅黑" panose="020B0503020204020204" charset="-122"/>
                <a:ea typeface="微软雅黑" panose="020B0503020204020204" charset="-122"/>
                <a:cs typeface="微软雅黑" panose="020B0503020204020204" charset="-122"/>
              </a:rPr>
              <a:t>&lt;1</a:t>
            </a:r>
            <a:r>
              <a:rPr lang="zh-CN" altLang="en-US" sz="1500" b="1">
                <a:solidFill>
                  <a:schemeClr val="bg1"/>
                </a:solidFill>
                <a:latin typeface="微软雅黑" panose="020B0503020204020204" charset="-122"/>
                <a:ea typeface="微软雅黑" panose="020B0503020204020204" charset="-122"/>
                <a:cs typeface="微软雅黑" panose="020B0503020204020204" charset="-122"/>
              </a:rPr>
              <a:t>年车龄</a:t>
            </a:r>
            <a:endParaRPr lang="zh-CN" altLang="en-US" sz="15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custDataLst>
              <p:tags r:id="rId19"/>
            </p:custDataLst>
          </p:nvPr>
        </p:nvSpPr>
        <p:spPr>
          <a:xfrm>
            <a:off x="7329170" y="1873885"/>
            <a:ext cx="1142365" cy="553085"/>
          </a:xfrm>
          <a:prstGeom prst="rect">
            <a:avLst/>
          </a:prstGeom>
          <a:noFill/>
        </p:spPr>
        <p:txBody>
          <a:bodyPr wrap="square" rtlCol="0">
            <a:spAutoFit/>
          </a:bodyPr>
          <a:p>
            <a:pPr algn="ctr"/>
            <a:r>
              <a:rPr lang="zh-CN" altLang="en-US" sz="1500" b="1">
                <a:solidFill>
                  <a:schemeClr val="bg1"/>
                </a:solidFill>
                <a:latin typeface="微软雅黑" panose="020B0503020204020204" charset="-122"/>
                <a:ea typeface="微软雅黑" panose="020B0503020204020204" charset="-122"/>
                <a:cs typeface="微软雅黑" panose="020B0503020204020204" charset="-122"/>
              </a:rPr>
              <a:t>成熟期</a:t>
            </a:r>
            <a:endParaRPr lang="zh-CN" altLang="en-US" sz="1500" b="1">
              <a:solidFill>
                <a:schemeClr val="bg1"/>
              </a:solidFill>
              <a:latin typeface="微软雅黑" panose="020B0503020204020204" charset="-122"/>
              <a:ea typeface="微软雅黑" panose="020B0503020204020204" charset="-122"/>
              <a:cs typeface="微软雅黑" panose="020B0503020204020204" charset="-122"/>
            </a:endParaRPr>
          </a:p>
          <a:p>
            <a:pPr algn="ctr"/>
            <a:r>
              <a:rPr lang="en-US" altLang="zh-CN" sz="1500" b="1">
                <a:solidFill>
                  <a:schemeClr val="bg1"/>
                </a:solidFill>
                <a:latin typeface="微软雅黑" panose="020B0503020204020204" charset="-122"/>
                <a:ea typeface="微软雅黑" panose="020B0503020204020204" charset="-122"/>
                <a:cs typeface="微软雅黑" panose="020B0503020204020204" charset="-122"/>
              </a:rPr>
              <a:t>&lt;3</a:t>
            </a:r>
            <a:r>
              <a:rPr lang="zh-CN" altLang="en-US" sz="1500" b="1">
                <a:solidFill>
                  <a:schemeClr val="bg1"/>
                </a:solidFill>
                <a:latin typeface="微软雅黑" panose="020B0503020204020204" charset="-122"/>
                <a:ea typeface="微软雅黑" panose="020B0503020204020204" charset="-122"/>
                <a:cs typeface="微软雅黑" panose="020B0503020204020204" charset="-122"/>
              </a:rPr>
              <a:t>年车龄</a:t>
            </a:r>
            <a:endParaRPr lang="zh-CN" altLang="en-US" sz="15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3" name="文本框 22"/>
          <p:cNvSpPr txBox="1"/>
          <p:nvPr>
            <p:custDataLst>
              <p:tags r:id="rId20"/>
            </p:custDataLst>
          </p:nvPr>
        </p:nvSpPr>
        <p:spPr>
          <a:xfrm>
            <a:off x="8729345" y="1867535"/>
            <a:ext cx="1142365" cy="553085"/>
          </a:xfrm>
          <a:prstGeom prst="rect">
            <a:avLst/>
          </a:prstGeom>
          <a:noFill/>
        </p:spPr>
        <p:txBody>
          <a:bodyPr wrap="square" rtlCol="0">
            <a:spAutoFit/>
          </a:bodyPr>
          <a:p>
            <a:pPr algn="ctr"/>
            <a:r>
              <a:rPr lang="zh-CN" altLang="en-US" sz="1500" b="1">
                <a:solidFill>
                  <a:schemeClr val="bg1"/>
                </a:solidFill>
                <a:latin typeface="微软雅黑" panose="020B0503020204020204" charset="-122"/>
                <a:ea typeface="微软雅黑" panose="020B0503020204020204" charset="-122"/>
                <a:cs typeface="微软雅黑" panose="020B0503020204020204" charset="-122"/>
              </a:rPr>
              <a:t>休眠期</a:t>
            </a:r>
            <a:endParaRPr lang="zh-CN" altLang="en-US" sz="1500" b="1">
              <a:solidFill>
                <a:schemeClr val="bg1"/>
              </a:solidFill>
              <a:latin typeface="微软雅黑" panose="020B0503020204020204" charset="-122"/>
              <a:ea typeface="微软雅黑" panose="020B0503020204020204" charset="-122"/>
              <a:cs typeface="微软雅黑" panose="020B0503020204020204" charset="-122"/>
            </a:endParaRPr>
          </a:p>
          <a:p>
            <a:pPr algn="ctr"/>
            <a:r>
              <a:rPr lang="en-US" altLang="zh-CN" sz="1500" b="1">
                <a:solidFill>
                  <a:schemeClr val="bg1"/>
                </a:solidFill>
                <a:latin typeface="微软雅黑" panose="020B0503020204020204" charset="-122"/>
                <a:ea typeface="微软雅黑" panose="020B0503020204020204" charset="-122"/>
                <a:cs typeface="微软雅黑" panose="020B0503020204020204" charset="-122"/>
              </a:rPr>
              <a:t>3-5</a:t>
            </a:r>
            <a:r>
              <a:rPr lang="zh-CN" altLang="en-US" sz="1500" b="1">
                <a:solidFill>
                  <a:schemeClr val="bg1"/>
                </a:solidFill>
                <a:latin typeface="微软雅黑" panose="020B0503020204020204" charset="-122"/>
                <a:ea typeface="微软雅黑" panose="020B0503020204020204" charset="-122"/>
                <a:cs typeface="微软雅黑" panose="020B0503020204020204" charset="-122"/>
              </a:rPr>
              <a:t>年车龄</a:t>
            </a:r>
            <a:endParaRPr lang="zh-CN" altLang="en-US" sz="15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custDataLst>
              <p:tags r:id="rId21"/>
            </p:custDataLst>
          </p:nvPr>
        </p:nvSpPr>
        <p:spPr>
          <a:xfrm>
            <a:off x="10110470" y="1873885"/>
            <a:ext cx="1142365" cy="553085"/>
          </a:xfrm>
          <a:prstGeom prst="rect">
            <a:avLst/>
          </a:prstGeom>
          <a:noFill/>
        </p:spPr>
        <p:txBody>
          <a:bodyPr wrap="square" rtlCol="0">
            <a:spAutoFit/>
          </a:bodyPr>
          <a:p>
            <a:pPr algn="ctr"/>
            <a:r>
              <a:rPr lang="zh-CN" altLang="en-US" sz="1500" b="1">
                <a:solidFill>
                  <a:schemeClr val="bg1"/>
                </a:solidFill>
                <a:latin typeface="微软雅黑" panose="020B0503020204020204" charset="-122"/>
                <a:ea typeface="微软雅黑" panose="020B0503020204020204" charset="-122"/>
                <a:cs typeface="微软雅黑" panose="020B0503020204020204" charset="-122"/>
              </a:rPr>
              <a:t>流失期</a:t>
            </a:r>
            <a:endParaRPr lang="zh-CN" altLang="en-US" sz="1500" b="1">
              <a:solidFill>
                <a:schemeClr val="bg1"/>
              </a:solidFill>
              <a:latin typeface="微软雅黑" panose="020B0503020204020204" charset="-122"/>
              <a:ea typeface="微软雅黑" panose="020B0503020204020204" charset="-122"/>
              <a:cs typeface="微软雅黑" panose="020B0503020204020204" charset="-122"/>
            </a:endParaRPr>
          </a:p>
          <a:p>
            <a:pPr algn="ctr"/>
            <a:r>
              <a:rPr lang="en-US" sz="1500" b="1">
                <a:solidFill>
                  <a:schemeClr val="bg1"/>
                </a:solidFill>
                <a:latin typeface="微软雅黑" panose="020B0503020204020204" charset="-122"/>
                <a:ea typeface="微软雅黑" panose="020B0503020204020204" charset="-122"/>
                <a:cs typeface="微软雅黑" panose="020B0503020204020204" charset="-122"/>
              </a:rPr>
              <a:t>5</a:t>
            </a:r>
            <a:r>
              <a:rPr lang="zh-CN" altLang="en-US" sz="1500" b="1">
                <a:solidFill>
                  <a:schemeClr val="bg1"/>
                </a:solidFill>
                <a:latin typeface="微软雅黑" panose="020B0503020204020204" charset="-122"/>
                <a:ea typeface="微软雅黑" panose="020B0503020204020204" charset="-122"/>
                <a:cs typeface="微软雅黑" panose="020B0503020204020204" charset="-122"/>
              </a:rPr>
              <a:t>年</a:t>
            </a:r>
            <a:r>
              <a:rPr lang="en-US" altLang="zh-CN" sz="1500" b="1">
                <a:solidFill>
                  <a:schemeClr val="bg1"/>
                </a:solidFill>
                <a:latin typeface="微软雅黑" panose="020B0503020204020204" charset="-122"/>
                <a:ea typeface="微软雅黑" panose="020B0503020204020204" charset="-122"/>
                <a:cs typeface="微软雅黑" panose="020B0503020204020204" charset="-122"/>
              </a:rPr>
              <a:t>+</a:t>
            </a:r>
            <a:r>
              <a:rPr lang="zh-CN" altLang="en-US" sz="1500" b="1">
                <a:solidFill>
                  <a:schemeClr val="bg1"/>
                </a:solidFill>
                <a:latin typeface="微软雅黑" panose="020B0503020204020204" charset="-122"/>
                <a:ea typeface="微软雅黑" panose="020B0503020204020204" charset="-122"/>
                <a:cs typeface="微软雅黑" panose="020B0503020204020204" charset="-122"/>
              </a:rPr>
              <a:t>车龄</a:t>
            </a:r>
            <a:endParaRPr lang="zh-CN" altLang="en-US" sz="1500" b="1">
              <a:solidFill>
                <a:schemeClr val="bg1"/>
              </a:solidFill>
              <a:latin typeface="微软雅黑" panose="020B0503020204020204" charset="-122"/>
              <a:ea typeface="微软雅黑" panose="020B0503020204020204" charset="-122"/>
              <a:cs typeface="微软雅黑" panose="020B0503020204020204" charset="-122"/>
            </a:endParaRPr>
          </a:p>
        </p:txBody>
      </p:sp>
      <p:cxnSp>
        <p:nvCxnSpPr>
          <p:cNvPr id="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5" name="组合 24"/>
          <p:cNvGrpSpPr/>
          <p:nvPr/>
        </p:nvGrpSpPr>
        <p:grpSpPr>
          <a:xfrm>
            <a:off x="8738235" y="348615"/>
            <a:ext cx="3219450" cy="332740"/>
            <a:chOff x="13761" y="549"/>
            <a:chExt cx="5070" cy="524"/>
          </a:xfrm>
        </p:grpSpPr>
        <p:pic>
          <p:nvPicPr>
            <p:cNvPr id="27" name="图片 26"/>
            <p:cNvPicPr>
              <a:picLocks noChangeAspect="1"/>
            </p:cNvPicPr>
            <p:nvPr userDrawn="1"/>
          </p:nvPicPr>
          <p:blipFill>
            <a:blip r:embed="rId22"/>
            <a:srcRect l="17002" t="-1765" r="56499" b="-1176"/>
            <a:stretch>
              <a:fillRect/>
            </a:stretch>
          </p:blipFill>
          <p:spPr>
            <a:xfrm>
              <a:off x="13761" y="549"/>
              <a:ext cx="1582" cy="525"/>
            </a:xfrm>
            <a:prstGeom prst="rect">
              <a:avLst/>
            </a:prstGeom>
          </p:spPr>
        </p:pic>
        <p:sp>
          <p:nvSpPr>
            <p:cNvPr id="29" name="文本框 28"/>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双十一推广方案</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144" name="天蝎PPT原创©1"/>
          <p:cNvSpPr/>
          <p:nvPr/>
        </p:nvSpPr>
        <p:spPr>
          <a:xfrm>
            <a:off x="1689340" y="2509832"/>
            <a:ext cx="3114259" cy="1509699"/>
          </a:xfrm>
          <a:prstGeom prst="rect">
            <a:avLst/>
          </a:prstGeom>
          <a:solidFill>
            <a:schemeClr val="accent1">
              <a:lumMod val="20000"/>
              <a:lumOff val="80000"/>
              <a:alpha val="20000"/>
            </a:schemeClr>
          </a:solidFill>
          <a:ln w="12700">
            <a:solidFill>
              <a:schemeClr val="accent1">
                <a:lumMod val="60000"/>
                <a:lumOff val="40000"/>
                <a:alpha val="70000"/>
              </a:schemeClr>
            </a:soli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145" name="天蝎PPT原创©6"/>
          <p:cNvSpPr/>
          <p:nvPr/>
        </p:nvSpPr>
        <p:spPr>
          <a:xfrm>
            <a:off x="549826" y="1045935"/>
            <a:ext cx="1012699" cy="827810"/>
          </a:xfrm>
          <a:prstGeom prst="rect">
            <a:avLst/>
          </a:prstGeom>
          <a:solidFill>
            <a:schemeClr val="bg1"/>
          </a:solidFill>
          <a:ln w="12700">
            <a:solidFill>
              <a:schemeClr val="accent1"/>
            </a:solidFill>
            <a:prstDash val="solid"/>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146" name="天蝎PPT原创©7"/>
          <p:cNvSpPr/>
          <p:nvPr/>
        </p:nvSpPr>
        <p:spPr>
          <a:xfrm>
            <a:off x="1689340" y="1953985"/>
            <a:ext cx="3114259" cy="470195"/>
          </a:xfrm>
          <a:prstGeom prst="rect">
            <a:avLst/>
          </a:prstGeom>
          <a:solidFill>
            <a:schemeClr val="accent1">
              <a:lumMod val="20000"/>
              <a:lumOff val="80000"/>
              <a:alpha val="20000"/>
            </a:schemeClr>
          </a:solidFill>
          <a:ln w="12700">
            <a:solidFill>
              <a:schemeClr val="accent1">
                <a:lumMod val="60000"/>
                <a:lumOff val="40000"/>
                <a:alpha val="70000"/>
              </a:schemeClr>
            </a:solid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147" name="天蝎PPT原创©8"/>
          <p:cNvSpPr/>
          <p:nvPr/>
        </p:nvSpPr>
        <p:spPr>
          <a:xfrm>
            <a:off x="5072083" y="1953985"/>
            <a:ext cx="3114259" cy="470195"/>
          </a:xfrm>
          <a:prstGeom prst="rect">
            <a:avLst/>
          </a:prstGeom>
          <a:solidFill>
            <a:schemeClr val="accent5">
              <a:lumMod val="20000"/>
              <a:lumOff val="80000"/>
              <a:alpha val="20000"/>
            </a:schemeClr>
          </a:solidFill>
          <a:ln w="12700">
            <a:solidFill>
              <a:schemeClr val="accent5">
                <a:lumMod val="60000"/>
                <a:lumOff val="40000"/>
                <a:alpha val="70000"/>
              </a:schemeClr>
            </a:soli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148" name="天蝎PPT原创©9"/>
          <p:cNvSpPr/>
          <p:nvPr/>
        </p:nvSpPr>
        <p:spPr>
          <a:xfrm>
            <a:off x="8449330" y="1953985"/>
            <a:ext cx="3114259" cy="470195"/>
          </a:xfrm>
          <a:prstGeom prst="rect">
            <a:avLst/>
          </a:prstGeom>
          <a:solidFill>
            <a:schemeClr val="accent1">
              <a:lumMod val="20000"/>
              <a:lumOff val="80000"/>
              <a:alpha val="20000"/>
            </a:schemeClr>
          </a:solidFill>
          <a:ln w="12700">
            <a:solidFill>
              <a:schemeClr val="accent1">
                <a:lumMod val="60000"/>
                <a:lumOff val="40000"/>
                <a:alpha val="70000"/>
              </a:schemeClr>
            </a:soli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149" name="天蝎PPT原创©10"/>
          <p:cNvSpPr/>
          <p:nvPr/>
        </p:nvSpPr>
        <p:spPr>
          <a:xfrm>
            <a:off x="549826" y="1956216"/>
            <a:ext cx="1012699" cy="470195"/>
          </a:xfrm>
          <a:prstGeom prst="rect">
            <a:avLst/>
          </a:prstGeom>
          <a:solidFill>
            <a:schemeClr val="bg1"/>
          </a:solidFill>
          <a:ln w="12700">
            <a:solidFill>
              <a:schemeClr val="accent1"/>
            </a:solidFill>
            <a:prstDash val="solid"/>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151" name="天蝎PPT原创©12"/>
          <p:cNvSpPr/>
          <p:nvPr/>
        </p:nvSpPr>
        <p:spPr>
          <a:xfrm>
            <a:off x="549826" y="2513860"/>
            <a:ext cx="1012699" cy="1509700"/>
          </a:xfrm>
          <a:prstGeom prst="rect">
            <a:avLst/>
          </a:prstGeom>
          <a:solidFill>
            <a:schemeClr val="bg1"/>
          </a:solidFill>
          <a:ln w="12700">
            <a:solidFill>
              <a:schemeClr val="accent1"/>
            </a:solidFill>
            <a:prstDash val="solid"/>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153" name="天蝎PPT原创©14"/>
          <p:cNvSpPr/>
          <p:nvPr/>
        </p:nvSpPr>
        <p:spPr>
          <a:xfrm>
            <a:off x="549826" y="4115051"/>
            <a:ext cx="1012699" cy="628754"/>
          </a:xfrm>
          <a:prstGeom prst="rect">
            <a:avLst/>
          </a:prstGeom>
          <a:solidFill>
            <a:schemeClr val="bg1"/>
          </a:solidFill>
          <a:ln w="12700">
            <a:solidFill>
              <a:schemeClr val="accent1"/>
            </a:solidFill>
            <a:prstDash val="solid"/>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154" name="天蝎PPT原创©15"/>
          <p:cNvSpPr/>
          <p:nvPr/>
        </p:nvSpPr>
        <p:spPr>
          <a:xfrm>
            <a:off x="549826" y="4835296"/>
            <a:ext cx="1012699" cy="753301"/>
          </a:xfrm>
          <a:prstGeom prst="rect">
            <a:avLst/>
          </a:prstGeom>
          <a:solidFill>
            <a:schemeClr val="bg1"/>
          </a:solidFill>
          <a:ln w="12700">
            <a:solidFill>
              <a:schemeClr val="accent5"/>
            </a:solidFill>
            <a:prstDash val="solid"/>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155" name="天蝎PPT原创©16"/>
          <p:cNvSpPr/>
          <p:nvPr/>
        </p:nvSpPr>
        <p:spPr>
          <a:xfrm>
            <a:off x="549826" y="5680088"/>
            <a:ext cx="1012699" cy="893648"/>
          </a:xfrm>
          <a:prstGeom prst="rect">
            <a:avLst/>
          </a:prstGeom>
          <a:solidFill>
            <a:schemeClr val="bg1"/>
          </a:solidFill>
          <a:ln w="12700">
            <a:solidFill>
              <a:schemeClr val="accent1"/>
            </a:solidFill>
            <a:prstDash val="solid"/>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157" name="天蝎PPT原创©18"/>
          <p:cNvSpPr/>
          <p:nvPr/>
        </p:nvSpPr>
        <p:spPr>
          <a:xfrm>
            <a:off x="1683771" y="1548669"/>
            <a:ext cx="3260088" cy="325076"/>
          </a:xfrm>
          <a:prstGeom prst="homePlate">
            <a:avLst/>
          </a:prstGeom>
          <a:gradFill>
            <a:gsLst>
              <a:gs pos="0">
                <a:schemeClr val="accent1"/>
              </a:gs>
              <a:gs pos="100000">
                <a:schemeClr val="accent1">
                  <a:lumMod val="60000"/>
                  <a:lumOff val="40000"/>
                </a:schemeClr>
              </a:gs>
            </a:gsLst>
            <a:lin ang="2700000" scaled="0"/>
          </a:gradFill>
          <a:ln>
            <a:noFill/>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58" name="天蝎PPT原创©19"/>
          <p:cNvSpPr/>
          <p:nvPr/>
        </p:nvSpPr>
        <p:spPr>
          <a:xfrm>
            <a:off x="5053895" y="1542067"/>
            <a:ext cx="3208500" cy="342196"/>
          </a:xfrm>
          <a:prstGeom prst="chevron">
            <a:avLst/>
          </a:prstGeom>
          <a:gradFill>
            <a:gsLst>
              <a:gs pos="0">
                <a:schemeClr val="accent5"/>
              </a:gs>
              <a:gs pos="100000">
                <a:schemeClr val="accent5">
                  <a:lumMod val="40000"/>
                  <a:lumOff val="60000"/>
                </a:schemeClr>
              </a:gs>
            </a:gsLst>
            <a:lin ang="2700000" scaled="0"/>
          </a:gradFill>
          <a:ln>
            <a:noFill/>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65" name="天蝎PPT原创©20"/>
          <p:cNvSpPr/>
          <p:nvPr/>
        </p:nvSpPr>
        <p:spPr>
          <a:xfrm>
            <a:off x="8372431" y="1542067"/>
            <a:ext cx="3208500" cy="342196"/>
          </a:xfrm>
          <a:prstGeom prst="chevron">
            <a:avLst/>
          </a:prstGeom>
          <a:gradFill>
            <a:gsLst>
              <a:gs pos="0">
                <a:schemeClr val="accent1"/>
              </a:gs>
              <a:gs pos="100000">
                <a:schemeClr val="accent1">
                  <a:lumMod val="60000"/>
                  <a:lumOff val="40000"/>
                </a:schemeClr>
              </a:gs>
            </a:gsLst>
            <a:lin ang="2700000" scaled="0"/>
          </a:gradFill>
          <a:ln>
            <a:noFill/>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66" name="天蝎PPT原创©21"/>
          <p:cNvSpPr txBox="1"/>
          <p:nvPr/>
        </p:nvSpPr>
        <p:spPr>
          <a:xfrm>
            <a:off x="2150189" y="1555957"/>
            <a:ext cx="1986441" cy="307777"/>
          </a:xfrm>
          <a:prstGeom prst="rect">
            <a:avLst/>
          </a:prstGeom>
          <a:noFill/>
        </p:spPr>
        <p:txBody>
          <a:bodyPr wrap="none" rtlCol="0">
            <a:spAutoFit/>
          </a:bodyPr>
          <a:lstStyle/>
          <a:p>
            <a:r>
              <a:rPr kumimoji="1" lang="en-US" altLang="zh-CN" sz="1400" b="1" dirty="0">
                <a:solidFill>
                  <a:srgbClr val="FFFFFF"/>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kumimoji="1" lang="zh-CN" altLang="en-US" sz="1400" b="1" dirty="0">
                <a:solidFill>
                  <a:srgbClr val="FFFFFF"/>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种草期</a:t>
            </a:r>
            <a:r>
              <a:rPr kumimoji="1" lang="en-US" altLang="zh-CN" sz="1400" b="1" dirty="0">
                <a:solidFill>
                  <a:srgbClr val="FFFFFF"/>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kumimoji="1" lang="zh-CN" altLang="en-US" sz="1400" b="1" dirty="0">
                <a:solidFill>
                  <a:srgbClr val="FFFFFF"/>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 </a:t>
            </a:r>
            <a:r>
              <a:rPr kumimoji="1" lang="en-US" altLang="zh-CN" sz="1400" b="1" dirty="0">
                <a:solidFill>
                  <a:srgbClr val="FFFFFF"/>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9/30-10/09</a:t>
            </a:r>
            <a:endParaRPr kumimoji="1" lang="zh-CN" altLang="en-US" sz="1400" b="1" dirty="0">
              <a:solidFill>
                <a:srgbClr val="FFFFFF"/>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67" name="天蝎PPT原创©22"/>
          <p:cNvSpPr txBox="1"/>
          <p:nvPr/>
        </p:nvSpPr>
        <p:spPr>
          <a:xfrm>
            <a:off x="5657469" y="1562492"/>
            <a:ext cx="2036135" cy="307777"/>
          </a:xfrm>
          <a:prstGeom prst="rect">
            <a:avLst/>
          </a:prstGeom>
          <a:noFill/>
        </p:spPr>
        <p:txBody>
          <a:bodyPr wrap="none" rtlCol="0">
            <a:spAutoFit/>
          </a:bodyPr>
          <a:lstStyle/>
          <a:p>
            <a:r>
              <a:rPr kumimoji="1" lang="en-US" altLang="zh-CN" sz="1400" b="1" dirty="0">
                <a:solidFill>
                  <a:srgbClr val="FFFFFF"/>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kumimoji="1" lang="zh-CN" altLang="en-US" sz="1400" b="1" dirty="0">
                <a:solidFill>
                  <a:srgbClr val="FFFFFF"/>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预售期</a:t>
            </a:r>
            <a:r>
              <a:rPr kumimoji="1" lang="en-US" altLang="zh-CN" sz="1400" b="1" dirty="0">
                <a:solidFill>
                  <a:srgbClr val="FFFFFF"/>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】10.10-10.30</a:t>
            </a:r>
            <a:endParaRPr kumimoji="1" lang="zh-CN" altLang="en-US" sz="1400" b="1" dirty="0">
              <a:solidFill>
                <a:srgbClr val="FFFFFF"/>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68" name="天蝎PPT原创©23"/>
          <p:cNvSpPr txBox="1"/>
          <p:nvPr/>
        </p:nvSpPr>
        <p:spPr>
          <a:xfrm>
            <a:off x="9012609" y="1562492"/>
            <a:ext cx="1907125" cy="307777"/>
          </a:xfrm>
          <a:prstGeom prst="rect">
            <a:avLst/>
          </a:prstGeom>
          <a:noFill/>
        </p:spPr>
        <p:txBody>
          <a:bodyPr wrap="none" rtlCol="0">
            <a:spAutoFit/>
          </a:bodyPr>
          <a:lstStyle/>
          <a:p>
            <a:r>
              <a:rPr kumimoji="1" lang="en-US" altLang="zh-CN" sz="1400" b="1" dirty="0">
                <a:solidFill>
                  <a:srgbClr val="FFFFFF"/>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kumimoji="1" lang="zh-CN" altLang="en-US" sz="1400" b="1" dirty="0">
                <a:solidFill>
                  <a:srgbClr val="FFFFFF"/>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冲刺期</a:t>
            </a:r>
            <a:r>
              <a:rPr kumimoji="1" lang="en-US" altLang="zh-CN" sz="1400" b="1" dirty="0">
                <a:solidFill>
                  <a:srgbClr val="FFFFFF"/>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】11.1-11.11</a:t>
            </a:r>
            <a:endParaRPr kumimoji="1" lang="zh-CN" altLang="en-US" sz="1400" b="1" dirty="0">
              <a:solidFill>
                <a:srgbClr val="FFFFFF"/>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69" name="天蝎PPT原创©24"/>
          <p:cNvSpPr txBox="1"/>
          <p:nvPr/>
        </p:nvSpPr>
        <p:spPr>
          <a:xfrm>
            <a:off x="2433370" y="2032663"/>
            <a:ext cx="1704313" cy="307777"/>
          </a:xfrm>
          <a:prstGeom prst="rect">
            <a:avLst/>
          </a:prstGeom>
          <a:noFill/>
        </p:spPr>
        <p:txBody>
          <a:bodyPr wrap="none" rtlCol="0">
            <a:spAutoFit/>
          </a:bodyPr>
          <a:lstStyle/>
          <a:p>
            <a:r>
              <a:rPr kumimoji="1" lang="zh-CN" altLang="en-US" sz="1400" b="1" dirty="0">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sym typeface="Arial" panose="020B0604020202020204" pitchFamily="34" charset="0"/>
              </a:rPr>
              <a:t>补充内容 多向种草</a:t>
            </a:r>
            <a:endParaRPr kumimoji="1" lang="zh-CN" altLang="en-US" sz="1400" b="1" dirty="0">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71" name="天蝎PPT原创©25"/>
          <p:cNvSpPr txBox="1"/>
          <p:nvPr/>
        </p:nvSpPr>
        <p:spPr>
          <a:xfrm>
            <a:off x="5929979" y="2044461"/>
            <a:ext cx="1798890" cy="307777"/>
          </a:xfrm>
          <a:prstGeom prst="rect">
            <a:avLst/>
          </a:prstGeom>
          <a:noFill/>
        </p:spPr>
        <p:txBody>
          <a:bodyPr wrap="none" rtlCol="0">
            <a:spAutoFit/>
          </a:bodyPr>
          <a:lstStyle/>
          <a:p>
            <a:r>
              <a:rPr kumimoji="1" lang="zh-CN" altLang="en-US" sz="1400" b="1" dirty="0">
                <a:gradFill>
                  <a:gsLst>
                    <a:gs pos="0">
                      <a:schemeClr val="accent5"/>
                    </a:gs>
                    <a:gs pos="100000">
                      <a:schemeClr val="accent5">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sym typeface="Arial" panose="020B0604020202020204" pitchFamily="34" charset="0"/>
              </a:rPr>
              <a:t>单品</a:t>
            </a:r>
            <a:r>
              <a:rPr kumimoji="1" lang="en-US" altLang="zh-CN" sz="1400" b="1" dirty="0">
                <a:gradFill>
                  <a:gsLst>
                    <a:gs pos="0">
                      <a:schemeClr val="accent5"/>
                    </a:gs>
                    <a:gs pos="100000">
                      <a:schemeClr val="accent5">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sym typeface="Arial" panose="020B0604020202020204" pitchFamily="34" charset="0"/>
              </a:rPr>
              <a:t>x</a:t>
            </a:r>
            <a:r>
              <a:rPr kumimoji="1" lang="zh-CN" altLang="en-US" sz="1400" b="1" dirty="0">
                <a:gradFill>
                  <a:gsLst>
                    <a:gs pos="0">
                      <a:schemeClr val="accent5"/>
                    </a:gs>
                    <a:gs pos="100000">
                      <a:schemeClr val="accent5">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sym typeface="Arial" panose="020B0604020202020204" pitchFamily="34" charset="0"/>
              </a:rPr>
              <a:t>套系 影响决策</a:t>
            </a:r>
            <a:endParaRPr kumimoji="1" lang="zh-CN" altLang="en-US" sz="1400" b="1" dirty="0">
              <a:gradFill>
                <a:gsLst>
                  <a:gs pos="0">
                    <a:schemeClr val="accent5"/>
                  </a:gs>
                  <a:gs pos="100000">
                    <a:schemeClr val="accent5">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72" name="天蝎PPT原创©26"/>
          <p:cNvSpPr txBox="1"/>
          <p:nvPr/>
        </p:nvSpPr>
        <p:spPr>
          <a:xfrm>
            <a:off x="9208420" y="2044461"/>
            <a:ext cx="1704313" cy="307777"/>
          </a:xfrm>
          <a:prstGeom prst="rect">
            <a:avLst/>
          </a:prstGeom>
          <a:noFill/>
        </p:spPr>
        <p:txBody>
          <a:bodyPr wrap="none" rtlCol="0">
            <a:spAutoFit/>
          </a:bodyPr>
          <a:lstStyle/>
          <a:p>
            <a:r>
              <a:rPr kumimoji="1" lang="zh-CN" altLang="en-US" sz="1400" b="1" dirty="0">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sym typeface="Arial" panose="020B0604020202020204" pitchFamily="34" charset="0"/>
              </a:rPr>
              <a:t>预算聚焦 破圈冲刺</a:t>
            </a:r>
            <a:endParaRPr kumimoji="1" lang="zh-CN" altLang="en-US" sz="1400" b="1" dirty="0">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173" name="天蝎PPT原创©27"/>
          <p:cNvCxnSpPr/>
          <p:nvPr/>
        </p:nvCxnSpPr>
        <p:spPr>
          <a:xfrm>
            <a:off x="4943859" y="1953985"/>
            <a:ext cx="0" cy="2873276"/>
          </a:xfrm>
          <a:prstGeom prst="line">
            <a:avLst/>
          </a:prstGeom>
          <a:ln w="9525">
            <a:solidFill>
              <a:srgbClr val="24396B">
                <a:alpha val="27237"/>
              </a:srgbClr>
            </a:solidFill>
            <a:prstDash val="sysDash"/>
          </a:ln>
        </p:spPr>
        <p:style>
          <a:lnRef idx="2">
            <a:srgbClr val="24396B"/>
          </a:lnRef>
          <a:fillRef idx="0">
            <a:srgbClr val="24396B"/>
          </a:fillRef>
          <a:effectRef idx="1">
            <a:srgbClr val="24396B"/>
          </a:effectRef>
          <a:fontRef idx="minor">
            <a:srgbClr val="000000"/>
          </a:fontRef>
        </p:style>
      </p:cxnSp>
      <p:cxnSp>
        <p:nvCxnSpPr>
          <p:cNvPr id="174" name="天蝎PPT原创©28"/>
          <p:cNvCxnSpPr/>
          <p:nvPr/>
        </p:nvCxnSpPr>
        <p:spPr>
          <a:xfrm>
            <a:off x="8317679" y="1953985"/>
            <a:ext cx="0" cy="2873276"/>
          </a:xfrm>
          <a:prstGeom prst="line">
            <a:avLst/>
          </a:prstGeom>
          <a:ln w="9525">
            <a:solidFill>
              <a:srgbClr val="24396B">
                <a:alpha val="27237"/>
              </a:srgbClr>
            </a:solidFill>
            <a:prstDash val="sysDash"/>
          </a:ln>
        </p:spPr>
        <p:style>
          <a:lnRef idx="2">
            <a:srgbClr val="24396B"/>
          </a:lnRef>
          <a:fillRef idx="0">
            <a:srgbClr val="24396B"/>
          </a:fillRef>
          <a:effectRef idx="1">
            <a:srgbClr val="24396B"/>
          </a:effectRef>
          <a:fontRef idx="minor">
            <a:srgbClr val="000000"/>
          </a:fontRef>
        </p:style>
      </p:cxnSp>
      <p:sp>
        <p:nvSpPr>
          <p:cNvPr id="175" name="天蝎PPT原创©29"/>
          <p:cNvSpPr/>
          <p:nvPr/>
        </p:nvSpPr>
        <p:spPr>
          <a:xfrm>
            <a:off x="1690577" y="2509023"/>
            <a:ext cx="3114259" cy="553998"/>
          </a:xfrm>
          <a:prstGeom prst="rect">
            <a:avLst/>
          </a:prstGeom>
          <a:solidFill>
            <a:schemeClr val="accent1">
              <a:lumMod val="40000"/>
              <a:lumOff val="60000"/>
              <a:alpha val="20000"/>
            </a:schemeClr>
          </a:solidFill>
          <a:ln>
            <a:no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177" name="天蝎PPT原创©30"/>
          <p:cNvSpPr/>
          <p:nvPr/>
        </p:nvSpPr>
        <p:spPr>
          <a:xfrm>
            <a:off x="1753545" y="2553881"/>
            <a:ext cx="216902" cy="459763"/>
          </a:xfrm>
          <a:prstGeom prst="rect">
            <a:avLst/>
          </a:prstGeom>
          <a:solidFill>
            <a:schemeClr val="accent1"/>
          </a:solidFill>
          <a:ln>
            <a:no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179" name="天蝎PPT原创©31"/>
          <p:cNvSpPr txBox="1"/>
          <p:nvPr/>
        </p:nvSpPr>
        <p:spPr>
          <a:xfrm>
            <a:off x="2021691" y="2572242"/>
            <a:ext cx="2262158" cy="410625"/>
          </a:xfrm>
          <a:prstGeom prst="rect">
            <a:avLst/>
          </a:prstGeom>
          <a:noFill/>
        </p:spPr>
        <p:txBody>
          <a:bodyPr wrap="none" rtlCol="0">
            <a:spAutoFit/>
          </a:bodyPr>
          <a:lstStyle/>
          <a:p>
            <a:pPr>
              <a:lnSpc>
                <a:spcPct val="12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延续家装节热度，重点复用沉淀优质素材</a:t>
            </a:r>
            <a:endPar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nSpc>
                <a:spcPct val="12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同时增加产品测评</a:t>
            </a:r>
            <a:r>
              <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购物导向素材</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81" name="天蝎PPT原创©32"/>
          <p:cNvSpPr/>
          <p:nvPr/>
        </p:nvSpPr>
        <p:spPr>
          <a:xfrm>
            <a:off x="1690577" y="3102294"/>
            <a:ext cx="3114259" cy="553998"/>
          </a:xfrm>
          <a:prstGeom prst="rect">
            <a:avLst/>
          </a:prstGeom>
          <a:solidFill>
            <a:schemeClr val="accent1">
              <a:lumMod val="40000"/>
              <a:lumOff val="60000"/>
              <a:alpha val="20000"/>
            </a:schemeClr>
          </a:solidFill>
          <a:ln>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182" name="天蝎PPT原创©33"/>
          <p:cNvSpPr txBox="1"/>
          <p:nvPr/>
        </p:nvSpPr>
        <p:spPr>
          <a:xfrm>
            <a:off x="2021691" y="3158417"/>
            <a:ext cx="2031325" cy="410625"/>
          </a:xfrm>
          <a:prstGeom prst="rect">
            <a:avLst/>
          </a:prstGeom>
          <a:noFill/>
        </p:spPr>
        <p:txBody>
          <a:bodyPr wrap="none" rtlCol="0">
            <a:spAutoFit/>
          </a:bodyPr>
          <a:lstStyle/>
          <a:p>
            <a:pPr>
              <a:lnSpc>
                <a:spcPct val="12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充分探索流量，充分拓词，以单品类</a:t>
            </a:r>
            <a:endPar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nSpc>
                <a:spcPct val="12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素材卡位核心品类词</a:t>
            </a:r>
            <a:r>
              <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endPar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83" name="天蝎PPT原创©34"/>
          <p:cNvSpPr txBox="1"/>
          <p:nvPr/>
        </p:nvSpPr>
        <p:spPr>
          <a:xfrm>
            <a:off x="2106405" y="3711860"/>
            <a:ext cx="2230098" cy="247375"/>
          </a:xfrm>
          <a:prstGeom prst="rect">
            <a:avLst/>
          </a:prstGeom>
          <a:noFill/>
        </p:spPr>
        <p:txBody>
          <a:bodyPr wrap="none" rtlCol="0">
            <a:spAutoFit/>
          </a:bodyPr>
          <a:lstStyle/>
          <a:p>
            <a:pPr>
              <a:lnSpc>
                <a:spcPct val="12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侧重信息流打优质笔记 </a:t>
            </a:r>
            <a:r>
              <a:rPr kumimoji="1" lang="zh-CN" altLang="en-US" sz="9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信息流</a:t>
            </a:r>
            <a:r>
              <a:rPr kumimoji="1" lang="en-US" altLang="zh-CN" sz="9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kumimoji="1" lang="zh-CN" altLang="en-US" sz="9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搜索</a:t>
            </a:r>
            <a:r>
              <a:rPr kumimoji="1" lang="en-US" altLang="zh-CN" sz="9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=6:4</a:t>
            </a:r>
            <a:endParaRPr kumimoji="1" lang="en-US" altLang="zh-CN" sz="9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85" name="天蝎PPT原创©35"/>
          <p:cNvSpPr/>
          <p:nvPr/>
        </p:nvSpPr>
        <p:spPr>
          <a:xfrm>
            <a:off x="1689340" y="4111280"/>
            <a:ext cx="3114259" cy="628754"/>
          </a:xfrm>
          <a:prstGeom prst="rect">
            <a:avLst/>
          </a:prstGeom>
          <a:solidFill>
            <a:schemeClr val="accent1">
              <a:lumMod val="20000"/>
              <a:lumOff val="80000"/>
              <a:alpha val="20000"/>
            </a:schemeClr>
          </a:solidFill>
          <a:ln w="12700">
            <a:solidFill>
              <a:schemeClr val="accent1">
                <a:lumMod val="60000"/>
                <a:lumOff val="40000"/>
                <a:alpha val="70000"/>
              </a:schemeClr>
            </a:soli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186" name="天蝎PPT原创©36"/>
          <p:cNvSpPr txBox="1"/>
          <p:nvPr/>
        </p:nvSpPr>
        <p:spPr>
          <a:xfrm>
            <a:off x="1930684" y="4134754"/>
            <a:ext cx="2624436" cy="576825"/>
          </a:xfrm>
          <a:prstGeom prst="rect">
            <a:avLst/>
          </a:prstGeom>
          <a:noFill/>
        </p:spPr>
        <p:txBody>
          <a:bodyPr wrap="none" rtlCol="0">
            <a:spAutoFit/>
          </a:bodyPr>
          <a:lstStyle/>
          <a:p>
            <a:pPr algn="ctr">
              <a:lnSpc>
                <a:spcPct val="12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腰尾部</a:t>
            </a:r>
            <a:r>
              <a:rPr kumimoji="1" lang="en-GB"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KOL</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为主，沟通场景</a:t>
            </a:r>
            <a:r>
              <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单品真实评测</a:t>
            </a:r>
            <a:r>
              <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种草</a:t>
            </a:r>
            <a:endPar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ctr">
              <a:lnSpc>
                <a:spcPct val="12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丰富触达兴趣圈层，积累口碑沉淀</a:t>
            </a:r>
            <a:endPar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ctr">
              <a:lnSpc>
                <a:spcPct val="120000"/>
              </a:lnSpc>
            </a:pPr>
            <a:r>
              <a:rPr kumimoji="1" lang="zh-CN" altLang="en-US" sz="9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产品种草：场景沟通</a:t>
            </a:r>
            <a:r>
              <a:rPr kumimoji="1" lang="en-US" altLang="zh-CN" sz="9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=40%:60%</a:t>
            </a:r>
            <a:endParaRPr kumimoji="1" lang="en-US" altLang="zh-CN" sz="9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87" name="天蝎PPT原创©37"/>
          <p:cNvSpPr/>
          <p:nvPr/>
        </p:nvSpPr>
        <p:spPr>
          <a:xfrm>
            <a:off x="5081050" y="4111280"/>
            <a:ext cx="3114259" cy="628754"/>
          </a:xfrm>
          <a:prstGeom prst="rect">
            <a:avLst/>
          </a:prstGeom>
          <a:solidFill>
            <a:schemeClr val="accent5">
              <a:lumMod val="20000"/>
              <a:lumOff val="80000"/>
              <a:alpha val="20000"/>
            </a:schemeClr>
          </a:solidFill>
          <a:ln w="12700">
            <a:solidFill>
              <a:schemeClr val="accent5">
                <a:lumMod val="60000"/>
                <a:lumOff val="40000"/>
                <a:alpha val="70000"/>
              </a:schemeClr>
            </a:soli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188" name="天蝎PPT原创©38"/>
          <p:cNvSpPr txBox="1"/>
          <p:nvPr/>
        </p:nvSpPr>
        <p:spPr>
          <a:xfrm>
            <a:off x="5536396" y="4134754"/>
            <a:ext cx="2196434" cy="576825"/>
          </a:xfrm>
          <a:prstGeom prst="rect">
            <a:avLst/>
          </a:prstGeom>
          <a:noFill/>
        </p:spPr>
        <p:txBody>
          <a:bodyPr wrap="none" rtlCol="0">
            <a:spAutoFit/>
          </a:bodyPr>
          <a:lstStyle/>
          <a:p>
            <a:pPr algn="ctr">
              <a:lnSpc>
                <a:spcPct val="12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单品</a:t>
            </a:r>
            <a:r>
              <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套系策路双开，丰富品牌内容短阵</a:t>
            </a:r>
            <a:endPar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ctr">
              <a:lnSpc>
                <a:spcPct val="12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拉动品牌单品</a:t>
            </a:r>
            <a:r>
              <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系列</a:t>
            </a:r>
            <a:r>
              <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复购需求</a:t>
            </a:r>
            <a:endPar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ctr">
              <a:lnSpc>
                <a:spcPct val="120000"/>
              </a:lnSpc>
            </a:pPr>
            <a:r>
              <a:rPr kumimoji="1" lang="zh-CN" altLang="en-US" sz="9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产品种草</a:t>
            </a:r>
            <a:r>
              <a:rPr kumimoji="1" lang="en-US" altLang="zh-CN" sz="9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kumimoji="1" lang="zh-CN" altLang="en-US" sz="9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评测：场景沟通</a:t>
            </a:r>
            <a:r>
              <a:rPr kumimoji="1" lang="en-US" altLang="zh-CN" sz="9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=40%:60%</a:t>
            </a:r>
            <a:endParaRPr kumimoji="1" lang="en-US" altLang="zh-CN" sz="9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90" name="天蝎PPT原创©39"/>
          <p:cNvSpPr/>
          <p:nvPr/>
        </p:nvSpPr>
        <p:spPr>
          <a:xfrm>
            <a:off x="8440335" y="4111280"/>
            <a:ext cx="3114259" cy="628754"/>
          </a:xfrm>
          <a:prstGeom prst="rect">
            <a:avLst/>
          </a:prstGeom>
          <a:solidFill>
            <a:schemeClr val="accent1">
              <a:lumMod val="20000"/>
              <a:lumOff val="80000"/>
              <a:alpha val="20000"/>
            </a:schemeClr>
          </a:solidFill>
          <a:ln w="12700">
            <a:solidFill>
              <a:schemeClr val="accent1">
                <a:lumMod val="60000"/>
                <a:lumOff val="40000"/>
                <a:alpha val="70000"/>
              </a:schemeClr>
            </a:soli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191" name="天蝎PPT原创©40"/>
          <p:cNvSpPr txBox="1"/>
          <p:nvPr/>
        </p:nvSpPr>
        <p:spPr>
          <a:xfrm>
            <a:off x="8978234" y="4134754"/>
            <a:ext cx="2031325" cy="576825"/>
          </a:xfrm>
          <a:prstGeom prst="rect">
            <a:avLst/>
          </a:prstGeom>
          <a:noFill/>
        </p:spPr>
        <p:txBody>
          <a:bodyPr wrap="none" rtlCol="0">
            <a:spAutoFit/>
          </a:bodyPr>
          <a:lstStyle/>
          <a:p>
            <a:pPr algn="ctr">
              <a:lnSpc>
                <a:spcPct val="12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预算聚焦，给到热门主推品进阶预算</a:t>
            </a:r>
            <a:endPar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ctr">
              <a:lnSpc>
                <a:spcPct val="12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在大促转化期集中</a:t>
            </a:r>
            <a:endPar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ctr">
              <a:lnSpc>
                <a:spcPct val="120000"/>
              </a:lnSpc>
            </a:pPr>
            <a:r>
              <a:rPr kumimoji="1" lang="zh-CN" altLang="en-US" sz="9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种草向</a:t>
            </a:r>
            <a:r>
              <a:rPr kumimoji="1" lang="en-US" altLang="zh-CN" sz="9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kumimoji="1" lang="zh-CN" altLang="en-US" sz="9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购物向</a:t>
            </a:r>
            <a:r>
              <a:rPr kumimoji="1" lang="en-US" altLang="zh-CN" sz="9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=50%:50%</a:t>
            </a:r>
            <a:endParaRPr kumimoji="1" lang="en-US" altLang="zh-CN" sz="9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93" name="天蝎PPT原创©41"/>
          <p:cNvSpPr/>
          <p:nvPr/>
        </p:nvSpPr>
        <p:spPr>
          <a:xfrm>
            <a:off x="1670890" y="1054201"/>
            <a:ext cx="9871787" cy="45719"/>
          </a:xfrm>
          <a:prstGeom prst="rect">
            <a:avLst/>
          </a:prstGeom>
          <a:solidFill>
            <a:schemeClr val="accent1">
              <a:lumMod val="20000"/>
              <a:lumOff val="80000"/>
            </a:schemeClr>
          </a:solidFill>
          <a:ln>
            <a:solidFill>
              <a:schemeClr val="accent1">
                <a:lumMod val="20000"/>
                <a:lumOff val="80000"/>
              </a:schemeClr>
            </a:solid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pic>
        <p:nvPicPr>
          <p:cNvPr id="203" name="天蝎PPT原创©43"/>
          <p:cNvPicPr>
            <a:picLocks noChangeAspect="1"/>
          </p:cNvPicPr>
          <p:nvPr/>
        </p:nvPicPr>
        <p:blipFill>
          <a:blip r:embed="rId3" cstate="email">
            <a:extLst>
              <a:ext uri="{96DAC541-7B7A-43D3-8B79-37D633B846F1}">
                <asvg:svgBlip xmlns:asvg="http://schemas.microsoft.com/office/drawing/2016/SVG/main" r:embed="rId4"/>
              </a:ext>
            </a:extLst>
          </a:blip>
          <a:stretch>
            <a:fillRect/>
          </a:stretch>
        </p:blipFill>
        <p:spPr>
          <a:xfrm>
            <a:off x="2213107" y="2075915"/>
            <a:ext cx="248303" cy="240891"/>
          </a:xfrm>
          <a:prstGeom prst="rect">
            <a:avLst/>
          </a:prstGeom>
        </p:spPr>
      </p:pic>
      <p:pic>
        <p:nvPicPr>
          <p:cNvPr id="211" name="天蝎PPT原创©44"/>
          <p:cNvPicPr>
            <a:picLocks noChangeAspect="1"/>
          </p:cNvPicPr>
          <p:nvPr/>
        </p:nvPicPr>
        <p:blipFill>
          <a:blip r:embed="rId5" cstate="email">
            <a:extLst>
              <a:ext uri="{96DAC541-7B7A-43D3-8B79-37D633B846F1}">
                <asvg:svgBlip xmlns:asvg="http://schemas.microsoft.com/office/drawing/2016/SVG/main" r:embed="rId6"/>
              </a:ext>
            </a:extLst>
          </a:blip>
          <a:stretch>
            <a:fillRect/>
          </a:stretch>
        </p:blipFill>
        <p:spPr>
          <a:xfrm>
            <a:off x="5762561" y="2093572"/>
            <a:ext cx="200485" cy="194501"/>
          </a:xfrm>
          <a:prstGeom prst="rect">
            <a:avLst/>
          </a:prstGeom>
        </p:spPr>
      </p:pic>
      <p:pic>
        <p:nvPicPr>
          <p:cNvPr id="213" name="天蝎PPT原创©45"/>
          <p:cNvPicPr>
            <a:picLocks noChangeAspect="1"/>
          </p:cNvPicPr>
          <p:nvPr/>
        </p:nvPicPr>
        <p:blipFill>
          <a:blip r:embed="rId7" cstate="email">
            <a:extLst>
              <a:ext uri="{96DAC541-7B7A-43D3-8B79-37D633B846F1}">
                <asvg:svgBlip xmlns:asvg="http://schemas.microsoft.com/office/drawing/2016/SVG/main" r:embed="rId8"/>
              </a:ext>
            </a:extLst>
          </a:blip>
          <a:stretch>
            <a:fillRect/>
          </a:stretch>
        </p:blipFill>
        <p:spPr>
          <a:xfrm>
            <a:off x="9005833" y="2075525"/>
            <a:ext cx="258026" cy="250324"/>
          </a:xfrm>
          <a:prstGeom prst="rect">
            <a:avLst/>
          </a:prstGeom>
        </p:spPr>
      </p:pic>
      <p:sp>
        <p:nvSpPr>
          <p:cNvPr id="214" name="天蝎PPT原创©46"/>
          <p:cNvSpPr/>
          <p:nvPr/>
        </p:nvSpPr>
        <p:spPr>
          <a:xfrm>
            <a:off x="1753545" y="3156309"/>
            <a:ext cx="216902" cy="459763"/>
          </a:xfrm>
          <a:prstGeom prst="rect">
            <a:avLst/>
          </a:prstGeom>
          <a:solidFill>
            <a:schemeClr val="accent1"/>
          </a:solidFill>
          <a:ln>
            <a:no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215" name="天蝎PPT原创©47"/>
          <p:cNvSpPr/>
          <p:nvPr/>
        </p:nvSpPr>
        <p:spPr>
          <a:xfrm>
            <a:off x="5073287" y="2509832"/>
            <a:ext cx="3114259" cy="1509699"/>
          </a:xfrm>
          <a:prstGeom prst="rect">
            <a:avLst/>
          </a:prstGeom>
          <a:solidFill>
            <a:schemeClr val="accent5">
              <a:lumMod val="20000"/>
              <a:lumOff val="80000"/>
              <a:alpha val="20000"/>
            </a:schemeClr>
          </a:solidFill>
          <a:ln w="12700">
            <a:solidFill>
              <a:schemeClr val="accent5">
                <a:lumMod val="60000"/>
                <a:lumOff val="40000"/>
                <a:alpha val="70000"/>
              </a:schemeClr>
            </a:soli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216" name="天蝎PPT原创©48"/>
          <p:cNvSpPr/>
          <p:nvPr/>
        </p:nvSpPr>
        <p:spPr>
          <a:xfrm>
            <a:off x="5074524" y="2509023"/>
            <a:ext cx="3114259" cy="553998"/>
          </a:xfrm>
          <a:prstGeom prst="rect">
            <a:avLst/>
          </a:prstGeom>
          <a:solidFill>
            <a:schemeClr val="accent5">
              <a:lumMod val="40000"/>
              <a:lumOff val="60000"/>
              <a:alpha val="20000"/>
            </a:schemeClr>
          </a:solidFill>
          <a:ln>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229" name="天蝎PPT原创©49"/>
          <p:cNvSpPr/>
          <p:nvPr/>
        </p:nvSpPr>
        <p:spPr>
          <a:xfrm>
            <a:off x="5137492" y="2553881"/>
            <a:ext cx="216902" cy="459763"/>
          </a:xfrm>
          <a:prstGeom prst="rect">
            <a:avLst/>
          </a:prstGeom>
          <a:solidFill>
            <a:schemeClr val="accent5"/>
          </a:solidFill>
          <a:ln>
            <a:no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230" name="天蝎PPT原创©50"/>
          <p:cNvSpPr txBox="1"/>
          <p:nvPr/>
        </p:nvSpPr>
        <p:spPr>
          <a:xfrm>
            <a:off x="5405638" y="2572242"/>
            <a:ext cx="2268570" cy="410369"/>
          </a:xfrm>
          <a:prstGeom prst="rect">
            <a:avLst/>
          </a:prstGeom>
          <a:noFill/>
        </p:spPr>
        <p:txBody>
          <a:bodyPr wrap="none" rtlCol="0">
            <a:spAutoFit/>
          </a:bodyPr>
          <a:lstStyle/>
          <a:p>
            <a:pPr>
              <a:lnSpc>
                <a:spcPct val="12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对高种草值笔记充分放量</a:t>
            </a:r>
            <a:endPar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nSpc>
                <a:spcPct val="12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补充精准</a:t>
            </a:r>
            <a:r>
              <a:rPr kumimoji="1" lang="en-GB"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DMP&amp;</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特色标签人群</a:t>
            </a:r>
            <a:r>
              <a:rPr kumimoji="1" lang="en-GB"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Retargeting</a:t>
            </a:r>
            <a:endParaRPr kumimoji="1" lang="en-GB"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31" name="天蝎PPT原创©51"/>
          <p:cNvSpPr/>
          <p:nvPr/>
        </p:nvSpPr>
        <p:spPr>
          <a:xfrm>
            <a:off x="5074524" y="3102294"/>
            <a:ext cx="3114259" cy="553998"/>
          </a:xfrm>
          <a:prstGeom prst="rect">
            <a:avLst/>
          </a:prstGeom>
          <a:solidFill>
            <a:schemeClr val="accent5">
              <a:lumMod val="40000"/>
              <a:lumOff val="60000"/>
              <a:alpha val="20000"/>
            </a:schemeClr>
          </a:solidFill>
          <a:ln>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232" name="天蝎PPT原创©52"/>
          <p:cNvSpPr txBox="1"/>
          <p:nvPr/>
        </p:nvSpPr>
        <p:spPr>
          <a:xfrm>
            <a:off x="5405638" y="3164554"/>
            <a:ext cx="1800493" cy="410625"/>
          </a:xfrm>
          <a:prstGeom prst="rect">
            <a:avLst/>
          </a:prstGeom>
          <a:noFill/>
        </p:spPr>
        <p:txBody>
          <a:bodyPr wrap="none" rtlCol="0">
            <a:spAutoFit/>
          </a:bodyPr>
          <a:lstStyle/>
          <a:p>
            <a:pPr>
              <a:lnSpc>
                <a:spcPct val="120000"/>
              </a:lnSpc>
            </a:pPr>
            <a:r>
              <a:rPr kumimoji="1" lang="zh-CN" altLang="en-US" sz="900" dirty="0">
                <a:solidFill>
                  <a:schemeClr val="tx2"/>
                </a:solidFill>
                <a:latin typeface="微软雅黑" panose="020B0503020204020204" charset="-122"/>
                <a:ea typeface="微软雅黑" panose="020B0503020204020204" charset="-122"/>
                <a:cs typeface="+mn-ea"/>
                <a:sym typeface="Arial" panose="020B0604020202020204" pitchFamily="34" charset="0"/>
              </a:rPr>
              <a:t>产品种草向素材抢占搜索核心词</a:t>
            </a:r>
            <a:endParaRPr kumimoji="1" lang="en-US" altLang="zh-CN" sz="900" dirty="0">
              <a:solidFill>
                <a:schemeClr val="tx2"/>
              </a:solidFill>
              <a:latin typeface="微软雅黑" panose="020B0503020204020204" charset="-122"/>
              <a:ea typeface="微软雅黑" panose="020B0503020204020204" charset="-122"/>
              <a:cs typeface="+mn-ea"/>
              <a:sym typeface="Arial" panose="020B0604020202020204" pitchFamily="34" charset="0"/>
            </a:endParaRPr>
          </a:p>
          <a:p>
            <a:pPr>
              <a:lnSpc>
                <a:spcPct val="120000"/>
              </a:lnSpc>
            </a:pPr>
            <a:r>
              <a:rPr kumimoji="1" lang="zh-CN" altLang="en-US" sz="900" dirty="0">
                <a:solidFill>
                  <a:schemeClr val="tx2"/>
                </a:solidFill>
                <a:latin typeface="微软雅黑" panose="020B0503020204020204" charset="-122"/>
                <a:ea typeface="微软雅黑" panose="020B0503020204020204" charset="-122"/>
                <a:cs typeface="+mn-ea"/>
                <a:sym typeface="Arial" panose="020B0604020202020204" pitchFamily="34" charset="0"/>
              </a:rPr>
              <a:t>提升出价强考核卡位影响决策</a:t>
            </a:r>
            <a:endParaRPr kumimoji="1" lang="zh-CN" altLang="en-US" sz="900" dirty="0">
              <a:solidFill>
                <a:schemeClr val="tx2"/>
              </a:solidFill>
              <a:latin typeface="微软雅黑" panose="020B0503020204020204" charset="-122"/>
              <a:ea typeface="微软雅黑" panose="020B0503020204020204" charset="-122"/>
              <a:cs typeface="+mn-ea"/>
              <a:sym typeface="Arial" panose="020B0604020202020204" pitchFamily="34" charset="0"/>
            </a:endParaRPr>
          </a:p>
        </p:txBody>
      </p:sp>
      <p:sp>
        <p:nvSpPr>
          <p:cNvPr id="235" name="天蝎PPT原创©53"/>
          <p:cNvSpPr txBox="1"/>
          <p:nvPr/>
        </p:nvSpPr>
        <p:spPr>
          <a:xfrm>
            <a:off x="5337265" y="3711860"/>
            <a:ext cx="2576346" cy="247375"/>
          </a:xfrm>
          <a:prstGeom prst="rect">
            <a:avLst/>
          </a:prstGeom>
          <a:noFill/>
        </p:spPr>
        <p:txBody>
          <a:bodyPr wrap="none" rtlCol="0">
            <a:spAutoFit/>
          </a:bodyPr>
          <a:lstStyle/>
          <a:p>
            <a:pPr>
              <a:lnSpc>
                <a:spcPct val="12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信息流持续灌入搜索逐步加强 </a:t>
            </a:r>
            <a:r>
              <a:rPr kumimoji="1" lang="zh-CN" altLang="en-US" sz="9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信息流</a:t>
            </a:r>
            <a:r>
              <a:rPr kumimoji="1" lang="en-US" altLang="zh-CN" sz="9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kumimoji="1" lang="zh-CN" altLang="en-US" sz="9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搜索</a:t>
            </a:r>
            <a:r>
              <a:rPr kumimoji="1" lang="en-US" altLang="zh-CN" sz="9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=6:4</a:t>
            </a:r>
            <a:endParaRPr kumimoji="1" lang="en-US" altLang="zh-CN" sz="9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36" name="天蝎PPT原创©54"/>
          <p:cNvSpPr/>
          <p:nvPr/>
        </p:nvSpPr>
        <p:spPr>
          <a:xfrm>
            <a:off x="5137492" y="3156309"/>
            <a:ext cx="216902" cy="459763"/>
          </a:xfrm>
          <a:prstGeom prst="rect">
            <a:avLst/>
          </a:prstGeom>
          <a:solidFill>
            <a:schemeClr val="accent5"/>
          </a:solidFill>
          <a:ln>
            <a:no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237" name="天蝎PPT原创©55"/>
          <p:cNvSpPr/>
          <p:nvPr/>
        </p:nvSpPr>
        <p:spPr>
          <a:xfrm>
            <a:off x="8443886" y="2509832"/>
            <a:ext cx="3114259" cy="1509699"/>
          </a:xfrm>
          <a:prstGeom prst="rect">
            <a:avLst/>
          </a:prstGeom>
          <a:solidFill>
            <a:schemeClr val="accent1">
              <a:lumMod val="20000"/>
              <a:lumOff val="80000"/>
              <a:alpha val="20000"/>
            </a:schemeClr>
          </a:solidFill>
          <a:ln w="12700">
            <a:solidFill>
              <a:schemeClr val="accent1">
                <a:lumMod val="60000"/>
                <a:lumOff val="40000"/>
                <a:alpha val="70000"/>
              </a:schemeClr>
            </a:soli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238" name="天蝎PPT原创©56"/>
          <p:cNvSpPr/>
          <p:nvPr/>
        </p:nvSpPr>
        <p:spPr>
          <a:xfrm>
            <a:off x="8445123" y="2509023"/>
            <a:ext cx="3114259" cy="553998"/>
          </a:xfrm>
          <a:prstGeom prst="rect">
            <a:avLst/>
          </a:prstGeom>
          <a:solidFill>
            <a:schemeClr val="accent1">
              <a:lumMod val="40000"/>
              <a:lumOff val="60000"/>
              <a:alpha val="20000"/>
            </a:schemeClr>
          </a:solidFill>
          <a:ln>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239" name="天蝎PPT原创©57"/>
          <p:cNvSpPr/>
          <p:nvPr/>
        </p:nvSpPr>
        <p:spPr>
          <a:xfrm>
            <a:off x="8508091" y="2553881"/>
            <a:ext cx="216902" cy="459763"/>
          </a:xfrm>
          <a:prstGeom prst="rect">
            <a:avLst/>
          </a:prstGeom>
          <a:solidFill>
            <a:schemeClr val="accent1"/>
          </a:solidFill>
          <a:ln>
            <a:no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240" name="天蝎PPT原创©58"/>
          <p:cNvSpPr txBox="1"/>
          <p:nvPr/>
        </p:nvSpPr>
        <p:spPr>
          <a:xfrm>
            <a:off x="8781317" y="2549382"/>
            <a:ext cx="2717411" cy="410625"/>
          </a:xfrm>
          <a:prstGeom prst="rect">
            <a:avLst/>
          </a:prstGeom>
          <a:noFill/>
        </p:spPr>
        <p:txBody>
          <a:bodyPr wrap="none" rtlCol="0">
            <a:spAutoFit/>
          </a:bodyPr>
          <a:lstStyle/>
          <a:p>
            <a:pPr>
              <a:lnSpc>
                <a:spcPct val="12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各品线聚焦预算至主推</a:t>
            </a:r>
            <a:r>
              <a:rPr kumimoji="1" lang="en-GB"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SPU</a:t>
            </a:r>
            <a:r>
              <a:rPr kumimoji="1" lang="zh-CN" altLang="en-GB"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对高优素材给到进阶</a:t>
            </a:r>
            <a:endPar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nSpc>
                <a:spcPct val="12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预算放大流量，深度种草</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41" name="天蝎PPT原创©59"/>
          <p:cNvSpPr/>
          <p:nvPr/>
        </p:nvSpPr>
        <p:spPr>
          <a:xfrm>
            <a:off x="8445123" y="3102294"/>
            <a:ext cx="3114259" cy="553998"/>
          </a:xfrm>
          <a:prstGeom prst="rect">
            <a:avLst/>
          </a:prstGeom>
          <a:solidFill>
            <a:schemeClr val="accent1">
              <a:lumMod val="40000"/>
              <a:lumOff val="60000"/>
              <a:alpha val="20000"/>
            </a:schemeClr>
          </a:solidFill>
          <a:ln>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242" name="天蝎PPT原创©60"/>
          <p:cNvSpPr txBox="1"/>
          <p:nvPr/>
        </p:nvSpPr>
        <p:spPr>
          <a:xfrm>
            <a:off x="8776237" y="3170691"/>
            <a:ext cx="2492990" cy="410625"/>
          </a:xfrm>
          <a:prstGeom prst="rect">
            <a:avLst/>
          </a:prstGeom>
          <a:noFill/>
        </p:spPr>
        <p:txBody>
          <a:bodyPr wrap="none" rtlCol="0">
            <a:spAutoFit/>
          </a:bodyPr>
          <a:lstStyle/>
          <a:p>
            <a:pPr>
              <a:lnSpc>
                <a:spcPct val="12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巩固品牌词及品类词搜索阵地，重点抢占装修</a:t>
            </a:r>
            <a:endPar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nSpc>
                <a:spcPct val="12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改造需求</a:t>
            </a:r>
            <a:r>
              <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&amp;</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同类品人群，攻守兼备</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59" name="天蝎PPT原创©61"/>
          <p:cNvSpPr txBox="1"/>
          <p:nvPr/>
        </p:nvSpPr>
        <p:spPr>
          <a:xfrm>
            <a:off x="8860951" y="3711860"/>
            <a:ext cx="2265364" cy="244426"/>
          </a:xfrm>
          <a:prstGeom prst="rect">
            <a:avLst/>
          </a:prstGeom>
          <a:noFill/>
        </p:spPr>
        <p:txBody>
          <a:bodyPr wrap="none" rtlCol="0">
            <a:spAutoFit/>
          </a:bodyPr>
          <a:lstStyle/>
          <a:p>
            <a:pPr>
              <a:lnSpc>
                <a:spcPct val="12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搜索加强承接双</a:t>
            </a:r>
            <a:r>
              <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11</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流量 </a:t>
            </a:r>
            <a:r>
              <a:rPr kumimoji="1" lang="zh-CN" altLang="en-US" sz="9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信息流</a:t>
            </a:r>
            <a:r>
              <a:rPr kumimoji="1" lang="en-US" altLang="zh-CN" sz="9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kumimoji="1" lang="zh-CN" altLang="en-US" sz="9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搜索</a:t>
            </a:r>
            <a:r>
              <a:rPr kumimoji="1" lang="en-US" altLang="zh-CN" sz="9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=5:5</a:t>
            </a:r>
            <a:endParaRPr kumimoji="1" lang="en-US" altLang="zh-CN" sz="9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65" name="天蝎PPT原创©62"/>
          <p:cNvSpPr/>
          <p:nvPr/>
        </p:nvSpPr>
        <p:spPr>
          <a:xfrm>
            <a:off x="8508091" y="3156309"/>
            <a:ext cx="216902" cy="459763"/>
          </a:xfrm>
          <a:prstGeom prst="rect">
            <a:avLst/>
          </a:prstGeom>
          <a:solidFill>
            <a:schemeClr val="accent1"/>
          </a:solidFill>
          <a:ln>
            <a:no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266" name="天蝎PPT原创©63"/>
          <p:cNvSpPr/>
          <p:nvPr/>
        </p:nvSpPr>
        <p:spPr>
          <a:xfrm>
            <a:off x="1689340" y="4831410"/>
            <a:ext cx="9865254" cy="346126"/>
          </a:xfrm>
          <a:prstGeom prst="rect">
            <a:avLst/>
          </a:prstGeom>
          <a:solidFill>
            <a:schemeClr val="accent5"/>
          </a:solidFill>
          <a:ln>
            <a:solidFill>
              <a:schemeClr val="accent5"/>
            </a:soli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267" name="天蝎PPT原创©64"/>
          <p:cNvSpPr txBox="1"/>
          <p:nvPr/>
        </p:nvSpPr>
        <p:spPr>
          <a:xfrm>
            <a:off x="5354394" y="4866083"/>
            <a:ext cx="2658100" cy="307777"/>
          </a:xfrm>
          <a:prstGeom prst="rect">
            <a:avLst/>
          </a:prstGeom>
          <a:noFill/>
        </p:spPr>
        <p:txBody>
          <a:bodyPr wrap="none" rtlCol="0">
            <a:spAutoFit/>
          </a:bodyPr>
          <a:lstStyle/>
          <a:p>
            <a:r>
              <a:rPr kumimoji="1" lang="en-GB" altLang="zh-CN" sz="1400" b="1" dirty="0">
                <a:solidFill>
                  <a:schemeClr val="bg1"/>
                </a:solidFill>
                <a:latin typeface="微软雅黑" panose="020B0503020204020204" charset="-122"/>
                <a:ea typeface="微软雅黑" panose="020B0503020204020204" charset="-122"/>
                <a:cs typeface="+mn-ea"/>
                <a:sym typeface="Arial" panose="020B0604020202020204" pitchFamily="34" charset="0"/>
              </a:rPr>
              <a:t>K:FEED:SEM=30%:35%:35%</a:t>
            </a:r>
            <a:endParaRPr kumimoji="1" lang="en-GB" altLang="zh-CN" sz="1400" b="1" dirty="0">
              <a:solidFill>
                <a:schemeClr val="bg1"/>
              </a:solidFill>
              <a:latin typeface="微软雅黑" panose="020B0503020204020204" charset="-122"/>
              <a:ea typeface="微软雅黑" panose="020B0503020204020204" charset="-122"/>
              <a:cs typeface="+mn-ea"/>
              <a:sym typeface="Arial" panose="020B0604020202020204" pitchFamily="34" charset="0"/>
            </a:endParaRPr>
          </a:p>
        </p:txBody>
      </p:sp>
      <p:sp>
        <p:nvSpPr>
          <p:cNvPr id="268" name="天蝎PPT原创©65"/>
          <p:cNvSpPr/>
          <p:nvPr/>
        </p:nvSpPr>
        <p:spPr>
          <a:xfrm>
            <a:off x="1689340" y="5242471"/>
            <a:ext cx="3114259" cy="346126"/>
          </a:xfrm>
          <a:prstGeom prst="rect">
            <a:avLst/>
          </a:prstGeom>
          <a:solidFill>
            <a:schemeClr val="bg1"/>
          </a:solidFill>
          <a:ln w="12700">
            <a:solidFill>
              <a:schemeClr val="accent5">
                <a:alpha val="70000"/>
              </a:schemeClr>
            </a:soli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269" name="天蝎PPT原创©66"/>
          <p:cNvSpPr/>
          <p:nvPr/>
        </p:nvSpPr>
        <p:spPr>
          <a:xfrm>
            <a:off x="5086881" y="5242471"/>
            <a:ext cx="3114259" cy="346126"/>
          </a:xfrm>
          <a:prstGeom prst="rect">
            <a:avLst/>
          </a:prstGeom>
          <a:solidFill>
            <a:schemeClr val="bg1"/>
          </a:solidFill>
          <a:ln w="12700">
            <a:solidFill>
              <a:schemeClr val="accent5">
                <a:alpha val="70000"/>
              </a:schemeClr>
            </a:soli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270" name="天蝎PPT原创©67"/>
          <p:cNvSpPr/>
          <p:nvPr/>
        </p:nvSpPr>
        <p:spPr>
          <a:xfrm>
            <a:off x="8442477" y="5242471"/>
            <a:ext cx="3114259" cy="346126"/>
          </a:xfrm>
          <a:prstGeom prst="rect">
            <a:avLst/>
          </a:prstGeom>
          <a:solidFill>
            <a:schemeClr val="bg1"/>
          </a:solidFill>
          <a:ln w="12700">
            <a:solidFill>
              <a:schemeClr val="accent5">
                <a:alpha val="70000"/>
              </a:schemeClr>
            </a:soli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271" name="天蝎PPT原创©68"/>
          <p:cNvSpPr txBox="1"/>
          <p:nvPr/>
        </p:nvSpPr>
        <p:spPr>
          <a:xfrm>
            <a:off x="2191007" y="5287587"/>
            <a:ext cx="2052164" cy="261097"/>
          </a:xfrm>
          <a:prstGeom prst="rect">
            <a:avLst/>
          </a:prstGeom>
          <a:noFill/>
        </p:spPr>
        <p:txBody>
          <a:bodyPr wrap="none" rtlCol="0">
            <a:spAutoFit/>
          </a:bodyPr>
          <a:lstStyle/>
          <a:p>
            <a:pPr algn="ctr">
              <a:lnSpc>
                <a:spcPct val="120000"/>
              </a:lnSpc>
            </a:pPr>
            <a:r>
              <a:rPr kumimoji="1" lang="zh-CN" altLang="en-US" sz="10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信息流</a:t>
            </a:r>
            <a:r>
              <a:rPr kumimoji="1" lang="en-US" altLang="zh-CN" sz="10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&amp;</a:t>
            </a:r>
            <a:r>
              <a:rPr kumimoji="1" lang="zh-CN" altLang="en-US" sz="10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搜索 出价上调</a:t>
            </a:r>
            <a:r>
              <a:rPr kumimoji="1" lang="en-US" altLang="zh-CN" sz="10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20%~40%</a:t>
            </a:r>
            <a:endParaRPr kumimoji="1" lang="en-US" altLang="zh-CN" sz="10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72" name="天蝎PPT原创©69"/>
          <p:cNvSpPr txBox="1"/>
          <p:nvPr/>
        </p:nvSpPr>
        <p:spPr>
          <a:xfrm>
            <a:off x="5655660" y="5287587"/>
            <a:ext cx="2052164" cy="261097"/>
          </a:xfrm>
          <a:prstGeom prst="rect">
            <a:avLst/>
          </a:prstGeom>
          <a:noFill/>
        </p:spPr>
        <p:txBody>
          <a:bodyPr wrap="none" rtlCol="0">
            <a:spAutoFit/>
          </a:bodyPr>
          <a:lstStyle/>
          <a:p>
            <a:pPr algn="ctr">
              <a:lnSpc>
                <a:spcPct val="120000"/>
              </a:lnSpc>
            </a:pPr>
            <a:r>
              <a:rPr kumimoji="1" lang="zh-CN" altLang="en-US" sz="10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信息流</a:t>
            </a:r>
            <a:r>
              <a:rPr kumimoji="1" lang="en-US" altLang="zh-CN" sz="10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&amp;</a:t>
            </a:r>
            <a:r>
              <a:rPr kumimoji="1" lang="zh-CN" altLang="en-US" sz="10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搜索 出价上调</a:t>
            </a:r>
            <a:r>
              <a:rPr kumimoji="1" lang="en-US" altLang="zh-CN" sz="10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20%~40%</a:t>
            </a:r>
            <a:endParaRPr kumimoji="1" lang="en-US" altLang="zh-CN" sz="10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73" name="天蝎PPT原创©70"/>
          <p:cNvSpPr txBox="1"/>
          <p:nvPr/>
        </p:nvSpPr>
        <p:spPr>
          <a:xfrm>
            <a:off x="9002867" y="5287587"/>
            <a:ext cx="2052164" cy="261097"/>
          </a:xfrm>
          <a:prstGeom prst="rect">
            <a:avLst/>
          </a:prstGeom>
          <a:noFill/>
        </p:spPr>
        <p:txBody>
          <a:bodyPr wrap="none" rtlCol="0">
            <a:spAutoFit/>
          </a:bodyPr>
          <a:lstStyle/>
          <a:p>
            <a:pPr algn="ctr">
              <a:lnSpc>
                <a:spcPct val="120000"/>
              </a:lnSpc>
            </a:pPr>
            <a:r>
              <a:rPr kumimoji="1" lang="zh-CN" altLang="en-US" sz="10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信息流</a:t>
            </a:r>
            <a:r>
              <a:rPr kumimoji="1" lang="en-US" altLang="zh-CN" sz="10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&amp;</a:t>
            </a:r>
            <a:r>
              <a:rPr kumimoji="1" lang="zh-CN" altLang="en-US" sz="10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搜索 出价上调</a:t>
            </a:r>
            <a:r>
              <a:rPr kumimoji="1" lang="en-US" altLang="zh-CN" sz="10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20%~40%</a:t>
            </a:r>
            <a:endParaRPr kumimoji="1" lang="en-US" altLang="zh-CN" sz="10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74" name="天蝎PPT原创©71"/>
          <p:cNvSpPr/>
          <p:nvPr/>
        </p:nvSpPr>
        <p:spPr>
          <a:xfrm>
            <a:off x="1689340" y="5670309"/>
            <a:ext cx="3114259" cy="903427"/>
          </a:xfrm>
          <a:prstGeom prst="rect">
            <a:avLst/>
          </a:prstGeom>
          <a:solidFill>
            <a:schemeClr val="accent1">
              <a:lumMod val="20000"/>
              <a:lumOff val="80000"/>
              <a:alpha val="20000"/>
            </a:schemeClr>
          </a:solidFill>
          <a:ln w="12700">
            <a:solidFill>
              <a:schemeClr val="accent1">
                <a:lumMod val="60000"/>
                <a:lumOff val="40000"/>
                <a:alpha val="70000"/>
              </a:schemeClr>
            </a:soli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275" name="天蝎PPT原创©72"/>
          <p:cNvSpPr/>
          <p:nvPr/>
        </p:nvSpPr>
        <p:spPr>
          <a:xfrm>
            <a:off x="5086881" y="5670309"/>
            <a:ext cx="3114259" cy="903427"/>
          </a:xfrm>
          <a:prstGeom prst="rect">
            <a:avLst/>
          </a:prstGeom>
          <a:solidFill>
            <a:schemeClr val="accent5">
              <a:lumMod val="20000"/>
              <a:lumOff val="80000"/>
              <a:alpha val="50000"/>
            </a:schemeClr>
          </a:solidFill>
          <a:ln w="12700">
            <a:solidFill>
              <a:schemeClr val="accent5">
                <a:alpha val="50000"/>
              </a:schemeClr>
            </a:soli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276" name="天蝎PPT原创©73"/>
          <p:cNvSpPr/>
          <p:nvPr/>
        </p:nvSpPr>
        <p:spPr>
          <a:xfrm>
            <a:off x="8442477" y="5670309"/>
            <a:ext cx="3114259" cy="903427"/>
          </a:xfrm>
          <a:prstGeom prst="rect">
            <a:avLst/>
          </a:prstGeom>
          <a:solidFill>
            <a:schemeClr val="accent1">
              <a:lumMod val="20000"/>
              <a:lumOff val="80000"/>
              <a:alpha val="20000"/>
            </a:schemeClr>
          </a:solidFill>
          <a:ln w="12700">
            <a:solidFill>
              <a:schemeClr val="accent1">
                <a:lumMod val="60000"/>
                <a:lumOff val="40000"/>
                <a:alpha val="70000"/>
              </a:schemeClr>
            </a:soli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277" name="天蝎PPT原创©74"/>
          <p:cNvSpPr txBox="1"/>
          <p:nvPr/>
        </p:nvSpPr>
        <p:spPr>
          <a:xfrm>
            <a:off x="1804364" y="5787920"/>
            <a:ext cx="2253615" cy="257175"/>
          </a:xfrm>
          <a:prstGeom prst="rect">
            <a:avLst/>
          </a:prstGeom>
          <a:noFill/>
        </p:spPr>
        <p:txBody>
          <a:bodyPr wrap="none" rtlCol="0">
            <a:spAutoFit/>
          </a:bodyPr>
          <a:lstStyle/>
          <a:p>
            <a:pPr>
              <a:lnSpc>
                <a:spcPct val="120000"/>
              </a:lnSpc>
            </a:pPr>
            <a:r>
              <a:rPr kumimoji="1" lang="zh-CN" altLang="en-US" sz="9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信息流：</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品牌</a:t>
            </a:r>
            <a:r>
              <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单品内容渗透率</a:t>
            </a:r>
            <a:r>
              <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&amp;</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互动量口</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80" name="天蝎PPT原创©77"/>
          <p:cNvSpPr txBox="1"/>
          <p:nvPr/>
        </p:nvSpPr>
        <p:spPr>
          <a:xfrm>
            <a:off x="3056022" y="1183126"/>
            <a:ext cx="981359" cy="276999"/>
          </a:xfrm>
          <a:prstGeom prst="rect">
            <a:avLst/>
          </a:prstGeom>
          <a:noFill/>
        </p:spPr>
        <p:txBody>
          <a:bodyPr wrap="none" rtlCol="0">
            <a:spAutoFit/>
          </a:bodyPr>
          <a:lstStyle/>
          <a:p>
            <a:r>
              <a:rPr kumimoji="1" lang="en-US" altLang="zh-CN" sz="12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10/1</a:t>
            </a:r>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国庆节</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81" name="天蝎PPT原创©78"/>
          <p:cNvSpPr txBox="1"/>
          <p:nvPr/>
        </p:nvSpPr>
        <p:spPr>
          <a:xfrm>
            <a:off x="5008903" y="1182494"/>
            <a:ext cx="1378904" cy="276999"/>
          </a:xfrm>
          <a:prstGeom prst="rect">
            <a:avLst/>
          </a:prstGeom>
          <a:noFill/>
        </p:spPr>
        <p:txBody>
          <a:bodyPr wrap="none" rtlCol="0">
            <a:spAutoFit/>
          </a:bodyPr>
          <a:lstStyle/>
          <a:p>
            <a:r>
              <a:rPr kumimoji="1" lang="en-US" altLang="zh-CN" sz="12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10/10</a:t>
            </a:r>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第一波付款</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82" name="天蝎PPT原创©79"/>
          <p:cNvSpPr txBox="1"/>
          <p:nvPr/>
        </p:nvSpPr>
        <p:spPr>
          <a:xfrm>
            <a:off x="7602122" y="1182494"/>
            <a:ext cx="1370888" cy="276999"/>
          </a:xfrm>
          <a:prstGeom prst="rect">
            <a:avLst/>
          </a:prstGeom>
          <a:noFill/>
        </p:spPr>
        <p:txBody>
          <a:bodyPr wrap="none" rtlCol="0">
            <a:spAutoFit/>
          </a:bodyPr>
          <a:lstStyle/>
          <a:p>
            <a:r>
              <a:rPr kumimoji="1" lang="en-US" altLang="zh-CN" sz="12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10/30</a:t>
            </a:r>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第二波付款</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83" name="天蝎PPT原创©80"/>
          <p:cNvSpPr txBox="1"/>
          <p:nvPr/>
        </p:nvSpPr>
        <p:spPr>
          <a:xfrm>
            <a:off x="10473995" y="1182494"/>
            <a:ext cx="1006622" cy="276999"/>
          </a:xfrm>
          <a:prstGeom prst="rect">
            <a:avLst/>
          </a:prstGeom>
          <a:noFill/>
        </p:spPr>
        <p:txBody>
          <a:bodyPr wrap="none" rtlCol="0">
            <a:spAutoFit/>
          </a:bodyPr>
          <a:lstStyle/>
          <a:p>
            <a:r>
              <a:rPr kumimoji="1" lang="en-US" altLang="zh-CN" sz="12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11/11</a:t>
            </a:r>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狂欢节</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nvGrpSpPr>
          <p:cNvPr id="284" name="天蝎PPT原创©81"/>
          <p:cNvGrpSpPr/>
          <p:nvPr/>
        </p:nvGrpSpPr>
        <p:grpSpPr>
          <a:xfrm>
            <a:off x="3438701" y="962851"/>
            <a:ext cx="216000" cy="216000"/>
            <a:chOff x="3438701" y="962851"/>
            <a:chExt cx="216000" cy="216000"/>
          </a:xfrm>
        </p:grpSpPr>
        <p:sp>
          <p:nvSpPr>
            <p:cNvPr id="285" name="天蝎PPT原创©81-1"/>
            <p:cNvSpPr/>
            <p:nvPr/>
          </p:nvSpPr>
          <p:spPr>
            <a:xfrm>
              <a:off x="3438701" y="962851"/>
              <a:ext cx="216000" cy="216000"/>
            </a:xfrm>
            <a:prstGeom prst="roundRect">
              <a:avLst>
                <a:gd name="adj" fmla="val 50000"/>
              </a:avLst>
            </a:prstGeom>
            <a:solidFill>
              <a:srgbClr val="FFFFFF"/>
            </a:solidFill>
            <a:ln>
              <a:solidFill>
                <a:schemeClr val="accent1"/>
              </a:solid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286" name="天蝎PPT原创©81-2"/>
            <p:cNvSpPr/>
            <p:nvPr/>
          </p:nvSpPr>
          <p:spPr>
            <a:xfrm>
              <a:off x="3474224" y="1001982"/>
              <a:ext cx="144000" cy="144000"/>
            </a:xfrm>
            <a:prstGeom prst="roundRect">
              <a:avLst>
                <a:gd name="adj" fmla="val 50000"/>
              </a:avLst>
            </a:prstGeom>
            <a:solidFill>
              <a:schemeClr val="accent1"/>
            </a:solidFill>
            <a:ln>
              <a:solidFill>
                <a:schemeClr val="accent1"/>
              </a:solid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grpSp>
      <p:grpSp>
        <p:nvGrpSpPr>
          <p:cNvPr id="287" name="天蝎PPT原创©82"/>
          <p:cNvGrpSpPr/>
          <p:nvPr/>
        </p:nvGrpSpPr>
        <p:grpSpPr>
          <a:xfrm>
            <a:off x="5568650" y="962851"/>
            <a:ext cx="216000" cy="216000"/>
            <a:chOff x="3438701" y="962851"/>
            <a:chExt cx="216000" cy="216000"/>
          </a:xfrm>
        </p:grpSpPr>
        <p:sp>
          <p:nvSpPr>
            <p:cNvPr id="288" name="天蝎PPT原创©82-1"/>
            <p:cNvSpPr/>
            <p:nvPr/>
          </p:nvSpPr>
          <p:spPr>
            <a:xfrm>
              <a:off x="3438701" y="962851"/>
              <a:ext cx="216000" cy="216000"/>
            </a:xfrm>
            <a:prstGeom prst="roundRect">
              <a:avLst>
                <a:gd name="adj" fmla="val 50000"/>
              </a:avLst>
            </a:prstGeom>
            <a:solidFill>
              <a:srgbClr val="FFFFFF"/>
            </a:solidFill>
            <a:ln>
              <a:solidFill>
                <a:schemeClr val="accent1"/>
              </a:solid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289" name="天蝎PPT原创©82-2"/>
            <p:cNvSpPr/>
            <p:nvPr/>
          </p:nvSpPr>
          <p:spPr>
            <a:xfrm>
              <a:off x="3474224" y="1001982"/>
              <a:ext cx="144000" cy="144000"/>
            </a:xfrm>
            <a:prstGeom prst="roundRect">
              <a:avLst>
                <a:gd name="adj" fmla="val 50000"/>
              </a:avLst>
            </a:prstGeom>
            <a:solidFill>
              <a:schemeClr val="accent1"/>
            </a:solidFill>
            <a:ln>
              <a:solidFill>
                <a:schemeClr val="accent1"/>
              </a:solid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grpSp>
      <p:grpSp>
        <p:nvGrpSpPr>
          <p:cNvPr id="290" name="天蝎PPT原创©83"/>
          <p:cNvGrpSpPr/>
          <p:nvPr/>
        </p:nvGrpSpPr>
        <p:grpSpPr>
          <a:xfrm>
            <a:off x="8181672" y="962851"/>
            <a:ext cx="216000" cy="216000"/>
            <a:chOff x="3438701" y="962851"/>
            <a:chExt cx="216000" cy="216000"/>
          </a:xfrm>
        </p:grpSpPr>
        <p:sp>
          <p:nvSpPr>
            <p:cNvPr id="291" name="天蝎PPT原创©83-1"/>
            <p:cNvSpPr/>
            <p:nvPr/>
          </p:nvSpPr>
          <p:spPr>
            <a:xfrm>
              <a:off x="3438701" y="962851"/>
              <a:ext cx="216000" cy="216000"/>
            </a:xfrm>
            <a:prstGeom prst="roundRect">
              <a:avLst>
                <a:gd name="adj" fmla="val 50000"/>
              </a:avLst>
            </a:prstGeom>
            <a:solidFill>
              <a:srgbClr val="FFFFFF"/>
            </a:solidFill>
            <a:ln>
              <a:solidFill>
                <a:schemeClr val="accent1"/>
              </a:solid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292" name="天蝎PPT原创©83-2"/>
            <p:cNvSpPr/>
            <p:nvPr/>
          </p:nvSpPr>
          <p:spPr>
            <a:xfrm>
              <a:off x="3474224" y="1001982"/>
              <a:ext cx="144000" cy="144000"/>
            </a:xfrm>
            <a:prstGeom prst="roundRect">
              <a:avLst>
                <a:gd name="adj" fmla="val 50000"/>
              </a:avLst>
            </a:prstGeom>
            <a:solidFill>
              <a:schemeClr val="accent1"/>
            </a:solidFill>
            <a:ln>
              <a:solidFill>
                <a:schemeClr val="accent1"/>
              </a:solid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grpSp>
      <p:grpSp>
        <p:nvGrpSpPr>
          <p:cNvPr id="293" name="天蝎PPT原创©84"/>
          <p:cNvGrpSpPr/>
          <p:nvPr/>
        </p:nvGrpSpPr>
        <p:grpSpPr>
          <a:xfrm>
            <a:off x="10901737" y="962851"/>
            <a:ext cx="216000" cy="216000"/>
            <a:chOff x="3438701" y="962851"/>
            <a:chExt cx="216000" cy="216000"/>
          </a:xfrm>
        </p:grpSpPr>
        <p:sp>
          <p:nvSpPr>
            <p:cNvPr id="294" name="天蝎PPT原创©84-1"/>
            <p:cNvSpPr/>
            <p:nvPr/>
          </p:nvSpPr>
          <p:spPr>
            <a:xfrm>
              <a:off x="3438701" y="962851"/>
              <a:ext cx="216000" cy="216000"/>
            </a:xfrm>
            <a:prstGeom prst="roundRect">
              <a:avLst>
                <a:gd name="adj" fmla="val 50000"/>
              </a:avLst>
            </a:prstGeom>
            <a:solidFill>
              <a:srgbClr val="FFFFFF"/>
            </a:solidFill>
            <a:ln>
              <a:solidFill>
                <a:schemeClr val="accent1"/>
              </a:solid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sp>
          <p:nvSpPr>
            <p:cNvPr id="295" name="天蝎PPT原创©84-2"/>
            <p:cNvSpPr/>
            <p:nvPr/>
          </p:nvSpPr>
          <p:spPr>
            <a:xfrm>
              <a:off x="3474224" y="1001982"/>
              <a:ext cx="144000" cy="144000"/>
            </a:xfrm>
            <a:prstGeom prst="roundRect">
              <a:avLst>
                <a:gd name="adj" fmla="val 50000"/>
              </a:avLst>
            </a:prstGeom>
            <a:solidFill>
              <a:schemeClr val="accent1"/>
            </a:solidFill>
            <a:ln>
              <a:solidFill>
                <a:schemeClr val="accent1"/>
              </a:solid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latin typeface="微软雅黑" panose="020B0503020204020204" charset="-122"/>
                <a:ea typeface="微软雅黑" panose="020B0503020204020204" charset="-122"/>
                <a:cs typeface="+mn-ea"/>
                <a:sym typeface="Arial" panose="020B0604020202020204" pitchFamily="34" charset="0"/>
              </a:endParaRPr>
            </a:p>
          </p:txBody>
        </p:sp>
      </p:grpSp>
      <p:sp>
        <p:nvSpPr>
          <p:cNvPr id="296" name="天蝎PPT原创©85"/>
          <p:cNvSpPr txBox="1"/>
          <p:nvPr/>
        </p:nvSpPr>
        <p:spPr>
          <a:xfrm>
            <a:off x="1804364" y="6056367"/>
            <a:ext cx="2752725" cy="423545"/>
          </a:xfrm>
          <a:prstGeom prst="rect">
            <a:avLst/>
          </a:prstGeom>
          <a:noFill/>
        </p:spPr>
        <p:txBody>
          <a:bodyPr wrap="none" rtlCol="0">
            <a:spAutoFit/>
          </a:bodyPr>
          <a:lstStyle/>
          <a:p>
            <a:pPr>
              <a:lnSpc>
                <a:spcPct val="120000"/>
              </a:lnSpc>
            </a:pPr>
            <a:r>
              <a:rPr kumimoji="1" lang="zh-CN" altLang="en-US" sz="9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搜    索</a:t>
            </a:r>
            <a:r>
              <a:rPr kumimoji="1" lang="zh-CN" sz="9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品牌词</a:t>
            </a:r>
            <a:r>
              <a:rPr kumimoji="1" lang="en-GB" altLang="zh-CN" sz="900" dirty="0" err="1">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sov</a:t>
            </a:r>
            <a:r>
              <a:rPr kumimoji="1" lang="en-GB"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&gt;70%</a:t>
            </a:r>
            <a:r>
              <a:rPr kumimoji="1" lang="zh-CN" altLang="en-GB"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核心品类词</a:t>
            </a:r>
            <a:r>
              <a:rPr kumimoji="1" lang="en-GB" altLang="zh-CN" sz="900" dirty="0" err="1">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soV</a:t>
            </a:r>
            <a:r>
              <a:rPr kumimoji="1" lang="en-GB"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&gt;40%</a:t>
            </a:r>
            <a:r>
              <a:rPr kumimoji="1" lang="zh-CN" altLang="en-GB"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endPar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nSpc>
                <a:spcPct val="12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场景词</a:t>
            </a:r>
            <a:r>
              <a:rPr kumimoji="1" lang="en-GB" altLang="zh-CN" sz="900" dirty="0" err="1">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sov</a:t>
            </a:r>
            <a:r>
              <a:rPr kumimoji="1" lang="en-GB"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&gt;30%</a:t>
            </a:r>
            <a:endParaRPr kumimoji="1" lang="en-GB"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97" name="天蝎PPT原创©86"/>
          <p:cNvSpPr txBox="1"/>
          <p:nvPr/>
        </p:nvSpPr>
        <p:spPr>
          <a:xfrm>
            <a:off x="5190295" y="5787920"/>
            <a:ext cx="2451100" cy="257175"/>
          </a:xfrm>
          <a:prstGeom prst="rect">
            <a:avLst/>
          </a:prstGeom>
          <a:noFill/>
        </p:spPr>
        <p:txBody>
          <a:bodyPr wrap="none" rtlCol="0">
            <a:spAutoFit/>
          </a:bodyPr>
          <a:lstStyle/>
          <a:p>
            <a:pPr>
              <a:lnSpc>
                <a:spcPct val="120000"/>
              </a:lnSpc>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信息流：</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品类下热门单品</a:t>
            </a:r>
            <a:r>
              <a:rPr kumimoji="1" lang="en-GB"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SPU/Nickname</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露出</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98" name="天蝎PPT原创©87"/>
          <p:cNvSpPr txBox="1"/>
          <p:nvPr/>
        </p:nvSpPr>
        <p:spPr>
          <a:xfrm>
            <a:off x="5190295" y="6056367"/>
            <a:ext cx="2560955" cy="423545"/>
          </a:xfrm>
          <a:prstGeom prst="rect">
            <a:avLst/>
          </a:prstGeom>
          <a:noFill/>
        </p:spPr>
        <p:txBody>
          <a:bodyPr wrap="none" rtlCol="0">
            <a:spAutoFit/>
          </a:bodyPr>
          <a:lstStyle/>
          <a:p>
            <a:pPr>
              <a:lnSpc>
                <a:spcPct val="120000"/>
              </a:lnSpc>
            </a:pPr>
            <a:r>
              <a:rPr kumimoji="1" lang="zh-CN" altLang="en-US" sz="900" b="1"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搜    索：</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品牌词</a:t>
            </a:r>
            <a:r>
              <a:rPr kumimoji="1" lang="en-GB" altLang="zh-CN" sz="900" dirty="0" err="1">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sov</a:t>
            </a:r>
            <a:r>
              <a:rPr kumimoji="1" lang="en-GB"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&gt;90%</a:t>
            </a:r>
            <a:r>
              <a:rPr kumimoji="1" lang="zh-CN" altLang="en-GB"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核心品类词</a:t>
            </a:r>
            <a:r>
              <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&gt;40%</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endPar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nSpc>
                <a:spcPct val="12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同类词</a:t>
            </a:r>
            <a:r>
              <a:rPr kumimoji="1" lang="en-GB" altLang="zh-CN" sz="900" dirty="0" err="1">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sov</a:t>
            </a:r>
            <a:r>
              <a:rPr kumimoji="1" lang="en-GB"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&gt;30%</a:t>
            </a:r>
            <a:endParaRPr kumimoji="1" lang="en-GB"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99" name="天蝎PPT原创©88"/>
          <p:cNvSpPr txBox="1"/>
          <p:nvPr/>
        </p:nvSpPr>
        <p:spPr>
          <a:xfrm>
            <a:off x="8582852" y="5787920"/>
            <a:ext cx="2128520" cy="257175"/>
          </a:xfrm>
          <a:prstGeom prst="rect">
            <a:avLst/>
          </a:prstGeom>
          <a:noFill/>
        </p:spPr>
        <p:txBody>
          <a:bodyPr wrap="none" rtlCol="0">
            <a:spAutoFit/>
          </a:bodyPr>
          <a:lstStyle/>
          <a:p>
            <a:pPr>
              <a:lnSpc>
                <a:spcPct val="120000"/>
              </a:lnSpc>
            </a:pPr>
            <a:r>
              <a:rPr kumimoji="1" lang="zh-CN" altLang="en-US" sz="9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信息流：</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内容渗透率增速高于大盘均值</a:t>
            </a:r>
            <a:endPar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00" name="天蝎PPT原创©89"/>
          <p:cNvSpPr txBox="1"/>
          <p:nvPr/>
        </p:nvSpPr>
        <p:spPr>
          <a:xfrm>
            <a:off x="8582852" y="6056367"/>
            <a:ext cx="2734945" cy="423545"/>
          </a:xfrm>
          <a:prstGeom prst="rect">
            <a:avLst/>
          </a:prstGeom>
          <a:noFill/>
        </p:spPr>
        <p:txBody>
          <a:bodyPr wrap="none" rtlCol="0">
            <a:spAutoFit/>
          </a:bodyPr>
          <a:lstStyle/>
          <a:p>
            <a:pPr>
              <a:lnSpc>
                <a:spcPct val="120000"/>
              </a:lnSpc>
            </a:pPr>
            <a:r>
              <a:rPr kumimoji="1" lang="zh-CN" altLang="en-US" sz="9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搜    索</a:t>
            </a:r>
            <a:r>
              <a:rPr kumimoji="1" lang="zh-CN" sz="9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品牌词</a:t>
            </a:r>
            <a:r>
              <a:rPr kumimoji="1" lang="en-GB" altLang="zh-CN" sz="900" dirty="0" err="1">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sov</a:t>
            </a:r>
            <a:r>
              <a:rPr kumimoji="1" lang="en-GB"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&gt;</a:t>
            </a:r>
            <a:r>
              <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9</a:t>
            </a:r>
            <a:r>
              <a:rPr kumimoji="1" lang="en-GB"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0%</a:t>
            </a:r>
            <a:r>
              <a:rPr kumimoji="1" lang="zh-CN" altLang="en-GB"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核心品类词</a:t>
            </a:r>
            <a:r>
              <a:rPr kumimoji="1" lang="en-GB" altLang="zh-CN" sz="900" dirty="0" err="1">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sov</a:t>
            </a:r>
            <a:r>
              <a:rPr kumimoji="1" lang="en-GB"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&gt;</a:t>
            </a:r>
            <a:r>
              <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6</a:t>
            </a:r>
            <a:r>
              <a:rPr kumimoji="1" lang="en-GB"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0%</a:t>
            </a:r>
            <a:r>
              <a:rPr kumimoji="1" lang="zh-CN" altLang="en-GB"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endPar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nSpc>
                <a:spcPct val="120000"/>
              </a:lnSpc>
            </a:pPr>
            <a:r>
              <a:rPr kumimoji="1"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场景词</a:t>
            </a:r>
            <a:r>
              <a:rPr kumimoji="1" lang="en-GB" altLang="zh-CN" sz="900" dirty="0" err="1">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sov</a:t>
            </a:r>
            <a:r>
              <a:rPr kumimoji="1" lang="en-GB"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&gt;</a:t>
            </a:r>
            <a:r>
              <a:rPr kumimoji="1"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5</a:t>
            </a:r>
            <a:r>
              <a:rPr kumimoji="1" lang="en-GB"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0%</a:t>
            </a:r>
            <a:endParaRPr kumimoji="1" lang="en-GB" altLang="zh-CN" sz="9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01" name="天蝎PPT原创©90"/>
          <p:cNvSpPr txBox="1"/>
          <p:nvPr/>
        </p:nvSpPr>
        <p:spPr>
          <a:xfrm>
            <a:off x="1698562" y="2549793"/>
            <a:ext cx="338554" cy="477054"/>
          </a:xfrm>
          <a:prstGeom prst="rect">
            <a:avLst/>
          </a:prstGeom>
          <a:noFill/>
          <a:extLst>
            <a:ext uri="{909E8E84-426E-40DD-AFC4-6F175D3DCCD1}">
              <a14:hiddenFill xmlns:a14="http://schemas.microsoft.com/office/drawing/2010/main">
                <a:solidFill>
                  <a:schemeClr val="accent1"/>
                </a:solidFill>
              </a14:hiddenFill>
            </a:ext>
          </a:extLst>
        </p:spPr>
        <p:txBody>
          <a:bodyPr vert="eaVert" wrap="none" rtlCol="0">
            <a:spAutoFit/>
          </a:bodyPr>
          <a:lstStyle/>
          <a:p>
            <a:r>
              <a:rPr kumimoji="1" lang="zh-CN" altLang="en-US" sz="1000" dirty="0">
                <a:solidFill>
                  <a:srgbClr val="FFFFFF"/>
                </a:solidFill>
                <a:latin typeface="微软雅黑" panose="020B0503020204020204" charset="-122"/>
                <a:ea typeface="微软雅黑" panose="020B0503020204020204" charset="-122"/>
                <a:cs typeface="+mn-ea"/>
                <a:sym typeface="Arial" panose="020B0604020202020204" pitchFamily="34" charset="0"/>
              </a:rPr>
              <a:t>信息流</a:t>
            </a:r>
            <a:endParaRPr kumimoji="1" lang="zh-CN" altLang="en-US" sz="1000" dirty="0">
              <a:solidFill>
                <a:srgbClr val="FFFFFF"/>
              </a:solidFill>
              <a:latin typeface="微软雅黑" panose="020B0503020204020204" charset="-122"/>
              <a:ea typeface="微软雅黑" panose="020B0503020204020204" charset="-122"/>
              <a:cs typeface="+mn-ea"/>
              <a:sym typeface="Arial" panose="020B0604020202020204" pitchFamily="34" charset="0"/>
            </a:endParaRPr>
          </a:p>
        </p:txBody>
      </p:sp>
      <p:sp>
        <p:nvSpPr>
          <p:cNvPr id="302" name="天蝎PPT原创©91"/>
          <p:cNvSpPr txBox="1"/>
          <p:nvPr/>
        </p:nvSpPr>
        <p:spPr>
          <a:xfrm>
            <a:off x="1692212" y="3192545"/>
            <a:ext cx="338554" cy="348813"/>
          </a:xfrm>
          <a:prstGeom prst="rect">
            <a:avLst/>
          </a:prstGeom>
          <a:noFill/>
        </p:spPr>
        <p:txBody>
          <a:bodyPr vert="eaVert" wrap="none" rtlCol="0">
            <a:spAutoFit/>
          </a:bodyPr>
          <a:lstStyle/>
          <a:p>
            <a:r>
              <a:rPr kumimoji="1" lang="zh-CN" altLang="en-US" sz="1000" dirty="0">
                <a:solidFill>
                  <a:srgbClr val="FFFFFF"/>
                </a:solidFill>
                <a:latin typeface="微软雅黑" panose="020B0503020204020204" charset="-122"/>
                <a:ea typeface="微软雅黑" panose="020B0503020204020204" charset="-122"/>
                <a:cs typeface="+mn-ea"/>
                <a:sym typeface="Arial" panose="020B0604020202020204" pitchFamily="34" charset="0"/>
              </a:rPr>
              <a:t>搜索</a:t>
            </a:r>
            <a:endParaRPr kumimoji="1" lang="zh-CN" altLang="en-US" sz="1000" dirty="0">
              <a:solidFill>
                <a:srgbClr val="FFFFFF"/>
              </a:solidFill>
              <a:latin typeface="微软雅黑" panose="020B0503020204020204" charset="-122"/>
              <a:ea typeface="微软雅黑" panose="020B0503020204020204" charset="-122"/>
              <a:cs typeface="+mn-ea"/>
              <a:sym typeface="Arial" panose="020B0604020202020204" pitchFamily="34" charset="0"/>
            </a:endParaRPr>
          </a:p>
        </p:txBody>
      </p:sp>
      <p:sp>
        <p:nvSpPr>
          <p:cNvPr id="304" name="天蝎PPT原创©93"/>
          <p:cNvSpPr txBox="1"/>
          <p:nvPr/>
        </p:nvSpPr>
        <p:spPr>
          <a:xfrm>
            <a:off x="5087620" y="3211195"/>
            <a:ext cx="333375" cy="348615"/>
          </a:xfrm>
          <a:prstGeom prst="rect">
            <a:avLst/>
          </a:prstGeom>
          <a:noFill/>
        </p:spPr>
        <p:txBody>
          <a:bodyPr vert="eaVert" wrap="none" rtlCol="0">
            <a:noAutofit/>
          </a:bodyPr>
          <a:lstStyle/>
          <a:p>
            <a:r>
              <a:rPr kumimoji="1" lang="zh-CN" altLang="en-US" sz="1000" dirty="0">
                <a:solidFill>
                  <a:srgbClr val="FFFFFF"/>
                </a:solidFill>
                <a:latin typeface="微软雅黑" panose="020B0503020204020204" charset="-122"/>
                <a:ea typeface="微软雅黑" panose="020B0503020204020204" charset="-122"/>
                <a:cs typeface="+mn-ea"/>
                <a:sym typeface="Arial" panose="020B0604020202020204" pitchFamily="34" charset="0"/>
              </a:rPr>
              <a:t>搜索</a:t>
            </a:r>
            <a:endParaRPr kumimoji="1" lang="zh-CN" altLang="en-US" sz="1000" dirty="0">
              <a:solidFill>
                <a:srgbClr val="FFFFFF"/>
              </a:solidFill>
              <a:latin typeface="微软雅黑" panose="020B0503020204020204" charset="-122"/>
              <a:ea typeface="微软雅黑" panose="020B0503020204020204" charset="-122"/>
              <a:cs typeface="+mn-ea"/>
              <a:sym typeface="Arial" panose="020B0604020202020204" pitchFamily="34" charset="0"/>
            </a:endParaRPr>
          </a:p>
        </p:txBody>
      </p:sp>
      <p:sp>
        <p:nvSpPr>
          <p:cNvPr id="305" name="天蝎PPT原创©94"/>
          <p:cNvSpPr txBox="1"/>
          <p:nvPr/>
        </p:nvSpPr>
        <p:spPr>
          <a:xfrm>
            <a:off x="8451838" y="2531378"/>
            <a:ext cx="338554" cy="477054"/>
          </a:xfrm>
          <a:prstGeom prst="rect">
            <a:avLst/>
          </a:prstGeom>
          <a:noFill/>
        </p:spPr>
        <p:txBody>
          <a:bodyPr vert="eaVert" wrap="none" rtlCol="0">
            <a:spAutoFit/>
          </a:bodyPr>
          <a:lstStyle/>
          <a:p>
            <a:r>
              <a:rPr kumimoji="1" lang="zh-CN" altLang="en-US" sz="1000" dirty="0">
                <a:solidFill>
                  <a:srgbClr val="FFFFFF"/>
                </a:solidFill>
                <a:latin typeface="微软雅黑" panose="020B0503020204020204" charset="-122"/>
                <a:ea typeface="微软雅黑" panose="020B0503020204020204" charset="-122"/>
                <a:cs typeface="+mn-ea"/>
                <a:sym typeface="Arial" panose="020B0604020202020204" pitchFamily="34" charset="0"/>
              </a:rPr>
              <a:t>信息流</a:t>
            </a:r>
            <a:endParaRPr kumimoji="1" lang="zh-CN" altLang="en-US" sz="1000" dirty="0">
              <a:solidFill>
                <a:srgbClr val="FFFFFF"/>
              </a:solidFill>
              <a:latin typeface="微软雅黑" panose="020B0503020204020204" charset="-122"/>
              <a:ea typeface="微软雅黑" panose="020B0503020204020204" charset="-122"/>
              <a:cs typeface="+mn-ea"/>
              <a:sym typeface="Arial" panose="020B0604020202020204" pitchFamily="34" charset="0"/>
            </a:endParaRPr>
          </a:p>
        </p:txBody>
      </p:sp>
      <p:sp>
        <p:nvSpPr>
          <p:cNvPr id="306" name="天蝎PPT原创©95"/>
          <p:cNvSpPr txBox="1"/>
          <p:nvPr/>
        </p:nvSpPr>
        <p:spPr>
          <a:xfrm>
            <a:off x="8451838" y="3192545"/>
            <a:ext cx="338554" cy="348813"/>
          </a:xfrm>
          <a:prstGeom prst="rect">
            <a:avLst/>
          </a:prstGeom>
          <a:noFill/>
        </p:spPr>
        <p:txBody>
          <a:bodyPr vert="eaVert" wrap="none" rtlCol="0">
            <a:spAutoFit/>
          </a:bodyPr>
          <a:lstStyle/>
          <a:p>
            <a:r>
              <a:rPr kumimoji="1" lang="zh-CN" altLang="en-US" sz="1000" dirty="0">
                <a:solidFill>
                  <a:srgbClr val="FFFFFF"/>
                </a:solidFill>
                <a:latin typeface="微软雅黑" panose="020B0503020204020204" charset="-122"/>
                <a:ea typeface="微软雅黑" panose="020B0503020204020204" charset="-122"/>
                <a:cs typeface="+mn-ea"/>
                <a:sym typeface="Arial" panose="020B0604020202020204" pitchFamily="34" charset="0"/>
              </a:rPr>
              <a:t>搜索</a:t>
            </a:r>
            <a:endParaRPr kumimoji="1" lang="zh-CN" altLang="en-US" sz="1000" dirty="0">
              <a:solidFill>
                <a:srgbClr val="FFFFFF"/>
              </a:solidFill>
              <a:latin typeface="微软雅黑" panose="020B0503020204020204" charset="-122"/>
              <a:ea typeface="微软雅黑" panose="020B0503020204020204" charset="-122"/>
              <a:cs typeface="+mn-ea"/>
              <a:sym typeface="Arial" panose="020B0604020202020204" pitchFamily="34" charset="0"/>
            </a:endParaRPr>
          </a:p>
        </p:txBody>
      </p:sp>
      <p:sp>
        <p:nvSpPr>
          <p:cNvPr id="2" name="天蝎PPT原创©92"/>
          <p:cNvSpPr txBox="1"/>
          <p:nvPr/>
        </p:nvSpPr>
        <p:spPr>
          <a:xfrm>
            <a:off x="5087620" y="2549525"/>
            <a:ext cx="333375" cy="476885"/>
          </a:xfrm>
          <a:prstGeom prst="rect">
            <a:avLst/>
          </a:prstGeom>
          <a:noFill/>
          <a:extLst>
            <a:ext uri="{909E8E84-426E-40DD-AFC4-6F175D3DCCD1}">
              <a14:hiddenFill xmlns:a14="http://schemas.microsoft.com/office/drawing/2010/main">
                <a:solidFill>
                  <a:schemeClr val="accent5"/>
                </a:solidFill>
              </a14:hiddenFill>
            </a:ext>
          </a:extLst>
        </p:spPr>
        <p:txBody>
          <a:bodyPr vert="eaVert" wrap="none" rtlCol="0">
            <a:noAutofit/>
          </a:bodyPr>
          <a:lstStyle/>
          <a:p>
            <a:r>
              <a:rPr kumimoji="1" lang="zh-CN" altLang="en-US" sz="1000" dirty="0">
                <a:solidFill>
                  <a:srgbClr val="FFFFFF"/>
                </a:solidFill>
                <a:latin typeface="微软雅黑" panose="020B0503020204020204" charset="-122"/>
                <a:ea typeface="微软雅黑" panose="020B0503020204020204" charset="-122"/>
                <a:cs typeface="+mn-ea"/>
                <a:sym typeface="Arial" panose="020B0604020202020204" pitchFamily="34" charset="0"/>
              </a:rPr>
              <a:t>信息流</a:t>
            </a:r>
            <a:endParaRPr kumimoji="1" lang="zh-CN" altLang="en-US" sz="1000" dirty="0">
              <a:solidFill>
                <a:srgbClr val="FFFFFF"/>
              </a:solidFill>
              <a:latin typeface="微软雅黑" panose="020B0503020204020204" charset="-122"/>
              <a:ea typeface="微软雅黑" panose="020B0503020204020204" charset="-122"/>
              <a:cs typeface="+mn-ea"/>
              <a:sym typeface="Arial" panose="020B0604020202020204" pitchFamily="34" charset="0"/>
            </a:endParaRPr>
          </a:p>
        </p:txBody>
      </p:sp>
      <p:sp>
        <p:nvSpPr>
          <p:cNvPr id="8" name="天蝎PPT原创©13"/>
          <p:cNvSpPr txBox="1"/>
          <p:nvPr/>
        </p:nvSpPr>
        <p:spPr>
          <a:xfrm>
            <a:off x="594292" y="3045594"/>
            <a:ext cx="942043" cy="460375"/>
          </a:xfrm>
          <a:prstGeom prst="rect">
            <a:avLst/>
          </a:prstGeom>
          <a:noFill/>
        </p:spPr>
        <p:txBody>
          <a:bodyPr wrap="square" rtlCol="0">
            <a:spAutoFit/>
          </a:bodyPr>
          <a:lstStyle/>
          <a:p>
            <a:pPr algn="ctr"/>
            <a:r>
              <a:rPr kumimoji="1"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rPr>
              <a:t>竞价</a:t>
            </a:r>
            <a:endParaRPr kumimoji="1" lang="en-US" altLang="zh-CN" sz="1200" b="1" dirty="0">
              <a:solidFill>
                <a:schemeClr val="accent1"/>
              </a:solidFill>
              <a:latin typeface="微软雅黑" panose="020B0503020204020204" charset="-122"/>
              <a:ea typeface="微软雅黑" panose="020B0503020204020204" charset="-122"/>
              <a:cs typeface="+mn-ea"/>
              <a:sym typeface="Arial" panose="020B0604020202020204" pitchFamily="34" charset="0"/>
            </a:endParaRPr>
          </a:p>
          <a:p>
            <a:pPr algn="ctr"/>
            <a:r>
              <a:rPr kumimoji="1"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rPr>
              <a:t>策略</a:t>
            </a:r>
            <a:endParaRPr kumimoji="1"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endParaRPr>
          </a:p>
        </p:txBody>
      </p:sp>
      <p:sp>
        <p:nvSpPr>
          <p:cNvPr id="9" name="天蝎PPT原创©17"/>
          <p:cNvSpPr txBox="1"/>
          <p:nvPr/>
        </p:nvSpPr>
        <p:spPr>
          <a:xfrm>
            <a:off x="594292" y="5891189"/>
            <a:ext cx="942043" cy="460375"/>
          </a:xfrm>
          <a:prstGeom prst="rect">
            <a:avLst/>
          </a:prstGeom>
          <a:noFill/>
        </p:spPr>
        <p:txBody>
          <a:bodyPr wrap="square" rtlCol="0">
            <a:spAutoFit/>
          </a:bodyPr>
          <a:lstStyle/>
          <a:p>
            <a:pPr algn="ctr"/>
            <a:r>
              <a:rPr kumimoji="1"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rPr>
              <a:t>指标</a:t>
            </a:r>
            <a:endParaRPr kumimoji="1" lang="en-US" altLang="zh-CN" sz="1200" b="1" dirty="0">
              <a:solidFill>
                <a:schemeClr val="accent1"/>
              </a:solidFill>
              <a:latin typeface="微软雅黑" panose="020B0503020204020204" charset="-122"/>
              <a:ea typeface="微软雅黑" panose="020B0503020204020204" charset="-122"/>
              <a:cs typeface="+mn-ea"/>
              <a:sym typeface="Arial" panose="020B0604020202020204" pitchFamily="34" charset="0"/>
            </a:endParaRPr>
          </a:p>
          <a:p>
            <a:pPr algn="ctr"/>
            <a:r>
              <a:rPr kumimoji="1"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rPr>
              <a:t>考核</a:t>
            </a:r>
            <a:endParaRPr kumimoji="1"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endParaRPr>
          </a:p>
        </p:txBody>
      </p:sp>
      <p:sp>
        <p:nvSpPr>
          <p:cNvPr id="11" name="天蝎PPT原创©11"/>
          <p:cNvSpPr txBox="1"/>
          <p:nvPr/>
        </p:nvSpPr>
        <p:spPr>
          <a:xfrm>
            <a:off x="594292" y="2044377"/>
            <a:ext cx="942043" cy="275590"/>
          </a:xfrm>
          <a:prstGeom prst="rect">
            <a:avLst/>
          </a:prstGeom>
          <a:noFill/>
        </p:spPr>
        <p:txBody>
          <a:bodyPr wrap="square" rtlCol="0">
            <a:spAutoFit/>
          </a:bodyPr>
          <a:lstStyle/>
          <a:p>
            <a:pPr algn="ctr"/>
            <a:r>
              <a:rPr kumimoji="1"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rPr>
              <a:t>目标</a:t>
            </a:r>
            <a:endParaRPr kumimoji="1"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endParaRPr>
          </a:p>
        </p:txBody>
      </p:sp>
      <p:sp>
        <p:nvSpPr>
          <p:cNvPr id="12" name="天蝎PPT原创©42"/>
          <p:cNvSpPr txBox="1"/>
          <p:nvPr/>
        </p:nvSpPr>
        <p:spPr>
          <a:xfrm>
            <a:off x="594292" y="1215609"/>
            <a:ext cx="942043" cy="460375"/>
          </a:xfrm>
          <a:prstGeom prst="rect">
            <a:avLst/>
          </a:prstGeom>
          <a:noFill/>
        </p:spPr>
        <p:txBody>
          <a:bodyPr wrap="square" rtlCol="0">
            <a:spAutoFit/>
          </a:bodyPr>
          <a:lstStyle/>
          <a:p>
            <a:pPr algn="ctr"/>
            <a:r>
              <a:rPr kumimoji="1"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rPr>
              <a:t>传播</a:t>
            </a:r>
            <a:endParaRPr kumimoji="1" lang="en-US" altLang="zh-CN" sz="1200" b="1" dirty="0">
              <a:solidFill>
                <a:schemeClr val="accent1"/>
              </a:solidFill>
              <a:latin typeface="微软雅黑" panose="020B0503020204020204" charset="-122"/>
              <a:ea typeface="微软雅黑" panose="020B0503020204020204" charset="-122"/>
              <a:cs typeface="+mn-ea"/>
              <a:sym typeface="Arial" panose="020B0604020202020204" pitchFamily="34" charset="0"/>
            </a:endParaRPr>
          </a:p>
          <a:p>
            <a:pPr algn="ctr"/>
            <a:r>
              <a:rPr kumimoji="1"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rPr>
              <a:t>节点</a:t>
            </a:r>
            <a:endParaRPr kumimoji="1"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endParaRPr>
          </a:p>
        </p:txBody>
      </p:sp>
      <p:sp>
        <p:nvSpPr>
          <p:cNvPr id="13" name="天蝎PPT原创©75"/>
          <p:cNvSpPr txBox="1"/>
          <p:nvPr/>
        </p:nvSpPr>
        <p:spPr>
          <a:xfrm>
            <a:off x="594292" y="4198626"/>
            <a:ext cx="942043" cy="460375"/>
          </a:xfrm>
          <a:prstGeom prst="rect">
            <a:avLst/>
          </a:prstGeom>
          <a:noFill/>
        </p:spPr>
        <p:txBody>
          <a:bodyPr wrap="square" rtlCol="0">
            <a:spAutoFit/>
          </a:bodyPr>
          <a:lstStyle/>
          <a:p>
            <a:pPr algn="ctr"/>
            <a:r>
              <a:rPr kumimoji="1" lang="en-US" altLang="zh-CN" sz="12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KOL/</a:t>
            </a:r>
            <a:r>
              <a:rPr kumimoji="1"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内容策略</a:t>
            </a:r>
            <a:endParaRPr kumimoji="1"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4" name="天蝎PPT原创©76"/>
          <p:cNvSpPr txBox="1"/>
          <p:nvPr/>
        </p:nvSpPr>
        <p:spPr>
          <a:xfrm>
            <a:off x="594292" y="4981113"/>
            <a:ext cx="942043" cy="460375"/>
          </a:xfrm>
          <a:prstGeom prst="rect">
            <a:avLst/>
          </a:prstGeom>
          <a:noFill/>
        </p:spPr>
        <p:txBody>
          <a:bodyPr wrap="square" rtlCol="0">
            <a:spAutoFit/>
          </a:bodyPr>
          <a:lstStyle/>
          <a:p>
            <a:pPr algn="ctr"/>
            <a:r>
              <a:rPr kumimoji="1" lang="zh-CN" altLang="en-US" sz="1200" b="1" dirty="0">
                <a:solidFill>
                  <a:schemeClr val="accent5"/>
                </a:solidFill>
                <a:latin typeface="微软雅黑" panose="020B0503020204020204" charset="-122"/>
                <a:ea typeface="微软雅黑" panose="020B0503020204020204" charset="-122"/>
                <a:cs typeface="+mn-ea"/>
                <a:sym typeface="Arial" panose="020B0604020202020204" pitchFamily="34" charset="0"/>
              </a:rPr>
              <a:t>预算布局</a:t>
            </a:r>
            <a:endParaRPr kumimoji="1" lang="en-US" altLang="zh-CN" sz="1200" b="1" dirty="0">
              <a:solidFill>
                <a:schemeClr val="accent5"/>
              </a:solidFill>
              <a:latin typeface="微软雅黑" panose="020B0503020204020204" charset="-122"/>
              <a:ea typeface="微软雅黑" panose="020B0503020204020204" charset="-122"/>
              <a:cs typeface="+mn-ea"/>
              <a:sym typeface="Arial" panose="020B0604020202020204" pitchFamily="34" charset="0"/>
            </a:endParaRPr>
          </a:p>
          <a:p>
            <a:pPr algn="ctr"/>
            <a:r>
              <a:rPr kumimoji="1" lang="zh-CN" altLang="en-US" sz="1200" b="1" dirty="0">
                <a:solidFill>
                  <a:schemeClr val="accent5"/>
                </a:solidFill>
                <a:latin typeface="微软雅黑" panose="020B0503020204020204" charset="-122"/>
                <a:ea typeface="微软雅黑" panose="020B0503020204020204" charset="-122"/>
                <a:cs typeface="+mn-ea"/>
                <a:sym typeface="Arial" panose="020B0604020202020204" pitchFamily="34" charset="0"/>
              </a:rPr>
              <a:t>出价建议</a:t>
            </a:r>
            <a:endParaRPr kumimoji="1" lang="zh-CN" altLang="en-US" sz="1200" b="1" dirty="0">
              <a:solidFill>
                <a:schemeClr val="accent5"/>
              </a:solidFill>
              <a:latin typeface="微软雅黑" panose="020B0503020204020204" charset="-122"/>
              <a:ea typeface="微软雅黑" panose="020B0503020204020204" charset="-122"/>
              <a:cs typeface="+mn-ea"/>
              <a:sym typeface="Arial" panose="020B0604020202020204" pitchFamily="34" charset="0"/>
            </a:endParaRPr>
          </a:p>
        </p:txBody>
      </p: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3" name="图片 2"/>
            <p:cNvPicPr>
              <a:picLocks noChangeAspect="1"/>
            </p:cNvPicPr>
            <p:nvPr userDrawn="1"/>
          </p:nvPicPr>
          <p:blipFill>
            <a:blip r:embed="rId9"/>
            <a:srcRect l="17002" t="-1765" r="56499" b="-1176"/>
            <a:stretch>
              <a:fillRect/>
            </a:stretch>
          </p:blipFill>
          <p:spPr>
            <a:xfrm>
              <a:off x="13761" y="549"/>
              <a:ext cx="1582" cy="525"/>
            </a:xfrm>
            <a:prstGeom prst="rect">
              <a:avLst/>
            </a:prstGeom>
          </p:spPr>
        </p:pic>
        <p:sp>
          <p:nvSpPr>
            <p:cNvPr id="4" name="文本框 3"/>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sz="2500">
                <a:solidFill>
                  <a:schemeClr val="tx2"/>
                </a:solidFill>
                <a:effectLst/>
                <a:latin typeface="微软雅黑" panose="020B0503020204020204" charset="-122"/>
                <a:ea typeface="微软雅黑" panose="020B0503020204020204" charset="-122"/>
                <a:cs typeface="微软雅黑" panose="020B0503020204020204" charset="-122"/>
              </a:rPr>
              <a:t>公司发展历程介绍</a:t>
            </a:r>
            <a:endParaRPr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3" name="图片 2"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14" name="任意多边形: 形状 4"/>
          <p:cNvSpPr/>
          <p:nvPr/>
        </p:nvSpPr>
        <p:spPr>
          <a:xfrm>
            <a:off x="-623209" y="2046777"/>
            <a:ext cx="12946742" cy="3248302"/>
          </a:xfrm>
          <a:custGeom>
            <a:avLst/>
            <a:gdLst>
              <a:gd name="connsiteX0" fmla="*/ 0 w 13246100"/>
              <a:gd name="connsiteY0" fmla="*/ 3721100 h 3794081"/>
              <a:gd name="connsiteX1" fmla="*/ 1993900 w 13246100"/>
              <a:gd name="connsiteY1" fmla="*/ 3683000 h 3794081"/>
              <a:gd name="connsiteX2" fmla="*/ 4902200 w 13246100"/>
              <a:gd name="connsiteY2" fmla="*/ 2667000 h 3794081"/>
              <a:gd name="connsiteX3" fmla="*/ 7569200 w 13246100"/>
              <a:gd name="connsiteY3" fmla="*/ 2349500 h 3794081"/>
              <a:gd name="connsiteX4" fmla="*/ 10083800 w 13246100"/>
              <a:gd name="connsiteY4" fmla="*/ 673100 h 3794081"/>
              <a:gd name="connsiteX5" fmla="*/ 12623800 w 13246100"/>
              <a:gd name="connsiteY5" fmla="*/ 393700 h 3794081"/>
              <a:gd name="connsiteX6" fmla="*/ 13246100 w 13246100"/>
              <a:gd name="connsiteY6" fmla="*/ 0 h 3794081"/>
              <a:gd name="connsiteX0-1" fmla="*/ 0 w 13246100"/>
              <a:gd name="connsiteY0-2" fmla="*/ 3721100 h 3794922"/>
              <a:gd name="connsiteX1-3" fmla="*/ 1993900 w 13246100"/>
              <a:gd name="connsiteY1-4" fmla="*/ 3683000 h 3794922"/>
              <a:gd name="connsiteX2-5" fmla="*/ 4216400 w 13246100"/>
              <a:gd name="connsiteY2-6" fmla="*/ 2654300 h 3794922"/>
              <a:gd name="connsiteX3-7" fmla="*/ 7569200 w 13246100"/>
              <a:gd name="connsiteY3-8" fmla="*/ 2349500 h 3794922"/>
              <a:gd name="connsiteX4-9" fmla="*/ 10083800 w 13246100"/>
              <a:gd name="connsiteY4-10" fmla="*/ 673100 h 3794922"/>
              <a:gd name="connsiteX5-11" fmla="*/ 12623800 w 13246100"/>
              <a:gd name="connsiteY5-12" fmla="*/ 393700 h 3794922"/>
              <a:gd name="connsiteX6-13" fmla="*/ 13246100 w 13246100"/>
              <a:gd name="connsiteY6-14" fmla="*/ 0 h 3794922"/>
              <a:gd name="connsiteX0-15" fmla="*/ 0 w 13246100"/>
              <a:gd name="connsiteY0-16" fmla="*/ 3721100 h 3776203"/>
              <a:gd name="connsiteX1-17" fmla="*/ 1892300 w 13246100"/>
              <a:gd name="connsiteY1-18" fmla="*/ 3644900 h 3776203"/>
              <a:gd name="connsiteX2-19" fmla="*/ 4216400 w 13246100"/>
              <a:gd name="connsiteY2-20" fmla="*/ 2654300 h 3776203"/>
              <a:gd name="connsiteX3-21" fmla="*/ 7569200 w 13246100"/>
              <a:gd name="connsiteY3-22" fmla="*/ 2349500 h 3776203"/>
              <a:gd name="connsiteX4-23" fmla="*/ 10083800 w 13246100"/>
              <a:gd name="connsiteY4-24" fmla="*/ 673100 h 3776203"/>
              <a:gd name="connsiteX5-25" fmla="*/ 12623800 w 13246100"/>
              <a:gd name="connsiteY5-26" fmla="*/ 393700 h 3776203"/>
              <a:gd name="connsiteX6-27" fmla="*/ 13246100 w 13246100"/>
              <a:gd name="connsiteY6-28" fmla="*/ 0 h 3776203"/>
              <a:gd name="connsiteX0-29" fmla="*/ 0 w 12623800"/>
              <a:gd name="connsiteY0-30" fmla="*/ 3327400 h 3382503"/>
              <a:gd name="connsiteX1-31" fmla="*/ 1892300 w 12623800"/>
              <a:gd name="connsiteY1-32" fmla="*/ 3251200 h 3382503"/>
              <a:gd name="connsiteX2-33" fmla="*/ 4216400 w 12623800"/>
              <a:gd name="connsiteY2-34" fmla="*/ 2260600 h 3382503"/>
              <a:gd name="connsiteX3-35" fmla="*/ 7569200 w 12623800"/>
              <a:gd name="connsiteY3-36" fmla="*/ 1955800 h 3382503"/>
              <a:gd name="connsiteX4-37" fmla="*/ 10083800 w 12623800"/>
              <a:gd name="connsiteY4-38" fmla="*/ 279400 h 3382503"/>
              <a:gd name="connsiteX5-39" fmla="*/ 12623800 w 12623800"/>
              <a:gd name="connsiteY5-40" fmla="*/ 0 h 3382503"/>
              <a:gd name="connsiteX0-41" fmla="*/ 0 w 12903200"/>
              <a:gd name="connsiteY0-42" fmla="*/ 3144439 h 3199542"/>
              <a:gd name="connsiteX1-43" fmla="*/ 1892300 w 12903200"/>
              <a:gd name="connsiteY1-44" fmla="*/ 3068239 h 3199542"/>
              <a:gd name="connsiteX2-45" fmla="*/ 4216400 w 12903200"/>
              <a:gd name="connsiteY2-46" fmla="*/ 2077639 h 3199542"/>
              <a:gd name="connsiteX3-47" fmla="*/ 7569200 w 12903200"/>
              <a:gd name="connsiteY3-48" fmla="*/ 1772839 h 3199542"/>
              <a:gd name="connsiteX4-49" fmla="*/ 10083800 w 12903200"/>
              <a:gd name="connsiteY4-50" fmla="*/ 96439 h 3199542"/>
              <a:gd name="connsiteX5-51" fmla="*/ 12903200 w 12903200"/>
              <a:gd name="connsiteY5-52" fmla="*/ 121839 h 3199542"/>
              <a:gd name="connsiteX0-53" fmla="*/ 0 w 12903200"/>
              <a:gd name="connsiteY0-54" fmla="*/ 3157086 h 3212189"/>
              <a:gd name="connsiteX1-55" fmla="*/ 1892300 w 12903200"/>
              <a:gd name="connsiteY1-56" fmla="*/ 3080886 h 3212189"/>
              <a:gd name="connsiteX2-57" fmla="*/ 4216400 w 12903200"/>
              <a:gd name="connsiteY2-58" fmla="*/ 2090286 h 3212189"/>
              <a:gd name="connsiteX3-59" fmla="*/ 7569200 w 12903200"/>
              <a:gd name="connsiteY3-60" fmla="*/ 1785486 h 3212189"/>
              <a:gd name="connsiteX4-61" fmla="*/ 10083800 w 12903200"/>
              <a:gd name="connsiteY4-62" fmla="*/ 109086 h 3212189"/>
              <a:gd name="connsiteX5-63" fmla="*/ 12903200 w 12903200"/>
              <a:gd name="connsiteY5-64" fmla="*/ 134486 h 3212189"/>
              <a:gd name="connsiteX0-65" fmla="*/ 0 w 12903200"/>
              <a:gd name="connsiteY0-66" fmla="*/ 3081966 h 3137069"/>
              <a:gd name="connsiteX1-67" fmla="*/ 1892300 w 12903200"/>
              <a:gd name="connsiteY1-68" fmla="*/ 3005766 h 3137069"/>
              <a:gd name="connsiteX2-69" fmla="*/ 4216400 w 12903200"/>
              <a:gd name="connsiteY2-70" fmla="*/ 2015166 h 3137069"/>
              <a:gd name="connsiteX3-71" fmla="*/ 7569200 w 12903200"/>
              <a:gd name="connsiteY3-72" fmla="*/ 1710366 h 3137069"/>
              <a:gd name="connsiteX4-73" fmla="*/ 10185400 w 12903200"/>
              <a:gd name="connsiteY4-74" fmla="*/ 135566 h 3137069"/>
              <a:gd name="connsiteX5-75" fmla="*/ 12903200 w 12903200"/>
              <a:gd name="connsiteY5-76" fmla="*/ 59366 h 3137069"/>
              <a:gd name="connsiteX0-77" fmla="*/ 0 w 12903200"/>
              <a:gd name="connsiteY0-78" fmla="*/ 3081039 h 3136142"/>
              <a:gd name="connsiteX1-79" fmla="*/ 1892300 w 12903200"/>
              <a:gd name="connsiteY1-80" fmla="*/ 3004839 h 3136142"/>
              <a:gd name="connsiteX2-81" fmla="*/ 4216400 w 12903200"/>
              <a:gd name="connsiteY2-82" fmla="*/ 2014239 h 3136142"/>
              <a:gd name="connsiteX3-83" fmla="*/ 7429500 w 12903200"/>
              <a:gd name="connsiteY3-84" fmla="*/ 1696739 h 3136142"/>
              <a:gd name="connsiteX4-85" fmla="*/ 10185400 w 12903200"/>
              <a:gd name="connsiteY4-86" fmla="*/ 134639 h 3136142"/>
              <a:gd name="connsiteX5-87" fmla="*/ 12903200 w 12903200"/>
              <a:gd name="connsiteY5-88" fmla="*/ 58439 h 3136142"/>
              <a:gd name="connsiteX0-89" fmla="*/ 0 w 12903200"/>
              <a:gd name="connsiteY0-90" fmla="*/ 3081039 h 3136142"/>
              <a:gd name="connsiteX1-91" fmla="*/ 1892300 w 12903200"/>
              <a:gd name="connsiteY1-92" fmla="*/ 3004839 h 3136142"/>
              <a:gd name="connsiteX2-93" fmla="*/ 4216400 w 12903200"/>
              <a:gd name="connsiteY2-94" fmla="*/ 2014239 h 3136142"/>
              <a:gd name="connsiteX3-95" fmla="*/ 7429500 w 12903200"/>
              <a:gd name="connsiteY3-96" fmla="*/ 1696739 h 3136142"/>
              <a:gd name="connsiteX4-97" fmla="*/ 10020300 w 12903200"/>
              <a:gd name="connsiteY4-98" fmla="*/ 134639 h 3136142"/>
              <a:gd name="connsiteX5-99" fmla="*/ 12903200 w 12903200"/>
              <a:gd name="connsiteY5-100" fmla="*/ 58439 h 3136142"/>
              <a:gd name="connsiteX0-101" fmla="*/ 0 w 12903200"/>
              <a:gd name="connsiteY0-102" fmla="*/ 3022600 h 3077703"/>
              <a:gd name="connsiteX1-103" fmla="*/ 1892300 w 12903200"/>
              <a:gd name="connsiteY1-104" fmla="*/ 2946400 h 3077703"/>
              <a:gd name="connsiteX2-105" fmla="*/ 4216400 w 12903200"/>
              <a:gd name="connsiteY2-106" fmla="*/ 1955800 h 3077703"/>
              <a:gd name="connsiteX3-107" fmla="*/ 7429500 w 12903200"/>
              <a:gd name="connsiteY3-108" fmla="*/ 1638300 h 3077703"/>
              <a:gd name="connsiteX4-109" fmla="*/ 9918700 w 12903200"/>
              <a:gd name="connsiteY4-110" fmla="*/ 250371 h 3077703"/>
              <a:gd name="connsiteX5-111" fmla="*/ 12903200 w 12903200"/>
              <a:gd name="connsiteY5-112" fmla="*/ 0 h 3077703"/>
              <a:gd name="connsiteX0-113" fmla="*/ 0 w 12903200"/>
              <a:gd name="connsiteY0-114" fmla="*/ 3022600 h 3077703"/>
              <a:gd name="connsiteX1-115" fmla="*/ 1892300 w 12903200"/>
              <a:gd name="connsiteY1-116" fmla="*/ 2946400 h 3077703"/>
              <a:gd name="connsiteX2-117" fmla="*/ 4216400 w 12903200"/>
              <a:gd name="connsiteY2-118" fmla="*/ 1955800 h 3077703"/>
              <a:gd name="connsiteX3-119" fmla="*/ 7429500 w 12903200"/>
              <a:gd name="connsiteY3-120" fmla="*/ 1638300 h 3077703"/>
              <a:gd name="connsiteX4-121" fmla="*/ 9176423 w 12903200"/>
              <a:gd name="connsiteY4-122" fmla="*/ 487039 h 3077703"/>
              <a:gd name="connsiteX5-123" fmla="*/ 12903200 w 12903200"/>
              <a:gd name="connsiteY5-124" fmla="*/ 0 h 3077703"/>
              <a:gd name="connsiteX0-125" fmla="*/ 0 w 12932228"/>
              <a:gd name="connsiteY0-126" fmla="*/ 3240314 h 3295417"/>
              <a:gd name="connsiteX1-127" fmla="*/ 1892300 w 12932228"/>
              <a:gd name="connsiteY1-128" fmla="*/ 3164114 h 3295417"/>
              <a:gd name="connsiteX2-129" fmla="*/ 4216400 w 12932228"/>
              <a:gd name="connsiteY2-130" fmla="*/ 2173514 h 3295417"/>
              <a:gd name="connsiteX3-131" fmla="*/ 7429500 w 12932228"/>
              <a:gd name="connsiteY3-132" fmla="*/ 1856014 h 3295417"/>
              <a:gd name="connsiteX4-133" fmla="*/ 9176423 w 12932228"/>
              <a:gd name="connsiteY4-134" fmla="*/ 704753 h 3295417"/>
              <a:gd name="connsiteX5-135" fmla="*/ 12932228 w 12932228"/>
              <a:gd name="connsiteY5-136" fmla="*/ 0 h 3295417"/>
              <a:gd name="connsiteX0-137" fmla="*/ 0 w 12729028"/>
              <a:gd name="connsiteY0-138" fmla="*/ 3182257 h 3237360"/>
              <a:gd name="connsiteX1-139" fmla="*/ 1892300 w 12729028"/>
              <a:gd name="connsiteY1-140" fmla="*/ 3106057 h 3237360"/>
              <a:gd name="connsiteX2-141" fmla="*/ 4216400 w 12729028"/>
              <a:gd name="connsiteY2-142" fmla="*/ 2115457 h 3237360"/>
              <a:gd name="connsiteX3-143" fmla="*/ 7429500 w 12729028"/>
              <a:gd name="connsiteY3-144" fmla="*/ 1797957 h 3237360"/>
              <a:gd name="connsiteX4-145" fmla="*/ 9176423 w 12729028"/>
              <a:gd name="connsiteY4-146" fmla="*/ 646696 h 3237360"/>
              <a:gd name="connsiteX5-147" fmla="*/ 12729028 w 12729028"/>
              <a:gd name="connsiteY5-148" fmla="*/ 0 h 3237360"/>
              <a:gd name="connsiteX0-149" fmla="*/ 0 w 12946742"/>
              <a:gd name="connsiteY0-150" fmla="*/ 3196771 h 3251874"/>
              <a:gd name="connsiteX1-151" fmla="*/ 1892300 w 12946742"/>
              <a:gd name="connsiteY1-152" fmla="*/ 3120571 h 3251874"/>
              <a:gd name="connsiteX2-153" fmla="*/ 4216400 w 12946742"/>
              <a:gd name="connsiteY2-154" fmla="*/ 2129971 h 3251874"/>
              <a:gd name="connsiteX3-155" fmla="*/ 7429500 w 12946742"/>
              <a:gd name="connsiteY3-156" fmla="*/ 1812471 h 3251874"/>
              <a:gd name="connsiteX4-157" fmla="*/ 9176423 w 12946742"/>
              <a:gd name="connsiteY4-158" fmla="*/ 661210 h 3251874"/>
              <a:gd name="connsiteX5-159" fmla="*/ 12946742 w 12946742"/>
              <a:gd name="connsiteY5-160" fmla="*/ 0 h 3251874"/>
              <a:gd name="connsiteX0-161" fmla="*/ 0 w 12946742"/>
              <a:gd name="connsiteY0-162" fmla="*/ 3196771 h 3248302"/>
              <a:gd name="connsiteX1-163" fmla="*/ 1892300 w 12946742"/>
              <a:gd name="connsiteY1-164" fmla="*/ 3120571 h 3248302"/>
              <a:gd name="connsiteX2-165" fmla="*/ 4291703 w 12946742"/>
              <a:gd name="connsiteY2-166" fmla="*/ 2194517 h 3248302"/>
              <a:gd name="connsiteX3-167" fmla="*/ 7429500 w 12946742"/>
              <a:gd name="connsiteY3-168" fmla="*/ 1812471 h 3248302"/>
              <a:gd name="connsiteX4-169" fmla="*/ 9176423 w 12946742"/>
              <a:gd name="connsiteY4-170" fmla="*/ 661210 h 3248302"/>
              <a:gd name="connsiteX5-171" fmla="*/ 12946742 w 12946742"/>
              <a:gd name="connsiteY5-172" fmla="*/ 0 h 3248302"/>
              <a:gd name="connsiteX0-173" fmla="*/ 0 w 12946742"/>
              <a:gd name="connsiteY0-174" fmla="*/ 3196771 h 3248302"/>
              <a:gd name="connsiteX1-175" fmla="*/ 1892300 w 12946742"/>
              <a:gd name="connsiteY1-176" fmla="*/ 3120571 h 3248302"/>
              <a:gd name="connsiteX2-177" fmla="*/ 4291703 w 12946742"/>
              <a:gd name="connsiteY2-178" fmla="*/ 2194517 h 3248302"/>
              <a:gd name="connsiteX3-179" fmla="*/ 7096013 w 12946742"/>
              <a:gd name="connsiteY3-180" fmla="*/ 1790955 h 3248302"/>
              <a:gd name="connsiteX4-181" fmla="*/ 9176423 w 12946742"/>
              <a:gd name="connsiteY4-182" fmla="*/ 661210 h 3248302"/>
              <a:gd name="connsiteX5-183" fmla="*/ 12946742 w 12946742"/>
              <a:gd name="connsiteY5-184" fmla="*/ 0 h 324830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2946742" h="3248302">
                <a:moveTo>
                  <a:pt x="0" y="3196771"/>
                </a:moveTo>
                <a:cubicBezTo>
                  <a:pt x="588433" y="3265562"/>
                  <a:pt x="1177016" y="3287613"/>
                  <a:pt x="1892300" y="3120571"/>
                </a:cubicBezTo>
                <a:cubicBezTo>
                  <a:pt x="2607584" y="2953529"/>
                  <a:pt x="3424418" y="2416120"/>
                  <a:pt x="4291703" y="2194517"/>
                </a:cubicBezTo>
                <a:cubicBezTo>
                  <a:pt x="5158988" y="1972914"/>
                  <a:pt x="6281893" y="2046506"/>
                  <a:pt x="7096013" y="1790955"/>
                </a:cubicBezTo>
                <a:cubicBezTo>
                  <a:pt x="7910133" y="1535404"/>
                  <a:pt x="8201302" y="959702"/>
                  <a:pt x="9176424" y="661210"/>
                </a:cubicBezTo>
                <a:cubicBezTo>
                  <a:pt x="10151544" y="362718"/>
                  <a:pt x="12292692" y="35983"/>
                  <a:pt x="12946742" y="0"/>
                </a:cubicBezTo>
              </a:path>
            </a:pathLst>
          </a:custGeom>
          <a:noFill/>
          <a:ln w="19050">
            <a:gradFill>
              <a:gsLst>
                <a:gs pos="100000">
                  <a:schemeClr val="accent1">
                    <a:lumMod val="60000"/>
                    <a:lumOff val="40000"/>
                    <a:alpha val="0"/>
                  </a:schemeClr>
                </a:gs>
                <a:gs pos="38000">
                  <a:schemeClr val="accent1">
                    <a:alpha val="40000"/>
                  </a:schemeClr>
                </a:gs>
                <a:gs pos="73000">
                  <a:schemeClr val="accent1">
                    <a:lumMod val="60000"/>
                    <a:lumOff val="40000"/>
                  </a:schemeClr>
                </a:gs>
                <a:gs pos="0">
                  <a:schemeClr val="accent1">
                    <a:alpha val="0"/>
                  </a:schemeClr>
                </a:gs>
                <a:gs pos="13000">
                  <a:schemeClr val="accent1">
                    <a:alpha val="1800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5" name="任意多边形: 形状 5"/>
          <p:cNvSpPr/>
          <p:nvPr/>
        </p:nvSpPr>
        <p:spPr>
          <a:xfrm>
            <a:off x="-479013" y="1680184"/>
            <a:ext cx="13345630" cy="3464383"/>
          </a:xfrm>
          <a:custGeom>
            <a:avLst/>
            <a:gdLst>
              <a:gd name="connsiteX0" fmla="*/ 0 w 11393715"/>
              <a:gd name="connsiteY0" fmla="*/ 3657600 h 3657600"/>
              <a:gd name="connsiteX1" fmla="*/ 58058 w 11393715"/>
              <a:gd name="connsiteY1" fmla="*/ 3657600 h 3657600"/>
              <a:gd name="connsiteX2" fmla="*/ 2540000 w 11393715"/>
              <a:gd name="connsiteY2" fmla="*/ 3526971 h 3657600"/>
              <a:gd name="connsiteX3" fmla="*/ 4673600 w 11393715"/>
              <a:gd name="connsiteY3" fmla="*/ 2336800 h 3657600"/>
              <a:gd name="connsiteX4" fmla="*/ 8084458 w 11393715"/>
              <a:gd name="connsiteY4" fmla="*/ 2191657 h 3657600"/>
              <a:gd name="connsiteX5" fmla="*/ 11393715 w 11393715"/>
              <a:gd name="connsiteY5" fmla="*/ 0 h 3657600"/>
              <a:gd name="connsiteX0-1" fmla="*/ 0 w 12540344"/>
              <a:gd name="connsiteY0-2" fmla="*/ 4281714 h 4281714"/>
              <a:gd name="connsiteX1-3" fmla="*/ 58058 w 12540344"/>
              <a:gd name="connsiteY1-4" fmla="*/ 4281714 h 4281714"/>
              <a:gd name="connsiteX2-5" fmla="*/ 2540000 w 12540344"/>
              <a:gd name="connsiteY2-6" fmla="*/ 4151085 h 4281714"/>
              <a:gd name="connsiteX3-7" fmla="*/ 4673600 w 12540344"/>
              <a:gd name="connsiteY3-8" fmla="*/ 2960914 h 4281714"/>
              <a:gd name="connsiteX4-9" fmla="*/ 8084458 w 12540344"/>
              <a:gd name="connsiteY4-10" fmla="*/ 2815771 h 4281714"/>
              <a:gd name="connsiteX5-11" fmla="*/ 12540344 w 12540344"/>
              <a:gd name="connsiteY5-12" fmla="*/ 0 h 4281714"/>
              <a:gd name="connsiteX0-13" fmla="*/ 0 w 12540344"/>
              <a:gd name="connsiteY0-14" fmla="*/ 4281714 h 4281714"/>
              <a:gd name="connsiteX1-15" fmla="*/ 58058 w 12540344"/>
              <a:gd name="connsiteY1-16" fmla="*/ 4281714 h 4281714"/>
              <a:gd name="connsiteX2-17" fmla="*/ 2540000 w 12540344"/>
              <a:gd name="connsiteY2-18" fmla="*/ 4151085 h 4281714"/>
              <a:gd name="connsiteX3-19" fmla="*/ 4673600 w 12540344"/>
              <a:gd name="connsiteY3-20" fmla="*/ 2960914 h 4281714"/>
              <a:gd name="connsiteX4-21" fmla="*/ 8084458 w 12540344"/>
              <a:gd name="connsiteY4-22" fmla="*/ 2815771 h 4281714"/>
              <a:gd name="connsiteX5-23" fmla="*/ 12540344 w 12540344"/>
              <a:gd name="connsiteY5-24" fmla="*/ 0 h 4281714"/>
              <a:gd name="connsiteX0-25" fmla="*/ 0 w 10566401"/>
              <a:gd name="connsiteY0-26" fmla="*/ 3396343 h 3396343"/>
              <a:gd name="connsiteX1-27" fmla="*/ 58058 w 10566401"/>
              <a:gd name="connsiteY1-28" fmla="*/ 3396343 h 3396343"/>
              <a:gd name="connsiteX2-29" fmla="*/ 2540000 w 10566401"/>
              <a:gd name="connsiteY2-30" fmla="*/ 3265714 h 3396343"/>
              <a:gd name="connsiteX3-31" fmla="*/ 4673600 w 10566401"/>
              <a:gd name="connsiteY3-32" fmla="*/ 2075543 h 3396343"/>
              <a:gd name="connsiteX4-33" fmla="*/ 8084458 w 10566401"/>
              <a:gd name="connsiteY4-34" fmla="*/ 1930400 h 3396343"/>
              <a:gd name="connsiteX5-35" fmla="*/ 10566401 w 10566401"/>
              <a:gd name="connsiteY5-36" fmla="*/ 0 h 3396343"/>
              <a:gd name="connsiteX0-37" fmla="*/ 0 w 10566401"/>
              <a:gd name="connsiteY0-38" fmla="*/ 3396343 h 3396343"/>
              <a:gd name="connsiteX1-39" fmla="*/ 58058 w 10566401"/>
              <a:gd name="connsiteY1-40" fmla="*/ 3396343 h 3396343"/>
              <a:gd name="connsiteX2-41" fmla="*/ 2540000 w 10566401"/>
              <a:gd name="connsiteY2-42" fmla="*/ 3265714 h 3396343"/>
              <a:gd name="connsiteX3-43" fmla="*/ 4673600 w 10566401"/>
              <a:gd name="connsiteY3-44" fmla="*/ 2075543 h 3396343"/>
              <a:gd name="connsiteX4-45" fmla="*/ 8084458 w 10566401"/>
              <a:gd name="connsiteY4-46" fmla="*/ 1930400 h 3396343"/>
              <a:gd name="connsiteX5-47" fmla="*/ 10174515 w 10566401"/>
              <a:gd name="connsiteY5-48" fmla="*/ 319314 h 3396343"/>
              <a:gd name="connsiteX6" fmla="*/ 10566401 w 10566401"/>
              <a:gd name="connsiteY6" fmla="*/ 0 h 3396343"/>
              <a:gd name="connsiteX0-49" fmla="*/ 0 w 13483772"/>
              <a:gd name="connsiteY0-50" fmla="*/ 3120655 h 3120655"/>
              <a:gd name="connsiteX1-51" fmla="*/ 58058 w 13483772"/>
              <a:gd name="connsiteY1-52" fmla="*/ 3120655 h 3120655"/>
              <a:gd name="connsiteX2-53" fmla="*/ 2540000 w 13483772"/>
              <a:gd name="connsiteY2-54" fmla="*/ 2990026 h 3120655"/>
              <a:gd name="connsiteX3-55" fmla="*/ 4673600 w 13483772"/>
              <a:gd name="connsiteY3-56" fmla="*/ 1799855 h 3120655"/>
              <a:gd name="connsiteX4-57" fmla="*/ 8084458 w 13483772"/>
              <a:gd name="connsiteY4-58" fmla="*/ 1654712 h 3120655"/>
              <a:gd name="connsiteX5-59" fmla="*/ 10174515 w 13483772"/>
              <a:gd name="connsiteY5-60" fmla="*/ 43626 h 3120655"/>
              <a:gd name="connsiteX6-61" fmla="*/ 13483772 w 13483772"/>
              <a:gd name="connsiteY6-62" fmla="*/ 1233797 h 3120655"/>
              <a:gd name="connsiteX0-63" fmla="*/ 0 w 13483772"/>
              <a:gd name="connsiteY0-64" fmla="*/ 3120655 h 3120655"/>
              <a:gd name="connsiteX1-65" fmla="*/ 58058 w 13483772"/>
              <a:gd name="connsiteY1-66" fmla="*/ 3120655 h 3120655"/>
              <a:gd name="connsiteX2-67" fmla="*/ 2540000 w 13483772"/>
              <a:gd name="connsiteY2-68" fmla="*/ 2990026 h 3120655"/>
              <a:gd name="connsiteX3-69" fmla="*/ 4673600 w 13483772"/>
              <a:gd name="connsiteY3-70" fmla="*/ 1799855 h 3120655"/>
              <a:gd name="connsiteX4-71" fmla="*/ 8084458 w 13483772"/>
              <a:gd name="connsiteY4-72" fmla="*/ 1654712 h 3120655"/>
              <a:gd name="connsiteX5-73" fmla="*/ 10174515 w 13483772"/>
              <a:gd name="connsiteY5-74" fmla="*/ 43626 h 3120655"/>
              <a:gd name="connsiteX6-75" fmla="*/ 13483772 w 13483772"/>
              <a:gd name="connsiteY6-76" fmla="*/ 1233797 h 3120655"/>
              <a:gd name="connsiteX0-77" fmla="*/ 0 w 13483772"/>
              <a:gd name="connsiteY0-78" fmla="*/ 3077033 h 3077033"/>
              <a:gd name="connsiteX1-79" fmla="*/ 58058 w 13483772"/>
              <a:gd name="connsiteY1-80" fmla="*/ 3077033 h 3077033"/>
              <a:gd name="connsiteX2-81" fmla="*/ 2540000 w 13483772"/>
              <a:gd name="connsiteY2-82" fmla="*/ 2946404 h 3077033"/>
              <a:gd name="connsiteX3-83" fmla="*/ 4673600 w 13483772"/>
              <a:gd name="connsiteY3-84" fmla="*/ 1756233 h 3077033"/>
              <a:gd name="connsiteX4-85" fmla="*/ 8084458 w 13483772"/>
              <a:gd name="connsiteY4-86" fmla="*/ 1611090 h 3077033"/>
              <a:gd name="connsiteX5-87" fmla="*/ 10174515 w 13483772"/>
              <a:gd name="connsiteY5-88" fmla="*/ 4 h 3077033"/>
              <a:gd name="connsiteX6-89" fmla="*/ 13483772 w 13483772"/>
              <a:gd name="connsiteY6-90" fmla="*/ 1190175 h 3077033"/>
              <a:gd name="connsiteX0-91" fmla="*/ 0 w 14136915"/>
              <a:gd name="connsiteY0-92" fmla="*/ 3078985 h 3078985"/>
              <a:gd name="connsiteX1-93" fmla="*/ 58058 w 14136915"/>
              <a:gd name="connsiteY1-94" fmla="*/ 3078985 h 3078985"/>
              <a:gd name="connsiteX2-95" fmla="*/ 2540000 w 14136915"/>
              <a:gd name="connsiteY2-96" fmla="*/ 2948356 h 3078985"/>
              <a:gd name="connsiteX3-97" fmla="*/ 4673600 w 14136915"/>
              <a:gd name="connsiteY3-98" fmla="*/ 1758185 h 3078985"/>
              <a:gd name="connsiteX4-99" fmla="*/ 8084458 w 14136915"/>
              <a:gd name="connsiteY4-100" fmla="*/ 1613042 h 3078985"/>
              <a:gd name="connsiteX5-101" fmla="*/ 10174515 w 14136915"/>
              <a:gd name="connsiteY5-102" fmla="*/ 1956 h 3078985"/>
              <a:gd name="connsiteX6-103" fmla="*/ 14136915 w 14136915"/>
              <a:gd name="connsiteY6-104" fmla="*/ 1250184 h 3078985"/>
              <a:gd name="connsiteX0-105" fmla="*/ 0 w 14136915"/>
              <a:gd name="connsiteY0-106" fmla="*/ 2963049 h 2963049"/>
              <a:gd name="connsiteX1-107" fmla="*/ 58058 w 14136915"/>
              <a:gd name="connsiteY1-108" fmla="*/ 2963049 h 2963049"/>
              <a:gd name="connsiteX2-109" fmla="*/ 2540000 w 14136915"/>
              <a:gd name="connsiteY2-110" fmla="*/ 2832420 h 2963049"/>
              <a:gd name="connsiteX3-111" fmla="*/ 4673600 w 14136915"/>
              <a:gd name="connsiteY3-112" fmla="*/ 1642249 h 2963049"/>
              <a:gd name="connsiteX4-113" fmla="*/ 8084458 w 14136915"/>
              <a:gd name="connsiteY4-114" fmla="*/ 1497106 h 2963049"/>
              <a:gd name="connsiteX5-115" fmla="*/ 11219543 w 14136915"/>
              <a:gd name="connsiteY5-116" fmla="*/ 2134 h 2963049"/>
              <a:gd name="connsiteX6-117" fmla="*/ 14136915 w 14136915"/>
              <a:gd name="connsiteY6-118" fmla="*/ 1134248 h 2963049"/>
              <a:gd name="connsiteX0-119" fmla="*/ 0 w 14136915"/>
              <a:gd name="connsiteY0-120" fmla="*/ 2962046 h 2962046"/>
              <a:gd name="connsiteX1-121" fmla="*/ 58058 w 14136915"/>
              <a:gd name="connsiteY1-122" fmla="*/ 2962046 h 2962046"/>
              <a:gd name="connsiteX2-123" fmla="*/ 2540000 w 14136915"/>
              <a:gd name="connsiteY2-124" fmla="*/ 2831417 h 2962046"/>
              <a:gd name="connsiteX3-125" fmla="*/ 4673600 w 14136915"/>
              <a:gd name="connsiteY3-126" fmla="*/ 1641246 h 2962046"/>
              <a:gd name="connsiteX4-127" fmla="*/ 7982858 w 14136915"/>
              <a:gd name="connsiteY4-128" fmla="*/ 1394503 h 2962046"/>
              <a:gd name="connsiteX5-129" fmla="*/ 11219543 w 14136915"/>
              <a:gd name="connsiteY5-130" fmla="*/ 1131 h 2962046"/>
              <a:gd name="connsiteX6-131" fmla="*/ 14136915 w 14136915"/>
              <a:gd name="connsiteY6-132" fmla="*/ 1133245 h 2962046"/>
              <a:gd name="connsiteX0-133" fmla="*/ 0 w 14136915"/>
              <a:gd name="connsiteY0-134" fmla="*/ 3266625 h 3266625"/>
              <a:gd name="connsiteX1-135" fmla="*/ 58058 w 14136915"/>
              <a:gd name="connsiteY1-136" fmla="*/ 3266625 h 3266625"/>
              <a:gd name="connsiteX2-137" fmla="*/ 2540000 w 14136915"/>
              <a:gd name="connsiteY2-138" fmla="*/ 3135996 h 3266625"/>
              <a:gd name="connsiteX3-139" fmla="*/ 4673600 w 14136915"/>
              <a:gd name="connsiteY3-140" fmla="*/ 1945825 h 3266625"/>
              <a:gd name="connsiteX4-141" fmla="*/ 7982858 w 14136915"/>
              <a:gd name="connsiteY4-142" fmla="*/ 1699082 h 3266625"/>
              <a:gd name="connsiteX5-143" fmla="*/ 11001829 w 14136915"/>
              <a:gd name="connsiteY5-144" fmla="*/ 910 h 3266625"/>
              <a:gd name="connsiteX6-145" fmla="*/ 14136915 w 14136915"/>
              <a:gd name="connsiteY6-146" fmla="*/ 1437824 h 3266625"/>
              <a:gd name="connsiteX0-147" fmla="*/ 0 w 14136915"/>
              <a:gd name="connsiteY0-148" fmla="*/ 3266944 h 3266944"/>
              <a:gd name="connsiteX1-149" fmla="*/ 58058 w 14136915"/>
              <a:gd name="connsiteY1-150" fmla="*/ 3266944 h 3266944"/>
              <a:gd name="connsiteX2-151" fmla="*/ 2540000 w 14136915"/>
              <a:gd name="connsiteY2-152" fmla="*/ 3136315 h 3266944"/>
              <a:gd name="connsiteX3-153" fmla="*/ 4673600 w 14136915"/>
              <a:gd name="connsiteY3-154" fmla="*/ 1946144 h 3266944"/>
              <a:gd name="connsiteX4-155" fmla="*/ 8142515 w 14136915"/>
              <a:gd name="connsiteY4-156" fmla="*/ 1742944 h 3266944"/>
              <a:gd name="connsiteX5-157" fmla="*/ 11001829 w 14136915"/>
              <a:gd name="connsiteY5-158" fmla="*/ 1229 h 3266944"/>
              <a:gd name="connsiteX6-159" fmla="*/ 14136915 w 14136915"/>
              <a:gd name="connsiteY6-160" fmla="*/ 1438143 h 3266944"/>
              <a:gd name="connsiteX0-161" fmla="*/ 0 w 14136915"/>
              <a:gd name="connsiteY0-162" fmla="*/ 3266944 h 3266944"/>
              <a:gd name="connsiteX1-163" fmla="*/ 58058 w 14136915"/>
              <a:gd name="connsiteY1-164" fmla="*/ 3266944 h 3266944"/>
              <a:gd name="connsiteX2-165" fmla="*/ 2540000 w 14136915"/>
              <a:gd name="connsiteY2-166" fmla="*/ 3136315 h 3266944"/>
              <a:gd name="connsiteX3-167" fmla="*/ 4673600 w 14136915"/>
              <a:gd name="connsiteY3-168" fmla="*/ 1946144 h 3266944"/>
              <a:gd name="connsiteX4-169" fmla="*/ 8142515 w 14136915"/>
              <a:gd name="connsiteY4-170" fmla="*/ 1742944 h 3266944"/>
              <a:gd name="connsiteX5-171" fmla="*/ 11001829 w 14136915"/>
              <a:gd name="connsiteY5-172" fmla="*/ 1229 h 3266944"/>
              <a:gd name="connsiteX6-173" fmla="*/ 14136915 w 14136915"/>
              <a:gd name="connsiteY6-174" fmla="*/ 1438143 h 3266944"/>
              <a:gd name="connsiteX0-175" fmla="*/ 0 w 14136915"/>
              <a:gd name="connsiteY0-176" fmla="*/ 3266944 h 3266944"/>
              <a:gd name="connsiteX1-177" fmla="*/ 58058 w 14136915"/>
              <a:gd name="connsiteY1-178" fmla="*/ 3266944 h 3266944"/>
              <a:gd name="connsiteX2-179" fmla="*/ 2540000 w 14136915"/>
              <a:gd name="connsiteY2-180" fmla="*/ 3136315 h 3266944"/>
              <a:gd name="connsiteX3-181" fmla="*/ 4673600 w 14136915"/>
              <a:gd name="connsiteY3-182" fmla="*/ 1946144 h 3266944"/>
              <a:gd name="connsiteX4-183" fmla="*/ 8142515 w 14136915"/>
              <a:gd name="connsiteY4-184" fmla="*/ 1742944 h 3266944"/>
              <a:gd name="connsiteX5-185" fmla="*/ 11001829 w 14136915"/>
              <a:gd name="connsiteY5-186" fmla="*/ 1229 h 3266944"/>
              <a:gd name="connsiteX6-187" fmla="*/ 14136915 w 14136915"/>
              <a:gd name="connsiteY6-188" fmla="*/ 1438143 h 3266944"/>
              <a:gd name="connsiteX0-189" fmla="*/ 0 w 14136915"/>
              <a:gd name="connsiteY0-190" fmla="*/ 3266944 h 3401021"/>
              <a:gd name="connsiteX1-191" fmla="*/ 58058 w 14136915"/>
              <a:gd name="connsiteY1-192" fmla="*/ 3266944 h 3401021"/>
              <a:gd name="connsiteX2-193" fmla="*/ 2540000 w 14136915"/>
              <a:gd name="connsiteY2-194" fmla="*/ 3136315 h 3401021"/>
              <a:gd name="connsiteX3-195" fmla="*/ 4673600 w 14136915"/>
              <a:gd name="connsiteY3-196" fmla="*/ 1946144 h 3401021"/>
              <a:gd name="connsiteX4-197" fmla="*/ 8142515 w 14136915"/>
              <a:gd name="connsiteY4-198" fmla="*/ 1742944 h 3401021"/>
              <a:gd name="connsiteX5-199" fmla="*/ 11001829 w 14136915"/>
              <a:gd name="connsiteY5-200" fmla="*/ 1229 h 3401021"/>
              <a:gd name="connsiteX6-201" fmla="*/ 14136915 w 14136915"/>
              <a:gd name="connsiteY6-202" fmla="*/ 1438143 h 3401021"/>
              <a:gd name="connsiteX0-203" fmla="*/ 0 w 14078857"/>
              <a:gd name="connsiteY0-204" fmla="*/ 3266944 h 3401021"/>
              <a:gd name="connsiteX1-205" fmla="*/ 2481942 w 14078857"/>
              <a:gd name="connsiteY1-206" fmla="*/ 3136315 h 3401021"/>
              <a:gd name="connsiteX2-207" fmla="*/ 4615542 w 14078857"/>
              <a:gd name="connsiteY2-208" fmla="*/ 1946144 h 3401021"/>
              <a:gd name="connsiteX3-209" fmla="*/ 8084457 w 14078857"/>
              <a:gd name="connsiteY3-210" fmla="*/ 1742944 h 3401021"/>
              <a:gd name="connsiteX4-211" fmla="*/ 10943771 w 14078857"/>
              <a:gd name="connsiteY4-212" fmla="*/ 1229 h 3401021"/>
              <a:gd name="connsiteX5-213" fmla="*/ 14078857 w 14078857"/>
              <a:gd name="connsiteY5-214" fmla="*/ 1438143 h 3401021"/>
              <a:gd name="connsiteX0-215" fmla="*/ 0 w 14325599"/>
              <a:gd name="connsiteY0-216" fmla="*/ 2686373 h 3170456"/>
              <a:gd name="connsiteX1-217" fmla="*/ 2728684 w 14325599"/>
              <a:gd name="connsiteY1-218" fmla="*/ 3136315 h 3170456"/>
              <a:gd name="connsiteX2-219" fmla="*/ 4862284 w 14325599"/>
              <a:gd name="connsiteY2-220" fmla="*/ 1946144 h 3170456"/>
              <a:gd name="connsiteX3-221" fmla="*/ 8331199 w 14325599"/>
              <a:gd name="connsiteY3-222" fmla="*/ 1742944 h 3170456"/>
              <a:gd name="connsiteX4-223" fmla="*/ 11190513 w 14325599"/>
              <a:gd name="connsiteY4-224" fmla="*/ 1229 h 3170456"/>
              <a:gd name="connsiteX5-225" fmla="*/ 14325599 w 14325599"/>
              <a:gd name="connsiteY5-226" fmla="*/ 1438143 h 3170456"/>
              <a:gd name="connsiteX0-227" fmla="*/ 0 w 14325599"/>
              <a:gd name="connsiteY0-228" fmla="*/ 2686373 h 3165984"/>
              <a:gd name="connsiteX1-229" fmla="*/ 2728684 w 14325599"/>
              <a:gd name="connsiteY1-230" fmla="*/ 3136315 h 3165984"/>
              <a:gd name="connsiteX2-231" fmla="*/ 4862284 w 14325599"/>
              <a:gd name="connsiteY2-232" fmla="*/ 1946144 h 3165984"/>
              <a:gd name="connsiteX3-233" fmla="*/ 8331199 w 14325599"/>
              <a:gd name="connsiteY3-234" fmla="*/ 1742944 h 3165984"/>
              <a:gd name="connsiteX4-235" fmla="*/ 11190513 w 14325599"/>
              <a:gd name="connsiteY4-236" fmla="*/ 1229 h 3165984"/>
              <a:gd name="connsiteX5-237" fmla="*/ 14325599 w 14325599"/>
              <a:gd name="connsiteY5-238" fmla="*/ 1438143 h 3165984"/>
              <a:gd name="connsiteX0-239" fmla="*/ 0 w 14325599"/>
              <a:gd name="connsiteY0-240" fmla="*/ 2700875 h 3180486"/>
              <a:gd name="connsiteX1-241" fmla="*/ 2728684 w 14325599"/>
              <a:gd name="connsiteY1-242" fmla="*/ 3150817 h 3180486"/>
              <a:gd name="connsiteX2-243" fmla="*/ 4862284 w 14325599"/>
              <a:gd name="connsiteY2-244" fmla="*/ 1960646 h 3180486"/>
              <a:gd name="connsiteX3-245" fmla="*/ 8331199 w 14325599"/>
              <a:gd name="connsiteY3-246" fmla="*/ 1757446 h 3180486"/>
              <a:gd name="connsiteX4-247" fmla="*/ 11553370 w 14325599"/>
              <a:gd name="connsiteY4-248" fmla="*/ 1217 h 3180486"/>
              <a:gd name="connsiteX5-249" fmla="*/ 14325599 w 14325599"/>
              <a:gd name="connsiteY5-250" fmla="*/ 1452645 h 3180486"/>
              <a:gd name="connsiteX0-251" fmla="*/ 0 w 14935199"/>
              <a:gd name="connsiteY0-252" fmla="*/ 2709494 h 3189105"/>
              <a:gd name="connsiteX1-253" fmla="*/ 2728684 w 14935199"/>
              <a:gd name="connsiteY1-254" fmla="*/ 3159436 h 3189105"/>
              <a:gd name="connsiteX2-255" fmla="*/ 4862284 w 14935199"/>
              <a:gd name="connsiteY2-256" fmla="*/ 1969265 h 3189105"/>
              <a:gd name="connsiteX3-257" fmla="*/ 8331199 w 14935199"/>
              <a:gd name="connsiteY3-258" fmla="*/ 1766065 h 3189105"/>
              <a:gd name="connsiteX4-259" fmla="*/ 11553370 w 14935199"/>
              <a:gd name="connsiteY4-260" fmla="*/ 9836 h 3189105"/>
              <a:gd name="connsiteX5-261" fmla="*/ 14935199 w 14935199"/>
              <a:gd name="connsiteY5-262" fmla="*/ 996807 h 3189105"/>
              <a:gd name="connsiteX0-263" fmla="*/ 0 w 15646399"/>
              <a:gd name="connsiteY0-264" fmla="*/ 3018972 h 3498583"/>
              <a:gd name="connsiteX1-265" fmla="*/ 2728684 w 15646399"/>
              <a:gd name="connsiteY1-266" fmla="*/ 3468914 h 3498583"/>
              <a:gd name="connsiteX2-267" fmla="*/ 4862284 w 15646399"/>
              <a:gd name="connsiteY2-268" fmla="*/ 2278743 h 3498583"/>
              <a:gd name="connsiteX3-269" fmla="*/ 8331199 w 15646399"/>
              <a:gd name="connsiteY3-270" fmla="*/ 2075543 h 3498583"/>
              <a:gd name="connsiteX4-271" fmla="*/ 11553370 w 15646399"/>
              <a:gd name="connsiteY4-272" fmla="*/ 319314 h 3498583"/>
              <a:gd name="connsiteX5-273" fmla="*/ 15646399 w 15646399"/>
              <a:gd name="connsiteY5-274" fmla="*/ 0 h 3498583"/>
              <a:gd name="connsiteX0-275" fmla="*/ 0 w 13527313"/>
              <a:gd name="connsiteY0-276" fmla="*/ 3004458 h 3484069"/>
              <a:gd name="connsiteX1-277" fmla="*/ 2728684 w 13527313"/>
              <a:gd name="connsiteY1-278" fmla="*/ 3454400 h 3484069"/>
              <a:gd name="connsiteX2-279" fmla="*/ 4862284 w 13527313"/>
              <a:gd name="connsiteY2-280" fmla="*/ 2264229 h 3484069"/>
              <a:gd name="connsiteX3-281" fmla="*/ 8331199 w 13527313"/>
              <a:gd name="connsiteY3-282" fmla="*/ 2061029 h 3484069"/>
              <a:gd name="connsiteX4-283" fmla="*/ 11553370 w 13527313"/>
              <a:gd name="connsiteY4-284" fmla="*/ 304800 h 3484069"/>
              <a:gd name="connsiteX5-285" fmla="*/ 13527313 w 13527313"/>
              <a:gd name="connsiteY5-286" fmla="*/ 0 h 3484069"/>
              <a:gd name="connsiteX0-287" fmla="*/ 0 w 13324113"/>
              <a:gd name="connsiteY0-288" fmla="*/ 3004458 h 3484069"/>
              <a:gd name="connsiteX1-289" fmla="*/ 2728684 w 13324113"/>
              <a:gd name="connsiteY1-290" fmla="*/ 3454400 h 3484069"/>
              <a:gd name="connsiteX2-291" fmla="*/ 4862284 w 13324113"/>
              <a:gd name="connsiteY2-292" fmla="*/ 2264229 h 3484069"/>
              <a:gd name="connsiteX3-293" fmla="*/ 8331199 w 13324113"/>
              <a:gd name="connsiteY3-294" fmla="*/ 2061029 h 3484069"/>
              <a:gd name="connsiteX4-295" fmla="*/ 11553370 w 13324113"/>
              <a:gd name="connsiteY4-296" fmla="*/ 304800 h 3484069"/>
              <a:gd name="connsiteX5-297" fmla="*/ 13324113 w 13324113"/>
              <a:gd name="connsiteY5-298" fmla="*/ 0 h 3484069"/>
              <a:gd name="connsiteX0-299" fmla="*/ 0 w 13324113"/>
              <a:gd name="connsiteY0-300" fmla="*/ 3004458 h 3484069"/>
              <a:gd name="connsiteX1-301" fmla="*/ 2728684 w 13324113"/>
              <a:gd name="connsiteY1-302" fmla="*/ 3454400 h 3484069"/>
              <a:gd name="connsiteX2-303" fmla="*/ 4862284 w 13324113"/>
              <a:gd name="connsiteY2-304" fmla="*/ 2264229 h 3484069"/>
              <a:gd name="connsiteX3-305" fmla="*/ 8374742 w 13324113"/>
              <a:gd name="connsiteY3-306" fmla="*/ 2162629 h 3484069"/>
              <a:gd name="connsiteX4-307" fmla="*/ 11553370 w 13324113"/>
              <a:gd name="connsiteY4-308" fmla="*/ 304800 h 3484069"/>
              <a:gd name="connsiteX5-309" fmla="*/ 13324113 w 13324113"/>
              <a:gd name="connsiteY5-310" fmla="*/ 0 h 3484069"/>
              <a:gd name="connsiteX0-311" fmla="*/ 0 w 13324113"/>
              <a:gd name="connsiteY0-312" fmla="*/ 3010957 h 3490568"/>
              <a:gd name="connsiteX1-313" fmla="*/ 2728684 w 13324113"/>
              <a:gd name="connsiteY1-314" fmla="*/ 3460899 h 3490568"/>
              <a:gd name="connsiteX2-315" fmla="*/ 4862284 w 13324113"/>
              <a:gd name="connsiteY2-316" fmla="*/ 2270728 h 3490568"/>
              <a:gd name="connsiteX3-317" fmla="*/ 8374742 w 13324113"/>
              <a:gd name="connsiteY3-318" fmla="*/ 2169128 h 3490568"/>
              <a:gd name="connsiteX4-319" fmla="*/ 11393713 w 13324113"/>
              <a:gd name="connsiteY4-320" fmla="*/ 224214 h 3490568"/>
              <a:gd name="connsiteX5-321" fmla="*/ 13324113 w 13324113"/>
              <a:gd name="connsiteY5-322" fmla="*/ 6499 h 3490568"/>
              <a:gd name="connsiteX0-323" fmla="*/ 0 w 13324113"/>
              <a:gd name="connsiteY0-324" fmla="*/ 3010957 h 3490568"/>
              <a:gd name="connsiteX1-325" fmla="*/ 2728684 w 13324113"/>
              <a:gd name="connsiteY1-326" fmla="*/ 3460899 h 3490568"/>
              <a:gd name="connsiteX2-327" fmla="*/ 4862284 w 13324113"/>
              <a:gd name="connsiteY2-328" fmla="*/ 2270728 h 3490568"/>
              <a:gd name="connsiteX3-329" fmla="*/ 8374742 w 13324113"/>
              <a:gd name="connsiteY3-330" fmla="*/ 2169128 h 3490568"/>
              <a:gd name="connsiteX4-331" fmla="*/ 11321141 w 13324113"/>
              <a:gd name="connsiteY4-332" fmla="*/ 224214 h 3490568"/>
              <a:gd name="connsiteX5-333" fmla="*/ 13324113 w 13324113"/>
              <a:gd name="connsiteY5-334" fmla="*/ 6499 h 3490568"/>
              <a:gd name="connsiteX0-335" fmla="*/ 0 w 13324113"/>
              <a:gd name="connsiteY0-336" fmla="*/ 3010957 h 3749481"/>
              <a:gd name="connsiteX1-337" fmla="*/ 2599593 w 13324113"/>
              <a:gd name="connsiteY1-338" fmla="*/ 3731840 h 3749481"/>
              <a:gd name="connsiteX2-339" fmla="*/ 4862284 w 13324113"/>
              <a:gd name="connsiteY2-340" fmla="*/ 2270728 h 3749481"/>
              <a:gd name="connsiteX3-341" fmla="*/ 8374742 w 13324113"/>
              <a:gd name="connsiteY3-342" fmla="*/ 2169128 h 3749481"/>
              <a:gd name="connsiteX4-343" fmla="*/ 11321141 w 13324113"/>
              <a:gd name="connsiteY4-344" fmla="*/ 224214 h 3749481"/>
              <a:gd name="connsiteX5-345" fmla="*/ 13324113 w 13324113"/>
              <a:gd name="connsiteY5-346" fmla="*/ 6499 h 3749481"/>
              <a:gd name="connsiteX0-347" fmla="*/ 0 w 13345629"/>
              <a:gd name="connsiteY0-348" fmla="*/ 3387917 h 3797499"/>
              <a:gd name="connsiteX1-349" fmla="*/ 2621109 w 13345629"/>
              <a:gd name="connsiteY1-350" fmla="*/ 3731840 h 3797499"/>
              <a:gd name="connsiteX2-351" fmla="*/ 4883800 w 13345629"/>
              <a:gd name="connsiteY2-352" fmla="*/ 2270728 h 3797499"/>
              <a:gd name="connsiteX3-353" fmla="*/ 8396258 w 13345629"/>
              <a:gd name="connsiteY3-354" fmla="*/ 2169128 h 3797499"/>
              <a:gd name="connsiteX4-355" fmla="*/ 11342657 w 13345629"/>
              <a:gd name="connsiteY4-356" fmla="*/ 224214 h 3797499"/>
              <a:gd name="connsiteX5-357" fmla="*/ 13345629 w 13345629"/>
              <a:gd name="connsiteY5-358" fmla="*/ 6499 h 3797499"/>
              <a:gd name="connsiteX0-359" fmla="*/ 0 w 13345629"/>
              <a:gd name="connsiteY0-360" fmla="*/ 3387917 h 3799970"/>
              <a:gd name="connsiteX1-361" fmla="*/ 2621109 w 13345629"/>
              <a:gd name="connsiteY1-362" fmla="*/ 3731840 h 3799970"/>
              <a:gd name="connsiteX2-363" fmla="*/ 5174257 w 13345629"/>
              <a:gd name="connsiteY2-364" fmla="*/ 2235388 h 3799970"/>
              <a:gd name="connsiteX3-365" fmla="*/ 8396258 w 13345629"/>
              <a:gd name="connsiteY3-366" fmla="*/ 2169128 h 3799970"/>
              <a:gd name="connsiteX4-367" fmla="*/ 11342657 w 13345629"/>
              <a:gd name="connsiteY4-368" fmla="*/ 224214 h 3799970"/>
              <a:gd name="connsiteX5-369" fmla="*/ 13345629 w 13345629"/>
              <a:gd name="connsiteY5-370" fmla="*/ 6499 h 3799970"/>
              <a:gd name="connsiteX0-371" fmla="*/ 0 w 13345629"/>
              <a:gd name="connsiteY0-372" fmla="*/ 3387917 h 3795036"/>
              <a:gd name="connsiteX1-373" fmla="*/ 2621109 w 13345629"/>
              <a:gd name="connsiteY1-374" fmla="*/ 3731840 h 3795036"/>
              <a:gd name="connsiteX2-375" fmla="*/ 5281834 w 13345629"/>
              <a:gd name="connsiteY2-376" fmla="*/ 2306068 h 3795036"/>
              <a:gd name="connsiteX3-377" fmla="*/ 8396258 w 13345629"/>
              <a:gd name="connsiteY3-378" fmla="*/ 2169128 h 3795036"/>
              <a:gd name="connsiteX4-379" fmla="*/ 11342657 w 13345629"/>
              <a:gd name="connsiteY4-380" fmla="*/ 224214 h 3795036"/>
              <a:gd name="connsiteX5-381" fmla="*/ 13345629 w 13345629"/>
              <a:gd name="connsiteY5-382" fmla="*/ 6499 h 3795036"/>
              <a:gd name="connsiteX0-383" fmla="*/ 0 w 13345629"/>
              <a:gd name="connsiteY0-384" fmla="*/ 3386508 h 3793627"/>
              <a:gd name="connsiteX1-385" fmla="*/ 2621109 w 13345629"/>
              <a:gd name="connsiteY1-386" fmla="*/ 3730431 h 3793627"/>
              <a:gd name="connsiteX2-387" fmla="*/ 5281834 w 13345629"/>
              <a:gd name="connsiteY2-388" fmla="*/ 2304659 h 3793627"/>
              <a:gd name="connsiteX3-389" fmla="*/ 8331712 w 13345629"/>
              <a:gd name="connsiteY3-390" fmla="*/ 2144159 h 3793627"/>
              <a:gd name="connsiteX4-391" fmla="*/ 11342657 w 13345629"/>
              <a:gd name="connsiteY4-392" fmla="*/ 222805 h 3793627"/>
              <a:gd name="connsiteX5-393" fmla="*/ 13345629 w 13345629"/>
              <a:gd name="connsiteY5-394" fmla="*/ 5090 h 379362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3345630" h="3793627">
                <a:moveTo>
                  <a:pt x="0" y="3386508"/>
                </a:moveTo>
                <a:cubicBezTo>
                  <a:pt x="667658" y="3676794"/>
                  <a:pt x="1740803" y="3910739"/>
                  <a:pt x="2621109" y="3730431"/>
                </a:cubicBezTo>
                <a:cubicBezTo>
                  <a:pt x="3501415" y="3550123"/>
                  <a:pt x="4330067" y="2569038"/>
                  <a:pt x="5281834" y="2304659"/>
                </a:cubicBezTo>
                <a:cubicBezTo>
                  <a:pt x="6233601" y="2040280"/>
                  <a:pt x="7414893" y="2436864"/>
                  <a:pt x="8331712" y="2144159"/>
                </a:cubicBezTo>
                <a:cubicBezTo>
                  <a:pt x="9248532" y="1851454"/>
                  <a:pt x="10507004" y="579316"/>
                  <a:pt x="11342658" y="222805"/>
                </a:cubicBezTo>
                <a:cubicBezTo>
                  <a:pt x="12178310" y="-133706"/>
                  <a:pt x="13280316" y="58309"/>
                  <a:pt x="13345630" y="5090"/>
                </a:cubicBezTo>
              </a:path>
            </a:pathLst>
          </a:custGeom>
          <a:noFill/>
          <a:ln w="19050">
            <a:gradFill>
              <a:gsLst>
                <a:gs pos="0">
                  <a:schemeClr val="accent1">
                    <a:lumMod val="20000"/>
                    <a:lumOff val="80000"/>
                    <a:alpha val="0"/>
                  </a:schemeClr>
                </a:gs>
                <a:gs pos="44000">
                  <a:schemeClr val="accent1">
                    <a:lumMod val="40000"/>
                    <a:lumOff val="60000"/>
                  </a:schemeClr>
                </a:gs>
                <a:gs pos="91000">
                  <a:schemeClr val="accent1">
                    <a:lumMod val="20000"/>
                    <a:lumOff val="80000"/>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18" name="任意多边形: 形状 6"/>
          <p:cNvSpPr/>
          <p:nvPr/>
        </p:nvSpPr>
        <p:spPr>
          <a:xfrm>
            <a:off x="-879023" y="1607721"/>
            <a:ext cx="13872030" cy="4609812"/>
          </a:xfrm>
          <a:custGeom>
            <a:avLst/>
            <a:gdLst>
              <a:gd name="connsiteX0" fmla="*/ 97237 w 12454337"/>
              <a:gd name="connsiteY0" fmla="*/ 5448300 h 5546742"/>
              <a:gd name="connsiteX1" fmla="*/ 135337 w 12454337"/>
              <a:gd name="connsiteY1" fmla="*/ 5359400 h 5546742"/>
              <a:gd name="connsiteX2" fmla="*/ 1405337 w 12454337"/>
              <a:gd name="connsiteY2" fmla="*/ 3746500 h 5546742"/>
              <a:gd name="connsiteX3" fmla="*/ 5050237 w 12454337"/>
              <a:gd name="connsiteY3" fmla="*/ 3162300 h 5546742"/>
              <a:gd name="connsiteX4" fmla="*/ 7780737 w 12454337"/>
              <a:gd name="connsiteY4" fmla="*/ 1346200 h 5546742"/>
              <a:gd name="connsiteX5" fmla="*/ 11273237 w 12454337"/>
              <a:gd name="connsiteY5" fmla="*/ 787400 h 5546742"/>
              <a:gd name="connsiteX6" fmla="*/ 12454337 w 12454337"/>
              <a:gd name="connsiteY6" fmla="*/ 0 h 5546742"/>
              <a:gd name="connsiteX0-1" fmla="*/ 0 w 12319000"/>
              <a:gd name="connsiteY0-2" fmla="*/ 5359400 h 5359400"/>
              <a:gd name="connsiteX1-3" fmla="*/ 1270000 w 12319000"/>
              <a:gd name="connsiteY1-4" fmla="*/ 3746500 h 5359400"/>
              <a:gd name="connsiteX2-5" fmla="*/ 4914900 w 12319000"/>
              <a:gd name="connsiteY2-6" fmla="*/ 3162300 h 5359400"/>
              <a:gd name="connsiteX3-7" fmla="*/ 7645400 w 12319000"/>
              <a:gd name="connsiteY3-8" fmla="*/ 1346200 h 5359400"/>
              <a:gd name="connsiteX4-9" fmla="*/ 11137900 w 12319000"/>
              <a:gd name="connsiteY4-10" fmla="*/ 787400 h 5359400"/>
              <a:gd name="connsiteX5-11" fmla="*/ 12319000 w 12319000"/>
              <a:gd name="connsiteY5-12" fmla="*/ 0 h 5359400"/>
              <a:gd name="connsiteX0-13" fmla="*/ 0 w 12319000"/>
              <a:gd name="connsiteY0-14" fmla="*/ 5359400 h 5359400"/>
              <a:gd name="connsiteX1-15" fmla="*/ 1270000 w 12319000"/>
              <a:gd name="connsiteY1-16" fmla="*/ 3746500 h 5359400"/>
              <a:gd name="connsiteX2-17" fmla="*/ 4914900 w 12319000"/>
              <a:gd name="connsiteY2-18" fmla="*/ 3162300 h 5359400"/>
              <a:gd name="connsiteX3-19" fmla="*/ 7645400 w 12319000"/>
              <a:gd name="connsiteY3-20" fmla="*/ 1346200 h 5359400"/>
              <a:gd name="connsiteX4-21" fmla="*/ 11137900 w 12319000"/>
              <a:gd name="connsiteY4-22" fmla="*/ 787400 h 5359400"/>
              <a:gd name="connsiteX5-23" fmla="*/ 12319000 w 12319000"/>
              <a:gd name="connsiteY5-24" fmla="*/ 0 h 5359400"/>
              <a:gd name="connsiteX0-25" fmla="*/ 0 w 13088257"/>
              <a:gd name="connsiteY0-26" fmla="*/ 5388428 h 5388428"/>
              <a:gd name="connsiteX1-27" fmla="*/ 2039257 w 13088257"/>
              <a:gd name="connsiteY1-28" fmla="*/ 3746500 h 5388428"/>
              <a:gd name="connsiteX2-29" fmla="*/ 5684157 w 13088257"/>
              <a:gd name="connsiteY2-30" fmla="*/ 3162300 h 5388428"/>
              <a:gd name="connsiteX3-31" fmla="*/ 8414657 w 13088257"/>
              <a:gd name="connsiteY3-32" fmla="*/ 1346200 h 5388428"/>
              <a:gd name="connsiteX4-33" fmla="*/ 11907157 w 13088257"/>
              <a:gd name="connsiteY4-34" fmla="*/ 787400 h 5388428"/>
              <a:gd name="connsiteX5-35" fmla="*/ 13088257 w 13088257"/>
              <a:gd name="connsiteY5-36" fmla="*/ 0 h 5388428"/>
              <a:gd name="connsiteX0-37" fmla="*/ 0 w 13088257"/>
              <a:gd name="connsiteY0-38" fmla="*/ 5388428 h 5388428"/>
              <a:gd name="connsiteX1-39" fmla="*/ 2126343 w 13088257"/>
              <a:gd name="connsiteY1-40" fmla="*/ 3804557 h 5388428"/>
              <a:gd name="connsiteX2-41" fmla="*/ 5684157 w 13088257"/>
              <a:gd name="connsiteY2-42" fmla="*/ 3162300 h 5388428"/>
              <a:gd name="connsiteX3-43" fmla="*/ 8414657 w 13088257"/>
              <a:gd name="connsiteY3-44" fmla="*/ 1346200 h 5388428"/>
              <a:gd name="connsiteX4-45" fmla="*/ 11907157 w 13088257"/>
              <a:gd name="connsiteY4-46" fmla="*/ 787400 h 5388428"/>
              <a:gd name="connsiteX5-47" fmla="*/ 13088257 w 13088257"/>
              <a:gd name="connsiteY5-48" fmla="*/ 0 h 5388428"/>
              <a:gd name="connsiteX0-49" fmla="*/ 0 w 13088257"/>
              <a:gd name="connsiteY0-50" fmla="*/ 5388428 h 5388428"/>
              <a:gd name="connsiteX1-51" fmla="*/ 2084914 w 13088257"/>
              <a:gd name="connsiteY1-52" fmla="*/ 3684610 h 5388428"/>
              <a:gd name="connsiteX2-53" fmla="*/ 5684157 w 13088257"/>
              <a:gd name="connsiteY2-54" fmla="*/ 3162300 h 5388428"/>
              <a:gd name="connsiteX3-55" fmla="*/ 8414657 w 13088257"/>
              <a:gd name="connsiteY3-56" fmla="*/ 1346200 h 5388428"/>
              <a:gd name="connsiteX4-57" fmla="*/ 11907157 w 13088257"/>
              <a:gd name="connsiteY4-58" fmla="*/ 787400 h 5388428"/>
              <a:gd name="connsiteX5-59" fmla="*/ 13088257 w 13088257"/>
              <a:gd name="connsiteY5-60" fmla="*/ 0 h 5388428"/>
              <a:gd name="connsiteX0-61" fmla="*/ 0 w 13198736"/>
              <a:gd name="connsiteY0-62" fmla="*/ 4863659 h 4863659"/>
              <a:gd name="connsiteX1-63" fmla="*/ 2195393 w 13198736"/>
              <a:gd name="connsiteY1-64" fmla="*/ 3684610 h 4863659"/>
              <a:gd name="connsiteX2-65" fmla="*/ 5794636 w 13198736"/>
              <a:gd name="connsiteY2-66" fmla="*/ 3162300 h 4863659"/>
              <a:gd name="connsiteX3-67" fmla="*/ 8525136 w 13198736"/>
              <a:gd name="connsiteY3-68" fmla="*/ 1346200 h 4863659"/>
              <a:gd name="connsiteX4-69" fmla="*/ 12017636 w 13198736"/>
              <a:gd name="connsiteY4-70" fmla="*/ 787400 h 4863659"/>
              <a:gd name="connsiteX5-71" fmla="*/ 13198736 w 13198736"/>
              <a:gd name="connsiteY5-72" fmla="*/ 0 h 4863659"/>
              <a:gd name="connsiteX0-73" fmla="*/ 0 w 13198736"/>
              <a:gd name="connsiteY0-74" fmla="*/ 4863659 h 4863659"/>
              <a:gd name="connsiteX1-75" fmla="*/ 2195393 w 13198736"/>
              <a:gd name="connsiteY1-76" fmla="*/ 3684610 h 4863659"/>
              <a:gd name="connsiteX2-77" fmla="*/ 5725588 w 13198736"/>
              <a:gd name="connsiteY2-78" fmla="*/ 2832445 h 4863659"/>
              <a:gd name="connsiteX3-79" fmla="*/ 8525136 w 13198736"/>
              <a:gd name="connsiteY3-80" fmla="*/ 1346200 h 4863659"/>
              <a:gd name="connsiteX4-81" fmla="*/ 12017636 w 13198736"/>
              <a:gd name="connsiteY4-82" fmla="*/ 787400 h 4863659"/>
              <a:gd name="connsiteX5-83" fmla="*/ 13198736 w 13198736"/>
              <a:gd name="connsiteY5-84" fmla="*/ 0 h 4863659"/>
              <a:gd name="connsiteX0-85" fmla="*/ 0 w 13198736"/>
              <a:gd name="connsiteY0-86" fmla="*/ 4863659 h 4863659"/>
              <a:gd name="connsiteX1-87" fmla="*/ 2195393 w 13198736"/>
              <a:gd name="connsiteY1-88" fmla="*/ 3684610 h 4863659"/>
              <a:gd name="connsiteX2-89" fmla="*/ 6057024 w 13198736"/>
              <a:gd name="connsiteY2-90" fmla="*/ 2832445 h 4863659"/>
              <a:gd name="connsiteX3-91" fmla="*/ 8525136 w 13198736"/>
              <a:gd name="connsiteY3-92" fmla="*/ 1346200 h 4863659"/>
              <a:gd name="connsiteX4-93" fmla="*/ 12017636 w 13198736"/>
              <a:gd name="connsiteY4-94" fmla="*/ 787400 h 4863659"/>
              <a:gd name="connsiteX5-95" fmla="*/ 13198736 w 13198736"/>
              <a:gd name="connsiteY5-96" fmla="*/ 0 h 4863659"/>
              <a:gd name="connsiteX0-97" fmla="*/ 0 w 13198736"/>
              <a:gd name="connsiteY0-98" fmla="*/ 4863659 h 4863659"/>
              <a:gd name="connsiteX1-99" fmla="*/ 2195393 w 13198736"/>
              <a:gd name="connsiteY1-100" fmla="*/ 3684610 h 4863659"/>
              <a:gd name="connsiteX2-101" fmla="*/ 5513263 w 13198736"/>
              <a:gd name="connsiteY2-102" fmla="*/ 2556941 h 4863659"/>
              <a:gd name="connsiteX3-103" fmla="*/ 8525136 w 13198736"/>
              <a:gd name="connsiteY3-104" fmla="*/ 1346200 h 4863659"/>
              <a:gd name="connsiteX4-105" fmla="*/ 12017636 w 13198736"/>
              <a:gd name="connsiteY4-106" fmla="*/ 787400 h 4863659"/>
              <a:gd name="connsiteX5-107" fmla="*/ 13198736 w 13198736"/>
              <a:gd name="connsiteY5-108" fmla="*/ 0 h 4863659"/>
              <a:gd name="connsiteX0-109" fmla="*/ 0 w 13198736"/>
              <a:gd name="connsiteY0-110" fmla="*/ 4863659 h 4863659"/>
              <a:gd name="connsiteX1-111" fmla="*/ 2195393 w 13198736"/>
              <a:gd name="connsiteY1-112" fmla="*/ 3684610 h 4863659"/>
              <a:gd name="connsiteX2-113" fmla="*/ 5513263 w 13198736"/>
              <a:gd name="connsiteY2-114" fmla="*/ 2556941 h 4863659"/>
              <a:gd name="connsiteX3-115" fmla="*/ 8658056 w 13198736"/>
              <a:gd name="connsiteY3-116" fmla="*/ 1674181 h 4863659"/>
              <a:gd name="connsiteX4-117" fmla="*/ 12017636 w 13198736"/>
              <a:gd name="connsiteY4-118" fmla="*/ 787400 h 4863659"/>
              <a:gd name="connsiteX5-119" fmla="*/ 13198736 w 13198736"/>
              <a:gd name="connsiteY5-120" fmla="*/ 0 h 4863659"/>
              <a:gd name="connsiteX0-121" fmla="*/ 0 w 13198736"/>
              <a:gd name="connsiteY0-122" fmla="*/ 4863659 h 4863659"/>
              <a:gd name="connsiteX1-123" fmla="*/ 2195393 w 13198736"/>
              <a:gd name="connsiteY1-124" fmla="*/ 3684610 h 4863659"/>
              <a:gd name="connsiteX2-125" fmla="*/ 5694517 w 13198736"/>
              <a:gd name="connsiteY2-126" fmla="*/ 2884922 h 4863659"/>
              <a:gd name="connsiteX3-127" fmla="*/ 8658056 w 13198736"/>
              <a:gd name="connsiteY3-128" fmla="*/ 1674181 h 4863659"/>
              <a:gd name="connsiteX4-129" fmla="*/ 12017636 w 13198736"/>
              <a:gd name="connsiteY4-130" fmla="*/ 787400 h 4863659"/>
              <a:gd name="connsiteX5-131" fmla="*/ 13198736 w 13198736"/>
              <a:gd name="connsiteY5-132" fmla="*/ 0 h 4863659"/>
              <a:gd name="connsiteX0-133" fmla="*/ 0 w 13198736"/>
              <a:gd name="connsiteY0-134" fmla="*/ 4863659 h 4863659"/>
              <a:gd name="connsiteX1-135" fmla="*/ 2195393 w 13198736"/>
              <a:gd name="connsiteY1-136" fmla="*/ 3684610 h 4863659"/>
              <a:gd name="connsiteX2-137" fmla="*/ 5694517 w 13198736"/>
              <a:gd name="connsiteY2-138" fmla="*/ 2884922 h 4863659"/>
              <a:gd name="connsiteX3-139" fmla="*/ 6727110 w 13198736"/>
              <a:gd name="connsiteY3-140" fmla="*/ 1924780 h 4863659"/>
              <a:gd name="connsiteX4-141" fmla="*/ 8658056 w 13198736"/>
              <a:gd name="connsiteY4-142" fmla="*/ 1674181 h 4863659"/>
              <a:gd name="connsiteX5-143" fmla="*/ 12017636 w 13198736"/>
              <a:gd name="connsiteY5-144" fmla="*/ 787400 h 4863659"/>
              <a:gd name="connsiteX6-145" fmla="*/ 13198736 w 13198736"/>
              <a:gd name="connsiteY6-146" fmla="*/ 0 h 4863659"/>
              <a:gd name="connsiteX0-147" fmla="*/ 0 w 13198736"/>
              <a:gd name="connsiteY0-148" fmla="*/ 4863659 h 4863659"/>
              <a:gd name="connsiteX1-149" fmla="*/ 2195393 w 13198736"/>
              <a:gd name="connsiteY1-150" fmla="*/ 3684610 h 4863659"/>
              <a:gd name="connsiteX2-151" fmla="*/ 4957419 w 13198736"/>
              <a:gd name="connsiteY2-152" fmla="*/ 2832445 h 4863659"/>
              <a:gd name="connsiteX3-153" fmla="*/ 6727110 w 13198736"/>
              <a:gd name="connsiteY3-154" fmla="*/ 1924780 h 4863659"/>
              <a:gd name="connsiteX4-155" fmla="*/ 8658056 w 13198736"/>
              <a:gd name="connsiteY4-156" fmla="*/ 1674181 h 4863659"/>
              <a:gd name="connsiteX5-157" fmla="*/ 12017636 w 13198736"/>
              <a:gd name="connsiteY5-158" fmla="*/ 787400 h 4863659"/>
              <a:gd name="connsiteX6-159" fmla="*/ 13198736 w 13198736"/>
              <a:gd name="connsiteY6-160" fmla="*/ 0 h 4863659"/>
              <a:gd name="connsiteX0-161" fmla="*/ 0 w 13198736"/>
              <a:gd name="connsiteY0-162" fmla="*/ 4863659 h 4863659"/>
              <a:gd name="connsiteX1-163" fmla="*/ 2195393 w 13198736"/>
              <a:gd name="connsiteY1-164" fmla="*/ 3684610 h 4863659"/>
              <a:gd name="connsiteX2-165" fmla="*/ 5029921 w 13198736"/>
              <a:gd name="connsiteY2-166" fmla="*/ 3055472 h 4863659"/>
              <a:gd name="connsiteX3-167" fmla="*/ 6727110 w 13198736"/>
              <a:gd name="connsiteY3-168" fmla="*/ 1924780 h 4863659"/>
              <a:gd name="connsiteX4-169" fmla="*/ 8658056 w 13198736"/>
              <a:gd name="connsiteY4-170" fmla="*/ 1674181 h 4863659"/>
              <a:gd name="connsiteX5-171" fmla="*/ 12017636 w 13198736"/>
              <a:gd name="connsiteY5-172" fmla="*/ 787400 h 4863659"/>
              <a:gd name="connsiteX6-173" fmla="*/ 13198736 w 13198736"/>
              <a:gd name="connsiteY6-174" fmla="*/ 0 h 4863659"/>
              <a:gd name="connsiteX0-175" fmla="*/ 0 w 13198736"/>
              <a:gd name="connsiteY0-176" fmla="*/ 4863659 h 4863659"/>
              <a:gd name="connsiteX1-177" fmla="*/ 2195393 w 13198736"/>
              <a:gd name="connsiteY1-178" fmla="*/ 3684610 h 4863659"/>
              <a:gd name="connsiteX2-179" fmla="*/ 5029921 w 13198736"/>
              <a:gd name="connsiteY2-180" fmla="*/ 3055472 h 4863659"/>
              <a:gd name="connsiteX3-181" fmla="*/ 6449187 w 13198736"/>
              <a:gd name="connsiteY3-182" fmla="*/ 2003495 h 4863659"/>
              <a:gd name="connsiteX4-183" fmla="*/ 8658056 w 13198736"/>
              <a:gd name="connsiteY4-184" fmla="*/ 1674181 h 4863659"/>
              <a:gd name="connsiteX5-185" fmla="*/ 12017636 w 13198736"/>
              <a:gd name="connsiteY5-186" fmla="*/ 787400 h 4863659"/>
              <a:gd name="connsiteX6-187" fmla="*/ 13198736 w 13198736"/>
              <a:gd name="connsiteY6-188" fmla="*/ 0 h 4863659"/>
              <a:gd name="connsiteX0-189" fmla="*/ 0 w 13198736"/>
              <a:gd name="connsiteY0-190" fmla="*/ 4863659 h 4863659"/>
              <a:gd name="connsiteX1-191" fmla="*/ 2195393 w 13198736"/>
              <a:gd name="connsiteY1-192" fmla="*/ 3684610 h 4863659"/>
              <a:gd name="connsiteX2-193" fmla="*/ 5029921 w 13198736"/>
              <a:gd name="connsiteY2-194" fmla="*/ 3055472 h 4863659"/>
              <a:gd name="connsiteX3-195" fmla="*/ 6449187 w 13198736"/>
              <a:gd name="connsiteY3-196" fmla="*/ 2003495 h 4863659"/>
              <a:gd name="connsiteX4-197" fmla="*/ 8658056 w 13198736"/>
              <a:gd name="connsiteY4-198" fmla="*/ 1674181 h 4863659"/>
              <a:gd name="connsiteX5-199" fmla="*/ 10410518 w 13198736"/>
              <a:gd name="connsiteY5-200" fmla="*/ 892354 h 4863659"/>
              <a:gd name="connsiteX6-201" fmla="*/ 13198736 w 13198736"/>
              <a:gd name="connsiteY6-202" fmla="*/ 0 h 4863659"/>
              <a:gd name="connsiteX0-203" fmla="*/ 0 w 12763727"/>
              <a:gd name="connsiteY0-204" fmla="*/ 5558978 h 5558978"/>
              <a:gd name="connsiteX1-205" fmla="*/ 2195393 w 12763727"/>
              <a:gd name="connsiteY1-206" fmla="*/ 4379929 h 5558978"/>
              <a:gd name="connsiteX2-207" fmla="*/ 5029921 w 12763727"/>
              <a:gd name="connsiteY2-208" fmla="*/ 3750791 h 5558978"/>
              <a:gd name="connsiteX3-209" fmla="*/ 6449187 w 12763727"/>
              <a:gd name="connsiteY3-210" fmla="*/ 2698814 h 5558978"/>
              <a:gd name="connsiteX4-211" fmla="*/ 8658056 w 12763727"/>
              <a:gd name="connsiteY4-212" fmla="*/ 2369500 h 5558978"/>
              <a:gd name="connsiteX5-213" fmla="*/ 10410518 w 12763727"/>
              <a:gd name="connsiteY5-214" fmla="*/ 1587673 h 5558978"/>
              <a:gd name="connsiteX6-215" fmla="*/ 12763727 w 12763727"/>
              <a:gd name="connsiteY6-216" fmla="*/ 0 h 5558978"/>
              <a:gd name="connsiteX0-217" fmla="*/ 0 w 12763727"/>
              <a:gd name="connsiteY0-218" fmla="*/ 5558978 h 5558978"/>
              <a:gd name="connsiteX1-219" fmla="*/ 2195393 w 12763727"/>
              <a:gd name="connsiteY1-220" fmla="*/ 4379929 h 5558978"/>
              <a:gd name="connsiteX2-221" fmla="*/ 5029921 w 12763727"/>
              <a:gd name="connsiteY2-222" fmla="*/ 3750791 h 5558978"/>
              <a:gd name="connsiteX3-223" fmla="*/ 6449187 w 12763727"/>
              <a:gd name="connsiteY3-224" fmla="*/ 2698814 h 5558978"/>
              <a:gd name="connsiteX4-225" fmla="*/ 8658056 w 12763727"/>
              <a:gd name="connsiteY4-226" fmla="*/ 2369500 h 5558978"/>
              <a:gd name="connsiteX5-227" fmla="*/ 10410518 w 12763727"/>
              <a:gd name="connsiteY5-228" fmla="*/ 1587673 h 5558978"/>
              <a:gd name="connsiteX6-229" fmla="*/ 12763727 w 12763727"/>
              <a:gd name="connsiteY6-230" fmla="*/ 0 h 5558978"/>
              <a:gd name="connsiteX0-231" fmla="*/ 0 w 12763727"/>
              <a:gd name="connsiteY0-232" fmla="*/ 5558978 h 5558978"/>
              <a:gd name="connsiteX1-233" fmla="*/ 2195393 w 12763727"/>
              <a:gd name="connsiteY1-234" fmla="*/ 4379929 h 5558978"/>
              <a:gd name="connsiteX2-235" fmla="*/ 5029921 w 12763727"/>
              <a:gd name="connsiteY2-236" fmla="*/ 3750791 h 5558978"/>
              <a:gd name="connsiteX3-237" fmla="*/ 6449187 w 12763727"/>
              <a:gd name="connsiteY3-238" fmla="*/ 2698814 h 5558978"/>
              <a:gd name="connsiteX4-239" fmla="*/ 8440551 w 12763727"/>
              <a:gd name="connsiteY4-240" fmla="*/ 2303904 h 5558978"/>
              <a:gd name="connsiteX5-241" fmla="*/ 10410518 w 12763727"/>
              <a:gd name="connsiteY5-242" fmla="*/ 1587673 h 5558978"/>
              <a:gd name="connsiteX6-243" fmla="*/ 12763727 w 12763727"/>
              <a:gd name="connsiteY6-244" fmla="*/ 0 h 5558978"/>
              <a:gd name="connsiteX0-245" fmla="*/ 0 w 12763727"/>
              <a:gd name="connsiteY0-246" fmla="*/ 5558978 h 5558978"/>
              <a:gd name="connsiteX1-247" fmla="*/ 2195393 w 12763727"/>
              <a:gd name="connsiteY1-248" fmla="*/ 4379929 h 5558978"/>
              <a:gd name="connsiteX2-249" fmla="*/ 5029921 w 12763727"/>
              <a:gd name="connsiteY2-250" fmla="*/ 3750791 h 5558978"/>
              <a:gd name="connsiteX3-251" fmla="*/ 6449187 w 12763727"/>
              <a:gd name="connsiteY3-252" fmla="*/ 2698814 h 5558978"/>
              <a:gd name="connsiteX4-253" fmla="*/ 8428468 w 12763727"/>
              <a:gd name="connsiteY4-254" fmla="*/ 2513812 h 5558978"/>
              <a:gd name="connsiteX5-255" fmla="*/ 10410518 w 12763727"/>
              <a:gd name="connsiteY5-256" fmla="*/ 1587673 h 5558978"/>
              <a:gd name="connsiteX6-257" fmla="*/ 12763727 w 12763727"/>
              <a:gd name="connsiteY6-258" fmla="*/ 0 h 5558978"/>
              <a:gd name="connsiteX0-259" fmla="*/ 0 w 12763727"/>
              <a:gd name="connsiteY0-260" fmla="*/ 5558978 h 5558978"/>
              <a:gd name="connsiteX1-261" fmla="*/ 2026223 w 12763727"/>
              <a:gd name="connsiteY1-262" fmla="*/ 4209380 h 5558978"/>
              <a:gd name="connsiteX2-263" fmla="*/ 5029921 w 12763727"/>
              <a:gd name="connsiteY2-264" fmla="*/ 3750791 h 5558978"/>
              <a:gd name="connsiteX3-265" fmla="*/ 6449187 w 12763727"/>
              <a:gd name="connsiteY3-266" fmla="*/ 2698814 h 5558978"/>
              <a:gd name="connsiteX4-267" fmla="*/ 8428468 w 12763727"/>
              <a:gd name="connsiteY4-268" fmla="*/ 2513812 h 5558978"/>
              <a:gd name="connsiteX5-269" fmla="*/ 10410518 w 12763727"/>
              <a:gd name="connsiteY5-270" fmla="*/ 1587673 h 5558978"/>
              <a:gd name="connsiteX6-271" fmla="*/ 12763727 w 12763727"/>
              <a:gd name="connsiteY6-272" fmla="*/ 0 h 5558978"/>
              <a:gd name="connsiteX0-273" fmla="*/ 0 w 12763727"/>
              <a:gd name="connsiteY0-274" fmla="*/ 5558978 h 5558978"/>
              <a:gd name="connsiteX1-275" fmla="*/ 2026223 w 12763727"/>
              <a:gd name="connsiteY1-276" fmla="*/ 4209380 h 5558978"/>
              <a:gd name="connsiteX2-277" fmla="*/ 4570745 w 12763727"/>
              <a:gd name="connsiteY2-278" fmla="*/ 3842626 h 5558978"/>
              <a:gd name="connsiteX3-279" fmla="*/ 6449187 w 12763727"/>
              <a:gd name="connsiteY3-280" fmla="*/ 2698814 h 5558978"/>
              <a:gd name="connsiteX4-281" fmla="*/ 8428468 w 12763727"/>
              <a:gd name="connsiteY4-282" fmla="*/ 2513812 h 5558978"/>
              <a:gd name="connsiteX5-283" fmla="*/ 10410518 w 12763727"/>
              <a:gd name="connsiteY5-284" fmla="*/ 1587673 h 5558978"/>
              <a:gd name="connsiteX6-285" fmla="*/ 12763727 w 12763727"/>
              <a:gd name="connsiteY6-286" fmla="*/ 0 h 5558978"/>
              <a:gd name="connsiteX0-287" fmla="*/ 0 w 12763727"/>
              <a:gd name="connsiteY0-288" fmla="*/ 5558978 h 5558978"/>
              <a:gd name="connsiteX1-289" fmla="*/ 2026223 w 12763727"/>
              <a:gd name="connsiteY1-290" fmla="*/ 4209380 h 5558978"/>
              <a:gd name="connsiteX2-291" fmla="*/ 4570745 w 12763727"/>
              <a:gd name="connsiteY2-292" fmla="*/ 3842626 h 5558978"/>
              <a:gd name="connsiteX3-293" fmla="*/ 6098763 w 12763727"/>
              <a:gd name="connsiteY3-294" fmla="*/ 2830007 h 5558978"/>
              <a:gd name="connsiteX4-295" fmla="*/ 8428468 w 12763727"/>
              <a:gd name="connsiteY4-296" fmla="*/ 2513812 h 5558978"/>
              <a:gd name="connsiteX5-297" fmla="*/ 10410518 w 12763727"/>
              <a:gd name="connsiteY5-298" fmla="*/ 1587673 h 5558978"/>
              <a:gd name="connsiteX6-299" fmla="*/ 12763727 w 12763727"/>
              <a:gd name="connsiteY6-300" fmla="*/ 0 h 5558978"/>
              <a:gd name="connsiteX0-301" fmla="*/ 0 w 12763727"/>
              <a:gd name="connsiteY0-302" fmla="*/ 5558978 h 5558978"/>
              <a:gd name="connsiteX1-303" fmla="*/ 2026223 w 12763727"/>
              <a:gd name="connsiteY1-304" fmla="*/ 4209380 h 5558978"/>
              <a:gd name="connsiteX2-305" fmla="*/ 4280739 w 12763727"/>
              <a:gd name="connsiteY2-306" fmla="*/ 3921341 h 5558978"/>
              <a:gd name="connsiteX3-307" fmla="*/ 6098763 w 12763727"/>
              <a:gd name="connsiteY3-308" fmla="*/ 2830007 h 5558978"/>
              <a:gd name="connsiteX4-309" fmla="*/ 8428468 w 12763727"/>
              <a:gd name="connsiteY4-310" fmla="*/ 2513812 h 5558978"/>
              <a:gd name="connsiteX5-311" fmla="*/ 10410518 w 12763727"/>
              <a:gd name="connsiteY5-312" fmla="*/ 1587673 h 5558978"/>
              <a:gd name="connsiteX6-313" fmla="*/ 12763727 w 12763727"/>
              <a:gd name="connsiteY6-314" fmla="*/ 0 h 5558978"/>
              <a:gd name="connsiteX0-315" fmla="*/ 0 w 12763727"/>
              <a:gd name="connsiteY0-316" fmla="*/ 5558978 h 5558978"/>
              <a:gd name="connsiteX1-317" fmla="*/ 2026223 w 12763727"/>
              <a:gd name="connsiteY1-318" fmla="*/ 4209380 h 5558978"/>
              <a:gd name="connsiteX2-319" fmla="*/ 4280739 w 12763727"/>
              <a:gd name="connsiteY2-320" fmla="*/ 3921341 h 5558978"/>
              <a:gd name="connsiteX3-321" fmla="*/ 6098763 w 12763727"/>
              <a:gd name="connsiteY3-322" fmla="*/ 2830007 h 5558978"/>
              <a:gd name="connsiteX4-323" fmla="*/ 8428468 w 12763727"/>
              <a:gd name="connsiteY4-324" fmla="*/ 2513812 h 5558978"/>
              <a:gd name="connsiteX5-325" fmla="*/ 10410518 w 12763727"/>
              <a:gd name="connsiteY5-326" fmla="*/ 1587673 h 5558978"/>
              <a:gd name="connsiteX6-327" fmla="*/ 12763727 w 12763727"/>
              <a:gd name="connsiteY6-328" fmla="*/ 0 h 5558978"/>
              <a:gd name="connsiteX0-329" fmla="*/ 0 w 12763727"/>
              <a:gd name="connsiteY0-330" fmla="*/ 5558978 h 5558978"/>
              <a:gd name="connsiteX1-331" fmla="*/ 2026223 w 12763727"/>
              <a:gd name="connsiteY1-332" fmla="*/ 4209380 h 5558978"/>
              <a:gd name="connsiteX2-333" fmla="*/ 4280739 w 12763727"/>
              <a:gd name="connsiteY2-334" fmla="*/ 3921341 h 5558978"/>
              <a:gd name="connsiteX3-335" fmla="*/ 6098763 w 12763727"/>
              <a:gd name="connsiteY3-336" fmla="*/ 2830007 h 5558978"/>
              <a:gd name="connsiteX4-337" fmla="*/ 8428468 w 12763727"/>
              <a:gd name="connsiteY4-338" fmla="*/ 2513812 h 5558978"/>
              <a:gd name="connsiteX5-339" fmla="*/ 10410518 w 12763727"/>
              <a:gd name="connsiteY5-340" fmla="*/ 1587673 h 5558978"/>
              <a:gd name="connsiteX6-341" fmla="*/ 12763727 w 12763727"/>
              <a:gd name="connsiteY6-342" fmla="*/ 0 h 5558978"/>
              <a:gd name="connsiteX0-343" fmla="*/ 0 w 12944981"/>
              <a:gd name="connsiteY0-344" fmla="*/ 5047328 h 5047328"/>
              <a:gd name="connsiteX1-345" fmla="*/ 2026223 w 12944981"/>
              <a:gd name="connsiteY1-346" fmla="*/ 3697730 h 5047328"/>
              <a:gd name="connsiteX2-347" fmla="*/ 4280739 w 12944981"/>
              <a:gd name="connsiteY2-348" fmla="*/ 3409691 h 5047328"/>
              <a:gd name="connsiteX3-349" fmla="*/ 6098763 w 12944981"/>
              <a:gd name="connsiteY3-350" fmla="*/ 2318357 h 5047328"/>
              <a:gd name="connsiteX4-351" fmla="*/ 8428468 w 12944981"/>
              <a:gd name="connsiteY4-352" fmla="*/ 2002162 h 5047328"/>
              <a:gd name="connsiteX5-353" fmla="*/ 10410518 w 12944981"/>
              <a:gd name="connsiteY5-354" fmla="*/ 1076023 h 5047328"/>
              <a:gd name="connsiteX6-355" fmla="*/ 12944981 w 12944981"/>
              <a:gd name="connsiteY6-356" fmla="*/ 0 h 5047328"/>
              <a:gd name="connsiteX0-357" fmla="*/ 0 w 13198736"/>
              <a:gd name="connsiteY0-358" fmla="*/ 4761985 h 4761985"/>
              <a:gd name="connsiteX1-359" fmla="*/ 2026223 w 13198736"/>
              <a:gd name="connsiteY1-360" fmla="*/ 3412387 h 4761985"/>
              <a:gd name="connsiteX2-361" fmla="*/ 4280739 w 13198736"/>
              <a:gd name="connsiteY2-362" fmla="*/ 3124348 h 4761985"/>
              <a:gd name="connsiteX3-363" fmla="*/ 6098763 w 13198736"/>
              <a:gd name="connsiteY3-364" fmla="*/ 2033014 h 4761985"/>
              <a:gd name="connsiteX4-365" fmla="*/ 8428468 w 13198736"/>
              <a:gd name="connsiteY4-366" fmla="*/ 1716819 h 4761985"/>
              <a:gd name="connsiteX5-367" fmla="*/ 10410518 w 13198736"/>
              <a:gd name="connsiteY5-368" fmla="*/ 790680 h 4761985"/>
              <a:gd name="connsiteX6-369" fmla="*/ 13198736 w 13198736"/>
              <a:gd name="connsiteY6-370" fmla="*/ 0 h 476198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45" y="connsiteY6-146"/>
              </a:cxn>
            </a:cxnLst>
            <a:rect l="l" t="t" r="r" b="b"/>
            <a:pathLst>
              <a:path w="13198736" h="4761985">
                <a:moveTo>
                  <a:pt x="0" y="4761985"/>
                </a:moveTo>
                <a:cubicBezTo>
                  <a:pt x="164229" y="4467594"/>
                  <a:pt x="1312767" y="3685326"/>
                  <a:pt x="2026223" y="3412387"/>
                </a:cubicBezTo>
                <a:cubicBezTo>
                  <a:pt x="2739679" y="3139448"/>
                  <a:pt x="3601982" y="3354243"/>
                  <a:pt x="4280739" y="3124348"/>
                </a:cubicBezTo>
                <a:cubicBezTo>
                  <a:pt x="4959496" y="2894453"/>
                  <a:pt x="5604840" y="2234804"/>
                  <a:pt x="6098763" y="2033014"/>
                </a:cubicBezTo>
                <a:cubicBezTo>
                  <a:pt x="6592686" y="1831224"/>
                  <a:pt x="7709842" y="1923875"/>
                  <a:pt x="8428468" y="1716819"/>
                </a:cubicBezTo>
                <a:cubicBezTo>
                  <a:pt x="9147094" y="1509763"/>
                  <a:pt x="9290658" y="1086274"/>
                  <a:pt x="10410518" y="790680"/>
                </a:cubicBezTo>
                <a:cubicBezTo>
                  <a:pt x="11189452" y="566313"/>
                  <a:pt x="12743896" y="45370"/>
                  <a:pt x="13198736" y="0"/>
                </a:cubicBezTo>
              </a:path>
            </a:pathLst>
          </a:custGeom>
          <a:noFill/>
          <a:ln w="50800">
            <a:gradFill>
              <a:gsLst>
                <a:gs pos="0">
                  <a:schemeClr val="accent1">
                    <a:lumMod val="60000"/>
                    <a:lumOff val="40000"/>
                    <a:alpha val="0"/>
                  </a:schemeClr>
                </a:gs>
                <a:gs pos="23000">
                  <a:schemeClr val="accent1">
                    <a:lumMod val="60000"/>
                    <a:lumOff val="40000"/>
                  </a:schemeClr>
                </a:gs>
                <a:gs pos="94000">
                  <a:schemeClr val="accent1">
                    <a:alpha val="0"/>
                  </a:schemeClr>
                </a:gs>
                <a:gs pos="64000">
                  <a:schemeClr val="accent1"/>
                </a:gs>
              </a:gsLst>
              <a:lin ang="0" scaled="0"/>
            </a:gradFill>
          </a:ln>
          <a:effectLst>
            <a:outerShdw blurRad="139700" dist="101600" dir="2700000" algn="tl"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27" name="椭圆 26"/>
          <p:cNvSpPr/>
          <p:nvPr/>
        </p:nvSpPr>
        <p:spPr>
          <a:xfrm>
            <a:off x="1129704" y="4730649"/>
            <a:ext cx="260064" cy="260064"/>
          </a:xfrm>
          <a:prstGeom prst="ellipse">
            <a:avLst/>
          </a:prstGeom>
          <a:solidFill>
            <a:schemeClr val="accent1">
              <a:lumMod val="60000"/>
              <a:lumOff val="40000"/>
            </a:schemeClr>
          </a:solidFill>
          <a:ln w="63500">
            <a:solidFill>
              <a:schemeClr val="bg1"/>
            </a:solidFill>
          </a:ln>
          <a:effectLst>
            <a:outerShdw blurRad="2032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47" name="椭圆 46"/>
          <p:cNvSpPr/>
          <p:nvPr>
            <p:custDataLst>
              <p:tags r:id="rId3"/>
            </p:custDataLst>
          </p:nvPr>
        </p:nvSpPr>
        <p:spPr>
          <a:xfrm>
            <a:off x="4162178" y="4175195"/>
            <a:ext cx="259715" cy="260064"/>
          </a:xfrm>
          <a:prstGeom prst="ellipse">
            <a:avLst/>
          </a:prstGeom>
          <a:solidFill>
            <a:schemeClr val="accent1"/>
          </a:solidFill>
          <a:ln w="63500">
            <a:solidFill>
              <a:schemeClr val="bg1"/>
            </a:solidFill>
          </a:ln>
          <a:effectLst>
            <a:outerShdw blurRad="2032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74" name="椭圆 73"/>
          <p:cNvSpPr/>
          <p:nvPr>
            <p:custDataLst>
              <p:tags r:id="rId4"/>
            </p:custDataLst>
          </p:nvPr>
        </p:nvSpPr>
        <p:spPr>
          <a:xfrm>
            <a:off x="7194303" y="3215201"/>
            <a:ext cx="259715" cy="260064"/>
          </a:xfrm>
          <a:prstGeom prst="ellipse">
            <a:avLst/>
          </a:prstGeom>
          <a:solidFill>
            <a:schemeClr val="accent5"/>
          </a:solidFill>
          <a:ln w="63500">
            <a:solidFill>
              <a:schemeClr val="bg1"/>
            </a:solidFill>
          </a:ln>
          <a:effectLst>
            <a:outerShdw blurRad="2032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2" name="椭圆 1"/>
          <p:cNvSpPr/>
          <p:nvPr/>
        </p:nvSpPr>
        <p:spPr>
          <a:xfrm>
            <a:off x="10226428" y="2154751"/>
            <a:ext cx="259715" cy="260064"/>
          </a:xfrm>
          <a:prstGeom prst="ellipse">
            <a:avLst/>
          </a:prstGeom>
          <a:solidFill>
            <a:schemeClr val="accent1">
              <a:lumMod val="60000"/>
              <a:lumOff val="40000"/>
            </a:schemeClr>
          </a:solidFill>
          <a:ln w="63500">
            <a:solidFill>
              <a:schemeClr val="bg1"/>
            </a:solidFill>
          </a:ln>
          <a:effectLst>
            <a:outerShdw blurRad="2032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grpSp>
        <p:nvGrpSpPr>
          <p:cNvPr id="7" name="组合 6"/>
          <p:cNvGrpSpPr/>
          <p:nvPr>
            <p:custDataLst>
              <p:tags r:id="rId5"/>
            </p:custDataLst>
          </p:nvPr>
        </p:nvGrpSpPr>
        <p:grpSpPr>
          <a:xfrm>
            <a:off x="543560" y="3505200"/>
            <a:ext cx="2075180" cy="1059180"/>
            <a:chOff x="968" y="3691"/>
            <a:chExt cx="3268" cy="1668"/>
          </a:xfrm>
        </p:grpSpPr>
        <p:sp>
          <p:nvSpPr>
            <p:cNvPr id="4" name="矩形 3"/>
            <p:cNvSpPr/>
            <p:nvPr>
              <p:custDataLst>
                <p:tags r:id="rId6"/>
              </p:custDataLst>
            </p:nvPr>
          </p:nvSpPr>
          <p:spPr>
            <a:xfrm>
              <a:off x="1784" y="3705"/>
              <a:ext cx="1311" cy="62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产业起步期</a:t>
              </a:r>
              <a:endParaRPr kumimoji="0" lang="zh-CN" altLang="en-US" sz="1000" b="1"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2008-2013</a:t>
              </a:r>
              <a:endParaRPr kumimoji="0" lang="en-US" altLang="zh-CN" sz="10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custDataLst>
                <p:tags r:id="rId7"/>
              </p:custDataLst>
            </p:nvPr>
          </p:nvSpPr>
          <p:spPr>
            <a:xfrm>
              <a:off x="968" y="4523"/>
              <a:ext cx="3268" cy="836"/>
            </a:xfrm>
            <a:prstGeom prst="rect">
              <a:avLst/>
            </a:prstGeom>
            <a:noFill/>
          </p:spPr>
          <p:txBody>
            <a:bodyPr wrap="square">
              <a:spAutoFit/>
            </a:bodyPr>
            <a:lstStyle/>
            <a:p>
              <a:pPr>
                <a:lnSpc>
                  <a:spcPct val="110000"/>
                </a:lnSpc>
                <a:defRPr/>
              </a:pPr>
              <a:r>
                <a:rPr lang="en-US" altLang="zh-CN" sz="1000" b="1" dirty="0">
                  <a:solidFill>
                    <a:schemeClr val="bg2">
                      <a:lumMod val="25000"/>
                    </a:schemeClr>
                  </a:solidFill>
                  <a:latin typeface="微软雅黑" panose="020B0503020204020204" charset="-122"/>
                  <a:ea typeface="微软雅黑" panose="020B0503020204020204" charset="-122"/>
                  <a:cs typeface="微软雅黑" panose="020B0503020204020204" charset="-122"/>
                </a:rPr>
                <a:t>“</a:t>
              </a:r>
              <a:r>
                <a:rPr lang="zh-CN" altLang="en-US" sz="1000" b="1" dirty="0">
                  <a:solidFill>
                    <a:schemeClr val="bg2">
                      <a:lumMod val="25000"/>
                    </a:schemeClr>
                  </a:solidFill>
                  <a:latin typeface="微软雅黑" panose="020B0503020204020204" charset="-122"/>
                  <a:ea typeface="微软雅黑" panose="020B0503020204020204" charset="-122"/>
                  <a:cs typeface="微软雅黑" panose="020B0503020204020204" charset="-122"/>
                </a:rPr>
                <a:t>抓住痛点，野蛮生长</a:t>
              </a:r>
              <a:r>
                <a:rPr lang="en-US" altLang="zh-CN" sz="1000" b="1" dirty="0">
                  <a:solidFill>
                    <a:schemeClr val="bg2">
                      <a:lumMod val="25000"/>
                    </a:schemeClr>
                  </a:solidFill>
                  <a:latin typeface="微软雅黑" panose="020B0503020204020204" charset="-122"/>
                  <a:ea typeface="微软雅黑" panose="020B0503020204020204" charset="-122"/>
                  <a:cs typeface="微软雅黑" panose="020B0503020204020204" charset="-122"/>
                </a:rPr>
                <a:t>”</a:t>
              </a:r>
              <a:endParaRPr lang="en-US" altLang="zh-CN" sz="1000" b="1" dirty="0">
                <a:solidFill>
                  <a:schemeClr val="bg2">
                    <a:lumMod val="25000"/>
                  </a:schemeClr>
                </a:solidFill>
                <a:latin typeface="微软雅黑" panose="020B0503020204020204" charset="-122"/>
                <a:ea typeface="微软雅黑" panose="020B0503020204020204" charset="-122"/>
                <a:cs typeface="微软雅黑" panose="020B0503020204020204" charset="-122"/>
              </a:endParaRPr>
            </a:p>
            <a:p>
              <a:pPr>
                <a:lnSpc>
                  <a:spcPct val="110000"/>
                </a:lnSpc>
                <a:defRPr/>
              </a:pPr>
              <a:r>
                <a:rPr lang="zh-CN" altLang="en-US" sz="800" dirty="0">
                  <a:solidFill>
                    <a:schemeClr val="bg2">
                      <a:lumMod val="25000"/>
                    </a:schemeClr>
                  </a:solidFill>
                  <a:latin typeface="微软雅黑" panose="020B0503020204020204" charset="-122"/>
                  <a:ea typeface="微软雅黑" panose="020B0503020204020204" charset="-122"/>
                  <a:cs typeface="微软雅黑" panose="020B0503020204020204" charset="-122"/>
                </a:rPr>
                <a:t>从</a:t>
              </a:r>
              <a:r>
                <a:rPr lang="en-US" altLang="zh-CN" sz="800" dirty="0">
                  <a:solidFill>
                    <a:schemeClr val="bg2">
                      <a:lumMod val="25000"/>
                    </a:schemeClr>
                  </a:solidFill>
                  <a:latin typeface="微软雅黑" panose="020B0503020204020204" charset="-122"/>
                  <a:ea typeface="微软雅黑" panose="020B0503020204020204" charset="-122"/>
                  <a:cs typeface="微软雅黑" panose="020B0503020204020204" charset="-122"/>
                </a:rPr>
                <a:t>PC</a:t>
              </a:r>
              <a:r>
                <a:rPr lang="zh-CN" altLang="en-US" sz="800" dirty="0">
                  <a:solidFill>
                    <a:schemeClr val="bg2">
                      <a:lumMod val="25000"/>
                    </a:schemeClr>
                  </a:solidFill>
                  <a:latin typeface="微软雅黑" panose="020B0503020204020204" charset="-122"/>
                  <a:ea typeface="微软雅黑" panose="020B0503020204020204" charset="-122"/>
                  <a:cs typeface="微软雅黑" panose="020B0503020204020204" charset="-122"/>
                </a:rPr>
                <a:t>端修图软件起步，敏锐捕捉移动互联网浪潮，奠定</a:t>
              </a:r>
              <a:r>
                <a:rPr lang="en-US" altLang="zh-CN" sz="800" dirty="0">
                  <a:solidFill>
                    <a:schemeClr val="bg2">
                      <a:lumMod val="25000"/>
                    </a:schemeClr>
                  </a:solidFill>
                  <a:latin typeface="微软雅黑" panose="020B0503020204020204" charset="-122"/>
                  <a:ea typeface="微软雅黑" panose="020B0503020204020204" charset="-122"/>
                  <a:cs typeface="微软雅黑" panose="020B0503020204020204" charset="-122"/>
                </a:rPr>
                <a:t>“</a:t>
              </a:r>
              <a:r>
                <a:rPr lang="zh-CN" altLang="en-US" sz="800" dirty="0">
                  <a:solidFill>
                    <a:schemeClr val="bg2">
                      <a:lumMod val="25000"/>
                    </a:schemeClr>
                  </a:solidFill>
                  <a:latin typeface="微软雅黑" panose="020B0503020204020204" charset="-122"/>
                  <a:ea typeface="微软雅黑" panose="020B0503020204020204" charset="-122"/>
                  <a:cs typeface="微软雅黑" panose="020B0503020204020204" charset="-122"/>
                </a:rPr>
                <a:t>国民修图工具</a:t>
              </a:r>
              <a:r>
                <a:rPr lang="en-US" altLang="zh-CN" sz="800" dirty="0">
                  <a:solidFill>
                    <a:schemeClr val="bg2">
                      <a:lumMod val="25000"/>
                    </a:schemeClr>
                  </a:solidFill>
                  <a:latin typeface="微软雅黑" panose="020B0503020204020204" charset="-122"/>
                  <a:ea typeface="微软雅黑" panose="020B0503020204020204" charset="-122"/>
                  <a:cs typeface="微软雅黑" panose="020B0503020204020204" charset="-122"/>
                </a:rPr>
                <a:t>”</a:t>
              </a:r>
              <a:r>
                <a:rPr lang="zh-CN" altLang="en-US" sz="800" dirty="0">
                  <a:solidFill>
                    <a:schemeClr val="bg2">
                      <a:lumMod val="25000"/>
                    </a:schemeClr>
                  </a:solidFill>
                  <a:latin typeface="微软雅黑" panose="020B0503020204020204" charset="-122"/>
                  <a:ea typeface="微软雅黑" panose="020B0503020204020204" charset="-122"/>
                  <a:cs typeface="微软雅黑" panose="020B0503020204020204" charset="-122"/>
                </a:rPr>
                <a:t>的根基。</a:t>
              </a:r>
              <a:endParaRPr lang="zh-CN" altLang="en-US" sz="800" dirty="0">
                <a:solidFill>
                  <a:schemeClr val="bg2">
                    <a:lumMod val="25000"/>
                  </a:schemeClr>
                </a:solidFill>
                <a:latin typeface="微软雅黑" panose="020B0503020204020204" charset="-122"/>
                <a:ea typeface="微软雅黑" panose="020B0503020204020204" charset="-122"/>
                <a:cs typeface="微软雅黑" panose="020B0503020204020204" charset="-122"/>
              </a:endParaRPr>
            </a:p>
          </p:txBody>
        </p:sp>
        <p:sp>
          <p:nvSpPr>
            <p:cNvPr id="60" name="圆角矩形 59"/>
            <p:cNvSpPr/>
            <p:nvPr>
              <p:custDataLst>
                <p:tags r:id="rId8"/>
              </p:custDataLst>
            </p:nvPr>
          </p:nvSpPr>
          <p:spPr>
            <a:xfrm>
              <a:off x="1091" y="3691"/>
              <a:ext cx="655" cy="655"/>
            </a:xfrm>
            <a:prstGeom prst="roundRect">
              <a:avLst/>
            </a:prstGeom>
            <a:solidFill>
              <a:schemeClr val="accent1">
                <a:lumMod val="60000"/>
                <a:lumOff val="40000"/>
              </a:schemeClr>
            </a:solidFill>
            <a:ln>
              <a:noFill/>
            </a:ln>
            <a:effectLst>
              <a:outerShdw blurRad="228600" dist="38100" dir="5400000" sx="112000" sy="112000" algn="t" rotWithShape="0">
                <a:schemeClr val="accent1">
                  <a:lumMod val="60000"/>
                  <a:lumOff val="40000"/>
                  <a:alpha val="32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61" name="文本框 60"/>
            <p:cNvSpPr txBox="1"/>
            <p:nvPr>
              <p:custDataLst>
                <p:tags r:id="rId9"/>
              </p:custDataLst>
            </p:nvPr>
          </p:nvSpPr>
          <p:spPr>
            <a:xfrm>
              <a:off x="1078" y="3753"/>
              <a:ext cx="682" cy="531"/>
            </a:xfrm>
            <a:prstGeom prst="rect">
              <a:avLst/>
            </a:prstGeom>
            <a:noFill/>
          </p:spPr>
          <p:txBody>
            <a:bodyPr wrap="none" rtlCol="0">
              <a:spAutoFit/>
            </a:bodyPr>
            <a:lstStyle/>
            <a:p>
              <a:r>
                <a:rPr kumimoji="1" lang="en-US" altLang="zh-CN" sz="1600" b="1" dirty="0">
                  <a:solidFill>
                    <a:schemeClr val="bg1"/>
                  </a:solidFill>
                  <a:latin typeface="微软雅黑" panose="020B0503020204020204" charset="-122"/>
                  <a:ea typeface="微软雅黑" panose="020B0503020204020204" charset="-122"/>
                  <a:cs typeface="微软雅黑" panose="020B0503020204020204" charset="-122"/>
                </a:rPr>
                <a:t>01</a:t>
              </a:r>
              <a:endParaRPr kumimoji="1" lang="en-US" altLang="zh-CN" sz="16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sp>
        <p:nvSpPr>
          <p:cNvPr id="9" name="文本框 8"/>
          <p:cNvSpPr txBox="1"/>
          <p:nvPr/>
        </p:nvSpPr>
        <p:spPr>
          <a:xfrm>
            <a:off x="621665" y="5314315"/>
            <a:ext cx="2693035" cy="1419860"/>
          </a:xfrm>
          <a:prstGeom prst="rect">
            <a:avLst/>
          </a:prstGeom>
          <a:noFill/>
        </p:spPr>
        <p:txBody>
          <a:bodyPr wrap="square" rtlCol="0">
            <a:spAutoFit/>
          </a:bodyPr>
          <a:lstStyle/>
          <a:p>
            <a:pPr>
              <a:lnSpc>
                <a:spcPct val="120000"/>
              </a:lnSpc>
              <a:defRPr/>
            </a:pPr>
            <a:r>
              <a:rPr lang="en-US" altLang="zh-CN" sz="900" b="1" dirty="0">
                <a:solidFill>
                  <a:schemeClr val="tx2"/>
                </a:solidFill>
                <a:latin typeface="微软雅黑" panose="020B0503020204020204" charset="-122"/>
                <a:ea typeface="微软雅黑" panose="020B0503020204020204" charset="-122"/>
                <a:cs typeface="微软雅黑" panose="020B0503020204020204" charset="-122"/>
              </a:rPr>
              <a:t>1. 2008</a:t>
            </a:r>
            <a:r>
              <a:rPr lang="zh-CN" altLang="en-US" sz="900" b="1" dirty="0">
                <a:solidFill>
                  <a:schemeClr val="tx2"/>
                </a:solidFill>
                <a:latin typeface="微软雅黑" panose="020B0503020204020204" charset="-122"/>
                <a:ea typeface="微软雅黑" panose="020B0503020204020204" charset="-122"/>
                <a:cs typeface="微软雅黑" panose="020B0503020204020204" charset="-122"/>
              </a:rPr>
              <a:t>年</a:t>
            </a:r>
            <a:r>
              <a:rPr lang="en-US" altLang="zh-CN" sz="900" b="1" dirty="0">
                <a:solidFill>
                  <a:schemeClr val="tx2"/>
                </a:solidFill>
                <a:latin typeface="微软雅黑" panose="020B0503020204020204" charset="-122"/>
                <a:ea typeface="微软雅黑" panose="020B0503020204020204" charset="-122"/>
                <a:cs typeface="微软雅黑" panose="020B0503020204020204" charset="-122"/>
              </a:rPr>
              <a:t>10</a:t>
            </a:r>
            <a:r>
              <a:rPr lang="zh-CN" altLang="en-US" sz="900" b="1" dirty="0">
                <a:solidFill>
                  <a:schemeClr val="tx2"/>
                </a:solidFill>
                <a:latin typeface="微软雅黑" panose="020B0503020204020204" charset="-122"/>
                <a:ea typeface="微软雅黑" panose="020B0503020204020204" charset="-122"/>
                <a:cs typeface="微软雅黑" panose="020B0503020204020204" charset="-122"/>
              </a:rPr>
              <a:t>月：</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推出美图秀秀</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rPr>
              <a:t>PC</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版，以</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傻瓜式</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修图快速占领市场。</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a:p>
            <a:pPr>
              <a:lnSpc>
                <a:spcPct val="120000"/>
              </a:lnSpc>
              <a:defRPr/>
            </a:pPr>
            <a:r>
              <a:rPr lang="en-US" altLang="zh-CN" sz="900" b="1" dirty="0">
                <a:solidFill>
                  <a:schemeClr val="tx2"/>
                </a:solidFill>
                <a:latin typeface="微软雅黑" panose="020B0503020204020204" charset="-122"/>
                <a:ea typeface="微软雅黑" panose="020B0503020204020204" charset="-122"/>
                <a:cs typeface="微软雅黑" panose="020B0503020204020204" charset="-122"/>
              </a:rPr>
              <a:t>2. 2011</a:t>
            </a:r>
            <a:r>
              <a:rPr lang="zh-CN" altLang="en-US" sz="900" b="1" dirty="0">
                <a:solidFill>
                  <a:schemeClr val="tx2"/>
                </a:solidFill>
                <a:latin typeface="微软雅黑" panose="020B0503020204020204" charset="-122"/>
                <a:ea typeface="微软雅黑" panose="020B0503020204020204" charset="-122"/>
                <a:cs typeface="微软雅黑" panose="020B0503020204020204" charset="-122"/>
              </a:rPr>
              <a:t>年</a:t>
            </a:r>
            <a:r>
              <a:rPr lang="en-US" altLang="zh-CN" sz="900" b="1" dirty="0">
                <a:solidFill>
                  <a:schemeClr val="tx2"/>
                </a:solidFill>
                <a:latin typeface="微软雅黑" panose="020B0503020204020204" charset="-122"/>
                <a:ea typeface="微软雅黑" panose="020B0503020204020204" charset="-122"/>
                <a:cs typeface="微软雅黑" panose="020B0503020204020204" charset="-122"/>
              </a:rPr>
              <a:t>2</a:t>
            </a:r>
            <a:r>
              <a:rPr lang="zh-CN" altLang="en-US" sz="900" b="1" dirty="0">
                <a:solidFill>
                  <a:schemeClr val="tx2"/>
                </a:solidFill>
                <a:latin typeface="微软雅黑" panose="020B0503020204020204" charset="-122"/>
                <a:ea typeface="微软雅黑" panose="020B0503020204020204" charset="-122"/>
                <a:cs typeface="微软雅黑" panose="020B0503020204020204" charset="-122"/>
              </a:rPr>
              <a:t>月：</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推出美图秀秀移动版，完成从</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rPr>
              <a:t>PC</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到移动端的关键转型。</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a:p>
            <a:pPr>
              <a:lnSpc>
                <a:spcPct val="120000"/>
              </a:lnSpc>
              <a:defRPr/>
            </a:pPr>
            <a:r>
              <a:rPr lang="en-US" altLang="zh-CN" sz="900" b="1" dirty="0">
                <a:solidFill>
                  <a:schemeClr val="tx2"/>
                </a:solidFill>
                <a:latin typeface="微软雅黑" panose="020B0503020204020204" charset="-122"/>
                <a:ea typeface="微软雅黑" panose="020B0503020204020204" charset="-122"/>
                <a:cs typeface="微软雅黑" panose="020B0503020204020204" charset="-122"/>
              </a:rPr>
              <a:t>3. 2012</a:t>
            </a:r>
            <a:r>
              <a:rPr lang="zh-CN" altLang="en-US" sz="900" b="1" dirty="0">
                <a:solidFill>
                  <a:schemeClr val="tx2"/>
                </a:solidFill>
                <a:latin typeface="微软雅黑" panose="020B0503020204020204" charset="-122"/>
                <a:ea typeface="微软雅黑" panose="020B0503020204020204" charset="-122"/>
                <a:cs typeface="微软雅黑" panose="020B0503020204020204" charset="-122"/>
              </a:rPr>
              <a:t>年</a:t>
            </a:r>
            <a:r>
              <a:rPr lang="en-US" altLang="zh-CN" sz="900" b="1" dirty="0">
                <a:solidFill>
                  <a:schemeClr val="tx2"/>
                </a:solidFill>
                <a:latin typeface="微软雅黑" panose="020B0503020204020204" charset="-122"/>
                <a:ea typeface="微软雅黑" panose="020B0503020204020204" charset="-122"/>
                <a:cs typeface="微软雅黑" panose="020B0503020204020204" charset="-122"/>
              </a:rPr>
              <a:t>12</a:t>
            </a:r>
            <a:r>
              <a:rPr lang="zh-CN" altLang="en-US" sz="900" b="1" dirty="0">
                <a:solidFill>
                  <a:schemeClr val="tx2"/>
                </a:solidFill>
                <a:latin typeface="微软雅黑" panose="020B0503020204020204" charset="-122"/>
                <a:ea typeface="微软雅黑" panose="020B0503020204020204" charset="-122"/>
                <a:cs typeface="微软雅黑" panose="020B0503020204020204" charset="-122"/>
              </a:rPr>
              <a:t>月：</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美图秀秀</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rPr>
              <a:t>PC</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端</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移动端用户数突破</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rPr>
              <a:t>2</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亿。</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a:p>
            <a:pPr>
              <a:lnSpc>
                <a:spcPct val="120000"/>
              </a:lnSpc>
              <a:defRPr/>
            </a:pPr>
            <a:r>
              <a:rPr lang="en-US" altLang="zh-CN" sz="900" b="1" dirty="0">
                <a:solidFill>
                  <a:schemeClr val="tx2"/>
                </a:solidFill>
                <a:latin typeface="微软雅黑" panose="020B0503020204020204" charset="-122"/>
                <a:ea typeface="微软雅黑" panose="020B0503020204020204" charset="-122"/>
                <a:cs typeface="微软雅黑" panose="020B0503020204020204" charset="-122"/>
              </a:rPr>
              <a:t>4. 2013</a:t>
            </a:r>
            <a:r>
              <a:rPr lang="zh-CN" altLang="en-US" sz="900" b="1" dirty="0">
                <a:solidFill>
                  <a:schemeClr val="tx2"/>
                </a:solidFill>
                <a:latin typeface="微软雅黑" panose="020B0503020204020204" charset="-122"/>
                <a:ea typeface="微软雅黑" panose="020B0503020204020204" charset="-122"/>
                <a:cs typeface="微软雅黑" panose="020B0503020204020204" charset="-122"/>
              </a:rPr>
              <a:t>年</a:t>
            </a:r>
            <a:r>
              <a:rPr lang="en-US" altLang="zh-CN" sz="900" b="1" dirty="0">
                <a:solidFill>
                  <a:schemeClr val="tx2"/>
                </a:solidFill>
                <a:latin typeface="微软雅黑" panose="020B0503020204020204" charset="-122"/>
                <a:ea typeface="微软雅黑" panose="020B0503020204020204" charset="-122"/>
                <a:cs typeface="微软雅黑" panose="020B0503020204020204" charset="-122"/>
              </a:rPr>
              <a:t>1</a:t>
            </a:r>
            <a:r>
              <a:rPr lang="zh-CN" altLang="en-US" sz="900" b="1" dirty="0">
                <a:solidFill>
                  <a:schemeClr val="tx2"/>
                </a:solidFill>
                <a:latin typeface="微软雅黑" panose="020B0503020204020204" charset="-122"/>
                <a:ea typeface="微软雅黑" panose="020B0503020204020204" charset="-122"/>
                <a:cs typeface="微软雅黑" panose="020B0503020204020204" charset="-122"/>
              </a:rPr>
              <a:t>月：</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推出美颜相机，首创</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一键美颜</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功能，首年用户即破亿</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3606165" y="4730750"/>
            <a:ext cx="2583180" cy="1751965"/>
          </a:xfrm>
          <a:prstGeom prst="rect">
            <a:avLst/>
          </a:prstGeom>
          <a:noFill/>
        </p:spPr>
        <p:txBody>
          <a:bodyPr wrap="square" rtlCol="0">
            <a:spAutoFit/>
          </a:bodyPr>
          <a:lstStyle/>
          <a:p>
            <a:pPr lvl="0" algn="l">
              <a:lnSpc>
                <a:spcPct val="120000"/>
              </a:lnSpc>
              <a:buClrTx/>
              <a:buSzTx/>
              <a:buFontTx/>
              <a:defRPr/>
            </a:pPr>
            <a:r>
              <a:rPr lang="en-US" altLang="zh-CN" sz="900" b="1" dirty="0">
                <a:solidFill>
                  <a:schemeClr val="tx2"/>
                </a:solidFill>
                <a:latin typeface="微软雅黑" panose="020B0503020204020204" charset="-122"/>
                <a:ea typeface="微软雅黑" panose="020B0503020204020204" charset="-122"/>
                <a:cs typeface="微软雅黑" panose="020B0503020204020204" charset="-122"/>
                <a:sym typeface="+mn-ea"/>
              </a:rPr>
              <a:t>1. 2013年5月：</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rPr>
              <a:t>发布首款美图手机，开创“自拍手机”品类，一度成为公司最大收入来源。</a:t>
            </a:r>
            <a:endPar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l">
              <a:lnSpc>
                <a:spcPct val="120000"/>
              </a:lnSpc>
              <a:buClrTx/>
              <a:buSzTx/>
              <a:buFontTx/>
              <a:defRPr/>
            </a:pPr>
            <a:r>
              <a:rPr lang="en-US" altLang="zh-CN" sz="900" b="1" dirty="0">
                <a:solidFill>
                  <a:schemeClr val="tx2"/>
                </a:solidFill>
                <a:latin typeface="微软雅黑" panose="020B0503020204020204" charset="-122"/>
                <a:ea typeface="微软雅黑" panose="020B0503020204020204" charset="-122"/>
                <a:cs typeface="微软雅黑" panose="020B0503020204020204" charset="-122"/>
                <a:sym typeface="+mn-ea"/>
              </a:rPr>
              <a:t>2. 2014年5月：</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rPr>
              <a:t>推出短视频社区美拍，上线后连续24天蝉联App Store免费总榜冠军，成为早期短视频领头羊。</a:t>
            </a:r>
            <a:endPar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l">
              <a:lnSpc>
                <a:spcPct val="120000"/>
              </a:lnSpc>
              <a:buClrTx/>
              <a:buSzTx/>
              <a:buFontTx/>
              <a:defRPr/>
            </a:pPr>
            <a:r>
              <a:rPr lang="en-US" altLang="zh-CN" sz="900" b="1" dirty="0">
                <a:solidFill>
                  <a:schemeClr val="tx2"/>
                </a:solidFill>
                <a:latin typeface="微软雅黑" panose="020B0503020204020204" charset="-122"/>
                <a:ea typeface="微软雅黑" panose="020B0503020204020204" charset="-122"/>
                <a:cs typeface="微软雅黑" panose="020B0503020204020204" charset="-122"/>
                <a:sym typeface="+mn-ea"/>
              </a:rPr>
              <a:t>3. 2016年12月15日：</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rPr>
              <a:t>在香港联交所主板挂牌上市（股票代码：1357.HK），成为腾讯之后港股最大的科技企业IPO。</a:t>
            </a:r>
            <a:endPar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l">
              <a:lnSpc>
                <a:spcPct val="120000"/>
              </a:lnSpc>
              <a:buClrTx/>
              <a:buSzTx/>
              <a:buFontTx/>
              <a:defRPr/>
            </a:pPr>
            <a:r>
              <a:rPr lang="en-US" altLang="zh-CN" sz="900" b="1" dirty="0">
                <a:solidFill>
                  <a:schemeClr val="tx2"/>
                </a:solidFill>
                <a:latin typeface="微软雅黑" panose="020B0503020204020204" charset="-122"/>
                <a:ea typeface="微软雅黑" panose="020B0503020204020204" charset="-122"/>
                <a:cs typeface="微软雅黑" panose="020B0503020204020204" charset="-122"/>
                <a:sym typeface="+mn-ea"/>
              </a:rPr>
              <a:t>4. 2017年3月：</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rPr>
              <a:t>市值一度突破970亿港元，达到历史巅。</a:t>
            </a:r>
            <a:endPar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0" name="文本框 9"/>
          <p:cNvSpPr txBox="1"/>
          <p:nvPr/>
        </p:nvSpPr>
        <p:spPr>
          <a:xfrm>
            <a:off x="6480810" y="3921125"/>
            <a:ext cx="2693035" cy="1751965"/>
          </a:xfrm>
          <a:prstGeom prst="rect">
            <a:avLst/>
          </a:prstGeom>
          <a:noFill/>
        </p:spPr>
        <p:txBody>
          <a:bodyPr wrap="square" rtlCol="0">
            <a:spAutoFit/>
          </a:bodyPr>
          <a:lstStyle/>
          <a:p>
            <a:pPr lvl="0" algn="l">
              <a:lnSpc>
                <a:spcPct val="120000"/>
              </a:lnSpc>
              <a:buClrTx/>
              <a:buSzTx/>
              <a:buFontTx/>
              <a:defRPr/>
            </a:pPr>
            <a:r>
              <a:rPr lang="en-US" altLang="zh-CN" sz="900" b="1" dirty="0">
                <a:solidFill>
                  <a:schemeClr val="tx2"/>
                </a:solidFill>
                <a:latin typeface="微软雅黑" panose="020B0503020204020204" charset="-122"/>
                <a:ea typeface="微软雅黑" panose="020B0503020204020204" charset="-122"/>
                <a:cs typeface="微软雅黑" panose="020B0503020204020204" charset="-122"/>
                <a:sym typeface="+mn-ea"/>
              </a:rPr>
              <a:t>1. 2018年11月：</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rPr>
              <a:t>将美图手机品牌授权给小米，正式关停手机业务。</a:t>
            </a:r>
            <a:endPar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l">
              <a:lnSpc>
                <a:spcPct val="120000"/>
              </a:lnSpc>
              <a:buClrTx/>
              <a:buSzTx/>
              <a:buFontTx/>
              <a:defRPr/>
            </a:pPr>
            <a:r>
              <a:rPr lang="en-US" altLang="zh-CN" sz="900" b="1" dirty="0">
                <a:solidFill>
                  <a:schemeClr val="tx2"/>
                </a:solidFill>
                <a:latin typeface="微软雅黑" panose="020B0503020204020204" charset="-122"/>
                <a:ea typeface="微软雅黑" panose="020B0503020204020204" charset="-122"/>
                <a:cs typeface="微软雅黑" panose="020B0503020204020204" charset="-122"/>
                <a:sym typeface="+mn-ea"/>
              </a:rPr>
              <a:t>2. 2018年：</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rPr>
              <a:t>美拍用户流失严重，从巅峰期过亿日活跌至不足千万。</a:t>
            </a:r>
            <a:endPar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l">
              <a:lnSpc>
                <a:spcPct val="120000"/>
              </a:lnSpc>
              <a:buClrTx/>
              <a:buSzTx/>
              <a:buFontTx/>
              <a:defRPr/>
            </a:pPr>
            <a:r>
              <a:rPr lang="en-US" altLang="zh-CN" sz="900" b="1" dirty="0">
                <a:solidFill>
                  <a:schemeClr val="tx2"/>
                </a:solidFill>
                <a:latin typeface="微软雅黑" panose="020B0503020204020204" charset="-122"/>
                <a:ea typeface="微软雅黑" panose="020B0503020204020204" charset="-122"/>
                <a:cs typeface="微软雅黑" panose="020B0503020204020204" charset="-122"/>
                <a:sym typeface="+mn-ea"/>
              </a:rPr>
              <a:t>3. 2019年：</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rPr>
              <a:t>公司全年净亏损1.9亿元，员工从3300多人骤降至1300多人。</a:t>
            </a:r>
            <a:endPar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l">
              <a:lnSpc>
                <a:spcPct val="120000"/>
              </a:lnSpc>
              <a:buClrTx/>
              <a:buSzTx/>
              <a:buFontTx/>
              <a:defRPr/>
            </a:pPr>
            <a:r>
              <a:rPr lang="en-US" altLang="zh-CN" sz="900" b="1" dirty="0">
                <a:solidFill>
                  <a:schemeClr val="tx2"/>
                </a:solidFill>
                <a:latin typeface="微软雅黑" panose="020B0503020204020204" charset="-122"/>
                <a:ea typeface="微软雅黑" panose="020B0503020204020204" charset="-122"/>
                <a:cs typeface="微软雅黑" panose="020B0503020204020204" charset="-122"/>
                <a:sym typeface="+mn-ea"/>
              </a:rPr>
              <a:t>4. 2021年3月：</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rPr>
              <a:t>高调进军加密货币，购入比特币和以太币，随后因币价波动产生巨额账面亏损。</a:t>
            </a:r>
            <a:endPar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l">
              <a:lnSpc>
                <a:spcPct val="120000"/>
              </a:lnSpc>
              <a:buClrTx/>
              <a:buSzTx/>
              <a:buFontTx/>
              <a:defRPr/>
            </a:pPr>
            <a:r>
              <a:rPr lang="en-US" altLang="zh-CN" sz="900" b="1" dirty="0">
                <a:solidFill>
                  <a:schemeClr val="tx2"/>
                </a:solidFill>
                <a:latin typeface="微软雅黑" panose="020B0503020204020204" charset="-122"/>
                <a:ea typeface="微软雅黑" panose="020B0503020204020204" charset="-122"/>
                <a:cs typeface="微软雅黑" panose="020B0503020204020204" charset="-122"/>
                <a:sym typeface="+mn-ea"/>
              </a:rPr>
              <a:t>5. 2021年底：</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rPr>
              <a:t>月活跃用户较2016年上市时流失一半</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mn-ea"/>
              </a:rPr>
              <a:t>。</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1" name="文本框 10"/>
          <p:cNvSpPr txBox="1"/>
          <p:nvPr/>
        </p:nvSpPr>
        <p:spPr>
          <a:xfrm>
            <a:off x="9465310" y="2813050"/>
            <a:ext cx="2534920" cy="2084070"/>
          </a:xfrm>
          <a:prstGeom prst="rect">
            <a:avLst/>
          </a:prstGeom>
          <a:noFill/>
        </p:spPr>
        <p:txBody>
          <a:bodyPr wrap="square" rtlCol="0">
            <a:spAutoFit/>
          </a:bodyPr>
          <a:lstStyle/>
          <a:p>
            <a:pPr lvl="0" algn="l">
              <a:lnSpc>
                <a:spcPct val="120000"/>
              </a:lnSpc>
              <a:buClrTx/>
              <a:buSzTx/>
              <a:buFontTx/>
              <a:defRPr/>
            </a:pPr>
            <a:r>
              <a:rPr lang="en-US" altLang="zh-CN" sz="900" b="1" dirty="0">
                <a:solidFill>
                  <a:schemeClr val="tx2"/>
                </a:solidFill>
                <a:latin typeface="微软雅黑" panose="020B0503020204020204" charset="-122"/>
                <a:ea typeface="微软雅黑" panose="020B0503020204020204" charset="-122"/>
                <a:cs typeface="微软雅黑" panose="020B0503020204020204" charset="-122"/>
                <a:sym typeface="+mn-ea"/>
              </a:rPr>
              <a:t>1. 2022年底：</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rPr>
              <a:t>美图秀秀凭借AI绘画功能风靡全球，登顶美国、日本等数十个国家应用商店榜首。</a:t>
            </a:r>
            <a:endPar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l">
              <a:lnSpc>
                <a:spcPct val="120000"/>
              </a:lnSpc>
              <a:buClrTx/>
              <a:buSzTx/>
              <a:buFontTx/>
              <a:defRPr/>
            </a:pPr>
            <a:r>
              <a:rPr lang="en-US" altLang="zh-CN" sz="900" b="1" dirty="0">
                <a:solidFill>
                  <a:schemeClr val="tx2"/>
                </a:solidFill>
                <a:latin typeface="微软雅黑" panose="020B0503020204020204" charset="-122"/>
                <a:ea typeface="微软雅黑" panose="020B0503020204020204" charset="-122"/>
                <a:cs typeface="微软雅黑" panose="020B0503020204020204" charset="-122"/>
                <a:sym typeface="+mn-ea"/>
              </a:rPr>
              <a:t>2. 2023年：</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rPr>
              <a:t>吴欣鸿重掌董事长之位，发布自研视觉大模型MiracleVision及七大AI生产力工具。</a:t>
            </a:r>
            <a:endPar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l">
              <a:lnSpc>
                <a:spcPct val="120000"/>
              </a:lnSpc>
              <a:buClrTx/>
              <a:buSzTx/>
              <a:buFontTx/>
              <a:defRPr/>
            </a:pPr>
            <a:r>
              <a:rPr lang="en-US" altLang="zh-CN" sz="900" b="1" dirty="0">
                <a:solidFill>
                  <a:schemeClr val="tx2"/>
                </a:solidFill>
                <a:latin typeface="微软雅黑" panose="020B0503020204020204" charset="-122"/>
                <a:ea typeface="微软雅黑" panose="020B0503020204020204" charset="-122"/>
                <a:cs typeface="微软雅黑" panose="020B0503020204020204" charset="-122"/>
                <a:sym typeface="+mn-ea"/>
              </a:rPr>
              <a:t>3. 2023年：</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rPr>
              <a:t>经调整净利润3.7亿元，同比增长233.2%，实现历史性逆转。</a:t>
            </a:r>
            <a:endPar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l">
              <a:lnSpc>
                <a:spcPct val="120000"/>
              </a:lnSpc>
              <a:buClrTx/>
              <a:buSzTx/>
              <a:buFontTx/>
              <a:defRPr/>
            </a:pPr>
            <a:r>
              <a:rPr lang="en-US" altLang="zh-CN" sz="900" b="1" dirty="0">
                <a:solidFill>
                  <a:schemeClr val="tx2"/>
                </a:solidFill>
                <a:latin typeface="微软雅黑" panose="020B0503020204020204" charset="-122"/>
                <a:ea typeface="微软雅黑" panose="020B0503020204020204" charset="-122"/>
                <a:cs typeface="微软雅黑" panose="020B0503020204020204" charset="-122"/>
                <a:sym typeface="+mn-ea"/>
              </a:rPr>
              <a:t>4. 2024年：</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rPr>
              <a:t>付费订阅用户突破1261万，付费渗透率提升至4.7%。</a:t>
            </a:r>
            <a:endPar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l">
              <a:lnSpc>
                <a:spcPct val="120000"/>
              </a:lnSpc>
              <a:buClrTx/>
              <a:buSzTx/>
              <a:buFontTx/>
              <a:defRPr/>
            </a:pPr>
            <a:r>
              <a:rPr lang="en-US" altLang="zh-CN" sz="900" b="1" dirty="0">
                <a:solidFill>
                  <a:schemeClr val="tx2"/>
                </a:solidFill>
                <a:latin typeface="微软雅黑" panose="020B0503020204020204" charset="-122"/>
                <a:ea typeface="微软雅黑" panose="020B0503020204020204" charset="-122"/>
                <a:cs typeface="微软雅黑" panose="020B0503020204020204" charset="-122"/>
                <a:sym typeface="+mn-ea"/>
              </a:rPr>
              <a:t>5. 2025年6月：</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sym typeface="+mn-ea"/>
              </a:rPr>
              <a:t>全球月活跃用户数达2.8亿，其中海外用户9800万</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mn-ea"/>
              </a:rPr>
              <a:t>。</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nvGrpSpPr>
          <p:cNvPr id="55" name="组合 54"/>
          <p:cNvGrpSpPr/>
          <p:nvPr>
            <p:custDataLst>
              <p:tags r:id="rId10"/>
            </p:custDataLst>
          </p:nvPr>
        </p:nvGrpSpPr>
        <p:grpSpPr>
          <a:xfrm>
            <a:off x="3108960" y="2746375"/>
            <a:ext cx="2075180" cy="1059180"/>
            <a:chOff x="968" y="3691"/>
            <a:chExt cx="3268" cy="1668"/>
          </a:xfrm>
        </p:grpSpPr>
        <p:sp>
          <p:nvSpPr>
            <p:cNvPr id="56" name="矩形 55"/>
            <p:cNvSpPr/>
            <p:nvPr>
              <p:custDataLst>
                <p:tags r:id="rId11"/>
              </p:custDataLst>
            </p:nvPr>
          </p:nvSpPr>
          <p:spPr>
            <a:xfrm>
              <a:off x="1784" y="3705"/>
              <a:ext cx="1488" cy="62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多元化探索期</a:t>
              </a:r>
              <a:endParaRPr kumimoji="0" lang="zh-CN" altLang="en-US" sz="1000" b="1"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2013-2018</a:t>
              </a:r>
              <a:endParaRPr kumimoji="0" lang="en-US" altLang="zh-CN" sz="10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8" name="文本框 57"/>
            <p:cNvSpPr txBox="1"/>
            <p:nvPr>
              <p:custDataLst>
                <p:tags r:id="rId12"/>
              </p:custDataLst>
            </p:nvPr>
          </p:nvSpPr>
          <p:spPr>
            <a:xfrm>
              <a:off x="968" y="4523"/>
              <a:ext cx="3268" cy="836"/>
            </a:xfrm>
            <a:prstGeom prst="rect">
              <a:avLst/>
            </a:prstGeom>
            <a:noFill/>
          </p:spPr>
          <p:txBody>
            <a:bodyPr wrap="square">
              <a:spAutoFit/>
            </a:bodyPr>
            <a:lstStyle/>
            <a:p>
              <a:pPr>
                <a:lnSpc>
                  <a:spcPct val="110000"/>
                </a:lnSpc>
                <a:defRPr/>
              </a:pPr>
              <a:r>
                <a:rPr lang="en-US" altLang="zh-CN" sz="1000" b="1" dirty="0">
                  <a:solidFill>
                    <a:schemeClr val="bg2">
                      <a:lumMod val="25000"/>
                    </a:schemeClr>
                  </a:solidFill>
                  <a:latin typeface="微软雅黑" panose="020B0503020204020204" charset="-122"/>
                  <a:ea typeface="微软雅黑" panose="020B0503020204020204" charset="-122"/>
                  <a:cs typeface="微软雅黑" panose="020B0503020204020204" charset="-122"/>
                </a:rPr>
                <a:t>“</a:t>
              </a:r>
              <a:r>
                <a:rPr lang="zh-CN" altLang="en-US" sz="1000" b="1" dirty="0">
                  <a:solidFill>
                    <a:schemeClr val="bg2">
                      <a:lumMod val="25000"/>
                    </a:schemeClr>
                  </a:solidFill>
                  <a:latin typeface="微软雅黑" panose="020B0503020204020204" charset="-122"/>
                  <a:ea typeface="微软雅黑" panose="020B0503020204020204" charset="-122"/>
                  <a:cs typeface="微软雅黑" panose="020B0503020204020204" charset="-122"/>
                </a:rPr>
                <a:t>追风逐浪，高光坠落</a:t>
              </a:r>
              <a:r>
                <a:rPr lang="en-US" altLang="zh-CN" sz="1000" b="1" dirty="0">
                  <a:solidFill>
                    <a:schemeClr val="bg2">
                      <a:lumMod val="25000"/>
                    </a:schemeClr>
                  </a:solidFill>
                  <a:latin typeface="微软雅黑" panose="020B0503020204020204" charset="-122"/>
                  <a:ea typeface="微软雅黑" panose="020B0503020204020204" charset="-122"/>
                  <a:cs typeface="微软雅黑" panose="020B0503020204020204" charset="-122"/>
                </a:rPr>
                <a:t>”</a:t>
              </a:r>
              <a:endParaRPr lang="en-US" altLang="zh-CN" sz="1000" b="1" dirty="0">
                <a:solidFill>
                  <a:schemeClr val="bg2">
                    <a:lumMod val="25000"/>
                  </a:schemeClr>
                </a:solidFill>
                <a:latin typeface="微软雅黑" panose="020B0503020204020204" charset="-122"/>
                <a:ea typeface="微软雅黑" panose="020B0503020204020204" charset="-122"/>
                <a:cs typeface="微软雅黑" panose="020B0503020204020204" charset="-122"/>
              </a:endParaRPr>
            </a:p>
            <a:p>
              <a:pPr>
                <a:lnSpc>
                  <a:spcPct val="110000"/>
                </a:lnSpc>
                <a:defRPr/>
              </a:pPr>
              <a:r>
                <a:rPr lang="zh-CN" altLang="en-US" sz="800" dirty="0">
                  <a:solidFill>
                    <a:schemeClr val="bg2">
                      <a:lumMod val="25000"/>
                    </a:schemeClr>
                  </a:solidFill>
                  <a:latin typeface="微软雅黑" panose="020B0503020204020204" charset="-122"/>
                  <a:ea typeface="微软雅黑" panose="020B0503020204020204" charset="-122"/>
                  <a:cs typeface="微软雅黑" panose="020B0503020204020204" charset="-122"/>
                </a:rPr>
                <a:t>跨界进入手机硬件、短视频、电商等多个领域，并成功登陆港交所。</a:t>
              </a:r>
              <a:endParaRPr lang="zh-CN" altLang="en-US" sz="800" dirty="0">
                <a:solidFill>
                  <a:schemeClr val="bg2">
                    <a:lumMod val="25000"/>
                  </a:schemeClr>
                </a:solidFill>
                <a:latin typeface="微软雅黑" panose="020B0503020204020204" charset="-122"/>
                <a:ea typeface="微软雅黑" panose="020B0503020204020204" charset="-122"/>
                <a:cs typeface="微软雅黑" panose="020B0503020204020204" charset="-122"/>
              </a:endParaRPr>
            </a:p>
          </p:txBody>
        </p:sp>
        <p:sp>
          <p:nvSpPr>
            <p:cNvPr id="59" name="圆角矩形 58"/>
            <p:cNvSpPr/>
            <p:nvPr>
              <p:custDataLst>
                <p:tags r:id="rId13"/>
              </p:custDataLst>
            </p:nvPr>
          </p:nvSpPr>
          <p:spPr>
            <a:xfrm>
              <a:off x="1091" y="3691"/>
              <a:ext cx="655" cy="655"/>
            </a:xfrm>
            <a:prstGeom prst="roundRect">
              <a:avLst/>
            </a:prstGeom>
            <a:solidFill>
              <a:schemeClr val="accent1"/>
            </a:solidFill>
            <a:ln>
              <a:noFill/>
            </a:ln>
            <a:effectLst>
              <a:outerShdw blurRad="228600" dist="38100" dir="5400000" sx="112000" sy="112000" algn="t" rotWithShape="0">
                <a:schemeClr val="accent1">
                  <a:alpha val="32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62" name="文本框 61"/>
            <p:cNvSpPr txBox="1"/>
            <p:nvPr>
              <p:custDataLst>
                <p:tags r:id="rId14"/>
              </p:custDataLst>
            </p:nvPr>
          </p:nvSpPr>
          <p:spPr>
            <a:xfrm>
              <a:off x="1078" y="3753"/>
              <a:ext cx="682" cy="531"/>
            </a:xfrm>
            <a:prstGeom prst="rect">
              <a:avLst/>
            </a:prstGeom>
            <a:noFill/>
          </p:spPr>
          <p:txBody>
            <a:bodyPr wrap="none" rtlCol="0">
              <a:spAutoFit/>
            </a:bodyPr>
            <a:lstStyle/>
            <a:p>
              <a:r>
                <a:rPr kumimoji="1" lang="en-US" altLang="zh-CN" sz="1600" b="1" dirty="0">
                  <a:solidFill>
                    <a:schemeClr val="bg1"/>
                  </a:solidFill>
                  <a:latin typeface="微软雅黑" panose="020B0503020204020204" charset="-122"/>
                  <a:ea typeface="微软雅黑" panose="020B0503020204020204" charset="-122"/>
                  <a:cs typeface="微软雅黑" panose="020B0503020204020204" charset="-122"/>
                </a:rPr>
                <a:t>02</a:t>
              </a:r>
              <a:endParaRPr kumimoji="1" lang="en-US" altLang="zh-CN" sz="16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63" name="组合 62"/>
          <p:cNvGrpSpPr/>
          <p:nvPr>
            <p:custDataLst>
              <p:tags r:id="rId15"/>
            </p:custDataLst>
          </p:nvPr>
        </p:nvGrpSpPr>
        <p:grpSpPr>
          <a:xfrm>
            <a:off x="5845175" y="1863725"/>
            <a:ext cx="2075180" cy="1194435"/>
            <a:chOff x="968" y="3691"/>
            <a:chExt cx="3268" cy="1881"/>
          </a:xfrm>
        </p:grpSpPr>
        <p:sp>
          <p:nvSpPr>
            <p:cNvPr id="68" name="矩形 67"/>
            <p:cNvSpPr/>
            <p:nvPr>
              <p:custDataLst>
                <p:tags r:id="rId16"/>
              </p:custDataLst>
            </p:nvPr>
          </p:nvSpPr>
          <p:spPr>
            <a:xfrm>
              <a:off x="1784" y="3705"/>
              <a:ext cx="1888" cy="62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战略收缩与阵痛期</a:t>
              </a:r>
              <a:endParaRPr kumimoji="0" lang="zh-CN" altLang="en-US" sz="1000" b="1"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2018-2022</a:t>
              </a:r>
              <a:endParaRPr kumimoji="0" lang="en-US" altLang="zh-CN" sz="10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9" name="文本框 68"/>
            <p:cNvSpPr txBox="1"/>
            <p:nvPr>
              <p:custDataLst>
                <p:tags r:id="rId17"/>
              </p:custDataLst>
            </p:nvPr>
          </p:nvSpPr>
          <p:spPr>
            <a:xfrm>
              <a:off x="968" y="4523"/>
              <a:ext cx="3268" cy="1049"/>
            </a:xfrm>
            <a:prstGeom prst="rect">
              <a:avLst/>
            </a:prstGeom>
            <a:noFill/>
          </p:spPr>
          <p:txBody>
            <a:bodyPr wrap="square">
              <a:spAutoFit/>
            </a:bodyPr>
            <a:lstStyle/>
            <a:p>
              <a:pPr>
                <a:lnSpc>
                  <a:spcPct val="110000"/>
                </a:lnSpc>
                <a:defRPr/>
              </a:pPr>
              <a:r>
                <a:rPr lang="en-US" altLang="zh-CN" sz="1000" b="1" dirty="0">
                  <a:solidFill>
                    <a:schemeClr val="bg2">
                      <a:lumMod val="25000"/>
                    </a:schemeClr>
                  </a:solidFill>
                  <a:latin typeface="微软雅黑" panose="020B0503020204020204" charset="-122"/>
                  <a:ea typeface="微软雅黑" panose="020B0503020204020204" charset="-122"/>
                  <a:cs typeface="微软雅黑" panose="020B0503020204020204" charset="-122"/>
                </a:rPr>
                <a:t>“</a:t>
              </a:r>
              <a:r>
                <a:rPr lang="zh-CN" altLang="en-US" sz="1000" b="1" dirty="0">
                  <a:solidFill>
                    <a:schemeClr val="bg2">
                      <a:lumMod val="25000"/>
                    </a:schemeClr>
                  </a:solidFill>
                  <a:latin typeface="微软雅黑" panose="020B0503020204020204" charset="-122"/>
                  <a:ea typeface="微软雅黑" panose="020B0503020204020204" charset="-122"/>
                  <a:cs typeface="微软雅黑" panose="020B0503020204020204" charset="-122"/>
                </a:rPr>
                <a:t>断臂求生，寻找方向</a:t>
              </a:r>
              <a:r>
                <a:rPr lang="en-US" altLang="zh-CN" sz="1000" b="1" dirty="0">
                  <a:solidFill>
                    <a:schemeClr val="bg2">
                      <a:lumMod val="25000"/>
                    </a:schemeClr>
                  </a:solidFill>
                  <a:latin typeface="微软雅黑" panose="020B0503020204020204" charset="-122"/>
                  <a:ea typeface="微软雅黑" panose="020B0503020204020204" charset="-122"/>
                  <a:cs typeface="微软雅黑" panose="020B0503020204020204" charset="-122"/>
                </a:rPr>
                <a:t>”</a:t>
              </a:r>
              <a:endParaRPr lang="en-US" altLang="zh-CN" sz="1000" b="1" dirty="0">
                <a:solidFill>
                  <a:schemeClr val="bg2">
                    <a:lumMod val="25000"/>
                  </a:schemeClr>
                </a:solidFill>
                <a:latin typeface="微软雅黑" panose="020B0503020204020204" charset="-122"/>
                <a:ea typeface="微软雅黑" panose="020B0503020204020204" charset="-122"/>
                <a:cs typeface="微软雅黑" panose="020B0503020204020204" charset="-122"/>
              </a:endParaRPr>
            </a:p>
            <a:p>
              <a:pPr>
                <a:lnSpc>
                  <a:spcPct val="110000"/>
                </a:lnSpc>
                <a:defRPr/>
              </a:pPr>
              <a:r>
                <a:rPr lang="zh-CN" altLang="en-US" sz="800" dirty="0">
                  <a:solidFill>
                    <a:schemeClr val="bg2">
                      <a:lumMod val="25000"/>
                    </a:schemeClr>
                  </a:solidFill>
                  <a:latin typeface="微软雅黑" panose="020B0503020204020204" charset="-122"/>
                  <a:ea typeface="微软雅黑" panose="020B0503020204020204" charset="-122"/>
                  <a:cs typeface="微软雅黑" panose="020B0503020204020204" charset="-122"/>
                </a:rPr>
                <a:t>手机和美拍两大业务在激烈竞争中败退，公司陷入连续亏损；剥离硬件业务，尝试社交、电商、区块链、加密货币等新方向。</a:t>
              </a:r>
              <a:endParaRPr lang="zh-CN" altLang="en-US" sz="800" dirty="0">
                <a:solidFill>
                  <a:schemeClr val="bg2">
                    <a:lumMod val="25000"/>
                  </a:schemeClr>
                </a:solidFill>
                <a:latin typeface="微软雅黑" panose="020B0503020204020204" charset="-122"/>
                <a:ea typeface="微软雅黑" panose="020B0503020204020204" charset="-122"/>
                <a:cs typeface="微软雅黑" panose="020B0503020204020204" charset="-122"/>
              </a:endParaRPr>
            </a:p>
          </p:txBody>
        </p:sp>
        <p:sp>
          <p:nvSpPr>
            <p:cNvPr id="70" name="圆角矩形 69"/>
            <p:cNvSpPr/>
            <p:nvPr>
              <p:custDataLst>
                <p:tags r:id="rId18"/>
              </p:custDataLst>
            </p:nvPr>
          </p:nvSpPr>
          <p:spPr>
            <a:xfrm>
              <a:off x="1091" y="3691"/>
              <a:ext cx="655" cy="655"/>
            </a:xfrm>
            <a:prstGeom prst="roundRect">
              <a:avLst/>
            </a:prstGeom>
            <a:solidFill>
              <a:schemeClr val="accent5"/>
            </a:solidFill>
            <a:ln>
              <a:noFill/>
            </a:ln>
            <a:effectLst>
              <a:outerShdw blurRad="228600" dist="38100" dir="5400000" sx="112000" sy="112000" algn="t" rotWithShape="0">
                <a:schemeClr val="accent5">
                  <a:alpha val="32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85" name="文本框 84"/>
            <p:cNvSpPr txBox="1"/>
            <p:nvPr>
              <p:custDataLst>
                <p:tags r:id="rId19"/>
              </p:custDataLst>
            </p:nvPr>
          </p:nvSpPr>
          <p:spPr>
            <a:xfrm>
              <a:off x="1078" y="3753"/>
              <a:ext cx="682" cy="531"/>
            </a:xfrm>
            <a:prstGeom prst="rect">
              <a:avLst/>
            </a:prstGeom>
            <a:noFill/>
          </p:spPr>
          <p:txBody>
            <a:bodyPr wrap="none" rtlCol="0">
              <a:spAutoFit/>
            </a:bodyPr>
            <a:lstStyle/>
            <a:p>
              <a:r>
                <a:rPr kumimoji="1" lang="en-US" altLang="zh-CN" sz="1600" b="1" dirty="0">
                  <a:solidFill>
                    <a:schemeClr val="bg1"/>
                  </a:solidFill>
                  <a:latin typeface="微软雅黑" panose="020B0503020204020204" charset="-122"/>
                  <a:ea typeface="微软雅黑" panose="020B0503020204020204" charset="-122"/>
                  <a:cs typeface="微软雅黑" panose="020B0503020204020204" charset="-122"/>
                </a:rPr>
                <a:t>03</a:t>
              </a:r>
              <a:endParaRPr kumimoji="1" lang="en-US" altLang="zh-CN" sz="16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86" name="组合 85"/>
          <p:cNvGrpSpPr/>
          <p:nvPr>
            <p:custDataLst>
              <p:tags r:id="rId20"/>
            </p:custDataLst>
          </p:nvPr>
        </p:nvGrpSpPr>
        <p:grpSpPr>
          <a:xfrm>
            <a:off x="9511030" y="1067435"/>
            <a:ext cx="2075180" cy="1024890"/>
            <a:chOff x="968" y="3691"/>
            <a:chExt cx="3268" cy="1614"/>
          </a:xfrm>
        </p:grpSpPr>
        <p:sp>
          <p:nvSpPr>
            <p:cNvPr id="87" name="矩形 86"/>
            <p:cNvSpPr/>
            <p:nvPr>
              <p:custDataLst>
                <p:tags r:id="rId21"/>
              </p:custDataLst>
            </p:nvPr>
          </p:nvSpPr>
          <p:spPr>
            <a:xfrm>
              <a:off x="1784" y="3705"/>
              <a:ext cx="1505" cy="62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b="1"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AI</a:t>
              </a:r>
              <a:r>
                <a:rPr kumimoji="0" lang="zh-CN" altLang="en-US" sz="1000" b="1"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驱动重生期</a:t>
              </a:r>
              <a:endParaRPr kumimoji="0" lang="zh-CN" altLang="en-US" sz="1000" b="1"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2022-</a:t>
              </a:r>
              <a:r>
                <a:rPr kumimoji="0" lang="zh-CN" altLang="en-US" sz="10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至今</a:t>
              </a:r>
              <a:endParaRPr kumimoji="0" lang="zh-CN" altLang="en-US" sz="10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8" name="文本框 87"/>
            <p:cNvSpPr txBox="1"/>
            <p:nvPr>
              <p:custDataLst>
                <p:tags r:id="rId22"/>
              </p:custDataLst>
            </p:nvPr>
          </p:nvSpPr>
          <p:spPr>
            <a:xfrm>
              <a:off x="968" y="4469"/>
              <a:ext cx="3268" cy="836"/>
            </a:xfrm>
            <a:prstGeom prst="rect">
              <a:avLst/>
            </a:prstGeom>
            <a:noFill/>
          </p:spPr>
          <p:txBody>
            <a:bodyPr wrap="square">
              <a:spAutoFit/>
            </a:bodyPr>
            <a:lstStyle/>
            <a:p>
              <a:pPr>
                <a:lnSpc>
                  <a:spcPct val="110000"/>
                </a:lnSpc>
                <a:defRPr/>
              </a:pPr>
              <a:r>
                <a:rPr lang="en-US" altLang="zh-CN" sz="1000" b="1" dirty="0">
                  <a:solidFill>
                    <a:schemeClr val="bg2">
                      <a:lumMod val="25000"/>
                    </a:schemeClr>
                  </a:solidFill>
                  <a:latin typeface="微软雅黑" panose="020B0503020204020204" charset="-122"/>
                  <a:ea typeface="微软雅黑" panose="020B0503020204020204" charset="-122"/>
                  <a:cs typeface="微软雅黑" panose="020B0503020204020204" charset="-122"/>
                </a:rPr>
                <a:t>“</a:t>
              </a:r>
              <a:r>
                <a:rPr lang="zh-CN" altLang="en-US" sz="1000" b="1" dirty="0">
                  <a:solidFill>
                    <a:schemeClr val="bg2">
                      <a:lumMod val="25000"/>
                    </a:schemeClr>
                  </a:solidFill>
                  <a:latin typeface="微软雅黑" panose="020B0503020204020204" charset="-122"/>
                  <a:ea typeface="微软雅黑" panose="020B0503020204020204" charset="-122"/>
                  <a:cs typeface="微软雅黑" panose="020B0503020204020204" charset="-122"/>
                </a:rPr>
                <a:t>聚焦</a:t>
              </a:r>
              <a:r>
                <a:rPr lang="en-US" altLang="zh-CN" sz="1000" b="1" dirty="0">
                  <a:solidFill>
                    <a:schemeClr val="bg2">
                      <a:lumMod val="25000"/>
                    </a:schemeClr>
                  </a:solidFill>
                  <a:latin typeface="微软雅黑" panose="020B0503020204020204" charset="-122"/>
                  <a:ea typeface="微软雅黑" panose="020B0503020204020204" charset="-122"/>
                  <a:cs typeface="微软雅黑" panose="020B0503020204020204" charset="-122"/>
                </a:rPr>
                <a:t>AI</a:t>
              </a:r>
              <a:r>
                <a:rPr lang="zh-CN" altLang="en-US" sz="1000" b="1" dirty="0">
                  <a:solidFill>
                    <a:schemeClr val="bg2">
                      <a:lumMod val="25000"/>
                    </a:schemeClr>
                  </a:solidFill>
                  <a:latin typeface="微软雅黑" panose="020B0503020204020204" charset="-122"/>
                  <a:ea typeface="微软雅黑" panose="020B0503020204020204" charset="-122"/>
                  <a:cs typeface="微软雅黑" panose="020B0503020204020204" charset="-122"/>
                </a:rPr>
                <a:t>，王者归来</a:t>
              </a:r>
              <a:r>
                <a:rPr lang="en-US" altLang="zh-CN" sz="1000" b="1" dirty="0">
                  <a:solidFill>
                    <a:schemeClr val="bg2">
                      <a:lumMod val="25000"/>
                    </a:schemeClr>
                  </a:solidFill>
                  <a:latin typeface="微软雅黑" panose="020B0503020204020204" charset="-122"/>
                  <a:ea typeface="微软雅黑" panose="020B0503020204020204" charset="-122"/>
                  <a:cs typeface="微软雅黑" panose="020B0503020204020204" charset="-122"/>
                </a:rPr>
                <a:t>”</a:t>
              </a:r>
              <a:endParaRPr lang="en-US" altLang="zh-CN" sz="1000" b="1" dirty="0">
                <a:solidFill>
                  <a:schemeClr val="bg2">
                    <a:lumMod val="25000"/>
                  </a:schemeClr>
                </a:solidFill>
                <a:latin typeface="微软雅黑" panose="020B0503020204020204" charset="-122"/>
                <a:ea typeface="微软雅黑" panose="020B0503020204020204" charset="-122"/>
                <a:cs typeface="微软雅黑" panose="020B0503020204020204" charset="-122"/>
              </a:endParaRPr>
            </a:p>
            <a:p>
              <a:pPr>
                <a:lnSpc>
                  <a:spcPct val="110000"/>
                </a:lnSpc>
                <a:defRPr/>
              </a:pPr>
              <a:r>
                <a:rPr lang="zh-CN" altLang="en-US" sz="800" dirty="0">
                  <a:solidFill>
                    <a:schemeClr val="bg2">
                      <a:lumMod val="25000"/>
                    </a:schemeClr>
                  </a:solidFill>
                  <a:latin typeface="微软雅黑" panose="020B0503020204020204" charset="-122"/>
                  <a:ea typeface="微软雅黑" panose="020B0503020204020204" charset="-122"/>
                  <a:cs typeface="微软雅黑" panose="020B0503020204020204" charset="-122"/>
                </a:rPr>
                <a:t>回归影像主业，全面押注人工智能；付费订阅模式跑通，业绩大幅逆转</a:t>
              </a:r>
              <a:r>
                <a:rPr lang="zh-CN" sz="800" dirty="0">
                  <a:solidFill>
                    <a:schemeClr val="bg2">
                      <a:lumMod val="25000"/>
                    </a:schemeClr>
                  </a:solidFill>
                  <a:latin typeface="微软雅黑" panose="020B0503020204020204" charset="-122"/>
                  <a:ea typeface="微软雅黑" panose="020B0503020204020204" charset="-122"/>
                  <a:cs typeface="微软雅黑" panose="020B0503020204020204" charset="-122"/>
                </a:rPr>
                <a:t>。</a:t>
              </a:r>
              <a:endParaRPr lang="zh-CN" sz="800" dirty="0">
                <a:solidFill>
                  <a:schemeClr val="bg2">
                    <a:lumMod val="25000"/>
                  </a:schemeClr>
                </a:solidFill>
                <a:latin typeface="微软雅黑" panose="020B0503020204020204" charset="-122"/>
                <a:ea typeface="微软雅黑" panose="020B0503020204020204" charset="-122"/>
                <a:cs typeface="微软雅黑" panose="020B0503020204020204" charset="-122"/>
              </a:endParaRPr>
            </a:p>
          </p:txBody>
        </p:sp>
        <p:sp>
          <p:nvSpPr>
            <p:cNvPr id="89" name="圆角矩形 88"/>
            <p:cNvSpPr/>
            <p:nvPr>
              <p:custDataLst>
                <p:tags r:id="rId23"/>
              </p:custDataLst>
            </p:nvPr>
          </p:nvSpPr>
          <p:spPr>
            <a:xfrm>
              <a:off x="1091" y="3691"/>
              <a:ext cx="655" cy="655"/>
            </a:xfrm>
            <a:prstGeom prst="roundRect">
              <a:avLst/>
            </a:prstGeom>
            <a:solidFill>
              <a:schemeClr val="accent1">
                <a:lumMod val="60000"/>
                <a:lumOff val="40000"/>
              </a:schemeClr>
            </a:solidFill>
            <a:ln>
              <a:noFill/>
            </a:ln>
            <a:effectLst>
              <a:outerShdw blurRad="228600" dist="38100" dir="5400000" sx="112000" sy="112000" algn="t" rotWithShape="0">
                <a:schemeClr val="accent1">
                  <a:lumMod val="60000"/>
                  <a:lumOff val="40000"/>
                  <a:alpha val="32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90" name="文本框 89"/>
            <p:cNvSpPr txBox="1"/>
            <p:nvPr>
              <p:custDataLst>
                <p:tags r:id="rId24"/>
              </p:custDataLst>
            </p:nvPr>
          </p:nvSpPr>
          <p:spPr>
            <a:xfrm>
              <a:off x="1078" y="3753"/>
              <a:ext cx="682" cy="531"/>
            </a:xfrm>
            <a:prstGeom prst="rect">
              <a:avLst/>
            </a:prstGeom>
            <a:noFill/>
          </p:spPr>
          <p:txBody>
            <a:bodyPr wrap="none" rtlCol="0">
              <a:spAutoFit/>
            </a:bodyPr>
            <a:lstStyle/>
            <a:p>
              <a:r>
                <a:rPr kumimoji="1" lang="en-US" altLang="zh-CN" sz="1600" b="1" dirty="0">
                  <a:solidFill>
                    <a:schemeClr val="bg1"/>
                  </a:solidFill>
                  <a:latin typeface="微软雅黑" panose="020B0503020204020204" charset="-122"/>
                  <a:ea typeface="微软雅黑" panose="020B0503020204020204" charset="-122"/>
                  <a:cs typeface="微软雅黑" panose="020B0503020204020204" charset="-122"/>
                </a:rPr>
                <a:t>04</a:t>
              </a:r>
              <a:endParaRPr kumimoji="1" lang="en-US" altLang="zh-CN" sz="16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8738235" y="348615"/>
            <a:ext cx="3219450" cy="332740"/>
            <a:chOff x="13761" y="549"/>
            <a:chExt cx="5070" cy="524"/>
          </a:xfrm>
        </p:grpSpPr>
        <p:pic>
          <p:nvPicPr>
            <p:cNvPr id="13" name="图片 12"/>
            <p:cNvPicPr>
              <a:picLocks noChangeAspect="1"/>
            </p:cNvPicPr>
            <p:nvPr userDrawn="1"/>
          </p:nvPicPr>
          <p:blipFill>
            <a:blip r:embed="rId25"/>
            <a:srcRect l="17002" t="-1765" r="56499" b="-1176"/>
            <a:stretch>
              <a:fillRect/>
            </a:stretch>
          </p:blipFill>
          <p:spPr>
            <a:xfrm>
              <a:off x="13761" y="549"/>
              <a:ext cx="1582" cy="525"/>
            </a:xfrm>
            <a:prstGeom prst="rect">
              <a:avLst/>
            </a:prstGeom>
          </p:spPr>
        </p:pic>
        <p:sp>
          <p:nvSpPr>
            <p:cNvPr id="16" name="文本框 15"/>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时间流程架构 |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营销计划关键节点达成</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 name="图形 111"/>
          <p:cNvSpPr/>
          <p:nvPr/>
        </p:nvSpPr>
        <p:spPr>
          <a:xfrm>
            <a:off x="753832" y="2416727"/>
            <a:ext cx="10033238" cy="2556797"/>
          </a:xfrm>
          <a:custGeom>
            <a:avLst/>
            <a:gdLst>
              <a:gd name="connsiteX0" fmla="*/ -3553 w 10033238"/>
              <a:gd name="connsiteY0" fmla="*/ 1510353 h 2556797"/>
              <a:gd name="connsiteX1" fmla="*/ 1548604 w 10033238"/>
              <a:gd name="connsiteY1" fmla="*/ 1510353 h 2556797"/>
              <a:gd name="connsiteX2" fmla="*/ 1894676 w 10033238"/>
              <a:gd name="connsiteY2" fmla="*/ 1856424 h 2556797"/>
              <a:gd name="connsiteX3" fmla="*/ 1894676 w 10033238"/>
              <a:gd name="connsiteY3" fmla="*/ 2210244 h 2556797"/>
              <a:gd name="connsiteX4" fmla="*/ 2240749 w 10033238"/>
              <a:gd name="connsiteY4" fmla="*/ 2556316 h 2556797"/>
              <a:gd name="connsiteX5" fmla="*/ 2775351 w 10033238"/>
              <a:gd name="connsiteY5" fmla="*/ 2556316 h 2556797"/>
              <a:gd name="connsiteX6" fmla="*/ 3121423 w 10033238"/>
              <a:gd name="connsiteY6" fmla="*/ 2210244 h 2556797"/>
              <a:gd name="connsiteX7" fmla="*/ 3121423 w 10033238"/>
              <a:gd name="connsiteY7" fmla="*/ 855657 h 2556797"/>
              <a:gd name="connsiteX8" fmla="*/ 3467495 w 10033238"/>
              <a:gd name="connsiteY8" fmla="*/ 509586 h 2556797"/>
              <a:gd name="connsiteX9" fmla="*/ 4290966 w 10033238"/>
              <a:gd name="connsiteY9" fmla="*/ 509586 h 2556797"/>
              <a:gd name="connsiteX10" fmla="*/ 4637164 w 10033238"/>
              <a:gd name="connsiteY10" fmla="*/ 855528 h 2556797"/>
              <a:gd name="connsiteX11" fmla="*/ 4637164 w 10033238"/>
              <a:gd name="connsiteY11" fmla="*/ 855657 h 2556797"/>
              <a:gd name="connsiteX12" fmla="*/ 4637164 w 10033238"/>
              <a:gd name="connsiteY12" fmla="*/ 893106 h 2556797"/>
              <a:gd name="connsiteX13" fmla="*/ 4983236 w 10033238"/>
              <a:gd name="connsiteY13" fmla="*/ 1239177 h 2556797"/>
              <a:gd name="connsiteX14" fmla="*/ 5822589 w 10033238"/>
              <a:gd name="connsiteY14" fmla="*/ 1239177 h 2556797"/>
              <a:gd name="connsiteX15" fmla="*/ 6168662 w 10033238"/>
              <a:gd name="connsiteY15" fmla="*/ 893106 h 2556797"/>
              <a:gd name="connsiteX16" fmla="*/ 6168662 w 10033238"/>
              <a:gd name="connsiteY16" fmla="*/ 345589 h 2556797"/>
              <a:gd name="connsiteX17" fmla="*/ 6514734 w 10033238"/>
              <a:gd name="connsiteY17" fmla="*/ -483 h 2556797"/>
              <a:gd name="connsiteX18" fmla="*/ 6946031 w 10033238"/>
              <a:gd name="connsiteY18" fmla="*/ -483 h 2556797"/>
              <a:gd name="connsiteX19" fmla="*/ 7292103 w 10033238"/>
              <a:gd name="connsiteY19" fmla="*/ 345589 h 2556797"/>
              <a:gd name="connsiteX20" fmla="*/ 7292103 w 10033238"/>
              <a:gd name="connsiteY20" fmla="*/ 2068200 h 2556797"/>
              <a:gd name="connsiteX21" fmla="*/ 7638173 w 10033238"/>
              <a:gd name="connsiteY21" fmla="*/ 2414271 h 2556797"/>
              <a:gd name="connsiteX22" fmla="*/ 7979084 w 10033238"/>
              <a:gd name="connsiteY22" fmla="*/ 2414271 h 2556797"/>
              <a:gd name="connsiteX23" fmla="*/ 8325153 w 10033238"/>
              <a:gd name="connsiteY23" fmla="*/ 2068200 h 2556797"/>
              <a:gd name="connsiteX24" fmla="*/ 8325153 w 10033238"/>
              <a:gd name="connsiteY24" fmla="*/ 1533596 h 2556797"/>
              <a:gd name="connsiteX25" fmla="*/ 8671222 w 10033238"/>
              <a:gd name="connsiteY25" fmla="*/ 1187525 h 2556797"/>
              <a:gd name="connsiteX26" fmla="*/ 9683616 w 10033238"/>
              <a:gd name="connsiteY26" fmla="*/ 1187525 h 2556797"/>
              <a:gd name="connsiteX27" fmla="*/ 10029685 w 10033238"/>
              <a:gd name="connsiteY27" fmla="*/ 841453 h 2556797"/>
              <a:gd name="connsiteX28" fmla="*/ 10029685 w 10033238"/>
              <a:gd name="connsiteY28" fmla="*/ 793029 h 2556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33238" h="2556797">
                <a:moveTo>
                  <a:pt x="-3553" y="1510353"/>
                </a:moveTo>
                <a:lnTo>
                  <a:pt x="1548604" y="1510353"/>
                </a:lnTo>
                <a:cubicBezTo>
                  <a:pt x="1739719" y="1510353"/>
                  <a:pt x="1894676" y="1665298"/>
                  <a:pt x="1894676" y="1856424"/>
                </a:cubicBezTo>
                <a:lnTo>
                  <a:pt x="1894676" y="2210244"/>
                </a:lnTo>
                <a:cubicBezTo>
                  <a:pt x="1894676" y="2401371"/>
                  <a:pt x="2049634" y="2556316"/>
                  <a:pt x="2240749" y="2556316"/>
                </a:cubicBezTo>
                <a:lnTo>
                  <a:pt x="2775351" y="2556316"/>
                </a:lnTo>
                <a:cubicBezTo>
                  <a:pt x="2966466" y="2556316"/>
                  <a:pt x="3121423" y="2401371"/>
                  <a:pt x="3121423" y="2210244"/>
                </a:cubicBezTo>
                <a:lnTo>
                  <a:pt x="3121423" y="855657"/>
                </a:lnTo>
                <a:cubicBezTo>
                  <a:pt x="3121423" y="664531"/>
                  <a:pt x="3276380" y="509586"/>
                  <a:pt x="3467495" y="509586"/>
                </a:cubicBezTo>
                <a:lnTo>
                  <a:pt x="4290966" y="509586"/>
                </a:lnTo>
                <a:cubicBezTo>
                  <a:pt x="4482080" y="509521"/>
                  <a:pt x="4637038" y="664401"/>
                  <a:pt x="4637164" y="855528"/>
                </a:cubicBezTo>
                <a:cubicBezTo>
                  <a:pt x="4637164" y="855567"/>
                  <a:pt x="4637164" y="855619"/>
                  <a:pt x="4637164" y="855657"/>
                </a:cubicBezTo>
                <a:lnTo>
                  <a:pt x="4637164" y="893106"/>
                </a:lnTo>
                <a:cubicBezTo>
                  <a:pt x="4637164" y="1084232"/>
                  <a:pt x="4792122" y="1239177"/>
                  <a:pt x="4983236" y="1239177"/>
                </a:cubicBezTo>
                <a:lnTo>
                  <a:pt x="5822589" y="1239177"/>
                </a:lnTo>
                <a:cubicBezTo>
                  <a:pt x="6013704" y="1239177"/>
                  <a:pt x="6168662" y="1084232"/>
                  <a:pt x="6168662" y="893106"/>
                </a:cubicBezTo>
                <a:lnTo>
                  <a:pt x="6168662" y="345589"/>
                </a:lnTo>
                <a:cubicBezTo>
                  <a:pt x="6168662" y="154462"/>
                  <a:pt x="6323619" y="-483"/>
                  <a:pt x="6514734" y="-483"/>
                </a:cubicBezTo>
                <a:lnTo>
                  <a:pt x="6946031" y="-483"/>
                </a:lnTo>
                <a:cubicBezTo>
                  <a:pt x="7137146" y="-483"/>
                  <a:pt x="7292103" y="154462"/>
                  <a:pt x="7292103" y="345589"/>
                </a:cubicBezTo>
                <a:lnTo>
                  <a:pt x="7292103" y="2068200"/>
                </a:lnTo>
                <a:cubicBezTo>
                  <a:pt x="7292103" y="2259326"/>
                  <a:pt x="7447061" y="2414271"/>
                  <a:pt x="7638173" y="2414271"/>
                </a:cubicBezTo>
                <a:lnTo>
                  <a:pt x="7979084" y="2414271"/>
                </a:lnTo>
                <a:cubicBezTo>
                  <a:pt x="8170196" y="2414271"/>
                  <a:pt x="8325153" y="2259326"/>
                  <a:pt x="8325153" y="2068200"/>
                </a:cubicBezTo>
                <a:lnTo>
                  <a:pt x="8325153" y="1533596"/>
                </a:lnTo>
                <a:cubicBezTo>
                  <a:pt x="8325153" y="1342469"/>
                  <a:pt x="8480111" y="1187525"/>
                  <a:pt x="8671222" y="1187525"/>
                </a:cubicBezTo>
                <a:lnTo>
                  <a:pt x="9683616" y="1187525"/>
                </a:lnTo>
                <a:cubicBezTo>
                  <a:pt x="9874728" y="1187525"/>
                  <a:pt x="10029685" y="1032580"/>
                  <a:pt x="10029685" y="841453"/>
                </a:cubicBezTo>
                <a:lnTo>
                  <a:pt x="10029685" y="793029"/>
                </a:lnTo>
              </a:path>
            </a:pathLst>
          </a:custGeom>
          <a:noFill/>
          <a:ln w="60325" cap="flat">
            <a:gradFill>
              <a:gsLst>
                <a:gs pos="0">
                  <a:schemeClr val="accent1">
                    <a:lumMod val="20000"/>
                    <a:lumOff val="80000"/>
                  </a:schemeClr>
                </a:gs>
                <a:gs pos="61000">
                  <a:schemeClr val="accent1">
                    <a:lumMod val="60000"/>
                    <a:lumOff val="40000"/>
                  </a:schemeClr>
                </a:gs>
              </a:gsLst>
              <a:lin ang="2700000" scaled="1"/>
            </a:gradFill>
            <a:prstDash val="solid"/>
            <a:miter/>
          </a:ln>
          <a:effectLst/>
        </p:spPr>
        <p:txBody>
          <a:bodyPr rtlCol="0" anchor="ctr"/>
          <a:lstStyle/>
          <a:p>
            <a:endParaRPr lang="en-US">
              <a:latin typeface="微软雅黑" panose="020B0503020204020204" charset="-122"/>
              <a:ea typeface="微软雅黑" panose="020B0503020204020204" charset="-122"/>
              <a:cs typeface="微软雅黑" panose="020B0503020204020204" charset="-122"/>
            </a:endParaRPr>
          </a:p>
        </p:txBody>
      </p:sp>
      <p:sp>
        <p:nvSpPr>
          <p:cNvPr id="113" name="椭圆 112"/>
          <p:cNvSpPr/>
          <p:nvPr/>
        </p:nvSpPr>
        <p:spPr>
          <a:xfrm>
            <a:off x="499920" y="3671321"/>
            <a:ext cx="507824" cy="50782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400">
                <a:latin typeface="微软雅黑" panose="020B0503020204020204" charset="-122"/>
                <a:ea typeface="微软雅黑" panose="020B0503020204020204" charset="-122"/>
                <a:cs typeface="微软雅黑" panose="020B0503020204020204" charset="-122"/>
              </a:rPr>
              <a:t>3</a:t>
            </a:r>
            <a:r>
              <a:rPr lang="zh-CN" altLang="en-US" sz="1400">
                <a:latin typeface="微软雅黑" panose="020B0503020204020204" charset="-122"/>
                <a:ea typeface="微软雅黑" panose="020B0503020204020204" charset="-122"/>
                <a:cs typeface="微软雅黑" panose="020B0503020204020204" charset="-122"/>
              </a:rPr>
              <a:t>月</a:t>
            </a:r>
            <a:endParaRPr lang="en-US" sz="1400" dirty="0">
              <a:latin typeface="微软雅黑" panose="020B0503020204020204" charset="-122"/>
              <a:ea typeface="微软雅黑" panose="020B0503020204020204" charset="-122"/>
              <a:cs typeface="微软雅黑" panose="020B0503020204020204" charset="-122"/>
            </a:endParaRPr>
          </a:p>
        </p:txBody>
      </p:sp>
      <p:sp>
        <p:nvSpPr>
          <p:cNvPr id="114" name="椭圆 113"/>
          <p:cNvSpPr/>
          <p:nvPr/>
        </p:nvSpPr>
        <p:spPr>
          <a:xfrm>
            <a:off x="2367181" y="4136810"/>
            <a:ext cx="507824" cy="507824"/>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400" dirty="0">
                <a:latin typeface="微软雅黑" panose="020B0503020204020204" charset="-122"/>
                <a:ea typeface="微软雅黑" panose="020B0503020204020204" charset="-122"/>
                <a:cs typeface="微软雅黑" panose="020B0503020204020204" charset="-122"/>
              </a:rPr>
              <a:t>5</a:t>
            </a:r>
            <a:r>
              <a:rPr lang="zh-CN" altLang="en-US" sz="1400" dirty="0">
                <a:latin typeface="微软雅黑" panose="020B0503020204020204" charset="-122"/>
                <a:ea typeface="微软雅黑" panose="020B0503020204020204" charset="-122"/>
                <a:cs typeface="微软雅黑" panose="020B0503020204020204" charset="-122"/>
              </a:rPr>
              <a:t>月</a:t>
            </a:r>
            <a:endParaRPr lang="en-US" sz="1400" dirty="0">
              <a:latin typeface="微软雅黑" panose="020B0503020204020204" charset="-122"/>
              <a:ea typeface="微软雅黑" panose="020B0503020204020204" charset="-122"/>
              <a:cs typeface="微软雅黑" panose="020B0503020204020204" charset="-122"/>
            </a:endParaRPr>
          </a:p>
        </p:txBody>
      </p:sp>
      <p:sp>
        <p:nvSpPr>
          <p:cNvPr id="151" name="椭圆 150"/>
          <p:cNvSpPr/>
          <p:nvPr/>
        </p:nvSpPr>
        <p:spPr>
          <a:xfrm>
            <a:off x="2302352" y="4071981"/>
            <a:ext cx="637482" cy="637482"/>
          </a:xfrm>
          <a:prstGeom prst="ellipse">
            <a:avLst/>
          </a:prstGeom>
          <a:noFill/>
          <a:ln w="19050" cap="flat" cmpd="sng" algn="ctr">
            <a:solidFill>
              <a:schemeClr val="accent5"/>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微软雅黑" panose="020B0503020204020204" charset="-122"/>
            </a:endParaRPr>
          </a:p>
        </p:txBody>
      </p:sp>
      <p:sp>
        <p:nvSpPr>
          <p:cNvPr id="115" name="椭圆 114"/>
          <p:cNvSpPr/>
          <p:nvPr/>
        </p:nvSpPr>
        <p:spPr>
          <a:xfrm>
            <a:off x="3629139" y="4525599"/>
            <a:ext cx="507824" cy="507824"/>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400" dirty="0">
                <a:latin typeface="微软雅黑" panose="020B0503020204020204" charset="-122"/>
                <a:ea typeface="微软雅黑" panose="020B0503020204020204" charset="-122"/>
                <a:cs typeface="微软雅黑" panose="020B0503020204020204" charset="-122"/>
              </a:rPr>
              <a:t>6</a:t>
            </a:r>
            <a:r>
              <a:rPr lang="zh-CN" altLang="en-US" sz="1400" dirty="0">
                <a:latin typeface="微软雅黑" panose="020B0503020204020204" charset="-122"/>
                <a:ea typeface="微软雅黑" panose="020B0503020204020204" charset="-122"/>
                <a:cs typeface="微软雅黑" panose="020B0503020204020204" charset="-122"/>
              </a:rPr>
              <a:t>月</a:t>
            </a:r>
            <a:endParaRPr lang="en-US" sz="1400" dirty="0">
              <a:latin typeface="微软雅黑" panose="020B0503020204020204" charset="-122"/>
              <a:ea typeface="微软雅黑" panose="020B0503020204020204" charset="-122"/>
              <a:cs typeface="微软雅黑" panose="020B0503020204020204" charset="-122"/>
            </a:endParaRPr>
          </a:p>
        </p:txBody>
      </p:sp>
      <p:sp>
        <p:nvSpPr>
          <p:cNvPr id="116" name="椭圆 115"/>
          <p:cNvSpPr/>
          <p:nvPr/>
        </p:nvSpPr>
        <p:spPr>
          <a:xfrm>
            <a:off x="4254142" y="2668695"/>
            <a:ext cx="507824" cy="507824"/>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400" dirty="0">
                <a:latin typeface="微软雅黑" panose="020B0503020204020204" charset="-122"/>
                <a:ea typeface="微软雅黑" panose="020B0503020204020204" charset="-122"/>
                <a:cs typeface="微软雅黑" panose="020B0503020204020204" charset="-122"/>
              </a:rPr>
              <a:t>7</a:t>
            </a:r>
            <a:r>
              <a:rPr lang="zh-CN" altLang="en-US" sz="1400" dirty="0">
                <a:latin typeface="微软雅黑" panose="020B0503020204020204" charset="-122"/>
                <a:ea typeface="微软雅黑" panose="020B0503020204020204" charset="-122"/>
                <a:cs typeface="微软雅黑" panose="020B0503020204020204" charset="-122"/>
              </a:rPr>
              <a:t>月</a:t>
            </a:r>
            <a:endParaRPr lang="en-US" sz="1400" dirty="0">
              <a:latin typeface="微软雅黑" panose="020B0503020204020204" charset="-122"/>
              <a:ea typeface="微软雅黑" panose="020B0503020204020204" charset="-122"/>
              <a:cs typeface="微软雅黑" panose="020B0503020204020204" charset="-122"/>
            </a:endParaRPr>
          </a:p>
        </p:txBody>
      </p:sp>
      <p:sp>
        <p:nvSpPr>
          <p:cNvPr id="117" name="椭圆 116"/>
          <p:cNvSpPr/>
          <p:nvPr/>
        </p:nvSpPr>
        <p:spPr>
          <a:xfrm>
            <a:off x="5880035" y="3417409"/>
            <a:ext cx="507824" cy="507824"/>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400" dirty="0">
                <a:latin typeface="微软雅黑" panose="020B0503020204020204" charset="-122"/>
                <a:ea typeface="微软雅黑" panose="020B0503020204020204" charset="-122"/>
                <a:cs typeface="微软雅黑" panose="020B0503020204020204" charset="-122"/>
              </a:rPr>
              <a:t>8</a:t>
            </a:r>
            <a:r>
              <a:rPr lang="zh-CN" altLang="en-US" sz="1400" dirty="0">
                <a:latin typeface="微软雅黑" panose="020B0503020204020204" charset="-122"/>
                <a:ea typeface="微软雅黑" panose="020B0503020204020204" charset="-122"/>
                <a:cs typeface="微软雅黑" panose="020B0503020204020204" charset="-122"/>
              </a:rPr>
              <a:t>月</a:t>
            </a:r>
            <a:endParaRPr lang="en-US" sz="1400" dirty="0">
              <a:latin typeface="微软雅黑" panose="020B0503020204020204" charset="-122"/>
              <a:ea typeface="微软雅黑" panose="020B0503020204020204" charset="-122"/>
              <a:cs typeface="微软雅黑" panose="020B0503020204020204" charset="-122"/>
            </a:endParaRPr>
          </a:p>
        </p:txBody>
      </p:sp>
      <p:sp>
        <p:nvSpPr>
          <p:cNvPr id="118" name="椭圆 117"/>
          <p:cNvSpPr/>
          <p:nvPr/>
        </p:nvSpPr>
        <p:spPr>
          <a:xfrm>
            <a:off x="7234672" y="2160871"/>
            <a:ext cx="507824" cy="507824"/>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400" dirty="0">
                <a:latin typeface="微软雅黑" panose="020B0503020204020204" charset="-122"/>
                <a:ea typeface="微软雅黑" panose="020B0503020204020204" charset="-122"/>
                <a:cs typeface="微软雅黑" panose="020B0503020204020204" charset="-122"/>
              </a:rPr>
              <a:t>10</a:t>
            </a:r>
            <a:r>
              <a:rPr lang="zh-CN" altLang="en-US" sz="1400" dirty="0">
                <a:latin typeface="微软雅黑" panose="020B0503020204020204" charset="-122"/>
                <a:ea typeface="微软雅黑" panose="020B0503020204020204" charset="-122"/>
                <a:cs typeface="微软雅黑" panose="020B0503020204020204" charset="-122"/>
              </a:rPr>
              <a:t>月</a:t>
            </a:r>
            <a:endParaRPr lang="en-US" sz="1400" dirty="0">
              <a:latin typeface="微软雅黑" panose="020B0503020204020204" charset="-122"/>
              <a:ea typeface="微软雅黑" panose="020B0503020204020204" charset="-122"/>
              <a:cs typeface="微软雅黑" panose="020B0503020204020204" charset="-122"/>
            </a:endParaRPr>
          </a:p>
        </p:txBody>
      </p:sp>
      <p:sp>
        <p:nvSpPr>
          <p:cNvPr id="152" name="椭圆 151"/>
          <p:cNvSpPr/>
          <p:nvPr/>
        </p:nvSpPr>
        <p:spPr>
          <a:xfrm>
            <a:off x="7169843" y="2096042"/>
            <a:ext cx="637482" cy="637482"/>
          </a:xfrm>
          <a:prstGeom prst="ellipse">
            <a:avLst/>
          </a:prstGeom>
          <a:noFill/>
          <a:ln w="19050" cap="flat" cmpd="sng" algn="ctr">
            <a:solidFill>
              <a:schemeClr val="accent5"/>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微软雅黑" panose="020B0503020204020204" charset="-122"/>
            </a:endParaRPr>
          </a:p>
        </p:txBody>
      </p:sp>
      <p:sp>
        <p:nvSpPr>
          <p:cNvPr id="120" name="椭圆 119"/>
          <p:cNvSpPr/>
          <p:nvPr/>
        </p:nvSpPr>
        <p:spPr>
          <a:xfrm>
            <a:off x="8339321" y="4579039"/>
            <a:ext cx="507824" cy="507824"/>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400" dirty="0">
                <a:latin typeface="微软雅黑" panose="020B0503020204020204" charset="-122"/>
                <a:ea typeface="微软雅黑" panose="020B0503020204020204" charset="-122"/>
                <a:cs typeface="微软雅黑" panose="020B0503020204020204" charset="-122"/>
              </a:rPr>
              <a:t>11</a:t>
            </a:r>
            <a:r>
              <a:rPr lang="zh-CN" altLang="en-US" sz="1400" dirty="0">
                <a:latin typeface="微软雅黑" panose="020B0503020204020204" charset="-122"/>
                <a:ea typeface="微软雅黑" panose="020B0503020204020204" charset="-122"/>
                <a:cs typeface="微软雅黑" panose="020B0503020204020204" charset="-122"/>
              </a:rPr>
              <a:t>月</a:t>
            </a:r>
            <a:endParaRPr lang="en-US" sz="1400" dirty="0">
              <a:latin typeface="微软雅黑" panose="020B0503020204020204" charset="-122"/>
              <a:ea typeface="微软雅黑" panose="020B0503020204020204" charset="-122"/>
              <a:cs typeface="微软雅黑" panose="020B0503020204020204" charset="-122"/>
            </a:endParaRPr>
          </a:p>
        </p:txBody>
      </p:sp>
      <p:sp>
        <p:nvSpPr>
          <p:cNvPr id="121" name="椭圆 120"/>
          <p:cNvSpPr/>
          <p:nvPr/>
        </p:nvSpPr>
        <p:spPr>
          <a:xfrm>
            <a:off x="10539190" y="2888712"/>
            <a:ext cx="507824" cy="50782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400" dirty="0">
                <a:latin typeface="微软雅黑" panose="020B0503020204020204" charset="-122"/>
                <a:ea typeface="微软雅黑" panose="020B0503020204020204" charset="-122"/>
                <a:cs typeface="微软雅黑" panose="020B0503020204020204" charset="-122"/>
              </a:rPr>
              <a:t>12</a:t>
            </a:r>
            <a:r>
              <a:rPr lang="zh-CN" altLang="en-US" sz="1400" dirty="0">
                <a:latin typeface="微软雅黑" panose="020B0503020204020204" charset="-122"/>
                <a:ea typeface="微软雅黑" panose="020B0503020204020204" charset="-122"/>
                <a:cs typeface="微软雅黑" panose="020B0503020204020204" charset="-122"/>
              </a:rPr>
              <a:t>月</a:t>
            </a:r>
            <a:endParaRPr lang="en-US" altLang="zh-CN" sz="1400" dirty="0">
              <a:latin typeface="微软雅黑" panose="020B0503020204020204" charset="-122"/>
              <a:ea typeface="微软雅黑" panose="020B0503020204020204" charset="-122"/>
              <a:cs typeface="微软雅黑" panose="020B0503020204020204" charset="-122"/>
            </a:endParaRPr>
          </a:p>
        </p:txBody>
      </p:sp>
      <p:sp>
        <p:nvSpPr>
          <p:cNvPr id="123" name="文本框 122"/>
          <p:cNvSpPr txBox="1"/>
          <p:nvPr/>
        </p:nvSpPr>
        <p:spPr>
          <a:xfrm>
            <a:off x="961390" y="2573655"/>
            <a:ext cx="2477135" cy="1232535"/>
          </a:xfrm>
          <a:prstGeom prst="rect">
            <a:avLst/>
          </a:prstGeom>
          <a:noFill/>
        </p:spPr>
        <p:txBody>
          <a:bodyPr wrap="square">
            <a:spAutoFit/>
          </a:bodyPr>
          <a:lstStyle>
            <a:defPPr>
              <a:defRPr lang="en-US"/>
            </a:defPPr>
            <a:lvl1pPr marL="285750" indent="-285750">
              <a:lnSpc>
                <a:spcPct val="120000"/>
              </a:lnSpc>
              <a:spcAft>
                <a:spcPts val="1000"/>
              </a:spcAft>
              <a:buFont typeface="Wingdings" panose="05000000000000000000" pitchFamily="2" charset="2"/>
              <a:buChar char="n"/>
              <a:defRPr sz="1200"/>
            </a:lvl1pPr>
          </a:lstStyle>
          <a:p>
            <a:pPr>
              <a:lnSpc>
                <a:spcPct val="110000"/>
              </a:lnSpc>
              <a:buFont typeface="Wingdings" panose="05000000000000000000" charset="0"/>
              <a:buChar char="Ø"/>
            </a:pPr>
            <a:r>
              <a:rPr lang="zh-CN" altLang="en-US" dirty="0">
                <a:solidFill>
                  <a:schemeClr val="tx2"/>
                </a:solidFill>
                <a:latin typeface="微软雅黑" panose="020B0503020204020204" charset="-122"/>
                <a:ea typeface="微软雅黑" panose="020B0503020204020204" charset="-122"/>
                <a:cs typeface="微软雅黑" panose="020B0503020204020204" charset="-122"/>
              </a:rPr>
              <a:t>团队扩编（</a:t>
            </a:r>
            <a:r>
              <a:rPr lang="en-US" altLang="zh-CN" dirty="0">
                <a:solidFill>
                  <a:schemeClr val="tx2"/>
                </a:solidFill>
                <a:latin typeface="微软雅黑" panose="020B0503020204020204" charset="-122"/>
                <a:ea typeface="微软雅黑" panose="020B0503020204020204" charset="-122"/>
                <a:cs typeface="微软雅黑" panose="020B0503020204020204" charset="-122"/>
              </a:rPr>
              <a:t>2</a:t>
            </a:r>
            <a:r>
              <a:rPr lang="zh-CN" altLang="en-US" dirty="0">
                <a:solidFill>
                  <a:schemeClr val="tx2"/>
                </a:solidFill>
                <a:latin typeface="微软雅黑" panose="020B0503020204020204" charset="-122"/>
                <a:ea typeface="微软雅黑" panose="020B0503020204020204" charset="-122"/>
                <a:cs typeface="微软雅黑" panose="020B0503020204020204" charset="-122"/>
              </a:rPr>
              <a:t>月报告渠道二部架构调整及计划</a:t>
            </a:r>
            <a:r>
              <a:rPr lang="en-US" altLang="zh-CN" dirty="0">
                <a:solidFill>
                  <a:schemeClr val="tx2"/>
                </a:solidFill>
                <a:latin typeface="微软雅黑" panose="020B0503020204020204" charset="-122"/>
                <a:ea typeface="微软雅黑" panose="020B0503020204020204" charset="-122"/>
                <a:cs typeface="微软雅黑" panose="020B0503020204020204" charset="-122"/>
              </a:rPr>
              <a:t>3-4</a:t>
            </a:r>
            <a:r>
              <a:rPr lang="zh-CN" altLang="en-US" dirty="0">
                <a:solidFill>
                  <a:schemeClr val="tx2"/>
                </a:solidFill>
                <a:latin typeface="微软雅黑" panose="020B0503020204020204" charset="-122"/>
                <a:ea typeface="微软雅黑" panose="020B0503020204020204" charset="-122"/>
                <a:cs typeface="微软雅黑" panose="020B0503020204020204" charset="-122"/>
              </a:rPr>
              <a:t>月完成团队扩编</a:t>
            </a:r>
            <a:r>
              <a:rPr lang="en-US" altLang="zh-CN" dirty="0">
                <a:solidFill>
                  <a:schemeClr val="tx2"/>
                </a:solidFill>
                <a:latin typeface="微软雅黑" panose="020B0503020204020204" charset="-122"/>
                <a:ea typeface="微软雅黑" panose="020B0503020204020204" charset="-122"/>
                <a:cs typeface="微软雅黑" panose="020B0503020204020204" charset="-122"/>
              </a:rPr>
              <a:t>60</a:t>
            </a:r>
            <a:r>
              <a:rPr lang="zh-CN" altLang="en-US" dirty="0">
                <a:solidFill>
                  <a:schemeClr val="tx2"/>
                </a:solidFill>
                <a:latin typeface="微软雅黑" panose="020B0503020204020204" charset="-122"/>
                <a:ea typeface="微软雅黑" panose="020B0503020204020204" charset="-122"/>
                <a:cs typeface="微软雅黑" panose="020B0503020204020204" charset="-122"/>
              </a:rPr>
              <a:t>人）</a:t>
            </a: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a:p>
            <a:pPr>
              <a:lnSpc>
                <a:spcPct val="110000"/>
              </a:lnSpc>
              <a:buFont typeface="Wingdings" panose="05000000000000000000" charset="0"/>
              <a:buChar char="Ø"/>
            </a:pPr>
            <a:r>
              <a:rPr lang="en-US" altLang="zh-CN" dirty="0">
                <a:solidFill>
                  <a:schemeClr val="tx2"/>
                </a:solidFill>
                <a:latin typeface="微软雅黑" panose="020B0503020204020204" charset="-122"/>
                <a:ea typeface="微软雅黑" panose="020B0503020204020204" charset="-122"/>
                <a:cs typeface="微软雅黑" panose="020B0503020204020204" charset="-122"/>
              </a:rPr>
              <a:t>3</a:t>
            </a:r>
            <a:r>
              <a:rPr lang="zh-CN" altLang="en-US" dirty="0">
                <a:solidFill>
                  <a:schemeClr val="tx2"/>
                </a:solidFill>
                <a:latin typeface="微软雅黑" panose="020B0503020204020204" charset="-122"/>
                <a:ea typeface="微软雅黑" panose="020B0503020204020204" charset="-122"/>
                <a:cs typeface="微软雅黑" panose="020B0503020204020204" charset="-122"/>
              </a:rPr>
              <a:t>月团队业绩突破</a:t>
            </a:r>
            <a:r>
              <a:rPr lang="en-US" altLang="zh-CN" dirty="0">
                <a:solidFill>
                  <a:schemeClr val="tx2"/>
                </a:solidFill>
                <a:latin typeface="微软雅黑" panose="020B0503020204020204" charset="-122"/>
                <a:ea typeface="微软雅黑" panose="020B0503020204020204" charset="-122"/>
                <a:cs typeface="微软雅黑" panose="020B0503020204020204" charset="-122"/>
              </a:rPr>
              <a:t>1.2</a:t>
            </a:r>
            <a:r>
              <a:rPr lang="zh-CN" altLang="en-US" dirty="0">
                <a:solidFill>
                  <a:schemeClr val="tx2"/>
                </a:solidFill>
                <a:latin typeface="微软雅黑" panose="020B0503020204020204" charset="-122"/>
                <a:ea typeface="微软雅黑" panose="020B0503020204020204" charset="-122"/>
                <a:cs typeface="微软雅黑" panose="020B0503020204020204" charset="-122"/>
              </a:rPr>
              <a:t>亿，</a:t>
            </a:r>
            <a:r>
              <a:rPr lang="en-US" altLang="zh-CN" dirty="0">
                <a:solidFill>
                  <a:schemeClr val="tx2"/>
                </a:solidFill>
                <a:latin typeface="微软雅黑" panose="020B0503020204020204" charset="-122"/>
                <a:ea typeface="微软雅黑" panose="020B0503020204020204" charset="-122"/>
                <a:cs typeface="微软雅黑" panose="020B0503020204020204" charset="-122"/>
              </a:rPr>
              <a:t>4</a:t>
            </a:r>
            <a:r>
              <a:rPr lang="zh-CN" altLang="en-US" dirty="0">
                <a:solidFill>
                  <a:schemeClr val="tx2"/>
                </a:solidFill>
                <a:latin typeface="微软雅黑" panose="020B0503020204020204" charset="-122"/>
                <a:ea typeface="微软雅黑" panose="020B0503020204020204" charset="-122"/>
                <a:cs typeface="微软雅黑" panose="020B0503020204020204" charset="-122"/>
              </a:rPr>
              <a:t>月突破</a:t>
            </a:r>
            <a:r>
              <a:rPr lang="en-US" altLang="zh-CN" dirty="0">
                <a:solidFill>
                  <a:schemeClr val="tx2"/>
                </a:solidFill>
                <a:latin typeface="微软雅黑" panose="020B0503020204020204" charset="-122"/>
                <a:ea typeface="微软雅黑" panose="020B0503020204020204" charset="-122"/>
                <a:cs typeface="微软雅黑" panose="020B0503020204020204" charset="-122"/>
              </a:rPr>
              <a:t>2</a:t>
            </a:r>
            <a:r>
              <a:rPr lang="zh-CN" altLang="en-US" dirty="0">
                <a:solidFill>
                  <a:schemeClr val="tx2"/>
                </a:solidFill>
                <a:latin typeface="微软雅黑" panose="020B0503020204020204" charset="-122"/>
                <a:ea typeface="微软雅黑" panose="020B0503020204020204" charset="-122"/>
                <a:cs typeface="微软雅黑" panose="020B0503020204020204" charset="-122"/>
              </a:rPr>
              <a:t>亿</a:t>
            </a:r>
            <a:endParaRPr lang="zh-CN" altLang="en-US"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7" name="文本框 126"/>
          <p:cNvSpPr txBox="1"/>
          <p:nvPr/>
        </p:nvSpPr>
        <p:spPr>
          <a:xfrm>
            <a:off x="820420" y="5450840"/>
            <a:ext cx="2251075" cy="1029970"/>
          </a:xfrm>
          <a:prstGeom prst="rect">
            <a:avLst/>
          </a:prstGeom>
          <a:noFill/>
        </p:spPr>
        <p:txBody>
          <a:bodyPr wrap="square">
            <a:spAutoFit/>
          </a:bodyPr>
          <a:lstStyle>
            <a:defPPr>
              <a:defRPr lang="en-US"/>
            </a:defPPr>
            <a:lvl1pPr marL="285750" indent="-285750">
              <a:lnSpc>
                <a:spcPct val="120000"/>
              </a:lnSpc>
              <a:spcAft>
                <a:spcPts val="1000"/>
              </a:spcAft>
              <a:buFont typeface="Wingdings" panose="05000000000000000000" pitchFamily="2" charset="2"/>
              <a:buChar char="n"/>
              <a:defRPr sz="1200"/>
            </a:lvl1pPr>
          </a:lstStyle>
          <a:p>
            <a:pPr lvl="0" algn="l">
              <a:lnSpc>
                <a:spcPct val="110000"/>
              </a:lnSpc>
              <a:buClrTx/>
              <a:buSzTx/>
              <a:buFont typeface="Wingdings" panose="05000000000000000000" charset="0"/>
              <a:buChar char="Ø"/>
            </a:pP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组织舞林大会</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参加人数</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200</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人，认购</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3</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套</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l">
              <a:lnSpc>
                <a:spcPct val="110000"/>
              </a:lnSpc>
              <a:buClrTx/>
              <a:buSzTx/>
              <a:buFont typeface="Wingdings" panose="05000000000000000000" charset="0"/>
              <a:buChar char="Ø"/>
            </a:pP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走进河北钢铁集团实现认购</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3</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套，同时</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5</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月突破</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2.2</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亿</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28" name="文本框 127"/>
          <p:cNvSpPr txBox="1"/>
          <p:nvPr/>
        </p:nvSpPr>
        <p:spPr>
          <a:xfrm>
            <a:off x="4587875" y="1566545"/>
            <a:ext cx="2331720" cy="1029970"/>
          </a:xfrm>
          <a:prstGeom prst="rect">
            <a:avLst/>
          </a:prstGeom>
          <a:noFill/>
        </p:spPr>
        <p:txBody>
          <a:bodyPr wrap="square">
            <a:spAutoFit/>
          </a:bodyPr>
          <a:lstStyle>
            <a:defPPr>
              <a:defRPr lang="en-US"/>
            </a:defPPr>
            <a:lvl1pPr marL="285750" indent="-285750">
              <a:lnSpc>
                <a:spcPct val="120000"/>
              </a:lnSpc>
              <a:spcAft>
                <a:spcPts val="1000"/>
              </a:spcAft>
              <a:buFont typeface="Wingdings" panose="05000000000000000000" pitchFamily="2" charset="2"/>
              <a:buChar char="n"/>
              <a:defRPr sz="1200"/>
            </a:lvl1pPr>
          </a:lstStyle>
          <a:p>
            <a:pPr lvl="0" algn="l">
              <a:lnSpc>
                <a:spcPct val="110000"/>
              </a:lnSpc>
              <a:buClrTx/>
              <a:buSzTx/>
              <a:buFont typeface="Wingdings" panose="05000000000000000000" charset="0"/>
              <a:buChar char="Ø"/>
            </a:pP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政府严查，售楼部关闭，所有工作停滞</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l">
              <a:lnSpc>
                <a:spcPct val="110000"/>
              </a:lnSpc>
              <a:buClrTx/>
              <a:buSzTx/>
              <a:buFont typeface="Wingdings" panose="05000000000000000000" charset="0"/>
              <a:buChar char="Ø"/>
            </a:pP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组织员工专项培训，并考试，将团队业务能力再提升</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29" name="文本框 128"/>
          <p:cNvSpPr txBox="1"/>
          <p:nvPr/>
        </p:nvSpPr>
        <p:spPr>
          <a:xfrm>
            <a:off x="3438525" y="5878195"/>
            <a:ext cx="3229610" cy="624840"/>
          </a:xfrm>
          <a:prstGeom prst="rect">
            <a:avLst/>
          </a:prstGeom>
          <a:noFill/>
        </p:spPr>
        <p:txBody>
          <a:bodyPr wrap="square">
            <a:spAutoFit/>
          </a:bodyPr>
          <a:lstStyle>
            <a:defPPr>
              <a:defRPr lang="en-US"/>
            </a:defPPr>
            <a:lvl1pPr marL="285750" indent="-285750">
              <a:lnSpc>
                <a:spcPct val="120000"/>
              </a:lnSpc>
              <a:spcAft>
                <a:spcPts val="1000"/>
              </a:spcAft>
              <a:buFont typeface="Wingdings" panose="05000000000000000000" pitchFamily="2" charset="2"/>
              <a:buChar char="n"/>
              <a:defRPr sz="1200"/>
            </a:lvl1pPr>
          </a:lstStyle>
          <a:p>
            <a:pPr lvl="0" algn="l">
              <a:lnSpc>
                <a:spcPct val="110000"/>
              </a:lnSpc>
              <a:buClrTx/>
              <a:buSzTx/>
              <a:buFont typeface="Wingdings" panose="05000000000000000000" charset="0"/>
              <a:buChar char="Ø"/>
            </a:pP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团购成功，实现签约并回款</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7600</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余万</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l">
              <a:lnSpc>
                <a:spcPct val="110000"/>
              </a:lnSpc>
              <a:buClrTx/>
              <a:buSzTx/>
              <a:buFont typeface="Wingdings" panose="05000000000000000000" charset="0"/>
              <a:buChar char="Ø"/>
            </a:pP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历时</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6</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个月洽谈协商，实现渠道首例团购</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30" name="文本框 129"/>
          <p:cNvSpPr txBox="1"/>
          <p:nvPr/>
        </p:nvSpPr>
        <p:spPr>
          <a:xfrm>
            <a:off x="5662515" y="4811058"/>
            <a:ext cx="2139851" cy="827405"/>
          </a:xfrm>
          <a:prstGeom prst="rect">
            <a:avLst/>
          </a:prstGeom>
          <a:noFill/>
        </p:spPr>
        <p:txBody>
          <a:bodyPr wrap="square">
            <a:spAutoFit/>
          </a:bodyPr>
          <a:lstStyle>
            <a:defPPr>
              <a:defRPr lang="en-US"/>
            </a:defPPr>
            <a:lvl1pPr marL="285750" indent="-285750">
              <a:lnSpc>
                <a:spcPct val="120000"/>
              </a:lnSpc>
              <a:spcAft>
                <a:spcPts val="1000"/>
              </a:spcAft>
              <a:buFont typeface="Wingdings" panose="05000000000000000000" pitchFamily="2" charset="2"/>
              <a:buChar char="n"/>
              <a:defRPr sz="1200"/>
            </a:lvl1pPr>
          </a:lstStyle>
          <a:p>
            <a:pPr lvl="0" algn="l">
              <a:lnSpc>
                <a:spcPct val="110000"/>
              </a:lnSpc>
              <a:buClrTx/>
              <a:buSzTx/>
              <a:buFont typeface="Wingdings" panose="05000000000000000000" charset="0"/>
              <a:buChar char="Ø"/>
            </a:pP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组织世纪花园国际城小区业主水消夏畅游活动</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l">
              <a:lnSpc>
                <a:spcPct val="110000"/>
              </a:lnSpc>
              <a:buClrTx/>
              <a:buSzTx/>
              <a:buFont typeface="Wingdings" panose="05000000000000000000" charset="0"/>
              <a:buChar char="Ø"/>
            </a:pP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认购</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4</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套龙口认筹</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8</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组</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31" name="文本框 130"/>
          <p:cNvSpPr txBox="1"/>
          <p:nvPr/>
        </p:nvSpPr>
        <p:spPr>
          <a:xfrm>
            <a:off x="7694914" y="1516343"/>
            <a:ext cx="2159495" cy="901700"/>
          </a:xfrm>
          <a:prstGeom prst="rect">
            <a:avLst/>
          </a:prstGeom>
          <a:noFill/>
        </p:spPr>
        <p:txBody>
          <a:bodyPr wrap="square">
            <a:spAutoFit/>
          </a:bodyPr>
          <a:lstStyle>
            <a:defPPr>
              <a:defRPr lang="en-US"/>
            </a:defPPr>
            <a:lvl1pPr marL="285750" indent="-285750">
              <a:lnSpc>
                <a:spcPct val="120000"/>
              </a:lnSpc>
              <a:spcAft>
                <a:spcPts val="1000"/>
              </a:spcAft>
              <a:buFont typeface="Wingdings" panose="05000000000000000000" pitchFamily="2" charset="2"/>
              <a:buChar char="n"/>
              <a:defRPr sz="1200"/>
            </a:lvl1pPr>
          </a:lstStyle>
          <a:p>
            <a:pPr lvl="0" algn="l">
              <a:lnSpc>
                <a:spcPct val="110000"/>
              </a:lnSpc>
              <a:buClrTx/>
              <a:buSzTx/>
              <a:buFont typeface="Wingdings" panose="05000000000000000000" charset="0"/>
              <a:buChar char="Ø"/>
            </a:pP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4S</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店集中巡展</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奥迪、凯迪拉克、奔驰丰田等）合活动</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5</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场，冠名活动</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1</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次，实现成交</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5</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套</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5" name="文本框 24"/>
          <p:cNvSpPr txBox="1"/>
          <p:nvPr/>
        </p:nvSpPr>
        <p:spPr>
          <a:xfrm>
            <a:off x="10026650" y="1508760"/>
            <a:ext cx="1914525" cy="699135"/>
          </a:xfrm>
          <a:prstGeom prst="rect">
            <a:avLst/>
          </a:prstGeom>
          <a:noFill/>
        </p:spPr>
        <p:txBody>
          <a:bodyPr wrap="square">
            <a:spAutoFit/>
          </a:bodyPr>
          <a:lstStyle>
            <a:defPPr>
              <a:defRPr lang="en-US"/>
            </a:defPPr>
            <a:lvl1pPr marL="285750" indent="-285750">
              <a:lnSpc>
                <a:spcPct val="120000"/>
              </a:lnSpc>
              <a:spcAft>
                <a:spcPts val="1000"/>
              </a:spcAft>
              <a:buFont typeface="Wingdings" panose="05000000000000000000" pitchFamily="2" charset="2"/>
              <a:buChar char="n"/>
              <a:defRPr sz="1200"/>
            </a:lvl1pPr>
          </a:lstStyle>
          <a:p>
            <a:pPr lvl="0" algn="l">
              <a:lnSpc>
                <a:spcPct val="110000"/>
              </a:lnSpc>
              <a:buClrTx/>
              <a:buSzTx/>
              <a:buFont typeface="Wingdings" panose="05000000000000000000" charset="0"/>
              <a:buChar char="Ø"/>
            </a:pP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成交业主拜访填写问卷分析成交原因，做老带新以及业主圈层</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7" name="文本框 26"/>
          <p:cNvSpPr txBox="1"/>
          <p:nvPr/>
        </p:nvSpPr>
        <p:spPr>
          <a:xfrm>
            <a:off x="961353" y="2201303"/>
            <a:ext cx="2910625" cy="344005"/>
          </a:xfrm>
          <a:prstGeom prst="rect">
            <a:avLst/>
          </a:prstGeom>
          <a:noFill/>
        </p:spPr>
        <p:txBody>
          <a:bodyPr wrap="square">
            <a:spAutoFit/>
          </a:bodyPr>
          <a:lstStyle>
            <a:defPPr>
              <a:defRPr lang="en-US"/>
            </a:defPPr>
            <a:lvl1pPr indent="0">
              <a:lnSpc>
                <a:spcPct val="110000"/>
              </a:lnSpc>
              <a:spcAft>
                <a:spcPts val="1000"/>
              </a:spcAft>
              <a:buFont typeface="Wingdings" panose="05000000000000000000" pitchFamily="2" charset="2"/>
              <a:buNone/>
              <a:defRPr sz="1600">
                <a:solidFill>
                  <a:schemeClr val="accent4"/>
                </a:solidFill>
                <a:latin typeface="+mj-ea"/>
                <a:ea typeface="+mj-ea"/>
              </a:defRPr>
            </a:lvl1pPr>
          </a:lstStyle>
          <a:p>
            <a:r>
              <a:rPr lang="zh-CN" altLang="en-US" b="1" dirty="0">
                <a:solidFill>
                  <a:schemeClr val="accent1"/>
                </a:solidFill>
                <a:latin typeface="微软雅黑" panose="020B0503020204020204" charset="-122"/>
                <a:ea typeface="微软雅黑" panose="020B0503020204020204" charset="-122"/>
                <a:cs typeface="微软雅黑" panose="020B0503020204020204" charset="-122"/>
              </a:rPr>
              <a:t>团队飞跃</a:t>
            </a:r>
            <a:endParaRPr lang="zh-CN" altLang="en-US"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07" name="文本框 106"/>
          <p:cNvSpPr txBox="1"/>
          <p:nvPr/>
        </p:nvSpPr>
        <p:spPr>
          <a:xfrm>
            <a:off x="820566" y="5022034"/>
            <a:ext cx="2499144" cy="344005"/>
          </a:xfrm>
          <a:prstGeom prst="rect">
            <a:avLst/>
          </a:prstGeom>
          <a:noFill/>
        </p:spPr>
        <p:txBody>
          <a:bodyPr wrap="square">
            <a:spAutoFit/>
          </a:bodyPr>
          <a:lstStyle>
            <a:defPPr>
              <a:defRPr lang="en-US"/>
            </a:defPPr>
            <a:lvl1pPr indent="0">
              <a:lnSpc>
                <a:spcPct val="110000"/>
              </a:lnSpc>
              <a:spcAft>
                <a:spcPts val="1000"/>
              </a:spcAft>
              <a:buFont typeface="Wingdings" panose="05000000000000000000" pitchFamily="2" charset="2"/>
              <a:buNone/>
              <a:defRPr sz="1600">
                <a:solidFill>
                  <a:schemeClr val="accent4"/>
                </a:solidFill>
                <a:latin typeface="+mj-ea"/>
                <a:ea typeface="+mj-ea"/>
              </a:defRPr>
            </a:lvl1pPr>
          </a:lstStyle>
          <a:p>
            <a:r>
              <a:rPr lang="zh-CN" altLang="en-US" b="1" dirty="0">
                <a:solidFill>
                  <a:schemeClr val="accent5"/>
                </a:solidFill>
                <a:latin typeface="微软雅黑" panose="020B0503020204020204" charset="-122"/>
                <a:ea typeface="微软雅黑" panose="020B0503020204020204" charset="-122"/>
                <a:cs typeface="微软雅黑" panose="020B0503020204020204" charset="-122"/>
              </a:rPr>
              <a:t>舞动辉煌</a:t>
            </a:r>
            <a:endParaRPr lang="zh-CN" altLang="en-US"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09" name="文本框 108"/>
          <p:cNvSpPr txBox="1"/>
          <p:nvPr/>
        </p:nvSpPr>
        <p:spPr>
          <a:xfrm>
            <a:off x="4666098" y="1168178"/>
            <a:ext cx="2476508" cy="344005"/>
          </a:xfrm>
          <a:prstGeom prst="rect">
            <a:avLst/>
          </a:prstGeom>
          <a:noFill/>
        </p:spPr>
        <p:txBody>
          <a:bodyPr wrap="square">
            <a:spAutoFit/>
          </a:bodyPr>
          <a:lstStyle>
            <a:defPPr>
              <a:defRPr lang="en-US"/>
            </a:defPPr>
            <a:lvl1pPr indent="0">
              <a:lnSpc>
                <a:spcPct val="110000"/>
              </a:lnSpc>
              <a:spcAft>
                <a:spcPts val="1000"/>
              </a:spcAft>
              <a:buFont typeface="Wingdings" panose="05000000000000000000" pitchFamily="2" charset="2"/>
              <a:buNone/>
              <a:defRPr sz="1600">
                <a:solidFill>
                  <a:schemeClr val="accent4"/>
                </a:solidFill>
                <a:latin typeface="+mj-ea"/>
                <a:ea typeface="+mj-ea"/>
              </a:defRPr>
            </a:lvl1pPr>
          </a:lstStyle>
          <a:p>
            <a:r>
              <a:rPr lang="zh-CN" altLang="en-US"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逆境提升</a:t>
            </a:r>
            <a:endParaRPr lang="zh-CN" altLang="en-US"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11" name="文本框 110"/>
          <p:cNvSpPr txBox="1"/>
          <p:nvPr/>
        </p:nvSpPr>
        <p:spPr>
          <a:xfrm>
            <a:off x="3438639" y="5465232"/>
            <a:ext cx="1005403" cy="344325"/>
          </a:xfrm>
          <a:prstGeom prst="rect">
            <a:avLst/>
          </a:prstGeom>
          <a:noFill/>
        </p:spPr>
        <p:txBody>
          <a:bodyPr wrap="none">
            <a:spAutoFit/>
          </a:bodyPr>
          <a:lstStyle>
            <a:defPPr>
              <a:defRPr lang="en-US"/>
            </a:defPPr>
            <a:lvl1pPr indent="0">
              <a:lnSpc>
                <a:spcPct val="110000"/>
              </a:lnSpc>
              <a:spcAft>
                <a:spcPts val="1000"/>
              </a:spcAft>
              <a:buFont typeface="Wingdings" panose="05000000000000000000" pitchFamily="2" charset="2"/>
              <a:buNone/>
              <a:defRPr sz="1600">
                <a:solidFill>
                  <a:schemeClr val="accent4"/>
                </a:solidFill>
                <a:latin typeface="+mj-ea"/>
                <a:ea typeface="+mj-ea"/>
              </a:defRPr>
            </a:lvl1pPr>
          </a:lstStyle>
          <a:p>
            <a:r>
              <a:rPr lang="zh-CN" altLang="en-US"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团购盛果</a:t>
            </a:r>
            <a:endParaRPr lang="zh-CN" altLang="en-US"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22" name="文本框 121"/>
          <p:cNvSpPr txBox="1"/>
          <p:nvPr/>
        </p:nvSpPr>
        <p:spPr>
          <a:xfrm>
            <a:off x="5662515" y="4382433"/>
            <a:ext cx="1005403" cy="344325"/>
          </a:xfrm>
          <a:prstGeom prst="rect">
            <a:avLst/>
          </a:prstGeom>
          <a:noFill/>
        </p:spPr>
        <p:txBody>
          <a:bodyPr wrap="none">
            <a:spAutoFit/>
          </a:bodyPr>
          <a:lstStyle>
            <a:defPPr>
              <a:defRPr lang="en-US"/>
            </a:defPPr>
            <a:lvl1pPr indent="0">
              <a:lnSpc>
                <a:spcPct val="110000"/>
              </a:lnSpc>
              <a:spcAft>
                <a:spcPts val="1000"/>
              </a:spcAft>
              <a:buFont typeface="Wingdings" panose="05000000000000000000" pitchFamily="2" charset="2"/>
              <a:buNone/>
              <a:defRPr sz="1600">
                <a:solidFill>
                  <a:schemeClr val="accent4"/>
                </a:solidFill>
                <a:latin typeface="+mj-ea"/>
                <a:ea typeface="+mj-ea"/>
              </a:defRPr>
            </a:lvl1pPr>
          </a:lstStyle>
          <a:p>
            <a:r>
              <a:rPr lang="zh-CN" altLang="en-US"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夏日盛事</a:t>
            </a:r>
            <a:endParaRPr lang="zh-CN" altLang="en-US"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24" name="文本框 123"/>
          <p:cNvSpPr txBox="1"/>
          <p:nvPr/>
        </p:nvSpPr>
        <p:spPr>
          <a:xfrm>
            <a:off x="7694914" y="1110578"/>
            <a:ext cx="2331691" cy="344005"/>
          </a:xfrm>
          <a:prstGeom prst="rect">
            <a:avLst/>
          </a:prstGeom>
          <a:noFill/>
        </p:spPr>
        <p:txBody>
          <a:bodyPr wrap="square">
            <a:spAutoFit/>
          </a:bodyPr>
          <a:lstStyle>
            <a:defPPr>
              <a:defRPr lang="en-US"/>
            </a:defPPr>
            <a:lvl1pPr indent="0">
              <a:lnSpc>
                <a:spcPct val="110000"/>
              </a:lnSpc>
              <a:spcAft>
                <a:spcPts val="1000"/>
              </a:spcAft>
              <a:buFont typeface="Wingdings" panose="05000000000000000000" pitchFamily="2" charset="2"/>
              <a:buNone/>
              <a:defRPr sz="1600">
                <a:solidFill>
                  <a:schemeClr val="accent4"/>
                </a:solidFill>
                <a:latin typeface="+mj-ea"/>
                <a:ea typeface="+mj-ea"/>
              </a:defRPr>
            </a:lvl1pPr>
          </a:lstStyle>
          <a:p>
            <a:r>
              <a:rPr lang="zh-CN" altLang="en-US" b="1" dirty="0">
                <a:solidFill>
                  <a:schemeClr val="accent5"/>
                </a:solidFill>
                <a:latin typeface="微软雅黑" panose="020B0503020204020204" charset="-122"/>
                <a:ea typeface="微软雅黑" panose="020B0503020204020204" charset="-122"/>
                <a:cs typeface="微软雅黑" panose="020B0503020204020204" charset="-122"/>
              </a:rPr>
              <a:t>名车巡礼</a:t>
            </a:r>
            <a:endParaRPr lang="zh-CN" altLang="en-US"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32" name="文本框 131"/>
          <p:cNvSpPr txBox="1"/>
          <p:nvPr/>
        </p:nvSpPr>
        <p:spPr>
          <a:xfrm>
            <a:off x="9283542" y="5667864"/>
            <a:ext cx="2516345" cy="1029970"/>
          </a:xfrm>
          <a:prstGeom prst="rect">
            <a:avLst/>
          </a:prstGeom>
          <a:noFill/>
        </p:spPr>
        <p:txBody>
          <a:bodyPr wrap="square">
            <a:spAutoFit/>
          </a:bodyPr>
          <a:lstStyle>
            <a:defPPr>
              <a:defRPr lang="en-US"/>
            </a:defPPr>
            <a:lvl1pPr marL="285750" indent="-285750">
              <a:lnSpc>
                <a:spcPct val="120000"/>
              </a:lnSpc>
              <a:spcAft>
                <a:spcPts val="1000"/>
              </a:spcAft>
              <a:buFont typeface="Wingdings" panose="05000000000000000000" pitchFamily="2" charset="2"/>
              <a:buChar char="n"/>
              <a:defRPr sz="1200"/>
            </a:lvl1pPr>
          </a:lstStyle>
          <a:p>
            <a:pPr lvl="0" algn="l">
              <a:lnSpc>
                <a:spcPct val="110000"/>
              </a:lnSpc>
              <a:buClrTx/>
              <a:buSzTx/>
              <a:buFont typeface="Wingdings" panose="05000000000000000000" charset="0"/>
              <a:buChar char="Ø"/>
            </a:pP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走进金融机构，奢侈品拍卖会</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l">
              <a:lnSpc>
                <a:spcPct val="110000"/>
              </a:lnSpc>
              <a:buClrTx/>
              <a:buSzTx/>
              <a:buFont typeface="Wingdings" panose="05000000000000000000" charset="0"/>
              <a:buChar char="Ø"/>
            </a:pP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后期形成到访</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8</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组，认购</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2</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套同月传奇成交占比案场</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1/6</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，占比部门</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1/4</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25" name="文本框 124"/>
          <p:cNvSpPr txBox="1"/>
          <p:nvPr/>
        </p:nvSpPr>
        <p:spPr>
          <a:xfrm>
            <a:off x="9283542" y="5262099"/>
            <a:ext cx="2258693" cy="344005"/>
          </a:xfrm>
          <a:prstGeom prst="rect">
            <a:avLst/>
          </a:prstGeom>
          <a:noFill/>
        </p:spPr>
        <p:txBody>
          <a:bodyPr wrap="square">
            <a:spAutoFit/>
          </a:bodyPr>
          <a:lstStyle>
            <a:defPPr>
              <a:defRPr lang="en-US"/>
            </a:defPPr>
            <a:lvl1pPr indent="0">
              <a:lnSpc>
                <a:spcPct val="110000"/>
              </a:lnSpc>
              <a:spcAft>
                <a:spcPts val="1000"/>
              </a:spcAft>
              <a:buFont typeface="Wingdings" panose="05000000000000000000" pitchFamily="2" charset="2"/>
              <a:buNone/>
              <a:defRPr sz="1600">
                <a:solidFill>
                  <a:schemeClr val="accent4"/>
                </a:solidFill>
                <a:latin typeface="+mj-ea"/>
                <a:ea typeface="+mj-ea"/>
              </a:defRPr>
            </a:lvl1pPr>
          </a:lstStyle>
          <a:p>
            <a:r>
              <a:rPr lang="zh-CN" altLang="en-US"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财智交融</a:t>
            </a:r>
            <a:endParaRPr lang="zh-CN" altLang="en-US"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26" name="文本框 125"/>
          <p:cNvSpPr txBox="1"/>
          <p:nvPr/>
        </p:nvSpPr>
        <p:spPr>
          <a:xfrm>
            <a:off x="10119950" y="1110578"/>
            <a:ext cx="1880550" cy="344005"/>
          </a:xfrm>
          <a:prstGeom prst="rect">
            <a:avLst/>
          </a:prstGeom>
          <a:noFill/>
        </p:spPr>
        <p:txBody>
          <a:bodyPr wrap="square">
            <a:spAutoFit/>
          </a:bodyPr>
          <a:lstStyle>
            <a:defPPr>
              <a:defRPr lang="en-US"/>
            </a:defPPr>
            <a:lvl1pPr indent="0">
              <a:lnSpc>
                <a:spcPct val="110000"/>
              </a:lnSpc>
              <a:spcAft>
                <a:spcPts val="1000"/>
              </a:spcAft>
              <a:buFont typeface="Wingdings" panose="05000000000000000000" pitchFamily="2" charset="2"/>
              <a:buNone/>
              <a:defRPr sz="1600">
                <a:solidFill>
                  <a:schemeClr val="accent4"/>
                </a:solidFill>
                <a:latin typeface="+mj-ea"/>
                <a:ea typeface="+mj-ea"/>
              </a:defRPr>
            </a:lvl1pPr>
          </a:lstStyle>
          <a:p>
            <a:r>
              <a:rPr lang="zh-CN" altLang="en-US" b="1" dirty="0">
                <a:solidFill>
                  <a:schemeClr val="accent1"/>
                </a:solidFill>
                <a:latin typeface="微软雅黑" panose="020B0503020204020204" charset="-122"/>
                <a:ea typeface="微软雅黑" panose="020B0503020204020204" charset="-122"/>
                <a:cs typeface="微软雅黑" panose="020B0503020204020204" charset="-122"/>
              </a:rPr>
              <a:t>客户深耕</a:t>
            </a:r>
            <a:endParaRPr lang="zh-CN" altLang="en-US"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35" name="Freeform 133"/>
          <p:cNvSpPr/>
          <p:nvPr/>
        </p:nvSpPr>
        <p:spPr>
          <a:xfrm>
            <a:off x="1303759" y="4390722"/>
            <a:ext cx="927995" cy="582912"/>
          </a:xfrm>
          <a:custGeom>
            <a:avLst/>
            <a:gdLst/>
            <a:ahLst/>
            <a:cxnLst/>
            <a:rect l="0" t="0" r="0" b="0"/>
            <a:pathLst>
              <a:path w="947739" h="595314">
                <a:moveTo>
                  <a:pt x="0" y="595313"/>
                </a:moveTo>
                <a:lnTo>
                  <a:pt x="0" y="180000"/>
                </a:lnTo>
                <a:cubicBezTo>
                  <a:pt x="0" y="80640"/>
                  <a:pt x="80640" y="0"/>
                  <a:pt x="180000" y="0"/>
                </a:cubicBezTo>
                <a:lnTo>
                  <a:pt x="947738" y="0"/>
                </a:lnTo>
              </a:path>
            </a:pathLst>
          </a:custGeom>
          <a:noFill/>
          <a:ln w="25400" cap="rnd">
            <a:solidFill>
              <a:schemeClr val="accent5"/>
            </a:solidFill>
            <a:prstDash val="sysDot"/>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latin typeface="微软雅黑" panose="020B0503020204020204" charset="-122"/>
              <a:ea typeface="微软雅黑" panose="020B0503020204020204" charset="-122"/>
              <a:cs typeface="微软雅黑" panose="020B0503020204020204" charset="-122"/>
            </a:endParaRPr>
          </a:p>
        </p:txBody>
      </p:sp>
      <p:cxnSp>
        <p:nvCxnSpPr>
          <p:cNvPr id="141" name="直接连接符 140"/>
          <p:cNvCxnSpPr/>
          <p:nvPr/>
        </p:nvCxnSpPr>
        <p:spPr>
          <a:xfrm>
            <a:off x="3883051" y="5086863"/>
            <a:ext cx="0" cy="366200"/>
          </a:xfrm>
          <a:prstGeom prst="line">
            <a:avLst/>
          </a:prstGeom>
          <a:noFill/>
          <a:ln w="25400" cap="rnd">
            <a:solidFill>
              <a:schemeClr val="accent1">
                <a:lumMod val="60000"/>
                <a:lumOff val="40000"/>
              </a:schemeClr>
            </a:solidFill>
            <a:prstDash val="sysDot"/>
            <a:round/>
          </a:ln>
        </p:spPr>
        <p:style>
          <a:lnRef idx="2">
            <a:schemeClr val="accent1">
              <a:shade val="15000"/>
            </a:schemeClr>
          </a:lnRef>
          <a:fillRef idx="1">
            <a:schemeClr val="accent1"/>
          </a:fillRef>
          <a:effectRef idx="0">
            <a:schemeClr val="accent1"/>
          </a:effectRef>
          <a:fontRef idx="minor">
            <a:schemeClr val="lt1"/>
          </a:fontRef>
        </p:style>
      </p:cxnSp>
      <p:cxnSp>
        <p:nvCxnSpPr>
          <p:cNvPr id="143" name="直接连接符 142"/>
          <p:cNvCxnSpPr/>
          <p:nvPr/>
        </p:nvCxnSpPr>
        <p:spPr>
          <a:xfrm>
            <a:off x="6133947" y="3996045"/>
            <a:ext cx="0" cy="366200"/>
          </a:xfrm>
          <a:prstGeom prst="line">
            <a:avLst/>
          </a:prstGeom>
          <a:noFill/>
          <a:ln w="25400" cap="rnd">
            <a:solidFill>
              <a:schemeClr val="accent1">
                <a:lumMod val="60000"/>
                <a:lumOff val="40000"/>
              </a:schemeClr>
            </a:solidFill>
            <a:prstDash val="sysDot"/>
            <a:round/>
          </a:ln>
        </p:spPr>
        <p:style>
          <a:lnRef idx="2">
            <a:schemeClr val="accent1">
              <a:shade val="15000"/>
            </a:schemeClr>
          </a:lnRef>
          <a:fillRef idx="1">
            <a:schemeClr val="accent1"/>
          </a:fillRef>
          <a:effectRef idx="0">
            <a:schemeClr val="accent1"/>
          </a:effectRef>
          <a:fontRef idx="minor">
            <a:schemeClr val="lt1"/>
          </a:fontRef>
        </p:style>
      </p:cxnSp>
      <p:sp>
        <p:nvSpPr>
          <p:cNvPr id="145" name="Freeform 143"/>
          <p:cNvSpPr/>
          <p:nvPr/>
        </p:nvSpPr>
        <p:spPr>
          <a:xfrm>
            <a:off x="7480300" y="1263650"/>
            <a:ext cx="232939" cy="708733"/>
          </a:xfrm>
          <a:custGeom>
            <a:avLst/>
            <a:gdLst>
              <a:gd name="connsiteX0" fmla="*/ 4804 w 234950"/>
              <a:gd name="connsiteY0" fmla="*/ 714852 h 714852"/>
              <a:gd name="connsiteX1" fmla="*/ 0 w 234950"/>
              <a:gd name="connsiteY1" fmla="*/ 180000 h 714852"/>
              <a:gd name="connsiteX2" fmla="*/ 180000 w 234950"/>
              <a:gd name="connsiteY2" fmla="*/ 0 h 714852"/>
              <a:gd name="connsiteX3" fmla="*/ 234950 w 234950"/>
              <a:gd name="connsiteY3" fmla="*/ 0 h 714852"/>
            </a:gdLst>
            <a:ahLst/>
            <a:cxnLst>
              <a:cxn ang="0">
                <a:pos x="connsiteX0" y="connsiteY0"/>
              </a:cxn>
              <a:cxn ang="0">
                <a:pos x="connsiteX1" y="connsiteY1"/>
              </a:cxn>
              <a:cxn ang="0">
                <a:pos x="connsiteX2" y="connsiteY2"/>
              </a:cxn>
              <a:cxn ang="0">
                <a:pos x="connsiteX3" y="connsiteY3"/>
              </a:cxn>
            </a:cxnLst>
            <a:rect l="l" t="t" r="r" b="b"/>
            <a:pathLst>
              <a:path w="234950" h="714852">
                <a:moveTo>
                  <a:pt x="4804" y="714852"/>
                </a:moveTo>
                <a:cubicBezTo>
                  <a:pt x="4804" y="493335"/>
                  <a:pt x="0" y="401517"/>
                  <a:pt x="0" y="180000"/>
                </a:cubicBezTo>
                <a:cubicBezTo>
                  <a:pt x="0" y="80640"/>
                  <a:pt x="80640" y="0"/>
                  <a:pt x="180000" y="0"/>
                </a:cubicBezTo>
                <a:lnTo>
                  <a:pt x="234950" y="0"/>
                </a:lnTo>
              </a:path>
            </a:pathLst>
          </a:custGeom>
          <a:noFill/>
          <a:ln w="25400" cap="rnd">
            <a:solidFill>
              <a:schemeClr val="accent5"/>
            </a:solidFill>
            <a:prstDash val="sysDot"/>
            <a:round/>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atin typeface="微软雅黑" panose="020B0503020204020204" charset="-122"/>
              <a:ea typeface="微软雅黑" panose="020B0503020204020204" charset="-122"/>
              <a:cs typeface="微软雅黑" panose="020B0503020204020204" charset="-122"/>
            </a:endParaRPr>
          </a:p>
        </p:txBody>
      </p:sp>
      <p:sp>
        <p:nvSpPr>
          <p:cNvPr id="146" name="Freeform 143"/>
          <p:cNvSpPr/>
          <p:nvPr/>
        </p:nvSpPr>
        <p:spPr>
          <a:xfrm>
            <a:off x="741132" y="2382503"/>
            <a:ext cx="232939" cy="1218321"/>
          </a:xfrm>
          <a:custGeom>
            <a:avLst/>
            <a:gdLst>
              <a:gd name="connsiteX0" fmla="*/ 0 w 234950"/>
              <a:gd name="connsiteY0" fmla="*/ 1228839 h 1228839"/>
              <a:gd name="connsiteX1" fmla="*/ 0 w 234950"/>
              <a:gd name="connsiteY1" fmla="*/ 180000 h 1228839"/>
              <a:gd name="connsiteX2" fmla="*/ 180000 w 234950"/>
              <a:gd name="connsiteY2" fmla="*/ 0 h 1228839"/>
              <a:gd name="connsiteX3" fmla="*/ 234950 w 234950"/>
              <a:gd name="connsiteY3" fmla="*/ 0 h 1228839"/>
            </a:gdLst>
            <a:ahLst/>
            <a:cxnLst>
              <a:cxn ang="0">
                <a:pos x="connsiteX0" y="connsiteY0"/>
              </a:cxn>
              <a:cxn ang="0">
                <a:pos x="connsiteX1" y="connsiteY1"/>
              </a:cxn>
              <a:cxn ang="0">
                <a:pos x="connsiteX2" y="connsiteY2"/>
              </a:cxn>
              <a:cxn ang="0">
                <a:pos x="connsiteX3" y="connsiteY3"/>
              </a:cxn>
            </a:cxnLst>
            <a:rect l="l" t="t" r="r" b="b"/>
            <a:pathLst>
              <a:path w="234950" h="1228839">
                <a:moveTo>
                  <a:pt x="0" y="1228839"/>
                </a:moveTo>
                <a:lnTo>
                  <a:pt x="0" y="180000"/>
                </a:lnTo>
                <a:cubicBezTo>
                  <a:pt x="0" y="80640"/>
                  <a:pt x="80640" y="0"/>
                  <a:pt x="180000" y="0"/>
                </a:cubicBezTo>
                <a:lnTo>
                  <a:pt x="234950" y="0"/>
                </a:lnTo>
              </a:path>
            </a:pathLst>
          </a:custGeom>
          <a:noFill/>
          <a:ln w="25400" cap="rnd">
            <a:solidFill>
              <a:schemeClr val="accent1"/>
            </a:solidFill>
            <a:prstDash val="sysDot"/>
            <a:round/>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atin typeface="微软雅黑" panose="020B0503020204020204" charset="-122"/>
              <a:ea typeface="微软雅黑" panose="020B0503020204020204" charset="-122"/>
              <a:cs typeface="微软雅黑" panose="020B0503020204020204" charset="-122"/>
            </a:endParaRPr>
          </a:p>
        </p:txBody>
      </p:sp>
      <p:sp>
        <p:nvSpPr>
          <p:cNvPr id="147" name="Freeform 143"/>
          <p:cNvSpPr/>
          <p:nvPr/>
        </p:nvSpPr>
        <p:spPr>
          <a:xfrm>
            <a:off x="4506236" y="1355296"/>
            <a:ext cx="232939" cy="1218321"/>
          </a:xfrm>
          <a:custGeom>
            <a:avLst/>
            <a:gdLst>
              <a:gd name="connsiteX0" fmla="*/ 0 w 234950"/>
              <a:gd name="connsiteY0" fmla="*/ 1228839 h 1228839"/>
              <a:gd name="connsiteX1" fmla="*/ 0 w 234950"/>
              <a:gd name="connsiteY1" fmla="*/ 180000 h 1228839"/>
              <a:gd name="connsiteX2" fmla="*/ 180000 w 234950"/>
              <a:gd name="connsiteY2" fmla="*/ 0 h 1228839"/>
              <a:gd name="connsiteX3" fmla="*/ 234950 w 234950"/>
              <a:gd name="connsiteY3" fmla="*/ 0 h 1228839"/>
            </a:gdLst>
            <a:ahLst/>
            <a:cxnLst>
              <a:cxn ang="0">
                <a:pos x="connsiteX0" y="connsiteY0"/>
              </a:cxn>
              <a:cxn ang="0">
                <a:pos x="connsiteX1" y="connsiteY1"/>
              </a:cxn>
              <a:cxn ang="0">
                <a:pos x="connsiteX2" y="connsiteY2"/>
              </a:cxn>
              <a:cxn ang="0">
                <a:pos x="connsiteX3" y="connsiteY3"/>
              </a:cxn>
            </a:cxnLst>
            <a:rect l="l" t="t" r="r" b="b"/>
            <a:pathLst>
              <a:path w="234950" h="1228839">
                <a:moveTo>
                  <a:pt x="0" y="1228839"/>
                </a:moveTo>
                <a:lnTo>
                  <a:pt x="0" y="180000"/>
                </a:lnTo>
                <a:cubicBezTo>
                  <a:pt x="0" y="80640"/>
                  <a:pt x="80640" y="0"/>
                  <a:pt x="180000" y="0"/>
                </a:cubicBezTo>
                <a:lnTo>
                  <a:pt x="234950" y="0"/>
                </a:lnTo>
              </a:path>
            </a:pathLst>
          </a:custGeom>
          <a:noFill/>
          <a:ln w="25400" cap="rnd">
            <a:solidFill>
              <a:schemeClr val="accent1">
                <a:lumMod val="60000"/>
                <a:lumOff val="40000"/>
              </a:schemeClr>
            </a:solidFill>
            <a:prstDash val="sysDot"/>
            <a:round/>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atin typeface="微软雅黑" panose="020B0503020204020204" charset="-122"/>
              <a:ea typeface="微软雅黑" panose="020B0503020204020204" charset="-122"/>
              <a:cs typeface="微软雅黑" panose="020B0503020204020204" charset="-122"/>
            </a:endParaRPr>
          </a:p>
        </p:txBody>
      </p:sp>
      <p:sp>
        <p:nvSpPr>
          <p:cNvPr id="150" name="Freeform 147"/>
          <p:cNvSpPr/>
          <p:nvPr/>
        </p:nvSpPr>
        <p:spPr>
          <a:xfrm>
            <a:off x="8593931" y="5143499"/>
            <a:ext cx="666751" cy="307160"/>
          </a:xfrm>
          <a:custGeom>
            <a:avLst/>
            <a:gdLst/>
            <a:ahLst/>
            <a:cxnLst/>
            <a:rect l="0" t="0" r="0" b="0"/>
            <a:pathLst>
              <a:path w="666751" h="307160">
                <a:moveTo>
                  <a:pt x="0" y="0"/>
                </a:moveTo>
                <a:lnTo>
                  <a:pt x="0" y="127159"/>
                </a:lnTo>
                <a:cubicBezTo>
                  <a:pt x="0" y="226519"/>
                  <a:pt x="80640" y="307159"/>
                  <a:pt x="180000" y="307159"/>
                </a:cubicBezTo>
                <a:lnTo>
                  <a:pt x="666750" y="307159"/>
                </a:lnTo>
              </a:path>
            </a:pathLst>
          </a:custGeom>
          <a:noFill/>
          <a:ln w="25400" cap="rnd">
            <a:solidFill>
              <a:schemeClr val="accent5">
                <a:lumMod val="60000"/>
                <a:lumOff val="40000"/>
              </a:schemeClr>
            </a:solidFill>
            <a:prstDash val="sysDot"/>
            <a:round/>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atin typeface="微软雅黑" panose="020B0503020204020204" charset="-122"/>
              <a:ea typeface="微软雅黑" panose="020B0503020204020204" charset="-122"/>
              <a:cs typeface="微软雅黑" panose="020B0503020204020204" charset="-122"/>
            </a:endParaRPr>
          </a:p>
        </p:txBody>
      </p:sp>
      <p:cxnSp>
        <p:nvCxnSpPr>
          <p:cNvPr id="153" name="直接连接符 152"/>
          <p:cNvCxnSpPr/>
          <p:nvPr/>
        </p:nvCxnSpPr>
        <p:spPr>
          <a:xfrm>
            <a:off x="10793102" y="2271713"/>
            <a:ext cx="0" cy="563009"/>
          </a:xfrm>
          <a:prstGeom prst="line">
            <a:avLst/>
          </a:prstGeom>
          <a:noFill/>
          <a:ln w="25400" cap="rnd">
            <a:solidFill>
              <a:schemeClr val="accent1"/>
            </a:solidFill>
            <a:prstDash val="sysDot"/>
            <a:round/>
          </a:ln>
        </p:spPr>
        <p:style>
          <a:lnRef idx="2">
            <a:schemeClr val="accent1">
              <a:shade val="15000"/>
            </a:schemeClr>
          </a:lnRef>
          <a:fillRef idx="1">
            <a:schemeClr val="accent1"/>
          </a:fillRef>
          <a:effectRef idx="0">
            <a:schemeClr val="accent1"/>
          </a:effectRef>
          <a:fontRef idx="minor">
            <a:schemeClr val="lt1"/>
          </a:fontRef>
        </p:style>
      </p:cxn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3" name="图片 2"/>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1" name="文本框 10"/>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effectLst/>
                <a:latin typeface="微软雅黑" panose="020B0503020204020204" charset="-122"/>
                <a:ea typeface="微软雅黑" panose="020B0503020204020204" charset="-122"/>
                <a:cs typeface="微软雅黑" panose="020B0503020204020204" charset="-122"/>
                <a:sym typeface="+mn-ea"/>
              </a:rPr>
              <a:t>业务框架</a:t>
            </a:r>
            <a:r>
              <a:rPr lang="en-US" altLang="zh-CN" sz="2500">
                <a:effectLst/>
                <a:latin typeface="微软雅黑" panose="020B0503020204020204" charset="-122"/>
                <a:ea typeface="微软雅黑" panose="020B0503020204020204" charset="-122"/>
                <a:cs typeface="微软雅黑" panose="020B0503020204020204" charset="-122"/>
                <a:sym typeface="+mn-ea"/>
              </a:rPr>
              <a:t>-</a:t>
            </a:r>
            <a:r>
              <a:rPr sz="2500">
                <a:effectLst/>
                <a:latin typeface="微软雅黑" panose="020B0503020204020204" charset="-122"/>
                <a:ea typeface="微软雅黑" panose="020B0503020204020204" charset="-122"/>
                <a:cs typeface="微软雅黑" panose="020B0503020204020204" charset="-122"/>
                <a:sym typeface="+mn-ea"/>
              </a:rPr>
              <a:t>时间流程架构</a:t>
            </a:r>
            <a:r>
              <a:rPr sz="2500">
                <a:solidFill>
                  <a:schemeClr val="accent1"/>
                </a:solidFill>
                <a:effectLst/>
                <a:latin typeface="微软雅黑" panose="020B0503020204020204" charset="-122"/>
                <a:ea typeface="微软雅黑" panose="020B0503020204020204" charset="-122"/>
                <a:cs typeface="微软雅黑" panose="020B0503020204020204" charset="-122"/>
              </a:rPr>
              <a:t> |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营养趋势三阶段分析法</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 name="五边形 1"/>
          <p:cNvSpPr/>
          <p:nvPr/>
        </p:nvSpPr>
        <p:spPr>
          <a:xfrm>
            <a:off x="1691005" y="1021715"/>
            <a:ext cx="3448050" cy="513715"/>
          </a:xfrm>
          <a:prstGeom prst="homePlate">
            <a:avLst/>
          </a:prstGeom>
          <a:gradFill>
            <a:gsLst>
              <a:gs pos="0">
                <a:schemeClr val="accent1"/>
              </a:gs>
              <a:gs pos="100000">
                <a:schemeClr val="accent1">
                  <a:lumMod val="80000"/>
                  <a:lumOff val="2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3" name="燕尾形 2"/>
          <p:cNvSpPr/>
          <p:nvPr/>
        </p:nvSpPr>
        <p:spPr>
          <a:xfrm>
            <a:off x="5012690" y="1021080"/>
            <a:ext cx="3237865" cy="514350"/>
          </a:xfrm>
          <a:prstGeom prst="chevron">
            <a:avLst/>
          </a:prstGeom>
          <a:gradFill>
            <a:gsLst>
              <a:gs pos="0">
                <a:schemeClr val="accent1"/>
              </a:gs>
              <a:gs pos="100000">
                <a:schemeClr val="accent1">
                  <a:lumMod val="80000"/>
                  <a:lumOff val="2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6" name="燕尾形 5"/>
          <p:cNvSpPr/>
          <p:nvPr/>
        </p:nvSpPr>
        <p:spPr>
          <a:xfrm>
            <a:off x="8114665" y="1021080"/>
            <a:ext cx="3602355" cy="514350"/>
          </a:xfrm>
          <a:prstGeom prst="chevron">
            <a:avLst/>
          </a:prstGeom>
          <a:gradFill>
            <a:gsLst>
              <a:gs pos="0">
                <a:schemeClr val="accent1"/>
              </a:gs>
              <a:gs pos="100000">
                <a:schemeClr val="accent1">
                  <a:lumMod val="80000"/>
                  <a:lumOff val="2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7" name="文本框 6"/>
          <p:cNvSpPr txBox="1"/>
          <p:nvPr>
            <p:custDataLst>
              <p:tags r:id="rId3"/>
            </p:custDataLst>
          </p:nvPr>
        </p:nvSpPr>
        <p:spPr>
          <a:xfrm>
            <a:off x="1909445" y="1125220"/>
            <a:ext cx="2876550" cy="306705"/>
          </a:xfrm>
          <a:prstGeom prst="rect">
            <a:avLst/>
          </a:prstGeom>
          <a:noFill/>
        </p:spPr>
        <p:txBody>
          <a:bodyPr wrap="square" rtlCol="0">
            <a:spAutoFit/>
          </a:bodyPr>
          <a:p>
            <a:r>
              <a:rPr lang="zh-CN" altLang="en-US" sz="1400" b="1">
                <a:solidFill>
                  <a:schemeClr val="bg1"/>
                </a:solidFill>
                <a:latin typeface="微软雅黑" panose="020B0503020204020204" charset="-122"/>
                <a:ea typeface="微软雅黑" panose="020B0503020204020204" charset="-122"/>
                <a:cs typeface="微软雅黑" panose="020B0503020204020204" charset="-122"/>
              </a:rPr>
              <a:t>第一阶段：数据收集、案头研究</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6" name="文本框 55"/>
          <p:cNvSpPr txBox="1"/>
          <p:nvPr/>
        </p:nvSpPr>
        <p:spPr>
          <a:xfrm>
            <a:off x="10910570" y="2611755"/>
            <a:ext cx="1087120" cy="521970"/>
          </a:xfrm>
          <a:prstGeom prst="rect">
            <a:avLst/>
          </a:prstGeom>
          <a:noFill/>
        </p:spPr>
        <p:txBody>
          <a:bodyPr wrap="square" rtlCol="0">
            <a:spAutoFit/>
          </a:bodyPr>
          <a:p>
            <a:r>
              <a:rPr lang="zh-CN" sz="1400" b="1">
                <a:solidFill>
                  <a:schemeClr val="accent5"/>
                </a:solidFill>
                <a:latin typeface="微软雅黑" panose="020B0503020204020204" charset="-122"/>
                <a:ea typeface="微软雅黑" panose="020B0503020204020204" charset="-122"/>
                <a:cs typeface="微软雅黑" panose="020B0503020204020204" charset="-122"/>
              </a:rPr>
              <a:t>内外部研究总结结论</a:t>
            </a:r>
            <a:endParaRPr lang="zh-CN" sz="1400" b="1">
              <a:solidFill>
                <a:schemeClr val="accent5"/>
              </a:solidFill>
              <a:latin typeface="微软雅黑" panose="020B0503020204020204" charset="-122"/>
              <a:ea typeface="微软雅黑" panose="020B0503020204020204" charset="-122"/>
              <a:cs typeface="微软雅黑" panose="020B0503020204020204" charset="-122"/>
            </a:endParaRPr>
          </a:p>
        </p:txBody>
      </p:sp>
      <p:cxnSp>
        <p:nvCxnSpPr>
          <p:cNvPr id="63" name="直接箭头连接符 62"/>
          <p:cNvCxnSpPr/>
          <p:nvPr/>
        </p:nvCxnSpPr>
        <p:spPr>
          <a:xfrm>
            <a:off x="1611630" y="2030730"/>
            <a:ext cx="417830" cy="0"/>
          </a:xfrm>
          <a:prstGeom prst="straightConnector1">
            <a:avLst/>
          </a:prstGeom>
          <a:ln w="25400">
            <a:gradFill>
              <a:gsLst>
                <a:gs pos="0">
                  <a:schemeClr val="accent1">
                    <a:alpha val="0"/>
                  </a:schemeClr>
                </a:gs>
                <a:gs pos="100000">
                  <a:schemeClr val="accent1"/>
                </a:gs>
              </a:gsLst>
              <a:lin ang="0" scaled="1"/>
            </a:gradFill>
            <a:tailEnd type="arrow"/>
          </a:ln>
        </p:spPr>
        <p:style>
          <a:lnRef idx="2">
            <a:schemeClr val="accent1"/>
          </a:lnRef>
          <a:fillRef idx="0">
            <a:srgbClr val="FFFFFF"/>
          </a:fillRef>
          <a:effectRef idx="0">
            <a:srgbClr val="FFFFFF"/>
          </a:effectRef>
          <a:fontRef idx="minor">
            <a:schemeClr val="tx1"/>
          </a:fontRef>
        </p:style>
      </p:cxnSp>
      <p:cxnSp>
        <p:nvCxnSpPr>
          <p:cNvPr id="64" name="直接箭头连接符 63"/>
          <p:cNvCxnSpPr/>
          <p:nvPr/>
        </p:nvCxnSpPr>
        <p:spPr>
          <a:xfrm>
            <a:off x="1438275" y="2572385"/>
            <a:ext cx="558800" cy="0"/>
          </a:xfrm>
          <a:prstGeom prst="straightConnector1">
            <a:avLst/>
          </a:prstGeom>
          <a:ln w="25400">
            <a:gradFill>
              <a:gsLst>
                <a:gs pos="0">
                  <a:schemeClr val="accent1">
                    <a:alpha val="0"/>
                  </a:schemeClr>
                </a:gs>
                <a:gs pos="100000">
                  <a:schemeClr val="accent1"/>
                </a:gs>
              </a:gsLst>
              <a:lin ang="0" scaled="1"/>
            </a:gradFill>
            <a:tailEnd type="arrow"/>
          </a:ln>
        </p:spPr>
        <p:style>
          <a:lnRef idx="2">
            <a:schemeClr val="accent1"/>
          </a:lnRef>
          <a:fillRef idx="0">
            <a:srgbClr val="FFFFFF"/>
          </a:fillRef>
          <a:effectRef idx="0">
            <a:srgbClr val="FFFFFF"/>
          </a:effectRef>
          <a:fontRef idx="minor">
            <a:schemeClr val="tx1"/>
          </a:fontRef>
        </p:style>
      </p:cxnSp>
      <p:cxnSp>
        <p:nvCxnSpPr>
          <p:cNvPr id="74" name="直接箭头连接符 73"/>
          <p:cNvCxnSpPr/>
          <p:nvPr/>
        </p:nvCxnSpPr>
        <p:spPr>
          <a:xfrm>
            <a:off x="1706245" y="3545205"/>
            <a:ext cx="417830" cy="0"/>
          </a:xfrm>
          <a:prstGeom prst="straightConnector1">
            <a:avLst/>
          </a:prstGeom>
          <a:ln w="25400">
            <a:gradFill>
              <a:gsLst>
                <a:gs pos="0">
                  <a:schemeClr val="accent1">
                    <a:alpha val="0"/>
                  </a:schemeClr>
                </a:gs>
                <a:gs pos="100000">
                  <a:schemeClr val="accent1"/>
                </a:gs>
              </a:gsLst>
              <a:lin ang="0" scaled="1"/>
            </a:gradFill>
            <a:tailEnd type="arrow"/>
          </a:ln>
        </p:spPr>
        <p:style>
          <a:lnRef idx="2">
            <a:schemeClr val="accent1"/>
          </a:lnRef>
          <a:fillRef idx="0">
            <a:srgbClr val="FFFFFF"/>
          </a:fillRef>
          <a:effectRef idx="0">
            <a:srgbClr val="FFFFFF"/>
          </a:effectRef>
          <a:fontRef idx="minor">
            <a:schemeClr val="tx1"/>
          </a:fontRef>
        </p:style>
      </p:cxnSp>
      <p:cxnSp>
        <p:nvCxnSpPr>
          <p:cNvPr id="75" name="直接箭头连接符 74"/>
          <p:cNvCxnSpPr/>
          <p:nvPr/>
        </p:nvCxnSpPr>
        <p:spPr>
          <a:xfrm>
            <a:off x="1470660" y="3082925"/>
            <a:ext cx="558800" cy="0"/>
          </a:xfrm>
          <a:prstGeom prst="straightConnector1">
            <a:avLst/>
          </a:prstGeom>
          <a:ln w="25400">
            <a:gradFill>
              <a:gsLst>
                <a:gs pos="0">
                  <a:schemeClr val="accent1">
                    <a:alpha val="0"/>
                  </a:schemeClr>
                </a:gs>
                <a:gs pos="100000">
                  <a:schemeClr val="accent1"/>
                </a:gs>
              </a:gsLst>
              <a:lin ang="0" scaled="1"/>
            </a:gradFill>
            <a:tailEnd type="arrow"/>
          </a:ln>
        </p:spPr>
        <p:style>
          <a:lnRef idx="2">
            <a:schemeClr val="accent1"/>
          </a:lnRef>
          <a:fillRef idx="0">
            <a:srgbClr val="FFFFFF"/>
          </a:fillRef>
          <a:effectRef idx="0">
            <a:srgbClr val="FFFFFF"/>
          </a:effectRef>
          <a:fontRef idx="minor">
            <a:schemeClr val="tx1"/>
          </a:fontRef>
        </p:style>
      </p:cxnSp>
      <p:sp>
        <p:nvSpPr>
          <p:cNvPr id="76" name="Oval 56"/>
          <p:cNvSpPr>
            <a:spLocks noChangeArrowheads="1"/>
          </p:cNvSpPr>
          <p:nvPr/>
        </p:nvSpPr>
        <p:spPr bwMode="auto">
          <a:xfrm flipH="1">
            <a:off x="2157730" y="1781810"/>
            <a:ext cx="1052830" cy="2163445"/>
          </a:xfrm>
          <a:prstGeom prst="ellipse">
            <a:avLst/>
          </a:prstGeom>
          <a:solidFill>
            <a:schemeClr val="accent1"/>
          </a:solidFill>
          <a:ln w="25400">
            <a:solidFill>
              <a:schemeClr val="bg1"/>
            </a:solidFill>
          </a:ln>
          <a:effectLst/>
        </p:spPr>
        <p:txBody>
          <a:bodyPr vert="horz" wrap="square" lIns="119474" tIns="59737" rIns="119474" bIns="59737" numCol="1" anchor="t" anchorCtr="0" compatLnSpc="1"/>
          <a:p>
            <a:endParaRPr lang="en-US" sz="3135">
              <a:latin typeface="+mn-ea"/>
              <a:cs typeface="微软雅黑" panose="020B0503020204020204" charset="-122"/>
            </a:endParaRPr>
          </a:p>
        </p:txBody>
      </p:sp>
      <p:sp>
        <p:nvSpPr>
          <p:cNvPr id="77" name="流程图: 接点 6"/>
          <p:cNvSpPr/>
          <p:nvPr/>
        </p:nvSpPr>
        <p:spPr>
          <a:xfrm>
            <a:off x="2592705" y="2200275"/>
            <a:ext cx="243205" cy="243205"/>
          </a:xfrm>
          <a:prstGeom prst="flowChartConnector">
            <a:avLst/>
          </a:prstGeom>
          <a:gradFill>
            <a:gsLst>
              <a:gs pos="38000">
                <a:srgbClr val="D8E5EE">
                  <a:alpha val="100000"/>
                </a:srgbClr>
              </a:gs>
              <a:gs pos="0">
                <a:schemeClr val="bg1"/>
              </a:gs>
              <a:gs pos="100000">
                <a:schemeClr val="accent2">
                  <a:lumMod val="60000"/>
                  <a:lumOff val="4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98" name="流程图: 接点 6"/>
          <p:cNvSpPr/>
          <p:nvPr/>
        </p:nvSpPr>
        <p:spPr>
          <a:xfrm>
            <a:off x="2760345" y="2505075"/>
            <a:ext cx="243205" cy="243205"/>
          </a:xfrm>
          <a:prstGeom prst="flowChartConnector">
            <a:avLst/>
          </a:prstGeom>
          <a:gradFill>
            <a:gsLst>
              <a:gs pos="38000">
                <a:srgbClr val="D8E5EE">
                  <a:alpha val="100000"/>
                </a:srgbClr>
              </a:gs>
              <a:gs pos="0">
                <a:schemeClr val="bg1"/>
              </a:gs>
              <a:gs pos="100000">
                <a:schemeClr val="accent2">
                  <a:lumMod val="60000"/>
                  <a:lumOff val="4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99" name="流程图: 接点 6"/>
          <p:cNvSpPr/>
          <p:nvPr/>
        </p:nvSpPr>
        <p:spPr>
          <a:xfrm>
            <a:off x="2799715" y="2890520"/>
            <a:ext cx="243205" cy="243205"/>
          </a:xfrm>
          <a:prstGeom prst="flowChartConnector">
            <a:avLst/>
          </a:prstGeom>
          <a:gradFill>
            <a:gsLst>
              <a:gs pos="38000">
                <a:srgbClr val="D8E5EE">
                  <a:alpha val="100000"/>
                </a:srgbClr>
              </a:gs>
              <a:gs pos="0">
                <a:schemeClr val="bg1"/>
              </a:gs>
              <a:gs pos="100000">
                <a:schemeClr val="accent2">
                  <a:lumMod val="60000"/>
                  <a:lumOff val="4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100" name="流程图: 接点 6"/>
          <p:cNvSpPr/>
          <p:nvPr/>
        </p:nvSpPr>
        <p:spPr>
          <a:xfrm>
            <a:off x="2660650" y="3270885"/>
            <a:ext cx="243205" cy="243205"/>
          </a:xfrm>
          <a:prstGeom prst="flowChartConnector">
            <a:avLst/>
          </a:prstGeom>
          <a:gradFill>
            <a:gsLst>
              <a:gs pos="38000">
                <a:srgbClr val="D8E5EE">
                  <a:alpha val="100000"/>
                </a:srgbClr>
              </a:gs>
              <a:gs pos="0">
                <a:schemeClr val="bg1"/>
              </a:gs>
              <a:gs pos="100000">
                <a:schemeClr val="accent2">
                  <a:lumMod val="60000"/>
                  <a:lumOff val="4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102" name="流程图: 接点 6"/>
          <p:cNvSpPr/>
          <p:nvPr/>
        </p:nvSpPr>
        <p:spPr>
          <a:xfrm>
            <a:off x="2139950" y="2200275"/>
            <a:ext cx="243205" cy="243205"/>
          </a:xfrm>
          <a:prstGeom prst="flowChartConnector">
            <a:avLst/>
          </a:prstGeom>
          <a:gradFill>
            <a:gsLst>
              <a:gs pos="38000">
                <a:srgbClr val="D8E5EE">
                  <a:alpha val="100000"/>
                </a:srgbClr>
              </a:gs>
              <a:gs pos="0">
                <a:schemeClr val="bg1"/>
              </a:gs>
              <a:gs pos="100000">
                <a:schemeClr val="accent2">
                  <a:lumMod val="60000"/>
                  <a:lumOff val="4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103" name="流程图: 接点 6"/>
          <p:cNvSpPr/>
          <p:nvPr/>
        </p:nvSpPr>
        <p:spPr>
          <a:xfrm>
            <a:off x="2383155" y="2524125"/>
            <a:ext cx="243205" cy="243205"/>
          </a:xfrm>
          <a:prstGeom prst="flowChartConnector">
            <a:avLst/>
          </a:prstGeom>
          <a:gradFill>
            <a:gsLst>
              <a:gs pos="38000">
                <a:srgbClr val="D8E5EE">
                  <a:alpha val="100000"/>
                </a:srgbClr>
              </a:gs>
              <a:gs pos="0">
                <a:schemeClr val="bg1"/>
              </a:gs>
              <a:gs pos="100000">
                <a:schemeClr val="accent2">
                  <a:lumMod val="60000"/>
                  <a:lumOff val="4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104" name="流程图: 接点 6"/>
          <p:cNvSpPr/>
          <p:nvPr/>
        </p:nvSpPr>
        <p:spPr>
          <a:xfrm>
            <a:off x="2417445" y="2961005"/>
            <a:ext cx="243205" cy="243205"/>
          </a:xfrm>
          <a:prstGeom prst="flowChartConnector">
            <a:avLst/>
          </a:prstGeom>
          <a:gradFill>
            <a:gsLst>
              <a:gs pos="38000">
                <a:srgbClr val="D8E5EE">
                  <a:alpha val="100000"/>
                </a:srgbClr>
              </a:gs>
              <a:gs pos="0">
                <a:schemeClr val="bg1"/>
              </a:gs>
              <a:gs pos="100000">
                <a:schemeClr val="accent2">
                  <a:lumMod val="60000"/>
                  <a:lumOff val="4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105" name="流程图: 接点 6"/>
          <p:cNvSpPr/>
          <p:nvPr/>
        </p:nvSpPr>
        <p:spPr>
          <a:xfrm>
            <a:off x="2075180" y="2767330"/>
            <a:ext cx="243205" cy="243205"/>
          </a:xfrm>
          <a:prstGeom prst="flowChartConnector">
            <a:avLst/>
          </a:prstGeom>
          <a:gradFill>
            <a:gsLst>
              <a:gs pos="38000">
                <a:srgbClr val="D8E5EE">
                  <a:alpha val="100000"/>
                </a:srgbClr>
              </a:gs>
              <a:gs pos="0">
                <a:schemeClr val="bg1"/>
              </a:gs>
              <a:gs pos="100000">
                <a:schemeClr val="accent2">
                  <a:lumMod val="60000"/>
                  <a:lumOff val="4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107" name="流程图: 接点 6"/>
          <p:cNvSpPr/>
          <p:nvPr/>
        </p:nvSpPr>
        <p:spPr>
          <a:xfrm>
            <a:off x="2163445" y="3270885"/>
            <a:ext cx="243205" cy="243205"/>
          </a:xfrm>
          <a:prstGeom prst="flowChartConnector">
            <a:avLst/>
          </a:prstGeom>
          <a:gradFill>
            <a:gsLst>
              <a:gs pos="38000">
                <a:srgbClr val="D8E5EE">
                  <a:alpha val="100000"/>
                </a:srgbClr>
              </a:gs>
              <a:gs pos="0">
                <a:schemeClr val="bg1"/>
              </a:gs>
              <a:gs pos="100000">
                <a:schemeClr val="accent2">
                  <a:lumMod val="60000"/>
                  <a:lumOff val="4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grpSp>
        <p:nvGrpSpPr>
          <p:cNvPr id="135" name="组合 134"/>
          <p:cNvGrpSpPr/>
          <p:nvPr/>
        </p:nvGrpSpPr>
        <p:grpSpPr>
          <a:xfrm>
            <a:off x="529590" y="1821180"/>
            <a:ext cx="735965" cy="2178685"/>
            <a:chOff x="834" y="2868"/>
            <a:chExt cx="1159" cy="3431"/>
          </a:xfrm>
        </p:grpSpPr>
        <p:cxnSp>
          <p:nvCxnSpPr>
            <p:cNvPr id="9" name="直接连接符 8"/>
            <p:cNvCxnSpPr/>
            <p:nvPr/>
          </p:nvCxnSpPr>
          <p:spPr>
            <a:xfrm>
              <a:off x="903" y="2868"/>
              <a:ext cx="1090" cy="0"/>
            </a:xfrm>
            <a:prstGeom prst="line">
              <a:avLst/>
            </a:prstGeom>
            <a:ln>
              <a:headEnd type="diamond"/>
            </a:ln>
          </p:spPr>
          <p:style>
            <a:lnRef idx="2">
              <a:schemeClr val="accent1"/>
            </a:lnRef>
            <a:fillRef idx="0">
              <a:srgbClr val="FFFFFF"/>
            </a:fillRef>
            <a:effectRef idx="0">
              <a:srgbClr val="FFFFFF"/>
            </a:effectRef>
            <a:fontRef idx="minor">
              <a:schemeClr val="tx1"/>
            </a:fontRef>
          </p:style>
        </p:cxnSp>
        <p:cxnSp>
          <p:nvCxnSpPr>
            <p:cNvPr id="11" name="直接连接符 10"/>
            <p:cNvCxnSpPr/>
            <p:nvPr/>
          </p:nvCxnSpPr>
          <p:spPr>
            <a:xfrm flipV="1">
              <a:off x="834" y="6285"/>
              <a:ext cx="1157" cy="14"/>
            </a:xfrm>
            <a:prstGeom prst="line">
              <a:avLst/>
            </a:prstGeom>
            <a:ln>
              <a:headEnd type="diamond"/>
            </a:ln>
          </p:spPr>
          <p:style>
            <a:lnRef idx="2">
              <a:schemeClr val="accent1"/>
            </a:lnRef>
            <a:fillRef idx="0">
              <a:srgbClr val="FFFFFF"/>
            </a:fillRef>
            <a:effectRef idx="0">
              <a:srgbClr val="FFFFFF"/>
            </a:effectRef>
            <a:fontRef idx="minor">
              <a:schemeClr val="tx1"/>
            </a:fontRef>
          </p:style>
        </p:cxnSp>
        <p:cxnSp>
          <p:nvCxnSpPr>
            <p:cNvPr id="12" name="直接连接符 11"/>
            <p:cNvCxnSpPr/>
            <p:nvPr/>
          </p:nvCxnSpPr>
          <p:spPr>
            <a:xfrm flipV="1">
              <a:off x="1993" y="2868"/>
              <a:ext cx="0" cy="3423"/>
            </a:xfrm>
            <a:prstGeom prst="line">
              <a:avLst/>
            </a:prstGeom>
          </p:spPr>
          <p:style>
            <a:lnRef idx="2">
              <a:schemeClr val="accent1"/>
            </a:lnRef>
            <a:fillRef idx="0">
              <a:srgbClr val="FFFFFF"/>
            </a:fillRef>
            <a:effectRef idx="0">
              <a:srgbClr val="FFFFFF"/>
            </a:effectRef>
            <a:fontRef idx="minor">
              <a:schemeClr val="tx1"/>
            </a:fontRef>
          </p:style>
        </p:cxnSp>
        <p:sp>
          <p:nvSpPr>
            <p:cNvPr id="108" name="文本框 107"/>
            <p:cNvSpPr txBox="1"/>
            <p:nvPr>
              <p:custDataLst>
                <p:tags r:id="rId4"/>
              </p:custDataLst>
            </p:nvPr>
          </p:nvSpPr>
          <p:spPr>
            <a:xfrm>
              <a:off x="1059" y="3557"/>
              <a:ext cx="762" cy="2082"/>
            </a:xfrm>
            <a:prstGeom prst="rect">
              <a:avLst/>
            </a:prstGeom>
            <a:noFill/>
          </p:spPr>
          <p:txBody>
            <a:bodyPr wrap="square" rtlCol="0" anchor="ctr" anchorCtr="0">
              <a:spAutoFit/>
            </a:bodyPr>
            <a:p>
              <a:r>
                <a:rPr lang="zh-CN" altLang="en-US" sz="2000" b="1">
                  <a:solidFill>
                    <a:schemeClr val="accent1"/>
                  </a:solidFill>
                  <a:latin typeface="微软雅黑" panose="020B0503020204020204" charset="-122"/>
                  <a:ea typeface="微软雅黑" panose="020B0503020204020204" charset="-122"/>
                  <a:cs typeface="微软雅黑" panose="020B0503020204020204" charset="-122"/>
                </a:rPr>
                <a:t>结</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endParaRPr>
            </a:p>
            <a:p>
              <a:r>
                <a:rPr lang="zh-CN" altLang="en-US" sz="2000" b="1">
                  <a:solidFill>
                    <a:schemeClr val="accent1"/>
                  </a:solidFill>
                  <a:latin typeface="微软雅黑" panose="020B0503020204020204" charset="-122"/>
                  <a:ea typeface="微软雅黑" panose="020B0503020204020204" charset="-122"/>
                  <a:cs typeface="微软雅黑" panose="020B0503020204020204" charset="-122"/>
                </a:rPr>
                <a:t>论成果</a:t>
              </a:r>
              <a:endParaRPr lang="en-US" altLang="zh-CN" sz="2000" b="1">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109" name="Freeform 7"/>
          <p:cNvSpPr>
            <a:spLocks noChangeArrowheads="1"/>
          </p:cNvSpPr>
          <p:nvPr/>
        </p:nvSpPr>
        <p:spPr bwMode="auto">
          <a:xfrm flipH="1">
            <a:off x="4706620" y="2192020"/>
            <a:ext cx="590550" cy="1339850"/>
          </a:xfrm>
          <a:custGeom>
            <a:avLst/>
            <a:gdLst>
              <a:gd name="connsiteX0" fmla="*/ 229410 w 458820"/>
              <a:gd name="connsiteY0" fmla="*/ 0 h 1964056"/>
              <a:gd name="connsiteX1" fmla="*/ 458820 w 458820"/>
              <a:gd name="connsiteY1" fmla="*/ 982028 h 1964056"/>
              <a:gd name="connsiteX2" fmla="*/ 229410 w 458820"/>
              <a:gd name="connsiteY2" fmla="*/ 1964056 h 1964056"/>
              <a:gd name="connsiteX3" fmla="*/ 140113 w 458820"/>
              <a:gd name="connsiteY3" fmla="*/ 1886884 h 1964056"/>
              <a:gd name="connsiteX4" fmla="*/ 138579 w 458820"/>
              <a:gd name="connsiteY4" fmla="*/ 1883719 h 1964056"/>
              <a:gd name="connsiteX5" fmla="*/ 107603 w 458820"/>
              <a:gd name="connsiteY5" fmla="*/ 1812513 h 1964056"/>
              <a:gd name="connsiteX6" fmla="*/ 85554 w 458820"/>
              <a:gd name="connsiteY6" fmla="*/ 1741278 h 1964056"/>
              <a:gd name="connsiteX7" fmla="*/ 73264 w 458820"/>
              <a:gd name="connsiteY7" fmla="*/ 1697871 h 1964056"/>
              <a:gd name="connsiteX8" fmla="*/ 59948 w 458820"/>
              <a:gd name="connsiteY8" fmla="*/ 1638839 h 1964056"/>
              <a:gd name="connsiteX9" fmla="*/ 41390 w 458820"/>
              <a:gd name="connsiteY9" fmla="*/ 1542555 h 1964056"/>
              <a:gd name="connsiteX10" fmla="*/ 37932 w 458820"/>
              <a:gd name="connsiteY10" fmla="*/ 1521246 h 1964056"/>
              <a:gd name="connsiteX11" fmla="*/ 18028 w 458820"/>
              <a:gd name="connsiteY11" fmla="*/ 1364278 h 1964056"/>
              <a:gd name="connsiteX12" fmla="*/ 0 w 458820"/>
              <a:gd name="connsiteY12" fmla="*/ 982028 h 1964056"/>
              <a:gd name="connsiteX13" fmla="*/ 18028 w 458820"/>
              <a:gd name="connsiteY13" fmla="*/ 599779 h 1964056"/>
              <a:gd name="connsiteX14" fmla="*/ 37188 w 458820"/>
              <a:gd name="connsiteY14" fmla="*/ 448673 h 1964056"/>
              <a:gd name="connsiteX15" fmla="*/ 43174 w 458820"/>
              <a:gd name="connsiteY15" fmla="*/ 412243 h 1964056"/>
              <a:gd name="connsiteX16" fmla="*/ 58294 w 458820"/>
              <a:gd name="connsiteY16" fmla="*/ 333799 h 1964056"/>
              <a:gd name="connsiteX17" fmla="*/ 75762 w 458820"/>
              <a:gd name="connsiteY17" fmla="*/ 257365 h 1964056"/>
              <a:gd name="connsiteX18" fmla="*/ 82158 w 458820"/>
              <a:gd name="connsiteY18" fmla="*/ 234776 h 1964056"/>
              <a:gd name="connsiteX19" fmla="*/ 109349 w 458820"/>
              <a:gd name="connsiteY19" fmla="*/ 148147 h 1964056"/>
              <a:gd name="connsiteX20" fmla="*/ 142088 w 458820"/>
              <a:gd name="connsiteY20" fmla="*/ 74079 h 1964056"/>
              <a:gd name="connsiteX21" fmla="*/ 161191 w 458820"/>
              <a:gd name="connsiteY21" fmla="*/ 44150 h 1964056"/>
              <a:gd name="connsiteX22" fmla="*/ 229410 w 458820"/>
              <a:gd name="connsiteY22" fmla="*/ 0 h 1964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58820" h="1964056">
                <a:moveTo>
                  <a:pt x="229410" y="0"/>
                </a:moveTo>
                <a:cubicBezTo>
                  <a:pt x="356110" y="0"/>
                  <a:pt x="458820" y="439669"/>
                  <a:pt x="458820" y="982028"/>
                </a:cubicBezTo>
                <a:cubicBezTo>
                  <a:pt x="458820" y="1524387"/>
                  <a:pt x="356110" y="1964056"/>
                  <a:pt x="229410" y="1964056"/>
                </a:cubicBezTo>
                <a:cubicBezTo>
                  <a:pt x="197735" y="1964056"/>
                  <a:pt x="167560" y="1936577"/>
                  <a:pt x="140113" y="1886884"/>
                </a:cubicBezTo>
                <a:lnTo>
                  <a:pt x="138579" y="1883719"/>
                </a:lnTo>
                <a:lnTo>
                  <a:pt x="107603" y="1812513"/>
                </a:lnTo>
                <a:lnTo>
                  <a:pt x="85554" y="1741278"/>
                </a:lnTo>
                <a:lnTo>
                  <a:pt x="73264" y="1697871"/>
                </a:lnTo>
                <a:lnTo>
                  <a:pt x="59948" y="1638839"/>
                </a:lnTo>
                <a:lnTo>
                  <a:pt x="41390" y="1542555"/>
                </a:lnTo>
                <a:lnTo>
                  <a:pt x="37932" y="1521246"/>
                </a:lnTo>
                <a:lnTo>
                  <a:pt x="18028" y="1364278"/>
                </a:lnTo>
                <a:cubicBezTo>
                  <a:pt x="6420" y="1246790"/>
                  <a:pt x="0" y="1117618"/>
                  <a:pt x="0" y="982028"/>
                </a:cubicBezTo>
                <a:cubicBezTo>
                  <a:pt x="0" y="846439"/>
                  <a:pt x="6420" y="717267"/>
                  <a:pt x="18028" y="599779"/>
                </a:cubicBezTo>
                <a:lnTo>
                  <a:pt x="37188" y="448673"/>
                </a:lnTo>
                <a:lnTo>
                  <a:pt x="43174" y="412243"/>
                </a:lnTo>
                <a:lnTo>
                  <a:pt x="58294" y="333799"/>
                </a:lnTo>
                <a:lnTo>
                  <a:pt x="75762" y="257365"/>
                </a:lnTo>
                <a:lnTo>
                  <a:pt x="82158" y="234776"/>
                </a:lnTo>
                <a:lnTo>
                  <a:pt x="109349" y="148147"/>
                </a:lnTo>
                <a:lnTo>
                  <a:pt x="142088" y="74079"/>
                </a:lnTo>
                <a:lnTo>
                  <a:pt x="161191" y="44150"/>
                </a:lnTo>
                <a:cubicBezTo>
                  <a:pt x="182741" y="15457"/>
                  <a:pt x="205654" y="0"/>
                  <a:pt x="229410" y="0"/>
                </a:cubicBezTo>
                <a:close/>
              </a:path>
            </a:pathLst>
          </a:custGeom>
          <a:solidFill>
            <a:schemeClr val="accent1">
              <a:lumMod val="20000"/>
              <a:lumOff val="80000"/>
            </a:schemeClr>
          </a:solidFill>
          <a:ln>
            <a:noFill/>
          </a:ln>
          <a:effectLst/>
        </p:spPr>
        <p:txBody>
          <a:bodyPr vert="horz" wrap="square" lIns="119474" tIns="59737" rIns="119474" bIns="59737" numCol="1" anchor="t" anchorCtr="0" compatLnSpc="1">
            <a:noAutofit/>
          </a:bodyPr>
          <a:p>
            <a:endParaRPr lang="en-US" sz="3135">
              <a:latin typeface="+mn-ea"/>
              <a:cs typeface="微软雅黑" panose="020B0503020204020204" charset="-122"/>
            </a:endParaRPr>
          </a:p>
        </p:txBody>
      </p:sp>
      <p:sp>
        <p:nvSpPr>
          <p:cNvPr id="114" name="Freeform 70"/>
          <p:cNvSpPr/>
          <p:nvPr/>
        </p:nvSpPr>
        <p:spPr bwMode="auto">
          <a:xfrm flipH="1">
            <a:off x="2663825" y="1781810"/>
            <a:ext cx="2633345" cy="2163445"/>
          </a:xfrm>
          <a:custGeom>
            <a:avLst/>
            <a:gdLst>
              <a:gd name="T0" fmla="*/ 1446 w 1446"/>
              <a:gd name="T1" fmla="*/ 3 h 2257"/>
              <a:gd name="T2" fmla="*/ 1446 w 1446"/>
              <a:gd name="T3" fmla="*/ 0 h 2257"/>
              <a:gd name="T4" fmla="*/ 214 w 1446"/>
              <a:gd name="T5" fmla="*/ 405 h 2257"/>
              <a:gd name="T6" fmla="*/ 135 w 1446"/>
              <a:gd name="T7" fmla="*/ 426 h 2257"/>
              <a:gd name="T8" fmla="*/ 0 w 1446"/>
              <a:gd name="T9" fmla="*/ 1130 h 2257"/>
              <a:gd name="T10" fmla="*/ 133 w 1446"/>
              <a:gd name="T11" fmla="*/ 1832 h 2257"/>
              <a:gd name="T12" fmla="*/ 215 w 1446"/>
              <a:gd name="T13" fmla="*/ 1854 h 2257"/>
              <a:gd name="T14" fmla="*/ 1446 w 1446"/>
              <a:gd name="T15" fmla="*/ 2257 h 2257"/>
              <a:gd name="T16" fmla="*/ 1446 w 1446"/>
              <a:gd name="T17" fmla="*/ 2253 h 2257"/>
              <a:gd name="T18" fmla="*/ 1180 w 1446"/>
              <a:gd name="T19" fmla="*/ 1128 h 2257"/>
              <a:gd name="T20" fmla="*/ 1446 w 1446"/>
              <a:gd name="T21" fmla="*/ 3 h 2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6" h="2257">
                <a:moveTo>
                  <a:pt x="1446" y="3"/>
                </a:moveTo>
                <a:cubicBezTo>
                  <a:pt x="1446" y="2"/>
                  <a:pt x="1446" y="1"/>
                  <a:pt x="1446" y="0"/>
                </a:cubicBezTo>
                <a:cubicBezTo>
                  <a:pt x="1075" y="149"/>
                  <a:pt x="662" y="285"/>
                  <a:pt x="214" y="405"/>
                </a:cubicBezTo>
                <a:cubicBezTo>
                  <a:pt x="188" y="412"/>
                  <a:pt x="161" y="419"/>
                  <a:pt x="135" y="426"/>
                </a:cubicBezTo>
                <a:cubicBezTo>
                  <a:pt x="57" y="514"/>
                  <a:pt x="0" y="796"/>
                  <a:pt x="0" y="1130"/>
                </a:cubicBezTo>
                <a:cubicBezTo>
                  <a:pt x="0" y="1462"/>
                  <a:pt x="56" y="1743"/>
                  <a:pt x="133" y="1832"/>
                </a:cubicBezTo>
                <a:cubicBezTo>
                  <a:pt x="161" y="1840"/>
                  <a:pt x="188" y="1847"/>
                  <a:pt x="215" y="1854"/>
                </a:cubicBezTo>
                <a:cubicBezTo>
                  <a:pt x="663" y="1973"/>
                  <a:pt x="1075" y="2108"/>
                  <a:pt x="1446" y="2257"/>
                </a:cubicBezTo>
                <a:cubicBezTo>
                  <a:pt x="1446" y="2256"/>
                  <a:pt x="1446" y="2254"/>
                  <a:pt x="1446" y="2253"/>
                </a:cubicBezTo>
                <a:cubicBezTo>
                  <a:pt x="1297" y="2210"/>
                  <a:pt x="1180" y="1723"/>
                  <a:pt x="1180" y="1128"/>
                </a:cubicBezTo>
                <a:cubicBezTo>
                  <a:pt x="1180" y="533"/>
                  <a:pt x="1297" y="46"/>
                  <a:pt x="1446" y="3"/>
                </a:cubicBezTo>
                <a:close/>
              </a:path>
            </a:pathLst>
          </a:custGeom>
          <a:solidFill>
            <a:schemeClr val="accent1">
              <a:alpha val="80000"/>
            </a:schemeClr>
          </a:solidFill>
          <a:ln>
            <a:noFill/>
          </a:ln>
          <a:effectLst/>
        </p:spPr>
        <p:txBody>
          <a:bodyPr vert="horz" wrap="square" lIns="119474" tIns="59737" rIns="119474" bIns="59737" numCol="1" anchor="t" anchorCtr="0" compatLnSpc="1">
            <a:noAutofit/>
          </a:bodyPr>
          <a:p>
            <a:pPr lvl="0" algn="l">
              <a:buClrTx/>
              <a:buSzTx/>
              <a:buFontTx/>
            </a:pPr>
            <a:endParaRPr lang="en-US" sz="3135">
              <a:latin typeface="+mn-ea"/>
              <a:cs typeface="微软雅黑" panose="020B0503020204020204" charset="-122"/>
              <a:sym typeface="+mn-ea"/>
            </a:endParaRPr>
          </a:p>
        </p:txBody>
      </p:sp>
      <p:sp>
        <p:nvSpPr>
          <p:cNvPr id="123" name="Freeform 72"/>
          <p:cNvSpPr/>
          <p:nvPr/>
        </p:nvSpPr>
        <p:spPr bwMode="auto">
          <a:xfrm flipH="1">
            <a:off x="7927975" y="2424455"/>
            <a:ext cx="2960461" cy="879428"/>
          </a:xfrm>
          <a:custGeom>
            <a:avLst/>
            <a:gdLst>
              <a:gd name="T0" fmla="*/ 1078 w 1078"/>
              <a:gd name="T1" fmla="*/ 0 h 919"/>
              <a:gd name="T2" fmla="*/ 103 w 1078"/>
              <a:gd name="T3" fmla="*/ 139 h 919"/>
              <a:gd name="T4" fmla="*/ 73 w 1078"/>
              <a:gd name="T5" fmla="*/ 142 h 919"/>
              <a:gd name="T6" fmla="*/ 58 w 1078"/>
              <a:gd name="T7" fmla="*/ 144 h 919"/>
              <a:gd name="T8" fmla="*/ 0 w 1078"/>
              <a:gd name="T9" fmla="*/ 460 h 919"/>
              <a:gd name="T10" fmla="*/ 57 w 1078"/>
              <a:gd name="T11" fmla="*/ 774 h 919"/>
              <a:gd name="T12" fmla="*/ 73 w 1078"/>
              <a:gd name="T13" fmla="*/ 776 h 919"/>
              <a:gd name="T14" fmla="*/ 104 w 1078"/>
              <a:gd name="T15" fmla="*/ 779 h 919"/>
              <a:gd name="T16" fmla="*/ 1075 w 1078"/>
              <a:gd name="T17" fmla="*/ 919 h 919"/>
              <a:gd name="T18" fmla="*/ 997 w 1078"/>
              <a:gd name="T19" fmla="*/ 461 h 919"/>
              <a:gd name="T20" fmla="*/ 1078 w 1078"/>
              <a:gd name="T21" fmla="*/ 0 h 9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62" h="1385">
                <a:moveTo>
                  <a:pt x="4642" y="0"/>
                </a:moveTo>
                <a:cubicBezTo>
                  <a:pt x="3337" y="79"/>
                  <a:pt x="1419" y="170"/>
                  <a:pt x="400" y="208"/>
                </a:cubicBezTo>
                <a:lnTo>
                  <a:pt x="379" y="209"/>
                </a:lnTo>
                <a:lnTo>
                  <a:pt x="360" y="209"/>
                </a:lnTo>
                <a:lnTo>
                  <a:pt x="329" y="211"/>
                </a:lnTo>
                <a:lnTo>
                  <a:pt x="319" y="211"/>
                </a:lnTo>
                <a:cubicBezTo>
                  <a:pt x="308" y="212"/>
                  <a:pt x="293" y="212"/>
                  <a:pt x="286" y="212"/>
                </a:cubicBezTo>
                <a:cubicBezTo>
                  <a:pt x="281" y="212"/>
                  <a:pt x="273" y="213"/>
                  <a:pt x="269" y="213"/>
                </a:cubicBezTo>
                <a:cubicBezTo>
                  <a:pt x="264" y="213"/>
                  <a:pt x="256" y="214"/>
                  <a:pt x="253" y="214"/>
                </a:cubicBezTo>
                <a:cubicBezTo>
                  <a:pt x="102" y="266"/>
                  <a:pt x="-3" y="500"/>
                  <a:pt x="0" y="682"/>
                </a:cubicBezTo>
                <a:lnTo>
                  <a:pt x="0" y="692"/>
                </a:lnTo>
                <a:lnTo>
                  <a:pt x="0" y="703"/>
                </a:lnTo>
                <a:cubicBezTo>
                  <a:pt x="-8" y="922"/>
                  <a:pt x="137" y="1124"/>
                  <a:pt x="245" y="1166"/>
                </a:cubicBezTo>
                <a:cubicBezTo>
                  <a:pt x="285" y="1165"/>
                  <a:pt x="3468" y="1303"/>
                  <a:pt x="4662" y="1385"/>
                </a:cubicBezTo>
                <a:lnTo>
                  <a:pt x="4657" y="1382"/>
                </a:lnTo>
                <a:lnTo>
                  <a:pt x="4656" y="1382"/>
                </a:lnTo>
                <a:lnTo>
                  <a:pt x="4651" y="1382"/>
                </a:lnTo>
                <a:lnTo>
                  <a:pt x="4645" y="1381"/>
                </a:lnTo>
                <a:lnTo>
                  <a:pt x="4640" y="1381"/>
                </a:lnTo>
                <a:cubicBezTo>
                  <a:pt x="4469" y="1295"/>
                  <a:pt x="4317" y="984"/>
                  <a:pt x="4323" y="705"/>
                </a:cubicBezTo>
                <a:lnTo>
                  <a:pt x="4323" y="690"/>
                </a:lnTo>
                <a:lnTo>
                  <a:pt x="4323" y="676"/>
                </a:lnTo>
                <a:cubicBezTo>
                  <a:pt x="4317" y="394"/>
                  <a:pt x="4474" y="84"/>
                  <a:pt x="4642" y="0"/>
                </a:cubicBezTo>
                <a:close/>
                <a:moveTo>
                  <a:pt x="245" y="1166"/>
                </a:moveTo>
                <a:lnTo>
                  <a:pt x="246" y="1166"/>
                </a:lnTo>
                <a:lnTo>
                  <a:pt x="240" y="1166"/>
                </a:lnTo>
                <a:lnTo>
                  <a:pt x="237" y="1166"/>
                </a:lnTo>
                <a:lnTo>
                  <a:pt x="240" y="1166"/>
                </a:lnTo>
                <a:lnTo>
                  <a:pt x="245" y="1166"/>
                </a:lnTo>
                <a:close/>
                <a:moveTo>
                  <a:pt x="246" y="1166"/>
                </a:moveTo>
                <a:lnTo>
                  <a:pt x="249" y="1168"/>
                </a:lnTo>
                <a:lnTo>
                  <a:pt x="250" y="1168"/>
                </a:lnTo>
                <a:cubicBezTo>
                  <a:pt x="255" y="1168"/>
                  <a:pt x="264" y="1168"/>
                  <a:pt x="269" y="1168"/>
                </a:cubicBezTo>
                <a:cubicBezTo>
                  <a:pt x="274" y="1169"/>
                  <a:pt x="282" y="1169"/>
                  <a:pt x="285" y="1169"/>
                </a:cubicBezTo>
                <a:cubicBezTo>
                  <a:pt x="295" y="1169"/>
                  <a:pt x="311" y="1170"/>
                  <a:pt x="319" y="1171"/>
                </a:cubicBezTo>
                <a:cubicBezTo>
                  <a:pt x="333" y="1171"/>
                  <a:pt x="354" y="1171"/>
                  <a:pt x="366" y="1172"/>
                </a:cubicBezTo>
                <a:cubicBezTo>
                  <a:pt x="317" y="1170"/>
                  <a:pt x="214" y="1165"/>
                  <a:pt x="246" y="1166"/>
                </a:cubicBezTo>
                <a:close/>
                <a:moveTo>
                  <a:pt x="366" y="1172"/>
                </a:moveTo>
                <a:cubicBezTo>
                  <a:pt x="373" y="1172"/>
                  <a:pt x="384" y="1173"/>
                  <a:pt x="388" y="1173"/>
                </a:cubicBezTo>
                <a:lnTo>
                  <a:pt x="366" y="1172"/>
                </a:lnTo>
                <a:close/>
              </a:path>
            </a:pathLst>
          </a:custGeom>
          <a:solidFill>
            <a:schemeClr val="accent5">
              <a:alpha val="80000"/>
            </a:schemeClr>
          </a:solidFill>
          <a:ln>
            <a:noFill/>
          </a:ln>
          <a:effectLst/>
        </p:spPr>
        <p:txBody>
          <a:bodyPr vert="horz" wrap="square" lIns="119474" tIns="59737" rIns="119474" bIns="59737" numCol="1" anchor="t" anchorCtr="0" compatLnSpc="1">
            <a:noAutofit/>
          </a:bodyPr>
          <a:p>
            <a:pPr lvl="0" algn="l">
              <a:buClrTx/>
              <a:buSzTx/>
              <a:buFontTx/>
            </a:pPr>
            <a:endParaRPr lang="en-US" sz="3135">
              <a:latin typeface="+mn-ea"/>
              <a:cs typeface="微软雅黑" panose="020B0503020204020204" charset="-122"/>
              <a:sym typeface="+mn-ea"/>
            </a:endParaRPr>
          </a:p>
        </p:txBody>
      </p:sp>
      <p:sp>
        <p:nvSpPr>
          <p:cNvPr id="124" name="文本框 123"/>
          <p:cNvSpPr txBox="1"/>
          <p:nvPr>
            <p:custDataLst>
              <p:tags r:id="rId5"/>
            </p:custDataLst>
          </p:nvPr>
        </p:nvSpPr>
        <p:spPr>
          <a:xfrm>
            <a:off x="3211195" y="2533650"/>
            <a:ext cx="1615440" cy="521970"/>
          </a:xfrm>
          <a:prstGeom prst="rect">
            <a:avLst/>
          </a:prstGeom>
          <a:noFill/>
        </p:spPr>
        <p:txBody>
          <a:bodyPr wrap="square" rtlCol="0">
            <a:spAutoFit/>
          </a:bodyPr>
          <a:p>
            <a:pPr algn="ctr"/>
            <a:r>
              <a:rPr lang="zh-CN" altLang="en-US" sz="1400">
                <a:solidFill>
                  <a:schemeClr val="bg1"/>
                </a:solidFill>
                <a:latin typeface="微软雅黑" panose="020B0503020204020204" charset="-122"/>
                <a:ea typeface="微软雅黑" panose="020B0503020204020204" charset="-122"/>
                <a:cs typeface="微软雅黑" panose="020B0503020204020204" charset="-122"/>
              </a:rPr>
              <a:t>全球政治、社会、经济、文化大趋势</a:t>
            </a:r>
            <a:endParaRPr lang="zh-CN" altLang="en-US" sz="14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6" name="流程图: 接点 6"/>
          <p:cNvSpPr/>
          <p:nvPr/>
        </p:nvSpPr>
        <p:spPr>
          <a:xfrm>
            <a:off x="10478770" y="2611120"/>
            <a:ext cx="156210" cy="156210"/>
          </a:xfrm>
          <a:prstGeom prst="flowChartConnector">
            <a:avLst/>
          </a:prstGeom>
          <a:gradFill>
            <a:gsLst>
              <a:gs pos="38000">
                <a:schemeClr val="accent5">
                  <a:lumMod val="20000"/>
                  <a:lumOff val="80000"/>
                  <a:alpha val="100000"/>
                </a:schemeClr>
              </a:gs>
              <a:gs pos="0">
                <a:schemeClr val="bg1"/>
              </a:gs>
              <a:gs pos="100000">
                <a:schemeClr val="accent5">
                  <a:lumMod val="40000"/>
                  <a:lumOff val="6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128" name="流程图: 接点 6"/>
          <p:cNvSpPr/>
          <p:nvPr/>
        </p:nvSpPr>
        <p:spPr>
          <a:xfrm>
            <a:off x="10634980" y="2767330"/>
            <a:ext cx="156210" cy="156210"/>
          </a:xfrm>
          <a:prstGeom prst="flowChartConnector">
            <a:avLst/>
          </a:prstGeom>
          <a:gradFill>
            <a:gsLst>
              <a:gs pos="38000">
                <a:schemeClr val="accent5">
                  <a:lumMod val="20000"/>
                  <a:lumOff val="80000"/>
                  <a:alpha val="100000"/>
                </a:schemeClr>
              </a:gs>
              <a:gs pos="0">
                <a:schemeClr val="bg1"/>
              </a:gs>
              <a:gs pos="100000">
                <a:schemeClr val="accent5">
                  <a:lumMod val="40000"/>
                  <a:lumOff val="6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129" name="流程图: 接点 6"/>
          <p:cNvSpPr/>
          <p:nvPr/>
        </p:nvSpPr>
        <p:spPr>
          <a:xfrm>
            <a:off x="10516870" y="2961005"/>
            <a:ext cx="156210" cy="156210"/>
          </a:xfrm>
          <a:prstGeom prst="flowChartConnector">
            <a:avLst/>
          </a:prstGeom>
          <a:gradFill>
            <a:gsLst>
              <a:gs pos="38000">
                <a:schemeClr val="accent5">
                  <a:lumMod val="20000"/>
                  <a:lumOff val="80000"/>
                  <a:alpha val="100000"/>
                </a:schemeClr>
              </a:gs>
              <a:gs pos="0">
                <a:schemeClr val="bg1"/>
              </a:gs>
              <a:gs pos="100000">
                <a:schemeClr val="accent5">
                  <a:lumMod val="40000"/>
                  <a:lumOff val="60000"/>
                </a:schemeClr>
              </a:gs>
            </a:gsLst>
            <a:path path="circle">
              <a:fillToRect l="50000" t="50000" r="50000" b="50000"/>
            </a:path>
            <a:tileRect/>
          </a:gradFill>
          <a:ln w="12700">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130" name="文本框 129"/>
          <p:cNvSpPr txBox="1"/>
          <p:nvPr>
            <p:custDataLst>
              <p:tags r:id="rId6"/>
            </p:custDataLst>
          </p:nvPr>
        </p:nvSpPr>
        <p:spPr>
          <a:xfrm>
            <a:off x="8408035" y="2611120"/>
            <a:ext cx="1615440" cy="521970"/>
          </a:xfrm>
          <a:prstGeom prst="rect">
            <a:avLst/>
          </a:prstGeom>
          <a:noFill/>
        </p:spPr>
        <p:txBody>
          <a:bodyPr wrap="square" rtlCol="0">
            <a:spAutoFit/>
          </a:bodyPr>
          <a:p>
            <a:pPr algn="ctr"/>
            <a:r>
              <a:rPr lang="en-US" altLang="zh-CN" sz="1400">
                <a:solidFill>
                  <a:schemeClr val="bg1"/>
                </a:solidFill>
                <a:latin typeface="微软雅黑" panose="020B0503020204020204" charset="-122"/>
                <a:ea typeface="微软雅黑" panose="020B0503020204020204" charset="-122"/>
                <a:cs typeface="微软雅黑" panose="020B0503020204020204" charset="-122"/>
              </a:rPr>
              <a:t>8</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个中国相关的</a:t>
            </a:r>
            <a:endParaRPr lang="zh-CN" altLang="en-US" sz="140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400">
                <a:solidFill>
                  <a:schemeClr val="bg1"/>
                </a:solidFill>
                <a:latin typeface="微软雅黑" panose="020B0503020204020204" charset="-122"/>
                <a:ea typeface="微软雅黑" panose="020B0503020204020204" charset="-122"/>
                <a:cs typeface="微软雅黑" panose="020B0503020204020204" charset="-122"/>
              </a:rPr>
              <a:t>影响趋势</a:t>
            </a:r>
            <a:endParaRPr lang="zh-CN" altLang="en-US" sz="14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31" name="任意多边形 130"/>
          <p:cNvSpPr/>
          <p:nvPr/>
        </p:nvSpPr>
        <p:spPr>
          <a:xfrm>
            <a:off x="3112770" y="3350260"/>
            <a:ext cx="7486650" cy="752475"/>
          </a:xfrm>
          <a:custGeom>
            <a:avLst/>
            <a:gdLst>
              <a:gd name="connisteX0" fmla="*/ 0 w 7486650"/>
              <a:gd name="connsiteY0" fmla="*/ 752475 h 752475"/>
              <a:gd name="connisteX1" fmla="*/ 3681095 w 7486650"/>
              <a:gd name="connsiteY1" fmla="*/ 219075 h 752475"/>
              <a:gd name="connisteX2" fmla="*/ 7486650 w 7486650"/>
              <a:gd name="connsiteY2" fmla="*/ 0 h 752475"/>
              <a:gd name="connisteX3" fmla="*/ 7343775 w 7486650"/>
              <a:gd name="connsiteY3" fmla="*/ 209550 h 752475"/>
            </a:gdLst>
            <a:ahLst/>
            <a:cxnLst>
              <a:cxn ang="0">
                <a:pos x="connisteX0" y="connsiteY0"/>
              </a:cxn>
              <a:cxn ang="0">
                <a:pos x="connisteX1" y="connsiteY1"/>
              </a:cxn>
              <a:cxn ang="0">
                <a:pos x="connisteX2" y="connsiteY2"/>
              </a:cxn>
              <a:cxn ang="0">
                <a:pos x="connisteX3" y="connsiteY3"/>
              </a:cxn>
            </a:cxnLst>
            <a:rect l="l" t="t" r="r" b="b"/>
            <a:pathLst>
              <a:path w="7486650" h="752475">
                <a:moveTo>
                  <a:pt x="0" y="752475"/>
                </a:moveTo>
                <a:cubicBezTo>
                  <a:pt x="660400" y="650240"/>
                  <a:pt x="2183765" y="369570"/>
                  <a:pt x="3681095" y="219075"/>
                </a:cubicBezTo>
                <a:cubicBezTo>
                  <a:pt x="5178425" y="68580"/>
                  <a:pt x="6753860" y="1905"/>
                  <a:pt x="7486650" y="0"/>
                </a:cubicBezTo>
              </a:path>
            </a:pathLst>
          </a:custGeom>
          <a:noFill/>
          <a:ln>
            <a:solidFill>
              <a:schemeClr val="accent6">
                <a:lumMod val="40000"/>
                <a:lumOff val="60000"/>
              </a:schemeClr>
            </a:solidFill>
            <a:prstDash val="sysDash"/>
            <a:tailEnd type="triangle" w="lg" len="me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32" name="任意多边形 131"/>
          <p:cNvSpPr/>
          <p:nvPr/>
        </p:nvSpPr>
        <p:spPr>
          <a:xfrm flipV="1">
            <a:off x="2992120" y="1675765"/>
            <a:ext cx="7486650" cy="752475"/>
          </a:xfrm>
          <a:custGeom>
            <a:avLst/>
            <a:gdLst>
              <a:gd name="connisteX0" fmla="*/ 0 w 7486650"/>
              <a:gd name="connsiteY0" fmla="*/ 752475 h 752475"/>
              <a:gd name="connisteX1" fmla="*/ 3681095 w 7486650"/>
              <a:gd name="connsiteY1" fmla="*/ 219075 h 752475"/>
              <a:gd name="connisteX2" fmla="*/ 7486650 w 7486650"/>
              <a:gd name="connsiteY2" fmla="*/ 0 h 752475"/>
              <a:gd name="connisteX3" fmla="*/ 7343775 w 7486650"/>
              <a:gd name="connsiteY3" fmla="*/ 209550 h 752475"/>
            </a:gdLst>
            <a:ahLst/>
            <a:cxnLst>
              <a:cxn ang="0">
                <a:pos x="connisteX0" y="connsiteY0"/>
              </a:cxn>
              <a:cxn ang="0">
                <a:pos x="connisteX1" y="connsiteY1"/>
              </a:cxn>
              <a:cxn ang="0">
                <a:pos x="connisteX2" y="connsiteY2"/>
              </a:cxn>
              <a:cxn ang="0">
                <a:pos x="connisteX3" y="connsiteY3"/>
              </a:cxn>
            </a:cxnLst>
            <a:rect l="l" t="t" r="r" b="b"/>
            <a:pathLst>
              <a:path w="7486650" h="752475">
                <a:moveTo>
                  <a:pt x="0" y="752475"/>
                </a:moveTo>
                <a:cubicBezTo>
                  <a:pt x="660400" y="650240"/>
                  <a:pt x="2183765" y="369570"/>
                  <a:pt x="3681095" y="219075"/>
                </a:cubicBezTo>
                <a:cubicBezTo>
                  <a:pt x="5178425" y="68580"/>
                  <a:pt x="6753860" y="1905"/>
                  <a:pt x="7486650" y="0"/>
                </a:cubicBezTo>
              </a:path>
            </a:pathLst>
          </a:custGeom>
          <a:noFill/>
          <a:ln>
            <a:solidFill>
              <a:schemeClr val="accent6">
                <a:lumMod val="40000"/>
                <a:lumOff val="60000"/>
              </a:schemeClr>
            </a:solidFill>
            <a:prstDash val="sysDash"/>
            <a:tailEnd type="triangle" w="lg" len="me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33" name="文本框 132"/>
          <p:cNvSpPr txBox="1"/>
          <p:nvPr>
            <p:custDataLst>
              <p:tags r:id="rId7"/>
            </p:custDataLst>
          </p:nvPr>
        </p:nvSpPr>
        <p:spPr>
          <a:xfrm>
            <a:off x="5292725" y="1125220"/>
            <a:ext cx="2876550" cy="306705"/>
          </a:xfrm>
          <a:prstGeom prst="rect">
            <a:avLst/>
          </a:prstGeom>
          <a:noFill/>
        </p:spPr>
        <p:txBody>
          <a:bodyPr wrap="square" rtlCol="0">
            <a:spAutoFit/>
          </a:bodyPr>
          <a:p>
            <a:r>
              <a:rPr lang="zh-CN" altLang="en-US" sz="1400" b="1">
                <a:solidFill>
                  <a:schemeClr val="bg1"/>
                </a:solidFill>
                <a:latin typeface="微软雅黑" panose="020B0503020204020204" charset="-122"/>
                <a:ea typeface="微软雅黑" panose="020B0503020204020204" charset="-122"/>
                <a:cs typeface="微软雅黑" panose="020B0503020204020204" charset="-122"/>
              </a:rPr>
              <a:t>第二阶段：数据筛选、专家访谈</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34" name="文本框 133"/>
          <p:cNvSpPr txBox="1"/>
          <p:nvPr>
            <p:custDataLst>
              <p:tags r:id="rId8"/>
            </p:custDataLst>
          </p:nvPr>
        </p:nvSpPr>
        <p:spPr>
          <a:xfrm>
            <a:off x="8477885" y="1125220"/>
            <a:ext cx="2876550" cy="306705"/>
          </a:xfrm>
          <a:prstGeom prst="rect">
            <a:avLst/>
          </a:prstGeom>
          <a:noFill/>
        </p:spPr>
        <p:txBody>
          <a:bodyPr wrap="square" rtlCol="0">
            <a:spAutoFit/>
          </a:bodyPr>
          <a:p>
            <a:r>
              <a:rPr lang="zh-CN" altLang="en-US" sz="1400" b="1">
                <a:solidFill>
                  <a:schemeClr val="bg1"/>
                </a:solidFill>
                <a:latin typeface="微软雅黑" panose="020B0503020204020204" charset="-122"/>
                <a:ea typeface="微软雅黑" panose="020B0503020204020204" charset="-122"/>
                <a:cs typeface="微软雅黑" panose="020B0503020204020204" charset="-122"/>
              </a:rPr>
              <a:t>第三阶段：专家访谈、得出结论</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136" name="组合 135"/>
          <p:cNvGrpSpPr/>
          <p:nvPr/>
        </p:nvGrpSpPr>
        <p:grpSpPr>
          <a:xfrm>
            <a:off x="513715" y="4279265"/>
            <a:ext cx="739140" cy="2173605"/>
            <a:chOff x="834" y="2868"/>
            <a:chExt cx="1164" cy="3423"/>
          </a:xfrm>
        </p:grpSpPr>
        <p:cxnSp>
          <p:nvCxnSpPr>
            <p:cNvPr id="137" name="直接连接符 136"/>
            <p:cNvCxnSpPr/>
            <p:nvPr/>
          </p:nvCxnSpPr>
          <p:spPr>
            <a:xfrm>
              <a:off x="903" y="2868"/>
              <a:ext cx="1090" cy="0"/>
            </a:xfrm>
            <a:prstGeom prst="line">
              <a:avLst/>
            </a:prstGeom>
            <a:ln>
              <a:headEnd type="diamond"/>
            </a:ln>
          </p:spPr>
          <p:style>
            <a:lnRef idx="2">
              <a:schemeClr val="accent1"/>
            </a:lnRef>
            <a:fillRef idx="0">
              <a:srgbClr val="FFFFFF"/>
            </a:fillRef>
            <a:effectRef idx="0">
              <a:srgbClr val="FFFFFF"/>
            </a:effectRef>
            <a:fontRef idx="minor">
              <a:schemeClr val="tx1"/>
            </a:fontRef>
          </p:style>
        </p:cxnSp>
        <p:cxnSp>
          <p:nvCxnSpPr>
            <p:cNvPr id="138" name="直接连接符 137"/>
            <p:cNvCxnSpPr/>
            <p:nvPr/>
          </p:nvCxnSpPr>
          <p:spPr>
            <a:xfrm flipV="1">
              <a:off x="834" y="6280"/>
              <a:ext cx="1164" cy="10"/>
            </a:xfrm>
            <a:prstGeom prst="line">
              <a:avLst/>
            </a:prstGeom>
            <a:ln>
              <a:headEnd type="diamond"/>
            </a:ln>
          </p:spPr>
          <p:style>
            <a:lnRef idx="2">
              <a:schemeClr val="accent1"/>
            </a:lnRef>
            <a:fillRef idx="0">
              <a:srgbClr val="FFFFFF"/>
            </a:fillRef>
            <a:effectRef idx="0">
              <a:srgbClr val="FFFFFF"/>
            </a:effectRef>
            <a:fontRef idx="minor">
              <a:schemeClr val="tx1"/>
            </a:fontRef>
          </p:style>
        </p:cxnSp>
        <p:cxnSp>
          <p:nvCxnSpPr>
            <p:cNvPr id="139" name="直接连接符 138"/>
            <p:cNvCxnSpPr/>
            <p:nvPr/>
          </p:nvCxnSpPr>
          <p:spPr>
            <a:xfrm flipV="1">
              <a:off x="1993" y="2868"/>
              <a:ext cx="0" cy="3423"/>
            </a:xfrm>
            <a:prstGeom prst="line">
              <a:avLst/>
            </a:prstGeom>
          </p:spPr>
          <p:style>
            <a:lnRef idx="2">
              <a:schemeClr val="accent1"/>
            </a:lnRef>
            <a:fillRef idx="0">
              <a:srgbClr val="FFFFFF"/>
            </a:fillRef>
            <a:effectRef idx="0">
              <a:srgbClr val="FFFFFF"/>
            </a:effectRef>
            <a:fontRef idx="minor">
              <a:schemeClr val="tx1"/>
            </a:fontRef>
          </p:style>
        </p:cxnSp>
        <p:sp>
          <p:nvSpPr>
            <p:cNvPr id="140" name="文本框 139"/>
            <p:cNvSpPr txBox="1"/>
            <p:nvPr>
              <p:custDataLst>
                <p:tags r:id="rId9"/>
              </p:custDataLst>
            </p:nvPr>
          </p:nvSpPr>
          <p:spPr>
            <a:xfrm>
              <a:off x="1059" y="3549"/>
              <a:ext cx="762" cy="2082"/>
            </a:xfrm>
            <a:prstGeom prst="rect">
              <a:avLst/>
            </a:prstGeom>
            <a:noFill/>
          </p:spPr>
          <p:txBody>
            <a:bodyPr wrap="square" rtlCol="0" anchor="ctr" anchorCtr="0">
              <a:spAutoFit/>
            </a:bodyPr>
            <a:p>
              <a:r>
                <a:rPr lang="zh-CN" altLang="en-US" sz="2000" b="1">
                  <a:solidFill>
                    <a:schemeClr val="accent1"/>
                  </a:solidFill>
                  <a:latin typeface="微软雅黑" panose="020B0503020204020204" charset="-122"/>
                  <a:ea typeface="微软雅黑" panose="020B0503020204020204" charset="-122"/>
                  <a:cs typeface="微软雅黑" panose="020B0503020204020204" charset="-122"/>
                </a:rPr>
                <a:t>方法路径</a:t>
              </a:r>
              <a:endParaRPr lang="en-US" altLang="zh-CN" sz="2000" b="1">
                <a:solidFill>
                  <a:schemeClr val="accent1"/>
                </a:solidFill>
                <a:latin typeface="微软雅黑" panose="020B0503020204020204" charset="-122"/>
                <a:ea typeface="微软雅黑" panose="020B0503020204020204" charset="-122"/>
                <a:cs typeface="微软雅黑" panose="020B0503020204020204" charset="-122"/>
              </a:endParaRPr>
            </a:p>
          </p:txBody>
        </p:sp>
      </p:grpSp>
      <p:grpSp>
        <p:nvGrpSpPr>
          <p:cNvPr id="156" name="组合 155"/>
          <p:cNvGrpSpPr/>
          <p:nvPr/>
        </p:nvGrpSpPr>
        <p:grpSpPr>
          <a:xfrm>
            <a:off x="1834515" y="4300855"/>
            <a:ext cx="3039110" cy="398780"/>
            <a:chOff x="2922" y="6773"/>
            <a:chExt cx="4786" cy="628"/>
          </a:xfrm>
        </p:grpSpPr>
        <p:cxnSp>
          <p:nvCxnSpPr>
            <p:cNvPr id="141" name="直接连接符 140"/>
            <p:cNvCxnSpPr/>
            <p:nvPr/>
          </p:nvCxnSpPr>
          <p:spPr>
            <a:xfrm>
              <a:off x="2922" y="6985"/>
              <a:ext cx="4787" cy="0"/>
            </a:xfrm>
            <a:prstGeom prst="line">
              <a:avLst/>
            </a:prstGeom>
            <a:ln w="28575">
              <a:solidFill>
                <a:schemeClr val="accent1"/>
              </a:solidFill>
            </a:ln>
          </p:spPr>
          <p:style>
            <a:lnRef idx="2">
              <a:schemeClr val="accent1"/>
            </a:lnRef>
            <a:fillRef idx="0">
              <a:srgbClr val="FFFFFF"/>
            </a:fillRef>
            <a:effectRef idx="0">
              <a:srgbClr val="FFFFFF"/>
            </a:effectRef>
            <a:fontRef idx="minor">
              <a:schemeClr val="tx1"/>
            </a:fontRef>
          </p:style>
        </p:cxnSp>
        <p:sp>
          <p:nvSpPr>
            <p:cNvPr id="144" name="矩形 143"/>
            <p:cNvSpPr/>
            <p:nvPr/>
          </p:nvSpPr>
          <p:spPr>
            <a:xfrm>
              <a:off x="3952" y="6832"/>
              <a:ext cx="2728" cy="516"/>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nvGrpSpPr>
            <p:cNvPr id="148" name="组合 147"/>
            <p:cNvGrpSpPr/>
            <p:nvPr/>
          </p:nvGrpSpPr>
          <p:grpSpPr>
            <a:xfrm>
              <a:off x="4016" y="6773"/>
              <a:ext cx="382" cy="629"/>
              <a:chOff x="4207" y="6620"/>
              <a:chExt cx="505" cy="831"/>
            </a:xfrm>
          </p:grpSpPr>
          <p:sp>
            <p:nvSpPr>
              <p:cNvPr id="146" name="菱形 145"/>
              <p:cNvSpPr/>
              <p:nvPr/>
            </p:nvSpPr>
            <p:spPr>
              <a:xfrm rot="16200000" flipH="1" flipV="1">
                <a:off x="4155" y="6673"/>
                <a:ext cx="611" cy="504"/>
              </a:xfrm>
              <a:prstGeom prst="diamond">
                <a:avLst/>
              </a:prstGeom>
              <a:gradFill flip="none" rotWithShape="1">
                <a:gsLst>
                  <a:gs pos="0">
                    <a:schemeClr val="accent1"/>
                  </a:gs>
                  <a:gs pos="50000">
                    <a:schemeClr val="accent1">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47" name="菱形 146"/>
              <p:cNvSpPr/>
              <p:nvPr/>
            </p:nvSpPr>
            <p:spPr>
              <a:xfrm rot="16200000" flipH="1" flipV="1">
                <a:off x="4154" y="6894"/>
                <a:ext cx="611" cy="504"/>
              </a:xfrm>
              <a:prstGeom prst="diamond">
                <a:avLst/>
              </a:prstGeom>
              <a:gradFill flip="none" rotWithShape="1">
                <a:gsLst>
                  <a:gs pos="0">
                    <a:schemeClr val="accent1"/>
                  </a:gs>
                  <a:gs pos="50000">
                    <a:schemeClr val="accent1">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sp>
          <p:nvSpPr>
            <p:cNvPr id="152" name="文本框 151"/>
            <p:cNvSpPr txBox="1"/>
            <p:nvPr>
              <p:custDataLst>
                <p:tags r:id="rId10"/>
              </p:custDataLst>
            </p:nvPr>
          </p:nvSpPr>
          <p:spPr>
            <a:xfrm>
              <a:off x="4454" y="6775"/>
              <a:ext cx="1751" cy="483"/>
            </a:xfrm>
            <a:prstGeom prst="rect">
              <a:avLst/>
            </a:prstGeom>
            <a:noFill/>
          </p:spPr>
          <p:txBody>
            <a:bodyPr wrap="square" rtlCol="0">
              <a:spAutoFit/>
            </a:bodyPr>
            <a:p>
              <a:pPr algn="ct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收集、整理</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endParaRPr>
            </a:p>
          </p:txBody>
        </p:sp>
        <p:grpSp>
          <p:nvGrpSpPr>
            <p:cNvPr id="153" name="组合 152"/>
            <p:cNvGrpSpPr/>
            <p:nvPr/>
          </p:nvGrpSpPr>
          <p:grpSpPr>
            <a:xfrm>
              <a:off x="6299" y="6773"/>
              <a:ext cx="382" cy="629"/>
              <a:chOff x="4207" y="6620"/>
              <a:chExt cx="505" cy="831"/>
            </a:xfrm>
          </p:grpSpPr>
          <p:sp>
            <p:nvSpPr>
              <p:cNvPr id="154" name="菱形 153"/>
              <p:cNvSpPr/>
              <p:nvPr/>
            </p:nvSpPr>
            <p:spPr>
              <a:xfrm rot="16200000" flipH="1" flipV="1">
                <a:off x="4155" y="6673"/>
                <a:ext cx="611" cy="504"/>
              </a:xfrm>
              <a:prstGeom prst="diamond">
                <a:avLst/>
              </a:prstGeom>
              <a:gradFill flip="none" rotWithShape="1">
                <a:gsLst>
                  <a:gs pos="0">
                    <a:schemeClr val="accent1"/>
                  </a:gs>
                  <a:gs pos="50000">
                    <a:schemeClr val="accent1">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55" name="菱形 154"/>
              <p:cNvSpPr/>
              <p:nvPr/>
            </p:nvSpPr>
            <p:spPr>
              <a:xfrm rot="16200000" flipH="1" flipV="1">
                <a:off x="4154" y="6894"/>
                <a:ext cx="611" cy="504"/>
              </a:xfrm>
              <a:prstGeom prst="diamond">
                <a:avLst/>
              </a:prstGeom>
              <a:gradFill flip="none" rotWithShape="1">
                <a:gsLst>
                  <a:gs pos="0">
                    <a:schemeClr val="accent1"/>
                  </a:gs>
                  <a:gs pos="50000">
                    <a:schemeClr val="accent1">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grpSp>
      <p:grpSp>
        <p:nvGrpSpPr>
          <p:cNvPr id="157" name="组合 156"/>
          <p:cNvGrpSpPr/>
          <p:nvPr/>
        </p:nvGrpSpPr>
        <p:grpSpPr>
          <a:xfrm>
            <a:off x="5161915" y="4300855"/>
            <a:ext cx="3039745" cy="399415"/>
            <a:chOff x="2922" y="6773"/>
            <a:chExt cx="4787" cy="629"/>
          </a:xfrm>
        </p:grpSpPr>
        <p:cxnSp>
          <p:nvCxnSpPr>
            <p:cNvPr id="158" name="直接连接符 157"/>
            <p:cNvCxnSpPr/>
            <p:nvPr/>
          </p:nvCxnSpPr>
          <p:spPr>
            <a:xfrm>
              <a:off x="2922" y="6985"/>
              <a:ext cx="4787" cy="0"/>
            </a:xfrm>
            <a:prstGeom prst="line">
              <a:avLst/>
            </a:prstGeom>
            <a:ln w="28575">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cxnSp>
        <p:sp>
          <p:nvSpPr>
            <p:cNvPr id="159" name="矩形 158"/>
            <p:cNvSpPr/>
            <p:nvPr/>
          </p:nvSpPr>
          <p:spPr>
            <a:xfrm>
              <a:off x="3952" y="6832"/>
              <a:ext cx="2728" cy="516"/>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nvGrpSpPr>
            <p:cNvPr id="160" name="组合 159"/>
            <p:cNvGrpSpPr/>
            <p:nvPr/>
          </p:nvGrpSpPr>
          <p:grpSpPr>
            <a:xfrm>
              <a:off x="4016" y="6773"/>
              <a:ext cx="382" cy="629"/>
              <a:chOff x="4207" y="6620"/>
              <a:chExt cx="505" cy="831"/>
            </a:xfrm>
          </p:grpSpPr>
          <p:sp>
            <p:nvSpPr>
              <p:cNvPr id="161" name="菱形 160"/>
              <p:cNvSpPr/>
              <p:nvPr/>
            </p:nvSpPr>
            <p:spPr>
              <a:xfrm rot="16200000" flipH="1" flipV="1">
                <a:off x="4155" y="6673"/>
                <a:ext cx="611" cy="504"/>
              </a:xfrm>
              <a:prstGeom prst="diamond">
                <a:avLst/>
              </a:prstGeom>
              <a:gradFill flip="none" rotWithShape="1">
                <a:gsLst>
                  <a:gs pos="0">
                    <a:schemeClr val="accent1">
                      <a:lumMod val="60000"/>
                      <a:lumOff val="40000"/>
                    </a:schemeClr>
                  </a:gs>
                  <a:gs pos="50000">
                    <a:schemeClr val="accent1">
                      <a:lumMod val="60000"/>
                      <a:lumOff val="40000"/>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62" name="菱形 161"/>
              <p:cNvSpPr/>
              <p:nvPr/>
            </p:nvSpPr>
            <p:spPr>
              <a:xfrm rot="16200000" flipH="1" flipV="1">
                <a:off x="4154" y="6894"/>
                <a:ext cx="611" cy="504"/>
              </a:xfrm>
              <a:prstGeom prst="diamond">
                <a:avLst/>
              </a:prstGeom>
              <a:gradFill flip="none" rotWithShape="1">
                <a:gsLst>
                  <a:gs pos="0">
                    <a:schemeClr val="accent1">
                      <a:lumMod val="60000"/>
                      <a:lumOff val="40000"/>
                    </a:schemeClr>
                  </a:gs>
                  <a:gs pos="50000">
                    <a:schemeClr val="accent1">
                      <a:lumMod val="60000"/>
                      <a:lumOff val="40000"/>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sp>
          <p:nvSpPr>
            <p:cNvPr id="163" name="文本框 162"/>
            <p:cNvSpPr txBox="1"/>
            <p:nvPr>
              <p:custDataLst>
                <p:tags r:id="rId11"/>
              </p:custDataLst>
            </p:nvPr>
          </p:nvSpPr>
          <p:spPr>
            <a:xfrm>
              <a:off x="4454" y="6775"/>
              <a:ext cx="1751" cy="483"/>
            </a:xfrm>
            <a:prstGeom prst="rect">
              <a:avLst/>
            </a:prstGeom>
            <a:noFill/>
          </p:spPr>
          <p:txBody>
            <a:bodyPr wrap="square" rtlCol="0">
              <a:spAutoFit/>
            </a:bodyPr>
            <a:p>
              <a:pPr algn="ctr"/>
              <a:r>
                <a:rPr lang="zh-CN" alt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筛选、分析</a:t>
              </a:r>
              <a:endParaRPr lang="zh-CN" alt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nvGrpSpPr>
            <p:cNvPr id="164" name="组合 163"/>
            <p:cNvGrpSpPr/>
            <p:nvPr/>
          </p:nvGrpSpPr>
          <p:grpSpPr>
            <a:xfrm>
              <a:off x="6299" y="6773"/>
              <a:ext cx="382" cy="629"/>
              <a:chOff x="4207" y="6620"/>
              <a:chExt cx="505" cy="831"/>
            </a:xfrm>
          </p:grpSpPr>
          <p:sp>
            <p:nvSpPr>
              <p:cNvPr id="165" name="菱形 164"/>
              <p:cNvSpPr/>
              <p:nvPr/>
            </p:nvSpPr>
            <p:spPr>
              <a:xfrm rot="16200000" flipH="1" flipV="1">
                <a:off x="4155" y="6673"/>
                <a:ext cx="611" cy="504"/>
              </a:xfrm>
              <a:prstGeom prst="diamond">
                <a:avLst/>
              </a:prstGeom>
              <a:gradFill flip="none" rotWithShape="1">
                <a:gsLst>
                  <a:gs pos="0">
                    <a:schemeClr val="accent1">
                      <a:lumMod val="60000"/>
                      <a:lumOff val="40000"/>
                    </a:schemeClr>
                  </a:gs>
                  <a:gs pos="50000">
                    <a:schemeClr val="accent1">
                      <a:lumMod val="60000"/>
                      <a:lumOff val="40000"/>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66" name="菱形 165"/>
              <p:cNvSpPr/>
              <p:nvPr/>
            </p:nvSpPr>
            <p:spPr>
              <a:xfrm rot="16200000" flipH="1" flipV="1">
                <a:off x="4154" y="6894"/>
                <a:ext cx="611" cy="504"/>
              </a:xfrm>
              <a:prstGeom prst="diamond">
                <a:avLst/>
              </a:prstGeom>
              <a:gradFill flip="none" rotWithShape="1">
                <a:gsLst>
                  <a:gs pos="0">
                    <a:schemeClr val="accent1">
                      <a:lumMod val="60000"/>
                      <a:lumOff val="40000"/>
                    </a:schemeClr>
                  </a:gs>
                  <a:gs pos="50000">
                    <a:schemeClr val="accent1">
                      <a:lumMod val="60000"/>
                      <a:lumOff val="40000"/>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grpSp>
      <p:cxnSp>
        <p:nvCxnSpPr>
          <p:cNvPr id="168" name="直接连接符 167"/>
          <p:cNvCxnSpPr/>
          <p:nvPr/>
        </p:nvCxnSpPr>
        <p:spPr>
          <a:xfrm>
            <a:off x="8489950" y="4435475"/>
            <a:ext cx="3039745" cy="0"/>
          </a:xfrm>
          <a:prstGeom prst="line">
            <a:avLst/>
          </a:prstGeom>
          <a:ln w="28575">
            <a:solidFill>
              <a:schemeClr val="accent5"/>
            </a:solidFill>
          </a:ln>
        </p:spPr>
        <p:style>
          <a:lnRef idx="2">
            <a:schemeClr val="accent1"/>
          </a:lnRef>
          <a:fillRef idx="0">
            <a:srgbClr val="FFFFFF"/>
          </a:fillRef>
          <a:effectRef idx="0">
            <a:srgbClr val="FFFFFF"/>
          </a:effectRef>
          <a:fontRef idx="minor">
            <a:schemeClr val="tx1"/>
          </a:fontRef>
        </p:style>
      </p:cxnSp>
      <p:sp>
        <p:nvSpPr>
          <p:cNvPr id="169" name="矩形 168"/>
          <p:cNvSpPr/>
          <p:nvPr/>
        </p:nvSpPr>
        <p:spPr>
          <a:xfrm>
            <a:off x="9144000" y="4338320"/>
            <a:ext cx="1732280" cy="3276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nvGrpSpPr>
          <p:cNvPr id="170" name="组合 169"/>
          <p:cNvGrpSpPr/>
          <p:nvPr/>
        </p:nvGrpSpPr>
        <p:grpSpPr>
          <a:xfrm rot="0">
            <a:off x="9184640" y="4300855"/>
            <a:ext cx="242570" cy="399415"/>
            <a:chOff x="4207" y="6620"/>
            <a:chExt cx="505" cy="831"/>
          </a:xfrm>
        </p:grpSpPr>
        <p:sp>
          <p:nvSpPr>
            <p:cNvPr id="171" name="菱形 170"/>
            <p:cNvSpPr/>
            <p:nvPr/>
          </p:nvSpPr>
          <p:spPr>
            <a:xfrm rot="16200000" flipH="1" flipV="1">
              <a:off x="4155" y="6673"/>
              <a:ext cx="611" cy="504"/>
            </a:xfrm>
            <a:prstGeom prst="diamond">
              <a:avLst/>
            </a:prstGeom>
            <a:gradFill flip="none" rotWithShape="1">
              <a:gsLst>
                <a:gs pos="0">
                  <a:schemeClr val="accent5"/>
                </a:gs>
                <a:gs pos="50000">
                  <a:schemeClr val="accent5">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72" name="菱形 171"/>
            <p:cNvSpPr/>
            <p:nvPr/>
          </p:nvSpPr>
          <p:spPr>
            <a:xfrm rot="16200000" flipH="1" flipV="1">
              <a:off x="4154" y="6894"/>
              <a:ext cx="611" cy="504"/>
            </a:xfrm>
            <a:prstGeom prst="diamond">
              <a:avLst/>
            </a:prstGeom>
            <a:gradFill flip="none" rotWithShape="1">
              <a:gsLst>
                <a:gs pos="0">
                  <a:schemeClr val="accent5"/>
                </a:gs>
                <a:gs pos="50000">
                  <a:schemeClr val="accent5">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sp>
        <p:nvSpPr>
          <p:cNvPr id="173" name="文本框 172"/>
          <p:cNvSpPr txBox="1"/>
          <p:nvPr>
            <p:custDataLst>
              <p:tags r:id="rId12"/>
            </p:custDataLst>
          </p:nvPr>
        </p:nvSpPr>
        <p:spPr>
          <a:xfrm>
            <a:off x="9462770" y="4302125"/>
            <a:ext cx="1111885" cy="306705"/>
          </a:xfrm>
          <a:prstGeom prst="rect">
            <a:avLst/>
          </a:prstGeom>
          <a:noFill/>
        </p:spPr>
        <p:txBody>
          <a:bodyPr wrap="square" rtlCol="0">
            <a:spAutoFit/>
          </a:bodyPr>
          <a:p>
            <a:pPr algn="ctr"/>
            <a:r>
              <a:rPr lang="zh-CN" altLang="en-US" sz="1400" b="1">
                <a:solidFill>
                  <a:schemeClr val="accent5"/>
                </a:solidFill>
                <a:latin typeface="微软雅黑" panose="020B0503020204020204" charset="-122"/>
                <a:ea typeface="微软雅黑" panose="020B0503020204020204" charset="-122"/>
                <a:cs typeface="微软雅黑" panose="020B0503020204020204" charset="-122"/>
              </a:rPr>
              <a:t>验证、总结</a:t>
            </a:r>
            <a:endParaRPr lang="zh-CN" altLang="en-US" sz="14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77" name="矩形 176"/>
          <p:cNvSpPr/>
          <p:nvPr/>
        </p:nvSpPr>
        <p:spPr>
          <a:xfrm>
            <a:off x="1796415" y="4772660"/>
            <a:ext cx="3098800" cy="1673860"/>
          </a:xfrm>
          <a:prstGeom prst="rect">
            <a:avLst/>
          </a:prstGeom>
          <a:solidFill>
            <a:schemeClr val="accent1">
              <a:lumMod val="20000"/>
              <a:lumOff val="80000"/>
              <a:alpha val="20000"/>
            </a:schemeClr>
          </a:solidFill>
          <a:ln>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78" name="矩形 177"/>
          <p:cNvSpPr/>
          <p:nvPr/>
        </p:nvSpPr>
        <p:spPr>
          <a:xfrm>
            <a:off x="5137150" y="4772660"/>
            <a:ext cx="3098800" cy="1673860"/>
          </a:xfrm>
          <a:prstGeom prst="rect">
            <a:avLst/>
          </a:prstGeom>
          <a:solidFill>
            <a:schemeClr val="accent1">
              <a:lumMod val="20000"/>
              <a:lumOff val="80000"/>
              <a:alpha val="20000"/>
            </a:schemeClr>
          </a:solidFill>
          <a:ln>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79" name="矩形 178"/>
          <p:cNvSpPr/>
          <p:nvPr/>
        </p:nvSpPr>
        <p:spPr>
          <a:xfrm>
            <a:off x="8477885" y="4772660"/>
            <a:ext cx="3098800" cy="1673860"/>
          </a:xfrm>
          <a:prstGeom prst="rect">
            <a:avLst/>
          </a:prstGeom>
          <a:solidFill>
            <a:schemeClr val="accent5">
              <a:lumMod val="20000"/>
              <a:lumOff val="80000"/>
              <a:alpha val="20000"/>
            </a:schemeClr>
          </a:solidFill>
          <a:ln>
            <a:solidFill>
              <a:schemeClr val="accent5">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80" name="文本框 179"/>
          <p:cNvSpPr txBox="1"/>
          <p:nvPr>
            <p:custDataLst>
              <p:tags r:id="rId13"/>
            </p:custDataLst>
          </p:nvPr>
        </p:nvSpPr>
        <p:spPr>
          <a:xfrm>
            <a:off x="1909445" y="4921250"/>
            <a:ext cx="2797175" cy="1353185"/>
          </a:xfrm>
          <a:prstGeom prst="rect">
            <a:avLst/>
          </a:prstGeom>
          <a:noFill/>
        </p:spPr>
        <p:txBody>
          <a:bodyPr wrap="square" rtlCol="0">
            <a:noAutofit/>
          </a:bodyPr>
          <a:p>
            <a:pPr marL="285750" indent="-285750" algn="l">
              <a:buFont typeface="Wingdings" panose="05000000000000000000" charset="0"/>
              <a:buChar char="l"/>
            </a:pPr>
            <a:r>
              <a:rPr lang="zh-CN" altLang="en-US" sz="1300" b="1">
                <a:solidFill>
                  <a:schemeClr val="tx2"/>
                </a:solidFill>
                <a:latin typeface="微软雅黑" panose="020B0503020204020204" charset="-122"/>
                <a:ea typeface="微软雅黑" panose="020B0503020204020204" charset="-122"/>
                <a:cs typeface="微软雅黑" panose="020B0503020204020204" charset="-122"/>
              </a:rPr>
              <a:t>凯爱瑞内部研究；</a:t>
            </a:r>
            <a:endParaRPr lang="zh-CN" altLang="en-US" sz="1300" b="1">
              <a:solidFill>
                <a:schemeClr val="tx2"/>
              </a:solidFill>
              <a:latin typeface="微软雅黑" panose="020B0503020204020204" charset="-122"/>
              <a:ea typeface="微软雅黑" panose="020B0503020204020204" charset="-122"/>
              <a:cs typeface="微软雅黑" panose="020B0503020204020204" charset="-122"/>
            </a:endParaRPr>
          </a:p>
          <a:p>
            <a:pPr marL="285750" indent="-285750" algn="l">
              <a:buFont typeface="Wingdings" panose="05000000000000000000" charset="0"/>
              <a:buChar char="l"/>
            </a:pPr>
            <a:r>
              <a:rPr lang="zh-CN" altLang="en-US" sz="1300" b="1">
                <a:solidFill>
                  <a:schemeClr val="tx2"/>
                </a:solidFill>
                <a:latin typeface="微软雅黑" panose="020B0503020204020204" charset="-122"/>
                <a:ea typeface="微软雅黑" panose="020B0503020204020204" charset="-122"/>
                <a:cs typeface="微软雅黑" panose="020B0503020204020204" charset="-122"/>
              </a:rPr>
              <a:t>凯爱瑞消费者调研；</a:t>
            </a:r>
            <a:endParaRPr lang="zh-CN" altLang="en-US" sz="1300" b="1">
              <a:solidFill>
                <a:schemeClr val="tx2"/>
              </a:solidFill>
              <a:latin typeface="微软雅黑" panose="020B0503020204020204" charset="-122"/>
              <a:ea typeface="微软雅黑" panose="020B0503020204020204" charset="-122"/>
              <a:cs typeface="微软雅黑" panose="020B0503020204020204" charset="-122"/>
            </a:endParaRPr>
          </a:p>
          <a:p>
            <a:pPr marL="285750" indent="-285750" algn="l">
              <a:buFont typeface="Wingdings" panose="05000000000000000000" charset="0"/>
              <a:buChar char="l"/>
            </a:pPr>
            <a:r>
              <a:rPr lang="zh-CN" altLang="en-US" sz="1300" b="1">
                <a:solidFill>
                  <a:schemeClr val="tx2"/>
                </a:solidFill>
                <a:latin typeface="微软雅黑" panose="020B0503020204020204" charset="-122"/>
                <a:ea typeface="微软雅黑" panose="020B0503020204020204" charset="-122"/>
                <a:cs typeface="微软雅黑" panose="020B0503020204020204" charset="-122"/>
              </a:rPr>
              <a:t>公开数据收集</a:t>
            </a:r>
            <a:r>
              <a:rPr lang="zh-CN" altLang="en-US" sz="130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sz="1300">
                <a:solidFill>
                  <a:schemeClr val="tx2"/>
                </a:solidFill>
                <a:latin typeface="微软雅黑" panose="020B0503020204020204" charset="-122"/>
                <a:ea typeface="微软雅黑" panose="020B0503020204020204" charset="-122"/>
                <a:cs typeface="微软雅黑" panose="020B0503020204020204" charset="-122"/>
              </a:rPr>
              <a:t>如政府统计、行业报告、学术出版物、新闻等）；</a:t>
            </a:r>
            <a:endParaRPr lang="zh-CN" altLang="en-US" sz="1300">
              <a:solidFill>
                <a:schemeClr val="tx2"/>
              </a:solidFill>
              <a:latin typeface="微软雅黑" panose="020B0503020204020204" charset="-122"/>
              <a:ea typeface="微软雅黑" panose="020B0503020204020204" charset="-122"/>
              <a:cs typeface="微软雅黑" panose="020B0503020204020204" charset="-122"/>
            </a:endParaRPr>
          </a:p>
          <a:p>
            <a:pPr marL="285750" indent="-285750" algn="l">
              <a:buFont typeface="Wingdings" panose="05000000000000000000" charset="0"/>
              <a:buChar char="l"/>
            </a:pPr>
            <a:r>
              <a:rPr lang="zh-CN" altLang="en-US" sz="1300" b="1">
                <a:solidFill>
                  <a:schemeClr val="tx2"/>
                </a:solidFill>
                <a:latin typeface="微软雅黑" panose="020B0503020204020204" charset="-122"/>
                <a:ea typeface="微软雅黑" panose="020B0503020204020204" charset="-122"/>
                <a:cs typeface="微软雅黑" panose="020B0503020204020204" charset="-122"/>
              </a:rPr>
              <a:t>相关研究报告整理</a:t>
            </a:r>
            <a:r>
              <a:rPr lang="zh-CN" altLang="en-US" sz="1300">
                <a:solidFill>
                  <a:schemeClr val="tx2"/>
                </a:solidFill>
                <a:latin typeface="微软雅黑" panose="020B0503020204020204" charset="-122"/>
                <a:ea typeface="微软雅黑" panose="020B0503020204020204" charset="-122"/>
                <a:cs typeface="微软雅黑" panose="020B0503020204020204" charset="-122"/>
              </a:rPr>
              <a:t>（如市场研究公司、咨询公司、行业协会的报告）。</a:t>
            </a:r>
            <a:endParaRPr lang="zh-CN" altLang="en-US" sz="13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14"/>
            </p:custDataLst>
          </p:nvPr>
        </p:nvSpPr>
        <p:spPr>
          <a:xfrm>
            <a:off x="5203825" y="4876800"/>
            <a:ext cx="2965450" cy="1353185"/>
          </a:xfrm>
          <a:prstGeom prst="rect">
            <a:avLst/>
          </a:prstGeom>
          <a:noFill/>
        </p:spPr>
        <p:txBody>
          <a:bodyPr wrap="square" rtlCol="0">
            <a:noAutofit/>
          </a:bodyPr>
          <a:p>
            <a:pPr marL="285750" indent="-285750" algn="l">
              <a:buFont typeface="Wingdings" panose="05000000000000000000" charset="0"/>
              <a:buChar char="l"/>
            </a:pPr>
            <a:r>
              <a:rPr lang="zh-CN" altLang="en-US" sz="1300" b="1">
                <a:solidFill>
                  <a:schemeClr val="tx2"/>
                </a:solidFill>
                <a:latin typeface="微软雅黑" panose="020B0503020204020204" charset="-122"/>
                <a:ea typeface="微软雅黑" panose="020B0503020204020204" charset="-122"/>
                <a:cs typeface="微软雅黑" panose="020B0503020204020204" charset="-122"/>
              </a:rPr>
              <a:t>数据筛选及验证：</a:t>
            </a:r>
            <a:r>
              <a:rPr lang="en-US" altLang="zh-CN" sz="1300" b="1">
                <a:solidFill>
                  <a:schemeClr val="tx2"/>
                </a:solidFill>
                <a:latin typeface="微软雅黑" panose="020B0503020204020204" charset="-122"/>
                <a:ea typeface="微软雅黑" panose="020B0503020204020204" charset="-122"/>
                <a:cs typeface="微软雅黑" panose="020B0503020204020204" charset="-122"/>
              </a:rPr>
              <a:t> </a:t>
            </a:r>
            <a:r>
              <a:rPr lang="zh-CN" altLang="en-US" sz="1300">
                <a:solidFill>
                  <a:schemeClr val="tx2"/>
                </a:solidFill>
                <a:latin typeface="微软雅黑" panose="020B0503020204020204" charset="-122"/>
                <a:ea typeface="微软雅黑" panose="020B0503020204020204" charset="-122"/>
                <a:cs typeface="微软雅黑" panose="020B0503020204020204" charset="-122"/>
              </a:rPr>
              <a:t>对第一阶段收集到的庞大数据和信息进行筛选，并进行初步的验证（检查数据准确性、一致性、时效性）。</a:t>
            </a:r>
            <a:endParaRPr lang="zh-CN" altLang="en-US" sz="1300">
              <a:solidFill>
                <a:schemeClr val="tx2"/>
              </a:solidFill>
              <a:latin typeface="微软雅黑" panose="020B0503020204020204" charset="-122"/>
              <a:ea typeface="微软雅黑" panose="020B0503020204020204" charset="-122"/>
              <a:cs typeface="微软雅黑" panose="020B0503020204020204" charset="-122"/>
            </a:endParaRPr>
          </a:p>
          <a:p>
            <a:pPr marL="285750" indent="-285750" algn="l">
              <a:buFont typeface="Wingdings" panose="05000000000000000000" charset="0"/>
              <a:buChar char="l"/>
            </a:pPr>
            <a:r>
              <a:rPr lang="zh-CN" altLang="en-US" sz="1300" b="1">
                <a:solidFill>
                  <a:schemeClr val="tx2"/>
                </a:solidFill>
                <a:latin typeface="微软雅黑" panose="020B0503020204020204" charset="-122"/>
                <a:ea typeface="微软雅黑" panose="020B0503020204020204" charset="-122"/>
                <a:cs typeface="微软雅黑" panose="020B0503020204020204" charset="-122"/>
              </a:rPr>
              <a:t>全球营养健康消费品专家访谈：</a:t>
            </a:r>
            <a:r>
              <a:rPr lang="en-US" altLang="zh-CN" sz="1300">
                <a:solidFill>
                  <a:schemeClr val="tx2"/>
                </a:solidFill>
                <a:latin typeface="微软雅黑" panose="020B0503020204020204" charset="-122"/>
                <a:ea typeface="微软雅黑" panose="020B0503020204020204" charset="-122"/>
                <a:cs typeface="微软雅黑" panose="020B0503020204020204" charset="-122"/>
              </a:rPr>
              <a:t> </a:t>
            </a:r>
            <a:r>
              <a:rPr lang="zh-CN" altLang="en-US" sz="1300">
                <a:solidFill>
                  <a:schemeClr val="tx2"/>
                </a:solidFill>
                <a:latin typeface="微软雅黑" panose="020B0503020204020204" charset="-122"/>
                <a:ea typeface="微软雅黑" panose="020B0503020204020204" charset="-122"/>
                <a:cs typeface="微软雅黑" panose="020B0503020204020204" charset="-122"/>
              </a:rPr>
              <a:t>与专家进行访谈、探讨趋势背后的驱动因素和市场动态。</a:t>
            </a:r>
            <a:endParaRPr lang="zh-CN" altLang="en-US" sz="13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custDataLst>
              <p:tags r:id="rId15"/>
            </p:custDataLst>
          </p:nvPr>
        </p:nvSpPr>
        <p:spPr>
          <a:xfrm>
            <a:off x="8532813" y="4932998"/>
            <a:ext cx="2988945" cy="1353185"/>
          </a:xfrm>
          <a:prstGeom prst="rect">
            <a:avLst/>
          </a:prstGeom>
          <a:noFill/>
        </p:spPr>
        <p:txBody>
          <a:bodyPr wrap="square" rtlCol="0">
            <a:noAutofit/>
          </a:bodyPr>
          <a:p>
            <a:pPr marL="285750" indent="-285750" algn="l">
              <a:buFont typeface="Wingdings" panose="05000000000000000000" charset="0"/>
              <a:buChar char="l"/>
            </a:pPr>
            <a:r>
              <a:rPr lang="zh-CN" altLang="en-US" sz="1300" b="1">
                <a:solidFill>
                  <a:schemeClr val="tx2"/>
                </a:solidFill>
                <a:latin typeface="微软雅黑" panose="020B0503020204020204" charset="-122"/>
                <a:ea typeface="微软雅黑" panose="020B0503020204020204" charset="-122"/>
                <a:cs typeface="微软雅黑" panose="020B0503020204020204" charset="-122"/>
              </a:rPr>
              <a:t>内外部研究总结</a:t>
            </a:r>
            <a:r>
              <a:rPr lang="en-US" altLang="zh-CN" sz="1300" b="1">
                <a:solidFill>
                  <a:schemeClr val="tx2"/>
                </a:solidFill>
                <a:latin typeface="微软雅黑" panose="020B0503020204020204" charset="-122"/>
                <a:ea typeface="微软雅黑" panose="020B0503020204020204" charset="-122"/>
                <a:cs typeface="微软雅黑" panose="020B0503020204020204" charset="-122"/>
              </a:rPr>
              <a:t>;</a:t>
            </a:r>
            <a:endParaRPr lang="en-US" altLang="zh-CN" sz="1300" b="1">
              <a:solidFill>
                <a:schemeClr val="tx2"/>
              </a:solidFill>
              <a:latin typeface="微软雅黑" panose="020B0503020204020204" charset="-122"/>
              <a:ea typeface="微软雅黑" panose="020B0503020204020204" charset="-122"/>
              <a:cs typeface="微软雅黑" panose="020B0503020204020204" charset="-122"/>
            </a:endParaRPr>
          </a:p>
          <a:p>
            <a:pPr marL="285750" indent="-285750" algn="l">
              <a:buFont typeface="Wingdings" panose="05000000000000000000" charset="0"/>
              <a:buChar char="l"/>
            </a:pPr>
            <a:r>
              <a:rPr lang="zh-CN" altLang="en-US" sz="1300" b="1">
                <a:solidFill>
                  <a:schemeClr val="tx2"/>
                </a:solidFill>
                <a:latin typeface="微软雅黑" panose="020B0503020204020204" charset="-122"/>
                <a:ea typeface="微软雅黑" panose="020B0503020204020204" charset="-122"/>
                <a:cs typeface="微软雅黑" panose="020B0503020204020204" charset="-122"/>
              </a:rPr>
              <a:t>中国专家访谈与洞察分析：</a:t>
            </a:r>
            <a:endParaRPr lang="zh-CN" altLang="en-US" sz="1300" b="1">
              <a:solidFill>
                <a:schemeClr val="tx2"/>
              </a:solidFill>
              <a:latin typeface="微软雅黑" panose="020B0503020204020204" charset="-122"/>
              <a:ea typeface="微软雅黑" panose="020B0503020204020204" charset="-122"/>
              <a:cs typeface="微软雅黑" panose="020B0503020204020204" charset="-122"/>
            </a:endParaRPr>
          </a:p>
          <a:p>
            <a:pPr marL="381635" lvl="1" indent="-285750" algn="l" fontAlgn="auto">
              <a:buFont typeface="Wingdings" panose="05000000000000000000" charset="0"/>
              <a:buChar char="Ø"/>
            </a:pPr>
            <a:r>
              <a:rPr lang="zh-CN" altLang="en-US" sz="1300">
                <a:solidFill>
                  <a:schemeClr val="tx2"/>
                </a:solidFill>
                <a:latin typeface="微软雅黑" panose="020B0503020204020204" charset="-122"/>
                <a:ea typeface="微软雅黑" panose="020B0503020204020204" charset="-122"/>
                <a:cs typeface="微软雅黑" panose="020B0503020204020204" charset="-122"/>
              </a:rPr>
              <a:t>保健食品公司专家</a:t>
            </a:r>
            <a:endParaRPr lang="zh-CN" altLang="en-US" sz="1300">
              <a:solidFill>
                <a:schemeClr val="tx2"/>
              </a:solidFill>
              <a:latin typeface="微软雅黑" panose="020B0503020204020204" charset="-122"/>
              <a:ea typeface="微软雅黑" panose="020B0503020204020204" charset="-122"/>
              <a:cs typeface="微软雅黑" panose="020B0503020204020204" charset="-122"/>
            </a:endParaRPr>
          </a:p>
          <a:p>
            <a:pPr marL="381635" lvl="1" indent="-285750" algn="l" fontAlgn="auto">
              <a:buFont typeface="Wingdings" panose="05000000000000000000" charset="0"/>
              <a:buChar char="Ø"/>
            </a:pPr>
            <a:r>
              <a:rPr lang="zh-CN" altLang="en-US" sz="1300">
                <a:solidFill>
                  <a:schemeClr val="tx2"/>
                </a:solidFill>
                <a:latin typeface="微软雅黑" panose="020B0503020204020204" charset="-122"/>
                <a:ea typeface="微软雅黑" panose="020B0503020204020204" charset="-122"/>
                <a:cs typeface="微软雅黑" panose="020B0503020204020204" charset="-122"/>
              </a:rPr>
              <a:t>大型食品公司营养方向专家</a:t>
            </a:r>
            <a:endParaRPr lang="zh-CN" altLang="en-US" sz="1300">
              <a:solidFill>
                <a:schemeClr val="tx2"/>
              </a:solidFill>
              <a:latin typeface="微软雅黑" panose="020B0503020204020204" charset="-122"/>
              <a:ea typeface="微软雅黑" panose="020B0503020204020204" charset="-122"/>
              <a:cs typeface="微软雅黑" panose="020B0503020204020204" charset="-122"/>
            </a:endParaRPr>
          </a:p>
          <a:p>
            <a:pPr marL="381635" lvl="1" indent="-285750" algn="l" fontAlgn="auto">
              <a:buFont typeface="Wingdings" panose="05000000000000000000" charset="0"/>
              <a:buChar char="Ø"/>
            </a:pPr>
            <a:r>
              <a:rPr lang="zh-CN" altLang="en-US" sz="1300">
                <a:solidFill>
                  <a:schemeClr val="tx2"/>
                </a:solidFill>
                <a:latin typeface="微软雅黑" panose="020B0503020204020204" charset="-122"/>
                <a:ea typeface="微软雅黑" panose="020B0503020204020204" charset="-122"/>
                <a:cs typeface="微软雅黑" panose="020B0503020204020204" charset="-122"/>
              </a:rPr>
              <a:t>功能性食品公司专家</a:t>
            </a:r>
            <a:endParaRPr lang="zh-CN" altLang="en-US" sz="1300">
              <a:solidFill>
                <a:schemeClr val="tx2"/>
              </a:solidFill>
              <a:latin typeface="微软雅黑" panose="020B0503020204020204" charset="-122"/>
              <a:ea typeface="微软雅黑" panose="020B0503020204020204" charset="-122"/>
              <a:cs typeface="微软雅黑" panose="020B0503020204020204" charset="-122"/>
            </a:endParaRPr>
          </a:p>
          <a:p>
            <a:pPr marL="381635" lvl="1" indent="-285750" algn="l" fontAlgn="auto">
              <a:buFont typeface="Wingdings" panose="05000000000000000000" charset="0"/>
              <a:buChar char="Ø"/>
            </a:pPr>
            <a:r>
              <a:rPr lang="zh-CN" altLang="en-US" sz="1300">
                <a:solidFill>
                  <a:schemeClr val="tx2"/>
                </a:solidFill>
                <a:latin typeface="微软雅黑" panose="020B0503020204020204" charset="-122"/>
                <a:ea typeface="微软雅黑" panose="020B0503020204020204" charset="-122"/>
                <a:cs typeface="微软雅黑" panose="020B0503020204020204" charset="-122"/>
              </a:rPr>
              <a:t>认证营养学家</a:t>
            </a:r>
            <a:endParaRPr lang="zh-CN" altLang="en-US" sz="130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13" name="组合 12"/>
          <p:cNvGrpSpPr/>
          <p:nvPr/>
        </p:nvGrpSpPr>
        <p:grpSpPr>
          <a:xfrm rot="0">
            <a:off x="10634345" y="4300855"/>
            <a:ext cx="242570" cy="399415"/>
            <a:chOff x="4207" y="6620"/>
            <a:chExt cx="505" cy="831"/>
          </a:xfrm>
        </p:grpSpPr>
        <p:sp>
          <p:nvSpPr>
            <p:cNvPr id="14" name="菱形 13"/>
            <p:cNvSpPr/>
            <p:nvPr/>
          </p:nvSpPr>
          <p:spPr>
            <a:xfrm rot="16200000" flipH="1" flipV="1">
              <a:off x="4155" y="6673"/>
              <a:ext cx="611" cy="504"/>
            </a:xfrm>
            <a:prstGeom prst="diamond">
              <a:avLst/>
            </a:prstGeom>
            <a:gradFill flip="none" rotWithShape="1">
              <a:gsLst>
                <a:gs pos="0">
                  <a:schemeClr val="accent5"/>
                </a:gs>
                <a:gs pos="50000">
                  <a:schemeClr val="accent5">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5" name="菱形 14"/>
            <p:cNvSpPr/>
            <p:nvPr/>
          </p:nvSpPr>
          <p:spPr>
            <a:xfrm rot="16200000" flipH="1" flipV="1">
              <a:off x="4154" y="6894"/>
              <a:ext cx="611" cy="504"/>
            </a:xfrm>
            <a:prstGeom prst="diamond">
              <a:avLst/>
            </a:prstGeom>
            <a:gradFill flip="none" rotWithShape="1">
              <a:gsLst>
                <a:gs pos="0">
                  <a:schemeClr val="accent5"/>
                </a:gs>
                <a:gs pos="50000">
                  <a:schemeClr val="accent5">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sp>
        <p:nvSpPr>
          <p:cNvPr id="16" name="Freeform 6"/>
          <p:cNvSpPr>
            <a:spLocks noChangeArrowheads="1"/>
          </p:cNvSpPr>
          <p:nvPr/>
        </p:nvSpPr>
        <p:spPr bwMode="auto">
          <a:xfrm flipH="1">
            <a:off x="7760335" y="2424430"/>
            <a:ext cx="382905" cy="874395"/>
          </a:xfrm>
          <a:custGeom>
            <a:avLst/>
            <a:gdLst>
              <a:gd name="connsiteX0" fmla="*/ 229410 w 458820"/>
              <a:gd name="connsiteY0" fmla="*/ 0 h 1964056"/>
              <a:gd name="connsiteX1" fmla="*/ 458820 w 458820"/>
              <a:gd name="connsiteY1" fmla="*/ 982028 h 1964056"/>
              <a:gd name="connsiteX2" fmla="*/ 229410 w 458820"/>
              <a:gd name="connsiteY2" fmla="*/ 1964056 h 1964056"/>
              <a:gd name="connsiteX3" fmla="*/ 140113 w 458820"/>
              <a:gd name="connsiteY3" fmla="*/ 1886884 h 1964056"/>
              <a:gd name="connsiteX4" fmla="*/ 138579 w 458820"/>
              <a:gd name="connsiteY4" fmla="*/ 1883719 h 1964056"/>
              <a:gd name="connsiteX5" fmla="*/ 107603 w 458820"/>
              <a:gd name="connsiteY5" fmla="*/ 1812513 h 1964056"/>
              <a:gd name="connsiteX6" fmla="*/ 85554 w 458820"/>
              <a:gd name="connsiteY6" fmla="*/ 1741278 h 1964056"/>
              <a:gd name="connsiteX7" fmla="*/ 73264 w 458820"/>
              <a:gd name="connsiteY7" fmla="*/ 1697871 h 1964056"/>
              <a:gd name="connsiteX8" fmla="*/ 59948 w 458820"/>
              <a:gd name="connsiteY8" fmla="*/ 1638839 h 1964056"/>
              <a:gd name="connsiteX9" fmla="*/ 41390 w 458820"/>
              <a:gd name="connsiteY9" fmla="*/ 1542555 h 1964056"/>
              <a:gd name="connsiteX10" fmla="*/ 37932 w 458820"/>
              <a:gd name="connsiteY10" fmla="*/ 1521246 h 1964056"/>
              <a:gd name="connsiteX11" fmla="*/ 18028 w 458820"/>
              <a:gd name="connsiteY11" fmla="*/ 1364278 h 1964056"/>
              <a:gd name="connsiteX12" fmla="*/ 0 w 458820"/>
              <a:gd name="connsiteY12" fmla="*/ 982028 h 1964056"/>
              <a:gd name="connsiteX13" fmla="*/ 18028 w 458820"/>
              <a:gd name="connsiteY13" fmla="*/ 599779 h 1964056"/>
              <a:gd name="connsiteX14" fmla="*/ 37188 w 458820"/>
              <a:gd name="connsiteY14" fmla="*/ 448673 h 1964056"/>
              <a:gd name="connsiteX15" fmla="*/ 43174 w 458820"/>
              <a:gd name="connsiteY15" fmla="*/ 412243 h 1964056"/>
              <a:gd name="connsiteX16" fmla="*/ 58294 w 458820"/>
              <a:gd name="connsiteY16" fmla="*/ 333799 h 1964056"/>
              <a:gd name="connsiteX17" fmla="*/ 75762 w 458820"/>
              <a:gd name="connsiteY17" fmla="*/ 257365 h 1964056"/>
              <a:gd name="connsiteX18" fmla="*/ 82158 w 458820"/>
              <a:gd name="connsiteY18" fmla="*/ 234776 h 1964056"/>
              <a:gd name="connsiteX19" fmla="*/ 109349 w 458820"/>
              <a:gd name="connsiteY19" fmla="*/ 148147 h 1964056"/>
              <a:gd name="connsiteX20" fmla="*/ 142088 w 458820"/>
              <a:gd name="connsiteY20" fmla="*/ 74079 h 1964056"/>
              <a:gd name="connsiteX21" fmla="*/ 161191 w 458820"/>
              <a:gd name="connsiteY21" fmla="*/ 44150 h 1964056"/>
              <a:gd name="connsiteX22" fmla="*/ 229410 w 458820"/>
              <a:gd name="connsiteY22" fmla="*/ 0 h 1964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58820" h="1964056">
                <a:moveTo>
                  <a:pt x="229410" y="0"/>
                </a:moveTo>
                <a:cubicBezTo>
                  <a:pt x="356110" y="0"/>
                  <a:pt x="458820" y="439669"/>
                  <a:pt x="458820" y="982028"/>
                </a:cubicBezTo>
                <a:cubicBezTo>
                  <a:pt x="458820" y="1524387"/>
                  <a:pt x="356110" y="1964056"/>
                  <a:pt x="229410" y="1964056"/>
                </a:cubicBezTo>
                <a:cubicBezTo>
                  <a:pt x="197735" y="1964056"/>
                  <a:pt x="167560" y="1936577"/>
                  <a:pt x="140113" y="1886884"/>
                </a:cubicBezTo>
                <a:lnTo>
                  <a:pt x="138579" y="1883719"/>
                </a:lnTo>
                <a:lnTo>
                  <a:pt x="107603" y="1812513"/>
                </a:lnTo>
                <a:lnTo>
                  <a:pt x="85554" y="1741278"/>
                </a:lnTo>
                <a:lnTo>
                  <a:pt x="73264" y="1697871"/>
                </a:lnTo>
                <a:lnTo>
                  <a:pt x="59948" y="1638839"/>
                </a:lnTo>
                <a:lnTo>
                  <a:pt x="41390" y="1542555"/>
                </a:lnTo>
                <a:lnTo>
                  <a:pt x="37932" y="1521246"/>
                </a:lnTo>
                <a:lnTo>
                  <a:pt x="18028" y="1364278"/>
                </a:lnTo>
                <a:cubicBezTo>
                  <a:pt x="6420" y="1246790"/>
                  <a:pt x="0" y="1117618"/>
                  <a:pt x="0" y="982028"/>
                </a:cubicBezTo>
                <a:cubicBezTo>
                  <a:pt x="0" y="846439"/>
                  <a:pt x="6420" y="717267"/>
                  <a:pt x="18028" y="599779"/>
                </a:cubicBezTo>
                <a:lnTo>
                  <a:pt x="37188" y="448673"/>
                </a:lnTo>
                <a:lnTo>
                  <a:pt x="43174" y="412243"/>
                </a:lnTo>
                <a:lnTo>
                  <a:pt x="58294" y="333799"/>
                </a:lnTo>
                <a:lnTo>
                  <a:pt x="75762" y="257365"/>
                </a:lnTo>
                <a:lnTo>
                  <a:pt x="82158" y="234776"/>
                </a:lnTo>
                <a:lnTo>
                  <a:pt x="109349" y="148147"/>
                </a:lnTo>
                <a:lnTo>
                  <a:pt x="142088" y="74079"/>
                </a:lnTo>
                <a:lnTo>
                  <a:pt x="161191" y="44150"/>
                </a:lnTo>
                <a:cubicBezTo>
                  <a:pt x="182741" y="15457"/>
                  <a:pt x="205654" y="0"/>
                  <a:pt x="229410" y="0"/>
                </a:cubicBezTo>
                <a:close/>
              </a:path>
            </a:pathLst>
          </a:custGeom>
          <a:solidFill>
            <a:schemeClr val="accent2"/>
          </a:solidFill>
          <a:ln>
            <a:noFill/>
          </a:ln>
          <a:effectLst/>
        </p:spPr>
        <p:txBody>
          <a:bodyPr vert="horz" wrap="square" lIns="119474" tIns="59737" rIns="119474" bIns="59737" numCol="1" anchor="t" anchorCtr="0" compatLnSpc="1">
            <a:noAutofit/>
          </a:bodyPr>
          <a:p>
            <a:pPr lvl="0" algn="l">
              <a:buClrTx/>
              <a:buSzTx/>
              <a:buFontTx/>
            </a:pPr>
            <a:endParaRPr lang="en-US" sz="3135">
              <a:latin typeface="+mn-ea"/>
              <a:cs typeface="微软雅黑" panose="020B0503020204020204" charset="-122"/>
              <a:sym typeface="+mn-ea"/>
            </a:endParaRPr>
          </a:p>
        </p:txBody>
      </p:sp>
      <p:sp>
        <p:nvSpPr>
          <p:cNvPr id="18" name="Freeform 71"/>
          <p:cNvSpPr/>
          <p:nvPr/>
        </p:nvSpPr>
        <p:spPr bwMode="auto">
          <a:xfrm flipH="1">
            <a:off x="5053802" y="2194437"/>
            <a:ext cx="3089438" cy="1337445"/>
          </a:xfrm>
          <a:custGeom>
            <a:avLst/>
            <a:gdLst>
              <a:gd name="connsiteX0" fmla="*/ 4937 w 4937"/>
              <a:gd name="connsiteY0" fmla="*/ 0 h 2130"/>
              <a:gd name="connsiteX1" fmla="*/ 646 w 4937"/>
              <a:gd name="connsiteY1" fmla="*/ 348 h 2130"/>
              <a:gd name="connsiteX2" fmla="*/ 329 w 4937"/>
              <a:gd name="connsiteY2" fmla="*/ 370 h 2130"/>
              <a:gd name="connsiteX3" fmla="*/ 0 w 4937"/>
              <a:gd name="connsiteY3" fmla="*/ 1068 h 2130"/>
              <a:gd name="connsiteX4" fmla="*/ 317 w 4937"/>
              <a:gd name="connsiteY4" fmla="*/ 1762 h 2130"/>
              <a:gd name="connsiteX5" fmla="*/ 658 w 4937"/>
              <a:gd name="connsiteY5" fmla="*/ 1783 h 2130"/>
              <a:gd name="connsiteX6" fmla="*/ 4929 w 4937"/>
              <a:gd name="connsiteY6" fmla="*/ 2130 h 2130"/>
              <a:gd name="connsiteX7" fmla="*/ 4499 w 4937"/>
              <a:gd name="connsiteY7" fmla="*/ 1056 h 2130"/>
              <a:gd name="connsiteX8" fmla="*/ 4937 w 4937"/>
              <a:gd name="connsiteY8" fmla="*/ 0 h 2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0" t="0" r="r" b="b"/>
            <a:pathLst>
              <a:path w="4865" h="2106">
                <a:moveTo>
                  <a:pt x="4865" y="0"/>
                </a:moveTo>
                <a:cubicBezTo>
                  <a:pt x="3587" y="124"/>
                  <a:pt x="1843" y="261"/>
                  <a:pt x="641" y="340"/>
                </a:cubicBezTo>
                <a:cubicBezTo>
                  <a:pt x="538" y="346"/>
                  <a:pt x="422" y="354"/>
                  <a:pt x="329" y="361"/>
                </a:cubicBezTo>
                <a:cubicBezTo>
                  <a:pt x="135" y="459"/>
                  <a:pt x="-4" y="766"/>
                  <a:pt x="0" y="1056"/>
                </a:cubicBezTo>
                <a:cubicBezTo>
                  <a:pt x="-6" y="1370"/>
                  <a:pt x="146" y="1651"/>
                  <a:pt x="317" y="1747"/>
                </a:cubicBezTo>
                <a:cubicBezTo>
                  <a:pt x="428" y="1754"/>
                  <a:pt x="555" y="1762"/>
                  <a:pt x="658" y="1768"/>
                </a:cubicBezTo>
                <a:cubicBezTo>
                  <a:pt x="2100" y="1865"/>
                  <a:pt x="3673" y="1993"/>
                  <a:pt x="4856" y="2106"/>
                </a:cubicBezTo>
                <a:cubicBezTo>
                  <a:pt x="4647" y="1985"/>
                  <a:pt x="4481" y="1502"/>
                  <a:pt x="4489" y="1056"/>
                </a:cubicBezTo>
                <a:cubicBezTo>
                  <a:pt x="4484" y="882"/>
                  <a:pt x="4522" y="645"/>
                  <a:pt x="4547" y="557"/>
                </a:cubicBezTo>
                <a:cubicBezTo>
                  <a:pt x="4565" y="462"/>
                  <a:pt x="4615" y="332"/>
                  <a:pt x="4637" y="292"/>
                </a:cubicBezTo>
                <a:cubicBezTo>
                  <a:pt x="4695" y="158"/>
                  <a:pt x="4798" y="39"/>
                  <a:pt x="4865" y="0"/>
                </a:cubicBezTo>
                <a:close/>
              </a:path>
            </a:pathLst>
          </a:custGeom>
          <a:solidFill>
            <a:schemeClr val="accent1">
              <a:lumMod val="60000"/>
              <a:lumOff val="40000"/>
              <a:alpha val="80000"/>
            </a:schemeClr>
          </a:solidFill>
          <a:ln>
            <a:noFill/>
          </a:ln>
          <a:effectLst/>
        </p:spPr>
        <p:txBody>
          <a:bodyPr vert="horz" wrap="square" lIns="119474" tIns="59737" rIns="119474" bIns="59737" numCol="1" anchor="t" anchorCtr="0" compatLnSpc="1">
            <a:noAutofit/>
          </a:bodyPr>
          <a:p>
            <a:pPr lvl="0" algn="l">
              <a:buClrTx/>
              <a:buSzTx/>
              <a:buFontTx/>
            </a:pPr>
            <a:endParaRPr lang="en-US" sz="3135">
              <a:latin typeface="+mn-ea"/>
              <a:cs typeface="微软雅黑" panose="020B0503020204020204" charset="-122"/>
              <a:sym typeface="+mn-ea"/>
            </a:endParaRPr>
          </a:p>
        </p:txBody>
      </p:sp>
      <p:sp>
        <p:nvSpPr>
          <p:cNvPr id="20" name="文本框 19"/>
          <p:cNvSpPr txBox="1"/>
          <p:nvPr>
            <p:custDataLst>
              <p:tags r:id="rId16"/>
            </p:custDataLst>
          </p:nvPr>
        </p:nvSpPr>
        <p:spPr>
          <a:xfrm>
            <a:off x="5728335" y="2585720"/>
            <a:ext cx="1615440" cy="521970"/>
          </a:xfrm>
          <a:prstGeom prst="rect">
            <a:avLst/>
          </a:prstGeom>
          <a:noFill/>
        </p:spPr>
        <p:txBody>
          <a:bodyPr wrap="square" rtlCol="0">
            <a:spAutoFit/>
          </a:bodyPr>
          <a:p>
            <a:pPr algn="ctr"/>
            <a:r>
              <a:rPr lang="zh-CN" altLang="en-US" sz="1400">
                <a:solidFill>
                  <a:schemeClr val="bg1"/>
                </a:solidFill>
                <a:latin typeface="微软雅黑" panose="020B0503020204020204" charset="-122"/>
                <a:ea typeface="微软雅黑" panose="020B0503020204020204" charset="-122"/>
                <a:cs typeface="微软雅黑" panose="020B0503020204020204" charset="-122"/>
              </a:rPr>
              <a:t>全球大趋势驱动下的</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5</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个营养趋势</a:t>
            </a:r>
            <a:endParaRPr lang="zh-CN" altLang="en-US" sz="1400">
              <a:solidFill>
                <a:schemeClr val="bg1"/>
              </a:solidFill>
              <a:latin typeface="微软雅黑" panose="020B0503020204020204" charset="-122"/>
              <a:ea typeface="微软雅黑" panose="020B0503020204020204" charset="-122"/>
              <a:cs typeface="微软雅黑" panose="020B0503020204020204" charset="-122"/>
            </a:endParaRPr>
          </a:p>
        </p:txBody>
      </p: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8738235" y="348615"/>
            <a:ext cx="3220085" cy="333375"/>
            <a:chOff x="13761" y="549"/>
            <a:chExt cx="5071" cy="525"/>
          </a:xfrm>
        </p:grpSpPr>
        <p:pic>
          <p:nvPicPr>
            <p:cNvPr id="44" name="图片 43"/>
            <p:cNvPicPr>
              <a:picLocks noChangeAspect="1"/>
            </p:cNvPicPr>
            <p:nvPr userDrawn="1"/>
          </p:nvPicPr>
          <p:blipFill>
            <a:blip r:embed="rId17"/>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37"/>
              <a:ext cx="3613" cy="386"/>
            </a:xfrm>
            <a:prstGeom prst="rect">
              <a:avLst/>
            </a:prstGeom>
            <a:noFill/>
          </p:spPr>
          <p:txBody>
            <a:bodyPr wrap="square" rtlCol="0">
              <a:spAutoFit/>
            </a:bodyPr>
            <a:lstStyle/>
            <a:p>
              <a:r>
                <a:rPr lang="zh-CN" altLang="en-US" sz="1000">
                  <a:solidFill>
                    <a:schemeClr val="tx2"/>
                  </a:solidFill>
                  <a:latin typeface="微软雅黑" panose="020B0503020204020204" charset="-122"/>
                  <a:ea typeface="微软雅黑" panose="020B0503020204020204" charset="-122"/>
                  <a:cs typeface="微软雅黑" panose="020B0503020204020204" charset="-122"/>
                </a:rPr>
                <a:t>复杂逻辑场景</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框架搭建系列</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PPT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模板</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天蝎PPT1"/>
          <p:cNvPicPr>
            <a:picLocks noChangeAspect="1"/>
          </p:cNvPicPr>
          <p:nvPr/>
        </p:nvPicPr>
        <p:blipFill rotWithShape="1">
          <a:blip r:embed="rId1" cstate="email"/>
          <a:srcRect/>
          <a:stretch>
            <a:fillRect/>
          </a:stretch>
        </p:blipFill>
        <p:spPr>
          <a:xfrm flipH="1">
            <a:off x="4431665" y="1270"/>
            <a:ext cx="7755825" cy="6858000"/>
          </a:xfrm>
          <a:prstGeom prst="rect">
            <a:avLst/>
          </a:prstGeom>
        </p:spPr>
      </p:pic>
      <p:sp>
        <p:nvSpPr>
          <p:cNvPr id="36" name="矩形 35"/>
          <p:cNvSpPr/>
          <p:nvPr/>
        </p:nvSpPr>
        <p:spPr>
          <a:xfrm>
            <a:off x="0" y="1270"/>
            <a:ext cx="12268200" cy="6858000"/>
          </a:xfrm>
          <a:prstGeom prst="rect">
            <a:avLst/>
          </a:prstGeom>
          <a:gradFill>
            <a:gsLst>
              <a:gs pos="0">
                <a:srgbClr val="EDEEF2">
                  <a:lumMod val="0"/>
                  <a:lumOff val="100000"/>
                </a:srgbClr>
              </a:gs>
              <a:gs pos="100000">
                <a:srgbClr val="DBDBDD">
                  <a:alpha val="50000"/>
                </a:srgbClr>
              </a:gs>
            </a:gsLst>
            <a:lin ang="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5598" name="Group"/>
          <p:cNvGrpSpPr/>
          <p:nvPr/>
        </p:nvGrpSpPr>
        <p:grpSpPr>
          <a:xfrm>
            <a:off x="1443368" y="1358900"/>
            <a:ext cx="9305264" cy="4305301"/>
            <a:chOff x="0" y="0"/>
            <a:chExt cx="18610527" cy="8610600"/>
          </a:xfrm>
          <a:solidFill>
            <a:schemeClr val="accent1"/>
          </a:solidFill>
        </p:grpSpPr>
        <p:sp>
          <p:nvSpPr>
            <p:cNvPr id="5596" name="Triangle"/>
            <p:cNvSpPr/>
            <p:nvPr/>
          </p:nvSpPr>
          <p:spPr>
            <a:xfrm rot="5400000">
              <a:off x="0" y="7340600"/>
              <a:ext cx="1270000" cy="12700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grp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1600"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597" name="Rounded Rectangle"/>
            <p:cNvSpPr/>
            <p:nvPr/>
          </p:nvSpPr>
          <p:spPr>
            <a:xfrm>
              <a:off x="0" y="0"/>
              <a:ext cx="18610528" cy="7924800"/>
            </a:xfrm>
            <a:prstGeom prst="roundRect">
              <a:avLst>
                <a:gd name="adj" fmla="val 2404"/>
              </a:avLst>
            </a:prstGeom>
            <a:grp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1600"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
        <p:nvSpPr>
          <p:cNvPr id="2" name="TextBox 1"/>
          <p:cNvSpPr txBox="1"/>
          <p:nvPr/>
        </p:nvSpPr>
        <p:spPr>
          <a:xfrm>
            <a:off x="1454150" y="2272665"/>
            <a:ext cx="9283700" cy="1576070"/>
          </a:xfrm>
          <a:prstGeom prst="rect">
            <a:avLst/>
          </a:prstGeom>
          <a:noFill/>
        </p:spPr>
        <p:txBody>
          <a:bodyPr wrap="square" anchor="ctr" anchorCtr="0">
            <a:noAutofit/>
          </a:bodyPr>
          <a:lstStyle/>
          <a:p>
            <a:pPr algn="ctr"/>
            <a:r>
              <a:rPr lang="id-ID" sz="8000" b="1" dirty="0">
                <a:solidFill>
                  <a:schemeClr val="bg1"/>
                </a:solidFill>
                <a:latin typeface="微软雅黑" panose="020B0503020204020204" charset="-122"/>
                <a:ea typeface="微软雅黑" panose="020B0503020204020204" charset="-122"/>
                <a:cs typeface="微软雅黑" panose="020B0503020204020204" charset="-122"/>
              </a:rPr>
              <a:t>THANK YOU</a:t>
            </a:r>
            <a:endParaRPr lang="id-ID" sz="80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 name="TextBox 47"/>
          <p:cNvSpPr txBox="1"/>
          <p:nvPr/>
        </p:nvSpPr>
        <p:spPr>
          <a:xfrm>
            <a:off x="3982085" y="4293870"/>
            <a:ext cx="4970145" cy="337185"/>
          </a:xfrm>
          <a:prstGeom prst="rect">
            <a:avLst/>
          </a:prstGeom>
          <a:noFill/>
        </p:spPr>
        <p:txBody>
          <a:bodyPr wrap="square">
            <a:spAutoFit/>
          </a:bodyPr>
          <a:lstStyle/>
          <a:p>
            <a:pPr algn="ctr"/>
            <a:r>
              <a:rPr lang="id-ID" sz="1600" dirty="0" err="1">
                <a:solidFill>
                  <a:schemeClr val="bg1"/>
                </a:solidFill>
                <a:latin typeface="微软雅黑" panose="020B0503020204020204" charset="-122"/>
                <a:ea typeface="微软雅黑" panose="020B0503020204020204" charset="-122"/>
                <a:cs typeface="微软雅黑" panose="020B0503020204020204" charset="-122"/>
              </a:rPr>
              <a:t>汇报人</a:t>
            </a:r>
            <a:r>
              <a:rPr lang="zh-CN" altLang="en-US" sz="1600" dirty="0">
                <a:solidFill>
                  <a:schemeClr val="bg1"/>
                </a:solidFill>
                <a:latin typeface="微软雅黑" panose="020B0503020204020204" charset="-122"/>
                <a:ea typeface="微软雅黑" panose="020B0503020204020204" charset="-122"/>
                <a:cs typeface="微软雅黑" panose="020B0503020204020204" charset="-122"/>
              </a:rPr>
              <a:t>：开悟思维    </a:t>
            </a:r>
            <a:r>
              <a:rPr lang="id-ID" sz="1600" dirty="0" err="1">
                <a:solidFill>
                  <a:schemeClr val="bg1"/>
                </a:solidFill>
                <a:latin typeface="微软雅黑" panose="020B0503020204020204" charset="-122"/>
                <a:ea typeface="微软雅黑" panose="020B0503020204020204" charset="-122"/>
                <a:cs typeface="微软雅黑" panose="020B0503020204020204" charset="-122"/>
              </a:rPr>
              <a:t>汇报时间</a:t>
            </a:r>
            <a:r>
              <a:rPr lang="zh-CN" altLang="en-US" sz="1600" dirty="0">
                <a:solidFill>
                  <a:schemeClr val="bg1"/>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1600" dirty="0">
                <a:solidFill>
                  <a:schemeClr val="bg1"/>
                </a:solidFill>
                <a:latin typeface="微软雅黑" panose="020B0503020204020204" charset="-122"/>
                <a:ea typeface="微软雅黑" panose="020B0503020204020204" charset="-122"/>
                <a:cs typeface="微软雅黑" panose="020B0503020204020204" charset="-122"/>
              </a:rPr>
              <a:t>年</a:t>
            </a:r>
            <a:r>
              <a:rPr lang="en-US" altLang="zh-CN" sz="1600"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1600" dirty="0">
                <a:solidFill>
                  <a:schemeClr val="bg1"/>
                </a:solidFill>
                <a:latin typeface="微软雅黑" panose="020B0503020204020204" charset="-122"/>
                <a:ea typeface="微软雅黑" panose="020B0503020204020204" charset="-122"/>
                <a:cs typeface="微软雅黑" panose="020B0503020204020204" charset="-122"/>
              </a:rPr>
              <a:t>月</a:t>
            </a:r>
            <a:r>
              <a:rPr lang="en-US" altLang="zh-CN" sz="1600"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1600" dirty="0">
                <a:solidFill>
                  <a:schemeClr val="bg1"/>
                </a:solidFill>
                <a:latin typeface="微软雅黑" panose="020B0503020204020204" charset="-122"/>
                <a:ea typeface="微软雅黑" panose="020B0503020204020204" charset="-122"/>
                <a:cs typeface="微软雅黑" panose="020B0503020204020204" charset="-122"/>
              </a:rPr>
              <a:t>日</a:t>
            </a:r>
            <a:endParaRPr lang="en-ID" sz="1600" dirty="0">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DIAGRAM_VIRTUALLY_FRAME" val="{&quot;height&quot;:410,&quot;left&quot;:29.05,&quot;top&quot;:91.25,&quot;width&quot;:912.85}"/>
</p:tagLst>
</file>

<file path=ppt/tags/tag20.xml><?xml version="1.0" encoding="utf-8"?>
<p:tagLst xmlns:p="http://schemas.openxmlformats.org/presentationml/2006/main">
  <p:tag name="KSO_WM_DIAGRAM_VIRTUALLY_FRAME" val="{&quot;height&quot;:410,&quot;left&quot;:29.05,&quot;top&quot;:91.25,&quot;width&quot;:912.85}"/>
</p:tagLst>
</file>

<file path=ppt/tags/tag21.xml><?xml version="1.0" encoding="utf-8"?>
<p:tagLst xmlns:p="http://schemas.openxmlformats.org/presentationml/2006/main">
  <p:tag name="KSO_WM_DIAGRAM_VIRTUALLY_FRAME" val="{&quot;height&quot;:410,&quot;left&quot;:29.05,&quot;top&quot;:91.25,&quot;width&quot;:920.15}"/>
</p:tagLst>
</file>

<file path=ppt/tags/tag22.xml><?xml version="1.0" encoding="utf-8"?>
<p:tagLst xmlns:p="http://schemas.openxmlformats.org/presentationml/2006/main">
  <p:tag name="KSO_WM_DIAGRAM_VIRTUALLY_FRAME" val="{&quot;height&quot;:410,&quot;left&quot;:29.05,&quot;top&quot;:91.25,&quot;width&quot;:920.15}"/>
</p:tagLst>
</file>

<file path=ppt/tags/tag23.xml><?xml version="1.0" encoding="utf-8"?>
<p:tagLst xmlns:p="http://schemas.openxmlformats.org/presentationml/2006/main">
  <p:tag name="KSO_WM_DIAGRAM_VIRTUALLY_FRAME" val="{&quot;height&quot;:410,&quot;left&quot;:29.05,&quot;top&quot;:91.25,&quot;width&quot;:920.15}"/>
</p:tagLst>
</file>

<file path=ppt/tags/tag24.xml><?xml version="1.0" encoding="utf-8"?>
<p:tagLst xmlns:p="http://schemas.openxmlformats.org/presentationml/2006/main">
  <p:tag name="KSO_WM_DIAGRAM_VIRTUALLY_FRAME" val="{&quot;height&quot;:410,&quot;left&quot;:29.05,&quot;top&quot;:91.25,&quot;width&quot;:920.15}"/>
</p:tagLst>
</file>

<file path=ppt/tags/tag25.xml><?xml version="1.0" encoding="utf-8"?>
<p:tagLst xmlns:p="http://schemas.openxmlformats.org/presentationml/2006/main">
  <p:tag name="KSO_WM_DIAGRAM_VIRTUALLY_FRAME" val="{&quot;height&quot;:410,&quot;left&quot;:29.05,&quot;top&quot;:91.25,&quot;width&quot;:920.15}"/>
</p:tagLst>
</file>

<file path=ppt/tags/tag26.xml><?xml version="1.0" encoding="utf-8"?>
<p:tagLst xmlns:p="http://schemas.openxmlformats.org/presentationml/2006/main">
  <p:tag name="KSO_WM_DIAGRAM_VIRTUALLY_FRAME" val="{&quot;height&quot;:410,&quot;left&quot;:29.05,&quot;top&quot;:91.25,&quot;width&quot;:920.15}"/>
</p:tagLst>
</file>

<file path=ppt/tags/tag27.xml><?xml version="1.0" encoding="utf-8"?>
<p:tagLst xmlns:p="http://schemas.openxmlformats.org/presentationml/2006/main">
  <p:tag name="KSO_WM_DIAGRAM_VIRTUALLY_FRAME" val="{&quot;height&quot;:410,&quot;left&quot;:29.05,&quot;top&quot;:91.25,&quot;width&quot;:920.15}"/>
</p:tagLst>
</file>

<file path=ppt/tags/tag28.xml><?xml version="1.0" encoding="utf-8"?>
<p:tagLst xmlns:p="http://schemas.openxmlformats.org/presentationml/2006/main">
  <p:tag name="KSO_WM_DIAGRAM_VIRTUALLY_FRAME" val="{&quot;height&quot;:410,&quot;left&quot;:29.05,&quot;top&quot;:91.25,&quot;width&quot;:920.15}"/>
</p:tagLst>
</file>

<file path=ppt/tags/tag29.xml><?xml version="1.0" encoding="utf-8"?>
<p:tagLst xmlns:p="http://schemas.openxmlformats.org/presentationml/2006/main">
  <p:tag name="KSO_WM_DIAGRAM_VIRTUALLY_FRAME" val="{&quot;height&quot;:410,&quot;left&quot;:29.05,&quot;top&quot;:91.25,&quot;width&quot;:912.85}"/>
</p:tagLst>
</file>

<file path=ppt/tags/tag30.xml><?xml version="1.0" encoding="utf-8"?>
<p:tagLst xmlns:p="http://schemas.openxmlformats.org/presentationml/2006/main">
  <p:tag name="KSO_WM_DIAGRAM_VIRTUALLY_FRAME" val="{&quot;height&quot;:410,&quot;left&quot;:29.05,&quot;top&quot;:91.25,&quot;width&quot;:912.85}"/>
</p:tagLst>
</file>

<file path=ppt/tags/tag31.xml><?xml version="1.0" encoding="utf-8"?>
<p:tagLst xmlns:p="http://schemas.openxmlformats.org/presentationml/2006/main">
  <p:tag name="KSO_WM_DIAGRAM_VIRTUALLY_FRAME" val="{&quot;height&quot;:410,&quot;left&quot;:29.05,&quot;top&quot;:91.25,&quot;width&quot;:912.85}"/>
</p:tagLst>
</file>

<file path=ppt/tags/tag32.xml><?xml version="1.0" encoding="utf-8"?>
<p:tagLst xmlns:p="http://schemas.openxmlformats.org/presentationml/2006/main">
  <p:tag name="KSO_WM_DIAGRAM_VIRTUALLY_FRAME" val="{&quot;height&quot;:410,&quot;left&quot;:29.05,&quot;top&quot;:91.25,&quot;width&quot;:912.85}"/>
</p:tagLst>
</file>

<file path=ppt/tags/tag33.xml><?xml version="1.0" encoding="utf-8"?>
<p:tagLst xmlns:p="http://schemas.openxmlformats.org/presentationml/2006/main">
  <p:tag name="KSO_WM_DIAGRAM_VIRTUALLY_FRAME" val="{&quot;height&quot;:410,&quot;left&quot;:29.05,&quot;top&quot;:91.25,&quot;width&quot;:912.85}"/>
</p:tagLst>
</file>

<file path=ppt/tags/tag34.xml><?xml version="1.0" encoding="utf-8"?>
<p:tagLst xmlns:p="http://schemas.openxmlformats.org/presentationml/2006/main">
  <p:tag name="KSO_WM_DIAGRAM_VIRTUALLY_FRAME" val="{&quot;height&quot;:410,&quot;left&quot;:29.05,&quot;top&quot;:91.25,&quot;width&quot;:912.85}"/>
</p:tagLst>
</file>

<file path=ppt/tags/tag35.xml><?xml version="1.0" encoding="utf-8"?>
<p:tagLst xmlns:p="http://schemas.openxmlformats.org/presentationml/2006/main">
  <p:tag name="KSO_WM_DIAGRAM_VIRTUALLY_FRAME" val="{&quot;height&quot;:410,&quot;left&quot;:29.05,&quot;top&quot;:91.25,&quot;width&quot;:912.85}"/>
</p:tagLst>
</file>

<file path=ppt/tags/tag36.xml><?xml version="1.0" encoding="utf-8"?>
<p:tagLst xmlns:p="http://schemas.openxmlformats.org/presentationml/2006/main">
  <p:tag name="KSO_WM_DIAGRAM_VIRTUALLY_FRAME" val="{&quot;height&quot;:410,&quot;left&quot;:29.05,&quot;top&quot;:91.25,&quot;width&quot;:912.85}"/>
</p:tagLst>
</file>

<file path=ppt/tags/tag37.xml><?xml version="1.0" encoding="utf-8"?>
<p:tagLst xmlns:p="http://schemas.openxmlformats.org/presentationml/2006/main">
  <p:tag name="KSO_WM_DIAGRAM_VIRTUALLY_FRAME" val="{&quot;height&quot;:410,&quot;left&quot;:29.05,&quot;top&quot;:91.25,&quot;width&quot;:912.85}"/>
</p:tagLst>
</file>

<file path=ppt/tags/tag38.xml><?xml version="1.0" encoding="utf-8"?>
<p:tagLst xmlns:p="http://schemas.openxmlformats.org/presentationml/2006/main">
  <p:tag name="KSO_WM_DIAGRAM_VIRTUALLY_FRAME" val="{&quot;height&quot;:410,&quot;left&quot;:29.05,&quot;top&quot;:91.25,&quot;width&quot;:919.5}"/>
</p:tagLst>
</file>

<file path=ppt/tags/tag39.xml><?xml version="1.0" encoding="utf-8"?>
<p:tagLst xmlns:p="http://schemas.openxmlformats.org/presentationml/2006/main">
  <p:tag name="KSO_WM_DIAGRAM_VIRTUALLY_FRAME" val="{&quot;height&quot;:410,&quot;left&quot;:29.05,&quot;top&quot;:91.25,&quot;width&quot;:919.5}"/>
</p:tagLst>
</file>

<file path=ppt/tags/tag40.xml><?xml version="1.0" encoding="utf-8"?>
<p:tagLst xmlns:p="http://schemas.openxmlformats.org/presentationml/2006/main">
  <p:tag name="KSO_WM_DIAGRAM_VIRTUALLY_FRAME" val="{&quot;height&quot;:410,&quot;left&quot;:29.05,&quot;top&quot;:91.25,&quot;width&quot;:919.5}"/>
</p:tagLst>
</file>

<file path=ppt/tags/tag41.xml><?xml version="1.0" encoding="utf-8"?>
<p:tagLst xmlns:p="http://schemas.openxmlformats.org/presentationml/2006/main">
  <p:tag name="KSO_WM_DIAGRAM_VIRTUALLY_FRAME" val="{&quot;height&quot;:410,&quot;left&quot;:29.05,&quot;top&quot;:91.25,&quot;width&quot;:919.5}"/>
</p:tagLst>
</file>

<file path=ppt/tags/tag42.xml><?xml version="1.0" encoding="utf-8"?>
<p:tagLst xmlns:p="http://schemas.openxmlformats.org/presentationml/2006/main">
  <p:tag name="KSO_WM_DIAGRAM_VIRTUALLY_FRAME" val="{&quot;height&quot;:410,&quot;left&quot;:29.05,&quot;top&quot;:91.25,&quot;width&quot;:919.5}"/>
</p:tagLst>
</file>

<file path=ppt/tags/tag43.xml><?xml version="1.0" encoding="utf-8"?>
<p:tagLst xmlns:p="http://schemas.openxmlformats.org/presentationml/2006/main">
  <p:tag name="KSO_WM_DIAGRAM_VIRTUALLY_FRAME" val="{&quot;height&quot;:410,&quot;left&quot;:29.05,&quot;top&quot;:91.25,&quot;width&quot;:919.5}"/>
</p:tagLst>
</file>

<file path=ppt/tags/tag44.xml><?xml version="1.0" encoding="utf-8"?>
<p:tagLst xmlns:p="http://schemas.openxmlformats.org/presentationml/2006/main">
  <p:tag name="KSO_WM_DIAGRAM_VIRTUALLY_FRAME" val="{&quot;height&quot;:410,&quot;left&quot;:29.05,&quot;top&quot;:91.25,&quot;width&quot;:919.5}"/>
</p:tagLst>
</file>

<file path=ppt/tags/tag45.xml><?xml version="1.0" encoding="utf-8"?>
<p:tagLst xmlns:p="http://schemas.openxmlformats.org/presentationml/2006/main">
  <p:tag name="KSO_WM_DIAGRAM_VIRTUALLY_FRAME" val="{&quot;height&quot;:410,&quot;left&quot;:29.05,&quot;top&quot;:91.25,&quot;width&quot;:919.5}"/>
</p:tagLst>
</file>

<file path=ppt/tags/tag46.xml><?xml version="1.0" encoding="utf-8"?>
<p:tagLst xmlns:p="http://schemas.openxmlformats.org/presentationml/2006/main">
  <p:tag name="KSO_WM_DIAGRAM_VIRTUALLY_FRAME" val="{&quot;height&quot;:410,&quot;left&quot;:29.05,&quot;top&quot;:91.25,&quot;width&quot;:919.5}"/>
</p:tagLst>
</file>

<file path=ppt/tags/tag47.xml><?xml version="1.0" encoding="utf-8"?>
<p:tagLst xmlns:p="http://schemas.openxmlformats.org/presentationml/2006/main">
  <p:tag name="KSO_WM_DIAGRAM_VIRTUALLY_FRAME" val="{&quot;height&quot;:410,&quot;left&quot;:29.05,&quot;top&quot;:91.25,&quot;width&quot;:919.5}"/>
</p:tagLst>
</file>

<file path=ppt/tags/tag48.xml><?xml version="1.0" encoding="utf-8"?>
<p:tagLst xmlns:p="http://schemas.openxmlformats.org/presentationml/2006/main">
  <p:tag name="KSO_WM_DIAGRAM_VIRTUALLY_FRAME" val="{&quot;height&quot;:403.1,&quot;left&quot;:55.7,&quot;top&quot;:109.25,&quot;width&quot;:860.45}"/>
</p:tagLst>
</file>

<file path=ppt/tags/tag49.xml><?xml version="1.0" encoding="utf-8"?>
<p:tagLst xmlns:p="http://schemas.openxmlformats.org/presentationml/2006/main">
  <p:tag name="KSO_WM_DIAGRAM_VIRTUALLY_FRAME" val="{&quot;height&quot;:403.1,&quot;left&quot;:55.7,&quot;top&quot;:109.25,&quot;width&quot;:860.45}"/>
</p:tagLst>
</file>

<file path=ppt/tags/tag50.xml><?xml version="1.0" encoding="utf-8"?>
<p:tagLst xmlns:p="http://schemas.openxmlformats.org/presentationml/2006/main">
  <p:tag name="KSO_WM_DIAGRAM_VIRTUALLY_FRAME" val="{&quot;height&quot;:403.1,&quot;left&quot;:55.7,&quot;top&quot;:109.25,&quot;width&quot;:860.45}"/>
</p:tagLst>
</file>

<file path=ppt/tags/tag51.xml><?xml version="1.0" encoding="utf-8"?>
<p:tagLst xmlns:p="http://schemas.openxmlformats.org/presentationml/2006/main">
  <p:tag name="KSO_WM_DIAGRAM_VIRTUALLY_FRAME" val="{&quot;height&quot;:403.1,&quot;left&quot;:55.7,&quot;top&quot;:109.25,&quot;width&quot;:860.45}"/>
</p:tagLst>
</file>

<file path=ppt/tags/tag52.xml><?xml version="1.0" encoding="utf-8"?>
<p:tagLst xmlns:p="http://schemas.openxmlformats.org/presentationml/2006/main">
  <p:tag name="KSO_WM_DIAGRAM_VIRTUALLY_FRAME" val="{&quot;height&quot;:403.1,&quot;left&quot;:55.7,&quot;top&quot;:109.25,&quot;width&quot;:860.45}"/>
</p:tagLst>
</file>

<file path=ppt/tags/tag53.xml><?xml version="1.0" encoding="utf-8"?>
<p:tagLst xmlns:p="http://schemas.openxmlformats.org/presentationml/2006/main">
  <p:tag name="KSO_WM_DIAGRAM_VIRTUALLY_FRAME" val="{&quot;height&quot;:403.1,&quot;left&quot;:55.7,&quot;top&quot;:109.25,&quot;width&quot;:860.45}"/>
</p:tagLst>
</file>

<file path=ppt/tags/tag54.xml><?xml version="1.0" encoding="utf-8"?>
<p:tagLst xmlns:p="http://schemas.openxmlformats.org/presentationml/2006/main">
  <p:tag name="KSO_WM_DIAGRAM_VIRTUALLY_FRAME" val="{&quot;height&quot;:403.1,&quot;left&quot;:55.7,&quot;top&quot;:109.25,&quot;width&quot;:860.45}"/>
</p:tagLst>
</file>

<file path=ppt/tags/tag55.xml><?xml version="1.0" encoding="utf-8"?>
<p:tagLst xmlns:p="http://schemas.openxmlformats.org/presentationml/2006/main">
  <p:tag name="KSO_WM_DIAGRAM_VIRTUALLY_FRAME" val="{&quot;height&quot;:403.1,&quot;left&quot;:55.7,&quot;top&quot;:109.25,&quot;width&quot;:860.45}"/>
</p:tagLst>
</file>

<file path=ppt/tags/tag56.xml><?xml version="1.0" encoding="utf-8"?>
<p:tagLst xmlns:p="http://schemas.openxmlformats.org/presentationml/2006/main">
  <p:tag name="KSO_WM_DIAGRAM_VIRTUALLY_FRAME" val="{&quot;height&quot;:403.1,&quot;left&quot;:55.7,&quot;top&quot;:109.25,&quot;width&quot;:860.45}"/>
</p:tagLst>
</file>

<file path=ppt/tags/tag57.xml><?xml version="1.0" encoding="utf-8"?>
<p:tagLst xmlns:p="http://schemas.openxmlformats.org/presentationml/2006/main">
  <p:tag name="KSO_WM_DIAGRAM_VIRTUALLY_FRAME" val="{&quot;height&quot;:403.1,&quot;left&quot;:55.7,&quot;top&quot;:109.25,&quot;width&quot;:860.45}"/>
</p:tagLst>
</file>

<file path=ppt/tags/tag58.xml><?xml version="1.0" encoding="utf-8"?>
<p:tagLst xmlns:p="http://schemas.openxmlformats.org/presentationml/2006/main">
  <p:tag name="KSO_WM_DIAGRAM_VIRTUALLY_FRAME" val="{&quot;height&quot;:403.1,&quot;left&quot;:55.7,&quot;top&quot;:109.25,&quot;width&quot;:860.45}"/>
</p:tagLst>
</file>

<file path=ppt/tags/tag59.xml><?xml version="1.0" encoding="utf-8"?>
<p:tagLst xmlns:p="http://schemas.openxmlformats.org/presentationml/2006/main">
  <p:tag name="KSO_WM_DIAGRAM_VIRTUALLY_FRAME" val="{&quot;height&quot;:403.1,&quot;left&quot;:55.7,&quot;top&quot;:109.25,&quot;width&quot;:860.45}"/>
</p:tagLst>
</file>

<file path=ppt/tags/tag60.xml><?xml version="1.0" encoding="utf-8"?>
<p:tagLst xmlns:p="http://schemas.openxmlformats.org/presentationml/2006/main">
  <p:tag name="KSO_WM_DIAGRAM_VIRTUALLY_FRAME" val="{&quot;height&quot;:403.1,&quot;left&quot;:55.7,&quot;top&quot;:109.25,&quot;width&quot;:860.45}"/>
</p:tagLst>
</file>

<file path=ppt/tags/tag61.xml><?xml version="1.0" encoding="utf-8"?>
<p:tagLst xmlns:p="http://schemas.openxmlformats.org/presentationml/2006/main">
  <p:tag name="KSO_WM_DIAGRAM_VIRTUALLY_FRAME" val="{&quot;height&quot;:403.1,&quot;left&quot;:55.7,&quot;top&quot;:109.25,&quot;width&quot;:860.45}"/>
</p:tagLst>
</file>

<file path=ppt/tags/tag62.xml><?xml version="1.0" encoding="utf-8"?>
<p:tagLst xmlns:p="http://schemas.openxmlformats.org/presentationml/2006/main">
  <p:tag name="KSO_WM_DIAGRAM_VIRTUALLY_FRAME" val="{&quot;height&quot;:403.1,&quot;left&quot;:55.7,&quot;top&quot;:109.25,&quot;width&quot;:860.45}"/>
</p:tagLst>
</file>

<file path=ppt/tags/tag63.xml><?xml version="1.0" encoding="utf-8"?>
<p:tagLst xmlns:p="http://schemas.openxmlformats.org/presentationml/2006/main">
  <p:tag name="KSO_WM_DIAGRAM_VIRTUALLY_FRAME" val="{&quot;height&quot;:403.1,&quot;left&quot;:55.7,&quot;top&quot;:109.25,&quot;width&quot;:860.45}"/>
</p:tagLst>
</file>

<file path=ppt/tags/tag64.xml><?xml version="1.0" encoding="utf-8"?>
<p:tagLst xmlns:p="http://schemas.openxmlformats.org/presentationml/2006/main">
  <p:tag name="KSO_WM_DIAGRAM_VIRTUALLY_FRAME" val="{&quot;height&quot;:403.1,&quot;left&quot;:55.7,&quot;top&quot;:109.25,&quot;width&quot;:860.45}"/>
</p:tagLst>
</file>

<file path=ppt/tags/tag65.xml><?xml version="1.0" encoding="utf-8"?>
<p:tagLst xmlns:p="http://schemas.openxmlformats.org/presentationml/2006/main">
  <p:tag name="KSO_WM_DIAGRAM_VIRTUALLY_FRAME" val="{&quot;height&quot;:403.1,&quot;left&quot;:55.7,&quot;top&quot;:109.25,&quot;width&quot;:860.45}"/>
</p:tagLst>
</file>

<file path=ppt/tags/tag66.xml><?xml version="1.0" encoding="utf-8"?>
<p:tagLst xmlns:p="http://schemas.openxmlformats.org/presentationml/2006/main">
  <p:tag name="KSO_WM_DIAGRAM_VIRTUALLY_FRAME" val="{&quot;height&quot;:403.1,&quot;left&quot;:55.7,&quot;top&quot;:109.25,&quot;width&quot;:860.45}"/>
</p:tagLst>
</file>

<file path=ppt/tags/tag67.xml><?xml version="1.0" encoding="utf-8"?>
<p:tagLst xmlns:p="http://schemas.openxmlformats.org/presentationml/2006/main">
  <p:tag name="KSO_WM_DIAGRAM_VIRTUALLY_FRAME" val="{&quot;height&quot;:403.1,&quot;left&quot;:55.7,&quot;top&quot;:109.25,&quot;width&quot;:860.45}"/>
</p:tagLst>
</file>

<file path=ppt/tags/tag68.xml><?xml version="1.0" encoding="utf-8"?>
<p:tagLst xmlns:p="http://schemas.openxmlformats.org/presentationml/2006/main">
  <p:tag name="KSO_WM_DIAGRAM_VIRTUALLY_FRAME" val="{&quot;height&quot;:403.1,&quot;left&quot;:55.7,&quot;top&quot;:109.25,&quot;width&quot;:860.45}"/>
</p:tagLst>
</file>

<file path=ppt/tags/tag69.xml><?xml version="1.0" encoding="utf-8"?>
<p:tagLst xmlns:p="http://schemas.openxmlformats.org/presentationml/2006/main">
  <p:tag name="KSO_WM_DIAGRAM_VIRTUALLY_FRAME" val="{&quot;height&quot;:403.1,&quot;left&quot;:55.7,&quot;top&quot;:109.25,&quot;width&quot;:860.45}"/>
</p:tagLst>
</file>

<file path=ppt/tags/tag70.xml><?xml version="1.0" encoding="utf-8"?>
<p:tagLst xmlns:p="http://schemas.openxmlformats.org/presentationml/2006/main">
  <p:tag name="KSO_WM_DIAGRAM_VIRTUALLY_FRAME" val="{&quot;height&quot;:403.1,&quot;left&quot;:55.7,&quot;top&quot;:109.25,&quot;width&quot;:860.45}"/>
</p:tagLst>
</file>

<file path=ppt/tags/tag71.xml><?xml version="1.0" encoding="utf-8"?>
<p:tagLst xmlns:p="http://schemas.openxmlformats.org/presentationml/2006/main">
  <p:tag name="KSO_WM_DIAGRAM_VIRTUALLY_FRAME" val="{&quot;height&quot;:403.1,&quot;left&quot;:55.7,&quot;top&quot;:109.25,&quot;width&quot;:860.45}"/>
</p:tagLst>
</file>

<file path=ppt/tags/tag72.xml><?xml version="1.0" encoding="utf-8"?>
<p:tagLst xmlns:p="http://schemas.openxmlformats.org/presentationml/2006/main">
  <p:tag name="KSO_WM_DIAGRAM_VIRTUALLY_FRAME" val="{&quot;height&quot;:403.1,&quot;left&quot;:55.7,&quot;top&quot;:109.25,&quot;width&quot;:860.45}"/>
</p:tagLst>
</file>

<file path=ppt/tags/tag73.xml><?xml version="1.0" encoding="utf-8"?>
<p:tagLst xmlns:p="http://schemas.openxmlformats.org/presentationml/2006/main">
  <p:tag name="KSO_WM_DIAGRAM_VIRTUALLY_FRAME" val="{&quot;height&quot;:403.1,&quot;left&quot;:55.7,&quot;top&quot;:109.25,&quot;width&quot;:860.45}"/>
</p:tagLst>
</file>

<file path=ppt/tags/tag74.xml><?xml version="1.0" encoding="utf-8"?>
<p:tagLst xmlns:p="http://schemas.openxmlformats.org/presentationml/2006/main">
  <p:tag name="KSO_WM_DIAGRAM_VIRTUALLY_FRAME" val="{&quot;height&quot;:403.1,&quot;left&quot;:55.7,&quot;top&quot;:109.25,&quot;width&quot;:860.45}"/>
</p:tagLst>
</file>

<file path=ppt/tags/tag75.xml><?xml version="1.0" encoding="utf-8"?>
<p:tagLst xmlns:p="http://schemas.openxmlformats.org/presentationml/2006/main">
  <p:tag name="KSO_WM_DIAGRAM_VIRTUALLY_FRAME" val="{&quot;height&quot;:403.1,&quot;left&quot;:55.7,&quot;top&quot;:109.25,&quot;width&quot;:860.45}"/>
</p:tagLst>
</file>

<file path=ppt/tags/tag76.xml><?xml version="1.0" encoding="utf-8"?>
<p:tagLst xmlns:p="http://schemas.openxmlformats.org/presentationml/2006/main">
  <p:tag name="KSO_WM_DIAGRAM_VIRTUALLY_FRAME" val="{&quot;height&quot;:403.1,&quot;left&quot;:55.7,&quot;top&quot;:109.25,&quot;width&quot;:860.45}"/>
</p:tagLst>
</file>

<file path=ppt/tags/tag77.xml><?xml version="1.0" encoding="utf-8"?>
<p:tagLst xmlns:p="http://schemas.openxmlformats.org/presentationml/2006/main">
  <p:tag name="KSO_WM_DIAGRAM_VIRTUALLY_FRAME" val="{&quot;height&quot;:403.1,&quot;left&quot;:55.7,&quot;top&quot;:109.25,&quot;width&quot;:860.45}"/>
</p:tagLst>
</file>

<file path=ppt/tags/tag78.xml><?xml version="1.0" encoding="utf-8"?>
<p:tagLst xmlns:p="http://schemas.openxmlformats.org/presentationml/2006/main">
  <p:tag name="KSO_WM_DIAGRAM_VIRTUALLY_FRAME" val="{&quot;height&quot;:403.1,&quot;left&quot;:55.7,&quot;top&quot;:109.25,&quot;width&quot;:860.45}"/>
</p:tagLst>
</file>

<file path=ppt/tags/tag79.xml><?xml version="1.0" encoding="utf-8"?>
<p:tagLst xmlns:p="http://schemas.openxmlformats.org/presentationml/2006/main">
  <p:tag name="KSO_WM_DIAGRAM_VIRTUALLY_FRAME" val="{&quot;height&quot;:403.1,&quot;left&quot;:55.7,&quot;top&quot;:109.25,&quot;width&quot;:860.45}"/>
</p:tagLst>
</file>

<file path=ppt/tags/tag80.xml><?xml version="1.0" encoding="utf-8"?>
<p:tagLst xmlns:p="http://schemas.openxmlformats.org/presentationml/2006/main">
  <p:tag name="KSO_WM_DIAGRAM_VIRTUALLY_FRAME" val="{&quot;height&quot;:403.1,&quot;left&quot;:55.7,&quot;top&quot;:109.25,&quot;width&quot;:860.45}"/>
</p:tagLst>
</file>

<file path=ppt/tags/tag81.xml><?xml version="1.0" encoding="utf-8"?>
<p:tagLst xmlns:p="http://schemas.openxmlformats.org/presentationml/2006/main">
  <p:tag name="KSO_WM_DIAGRAM_VIRTUALLY_FRAME" val="{&quot;height&quot;:403.1,&quot;left&quot;:55.7,&quot;top&quot;:109.25,&quot;width&quot;:860.45}"/>
</p:tagLst>
</file>

<file path=ppt/tags/tag82.xml><?xml version="1.0" encoding="utf-8"?>
<p:tagLst xmlns:p="http://schemas.openxmlformats.org/presentationml/2006/main">
  <p:tag name="KSO_WM_DIAGRAM_VIRTUALLY_FRAME" val="{&quot;height&quot;:403.1,&quot;left&quot;:55.7,&quot;top&quot;:109.25,&quot;width&quot;:860.45}"/>
</p:tagLst>
</file>

<file path=ppt/tags/tag83.xml><?xml version="1.0" encoding="utf-8"?>
<p:tagLst xmlns:p="http://schemas.openxmlformats.org/presentationml/2006/main">
  <p:tag name="KSO_WM_DIAGRAM_VIRTUALLY_FRAME" val="{&quot;height&quot;:403.1,&quot;left&quot;:55.7,&quot;top&quot;:109.25,&quot;width&quot;:860.45}"/>
</p:tagLst>
</file>

<file path=ppt/tags/tag84.xml><?xml version="1.0" encoding="utf-8"?>
<p:tagLst xmlns:p="http://schemas.openxmlformats.org/presentationml/2006/main">
  <p:tag name="KSO_WM_DIAGRAM_VIRTUALLY_FRAME" val="{&quot;height&quot;:403.1,&quot;left&quot;:55.7,&quot;top&quot;:109.25,&quot;width&quot;:860.45}"/>
</p:tagLst>
</file>

<file path=ppt/tags/tag85.xml><?xml version="1.0" encoding="utf-8"?>
<p:tagLst xmlns:p="http://schemas.openxmlformats.org/presentationml/2006/main">
  <p:tag name="KSO_WM_DIAGRAM_VIRTUALLY_FRAME" val="{&quot;height&quot;:403.1,&quot;left&quot;:55.7,&quot;top&quot;:109.25,&quot;width&quot;:860.45}"/>
</p:tagLst>
</file>

<file path=ppt/tags/tag86.xml><?xml version="1.0" encoding="utf-8"?>
<p:tagLst xmlns:p="http://schemas.openxmlformats.org/presentationml/2006/main">
  <p:tag name="KSO_WM_DIAGRAM_VIRTUALLY_FRAME" val="{&quot;height&quot;:403.1,&quot;left&quot;:55.7,&quot;top&quot;:109.25,&quot;width&quot;:860.45}"/>
</p:tagLst>
</file>

<file path=ppt/tags/tag87.xml><?xml version="1.0" encoding="utf-8"?>
<p:tagLst xmlns:p="http://schemas.openxmlformats.org/presentationml/2006/main">
  <p:tag name="KSO_WM_DIAGRAM_VIRTUALLY_FRAME" val="{&quot;height&quot;:403.1,&quot;left&quot;:55.7,&quot;top&quot;:109.25,&quot;width&quot;:860.45}"/>
</p:tagLst>
</file>

<file path=ppt/tags/tag88.xml><?xml version="1.0" encoding="utf-8"?>
<p:tagLst xmlns:p="http://schemas.openxmlformats.org/presentationml/2006/main">
  <p:tag name="KSO_WM_DIAGRAM_VIRTUALLY_FRAME" val="{&quot;height&quot;:403.1,&quot;left&quot;:55.7,&quot;top&quot;:109.25,&quot;width&quot;:860.45}"/>
</p:tagLst>
</file>

<file path=ppt/tags/tag89.xml><?xml version="1.0" encoding="utf-8"?>
<p:tagLst xmlns:p="http://schemas.openxmlformats.org/presentationml/2006/main">
  <p:tag name="KSO_WM_DIAGRAM_VIRTUALLY_FRAME" val="{&quot;height&quot;:403.1,&quot;left&quot;:55.7,&quot;top&quot;:109.25,&quot;width&quot;:860.45}"/>
</p:tagLst>
</file>

<file path=ppt/tags/tag90.xml><?xml version="1.0" encoding="utf-8"?>
<p:tagLst xmlns:p="http://schemas.openxmlformats.org/presentationml/2006/main">
  <p:tag name="KSO_WM_DIAGRAM_VIRTUALLY_FRAME" val="{&quot;height&quot;:403.1,&quot;left&quot;:55.7,&quot;top&quot;:109.25,&quot;width&quot;:860.45}"/>
</p:tagLst>
</file>

<file path=ppt/tags/tag91.xml><?xml version="1.0" encoding="utf-8"?>
<p:tagLst xmlns:p="http://schemas.openxmlformats.org/presentationml/2006/main">
  <p:tag name="KSO_WM_DIAGRAM_VIRTUALLY_FRAME" val="{&quot;height&quot;:403.1,&quot;left&quot;:55.7,&quot;top&quot;:109.25,&quot;width&quot;:860.45}"/>
</p:tagLst>
</file>

<file path=ppt/tags/tag92.xml><?xml version="1.0" encoding="utf-8"?>
<p:tagLst xmlns:p="http://schemas.openxmlformats.org/presentationml/2006/main">
  <p:tag name="KSO_WM_DIAGRAM_VIRTUALLY_FRAME" val="{&quot;height&quot;:403.1,&quot;left&quot;:55.7,&quot;top&quot;:109.25,&quot;width&quot;:860.45}"/>
</p:tagLst>
</file>

<file path=ppt/tags/tag93.xml><?xml version="1.0" encoding="utf-8"?>
<p:tagLst xmlns:p="http://schemas.openxmlformats.org/presentationml/2006/main">
  <p:tag name="KSO_WM_DIAGRAM_VIRTUALLY_FRAME" val="{&quot;height&quot;:403.1,&quot;left&quot;:55.7,&quot;top&quot;:109.25,&quot;width&quot;:860.45}"/>
</p:tagLst>
</file>

<file path=ppt/tags/tag94.xml><?xml version="1.0" encoding="utf-8"?>
<p:tagLst xmlns:p="http://schemas.openxmlformats.org/presentationml/2006/main">
  <p:tag name="KSO_WM_DIAGRAM_VIRTUALLY_FRAME" val="{&quot;height&quot;:403.1,&quot;left&quot;:55.7,&quot;top&quot;:109.25,&quot;width&quot;:860.45}"/>
</p:tagLst>
</file>

<file path=ppt/tags/tag95.xml><?xml version="1.0" encoding="utf-8"?>
<p:tagLst xmlns:p="http://schemas.openxmlformats.org/presentationml/2006/main">
  <p:tag name="KSO_WM_DIAGRAM_VIRTUALLY_FRAME" val="{&quot;height&quot;:403.1,&quot;left&quot;:55.7,&quot;top&quot;:109.25,&quot;width&quot;:860.45}"/>
</p:tagLst>
</file>

<file path=ppt/tags/tag96.xml><?xml version="1.0" encoding="utf-8"?>
<p:tagLst xmlns:p="http://schemas.openxmlformats.org/presentationml/2006/main">
  <p:tag name="KSO_WM_DIAGRAM_VIRTUALLY_FRAME" val="{&quot;height&quot;:403.1,&quot;left&quot;:55.7,&quot;top&quot;:109.25,&quot;width&quot;:860.45}"/>
</p:tagLst>
</file>

<file path=ppt/tags/tag97.xml><?xml version="1.0" encoding="utf-8"?>
<p:tagLst xmlns:p="http://schemas.openxmlformats.org/presentationml/2006/main">
  <p:tag name="KSO_WM_DIAGRAM_VIRTUALLY_FRAME" val="{&quot;height&quot;:403.1,&quot;left&quot;:55.7,&quot;top&quot;:109.25,&quot;width&quot;:860.45}"/>
</p:tagLst>
</file>

<file path=ppt/tags/tag98.xml><?xml version="1.0" encoding="utf-8"?>
<p:tagLst xmlns:p="http://schemas.openxmlformats.org/presentationml/2006/main">
  <p:tag name="KSO_WM_DIAGRAM_VIRTUALLY_FRAME" val="{&quot;height&quot;:403.1,&quot;left&quot;:55.7,&quot;top&quot;:109.25,&quot;width&quot;:860.45}"/>
</p:tagLst>
</file>

<file path=ppt/tags/tag99.xml><?xml version="1.0" encoding="utf-8"?>
<p:tagLst xmlns:p="http://schemas.openxmlformats.org/presentationml/2006/main">
  <p:tag name="KSO_WM_DIAGRAM_VIRTUALLY_FRAME" val="{&quot;height&quot;:403.1,&quot;left&quot;:55.7,&quot;top&quot;:109.25,&quot;width&quot;:860.45}"/>
</p:tagLst>
</file>

<file path=ppt/tags/tag100.xml><?xml version="1.0" encoding="utf-8"?>
<p:tagLst xmlns:p="http://schemas.openxmlformats.org/presentationml/2006/main">
  <p:tag name="KSO_WM_DIAGRAM_VIRTUALLY_FRAME" val="{&quot;height&quot;:403.1,&quot;left&quot;:55.7,&quot;top&quot;:109.25,&quot;width&quot;:860.45}"/>
</p:tagLst>
</file>

<file path=ppt/tags/tag101.xml><?xml version="1.0" encoding="utf-8"?>
<p:tagLst xmlns:p="http://schemas.openxmlformats.org/presentationml/2006/main">
  <p:tag name="KSO_WM_DIAGRAM_VIRTUALLY_FRAME" val="{&quot;height&quot;:403.1,&quot;left&quot;:55.7,&quot;top&quot;:109.25,&quot;width&quot;:860.45}"/>
</p:tagLst>
</file>

<file path=ppt/tags/tag102.xml><?xml version="1.0" encoding="utf-8"?>
<p:tagLst xmlns:p="http://schemas.openxmlformats.org/presentationml/2006/main">
  <p:tag name="KSO_WM_DIAGRAM_VIRTUALLY_FRAME" val="{&quot;height&quot;:403.1,&quot;left&quot;:55.7,&quot;top&quot;:109.25,&quot;width&quot;:860.45}"/>
</p:tagLst>
</file>

<file path=ppt/tags/tag103.xml><?xml version="1.0" encoding="utf-8"?>
<p:tagLst xmlns:p="http://schemas.openxmlformats.org/presentationml/2006/main">
  <p:tag name="KSO_WM_DIAGRAM_VIRTUALLY_FRAME" val="{&quot;height&quot;:403.1,&quot;left&quot;:55.7,&quot;top&quot;:109.25,&quot;width&quot;:860.45}"/>
</p:tagLst>
</file>

<file path=ppt/tags/tag104.xml><?xml version="1.0" encoding="utf-8"?>
<p:tagLst xmlns:p="http://schemas.openxmlformats.org/presentationml/2006/main">
  <p:tag name="KSO_WM_DIAGRAM_VIRTUALLY_FRAME" val="{&quot;height&quot;:403.1,&quot;left&quot;:55.7,&quot;top&quot;:109.25,&quot;width&quot;:860.45}"/>
</p:tagLst>
</file>

<file path=ppt/tags/tag105.xml><?xml version="1.0" encoding="utf-8"?>
<p:tagLst xmlns:p="http://schemas.openxmlformats.org/presentationml/2006/main">
  <p:tag name="KSO_WM_DIAGRAM_VIRTUALLY_FRAME" val="{&quot;height&quot;:403.1,&quot;left&quot;:55.7,&quot;top&quot;:109.25,&quot;width&quot;:860.45}"/>
</p:tagLst>
</file>

<file path=ppt/tags/tag106.xml><?xml version="1.0" encoding="utf-8"?>
<p:tagLst xmlns:p="http://schemas.openxmlformats.org/presentationml/2006/main">
  <p:tag name="KSO_WM_DIAGRAM_VIRTUALLY_FRAME" val="{&quot;height&quot;:403.1,&quot;left&quot;:55.7,&quot;top&quot;:109.25,&quot;width&quot;:860.45}"/>
</p:tagLst>
</file>

<file path=ppt/tags/tag107.xml><?xml version="1.0" encoding="utf-8"?>
<p:tagLst xmlns:p="http://schemas.openxmlformats.org/presentationml/2006/main">
  <p:tag name="KSO_WM_DIAGRAM_VIRTUALLY_FRAME" val="{&quot;height&quot;:403.1,&quot;left&quot;:55.7,&quot;top&quot;:109.25,&quot;width&quot;:860.45}"/>
</p:tagLst>
</file>

<file path=ppt/tags/tag108.xml><?xml version="1.0" encoding="utf-8"?>
<p:tagLst xmlns:p="http://schemas.openxmlformats.org/presentationml/2006/main">
  <p:tag name="KSO_WM_DIAGRAM_VIRTUALLY_FRAME" val="{&quot;height&quot;:403.1,&quot;left&quot;:55.7,&quot;top&quot;:109.25,&quot;width&quot;:860.45}"/>
</p:tagLst>
</file>

<file path=ppt/tags/tag109.xml><?xml version="1.0" encoding="utf-8"?>
<p:tagLst xmlns:p="http://schemas.openxmlformats.org/presentationml/2006/main">
  <p:tag name="KSO_WM_DIAGRAM_VIRTUALLY_FRAME" val="{&quot;height&quot;:403.1,&quot;left&quot;:55.7,&quot;top&quot;:109.25,&quot;width&quot;:860.45}"/>
</p:tagLst>
</file>

<file path=ppt/tags/tag110.xml><?xml version="1.0" encoding="utf-8"?>
<p:tagLst xmlns:p="http://schemas.openxmlformats.org/presentationml/2006/main">
  <p:tag name="KSO_WM_DIAGRAM_VIRTUALLY_FRAME" val="{&quot;height&quot;:403.1,&quot;left&quot;:55.7,&quot;top&quot;:109.25,&quot;width&quot;:860.45}"/>
</p:tagLst>
</file>

<file path=ppt/tags/tag111.xml><?xml version="1.0" encoding="utf-8"?>
<p:tagLst xmlns:p="http://schemas.openxmlformats.org/presentationml/2006/main">
  <p:tag name="KSO_WM_DIAGRAM_VIRTUALLY_FRAME" val="{&quot;height&quot;:403.1,&quot;left&quot;:55.7,&quot;top&quot;:109.25,&quot;width&quot;:860.45}"/>
</p:tagLst>
</file>

<file path=ppt/tags/tag112.xml><?xml version="1.0" encoding="utf-8"?>
<p:tagLst xmlns:p="http://schemas.openxmlformats.org/presentationml/2006/main">
  <p:tag name="KSO_WM_DIAGRAM_VIRTUALLY_FRAME" val="{&quot;height&quot;:403.1,&quot;left&quot;:55.7,&quot;top&quot;:109.25,&quot;width&quot;:860.45}"/>
</p:tagLst>
</file>

<file path=ppt/tags/tag113.xml><?xml version="1.0" encoding="utf-8"?>
<p:tagLst xmlns:p="http://schemas.openxmlformats.org/presentationml/2006/main">
  <p:tag name="KSO_WM_DIAGRAM_VIRTUALLY_FRAME" val="{&quot;height&quot;:403.1,&quot;left&quot;:55.7,&quot;top&quot;:109.25,&quot;width&quot;:860.45}"/>
</p:tagLst>
</file>

<file path=ppt/tags/tag114.xml><?xml version="1.0" encoding="utf-8"?>
<p:tagLst xmlns:p="http://schemas.openxmlformats.org/presentationml/2006/main">
  <p:tag name="KSO_WM_DIAGRAM_VIRTUALLY_FRAME" val="{&quot;height&quot;:403.1,&quot;left&quot;:55.7,&quot;top&quot;:109.25,&quot;width&quot;:860.45}"/>
</p:tagLst>
</file>

<file path=ppt/tags/tag115.xml><?xml version="1.0" encoding="utf-8"?>
<p:tagLst xmlns:p="http://schemas.openxmlformats.org/presentationml/2006/main">
  <p:tag name="KSO_WM_DIAGRAM_VIRTUALLY_FRAME" val="{&quot;height&quot;:403.1,&quot;left&quot;:55.7,&quot;top&quot;:109.25,&quot;width&quot;:860.45}"/>
</p:tagLst>
</file>

<file path=ppt/tags/tag116.xml><?xml version="1.0" encoding="utf-8"?>
<p:tagLst xmlns:p="http://schemas.openxmlformats.org/presentationml/2006/main">
  <p:tag name="KSO_WM_DIAGRAM_VIRTUALLY_FRAME" val="{&quot;height&quot;:403.1,&quot;left&quot;:55.7,&quot;top&quot;:109.25,&quot;width&quot;:860.45}"/>
</p:tagLst>
</file>

<file path=ppt/tags/tag117.xml><?xml version="1.0" encoding="utf-8"?>
<p:tagLst xmlns:p="http://schemas.openxmlformats.org/presentationml/2006/main">
  <p:tag name="KSO_WM_DIAGRAM_VIRTUALLY_FRAME" val="{&quot;height&quot;:403.1,&quot;left&quot;:55.7,&quot;top&quot;:109.25,&quot;width&quot;:860.45}"/>
</p:tagLst>
</file>

<file path=ppt/tags/tag118.xml><?xml version="1.0" encoding="utf-8"?>
<p:tagLst xmlns:p="http://schemas.openxmlformats.org/presentationml/2006/main">
  <p:tag name="KSO_WM_DIAGRAM_VIRTUALLY_FRAME" val="{&quot;height&quot;:403.1,&quot;left&quot;:55.7,&quot;top&quot;:109.25,&quot;width&quot;:860.45}"/>
</p:tagLst>
</file>

<file path=ppt/tags/tag119.xml><?xml version="1.0" encoding="utf-8"?>
<p:tagLst xmlns:p="http://schemas.openxmlformats.org/presentationml/2006/main">
  <p:tag name="KSO_WM_DIAGRAM_VIRTUALLY_FRAME" val="{&quot;height&quot;:403.1,&quot;left&quot;:55.7,&quot;top&quot;:109.25,&quot;width&quot;:860.45}"/>
</p:tagLst>
</file>

<file path=ppt/tags/tag120.xml><?xml version="1.0" encoding="utf-8"?>
<p:tagLst xmlns:p="http://schemas.openxmlformats.org/presentationml/2006/main">
  <p:tag name="KSO_WM_DIAGRAM_VIRTUALLY_FRAME" val="{&quot;height&quot;:403.1,&quot;left&quot;:55.7,&quot;top&quot;:109.25,&quot;width&quot;:860.45}"/>
</p:tagLst>
</file>

<file path=ppt/tags/tag121.xml><?xml version="1.0" encoding="utf-8"?>
<p:tagLst xmlns:p="http://schemas.openxmlformats.org/presentationml/2006/main">
  <p:tag name="KSO_WM_DIAGRAM_VIRTUALLY_FRAME" val="{&quot;height&quot;:403.1,&quot;left&quot;:55.7,&quot;top&quot;:109.25,&quot;width&quot;:860.45}"/>
</p:tagLst>
</file>

<file path=ppt/tags/tag122.xml><?xml version="1.0" encoding="utf-8"?>
<p:tagLst xmlns:p="http://schemas.openxmlformats.org/presentationml/2006/main">
  <p:tag name="KSO_WM_DIAGRAM_VIRTUALLY_FRAME" val="{&quot;height&quot;:403.1,&quot;left&quot;:55.7,&quot;top&quot;:109.25,&quot;width&quot;:860.45}"/>
</p:tagLst>
</file>

<file path=ppt/tags/tag123.xml><?xml version="1.0" encoding="utf-8"?>
<p:tagLst xmlns:p="http://schemas.openxmlformats.org/presentationml/2006/main">
  <p:tag name="KSO_WM_DIAGRAM_VIRTUALLY_FRAME" val="{&quot;height&quot;:403.1,&quot;left&quot;:55.7,&quot;top&quot;:109.25,&quot;width&quot;:860.45}"/>
</p:tagLst>
</file>

<file path=ppt/tags/tag124.xml><?xml version="1.0" encoding="utf-8"?>
<p:tagLst xmlns:p="http://schemas.openxmlformats.org/presentationml/2006/main">
  <p:tag name="KSO_WM_DIAGRAM_VIRTUALLY_FRAME" val="{&quot;height&quot;:403.1,&quot;left&quot;:55.7,&quot;top&quot;:109.25,&quot;width&quot;:860.45}"/>
</p:tagLst>
</file>

<file path=ppt/tags/tag125.xml><?xml version="1.0" encoding="utf-8"?>
<p:tagLst xmlns:p="http://schemas.openxmlformats.org/presentationml/2006/main">
  <p:tag name="KSO_WM_DIAGRAM_VIRTUALLY_FRAME" val="{&quot;height&quot;:403.1,&quot;left&quot;:55.7,&quot;top&quot;:109.25,&quot;width&quot;:860.45}"/>
</p:tagLst>
</file>

<file path=ppt/tags/tag126.xml><?xml version="1.0" encoding="utf-8"?>
<p:tagLst xmlns:p="http://schemas.openxmlformats.org/presentationml/2006/main">
  <p:tag name="KSO_WM_DIAGRAM_VIRTUALLY_FRAME" val="{&quot;height&quot;:403.1,&quot;left&quot;:55.7,&quot;top&quot;:109.25,&quot;width&quot;:860.45}"/>
</p:tagLst>
</file>

<file path=ppt/tags/tag127.xml><?xml version="1.0" encoding="utf-8"?>
<p:tagLst xmlns:p="http://schemas.openxmlformats.org/presentationml/2006/main">
  <p:tag name="KSO_WM_DIAGRAM_VIRTUALLY_FRAME" val="{&quot;height&quot;:403.1,&quot;left&quot;:55.7,&quot;top&quot;:109.25,&quot;width&quot;:860.45}"/>
</p:tagLst>
</file>

<file path=ppt/tags/tag128.xml><?xml version="1.0" encoding="utf-8"?>
<p:tagLst xmlns:p="http://schemas.openxmlformats.org/presentationml/2006/main">
  <p:tag name="TEXTZ '" val="-2.147484E+09"/>
  <p:tag name="SHADOWSIZE" val="100"/>
  <p:tag name="KSO_WM_DIAGRAM_VIRTUALLY_FRAME" val="{&quot;height&quot;:403.1,&quot;left&quot;:55.7,&quot;top&quot;:109.25,&quot;width&quot;:860.45}"/>
</p:tagLst>
</file>

<file path=ppt/tags/tag129.xml><?xml version="1.0" encoding="utf-8"?>
<p:tagLst xmlns:p="http://schemas.openxmlformats.org/presentationml/2006/main">
  <p:tag name="KSO_WM_DIAGRAM_VIRTUALLY_FRAME" val="{&quot;height&quot;:403.1,&quot;left&quot;:55.7,&quot;top&quot;:109.25,&quot;width&quot;:860.45}"/>
</p:tagLst>
</file>

<file path=ppt/tags/tag130.xml><?xml version="1.0" encoding="utf-8"?>
<p:tagLst xmlns:p="http://schemas.openxmlformats.org/presentationml/2006/main">
  <p:tag name="KSO_WM_DIAGRAM_VIRTUALLY_FRAME" val="{&quot;height&quot;:403.1,&quot;left&quot;:55.7,&quot;top&quot;:109.25,&quot;width&quot;:860.45}"/>
</p:tagLst>
</file>

<file path=ppt/tags/tag131.xml><?xml version="1.0" encoding="utf-8"?>
<p:tagLst xmlns:p="http://schemas.openxmlformats.org/presentationml/2006/main">
  <p:tag name="KSO_WM_DIAGRAM_VIRTUALLY_FRAME" val="{&quot;height&quot;:403.1,&quot;left&quot;:55.7,&quot;top&quot;:109.25,&quot;width&quot;:860.45}"/>
</p:tagLst>
</file>

<file path=ppt/tags/tag132.xml><?xml version="1.0" encoding="utf-8"?>
<p:tagLst xmlns:p="http://schemas.openxmlformats.org/presentationml/2006/main">
  <p:tag name="KSO_WM_DIAGRAM_VIRTUALLY_FRAME" val="{&quot;height&quot;:403.1,&quot;left&quot;:55.7,&quot;top&quot;:109.25,&quot;width&quot;:860.45}"/>
</p:tagLst>
</file>

<file path=ppt/tags/tag133.xml><?xml version="1.0" encoding="utf-8"?>
<p:tagLst xmlns:p="http://schemas.openxmlformats.org/presentationml/2006/main">
  <p:tag name="KSO_WM_DIAGRAM_VIRTUALLY_FRAME" val="{&quot;height&quot;:403.1,&quot;left&quot;:55.7,&quot;top&quot;:109.25,&quot;width&quot;:860.45}"/>
</p:tagLst>
</file>

<file path=ppt/tags/tag134.xml><?xml version="1.0" encoding="utf-8"?>
<p:tagLst xmlns:p="http://schemas.openxmlformats.org/presentationml/2006/main">
  <p:tag name="KSO_WM_DIAGRAM_VIRTUALLY_FRAME" val="{&quot;height&quot;:403.1,&quot;left&quot;:55.7,&quot;top&quot;:109.25,&quot;width&quot;:860.45}"/>
</p:tagLst>
</file>

<file path=ppt/tags/tag135.xml><?xml version="1.0" encoding="utf-8"?>
<p:tagLst xmlns:p="http://schemas.openxmlformats.org/presentationml/2006/main">
  <p:tag name="KSO_WM_DIAGRAM_VIRTUALLY_FRAME" val="{&quot;height&quot;:336.9,&quot;left&quot;:59.1,&quot;top&quot;:200.4,&quot;width&quot;:851.65}"/>
</p:tagLst>
</file>

<file path=ppt/tags/tag136.xml><?xml version="1.0" encoding="utf-8"?>
<p:tagLst xmlns:p="http://schemas.openxmlformats.org/presentationml/2006/main">
  <p:tag name="KSO_WM_DIAGRAM_VIRTUALLY_FRAME" val="{&quot;height&quot;:403.1,&quot;left&quot;:55.7,&quot;top&quot;:109.25,&quot;width&quot;:860.45}"/>
</p:tagLst>
</file>

<file path=ppt/tags/tag137.xml><?xml version="1.0" encoding="utf-8"?>
<p:tagLst xmlns:p="http://schemas.openxmlformats.org/presentationml/2006/main">
  <p:tag name="KSO_WM_DIAGRAM_VIRTUALLY_FRAME" val="{&quot;height&quot;:403.1,&quot;left&quot;:55.7,&quot;top&quot;:109.25,&quot;width&quot;:860.45}"/>
</p:tagLst>
</file>

<file path=ppt/tags/tag138.xml><?xml version="1.0" encoding="utf-8"?>
<p:tagLst xmlns:p="http://schemas.openxmlformats.org/presentationml/2006/main">
  <p:tag name="KSO_WM_DIAGRAM_VIRTUALLY_FRAME" val="{&quot;height&quot;:403.1,&quot;left&quot;:55.7,&quot;top&quot;:109.25,&quot;width&quot;:860.45}"/>
</p:tagLst>
</file>

<file path=ppt/tags/tag139.xml><?xml version="1.0" encoding="utf-8"?>
<p:tagLst xmlns:p="http://schemas.openxmlformats.org/presentationml/2006/main">
  <p:tag name="KSO_WM_DIAGRAM_VIRTUALLY_FRAME" val="{&quot;height&quot;:403.1,&quot;left&quot;:55.7,&quot;top&quot;:109.25,&quot;width&quot;:860.45}"/>
</p:tagLst>
</file>

<file path=ppt/tags/tag140.xml><?xml version="1.0" encoding="utf-8"?>
<p:tagLst xmlns:p="http://schemas.openxmlformats.org/presentationml/2006/main">
  <p:tag name="KSO_WM_DIAGRAM_VIRTUALLY_FRAME" val="{&quot;height&quot;:403.1,&quot;left&quot;:55.7,&quot;top&quot;:109.25,&quot;width&quot;:860.45}"/>
</p:tagLst>
</file>

<file path=ppt/tags/tag141.xml><?xml version="1.0" encoding="utf-8"?>
<p:tagLst xmlns:p="http://schemas.openxmlformats.org/presentationml/2006/main">
  <p:tag name="KSO_WM_DIAGRAM_VIRTUALLY_FRAME" val="{&quot;height&quot;:403.1,&quot;left&quot;:55.7,&quot;top&quot;:109.25,&quot;width&quot;:860.45}"/>
</p:tagLst>
</file>

<file path=ppt/tags/tag142.xml><?xml version="1.0" encoding="utf-8"?>
<p:tagLst xmlns:p="http://schemas.openxmlformats.org/presentationml/2006/main">
  <p:tag name="KSO_WM_DIAGRAM_VIRTUALLY_FRAME" val="{&quot;height&quot;:403.1,&quot;left&quot;:55.7,&quot;top&quot;:109.25,&quot;width&quot;:860.45}"/>
</p:tagLst>
</file>

<file path=ppt/tags/tag143.xml><?xml version="1.0" encoding="utf-8"?>
<p:tagLst xmlns:p="http://schemas.openxmlformats.org/presentationml/2006/main">
  <p:tag name="KSO_WM_DIAGRAM_VIRTUALLY_FRAME" val="{&quot;height&quot;:403.1,&quot;left&quot;:55.7,&quot;top&quot;:109.25,&quot;width&quot;:860.45}"/>
</p:tagLst>
</file>

<file path=ppt/tags/tag144.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DIAGRAM_VIRTUALLY_FRAME" val="{&quot;height&quot;:403.1,&quot;left&quot;:55.7,&quot;top&quot;:109.25,&quot;width&quot;:860.45}"/>
</p:tagLst>
</file>

<file path=ppt/tags/tag145.xml><?xml version="1.0" encoding="utf-8"?>
<p:tagLst xmlns:p="http://schemas.openxmlformats.org/presentationml/2006/main">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 name="KSO_WM_DIAGRAM_VIRTUALLY_FRAME" val="{&quot;height&quot;:403.1,&quot;left&quot;:55.7,&quot;top&quot;:109.25,&quot;width&quot;:860.45}"/>
</p:tagLst>
</file>

<file path=ppt/tags/tag146.xml><?xml version="1.0" encoding="utf-8"?>
<p:tagLst xmlns:p="http://schemas.openxmlformats.org/presentationml/2006/main">
  <p:tag name="KSO_WM_DIAGRAM_VIRTUALLY_FRAME" val="{&quot;height&quot;:403.1,&quot;left&quot;:55.7,&quot;top&quot;:109.25,&quot;width&quot;:860.45}"/>
</p:tagLst>
</file>

<file path=ppt/tags/tag147.xml><?xml version="1.0" encoding="utf-8"?>
<p:tagLst xmlns:p="http://schemas.openxmlformats.org/presentationml/2006/main">
  <p:tag name="KSO_WM_DIAGRAM_VIRTUALLY_FRAME" val="{&quot;height&quot;:403.1,&quot;left&quot;:55.7,&quot;top&quot;:109.25,&quot;width&quot;:860.45}"/>
</p:tagLst>
</file>

<file path=ppt/tags/tag148.xml><?xml version="1.0" encoding="utf-8"?>
<p:tagLst xmlns:p="http://schemas.openxmlformats.org/presentationml/2006/main">
  <p:tag name="KSO_WM_DIAGRAM_VIRTUALLY_FRAME" val="{&quot;height&quot;:403.1,&quot;left&quot;:55.7,&quot;top&quot;:109.25,&quot;width&quot;:860.45}"/>
</p:tagLst>
</file>

<file path=ppt/tags/tag149.xml><?xml version="1.0" encoding="utf-8"?>
<p:tagLst xmlns:p="http://schemas.openxmlformats.org/presentationml/2006/main">
  <p:tag name="KSO_WM_DIAGRAM_VIRTUALLY_FRAME" val="{&quot;height&quot;:403.1,&quot;left&quot;:55.7,&quot;top&quot;:109.25,&quot;width&quot;:860.45}"/>
</p:tagLst>
</file>

<file path=ppt/tags/tag150.xml><?xml version="1.0" encoding="utf-8"?>
<p:tagLst xmlns:p="http://schemas.openxmlformats.org/presentationml/2006/main">
  <p:tag name="KSO_WM_DIAGRAM_VIRTUALLY_FRAME" val="{&quot;height&quot;:403.1,&quot;left&quot;:55.7,&quot;top&quot;:109.25,&quot;width&quot;:860.45}"/>
</p:tagLst>
</file>

<file path=ppt/tags/tag151.xml><?xml version="1.0" encoding="utf-8"?>
<p:tagLst xmlns:p="http://schemas.openxmlformats.org/presentationml/2006/main">
  <p:tag name="KSO_WM_DIAGRAM_VIRTUALLY_FRAME" val="{&quot;height&quot;:403.1,&quot;left&quot;:55.7,&quot;top&quot;:109.25,&quot;width&quot;:860.45}"/>
</p:tagLst>
</file>

<file path=ppt/tags/tag152.xml><?xml version="1.0" encoding="utf-8"?>
<p:tagLst xmlns:p="http://schemas.openxmlformats.org/presentationml/2006/main">
  <p:tag name="KSO_WM_DIAGRAM_VIRTUALLY_FRAME" val="{&quot;height&quot;:403.1,&quot;left&quot;:55.7,&quot;top&quot;:109.25,&quot;width&quot;:860.45}"/>
</p:tagLst>
</file>

<file path=ppt/tags/tag153.xml><?xml version="1.0" encoding="utf-8"?>
<p:tagLst xmlns:p="http://schemas.openxmlformats.org/presentationml/2006/main">
  <p:tag name="KSO_WM_DIAGRAM_VIRTUALLY_FRAME" val="{&quot;height&quot;:403.1,&quot;left&quot;:55.7,&quot;top&quot;:109.25,&quot;width&quot;:860.45}"/>
</p:tagLst>
</file>

<file path=ppt/tags/tag154.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155.xml><?xml version="1.0" encoding="utf-8"?>
<p:tagLst xmlns:p="http://schemas.openxmlformats.org/presentationml/2006/main">
  <p:tag name="KSO_WM_DIAGRAM_VIRTUALLY_FRAME" val="{&quot;height&quot;:403.1,&quot;left&quot;:55.7,&quot;top&quot;:109.25,&quot;width&quot;:860.45}"/>
</p:tagLst>
</file>

<file path=ppt/tags/tag156.xml><?xml version="1.0" encoding="utf-8"?>
<p:tagLst xmlns:p="http://schemas.openxmlformats.org/presentationml/2006/main">
  <p:tag name="KSO_WM_DIAGRAM_VIRTUALLY_FRAME" val="{&quot;height&quot;:403.1,&quot;left&quot;:55.7,&quot;top&quot;:109.25,&quot;width&quot;:860.45}"/>
</p:tagLst>
</file>

<file path=ppt/tags/tag157.xml><?xml version="1.0" encoding="utf-8"?>
<p:tagLst xmlns:p="http://schemas.openxmlformats.org/presentationml/2006/main">
  <p:tag name="KSO_WM_DIAGRAM_VIRTUALLY_FRAME" val="{&quot;height&quot;:403.1,&quot;left&quot;:55.7,&quot;top&quot;:109.25,&quot;width&quot;:860.45}"/>
</p:tagLst>
</file>

<file path=ppt/tags/tag158.xml><?xml version="1.0" encoding="utf-8"?>
<p:tagLst xmlns:p="http://schemas.openxmlformats.org/presentationml/2006/main">
  <p:tag name="KSO_WM_DIAGRAM_VIRTUALLY_FRAME" val="{&quot;height&quot;:403.1,&quot;left&quot;:55.7,&quot;top&quot;:109.25,&quot;width&quot;:860.45}"/>
</p:tagLst>
</file>

<file path=ppt/tags/tag159.xml><?xml version="1.0" encoding="utf-8"?>
<p:tagLst xmlns:p="http://schemas.openxmlformats.org/presentationml/2006/main">
  <p:tag name="KSO_WM_DIAGRAM_VIRTUALLY_FRAME" val="{&quot;height&quot;:403.1,&quot;left&quot;:55.7,&quot;top&quot;:109.25,&quot;width&quot;:860.45}"/>
</p:tagLst>
</file>

<file path=ppt/tags/tag160.xml><?xml version="1.0" encoding="utf-8"?>
<p:tagLst xmlns:p="http://schemas.openxmlformats.org/presentationml/2006/main">
  <p:tag name="KSO_WM_DIAGRAM_VIRTUALLY_FRAME" val="{&quot;height&quot;:403.1,&quot;left&quot;:55.7,&quot;top&quot;:109.25,&quot;width&quot;:860.45}"/>
</p:tagLst>
</file>

<file path=ppt/tags/tag161.xml><?xml version="1.0" encoding="utf-8"?>
<p:tagLst xmlns:p="http://schemas.openxmlformats.org/presentationml/2006/main">
  <p:tag name="KSO_WM_DIAGRAM_VIRTUALLY_FRAME" val="{&quot;height&quot;:403.1,&quot;left&quot;:55.7,&quot;top&quot;:109.25,&quot;width&quot;:860.45}"/>
</p:tagLst>
</file>

<file path=ppt/tags/tag162.xml><?xml version="1.0" encoding="utf-8"?>
<p:tagLst xmlns:p="http://schemas.openxmlformats.org/presentationml/2006/main">
  <p:tag name="KSO_WM_DIAGRAM_VIRTUALLY_FRAME" val="{&quot;height&quot;:403.1,&quot;left&quot;:55.7,&quot;top&quot;:109.25,&quot;width&quot;:860.45}"/>
</p:tagLst>
</file>

<file path=ppt/tags/tag163.xml><?xml version="1.0" encoding="utf-8"?>
<p:tagLst xmlns:p="http://schemas.openxmlformats.org/presentationml/2006/main">
  <p:tag name="KSO_WM_DIAGRAM_VIRTUALLY_FRAME" val="{&quot;height&quot;:403.1,&quot;left&quot;:55.7,&quot;top&quot;:109.25,&quot;width&quot;:860.45}"/>
</p:tagLst>
</file>

<file path=ppt/tags/tag164.xml><?xml version="1.0" encoding="utf-8"?>
<p:tagLst xmlns:p="http://schemas.openxmlformats.org/presentationml/2006/main">
  <p:tag name="KSO_WM_DIAGRAM_VIRTUALLY_FRAME" val="{&quot;height&quot;:403.1,&quot;left&quot;:55.7,&quot;top&quot;:109.25,&quot;width&quot;:860.45}"/>
</p:tagLst>
</file>

<file path=ppt/tags/tag165.xml><?xml version="1.0" encoding="utf-8"?>
<p:tagLst xmlns:p="http://schemas.openxmlformats.org/presentationml/2006/main">
  <p:tag name="KSO_WM_DIAGRAM_VIRTUALLY_FRAME" val="{&quot;height&quot;:403.1,&quot;left&quot;:55.7,&quot;top&quot;:109.25,&quot;width&quot;:860.45}"/>
</p:tagLst>
</file>

<file path=ppt/tags/tag166.xml><?xml version="1.0" encoding="utf-8"?>
<p:tagLst xmlns:p="http://schemas.openxmlformats.org/presentationml/2006/main">
  <p:tag name="KSO_WM_DIAGRAM_VIRTUALLY_FRAME" val="{&quot;height&quot;:403.1,&quot;left&quot;:55.7,&quot;top&quot;:109.25,&quot;width&quot;:860.45}"/>
</p:tagLst>
</file>

<file path=ppt/tags/tag167.xml><?xml version="1.0" encoding="utf-8"?>
<p:tagLst xmlns:p="http://schemas.openxmlformats.org/presentationml/2006/main">
  <p:tag name="KSO_WM_DIAGRAM_VIRTUALLY_FRAME" val="{&quot;height&quot;:403.1,&quot;left&quot;:55.7,&quot;top&quot;:109.25,&quot;width&quot;:860.45}"/>
</p:tagLst>
</file>

<file path=ppt/tags/tag168.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169.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170.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171.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172.xml><?xml version="1.0" encoding="utf-8"?>
<p:tagLst xmlns:p="http://schemas.openxmlformats.org/presentationml/2006/main">
  <p:tag name="KSO_WM_DIAGRAM_VIRTUALLY_FRAME" val="{&quot;height&quot;:403.1,&quot;left&quot;:55.7,&quot;top&quot;:109.25,&quot;width&quot;:860.45}"/>
</p:tagLst>
</file>

<file path=ppt/tags/tag173.xml><?xml version="1.0" encoding="utf-8"?>
<p:tagLst xmlns:p="http://schemas.openxmlformats.org/presentationml/2006/main">
  <p:tag name="KSO_WM_DIAGRAM_VIRTUALLY_FRAME" val="{&quot;height&quot;:403.1,&quot;left&quot;:55.7,&quot;top&quot;:109.25,&quot;width&quot;:860.45}"/>
</p:tagLst>
</file>

<file path=ppt/tags/tag174.xml><?xml version="1.0" encoding="utf-8"?>
<p:tagLst xmlns:p="http://schemas.openxmlformats.org/presentationml/2006/main">
  <p:tag name="KSO_WM_DIAGRAM_VIRTUALLY_FRAME" val="{&quot;height&quot;:403.1,&quot;left&quot;:55.7,&quot;top&quot;:109.25,&quot;width&quot;:860.45}"/>
</p:tagLst>
</file>

<file path=ppt/tags/tag175.xml><?xml version="1.0" encoding="utf-8"?>
<p:tagLst xmlns:p="http://schemas.openxmlformats.org/presentationml/2006/main">
  <p:tag name="KSO_WM_DIAGRAM_VIRTUALLY_FRAME" val="{&quot;height&quot;:403.1,&quot;left&quot;:55.7,&quot;top&quot;:109.25,&quot;width&quot;:860.45}"/>
</p:tagLst>
</file>

<file path=ppt/tags/tag176.xml><?xml version="1.0" encoding="utf-8"?>
<p:tagLst xmlns:p="http://schemas.openxmlformats.org/presentationml/2006/main">
  <p:tag name="KSO_WM_DIAGRAM_VIRTUALLY_FRAME" val="{&quot;height&quot;:403.1,&quot;left&quot;:55.7,&quot;top&quot;:109.25,&quot;width&quot;:860.45}"/>
</p:tagLst>
</file>

<file path=ppt/tags/tag177.xml><?xml version="1.0" encoding="utf-8"?>
<p:tagLst xmlns:p="http://schemas.openxmlformats.org/presentationml/2006/main">
  <p:tag name="KSO_WM_DIAGRAM_VIRTUALLY_FRAME" val="{&quot;height&quot;:403.1,&quot;left&quot;:55.7,&quot;top&quot;:109.25,&quot;width&quot;:860.45}"/>
</p:tagLst>
</file>

<file path=ppt/tags/tag178.xml><?xml version="1.0" encoding="utf-8"?>
<p:tagLst xmlns:p="http://schemas.openxmlformats.org/presentationml/2006/main">
  <p:tag name="KSO_WM_DIAGRAM_VIRTUALLY_FRAME" val="{&quot;height&quot;:403.1,&quot;left&quot;:55.7,&quot;top&quot;:109.25,&quot;width&quot;:860.45}"/>
</p:tagLst>
</file>

<file path=ppt/tags/tag179.xml><?xml version="1.0" encoding="utf-8"?>
<p:tagLst xmlns:p="http://schemas.openxmlformats.org/presentationml/2006/main">
  <p:tag name="KSO_WM_DIAGRAM_VIRTUALLY_FRAME" val="{&quot;height&quot;:403.1,&quot;left&quot;:55.7,&quot;top&quot;:109.25,&quot;width&quot;:860.45}"/>
</p:tagLst>
</file>

<file path=ppt/tags/tag180.xml><?xml version="1.0" encoding="utf-8"?>
<p:tagLst xmlns:p="http://schemas.openxmlformats.org/presentationml/2006/main">
  <p:tag name="KSO_WM_DIAGRAM_VIRTUALLY_FRAME" val="{&quot;height&quot;:403.1,&quot;left&quot;:55.7,&quot;top&quot;:109.25,&quot;width&quot;:860.45}"/>
</p:tagLst>
</file>

<file path=ppt/tags/tag181.xml><?xml version="1.0" encoding="utf-8"?>
<p:tagLst xmlns:p="http://schemas.openxmlformats.org/presentationml/2006/main">
  <p:tag name="KSO_WM_DIAGRAM_VIRTUALLY_FRAME" val="{&quot;height&quot;:403.1,&quot;left&quot;:55.7,&quot;top&quot;:109.25,&quot;width&quot;:860.45}"/>
</p:tagLst>
</file>

<file path=ppt/tags/tag182.xml><?xml version="1.0" encoding="utf-8"?>
<p:tagLst xmlns:p="http://schemas.openxmlformats.org/presentationml/2006/main">
  <p:tag name="KSO_WM_DIAGRAM_VIRTUALLY_FRAME" val="{&quot;height&quot;:403.1,&quot;left&quot;:55.7,&quot;top&quot;:109.25,&quot;width&quot;:860.45}"/>
</p:tagLst>
</file>

<file path=ppt/tags/tag183.xml><?xml version="1.0" encoding="utf-8"?>
<p:tagLst xmlns:p="http://schemas.openxmlformats.org/presentationml/2006/main">
  <p:tag name="KSO_WM_DIAGRAM_VIRTUALLY_FRAME" val="{&quot;height&quot;:403.1,&quot;left&quot;:55.7,&quot;top&quot;:109.25,&quot;width&quot;:860.45}"/>
</p:tagLst>
</file>

<file path=ppt/tags/tag184.xml><?xml version="1.0" encoding="utf-8"?>
<p:tagLst xmlns:p="http://schemas.openxmlformats.org/presentationml/2006/main">
  <p:tag name="KSO_WM_DIAGRAM_VIRTUALLY_FRAME" val="{&quot;height&quot;:403.1,&quot;left&quot;:55.7,&quot;top&quot;:109.25,&quot;width&quot;:860.45}"/>
</p:tagLst>
</file>

<file path=ppt/tags/tag185.xml><?xml version="1.0" encoding="utf-8"?>
<p:tagLst xmlns:p="http://schemas.openxmlformats.org/presentationml/2006/main">
  <p:tag name="KSO_WM_DIAGRAM_VIRTUALLY_FRAME" val="{&quot;height&quot;:403.1,&quot;left&quot;:55.7,&quot;top&quot;:109.25,&quot;width&quot;:860.45}"/>
</p:tagLst>
</file>

<file path=ppt/tags/tag186.xml><?xml version="1.0" encoding="utf-8"?>
<p:tagLst xmlns:p="http://schemas.openxmlformats.org/presentationml/2006/main">
  <p:tag name="KSO_WM_DIAGRAM_VIRTUALLY_FRAME" val="{&quot;height&quot;:403.1,&quot;left&quot;:55.7,&quot;top&quot;:109.25,&quot;width&quot;:860.45}"/>
</p:tagLst>
</file>

<file path=ppt/tags/tag187.xml><?xml version="1.0" encoding="utf-8"?>
<p:tagLst xmlns:p="http://schemas.openxmlformats.org/presentationml/2006/main">
  <p:tag name="KSO_WM_DIAGRAM_VIRTUALLY_FRAME" val="{&quot;height&quot;:403.1,&quot;left&quot;:55.7,&quot;top&quot;:109.25,&quot;width&quot;:860.45}"/>
</p:tagLst>
</file>

<file path=ppt/tags/tag188.xml><?xml version="1.0" encoding="utf-8"?>
<p:tagLst xmlns:p="http://schemas.openxmlformats.org/presentationml/2006/main">
  <p:tag name="KSO_WM_DIAGRAM_VIRTUALLY_FRAME" val="{&quot;height&quot;:403.1,&quot;left&quot;:55.7,&quot;top&quot;:109.25,&quot;width&quot;:860.45}"/>
</p:tagLst>
</file>

<file path=ppt/tags/tag189.xml><?xml version="1.0" encoding="utf-8"?>
<p:tagLst xmlns:p="http://schemas.openxmlformats.org/presentationml/2006/main">
  <p:tag name="KSO_WM_DIAGRAM_VIRTUALLY_FRAME" val="{&quot;height&quot;:403.1,&quot;left&quot;:55.7,&quot;top&quot;:109.25,&quot;width&quot;:860.45}"/>
</p:tagLst>
</file>

<file path=ppt/tags/tag190.xml><?xml version="1.0" encoding="utf-8"?>
<p:tagLst xmlns:p="http://schemas.openxmlformats.org/presentationml/2006/main">
  <p:tag name="KSO_WM_DIAGRAM_VIRTUALLY_FRAME" val="{&quot;height&quot;:403.1,&quot;left&quot;:55.7,&quot;top&quot;:109.25,&quot;width&quot;:860.45}"/>
</p:tagLst>
</file>

<file path=ppt/tags/tag191.xml><?xml version="1.0" encoding="utf-8"?>
<p:tagLst xmlns:p="http://schemas.openxmlformats.org/presentationml/2006/main">
  <p:tag name="KSO_WM_DIAGRAM_VIRTUALLY_FRAME" val="{&quot;height&quot;:403.1,&quot;left&quot;:55.7,&quot;top&quot;:109.25,&quot;width&quot;:860.45}"/>
</p:tagLst>
</file>

<file path=ppt/tags/tag192.xml><?xml version="1.0" encoding="utf-8"?>
<p:tagLst xmlns:p="http://schemas.openxmlformats.org/presentationml/2006/main">
  <p:tag name="KSO_WM_DIAGRAM_VIRTUALLY_FRAME" val="{&quot;height&quot;:403.1,&quot;left&quot;:55.7,&quot;top&quot;:109.25,&quot;width&quot;:860.45}"/>
</p:tagLst>
</file>

<file path=ppt/tags/tag193.xml><?xml version="1.0" encoding="utf-8"?>
<p:tagLst xmlns:p="http://schemas.openxmlformats.org/presentationml/2006/main">
  <p:tag name="KSO_WM_DIAGRAM_VIRTUALLY_FRAME" val="{&quot;height&quot;:403.1,&quot;left&quot;:55.7,&quot;top&quot;:109.25,&quot;width&quot;:860.45}"/>
</p:tagLst>
</file>

<file path=ppt/tags/tag194.xml><?xml version="1.0" encoding="utf-8"?>
<p:tagLst xmlns:p="http://schemas.openxmlformats.org/presentationml/2006/main">
  <p:tag name="KSO_WM_DIAGRAM_VIRTUALLY_FRAME" val="{&quot;height&quot;:336.9,&quot;left&quot;:59.1,&quot;top&quot;:200.4,&quot;width&quot;:851.65}"/>
</p:tagLst>
</file>

<file path=ppt/tags/tag195.xml><?xml version="1.0" encoding="utf-8"?>
<p:tagLst xmlns:p="http://schemas.openxmlformats.org/presentationml/2006/main">
  <p:tag name="KSO_WM_DIAGRAM_VIRTUALLY_FRAME" val="{&quot;height&quot;:403.1,&quot;left&quot;:55.7,&quot;top&quot;:109.25,&quot;width&quot;:860.45}"/>
</p:tagLst>
</file>

<file path=ppt/tags/tag196.xml><?xml version="1.0" encoding="utf-8"?>
<p:tagLst xmlns:p="http://schemas.openxmlformats.org/presentationml/2006/main">
  <p:tag name="KSO_WM_DIAGRAM_VIRTUALLY_FRAME" val="{&quot;height&quot;:403.1,&quot;left&quot;:55.7,&quot;top&quot;:109.25,&quot;width&quot;:860.45}"/>
</p:tagLst>
</file>

<file path=ppt/tags/tag197.xml><?xml version="1.0" encoding="utf-8"?>
<p:tagLst xmlns:p="http://schemas.openxmlformats.org/presentationml/2006/main">
  <p:tag name="KSO_WM_DIAGRAM_VIRTUALLY_FRAME" val="{&quot;height&quot;:403.1,&quot;left&quot;:55.7,&quot;top&quot;:109.25,&quot;width&quot;:860.45}"/>
</p:tagLst>
</file>

<file path=ppt/tags/tag198.xml><?xml version="1.0" encoding="utf-8"?>
<p:tagLst xmlns:p="http://schemas.openxmlformats.org/presentationml/2006/main">
  <p:tag name="KSO_WM_DIAGRAM_VIRTUALLY_FRAME" val="{&quot;height&quot;:403.1,&quot;left&quot;:55.7,&quot;top&quot;:109.25,&quot;width&quot;:860.45}"/>
</p:tagLst>
</file>

<file path=ppt/tags/tag199.xml><?xml version="1.0" encoding="utf-8"?>
<p:tagLst xmlns:p="http://schemas.openxmlformats.org/presentationml/2006/main">
  <p:tag name="KSO_WM_DIAGRAM_VIRTUALLY_FRAME" val="{&quot;height&quot;:403.1,&quot;left&quot;:55.7,&quot;top&quot;:109.25,&quot;width&quot;:860.45}"/>
</p:tagLst>
</file>

<file path=ppt/tags/tag200.xml><?xml version="1.0" encoding="utf-8"?>
<p:tagLst xmlns:p="http://schemas.openxmlformats.org/presentationml/2006/main">
  <p:tag name="KSO_WM_DIAGRAM_VIRTUALLY_FRAME" val="{&quot;height&quot;:403.1,&quot;left&quot;:55.7,&quot;top&quot;:109.25,&quot;width&quot;:860.45}"/>
</p:tagLst>
</file>

<file path=ppt/tags/tag201.xml><?xml version="1.0" encoding="utf-8"?>
<p:tagLst xmlns:p="http://schemas.openxmlformats.org/presentationml/2006/main">
  <p:tag name="KSO_WM_DIAGRAM_VIRTUALLY_FRAME" val="{&quot;height&quot;:403.1,&quot;left&quot;:55.7,&quot;top&quot;:109.25,&quot;width&quot;:860.45}"/>
</p:tagLst>
</file>

<file path=ppt/tags/tag202.xml><?xml version="1.0" encoding="utf-8"?>
<p:tagLst xmlns:p="http://schemas.openxmlformats.org/presentationml/2006/main">
  <p:tag name="KSO_WM_DIAGRAM_VIRTUALLY_FRAME" val="{&quot;height&quot;:403.1,&quot;left&quot;:55.7,&quot;top&quot;:109.25,&quot;width&quot;:860.45}"/>
</p:tagLst>
</file>

<file path=ppt/tags/tag203.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DIAGRAM_VIRTUALLY_FRAME" val="{&quot;height&quot;:403.1,&quot;left&quot;:55.7,&quot;top&quot;:109.25,&quot;width&quot;:860.45}"/>
</p:tagLst>
</file>

<file path=ppt/tags/tag204.xml><?xml version="1.0" encoding="utf-8"?>
<p:tagLst xmlns:p="http://schemas.openxmlformats.org/presentationml/2006/main">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 name="KSO_WM_DIAGRAM_VIRTUALLY_FRAME" val="{&quot;height&quot;:403.1,&quot;left&quot;:55.7,&quot;top&quot;:109.25,&quot;width&quot;:860.45}"/>
</p:tagLst>
</file>

<file path=ppt/tags/tag205.xml><?xml version="1.0" encoding="utf-8"?>
<p:tagLst xmlns:p="http://schemas.openxmlformats.org/presentationml/2006/main">
  <p:tag name="KSO_WM_DIAGRAM_VIRTUALLY_FRAME" val="{&quot;height&quot;:403.1,&quot;left&quot;:55.7,&quot;top&quot;:109.25,&quot;width&quot;:860.45}"/>
</p:tagLst>
</file>

<file path=ppt/tags/tag206.xml><?xml version="1.0" encoding="utf-8"?>
<p:tagLst xmlns:p="http://schemas.openxmlformats.org/presentationml/2006/main">
  <p:tag name="KSO_WM_DIAGRAM_VIRTUALLY_FRAME" val="{&quot;height&quot;:403.1,&quot;left&quot;:55.7,&quot;top&quot;:109.25,&quot;width&quot;:860.45}"/>
</p:tagLst>
</file>

<file path=ppt/tags/tag207.xml><?xml version="1.0" encoding="utf-8"?>
<p:tagLst xmlns:p="http://schemas.openxmlformats.org/presentationml/2006/main">
  <p:tag name="KSO_WM_DIAGRAM_VIRTUALLY_FRAME" val="{&quot;height&quot;:403.1,&quot;left&quot;:55.7,&quot;top&quot;:109.25,&quot;width&quot;:860.45}"/>
</p:tagLst>
</file>

<file path=ppt/tags/tag208.xml><?xml version="1.0" encoding="utf-8"?>
<p:tagLst xmlns:p="http://schemas.openxmlformats.org/presentationml/2006/main">
  <p:tag name="KSO_WM_DIAGRAM_VIRTUALLY_FRAME" val="{&quot;height&quot;:403.1,&quot;left&quot;:55.7,&quot;top&quot;:109.25,&quot;width&quot;:860.45}"/>
</p:tagLst>
</file>

<file path=ppt/tags/tag209.xml><?xml version="1.0" encoding="utf-8"?>
<p:tagLst xmlns:p="http://schemas.openxmlformats.org/presentationml/2006/main">
  <p:tag name="KSO_WM_DIAGRAM_VIRTUALLY_FRAME" val="{&quot;height&quot;:403.1,&quot;left&quot;:55.7,&quot;top&quot;:109.25,&quot;width&quot;:860.45}"/>
</p:tagLst>
</file>

<file path=ppt/tags/tag210.xml><?xml version="1.0" encoding="utf-8"?>
<p:tagLst xmlns:p="http://schemas.openxmlformats.org/presentationml/2006/main">
  <p:tag name="KSO_WM_DIAGRAM_VIRTUALLY_FRAME" val="{&quot;height&quot;:103.75,&quot;left&quot;:146.2,&quot;top&quot;:388,&quot;width&quot;:683.5}"/>
</p:tagLst>
</file>

<file path=ppt/tags/tag211.xml><?xml version="1.0" encoding="utf-8"?>
<p:tagLst xmlns:p="http://schemas.openxmlformats.org/presentationml/2006/main">
  <p:tag name="KSO_WM_DIAGRAM_VIRTUALLY_FRAME" val="{&quot;height&quot;:103.75,&quot;left&quot;:146.2,&quot;top&quot;:388,&quot;width&quot;:683.5}"/>
</p:tagLst>
</file>

<file path=ppt/tags/tag212.xml><?xml version="1.0" encoding="utf-8"?>
<p:tagLst xmlns:p="http://schemas.openxmlformats.org/presentationml/2006/main">
  <p:tag name="KSO_WM_DIAGRAM_VIRTUALLY_FRAME" val="{&quot;height&quot;:103.75,&quot;left&quot;:146.2,&quot;top&quot;:388,&quot;width&quot;:683.5}"/>
</p:tagLst>
</file>

<file path=ppt/tags/tag213.xml><?xml version="1.0" encoding="utf-8"?>
<p:tagLst xmlns:p="http://schemas.openxmlformats.org/presentationml/2006/main">
  <p:tag name="KSO_WM_DIAGRAM_VIRTUALLY_FRAME" val="{&quot;height&quot;:103.75,&quot;left&quot;:146.2,&quot;top&quot;:388,&quot;width&quot;:683.5}"/>
</p:tagLst>
</file>

<file path=ppt/tags/tag214.xml><?xml version="1.0" encoding="utf-8"?>
<p:tagLst xmlns:p="http://schemas.openxmlformats.org/presentationml/2006/main">
  <p:tag name="KSO_WM_DIAGRAM_VIRTUALLY_FRAME" val="{&quot;height&quot;:103.75,&quot;left&quot;:146.2,&quot;top&quot;:388,&quot;width&quot;:683.5}"/>
</p:tagLst>
</file>

<file path=ppt/tags/tag215.xml><?xml version="1.0" encoding="utf-8"?>
<p:tagLst xmlns:p="http://schemas.openxmlformats.org/presentationml/2006/main">
  <p:tag name="KSO_WM_DIAGRAM_VIRTUALLY_FRAME" val="{&quot;height&quot;:103.75,&quot;left&quot;:146.2,&quot;top&quot;:388,&quot;width&quot;:683.5}"/>
</p:tagLst>
</file>

<file path=ppt/tags/tag216.xml><?xml version="1.0" encoding="utf-8"?>
<p:tagLst xmlns:p="http://schemas.openxmlformats.org/presentationml/2006/main">
  <p:tag name="KSO_WM_DIAGRAM_VIRTUALLY_FRAME" val="{&quot;height&quot;:103.75,&quot;left&quot;:146.2,&quot;top&quot;:388,&quot;width&quot;:683.5}"/>
</p:tagLst>
</file>

<file path=ppt/tags/tag217.xml><?xml version="1.0" encoding="utf-8"?>
<p:tagLst xmlns:p="http://schemas.openxmlformats.org/presentationml/2006/main">
  <p:tag name="KSO_WM_DIAGRAM_VIRTUALLY_FRAME" val="{&quot;height&quot;:103.75,&quot;left&quot;:146.2,&quot;top&quot;:388,&quot;width&quot;:683.5}"/>
</p:tagLst>
</file>

<file path=ppt/tags/tag218.xml><?xml version="1.0" encoding="utf-8"?>
<p:tagLst xmlns:p="http://schemas.openxmlformats.org/presentationml/2006/main">
  <p:tag name="KSO_WM_DIAGRAM_VIRTUALLY_FRAME" val="{&quot;height&quot;:103.75,&quot;left&quot;:146.2,&quot;top&quot;:388,&quot;width&quot;:683.5}"/>
</p:tagLst>
</file>

<file path=ppt/tags/tag219.xml><?xml version="1.0" encoding="utf-8"?>
<p:tagLst xmlns:p="http://schemas.openxmlformats.org/presentationml/2006/main">
  <p:tag name="KSO_WM_DIAGRAM_VIRTUALLY_FRAME" val="{&quot;height&quot;:103.75,&quot;left&quot;:146.2,&quot;top&quot;:388,&quot;width&quot;:683.5}"/>
</p:tagLst>
</file>

<file path=ppt/tags/tag220.xml><?xml version="1.0" encoding="utf-8"?>
<p:tagLst xmlns:p="http://schemas.openxmlformats.org/presentationml/2006/main">
  <p:tag name="KSO_WM_DIAGRAM_VIRTUALLY_FRAME" val="{&quot;height&quot;:103.75,&quot;left&quot;:146.2,&quot;top&quot;:388,&quot;width&quot;:683.5}"/>
</p:tagLst>
</file>

<file path=ppt/tags/tag221.xml><?xml version="1.0" encoding="utf-8"?>
<p:tagLst xmlns:p="http://schemas.openxmlformats.org/presentationml/2006/main">
  <p:tag name="KSO_WM_DIAGRAM_VIRTUALLY_FRAME" val="{&quot;height&quot;:103.75,&quot;left&quot;:146.2,&quot;top&quot;:388,&quot;width&quot;:683.5}"/>
</p:tagLst>
</file>

<file path=ppt/tags/tag222.xml><?xml version="1.0" encoding="utf-8"?>
<p:tagLst xmlns:p="http://schemas.openxmlformats.org/presentationml/2006/main">
  <p:tag name="KSO_WM_DIAGRAM_VIRTUALLY_FRAME" val="{&quot;height&quot;:103.75,&quot;left&quot;:146.2,&quot;top&quot;:388,&quot;width&quot;:683.5}"/>
</p:tagLst>
</file>

<file path=ppt/tags/tag223.xml><?xml version="1.0" encoding="utf-8"?>
<p:tagLst xmlns:p="http://schemas.openxmlformats.org/presentationml/2006/main">
  <p:tag name="KSO_WM_DIAGRAM_VIRTUALLY_FRAME" val="{&quot;height&quot;:103.75,&quot;left&quot;:146.2,&quot;top&quot;:388,&quot;width&quot;:683.5}"/>
</p:tagLst>
</file>

<file path=ppt/tags/tag224.xml><?xml version="1.0" encoding="utf-8"?>
<p:tagLst xmlns:p="http://schemas.openxmlformats.org/presentationml/2006/main">
  <p:tag name="KSO_WM_DIAGRAM_VIRTUALLY_FRAME" val="{&quot;height&quot;:103.75,&quot;left&quot;:146.2,&quot;top&quot;:388,&quot;width&quot;:683.5}"/>
</p:tagLst>
</file>

<file path=ppt/tags/tag225.xml><?xml version="1.0" encoding="utf-8"?>
<p:tagLst xmlns:p="http://schemas.openxmlformats.org/presentationml/2006/main">
  <p:tag name="KSO_WM_DIAGRAM_VIRTUALLY_FRAME" val="{&quot;height&quot;:103.75,&quot;left&quot;:146.2,&quot;top&quot;:388,&quot;width&quot;:683.5}"/>
</p:tagLst>
</file>

<file path=ppt/tags/tag226.xml><?xml version="1.0" encoding="utf-8"?>
<p:tagLst xmlns:p="http://schemas.openxmlformats.org/presentationml/2006/main">
  <p:tag name="KSO_WM_DIAGRAM_VIRTUALLY_FRAME" val="{&quot;height&quot;:103.75,&quot;left&quot;:146.2,&quot;top&quot;:388,&quot;width&quot;:683.5}"/>
</p:tagLst>
</file>

<file path=ppt/tags/tag227.xml><?xml version="1.0" encoding="utf-8"?>
<p:tagLst xmlns:p="http://schemas.openxmlformats.org/presentationml/2006/main">
  <p:tag name="KSO_WM_DIAGRAM_VIRTUALLY_FRAME" val="{&quot;height&quot;:103.75,&quot;left&quot;:146.2,&quot;top&quot;:388,&quot;width&quot;:683.5}"/>
</p:tagLst>
</file>

<file path=ppt/tags/tag228.xml><?xml version="1.0" encoding="utf-8"?>
<p:tagLst xmlns:p="http://schemas.openxmlformats.org/presentationml/2006/main">
  <p:tag name="KSO_WM_DIAGRAM_VIRTUALLY_FRAME" val="{&quot;height&quot;:103.75,&quot;left&quot;:146.2,&quot;top&quot;:388,&quot;width&quot;:683.5}"/>
</p:tagLst>
</file>

<file path=ppt/tags/tag229.xml><?xml version="1.0" encoding="utf-8"?>
<p:tagLst xmlns:p="http://schemas.openxmlformats.org/presentationml/2006/main">
  <p:tag name="KSO_WM_DIAGRAM_VIRTUALLY_FRAME" val="{&quot;height&quot;:419.3622047244095,&quot;left&quot;:36,&quot;top&quot;:89.55771653543306,&quot;width&quot;:903.3}"/>
</p:tagLst>
</file>

<file path=ppt/tags/tag230.xml><?xml version="1.0" encoding="utf-8"?>
<p:tagLst xmlns:p="http://schemas.openxmlformats.org/presentationml/2006/main">
  <p:tag name="KSO_WM_DIAGRAM_VIRTUALLY_FRAME" val="{&quot;height&quot;:419.3622047244095,&quot;left&quot;:36,&quot;top&quot;:89.55771653543306,&quot;width&quot;:903.3}"/>
</p:tagLst>
</file>

<file path=ppt/tags/tag231.xml><?xml version="1.0" encoding="utf-8"?>
<p:tagLst xmlns:p="http://schemas.openxmlformats.org/presentationml/2006/main">
  <p:tag name="KSO_WM_DIAGRAM_VIRTUALLY_FRAME" val="{&quot;height&quot;:419.3622047244095,&quot;left&quot;:36,&quot;top&quot;:89.55771653543306,&quot;width&quot;:903.3}"/>
</p:tagLst>
</file>

<file path=ppt/tags/tag232.xml><?xml version="1.0" encoding="utf-8"?>
<p:tagLst xmlns:p="http://schemas.openxmlformats.org/presentationml/2006/main">
  <p:tag name="KSO_WM_DIAGRAM_VIRTUALLY_FRAME" val="{&quot;height&quot;:419.3622047244095,&quot;left&quot;:36,&quot;top&quot;:89.55771653543306,&quot;width&quot;:903.3}"/>
</p:tagLst>
</file>

<file path=ppt/tags/tag233.xml><?xml version="1.0" encoding="utf-8"?>
<p:tagLst xmlns:p="http://schemas.openxmlformats.org/presentationml/2006/main">
  <p:tag name="KSO_WM_DIAGRAM_VIRTUALLY_FRAME" val="{&quot;height&quot;:544.3984434993888,&quot;left&quot;:45.4,&quot;top&quot;:73.40155650061115,&quot;width&quot;:951.3288687899139}"/>
</p:tagLst>
</file>

<file path=ppt/tags/tag234.xml><?xml version="1.0" encoding="utf-8"?>
<p:tagLst xmlns:p="http://schemas.openxmlformats.org/presentationml/2006/main">
  <p:tag name="KSO_WM_DIAGRAM_VIRTUALLY_FRAME" val="{&quot;height&quot;:544.3984434993888,&quot;left&quot;:45.4,&quot;top&quot;:73.40155650061115,&quot;width&quot;:951.3288687899139}"/>
</p:tagLst>
</file>

<file path=ppt/tags/tag235.xml><?xml version="1.0" encoding="utf-8"?>
<p:tagLst xmlns:p="http://schemas.openxmlformats.org/presentationml/2006/main">
  <p:tag name="KSO_WM_DIAGRAM_VIRTUALLY_FRAME" val="{&quot;height&quot;:544.3984434993888,&quot;left&quot;:45.4,&quot;top&quot;:73.40155650061115,&quot;width&quot;:951.3288687899139}"/>
</p:tagLst>
</file>

<file path=ppt/tags/tag236.xml><?xml version="1.0" encoding="utf-8"?>
<p:tagLst xmlns:p="http://schemas.openxmlformats.org/presentationml/2006/main">
  <p:tag name="KSO_WM_DIAGRAM_VIRTUALLY_FRAME" val="{&quot;height&quot;:544.3984434993888,&quot;left&quot;:45.4,&quot;top&quot;:73.40155650061115,&quot;width&quot;:951.3288687899139}"/>
</p:tagLst>
</file>

<file path=ppt/tags/tag237.xml><?xml version="1.0" encoding="utf-8"?>
<p:tagLst xmlns:p="http://schemas.openxmlformats.org/presentationml/2006/main">
  <p:tag name="KSO_WM_DIAGRAM_VIRTUALLY_FRAME" val="{&quot;height&quot;:544.3984434993888,&quot;left&quot;:45.4,&quot;top&quot;:73.40155650061115,&quot;width&quot;:951.3288687899139}"/>
</p:tagLst>
</file>

<file path=ppt/tags/tag238.xml><?xml version="1.0" encoding="utf-8"?>
<p:tagLst xmlns:p="http://schemas.openxmlformats.org/presentationml/2006/main">
  <p:tag name="KSO_WM_DIAGRAM_VIRTUALLY_FRAME" val="{&quot;height&quot;:544.3984434993888,&quot;left&quot;:45.4,&quot;top&quot;:73.40155650061115,&quot;width&quot;:951.3288687899139}"/>
</p:tagLst>
</file>

<file path=ppt/tags/tag239.xml><?xml version="1.0" encoding="utf-8"?>
<p:tagLst xmlns:p="http://schemas.openxmlformats.org/presentationml/2006/main">
  <p:tag name="KSO_WM_DIAGRAM_VIRTUALLY_FRAME" val="{&quot;height&quot;:503.4,&quot;left&quot;:45.4,&quot;top&quot;:113.5,&quot;width&quot;:861.45}"/>
</p:tagLst>
</file>

<file path=ppt/tags/tag240.xml><?xml version="1.0" encoding="utf-8"?>
<p:tagLst xmlns:p="http://schemas.openxmlformats.org/presentationml/2006/main">
  <p:tag name="KSO_WM_DIAGRAM_VIRTUALLY_FRAME" val="{&quot;height&quot;:503.4,&quot;left&quot;:45.4,&quot;top&quot;:113.5,&quot;width&quot;:861.45}"/>
</p:tagLst>
</file>

<file path=ppt/tags/tag241.xml><?xml version="1.0" encoding="utf-8"?>
<p:tagLst xmlns:p="http://schemas.openxmlformats.org/presentationml/2006/main">
  <p:tag name="KSO_WM_DIAGRAM_VIRTUALLY_FRAME" val="{&quot;height&quot;:544.3984434993888,&quot;left&quot;:45.4,&quot;top&quot;:73.40155650061115,&quot;width&quot;:951.3288687899139}"/>
</p:tagLst>
</file>

<file path=ppt/tags/tag242.xml><?xml version="1.0" encoding="utf-8"?>
<p:tagLst xmlns:p="http://schemas.openxmlformats.org/presentationml/2006/main">
  <p:tag name="KSO_WM_DIAGRAM_VIRTUALLY_FRAME" val="{&quot;height&quot;:544.3984434993888,&quot;left&quot;:45.4,&quot;top&quot;:73.40155650061115,&quot;width&quot;:951.3288687899139}"/>
</p:tagLst>
</file>

<file path=ppt/tags/tag243.xml><?xml version="1.0" encoding="utf-8"?>
<p:tagLst xmlns:p="http://schemas.openxmlformats.org/presentationml/2006/main">
  <p:tag name="KSO_WM_DIAGRAM_VIRTUALLY_FRAME" val="{&quot;height&quot;:544.3984434993888,&quot;left&quot;:45.4,&quot;top&quot;:73.40155650061115,&quot;width&quot;:951.3288687899139}"/>
</p:tagLst>
</file>

<file path=ppt/tags/tag244.xml><?xml version="1.0" encoding="utf-8"?>
<p:tagLst xmlns:p="http://schemas.openxmlformats.org/presentationml/2006/main">
  <p:tag name="KSO_WM_DIAGRAM_VIRTUALLY_FRAME" val="{&quot;height&quot;:544.3984434993888,&quot;left&quot;:45.4,&quot;top&quot;:73.40155650061115,&quot;width&quot;:951.3288687899139}"/>
</p:tagLst>
</file>

<file path=ppt/tags/tag245.xml><?xml version="1.0" encoding="utf-8"?>
<p:tagLst xmlns:p="http://schemas.openxmlformats.org/presentationml/2006/main">
  <p:tag name="KSO_WM_DIAGRAM_VIRTUALLY_FRAME" val="{&quot;height&quot;:544.3984434993888,&quot;left&quot;:45.4,&quot;top&quot;:73.40155650061115,&quot;width&quot;:951.3288687899139}"/>
</p:tagLst>
</file>

<file path=ppt/tags/tag246.xml><?xml version="1.0" encoding="utf-8"?>
<p:tagLst xmlns:p="http://schemas.openxmlformats.org/presentationml/2006/main">
  <p:tag name="KSO_WM_DIAGRAM_VIRTUALLY_FRAME" val="{&quot;height&quot;:544.3984434993888,&quot;left&quot;:45.4,&quot;top&quot;:73.40155650061115,&quot;width&quot;:951.3288687899139}"/>
</p:tagLst>
</file>

<file path=ppt/tags/tag247.xml><?xml version="1.0" encoding="utf-8"?>
<p:tagLst xmlns:p="http://schemas.openxmlformats.org/presentationml/2006/main">
  <p:tag name="KSO_WM_DIAGRAM_VIRTUALLY_FRAME" val="{&quot;height&quot;:544.3984434993888,&quot;left&quot;:45.4,&quot;top&quot;:73.40155650061115,&quot;width&quot;:951.3288687899139}"/>
</p:tagLst>
</file>

<file path=ppt/tags/tag248.xml><?xml version="1.0" encoding="utf-8"?>
<p:tagLst xmlns:p="http://schemas.openxmlformats.org/presentationml/2006/main">
  <p:tag name="KSO_WM_DIAGRAM_VIRTUALLY_FRAME" val="{&quot;height&quot;:544.3984434993888,&quot;left&quot;:45.4,&quot;top&quot;:73.40155650061115,&quot;width&quot;:951.3288687899139}"/>
</p:tagLst>
</file>

<file path=ppt/tags/tag249.xml><?xml version="1.0" encoding="utf-8"?>
<p:tagLst xmlns:p="http://schemas.openxmlformats.org/presentationml/2006/main">
  <p:tag name="KSO_WM_DIAGRAM_VIRTUALLY_FRAME" val="{&quot;height&quot;:544.3984434993888,&quot;left&quot;:45.4,&quot;top&quot;:73.40155650061115,&quot;width&quot;:951.3288687899139}"/>
</p:tagLst>
</file>

<file path=ppt/tags/tag250.xml><?xml version="1.0" encoding="utf-8"?>
<p:tagLst xmlns:p="http://schemas.openxmlformats.org/presentationml/2006/main">
  <p:tag name="KSO_WM_DIAGRAM_VIRTUALLY_FRAME" val="{&quot;height&quot;:544.3984434993888,&quot;left&quot;:45.4,&quot;top&quot;:73.40155650061115,&quot;width&quot;:951.3288687899139}"/>
</p:tagLst>
</file>

<file path=ppt/tags/tag251.xml><?xml version="1.0" encoding="utf-8"?>
<p:tagLst xmlns:p="http://schemas.openxmlformats.org/presentationml/2006/main">
  <p:tag name="KSO_WM_DIAGRAM_VIRTUALLY_FRAME" val="{&quot;height&quot;:544.3984434993888,&quot;left&quot;:45.4,&quot;top&quot;:73.40155650061115,&quot;width&quot;:951.3288687899139}"/>
</p:tagLst>
</file>

<file path=ppt/tags/tag252.xml><?xml version="1.0" encoding="utf-8"?>
<p:tagLst xmlns:p="http://schemas.openxmlformats.org/presentationml/2006/main">
  <p:tag name="KSO_WM_DIAGRAM_VIRTUALLY_FRAME" val="{&quot;height&quot;:544.3984434993888,&quot;left&quot;:45.4,&quot;top&quot;:73.40155650061115,&quot;width&quot;:951.3288687899139}"/>
</p:tagLst>
</file>

<file path=ppt/tags/tag253.xml><?xml version="1.0" encoding="utf-8"?>
<p:tagLst xmlns:p="http://schemas.openxmlformats.org/presentationml/2006/main">
  <p:tag name="KSO_WM_DIAGRAM_VIRTUALLY_FRAME" val="{&quot;height&quot;:544.3984434993888,&quot;left&quot;:45.4,&quot;top&quot;:73.40155650061115,&quot;width&quot;:951.3288687899139}"/>
</p:tagLst>
</file>

<file path=ppt/tags/tag254.xml><?xml version="1.0" encoding="utf-8"?>
<p:tagLst xmlns:p="http://schemas.openxmlformats.org/presentationml/2006/main">
  <p:tag name="KSO_WM_DIAGRAM_VIRTUALLY_FRAME" val="{&quot;height&quot;:544.3984434993888,&quot;left&quot;:45.4,&quot;top&quot;:73.40155650061115,&quot;width&quot;:951.3288687899139}"/>
</p:tagLst>
</file>

<file path=ppt/tags/tag255.xml><?xml version="1.0" encoding="utf-8"?>
<p:tagLst xmlns:p="http://schemas.openxmlformats.org/presentationml/2006/main">
  <p:tag name="KSO_WM_DIAGRAM_VIRTUALLY_FRAME" val="{&quot;height&quot;:544.3984434993888,&quot;left&quot;:45.4,&quot;top&quot;:73.40155650061115,&quot;width&quot;:951.3288687899139}"/>
</p:tagLst>
</file>

<file path=ppt/tags/tag256.xml><?xml version="1.0" encoding="utf-8"?>
<p:tagLst xmlns:p="http://schemas.openxmlformats.org/presentationml/2006/main">
  <p:tag name="KSO_WM_DIAGRAM_VIRTUALLY_FRAME" val="{&quot;height&quot;:544.3984434993888,&quot;left&quot;:45.4,&quot;top&quot;:73.40155650061115,&quot;width&quot;:951.3288687899139}"/>
</p:tagLst>
</file>

<file path=ppt/tags/tag257.xml><?xml version="1.0" encoding="utf-8"?>
<p:tagLst xmlns:p="http://schemas.openxmlformats.org/presentationml/2006/main">
  <p:tag name="KSO_WM_DIAGRAM_VIRTUALLY_FRAME" val="{&quot;height&quot;:544.3984434993888,&quot;left&quot;:45.4,&quot;top&quot;:73.40155650061115,&quot;width&quot;:951.3288687899139}"/>
</p:tagLst>
</file>

<file path=ppt/tags/tag258.xml><?xml version="1.0" encoding="utf-8"?>
<p:tagLst xmlns:p="http://schemas.openxmlformats.org/presentationml/2006/main">
  <p:tag name="KSO_WM_DIAGRAM_VIRTUALLY_FRAME" val="{&quot;height&quot;:544.3984434993888,&quot;left&quot;:45.4,&quot;top&quot;:73.40155650061115,&quot;width&quot;:951.3288687899139}"/>
</p:tagLst>
</file>

<file path=ppt/tags/tag259.xml><?xml version="1.0" encoding="utf-8"?>
<p:tagLst xmlns:p="http://schemas.openxmlformats.org/presentationml/2006/main">
  <p:tag name="KSO_WM_DIAGRAM_VIRTUALLY_FRAME" val="{&quot;height&quot;:544.3984434993888,&quot;left&quot;:45.4,&quot;top&quot;:73.40155650061115,&quot;width&quot;:951.3288687899139}"/>
</p:tagLst>
</file>

<file path=ppt/tags/tag260.xml><?xml version="1.0" encoding="utf-8"?>
<p:tagLst xmlns:p="http://schemas.openxmlformats.org/presentationml/2006/main">
  <p:tag name="KSO_WM_DIAGRAM_VIRTUALLY_FRAME" val="{&quot;height&quot;:544.3984434993888,&quot;left&quot;:45.4,&quot;top&quot;:73.40155650061115,&quot;width&quot;:951.3288687899139}"/>
</p:tagLst>
</file>

<file path=ppt/tags/tag261.xml><?xml version="1.0" encoding="utf-8"?>
<p:tagLst xmlns:p="http://schemas.openxmlformats.org/presentationml/2006/main">
  <p:tag name="KSO_WM_DIAGRAM_VIRTUALLY_FRAME" val="{&quot;height&quot;:544.3984434993888,&quot;left&quot;:45.4,&quot;top&quot;:73.40155650061115,&quot;width&quot;:951.3288687899139}"/>
</p:tagLst>
</file>

<file path=ppt/tags/tag262.xml><?xml version="1.0" encoding="utf-8"?>
<p:tagLst xmlns:p="http://schemas.openxmlformats.org/presentationml/2006/main">
  <p:tag name="KSO_WM_DIAGRAM_VIRTUALLY_FRAME" val="{&quot;height&quot;:544.3984434993888,&quot;left&quot;:45.4,&quot;top&quot;:73.40155650061115,&quot;width&quot;:951.3288687899139}"/>
</p:tagLst>
</file>

<file path=ppt/tags/tag263.xml><?xml version="1.0" encoding="utf-8"?>
<p:tagLst xmlns:p="http://schemas.openxmlformats.org/presentationml/2006/main">
  <p:tag name="KSO_WM_DIAGRAM_VIRTUALLY_FRAME" val="{&quot;height&quot;:544.3984434993888,&quot;left&quot;:45.4,&quot;top&quot;:73.40155650061115,&quot;width&quot;:951.3288687899139}"/>
</p:tagLst>
</file>

<file path=ppt/tags/tag264.xml><?xml version="1.0" encoding="utf-8"?>
<p:tagLst xmlns:p="http://schemas.openxmlformats.org/presentationml/2006/main">
  <p:tag name="KSO_WM_DIAGRAM_VIRTUALLY_FRAME" val="{&quot;height&quot;:544.3984434993888,&quot;left&quot;:45.4,&quot;top&quot;:73.40155650061115,&quot;width&quot;:951.3288687899139}"/>
</p:tagLst>
</file>

<file path=ppt/tags/tag265.xml><?xml version="1.0" encoding="utf-8"?>
<p:tagLst xmlns:p="http://schemas.openxmlformats.org/presentationml/2006/main">
  <p:tag name="KSO_WM_DIAGRAM_VIRTUALLY_FRAME" val="{&quot;height&quot;:544.3984434993888,&quot;left&quot;:45.4,&quot;top&quot;:73.40155650061115,&quot;width&quot;:951.3288687899139}"/>
</p:tagLst>
</file>

<file path=ppt/tags/tag266.xml><?xml version="1.0" encoding="utf-8"?>
<p:tagLst xmlns:p="http://schemas.openxmlformats.org/presentationml/2006/main">
  <p:tag name="KSO_WM_DIAGRAM_VIRTUALLY_FRAME" val="{&quot;height&quot;:544.3984434993888,&quot;left&quot;:45.4,&quot;top&quot;:73.40155650061115,&quot;width&quot;:951.3288687899139}"/>
</p:tagLst>
</file>

<file path=ppt/tags/tag267.xml><?xml version="1.0" encoding="utf-8"?>
<p:tagLst xmlns:p="http://schemas.openxmlformats.org/presentationml/2006/main">
  <p:tag name="KSO_WM_DIAGRAM_VIRTUALLY_FRAME" val="{&quot;height&quot;:544.3984434993888,&quot;left&quot;:45.4,&quot;top&quot;:73.40155650061115,&quot;width&quot;:951.3288687899139}"/>
</p:tagLst>
</file>

<file path=ppt/tags/tag268.xml><?xml version="1.0" encoding="utf-8"?>
<p:tagLst xmlns:p="http://schemas.openxmlformats.org/presentationml/2006/main">
  <p:tag name="KSO_WM_DIAGRAM_VIRTUALLY_FRAME" val="{&quot;height&quot;:544.3984434993888,&quot;left&quot;:45.4,&quot;top&quot;:73.40155650061115,&quot;width&quot;:951.3288687899139}"/>
</p:tagLst>
</file>

<file path=ppt/tags/tag269.xml><?xml version="1.0" encoding="utf-8"?>
<p:tagLst xmlns:p="http://schemas.openxmlformats.org/presentationml/2006/main">
  <p:tag name="KSO_WM_DIAGRAM_VIRTUALLY_FRAME" val="{&quot;height&quot;:544.3984434993888,&quot;left&quot;:45.4,&quot;top&quot;:73.40155650061115,&quot;width&quot;:951.3288687899139}"/>
</p:tagLst>
</file>

<file path=ppt/tags/tag270.xml><?xml version="1.0" encoding="utf-8"?>
<p:tagLst xmlns:p="http://schemas.openxmlformats.org/presentationml/2006/main">
  <p:tag name="KSO_WM_DIAGRAM_VIRTUALLY_FRAME" val="{&quot;height&quot;:544.3984434993888,&quot;left&quot;:45.4,&quot;top&quot;:73.40155650061115,&quot;width&quot;:951.3288687899139}"/>
</p:tagLst>
</file>

<file path=ppt/tags/tag271.xml><?xml version="1.0" encoding="utf-8"?>
<p:tagLst xmlns:p="http://schemas.openxmlformats.org/presentationml/2006/main">
  <p:tag name="KSO_WM_DIAGRAM_VIRTUALLY_FRAME" val="{&quot;height&quot;:544.3984434993888,&quot;left&quot;:45.4,&quot;top&quot;:73.40155650061115,&quot;width&quot;:951.3288687899139}"/>
</p:tagLst>
</file>

<file path=ppt/tags/tag272.xml><?xml version="1.0" encoding="utf-8"?>
<p:tagLst xmlns:p="http://schemas.openxmlformats.org/presentationml/2006/main">
  <p:tag name="KSO_WM_DIAGRAM_VIRTUALLY_FRAME" val="{&quot;height&quot;:544.3984434993888,&quot;left&quot;:45.4,&quot;top&quot;:73.40155650061115,&quot;width&quot;:951.3288687899139}"/>
</p:tagLst>
</file>

<file path=ppt/tags/tag273.xml><?xml version="1.0" encoding="utf-8"?>
<p:tagLst xmlns:p="http://schemas.openxmlformats.org/presentationml/2006/main">
  <p:tag name="KSO_WM_DIAGRAM_VIRTUALLY_FRAME" val="{&quot;height&quot;:544.3984434993888,&quot;left&quot;:45.4,&quot;top&quot;:73.40155650061115,&quot;width&quot;:951.3288687899139}"/>
</p:tagLst>
</file>

<file path=ppt/tags/tag274.xml><?xml version="1.0" encoding="utf-8"?>
<p:tagLst xmlns:p="http://schemas.openxmlformats.org/presentationml/2006/main">
  <p:tag name="KSO_WM_DIAGRAM_VIRTUALLY_FRAME" val="{&quot;height&quot;:544.3984434993888,&quot;left&quot;:45.4,&quot;top&quot;:73.40155650061115,&quot;width&quot;:951.3288687899139}"/>
</p:tagLst>
</file>

<file path=ppt/tags/tag275.xml><?xml version="1.0" encoding="utf-8"?>
<p:tagLst xmlns:p="http://schemas.openxmlformats.org/presentationml/2006/main">
  <p:tag name="KSO_WM_DIAGRAM_VIRTUALLY_FRAME" val="{&quot;height&quot;:544.3984434993888,&quot;left&quot;:45.4,&quot;top&quot;:73.40155650061115,&quot;width&quot;:951.3288687899139}"/>
</p:tagLst>
</file>

<file path=ppt/tags/tag276.xml><?xml version="1.0" encoding="utf-8"?>
<p:tagLst xmlns:p="http://schemas.openxmlformats.org/presentationml/2006/main">
  <p:tag name="KSO_WM_DIAGRAM_VIRTUALLY_FRAME" val="{&quot;height&quot;:544.3984434993888,&quot;left&quot;:45.4,&quot;top&quot;:73.40155650061115,&quot;width&quot;:951.3288687899139}"/>
</p:tagLst>
</file>

<file path=ppt/tags/tag277.xml><?xml version="1.0" encoding="utf-8"?>
<p:tagLst xmlns:p="http://schemas.openxmlformats.org/presentationml/2006/main">
  <p:tag name="KSO_WM_DIAGRAM_VIRTUALLY_FRAME" val="{&quot;height&quot;:544.3984434993888,&quot;left&quot;:45.4,&quot;top&quot;:73.40155650061115,&quot;width&quot;:951.3288687899139}"/>
</p:tagLst>
</file>

<file path=ppt/tags/tag278.xml><?xml version="1.0" encoding="utf-8"?>
<p:tagLst xmlns:p="http://schemas.openxmlformats.org/presentationml/2006/main">
  <p:tag name="KSO_WM_DIAGRAM_VIRTUALLY_FRAME" val="{&quot;height&quot;:544.3984434993888,&quot;left&quot;:45.4,&quot;top&quot;:73.40155650061115,&quot;width&quot;:951.3288687899139}"/>
</p:tagLst>
</file>

<file path=ppt/tags/tag279.xml><?xml version="1.0" encoding="utf-8"?>
<p:tagLst xmlns:p="http://schemas.openxmlformats.org/presentationml/2006/main">
  <p:tag name="KSO_WM_DIAGRAM_VIRTUALLY_FRAME" val="{&quot;height&quot;:544.3984434993888,&quot;left&quot;:45.4,&quot;top&quot;:73.40155650061115,&quot;width&quot;:951.3288687899139}"/>
</p:tagLst>
</file>

<file path=ppt/tags/tag280.xml><?xml version="1.0" encoding="utf-8"?>
<p:tagLst xmlns:p="http://schemas.openxmlformats.org/presentationml/2006/main">
  <p:tag name="KSO_WM_DIAGRAM_VIRTUALLY_FRAME" val="{&quot;height&quot;:544.3984434993888,&quot;left&quot;:45.4,&quot;top&quot;:73.40155650061115,&quot;width&quot;:951.3288687899139}"/>
</p:tagLst>
</file>

<file path=ppt/tags/tag281.xml><?xml version="1.0" encoding="utf-8"?>
<p:tagLst xmlns:p="http://schemas.openxmlformats.org/presentationml/2006/main">
  <p:tag name="KSO_WM_DIAGRAM_VIRTUALLY_FRAME" val="{&quot;height&quot;:544.3984434993888,&quot;left&quot;:45.4,&quot;top&quot;:73.40155650061115,&quot;width&quot;:951.3288687899139}"/>
</p:tagLst>
</file>

<file path=ppt/tags/tag282.xml><?xml version="1.0" encoding="utf-8"?>
<p:tagLst xmlns:p="http://schemas.openxmlformats.org/presentationml/2006/main">
  <p:tag name="KSO_WM_DIAGRAM_VIRTUALLY_FRAME" val="{&quot;height&quot;:544.3984434993888,&quot;left&quot;:45.4,&quot;top&quot;:73.40155650061115,&quot;width&quot;:951.3288687899139}"/>
</p:tagLst>
</file>

<file path=ppt/tags/tag283.xml><?xml version="1.0" encoding="utf-8"?>
<p:tagLst xmlns:p="http://schemas.openxmlformats.org/presentationml/2006/main">
  <p:tag name="KSO_WM_DIAGRAM_VIRTUALLY_FRAME" val="{&quot;height&quot;:544.3984434993888,&quot;left&quot;:45.4,&quot;top&quot;:73.40155650061115,&quot;width&quot;:951.3288687899139}"/>
</p:tagLst>
</file>

<file path=ppt/tags/tag284.xml><?xml version="1.0" encoding="utf-8"?>
<p:tagLst xmlns:p="http://schemas.openxmlformats.org/presentationml/2006/main">
  <p:tag name="KSO_WM_DIAGRAM_VIRTUALLY_FRAME" val="{&quot;height&quot;:544.3984434993888,&quot;left&quot;:45.4,&quot;top&quot;:73.40155650061115,&quot;width&quot;:951.3288687899139}"/>
</p:tagLst>
</file>

<file path=ppt/tags/tag285.xml><?xml version="1.0" encoding="utf-8"?>
<p:tagLst xmlns:p="http://schemas.openxmlformats.org/presentationml/2006/main">
  <p:tag name="KSO_WM_DIAGRAM_VIRTUALLY_FRAME" val="{&quot;height&quot;:544.3984434993888,&quot;left&quot;:45.4,&quot;top&quot;:73.40155650061115,&quot;width&quot;:951.3288687899139}"/>
</p:tagLst>
</file>

<file path=ppt/tags/tag286.xml><?xml version="1.0" encoding="utf-8"?>
<p:tagLst xmlns:p="http://schemas.openxmlformats.org/presentationml/2006/main">
  <p:tag name="KSO_WM_DIAGRAM_VIRTUALLY_FRAME" val="{&quot;height&quot;:544.3984434993888,&quot;left&quot;:45.4,&quot;top&quot;:73.40155650061115,&quot;width&quot;:951.3288687899139}"/>
</p:tagLst>
</file>

<file path=ppt/tags/tag287.xml><?xml version="1.0" encoding="utf-8"?>
<p:tagLst xmlns:p="http://schemas.openxmlformats.org/presentationml/2006/main">
  <p:tag name="KSO_WM_DIAGRAM_VIRTUALLY_FRAME" val="{&quot;height&quot;:544.3984434993888,&quot;left&quot;:45.4,&quot;top&quot;:73.40155650061115,&quot;width&quot;:951.3288687899139}"/>
</p:tagLst>
</file>

<file path=ppt/tags/tag288.xml><?xml version="1.0" encoding="utf-8"?>
<p:tagLst xmlns:p="http://schemas.openxmlformats.org/presentationml/2006/main">
  <p:tag name="KSO_WM_DIAGRAM_VIRTUALLY_FRAME" val="{&quot;height&quot;:544.3984434993888,&quot;left&quot;:45.4,&quot;top&quot;:73.40155650061115,&quot;width&quot;:951.3288687899139}"/>
</p:tagLst>
</file>

<file path=ppt/tags/tag289.xml><?xml version="1.0" encoding="utf-8"?>
<p:tagLst xmlns:p="http://schemas.openxmlformats.org/presentationml/2006/main">
  <p:tag name="KSO_WM_DIAGRAM_VIRTUALLY_FRAME" val="{&quot;height&quot;:544.3984434993888,&quot;left&quot;:45.4,&quot;top&quot;:73.40155650061115,&quot;width&quot;:951.3288687899139}"/>
</p:tagLst>
</file>

<file path=ppt/tags/tag290.xml><?xml version="1.0" encoding="utf-8"?>
<p:tagLst xmlns:p="http://schemas.openxmlformats.org/presentationml/2006/main">
  <p:tag name="KSO_WM_DIAGRAM_VIRTUALLY_FRAME" val="{&quot;height&quot;:544.3984434993888,&quot;left&quot;:45.4,&quot;top&quot;:73.40155650061115,&quot;width&quot;:951.3288687899139}"/>
</p:tagLst>
</file>

<file path=ppt/tags/tag291.xml><?xml version="1.0" encoding="utf-8"?>
<p:tagLst xmlns:p="http://schemas.openxmlformats.org/presentationml/2006/main">
  <p:tag name="KSO_WM_DIAGRAM_VIRTUALLY_FRAME" val="{&quot;height&quot;:544.3984434993888,&quot;left&quot;:45.4,&quot;top&quot;:73.40155650061115,&quot;width&quot;:951.3288687899139}"/>
</p:tagLst>
</file>

<file path=ppt/tags/tag292.xml><?xml version="1.0" encoding="utf-8"?>
<p:tagLst xmlns:p="http://schemas.openxmlformats.org/presentationml/2006/main">
  <p:tag name="KSO_WM_DIAGRAM_VIRTUALLY_FRAME" val="{&quot;height&quot;:544.3984434993888,&quot;left&quot;:45.4,&quot;top&quot;:73.40155650061115,&quot;width&quot;:951.3288687899139}"/>
</p:tagLst>
</file>

<file path=ppt/tags/tag293.xml><?xml version="1.0" encoding="utf-8"?>
<p:tagLst xmlns:p="http://schemas.openxmlformats.org/presentationml/2006/main">
  <p:tag name="KSO_WM_DIAGRAM_VIRTUALLY_FRAME" val="{&quot;height&quot;:544.3984434993888,&quot;left&quot;:45.4,&quot;top&quot;:73.40155650061115,&quot;width&quot;:951.3288687899139}"/>
</p:tagLst>
</file>

<file path=ppt/tags/tag294.xml><?xml version="1.0" encoding="utf-8"?>
<p:tagLst xmlns:p="http://schemas.openxmlformats.org/presentationml/2006/main">
  <p:tag name="KSO_WM_DIAGRAM_VIRTUALLY_FRAME" val="{&quot;height&quot;:544.3984434993888,&quot;left&quot;:45.4,&quot;top&quot;:73.40155650061115,&quot;width&quot;:951.3288687899139}"/>
</p:tagLst>
</file>

<file path=ppt/tags/tag295.xml><?xml version="1.0" encoding="utf-8"?>
<p:tagLst xmlns:p="http://schemas.openxmlformats.org/presentationml/2006/main">
  <p:tag name="KSO_WM_DIAGRAM_VIRTUALLY_FRAME" val="{&quot;height&quot;:544.3984434993888,&quot;left&quot;:45.4,&quot;top&quot;:73.40155650061115,&quot;width&quot;:951.3288687899139}"/>
</p:tagLst>
</file>

<file path=ppt/tags/tag296.xml><?xml version="1.0" encoding="utf-8"?>
<p:tagLst xmlns:p="http://schemas.openxmlformats.org/presentationml/2006/main">
  <p:tag name="KSO_WM_DIAGRAM_VIRTUALLY_FRAME" val="{&quot;height&quot;:544.3984434993888,&quot;left&quot;:45.4,&quot;top&quot;:73.40155650061115,&quot;width&quot;:951.3288687899139}"/>
</p:tagLst>
</file>

<file path=ppt/tags/tag297.xml><?xml version="1.0" encoding="utf-8"?>
<p:tagLst xmlns:p="http://schemas.openxmlformats.org/presentationml/2006/main">
  <p:tag name="KSO_WM_DIAGRAM_VIRTUALLY_FRAME" val="{&quot;height&quot;:544.3984434993888,&quot;left&quot;:45.4,&quot;top&quot;:73.40155650061115,&quot;width&quot;:951.3288687899139}"/>
</p:tagLst>
</file>

<file path=ppt/tags/tag298.xml><?xml version="1.0" encoding="utf-8"?>
<p:tagLst xmlns:p="http://schemas.openxmlformats.org/presentationml/2006/main">
  <p:tag name="KSO_WM_DIAGRAM_VIRTUALLY_FRAME" val="{&quot;height&quot;:544.3984434993888,&quot;left&quot;:45.4,&quot;top&quot;:73.40155650061115,&quot;width&quot;:951.3288687899139}"/>
</p:tagLst>
</file>

<file path=ppt/tags/tag299.xml><?xml version="1.0" encoding="utf-8"?>
<p:tagLst xmlns:p="http://schemas.openxmlformats.org/presentationml/2006/main">
  <p:tag name="KSO_WM_DIAGRAM_VIRTUALLY_FRAME" val="{&quot;height&quot;:544.3984434993888,&quot;left&quot;:45.4,&quot;top&quot;:73.40155650061115,&quot;width&quot;:951.3288687899139}"/>
</p:tagLst>
</file>

<file path=ppt/tags/tag300.xml><?xml version="1.0" encoding="utf-8"?>
<p:tagLst xmlns:p="http://schemas.openxmlformats.org/presentationml/2006/main">
  <p:tag name="KSO_WM_DIAGRAM_VIRTUALLY_FRAME" val="{&quot;height&quot;:544.3984434993888,&quot;left&quot;:45.4,&quot;top&quot;:73.40155650061115,&quot;width&quot;:951.3288687899139}"/>
</p:tagLst>
</file>

<file path=ppt/tags/tag301.xml><?xml version="1.0" encoding="utf-8"?>
<p:tagLst xmlns:p="http://schemas.openxmlformats.org/presentationml/2006/main">
  <p:tag name="KSO_WM_DIAGRAM_VIRTUALLY_FRAME" val="{&quot;height&quot;:544.3984434993888,&quot;left&quot;:45.4,&quot;top&quot;:73.40155650061115,&quot;width&quot;:951.3288687899139}"/>
</p:tagLst>
</file>

<file path=ppt/tags/tag302.xml><?xml version="1.0" encoding="utf-8"?>
<p:tagLst xmlns:p="http://schemas.openxmlformats.org/presentationml/2006/main">
  <p:tag name="KSO_WM_DIAGRAM_VIRTUALLY_FRAME" val="{&quot;height&quot;:544.3984434993888,&quot;left&quot;:45.4,&quot;top&quot;:73.40155650061115,&quot;width&quot;:951.3288687899139}"/>
</p:tagLst>
</file>

<file path=ppt/tags/tag303.xml><?xml version="1.0" encoding="utf-8"?>
<p:tagLst xmlns:p="http://schemas.openxmlformats.org/presentationml/2006/main">
  <p:tag name="KSO_WM_DIAGRAM_VIRTUALLY_FRAME" val="{&quot;height&quot;:544.3984434993888,&quot;left&quot;:45.4,&quot;top&quot;:73.40155650061115,&quot;width&quot;:951.3288687899139}"/>
</p:tagLst>
</file>

<file path=ppt/tags/tag304.xml><?xml version="1.0" encoding="utf-8"?>
<p:tagLst xmlns:p="http://schemas.openxmlformats.org/presentationml/2006/main">
  <p:tag name="KSO_WM_DIAGRAM_VIRTUALLY_FRAME" val="{&quot;height&quot;:544.3984434993888,&quot;left&quot;:45.4,&quot;top&quot;:73.40155650061115,&quot;width&quot;:951.3288687899139}"/>
</p:tagLst>
</file>

<file path=ppt/tags/tag305.xml><?xml version="1.0" encoding="utf-8"?>
<p:tagLst xmlns:p="http://schemas.openxmlformats.org/presentationml/2006/main">
  <p:tag name="KSO_WM_DIAGRAM_VIRTUALLY_FRAME" val="{&quot;height&quot;:544.3984434993888,&quot;left&quot;:45.4,&quot;top&quot;:73.40155650061115,&quot;width&quot;:951.3288687899139}"/>
</p:tagLst>
</file>

<file path=ppt/tags/tag306.xml><?xml version="1.0" encoding="utf-8"?>
<p:tagLst xmlns:p="http://schemas.openxmlformats.org/presentationml/2006/main">
  <p:tag name="KSO_WM_DIAGRAM_VIRTUALLY_FRAME" val="{&quot;height&quot;:544.3984434993888,&quot;left&quot;:45.4,&quot;top&quot;:73.40155650061115,&quot;width&quot;:951.3288687899139}"/>
</p:tagLst>
</file>

<file path=ppt/tags/tag307.xml><?xml version="1.0" encoding="utf-8"?>
<p:tagLst xmlns:p="http://schemas.openxmlformats.org/presentationml/2006/main">
  <p:tag name="KSO_WM_DIAGRAM_VIRTUALLY_FRAME" val="{&quot;height&quot;:544.3984434993888,&quot;left&quot;:45.4,&quot;top&quot;:73.40155650061115,&quot;width&quot;:951.3288687899139}"/>
</p:tagLst>
</file>

<file path=ppt/tags/tag308.xml><?xml version="1.0" encoding="utf-8"?>
<p:tagLst xmlns:p="http://schemas.openxmlformats.org/presentationml/2006/main">
  <p:tag name="KSO_WM_DIAGRAM_VIRTUALLY_FRAME" val="{&quot;height&quot;:544.3984434993888,&quot;left&quot;:45.4,&quot;top&quot;:73.40155650061115,&quot;width&quot;:951.3288687899139}"/>
</p:tagLst>
</file>

<file path=ppt/tags/tag309.xml><?xml version="1.0" encoding="utf-8"?>
<p:tagLst xmlns:p="http://schemas.openxmlformats.org/presentationml/2006/main">
  <p:tag name="KSO_WM_DIAGRAM_VIRTUALLY_FRAME" val="{&quot;height&quot;:544.3984434993888,&quot;left&quot;:45.4,&quot;top&quot;:73.40155650061115,&quot;width&quot;:951.3288687899139}"/>
</p:tagLst>
</file>

<file path=ppt/tags/tag310.xml><?xml version="1.0" encoding="utf-8"?>
<p:tagLst xmlns:p="http://schemas.openxmlformats.org/presentationml/2006/main">
  <p:tag name="KSO_WM_DIAGRAM_VIRTUALLY_FRAME" val="{&quot;height&quot;:544.3984434993888,&quot;left&quot;:45.4,&quot;top&quot;:73.40155650061115,&quot;width&quot;:951.3288687899139}"/>
</p:tagLst>
</file>

<file path=ppt/tags/tag311.xml><?xml version="1.0" encoding="utf-8"?>
<p:tagLst xmlns:p="http://schemas.openxmlformats.org/presentationml/2006/main">
  <p:tag name="KSO_WM_DIAGRAM_VIRTUALLY_FRAME" val="{&quot;height&quot;:544.3984434993888,&quot;left&quot;:45.4,&quot;top&quot;:73.40155650061115,&quot;width&quot;:951.3288687899139}"/>
</p:tagLst>
</file>

<file path=ppt/tags/tag312.xml><?xml version="1.0" encoding="utf-8"?>
<p:tagLst xmlns:p="http://schemas.openxmlformats.org/presentationml/2006/main">
  <p:tag name="KSO_WM_DIAGRAM_VIRTUALLY_FRAME" val="{&quot;height&quot;:544.3984434993888,&quot;left&quot;:45.4,&quot;top&quot;:73.40155650061115,&quot;width&quot;:951.3288687899139}"/>
</p:tagLst>
</file>

<file path=ppt/tags/tag313.xml><?xml version="1.0" encoding="utf-8"?>
<p:tagLst xmlns:p="http://schemas.openxmlformats.org/presentationml/2006/main">
  <p:tag name="KSO_WM_DIAGRAM_VIRTUALLY_FRAME" val="{&quot;height&quot;:544.3984434993888,&quot;left&quot;:45.4,&quot;top&quot;:73.40155650061115,&quot;width&quot;:951.3288687899139}"/>
</p:tagLst>
</file>

<file path=ppt/tags/tag314.xml><?xml version="1.0" encoding="utf-8"?>
<p:tagLst xmlns:p="http://schemas.openxmlformats.org/presentationml/2006/main">
  <p:tag name="KSO_WM_DIAGRAM_VIRTUALLY_FRAME" val="{&quot;height&quot;:544.3984434993888,&quot;left&quot;:45.4,&quot;top&quot;:73.40155650061115,&quot;width&quot;:951.3288687899139}"/>
</p:tagLst>
</file>

<file path=ppt/tags/tag315.xml><?xml version="1.0" encoding="utf-8"?>
<p:tagLst xmlns:p="http://schemas.openxmlformats.org/presentationml/2006/main">
  <p:tag name="KSO_WM_DIAGRAM_VIRTUALLY_FRAME" val="{&quot;height&quot;:544.3984434993888,&quot;left&quot;:45.4,&quot;top&quot;:73.40155650061115,&quot;width&quot;:951.3288687899139}"/>
</p:tagLst>
</file>

<file path=ppt/tags/tag316.xml><?xml version="1.0" encoding="utf-8"?>
<p:tagLst xmlns:p="http://schemas.openxmlformats.org/presentationml/2006/main">
  <p:tag name="KSO_WM_DIAGRAM_VIRTUALLY_FRAME" val="{&quot;height&quot;:544.3984434993888,&quot;left&quot;:45.4,&quot;top&quot;:73.40155650061115,&quot;width&quot;:951.3288687899139}"/>
</p:tagLst>
</file>

<file path=ppt/tags/tag317.xml><?xml version="1.0" encoding="utf-8"?>
<p:tagLst xmlns:p="http://schemas.openxmlformats.org/presentationml/2006/main">
  <p:tag name="KSO_WM_DIAGRAM_VIRTUALLY_FRAME" val="{&quot;height&quot;:544.3984434993888,&quot;left&quot;:45.4,&quot;top&quot;:73.40155650061115,&quot;width&quot;:951.3288687899139}"/>
</p:tagLst>
</file>

<file path=ppt/tags/tag318.xml><?xml version="1.0" encoding="utf-8"?>
<p:tagLst xmlns:p="http://schemas.openxmlformats.org/presentationml/2006/main">
  <p:tag name="KSO_WM_DIAGRAM_VIRTUALLY_FRAME" val="{&quot;height&quot;:544.3984434993888,&quot;left&quot;:45.4,&quot;top&quot;:73.40155650061115,&quot;width&quot;:951.3288687899139}"/>
</p:tagLst>
</file>

<file path=ppt/tags/tag319.xml><?xml version="1.0" encoding="utf-8"?>
<p:tagLst xmlns:p="http://schemas.openxmlformats.org/presentationml/2006/main">
  <p:tag name="KSO_WM_DIAGRAM_VIRTUALLY_FRAME" val="{&quot;height&quot;:544.3984434993888,&quot;left&quot;:45.4,&quot;top&quot;:73.40155650061115,&quot;width&quot;:951.3288687899139}"/>
</p:tagLst>
</file>

<file path=ppt/tags/tag320.xml><?xml version="1.0" encoding="utf-8"?>
<p:tagLst xmlns:p="http://schemas.openxmlformats.org/presentationml/2006/main">
  <p:tag name="KSO_WM_DIAGRAM_VIRTUALLY_FRAME" val="{&quot;height&quot;:544.3984434993888,&quot;left&quot;:45.4,&quot;top&quot;:73.40155650061115,&quot;width&quot;:951.3288687899139}"/>
</p:tagLst>
</file>

<file path=ppt/tags/tag321.xml><?xml version="1.0" encoding="utf-8"?>
<p:tagLst xmlns:p="http://schemas.openxmlformats.org/presentationml/2006/main">
  <p:tag name="KSO_WM_DIAGRAM_VIRTUALLY_FRAME" val="{&quot;height&quot;:544.3984434993888,&quot;left&quot;:45.4,&quot;top&quot;:73.40155650061115,&quot;width&quot;:951.3288687899139}"/>
</p:tagLst>
</file>

<file path=ppt/tags/tag322.xml><?xml version="1.0" encoding="utf-8"?>
<p:tagLst xmlns:p="http://schemas.openxmlformats.org/presentationml/2006/main">
  <p:tag name="KSO_WM_DIAGRAM_VIRTUALLY_FRAME" val="{&quot;height&quot;:544.3984434993888,&quot;left&quot;:45.4,&quot;top&quot;:73.40155650061115,&quot;width&quot;:951.3288687899139}"/>
</p:tagLst>
</file>

<file path=ppt/tags/tag323.xml><?xml version="1.0" encoding="utf-8"?>
<p:tagLst xmlns:p="http://schemas.openxmlformats.org/presentationml/2006/main">
  <p:tag name="KSO_WM_DIAGRAM_VIRTUALLY_FRAME" val="{&quot;height&quot;:544.3984434993888,&quot;left&quot;:45.4,&quot;top&quot;:73.40155650061115,&quot;width&quot;:951.3288687899139}"/>
</p:tagLst>
</file>

<file path=ppt/tags/tag324.xml><?xml version="1.0" encoding="utf-8"?>
<p:tagLst xmlns:p="http://schemas.openxmlformats.org/presentationml/2006/main">
  <p:tag name="KSO_WM_DIAGRAM_VIRTUALLY_FRAME" val="{&quot;height&quot;:544.3984434993888,&quot;left&quot;:45.4,&quot;top&quot;:73.40155650061115,&quot;width&quot;:951.3288687899139}"/>
</p:tagLst>
</file>

<file path=ppt/tags/tag325.xml><?xml version="1.0" encoding="utf-8"?>
<p:tagLst xmlns:p="http://schemas.openxmlformats.org/presentationml/2006/main">
  <p:tag name="KSO_WM_DIAGRAM_VIRTUALLY_FRAME" val="{&quot;height&quot;:544.3984434993888,&quot;left&quot;:45.4,&quot;top&quot;:73.40155650061115,&quot;width&quot;:951.3288687899139}"/>
</p:tagLst>
</file>

<file path=ppt/tags/tag326.xml><?xml version="1.0" encoding="utf-8"?>
<p:tagLst xmlns:p="http://schemas.openxmlformats.org/presentationml/2006/main">
  <p:tag name="KSO_WM_DIAGRAM_VIRTUALLY_FRAME" val="{&quot;height&quot;:544.3984434993888,&quot;left&quot;:45.4,&quot;top&quot;:73.40155650061115,&quot;width&quot;:951.3288687899139}"/>
</p:tagLst>
</file>

<file path=ppt/tags/tag327.xml><?xml version="1.0" encoding="utf-8"?>
<p:tagLst xmlns:p="http://schemas.openxmlformats.org/presentationml/2006/main">
  <p:tag name="KSO_WM_DIAGRAM_VIRTUALLY_FRAME" val="{&quot;height&quot;:544.3984434993888,&quot;left&quot;:45.4,&quot;top&quot;:73.40155650061115,&quot;width&quot;:951.3288687899139}"/>
</p:tagLst>
</file>

<file path=ppt/tags/tag328.xml><?xml version="1.0" encoding="utf-8"?>
<p:tagLst xmlns:p="http://schemas.openxmlformats.org/presentationml/2006/main">
  <p:tag name="KSO_WM_DIAGRAM_VIRTUALLY_FRAME" val="{&quot;height&quot;:544.3984434993888,&quot;left&quot;:45.4,&quot;top&quot;:73.40155650061115,&quot;width&quot;:951.3288687899139}"/>
</p:tagLst>
</file>

<file path=ppt/tags/tag329.xml><?xml version="1.0" encoding="utf-8"?>
<p:tagLst xmlns:p="http://schemas.openxmlformats.org/presentationml/2006/main">
  <p:tag name="KSO_WM_DIAGRAM_VIRTUALLY_FRAME" val="{&quot;height&quot;:544.3984434993888,&quot;left&quot;:45.4,&quot;top&quot;:73.40155650061115,&quot;width&quot;:951.3288687899139}"/>
</p:tagLst>
</file>

<file path=ppt/tags/tag330.xml><?xml version="1.0" encoding="utf-8"?>
<p:tagLst xmlns:p="http://schemas.openxmlformats.org/presentationml/2006/main">
  <p:tag name="KSO_WM_DIAGRAM_VIRTUALLY_FRAME" val="{&quot;height&quot;:544.3984434993888,&quot;left&quot;:45.4,&quot;top&quot;:73.40155650061115,&quot;width&quot;:951.3288687899139}"/>
</p:tagLst>
</file>

<file path=ppt/tags/tag331.xml><?xml version="1.0" encoding="utf-8"?>
<p:tagLst xmlns:p="http://schemas.openxmlformats.org/presentationml/2006/main">
  <p:tag name="KSO_WM_DIAGRAM_VIRTUALLY_FRAME" val="{&quot;height&quot;:544.3984434993888,&quot;left&quot;:45.4,&quot;top&quot;:73.40155650061115,&quot;width&quot;:951.3288687899139}"/>
</p:tagLst>
</file>

<file path=ppt/tags/tag332.xml><?xml version="1.0" encoding="utf-8"?>
<p:tagLst xmlns:p="http://schemas.openxmlformats.org/presentationml/2006/main">
  <p:tag name="KSO_WM_DIAGRAM_VIRTUALLY_FRAME" val="{&quot;height&quot;:544.3984434993888,&quot;left&quot;:45.4,&quot;top&quot;:73.40155650061115,&quot;width&quot;:951.3288687899139}"/>
</p:tagLst>
</file>

<file path=ppt/tags/tag333.xml><?xml version="1.0" encoding="utf-8"?>
<p:tagLst xmlns:p="http://schemas.openxmlformats.org/presentationml/2006/main">
  <p:tag name="KSO_WM_DIAGRAM_VIRTUALLY_FRAME" val="{&quot;height&quot;:544.3984434993888,&quot;left&quot;:45.4,&quot;top&quot;:73.40155650061115,&quot;width&quot;:951.3288687899139}"/>
</p:tagLst>
</file>

<file path=ppt/tags/tag334.xml><?xml version="1.0" encoding="utf-8"?>
<p:tagLst xmlns:p="http://schemas.openxmlformats.org/presentationml/2006/main">
  <p:tag name="KSO_WM_DIAGRAM_VIRTUALLY_FRAME" val="{&quot;height&quot;:544.3984434993888,&quot;left&quot;:45.4,&quot;top&quot;:73.40155650061115,&quot;width&quot;:951.3288687899139}"/>
</p:tagLst>
</file>

<file path=ppt/tags/tag335.xml><?xml version="1.0" encoding="utf-8"?>
<p:tagLst xmlns:p="http://schemas.openxmlformats.org/presentationml/2006/main">
  <p:tag name="KSO_WM_DIAGRAM_VIRTUALLY_FRAME" val="{&quot;height&quot;:544.3984434993888,&quot;left&quot;:45.4,&quot;top&quot;:73.40155650061115,&quot;width&quot;:951.3288687899139}"/>
</p:tagLst>
</file>

<file path=ppt/tags/tag336.xml><?xml version="1.0" encoding="utf-8"?>
<p:tagLst xmlns:p="http://schemas.openxmlformats.org/presentationml/2006/main">
  <p:tag name="KSO_WM_DIAGRAM_VIRTUALLY_FRAME" val="{&quot;height&quot;:544.3984434993888,&quot;left&quot;:45.4,&quot;top&quot;:73.40155650061115,&quot;width&quot;:951.3288687899139}"/>
</p:tagLst>
</file>

<file path=ppt/tags/tag337.xml><?xml version="1.0" encoding="utf-8"?>
<p:tagLst xmlns:p="http://schemas.openxmlformats.org/presentationml/2006/main">
  <p:tag name="KSO_WM_DIAGRAM_VIRTUALLY_FRAME" val="{&quot;height&quot;:544.3984434993888,&quot;left&quot;:45.4,&quot;top&quot;:73.40155650061115,&quot;width&quot;:951.3288687899139}"/>
</p:tagLst>
</file>

<file path=ppt/tags/tag338.xml><?xml version="1.0" encoding="utf-8"?>
<p:tagLst xmlns:p="http://schemas.openxmlformats.org/presentationml/2006/main">
  <p:tag name="KSO_WM_DIAGRAM_VIRTUALLY_FRAME" val="{&quot;height&quot;:544.3984434993888,&quot;left&quot;:45.4,&quot;top&quot;:73.40155650061115,&quot;width&quot;:951.3288687899139}"/>
</p:tagLst>
</file>

<file path=ppt/tags/tag339.xml><?xml version="1.0" encoding="utf-8"?>
<p:tagLst xmlns:p="http://schemas.openxmlformats.org/presentationml/2006/main">
  <p:tag name="KSO_WM_DIAGRAM_VIRTUALLY_FRAME" val="{&quot;height&quot;:544.3984434993888,&quot;left&quot;:45.4,&quot;top&quot;:73.40155650061115,&quot;width&quot;:951.3288687899139}"/>
</p:tagLst>
</file>

<file path=ppt/tags/tag340.xml><?xml version="1.0" encoding="utf-8"?>
<p:tagLst xmlns:p="http://schemas.openxmlformats.org/presentationml/2006/main">
  <p:tag name="KSO_WM_DIAGRAM_VIRTUALLY_FRAME" val="{&quot;height&quot;:544.3984434993888,&quot;left&quot;:45.4,&quot;top&quot;:73.40155650061115,&quot;width&quot;:951.3288687899139}"/>
</p:tagLst>
</file>

<file path=ppt/tags/tag341.xml><?xml version="1.0" encoding="utf-8"?>
<p:tagLst xmlns:p="http://schemas.openxmlformats.org/presentationml/2006/main">
  <p:tag name="KSO_WM_DIAGRAM_VIRTUALLY_FRAME" val="{&quot;height&quot;:544.3984434993888,&quot;left&quot;:45.4,&quot;top&quot;:73.40155650061115,&quot;width&quot;:951.3288687899139}"/>
</p:tagLst>
</file>

<file path=ppt/tags/tag342.xml><?xml version="1.0" encoding="utf-8"?>
<p:tagLst xmlns:p="http://schemas.openxmlformats.org/presentationml/2006/main">
  <p:tag name="KSO_WM_DIAGRAM_VIRTUALLY_FRAME" val="{&quot;height&quot;:544.3984434993888,&quot;left&quot;:45.4,&quot;top&quot;:73.40155650061115,&quot;width&quot;:951.3288687899139}"/>
</p:tagLst>
</file>

<file path=ppt/tags/tag343.xml><?xml version="1.0" encoding="utf-8"?>
<p:tagLst xmlns:p="http://schemas.openxmlformats.org/presentationml/2006/main">
  <p:tag name="KSO_WM_DIAGRAM_VIRTUALLY_FRAME" val="{&quot;height&quot;:544.3984434993888,&quot;left&quot;:45.4,&quot;top&quot;:73.40155650061115,&quot;width&quot;:951.3288687899139}"/>
</p:tagLst>
</file>

<file path=ppt/tags/tag344.xml><?xml version="1.0" encoding="utf-8"?>
<p:tagLst xmlns:p="http://schemas.openxmlformats.org/presentationml/2006/main">
  <p:tag name="KSO_WM_DIAGRAM_VIRTUALLY_FRAME" val="{&quot;height&quot;:544.3984434993888,&quot;left&quot;:45.4,&quot;top&quot;:73.40155650061115,&quot;width&quot;:951.3288687899139}"/>
</p:tagLst>
</file>

<file path=ppt/tags/tag345.xml><?xml version="1.0" encoding="utf-8"?>
<p:tagLst xmlns:p="http://schemas.openxmlformats.org/presentationml/2006/main">
  <p:tag name="KSO_WM_DIAGRAM_VIRTUALLY_FRAME" val="{&quot;height&quot;:544.3984434993888,&quot;left&quot;:45.4,&quot;top&quot;:73.40155650061115,&quot;width&quot;:951.3288687899139}"/>
</p:tagLst>
</file>

<file path=ppt/tags/tag346.xml><?xml version="1.0" encoding="utf-8"?>
<p:tagLst xmlns:p="http://schemas.openxmlformats.org/presentationml/2006/main">
  <p:tag name="KSO_WM_DIAGRAM_VIRTUALLY_FRAME" val="{&quot;height&quot;:544.3984434993888,&quot;left&quot;:45.4,&quot;top&quot;:73.40155650061115,&quot;width&quot;:951.3288687899139}"/>
</p:tagLst>
</file>

<file path=ppt/tags/tag347.xml><?xml version="1.0" encoding="utf-8"?>
<p:tagLst xmlns:p="http://schemas.openxmlformats.org/presentationml/2006/main">
  <p:tag name="KSO_WM_DIAGRAM_VIRTUALLY_FRAME" val="{&quot;height&quot;:544.3984434993888,&quot;left&quot;:45.4,&quot;top&quot;:73.40155650061115,&quot;width&quot;:951.3288687899139}"/>
</p:tagLst>
</file>

<file path=ppt/tags/tag348.xml><?xml version="1.0" encoding="utf-8"?>
<p:tagLst xmlns:p="http://schemas.openxmlformats.org/presentationml/2006/main">
  <p:tag name="KSO_WM_DIAGRAM_VIRTUALLY_FRAME" val="{&quot;height&quot;:544.3984434993888,&quot;left&quot;:45.4,&quot;top&quot;:73.40155650061115,&quot;width&quot;:951.3288687899139}"/>
</p:tagLst>
</file>

<file path=ppt/tags/tag349.xml><?xml version="1.0" encoding="utf-8"?>
<p:tagLst xmlns:p="http://schemas.openxmlformats.org/presentationml/2006/main">
  <p:tag name="KSO_WM_DIAGRAM_VIRTUALLY_FRAME" val="{&quot;height&quot;:544.3984434993888,&quot;left&quot;:45.4,&quot;top&quot;:73.40155650061115,&quot;width&quot;:951.3288687899139}"/>
</p:tagLst>
</file>

<file path=ppt/tags/tag350.xml><?xml version="1.0" encoding="utf-8"?>
<p:tagLst xmlns:p="http://schemas.openxmlformats.org/presentationml/2006/main">
  <p:tag name="KSO_WM_DIAGRAM_VIRTUALLY_FRAME" val="{&quot;height&quot;:544.3984434993888,&quot;left&quot;:45.4,&quot;top&quot;:73.40155650061115,&quot;width&quot;:951.3288687899139}"/>
</p:tagLst>
</file>

<file path=ppt/tags/tag351.xml><?xml version="1.0" encoding="utf-8"?>
<p:tagLst xmlns:p="http://schemas.openxmlformats.org/presentationml/2006/main">
  <p:tag name="KSO_WM_DIAGRAM_VIRTUALLY_FRAME" val="{&quot;height&quot;:544.3984434993888,&quot;left&quot;:45.4,&quot;top&quot;:73.40155650061115,&quot;width&quot;:951.3288687899139}"/>
</p:tagLst>
</file>

<file path=ppt/tags/tag352.xml><?xml version="1.0" encoding="utf-8"?>
<p:tagLst xmlns:p="http://schemas.openxmlformats.org/presentationml/2006/main">
  <p:tag name="KSO_WM_DIAGRAM_VIRTUALLY_FRAME" val="{&quot;height&quot;:544.3984434993888,&quot;left&quot;:45.4,&quot;top&quot;:73.40155650061115,&quot;width&quot;:951.3288687899139}"/>
</p:tagLst>
</file>

<file path=ppt/tags/tag353.xml><?xml version="1.0" encoding="utf-8"?>
<p:tagLst xmlns:p="http://schemas.openxmlformats.org/presentationml/2006/main">
  <p:tag name="KSO_WM_DIAGRAM_VIRTUALLY_FRAME" val="{&quot;height&quot;:544.3984434993888,&quot;left&quot;:45.4,&quot;top&quot;:73.40155650061115,&quot;width&quot;:951.3288687899139}"/>
</p:tagLst>
</file>

<file path=ppt/tags/tag354.xml><?xml version="1.0" encoding="utf-8"?>
<p:tagLst xmlns:p="http://schemas.openxmlformats.org/presentationml/2006/main">
  <p:tag name="KSO_WM_DIAGRAM_VIRTUALLY_FRAME" val="{&quot;height&quot;:544.3984434993888,&quot;left&quot;:45.4,&quot;top&quot;:73.40155650061115,&quot;width&quot;:951.3288687899139}"/>
</p:tagLst>
</file>

<file path=ppt/tags/tag355.xml><?xml version="1.0" encoding="utf-8"?>
<p:tagLst xmlns:p="http://schemas.openxmlformats.org/presentationml/2006/main">
  <p:tag name="KSO_WM_DIAGRAM_VIRTUALLY_FRAME" val="{&quot;height&quot;:544.3984434993888,&quot;left&quot;:45.4,&quot;top&quot;:73.40155650061115,&quot;width&quot;:951.3288687899139}"/>
</p:tagLst>
</file>

<file path=ppt/tags/tag356.xml><?xml version="1.0" encoding="utf-8"?>
<p:tagLst xmlns:p="http://schemas.openxmlformats.org/presentationml/2006/main">
  <p:tag name="KSO_WM_DIAGRAM_VIRTUALLY_FRAME" val="{&quot;height&quot;:544.3984434993888,&quot;left&quot;:45.4,&quot;top&quot;:73.40155650061115,&quot;width&quot;:951.3288687899139}"/>
</p:tagLst>
</file>

<file path=ppt/tags/tag357.xml><?xml version="1.0" encoding="utf-8"?>
<p:tagLst xmlns:p="http://schemas.openxmlformats.org/presentationml/2006/main">
  <p:tag name="KSO_WM_DIAGRAM_VIRTUALLY_FRAME" val="{&quot;height&quot;:544.3984434993888,&quot;left&quot;:45.4,&quot;top&quot;:73.40155650061115,&quot;width&quot;:951.3288687899139}"/>
</p:tagLst>
</file>

<file path=ppt/tags/tag358.xml><?xml version="1.0" encoding="utf-8"?>
<p:tagLst xmlns:p="http://schemas.openxmlformats.org/presentationml/2006/main">
  <p:tag name="KSO_WM_DIAGRAM_VIRTUALLY_FRAME" val="{&quot;height&quot;:544.3984434993888,&quot;left&quot;:45.4,&quot;top&quot;:73.40155650061115,&quot;width&quot;:951.3288687899139}"/>
</p:tagLst>
</file>

<file path=ppt/tags/tag359.xml><?xml version="1.0" encoding="utf-8"?>
<p:tagLst xmlns:p="http://schemas.openxmlformats.org/presentationml/2006/main">
  <p:tag name="KSO_WM_DIAGRAM_VIRTUALLY_FRAME" val="{&quot;height&quot;:544.3984434993888,&quot;left&quot;:45.4,&quot;top&quot;:73.40155650061115,&quot;width&quot;:951.3288687899139}"/>
</p:tagLst>
</file>

<file path=ppt/tags/tag360.xml><?xml version="1.0" encoding="utf-8"?>
<p:tagLst xmlns:p="http://schemas.openxmlformats.org/presentationml/2006/main">
  <p:tag name="KSO_WM_DIAGRAM_VIRTUALLY_FRAME" val="{&quot;height&quot;:544.3984434993888,&quot;left&quot;:45.4,&quot;top&quot;:73.40155650061115,&quot;width&quot;:951.3288687899139}"/>
</p:tagLst>
</file>

<file path=ppt/tags/tag361.xml><?xml version="1.0" encoding="utf-8"?>
<p:tagLst xmlns:p="http://schemas.openxmlformats.org/presentationml/2006/main">
  <p:tag name="KSO_WM_DIAGRAM_VIRTUALLY_FRAME" val="{&quot;height&quot;:544.3984434993888,&quot;left&quot;:45.4,&quot;top&quot;:73.40155650061115,&quot;width&quot;:951.3288687899139}"/>
</p:tagLst>
</file>

<file path=ppt/tags/tag362.xml><?xml version="1.0" encoding="utf-8"?>
<p:tagLst xmlns:p="http://schemas.openxmlformats.org/presentationml/2006/main">
  <p:tag name="KSO_WM_DIAGRAM_VIRTUALLY_FRAME" val="{&quot;height&quot;:544.3984434993888,&quot;left&quot;:45.4,&quot;top&quot;:73.40155650061115,&quot;width&quot;:951.3288687899139}"/>
</p:tagLst>
</file>

<file path=ppt/tags/tag363.xml><?xml version="1.0" encoding="utf-8"?>
<p:tagLst xmlns:p="http://schemas.openxmlformats.org/presentationml/2006/main">
  <p:tag name="KSO_WM_DIAGRAM_VIRTUALLY_FRAME" val="{&quot;height&quot;:544.3984434993888,&quot;left&quot;:45.4,&quot;top&quot;:73.40155650061115,&quot;width&quot;:951.3288687899139}"/>
</p:tagLst>
</file>

<file path=ppt/tags/tag364.xml><?xml version="1.0" encoding="utf-8"?>
<p:tagLst xmlns:p="http://schemas.openxmlformats.org/presentationml/2006/main">
  <p:tag name="KSO_WM_DIAGRAM_VIRTUALLY_FRAME" val="{&quot;height&quot;:544.3984434993888,&quot;left&quot;:45.4,&quot;top&quot;:73.40155650061115,&quot;width&quot;:951.3288687899139}"/>
</p:tagLst>
</file>

<file path=ppt/tags/tag365.xml><?xml version="1.0" encoding="utf-8"?>
<p:tagLst xmlns:p="http://schemas.openxmlformats.org/presentationml/2006/main">
  <p:tag name="KSO_WM_DIAGRAM_VIRTUALLY_FRAME" val="{&quot;height&quot;:544.3984434993888,&quot;left&quot;:45.4,&quot;top&quot;:73.40155650061115,&quot;width&quot;:951.3288687899139}"/>
</p:tagLst>
</file>

<file path=ppt/tags/tag366.xml><?xml version="1.0" encoding="utf-8"?>
<p:tagLst xmlns:p="http://schemas.openxmlformats.org/presentationml/2006/main">
  <p:tag name="KSO_WM_DIAGRAM_VIRTUALLY_FRAME" val="{&quot;height&quot;:544.3984434993888,&quot;left&quot;:45.4,&quot;top&quot;:73.40155650061115,&quot;width&quot;:951.3288687899139}"/>
</p:tagLst>
</file>

<file path=ppt/tags/tag367.xml><?xml version="1.0" encoding="utf-8"?>
<p:tagLst xmlns:p="http://schemas.openxmlformats.org/presentationml/2006/main">
  <p:tag name="KSO_WM_DIAGRAM_VIRTUALLY_FRAME" val="{&quot;height&quot;:544.3984434993888,&quot;left&quot;:45.4,&quot;top&quot;:73.40155650061115,&quot;width&quot;:951.3288687899139}"/>
</p:tagLst>
</file>

<file path=ppt/tags/tag368.xml><?xml version="1.0" encoding="utf-8"?>
<p:tagLst xmlns:p="http://schemas.openxmlformats.org/presentationml/2006/main">
  <p:tag name="KSO_WM_DIAGRAM_VIRTUALLY_FRAME" val="{&quot;height&quot;:544.3984434993888,&quot;left&quot;:45.4,&quot;top&quot;:73.40155650061115,&quot;width&quot;:951.3288687899139}"/>
</p:tagLst>
</file>

<file path=ppt/tags/tag369.xml><?xml version="1.0" encoding="utf-8"?>
<p:tagLst xmlns:p="http://schemas.openxmlformats.org/presentationml/2006/main">
  <p:tag name="KSO_WM_DIAGRAM_VIRTUALLY_FRAME" val="{&quot;height&quot;:544.3984434993888,&quot;left&quot;:45.4,&quot;top&quot;:73.40155650061115,&quot;width&quot;:951.3288687899139}"/>
</p:tagLst>
</file>

<file path=ppt/tags/tag370.xml><?xml version="1.0" encoding="utf-8"?>
<p:tagLst xmlns:p="http://schemas.openxmlformats.org/presentationml/2006/main">
  <p:tag name="KSO_WM_DIAGRAM_VIRTUALLY_FRAME" val="{&quot;height&quot;:544.3984434993888,&quot;left&quot;:45.4,&quot;top&quot;:73.40155650061115,&quot;width&quot;:951.3288687899139}"/>
</p:tagLst>
</file>

<file path=ppt/tags/tag371.xml><?xml version="1.0" encoding="utf-8"?>
<p:tagLst xmlns:p="http://schemas.openxmlformats.org/presentationml/2006/main">
  <p:tag name="KSO_WM_DIAGRAM_VIRTUALLY_FRAME" val="{&quot;height&quot;:544.3984434993888,&quot;left&quot;:45.4,&quot;top&quot;:73.40155650061115,&quot;width&quot;:951.3288687899139}"/>
</p:tagLst>
</file>

<file path=ppt/tags/tag372.xml><?xml version="1.0" encoding="utf-8"?>
<p:tagLst xmlns:p="http://schemas.openxmlformats.org/presentationml/2006/main">
  <p:tag name="KSO_WM_DIAGRAM_VIRTUALLY_FRAME" val="{&quot;height&quot;:544.3984434993888,&quot;left&quot;:45.4,&quot;top&quot;:73.40155650061115,&quot;width&quot;:951.3288687899139}"/>
</p:tagLst>
</file>

<file path=ppt/tags/tag373.xml><?xml version="1.0" encoding="utf-8"?>
<p:tagLst xmlns:p="http://schemas.openxmlformats.org/presentationml/2006/main">
  <p:tag name="KSO_WM_DIAGRAM_VIRTUALLY_FRAME" val="{&quot;height&quot;:544.3984434993888,&quot;left&quot;:45.4,&quot;top&quot;:73.40155650061115,&quot;width&quot;:951.3288687899139}"/>
</p:tagLst>
</file>

<file path=ppt/tags/tag374.xml><?xml version="1.0" encoding="utf-8"?>
<p:tagLst xmlns:p="http://schemas.openxmlformats.org/presentationml/2006/main">
  <p:tag name="KSO_WM_DIAGRAM_VIRTUALLY_FRAME" val="{&quot;height&quot;:544.3984434993888,&quot;left&quot;:45.4,&quot;top&quot;:73.40155650061115,&quot;width&quot;:951.3288687899139}"/>
</p:tagLst>
</file>

<file path=ppt/tags/tag375.xml><?xml version="1.0" encoding="utf-8"?>
<p:tagLst xmlns:p="http://schemas.openxmlformats.org/presentationml/2006/main">
  <p:tag name="KSO_WM_DIAGRAM_VIRTUALLY_FRAME" val="{&quot;height&quot;:544.3984434993888,&quot;left&quot;:45.4,&quot;top&quot;:73.40155650061115,&quot;width&quot;:951.3288687899139}"/>
</p:tagLst>
</file>

<file path=ppt/tags/tag376.xml><?xml version="1.0" encoding="utf-8"?>
<p:tagLst xmlns:p="http://schemas.openxmlformats.org/presentationml/2006/main">
  <p:tag name="KSO_WM_DIAGRAM_VIRTUALLY_FRAME" val="{&quot;height&quot;:544.3984434993888,&quot;left&quot;:45.4,&quot;top&quot;:73.40155650061115,&quot;width&quot;:951.3288687899139}"/>
</p:tagLst>
</file>

<file path=ppt/tags/tag377.xml><?xml version="1.0" encoding="utf-8"?>
<p:tagLst xmlns:p="http://schemas.openxmlformats.org/presentationml/2006/main">
  <p:tag name="KSO_WM_DIAGRAM_VIRTUALLY_FRAME" val="{&quot;height&quot;:544.3984434993888,&quot;left&quot;:45.4,&quot;top&quot;:73.40155650061115,&quot;width&quot;:951.3288687899139}"/>
</p:tagLst>
</file>

<file path=ppt/tags/tag378.xml><?xml version="1.0" encoding="utf-8"?>
<p:tagLst xmlns:p="http://schemas.openxmlformats.org/presentationml/2006/main">
  <p:tag name="KSO_WM_DIAGRAM_VIRTUALLY_FRAME" val="{&quot;height&quot;:544.3984434993888,&quot;left&quot;:45.4,&quot;top&quot;:73.40155650061115,&quot;width&quot;:951.3288687899139}"/>
</p:tagLst>
</file>

<file path=ppt/tags/tag379.xml><?xml version="1.0" encoding="utf-8"?>
<p:tagLst xmlns:p="http://schemas.openxmlformats.org/presentationml/2006/main">
  <p:tag name="KSO_WM_DIAGRAM_VIRTUALLY_FRAME" val="{&quot;height&quot;:544.3984434993888,&quot;left&quot;:45.4,&quot;top&quot;:73.40155650061115,&quot;width&quot;:951.3288687899139}"/>
</p:tagLst>
</file>

<file path=ppt/tags/tag380.xml><?xml version="1.0" encoding="utf-8"?>
<p:tagLst xmlns:p="http://schemas.openxmlformats.org/presentationml/2006/main">
  <p:tag name="KSO_WM_DIAGRAM_VIRTUALLY_FRAME" val="{&quot;height&quot;:544.3984434993888,&quot;left&quot;:45.4,&quot;top&quot;:73.40155650061115,&quot;width&quot;:951.3288687899139}"/>
</p:tagLst>
</file>

<file path=ppt/tags/tag381.xml><?xml version="1.0" encoding="utf-8"?>
<p:tagLst xmlns:p="http://schemas.openxmlformats.org/presentationml/2006/main">
  <p:tag name="KSO_WM_DIAGRAM_VIRTUALLY_FRAME" val="{&quot;height&quot;:544.3984434993888,&quot;left&quot;:45.4,&quot;top&quot;:73.40155650061115,&quot;width&quot;:951.3288687899139}"/>
</p:tagLst>
</file>

<file path=ppt/tags/tag382.xml><?xml version="1.0" encoding="utf-8"?>
<p:tagLst xmlns:p="http://schemas.openxmlformats.org/presentationml/2006/main">
  <p:tag name="KSO_WM_DIAGRAM_VIRTUALLY_FRAME" val="{&quot;height&quot;:544.3984434993888,&quot;left&quot;:45.4,&quot;top&quot;:73.40155650061115,&quot;width&quot;:951.3288687899139}"/>
</p:tagLst>
</file>

<file path=ppt/tags/tag383.xml><?xml version="1.0" encoding="utf-8"?>
<p:tagLst xmlns:p="http://schemas.openxmlformats.org/presentationml/2006/main">
  <p:tag name="KSO_WM_DIAGRAM_VIRTUALLY_FRAME" val="{&quot;height&quot;:544.3984434993888,&quot;left&quot;:45.4,&quot;top&quot;:73.40155650061115,&quot;width&quot;:951.3288687899139}"/>
</p:tagLst>
</file>

<file path=ppt/tags/tag384.xml><?xml version="1.0" encoding="utf-8"?>
<p:tagLst xmlns:p="http://schemas.openxmlformats.org/presentationml/2006/main">
  <p:tag name="KSO_WM_DIAGRAM_VIRTUALLY_FRAME" val="{&quot;height&quot;:544.3984434993888,&quot;left&quot;:45.4,&quot;top&quot;:73.40155650061115,&quot;width&quot;:951.3288687899139}"/>
</p:tagLst>
</file>

<file path=ppt/tags/tag385.xml><?xml version="1.0" encoding="utf-8"?>
<p:tagLst xmlns:p="http://schemas.openxmlformats.org/presentationml/2006/main">
  <p:tag name="KSO_WM_DIAGRAM_VIRTUALLY_FRAME" val="{&quot;height&quot;:544.3984434993888,&quot;left&quot;:45.4,&quot;top&quot;:73.40155650061115,&quot;width&quot;:951.3288687899139}"/>
</p:tagLst>
</file>

<file path=ppt/tags/tag386.xml><?xml version="1.0" encoding="utf-8"?>
<p:tagLst xmlns:p="http://schemas.openxmlformats.org/presentationml/2006/main">
  <p:tag name="KSO_WM_DIAGRAM_VIRTUALLY_FRAME" val="{&quot;height&quot;:544.3984434993888,&quot;left&quot;:45.4,&quot;top&quot;:73.40155650061115,&quot;width&quot;:951.3288687899139}"/>
</p:tagLst>
</file>

<file path=ppt/tags/tag387.xml><?xml version="1.0" encoding="utf-8"?>
<p:tagLst xmlns:p="http://schemas.openxmlformats.org/presentationml/2006/main">
  <p:tag name="KSO_WM_DIAGRAM_VIRTUALLY_FRAME" val="{&quot;height&quot;:544.3984434993888,&quot;left&quot;:45.4,&quot;top&quot;:73.40155650061115,&quot;width&quot;:951.3288687899139}"/>
</p:tagLst>
</file>

<file path=ppt/tags/tag388.xml><?xml version="1.0" encoding="utf-8"?>
<p:tagLst xmlns:p="http://schemas.openxmlformats.org/presentationml/2006/main">
  <p:tag name="KSO_WM_DIAGRAM_VIRTUALLY_FRAME" val="{&quot;height&quot;:544.3984434993888,&quot;left&quot;:45.4,&quot;top&quot;:73.40155650061115,&quot;width&quot;:951.3288687899139}"/>
</p:tagLst>
</file>

<file path=ppt/tags/tag389.xml><?xml version="1.0" encoding="utf-8"?>
<p:tagLst xmlns:p="http://schemas.openxmlformats.org/presentationml/2006/main">
  <p:tag name="KSO_WM_DIAGRAM_VIRTUALLY_FRAME" val="{&quot;height&quot;:544.3984434993888,&quot;left&quot;:45.4,&quot;top&quot;:73.40155650061115,&quot;width&quot;:951.3288687899139}"/>
</p:tagLst>
</file>

<file path=ppt/tags/tag390.xml><?xml version="1.0" encoding="utf-8"?>
<p:tagLst xmlns:p="http://schemas.openxmlformats.org/presentationml/2006/main">
  <p:tag name="KSO_WM_DIAGRAM_VIRTUALLY_FRAME" val="{&quot;height&quot;:544.3984434993888,&quot;left&quot;:45.4,&quot;top&quot;:73.40155650061115,&quot;width&quot;:951.3288687899139}"/>
</p:tagLst>
</file>

<file path=ppt/tags/tag391.xml><?xml version="1.0" encoding="utf-8"?>
<p:tagLst xmlns:p="http://schemas.openxmlformats.org/presentationml/2006/main">
  <p:tag name="KSO_WM_DIAGRAM_VIRTUALLY_FRAME" val="{&quot;height&quot;:544.3984434993888,&quot;left&quot;:45.4,&quot;top&quot;:73.40155650061115,&quot;width&quot;:951.3288687899139}"/>
</p:tagLst>
</file>

<file path=ppt/tags/tag392.xml><?xml version="1.0" encoding="utf-8"?>
<p:tagLst xmlns:p="http://schemas.openxmlformats.org/presentationml/2006/main">
  <p:tag name="KSO_WM_DIAGRAM_VIRTUALLY_FRAME" val="{&quot;height&quot;:544.3984434993888,&quot;left&quot;:45.4,&quot;top&quot;:73.40155650061115,&quot;width&quot;:951.3288687899139}"/>
</p:tagLst>
</file>

<file path=ppt/tags/tag393.xml><?xml version="1.0" encoding="utf-8"?>
<p:tagLst xmlns:p="http://schemas.openxmlformats.org/presentationml/2006/main">
  <p:tag name="KSO_WM_DIAGRAM_VIRTUALLY_FRAME" val="{&quot;height&quot;:544.3984434993888,&quot;left&quot;:45.4,&quot;top&quot;:73.40155650061115,&quot;width&quot;:951.3288687899139}"/>
</p:tagLst>
</file>

<file path=ppt/tags/tag394.xml><?xml version="1.0" encoding="utf-8"?>
<p:tagLst xmlns:p="http://schemas.openxmlformats.org/presentationml/2006/main">
  <p:tag name="KSO_WM_DIAGRAM_VIRTUALLY_FRAME" val="{&quot;height&quot;:544.3984434993888,&quot;left&quot;:45.4,&quot;top&quot;:73.40155650061115,&quot;width&quot;:951.3288687899139}"/>
</p:tagLst>
</file>

<file path=ppt/tags/tag395.xml><?xml version="1.0" encoding="utf-8"?>
<p:tagLst xmlns:p="http://schemas.openxmlformats.org/presentationml/2006/main">
  <p:tag name="KSO_WM_DIAGRAM_VIRTUALLY_FRAME" val="{&quot;height&quot;:544.3984434993888,&quot;left&quot;:45.4,&quot;top&quot;:73.40155650061115,&quot;width&quot;:951.3288687899139}"/>
</p:tagLst>
</file>

<file path=ppt/tags/tag396.xml><?xml version="1.0" encoding="utf-8"?>
<p:tagLst xmlns:p="http://schemas.openxmlformats.org/presentationml/2006/main">
  <p:tag name="KSO_WM_DIAGRAM_VIRTUALLY_FRAME" val="{&quot;height&quot;:544.3984434993888,&quot;left&quot;:45.4,&quot;top&quot;:73.40155650061115,&quot;width&quot;:951.3288687899139}"/>
</p:tagLst>
</file>

<file path=ppt/tags/tag397.xml><?xml version="1.0" encoding="utf-8"?>
<p:tagLst xmlns:p="http://schemas.openxmlformats.org/presentationml/2006/main">
  <p:tag name="KSO_WM_DIAGRAM_VIRTUALLY_FRAME" val="{&quot;height&quot;:544.3984434993888,&quot;left&quot;:45.4,&quot;top&quot;:73.40155650061115,&quot;width&quot;:951.3288687899139}"/>
</p:tagLst>
</file>

<file path=ppt/tags/tag398.xml><?xml version="1.0" encoding="utf-8"?>
<p:tagLst xmlns:p="http://schemas.openxmlformats.org/presentationml/2006/main">
  <p:tag name="KSO_WM_DIAGRAM_VIRTUALLY_FRAME" val="{&quot;height&quot;:544.3984434993888,&quot;left&quot;:45.4,&quot;top&quot;:73.40155650061115,&quot;width&quot;:951.3288687899139}"/>
</p:tagLst>
</file>

<file path=ppt/tags/tag399.xml><?xml version="1.0" encoding="utf-8"?>
<p:tagLst xmlns:p="http://schemas.openxmlformats.org/presentationml/2006/main">
  <p:tag name="KSO_WM_DIAGRAM_VIRTUALLY_FRAME" val="{&quot;height&quot;:544.3984434993888,&quot;left&quot;:45.4,&quot;top&quot;:73.40155650061115,&quot;width&quot;:951.3288687899139}"/>
</p:tagLst>
</file>

<file path=ppt/tags/tag400.xml><?xml version="1.0" encoding="utf-8"?>
<p:tagLst xmlns:p="http://schemas.openxmlformats.org/presentationml/2006/main">
  <p:tag name="KSO_WM_DIAGRAM_VIRTUALLY_FRAME" val="{&quot;height&quot;:544.3984434993888,&quot;left&quot;:45.4,&quot;top&quot;:73.40155650061115,&quot;width&quot;:951.3288687899139}"/>
</p:tagLst>
</file>

<file path=ppt/tags/tag401.xml><?xml version="1.0" encoding="utf-8"?>
<p:tagLst xmlns:p="http://schemas.openxmlformats.org/presentationml/2006/main">
  <p:tag name="KSO_WM_DIAGRAM_VIRTUALLY_FRAME" val="{&quot;height&quot;:544.3984434993888,&quot;left&quot;:45.4,&quot;top&quot;:73.40155650061115,&quot;width&quot;:951.3288687899139}"/>
</p:tagLst>
</file>

<file path=ppt/tags/tag402.xml><?xml version="1.0" encoding="utf-8"?>
<p:tagLst xmlns:p="http://schemas.openxmlformats.org/presentationml/2006/main">
  <p:tag name="KSO_WM_DIAGRAM_VIRTUALLY_FRAME" val="{&quot;height&quot;:544.3984434993888,&quot;left&quot;:45.4,&quot;top&quot;:73.40155650061115,&quot;width&quot;:951.3288687899139}"/>
</p:tagLst>
</file>

<file path=ppt/tags/tag403.xml><?xml version="1.0" encoding="utf-8"?>
<p:tagLst xmlns:p="http://schemas.openxmlformats.org/presentationml/2006/main">
  <p:tag name="KSO_WM_DIAGRAM_VIRTUALLY_FRAME" val="{&quot;height&quot;:544.3984434993888,&quot;left&quot;:45.4,&quot;top&quot;:73.40155650061115,&quot;width&quot;:951.3288687899139}"/>
</p:tagLst>
</file>

<file path=ppt/tags/tag404.xml><?xml version="1.0" encoding="utf-8"?>
<p:tagLst xmlns:p="http://schemas.openxmlformats.org/presentationml/2006/main">
  <p:tag name="KSO_WM_DIAGRAM_VIRTUALLY_FRAME" val="{&quot;height&quot;:544.3984434993888,&quot;left&quot;:45.4,&quot;top&quot;:73.40155650061115,&quot;width&quot;:951.3288687899139}"/>
</p:tagLst>
</file>

<file path=ppt/tags/tag405.xml><?xml version="1.0" encoding="utf-8"?>
<p:tagLst xmlns:p="http://schemas.openxmlformats.org/presentationml/2006/main">
  <p:tag name="KSO_WM_DIAGRAM_VIRTUALLY_FRAME" val="{&quot;height&quot;:544.3984434993888,&quot;left&quot;:45.4,&quot;top&quot;:73.40155650061115,&quot;width&quot;:951.3288687899139}"/>
</p:tagLst>
</file>

<file path=ppt/tags/tag406.xml><?xml version="1.0" encoding="utf-8"?>
<p:tagLst xmlns:p="http://schemas.openxmlformats.org/presentationml/2006/main">
  <p:tag name="KSO_WM_DIAGRAM_VIRTUALLY_FRAME" val="{&quot;height&quot;:544.3984434993888,&quot;left&quot;:45.4,&quot;top&quot;:73.40155650061115,&quot;width&quot;:951.3288687899139}"/>
</p:tagLst>
</file>

<file path=ppt/tags/tag407.xml><?xml version="1.0" encoding="utf-8"?>
<p:tagLst xmlns:p="http://schemas.openxmlformats.org/presentationml/2006/main">
  <p:tag name="KSO_WM_DIAGRAM_VIRTUALLY_FRAME" val="{&quot;height&quot;:544.3984434993888,&quot;left&quot;:45.4,&quot;top&quot;:73.40155650061115,&quot;width&quot;:951.3288687899139}"/>
</p:tagLst>
</file>

<file path=ppt/tags/tag408.xml><?xml version="1.0" encoding="utf-8"?>
<p:tagLst xmlns:p="http://schemas.openxmlformats.org/presentationml/2006/main">
  <p:tag name="KSO_WM_DIAGRAM_VIRTUALLY_FRAME" val="{&quot;height&quot;:544.3984434993888,&quot;left&quot;:45.4,&quot;top&quot;:73.40155650061115,&quot;width&quot;:951.3288687899139}"/>
</p:tagLst>
</file>

<file path=ppt/tags/tag409.xml><?xml version="1.0" encoding="utf-8"?>
<p:tagLst xmlns:p="http://schemas.openxmlformats.org/presentationml/2006/main">
  <p:tag name="KSO_WM_DIAGRAM_VIRTUALLY_FRAME" val="{&quot;height&quot;:491.65,&quot;left&quot;:29.465905511811023,&quot;top&quot;:81.55,&quot;width&quot;:957.2840944881889}"/>
</p:tagLst>
</file>

<file path=ppt/tags/tag410.xml><?xml version="1.0" encoding="utf-8"?>
<p:tagLst xmlns:p="http://schemas.openxmlformats.org/presentationml/2006/main">
  <p:tag name="KSO_WM_DIAGRAM_VIRTUALLY_FRAME" val="{&quot;height&quot;:491.65,&quot;left&quot;:29.465905511811023,&quot;top&quot;:81.55,&quot;width&quot;:957.2840944881889}"/>
</p:tagLst>
</file>

<file path=ppt/tags/tag411.xml><?xml version="1.0" encoding="utf-8"?>
<p:tagLst xmlns:p="http://schemas.openxmlformats.org/presentationml/2006/main">
  <p:tag name="KSO_WM_DIAGRAM_VIRTUALLY_FRAME" val="{&quot;height&quot;:491.65,&quot;left&quot;:29.465905511811023,&quot;top&quot;:81.55,&quot;width&quot;:957.2840944881889}"/>
</p:tagLst>
</file>

<file path=ppt/tags/tag412.xml><?xml version="1.0" encoding="utf-8"?>
<p:tagLst xmlns:p="http://schemas.openxmlformats.org/presentationml/2006/main">
  <p:tag name="KSO_WM_DIAGRAM_VIRTUALLY_FRAME" val="{&quot;height&quot;:491.65,&quot;left&quot;:29.465905511811023,&quot;top&quot;:81.55,&quot;width&quot;:957.2840944881889}"/>
</p:tagLst>
</file>

<file path=ppt/tags/tag413.xml><?xml version="1.0" encoding="utf-8"?>
<p:tagLst xmlns:p="http://schemas.openxmlformats.org/presentationml/2006/main">
  <p:tag name="KSO_WM_DIAGRAM_VIRTUALLY_FRAME" val="{&quot;height&quot;:491.65,&quot;left&quot;:29.465905511811023,&quot;top&quot;:81.55,&quot;width&quot;:957.2840944881889}"/>
</p:tagLst>
</file>

<file path=ppt/tags/tag414.xml><?xml version="1.0" encoding="utf-8"?>
<p:tagLst xmlns:p="http://schemas.openxmlformats.org/presentationml/2006/main">
  <p:tag name="KSO_WM_DIAGRAM_VIRTUALLY_FRAME" val="{&quot;height&quot;:491.65,&quot;left&quot;:29.465905511811023,&quot;top&quot;:81.55,&quot;width&quot;:957.2840944881889}"/>
</p:tagLst>
</file>

<file path=ppt/tags/tag415.xml><?xml version="1.0" encoding="utf-8"?>
<p:tagLst xmlns:p="http://schemas.openxmlformats.org/presentationml/2006/main">
  <p:tag name="KSO_WM_DIAGRAM_VIRTUALLY_FRAME" val="{&quot;height&quot;:491.65,&quot;left&quot;:29.465905511811023,&quot;top&quot;:81.55,&quot;width&quot;:957.2840944881889}"/>
</p:tagLst>
</file>

<file path=ppt/tags/tag416.xml><?xml version="1.0" encoding="utf-8"?>
<p:tagLst xmlns:p="http://schemas.openxmlformats.org/presentationml/2006/main">
  <p:tag name="KSO_WM_DIAGRAM_VIRTUALLY_FRAME" val="{&quot;height&quot;:491.65,&quot;left&quot;:29.465905511811023,&quot;top&quot;:81.55,&quot;width&quot;:957.2840944881889}"/>
</p:tagLst>
</file>

<file path=ppt/tags/tag417.xml><?xml version="1.0" encoding="utf-8"?>
<p:tagLst xmlns:p="http://schemas.openxmlformats.org/presentationml/2006/main">
  <p:tag name="KSO_WM_DIAGRAM_VIRTUALLY_FRAME" val="{&quot;height&quot;:491.65,&quot;left&quot;:29.465905511811023,&quot;top&quot;:81.55,&quot;width&quot;:957.2840944881889}"/>
</p:tagLst>
</file>

<file path=ppt/tags/tag418.xml><?xml version="1.0" encoding="utf-8"?>
<p:tagLst xmlns:p="http://schemas.openxmlformats.org/presentationml/2006/main">
  <p:tag name="KSO_WM_DIAGRAM_VIRTUALLY_FRAME" val="{&quot;height&quot;:491.65,&quot;left&quot;:29.465905511811023,&quot;top&quot;:81.55,&quot;width&quot;:957.2840944881889}"/>
</p:tagLst>
</file>

<file path=ppt/tags/tag419.xml><?xml version="1.0" encoding="utf-8"?>
<p:tagLst xmlns:p="http://schemas.openxmlformats.org/presentationml/2006/main">
  <p:tag name="KSO_WM_DIAGRAM_VIRTUALLY_FRAME" val="{&quot;height&quot;:491.65,&quot;left&quot;:29.465905511811023,&quot;top&quot;:81.55,&quot;width&quot;:957.2840944881889}"/>
</p:tagLst>
</file>

<file path=ppt/tags/tag420.xml><?xml version="1.0" encoding="utf-8"?>
<p:tagLst xmlns:p="http://schemas.openxmlformats.org/presentationml/2006/main">
  <p:tag name="KSO_WM_DIAGRAM_VIRTUALLY_FRAME" val="{&quot;height&quot;:491.65,&quot;left&quot;:29.465905511811023,&quot;top&quot;:81.55,&quot;width&quot;:957.2840944881889}"/>
</p:tagLst>
</file>

<file path=ppt/tags/tag421.xml><?xml version="1.0" encoding="utf-8"?>
<p:tagLst xmlns:p="http://schemas.openxmlformats.org/presentationml/2006/main">
  <p:tag name="KSO_WM_DIAGRAM_VIRTUALLY_FRAME" val="{&quot;height&quot;:491.65,&quot;left&quot;:29.465905511811023,&quot;top&quot;:81.55,&quot;width&quot;:957.2840944881889}"/>
</p:tagLst>
</file>

<file path=ppt/tags/tag422.xml><?xml version="1.0" encoding="utf-8"?>
<p:tagLst xmlns:p="http://schemas.openxmlformats.org/presentationml/2006/main">
  <p:tag name="KSO_WM_DIAGRAM_VIRTUALLY_FRAME" val="{&quot;height&quot;:491.65,&quot;left&quot;:29.465905511811023,&quot;top&quot;:81.55,&quot;width&quot;:957.2840944881889}"/>
</p:tagLst>
</file>

<file path=ppt/tags/tag423.xml><?xml version="1.0" encoding="utf-8"?>
<p:tagLst xmlns:p="http://schemas.openxmlformats.org/presentationml/2006/main">
  <p:tag name="KSO_WM_DIAGRAM_VIRTUALLY_FRAME" val="{&quot;height&quot;:491.65,&quot;left&quot;:29.465905511811023,&quot;top&quot;:81.55,&quot;width&quot;:957.2840944881889}"/>
</p:tagLst>
</file>

<file path=ppt/tags/tag424.xml><?xml version="1.0" encoding="utf-8"?>
<p:tagLst xmlns:p="http://schemas.openxmlformats.org/presentationml/2006/main">
  <p:tag name="KSO_WM_DIAGRAM_VIRTUALLY_FRAME" val="{&quot;height&quot;:491.65,&quot;left&quot;:29.465905511811023,&quot;top&quot;:81.55,&quot;width&quot;:957.2840944881889}"/>
</p:tagLst>
</file>

<file path=ppt/tags/tag425.xml><?xml version="1.0" encoding="utf-8"?>
<p:tagLst xmlns:p="http://schemas.openxmlformats.org/presentationml/2006/main">
  <p:tag name="KSO_WM_DIAGRAM_VIRTUALLY_FRAME" val="{&quot;height&quot;:491.65,&quot;left&quot;:29.465905511811023,&quot;top&quot;:81.55,&quot;width&quot;:957.2840944881889}"/>
</p:tagLst>
</file>

<file path=ppt/tags/tag426.xml><?xml version="1.0" encoding="utf-8"?>
<p:tagLst xmlns:p="http://schemas.openxmlformats.org/presentationml/2006/main">
  <p:tag name="KSO_WM_DIAGRAM_VIRTUALLY_FRAME" val="{&quot;height&quot;:491.65,&quot;left&quot;:29.465905511811023,&quot;top&quot;:81.55,&quot;width&quot;:957.2840944881889}"/>
</p:tagLst>
</file>

<file path=ppt/tags/tag427.xml><?xml version="1.0" encoding="utf-8"?>
<p:tagLst xmlns:p="http://schemas.openxmlformats.org/presentationml/2006/main">
  <p:tag name="KSO_WM_DIAGRAM_VIRTUALLY_FRAME" val="{&quot;height&quot;:491.65,&quot;left&quot;:29.465905511811023,&quot;top&quot;:81.55,&quot;width&quot;:957.2840944881889}"/>
</p:tagLst>
</file>

<file path=ppt/tags/tag428.xml><?xml version="1.0" encoding="utf-8"?>
<p:tagLst xmlns:p="http://schemas.openxmlformats.org/presentationml/2006/main">
  <p:tag name="KSO_WM_DIAGRAM_VIRTUALLY_FRAME" val="{&quot;height&quot;:491.65,&quot;left&quot;:29.465905511811023,&quot;top&quot;:81.55,&quot;width&quot;:957.2840944881889}"/>
</p:tagLst>
</file>

<file path=ppt/tags/tag429.xml><?xml version="1.0" encoding="utf-8"?>
<p:tagLst xmlns:p="http://schemas.openxmlformats.org/presentationml/2006/main">
  <p:tag name="KSO_WM_DIAGRAM_VIRTUALLY_FRAME" val="{&quot;height&quot;:491.65,&quot;left&quot;:29.465905511811023,&quot;top&quot;:81.55,&quot;width&quot;:957.2840944881889}"/>
</p:tagLst>
</file>

<file path=ppt/tags/tag430.xml><?xml version="1.0" encoding="utf-8"?>
<p:tagLst xmlns:p="http://schemas.openxmlformats.org/presentationml/2006/main">
  <p:tag name="KSO_WM_DIAGRAM_VIRTUALLY_FRAME" val="{&quot;height&quot;:491.65,&quot;left&quot;:29.465905511811023,&quot;top&quot;:81.55,&quot;width&quot;:957.2840944881889}"/>
</p:tagLst>
</file>

<file path=ppt/tags/tag431.xml><?xml version="1.0" encoding="utf-8"?>
<p:tagLst xmlns:p="http://schemas.openxmlformats.org/presentationml/2006/main">
  <p:tag name="KSO_WM_DIAGRAM_VIRTUALLY_FRAME" val="{&quot;height&quot;:491.65,&quot;left&quot;:29.465905511811023,&quot;top&quot;:81.55,&quot;width&quot;:957.2840944881889}"/>
</p:tagLst>
</file>

<file path=ppt/tags/tag432.xml><?xml version="1.0" encoding="utf-8"?>
<p:tagLst xmlns:p="http://schemas.openxmlformats.org/presentationml/2006/main">
  <p:tag name="KSO_WM_DIAGRAM_VIRTUALLY_FRAME" val="{&quot;height&quot;:491.65,&quot;left&quot;:29.465905511811023,&quot;top&quot;:81.55,&quot;width&quot;:957.2840944881889}"/>
</p:tagLst>
</file>

<file path=ppt/tags/tag433.xml><?xml version="1.0" encoding="utf-8"?>
<p:tagLst xmlns:p="http://schemas.openxmlformats.org/presentationml/2006/main">
  <p:tag name="KSO_WM_DIAGRAM_VIRTUALLY_FRAME" val="{&quot;height&quot;:491.65,&quot;left&quot;:29.465905511811023,&quot;top&quot;:81.55,&quot;width&quot;:957.2840944881889}"/>
</p:tagLst>
</file>

<file path=ppt/tags/tag434.xml><?xml version="1.0" encoding="utf-8"?>
<p:tagLst xmlns:p="http://schemas.openxmlformats.org/presentationml/2006/main">
  <p:tag name="KSO_WM_DIAGRAM_VIRTUALLY_FRAME" val="{&quot;height&quot;:491.65,&quot;left&quot;:29.465905511811023,&quot;top&quot;:81.55,&quot;width&quot;:957.2840944881889}"/>
</p:tagLst>
</file>

<file path=ppt/tags/tag435.xml><?xml version="1.0" encoding="utf-8"?>
<p:tagLst xmlns:p="http://schemas.openxmlformats.org/presentationml/2006/main">
  <p:tag name="KSO_WM_DIAGRAM_VIRTUALLY_FRAME" val="{&quot;height&quot;:491.65,&quot;left&quot;:29.465905511811023,&quot;top&quot;:81.55,&quot;width&quot;:957.2840944881889}"/>
</p:tagLst>
</file>

<file path=ppt/tags/tag436.xml><?xml version="1.0" encoding="utf-8"?>
<p:tagLst xmlns:p="http://schemas.openxmlformats.org/presentationml/2006/main">
  <p:tag name="KSO_WM_DIAGRAM_VIRTUALLY_FRAME" val="{&quot;height&quot;:491.65,&quot;left&quot;:29.465905511811023,&quot;top&quot;:81.55,&quot;width&quot;:957.2840944881889}"/>
</p:tagLst>
</file>

<file path=ppt/tags/tag437.xml><?xml version="1.0" encoding="utf-8"?>
<p:tagLst xmlns:p="http://schemas.openxmlformats.org/presentationml/2006/main">
  <p:tag name="KSO_WM_DIAGRAM_VIRTUALLY_FRAME" val="{&quot;height&quot;:491.65,&quot;left&quot;:29.465905511811023,&quot;top&quot;:81.55,&quot;width&quot;:957.2840944881889}"/>
</p:tagLst>
</file>

<file path=ppt/tags/tag438.xml><?xml version="1.0" encoding="utf-8"?>
<p:tagLst xmlns:p="http://schemas.openxmlformats.org/presentationml/2006/main">
  <p:tag name="KSO_WM_DIAGRAM_VIRTUALLY_FRAME" val="{&quot;height&quot;:491.65,&quot;left&quot;:29.465905511811023,&quot;top&quot;:81.55,&quot;width&quot;:957.2840944881889}"/>
</p:tagLst>
</file>

<file path=ppt/tags/tag439.xml><?xml version="1.0" encoding="utf-8"?>
<p:tagLst xmlns:p="http://schemas.openxmlformats.org/presentationml/2006/main">
  <p:tag name="KSO_WM_DIAGRAM_VIRTUALLY_FRAME" val="{&quot;height&quot;:491.65,&quot;left&quot;:29.465905511811023,&quot;top&quot;:81.55,&quot;width&quot;:957.2840944881889}"/>
</p:tagLst>
</file>

<file path=ppt/tags/tag440.xml><?xml version="1.0" encoding="utf-8"?>
<p:tagLst xmlns:p="http://schemas.openxmlformats.org/presentationml/2006/main">
  <p:tag name="KSO_WM_DIAGRAM_VIRTUALLY_FRAME" val="{&quot;height&quot;:491.65,&quot;left&quot;:29.465905511811023,&quot;top&quot;:81.55,&quot;width&quot;:957.2840944881889}"/>
</p:tagLst>
</file>

<file path=ppt/tags/tag441.xml><?xml version="1.0" encoding="utf-8"?>
<p:tagLst xmlns:p="http://schemas.openxmlformats.org/presentationml/2006/main">
  <p:tag name="KSO_WM_DIAGRAM_VIRTUALLY_FRAME" val="{&quot;height&quot;:491.65,&quot;left&quot;:29.465905511811023,&quot;top&quot;:81.55,&quot;width&quot;:957.2840944881889}"/>
</p:tagLst>
</file>

<file path=ppt/tags/tag442.xml><?xml version="1.0" encoding="utf-8"?>
<p:tagLst xmlns:p="http://schemas.openxmlformats.org/presentationml/2006/main">
  <p:tag name="KSO_WM_DIAGRAM_VIRTUALLY_FRAME" val="{&quot;height&quot;:491.65,&quot;left&quot;:29.465905511811023,&quot;top&quot;:81.55,&quot;width&quot;:957.2840944881889}"/>
</p:tagLst>
</file>

<file path=ppt/tags/tag443.xml><?xml version="1.0" encoding="utf-8"?>
<p:tagLst xmlns:p="http://schemas.openxmlformats.org/presentationml/2006/main">
  <p:tag name="KSO_WM_DIAGRAM_VIRTUALLY_FRAME" val="{&quot;height&quot;:491.65,&quot;left&quot;:29.465905511811023,&quot;top&quot;:81.55,&quot;width&quot;:957.2840944881889}"/>
</p:tagLst>
</file>

<file path=ppt/tags/tag444.xml><?xml version="1.0" encoding="utf-8"?>
<p:tagLst xmlns:p="http://schemas.openxmlformats.org/presentationml/2006/main">
  <p:tag name="KSO_WM_DIAGRAM_VIRTUALLY_FRAME" val="{&quot;height&quot;:491.65,&quot;left&quot;:29.465905511811023,&quot;top&quot;:81.55,&quot;width&quot;:957.2840944881889}"/>
</p:tagLst>
</file>

<file path=ppt/tags/tag445.xml><?xml version="1.0" encoding="utf-8"?>
<p:tagLst xmlns:p="http://schemas.openxmlformats.org/presentationml/2006/main">
  <p:tag name="KSO_WM_DIAGRAM_VIRTUALLY_FRAME" val="{&quot;height&quot;:491.65,&quot;left&quot;:29.465905511811023,&quot;top&quot;:81.55,&quot;width&quot;:957.2840944881889}"/>
</p:tagLst>
</file>

<file path=ppt/tags/tag446.xml><?xml version="1.0" encoding="utf-8"?>
<p:tagLst xmlns:p="http://schemas.openxmlformats.org/presentationml/2006/main">
  <p:tag name="KSO_WM_DIAGRAM_VIRTUALLY_FRAME" val="{&quot;height&quot;:491.65,&quot;left&quot;:29.465905511811023,&quot;top&quot;:81.55,&quot;width&quot;:957.2840944881889}"/>
</p:tagLst>
</file>

<file path=ppt/tags/tag447.xml><?xml version="1.0" encoding="utf-8"?>
<p:tagLst xmlns:p="http://schemas.openxmlformats.org/presentationml/2006/main">
  <p:tag name="KSO_WM_DIAGRAM_VIRTUALLY_FRAME" val="{&quot;height&quot;:491.65,&quot;left&quot;:29.465905511811023,&quot;top&quot;:81.55,&quot;width&quot;:957.2840944881889}"/>
</p:tagLst>
</file>

<file path=ppt/tags/tag448.xml><?xml version="1.0" encoding="utf-8"?>
<p:tagLst xmlns:p="http://schemas.openxmlformats.org/presentationml/2006/main">
  <p:tag name="KSO_WM_DIAGRAM_VIRTUALLY_FRAME" val="{&quot;height&quot;:491.65,&quot;left&quot;:29.465905511811023,&quot;top&quot;:81.55,&quot;width&quot;:957.2840944881889}"/>
</p:tagLst>
</file>

<file path=ppt/tags/tag449.xml><?xml version="1.0" encoding="utf-8"?>
<p:tagLst xmlns:p="http://schemas.openxmlformats.org/presentationml/2006/main">
  <p:tag name="KSO_WM_DIAGRAM_VIRTUALLY_FRAME" val="{&quot;height&quot;:491.65,&quot;left&quot;:29.465905511811023,&quot;top&quot;:81.55,&quot;width&quot;:957.2840944881889}"/>
</p:tagLst>
</file>

<file path=ppt/tags/tag450.xml><?xml version="1.0" encoding="utf-8"?>
<p:tagLst xmlns:p="http://schemas.openxmlformats.org/presentationml/2006/main">
  <p:tag name="KSO_WM_DIAGRAM_VIRTUALLY_FRAME" val="{&quot;height&quot;:491.65,&quot;left&quot;:29.465905511811023,&quot;top&quot;:81.55,&quot;width&quot;:957.2840944881889}"/>
</p:tagLst>
</file>

<file path=ppt/tags/tag451.xml><?xml version="1.0" encoding="utf-8"?>
<p:tagLst xmlns:p="http://schemas.openxmlformats.org/presentationml/2006/main">
  <p:tag name="KSO_WM_DIAGRAM_VIRTUALLY_FRAME" val="{&quot;height&quot;:491.65,&quot;left&quot;:29.465905511811023,&quot;top&quot;:81.55,&quot;width&quot;:957.2840944881889}"/>
</p:tagLst>
</file>

<file path=ppt/tags/tag452.xml><?xml version="1.0" encoding="utf-8"?>
<p:tagLst xmlns:p="http://schemas.openxmlformats.org/presentationml/2006/main">
  <p:tag name="SHADOWSIZE" val="99"/>
</p:tagLst>
</file>

<file path=ppt/tags/tag453.xml><?xml version="1.0" encoding="utf-8"?>
<p:tagLst xmlns:p="http://schemas.openxmlformats.org/presentationml/2006/main">
  <p:tag name="SHADOWSIZE" val="102"/>
</p:tagLst>
</file>

<file path=ppt/tags/tag454.xml><?xml version="1.0" encoding="utf-8"?>
<p:tagLst xmlns:p="http://schemas.openxmlformats.org/presentationml/2006/main">
  <p:tag name="KSO_WM_DIAGRAM_VIRTUALLY_FRAME" val="{&quot;height&quot;:491.65,&quot;left&quot;:29.465905511811023,&quot;top&quot;:81.55,&quot;width&quot;:957.2840944881889}"/>
</p:tagLst>
</file>

<file path=ppt/tags/tag455.xml><?xml version="1.0" encoding="utf-8"?>
<p:tagLst xmlns:p="http://schemas.openxmlformats.org/presentationml/2006/main">
  <p:tag name="KSO_WM_DIAGRAM_VIRTUALLY_FRAME" val="{&quot;height&quot;:491.65,&quot;left&quot;:29.465905511811023,&quot;top&quot;:81.55,&quot;width&quot;:957.2840944881889}"/>
</p:tagLst>
</file>

<file path=ppt/tags/tag456.xml><?xml version="1.0" encoding="utf-8"?>
<p:tagLst xmlns:p="http://schemas.openxmlformats.org/presentationml/2006/main">
  <p:tag name="SHADOWSIZE" val="99"/>
</p:tagLst>
</file>

<file path=ppt/tags/tag457.xml><?xml version="1.0" encoding="utf-8"?>
<p:tagLst xmlns:p="http://schemas.openxmlformats.org/presentationml/2006/main">
  <p:tag name="SHADOWSIZE" val="102"/>
</p:tagLst>
</file>

<file path=ppt/tags/tag458.xml><?xml version="1.0" encoding="utf-8"?>
<p:tagLst xmlns:p="http://schemas.openxmlformats.org/presentationml/2006/main">
  <p:tag name="KSO_WM_DIAGRAM_VIRTUALLY_FRAME" val="{&quot;height&quot;:491.65,&quot;left&quot;:29.465905511811023,&quot;top&quot;:81.55,&quot;width&quot;:957.2840944881889}"/>
</p:tagLst>
</file>

<file path=ppt/tags/tag459.xml><?xml version="1.0" encoding="utf-8"?>
<p:tagLst xmlns:p="http://schemas.openxmlformats.org/presentationml/2006/main">
  <p:tag name="KSO_WM_DIAGRAM_VIRTUALLY_FRAME" val="{&quot;height&quot;:491.65,&quot;left&quot;:29.465905511811023,&quot;top&quot;:81.55,&quot;width&quot;:957.2840944881889}"/>
</p:tagLst>
</file>

<file path=ppt/tags/tag460.xml><?xml version="1.0" encoding="utf-8"?>
<p:tagLst xmlns:p="http://schemas.openxmlformats.org/presentationml/2006/main">
  <p:tag name="SHADOWSIZE" val="99"/>
</p:tagLst>
</file>

<file path=ppt/tags/tag461.xml><?xml version="1.0" encoding="utf-8"?>
<p:tagLst xmlns:p="http://schemas.openxmlformats.org/presentationml/2006/main">
  <p:tag name="SHADOWSIZE" val="102"/>
</p:tagLst>
</file>

<file path=ppt/tags/tag462.xml><?xml version="1.0" encoding="utf-8"?>
<p:tagLst xmlns:p="http://schemas.openxmlformats.org/presentationml/2006/main">
  <p:tag name="KSO_WM_DIAGRAM_VIRTUALLY_FRAME" val="{&quot;height&quot;:491.65,&quot;left&quot;:29.465905511811023,&quot;top&quot;:81.55,&quot;width&quot;:957.2840944881889}"/>
</p:tagLst>
</file>

<file path=ppt/tags/tag463.xml><?xml version="1.0" encoding="utf-8"?>
<p:tagLst xmlns:p="http://schemas.openxmlformats.org/presentationml/2006/main">
  <p:tag name="KSO_WM_DIAGRAM_VIRTUALLY_FRAME" val="{&quot;height&quot;:491.65,&quot;left&quot;:29.465905511811023,&quot;top&quot;:81.55,&quot;width&quot;:957.2840944881889}"/>
</p:tagLst>
</file>

<file path=ppt/tags/tag464.xml><?xml version="1.0" encoding="utf-8"?>
<p:tagLst xmlns:p="http://schemas.openxmlformats.org/presentationml/2006/main">
  <p:tag name="SHADOWSIZE" val="99"/>
</p:tagLst>
</file>

<file path=ppt/tags/tag465.xml><?xml version="1.0" encoding="utf-8"?>
<p:tagLst xmlns:p="http://schemas.openxmlformats.org/presentationml/2006/main">
  <p:tag name="SHADOWSIZE" val="102"/>
</p:tagLst>
</file>

<file path=ppt/tags/tag466.xml><?xml version="1.0" encoding="utf-8"?>
<p:tagLst xmlns:p="http://schemas.openxmlformats.org/presentationml/2006/main">
  <p:tag name="KSO_WM_DIAGRAM_VIRTUALLY_FRAME" val="{&quot;height&quot;:491.65,&quot;left&quot;:29.465905511811023,&quot;top&quot;:81.55,&quot;width&quot;:957.2840944881889}"/>
</p:tagLst>
</file>

<file path=ppt/tags/tag467.xml><?xml version="1.0" encoding="utf-8"?>
<p:tagLst xmlns:p="http://schemas.openxmlformats.org/presentationml/2006/main">
  <p:tag name="KSO_WM_DIAGRAM_VIRTUALLY_FRAME" val="{&quot;height&quot;:491.65,&quot;left&quot;:29.465905511811023,&quot;top&quot;:81.55,&quot;width&quot;:957.2840944881889}"/>
</p:tagLst>
</file>

<file path=ppt/tags/tag468.xml><?xml version="1.0" encoding="utf-8"?>
<p:tagLst xmlns:p="http://schemas.openxmlformats.org/presentationml/2006/main">
  <p:tag name="SHADOWSIZE" val="99"/>
</p:tagLst>
</file>

<file path=ppt/tags/tag469.xml><?xml version="1.0" encoding="utf-8"?>
<p:tagLst xmlns:p="http://schemas.openxmlformats.org/presentationml/2006/main">
  <p:tag name="SHADOWSIZE" val="102"/>
</p:tagLst>
</file>

<file path=ppt/tags/tag470.xml><?xml version="1.0" encoding="utf-8"?>
<p:tagLst xmlns:p="http://schemas.openxmlformats.org/presentationml/2006/main">
  <p:tag name="KSO_WM_DIAGRAM_VIRTUALLY_FRAME" val="{&quot;height&quot;:491.65,&quot;left&quot;:29.465905511811023,&quot;top&quot;:81.55,&quot;width&quot;:957.2840944881889}"/>
</p:tagLst>
</file>

<file path=ppt/tags/tag471.xml><?xml version="1.0" encoding="utf-8"?>
<p:tagLst xmlns:p="http://schemas.openxmlformats.org/presentationml/2006/main">
  <p:tag name="KSO_WM_DIAGRAM_VIRTUALLY_FRAME" val="{&quot;height&quot;:491.65,&quot;left&quot;:29.465905511811023,&quot;top&quot;:81.55,&quot;width&quot;:957.2840944881889}"/>
</p:tagLst>
</file>

<file path=ppt/tags/tag472.xml><?xml version="1.0" encoding="utf-8"?>
<p:tagLst xmlns:p="http://schemas.openxmlformats.org/presentationml/2006/main">
  <p:tag name="KSO_WM_DIAGRAM_VIRTUALLY_FRAME" val="{&quot;height&quot;:491.65,&quot;left&quot;:29.465905511811023,&quot;top&quot;:81.55,&quot;width&quot;:957.2840944881889}"/>
</p:tagLst>
</file>

<file path=ppt/tags/tag473.xml><?xml version="1.0" encoding="utf-8"?>
<p:tagLst xmlns:p="http://schemas.openxmlformats.org/presentationml/2006/main">
  <p:tag name="KSO_WM_DIAGRAM_VIRTUALLY_FRAME" val="{&quot;height&quot;:64.1,&quot;left&quot;:61.55,&quot;top&quot;:96.55,&quot;width&quot;:840.35}"/>
</p:tagLst>
</file>

<file path=ppt/tags/tag474.xml><?xml version="1.0" encoding="utf-8"?>
<p:tagLst xmlns:p="http://schemas.openxmlformats.org/presentationml/2006/main">
  <p:tag name="KSO_WM_DIAGRAM_VIRTUALLY_FRAME" val="{&quot;height&quot;:64.1,&quot;left&quot;:61.55,&quot;top&quot;:96.55,&quot;width&quot;:840.35}"/>
</p:tagLst>
</file>

<file path=ppt/tags/tag475.xml><?xml version="1.0" encoding="utf-8"?>
<p:tagLst xmlns:p="http://schemas.openxmlformats.org/presentationml/2006/main">
  <p:tag name="KSO_WM_DIAGRAM_VIRTUALLY_FRAME" val="{&quot;height&quot;:64.1,&quot;left&quot;:61.55,&quot;top&quot;:96.55,&quot;width&quot;:840.35}"/>
</p:tagLst>
</file>

<file path=ppt/tags/tag476.xml><?xml version="1.0" encoding="utf-8"?>
<p:tagLst xmlns:p="http://schemas.openxmlformats.org/presentationml/2006/main">
  <p:tag name="KSO_WM_DIAGRAM_VIRTUALLY_FRAME" val="{&quot;height&quot;:64.1,&quot;left&quot;:61.55,&quot;top&quot;:96.55,&quot;width&quot;:840.35}"/>
</p:tagLst>
</file>

<file path=ppt/tags/tag477.xml><?xml version="1.0" encoding="utf-8"?>
<p:tagLst xmlns:p="http://schemas.openxmlformats.org/presentationml/2006/main">
  <p:tag name="KSO_WM_DIAGRAM_VIRTUALLY_FRAME" val="{&quot;height&quot;:64.1,&quot;left&quot;:61.55,&quot;top&quot;:96.55,&quot;width&quot;:840.35}"/>
</p:tagLst>
</file>

<file path=ppt/tags/tag478.xml><?xml version="1.0" encoding="utf-8"?>
<p:tagLst xmlns:p="http://schemas.openxmlformats.org/presentationml/2006/main">
  <p:tag name="KSO_WM_DIAGRAM_VIRTUALLY_FRAME" val="{&quot;height&quot;:64.1,&quot;left&quot;:61.55,&quot;top&quot;:96.55,&quot;width&quot;:840.35}"/>
</p:tagLst>
</file>

<file path=ppt/tags/tag479.xml><?xml version="1.0" encoding="utf-8"?>
<p:tagLst xmlns:p="http://schemas.openxmlformats.org/presentationml/2006/main">
  <p:tag name="KSO_WM_DIAGRAM_VIRTUALLY_FRAME" val="{&quot;height&quot;:64.1,&quot;left&quot;:61.55,&quot;top&quot;:96.55,&quot;width&quot;:840.35}"/>
</p:tagLst>
</file>

<file path=ppt/tags/tag480.xml><?xml version="1.0" encoding="utf-8"?>
<p:tagLst xmlns:p="http://schemas.openxmlformats.org/presentationml/2006/main">
  <p:tag name="KSO_WM_DIAGRAM_VIRTUALLY_FRAME" val="{&quot;height&quot;:64.1,&quot;left&quot;:61.55,&quot;top&quot;:96.55,&quot;width&quot;:840.35}"/>
</p:tagLst>
</file>

<file path=ppt/tags/tag481.xml><?xml version="1.0" encoding="utf-8"?>
<p:tagLst xmlns:p="http://schemas.openxmlformats.org/presentationml/2006/main">
  <p:tag name="KSO_WM_DIAGRAM_VIRTUALLY_FRAME" val="{&quot;height&quot;:64.1,&quot;left&quot;:61.55,&quot;top&quot;:96.55,&quot;width&quot;:840.35}"/>
</p:tagLst>
</file>

<file path=ppt/tags/tag482.xml><?xml version="1.0" encoding="utf-8"?>
<p:tagLst xmlns:p="http://schemas.openxmlformats.org/presentationml/2006/main">
  <p:tag name="KSO_WM_DIAGRAM_VIRTUALLY_FRAME" val="{&quot;height&quot;:64.1,&quot;left&quot;:61.55,&quot;top&quot;:96.55,&quot;width&quot;:840.35}"/>
</p:tagLst>
</file>

<file path=ppt/tags/tag483.xml><?xml version="1.0" encoding="utf-8"?>
<p:tagLst xmlns:p="http://schemas.openxmlformats.org/presentationml/2006/main">
  <p:tag name="KSO_WM_DIAGRAM_VIRTUALLY_FRAME" val="{&quot;height&quot;:64.1,&quot;left&quot;:61.55,&quot;top&quot;:96.55,&quot;width&quot;:840.35}"/>
</p:tagLst>
</file>

<file path=ppt/tags/tag484.xml><?xml version="1.0" encoding="utf-8"?>
<p:tagLst xmlns:p="http://schemas.openxmlformats.org/presentationml/2006/main">
  <p:tag name="KSO_WM_DIAGRAM_VIRTUALLY_FRAME" val="{&quot;height&quot;:64.1,&quot;left&quot;:61.55,&quot;top&quot;:96.55,&quot;width&quot;:840.35}"/>
</p:tagLst>
</file>

<file path=ppt/tags/tag485.xml><?xml version="1.0" encoding="utf-8"?>
<p:tagLst xmlns:p="http://schemas.openxmlformats.org/presentationml/2006/main">
  <p:tag name="KSO_WM_DIAGRAM_VIRTUALLY_FRAME" val="{&quot;height&quot;:64.1,&quot;left&quot;:61.55,&quot;top&quot;:96.55,&quot;width&quot;:840.35}"/>
</p:tagLst>
</file>

<file path=ppt/tags/tag486.xml><?xml version="1.0" encoding="utf-8"?>
<p:tagLst xmlns:p="http://schemas.openxmlformats.org/presentationml/2006/main">
  <p:tag name="KSO_WM_DIAGRAM_VIRTUALLY_FRAME" val="{&quot;height&quot;:64.1,&quot;left&quot;:61.55,&quot;top&quot;:96.55,&quot;width&quot;:840.35}"/>
</p:tagLst>
</file>

<file path=ppt/tags/tag487.xml><?xml version="1.0" encoding="utf-8"?>
<p:tagLst xmlns:p="http://schemas.openxmlformats.org/presentationml/2006/main">
  <p:tag name="KSO_WM_DIAGRAM_VIRTUALLY_FRAME" val="{&quot;height&quot;:64.1,&quot;left&quot;:61.55,&quot;top&quot;:96.55,&quot;width&quot;:840.35}"/>
</p:tagLst>
</file>

<file path=ppt/tags/tag488.xml><?xml version="1.0" encoding="utf-8"?>
<p:tagLst xmlns:p="http://schemas.openxmlformats.org/presentationml/2006/main">
  <p:tag name="KSO_WM_DIAGRAM_VIRTUALLY_FRAME" val="{&quot;height&quot;:64.1,&quot;left&quot;:61.55,&quot;top&quot;:96.55,&quot;width&quot;:840.35}"/>
</p:tagLst>
</file>

<file path=ppt/tags/tag489.xml><?xml version="1.0" encoding="utf-8"?>
<p:tagLst xmlns:p="http://schemas.openxmlformats.org/presentationml/2006/main">
  <p:tag name="KSO_WM_DIAGRAM_VIRTUALLY_FRAME" val="{&quot;height&quot;:64.1,&quot;left&quot;:61.55,&quot;top&quot;:96.55,&quot;width&quot;:840.35}"/>
</p:tagLst>
</file>

<file path=ppt/tags/tag490.xml><?xml version="1.0" encoding="utf-8"?>
<p:tagLst xmlns:p="http://schemas.openxmlformats.org/presentationml/2006/main">
  <p:tag name="KSO_WM_DIAGRAM_VIRTUALLY_FRAME" val="{&quot;height&quot;:64.1,&quot;left&quot;:61.55,&quot;top&quot;:96.55,&quot;width&quot;:840.35}"/>
</p:tagLst>
</file>

<file path=ppt/tags/tag491.xml><?xml version="1.0" encoding="utf-8"?>
<p:tagLst xmlns:p="http://schemas.openxmlformats.org/presentationml/2006/main">
  <p:tag name="KSO_WM_DIAGRAM_VIRTUALLY_FRAME" val="{&quot;height&quot;:64.1,&quot;left&quot;:61.55,&quot;top&quot;:96.55,&quot;width&quot;:840.35}"/>
</p:tagLst>
</file>

<file path=ppt/tags/tag492.xml><?xml version="1.0" encoding="utf-8"?>
<p:tagLst xmlns:p="http://schemas.openxmlformats.org/presentationml/2006/main">
  <p:tag name="KSO_WM_DIAGRAM_VIRTUALLY_FRAME" val="{&quot;height&quot;:64.1,&quot;left&quot;:61.55,&quot;top&quot;:96.55,&quot;width&quot;:840.35}"/>
</p:tagLst>
</file>

<file path=ppt/tags/tag493.xml><?xml version="1.0" encoding="utf-8"?>
<p:tagLst xmlns:p="http://schemas.openxmlformats.org/presentationml/2006/main">
  <p:tag name="KSO_WM_DIAGRAM_VIRTUALLY_FRAME" val="{&quot;height&quot;:64.1,&quot;left&quot;:61.55,&quot;top&quot;:96.55,&quot;width&quot;:840.35}"/>
</p:tagLst>
</file>

<file path=ppt/tags/tag494.xml><?xml version="1.0" encoding="utf-8"?>
<p:tagLst xmlns:p="http://schemas.openxmlformats.org/presentationml/2006/main">
  <p:tag name="KSO_WM_DIAGRAM_VIRTUALLY_FRAME" val="{&quot;height&quot;:64.1,&quot;left&quot;:61.55,&quot;top&quot;:96.55,&quot;width&quot;:840.35}"/>
</p:tagLst>
</file>

<file path=ppt/tags/tag495.xml><?xml version="1.0" encoding="utf-8"?>
<p:tagLst xmlns:p="http://schemas.openxmlformats.org/presentationml/2006/main">
  <p:tag name="KSO_WM_DIAGRAM_VIRTUALLY_FRAME" val="{&quot;height&quot;:64.1,&quot;left&quot;:61.55,&quot;top&quot;:96.55,&quot;width&quot;:840.35}"/>
</p:tagLst>
</file>

<file path=ppt/tags/tag496.xml><?xml version="1.0" encoding="utf-8"?>
<p:tagLst xmlns:p="http://schemas.openxmlformats.org/presentationml/2006/main">
  <p:tag name="KSO_WM_DIAGRAM_VIRTUALLY_FRAME" val="{&quot;height&quot;:64.1,&quot;left&quot;:61.55,&quot;top&quot;:96.55,&quot;width&quot;:840.35}"/>
</p:tagLst>
</file>

<file path=ppt/tags/tag497.xml><?xml version="1.0" encoding="utf-8"?>
<p:tagLst xmlns:p="http://schemas.openxmlformats.org/presentationml/2006/main">
  <p:tag name="KSO_WM_DIAGRAM_VIRTUALLY_FRAME" val="{&quot;height&quot;:64.1,&quot;left&quot;:61.55,&quot;top&quot;:96.55,&quot;width&quot;:840.35}"/>
</p:tagLst>
</file>

<file path=ppt/tags/tag498.xml><?xml version="1.0" encoding="utf-8"?>
<p:tagLst xmlns:p="http://schemas.openxmlformats.org/presentationml/2006/main">
  <p:tag name="KSO_WM_DIAGRAM_VIRTUALLY_FRAME" val="{&quot;height&quot;:64.1,&quot;left&quot;:61.55,&quot;top&quot;:96.55,&quot;width&quot;:840.35}"/>
</p:tagLst>
</file>

<file path=ppt/tags/tag499.xml><?xml version="1.0" encoding="utf-8"?>
<p:tagLst xmlns:p="http://schemas.openxmlformats.org/presentationml/2006/main">
  <p:tag name="KSO_WM_DIAGRAM_VIRTUALLY_FRAME" val="{&quot;height&quot;:64.1,&quot;left&quot;:61.55,&quot;top&quot;:96.55,&quot;width&quot;:840.35}"/>
</p:tagLst>
</file>

<file path=ppt/tags/tag500.xml><?xml version="1.0" encoding="utf-8"?>
<p:tagLst xmlns:p="http://schemas.openxmlformats.org/presentationml/2006/main">
  <p:tag name="KSO_WM_DIAGRAM_VIRTUALLY_FRAME" val="{&quot;height&quot;:64.1,&quot;left&quot;:61.55,&quot;top&quot;:96.55,&quot;width&quot;:840.35}"/>
</p:tagLst>
</file>

<file path=ppt/tags/tag501.xml><?xml version="1.0" encoding="utf-8"?>
<p:tagLst xmlns:p="http://schemas.openxmlformats.org/presentationml/2006/main">
  <p:tag name="KSO_WM_DIAGRAM_VIRTUALLY_FRAME" val="{&quot;height&quot;:64.1,&quot;left&quot;:61.55,&quot;top&quot;:96.55,&quot;width&quot;:840.35}"/>
</p:tagLst>
</file>

<file path=ppt/tags/tag502.xml><?xml version="1.0" encoding="utf-8"?>
<p:tagLst xmlns:p="http://schemas.openxmlformats.org/presentationml/2006/main">
  <p:tag name="KSO_WM_DIAGRAM_VIRTUALLY_FRAME" val="{&quot;height&quot;:64.1,&quot;left&quot;:61.55,&quot;top&quot;:96.55,&quot;width&quot;:840.35}"/>
</p:tagLst>
</file>

<file path=ppt/tags/tag503.xml><?xml version="1.0" encoding="utf-8"?>
<p:tagLst xmlns:p="http://schemas.openxmlformats.org/presentationml/2006/main">
  <p:tag name="KSO_WM_DIAGRAM_VIRTUALLY_FRAME" val="{&quot;height&quot;:64.1,&quot;left&quot;:61.55,&quot;top&quot;:96.55,&quot;width&quot;:840.35}"/>
</p:tagLst>
</file>

<file path=ppt/tags/tag504.xml><?xml version="1.0" encoding="utf-8"?>
<p:tagLst xmlns:p="http://schemas.openxmlformats.org/presentationml/2006/main">
  <p:tag name="KSO_WM_DIAGRAM_VIRTUALLY_FRAME" val="{&quot;height&quot;:417.9296850393701,&quot;left&quot;:-0.8372440944881889,&quot;top&quot;:93.7,&quot;width&quot;:946.4558267716535}"/>
</p:tagLst>
</file>

<file path=ppt/tags/tag505.xml><?xml version="1.0" encoding="utf-8"?>
<p:tagLst xmlns:p="http://schemas.openxmlformats.org/presentationml/2006/main">
  <p:tag name="KSO_WM_DIAGRAM_VIRTUALLY_FRAME" val="{&quot;height&quot;:417.9296850393701,&quot;left&quot;:-0.8372440944881889,&quot;top&quot;:93.7,&quot;width&quot;:946.4558267716535}"/>
</p:tagLst>
</file>

<file path=ppt/tags/tag506.xml><?xml version="1.0" encoding="utf-8"?>
<p:tagLst xmlns:p="http://schemas.openxmlformats.org/presentationml/2006/main">
  <p:tag name="KSO_WM_DIAGRAM_VIRTUALLY_FRAME" val="{&quot;height&quot;:417.9296850393701,&quot;left&quot;:-0.8372440944881889,&quot;top&quot;:93.7,&quot;width&quot;:946.4558267716535}"/>
</p:tagLst>
</file>

<file path=ppt/tags/tag507.xml><?xml version="1.0" encoding="utf-8"?>
<p:tagLst xmlns:p="http://schemas.openxmlformats.org/presentationml/2006/main">
  <p:tag name="KSO_WM_DIAGRAM_VIRTUALLY_FRAME" val="{&quot;height&quot;:417.9296850393701,&quot;left&quot;:-0.8372440944881889,&quot;top&quot;:93.7,&quot;width&quot;:946.4558267716535}"/>
</p:tagLst>
</file>

<file path=ppt/tags/tag508.xml><?xml version="1.0" encoding="utf-8"?>
<p:tagLst xmlns:p="http://schemas.openxmlformats.org/presentationml/2006/main">
  <p:tag name="KSO_WM_DIAGRAM_VIRTUALLY_FRAME" val="{&quot;height&quot;:417.9296850393701,&quot;left&quot;:-0.8372440944881889,&quot;top&quot;:93.7,&quot;width&quot;:946.4558267716535}"/>
</p:tagLst>
</file>

<file path=ppt/tags/tag509.xml><?xml version="1.0" encoding="utf-8"?>
<p:tagLst xmlns:p="http://schemas.openxmlformats.org/presentationml/2006/main">
  <p:tag name="KSO_WM_DIAGRAM_VIRTUALLY_FRAME" val="{&quot;height&quot;:417.9296850393701,&quot;left&quot;:-0.8372440944881889,&quot;top&quot;:93.7,&quot;width&quot;:946.4558267716535}"/>
</p:tagLst>
</file>

<file path=ppt/tags/tag510.xml><?xml version="1.0" encoding="utf-8"?>
<p:tagLst xmlns:p="http://schemas.openxmlformats.org/presentationml/2006/main">
  <p:tag name="KSO_WM_DIAGRAM_VIRTUALLY_FRAME" val="{&quot;height&quot;:417.9296850393701,&quot;left&quot;:-0.8372440944881889,&quot;top&quot;:93.7,&quot;width&quot;:946.4558267716535}"/>
</p:tagLst>
</file>

<file path=ppt/tags/tag511.xml><?xml version="1.0" encoding="utf-8"?>
<p:tagLst xmlns:p="http://schemas.openxmlformats.org/presentationml/2006/main">
  <p:tag name="KSO_WM_DIAGRAM_VIRTUALLY_FRAME" val="{&quot;height&quot;:417.9296850393701,&quot;left&quot;:-0.8372440944881889,&quot;top&quot;:93.7,&quot;width&quot;:946.4558267716535}"/>
</p:tagLst>
</file>

<file path=ppt/tags/tag512.xml><?xml version="1.0" encoding="utf-8"?>
<p:tagLst xmlns:p="http://schemas.openxmlformats.org/presentationml/2006/main">
  <p:tag name="KSO_WM_DIAGRAM_VIRTUALLY_FRAME" val="{&quot;height&quot;:417.9296850393701,&quot;left&quot;:-0.8372440944881889,&quot;top&quot;:93.7,&quot;width&quot;:946.4558267716535}"/>
</p:tagLst>
</file>

<file path=ppt/tags/tag513.xml><?xml version="1.0" encoding="utf-8"?>
<p:tagLst xmlns:p="http://schemas.openxmlformats.org/presentationml/2006/main">
  <p:tag name="KSO_WM_DIAGRAM_VIRTUALLY_FRAME" val="{&quot;height&quot;:417.9296850393701,&quot;left&quot;:-0.8372440944881889,&quot;top&quot;:93.7,&quot;width&quot;:946.4558267716535}"/>
</p:tagLst>
</file>

<file path=ppt/tags/tag514.xml><?xml version="1.0" encoding="utf-8"?>
<p:tagLst xmlns:p="http://schemas.openxmlformats.org/presentationml/2006/main">
  <p:tag name="KSO_WM_DIAGRAM_VIRTUALLY_FRAME" val="{&quot;height&quot;:417.9296850393701,&quot;left&quot;:-0.8372440944881889,&quot;top&quot;:93.7,&quot;width&quot;:946.4558267716535}"/>
</p:tagLst>
</file>

<file path=ppt/tags/tag515.xml><?xml version="1.0" encoding="utf-8"?>
<p:tagLst xmlns:p="http://schemas.openxmlformats.org/presentationml/2006/main">
  <p:tag name="KSO_WM_DIAGRAM_VIRTUALLY_FRAME" val="{&quot;height&quot;:417.9296850393701,&quot;left&quot;:-0.8372440944881889,&quot;top&quot;:93.7,&quot;width&quot;:946.4558267716535}"/>
</p:tagLst>
</file>

<file path=ppt/tags/tag516.xml><?xml version="1.0" encoding="utf-8"?>
<p:tagLst xmlns:p="http://schemas.openxmlformats.org/presentationml/2006/main">
  <p:tag name="KSO_WM_DIAGRAM_VIRTUALLY_FRAME" val="{&quot;height&quot;:417.9296850393701,&quot;left&quot;:-0.8372440944881889,&quot;top&quot;:93.7,&quot;width&quot;:946.4558267716535}"/>
</p:tagLst>
</file>

<file path=ppt/tags/tag517.xml><?xml version="1.0" encoding="utf-8"?>
<p:tagLst xmlns:p="http://schemas.openxmlformats.org/presentationml/2006/main">
  <p:tag name="KSO_WM_DIAGRAM_VIRTUALLY_FRAME" val="{&quot;height&quot;:417.9296850393701,&quot;left&quot;:-0.8372440944881889,&quot;top&quot;:93.7,&quot;width&quot;:946.4558267716535}"/>
</p:tagLst>
</file>

<file path=ppt/tags/tag518.xml><?xml version="1.0" encoding="utf-8"?>
<p:tagLst xmlns:p="http://schemas.openxmlformats.org/presentationml/2006/main">
  <p:tag name="KSO_WM_DIAGRAM_VIRTUALLY_FRAME" val="{&quot;height&quot;:417.9296850393701,&quot;left&quot;:-0.8372440944881889,&quot;top&quot;:93.7,&quot;width&quot;:946.4558267716535}"/>
</p:tagLst>
</file>

<file path=ppt/tags/tag519.xml><?xml version="1.0" encoding="utf-8"?>
<p:tagLst xmlns:p="http://schemas.openxmlformats.org/presentationml/2006/main">
  <p:tag name="KSO_WM_DIAGRAM_VIRTUALLY_FRAME" val="{&quot;height&quot;:417.9296850393701,&quot;left&quot;:-0.8372440944881889,&quot;top&quot;:93.7,&quot;width&quot;:946.4558267716535}"/>
</p:tagLst>
</file>

<file path=ppt/tags/tag520.xml><?xml version="1.0" encoding="utf-8"?>
<p:tagLst xmlns:p="http://schemas.openxmlformats.org/presentationml/2006/main">
  <p:tag name="KSO_WM_DIAGRAM_VIRTUALLY_FRAME" val="{&quot;height&quot;:417.9296850393701,&quot;left&quot;:-0.8372440944881889,&quot;top&quot;:93.7,&quot;width&quot;:946.4558267716535}"/>
</p:tagLst>
</file>

<file path=ppt/tags/tag521.xml><?xml version="1.0" encoding="utf-8"?>
<p:tagLst xmlns:p="http://schemas.openxmlformats.org/presentationml/2006/main">
  <p:tag name="KSO_WM_DIAGRAM_VIRTUALLY_FRAME" val="{&quot;height&quot;:417.9296850393701,&quot;left&quot;:-0.8372440944881889,&quot;top&quot;:93.7,&quot;width&quot;:946.4558267716535}"/>
</p:tagLst>
</file>

<file path=ppt/tags/tag522.xml><?xml version="1.0" encoding="utf-8"?>
<p:tagLst xmlns:p="http://schemas.openxmlformats.org/presentationml/2006/main">
  <p:tag name="KSO_WM_DIAGRAM_VIRTUALLY_FRAME" val="{&quot;height&quot;:417.9296850393701,&quot;left&quot;:-0.8372440944881889,&quot;top&quot;:93.7,&quot;width&quot;:946.4558267716535}"/>
</p:tagLst>
</file>

<file path=ppt/tags/tag523.xml><?xml version="1.0" encoding="utf-8"?>
<p:tagLst xmlns:p="http://schemas.openxmlformats.org/presentationml/2006/main">
  <p:tag name="KSO_WM_DIAGRAM_VIRTUALLY_FRAME" val="{&quot;height&quot;:417.9296850393701,&quot;left&quot;:-0.8372440944881889,&quot;top&quot;:93.7,&quot;width&quot;:946.4558267716535}"/>
</p:tagLst>
</file>

<file path=ppt/tags/tag524.xml><?xml version="1.0" encoding="utf-8"?>
<p:tagLst xmlns:p="http://schemas.openxmlformats.org/presentationml/2006/main">
  <p:tag name="KSO_WM_DIAGRAM_VIRTUALLY_FRAME" val="{&quot;height&quot;:417.9296850393701,&quot;left&quot;:-0.8372440944881889,&quot;top&quot;:93.7,&quot;width&quot;:946.4558267716535}"/>
</p:tagLst>
</file>

<file path=ppt/tags/tag525.xml><?xml version="1.0" encoding="utf-8"?>
<p:tagLst xmlns:p="http://schemas.openxmlformats.org/presentationml/2006/main">
  <p:tag name="KSO_WM_DIAGRAM_VIRTUALLY_FRAME" val="{&quot;height&quot;:417.9296850393701,&quot;left&quot;:-0.8372440944881889,&quot;top&quot;:93.7,&quot;width&quot;:946.4558267716535}"/>
</p:tagLst>
</file>

<file path=ppt/tags/tag526.xml><?xml version="1.0" encoding="utf-8"?>
<p:tagLst xmlns:p="http://schemas.openxmlformats.org/presentationml/2006/main">
  <p:tag name="KSO_WM_DIAGRAM_VIRTUALLY_FRAME" val="{&quot;height&quot;:417.9296850393701,&quot;left&quot;:-0.8372440944881889,&quot;top&quot;:93.7,&quot;width&quot;:946.4558267716535}"/>
</p:tagLst>
</file>

<file path=ppt/tags/tag527.xml><?xml version="1.0" encoding="utf-8"?>
<p:tagLst xmlns:p="http://schemas.openxmlformats.org/presentationml/2006/main">
  <p:tag name="KSO_WM_DIAGRAM_VIRTUALLY_FRAME" val="{&quot;height&quot;:417.9296850393701,&quot;left&quot;:-0.8372440944881889,&quot;top&quot;:93.7,&quot;width&quot;:946.4558267716535}"/>
</p:tagLst>
</file>

<file path=ppt/tags/tag528.xml><?xml version="1.0" encoding="utf-8"?>
<p:tagLst xmlns:p="http://schemas.openxmlformats.org/presentationml/2006/main">
  <p:tag name="KSO_WM_DIAGRAM_VIRTUALLY_FRAME" val="{&quot;height&quot;:417.9296850393701,&quot;left&quot;:-0.8372440944881889,&quot;top&quot;:93.7,&quot;width&quot;:946.4558267716535}"/>
</p:tagLst>
</file>

<file path=ppt/tags/tag529.xml><?xml version="1.0" encoding="utf-8"?>
<p:tagLst xmlns:p="http://schemas.openxmlformats.org/presentationml/2006/main">
  <p:tag name="KSO_WM_DIAGRAM_VIRTUALLY_FRAME" val="{&quot;height&quot;:417.9296850393701,&quot;left&quot;:-0.8372440944881889,&quot;top&quot;:93.7,&quot;width&quot;:946.4558267716535}"/>
</p:tagLst>
</file>

<file path=ppt/tags/tag530.xml><?xml version="1.0" encoding="utf-8"?>
<p:tagLst xmlns:p="http://schemas.openxmlformats.org/presentationml/2006/main">
  <p:tag name="KSO_WM_DIAGRAM_VIRTUALLY_FRAME" val="{&quot;height&quot;:417.9296850393701,&quot;left&quot;:-0.8372440944881889,&quot;top&quot;:93.7,&quot;width&quot;:946.4558267716535}"/>
</p:tagLst>
</file>

<file path=ppt/tags/tag531.xml><?xml version="1.0" encoding="utf-8"?>
<p:tagLst xmlns:p="http://schemas.openxmlformats.org/presentationml/2006/main">
  <p:tag name="KSO_WM_DIAGRAM_VIRTUALLY_FRAME" val="{&quot;height&quot;:417.9296850393701,&quot;left&quot;:-0.8372440944881889,&quot;top&quot;:93.7,&quot;width&quot;:946.4558267716535}"/>
</p:tagLst>
</file>

<file path=ppt/tags/tag532.xml><?xml version="1.0" encoding="utf-8"?>
<p:tagLst xmlns:p="http://schemas.openxmlformats.org/presentationml/2006/main">
  <p:tag name="KSO_WM_DIAGRAM_VIRTUALLY_FRAME" val="{&quot;height&quot;:417.9296850393701,&quot;left&quot;:-0.8372440944881889,&quot;top&quot;:93.7,&quot;width&quot;:946.4558267716535}"/>
</p:tagLst>
</file>

<file path=ppt/tags/tag533.xml><?xml version="1.0" encoding="utf-8"?>
<p:tagLst xmlns:p="http://schemas.openxmlformats.org/presentationml/2006/main">
  <p:tag name="KSO_WM_DIAGRAM_VIRTUALLY_FRAME" val="{&quot;height&quot;:417.9296850393701,&quot;left&quot;:-0.8372440944881889,&quot;top&quot;:93.7,&quot;width&quot;:946.4558267716535}"/>
</p:tagLst>
</file>

<file path=ppt/tags/tag534.xml><?xml version="1.0" encoding="utf-8"?>
<p:tagLst xmlns:p="http://schemas.openxmlformats.org/presentationml/2006/main">
  <p:tag name="KSO_WM_DIAGRAM_VIRTUALLY_FRAME" val="{&quot;height&quot;:417.9296850393701,&quot;left&quot;:-0.8372440944881889,&quot;top&quot;:93.7,&quot;width&quot;:946.4558267716535}"/>
</p:tagLst>
</file>

<file path=ppt/tags/tag535.xml><?xml version="1.0" encoding="utf-8"?>
<p:tagLst xmlns:p="http://schemas.openxmlformats.org/presentationml/2006/main">
  <p:tag name="KSO_WM_DIAGRAM_VIRTUALLY_FRAME" val="{&quot;height&quot;:417.9296850393701,&quot;left&quot;:-0.8372440944881889,&quot;top&quot;:93.7,&quot;width&quot;:946.4558267716535}"/>
</p:tagLst>
</file>

<file path=ppt/tags/tag536.xml><?xml version="1.0" encoding="utf-8"?>
<p:tagLst xmlns:p="http://schemas.openxmlformats.org/presentationml/2006/main">
  <p:tag name="KSO_WM_DIAGRAM_VIRTUALLY_FRAME" val="{&quot;height&quot;:417.9296850393701,&quot;left&quot;:-0.8372440944881889,&quot;top&quot;:93.7,&quot;width&quot;:946.4558267716535}"/>
</p:tagLst>
</file>

<file path=ppt/tags/tag537.xml><?xml version="1.0" encoding="utf-8"?>
<p:tagLst xmlns:p="http://schemas.openxmlformats.org/presentationml/2006/main">
  <p:tag name="KSO_WM_DIAGRAM_VIRTUALLY_FRAME" val="{&quot;height&quot;:417.9296850393701,&quot;left&quot;:-0.8372440944881889,&quot;top&quot;:93.7,&quot;width&quot;:946.4558267716535}"/>
</p:tagLst>
</file>

<file path=ppt/tags/tag538.xml><?xml version="1.0" encoding="utf-8"?>
<p:tagLst xmlns:p="http://schemas.openxmlformats.org/presentationml/2006/main">
  <p:tag name="KSO_WM_DIAGRAM_VIRTUALLY_FRAME" val="{&quot;height&quot;:417.9296850393701,&quot;left&quot;:-0.8372440944881889,&quot;top&quot;:93.7,&quot;width&quot;:946.4558267716535}"/>
</p:tagLst>
</file>

<file path=ppt/tags/tag539.xml><?xml version="1.0" encoding="utf-8"?>
<p:tagLst xmlns:p="http://schemas.openxmlformats.org/presentationml/2006/main">
  <p:tag name="KSO_WM_DIAGRAM_VIRTUALLY_FRAME" val="{&quot;height&quot;:417.9296850393701,&quot;left&quot;:-0.8372440944881889,&quot;top&quot;:93.7,&quot;width&quot;:946.4558267716535}"/>
</p:tagLst>
</file>

<file path=ppt/tags/tag540.xml><?xml version="1.0" encoding="utf-8"?>
<p:tagLst xmlns:p="http://schemas.openxmlformats.org/presentationml/2006/main">
  <p:tag name="KSO_WM_DIAGRAM_VIRTUALLY_FRAME" val="{&quot;height&quot;:417.9296850393701,&quot;left&quot;:-0.8372440944881889,&quot;top&quot;:93.7,&quot;width&quot;:946.4558267716535}"/>
</p:tagLst>
</file>

<file path=ppt/tags/tag541.xml><?xml version="1.0" encoding="utf-8"?>
<p:tagLst xmlns:p="http://schemas.openxmlformats.org/presentationml/2006/main">
  <p:tag name="KSO_WM_DIAGRAM_VIRTUALLY_FRAME" val="{&quot;height&quot;:417.9296850393701,&quot;left&quot;:-0.8372440944881889,&quot;top&quot;:93.7,&quot;width&quot;:946.4558267716535}"/>
</p:tagLst>
</file>

<file path=ppt/tags/tag542.xml><?xml version="1.0" encoding="utf-8"?>
<p:tagLst xmlns:p="http://schemas.openxmlformats.org/presentationml/2006/main">
  <p:tag name="KSO_WM_DIAGRAM_VIRTUALLY_FRAME" val="{&quot;height&quot;:417.9296850393701,&quot;left&quot;:-0.8372440944881889,&quot;top&quot;:93.7,&quot;width&quot;:946.4558267716535}"/>
</p:tagLst>
</file>

<file path=ppt/tags/tag543.xml><?xml version="1.0" encoding="utf-8"?>
<p:tagLst xmlns:p="http://schemas.openxmlformats.org/presentationml/2006/main">
  <p:tag name="KSO_WM_DIAGRAM_VIRTUALLY_FRAME" val="{&quot;height&quot;:417.9296850393701,&quot;left&quot;:-0.8372440944881889,&quot;top&quot;:93.7,&quot;width&quot;:946.4558267716535}"/>
</p:tagLst>
</file>

<file path=ppt/tags/tag544.xml><?xml version="1.0" encoding="utf-8"?>
<p:tagLst xmlns:p="http://schemas.openxmlformats.org/presentationml/2006/main">
  <p:tag name="KSO_WM_DIAGRAM_VIRTUALLY_FRAME" val="{&quot;height&quot;:417.9296850393701,&quot;left&quot;:-0.8372440944881889,&quot;top&quot;:93.7,&quot;width&quot;:946.4558267716535}"/>
</p:tagLst>
</file>

<file path=ppt/tags/tag545.xml><?xml version="1.0" encoding="utf-8"?>
<p:tagLst xmlns:p="http://schemas.openxmlformats.org/presentationml/2006/main">
  <p:tag name="KSO_WM_DIAGRAM_VIRTUALLY_FRAME" val="{&quot;height&quot;:417.9296850393701,&quot;left&quot;:-0.8372440944881889,&quot;top&quot;:93.7,&quot;width&quot;:946.4558267716535}"/>
</p:tagLst>
</file>

<file path=ppt/tags/tag546.xml><?xml version="1.0" encoding="utf-8"?>
<p:tagLst xmlns:p="http://schemas.openxmlformats.org/presentationml/2006/main">
  <p:tag name="KSO_WM_DIAGRAM_VIRTUALLY_FRAME" val="{&quot;height&quot;:417.9296850393701,&quot;left&quot;:-0.8372440944881889,&quot;top&quot;:93.7,&quot;width&quot;:946.4558267716535}"/>
</p:tagLst>
</file>

<file path=ppt/tags/tag547.xml><?xml version="1.0" encoding="utf-8"?>
<p:tagLst xmlns:p="http://schemas.openxmlformats.org/presentationml/2006/main">
  <p:tag name="KSO_WM_DIAGRAM_VIRTUALLY_FRAME" val="{&quot;height&quot;:417.9296850393701,&quot;left&quot;:-0.8372440944881889,&quot;top&quot;:93.7,&quot;width&quot;:946.4558267716535}"/>
</p:tagLst>
</file>

<file path=ppt/tags/tag548.xml><?xml version="1.0" encoding="utf-8"?>
<p:tagLst xmlns:p="http://schemas.openxmlformats.org/presentationml/2006/main">
  <p:tag name="KSO_WM_DIAGRAM_VIRTUALLY_FRAME" val="{&quot;height&quot;:417.9296850393701,&quot;left&quot;:-0.8372440944881889,&quot;top&quot;:93.7,&quot;width&quot;:946.4558267716535}"/>
</p:tagLst>
</file>

<file path=ppt/tags/tag549.xml><?xml version="1.0" encoding="utf-8"?>
<p:tagLst xmlns:p="http://schemas.openxmlformats.org/presentationml/2006/main">
  <p:tag name="KSO_WM_DIAGRAM_VIRTUALLY_FRAME" val="{&quot;height&quot;:417.9296850393701,&quot;left&quot;:-0.8372440944881889,&quot;top&quot;:93.7,&quot;width&quot;:946.4558267716535}"/>
</p:tagLst>
</file>

<file path=ppt/tags/tag550.xml><?xml version="1.0" encoding="utf-8"?>
<p:tagLst xmlns:p="http://schemas.openxmlformats.org/presentationml/2006/main">
  <p:tag name="KSO_WM_DIAGRAM_VIRTUALLY_FRAME" val="{&quot;height&quot;:417.9296850393701,&quot;left&quot;:-0.8372440944881889,&quot;top&quot;:93.7,&quot;width&quot;:946.4558267716535}"/>
</p:tagLst>
</file>

<file path=ppt/tags/tag551.xml><?xml version="1.0" encoding="utf-8"?>
<p:tagLst xmlns:p="http://schemas.openxmlformats.org/presentationml/2006/main">
  <p:tag name="KSO_WM_DIAGRAM_VIRTUALLY_FRAME" val="{&quot;height&quot;:417.9296850393701,&quot;left&quot;:-0.8372440944881889,&quot;top&quot;:93.7,&quot;width&quot;:946.4558267716535}"/>
</p:tagLst>
</file>

<file path=ppt/tags/tag552.xml><?xml version="1.0" encoding="utf-8"?>
<p:tagLst xmlns:p="http://schemas.openxmlformats.org/presentationml/2006/main">
  <p:tag name="KSO_WM_DIAGRAM_VIRTUALLY_FRAME" val="{&quot;height&quot;:417.9296850393701,&quot;left&quot;:-0.8372440944881889,&quot;top&quot;:93.7,&quot;width&quot;:946.4558267716535}"/>
</p:tagLst>
</file>

<file path=ppt/tags/tag553.xml><?xml version="1.0" encoding="utf-8"?>
<p:tagLst xmlns:p="http://schemas.openxmlformats.org/presentationml/2006/main">
  <p:tag name="KSO_WM_DIAGRAM_VIRTUALLY_FRAME" val="{&quot;height&quot;:417.9296850393701,&quot;left&quot;:-0.8372440944881889,&quot;top&quot;:93.7,&quot;width&quot;:946.4558267716535}"/>
</p:tagLst>
</file>

<file path=ppt/tags/tag554.xml><?xml version="1.0" encoding="utf-8"?>
<p:tagLst xmlns:p="http://schemas.openxmlformats.org/presentationml/2006/main">
  <p:tag name="KSO_WM_DIAGRAM_VIRTUALLY_FRAME" val="{&quot;height&quot;:417.9296850393701,&quot;left&quot;:-0.8372440944881889,&quot;top&quot;:93.7,&quot;width&quot;:946.4558267716535}"/>
</p:tagLst>
</file>

<file path=ppt/tags/tag555.xml><?xml version="1.0" encoding="utf-8"?>
<p:tagLst xmlns:p="http://schemas.openxmlformats.org/presentationml/2006/main">
  <p:tag name="KSO_WM_DIAGRAM_VIRTUALLY_FRAME" val="{&quot;height&quot;:417.9296850393701,&quot;left&quot;:-0.8372440944881889,&quot;top&quot;:93.7,&quot;width&quot;:946.4558267716535}"/>
</p:tagLst>
</file>

<file path=ppt/tags/tag556.xml><?xml version="1.0" encoding="utf-8"?>
<p:tagLst xmlns:p="http://schemas.openxmlformats.org/presentationml/2006/main">
  <p:tag name="KSO_WM_DIAGRAM_VIRTUALLY_FRAME" val="{&quot;height&quot;:417.9296850393701,&quot;left&quot;:-0.8372440944881889,&quot;top&quot;:93.7,&quot;width&quot;:946.4558267716535}"/>
</p:tagLst>
</file>

<file path=ppt/tags/tag557.xml><?xml version="1.0" encoding="utf-8"?>
<p:tagLst xmlns:p="http://schemas.openxmlformats.org/presentationml/2006/main">
  <p:tag name="KSO_WM_DIAGRAM_VIRTUALLY_FRAME" val="{&quot;height&quot;:417.9296850393701,&quot;left&quot;:-0.8372440944881889,&quot;top&quot;:93.7,&quot;width&quot;:946.4558267716535}"/>
</p:tagLst>
</file>

<file path=ppt/tags/tag558.xml><?xml version="1.0" encoding="utf-8"?>
<p:tagLst xmlns:p="http://schemas.openxmlformats.org/presentationml/2006/main">
  <p:tag name="KSO_WM_DIAGRAM_VIRTUALLY_FRAME" val="{&quot;height&quot;:417.9296850393701,&quot;left&quot;:-0.8372440944881889,&quot;top&quot;:93.7,&quot;width&quot;:946.4558267716535}"/>
</p:tagLst>
</file>

<file path=ppt/tags/tag559.xml><?xml version="1.0" encoding="utf-8"?>
<p:tagLst xmlns:p="http://schemas.openxmlformats.org/presentationml/2006/main">
  <p:tag name="KSO_WM_DIAGRAM_VIRTUALLY_FRAME" val="{&quot;height&quot;:417.9296850393701,&quot;left&quot;:-0.8372440944881889,&quot;top&quot;:93.7,&quot;width&quot;:946.4558267716535}"/>
</p:tagLst>
</file>

<file path=ppt/tags/tag560.xml><?xml version="1.0" encoding="utf-8"?>
<p:tagLst xmlns:p="http://schemas.openxmlformats.org/presentationml/2006/main">
  <p:tag name="KSO_WM_DIAGRAM_VIRTUALLY_FRAME" val="{&quot;height&quot;:417.9296850393701,&quot;left&quot;:-0.8372440944881889,&quot;top&quot;:93.7,&quot;width&quot;:946.4558267716535}"/>
</p:tagLst>
</file>

<file path=ppt/tags/tag561.xml><?xml version="1.0" encoding="utf-8"?>
<p:tagLst xmlns:p="http://schemas.openxmlformats.org/presentationml/2006/main">
  <p:tag name="KSO_WM_UNIT_LINE_FORE_SCHEMECOLOR_INDEX_BRIGHTNESS" val="0"/>
  <p:tag name="KSO_WM_UNIT_LINE_FILL_TYPE" val="2"/>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DIAGRAM_GROUP_CODE" val="m1-1"/>
  <p:tag name="KSO_WM_UNIT_TYPE" val="m_h_a"/>
  <p:tag name="KSO_WM_UNIT_INDEX" val="1_2_1"/>
  <p:tag name="KSO_WM_UNIT_ID" val="diagram20233276_1*m_h_a*1_2_1"/>
  <p:tag name="KSO_WM_TEMPLATE_CATEGORY" val="diagram"/>
  <p:tag name="KSO_WM_TEMPLATE_INDEX" val="20233276"/>
  <p:tag name="KSO_WM_UNIT_LAYERLEVEL" val="1_1_1"/>
  <p:tag name="KSO_WM_TAG_VERSION" val="3.0"/>
  <p:tag name="KSO_WM_DIAGRAM_MAX_ITEMCNT" val="6"/>
  <p:tag name="KSO_WM_DIAGRAM_MIN_ITEMCNT" val="6"/>
  <p:tag name="KSO_WM_DIAGRAM_VIRTUALLY_FRAME" val="{&quot;height&quot;:426.544409448819,&quot;left&quot;:35.39984251968504,&quot;top&quot;:84.20850393700786,&quot;width&quot;:899.276771653543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TEXT_TYPE" val="1"/>
  <p:tag name="KSO_WM_UNIT_PRESET_TEXT" val="添加项标题"/>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562.xml><?xml version="1.0" encoding="utf-8"?>
<p:tagLst xmlns:p="http://schemas.openxmlformats.org/presentationml/2006/main">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DIAGRAM_GROUP_CODE" val="m1-1"/>
  <p:tag name="KSO_WM_UNIT_TYPE" val="m_h_a"/>
  <p:tag name="KSO_WM_UNIT_INDEX" val="1_3_1"/>
  <p:tag name="KSO_WM_UNIT_ID" val="diagram20233276_1*m_h_a*1_3_1"/>
  <p:tag name="KSO_WM_TEMPLATE_CATEGORY" val="diagram"/>
  <p:tag name="KSO_WM_TEMPLATE_INDEX" val="20233276"/>
  <p:tag name="KSO_WM_UNIT_LAYERLEVEL" val="1_1_1"/>
  <p:tag name="KSO_WM_TAG_VERSION" val="3.0"/>
  <p:tag name="KSO_WM_DIAGRAM_MAX_ITEMCNT" val="6"/>
  <p:tag name="KSO_WM_DIAGRAM_MIN_ITEMCNT" val="6"/>
  <p:tag name="KSO_WM_DIAGRAM_VIRTUALLY_FRAME" val="{&quot;height&quot;:426.544409448819,&quot;left&quot;:35.39984251968504,&quot;top&quot;:84.20850393700786,&quot;width&quot;:899.276771653543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TEXT_TYPE" val="1"/>
  <p:tag name="KSO_WM_UNIT_PRESET_TEXT" val="添加项标题"/>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563.xml><?xml version="1.0" encoding="utf-8"?>
<p:tagLst xmlns:p="http://schemas.openxmlformats.org/presentationml/2006/main">
  <p:tag name="KSO_WM_UNIT_LINE_FORE_SCHEMECOLOR_INDEX_BRIGHTNESS" val="0"/>
  <p:tag name="KSO_WM_UNIT_LINE_FILL_TYPE" val="2"/>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DIAGRAM_GROUP_CODE" val="m1-1"/>
  <p:tag name="KSO_WM_UNIT_TYPE" val="m_h_a"/>
  <p:tag name="KSO_WM_UNIT_INDEX" val="1_4_1"/>
  <p:tag name="KSO_WM_UNIT_ID" val="diagram20233276_1*m_h_a*1_4_1"/>
  <p:tag name="KSO_WM_TEMPLATE_CATEGORY" val="diagram"/>
  <p:tag name="KSO_WM_TEMPLATE_INDEX" val="20233276"/>
  <p:tag name="KSO_WM_UNIT_LAYERLEVEL" val="1_1_1"/>
  <p:tag name="KSO_WM_TAG_VERSION" val="3.0"/>
  <p:tag name="KSO_WM_DIAGRAM_MAX_ITEMCNT" val="6"/>
  <p:tag name="KSO_WM_DIAGRAM_MIN_ITEMCNT" val="6"/>
  <p:tag name="KSO_WM_DIAGRAM_VIRTUALLY_FRAME" val="{&quot;height&quot;:426.544409448819,&quot;left&quot;:35.39984251968504,&quot;top&quot;:84.20850393700786,&quot;width&quot;:899.276771653543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TEXT_TYPE" val="1"/>
  <p:tag name="KSO_WM_UNIT_PRESET_TEXT" val="添加项标题"/>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564.xml><?xml version="1.0" encoding="utf-8"?>
<p:tagLst xmlns:p="http://schemas.openxmlformats.org/presentationml/2006/main">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DIAGRAM_GROUP_CODE" val="m1-1"/>
  <p:tag name="KSO_WM_UNIT_TYPE" val="m_h_a"/>
  <p:tag name="KSO_WM_UNIT_INDEX" val="1_5_1"/>
  <p:tag name="KSO_WM_UNIT_ID" val="diagram20233276_1*m_h_a*1_5_1"/>
  <p:tag name="KSO_WM_TEMPLATE_CATEGORY" val="diagram"/>
  <p:tag name="KSO_WM_TEMPLATE_INDEX" val="20233276"/>
  <p:tag name="KSO_WM_UNIT_LAYERLEVEL" val="1_1_1"/>
  <p:tag name="KSO_WM_TAG_VERSION" val="3.0"/>
  <p:tag name="KSO_WM_DIAGRAM_MAX_ITEMCNT" val="6"/>
  <p:tag name="KSO_WM_DIAGRAM_MIN_ITEMCNT" val="6"/>
  <p:tag name="KSO_WM_DIAGRAM_VIRTUALLY_FRAME" val="{&quot;height&quot;:426.544409448819,&quot;left&quot;:35.39984251968504,&quot;top&quot;:84.20850393700786,&quot;width&quot;:899.276771653543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TEXT_TYPE" val="1"/>
  <p:tag name="KSO_WM_UNIT_PRESET_TEXT" val="添加项标题"/>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565.xml><?xml version="1.0" encoding="utf-8"?>
<p:tagLst xmlns:p="http://schemas.openxmlformats.org/presentationml/2006/main">
  <p:tag name="KSO_WM_UNIT_LINE_FORE_SCHEMECOLOR_INDEX_BRIGHTNESS" val="0"/>
  <p:tag name="KSO_WM_UNIT_LINE_FILL_TYPE" val="2"/>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DIAGRAM_GROUP_CODE" val="m1-1"/>
  <p:tag name="KSO_WM_UNIT_TYPE" val="m_h_a"/>
  <p:tag name="KSO_WM_UNIT_INDEX" val="1_6_1"/>
  <p:tag name="KSO_WM_UNIT_ID" val="diagram20233276_1*m_h_a*1_6_1"/>
  <p:tag name="KSO_WM_TEMPLATE_CATEGORY" val="diagram"/>
  <p:tag name="KSO_WM_TEMPLATE_INDEX" val="20233276"/>
  <p:tag name="KSO_WM_UNIT_LAYERLEVEL" val="1_1_1"/>
  <p:tag name="KSO_WM_TAG_VERSION" val="3.0"/>
  <p:tag name="KSO_WM_DIAGRAM_MAX_ITEMCNT" val="6"/>
  <p:tag name="KSO_WM_DIAGRAM_MIN_ITEMCNT" val="6"/>
  <p:tag name="KSO_WM_DIAGRAM_VIRTUALLY_FRAME" val="{&quot;height&quot;:426.544409448819,&quot;left&quot;:35.39984251968504,&quot;top&quot;:84.20850393700786,&quot;width&quot;:899.276771653543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TEXT_TYPE" val="1"/>
  <p:tag name="KSO_WM_UNIT_PRESET_TEXT" val="添加项标题"/>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566.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67.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68.xml><?xml version="1.0" encoding="utf-8"?>
<p:tagLst xmlns:p="http://schemas.openxmlformats.org/presentationml/2006/main">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20233276_1*m_h_a*1_1_1"/>
  <p:tag name="KSO_WM_TEMPLATE_CATEGORY" val="diagram"/>
  <p:tag name="KSO_WM_TEMPLATE_INDEX" val="20233276"/>
  <p:tag name="KSO_WM_UNIT_LAYERLEVEL" val="1_1_1"/>
  <p:tag name="KSO_WM_TAG_VERSION" val="3.0"/>
  <p:tag name="KSO_WM_DIAGRAM_MAX_ITEMCNT" val="6"/>
  <p:tag name="KSO_WM_DIAGRAM_MIN_ITEMCNT" val="6"/>
  <p:tag name="KSO_WM_DIAGRAM_VIRTUALLY_FRAME" val="{&quot;height&quot;:426.544409448819,&quot;left&quot;:35.39984251968504,&quot;top&quot;:84.20850393700786,&quot;width&quot;:899.276771653543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TEXT_TYPE" val="1"/>
  <p:tag name="KSO_WM_UNIT_PRESET_TEXT" val="添加项标题"/>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569.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70.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71.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72.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73.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74.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75.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76.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77.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78.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79.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80.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81.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82.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83.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84.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85.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86.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87.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88.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89.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90.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91.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92.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93.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94.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95.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96.xml><?xml version="1.0" encoding="utf-8"?>
<p:tagLst xmlns:p="http://schemas.openxmlformats.org/presentationml/2006/main">
  <p:tag name="KSO_WM_DIAGRAM_VIRTUALLY_FRAME" val="{&quot;height&quot;:426.544409448819,&quot;left&quot;:35.39984251968504,&quot;top&quot;:84.20850393700786,&quot;width&quot;:899.2767716535433}"/>
</p:tagLst>
</file>

<file path=ppt/tags/tag597.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598.xml><?xml version="1.0" encoding="utf-8"?>
<p:tagLst xmlns:p="http://schemas.openxmlformats.org/presentationml/2006/main">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599.xml><?xml version="1.0" encoding="utf-8"?>
<p:tagLst xmlns:p="http://schemas.openxmlformats.org/presentationml/2006/main">
  <p:tag name="KSO_WM_DIAGRAM_VIRTUALLY_FRAME" val="{&quot;height&quot;:411.9,&quot;left&quot;:0,&quot;top&quot;:90.55,&quot;width&quot;:936}"/>
</p:tagLst>
</file>

<file path=ppt/tags/tag600.xml><?xml version="1.0" encoding="utf-8"?>
<p:tagLst xmlns:p="http://schemas.openxmlformats.org/presentationml/2006/main">
  <p:tag name="KSO_WM_DIAGRAM_VIRTUALLY_FRAME" val="{&quot;height&quot;:411.9,&quot;left&quot;:0,&quot;top&quot;:90.55,&quot;width&quot;:936}"/>
</p:tagLst>
</file>

<file path=ppt/tags/tag601.xml><?xml version="1.0" encoding="utf-8"?>
<p:tagLst xmlns:p="http://schemas.openxmlformats.org/presentationml/2006/main">
  <p:tag name="KSO_WM_DIAGRAM_VIRTUALLY_FRAME" val="{&quot;height&quot;:411.9,&quot;left&quot;:0,&quot;top&quot;:90.55,&quot;width&quot;:936}"/>
</p:tagLst>
</file>

<file path=ppt/tags/tag602.xml><?xml version="1.0" encoding="utf-8"?>
<p:tagLst xmlns:p="http://schemas.openxmlformats.org/presentationml/2006/main">
  <p:tag name="KSO_WM_DIAGRAM_VIRTUALLY_FRAME" val="{&quot;height&quot;:411.9,&quot;left&quot;:0,&quot;top&quot;:90.55,&quot;width&quot;:936}"/>
</p:tagLst>
</file>

<file path=ppt/tags/tag603.xml><?xml version="1.0" encoding="utf-8"?>
<p:tagLst xmlns:p="http://schemas.openxmlformats.org/presentationml/2006/main">
  <p:tag name="KSO_WM_DIAGRAM_VIRTUALLY_FRAME" val="{&quot;height&quot;:411.9,&quot;left&quot;:0,&quot;top&quot;:90.55,&quot;width&quot;:936}"/>
</p:tagLst>
</file>

<file path=ppt/tags/tag604.xml><?xml version="1.0" encoding="utf-8"?>
<p:tagLst xmlns:p="http://schemas.openxmlformats.org/presentationml/2006/main">
  <p:tag name="KSO_WM_DIAGRAM_VIRTUALLY_FRAME" val="{&quot;height&quot;:411.9,&quot;left&quot;:0,&quot;top&quot;:90.55,&quot;width&quot;:936}"/>
</p:tagLst>
</file>

<file path=ppt/tags/tag605.xml><?xml version="1.0" encoding="utf-8"?>
<p:tagLst xmlns:p="http://schemas.openxmlformats.org/presentationml/2006/main">
  <p:tag name="KSO_WM_DIAGRAM_VIRTUALLY_FRAME" val="{&quot;height&quot;:411.9,&quot;left&quot;:0,&quot;top&quot;:90.55,&quot;width&quot;:936}"/>
</p:tagLst>
</file>

<file path=ppt/tags/tag606.xml><?xml version="1.0" encoding="utf-8"?>
<p:tagLst xmlns:p="http://schemas.openxmlformats.org/presentationml/2006/main">
  <p:tag name="KSO_WM_DIAGRAM_VIRTUALLY_FRAME" val="{&quot;height&quot;:411.9,&quot;left&quot;:0,&quot;top&quot;:90.55,&quot;width&quot;:936}"/>
</p:tagLst>
</file>

<file path=ppt/tags/tag607.xml><?xml version="1.0" encoding="utf-8"?>
<p:tagLst xmlns:p="http://schemas.openxmlformats.org/presentationml/2006/main">
  <p:tag name="KSO_WM_DIAGRAM_VIRTUALLY_FRAME" val="{&quot;height&quot;:411.9,&quot;left&quot;:0,&quot;top&quot;:90.55,&quot;width&quot;:936}"/>
</p:tagLst>
</file>

<file path=ppt/tags/tag608.xml><?xml version="1.0" encoding="utf-8"?>
<p:tagLst xmlns:p="http://schemas.openxmlformats.org/presentationml/2006/main">
  <p:tag name="KSO_WM_DIAGRAM_VIRTUALLY_FRAME" val="{&quot;height&quot;:411.9,&quot;left&quot;:0,&quot;top&quot;:90.55,&quot;width&quot;:936}"/>
</p:tagLst>
</file>

<file path=ppt/tags/tag609.xml><?xml version="1.0" encoding="utf-8"?>
<p:tagLst xmlns:p="http://schemas.openxmlformats.org/presentationml/2006/main">
  <p:tag name="KSO_WM_DIAGRAM_VIRTUALLY_FRAME" val="{&quot;height&quot;:411.9,&quot;left&quot;:0,&quot;top&quot;:90.55,&quot;width&quot;:936}"/>
</p:tagLst>
</file>

<file path=ppt/tags/tag610.xml><?xml version="1.0" encoding="utf-8"?>
<p:tagLst xmlns:p="http://schemas.openxmlformats.org/presentationml/2006/main">
  <p:tag name="KSO_WM_DIAGRAM_VIRTUALLY_FRAME" val="{&quot;height&quot;:411.9,&quot;left&quot;:0,&quot;top&quot;:90.55,&quot;width&quot;:936}"/>
</p:tagLst>
</file>

<file path=ppt/tags/tag611.xml><?xml version="1.0" encoding="utf-8"?>
<p:tagLst xmlns:p="http://schemas.openxmlformats.org/presentationml/2006/main">
  <p:tag name="KSO_WM_DIAGRAM_VIRTUALLY_FRAME" val="{&quot;height&quot;:411.9,&quot;left&quot;:0,&quot;top&quot;:90.55,&quot;width&quot;:936}"/>
</p:tagLst>
</file>

<file path=ppt/tags/tag612.xml><?xml version="1.0" encoding="utf-8"?>
<p:tagLst xmlns:p="http://schemas.openxmlformats.org/presentationml/2006/main">
  <p:tag name="KSO_WM_DIAGRAM_VIRTUALLY_FRAME" val="{&quot;height&quot;:411.9,&quot;left&quot;:0,&quot;top&quot;:90.55,&quot;width&quot;:936}"/>
</p:tagLst>
</file>

<file path=ppt/tags/tag613.xml><?xml version="1.0" encoding="utf-8"?>
<p:tagLst xmlns:p="http://schemas.openxmlformats.org/presentationml/2006/main">
  <p:tag name="KSO_WM_DIAGRAM_VIRTUALLY_FRAME" val="{&quot;height&quot;:411.9,&quot;left&quot;:0,&quot;top&quot;:90.55,&quot;width&quot;:936}"/>
</p:tagLst>
</file>

<file path=ppt/tags/tag614.xml><?xml version="1.0" encoding="utf-8"?>
<p:tagLst xmlns:p="http://schemas.openxmlformats.org/presentationml/2006/main">
  <p:tag name="KSO_WM_DIAGRAM_VIRTUALLY_FRAME" val="{&quot;height&quot;:411.9,&quot;left&quot;:0,&quot;top&quot;:90.55,&quot;width&quot;:936}"/>
</p:tagLst>
</file>

<file path=ppt/tags/tag615.xml><?xml version="1.0" encoding="utf-8"?>
<p:tagLst xmlns:p="http://schemas.openxmlformats.org/presentationml/2006/main">
  <p:tag name="KSO_WM_DIAGRAM_VIRTUALLY_FRAME" val="{&quot;height&quot;:411.9,&quot;left&quot;:0,&quot;top&quot;:90.55,&quot;width&quot;:936}"/>
</p:tagLst>
</file>

<file path=ppt/tags/tag616.xml><?xml version="1.0" encoding="utf-8"?>
<p:tagLst xmlns:p="http://schemas.openxmlformats.org/presentationml/2006/main">
  <p:tag name="KSO_WM_DIAGRAM_VIRTUALLY_FRAME" val="{&quot;height&quot;:411.9,&quot;left&quot;:0,&quot;top&quot;:90.55,&quot;width&quot;:936}"/>
</p:tagLst>
</file>

<file path=ppt/tags/tag617.xml><?xml version="1.0" encoding="utf-8"?>
<p:tagLst xmlns:p="http://schemas.openxmlformats.org/presentationml/2006/main">
  <p:tag name="KSO_WM_DIAGRAM_VIRTUALLY_FRAME" val="{&quot;height&quot;:411.9,&quot;left&quot;:0,&quot;top&quot;:90.55,&quot;width&quot;:936}"/>
</p:tagLst>
</file>

<file path=ppt/tags/tag618.xml><?xml version="1.0" encoding="utf-8"?>
<p:tagLst xmlns:p="http://schemas.openxmlformats.org/presentationml/2006/main">
  <p:tag name="KSO_WM_DIAGRAM_VIRTUALLY_FRAME" val="{&quot;height&quot;:411.9,&quot;left&quot;:0,&quot;top&quot;:90.55,&quot;width&quot;:936}"/>
</p:tagLst>
</file>

<file path=ppt/tags/tag619.xml><?xml version="1.0" encoding="utf-8"?>
<p:tagLst xmlns:p="http://schemas.openxmlformats.org/presentationml/2006/main">
  <p:tag name="KSO_WM_DIAGRAM_VIRTUALLY_FRAME" val="{&quot;height&quot;:411.9,&quot;left&quot;:0,&quot;top&quot;:90.55,&quot;width&quot;:936}"/>
</p:tagLst>
</file>

<file path=ppt/tags/tag620.xml><?xml version="1.0" encoding="utf-8"?>
<p:tagLst xmlns:p="http://schemas.openxmlformats.org/presentationml/2006/main">
  <p:tag name="KSO_WM_DIAGRAM_VIRTUALLY_FRAME" val="{&quot;height&quot;:411.9,&quot;left&quot;:0,&quot;top&quot;:90.55,&quot;width&quot;:936}"/>
</p:tagLst>
</file>

<file path=ppt/tags/tag621.xml><?xml version="1.0" encoding="utf-8"?>
<p:tagLst xmlns:p="http://schemas.openxmlformats.org/presentationml/2006/main">
  <p:tag name="KSO_WM_DIAGRAM_VIRTUALLY_FRAME" val="{&quot;height&quot;:411.9,&quot;left&quot;:0,&quot;top&quot;:90.55,&quot;width&quot;:936}"/>
</p:tagLst>
</file>

<file path=ppt/tags/tag622.xml><?xml version="1.0" encoding="utf-8"?>
<p:tagLst xmlns:p="http://schemas.openxmlformats.org/presentationml/2006/main">
  <p:tag name="KSO_WM_DIAGRAM_VIRTUALLY_FRAME" val="{&quot;height&quot;:411.9,&quot;left&quot;:0,&quot;top&quot;:90.55,&quot;width&quot;:936}"/>
</p:tagLst>
</file>

<file path=ppt/tags/tag623.xml><?xml version="1.0" encoding="utf-8"?>
<p:tagLst xmlns:p="http://schemas.openxmlformats.org/presentationml/2006/main">
  <p:tag name="KSO_WM_DIAGRAM_VIRTUALLY_FRAME" val="{&quot;height&quot;:411.9,&quot;left&quot;:0,&quot;top&quot;:90.55,&quot;width&quot;:936}"/>
</p:tagLst>
</file>

<file path=ppt/tags/tag624.xml><?xml version="1.0" encoding="utf-8"?>
<p:tagLst xmlns:p="http://schemas.openxmlformats.org/presentationml/2006/main">
  <p:tag name="KSO_WM_DIAGRAM_VIRTUALLY_FRAME" val="{&quot;height&quot;:411.9,&quot;left&quot;:0,&quot;top&quot;:90.55,&quot;width&quot;:936}"/>
</p:tagLst>
</file>

<file path=ppt/tags/tag625.xml><?xml version="1.0" encoding="utf-8"?>
<p:tagLst xmlns:p="http://schemas.openxmlformats.org/presentationml/2006/main">
  <p:tag name="KSO_WM_DIAGRAM_VIRTUALLY_FRAME" val="{&quot;height&quot;:411.9,&quot;left&quot;:0,&quot;top&quot;:90.55,&quot;width&quot;:936}"/>
</p:tagLst>
</file>

<file path=ppt/tags/tag626.xml><?xml version="1.0" encoding="utf-8"?>
<p:tagLst xmlns:p="http://schemas.openxmlformats.org/presentationml/2006/main">
  <p:tag name="KSO_WM_DIAGRAM_VIRTUALLY_FRAME" val="{&quot;height&quot;:411.9,&quot;left&quot;:0,&quot;top&quot;:90.55,&quot;width&quot;:936}"/>
</p:tagLst>
</file>

<file path=ppt/tags/tag627.xml><?xml version="1.0" encoding="utf-8"?>
<p:tagLst xmlns:p="http://schemas.openxmlformats.org/presentationml/2006/main">
  <p:tag name="KSO_WM_DIAGRAM_VIRTUALLY_FRAME" val="{&quot;height&quot;:411.9,&quot;left&quot;:0,&quot;top&quot;:90.55,&quot;width&quot;:936}"/>
</p:tagLst>
</file>

<file path=ppt/tags/tag628.xml><?xml version="1.0" encoding="utf-8"?>
<p:tagLst xmlns:p="http://schemas.openxmlformats.org/presentationml/2006/main">
  <p:tag name="KSO_WM_DIAGRAM_VIRTUALLY_FRAME" val="{&quot;height&quot;:411.9,&quot;left&quot;:0,&quot;top&quot;:90.55,&quot;width&quot;:936}"/>
</p:tagLst>
</file>

<file path=ppt/tags/tag629.xml><?xml version="1.0" encoding="utf-8"?>
<p:tagLst xmlns:p="http://schemas.openxmlformats.org/presentationml/2006/main">
  <p:tag name="KSO_WM_DIAGRAM_VIRTUALLY_FRAME" val="{&quot;height&quot;:411.9,&quot;left&quot;:0,&quot;top&quot;:90.55,&quot;width&quot;:936}"/>
</p:tagLst>
</file>

<file path=ppt/tags/tag630.xml><?xml version="1.0" encoding="utf-8"?>
<p:tagLst xmlns:p="http://schemas.openxmlformats.org/presentationml/2006/main">
  <p:tag name="KSO_WM_DIAGRAM_VIRTUALLY_FRAME" val="{&quot;height&quot;:411.9,&quot;left&quot;:0,&quot;top&quot;:90.55,&quot;width&quot;:936}"/>
</p:tagLst>
</file>

<file path=ppt/tags/tag631.xml><?xml version="1.0" encoding="utf-8"?>
<p:tagLst xmlns:p="http://schemas.openxmlformats.org/presentationml/2006/main">
  <p:tag name="KSO_WM_DIAGRAM_VIRTUALLY_FRAME" val="{&quot;height&quot;:411.9,&quot;left&quot;:0,&quot;top&quot;:90.55,&quot;width&quot;:936}"/>
</p:tagLst>
</file>

<file path=ppt/tags/tag632.xml><?xml version="1.0" encoding="utf-8"?>
<p:tagLst xmlns:p="http://schemas.openxmlformats.org/presentationml/2006/main">
  <p:tag name="KSO_WM_DIAGRAM_VIRTUALLY_FRAME" val="{&quot;height&quot;:411.9,&quot;left&quot;:0,&quot;top&quot;:90.55,&quot;width&quot;:936}"/>
</p:tagLst>
</file>

<file path=ppt/tags/tag633.xml><?xml version="1.0" encoding="utf-8"?>
<p:tagLst xmlns:p="http://schemas.openxmlformats.org/presentationml/2006/main">
  <p:tag name="KSO_WM_DIAGRAM_VIRTUALLY_FRAME" val="{&quot;height&quot;:411.9,&quot;left&quot;:0,&quot;top&quot;:90.55,&quot;width&quot;:936}"/>
</p:tagLst>
</file>

<file path=ppt/tags/tag634.xml><?xml version="1.0" encoding="utf-8"?>
<p:tagLst xmlns:p="http://schemas.openxmlformats.org/presentationml/2006/main">
  <p:tag name="KSO_WM_DIAGRAM_VIRTUALLY_FRAME" val="{&quot;height&quot;:411.9,&quot;left&quot;:0,&quot;top&quot;:90.55,&quot;width&quot;:936}"/>
</p:tagLst>
</file>

<file path=ppt/tags/tag635.xml><?xml version="1.0" encoding="utf-8"?>
<p:tagLst xmlns:p="http://schemas.openxmlformats.org/presentationml/2006/main">
  <p:tag name="KSO_WM_DIAGRAM_VIRTUALLY_FRAME" val="{&quot;height&quot;:411.9,&quot;left&quot;:0,&quot;top&quot;:90.55,&quot;width&quot;:936}"/>
</p:tagLst>
</file>

<file path=ppt/tags/tag636.xml><?xml version="1.0" encoding="utf-8"?>
<p:tagLst xmlns:p="http://schemas.openxmlformats.org/presentationml/2006/main">
  <p:tag name="KSO_WM_DIAGRAM_VIRTUALLY_FRAME" val="{&quot;height&quot;:411.9,&quot;left&quot;:0,&quot;top&quot;:90.55,&quot;width&quot;:936}"/>
</p:tagLst>
</file>

<file path=ppt/tags/tag637.xml><?xml version="1.0" encoding="utf-8"?>
<p:tagLst xmlns:p="http://schemas.openxmlformats.org/presentationml/2006/main">
  <p:tag name="KSO_WM_DIAGRAM_VIRTUALLY_FRAME" val="{&quot;height&quot;:411.9,&quot;left&quot;:0,&quot;top&quot;:90.55,&quot;width&quot;:936}"/>
</p:tagLst>
</file>

<file path=ppt/tags/tag638.xml><?xml version="1.0" encoding="utf-8"?>
<p:tagLst xmlns:p="http://schemas.openxmlformats.org/presentationml/2006/main">
  <p:tag name="KSO_WM_DIAGRAM_VIRTUALLY_FRAME" val="{&quot;height&quot;:411.9,&quot;left&quot;:0,&quot;top&quot;:90.55,&quot;width&quot;:936}"/>
</p:tagLst>
</file>

<file path=ppt/tags/tag639.xml><?xml version="1.0" encoding="utf-8"?>
<p:tagLst xmlns:p="http://schemas.openxmlformats.org/presentationml/2006/main">
  <p:tag name="KSO_WM_DIAGRAM_VIRTUALLY_FRAME" val="{&quot;height&quot;:411.9,&quot;left&quot;:0,&quot;top&quot;:90.55,&quot;width&quot;:936}"/>
</p:tagLst>
</file>

<file path=ppt/tags/tag640.xml><?xml version="1.0" encoding="utf-8"?>
<p:tagLst xmlns:p="http://schemas.openxmlformats.org/presentationml/2006/main">
  <p:tag name="KSO_WM_DIAGRAM_VIRTUALLY_FRAME" val="{&quot;height&quot;:411.9,&quot;left&quot;:0,&quot;top&quot;:90.55,&quot;width&quot;:936}"/>
</p:tagLst>
</file>

<file path=ppt/tags/tag641.xml><?xml version="1.0" encoding="utf-8"?>
<p:tagLst xmlns:p="http://schemas.openxmlformats.org/presentationml/2006/main">
  <p:tag name="KSO_WM_DIAGRAM_VIRTUALLY_FRAME" val="{&quot;height&quot;:411.9,&quot;left&quot;:0,&quot;top&quot;:90.55,&quot;width&quot;:936}"/>
</p:tagLst>
</file>

<file path=ppt/tags/tag642.xml><?xml version="1.0" encoding="utf-8"?>
<p:tagLst xmlns:p="http://schemas.openxmlformats.org/presentationml/2006/main">
  <p:tag name="KSO_WM_DIAGRAM_VIRTUALLY_FRAME" val="{&quot;height&quot;:411.9,&quot;left&quot;:0,&quot;top&quot;:90.55,&quot;width&quot;:936}"/>
</p:tagLst>
</file>

<file path=ppt/tags/tag643.xml><?xml version="1.0" encoding="utf-8"?>
<p:tagLst xmlns:p="http://schemas.openxmlformats.org/presentationml/2006/main">
  <p:tag name="KSO_WM_DIAGRAM_VIRTUALLY_FRAME" val="{&quot;height&quot;:411.9,&quot;left&quot;:0,&quot;top&quot;:90.55,&quot;width&quot;:936}"/>
</p:tagLst>
</file>

<file path=ppt/tags/tag644.xml><?xml version="1.0" encoding="utf-8"?>
<p:tagLst xmlns:p="http://schemas.openxmlformats.org/presentationml/2006/main">
  <p:tag name="KSO_WM_DIAGRAM_VIRTUALLY_FRAME" val="{&quot;height&quot;:411.9,&quot;left&quot;:0,&quot;top&quot;:90.55,&quot;width&quot;:936}"/>
</p:tagLst>
</file>

<file path=ppt/tags/tag645.xml><?xml version="1.0" encoding="utf-8"?>
<p:tagLst xmlns:p="http://schemas.openxmlformats.org/presentationml/2006/main">
  <p:tag name="KSO_WM_DIAGRAM_VIRTUALLY_FRAME" val="{&quot;height&quot;:411.9,&quot;left&quot;:0,&quot;top&quot;:90.55,&quot;width&quot;:936}"/>
</p:tagLst>
</file>

<file path=ppt/tags/tag646.xml><?xml version="1.0" encoding="utf-8"?>
<p:tagLst xmlns:p="http://schemas.openxmlformats.org/presentationml/2006/main">
  <p:tag name="KSO_WM_DIAGRAM_VIRTUALLY_FRAME" val="{&quot;height&quot;:411.9,&quot;left&quot;:0,&quot;top&quot;:90.55,&quot;width&quot;:936}"/>
</p:tagLst>
</file>

<file path=ppt/tags/tag647.xml><?xml version="1.0" encoding="utf-8"?>
<p:tagLst xmlns:p="http://schemas.openxmlformats.org/presentationml/2006/main">
  <p:tag name="KSO_WM_DIAGRAM_VIRTUALLY_FRAME" val="{&quot;height&quot;:411.9,&quot;left&quot;:0,&quot;top&quot;:90.55,&quot;width&quot;:936}"/>
</p:tagLst>
</file>

<file path=ppt/tags/tag648.xml><?xml version="1.0" encoding="utf-8"?>
<p:tagLst xmlns:p="http://schemas.openxmlformats.org/presentationml/2006/main">
  <p:tag name="KSO_WM_DIAGRAM_VIRTUALLY_FRAME" val="{&quot;height&quot;:411.9,&quot;left&quot;:0,&quot;top&quot;:90.55,&quot;width&quot;:936}"/>
</p:tagLst>
</file>

<file path=ppt/tags/tag649.xml><?xml version="1.0" encoding="utf-8"?>
<p:tagLst xmlns:p="http://schemas.openxmlformats.org/presentationml/2006/main">
  <p:tag name="KSO_WM_DIAGRAM_VIRTUALLY_FRAME" val="{&quot;height&quot;:411.9,&quot;left&quot;:0,&quot;top&quot;:90.55,&quot;width&quot;:936}"/>
</p:tagLst>
</file>

<file path=ppt/tags/tag650.xml><?xml version="1.0" encoding="utf-8"?>
<p:tagLst xmlns:p="http://schemas.openxmlformats.org/presentationml/2006/main">
  <p:tag name="KSO_WM_DIAGRAM_VIRTUALLY_FRAME" val="{&quot;height&quot;:411.9,&quot;left&quot;:0,&quot;top&quot;:90.55,&quot;width&quot;:936}"/>
</p:tagLst>
</file>

<file path=ppt/tags/tag651.xml><?xml version="1.0" encoding="utf-8"?>
<p:tagLst xmlns:p="http://schemas.openxmlformats.org/presentationml/2006/main">
  <p:tag name="KSO_WM_DIAGRAM_VIRTUALLY_FRAME" val="{&quot;height&quot;:411.9,&quot;left&quot;:0,&quot;top&quot;:90.55,&quot;width&quot;:936}"/>
</p:tagLst>
</file>

<file path=ppt/tags/tag652.xml><?xml version="1.0" encoding="utf-8"?>
<p:tagLst xmlns:p="http://schemas.openxmlformats.org/presentationml/2006/main">
  <p:tag name="KSO_WM_DIAGRAM_VIRTUALLY_FRAME" val="{&quot;height&quot;:411.9,&quot;left&quot;:0,&quot;top&quot;:90.55,&quot;width&quot;:936}"/>
</p:tagLst>
</file>

<file path=ppt/tags/tag653.xml><?xml version="1.0" encoding="utf-8"?>
<p:tagLst xmlns:p="http://schemas.openxmlformats.org/presentationml/2006/main">
  <p:tag name="KSO_WM_DIAGRAM_VIRTUALLY_FRAME" val="{&quot;height&quot;:411.9,&quot;left&quot;:0,&quot;top&quot;:90.55,&quot;width&quot;:936}"/>
</p:tagLst>
</file>

<file path=ppt/tags/tag654.xml><?xml version="1.0" encoding="utf-8"?>
<p:tagLst xmlns:p="http://schemas.openxmlformats.org/presentationml/2006/main">
  <p:tag name="KSO_WM_DIAGRAM_VIRTUALLY_FRAME" val="{&quot;height&quot;:411.9,&quot;left&quot;:0,&quot;top&quot;:90.55,&quot;width&quot;:936}"/>
</p:tagLst>
</file>

<file path=ppt/tags/tag655.xml><?xml version="1.0" encoding="utf-8"?>
<p:tagLst xmlns:p="http://schemas.openxmlformats.org/presentationml/2006/main">
  <p:tag name="KSO_WM_DIAGRAM_VIRTUALLY_FRAME" val="{&quot;height&quot;:411.9,&quot;left&quot;:0,&quot;top&quot;:90.55,&quot;width&quot;:936}"/>
</p:tagLst>
</file>

<file path=ppt/tags/tag656.xml><?xml version="1.0" encoding="utf-8"?>
<p:tagLst xmlns:p="http://schemas.openxmlformats.org/presentationml/2006/main">
  <p:tag name="KSO_WM_DIAGRAM_VIRTUALLY_FRAME" val="{&quot;height&quot;:411.9,&quot;left&quot;:0,&quot;top&quot;:90.55,&quot;width&quot;:936}"/>
</p:tagLst>
</file>

<file path=ppt/tags/tag657.xml><?xml version="1.0" encoding="utf-8"?>
<p:tagLst xmlns:p="http://schemas.openxmlformats.org/presentationml/2006/main">
  <p:tag name="KSO_WM_DIAGRAM_VIRTUALLY_FRAME" val="{&quot;height&quot;:411.9,&quot;left&quot;:0,&quot;top&quot;:90.55,&quot;width&quot;:936}"/>
</p:tagLst>
</file>

<file path=ppt/tags/tag658.xml><?xml version="1.0" encoding="utf-8"?>
<p:tagLst xmlns:p="http://schemas.openxmlformats.org/presentationml/2006/main">
  <p:tag name="KSO_WM_DIAGRAM_VIRTUALLY_FRAME" val="{&quot;height&quot;:411.9,&quot;left&quot;:0,&quot;top&quot;:90.55,&quot;width&quot;:936}"/>
</p:tagLst>
</file>

<file path=ppt/tags/tag659.xml><?xml version="1.0" encoding="utf-8"?>
<p:tagLst xmlns:p="http://schemas.openxmlformats.org/presentationml/2006/main">
  <p:tag name="KSO_WM_DIAGRAM_VIRTUALLY_FRAME" val="{&quot;height&quot;:411.9,&quot;left&quot;:0,&quot;top&quot;:90.55,&quot;width&quot;:936}"/>
</p:tagLst>
</file>

<file path=ppt/tags/tag660.xml><?xml version="1.0" encoding="utf-8"?>
<p:tagLst xmlns:p="http://schemas.openxmlformats.org/presentationml/2006/main">
  <p:tag name="KSO_WM_DIAGRAM_VIRTUALLY_FRAME" val="{&quot;height&quot;:411.9,&quot;left&quot;:0,&quot;top&quot;:90.55,&quot;width&quot;:936}"/>
</p:tagLst>
</file>

<file path=ppt/tags/tag661.xml><?xml version="1.0" encoding="utf-8"?>
<p:tagLst xmlns:p="http://schemas.openxmlformats.org/presentationml/2006/main">
  <p:tag name="KSO_WM_DIAGRAM_VIRTUALLY_FRAME" val="{&quot;height&quot;:411.9,&quot;left&quot;:0,&quot;top&quot;:90.55,&quot;width&quot;:936}"/>
</p:tagLst>
</file>

<file path=ppt/tags/tag662.xml><?xml version="1.0" encoding="utf-8"?>
<p:tagLst xmlns:p="http://schemas.openxmlformats.org/presentationml/2006/main">
  <p:tag name="KSO_WM_DIAGRAM_VIRTUALLY_FRAME" val="{&quot;height&quot;:411.9,&quot;left&quot;:0,&quot;top&quot;:90.55,&quot;width&quot;:936}"/>
</p:tagLst>
</file>

<file path=ppt/tags/tag663.xml><?xml version="1.0" encoding="utf-8"?>
<p:tagLst xmlns:p="http://schemas.openxmlformats.org/presentationml/2006/main">
  <p:tag name="KSO_WM_DIAGRAM_VIRTUALLY_FRAME" val="{&quot;height&quot;:411.9,&quot;left&quot;:0,&quot;top&quot;:90.55,&quot;width&quot;:936}"/>
</p:tagLst>
</file>

<file path=ppt/tags/tag664.xml><?xml version="1.0" encoding="utf-8"?>
<p:tagLst xmlns:p="http://schemas.openxmlformats.org/presentationml/2006/main">
  <p:tag name="KSO_WM_DIAGRAM_VIRTUALLY_FRAME" val="{&quot;height&quot;:411.9,&quot;left&quot;:0,&quot;top&quot;:90.55,&quot;width&quot;:936}"/>
</p:tagLst>
</file>

<file path=ppt/tags/tag665.xml><?xml version="1.0" encoding="utf-8"?>
<p:tagLst xmlns:p="http://schemas.openxmlformats.org/presentationml/2006/main">
  <p:tag name="KSO_WM_DIAGRAM_VIRTUALLY_FRAME" val="{&quot;height&quot;:411.9,&quot;left&quot;:0,&quot;top&quot;:90.55,&quot;width&quot;:936}"/>
</p:tagLst>
</file>

<file path=ppt/tags/tag666.xml><?xml version="1.0" encoding="utf-8"?>
<p:tagLst xmlns:p="http://schemas.openxmlformats.org/presentationml/2006/main">
  <p:tag name="KSO_WM_DIAGRAM_VIRTUALLY_FRAME" val="{&quot;height&quot;:411.9,&quot;left&quot;:0,&quot;top&quot;:90.55,&quot;width&quot;:936}"/>
</p:tagLst>
</file>

<file path=ppt/tags/tag667.xml><?xml version="1.0" encoding="utf-8"?>
<p:tagLst xmlns:p="http://schemas.openxmlformats.org/presentationml/2006/main">
  <p:tag name="KSO_WM_DIAGRAM_VIRTUALLY_FRAME" val="{&quot;height&quot;:411.9,&quot;left&quot;:0,&quot;top&quot;:90.55,&quot;width&quot;:936}"/>
</p:tagLst>
</file>

<file path=ppt/tags/tag668.xml><?xml version="1.0" encoding="utf-8"?>
<p:tagLst xmlns:p="http://schemas.openxmlformats.org/presentationml/2006/main">
  <p:tag name="KSO_WM_DIAGRAM_VIRTUALLY_FRAME" val="{&quot;height&quot;:411.9,&quot;left&quot;:0,&quot;top&quot;:90.55,&quot;width&quot;:936}"/>
</p:tagLst>
</file>

<file path=ppt/tags/tag669.xml><?xml version="1.0" encoding="utf-8"?>
<p:tagLst xmlns:p="http://schemas.openxmlformats.org/presentationml/2006/main">
  <p:tag name="KSO_WM_DIAGRAM_VIRTUALLY_FRAME" val="{&quot;height&quot;:411.9,&quot;left&quot;:0,&quot;top&quot;:90.55,&quot;width&quot;:936}"/>
</p:tagLst>
</file>

<file path=ppt/tags/tag670.xml><?xml version="1.0" encoding="utf-8"?>
<p:tagLst xmlns:p="http://schemas.openxmlformats.org/presentationml/2006/main">
  <p:tag name="KSO_WM_DIAGRAM_VIRTUALLY_FRAME" val="{&quot;height&quot;:411.9,&quot;left&quot;:0,&quot;top&quot;:90.55,&quot;width&quot;:936}"/>
</p:tagLst>
</file>

<file path=ppt/tags/tag671.xml><?xml version="1.0" encoding="utf-8"?>
<p:tagLst xmlns:p="http://schemas.openxmlformats.org/presentationml/2006/main">
  <p:tag name="KSO_WM_DIAGRAM_VIRTUALLY_FRAME" val="{&quot;height&quot;:411.9,&quot;left&quot;:0,&quot;top&quot;:90.55,&quot;width&quot;:936}"/>
</p:tagLst>
</file>

<file path=ppt/tags/tag672.xml><?xml version="1.0" encoding="utf-8"?>
<p:tagLst xmlns:p="http://schemas.openxmlformats.org/presentationml/2006/main">
  <p:tag name="KSO_WM_DIAGRAM_VIRTUALLY_FRAME" val="{&quot;height&quot;:411.9,&quot;left&quot;:0,&quot;top&quot;:90.55,&quot;width&quot;:936}"/>
</p:tagLst>
</file>

<file path=ppt/tags/tag673.xml><?xml version="1.0" encoding="utf-8"?>
<p:tagLst xmlns:p="http://schemas.openxmlformats.org/presentationml/2006/main">
  <p:tag name="KSO_WM_DIAGRAM_VIRTUALLY_FRAME" val="{&quot;height&quot;:411.9,&quot;left&quot;:0,&quot;top&quot;:90.55,&quot;width&quot;:936}"/>
</p:tagLst>
</file>

<file path=ppt/tags/tag674.xml><?xml version="1.0" encoding="utf-8"?>
<p:tagLst xmlns:p="http://schemas.openxmlformats.org/presentationml/2006/main">
  <p:tag name="KSO_WM_DIAGRAM_VIRTUALLY_FRAME" val="{&quot;height&quot;:411.9,&quot;left&quot;:0,&quot;top&quot;:90.55,&quot;width&quot;:936}"/>
</p:tagLst>
</file>

<file path=ppt/tags/tag675.xml><?xml version="1.0" encoding="utf-8"?>
<p:tagLst xmlns:p="http://schemas.openxmlformats.org/presentationml/2006/main">
  <p:tag name="KSO_WM_DIAGRAM_VIRTUALLY_FRAME" val="{&quot;height&quot;:411.9,&quot;left&quot;:0,&quot;top&quot;:90.55,&quot;width&quot;:936}"/>
</p:tagLst>
</file>

<file path=ppt/tags/tag676.xml><?xml version="1.0" encoding="utf-8"?>
<p:tagLst xmlns:p="http://schemas.openxmlformats.org/presentationml/2006/main">
  <p:tag name="KSO_WM_DIAGRAM_VIRTUALLY_FRAME" val="{&quot;height&quot;:411.9,&quot;left&quot;:0,&quot;top&quot;:90.55,&quot;width&quot;:936}"/>
</p:tagLst>
</file>

<file path=ppt/tags/tag677.xml><?xml version="1.0" encoding="utf-8"?>
<p:tagLst xmlns:p="http://schemas.openxmlformats.org/presentationml/2006/main">
  <p:tag name="KSO_WM_DIAGRAM_VIRTUALLY_FRAME" val="{&quot;height&quot;:411.9,&quot;left&quot;:0,&quot;top&quot;:90.55,&quot;width&quot;:936}"/>
</p:tagLst>
</file>

<file path=ppt/tags/tag678.xml><?xml version="1.0" encoding="utf-8"?>
<p:tagLst xmlns:p="http://schemas.openxmlformats.org/presentationml/2006/main">
  <p:tag name="KSO_WM_DIAGRAM_VIRTUALLY_FRAME" val="{&quot;height&quot;:411.9,&quot;left&quot;:0,&quot;top&quot;:90.55,&quot;width&quot;:936}"/>
</p:tagLst>
</file>

<file path=ppt/tags/tag679.xml><?xml version="1.0" encoding="utf-8"?>
<p:tagLst xmlns:p="http://schemas.openxmlformats.org/presentationml/2006/main">
  <p:tag name="KSO_WM_DIAGRAM_VIRTUALLY_FRAME" val="{&quot;height&quot;:411.9,&quot;left&quot;:0,&quot;top&quot;:90.55,&quot;width&quot;:936}"/>
</p:tagLst>
</file>

<file path=ppt/tags/tag680.xml><?xml version="1.0" encoding="utf-8"?>
<p:tagLst xmlns:p="http://schemas.openxmlformats.org/presentationml/2006/main">
  <p:tag name="KSO_WM_DIAGRAM_VIRTUALLY_FRAME" val="{&quot;height&quot;:411.9,&quot;left&quot;:0,&quot;top&quot;:90.55,&quot;width&quot;:936}"/>
</p:tagLst>
</file>

<file path=ppt/tags/tag681.xml><?xml version="1.0" encoding="utf-8"?>
<p:tagLst xmlns:p="http://schemas.openxmlformats.org/presentationml/2006/main">
  <p:tag name="KSO_WM_DIAGRAM_VIRTUALLY_FRAME" val="{&quot;height&quot;:411.9,&quot;left&quot;:0,&quot;top&quot;:90.55,&quot;width&quot;:936}"/>
</p:tagLst>
</file>

<file path=ppt/tags/tag682.xml><?xml version="1.0" encoding="utf-8"?>
<p:tagLst xmlns:p="http://schemas.openxmlformats.org/presentationml/2006/main">
  <p:tag name="KSO_WM_DIAGRAM_VIRTUALLY_FRAME" val="{&quot;height&quot;:411.9,&quot;left&quot;:0,&quot;top&quot;:90.55,&quot;width&quot;:936}"/>
</p:tagLst>
</file>

<file path=ppt/tags/tag683.xml><?xml version="1.0" encoding="utf-8"?>
<p:tagLst xmlns:p="http://schemas.openxmlformats.org/presentationml/2006/main">
  <p:tag name="KSO_WM_DIAGRAM_VIRTUALLY_FRAME" val="{&quot;height&quot;:411.9,&quot;left&quot;:0,&quot;top&quot;:90.55,&quot;width&quot;:936}"/>
</p:tagLst>
</file>

<file path=ppt/tags/tag684.xml><?xml version="1.0" encoding="utf-8"?>
<p:tagLst xmlns:p="http://schemas.openxmlformats.org/presentationml/2006/main">
  <p:tag name="KSO_WM_DIAGRAM_VIRTUALLY_FRAME" val="{&quot;height&quot;:411.9,&quot;left&quot;:0,&quot;top&quot;:90.55,&quot;width&quot;:936}"/>
</p:tagLst>
</file>

<file path=ppt/tags/tag685.xml><?xml version="1.0" encoding="utf-8"?>
<p:tagLst xmlns:p="http://schemas.openxmlformats.org/presentationml/2006/main">
  <p:tag name="KSO_WM_DIAGRAM_VIRTUALLY_FRAME" val="{&quot;height&quot;:411.9,&quot;left&quot;:0,&quot;top&quot;:90.55,&quot;width&quot;:936}"/>
</p:tagLst>
</file>

<file path=ppt/tags/tag686.xml><?xml version="1.0" encoding="utf-8"?>
<p:tagLst xmlns:p="http://schemas.openxmlformats.org/presentationml/2006/main">
  <p:tag name="KSO_WM_DIAGRAM_VIRTUALLY_FRAME" val="{&quot;height&quot;:411.9,&quot;left&quot;:0,&quot;top&quot;:90.55,&quot;width&quot;:936}"/>
</p:tagLst>
</file>

<file path=ppt/tags/tag687.xml><?xml version="1.0" encoding="utf-8"?>
<p:tagLst xmlns:p="http://schemas.openxmlformats.org/presentationml/2006/main">
  <p:tag name="KSO_WM_DIAGRAM_VIRTUALLY_FRAME" val="{&quot;height&quot;:411.9,&quot;left&quot;:0,&quot;top&quot;:90.55,&quot;width&quot;:936}"/>
</p:tagLst>
</file>

<file path=ppt/tags/tag688.xml><?xml version="1.0" encoding="utf-8"?>
<p:tagLst xmlns:p="http://schemas.openxmlformats.org/presentationml/2006/main">
  <p:tag name="KSO_WM_DIAGRAM_VIRTUALLY_FRAME" val="{&quot;height&quot;:411.9,&quot;left&quot;:0,&quot;top&quot;:90.55,&quot;width&quot;:936}"/>
</p:tagLst>
</file>

<file path=ppt/tags/tag689.xml><?xml version="1.0" encoding="utf-8"?>
<p:tagLst xmlns:p="http://schemas.openxmlformats.org/presentationml/2006/main">
  <p:tag name="KSO_WM_DIAGRAM_VIRTUALLY_FRAME" val="{&quot;height&quot;:411.9,&quot;left&quot;:0,&quot;top&quot;:90.55,&quot;width&quot;:936}"/>
</p:tagLst>
</file>

<file path=ppt/tags/tag690.xml><?xml version="1.0" encoding="utf-8"?>
<p:tagLst xmlns:p="http://schemas.openxmlformats.org/presentationml/2006/main">
  <p:tag name="KSO_WM_DIAGRAM_VIRTUALLY_FRAME" val="{&quot;height&quot;:411.9,&quot;left&quot;:0,&quot;top&quot;:90.55,&quot;width&quot;:936}"/>
</p:tagLst>
</file>

<file path=ppt/tags/tag691.xml><?xml version="1.0" encoding="utf-8"?>
<p:tagLst xmlns:p="http://schemas.openxmlformats.org/presentationml/2006/main">
  <p:tag name="KSO_WM_DIAGRAM_VIRTUALLY_FRAME" val="{&quot;height&quot;:411.9,&quot;left&quot;:0,&quot;top&quot;:90.55,&quot;width&quot;:936}"/>
</p:tagLst>
</file>

<file path=ppt/tags/tag692.xml><?xml version="1.0" encoding="utf-8"?>
<p:tagLst xmlns:p="http://schemas.openxmlformats.org/presentationml/2006/main">
  <p:tag name="KSO_WM_DIAGRAM_VIRTUALLY_FRAME" val="{&quot;height&quot;:411.9,&quot;left&quot;:0,&quot;top&quot;:90.55,&quot;width&quot;:936}"/>
</p:tagLst>
</file>

<file path=ppt/tags/tag693.xml><?xml version="1.0" encoding="utf-8"?>
<p:tagLst xmlns:p="http://schemas.openxmlformats.org/presentationml/2006/main">
  <p:tag name="KSO_WM_DIAGRAM_VIRTUALLY_FRAME" val="{&quot;height&quot;:411.9,&quot;left&quot;:0,&quot;top&quot;:90.55,&quot;width&quot;:936}"/>
</p:tagLst>
</file>

<file path=ppt/tags/tag694.xml><?xml version="1.0" encoding="utf-8"?>
<p:tagLst xmlns:p="http://schemas.openxmlformats.org/presentationml/2006/main">
  <p:tag name="KSO_WM_DIAGRAM_VIRTUALLY_FRAME" val="{&quot;height&quot;:411.9,&quot;left&quot;:0,&quot;top&quot;:90.55,&quot;width&quot;:936}"/>
</p:tagLst>
</file>

<file path=ppt/tags/tag695.xml><?xml version="1.0" encoding="utf-8"?>
<p:tagLst xmlns:p="http://schemas.openxmlformats.org/presentationml/2006/main">
  <p:tag name="KSO_WM_DIAGRAM_VIRTUALLY_FRAME" val="{&quot;height&quot;:411.9,&quot;left&quot;:0,&quot;top&quot;:90.55,&quot;width&quot;:936}"/>
</p:tagLst>
</file>

<file path=ppt/tags/tag696.xml><?xml version="1.0" encoding="utf-8"?>
<p:tagLst xmlns:p="http://schemas.openxmlformats.org/presentationml/2006/main">
  <p:tag name="KSO_WM_DIAGRAM_VIRTUALLY_FRAME" val="{&quot;height&quot;:411.9,&quot;left&quot;:0,&quot;top&quot;:90.55,&quot;width&quot;:936}"/>
</p:tagLst>
</file>

<file path=ppt/tags/tag697.xml><?xml version="1.0" encoding="utf-8"?>
<p:tagLst xmlns:p="http://schemas.openxmlformats.org/presentationml/2006/main">
  <p:tag name="KSO_WM_DIAGRAM_VIRTUALLY_FRAME" val="{&quot;height&quot;:411.9,&quot;left&quot;:0,&quot;top&quot;:90.55,&quot;width&quot;:936}"/>
</p:tagLst>
</file>

<file path=ppt/tags/tag698.xml><?xml version="1.0" encoding="utf-8"?>
<p:tagLst xmlns:p="http://schemas.openxmlformats.org/presentationml/2006/main">
  <p:tag name="KSO_WM_DIAGRAM_VIRTUALLY_FRAME" val="{&quot;height&quot;:411.9,&quot;left&quot;:0,&quot;top&quot;:90.55,&quot;width&quot;:936}"/>
</p:tagLst>
</file>

<file path=ppt/tags/tag699.xml><?xml version="1.0" encoding="utf-8"?>
<p:tagLst xmlns:p="http://schemas.openxmlformats.org/presentationml/2006/main">
  <p:tag name="KSO_WM_DIAGRAM_VIRTUALLY_FRAME" val="{&quot;height&quot;:411.9,&quot;left&quot;:0,&quot;top&quot;:90.55,&quot;width&quot;:936}"/>
</p:tagLst>
</file>

<file path=ppt/tags/tag700.xml><?xml version="1.0" encoding="utf-8"?>
<p:tagLst xmlns:p="http://schemas.openxmlformats.org/presentationml/2006/main">
  <p:tag name="KSO_WM_DIAGRAM_VIRTUALLY_FRAME" val="{&quot;height&quot;:411.9,&quot;left&quot;:0,&quot;top&quot;:90.55,&quot;width&quot;:936}"/>
</p:tagLst>
</file>

<file path=ppt/tags/tag701.xml><?xml version="1.0" encoding="utf-8"?>
<p:tagLst xmlns:p="http://schemas.openxmlformats.org/presentationml/2006/main">
  <p:tag name="KSO_WM_DIAGRAM_VIRTUALLY_FRAME" val="{&quot;height&quot;:411.9,&quot;left&quot;:0,&quot;top&quot;:90.55,&quot;width&quot;:936}"/>
</p:tagLst>
</file>

<file path=ppt/tags/tag702.xml><?xml version="1.0" encoding="utf-8"?>
<p:tagLst xmlns:p="http://schemas.openxmlformats.org/presentationml/2006/main">
  <p:tag name="KSO_WM_DIAGRAM_VIRTUALLY_FRAME" val="{&quot;height&quot;:411.9,&quot;left&quot;:0,&quot;top&quot;:90.55,&quot;width&quot;:936}"/>
</p:tagLst>
</file>

<file path=ppt/tags/tag703.xml><?xml version="1.0" encoding="utf-8"?>
<p:tagLst xmlns:p="http://schemas.openxmlformats.org/presentationml/2006/main">
  <p:tag name="KSO_WM_DIAGRAM_VIRTUALLY_FRAME" val="{&quot;height&quot;:411.9,&quot;left&quot;:0,&quot;top&quot;:90.55,&quot;width&quot;:936}"/>
</p:tagLst>
</file>

<file path=ppt/tags/tag704.xml><?xml version="1.0" encoding="utf-8"?>
<p:tagLst xmlns:p="http://schemas.openxmlformats.org/presentationml/2006/main">
  <p:tag name="KSO_WM_DIAGRAM_VIRTUALLY_FRAME" val="{&quot;height&quot;:411.9,&quot;left&quot;:0,&quot;top&quot;:90.55,&quot;width&quot;:936}"/>
</p:tagLst>
</file>

<file path=ppt/tags/tag705.xml><?xml version="1.0" encoding="utf-8"?>
<p:tagLst xmlns:p="http://schemas.openxmlformats.org/presentationml/2006/main">
  <p:tag name="KSO_WM_DIAGRAM_VIRTUALLY_FRAME" val="{&quot;height&quot;:411.9,&quot;left&quot;:0,&quot;top&quot;:90.55,&quot;width&quot;:936}"/>
</p:tagLst>
</file>

<file path=ppt/tags/tag706.xml><?xml version="1.0" encoding="utf-8"?>
<p:tagLst xmlns:p="http://schemas.openxmlformats.org/presentationml/2006/main">
  <p:tag name="KSO_WM_DIAGRAM_VIRTUALLY_FRAME" val="{&quot;height&quot;:411.9,&quot;left&quot;:0,&quot;top&quot;:90.55,&quot;width&quot;:936}"/>
</p:tagLst>
</file>

<file path=ppt/tags/tag707.xml><?xml version="1.0" encoding="utf-8"?>
<p:tagLst xmlns:p="http://schemas.openxmlformats.org/presentationml/2006/main">
  <p:tag name="KSO_WM_DIAGRAM_VIRTUALLY_FRAME" val="{&quot;height&quot;:411.9,&quot;left&quot;:0,&quot;top&quot;:90.55,&quot;width&quot;:936}"/>
</p:tagLst>
</file>

<file path=ppt/tags/tag708.xml><?xml version="1.0" encoding="utf-8"?>
<p:tagLst xmlns:p="http://schemas.openxmlformats.org/presentationml/2006/main">
  <p:tag name="KSO_WM_DIAGRAM_VIRTUALLY_FRAME" val="{&quot;height&quot;:411.9,&quot;left&quot;:0,&quot;top&quot;:90.55,&quot;width&quot;:936}"/>
</p:tagLst>
</file>

<file path=ppt/tags/tag709.xml><?xml version="1.0" encoding="utf-8"?>
<p:tagLst xmlns:p="http://schemas.openxmlformats.org/presentationml/2006/main">
  <p:tag name="KSO_WM_DIAGRAM_VIRTUALLY_FRAME" val="{&quot;height&quot;:411.9,&quot;left&quot;:0,&quot;top&quot;:90.55,&quot;width&quot;:936}"/>
</p:tagLst>
</file>

<file path=ppt/tags/tag710.xml><?xml version="1.0" encoding="utf-8"?>
<p:tagLst xmlns:p="http://schemas.openxmlformats.org/presentationml/2006/main">
  <p:tag name="KSO_WM_DIAGRAM_VIRTUALLY_FRAME" val="{&quot;height&quot;:411.9,&quot;left&quot;:0,&quot;top&quot;:90.55,&quot;width&quot;:936}"/>
</p:tagLst>
</file>

<file path=ppt/tags/tag711.xml><?xml version="1.0" encoding="utf-8"?>
<p:tagLst xmlns:p="http://schemas.openxmlformats.org/presentationml/2006/main">
  <p:tag name="KSO_WM_DIAGRAM_VIRTUALLY_FRAME" val="{&quot;height&quot;:411.9,&quot;left&quot;:0,&quot;top&quot;:90.55,&quot;width&quot;:936}"/>
</p:tagLst>
</file>

<file path=ppt/tags/tag712.xml><?xml version="1.0" encoding="utf-8"?>
<p:tagLst xmlns:p="http://schemas.openxmlformats.org/presentationml/2006/main">
  <p:tag name="KSO_WM_DIAGRAM_VIRTUALLY_FRAME" val="{&quot;height&quot;:411.9,&quot;left&quot;:0,&quot;top&quot;:90.55,&quot;width&quot;:936}"/>
</p:tagLst>
</file>

<file path=ppt/tags/tag713.xml><?xml version="1.0" encoding="utf-8"?>
<p:tagLst xmlns:p="http://schemas.openxmlformats.org/presentationml/2006/main">
  <p:tag name="KSO_WM_DIAGRAM_VIRTUALLY_FRAME" val="{&quot;height&quot;:411.9,&quot;left&quot;:0,&quot;top&quot;:90.55,&quot;width&quot;:936}"/>
</p:tagLst>
</file>

<file path=ppt/tags/tag714.xml><?xml version="1.0" encoding="utf-8"?>
<p:tagLst xmlns:p="http://schemas.openxmlformats.org/presentationml/2006/main">
  <p:tag name="KSO_WM_DIAGRAM_VIRTUALLY_FRAME" val="{&quot;height&quot;:411.9,&quot;left&quot;:0,&quot;top&quot;:90.55,&quot;width&quot;:936}"/>
</p:tagLst>
</file>

<file path=ppt/tags/tag715.xml><?xml version="1.0" encoding="utf-8"?>
<p:tagLst xmlns:p="http://schemas.openxmlformats.org/presentationml/2006/main">
  <p:tag name="KSO_WM_DIAGRAM_VIRTUALLY_FRAME" val="{&quot;height&quot;:411.9,&quot;left&quot;:0,&quot;top&quot;:90.55,&quot;width&quot;:936}"/>
</p:tagLst>
</file>

<file path=ppt/tags/tag716.xml><?xml version="1.0" encoding="utf-8"?>
<p:tagLst xmlns:p="http://schemas.openxmlformats.org/presentationml/2006/main">
  <p:tag name="KSO_WM_DIAGRAM_VIRTUALLY_FRAME" val="{&quot;height&quot;:411.9,&quot;left&quot;:0,&quot;top&quot;:90.55,&quot;width&quot;:936}"/>
</p:tagLst>
</file>

<file path=ppt/tags/tag717.xml><?xml version="1.0" encoding="utf-8"?>
<p:tagLst xmlns:p="http://schemas.openxmlformats.org/presentationml/2006/main">
  <p:tag name="KSO_WM_DIAGRAM_VIRTUALLY_FRAME" val="{&quot;height&quot;:411.9,&quot;left&quot;:0,&quot;top&quot;:90.55,&quot;width&quot;:936}"/>
</p:tagLst>
</file>

<file path=ppt/tags/tag718.xml><?xml version="1.0" encoding="utf-8"?>
<p:tagLst xmlns:p="http://schemas.openxmlformats.org/presentationml/2006/main">
  <p:tag name="KSO_WM_DIAGRAM_VIRTUALLY_FRAME" val="{&quot;height&quot;:411.9,&quot;left&quot;:0,&quot;top&quot;:90.55,&quot;width&quot;:936}"/>
</p:tagLst>
</file>

<file path=ppt/tags/tag719.xml><?xml version="1.0" encoding="utf-8"?>
<p:tagLst xmlns:p="http://schemas.openxmlformats.org/presentationml/2006/main">
  <p:tag name="KSO_WM_DIAGRAM_VIRTUALLY_FRAME" val="{&quot;height&quot;:411.9,&quot;left&quot;:0,&quot;top&quot;:90.55,&quot;width&quot;:936}"/>
</p:tagLst>
</file>

<file path=ppt/tags/tag720.xml><?xml version="1.0" encoding="utf-8"?>
<p:tagLst xmlns:p="http://schemas.openxmlformats.org/presentationml/2006/main">
  <p:tag name="KSO_WM_DIAGRAM_VIRTUALLY_FRAME" val="{&quot;height&quot;:411.9,&quot;left&quot;:0,&quot;top&quot;:90.55,&quot;width&quot;:936}"/>
</p:tagLst>
</file>

<file path=ppt/tags/tag721.xml><?xml version="1.0" encoding="utf-8"?>
<p:tagLst xmlns:p="http://schemas.openxmlformats.org/presentationml/2006/main">
  <p:tag name="KSO_WM_DIAGRAM_VIRTUALLY_FRAME" val="{&quot;height&quot;:411.9,&quot;left&quot;:0,&quot;top&quot;:90.55,&quot;width&quot;:936}"/>
</p:tagLst>
</file>

<file path=ppt/tags/tag722.xml><?xml version="1.0" encoding="utf-8"?>
<p:tagLst xmlns:p="http://schemas.openxmlformats.org/presentationml/2006/main">
  <p:tag name="KSO_WM_DIAGRAM_VIRTUALLY_FRAME" val="{&quot;height&quot;:411.9,&quot;left&quot;:0,&quot;top&quot;:90.55,&quot;width&quot;:936}"/>
</p:tagLst>
</file>

<file path=ppt/tags/tag723.xml><?xml version="1.0" encoding="utf-8"?>
<p:tagLst xmlns:p="http://schemas.openxmlformats.org/presentationml/2006/main">
  <p:tag name="KSO_WM_DIAGRAM_VIRTUALLY_FRAME" val="{&quot;height&quot;:411.9,&quot;left&quot;:0,&quot;top&quot;:90.55,&quot;width&quot;:936}"/>
</p:tagLst>
</file>

<file path=ppt/tags/tag724.xml><?xml version="1.0" encoding="utf-8"?>
<p:tagLst xmlns:p="http://schemas.openxmlformats.org/presentationml/2006/main">
  <p:tag name="KSO_WM_DIAGRAM_VIRTUALLY_FRAME" val="{&quot;height&quot;:411.9,&quot;left&quot;:0,&quot;top&quot;:90.55,&quot;width&quot;:936}"/>
</p:tagLst>
</file>

<file path=ppt/tags/tag725.xml><?xml version="1.0" encoding="utf-8"?>
<p:tagLst xmlns:p="http://schemas.openxmlformats.org/presentationml/2006/main">
  <p:tag name="KSO_WM_DIAGRAM_VIRTUALLY_FRAME" val="{&quot;height&quot;:411.9,&quot;left&quot;:0,&quot;top&quot;:90.55,&quot;width&quot;:936}"/>
</p:tagLst>
</file>

<file path=ppt/tags/tag726.xml><?xml version="1.0" encoding="utf-8"?>
<p:tagLst xmlns:p="http://schemas.openxmlformats.org/presentationml/2006/main">
  <p:tag name="KSO_WM_DIAGRAM_VIRTUALLY_FRAME" val="{&quot;height&quot;:411.9,&quot;left&quot;:0,&quot;top&quot;:90.55,&quot;width&quot;:936}"/>
</p:tagLst>
</file>

<file path=ppt/tags/tag727.xml><?xml version="1.0" encoding="utf-8"?>
<p:tagLst xmlns:p="http://schemas.openxmlformats.org/presentationml/2006/main">
  <p:tag name="KSO_WM_DIAGRAM_VIRTUALLY_FRAME" val="{&quot;height&quot;:411.9,&quot;left&quot;:0,&quot;top&quot;:90.55,&quot;width&quot;:936}"/>
</p:tagLst>
</file>

<file path=ppt/tags/tag728.xml><?xml version="1.0" encoding="utf-8"?>
<p:tagLst xmlns:p="http://schemas.openxmlformats.org/presentationml/2006/main">
  <p:tag name="KSO_WM_DIAGRAM_VIRTUALLY_FRAME" val="{&quot;height&quot;:411.9,&quot;left&quot;:0,&quot;top&quot;:90.55,&quot;width&quot;:936}"/>
</p:tagLst>
</file>

<file path=ppt/tags/tag729.xml><?xml version="1.0" encoding="utf-8"?>
<p:tagLst xmlns:p="http://schemas.openxmlformats.org/presentationml/2006/main">
  <p:tag name="KSO_WM_DIAGRAM_VIRTUALLY_FRAME" val="{&quot;height&quot;:411.9,&quot;left&quot;:0,&quot;top&quot;:90.55,&quot;width&quot;:936}"/>
</p:tagLst>
</file>

<file path=ppt/tags/tag730.xml><?xml version="1.0" encoding="utf-8"?>
<p:tagLst xmlns:p="http://schemas.openxmlformats.org/presentationml/2006/main">
  <p:tag name="KSO_WM_DIAGRAM_VIRTUALLY_FRAME" val="{&quot;height&quot;:411.9,&quot;left&quot;:0,&quot;top&quot;:90.55,&quot;width&quot;:936}"/>
</p:tagLst>
</file>

<file path=ppt/tags/tag731.xml><?xml version="1.0" encoding="utf-8"?>
<p:tagLst xmlns:p="http://schemas.openxmlformats.org/presentationml/2006/main">
  <p:tag name="KSO_WM_DIAGRAM_VIRTUALLY_FRAME" val="{&quot;height&quot;:411.9,&quot;left&quot;:0,&quot;top&quot;:90.55,&quot;width&quot;:936}"/>
</p:tagLst>
</file>

<file path=ppt/tags/tag732.xml><?xml version="1.0" encoding="utf-8"?>
<p:tagLst xmlns:p="http://schemas.openxmlformats.org/presentationml/2006/main">
  <p:tag name="KSO_WM_DIAGRAM_VIRTUALLY_FRAME" val="{&quot;height&quot;:411.9,&quot;left&quot;:0,&quot;top&quot;:90.55,&quot;width&quot;:936}"/>
</p:tagLst>
</file>

<file path=ppt/tags/tag733.xml><?xml version="1.0" encoding="utf-8"?>
<p:tagLst xmlns:p="http://schemas.openxmlformats.org/presentationml/2006/main">
  <p:tag name="KSO_WM_DIAGRAM_VIRTUALLY_FRAME" val="{&quot;height&quot;:411.9,&quot;left&quot;:0,&quot;top&quot;:90.55,&quot;width&quot;:936}"/>
</p:tagLst>
</file>

<file path=ppt/tags/tag734.xml><?xml version="1.0" encoding="utf-8"?>
<p:tagLst xmlns:p="http://schemas.openxmlformats.org/presentationml/2006/main">
  <p:tag name="KSO_WM_DIAGRAM_VIRTUALLY_FRAME" val="{&quot;height&quot;:411.9,&quot;left&quot;:0,&quot;top&quot;:90.55,&quot;width&quot;:936}"/>
</p:tagLst>
</file>

<file path=ppt/tags/tag735.xml><?xml version="1.0" encoding="utf-8"?>
<p:tagLst xmlns:p="http://schemas.openxmlformats.org/presentationml/2006/main">
  <p:tag name="KSO_WM_DIAGRAM_VIRTUALLY_FRAME" val="{&quot;height&quot;:411.9,&quot;left&quot;:0,&quot;top&quot;:90.55,&quot;width&quot;:936}"/>
</p:tagLst>
</file>

<file path=ppt/tags/tag736.xml><?xml version="1.0" encoding="utf-8"?>
<p:tagLst xmlns:p="http://schemas.openxmlformats.org/presentationml/2006/main">
  <p:tag name="KSO_WM_DIAGRAM_VIRTUALLY_FRAME" val="{&quot;height&quot;:411.9,&quot;left&quot;:0,&quot;top&quot;:90.55,&quot;width&quot;:936}"/>
</p:tagLst>
</file>

<file path=ppt/tags/tag737.xml><?xml version="1.0" encoding="utf-8"?>
<p:tagLst xmlns:p="http://schemas.openxmlformats.org/presentationml/2006/main">
  <p:tag name="KSO_WM_DIAGRAM_VIRTUALLY_FRAME" val="{&quot;height&quot;:411.9,&quot;left&quot;:0,&quot;top&quot;:90.55,&quot;width&quot;:936}"/>
</p:tagLst>
</file>

<file path=ppt/tags/tag738.xml><?xml version="1.0" encoding="utf-8"?>
<p:tagLst xmlns:p="http://schemas.openxmlformats.org/presentationml/2006/main">
  <p:tag name="KSO_WM_DIAGRAM_VIRTUALLY_FRAME" val="{&quot;height&quot;:411.9,&quot;left&quot;:0,&quot;top&quot;:90.55,&quot;width&quot;:936}"/>
</p:tagLst>
</file>

<file path=ppt/tags/tag739.xml><?xml version="1.0" encoding="utf-8"?>
<p:tagLst xmlns:p="http://schemas.openxmlformats.org/presentationml/2006/main">
  <p:tag name="KSO_WM_DIAGRAM_VIRTUALLY_FRAME" val="{&quot;height&quot;:411.9,&quot;left&quot;:0,&quot;top&quot;:90.55,&quot;width&quot;:936}"/>
</p:tagLst>
</file>

<file path=ppt/tags/tag740.xml><?xml version="1.0" encoding="utf-8"?>
<p:tagLst xmlns:p="http://schemas.openxmlformats.org/presentationml/2006/main">
  <p:tag name="KSO_WM_DIAGRAM_VIRTUALLY_FRAME" val="{&quot;height&quot;:411.9,&quot;left&quot;:0,&quot;top&quot;:90.55,&quot;width&quot;:936}"/>
</p:tagLst>
</file>

<file path=ppt/tags/tag741.xml><?xml version="1.0" encoding="utf-8"?>
<p:tagLst xmlns:p="http://schemas.openxmlformats.org/presentationml/2006/main">
  <p:tag name="KSO_WM_DIAGRAM_VIRTUALLY_FRAME" val="{&quot;height&quot;:411.9,&quot;left&quot;:0,&quot;top&quot;:90.55,&quot;width&quot;:936}"/>
</p:tagLst>
</file>

<file path=ppt/tags/tag742.xml><?xml version="1.0" encoding="utf-8"?>
<p:tagLst xmlns:p="http://schemas.openxmlformats.org/presentationml/2006/main">
  <p:tag name="KSO_WM_DIAGRAM_VIRTUALLY_FRAME" val="{&quot;height&quot;:411.9,&quot;left&quot;:0,&quot;top&quot;:90.55,&quot;width&quot;:936}"/>
</p:tagLst>
</file>

<file path=ppt/tags/tag743.xml><?xml version="1.0" encoding="utf-8"?>
<p:tagLst xmlns:p="http://schemas.openxmlformats.org/presentationml/2006/main">
  <p:tag name="KSO_WM_DIAGRAM_VIRTUALLY_FRAME" val="{&quot;height&quot;:411.9,&quot;left&quot;:0,&quot;top&quot;:90.55,&quot;width&quot;:936}"/>
</p:tagLst>
</file>

<file path=ppt/tags/tag744.xml><?xml version="1.0" encoding="utf-8"?>
<p:tagLst xmlns:p="http://schemas.openxmlformats.org/presentationml/2006/main">
  <p:tag name="KSO_WM_DIAGRAM_VIRTUALLY_FRAME" val="{&quot;height&quot;:411.9,&quot;left&quot;:0,&quot;top&quot;:90.55,&quot;width&quot;:936}"/>
</p:tagLst>
</file>

<file path=ppt/tags/tag745.xml><?xml version="1.0" encoding="utf-8"?>
<p:tagLst xmlns:p="http://schemas.openxmlformats.org/presentationml/2006/main">
  <p:tag name="KSO_WM_DIAGRAM_VIRTUALLY_FRAME" val="{&quot;height&quot;:411.9,&quot;left&quot;:0,&quot;top&quot;:90.55,&quot;width&quot;:936}"/>
</p:tagLst>
</file>

<file path=ppt/tags/tag746.xml><?xml version="1.0" encoding="utf-8"?>
<p:tagLst xmlns:p="http://schemas.openxmlformats.org/presentationml/2006/main">
  <p:tag name="KSO_WM_DIAGRAM_VIRTUALLY_FRAME" val="{&quot;height&quot;:411.9,&quot;left&quot;:0,&quot;top&quot;:90.55,&quot;width&quot;:936}"/>
</p:tagLst>
</file>

<file path=ppt/tags/tag747.xml><?xml version="1.0" encoding="utf-8"?>
<p:tagLst xmlns:p="http://schemas.openxmlformats.org/presentationml/2006/main">
  <p:tag name="KSO_WM_DIAGRAM_VIRTUALLY_FRAME" val="{&quot;height&quot;:411.9,&quot;left&quot;:0,&quot;top&quot;:90.55,&quot;width&quot;:936}"/>
</p:tagLst>
</file>

<file path=ppt/tags/tag748.xml><?xml version="1.0" encoding="utf-8"?>
<p:tagLst xmlns:p="http://schemas.openxmlformats.org/presentationml/2006/main">
  <p:tag name="KSO_WM_DIAGRAM_VIRTUALLY_FRAME" val="{&quot;height&quot;:411.9,&quot;left&quot;:0,&quot;top&quot;:90.55,&quot;width&quot;:936}"/>
</p:tagLst>
</file>

<file path=ppt/tags/tag749.xml><?xml version="1.0" encoding="utf-8"?>
<p:tagLst xmlns:p="http://schemas.openxmlformats.org/presentationml/2006/main">
  <p:tag name="KSO_WM_DIAGRAM_VIRTUALLY_FRAME" val="{&quot;height&quot;:411.9,&quot;left&quot;:0,&quot;top&quot;:90.55,&quot;width&quot;:936}"/>
</p:tagLst>
</file>

<file path=ppt/tags/tag750.xml><?xml version="1.0" encoding="utf-8"?>
<p:tagLst xmlns:p="http://schemas.openxmlformats.org/presentationml/2006/main">
  <p:tag name="KSO_WM_DIAGRAM_VIRTUALLY_FRAME" val="{&quot;height&quot;:411.9,&quot;left&quot;:0,&quot;top&quot;:90.55,&quot;width&quot;:936}"/>
</p:tagLst>
</file>

<file path=ppt/tags/tag751.xml><?xml version="1.0" encoding="utf-8"?>
<p:tagLst xmlns:p="http://schemas.openxmlformats.org/presentationml/2006/main">
  <p:tag name="KSO_WM_DIAGRAM_VIRTUALLY_FRAME" val="{&quot;height&quot;:411.9,&quot;left&quot;:0,&quot;top&quot;:90.55,&quot;width&quot;:936}"/>
</p:tagLst>
</file>

<file path=ppt/tags/tag752.xml><?xml version="1.0" encoding="utf-8"?>
<p:tagLst xmlns:p="http://schemas.openxmlformats.org/presentationml/2006/main">
  <p:tag name="KSO_WM_DIAGRAM_VIRTUALLY_FRAME" val="{&quot;height&quot;:411.9,&quot;left&quot;:0,&quot;top&quot;:90.55,&quot;width&quot;:936}"/>
</p:tagLst>
</file>

<file path=ppt/tags/tag753.xml><?xml version="1.0" encoding="utf-8"?>
<p:tagLst xmlns:p="http://schemas.openxmlformats.org/presentationml/2006/main">
  <p:tag name="KSO_WM_DIAGRAM_VIRTUALLY_FRAME" val="{&quot;height&quot;:411.9,&quot;left&quot;:0,&quot;top&quot;:90.55,&quot;width&quot;:936}"/>
</p:tagLst>
</file>

<file path=ppt/tags/tag754.xml><?xml version="1.0" encoding="utf-8"?>
<p:tagLst xmlns:p="http://schemas.openxmlformats.org/presentationml/2006/main">
  <p:tag name="KSO_WM_DIAGRAM_VIRTUALLY_FRAME" val="{&quot;height&quot;:411.9,&quot;left&quot;:0,&quot;top&quot;:90.55,&quot;width&quot;:936}"/>
</p:tagLst>
</file>

<file path=ppt/tags/tag755.xml><?xml version="1.0" encoding="utf-8"?>
<p:tagLst xmlns:p="http://schemas.openxmlformats.org/presentationml/2006/main">
  <p:tag name="KSO_WM_DIAGRAM_VIRTUALLY_FRAME" val="{&quot;height&quot;:411.9,&quot;left&quot;:0,&quot;top&quot;:90.55,&quot;width&quot;:936}"/>
</p:tagLst>
</file>

<file path=ppt/tags/tag756.xml><?xml version="1.0" encoding="utf-8"?>
<p:tagLst xmlns:p="http://schemas.openxmlformats.org/presentationml/2006/main">
  <p:tag name="KSO_WM_DIAGRAM_VIRTUALLY_FRAME" val="{&quot;height&quot;:411.9,&quot;left&quot;:0,&quot;top&quot;:90.55,&quot;width&quot;:936}"/>
</p:tagLst>
</file>

<file path=ppt/tags/tag757.xml><?xml version="1.0" encoding="utf-8"?>
<p:tagLst xmlns:p="http://schemas.openxmlformats.org/presentationml/2006/main">
  <p:tag name="KSO_WM_DIAGRAM_VIRTUALLY_FRAME" val="{&quot;height&quot;:411.9,&quot;left&quot;:0,&quot;top&quot;:90.55,&quot;width&quot;:936}"/>
</p:tagLst>
</file>

<file path=ppt/tags/tag758.xml><?xml version="1.0" encoding="utf-8"?>
<p:tagLst xmlns:p="http://schemas.openxmlformats.org/presentationml/2006/main">
  <p:tag name="KSO_WM_DIAGRAM_VIRTUALLY_FRAME" val="{&quot;height&quot;:411.9,&quot;left&quot;:0,&quot;top&quot;:90.55,&quot;width&quot;:936}"/>
</p:tagLst>
</file>

<file path=ppt/tags/tag759.xml><?xml version="1.0" encoding="utf-8"?>
<p:tagLst xmlns:p="http://schemas.openxmlformats.org/presentationml/2006/main">
  <p:tag name="KSO_WM_DIAGRAM_VIRTUALLY_FRAME" val="{&quot;height&quot;:411.9,&quot;left&quot;:0,&quot;top&quot;:90.55,&quot;width&quot;:936}"/>
</p:tagLst>
</file>

<file path=ppt/tags/tag760.xml><?xml version="1.0" encoding="utf-8"?>
<p:tagLst xmlns:p="http://schemas.openxmlformats.org/presentationml/2006/main">
  <p:tag name="KSO_WM_DIAGRAM_VIRTUALLY_FRAME" val="{&quot;height&quot;:411.9,&quot;left&quot;:0,&quot;top&quot;:90.55,&quot;width&quot;:936}"/>
</p:tagLst>
</file>

<file path=ppt/tags/tag761.xml><?xml version="1.0" encoding="utf-8"?>
<p:tagLst xmlns:p="http://schemas.openxmlformats.org/presentationml/2006/main">
  <p:tag name="KSO_WM_DIAGRAM_VIRTUALLY_FRAME" val="{&quot;height&quot;:411.9,&quot;left&quot;:0,&quot;top&quot;:90.55,&quot;width&quot;:936}"/>
</p:tagLst>
</file>

<file path=ppt/tags/tag762.xml><?xml version="1.0" encoding="utf-8"?>
<p:tagLst xmlns:p="http://schemas.openxmlformats.org/presentationml/2006/main">
  <p:tag name="KSO_WM_DIAGRAM_VIRTUALLY_FRAME" val="{&quot;height&quot;:411.9,&quot;left&quot;:0,&quot;top&quot;:90.55,&quot;width&quot;:936}"/>
</p:tagLst>
</file>

<file path=ppt/tags/tag763.xml><?xml version="1.0" encoding="utf-8"?>
<p:tagLst xmlns:p="http://schemas.openxmlformats.org/presentationml/2006/main">
  <p:tag name="KSO_WM_DIAGRAM_VIRTUALLY_FRAME" val="{&quot;height&quot;:411.9,&quot;left&quot;:0,&quot;top&quot;:90.55,&quot;width&quot;:936}"/>
</p:tagLst>
</file>

<file path=ppt/tags/tag764.xml><?xml version="1.0" encoding="utf-8"?>
<p:tagLst xmlns:p="http://schemas.openxmlformats.org/presentationml/2006/main">
  <p:tag name="KSO_WM_DIAGRAM_VIRTUALLY_FRAME" val="{&quot;height&quot;:411.9,&quot;left&quot;:0,&quot;top&quot;:90.55,&quot;width&quot;:936}"/>
</p:tagLst>
</file>

<file path=ppt/tags/tag765.xml><?xml version="1.0" encoding="utf-8"?>
<p:tagLst xmlns:p="http://schemas.openxmlformats.org/presentationml/2006/main">
  <p:tag name="KSO_WM_DIAGRAM_VIRTUALLY_FRAME" val="{&quot;height&quot;:411.9,&quot;left&quot;:0,&quot;top&quot;:90.55,&quot;width&quot;:936}"/>
</p:tagLst>
</file>

<file path=ppt/tags/tag766.xml><?xml version="1.0" encoding="utf-8"?>
<p:tagLst xmlns:p="http://schemas.openxmlformats.org/presentationml/2006/main">
  <p:tag name="KSO_WM_DIAGRAM_VIRTUALLY_FRAME" val="{&quot;height&quot;:411.9,&quot;left&quot;:0,&quot;top&quot;:90.55,&quot;width&quot;:936}"/>
</p:tagLst>
</file>

<file path=ppt/tags/tag767.xml><?xml version="1.0" encoding="utf-8"?>
<p:tagLst xmlns:p="http://schemas.openxmlformats.org/presentationml/2006/main">
  <p:tag name="KSO_WM_DIAGRAM_VIRTUALLY_FRAME" val="{&quot;height&quot;:411.9,&quot;left&quot;:0,&quot;top&quot;:90.55,&quot;width&quot;:936}"/>
</p:tagLst>
</file>

<file path=ppt/tags/tag768.xml><?xml version="1.0" encoding="utf-8"?>
<p:tagLst xmlns:p="http://schemas.openxmlformats.org/presentationml/2006/main">
  <p:tag name="KSO_WM_DIAGRAM_VIRTUALLY_FRAME" val="{&quot;height&quot;:411.9,&quot;left&quot;:0,&quot;top&quot;:90.55,&quot;width&quot;:936}"/>
</p:tagLst>
</file>

<file path=ppt/tags/tag769.xml><?xml version="1.0" encoding="utf-8"?>
<p:tagLst xmlns:p="http://schemas.openxmlformats.org/presentationml/2006/main">
  <p:tag name="KSO_WM_DIAGRAM_VIRTUALLY_FRAME" val="{&quot;height&quot;:411.9,&quot;left&quot;:0,&quot;top&quot;:90.55,&quot;width&quot;:936}"/>
</p:tagLst>
</file>

<file path=ppt/tags/tag770.xml><?xml version="1.0" encoding="utf-8"?>
<p:tagLst xmlns:p="http://schemas.openxmlformats.org/presentationml/2006/main">
  <p:tag name="KSO_WM_DIAGRAM_VIRTUALLY_FRAME" val="{&quot;height&quot;:411.9,&quot;left&quot;:0,&quot;top&quot;:90.55,&quot;width&quot;:936}"/>
</p:tagLst>
</file>

<file path=ppt/tags/tag771.xml><?xml version="1.0" encoding="utf-8"?>
<p:tagLst xmlns:p="http://schemas.openxmlformats.org/presentationml/2006/main">
  <p:tag name="KSO_WM_DIAGRAM_VIRTUALLY_FRAME" val="{&quot;height&quot;:411.9,&quot;left&quot;:0,&quot;top&quot;:90.55,&quot;width&quot;:936}"/>
</p:tagLst>
</file>

<file path=ppt/tags/tag772.xml><?xml version="1.0" encoding="utf-8"?>
<p:tagLst xmlns:p="http://schemas.openxmlformats.org/presentationml/2006/main">
  <p:tag name="KSO_WM_DIAGRAM_VIRTUALLY_FRAME" val="{&quot;height&quot;:411.9,&quot;left&quot;:0,&quot;top&quot;:90.55,&quot;width&quot;:936}"/>
</p:tagLst>
</file>

<file path=ppt/tags/tag773.xml><?xml version="1.0" encoding="utf-8"?>
<p:tagLst xmlns:p="http://schemas.openxmlformats.org/presentationml/2006/main">
  <p:tag name="KSO_WM_DIAGRAM_VIRTUALLY_FRAME" val="{&quot;height&quot;:411.9,&quot;left&quot;:0,&quot;top&quot;:90.55,&quot;width&quot;:936}"/>
</p:tagLst>
</file>

<file path=ppt/tags/tag774.xml><?xml version="1.0" encoding="utf-8"?>
<p:tagLst xmlns:p="http://schemas.openxmlformats.org/presentationml/2006/main">
  <p:tag name="KSO_WM_DIAGRAM_VIRTUALLY_FRAME" val="{&quot;height&quot;:411.9,&quot;left&quot;:0,&quot;top&quot;:90.55,&quot;width&quot;:936}"/>
</p:tagLst>
</file>

<file path=ppt/tags/tag775.xml><?xml version="1.0" encoding="utf-8"?>
<p:tagLst xmlns:p="http://schemas.openxmlformats.org/presentationml/2006/main">
  <p:tag name="KSO_WM_DIAGRAM_VIRTUALLY_FRAME" val="{&quot;height&quot;:411.9,&quot;left&quot;:0,&quot;top&quot;:90.55,&quot;width&quot;:936}"/>
</p:tagLst>
</file>

<file path=ppt/tags/tag776.xml><?xml version="1.0" encoding="utf-8"?>
<p:tagLst xmlns:p="http://schemas.openxmlformats.org/presentationml/2006/main">
  <p:tag name="KSO_WM_DIAGRAM_VIRTUALLY_FRAME" val="{&quot;height&quot;:411.9,&quot;left&quot;:0,&quot;top&quot;:90.55,&quot;width&quot;:936}"/>
</p:tagLst>
</file>

<file path=ppt/tags/tag777.xml><?xml version="1.0" encoding="utf-8"?>
<p:tagLst xmlns:p="http://schemas.openxmlformats.org/presentationml/2006/main">
  <p:tag name="KSO_WM_DIAGRAM_VIRTUALLY_FRAME" val="{&quot;height&quot;:411.9,&quot;left&quot;:0,&quot;top&quot;:90.55,&quot;width&quot;:936}"/>
</p:tagLst>
</file>

<file path=ppt/tags/tag778.xml><?xml version="1.0" encoding="utf-8"?>
<p:tagLst xmlns:p="http://schemas.openxmlformats.org/presentationml/2006/main">
  <p:tag name="KSO_WM_DIAGRAM_VIRTUALLY_FRAME" val="{&quot;height&quot;:411.9,&quot;left&quot;:0,&quot;top&quot;:90.55,&quot;width&quot;:936}"/>
</p:tagLst>
</file>

<file path=ppt/tags/tag779.xml><?xml version="1.0" encoding="utf-8"?>
<p:tagLst xmlns:p="http://schemas.openxmlformats.org/presentationml/2006/main">
  <p:tag name="KSO_WM_DIAGRAM_VIRTUALLY_FRAME" val="{&quot;height&quot;:411.9,&quot;left&quot;:0,&quot;top&quot;:90.55,&quot;width&quot;:936}"/>
</p:tagLst>
</file>

<file path=ppt/tags/tag780.xml><?xml version="1.0" encoding="utf-8"?>
<p:tagLst xmlns:p="http://schemas.openxmlformats.org/presentationml/2006/main">
  <p:tag name="KSO_WM_DIAGRAM_VIRTUALLY_FRAME" val="{&quot;height&quot;:411.9,&quot;left&quot;:0,&quot;top&quot;:90.55,&quot;width&quot;:936}"/>
</p:tagLst>
</file>

<file path=ppt/tags/tag781.xml><?xml version="1.0" encoding="utf-8"?>
<p:tagLst xmlns:p="http://schemas.openxmlformats.org/presentationml/2006/main">
  <p:tag name="KSO_WM_DIAGRAM_VIRTUALLY_FRAME" val="{&quot;height&quot;:411.9,&quot;left&quot;:0,&quot;top&quot;:90.55,&quot;width&quot;:936}"/>
</p:tagLst>
</file>

<file path=ppt/tags/tag782.xml><?xml version="1.0" encoding="utf-8"?>
<p:tagLst xmlns:p="http://schemas.openxmlformats.org/presentationml/2006/main">
  <p:tag name="KSO_WM_DIAGRAM_VIRTUALLY_FRAME" val="{&quot;height&quot;:411.9,&quot;left&quot;:0,&quot;top&quot;:90.55,&quot;width&quot;:936}"/>
</p:tagLst>
</file>

<file path=ppt/tags/tag783.xml><?xml version="1.0" encoding="utf-8"?>
<p:tagLst xmlns:p="http://schemas.openxmlformats.org/presentationml/2006/main">
  <p:tag name="KSO_WM_DIAGRAM_VIRTUALLY_FRAME" val="{&quot;height&quot;:411.9,&quot;left&quot;:0,&quot;top&quot;:90.55,&quot;width&quot;:936}"/>
</p:tagLst>
</file>

<file path=ppt/tags/tag784.xml><?xml version="1.0" encoding="utf-8"?>
<p:tagLst xmlns:p="http://schemas.openxmlformats.org/presentationml/2006/main">
  <p:tag name="KSO_WM_DIAGRAM_VIRTUALLY_FRAME" val="{&quot;height&quot;:411.9,&quot;left&quot;:0,&quot;top&quot;:90.55,&quot;width&quot;:936}"/>
</p:tagLst>
</file>

<file path=ppt/tags/tag785.xml><?xml version="1.0" encoding="utf-8"?>
<p:tagLst xmlns:p="http://schemas.openxmlformats.org/presentationml/2006/main">
  <p:tag name="KSO_WM_DIAGRAM_VIRTUALLY_FRAME" val="{&quot;height&quot;:411.9,&quot;left&quot;:0,&quot;top&quot;:90.55,&quot;width&quot;:936}"/>
</p:tagLst>
</file>

<file path=ppt/tags/tag786.xml><?xml version="1.0" encoding="utf-8"?>
<p:tagLst xmlns:p="http://schemas.openxmlformats.org/presentationml/2006/main">
  <p:tag name="KSO_WM_DIAGRAM_VIRTUALLY_FRAME" val="{&quot;height&quot;:411.9,&quot;left&quot;:0,&quot;top&quot;:90.55,&quot;width&quot;:936}"/>
</p:tagLst>
</file>

<file path=ppt/tags/tag787.xml><?xml version="1.0" encoding="utf-8"?>
<p:tagLst xmlns:p="http://schemas.openxmlformats.org/presentationml/2006/main">
  <p:tag name="KSO_WM_DIAGRAM_VIRTUALLY_FRAME" val="{&quot;height&quot;:411.9,&quot;left&quot;:0,&quot;top&quot;:90.55,&quot;width&quot;:936}"/>
</p:tagLst>
</file>

<file path=ppt/tags/tag788.xml><?xml version="1.0" encoding="utf-8"?>
<p:tagLst xmlns:p="http://schemas.openxmlformats.org/presentationml/2006/main">
  <p:tag name="KSO_WM_DIAGRAM_VIRTUALLY_FRAME" val="{&quot;height&quot;:411.9,&quot;left&quot;:0,&quot;top&quot;:90.55,&quot;width&quot;:936}"/>
</p:tagLst>
</file>

<file path=ppt/tags/tag789.xml><?xml version="1.0" encoding="utf-8"?>
<p:tagLst xmlns:p="http://schemas.openxmlformats.org/presentationml/2006/main">
  <p:tag name="KSO_WM_DIAGRAM_VIRTUALLY_FRAME" val="{&quot;height&quot;:411.9,&quot;left&quot;:0,&quot;top&quot;:90.55,&quot;width&quot;:936}"/>
</p:tagLst>
</file>

<file path=ppt/tags/tag790.xml><?xml version="1.0" encoding="utf-8"?>
<p:tagLst xmlns:p="http://schemas.openxmlformats.org/presentationml/2006/main">
  <p:tag name="KSO_WM_DIAGRAM_VIRTUALLY_FRAME" val="{&quot;height&quot;:411.9,&quot;left&quot;:0,&quot;top&quot;:90.55,&quot;width&quot;:936}"/>
</p:tagLst>
</file>

<file path=ppt/tags/tag791.xml><?xml version="1.0" encoding="utf-8"?>
<p:tagLst xmlns:p="http://schemas.openxmlformats.org/presentationml/2006/main">
  <p:tag name="KSO_WM_DIAGRAM_VIRTUALLY_FRAME" val="{&quot;height&quot;:411.9,&quot;left&quot;:0,&quot;top&quot;:90.55,&quot;width&quot;:936}"/>
</p:tagLst>
</file>

<file path=ppt/tags/tag792.xml><?xml version="1.0" encoding="utf-8"?>
<p:tagLst xmlns:p="http://schemas.openxmlformats.org/presentationml/2006/main">
  <p:tag name="KSO_WM_DIAGRAM_VIRTUALLY_FRAME" val="{&quot;height&quot;:411.9,&quot;left&quot;:0,&quot;top&quot;:90.55,&quot;width&quot;:936}"/>
</p:tagLst>
</file>

<file path=ppt/tags/tag793.xml><?xml version="1.0" encoding="utf-8"?>
<p:tagLst xmlns:p="http://schemas.openxmlformats.org/presentationml/2006/main">
  <p:tag name="KSO_WM_DIAGRAM_VIRTUALLY_FRAME" val="{&quot;height&quot;:411.9,&quot;left&quot;:0,&quot;top&quot;:90.55,&quot;width&quot;:936}"/>
</p:tagLst>
</file>

<file path=ppt/tags/tag794.xml><?xml version="1.0" encoding="utf-8"?>
<p:tagLst xmlns:p="http://schemas.openxmlformats.org/presentationml/2006/main">
  <p:tag name="KSO_WM_DIAGRAM_VIRTUALLY_FRAME" val="{&quot;height&quot;:411.9,&quot;left&quot;:0,&quot;top&quot;:90.55,&quot;width&quot;:936}"/>
</p:tagLst>
</file>

<file path=ppt/tags/tag795.xml><?xml version="1.0" encoding="utf-8"?>
<p:tagLst xmlns:p="http://schemas.openxmlformats.org/presentationml/2006/main">
  <p:tag name="KSO_WM_DIAGRAM_VIRTUALLY_FRAME" val="{&quot;height&quot;:411.9,&quot;left&quot;:0,&quot;top&quot;:90.55,&quot;width&quot;:936}"/>
</p:tagLst>
</file>

<file path=ppt/tags/tag796.xml><?xml version="1.0" encoding="utf-8"?>
<p:tagLst xmlns:p="http://schemas.openxmlformats.org/presentationml/2006/main">
  <p:tag name="KSO_WM_DIAGRAM_VIRTUALLY_FRAME" val="{&quot;height&quot;:411.9,&quot;left&quot;:0,&quot;top&quot;:90.55,&quot;width&quot;:936}"/>
</p:tagLst>
</file>

<file path=ppt/tags/tag797.xml><?xml version="1.0" encoding="utf-8"?>
<p:tagLst xmlns:p="http://schemas.openxmlformats.org/presentationml/2006/main">
  <p:tag name="KSO_WM_DIAGRAM_VIRTUALLY_FRAME" val="{&quot;height&quot;:411.9,&quot;left&quot;:0,&quot;top&quot;:90.55,&quot;width&quot;:936}"/>
</p:tagLst>
</file>

<file path=ppt/tags/tag798.xml><?xml version="1.0" encoding="utf-8"?>
<p:tagLst xmlns:p="http://schemas.openxmlformats.org/presentationml/2006/main">
  <p:tag name="KSO_WM_DIAGRAM_VIRTUALLY_FRAME" val="{&quot;height&quot;:411.9,&quot;left&quot;:0,&quot;top&quot;:90.55,&quot;width&quot;:936}"/>
</p:tagLst>
</file>

<file path=ppt/tags/tag799.xml><?xml version="1.0" encoding="utf-8"?>
<p:tagLst xmlns:p="http://schemas.openxmlformats.org/presentationml/2006/main">
  <p:tag name="KSO_WM_DIAGRAM_VIRTUALLY_FRAME" val="{&quot;height&quot;:411.9,&quot;left&quot;:0,&quot;top&quot;:90.55,&quot;width&quot;:936}"/>
</p:tagLst>
</file>

<file path=ppt/tags/tag800.xml><?xml version="1.0" encoding="utf-8"?>
<p:tagLst xmlns:p="http://schemas.openxmlformats.org/presentationml/2006/main">
  <p:tag name="KSO_WM_DIAGRAM_VIRTUALLY_FRAME" val="{&quot;height&quot;:411.9,&quot;left&quot;:0,&quot;top&quot;:90.55,&quot;width&quot;:936}"/>
</p:tagLst>
</file>

<file path=ppt/tags/tag801.xml><?xml version="1.0" encoding="utf-8"?>
<p:tagLst xmlns:p="http://schemas.openxmlformats.org/presentationml/2006/main">
  <p:tag name="KSO_WM_DIAGRAM_VIRTUALLY_FRAME" val="{&quot;height&quot;:411.9,&quot;left&quot;:0,&quot;top&quot;:90.55,&quot;width&quot;:936}"/>
</p:tagLst>
</file>

<file path=ppt/tags/tag802.xml><?xml version="1.0" encoding="utf-8"?>
<p:tagLst xmlns:p="http://schemas.openxmlformats.org/presentationml/2006/main">
  <p:tag name="KSO_WM_DIAGRAM_VIRTUALLY_FRAME" val="{&quot;height&quot;:411.9,&quot;left&quot;:0,&quot;top&quot;:90.55,&quot;width&quot;:936}"/>
</p:tagLst>
</file>

<file path=ppt/tags/tag803.xml><?xml version="1.0" encoding="utf-8"?>
<p:tagLst xmlns:p="http://schemas.openxmlformats.org/presentationml/2006/main">
  <p:tag name="KSO_WM_DIAGRAM_VIRTUALLY_FRAME" val="{&quot;height&quot;:411.9,&quot;left&quot;:0,&quot;top&quot;:90.55,&quot;width&quot;:936}"/>
</p:tagLst>
</file>

<file path=ppt/tags/tag804.xml><?xml version="1.0" encoding="utf-8"?>
<p:tagLst xmlns:p="http://schemas.openxmlformats.org/presentationml/2006/main">
  <p:tag name="KSO_WM_DIAGRAM_VIRTUALLY_FRAME" val="{&quot;height&quot;:411.9,&quot;left&quot;:0,&quot;top&quot;:90.55,&quot;width&quot;:936}"/>
</p:tagLst>
</file>

<file path=ppt/tags/tag805.xml><?xml version="1.0" encoding="utf-8"?>
<p:tagLst xmlns:p="http://schemas.openxmlformats.org/presentationml/2006/main">
  <p:tag name="KSO_WM_DIAGRAM_VIRTUALLY_FRAME" val="{&quot;height&quot;:411.9,&quot;left&quot;:0,&quot;top&quot;:90.55,&quot;width&quot;:936}"/>
</p:tagLst>
</file>

<file path=ppt/tags/tag806.xml><?xml version="1.0" encoding="utf-8"?>
<p:tagLst xmlns:p="http://schemas.openxmlformats.org/presentationml/2006/main">
  <p:tag name="KSO_WM_DIAGRAM_VIRTUALLY_FRAME" val="{&quot;height&quot;:411.9,&quot;left&quot;:0,&quot;top&quot;:90.55,&quot;width&quot;:936}"/>
</p:tagLst>
</file>

<file path=ppt/tags/tag807.xml><?xml version="1.0" encoding="utf-8"?>
<p:tagLst xmlns:p="http://schemas.openxmlformats.org/presentationml/2006/main">
  <p:tag name="KSO_WM_DIAGRAM_VIRTUALLY_FRAME" val="{&quot;height&quot;:411.9,&quot;left&quot;:0,&quot;top&quot;:90.55,&quot;width&quot;:936}"/>
</p:tagLst>
</file>

<file path=ppt/tags/tag808.xml><?xml version="1.0" encoding="utf-8"?>
<p:tagLst xmlns:p="http://schemas.openxmlformats.org/presentationml/2006/main">
  <p:tag name="KSO_WM_DIAGRAM_VIRTUALLY_FRAME" val="{&quot;height&quot;:411.9,&quot;left&quot;:0,&quot;top&quot;:90.55,&quot;width&quot;:936}"/>
</p:tagLst>
</file>

<file path=ppt/tags/tag809.xml><?xml version="1.0" encoding="utf-8"?>
<p:tagLst xmlns:p="http://schemas.openxmlformats.org/presentationml/2006/main">
  <p:tag name="KSO_WM_DIAGRAM_VIRTUALLY_FRAME" val="{&quot;height&quot;:411.9,&quot;left&quot;:0,&quot;top&quot;:90.55,&quot;width&quot;:936}"/>
</p:tagLst>
</file>

<file path=ppt/tags/tag810.xml><?xml version="1.0" encoding="utf-8"?>
<p:tagLst xmlns:p="http://schemas.openxmlformats.org/presentationml/2006/main">
  <p:tag name="KSO_WM_DIAGRAM_VIRTUALLY_FRAME" val="{&quot;height&quot;:411.9,&quot;left&quot;:0,&quot;top&quot;:90.55,&quot;width&quot;:936}"/>
</p:tagLst>
</file>

<file path=ppt/tags/tag811.xml><?xml version="1.0" encoding="utf-8"?>
<p:tagLst xmlns:p="http://schemas.openxmlformats.org/presentationml/2006/main">
  <p:tag name="KSO_WM_DIAGRAM_VIRTUALLY_FRAME" val="{&quot;height&quot;:411.9,&quot;left&quot;:0,&quot;top&quot;:90.55,&quot;width&quot;:936}"/>
</p:tagLst>
</file>

<file path=ppt/tags/tag812.xml><?xml version="1.0" encoding="utf-8"?>
<p:tagLst xmlns:p="http://schemas.openxmlformats.org/presentationml/2006/main">
  <p:tag name="KSO_WM_DIAGRAM_VIRTUALLY_FRAME" val="{&quot;height&quot;:411.9,&quot;left&quot;:0,&quot;top&quot;:90.55,&quot;width&quot;:936}"/>
</p:tagLst>
</file>

<file path=ppt/tags/tag813.xml><?xml version="1.0" encoding="utf-8"?>
<p:tagLst xmlns:p="http://schemas.openxmlformats.org/presentationml/2006/main">
  <p:tag name="KSO_WM_DIAGRAM_VIRTUALLY_FRAME" val="{&quot;height&quot;:128.05,&quot;left&quot;:236.1,&quot;top&quot;:141.8,&quot;width&quot;:658.8}"/>
</p:tagLst>
</file>

<file path=ppt/tags/tag814.xml><?xml version="1.0" encoding="utf-8"?>
<p:tagLst xmlns:p="http://schemas.openxmlformats.org/presentationml/2006/main">
  <p:tag name="KSO_WM_DIAGRAM_VIRTUALLY_FRAME" val="{&quot;height&quot;:128.05,&quot;left&quot;:236.1,&quot;top&quot;:141.8,&quot;width&quot;:658.8}"/>
</p:tagLst>
</file>

<file path=ppt/tags/tag815.xml><?xml version="1.0" encoding="utf-8"?>
<p:tagLst xmlns:p="http://schemas.openxmlformats.org/presentationml/2006/main">
  <p:tag name="KSO_WM_DIAGRAM_VIRTUALLY_FRAME" val="{&quot;height&quot;:128.05,&quot;left&quot;:236.1,&quot;top&quot;:141.8,&quot;width&quot;:658.8}"/>
</p:tagLst>
</file>

<file path=ppt/tags/tag816.xml><?xml version="1.0" encoding="utf-8"?>
<p:tagLst xmlns:p="http://schemas.openxmlformats.org/presentationml/2006/main">
  <p:tag name="KSO_WM_DIAGRAM_VIRTUALLY_FRAME" val="{&quot;height&quot;:128.05,&quot;left&quot;:236.1,&quot;top&quot;:141.8,&quot;width&quot;:658.8}"/>
</p:tagLst>
</file>

<file path=ppt/tags/tag817.xml><?xml version="1.0" encoding="utf-8"?>
<p:tagLst xmlns:p="http://schemas.openxmlformats.org/presentationml/2006/main">
  <p:tag name="KSO_WM_DIAGRAM_VIRTUALLY_FRAME" val="{&quot;height&quot;:128.05,&quot;left&quot;:236.1,&quot;top&quot;:141.8,&quot;width&quot;:658.8}"/>
</p:tagLst>
</file>

<file path=ppt/tags/tag818.xml><?xml version="1.0" encoding="utf-8"?>
<p:tagLst xmlns:p="http://schemas.openxmlformats.org/presentationml/2006/main">
  <p:tag name="TABLE_ENDDRAG_ORIGIN_RECT" val="776*241"/>
  <p:tag name="TABLE_ENDDRAG_RECT" val="110*283*776*241"/>
</p:tagLst>
</file>

<file path=ppt/tags/tag819.xml><?xml version="1.0" encoding="utf-8"?>
<p:tagLst xmlns:p="http://schemas.openxmlformats.org/presentationml/2006/main">
  <p:tag name="KSO_WM_DIAGRAM_VIRTUALLY_FRAME" val="{&quot;height&quot;:128.05,&quot;left&quot;:236.1,&quot;top&quot;:141.8,&quot;width&quot;:658.8}"/>
</p:tagLst>
</file>

<file path=ppt/tags/tag820.xml><?xml version="1.0" encoding="utf-8"?>
<p:tagLst xmlns:p="http://schemas.openxmlformats.org/presentationml/2006/main">
  <p:tag name="KSO_WM_DIAGRAM_VIRTUALLY_FRAME" val="{&quot;height&quot;:128.05,&quot;left&quot;:236.1,&quot;top&quot;:141.8,&quot;width&quot;:658.8}"/>
</p:tagLst>
</file>

<file path=ppt/tags/tag821.xml><?xml version="1.0" encoding="utf-8"?>
<p:tagLst xmlns:p="http://schemas.openxmlformats.org/presentationml/2006/main">
  <p:tag name="KSO_WM_DIAGRAM_VIRTUALLY_FRAME" val="{&quot;height&quot;:128.05,&quot;left&quot;:236.1,&quot;top&quot;:141.8,&quot;width&quot;:658.8}"/>
</p:tagLst>
</file>

<file path=ppt/tags/tag822.xml><?xml version="1.0" encoding="utf-8"?>
<p:tagLst xmlns:p="http://schemas.openxmlformats.org/presentationml/2006/main">
  <p:tag name="KSO_WM_DIAGRAM_VIRTUALLY_FRAME" val="{&quot;height&quot;:128.05,&quot;left&quot;:236.1,&quot;top&quot;:141.8,&quot;width&quot;:658.8}"/>
</p:tagLst>
</file>

<file path=ppt/tags/tag823.xml><?xml version="1.0" encoding="utf-8"?>
<p:tagLst xmlns:p="http://schemas.openxmlformats.org/presentationml/2006/main">
  <p:tag name="KSO_WM_DIAGRAM_VIRTUALLY_FRAME" val="{&quot;height&quot;:128.05,&quot;left&quot;:236.1,&quot;top&quot;:141.8,&quot;width&quot;:658.8}"/>
</p:tagLst>
</file>

<file path=ppt/tags/tag824.xml><?xml version="1.0" encoding="utf-8"?>
<p:tagLst xmlns:p="http://schemas.openxmlformats.org/presentationml/2006/main">
  <p:tag name="KSO_WM_DIAGRAM_VIRTUALLY_FRAME" val="{&quot;height&quot;:128.05,&quot;left&quot;:236.1,&quot;top&quot;:141.8,&quot;width&quot;:658.8}"/>
</p:tagLst>
</file>

<file path=ppt/tags/tag825.xml><?xml version="1.0" encoding="utf-8"?>
<p:tagLst xmlns:p="http://schemas.openxmlformats.org/presentationml/2006/main">
  <p:tag name="KSO_WM_DIAGRAM_VIRTUALLY_FRAME" val="{&quot;height&quot;:128.05,&quot;left&quot;:236.1,&quot;top&quot;:141.8,&quot;width&quot;:658.8}"/>
</p:tagLst>
</file>

<file path=ppt/tags/tag826.xml><?xml version="1.0" encoding="utf-8"?>
<p:tagLst xmlns:p="http://schemas.openxmlformats.org/presentationml/2006/main">
  <p:tag name="KSO_WM_DIAGRAM_VIRTUALLY_FRAME" val="{&quot;height&quot;:128.05,&quot;left&quot;:236.1,&quot;top&quot;:141.8,&quot;width&quot;:658.8}"/>
</p:tagLst>
</file>

<file path=ppt/tags/tag827.xml><?xml version="1.0" encoding="utf-8"?>
<p:tagLst xmlns:p="http://schemas.openxmlformats.org/presentationml/2006/main">
  <p:tag name="KSO_WM_DIAGRAM_VIRTUALLY_FRAME" val="{&quot;height&quot;:128.05,&quot;left&quot;:236.1,&quot;top&quot;:141.8,&quot;width&quot;:658.8}"/>
</p:tagLst>
</file>

<file path=ppt/tags/tag828.xml><?xml version="1.0" encoding="utf-8"?>
<p:tagLst xmlns:p="http://schemas.openxmlformats.org/presentationml/2006/main">
  <p:tag name="KSO_WM_DIAGRAM_VIRTUALLY_FRAME" val="{&quot;height&quot;:128.05,&quot;left&quot;:236.1,&quot;top&quot;:141.8,&quot;width&quot;:658.8}"/>
</p:tagLst>
</file>

<file path=ppt/tags/tag829.xml><?xml version="1.0" encoding="utf-8"?>
<p:tagLst xmlns:p="http://schemas.openxmlformats.org/presentationml/2006/main">
  <p:tag name="KSO_WM_DIAGRAM_VIRTUALLY_FRAME" val="{&quot;height&quot;:128.05,&quot;left&quot;:236.1,&quot;top&quot;:141.8,&quot;width&quot;:658.8}"/>
</p:tagLst>
</file>

<file path=ppt/tags/tag830.xml><?xml version="1.0" encoding="utf-8"?>
<p:tagLst xmlns:p="http://schemas.openxmlformats.org/presentationml/2006/main">
  <p:tag name="KSO_WM_DIAGRAM_VIRTUALLY_FRAME" val="{&quot;height&quot;:128.05,&quot;left&quot;:236.1,&quot;top&quot;:141.8,&quot;width&quot;:658.8}"/>
</p:tagLst>
</file>

<file path=ppt/tags/tag831.xml><?xml version="1.0" encoding="utf-8"?>
<p:tagLst xmlns:p="http://schemas.openxmlformats.org/presentationml/2006/main">
  <p:tag name="KSO_WM_DIAGRAM_VIRTUALLY_FRAME" val="{&quot;height&quot;:128.05,&quot;left&quot;:236.1,&quot;top&quot;:141.8,&quot;width&quot;:658.8}"/>
</p:tagLst>
</file>

<file path=ppt/tags/tag832.xml><?xml version="1.0" encoding="utf-8"?>
<p:tagLst xmlns:p="http://schemas.openxmlformats.org/presentationml/2006/main">
  <p:tag name="KSO_WM_DIAGRAM_VIRTUALLY_FRAME" val="{&quot;height&quot;:212.65000000000003,&quot;left&quot;:42.8,&quot;top&quot;:146.75,&quot;width&quot;:606.3}"/>
</p:tagLst>
</file>

<file path=ppt/tags/tag833.xml><?xml version="1.0" encoding="utf-8"?>
<p:tagLst xmlns:p="http://schemas.openxmlformats.org/presentationml/2006/main">
  <p:tag name="KSO_WM_DIAGRAM_VIRTUALLY_FRAME" val="{&quot;height&quot;:212.65000000000003,&quot;left&quot;:42.8,&quot;top&quot;:146.75,&quot;width&quot;:606.3}"/>
</p:tagLst>
</file>

<file path=ppt/tags/tag834.xml><?xml version="1.0" encoding="utf-8"?>
<p:tagLst xmlns:p="http://schemas.openxmlformats.org/presentationml/2006/main">
  <p:tag name="KSO_WM_DIAGRAM_VIRTUALLY_FRAME" val="{&quot;height&quot;:212.65000000000003,&quot;left&quot;:42.8,&quot;top&quot;:146.75,&quot;width&quot;:606.3}"/>
</p:tagLst>
</file>

<file path=ppt/tags/tag835.xml><?xml version="1.0" encoding="utf-8"?>
<p:tagLst xmlns:p="http://schemas.openxmlformats.org/presentationml/2006/main">
  <p:tag name="KSO_WM_DIAGRAM_VIRTUALLY_FRAME" val="{&quot;height&quot;:212.65000000000003,&quot;left&quot;:42.8,&quot;top&quot;:146.75,&quot;width&quot;:606.3}"/>
</p:tagLst>
</file>

<file path=ppt/tags/tag836.xml><?xml version="1.0" encoding="utf-8"?>
<p:tagLst xmlns:p="http://schemas.openxmlformats.org/presentationml/2006/main">
  <p:tag name="KSO_WM_DIAGRAM_VIRTUALLY_FRAME" val="{&quot;height&quot;:212.65000000000003,&quot;left&quot;:42.8,&quot;top&quot;:146.75,&quot;width&quot;:606.3}"/>
</p:tagLst>
</file>

<file path=ppt/tags/tag837.xml><?xml version="1.0" encoding="utf-8"?>
<p:tagLst xmlns:p="http://schemas.openxmlformats.org/presentationml/2006/main">
  <p:tag name="KSO_WM_DIAGRAM_VIRTUALLY_FRAME" val="{&quot;height&quot;:212.65000000000003,&quot;left&quot;:42.8,&quot;top&quot;:146.75,&quot;width&quot;:606.3}"/>
</p:tagLst>
</file>

<file path=ppt/tags/tag838.xml><?xml version="1.0" encoding="utf-8"?>
<p:tagLst xmlns:p="http://schemas.openxmlformats.org/presentationml/2006/main">
  <p:tag name="KSO_WM_DIAGRAM_VIRTUALLY_FRAME" val="{&quot;height&quot;:212.65000000000003,&quot;left&quot;:42.8,&quot;top&quot;:146.75,&quot;width&quot;:606.3}"/>
</p:tagLst>
</file>

<file path=ppt/tags/tag839.xml><?xml version="1.0" encoding="utf-8"?>
<p:tagLst xmlns:p="http://schemas.openxmlformats.org/presentationml/2006/main">
  <p:tag name="KSO_WM_DIAGRAM_VIRTUALLY_FRAME" val="{&quot;height&quot;:212.65000000000003,&quot;left&quot;:42.8,&quot;top&quot;:146.75,&quot;width&quot;:606.3}"/>
</p:tagLst>
</file>

<file path=ppt/tags/tag840.xml><?xml version="1.0" encoding="utf-8"?>
<p:tagLst xmlns:p="http://schemas.openxmlformats.org/presentationml/2006/main">
  <p:tag name="KSO_WM_DIAGRAM_VIRTUALLY_FRAME" val="{&quot;height&quot;:212.65000000000003,&quot;left&quot;:42.8,&quot;top&quot;:146.75,&quot;width&quot;:606.3}"/>
</p:tagLst>
</file>

<file path=ppt/tags/tag841.xml><?xml version="1.0" encoding="utf-8"?>
<p:tagLst xmlns:p="http://schemas.openxmlformats.org/presentationml/2006/main">
  <p:tag name="KSO_WM_DIAGRAM_VIRTUALLY_FRAME" val="{&quot;height&quot;:212.65000000000003,&quot;left&quot;:42.8,&quot;top&quot;:146.75,&quot;width&quot;:606.3}"/>
</p:tagLst>
</file>

<file path=ppt/tags/tag842.xml><?xml version="1.0" encoding="utf-8"?>
<p:tagLst xmlns:p="http://schemas.openxmlformats.org/presentationml/2006/main">
  <p:tag name="KSO_WM_DIAGRAM_VIRTUALLY_FRAME" val="{&quot;height&quot;:212.65000000000003,&quot;left&quot;:42.8,&quot;top&quot;:146.75,&quot;width&quot;:606.3}"/>
</p:tagLst>
</file>

<file path=ppt/tags/tag843.xml><?xml version="1.0" encoding="utf-8"?>
<p:tagLst xmlns:p="http://schemas.openxmlformats.org/presentationml/2006/main">
  <p:tag name="KSO_WM_DIAGRAM_VIRTUALLY_FRAME" val="{&quot;height&quot;:212.65000000000003,&quot;left&quot;:42.8,&quot;top&quot;:146.75,&quot;width&quot;:606.3}"/>
</p:tagLst>
</file>

<file path=ppt/tags/tag844.xml><?xml version="1.0" encoding="utf-8"?>
<p:tagLst xmlns:p="http://schemas.openxmlformats.org/presentationml/2006/main">
  <p:tag name="KSO_WM_DIAGRAM_VIRTUALLY_FRAME" val="{&quot;height&quot;:212.65000000000003,&quot;left&quot;:42.8,&quot;top&quot;:146.75,&quot;width&quot;:606.3}"/>
</p:tagLst>
</file>

<file path=ppt/tags/tag845.xml><?xml version="1.0" encoding="utf-8"?>
<p:tagLst xmlns:p="http://schemas.openxmlformats.org/presentationml/2006/main">
  <p:tag name="KSO_WM_DIAGRAM_VIRTUALLY_FRAME" val="{&quot;height&quot;:212.65000000000003,&quot;left&quot;:42.8,&quot;top&quot;:146.75,&quot;width&quot;:606.3}"/>
</p:tagLst>
</file>

<file path=ppt/tags/tag846.xml><?xml version="1.0" encoding="utf-8"?>
<p:tagLst xmlns:p="http://schemas.openxmlformats.org/presentationml/2006/main">
  <p:tag name="KSO_WM_DIAGRAM_VIRTUALLY_FRAME" val="{&quot;height&quot;:212.65000000000003,&quot;left&quot;:42.8,&quot;top&quot;:146.75,&quot;width&quot;:606.3}"/>
</p:tagLst>
</file>

<file path=ppt/tags/tag847.xml><?xml version="1.0" encoding="utf-8"?>
<p:tagLst xmlns:p="http://schemas.openxmlformats.org/presentationml/2006/main">
  <p:tag name="KSO_WM_DIAGRAM_VIRTUALLY_FRAME" val="{&quot;height&quot;:212.65000000000003,&quot;left&quot;:42.8,&quot;top&quot;:146.75,&quot;width&quot;:606.3}"/>
</p:tagLst>
</file>

<file path=ppt/tags/tag848.xml><?xml version="1.0" encoding="utf-8"?>
<p:tagLst xmlns:p="http://schemas.openxmlformats.org/presentationml/2006/main">
  <p:tag name="KSO_WM_DIAGRAM_VIRTUALLY_FRAME" val="{&quot;height&quot;:212.65000000000003,&quot;left&quot;:42.8,&quot;top&quot;:146.75,&quot;width&quot;:606.3}"/>
</p:tagLst>
</file>

<file path=ppt/tags/tag849.xml><?xml version="1.0" encoding="utf-8"?>
<p:tagLst xmlns:p="http://schemas.openxmlformats.org/presentationml/2006/main">
  <p:tag name="KSO_WM_DIAGRAM_VIRTUALLY_FRAME" val="{&quot;height&quot;:212.65000000000003,&quot;left&quot;:42.8,&quot;top&quot;:146.75,&quot;width&quot;:606.3}"/>
</p:tagLst>
</file>

<file path=ppt/tags/tag850.xml><?xml version="1.0" encoding="utf-8"?>
<p:tagLst xmlns:p="http://schemas.openxmlformats.org/presentationml/2006/main">
  <p:tag name="KSO_WM_DIAGRAM_VIRTUALLY_FRAME" val="{&quot;height&quot;:212.65000000000003,&quot;left&quot;:42.8,&quot;top&quot;:146.75,&quot;width&quot;:606.3}"/>
</p:tagLst>
</file>

<file path=ppt/tags/tag851.xml><?xml version="1.0" encoding="utf-8"?>
<p:tagLst xmlns:p="http://schemas.openxmlformats.org/presentationml/2006/main">
  <p:tag name="KSO_WM_DIAGRAM_VIRTUALLY_FRAME" val="{&quot;height&quot;:212.65000000000003,&quot;left&quot;:42.8,&quot;top&quot;:146.75,&quot;width&quot;:606.3}"/>
</p:tagLst>
</file>

<file path=ppt/tags/tag852.xml><?xml version="1.0" encoding="utf-8"?>
<p:tagLst xmlns:p="http://schemas.openxmlformats.org/presentationml/2006/main">
  <p:tag name="KSO_WM_DIAGRAM_VIRTUALLY_FRAME" val="{&quot;height&quot;:212.65000000000003,&quot;left&quot;:42.8,&quot;top&quot;:146.75,&quot;width&quot;:606.3}"/>
</p:tagLst>
</file>

<file path=ppt/tags/tag853.xml><?xml version="1.0" encoding="utf-8"?>
<p:tagLst xmlns:p="http://schemas.openxmlformats.org/presentationml/2006/main">
  <p:tag name="KSO_WM_DIAGRAM_VIRTUALLY_FRAME" val="{&quot;height&quot;:212.65000000000003,&quot;left&quot;:42.8,&quot;top&quot;:146.75,&quot;width&quot;:606.3}"/>
</p:tagLst>
</file>

<file path=ppt/tags/tag854.xml><?xml version="1.0" encoding="utf-8"?>
<p:tagLst xmlns:p="http://schemas.openxmlformats.org/presentationml/2006/main">
  <p:tag name="KSO_WM_DIAGRAM_VIRTUALLY_FRAME" val="{&quot;height&quot;:64.1,&quot;left&quot;:61.55,&quot;top&quot;:96.55,&quot;width&quot;:840.35}"/>
</p:tagLst>
</file>

<file path=ppt/tags/tag855.xml><?xml version="1.0" encoding="utf-8"?>
<p:tagLst xmlns:p="http://schemas.openxmlformats.org/presentationml/2006/main">
  <p:tag name="KSO_WM_DIAGRAM_VIRTUALLY_FRAME" val="{&quot;height&quot;:64.1,&quot;left&quot;:61.55,&quot;top&quot;:96.55,&quot;width&quot;:840.35}"/>
</p:tagLst>
</file>

<file path=ppt/tags/tag856.xml><?xml version="1.0" encoding="utf-8"?>
<p:tagLst xmlns:p="http://schemas.openxmlformats.org/presentationml/2006/main">
  <p:tag name="KSO_WM_DIAGRAM_VIRTUALLY_FRAME" val="{&quot;height&quot;:64.1,&quot;left&quot;:61.55,&quot;top&quot;:96.55,&quot;width&quot;:840.35}"/>
</p:tagLst>
</file>

<file path=ppt/tags/tag857.xml><?xml version="1.0" encoding="utf-8"?>
<p:tagLst xmlns:p="http://schemas.openxmlformats.org/presentationml/2006/main">
  <p:tag name="KSO_WM_DIAGRAM_VIRTUALLY_FRAME" val="{&quot;height&quot;:64.1,&quot;left&quot;:61.55,&quot;top&quot;:96.55,&quot;width&quot;:840.35}"/>
</p:tagLst>
</file>

<file path=ppt/tags/tag858.xml><?xml version="1.0" encoding="utf-8"?>
<p:tagLst xmlns:p="http://schemas.openxmlformats.org/presentationml/2006/main">
  <p:tag name="KSO_WM_DIAGRAM_VIRTUALLY_FRAME" val="{&quot;height&quot;:64.1,&quot;left&quot;:61.55,&quot;top&quot;:96.55,&quot;width&quot;:840.35}"/>
</p:tagLst>
</file>

<file path=ppt/tags/tag859.xml><?xml version="1.0" encoding="utf-8"?>
<p:tagLst xmlns:p="http://schemas.openxmlformats.org/presentationml/2006/main">
  <p:tag name="KSO_WM_DIAGRAM_VIRTUALLY_FRAME" val="{&quot;height&quot;:64.1,&quot;left&quot;:61.55,&quot;top&quot;:96.55,&quot;width&quot;:840.35}"/>
</p:tagLst>
</file>

<file path=ppt/tags/tag860.xml><?xml version="1.0" encoding="utf-8"?>
<p:tagLst xmlns:p="http://schemas.openxmlformats.org/presentationml/2006/main">
  <p:tag name="KSO_WM_DIAGRAM_VIRTUALLY_FRAME" val="{&quot;height&quot;:64.1,&quot;left&quot;:61.55,&quot;top&quot;:96.55,&quot;width&quot;:840.35}"/>
</p:tagLst>
</file>

<file path=ppt/tags/tag861.xml><?xml version="1.0" encoding="utf-8"?>
<p:tagLst xmlns:p="http://schemas.openxmlformats.org/presentationml/2006/main">
  <p:tag name="KSO_WM_DIAGRAM_VIRTUALLY_FRAME" val="{&quot;height&quot;:64.1,&quot;left&quot;:61.55,&quot;top&quot;:96.55,&quot;width&quot;:840.35}"/>
</p:tagLst>
</file>

<file path=ppt/tags/tag862.xml><?xml version="1.0" encoding="utf-8"?>
<p:tagLst xmlns:p="http://schemas.openxmlformats.org/presentationml/2006/main">
  <p:tag name="KSO_WM_DIAGRAM_VIRTUALLY_FRAME" val="{&quot;height&quot;:64.1,&quot;left&quot;:61.55,&quot;top&quot;:96.55,&quot;width&quot;:840.35}"/>
</p:tagLst>
</file>

<file path=ppt/tags/tag863.xml><?xml version="1.0" encoding="utf-8"?>
<p:tagLst xmlns:p="http://schemas.openxmlformats.org/presentationml/2006/main">
  <p:tag name="KSO_WM_DIAGRAM_VIRTUALLY_FRAME" val="{&quot;height&quot;:64.1,&quot;left&quot;:61.55,&quot;top&quot;:96.55,&quot;width&quot;:840.35}"/>
</p:tagLst>
</file>

<file path=ppt/tags/tag864.xml><?xml version="1.0" encoding="utf-8"?>
<p:tagLst xmlns:p="http://schemas.openxmlformats.org/presentationml/2006/main">
  <p:tag name="KSO_WM_DIAGRAM_VIRTUALLY_FRAME" val="{&quot;height&quot;:64.1,&quot;left&quot;:61.55,&quot;top&quot;:96.55,&quot;width&quot;:840.35}"/>
</p:tagLst>
</file>

<file path=ppt/tags/tag865.xml><?xml version="1.0" encoding="utf-8"?>
<p:tagLst xmlns:p="http://schemas.openxmlformats.org/presentationml/2006/main">
  <p:tag name="KSO_WM_DIAGRAM_VIRTUALLY_FRAME" val="{&quot;height&quot;:64.1,&quot;left&quot;:61.55,&quot;top&quot;:96.55,&quot;width&quot;:840.35}"/>
</p:tagLst>
</file>

<file path=ppt/tags/tag866.xml><?xml version="1.0" encoding="utf-8"?>
<p:tagLst xmlns:p="http://schemas.openxmlformats.org/presentationml/2006/main">
  <p:tag name="KSO_WM_DIAGRAM_VIRTUALLY_FRAME" val="{&quot;height&quot;:64.1,&quot;left&quot;:61.55,&quot;top&quot;:96.55,&quot;width&quot;:840.35}"/>
</p:tagLst>
</file>

<file path=ppt/tags/tag867.xml><?xml version="1.0" encoding="utf-8"?>
<p:tagLst xmlns:p="http://schemas.openxmlformats.org/presentationml/2006/main">
  <p:tag name="KSO_WM_DIAGRAM_VIRTUALLY_FRAME" val="{&quot;height&quot;:64.1,&quot;left&quot;:61.55,&quot;top&quot;:96.55,&quot;width&quot;:840.35}"/>
</p:tagLst>
</file>

<file path=ppt/tags/tag868.xml><?xml version="1.0" encoding="utf-8"?>
<p:tagLst xmlns:p="http://schemas.openxmlformats.org/presentationml/2006/main">
  <p:tag name="ISLIDE.GUIDESSETTING" val="{&quot;Id&quot;:&quot;GuidesStyle_Moderate&quot;,&quot;Name&quot;:&quot;适中&quot;,&quot;Kind&quot;:&quot;System&quot;,&quot;OldGuidesSetting&quot;:{&quot;HeaderHeight&quot;:13.0,&quot;FooterHeight&quot;:6.0,&quot;SideMargin&quot;:4.0,&quot;TopMargin&quot;:0.0,&quot;BottomMargin&quot;:0.0,&quot;IntervalMargin&quot;:1.5}}"/>
  <p:tag name="COMMONDATA" val="eyJoZGlkIjoiMmIxOGE2NGY5MzIzZTFjYjRkMjdkOTZiZDJlY2ZhYzQifQ=="/>
  <p:tag name="RESOURCE_RECORD_KEY" val="{&quot;29&quot;:[50000086]}"/>
</p:tagLst>
</file>

<file path=ppt/theme/theme1.xml><?xml version="1.0" encoding="utf-8"?>
<a:theme xmlns:a="http://schemas.openxmlformats.org/drawingml/2006/main" name="Office 主题​​">
  <a:themeElements>
    <a:clrScheme name="纯蓝色配色">
      <a:dk1>
        <a:srgbClr val="000000"/>
      </a:dk1>
      <a:lt1>
        <a:srgbClr val="FFFFFF"/>
      </a:lt1>
      <a:dk2>
        <a:srgbClr val="44546A"/>
      </a:dk2>
      <a:lt2>
        <a:srgbClr val="E7E6E6"/>
      </a:lt2>
      <a:accent1>
        <a:srgbClr val="1C4274"/>
      </a:accent1>
      <a:accent2>
        <a:srgbClr val="A23424"/>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lang="en-US" altLang="zh-CN">
            <a:latin typeface="HONOR Sans CN" panose="05000200000000000000" charset="-122"/>
            <a:ea typeface="HONOR Sans CN" panose="05000200000000000000"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Office 主题​​">
  <a:themeElements>
    <a:clrScheme name="">
      <a:dk1>
        <a:srgbClr val="202020"/>
      </a:dk1>
      <a:lt1>
        <a:srgbClr val="FFFFFF"/>
      </a:lt1>
      <a:dk2>
        <a:srgbClr val="404040"/>
      </a:dk2>
      <a:lt2>
        <a:srgbClr val="FFFFFF"/>
      </a:lt2>
      <a:accent1>
        <a:srgbClr val="1C4274"/>
      </a:accent1>
      <a:accent2>
        <a:srgbClr val="89B0E3"/>
      </a:accent2>
      <a:accent3>
        <a:srgbClr val="1C4274"/>
      </a:accent3>
      <a:accent4>
        <a:srgbClr val="A5A5A5"/>
      </a:accent4>
      <a:accent5>
        <a:srgbClr val="4E88D4"/>
      </a:accent5>
      <a:accent6>
        <a:srgbClr val="404040"/>
      </a:accent6>
      <a:hlink>
        <a:srgbClr val="0026E5"/>
      </a:hlink>
      <a:folHlink>
        <a:srgbClr val="7E1FAD"/>
      </a:folHlink>
    </a:clrScheme>
    <a:fontScheme name="">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lang="en-US" altLang="zh-CN">
            <a:latin typeface="HONOR Sans CN" panose="05000200000000000000" charset="-122"/>
            <a:ea typeface="HONOR Sans CN" panose="05000200000000000000"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22835</Words>
  <Application>WPS 演示</Application>
  <PresentationFormat>宽屏</PresentationFormat>
  <Paragraphs>2811</Paragraphs>
  <Slides>48</Slides>
  <Notes>40</Notes>
  <HiddenSlides>0</HiddenSlides>
  <MMClips>0</MMClips>
  <ScaleCrop>false</ScaleCrop>
  <HeadingPairs>
    <vt:vector size="6" baseType="variant">
      <vt:variant>
        <vt:lpstr>已用的字体</vt:lpstr>
      </vt:variant>
      <vt:variant>
        <vt:i4>21</vt:i4>
      </vt:variant>
      <vt:variant>
        <vt:lpstr>主题</vt:lpstr>
      </vt:variant>
      <vt:variant>
        <vt:i4>2</vt:i4>
      </vt:variant>
      <vt:variant>
        <vt:lpstr>幻灯片标题</vt:lpstr>
      </vt:variant>
      <vt:variant>
        <vt:i4>48</vt:i4>
      </vt:variant>
    </vt:vector>
  </HeadingPairs>
  <TitlesOfParts>
    <vt:vector size="71" baseType="lpstr">
      <vt:lpstr>Arial</vt:lpstr>
      <vt:lpstr>宋体</vt:lpstr>
      <vt:lpstr>Wingdings</vt:lpstr>
      <vt:lpstr>HONOR Sans CN</vt:lpstr>
      <vt:lpstr>微软雅黑</vt:lpstr>
      <vt:lpstr>Arial Unicode MS</vt:lpstr>
      <vt:lpstr>OPPOSans H</vt:lpstr>
      <vt:lpstr>Helvetica Neue Medium</vt:lpstr>
      <vt:lpstr>Manrope ExtraLight SemiBold</vt:lpstr>
      <vt:lpstr>Wingdings</vt:lpstr>
      <vt:lpstr>Manrope ExtraLight Regular</vt:lpstr>
      <vt:lpstr>OPPOSans R</vt:lpstr>
      <vt:lpstr>Barlow SemiBold</vt:lpstr>
      <vt:lpstr>Helvetica</vt:lpstr>
      <vt:lpstr>Barlow Medium</vt:lpstr>
      <vt:lpstr>Calibri</vt:lpstr>
      <vt:lpstr>思源宋体 CN Heavy</vt:lpstr>
      <vt:lpstr>Times New Roman</vt:lpstr>
      <vt:lpstr>思源黑体 CN Regular</vt:lpstr>
      <vt:lpstr>OPPOSans M</vt:lpstr>
      <vt:lpstr>DM Sans Medium</vt:lpstr>
      <vt:lpstr>Office 主题​​</vt:lpstr>
      <vt:lpstr>5_Office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徐鸣冲</dc:creator>
  <cp:lastModifiedBy>xmc</cp:lastModifiedBy>
  <cp:revision>361</cp:revision>
  <dcterms:created xsi:type="dcterms:W3CDTF">2022-10-13T07:27:00Z</dcterms:created>
  <dcterms:modified xsi:type="dcterms:W3CDTF">2026-04-11T11:49:32Z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CA97EDF6D6A64F93AC17D52C38E77688_13</vt:lpwstr>
  </property>
  <property fmtid="{D5CDD505-2E9C-101B-9397-08002B2CF9AE}" pid="3" name="KSOProductBuildVer">
    <vt:lpwstr>2052-12.1.0.25222</vt:lpwstr>
  </property>
</Properties>
</file>