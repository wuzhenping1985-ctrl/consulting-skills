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media/image101.svg" ContentType="image/svg+xml"/>
  <Override PartName="/ppt/media/image102.svg" ContentType="image/svg+xml"/>
  <Override PartName="/ppt/media/image104.svg" ContentType="image/svg+xml"/>
  <Override PartName="/ppt/media/image105.svg" ContentType="image/svg+xml"/>
  <Override PartName="/ppt/media/image107.svg" ContentType="image/svg+xml"/>
  <Override PartName="/ppt/media/image109.svg" ContentType="image/svg+xml"/>
  <Override PartName="/ppt/media/image111.svg" ContentType="image/svg+xml"/>
  <Override PartName="/ppt/media/image113.svg" ContentType="image/svg+xml"/>
  <Override PartName="/ppt/media/image115.svg" ContentType="image/svg+xml"/>
  <Override PartName="/ppt/media/image117.svg" ContentType="image/svg+xml"/>
  <Override PartName="/ppt/media/image119.svg" ContentType="image/svg+xml"/>
  <Override PartName="/ppt/media/image120.svg" ContentType="image/svg+xml"/>
  <Override PartName="/ppt/media/image122.svg" ContentType="image/svg+xml"/>
  <Override PartName="/ppt/media/image124.svg" ContentType="image/svg+xml"/>
  <Override PartName="/ppt/media/image125.svg" ContentType="image/svg+xml"/>
  <Override PartName="/ppt/media/image127.svg" ContentType="image/svg+xml"/>
  <Override PartName="/ppt/media/image129.svg" ContentType="image/svg+xml"/>
  <Override PartName="/ppt/media/image131.svg" ContentType="image/svg+xml"/>
  <Override PartName="/ppt/media/image133.svg" ContentType="image/svg+xml"/>
  <Override PartName="/ppt/media/image135.svg" ContentType="image/svg+xml"/>
  <Override PartName="/ppt/media/image137.svg" ContentType="image/svg+xml"/>
  <Override PartName="/ppt/media/image139.svg" ContentType="image/svg+xml"/>
  <Override PartName="/ppt/media/image141.svg" ContentType="image/svg+xml"/>
  <Override PartName="/ppt/media/image143.svg" ContentType="image/svg+xml"/>
  <Override PartName="/ppt/media/image145.svg" ContentType="image/svg+xml"/>
  <Override PartName="/ppt/media/image147.svg" ContentType="image/svg+xml"/>
  <Override PartName="/ppt/media/image149.svg" ContentType="image/svg+xml"/>
  <Override PartName="/ppt/media/image150.svg" ContentType="image/svg+xml"/>
  <Override PartName="/ppt/media/image152.svg" ContentType="image/svg+xml"/>
  <Override PartName="/ppt/media/image154.svg" ContentType="image/svg+xml"/>
  <Override PartName="/ppt/media/image157.svg" ContentType="image/svg+xml"/>
  <Override PartName="/ppt/media/image159.svg" ContentType="image/svg+xml"/>
  <Override PartName="/ppt/media/image161.svg" ContentType="image/svg+xml"/>
  <Override PartName="/ppt/media/image163.svg" ContentType="image/svg+xml"/>
  <Override PartName="/ppt/media/image164.svg" ContentType="image/svg+xml"/>
  <Override PartName="/ppt/media/image166.svg" ContentType="image/svg+xml"/>
  <Override PartName="/ppt/media/image167.svg" ContentType="image/svg+xml"/>
  <Override PartName="/ppt/media/image168.svg" ContentType="image/svg+xml"/>
  <Override PartName="/ppt/media/image169.svg" ContentType="image/svg+xml"/>
  <Override PartName="/ppt/media/image171.svg" ContentType="image/svg+xml"/>
  <Override PartName="/ppt/media/image172.svg" ContentType="image/svg+xml"/>
  <Override PartName="/ppt/media/image173.svg" ContentType="image/svg+xml"/>
  <Override PartName="/ppt/media/image175.svg" ContentType="image/svg+xml"/>
  <Override PartName="/ppt/media/image177.svg" ContentType="image/svg+xml"/>
  <Override PartName="/ppt/media/image179.svg" ContentType="image/svg+xml"/>
  <Override PartName="/ppt/media/image181.svg" ContentType="image/svg+xml"/>
  <Override PartName="/ppt/media/image183.svg" ContentType="image/svg+xml"/>
  <Override PartName="/ppt/media/image184.svg" ContentType="image/svg+xml"/>
  <Override PartName="/ppt/media/image186.svg" ContentType="image/svg+xml"/>
  <Override PartName="/ppt/media/image188.svg" ContentType="image/svg+xml"/>
  <Override PartName="/ppt/media/image190.svg" ContentType="image/svg+xml"/>
  <Override PartName="/ppt/media/image192.svg" ContentType="image/svg+xml"/>
  <Override PartName="/ppt/media/image194.svg" ContentType="image/svg+xml"/>
  <Override PartName="/ppt/media/image196.svg" ContentType="image/svg+xml"/>
  <Override PartName="/ppt/media/image197.svg" ContentType="image/svg+xml"/>
  <Override PartName="/ppt/media/image199.svg" ContentType="image/svg+xml"/>
  <Override PartName="/ppt/media/image201.svg" ContentType="image/svg+xml"/>
  <Override PartName="/ppt/media/image203.svg" ContentType="image/svg+xml"/>
  <Override PartName="/ppt/media/image205.svg" ContentType="image/svg+xml"/>
  <Override PartName="/ppt/media/image207.svg" ContentType="image/svg+xml"/>
  <Override PartName="/ppt/media/image209.svg" ContentType="image/svg+xml"/>
  <Override PartName="/ppt/media/image211.svg" ContentType="image/svg+xml"/>
  <Override PartName="/ppt/media/image213.svg" ContentType="image/svg+xml"/>
  <Override PartName="/ppt/media/image215.svg" ContentType="image/svg+xml"/>
  <Override PartName="/ppt/media/image217.svg" ContentType="image/svg+xml"/>
  <Override PartName="/ppt/media/image219.svg" ContentType="image/svg+xml"/>
  <Override PartName="/ppt/media/image22.svg" ContentType="image/svg+xml"/>
  <Override PartName="/ppt/media/image221.svg" ContentType="image/svg+xml"/>
  <Override PartName="/ppt/media/image223.svg" ContentType="image/svg+xml"/>
  <Override PartName="/ppt/media/image225.svg" ContentType="image/svg+xml"/>
  <Override PartName="/ppt/media/image227.svg" ContentType="image/svg+xml"/>
  <Override PartName="/ppt/media/image229.svg" ContentType="image/svg+xml"/>
  <Override PartName="/ppt/media/image231.svg" ContentType="image/svg+xml"/>
  <Override PartName="/ppt/media/image232.svg" ContentType="image/svg+xml"/>
  <Override PartName="/ppt/media/image233.svg" ContentType="image/svg+xml"/>
  <Override PartName="/ppt/media/image235.svg" ContentType="image/svg+xml"/>
  <Override PartName="/ppt/media/image237.svg" ContentType="image/svg+xml"/>
  <Override PartName="/ppt/media/image239.svg" ContentType="image/svg+xml"/>
  <Override PartName="/ppt/media/image24.svg" ContentType="image/svg+xml"/>
  <Override PartName="/ppt/media/image241.svg" ContentType="image/svg+xml"/>
  <Override PartName="/ppt/media/image242.svg" ContentType="image/svg+xml"/>
  <Override PartName="/ppt/media/image243.svg" ContentType="image/svg+xml"/>
  <Override PartName="/ppt/media/image244.svg" ContentType="image/svg+xml"/>
  <Override PartName="/ppt/media/image246.svg" ContentType="image/svg+xml"/>
  <Override PartName="/ppt/media/image248.svg" ContentType="image/svg+xml"/>
  <Override PartName="/ppt/media/image249.svg" ContentType="image/svg+xml"/>
  <Override PartName="/ppt/media/image250.svg" ContentType="image/svg+xml"/>
  <Override PartName="/ppt/media/image251.svg" ContentType="image/svg+xml"/>
  <Override PartName="/ppt/media/image252.svg" ContentType="image/svg+xml"/>
  <Override PartName="/ppt/media/image254.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0.svg" ContentType="image/svg+xml"/>
  <Override PartName="/ppt/media/image41.svg" ContentType="image/svg+xml"/>
  <Override PartName="/ppt/media/image43.svg" ContentType="image/svg+xml"/>
  <Override PartName="/ppt/media/image45.svg" ContentType="image/svg+xml"/>
  <Override PartName="/ppt/media/image47.svg" ContentType="image/svg+xml"/>
  <Override PartName="/ppt/media/image48.svg" ContentType="image/svg+xml"/>
  <Override PartName="/ppt/media/image49.svg" ContentType="image/svg+xml"/>
  <Override PartName="/ppt/media/image50.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1.svg" ContentType="image/svg+xml"/>
  <Override PartName="/ppt/media/image63.svg" ContentType="image/svg+xml"/>
  <Override PartName="/ppt/media/image65.svg" ContentType="image/svg+xml"/>
  <Override PartName="/ppt/media/image66.svg" ContentType="image/svg+xml"/>
  <Override PartName="/ppt/media/image67.svg" ContentType="image/svg+xml"/>
  <Override PartName="/ppt/media/image69.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79.svg" ContentType="image/svg+xml"/>
  <Override PartName="/ppt/media/image80.svg" ContentType="image/svg+xml"/>
  <Override PartName="/ppt/media/image82.svg" ContentType="image/svg+xml"/>
  <Override PartName="/ppt/media/image84.svg" ContentType="image/svg+xml"/>
  <Override PartName="/ppt/media/image86.svg" ContentType="image/svg+xml"/>
  <Override PartName="/ppt/media/image87.svg" ContentType="image/svg+xml"/>
  <Override PartName="/ppt/media/image89.svg" ContentType="image/svg+xml"/>
  <Override PartName="/ppt/media/image91.svg" ContentType="image/svg+xml"/>
  <Override PartName="/ppt/media/image93.svg" ContentType="image/svg+xml"/>
  <Override PartName="/ppt/media/image95.svg" ContentType="image/svg+xml"/>
  <Override PartName="/ppt/media/image97.svg" ContentType="image/svg+xml"/>
  <Override PartName="/ppt/media/image9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292.xml" ContentType="application/vnd.openxmlformats-officedocument.presentationml.tags+xml"/>
  <Override PartName="/ppt/tags/tag293.xml" ContentType="application/vnd.openxmlformats-officedocument.presentationml.tags+xml"/>
  <Override PartName="/ppt/tags/tag294.xml" ContentType="application/vnd.openxmlformats-officedocument.presentationml.tags+xml"/>
  <Override PartName="/ppt/tags/tag295.xml" ContentType="application/vnd.openxmlformats-officedocument.presentationml.tags+xml"/>
  <Override PartName="/ppt/tags/tag296.xml" ContentType="application/vnd.openxmlformats-officedocument.presentationml.tags+xml"/>
  <Override PartName="/ppt/tags/tag297.xml" ContentType="application/vnd.openxmlformats-officedocument.presentationml.tags+xml"/>
  <Override PartName="/ppt/tags/tag298.xml" ContentType="application/vnd.openxmlformats-officedocument.presentationml.tags+xml"/>
  <Override PartName="/ppt/tags/tag29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00.xml" ContentType="application/vnd.openxmlformats-officedocument.presentationml.tags+xml"/>
  <Override PartName="/ppt/tags/tag301.xml" ContentType="application/vnd.openxmlformats-officedocument.presentationml.tags+xml"/>
  <Override PartName="/ppt/tags/tag302.xml" ContentType="application/vnd.openxmlformats-officedocument.presentationml.tags+xml"/>
  <Override PartName="/ppt/tags/tag303.xml" ContentType="application/vnd.openxmlformats-officedocument.presentationml.tags+xml"/>
  <Override PartName="/ppt/tags/tag304.xml" ContentType="application/vnd.openxmlformats-officedocument.presentationml.tags+xml"/>
  <Override PartName="/ppt/tags/tag305.xml" ContentType="application/vnd.openxmlformats-officedocument.presentationml.tags+xml"/>
  <Override PartName="/ppt/tags/tag306.xml" ContentType="application/vnd.openxmlformats-officedocument.presentationml.tags+xml"/>
  <Override PartName="/ppt/tags/tag307.xml" ContentType="application/vnd.openxmlformats-officedocument.presentationml.tags+xml"/>
  <Override PartName="/ppt/tags/tag308.xml" ContentType="application/vnd.openxmlformats-officedocument.presentationml.tags+xml"/>
  <Override PartName="/ppt/tags/tag309.xml" ContentType="application/vnd.openxmlformats-officedocument.presentationml.tags+xml"/>
  <Override PartName="/ppt/tags/tag31.xml" ContentType="application/vnd.openxmlformats-officedocument.presentationml.tags+xml"/>
  <Override PartName="/ppt/tags/tag310.xml" ContentType="application/vnd.openxmlformats-officedocument.presentationml.tags+xml"/>
  <Override PartName="/ppt/tags/tag311.xml" ContentType="application/vnd.openxmlformats-officedocument.presentationml.tags+xml"/>
  <Override PartName="/ppt/tags/tag312.xml" ContentType="application/vnd.openxmlformats-officedocument.presentationml.tags+xml"/>
  <Override PartName="/ppt/tags/tag313.xml" ContentType="application/vnd.openxmlformats-officedocument.presentationml.tags+xml"/>
  <Override PartName="/ppt/tags/tag314.xml" ContentType="application/vnd.openxmlformats-officedocument.presentationml.tags+xml"/>
  <Override PartName="/ppt/tags/tag315.xml" ContentType="application/vnd.openxmlformats-officedocument.presentationml.tags+xml"/>
  <Override PartName="/ppt/tags/tag316.xml" ContentType="application/vnd.openxmlformats-officedocument.presentationml.tags+xml"/>
  <Override PartName="/ppt/tags/tag317.xml" ContentType="application/vnd.openxmlformats-officedocument.presentationml.tags+xml"/>
  <Override PartName="/ppt/tags/tag318.xml" ContentType="application/vnd.openxmlformats-officedocument.presentationml.tags+xml"/>
  <Override PartName="/ppt/tags/tag319.xml" ContentType="application/vnd.openxmlformats-officedocument.presentationml.tags+xml"/>
  <Override PartName="/ppt/tags/tag32.xml" ContentType="application/vnd.openxmlformats-officedocument.presentationml.tags+xml"/>
  <Override PartName="/ppt/tags/tag320.xml" ContentType="application/vnd.openxmlformats-officedocument.presentationml.tags+xml"/>
  <Override PartName="/ppt/tags/tag321.xml" ContentType="application/vnd.openxmlformats-officedocument.presentationml.tags+xml"/>
  <Override PartName="/ppt/tags/tag322.xml" ContentType="application/vnd.openxmlformats-officedocument.presentationml.tags+xml"/>
  <Override PartName="/ppt/tags/tag323.xml" ContentType="application/vnd.openxmlformats-officedocument.presentationml.tags+xml"/>
  <Override PartName="/ppt/tags/tag324.xml" ContentType="application/vnd.openxmlformats-officedocument.presentationml.tags+xml"/>
  <Override PartName="/ppt/tags/tag325.xml" ContentType="application/vnd.openxmlformats-officedocument.presentationml.tags+xml"/>
  <Override PartName="/ppt/tags/tag326.xml" ContentType="application/vnd.openxmlformats-officedocument.presentationml.tags+xml"/>
  <Override PartName="/ppt/tags/tag327.xml" ContentType="application/vnd.openxmlformats-officedocument.presentationml.tags+xml"/>
  <Override PartName="/ppt/tags/tag328.xml" ContentType="application/vnd.openxmlformats-officedocument.presentationml.tags+xml"/>
  <Override PartName="/ppt/tags/tag329.xml" ContentType="application/vnd.openxmlformats-officedocument.presentationml.tags+xml"/>
  <Override PartName="/ppt/tags/tag33.xml" ContentType="application/vnd.openxmlformats-officedocument.presentationml.tags+xml"/>
  <Override PartName="/ppt/tags/tag330.xml" ContentType="application/vnd.openxmlformats-officedocument.presentationml.tags+xml"/>
  <Override PartName="/ppt/tags/tag331.xml" ContentType="application/vnd.openxmlformats-officedocument.presentationml.tags+xml"/>
  <Override PartName="/ppt/tags/tag332.xml" ContentType="application/vnd.openxmlformats-officedocument.presentationml.tags+xml"/>
  <Override PartName="/ppt/tags/tag333.xml" ContentType="application/vnd.openxmlformats-officedocument.presentationml.tags+xml"/>
  <Override PartName="/ppt/tags/tag334.xml" ContentType="application/vnd.openxmlformats-officedocument.presentationml.tags+xml"/>
  <Override PartName="/ppt/tags/tag335.xml" ContentType="application/vnd.openxmlformats-officedocument.presentationml.tags+xml"/>
  <Override PartName="/ppt/tags/tag336.xml" ContentType="application/vnd.openxmlformats-officedocument.presentationml.tags+xml"/>
  <Override PartName="/ppt/tags/tag337.xml" ContentType="application/vnd.openxmlformats-officedocument.presentationml.tags+xml"/>
  <Override PartName="/ppt/tags/tag338.xml" ContentType="application/vnd.openxmlformats-officedocument.presentationml.tags+xml"/>
  <Override PartName="/ppt/tags/tag339.xml" ContentType="application/vnd.openxmlformats-officedocument.presentationml.tags+xml"/>
  <Override PartName="/ppt/tags/tag34.xml" ContentType="application/vnd.openxmlformats-officedocument.presentationml.tags+xml"/>
  <Override PartName="/ppt/tags/tag340.xml" ContentType="application/vnd.openxmlformats-officedocument.presentationml.tags+xml"/>
  <Override PartName="/ppt/tags/tag341.xml" ContentType="application/vnd.openxmlformats-officedocument.presentationml.tags+xml"/>
  <Override PartName="/ppt/tags/tag342.xml" ContentType="application/vnd.openxmlformats-officedocument.presentationml.tags+xml"/>
  <Override PartName="/ppt/tags/tag343.xml" ContentType="application/vnd.openxmlformats-officedocument.presentationml.tags+xml"/>
  <Override PartName="/ppt/tags/tag344.xml" ContentType="application/vnd.openxmlformats-officedocument.presentationml.tags+xml"/>
  <Override PartName="/ppt/tags/tag345.xml" ContentType="application/vnd.openxmlformats-officedocument.presentationml.tags+xml"/>
  <Override PartName="/ppt/tags/tag346.xml" ContentType="application/vnd.openxmlformats-officedocument.presentationml.tags+xml"/>
  <Override PartName="/ppt/tags/tag347.xml" ContentType="application/vnd.openxmlformats-officedocument.presentationml.tags+xml"/>
  <Override PartName="/ppt/tags/tag348.xml" ContentType="application/vnd.openxmlformats-officedocument.presentationml.tags+xml"/>
  <Override PartName="/ppt/tags/tag349.xml" ContentType="application/vnd.openxmlformats-officedocument.presentationml.tags+xml"/>
  <Override PartName="/ppt/tags/tag35.xml" ContentType="application/vnd.openxmlformats-officedocument.presentationml.tags+xml"/>
  <Override PartName="/ppt/tags/tag350.xml" ContentType="application/vnd.openxmlformats-officedocument.presentationml.tags+xml"/>
  <Override PartName="/ppt/tags/tag351.xml" ContentType="application/vnd.openxmlformats-officedocument.presentationml.tags+xml"/>
  <Override PartName="/ppt/tags/tag352.xml" ContentType="application/vnd.openxmlformats-officedocument.presentationml.tags+xml"/>
  <Override PartName="/ppt/tags/tag353.xml" ContentType="application/vnd.openxmlformats-officedocument.presentationml.tags+xml"/>
  <Override PartName="/ppt/tags/tag354.xml" ContentType="application/vnd.openxmlformats-officedocument.presentationml.tags+xml"/>
  <Override PartName="/ppt/tags/tag355.xml" ContentType="application/vnd.openxmlformats-officedocument.presentationml.tags+xml"/>
  <Override PartName="/ppt/tags/tag356.xml" ContentType="application/vnd.openxmlformats-officedocument.presentationml.tags+xml"/>
  <Override PartName="/ppt/tags/tag357.xml" ContentType="application/vnd.openxmlformats-officedocument.presentationml.tags+xml"/>
  <Override PartName="/ppt/tags/tag358.xml" ContentType="application/vnd.openxmlformats-officedocument.presentationml.tags+xml"/>
  <Override PartName="/ppt/tags/tag359.xml" ContentType="application/vnd.openxmlformats-officedocument.presentationml.tags+xml"/>
  <Override PartName="/ppt/tags/tag36.xml" ContentType="application/vnd.openxmlformats-officedocument.presentationml.tags+xml"/>
  <Override PartName="/ppt/tags/tag360.xml" ContentType="application/vnd.openxmlformats-officedocument.presentationml.tags+xml"/>
  <Override PartName="/ppt/tags/tag361.xml" ContentType="application/vnd.openxmlformats-officedocument.presentationml.tags+xml"/>
  <Override PartName="/ppt/tags/tag362.xml" ContentType="application/vnd.openxmlformats-officedocument.presentationml.tags+xml"/>
  <Override PartName="/ppt/tags/tag363.xml" ContentType="application/vnd.openxmlformats-officedocument.presentationml.tags+xml"/>
  <Override PartName="/ppt/tags/tag364.xml" ContentType="application/vnd.openxmlformats-officedocument.presentationml.tags+xml"/>
  <Override PartName="/ppt/tags/tag365.xml" ContentType="application/vnd.openxmlformats-officedocument.presentationml.tags+xml"/>
  <Override PartName="/ppt/tags/tag366.xml" ContentType="application/vnd.openxmlformats-officedocument.presentationml.tags+xml"/>
  <Override PartName="/ppt/tags/tag367.xml" ContentType="application/vnd.openxmlformats-officedocument.presentationml.tags+xml"/>
  <Override PartName="/ppt/tags/tag368.xml" ContentType="application/vnd.openxmlformats-officedocument.presentationml.tags+xml"/>
  <Override PartName="/ppt/tags/tag369.xml" ContentType="application/vnd.openxmlformats-officedocument.presentationml.tags+xml"/>
  <Override PartName="/ppt/tags/tag37.xml" ContentType="application/vnd.openxmlformats-officedocument.presentationml.tags+xml"/>
  <Override PartName="/ppt/tags/tag370.xml" ContentType="application/vnd.openxmlformats-officedocument.presentationml.tags+xml"/>
  <Override PartName="/ppt/tags/tag371.xml" ContentType="application/vnd.openxmlformats-officedocument.presentationml.tags+xml"/>
  <Override PartName="/ppt/tags/tag372.xml" ContentType="application/vnd.openxmlformats-officedocument.presentationml.tags+xml"/>
  <Override PartName="/ppt/tags/tag373.xml" ContentType="application/vnd.openxmlformats-officedocument.presentationml.tags+xml"/>
  <Override PartName="/ppt/tags/tag374.xml" ContentType="application/vnd.openxmlformats-officedocument.presentationml.tags+xml"/>
  <Override PartName="/ppt/tags/tag375.xml" ContentType="application/vnd.openxmlformats-officedocument.presentationml.tags+xml"/>
  <Override PartName="/ppt/tags/tag376.xml" ContentType="application/vnd.openxmlformats-officedocument.presentationml.tags+xml"/>
  <Override PartName="/ppt/tags/tag377.xml" ContentType="application/vnd.openxmlformats-officedocument.presentationml.tags+xml"/>
  <Override PartName="/ppt/tags/tag378.xml" ContentType="application/vnd.openxmlformats-officedocument.presentationml.tags+xml"/>
  <Override PartName="/ppt/tags/tag379.xml" ContentType="application/vnd.openxmlformats-officedocument.presentationml.tags+xml"/>
  <Override PartName="/ppt/tags/tag38.xml" ContentType="application/vnd.openxmlformats-officedocument.presentationml.tags+xml"/>
  <Override PartName="/ppt/tags/tag380.xml" ContentType="application/vnd.openxmlformats-officedocument.presentationml.tags+xml"/>
  <Override PartName="/ppt/tags/tag381.xml" ContentType="application/vnd.openxmlformats-officedocument.presentationml.tags+xml"/>
  <Override PartName="/ppt/tags/tag382.xml" ContentType="application/vnd.openxmlformats-officedocument.presentationml.tags+xml"/>
  <Override PartName="/ppt/tags/tag383.xml" ContentType="application/vnd.openxmlformats-officedocument.presentationml.tags+xml"/>
  <Override PartName="/ppt/tags/tag384.xml" ContentType="application/vnd.openxmlformats-officedocument.presentationml.tags+xml"/>
  <Override PartName="/ppt/tags/tag385.xml" ContentType="application/vnd.openxmlformats-officedocument.presentationml.tags+xml"/>
  <Override PartName="/ppt/tags/tag386.xml" ContentType="application/vnd.openxmlformats-officedocument.presentationml.tags+xml"/>
  <Override PartName="/ppt/tags/tag387.xml" ContentType="application/vnd.openxmlformats-officedocument.presentationml.tags+xml"/>
  <Override PartName="/ppt/tags/tag388.xml" ContentType="application/vnd.openxmlformats-officedocument.presentationml.tags+xml"/>
  <Override PartName="/ppt/tags/tag389.xml" ContentType="application/vnd.openxmlformats-officedocument.presentationml.tags+xml"/>
  <Override PartName="/ppt/tags/tag39.xml" ContentType="application/vnd.openxmlformats-officedocument.presentationml.tags+xml"/>
  <Override PartName="/ppt/tags/tag390.xml" ContentType="application/vnd.openxmlformats-officedocument.presentationml.tags+xml"/>
  <Override PartName="/ppt/tags/tag391.xml" ContentType="application/vnd.openxmlformats-officedocument.presentationml.tags+xml"/>
  <Override PartName="/ppt/tags/tag392.xml" ContentType="application/vnd.openxmlformats-officedocument.presentationml.tags+xml"/>
  <Override PartName="/ppt/tags/tag393.xml" ContentType="application/vnd.openxmlformats-officedocument.presentationml.tags+xml"/>
  <Override PartName="/ppt/tags/tag394.xml" ContentType="application/vnd.openxmlformats-officedocument.presentationml.tags+xml"/>
  <Override PartName="/ppt/tags/tag395.xml" ContentType="application/vnd.openxmlformats-officedocument.presentationml.tags+xml"/>
  <Override PartName="/ppt/tags/tag396.xml" ContentType="application/vnd.openxmlformats-officedocument.presentationml.tags+xml"/>
  <Override PartName="/ppt/tags/tag397.xml" ContentType="application/vnd.openxmlformats-officedocument.presentationml.tags+xml"/>
  <Override PartName="/ppt/tags/tag398.xml" ContentType="application/vnd.openxmlformats-officedocument.presentationml.tags+xml"/>
  <Override PartName="/ppt/tags/tag39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00.xml" ContentType="application/vnd.openxmlformats-officedocument.presentationml.tags+xml"/>
  <Override PartName="/ppt/tags/tag401.xml" ContentType="application/vnd.openxmlformats-officedocument.presentationml.tags+xml"/>
  <Override PartName="/ppt/tags/tag402.xml" ContentType="application/vnd.openxmlformats-officedocument.presentationml.tags+xml"/>
  <Override PartName="/ppt/tags/tag403.xml" ContentType="application/vnd.openxmlformats-officedocument.presentationml.tags+xml"/>
  <Override PartName="/ppt/tags/tag404.xml" ContentType="application/vnd.openxmlformats-officedocument.presentationml.tags+xml"/>
  <Override PartName="/ppt/tags/tag405.xml" ContentType="application/vnd.openxmlformats-officedocument.presentationml.tags+xml"/>
  <Override PartName="/ppt/tags/tag406.xml" ContentType="application/vnd.openxmlformats-officedocument.presentationml.tags+xml"/>
  <Override PartName="/ppt/tags/tag407.xml" ContentType="application/vnd.openxmlformats-officedocument.presentationml.tags+xml"/>
  <Override PartName="/ppt/tags/tag408.xml" ContentType="application/vnd.openxmlformats-officedocument.presentationml.tags+xml"/>
  <Override PartName="/ppt/tags/tag409.xml" ContentType="application/vnd.openxmlformats-officedocument.presentationml.tags+xml"/>
  <Override PartName="/ppt/tags/tag41.xml" ContentType="application/vnd.openxmlformats-officedocument.presentationml.tags+xml"/>
  <Override PartName="/ppt/tags/tag410.xml" ContentType="application/vnd.openxmlformats-officedocument.presentationml.tags+xml"/>
  <Override PartName="/ppt/tags/tag411.xml" ContentType="application/vnd.openxmlformats-officedocument.presentationml.tags+xml"/>
  <Override PartName="/ppt/tags/tag412.xml" ContentType="application/vnd.openxmlformats-officedocument.presentationml.tags+xml"/>
  <Override PartName="/ppt/tags/tag413.xml" ContentType="application/vnd.openxmlformats-officedocument.presentationml.tags+xml"/>
  <Override PartName="/ppt/tags/tag414.xml" ContentType="application/vnd.openxmlformats-officedocument.presentationml.tags+xml"/>
  <Override PartName="/ppt/tags/tag415.xml" ContentType="application/vnd.openxmlformats-officedocument.presentationml.tags+xml"/>
  <Override PartName="/ppt/tags/tag416.xml" ContentType="application/vnd.openxmlformats-officedocument.presentationml.tags+xml"/>
  <Override PartName="/ppt/tags/tag417.xml" ContentType="application/vnd.openxmlformats-officedocument.presentationml.tags+xml"/>
  <Override PartName="/ppt/tags/tag418.xml" ContentType="application/vnd.openxmlformats-officedocument.presentationml.tags+xml"/>
  <Override PartName="/ppt/tags/tag419.xml" ContentType="application/vnd.openxmlformats-officedocument.presentationml.tags+xml"/>
  <Override PartName="/ppt/tags/tag42.xml" ContentType="application/vnd.openxmlformats-officedocument.presentationml.tags+xml"/>
  <Override PartName="/ppt/tags/tag420.xml" ContentType="application/vnd.openxmlformats-officedocument.presentationml.tags+xml"/>
  <Override PartName="/ppt/tags/tag421.xml" ContentType="application/vnd.openxmlformats-officedocument.presentationml.tags+xml"/>
  <Override PartName="/ppt/tags/tag422.xml" ContentType="application/vnd.openxmlformats-officedocument.presentationml.tags+xml"/>
  <Override PartName="/ppt/tags/tag423.xml" ContentType="application/vnd.openxmlformats-officedocument.presentationml.tags+xml"/>
  <Override PartName="/ppt/tags/tag424.xml" ContentType="application/vnd.openxmlformats-officedocument.presentationml.tags+xml"/>
  <Override PartName="/ppt/tags/tag425.xml" ContentType="application/vnd.openxmlformats-officedocument.presentationml.tags+xml"/>
  <Override PartName="/ppt/tags/tag426.xml" ContentType="application/vnd.openxmlformats-officedocument.presentationml.tags+xml"/>
  <Override PartName="/ppt/tags/tag427.xml" ContentType="application/vnd.openxmlformats-officedocument.presentationml.tags+xml"/>
  <Override PartName="/ppt/tags/tag428.xml" ContentType="application/vnd.openxmlformats-officedocument.presentationml.tags+xml"/>
  <Override PartName="/ppt/tags/tag429.xml" ContentType="application/vnd.openxmlformats-officedocument.presentationml.tags+xml"/>
  <Override PartName="/ppt/tags/tag43.xml" ContentType="application/vnd.openxmlformats-officedocument.presentationml.tags+xml"/>
  <Override PartName="/ppt/tags/tag430.xml" ContentType="application/vnd.openxmlformats-officedocument.presentationml.tags+xml"/>
  <Override PartName="/ppt/tags/tag431.xml" ContentType="application/vnd.openxmlformats-officedocument.presentationml.tags+xml"/>
  <Override PartName="/ppt/tags/tag432.xml" ContentType="application/vnd.openxmlformats-officedocument.presentationml.tags+xml"/>
  <Override PartName="/ppt/tags/tag433.xml" ContentType="application/vnd.openxmlformats-officedocument.presentationml.tags+xml"/>
  <Override PartName="/ppt/tags/tag434.xml" ContentType="application/vnd.openxmlformats-officedocument.presentationml.tags+xml"/>
  <Override PartName="/ppt/tags/tag435.xml" ContentType="application/vnd.openxmlformats-officedocument.presentationml.tags+xml"/>
  <Override PartName="/ppt/tags/tag436.xml" ContentType="application/vnd.openxmlformats-officedocument.presentationml.tags+xml"/>
  <Override PartName="/ppt/tags/tag437.xml" ContentType="application/vnd.openxmlformats-officedocument.presentationml.tags+xml"/>
  <Override PartName="/ppt/tags/tag438.xml" ContentType="application/vnd.openxmlformats-officedocument.presentationml.tags+xml"/>
  <Override PartName="/ppt/tags/tag439.xml" ContentType="application/vnd.openxmlformats-officedocument.presentationml.tags+xml"/>
  <Override PartName="/ppt/tags/tag44.xml" ContentType="application/vnd.openxmlformats-officedocument.presentationml.tags+xml"/>
  <Override PartName="/ppt/tags/tag440.xml" ContentType="application/vnd.openxmlformats-officedocument.presentationml.tags+xml"/>
  <Override PartName="/ppt/tags/tag441.xml" ContentType="application/vnd.openxmlformats-officedocument.presentationml.tags+xml"/>
  <Override PartName="/ppt/tags/tag442.xml" ContentType="application/vnd.openxmlformats-officedocument.presentationml.tags+xml"/>
  <Override PartName="/ppt/tags/tag443.xml" ContentType="application/vnd.openxmlformats-officedocument.presentationml.tags+xml"/>
  <Override PartName="/ppt/tags/tag444.xml" ContentType="application/vnd.openxmlformats-officedocument.presentationml.tags+xml"/>
  <Override PartName="/ppt/tags/tag445.xml" ContentType="application/vnd.openxmlformats-officedocument.presentationml.tags+xml"/>
  <Override PartName="/ppt/tags/tag446.xml" ContentType="application/vnd.openxmlformats-officedocument.presentationml.tags+xml"/>
  <Override PartName="/ppt/tags/tag447.xml" ContentType="application/vnd.openxmlformats-officedocument.presentationml.tags+xml"/>
  <Override PartName="/ppt/tags/tag448.xml" ContentType="application/vnd.openxmlformats-officedocument.presentationml.tags+xml"/>
  <Override PartName="/ppt/tags/tag449.xml" ContentType="application/vnd.openxmlformats-officedocument.presentationml.tags+xml"/>
  <Override PartName="/ppt/tags/tag45.xml" ContentType="application/vnd.openxmlformats-officedocument.presentationml.tags+xml"/>
  <Override PartName="/ppt/tags/tag450.xml" ContentType="application/vnd.openxmlformats-officedocument.presentationml.tags+xml"/>
  <Override PartName="/ppt/tags/tag451.xml" ContentType="application/vnd.openxmlformats-officedocument.presentationml.tags+xml"/>
  <Override PartName="/ppt/tags/tag452.xml" ContentType="application/vnd.openxmlformats-officedocument.presentationml.tags+xml"/>
  <Override PartName="/ppt/tags/tag453.xml" ContentType="application/vnd.openxmlformats-officedocument.presentationml.tags+xml"/>
  <Override PartName="/ppt/tags/tag454.xml" ContentType="application/vnd.openxmlformats-officedocument.presentationml.tags+xml"/>
  <Override PartName="/ppt/tags/tag455.xml" ContentType="application/vnd.openxmlformats-officedocument.presentationml.tags+xml"/>
  <Override PartName="/ppt/tags/tag456.xml" ContentType="application/vnd.openxmlformats-officedocument.presentationml.tags+xml"/>
  <Override PartName="/ppt/tags/tag457.xml" ContentType="application/vnd.openxmlformats-officedocument.presentationml.tags+xml"/>
  <Override PartName="/ppt/tags/tag458.xml" ContentType="application/vnd.openxmlformats-officedocument.presentationml.tags+xml"/>
  <Override PartName="/ppt/tags/tag459.xml" ContentType="application/vnd.openxmlformats-officedocument.presentationml.tags+xml"/>
  <Override PartName="/ppt/tags/tag46.xml" ContentType="application/vnd.openxmlformats-officedocument.presentationml.tags+xml"/>
  <Override PartName="/ppt/tags/tag460.xml" ContentType="application/vnd.openxmlformats-officedocument.presentationml.tags+xml"/>
  <Override PartName="/ppt/tags/tag461.xml" ContentType="application/vnd.openxmlformats-officedocument.presentationml.tags+xml"/>
  <Override PartName="/ppt/tags/tag462.xml" ContentType="application/vnd.openxmlformats-officedocument.presentationml.tags+xml"/>
  <Override PartName="/ppt/tags/tag463.xml" ContentType="application/vnd.openxmlformats-officedocument.presentationml.tags+xml"/>
  <Override PartName="/ppt/tags/tag464.xml" ContentType="application/vnd.openxmlformats-officedocument.presentationml.tags+xml"/>
  <Override PartName="/ppt/tags/tag465.xml" ContentType="application/vnd.openxmlformats-officedocument.presentationml.tags+xml"/>
  <Override PartName="/ppt/tags/tag466.xml" ContentType="application/vnd.openxmlformats-officedocument.presentationml.tags+xml"/>
  <Override PartName="/ppt/tags/tag467.xml" ContentType="application/vnd.openxmlformats-officedocument.presentationml.tags+xml"/>
  <Override PartName="/ppt/tags/tag468.xml" ContentType="application/vnd.openxmlformats-officedocument.presentationml.tags+xml"/>
  <Override PartName="/ppt/tags/tag469.xml" ContentType="application/vnd.openxmlformats-officedocument.presentationml.tags+xml"/>
  <Override PartName="/ppt/tags/tag47.xml" ContentType="application/vnd.openxmlformats-officedocument.presentationml.tags+xml"/>
  <Override PartName="/ppt/tags/tag470.xml" ContentType="application/vnd.openxmlformats-officedocument.presentationml.tags+xml"/>
  <Override PartName="/ppt/tags/tag471.xml" ContentType="application/vnd.openxmlformats-officedocument.presentationml.tags+xml"/>
  <Override PartName="/ppt/tags/tag472.xml" ContentType="application/vnd.openxmlformats-officedocument.presentationml.tags+xml"/>
  <Override PartName="/ppt/tags/tag473.xml" ContentType="application/vnd.openxmlformats-officedocument.presentationml.tags+xml"/>
  <Override PartName="/ppt/tags/tag474.xml" ContentType="application/vnd.openxmlformats-officedocument.presentationml.tags+xml"/>
  <Override PartName="/ppt/tags/tag475.xml" ContentType="application/vnd.openxmlformats-officedocument.presentationml.tags+xml"/>
  <Override PartName="/ppt/tags/tag476.xml" ContentType="application/vnd.openxmlformats-officedocument.presentationml.tags+xml"/>
  <Override PartName="/ppt/tags/tag477.xml" ContentType="application/vnd.openxmlformats-officedocument.presentationml.tags+xml"/>
  <Override PartName="/ppt/tags/tag478.xml" ContentType="application/vnd.openxmlformats-officedocument.presentationml.tags+xml"/>
  <Override PartName="/ppt/tags/tag479.xml" ContentType="application/vnd.openxmlformats-officedocument.presentationml.tags+xml"/>
  <Override PartName="/ppt/tags/tag48.xml" ContentType="application/vnd.openxmlformats-officedocument.presentationml.tags+xml"/>
  <Override PartName="/ppt/tags/tag480.xml" ContentType="application/vnd.openxmlformats-officedocument.presentationml.tags+xml"/>
  <Override PartName="/ppt/tags/tag481.xml" ContentType="application/vnd.openxmlformats-officedocument.presentationml.tags+xml"/>
  <Override PartName="/ppt/tags/tag482.xml" ContentType="application/vnd.openxmlformats-officedocument.presentationml.tags+xml"/>
  <Override PartName="/ppt/tags/tag483.xml" ContentType="application/vnd.openxmlformats-officedocument.presentationml.tags+xml"/>
  <Override PartName="/ppt/tags/tag484.xml" ContentType="application/vnd.openxmlformats-officedocument.presentationml.tags+xml"/>
  <Override PartName="/ppt/tags/tag485.xml" ContentType="application/vnd.openxmlformats-officedocument.presentationml.tags+xml"/>
  <Override PartName="/ppt/tags/tag486.xml" ContentType="application/vnd.openxmlformats-officedocument.presentationml.tags+xml"/>
  <Override PartName="/ppt/tags/tag487.xml" ContentType="application/vnd.openxmlformats-officedocument.presentationml.tags+xml"/>
  <Override PartName="/ppt/tags/tag488.xml" ContentType="application/vnd.openxmlformats-officedocument.presentationml.tags+xml"/>
  <Override PartName="/ppt/tags/tag489.xml" ContentType="application/vnd.openxmlformats-officedocument.presentationml.tags+xml"/>
  <Override PartName="/ppt/tags/tag49.xml" ContentType="application/vnd.openxmlformats-officedocument.presentationml.tags+xml"/>
  <Override PartName="/ppt/tags/tag490.xml" ContentType="application/vnd.openxmlformats-officedocument.presentationml.tags+xml"/>
  <Override PartName="/ppt/tags/tag491.xml" ContentType="application/vnd.openxmlformats-officedocument.presentationml.tags+xml"/>
  <Override PartName="/ppt/tags/tag492.xml" ContentType="application/vnd.openxmlformats-officedocument.presentationml.tags+xml"/>
  <Override PartName="/ppt/tags/tag493.xml" ContentType="application/vnd.openxmlformats-officedocument.presentationml.tags+xml"/>
  <Override PartName="/ppt/tags/tag494.xml" ContentType="application/vnd.openxmlformats-officedocument.presentationml.tags+xml"/>
  <Override PartName="/ppt/tags/tag495.xml" ContentType="application/vnd.openxmlformats-officedocument.presentationml.tags+xml"/>
  <Override PartName="/ppt/tags/tag496.xml" ContentType="application/vnd.openxmlformats-officedocument.presentationml.tags+xml"/>
  <Override PartName="/ppt/tags/tag497.xml" ContentType="application/vnd.openxmlformats-officedocument.presentationml.tags+xml"/>
  <Override PartName="/ppt/tags/tag498.xml" ContentType="application/vnd.openxmlformats-officedocument.presentationml.tags+xml"/>
  <Override PartName="/ppt/tags/tag49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00.xml" ContentType="application/vnd.openxmlformats-officedocument.presentationml.tags+xml"/>
  <Override PartName="/ppt/tags/tag501.xml" ContentType="application/vnd.openxmlformats-officedocument.presentationml.tags+xml"/>
  <Override PartName="/ppt/tags/tag502.xml" ContentType="application/vnd.openxmlformats-officedocument.presentationml.tags+xml"/>
  <Override PartName="/ppt/tags/tag503.xml" ContentType="application/vnd.openxmlformats-officedocument.presentationml.tags+xml"/>
  <Override PartName="/ppt/tags/tag504.xml" ContentType="application/vnd.openxmlformats-officedocument.presentationml.tags+xml"/>
  <Override PartName="/ppt/tags/tag505.xml" ContentType="application/vnd.openxmlformats-officedocument.presentationml.tags+xml"/>
  <Override PartName="/ppt/tags/tag506.xml" ContentType="application/vnd.openxmlformats-officedocument.presentationml.tags+xml"/>
  <Override PartName="/ppt/tags/tag507.xml" ContentType="application/vnd.openxmlformats-officedocument.presentationml.tags+xml"/>
  <Override PartName="/ppt/tags/tag508.xml" ContentType="application/vnd.openxmlformats-officedocument.presentationml.tags+xml"/>
  <Override PartName="/ppt/tags/tag509.xml" ContentType="application/vnd.openxmlformats-officedocument.presentationml.tags+xml"/>
  <Override PartName="/ppt/tags/tag51.xml" ContentType="application/vnd.openxmlformats-officedocument.presentationml.tags+xml"/>
  <Override PartName="/ppt/tags/tag510.xml" ContentType="application/vnd.openxmlformats-officedocument.presentationml.tags+xml"/>
  <Override PartName="/ppt/tags/tag511.xml" ContentType="application/vnd.openxmlformats-officedocument.presentationml.tags+xml"/>
  <Override PartName="/ppt/tags/tag512.xml" ContentType="application/vnd.openxmlformats-officedocument.presentationml.tags+xml"/>
  <Override PartName="/ppt/tags/tag513.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 id="2147483657" r:id="rId3"/>
  </p:sldMasterIdLst>
  <p:notesMasterIdLst>
    <p:notesMasterId r:id="rId6"/>
  </p:notesMasterIdLst>
  <p:handoutMasterIdLst>
    <p:handoutMasterId r:id="rId51"/>
  </p:handoutMasterIdLst>
  <p:sldIdLst>
    <p:sldId id="15004852" r:id="rId4"/>
    <p:sldId id="15004853" r:id="rId5"/>
    <p:sldId id="15004854" r:id="rId7"/>
    <p:sldId id="15004855" r:id="rId8"/>
    <p:sldId id="15004856" r:id="rId9"/>
    <p:sldId id="15004857" r:id="rId10"/>
    <p:sldId id="15004858" r:id="rId11"/>
    <p:sldId id="15004859" r:id="rId12"/>
    <p:sldId id="15004860" r:id="rId13"/>
    <p:sldId id="15005156" r:id="rId14"/>
    <p:sldId id="15005189" r:id="rId15"/>
    <p:sldId id="15005190" r:id="rId16"/>
    <p:sldId id="15005191" r:id="rId17"/>
    <p:sldId id="15005192" r:id="rId18"/>
    <p:sldId id="15005193" r:id="rId19"/>
    <p:sldId id="15005194" r:id="rId20"/>
    <p:sldId id="15005195" r:id="rId21"/>
    <p:sldId id="15005196" r:id="rId22"/>
    <p:sldId id="15005197" r:id="rId23"/>
    <p:sldId id="15005198" r:id="rId24"/>
    <p:sldId id="15005199" r:id="rId25"/>
    <p:sldId id="15005200" r:id="rId26"/>
    <p:sldId id="15005201" r:id="rId27"/>
    <p:sldId id="15005202" r:id="rId28"/>
    <p:sldId id="15005203" r:id="rId29"/>
    <p:sldId id="15005204" r:id="rId30"/>
    <p:sldId id="15005205" r:id="rId31"/>
    <p:sldId id="15005206" r:id="rId32"/>
    <p:sldId id="15005207" r:id="rId33"/>
    <p:sldId id="15005208" r:id="rId34"/>
    <p:sldId id="15005209" r:id="rId35"/>
    <p:sldId id="15005210" r:id="rId36"/>
    <p:sldId id="15005211" r:id="rId37"/>
    <p:sldId id="15005212" r:id="rId38"/>
    <p:sldId id="15005213" r:id="rId39"/>
    <p:sldId id="15005214" r:id="rId40"/>
    <p:sldId id="15005215" r:id="rId41"/>
    <p:sldId id="15005216" r:id="rId42"/>
    <p:sldId id="15005217" r:id="rId43"/>
    <p:sldId id="15005218" r:id="rId44"/>
    <p:sldId id="15005219" r:id="rId45"/>
    <p:sldId id="15005220" r:id="rId46"/>
    <p:sldId id="15005221" r:id="rId47"/>
    <p:sldId id="15005222" r:id="rId48"/>
    <p:sldId id="15005223" r:id="rId49"/>
    <p:sldId id="15004861" r:id="rId50"/>
  </p:sldIdLst>
  <p:sldSz cx="12192000" cy="6858000"/>
  <p:notesSz cx="9144000" cy="6858000"/>
  <p:custDataLst>
    <p:tags r:id="rId56"/>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默认节" id="{da2332e4-a5c7-40c1-a580-fb2c5226ea0e}">
          <p14:sldIdLst>
            <p14:sldId id="15004852"/>
            <p14:sldId id="15004853"/>
            <p14:sldId id="15004854"/>
            <p14:sldId id="15004855"/>
            <p14:sldId id="15004856"/>
            <p14:sldId id="15004857"/>
            <p14:sldId id="15004858"/>
            <p14:sldId id="15004859"/>
            <p14:sldId id="15004860"/>
          </p14:sldIdLst>
        </p14:section>
        <p14:section name="04-循环逻辑架构" id="{3ee4b090-0d9b-4700-a0d8-7a5987040f50}">
          <p14:sldIdLst>
            <p14:sldId id="15005156"/>
            <p14:sldId id="15005189"/>
            <p14:sldId id="15005190"/>
            <p14:sldId id="15005191"/>
            <p14:sldId id="15005192"/>
            <p14:sldId id="15005193"/>
            <p14:sldId id="15005194"/>
            <p14:sldId id="15005195"/>
            <p14:sldId id="15005196"/>
            <p14:sldId id="15005197"/>
            <p14:sldId id="15005198"/>
            <p14:sldId id="15005199"/>
            <p14:sldId id="15005200"/>
            <p14:sldId id="15005201"/>
            <p14:sldId id="15005202"/>
            <p14:sldId id="15005203"/>
            <p14:sldId id="15005204"/>
            <p14:sldId id="15005205"/>
            <p14:sldId id="15005206"/>
            <p14:sldId id="15005207"/>
            <p14:sldId id="15005208"/>
            <p14:sldId id="15005209"/>
            <p14:sldId id="15005210"/>
            <p14:sldId id="15005211"/>
            <p14:sldId id="15005212"/>
            <p14:sldId id="15005213"/>
            <p14:sldId id="15005214"/>
            <p14:sldId id="15005215"/>
            <p14:sldId id="15005216"/>
            <p14:sldId id="15005217"/>
            <p14:sldId id="15005218"/>
            <p14:sldId id="15005219"/>
            <p14:sldId id="15005220"/>
            <p14:sldId id="15005221"/>
            <p14:sldId id="15005222"/>
            <p14:sldId id="15005223"/>
            <p14:sldId id="15004861"/>
          </p14:sldIdLst>
        </p14:section>
      </p14:sectionLst>
    </p:ext>
    <p:ext uri="{EFAFB233-063F-42B5-8137-9DF3F51BA10A}">
      <p15:sldGuideLst xmlns:p15="http://schemas.microsoft.com/office/powerpoint/2012/main">
        <p15:guide id="1" orient="horz" pos="2466" userDrawn="1">
          <p15:clr>
            <a:srgbClr val="A4A3A4"/>
          </p15:clr>
        </p15:guide>
        <p15:guide id="2" pos="4128"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微软用户" initials="微软用户" lastIdx="1" clrIdx="0"/>
  <p:cmAuthor id="7" name="Administrator" initials="A" lastIdx="0" clrIdx="6"/>
  <p:cmAuthor id="1" name="Microsoft Office User" initials="MOU" lastIdx="1" clrIdx="0"/>
  <p:cmAuthor id="8" name="宋洁然" initials="宋" lastIdx="0" clrIdx="7"/>
  <p:cmAuthor id="2" name="小麦" initials="l" lastIdx="1" clrIdx="1"/>
  <p:cmAuthor id="9" name="ming qiu" initials="m" lastIdx="0" clrIdx="8"/>
  <p:cmAuthor id="3" name="仲杰 李" initials="仲杰" lastIdx="1" clrIdx="3"/>
  <p:cmAuthor id="10" name="WPS_1679281038" initials="W" lastIdx="0" clrIdx="9"/>
  <p:cmAuthor id="5" name="1206988966@qq.com" initials="1" lastIdx="0" clrIdx="4"/>
  <p:cmAuthor id="6" name="姜伟光" initials="姜" lastIdx="0" clrIdx="5"/>
  <p:cmAuthor id="11" name="田野田野" initials="田野田野" lastIdx="0" clrIdx="10"/>
  <p:cmAuthor id="12" name="作者" initials="A" lastIdx="0" clrIdx="11"/>
  <p:cmAuthor id="13" name="ALA11.黄宜隆" initials="A" lastIdx="0" clrIdx="12"/>
  <p:cmAuthor id="14" name="陈 源晨" initials="陈" lastIdx="0" clrIdx="13"/>
  <p:cmAuthor id="15" name="Haval Sh" initials="HS" lastIdx="0" clrIdx="14"/>
  <p:cmAuthor id="16" name="宋 雪贤" initials="宋" lastIdx="0" clrIdx="15"/>
  <p:cmAuthor id="17" name="YOYOON" initials="Y" lastIdx="0" clrIdx="16"/>
  <p:cmAuthor id="18" name=" src" initials="s" lastIdx="0" clrIdx="17"/>
  <p:cmAuthor id="19" name="WHITE GRAPHIC" initials="WG" lastIdx="0" clrIdx="18"/>
  <p:cmAuthor id="20" name="USER" initials="U" lastIdx="0" clrIdx="19"/>
  <p:cmAuthor id="21" name="SheHab" initials="S" lastIdx="0" clrIdx="20"/>
  <p:cmAuthor id="22" name="幸全" initials="幸全" lastIdx="0" clrIdx="21"/>
  <p:cmAuthor id="23" name="刘付观生" initials="刘付观生" lastIdx="0" clrIdx="22"/>
  <p:cmAuthor id="24" name="liufuguansheng" initials="liufu" lastIdx="0" clrIdx="23"/>
  <p:cmAuthor id="25" name="ITC" initials="I" lastIdx="0" clrIdx="24"/>
  <p:cmAuthor id="26" name="WATER MELON" initials="WM" lastIdx="0" clrIdx="25"/>
  <p:cmAuthor id="27" name="余 KM" initials="余" lastIdx="0" clrIdx="26"/>
  <p:cmAuthor id="28" name="8615900558199" initials="8" lastIdx="0" clrIdx="27"/>
  <p:cmAuthor id="29" name="WPS" initials="W" lastIdx="0" clrIdx="28"/>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404040"/>
    <a:srgbClr val="1C4274"/>
    <a:srgbClr val="9A3123"/>
    <a:srgbClr val="457B9D"/>
    <a:srgbClr val="FAF4F4"/>
    <a:srgbClr val="E8ECF1"/>
    <a:srgbClr val="AA3722"/>
    <a:srgbClr val="F1F5FA"/>
    <a:srgbClr val="F7F1F1"/>
    <a:srgbClr val="1D35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860" autoAdjust="0"/>
    <p:restoredTop sz="96457"/>
  </p:normalViewPr>
  <p:slideViewPr>
    <p:cSldViewPr snapToGrid="0" showGuides="1">
      <p:cViewPr varScale="1">
        <p:scale>
          <a:sx n="95" d="100"/>
          <a:sy n="95" d="100"/>
        </p:scale>
        <p:origin x="350" y="53"/>
      </p:cViewPr>
      <p:guideLst>
        <p:guide orient="horz" pos="2466"/>
        <p:guide pos="4128"/>
      </p:guideLst>
    </p:cSldViewPr>
  </p:slideViewPr>
  <p:outlineViewPr>
    <p:cViewPr>
      <p:scale>
        <a:sx n="33" d="100"/>
        <a:sy n="33" d="100"/>
      </p:scale>
      <p:origin x="0" y="-2576"/>
    </p:cViewPr>
  </p:outlineViewPr>
  <p:notesTextViewPr>
    <p:cViewPr>
      <p:scale>
        <a:sx n="3" d="2"/>
        <a:sy n="3" d="2"/>
      </p:scale>
      <p:origin x="0" y="0"/>
    </p:cViewPr>
  </p:notesTextViewPr>
  <p:sorterViewPr>
    <p:cViewPr>
      <p:scale>
        <a:sx n="1" d="1"/>
        <a:sy n="1" d="1"/>
      </p:scale>
      <p:origin x="0" y="-22714"/>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notesMaster" Target="notesMasters/notesMaster1.xml"/><Relationship Id="rId56" Type="http://schemas.openxmlformats.org/officeDocument/2006/relationships/tags" Target="tags/tag513.xml"/><Relationship Id="rId55" Type="http://schemas.openxmlformats.org/officeDocument/2006/relationships/commentAuthors" Target="commentAuthors.xml"/><Relationship Id="rId54" Type="http://schemas.openxmlformats.org/officeDocument/2006/relationships/tableStyles" Target="tableStyles.xml"/><Relationship Id="rId53" Type="http://schemas.openxmlformats.org/officeDocument/2006/relationships/viewProps" Target="viewProps.xml"/><Relationship Id="rId52" Type="http://schemas.openxmlformats.org/officeDocument/2006/relationships/presProps" Target="presProps.xml"/><Relationship Id="rId51" Type="http://schemas.openxmlformats.org/officeDocument/2006/relationships/handoutMaster" Target="handoutMasters/handoutMaster1.xml"/><Relationship Id="rId50" Type="http://schemas.openxmlformats.org/officeDocument/2006/relationships/slide" Target="slides/slide46.xml"/><Relationship Id="rId5" Type="http://schemas.openxmlformats.org/officeDocument/2006/relationships/slide" Target="slides/slide2.xml"/><Relationship Id="rId49" Type="http://schemas.openxmlformats.org/officeDocument/2006/relationships/slide" Target="slides/slide45.xml"/><Relationship Id="rId48" Type="http://schemas.openxmlformats.org/officeDocument/2006/relationships/slide" Target="slides/slide44.xml"/><Relationship Id="rId47" Type="http://schemas.openxmlformats.org/officeDocument/2006/relationships/slide" Target="slides/slide43.xml"/><Relationship Id="rId46" Type="http://schemas.openxmlformats.org/officeDocument/2006/relationships/slide" Target="slides/slide42.xml"/><Relationship Id="rId45" Type="http://schemas.openxmlformats.org/officeDocument/2006/relationships/slide" Target="slides/slide41.xml"/><Relationship Id="rId44" Type="http://schemas.openxmlformats.org/officeDocument/2006/relationships/slide" Target="slides/slide40.xml"/><Relationship Id="rId43" Type="http://schemas.openxmlformats.org/officeDocument/2006/relationships/slide" Target="slides/slide39.xml"/><Relationship Id="rId42" Type="http://schemas.openxmlformats.org/officeDocument/2006/relationships/slide" Target="slides/slide38.xml"/><Relationship Id="rId41" Type="http://schemas.openxmlformats.org/officeDocument/2006/relationships/slide" Target="slides/slide37.xml"/><Relationship Id="rId40" Type="http://schemas.openxmlformats.org/officeDocument/2006/relationships/slide" Target="slides/slide36.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6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日期占位符 2"/>
          <p:cNvSpPr>
            <a:spLocks noGrp="1"/>
          </p:cNvSpPr>
          <p:nvPr>
            <p:ph type="dt" sz="quarter" idx="1"/>
          </p:nvPr>
        </p:nvSpPr>
        <p:spPr>
          <a:xfrm>
            <a:off x="5179484" y="0"/>
            <a:ext cx="3962400" cy="344091"/>
          </a:xfrm>
          <a:prstGeom prst="rect">
            <a:avLst/>
          </a:prstGeom>
        </p:spPr>
        <p:txBody>
          <a:bodyPr vert="horz" lIns="91440" tIns="45720" rIns="91440" bIns="45720" rtlCol="0"/>
          <a:lstStyle>
            <a:lvl1pPr algn="r">
              <a:defRPr sz="1600"/>
            </a:lvl1pPr>
          </a:lstStyle>
          <a:p>
            <a:fld id="{0F9B84EA-7D68-4D60-9CB1-D50884785D1C}" type="datetimeFigureOut">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
        <p:nvSpPr>
          <p:cNvPr id="4" name="页脚占位符 3"/>
          <p:cNvSpPr>
            <a:spLocks noGrp="1"/>
          </p:cNvSpPr>
          <p:nvPr>
            <p:ph type="ftr" sz="quarter" idx="2"/>
          </p:nvPr>
        </p:nvSpPr>
        <p:spPr>
          <a:xfrm>
            <a:off x="0" y="6513910"/>
            <a:ext cx="3962400" cy="344090"/>
          </a:xfrm>
          <a:prstGeom prst="rect">
            <a:avLst/>
          </a:prstGeom>
        </p:spPr>
        <p:txBody>
          <a:bodyPr vert="horz" lIns="91440" tIns="45720" rIns="91440" bIns="45720" rtlCol="0" anchor="b"/>
          <a:lstStyle>
            <a:lvl1pPr algn="l">
              <a:defRPr sz="1600"/>
            </a:lvl1pPr>
          </a:lstStyle>
          <a:p>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灯片编号占位符 4"/>
          <p:cNvSpPr>
            <a:spLocks noGrp="1"/>
          </p:cNvSpPr>
          <p:nvPr>
            <p:ph type="sldNum" sz="quarter" idx="3"/>
          </p:nvPr>
        </p:nvSpPr>
        <p:spPr>
          <a:xfrm>
            <a:off x="5179484" y="6513910"/>
            <a:ext cx="3962400" cy="344090"/>
          </a:xfrm>
          <a:prstGeom prst="rect">
            <a:avLst/>
          </a:prstGeom>
        </p:spPr>
        <p:txBody>
          <a:bodyPr vert="horz" lIns="91440" tIns="45720" rIns="91440" bIns="45720" rtlCol="0" anchor="b"/>
          <a:lstStyle>
            <a:lvl1pPr algn="r">
              <a:defRPr sz="1600"/>
            </a:lvl1pPr>
          </a:lstStyle>
          <a:p>
            <a:fld id="{8D4E0FC9-F1F8-4FAE-9988-3BA365CFD46F}" type="slidenum">
              <a:rPr lang="zh-CN" altLang="en-US" smtClean="0">
                <a:latin typeface="微软雅黑" panose="020B0503020204020204" charset="-122"/>
                <a:ea typeface="微软雅黑" panose="020B0503020204020204" charset="-122"/>
                <a:cs typeface="微软雅黑" panose="020B0503020204020204" charset="-122"/>
              </a:rPr>
            </a:fld>
            <a:endParaRPr lang="zh-CN" altLang="en-US">
              <a:latin typeface="微软雅黑" panose="020B0503020204020204" charset="-122"/>
              <a:ea typeface="微软雅黑" panose="020B0503020204020204" charset="-122"/>
              <a:cs typeface="微软雅黑" panose="020B050302020402020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962400" cy="344091"/>
          </a:xfrm>
          <a:prstGeom prst="rect">
            <a:avLst/>
          </a:prstGeom>
        </p:spPr>
        <p:txBody>
          <a:bodyPr vert="horz" lIns="91440" tIns="45720" rIns="91440" bIns="45720" rtlCol="0"/>
          <a:lstStyle>
            <a:lvl1pPr algn="l">
              <a:defRPr sz="1200">
                <a:latin typeface="微软雅黑" panose="020B0503020204020204" charset="-122"/>
                <a:ea typeface="微软雅黑" panose="020B0503020204020204" charset="-122"/>
                <a:cs typeface="微软雅黑" panose="020B0503020204020204" charset="-122"/>
              </a:defRPr>
            </a:lvl1pPr>
          </a:lstStyle>
          <a:p>
            <a:endParaRPr kumimoji="1" lang="zh-CN" altLang="en-US"/>
          </a:p>
        </p:txBody>
      </p:sp>
      <p:sp>
        <p:nvSpPr>
          <p:cNvPr id="3" name="日期占位符 2"/>
          <p:cNvSpPr>
            <a:spLocks noGrp="1"/>
          </p:cNvSpPr>
          <p:nvPr>
            <p:ph type="dt" idx="1"/>
          </p:nvPr>
        </p:nvSpPr>
        <p:spPr>
          <a:xfrm>
            <a:off x="5179484" y="0"/>
            <a:ext cx="3962400" cy="344091"/>
          </a:xfrm>
          <a:prstGeom prst="rect">
            <a:avLst/>
          </a:prstGeom>
        </p:spPr>
        <p:txBody>
          <a:bodyPr vert="horz" lIns="91440" tIns="45720" rIns="91440" bIns="45720" rtlCol="0"/>
          <a:lstStyle>
            <a:lvl1pPr algn="r">
              <a:defRPr sz="1200">
                <a:latin typeface="微软雅黑" panose="020B0503020204020204" charset="-122"/>
                <a:ea typeface="微软雅黑" panose="020B0503020204020204" charset="-122"/>
                <a:cs typeface="微软雅黑" panose="020B0503020204020204" charset="-122"/>
              </a:defRPr>
            </a:lvl1pPr>
          </a:lstStyle>
          <a:p>
            <a:fld id="{ACF6214C-E03D-6F40-B83F-4BCCB0CB53EF}"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2514600" y="857250"/>
            <a:ext cx="4114800" cy="2314575"/>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914400" y="3300413"/>
            <a:ext cx="7315200" cy="2700338"/>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6513910"/>
            <a:ext cx="3962400" cy="344090"/>
          </a:xfrm>
          <a:prstGeom prst="rect">
            <a:avLst/>
          </a:prstGeom>
        </p:spPr>
        <p:txBody>
          <a:bodyPr vert="horz" lIns="91440" tIns="45720" rIns="91440" bIns="45720" rtlCol="0" anchor="b"/>
          <a:lstStyle>
            <a:lvl1pPr algn="l">
              <a:defRPr sz="1200">
                <a:latin typeface="微软雅黑" panose="020B0503020204020204" charset="-122"/>
                <a:ea typeface="微软雅黑" panose="020B0503020204020204" charset="-122"/>
                <a:cs typeface="微软雅黑" panose="020B0503020204020204" charset="-122"/>
              </a:defRPr>
            </a:lvl1pPr>
          </a:lstStyle>
          <a:p>
            <a:endParaRPr kumimoji="1" lang="zh-CN" altLang="en-US"/>
          </a:p>
        </p:txBody>
      </p:sp>
      <p:sp>
        <p:nvSpPr>
          <p:cNvPr id="7" name="灯片编号占位符 6"/>
          <p:cNvSpPr>
            <a:spLocks noGrp="1"/>
          </p:cNvSpPr>
          <p:nvPr>
            <p:ph type="sldNum" sz="quarter" idx="5"/>
          </p:nvPr>
        </p:nvSpPr>
        <p:spPr>
          <a:xfrm>
            <a:off x="5179484" y="6513910"/>
            <a:ext cx="3962400" cy="344090"/>
          </a:xfrm>
          <a:prstGeom prst="rect">
            <a:avLst/>
          </a:prstGeom>
        </p:spPr>
        <p:txBody>
          <a:bodyPr vert="horz" lIns="91440" tIns="45720" rIns="91440" bIns="45720" rtlCol="0" anchor="b"/>
          <a:lstStyle>
            <a:lvl1pPr algn="r">
              <a:defRPr sz="1200">
                <a:latin typeface="微软雅黑" panose="020B0503020204020204" charset="-122"/>
                <a:ea typeface="微软雅黑" panose="020B0503020204020204" charset="-122"/>
                <a:cs typeface="微软雅黑" panose="020B0503020204020204" charset="-122"/>
              </a:defRPr>
            </a:lvl1pPr>
          </a:lstStyle>
          <a:p>
            <a:fld id="{7D75D23C-CB69-BA4F-AB82-253009860475}"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1pPr>
    <a:lvl2pPr marL="4572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2pPr>
    <a:lvl3pPr marL="9144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3pPr>
    <a:lvl4pPr marL="13716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4pPr>
    <a:lvl5pPr marL="1828800" algn="l" defTabSz="914400" rtl="0" eaLnBrk="1" latinLnBrk="0" hangingPunct="1">
      <a:defRPr sz="1200" kern="1200">
        <a:solidFill>
          <a:schemeClr val="tx1"/>
        </a:solidFill>
        <a:latin typeface="微软雅黑" panose="020B0503020204020204" charset="-122"/>
        <a:ea typeface="微软雅黑" panose="020B0503020204020204" charset="-122"/>
        <a:cs typeface="微软雅黑" panose="020B050302020402020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幻灯片图像占位符 1"/>
          <p:cNvSpPr>
            <a:spLocks noGrp="1"/>
          </p:cNvSpPr>
          <p:nvPr>
            <p:ph type="sldImg" idx="2"/>
          </p:nvPr>
        </p:nvSpPr>
        <p:spPr/>
      </p:sp>
      <p:sp>
        <p:nvSpPr>
          <p:cNvPr id="3" name="文本占位符 2"/>
          <p:cNvSpPr>
            <a:spLocks noGrp="1"/>
          </p:cNvSpPr>
          <p:nvPr>
            <p:ph type="body" idx="3"/>
          </p:nvPr>
        </p:nvSpPr>
        <p:spPr/>
        <p:txBody>
          <a:bodyPr/>
          <a:p>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9" name="文本框 8"/>
          <p:cNvSpPr txBox="1"/>
          <p:nvPr userDrawn="1"/>
        </p:nvSpPr>
        <p:spPr>
          <a:xfrm>
            <a:off x="5227955" y="215900"/>
            <a:ext cx="5846445" cy="826135"/>
          </a:xfrm>
          <a:prstGeom prst="rect">
            <a:avLst/>
          </a:prstGeom>
          <a:noFill/>
        </p:spPr>
        <p:txBody>
          <a:bodyPr wrap="square" rtlCol="0" anchor="ctr" anchorCtr="0">
            <a:noAutofit/>
          </a:bodyPr>
          <a:lstStyle/>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本作品系开悟思维原创作品，已获国家版权局作品登记证书！</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原创版权保护，仅供个人学习使用，侵权必究！</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cxnSp>
        <p:nvCxnSpPr>
          <p:cNvPr id="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58" name="内容占位符 57"/>
          <p:cNvSpPr>
            <a:spLocks noGrp="1"/>
          </p:cNvSpPr>
          <p:nvPr>
            <p:ph sz="quarter" idx="18"/>
          </p:nvPr>
        </p:nvSpPr>
        <p:spPr>
          <a:xfrm>
            <a:off x="519113" y="1289050"/>
            <a:ext cx="10987087" cy="4627563"/>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标题 1"/>
          <p:cNvSpPr>
            <a:spLocks noGrp="1"/>
          </p:cNvSpPr>
          <p:nvPr>
            <p:ph type="ctrTitle" hasCustomPrompt="1"/>
          </p:nvPr>
        </p:nvSpPr>
        <p:spPr>
          <a:xfrm>
            <a:off x="368705" y="275357"/>
            <a:ext cx="2188210" cy="481330"/>
          </a:xfrm>
          <a:ln w="12700">
            <a:miter lim="400000"/>
          </a:ln>
        </p:spPr>
        <p:txBody>
          <a:bodyPr wrap="none" lIns="25400" tIns="25400" rIns="25400" bIns="25400">
            <a:spAutoFit/>
          </a:bodyPr>
          <a:lstStyle>
            <a:lvl1pPr>
              <a:defRPr kumimoji="0" lang="zh-CN" altLang="en-US" sz="2800" b="1" u="none" strike="noStrike" cap="none" spc="0" normalizeH="0" baseline="0" dirty="0">
                <a:ln>
                  <a:noFill/>
                </a:ln>
                <a:solidFill>
                  <a:schemeClr val="accent1"/>
                </a:solidFill>
                <a:effectLst>
                  <a:outerShdw blurRad="187896" dist="38100" dir="2700000" algn="tl" rotWithShape="0">
                    <a:srgbClr val="1C2952">
                      <a:alpha val="6000"/>
                    </a:srgbClr>
                  </a:outerShdw>
                </a:effectLst>
                <a:uLnTx/>
                <a:uFillTx/>
                <a:latin typeface="微软雅黑" panose="020B0503020204020204" charset="-122"/>
                <a:ea typeface="微软雅黑" panose="020B0503020204020204" charset="-122"/>
                <a:cs typeface="微软雅黑" panose="020B0503020204020204" charset="-122"/>
              </a:defRPr>
            </a:lvl1pPr>
          </a:lstStyle>
          <a:p>
            <a:pPr marL="0" marR="0" lvl="0" indent="0" fontAlgn="auto">
              <a:lnSpc>
                <a:spcPct val="100000"/>
              </a:lnSpc>
              <a:spcBef>
                <a:spcPts val="0"/>
              </a:spcBef>
              <a:spcAft>
                <a:spcPts val="0"/>
              </a:spcAft>
              <a:buClrTx/>
              <a:buSzTx/>
              <a:buFontTx/>
            </a:pPr>
            <a:r>
              <a:rPr lang="zh-CN" altLang="en-US" dirty="0"/>
              <a:t>单击输入文字</a:t>
            </a:r>
            <a:endParaRPr lang="zh-CN" altLang="en-US" dirty="0"/>
          </a:p>
        </p:txBody>
      </p:sp>
      <p:pic>
        <p:nvPicPr>
          <p:cNvPr id="4" name="图片 3"/>
          <p:cNvPicPr>
            <a:picLocks noChangeAspect="1"/>
          </p:cNvPicPr>
          <p:nvPr userDrawn="1"/>
        </p:nvPicPr>
        <p:blipFill>
          <a:blip r:embed="rId2"/>
          <a:srcRect r="56499" b="-1176"/>
          <a:stretch>
            <a:fillRect/>
          </a:stretch>
        </p:blipFill>
        <p:spPr>
          <a:xfrm>
            <a:off x="7656830" y="354330"/>
            <a:ext cx="1649095" cy="327660"/>
          </a:xfrm>
          <a:prstGeom prst="rect">
            <a:avLst/>
          </a:prstGeom>
        </p:spPr>
      </p:pic>
      <p:sp>
        <p:nvSpPr>
          <p:cNvPr id="2" name="文本框 1"/>
          <p:cNvSpPr txBox="1"/>
          <p:nvPr userDrawn="1"/>
        </p:nvSpPr>
        <p:spPr>
          <a:xfrm>
            <a:off x="9227185" y="417830"/>
            <a:ext cx="2970530" cy="245110"/>
          </a:xfrm>
          <a:prstGeom prst="rect">
            <a:avLst/>
          </a:prstGeom>
          <a:noFill/>
        </p:spPr>
        <p:txBody>
          <a:bodyPr wrap="square" rtlCol="0">
            <a:spAutoFit/>
          </a:bodyPr>
          <a:lstStyle/>
          <a:p>
            <a:r>
              <a:rPr lang="zh-CN" altLang="en-US" sz="1000">
                <a:solidFill>
                  <a:schemeClr val="tx2"/>
                </a:solidFill>
                <a:latin typeface="微软雅黑" panose="020B0503020204020204" charset="-122"/>
                <a:ea typeface="微软雅黑" panose="020B0503020204020204" charset="-122"/>
                <a:cs typeface="微软雅黑" panose="020B0503020204020204" charset="-122"/>
              </a:rPr>
              <a:t>复杂逻辑场景</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框架搭建系列</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PPT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模板</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FC04CB4-406B-4597-B044-D3B6F9EB6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D9AE3D-545A-4B2E-82ED-8AC91F57BFD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28" y="608412"/>
            <a:ext cx="10969709" cy="705614"/>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28" y="1490430"/>
            <a:ext cx="10969709" cy="4759297"/>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9" name="文本框 8"/>
          <p:cNvSpPr txBox="1"/>
          <p:nvPr userDrawn="1"/>
        </p:nvSpPr>
        <p:spPr>
          <a:xfrm>
            <a:off x="5227955" y="215900"/>
            <a:ext cx="5846445" cy="826135"/>
          </a:xfrm>
          <a:prstGeom prst="rect">
            <a:avLst/>
          </a:prstGeom>
          <a:noFill/>
        </p:spPr>
        <p:txBody>
          <a:bodyPr wrap="square" rtlCol="0" anchor="ctr" anchorCtr="0">
            <a:noAutofit/>
          </a:bodyPr>
          <a:lstStyle/>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本作品系开悟思维原创作品，已获国家版权局作品登记证书！</a:t>
            </a:r>
            <a:endPar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lnSpc>
                <a:spcPct val="150000"/>
              </a:lnSpc>
            </a:pPr>
            <a:r>
              <a:rPr lang="zh-CN" altLang="en-US" sz="1600">
                <a:solidFill>
                  <a:schemeClr val="bg1"/>
                </a:solidFill>
                <a:latin typeface="微软雅黑" panose="020B0503020204020204" charset="-122"/>
                <a:ea typeface="微软雅黑" panose="020B0503020204020204" charset="-122"/>
                <a:cs typeface="微软雅黑" panose="020B0503020204020204" charset="-122"/>
                <a:sym typeface="+mn-ea"/>
              </a:rPr>
              <a:t>原创版权保护，仅供个人学习使用，侵权必究！</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a:p>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标题幻灯片">
    <p:spTree>
      <p:nvGrpSpPr>
        <p:cNvPr id="1" name=""/>
        <p:cNvGrpSpPr/>
        <p:nvPr/>
      </p:nvGrpSpPr>
      <p:grpSpPr>
        <a:xfrm>
          <a:off x="0" y="0"/>
          <a:ext cx="0" cy="0"/>
          <a:chOff x="0" y="0"/>
          <a:chExt cx="0" cy="0"/>
        </a:xfrm>
      </p:grpSpPr>
      <p:sp>
        <p:nvSpPr>
          <p:cNvPr id="58" name="内容占位符 57"/>
          <p:cNvSpPr>
            <a:spLocks noGrp="1"/>
          </p:cNvSpPr>
          <p:nvPr>
            <p:ph sz="quarter" idx="18"/>
          </p:nvPr>
        </p:nvSpPr>
        <p:spPr>
          <a:xfrm>
            <a:off x="519113" y="1289050"/>
            <a:ext cx="10987087" cy="4627563"/>
          </a:xfrm>
        </p:spPr>
        <p:txBody>
          <a:bodyPr/>
          <a:lstStyle>
            <a:lvl1pPr>
              <a:defRPr>
                <a:latin typeface="微软雅黑" panose="020B0503020204020204" charset="-122"/>
                <a:ea typeface="微软雅黑" panose="020B0503020204020204" charset="-122"/>
              </a:defRPr>
            </a:lvl1pPr>
            <a:lvl2pPr>
              <a:defRPr>
                <a:latin typeface="微软雅黑" panose="020B0503020204020204" charset="-122"/>
                <a:ea typeface="微软雅黑" panose="020B0503020204020204" charset="-122"/>
              </a:defRPr>
            </a:lvl2pPr>
            <a:lvl3pPr>
              <a:defRPr>
                <a:latin typeface="微软雅黑" panose="020B0503020204020204" charset="-122"/>
                <a:ea typeface="微软雅黑" panose="020B0503020204020204" charset="-122"/>
              </a:defRPr>
            </a:lvl3pPr>
            <a:lvl4pPr>
              <a:defRPr>
                <a:latin typeface="微软雅黑" panose="020B0503020204020204" charset="-122"/>
                <a:ea typeface="微软雅黑" panose="020B0503020204020204" charset="-122"/>
              </a:defRPr>
            </a:lvl4pPr>
            <a:lvl5pPr>
              <a:defRPr>
                <a:latin typeface="微软雅黑" panose="020B0503020204020204" charset="-122"/>
                <a:ea typeface="微软雅黑" panose="020B0503020204020204" charset="-122"/>
              </a:defRPr>
            </a:lvl5pPr>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5" name="标题 1"/>
          <p:cNvSpPr>
            <a:spLocks noGrp="1"/>
          </p:cNvSpPr>
          <p:nvPr>
            <p:ph type="ctrTitle" hasCustomPrompt="1"/>
          </p:nvPr>
        </p:nvSpPr>
        <p:spPr>
          <a:xfrm>
            <a:off x="368705" y="275357"/>
            <a:ext cx="2188210" cy="481330"/>
          </a:xfrm>
          <a:ln w="12700">
            <a:miter lim="400000"/>
          </a:ln>
        </p:spPr>
        <p:txBody>
          <a:bodyPr wrap="none" lIns="25400" tIns="25400" rIns="25400" bIns="25400">
            <a:spAutoFit/>
          </a:bodyPr>
          <a:lstStyle>
            <a:lvl1pPr>
              <a:defRPr kumimoji="0" lang="zh-CN" altLang="en-US" sz="2800" b="1" u="none" strike="noStrike" cap="none" spc="0" normalizeH="0" baseline="0" dirty="0">
                <a:ln>
                  <a:noFill/>
                </a:ln>
                <a:solidFill>
                  <a:schemeClr val="accent1"/>
                </a:solidFill>
                <a:effectLst>
                  <a:outerShdw blurRad="187896" dist="38100" dir="2700000" algn="tl" rotWithShape="0">
                    <a:srgbClr val="1C2952">
                      <a:alpha val="6000"/>
                    </a:srgbClr>
                  </a:outerShdw>
                </a:effectLst>
                <a:uLnTx/>
                <a:uFillTx/>
                <a:latin typeface="微软雅黑" panose="020B0503020204020204" charset="-122"/>
                <a:ea typeface="微软雅黑" panose="020B0503020204020204" charset="-122"/>
                <a:cs typeface="微软雅黑" panose="020B0503020204020204" charset="-122"/>
              </a:defRPr>
            </a:lvl1pPr>
          </a:lstStyle>
          <a:p>
            <a:pPr marL="0" marR="0" lvl="0" indent="0" fontAlgn="auto">
              <a:lnSpc>
                <a:spcPct val="100000"/>
              </a:lnSpc>
              <a:spcBef>
                <a:spcPts val="0"/>
              </a:spcBef>
              <a:spcAft>
                <a:spcPts val="0"/>
              </a:spcAft>
              <a:buClrTx/>
              <a:buSzTx/>
              <a:buFontTx/>
            </a:pPr>
            <a:r>
              <a:rPr lang="zh-CN" altLang="en-US" dirty="0"/>
              <a:t>单击输入文字</a:t>
            </a:r>
            <a:endParaRPr lang="zh-CN" alt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3" name="副标题 2"/>
          <p:cNvSpPr>
            <a:spLocks noGrp="1"/>
          </p:cNvSpPr>
          <p:nvPr>
            <p:ph type="subTitle" idx="1" hasCustomPrompt="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单击以编辑母版副标题样式</a:t>
            </a:r>
            <a:endParaRPr lang="zh-CN" altLang="en-US"/>
          </a:p>
        </p:txBody>
      </p:sp>
      <p:sp>
        <p:nvSpPr>
          <p:cNvPr id="4" name="日期占位符 3"/>
          <p:cNvSpPr>
            <a:spLocks noGrp="1"/>
          </p:cNvSpPr>
          <p:nvPr>
            <p:ph type="dt" sz="half" idx="10"/>
          </p:nvPr>
        </p:nvSpPr>
        <p:spPr/>
        <p:txBody>
          <a:bodyPr/>
          <a:lstStyle/>
          <a:p>
            <a:fld id="{0FC04CB4-406B-4597-B044-D3B6F9EB6171}"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ECD9AE3D-545A-4B2E-82ED-8AC91F57BFDC}"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 preserve="1">
  <p:cSld name="1_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28" y="608412"/>
            <a:ext cx="10969709" cy="705614"/>
          </a:xfrm>
        </p:spPr>
        <p:txBody>
          <a:bodyPr vert="horz" lIns="90000" tIns="46800" rIns="90000" bIns="46800" rtlCol="0" anchor="ctr" anchorCtr="0">
            <a:normAutofit/>
          </a:bodyPr>
          <a:lstStyle/>
          <a:p>
            <a:pPr lvl="0"/>
            <a:r>
              <a:rPr lang="zh-CN" altLang="en-US"/>
              <a:t>单击此处编辑母版标题样式</a:t>
            </a:r>
            <a:endParaRPr lang="zh-CN" altLang="en-US"/>
          </a:p>
        </p:txBody>
      </p:sp>
      <p:sp>
        <p:nvSpPr>
          <p:cNvPr id="3" name="内容占位符 2"/>
          <p:cNvSpPr>
            <a:spLocks noGrp="1"/>
          </p:cNvSpPr>
          <p:nvPr>
            <p:ph idx="1"/>
            <p:custDataLst>
              <p:tags r:id="rId3"/>
            </p:custDataLst>
          </p:nvPr>
        </p:nvSpPr>
        <p:spPr>
          <a:xfrm>
            <a:off x="608428" y="1490430"/>
            <a:ext cx="10969709" cy="4759297"/>
          </a:xfrm>
        </p:spPr>
        <p:txBody>
          <a:bodyPr vert="horz" lIns="90000" tIns="46800" rIns="90000" bIns="46800" rtlCol="0">
            <a:normAutofit/>
          </a:bodyPr>
          <a:lstStyle/>
          <a:p>
            <a:pPr lvl="0"/>
            <a:r>
              <a:rPr lang="zh-CN" altLang="en-US"/>
              <a:t>单击此处编辑母版文本样式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263DB197-84B0-484E-9C0F-88358ECCB797}"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E077DA78-E013-4A8C-AD75-63A150561B10}" type="slidenum">
              <a:rPr lang="zh-CN" altLang="en-US" smtClean="0"/>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theme" Target="../theme/theme1.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theme" Target="../theme/theme2.xml"/><Relationship Id="rId8" Type="http://schemas.openxmlformats.org/officeDocument/2006/relationships/slideLayout" Target="../slideLayouts/slideLayout16.xml"/><Relationship Id="rId7" Type="http://schemas.openxmlformats.org/officeDocument/2006/relationships/slideLayout" Target="../slideLayouts/slideLayout15.xml"/><Relationship Id="rId6" Type="http://schemas.openxmlformats.org/officeDocument/2006/relationships/slideLayout" Target="../slideLayouts/slideLayout14.xml"/><Relationship Id="rId5" Type="http://schemas.openxmlformats.org/officeDocument/2006/relationships/slideLayout" Target="../slideLayouts/slideLayout13.xml"/><Relationship Id="rId4" Type="http://schemas.openxmlformats.org/officeDocument/2006/relationships/slideLayout" Target="../slideLayouts/slideLayout12.xml"/><Relationship Id="rId3" Type="http://schemas.openxmlformats.org/officeDocument/2006/relationships/slideLayout" Target="../slideLayouts/slideLayout11.xml"/><Relationship Id="rId2" Type="http://schemas.openxmlformats.org/officeDocument/2006/relationships/slideLayout" Target="../slideLayouts/slideLayout10.xml"/><Relationship Id="rId1"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3854961C-C3E7-4008-B7AA-A672D0EA3DB0}" type="datetimeFigureOut">
              <a:rPr lang="en-US" smtClean="0"/>
            </a:fld>
            <a:endParaRPr 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8472ACB7-49E0-448E-BCC2-AC9877F63D46}"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2"/>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二级</a:t>
            </a:r>
            <a:endParaRPr lang="zh-CN" altLang="en-US" dirty="0"/>
          </a:p>
          <a:p>
            <a:pPr lvl="2"/>
            <a:r>
              <a:rPr lang="zh-CN" altLang="en-US" dirty="0"/>
              <a:t>三级</a:t>
            </a:r>
            <a:endParaRPr lang="zh-CN" altLang="en-US" dirty="0"/>
          </a:p>
          <a:p>
            <a:pPr lvl="3"/>
            <a:r>
              <a:rPr lang="zh-CN" altLang="en-US" dirty="0"/>
              <a:t>四级</a:t>
            </a:r>
            <a:endParaRPr lang="zh-CN" altLang="en-US" dirty="0"/>
          </a:p>
          <a:p>
            <a:pPr lvl="4"/>
            <a:r>
              <a:rPr lang="zh-CN" altLang="en-US" dirty="0"/>
              <a:t>五级</a:t>
            </a:r>
            <a:endParaRPr 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3854961C-C3E7-4008-B7AA-A672D0EA3DB0}" type="datetimeFigureOut">
              <a:rPr lang="en-US" smtClean="0"/>
            </a:fld>
            <a:endParaRPr lang="en-US" dirty="0"/>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endParaRPr lang="en-US" dirty="0"/>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微软雅黑" panose="020B0503020204020204" charset="-122"/>
                <a:ea typeface="微软雅黑" panose="020B0503020204020204" charset="-122"/>
                <a:cs typeface="微软雅黑" panose="020B0503020204020204" charset="-122"/>
              </a:defRPr>
            </a:lvl1pPr>
          </a:lstStyle>
          <a:p>
            <a:fld id="{8472ACB7-49E0-448E-BCC2-AC9877F63D46}" type="slidenum">
              <a:rPr lang="en-US" smtClean="0"/>
            </a:fld>
            <a:endParaRPr lang="en-US" dirty="0"/>
          </a:p>
        </p:txBody>
      </p:sp>
    </p:spTree>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Lst>
  <p:txStyles>
    <p:titleStyle>
      <a:lvl1pPr algn="l" defTabSz="914400" rtl="0" eaLnBrk="1" latinLnBrk="0" hangingPunct="1">
        <a:lnSpc>
          <a:spcPct val="90000"/>
        </a:lnSpc>
        <a:spcBef>
          <a:spcPct val="0"/>
        </a:spcBef>
        <a:buNone/>
        <a:defRPr sz="4400" kern="1200">
          <a:solidFill>
            <a:schemeClr val="tx1"/>
          </a:solidFill>
          <a:latin typeface="微软雅黑" panose="020B0503020204020204" charset="-122"/>
          <a:ea typeface="微软雅黑" panose="020B0503020204020204" charset="-122"/>
          <a:cs typeface="微软雅黑" panose="020B050302020402020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panose="020B0503020204020204" charset="-122"/>
          <a:ea typeface="微软雅黑" panose="020B0503020204020204" charset="-122"/>
          <a:cs typeface="微软雅黑" panose="020B050302020402020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panose="020B0503020204020204" charset="-122"/>
          <a:ea typeface="微软雅黑" panose="020B0503020204020204" charset="-122"/>
          <a:cs typeface="微软雅黑" panose="020B050302020402020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panose="020B0503020204020204" charset="-122"/>
          <a:ea typeface="微软雅黑" panose="020B0503020204020204" charset="-122"/>
          <a:cs typeface="微软雅黑" panose="020B050302020402020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panose="020B0503020204020204" charset="-122"/>
          <a:ea typeface="微软雅黑" panose="020B0503020204020204" charset="-122"/>
          <a:cs typeface="微软雅黑" panose="020B050302020402020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2.jpeg"/></Relationships>
</file>

<file path=ppt/slides/_rels/slide2.xml.rels><?xml version="1.0" encoding="UTF-8" standalone="yes"?>
<Relationships xmlns="http://schemas.openxmlformats.org/package/2006/relationships"><Relationship Id="rId5" Type="http://schemas.openxmlformats.org/officeDocument/2006/relationships/notesSlide" Target="../notesSlides/notesSlide1.xml"/><Relationship Id="rId4" Type="http://schemas.openxmlformats.org/officeDocument/2006/relationships/slideLayout" Target="../slideLayouts/slideLayout13.xml"/><Relationship Id="rId3" Type="http://schemas.openxmlformats.org/officeDocument/2006/relationships/image" Target="../media/image3.png"/><Relationship Id="rId2" Type="http://schemas.openxmlformats.org/officeDocument/2006/relationships/tags" Target="../tags/tag12.xml"/><Relationship Id="rId1" Type="http://schemas.openxmlformats.org/officeDocument/2006/relationships/tags" Target="../tags/tag11.xml"/></Relationships>
</file>

<file path=ppt/slides/_rels/slide3.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13.xml"/><Relationship Id="rId5" Type="http://schemas.openxmlformats.org/officeDocument/2006/relationships/image" Target="../media/image4.png"/><Relationship Id="rId4" Type="http://schemas.openxmlformats.org/officeDocument/2006/relationships/image" Target="../media/image3.png"/><Relationship Id="rId3" Type="http://schemas.openxmlformats.org/officeDocument/2006/relationships/tags" Target="../tags/tag15.xml"/><Relationship Id="rId2" Type="http://schemas.openxmlformats.org/officeDocument/2006/relationships/tags" Target="../tags/tag14.xml"/><Relationship Id="rId1" Type="http://schemas.openxmlformats.org/officeDocument/2006/relationships/tags" Target="../tags/tag13.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3.xml"/><Relationship Id="rId7" Type="http://schemas.openxmlformats.org/officeDocument/2006/relationships/slideLayout" Target="../slideLayouts/slideLayout1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3.png"/><Relationship Id="rId3" Type="http://schemas.openxmlformats.org/officeDocument/2006/relationships/tags" Target="../tags/tag18.xml"/><Relationship Id="rId2" Type="http://schemas.openxmlformats.org/officeDocument/2006/relationships/tags" Target="../tags/tag17.xml"/><Relationship Id="rId1" Type="http://schemas.openxmlformats.org/officeDocument/2006/relationships/tags" Target="../tags/tag16.xml"/></Relationships>
</file>

<file path=ppt/slides/_rels/slide5.xml.rels><?xml version="1.0" encoding="UTF-8" standalone="yes"?>
<Relationships xmlns="http://schemas.openxmlformats.org/package/2006/relationships"><Relationship Id="rId7" Type="http://schemas.openxmlformats.org/officeDocument/2006/relationships/slideLayout" Target="../slideLayouts/slideLayout9.xml"/><Relationship Id="rId6" Type="http://schemas.openxmlformats.org/officeDocument/2006/relationships/image" Target="../media/image10.png"/><Relationship Id="rId5" Type="http://schemas.openxmlformats.org/officeDocument/2006/relationships/tags" Target="../tags/tag20.xml"/><Relationship Id="rId4" Type="http://schemas.openxmlformats.org/officeDocument/2006/relationships/tags" Target="../tags/tag19.xml"/><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image" Target="../media/image7.png"/></Relationships>
</file>

<file path=ppt/slides/_rels/slide6.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image" Target="../media/image11.png"/><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1" Type="http://schemas.openxmlformats.org/officeDocument/2006/relationships/slideLayout" Target="../slideLayouts/slideLayout9.xml"/><Relationship Id="rId10" Type="http://schemas.openxmlformats.org/officeDocument/2006/relationships/image" Target="../media/image12.png"/><Relationship Id="rId1" Type="http://schemas.openxmlformats.org/officeDocument/2006/relationships/tags" Target="../tags/tag21.xml"/></Relationships>
</file>

<file path=ppt/slides/_rels/slide7.xml.rels><?xml version="1.0" encoding="UTF-8" standalone="yes"?>
<Relationships xmlns="http://schemas.openxmlformats.org/package/2006/relationships"><Relationship Id="rId9" Type="http://schemas.openxmlformats.org/officeDocument/2006/relationships/tags" Target="../tags/tag35.xml"/><Relationship Id="rId8" Type="http://schemas.openxmlformats.org/officeDocument/2006/relationships/image" Target="../media/image14.png"/><Relationship Id="rId7" Type="http://schemas.openxmlformats.org/officeDocument/2006/relationships/tags" Target="../tags/tag34.xml"/><Relationship Id="rId6" Type="http://schemas.openxmlformats.org/officeDocument/2006/relationships/tags" Target="../tags/tag33.xml"/><Relationship Id="rId5" Type="http://schemas.openxmlformats.org/officeDocument/2006/relationships/image" Target="../media/image13.png"/><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4" Type="http://schemas.openxmlformats.org/officeDocument/2006/relationships/slideLayout" Target="../slideLayouts/slideLayout9.xml"/><Relationship Id="rId13" Type="http://schemas.openxmlformats.org/officeDocument/2006/relationships/image" Target="../media/image16.png"/><Relationship Id="rId12" Type="http://schemas.openxmlformats.org/officeDocument/2006/relationships/image" Target="../media/image15.png"/><Relationship Id="rId11" Type="http://schemas.openxmlformats.org/officeDocument/2006/relationships/tags" Target="../tags/tag37.xml"/><Relationship Id="rId10" Type="http://schemas.openxmlformats.org/officeDocument/2006/relationships/tags" Target="../tags/tag36.xml"/><Relationship Id="rId1" Type="http://schemas.openxmlformats.org/officeDocument/2006/relationships/tags" Target="../tags/tag29.xml"/></Relationships>
</file>

<file path=ppt/slides/_rels/slide8.xml.rels><?xml version="1.0" encoding="UTF-8" standalone="yes"?>
<Relationships xmlns="http://schemas.openxmlformats.org/package/2006/relationships"><Relationship Id="rId9" Type="http://schemas.openxmlformats.org/officeDocument/2006/relationships/tags" Target="../tags/tag44.xml"/><Relationship Id="rId8" Type="http://schemas.openxmlformats.org/officeDocument/2006/relationships/tags" Target="../tags/tag43.xml"/><Relationship Id="rId7" Type="http://schemas.openxmlformats.org/officeDocument/2006/relationships/image" Target="../media/image18.png"/><Relationship Id="rId6" Type="http://schemas.openxmlformats.org/officeDocument/2006/relationships/tags" Target="../tags/tag42.xml"/><Relationship Id="rId5" Type="http://schemas.openxmlformats.org/officeDocument/2006/relationships/tags" Target="../tags/tag41.xml"/><Relationship Id="rId4" Type="http://schemas.openxmlformats.org/officeDocument/2006/relationships/tags" Target="../tags/tag40.xml"/><Relationship Id="rId3" Type="http://schemas.openxmlformats.org/officeDocument/2006/relationships/image" Target="../media/image17.png"/><Relationship Id="rId2" Type="http://schemas.openxmlformats.org/officeDocument/2006/relationships/tags" Target="../tags/tag39.xml"/><Relationship Id="rId15" Type="http://schemas.openxmlformats.org/officeDocument/2006/relationships/slideLayout" Target="../slideLayouts/slideLayout9.xml"/><Relationship Id="rId14" Type="http://schemas.openxmlformats.org/officeDocument/2006/relationships/image" Target="../media/image20.png"/><Relationship Id="rId13" Type="http://schemas.openxmlformats.org/officeDocument/2006/relationships/tags" Target="../tags/tag47.xml"/><Relationship Id="rId12" Type="http://schemas.openxmlformats.org/officeDocument/2006/relationships/image" Target="../media/image19.png"/><Relationship Id="rId11" Type="http://schemas.openxmlformats.org/officeDocument/2006/relationships/tags" Target="../tags/tag46.xml"/><Relationship Id="rId10" Type="http://schemas.openxmlformats.org/officeDocument/2006/relationships/tags" Target="../tags/tag45.xml"/><Relationship Id="rId1" Type="http://schemas.openxmlformats.org/officeDocument/2006/relationships/tags" Target="../tags/tag38.xml"/></Relationships>
</file>

<file path=ppt/slides/_rels/slide9.xml.rels><?xml version="1.0" encoding="UTF-8" standalone="yes"?>
<Relationships xmlns="http://schemas.openxmlformats.org/package/2006/relationships"><Relationship Id="rId99" Type="http://schemas.openxmlformats.org/officeDocument/2006/relationships/tags" Target="../tags/tag144.xml"/><Relationship Id="rId98" Type="http://schemas.openxmlformats.org/officeDocument/2006/relationships/tags" Target="../tags/tag143.xml"/><Relationship Id="rId97" Type="http://schemas.openxmlformats.org/officeDocument/2006/relationships/tags" Target="../tags/tag142.xml"/><Relationship Id="rId96" Type="http://schemas.openxmlformats.org/officeDocument/2006/relationships/tags" Target="../tags/tag141.xml"/><Relationship Id="rId95" Type="http://schemas.openxmlformats.org/officeDocument/2006/relationships/tags" Target="../tags/tag140.xml"/><Relationship Id="rId94" Type="http://schemas.openxmlformats.org/officeDocument/2006/relationships/tags" Target="../tags/tag139.xml"/><Relationship Id="rId93" Type="http://schemas.openxmlformats.org/officeDocument/2006/relationships/tags" Target="../tags/tag138.xml"/><Relationship Id="rId92" Type="http://schemas.openxmlformats.org/officeDocument/2006/relationships/tags" Target="../tags/tag137.xml"/><Relationship Id="rId91" Type="http://schemas.openxmlformats.org/officeDocument/2006/relationships/tags" Target="../tags/tag136.xml"/><Relationship Id="rId90" Type="http://schemas.openxmlformats.org/officeDocument/2006/relationships/tags" Target="../tags/tag135.xml"/><Relationship Id="rId9" Type="http://schemas.openxmlformats.org/officeDocument/2006/relationships/tags" Target="../tags/tag56.xml"/><Relationship Id="rId89" Type="http://schemas.openxmlformats.org/officeDocument/2006/relationships/tags" Target="../tags/tag134.xml"/><Relationship Id="rId88" Type="http://schemas.openxmlformats.org/officeDocument/2006/relationships/tags" Target="../tags/tag133.xml"/><Relationship Id="rId87" Type="http://schemas.openxmlformats.org/officeDocument/2006/relationships/tags" Target="../tags/tag132.xml"/><Relationship Id="rId86" Type="http://schemas.openxmlformats.org/officeDocument/2006/relationships/tags" Target="../tags/tag131.xml"/><Relationship Id="rId85" Type="http://schemas.openxmlformats.org/officeDocument/2006/relationships/tags" Target="../tags/tag130.xml"/><Relationship Id="rId84" Type="http://schemas.openxmlformats.org/officeDocument/2006/relationships/tags" Target="../tags/tag129.xml"/><Relationship Id="rId83" Type="http://schemas.openxmlformats.org/officeDocument/2006/relationships/tags" Target="../tags/tag128.xml"/><Relationship Id="rId82" Type="http://schemas.openxmlformats.org/officeDocument/2006/relationships/tags" Target="../tags/tag127.xml"/><Relationship Id="rId81" Type="http://schemas.openxmlformats.org/officeDocument/2006/relationships/tags" Target="../tags/tag126.xml"/><Relationship Id="rId80" Type="http://schemas.openxmlformats.org/officeDocument/2006/relationships/tags" Target="../tags/tag125.xml"/><Relationship Id="rId8" Type="http://schemas.openxmlformats.org/officeDocument/2006/relationships/tags" Target="../tags/tag55.xml"/><Relationship Id="rId79" Type="http://schemas.openxmlformats.org/officeDocument/2006/relationships/tags" Target="../tags/tag124.xml"/><Relationship Id="rId78" Type="http://schemas.openxmlformats.org/officeDocument/2006/relationships/tags" Target="../tags/tag123.xml"/><Relationship Id="rId77" Type="http://schemas.openxmlformats.org/officeDocument/2006/relationships/tags" Target="../tags/tag122.xml"/><Relationship Id="rId76" Type="http://schemas.openxmlformats.org/officeDocument/2006/relationships/tags" Target="../tags/tag121.xml"/><Relationship Id="rId75" Type="http://schemas.openxmlformats.org/officeDocument/2006/relationships/tags" Target="../tags/tag120.xml"/><Relationship Id="rId74" Type="http://schemas.openxmlformats.org/officeDocument/2006/relationships/tags" Target="../tags/tag119.xml"/><Relationship Id="rId73" Type="http://schemas.openxmlformats.org/officeDocument/2006/relationships/image" Target="../media/image22.svg"/><Relationship Id="rId72" Type="http://schemas.openxmlformats.org/officeDocument/2006/relationships/image" Target="../media/image21.png"/><Relationship Id="rId71" Type="http://schemas.openxmlformats.org/officeDocument/2006/relationships/tags" Target="../tags/tag118.xml"/><Relationship Id="rId70" Type="http://schemas.openxmlformats.org/officeDocument/2006/relationships/tags" Target="../tags/tag117.xml"/><Relationship Id="rId7" Type="http://schemas.openxmlformats.org/officeDocument/2006/relationships/tags" Target="../tags/tag54.xml"/><Relationship Id="rId69" Type="http://schemas.openxmlformats.org/officeDocument/2006/relationships/tags" Target="../tags/tag116.xml"/><Relationship Id="rId68" Type="http://schemas.openxmlformats.org/officeDocument/2006/relationships/tags" Target="../tags/tag115.xml"/><Relationship Id="rId67" Type="http://schemas.openxmlformats.org/officeDocument/2006/relationships/tags" Target="../tags/tag114.xml"/><Relationship Id="rId66" Type="http://schemas.openxmlformats.org/officeDocument/2006/relationships/tags" Target="../tags/tag113.xml"/><Relationship Id="rId65" Type="http://schemas.openxmlformats.org/officeDocument/2006/relationships/tags" Target="../tags/tag112.xml"/><Relationship Id="rId64" Type="http://schemas.openxmlformats.org/officeDocument/2006/relationships/tags" Target="../tags/tag111.xml"/><Relationship Id="rId63" Type="http://schemas.openxmlformats.org/officeDocument/2006/relationships/tags" Target="../tags/tag110.xml"/><Relationship Id="rId62" Type="http://schemas.openxmlformats.org/officeDocument/2006/relationships/tags" Target="../tags/tag109.xml"/><Relationship Id="rId61" Type="http://schemas.openxmlformats.org/officeDocument/2006/relationships/tags" Target="../tags/tag108.xml"/><Relationship Id="rId60" Type="http://schemas.openxmlformats.org/officeDocument/2006/relationships/tags" Target="../tags/tag107.xml"/><Relationship Id="rId6" Type="http://schemas.openxmlformats.org/officeDocument/2006/relationships/tags" Target="../tags/tag53.xml"/><Relationship Id="rId59" Type="http://schemas.openxmlformats.org/officeDocument/2006/relationships/tags" Target="../tags/tag106.xml"/><Relationship Id="rId58" Type="http://schemas.openxmlformats.org/officeDocument/2006/relationships/tags" Target="../tags/tag105.xml"/><Relationship Id="rId57" Type="http://schemas.openxmlformats.org/officeDocument/2006/relationships/tags" Target="../tags/tag104.xml"/><Relationship Id="rId56" Type="http://schemas.openxmlformats.org/officeDocument/2006/relationships/tags" Target="../tags/tag103.xml"/><Relationship Id="rId55" Type="http://schemas.openxmlformats.org/officeDocument/2006/relationships/tags" Target="../tags/tag102.xml"/><Relationship Id="rId54" Type="http://schemas.openxmlformats.org/officeDocument/2006/relationships/tags" Target="../tags/tag101.xml"/><Relationship Id="rId53" Type="http://schemas.openxmlformats.org/officeDocument/2006/relationships/tags" Target="../tags/tag100.xml"/><Relationship Id="rId52" Type="http://schemas.openxmlformats.org/officeDocument/2006/relationships/tags" Target="../tags/tag99.xml"/><Relationship Id="rId51" Type="http://schemas.openxmlformats.org/officeDocument/2006/relationships/tags" Target="../tags/tag98.xml"/><Relationship Id="rId50" Type="http://schemas.openxmlformats.org/officeDocument/2006/relationships/tags" Target="../tags/tag97.xml"/><Relationship Id="rId5" Type="http://schemas.openxmlformats.org/officeDocument/2006/relationships/tags" Target="../tags/tag52.xml"/><Relationship Id="rId49" Type="http://schemas.openxmlformats.org/officeDocument/2006/relationships/tags" Target="../tags/tag96.xml"/><Relationship Id="rId48" Type="http://schemas.openxmlformats.org/officeDocument/2006/relationships/tags" Target="../tags/tag95.xml"/><Relationship Id="rId47" Type="http://schemas.openxmlformats.org/officeDocument/2006/relationships/tags" Target="../tags/tag94.xml"/><Relationship Id="rId46" Type="http://schemas.openxmlformats.org/officeDocument/2006/relationships/tags" Target="../tags/tag93.xml"/><Relationship Id="rId45" Type="http://schemas.openxmlformats.org/officeDocument/2006/relationships/tags" Target="../tags/tag92.xml"/><Relationship Id="rId44" Type="http://schemas.openxmlformats.org/officeDocument/2006/relationships/tags" Target="../tags/tag91.xml"/><Relationship Id="rId43" Type="http://schemas.openxmlformats.org/officeDocument/2006/relationships/tags" Target="../tags/tag90.xml"/><Relationship Id="rId42" Type="http://schemas.openxmlformats.org/officeDocument/2006/relationships/tags" Target="../tags/tag89.xml"/><Relationship Id="rId41" Type="http://schemas.openxmlformats.org/officeDocument/2006/relationships/tags" Target="../tags/tag88.xml"/><Relationship Id="rId40" Type="http://schemas.openxmlformats.org/officeDocument/2006/relationships/tags" Target="../tags/tag87.xml"/><Relationship Id="rId4" Type="http://schemas.openxmlformats.org/officeDocument/2006/relationships/tags" Target="../tags/tag51.xml"/><Relationship Id="rId39" Type="http://schemas.openxmlformats.org/officeDocument/2006/relationships/tags" Target="../tags/tag86.xml"/><Relationship Id="rId38" Type="http://schemas.openxmlformats.org/officeDocument/2006/relationships/tags" Target="../tags/tag85.xml"/><Relationship Id="rId37" Type="http://schemas.openxmlformats.org/officeDocument/2006/relationships/tags" Target="../tags/tag84.xml"/><Relationship Id="rId36" Type="http://schemas.openxmlformats.org/officeDocument/2006/relationships/tags" Target="../tags/tag83.xml"/><Relationship Id="rId35" Type="http://schemas.openxmlformats.org/officeDocument/2006/relationships/tags" Target="../tags/tag82.xml"/><Relationship Id="rId34" Type="http://schemas.openxmlformats.org/officeDocument/2006/relationships/tags" Target="../tags/tag81.xml"/><Relationship Id="rId33" Type="http://schemas.openxmlformats.org/officeDocument/2006/relationships/tags" Target="../tags/tag80.xml"/><Relationship Id="rId32" Type="http://schemas.openxmlformats.org/officeDocument/2006/relationships/tags" Target="../tags/tag79.xml"/><Relationship Id="rId31" Type="http://schemas.openxmlformats.org/officeDocument/2006/relationships/tags" Target="../tags/tag78.xml"/><Relationship Id="rId30" Type="http://schemas.openxmlformats.org/officeDocument/2006/relationships/tags" Target="../tags/tag77.xml"/><Relationship Id="rId3" Type="http://schemas.openxmlformats.org/officeDocument/2006/relationships/tags" Target="../tags/tag50.xml"/><Relationship Id="rId29" Type="http://schemas.openxmlformats.org/officeDocument/2006/relationships/tags" Target="../tags/tag76.xml"/><Relationship Id="rId28" Type="http://schemas.openxmlformats.org/officeDocument/2006/relationships/tags" Target="../tags/tag75.xml"/><Relationship Id="rId27" Type="http://schemas.openxmlformats.org/officeDocument/2006/relationships/tags" Target="../tags/tag74.xml"/><Relationship Id="rId26" Type="http://schemas.openxmlformats.org/officeDocument/2006/relationships/tags" Target="../tags/tag73.xml"/><Relationship Id="rId25" Type="http://schemas.openxmlformats.org/officeDocument/2006/relationships/tags" Target="../tags/tag72.xml"/><Relationship Id="rId24" Type="http://schemas.openxmlformats.org/officeDocument/2006/relationships/tags" Target="../tags/tag71.xml"/><Relationship Id="rId23" Type="http://schemas.openxmlformats.org/officeDocument/2006/relationships/tags" Target="../tags/tag70.xml"/><Relationship Id="rId22" Type="http://schemas.openxmlformats.org/officeDocument/2006/relationships/tags" Target="../tags/tag69.xml"/><Relationship Id="rId21" Type="http://schemas.openxmlformats.org/officeDocument/2006/relationships/tags" Target="../tags/tag68.xml"/><Relationship Id="rId20" Type="http://schemas.openxmlformats.org/officeDocument/2006/relationships/tags" Target="../tags/tag67.xml"/><Relationship Id="rId2" Type="http://schemas.openxmlformats.org/officeDocument/2006/relationships/tags" Target="../tags/tag49.xml"/><Relationship Id="rId19" Type="http://schemas.openxmlformats.org/officeDocument/2006/relationships/tags" Target="../tags/tag66.xml"/><Relationship Id="rId18" Type="http://schemas.openxmlformats.org/officeDocument/2006/relationships/tags" Target="../tags/tag65.xml"/><Relationship Id="rId17" Type="http://schemas.openxmlformats.org/officeDocument/2006/relationships/tags" Target="../tags/tag64.xml"/><Relationship Id="rId16" Type="http://schemas.openxmlformats.org/officeDocument/2006/relationships/tags" Target="../tags/tag63.xml"/><Relationship Id="rId15" Type="http://schemas.openxmlformats.org/officeDocument/2006/relationships/tags" Target="../tags/tag62.xml"/><Relationship Id="rId148" Type="http://schemas.openxmlformats.org/officeDocument/2006/relationships/slideLayout" Target="../slideLayouts/slideLayout9.xml"/><Relationship Id="rId147" Type="http://schemas.openxmlformats.org/officeDocument/2006/relationships/tags" Target="../tags/tag192.xml"/><Relationship Id="rId146" Type="http://schemas.openxmlformats.org/officeDocument/2006/relationships/tags" Target="../tags/tag191.xml"/><Relationship Id="rId145" Type="http://schemas.openxmlformats.org/officeDocument/2006/relationships/tags" Target="../tags/tag190.xml"/><Relationship Id="rId144" Type="http://schemas.openxmlformats.org/officeDocument/2006/relationships/tags" Target="../tags/tag189.xml"/><Relationship Id="rId143" Type="http://schemas.openxmlformats.org/officeDocument/2006/relationships/tags" Target="../tags/tag188.xml"/><Relationship Id="rId142" Type="http://schemas.openxmlformats.org/officeDocument/2006/relationships/tags" Target="../tags/tag187.xml"/><Relationship Id="rId141" Type="http://schemas.openxmlformats.org/officeDocument/2006/relationships/tags" Target="../tags/tag186.xml"/><Relationship Id="rId140" Type="http://schemas.openxmlformats.org/officeDocument/2006/relationships/tags" Target="../tags/tag185.xml"/><Relationship Id="rId14" Type="http://schemas.openxmlformats.org/officeDocument/2006/relationships/tags" Target="../tags/tag61.xml"/><Relationship Id="rId139" Type="http://schemas.openxmlformats.org/officeDocument/2006/relationships/tags" Target="../tags/tag184.xml"/><Relationship Id="rId138" Type="http://schemas.openxmlformats.org/officeDocument/2006/relationships/tags" Target="../tags/tag183.xml"/><Relationship Id="rId137" Type="http://schemas.openxmlformats.org/officeDocument/2006/relationships/tags" Target="../tags/tag182.xml"/><Relationship Id="rId136" Type="http://schemas.openxmlformats.org/officeDocument/2006/relationships/tags" Target="../tags/tag181.xml"/><Relationship Id="rId135" Type="http://schemas.openxmlformats.org/officeDocument/2006/relationships/tags" Target="../tags/tag180.xml"/><Relationship Id="rId134" Type="http://schemas.openxmlformats.org/officeDocument/2006/relationships/tags" Target="../tags/tag179.xml"/><Relationship Id="rId133" Type="http://schemas.openxmlformats.org/officeDocument/2006/relationships/tags" Target="../tags/tag178.xml"/><Relationship Id="rId132" Type="http://schemas.openxmlformats.org/officeDocument/2006/relationships/tags" Target="../tags/tag177.xml"/><Relationship Id="rId131" Type="http://schemas.openxmlformats.org/officeDocument/2006/relationships/tags" Target="../tags/tag176.xml"/><Relationship Id="rId130" Type="http://schemas.openxmlformats.org/officeDocument/2006/relationships/tags" Target="../tags/tag175.xml"/><Relationship Id="rId13" Type="http://schemas.openxmlformats.org/officeDocument/2006/relationships/tags" Target="../tags/tag60.xml"/><Relationship Id="rId129" Type="http://schemas.openxmlformats.org/officeDocument/2006/relationships/tags" Target="../tags/tag174.xml"/><Relationship Id="rId128" Type="http://schemas.openxmlformats.org/officeDocument/2006/relationships/tags" Target="../tags/tag173.xml"/><Relationship Id="rId127" Type="http://schemas.openxmlformats.org/officeDocument/2006/relationships/tags" Target="../tags/tag172.xml"/><Relationship Id="rId126" Type="http://schemas.openxmlformats.org/officeDocument/2006/relationships/tags" Target="../tags/tag171.xml"/><Relationship Id="rId125" Type="http://schemas.openxmlformats.org/officeDocument/2006/relationships/tags" Target="../tags/tag170.xml"/><Relationship Id="rId124" Type="http://schemas.openxmlformats.org/officeDocument/2006/relationships/tags" Target="../tags/tag169.xml"/><Relationship Id="rId123" Type="http://schemas.openxmlformats.org/officeDocument/2006/relationships/tags" Target="../tags/tag168.xml"/><Relationship Id="rId122" Type="http://schemas.openxmlformats.org/officeDocument/2006/relationships/tags" Target="../tags/tag167.xml"/><Relationship Id="rId121" Type="http://schemas.openxmlformats.org/officeDocument/2006/relationships/tags" Target="../tags/tag166.xml"/><Relationship Id="rId120" Type="http://schemas.openxmlformats.org/officeDocument/2006/relationships/tags" Target="../tags/tag165.xml"/><Relationship Id="rId12" Type="http://schemas.openxmlformats.org/officeDocument/2006/relationships/tags" Target="../tags/tag59.xml"/><Relationship Id="rId119" Type="http://schemas.openxmlformats.org/officeDocument/2006/relationships/tags" Target="../tags/tag164.xml"/><Relationship Id="rId118" Type="http://schemas.openxmlformats.org/officeDocument/2006/relationships/tags" Target="../tags/tag163.xml"/><Relationship Id="rId117" Type="http://schemas.openxmlformats.org/officeDocument/2006/relationships/tags" Target="../tags/tag162.xml"/><Relationship Id="rId116" Type="http://schemas.openxmlformats.org/officeDocument/2006/relationships/tags" Target="../tags/tag161.xml"/><Relationship Id="rId115" Type="http://schemas.openxmlformats.org/officeDocument/2006/relationships/tags" Target="../tags/tag160.xml"/><Relationship Id="rId114" Type="http://schemas.openxmlformats.org/officeDocument/2006/relationships/tags" Target="../tags/tag159.xml"/><Relationship Id="rId113" Type="http://schemas.openxmlformats.org/officeDocument/2006/relationships/tags" Target="../tags/tag158.xml"/><Relationship Id="rId112" Type="http://schemas.openxmlformats.org/officeDocument/2006/relationships/tags" Target="../tags/tag157.xml"/><Relationship Id="rId111" Type="http://schemas.openxmlformats.org/officeDocument/2006/relationships/tags" Target="../tags/tag156.xml"/><Relationship Id="rId110" Type="http://schemas.openxmlformats.org/officeDocument/2006/relationships/tags" Target="../tags/tag155.xml"/><Relationship Id="rId11" Type="http://schemas.openxmlformats.org/officeDocument/2006/relationships/tags" Target="../tags/tag58.xml"/><Relationship Id="rId109" Type="http://schemas.openxmlformats.org/officeDocument/2006/relationships/tags" Target="../tags/tag154.xml"/><Relationship Id="rId108" Type="http://schemas.openxmlformats.org/officeDocument/2006/relationships/tags" Target="../tags/tag153.xml"/><Relationship Id="rId107" Type="http://schemas.openxmlformats.org/officeDocument/2006/relationships/tags" Target="../tags/tag152.xml"/><Relationship Id="rId106" Type="http://schemas.openxmlformats.org/officeDocument/2006/relationships/tags" Target="../tags/tag151.xml"/><Relationship Id="rId105" Type="http://schemas.openxmlformats.org/officeDocument/2006/relationships/tags" Target="../tags/tag150.xml"/><Relationship Id="rId104" Type="http://schemas.openxmlformats.org/officeDocument/2006/relationships/tags" Target="../tags/tag149.xml"/><Relationship Id="rId103" Type="http://schemas.openxmlformats.org/officeDocument/2006/relationships/tags" Target="../tags/tag148.xml"/><Relationship Id="rId102" Type="http://schemas.openxmlformats.org/officeDocument/2006/relationships/tags" Target="../tags/tag147.xml"/><Relationship Id="rId101" Type="http://schemas.openxmlformats.org/officeDocument/2006/relationships/tags" Target="../tags/tag146.xml"/><Relationship Id="rId100" Type="http://schemas.openxmlformats.org/officeDocument/2006/relationships/tags" Target="../tags/tag145.xml"/><Relationship Id="rId10" Type="http://schemas.openxmlformats.org/officeDocument/2006/relationships/tags" Target="../tags/tag57.xml"/><Relationship Id="rId1" Type="http://schemas.openxmlformats.org/officeDocument/2006/relationships/tags" Target="../tags/tag48.xml"/></Relationships>
</file>

<file path=ppt/slides/_rels/slide10.xml.rels><?xml version="1.0" encoding="UTF-8" standalone="yes"?>
<Relationships xmlns="http://schemas.openxmlformats.org/package/2006/relationships"><Relationship Id="rId9" Type="http://schemas.openxmlformats.org/officeDocument/2006/relationships/tags" Target="../tags/tag198.xml"/><Relationship Id="rId8" Type="http://schemas.openxmlformats.org/officeDocument/2006/relationships/tags" Target="../tags/tag197.xml"/><Relationship Id="rId7" Type="http://schemas.openxmlformats.org/officeDocument/2006/relationships/tags" Target="../tags/tag196.xml"/><Relationship Id="rId6" Type="http://schemas.openxmlformats.org/officeDocument/2006/relationships/tags" Target="../tags/tag195.xml"/><Relationship Id="rId5" Type="http://schemas.openxmlformats.org/officeDocument/2006/relationships/image" Target="../media/image24.svg"/><Relationship Id="rId4" Type="http://schemas.openxmlformats.org/officeDocument/2006/relationships/image" Target="../media/image21.png"/><Relationship Id="rId3" Type="http://schemas.openxmlformats.org/officeDocument/2006/relationships/tags" Target="../tags/tag194.xml"/><Relationship Id="rId21" Type="http://schemas.openxmlformats.org/officeDocument/2006/relationships/slideLayout" Target="../slideLayouts/slideLayout9.xml"/><Relationship Id="rId20" Type="http://schemas.openxmlformats.org/officeDocument/2006/relationships/tags" Target="../tags/tag209.xml"/><Relationship Id="rId2" Type="http://schemas.openxmlformats.org/officeDocument/2006/relationships/tags" Target="../tags/tag193.xml"/><Relationship Id="rId19" Type="http://schemas.openxmlformats.org/officeDocument/2006/relationships/tags" Target="../tags/tag208.xml"/><Relationship Id="rId18" Type="http://schemas.openxmlformats.org/officeDocument/2006/relationships/tags" Target="../tags/tag207.xml"/><Relationship Id="rId17" Type="http://schemas.openxmlformats.org/officeDocument/2006/relationships/tags" Target="../tags/tag206.xml"/><Relationship Id="rId16" Type="http://schemas.openxmlformats.org/officeDocument/2006/relationships/tags" Target="../tags/tag205.xml"/><Relationship Id="rId15" Type="http://schemas.openxmlformats.org/officeDocument/2006/relationships/tags" Target="../tags/tag204.xml"/><Relationship Id="rId14" Type="http://schemas.openxmlformats.org/officeDocument/2006/relationships/tags" Target="../tags/tag203.xml"/><Relationship Id="rId13" Type="http://schemas.openxmlformats.org/officeDocument/2006/relationships/tags" Target="../tags/tag202.xml"/><Relationship Id="rId12" Type="http://schemas.openxmlformats.org/officeDocument/2006/relationships/tags" Target="../tags/tag201.xml"/><Relationship Id="rId11" Type="http://schemas.openxmlformats.org/officeDocument/2006/relationships/tags" Target="../tags/tag200.xml"/><Relationship Id="rId10" Type="http://schemas.openxmlformats.org/officeDocument/2006/relationships/tags" Target="../tags/tag199.xml"/><Relationship Id="rId1" Type="http://schemas.openxmlformats.org/officeDocument/2006/relationships/image" Target="../media/image23.jpeg"/></Relationships>
</file>

<file path=ppt/slides/_rels/slide11.xml.rels><?xml version="1.0" encoding="UTF-8" standalone="yes"?>
<Relationships xmlns="http://schemas.openxmlformats.org/package/2006/relationships"><Relationship Id="rId9" Type="http://schemas.openxmlformats.org/officeDocument/2006/relationships/image" Target="../media/image33.png"/><Relationship Id="rId8" Type="http://schemas.openxmlformats.org/officeDocument/2006/relationships/image" Target="../media/image32.svg"/><Relationship Id="rId7" Type="http://schemas.openxmlformats.org/officeDocument/2006/relationships/image" Target="../media/image31.png"/><Relationship Id="rId6" Type="http://schemas.openxmlformats.org/officeDocument/2006/relationships/image" Target="../media/image30.svg"/><Relationship Id="rId5" Type="http://schemas.openxmlformats.org/officeDocument/2006/relationships/image" Target="../media/image29.png"/><Relationship Id="rId4" Type="http://schemas.openxmlformats.org/officeDocument/2006/relationships/image" Target="../media/image28.svg"/><Relationship Id="rId3" Type="http://schemas.openxmlformats.org/officeDocument/2006/relationships/image" Target="../media/image27.png"/><Relationship Id="rId2" Type="http://schemas.openxmlformats.org/officeDocument/2006/relationships/image" Target="../media/image26.svg"/><Relationship Id="rId18" Type="http://schemas.openxmlformats.org/officeDocument/2006/relationships/slideLayout" Target="../slideLayouts/slideLayout12.xml"/><Relationship Id="rId17" Type="http://schemas.openxmlformats.org/officeDocument/2006/relationships/image" Target="../media/image1.png"/><Relationship Id="rId16" Type="http://schemas.openxmlformats.org/officeDocument/2006/relationships/image" Target="../media/image40.svg"/><Relationship Id="rId15" Type="http://schemas.openxmlformats.org/officeDocument/2006/relationships/image" Target="../media/image39.png"/><Relationship Id="rId14" Type="http://schemas.openxmlformats.org/officeDocument/2006/relationships/image" Target="../media/image38.svg"/><Relationship Id="rId13" Type="http://schemas.openxmlformats.org/officeDocument/2006/relationships/image" Target="../media/image37.png"/><Relationship Id="rId12" Type="http://schemas.openxmlformats.org/officeDocument/2006/relationships/image" Target="../media/image36.svg"/><Relationship Id="rId11" Type="http://schemas.openxmlformats.org/officeDocument/2006/relationships/image" Target="../media/image35.png"/><Relationship Id="rId10" Type="http://schemas.openxmlformats.org/officeDocument/2006/relationships/image" Target="../media/image34.svg"/><Relationship Id="rId1" Type="http://schemas.openxmlformats.org/officeDocument/2006/relationships/image" Target="../media/image25.png"/></Relationships>
</file>

<file path=ppt/slides/_rels/slide12.xml.rels><?xml version="1.0" encoding="UTF-8" standalone="yes"?>
<Relationships xmlns="http://schemas.openxmlformats.org/package/2006/relationships"><Relationship Id="rId9" Type="http://schemas.openxmlformats.org/officeDocument/2006/relationships/image" Target="../media/image48.svg"/><Relationship Id="rId8" Type="http://schemas.openxmlformats.org/officeDocument/2006/relationships/image" Target="../media/image47.svg"/><Relationship Id="rId7" Type="http://schemas.openxmlformats.org/officeDocument/2006/relationships/image" Target="../media/image46.png"/><Relationship Id="rId6" Type="http://schemas.openxmlformats.org/officeDocument/2006/relationships/image" Target="../media/image45.svg"/><Relationship Id="rId5" Type="http://schemas.openxmlformats.org/officeDocument/2006/relationships/image" Target="../media/image44.png"/><Relationship Id="rId4" Type="http://schemas.openxmlformats.org/officeDocument/2006/relationships/image" Target="../media/image43.svg"/><Relationship Id="rId3" Type="http://schemas.openxmlformats.org/officeDocument/2006/relationships/image" Target="../media/image42.png"/><Relationship Id="rId23" Type="http://schemas.openxmlformats.org/officeDocument/2006/relationships/slideLayout" Target="../slideLayouts/slideLayout12.xml"/><Relationship Id="rId22" Type="http://schemas.openxmlformats.org/officeDocument/2006/relationships/image" Target="../media/image1.png"/><Relationship Id="rId21" Type="http://schemas.openxmlformats.org/officeDocument/2006/relationships/tags" Target="../tags/tag219.xml"/><Relationship Id="rId20" Type="http://schemas.openxmlformats.org/officeDocument/2006/relationships/tags" Target="../tags/tag218.xml"/><Relationship Id="rId2" Type="http://schemas.openxmlformats.org/officeDocument/2006/relationships/image" Target="../media/image41.svg"/><Relationship Id="rId19" Type="http://schemas.openxmlformats.org/officeDocument/2006/relationships/tags" Target="../tags/tag217.xml"/><Relationship Id="rId18" Type="http://schemas.openxmlformats.org/officeDocument/2006/relationships/tags" Target="../tags/tag216.xml"/><Relationship Id="rId17" Type="http://schemas.openxmlformats.org/officeDocument/2006/relationships/tags" Target="../tags/tag215.xml"/><Relationship Id="rId16" Type="http://schemas.openxmlformats.org/officeDocument/2006/relationships/tags" Target="../tags/tag214.xml"/><Relationship Id="rId15" Type="http://schemas.openxmlformats.org/officeDocument/2006/relationships/tags" Target="../tags/tag213.xml"/><Relationship Id="rId14" Type="http://schemas.openxmlformats.org/officeDocument/2006/relationships/tags" Target="../tags/tag212.xml"/><Relationship Id="rId13" Type="http://schemas.openxmlformats.org/officeDocument/2006/relationships/tags" Target="../tags/tag211.xml"/><Relationship Id="rId12" Type="http://schemas.openxmlformats.org/officeDocument/2006/relationships/tags" Target="../tags/tag210.xml"/><Relationship Id="rId11" Type="http://schemas.openxmlformats.org/officeDocument/2006/relationships/image" Target="../media/image50.svg"/><Relationship Id="rId10" Type="http://schemas.openxmlformats.org/officeDocument/2006/relationships/image" Target="../media/image49.svg"/><Relationship Id="rId1" Type="http://schemas.openxmlformats.org/officeDocument/2006/relationships/image" Target="../media/image25.png"/></Relationships>
</file>

<file path=ppt/slides/_rels/slide13.xml.rels><?xml version="1.0" encoding="UTF-8" standalone="yes"?>
<Relationships xmlns="http://schemas.openxmlformats.org/package/2006/relationships"><Relationship Id="rId9" Type="http://schemas.openxmlformats.org/officeDocument/2006/relationships/image" Target="../media/image55.svg"/><Relationship Id="rId8" Type="http://schemas.openxmlformats.org/officeDocument/2006/relationships/image" Target="../media/image54.png"/><Relationship Id="rId7" Type="http://schemas.openxmlformats.org/officeDocument/2006/relationships/image" Target="../media/image53.svg"/><Relationship Id="rId6" Type="http://schemas.openxmlformats.org/officeDocument/2006/relationships/image" Target="../media/image52.png"/><Relationship Id="rId5" Type="http://schemas.openxmlformats.org/officeDocument/2006/relationships/tags" Target="../tags/tag222.xml"/><Relationship Id="rId4" Type="http://schemas.openxmlformats.org/officeDocument/2006/relationships/tags" Target="../tags/tag221.xml"/><Relationship Id="rId30" Type="http://schemas.openxmlformats.org/officeDocument/2006/relationships/slideLayout" Target="../slideLayouts/slideLayout12.xml"/><Relationship Id="rId3" Type="http://schemas.openxmlformats.org/officeDocument/2006/relationships/tags" Target="../tags/tag220.xml"/><Relationship Id="rId29" Type="http://schemas.openxmlformats.org/officeDocument/2006/relationships/image" Target="../media/image1.png"/><Relationship Id="rId28" Type="http://schemas.openxmlformats.org/officeDocument/2006/relationships/tags" Target="../tags/tag231.xml"/><Relationship Id="rId27" Type="http://schemas.openxmlformats.org/officeDocument/2006/relationships/tags" Target="../tags/tag230.xml"/><Relationship Id="rId26" Type="http://schemas.openxmlformats.org/officeDocument/2006/relationships/tags" Target="../tags/tag229.xml"/><Relationship Id="rId25" Type="http://schemas.openxmlformats.org/officeDocument/2006/relationships/tags" Target="../tags/tag228.xml"/><Relationship Id="rId24" Type="http://schemas.openxmlformats.org/officeDocument/2006/relationships/tags" Target="../tags/tag227.xml"/><Relationship Id="rId23" Type="http://schemas.openxmlformats.org/officeDocument/2006/relationships/tags" Target="../tags/tag226.xml"/><Relationship Id="rId22" Type="http://schemas.openxmlformats.org/officeDocument/2006/relationships/tags" Target="../tags/tag225.xml"/><Relationship Id="rId21" Type="http://schemas.openxmlformats.org/officeDocument/2006/relationships/tags" Target="../tags/tag224.xml"/><Relationship Id="rId20" Type="http://schemas.openxmlformats.org/officeDocument/2006/relationships/tags" Target="../tags/tag223.xml"/><Relationship Id="rId2" Type="http://schemas.openxmlformats.org/officeDocument/2006/relationships/image" Target="../media/image51.svg"/><Relationship Id="rId19" Type="http://schemas.openxmlformats.org/officeDocument/2006/relationships/image" Target="../media/image65.svg"/><Relationship Id="rId18" Type="http://schemas.openxmlformats.org/officeDocument/2006/relationships/image" Target="../media/image64.png"/><Relationship Id="rId17" Type="http://schemas.openxmlformats.org/officeDocument/2006/relationships/image" Target="../media/image63.svg"/><Relationship Id="rId16" Type="http://schemas.openxmlformats.org/officeDocument/2006/relationships/image" Target="../media/image62.png"/><Relationship Id="rId15" Type="http://schemas.openxmlformats.org/officeDocument/2006/relationships/image" Target="../media/image61.svg"/><Relationship Id="rId14" Type="http://schemas.openxmlformats.org/officeDocument/2006/relationships/image" Target="../media/image60.png"/><Relationship Id="rId13" Type="http://schemas.openxmlformats.org/officeDocument/2006/relationships/image" Target="../media/image59.svg"/><Relationship Id="rId12" Type="http://schemas.openxmlformats.org/officeDocument/2006/relationships/image" Target="../media/image58.png"/><Relationship Id="rId11" Type="http://schemas.openxmlformats.org/officeDocument/2006/relationships/image" Target="../media/image57.svg"/><Relationship Id="rId10" Type="http://schemas.openxmlformats.org/officeDocument/2006/relationships/image" Target="../media/image56.png"/><Relationship Id="rId1" Type="http://schemas.openxmlformats.org/officeDocument/2006/relationships/image" Target="../media/image25.png"/></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66.svg"/><Relationship Id="rId1" Type="http://schemas.openxmlformats.org/officeDocument/2006/relationships/image" Target="../media/image25.png"/></Relationships>
</file>

<file path=ppt/slides/_rels/slide15.xml.rels><?xml version="1.0" encoding="UTF-8" standalone="yes"?>
<Relationships xmlns="http://schemas.openxmlformats.org/package/2006/relationships"><Relationship Id="rId9" Type="http://schemas.openxmlformats.org/officeDocument/2006/relationships/image" Target="../media/image68.png"/><Relationship Id="rId8" Type="http://schemas.openxmlformats.org/officeDocument/2006/relationships/tags" Target="../tags/tag237.xml"/><Relationship Id="rId7" Type="http://schemas.openxmlformats.org/officeDocument/2006/relationships/tags" Target="../tags/tag236.xml"/><Relationship Id="rId6" Type="http://schemas.openxmlformats.org/officeDocument/2006/relationships/tags" Target="../tags/tag235.xml"/><Relationship Id="rId5" Type="http://schemas.openxmlformats.org/officeDocument/2006/relationships/tags" Target="../tags/tag234.xml"/><Relationship Id="rId4" Type="http://schemas.openxmlformats.org/officeDocument/2006/relationships/tags" Target="../tags/tag233.xml"/><Relationship Id="rId3" Type="http://schemas.openxmlformats.org/officeDocument/2006/relationships/tags" Target="../tags/tag232.xml"/><Relationship Id="rId22" Type="http://schemas.openxmlformats.org/officeDocument/2006/relationships/slideLayout" Target="../slideLayouts/slideLayout12.xml"/><Relationship Id="rId21" Type="http://schemas.openxmlformats.org/officeDocument/2006/relationships/image" Target="../media/image1.png"/><Relationship Id="rId20" Type="http://schemas.openxmlformats.org/officeDocument/2006/relationships/image" Target="../media/image79.svg"/><Relationship Id="rId2" Type="http://schemas.openxmlformats.org/officeDocument/2006/relationships/image" Target="../media/image67.svg"/><Relationship Id="rId19" Type="http://schemas.openxmlformats.org/officeDocument/2006/relationships/image" Target="../media/image78.png"/><Relationship Id="rId18" Type="http://schemas.openxmlformats.org/officeDocument/2006/relationships/image" Target="../media/image77.svg"/><Relationship Id="rId17" Type="http://schemas.openxmlformats.org/officeDocument/2006/relationships/image" Target="../media/image76.png"/><Relationship Id="rId16" Type="http://schemas.openxmlformats.org/officeDocument/2006/relationships/image" Target="../media/image75.svg"/><Relationship Id="rId15" Type="http://schemas.openxmlformats.org/officeDocument/2006/relationships/image" Target="../media/image74.png"/><Relationship Id="rId14" Type="http://schemas.openxmlformats.org/officeDocument/2006/relationships/image" Target="../media/image73.svg"/><Relationship Id="rId13" Type="http://schemas.openxmlformats.org/officeDocument/2006/relationships/image" Target="../media/image72.png"/><Relationship Id="rId12" Type="http://schemas.openxmlformats.org/officeDocument/2006/relationships/image" Target="../media/image71.svg"/><Relationship Id="rId11" Type="http://schemas.openxmlformats.org/officeDocument/2006/relationships/image" Target="../media/image70.png"/><Relationship Id="rId10" Type="http://schemas.openxmlformats.org/officeDocument/2006/relationships/image" Target="../media/image69.svg"/><Relationship Id="rId1" Type="http://schemas.openxmlformats.org/officeDocument/2006/relationships/image" Target="../media/image25.png"/></Relationships>
</file>

<file path=ppt/slides/_rels/slide16.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image" Target="../media/image86.svg"/><Relationship Id="rId7" Type="http://schemas.openxmlformats.org/officeDocument/2006/relationships/image" Target="../media/image85.png"/><Relationship Id="rId6" Type="http://schemas.openxmlformats.org/officeDocument/2006/relationships/image" Target="../media/image84.svg"/><Relationship Id="rId5" Type="http://schemas.openxmlformats.org/officeDocument/2006/relationships/image" Target="../media/image83.png"/><Relationship Id="rId4" Type="http://schemas.openxmlformats.org/officeDocument/2006/relationships/image" Target="../media/image82.svg"/><Relationship Id="rId3" Type="http://schemas.openxmlformats.org/officeDocument/2006/relationships/image" Target="../media/image81.png"/><Relationship Id="rId2" Type="http://schemas.openxmlformats.org/officeDocument/2006/relationships/image" Target="../media/image80.svg"/><Relationship Id="rId10" Type="http://schemas.openxmlformats.org/officeDocument/2006/relationships/slideLayout" Target="../slideLayouts/slideLayout12.xml"/><Relationship Id="rId1" Type="http://schemas.openxmlformats.org/officeDocument/2006/relationships/image" Target="../media/image25.png"/></Relationships>
</file>

<file path=ppt/slides/_rels/slide17.xml.rels><?xml version="1.0" encoding="UTF-8" standalone="yes"?>
<Relationships xmlns="http://schemas.openxmlformats.org/package/2006/relationships"><Relationship Id="rId9" Type="http://schemas.openxmlformats.org/officeDocument/2006/relationships/image" Target="../media/image94.png"/><Relationship Id="rId8" Type="http://schemas.openxmlformats.org/officeDocument/2006/relationships/image" Target="../media/image93.svg"/><Relationship Id="rId7" Type="http://schemas.openxmlformats.org/officeDocument/2006/relationships/image" Target="../media/image92.png"/><Relationship Id="rId6" Type="http://schemas.openxmlformats.org/officeDocument/2006/relationships/image" Target="../media/image91.svg"/><Relationship Id="rId5" Type="http://schemas.openxmlformats.org/officeDocument/2006/relationships/image" Target="../media/image90.png"/><Relationship Id="rId4" Type="http://schemas.openxmlformats.org/officeDocument/2006/relationships/image" Target="../media/image89.svg"/><Relationship Id="rId3" Type="http://schemas.openxmlformats.org/officeDocument/2006/relationships/image" Target="../media/image88.png"/><Relationship Id="rId2" Type="http://schemas.openxmlformats.org/officeDocument/2006/relationships/image" Target="../media/image87.svg"/><Relationship Id="rId18" Type="http://schemas.openxmlformats.org/officeDocument/2006/relationships/slideLayout" Target="../slideLayouts/slideLayout12.xml"/><Relationship Id="rId17" Type="http://schemas.openxmlformats.org/officeDocument/2006/relationships/image" Target="../media/image1.png"/><Relationship Id="rId16" Type="http://schemas.openxmlformats.org/officeDocument/2006/relationships/image" Target="../media/image101.svg"/><Relationship Id="rId15" Type="http://schemas.openxmlformats.org/officeDocument/2006/relationships/image" Target="../media/image100.png"/><Relationship Id="rId14" Type="http://schemas.openxmlformats.org/officeDocument/2006/relationships/image" Target="../media/image99.svg"/><Relationship Id="rId13" Type="http://schemas.openxmlformats.org/officeDocument/2006/relationships/image" Target="../media/image98.png"/><Relationship Id="rId12" Type="http://schemas.openxmlformats.org/officeDocument/2006/relationships/image" Target="../media/image97.svg"/><Relationship Id="rId11" Type="http://schemas.openxmlformats.org/officeDocument/2006/relationships/image" Target="../media/image96.png"/><Relationship Id="rId10" Type="http://schemas.openxmlformats.org/officeDocument/2006/relationships/image" Target="../media/image95.svg"/><Relationship Id="rId1" Type="http://schemas.openxmlformats.org/officeDocument/2006/relationships/image" Target="../media/image25.png"/></Relationships>
</file>

<file path=ppt/slides/_rels/slide18.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104.svg"/><Relationship Id="rId3" Type="http://schemas.openxmlformats.org/officeDocument/2006/relationships/image" Target="../media/image103.png"/><Relationship Id="rId2" Type="http://schemas.openxmlformats.org/officeDocument/2006/relationships/image" Target="../media/image102.svg"/><Relationship Id="rId1" Type="http://schemas.openxmlformats.org/officeDocument/2006/relationships/image" Target="../media/image25.png"/></Relationships>
</file>

<file path=ppt/slides/_rels/slide19.xml.rels><?xml version="1.0" encoding="UTF-8" standalone="yes"?>
<Relationships xmlns="http://schemas.openxmlformats.org/package/2006/relationships"><Relationship Id="rId9" Type="http://schemas.openxmlformats.org/officeDocument/2006/relationships/image" Target="../media/image112.png"/><Relationship Id="rId8" Type="http://schemas.openxmlformats.org/officeDocument/2006/relationships/image" Target="../media/image111.svg"/><Relationship Id="rId7" Type="http://schemas.openxmlformats.org/officeDocument/2006/relationships/image" Target="../media/image110.png"/><Relationship Id="rId6" Type="http://schemas.openxmlformats.org/officeDocument/2006/relationships/image" Target="../media/image109.svg"/><Relationship Id="rId5" Type="http://schemas.openxmlformats.org/officeDocument/2006/relationships/image" Target="../media/image108.png"/><Relationship Id="rId4" Type="http://schemas.openxmlformats.org/officeDocument/2006/relationships/image" Target="../media/image107.svg"/><Relationship Id="rId3" Type="http://schemas.openxmlformats.org/officeDocument/2006/relationships/image" Target="../media/image106.png"/><Relationship Id="rId2" Type="http://schemas.openxmlformats.org/officeDocument/2006/relationships/image" Target="../media/image105.svg"/><Relationship Id="rId18" Type="http://schemas.openxmlformats.org/officeDocument/2006/relationships/slideLayout" Target="../slideLayouts/slideLayout12.xml"/><Relationship Id="rId17" Type="http://schemas.openxmlformats.org/officeDocument/2006/relationships/image" Target="../media/image1.png"/><Relationship Id="rId16" Type="http://schemas.openxmlformats.org/officeDocument/2006/relationships/image" Target="../media/image119.svg"/><Relationship Id="rId15" Type="http://schemas.openxmlformats.org/officeDocument/2006/relationships/image" Target="../media/image118.png"/><Relationship Id="rId14" Type="http://schemas.openxmlformats.org/officeDocument/2006/relationships/image" Target="../media/image117.svg"/><Relationship Id="rId13" Type="http://schemas.openxmlformats.org/officeDocument/2006/relationships/image" Target="../media/image116.png"/><Relationship Id="rId12" Type="http://schemas.openxmlformats.org/officeDocument/2006/relationships/image" Target="../media/image115.svg"/><Relationship Id="rId11" Type="http://schemas.openxmlformats.org/officeDocument/2006/relationships/image" Target="../media/image114.png"/><Relationship Id="rId10" Type="http://schemas.openxmlformats.org/officeDocument/2006/relationships/image" Target="../media/image113.svg"/><Relationship Id="rId1" Type="http://schemas.openxmlformats.org/officeDocument/2006/relationships/image" Target="../media/image25.png"/></Relationships>
</file>

<file path=ppt/slides/_rels/slide20.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1.png"/><Relationship Id="rId6" Type="http://schemas.openxmlformats.org/officeDocument/2006/relationships/image" Target="../media/image124.svg"/><Relationship Id="rId5" Type="http://schemas.openxmlformats.org/officeDocument/2006/relationships/image" Target="../media/image123.png"/><Relationship Id="rId4" Type="http://schemas.openxmlformats.org/officeDocument/2006/relationships/image" Target="../media/image122.svg"/><Relationship Id="rId3" Type="http://schemas.openxmlformats.org/officeDocument/2006/relationships/image" Target="../media/image121.png"/><Relationship Id="rId2" Type="http://schemas.openxmlformats.org/officeDocument/2006/relationships/image" Target="../media/image120.svg"/><Relationship Id="rId1" Type="http://schemas.openxmlformats.org/officeDocument/2006/relationships/image" Target="../media/image25.png"/></Relationships>
</file>

<file path=ppt/slides/_rels/slide21.xml.rels><?xml version="1.0" encoding="UTF-8" standalone="yes"?>
<Relationships xmlns="http://schemas.openxmlformats.org/package/2006/relationships"><Relationship Id="rId9" Type="http://schemas.openxmlformats.org/officeDocument/2006/relationships/image" Target="../media/image132.png"/><Relationship Id="rId8" Type="http://schemas.openxmlformats.org/officeDocument/2006/relationships/image" Target="../media/image131.svg"/><Relationship Id="rId7" Type="http://schemas.openxmlformats.org/officeDocument/2006/relationships/image" Target="../media/image130.png"/><Relationship Id="rId6" Type="http://schemas.openxmlformats.org/officeDocument/2006/relationships/image" Target="../media/image129.svg"/><Relationship Id="rId5" Type="http://schemas.openxmlformats.org/officeDocument/2006/relationships/image" Target="../media/image128.png"/><Relationship Id="rId4" Type="http://schemas.openxmlformats.org/officeDocument/2006/relationships/image" Target="../media/image127.svg"/><Relationship Id="rId3" Type="http://schemas.openxmlformats.org/officeDocument/2006/relationships/image" Target="../media/image126.png"/><Relationship Id="rId28" Type="http://schemas.openxmlformats.org/officeDocument/2006/relationships/slideLayout" Target="../slideLayouts/slideLayout12.xml"/><Relationship Id="rId27" Type="http://schemas.openxmlformats.org/officeDocument/2006/relationships/image" Target="../media/image1.png"/><Relationship Id="rId26" Type="http://schemas.openxmlformats.org/officeDocument/2006/relationships/image" Target="../media/image149.svg"/><Relationship Id="rId25" Type="http://schemas.openxmlformats.org/officeDocument/2006/relationships/image" Target="../media/image148.png"/><Relationship Id="rId24" Type="http://schemas.openxmlformats.org/officeDocument/2006/relationships/image" Target="../media/image147.svg"/><Relationship Id="rId23" Type="http://schemas.openxmlformats.org/officeDocument/2006/relationships/image" Target="../media/image146.png"/><Relationship Id="rId22" Type="http://schemas.openxmlformats.org/officeDocument/2006/relationships/image" Target="../media/image145.svg"/><Relationship Id="rId21" Type="http://schemas.openxmlformats.org/officeDocument/2006/relationships/image" Target="../media/image144.png"/><Relationship Id="rId20" Type="http://schemas.openxmlformats.org/officeDocument/2006/relationships/image" Target="../media/image143.svg"/><Relationship Id="rId2" Type="http://schemas.openxmlformats.org/officeDocument/2006/relationships/image" Target="../media/image125.svg"/><Relationship Id="rId19" Type="http://schemas.openxmlformats.org/officeDocument/2006/relationships/image" Target="../media/image142.png"/><Relationship Id="rId18" Type="http://schemas.openxmlformats.org/officeDocument/2006/relationships/image" Target="../media/image141.svg"/><Relationship Id="rId17" Type="http://schemas.openxmlformats.org/officeDocument/2006/relationships/image" Target="../media/image140.png"/><Relationship Id="rId16" Type="http://schemas.openxmlformats.org/officeDocument/2006/relationships/image" Target="../media/image139.svg"/><Relationship Id="rId15" Type="http://schemas.openxmlformats.org/officeDocument/2006/relationships/image" Target="../media/image138.png"/><Relationship Id="rId14" Type="http://schemas.openxmlformats.org/officeDocument/2006/relationships/image" Target="../media/image137.svg"/><Relationship Id="rId13" Type="http://schemas.openxmlformats.org/officeDocument/2006/relationships/image" Target="../media/image136.png"/><Relationship Id="rId12" Type="http://schemas.openxmlformats.org/officeDocument/2006/relationships/image" Target="../media/image135.svg"/><Relationship Id="rId11" Type="http://schemas.openxmlformats.org/officeDocument/2006/relationships/image" Target="../media/image134.png"/><Relationship Id="rId10" Type="http://schemas.openxmlformats.org/officeDocument/2006/relationships/image" Target="../media/image133.svg"/><Relationship Id="rId1" Type="http://schemas.openxmlformats.org/officeDocument/2006/relationships/image" Target="../media/image25.png"/></Relationships>
</file>

<file path=ppt/slides/_rels/slide22.xml.rels><?xml version="1.0" encoding="UTF-8" standalone="yes"?>
<Relationships xmlns="http://schemas.openxmlformats.org/package/2006/relationships"><Relationship Id="rId9" Type="http://schemas.openxmlformats.org/officeDocument/2006/relationships/image" Target="../media/image155.png"/><Relationship Id="rId8" Type="http://schemas.openxmlformats.org/officeDocument/2006/relationships/image" Target="../media/image154.svg"/><Relationship Id="rId7" Type="http://schemas.openxmlformats.org/officeDocument/2006/relationships/image" Target="../media/image153.png"/><Relationship Id="rId6" Type="http://schemas.openxmlformats.org/officeDocument/2006/relationships/image" Target="../media/image69.svg"/><Relationship Id="rId5" Type="http://schemas.openxmlformats.org/officeDocument/2006/relationships/image" Target="../media/image68.png"/><Relationship Id="rId4" Type="http://schemas.openxmlformats.org/officeDocument/2006/relationships/image" Target="../media/image152.svg"/><Relationship Id="rId3" Type="http://schemas.openxmlformats.org/officeDocument/2006/relationships/image" Target="../media/image151.png"/><Relationship Id="rId20" Type="http://schemas.openxmlformats.org/officeDocument/2006/relationships/slideLayout" Target="../slideLayouts/slideLayout12.xml"/><Relationship Id="rId2" Type="http://schemas.openxmlformats.org/officeDocument/2006/relationships/image" Target="../media/image150.svg"/><Relationship Id="rId19" Type="http://schemas.openxmlformats.org/officeDocument/2006/relationships/image" Target="../media/image1.png"/><Relationship Id="rId18" Type="http://schemas.openxmlformats.org/officeDocument/2006/relationships/image" Target="../media/image163.svg"/><Relationship Id="rId17" Type="http://schemas.openxmlformats.org/officeDocument/2006/relationships/image" Target="../media/image162.png"/><Relationship Id="rId16" Type="http://schemas.openxmlformats.org/officeDocument/2006/relationships/image" Target="../media/image161.svg"/><Relationship Id="rId15" Type="http://schemas.openxmlformats.org/officeDocument/2006/relationships/image" Target="../media/image160.png"/><Relationship Id="rId14" Type="http://schemas.openxmlformats.org/officeDocument/2006/relationships/image" Target="../media/image159.svg"/><Relationship Id="rId13" Type="http://schemas.openxmlformats.org/officeDocument/2006/relationships/image" Target="../media/image158.png"/><Relationship Id="rId12" Type="http://schemas.openxmlformats.org/officeDocument/2006/relationships/image" Target="../media/image157.svg"/><Relationship Id="rId11" Type="http://schemas.openxmlformats.org/officeDocument/2006/relationships/image" Target="../media/image156.png"/><Relationship Id="rId10" Type="http://schemas.openxmlformats.org/officeDocument/2006/relationships/image" Target="../media/image71.svg"/><Relationship Id="rId1" Type="http://schemas.openxmlformats.org/officeDocument/2006/relationships/image" Target="../media/image25.png"/></Relationships>
</file>

<file path=ppt/slides/_rels/slide23.xml.rels><?xml version="1.0" encoding="UTF-8" standalone="yes"?>
<Relationships xmlns="http://schemas.openxmlformats.org/package/2006/relationships"><Relationship Id="rId9" Type="http://schemas.openxmlformats.org/officeDocument/2006/relationships/tags" Target="../tags/tag244.xml"/><Relationship Id="rId8" Type="http://schemas.openxmlformats.org/officeDocument/2006/relationships/tags" Target="../tags/tag243.xml"/><Relationship Id="rId7" Type="http://schemas.openxmlformats.org/officeDocument/2006/relationships/tags" Target="../tags/tag242.xml"/><Relationship Id="rId6" Type="http://schemas.openxmlformats.org/officeDocument/2006/relationships/tags" Target="../tags/tag241.xml"/><Relationship Id="rId5" Type="http://schemas.openxmlformats.org/officeDocument/2006/relationships/tags" Target="../tags/tag240.xml"/><Relationship Id="rId4" Type="http://schemas.openxmlformats.org/officeDocument/2006/relationships/tags" Target="../tags/tag239.xml"/><Relationship Id="rId3" Type="http://schemas.openxmlformats.org/officeDocument/2006/relationships/tags" Target="../tags/tag238.xml"/><Relationship Id="rId2" Type="http://schemas.openxmlformats.org/officeDocument/2006/relationships/image" Target="../media/image164.svg"/><Relationship Id="rId17" Type="http://schemas.openxmlformats.org/officeDocument/2006/relationships/slideLayout" Target="../slideLayouts/slideLayout12.xml"/><Relationship Id="rId16" Type="http://schemas.openxmlformats.org/officeDocument/2006/relationships/image" Target="../media/image1.png"/><Relationship Id="rId15" Type="http://schemas.openxmlformats.org/officeDocument/2006/relationships/tags" Target="../tags/tag248.xml"/><Relationship Id="rId14" Type="http://schemas.openxmlformats.org/officeDocument/2006/relationships/tags" Target="../tags/tag247.xml"/><Relationship Id="rId13" Type="http://schemas.openxmlformats.org/officeDocument/2006/relationships/image" Target="../media/image166.svg"/><Relationship Id="rId12" Type="http://schemas.openxmlformats.org/officeDocument/2006/relationships/image" Target="../media/image165.png"/><Relationship Id="rId11" Type="http://schemas.openxmlformats.org/officeDocument/2006/relationships/tags" Target="../tags/tag246.xml"/><Relationship Id="rId10" Type="http://schemas.openxmlformats.org/officeDocument/2006/relationships/tags" Target="../tags/tag245.xml"/><Relationship Id="rId1" Type="http://schemas.openxmlformats.org/officeDocument/2006/relationships/image" Target="../media/image25.png"/></Relationships>
</file>

<file path=ppt/slides/_rels/slide24.xml.rels><?xml version="1.0" encoding="UTF-8" standalone="yes"?>
<Relationships xmlns="http://schemas.openxmlformats.org/package/2006/relationships"><Relationship Id="rId9" Type="http://schemas.openxmlformats.org/officeDocument/2006/relationships/tags" Target="../tags/tag255.xml"/><Relationship Id="rId8" Type="http://schemas.openxmlformats.org/officeDocument/2006/relationships/image" Target="../media/image167.svg"/><Relationship Id="rId7" Type="http://schemas.openxmlformats.org/officeDocument/2006/relationships/image" Target="../media/image25.png"/><Relationship Id="rId6" Type="http://schemas.openxmlformats.org/officeDocument/2006/relationships/tags" Target="../tags/tag254.xml"/><Relationship Id="rId5" Type="http://schemas.openxmlformats.org/officeDocument/2006/relationships/tags" Target="../tags/tag253.xml"/><Relationship Id="rId4" Type="http://schemas.openxmlformats.org/officeDocument/2006/relationships/tags" Target="../tags/tag252.xml"/><Relationship Id="rId31" Type="http://schemas.openxmlformats.org/officeDocument/2006/relationships/slideLayout" Target="../slideLayouts/slideLayout12.xml"/><Relationship Id="rId30" Type="http://schemas.openxmlformats.org/officeDocument/2006/relationships/image" Target="../media/image1.png"/><Relationship Id="rId3" Type="http://schemas.openxmlformats.org/officeDocument/2006/relationships/tags" Target="../tags/tag251.xml"/><Relationship Id="rId29" Type="http://schemas.openxmlformats.org/officeDocument/2006/relationships/tags" Target="../tags/tag275.xml"/><Relationship Id="rId28" Type="http://schemas.openxmlformats.org/officeDocument/2006/relationships/tags" Target="../tags/tag274.xml"/><Relationship Id="rId27" Type="http://schemas.openxmlformats.org/officeDocument/2006/relationships/tags" Target="../tags/tag273.xml"/><Relationship Id="rId26" Type="http://schemas.openxmlformats.org/officeDocument/2006/relationships/tags" Target="../tags/tag272.xml"/><Relationship Id="rId25" Type="http://schemas.openxmlformats.org/officeDocument/2006/relationships/tags" Target="../tags/tag271.xml"/><Relationship Id="rId24" Type="http://schemas.openxmlformats.org/officeDocument/2006/relationships/tags" Target="../tags/tag270.xml"/><Relationship Id="rId23" Type="http://schemas.openxmlformats.org/officeDocument/2006/relationships/tags" Target="../tags/tag269.xml"/><Relationship Id="rId22" Type="http://schemas.openxmlformats.org/officeDocument/2006/relationships/tags" Target="../tags/tag268.xml"/><Relationship Id="rId21" Type="http://schemas.openxmlformats.org/officeDocument/2006/relationships/tags" Target="../tags/tag267.xml"/><Relationship Id="rId20" Type="http://schemas.openxmlformats.org/officeDocument/2006/relationships/tags" Target="../tags/tag266.xml"/><Relationship Id="rId2" Type="http://schemas.openxmlformats.org/officeDocument/2006/relationships/tags" Target="../tags/tag250.xml"/><Relationship Id="rId19" Type="http://schemas.openxmlformats.org/officeDocument/2006/relationships/tags" Target="../tags/tag265.xml"/><Relationship Id="rId18" Type="http://schemas.openxmlformats.org/officeDocument/2006/relationships/tags" Target="../tags/tag264.xml"/><Relationship Id="rId17" Type="http://schemas.openxmlformats.org/officeDocument/2006/relationships/tags" Target="../tags/tag263.xml"/><Relationship Id="rId16" Type="http://schemas.openxmlformats.org/officeDocument/2006/relationships/tags" Target="../tags/tag262.xml"/><Relationship Id="rId15" Type="http://schemas.openxmlformats.org/officeDocument/2006/relationships/tags" Target="../tags/tag261.xml"/><Relationship Id="rId14" Type="http://schemas.openxmlformats.org/officeDocument/2006/relationships/tags" Target="../tags/tag260.xml"/><Relationship Id="rId13" Type="http://schemas.openxmlformats.org/officeDocument/2006/relationships/tags" Target="../tags/tag259.xml"/><Relationship Id="rId12" Type="http://schemas.openxmlformats.org/officeDocument/2006/relationships/tags" Target="../tags/tag258.xml"/><Relationship Id="rId11" Type="http://schemas.openxmlformats.org/officeDocument/2006/relationships/tags" Target="../tags/tag257.xml"/><Relationship Id="rId10" Type="http://schemas.openxmlformats.org/officeDocument/2006/relationships/tags" Target="../tags/tag256.xml"/><Relationship Id="rId1" Type="http://schemas.openxmlformats.org/officeDocument/2006/relationships/tags" Target="../tags/tag249.xml"/></Relationships>
</file>

<file path=ppt/slides/_rels/slide25.xml.rels><?xml version="1.0" encoding="UTF-8" standalone="yes"?>
<Relationships xmlns="http://schemas.openxmlformats.org/package/2006/relationships"><Relationship Id="rId9" Type="http://schemas.openxmlformats.org/officeDocument/2006/relationships/tags" Target="../tags/tag282.xml"/><Relationship Id="rId8" Type="http://schemas.openxmlformats.org/officeDocument/2006/relationships/tags" Target="../tags/tag281.xml"/><Relationship Id="rId7" Type="http://schemas.openxmlformats.org/officeDocument/2006/relationships/tags" Target="../tags/tag280.xml"/><Relationship Id="rId6" Type="http://schemas.openxmlformats.org/officeDocument/2006/relationships/tags" Target="../tags/tag279.xml"/><Relationship Id="rId5" Type="http://schemas.openxmlformats.org/officeDocument/2006/relationships/tags" Target="../tags/tag278.xml"/><Relationship Id="rId4" Type="http://schemas.openxmlformats.org/officeDocument/2006/relationships/tags" Target="../tags/tag277.xml"/><Relationship Id="rId3" Type="http://schemas.openxmlformats.org/officeDocument/2006/relationships/tags" Target="../tags/tag276.xml"/><Relationship Id="rId2" Type="http://schemas.openxmlformats.org/officeDocument/2006/relationships/image" Target="../media/image168.svg"/><Relationship Id="rId12" Type="http://schemas.openxmlformats.org/officeDocument/2006/relationships/slideLayout" Target="../slideLayouts/slideLayout12.xml"/><Relationship Id="rId11" Type="http://schemas.openxmlformats.org/officeDocument/2006/relationships/image" Target="../media/image1.png"/><Relationship Id="rId10" Type="http://schemas.openxmlformats.org/officeDocument/2006/relationships/tags" Target="../tags/tag283.xml"/><Relationship Id="rId1" Type="http://schemas.openxmlformats.org/officeDocument/2006/relationships/image" Target="../media/image25.png"/></Relationships>
</file>

<file path=ppt/slides/_rels/slide26.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26.svg"/><Relationship Id="rId2" Type="http://schemas.openxmlformats.org/officeDocument/2006/relationships/image" Target="../media/image25.png"/><Relationship Id="rId1" Type="http://schemas.openxmlformats.org/officeDocument/2006/relationships/image" Target="../media/image1.png"/></Relationships>
</file>

<file path=ppt/slides/_rels/slide27.xml.rels><?xml version="1.0" encoding="UTF-8" standalone="yes"?>
<Relationships xmlns="http://schemas.openxmlformats.org/package/2006/relationships"><Relationship Id="rId7" Type="http://schemas.openxmlformats.org/officeDocument/2006/relationships/slideLayout" Target="../slideLayouts/slideLayout12.xml"/><Relationship Id="rId6" Type="http://schemas.openxmlformats.org/officeDocument/2006/relationships/image" Target="../media/image1.png"/><Relationship Id="rId5" Type="http://schemas.openxmlformats.org/officeDocument/2006/relationships/tags" Target="../tags/tag284.xml"/><Relationship Id="rId4" Type="http://schemas.openxmlformats.org/officeDocument/2006/relationships/image" Target="../media/image171.svg"/><Relationship Id="rId3" Type="http://schemas.openxmlformats.org/officeDocument/2006/relationships/image" Target="../media/image170.png"/><Relationship Id="rId2" Type="http://schemas.openxmlformats.org/officeDocument/2006/relationships/image" Target="../media/image169.svg"/><Relationship Id="rId1" Type="http://schemas.openxmlformats.org/officeDocument/2006/relationships/image" Target="../media/image25.png"/></Relationships>
</file>

<file path=ppt/slides/_rels/slide28.xml.rels><?xml version="1.0" encoding="UTF-8" standalone="yes"?>
<Relationships xmlns="http://schemas.openxmlformats.org/package/2006/relationships"><Relationship Id="rId5" Type="http://schemas.openxmlformats.org/officeDocument/2006/relationships/notesSlide" Target="../notesSlides/notesSlide4.xml"/><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50.svg"/><Relationship Id="rId1" Type="http://schemas.openxmlformats.org/officeDocument/2006/relationships/image" Target="../media/image25.png"/></Relationships>
</file>

<file path=ppt/slides/_rels/slide29.xml.rels><?xml version="1.0" encoding="UTF-8" standalone="yes"?>
<Relationships xmlns="http://schemas.openxmlformats.org/package/2006/relationships"><Relationship Id="rId9" Type="http://schemas.openxmlformats.org/officeDocument/2006/relationships/tags" Target="../tags/tag291.xml"/><Relationship Id="rId8" Type="http://schemas.openxmlformats.org/officeDocument/2006/relationships/tags" Target="../tags/tag290.xml"/><Relationship Id="rId7" Type="http://schemas.openxmlformats.org/officeDocument/2006/relationships/tags" Target="../tags/tag289.xml"/><Relationship Id="rId6" Type="http://schemas.openxmlformats.org/officeDocument/2006/relationships/tags" Target="../tags/tag288.xml"/><Relationship Id="rId5" Type="http://schemas.openxmlformats.org/officeDocument/2006/relationships/tags" Target="../tags/tag287.xml"/><Relationship Id="rId4" Type="http://schemas.openxmlformats.org/officeDocument/2006/relationships/tags" Target="../tags/tag286.xml"/><Relationship Id="rId3" Type="http://schemas.openxmlformats.org/officeDocument/2006/relationships/tags" Target="../tags/tag285.xml"/><Relationship Id="rId20" Type="http://schemas.openxmlformats.org/officeDocument/2006/relationships/slideLayout" Target="../slideLayouts/slideLayout12.xml"/><Relationship Id="rId2" Type="http://schemas.openxmlformats.org/officeDocument/2006/relationships/image" Target="../media/image172.svg"/><Relationship Id="rId19" Type="http://schemas.openxmlformats.org/officeDocument/2006/relationships/image" Target="../media/image1.png"/><Relationship Id="rId18" Type="http://schemas.openxmlformats.org/officeDocument/2006/relationships/tags" Target="../tags/tag300.xml"/><Relationship Id="rId17" Type="http://schemas.openxmlformats.org/officeDocument/2006/relationships/tags" Target="../tags/tag299.xml"/><Relationship Id="rId16" Type="http://schemas.openxmlformats.org/officeDocument/2006/relationships/tags" Target="../tags/tag298.xml"/><Relationship Id="rId15" Type="http://schemas.openxmlformats.org/officeDocument/2006/relationships/tags" Target="../tags/tag297.xml"/><Relationship Id="rId14" Type="http://schemas.openxmlformats.org/officeDocument/2006/relationships/tags" Target="../tags/tag296.xml"/><Relationship Id="rId13" Type="http://schemas.openxmlformats.org/officeDocument/2006/relationships/tags" Target="../tags/tag295.xml"/><Relationship Id="rId12" Type="http://schemas.openxmlformats.org/officeDocument/2006/relationships/tags" Target="../tags/tag294.xml"/><Relationship Id="rId11" Type="http://schemas.openxmlformats.org/officeDocument/2006/relationships/tags" Target="../tags/tag293.xml"/><Relationship Id="rId10" Type="http://schemas.openxmlformats.org/officeDocument/2006/relationships/tags" Target="../tags/tag292.xml"/><Relationship Id="rId1" Type="http://schemas.openxmlformats.org/officeDocument/2006/relationships/image" Target="../media/image25.png"/></Relationships>
</file>

<file path=ppt/slides/_rels/slide30.xml.rels><?xml version="1.0" encoding="UTF-8" standalone="yes"?>
<Relationships xmlns="http://schemas.openxmlformats.org/package/2006/relationships"><Relationship Id="rId9" Type="http://schemas.openxmlformats.org/officeDocument/2006/relationships/image" Target="../media/image180.png"/><Relationship Id="rId8" Type="http://schemas.openxmlformats.org/officeDocument/2006/relationships/image" Target="../media/image179.svg"/><Relationship Id="rId7" Type="http://schemas.openxmlformats.org/officeDocument/2006/relationships/image" Target="../media/image178.png"/><Relationship Id="rId6" Type="http://schemas.openxmlformats.org/officeDocument/2006/relationships/image" Target="../media/image177.svg"/><Relationship Id="rId5" Type="http://schemas.openxmlformats.org/officeDocument/2006/relationships/image" Target="../media/image176.png"/><Relationship Id="rId4" Type="http://schemas.openxmlformats.org/officeDocument/2006/relationships/image" Target="../media/image175.svg"/><Relationship Id="rId3" Type="http://schemas.openxmlformats.org/officeDocument/2006/relationships/image" Target="../media/image174.png"/><Relationship Id="rId2" Type="http://schemas.openxmlformats.org/officeDocument/2006/relationships/image" Target="../media/image173.svg"/><Relationship Id="rId14" Type="http://schemas.openxmlformats.org/officeDocument/2006/relationships/slideLayout" Target="../slideLayouts/slideLayout12.xml"/><Relationship Id="rId13" Type="http://schemas.openxmlformats.org/officeDocument/2006/relationships/image" Target="../media/image1.png"/><Relationship Id="rId12" Type="http://schemas.openxmlformats.org/officeDocument/2006/relationships/image" Target="../media/image183.svg"/><Relationship Id="rId11" Type="http://schemas.openxmlformats.org/officeDocument/2006/relationships/image" Target="../media/image182.png"/><Relationship Id="rId10" Type="http://schemas.openxmlformats.org/officeDocument/2006/relationships/image" Target="../media/image181.svg"/><Relationship Id="rId1" Type="http://schemas.openxmlformats.org/officeDocument/2006/relationships/image" Target="../media/image25.png"/></Relationships>
</file>

<file path=ppt/slides/_rels/slide31.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84.svg"/><Relationship Id="rId1" Type="http://schemas.openxmlformats.org/officeDocument/2006/relationships/image" Target="../media/image25.png"/></Relationships>
</file>

<file path=ppt/slides/_rels/slide32.xml.rels><?xml version="1.0" encoding="UTF-8" standalone="yes"?>
<Relationships xmlns="http://schemas.openxmlformats.org/package/2006/relationships"><Relationship Id="rId9" Type="http://schemas.openxmlformats.org/officeDocument/2006/relationships/tags" Target="../tags/tag303.xml"/><Relationship Id="rId8" Type="http://schemas.openxmlformats.org/officeDocument/2006/relationships/tags" Target="../tags/tag302.xml"/><Relationship Id="rId7" Type="http://schemas.openxmlformats.org/officeDocument/2006/relationships/tags" Target="../tags/tag301.xml"/><Relationship Id="rId6" Type="http://schemas.openxmlformats.org/officeDocument/2006/relationships/image" Target="../media/image183.svg"/><Relationship Id="rId5" Type="http://schemas.openxmlformats.org/officeDocument/2006/relationships/image" Target="../media/image182.png"/><Relationship Id="rId4" Type="http://schemas.openxmlformats.org/officeDocument/2006/relationships/image" Target="../media/image181.svg"/><Relationship Id="rId35" Type="http://schemas.openxmlformats.org/officeDocument/2006/relationships/slideLayout" Target="../slideLayouts/slideLayout12.xml"/><Relationship Id="rId34" Type="http://schemas.openxmlformats.org/officeDocument/2006/relationships/image" Target="../media/image1.png"/><Relationship Id="rId33" Type="http://schemas.openxmlformats.org/officeDocument/2006/relationships/image" Target="../media/image192.svg"/><Relationship Id="rId32" Type="http://schemas.openxmlformats.org/officeDocument/2006/relationships/image" Target="../media/image191.png"/><Relationship Id="rId31" Type="http://schemas.openxmlformats.org/officeDocument/2006/relationships/image" Target="../media/image190.svg"/><Relationship Id="rId30" Type="http://schemas.openxmlformats.org/officeDocument/2006/relationships/image" Target="../media/image189.png"/><Relationship Id="rId3" Type="http://schemas.openxmlformats.org/officeDocument/2006/relationships/image" Target="../media/image180.png"/><Relationship Id="rId29" Type="http://schemas.openxmlformats.org/officeDocument/2006/relationships/image" Target="../media/image188.svg"/><Relationship Id="rId28" Type="http://schemas.openxmlformats.org/officeDocument/2006/relationships/image" Target="../media/image187.png"/><Relationship Id="rId27" Type="http://schemas.openxmlformats.org/officeDocument/2006/relationships/image" Target="../media/image186.svg"/><Relationship Id="rId26" Type="http://schemas.openxmlformats.org/officeDocument/2006/relationships/image" Target="../media/image185.png"/><Relationship Id="rId25" Type="http://schemas.openxmlformats.org/officeDocument/2006/relationships/tags" Target="../tags/tag319.xml"/><Relationship Id="rId24" Type="http://schemas.openxmlformats.org/officeDocument/2006/relationships/tags" Target="../tags/tag318.xml"/><Relationship Id="rId23" Type="http://schemas.openxmlformats.org/officeDocument/2006/relationships/tags" Target="../tags/tag317.xml"/><Relationship Id="rId22" Type="http://schemas.openxmlformats.org/officeDocument/2006/relationships/tags" Target="../tags/tag316.xml"/><Relationship Id="rId21" Type="http://schemas.openxmlformats.org/officeDocument/2006/relationships/tags" Target="../tags/tag315.xml"/><Relationship Id="rId20" Type="http://schemas.openxmlformats.org/officeDocument/2006/relationships/tags" Target="../tags/tag314.xml"/><Relationship Id="rId2" Type="http://schemas.openxmlformats.org/officeDocument/2006/relationships/image" Target="../media/image167.svg"/><Relationship Id="rId19" Type="http://schemas.openxmlformats.org/officeDocument/2006/relationships/tags" Target="../tags/tag313.xml"/><Relationship Id="rId18" Type="http://schemas.openxmlformats.org/officeDocument/2006/relationships/tags" Target="../tags/tag312.xml"/><Relationship Id="rId17" Type="http://schemas.openxmlformats.org/officeDocument/2006/relationships/tags" Target="../tags/tag311.xml"/><Relationship Id="rId16" Type="http://schemas.openxmlformats.org/officeDocument/2006/relationships/tags" Target="../tags/tag310.xml"/><Relationship Id="rId15" Type="http://schemas.openxmlformats.org/officeDocument/2006/relationships/tags" Target="../tags/tag309.xml"/><Relationship Id="rId14" Type="http://schemas.openxmlformats.org/officeDocument/2006/relationships/tags" Target="../tags/tag308.xml"/><Relationship Id="rId13" Type="http://schemas.openxmlformats.org/officeDocument/2006/relationships/tags" Target="../tags/tag307.xml"/><Relationship Id="rId12" Type="http://schemas.openxmlformats.org/officeDocument/2006/relationships/tags" Target="../tags/tag306.xml"/><Relationship Id="rId11" Type="http://schemas.openxmlformats.org/officeDocument/2006/relationships/tags" Target="../tags/tag305.xml"/><Relationship Id="rId10" Type="http://schemas.openxmlformats.org/officeDocument/2006/relationships/tags" Target="../tags/tag304.xml"/><Relationship Id="rId1" Type="http://schemas.openxmlformats.org/officeDocument/2006/relationships/image" Target="../media/image25.png"/></Relationships>
</file>

<file path=ppt/slides/_rels/slide33.xml.rels><?xml version="1.0" encoding="UTF-8" standalone="yes"?>
<Relationships xmlns="http://schemas.openxmlformats.org/package/2006/relationships"><Relationship Id="rId8" Type="http://schemas.openxmlformats.org/officeDocument/2006/relationships/slideLayout" Target="../slideLayouts/slideLayout12.xml"/><Relationship Id="rId7" Type="http://schemas.openxmlformats.org/officeDocument/2006/relationships/image" Target="../media/image1.png"/><Relationship Id="rId6" Type="http://schemas.openxmlformats.org/officeDocument/2006/relationships/image" Target="../media/image196.svg"/><Relationship Id="rId5" Type="http://schemas.openxmlformats.org/officeDocument/2006/relationships/image" Target="../media/image195.png"/><Relationship Id="rId4" Type="http://schemas.openxmlformats.org/officeDocument/2006/relationships/image" Target="../media/image194.svg"/><Relationship Id="rId3" Type="http://schemas.openxmlformats.org/officeDocument/2006/relationships/image" Target="../media/image193.png"/><Relationship Id="rId2" Type="http://schemas.openxmlformats.org/officeDocument/2006/relationships/image" Target="../media/image150.svg"/><Relationship Id="rId1" Type="http://schemas.openxmlformats.org/officeDocument/2006/relationships/image" Target="../media/image25.png"/></Relationships>
</file>

<file path=ppt/slides/_rels/slide34.xml.rels><?xml version="1.0" encoding="UTF-8" standalone="yes"?>
<Relationships xmlns="http://schemas.openxmlformats.org/package/2006/relationships"><Relationship Id="rId9" Type="http://schemas.openxmlformats.org/officeDocument/2006/relationships/image" Target="../media/image204.png"/><Relationship Id="rId8" Type="http://schemas.openxmlformats.org/officeDocument/2006/relationships/image" Target="../media/image203.svg"/><Relationship Id="rId7" Type="http://schemas.openxmlformats.org/officeDocument/2006/relationships/image" Target="../media/image202.png"/><Relationship Id="rId6" Type="http://schemas.openxmlformats.org/officeDocument/2006/relationships/image" Target="../media/image201.svg"/><Relationship Id="rId5" Type="http://schemas.openxmlformats.org/officeDocument/2006/relationships/image" Target="../media/image200.png"/><Relationship Id="rId4" Type="http://schemas.openxmlformats.org/officeDocument/2006/relationships/image" Target="../media/image199.svg"/><Relationship Id="rId38" Type="http://schemas.openxmlformats.org/officeDocument/2006/relationships/slideLayout" Target="../slideLayouts/slideLayout12.xml"/><Relationship Id="rId37" Type="http://schemas.openxmlformats.org/officeDocument/2006/relationships/image" Target="../media/image1.png"/><Relationship Id="rId36" Type="http://schemas.openxmlformats.org/officeDocument/2006/relationships/image" Target="../media/image231.svg"/><Relationship Id="rId35" Type="http://schemas.openxmlformats.org/officeDocument/2006/relationships/image" Target="../media/image230.png"/><Relationship Id="rId34" Type="http://schemas.openxmlformats.org/officeDocument/2006/relationships/image" Target="../media/image229.svg"/><Relationship Id="rId33" Type="http://schemas.openxmlformats.org/officeDocument/2006/relationships/image" Target="../media/image228.png"/><Relationship Id="rId32" Type="http://schemas.openxmlformats.org/officeDocument/2006/relationships/image" Target="../media/image227.svg"/><Relationship Id="rId31" Type="http://schemas.openxmlformats.org/officeDocument/2006/relationships/image" Target="../media/image226.png"/><Relationship Id="rId30" Type="http://schemas.openxmlformats.org/officeDocument/2006/relationships/image" Target="../media/image225.svg"/><Relationship Id="rId3" Type="http://schemas.openxmlformats.org/officeDocument/2006/relationships/image" Target="../media/image198.png"/><Relationship Id="rId29" Type="http://schemas.openxmlformats.org/officeDocument/2006/relationships/image" Target="../media/image224.png"/><Relationship Id="rId28" Type="http://schemas.openxmlformats.org/officeDocument/2006/relationships/image" Target="../media/image223.svg"/><Relationship Id="rId27" Type="http://schemas.openxmlformats.org/officeDocument/2006/relationships/image" Target="../media/image222.png"/><Relationship Id="rId26" Type="http://schemas.openxmlformats.org/officeDocument/2006/relationships/image" Target="../media/image221.svg"/><Relationship Id="rId25" Type="http://schemas.openxmlformats.org/officeDocument/2006/relationships/image" Target="../media/image220.png"/><Relationship Id="rId24" Type="http://schemas.openxmlformats.org/officeDocument/2006/relationships/image" Target="../media/image219.svg"/><Relationship Id="rId23" Type="http://schemas.openxmlformats.org/officeDocument/2006/relationships/image" Target="../media/image218.png"/><Relationship Id="rId22" Type="http://schemas.openxmlformats.org/officeDocument/2006/relationships/image" Target="../media/image217.svg"/><Relationship Id="rId21" Type="http://schemas.openxmlformats.org/officeDocument/2006/relationships/image" Target="../media/image216.png"/><Relationship Id="rId20" Type="http://schemas.openxmlformats.org/officeDocument/2006/relationships/image" Target="../media/image215.svg"/><Relationship Id="rId2" Type="http://schemas.openxmlformats.org/officeDocument/2006/relationships/image" Target="../media/image197.svg"/><Relationship Id="rId19" Type="http://schemas.openxmlformats.org/officeDocument/2006/relationships/image" Target="../media/image214.png"/><Relationship Id="rId18" Type="http://schemas.openxmlformats.org/officeDocument/2006/relationships/image" Target="../media/image213.svg"/><Relationship Id="rId17" Type="http://schemas.openxmlformats.org/officeDocument/2006/relationships/image" Target="../media/image212.png"/><Relationship Id="rId16" Type="http://schemas.openxmlformats.org/officeDocument/2006/relationships/image" Target="../media/image211.svg"/><Relationship Id="rId15" Type="http://schemas.openxmlformats.org/officeDocument/2006/relationships/image" Target="../media/image210.png"/><Relationship Id="rId14" Type="http://schemas.openxmlformats.org/officeDocument/2006/relationships/image" Target="../media/image209.svg"/><Relationship Id="rId13" Type="http://schemas.openxmlformats.org/officeDocument/2006/relationships/image" Target="../media/image208.png"/><Relationship Id="rId12" Type="http://schemas.openxmlformats.org/officeDocument/2006/relationships/image" Target="../media/image207.svg"/><Relationship Id="rId11" Type="http://schemas.openxmlformats.org/officeDocument/2006/relationships/image" Target="../media/image206.png"/><Relationship Id="rId10" Type="http://schemas.openxmlformats.org/officeDocument/2006/relationships/image" Target="../media/image205.svg"/><Relationship Id="rId1" Type="http://schemas.openxmlformats.org/officeDocument/2006/relationships/image" Target="../media/image25.png"/></Relationships>
</file>

<file path=ppt/slides/_rels/slide35.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32.svg"/><Relationship Id="rId1" Type="http://schemas.openxmlformats.org/officeDocument/2006/relationships/image" Target="../media/image25.png"/></Relationships>
</file>

<file path=ppt/slides/_rels/slide36.xml.rels><?xml version="1.0" encoding="UTF-8" standalone="yes"?>
<Relationships xmlns="http://schemas.openxmlformats.org/package/2006/relationships"><Relationship Id="rId93" Type="http://schemas.openxmlformats.org/officeDocument/2006/relationships/slideLayout" Target="../slideLayouts/slideLayout12.xml"/><Relationship Id="rId92" Type="http://schemas.openxmlformats.org/officeDocument/2006/relationships/image" Target="../media/image1.png"/><Relationship Id="rId91" Type="http://schemas.openxmlformats.org/officeDocument/2006/relationships/image" Target="../media/image241.svg"/><Relationship Id="rId90" Type="http://schemas.openxmlformats.org/officeDocument/2006/relationships/image" Target="../media/image240.png"/><Relationship Id="rId9" Type="http://schemas.openxmlformats.org/officeDocument/2006/relationships/tags" Target="../tags/tag326.xml"/><Relationship Id="rId89" Type="http://schemas.openxmlformats.org/officeDocument/2006/relationships/tags" Target="../tags/tag400.xml"/><Relationship Id="rId88" Type="http://schemas.openxmlformats.org/officeDocument/2006/relationships/tags" Target="../tags/tag399.xml"/><Relationship Id="rId87" Type="http://schemas.openxmlformats.org/officeDocument/2006/relationships/tags" Target="../tags/tag398.xml"/><Relationship Id="rId86" Type="http://schemas.openxmlformats.org/officeDocument/2006/relationships/tags" Target="../tags/tag397.xml"/><Relationship Id="rId85" Type="http://schemas.openxmlformats.org/officeDocument/2006/relationships/tags" Target="../tags/tag396.xml"/><Relationship Id="rId84" Type="http://schemas.openxmlformats.org/officeDocument/2006/relationships/tags" Target="../tags/tag395.xml"/><Relationship Id="rId83" Type="http://schemas.openxmlformats.org/officeDocument/2006/relationships/tags" Target="../tags/tag394.xml"/><Relationship Id="rId82" Type="http://schemas.openxmlformats.org/officeDocument/2006/relationships/image" Target="../media/image239.svg"/><Relationship Id="rId81" Type="http://schemas.openxmlformats.org/officeDocument/2006/relationships/image" Target="../media/image238.png"/><Relationship Id="rId80" Type="http://schemas.openxmlformats.org/officeDocument/2006/relationships/tags" Target="../tags/tag393.xml"/><Relationship Id="rId8" Type="http://schemas.openxmlformats.org/officeDocument/2006/relationships/tags" Target="../tags/tag325.xml"/><Relationship Id="rId79" Type="http://schemas.openxmlformats.org/officeDocument/2006/relationships/tags" Target="../tags/tag392.xml"/><Relationship Id="rId78" Type="http://schemas.openxmlformats.org/officeDocument/2006/relationships/tags" Target="../tags/tag391.xml"/><Relationship Id="rId77" Type="http://schemas.openxmlformats.org/officeDocument/2006/relationships/tags" Target="../tags/tag390.xml"/><Relationship Id="rId76" Type="http://schemas.openxmlformats.org/officeDocument/2006/relationships/tags" Target="../tags/tag389.xml"/><Relationship Id="rId75" Type="http://schemas.openxmlformats.org/officeDocument/2006/relationships/tags" Target="../tags/tag388.xml"/><Relationship Id="rId74" Type="http://schemas.openxmlformats.org/officeDocument/2006/relationships/tags" Target="../tags/tag387.xml"/><Relationship Id="rId73" Type="http://schemas.openxmlformats.org/officeDocument/2006/relationships/image" Target="../media/image237.svg"/><Relationship Id="rId72" Type="http://schemas.openxmlformats.org/officeDocument/2006/relationships/image" Target="../media/image236.png"/><Relationship Id="rId71" Type="http://schemas.openxmlformats.org/officeDocument/2006/relationships/tags" Target="../tags/tag386.xml"/><Relationship Id="rId70" Type="http://schemas.openxmlformats.org/officeDocument/2006/relationships/tags" Target="../tags/tag385.xml"/><Relationship Id="rId7" Type="http://schemas.openxmlformats.org/officeDocument/2006/relationships/tags" Target="../tags/tag324.xml"/><Relationship Id="rId69" Type="http://schemas.openxmlformats.org/officeDocument/2006/relationships/tags" Target="../tags/tag384.xml"/><Relationship Id="rId68" Type="http://schemas.openxmlformats.org/officeDocument/2006/relationships/tags" Target="../tags/tag383.xml"/><Relationship Id="rId67" Type="http://schemas.openxmlformats.org/officeDocument/2006/relationships/tags" Target="../tags/tag382.xml"/><Relationship Id="rId66" Type="http://schemas.openxmlformats.org/officeDocument/2006/relationships/tags" Target="../tags/tag381.xml"/><Relationship Id="rId65" Type="http://schemas.openxmlformats.org/officeDocument/2006/relationships/tags" Target="../tags/tag380.xml"/><Relationship Id="rId64" Type="http://schemas.openxmlformats.org/officeDocument/2006/relationships/tags" Target="../tags/tag379.xml"/><Relationship Id="rId63" Type="http://schemas.openxmlformats.org/officeDocument/2006/relationships/tags" Target="../tags/tag378.xml"/><Relationship Id="rId62" Type="http://schemas.openxmlformats.org/officeDocument/2006/relationships/tags" Target="../tags/tag377.xml"/><Relationship Id="rId61" Type="http://schemas.openxmlformats.org/officeDocument/2006/relationships/tags" Target="../tags/tag376.xml"/><Relationship Id="rId60" Type="http://schemas.openxmlformats.org/officeDocument/2006/relationships/tags" Target="../tags/tag375.xml"/><Relationship Id="rId6" Type="http://schemas.openxmlformats.org/officeDocument/2006/relationships/tags" Target="../tags/tag323.xml"/><Relationship Id="rId59" Type="http://schemas.openxmlformats.org/officeDocument/2006/relationships/tags" Target="../tags/tag374.xml"/><Relationship Id="rId58" Type="http://schemas.openxmlformats.org/officeDocument/2006/relationships/tags" Target="../tags/tag373.xml"/><Relationship Id="rId57" Type="http://schemas.openxmlformats.org/officeDocument/2006/relationships/tags" Target="../tags/tag372.xml"/><Relationship Id="rId56" Type="http://schemas.openxmlformats.org/officeDocument/2006/relationships/tags" Target="../tags/tag371.xml"/><Relationship Id="rId55" Type="http://schemas.openxmlformats.org/officeDocument/2006/relationships/tags" Target="../tags/tag370.xml"/><Relationship Id="rId54" Type="http://schemas.openxmlformats.org/officeDocument/2006/relationships/tags" Target="../tags/tag369.xml"/><Relationship Id="rId53" Type="http://schemas.openxmlformats.org/officeDocument/2006/relationships/tags" Target="../tags/tag368.xml"/><Relationship Id="rId52" Type="http://schemas.openxmlformats.org/officeDocument/2006/relationships/tags" Target="../tags/tag367.xml"/><Relationship Id="rId51" Type="http://schemas.openxmlformats.org/officeDocument/2006/relationships/tags" Target="../tags/tag366.xml"/><Relationship Id="rId50" Type="http://schemas.openxmlformats.org/officeDocument/2006/relationships/tags" Target="../tags/tag365.xml"/><Relationship Id="rId5" Type="http://schemas.openxmlformats.org/officeDocument/2006/relationships/tags" Target="../tags/tag322.xml"/><Relationship Id="rId49" Type="http://schemas.openxmlformats.org/officeDocument/2006/relationships/tags" Target="../tags/tag364.xml"/><Relationship Id="rId48" Type="http://schemas.openxmlformats.org/officeDocument/2006/relationships/image" Target="../media/image235.svg"/><Relationship Id="rId47" Type="http://schemas.openxmlformats.org/officeDocument/2006/relationships/image" Target="../media/image234.png"/><Relationship Id="rId46" Type="http://schemas.openxmlformats.org/officeDocument/2006/relationships/tags" Target="../tags/tag363.xml"/><Relationship Id="rId45" Type="http://schemas.openxmlformats.org/officeDocument/2006/relationships/tags" Target="../tags/tag362.xml"/><Relationship Id="rId44" Type="http://schemas.openxmlformats.org/officeDocument/2006/relationships/tags" Target="../tags/tag361.xml"/><Relationship Id="rId43" Type="http://schemas.openxmlformats.org/officeDocument/2006/relationships/tags" Target="../tags/tag360.xml"/><Relationship Id="rId42" Type="http://schemas.openxmlformats.org/officeDocument/2006/relationships/tags" Target="../tags/tag359.xml"/><Relationship Id="rId41" Type="http://schemas.openxmlformats.org/officeDocument/2006/relationships/tags" Target="../tags/tag358.xml"/><Relationship Id="rId40" Type="http://schemas.openxmlformats.org/officeDocument/2006/relationships/tags" Target="../tags/tag357.xml"/><Relationship Id="rId4" Type="http://schemas.openxmlformats.org/officeDocument/2006/relationships/tags" Target="../tags/tag321.xml"/><Relationship Id="rId39" Type="http://schemas.openxmlformats.org/officeDocument/2006/relationships/tags" Target="../tags/tag356.xml"/><Relationship Id="rId38" Type="http://schemas.openxmlformats.org/officeDocument/2006/relationships/tags" Target="../tags/tag355.xml"/><Relationship Id="rId37" Type="http://schemas.openxmlformats.org/officeDocument/2006/relationships/tags" Target="../tags/tag354.xml"/><Relationship Id="rId36" Type="http://schemas.openxmlformats.org/officeDocument/2006/relationships/tags" Target="../tags/tag353.xml"/><Relationship Id="rId35" Type="http://schemas.openxmlformats.org/officeDocument/2006/relationships/tags" Target="../tags/tag352.xml"/><Relationship Id="rId34" Type="http://schemas.openxmlformats.org/officeDocument/2006/relationships/tags" Target="../tags/tag351.xml"/><Relationship Id="rId33" Type="http://schemas.openxmlformats.org/officeDocument/2006/relationships/tags" Target="../tags/tag350.xml"/><Relationship Id="rId32" Type="http://schemas.openxmlformats.org/officeDocument/2006/relationships/tags" Target="../tags/tag349.xml"/><Relationship Id="rId31" Type="http://schemas.openxmlformats.org/officeDocument/2006/relationships/tags" Target="../tags/tag348.xml"/><Relationship Id="rId30" Type="http://schemas.openxmlformats.org/officeDocument/2006/relationships/tags" Target="../tags/tag347.xml"/><Relationship Id="rId3" Type="http://schemas.openxmlformats.org/officeDocument/2006/relationships/tags" Target="../tags/tag320.xml"/><Relationship Id="rId29" Type="http://schemas.openxmlformats.org/officeDocument/2006/relationships/tags" Target="../tags/tag346.xml"/><Relationship Id="rId28" Type="http://schemas.openxmlformats.org/officeDocument/2006/relationships/tags" Target="../tags/tag345.xml"/><Relationship Id="rId27" Type="http://schemas.openxmlformats.org/officeDocument/2006/relationships/tags" Target="../tags/tag344.xml"/><Relationship Id="rId26" Type="http://schemas.openxmlformats.org/officeDocument/2006/relationships/tags" Target="../tags/tag343.xml"/><Relationship Id="rId25" Type="http://schemas.openxmlformats.org/officeDocument/2006/relationships/tags" Target="../tags/tag342.xml"/><Relationship Id="rId24" Type="http://schemas.openxmlformats.org/officeDocument/2006/relationships/tags" Target="../tags/tag341.xml"/><Relationship Id="rId23" Type="http://schemas.openxmlformats.org/officeDocument/2006/relationships/tags" Target="../tags/tag340.xml"/><Relationship Id="rId22" Type="http://schemas.openxmlformats.org/officeDocument/2006/relationships/tags" Target="../tags/tag339.xml"/><Relationship Id="rId21" Type="http://schemas.openxmlformats.org/officeDocument/2006/relationships/tags" Target="../tags/tag338.xml"/><Relationship Id="rId20" Type="http://schemas.openxmlformats.org/officeDocument/2006/relationships/tags" Target="../tags/tag337.xml"/><Relationship Id="rId2" Type="http://schemas.openxmlformats.org/officeDocument/2006/relationships/image" Target="../media/image233.svg"/><Relationship Id="rId19" Type="http://schemas.openxmlformats.org/officeDocument/2006/relationships/tags" Target="../tags/tag336.xml"/><Relationship Id="rId18" Type="http://schemas.openxmlformats.org/officeDocument/2006/relationships/tags" Target="../tags/tag335.xml"/><Relationship Id="rId17" Type="http://schemas.openxmlformats.org/officeDocument/2006/relationships/tags" Target="../tags/tag334.xml"/><Relationship Id="rId16" Type="http://schemas.openxmlformats.org/officeDocument/2006/relationships/tags" Target="../tags/tag333.xml"/><Relationship Id="rId15" Type="http://schemas.openxmlformats.org/officeDocument/2006/relationships/tags" Target="../tags/tag332.xml"/><Relationship Id="rId14" Type="http://schemas.openxmlformats.org/officeDocument/2006/relationships/tags" Target="../tags/tag331.xml"/><Relationship Id="rId13" Type="http://schemas.openxmlformats.org/officeDocument/2006/relationships/tags" Target="../tags/tag330.xml"/><Relationship Id="rId12" Type="http://schemas.openxmlformats.org/officeDocument/2006/relationships/tags" Target="../tags/tag329.xml"/><Relationship Id="rId11" Type="http://schemas.openxmlformats.org/officeDocument/2006/relationships/tags" Target="../tags/tag328.xml"/><Relationship Id="rId10" Type="http://schemas.openxmlformats.org/officeDocument/2006/relationships/tags" Target="../tags/tag327.xml"/><Relationship Id="rId1" Type="http://schemas.openxmlformats.org/officeDocument/2006/relationships/image" Target="../media/image25.png"/></Relationships>
</file>

<file path=ppt/slides/_rels/slide37.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png"/><Relationship Id="rId3" Type="http://schemas.openxmlformats.org/officeDocument/2006/relationships/image" Target="../media/image242.svg"/><Relationship Id="rId2" Type="http://schemas.openxmlformats.org/officeDocument/2006/relationships/image" Target="../media/image25.png"/><Relationship Id="rId1" Type="http://schemas.openxmlformats.org/officeDocument/2006/relationships/tags" Target="../tags/tag401.xml"/></Relationships>
</file>

<file path=ppt/slides/_rels/slide38.xml.rels><?xml version="1.0" encoding="UTF-8" standalone="yes"?>
<Relationships xmlns="http://schemas.openxmlformats.org/package/2006/relationships"><Relationship Id="rId9" Type="http://schemas.openxmlformats.org/officeDocument/2006/relationships/tags" Target="../tags/tag408.xml"/><Relationship Id="rId8" Type="http://schemas.openxmlformats.org/officeDocument/2006/relationships/tags" Target="../tags/tag407.xml"/><Relationship Id="rId7" Type="http://schemas.openxmlformats.org/officeDocument/2006/relationships/tags" Target="../tags/tag406.xml"/><Relationship Id="rId66" Type="http://schemas.openxmlformats.org/officeDocument/2006/relationships/slideLayout" Target="../slideLayouts/slideLayout12.xml"/><Relationship Id="rId65" Type="http://schemas.openxmlformats.org/officeDocument/2006/relationships/image" Target="../media/image1.png"/><Relationship Id="rId64" Type="http://schemas.openxmlformats.org/officeDocument/2006/relationships/tags" Target="../tags/tag463.xml"/><Relationship Id="rId63" Type="http://schemas.openxmlformats.org/officeDocument/2006/relationships/tags" Target="../tags/tag462.xml"/><Relationship Id="rId62" Type="http://schemas.openxmlformats.org/officeDocument/2006/relationships/tags" Target="../tags/tag461.xml"/><Relationship Id="rId61" Type="http://schemas.openxmlformats.org/officeDocument/2006/relationships/tags" Target="../tags/tag460.xml"/><Relationship Id="rId60" Type="http://schemas.openxmlformats.org/officeDocument/2006/relationships/tags" Target="../tags/tag459.xml"/><Relationship Id="rId6" Type="http://schemas.openxmlformats.org/officeDocument/2006/relationships/tags" Target="../tags/tag405.xml"/><Relationship Id="rId59" Type="http://schemas.openxmlformats.org/officeDocument/2006/relationships/tags" Target="../tags/tag458.xml"/><Relationship Id="rId58" Type="http://schemas.openxmlformats.org/officeDocument/2006/relationships/tags" Target="../tags/tag457.xml"/><Relationship Id="rId57" Type="http://schemas.openxmlformats.org/officeDocument/2006/relationships/tags" Target="../tags/tag456.xml"/><Relationship Id="rId56" Type="http://schemas.openxmlformats.org/officeDocument/2006/relationships/tags" Target="../tags/tag455.xml"/><Relationship Id="rId55" Type="http://schemas.openxmlformats.org/officeDocument/2006/relationships/tags" Target="../tags/tag454.xml"/><Relationship Id="rId54" Type="http://schemas.openxmlformats.org/officeDocument/2006/relationships/tags" Target="../tags/tag453.xml"/><Relationship Id="rId53" Type="http://schemas.openxmlformats.org/officeDocument/2006/relationships/tags" Target="../tags/tag452.xml"/><Relationship Id="rId52" Type="http://schemas.openxmlformats.org/officeDocument/2006/relationships/tags" Target="../tags/tag451.xml"/><Relationship Id="rId51" Type="http://schemas.openxmlformats.org/officeDocument/2006/relationships/tags" Target="../tags/tag450.xml"/><Relationship Id="rId50" Type="http://schemas.openxmlformats.org/officeDocument/2006/relationships/tags" Target="../tags/tag449.xml"/><Relationship Id="rId5" Type="http://schemas.openxmlformats.org/officeDocument/2006/relationships/tags" Target="../tags/tag404.xml"/><Relationship Id="rId49" Type="http://schemas.openxmlformats.org/officeDocument/2006/relationships/tags" Target="../tags/tag448.xml"/><Relationship Id="rId48" Type="http://schemas.openxmlformats.org/officeDocument/2006/relationships/tags" Target="../tags/tag447.xml"/><Relationship Id="rId47" Type="http://schemas.openxmlformats.org/officeDocument/2006/relationships/tags" Target="../tags/tag446.xml"/><Relationship Id="rId46" Type="http://schemas.openxmlformats.org/officeDocument/2006/relationships/tags" Target="../tags/tag445.xml"/><Relationship Id="rId45" Type="http://schemas.openxmlformats.org/officeDocument/2006/relationships/tags" Target="../tags/tag444.xml"/><Relationship Id="rId44" Type="http://schemas.openxmlformats.org/officeDocument/2006/relationships/tags" Target="../tags/tag443.xml"/><Relationship Id="rId43" Type="http://schemas.openxmlformats.org/officeDocument/2006/relationships/tags" Target="../tags/tag442.xml"/><Relationship Id="rId42" Type="http://schemas.openxmlformats.org/officeDocument/2006/relationships/tags" Target="../tags/tag441.xml"/><Relationship Id="rId41" Type="http://schemas.openxmlformats.org/officeDocument/2006/relationships/tags" Target="../tags/tag440.xml"/><Relationship Id="rId40" Type="http://schemas.openxmlformats.org/officeDocument/2006/relationships/tags" Target="../tags/tag439.xml"/><Relationship Id="rId4" Type="http://schemas.openxmlformats.org/officeDocument/2006/relationships/tags" Target="../tags/tag403.xml"/><Relationship Id="rId39" Type="http://schemas.openxmlformats.org/officeDocument/2006/relationships/tags" Target="../tags/tag438.xml"/><Relationship Id="rId38" Type="http://schemas.openxmlformats.org/officeDocument/2006/relationships/tags" Target="../tags/tag437.xml"/><Relationship Id="rId37" Type="http://schemas.openxmlformats.org/officeDocument/2006/relationships/tags" Target="../tags/tag436.xml"/><Relationship Id="rId36" Type="http://schemas.openxmlformats.org/officeDocument/2006/relationships/tags" Target="../tags/tag435.xml"/><Relationship Id="rId35" Type="http://schemas.openxmlformats.org/officeDocument/2006/relationships/tags" Target="../tags/tag434.xml"/><Relationship Id="rId34" Type="http://schemas.openxmlformats.org/officeDocument/2006/relationships/tags" Target="../tags/tag433.xml"/><Relationship Id="rId33" Type="http://schemas.openxmlformats.org/officeDocument/2006/relationships/tags" Target="../tags/tag432.xml"/><Relationship Id="rId32" Type="http://schemas.openxmlformats.org/officeDocument/2006/relationships/tags" Target="../tags/tag431.xml"/><Relationship Id="rId31" Type="http://schemas.openxmlformats.org/officeDocument/2006/relationships/tags" Target="../tags/tag430.xml"/><Relationship Id="rId30" Type="http://schemas.openxmlformats.org/officeDocument/2006/relationships/tags" Target="../tags/tag429.xml"/><Relationship Id="rId3" Type="http://schemas.openxmlformats.org/officeDocument/2006/relationships/tags" Target="../tags/tag402.xml"/><Relationship Id="rId29" Type="http://schemas.openxmlformats.org/officeDocument/2006/relationships/tags" Target="../tags/tag428.xml"/><Relationship Id="rId28" Type="http://schemas.openxmlformats.org/officeDocument/2006/relationships/tags" Target="../tags/tag427.xml"/><Relationship Id="rId27" Type="http://schemas.openxmlformats.org/officeDocument/2006/relationships/tags" Target="../tags/tag426.xml"/><Relationship Id="rId26" Type="http://schemas.openxmlformats.org/officeDocument/2006/relationships/tags" Target="../tags/tag425.xml"/><Relationship Id="rId25" Type="http://schemas.openxmlformats.org/officeDocument/2006/relationships/tags" Target="../tags/tag424.xml"/><Relationship Id="rId24" Type="http://schemas.openxmlformats.org/officeDocument/2006/relationships/tags" Target="../tags/tag423.xml"/><Relationship Id="rId23" Type="http://schemas.openxmlformats.org/officeDocument/2006/relationships/tags" Target="../tags/tag422.xml"/><Relationship Id="rId22" Type="http://schemas.openxmlformats.org/officeDocument/2006/relationships/tags" Target="../tags/tag421.xml"/><Relationship Id="rId21" Type="http://schemas.openxmlformats.org/officeDocument/2006/relationships/tags" Target="../tags/tag420.xml"/><Relationship Id="rId20" Type="http://schemas.openxmlformats.org/officeDocument/2006/relationships/tags" Target="../tags/tag419.xml"/><Relationship Id="rId2" Type="http://schemas.openxmlformats.org/officeDocument/2006/relationships/image" Target="../media/image243.svg"/><Relationship Id="rId19" Type="http://schemas.openxmlformats.org/officeDocument/2006/relationships/tags" Target="../tags/tag418.xml"/><Relationship Id="rId18" Type="http://schemas.openxmlformats.org/officeDocument/2006/relationships/tags" Target="../tags/tag417.xml"/><Relationship Id="rId17" Type="http://schemas.openxmlformats.org/officeDocument/2006/relationships/tags" Target="../tags/tag416.xml"/><Relationship Id="rId16" Type="http://schemas.openxmlformats.org/officeDocument/2006/relationships/tags" Target="../tags/tag415.xml"/><Relationship Id="rId15" Type="http://schemas.openxmlformats.org/officeDocument/2006/relationships/tags" Target="../tags/tag414.xml"/><Relationship Id="rId14" Type="http://schemas.openxmlformats.org/officeDocument/2006/relationships/tags" Target="../tags/tag413.xml"/><Relationship Id="rId13" Type="http://schemas.openxmlformats.org/officeDocument/2006/relationships/tags" Target="../tags/tag412.xml"/><Relationship Id="rId12" Type="http://schemas.openxmlformats.org/officeDocument/2006/relationships/tags" Target="../tags/tag411.xml"/><Relationship Id="rId11" Type="http://schemas.openxmlformats.org/officeDocument/2006/relationships/tags" Target="../tags/tag410.xml"/><Relationship Id="rId10" Type="http://schemas.openxmlformats.org/officeDocument/2006/relationships/tags" Target="../tags/tag409.xml"/><Relationship Id="rId1" Type="http://schemas.openxmlformats.org/officeDocument/2006/relationships/image" Target="../media/image25.png"/></Relationships>
</file>

<file path=ppt/slides/_rels/slide39.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150.svg"/><Relationship Id="rId1" Type="http://schemas.openxmlformats.org/officeDocument/2006/relationships/image" Target="../media/image25.png"/></Relationships>
</file>

<file path=ppt/slides/_rels/slide40.xml.rels><?xml version="1.0" encoding="UTF-8" standalone="yes"?>
<Relationships xmlns="http://schemas.openxmlformats.org/package/2006/relationships"><Relationship Id="rId9" Type="http://schemas.openxmlformats.org/officeDocument/2006/relationships/image" Target="../media/image1.png"/><Relationship Id="rId8" Type="http://schemas.openxmlformats.org/officeDocument/2006/relationships/tags" Target="../tags/tag465.xml"/><Relationship Id="rId7" Type="http://schemas.openxmlformats.org/officeDocument/2006/relationships/tags" Target="../tags/tag464.xml"/><Relationship Id="rId6" Type="http://schemas.openxmlformats.org/officeDocument/2006/relationships/image" Target="../media/image248.svg"/><Relationship Id="rId5" Type="http://schemas.openxmlformats.org/officeDocument/2006/relationships/image" Target="../media/image247.png"/><Relationship Id="rId4" Type="http://schemas.openxmlformats.org/officeDocument/2006/relationships/image" Target="../media/image246.svg"/><Relationship Id="rId3" Type="http://schemas.openxmlformats.org/officeDocument/2006/relationships/image" Target="../media/image245.png"/><Relationship Id="rId2" Type="http://schemas.openxmlformats.org/officeDocument/2006/relationships/image" Target="../media/image244.svg"/><Relationship Id="rId10" Type="http://schemas.openxmlformats.org/officeDocument/2006/relationships/slideLayout" Target="../slideLayouts/slideLayout12.xml"/><Relationship Id="rId1" Type="http://schemas.openxmlformats.org/officeDocument/2006/relationships/image" Target="../media/image25.png"/></Relationships>
</file>

<file path=ppt/slides/_rels/slide41.xml.rels><?xml version="1.0" encoding="UTF-8" standalone="yes"?>
<Relationships xmlns="http://schemas.openxmlformats.org/package/2006/relationships"><Relationship Id="rId9" Type="http://schemas.openxmlformats.org/officeDocument/2006/relationships/tags" Target="../tags/tag472.xml"/><Relationship Id="rId8" Type="http://schemas.openxmlformats.org/officeDocument/2006/relationships/tags" Target="../tags/tag471.xml"/><Relationship Id="rId7" Type="http://schemas.openxmlformats.org/officeDocument/2006/relationships/tags" Target="../tags/tag470.xml"/><Relationship Id="rId6" Type="http://schemas.openxmlformats.org/officeDocument/2006/relationships/tags" Target="../tags/tag469.xml"/><Relationship Id="rId50" Type="http://schemas.openxmlformats.org/officeDocument/2006/relationships/slideLayout" Target="../slideLayouts/slideLayout12.xml"/><Relationship Id="rId5" Type="http://schemas.openxmlformats.org/officeDocument/2006/relationships/tags" Target="../tags/tag468.xml"/><Relationship Id="rId49" Type="http://schemas.openxmlformats.org/officeDocument/2006/relationships/image" Target="../media/image1.png"/><Relationship Id="rId48" Type="http://schemas.openxmlformats.org/officeDocument/2006/relationships/tags" Target="../tags/tag511.xml"/><Relationship Id="rId47" Type="http://schemas.openxmlformats.org/officeDocument/2006/relationships/tags" Target="../tags/tag510.xml"/><Relationship Id="rId46" Type="http://schemas.openxmlformats.org/officeDocument/2006/relationships/tags" Target="../tags/tag509.xml"/><Relationship Id="rId45" Type="http://schemas.openxmlformats.org/officeDocument/2006/relationships/tags" Target="../tags/tag508.xml"/><Relationship Id="rId44" Type="http://schemas.openxmlformats.org/officeDocument/2006/relationships/tags" Target="../tags/tag507.xml"/><Relationship Id="rId43" Type="http://schemas.openxmlformats.org/officeDocument/2006/relationships/tags" Target="../tags/tag506.xml"/><Relationship Id="rId42" Type="http://schemas.openxmlformats.org/officeDocument/2006/relationships/tags" Target="../tags/tag505.xml"/><Relationship Id="rId41" Type="http://schemas.openxmlformats.org/officeDocument/2006/relationships/tags" Target="../tags/tag504.xml"/><Relationship Id="rId40" Type="http://schemas.openxmlformats.org/officeDocument/2006/relationships/tags" Target="../tags/tag503.xml"/><Relationship Id="rId4" Type="http://schemas.openxmlformats.org/officeDocument/2006/relationships/tags" Target="../tags/tag467.xml"/><Relationship Id="rId39" Type="http://schemas.openxmlformats.org/officeDocument/2006/relationships/tags" Target="../tags/tag502.xml"/><Relationship Id="rId38" Type="http://schemas.openxmlformats.org/officeDocument/2006/relationships/tags" Target="../tags/tag501.xml"/><Relationship Id="rId37" Type="http://schemas.openxmlformats.org/officeDocument/2006/relationships/tags" Target="../tags/tag500.xml"/><Relationship Id="rId36" Type="http://schemas.openxmlformats.org/officeDocument/2006/relationships/tags" Target="../tags/tag499.xml"/><Relationship Id="rId35" Type="http://schemas.openxmlformats.org/officeDocument/2006/relationships/tags" Target="../tags/tag498.xml"/><Relationship Id="rId34" Type="http://schemas.openxmlformats.org/officeDocument/2006/relationships/tags" Target="../tags/tag497.xml"/><Relationship Id="rId33" Type="http://schemas.openxmlformats.org/officeDocument/2006/relationships/tags" Target="../tags/tag496.xml"/><Relationship Id="rId32" Type="http://schemas.openxmlformats.org/officeDocument/2006/relationships/tags" Target="../tags/tag495.xml"/><Relationship Id="rId31" Type="http://schemas.openxmlformats.org/officeDocument/2006/relationships/tags" Target="../tags/tag494.xml"/><Relationship Id="rId30" Type="http://schemas.openxmlformats.org/officeDocument/2006/relationships/tags" Target="../tags/tag493.xml"/><Relationship Id="rId3" Type="http://schemas.openxmlformats.org/officeDocument/2006/relationships/tags" Target="../tags/tag466.xml"/><Relationship Id="rId29" Type="http://schemas.openxmlformats.org/officeDocument/2006/relationships/tags" Target="../tags/tag492.xml"/><Relationship Id="rId28" Type="http://schemas.openxmlformats.org/officeDocument/2006/relationships/tags" Target="../tags/tag491.xml"/><Relationship Id="rId27" Type="http://schemas.openxmlformats.org/officeDocument/2006/relationships/tags" Target="../tags/tag490.xml"/><Relationship Id="rId26" Type="http://schemas.openxmlformats.org/officeDocument/2006/relationships/tags" Target="../tags/tag489.xml"/><Relationship Id="rId25" Type="http://schemas.openxmlformats.org/officeDocument/2006/relationships/tags" Target="../tags/tag488.xml"/><Relationship Id="rId24" Type="http://schemas.openxmlformats.org/officeDocument/2006/relationships/tags" Target="../tags/tag487.xml"/><Relationship Id="rId23" Type="http://schemas.openxmlformats.org/officeDocument/2006/relationships/tags" Target="../tags/tag486.xml"/><Relationship Id="rId22" Type="http://schemas.openxmlformats.org/officeDocument/2006/relationships/tags" Target="../tags/tag485.xml"/><Relationship Id="rId21" Type="http://schemas.openxmlformats.org/officeDocument/2006/relationships/tags" Target="../tags/tag484.xml"/><Relationship Id="rId20" Type="http://schemas.openxmlformats.org/officeDocument/2006/relationships/tags" Target="../tags/tag483.xml"/><Relationship Id="rId2" Type="http://schemas.openxmlformats.org/officeDocument/2006/relationships/image" Target="../media/image249.svg"/><Relationship Id="rId19" Type="http://schemas.openxmlformats.org/officeDocument/2006/relationships/tags" Target="../tags/tag482.xml"/><Relationship Id="rId18" Type="http://schemas.openxmlformats.org/officeDocument/2006/relationships/tags" Target="../tags/tag481.xml"/><Relationship Id="rId17" Type="http://schemas.openxmlformats.org/officeDocument/2006/relationships/tags" Target="../tags/tag480.xml"/><Relationship Id="rId16" Type="http://schemas.openxmlformats.org/officeDocument/2006/relationships/tags" Target="../tags/tag479.xml"/><Relationship Id="rId15" Type="http://schemas.openxmlformats.org/officeDocument/2006/relationships/tags" Target="../tags/tag478.xml"/><Relationship Id="rId14" Type="http://schemas.openxmlformats.org/officeDocument/2006/relationships/tags" Target="../tags/tag477.xml"/><Relationship Id="rId13" Type="http://schemas.openxmlformats.org/officeDocument/2006/relationships/tags" Target="../tags/tag476.xml"/><Relationship Id="rId12" Type="http://schemas.openxmlformats.org/officeDocument/2006/relationships/tags" Target="../tags/tag475.xml"/><Relationship Id="rId11" Type="http://schemas.openxmlformats.org/officeDocument/2006/relationships/tags" Target="../tags/tag474.xml"/><Relationship Id="rId10" Type="http://schemas.openxmlformats.org/officeDocument/2006/relationships/tags" Target="../tags/tag473.xml"/><Relationship Id="rId1" Type="http://schemas.openxmlformats.org/officeDocument/2006/relationships/image" Target="../media/image25.png"/></Relationships>
</file>

<file path=ppt/slides/_rels/slide42.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41.svg"/><Relationship Id="rId1" Type="http://schemas.openxmlformats.org/officeDocument/2006/relationships/image" Target="../media/image25.png"/></Relationships>
</file>

<file path=ppt/slides/_rels/slide43.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image" Target="../media/image1.png"/><Relationship Id="rId3" Type="http://schemas.openxmlformats.org/officeDocument/2006/relationships/tags" Target="../tags/tag512.xml"/><Relationship Id="rId2" Type="http://schemas.openxmlformats.org/officeDocument/2006/relationships/image" Target="../media/image250.svg"/><Relationship Id="rId1" Type="http://schemas.openxmlformats.org/officeDocument/2006/relationships/image" Target="../media/image25.png"/></Relationships>
</file>

<file path=ppt/slides/_rels/slide44.xml.rels><?xml version="1.0" encoding="UTF-8" standalone="yes"?>
<Relationships xmlns="http://schemas.openxmlformats.org/package/2006/relationships"><Relationship Id="rId4" Type="http://schemas.openxmlformats.org/officeDocument/2006/relationships/slideLayout" Target="../slideLayouts/slideLayout12.xml"/><Relationship Id="rId3" Type="http://schemas.openxmlformats.org/officeDocument/2006/relationships/image" Target="../media/image1.png"/><Relationship Id="rId2" Type="http://schemas.openxmlformats.org/officeDocument/2006/relationships/image" Target="../media/image251.svg"/><Relationship Id="rId1" Type="http://schemas.openxmlformats.org/officeDocument/2006/relationships/image" Target="../media/image25.png"/></Relationships>
</file>

<file path=ppt/slides/_rels/slide45.xml.rels><?xml version="1.0" encoding="UTF-8" standalone="yes"?>
<Relationships xmlns="http://schemas.openxmlformats.org/package/2006/relationships"><Relationship Id="rId6" Type="http://schemas.openxmlformats.org/officeDocument/2006/relationships/slideLayout" Target="../slideLayouts/slideLayout12.xml"/><Relationship Id="rId5" Type="http://schemas.openxmlformats.org/officeDocument/2006/relationships/image" Target="../media/image1.png"/><Relationship Id="rId4" Type="http://schemas.openxmlformats.org/officeDocument/2006/relationships/image" Target="../media/image254.svg"/><Relationship Id="rId3" Type="http://schemas.openxmlformats.org/officeDocument/2006/relationships/image" Target="../media/image253.png"/><Relationship Id="rId2" Type="http://schemas.openxmlformats.org/officeDocument/2006/relationships/image" Target="../media/image252.svg"/><Relationship Id="rId1" Type="http://schemas.openxmlformats.org/officeDocument/2006/relationships/image" Target="../media/image25.png"/></Relationships>
</file>

<file path=ppt/slides/_rels/slide46.xml.rels><?xml version="1.0" encoding="UTF-8" standalone="yes"?>
<Relationships xmlns="http://schemas.openxmlformats.org/package/2006/relationships"><Relationship Id="rId2" Type="http://schemas.openxmlformats.org/officeDocument/2006/relationships/slideLayout" Target="../slideLayouts/slideLayout9.xml"/><Relationship Id="rId1" Type="http://schemas.openxmlformats.org/officeDocument/2006/relationships/image" Target="../media/image23.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 name="图片 44" descr="&amp;pky380_sjzg_VCG41N612724130_sjzg_VCG41N612724130&amp;"/>
          <p:cNvPicPr>
            <a:picLocks noChangeAspect="1"/>
          </p:cNvPicPr>
          <p:nvPr userDrawn="1"/>
        </p:nvPicPr>
        <p:blipFill>
          <a:blip r:embed="rId1">
            <a:lum contrast="-66000"/>
          </a:blip>
          <a:stretch>
            <a:fillRect/>
          </a:stretch>
        </p:blipFill>
        <p:spPr>
          <a:xfrm>
            <a:off x="-11430" y="0"/>
            <a:ext cx="12214225" cy="6858000"/>
          </a:xfrm>
          <a:prstGeom prst="rect">
            <a:avLst/>
          </a:prstGeom>
        </p:spPr>
      </p:pic>
      <p:sp>
        <p:nvSpPr>
          <p:cNvPr id="46" name="矩形 45"/>
          <p:cNvSpPr/>
          <p:nvPr userDrawn="1"/>
        </p:nvSpPr>
        <p:spPr>
          <a:xfrm>
            <a:off x="0" y="0"/>
            <a:ext cx="12192000" cy="6858000"/>
          </a:xfrm>
          <a:prstGeom prst="rect">
            <a:avLst/>
          </a:prstGeom>
          <a:gradFill>
            <a:gsLst>
              <a:gs pos="0">
                <a:schemeClr val="accent1">
                  <a:alpha val="90000"/>
                </a:schemeClr>
              </a:gs>
              <a:gs pos="100000">
                <a:schemeClr val="accent1">
                  <a:alpha val="60000"/>
                </a:schemeClr>
              </a:gs>
            </a:gsLst>
            <a:lin ang="27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cxnSp>
        <p:nvCxnSpPr>
          <p:cNvPr id="44" name="直接连接符 43"/>
          <p:cNvCxnSpPr/>
          <p:nvPr/>
        </p:nvCxnSpPr>
        <p:spPr>
          <a:xfrm>
            <a:off x="1567721" y="8585987"/>
            <a:ext cx="572022" cy="0"/>
          </a:xfrm>
          <a:prstGeom prst="line">
            <a:avLst/>
          </a:prstGeom>
          <a:ln w="12700">
            <a:gradFill flip="none" rotWithShape="1">
              <a:gsLst>
                <a:gs pos="11000">
                  <a:schemeClr val="bg1">
                    <a:alpha val="0"/>
                  </a:schemeClr>
                </a:gs>
                <a:gs pos="100000">
                  <a:schemeClr val="bg1"/>
                </a:gs>
              </a:gsLst>
              <a:lin ang="0" scaled="1"/>
              <a:tileRect/>
            </a:gradFill>
          </a:ln>
        </p:spPr>
        <p:style>
          <a:lnRef idx="1">
            <a:schemeClr val="accent1"/>
          </a:lnRef>
          <a:fillRef idx="0">
            <a:schemeClr val="accent1"/>
          </a:fillRef>
          <a:effectRef idx="0">
            <a:schemeClr val="accent1"/>
          </a:effectRef>
          <a:fontRef idx="minor">
            <a:schemeClr val="tx1"/>
          </a:fontRef>
        </p:style>
      </p:cxnSp>
      <p:sp>
        <p:nvSpPr>
          <p:cNvPr id="79" name="文本框 78"/>
          <p:cNvSpPr txBox="1"/>
          <p:nvPr/>
        </p:nvSpPr>
        <p:spPr>
          <a:xfrm>
            <a:off x="3870960" y="1540510"/>
            <a:ext cx="4001135" cy="706755"/>
          </a:xfrm>
          <a:prstGeom prst="rect">
            <a:avLst/>
          </a:prstGeom>
          <a:noFill/>
        </p:spPr>
        <p:txBody>
          <a:bodyPr wrap="square" rtlCol="0">
            <a:spAutoFit/>
          </a:bodyPr>
          <a:lstStyle/>
          <a:p>
            <a:pPr algn="dist"/>
            <a:r>
              <a:rPr lang="zh-CN" altLang="en-US" sz="4000" b="1" dirty="0">
                <a:solidFill>
                  <a:srgbClr val="FFC000"/>
                </a:solidFill>
                <a:latin typeface="微软雅黑" panose="020B0503020204020204" charset="-122"/>
                <a:ea typeface="微软雅黑" panose="020B0503020204020204" charset="-122"/>
                <a:cs typeface="微软雅黑" panose="020B0503020204020204" charset="-122"/>
              </a:rPr>
              <a:t>「框架搭建系列</a:t>
            </a:r>
            <a:r>
              <a:rPr lang="zh-CN" altLang="en-US" sz="4000" b="1" dirty="0">
                <a:solidFill>
                  <a:srgbClr val="FFC000"/>
                </a:solidFill>
                <a:latin typeface="微软雅黑" panose="020B0503020204020204" charset="-122"/>
                <a:ea typeface="微软雅黑" panose="020B0503020204020204" charset="-122"/>
                <a:cs typeface="微软雅黑" panose="020B0503020204020204" charset="-122"/>
                <a:sym typeface="+mn-ea"/>
              </a:rPr>
              <a:t>」</a:t>
            </a:r>
            <a:endParaRPr lang="zh-CN" altLang="en-US" sz="4000" b="1" dirty="0">
              <a:solidFill>
                <a:srgbClr val="FFC000"/>
              </a:solidFill>
              <a:latin typeface="微软雅黑" panose="020B0503020204020204" charset="-122"/>
              <a:ea typeface="微软雅黑" panose="020B0503020204020204" charset="-122"/>
              <a:cs typeface="微软雅黑" panose="020B0503020204020204" charset="-122"/>
              <a:sym typeface="+mn-ea"/>
            </a:endParaRPr>
          </a:p>
        </p:txBody>
      </p:sp>
      <p:sp>
        <p:nvSpPr>
          <p:cNvPr id="80" name="文本框 79"/>
          <p:cNvSpPr txBox="1"/>
          <p:nvPr/>
        </p:nvSpPr>
        <p:spPr>
          <a:xfrm>
            <a:off x="2024380" y="2326005"/>
            <a:ext cx="7940040" cy="1014730"/>
          </a:xfrm>
          <a:prstGeom prst="rect">
            <a:avLst/>
          </a:prstGeom>
          <a:noFill/>
        </p:spPr>
        <p:txBody>
          <a:bodyPr wrap="square" rtlCol="0">
            <a:spAutoFit/>
          </a:bodyPr>
          <a:lstStyle/>
          <a:p>
            <a:pPr algn="dist"/>
            <a:r>
              <a:rPr lang="zh-CN" sz="6000" b="1" dirty="0">
                <a:solidFill>
                  <a:schemeClr val="bg1"/>
                </a:solidFill>
                <a:latin typeface="微软雅黑" panose="020B0503020204020204" charset="-122"/>
                <a:ea typeface="微软雅黑" panose="020B0503020204020204" charset="-122"/>
                <a:cs typeface="微软雅黑" panose="020B0503020204020204" charset="-122"/>
              </a:rPr>
              <a:t>复杂逻辑场景</a:t>
            </a:r>
            <a:r>
              <a:rPr lang="en-US" altLang="zh-CN" sz="6000" b="1" dirty="0">
                <a:solidFill>
                  <a:schemeClr val="bg1"/>
                </a:solidFill>
                <a:latin typeface="微软雅黑" panose="020B0503020204020204" charset="-122"/>
                <a:ea typeface="微软雅黑" panose="020B0503020204020204" charset="-122"/>
                <a:cs typeface="微软雅黑" panose="020B0503020204020204" charset="-122"/>
              </a:rPr>
              <a:t>PPT</a:t>
            </a:r>
            <a:r>
              <a:rPr lang="zh-CN" altLang="en-US" sz="6000" b="1" dirty="0">
                <a:solidFill>
                  <a:schemeClr val="bg1"/>
                </a:solidFill>
                <a:latin typeface="微软雅黑" panose="020B0503020204020204" charset="-122"/>
                <a:ea typeface="微软雅黑" panose="020B0503020204020204" charset="-122"/>
                <a:cs typeface="微软雅黑" panose="020B0503020204020204" charset="-122"/>
              </a:rPr>
              <a:t>模板</a:t>
            </a:r>
            <a:endParaRPr lang="zh-CN" altLang="en-US" sz="6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5244518" y="4138060"/>
            <a:ext cx="1702965" cy="306705"/>
          </a:xfrm>
          <a:prstGeom prst="rect">
            <a:avLst/>
          </a:prstGeom>
          <a:noFill/>
          <a:ln w="3175">
            <a:noFill/>
          </a:ln>
        </p:spPr>
        <p:txBody>
          <a:bodyPr wrap="square" rtlCol="0">
            <a:spAutoFit/>
          </a:bodyPr>
          <a:lstStyle/>
          <a:p>
            <a:pPr algn="ctr"/>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汇报人：开悟思维</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2" name="文本框 81"/>
          <p:cNvSpPr txBox="1"/>
          <p:nvPr/>
        </p:nvSpPr>
        <p:spPr>
          <a:xfrm>
            <a:off x="4721860" y="4411345"/>
            <a:ext cx="2490470" cy="306705"/>
          </a:xfrm>
          <a:prstGeom prst="rect">
            <a:avLst/>
          </a:prstGeom>
          <a:noFill/>
          <a:ln w="3175">
            <a:noFill/>
          </a:ln>
        </p:spPr>
        <p:txBody>
          <a:bodyPr wrap="square" rtlCol="0">
            <a:spAutoFit/>
          </a:bodyPr>
          <a:lstStyle>
            <a:defPPr>
              <a:defRPr lang="zh-CN"/>
            </a:defPPr>
            <a:lvl1pPr algn="ctr">
              <a:defRPr sz="1400">
                <a:solidFill>
                  <a:schemeClr val="bg1"/>
                </a:solidFill>
              </a:defRPr>
            </a:lvl1pPr>
          </a:lstStyle>
          <a:p>
            <a:pPr algn="ctr"/>
            <a:r>
              <a:rPr lang="zh-CN" altLang="en-US" dirty="0">
                <a:latin typeface="微软雅黑" panose="020B0503020204020204" charset="-122"/>
                <a:ea typeface="微软雅黑" panose="020B0503020204020204" charset="-122"/>
                <a:cs typeface="微软雅黑" panose="020B0503020204020204" charset="-122"/>
              </a:rPr>
              <a:t>汇报时间：</a:t>
            </a:r>
            <a:r>
              <a:rPr lang="en-US" altLang="zh-CN" dirty="0">
                <a:latin typeface="微软雅黑" panose="020B0503020204020204" charset="-122"/>
                <a:ea typeface="微软雅黑" panose="020B0503020204020204" charset="-122"/>
                <a:cs typeface="微软雅黑" panose="020B0503020204020204" charset="-122"/>
              </a:rPr>
              <a:t>20xx.xx</a:t>
            </a:r>
            <a:endParaRPr lang="zh-CN" altLang="en-US" dirty="0">
              <a:latin typeface="微软雅黑" panose="020B0503020204020204" charset="-122"/>
              <a:ea typeface="微软雅黑" panose="020B0503020204020204" charset="-122"/>
              <a:cs typeface="微软雅黑" panose="020B0503020204020204" charset="-122"/>
            </a:endParaRPr>
          </a:p>
        </p:txBody>
      </p:sp>
      <p:cxnSp>
        <p:nvCxnSpPr>
          <p:cNvPr id="83" name="直接连接符 82"/>
          <p:cNvCxnSpPr/>
          <p:nvPr/>
        </p:nvCxnSpPr>
        <p:spPr>
          <a:xfrm>
            <a:off x="2328724" y="3360147"/>
            <a:ext cx="7534552" cy="6350"/>
          </a:xfrm>
          <a:prstGeom prst="line">
            <a:avLst/>
          </a:prstGeom>
          <a:ln w="12700">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
        <p:nvSpPr>
          <p:cNvPr id="84" name="等腰三角形 83"/>
          <p:cNvSpPr/>
          <p:nvPr/>
        </p:nvSpPr>
        <p:spPr>
          <a:xfrm flipV="1">
            <a:off x="9715109" y="3360147"/>
            <a:ext cx="148167" cy="127730"/>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5" name="文本框 84"/>
          <p:cNvSpPr txBox="1"/>
          <p:nvPr/>
        </p:nvSpPr>
        <p:spPr>
          <a:xfrm>
            <a:off x="2608152" y="3437112"/>
            <a:ext cx="6975697" cy="275590"/>
          </a:xfrm>
          <a:prstGeom prst="rect">
            <a:avLst/>
          </a:prstGeom>
          <a:noFill/>
        </p:spPr>
        <p:txBody>
          <a:bodyPr wrap="square" rtlCol="0">
            <a:spAutoFit/>
          </a:bodyPr>
          <a:lstStyle/>
          <a:p>
            <a:pPr algn="ctr"/>
            <a:r>
              <a:rPr lang="en-US" altLang="zh-CN" sz="1200" dirty="0">
                <a:solidFill>
                  <a:schemeClr val="bg1"/>
                </a:solidFill>
                <a:latin typeface="微软雅黑" panose="020B0503020204020204" charset="-122"/>
                <a:ea typeface="微软雅黑" panose="020B0503020204020204" charset="-122"/>
                <a:cs typeface="微软雅黑" panose="020B0503020204020204" charset="-122"/>
              </a:rPr>
              <a:t>Framework Series: Complex Logic Construction PPT Template</a:t>
            </a:r>
            <a:endParaRPr lang="en-US" altLang="zh-CN"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userDrawn="1"/>
        </p:nvSpPr>
        <p:spPr>
          <a:xfrm>
            <a:off x="9388344" y="744017"/>
            <a:ext cx="2357120" cy="92075"/>
          </a:xfrm>
          <a:prstGeom prst="rect">
            <a:avLst/>
          </a:prstGeom>
          <a:noFill/>
        </p:spPr>
        <p:txBody>
          <a:bodyPr wrap="none" lIns="0" tIns="0" rIns="0" bIns="0" rtlCol="0">
            <a:spAutoFit/>
          </a:bodyPr>
          <a:lstStyle/>
          <a:p>
            <a:pPr algn="r">
              <a:lnSpc>
                <a:spcPct val="60000"/>
              </a:lnSpc>
              <a:spcAft>
                <a:spcPts val="600"/>
              </a:spcAft>
            </a:pPr>
            <a:r>
              <a:rPr lang="zh-CN" altLang="en-US" sz="1000" spc="16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仅供学习使用，严禁商用，侵权必究</a:t>
            </a:r>
            <a:endParaRPr lang="zh-CN" altLang="en-US" sz="1000" spc="16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 name="矩形 2"/>
          <p:cNvSpPr/>
          <p:nvPr userDrawn="1"/>
        </p:nvSpPr>
        <p:spPr>
          <a:xfrm>
            <a:off x="9200515" y="521970"/>
            <a:ext cx="2626995" cy="454660"/>
          </a:xfrm>
          <a:prstGeom prst="rect">
            <a:avLst/>
          </a:prstGeom>
          <a:noFill/>
          <a:ln>
            <a:solidFill>
              <a:schemeClr val="bg1"/>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1476693" y="914400"/>
            <a:ext cx="9086215" cy="231775"/>
          </a:xfrm>
          <a:prstGeom prst="rect">
            <a:avLst/>
          </a:prstGeom>
          <a:solidFill>
            <a:schemeClr val="accent1">
              <a:lumMod val="20000"/>
              <a:lumOff val="80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12" name="文本框 11"/>
          <p:cNvSpPr txBox="1"/>
          <p:nvPr>
            <p:custDataLst>
              <p:tags r:id="rId1"/>
            </p:custDataLst>
          </p:nvPr>
        </p:nvSpPr>
        <p:spPr>
          <a:xfrm flipH="1">
            <a:off x="3674110" y="530860"/>
            <a:ext cx="4691380" cy="491490"/>
          </a:xfrm>
          <a:prstGeom prst="rect">
            <a:avLst/>
          </a:prstGeom>
          <a:noFill/>
        </p:spPr>
        <p:txBody>
          <a:bodyPr wrap="square" rtlCol="0">
            <a:noAutofit/>
          </a:bodyPr>
          <a:lstStyle/>
          <a:p>
            <a:pPr algn="ctr"/>
            <a:r>
              <a:rPr lang="zh-CN" sz="3200" b="1">
                <a:solidFill>
                  <a:schemeClr val="accent1"/>
                </a:solidFill>
                <a:latin typeface="微软雅黑" panose="020B0503020204020204" charset="-122"/>
                <a:ea typeface="微软雅黑" panose="020B0503020204020204" charset="-122"/>
                <a:cs typeface="微软雅黑" panose="020B0503020204020204" charset="-122"/>
              </a:rPr>
              <a:t>本版配色说明</a:t>
            </a:r>
            <a:endParaRPr lang="zh-CN" sz="3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2"/>
            </p:custDataLst>
          </p:nvPr>
        </p:nvSpPr>
        <p:spPr>
          <a:xfrm flipH="1">
            <a:off x="9965690" y="-13970"/>
            <a:ext cx="2244725" cy="848995"/>
          </a:xfrm>
          <a:custGeom>
            <a:avLst/>
            <a:gdLst/>
            <a:ahLst/>
            <a:cxnLst>
              <a:cxn ang="3">
                <a:pos x="hc" y="t"/>
              </a:cxn>
              <a:cxn ang="cd2">
                <a:pos x="l" y="vc"/>
              </a:cxn>
              <a:cxn ang="cd4">
                <a:pos x="hc" y="b"/>
              </a:cxn>
              <a:cxn ang="0">
                <a:pos x="r" y="vc"/>
              </a:cxn>
            </a:cxnLst>
            <a:rect l="l" t="t" r="r" b="b"/>
            <a:pathLst>
              <a:path w="3549" h="1050">
                <a:moveTo>
                  <a:pt x="0" y="0"/>
                </a:moveTo>
                <a:lnTo>
                  <a:pt x="3549" y="0"/>
                </a:lnTo>
                <a:lnTo>
                  <a:pt x="1628" y="937"/>
                </a:lnTo>
                <a:cubicBezTo>
                  <a:pt x="1076" y="1207"/>
                  <a:pt x="410" y="977"/>
                  <a:pt x="141" y="425"/>
                </a:cubicBezTo>
                <a:lnTo>
                  <a:pt x="0" y="137"/>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userDrawn="1"/>
        </p:nvPicPr>
        <p:blipFill>
          <a:blip r:embed="rId3"/>
          <a:srcRect r="58023" b="-8235"/>
          <a:stretch>
            <a:fillRect/>
          </a:stretch>
        </p:blipFill>
        <p:spPr>
          <a:xfrm>
            <a:off x="10253980" y="147320"/>
            <a:ext cx="1591310" cy="350520"/>
          </a:xfrm>
          <a:prstGeom prst="rect">
            <a:avLst/>
          </a:prstGeom>
        </p:spPr>
      </p:pic>
      <p:sp>
        <p:nvSpPr>
          <p:cNvPr id="85" name="文本框 84"/>
          <p:cNvSpPr txBox="1"/>
          <p:nvPr/>
        </p:nvSpPr>
        <p:spPr>
          <a:xfrm rot="2580000">
            <a:off x="3877945" y="4537075"/>
            <a:ext cx="274320" cy="706755"/>
          </a:xfrm>
          <a:prstGeom prst="rect">
            <a:avLst/>
          </a:prstGeom>
          <a:noFill/>
        </p:spPr>
        <p:txBody>
          <a:bodyPr wrap="square" rtlCol="0">
            <a:spAutoFit/>
          </a:bodyPr>
          <a:lstStyle/>
          <a:p>
            <a:pPr algn="l"/>
            <a:r>
              <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04</a:t>
            </a:r>
            <a:endPar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82" name="文本框 81"/>
          <p:cNvSpPr txBox="1"/>
          <p:nvPr/>
        </p:nvSpPr>
        <p:spPr>
          <a:xfrm rot="19800000">
            <a:off x="3994150" y="3270885"/>
            <a:ext cx="274320" cy="706755"/>
          </a:xfrm>
          <a:prstGeom prst="rect">
            <a:avLst/>
          </a:prstGeom>
          <a:noFill/>
        </p:spPr>
        <p:txBody>
          <a:bodyPr wrap="square" rtlCol="0">
            <a:spAutoFit/>
          </a:bodyPr>
          <a:lstStyle/>
          <a:p>
            <a:pPr algn="l"/>
            <a:r>
              <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01</a:t>
            </a:r>
            <a:endPar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84" name="文本框 83"/>
          <p:cNvSpPr txBox="1"/>
          <p:nvPr/>
        </p:nvSpPr>
        <p:spPr>
          <a:xfrm rot="18960000">
            <a:off x="6292215" y="3458210"/>
            <a:ext cx="274320" cy="706755"/>
          </a:xfrm>
          <a:prstGeom prst="rect">
            <a:avLst/>
          </a:prstGeom>
          <a:noFill/>
        </p:spPr>
        <p:txBody>
          <a:bodyPr wrap="square" rtlCol="0">
            <a:spAutoFit/>
          </a:bodyPr>
          <a:lstStyle/>
          <a:p>
            <a:pPr algn="l"/>
            <a:r>
              <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03</a:t>
            </a:r>
            <a:endParaRPr lang="en-US" sz="2000" b="1" spc="0" baseline="0" dirty="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83" name="文本框 82"/>
          <p:cNvSpPr txBox="1"/>
          <p:nvPr/>
        </p:nvSpPr>
        <p:spPr>
          <a:xfrm>
            <a:off x="6394450" y="4545330"/>
            <a:ext cx="274320" cy="706755"/>
          </a:xfrm>
          <a:prstGeom prst="rect">
            <a:avLst/>
          </a:prstGeom>
          <a:noFill/>
        </p:spPr>
        <p:txBody>
          <a:bodyPr wrap="square" rtlCol="0">
            <a:spAutoFit/>
          </a:bodyPr>
          <a:lstStyle/>
          <a:p>
            <a:pPr algn="l"/>
            <a:r>
              <a:rPr lang="en-US" sz="2000" b="1" spc="0" baseline="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02</a:t>
            </a:r>
            <a:endParaRPr lang="en-US" sz="2000" b="1" spc="0" baseline="0">
              <a:solidFill>
                <a:srgbClr val="FFFFFF">
                  <a:alpha val="80000"/>
                </a:srgb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68" name="任意多边形: 形状 56"/>
          <p:cNvSpPr/>
          <p:nvPr/>
        </p:nvSpPr>
        <p:spPr>
          <a:xfrm>
            <a:off x="5866765" y="3973195"/>
            <a:ext cx="2520315" cy="1205230"/>
          </a:xfrm>
          <a:custGeom>
            <a:avLst/>
            <a:gdLst>
              <a:gd name="connsiteX0" fmla="*/ 323850 w 1082039"/>
              <a:gd name="connsiteY0" fmla="*/ 75248 h 1005840"/>
              <a:gd name="connsiteX1" fmla="*/ 631508 w 1082039"/>
              <a:gd name="connsiteY1" fmla="*/ 420053 h 1005840"/>
              <a:gd name="connsiteX2" fmla="*/ 1038225 w 1082039"/>
              <a:gd name="connsiteY2" fmla="*/ 681990 h 1005840"/>
              <a:gd name="connsiteX3" fmla="*/ 1082040 w 1082039"/>
              <a:gd name="connsiteY3" fmla="*/ 864870 h 1005840"/>
              <a:gd name="connsiteX4" fmla="*/ 932498 w 1082039"/>
              <a:gd name="connsiteY4" fmla="*/ 1005840 h 1005840"/>
              <a:gd name="connsiteX5" fmla="*/ 168592 w 1082039"/>
              <a:gd name="connsiteY5" fmla="*/ 423863 h 1005840"/>
              <a:gd name="connsiteX6" fmla="*/ 120967 w 1082039"/>
              <a:gd name="connsiteY6" fmla="*/ 363855 h 1005840"/>
              <a:gd name="connsiteX7" fmla="*/ 0 w 1082039"/>
              <a:gd name="connsiteY7" fmla="*/ 205740 h 1005840"/>
              <a:gd name="connsiteX8" fmla="*/ 193358 w 1082039"/>
              <a:gd name="connsiteY8" fmla="*/ 180023 h 1005840"/>
              <a:gd name="connsiteX9" fmla="*/ 267652 w 1082039"/>
              <a:gd name="connsiteY9" fmla="*/ 0 h 1005840"/>
              <a:gd name="connsiteX10" fmla="*/ 323850 w 1082039"/>
              <a:gd name="connsiteY10" fmla="*/ 75248 h 100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07" h="2491">
                <a:moveTo>
                  <a:pt x="763" y="177"/>
                </a:moveTo>
                <a:cubicBezTo>
                  <a:pt x="1281" y="766"/>
                  <a:pt x="1555" y="1285"/>
                  <a:pt x="2589" y="1650"/>
                </a:cubicBezTo>
                <a:lnTo>
                  <a:pt x="2589" y="1649"/>
                </a:lnTo>
                <a:cubicBezTo>
                  <a:pt x="2688" y="1672"/>
                  <a:pt x="2805" y="1685"/>
                  <a:pt x="2903" y="1685"/>
                </a:cubicBezTo>
                <a:cubicBezTo>
                  <a:pt x="3697" y="1709"/>
                  <a:pt x="4354" y="1016"/>
                  <a:pt x="4399" y="319"/>
                </a:cubicBezTo>
                <a:lnTo>
                  <a:pt x="4810" y="81"/>
                </a:lnTo>
                <a:lnTo>
                  <a:pt x="5207" y="310"/>
                </a:lnTo>
                <a:cubicBezTo>
                  <a:pt x="5177" y="1541"/>
                  <a:pt x="4023" y="2520"/>
                  <a:pt x="2903" y="2490"/>
                </a:cubicBezTo>
                <a:cubicBezTo>
                  <a:pt x="2848" y="2493"/>
                  <a:pt x="2633" y="2487"/>
                  <a:pt x="2340" y="2414"/>
                </a:cubicBezTo>
                <a:lnTo>
                  <a:pt x="2341" y="2412"/>
                </a:lnTo>
                <a:lnTo>
                  <a:pt x="2197" y="2368"/>
                </a:lnTo>
                <a:lnTo>
                  <a:pt x="2196" y="2369"/>
                </a:lnTo>
                <a:cubicBezTo>
                  <a:pt x="445" y="1509"/>
                  <a:pt x="153" y="565"/>
                  <a:pt x="285" y="857"/>
                </a:cubicBezTo>
                <a:cubicBezTo>
                  <a:pt x="217" y="771"/>
                  <a:pt x="139" y="668"/>
                  <a:pt x="81" y="591"/>
                </a:cubicBezTo>
                <a:cubicBezTo>
                  <a:pt x="55" y="557"/>
                  <a:pt x="19" y="509"/>
                  <a:pt x="0" y="485"/>
                </a:cubicBezTo>
                <a:lnTo>
                  <a:pt x="455" y="424"/>
                </a:lnTo>
                <a:lnTo>
                  <a:pt x="630" y="0"/>
                </a:lnTo>
                <a:cubicBezTo>
                  <a:pt x="672" y="57"/>
                  <a:pt x="722" y="124"/>
                  <a:pt x="763" y="177"/>
                </a:cubicBezTo>
                <a:close/>
              </a:path>
            </a:pathLst>
          </a:custGeom>
          <a:solidFill>
            <a:srgbClr val="9A3123">
              <a:lumMod val="40000"/>
              <a:lumOff val="60000"/>
            </a:srgbClr>
          </a:solidFill>
          <a:ln w="9525" cap="flat">
            <a:noFill/>
            <a:prstDash val="solid"/>
            <a:miter/>
          </a:ln>
        </p:spPr>
        <p:txBody>
          <a:bodyPr wrap="square" rtlCol="0" anchor="ctr">
            <a:noAutofit/>
          </a:bodyPr>
          <a:lstStyle/>
          <a:p>
            <a:endParaRPr lang="en-US" sz="2000">
              <a:latin typeface="微软雅黑" panose="020B0503020204020204" charset="-122"/>
              <a:ea typeface="微软雅黑" panose="020B0503020204020204" charset="-122"/>
              <a:cs typeface="微软雅黑" panose="020B0503020204020204" charset="-122"/>
            </a:endParaRPr>
          </a:p>
        </p:txBody>
      </p:sp>
      <p:sp>
        <p:nvSpPr>
          <p:cNvPr id="2" name="任意多边形: 形状 57"/>
          <p:cNvSpPr/>
          <p:nvPr/>
        </p:nvSpPr>
        <p:spPr>
          <a:xfrm>
            <a:off x="5991860" y="2943860"/>
            <a:ext cx="2396490" cy="1115695"/>
          </a:xfrm>
          <a:custGeom>
            <a:avLst/>
            <a:gdLst>
              <a:gd name="connsiteX0" fmla="*/ 1286828 w 1286827"/>
              <a:gd name="connsiteY0" fmla="*/ 971550 h 972502"/>
              <a:gd name="connsiteX1" fmla="*/ 1117283 w 1286827"/>
              <a:gd name="connsiteY1" fmla="*/ 873443 h 972502"/>
              <a:gd name="connsiteX2" fmla="*/ 944880 w 1286827"/>
              <a:gd name="connsiteY2" fmla="*/ 972503 h 972502"/>
              <a:gd name="connsiteX3" fmla="*/ 307658 w 1286827"/>
              <a:gd name="connsiteY3" fmla="*/ 341948 h 972502"/>
              <a:gd name="connsiteX4" fmla="*/ 147638 w 1286827"/>
              <a:gd name="connsiteY4" fmla="*/ 366713 h 972502"/>
              <a:gd name="connsiteX5" fmla="*/ 0 w 1286827"/>
              <a:gd name="connsiteY5" fmla="*/ 226695 h 972502"/>
              <a:gd name="connsiteX6" fmla="*/ 44768 w 1286827"/>
              <a:gd name="connsiteY6" fmla="*/ 40958 h 972502"/>
              <a:gd name="connsiteX7" fmla="*/ 307658 w 1286827"/>
              <a:gd name="connsiteY7" fmla="*/ 0 h 972502"/>
              <a:gd name="connsiteX8" fmla="*/ 1286828 w 1286827"/>
              <a:gd name="connsiteY8" fmla="*/ 971550 h 97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1" h="2306">
                <a:moveTo>
                  <a:pt x="4951" y="2288"/>
                </a:moveTo>
                <a:lnTo>
                  <a:pt x="4552" y="2057"/>
                </a:lnTo>
                <a:lnTo>
                  <a:pt x="4146" y="2290"/>
                </a:lnTo>
                <a:cubicBezTo>
                  <a:pt x="4162" y="1456"/>
                  <a:pt x="3393" y="785"/>
                  <a:pt x="2645" y="805"/>
                </a:cubicBezTo>
                <a:cubicBezTo>
                  <a:pt x="2535" y="804"/>
                  <a:pt x="2401" y="826"/>
                  <a:pt x="2307" y="852"/>
                </a:cubicBezTo>
                <a:lnTo>
                  <a:pt x="2308" y="853"/>
                </a:lnTo>
                <a:lnTo>
                  <a:pt x="2128" y="915"/>
                </a:lnTo>
                <a:lnTo>
                  <a:pt x="2128" y="915"/>
                </a:lnTo>
                <a:cubicBezTo>
                  <a:pt x="1466" y="1164"/>
                  <a:pt x="798" y="1908"/>
                  <a:pt x="505" y="2305"/>
                </a:cubicBezTo>
                <a:cubicBezTo>
                  <a:pt x="483" y="2276"/>
                  <a:pt x="455" y="2240"/>
                  <a:pt x="436" y="2215"/>
                </a:cubicBezTo>
                <a:cubicBezTo>
                  <a:pt x="415" y="2186"/>
                  <a:pt x="388" y="2151"/>
                  <a:pt x="370" y="2128"/>
                </a:cubicBezTo>
                <a:cubicBezTo>
                  <a:pt x="342" y="2088"/>
                  <a:pt x="307" y="2043"/>
                  <a:pt x="278" y="2007"/>
                </a:cubicBezTo>
                <a:cubicBezTo>
                  <a:pt x="188" y="1885"/>
                  <a:pt x="85" y="1748"/>
                  <a:pt x="0" y="1639"/>
                </a:cubicBezTo>
                <a:lnTo>
                  <a:pt x="13" y="1627"/>
                </a:lnTo>
                <a:cubicBezTo>
                  <a:pt x="372" y="1159"/>
                  <a:pt x="1162" y="404"/>
                  <a:pt x="1865" y="154"/>
                </a:cubicBezTo>
                <a:lnTo>
                  <a:pt x="1865" y="152"/>
                </a:lnTo>
                <a:lnTo>
                  <a:pt x="2025" y="97"/>
                </a:lnTo>
                <a:lnTo>
                  <a:pt x="2025" y="96"/>
                </a:lnTo>
                <a:lnTo>
                  <a:pt x="2031" y="95"/>
                </a:lnTo>
                <a:lnTo>
                  <a:pt x="2045" y="90"/>
                </a:lnTo>
                <a:lnTo>
                  <a:pt x="2045" y="91"/>
                </a:lnTo>
                <a:cubicBezTo>
                  <a:pt x="2234" y="33"/>
                  <a:pt x="2458" y="-1"/>
                  <a:pt x="2645" y="0"/>
                </a:cubicBezTo>
                <a:cubicBezTo>
                  <a:pt x="3928" y="-37"/>
                  <a:pt x="4972" y="1137"/>
                  <a:pt x="4951" y="2288"/>
                </a:cubicBezTo>
                <a:close/>
              </a:path>
            </a:pathLst>
          </a:custGeom>
          <a:solidFill>
            <a:srgbClr val="9A3123"/>
          </a:solidFill>
          <a:ln w="9525" cap="flat">
            <a:noFill/>
            <a:prstDash val="solid"/>
            <a:miter/>
          </a:ln>
        </p:spPr>
        <p:txBody>
          <a:bodyPr wrap="square" rtlCol="0" anchor="ctr">
            <a:noAutofit/>
          </a:bodyPr>
          <a:lstStyle/>
          <a:p>
            <a:endParaRPr lang="en-US" sz="2000">
              <a:latin typeface="微软雅黑" panose="020B0503020204020204" charset="-122"/>
              <a:ea typeface="微软雅黑" panose="020B0503020204020204" charset="-122"/>
              <a:cs typeface="微软雅黑" panose="020B0503020204020204" charset="-122"/>
            </a:endParaRPr>
          </a:p>
        </p:txBody>
      </p:sp>
      <p:sp>
        <p:nvSpPr>
          <p:cNvPr id="70" name="任意多边形: 形状 64"/>
          <p:cNvSpPr/>
          <p:nvPr/>
        </p:nvSpPr>
        <p:spPr>
          <a:xfrm>
            <a:off x="3610610" y="2945130"/>
            <a:ext cx="2518410" cy="1204595"/>
          </a:xfrm>
          <a:custGeom>
            <a:avLst/>
            <a:gdLst>
              <a:gd name="connsiteX0" fmla="*/ 1247775 w 1292542"/>
              <a:gd name="connsiteY0" fmla="*/ 40005 h 973454"/>
              <a:gd name="connsiteX1" fmla="*/ 1292543 w 1292542"/>
              <a:gd name="connsiteY1" fmla="*/ 226695 h 973454"/>
              <a:gd name="connsiteX2" fmla="*/ 1145858 w 1292542"/>
              <a:gd name="connsiteY2" fmla="*/ 364808 h 973454"/>
              <a:gd name="connsiteX3" fmla="*/ 980123 w 1292542"/>
              <a:gd name="connsiteY3" fmla="*/ 340995 h 973454"/>
              <a:gd name="connsiteX4" fmla="*/ 342900 w 1292542"/>
              <a:gd name="connsiteY4" fmla="*/ 968693 h 973454"/>
              <a:gd name="connsiteX5" fmla="*/ 174308 w 1292542"/>
              <a:gd name="connsiteY5" fmla="*/ 872490 h 973454"/>
              <a:gd name="connsiteX6" fmla="*/ 0 w 1292542"/>
              <a:gd name="connsiteY6" fmla="*/ 973455 h 973454"/>
              <a:gd name="connsiteX7" fmla="*/ 979170 w 1292542"/>
              <a:gd name="connsiteY7" fmla="*/ 0 h 973454"/>
              <a:gd name="connsiteX8" fmla="*/ 1247775 w 1292542"/>
              <a:gd name="connsiteY8" fmla="*/ 40005 h 97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3" h="2488">
                <a:moveTo>
                  <a:pt x="2700" y="859"/>
                </a:moveTo>
                <a:lnTo>
                  <a:pt x="2699" y="860"/>
                </a:lnTo>
                <a:cubicBezTo>
                  <a:pt x="2579" y="823"/>
                  <a:pt x="2423" y="803"/>
                  <a:pt x="2314" y="804"/>
                </a:cubicBezTo>
                <a:lnTo>
                  <a:pt x="2308" y="804"/>
                </a:lnTo>
                <a:lnTo>
                  <a:pt x="2269" y="803"/>
                </a:lnTo>
                <a:cubicBezTo>
                  <a:pt x="1439" y="779"/>
                  <a:pt x="778" y="1620"/>
                  <a:pt x="808" y="2282"/>
                </a:cubicBezTo>
                <a:lnTo>
                  <a:pt x="411" y="2055"/>
                </a:lnTo>
                <a:lnTo>
                  <a:pt x="1" y="2293"/>
                </a:lnTo>
                <a:lnTo>
                  <a:pt x="0" y="2232"/>
                </a:lnTo>
                <a:cubicBezTo>
                  <a:pt x="-28" y="974"/>
                  <a:pt x="1242" y="-29"/>
                  <a:pt x="2251" y="0"/>
                </a:cubicBezTo>
                <a:lnTo>
                  <a:pt x="2306" y="1"/>
                </a:lnTo>
                <a:lnTo>
                  <a:pt x="2316" y="1"/>
                </a:lnTo>
                <a:lnTo>
                  <a:pt x="2326" y="1"/>
                </a:lnTo>
                <a:cubicBezTo>
                  <a:pt x="2526" y="-1"/>
                  <a:pt x="2770" y="45"/>
                  <a:pt x="2915" y="88"/>
                </a:cubicBezTo>
                <a:lnTo>
                  <a:pt x="2914" y="85"/>
                </a:lnTo>
                <a:lnTo>
                  <a:pt x="3087" y="141"/>
                </a:lnTo>
                <a:lnTo>
                  <a:pt x="3087" y="142"/>
                </a:lnTo>
                <a:lnTo>
                  <a:pt x="3087" y="142"/>
                </a:lnTo>
                <a:cubicBezTo>
                  <a:pt x="4534" y="854"/>
                  <a:pt x="4907" y="1681"/>
                  <a:pt x="4924" y="1635"/>
                </a:cubicBezTo>
                <a:cubicBezTo>
                  <a:pt x="5017" y="1755"/>
                  <a:pt x="5119" y="1892"/>
                  <a:pt x="5203" y="2003"/>
                </a:cubicBezTo>
                <a:lnTo>
                  <a:pt x="5028" y="2427"/>
                </a:lnTo>
                <a:lnTo>
                  <a:pt x="4572" y="2488"/>
                </a:lnTo>
                <a:cubicBezTo>
                  <a:pt x="4528" y="2432"/>
                  <a:pt x="4481" y="2370"/>
                  <a:pt x="4442" y="2319"/>
                </a:cubicBezTo>
                <a:cubicBezTo>
                  <a:pt x="4169" y="1982"/>
                  <a:pt x="3707" y="1300"/>
                  <a:pt x="2841" y="907"/>
                </a:cubicBezTo>
                <a:lnTo>
                  <a:pt x="2864" y="884"/>
                </a:lnTo>
                <a:lnTo>
                  <a:pt x="2839" y="904"/>
                </a:lnTo>
                <a:lnTo>
                  <a:pt x="2700" y="859"/>
                </a:lnTo>
                <a:close/>
              </a:path>
            </a:pathLst>
          </a:custGeom>
          <a:solidFill>
            <a:srgbClr val="1C4274"/>
          </a:solidFill>
          <a:ln w="9525" cap="flat">
            <a:noFill/>
            <a:prstDash val="solid"/>
            <a:miter/>
          </a:ln>
        </p:spPr>
        <p:txBody>
          <a:bodyPr wrap="square" rtlCol="0" anchor="ctr">
            <a:noAutofit/>
          </a:bodyPr>
          <a:lstStyle/>
          <a:p>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71" name="任意多边形: 形状 65"/>
          <p:cNvSpPr/>
          <p:nvPr/>
        </p:nvSpPr>
        <p:spPr>
          <a:xfrm>
            <a:off x="3610610" y="4011930"/>
            <a:ext cx="2395220" cy="1166495"/>
          </a:xfrm>
          <a:custGeom>
            <a:avLst/>
            <a:gdLst>
              <a:gd name="connsiteX0" fmla="*/ 1073468 w 1220152"/>
              <a:gd name="connsiteY0" fmla="*/ 849630 h 1022985"/>
              <a:gd name="connsiteX1" fmla="*/ 1220153 w 1220152"/>
              <a:gd name="connsiteY1" fmla="*/ 988695 h 1022985"/>
              <a:gd name="connsiteX2" fmla="*/ 978218 w 1220152"/>
              <a:gd name="connsiteY2" fmla="*/ 1022985 h 1022985"/>
              <a:gd name="connsiteX3" fmla="*/ 0 w 1220152"/>
              <a:gd name="connsiteY3" fmla="*/ 100013 h 1022985"/>
              <a:gd name="connsiteX4" fmla="*/ 173355 w 1220152"/>
              <a:gd name="connsiteY4" fmla="*/ 0 h 1022985"/>
              <a:gd name="connsiteX5" fmla="*/ 342900 w 1220152"/>
              <a:gd name="connsiteY5" fmla="*/ 97155 h 1022985"/>
              <a:gd name="connsiteX6" fmla="*/ 978218 w 1220152"/>
              <a:gd name="connsiteY6" fmla="*/ 680085 h 1022985"/>
              <a:gd name="connsiteX7" fmla="*/ 1117283 w 1220152"/>
              <a:gd name="connsiteY7" fmla="*/ 661035 h 1022985"/>
              <a:gd name="connsiteX8" fmla="*/ 1073468 w 1220152"/>
              <a:gd name="connsiteY8" fmla="*/ 849630 h 1022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48" h="2410">
                <a:moveTo>
                  <a:pt x="2554" y="2393"/>
                </a:moveTo>
                <a:cubicBezTo>
                  <a:pt x="2489" y="2402"/>
                  <a:pt x="2368" y="2410"/>
                  <a:pt x="2304" y="2409"/>
                </a:cubicBezTo>
                <a:cubicBezTo>
                  <a:pt x="1059" y="2447"/>
                  <a:pt x="34" y="1340"/>
                  <a:pt x="0" y="236"/>
                </a:cubicBezTo>
                <a:lnTo>
                  <a:pt x="408" y="0"/>
                </a:lnTo>
                <a:lnTo>
                  <a:pt x="808" y="229"/>
                </a:lnTo>
                <a:cubicBezTo>
                  <a:pt x="849" y="1011"/>
                  <a:pt x="1589" y="1620"/>
                  <a:pt x="2304" y="1602"/>
                </a:cubicBezTo>
                <a:cubicBezTo>
                  <a:pt x="2318" y="1602"/>
                  <a:pt x="2346" y="1601"/>
                  <a:pt x="2347" y="1601"/>
                </a:cubicBezTo>
                <a:lnTo>
                  <a:pt x="2347" y="1600"/>
                </a:lnTo>
                <a:cubicBezTo>
                  <a:pt x="2489" y="1593"/>
                  <a:pt x="2671" y="1553"/>
                  <a:pt x="2783" y="1510"/>
                </a:cubicBezTo>
                <a:lnTo>
                  <a:pt x="2783" y="1509"/>
                </a:lnTo>
                <a:cubicBezTo>
                  <a:pt x="2956" y="1442"/>
                  <a:pt x="2919" y="1447"/>
                  <a:pt x="2996" y="1409"/>
                </a:cubicBezTo>
                <a:lnTo>
                  <a:pt x="2997" y="1416"/>
                </a:lnTo>
                <a:cubicBezTo>
                  <a:pt x="3553" y="1154"/>
                  <a:pt x="4190" y="464"/>
                  <a:pt x="4446" y="109"/>
                </a:cubicBezTo>
                <a:cubicBezTo>
                  <a:pt x="4467" y="137"/>
                  <a:pt x="4493" y="171"/>
                  <a:pt x="4510" y="194"/>
                </a:cubicBezTo>
                <a:cubicBezTo>
                  <a:pt x="4531" y="221"/>
                  <a:pt x="4556" y="255"/>
                  <a:pt x="4573" y="277"/>
                </a:cubicBezTo>
                <a:cubicBezTo>
                  <a:pt x="4597" y="310"/>
                  <a:pt x="4626" y="348"/>
                  <a:pt x="4648" y="376"/>
                </a:cubicBezTo>
                <a:cubicBezTo>
                  <a:pt x="4655" y="385"/>
                  <a:pt x="4658" y="389"/>
                  <a:pt x="4668" y="402"/>
                </a:cubicBezTo>
                <a:cubicBezTo>
                  <a:pt x="4759" y="526"/>
                  <a:pt x="4862" y="661"/>
                  <a:pt x="4948" y="771"/>
                </a:cubicBezTo>
                <a:lnTo>
                  <a:pt x="4939" y="780"/>
                </a:lnTo>
                <a:cubicBezTo>
                  <a:pt x="4606" y="1213"/>
                  <a:pt x="3902" y="1899"/>
                  <a:pt x="3262" y="2179"/>
                </a:cubicBezTo>
                <a:lnTo>
                  <a:pt x="3265" y="2181"/>
                </a:lnTo>
                <a:cubicBezTo>
                  <a:pt x="2845" y="2379"/>
                  <a:pt x="2582" y="2390"/>
                  <a:pt x="2554" y="2395"/>
                </a:cubicBezTo>
                <a:lnTo>
                  <a:pt x="2554" y="2393"/>
                </a:lnTo>
                <a:close/>
              </a:path>
            </a:pathLst>
          </a:custGeom>
          <a:solidFill>
            <a:srgbClr val="1C4274">
              <a:lumMod val="60000"/>
              <a:lumOff val="40000"/>
            </a:srgbClr>
          </a:solidFill>
          <a:ln w="9525" cap="flat">
            <a:noFill/>
            <a:prstDash val="solid"/>
            <a:miter/>
          </a:ln>
        </p:spPr>
        <p:txBody>
          <a:bodyPr wrap="square" rtlCol="0" anchor="ctr">
            <a:noAutofit/>
          </a:bodyPr>
          <a:lstStyle/>
          <a:p>
            <a:endParaRPr lang="en-US" sz="2000">
              <a:latin typeface="微软雅黑" panose="020B0503020204020204" charset="-122"/>
              <a:ea typeface="微软雅黑" panose="020B0503020204020204" charset="-122"/>
              <a:cs typeface="微软雅黑" panose="020B0503020204020204" charset="-122"/>
            </a:endParaRPr>
          </a:p>
        </p:txBody>
      </p:sp>
      <p:sp>
        <p:nvSpPr>
          <p:cNvPr id="78" name="文本框 77"/>
          <p:cNvSpPr txBox="1"/>
          <p:nvPr/>
        </p:nvSpPr>
        <p:spPr>
          <a:xfrm>
            <a:off x="6209030" y="3173730"/>
            <a:ext cx="2220595" cy="2220595"/>
          </a:xfrm>
          <a:prstGeom prst="rect">
            <a:avLst/>
          </a:prstGeom>
          <a:noFill/>
        </p:spPr>
        <p:txBody>
          <a:bodyPr wrap="squar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整合：全域数据资产化与智能中台</a:t>
            </a:r>
            <a:endPar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7" name="文本框 76"/>
          <p:cNvSpPr txBox="1"/>
          <p:nvPr/>
        </p:nvSpPr>
        <p:spPr>
          <a:xfrm rot="600000">
            <a:off x="3634105" y="3187065"/>
            <a:ext cx="2220595" cy="2220595"/>
          </a:xfrm>
          <a:prstGeom prst="rect">
            <a:avLst/>
          </a:prstGeom>
          <a:noFill/>
        </p:spPr>
        <p:txBody>
          <a:bodyPr wrap="squar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启动：系统化工具基础构建</a:t>
            </a:r>
            <a:endPar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9" name="文本框 78"/>
          <p:cNvSpPr txBox="1"/>
          <p:nvPr/>
        </p:nvSpPr>
        <p:spPr>
          <a:xfrm rot="21240000">
            <a:off x="3614420" y="2780665"/>
            <a:ext cx="2159000" cy="2159000"/>
          </a:xfrm>
          <a:prstGeom prst="rect">
            <a:avLst/>
          </a:prstGeom>
          <a:noFill/>
        </p:spPr>
        <p:txBody>
          <a:bodyPr wrap="square">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升级：数据驱动的全域增长</a:t>
            </a:r>
            <a:endParaRPr kumimoji="0" lang="zh-CN"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6" name="文本框 85"/>
          <p:cNvSpPr txBox="1"/>
          <p:nvPr/>
        </p:nvSpPr>
        <p:spPr>
          <a:xfrm rot="21360000">
            <a:off x="6177280" y="2766060"/>
            <a:ext cx="2159000" cy="2159000"/>
          </a:xfrm>
          <a:prstGeom prst="rect">
            <a:avLst/>
          </a:prstGeom>
          <a:noFill/>
        </p:spPr>
        <p:txBody>
          <a:bodyPr wrap="square">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深化：全域融合与体验升级</a:t>
            </a:r>
            <a:endParaRPr kumimoji="0" lang="zh-CN" altLang="en-US" sz="2000" b="0" i="0" u="none" strike="noStrike" kern="1200" cap="none"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 name="文本框 9"/>
          <p:cNvSpPr txBox="1"/>
          <p:nvPr/>
        </p:nvSpPr>
        <p:spPr>
          <a:xfrm>
            <a:off x="3228340" y="1597660"/>
            <a:ext cx="5621655" cy="475615"/>
          </a:xfrm>
          <a:prstGeom prst="rect">
            <a:avLst/>
          </a:prstGeom>
          <a:noFill/>
        </p:spPr>
        <p:txBody>
          <a:bodyPr wrap="square" rtlCol="0">
            <a:spAutoFit/>
          </a:bodyPr>
          <a:lstStyle/>
          <a:p>
            <a:pPr algn="ctr"/>
            <a:r>
              <a:rPr lang="zh-CN" altLang="en-US" sz="2500" b="1">
                <a:solidFill>
                  <a:srgbClr val="C00000"/>
                </a:solidFill>
                <a:latin typeface="微软雅黑" panose="020B0503020204020204" charset="-122"/>
                <a:ea typeface="微软雅黑" panose="020B0503020204020204" charset="-122"/>
                <a:cs typeface="微软雅黑" panose="020B0503020204020204" charset="-122"/>
              </a:rPr>
              <a:t>配色⑧：</a:t>
            </a:r>
            <a:r>
              <a:rPr lang="zh-CN" sz="2500" b="1">
                <a:solidFill>
                  <a:srgbClr val="C00000"/>
                </a:solidFill>
                <a:latin typeface="微软雅黑" panose="020B0503020204020204" charset="-122"/>
                <a:ea typeface="微软雅黑" panose="020B0503020204020204" charset="-122"/>
                <a:cs typeface="微软雅黑" panose="020B0503020204020204" charset="-122"/>
              </a:rPr>
              <a:t>商务纯蓝色</a:t>
            </a:r>
            <a:endParaRPr lang="zh-CN" sz="2500" b="1">
              <a:solidFill>
                <a:srgbClr val="C00000"/>
              </a:solidFill>
              <a:latin typeface="微软雅黑" panose="020B0503020204020204" charset="-122"/>
              <a:ea typeface="微软雅黑" panose="020B0503020204020204" charset="-122"/>
              <a:cs typeface="微软雅黑" panose="020B0503020204020204" charset="-122"/>
            </a:endParaRPr>
          </a:p>
        </p:txBody>
      </p:sp>
      <p:sp>
        <p:nvSpPr>
          <p:cNvPr id="11" name="任意多边形 10"/>
          <p:cNvSpPr/>
          <p:nvPr/>
        </p:nvSpPr>
        <p:spPr>
          <a:xfrm>
            <a:off x="2637155" y="2799080"/>
            <a:ext cx="3343910" cy="3589020"/>
          </a:xfrm>
          <a:custGeom>
            <a:avLst/>
            <a:gdLst>
              <a:gd name="adj" fmla="val 650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520" h="9467">
                <a:moveTo>
                  <a:pt x="0" y="616"/>
                </a:moveTo>
                <a:cubicBezTo>
                  <a:pt x="-11" y="270"/>
                  <a:pt x="306" y="-8"/>
                  <a:pt x="616" y="0"/>
                </a:cubicBezTo>
                <a:lnTo>
                  <a:pt x="8520" y="0"/>
                </a:lnTo>
                <a:lnTo>
                  <a:pt x="8520" y="9467"/>
                </a:lnTo>
                <a:lnTo>
                  <a:pt x="616" y="9467"/>
                </a:lnTo>
                <a:cubicBezTo>
                  <a:pt x="270" y="9478"/>
                  <a:pt x="-8" y="9161"/>
                  <a:pt x="0" y="8851"/>
                </a:cubicBezTo>
                <a:lnTo>
                  <a:pt x="0" y="616"/>
                </a:lnTo>
                <a:close/>
              </a:path>
            </a:pathLst>
          </a:custGeom>
          <a:solidFill>
            <a:schemeClr val="accent1"/>
          </a:solidFill>
          <a:ln w="762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4" name="任意多边形 13"/>
          <p:cNvSpPr/>
          <p:nvPr/>
        </p:nvSpPr>
        <p:spPr>
          <a:xfrm flipH="1">
            <a:off x="5980430" y="2799080"/>
            <a:ext cx="3370580" cy="3589020"/>
          </a:xfrm>
          <a:custGeom>
            <a:avLst/>
            <a:gdLst>
              <a:gd name="adj" fmla="val 6506"/>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520" h="9467">
                <a:moveTo>
                  <a:pt x="0" y="616"/>
                </a:moveTo>
                <a:cubicBezTo>
                  <a:pt x="-11" y="270"/>
                  <a:pt x="306" y="-8"/>
                  <a:pt x="616" y="0"/>
                </a:cubicBezTo>
                <a:lnTo>
                  <a:pt x="8520" y="0"/>
                </a:lnTo>
                <a:lnTo>
                  <a:pt x="8520" y="9467"/>
                </a:lnTo>
                <a:lnTo>
                  <a:pt x="616" y="9467"/>
                </a:lnTo>
                <a:cubicBezTo>
                  <a:pt x="270" y="9478"/>
                  <a:pt x="-8" y="9161"/>
                  <a:pt x="0" y="8851"/>
                </a:cubicBezTo>
                <a:lnTo>
                  <a:pt x="0" y="616"/>
                </a:lnTo>
                <a:close/>
              </a:path>
            </a:pathLst>
          </a:custGeom>
          <a:solidFill>
            <a:schemeClr val="accent1">
              <a:lumMod val="60000"/>
              <a:lumOff val="40000"/>
            </a:schemeClr>
          </a:solidFill>
          <a:ln w="762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5" name="十二边形 14"/>
          <p:cNvSpPr/>
          <p:nvPr/>
        </p:nvSpPr>
        <p:spPr>
          <a:xfrm>
            <a:off x="5173345" y="3685540"/>
            <a:ext cx="1684020" cy="1684020"/>
          </a:xfrm>
          <a:prstGeom prst="dodecagon">
            <a:avLst/>
          </a:prstGeom>
          <a:solidFill>
            <a:schemeClr val="accent4"/>
          </a:solidFill>
          <a:ln w="762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sz="2000">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3227705" y="4276725"/>
            <a:ext cx="1700530" cy="706755"/>
          </a:xfrm>
          <a:prstGeom prst="rect">
            <a:avLst/>
          </a:prstGeom>
          <a:noFill/>
        </p:spPr>
        <p:txBody>
          <a:bodyPr wrap="square" rtlCol="0">
            <a:spAutoFit/>
          </a:bodyPr>
          <a:lstStyle/>
          <a:p>
            <a:pPr algn="ctr"/>
            <a:r>
              <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rPr>
              <a:t>深海蓝</a:t>
            </a:r>
            <a:r>
              <a:rPr lang="en-US" altLang="zh-CN" sz="2000">
                <a:solidFill>
                  <a:srgbClr val="FFFFFF"/>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bg1"/>
                </a:solidFill>
                <a:latin typeface="微软雅黑" panose="020B0503020204020204" charset="-122"/>
                <a:ea typeface="微软雅黑" panose="020B0503020204020204" charset="-122"/>
                <a:cs typeface="微软雅黑" panose="020B0503020204020204" charset="-122"/>
              </a:rPr>
              <a:t>1C4274</a:t>
            </a:r>
            <a:endParaRPr lang="en-US" altLang="zh-CN" sz="2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7" name="文本框 16"/>
          <p:cNvSpPr txBox="1"/>
          <p:nvPr/>
        </p:nvSpPr>
        <p:spPr>
          <a:xfrm>
            <a:off x="7047230" y="4276725"/>
            <a:ext cx="1833245" cy="706755"/>
          </a:xfrm>
          <a:prstGeom prst="rect">
            <a:avLst/>
          </a:prstGeom>
          <a:noFill/>
        </p:spPr>
        <p:txBody>
          <a:bodyPr wrap="square" rtlCol="0">
            <a:spAutoFit/>
          </a:bodyPr>
          <a:lstStyle/>
          <a:p>
            <a:pPr lvl="0" algn="ctr">
              <a:buClrTx/>
              <a:buSzTx/>
              <a:buFontTx/>
            </a:pPr>
            <a:r>
              <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rPr>
              <a:t>亮蓝色</a:t>
            </a:r>
            <a:endPar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2000">
                <a:solidFill>
                  <a:srgbClr val="FFFFFF"/>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rPr>
              <a:t>4E88D4</a:t>
            </a:r>
            <a:endPar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8" name="文本框 17"/>
          <p:cNvSpPr txBox="1"/>
          <p:nvPr/>
        </p:nvSpPr>
        <p:spPr>
          <a:xfrm>
            <a:off x="5258118" y="4174173"/>
            <a:ext cx="1514475" cy="706755"/>
          </a:xfrm>
          <a:prstGeom prst="rect">
            <a:avLst/>
          </a:prstGeom>
          <a:noFill/>
        </p:spPr>
        <p:txBody>
          <a:bodyPr wrap="square" rtlCol="0">
            <a:spAutoFit/>
          </a:bodyPr>
          <a:lstStyle/>
          <a:p>
            <a:pPr lvl="0" algn="ctr">
              <a:buClrTx/>
              <a:buSzTx/>
              <a:buFontTx/>
            </a:pPr>
            <a:r>
              <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rPr>
              <a:t>钢灰色</a:t>
            </a:r>
            <a:endParaRPr lang="zh-CN" altLang="en-US" sz="2000" b="1">
              <a:solidFill>
                <a:srgbClr val="FFFFFF"/>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2000">
                <a:solidFill>
                  <a:srgbClr val="FFFFFF"/>
                </a:solidFill>
                <a:latin typeface="微软雅黑" panose="020B0503020204020204" charset="-122"/>
                <a:ea typeface="微软雅黑" panose="020B0503020204020204" charset="-122"/>
                <a:cs typeface="微软雅黑" panose="020B0503020204020204" charset="-122"/>
                <a:sym typeface="+mn-ea"/>
              </a:rPr>
              <a:t>#</a:t>
            </a:r>
            <a:r>
              <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rPr>
              <a:t>A5A5A5</a:t>
            </a:r>
            <a:endParaRPr lang="en-US" altLang="zh-CN" sz="20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288" name="文本框 287"/>
          <p:cNvSpPr txBox="1"/>
          <p:nvPr/>
        </p:nvSpPr>
        <p:spPr>
          <a:xfrm>
            <a:off x="3429953" y="2145030"/>
            <a:ext cx="5218430" cy="475615"/>
          </a:xfrm>
          <a:prstGeom prst="rect">
            <a:avLst/>
          </a:prstGeom>
          <a:noFill/>
        </p:spPr>
        <p:txBody>
          <a:bodyPr wrap="square" rtlCol="0">
            <a:spAutoFit/>
          </a:bodyPr>
          <a:lstStyle/>
          <a:p>
            <a:pPr lvl="0" algn="ctr">
              <a:buClrTx/>
              <a:buSzTx/>
              <a:buFontTx/>
            </a:pPr>
            <a:r>
              <a:rPr 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rPr>
              <a:t>钛青浮幕影，钢灰溯光澜</a:t>
            </a:r>
            <a:r>
              <a:rPr 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rPr>
              <a:t>！”</a:t>
            </a:r>
            <a:endParaRPr lang="en-US" sz="2500" spc="-150" noProof="0" dirty="0">
              <a:ln>
                <a:noFill/>
              </a:ln>
              <a:solidFill>
                <a:schemeClr val="accent6"/>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91" name="文本框 290"/>
          <p:cNvSpPr txBox="1"/>
          <p:nvPr/>
        </p:nvSpPr>
        <p:spPr>
          <a:xfrm>
            <a:off x="2945130" y="3068320"/>
            <a:ext cx="1464310" cy="398780"/>
          </a:xfrm>
          <a:prstGeom prst="rect">
            <a:avLst/>
          </a:prstGeom>
          <a:noFill/>
        </p:spPr>
        <p:txBody>
          <a:bodyPr wrap="square" rtlCol="0">
            <a:spAutoFit/>
          </a:bodyPr>
          <a:lstStyle/>
          <a:p>
            <a:pPr lvl="0" algn="ctr">
              <a:buClrTx/>
              <a:buSzTx/>
              <a:buFontTx/>
            </a:pPr>
            <a:r>
              <a:rPr lang="zh-CN" altLang="en-US" sz="2000" b="1" spc="-150" noProof="0" dirty="0">
                <a:ln w="4762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配色⑦</a:t>
            </a:r>
            <a:endParaRPr lang="en-US" altLang="zh-CN" sz="2000" b="1" spc="-150" noProof="0" dirty="0">
              <a:ln w="47625">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endParaRPr>
          </a:p>
        </p:txBody>
      </p:sp>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1476693" y="914400"/>
            <a:ext cx="9086215" cy="231775"/>
          </a:xfrm>
          <a:prstGeom prst="rect">
            <a:avLst/>
          </a:prstGeom>
          <a:solidFill>
            <a:schemeClr val="accent1">
              <a:lumMod val="20000"/>
              <a:lumOff val="80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74" name="文本框 73"/>
          <p:cNvSpPr txBox="1"/>
          <p:nvPr>
            <p:custDataLst>
              <p:tags r:id="rId1"/>
            </p:custDataLst>
          </p:nvPr>
        </p:nvSpPr>
        <p:spPr>
          <a:xfrm>
            <a:off x="1544955" y="1263015"/>
            <a:ext cx="9367520" cy="347345"/>
          </a:xfrm>
          <a:prstGeom prst="rect">
            <a:avLst/>
          </a:prstGeom>
          <a:noFill/>
        </p:spPr>
        <p:txBody>
          <a:bodyPr wrap="square" rtlCol="0">
            <a:noAutofit/>
          </a:bodyPr>
          <a:lstStyle/>
          <a:p>
            <a:pPr algn="ctr">
              <a:lnSpc>
                <a:spcPct val="100000"/>
              </a:lnSpc>
            </a:pPr>
            <a:r>
              <a:rPr lang="zh-CN" altLang="en-US">
                <a:solidFill>
                  <a:schemeClr val="tx2"/>
                </a:solidFill>
                <a:latin typeface="微软雅黑" panose="020B0503020204020204" charset="-122"/>
                <a:ea typeface="微软雅黑" panose="020B0503020204020204" charset="-122"/>
                <a:cs typeface="微软雅黑" panose="020B0503020204020204" charset="-122"/>
              </a:rPr>
              <a:t>本作品系开悟思维原创作品，已获国家版权局作品登记证书，仅供个人学习使用！</a:t>
            </a:r>
            <a:endParaRPr lang="zh-CN"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custDataLst>
              <p:tags r:id="rId2"/>
            </p:custDataLst>
          </p:nvPr>
        </p:nvSpPr>
        <p:spPr>
          <a:xfrm flipH="1">
            <a:off x="3674110" y="530860"/>
            <a:ext cx="4691380" cy="491490"/>
          </a:xfrm>
          <a:prstGeom prst="rect">
            <a:avLst/>
          </a:prstGeom>
          <a:noFill/>
        </p:spPr>
        <p:txBody>
          <a:bodyPr wrap="square" rtlCol="0">
            <a:noAutofit/>
          </a:bodyPr>
          <a:lstStyle/>
          <a:p>
            <a:pPr algn="ctr"/>
            <a:r>
              <a:rPr lang="zh-CN" altLang="en-US" sz="3200" b="1">
                <a:solidFill>
                  <a:schemeClr val="accent1"/>
                </a:solidFill>
                <a:latin typeface="微软雅黑" panose="020B0503020204020204" charset="-122"/>
                <a:ea typeface="微软雅黑" panose="020B0503020204020204" charset="-122"/>
                <a:cs typeface="微软雅黑" panose="020B0503020204020204" charset="-122"/>
              </a:rPr>
              <a:t>原创版权保护</a:t>
            </a:r>
            <a:r>
              <a:rPr lang="en-US" altLang="zh-CN" sz="3200" b="1">
                <a:solidFill>
                  <a:schemeClr val="accent1"/>
                </a:solidFill>
                <a:latin typeface="微软雅黑" panose="020B0503020204020204" charset="-122"/>
                <a:ea typeface="微软雅黑" panose="020B0503020204020204" charset="-122"/>
                <a:cs typeface="微软雅黑" panose="020B0503020204020204" charset="-122"/>
              </a:rPr>
              <a:t> </a:t>
            </a:r>
            <a:r>
              <a:rPr lang="zh-CN" altLang="en-US" sz="3200" b="1">
                <a:solidFill>
                  <a:schemeClr val="accent1"/>
                </a:solidFill>
                <a:latin typeface="微软雅黑" panose="020B0503020204020204" charset="-122"/>
                <a:ea typeface="微软雅黑" panose="020B0503020204020204" charset="-122"/>
                <a:cs typeface="微软雅黑" panose="020B0503020204020204" charset="-122"/>
              </a:rPr>
              <a:t>侵权必究</a:t>
            </a:r>
            <a:endParaRPr lang="zh-CN" altLang="en-US" sz="3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3"/>
            </p:custDataLst>
          </p:nvPr>
        </p:nvSpPr>
        <p:spPr>
          <a:xfrm flipH="1">
            <a:off x="9965690" y="-13970"/>
            <a:ext cx="2244725" cy="848995"/>
          </a:xfrm>
          <a:custGeom>
            <a:avLst/>
            <a:gdLst/>
            <a:ahLst/>
            <a:cxnLst>
              <a:cxn ang="3">
                <a:pos x="hc" y="t"/>
              </a:cxn>
              <a:cxn ang="cd2">
                <a:pos x="l" y="vc"/>
              </a:cxn>
              <a:cxn ang="cd4">
                <a:pos x="hc" y="b"/>
              </a:cxn>
              <a:cxn ang="0">
                <a:pos x="r" y="vc"/>
              </a:cxn>
            </a:cxnLst>
            <a:rect l="l" t="t" r="r" b="b"/>
            <a:pathLst>
              <a:path w="3549" h="1050">
                <a:moveTo>
                  <a:pt x="0" y="0"/>
                </a:moveTo>
                <a:lnTo>
                  <a:pt x="3549" y="0"/>
                </a:lnTo>
                <a:lnTo>
                  <a:pt x="1628" y="937"/>
                </a:lnTo>
                <a:cubicBezTo>
                  <a:pt x="1076" y="1207"/>
                  <a:pt x="410" y="977"/>
                  <a:pt x="141" y="425"/>
                </a:cubicBezTo>
                <a:lnTo>
                  <a:pt x="0" y="137"/>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userDrawn="1"/>
        </p:nvPicPr>
        <p:blipFill>
          <a:blip r:embed="rId4"/>
          <a:srcRect r="58023" b="-8235"/>
          <a:stretch>
            <a:fillRect/>
          </a:stretch>
        </p:blipFill>
        <p:spPr>
          <a:xfrm>
            <a:off x="10253980" y="147320"/>
            <a:ext cx="1591310" cy="350520"/>
          </a:xfrm>
          <a:prstGeom prst="rect">
            <a:avLst/>
          </a:prstGeom>
        </p:spPr>
      </p:pic>
      <p:pic>
        <p:nvPicPr>
          <p:cNvPr id="3" name="图片 2"/>
          <p:cNvPicPr>
            <a:picLocks noChangeAspect="1"/>
          </p:cNvPicPr>
          <p:nvPr/>
        </p:nvPicPr>
        <p:blipFill>
          <a:blip r:embed="rId5"/>
          <a:stretch>
            <a:fillRect/>
          </a:stretch>
        </p:blipFill>
        <p:spPr>
          <a:xfrm>
            <a:off x="2948940" y="1851025"/>
            <a:ext cx="6596380" cy="468820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 name="矩形 68"/>
          <p:cNvSpPr/>
          <p:nvPr/>
        </p:nvSpPr>
        <p:spPr>
          <a:xfrm>
            <a:off x="1476693" y="914400"/>
            <a:ext cx="9086215" cy="231775"/>
          </a:xfrm>
          <a:prstGeom prst="rect">
            <a:avLst/>
          </a:prstGeom>
          <a:solidFill>
            <a:schemeClr val="accent1">
              <a:lumMod val="20000"/>
              <a:lumOff val="80000"/>
            </a:schemeClr>
          </a:solidFill>
          <a:ln>
            <a:solidFill>
              <a:srgbClr val="000000">
                <a:alpha val="0"/>
              </a:srgb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74" name="文本框 73"/>
          <p:cNvSpPr txBox="1"/>
          <p:nvPr>
            <p:custDataLst>
              <p:tags r:id="rId1"/>
            </p:custDataLst>
          </p:nvPr>
        </p:nvSpPr>
        <p:spPr>
          <a:xfrm>
            <a:off x="1544955" y="1263015"/>
            <a:ext cx="9367520" cy="347345"/>
          </a:xfrm>
          <a:prstGeom prst="rect">
            <a:avLst/>
          </a:prstGeom>
          <a:noFill/>
        </p:spPr>
        <p:txBody>
          <a:bodyPr wrap="square" rtlCol="0">
            <a:noAutofit/>
          </a:bodyPr>
          <a:lstStyle/>
          <a:p>
            <a:pPr algn="ctr">
              <a:lnSpc>
                <a:spcPct val="100000"/>
              </a:lnSpc>
            </a:pPr>
            <a:r>
              <a:rPr lang="en-US" altLang="en-US">
                <a:solidFill>
                  <a:schemeClr val="tx2"/>
                </a:solidFill>
                <a:latin typeface="微软雅黑" panose="020B0503020204020204" charset="-122"/>
                <a:ea typeface="微软雅黑" panose="020B0503020204020204" charset="-122"/>
                <a:cs typeface="微软雅黑" panose="020B0503020204020204" charset="-122"/>
              </a:rPr>
              <a:t>↓</a:t>
            </a:r>
            <a:r>
              <a:rPr lang="zh-CN" altLang="en-US">
                <a:solidFill>
                  <a:schemeClr val="tx2"/>
                </a:solidFill>
                <a:latin typeface="微软雅黑" panose="020B0503020204020204" charset="-122"/>
                <a:ea typeface="微软雅黑" panose="020B0503020204020204" charset="-122"/>
                <a:cs typeface="微软雅黑" panose="020B0503020204020204" charset="-122"/>
              </a:rPr>
              <a:t>欢迎关注微信号，或小红书账号</a:t>
            </a:r>
            <a:r>
              <a:rPr lang="en-US" altLang="zh-CN">
                <a:solidFill>
                  <a:schemeClr val="tx2"/>
                </a:solidFill>
                <a:latin typeface="微软雅黑" panose="020B0503020204020204" charset="-122"/>
                <a:ea typeface="微软雅黑" panose="020B0503020204020204" charset="-122"/>
                <a:cs typeface="微软雅黑" panose="020B0503020204020204" charset="-122"/>
              </a:rPr>
              <a:t>“</a:t>
            </a:r>
            <a:r>
              <a:rPr lang="zh-CN" altLang="en-US">
                <a:solidFill>
                  <a:schemeClr val="tx2"/>
                </a:solidFill>
                <a:latin typeface="微软雅黑" panose="020B0503020204020204" charset="-122"/>
                <a:ea typeface="微软雅黑" panose="020B0503020204020204" charset="-122"/>
                <a:cs typeface="微软雅黑" panose="020B0503020204020204" charset="-122"/>
              </a:rPr>
              <a:t>开悟思维锦囊</a:t>
            </a:r>
            <a:r>
              <a:rPr lang="en-US" altLang="zh-CN">
                <a:solidFill>
                  <a:schemeClr val="tx2"/>
                </a:solidFill>
                <a:latin typeface="微软雅黑" panose="020B0503020204020204" charset="-122"/>
                <a:ea typeface="微软雅黑" panose="020B0503020204020204" charset="-122"/>
                <a:cs typeface="微软雅黑" panose="020B0503020204020204" charset="-122"/>
              </a:rPr>
              <a:t>”</a:t>
            </a:r>
            <a:r>
              <a:rPr lang="en-US" altLang="en-US">
                <a:solidFill>
                  <a:schemeClr val="tx2"/>
                </a:solidFill>
                <a:latin typeface="微软雅黑" panose="020B0503020204020204" charset="-122"/>
                <a:ea typeface="微软雅黑" panose="020B0503020204020204" charset="-122"/>
                <a:cs typeface="微软雅黑" panose="020B0503020204020204" charset="-122"/>
              </a:rPr>
              <a:t>↓</a:t>
            </a:r>
            <a:endParaRPr lang="en-US" altLang="en-US">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custDataLst>
              <p:tags r:id="rId2"/>
            </p:custDataLst>
          </p:nvPr>
        </p:nvSpPr>
        <p:spPr>
          <a:xfrm flipH="1">
            <a:off x="2905125" y="530860"/>
            <a:ext cx="5909310" cy="491490"/>
          </a:xfrm>
          <a:prstGeom prst="rect">
            <a:avLst/>
          </a:prstGeom>
          <a:noFill/>
        </p:spPr>
        <p:txBody>
          <a:bodyPr wrap="square" rtlCol="0">
            <a:noAutofit/>
          </a:bodyPr>
          <a:lstStyle/>
          <a:p>
            <a:pPr algn="ctr"/>
            <a:r>
              <a:rPr lang="en-US" sz="3200" b="1">
                <a:solidFill>
                  <a:schemeClr val="accent1"/>
                </a:solidFill>
                <a:latin typeface="微软雅黑" panose="020B0503020204020204" charset="-122"/>
                <a:ea typeface="微软雅黑" panose="020B0503020204020204" charset="-122"/>
                <a:cs typeface="微软雅黑" panose="020B0503020204020204" charset="-122"/>
              </a:rPr>
              <a:t>PPT</a:t>
            </a:r>
            <a:r>
              <a:rPr lang="zh-CN" altLang="en-US" sz="3200" b="1">
                <a:solidFill>
                  <a:schemeClr val="accent1"/>
                </a:solidFill>
                <a:latin typeface="微软雅黑" panose="020B0503020204020204" charset="-122"/>
                <a:ea typeface="微软雅黑" panose="020B0503020204020204" charset="-122"/>
                <a:cs typeface="微软雅黑" panose="020B0503020204020204" charset="-122"/>
              </a:rPr>
              <a:t>模板使用过程中有任何问题</a:t>
            </a:r>
            <a:endParaRPr lang="zh-CN" altLang="en-US" sz="3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0" name="任意多边形 29"/>
          <p:cNvSpPr/>
          <p:nvPr>
            <p:custDataLst>
              <p:tags r:id="rId3"/>
            </p:custDataLst>
          </p:nvPr>
        </p:nvSpPr>
        <p:spPr>
          <a:xfrm flipH="1">
            <a:off x="9965690" y="-13970"/>
            <a:ext cx="2244725" cy="848995"/>
          </a:xfrm>
          <a:custGeom>
            <a:avLst/>
            <a:gdLst/>
            <a:ahLst/>
            <a:cxnLst>
              <a:cxn ang="3">
                <a:pos x="hc" y="t"/>
              </a:cxn>
              <a:cxn ang="cd2">
                <a:pos x="l" y="vc"/>
              </a:cxn>
              <a:cxn ang="cd4">
                <a:pos x="hc" y="b"/>
              </a:cxn>
              <a:cxn ang="0">
                <a:pos x="r" y="vc"/>
              </a:cxn>
            </a:cxnLst>
            <a:rect l="l" t="t" r="r" b="b"/>
            <a:pathLst>
              <a:path w="3549" h="1050">
                <a:moveTo>
                  <a:pt x="0" y="0"/>
                </a:moveTo>
                <a:lnTo>
                  <a:pt x="3549" y="0"/>
                </a:lnTo>
                <a:lnTo>
                  <a:pt x="1628" y="937"/>
                </a:lnTo>
                <a:cubicBezTo>
                  <a:pt x="1076" y="1207"/>
                  <a:pt x="410" y="977"/>
                  <a:pt x="141" y="425"/>
                </a:cubicBezTo>
                <a:lnTo>
                  <a:pt x="0" y="137"/>
                </a:lnTo>
                <a:lnTo>
                  <a:pt x="0"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pic>
        <p:nvPicPr>
          <p:cNvPr id="31" name="图片 30"/>
          <p:cNvPicPr>
            <a:picLocks noChangeAspect="1"/>
          </p:cNvPicPr>
          <p:nvPr userDrawn="1"/>
        </p:nvPicPr>
        <p:blipFill>
          <a:blip r:embed="rId4"/>
          <a:srcRect r="58023" b="-8235"/>
          <a:stretch>
            <a:fillRect/>
          </a:stretch>
        </p:blipFill>
        <p:spPr>
          <a:xfrm>
            <a:off x="10253980" y="147320"/>
            <a:ext cx="1591310" cy="350520"/>
          </a:xfrm>
          <a:prstGeom prst="rect">
            <a:avLst/>
          </a:prstGeom>
        </p:spPr>
      </p:pic>
      <p:pic>
        <p:nvPicPr>
          <p:cNvPr id="3" name="图片 2"/>
          <p:cNvPicPr>
            <a:picLocks noChangeAspect="1"/>
          </p:cNvPicPr>
          <p:nvPr/>
        </p:nvPicPr>
        <p:blipFill>
          <a:blip r:embed="rId5"/>
          <a:srcRect l="851" t="-77" r="464" b="1258"/>
          <a:stretch>
            <a:fillRect/>
          </a:stretch>
        </p:blipFill>
        <p:spPr>
          <a:xfrm>
            <a:off x="2287905" y="2447925"/>
            <a:ext cx="3238500" cy="3242945"/>
          </a:xfrm>
          <a:prstGeom prst="rect">
            <a:avLst/>
          </a:prstGeom>
        </p:spPr>
      </p:pic>
      <p:pic>
        <p:nvPicPr>
          <p:cNvPr id="4" name="图片 3"/>
          <p:cNvPicPr>
            <a:picLocks noChangeAspect="1"/>
          </p:cNvPicPr>
          <p:nvPr/>
        </p:nvPicPr>
        <p:blipFill>
          <a:blip r:embed="rId6"/>
          <a:stretch>
            <a:fillRect/>
          </a:stretch>
        </p:blipFill>
        <p:spPr>
          <a:xfrm>
            <a:off x="6543040" y="2495550"/>
            <a:ext cx="3206750" cy="3147695"/>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1500">
        <p:random/>
      </p:transition>
    </mc:Choice>
    <mc:Fallback>
      <p:transition spd="slow">
        <p:random/>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705"/>
            <a:ext cx="8968740" cy="475615"/>
          </a:xfrm>
          <a:prstGeom prst="rect">
            <a:avLst/>
          </a:prstGeom>
          <a:noFill/>
        </p:spPr>
        <p:txBody>
          <a:bodyPr wrap="square" rtlCol="0" anchor="ctr" anchorCtr="0">
            <a:spAutoFit/>
          </a:bodyPr>
          <a:lstStyle/>
          <a:p>
            <a:pPr fontAlgn="ctr">
              <a:lnSpc>
                <a:spcPct val="100000"/>
              </a:lnSpc>
            </a:pPr>
            <a:r>
              <a:rPr lang="zh-CN" altLang="en-US" sz="2500" b="1">
                <a:solidFill>
                  <a:schemeClr val="accent1"/>
                </a:solidFill>
                <a:latin typeface="微软雅黑" panose="020B0503020204020204" charset="-122"/>
                <a:ea typeface="微软雅黑" panose="020B0503020204020204" charset="-122"/>
                <a:cs typeface="微软雅黑" panose="020B0503020204020204" charset="-122"/>
                <a:sym typeface="+mn-ea"/>
              </a:rPr>
              <a:t>打开</a:t>
            </a:r>
            <a:r>
              <a:rPr lang="en-US" altLang="zh-CN" sz="2500" b="1">
                <a:solidFill>
                  <a:schemeClr val="accent1"/>
                </a:solidFill>
                <a:latin typeface="微软雅黑" panose="020B0503020204020204" charset="-122"/>
                <a:ea typeface="微软雅黑" panose="020B0503020204020204" charset="-122"/>
                <a:cs typeface="微软雅黑" panose="020B0503020204020204" charset="-122"/>
                <a:sym typeface="+mn-ea"/>
              </a:rPr>
              <a:t>PPT</a:t>
            </a:r>
            <a:r>
              <a:rPr lang="zh-CN" altLang="en-US" sz="2500" b="1">
                <a:solidFill>
                  <a:schemeClr val="accent1"/>
                </a:solidFill>
                <a:latin typeface="微软雅黑" panose="020B0503020204020204" charset="-122"/>
                <a:ea typeface="微软雅黑" panose="020B0503020204020204" charset="-122"/>
                <a:cs typeface="微软雅黑" panose="020B0503020204020204" charset="-122"/>
                <a:sym typeface="+mn-ea"/>
              </a:rPr>
              <a:t>前注意：</a:t>
            </a:r>
            <a:r>
              <a:rPr lang="zh-CN" sz="2500" b="1">
                <a:solidFill>
                  <a:schemeClr val="tx2"/>
                </a:solidFill>
                <a:latin typeface="微软雅黑" panose="020B0503020204020204" charset="-122"/>
                <a:ea typeface="微软雅黑" panose="020B0503020204020204" charset="-122"/>
                <a:cs typeface="微软雅黑" panose="020B0503020204020204" charset="-122"/>
                <a:sym typeface="+mn-ea"/>
              </a:rPr>
              <a:t>请先安装字体，找配套字体包一键安装</a:t>
            </a:r>
            <a:endParaRPr lang="zh-CN" sz="25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3" name="图片 2"/>
          <p:cNvPicPr>
            <a:picLocks noChangeAspect="1"/>
          </p:cNvPicPr>
          <p:nvPr/>
        </p:nvPicPr>
        <p:blipFill>
          <a:blip r:embed="rId1"/>
          <a:stretch>
            <a:fillRect/>
          </a:stretch>
        </p:blipFill>
        <p:spPr>
          <a:xfrm>
            <a:off x="1203960" y="1590040"/>
            <a:ext cx="3692525" cy="523240"/>
          </a:xfrm>
          <a:prstGeom prst="rect">
            <a:avLst/>
          </a:prstGeom>
        </p:spPr>
      </p:pic>
      <p:pic>
        <p:nvPicPr>
          <p:cNvPr id="10" name="图片 9"/>
          <p:cNvPicPr>
            <a:picLocks noChangeAspect="1"/>
          </p:cNvPicPr>
          <p:nvPr/>
        </p:nvPicPr>
        <p:blipFill>
          <a:blip r:embed="rId2"/>
          <a:stretch>
            <a:fillRect/>
          </a:stretch>
        </p:blipFill>
        <p:spPr>
          <a:xfrm>
            <a:off x="1623695" y="2281555"/>
            <a:ext cx="2853055" cy="3599180"/>
          </a:xfrm>
          <a:prstGeom prst="rect">
            <a:avLst/>
          </a:prstGeom>
        </p:spPr>
      </p:pic>
      <p:pic>
        <p:nvPicPr>
          <p:cNvPr id="11" name="图片 10"/>
          <p:cNvPicPr>
            <a:picLocks noChangeAspect="1"/>
          </p:cNvPicPr>
          <p:nvPr/>
        </p:nvPicPr>
        <p:blipFill>
          <a:blip r:embed="rId3"/>
          <a:stretch>
            <a:fillRect/>
          </a:stretch>
        </p:blipFill>
        <p:spPr>
          <a:xfrm>
            <a:off x="8045450" y="2205355"/>
            <a:ext cx="3407410" cy="3589020"/>
          </a:xfrm>
          <a:prstGeom prst="rect">
            <a:avLst/>
          </a:prstGeom>
        </p:spPr>
      </p:pic>
      <p:sp>
        <p:nvSpPr>
          <p:cNvPr id="12" name="圆角矩形 11"/>
          <p:cNvSpPr/>
          <p:nvPr>
            <p:custDataLst>
              <p:tags r:id="rId4"/>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13" name="圆角矩形 12"/>
          <p:cNvSpPr/>
          <p:nvPr>
            <p:custDataLst>
              <p:tags r:id="rId5"/>
            </p:custDataLst>
          </p:nvPr>
        </p:nvSpPr>
        <p:spPr>
          <a:xfrm>
            <a:off x="628332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14" name="图片 13"/>
          <p:cNvPicPr>
            <a:picLocks noChangeAspect="1"/>
          </p:cNvPicPr>
          <p:nvPr/>
        </p:nvPicPr>
        <p:blipFill>
          <a:blip r:embed="rId6"/>
          <a:srcRect l="-3033" t="15643" r="95" b="20269"/>
          <a:stretch>
            <a:fillRect/>
          </a:stretch>
        </p:blipFill>
        <p:spPr>
          <a:xfrm>
            <a:off x="7178675" y="1629410"/>
            <a:ext cx="3448050" cy="48387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388"/>
            <a:ext cx="7585710" cy="475615"/>
          </a:xfrm>
          <a:prstGeom prst="rect">
            <a:avLst/>
          </a:prstGeom>
          <a:noFill/>
        </p:spPr>
        <p:txBody>
          <a:bodyPr wrap="square" rtlCol="0" anchor="ctr" anchorCtr="0">
            <a:spAutoFit/>
          </a:bodyPr>
          <a:lstStyle/>
          <a:p>
            <a:pPr fontAlgn="ctr">
              <a:lnSpc>
                <a:spcPct val="100000"/>
              </a:lnSpc>
            </a:pPr>
            <a:r>
              <a:rPr lang="zh-CN" altLang="en-US" sz="2500" b="1" dirty="0">
                <a:solidFill>
                  <a:schemeClr val="accent1"/>
                </a:solidFill>
                <a:latin typeface="微软雅黑" panose="020B0503020204020204" charset="-122"/>
                <a:ea typeface="微软雅黑" panose="020B0503020204020204" charset="-122"/>
                <a:cs typeface="微软雅黑" panose="020B0503020204020204" charset="-122"/>
                <a:sym typeface="+mn-ea"/>
              </a:rPr>
              <a:t>使用模板时：</a:t>
            </a:r>
            <a:r>
              <a:rPr lang="zh-CN" sz="2500" b="1" dirty="0">
                <a:solidFill>
                  <a:schemeClr val="tx2"/>
                </a:solidFill>
                <a:latin typeface="微软雅黑" panose="020B0503020204020204" charset="-122"/>
                <a:ea typeface="微软雅黑" panose="020B0503020204020204" charset="-122"/>
                <a:cs typeface="微软雅黑" panose="020B0503020204020204" charset="-122"/>
                <a:sym typeface="+mn-ea"/>
              </a:rPr>
              <a:t>复制到自己</a:t>
            </a:r>
            <a:r>
              <a:rPr lang="en-US" altLang="zh-CN" sz="2500" b="1" dirty="0">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2500" b="1" dirty="0">
                <a:solidFill>
                  <a:schemeClr val="tx2"/>
                </a:solidFill>
                <a:latin typeface="微软雅黑" panose="020B0503020204020204" charset="-122"/>
                <a:ea typeface="微软雅黑" panose="020B0503020204020204" charset="-122"/>
                <a:cs typeface="微软雅黑" panose="020B0503020204020204" charset="-122"/>
                <a:sym typeface="+mn-ea"/>
              </a:rPr>
              <a:t>颜色变了怎么办？</a:t>
            </a:r>
            <a:endParaRPr lang="zh-CN" altLang="en-US" sz="2500" b="1"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圆角矩形 31"/>
          <p:cNvSpPr/>
          <p:nvPr>
            <p:custDataLst>
              <p:tags r:id="rId1"/>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4" name="文本框 33"/>
          <p:cNvSpPr txBox="1"/>
          <p:nvPr>
            <p:custDataLst>
              <p:tags r:id="rId2"/>
            </p:custDataLst>
          </p:nvPr>
        </p:nvSpPr>
        <p:spPr>
          <a:xfrm>
            <a:off x="520065" y="1809750"/>
            <a:ext cx="5454650" cy="58356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复制</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模板页面（也可多选页面）</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，选择</a:t>
            </a:r>
            <a:r>
              <a:rPr 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自己的</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PPT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报告页面，右键点击选择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带格式粘贴</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 name="圆角矩形 37"/>
          <p:cNvSpPr/>
          <p:nvPr>
            <p:custDataLst>
              <p:tags r:id="rId3"/>
            </p:custDataLst>
          </p:nvPr>
        </p:nvSpPr>
        <p:spPr>
          <a:xfrm>
            <a:off x="636968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 name="文本框 3"/>
          <p:cNvSpPr txBox="1"/>
          <p:nvPr>
            <p:custDataLst>
              <p:tags r:id="rId4"/>
            </p:custDataLst>
          </p:nvPr>
        </p:nvSpPr>
        <p:spPr>
          <a:xfrm>
            <a:off x="2306320"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WPS</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custDataLst>
              <p:tags r:id="rId5"/>
            </p:custDataLst>
          </p:nvPr>
        </p:nvSpPr>
        <p:spPr>
          <a:xfrm>
            <a:off x="8225155"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office</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3" name="图片 2"/>
          <p:cNvPicPr>
            <a:picLocks noChangeAspect="1"/>
          </p:cNvPicPr>
          <p:nvPr>
            <p:custDataLst>
              <p:tags r:id="rId6"/>
            </p:custDataLst>
          </p:nvPr>
        </p:nvPicPr>
        <p:blipFill>
          <a:blip r:embed="rId7"/>
          <a:stretch>
            <a:fillRect/>
          </a:stretch>
        </p:blipFill>
        <p:spPr>
          <a:xfrm>
            <a:off x="786765" y="2526030"/>
            <a:ext cx="4668520" cy="3519170"/>
          </a:xfrm>
          <a:prstGeom prst="rect">
            <a:avLst/>
          </a:prstGeom>
        </p:spPr>
      </p:pic>
      <p:sp>
        <p:nvSpPr>
          <p:cNvPr id="10" name="文本框 9"/>
          <p:cNvSpPr txBox="1"/>
          <p:nvPr>
            <p:custDataLst>
              <p:tags r:id="rId8"/>
            </p:custDataLst>
          </p:nvPr>
        </p:nvSpPr>
        <p:spPr>
          <a:xfrm>
            <a:off x="6600190" y="1858645"/>
            <a:ext cx="5454650" cy="58356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复制</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模板页面（也可多选页面）</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，选择</a:t>
            </a:r>
            <a:r>
              <a:rPr 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自己的</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PPT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报告页面，右键点击选择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保留原格式</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pic>
        <p:nvPicPr>
          <p:cNvPr id="11" name="图片 10"/>
          <p:cNvPicPr>
            <a:picLocks noChangeAspect="1"/>
          </p:cNvPicPr>
          <p:nvPr>
            <p:custDataLst>
              <p:tags r:id="rId9"/>
            </p:custDataLst>
          </p:nvPr>
        </p:nvPicPr>
        <p:blipFill>
          <a:blip r:embed="rId10"/>
          <a:stretch>
            <a:fillRect/>
          </a:stretch>
        </p:blipFill>
        <p:spPr>
          <a:xfrm>
            <a:off x="7367270" y="2748915"/>
            <a:ext cx="3867150" cy="313436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388"/>
            <a:ext cx="7585710" cy="475615"/>
          </a:xfrm>
          <a:prstGeom prst="rect">
            <a:avLst/>
          </a:prstGeom>
          <a:noFill/>
        </p:spPr>
        <p:txBody>
          <a:bodyPr wrap="square" rtlCol="0" anchor="ctr" anchorCtr="0">
            <a:spAutoFit/>
          </a:bodyPr>
          <a:lstStyle/>
          <a:p>
            <a:pPr fontAlgn="ctr">
              <a:lnSpc>
                <a:spcPct val="100000"/>
              </a:lnSpc>
            </a:pPr>
            <a:r>
              <a:rPr lang="zh-CN" altLang="en-US" sz="2500" b="1">
                <a:solidFill>
                  <a:schemeClr val="accent1"/>
                </a:solidFill>
                <a:latin typeface="微软雅黑" panose="020B0503020204020204" charset="-122"/>
                <a:ea typeface="微软雅黑" panose="020B0503020204020204" charset="-122"/>
                <a:cs typeface="微软雅黑" panose="020B0503020204020204" charset="-122"/>
                <a:sym typeface="+mn-ea"/>
              </a:rPr>
              <a:t>使用模板时：</a:t>
            </a:r>
            <a:r>
              <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rPr>
              <a:t>如何一键修改整套</a:t>
            </a:r>
            <a:r>
              <a:rPr lang="en-US" altLang="zh-CN" sz="2500" b="1">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rPr>
              <a:t>的颜色？</a:t>
            </a:r>
            <a:endPar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圆角矩形 31"/>
          <p:cNvSpPr/>
          <p:nvPr>
            <p:custDataLst>
              <p:tags r:id="rId1"/>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4" name="文本框 33"/>
          <p:cNvSpPr txBox="1"/>
          <p:nvPr>
            <p:custDataLst>
              <p:tags r:id="rId2"/>
            </p:custDataLst>
          </p:nvPr>
        </p:nvSpPr>
        <p:spPr>
          <a:xfrm>
            <a:off x="520065" y="1563370"/>
            <a:ext cx="5454650" cy="107632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设计</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选项卡，选择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配色方案</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选项，选择【更多配色方案】，</a:t>
            </a:r>
            <a:r>
              <a:rPr lang="zh-CN" sz="1600">
                <a:solidFill>
                  <a:schemeClr val="tx2"/>
                </a:solidFill>
                <a:latin typeface="微软雅黑" panose="020B0503020204020204" charset="-122"/>
                <a:ea typeface="微软雅黑" panose="020B0503020204020204" charset="-122"/>
                <a:cs typeface="微软雅黑" panose="020B0503020204020204" charset="-122"/>
                <a:sym typeface="+mn-ea"/>
              </a:rPr>
              <a:t>里面有本模板已经设定好的多种配色</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点击【使用】即可一键全部替换。选择【自定义】也可配置自己的常用色。</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 name="圆角矩形 37"/>
          <p:cNvSpPr/>
          <p:nvPr>
            <p:custDataLst>
              <p:tags r:id="rId3"/>
            </p:custDataLst>
          </p:nvPr>
        </p:nvSpPr>
        <p:spPr>
          <a:xfrm>
            <a:off x="636968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2" name="图片 1"/>
          <p:cNvPicPr>
            <a:picLocks noChangeAspect="1"/>
          </p:cNvPicPr>
          <p:nvPr>
            <p:custDataLst>
              <p:tags r:id="rId4"/>
            </p:custDataLst>
          </p:nvPr>
        </p:nvPicPr>
        <p:blipFill>
          <a:blip r:embed="rId5"/>
          <a:srcRect r="1191" b="22551"/>
          <a:stretch>
            <a:fillRect/>
          </a:stretch>
        </p:blipFill>
        <p:spPr>
          <a:xfrm>
            <a:off x="431800" y="2770505"/>
            <a:ext cx="5319395" cy="2425065"/>
          </a:xfrm>
          <a:prstGeom prst="rect">
            <a:avLst/>
          </a:prstGeom>
        </p:spPr>
      </p:pic>
      <p:sp>
        <p:nvSpPr>
          <p:cNvPr id="4" name="文本框 3"/>
          <p:cNvSpPr txBox="1"/>
          <p:nvPr>
            <p:custDataLst>
              <p:tags r:id="rId6"/>
            </p:custDataLst>
          </p:nvPr>
        </p:nvSpPr>
        <p:spPr>
          <a:xfrm>
            <a:off x="2306320"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WPS</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7"/>
            </p:custDataLst>
          </p:nvPr>
        </p:nvPicPr>
        <p:blipFill>
          <a:blip r:embed="rId8"/>
          <a:stretch>
            <a:fillRect/>
          </a:stretch>
        </p:blipFill>
        <p:spPr>
          <a:xfrm>
            <a:off x="1367790" y="3487420"/>
            <a:ext cx="2376170" cy="2754630"/>
          </a:xfrm>
          <a:prstGeom prst="rect">
            <a:avLst/>
          </a:prstGeom>
        </p:spPr>
      </p:pic>
      <p:sp>
        <p:nvSpPr>
          <p:cNvPr id="6" name="文本框 5"/>
          <p:cNvSpPr txBox="1"/>
          <p:nvPr>
            <p:custDataLst>
              <p:tags r:id="rId9"/>
            </p:custDataLst>
          </p:nvPr>
        </p:nvSpPr>
        <p:spPr>
          <a:xfrm>
            <a:off x="6438900" y="1686560"/>
            <a:ext cx="5454650" cy="82994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设计</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选项卡，找到【变体】选择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颜色</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a:t>
            </a:r>
            <a:r>
              <a:rPr lang="zh-CN" sz="1600">
                <a:solidFill>
                  <a:schemeClr val="tx2"/>
                </a:solidFill>
                <a:latin typeface="微软雅黑" panose="020B0503020204020204" charset="-122"/>
                <a:ea typeface="微软雅黑" panose="020B0503020204020204" charset="-122"/>
                <a:cs typeface="微软雅黑" panose="020B0503020204020204" charset="-122"/>
                <a:sym typeface="+mn-ea"/>
              </a:rPr>
              <a:t>里面有本模板已经设定好的多种配色</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点击其中一种颜色即可一键全部替换。选择【自定义】也可配置自己的颜色。</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7" name="文本框 6"/>
          <p:cNvSpPr txBox="1"/>
          <p:nvPr>
            <p:custDataLst>
              <p:tags r:id="rId10"/>
            </p:custDataLst>
          </p:nvPr>
        </p:nvSpPr>
        <p:spPr>
          <a:xfrm>
            <a:off x="8225155"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office</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8" name="图片 7"/>
          <p:cNvPicPr>
            <a:picLocks noChangeAspect="1"/>
          </p:cNvPicPr>
          <p:nvPr>
            <p:custDataLst>
              <p:tags r:id="rId11"/>
            </p:custDataLst>
          </p:nvPr>
        </p:nvPicPr>
        <p:blipFill>
          <a:blip r:embed="rId12"/>
          <a:stretch>
            <a:fillRect/>
          </a:stretch>
        </p:blipFill>
        <p:spPr>
          <a:xfrm>
            <a:off x="6579870" y="2639695"/>
            <a:ext cx="5171440" cy="2321560"/>
          </a:xfrm>
          <a:prstGeom prst="rect">
            <a:avLst/>
          </a:prstGeom>
        </p:spPr>
      </p:pic>
      <p:pic>
        <p:nvPicPr>
          <p:cNvPr id="9" name="图片 8"/>
          <p:cNvPicPr>
            <a:picLocks noChangeAspect="1"/>
          </p:cNvPicPr>
          <p:nvPr/>
        </p:nvPicPr>
        <p:blipFill>
          <a:blip r:embed="rId13"/>
          <a:stretch>
            <a:fillRect/>
          </a:stretch>
        </p:blipFill>
        <p:spPr>
          <a:xfrm>
            <a:off x="8391525" y="3858895"/>
            <a:ext cx="2294890" cy="244221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 name="文本框 25"/>
          <p:cNvSpPr txBox="1"/>
          <p:nvPr/>
        </p:nvSpPr>
        <p:spPr>
          <a:xfrm>
            <a:off x="368935" y="306388"/>
            <a:ext cx="7585710" cy="475615"/>
          </a:xfrm>
          <a:prstGeom prst="rect">
            <a:avLst/>
          </a:prstGeom>
          <a:noFill/>
        </p:spPr>
        <p:txBody>
          <a:bodyPr wrap="square" rtlCol="0" anchor="ctr" anchorCtr="0">
            <a:spAutoFit/>
          </a:bodyPr>
          <a:lstStyle/>
          <a:p>
            <a:pPr fontAlgn="ctr">
              <a:lnSpc>
                <a:spcPct val="100000"/>
              </a:lnSpc>
            </a:pPr>
            <a:r>
              <a:rPr lang="zh-CN" altLang="en-US" sz="2500" b="1">
                <a:solidFill>
                  <a:schemeClr val="accent1"/>
                </a:solidFill>
                <a:latin typeface="微软雅黑" panose="020B0503020204020204" charset="-122"/>
                <a:ea typeface="微软雅黑" panose="020B0503020204020204" charset="-122"/>
                <a:cs typeface="微软雅黑" panose="020B0503020204020204" charset="-122"/>
                <a:sym typeface="+mn-ea"/>
              </a:rPr>
              <a:t>使用模板时：</a:t>
            </a:r>
            <a:r>
              <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rPr>
              <a:t>如何一键去除右上角的logo？</a:t>
            </a:r>
            <a:endParaRPr lang="zh-CN" altLang="en-US" sz="2500" b="1">
              <a:solidFill>
                <a:schemeClr val="tx2"/>
              </a:solidFill>
              <a:latin typeface="微软雅黑" panose="020B0503020204020204" charset="-122"/>
              <a:ea typeface="微软雅黑" panose="020B0503020204020204" charset="-122"/>
              <a:cs typeface="微软雅黑" panose="020B0503020204020204" charset="-122"/>
              <a:sym typeface="+mn-ea"/>
            </a:endParaRPr>
          </a:p>
        </p:txBody>
      </p:sp>
      <p:cxnSp>
        <p:nvCxnSpPr>
          <p:cNvPr id="2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
        <p:nvSpPr>
          <p:cNvPr id="32" name="圆角矩形 31"/>
          <p:cNvSpPr/>
          <p:nvPr>
            <p:custDataLst>
              <p:tags r:id="rId1"/>
            </p:custDataLst>
          </p:nvPr>
        </p:nvSpPr>
        <p:spPr>
          <a:xfrm>
            <a:off x="36893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33" name="图片 32"/>
          <p:cNvPicPr>
            <a:picLocks noChangeAspect="1"/>
          </p:cNvPicPr>
          <p:nvPr>
            <p:custDataLst>
              <p:tags r:id="rId2"/>
            </p:custDataLst>
          </p:nvPr>
        </p:nvPicPr>
        <p:blipFill>
          <a:blip r:embed="rId3"/>
          <a:srcRect r="1364" b="46622"/>
          <a:stretch>
            <a:fillRect/>
          </a:stretch>
        </p:blipFill>
        <p:spPr>
          <a:xfrm>
            <a:off x="641985" y="2576830"/>
            <a:ext cx="5029835" cy="1704340"/>
          </a:xfrm>
          <a:prstGeom prst="rect">
            <a:avLst/>
          </a:prstGeom>
        </p:spPr>
      </p:pic>
      <p:sp>
        <p:nvSpPr>
          <p:cNvPr id="34" name="文本框 33"/>
          <p:cNvSpPr txBox="1"/>
          <p:nvPr>
            <p:custDataLst>
              <p:tags r:id="rId4"/>
            </p:custDataLst>
          </p:nvPr>
        </p:nvSpPr>
        <p:spPr>
          <a:xfrm>
            <a:off x="641985" y="1610360"/>
            <a:ext cx="5116195" cy="829945"/>
          </a:xfrm>
          <a:prstGeom prst="rect">
            <a:avLst/>
          </a:prstGeom>
          <a:noFill/>
        </p:spPr>
        <p:txBody>
          <a:bodyPr wrap="square" rtlCol="0" anchor="ctr" anchorCtr="0">
            <a:spAutoFit/>
          </a:bodyPr>
          <a:lstStyle/>
          <a:p>
            <a:pPr fontAlgn="ctr">
              <a:lnSpc>
                <a:spcPct val="100000"/>
              </a:lnSpc>
            </a:pP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设计</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选项卡，选择</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母版</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选项，进入母版视图。</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②</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进入母版视图后，右击logo选择删除，点击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关闭</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幻灯片母版视图即可</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8" name="圆角矩形 37"/>
          <p:cNvSpPr/>
          <p:nvPr>
            <p:custDataLst>
              <p:tags r:id="rId5"/>
            </p:custDataLst>
          </p:nvPr>
        </p:nvSpPr>
        <p:spPr>
          <a:xfrm>
            <a:off x="6369685" y="1158875"/>
            <a:ext cx="5592445" cy="5207000"/>
          </a:xfrm>
          <a:prstGeom prst="roundRect">
            <a:avLst>
              <a:gd name="adj" fmla="val 6466"/>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pic>
        <p:nvPicPr>
          <p:cNvPr id="39" name="图片 38"/>
          <p:cNvPicPr>
            <a:picLocks noChangeAspect="1"/>
          </p:cNvPicPr>
          <p:nvPr>
            <p:custDataLst>
              <p:tags r:id="rId6"/>
            </p:custDataLst>
          </p:nvPr>
        </p:nvPicPr>
        <p:blipFill>
          <a:blip r:embed="rId7"/>
          <a:srcRect l="2160" t="-2686" r="934" b="33542"/>
          <a:stretch>
            <a:fillRect/>
          </a:stretch>
        </p:blipFill>
        <p:spPr>
          <a:xfrm>
            <a:off x="641985" y="4417695"/>
            <a:ext cx="4970145" cy="1762760"/>
          </a:xfrm>
          <a:prstGeom prst="rect">
            <a:avLst/>
          </a:prstGeom>
        </p:spPr>
      </p:pic>
      <p:sp>
        <p:nvSpPr>
          <p:cNvPr id="2" name="文本框 1"/>
          <p:cNvSpPr txBox="1"/>
          <p:nvPr>
            <p:custDataLst>
              <p:tags r:id="rId8"/>
            </p:custDataLst>
          </p:nvPr>
        </p:nvSpPr>
        <p:spPr>
          <a:xfrm>
            <a:off x="2306320" y="1234758"/>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WPS</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3" name="文本框 2"/>
          <p:cNvSpPr txBox="1"/>
          <p:nvPr>
            <p:custDataLst>
              <p:tags r:id="rId9"/>
            </p:custDataLst>
          </p:nvPr>
        </p:nvSpPr>
        <p:spPr>
          <a:xfrm>
            <a:off x="6771640" y="1572895"/>
            <a:ext cx="5116195" cy="829945"/>
          </a:xfrm>
          <a:prstGeom prst="rect">
            <a:avLst/>
          </a:prstGeom>
          <a:noFill/>
        </p:spPr>
        <p:txBody>
          <a:bodyPr wrap="square" rtlCol="0" anchor="ctr" anchorCtr="0">
            <a:spAutoFit/>
          </a:bodyPr>
          <a:lstStyle/>
          <a:p>
            <a:pPr fontAlgn="ctr">
              <a:lnSpc>
                <a:spcPct val="100000"/>
              </a:lnSpc>
            </a:pPr>
            <a:r>
              <a:rPr lang="en-US"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①</a:t>
            </a:r>
            <a:r>
              <a:rPr lang="en-US" altLang="zh-CN" sz="1600" dirty="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rPr>
              <a:t>点击【试图】选项卡，选择【幻灯片母版】选项，进入母版视图。</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②</a:t>
            </a:r>
            <a:r>
              <a:rPr lang="en-US" altLang="zh-CN" sz="1600">
                <a:solidFill>
                  <a:schemeClr val="tx2"/>
                </a:solidFill>
                <a:latin typeface="微软雅黑" panose="020B0503020204020204" charset="-122"/>
                <a:ea typeface="微软雅黑" panose="020B0503020204020204" charset="-122"/>
                <a:cs typeface="微软雅黑" panose="020B0503020204020204" charset="-122"/>
                <a:sym typeface="+mn-ea"/>
              </a:rPr>
              <a:t> </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进入母版视图后，右击logo选择删除，点击</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关闭</a:t>
            </a:r>
            <a:r>
              <a:rPr lang="en-US" altLang="zh-CN" sz="16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1600">
                <a:solidFill>
                  <a:schemeClr val="tx2"/>
                </a:solidFill>
                <a:latin typeface="微软雅黑" panose="020B0503020204020204" charset="-122"/>
                <a:ea typeface="微软雅黑" panose="020B0503020204020204" charset="-122"/>
                <a:cs typeface="微软雅黑" panose="020B0503020204020204" charset="-122"/>
                <a:sym typeface="+mn-ea"/>
              </a:rPr>
              <a:t>幻灯片母版视图即可。</a:t>
            </a:r>
            <a:endParaRPr lang="zh-CN" altLang="en-US" sz="160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4" name="文本框 3"/>
          <p:cNvSpPr txBox="1"/>
          <p:nvPr>
            <p:custDataLst>
              <p:tags r:id="rId10"/>
            </p:custDataLst>
          </p:nvPr>
        </p:nvSpPr>
        <p:spPr>
          <a:xfrm>
            <a:off x="8435975" y="1197293"/>
            <a:ext cx="1753235" cy="398780"/>
          </a:xfrm>
          <a:prstGeom prst="rect">
            <a:avLst/>
          </a:prstGeom>
          <a:noFill/>
        </p:spPr>
        <p:txBody>
          <a:bodyPr wrap="square" rtlCol="0" anchor="ctr" anchorCtr="0">
            <a:spAutoFit/>
          </a:bodyPr>
          <a:lstStyle/>
          <a:p>
            <a:pPr fontAlgn="ctr">
              <a:lnSpc>
                <a:spcPct val="100000"/>
              </a:lnSpc>
            </a:pPr>
            <a:r>
              <a:rPr lang="en-US" altLang="zh-CN" sz="2000" b="1">
                <a:solidFill>
                  <a:schemeClr val="accent1"/>
                </a:solidFill>
                <a:latin typeface="微软雅黑" panose="020B0503020204020204" charset="-122"/>
                <a:ea typeface="微软雅黑" panose="020B0503020204020204" charset="-122"/>
                <a:cs typeface="微软雅黑" panose="020B0503020204020204" charset="-122"/>
                <a:sym typeface="+mn-ea"/>
              </a:rPr>
              <a:t>office</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rPr>
              <a:t>版本</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pic>
        <p:nvPicPr>
          <p:cNvPr id="5" name="图片 4"/>
          <p:cNvPicPr>
            <a:picLocks noChangeAspect="1"/>
          </p:cNvPicPr>
          <p:nvPr>
            <p:custDataLst>
              <p:tags r:id="rId11"/>
            </p:custDataLst>
          </p:nvPr>
        </p:nvPicPr>
        <p:blipFill>
          <a:blip r:embed="rId12"/>
          <a:srcRect t="1212" b="49421"/>
          <a:stretch>
            <a:fillRect/>
          </a:stretch>
        </p:blipFill>
        <p:spPr>
          <a:xfrm>
            <a:off x="6507480" y="2618740"/>
            <a:ext cx="5321300" cy="1706880"/>
          </a:xfrm>
          <a:prstGeom prst="rect">
            <a:avLst/>
          </a:prstGeom>
        </p:spPr>
      </p:pic>
      <p:pic>
        <p:nvPicPr>
          <p:cNvPr id="6" name="图片 5"/>
          <p:cNvPicPr>
            <a:picLocks noChangeAspect="1"/>
          </p:cNvPicPr>
          <p:nvPr>
            <p:custDataLst>
              <p:tags r:id="rId13"/>
            </p:custDataLst>
          </p:nvPr>
        </p:nvPicPr>
        <p:blipFill>
          <a:blip r:embed="rId14"/>
          <a:srcRect t="401" r="6963" b="47355"/>
          <a:stretch>
            <a:fillRect/>
          </a:stretch>
        </p:blipFill>
        <p:spPr>
          <a:xfrm>
            <a:off x="6507480" y="4490085"/>
            <a:ext cx="5332730" cy="161798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 name="文本框 27"/>
          <p:cNvSpPr txBox="1"/>
          <p:nvPr/>
        </p:nvSpPr>
        <p:spPr>
          <a:xfrm>
            <a:off x="1619885" y="447358"/>
            <a:ext cx="6458585" cy="553085"/>
          </a:xfrm>
          <a:prstGeom prst="rect">
            <a:avLst/>
          </a:prstGeom>
          <a:noFill/>
        </p:spPr>
        <p:txBody>
          <a:bodyPr wrap="square" rtlCol="0" anchor="ctr" anchorCtr="0">
            <a:spAutoFit/>
          </a:bodyPr>
          <a:lstStyle/>
          <a:p>
            <a:pPr fontAlgn="ctr">
              <a:lnSpc>
                <a:spcPct val="100000"/>
              </a:lnSpc>
            </a:pPr>
            <a:r>
              <a:rPr lang="en-US" altLang="zh-CN" sz="3000" b="1">
                <a:solidFill>
                  <a:schemeClr val="tx2">
                    <a:lumMod val="60000"/>
                    <a:lumOff val="40000"/>
                  </a:schemeClr>
                </a:solidFill>
                <a:latin typeface="+mj-lt"/>
                <a:ea typeface="微软雅黑" panose="020B0503020204020204" charset="-122"/>
                <a:cs typeface="+mj-lt"/>
                <a:sym typeface="+mn-ea"/>
              </a:rPr>
              <a:t>CONTENTS</a:t>
            </a:r>
            <a:endParaRPr lang="en-US" altLang="zh-CN" sz="3000" b="1">
              <a:solidFill>
                <a:schemeClr val="tx2">
                  <a:lumMod val="60000"/>
                  <a:lumOff val="40000"/>
                </a:schemeClr>
              </a:solidFill>
              <a:latin typeface="+mj-lt"/>
              <a:ea typeface="微软雅黑" panose="020B0503020204020204" charset="-122"/>
              <a:cs typeface="+mj-lt"/>
              <a:sym typeface="+mn-ea"/>
            </a:endParaRPr>
          </a:p>
        </p:txBody>
      </p:sp>
      <p:sp>
        <p:nvSpPr>
          <p:cNvPr id="26" name="文本框 25"/>
          <p:cNvSpPr txBox="1"/>
          <p:nvPr/>
        </p:nvSpPr>
        <p:spPr>
          <a:xfrm>
            <a:off x="415925" y="370840"/>
            <a:ext cx="1203960" cy="706755"/>
          </a:xfrm>
          <a:prstGeom prst="rect">
            <a:avLst/>
          </a:prstGeom>
          <a:noFill/>
        </p:spPr>
        <p:txBody>
          <a:bodyPr wrap="square" rtlCol="0" anchor="ctr" anchorCtr="0">
            <a:spAutoFit/>
          </a:bodyPr>
          <a:lstStyle/>
          <a:p>
            <a:pPr fontAlgn="ctr">
              <a:lnSpc>
                <a:spcPct val="100000"/>
              </a:lnSpc>
            </a:pPr>
            <a:r>
              <a:rPr lang="zh-CN" altLang="en-US" sz="4000" b="1">
                <a:solidFill>
                  <a:schemeClr val="accent1"/>
                </a:solidFill>
                <a:latin typeface="微软雅黑" panose="020B0503020204020204" charset="-122"/>
                <a:ea typeface="微软雅黑" panose="020B0503020204020204" charset="-122"/>
                <a:cs typeface="微软雅黑" panose="020B0503020204020204" charset="-122"/>
                <a:sym typeface="+mn-ea"/>
              </a:rPr>
              <a:t>目录</a:t>
            </a:r>
            <a:endParaRPr lang="zh-CN" altLang="en-US" sz="4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2" name="矩形 1"/>
          <p:cNvSpPr/>
          <p:nvPr>
            <p:custDataLst>
              <p:tags r:id="rId1"/>
            </p:custDataLst>
          </p:nvPr>
        </p:nvSpPr>
        <p:spPr>
          <a:xfrm>
            <a:off x="707390" y="13887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1" name="文本框 40"/>
          <p:cNvSpPr txBox="1"/>
          <p:nvPr>
            <p:custDataLst>
              <p:tags r:id="rId2"/>
            </p:custDataLst>
          </p:nvPr>
        </p:nvSpPr>
        <p:spPr>
          <a:xfrm>
            <a:off x="707390" y="1995170"/>
            <a:ext cx="3366135" cy="398780"/>
          </a:xfrm>
          <a:prstGeom prst="rect">
            <a:avLst/>
          </a:prstGeom>
          <a:noFill/>
        </p:spPr>
        <p:txBody>
          <a:bodyPr wrap="square" rtlCol="0" anchor="ctr" anchorCtr="0">
            <a:spAutoFit/>
          </a:bodyPr>
          <a:lstStyle/>
          <a:p>
            <a:pPr algn="ctr" fontAlgn="ctr">
              <a:lnSpc>
                <a:spcPct val="100000"/>
              </a:lnSpc>
            </a:pP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屋顶</a:t>
            </a:r>
            <a:r>
              <a:rPr lang="en-US" alt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战略屋架构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2" name="文本框 41"/>
          <p:cNvSpPr txBox="1"/>
          <p:nvPr>
            <p:custDataLst>
              <p:tags r:id="rId3"/>
            </p:custDataLst>
          </p:nvPr>
        </p:nvSpPr>
        <p:spPr>
          <a:xfrm>
            <a:off x="1867535" y="1479550"/>
            <a:ext cx="1046480" cy="553085"/>
          </a:xfrm>
          <a:prstGeom prst="rect">
            <a:avLst/>
          </a:prstGeom>
          <a:noFill/>
        </p:spPr>
        <p:txBody>
          <a:bodyPr wrap="square" rtlCol="0" anchor="ctr" anchorCtr="0">
            <a:spAutoFit/>
          </a:bodyPr>
          <a:lstStyle/>
          <a:p>
            <a:pPr lvl="0" algn="ctr" fontAlgn="ctr">
              <a:buClrTx/>
              <a:buSzTx/>
              <a:buFontTx/>
            </a:pPr>
            <a:r>
              <a:rPr lang="en-US" altLang="zh-CN"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①</a:t>
            </a:r>
            <a:endParaRPr lang="en-US" altLang="zh-CN"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67" name="矩形 66"/>
          <p:cNvSpPr/>
          <p:nvPr>
            <p:custDataLst>
              <p:tags r:id="rId4"/>
            </p:custDataLst>
          </p:nvPr>
        </p:nvSpPr>
        <p:spPr>
          <a:xfrm>
            <a:off x="4485640" y="13887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6" name="文本框 75"/>
          <p:cNvSpPr txBox="1"/>
          <p:nvPr>
            <p:custDataLst>
              <p:tags r:id="rId5"/>
            </p:custDataLst>
          </p:nvPr>
        </p:nvSpPr>
        <p:spPr>
          <a:xfrm>
            <a:off x="4485640" y="1995170"/>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多层平台架构</a:t>
            </a:r>
            <a:endPar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77" name="文本框 76"/>
          <p:cNvSpPr txBox="1"/>
          <p:nvPr>
            <p:custDataLst>
              <p:tags r:id="rId6"/>
            </p:custDataLst>
          </p:nvPr>
        </p:nvSpPr>
        <p:spPr>
          <a:xfrm>
            <a:off x="5645785" y="1479550"/>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②</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79" name="矩形 78"/>
          <p:cNvSpPr/>
          <p:nvPr>
            <p:custDataLst>
              <p:tags r:id="rId7"/>
            </p:custDataLst>
          </p:nvPr>
        </p:nvSpPr>
        <p:spPr>
          <a:xfrm>
            <a:off x="8268970" y="1389380"/>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88" name="文本框 87"/>
          <p:cNvSpPr txBox="1"/>
          <p:nvPr>
            <p:custDataLst>
              <p:tags r:id="rId8"/>
            </p:custDataLst>
          </p:nvPr>
        </p:nvSpPr>
        <p:spPr>
          <a:xfrm>
            <a:off x="8268970" y="1995805"/>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中心发散</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9" name="文本框 88"/>
          <p:cNvSpPr txBox="1"/>
          <p:nvPr>
            <p:custDataLst>
              <p:tags r:id="rId9"/>
            </p:custDataLst>
          </p:nvPr>
        </p:nvSpPr>
        <p:spPr>
          <a:xfrm>
            <a:off x="9429115" y="1480185"/>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③</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91" name="矩形 90"/>
          <p:cNvSpPr/>
          <p:nvPr>
            <p:custDataLst>
              <p:tags r:id="rId10"/>
            </p:custDataLst>
          </p:nvPr>
        </p:nvSpPr>
        <p:spPr>
          <a:xfrm>
            <a:off x="707390" y="41319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00" name="文本框 99"/>
          <p:cNvSpPr txBox="1"/>
          <p:nvPr>
            <p:custDataLst>
              <p:tags r:id="rId11"/>
            </p:custDataLst>
          </p:nvPr>
        </p:nvSpPr>
        <p:spPr>
          <a:xfrm>
            <a:off x="707390" y="4738370"/>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循环逻辑</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1" name="文本框 100"/>
          <p:cNvSpPr txBox="1"/>
          <p:nvPr>
            <p:custDataLst>
              <p:tags r:id="rId12"/>
            </p:custDataLst>
          </p:nvPr>
        </p:nvSpPr>
        <p:spPr>
          <a:xfrm>
            <a:off x="1867535" y="4222750"/>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④</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03" name="矩形 102"/>
          <p:cNvSpPr/>
          <p:nvPr>
            <p:custDataLst>
              <p:tags r:id="rId13"/>
            </p:custDataLst>
          </p:nvPr>
        </p:nvSpPr>
        <p:spPr>
          <a:xfrm>
            <a:off x="4485640" y="4131945"/>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12" name="文本框 111"/>
          <p:cNvSpPr txBox="1"/>
          <p:nvPr>
            <p:custDataLst>
              <p:tags r:id="rId14"/>
            </p:custDataLst>
          </p:nvPr>
        </p:nvSpPr>
        <p:spPr>
          <a:xfrm>
            <a:off x="4485640" y="4738370"/>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业务流程</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3" name="文本框 112"/>
          <p:cNvSpPr txBox="1"/>
          <p:nvPr>
            <p:custDataLst>
              <p:tags r:id="rId15"/>
            </p:custDataLst>
          </p:nvPr>
        </p:nvSpPr>
        <p:spPr>
          <a:xfrm>
            <a:off x="5645785" y="4222750"/>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⑤</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15" name="矩形 114"/>
          <p:cNvSpPr/>
          <p:nvPr>
            <p:custDataLst>
              <p:tags r:id="rId16"/>
            </p:custDataLst>
          </p:nvPr>
        </p:nvSpPr>
        <p:spPr>
          <a:xfrm>
            <a:off x="8268970" y="4132580"/>
            <a:ext cx="3366135" cy="2374265"/>
          </a:xfrm>
          <a:prstGeom prst="rect">
            <a:avLst/>
          </a:prstGeom>
          <a:solidFill>
            <a:schemeClr val="accent1">
              <a:lumMod val="20000"/>
              <a:lumOff val="80000"/>
              <a:alpha val="40000"/>
            </a:schemeClr>
          </a:solidFill>
          <a:ln>
            <a:solidFill>
              <a:schemeClr val="accent1">
                <a:alpha val="50000"/>
              </a:schemeClr>
            </a:solid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4" name="文本框 123"/>
          <p:cNvSpPr txBox="1"/>
          <p:nvPr>
            <p:custDataLst>
              <p:tags r:id="rId17"/>
            </p:custDataLst>
          </p:nvPr>
        </p:nvSpPr>
        <p:spPr>
          <a:xfrm>
            <a:off x="8268970" y="4739005"/>
            <a:ext cx="3366135" cy="398780"/>
          </a:xfrm>
          <a:prstGeom prst="rect">
            <a:avLst/>
          </a:prstGeom>
          <a:noFill/>
        </p:spPr>
        <p:txBody>
          <a:bodyPr wrap="square" rtlCol="0" anchor="ctr" anchorCtr="0">
            <a:spAutoFit/>
          </a:bodyPr>
          <a:lstStyle/>
          <a:p>
            <a:pPr algn="ctr" fontAlgn="ctr">
              <a:lnSpc>
                <a:spcPct val="100000"/>
              </a:lnSpc>
            </a:pPr>
            <a:r>
              <a:rPr lang="zh-CN"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时间流程</a:t>
            </a:r>
            <a:r>
              <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架构</a:t>
            </a:r>
            <a:endParaRPr lang="zh-CN" altLang="en-US" sz="20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25" name="文本框 124"/>
          <p:cNvSpPr txBox="1"/>
          <p:nvPr>
            <p:custDataLst>
              <p:tags r:id="rId18"/>
            </p:custDataLst>
          </p:nvPr>
        </p:nvSpPr>
        <p:spPr>
          <a:xfrm>
            <a:off x="9429115" y="4223385"/>
            <a:ext cx="1046480" cy="553085"/>
          </a:xfrm>
          <a:prstGeom prst="rect">
            <a:avLst/>
          </a:prstGeom>
          <a:noFill/>
        </p:spPr>
        <p:txBody>
          <a:bodyPr wrap="square" rtlCol="0" anchor="ctr" anchorCtr="0">
            <a:spAutoFit/>
          </a:bodyPr>
          <a:lstStyle/>
          <a:p>
            <a:pPr lvl="0" algn="ctr" fontAlgn="ctr">
              <a:buClrTx/>
              <a:buSzTx/>
              <a:buFontTx/>
            </a:pPr>
            <a:r>
              <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⑥</a:t>
            </a:r>
            <a:endParaRPr lang="zh-CN" altLang="en-US" sz="3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27" name="梯形 126"/>
          <p:cNvSpPr/>
          <p:nvPr>
            <p:custDataLst>
              <p:tags r:id="rId19"/>
            </p:custDataLst>
          </p:nvPr>
        </p:nvSpPr>
        <p:spPr>
          <a:xfrm>
            <a:off x="5431155" y="3411855"/>
            <a:ext cx="1583055" cy="71755"/>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8" name="梯形 127"/>
          <p:cNvSpPr/>
          <p:nvPr>
            <p:custDataLst>
              <p:tags r:id="rId20"/>
            </p:custDataLst>
          </p:nvPr>
        </p:nvSpPr>
        <p:spPr>
          <a:xfrm>
            <a:off x="5431155" y="3058795"/>
            <a:ext cx="1583055" cy="71755"/>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29" name="梯形 128"/>
          <p:cNvSpPr/>
          <p:nvPr>
            <p:custDataLst>
              <p:tags r:id="rId21"/>
            </p:custDataLst>
          </p:nvPr>
        </p:nvSpPr>
        <p:spPr>
          <a:xfrm>
            <a:off x="5431155" y="2705100"/>
            <a:ext cx="1583055" cy="71755"/>
          </a:xfrm>
          <a:prstGeom prst="trapezoid">
            <a:avLst>
              <a:gd name="adj" fmla="val 187465"/>
            </a:avLst>
          </a:prstGeom>
          <a:gradFill>
            <a:gsLst>
              <a:gs pos="0">
                <a:schemeClr val="accent1">
                  <a:lumMod val="60000"/>
                  <a:lumOff val="40000"/>
                  <a:alpha val="0"/>
                </a:schemeClr>
              </a:gs>
              <a:gs pos="100000">
                <a:schemeClr val="accent1">
                  <a:lumMod val="60000"/>
                  <a:lumOff val="40000"/>
                </a:schemeClr>
              </a:gs>
            </a:gsLst>
            <a:lin ang="5400000" scaled="1"/>
          </a:gra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30" name="Freeform 1482"/>
          <p:cNvSpPr/>
          <p:nvPr>
            <p:custDataLst>
              <p:tags r:id="rId22"/>
            </p:custDataLst>
          </p:nvPr>
        </p:nvSpPr>
        <p:spPr>
          <a:xfrm>
            <a:off x="5433695" y="3482340"/>
            <a:ext cx="1580515" cy="7175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w="3175" cap="flat" cmpd="sng" algn="ctr">
            <a:solidFill>
              <a:schemeClr val="bg1"/>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1" name="Freeform 1484"/>
          <p:cNvSpPr/>
          <p:nvPr>
            <p:custDataLst>
              <p:tags r:id="rId23"/>
            </p:custDataLst>
          </p:nvPr>
        </p:nvSpPr>
        <p:spPr>
          <a:xfrm>
            <a:off x="5433695" y="3129280"/>
            <a:ext cx="1580515" cy="7175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w="3175" cap="flat" cmpd="sng" algn="ctr">
            <a:solidFill>
              <a:schemeClr val="bg1"/>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2" name="Freeform 1486"/>
          <p:cNvSpPr/>
          <p:nvPr>
            <p:custDataLst>
              <p:tags r:id="rId24"/>
            </p:custDataLst>
          </p:nvPr>
        </p:nvSpPr>
        <p:spPr>
          <a:xfrm>
            <a:off x="5433695" y="2776855"/>
            <a:ext cx="1580515" cy="71755"/>
          </a:xfrm>
          <a:custGeom>
            <a:avLst/>
            <a:gdLst/>
            <a:ahLst/>
            <a:cxnLst/>
            <a:rect l="0" t="0" r="0" b="0"/>
            <a:pathLst>
              <a:path w="10750295" h="362712">
                <a:moveTo>
                  <a:pt x="0" y="362712"/>
                </a:moveTo>
                <a:lnTo>
                  <a:pt x="10750295" y="362712"/>
                </a:lnTo>
                <a:lnTo>
                  <a:pt x="10750295" y="0"/>
                </a:lnTo>
                <a:lnTo>
                  <a:pt x="0" y="0"/>
                </a:lnTo>
                <a:lnTo>
                  <a:pt x="0" y="362712"/>
                </a:lnTo>
                <a:close/>
              </a:path>
            </a:pathLst>
          </a:custGeom>
          <a:solidFill>
            <a:schemeClr val="accent1">
              <a:lumMod val="60000"/>
              <a:lumOff val="40000"/>
            </a:schemeClr>
          </a:solidFill>
          <a:ln w="3175" cap="flat" cmpd="sng" algn="ctr">
            <a:solidFill>
              <a:schemeClr val="bg1"/>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3" name="矩形: 圆角 43"/>
          <p:cNvSpPr/>
          <p:nvPr>
            <p:custDataLst>
              <p:tags r:id="rId25"/>
            </p:custDataLst>
          </p:nvPr>
        </p:nvSpPr>
        <p:spPr>
          <a:xfrm>
            <a:off x="5581650" y="2873375"/>
            <a:ext cx="370205" cy="17526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34" name="Freeform 1529"/>
          <p:cNvSpPr/>
          <p:nvPr>
            <p:custDataLst>
              <p:tags r:id="rId26"/>
            </p:custDataLst>
          </p:nvPr>
        </p:nvSpPr>
        <p:spPr>
          <a:xfrm>
            <a:off x="5603240" y="2893695"/>
            <a:ext cx="323215" cy="47625"/>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35" name="矩形: 圆角 8"/>
          <p:cNvSpPr/>
          <p:nvPr>
            <p:custDataLst>
              <p:tags r:id="rId27"/>
            </p:custDataLst>
          </p:nvPr>
        </p:nvSpPr>
        <p:spPr>
          <a:xfrm>
            <a:off x="5624195"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36" name="Freeform 1493"/>
          <p:cNvSpPr/>
          <p:nvPr>
            <p:custDataLst>
              <p:tags r:id="rId28"/>
            </p:custDataLst>
          </p:nvPr>
        </p:nvSpPr>
        <p:spPr>
          <a:xfrm>
            <a:off x="5644515"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37" name="矩形: 圆角 8"/>
          <p:cNvSpPr/>
          <p:nvPr>
            <p:custDataLst>
              <p:tags r:id="rId29"/>
            </p:custDataLst>
          </p:nvPr>
        </p:nvSpPr>
        <p:spPr>
          <a:xfrm>
            <a:off x="5943600"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38" name="Freeform 1493"/>
          <p:cNvSpPr/>
          <p:nvPr>
            <p:custDataLst>
              <p:tags r:id="rId30"/>
            </p:custDataLst>
          </p:nvPr>
        </p:nvSpPr>
        <p:spPr>
          <a:xfrm>
            <a:off x="5963920"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39" name="矩形: 圆角 8"/>
          <p:cNvSpPr/>
          <p:nvPr>
            <p:custDataLst>
              <p:tags r:id="rId31"/>
            </p:custDataLst>
          </p:nvPr>
        </p:nvSpPr>
        <p:spPr>
          <a:xfrm>
            <a:off x="6263005"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0" name="Freeform 1493"/>
          <p:cNvSpPr/>
          <p:nvPr>
            <p:custDataLst>
              <p:tags r:id="rId32"/>
            </p:custDataLst>
          </p:nvPr>
        </p:nvSpPr>
        <p:spPr>
          <a:xfrm>
            <a:off x="6283325"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41" name="矩形: 圆角 8"/>
          <p:cNvSpPr/>
          <p:nvPr>
            <p:custDataLst>
              <p:tags r:id="rId33"/>
            </p:custDataLst>
          </p:nvPr>
        </p:nvSpPr>
        <p:spPr>
          <a:xfrm>
            <a:off x="6581775" y="2513330"/>
            <a:ext cx="269875" cy="17145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2" name="Freeform 1493"/>
          <p:cNvSpPr/>
          <p:nvPr>
            <p:custDataLst>
              <p:tags r:id="rId34"/>
            </p:custDataLst>
          </p:nvPr>
        </p:nvSpPr>
        <p:spPr>
          <a:xfrm>
            <a:off x="6602730" y="2524125"/>
            <a:ext cx="226695" cy="48895"/>
          </a:xfrm>
          <a:custGeom>
            <a:avLst/>
            <a:gdLst/>
            <a:ahLst/>
            <a:cxnLst/>
            <a:rect l="0" t="0" r="0" b="0"/>
            <a:pathLst>
              <a:path w="1997963" h="248412">
                <a:moveTo>
                  <a:pt x="0" y="24130"/>
                </a:moveTo>
                <a:cubicBezTo>
                  <a:pt x="0" y="10796"/>
                  <a:pt x="10795" y="0"/>
                  <a:pt x="24130" y="0"/>
                </a:cubicBezTo>
                <a:lnTo>
                  <a:pt x="1973834" y="0"/>
                </a:lnTo>
                <a:cubicBezTo>
                  <a:pt x="1987168" y="0"/>
                  <a:pt x="1997963" y="10796"/>
                  <a:pt x="1997963" y="24130"/>
                </a:cubicBezTo>
                <a:lnTo>
                  <a:pt x="1997963" y="224282"/>
                </a:lnTo>
                <a:cubicBezTo>
                  <a:pt x="1997963" y="237617"/>
                  <a:pt x="1987168" y="248412"/>
                  <a:pt x="1973834" y="248412"/>
                </a:cubicBezTo>
                <a:lnTo>
                  <a:pt x="24130" y="248412"/>
                </a:lnTo>
                <a:cubicBezTo>
                  <a:pt x="10795" y="248412"/>
                  <a:pt x="0" y="237617"/>
                  <a:pt x="0" y="224282"/>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43" name="矩形: 圆角 43"/>
          <p:cNvSpPr/>
          <p:nvPr>
            <p:custDataLst>
              <p:tags r:id="rId35"/>
            </p:custDataLst>
          </p:nvPr>
        </p:nvSpPr>
        <p:spPr>
          <a:xfrm>
            <a:off x="6023610" y="2873375"/>
            <a:ext cx="370205" cy="17526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4" name="Freeform 1529"/>
          <p:cNvSpPr/>
          <p:nvPr>
            <p:custDataLst>
              <p:tags r:id="rId36"/>
            </p:custDataLst>
          </p:nvPr>
        </p:nvSpPr>
        <p:spPr>
          <a:xfrm>
            <a:off x="6044565" y="2893695"/>
            <a:ext cx="323215" cy="47625"/>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rgbClr val="58729A">
              <a:lumMod val="20000"/>
              <a:lumOff val="80000"/>
              <a:alpha val="50195"/>
            </a:srgb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45" name="矩形: 圆角 43"/>
          <p:cNvSpPr/>
          <p:nvPr>
            <p:custDataLst>
              <p:tags r:id="rId37"/>
            </p:custDataLst>
          </p:nvPr>
        </p:nvSpPr>
        <p:spPr>
          <a:xfrm>
            <a:off x="6466205" y="2873375"/>
            <a:ext cx="370205" cy="175260"/>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b="1" dirty="0">
              <a:solidFill>
                <a:srgbClr val="24396B"/>
              </a:solidFill>
              <a:latin typeface="微软雅黑" panose="020B0503020204020204" charset="-122"/>
              <a:ea typeface="微软雅黑" panose="020B0503020204020204" charset="-122"/>
              <a:cs typeface="微软雅黑" panose="020B0503020204020204" charset="-122"/>
              <a:sym typeface="+mn-ea"/>
            </a:endParaRPr>
          </a:p>
        </p:txBody>
      </p:sp>
      <p:sp>
        <p:nvSpPr>
          <p:cNvPr id="146" name="Freeform 1529"/>
          <p:cNvSpPr/>
          <p:nvPr>
            <p:custDataLst>
              <p:tags r:id="rId38"/>
            </p:custDataLst>
          </p:nvPr>
        </p:nvSpPr>
        <p:spPr>
          <a:xfrm>
            <a:off x="6486525" y="2893695"/>
            <a:ext cx="323215" cy="47625"/>
          </a:xfrm>
          <a:custGeom>
            <a:avLst/>
            <a:gdLst/>
            <a:ahLst/>
            <a:cxnLst/>
            <a:rect l="0" t="0" r="0" b="0"/>
            <a:pathLst>
              <a:path w="2674620" h="242317">
                <a:moveTo>
                  <a:pt x="0" y="23623"/>
                </a:moveTo>
                <a:cubicBezTo>
                  <a:pt x="0" y="10542"/>
                  <a:pt x="10541" y="0"/>
                  <a:pt x="23622" y="0"/>
                </a:cubicBezTo>
                <a:lnTo>
                  <a:pt x="2650999" y="0"/>
                </a:lnTo>
                <a:cubicBezTo>
                  <a:pt x="2664080" y="0"/>
                  <a:pt x="2674620" y="10542"/>
                  <a:pt x="2674620" y="23623"/>
                </a:cubicBezTo>
                <a:lnTo>
                  <a:pt x="2674620" y="218694"/>
                </a:lnTo>
                <a:cubicBezTo>
                  <a:pt x="2674620" y="231775"/>
                  <a:pt x="2664080" y="242317"/>
                  <a:pt x="2650999" y="242317"/>
                </a:cubicBezTo>
                <a:lnTo>
                  <a:pt x="23622" y="242317"/>
                </a:lnTo>
                <a:cubicBezTo>
                  <a:pt x="10541" y="242317"/>
                  <a:pt x="0" y="231775"/>
                  <a:pt x="0" y="218694"/>
                </a:cubicBezTo>
                <a:close/>
              </a:path>
            </a:pathLst>
          </a:cu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47" name="Rectangle 1555"/>
          <p:cNvSpPr/>
          <p:nvPr>
            <p:custDataLst>
              <p:tags r:id="rId39"/>
            </p:custDataLst>
          </p:nvPr>
        </p:nvSpPr>
        <p:spPr>
          <a:xfrm>
            <a:off x="6044565" y="2891790"/>
            <a:ext cx="323215" cy="51435"/>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48" name="矩形: 圆角 48"/>
          <p:cNvSpPr/>
          <p:nvPr>
            <p:custDataLst>
              <p:tags r:id="rId40"/>
            </p:custDataLst>
          </p:nvPr>
        </p:nvSpPr>
        <p:spPr>
          <a:xfrm>
            <a:off x="5599430" y="3232785"/>
            <a:ext cx="586105" cy="163195"/>
          </a:xfrm>
          <a:prstGeom prst="roundRect">
            <a:avLst>
              <a:gd name="adj" fmla="val 1871"/>
            </a:avLst>
          </a:prstGeom>
          <a:solidFill>
            <a:srgbClr val="000000">
              <a:alpha val="0"/>
            </a:srgbClr>
          </a:solidFill>
          <a:ln w="11430" cap="flat" cmpd="sng" algn="ctr">
            <a:solidFill>
              <a:schemeClr val="accent1">
                <a:lumMod val="40000"/>
                <a:lumOff val="60000"/>
              </a:schemeClr>
            </a:solidFill>
            <a:prstDash val="dash"/>
            <a:miter lim="800000"/>
          </a:ln>
          <a:effec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b="1" dirty="0">
              <a:solidFill>
                <a:srgbClr val="24396B"/>
              </a:solidFill>
              <a:latin typeface="微软雅黑" panose="020B0503020204020204" charset="-122"/>
              <a:ea typeface="微软雅黑" panose="020B0503020204020204" charset="-122"/>
              <a:cs typeface="微软雅黑" panose="020B0503020204020204" charset="-122"/>
            </a:endParaRPr>
          </a:p>
        </p:txBody>
      </p:sp>
      <p:sp>
        <p:nvSpPr>
          <p:cNvPr id="150" name="Freeform 1536"/>
          <p:cNvSpPr/>
          <p:nvPr>
            <p:custDataLst>
              <p:tags r:id="rId41"/>
            </p:custDataLst>
          </p:nvPr>
        </p:nvSpPr>
        <p:spPr>
          <a:xfrm>
            <a:off x="5619115" y="3313430"/>
            <a:ext cx="274320" cy="66675"/>
          </a:xfrm>
          <a:custGeom>
            <a:avLst/>
            <a:gdLst/>
            <a:ahLst/>
            <a:cxnLst/>
            <a:rect l="0" t="0" r="0" b="0"/>
            <a:pathLst>
              <a:path w="1716024" h="338328">
                <a:moveTo>
                  <a:pt x="0" y="338328"/>
                </a:moveTo>
                <a:lnTo>
                  <a:pt x="1716024" y="338328"/>
                </a:lnTo>
                <a:lnTo>
                  <a:pt x="171602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51" name="Freeform 1537"/>
          <p:cNvSpPr/>
          <p:nvPr>
            <p:custDataLst>
              <p:tags r:id="rId42"/>
            </p:custDataLst>
          </p:nvPr>
        </p:nvSpPr>
        <p:spPr>
          <a:xfrm>
            <a:off x="5906770" y="3313430"/>
            <a:ext cx="262255" cy="66675"/>
          </a:xfrm>
          <a:custGeom>
            <a:avLst/>
            <a:gdLst/>
            <a:ahLst/>
            <a:cxnLst/>
            <a:rect l="0" t="0" r="0" b="0"/>
            <a:pathLst>
              <a:path w="2241804" h="338328">
                <a:moveTo>
                  <a:pt x="0" y="338328"/>
                </a:moveTo>
                <a:lnTo>
                  <a:pt x="2241804" y="338328"/>
                </a:lnTo>
                <a:lnTo>
                  <a:pt x="224180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2" name="Rectangle 1570"/>
          <p:cNvSpPr/>
          <p:nvPr>
            <p:custDataLst>
              <p:tags r:id="rId43"/>
            </p:custDataLst>
          </p:nvPr>
        </p:nvSpPr>
        <p:spPr>
          <a:xfrm>
            <a:off x="5617210" y="3251200"/>
            <a:ext cx="551815" cy="44450"/>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4" name="Freeform 1536"/>
          <p:cNvSpPr/>
          <p:nvPr>
            <p:custDataLst>
              <p:tags r:id="rId44"/>
            </p:custDataLst>
          </p:nvPr>
        </p:nvSpPr>
        <p:spPr>
          <a:xfrm>
            <a:off x="6257925" y="3313430"/>
            <a:ext cx="274320" cy="66675"/>
          </a:xfrm>
          <a:custGeom>
            <a:avLst/>
            <a:gdLst/>
            <a:ahLst/>
            <a:cxnLst/>
            <a:rect l="0" t="0" r="0" b="0"/>
            <a:pathLst>
              <a:path w="1716024" h="338328">
                <a:moveTo>
                  <a:pt x="0" y="338328"/>
                </a:moveTo>
                <a:lnTo>
                  <a:pt x="1716024" y="338328"/>
                </a:lnTo>
                <a:lnTo>
                  <a:pt x="171602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a:lstStyle/>
          <a:p>
            <a:endParaRPr lang="zh-CN" altLang="en-US" b="1">
              <a:latin typeface="微软雅黑" panose="020B0503020204020204" charset="-122"/>
              <a:ea typeface="微软雅黑" panose="020B0503020204020204" charset="-122"/>
              <a:cs typeface="微软雅黑" panose="020B0503020204020204" charset="-122"/>
            </a:endParaRPr>
          </a:p>
        </p:txBody>
      </p:sp>
      <p:sp>
        <p:nvSpPr>
          <p:cNvPr id="155" name="Freeform 1537"/>
          <p:cNvSpPr/>
          <p:nvPr>
            <p:custDataLst>
              <p:tags r:id="rId45"/>
            </p:custDataLst>
          </p:nvPr>
        </p:nvSpPr>
        <p:spPr>
          <a:xfrm>
            <a:off x="6546215" y="3313430"/>
            <a:ext cx="262255" cy="66675"/>
          </a:xfrm>
          <a:custGeom>
            <a:avLst/>
            <a:gdLst/>
            <a:ahLst/>
            <a:cxnLst/>
            <a:rect l="0" t="0" r="0" b="0"/>
            <a:pathLst>
              <a:path w="2241804" h="338328">
                <a:moveTo>
                  <a:pt x="0" y="338328"/>
                </a:moveTo>
                <a:lnTo>
                  <a:pt x="2241804" y="338328"/>
                </a:lnTo>
                <a:lnTo>
                  <a:pt x="2241804" y="0"/>
                </a:lnTo>
                <a:lnTo>
                  <a:pt x="0" y="0"/>
                </a:lnTo>
                <a:lnTo>
                  <a:pt x="0" y="338328"/>
                </a:lnTo>
                <a:close/>
              </a:path>
            </a:pathLst>
          </a:custGeom>
          <a:noFill/>
          <a:ln w="12191" cap="flat" cmpd="sng" algn="ctr">
            <a:solidFill>
              <a:schemeClr val="accent1">
                <a:lumMod val="40000"/>
                <a:lumOff val="60000"/>
                <a:alpha val="50000"/>
              </a:schemeClr>
            </a:solidFill>
            <a:prstDash val="solid"/>
            <a:miter lim="127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6" name="Rectangle 1570"/>
          <p:cNvSpPr/>
          <p:nvPr>
            <p:custDataLst>
              <p:tags r:id="rId46"/>
            </p:custDataLst>
          </p:nvPr>
        </p:nvSpPr>
        <p:spPr>
          <a:xfrm>
            <a:off x="6256020" y="3248660"/>
            <a:ext cx="551815" cy="44450"/>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157" name="矩形: 圆角 48"/>
          <p:cNvSpPr/>
          <p:nvPr>
            <p:custDataLst>
              <p:tags r:id="rId47"/>
            </p:custDataLst>
          </p:nvPr>
        </p:nvSpPr>
        <p:spPr>
          <a:xfrm>
            <a:off x="6238875" y="3232785"/>
            <a:ext cx="586105" cy="163195"/>
          </a:xfrm>
          <a:prstGeom prst="roundRect">
            <a:avLst>
              <a:gd name="adj" fmla="val 1871"/>
            </a:avLst>
          </a:prstGeom>
          <a:noFill/>
          <a:ln w="11430" cap="flat" cmpd="sng" algn="ctr">
            <a:solidFill>
              <a:schemeClr val="accent1">
                <a:lumMod val="40000"/>
                <a:lumOff val="60000"/>
              </a:schemeClr>
            </a:solidFill>
            <a:prstDash val="dash"/>
            <a:miter lim="800000"/>
          </a:ln>
          <a:effectLst/>
          <a:extLst>
            <a:ext uri="{909E8E84-426E-40DD-AFC4-6F175D3DCCD1}">
              <a14:hiddenFill xmlns:a14="http://schemas.microsoft.com/office/drawing/2010/main">
                <a:gradFill>
                  <a:gsLst>
                    <a:gs pos="0">
                      <a:srgbClr val="FFFFFF"/>
                    </a:gs>
                    <a:gs pos="100000">
                      <a:srgbClr val="FFFFFF"/>
                    </a:gs>
                    <a:gs pos="46000">
                      <a:srgbClr val="24396B">
                        <a:lumMod val="5000"/>
                        <a:lumOff val="95000"/>
                      </a:srgbClr>
                    </a:gs>
                  </a:gsLst>
                  <a:path path="circle">
                    <a:fillToRect r="100000" b="100000"/>
                  </a:path>
                </a:gradFill>
              </a14:hiddenFill>
            </a:ext>
          </a:extLst>
        </p:spPr>
        <p:style>
          <a:lnRef idx="2">
            <a:srgbClr val="24396B">
              <a:shade val="50000"/>
            </a:srgbClr>
          </a:lnRef>
          <a:fillRef idx="1">
            <a:srgbClr val="24396B"/>
          </a:fillRef>
          <a:effectRef idx="0">
            <a:srgbClr val="24396B"/>
          </a:effectRef>
          <a:fontRef idx="minor">
            <a:srgbClr val="FFFFFF"/>
          </a:fontRef>
        </p:style>
        <p:txBody>
          <a:bodyPr rtlCol="0" anchor="ctr"/>
          <a:lstStyle/>
          <a:p>
            <a:pPr algn="ctr"/>
            <a:endParaRPr lang="zh-CN" altLang="en-US" b="1" dirty="0">
              <a:solidFill>
                <a:srgbClr val="24396B"/>
              </a:solidFill>
              <a:latin typeface="微软雅黑" panose="020B0503020204020204" charset="-122"/>
              <a:ea typeface="微软雅黑" panose="020B0503020204020204" charset="-122"/>
              <a:cs typeface="微软雅黑" panose="020B0503020204020204" charset="-122"/>
            </a:endParaRPr>
          </a:p>
        </p:txBody>
      </p:sp>
      <p:grpSp>
        <p:nvGrpSpPr>
          <p:cNvPr id="158" name="组合 157"/>
          <p:cNvGrpSpPr/>
          <p:nvPr>
            <p:custDataLst>
              <p:tags r:id="rId48"/>
            </p:custDataLst>
          </p:nvPr>
        </p:nvGrpSpPr>
        <p:grpSpPr>
          <a:xfrm>
            <a:off x="8874760" y="2491740"/>
            <a:ext cx="2159000" cy="965200"/>
            <a:chOff x="1978" y="9485"/>
            <a:chExt cx="4539" cy="2029"/>
          </a:xfrm>
        </p:grpSpPr>
        <p:sp>
          <p:nvSpPr>
            <p:cNvPr id="216" name="Shape"/>
            <p:cNvSpPr/>
            <p:nvPr>
              <p:custDataLst>
                <p:tags r:id="rId49"/>
              </p:custDataLst>
            </p:nvPr>
          </p:nvSpPr>
          <p:spPr>
            <a:xfrm>
              <a:off x="3454" y="10131"/>
              <a:ext cx="699" cy="737"/>
            </a:xfrm>
            <a:custGeom>
              <a:avLst/>
              <a:gdLst/>
              <a:ahLst/>
              <a:cxnLst>
                <a:cxn ang="0">
                  <a:pos x="wd2" y="hd2"/>
                </a:cxn>
                <a:cxn ang="5400000">
                  <a:pos x="wd2" y="hd2"/>
                </a:cxn>
                <a:cxn ang="10800000">
                  <a:pos x="wd2" y="hd2"/>
                </a:cxn>
                <a:cxn ang="16200000">
                  <a:pos x="wd2" y="hd2"/>
                </a:cxn>
              </a:cxnLst>
              <a:rect l="0" t="0" r="r" b="b"/>
              <a:pathLst>
                <a:path w="21600" h="21600" extrusionOk="0">
                  <a:moveTo>
                    <a:pt x="11375" y="0"/>
                  </a:moveTo>
                  <a:cubicBezTo>
                    <a:pt x="8463" y="0"/>
                    <a:pt x="5552" y="1056"/>
                    <a:pt x="3331" y="3165"/>
                  </a:cubicBezTo>
                  <a:cubicBezTo>
                    <a:pt x="1110" y="5274"/>
                    <a:pt x="0" y="8038"/>
                    <a:pt x="0" y="10801"/>
                  </a:cubicBezTo>
                  <a:cubicBezTo>
                    <a:pt x="0" y="13565"/>
                    <a:pt x="1110" y="16329"/>
                    <a:pt x="3331" y="18438"/>
                  </a:cubicBezTo>
                  <a:cubicBezTo>
                    <a:pt x="5552" y="20546"/>
                    <a:pt x="8463" y="21600"/>
                    <a:pt x="11375" y="21600"/>
                  </a:cubicBezTo>
                  <a:cubicBezTo>
                    <a:pt x="14286" y="21600"/>
                    <a:pt x="17197" y="20546"/>
                    <a:pt x="19418" y="18438"/>
                  </a:cubicBezTo>
                  <a:cubicBezTo>
                    <a:pt x="20341" y="17562"/>
                    <a:pt x="21061" y="16569"/>
                    <a:pt x="21600" y="15513"/>
                  </a:cubicBezTo>
                  <a:cubicBezTo>
                    <a:pt x="21198" y="15286"/>
                    <a:pt x="20815" y="15014"/>
                    <a:pt x="20469" y="14686"/>
                  </a:cubicBezTo>
                  <a:cubicBezTo>
                    <a:pt x="18210" y="12541"/>
                    <a:pt x="18210" y="9061"/>
                    <a:pt x="20469" y="6917"/>
                  </a:cubicBezTo>
                  <a:cubicBezTo>
                    <a:pt x="20815" y="6588"/>
                    <a:pt x="21198" y="6317"/>
                    <a:pt x="21600" y="6089"/>
                  </a:cubicBezTo>
                  <a:cubicBezTo>
                    <a:pt x="21061" y="5034"/>
                    <a:pt x="20341" y="4041"/>
                    <a:pt x="19418" y="3165"/>
                  </a:cubicBezTo>
                  <a:cubicBezTo>
                    <a:pt x="17197" y="1056"/>
                    <a:pt x="14286" y="0"/>
                    <a:pt x="11375" y="0"/>
                  </a:cubicBezTo>
                  <a:close/>
                </a:path>
              </a:pathLst>
            </a:custGeom>
            <a:solidFill>
              <a:schemeClr val="accent1">
                <a:lumMod val="60000"/>
                <a:lumOff val="40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7" name="Shape"/>
            <p:cNvSpPr/>
            <p:nvPr>
              <p:custDataLst>
                <p:tags r:id="rId50"/>
              </p:custDataLst>
            </p:nvPr>
          </p:nvSpPr>
          <p:spPr>
            <a:xfrm>
              <a:off x="4345" y="10131"/>
              <a:ext cx="700" cy="737"/>
            </a:xfrm>
            <a:custGeom>
              <a:avLst/>
              <a:gdLst/>
              <a:ahLst/>
              <a:cxnLst>
                <a:cxn ang="0">
                  <a:pos x="wd2" y="hd2"/>
                </a:cxn>
                <a:cxn ang="5400000">
                  <a:pos x="wd2" y="hd2"/>
                </a:cxn>
                <a:cxn ang="10800000">
                  <a:pos x="wd2" y="hd2"/>
                </a:cxn>
                <a:cxn ang="16200000">
                  <a:pos x="wd2" y="hd2"/>
                </a:cxn>
              </a:cxnLst>
              <a:rect l="0" t="0" r="r" b="b"/>
              <a:pathLst>
                <a:path w="21600" h="21600" extrusionOk="0">
                  <a:moveTo>
                    <a:pt x="10224" y="0"/>
                  </a:moveTo>
                  <a:cubicBezTo>
                    <a:pt x="7313" y="0"/>
                    <a:pt x="4403" y="1056"/>
                    <a:pt x="2182" y="3165"/>
                  </a:cubicBezTo>
                  <a:cubicBezTo>
                    <a:pt x="1259" y="4041"/>
                    <a:pt x="539" y="5034"/>
                    <a:pt x="0" y="6089"/>
                  </a:cubicBezTo>
                  <a:cubicBezTo>
                    <a:pt x="402" y="6317"/>
                    <a:pt x="784" y="6588"/>
                    <a:pt x="1130" y="6917"/>
                  </a:cubicBezTo>
                  <a:cubicBezTo>
                    <a:pt x="3389" y="9061"/>
                    <a:pt x="3389" y="12541"/>
                    <a:pt x="1130" y="14686"/>
                  </a:cubicBezTo>
                  <a:cubicBezTo>
                    <a:pt x="784" y="15014"/>
                    <a:pt x="402" y="15286"/>
                    <a:pt x="0" y="15513"/>
                  </a:cubicBezTo>
                  <a:cubicBezTo>
                    <a:pt x="539" y="16569"/>
                    <a:pt x="1259" y="17562"/>
                    <a:pt x="2182" y="18438"/>
                  </a:cubicBezTo>
                  <a:cubicBezTo>
                    <a:pt x="4403" y="20546"/>
                    <a:pt x="7313" y="21600"/>
                    <a:pt x="10224" y="21600"/>
                  </a:cubicBezTo>
                  <a:cubicBezTo>
                    <a:pt x="13135" y="21600"/>
                    <a:pt x="16046" y="20546"/>
                    <a:pt x="18267" y="18438"/>
                  </a:cubicBezTo>
                  <a:cubicBezTo>
                    <a:pt x="20488" y="16329"/>
                    <a:pt x="21600" y="13565"/>
                    <a:pt x="21600" y="10801"/>
                  </a:cubicBezTo>
                  <a:cubicBezTo>
                    <a:pt x="21600" y="8038"/>
                    <a:pt x="20488" y="5274"/>
                    <a:pt x="18267" y="3165"/>
                  </a:cubicBezTo>
                  <a:cubicBezTo>
                    <a:pt x="16046" y="1056"/>
                    <a:pt x="13135" y="0"/>
                    <a:pt x="10224" y="0"/>
                  </a:cubicBezTo>
                  <a:close/>
                </a:path>
              </a:pathLst>
            </a:custGeom>
            <a:solidFill>
              <a:schemeClr val="accent1">
                <a:lumMod val="60000"/>
                <a:lumOff val="40000"/>
              </a:schemeClr>
            </a:solidFill>
            <a:ln w="12700">
              <a:miter lim="400000"/>
            </a:ln>
          </p:spPr>
          <p:txBody>
            <a:bodyPr lIns="0" tIns="0" rIns="0" bIns="0" anchor="ctr">
              <a:noAutofit/>
            </a:bodyPr>
            <a:lstStyle/>
            <a:p>
              <a:pPr lvl="0" algn="ctr">
                <a:spcBef>
                  <a:spcPts val="0"/>
                </a:spcBef>
                <a:spcAft>
                  <a:spcPts val="0"/>
                </a:spcAft>
                <a:buClrTx/>
                <a:buSzTx/>
                <a:buFontTx/>
                <a:defRPr/>
              </a:pPr>
              <a:endParaRPr sz="90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18" name="Circle"/>
            <p:cNvSpPr/>
            <p:nvPr>
              <p:custDataLst>
                <p:tags r:id="rId51"/>
              </p:custDataLst>
            </p:nvPr>
          </p:nvSpPr>
          <p:spPr>
            <a:xfrm>
              <a:off x="4093" y="10343"/>
              <a:ext cx="312" cy="312"/>
            </a:xfrm>
            <a:prstGeom prst="ellipse">
              <a:avLst/>
            </a:prstGeom>
            <a:solidFill>
              <a:schemeClr val="accent1">
                <a:lumMod val="60000"/>
                <a:lumOff val="40000"/>
              </a:schemeClr>
            </a:solidFill>
            <a:ln w="12700" cap="flat">
              <a:noFill/>
              <a:miter lim="400000"/>
            </a:ln>
            <a:effectLst/>
          </p:spPr>
          <p:txBody>
            <a:bodyPr wrap="square" lIns="0" tIns="0" rIns="0" bIns="0" numCol="1"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3" name="Circle"/>
            <p:cNvSpPr/>
            <p:nvPr>
              <p:custDataLst>
                <p:tags r:id="rId52"/>
              </p:custDataLst>
            </p:nvPr>
          </p:nvSpPr>
          <p:spPr>
            <a:xfrm>
              <a:off x="6037" y="9485"/>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29" name="Circle"/>
            <p:cNvSpPr/>
            <p:nvPr>
              <p:custDataLst>
                <p:tags r:id="rId53"/>
              </p:custDataLst>
            </p:nvPr>
          </p:nvSpPr>
          <p:spPr>
            <a:xfrm>
              <a:off x="6037" y="10002"/>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0" name="Circle"/>
            <p:cNvSpPr/>
            <p:nvPr>
              <p:custDataLst>
                <p:tags r:id="rId54"/>
              </p:custDataLst>
            </p:nvPr>
          </p:nvSpPr>
          <p:spPr>
            <a:xfrm>
              <a:off x="6037" y="10518"/>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1" name="Circle"/>
            <p:cNvSpPr/>
            <p:nvPr>
              <p:custDataLst>
                <p:tags r:id="rId55"/>
              </p:custDataLst>
            </p:nvPr>
          </p:nvSpPr>
          <p:spPr>
            <a:xfrm>
              <a:off x="6037" y="11034"/>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2" name="Circle"/>
            <p:cNvSpPr/>
            <p:nvPr>
              <p:custDataLst>
                <p:tags r:id="rId56"/>
              </p:custDataLst>
            </p:nvPr>
          </p:nvSpPr>
          <p:spPr>
            <a:xfrm>
              <a:off x="1978" y="9485"/>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3" name="Circle"/>
            <p:cNvSpPr/>
            <p:nvPr>
              <p:custDataLst>
                <p:tags r:id="rId57"/>
              </p:custDataLst>
            </p:nvPr>
          </p:nvSpPr>
          <p:spPr>
            <a:xfrm>
              <a:off x="1978" y="10002"/>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4" name="Circle"/>
            <p:cNvSpPr/>
            <p:nvPr>
              <p:custDataLst>
                <p:tags r:id="rId58"/>
              </p:custDataLst>
            </p:nvPr>
          </p:nvSpPr>
          <p:spPr>
            <a:xfrm>
              <a:off x="1978" y="10518"/>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5" name="Circle"/>
            <p:cNvSpPr/>
            <p:nvPr>
              <p:custDataLst>
                <p:tags r:id="rId59"/>
              </p:custDataLst>
            </p:nvPr>
          </p:nvSpPr>
          <p:spPr>
            <a:xfrm>
              <a:off x="1978" y="11034"/>
              <a:ext cx="480" cy="480"/>
            </a:xfrm>
            <a:prstGeom prst="ellipse">
              <a:avLst/>
            </a:prstGeom>
            <a:solidFill>
              <a:schemeClr val="accent1">
                <a:lumMod val="40000"/>
                <a:lumOff val="60000"/>
              </a:schemeClr>
            </a:solidFill>
            <a:ln w="12700" cap="flat">
              <a:noFill/>
              <a:miter lim="400000"/>
            </a:ln>
            <a:effectLst/>
          </p:spPr>
          <p:txBody>
            <a:bodyPr wrap="square" lIns="0" tIns="0" rIns="0" bIns="0" numCol="1" anchor="ctr">
              <a:noAutofit/>
            </a:bodyPr>
            <a:lstStyle/>
            <a:p>
              <a:pPr lvl="0" algn="ctr">
                <a:spcBef>
                  <a:spcPts val="0"/>
                </a:spcBef>
                <a:spcAft>
                  <a:spcPts val="0"/>
                </a:spcAft>
                <a:buClrTx/>
                <a:buSzTx/>
                <a:buFontTx/>
                <a:defRPr/>
              </a:pPr>
              <a:endParaRPr sz="9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36" name="Line"/>
            <p:cNvSpPr/>
            <p:nvPr>
              <p:custDataLst>
                <p:tags r:id="rId60"/>
              </p:custDataLst>
            </p:nvPr>
          </p:nvSpPr>
          <p:spPr>
            <a:xfrm flipH="1" flipV="1">
              <a:off x="2479" y="9810"/>
              <a:ext cx="971" cy="383"/>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37" name="Line"/>
            <p:cNvSpPr/>
            <p:nvPr>
              <p:custDataLst>
                <p:tags r:id="rId61"/>
              </p:custDataLst>
            </p:nvPr>
          </p:nvSpPr>
          <p:spPr>
            <a:xfrm flipH="1" flipV="1">
              <a:off x="2491" y="10286"/>
              <a:ext cx="858" cy="107"/>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38" name="Line"/>
            <p:cNvSpPr/>
            <p:nvPr>
              <p:custDataLst>
                <p:tags r:id="rId62"/>
              </p:custDataLst>
            </p:nvPr>
          </p:nvSpPr>
          <p:spPr>
            <a:xfrm flipH="1">
              <a:off x="2488" y="10621"/>
              <a:ext cx="865" cy="106"/>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39" name="Line"/>
            <p:cNvSpPr/>
            <p:nvPr>
              <p:custDataLst>
                <p:tags r:id="rId63"/>
              </p:custDataLst>
            </p:nvPr>
          </p:nvSpPr>
          <p:spPr>
            <a:xfrm flipH="1">
              <a:off x="2478" y="10805"/>
              <a:ext cx="977" cy="370"/>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0" name="Line"/>
            <p:cNvSpPr/>
            <p:nvPr>
              <p:custDataLst>
                <p:tags r:id="rId64"/>
              </p:custDataLst>
            </p:nvPr>
          </p:nvSpPr>
          <p:spPr>
            <a:xfrm>
              <a:off x="5029" y="10802"/>
              <a:ext cx="986" cy="376"/>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noAutofit/>
            </a:bodyPr>
            <a:lstStyle/>
            <a:p>
              <a:pPr lvl="0" algn="ctr">
                <a:spcBef>
                  <a:spcPts val="0"/>
                </a:spcBef>
                <a:spcAft>
                  <a:spcPts val="0"/>
                </a:spcAft>
                <a:buClrTx/>
                <a:buSzTx/>
                <a:buFontTx/>
                <a:defRPr/>
              </a:pPr>
              <a:endParaRPr sz="900" noProof="0">
                <a:ln>
                  <a:noFill/>
                </a:ln>
                <a:solidFill>
                  <a:prstClr val="black"/>
                </a:solidFill>
                <a:effectLst/>
                <a:uLnTx/>
                <a:uFillTx/>
                <a:latin typeface="微软雅黑" panose="020B0503020204020204" charset="-122"/>
                <a:cs typeface="微软雅黑" panose="020B0503020204020204" charset="-122"/>
                <a:sym typeface="+mn-ea"/>
              </a:endParaRPr>
            </a:p>
          </p:txBody>
        </p:sp>
        <p:sp>
          <p:nvSpPr>
            <p:cNvPr id="241" name="Line"/>
            <p:cNvSpPr/>
            <p:nvPr>
              <p:custDataLst>
                <p:tags r:id="rId65"/>
              </p:custDataLst>
            </p:nvPr>
          </p:nvSpPr>
          <p:spPr>
            <a:xfrm>
              <a:off x="5127" y="10611"/>
              <a:ext cx="875" cy="111"/>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2" name="Line"/>
            <p:cNvSpPr/>
            <p:nvPr>
              <p:custDataLst>
                <p:tags r:id="rId66"/>
              </p:custDataLst>
            </p:nvPr>
          </p:nvSpPr>
          <p:spPr>
            <a:xfrm flipV="1">
              <a:off x="5128" y="10281"/>
              <a:ext cx="877" cy="114"/>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5" name="Line"/>
            <p:cNvSpPr/>
            <p:nvPr>
              <p:custDataLst>
                <p:tags r:id="rId67"/>
              </p:custDataLst>
            </p:nvPr>
          </p:nvSpPr>
          <p:spPr>
            <a:xfrm flipV="1">
              <a:off x="5030" y="9821"/>
              <a:ext cx="984" cy="378"/>
            </a:xfrm>
            <a:prstGeom prst="line">
              <a:avLst/>
            </a:prstGeom>
            <a:ln w="38100">
              <a:solidFill>
                <a:schemeClr val="accent1">
                  <a:lumMod val="60000"/>
                  <a:lumOff val="40000"/>
                </a:schemeClr>
              </a:solidFill>
              <a:custDash>
                <a:ds d="200000" sp="200000"/>
              </a:custDash>
              <a:miter lim="400000"/>
              <a:tailEnd type="triangle"/>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mn-ea"/>
                <a:cs typeface="微软雅黑" panose="020B0503020204020204" charset="-122"/>
              </a:endParaRPr>
            </a:p>
          </p:txBody>
        </p:sp>
        <p:sp>
          <p:nvSpPr>
            <p:cNvPr id="246" name="Line"/>
            <p:cNvSpPr/>
            <p:nvPr>
              <p:custDataLst>
                <p:tags r:id="rId68"/>
              </p:custDataLst>
            </p:nvPr>
          </p:nvSpPr>
          <p:spPr>
            <a:xfrm>
              <a:off x="3337" y="10034"/>
              <a:ext cx="467" cy="932"/>
            </a:xfrm>
            <a:custGeom>
              <a:avLst/>
              <a:gdLst/>
              <a:ahLst/>
              <a:cxnLst>
                <a:cxn ang="0">
                  <a:pos x="wd2" y="hd2"/>
                </a:cxn>
                <a:cxn ang="5400000">
                  <a:pos x="wd2" y="hd2"/>
                </a:cxn>
                <a:cxn ang="10800000">
                  <a:pos x="wd2" y="hd2"/>
                </a:cxn>
                <a:cxn ang="16200000">
                  <a:pos x="wd2" y="hd2"/>
                </a:cxn>
              </a:cxnLst>
              <a:rect l="0" t="0" r="r" b="b"/>
              <a:pathLst>
                <a:path w="21592" h="21592" extrusionOk="0">
                  <a:moveTo>
                    <a:pt x="21483" y="0"/>
                  </a:moveTo>
                  <a:cubicBezTo>
                    <a:pt x="9601" y="20"/>
                    <a:pt x="-8" y="4851"/>
                    <a:pt x="0" y="10801"/>
                  </a:cubicBezTo>
                  <a:cubicBezTo>
                    <a:pt x="9" y="16768"/>
                    <a:pt x="9678" y="21600"/>
                    <a:pt x="21592" y="21592"/>
                  </a:cubicBezTo>
                </a:path>
              </a:pathLst>
            </a:custGeom>
            <a:ln w="38100">
              <a:solidFill>
                <a:schemeClr val="accent1">
                  <a:lumMod val="60000"/>
                  <a:lumOff val="40000"/>
                </a:schemeClr>
              </a:solidFill>
            </a:ln>
          </p:spPr>
          <p:txBody>
            <a:bodyPr lIns="22859" tIns="22859" rIns="22859" bIns="22859"/>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sz="9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7" name="Line"/>
            <p:cNvSpPr/>
            <p:nvPr>
              <p:custDataLst>
                <p:tags r:id="rId69"/>
              </p:custDataLst>
            </p:nvPr>
          </p:nvSpPr>
          <p:spPr>
            <a:xfrm>
              <a:off x="4694" y="10033"/>
              <a:ext cx="448" cy="933"/>
            </a:xfrm>
            <a:custGeom>
              <a:avLst/>
              <a:gdLst/>
              <a:ahLst/>
              <a:cxnLst>
                <a:cxn ang="0">
                  <a:pos x="wd2" y="hd2"/>
                </a:cxn>
                <a:cxn ang="5400000">
                  <a:pos x="wd2" y="hd2"/>
                </a:cxn>
                <a:cxn ang="10800000">
                  <a:pos x="wd2" y="hd2"/>
                </a:cxn>
                <a:cxn ang="16200000">
                  <a:pos x="wd2" y="hd2"/>
                </a:cxn>
              </a:cxnLst>
              <a:rect l="0" t="0" r="r" b="b"/>
              <a:pathLst>
                <a:path w="20753" h="21600" extrusionOk="0">
                  <a:moveTo>
                    <a:pt x="0" y="0"/>
                  </a:moveTo>
                  <a:cubicBezTo>
                    <a:pt x="12246" y="292"/>
                    <a:pt x="21600" y="5577"/>
                    <a:pt x="20692" y="11690"/>
                  </a:cubicBezTo>
                  <a:cubicBezTo>
                    <a:pt x="19881" y="17155"/>
                    <a:pt x="10952" y="21431"/>
                    <a:pt x="0" y="21600"/>
                  </a:cubicBezTo>
                </a:path>
              </a:pathLst>
            </a:custGeom>
            <a:ln w="38100">
              <a:solidFill>
                <a:schemeClr val="accent1">
                  <a:lumMod val="60000"/>
                  <a:lumOff val="40000"/>
                </a:schemeClr>
              </a:solidFill>
            </a:ln>
          </p:spPr>
          <p:txBody>
            <a:bodyPr lIns="22859" tIns="22859" rIns="22859" bIns="22859">
              <a:noAutofit/>
            </a:bodyPr>
            <a:lstStyle/>
            <a:p>
              <a:pPr lvl="0" algn="ctr">
                <a:spcBef>
                  <a:spcPts val="0"/>
                </a:spcBef>
                <a:spcAft>
                  <a:spcPts val="0"/>
                </a:spcAft>
                <a:buClrTx/>
                <a:buSzTx/>
                <a:buFontTx/>
                <a:defRPr/>
              </a:pPr>
              <a:endParaRPr sz="90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grpSp>
        <p:nvGrpSpPr>
          <p:cNvPr id="159" name="组合 158"/>
          <p:cNvGrpSpPr/>
          <p:nvPr>
            <p:custDataLst>
              <p:tags r:id="rId70"/>
            </p:custDataLst>
          </p:nvPr>
        </p:nvGrpSpPr>
        <p:grpSpPr>
          <a:xfrm>
            <a:off x="1816100" y="5186680"/>
            <a:ext cx="1156335" cy="1155401"/>
            <a:chOff x="2917" y="9383"/>
            <a:chExt cx="2530" cy="2529"/>
          </a:xfrm>
        </p:grpSpPr>
        <p:pic>
          <p:nvPicPr>
            <p:cNvPr id="249" name="图片 248" descr="左右箭头-2"/>
            <p:cNvPicPr>
              <a:picLocks noChangeAspect="1"/>
            </p:cNvPicPr>
            <p:nvPr>
              <p:custDataLst>
                <p:tags r:id="rId71"/>
              </p:custDataLst>
            </p:nvPr>
          </p:nvPicPr>
          <p:blipFill>
            <a:blip r:embed="rId72">
              <a:extLst>
                <a:ext uri="{96DAC541-7B7A-43D3-8B79-37D633B846F1}">
                  <asvg:svgBlip xmlns:asvg="http://schemas.microsoft.com/office/drawing/2016/SVG/main" r:embed="rId73"/>
                </a:ext>
              </a:extLst>
            </a:blip>
            <a:stretch>
              <a:fillRect/>
            </a:stretch>
          </p:blipFill>
          <p:spPr>
            <a:xfrm>
              <a:off x="4171" y="10609"/>
              <a:ext cx="79" cy="79"/>
            </a:xfrm>
            <a:prstGeom prst="rect">
              <a:avLst/>
            </a:prstGeom>
          </p:spPr>
        </p:pic>
        <p:sp>
          <p:nvSpPr>
            <p:cNvPr id="250" name="紫荆的职场Point8"/>
            <p:cNvSpPr/>
            <p:nvPr>
              <p:custDataLst>
                <p:tags r:id="rId74"/>
              </p:custDataLst>
            </p:nvPr>
          </p:nvSpPr>
          <p:spPr bwMode="auto">
            <a:xfrm>
              <a:off x="4470" y="10061"/>
              <a:ext cx="479" cy="498"/>
            </a:xfrm>
            <a:custGeom>
              <a:avLst/>
              <a:gdLst>
                <a:gd name="connsiteX0" fmla="*/ 619628 w 1306515"/>
                <a:gd name="connsiteY0" fmla="*/ 0 h 1357311"/>
                <a:gd name="connsiteX1" fmla="*/ 1306515 w 1306515"/>
                <a:gd name="connsiteY1" fmla="*/ 1189815 h 1357311"/>
                <a:gd name="connsiteX2" fmla="*/ 357258 w 1306515"/>
                <a:gd name="connsiteY2" fmla="*/ 1357311 h 1357311"/>
                <a:gd name="connsiteX3" fmla="*/ 0 w 1306515"/>
                <a:gd name="connsiteY3" fmla="*/ 738585 h 1357311"/>
              </a:gdLst>
              <a:ahLst/>
              <a:cxnLst>
                <a:cxn ang="0">
                  <a:pos x="connsiteX0" y="connsiteY0"/>
                </a:cxn>
                <a:cxn ang="0">
                  <a:pos x="connsiteX1" y="connsiteY1"/>
                </a:cxn>
                <a:cxn ang="0">
                  <a:pos x="connsiteX2" y="connsiteY2"/>
                </a:cxn>
                <a:cxn ang="0">
                  <a:pos x="connsiteX3" y="connsiteY3"/>
                </a:cxn>
              </a:cxnLst>
              <a:rect l="l" t="t" r="r" b="b"/>
              <a:pathLst>
                <a:path w="1306515" h="1357311">
                  <a:moveTo>
                    <a:pt x="619628" y="0"/>
                  </a:moveTo>
                  <a:cubicBezTo>
                    <a:pt x="981268" y="303552"/>
                    <a:pt x="1224584" y="724865"/>
                    <a:pt x="1306515" y="1189815"/>
                  </a:cubicBezTo>
                  <a:lnTo>
                    <a:pt x="357258" y="1357311"/>
                  </a:lnTo>
                  <a:cubicBezTo>
                    <a:pt x="314577" y="1115499"/>
                    <a:pt x="188060" y="896363"/>
                    <a:pt x="0" y="738585"/>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1" name="紫荆的职场Point9"/>
            <p:cNvSpPr/>
            <p:nvPr>
              <p:custDataLst>
                <p:tags r:id="rId75"/>
              </p:custDataLst>
            </p:nvPr>
          </p:nvSpPr>
          <p:spPr bwMode="auto">
            <a:xfrm>
              <a:off x="4560" y="10531"/>
              <a:ext cx="405" cy="497"/>
            </a:xfrm>
            <a:custGeom>
              <a:avLst/>
              <a:gdLst>
                <a:gd name="connsiteX0" fmla="*/ 1072263 w 1102722"/>
                <a:gd name="connsiteY0" fmla="*/ 0 h 1352548"/>
                <a:gd name="connsiteX1" fmla="*/ 833940 w 1102722"/>
                <a:gd name="connsiteY1" fmla="*/ 1352548 h 1352548"/>
                <a:gd name="connsiteX2" fmla="*/ 0 w 1102722"/>
                <a:gd name="connsiteY2" fmla="*/ 870774 h 1352548"/>
                <a:gd name="connsiteX3" fmla="*/ 123920 w 1102722"/>
                <a:gd name="connsiteY3" fmla="*/ 167449 h 1352548"/>
              </a:gdLst>
              <a:ahLst/>
              <a:cxnLst>
                <a:cxn ang="0">
                  <a:pos x="connsiteX0" y="connsiteY0"/>
                </a:cxn>
                <a:cxn ang="0">
                  <a:pos x="connsiteX1" y="connsiteY1"/>
                </a:cxn>
                <a:cxn ang="0">
                  <a:pos x="connsiteX2" y="connsiteY2"/>
                </a:cxn>
                <a:cxn ang="0">
                  <a:pos x="connsiteX3" y="connsiteY3"/>
                </a:cxn>
              </a:cxnLst>
              <a:rect l="l" t="t" r="r" b="b"/>
              <a:pathLst>
                <a:path w="1102722" h="1352548">
                  <a:moveTo>
                    <a:pt x="1072263" y="0"/>
                  </a:moveTo>
                  <a:cubicBezTo>
                    <a:pt x="1154115" y="465010"/>
                    <a:pt x="1069788" y="943736"/>
                    <a:pt x="833940" y="1352548"/>
                  </a:cubicBezTo>
                  <a:lnTo>
                    <a:pt x="0" y="870774"/>
                  </a:lnTo>
                  <a:cubicBezTo>
                    <a:pt x="122588" y="658177"/>
                    <a:pt x="166560" y="409194"/>
                    <a:pt x="123920" y="167449"/>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2" name="紫荆的职场Point10"/>
            <p:cNvSpPr/>
            <p:nvPr>
              <p:custDataLst>
                <p:tags r:id="rId76"/>
              </p:custDataLst>
            </p:nvPr>
          </p:nvSpPr>
          <p:spPr bwMode="auto">
            <a:xfrm>
              <a:off x="4344" y="10874"/>
              <a:ext cx="507" cy="502"/>
            </a:xfrm>
            <a:custGeom>
              <a:avLst/>
              <a:gdLst>
                <a:gd name="connsiteX0" fmla="*/ 547519 w 1382715"/>
                <a:gd name="connsiteY0" fmla="*/ 0 h 1365248"/>
                <a:gd name="connsiteX1" fmla="*/ 1382715 w 1382715"/>
                <a:gd name="connsiteY1" fmla="*/ 482144 h 1365248"/>
                <a:gd name="connsiteX2" fmla="*/ 329808 w 1382715"/>
                <a:gd name="connsiteY2" fmla="*/ 1365248 h 1365248"/>
                <a:gd name="connsiteX3" fmla="*/ 0 w 1382715"/>
                <a:gd name="connsiteY3" fmla="*/ 459275 h 1365248"/>
                <a:gd name="connsiteX4" fmla="*/ 547519 w 1382715"/>
                <a:gd name="connsiteY4" fmla="*/ 0 h 136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715" h="1365248">
                  <a:moveTo>
                    <a:pt x="547519" y="0"/>
                  </a:moveTo>
                  <a:lnTo>
                    <a:pt x="1382715" y="482144"/>
                  </a:lnTo>
                  <a:cubicBezTo>
                    <a:pt x="1146512" y="891108"/>
                    <a:pt x="773810" y="1203835"/>
                    <a:pt x="329808" y="1365248"/>
                  </a:cubicBezTo>
                  <a:lnTo>
                    <a:pt x="0" y="459275"/>
                  </a:lnTo>
                  <a:cubicBezTo>
                    <a:pt x="230866" y="375424"/>
                    <a:pt x="424556" y="212677"/>
                    <a:pt x="547519"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3" name="紫荆的职场Point11"/>
            <p:cNvSpPr/>
            <p:nvPr>
              <p:custDataLst>
                <p:tags r:id="rId77"/>
              </p:custDataLst>
            </p:nvPr>
          </p:nvSpPr>
          <p:spPr bwMode="auto">
            <a:xfrm>
              <a:off x="3932" y="11053"/>
              <a:ext cx="504" cy="377"/>
            </a:xfrm>
            <a:custGeom>
              <a:avLst/>
              <a:gdLst>
                <a:gd name="connsiteX0" fmla="*/ 329870 w 1374777"/>
                <a:gd name="connsiteY0" fmla="*/ 0 h 1026426"/>
                <a:gd name="connsiteX1" fmla="*/ 1044716 w 1374777"/>
                <a:gd name="connsiteY1" fmla="*/ 0 h 1026426"/>
                <a:gd name="connsiteX2" fmla="*/ 1374777 w 1374777"/>
                <a:gd name="connsiteY2" fmla="*/ 905312 h 1026426"/>
                <a:gd name="connsiteX3" fmla="*/ 0 w 1374777"/>
                <a:gd name="connsiteY3" fmla="*/ 905312 h 1026426"/>
              </a:gdLst>
              <a:ahLst/>
              <a:cxnLst>
                <a:cxn ang="0">
                  <a:pos x="connsiteX0" y="connsiteY0"/>
                </a:cxn>
                <a:cxn ang="0">
                  <a:pos x="connsiteX1" y="connsiteY1"/>
                </a:cxn>
                <a:cxn ang="0">
                  <a:pos x="connsiteX2" y="connsiteY2"/>
                </a:cxn>
                <a:cxn ang="0">
                  <a:pos x="connsiteX3" y="connsiteY3"/>
                </a:cxn>
              </a:cxnLst>
              <a:rect l="l" t="t" r="r" b="b"/>
              <a:pathLst>
                <a:path w="1374777" h="1026426">
                  <a:moveTo>
                    <a:pt x="329870" y="0"/>
                  </a:moveTo>
                  <a:cubicBezTo>
                    <a:pt x="560779" y="83981"/>
                    <a:pt x="813807" y="83981"/>
                    <a:pt x="1044716" y="0"/>
                  </a:cubicBezTo>
                  <a:lnTo>
                    <a:pt x="1374777" y="905312"/>
                  </a:lnTo>
                  <a:cubicBezTo>
                    <a:pt x="930692" y="1066798"/>
                    <a:pt x="443895" y="1066798"/>
                    <a:pt x="0" y="905312"/>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4" name="紫荆的职场Point12"/>
            <p:cNvSpPr/>
            <p:nvPr>
              <p:custDataLst>
                <p:tags r:id="rId78"/>
              </p:custDataLst>
            </p:nvPr>
          </p:nvSpPr>
          <p:spPr bwMode="auto">
            <a:xfrm>
              <a:off x="3518" y="10874"/>
              <a:ext cx="507" cy="502"/>
            </a:xfrm>
            <a:custGeom>
              <a:avLst/>
              <a:gdLst>
                <a:gd name="connsiteX0" fmla="*/ 834237 w 1381127"/>
                <a:gd name="connsiteY0" fmla="*/ 0 h 1365248"/>
                <a:gd name="connsiteX1" fmla="*/ 1381127 w 1381127"/>
                <a:gd name="connsiteY1" fmla="*/ 459275 h 1365248"/>
                <a:gd name="connsiteX2" fmla="*/ 1051508 w 1381127"/>
                <a:gd name="connsiteY2" fmla="*/ 1365248 h 1365248"/>
                <a:gd name="connsiteX3" fmla="*/ 0 w 1381127"/>
                <a:gd name="connsiteY3" fmla="*/ 482144 h 1365248"/>
              </a:gdLst>
              <a:ahLst/>
              <a:cxnLst>
                <a:cxn ang="0">
                  <a:pos x="connsiteX0" y="connsiteY0"/>
                </a:cxn>
                <a:cxn ang="0">
                  <a:pos x="connsiteX1" y="connsiteY1"/>
                </a:cxn>
                <a:cxn ang="0">
                  <a:pos x="connsiteX2" y="connsiteY2"/>
                </a:cxn>
                <a:cxn ang="0">
                  <a:pos x="connsiteX3" y="connsiteY3"/>
                </a:cxn>
              </a:cxnLst>
              <a:rect l="l" t="t" r="r" b="b"/>
              <a:pathLst>
                <a:path w="1381127" h="1365248">
                  <a:moveTo>
                    <a:pt x="834237" y="0"/>
                  </a:moveTo>
                  <a:cubicBezTo>
                    <a:pt x="956868" y="212677"/>
                    <a:pt x="1150527" y="375424"/>
                    <a:pt x="1381127" y="459275"/>
                  </a:cubicBezTo>
                  <a:lnTo>
                    <a:pt x="1051508" y="1365248"/>
                  </a:lnTo>
                  <a:cubicBezTo>
                    <a:pt x="608206" y="1203835"/>
                    <a:pt x="235742" y="891108"/>
                    <a:pt x="0" y="482144"/>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5" name="紫荆的职场Point13"/>
            <p:cNvSpPr/>
            <p:nvPr>
              <p:custDataLst>
                <p:tags r:id="rId79"/>
              </p:custDataLst>
            </p:nvPr>
          </p:nvSpPr>
          <p:spPr bwMode="auto">
            <a:xfrm>
              <a:off x="3404" y="10527"/>
              <a:ext cx="405" cy="497"/>
            </a:xfrm>
            <a:custGeom>
              <a:avLst/>
              <a:gdLst>
                <a:gd name="connsiteX0" fmla="*/ 30497 w 1104248"/>
                <a:gd name="connsiteY0" fmla="*/ 0 h 1352548"/>
                <a:gd name="connsiteX1" fmla="*/ 980178 w 1104248"/>
                <a:gd name="connsiteY1" fmla="*/ 167449 h 1352548"/>
                <a:gd name="connsiteX2" fmla="*/ 1104248 w 1104248"/>
                <a:gd name="connsiteY2" fmla="*/ 870774 h 1352548"/>
                <a:gd name="connsiteX3" fmla="*/ 269109 w 1104248"/>
                <a:gd name="connsiteY3" fmla="*/ 1352548 h 1352548"/>
                <a:gd name="connsiteX4" fmla="*/ 30497 w 1104248"/>
                <a:gd name="connsiteY4" fmla="*/ 0 h 1352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248" h="1352548">
                  <a:moveTo>
                    <a:pt x="30497" y="0"/>
                  </a:moveTo>
                  <a:lnTo>
                    <a:pt x="980178" y="167449"/>
                  </a:lnTo>
                  <a:cubicBezTo>
                    <a:pt x="937487" y="409194"/>
                    <a:pt x="981321" y="658177"/>
                    <a:pt x="1104248" y="870774"/>
                  </a:cubicBezTo>
                  <a:lnTo>
                    <a:pt x="269109" y="1352548"/>
                  </a:lnTo>
                  <a:cubicBezTo>
                    <a:pt x="32975" y="943736"/>
                    <a:pt x="-51454" y="465010"/>
                    <a:pt x="30497"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6" name="紫荆的职场Point14"/>
            <p:cNvSpPr/>
            <p:nvPr>
              <p:custDataLst>
                <p:tags r:id="rId80"/>
              </p:custDataLst>
            </p:nvPr>
          </p:nvSpPr>
          <p:spPr bwMode="auto">
            <a:xfrm>
              <a:off x="3421" y="10061"/>
              <a:ext cx="479" cy="498"/>
            </a:xfrm>
            <a:custGeom>
              <a:avLst/>
              <a:gdLst>
                <a:gd name="connsiteX0" fmla="*/ 686888 w 1306515"/>
                <a:gd name="connsiteY0" fmla="*/ 0 h 1357311"/>
                <a:gd name="connsiteX1" fmla="*/ 1306515 w 1306515"/>
                <a:gd name="connsiteY1" fmla="*/ 738593 h 1357311"/>
                <a:gd name="connsiteX2" fmla="*/ 949353 w 1306515"/>
                <a:gd name="connsiteY2" fmla="*/ 1357311 h 1357311"/>
                <a:gd name="connsiteX3" fmla="*/ 0 w 1306515"/>
                <a:gd name="connsiteY3" fmla="*/ 1189887 h 1357311"/>
                <a:gd name="connsiteX4" fmla="*/ 686888 w 1306515"/>
                <a:gd name="connsiteY4" fmla="*/ 0 h 13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515" h="1357311">
                  <a:moveTo>
                    <a:pt x="686888" y="0"/>
                  </a:moveTo>
                  <a:lnTo>
                    <a:pt x="1306515" y="738593"/>
                  </a:lnTo>
                  <a:cubicBezTo>
                    <a:pt x="1118455" y="896393"/>
                    <a:pt x="991938" y="1115465"/>
                    <a:pt x="949353" y="1357311"/>
                  </a:cubicBezTo>
                  <a:lnTo>
                    <a:pt x="0" y="1189887"/>
                  </a:lnTo>
                  <a:cubicBezTo>
                    <a:pt x="82027" y="724776"/>
                    <a:pt x="325248" y="303499"/>
                    <a:pt x="686888"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7" name="紫荆的职场Point15"/>
            <p:cNvSpPr/>
            <p:nvPr>
              <p:custDataLst>
                <p:tags r:id="rId81"/>
              </p:custDataLst>
            </p:nvPr>
          </p:nvSpPr>
          <p:spPr bwMode="auto">
            <a:xfrm>
              <a:off x="3696" y="9869"/>
              <a:ext cx="474" cy="443"/>
            </a:xfrm>
            <a:custGeom>
              <a:avLst/>
              <a:gdLst>
                <a:gd name="connsiteX0" fmla="*/ 1290640 w 1290640"/>
                <a:gd name="connsiteY0" fmla="*/ 0 h 1208086"/>
                <a:gd name="connsiteX1" fmla="*/ 1290640 w 1290640"/>
                <a:gd name="connsiteY1" fmla="*/ 963840 h 1208086"/>
                <a:gd name="connsiteX2" fmla="*/ 619599 w 1290640"/>
                <a:gd name="connsiteY2" fmla="*/ 1208086 h 1208086"/>
                <a:gd name="connsiteX3" fmla="*/ 0 w 1290640"/>
                <a:gd name="connsiteY3" fmla="*/ 469631 h 1208086"/>
                <a:gd name="connsiteX4" fmla="*/ 1290640 w 1290640"/>
                <a:gd name="connsiteY4" fmla="*/ 0 h 1208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0640" h="1208086">
                  <a:moveTo>
                    <a:pt x="1290640" y="0"/>
                  </a:moveTo>
                  <a:lnTo>
                    <a:pt x="1290640" y="963840"/>
                  </a:lnTo>
                  <a:cubicBezTo>
                    <a:pt x="1045239" y="963840"/>
                    <a:pt x="807650" y="1050336"/>
                    <a:pt x="619599" y="1208086"/>
                  </a:cubicBezTo>
                  <a:lnTo>
                    <a:pt x="0" y="469631"/>
                  </a:lnTo>
                  <a:cubicBezTo>
                    <a:pt x="361623" y="166324"/>
                    <a:pt x="818701" y="0"/>
                    <a:pt x="1290640"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8" name="紫荆的职场Point16"/>
            <p:cNvSpPr/>
            <p:nvPr>
              <p:custDataLst>
                <p:tags r:id="rId82"/>
              </p:custDataLst>
            </p:nvPr>
          </p:nvSpPr>
          <p:spPr bwMode="auto">
            <a:xfrm>
              <a:off x="4200" y="9869"/>
              <a:ext cx="474" cy="443"/>
            </a:xfrm>
            <a:custGeom>
              <a:avLst/>
              <a:gdLst>
                <a:gd name="connsiteX0" fmla="*/ 0 w 1290640"/>
                <a:gd name="connsiteY0" fmla="*/ 0 h 1208086"/>
                <a:gd name="connsiteX1" fmla="*/ 1290640 w 1290640"/>
                <a:gd name="connsiteY1" fmla="*/ 469631 h 1208086"/>
                <a:gd name="connsiteX2" fmla="*/ 671133 w 1290640"/>
                <a:gd name="connsiteY2" fmla="*/ 1208086 h 1208086"/>
                <a:gd name="connsiteX3" fmla="*/ 0 w 1290640"/>
                <a:gd name="connsiteY3" fmla="*/ 963840 h 1208086"/>
              </a:gdLst>
              <a:ahLst/>
              <a:cxnLst>
                <a:cxn ang="0">
                  <a:pos x="connsiteX0" y="connsiteY0"/>
                </a:cxn>
                <a:cxn ang="0">
                  <a:pos x="connsiteX1" y="connsiteY1"/>
                </a:cxn>
                <a:cxn ang="0">
                  <a:pos x="connsiteX2" y="connsiteY2"/>
                </a:cxn>
                <a:cxn ang="0">
                  <a:pos x="connsiteX3" y="connsiteY3"/>
                </a:cxn>
              </a:cxnLst>
              <a:rect l="l" t="t" r="r" b="b"/>
              <a:pathLst>
                <a:path w="1290640" h="1208086">
                  <a:moveTo>
                    <a:pt x="0" y="0"/>
                  </a:moveTo>
                  <a:cubicBezTo>
                    <a:pt x="472060" y="0"/>
                    <a:pt x="929070" y="166324"/>
                    <a:pt x="1290640" y="469631"/>
                  </a:cubicBezTo>
                  <a:lnTo>
                    <a:pt x="671133" y="1208086"/>
                  </a:lnTo>
                  <a:cubicBezTo>
                    <a:pt x="483109" y="1050336"/>
                    <a:pt x="245555" y="963840"/>
                    <a:pt x="0" y="96384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9" name="紫荆的职场Point17"/>
            <p:cNvSpPr/>
            <p:nvPr>
              <p:custDataLst>
                <p:tags r:id="rId83"/>
              </p:custDataLst>
            </p:nvPr>
          </p:nvSpPr>
          <p:spPr>
            <a:xfrm>
              <a:off x="3820" y="10294"/>
              <a:ext cx="706" cy="706"/>
            </a:xfrm>
            <a:prstGeom prst="ellipse">
              <a:avLst/>
            </a:prstGeom>
            <a:solidFill>
              <a:schemeClr val="accent1">
                <a:lumMod val="60000"/>
                <a:lumOff val="40000"/>
              </a:schemeClr>
            </a:solidFill>
            <a:ln w="25617" cap="flat" cmpd="sng" algn="ctr">
              <a:solidFill>
                <a:schemeClr val="accent1">
                  <a:lumMod val="60000"/>
                  <a:lumOff val="40000"/>
                </a:schemeClr>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lIns="122959" tIns="61480" rIns="122959" bIns="61480" rtlCol="0" anchor="ctr"/>
            <a:lstStyle/>
            <a:p>
              <a:pPr algn="ctr">
                <a:spcBef>
                  <a:spcPct val="0"/>
                </a:spcBef>
                <a:spcAft>
                  <a:spcPct val="0"/>
                </a:spcAft>
              </a:pPr>
              <a:endParaRPr 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62" name="任意多边形: 形状 54"/>
            <p:cNvSpPr/>
            <p:nvPr>
              <p:custDataLst>
                <p:tags r:id="rId84"/>
              </p:custDataLst>
            </p:nvPr>
          </p:nvSpPr>
          <p:spPr>
            <a:xfrm>
              <a:off x="3005" y="9466"/>
              <a:ext cx="1184" cy="1176"/>
            </a:xfrm>
            <a:custGeom>
              <a:avLst/>
              <a:gdLst>
                <a:gd name="connsiteX0" fmla="*/ 720258 w 2418588"/>
                <a:gd name="connsiteY0" fmla="*/ 2400151 h 2400300"/>
                <a:gd name="connsiteX1" fmla="*/ 2414280 w 2418588"/>
                <a:gd name="connsiteY1" fmla="*/ 718417 h 2400300"/>
                <a:gd name="connsiteX2" fmla="*/ 2419805 w 2418588"/>
                <a:gd name="connsiteY2" fmla="*/ 718417 h 2400300"/>
                <a:gd name="connsiteX3" fmla="*/ 2419805 w 2418588"/>
                <a:gd name="connsiteY3" fmla="*/ -54 h 2400300"/>
                <a:gd name="connsiteX4" fmla="*/ 2413899 w 2418588"/>
                <a:gd name="connsiteY4" fmla="*/ -54 h 2400300"/>
                <a:gd name="connsiteX5" fmla="*/ 1216 w 2418588"/>
                <a:gd name="connsiteY5" fmla="*/ 2400247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588" h="2400300">
                  <a:moveTo>
                    <a:pt x="720258" y="2400151"/>
                  </a:moveTo>
                  <a:cubicBezTo>
                    <a:pt x="727117" y="1470225"/>
                    <a:pt x="1482830" y="718417"/>
                    <a:pt x="2414280" y="718417"/>
                  </a:cubicBezTo>
                  <a:lnTo>
                    <a:pt x="2419805" y="718417"/>
                  </a:lnTo>
                  <a:lnTo>
                    <a:pt x="2419805" y="-54"/>
                  </a:lnTo>
                  <a:lnTo>
                    <a:pt x="2413899" y="-54"/>
                  </a:lnTo>
                  <a:cubicBezTo>
                    <a:pt x="1085543" y="-54"/>
                    <a:pt x="7980" y="1073509"/>
                    <a:pt x="1216" y="2400247"/>
                  </a:cubicBez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3" name="任意多边形: 形状 55"/>
            <p:cNvSpPr/>
            <p:nvPr>
              <p:custDataLst>
                <p:tags r:id="rId85"/>
              </p:custDataLst>
            </p:nvPr>
          </p:nvSpPr>
          <p:spPr>
            <a:xfrm>
              <a:off x="2917" y="10298"/>
              <a:ext cx="1271" cy="1532"/>
            </a:xfrm>
            <a:custGeom>
              <a:avLst/>
              <a:gdLst>
                <a:gd name="connsiteX0" fmla="*/ 2592778 w 2596610"/>
                <a:gd name="connsiteY0" fmla="*/ 2409581 h 3128200"/>
                <a:gd name="connsiteX1" fmla="*/ 898471 w 2596610"/>
                <a:gd name="connsiteY1" fmla="*/ 715274 h 3128200"/>
                <a:gd name="connsiteX2" fmla="*/ 898471 w 2596610"/>
                <a:gd name="connsiteY2" fmla="*/ 715179 h 3128200"/>
                <a:gd name="connsiteX3" fmla="*/ 898471 w 2596610"/>
                <a:gd name="connsiteY3" fmla="*/ 707749 h 3128200"/>
                <a:gd name="connsiteX4" fmla="*/ 1069921 w 2596610"/>
                <a:gd name="connsiteY4" fmla="*/ 707749 h 3128200"/>
                <a:gd name="connsiteX5" fmla="*/ 535568 w 2596610"/>
                <a:gd name="connsiteY5" fmla="*/ -54 h 3128200"/>
                <a:gd name="connsiteX6" fmla="*/ 1216 w 2596610"/>
                <a:gd name="connsiteY6" fmla="*/ 707749 h 3128200"/>
                <a:gd name="connsiteX7" fmla="*/ 179428 w 2596610"/>
                <a:gd name="connsiteY7" fmla="*/ 707749 h 3128200"/>
                <a:gd name="connsiteX8" fmla="*/ 179428 w 2596610"/>
                <a:gd name="connsiteY8" fmla="*/ 715179 h 3128200"/>
                <a:gd name="connsiteX9" fmla="*/ 2592302 w 2596610"/>
                <a:gd name="connsiteY9" fmla="*/ 3128147 h 3128200"/>
                <a:gd name="connsiteX10" fmla="*/ 2597826 w 2596610"/>
                <a:gd name="connsiteY10" fmla="*/ 3128147 h 3128200"/>
                <a:gd name="connsiteX11" fmla="*/ 2597826 w 2596610"/>
                <a:gd name="connsiteY11" fmla="*/ 2409391 h 312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96610" h="3128200">
                  <a:moveTo>
                    <a:pt x="2592778" y="2409581"/>
                  </a:moveTo>
                  <a:cubicBezTo>
                    <a:pt x="1657042" y="2409581"/>
                    <a:pt x="898471" y="1651010"/>
                    <a:pt x="898471" y="715274"/>
                  </a:cubicBezTo>
                  <a:cubicBezTo>
                    <a:pt x="898471" y="715245"/>
                    <a:pt x="898471" y="715207"/>
                    <a:pt x="898471" y="715179"/>
                  </a:cubicBezTo>
                  <a:cubicBezTo>
                    <a:pt x="898471" y="712702"/>
                    <a:pt x="898471" y="710226"/>
                    <a:pt x="898471" y="707749"/>
                  </a:cubicBezTo>
                  <a:lnTo>
                    <a:pt x="1069921" y="707749"/>
                  </a:lnTo>
                  <a:lnTo>
                    <a:pt x="535568" y="-54"/>
                  </a:lnTo>
                  <a:lnTo>
                    <a:pt x="1216" y="707749"/>
                  </a:lnTo>
                  <a:lnTo>
                    <a:pt x="179428" y="707749"/>
                  </a:lnTo>
                  <a:cubicBezTo>
                    <a:pt x="179428" y="710226"/>
                    <a:pt x="179428" y="712702"/>
                    <a:pt x="179428" y="715179"/>
                  </a:cubicBezTo>
                  <a:cubicBezTo>
                    <a:pt x="179428" y="2047822"/>
                    <a:pt x="1259754" y="3128147"/>
                    <a:pt x="2592302" y="3128147"/>
                  </a:cubicBezTo>
                  <a:lnTo>
                    <a:pt x="2597826" y="3128147"/>
                  </a:lnTo>
                  <a:lnTo>
                    <a:pt x="2597826" y="2409391"/>
                  </a:lnTo>
                  <a:close/>
                </a:path>
              </a:pathLst>
            </a:custGeom>
            <a:solidFill>
              <a:schemeClr val="accent1">
                <a:lumMod val="40000"/>
                <a:lumOff val="6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4" name="任意多边形: 形状 56"/>
            <p:cNvSpPr/>
            <p:nvPr>
              <p:custDataLst>
                <p:tags r:id="rId86"/>
              </p:custDataLst>
            </p:nvPr>
          </p:nvSpPr>
          <p:spPr>
            <a:xfrm>
              <a:off x="3848" y="10642"/>
              <a:ext cx="1519" cy="1270"/>
            </a:xfrm>
            <a:custGeom>
              <a:avLst/>
              <a:gdLst>
                <a:gd name="connsiteX0" fmla="*/ 3104937 w 3103721"/>
                <a:gd name="connsiteY0" fmla="*/ 12520 h 2592038"/>
                <a:gd name="connsiteX1" fmla="*/ 3104937 w 3103721"/>
                <a:gd name="connsiteY1" fmla="*/ -54 h 2592038"/>
                <a:gd name="connsiteX2" fmla="*/ 2386180 w 3103721"/>
                <a:gd name="connsiteY2" fmla="*/ -54 h 2592038"/>
                <a:gd name="connsiteX3" fmla="*/ 2386180 w 3103721"/>
                <a:gd name="connsiteY3" fmla="*/ 12520 h 2592038"/>
                <a:gd name="connsiteX4" fmla="*/ 708923 w 3103721"/>
                <a:gd name="connsiteY4" fmla="*/ 1706541 h 2592038"/>
                <a:gd name="connsiteX5" fmla="*/ 708923 w 3103721"/>
                <a:gd name="connsiteY5" fmla="*/ 1523280 h 2592038"/>
                <a:gd name="connsiteX6" fmla="*/ 1216 w 3103721"/>
                <a:gd name="connsiteY6" fmla="*/ 2057632 h 2592038"/>
                <a:gd name="connsiteX7" fmla="*/ 708923 w 3103721"/>
                <a:gd name="connsiteY7" fmla="*/ 2591985 h 2592038"/>
                <a:gd name="connsiteX8" fmla="*/ 708923 w 3103721"/>
                <a:gd name="connsiteY8" fmla="*/ 2425297 h 2592038"/>
                <a:gd name="connsiteX9" fmla="*/ 3104937 w 3103721"/>
                <a:gd name="connsiteY9" fmla="*/ 12520 h 259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3721" h="2592038">
                  <a:moveTo>
                    <a:pt x="3104937" y="12520"/>
                  </a:moveTo>
                  <a:cubicBezTo>
                    <a:pt x="3104937" y="8329"/>
                    <a:pt x="3104937" y="4137"/>
                    <a:pt x="3104937" y="-54"/>
                  </a:cubicBezTo>
                  <a:lnTo>
                    <a:pt x="2386180" y="-54"/>
                  </a:lnTo>
                  <a:cubicBezTo>
                    <a:pt x="2386180" y="4137"/>
                    <a:pt x="2386180" y="8329"/>
                    <a:pt x="2386180" y="12520"/>
                  </a:cubicBezTo>
                  <a:cubicBezTo>
                    <a:pt x="2386123" y="941550"/>
                    <a:pt x="1637906" y="1697244"/>
                    <a:pt x="708923" y="1706541"/>
                  </a:cubicBezTo>
                  <a:lnTo>
                    <a:pt x="708923" y="1523280"/>
                  </a:lnTo>
                  <a:lnTo>
                    <a:pt x="1216" y="2057632"/>
                  </a:lnTo>
                  <a:lnTo>
                    <a:pt x="708923" y="2591985"/>
                  </a:lnTo>
                  <a:lnTo>
                    <a:pt x="708923" y="2425297"/>
                  </a:lnTo>
                  <a:cubicBezTo>
                    <a:pt x="2033755" y="2416153"/>
                    <a:pt x="3104937" y="1339542"/>
                    <a:pt x="3104937" y="12520"/>
                  </a:cubicBez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5" name="任意多边形: 形状 57"/>
            <p:cNvSpPr/>
            <p:nvPr>
              <p:custDataLst>
                <p:tags r:id="rId87"/>
              </p:custDataLst>
            </p:nvPr>
          </p:nvSpPr>
          <p:spPr>
            <a:xfrm>
              <a:off x="4188" y="9466"/>
              <a:ext cx="1259" cy="1517"/>
            </a:xfrm>
            <a:custGeom>
              <a:avLst/>
              <a:gdLst>
                <a:gd name="connsiteX0" fmla="*/ 2408279 w 2570511"/>
                <a:gd name="connsiteY0" fmla="*/ 2389864 h 3097625"/>
                <a:gd name="connsiteX1" fmla="*/ 1216 w 2570511"/>
                <a:gd name="connsiteY1" fmla="*/ -54 h 3097625"/>
                <a:gd name="connsiteX2" fmla="*/ 1216 w 2570511"/>
                <a:gd name="connsiteY2" fmla="*/ 718608 h 3097625"/>
                <a:gd name="connsiteX3" fmla="*/ 1689522 w 2570511"/>
                <a:gd name="connsiteY3" fmla="*/ 2389864 h 3097625"/>
                <a:gd name="connsiteX4" fmla="*/ 1503023 w 2570511"/>
                <a:gd name="connsiteY4" fmla="*/ 2389864 h 3097625"/>
                <a:gd name="connsiteX5" fmla="*/ 2037375 w 2570511"/>
                <a:gd name="connsiteY5" fmla="*/ 3097572 h 3097625"/>
                <a:gd name="connsiteX6" fmla="*/ 2571728 w 2570511"/>
                <a:gd name="connsiteY6" fmla="*/ 2389864 h 309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0511" h="3097625">
                  <a:moveTo>
                    <a:pt x="2408279" y="2389864"/>
                  </a:moveTo>
                  <a:cubicBezTo>
                    <a:pt x="2395611" y="1069604"/>
                    <a:pt x="1323667" y="2899"/>
                    <a:pt x="1216" y="-54"/>
                  </a:cubicBezTo>
                  <a:lnTo>
                    <a:pt x="1216" y="718608"/>
                  </a:lnTo>
                  <a:cubicBezTo>
                    <a:pt x="926760" y="721465"/>
                    <a:pt x="1677616" y="1466511"/>
                    <a:pt x="1689522" y="2389864"/>
                  </a:cubicBezTo>
                  <a:lnTo>
                    <a:pt x="1503023" y="2389864"/>
                  </a:lnTo>
                  <a:lnTo>
                    <a:pt x="2037375" y="3097572"/>
                  </a:lnTo>
                  <a:lnTo>
                    <a:pt x="2571728" y="2389864"/>
                  </a:lnTo>
                  <a:close/>
                </a:path>
              </a:pathLst>
            </a:custGeom>
            <a:solidFill>
              <a:schemeClr val="accent1">
                <a:lumMod val="40000"/>
                <a:lumOff val="6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6" name="任意多边形: 形状 59"/>
            <p:cNvSpPr/>
            <p:nvPr>
              <p:custDataLst>
                <p:tags r:id="rId88"/>
              </p:custDataLst>
            </p:nvPr>
          </p:nvSpPr>
          <p:spPr>
            <a:xfrm>
              <a:off x="4150" y="9383"/>
              <a:ext cx="352" cy="524"/>
            </a:xfrm>
            <a:custGeom>
              <a:avLst/>
              <a:gdLst>
                <a:gd name="connsiteX0" fmla="*/ 0 w 718946"/>
                <a:gd name="connsiteY0" fmla="*/ 0 h 1068704"/>
                <a:gd name="connsiteX1" fmla="*/ 718947 w 718946"/>
                <a:gd name="connsiteY1" fmla="*/ 534353 h 1068704"/>
                <a:gd name="connsiteX2" fmla="*/ 0 w 718946"/>
                <a:gd name="connsiteY2" fmla="*/ 1068705 h 1068704"/>
                <a:gd name="connsiteX3" fmla="*/ 0 w 718946"/>
                <a:gd name="connsiteY3" fmla="*/ 0 h 1068704"/>
              </a:gdLst>
              <a:ahLst/>
              <a:cxnLst>
                <a:cxn ang="0">
                  <a:pos x="connsiteX0" y="connsiteY0"/>
                </a:cxn>
                <a:cxn ang="0">
                  <a:pos x="connsiteX1" y="connsiteY1"/>
                </a:cxn>
                <a:cxn ang="0">
                  <a:pos x="connsiteX2" y="connsiteY2"/>
                </a:cxn>
                <a:cxn ang="0">
                  <a:pos x="connsiteX3" y="connsiteY3"/>
                </a:cxn>
              </a:cxnLst>
              <a:rect l="l" t="t" r="r" b="b"/>
              <a:pathLst>
                <a:path w="718946" h="1068704">
                  <a:moveTo>
                    <a:pt x="0" y="0"/>
                  </a:moveTo>
                  <a:lnTo>
                    <a:pt x="718947" y="534353"/>
                  </a:lnTo>
                  <a:lnTo>
                    <a:pt x="0" y="1068705"/>
                  </a:lnTo>
                  <a:lnTo>
                    <a:pt x="0" y="0"/>
                  </a:ln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grpSp>
        <p:nvGrpSpPr>
          <p:cNvPr id="161" name="组合 160"/>
          <p:cNvGrpSpPr/>
          <p:nvPr>
            <p:custDataLst>
              <p:tags r:id="rId89"/>
            </p:custDataLst>
          </p:nvPr>
        </p:nvGrpSpPr>
        <p:grpSpPr>
          <a:xfrm>
            <a:off x="9033510" y="5218430"/>
            <a:ext cx="1974850" cy="974725"/>
            <a:chOff x="759" y="11416"/>
            <a:chExt cx="6502" cy="3209"/>
          </a:xfrm>
        </p:grpSpPr>
        <p:grpSp>
          <p:nvGrpSpPr>
            <p:cNvPr id="280" name="天蝎PPT原创©1"/>
            <p:cNvGrpSpPr/>
            <p:nvPr>
              <p:custDataLst>
                <p:tags r:id="rId90"/>
              </p:custDataLst>
            </p:nvPr>
          </p:nvGrpSpPr>
          <p:grpSpPr>
            <a:xfrm>
              <a:off x="760" y="11850"/>
              <a:ext cx="6496" cy="2138"/>
              <a:chOff x="371833" y="1813205"/>
              <a:chExt cx="11650653" cy="1175604"/>
            </a:xfrm>
            <a:solidFill>
              <a:srgbClr val="B2C5D4"/>
            </a:solidFill>
          </p:grpSpPr>
          <p:sp>
            <p:nvSpPr>
              <p:cNvPr id="281" name="天蝎PPT原创©1-1"/>
              <p:cNvSpPr/>
              <p:nvPr>
                <p:custDataLst>
                  <p:tags r:id="rId91"/>
                </p:custDataLst>
              </p:nvPr>
            </p:nvSpPr>
            <p:spPr>
              <a:xfrm>
                <a:off x="371833"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2" name="天蝎PPT原创©1-2"/>
              <p:cNvSpPr/>
              <p:nvPr>
                <p:custDataLst>
                  <p:tags r:id="rId92"/>
                </p:custDataLst>
              </p:nvPr>
            </p:nvSpPr>
            <p:spPr>
              <a:xfrm>
                <a:off x="3318233"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7" name="天蝎PPT原创©1-3"/>
              <p:cNvSpPr/>
              <p:nvPr>
                <p:custDataLst>
                  <p:tags r:id="rId93"/>
                </p:custDataLst>
              </p:nvPr>
            </p:nvSpPr>
            <p:spPr>
              <a:xfrm>
                <a:off x="6247699"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88" name="天蝎PPT原创©1-4"/>
              <p:cNvSpPr/>
              <p:nvPr>
                <p:custDataLst>
                  <p:tags r:id="rId94"/>
                </p:custDataLst>
              </p:nvPr>
            </p:nvSpPr>
            <p:spPr>
              <a:xfrm>
                <a:off x="9194099" y="1813205"/>
                <a:ext cx="2828387" cy="1175604"/>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289" name="天蝎PPT原创©2-1"/>
            <p:cNvSpPr/>
            <p:nvPr>
              <p:custDataLst>
                <p:tags r:id="rId95"/>
              </p:custDataLst>
            </p:nvPr>
          </p:nvSpPr>
          <p:spPr>
            <a:xfrm>
              <a:off x="765"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0" name="天蝎PPT原创©2-2"/>
            <p:cNvSpPr/>
            <p:nvPr>
              <p:custDataLst>
                <p:tags r:id="rId96"/>
              </p:custDataLst>
            </p:nvPr>
          </p:nvSpPr>
          <p:spPr>
            <a:xfrm>
              <a:off x="2408" y="11850"/>
              <a:ext cx="1577" cy="551"/>
            </a:xfrm>
            <a:prstGeom prst="rect">
              <a:avLst/>
            </a:prstGeom>
            <a:solidFill>
              <a:schemeClr val="accent1">
                <a:lumMod val="60000"/>
                <a:lumOff val="40000"/>
              </a:schemeClr>
            </a:solidFill>
            <a:ln>
              <a:noFill/>
            </a:ln>
          </p:spPr>
          <p:txBody>
            <a:bodyPr spcFirstLastPara="1" wrap="square" lIns="0" tIns="0" rIns="0" bIns="0" rtlCol="0" anchor="ctr" anchorCtr="0">
              <a:noAutofit/>
            </a:bodyPr>
            <a:lstStyle/>
            <a:p>
              <a:pPr lvl="0" algn="ctr">
                <a:buClr>
                  <a:srgbClr val="525455"/>
                </a:buClr>
                <a:buSzPts val="1100"/>
                <a:buFontTx/>
              </a:pPr>
              <a:endParaRPr sz="1465">
                <a:solidFill>
                  <a:srgbClr val="52545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6" name="天蝎PPT原创©2-3"/>
            <p:cNvSpPr/>
            <p:nvPr>
              <p:custDataLst>
                <p:tags r:id="rId97"/>
              </p:custDataLst>
            </p:nvPr>
          </p:nvSpPr>
          <p:spPr>
            <a:xfrm>
              <a:off x="4042"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7" name="天蝎PPT原创©2-4"/>
            <p:cNvSpPr/>
            <p:nvPr>
              <p:custDataLst>
                <p:tags r:id="rId98"/>
              </p:custDataLst>
            </p:nvPr>
          </p:nvSpPr>
          <p:spPr>
            <a:xfrm>
              <a:off x="5684" y="11850"/>
              <a:ext cx="1577" cy="551"/>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buClrTx/>
                <a:buSzTx/>
                <a:buFontTx/>
              </a:pPr>
              <a:endParaRPr kumimoji="1" 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98" name="天蝎PPT原创©7"/>
            <p:cNvSpPr/>
            <p:nvPr>
              <p:custDataLst>
                <p:tags r:id="rId99"/>
              </p:custDataLst>
            </p:nvPr>
          </p:nvSpPr>
          <p:spPr>
            <a:xfrm>
              <a:off x="765" y="14069"/>
              <a:ext cx="1040" cy="556"/>
            </a:xfrm>
            <a:prstGeom prst="rect">
              <a:avLst/>
            </a:prstGeom>
            <a:solidFill>
              <a:schemeClr val="accent1">
                <a:lumMod val="60000"/>
                <a:lumOff val="4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299" name="天蝎PPT原创©8"/>
            <p:cNvSpPr/>
            <p:nvPr>
              <p:custDataLst>
                <p:tags r:id="rId100"/>
              </p:custDataLst>
            </p:nvPr>
          </p:nvSpPr>
          <p:spPr>
            <a:xfrm>
              <a:off x="1848" y="14069"/>
              <a:ext cx="5413" cy="556"/>
            </a:xfrm>
            <a:prstGeom prst="rect">
              <a:avLst/>
            </a:pr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algn="ct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300" name="天蝎PPT原创©18"/>
            <p:cNvSpPr/>
            <p:nvPr>
              <p:custDataLst>
                <p:tags r:id="rId101"/>
              </p:custDataLst>
            </p:nvPr>
          </p:nvSpPr>
          <p:spPr>
            <a:xfrm rot="5400000">
              <a:off x="3849" y="8442"/>
              <a:ext cx="438" cy="6386"/>
            </a:xfrm>
            <a:custGeom>
              <a:avLst/>
              <a:gdLst>
                <a:gd name="connsiteX0" fmla="*/ 0 w 298898"/>
                <a:gd name="connsiteY0" fmla="*/ 257670 h 10698196"/>
                <a:gd name="connsiteX1" fmla="*/ 149449 w 298898"/>
                <a:gd name="connsiteY1" fmla="*/ 0 h 10698196"/>
                <a:gd name="connsiteX2" fmla="*/ 298898 w 298898"/>
                <a:gd name="connsiteY2" fmla="*/ 257670 h 10698196"/>
                <a:gd name="connsiteX3" fmla="*/ 213612 w 298898"/>
                <a:gd name="connsiteY3" fmla="*/ 257670 h 10698196"/>
                <a:gd name="connsiteX4" fmla="*/ 213612 w 298898"/>
                <a:gd name="connsiteY4" fmla="*/ 10698196 h 10698196"/>
                <a:gd name="connsiteX5" fmla="*/ 87002 w 298898"/>
                <a:gd name="connsiteY5" fmla="*/ 10698196 h 10698196"/>
                <a:gd name="connsiteX6" fmla="*/ 87002 w 298898"/>
                <a:gd name="connsiteY6" fmla="*/ 257670 h 10698196"/>
                <a:gd name="connsiteX0-1" fmla="*/ 0 w 270261"/>
                <a:gd name="connsiteY0-2" fmla="*/ 271117 h 10698196"/>
                <a:gd name="connsiteX1-3" fmla="*/ 120812 w 270261"/>
                <a:gd name="connsiteY1-4" fmla="*/ 0 h 10698196"/>
                <a:gd name="connsiteX2-5" fmla="*/ 270261 w 270261"/>
                <a:gd name="connsiteY2-6" fmla="*/ 257670 h 10698196"/>
                <a:gd name="connsiteX3-7" fmla="*/ 184975 w 270261"/>
                <a:gd name="connsiteY3-8" fmla="*/ 257670 h 10698196"/>
                <a:gd name="connsiteX4-9" fmla="*/ 184975 w 270261"/>
                <a:gd name="connsiteY4-10" fmla="*/ 10698196 h 10698196"/>
                <a:gd name="connsiteX5-11" fmla="*/ 58365 w 270261"/>
                <a:gd name="connsiteY5-12" fmla="*/ 10698196 h 10698196"/>
                <a:gd name="connsiteX6-13" fmla="*/ 58365 w 270261"/>
                <a:gd name="connsiteY6-14" fmla="*/ 257670 h 10698196"/>
                <a:gd name="connsiteX7" fmla="*/ 0 w 270261"/>
                <a:gd name="connsiteY7" fmla="*/ 271117 h 10698196"/>
                <a:gd name="connsiteX0-15" fmla="*/ 0 w 270261"/>
                <a:gd name="connsiteY0-16" fmla="*/ 432483 h 10859562"/>
                <a:gd name="connsiteX1-17" fmla="*/ 120813 w 270261"/>
                <a:gd name="connsiteY1-18" fmla="*/ 0 h 10859562"/>
                <a:gd name="connsiteX2-19" fmla="*/ 270261 w 270261"/>
                <a:gd name="connsiteY2-20" fmla="*/ 419036 h 10859562"/>
                <a:gd name="connsiteX3-21" fmla="*/ 184975 w 270261"/>
                <a:gd name="connsiteY3-22" fmla="*/ 419036 h 10859562"/>
                <a:gd name="connsiteX4-23" fmla="*/ 184975 w 270261"/>
                <a:gd name="connsiteY4-24" fmla="*/ 10859562 h 10859562"/>
                <a:gd name="connsiteX5-25" fmla="*/ 58365 w 270261"/>
                <a:gd name="connsiteY5-26" fmla="*/ 10859562 h 10859562"/>
                <a:gd name="connsiteX6-27" fmla="*/ 58365 w 270261"/>
                <a:gd name="connsiteY6-28" fmla="*/ 419036 h 10859562"/>
                <a:gd name="connsiteX7-29" fmla="*/ 0 w 270261"/>
                <a:gd name="connsiteY7-30" fmla="*/ 432483 h 10859562"/>
                <a:gd name="connsiteX0-31" fmla="*/ 0 w 237533"/>
                <a:gd name="connsiteY0-32" fmla="*/ 432483 h 10859562"/>
                <a:gd name="connsiteX1-33" fmla="*/ 120813 w 237533"/>
                <a:gd name="connsiteY1-34" fmla="*/ 0 h 10859562"/>
                <a:gd name="connsiteX2-35" fmla="*/ 237533 w 237533"/>
                <a:gd name="connsiteY2-36" fmla="*/ 405589 h 10859562"/>
                <a:gd name="connsiteX3-37" fmla="*/ 184975 w 237533"/>
                <a:gd name="connsiteY3-38" fmla="*/ 419036 h 10859562"/>
                <a:gd name="connsiteX4-39" fmla="*/ 184975 w 237533"/>
                <a:gd name="connsiteY4-40" fmla="*/ 10859562 h 10859562"/>
                <a:gd name="connsiteX5-41" fmla="*/ 58365 w 237533"/>
                <a:gd name="connsiteY5-42" fmla="*/ 10859562 h 10859562"/>
                <a:gd name="connsiteX6-43" fmla="*/ 58365 w 237533"/>
                <a:gd name="connsiteY6-44" fmla="*/ 419036 h 10859562"/>
                <a:gd name="connsiteX7-45" fmla="*/ 0 w 237533"/>
                <a:gd name="connsiteY7-46" fmla="*/ 432483 h 1085956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29" y="connsiteY7-30"/>
                </a:cxn>
              </a:cxnLst>
              <a:rect l="l" t="t" r="r" b="b"/>
              <a:pathLst>
                <a:path w="237533" h="10859562">
                  <a:moveTo>
                    <a:pt x="0" y="432483"/>
                  </a:moveTo>
                  <a:lnTo>
                    <a:pt x="120813" y="0"/>
                  </a:lnTo>
                  <a:lnTo>
                    <a:pt x="237533" y="405589"/>
                  </a:lnTo>
                  <a:lnTo>
                    <a:pt x="184975" y="419036"/>
                  </a:lnTo>
                  <a:lnTo>
                    <a:pt x="184975" y="10859562"/>
                  </a:lnTo>
                  <a:lnTo>
                    <a:pt x="58365" y="10859562"/>
                  </a:lnTo>
                  <a:lnTo>
                    <a:pt x="58365" y="419036"/>
                  </a:lnTo>
                  <a:cubicBezTo>
                    <a:pt x="29364" y="419036"/>
                    <a:pt x="29001" y="432483"/>
                    <a:pt x="0" y="432483"/>
                  </a:cubicBezTo>
                  <a:close/>
                </a:path>
              </a:pathLst>
            </a:custGeom>
            <a:solidFill>
              <a:schemeClr val="accent1">
                <a:lumMod val="40000"/>
                <a:lumOff val="60000"/>
              </a:schemeClr>
            </a:solidFill>
            <a:ln w="1270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wrap="square" rtlCol="0" anchor="ctr">
              <a:noAutofit/>
            </a:bodyP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1" name="天蝎PPT原创©25"/>
            <p:cNvSpPr/>
            <p:nvPr>
              <p:custDataLst>
                <p:tags r:id="rId102"/>
              </p:custDataLst>
            </p:nvPr>
          </p:nvSpPr>
          <p:spPr>
            <a:xfrm>
              <a:off x="2396"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6" name="天蝎PPT原创©27"/>
            <p:cNvSpPr/>
            <p:nvPr>
              <p:custDataLst>
                <p:tags r:id="rId103"/>
              </p:custDataLst>
            </p:nvPr>
          </p:nvSpPr>
          <p:spPr>
            <a:xfrm>
              <a:off x="4019"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7" name="天蝎PPT原创©29"/>
            <p:cNvSpPr/>
            <p:nvPr>
              <p:custDataLst>
                <p:tags r:id="rId104"/>
              </p:custDataLst>
            </p:nvPr>
          </p:nvSpPr>
          <p:spPr>
            <a:xfrm>
              <a:off x="5624"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08" name="天蝎PPT原创©17"/>
            <p:cNvSpPr/>
            <p:nvPr>
              <p:custDataLst>
                <p:tags r:id="rId105"/>
              </p:custDataLst>
            </p:nvPr>
          </p:nvSpPr>
          <p:spPr>
            <a:xfrm>
              <a:off x="759" y="11521"/>
              <a:ext cx="236" cy="236"/>
            </a:xfrm>
            <a:prstGeom prst="ellipse">
              <a:avLst/>
            </a:prstGeom>
            <a:solidFill>
              <a:schemeClr val="accent1">
                <a:lumMod val="60000"/>
                <a:lumOff val="40000"/>
              </a:schemeClr>
            </a:solidFill>
            <a:ln w="12700" cap="flat" cmpd="sng" algn="ctr">
              <a:noFill/>
              <a:prstDash val="solid"/>
              <a:miter lim="800000"/>
            </a:ln>
            <a:effectLst>
              <a:outerShdw blurRad="381000" dist="190500" dir="5400000" sx="90000" sy="90000" algn="ctr" rotWithShape="0">
                <a:srgbClr val="24396B">
                  <a:alpha val="30000"/>
                </a:srgbClr>
              </a:outerShdw>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4" name="圆角矩形 8"/>
          <p:cNvSpPr/>
          <p:nvPr>
            <p:custDataLst>
              <p:tags r:id="rId106"/>
            </p:custDataLst>
          </p:nvPr>
        </p:nvSpPr>
        <p:spPr>
          <a:xfrm>
            <a:off x="5149850" y="5986780"/>
            <a:ext cx="599440" cy="135890"/>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 name="圆角矩形 8"/>
          <p:cNvSpPr/>
          <p:nvPr>
            <p:custDataLst>
              <p:tags r:id="rId107"/>
            </p:custDataLst>
          </p:nvPr>
        </p:nvSpPr>
        <p:spPr>
          <a:xfrm>
            <a:off x="5944870" y="5986780"/>
            <a:ext cx="599440" cy="135890"/>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 name="圆角矩形 8"/>
          <p:cNvSpPr/>
          <p:nvPr>
            <p:custDataLst>
              <p:tags r:id="rId108"/>
            </p:custDataLst>
          </p:nvPr>
        </p:nvSpPr>
        <p:spPr>
          <a:xfrm>
            <a:off x="6739255" y="5986780"/>
            <a:ext cx="599440" cy="135890"/>
          </a:xfrm>
          <a:prstGeom prst="roundRect">
            <a:avLst>
              <a:gd name="adj" fmla="val 2689"/>
            </a:avLst>
          </a:pr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 name="圆角矩形 59"/>
          <p:cNvSpPr/>
          <p:nvPr>
            <p:custDataLst>
              <p:tags r:id="rId109"/>
            </p:custDataLst>
          </p:nvPr>
        </p:nvSpPr>
        <p:spPr>
          <a:xfrm>
            <a:off x="5095875"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8" name="Freeform 2384"/>
          <p:cNvSpPr/>
          <p:nvPr>
            <p:custDataLst>
              <p:tags r:id="rId110"/>
            </p:custDataLst>
          </p:nvPr>
        </p:nvSpPr>
        <p:spPr>
          <a:xfrm>
            <a:off x="6981190" y="5207635"/>
            <a:ext cx="361950" cy="116205"/>
          </a:xfrm>
          <a:custGeom>
            <a:avLst/>
            <a:gdLst/>
            <a:ahLst/>
            <a:cxnLst/>
            <a:rect l="0" t="0" r="0" b="0"/>
            <a:pathLst>
              <a:path w="1648967" h="527305">
                <a:moveTo>
                  <a:pt x="0" y="108967"/>
                </a:moveTo>
                <a:lnTo>
                  <a:pt x="108965"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lgn="ctr">
            <a:solidFill>
              <a:schemeClr val="accent1">
                <a:lumMod val="40000"/>
                <a:lumOff val="60000"/>
              </a:schemeClr>
            </a:solidFill>
            <a:prstDash val="solid"/>
            <a:miter lim="1270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9" name="Freeform 2385"/>
          <p:cNvSpPr/>
          <p:nvPr>
            <p:custDataLst>
              <p:tags r:id="rId111"/>
            </p:custDataLst>
          </p:nvPr>
        </p:nvSpPr>
        <p:spPr>
          <a:xfrm>
            <a:off x="6981190"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0" name="Freeform 2389"/>
          <p:cNvSpPr/>
          <p:nvPr>
            <p:custDataLst>
              <p:tags r:id="rId112"/>
            </p:custDataLst>
          </p:nvPr>
        </p:nvSpPr>
        <p:spPr>
          <a:xfrm>
            <a:off x="5101590" y="5209540"/>
            <a:ext cx="361950" cy="116205"/>
          </a:xfrm>
          <a:custGeom>
            <a:avLst/>
            <a:gdLst/>
            <a:ahLst/>
            <a:cxnLst/>
            <a:rect l="0" t="0" r="0" b="0"/>
            <a:pathLst>
              <a:path w="1648967" h="527305">
                <a:moveTo>
                  <a:pt x="0" y="108967"/>
                </a:moveTo>
                <a:lnTo>
                  <a:pt x="108953" y="0"/>
                </a:lnTo>
                <a:lnTo>
                  <a:pt x="1648967" y="0"/>
                </a:lnTo>
                <a:lnTo>
                  <a:pt x="1648967" y="418338"/>
                </a:lnTo>
                <a:lnTo>
                  <a:pt x="1540001" y="527305"/>
                </a:lnTo>
                <a:lnTo>
                  <a:pt x="0" y="527305"/>
                </a:lnTo>
                <a:close/>
                <a:moveTo>
                  <a:pt x="0" y="108967"/>
                </a:moveTo>
                <a:lnTo>
                  <a:pt x="1540001" y="108967"/>
                </a:lnTo>
                <a:lnTo>
                  <a:pt x="1648967" y="0"/>
                </a:lnTo>
                <a:moveTo>
                  <a:pt x="1540001" y="108967"/>
                </a:moveTo>
                <a:lnTo>
                  <a:pt x="1540001"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1" name="Freeform 2390"/>
          <p:cNvSpPr/>
          <p:nvPr>
            <p:custDataLst>
              <p:tags r:id="rId113"/>
            </p:custDataLst>
          </p:nvPr>
        </p:nvSpPr>
        <p:spPr>
          <a:xfrm>
            <a:off x="5100955" y="5231130"/>
            <a:ext cx="339090" cy="93345"/>
          </a:xfrm>
          <a:custGeom>
            <a:avLst/>
            <a:gdLst/>
            <a:ahLst/>
            <a:cxnLst/>
            <a:rect l="0" t="0" r="0" b="0"/>
            <a:pathLst>
              <a:path w="1545336" h="425195">
                <a:moveTo>
                  <a:pt x="0" y="425195"/>
                </a:moveTo>
                <a:lnTo>
                  <a:pt x="1545336" y="425195"/>
                </a:lnTo>
                <a:lnTo>
                  <a:pt x="1545336" y="0"/>
                </a:lnTo>
                <a:lnTo>
                  <a:pt x="0" y="0"/>
                </a:lnTo>
                <a:lnTo>
                  <a:pt x="0" y="425195"/>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2" name="Freeform 2409"/>
          <p:cNvSpPr/>
          <p:nvPr>
            <p:custDataLst>
              <p:tags r:id="rId114"/>
            </p:custDataLst>
          </p:nvPr>
        </p:nvSpPr>
        <p:spPr>
          <a:xfrm>
            <a:off x="5076190" y="6168390"/>
            <a:ext cx="2302510" cy="116205"/>
          </a:xfrm>
          <a:custGeom>
            <a:avLst/>
            <a:gdLst/>
            <a:ahLst/>
            <a:cxnLst/>
            <a:rect l="0" t="0" r="0" b="0"/>
            <a:pathLst>
              <a:path w="10489693" h="527303">
                <a:moveTo>
                  <a:pt x="0" y="108953"/>
                </a:moveTo>
                <a:lnTo>
                  <a:pt x="108954" y="0"/>
                </a:lnTo>
                <a:lnTo>
                  <a:pt x="10489693" y="0"/>
                </a:lnTo>
                <a:lnTo>
                  <a:pt x="10489693" y="418338"/>
                </a:lnTo>
                <a:lnTo>
                  <a:pt x="10380727" y="527303"/>
                </a:lnTo>
                <a:lnTo>
                  <a:pt x="0" y="527303"/>
                </a:lnTo>
                <a:close/>
                <a:moveTo>
                  <a:pt x="0" y="108953"/>
                </a:moveTo>
                <a:lnTo>
                  <a:pt x="10380727" y="108953"/>
                </a:lnTo>
                <a:lnTo>
                  <a:pt x="10489693" y="0"/>
                </a:lnTo>
                <a:moveTo>
                  <a:pt x="10380727" y="108953"/>
                </a:moveTo>
                <a:lnTo>
                  <a:pt x="10380727" y="527303"/>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3" name="Freeform 2410"/>
          <p:cNvSpPr/>
          <p:nvPr>
            <p:custDataLst>
              <p:tags r:id="rId115"/>
            </p:custDataLst>
          </p:nvPr>
        </p:nvSpPr>
        <p:spPr>
          <a:xfrm>
            <a:off x="5075555" y="6191250"/>
            <a:ext cx="2281555" cy="93345"/>
          </a:xfrm>
          <a:custGeom>
            <a:avLst/>
            <a:gdLst/>
            <a:ahLst/>
            <a:cxnLst/>
            <a:rect l="0" t="0" r="0" b="0"/>
            <a:pathLst>
              <a:path w="10395204" h="425196">
                <a:moveTo>
                  <a:pt x="0" y="425196"/>
                </a:moveTo>
                <a:lnTo>
                  <a:pt x="10395204" y="425196"/>
                </a:lnTo>
                <a:lnTo>
                  <a:pt x="10395204"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4" name="Freeform 2447"/>
          <p:cNvSpPr/>
          <p:nvPr>
            <p:custDataLst>
              <p:tags r:id="rId116"/>
            </p:custDataLst>
          </p:nvPr>
        </p:nvSpPr>
        <p:spPr>
          <a:xfrm>
            <a:off x="6503670" y="5207635"/>
            <a:ext cx="361950" cy="116205"/>
          </a:xfrm>
          <a:custGeom>
            <a:avLst/>
            <a:gdLst/>
            <a:ahLst/>
            <a:cxnLst/>
            <a:rect l="0" t="0" r="0" b="0"/>
            <a:pathLst>
              <a:path w="1648969" h="527305">
                <a:moveTo>
                  <a:pt x="0" y="108967"/>
                </a:moveTo>
                <a:lnTo>
                  <a:pt x="108966" y="0"/>
                </a:lnTo>
                <a:lnTo>
                  <a:pt x="1648969" y="0"/>
                </a:lnTo>
                <a:lnTo>
                  <a:pt x="1648969" y="418338"/>
                </a:lnTo>
                <a:lnTo>
                  <a:pt x="1540002" y="527305"/>
                </a:lnTo>
                <a:lnTo>
                  <a:pt x="0" y="527305"/>
                </a:lnTo>
                <a:close/>
                <a:moveTo>
                  <a:pt x="0" y="108967"/>
                </a:moveTo>
                <a:lnTo>
                  <a:pt x="1540002" y="108967"/>
                </a:lnTo>
                <a:lnTo>
                  <a:pt x="1648969" y="0"/>
                </a:lnTo>
                <a:moveTo>
                  <a:pt x="1540002" y="108967"/>
                </a:moveTo>
                <a:lnTo>
                  <a:pt x="1540002"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5" name="Freeform 2448"/>
          <p:cNvSpPr/>
          <p:nvPr>
            <p:custDataLst>
              <p:tags r:id="rId117"/>
            </p:custDataLst>
          </p:nvPr>
        </p:nvSpPr>
        <p:spPr>
          <a:xfrm>
            <a:off x="6503670"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 name="Freeform 2482"/>
          <p:cNvSpPr/>
          <p:nvPr>
            <p:custDataLst>
              <p:tags r:id="rId118"/>
            </p:custDataLst>
          </p:nvPr>
        </p:nvSpPr>
        <p:spPr>
          <a:xfrm>
            <a:off x="6054090" y="5207635"/>
            <a:ext cx="361950" cy="116205"/>
          </a:xfrm>
          <a:custGeom>
            <a:avLst/>
            <a:gdLst/>
            <a:ahLst/>
            <a:cxnLst/>
            <a:rect l="0" t="0" r="0" b="0"/>
            <a:pathLst>
              <a:path w="1648968" h="527305">
                <a:moveTo>
                  <a:pt x="0" y="108967"/>
                </a:moveTo>
                <a:lnTo>
                  <a:pt x="108967" y="0"/>
                </a:lnTo>
                <a:lnTo>
                  <a:pt x="1648968" y="0"/>
                </a:lnTo>
                <a:lnTo>
                  <a:pt x="1648968" y="418338"/>
                </a:lnTo>
                <a:lnTo>
                  <a:pt x="1540003" y="527305"/>
                </a:lnTo>
                <a:lnTo>
                  <a:pt x="0" y="527305"/>
                </a:lnTo>
                <a:close/>
                <a:moveTo>
                  <a:pt x="0" y="108967"/>
                </a:moveTo>
                <a:lnTo>
                  <a:pt x="1540003" y="108967"/>
                </a:lnTo>
                <a:lnTo>
                  <a:pt x="1648968" y="0"/>
                </a:lnTo>
                <a:moveTo>
                  <a:pt x="1540003" y="108967"/>
                </a:moveTo>
                <a:lnTo>
                  <a:pt x="1540003"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7" name="Freeform 2483"/>
          <p:cNvSpPr/>
          <p:nvPr>
            <p:custDataLst>
              <p:tags r:id="rId119"/>
            </p:custDataLst>
          </p:nvPr>
        </p:nvSpPr>
        <p:spPr>
          <a:xfrm>
            <a:off x="6053455"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cxnSp>
        <p:nvCxnSpPr>
          <p:cNvPr id="22" name="直接连接符 21"/>
          <p:cNvCxnSpPr/>
          <p:nvPr>
            <p:custDataLst>
              <p:tags r:id="rId120"/>
            </p:custDataLst>
          </p:nvPr>
        </p:nvCxnSpPr>
        <p:spPr>
          <a:xfrm rot="10800000">
            <a:off x="5005705" y="6238240"/>
            <a:ext cx="67310"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23" name="Freeform 2470"/>
          <p:cNvSpPr/>
          <p:nvPr>
            <p:custDataLst>
              <p:tags r:id="rId121"/>
            </p:custDataLst>
          </p:nvPr>
        </p:nvSpPr>
        <p:spPr>
          <a:xfrm>
            <a:off x="5582285" y="5207635"/>
            <a:ext cx="361950" cy="116205"/>
          </a:xfrm>
          <a:custGeom>
            <a:avLst/>
            <a:gdLst/>
            <a:ahLst/>
            <a:cxnLst/>
            <a:rect l="0" t="0" r="0" b="0"/>
            <a:pathLst>
              <a:path w="1648968" h="527305">
                <a:moveTo>
                  <a:pt x="0" y="108967"/>
                </a:moveTo>
                <a:lnTo>
                  <a:pt x="108965" y="0"/>
                </a:lnTo>
                <a:lnTo>
                  <a:pt x="1648968" y="0"/>
                </a:lnTo>
                <a:lnTo>
                  <a:pt x="1648968" y="418338"/>
                </a:lnTo>
                <a:lnTo>
                  <a:pt x="1540002" y="527305"/>
                </a:lnTo>
                <a:lnTo>
                  <a:pt x="0" y="527305"/>
                </a:lnTo>
                <a:close/>
                <a:moveTo>
                  <a:pt x="0" y="108967"/>
                </a:moveTo>
                <a:lnTo>
                  <a:pt x="1540002" y="108967"/>
                </a:lnTo>
                <a:lnTo>
                  <a:pt x="1648968" y="0"/>
                </a:lnTo>
                <a:moveTo>
                  <a:pt x="1540002" y="108967"/>
                </a:moveTo>
                <a:lnTo>
                  <a:pt x="1540002" y="527305"/>
                </a:lnTo>
              </a:path>
            </a:pathLst>
          </a:custGeom>
          <a:noFill/>
          <a:ln w="6095" cap="flat" cmpd="sng" algn="ctr">
            <a:solidFill>
              <a:schemeClr val="accent1">
                <a:lumMod val="40000"/>
                <a:lumOff val="60000"/>
              </a:schemeClr>
            </a:solidFill>
            <a:prstDash val="solid"/>
            <a:miter lim="101600"/>
          </a:ln>
          <a:effectLst/>
        </p:spPr>
        <p:style>
          <a:lnRef idx="2">
            <a:srgbClr val="2555C1">
              <a:shade val="50000"/>
            </a:srgbClr>
          </a:lnRef>
          <a:fillRef idx="1">
            <a:srgbClr val="2555C1"/>
          </a:fillRef>
          <a:effectRef idx="0">
            <a:srgbClr val="2555C1"/>
          </a:effectRef>
          <a:fontRef idx="minor">
            <a:sysClr val="window" lastClr="FFFFFF"/>
          </a:fontRef>
        </p:style>
        <p:txBody>
          <a:bodyPr/>
          <a:lstStyle/>
          <a:p>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24" name="Freeform 2471"/>
          <p:cNvSpPr/>
          <p:nvPr>
            <p:custDataLst>
              <p:tags r:id="rId122"/>
            </p:custDataLst>
          </p:nvPr>
        </p:nvSpPr>
        <p:spPr>
          <a:xfrm>
            <a:off x="5581650" y="5231130"/>
            <a:ext cx="339090" cy="93345"/>
          </a:xfrm>
          <a:custGeom>
            <a:avLst/>
            <a:gdLst/>
            <a:ahLst/>
            <a:cxnLst/>
            <a:rect l="0" t="0" r="0" b="0"/>
            <a:pathLst>
              <a:path w="1545336" h="425196">
                <a:moveTo>
                  <a:pt x="0" y="425196"/>
                </a:moveTo>
                <a:lnTo>
                  <a:pt x="1545336" y="425196"/>
                </a:lnTo>
                <a:lnTo>
                  <a:pt x="1545336" y="0"/>
                </a:lnTo>
                <a:lnTo>
                  <a:pt x="0" y="0"/>
                </a:lnTo>
                <a:lnTo>
                  <a:pt x="0" y="425196"/>
                </a:lnTo>
                <a:close/>
              </a:path>
            </a:pathLst>
          </a:custGeom>
          <a:solidFill>
            <a:schemeClr val="accent1">
              <a:lumMod val="60000"/>
              <a:lumOff val="40000"/>
            </a:schemeClr>
          </a:solidFill>
          <a:ln w="6095" cap="flat" cmpd="sng" algn="ctr">
            <a:noFill/>
            <a:prstDash val="solid"/>
            <a:miter lim="800000"/>
          </a:ln>
          <a:effectLst/>
        </p:spPr>
        <p:style>
          <a:lnRef idx="2">
            <a:srgbClr val="2555C1">
              <a:shade val="50000"/>
            </a:srgbClr>
          </a:lnRef>
          <a:fillRef idx="1">
            <a:srgbClr val="2555C1"/>
          </a:fillRef>
          <a:effectRef idx="0">
            <a:srgbClr val="2555C1"/>
          </a:effectRef>
          <a:fontRef idx="minor">
            <a:sysClr val="window" lastClr="FFFFFF"/>
          </a:fontRef>
        </p:style>
        <p:txBody>
          <a:bodyPr vertOverflow="overflow" horzOverflow="overflow" vert="horz" wrap="square" numCol="1" spcCol="0" rtlCol="0" fromWordArt="0" anchor="ctr" anchorCtr="0" forceAA="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 name="圆角矩形 59"/>
          <p:cNvSpPr/>
          <p:nvPr>
            <p:custDataLst>
              <p:tags r:id="rId123"/>
            </p:custDataLst>
          </p:nvPr>
        </p:nvSpPr>
        <p:spPr>
          <a:xfrm>
            <a:off x="601599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27" name="圆角矩形 59"/>
          <p:cNvSpPr/>
          <p:nvPr>
            <p:custDataLst>
              <p:tags r:id="rId124"/>
            </p:custDataLst>
          </p:nvPr>
        </p:nvSpPr>
        <p:spPr>
          <a:xfrm>
            <a:off x="647573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30" name="圆角矩形 59"/>
          <p:cNvSpPr/>
          <p:nvPr>
            <p:custDataLst>
              <p:tags r:id="rId125"/>
            </p:custDataLst>
          </p:nvPr>
        </p:nvSpPr>
        <p:spPr>
          <a:xfrm>
            <a:off x="555625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31" name="圆角矩形 59"/>
          <p:cNvSpPr/>
          <p:nvPr>
            <p:custDataLst>
              <p:tags r:id="rId126"/>
            </p:custDataLst>
          </p:nvPr>
        </p:nvSpPr>
        <p:spPr>
          <a:xfrm>
            <a:off x="6935470" y="5417820"/>
            <a:ext cx="415290" cy="495300"/>
          </a:xfrm>
          <a:prstGeom prst="roundRect">
            <a:avLst>
              <a:gd name="adj" fmla="val 2928"/>
            </a:avLst>
          </a:prstGeom>
          <a:noFill/>
          <a:ln w="12700" cap="flat" cmpd="sng" algn="ctr">
            <a:solidFill>
              <a:schemeClr val="accent1">
                <a:lumMod val="40000"/>
                <a:lumOff val="60000"/>
              </a:schemeClr>
            </a:solidFill>
            <a:prstDash val="solid"/>
            <a:miter lim="800000"/>
          </a:ln>
          <a:effectLst>
            <a:outerShdw blurRad="499110" dist="249555" dir="5400000" sx="90000" sy="90000" algn="ctr" rotWithShape="0">
              <a:srgbClr val="44546A">
                <a:lumMod val="75000"/>
                <a:alpha val="9735"/>
              </a:srgbClr>
            </a:outerShdw>
          </a:effectLst>
          <a:extLst>
            <a:ext uri="{909E8E84-426E-40DD-AFC4-6F175D3DCCD1}">
              <a14:hiddenFill xmlns:a14="http://schemas.microsoft.com/office/drawing/2010/main">
                <a:solidFill>
                  <a:schemeClr val="accent1">
                    <a:lumMod val="40000"/>
                    <a:lumOff val="60000"/>
                  </a:schemeClr>
                </a:solidFill>
              </a14:hiddenFill>
            </a:ext>
          </a:extLst>
        </p:spPr>
        <p:style>
          <a:lnRef idx="2">
            <a:srgbClr val="2555C1">
              <a:shade val="15000"/>
            </a:srgbClr>
          </a:lnRef>
          <a:fillRef idx="1">
            <a:srgbClr val="2555C1"/>
          </a:fillRef>
          <a:effectRef idx="0">
            <a:srgbClr val="2555C1"/>
          </a:effectRef>
          <a:fontRef idx="minor">
            <a:sysClr val="window" lastClr="FFFFFF"/>
          </a:fontRef>
        </p:style>
        <p:txBody>
          <a:bodyPr vertOverflow="overflow" horzOverflow="overflow" vert="horz" wrap="square" lIns="119786" tIns="59893" rIns="119786" bIns="59893" numCol="1" spcCol="0" rtlCol="0" fromWordArt="0" anchor="ctr" anchorCtr="0" forceAA="0" compatLnSpc="1">
            <a:noAutofit/>
          </a:bodyPr>
          <a:lstStyle/>
          <a:p>
            <a:pPr lvl="0" algn="ctr">
              <a:buClrTx/>
              <a:buSzTx/>
              <a:buFontTx/>
            </a:pPr>
            <a:endParaRPr kumimoji="1" lang="zh-CN" altLang="en-US" sz="2360">
              <a:latin typeface="微软雅黑" panose="020B0503020204020204" charset="-122"/>
              <a:ea typeface="微软雅黑" panose="020B0503020204020204" charset="-122"/>
              <a:cs typeface="微软雅黑" panose="020B0503020204020204" charset="-122"/>
              <a:sym typeface="+mn-ea"/>
            </a:endParaRPr>
          </a:p>
        </p:txBody>
      </p:sp>
      <p:sp>
        <p:nvSpPr>
          <p:cNvPr id="35" name="等腰三角形 34"/>
          <p:cNvSpPr/>
          <p:nvPr>
            <p:custDataLst>
              <p:tags r:id="rId127"/>
            </p:custDataLst>
          </p:nvPr>
        </p:nvSpPr>
        <p:spPr>
          <a:xfrm rot="5400000">
            <a:off x="689102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6" name="等腰三角形 35"/>
          <p:cNvSpPr/>
          <p:nvPr>
            <p:custDataLst>
              <p:tags r:id="rId128"/>
            </p:custDataLst>
          </p:nvPr>
        </p:nvSpPr>
        <p:spPr>
          <a:xfrm rot="5400000">
            <a:off x="549148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3" name="等腰三角形 42"/>
          <p:cNvSpPr/>
          <p:nvPr>
            <p:custDataLst>
              <p:tags r:id="rId129"/>
            </p:custDataLst>
          </p:nvPr>
        </p:nvSpPr>
        <p:spPr>
          <a:xfrm rot="5400000">
            <a:off x="596646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4" name="等腰三角形 43"/>
          <p:cNvSpPr/>
          <p:nvPr>
            <p:custDataLst>
              <p:tags r:id="rId130"/>
            </p:custDataLst>
          </p:nvPr>
        </p:nvSpPr>
        <p:spPr>
          <a:xfrm rot="5400000">
            <a:off x="6431280" y="5224780"/>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5" name="等腰三角形 44"/>
          <p:cNvSpPr/>
          <p:nvPr>
            <p:custDataLst>
              <p:tags r:id="rId131"/>
            </p:custDataLst>
          </p:nvPr>
        </p:nvSpPr>
        <p:spPr>
          <a:xfrm rot="16200000" flipH="1">
            <a:off x="6606540" y="6015355"/>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46" name="等腰三角形 45"/>
          <p:cNvSpPr/>
          <p:nvPr>
            <p:custDataLst>
              <p:tags r:id="rId132"/>
            </p:custDataLst>
          </p:nvPr>
        </p:nvSpPr>
        <p:spPr>
          <a:xfrm rot="16200000" flipH="1">
            <a:off x="5814695" y="6015355"/>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cxnSp>
        <p:nvCxnSpPr>
          <p:cNvPr id="49" name="直接连接符 48"/>
          <p:cNvCxnSpPr/>
          <p:nvPr>
            <p:custDataLst>
              <p:tags r:id="rId133"/>
            </p:custDataLst>
          </p:nvPr>
        </p:nvCxnSpPr>
        <p:spPr>
          <a:xfrm flipH="1">
            <a:off x="4997450" y="5270500"/>
            <a:ext cx="98425"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50" name="直接连接符 49"/>
          <p:cNvCxnSpPr/>
          <p:nvPr>
            <p:custDataLst>
              <p:tags r:id="rId134"/>
            </p:custDataLst>
          </p:nvPr>
        </p:nvCxnSpPr>
        <p:spPr>
          <a:xfrm flipV="1">
            <a:off x="5005070" y="5269865"/>
            <a:ext cx="0" cy="977265"/>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51" name="等腰三角形 50"/>
          <p:cNvSpPr/>
          <p:nvPr>
            <p:custDataLst>
              <p:tags r:id="rId135"/>
            </p:custDataLst>
          </p:nvPr>
        </p:nvSpPr>
        <p:spPr>
          <a:xfrm flipH="1">
            <a:off x="4964430" y="5671185"/>
            <a:ext cx="75565" cy="75565"/>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grpSp>
        <p:nvGrpSpPr>
          <p:cNvPr id="56" name="组合 55"/>
          <p:cNvGrpSpPr/>
          <p:nvPr>
            <p:custDataLst>
              <p:tags r:id="rId136"/>
            </p:custDataLst>
          </p:nvPr>
        </p:nvGrpSpPr>
        <p:grpSpPr>
          <a:xfrm flipH="1">
            <a:off x="7336790" y="5250180"/>
            <a:ext cx="130810" cy="976630"/>
            <a:chOff x="8018" y="8499"/>
            <a:chExt cx="206" cy="1538"/>
          </a:xfrm>
        </p:grpSpPr>
        <p:cxnSp>
          <p:nvCxnSpPr>
            <p:cNvPr id="52" name="直接连接符 51"/>
            <p:cNvCxnSpPr/>
            <p:nvPr>
              <p:custDataLst>
                <p:tags r:id="rId137"/>
              </p:custDataLst>
            </p:nvPr>
          </p:nvCxnSpPr>
          <p:spPr>
            <a:xfrm rot="10800000">
              <a:off x="8083" y="10024"/>
              <a:ext cx="106"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53" name="直接连接符 52"/>
            <p:cNvCxnSpPr/>
            <p:nvPr>
              <p:custDataLst>
                <p:tags r:id="rId138"/>
              </p:custDataLst>
            </p:nvPr>
          </p:nvCxnSpPr>
          <p:spPr>
            <a:xfrm flipH="1">
              <a:off x="8070" y="8500"/>
              <a:ext cx="155" cy="0"/>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cxnSp>
          <p:nvCxnSpPr>
            <p:cNvPr id="54" name="直接连接符 53"/>
            <p:cNvCxnSpPr/>
            <p:nvPr>
              <p:custDataLst>
                <p:tags r:id="rId139"/>
              </p:custDataLst>
            </p:nvPr>
          </p:nvCxnSpPr>
          <p:spPr>
            <a:xfrm flipV="1">
              <a:off x="8082" y="8499"/>
              <a:ext cx="0" cy="1539"/>
            </a:xfrm>
            <a:prstGeom prst="line">
              <a:avLst/>
            </a:prstGeom>
            <a:noFill/>
            <a:ln w="19050" cap="flat" cmpd="sng" algn="ctr">
              <a:solidFill>
                <a:schemeClr val="accent1">
                  <a:lumMod val="40000"/>
                  <a:lumOff val="60000"/>
                </a:schemeClr>
              </a:solidFill>
              <a:prstDash val="solid"/>
              <a:miter lim="800000"/>
            </a:ln>
            <a:effectLst/>
          </p:spPr>
          <p:style>
            <a:lnRef idx="1">
              <a:srgbClr val="2555C1"/>
            </a:lnRef>
            <a:fillRef idx="0">
              <a:srgbClr val="2555C1"/>
            </a:fillRef>
            <a:effectRef idx="0">
              <a:srgbClr val="2555C1"/>
            </a:effectRef>
            <a:fontRef idx="minor">
              <a:sysClr val="windowText" lastClr="000000"/>
            </a:fontRef>
          </p:style>
        </p:cxnSp>
        <p:sp>
          <p:nvSpPr>
            <p:cNvPr id="55" name="等腰三角形 54"/>
            <p:cNvSpPr/>
            <p:nvPr>
              <p:custDataLst>
                <p:tags r:id="rId140"/>
              </p:custDataLst>
            </p:nvPr>
          </p:nvSpPr>
          <p:spPr>
            <a:xfrm flipH="1" flipV="1">
              <a:off x="8018" y="9131"/>
              <a:ext cx="119" cy="119"/>
            </a:xfrm>
            <a:prstGeom prst="triangle">
              <a:avLst/>
            </a:prstGeom>
            <a:solidFill>
              <a:schemeClr val="accent1">
                <a:lumMod val="40000"/>
                <a:lumOff val="6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grpSp>
      <p:sp>
        <p:nvSpPr>
          <p:cNvPr id="3" name="Google Shape;464;p24"/>
          <p:cNvSpPr/>
          <p:nvPr>
            <p:custDataLst>
              <p:tags r:id="rId141"/>
            </p:custDataLst>
          </p:nvPr>
        </p:nvSpPr>
        <p:spPr>
          <a:xfrm>
            <a:off x="2690495" y="2694305"/>
            <a:ext cx="639445" cy="761365"/>
          </a:xfrm>
          <a:prstGeom prst="roundRect">
            <a:avLst>
              <a:gd name="adj" fmla="val 2676"/>
            </a:avLst>
          </a:prstGeom>
          <a:solidFill>
            <a:schemeClr val="accent1">
              <a:lumMod val="40000"/>
              <a:lumOff val="60000"/>
            </a:schemeClr>
          </a:solidFill>
          <a:ln w="12700" cap="flat" cmpd="sng" algn="ctr">
            <a:noFill/>
            <a:prstDash val="solid"/>
            <a:miter lim="800000"/>
          </a:ln>
          <a:effectLst/>
        </p:spPr>
        <p:txBody>
          <a:bodyPr spcFirstLastPara="0" vert="horz" wrap="square" lIns="91444" tIns="45722" rIns="91444" bIns="45722" rtlCol="0" anchor="ctr" anchorCtr="0">
            <a:noAutofit/>
          </a:bodyPr>
          <a:lstStyle/>
          <a:p>
            <a:pPr lvl="0" algn="ctr">
              <a:buClrTx/>
              <a:buSzTx/>
              <a:buFontTx/>
            </a:pPr>
            <a:endParaRPr lang="zh-CN" altLang="en-US" sz="12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Google Shape;450;p24"/>
          <p:cNvSpPr/>
          <p:nvPr>
            <p:custDataLst>
              <p:tags r:id="rId142"/>
            </p:custDataLst>
          </p:nvPr>
        </p:nvSpPr>
        <p:spPr>
          <a:xfrm>
            <a:off x="1382395" y="2464435"/>
            <a:ext cx="1948180" cy="217170"/>
          </a:xfrm>
          <a:custGeom>
            <a:avLst/>
            <a:gdLst/>
            <a:ahLst/>
            <a:cxnLst/>
            <a:rect l="l" t="t" r="r" b="b"/>
            <a:pathLst>
              <a:path w="21588" h="21575" extrusionOk="0">
                <a:moveTo>
                  <a:pt x="109" y="19963"/>
                </a:moveTo>
                <a:cubicBezTo>
                  <a:pt x="41" y="20039"/>
                  <a:pt x="-6" y="20418"/>
                  <a:pt x="0" y="20836"/>
                </a:cubicBezTo>
                <a:cubicBezTo>
                  <a:pt x="7" y="21266"/>
                  <a:pt x="68" y="21590"/>
                  <a:pt x="139" y="21574"/>
                </a:cubicBezTo>
                <a:lnTo>
                  <a:pt x="21476" y="21515"/>
                </a:lnTo>
                <a:cubicBezTo>
                  <a:pt x="21535" y="21473"/>
                  <a:pt x="21581" y="21191"/>
                  <a:pt x="21587" y="20835"/>
                </a:cubicBezTo>
                <a:cubicBezTo>
                  <a:pt x="21594" y="20443"/>
                  <a:pt x="21552" y="20082"/>
                  <a:pt x="21489" y="19993"/>
                </a:cubicBezTo>
                <a:lnTo>
                  <a:pt x="10898" y="125"/>
                </a:lnTo>
                <a:cubicBezTo>
                  <a:pt x="10866" y="51"/>
                  <a:pt x="10833" y="10"/>
                  <a:pt x="10798" y="2"/>
                </a:cubicBezTo>
                <a:cubicBezTo>
                  <a:pt x="10748" y="-10"/>
                  <a:pt x="10699" y="50"/>
                  <a:pt x="10653" y="176"/>
                </a:cubicBezTo>
                <a:lnTo>
                  <a:pt x="109" y="19963"/>
                </a:lnTo>
                <a:close/>
              </a:path>
            </a:pathLst>
          </a:custGeom>
          <a:solidFill>
            <a:schemeClr val="accent1">
              <a:lumMod val="60000"/>
              <a:lumOff val="40000"/>
            </a:schemeClr>
          </a:solidFill>
          <a:ln>
            <a:noFill/>
          </a:ln>
        </p:spPr>
        <p:txBody>
          <a:bodyPr spcFirstLastPara="1" wrap="square" lIns="22868" tIns="22868" rIns="22868" bIns="22868" anchor="t"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9" name="Google Shape;452;p24"/>
          <p:cNvSpPr/>
          <p:nvPr>
            <p:custDataLst>
              <p:tags r:id="rId143"/>
            </p:custDataLst>
          </p:nvPr>
        </p:nvSpPr>
        <p:spPr>
          <a:xfrm>
            <a:off x="1386205" y="2694305"/>
            <a:ext cx="639445" cy="762635"/>
          </a:xfrm>
          <a:prstGeom prst="roundRect">
            <a:avLst>
              <a:gd name="adj" fmla="val 2676"/>
            </a:avLst>
          </a:prstGeom>
          <a:solidFill>
            <a:schemeClr val="accent1">
              <a:lumMod val="40000"/>
              <a:lumOff val="60000"/>
            </a:schemeClr>
          </a:solidFill>
          <a:ln w="12700" cap="flat" cmpd="sng" algn="ctr">
            <a:noFill/>
            <a:prstDash val="solid"/>
            <a:miter lim="800000"/>
          </a:ln>
          <a:effectLst/>
        </p:spPr>
        <p:txBody>
          <a:bodyPr spcFirstLastPara="0" vert="horz" wrap="square" lIns="91444" tIns="45722" rIns="91444" bIns="45722" rtlCol="0" anchor="ctr" anchorCtr="0">
            <a:noAutofit/>
          </a:bodyPr>
          <a:lstStyle/>
          <a:p>
            <a:pPr lvl="0" algn="ctr">
              <a:buClrTx/>
              <a:buSzTx/>
              <a:buFontTx/>
            </a:pPr>
            <a:endParaRPr lang="zh-CN" altLang="en-US" sz="12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0" name="Google Shape;453;p24"/>
          <p:cNvSpPr/>
          <p:nvPr>
            <p:custDataLst>
              <p:tags r:id="rId144"/>
            </p:custDataLst>
          </p:nvPr>
        </p:nvSpPr>
        <p:spPr>
          <a:xfrm>
            <a:off x="1386205" y="2694305"/>
            <a:ext cx="639445" cy="99060"/>
          </a:xfrm>
          <a:custGeom>
            <a:avLst/>
            <a:gdLst/>
            <a:ahLst/>
            <a:cxnLst/>
            <a:rect l="l" t="t" r="r" b="b"/>
            <a:pathLst>
              <a:path w="21599" h="21600" extrusionOk="0">
                <a:moveTo>
                  <a:pt x="688" y="0"/>
                </a:moveTo>
                <a:cubicBezTo>
                  <a:pt x="486" y="0"/>
                  <a:pt x="365" y="5"/>
                  <a:pt x="284" y="209"/>
                </a:cubicBezTo>
                <a:cubicBezTo>
                  <a:pt x="167" y="466"/>
                  <a:pt x="75" y="1022"/>
                  <a:pt x="33" y="1728"/>
                </a:cubicBezTo>
                <a:cubicBezTo>
                  <a:pt x="-1" y="2217"/>
                  <a:pt x="0" y="2947"/>
                  <a:pt x="0" y="4171"/>
                </a:cubicBezTo>
                <a:lnTo>
                  <a:pt x="0" y="21600"/>
                </a:lnTo>
                <a:lnTo>
                  <a:pt x="21599" y="21600"/>
                </a:lnTo>
                <a:lnTo>
                  <a:pt x="21599" y="4171"/>
                </a:lnTo>
                <a:cubicBezTo>
                  <a:pt x="21599" y="2947"/>
                  <a:pt x="21598" y="2217"/>
                  <a:pt x="21564" y="1728"/>
                </a:cubicBezTo>
                <a:cubicBezTo>
                  <a:pt x="21522" y="1022"/>
                  <a:pt x="21430" y="466"/>
                  <a:pt x="21313" y="209"/>
                </a:cubicBezTo>
                <a:cubicBezTo>
                  <a:pt x="21232" y="5"/>
                  <a:pt x="21111" y="0"/>
                  <a:pt x="20909" y="0"/>
                </a:cubicBezTo>
                <a:lnTo>
                  <a:pt x="688" y="0"/>
                </a:lnTo>
                <a:close/>
              </a:path>
            </a:pathLst>
          </a:custGeom>
          <a:solidFill>
            <a:schemeClr val="accent1">
              <a:lumMod val="60000"/>
              <a:lumOff val="40000"/>
            </a:schemeClr>
          </a:solidFill>
          <a:ln>
            <a:noFill/>
          </a:ln>
        </p:spPr>
        <p:txBody>
          <a:bodyPr spcFirstLastPara="1" wrap="square" lIns="0" tIns="0" rIns="0" bIns="0" anchor="ctr"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7" name="Google Shape;458;p24"/>
          <p:cNvSpPr/>
          <p:nvPr>
            <p:custDataLst>
              <p:tags r:id="rId145"/>
            </p:custDataLst>
          </p:nvPr>
        </p:nvSpPr>
        <p:spPr>
          <a:xfrm>
            <a:off x="2038985" y="2694305"/>
            <a:ext cx="639445" cy="762635"/>
          </a:xfrm>
          <a:prstGeom prst="roundRect">
            <a:avLst>
              <a:gd name="adj" fmla="val 2676"/>
            </a:avLst>
          </a:prstGeom>
          <a:solidFill>
            <a:schemeClr val="accent1">
              <a:lumMod val="40000"/>
              <a:lumOff val="60000"/>
            </a:schemeClr>
          </a:solidFill>
          <a:ln w="12700" cap="flat" cmpd="sng" algn="ctr">
            <a:noFill/>
            <a:prstDash val="solid"/>
            <a:miter lim="800000"/>
          </a:ln>
          <a:effectLst/>
        </p:spPr>
        <p:txBody>
          <a:bodyPr spcFirstLastPara="0" vert="horz" wrap="square" lIns="91444" tIns="45722" rIns="91444" bIns="45722" rtlCol="0" anchor="ctr" anchorCtr="0">
            <a:noAutofit/>
          </a:bodyPr>
          <a:lstStyle/>
          <a:p>
            <a:pPr lvl="0" algn="ctr">
              <a:buClrTx/>
              <a:buSzTx/>
              <a:buFontTx/>
            </a:pPr>
            <a:endParaRPr lang="zh-CN" altLang="en-US" sz="12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8" name="Google Shape;459;p24"/>
          <p:cNvSpPr/>
          <p:nvPr>
            <p:custDataLst>
              <p:tags r:id="rId146"/>
            </p:custDataLst>
          </p:nvPr>
        </p:nvSpPr>
        <p:spPr>
          <a:xfrm>
            <a:off x="2038985" y="2694305"/>
            <a:ext cx="639445" cy="99060"/>
          </a:xfrm>
          <a:custGeom>
            <a:avLst/>
            <a:gdLst/>
            <a:ahLst/>
            <a:cxnLst/>
            <a:rect l="l" t="t" r="r" b="b"/>
            <a:pathLst>
              <a:path w="21599" h="21600" extrusionOk="0">
                <a:moveTo>
                  <a:pt x="688" y="0"/>
                </a:moveTo>
                <a:cubicBezTo>
                  <a:pt x="486" y="0"/>
                  <a:pt x="365" y="5"/>
                  <a:pt x="284" y="209"/>
                </a:cubicBezTo>
                <a:cubicBezTo>
                  <a:pt x="167" y="466"/>
                  <a:pt x="75" y="1022"/>
                  <a:pt x="33" y="1728"/>
                </a:cubicBezTo>
                <a:cubicBezTo>
                  <a:pt x="-1" y="2217"/>
                  <a:pt x="0" y="2947"/>
                  <a:pt x="0" y="4171"/>
                </a:cubicBezTo>
                <a:lnTo>
                  <a:pt x="0" y="21600"/>
                </a:lnTo>
                <a:lnTo>
                  <a:pt x="21599" y="21600"/>
                </a:lnTo>
                <a:lnTo>
                  <a:pt x="21599" y="4171"/>
                </a:lnTo>
                <a:cubicBezTo>
                  <a:pt x="21599" y="2947"/>
                  <a:pt x="21598" y="2217"/>
                  <a:pt x="21564" y="1728"/>
                </a:cubicBezTo>
                <a:cubicBezTo>
                  <a:pt x="21522" y="1022"/>
                  <a:pt x="21430" y="466"/>
                  <a:pt x="21313" y="209"/>
                </a:cubicBezTo>
                <a:cubicBezTo>
                  <a:pt x="21232" y="5"/>
                  <a:pt x="21111" y="0"/>
                  <a:pt x="20909" y="0"/>
                </a:cubicBezTo>
                <a:lnTo>
                  <a:pt x="688" y="0"/>
                </a:lnTo>
                <a:close/>
              </a:path>
            </a:pathLst>
          </a:custGeom>
          <a:solidFill>
            <a:schemeClr val="accent1">
              <a:lumMod val="60000"/>
              <a:lumOff val="40000"/>
            </a:schemeClr>
          </a:solidFill>
          <a:ln>
            <a:noFill/>
          </a:ln>
        </p:spPr>
        <p:txBody>
          <a:bodyPr spcFirstLastPara="1" wrap="square" lIns="0" tIns="0" rIns="0" bIns="0" anchor="ctr"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7" name="Google Shape;465;p24"/>
          <p:cNvSpPr/>
          <p:nvPr>
            <p:custDataLst>
              <p:tags r:id="rId147"/>
            </p:custDataLst>
          </p:nvPr>
        </p:nvSpPr>
        <p:spPr>
          <a:xfrm>
            <a:off x="2690495" y="2694305"/>
            <a:ext cx="639445" cy="99060"/>
          </a:xfrm>
          <a:custGeom>
            <a:avLst/>
            <a:gdLst/>
            <a:ahLst/>
            <a:cxnLst/>
            <a:rect l="l" t="t" r="r" b="b"/>
            <a:pathLst>
              <a:path w="21599" h="21600" extrusionOk="0">
                <a:moveTo>
                  <a:pt x="688" y="0"/>
                </a:moveTo>
                <a:cubicBezTo>
                  <a:pt x="486" y="0"/>
                  <a:pt x="365" y="5"/>
                  <a:pt x="284" y="209"/>
                </a:cubicBezTo>
                <a:cubicBezTo>
                  <a:pt x="167" y="466"/>
                  <a:pt x="75" y="1022"/>
                  <a:pt x="33" y="1728"/>
                </a:cubicBezTo>
                <a:cubicBezTo>
                  <a:pt x="-1" y="2217"/>
                  <a:pt x="0" y="2947"/>
                  <a:pt x="0" y="4171"/>
                </a:cubicBezTo>
                <a:lnTo>
                  <a:pt x="0" y="21600"/>
                </a:lnTo>
                <a:lnTo>
                  <a:pt x="21599" y="21600"/>
                </a:lnTo>
                <a:lnTo>
                  <a:pt x="21599" y="4171"/>
                </a:lnTo>
                <a:cubicBezTo>
                  <a:pt x="21599" y="2947"/>
                  <a:pt x="21598" y="2217"/>
                  <a:pt x="21564" y="1728"/>
                </a:cubicBezTo>
                <a:cubicBezTo>
                  <a:pt x="21522" y="1022"/>
                  <a:pt x="21430" y="466"/>
                  <a:pt x="21313" y="209"/>
                </a:cubicBezTo>
                <a:cubicBezTo>
                  <a:pt x="21232" y="5"/>
                  <a:pt x="21111" y="0"/>
                  <a:pt x="20909" y="0"/>
                </a:cubicBezTo>
                <a:lnTo>
                  <a:pt x="688" y="0"/>
                </a:lnTo>
                <a:close/>
              </a:path>
            </a:pathLst>
          </a:custGeom>
          <a:solidFill>
            <a:schemeClr val="accent1">
              <a:lumMod val="60000"/>
              <a:lumOff val="40000"/>
            </a:schemeClr>
          </a:solidFill>
          <a:ln>
            <a:noFill/>
          </a:ln>
        </p:spPr>
        <p:txBody>
          <a:bodyPr spcFirstLastPara="1" wrap="square" lIns="0" tIns="0" rIns="0" bIns="0" anchor="ctr" anchorCtr="0">
            <a:noAutofit/>
          </a:bodyPr>
          <a:lstStyle/>
          <a:p>
            <a:pPr algn="ctr">
              <a:buClr>
                <a:srgbClr val="525455"/>
              </a:buClr>
              <a:buSzPts val="1100"/>
            </a:pPr>
            <a:endParaRPr sz="1465">
              <a:solidFill>
                <a:srgbClr val="52545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天蝎PPT1"/>
          <p:cNvPicPr>
            <a:picLocks noChangeAspect="1"/>
          </p:cNvPicPr>
          <p:nvPr/>
        </p:nvPicPr>
        <p:blipFill rotWithShape="1">
          <a:blip r:embed="rId1" cstate="email"/>
          <a:srcRect/>
          <a:stretch>
            <a:fillRect/>
          </a:stretch>
        </p:blipFill>
        <p:spPr>
          <a:xfrm flipH="1">
            <a:off x="4431665" y="1270"/>
            <a:ext cx="7755825" cy="6858000"/>
          </a:xfrm>
          <a:prstGeom prst="rect">
            <a:avLst/>
          </a:prstGeom>
        </p:spPr>
      </p:pic>
      <p:sp>
        <p:nvSpPr>
          <p:cNvPr id="36" name="矩形 35"/>
          <p:cNvSpPr/>
          <p:nvPr/>
        </p:nvSpPr>
        <p:spPr>
          <a:xfrm>
            <a:off x="0" y="-5080"/>
            <a:ext cx="12268200" cy="6858000"/>
          </a:xfrm>
          <a:prstGeom prst="rect">
            <a:avLst/>
          </a:prstGeom>
          <a:gradFill>
            <a:gsLst>
              <a:gs pos="0">
                <a:srgbClr val="EDEEF2">
                  <a:lumMod val="0"/>
                  <a:lumOff val="100000"/>
                </a:srgbClr>
              </a:gs>
              <a:gs pos="100000">
                <a:srgbClr val="DBDBDD">
                  <a:alpha val="50000"/>
                </a:srgbClr>
              </a:gs>
            </a:gsLst>
            <a:lin ang="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cs typeface="微软雅黑" panose="020B0503020204020204" charset="-122"/>
            </a:endParaRPr>
          </a:p>
        </p:txBody>
      </p:sp>
      <p:sp>
        <p:nvSpPr>
          <p:cNvPr id="3" name="矩形 2"/>
          <p:cNvSpPr/>
          <p:nvPr/>
        </p:nvSpPr>
        <p:spPr>
          <a:xfrm>
            <a:off x="0" y="-5080"/>
            <a:ext cx="5048250" cy="6858000"/>
          </a:xfrm>
          <a:prstGeom prst="rect">
            <a:avLst/>
          </a:prstGeom>
          <a:gradFill>
            <a:gsLst>
              <a:gs pos="0">
                <a:schemeClr val="accent1">
                  <a:lumMod val="10000"/>
                  <a:lumOff val="90000"/>
                </a:schemeClr>
              </a:gs>
              <a:gs pos="100000">
                <a:schemeClr val="accent1">
                  <a:lumMod val="10000"/>
                  <a:lumOff val="90000"/>
                </a:schemeClr>
              </a:gs>
            </a:gsLst>
            <a:lin ang="5400000" scaled="0"/>
          </a:gradFill>
          <a:ln>
            <a:noFill/>
          </a:ln>
        </p:spPr>
        <p:style>
          <a:lnRef idx="2">
            <a:srgbClr val="0046FF">
              <a:shade val="50000"/>
            </a:srgbClr>
          </a:lnRef>
          <a:fillRef idx="1">
            <a:srgbClr val="0046FF"/>
          </a:fillRef>
          <a:effectRef idx="0">
            <a:srgbClr val="0046FF"/>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 name="文本框 5"/>
          <p:cNvSpPr txBox="1"/>
          <p:nvPr/>
        </p:nvSpPr>
        <p:spPr>
          <a:xfrm>
            <a:off x="585470" y="1805940"/>
            <a:ext cx="3877310" cy="583565"/>
          </a:xfrm>
          <a:prstGeom prst="rect">
            <a:avLst/>
          </a:prstGeom>
          <a:noFill/>
        </p:spPr>
        <p:txBody>
          <a:bodyPr wrap="square" rtlCol="0" anchor="ctr" anchorCtr="0">
            <a:spAutoFit/>
          </a:bodyPr>
          <a:lstStyle/>
          <a:p>
            <a:pPr lvl="0" algn="ctr" fontAlgn="ctr">
              <a:buClrTx/>
              <a:buSzTx/>
              <a:buFontTx/>
            </a:pPr>
            <a:r>
              <a:rPr lang="zh-CN" altLang="en-US" sz="32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rPr>
              <a:t>循环逻辑架构</a:t>
            </a:r>
            <a:endParaRPr lang="zh-CN" altLang="en-US" sz="3200" b="1" spc="-15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 name="文本框 8"/>
          <p:cNvSpPr txBox="1"/>
          <p:nvPr/>
        </p:nvSpPr>
        <p:spPr>
          <a:xfrm>
            <a:off x="819150" y="2527300"/>
            <a:ext cx="3409950" cy="583565"/>
          </a:xfrm>
          <a:prstGeom prst="rect">
            <a:avLst/>
          </a:prstGeom>
          <a:noFill/>
        </p:spPr>
        <p:txBody>
          <a:bodyPr wrap="square" rtlCol="0" anchor="ctr" anchorCtr="0">
            <a:spAutoFit/>
          </a:bodyPr>
          <a:lstStyle/>
          <a:p>
            <a:pPr lvl="0" algn="ctr" fontAlgn="ctr">
              <a:buClrTx/>
              <a:buSzTx/>
              <a:buFontTx/>
            </a:pPr>
            <a:r>
              <a:rPr lang="en-US" altLang="zh-CN" sz="1600">
                <a:solidFill>
                  <a:schemeClr val="accent6">
                    <a:alpha val="50000"/>
                  </a:schemeClr>
                </a:solidFill>
                <a:latin typeface="微软雅黑" panose="020B0503020204020204" charset="-122"/>
                <a:ea typeface="微软雅黑" panose="020B0503020204020204" charset="-122"/>
                <a:cs typeface="微软雅黑" panose="020B0503020204020204" charset="-122"/>
                <a:sym typeface="+mn-ea"/>
              </a:rPr>
              <a:t>Circular Logic Framework</a:t>
            </a:r>
            <a:endParaRPr lang="en-US" altLang="zh-CN" sz="1600">
              <a:solidFill>
                <a:schemeClr val="accent6">
                  <a:alpha val="50000"/>
                </a:schemeClr>
              </a:solidFill>
              <a:latin typeface="微软雅黑" panose="020B0503020204020204" charset="-122"/>
              <a:ea typeface="微软雅黑" panose="020B0503020204020204" charset="-122"/>
              <a:cs typeface="微软雅黑" panose="020B0503020204020204" charset="-122"/>
              <a:sym typeface="+mn-ea"/>
            </a:endParaRPr>
          </a:p>
          <a:p>
            <a:pPr lvl="0" algn="ctr" fontAlgn="ctr">
              <a:buClrTx/>
              <a:buSzTx/>
              <a:buFontTx/>
            </a:pPr>
            <a:endParaRPr lang="en-US" altLang="zh-CN" sz="1600">
              <a:solidFill>
                <a:schemeClr val="accent6">
                  <a:alpha val="5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12" name="矩形 11"/>
          <p:cNvSpPr/>
          <p:nvPr/>
        </p:nvSpPr>
        <p:spPr>
          <a:xfrm>
            <a:off x="1339215" y="2403475"/>
            <a:ext cx="396240" cy="36195"/>
          </a:xfrm>
          <a:prstGeom prst="rect">
            <a:avLst/>
          </a:prstGeom>
          <a:solidFill>
            <a:schemeClr val="accent1">
              <a:lumMod val="60000"/>
              <a:lumOff val="40000"/>
            </a:schemeClr>
          </a:solidFill>
          <a:ln>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30" name="文本框 29"/>
          <p:cNvSpPr txBox="1"/>
          <p:nvPr/>
        </p:nvSpPr>
        <p:spPr>
          <a:xfrm>
            <a:off x="2000885" y="833755"/>
            <a:ext cx="1046480" cy="860425"/>
          </a:xfrm>
          <a:prstGeom prst="rect">
            <a:avLst/>
          </a:prstGeom>
          <a:noFill/>
        </p:spPr>
        <p:txBody>
          <a:bodyPr wrap="square" rtlCol="0" anchor="ctr" anchorCtr="0">
            <a:noAutofit/>
          </a:bodyPr>
          <a:lstStyle/>
          <a:p>
            <a:pPr lvl="0" algn="ctr" fontAlgn="ctr">
              <a:buClrTx/>
              <a:buSzTx/>
              <a:buFontTx/>
            </a:pPr>
            <a:r>
              <a:rPr lang="zh-CN" altLang="en-US" sz="5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rPr>
              <a:t>④</a:t>
            </a:r>
            <a:endParaRPr lang="zh-CN" altLang="en-US" sz="5000" b="1">
              <a:solidFill>
                <a:schemeClr val="accent1">
                  <a:lumMod val="60000"/>
                  <a:lumOff val="40000"/>
                  <a:alpha val="60000"/>
                </a:schemeClr>
              </a:solidFill>
              <a:latin typeface="微软雅黑" panose="020B0503020204020204" charset="-122"/>
              <a:ea typeface="微软雅黑" panose="020B0503020204020204" charset="-122"/>
              <a:cs typeface="微软雅黑" panose="020B0503020204020204" charset="-122"/>
              <a:sym typeface="+mn-ea"/>
            </a:endParaRPr>
          </a:p>
        </p:txBody>
      </p:sp>
      <p:sp>
        <p:nvSpPr>
          <p:cNvPr id="52" name="文本框 51"/>
          <p:cNvSpPr txBox="1"/>
          <p:nvPr/>
        </p:nvSpPr>
        <p:spPr>
          <a:xfrm>
            <a:off x="5697220" y="2173605"/>
            <a:ext cx="5712460" cy="2676525"/>
          </a:xfrm>
          <a:prstGeom prst="rect">
            <a:avLst/>
          </a:prstGeom>
          <a:noFill/>
        </p:spPr>
        <p:txBody>
          <a:bodyPr wrap="square" rtlCol="0">
            <a:spAutoFit/>
          </a:bodyPr>
          <a:lstStyle/>
          <a:p>
            <a:pPr indent="0" fontAlgn="auto">
              <a:lnSpc>
                <a:spcPct val="150000"/>
              </a:lnSpc>
            </a:pPr>
            <a:r>
              <a:rPr lang="zh-CN" altLang="en-US" sz="1400" b="1">
                <a:solidFill>
                  <a:schemeClr val="tx2"/>
                </a:solidFill>
                <a:latin typeface="微软雅黑" panose="020B0503020204020204" charset="-122"/>
                <a:ea typeface="微软雅黑" panose="020B0503020204020204" charset="-122"/>
                <a:cs typeface="微软雅黑" panose="020B0503020204020204" charset="-122"/>
                <a:sym typeface="+mn-ea"/>
              </a:rPr>
              <a:t>设计元素：</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以核心主体为中心，通过环形、树状或网状结构直观展示循环关系，添加箭头或渐变颜色标注循环方向，若涉及多层循环（如战略层、执行层），用嵌套环形图分层呈现。</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1400" b="1">
                <a:solidFill>
                  <a:schemeClr val="tx2"/>
                </a:solidFill>
                <a:latin typeface="微软雅黑" panose="020B0503020204020204" charset="-122"/>
                <a:ea typeface="微软雅黑" panose="020B0503020204020204" charset="-122"/>
                <a:cs typeface="微软雅黑" panose="020B0503020204020204" charset="-122"/>
                <a:sym typeface="+mn-ea"/>
              </a:rPr>
              <a:t>应用场景：</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主要应用如分析问题的起点和终点形成的思考闭环、业务流程循环图、时间上周期性的复盘、软件开发中</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需求迭代</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的循环等，循环逻辑架构</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PPT</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不仅能清晰传达动态闭环系统的复杂性，还能直接关联实际业务场景，增强决策说服力。</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a:p>
            <a:pPr indent="0" fontAlgn="auto">
              <a:lnSpc>
                <a:spcPct val="150000"/>
              </a:lnSpc>
            </a:pPr>
            <a:r>
              <a:rPr lang="zh-CN" altLang="en-US" sz="1400" b="1">
                <a:solidFill>
                  <a:schemeClr val="accent5"/>
                </a:solidFill>
                <a:latin typeface="微软雅黑" panose="020B0503020204020204" charset="-122"/>
                <a:ea typeface="微软雅黑" panose="020B0503020204020204" charset="-122"/>
                <a:cs typeface="微软雅黑" panose="020B0503020204020204" charset="-122"/>
                <a:sym typeface="+mn-ea"/>
              </a:rPr>
              <a:t>核心关键词：</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「闭环结构、循环方向、动态反馈</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mn-ea"/>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rPr>
              <a:t>」。</a:t>
            </a:r>
            <a:endParaRPr lang="zh-CN" altLang="en-US" sz="14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nvGrpSpPr>
          <p:cNvPr id="159" name="组合 158"/>
          <p:cNvGrpSpPr/>
          <p:nvPr>
            <p:custDataLst>
              <p:tags r:id="rId2"/>
            </p:custDataLst>
          </p:nvPr>
        </p:nvGrpSpPr>
        <p:grpSpPr>
          <a:xfrm>
            <a:off x="1471295" y="3474720"/>
            <a:ext cx="2005330" cy="2004695"/>
            <a:chOff x="2917" y="9383"/>
            <a:chExt cx="2530" cy="2529"/>
          </a:xfrm>
        </p:grpSpPr>
        <p:pic>
          <p:nvPicPr>
            <p:cNvPr id="5" name="图片 4" descr="左右箭头-2"/>
            <p:cNvPicPr>
              <a:picLocks noChangeAspect="1"/>
            </p:cNvPicPr>
            <p:nvPr>
              <p:custDataLst>
                <p:tags r:id="rId3"/>
              </p:custDataLst>
            </p:nvPr>
          </p:nvPicPr>
          <p:blipFill>
            <a:blip r:embed="rId4">
              <a:extLst>
                <a:ext uri="{96DAC541-7B7A-43D3-8B79-37D633B846F1}">
                  <asvg:svgBlip xmlns:asvg="http://schemas.microsoft.com/office/drawing/2016/SVG/main" r:embed="rId5"/>
                </a:ext>
              </a:extLst>
            </a:blip>
            <a:stretch>
              <a:fillRect/>
            </a:stretch>
          </p:blipFill>
          <p:spPr>
            <a:xfrm>
              <a:off x="4171" y="10609"/>
              <a:ext cx="79" cy="79"/>
            </a:xfrm>
            <a:prstGeom prst="rect">
              <a:avLst/>
            </a:prstGeom>
          </p:spPr>
        </p:pic>
        <p:sp>
          <p:nvSpPr>
            <p:cNvPr id="7" name="紫荆的职场Point8"/>
            <p:cNvSpPr/>
            <p:nvPr>
              <p:custDataLst>
                <p:tags r:id="rId6"/>
              </p:custDataLst>
            </p:nvPr>
          </p:nvSpPr>
          <p:spPr bwMode="auto">
            <a:xfrm>
              <a:off x="4470" y="10061"/>
              <a:ext cx="479" cy="498"/>
            </a:xfrm>
            <a:custGeom>
              <a:avLst/>
              <a:gdLst>
                <a:gd name="connsiteX0" fmla="*/ 619628 w 1306515"/>
                <a:gd name="connsiteY0" fmla="*/ 0 h 1357311"/>
                <a:gd name="connsiteX1" fmla="*/ 1306515 w 1306515"/>
                <a:gd name="connsiteY1" fmla="*/ 1189815 h 1357311"/>
                <a:gd name="connsiteX2" fmla="*/ 357258 w 1306515"/>
                <a:gd name="connsiteY2" fmla="*/ 1357311 h 1357311"/>
                <a:gd name="connsiteX3" fmla="*/ 0 w 1306515"/>
                <a:gd name="connsiteY3" fmla="*/ 738585 h 1357311"/>
              </a:gdLst>
              <a:ahLst/>
              <a:cxnLst>
                <a:cxn ang="0">
                  <a:pos x="connsiteX0" y="connsiteY0"/>
                </a:cxn>
                <a:cxn ang="0">
                  <a:pos x="connsiteX1" y="connsiteY1"/>
                </a:cxn>
                <a:cxn ang="0">
                  <a:pos x="connsiteX2" y="connsiteY2"/>
                </a:cxn>
                <a:cxn ang="0">
                  <a:pos x="connsiteX3" y="connsiteY3"/>
                </a:cxn>
              </a:cxnLst>
              <a:rect l="l" t="t" r="r" b="b"/>
              <a:pathLst>
                <a:path w="1306515" h="1357311">
                  <a:moveTo>
                    <a:pt x="619628" y="0"/>
                  </a:moveTo>
                  <a:cubicBezTo>
                    <a:pt x="981268" y="303552"/>
                    <a:pt x="1224584" y="724865"/>
                    <a:pt x="1306515" y="1189815"/>
                  </a:cubicBezTo>
                  <a:lnTo>
                    <a:pt x="357258" y="1357311"/>
                  </a:lnTo>
                  <a:cubicBezTo>
                    <a:pt x="314577" y="1115499"/>
                    <a:pt x="188060" y="896363"/>
                    <a:pt x="0" y="738585"/>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8" name="紫荆的职场Point9"/>
            <p:cNvSpPr/>
            <p:nvPr>
              <p:custDataLst>
                <p:tags r:id="rId7"/>
              </p:custDataLst>
            </p:nvPr>
          </p:nvSpPr>
          <p:spPr bwMode="auto">
            <a:xfrm>
              <a:off x="4560" y="10531"/>
              <a:ext cx="405" cy="497"/>
            </a:xfrm>
            <a:custGeom>
              <a:avLst/>
              <a:gdLst>
                <a:gd name="connsiteX0" fmla="*/ 1072263 w 1102722"/>
                <a:gd name="connsiteY0" fmla="*/ 0 h 1352548"/>
                <a:gd name="connsiteX1" fmla="*/ 833940 w 1102722"/>
                <a:gd name="connsiteY1" fmla="*/ 1352548 h 1352548"/>
                <a:gd name="connsiteX2" fmla="*/ 0 w 1102722"/>
                <a:gd name="connsiteY2" fmla="*/ 870774 h 1352548"/>
                <a:gd name="connsiteX3" fmla="*/ 123920 w 1102722"/>
                <a:gd name="connsiteY3" fmla="*/ 167449 h 1352548"/>
              </a:gdLst>
              <a:ahLst/>
              <a:cxnLst>
                <a:cxn ang="0">
                  <a:pos x="connsiteX0" y="connsiteY0"/>
                </a:cxn>
                <a:cxn ang="0">
                  <a:pos x="connsiteX1" y="connsiteY1"/>
                </a:cxn>
                <a:cxn ang="0">
                  <a:pos x="connsiteX2" y="connsiteY2"/>
                </a:cxn>
                <a:cxn ang="0">
                  <a:pos x="connsiteX3" y="connsiteY3"/>
                </a:cxn>
              </a:cxnLst>
              <a:rect l="l" t="t" r="r" b="b"/>
              <a:pathLst>
                <a:path w="1102722" h="1352548">
                  <a:moveTo>
                    <a:pt x="1072263" y="0"/>
                  </a:moveTo>
                  <a:cubicBezTo>
                    <a:pt x="1154115" y="465010"/>
                    <a:pt x="1069788" y="943736"/>
                    <a:pt x="833940" y="1352548"/>
                  </a:cubicBezTo>
                  <a:lnTo>
                    <a:pt x="0" y="870774"/>
                  </a:lnTo>
                  <a:cubicBezTo>
                    <a:pt x="122588" y="658177"/>
                    <a:pt x="166560" y="409194"/>
                    <a:pt x="123920" y="167449"/>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18" name="紫荆的职场Point10"/>
            <p:cNvSpPr/>
            <p:nvPr>
              <p:custDataLst>
                <p:tags r:id="rId8"/>
              </p:custDataLst>
            </p:nvPr>
          </p:nvSpPr>
          <p:spPr bwMode="auto">
            <a:xfrm>
              <a:off x="4344" y="10874"/>
              <a:ext cx="507" cy="502"/>
            </a:xfrm>
            <a:custGeom>
              <a:avLst/>
              <a:gdLst>
                <a:gd name="connsiteX0" fmla="*/ 547519 w 1382715"/>
                <a:gd name="connsiteY0" fmla="*/ 0 h 1365248"/>
                <a:gd name="connsiteX1" fmla="*/ 1382715 w 1382715"/>
                <a:gd name="connsiteY1" fmla="*/ 482144 h 1365248"/>
                <a:gd name="connsiteX2" fmla="*/ 329808 w 1382715"/>
                <a:gd name="connsiteY2" fmla="*/ 1365248 h 1365248"/>
                <a:gd name="connsiteX3" fmla="*/ 0 w 1382715"/>
                <a:gd name="connsiteY3" fmla="*/ 459275 h 1365248"/>
                <a:gd name="connsiteX4" fmla="*/ 547519 w 1382715"/>
                <a:gd name="connsiteY4" fmla="*/ 0 h 136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715" h="1365248">
                  <a:moveTo>
                    <a:pt x="547519" y="0"/>
                  </a:moveTo>
                  <a:lnTo>
                    <a:pt x="1382715" y="482144"/>
                  </a:lnTo>
                  <a:cubicBezTo>
                    <a:pt x="1146512" y="891108"/>
                    <a:pt x="773810" y="1203835"/>
                    <a:pt x="329808" y="1365248"/>
                  </a:cubicBezTo>
                  <a:lnTo>
                    <a:pt x="0" y="459275"/>
                  </a:lnTo>
                  <a:cubicBezTo>
                    <a:pt x="230866" y="375424"/>
                    <a:pt x="424556" y="212677"/>
                    <a:pt x="547519"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0" name="紫荆的职场Point11"/>
            <p:cNvSpPr/>
            <p:nvPr>
              <p:custDataLst>
                <p:tags r:id="rId9"/>
              </p:custDataLst>
            </p:nvPr>
          </p:nvSpPr>
          <p:spPr bwMode="auto">
            <a:xfrm>
              <a:off x="3932" y="11053"/>
              <a:ext cx="504" cy="377"/>
            </a:xfrm>
            <a:custGeom>
              <a:avLst/>
              <a:gdLst>
                <a:gd name="connsiteX0" fmla="*/ 329870 w 1374777"/>
                <a:gd name="connsiteY0" fmla="*/ 0 h 1026426"/>
                <a:gd name="connsiteX1" fmla="*/ 1044716 w 1374777"/>
                <a:gd name="connsiteY1" fmla="*/ 0 h 1026426"/>
                <a:gd name="connsiteX2" fmla="*/ 1374777 w 1374777"/>
                <a:gd name="connsiteY2" fmla="*/ 905312 h 1026426"/>
                <a:gd name="connsiteX3" fmla="*/ 0 w 1374777"/>
                <a:gd name="connsiteY3" fmla="*/ 905312 h 1026426"/>
              </a:gdLst>
              <a:ahLst/>
              <a:cxnLst>
                <a:cxn ang="0">
                  <a:pos x="connsiteX0" y="connsiteY0"/>
                </a:cxn>
                <a:cxn ang="0">
                  <a:pos x="connsiteX1" y="connsiteY1"/>
                </a:cxn>
                <a:cxn ang="0">
                  <a:pos x="connsiteX2" y="connsiteY2"/>
                </a:cxn>
                <a:cxn ang="0">
                  <a:pos x="connsiteX3" y="connsiteY3"/>
                </a:cxn>
              </a:cxnLst>
              <a:rect l="l" t="t" r="r" b="b"/>
              <a:pathLst>
                <a:path w="1374777" h="1026426">
                  <a:moveTo>
                    <a:pt x="329870" y="0"/>
                  </a:moveTo>
                  <a:cubicBezTo>
                    <a:pt x="560779" y="83981"/>
                    <a:pt x="813807" y="83981"/>
                    <a:pt x="1044716" y="0"/>
                  </a:cubicBezTo>
                  <a:lnTo>
                    <a:pt x="1374777" y="905312"/>
                  </a:lnTo>
                  <a:cubicBezTo>
                    <a:pt x="930692" y="1066798"/>
                    <a:pt x="443895" y="1066798"/>
                    <a:pt x="0" y="905312"/>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2" name="紫荆的职场Point12"/>
            <p:cNvSpPr/>
            <p:nvPr>
              <p:custDataLst>
                <p:tags r:id="rId10"/>
              </p:custDataLst>
            </p:nvPr>
          </p:nvSpPr>
          <p:spPr bwMode="auto">
            <a:xfrm>
              <a:off x="3518" y="10874"/>
              <a:ext cx="507" cy="502"/>
            </a:xfrm>
            <a:custGeom>
              <a:avLst/>
              <a:gdLst>
                <a:gd name="connsiteX0" fmla="*/ 834237 w 1381127"/>
                <a:gd name="connsiteY0" fmla="*/ 0 h 1365248"/>
                <a:gd name="connsiteX1" fmla="*/ 1381127 w 1381127"/>
                <a:gd name="connsiteY1" fmla="*/ 459275 h 1365248"/>
                <a:gd name="connsiteX2" fmla="*/ 1051508 w 1381127"/>
                <a:gd name="connsiteY2" fmla="*/ 1365248 h 1365248"/>
                <a:gd name="connsiteX3" fmla="*/ 0 w 1381127"/>
                <a:gd name="connsiteY3" fmla="*/ 482144 h 1365248"/>
              </a:gdLst>
              <a:ahLst/>
              <a:cxnLst>
                <a:cxn ang="0">
                  <a:pos x="connsiteX0" y="connsiteY0"/>
                </a:cxn>
                <a:cxn ang="0">
                  <a:pos x="connsiteX1" y="connsiteY1"/>
                </a:cxn>
                <a:cxn ang="0">
                  <a:pos x="connsiteX2" y="connsiteY2"/>
                </a:cxn>
                <a:cxn ang="0">
                  <a:pos x="connsiteX3" y="connsiteY3"/>
                </a:cxn>
              </a:cxnLst>
              <a:rect l="l" t="t" r="r" b="b"/>
              <a:pathLst>
                <a:path w="1381127" h="1365248">
                  <a:moveTo>
                    <a:pt x="834237" y="0"/>
                  </a:moveTo>
                  <a:cubicBezTo>
                    <a:pt x="956868" y="212677"/>
                    <a:pt x="1150527" y="375424"/>
                    <a:pt x="1381127" y="459275"/>
                  </a:cubicBezTo>
                  <a:lnTo>
                    <a:pt x="1051508" y="1365248"/>
                  </a:lnTo>
                  <a:cubicBezTo>
                    <a:pt x="608206" y="1203835"/>
                    <a:pt x="235742" y="891108"/>
                    <a:pt x="0" y="482144"/>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3" name="紫荆的职场Point13"/>
            <p:cNvSpPr/>
            <p:nvPr>
              <p:custDataLst>
                <p:tags r:id="rId11"/>
              </p:custDataLst>
            </p:nvPr>
          </p:nvSpPr>
          <p:spPr bwMode="auto">
            <a:xfrm>
              <a:off x="3404" y="10527"/>
              <a:ext cx="405" cy="497"/>
            </a:xfrm>
            <a:custGeom>
              <a:avLst/>
              <a:gdLst>
                <a:gd name="connsiteX0" fmla="*/ 30497 w 1104248"/>
                <a:gd name="connsiteY0" fmla="*/ 0 h 1352548"/>
                <a:gd name="connsiteX1" fmla="*/ 980178 w 1104248"/>
                <a:gd name="connsiteY1" fmla="*/ 167449 h 1352548"/>
                <a:gd name="connsiteX2" fmla="*/ 1104248 w 1104248"/>
                <a:gd name="connsiteY2" fmla="*/ 870774 h 1352548"/>
                <a:gd name="connsiteX3" fmla="*/ 269109 w 1104248"/>
                <a:gd name="connsiteY3" fmla="*/ 1352548 h 1352548"/>
                <a:gd name="connsiteX4" fmla="*/ 30497 w 1104248"/>
                <a:gd name="connsiteY4" fmla="*/ 0 h 1352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248" h="1352548">
                  <a:moveTo>
                    <a:pt x="30497" y="0"/>
                  </a:moveTo>
                  <a:lnTo>
                    <a:pt x="980178" y="167449"/>
                  </a:lnTo>
                  <a:cubicBezTo>
                    <a:pt x="937487" y="409194"/>
                    <a:pt x="981321" y="658177"/>
                    <a:pt x="1104248" y="870774"/>
                  </a:cubicBezTo>
                  <a:lnTo>
                    <a:pt x="269109" y="1352548"/>
                  </a:lnTo>
                  <a:cubicBezTo>
                    <a:pt x="32975" y="943736"/>
                    <a:pt x="-51454" y="465010"/>
                    <a:pt x="30497"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4" name="紫荆的职场Point14"/>
            <p:cNvSpPr/>
            <p:nvPr>
              <p:custDataLst>
                <p:tags r:id="rId12"/>
              </p:custDataLst>
            </p:nvPr>
          </p:nvSpPr>
          <p:spPr bwMode="auto">
            <a:xfrm>
              <a:off x="3421" y="10061"/>
              <a:ext cx="479" cy="498"/>
            </a:xfrm>
            <a:custGeom>
              <a:avLst/>
              <a:gdLst>
                <a:gd name="connsiteX0" fmla="*/ 686888 w 1306515"/>
                <a:gd name="connsiteY0" fmla="*/ 0 h 1357311"/>
                <a:gd name="connsiteX1" fmla="*/ 1306515 w 1306515"/>
                <a:gd name="connsiteY1" fmla="*/ 738593 h 1357311"/>
                <a:gd name="connsiteX2" fmla="*/ 949353 w 1306515"/>
                <a:gd name="connsiteY2" fmla="*/ 1357311 h 1357311"/>
                <a:gd name="connsiteX3" fmla="*/ 0 w 1306515"/>
                <a:gd name="connsiteY3" fmla="*/ 1189887 h 1357311"/>
                <a:gd name="connsiteX4" fmla="*/ 686888 w 1306515"/>
                <a:gd name="connsiteY4" fmla="*/ 0 h 13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515" h="1357311">
                  <a:moveTo>
                    <a:pt x="686888" y="0"/>
                  </a:moveTo>
                  <a:lnTo>
                    <a:pt x="1306515" y="738593"/>
                  </a:lnTo>
                  <a:cubicBezTo>
                    <a:pt x="1118455" y="896393"/>
                    <a:pt x="991938" y="1115465"/>
                    <a:pt x="949353" y="1357311"/>
                  </a:cubicBezTo>
                  <a:lnTo>
                    <a:pt x="0" y="1189887"/>
                  </a:lnTo>
                  <a:cubicBezTo>
                    <a:pt x="82027" y="724776"/>
                    <a:pt x="325248" y="303499"/>
                    <a:pt x="686888"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5" name="紫荆的职场Point15"/>
            <p:cNvSpPr/>
            <p:nvPr>
              <p:custDataLst>
                <p:tags r:id="rId13"/>
              </p:custDataLst>
            </p:nvPr>
          </p:nvSpPr>
          <p:spPr bwMode="auto">
            <a:xfrm>
              <a:off x="3696" y="9869"/>
              <a:ext cx="474" cy="443"/>
            </a:xfrm>
            <a:custGeom>
              <a:avLst/>
              <a:gdLst>
                <a:gd name="connsiteX0" fmla="*/ 1290640 w 1290640"/>
                <a:gd name="connsiteY0" fmla="*/ 0 h 1208086"/>
                <a:gd name="connsiteX1" fmla="*/ 1290640 w 1290640"/>
                <a:gd name="connsiteY1" fmla="*/ 963840 h 1208086"/>
                <a:gd name="connsiteX2" fmla="*/ 619599 w 1290640"/>
                <a:gd name="connsiteY2" fmla="*/ 1208086 h 1208086"/>
                <a:gd name="connsiteX3" fmla="*/ 0 w 1290640"/>
                <a:gd name="connsiteY3" fmla="*/ 469631 h 1208086"/>
                <a:gd name="connsiteX4" fmla="*/ 1290640 w 1290640"/>
                <a:gd name="connsiteY4" fmla="*/ 0 h 1208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0640" h="1208086">
                  <a:moveTo>
                    <a:pt x="1290640" y="0"/>
                  </a:moveTo>
                  <a:lnTo>
                    <a:pt x="1290640" y="963840"/>
                  </a:lnTo>
                  <a:cubicBezTo>
                    <a:pt x="1045239" y="963840"/>
                    <a:pt x="807650" y="1050336"/>
                    <a:pt x="619599" y="1208086"/>
                  </a:cubicBezTo>
                  <a:lnTo>
                    <a:pt x="0" y="469631"/>
                  </a:lnTo>
                  <a:cubicBezTo>
                    <a:pt x="361623" y="166324"/>
                    <a:pt x="818701" y="0"/>
                    <a:pt x="1290640" y="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6" name="紫荆的职场Point16"/>
            <p:cNvSpPr/>
            <p:nvPr>
              <p:custDataLst>
                <p:tags r:id="rId14"/>
              </p:custDataLst>
            </p:nvPr>
          </p:nvSpPr>
          <p:spPr bwMode="auto">
            <a:xfrm>
              <a:off x="4200" y="9869"/>
              <a:ext cx="474" cy="443"/>
            </a:xfrm>
            <a:custGeom>
              <a:avLst/>
              <a:gdLst>
                <a:gd name="connsiteX0" fmla="*/ 0 w 1290640"/>
                <a:gd name="connsiteY0" fmla="*/ 0 h 1208086"/>
                <a:gd name="connsiteX1" fmla="*/ 1290640 w 1290640"/>
                <a:gd name="connsiteY1" fmla="*/ 469631 h 1208086"/>
                <a:gd name="connsiteX2" fmla="*/ 671133 w 1290640"/>
                <a:gd name="connsiteY2" fmla="*/ 1208086 h 1208086"/>
                <a:gd name="connsiteX3" fmla="*/ 0 w 1290640"/>
                <a:gd name="connsiteY3" fmla="*/ 963840 h 1208086"/>
              </a:gdLst>
              <a:ahLst/>
              <a:cxnLst>
                <a:cxn ang="0">
                  <a:pos x="connsiteX0" y="connsiteY0"/>
                </a:cxn>
                <a:cxn ang="0">
                  <a:pos x="connsiteX1" y="connsiteY1"/>
                </a:cxn>
                <a:cxn ang="0">
                  <a:pos x="connsiteX2" y="connsiteY2"/>
                </a:cxn>
                <a:cxn ang="0">
                  <a:pos x="connsiteX3" y="connsiteY3"/>
                </a:cxn>
              </a:cxnLst>
              <a:rect l="l" t="t" r="r" b="b"/>
              <a:pathLst>
                <a:path w="1290640" h="1208086">
                  <a:moveTo>
                    <a:pt x="0" y="0"/>
                  </a:moveTo>
                  <a:cubicBezTo>
                    <a:pt x="472060" y="0"/>
                    <a:pt x="929070" y="166324"/>
                    <a:pt x="1290640" y="469631"/>
                  </a:cubicBezTo>
                  <a:lnTo>
                    <a:pt x="671133" y="1208086"/>
                  </a:lnTo>
                  <a:cubicBezTo>
                    <a:pt x="483109" y="1050336"/>
                    <a:pt x="245555" y="963840"/>
                    <a:pt x="0" y="963840"/>
                  </a:cubicBezTo>
                  <a:close/>
                </a:path>
              </a:pathLst>
            </a:custGeom>
            <a:solidFill>
              <a:schemeClr val="accent1">
                <a:lumMod val="40000"/>
                <a:lumOff val="6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27" name="紫荆的职场Point17"/>
            <p:cNvSpPr/>
            <p:nvPr>
              <p:custDataLst>
                <p:tags r:id="rId15"/>
              </p:custDataLst>
            </p:nvPr>
          </p:nvSpPr>
          <p:spPr>
            <a:xfrm>
              <a:off x="3820" y="10294"/>
              <a:ext cx="706" cy="706"/>
            </a:xfrm>
            <a:prstGeom prst="ellipse">
              <a:avLst/>
            </a:prstGeom>
            <a:solidFill>
              <a:schemeClr val="accent1">
                <a:lumMod val="60000"/>
                <a:lumOff val="40000"/>
              </a:schemeClr>
            </a:solidFill>
            <a:ln w="25617" cap="flat" cmpd="sng" algn="ctr">
              <a:solidFill>
                <a:schemeClr val="accent1">
                  <a:lumMod val="60000"/>
                  <a:lumOff val="40000"/>
                </a:schemeClr>
              </a:solidFill>
              <a:prstDash val="solid"/>
              <a:miter lim="800000"/>
            </a:ln>
            <a:effectLst/>
          </p:spPr>
          <p:style>
            <a:lnRef idx="2">
              <a:srgbClr val="24396B">
                <a:shade val="50000"/>
              </a:srgbClr>
            </a:lnRef>
            <a:fillRef idx="1">
              <a:srgbClr val="24396B"/>
            </a:fillRef>
            <a:effectRef idx="0">
              <a:srgbClr val="24396B"/>
            </a:effectRef>
            <a:fontRef idx="minor">
              <a:srgbClr val="FFFFFF"/>
            </a:fontRef>
          </p:style>
          <p:txBody>
            <a:bodyPr lIns="122959" tIns="61480" rIns="122959" bIns="61480" rtlCol="0" anchor="ctr"/>
            <a:lstStyle/>
            <a:p>
              <a:pPr algn="ctr">
                <a:spcBef>
                  <a:spcPct val="0"/>
                </a:spcBef>
                <a:spcAft>
                  <a:spcPct val="0"/>
                </a:spcAft>
              </a:pPr>
              <a:endParaRPr 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8" name="任意多边形: 形状 54"/>
            <p:cNvSpPr/>
            <p:nvPr>
              <p:custDataLst>
                <p:tags r:id="rId16"/>
              </p:custDataLst>
            </p:nvPr>
          </p:nvSpPr>
          <p:spPr>
            <a:xfrm>
              <a:off x="3005" y="9466"/>
              <a:ext cx="1184" cy="1176"/>
            </a:xfrm>
            <a:custGeom>
              <a:avLst/>
              <a:gdLst>
                <a:gd name="connsiteX0" fmla="*/ 720258 w 2418588"/>
                <a:gd name="connsiteY0" fmla="*/ 2400151 h 2400300"/>
                <a:gd name="connsiteX1" fmla="*/ 2414280 w 2418588"/>
                <a:gd name="connsiteY1" fmla="*/ 718417 h 2400300"/>
                <a:gd name="connsiteX2" fmla="*/ 2419805 w 2418588"/>
                <a:gd name="connsiteY2" fmla="*/ 718417 h 2400300"/>
                <a:gd name="connsiteX3" fmla="*/ 2419805 w 2418588"/>
                <a:gd name="connsiteY3" fmla="*/ -54 h 2400300"/>
                <a:gd name="connsiteX4" fmla="*/ 2413899 w 2418588"/>
                <a:gd name="connsiteY4" fmla="*/ -54 h 2400300"/>
                <a:gd name="connsiteX5" fmla="*/ 1216 w 2418588"/>
                <a:gd name="connsiteY5" fmla="*/ 2400247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588" h="2400300">
                  <a:moveTo>
                    <a:pt x="720258" y="2400151"/>
                  </a:moveTo>
                  <a:cubicBezTo>
                    <a:pt x="727117" y="1470225"/>
                    <a:pt x="1482830" y="718417"/>
                    <a:pt x="2414280" y="718417"/>
                  </a:cubicBezTo>
                  <a:lnTo>
                    <a:pt x="2419805" y="718417"/>
                  </a:lnTo>
                  <a:lnTo>
                    <a:pt x="2419805" y="-54"/>
                  </a:lnTo>
                  <a:lnTo>
                    <a:pt x="2413899" y="-54"/>
                  </a:lnTo>
                  <a:cubicBezTo>
                    <a:pt x="1085543" y="-54"/>
                    <a:pt x="7980" y="1073509"/>
                    <a:pt x="1216" y="2400247"/>
                  </a:cubicBez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9" name="任意多边形: 形状 55"/>
            <p:cNvSpPr/>
            <p:nvPr>
              <p:custDataLst>
                <p:tags r:id="rId17"/>
              </p:custDataLst>
            </p:nvPr>
          </p:nvSpPr>
          <p:spPr>
            <a:xfrm>
              <a:off x="2917" y="10298"/>
              <a:ext cx="1271" cy="1532"/>
            </a:xfrm>
            <a:custGeom>
              <a:avLst/>
              <a:gdLst>
                <a:gd name="connsiteX0" fmla="*/ 2592778 w 2596610"/>
                <a:gd name="connsiteY0" fmla="*/ 2409581 h 3128200"/>
                <a:gd name="connsiteX1" fmla="*/ 898471 w 2596610"/>
                <a:gd name="connsiteY1" fmla="*/ 715274 h 3128200"/>
                <a:gd name="connsiteX2" fmla="*/ 898471 w 2596610"/>
                <a:gd name="connsiteY2" fmla="*/ 715179 h 3128200"/>
                <a:gd name="connsiteX3" fmla="*/ 898471 w 2596610"/>
                <a:gd name="connsiteY3" fmla="*/ 707749 h 3128200"/>
                <a:gd name="connsiteX4" fmla="*/ 1069921 w 2596610"/>
                <a:gd name="connsiteY4" fmla="*/ 707749 h 3128200"/>
                <a:gd name="connsiteX5" fmla="*/ 535568 w 2596610"/>
                <a:gd name="connsiteY5" fmla="*/ -54 h 3128200"/>
                <a:gd name="connsiteX6" fmla="*/ 1216 w 2596610"/>
                <a:gd name="connsiteY6" fmla="*/ 707749 h 3128200"/>
                <a:gd name="connsiteX7" fmla="*/ 179428 w 2596610"/>
                <a:gd name="connsiteY7" fmla="*/ 707749 h 3128200"/>
                <a:gd name="connsiteX8" fmla="*/ 179428 w 2596610"/>
                <a:gd name="connsiteY8" fmla="*/ 715179 h 3128200"/>
                <a:gd name="connsiteX9" fmla="*/ 2592302 w 2596610"/>
                <a:gd name="connsiteY9" fmla="*/ 3128147 h 3128200"/>
                <a:gd name="connsiteX10" fmla="*/ 2597826 w 2596610"/>
                <a:gd name="connsiteY10" fmla="*/ 3128147 h 3128200"/>
                <a:gd name="connsiteX11" fmla="*/ 2597826 w 2596610"/>
                <a:gd name="connsiteY11" fmla="*/ 2409391 h 312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96610" h="3128200">
                  <a:moveTo>
                    <a:pt x="2592778" y="2409581"/>
                  </a:moveTo>
                  <a:cubicBezTo>
                    <a:pt x="1657042" y="2409581"/>
                    <a:pt x="898471" y="1651010"/>
                    <a:pt x="898471" y="715274"/>
                  </a:cubicBezTo>
                  <a:cubicBezTo>
                    <a:pt x="898471" y="715245"/>
                    <a:pt x="898471" y="715207"/>
                    <a:pt x="898471" y="715179"/>
                  </a:cubicBezTo>
                  <a:cubicBezTo>
                    <a:pt x="898471" y="712702"/>
                    <a:pt x="898471" y="710226"/>
                    <a:pt x="898471" y="707749"/>
                  </a:cubicBezTo>
                  <a:lnTo>
                    <a:pt x="1069921" y="707749"/>
                  </a:lnTo>
                  <a:lnTo>
                    <a:pt x="535568" y="-54"/>
                  </a:lnTo>
                  <a:lnTo>
                    <a:pt x="1216" y="707749"/>
                  </a:lnTo>
                  <a:lnTo>
                    <a:pt x="179428" y="707749"/>
                  </a:lnTo>
                  <a:cubicBezTo>
                    <a:pt x="179428" y="710226"/>
                    <a:pt x="179428" y="712702"/>
                    <a:pt x="179428" y="715179"/>
                  </a:cubicBezTo>
                  <a:cubicBezTo>
                    <a:pt x="179428" y="2047822"/>
                    <a:pt x="1259754" y="3128147"/>
                    <a:pt x="2592302" y="3128147"/>
                  </a:cubicBezTo>
                  <a:lnTo>
                    <a:pt x="2597826" y="3128147"/>
                  </a:lnTo>
                  <a:lnTo>
                    <a:pt x="2597826" y="2409391"/>
                  </a:lnTo>
                  <a:close/>
                </a:path>
              </a:pathLst>
            </a:custGeom>
            <a:solidFill>
              <a:schemeClr val="accent1">
                <a:lumMod val="40000"/>
                <a:lumOff val="6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2" name="任意多边形: 形状 56"/>
            <p:cNvSpPr/>
            <p:nvPr>
              <p:custDataLst>
                <p:tags r:id="rId18"/>
              </p:custDataLst>
            </p:nvPr>
          </p:nvSpPr>
          <p:spPr>
            <a:xfrm>
              <a:off x="3848" y="10642"/>
              <a:ext cx="1519" cy="1270"/>
            </a:xfrm>
            <a:custGeom>
              <a:avLst/>
              <a:gdLst>
                <a:gd name="connsiteX0" fmla="*/ 3104937 w 3103721"/>
                <a:gd name="connsiteY0" fmla="*/ 12520 h 2592038"/>
                <a:gd name="connsiteX1" fmla="*/ 3104937 w 3103721"/>
                <a:gd name="connsiteY1" fmla="*/ -54 h 2592038"/>
                <a:gd name="connsiteX2" fmla="*/ 2386180 w 3103721"/>
                <a:gd name="connsiteY2" fmla="*/ -54 h 2592038"/>
                <a:gd name="connsiteX3" fmla="*/ 2386180 w 3103721"/>
                <a:gd name="connsiteY3" fmla="*/ 12520 h 2592038"/>
                <a:gd name="connsiteX4" fmla="*/ 708923 w 3103721"/>
                <a:gd name="connsiteY4" fmla="*/ 1706541 h 2592038"/>
                <a:gd name="connsiteX5" fmla="*/ 708923 w 3103721"/>
                <a:gd name="connsiteY5" fmla="*/ 1523280 h 2592038"/>
                <a:gd name="connsiteX6" fmla="*/ 1216 w 3103721"/>
                <a:gd name="connsiteY6" fmla="*/ 2057632 h 2592038"/>
                <a:gd name="connsiteX7" fmla="*/ 708923 w 3103721"/>
                <a:gd name="connsiteY7" fmla="*/ 2591985 h 2592038"/>
                <a:gd name="connsiteX8" fmla="*/ 708923 w 3103721"/>
                <a:gd name="connsiteY8" fmla="*/ 2425297 h 2592038"/>
                <a:gd name="connsiteX9" fmla="*/ 3104937 w 3103721"/>
                <a:gd name="connsiteY9" fmla="*/ 12520 h 259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3721" h="2592038">
                  <a:moveTo>
                    <a:pt x="3104937" y="12520"/>
                  </a:moveTo>
                  <a:cubicBezTo>
                    <a:pt x="3104937" y="8329"/>
                    <a:pt x="3104937" y="4137"/>
                    <a:pt x="3104937" y="-54"/>
                  </a:cubicBezTo>
                  <a:lnTo>
                    <a:pt x="2386180" y="-54"/>
                  </a:lnTo>
                  <a:cubicBezTo>
                    <a:pt x="2386180" y="4137"/>
                    <a:pt x="2386180" y="8329"/>
                    <a:pt x="2386180" y="12520"/>
                  </a:cubicBezTo>
                  <a:cubicBezTo>
                    <a:pt x="2386123" y="941550"/>
                    <a:pt x="1637906" y="1697244"/>
                    <a:pt x="708923" y="1706541"/>
                  </a:cubicBezTo>
                  <a:lnTo>
                    <a:pt x="708923" y="1523280"/>
                  </a:lnTo>
                  <a:lnTo>
                    <a:pt x="1216" y="2057632"/>
                  </a:lnTo>
                  <a:lnTo>
                    <a:pt x="708923" y="2591985"/>
                  </a:lnTo>
                  <a:lnTo>
                    <a:pt x="708923" y="2425297"/>
                  </a:lnTo>
                  <a:cubicBezTo>
                    <a:pt x="2033755" y="2416153"/>
                    <a:pt x="3104937" y="1339542"/>
                    <a:pt x="3104937" y="12520"/>
                  </a:cubicBez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3" name="任意多边形: 形状 57"/>
            <p:cNvSpPr/>
            <p:nvPr>
              <p:custDataLst>
                <p:tags r:id="rId19"/>
              </p:custDataLst>
            </p:nvPr>
          </p:nvSpPr>
          <p:spPr>
            <a:xfrm>
              <a:off x="4188" y="9466"/>
              <a:ext cx="1259" cy="1517"/>
            </a:xfrm>
            <a:custGeom>
              <a:avLst/>
              <a:gdLst>
                <a:gd name="connsiteX0" fmla="*/ 2408279 w 2570511"/>
                <a:gd name="connsiteY0" fmla="*/ 2389864 h 3097625"/>
                <a:gd name="connsiteX1" fmla="*/ 1216 w 2570511"/>
                <a:gd name="connsiteY1" fmla="*/ -54 h 3097625"/>
                <a:gd name="connsiteX2" fmla="*/ 1216 w 2570511"/>
                <a:gd name="connsiteY2" fmla="*/ 718608 h 3097625"/>
                <a:gd name="connsiteX3" fmla="*/ 1689522 w 2570511"/>
                <a:gd name="connsiteY3" fmla="*/ 2389864 h 3097625"/>
                <a:gd name="connsiteX4" fmla="*/ 1503023 w 2570511"/>
                <a:gd name="connsiteY4" fmla="*/ 2389864 h 3097625"/>
                <a:gd name="connsiteX5" fmla="*/ 2037375 w 2570511"/>
                <a:gd name="connsiteY5" fmla="*/ 3097572 h 3097625"/>
                <a:gd name="connsiteX6" fmla="*/ 2571728 w 2570511"/>
                <a:gd name="connsiteY6" fmla="*/ 2389864 h 309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0511" h="3097625">
                  <a:moveTo>
                    <a:pt x="2408279" y="2389864"/>
                  </a:moveTo>
                  <a:cubicBezTo>
                    <a:pt x="2395611" y="1069604"/>
                    <a:pt x="1323667" y="2899"/>
                    <a:pt x="1216" y="-54"/>
                  </a:cubicBezTo>
                  <a:lnTo>
                    <a:pt x="1216" y="718608"/>
                  </a:lnTo>
                  <a:cubicBezTo>
                    <a:pt x="926760" y="721465"/>
                    <a:pt x="1677616" y="1466511"/>
                    <a:pt x="1689522" y="2389864"/>
                  </a:cubicBezTo>
                  <a:lnTo>
                    <a:pt x="1503023" y="2389864"/>
                  </a:lnTo>
                  <a:lnTo>
                    <a:pt x="2037375" y="3097572"/>
                  </a:lnTo>
                  <a:lnTo>
                    <a:pt x="2571728" y="2389864"/>
                  </a:lnTo>
                  <a:close/>
                </a:path>
              </a:pathLst>
            </a:custGeom>
            <a:solidFill>
              <a:schemeClr val="accent1">
                <a:lumMod val="40000"/>
                <a:lumOff val="6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4" name="任意多边形: 形状 59"/>
            <p:cNvSpPr/>
            <p:nvPr>
              <p:custDataLst>
                <p:tags r:id="rId20"/>
              </p:custDataLst>
            </p:nvPr>
          </p:nvSpPr>
          <p:spPr>
            <a:xfrm>
              <a:off x="4150" y="9383"/>
              <a:ext cx="352" cy="524"/>
            </a:xfrm>
            <a:custGeom>
              <a:avLst/>
              <a:gdLst>
                <a:gd name="connsiteX0" fmla="*/ 0 w 718946"/>
                <a:gd name="connsiteY0" fmla="*/ 0 h 1068704"/>
                <a:gd name="connsiteX1" fmla="*/ 718947 w 718946"/>
                <a:gd name="connsiteY1" fmla="*/ 534353 h 1068704"/>
                <a:gd name="connsiteX2" fmla="*/ 0 w 718946"/>
                <a:gd name="connsiteY2" fmla="*/ 1068705 h 1068704"/>
                <a:gd name="connsiteX3" fmla="*/ 0 w 718946"/>
                <a:gd name="connsiteY3" fmla="*/ 0 h 1068704"/>
              </a:gdLst>
              <a:ahLst/>
              <a:cxnLst>
                <a:cxn ang="0">
                  <a:pos x="connsiteX0" y="connsiteY0"/>
                </a:cxn>
                <a:cxn ang="0">
                  <a:pos x="connsiteX1" y="connsiteY1"/>
                </a:cxn>
                <a:cxn ang="0">
                  <a:pos x="connsiteX2" y="connsiteY2"/>
                </a:cxn>
                <a:cxn ang="0">
                  <a:pos x="connsiteX3" y="connsiteY3"/>
                </a:cxn>
              </a:cxnLst>
              <a:rect l="l" t="t" r="r" b="b"/>
              <a:pathLst>
                <a:path w="718946" h="1068704">
                  <a:moveTo>
                    <a:pt x="0" y="0"/>
                  </a:moveTo>
                  <a:lnTo>
                    <a:pt x="718947" y="534353"/>
                  </a:lnTo>
                  <a:lnTo>
                    <a:pt x="0" y="1068705"/>
                  </a:lnTo>
                  <a:lnTo>
                    <a:pt x="0" y="0"/>
                  </a:lnTo>
                  <a:close/>
                </a:path>
              </a:pathLst>
            </a:custGeom>
            <a:solidFill>
              <a:schemeClr val="accent1">
                <a:lumMod val="60000"/>
                <a:lumOff val="40000"/>
              </a:schemeClr>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文本框 7"/>
          <p:cNvSpPr txBox="1"/>
          <p:nvPr/>
        </p:nvSpPr>
        <p:spPr>
          <a:xfrm>
            <a:off x="9378315" y="2435860"/>
            <a:ext cx="1610995"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数字化</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用户画像</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5" name="文本框 154"/>
          <p:cNvSpPr txBox="1"/>
          <p:nvPr/>
        </p:nvSpPr>
        <p:spPr>
          <a:xfrm>
            <a:off x="9756140" y="2903855"/>
            <a:ext cx="1610995"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数字化</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内容创意</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6" name="文本框 155"/>
          <p:cNvSpPr txBox="1"/>
          <p:nvPr/>
        </p:nvSpPr>
        <p:spPr>
          <a:xfrm>
            <a:off x="10001885" y="3371850"/>
            <a:ext cx="1610995"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数字化</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渠道管理</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7" name="文本框 156"/>
          <p:cNvSpPr txBox="1"/>
          <p:nvPr/>
        </p:nvSpPr>
        <p:spPr>
          <a:xfrm>
            <a:off x="10001885" y="3839845"/>
            <a:ext cx="1610995"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数字化</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智能营销</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8" name="文本框 157"/>
          <p:cNvSpPr txBox="1"/>
          <p:nvPr/>
        </p:nvSpPr>
        <p:spPr>
          <a:xfrm>
            <a:off x="10001885" y="4307840"/>
            <a:ext cx="1610995"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数字化</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体验优化</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9" name="文本框 158"/>
          <p:cNvSpPr txBox="1"/>
          <p:nvPr/>
        </p:nvSpPr>
        <p:spPr>
          <a:xfrm>
            <a:off x="9756140" y="4775835"/>
            <a:ext cx="1610995"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数字化</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产品运营</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9552940" y="5243830"/>
            <a:ext cx="1610995"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数字化</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社交裂变</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3" name="文本框 142"/>
          <p:cNvSpPr txBox="1"/>
          <p:nvPr/>
        </p:nvSpPr>
        <p:spPr>
          <a:xfrm>
            <a:off x="829945" y="2929890"/>
            <a:ext cx="2014855"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公域运营</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内容种草</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4" name="文本框 143"/>
          <p:cNvSpPr txBox="1"/>
          <p:nvPr/>
        </p:nvSpPr>
        <p:spPr>
          <a:xfrm>
            <a:off x="584200" y="3379470"/>
            <a:ext cx="2115820"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公域运营</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广告投放</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5" name="文本框 144"/>
          <p:cNvSpPr txBox="1"/>
          <p:nvPr/>
        </p:nvSpPr>
        <p:spPr>
          <a:xfrm>
            <a:off x="540385" y="3829050"/>
            <a:ext cx="2159635"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私域运营</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会员体系</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6" name="文本框 145"/>
          <p:cNvSpPr txBox="1"/>
          <p:nvPr/>
        </p:nvSpPr>
        <p:spPr>
          <a:xfrm>
            <a:off x="584200" y="4278630"/>
            <a:ext cx="2132330"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私域运营</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社群互动</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7" name="文本框 146"/>
          <p:cNvSpPr txBox="1"/>
          <p:nvPr/>
        </p:nvSpPr>
        <p:spPr>
          <a:xfrm>
            <a:off x="829945" y="4728210"/>
            <a:ext cx="2127885"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精准营销</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用户洞察</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 name="文本框 5"/>
          <p:cNvSpPr txBox="1"/>
          <p:nvPr/>
        </p:nvSpPr>
        <p:spPr>
          <a:xfrm>
            <a:off x="1167130" y="2480310"/>
            <a:ext cx="2014855"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公域运营</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平台合作</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1167130" y="5177790"/>
            <a:ext cx="2127885" cy="306705"/>
          </a:xfrm>
          <a:prstGeom prst="rect">
            <a:avLst/>
          </a:prstGeom>
          <a:noFill/>
        </p:spPr>
        <p:txBody>
          <a:bodyPr wrap="square" rtlCol="0">
            <a:spAutoFit/>
          </a:bodyPr>
          <a:p>
            <a:r>
              <a:rPr lang="zh-CN" altLang="en-US" sz="1400">
                <a:solidFill>
                  <a:schemeClr val="tx2"/>
                </a:solidFill>
                <a:latin typeface="微软雅黑" panose="020B0503020204020204" charset="-122"/>
                <a:ea typeface="微软雅黑" panose="020B0503020204020204" charset="-122"/>
                <a:cs typeface="微软雅黑" panose="020B0503020204020204" charset="-122"/>
              </a:rPr>
              <a:t>场景触发</a:t>
            </a:r>
            <a:r>
              <a:rPr lang="en-US" altLang="zh-CN" sz="14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rPr>
              <a:t>效果优化</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60" name="组合 59"/>
          <p:cNvGrpSpPr/>
          <p:nvPr/>
        </p:nvGrpSpPr>
        <p:grpSpPr>
          <a:xfrm>
            <a:off x="1639570" y="4711700"/>
            <a:ext cx="8904605" cy="1831975"/>
            <a:chOff x="2582" y="7420"/>
            <a:chExt cx="14023" cy="2885"/>
          </a:xfrm>
        </p:grpSpPr>
        <p:sp>
          <p:nvSpPr>
            <p:cNvPr id="52" name="梯形 51"/>
            <p:cNvSpPr/>
            <p:nvPr/>
          </p:nvSpPr>
          <p:spPr>
            <a:xfrm>
              <a:off x="2582" y="7420"/>
              <a:ext cx="14023" cy="2885"/>
            </a:xfrm>
            <a:prstGeom prst="trapezoid">
              <a:avLst>
                <a:gd name="adj" fmla="val 233450"/>
              </a:avLst>
            </a:prstGeom>
            <a:gradFill>
              <a:gsLst>
                <a:gs pos="0">
                  <a:schemeClr val="accent1">
                    <a:lumMod val="20000"/>
                    <a:lumOff val="80000"/>
                  </a:schemeClr>
                </a:gs>
                <a:gs pos="100000">
                  <a:schemeClr val="accent1">
                    <a:lumMod val="20000"/>
                    <a:lumOff val="80000"/>
                    <a:alpha val="20000"/>
                  </a:schemeClr>
                </a:gs>
              </a:gsLst>
              <a:lin ang="16200000" scaled="0"/>
            </a:gradFill>
            <a:ln>
              <a:solidFill>
                <a:schemeClr val="accent1">
                  <a:lumMod val="20000"/>
                  <a:lumOff val="8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53" name="直接连接符 52"/>
            <p:cNvCxnSpPr/>
            <p:nvPr/>
          </p:nvCxnSpPr>
          <p:spPr>
            <a:xfrm>
              <a:off x="8823" y="7636"/>
              <a:ext cx="1532" cy="0"/>
            </a:xfrm>
            <a:prstGeom prst="line">
              <a:avLst/>
            </a:prstGeom>
            <a:gradFill>
              <a:gsLst>
                <a:gs pos="0">
                  <a:schemeClr val="accent1">
                    <a:lumMod val="20000"/>
                    <a:lumOff val="80000"/>
                  </a:schemeClr>
                </a:gs>
                <a:gs pos="100000">
                  <a:schemeClr val="accent1">
                    <a:lumMod val="20000"/>
                    <a:lumOff val="80000"/>
                    <a:alpha val="10000"/>
                  </a:schemeClr>
                </a:gs>
              </a:gsLst>
              <a:lin ang="16200000" scaled="0"/>
            </a:gradFill>
            <a:ln w="2540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cxnSp>
        <p:cxnSp>
          <p:nvCxnSpPr>
            <p:cNvPr id="55" name="直接连接符 54"/>
            <p:cNvCxnSpPr/>
            <p:nvPr/>
          </p:nvCxnSpPr>
          <p:spPr>
            <a:xfrm>
              <a:off x="7577" y="8039"/>
              <a:ext cx="4052" cy="0"/>
            </a:xfrm>
            <a:prstGeom prst="line">
              <a:avLst/>
            </a:prstGeom>
            <a:gradFill>
              <a:gsLst>
                <a:gs pos="0">
                  <a:schemeClr val="accent1">
                    <a:lumMod val="20000"/>
                    <a:lumOff val="80000"/>
                  </a:schemeClr>
                </a:gs>
                <a:gs pos="100000">
                  <a:schemeClr val="accent1">
                    <a:lumMod val="20000"/>
                    <a:lumOff val="80000"/>
                    <a:alpha val="10000"/>
                  </a:schemeClr>
                </a:gs>
              </a:gsLst>
              <a:lin ang="16200000" scaled="0"/>
            </a:gradFill>
            <a:ln w="2540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cxnSp>
        <p:cxnSp>
          <p:nvCxnSpPr>
            <p:cNvPr id="57" name="直接连接符 56"/>
            <p:cNvCxnSpPr/>
            <p:nvPr/>
          </p:nvCxnSpPr>
          <p:spPr>
            <a:xfrm>
              <a:off x="6891" y="8548"/>
              <a:ext cx="5477" cy="0"/>
            </a:xfrm>
            <a:prstGeom prst="line">
              <a:avLst/>
            </a:prstGeom>
            <a:gradFill>
              <a:gsLst>
                <a:gs pos="0">
                  <a:schemeClr val="accent1">
                    <a:lumMod val="20000"/>
                    <a:lumOff val="80000"/>
                  </a:schemeClr>
                </a:gs>
                <a:gs pos="100000">
                  <a:schemeClr val="accent1">
                    <a:lumMod val="20000"/>
                    <a:lumOff val="80000"/>
                    <a:alpha val="10000"/>
                  </a:schemeClr>
                </a:gs>
              </a:gsLst>
              <a:lin ang="16200000" scaled="0"/>
            </a:gradFill>
            <a:ln w="25400">
              <a:solidFill>
                <a:schemeClr val="accent1">
                  <a:lumMod val="40000"/>
                  <a:lumOff val="60000"/>
                </a:schemeClr>
              </a:solidFill>
            </a:ln>
          </p:spPr>
          <p:style>
            <a:lnRef idx="2">
              <a:schemeClr val="accent1">
                <a:lumMod val="75000"/>
              </a:schemeClr>
            </a:lnRef>
            <a:fillRef idx="1">
              <a:schemeClr val="accent1"/>
            </a:fillRef>
            <a:effectRef idx="0">
              <a:srgbClr val="FFFFFF"/>
            </a:effectRef>
            <a:fontRef idx="minor">
              <a:schemeClr val="lt1"/>
            </a:fontRef>
          </p:style>
        </p:cxnSp>
      </p:gr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循环逻辑架构 | </a:t>
            </a:r>
            <a:r>
              <a:rPr sz="2500">
                <a:solidFill>
                  <a:schemeClr val="tx2"/>
                </a:solidFill>
                <a:latin typeface="微软雅黑" panose="020B0503020204020204" charset="-122"/>
                <a:ea typeface="微软雅黑" panose="020B0503020204020204" charset="-122"/>
                <a:cs typeface="微软雅黑" panose="020B0503020204020204" charset="-122"/>
              </a:rPr>
              <a:t>零售</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私域全域运营框架</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111" name="组合 110"/>
          <p:cNvGrpSpPr/>
          <p:nvPr/>
        </p:nvGrpSpPr>
        <p:grpSpPr>
          <a:xfrm>
            <a:off x="2961640" y="2512060"/>
            <a:ext cx="6268085" cy="2931795"/>
            <a:chOff x="4664" y="3197"/>
            <a:chExt cx="9871" cy="4617"/>
          </a:xfrm>
        </p:grpSpPr>
        <p:sp>
          <p:nvSpPr>
            <p:cNvPr id="112" name="任意多边形: 形状 56"/>
            <p:cNvSpPr/>
            <p:nvPr/>
          </p:nvSpPr>
          <p:spPr>
            <a:xfrm>
              <a:off x="9326" y="5324"/>
              <a:ext cx="5207" cy="2490"/>
            </a:xfrm>
            <a:custGeom>
              <a:avLst/>
              <a:gdLst>
                <a:gd name="connsiteX0" fmla="*/ 323850 w 1082039"/>
                <a:gd name="connsiteY0" fmla="*/ 75248 h 1005840"/>
                <a:gd name="connsiteX1" fmla="*/ 631508 w 1082039"/>
                <a:gd name="connsiteY1" fmla="*/ 420053 h 1005840"/>
                <a:gd name="connsiteX2" fmla="*/ 1038225 w 1082039"/>
                <a:gd name="connsiteY2" fmla="*/ 681990 h 1005840"/>
                <a:gd name="connsiteX3" fmla="*/ 1082040 w 1082039"/>
                <a:gd name="connsiteY3" fmla="*/ 864870 h 1005840"/>
                <a:gd name="connsiteX4" fmla="*/ 932498 w 1082039"/>
                <a:gd name="connsiteY4" fmla="*/ 1005840 h 1005840"/>
                <a:gd name="connsiteX5" fmla="*/ 168592 w 1082039"/>
                <a:gd name="connsiteY5" fmla="*/ 423863 h 1005840"/>
                <a:gd name="connsiteX6" fmla="*/ 120967 w 1082039"/>
                <a:gd name="connsiteY6" fmla="*/ 363855 h 1005840"/>
                <a:gd name="connsiteX7" fmla="*/ 0 w 1082039"/>
                <a:gd name="connsiteY7" fmla="*/ 205740 h 1005840"/>
                <a:gd name="connsiteX8" fmla="*/ 193358 w 1082039"/>
                <a:gd name="connsiteY8" fmla="*/ 180023 h 1005840"/>
                <a:gd name="connsiteX9" fmla="*/ 267652 w 1082039"/>
                <a:gd name="connsiteY9" fmla="*/ 0 h 1005840"/>
                <a:gd name="connsiteX10" fmla="*/ 323850 w 1082039"/>
                <a:gd name="connsiteY10" fmla="*/ 75248 h 100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207" h="2491">
                  <a:moveTo>
                    <a:pt x="763" y="177"/>
                  </a:moveTo>
                  <a:cubicBezTo>
                    <a:pt x="1281" y="766"/>
                    <a:pt x="1555" y="1285"/>
                    <a:pt x="2589" y="1650"/>
                  </a:cubicBezTo>
                  <a:lnTo>
                    <a:pt x="2589" y="1649"/>
                  </a:lnTo>
                  <a:cubicBezTo>
                    <a:pt x="2688" y="1672"/>
                    <a:pt x="2805" y="1685"/>
                    <a:pt x="2903" y="1685"/>
                  </a:cubicBezTo>
                  <a:cubicBezTo>
                    <a:pt x="3697" y="1709"/>
                    <a:pt x="4354" y="1016"/>
                    <a:pt x="4399" y="319"/>
                  </a:cubicBezTo>
                  <a:lnTo>
                    <a:pt x="4810" y="81"/>
                  </a:lnTo>
                  <a:lnTo>
                    <a:pt x="5207" y="310"/>
                  </a:lnTo>
                  <a:cubicBezTo>
                    <a:pt x="5177" y="1541"/>
                    <a:pt x="4023" y="2520"/>
                    <a:pt x="2903" y="2490"/>
                  </a:cubicBezTo>
                  <a:cubicBezTo>
                    <a:pt x="2848" y="2493"/>
                    <a:pt x="2633" y="2487"/>
                    <a:pt x="2340" y="2414"/>
                  </a:cubicBezTo>
                  <a:lnTo>
                    <a:pt x="2341" y="2412"/>
                  </a:lnTo>
                  <a:lnTo>
                    <a:pt x="2197" y="2368"/>
                  </a:lnTo>
                  <a:lnTo>
                    <a:pt x="2196" y="2369"/>
                  </a:lnTo>
                  <a:cubicBezTo>
                    <a:pt x="445" y="1509"/>
                    <a:pt x="153" y="565"/>
                    <a:pt x="285" y="857"/>
                  </a:cubicBezTo>
                  <a:cubicBezTo>
                    <a:pt x="217" y="771"/>
                    <a:pt x="139" y="668"/>
                    <a:pt x="81" y="591"/>
                  </a:cubicBezTo>
                  <a:cubicBezTo>
                    <a:pt x="55" y="557"/>
                    <a:pt x="19" y="509"/>
                    <a:pt x="0" y="485"/>
                  </a:cubicBezTo>
                  <a:lnTo>
                    <a:pt x="455" y="424"/>
                  </a:lnTo>
                  <a:lnTo>
                    <a:pt x="630" y="0"/>
                  </a:lnTo>
                  <a:cubicBezTo>
                    <a:pt x="672" y="57"/>
                    <a:pt x="722" y="124"/>
                    <a:pt x="763" y="177"/>
                  </a:cubicBezTo>
                  <a:close/>
                </a:path>
              </a:pathLst>
            </a:custGeom>
            <a:gradFill>
              <a:gsLst>
                <a:gs pos="0">
                  <a:schemeClr val="accent5">
                    <a:lumMod val="60000"/>
                    <a:lumOff val="40000"/>
                  </a:schemeClr>
                </a:gs>
                <a:gs pos="100000">
                  <a:schemeClr val="accent5">
                    <a:lumMod val="40000"/>
                    <a:lumOff val="60000"/>
                  </a:schemeClr>
                </a:gs>
              </a:gsLst>
              <a:lin ang="16200000" scaled="0"/>
            </a:gradFill>
            <a:ln w="9525" cap="flat">
              <a:noFill/>
              <a:prstDash val="solid"/>
              <a:miter/>
            </a:ln>
          </p:spPr>
          <p:txBody>
            <a:bodyPr wrap="square" rtlCol="0" anchor="ctr">
              <a:noAutofit/>
            </a:bodyPr>
            <a:p>
              <a:endParaRPr lang="en-US">
                <a:latin typeface="微软雅黑" panose="020B0503020204020204" charset="-122"/>
                <a:ea typeface="微软雅黑" panose="020B0503020204020204" charset="-122"/>
                <a:cs typeface="微软雅黑" panose="020B0503020204020204" charset="-122"/>
              </a:endParaRPr>
            </a:p>
          </p:txBody>
        </p:sp>
        <p:sp>
          <p:nvSpPr>
            <p:cNvPr id="113" name="任意多边形: 形状 57"/>
            <p:cNvSpPr/>
            <p:nvPr/>
          </p:nvSpPr>
          <p:spPr>
            <a:xfrm>
              <a:off x="9584" y="3197"/>
              <a:ext cx="4951" cy="2305"/>
            </a:xfrm>
            <a:custGeom>
              <a:avLst/>
              <a:gdLst>
                <a:gd name="connsiteX0" fmla="*/ 1286828 w 1286827"/>
                <a:gd name="connsiteY0" fmla="*/ 971550 h 972502"/>
                <a:gd name="connsiteX1" fmla="*/ 1117283 w 1286827"/>
                <a:gd name="connsiteY1" fmla="*/ 873443 h 972502"/>
                <a:gd name="connsiteX2" fmla="*/ 944880 w 1286827"/>
                <a:gd name="connsiteY2" fmla="*/ 972503 h 972502"/>
                <a:gd name="connsiteX3" fmla="*/ 307658 w 1286827"/>
                <a:gd name="connsiteY3" fmla="*/ 341948 h 972502"/>
                <a:gd name="connsiteX4" fmla="*/ 147638 w 1286827"/>
                <a:gd name="connsiteY4" fmla="*/ 366713 h 972502"/>
                <a:gd name="connsiteX5" fmla="*/ 0 w 1286827"/>
                <a:gd name="connsiteY5" fmla="*/ 226695 h 972502"/>
                <a:gd name="connsiteX6" fmla="*/ 44768 w 1286827"/>
                <a:gd name="connsiteY6" fmla="*/ 40958 h 972502"/>
                <a:gd name="connsiteX7" fmla="*/ 307658 w 1286827"/>
                <a:gd name="connsiteY7" fmla="*/ 0 h 972502"/>
                <a:gd name="connsiteX8" fmla="*/ 1286828 w 1286827"/>
                <a:gd name="connsiteY8" fmla="*/ 971550 h 97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51" h="2306">
                  <a:moveTo>
                    <a:pt x="4951" y="2288"/>
                  </a:moveTo>
                  <a:lnTo>
                    <a:pt x="4552" y="2057"/>
                  </a:lnTo>
                  <a:lnTo>
                    <a:pt x="4146" y="2290"/>
                  </a:lnTo>
                  <a:cubicBezTo>
                    <a:pt x="4162" y="1456"/>
                    <a:pt x="3393" y="785"/>
                    <a:pt x="2645" y="805"/>
                  </a:cubicBezTo>
                  <a:cubicBezTo>
                    <a:pt x="2535" y="804"/>
                    <a:pt x="2401" y="826"/>
                    <a:pt x="2307" y="852"/>
                  </a:cubicBezTo>
                  <a:lnTo>
                    <a:pt x="2308" y="853"/>
                  </a:lnTo>
                  <a:lnTo>
                    <a:pt x="2128" y="915"/>
                  </a:lnTo>
                  <a:lnTo>
                    <a:pt x="2128" y="915"/>
                  </a:lnTo>
                  <a:cubicBezTo>
                    <a:pt x="1466" y="1164"/>
                    <a:pt x="798" y="1908"/>
                    <a:pt x="505" y="2305"/>
                  </a:cubicBezTo>
                  <a:cubicBezTo>
                    <a:pt x="483" y="2276"/>
                    <a:pt x="455" y="2240"/>
                    <a:pt x="436" y="2215"/>
                  </a:cubicBezTo>
                  <a:cubicBezTo>
                    <a:pt x="415" y="2186"/>
                    <a:pt x="388" y="2151"/>
                    <a:pt x="370" y="2128"/>
                  </a:cubicBezTo>
                  <a:cubicBezTo>
                    <a:pt x="342" y="2088"/>
                    <a:pt x="307" y="2043"/>
                    <a:pt x="278" y="2007"/>
                  </a:cubicBezTo>
                  <a:cubicBezTo>
                    <a:pt x="188" y="1885"/>
                    <a:pt x="85" y="1748"/>
                    <a:pt x="0" y="1639"/>
                  </a:cubicBezTo>
                  <a:lnTo>
                    <a:pt x="13" y="1627"/>
                  </a:lnTo>
                  <a:cubicBezTo>
                    <a:pt x="372" y="1159"/>
                    <a:pt x="1162" y="404"/>
                    <a:pt x="1865" y="154"/>
                  </a:cubicBezTo>
                  <a:lnTo>
                    <a:pt x="1865" y="152"/>
                  </a:lnTo>
                  <a:lnTo>
                    <a:pt x="2025" y="97"/>
                  </a:lnTo>
                  <a:lnTo>
                    <a:pt x="2025" y="96"/>
                  </a:lnTo>
                  <a:lnTo>
                    <a:pt x="2031" y="95"/>
                  </a:lnTo>
                  <a:lnTo>
                    <a:pt x="2045" y="90"/>
                  </a:lnTo>
                  <a:lnTo>
                    <a:pt x="2045" y="91"/>
                  </a:lnTo>
                  <a:cubicBezTo>
                    <a:pt x="2234" y="33"/>
                    <a:pt x="2458" y="-1"/>
                    <a:pt x="2645" y="0"/>
                  </a:cubicBezTo>
                  <a:cubicBezTo>
                    <a:pt x="3928" y="-37"/>
                    <a:pt x="4972" y="1137"/>
                    <a:pt x="4951" y="2288"/>
                  </a:cubicBezTo>
                  <a:close/>
                </a:path>
              </a:pathLst>
            </a:custGeom>
            <a:gradFill>
              <a:gsLst>
                <a:gs pos="0">
                  <a:schemeClr val="accent5"/>
                </a:gs>
                <a:gs pos="100000">
                  <a:schemeClr val="accent5">
                    <a:lumMod val="60000"/>
                    <a:lumOff val="40000"/>
                  </a:schemeClr>
                </a:gs>
              </a:gsLst>
              <a:lin ang="16200000" scaled="0"/>
            </a:gradFill>
            <a:ln w="9525" cap="flat">
              <a:noFill/>
              <a:prstDash val="solid"/>
              <a:miter/>
            </a:ln>
          </p:spPr>
          <p:txBody>
            <a:bodyPr wrap="square" rtlCol="0" anchor="ctr">
              <a:noAutofit/>
            </a:bodyPr>
            <a:p>
              <a:endParaRPr lang="en-US">
                <a:latin typeface="微软雅黑" panose="020B0503020204020204" charset="-122"/>
                <a:ea typeface="微软雅黑" panose="020B0503020204020204" charset="-122"/>
                <a:cs typeface="微软雅黑" panose="020B0503020204020204" charset="-122"/>
              </a:endParaRPr>
            </a:p>
          </p:txBody>
        </p:sp>
        <p:sp>
          <p:nvSpPr>
            <p:cNvPr id="114" name="任意多边形: 形状 64"/>
            <p:cNvSpPr/>
            <p:nvPr/>
          </p:nvSpPr>
          <p:spPr>
            <a:xfrm>
              <a:off x="4664" y="3199"/>
              <a:ext cx="5203" cy="2488"/>
            </a:xfrm>
            <a:custGeom>
              <a:avLst/>
              <a:gdLst>
                <a:gd name="connsiteX0" fmla="*/ 1247775 w 1292542"/>
                <a:gd name="connsiteY0" fmla="*/ 40005 h 973454"/>
                <a:gd name="connsiteX1" fmla="*/ 1292543 w 1292542"/>
                <a:gd name="connsiteY1" fmla="*/ 226695 h 973454"/>
                <a:gd name="connsiteX2" fmla="*/ 1145858 w 1292542"/>
                <a:gd name="connsiteY2" fmla="*/ 364808 h 973454"/>
                <a:gd name="connsiteX3" fmla="*/ 980123 w 1292542"/>
                <a:gd name="connsiteY3" fmla="*/ 340995 h 973454"/>
                <a:gd name="connsiteX4" fmla="*/ 342900 w 1292542"/>
                <a:gd name="connsiteY4" fmla="*/ 968693 h 973454"/>
                <a:gd name="connsiteX5" fmla="*/ 174308 w 1292542"/>
                <a:gd name="connsiteY5" fmla="*/ 872490 h 973454"/>
                <a:gd name="connsiteX6" fmla="*/ 0 w 1292542"/>
                <a:gd name="connsiteY6" fmla="*/ 973455 h 973454"/>
                <a:gd name="connsiteX7" fmla="*/ 979170 w 1292542"/>
                <a:gd name="connsiteY7" fmla="*/ 0 h 973454"/>
                <a:gd name="connsiteX8" fmla="*/ 1247775 w 1292542"/>
                <a:gd name="connsiteY8" fmla="*/ 40005 h 97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203" h="2488">
                  <a:moveTo>
                    <a:pt x="2700" y="859"/>
                  </a:moveTo>
                  <a:lnTo>
                    <a:pt x="2699" y="860"/>
                  </a:lnTo>
                  <a:cubicBezTo>
                    <a:pt x="2579" y="823"/>
                    <a:pt x="2423" y="803"/>
                    <a:pt x="2314" y="804"/>
                  </a:cubicBezTo>
                  <a:lnTo>
                    <a:pt x="2308" y="804"/>
                  </a:lnTo>
                  <a:lnTo>
                    <a:pt x="2269" y="803"/>
                  </a:lnTo>
                  <a:cubicBezTo>
                    <a:pt x="1439" y="779"/>
                    <a:pt x="778" y="1620"/>
                    <a:pt x="808" y="2282"/>
                  </a:cubicBezTo>
                  <a:lnTo>
                    <a:pt x="411" y="2055"/>
                  </a:lnTo>
                  <a:lnTo>
                    <a:pt x="1" y="2293"/>
                  </a:lnTo>
                  <a:lnTo>
                    <a:pt x="0" y="2232"/>
                  </a:lnTo>
                  <a:cubicBezTo>
                    <a:pt x="-28" y="974"/>
                    <a:pt x="1242" y="-29"/>
                    <a:pt x="2251" y="0"/>
                  </a:cubicBezTo>
                  <a:lnTo>
                    <a:pt x="2306" y="1"/>
                  </a:lnTo>
                  <a:lnTo>
                    <a:pt x="2316" y="1"/>
                  </a:lnTo>
                  <a:lnTo>
                    <a:pt x="2326" y="1"/>
                  </a:lnTo>
                  <a:cubicBezTo>
                    <a:pt x="2526" y="-1"/>
                    <a:pt x="2770" y="45"/>
                    <a:pt x="2915" y="88"/>
                  </a:cubicBezTo>
                  <a:lnTo>
                    <a:pt x="2914" y="85"/>
                  </a:lnTo>
                  <a:lnTo>
                    <a:pt x="3087" y="141"/>
                  </a:lnTo>
                  <a:lnTo>
                    <a:pt x="3087" y="142"/>
                  </a:lnTo>
                  <a:lnTo>
                    <a:pt x="3087" y="142"/>
                  </a:lnTo>
                  <a:cubicBezTo>
                    <a:pt x="4534" y="854"/>
                    <a:pt x="4907" y="1681"/>
                    <a:pt x="4924" y="1635"/>
                  </a:cubicBezTo>
                  <a:cubicBezTo>
                    <a:pt x="5017" y="1755"/>
                    <a:pt x="5119" y="1892"/>
                    <a:pt x="5203" y="2003"/>
                  </a:cubicBezTo>
                  <a:lnTo>
                    <a:pt x="5028" y="2427"/>
                  </a:lnTo>
                  <a:lnTo>
                    <a:pt x="4572" y="2488"/>
                  </a:lnTo>
                  <a:cubicBezTo>
                    <a:pt x="4528" y="2432"/>
                    <a:pt x="4481" y="2370"/>
                    <a:pt x="4442" y="2319"/>
                  </a:cubicBezTo>
                  <a:cubicBezTo>
                    <a:pt x="4169" y="1982"/>
                    <a:pt x="3707" y="1300"/>
                    <a:pt x="2841" y="907"/>
                  </a:cubicBezTo>
                  <a:lnTo>
                    <a:pt x="2864" y="884"/>
                  </a:lnTo>
                  <a:lnTo>
                    <a:pt x="2839" y="904"/>
                  </a:lnTo>
                  <a:lnTo>
                    <a:pt x="2700" y="859"/>
                  </a:lnTo>
                  <a:close/>
                </a:path>
              </a:pathLst>
            </a:custGeom>
            <a:gradFill>
              <a:gsLst>
                <a:gs pos="0">
                  <a:schemeClr val="accent1"/>
                </a:gs>
                <a:gs pos="100000">
                  <a:schemeClr val="accent1">
                    <a:lumMod val="60000"/>
                    <a:lumOff val="40000"/>
                  </a:schemeClr>
                </a:gs>
              </a:gsLst>
              <a:lin ang="16200000" scaled="0"/>
            </a:gradFill>
            <a:ln w="9525" cap="flat">
              <a:noFill/>
              <a:prstDash val="solid"/>
              <a:miter/>
            </a:ln>
          </p:spPr>
          <p:txBody>
            <a:bodyPr wrap="square" rtlCol="0" anchor="ctr">
              <a:noAutofit/>
            </a:bodyPr>
            <a:p>
              <a:endParaRPr lang="zh-CN" altLang="en-US">
                <a:latin typeface="微软雅黑" panose="020B0503020204020204" charset="-122"/>
                <a:ea typeface="微软雅黑" panose="020B0503020204020204" charset="-122"/>
                <a:cs typeface="微软雅黑" panose="020B0503020204020204" charset="-122"/>
              </a:endParaRPr>
            </a:p>
          </p:txBody>
        </p:sp>
        <p:sp>
          <p:nvSpPr>
            <p:cNvPr id="115" name="任意多边形: 形状 65"/>
            <p:cNvSpPr/>
            <p:nvPr/>
          </p:nvSpPr>
          <p:spPr>
            <a:xfrm>
              <a:off x="4665" y="5403"/>
              <a:ext cx="4948" cy="2409"/>
            </a:xfrm>
            <a:custGeom>
              <a:avLst/>
              <a:gdLst>
                <a:gd name="connsiteX0" fmla="*/ 1073468 w 1220152"/>
                <a:gd name="connsiteY0" fmla="*/ 849630 h 1022985"/>
                <a:gd name="connsiteX1" fmla="*/ 1220153 w 1220152"/>
                <a:gd name="connsiteY1" fmla="*/ 988695 h 1022985"/>
                <a:gd name="connsiteX2" fmla="*/ 978218 w 1220152"/>
                <a:gd name="connsiteY2" fmla="*/ 1022985 h 1022985"/>
                <a:gd name="connsiteX3" fmla="*/ 0 w 1220152"/>
                <a:gd name="connsiteY3" fmla="*/ 100013 h 1022985"/>
                <a:gd name="connsiteX4" fmla="*/ 173355 w 1220152"/>
                <a:gd name="connsiteY4" fmla="*/ 0 h 1022985"/>
                <a:gd name="connsiteX5" fmla="*/ 342900 w 1220152"/>
                <a:gd name="connsiteY5" fmla="*/ 97155 h 1022985"/>
                <a:gd name="connsiteX6" fmla="*/ 978218 w 1220152"/>
                <a:gd name="connsiteY6" fmla="*/ 680085 h 1022985"/>
                <a:gd name="connsiteX7" fmla="*/ 1117283 w 1220152"/>
                <a:gd name="connsiteY7" fmla="*/ 661035 h 1022985"/>
                <a:gd name="connsiteX8" fmla="*/ 1073468 w 1220152"/>
                <a:gd name="connsiteY8" fmla="*/ 849630 h 1022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948" h="2410">
                  <a:moveTo>
                    <a:pt x="2554" y="2393"/>
                  </a:moveTo>
                  <a:cubicBezTo>
                    <a:pt x="2489" y="2402"/>
                    <a:pt x="2368" y="2410"/>
                    <a:pt x="2304" y="2409"/>
                  </a:cubicBezTo>
                  <a:cubicBezTo>
                    <a:pt x="1059" y="2447"/>
                    <a:pt x="34" y="1340"/>
                    <a:pt x="0" y="236"/>
                  </a:cubicBezTo>
                  <a:lnTo>
                    <a:pt x="408" y="0"/>
                  </a:lnTo>
                  <a:lnTo>
                    <a:pt x="808" y="229"/>
                  </a:lnTo>
                  <a:cubicBezTo>
                    <a:pt x="849" y="1011"/>
                    <a:pt x="1589" y="1620"/>
                    <a:pt x="2304" y="1602"/>
                  </a:cubicBezTo>
                  <a:cubicBezTo>
                    <a:pt x="2318" y="1602"/>
                    <a:pt x="2346" y="1601"/>
                    <a:pt x="2347" y="1601"/>
                  </a:cubicBezTo>
                  <a:lnTo>
                    <a:pt x="2347" y="1600"/>
                  </a:lnTo>
                  <a:cubicBezTo>
                    <a:pt x="2489" y="1593"/>
                    <a:pt x="2671" y="1553"/>
                    <a:pt x="2783" y="1510"/>
                  </a:cubicBezTo>
                  <a:lnTo>
                    <a:pt x="2783" y="1509"/>
                  </a:lnTo>
                  <a:cubicBezTo>
                    <a:pt x="2956" y="1442"/>
                    <a:pt x="2919" y="1447"/>
                    <a:pt x="2996" y="1409"/>
                  </a:cubicBezTo>
                  <a:lnTo>
                    <a:pt x="2997" y="1416"/>
                  </a:lnTo>
                  <a:cubicBezTo>
                    <a:pt x="3553" y="1154"/>
                    <a:pt x="4190" y="464"/>
                    <a:pt x="4446" y="109"/>
                  </a:cubicBezTo>
                  <a:cubicBezTo>
                    <a:pt x="4467" y="137"/>
                    <a:pt x="4493" y="171"/>
                    <a:pt x="4510" y="194"/>
                  </a:cubicBezTo>
                  <a:cubicBezTo>
                    <a:pt x="4531" y="221"/>
                    <a:pt x="4556" y="255"/>
                    <a:pt x="4573" y="277"/>
                  </a:cubicBezTo>
                  <a:cubicBezTo>
                    <a:pt x="4597" y="310"/>
                    <a:pt x="4626" y="348"/>
                    <a:pt x="4648" y="376"/>
                  </a:cubicBezTo>
                  <a:cubicBezTo>
                    <a:pt x="4655" y="385"/>
                    <a:pt x="4658" y="389"/>
                    <a:pt x="4668" y="402"/>
                  </a:cubicBezTo>
                  <a:cubicBezTo>
                    <a:pt x="4759" y="526"/>
                    <a:pt x="4862" y="661"/>
                    <a:pt x="4948" y="771"/>
                  </a:cubicBezTo>
                  <a:lnTo>
                    <a:pt x="4939" y="780"/>
                  </a:lnTo>
                  <a:cubicBezTo>
                    <a:pt x="4606" y="1213"/>
                    <a:pt x="3902" y="1899"/>
                    <a:pt x="3262" y="2179"/>
                  </a:cubicBezTo>
                  <a:lnTo>
                    <a:pt x="3265" y="2181"/>
                  </a:lnTo>
                  <a:cubicBezTo>
                    <a:pt x="2845" y="2379"/>
                    <a:pt x="2582" y="2390"/>
                    <a:pt x="2554" y="2395"/>
                  </a:cubicBezTo>
                  <a:lnTo>
                    <a:pt x="2554" y="2393"/>
                  </a:lnTo>
                  <a:close/>
                </a:path>
              </a:pathLst>
            </a:custGeom>
            <a:gradFill>
              <a:gsLst>
                <a:gs pos="0">
                  <a:schemeClr val="accent1">
                    <a:lumMod val="60000"/>
                    <a:lumOff val="40000"/>
                  </a:schemeClr>
                </a:gs>
                <a:gs pos="100000">
                  <a:schemeClr val="accent1">
                    <a:lumMod val="40000"/>
                    <a:lumOff val="60000"/>
                  </a:schemeClr>
                </a:gs>
              </a:gsLst>
              <a:lin ang="16200000" scaled="0"/>
            </a:gradFill>
            <a:ln w="9525" cap="flat">
              <a:noFill/>
              <a:prstDash val="solid"/>
              <a:miter/>
            </a:ln>
          </p:spPr>
          <p:txBody>
            <a:bodyPr wrap="square" rtlCol="0" anchor="ctr">
              <a:noAutofit/>
            </a:bodyPr>
            <a:p>
              <a:endParaRPr lang="en-US">
                <a:latin typeface="微软雅黑" panose="020B0503020204020204" charset="-122"/>
                <a:ea typeface="微软雅黑" panose="020B0503020204020204" charset="-122"/>
                <a:cs typeface="微软雅黑" panose="020B0503020204020204" charset="-122"/>
              </a:endParaRPr>
            </a:p>
          </p:txBody>
        </p:sp>
        <p:sp>
          <p:nvSpPr>
            <p:cNvPr id="117" name="任意多边形: 形状 70"/>
            <p:cNvSpPr/>
            <p:nvPr/>
          </p:nvSpPr>
          <p:spPr>
            <a:xfrm>
              <a:off x="5744" y="4267"/>
              <a:ext cx="2476" cy="2476"/>
            </a:xfrm>
            <a:custGeom>
              <a:avLst/>
              <a:gdLst>
                <a:gd name="connsiteX0" fmla="*/ 1051560 w 1051560"/>
                <a:gd name="connsiteY0" fmla="*/ 525780 h 1051560"/>
                <a:gd name="connsiteX1" fmla="*/ 525780 w 1051560"/>
                <a:gd name="connsiteY1" fmla="*/ 1051560 h 1051560"/>
                <a:gd name="connsiteX2" fmla="*/ 0 w 1051560"/>
                <a:gd name="connsiteY2" fmla="*/ 525780 h 1051560"/>
                <a:gd name="connsiteX3" fmla="*/ 525780 w 1051560"/>
                <a:gd name="connsiteY3" fmla="*/ 0 h 1051560"/>
                <a:gd name="connsiteX4" fmla="*/ 1051560 w 1051560"/>
                <a:gd name="connsiteY4" fmla="*/ 525780 h 1051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 h="1051560">
                  <a:moveTo>
                    <a:pt x="1051560" y="525780"/>
                  </a:moveTo>
                  <a:cubicBezTo>
                    <a:pt x="1051560" y="816160"/>
                    <a:pt x="816160" y="1051560"/>
                    <a:pt x="525780" y="1051560"/>
                  </a:cubicBezTo>
                  <a:cubicBezTo>
                    <a:pt x="235400" y="1051560"/>
                    <a:pt x="0" y="816160"/>
                    <a:pt x="0" y="525780"/>
                  </a:cubicBezTo>
                  <a:cubicBezTo>
                    <a:pt x="0" y="235400"/>
                    <a:pt x="235400" y="0"/>
                    <a:pt x="525780" y="0"/>
                  </a:cubicBezTo>
                  <a:cubicBezTo>
                    <a:pt x="816160" y="0"/>
                    <a:pt x="1051560" y="235400"/>
                    <a:pt x="1051560" y="525780"/>
                  </a:cubicBezTo>
                  <a:close/>
                </a:path>
              </a:pathLst>
            </a:custGeom>
            <a:solidFill>
              <a:schemeClr val="bg1"/>
            </a:solidFill>
            <a:ln w="63500" cap="flat">
              <a:gradFill>
                <a:gsLst>
                  <a:gs pos="0">
                    <a:schemeClr val="accent1"/>
                  </a:gs>
                  <a:gs pos="100000">
                    <a:schemeClr val="accent1">
                      <a:lumMod val="60000"/>
                      <a:lumOff val="40000"/>
                    </a:schemeClr>
                  </a:gs>
                </a:gsLst>
                <a:lin ang="16200000" scaled="1"/>
              </a:gradFill>
              <a:prstDash val="solid"/>
              <a:miter/>
            </a:ln>
          </p:spPr>
          <p:txBody>
            <a:bodyPr rtlCol="0" anchor="ctr"/>
            <a:p>
              <a:endParaRPr lang="en-US">
                <a:latin typeface="微软雅黑" panose="020B0503020204020204" charset="-122"/>
                <a:ea typeface="微软雅黑" panose="020B0503020204020204" charset="-122"/>
                <a:cs typeface="微软雅黑" panose="020B0503020204020204" charset="-122"/>
              </a:endParaRPr>
            </a:p>
          </p:txBody>
        </p:sp>
        <p:sp>
          <p:nvSpPr>
            <p:cNvPr id="131" name="任意多边形: 形状 84"/>
            <p:cNvSpPr/>
            <p:nvPr/>
          </p:nvSpPr>
          <p:spPr>
            <a:xfrm>
              <a:off x="10980" y="4251"/>
              <a:ext cx="2476" cy="2476"/>
            </a:xfrm>
            <a:custGeom>
              <a:avLst/>
              <a:gdLst>
                <a:gd name="connsiteX0" fmla="*/ 1051560 w 1051559"/>
                <a:gd name="connsiteY0" fmla="*/ 525780 h 1051560"/>
                <a:gd name="connsiteX1" fmla="*/ 525780 w 1051559"/>
                <a:gd name="connsiteY1" fmla="*/ 1051560 h 1051560"/>
                <a:gd name="connsiteX2" fmla="*/ 0 w 1051559"/>
                <a:gd name="connsiteY2" fmla="*/ 525780 h 1051560"/>
                <a:gd name="connsiteX3" fmla="*/ 525780 w 1051559"/>
                <a:gd name="connsiteY3" fmla="*/ 0 h 1051560"/>
                <a:gd name="connsiteX4" fmla="*/ 1051560 w 1051559"/>
                <a:gd name="connsiteY4" fmla="*/ 525780 h 1051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59" h="1051560">
                  <a:moveTo>
                    <a:pt x="1051560" y="525780"/>
                  </a:moveTo>
                  <a:cubicBezTo>
                    <a:pt x="1051560" y="816160"/>
                    <a:pt x="816160" y="1051560"/>
                    <a:pt x="525780" y="1051560"/>
                  </a:cubicBezTo>
                  <a:cubicBezTo>
                    <a:pt x="235400" y="1051560"/>
                    <a:pt x="0" y="816160"/>
                    <a:pt x="0" y="525780"/>
                  </a:cubicBezTo>
                  <a:cubicBezTo>
                    <a:pt x="0" y="235400"/>
                    <a:pt x="235399" y="0"/>
                    <a:pt x="525780" y="0"/>
                  </a:cubicBezTo>
                  <a:cubicBezTo>
                    <a:pt x="816160" y="0"/>
                    <a:pt x="1051560" y="235400"/>
                    <a:pt x="1051560" y="525780"/>
                  </a:cubicBezTo>
                  <a:close/>
                </a:path>
              </a:pathLst>
            </a:custGeom>
            <a:solidFill>
              <a:schemeClr val="bg1"/>
            </a:solidFill>
            <a:ln w="63500" cap="flat">
              <a:gradFill>
                <a:gsLst>
                  <a:gs pos="0">
                    <a:schemeClr val="accent5"/>
                  </a:gs>
                  <a:gs pos="100000">
                    <a:schemeClr val="accent5">
                      <a:lumMod val="40000"/>
                      <a:lumOff val="60000"/>
                    </a:schemeClr>
                  </a:gs>
                </a:gsLst>
                <a:lin ang="16200000" scaled="1"/>
              </a:gradFill>
              <a:prstDash val="solid"/>
              <a:miter/>
            </a:ln>
          </p:spPr>
          <p:txBody>
            <a:bodyPr rtlCol="0" anchor="ctr">
              <a:noAutofit/>
            </a:bodyPr>
            <a:p>
              <a:pPr lvl="0" algn="l">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32" name="文本框 131"/>
            <p:cNvSpPr txBox="1"/>
            <p:nvPr/>
          </p:nvSpPr>
          <p:spPr>
            <a:xfrm>
              <a:off x="6054" y="4903"/>
              <a:ext cx="2095" cy="628"/>
            </a:xfrm>
            <a:prstGeom prst="rect">
              <a:avLst/>
            </a:prstGeom>
            <a:noFill/>
          </p:spPr>
          <p:txBody>
            <a:bodyPr wrap="square">
              <a:spAutoFit/>
            </a:bodyPr>
            <a:p>
              <a:pPr algn="ctr"/>
              <a:r>
                <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rPr>
                <a:t>价值重构：</a:t>
              </a:r>
              <a:endPar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134" name="任意多边形: 形状 70"/>
          <p:cNvSpPr/>
          <p:nvPr/>
        </p:nvSpPr>
        <p:spPr>
          <a:xfrm>
            <a:off x="2769870" y="2426970"/>
            <a:ext cx="3150870" cy="3150870"/>
          </a:xfrm>
          <a:custGeom>
            <a:avLst/>
            <a:gdLst>
              <a:gd name="connsiteX0" fmla="*/ 1051560 w 1051560"/>
              <a:gd name="connsiteY0" fmla="*/ 525780 h 1051560"/>
              <a:gd name="connsiteX1" fmla="*/ 525780 w 1051560"/>
              <a:gd name="connsiteY1" fmla="*/ 1051560 h 1051560"/>
              <a:gd name="connsiteX2" fmla="*/ 0 w 1051560"/>
              <a:gd name="connsiteY2" fmla="*/ 525780 h 1051560"/>
              <a:gd name="connsiteX3" fmla="*/ 525780 w 1051560"/>
              <a:gd name="connsiteY3" fmla="*/ 0 h 1051560"/>
              <a:gd name="connsiteX4" fmla="*/ 1051560 w 1051560"/>
              <a:gd name="connsiteY4" fmla="*/ 525780 h 1051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 h="1051560">
                <a:moveTo>
                  <a:pt x="1051560" y="525780"/>
                </a:moveTo>
                <a:cubicBezTo>
                  <a:pt x="1051560" y="816160"/>
                  <a:pt x="816160" y="1051560"/>
                  <a:pt x="525780" y="1051560"/>
                </a:cubicBezTo>
                <a:cubicBezTo>
                  <a:pt x="235400" y="1051560"/>
                  <a:pt x="0" y="816160"/>
                  <a:pt x="0" y="525780"/>
                </a:cubicBezTo>
                <a:cubicBezTo>
                  <a:pt x="0" y="235400"/>
                  <a:pt x="235400" y="0"/>
                  <a:pt x="525780" y="0"/>
                </a:cubicBezTo>
                <a:cubicBezTo>
                  <a:pt x="816160" y="0"/>
                  <a:pt x="1051560" y="235400"/>
                  <a:pt x="1051560" y="525780"/>
                </a:cubicBezTo>
                <a:close/>
              </a:path>
            </a:pathLst>
          </a:custGeom>
          <a:noFill/>
          <a:ln w="9525" cap="flat">
            <a:gradFill>
              <a:gsLst>
                <a:gs pos="0">
                  <a:schemeClr val="accent1"/>
                </a:gs>
                <a:gs pos="32000">
                  <a:schemeClr val="accent1">
                    <a:alpha val="0"/>
                  </a:schemeClr>
                </a:gs>
              </a:gsLst>
              <a:lin ang="0" scaled="1"/>
            </a:gradFill>
            <a:prstDash val="solid"/>
            <a:miter/>
          </a:ln>
          <a:extLst>
            <a:ext uri="{909E8E84-426E-40DD-AFC4-6F175D3DCCD1}">
              <a14:hiddenFill xmlns:a14="http://schemas.microsoft.com/office/drawing/2010/main">
                <a:solidFill>
                  <a:schemeClr val="bg1"/>
                </a:solidFill>
              </a14:hiddenFill>
            </a:ext>
          </a:extLst>
        </p:spPr>
        <p:txBody>
          <a:bodyPr rtlCol="0" anchor="ctr"/>
          <a:p>
            <a:endParaRPr lang="en-US">
              <a:latin typeface="微软雅黑" panose="020B0503020204020204" charset="-122"/>
              <a:ea typeface="微软雅黑" panose="020B0503020204020204" charset="-122"/>
              <a:cs typeface="微软雅黑" panose="020B0503020204020204" charset="-122"/>
            </a:endParaRPr>
          </a:p>
        </p:txBody>
      </p:sp>
      <p:sp>
        <p:nvSpPr>
          <p:cNvPr id="135" name="任意多边形: 形状 70"/>
          <p:cNvSpPr/>
          <p:nvPr/>
        </p:nvSpPr>
        <p:spPr>
          <a:xfrm flipH="1">
            <a:off x="6246495" y="2417445"/>
            <a:ext cx="3150870" cy="3150870"/>
          </a:xfrm>
          <a:custGeom>
            <a:avLst/>
            <a:gdLst>
              <a:gd name="connsiteX0" fmla="*/ 1051560 w 1051560"/>
              <a:gd name="connsiteY0" fmla="*/ 525780 h 1051560"/>
              <a:gd name="connsiteX1" fmla="*/ 525780 w 1051560"/>
              <a:gd name="connsiteY1" fmla="*/ 1051560 h 1051560"/>
              <a:gd name="connsiteX2" fmla="*/ 0 w 1051560"/>
              <a:gd name="connsiteY2" fmla="*/ 525780 h 1051560"/>
              <a:gd name="connsiteX3" fmla="*/ 525780 w 1051560"/>
              <a:gd name="connsiteY3" fmla="*/ 0 h 1051560"/>
              <a:gd name="connsiteX4" fmla="*/ 1051560 w 1051560"/>
              <a:gd name="connsiteY4" fmla="*/ 525780 h 1051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 h="1051560">
                <a:moveTo>
                  <a:pt x="1051560" y="525780"/>
                </a:moveTo>
                <a:cubicBezTo>
                  <a:pt x="1051560" y="816160"/>
                  <a:pt x="816160" y="1051560"/>
                  <a:pt x="525780" y="1051560"/>
                </a:cubicBezTo>
                <a:cubicBezTo>
                  <a:pt x="235400" y="1051560"/>
                  <a:pt x="0" y="816160"/>
                  <a:pt x="0" y="525780"/>
                </a:cubicBezTo>
                <a:cubicBezTo>
                  <a:pt x="0" y="235400"/>
                  <a:pt x="235400" y="0"/>
                  <a:pt x="525780" y="0"/>
                </a:cubicBezTo>
                <a:cubicBezTo>
                  <a:pt x="816160" y="0"/>
                  <a:pt x="1051560" y="235400"/>
                  <a:pt x="1051560" y="525780"/>
                </a:cubicBezTo>
                <a:close/>
              </a:path>
            </a:pathLst>
          </a:custGeom>
          <a:noFill/>
          <a:ln w="9525" cap="flat">
            <a:gradFill>
              <a:gsLst>
                <a:gs pos="0">
                  <a:schemeClr val="accent5"/>
                </a:gs>
                <a:gs pos="32000">
                  <a:schemeClr val="accent5">
                    <a:alpha val="0"/>
                  </a:schemeClr>
                </a:gs>
              </a:gsLst>
              <a:lin ang="0" scaled="1"/>
            </a:gradFill>
            <a:prstDash val="solid"/>
            <a:miter/>
          </a:ln>
          <a:extLst>
            <a:ext uri="{909E8E84-426E-40DD-AFC4-6F175D3DCCD1}">
              <a14:hiddenFill xmlns:a14="http://schemas.microsoft.com/office/drawing/2010/main">
                <a:solidFill>
                  <a:schemeClr val="bg1"/>
                </a:solidFill>
              </a14:hiddenFill>
            </a:ext>
          </a:extLst>
        </p:spPr>
        <p:txBody>
          <a:bodyPr rtlCol="0" anchor="ctr"/>
          <a:p>
            <a:endParaRPr lang="en-US">
              <a:latin typeface="微软雅黑" panose="020B0503020204020204" charset="-122"/>
              <a:ea typeface="微软雅黑" panose="020B0503020204020204" charset="-122"/>
              <a:cs typeface="微软雅黑" panose="020B0503020204020204" charset="-122"/>
            </a:endParaRPr>
          </a:p>
        </p:txBody>
      </p:sp>
      <p:cxnSp>
        <p:nvCxnSpPr>
          <p:cNvPr id="136" name="直接连接符 135"/>
          <p:cNvCxnSpPr/>
          <p:nvPr/>
        </p:nvCxnSpPr>
        <p:spPr>
          <a:xfrm>
            <a:off x="2962275" y="2684145"/>
            <a:ext cx="246380" cy="151765"/>
          </a:xfrm>
          <a:prstGeom prst="line">
            <a:avLst/>
          </a:prstGeom>
          <a:ln>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137" name="直接连接符 136"/>
          <p:cNvCxnSpPr/>
          <p:nvPr/>
        </p:nvCxnSpPr>
        <p:spPr>
          <a:xfrm>
            <a:off x="2613025" y="3100070"/>
            <a:ext cx="311150" cy="114300"/>
          </a:xfrm>
          <a:prstGeom prst="line">
            <a:avLst/>
          </a:prstGeom>
          <a:ln>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138" name="直接连接符 137"/>
          <p:cNvCxnSpPr/>
          <p:nvPr/>
        </p:nvCxnSpPr>
        <p:spPr>
          <a:xfrm>
            <a:off x="2371090" y="3543300"/>
            <a:ext cx="398145" cy="52070"/>
          </a:xfrm>
          <a:prstGeom prst="line">
            <a:avLst/>
          </a:prstGeom>
          <a:ln>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139" name="直接连接符 138"/>
          <p:cNvCxnSpPr/>
          <p:nvPr/>
        </p:nvCxnSpPr>
        <p:spPr>
          <a:xfrm flipV="1">
            <a:off x="2322195" y="3980180"/>
            <a:ext cx="396875" cy="25400"/>
          </a:xfrm>
          <a:prstGeom prst="line">
            <a:avLst/>
          </a:prstGeom>
          <a:ln>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140" name="直接连接符 139"/>
          <p:cNvCxnSpPr/>
          <p:nvPr/>
        </p:nvCxnSpPr>
        <p:spPr>
          <a:xfrm flipV="1">
            <a:off x="2366010" y="4361180"/>
            <a:ext cx="394335" cy="86995"/>
          </a:xfrm>
          <a:prstGeom prst="line">
            <a:avLst/>
          </a:prstGeom>
          <a:ln>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141" name="直接连接符 140"/>
          <p:cNvCxnSpPr/>
          <p:nvPr/>
        </p:nvCxnSpPr>
        <p:spPr>
          <a:xfrm flipV="1">
            <a:off x="2552700" y="4749800"/>
            <a:ext cx="349250" cy="169545"/>
          </a:xfrm>
          <a:prstGeom prst="line">
            <a:avLst/>
          </a:prstGeom>
          <a:ln>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142" name="直接连接符 141"/>
          <p:cNvCxnSpPr/>
          <p:nvPr/>
        </p:nvCxnSpPr>
        <p:spPr>
          <a:xfrm flipV="1">
            <a:off x="2917190" y="5069840"/>
            <a:ext cx="206375" cy="174625"/>
          </a:xfrm>
          <a:prstGeom prst="line">
            <a:avLst/>
          </a:prstGeom>
          <a:ln>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148" name="直接连接符 147"/>
          <p:cNvCxnSpPr/>
          <p:nvPr/>
        </p:nvCxnSpPr>
        <p:spPr>
          <a:xfrm>
            <a:off x="9063990" y="5069840"/>
            <a:ext cx="246380" cy="151765"/>
          </a:xfrm>
          <a:prstGeom prst="line">
            <a:avLst/>
          </a:prstGeom>
          <a:ln>
            <a:solidFill>
              <a:schemeClr val="accent5"/>
            </a:solidFill>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149" name="直接连接符 148"/>
          <p:cNvCxnSpPr/>
          <p:nvPr/>
        </p:nvCxnSpPr>
        <p:spPr>
          <a:xfrm>
            <a:off x="9286875" y="4753610"/>
            <a:ext cx="295275" cy="125730"/>
          </a:xfrm>
          <a:prstGeom prst="line">
            <a:avLst/>
          </a:prstGeom>
          <a:ln>
            <a:solidFill>
              <a:schemeClr val="accent5"/>
            </a:solidFill>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150" name="直接连接符 149"/>
          <p:cNvCxnSpPr/>
          <p:nvPr/>
        </p:nvCxnSpPr>
        <p:spPr>
          <a:xfrm>
            <a:off x="9418320" y="4361180"/>
            <a:ext cx="377825" cy="57150"/>
          </a:xfrm>
          <a:prstGeom prst="line">
            <a:avLst/>
          </a:prstGeom>
          <a:ln>
            <a:solidFill>
              <a:schemeClr val="accent5"/>
            </a:solidFill>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151" name="直接连接符 150"/>
          <p:cNvCxnSpPr/>
          <p:nvPr/>
        </p:nvCxnSpPr>
        <p:spPr>
          <a:xfrm flipV="1">
            <a:off x="9454515" y="3975100"/>
            <a:ext cx="378460" cy="9525"/>
          </a:xfrm>
          <a:prstGeom prst="line">
            <a:avLst/>
          </a:prstGeom>
          <a:ln>
            <a:solidFill>
              <a:schemeClr val="accent5"/>
            </a:solidFill>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152" name="直接连接符 151"/>
          <p:cNvCxnSpPr/>
          <p:nvPr/>
        </p:nvCxnSpPr>
        <p:spPr>
          <a:xfrm flipV="1">
            <a:off x="9417685" y="3519170"/>
            <a:ext cx="378460" cy="85725"/>
          </a:xfrm>
          <a:prstGeom prst="line">
            <a:avLst/>
          </a:prstGeom>
          <a:ln>
            <a:solidFill>
              <a:schemeClr val="accent5"/>
            </a:solidFill>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153" name="直接连接符 152"/>
          <p:cNvCxnSpPr/>
          <p:nvPr/>
        </p:nvCxnSpPr>
        <p:spPr>
          <a:xfrm flipV="1">
            <a:off x="9269730" y="3065145"/>
            <a:ext cx="323215" cy="153035"/>
          </a:xfrm>
          <a:prstGeom prst="line">
            <a:avLst/>
          </a:prstGeom>
          <a:ln>
            <a:solidFill>
              <a:schemeClr val="accent5"/>
            </a:solidFill>
            <a:headEnd type="oval" w="sm" len="sm"/>
            <a:tailEnd type="oval" w="sm" len="sm"/>
          </a:ln>
        </p:spPr>
        <p:style>
          <a:lnRef idx="2">
            <a:schemeClr val="accent1"/>
          </a:lnRef>
          <a:fillRef idx="0">
            <a:srgbClr val="FFFFFF"/>
          </a:fillRef>
          <a:effectRef idx="0">
            <a:srgbClr val="FFFFFF"/>
          </a:effectRef>
          <a:fontRef idx="minor">
            <a:schemeClr val="tx1"/>
          </a:fontRef>
        </p:style>
      </p:cxnSp>
      <p:cxnSp>
        <p:nvCxnSpPr>
          <p:cNvPr id="154" name="直接连接符 153"/>
          <p:cNvCxnSpPr/>
          <p:nvPr/>
        </p:nvCxnSpPr>
        <p:spPr>
          <a:xfrm flipV="1">
            <a:off x="9030335" y="2722880"/>
            <a:ext cx="209550" cy="181610"/>
          </a:xfrm>
          <a:prstGeom prst="line">
            <a:avLst/>
          </a:prstGeom>
          <a:ln>
            <a:solidFill>
              <a:schemeClr val="accent5"/>
            </a:solidFill>
            <a:headEnd type="oval" w="sm" len="sm"/>
            <a:tailEnd type="oval" w="sm" len="sm"/>
          </a:ln>
        </p:spPr>
        <p:style>
          <a:lnRef idx="2">
            <a:schemeClr val="accent1"/>
          </a:lnRef>
          <a:fillRef idx="0">
            <a:srgbClr val="FFFFFF"/>
          </a:fillRef>
          <a:effectRef idx="0">
            <a:srgbClr val="FFFFFF"/>
          </a:effectRef>
          <a:fontRef idx="minor">
            <a:schemeClr val="tx1"/>
          </a:fontRef>
        </p:style>
      </p:cxnSp>
      <p:sp>
        <p:nvSpPr>
          <p:cNvPr id="160" name="六边形 159"/>
          <p:cNvSpPr/>
          <p:nvPr/>
        </p:nvSpPr>
        <p:spPr>
          <a:xfrm rot="19860000">
            <a:off x="3658235" y="2179320"/>
            <a:ext cx="361950" cy="314960"/>
          </a:xfrm>
          <a:prstGeom prst="hexagon">
            <a:avLst/>
          </a:prstGeom>
          <a:noFill/>
          <a:ln>
            <a:solidFill>
              <a:schemeClr val="accent6">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61" name="六边形 160"/>
          <p:cNvSpPr/>
          <p:nvPr/>
        </p:nvSpPr>
        <p:spPr>
          <a:xfrm rot="21300000">
            <a:off x="4126865" y="2044065"/>
            <a:ext cx="361950" cy="314960"/>
          </a:xfrm>
          <a:prstGeom prst="hexagon">
            <a:avLst/>
          </a:prstGeom>
          <a:noFill/>
          <a:ln>
            <a:solidFill>
              <a:schemeClr val="accent6">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62" name="六边形 161"/>
          <p:cNvSpPr/>
          <p:nvPr/>
        </p:nvSpPr>
        <p:spPr>
          <a:xfrm rot="840000">
            <a:off x="4623435" y="2059940"/>
            <a:ext cx="361950" cy="314960"/>
          </a:xfrm>
          <a:prstGeom prst="hexagon">
            <a:avLst/>
          </a:prstGeom>
          <a:noFill/>
          <a:ln>
            <a:solidFill>
              <a:schemeClr val="accent6">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63" name="六边形 162"/>
          <p:cNvSpPr/>
          <p:nvPr/>
        </p:nvSpPr>
        <p:spPr>
          <a:xfrm rot="1680000">
            <a:off x="5102860" y="2246630"/>
            <a:ext cx="361950" cy="314960"/>
          </a:xfrm>
          <a:prstGeom prst="hexagon">
            <a:avLst/>
          </a:prstGeom>
          <a:noFill/>
          <a:ln>
            <a:solidFill>
              <a:schemeClr val="accent6">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64" name="六边形 163"/>
          <p:cNvSpPr/>
          <p:nvPr/>
        </p:nvSpPr>
        <p:spPr>
          <a:xfrm rot="2400000">
            <a:off x="5528310" y="2515235"/>
            <a:ext cx="361950" cy="314960"/>
          </a:xfrm>
          <a:prstGeom prst="hexagon">
            <a:avLst/>
          </a:prstGeom>
          <a:noFill/>
          <a:ln>
            <a:solidFill>
              <a:schemeClr val="accent6">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65" name="六边形 164"/>
          <p:cNvSpPr/>
          <p:nvPr/>
        </p:nvSpPr>
        <p:spPr>
          <a:xfrm rot="19860000">
            <a:off x="6556375" y="2245360"/>
            <a:ext cx="361950" cy="314960"/>
          </a:xfrm>
          <a:prstGeom prst="hexagon">
            <a:avLst/>
          </a:prstGeom>
          <a:noFill/>
          <a:ln>
            <a:solidFill>
              <a:schemeClr val="accent6">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66" name="六边形 165"/>
          <p:cNvSpPr/>
          <p:nvPr/>
        </p:nvSpPr>
        <p:spPr>
          <a:xfrm rot="19080000">
            <a:off x="6133465" y="2516505"/>
            <a:ext cx="361950" cy="314960"/>
          </a:xfrm>
          <a:prstGeom prst="hexagon">
            <a:avLst/>
          </a:prstGeom>
          <a:noFill/>
          <a:ln>
            <a:solidFill>
              <a:schemeClr val="accent6">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67" name="六边形 166"/>
          <p:cNvSpPr/>
          <p:nvPr/>
        </p:nvSpPr>
        <p:spPr>
          <a:xfrm rot="20880000">
            <a:off x="7039610" y="2065020"/>
            <a:ext cx="361950" cy="314960"/>
          </a:xfrm>
          <a:prstGeom prst="hexagon">
            <a:avLst/>
          </a:prstGeom>
          <a:noFill/>
          <a:ln>
            <a:solidFill>
              <a:schemeClr val="accent6">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68" name="六边形 167"/>
          <p:cNvSpPr/>
          <p:nvPr/>
        </p:nvSpPr>
        <p:spPr>
          <a:xfrm rot="180000">
            <a:off x="7529830" y="2040255"/>
            <a:ext cx="361950" cy="314960"/>
          </a:xfrm>
          <a:prstGeom prst="hexagon">
            <a:avLst/>
          </a:prstGeom>
          <a:noFill/>
          <a:ln>
            <a:solidFill>
              <a:schemeClr val="accent6">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69" name="六边形 168"/>
          <p:cNvSpPr/>
          <p:nvPr/>
        </p:nvSpPr>
        <p:spPr>
          <a:xfrm rot="1620000">
            <a:off x="8007350" y="2181860"/>
            <a:ext cx="361950" cy="314960"/>
          </a:xfrm>
          <a:prstGeom prst="hexagon">
            <a:avLst/>
          </a:prstGeom>
          <a:noFill/>
          <a:ln>
            <a:solidFill>
              <a:schemeClr val="accent6">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 name="文本框 2"/>
          <p:cNvSpPr txBox="1"/>
          <p:nvPr/>
        </p:nvSpPr>
        <p:spPr>
          <a:xfrm>
            <a:off x="402590" y="1005205"/>
            <a:ext cx="5114925" cy="737235"/>
          </a:xfrm>
          <a:prstGeom prst="rect">
            <a:avLst/>
          </a:prstGeom>
          <a:noFill/>
        </p:spPr>
        <p:txBody>
          <a:bodyPr wrap="square" rtlCol="0">
            <a:spAutoFit/>
          </a:bodyPr>
          <a:p>
            <a:r>
              <a:rPr lang="zh-CN" altLang="en-US" sz="1400">
                <a:latin typeface="微软雅黑" panose="020B0503020204020204" charset="-122"/>
                <a:ea typeface="微软雅黑" panose="020B0503020204020204" charset="-122"/>
                <a:cs typeface="微软雅黑" panose="020B0503020204020204" charset="-122"/>
              </a:rPr>
              <a:t>数字化营销</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全域运营模式</a:t>
            </a:r>
            <a:r>
              <a:rPr lang="en-US" altLang="zh-CN" sz="1400">
                <a:latin typeface="微软雅黑" panose="020B0503020204020204" charset="-122"/>
                <a:ea typeface="微软雅黑" panose="020B0503020204020204" charset="-122"/>
                <a:cs typeface="微软雅黑" panose="020B0503020204020204" charset="-122"/>
              </a:rPr>
              <a:t> </a:t>
            </a:r>
            <a:r>
              <a:rPr lang="en-US" altLang="en-US" sz="1400">
                <a:latin typeface="微软雅黑" panose="020B0503020204020204" charset="-122"/>
                <a:ea typeface="微软雅黑" panose="020B0503020204020204" charset="-122"/>
                <a:cs typeface="微软雅黑" panose="020B0503020204020204" charset="-122"/>
              </a:rPr>
              <a:t>→</a:t>
            </a:r>
            <a:r>
              <a:rPr lang="en-US" altLang="zh-CN" sz="1400">
                <a:latin typeface="微软雅黑" panose="020B0503020204020204" charset="-122"/>
                <a:ea typeface="微软雅黑" panose="020B0503020204020204" charset="-122"/>
                <a:cs typeface="微软雅黑" panose="020B0503020204020204" charset="-122"/>
              </a:rPr>
              <a:t> </a:t>
            </a:r>
            <a:r>
              <a:rPr lang="zh-CN" altLang="en-US" sz="1400">
                <a:latin typeface="微软雅黑" panose="020B0503020204020204" charset="-122"/>
                <a:ea typeface="微软雅黑" panose="020B0503020204020204" charset="-122"/>
                <a:cs typeface="微软雅黑" panose="020B0503020204020204" charset="-122"/>
              </a:rPr>
              <a:t>聚焦会员价值</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个性化体验</a:t>
            </a:r>
            <a:endParaRPr lang="zh-CN" altLang="en-US" sz="1400">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u"/>
            </a:pPr>
            <a:r>
              <a:rPr lang="zh-CN" altLang="en-US" sz="1400">
                <a:latin typeface="微软雅黑" panose="020B0503020204020204" charset="-122"/>
                <a:ea typeface="微软雅黑" panose="020B0503020204020204" charset="-122"/>
                <a:cs typeface="微软雅黑" panose="020B0503020204020204" charset="-122"/>
              </a:rPr>
              <a:t>对外：拓展公域流量，构建品牌声量</a:t>
            </a:r>
            <a:endParaRPr lang="zh-CN" altLang="en-US" sz="1400">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u"/>
            </a:pPr>
            <a:r>
              <a:rPr lang="zh-CN" altLang="en-US" sz="1400">
                <a:latin typeface="微软雅黑" panose="020B0503020204020204" charset="-122"/>
                <a:ea typeface="微软雅黑" panose="020B0503020204020204" charset="-122"/>
                <a:cs typeface="微软雅黑" panose="020B0503020204020204" charset="-122"/>
              </a:rPr>
              <a:t>对内：深耕私域用户，提升复购忠诚</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4" name="文本框 3"/>
          <p:cNvSpPr txBox="1"/>
          <p:nvPr/>
        </p:nvSpPr>
        <p:spPr>
          <a:xfrm>
            <a:off x="7430135" y="1005205"/>
            <a:ext cx="5114925" cy="737235"/>
          </a:xfrm>
          <a:prstGeom prst="rect">
            <a:avLst/>
          </a:prstGeom>
          <a:noFill/>
        </p:spPr>
        <p:txBody>
          <a:bodyPr wrap="square" rtlCol="0">
            <a:spAutoFit/>
          </a:bodyPr>
          <a:p>
            <a:pPr indent="0">
              <a:buFont typeface="微软雅黑" panose="020B0503020204020204" charset="-122"/>
              <a:buNone/>
            </a:pPr>
            <a:r>
              <a:rPr lang="zh-CN" altLang="en-US" sz="1400">
                <a:latin typeface="微软雅黑" panose="020B0503020204020204" charset="-122"/>
                <a:ea typeface="微软雅黑" panose="020B0503020204020204" charset="-122"/>
                <a:cs typeface="微软雅黑" panose="020B0503020204020204" charset="-122"/>
              </a:rPr>
              <a:t>鞋服企业提供战略转型，构建了：</a:t>
            </a:r>
            <a:endParaRPr lang="zh-CN" altLang="en-US" sz="1400">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u"/>
            </a:pPr>
            <a:r>
              <a:rPr lang="zh-CN" altLang="en-US" sz="1400">
                <a:latin typeface="微软雅黑" panose="020B0503020204020204" charset="-122"/>
                <a:ea typeface="微软雅黑" panose="020B0503020204020204" charset="-122"/>
                <a:cs typeface="微软雅黑" panose="020B0503020204020204" charset="-122"/>
              </a:rPr>
              <a:t>以会员为根基、圈层为纽带、达人为杠杆的增长飞轮</a:t>
            </a:r>
            <a:endParaRPr lang="zh-CN" altLang="en-US" sz="1400">
              <a:latin typeface="微软雅黑" panose="020B0503020204020204" charset="-122"/>
              <a:ea typeface="微软雅黑" panose="020B0503020204020204" charset="-122"/>
              <a:cs typeface="微软雅黑" panose="020B0503020204020204" charset="-122"/>
            </a:endParaRPr>
          </a:p>
          <a:p>
            <a:pPr marL="285750" indent="-285750">
              <a:buFont typeface="Wingdings" panose="05000000000000000000" charset="0"/>
              <a:buChar char="u"/>
            </a:pPr>
            <a:r>
              <a:rPr lang="zh-CN" altLang="en-US" sz="1400">
                <a:latin typeface="微软雅黑" panose="020B0503020204020204" charset="-122"/>
                <a:ea typeface="微软雅黑" panose="020B0503020204020204" charset="-122"/>
                <a:cs typeface="微软雅黑" panose="020B0503020204020204" charset="-122"/>
              </a:rPr>
              <a:t>实现从</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流量收割</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到</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用户共生</a:t>
            </a:r>
            <a:r>
              <a:rPr lang="en-US" altLang="zh-CN" sz="1400">
                <a:latin typeface="微软雅黑" panose="020B0503020204020204" charset="-122"/>
                <a:ea typeface="微软雅黑" panose="020B0503020204020204" charset="-122"/>
                <a:cs typeface="微软雅黑" panose="020B0503020204020204" charset="-122"/>
              </a:rPr>
              <a:t>”</a:t>
            </a:r>
            <a:r>
              <a:rPr lang="zh-CN" altLang="en-US" sz="1400">
                <a:latin typeface="微软雅黑" panose="020B0503020204020204" charset="-122"/>
                <a:ea typeface="微软雅黑" panose="020B0503020204020204" charset="-122"/>
                <a:cs typeface="微软雅黑" panose="020B0503020204020204" charset="-122"/>
              </a:rPr>
              <a:t>的战略升级</a:t>
            </a:r>
            <a:endParaRPr lang="zh-CN" altLang="en-US" sz="1400">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3813810" y="3972560"/>
            <a:ext cx="1228090" cy="521970"/>
          </a:xfrm>
          <a:prstGeom prst="rect">
            <a:avLst/>
          </a:prstGeom>
          <a:noFill/>
        </p:spPr>
        <p:txBody>
          <a:bodyPr wrap="square">
            <a:spAutoFit/>
          </a:bodyPr>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全域融合与体验升级</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4" name="文本框 33"/>
          <p:cNvSpPr txBox="1"/>
          <p:nvPr/>
        </p:nvSpPr>
        <p:spPr>
          <a:xfrm>
            <a:off x="7166610" y="3519170"/>
            <a:ext cx="1330325" cy="398780"/>
          </a:xfrm>
          <a:prstGeom prst="rect">
            <a:avLst/>
          </a:prstGeom>
          <a:noFill/>
        </p:spPr>
        <p:txBody>
          <a:bodyPr wrap="square">
            <a:spAutoFit/>
          </a:bodyPr>
          <a:p>
            <a:pPr algn="ctr"/>
            <a:r>
              <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rPr>
              <a:t>战略转型：</a:t>
            </a:r>
            <a:endPar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5" name="文本框 34"/>
          <p:cNvSpPr txBox="1"/>
          <p:nvPr/>
        </p:nvSpPr>
        <p:spPr>
          <a:xfrm>
            <a:off x="7169785" y="3972560"/>
            <a:ext cx="1228090" cy="521970"/>
          </a:xfrm>
          <a:prstGeom prst="rect">
            <a:avLst/>
          </a:prstGeom>
          <a:noFill/>
        </p:spPr>
        <p:txBody>
          <a:bodyPr wrap="square">
            <a:spAutoFit/>
          </a:bodyPr>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数据驱动的全域增长</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61" name="组合 60"/>
          <p:cNvGrpSpPr/>
          <p:nvPr/>
        </p:nvGrpSpPr>
        <p:grpSpPr>
          <a:xfrm>
            <a:off x="3813810" y="5551805"/>
            <a:ext cx="561975" cy="875665"/>
            <a:chOff x="6006" y="8756"/>
            <a:chExt cx="885" cy="1379"/>
          </a:xfrm>
        </p:grpSpPr>
        <p:sp>
          <p:nvSpPr>
            <p:cNvPr id="174" name="椭圆 173"/>
            <p:cNvSpPr/>
            <p:nvPr/>
          </p:nvSpPr>
          <p:spPr>
            <a:xfrm>
              <a:off x="6042" y="8756"/>
              <a:ext cx="813" cy="813"/>
            </a:xfrm>
            <a:prstGeom prst="ellipse">
              <a:avLst/>
            </a:prstGeom>
            <a:solidFill>
              <a:schemeClr val="bg1"/>
            </a:solidFill>
            <a:ln w="38100">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7" name="文本框 46"/>
            <p:cNvSpPr txBox="1"/>
            <p:nvPr/>
          </p:nvSpPr>
          <p:spPr>
            <a:xfrm>
              <a:off x="6006" y="9701"/>
              <a:ext cx="885" cy="434"/>
            </a:xfrm>
            <a:prstGeom prst="rect">
              <a:avLst/>
            </a:prstGeom>
            <a:noFill/>
            <a:ln>
              <a:noFill/>
            </a:ln>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数据</a:t>
              </a:r>
              <a:endParaRPr lang="zh-CN" altLang="en-US" sz="1200">
                <a:latin typeface="微软雅黑" panose="020B0503020204020204" charset="-122"/>
                <a:ea typeface="微软雅黑" panose="020B0503020204020204" charset="-122"/>
                <a:cs typeface="微软雅黑" panose="020B0503020204020204" charset="-122"/>
              </a:endParaRPr>
            </a:p>
          </p:txBody>
        </p:sp>
      </p:grpSp>
      <p:grpSp>
        <p:nvGrpSpPr>
          <p:cNvPr id="62" name="组合 61"/>
          <p:cNvGrpSpPr/>
          <p:nvPr/>
        </p:nvGrpSpPr>
        <p:grpSpPr>
          <a:xfrm>
            <a:off x="4500245" y="5551805"/>
            <a:ext cx="561975" cy="875665"/>
            <a:chOff x="6006" y="8756"/>
            <a:chExt cx="885" cy="1379"/>
          </a:xfrm>
        </p:grpSpPr>
        <p:sp>
          <p:nvSpPr>
            <p:cNvPr id="63" name="椭圆 62"/>
            <p:cNvSpPr/>
            <p:nvPr/>
          </p:nvSpPr>
          <p:spPr>
            <a:xfrm>
              <a:off x="6042" y="8756"/>
              <a:ext cx="813" cy="813"/>
            </a:xfrm>
            <a:prstGeom prst="ellipse">
              <a:avLst/>
            </a:prstGeom>
            <a:solidFill>
              <a:schemeClr val="bg2"/>
            </a:solidFill>
            <a:ln w="38100">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4" name="文本框 63"/>
            <p:cNvSpPr txBox="1"/>
            <p:nvPr/>
          </p:nvSpPr>
          <p:spPr>
            <a:xfrm>
              <a:off x="6006" y="9701"/>
              <a:ext cx="885" cy="434"/>
            </a:xfrm>
            <a:prstGeom prst="rect">
              <a:avLst/>
            </a:prstGeom>
            <a:noFill/>
            <a:ln>
              <a:noFill/>
            </a:ln>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精投</a:t>
              </a:r>
              <a:endParaRPr lang="zh-CN" altLang="en-US" sz="1200">
                <a:latin typeface="微软雅黑" panose="020B0503020204020204" charset="-122"/>
                <a:ea typeface="微软雅黑" panose="020B0503020204020204" charset="-122"/>
                <a:cs typeface="微软雅黑" panose="020B0503020204020204" charset="-122"/>
              </a:endParaRPr>
            </a:p>
          </p:txBody>
        </p:sp>
      </p:grpSp>
      <p:grpSp>
        <p:nvGrpSpPr>
          <p:cNvPr id="65" name="组合 64"/>
          <p:cNvGrpSpPr/>
          <p:nvPr/>
        </p:nvGrpSpPr>
        <p:grpSpPr>
          <a:xfrm>
            <a:off x="5186680" y="5551805"/>
            <a:ext cx="561975" cy="875665"/>
            <a:chOff x="6006" y="8756"/>
            <a:chExt cx="885" cy="1379"/>
          </a:xfrm>
        </p:grpSpPr>
        <p:sp>
          <p:nvSpPr>
            <p:cNvPr id="66" name="椭圆 65"/>
            <p:cNvSpPr/>
            <p:nvPr/>
          </p:nvSpPr>
          <p:spPr>
            <a:xfrm>
              <a:off x="6042" y="8756"/>
              <a:ext cx="813" cy="813"/>
            </a:xfrm>
            <a:prstGeom prst="ellipse">
              <a:avLst/>
            </a:prstGeom>
            <a:solidFill>
              <a:schemeClr val="bg2"/>
            </a:solidFill>
            <a:ln w="38100">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7" name="文本框 66"/>
            <p:cNvSpPr txBox="1"/>
            <p:nvPr/>
          </p:nvSpPr>
          <p:spPr>
            <a:xfrm>
              <a:off x="6006" y="9701"/>
              <a:ext cx="885" cy="434"/>
            </a:xfrm>
            <a:prstGeom prst="rect">
              <a:avLst/>
            </a:prstGeom>
            <a:noFill/>
            <a:ln>
              <a:noFill/>
            </a:ln>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智能</a:t>
              </a:r>
              <a:endParaRPr lang="zh-CN" altLang="en-US" sz="1200">
                <a:latin typeface="微软雅黑" panose="020B0503020204020204" charset="-122"/>
                <a:ea typeface="微软雅黑" panose="020B0503020204020204" charset="-122"/>
                <a:cs typeface="微软雅黑" panose="020B0503020204020204" charset="-122"/>
              </a:endParaRPr>
            </a:p>
          </p:txBody>
        </p:sp>
      </p:grpSp>
      <p:grpSp>
        <p:nvGrpSpPr>
          <p:cNvPr id="68" name="组合 67"/>
          <p:cNvGrpSpPr/>
          <p:nvPr/>
        </p:nvGrpSpPr>
        <p:grpSpPr>
          <a:xfrm>
            <a:off x="5873115" y="5551805"/>
            <a:ext cx="561975" cy="875665"/>
            <a:chOff x="6006" y="8756"/>
            <a:chExt cx="885" cy="1379"/>
          </a:xfrm>
        </p:grpSpPr>
        <p:sp>
          <p:nvSpPr>
            <p:cNvPr id="69" name="椭圆 68"/>
            <p:cNvSpPr/>
            <p:nvPr/>
          </p:nvSpPr>
          <p:spPr>
            <a:xfrm>
              <a:off x="6042" y="8756"/>
              <a:ext cx="813" cy="813"/>
            </a:xfrm>
            <a:prstGeom prst="ellipse">
              <a:avLst/>
            </a:prstGeom>
            <a:solidFill>
              <a:schemeClr val="bg2"/>
            </a:solidFill>
            <a:ln w="38100">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0" name="文本框 69"/>
            <p:cNvSpPr txBox="1"/>
            <p:nvPr/>
          </p:nvSpPr>
          <p:spPr>
            <a:xfrm>
              <a:off x="6006" y="9701"/>
              <a:ext cx="885" cy="434"/>
            </a:xfrm>
            <a:prstGeom prst="rect">
              <a:avLst/>
            </a:prstGeom>
            <a:noFill/>
            <a:ln>
              <a:noFill/>
            </a:ln>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制造</a:t>
              </a:r>
              <a:endParaRPr lang="zh-CN" altLang="en-US" sz="1200">
                <a:latin typeface="微软雅黑" panose="020B0503020204020204" charset="-122"/>
                <a:ea typeface="微软雅黑" panose="020B0503020204020204" charset="-122"/>
                <a:cs typeface="微软雅黑" panose="020B0503020204020204" charset="-122"/>
              </a:endParaRPr>
            </a:p>
          </p:txBody>
        </p:sp>
      </p:grpSp>
      <p:grpSp>
        <p:nvGrpSpPr>
          <p:cNvPr id="71" name="组合 70"/>
          <p:cNvGrpSpPr/>
          <p:nvPr/>
        </p:nvGrpSpPr>
        <p:grpSpPr>
          <a:xfrm>
            <a:off x="6559550" y="5551805"/>
            <a:ext cx="561975" cy="875665"/>
            <a:chOff x="6006" y="8756"/>
            <a:chExt cx="885" cy="1379"/>
          </a:xfrm>
        </p:grpSpPr>
        <p:sp>
          <p:nvSpPr>
            <p:cNvPr id="72" name="椭圆 71"/>
            <p:cNvSpPr/>
            <p:nvPr/>
          </p:nvSpPr>
          <p:spPr>
            <a:xfrm>
              <a:off x="6042" y="8756"/>
              <a:ext cx="813" cy="813"/>
            </a:xfrm>
            <a:prstGeom prst="ellipse">
              <a:avLst/>
            </a:prstGeom>
            <a:solidFill>
              <a:schemeClr val="bg2"/>
            </a:solidFill>
            <a:ln w="38100">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3" name="文本框 72"/>
            <p:cNvSpPr txBox="1"/>
            <p:nvPr/>
          </p:nvSpPr>
          <p:spPr>
            <a:xfrm>
              <a:off x="6006" y="9701"/>
              <a:ext cx="885" cy="434"/>
            </a:xfrm>
            <a:prstGeom prst="rect">
              <a:avLst/>
            </a:prstGeom>
            <a:noFill/>
            <a:ln>
              <a:noFill/>
            </a:ln>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安全</a:t>
              </a:r>
              <a:endParaRPr lang="zh-CN" altLang="en-US" sz="1200">
                <a:latin typeface="微软雅黑" panose="020B0503020204020204" charset="-122"/>
                <a:ea typeface="微软雅黑" panose="020B0503020204020204" charset="-122"/>
                <a:cs typeface="微软雅黑" panose="020B0503020204020204" charset="-122"/>
              </a:endParaRPr>
            </a:p>
          </p:txBody>
        </p:sp>
      </p:grpSp>
      <p:grpSp>
        <p:nvGrpSpPr>
          <p:cNvPr id="74" name="组合 73"/>
          <p:cNvGrpSpPr/>
          <p:nvPr/>
        </p:nvGrpSpPr>
        <p:grpSpPr>
          <a:xfrm>
            <a:off x="7245985" y="5551805"/>
            <a:ext cx="561975" cy="875665"/>
            <a:chOff x="6006" y="8756"/>
            <a:chExt cx="885" cy="1379"/>
          </a:xfrm>
          <a:solidFill>
            <a:schemeClr val="bg2"/>
          </a:solidFill>
        </p:grpSpPr>
        <p:sp>
          <p:nvSpPr>
            <p:cNvPr id="75" name="椭圆 74"/>
            <p:cNvSpPr/>
            <p:nvPr/>
          </p:nvSpPr>
          <p:spPr>
            <a:xfrm>
              <a:off x="6042" y="8756"/>
              <a:ext cx="813" cy="813"/>
            </a:xfrm>
            <a:prstGeom prst="ellipse">
              <a:avLst/>
            </a:prstGeom>
            <a:solidFill>
              <a:schemeClr val="bg2"/>
            </a:solidFill>
            <a:ln w="38100">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6" name="文本框 75"/>
            <p:cNvSpPr txBox="1"/>
            <p:nvPr/>
          </p:nvSpPr>
          <p:spPr>
            <a:xfrm>
              <a:off x="6006" y="9701"/>
              <a:ext cx="885" cy="434"/>
            </a:xfrm>
            <a:prstGeom prst="rect">
              <a:avLst/>
            </a:prstGeom>
            <a:noFill/>
            <a:ln>
              <a:noFill/>
            </a:ln>
            <a:extLst>
              <a:ext uri="{909E8E84-426E-40DD-AFC4-6F175D3DCCD1}">
                <a14:hiddenFill xmlns:a14="http://schemas.microsoft.com/office/drawing/2010/main">
                  <a:grpFill/>
                </a14:hiddenFill>
              </a:ext>
            </a:extLst>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赋能</a:t>
              </a:r>
              <a:endParaRPr lang="zh-CN" altLang="en-US" sz="1200">
                <a:latin typeface="微软雅黑" panose="020B0503020204020204" charset="-122"/>
                <a:ea typeface="微软雅黑" panose="020B0503020204020204" charset="-122"/>
                <a:cs typeface="微软雅黑" panose="020B0503020204020204" charset="-122"/>
              </a:endParaRPr>
            </a:p>
          </p:txBody>
        </p:sp>
      </p:grpSp>
      <p:grpSp>
        <p:nvGrpSpPr>
          <p:cNvPr id="77" name="组合 76"/>
          <p:cNvGrpSpPr/>
          <p:nvPr/>
        </p:nvGrpSpPr>
        <p:grpSpPr>
          <a:xfrm>
            <a:off x="7932420" y="5551805"/>
            <a:ext cx="561975" cy="875665"/>
            <a:chOff x="6006" y="8756"/>
            <a:chExt cx="885" cy="1379"/>
          </a:xfrm>
        </p:grpSpPr>
        <p:sp>
          <p:nvSpPr>
            <p:cNvPr id="78" name="椭圆 77"/>
            <p:cNvSpPr/>
            <p:nvPr/>
          </p:nvSpPr>
          <p:spPr>
            <a:xfrm>
              <a:off x="6042" y="8756"/>
              <a:ext cx="813" cy="813"/>
            </a:xfrm>
            <a:prstGeom prst="ellipse">
              <a:avLst/>
            </a:prstGeom>
            <a:solidFill>
              <a:schemeClr val="bg2"/>
            </a:solidFill>
            <a:ln w="38100">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9" name="文本框 78"/>
            <p:cNvSpPr txBox="1"/>
            <p:nvPr/>
          </p:nvSpPr>
          <p:spPr>
            <a:xfrm>
              <a:off x="6006" y="9701"/>
              <a:ext cx="885" cy="434"/>
            </a:xfrm>
            <a:prstGeom prst="rect">
              <a:avLst/>
            </a:prstGeom>
            <a:noFill/>
            <a:ln>
              <a:noFill/>
            </a:ln>
          </p:spPr>
          <p:txBody>
            <a:bodyPr wrap="square" rtlCol="0">
              <a:spAutoFit/>
            </a:bodyPr>
            <a:p>
              <a:pPr algn="ctr"/>
              <a:r>
                <a:rPr lang="zh-CN" altLang="en-US" sz="1200">
                  <a:latin typeface="微软雅黑" panose="020B0503020204020204" charset="-122"/>
                  <a:ea typeface="微软雅黑" panose="020B0503020204020204" charset="-122"/>
                  <a:cs typeface="微软雅黑" panose="020B0503020204020204" charset="-122"/>
                </a:rPr>
                <a:t>悦享</a:t>
              </a:r>
              <a:endParaRPr lang="zh-CN" altLang="en-US" sz="1200">
                <a:latin typeface="微软雅黑" panose="020B0503020204020204" charset="-122"/>
                <a:ea typeface="微软雅黑" panose="020B0503020204020204" charset="-122"/>
                <a:cs typeface="微软雅黑" panose="020B0503020204020204" charset="-122"/>
              </a:endParaRPr>
            </a:p>
          </p:txBody>
        </p:sp>
      </p:grpSp>
      <p:sp>
        <p:nvSpPr>
          <p:cNvPr id="80" name="矩形 79"/>
          <p:cNvSpPr/>
          <p:nvPr/>
        </p:nvSpPr>
        <p:spPr>
          <a:xfrm>
            <a:off x="4954905" y="1501140"/>
            <a:ext cx="618490" cy="321945"/>
          </a:xfrm>
          <a:prstGeom prst="rect">
            <a:avLst/>
          </a:prstGeom>
          <a:noFill/>
          <a:ln>
            <a:solidFill>
              <a:schemeClr val="accent6">
                <a:lumMod val="60000"/>
                <a:lumOff val="40000"/>
              </a:schemeClr>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tx1"/>
                </a:solidFill>
                <a:cs typeface="微软雅黑" panose="020B0503020204020204" charset="-122"/>
              </a:rPr>
              <a:t>导购</a:t>
            </a:r>
            <a:endParaRPr lang="zh-CN" altLang="en-US" sz="1400">
              <a:solidFill>
                <a:schemeClr val="tx1"/>
              </a:solidFill>
              <a:cs typeface="微软雅黑" panose="020B0503020204020204" charset="-122"/>
            </a:endParaRPr>
          </a:p>
        </p:txBody>
      </p:sp>
      <p:sp>
        <p:nvSpPr>
          <p:cNvPr id="81" name="矩形 80"/>
          <p:cNvSpPr/>
          <p:nvPr/>
        </p:nvSpPr>
        <p:spPr>
          <a:xfrm>
            <a:off x="5330825" y="1080135"/>
            <a:ext cx="618490" cy="321945"/>
          </a:xfrm>
          <a:prstGeom prst="rect">
            <a:avLst/>
          </a:prstGeom>
          <a:noFill/>
          <a:ln>
            <a:solidFill>
              <a:schemeClr val="accent6">
                <a:lumMod val="60000"/>
                <a:lumOff val="40000"/>
              </a:schemeClr>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tx1"/>
                </a:solidFill>
                <a:cs typeface="微软雅黑" panose="020B0503020204020204" charset="-122"/>
              </a:rPr>
              <a:t>会员</a:t>
            </a:r>
            <a:endParaRPr lang="zh-CN" altLang="en-US" sz="1400">
              <a:solidFill>
                <a:schemeClr val="tx1"/>
              </a:solidFill>
              <a:cs typeface="微软雅黑" panose="020B0503020204020204" charset="-122"/>
            </a:endParaRPr>
          </a:p>
        </p:txBody>
      </p:sp>
      <p:sp>
        <p:nvSpPr>
          <p:cNvPr id="82" name="矩形 81"/>
          <p:cNvSpPr/>
          <p:nvPr/>
        </p:nvSpPr>
        <p:spPr>
          <a:xfrm>
            <a:off x="6074410" y="1080135"/>
            <a:ext cx="618490" cy="321945"/>
          </a:xfrm>
          <a:prstGeom prst="rect">
            <a:avLst/>
          </a:prstGeom>
          <a:noFill/>
          <a:ln>
            <a:solidFill>
              <a:schemeClr val="accent6">
                <a:lumMod val="60000"/>
                <a:lumOff val="40000"/>
              </a:schemeClr>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tx1"/>
                </a:solidFill>
                <a:cs typeface="微软雅黑" panose="020B0503020204020204" charset="-122"/>
              </a:rPr>
              <a:t>圈层</a:t>
            </a:r>
            <a:endParaRPr lang="zh-CN" altLang="en-US" sz="1400">
              <a:solidFill>
                <a:schemeClr val="tx1"/>
              </a:solidFill>
              <a:cs typeface="微软雅黑" panose="020B0503020204020204" charset="-122"/>
            </a:endParaRPr>
          </a:p>
        </p:txBody>
      </p:sp>
      <p:sp>
        <p:nvSpPr>
          <p:cNvPr id="83" name="矩形 82"/>
          <p:cNvSpPr/>
          <p:nvPr/>
        </p:nvSpPr>
        <p:spPr>
          <a:xfrm>
            <a:off x="6465570" y="1501140"/>
            <a:ext cx="618490" cy="321945"/>
          </a:xfrm>
          <a:prstGeom prst="rect">
            <a:avLst/>
          </a:prstGeom>
          <a:noFill/>
          <a:ln>
            <a:solidFill>
              <a:schemeClr val="accent6">
                <a:lumMod val="60000"/>
                <a:lumOff val="40000"/>
              </a:schemeClr>
            </a:soli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tx1"/>
                </a:solidFill>
                <a:cs typeface="微软雅黑" panose="020B0503020204020204" charset="-122"/>
              </a:rPr>
              <a:t>达人</a:t>
            </a:r>
            <a:endParaRPr lang="zh-CN" altLang="en-US" sz="1400">
              <a:solidFill>
                <a:schemeClr val="tx1"/>
              </a:solidFill>
              <a:cs typeface="微软雅黑" panose="020B0503020204020204" charset="-122"/>
            </a:endParaRPr>
          </a:p>
        </p:txBody>
      </p:sp>
      <p:cxnSp>
        <p:nvCxnSpPr>
          <p:cNvPr id="84" name="直接连接符 83"/>
          <p:cNvCxnSpPr>
            <a:stCxn id="80" idx="2"/>
          </p:cNvCxnSpPr>
          <p:nvPr/>
        </p:nvCxnSpPr>
        <p:spPr>
          <a:xfrm>
            <a:off x="5264150" y="1823085"/>
            <a:ext cx="0" cy="403860"/>
          </a:xfrm>
          <a:prstGeom prst="line">
            <a:avLst/>
          </a:prstGeom>
          <a:ln>
            <a:solidFill>
              <a:schemeClr val="accent6">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85" name="直接连接符 84"/>
          <p:cNvCxnSpPr/>
          <p:nvPr/>
        </p:nvCxnSpPr>
        <p:spPr>
          <a:xfrm>
            <a:off x="5674995" y="1402080"/>
            <a:ext cx="0" cy="1093470"/>
          </a:xfrm>
          <a:prstGeom prst="line">
            <a:avLst/>
          </a:prstGeom>
          <a:ln>
            <a:solidFill>
              <a:schemeClr val="accent6">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86" name="直接连接符 85"/>
          <p:cNvCxnSpPr/>
          <p:nvPr/>
        </p:nvCxnSpPr>
        <p:spPr>
          <a:xfrm>
            <a:off x="6297295" y="1501140"/>
            <a:ext cx="0" cy="1073785"/>
          </a:xfrm>
          <a:prstGeom prst="line">
            <a:avLst/>
          </a:prstGeom>
          <a:ln>
            <a:solidFill>
              <a:schemeClr val="accent6">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87" name="直接连接符 86"/>
          <p:cNvCxnSpPr/>
          <p:nvPr/>
        </p:nvCxnSpPr>
        <p:spPr>
          <a:xfrm>
            <a:off x="6737350" y="1836420"/>
            <a:ext cx="0" cy="394970"/>
          </a:xfrm>
          <a:prstGeom prst="line">
            <a:avLst/>
          </a:prstGeom>
          <a:ln>
            <a:solidFill>
              <a:schemeClr val="accent6">
                <a:lumMod val="60000"/>
                <a:lumOff val="40000"/>
              </a:schemeClr>
            </a:solidFill>
            <a:prstDash val="sysDash"/>
          </a:ln>
        </p:spPr>
        <p:style>
          <a:lnRef idx="2">
            <a:schemeClr val="accent1"/>
          </a:lnRef>
          <a:fillRef idx="0">
            <a:srgbClr val="FFFFFF"/>
          </a:fillRef>
          <a:effectRef idx="0">
            <a:srgbClr val="FFFFFF"/>
          </a:effectRef>
          <a:fontRef idx="minor">
            <a:schemeClr val="tx1"/>
          </a:fontRef>
        </p:style>
      </p:cxnSp>
      <p:pic>
        <p:nvPicPr>
          <p:cNvPr id="91" name="图片 90" descr="dc-icon-智能制造"/>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67730" y="5626735"/>
            <a:ext cx="362585" cy="362585"/>
          </a:xfrm>
          <a:prstGeom prst="rect">
            <a:avLst/>
          </a:prstGeom>
        </p:spPr>
      </p:pic>
      <p:pic>
        <p:nvPicPr>
          <p:cNvPr id="92" name="图片 91" descr="只能监控"/>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279390" y="5612765"/>
            <a:ext cx="374015" cy="374015"/>
          </a:xfrm>
          <a:prstGeom prst="rect">
            <a:avLst/>
          </a:prstGeom>
        </p:spPr>
      </p:pic>
      <p:pic>
        <p:nvPicPr>
          <p:cNvPr id="93" name="图片 92" descr="数据"/>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931920" y="5655945"/>
            <a:ext cx="283210" cy="283210"/>
          </a:xfrm>
          <a:prstGeom prst="rect">
            <a:avLst/>
          </a:prstGeom>
        </p:spPr>
      </p:pic>
      <p:pic>
        <p:nvPicPr>
          <p:cNvPr id="94" name="图片 93" descr="精准投放"/>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99305" y="5608320"/>
            <a:ext cx="390525" cy="390525"/>
          </a:xfrm>
          <a:prstGeom prst="rect">
            <a:avLst/>
          </a:prstGeom>
        </p:spPr>
      </p:pic>
      <p:pic>
        <p:nvPicPr>
          <p:cNvPr id="95" name="图片 94" descr="index-悦享康旅"/>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068310" y="5628005"/>
            <a:ext cx="316230" cy="316230"/>
          </a:xfrm>
          <a:prstGeom prst="rect">
            <a:avLst/>
          </a:prstGeom>
        </p:spPr>
      </p:pic>
      <p:pic>
        <p:nvPicPr>
          <p:cNvPr id="96" name="图片 95" descr="安全"/>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6692900" y="5655945"/>
            <a:ext cx="299720" cy="299720"/>
          </a:xfrm>
          <a:prstGeom prst="rect">
            <a:avLst/>
          </a:prstGeom>
        </p:spPr>
      </p:pic>
      <p:pic>
        <p:nvPicPr>
          <p:cNvPr id="97" name="图片 96" descr="赋能科技研发"/>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356475" y="5628005"/>
            <a:ext cx="322580" cy="322580"/>
          </a:xfrm>
          <a:prstGeom prst="rect">
            <a:avLst/>
          </a:prstGeom>
        </p:spPr>
      </p:pic>
      <p:sp>
        <p:nvSpPr>
          <p:cNvPr id="98" name="文本框 97"/>
          <p:cNvSpPr txBox="1"/>
          <p:nvPr/>
        </p:nvSpPr>
        <p:spPr>
          <a:xfrm rot="19800000">
            <a:off x="3465487" y="2941320"/>
            <a:ext cx="359410" cy="275590"/>
          </a:xfrm>
          <a:prstGeom prst="rect">
            <a:avLst/>
          </a:prstGeom>
          <a:noFill/>
        </p:spPr>
        <p:txBody>
          <a:bodyPr wrap="none" rtlCol="0">
            <a:spAutoFit/>
          </a:bodyPr>
          <a:p>
            <a:pPr algn="l"/>
            <a:r>
              <a:rPr lang="en-US" sz="1200" b="1" spc="0" baseline="0" dirty="0">
                <a:solidFill>
                  <a:schemeClr val="bg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01</a:t>
            </a:r>
            <a:endParaRPr lang="en-US" sz="1200" b="1" spc="0" baseline="0" dirty="0">
              <a:solidFill>
                <a:schemeClr val="bg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99" name="文本框 98"/>
          <p:cNvSpPr txBox="1"/>
          <p:nvPr/>
        </p:nvSpPr>
        <p:spPr>
          <a:xfrm>
            <a:off x="6614160" y="4682401"/>
            <a:ext cx="359410" cy="275590"/>
          </a:xfrm>
          <a:prstGeom prst="rect">
            <a:avLst/>
          </a:prstGeom>
          <a:noFill/>
        </p:spPr>
        <p:txBody>
          <a:bodyPr wrap="none" rtlCol="0">
            <a:spAutoFit/>
          </a:bodyPr>
          <a:p>
            <a:pPr algn="l"/>
            <a:r>
              <a:rPr lang="en-US" sz="1200" b="1" spc="0" baseline="0">
                <a:solidFill>
                  <a:schemeClr val="bg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02</a:t>
            </a:r>
            <a:endParaRPr lang="en-US" sz="1200" b="1" spc="0" baseline="0">
              <a:solidFill>
                <a:schemeClr val="bg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100" name="文本框 99"/>
          <p:cNvSpPr txBox="1"/>
          <p:nvPr/>
        </p:nvSpPr>
        <p:spPr>
          <a:xfrm rot="18960000">
            <a:off x="6480467" y="3187065"/>
            <a:ext cx="359410" cy="275590"/>
          </a:xfrm>
          <a:prstGeom prst="rect">
            <a:avLst/>
          </a:prstGeom>
          <a:noFill/>
        </p:spPr>
        <p:txBody>
          <a:bodyPr wrap="none" rtlCol="0">
            <a:spAutoFit/>
          </a:bodyPr>
          <a:p>
            <a:pPr algn="l"/>
            <a:r>
              <a:rPr lang="en-US" sz="1200" b="1" spc="0" baseline="0" dirty="0">
                <a:solidFill>
                  <a:schemeClr val="bg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03</a:t>
            </a:r>
            <a:endParaRPr lang="en-US" sz="1200" b="1" spc="0" baseline="0" dirty="0">
              <a:solidFill>
                <a:schemeClr val="bg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sp>
        <p:nvSpPr>
          <p:cNvPr id="101" name="文本框 100"/>
          <p:cNvSpPr txBox="1"/>
          <p:nvPr/>
        </p:nvSpPr>
        <p:spPr>
          <a:xfrm rot="2580000">
            <a:off x="3226727" y="4648835"/>
            <a:ext cx="359410" cy="275590"/>
          </a:xfrm>
          <a:prstGeom prst="rect">
            <a:avLst/>
          </a:prstGeom>
          <a:noFill/>
        </p:spPr>
        <p:txBody>
          <a:bodyPr wrap="none" rtlCol="0">
            <a:spAutoFit/>
          </a:bodyPr>
          <a:p>
            <a:pPr algn="l"/>
            <a:r>
              <a:rPr lang="en-US" sz="1200" b="1" spc="0" baseline="0" dirty="0">
                <a:solidFill>
                  <a:schemeClr val="bg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rPr>
              <a:t>04</a:t>
            </a:r>
            <a:endParaRPr lang="en-US" sz="1200" b="1" spc="0" baseline="0" dirty="0">
              <a:solidFill>
                <a:schemeClr val="bg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tl val="0"/>
            </a:endParaRPr>
          </a:p>
        </p:txBody>
      </p:sp>
      <p:grpSp>
        <p:nvGrpSpPr>
          <p:cNvPr id="2" name="组合 1"/>
          <p:cNvGrpSpPr/>
          <p:nvPr/>
        </p:nvGrpSpPr>
        <p:grpSpPr>
          <a:xfrm>
            <a:off x="2978150" y="2299970"/>
            <a:ext cx="6263640" cy="3442335"/>
            <a:chOff x="4665" y="3639"/>
            <a:chExt cx="9864" cy="5421"/>
          </a:xfrm>
        </p:grpSpPr>
        <p:grpSp>
          <p:nvGrpSpPr>
            <p:cNvPr id="12" name="组合 11"/>
            <p:cNvGrpSpPr/>
            <p:nvPr/>
          </p:nvGrpSpPr>
          <p:grpSpPr>
            <a:xfrm>
              <a:off x="4665" y="3672"/>
              <a:ext cx="9865" cy="5388"/>
              <a:chOff x="4713" y="3644"/>
              <a:chExt cx="9865" cy="5388"/>
            </a:xfrm>
          </p:grpSpPr>
          <p:sp>
            <p:nvSpPr>
              <p:cNvPr id="13" name="文本框 12"/>
              <p:cNvSpPr txBox="1"/>
              <p:nvPr/>
            </p:nvSpPr>
            <p:spPr>
              <a:xfrm rot="600000">
                <a:off x="4717" y="4444"/>
                <a:ext cx="4588" cy="4588"/>
              </a:xfrm>
              <a:prstGeom prst="rect">
                <a:avLst/>
              </a:prstGeom>
              <a:noFill/>
            </p:spPr>
            <p:txBody>
              <a:bodyPr wrap="none">
                <a:prstTxWarp prst="textArchUp">
                  <a:avLst/>
                </a:prstTxWarp>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启动：系统化工具基础构建</a:t>
                </a:r>
                <a:endParaRPr kumimoji="0" lang="zh-CN" altLang="en-US" sz="1200" b="0" i="0" u="none" strike="noStrike" kern="1200" cap="none"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a:off x="9990" y="4401"/>
                <a:ext cx="4588" cy="4588"/>
              </a:xfrm>
              <a:prstGeom prst="rect">
                <a:avLst/>
              </a:prstGeom>
              <a:noFill/>
            </p:spPr>
            <p:txBody>
              <a:bodyPr wrap="none">
                <a:prstTxWarp prst="textArchUp">
                  <a:avLst/>
                </a:prstTxWarp>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整合：全域数据资产化与智能中台</a:t>
                </a:r>
                <a:endParaRPr kumimoji="0" lang="zh-CN" altLang="en-US" sz="1200" b="0" i="0" u="none" strike="noStrike" kern="1200" cap="none"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4713" y="3644"/>
                <a:ext cx="4460" cy="4460"/>
              </a:xfrm>
              <a:prstGeom prst="rect">
                <a:avLst/>
              </a:prstGeom>
              <a:noFill/>
            </p:spPr>
            <p:txBody>
              <a:bodyPr wrap="none">
                <a:prstTxWarp prst="textArchDown">
                  <a:avLst/>
                </a:prstTxWarp>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sz="1200" b="0" i="0" u="none" strike="noStrike" kern="1200" cap="none" normalizeH="0" baseline="0" noProof="0" dirty="0">
                    <a:ln>
                      <a:noFill/>
                    </a:ln>
                    <a:solidFill>
                      <a:schemeClr val="bg2"/>
                    </a:solidFill>
                    <a:effectLst/>
                    <a:uLnTx/>
                    <a:uFillTx/>
                    <a:latin typeface="+mn-ea"/>
                    <a:cs typeface="微软雅黑" panose="020B0503020204020204" charset="-122"/>
                  </a:rPr>
                  <a:t>升级：数据驱动的全域增长</a:t>
                </a:r>
                <a:endParaRPr kumimoji="0" lang="zh-CN" sz="1200" b="0" i="0" u="none" strike="noStrike" kern="1200" cap="none" normalizeH="0" baseline="0" noProof="0" dirty="0">
                  <a:ln>
                    <a:noFill/>
                  </a:ln>
                  <a:solidFill>
                    <a:schemeClr val="bg2"/>
                  </a:solidFill>
                  <a:effectLst/>
                  <a:uLnTx/>
                  <a:uFillTx/>
                  <a:latin typeface="+mn-ea"/>
                  <a:cs typeface="微软雅黑" panose="020B0503020204020204" charset="-122"/>
                </a:endParaRPr>
              </a:p>
            </p:txBody>
          </p:sp>
        </p:grpSp>
        <p:sp>
          <p:nvSpPr>
            <p:cNvPr id="16" name="文本框 15"/>
            <p:cNvSpPr txBox="1"/>
            <p:nvPr/>
          </p:nvSpPr>
          <p:spPr>
            <a:xfrm rot="21360000">
              <a:off x="9935" y="3639"/>
              <a:ext cx="4460" cy="4460"/>
            </a:xfrm>
            <a:prstGeom prst="rect">
              <a:avLst/>
            </a:prstGeom>
            <a:noFill/>
          </p:spPr>
          <p:txBody>
            <a:bodyPr wrap="none">
              <a:prstTxWarp prst="textArchDown">
                <a:avLst/>
              </a:prstTxWarp>
              <a:spAutoFit/>
            </a:bodyPr>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normalizeH="0" baseline="0" noProof="0" dirty="0">
                  <a:ln>
                    <a:noFill/>
                  </a:ln>
                  <a:solidFill>
                    <a:schemeClr val="bg2"/>
                  </a:solidFill>
                  <a:effectLst/>
                  <a:uLnTx/>
                  <a:uFillTx/>
                  <a:latin typeface="+mn-ea"/>
                  <a:cs typeface="微软雅黑" panose="020B0503020204020204" charset="-122"/>
                </a:rPr>
                <a:t>深化：全域融合与体验升级</a:t>
              </a:r>
              <a:endParaRPr kumimoji="0" lang="zh-CN" altLang="en-US" sz="1200" b="0" i="0" u="none" strike="noStrike" kern="1200" cap="none" normalizeH="0" baseline="0" noProof="0" dirty="0">
                <a:ln>
                  <a:noFill/>
                </a:ln>
                <a:solidFill>
                  <a:schemeClr val="bg2"/>
                </a:solidFill>
                <a:effectLst/>
                <a:uLnTx/>
                <a:uFillTx/>
                <a:latin typeface="+mn-ea"/>
                <a:cs typeface="微软雅黑" panose="020B0503020204020204" charset="-122"/>
              </a:endParaRPr>
            </a:p>
          </p:txBody>
        </p:sp>
      </p:gr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8" name="组合 17"/>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17"/>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8298"/>
            <a:ext cx="753046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sz="2500" dirty="0">
                <a:solidFill>
                  <a:schemeClr val="tx2"/>
                </a:solidFill>
                <a:effectLst/>
                <a:latin typeface="微软雅黑" panose="020B0503020204020204" charset="-122"/>
                <a:ea typeface="微软雅黑" panose="020B0503020204020204" charset="-122"/>
                <a:cs typeface="微软雅黑" panose="020B0503020204020204" charset="-122"/>
              </a:rPr>
              <a:t>人力资源数字化转型路径</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111" name="组合 110"/>
          <p:cNvGrpSpPr/>
          <p:nvPr/>
        </p:nvGrpSpPr>
        <p:grpSpPr>
          <a:xfrm>
            <a:off x="1258412" y="1401429"/>
            <a:ext cx="9554218" cy="4193488"/>
            <a:chOff x="2030" y="2785"/>
            <a:chExt cx="15046" cy="6604"/>
          </a:xfrm>
          <a:effectLst/>
        </p:grpSpPr>
        <p:grpSp>
          <p:nvGrpSpPr>
            <p:cNvPr id="37" name="组合 36"/>
            <p:cNvGrpSpPr/>
            <p:nvPr/>
          </p:nvGrpSpPr>
          <p:grpSpPr>
            <a:xfrm>
              <a:off x="2030" y="2785"/>
              <a:ext cx="6823" cy="6604"/>
              <a:chOff x="512572" y="1536781"/>
              <a:chExt cx="4332613" cy="4193488"/>
            </a:xfrm>
          </p:grpSpPr>
          <p:sp>
            <p:nvSpPr>
              <p:cNvPr id="38" name="椭圆 37"/>
              <p:cNvSpPr/>
              <p:nvPr/>
            </p:nvSpPr>
            <p:spPr>
              <a:xfrm>
                <a:off x="651697" y="1536781"/>
                <a:ext cx="4193488" cy="4193488"/>
              </a:xfrm>
              <a:prstGeom prst="ellipse">
                <a:avLst/>
              </a:prstGeom>
              <a:noFill/>
              <a:ln w="31750">
                <a:gradFill flip="none" rotWithShape="1">
                  <a:gsLst>
                    <a:gs pos="76000">
                      <a:schemeClr val="bg2">
                        <a:alpha val="0"/>
                      </a:schemeClr>
                    </a:gs>
                    <a:gs pos="100000">
                      <a:schemeClr val="accent1"/>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39" name="三角形 36"/>
              <p:cNvSpPr>
                <a:spLocks noChangeAspect="1"/>
              </p:cNvSpPr>
              <p:nvPr/>
            </p:nvSpPr>
            <p:spPr>
              <a:xfrm rot="378549">
                <a:off x="512572" y="3425668"/>
                <a:ext cx="273081" cy="23541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grpSp>
        <p:grpSp>
          <p:nvGrpSpPr>
            <p:cNvPr id="40" name="组合 39"/>
            <p:cNvGrpSpPr/>
            <p:nvPr/>
          </p:nvGrpSpPr>
          <p:grpSpPr>
            <a:xfrm rot="0">
              <a:off x="2935" y="3373"/>
              <a:ext cx="13446" cy="5492"/>
              <a:chOff x="1652" y="2893"/>
              <a:chExt cx="15796" cy="6451"/>
            </a:xfrm>
          </p:grpSpPr>
          <p:sp>
            <p:nvSpPr>
              <p:cNvPr id="13" name="任意多边形 12"/>
              <p:cNvSpPr/>
              <p:nvPr/>
            </p:nvSpPr>
            <p:spPr>
              <a:xfrm>
                <a:off x="3574" y="4649"/>
                <a:ext cx="8657" cy="294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658" h="2940">
                    <a:moveTo>
                      <a:pt x="2" y="1469"/>
                    </a:moveTo>
                    <a:lnTo>
                      <a:pt x="1" y="1430"/>
                    </a:lnTo>
                    <a:lnTo>
                      <a:pt x="1" y="1393"/>
                    </a:lnTo>
                    <a:lnTo>
                      <a:pt x="0" y="1355"/>
                    </a:lnTo>
                    <a:cubicBezTo>
                      <a:pt x="-23" y="585"/>
                      <a:pt x="916" y="-15"/>
                      <a:pt x="1354" y="0"/>
                    </a:cubicBezTo>
                    <a:lnTo>
                      <a:pt x="1378" y="0"/>
                    </a:lnTo>
                    <a:lnTo>
                      <a:pt x="1405" y="1"/>
                    </a:lnTo>
                    <a:lnTo>
                      <a:pt x="1436" y="2"/>
                    </a:lnTo>
                    <a:lnTo>
                      <a:pt x="8657" y="2"/>
                    </a:lnTo>
                    <a:lnTo>
                      <a:pt x="8657" y="140"/>
                    </a:lnTo>
                    <a:lnTo>
                      <a:pt x="1486" y="140"/>
                    </a:lnTo>
                    <a:lnTo>
                      <a:pt x="1454" y="138"/>
                    </a:lnTo>
                    <a:lnTo>
                      <a:pt x="1422" y="138"/>
                    </a:lnTo>
                    <a:lnTo>
                      <a:pt x="1391" y="138"/>
                    </a:lnTo>
                    <a:lnTo>
                      <a:pt x="1361" y="138"/>
                    </a:lnTo>
                    <a:cubicBezTo>
                      <a:pt x="732" y="131"/>
                      <a:pt x="134" y="917"/>
                      <a:pt x="152" y="1352"/>
                    </a:cubicBezTo>
                    <a:lnTo>
                      <a:pt x="153" y="1376"/>
                    </a:lnTo>
                    <a:lnTo>
                      <a:pt x="153" y="1404"/>
                    </a:lnTo>
                    <a:lnTo>
                      <a:pt x="153" y="1533"/>
                    </a:lnTo>
                    <a:lnTo>
                      <a:pt x="153" y="1564"/>
                    </a:lnTo>
                    <a:lnTo>
                      <a:pt x="153" y="1594"/>
                    </a:lnTo>
                    <a:cubicBezTo>
                      <a:pt x="146" y="2223"/>
                      <a:pt x="932" y="2819"/>
                      <a:pt x="1367" y="2802"/>
                    </a:cubicBezTo>
                    <a:lnTo>
                      <a:pt x="1391" y="2802"/>
                    </a:lnTo>
                    <a:lnTo>
                      <a:pt x="1419" y="2802"/>
                    </a:lnTo>
                    <a:lnTo>
                      <a:pt x="1450" y="2802"/>
                    </a:lnTo>
                    <a:lnTo>
                      <a:pt x="1486" y="2800"/>
                    </a:lnTo>
                    <a:lnTo>
                      <a:pt x="2247" y="2800"/>
                    </a:lnTo>
                    <a:lnTo>
                      <a:pt x="2247" y="2938"/>
                    </a:lnTo>
                    <a:lnTo>
                      <a:pt x="1471" y="2938"/>
                    </a:lnTo>
                    <a:lnTo>
                      <a:pt x="1432" y="2939"/>
                    </a:lnTo>
                    <a:lnTo>
                      <a:pt x="1394" y="2939"/>
                    </a:lnTo>
                    <a:lnTo>
                      <a:pt x="1357" y="2940"/>
                    </a:lnTo>
                    <a:cubicBezTo>
                      <a:pt x="585" y="2962"/>
                      <a:pt x="-15" y="2024"/>
                      <a:pt x="0" y="1587"/>
                    </a:cubicBezTo>
                    <a:lnTo>
                      <a:pt x="0" y="1564"/>
                    </a:lnTo>
                    <a:lnTo>
                      <a:pt x="1" y="1536"/>
                    </a:lnTo>
                    <a:lnTo>
                      <a:pt x="2" y="1505"/>
                    </a:lnTo>
                    <a:lnTo>
                      <a:pt x="2" y="1469"/>
                    </a:lnTo>
                    <a:close/>
                  </a:path>
                </a:pathLst>
              </a:custGeom>
              <a:solidFill>
                <a:schemeClr val="accent1">
                  <a:lumMod val="60000"/>
                  <a:lumOff val="4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14" name="任意多边形 13"/>
              <p:cNvSpPr/>
              <p:nvPr/>
            </p:nvSpPr>
            <p:spPr>
              <a:xfrm>
                <a:off x="6941" y="4649"/>
                <a:ext cx="8649" cy="294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649" h="2941">
                    <a:moveTo>
                      <a:pt x="6158" y="1"/>
                    </a:moveTo>
                    <a:lnTo>
                      <a:pt x="7178" y="1"/>
                    </a:lnTo>
                    <a:lnTo>
                      <a:pt x="7217" y="0"/>
                    </a:lnTo>
                    <a:lnTo>
                      <a:pt x="7255" y="0"/>
                    </a:lnTo>
                    <a:lnTo>
                      <a:pt x="7292" y="0"/>
                    </a:lnTo>
                    <a:cubicBezTo>
                      <a:pt x="8064" y="-23"/>
                      <a:pt x="8664" y="915"/>
                      <a:pt x="8649" y="1353"/>
                    </a:cubicBezTo>
                    <a:lnTo>
                      <a:pt x="8649" y="1376"/>
                    </a:lnTo>
                    <a:lnTo>
                      <a:pt x="8648" y="1403"/>
                    </a:lnTo>
                    <a:lnTo>
                      <a:pt x="8647" y="1435"/>
                    </a:lnTo>
                    <a:lnTo>
                      <a:pt x="8647" y="1469"/>
                    </a:lnTo>
                    <a:lnTo>
                      <a:pt x="8648" y="1510"/>
                    </a:lnTo>
                    <a:lnTo>
                      <a:pt x="8648" y="1547"/>
                    </a:lnTo>
                    <a:lnTo>
                      <a:pt x="8648" y="1585"/>
                    </a:lnTo>
                    <a:cubicBezTo>
                      <a:pt x="8671" y="2356"/>
                      <a:pt x="7733" y="2956"/>
                      <a:pt x="7295" y="2940"/>
                    </a:cubicBezTo>
                    <a:lnTo>
                      <a:pt x="7271" y="2940"/>
                    </a:lnTo>
                    <a:lnTo>
                      <a:pt x="7244" y="2940"/>
                    </a:lnTo>
                    <a:lnTo>
                      <a:pt x="7213" y="2939"/>
                    </a:lnTo>
                    <a:lnTo>
                      <a:pt x="0" y="2939"/>
                    </a:lnTo>
                    <a:lnTo>
                      <a:pt x="0" y="2801"/>
                    </a:lnTo>
                    <a:lnTo>
                      <a:pt x="7195" y="2801"/>
                    </a:lnTo>
                    <a:lnTo>
                      <a:pt x="7227" y="2802"/>
                    </a:lnTo>
                    <a:lnTo>
                      <a:pt x="7258" y="2802"/>
                    </a:lnTo>
                    <a:lnTo>
                      <a:pt x="7288" y="2802"/>
                    </a:lnTo>
                    <a:cubicBezTo>
                      <a:pt x="7917" y="2809"/>
                      <a:pt x="8515" y="2023"/>
                      <a:pt x="8497" y="1588"/>
                    </a:cubicBezTo>
                    <a:lnTo>
                      <a:pt x="8496" y="1564"/>
                    </a:lnTo>
                    <a:lnTo>
                      <a:pt x="8496" y="1536"/>
                    </a:lnTo>
                    <a:lnTo>
                      <a:pt x="8496" y="1407"/>
                    </a:lnTo>
                    <a:lnTo>
                      <a:pt x="8496" y="1376"/>
                    </a:lnTo>
                    <a:lnTo>
                      <a:pt x="8496" y="1346"/>
                    </a:lnTo>
                    <a:cubicBezTo>
                      <a:pt x="8503" y="717"/>
                      <a:pt x="7717" y="120"/>
                      <a:pt x="7282" y="137"/>
                    </a:cubicBezTo>
                    <a:lnTo>
                      <a:pt x="7258" y="138"/>
                    </a:lnTo>
                    <a:lnTo>
                      <a:pt x="7230" y="138"/>
                    </a:lnTo>
                    <a:lnTo>
                      <a:pt x="7199" y="138"/>
                    </a:lnTo>
                    <a:lnTo>
                      <a:pt x="7163" y="139"/>
                    </a:lnTo>
                    <a:lnTo>
                      <a:pt x="6158" y="139"/>
                    </a:lnTo>
                    <a:lnTo>
                      <a:pt x="6158" y="1"/>
                    </a:lnTo>
                    <a:close/>
                  </a:path>
                </a:pathLst>
              </a:custGeom>
              <a:solidFill>
                <a:schemeClr val="accent5">
                  <a:lumMod val="60000"/>
                  <a:lumOff val="4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grpSp>
            <p:nvGrpSpPr>
              <p:cNvPr id="3" name="组合 2"/>
              <p:cNvGrpSpPr/>
              <p:nvPr/>
            </p:nvGrpSpPr>
            <p:grpSpPr>
              <a:xfrm>
                <a:off x="1652" y="2893"/>
                <a:ext cx="15796" cy="6451"/>
                <a:chOff x="757" y="3944"/>
                <a:chExt cx="12944" cy="5286"/>
              </a:xfrm>
            </p:grpSpPr>
            <p:sp>
              <p:nvSpPr>
                <p:cNvPr id="6" name="圆角矩形 5"/>
                <p:cNvSpPr/>
                <p:nvPr/>
              </p:nvSpPr>
              <p:spPr>
                <a:xfrm>
                  <a:off x="757" y="3944"/>
                  <a:ext cx="12945" cy="5286"/>
                </a:xfrm>
                <a:prstGeom prst="roundRect">
                  <a:avLst>
                    <a:gd name="adj" fmla="val 50000"/>
                  </a:avLst>
                </a:prstGeom>
                <a:noFill/>
                <a:ln w="127000">
                  <a:solidFill>
                    <a:schemeClr val="accent1">
                      <a:lumMod val="20000"/>
                      <a:lumOff val="80000"/>
                    </a:schemeClr>
                  </a:solidFill>
                </a:ln>
                <a:extLst>
                  <a:ext uri="{909E8E84-426E-40DD-AFC4-6F175D3DCCD1}">
                    <a14:hiddenFill xmlns:a14="http://schemas.microsoft.com/office/drawing/2010/main">
                      <a:solidFill>
                        <a:schemeClr val="accent1">
                          <a:lumMod val="20000"/>
                          <a:lumOff val="80000"/>
                        </a:scheme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nvGrpSpPr>
                <p:cNvPr id="95" name="组合 94"/>
                <p:cNvGrpSpPr/>
                <p:nvPr/>
              </p:nvGrpSpPr>
              <p:grpSpPr>
                <a:xfrm>
                  <a:off x="1083" y="4167"/>
                  <a:ext cx="12293" cy="4840"/>
                  <a:chOff x="981" y="4647"/>
                  <a:chExt cx="12293" cy="4840"/>
                </a:xfrm>
              </p:grpSpPr>
              <p:sp>
                <p:nvSpPr>
                  <p:cNvPr id="25" name="任意多边形 24"/>
                  <p:cNvSpPr/>
                  <p:nvPr/>
                </p:nvSpPr>
                <p:spPr>
                  <a:xfrm>
                    <a:off x="3768" y="8661"/>
                    <a:ext cx="3265" cy="825"/>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265" h="825">
                        <a:moveTo>
                          <a:pt x="3265" y="825"/>
                        </a:moveTo>
                        <a:lnTo>
                          <a:pt x="326" y="825"/>
                        </a:lnTo>
                        <a:lnTo>
                          <a:pt x="0" y="398"/>
                        </a:lnTo>
                        <a:lnTo>
                          <a:pt x="303" y="0"/>
                        </a:lnTo>
                        <a:lnTo>
                          <a:pt x="3243" y="0"/>
                        </a:lnTo>
                        <a:lnTo>
                          <a:pt x="2940" y="398"/>
                        </a:lnTo>
                        <a:lnTo>
                          <a:pt x="3265" y="825"/>
                        </a:lnTo>
                        <a:close/>
                      </a:path>
                    </a:pathLst>
                  </a:custGeom>
                  <a:gradFill>
                    <a:gsLst>
                      <a:gs pos="100000">
                        <a:schemeClr val="accent5">
                          <a:lumMod val="60000"/>
                          <a:lumOff val="40000"/>
                        </a:schemeClr>
                      </a:gs>
                      <a:gs pos="0">
                        <a:schemeClr val="accent5">
                          <a:lumMod val="40000"/>
                          <a:lumOff val="60000"/>
                        </a:schemeClr>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26" name="任意多边形 25"/>
                  <p:cNvSpPr/>
                  <p:nvPr/>
                </p:nvSpPr>
                <p:spPr>
                  <a:xfrm>
                    <a:off x="7073" y="8661"/>
                    <a:ext cx="3355" cy="825"/>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355" h="825">
                        <a:moveTo>
                          <a:pt x="3355" y="825"/>
                        </a:moveTo>
                        <a:lnTo>
                          <a:pt x="326" y="825"/>
                        </a:lnTo>
                        <a:lnTo>
                          <a:pt x="0" y="398"/>
                        </a:lnTo>
                        <a:lnTo>
                          <a:pt x="303" y="0"/>
                        </a:lnTo>
                        <a:lnTo>
                          <a:pt x="3333" y="0"/>
                        </a:lnTo>
                        <a:lnTo>
                          <a:pt x="3030" y="398"/>
                        </a:lnTo>
                        <a:lnTo>
                          <a:pt x="3355" y="825"/>
                        </a:lnTo>
                        <a:close/>
                      </a:path>
                    </a:pathLst>
                  </a:custGeom>
                  <a:gradFill>
                    <a:gsLst>
                      <a:gs pos="100000">
                        <a:schemeClr val="accent5">
                          <a:lumMod val="60000"/>
                          <a:lumOff val="40000"/>
                        </a:schemeClr>
                      </a:gs>
                      <a:gs pos="0">
                        <a:schemeClr val="accent5">
                          <a:lumMod val="40000"/>
                          <a:lumOff val="60000"/>
                        </a:schemeClr>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27" name="任意多边形 26"/>
                  <p:cNvSpPr/>
                  <p:nvPr/>
                </p:nvSpPr>
                <p:spPr>
                  <a:xfrm>
                    <a:off x="10468" y="4647"/>
                    <a:ext cx="2806" cy="484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2807" h="4841">
                        <a:moveTo>
                          <a:pt x="50" y="1"/>
                        </a:moveTo>
                        <a:lnTo>
                          <a:pt x="385" y="1"/>
                        </a:lnTo>
                        <a:lnTo>
                          <a:pt x="450" y="0"/>
                        </a:lnTo>
                        <a:cubicBezTo>
                          <a:pt x="1778" y="-39"/>
                          <a:pt x="2837" y="1298"/>
                          <a:pt x="2806" y="2362"/>
                        </a:cubicBezTo>
                        <a:lnTo>
                          <a:pt x="2805" y="2420"/>
                        </a:lnTo>
                        <a:lnTo>
                          <a:pt x="2806" y="2484"/>
                        </a:lnTo>
                        <a:cubicBezTo>
                          <a:pt x="2845" y="3813"/>
                          <a:pt x="1508" y="4871"/>
                          <a:pt x="443" y="4840"/>
                        </a:cubicBezTo>
                        <a:lnTo>
                          <a:pt x="385" y="4839"/>
                        </a:lnTo>
                        <a:lnTo>
                          <a:pt x="326" y="4839"/>
                        </a:lnTo>
                        <a:lnTo>
                          <a:pt x="0" y="4412"/>
                        </a:lnTo>
                        <a:lnTo>
                          <a:pt x="303" y="4014"/>
                        </a:lnTo>
                        <a:lnTo>
                          <a:pt x="427" y="4014"/>
                        </a:lnTo>
                        <a:lnTo>
                          <a:pt x="465" y="4015"/>
                        </a:lnTo>
                        <a:cubicBezTo>
                          <a:pt x="1256" y="4041"/>
                          <a:pt x="2048" y="3245"/>
                          <a:pt x="2022" y="2462"/>
                        </a:cubicBezTo>
                        <a:lnTo>
                          <a:pt x="2022" y="2420"/>
                        </a:lnTo>
                        <a:lnTo>
                          <a:pt x="2022" y="2382"/>
                        </a:lnTo>
                        <a:cubicBezTo>
                          <a:pt x="2048" y="1591"/>
                          <a:pt x="1252" y="800"/>
                          <a:pt x="469" y="825"/>
                        </a:cubicBezTo>
                        <a:lnTo>
                          <a:pt x="427" y="826"/>
                        </a:lnTo>
                        <a:lnTo>
                          <a:pt x="51" y="826"/>
                        </a:lnTo>
                        <a:lnTo>
                          <a:pt x="366" y="414"/>
                        </a:lnTo>
                        <a:lnTo>
                          <a:pt x="50" y="1"/>
                        </a:lnTo>
                        <a:close/>
                      </a:path>
                    </a:pathLst>
                  </a:custGeom>
                  <a:gradFill>
                    <a:gsLst>
                      <a:gs pos="100000">
                        <a:schemeClr val="accent5"/>
                      </a:gs>
                      <a:gs pos="0">
                        <a:schemeClr val="accent5">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28" name="任意多边形 27"/>
                  <p:cNvSpPr/>
                  <p:nvPr/>
                </p:nvSpPr>
                <p:spPr>
                  <a:xfrm>
                    <a:off x="7123" y="4648"/>
                    <a:ext cx="3345" cy="825"/>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345" h="825">
                        <a:moveTo>
                          <a:pt x="0" y="0"/>
                        </a:moveTo>
                        <a:lnTo>
                          <a:pt x="3030" y="0"/>
                        </a:lnTo>
                        <a:lnTo>
                          <a:pt x="3345" y="413"/>
                        </a:lnTo>
                        <a:lnTo>
                          <a:pt x="3031" y="825"/>
                        </a:lnTo>
                        <a:lnTo>
                          <a:pt x="1" y="825"/>
                        </a:lnTo>
                        <a:lnTo>
                          <a:pt x="315" y="413"/>
                        </a:lnTo>
                        <a:lnTo>
                          <a:pt x="0" y="0"/>
                        </a:lnTo>
                        <a:close/>
                      </a:path>
                    </a:pathLst>
                  </a:custGeom>
                  <a:gradFill>
                    <a:gsLst>
                      <a:gs pos="100000">
                        <a:schemeClr val="accent1">
                          <a:lumMod val="60000"/>
                          <a:lumOff val="40000"/>
                        </a:schemeClr>
                      </a:gs>
                      <a:gs pos="0">
                        <a:schemeClr val="accent1">
                          <a:lumMod val="40000"/>
                          <a:lumOff val="60000"/>
                        </a:schemeClr>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29" name="任意多边形 28"/>
                  <p:cNvSpPr/>
                  <p:nvPr/>
                </p:nvSpPr>
                <p:spPr>
                  <a:xfrm>
                    <a:off x="3818" y="4648"/>
                    <a:ext cx="3255" cy="825"/>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3255" h="825">
                        <a:moveTo>
                          <a:pt x="0" y="0"/>
                        </a:moveTo>
                        <a:lnTo>
                          <a:pt x="2939" y="0"/>
                        </a:lnTo>
                        <a:lnTo>
                          <a:pt x="3255" y="413"/>
                        </a:lnTo>
                        <a:lnTo>
                          <a:pt x="2941" y="825"/>
                        </a:lnTo>
                        <a:lnTo>
                          <a:pt x="1" y="825"/>
                        </a:lnTo>
                        <a:lnTo>
                          <a:pt x="315" y="413"/>
                        </a:lnTo>
                        <a:lnTo>
                          <a:pt x="0" y="0"/>
                        </a:lnTo>
                        <a:close/>
                      </a:path>
                    </a:pathLst>
                  </a:custGeom>
                  <a:gradFill>
                    <a:gsLst>
                      <a:gs pos="100000">
                        <a:schemeClr val="accent1">
                          <a:lumMod val="60000"/>
                          <a:lumOff val="40000"/>
                        </a:schemeClr>
                      </a:gs>
                      <a:gs pos="0">
                        <a:schemeClr val="accent1">
                          <a:lumMod val="40000"/>
                          <a:lumOff val="60000"/>
                        </a:schemeClr>
                      </a:gs>
                    </a:gsLst>
                    <a:lin ang="8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微软雅黑" panose="020B0503020204020204" charset="-122"/>
                    </a:endParaRPr>
                  </a:p>
                </p:txBody>
              </p:sp>
              <p:sp>
                <p:nvSpPr>
                  <p:cNvPr id="59" name="任意多边形 58"/>
                  <p:cNvSpPr/>
                  <p:nvPr/>
                </p:nvSpPr>
                <p:spPr>
                  <a:xfrm>
                    <a:off x="981" y="4647"/>
                    <a:ext cx="2786" cy="4840"/>
                  </a:xfrm>
                  <a:custGeom>
                    <a:avLst/>
                    <a:gdLst>
                      <a:gd name="adj" fmla="val 50000"/>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2787" h="4841">
                        <a:moveTo>
                          <a:pt x="1" y="2420"/>
                        </a:moveTo>
                        <a:lnTo>
                          <a:pt x="0" y="2355"/>
                        </a:lnTo>
                        <a:cubicBezTo>
                          <a:pt x="-39" y="1027"/>
                          <a:pt x="1298" y="-31"/>
                          <a:pt x="2363" y="0"/>
                        </a:cubicBezTo>
                        <a:lnTo>
                          <a:pt x="2421" y="1"/>
                        </a:lnTo>
                        <a:lnTo>
                          <a:pt x="2471" y="1"/>
                        </a:lnTo>
                        <a:lnTo>
                          <a:pt x="2786" y="414"/>
                        </a:lnTo>
                        <a:lnTo>
                          <a:pt x="2472" y="825"/>
                        </a:lnTo>
                        <a:lnTo>
                          <a:pt x="2379" y="825"/>
                        </a:lnTo>
                        <a:lnTo>
                          <a:pt x="2341" y="825"/>
                        </a:lnTo>
                        <a:cubicBezTo>
                          <a:pt x="1550" y="799"/>
                          <a:pt x="758" y="1595"/>
                          <a:pt x="784" y="2377"/>
                        </a:cubicBezTo>
                        <a:lnTo>
                          <a:pt x="784" y="2420"/>
                        </a:lnTo>
                        <a:lnTo>
                          <a:pt x="784" y="2458"/>
                        </a:lnTo>
                        <a:cubicBezTo>
                          <a:pt x="758" y="3248"/>
                          <a:pt x="1554" y="4040"/>
                          <a:pt x="2337" y="4015"/>
                        </a:cubicBezTo>
                        <a:lnTo>
                          <a:pt x="2379" y="4014"/>
                        </a:lnTo>
                        <a:lnTo>
                          <a:pt x="2724" y="4014"/>
                        </a:lnTo>
                        <a:lnTo>
                          <a:pt x="2421" y="4412"/>
                        </a:lnTo>
                        <a:lnTo>
                          <a:pt x="2746" y="4839"/>
                        </a:lnTo>
                        <a:lnTo>
                          <a:pt x="2421" y="4839"/>
                        </a:lnTo>
                        <a:lnTo>
                          <a:pt x="2356" y="4840"/>
                        </a:lnTo>
                        <a:cubicBezTo>
                          <a:pt x="1028" y="4879"/>
                          <a:pt x="-31" y="3542"/>
                          <a:pt x="0" y="2478"/>
                        </a:cubicBezTo>
                        <a:lnTo>
                          <a:pt x="1" y="2420"/>
                        </a:lnTo>
                        <a:close/>
                      </a:path>
                    </a:pathLst>
                  </a:custGeom>
                  <a:gradFill>
                    <a:gsLst>
                      <a:gs pos="100000">
                        <a:schemeClr val="accent1"/>
                      </a:gs>
                      <a:gs pos="0">
                        <a:schemeClr val="accent1">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微软雅黑" panose="020B0503020204020204" charset="-122"/>
                    </a:endParaRPr>
                  </a:p>
                </p:txBody>
              </p:sp>
              <p:pic>
                <p:nvPicPr>
                  <p:cNvPr id="82" name="图片 81" descr="齿轮"/>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479" y="6032"/>
                    <a:ext cx="2070" cy="2070"/>
                  </a:xfrm>
                  <a:prstGeom prst="rect">
                    <a:avLst/>
                  </a:prstGeom>
                </p:spPr>
              </p:pic>
              <p:pic>
                <p:nvPicPr>
                  <p:cNvPr id="83" name="图片 82" descr="齿轮"/>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600" y="6032"/>
                    <a:ext cx="2070" cy="2070"/>
                  </a:xfrm>
                  <a:prstGeom prst="rect">
                    <a:avLst/>
                  </a:prstGeom>
                </p:spPr>
              </p:pic>
              <p:pic>
                <p:nvPicPr>
                  <p:cNvPr id="86" name="图片 85" descr="面-齿轮"/>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771" y="6570"/>
                    <a:ext cx="1489" cy="1489"/>
                  </a:xfrm>
                  <a:prstGeom prst="rect">
                    <a:avLst/>
                  </a:prstGeom>
                </p:spPr>
              </p:pic>
              <p:pic>
                <p:nvPicPr>
                  <p:cNvPr id="87" name="图片 86" descr="面-齿轮"/>
                  <p:cNvPicPr>
                    <a:picLocks noChangeAspect="1"/>
                  </p:cNvPicPr>
                  <p:nvPr/>
                </p:nvPicPr>
                <p:blipFill>
                  <a:blip r:embed="rId7">
                    <a:extLst>
                      <a:ext uri="{96DAC541-7B7A-43D3-8B79-37D633B846F1}">
                        <asvg:svgBlip xmlns:asvg="http://schemas.microsoft.com/office/drawing/2016/SVG/main" r:embed="rId9"/>
                      </a:ext>
                    </a:extLst>
                  </a:blip>
                  <a:stretch>
                    <a:fillRect/>
                  </a:stretch>
                </p:blipFill>
                <p:spPr>
                  <a:xfrm>
                    <a:off x="6947" y="6258"/>
                    <a:ext cx="1489" cy="1489"/>
                  </a:xfrm>
                  <a:prstGeom prst="rect">
                    <a:avLst/>
                  </a:prstGeom>
                </p:spPr>
              </p:pic>
              <p:pic>
                <p:nvPicPr>
                  <p:cNvPr id="88" name="图片 87" descr="面-齿轮"/>
                  <p:cNvPicPr>
                    <a:picLocks noChangeAspect="1"/>
                  </p:cNvPicPr>
                  <p:nvPr/>
                </p:nvPicPr>
                <p:blipFill>
                  <a:blip r:embed="rId7">
                    <a:extLst>
                      <a:ext uri="{96DAC541-7B7A-43D3-8B79-37D633B846F1}">
                        <asvg:svgBlip xmlns:asvg="http://schemas.microsoft.com/office/drawing/2016/SVG/main" r:embed="rId10"/>
                      </a:ext>
                    </a:extLst>
                  </a:blip>
                  <a:stretch>
                    <a:fillRect/>
                  </a:stretch>
                </p:blipFill>
                <p:spPr>
                  <a:xfrm>
                    <a:off x="8166" y="6564"/>
                    <a:ext cx="1489" cy="1489"/>
                  </a:xfrm>
                  <a:prstGeom prst="rect">
                    <a:avLst/>
                  </a:prstGeom>
                </p:spPr>
              </p:pic>
              <p:sp>
                <p:nvSpPr>
                  <p:cNvPr id="93" name="等腰三角形 92"/>
                  <p:cNvSpPr/>
                  <p:nvPr/>
                </p:nvSpPr>
                <p:spPr>
                  <a:xfrm rot="5400000">
                    <a:off x="9340" y="5786"/>
                    <a:ext cx="290" cy="303"/>
                  </a:xfrm>
                  <a:prstGeom prst="triangle">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4" name="等腰三角形 93"/>
                  <p:cNvSpPr/>
                  <p:nvPr/>
                </p:nvSpPr>
                <p:spPr>
                  <a:xfrm rot="16200000" flipH="1">
                    <a:off x="4692" y="8052"/>
                    <a:ext cx="290" cy="303"/>
                  </a:xfrm>
                  <a:prstGeom prst="triangle">
                    <a:avLst/>
                  </a:prstGeom>
                  <a:solidFill>
                    <a:schemeClr val="accent5">
                      <a:lumMod val="60000"/>
                      <a:lumOff val="40000"/>
                    </a:schemeClr>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pic>
            <p:nvPicPr>
              <p:cNvPr id="16" name="图片 15" descr="面-齿轮"/>
              <p:cNvPicPr>
                <a:picLocks noChangeAspect="1"/>
              </p:cNvPicPr>
              <p:nvPr/>
            </p:nvPicPr>
            <p:blipFill>
              <a:blip r:embed="rId7">
                <a:extLst>
                  <a:ext uri="{96DAC541-7B7A-43D3-8B79-37D633B846F1}">
                    <asvg:svgBlip xmlns:asvg="http://schemas.microsoft.com/office/drawing/2016/SVG/main" r:embed="rId11"/>
                  </a:ext>
                </a:extLst>
              </a:blip>
              <a:stretch>
                <a:fillRect/>
              </a:stretch>
            </p:blipFill>
            <p:spPr>
              <a:xfrm>
                <a:off x="6404" y="5131"/>
                <a:ext cx="1817" cy="1817"/>
              </a:xfrm>
              <a:prstGeom prst="rect">
                <a:avLst/>
              </a:prstGeom>
            </p:spPr>
          </p:pic>
          <p:grpSp>
            <p:nvGrpSpPr>
              <p:cNvPr id="22" name="组合 21"/>
              <p:cNvGrpSpPr/>
              <p:nvPr/>
            </p:nvGrpSpPr>
            <p:grpSpPr>
              <a:xfrm>
                <a:off x="6843" y="5713"/>
                <a:ext cx="938" cy="654"/>
                <a:chOff x="6860" y="5713"/>
                <a:chExt cx="938" cy="654"/>
              </a:xfrm>
            </p:grpSpPr>
            <p:sp>
              <p:nvSpPr>
                <p:cNvPr id="17" name="椭圆 16"/>
                <p:cNvSpPr/>
                <p:nvPr/>
              </p:nvSpPr>
              <p:spPr>
                <a:xfrm>
                  <a:off x="6990" y="5713"/>
                  <a:ext cx="654" cy="654"/>
                </a:xfrm>
                <a:prstGeom prst="ellipse">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1" name="文本框 20"/>
                <p:cNvSpPr txBox="1"/>
                <p:nvPr/>
              </p:nvSpPr>
              <p:spPr>
                <a:xfrm>
                  <a:off x="6860" y="5816"/>
                  <a:ext cx="938" cy="447"/>
                </a:xfrm>
                <a:prstGeom prst="rect">
                  <a:avLst/>
                </a:prstGeom>
              </p:spPr>
              <p:txBody>
                <a:bodyPr wrap="square">
                  <a:noAutofit/>
                  <a:extLst>
                    <a:ext uri="{4A0BC546-FE56-4ADE-93B0-CB8AF2F6F144}">
                      <wpsdc:textFrameExt xmlns:wpsdc="http://www.wps.cn/officeDocument/2022/drawingmlCustomData" type="text"/>
                    </a:ext>
                  </a:extLs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制度</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23" name="组合 22"/>
              <p:cNvGrpSpPr/>
              <p:nvPr/>
            </p:nvGrpSpPr>
            <p:grpSpPr>
              <a:xfrm>
                <a:off x="8331" y="6094"/>
                <a:ext cx="946" cy="654"/>
                <a:chOff x="6813" y="5749"/>
                <a:chExt cx="946" cy="654"/>
              </a:xfrm>
            </p:grpSpPr>
            <p:sp>
              <p:nvSpPr>
                <p:cNvPr id="24" name="椭圆 23"/>
                <p:cNvSpPr/>
                <p:nvPr/>
              </p:nvSpPr>
              <p:spPr>
                <a:xfrm>
                  <a:off x="6959" y="5749"/>
                  <a:ext cx="654" cy="654"/>
                </a:xfrm>
                <a:prstGeom prst="ellipse">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endParaRPr lang="zh-CN" altLang="en-US">
                    <a:cs typeface="微软雅黑" panose="020B0503020204020204" charset="-122"/>
                  </a:endParaRPr>
                </a:p>
              </p:txBody>
            </p:sp>
            <p:sp>
              <p:nvSpPr>
                <p:cNvPr id="30" name="文本框 29"/>
                <p:cNvSpPr txBox="1"/>
                <p:nvPr/>
              </p:nvSpPr>
              <p:spPr>
                <a:xfrm>
                  <a:off x="6813" y="5872"/>
                  <a:ext cx="946" cy="424"/>
                </a:xfrm>
                <a:prstGeom prst="rect">
                  <a:avLst/>
                </a:prstGeom>
              </p:spPr>
              <p:txBody>
                <a:bodyPr wrap="square" anchor="ctr" anchorCtr="0">
                  <a:noAutofit/>
                  <a:extLst>
                    <a:ext uri="{4A0BC546-FE56-4ADE-93B0-CB8AF2F6F144}">
                      <wpsdc:textFrameExt xmlns:wpsdc="http://www.wps.cn/officeDocument/2022/drawingmlCustomData" type="text"/>
                    </a:ext>
                  </a:extLst>
                </a:bodyPr>
                <a:p>
                  <a:pPr lvl="0" algn="ctr">
                    <a:buClrTx/>
                    <a:buSzTx/>
                    <a:buFontTx/>
                  </a:pPr>
                  <a:r>
                    <a:rPr lang="zh-CN" altLang="en-US" sz="1000">
                      <a:solidFill>
                        <a:schemeClr val="tx2"/>
                      </a:solidFill>
                      <a:latin typeface="微软雅黑" panose="020B0503020204020204" charset="-122"/>
                      <a:ea typeface="微软雅黑" panose="020B0503020204020204" charset="-122"/>
                      <a:cs typeface="微软雅黑" panose="020B0503020204020204" charset="-122"/>
                      <a:sym typeface="+mn-ea"/>
                    </a:rPr>
                    <a:t>流程</a:t>
                  </a:r>
                  <a:endParaRPr lang="zh-CN" altLang="en-US" sz="100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31" name="组合 30"/>
              <p:cNvGrpSpPr/>
              <p:nvPr/>
            </p:nvGrpSpPr>
            <p:grpSpPr>
              <a:xfrm>
                <a:off x="9764" y="5713"/>
                <a:ext cx="950" cy="654"/>
                <a:chOff x="6865" y="5713"/>
                <a:chExt cx="950" cy="654"/>
              </a:xfrm>
            </p:grpSpPr>
            <p:sp>
              <p:nvSpPr>
                <p:cNvPr id="32" name="椭圆 31"/>
                <p:cNvSpPr/>
                <p:nvPr/>
              </p:nvSpPr>
              <p:spPr>
                <a:xfrm>
                  <a:off x="6994" y="5713"/>
                  <a:ext cx="654" cy="654"/>
                </a:xfrm>
                <a:prstGeom prst="ellipse">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endParaRPr lang="zh-CN" altLang="en-US">
                    <a:cs typeface="微软雅黑" panose="020B0503020204020204" charset="-122"/>
                  </a:endParaRPr>
                </a:p>
              </p:txBody>
            </p:sp>
            <p:sp>
              <p:nvSpPr>
                <p:cNvPr id="33" name="文本框 32"/>
                <p:cNvSpPr txBox="1"/>
                <p:nvPr/>
              </p:nvSpPr>
              <p:spPr>
                <a:xfrm>
                  <a:off x="6865" y="5844"/>
                  <a:ext cx="950" cy="391"/>
                </a:xfrm>
                <a:prstGeom prst="rect">
                  <a:avLst/>
                </a:prstGeom>
              </p:spPr>
              <p:txBody>
                <a:bodyPr wrap="square" anchor="ctr" anchorCtr="0">
                  <a:noAutofit/>
                  <a:extLst>
                    <a:ext uri="{4A0BC546-FE56-4ADE-93B0-CB8AF2F6F144}">
                      <wpsdc:textFrameExt xmlns:wpsdc="http://www.wps.cn/officeDocument/2022/drawingmlCustomData" type="text"/>
                    </a:ext>
                  </a:extLs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员工</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34" name="组合 33"/>
              <p:cNvGrpSpPr/>
              <p:nvPr/>
            </p:nvGrpSpPr>
            <p:grpSpPr>
              <a:xfrm>
                <a:off x="11266" y="6086"/>
                <a:ext cx="921" cy="654"/>
                <a:chOff x="6856" y="5733"/>
                <a:chExt cx="921" cy="654"/>
              </a:xfrm>
            </p:grpSpPr>
            <p:sp>
              <p:nvSpPr>
                <p:cNvPr id="35" name="椭圆 34"/>
                <p:cNvSpPr/>
                <p:nvPr/>
              </p:nvSpPr>
              <p:spPr>
                <a:xfrm>
                  <a:off x="6989" y="5733"/>
                  <a:ext cx="654" cy="654"/>
                </a:xfrm>
                <a:prstGeom prst="ellipse">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nchorCtr="0"/>
                <a:p>
                  <a:pPr algn="ctr"/>
                  <a:endParaRPr lang="zh-CN" altLang="en-US">
                    <a:cs typeface="微软雅黑" panose="020B0503020204020204" charset="-122"/>
                  </a:endParaRPr>
                </a:p>
              </p:txBody>
            </p:sp>
            <p:sp>
              <p:nvSpPr>
                <p:cNvPr id="36" name="文本框 35"/>
                <p:cNvSpPr txBox="1"/>
                <p:nvPr/>
              </p:nvSpPr>
              <p:spPr>
                <a:xfrm>
                  <a:off x="6856" y="5825"/>
                  <a:ext cx="921" cy="453"/>
                </a:xfrm>
                <a:prstGeom prst="rect">
                  <a:avLst/>
                </a:prstGeom>
              </p:spPr>
              <p:txBody>
                <a:bodyPr wrap="square" anchor="ctr" anchorCtr="0">
                  <a:spAutoFit/>
                  <a:extLst>
                    <a:ext uri="{4A0BC546-FE56-4ADE-93B0-CB8AF2F6F144}">
                      <wpsdc:textFrameExt xmlns:wpsdc="http://www.wps.cn/officeDocument/2022/drawingmlCustomData" type="text"/>
                    </a:ext>
                  </a:extLs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平台</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grpSp>
        <p:sp>
          <p:nvSpPr>
            <p:cNvPr id="4" name="文本框 3"/>
            <p:cNvSpPr txBox="1"/>
            <p:nvPr/>
          </p:nvSpPr>
          <p:spPr>
            <a:xfrm>
              <a:off x="5505" y="5278"/>
              <a:ext cx="774" cy="380"/>
            </a:xfrm>
            <a:prstGeom prst="rect">
              <a:avLst/>
            </a:prstGeom>
          </p:spPr>
          <p:txBody>
            <a:bodyPr wrap="square">
              <a:noAutofit/>
              <a:extLst>
                <a:ext uri="{4A0BC546-FE56-4ADE-93B0-CB8AF2F6F144}">
                  <wpsdc:textFrameExt xmlns:wpsdc="http://www.wps.cn/officeDocument/2022/drawingmlCustomData" type="text"/>
                </a:ext>
              </a:extLs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战略</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4786" y="5932"/>
              <a:ext cx="757" cy="380"/>
            </a:xfrm>
            <a:prstGeom prst="rect">
              <a:avLst/>
            </a:prstGeom>
          </p:spPr>
          <p:txBody>
            <a:bodyPr wrap="square">
              <a:noAutofit/>
              <a:extLst>
                <a:ext uri="{4A0BC546-FE56-4ADE-93B0-CB8AF2F6F144}">
                  <wpsdc:textFrameExt xmlns:wpsdc="http://www.wps.cn/officeDocument/2022/drawingmlCustomData" type="text"/>
                </a:ext>
              </a:extLs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目标</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 name="文本框 7"/>
            <p:cNvSpPr txBox="1"/>
            <p:nvPr/>
          </p:nvSpPr>
          <p:spPr>
            <a:xfrm>
              <a:off x="6307" y="5932"/>
              <a:ext cx="757" cy="380"/>
            </a:xfrm>
            <a:prstGeom prst="rect">
              <a:avLst/>
            </a:prstGeom>
          </p:spPr>
          <p:txBody>
            <a:bodyPr wrap="square">
              <a:noAutofit/>
              <a:extLst>
                <a:ext uri="{4A0BC546-FE56-4ADE-93B0-CB8AF2F6F144}">
                  <wpsdc:textFrameExt xmlns:wpsdc="http://www.wps.cn/officeDocument/2022/drawingmlCustomData" type="text"/>
                </a:ext>
              </a:extLs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规划</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 name="文本框 8"/>
            <p:cNvSpPr txBox="1"/>
            <p:nvPr/>
          </p:nvSpPr>
          <p:spPr>
            <a:xfrm>
              <a:off x="5505" y="6567"/>
              <a:ext cx="774" cy="380"/>
            </a:xfrm>
            <a:prstGeom prst="rect">
              <a:avLst/>
            </a:prstGeom>
          </p:spPr>
          <p:txBody>
            <a:bodyPr wrap="square">
              <a:noAutofit/>
              <a:extLst>
                <a:ext uri="{4A0BC546-FE56-4ADE-93B0-CB8AF2F6F144}">
                  <wpsdc:textFrameExt xmlns:wpsdc="http://www.wps.cn/officeDocument/2022/drawingmlCustomData" type="text"/>
                </a:ext>
              </a:extLs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愿景</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 name="文本框 10"/>
            <p:cNvSpPr txBox="1"/>
            <p:nvPr/>
          </p:nvSpPr>
          <p:spPr>
            <a:xfrm>
              <a:off x="5395" y="5735"/>
              <a:ext cx="1020" cy="741"/>
            </a:xfrm>
            <a:prstGeom prst="rect">
              <a:avLst/>
            </a:prstGeom>
          </p:spPr>
          <p:txBody>
            <a:bodyPr wrap="square">
              <a:noAutofit/>
              <a:extLst>
                <a:ext uri="{4A0BC546-FE56-4ADE-93B0-CB8AF2F6F144}">
                  <wpsdc:textFrameExt xmlns:wpsdc="http://www.wps.cn/officeDocument/2022/drawingmlCustomData" type="text"/>
                </a:ext>
              </a:extLst>
            </a:bodyPr>
            <a:p>
              <a:pPr algn="ct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战略</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a:p>
              <a:pPr algn="ctr"/>
              <a:r>
                <a:rPr lang="zh-CN" altLang="en-US" sz="1200" b="1">
                  <a:solidFill>
                    <a:schemeClr val="accent1"/>
                  </a:solidFill>
                  <a:latin typeface="微软雅黑" panose="020B0503020204020204" charset="-122"/>
                  <a:ea typeface="微软雅黑" panose="020B0503020204020204" charset="-122"/>
                  <a:cs typeface="微软雅黑" panose="020B0503020204020204" charset="-122"/>
                </a:rPr>
                <a:t>价值</a:t>
              </a:r>
              <a:endParaRPr lang="zh-CN" altLang="en-US" sz="1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12922" y="5278"/>
              <a:ext cx="774" cy="380"/>
            </a:xfrm>
            <a:prstGeom prst="rect">
              <a:avLst/>
            </a:prstGeom>
          </p:spPr>
          <p:txBody>
            <a:bodyPr wrap="square">
              <a:noAutofit/>
              <a:extLst>
                <a:ext uri="{4A0BC546-FE56-4ADE-93B0-CB8AF2F6F144}">
                  <wpsdc:textFrameExt xmlns:wpsdc="http://www.wps.cn/officeDocument/2022/drawingmlCustomData" type="text"/>
                </a:ext>
              </a:extLs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业务</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12203" y="5932"/>
              <a:ext cx="757" cy="380"/>
            </a:xfrm>
            <a:prstGeom prst="rect">
              <a:avLst/>
            </a:prstGeom>
          </p:spPr>
          <p:txBody>
            <a:bodyPr wrap="square">
              <a:noAutofit/>
              <a:extLst>
                <a:ext uri="{4A0BC546-FE56-4ADE-93B0-CB8AF2F6F144}">
                  <wpsdc:textFrameExt xmlns:wpsdc="http://www.wps.cn/officeDocument/2022/drawingmlCustomData" type="text"/>
                </a:ext>
              </a:extLs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数据</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nvSpPr>
          <p:spPr>
            <a:xfrm>
              <a:off x="13723" y="5932"/>
              <a:ext cx="757" cy="380"/>
            </a:xfrm>
            <a:prstGeom prst="rect">
              <a:avLst/>
            </a:prstGeom>
          </p:spPr>
          <p:txBody>
            <a:bodyPr wrap="square">
              <a:noAutofit/>
              <a:extLst>
                <a:ext uri="{4A0BC546-FE56-4ADE-93B0-CB8AF2F6F144}">
                  <wpsdc:textFrameExt xmlns:wpsdc="http://www.wps.cn/officeDocument/2022/drawingmlCustomData" type="text"/>
                </a:ext>
              </a:extLs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创新</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a:off x="12922" y="6567"/>
              <a:ext cx="774" cy="380"/>
            </a:xfrm>
            <a:prstGeom prst="rect">
              <a:avLst/>
            </a:prstGeom>
          </p:spPr>
          <p:txBody>
            <a:bodyPr wrap="square">
              <a:noAutofit/>
              <a:extLst>
                <a:ext uri="{4A0BC546-FE56-4ADE-93B0-CB8AF2F6F144}">
                  <wpsdc:textFrameExt xmlns:wpsdc="http://www.wps.cn/officeDocument/2022/drawingmlCustomData" type="text"/>
                </a:ext>
              </a:extLs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技术</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12811" y="5735"/>
              <a:ext cx="1020" cy="741"/>
            </a:xfrm>
            <a:prstGeom prst="rect">
              <a:avLst/>
            </a:prstGeom>
          </p:spPr>
          <p:txBody>
            <a:bodyPr wrap="square">
              <a:noAutofit/>
              <a:extLst>
                <a:ext uri="{4A0BC546-FE56-4ADE-93B0-CB8AF2F6F144}">
                  <wpsdc:textFrameExt xmlns:wpsdc="http://www.wps.cn/officeDocument/2022/drawingmlCustomData" type="text"/>
                </a:ext>
              </a:extLst>
            </a:bodyPr>
            <a:p>
              <a:pPr algn="ct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数字</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a:p>
              <a:pPr algn="ct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能力</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6" name="矩形 75"/>
            <p:cNvSpPr/>
            <p:nvPr/>
          </p:nvSpPr>
          <p:spPr>
            <a:xfrm>
              <a:off x="8581" y="4744"/>
              <a:ext cx="1481" cy="40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solidFill>
                    <a:schemeClr val="accent1">
                      <a:lumMod val="60000"/>
                      <a:lumOff val="40000"/>
                    </a:schemeClr>
                  </a:solidFill>
                  <a:cs typeface="微软雅黑" panose="020B0503020204020204" charset="-122"/>
                </a:rPr>
                <a:t>双轮驱动</a:t>
              </a:r>
              <a:endParaRPr lang="zh-CN" altLang="en-US" sz="1400" b="1">
                <a:solidFill>
                  <a:schemeClr val="accent1">
                    <a:lumMod val="60000"/>
                    <a:lumOff val="40000"/>
                  </a:schemeClr>
                </a:solidFill>
                <a:cs typeface="微软雅黑" panose="020B0503020204020204" charset="-122"/>
              </a:endParaRPr>
            </a:p>
          </p:txBody>
        </p:sp>
        <p:sp>
          <p:nvSpPr>
            <p:cNvPr id="84" name="矩形 83"/>
            <p:cNvSpPr/>
            <p:nvPr/>
          </p:nvSpPr>
          <p:spPr>
            <a:xfrm>
              <a:off x="10173" y="7134"/>
              <a:ext cx="1481" cy="402"/>
            </a:xfrm>
            <a:prstGeom prst="rect">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solidFill>
                    <a:schemeClr val="accent5">
                      <a:lumMod val="60000"/>
                      <a:lumOff val="40000"/>
                    </a:schemeClr>
                  </a:solidFill>
                  <a:cs typeface="微软雅黑" panose="020B0503020204020204" charset="-122"/>
                </a:rPr>
                <a:t>变革推进</a:t>
              </a:r>
              <a:endParaRPr lang="zh-CN" altLang="en-US" sz="1400" b="1">
                <a:solidFill>
                  <a:schemeClr val="accent5">
                    <a:lumMod val="60000"/>
                    <a:lumOff val="40000"/>
                  </a:schemeClr>
                </a:solidFill>
                <a:cs typeface="微软雅黑" panose="020B0503020204020204" charset="-122"/>
              </a:endParaRPr>
            </a:p>
          </p:txBody>
        </p:sp>
        <p:sp>
          <p:nvSpPr>
            <p:cNvPr id="85" name="文本框 84"/>
            <p:cNvSpPr txBox="1"/>
            <p:nvPr/>
          </p:nvSpPr>
          <p:spPr>
            <a:xfrm>
              <a:off x="6547" y="3711"/>
              <a:ext cx="2730" cy="668"/>
            </a:xfrm>
            <a:prstGeom prst="rect">
              <a:avLst/>
            </a:prstGeom>
          </p:spPr>
          <p:txBody>
            <a:bodyPr wrap="square" anchor="ctr" anchorCtr="0">
              <a:noAutofit/>
              <a:extLst>
                <a:ext uri="{4A0BC546-FE56-4ADE-93B0-CB8AF2F6F144}">
                  <wpsdc:textFrameExt xmlns:wpsdc="http://www.wps.cn/officeDocument/2022/drawingmlCustomData" type="text"/>
                </a:ext>
              </a:extLst>
            </a:bodyPr>
            <a:p>
              <a:pPr algn="ctr"/>
              <a:r>
                <a:rPr lang="zh-CN" altLang="en-US" sz="1000" b="1">
                  <a:solidFill>
                    <a:schemeClr val="bg1"/>
                  </a:solidFill>
                  <a:latin typeface="微软雅黑" panose="020B0503020204020204" charset="-122"/>
                  <a:ea typeface="微软雅黑" panose="020B0503020204020204" charset="-122"/>
                  <a:cs typeface="微软雅黑" panose="020B0503020204020204" charset="-122"/>
                </a:rPr>
                <a:t>强化企业人力资源管控</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000" b="1">
                  <a:solidFill>
                    <a:schemeClr val="bg1"/>
                  </a:solidFill>
                  <a:latin typeface="微软雅黑" panose="020B0503020204020204" charset="-122"/>
                  <a:ea typeface="微软雅黑" panose="020B0503020204020204" charset="-122"/>
                  <a:cs typeface="微软雅黑" panose="020B0503020204020204" charset="-122"/>
                </a:rPr>
                <a:t>决策能力</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9" name="文本框 88"/>
            <p:cNvSpPr txBox="1"/>
            <p:nvPr/>
          </p:nvSpPr>
          <p:spPr>
            <a:xfrm>
              <a:off x="10045" y="3711"/>
              <a:ext cx="2730" cy="668"/>
            </a:xfrm>
            <a:prstGeom prst="rect">
              <a:avLst/>
            </a:prstGeom>
          </p:spPr>
          <p:txBody>
            <a:bodyPr wrap="square" anchor="ctr" anchorCtr="0">
              <a:noAutofit/>
              <a:extLst>
                <a:ext uri="{4A0BC546-FE56-4ADE-93B0-CB8AF2F6F144}">
                  <wpsdc:textFrameExt xmlns:wpsdc="http://www.wps.cn/officeDocument/2022/drawingmlCustomData" type="text"/>
                </a:ext>
              </a:extLst>
            </a:bodyPr>
            <a:p>
              <a:pPr algn="ctr"/>
              <a:r>
                <a:rPr lang="zh-CN" altLang="en-US" sz="1000" b="1">
                  <a:solidFill>
                    <a:schemeClr val="bg1"/>
                  </a:solidFill>
                  <a:latin typeface="微软雅黑" panose="020B0503020204020204" charset="-122"/>
                  <a:ea typeface="微软雅黑" panose="020B0503020204020204" charset="-122"/>
                  <a:cs typeface="微软雅黑" panose="020B0503020204020204" charset="-122"/>
                </a:rPr>
                <a:t>全面提升人力资源运营</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000" b="1">
                  <a:solidFill>
                    <a:schemeClr val="bg1"/>
                  </a:solidFill>
                  <a:latin typeface="微软雅黑" panose="020B0503020204020204" charset="-122"/>
                  <a:ea typeface="微软雅黑" panose="020B0503020204020204" charset="-122"/>
                  <a:cs typeface="微软雅黑" panose="020B0503020204020204" charset="-122"/>
                </a:rPr>
                <a:t>管理水平</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6" name="文本框 95"/>
            <p:cNvSpPr txBox="1"/>
            <p:nvPr/>
          </p:nvSpPr>
          <p:spPr>
            <a:xfrm>
              <a:off x="6547" y="7870"/>
              <a:ext cx="2730" cy="668"/>
            </a:xfrm>
            <a:prstGeom prst="rect">
              <a:avLst/>
            </a:prstGeom>
          </p:spPr>
          <p:txBody>
            <a:bodyPr wrap="square" anchor="ctr" anchorCtr="0">
              <a:noAutofit/>
              <a:extLst>
                <a:ext uri="{4A0BC546-FE56-4ADE-93B0-CB8AF2F6F144}">
                  <wpsdc:textFrameExt xmlns:wpsdc="http://www.wps.cn/officeDocument/2022/drawingmlCustomData" type="text"/>
                </a:ext>
              </a:extLst>
            </a:bodyPr>
            <a:p>
              <a:pPr algn="ctr"/>
              <a:r>
                <a:rPr lang="zh-CN" altLang="en-US" sz="1000" b="1">
                  <a:solidFill>
                    <a:schemeClr val="bg1"/>
                  </a:solidFill>
                  <a:latin typeface="微软雅黑" panose="020B0503020204020204" charset="-122"/>
                  <a:ea typeface="微软雅黑" panose="020B0503020204020204" charset="-122"/>
                  <a:cs typeface="微软雅黑" panose="020B0503020204020204" charset="-122"/>
                </a:rPr>
                <a:t>提升管理者和员工</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000" b="1">
                  <a:solidFill>
                    <a:schemeClr val="bg1"/>
                  </a:solidFill>
                  <a:latin typeface="微软雅黑" panose="020B0503020204020204" charset="-122"/>
                  <a:ea typeface="微软雅黑" panose="020B0503020204020204" charset="-122"/>
                  <a:cs typeface="微软雅黑" panose="020B0503020204020204" charset="-122"/>
                </a:rPr>
                <a:t>服务满意度</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7" name="文本框 96"/>
            <p:cNvSpPr txBox="1"/>
            <p:nvPr/>
          </p:nvSpPr>
          <p:spPr>
            <a:xfrm>
              <a:off x="10045" y="7870"/>
              <a:ext cx="2730" cy="668"/>
            </a:xfrm>
            <a:prstGeom prst="rect">
              <a:avLst/>
            </a:prstGeom>
          </p:spPr>
          <p:txBody>
            <a:bodyPr wrap="square" anchor="ctr" anchorCtr="0">
              <a:noAutofit/>
              <a:extLst>
                <a:ext uri="{4A0BC546-FE56-4ADE-93B0-CB8AF2F6F144}">
                  <wpsdc:textFrameExt xmlns:wpsdc="http://www.wps.cn/officeDocument/2022/drawingmlCustomData" type="text"/>
                </a:ext>
              </a:extLst>
            </a:bodyPr>
            <a:p>
              <a:pPr algn="ctr"/>
              <a:r>
                <a:rPr lang="zh-CN" altLang="en-US" sz="1000" b="1">
                  <a:solidFill>
                    <a:schemeClr val="bg1"/>
                  </a:solidFill>
                  <a:latin typeface="微软雅黑" panose="020B0503020204020204" charset="-122"/>
                  <a:ea typeface="微软雅黑" panose="020B0503020204020204" charset="-122"/>
                  <a:cs typeface="微软雅黑" panose="020B0503020204020204" charset="-122"/>
                </a:rPr>
                <a:t>推进企业整体人力资源</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altLang="en-US" sz="1000" b="1">
                  <a:solidFill>
                    <a:schemeClr val="bg1"/>
                  </a:solidFill>
                  <a:latin typeface="微软雅黑" panose="020B0503020204020204" charset="-122"/>
                  <a:ea typeface="微软雅黑" panose="020B0503020204020204" charset="-122"/>
                  <a:cs typeface="微软雅黑" panose="020B0503020204020204" charset="-122"/>
                </a:rPr>
                <a:t>数字化建设</a:t>
              </a:r>
              <a:endParaRPr lang="zh-CN" altLang="en-US" sz="1000" b="1">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261" name="组合 260"/>
            <p:cNvGrpSpPr/>
            <p:nvPr/>
          </p:nvGrpSpPr>
          <p:grpSpPr>
            <a:xfrm>
              <a:off x="3363" y="3853"/>
              <a:ext cx="4674" cy="4529"/>
              <a:chOff x="24399" y="-3408"/>
              <a:chExt cx="4674" cy="4529"/>
            </a:xfrm>
          </p:grpSpPr>
          <p:sp>
            <p:nvSpPr>
              <p:cNvPr id="251" name="文本框 250"/>
              <p:cNvSpPr txBox="1"/>
              <p:nvPr/>
            </p:nvSpPr>
            <p:spPr>
              <a:xfrm>
                <a:off x="25779" y="636"/>
                <a:ext cx="988" cy="485"/>
              </a:xfrm>
              <a:prstGeom prst="rect">
                <a:avLst/>
              </a:prstGeom>
            </p:spPr>
            <p:txBody>
              <a:bodyPr wrap="square" anchor="ctr" anchorCtr="0">
                <a:noAutofit/>
                <a:extLst>
                  <a:ext uri="{4A0BC546-FE56-4ADE-93B0-CB8AF2F6F144}">
                    <wpsdc:textFrameExt xmlns:wpsdc="http://www.wps.cn/officeDocument/2022/drawingmlCustomData" type="text"/>
                  </a:ext>
                </a:extLst>
              </a:bodyPr>
              <a:p>
                <a:pPr algn="ct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价值</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52" name="文本框 251"/>
              <p:cNvSpPr txBox="1"/>
              <p:nvPr/>
            </p:nvSpPr>
            <p:spPr>
              <a:xfrm>
                <a:off x="24459" y="-446"/>
                <a:ext cx="988" cy="485"/>
              </a:xfrm>
              <a:prstGeom prst="rect">
                <a:avLst/>
              </a:prstGeom>
            </p:spPr>
            <p:txBody>
              <a:bodyPr wrap="square" anchor="ctr" anchorCtr="0">
                <a:noAutofit/>
                <a:extLst>
                  <a:ext uri="{4A0BC546-FE56-4ADE-93B0-CB8AF2F6F144}">
                    <wpsdc:textFrameExt xmlns:wpsdc="http://www.wps.cn/officeDocument/2022/drawingmlCustomData" type="text"/>
                  </a:ext>
                </a:extLst>
              </a:bodyPr>
              <a:p>
                <a:pPr algn="ct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变革</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53" name="文本框 252"/>
              <p:cNvSpPr txBox="1"/>
              <p:nvPr/>
            </p:nvSpPr>
            <p:spPr>
              <a:xfrm>
                <a:off x="24399" y="-2165"/>
                <a:ext cx="988" cy="485"/>
              </a:xfrm>
              <a:prstGeom prst="rect">
                <a:avLst/>
              </a:prstGeom>
            </p:spPr>
            <p:txBody>
              <a:bodyPr wrap="square" anchor="ctr" anchorCtr="0">
                <a:noAutofit/>
                <a:extLst>
                  <a:ext uri="{4A0BC546-FE56-4ADE-93B0-CB8AF2F6F144}">
                    <wpsdc:textFrameExt xmlns:wpsdc="http://www.wps.cn/officeDocument/2022/drawingmlCustomData" type="text"/>
                  </a:ext>
                </a:extLst>
              </a:bodyPr>
              <a:p>
                <a:pPr algn="ct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驱动</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54" name="文本框 253"/>
              <p:cNvSpPr txBox="1"/>
              <p:nvPr/>
            </p:nvSpPr>
            <p:spPr>
              <a:xfrm>
                <a:off x="25955" y="-3408"/>
                <a:ext cx="988" cy="485"/>
              </a:xfrm>
              <a:prstGeom prst="rect">
                <a:avLst/>
              </a:prstGeom>
            </p:spPr>
            <p:txBody>
              <a:bodyPr wrap="square" anchor="ctr" anchorCtr="0">
                <a:noAutofit/>
                <a:extLst>
                  <a:ext uri="{4A0BC546-FE56-4ADE-93B0-CB8AF2F6F144}">
                    <wpsdc:textFrameExt xmlns:wpsdc="http://www.wps.cn/officeDocument/2022/drawingmlCustomData" type="text"/>
                  </a:ext>
                </a:extLst>
              </a:bodyPr>
              <a:p>
                <a:pPr algn="ct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业务</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57" name="弧形 256"/>
              <p:cNvSpPr/>
              <p:nvPr/>
            </p:nvSpPr>
            <p:spPr>
              <a:xfrm>
                <a:off x="24726" y="-3271"/>
                <a:ext cx="4347" cy="4303"/>
              </a:xfrm>
              <a:prstGeom prst="arc">
                <a:avLst>
                  <a:gd name="adj1" fmla="val 7082432"/>
                  <a:gd name="adj2" fmla="val 8832058"/>
                </a:avLst>
              </a:prstGeom>
              <a:ln>
                <a:solidFill>
                  <a:schemeClr val="bg1"/>
                </a:solidFill>
                <a:prstDash val="dash"/>
                <a:tailEnd type="triangle"/>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58" name="弧形 257"/>
              <p:cNvSpPr/>
              <p:nvPr/>
            </p:nvSpPr>
            <p:spPr>
              <a:xfrm>
                <a:off x="24726" y="-3271"/>
                <a:ext cx="4347" cy="4303"/>
              </a:xfrm>
              <a:prstGeom prst="arc">
                <a:avLst>
                  <a:gd name="adj1" fmla="val 9688408"/>
                  <a:gd name="adj2" fmla="val 11689059"/>
                </a:avLst>
              </a:prstGeom>
              <a:ln>
                <a:solidFill>
                  <a:schemeClr val="bg1"/>
                </a:solidFill>
                <a:prstDash val="dash"/>
                <a:tailEnd type="triangle"/>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59" name="弧形 258"/>
              <p:cNvSpPr/>
              <p:nvPr/>
            </p:nvSpPr>
            <p:spPr>
              <a:xfrm>
                <a:off x="24726" y="-3271"/>
                <a:ext cx="4347" cy="4303"/>
              </a:xfrm>
              <a:prstGeom prst="arc">
                <a:avLst>
                  <a:gd name="adj1" fmla="val 12530004"/>
                  <a:gd name="adj2" fmla="val 14772534"/>
                </a:avLst>
              </a:prstGeom>
              <a:ln>
                <a:solidFill>
                  <a:schemeClr val="bg1"/>
                </a:solidFill>
                <a:prstDash val="dash"/>
                <a:tailEnd type="triangle"/>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grpSp>
          <p:nvGrpSpPr>
            <p:cNvPr id="262" name="组合 261"/>
            <p:cNvGrpSpPr/>
            <p:nvPr/>
          </p:nvGrpSpPr>
          <p:grpSpPr>
            <a:xfrm flipH="1">
              <a:off x="11307" y="3853"/>
              <a:ext cx="4674" cy="4502"/>
              <a:chOff x="24399" y="-3408"/>
              <a:chExt cx="4674" cy="4502"/>
            </a:xfrm>
          </p:grpSpPr>
          <p:sp>
            <p:nvSpPr>
              <p:cNvPr id="263" name="文本框 262"/>
              <p:cNvSpPr txBox="1"/>
              <p:nvPr/>
            </p:nvSpPr>
            <p:spPr>
              <a:xfrm>
                <a:off x="25780" y="609"/>
                <a:ext cx="988" cy="485"/>
              </a:xfrm>
              <a:prstGeom prst="rect">
                <a:avLst/>
              </a:prstGeom>
            </p:spPr>
            <p:txBody>
              <a:bodyPr wrap="square" anchor="ctr" anchorCtr="0">
                <a:noAutofit/>
                <a:extLst>
                  <a:ext uri="{4A0BC546-FE56-4ADE-93B0-CB8AF2F6F144}">
                    <wpsdc:textFrameExt xmlns:wpsdc="http://www.wps.cn/officeDocument/2022/drawingmlCustomData" type="text"/>
                  </a:ext>
                </a:extLst>
              </a:bodyPr>
              <a:p>
                <a:pPr algn="ct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创新</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64" name="文本框 263"/>
              <p:cNvSpPr txBox="1"/>
              <p:nvPr/>
            </p:nvSpPr>
            <p:spPr>
              <a:xfrm>
                <a:off x="24459" y="-446"/>
                <a:ext cx="988" cy="485"/>
              </a:xfrm>
              <a:prstGeom prst="rect">
                <a:avLst/>
              </a:prstGeom>
            </p:spPr>
            <p:txBody>
              <a:bodyPr wrap="square" anchor="ctr" anchorCtr="0">
                <a:noAutofit/>
                <a:extLst>
                  <a:ext uri="{4A0BC546-FE56-4ADE-93B0-CB8AF2F6F144}">
                    <wpsdc:textFrameExt xmlns:wpsdc="http://www.wps.cn/officeDocument/2022/drawingmlCustomData" type="text"/>
                  </a:ext>
                </a:extLst>
              </a:bodyPr>
              <a:p>
                <a:pPr algn="ct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驱动</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65" name="文本框 264"/>
              <p:cNvSpPr txBox="1"/>
              <p:nvPr/>
            </p:nvSpPr>
            <p:spPr>
              <a:xfrm>
                <a:off x="24399" y="-2165"/>
                <a:ext cx="988" cy="485"/>
              </a:xfrm>
              <a:prstGeom prst="rect">
                <a:avLst/>
              </a:prstGeom>
            </p:spPr>
            <p:txBody>
              <a:bodyPr wrap="square" anchor="ctr" anchorCtr="0">
                <a:noAutofit/>
                <a:extLst>
                  <a:ext uri="{4A0BC546-FE56-4ADE-93B0-CB8AF2F6F144}">
                    <wpsdc:textFrameExt xmlns:wpsdc="http://www.wps.cn/officeDocument/2022/drawingmlCustomData" type="text"/>
                  </a:ext>
                </a:extLst>
              </a:bodyPr>
              <a:p>
                <a:pPr algn="ct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平台</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66" name="文本框 265"/>
              <p:cNvSpPr txBox="1"/>
              <p:nvPr/>
            </p:nvSpPr>
            <p:spPr>
              <a:xfrm>
                <a:off x="25955" y="-3408"/>
                <a:ext cx="988" cy="485"/>
              </a:xfrm>
              <a:prstGeom prst="rect">
                <a:avLst/>
              </a:prstGeom>
            </p:spPr>
            <p:txBody>
              <a:bodyPr wrap="square" anchor="ctr" anchorCtr="0">
                <a:noAutofit/>
                <a:extLst>
                  <a:ext uri="{4A0BC546-FE56-4ADE-93B0-CB8AF2F6F144}">
                    <wpsdc:textFrameExt xmlns:wpsdc="http://www.wps.cn/officeDocument/2022/drawingmlCustomData" type="text"/>
                  </a:ext>
                </a:extLst>
              </a:bodyPr>
              <a:p>
                <a:pPr algn="ctr"/>
                <a:r>
                  <a:rPr lang="zh-CN" altLang="en-US" sz="1200" b="1">
                    <a:solidFill>
                      <a:schemeClr val="bg1"/>
                    </a:solidFill>
                    <a:latin typeface="微软雅黑" panose="020B0503020204020204" charset="-122"/>
                    <a:ea typeface="微软雅黑" panose="020B0503020204020204" charset="-122"/>
                    <a:cs typeface="微软雅黑" panose="020B0503020204020204" charset="-122"/>
                  </a:rPr>
                  <a:t>数据</a:t>
                </a:r>
                <a:endParaRPr lang="zh-CN" altLang="en-US" sz="12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67" name="弧形 266"/>
              <p:cNvSpPr/>
              <p:nvPr/>
            </p:nvSpPr>
            <p:spPr>
              <a:xfrm>
                <a:off x="24726" y="-3271"/>
                <a:ext cx="4347" cy="4303"/>
              </a:xfrm>
              <a:prstGeom prst="arc">
                <a:avLst>
                  <a:gd name="adj1" fmla="val 7082432"/>
                  <a:gd name="adj2" fmla="val 8832058"/>
                </a:avLst>
              </a:prstGeom>
              <a:ln>
                <a:solidFill>
                  <a:schemeClr val="bg1"/>
                </a:solidFill>
                <a:prstDash val="dash"/>
                <a:headEnd type="triangle"/>
                <a:tailEnd type="none"/>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68" name="弧形 267"/>
              <p:cNvSpPr/>
              <p:nvPr/>
            </p:nvSpPr>
            <p:spPr>
              <a:xfrm>
                <a:off x="24726" y="-3271"/>
                <a:ext cx="4347" cy="4303"/>
              </a:xfrm>
              <a:prstGeom prst="arc">
                <a:avLst>
                  <a:gd name="adj1" fmla="val 9688408"/>
                  <a:gd name="adj2" fmla="val 11689059"/>
                </a:avLst>
              </a:prstGeom>
              <a:ln>
                <a:solidFill>
                  <a:schemeClr val="bg1"/>
                </a:solidFill>
                <a:prstDash val="dash"/>
                <a:headEnd type="triangle"/>
                <a:tailEnd type="none"/>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69" name="弧形 268"/>
              <p:cNvSpPr/>
              <p:nvPr/>
            </p:nvSpPr>
            <p:spPr>
              <a:xfrm>
                <a:off x="24726" y="-3271"/>
                <a:ext cx="4347" cy="4303"/>
              </a:xfrm>
              <a:prstGeom prst="arc">
                <a:avLst>
                  <a:gd name="adj1" fmla="val 12530004"/>
                  <a:gd name="adj2" fmla="val 14772534"/>
                </a:avLst>
              </a:prstGeom>
              <a:ln>
                <a:solidFill>
                  <a:schemeClr val="bg1"/>
                </a:solidFill>
                <a:prstDash val="dash"/>
                <a:headEnd type="triangle"/>
                <a:tailEnd type="none"/>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grpSp>
          <p:nvGrpSpPr>
            <p:cNvPr id="62" name="组合 61"/>
            <p:cNvGrpSpPr/>
            <p:nvPr/>
          </p:nvGrpSpPr>
          <p:grpSpPr>
            <a:xfrm flipH="1">
              <a:off x="10253" y="2785"/>
              <a:ext cx="6823" cy="6604"/>
              <a:chOff x="512572" y="1536781"/>
              <a:chExt cx="4332613" cy="4193488"/>
            </a:xfrm>
          </p:grpSpPr>
          <p:sp>
            <p:nvSpPr>
              <p:cNvPr id="98" name="椭圆 97"/>
              <p:cNvSpPr/>
              <p:nvPr/>
            </p:nvSpPr>
            <p:spPr>
              <a:xfrm>
                <a:off x="651697" y="1536781"/>
                <a:ext cx="4193488" cy="4193488"/>
              </a:xfrm>
              <a:prstGeom prst="ellipse">
                <a:avLst/>
              </a:prstGeom>
              <a:noFill/>
              <a:ln w="31750">
                <a:gradFill flip="none" rotWithShape="1">
                  <a:gsLst>
                    <a:gs pos="76000">
                      <a:schemeClr val="bg2">
                        <a:alpha val="0"/>
                      </a:schemeClr>
                    </a:gs>
                    <a:gs pos="100000">
                      <a:schemeClr val="accent1"/>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99" name="三角形 36"/>
              <p:cNvSpPr>
                <a:spLocks noChangeAspect="1"/>
              </p:cNvSpPr>
              <p:nvPr/>
            </p:nvSpPr>
            <p:spPr>
              <a:xfrm flipV="1">
                <a:off x="512572" y="3425668"/>
                <a:ext cx="273081" cy="235414"/>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grpSp>
      </p:grpSp>
      <p:sp>
        <p:nvSpPr>
          <p:cNvPr id="113" name="矩形: 圆角 713"/>
          <p:cNvSpPr/>
          <p:nvPr/>
        </p:nvSpPr>
        <p:spPr>
          <a:xfrm>
            <a:off x="434975" y="5567045"/>
            <a:ext cx="11409680" cy="871220"/>
          </a:xfrm>
          <a:prstGeom prst="roundRect">
            <a:avLst>
              <a:gd name="adj" fmla="val 0"/>
            </a:avLst>
          </a:prstGeom>
          <a:gradFill>
            <a:gsLst>
              <a:gs pos="100000">
                <a:schemeClr val="accent1">
                  <a:lumMod val="60000"/>
                  <a:lumOff val="40000"/>
                </a:schemeClr>
              </a:gs>
              <a:gs pos="0">
                <a:schemeClr val="accent1"/>
              </a:gs>
            </a:gsLst>
            <a:lin ang="0" scaled="0"/>
          </a:gradFill>
          <a:ln>
            <a:no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1" name="梯形 120"/>
          <p:cNvSpPr/>
          <p:nvPr/>
        </p:nvSpPr>
        <p:spPr>
          <a:xfrm>
            <a:off x="434975" y="5130800"/>
            <a:ext cx="11409680" cy="436245"/>
          </a:xfrm>
          <a:prstGeom prst="trapezoid">
            <a:avLst>
              <a:gd name="adj" fmla="val 125223"/>
            </a:avLst>
          </a:prstGeom>
          <a:gradFill>
            <a:gsLst>
              <a:gs pos="0">
                <a:schemeClr val="accent1">
                  <a:lumMod val="60000"/>
                  <a:lumOff val="40000"/>
                  <a:alpha val="0"/>
                </a:schemeClr>
              </a:gs>
              <a:gs pos="100000">
                <a:schemeClr val="accent1">
                  <a:lumMod val="60000"/>
                  <a:lumOff val="40000"/>
                  <a:alpha val="50000"/>
                </a:schemeClr>
              </a:gs>
            </a:gsLst>
          </a:gradFill>
        </p:spPr>
        <p:style>
          <a:lnRef idx="0">
            <a:srgbClr val="FFFFFF"/>
          </a:lnRef>
          <a:fillRef idx="2">
            <a:schemeClr val="accent1"/>
          </a:fillRef>
          <a:effectRef idx="0">
            <a:srgbClr val="FFFFFF"/>
          </a:effectRef>
          <a:fontRef idx="minor">
            <a:schemeClr val="dk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nvGrpSpPr>
          <p:cNvPr id="126" name="组合 125"/>
          <p:cNvGrpSpPr/>
          <p:nvPr/>
        </p:nvGrpSpPr>
        <p:grpSpPr>
          <a:xfrm>
            <a:off x="776605" y="5756910"/>
            <a:ext cx="2232025" cy="491490"/>
            <a:chOff x="1008" y="8993"/>
            <a:chExt cx="3515" cy="774"/>
          </a:xfrm>
        </p:grpSpPr>
        <p:sp>
          <p:nvSpPr>
            <p:cNvPr id="124" name="圆角矩形 123"/>
            <p:cNvSpPr/>
            <p:nvPr/>
          </p:nvSpPr>
          <p:spPr>
            <a:xfrm>
              <a:off x="1008" y="9148"/>
              <a:ext cx="1096" cy="464"/>
            </a:xfrm>
            <a:prstGeom prst="roundRect">
              <a:avLst/>
            </a:prstGeom>
            <a:no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技术</a:t>
              </a:r>
              <a:endParaRPr lang="zh-CN" altLang="en-US" sz="1400" b="1">
                <a:cs typeface="微软雅黑" panose="020B0503020204020204" charset="-122"/>
              </a:endParaRPr>
            </a:p>
          </p:txBody>
        </p:sp>
        <p:sp>
          <p:nvSpPr>
            <p:cNvPr id="125" name="文本框 124"/>
            <p:cNvSpPr txBox="1"/>
            <p:nvPr/>
          </p:nvSpPr>
          <p:spPr>
            <a:xfrm>
              <a:off x="2201" y="8993"/>
              <a:ext cx="2322" cy="774"/>
            </a:xfrm>
            <a:prstGeom prst="rect">
              <a:avLst/>
            </a:prstGeom>
            <a:noFill/>
            <a:ln w="9525">
              <a:noFill/>
            </a:ln>
          </p:spPr>
          <p:txBody>
            <a:bodyPr wrap="square">
              <a:spAutoFit/>
            </a:bodyPr>
            <a:lstStyle>
              <a:defPPr>
                <a:defRPr lang="zh-CN"/>
              </a:defPPr>
              <a:lvl1pPr indent="0">
                <a:defRPr sz="1400" b="0">
                  <a:solidFill>
                    <a:schemeClr val="accent1"/>
                  </a:solidFill>
                  <a:latin typeface="+mn-ea"/>
                </a:defRPr>
              </a:lvl1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数字化基础设施（如</a:t>
              </a:r>
              <a:r>
                <a:rPr kumimoji="0" lang="en-US" altLang="zh-CN"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AI</a:t>
              </a: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、云计算、大数据分析）</a:t>
              </a:r>
              <a:endParaRPr kumimoji="0" lang="en-US" altLang="zh-CN"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27" name="组合 126"/>
          <p:cNvGrpSpPr/>
          <p:nvPr/>
        </p:nvGrpSpPr>
        <p:grpSpPr>
          <a:xfrm>
            <a:off x="3443605" y="5756910"/>
            <a:ext cx="2374900" cy="491490"/>
            <a:chOff x="1008" y="8993"/>
            <a:chExt cx="3740" cy="774"/>
          </a:xfrm>
        </p:grpSpPr>
        <p:sp>
          <p:nvSpPr>
            <p:cNvPr id="128" name="圆角矩形 127"/>
            <p:cNvSpPr/>
            <p:nvPr/>
          </p:nvSpPr>
          <p:spPr>
            <a:xfrm>
              <a:off x="1008" y="9148"/>
              <a:ext cx="1096" cy="464"/>
            </a:xfrm>
            <a:prstGeom prst="roundRect">
              <a:avLst/>
            </a:prstGeom>
            <a:no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数据</a:t>
              </a:r>
              <a:endParaRPr lang="zh-CN" altLang="en-US" sz="1400" b="1">
                <a:cs typeface="微软雅黑" panose="020B0503020204020204" charset="-122"/>
              </a:endParaRPr>
            </a:p>
          </p:txBody>
        </p:sp>
        <p:sp>
          <p:nvSpPr>
            <p:cNvPr id="129" name="文本框 128"/>
            <p:cNvSpPr txBox="1"/>
            <p:nvPr/>
          </p:nvSpPr>
          <p:spPr>
            <a:xfrm>
              <a:off x="2201" y="8993"/>
              <a:ext cx="2547" cy="774"/>
            </a:xfrm>
            <a:prstGeom prst="rect">
              <a:avLst/>
            </a:prstGeom>
            <a:noFill/>
            <a:ln w="9525">
              <a:noFill/>
            </a:ln>
          </p:spPr>
          <p:txBody>
            <a:bodyPr wrap="square">
              <a:spAutoFit/>
            </a:bodyPr>
            <a:lstStyle>
              <a:defPPr>
                <a:defRPr lang="zh-CN"/>
              </a:defPPr>
              <a:lvl1pPr indent="0">
                <a:defRPr sz="1400" b="0">
                  <a:solidFill>
                    <a:schemeClr val="accent1"/>
                  </a:solidFill>
                  <a:latin typeface="+mn-ea"/>
                </a:defRPr>
              </a:lvl1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通过数据治理、分析洞察驱动决策（如人才画像）</a:t>
              </a:r>
              <a:endPar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30" name="组合 129"/>
          <p:cNvGrpSpPr/>
          <p:nvPr/>
        </p:nvGrpSpPr>
        <p:grpSpPr>
          <a:xfrm>
            <a:off x="6253480" y="5756910"/>
            <a:ext cx="2552065" cy="491490"/>
            <a:chOff x="1008" y="8993"/>
            <a:chExt cx="4019" cy="774"/>
          </a:xfrm>
        </p:grpSpPr>
        <p:sp>
          <p:nvSpPr>
            <p:cNvPr id="131" name="圆角矩形 130"/>
            <p:cNvSpPr/>
            <p:nvPr/>
          </p:nvSpPr>
          <p:spPr>
            <a:xfrm>
              <a:off x="1008" y="9148"/>
              <a:ext cx="1096" cy="464"/>
            </a:xfrm>
            <a:prstGeom prst="roundRect">
              <a:avLst/>
            </a:prstGeom>
            <a:no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平台</a:t>
              </a:r>
              <a:endParaRPr lang="zh-CN" altLang="en-US" sz="1400" b="1">
                <a:cs typeface="微软雅黑" panose="020B0503020204020204" charset="-122"/>
              </a:endParaRPr>
            </a:p>
          </p:txBody>
        </p:sp>
        <p:sp>
          <p:nvSpPr>
            <p:cNvPr id="132" name="文本框 131"/>
            <p:cNvSpPr txBox="1"/>
            <p:nvPr/>
          </p:nvSpPr>
          <p:spPr>
            <a:xfrm>
              <a:off x="2201" y="8993"/>
              <a:ext cx="2826" cy="774"/>
            </a:xfrm>
            <a:prstGeom prst="rect">
              <a:avLst/>
            </a:prstGeom>
            <a:noFill/>
            <a:ln w="9525">
              <a:noFill/>
            </a:ln>
          </p:spPr>
          <p:txBody>
            <a:bodyPr wrap="square">
              <a:spAutoFit/>
            </a:bodyPr>
            <a:lstStyle>
              <a:defPPr>
                <a:defRPr lang="zh-CN"/>
              </a:defPPr>
              <a:lvl1pPr indent="0">
                <a:defRPr sz="1400" b="0">
                  <a:solidFill>
                    <a:schemeClr val="accent1"/>
                  </a:solidFill>
                  <a:latin typeface="+mn-ea"/>
                </a:defRPr>
              </a:lvl1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一体化系统载体（如</a:t>
              </a:r>
              <a:r>
                <a:rPr kumimoji="0" lang="en-US" altLang="zh-CN"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HRIS</a:t>
              </a: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），整合流程、打破信息孤岛</a:t>
              </a:r>
              <a:endPar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33" name="组合 132"/>
          <p:cNvGrpSpPr/>
          <p:nvPr/>
        </p:nvGrpSpPr>
        <p:grpSpPr>
          <a:xfrm>
            <a:off x="9240520" y="5756910"/>
            <a:ext cx="2353945" cy="491490"/>
            <a:chOff x="1008" y="8993"/>
            <a:chExt cx="3875" cy="774"/>
          </a:xfrm>
        </p:grpSpPr>
        <p:sp>
          <p:nvSpPr>
            <p:cNvPr id="134" name="圆角矩形 133"/>
            <p:cNvSpPr/>
            <p:nvPr/>
          </p:nvSpPr>
          <p:spPr>
            <a:xfrm>
              <a:off x="1008" y="9148"/>
              <a:ext cx="1096" cy="464"/>
            </a:xfrm>
            <a:prstGeom prst="roundRect">
              <a:avLst/>
            </a:prstGeom>
            <a:no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创新</a:t>
              </a:r>
              <a:endParaRPr lang="zh-CN" altLang="en-US" sz="1400" b="1">
                <a:cs typeface="微软雅黑" panose="020B0503020204020204" charset="-122"/>
              </a:endParaRPr>
            </a:p>
          </p:txBody>
        </p:sp>
        <p:sp>
          <p:nvSpPr>
            <p:cNvPr id="135" name="文本框 134"/>
            <p:cNvSpPr txBox="1"/>
            <p:nvPr/>
          </p:nvSpPr>
          <p:spPr>
            <a:xfrm>
              <a:off x="2201" y="8993"/>
              <a:ext cx="2682" cy="774"/>
            </a:xfrm>
            <a:prstGeom prst="rect">
              <a:avLst/>
            </a:prstGeom>
            <a:noFill/>
            <a:ln w="9525">
              <a:noFill/>
            </a:ln>
          </p:spPr>
          <p:txBody>
            <a:bodyPr wrap="square">
              <a:spAutoFit/>
            </a:bodyPr>
            <a:lstStyle>
              <a:defPPr>
                <a:defRPr lang="zh-CN"/>
              </a:defPPr>
              <a:lvl1pPr indent="0">
                <a:defRPr sz="1400" b="0">
                  <a:solidFill>
                    <a:schemeClr val="accent1"/>
                  </a:solidFill>
                  <a:latin typeface="+mn-ea"/>
                </a:defRPr>
              </a:lvl1p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通过包容试错、敏捷迭代，推动模式与机制突破</a:t>
              </a:r>
              <a:endParaRPr kumimoji="0" lang="zh-CN" altLang="en-US" sz="10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cxnSp>
        <p:nvCxnSpPr>
          <p:cNvPr id="142" name="直线连接符 10"/>
          <p:cNvCxnSpPr/>
          <p:nvPr/>
        </p:nvCxnSpPr>
        <p:spPr>
          <a:xfrm>
            <a:off x="3170374" y="5742629"/>
            <a:ext cx="0" cy="52578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43" name="直线连接符 10"/>
          <p:cNvCxnSpPr/>
          <p:nvPr/>
        </p:nvCxnSpPr>
        <p:spPr>
          <a:xfrm>
            <a:off x="6006919" y="5742629"/>
            <a:ext cx="0" cy="52578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144" name="直线连接符 10"/>
          <p:cNvCxnSpPr/>
          <p:nvPr/>
        </p:nvCxnSpPr>
        <p:spPr>
          <a:xfrm>
            <a:off x="8955224" y="5742629"/>
            <a:ext cx="0" cy="525780"/>
          </a:xfrm>
          <a:prstGeom prst="line">
            <a:avLst/>
          </a:prstGeom>
          <a:ln>
            <a:solidFill>
              <a:schemeClr val="bg1"/>
            </a:solidFill>
            <a:prstDash val="dash"/>
          </a:ln>
        </p:spPr>
        <p:style>
          <a:lnRef idx="1">
            <a:schemeClr val="accent1"/>
          </a:lnRef>
          <a:fillRef idx="0">
            <a:schemeClr val="accent1"/>
          </a:fillRef>
          <a:effectRef idx="0">
            <a:schemeClr val="accent1"/>
          </a:effectRef>
          <a:fontRef idx="minor">
            <a:schemeClr val="tx1"/>
          </a:fontRef>
        </p:style>
      </p:cxnSp>
      <p:sp>
        <p:nvSpPr>
          <p:cNvPr id="151" name="标题 1"/>
          <p:cNvSpPr txBox="1"/>
          <p:nvPr/>
        </p:nvSpPr>
        <p:spPr>
          <a:xfrm>
            <a:off x="2070735" y="1170623"/>
            <a:ext cx="8138160" cy="332105"/>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kumimoji="1" lang="zh-CN" altLang="en-US" sz="1800" kern="1200" dirty="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lvl="0" algn="ctr">
              <a:defRPr/>
            </a:pPr>
            <a:r>
              <a:rPr kumimoji="1" sz="2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双轮驱动：</a:t>
            </a:r>
            <a:r>
              <a:rPr kumimoji="1" lang="zh-CN" altLang="en-US" sz="2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战略价值线牵引方向，数字能力线提供动能。</a:t>
            </a:r>
            <a:endParaRPr kumimoji="1" lang="zh-CN" altLang="en-US" sz="24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62" name="组合 161"/>
          <p:cNvGrpSpPr/>
          <p:nvPr/>
        </p:nvGrpSpPr>
        <p:grpSpPr>
          <a:xfrm>
            <a:off x="10497185" y="1957070"/>
            <a:ext cx="1221740" cy="2942590"/>
            <a:chOff x="16403" y="3082"/>
            <a:chExt cx="1924" cy="4634"/>
          </a:xfrm>
        </p:grpSpPr>
        <p:sp>
          <p:nvSpPr>
            <p:cNvPr id="152" name="矩形: 圆角 1"/>
            <p:cNvSpPr/>
            <p:nvPr>
              <p:custDataLst>
                <p:tags r:id="rId12"/>
              </p:custDataLst>
            </p:nvPr>
          </p:nvSpPr>
          <p:spPr>
            <a:xfrm>
              <a:off x="16403" y="3082"/>
              <a:ext cx="1268" cy="518"/>
            </a:xfrm>
            <a:prstGeom prst="roundRect">
              <a:avLst>
                <a:gd name="adj" fmla="val 50000"/>
              </a:avLst>
            </a:prstGeom>
            <a:solidFill>
              <a:schemeClr val="bg2"/>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数据治理</a:t>
              </a:r>
              <a:endPar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3" name="矩形: 圆角 1"/>
            <p:cNvSpPr/>
            <p:nvPr>
              <p:custDataLst>
                <p:tags r:id="rId13"/>
              </p:custDataLst>
            </p:nvPr>
          </p:nvSpPr>
          <p:spPr>
            <a:xfrm>
              <a:off x="16883" y="4111"/>
              <a:ext cx="1444" cy="518"/>
            </a:xfrm>
            <a:prstGeom prst="roundRect">
              <a:avLst>
                <a:gd name="adj" fmla="val 50000"/>
              </a:avLst>
            </a:prstGeom>
            <a:solidFill>
              <a:schemeClr val="bg2"/>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流程标准化</a:t>
              </a:r>
              <a:endPar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4" name="矩形: 圆角 1"/>
            <p:cNvSpPr/>
            <p:nvPr>
              <p:custDataLst>
                <p:tags r:id="rId14"/>
              </p:custDataLst>
            </p:nvPr>
          </p:nvSpPr>
          <p:spPr>
            <a:xfrm>
              <a:off x="16992" y="5140"/>
              <a:ext cx="1335" cy="518"/>
            </a:xfrm>
            <a:prstGeom prst="roundRect">
              <a:avLst>
                <a:gd name="adj" fmla="val 50000"/>
              </a:avLst>
            </a:prstGeom>
            <a:solidFill>
              <a:schemeClr val="bg2"/>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敏捷迭代</a:t>
              </a:r>
              <a:endPar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5" name="矩形: 圆角 1"/>
            <p:cNvSpPr/>
            <p:nvPr>
              <p:custDataLst>
                <p:tags r:id="rId15"/>
              </p:custDataLst>
            </p:nvPr>
          </p:nvSpPr>
          <p:spPr>
            <a:xfrm>
              <a:off x="16991" y="6169"/>
              <a:ext cx="1268" cy="518"/>
            </a:xfrm>
            <a:prstGeom prst="roundRect">
              <a:avLst>
                <a:gd name="adj" fmla="val 50000"/>
              </a:avLst>
            </a:prstGeom>
            <a:solidFill>
              <a:schemeClr val="bg2"/>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强化管控</a:t>
              </a:r>
              <a:endPar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6" name="矩形: 圆角 1"/>
            <p:cNvSpPr/>
            <p:nvPr>
              <p:custDataLst>
                <p:tags r:id="rId16"/>
              </p:custDataLst>
            </p:nvPr>
          </p:nvSpPr>
          <p:spPr>
            <a:xfrm>
              <a:off x="16403" y="7198"/>
              <a:ext cx="1268" cy="518"/>
            </a:xfrm>
            <a:prstGeom prst="roundRect">
              <a:avLst>
                <a:gd name="adj" fmla="val 50000"/>
              </a:avLst>
            </a:prstGeom>
            <a:solidFill>
              <a:schemeClr val="bg2"/>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动态循环</a:t>
              </a:r>
              <a:endPar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63" name="组合 162"/>
          <p:cNvGrpSpPr/>
          <p:nvPr/>
        </p:nvGrpSpPr>
        <p:grpSpPr>
          <a:xfrm flipH="1">
            <a:off x="273685" y="1957070"/>
            <a:ext cx="1297940" cy="2942590"/>
            <a:chOff x="16403" y="3082"/>
            <a:chExt cx="2044" cy="4634"/>
          </a:xfrm>
        </p:grpSpPr>
        <p:sp>
          <p:nvSpPr>
            <p:cNvPr id="164" name="矩形: 圆角 1"/>
            <p:cNvSpPr/>
            <p:nvPr>
              <p:custDataLst>
                <p:tags r:id="rId17"/>
              </p:custDataLst>
            </p:nvPr>
          </p:nvSpPr>
          <p:spPr>
            <a:xfrm>
              <a:off x="16403" y="3082"/>
              <a:ext cx="1268" cy="518"/>
            </a:xfrm>
            <a:prstGeom prst="roundRect">
              <a:avLst>
                <a:gd name="adj" fmla="val 50000"/>
              </a:avLst>
            </a:prstGeom>
            <a:solidFill>
              <a:schemeClr val="bg2"/>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战略对齐</a:t>
              </a:r>
              <a:endPar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5" name="矩形: 圆角 1"/>
            <p:cNvSpPr/>
            <p:nvPr>
              <p:custDataLst>
                <p:tags r:id="rId18"/>
              </p:custDataLst>
            </p:nvPr>
          </p:nvSpPr>
          <p:spPr>
            <a:xfrm>
              <a:off x="16883" y="4111"/>
              <a:ext cx="1268" cy="518"/>
            </a:xfrm>
            <a:prstGeom prst="roundRect">
              <a:avLst>
                <a:gd name="adj" fmla="val 50000"/>
              </a:avLst>
            </a:prstGeom>
            <a:solidFill>
              <a:schemeClr val="bg2"/>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制度保障</a:t>
              </a:r>
              <a:endPar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6" name="矩形: 圆角 1"/>
            <p:cNvSpPr/>
            <p:nvPr>
              <p:custDataLst>
                <p:tags r:id="rId19"/>
              </p:custDataLst>
            </p:nvPr>
          </p:nvSpPr>
          <p:spPr>
            <a:xfrm>
              <a:off x="17179" y="5140"/>
              <a:ext cx="1268" cy="518"/>
            </a:xfrm>
            <a:prstGeom prst="roundRect">
              <a:avLst>
                <a:gd name="adj" fmla="val 50000"/>
              </a:avLst>
            </a:prstGeom>
            <a:solidFill>
              <a:schemeClr val="bg2"/>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分析洞察</a:t>
              </a:r>
              <a:endPar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7" name="矩形: 圆角 1"/>
            <p:cNvSpPr/>
            <p:nvPr>
              <p:custDataLst>
                <p:tags r:id="rId20"/>
              </p:custDataLst>
            </p:nvPr>
          </p:nvSpPr>
          <p:spPr>
            <a:xfrm>
              <a:off x="16991" y="6169"/>
              <a:ext cx="1268" cy="518"/>
            </a:xfrm>
            <a:prstGeom prst="roundRect">
              <a:avLst>
                <a:gd name="adj" fmla="val 50000"/>
              </a:avLst>
            </a:prstGeom>
            <a:solidFill>
              <a:schemeClr val="bg2"/>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组织效能</a:t>
              </a:r>
              <a:endPar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8" name="矩形: 圆角 1"/>
            <p:cNvSpPr/>
            <p:nvPr>
              <p:custDataLst>
                <p:tags r:id="rId21"/>
              </p:custDataLst>
            </p:nvPr>
          </p:nvSpPr>
          <p:spPr>
            <a:xfrm>
              <a:off x="16403" y="7198"/>
              <a:ext cx="1268" cy="518"/>
            </a:xfrm>
            <a:prstGeom prst="roundRect">
              <a:avLst>
                <a:gd name="adj" fmla="val 50000"/>
              </a:avLst>
            </a:prstGeom>
            <a:solidFill>
              <a:schemeClr val="bg2"/>
            </a:solidFill>
            <a:ln w="12700" cap="flat" cmpd="sng" algn="ctr">
              <a:solidFill>
                <a:schemeClr val="accent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模式突破</a:t>
              </a:r>
              <a:endParaRPr kumimoji="0" lang="zh-CN" altLang="en-US" sz="1000" u="none" strike="noStrike" kern="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gr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1" name="组合 40"/>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22"/>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 name="任意多边形 73"/>
          <p:cNvSpPr/>
          <p:nvPr/>
        </p:nvSpPr>
        <p:spPr>
          <a:xfrm>
            <a:off x="867410" y="1442085"/>
            <a:ext cx="5214620" cy="4939030"/>
          </a:xfrm>
          <a:custGeom>
            <a:avLst/>
            <a:gdLst>
              <a:gd name="adj" fmla="val 4090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213" h="7780">
                <a:moveTo>
                  <a:pt x="0" y="3181"/>
                </a:moveTo>
                <a:cubicBezTo>
                  <a:pt x="-55" y="1396"/>
                  <a:pt x="1580" y="-44"/>
                  <a:pt x="3181" y="0"/>
                </a:cubicBezTo>
                <a:lnTo>
                  <a:pt x="8212" y="0"/>
                </a:lnTo>
                <a:lnTo>
                  <a:pt x="8212" y="7778"/>
                </a:lnTo>
                <a:lnTo>
                  <a:pt x="3181" y="7778"/>
                </a:lnTo>
                <a:cubicBezTo>
                  <a:pt x="1396" y="7833"/>
                  <a:pt x="-44" y="6198"/>
                  <a:pt x="0" y="4597"/>
                </a:cubicBezTo>
                <a:lnTo>
                  <a:pt x="0" y="3181"/>
                </a:lnTo>
                <a:close/>
              </a:path>
            </a:pathLst>
          </a:custGeom>
          <a:gradFill>
            <a:gsLst>
              <a:gs pos="0">
                <a:schemeClr val="accent1">
                  <a:lumMod val="20000"/>
                  <a:lumOff val="80000"/>
                  <a:alpha val="50000"/>
                </a:schemeClr>
              </a:gs>
              <a:gs pos="63000">
                <a:schemeClr val="accent1">
                  <a:lumMod val="20000"/>
                  <a:lumOff val="80000"/>
                  <a:alpha val="0"/>
                </a:schemeClr>
              </a:gs>
            </a:gsLst>
            <a:lin ang="0" scaled="0"/>
          </a:gradFill>
          <a:ln>
            <a:no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76" name="任意多边形 75"/>
          <p:cNvSpPr/>
          <p:nvPr/>
        </p:nvSpPr>
        <p:spPr>
          <a:xfrm flipH="1">
            <a:off x="6014720" y="1442085"/>
            <a:ext cx="5214620" cy="4939030"/>
          </a:xfrm>
          <a:custGeom>
            <a:avLst/>
            <a:gdLst>
              <a:gd name="adj" fmla="val 40903"/>
              <a:gd name="a" fmla="pin 0 adj 50000"/>
              <a:gd name="x1" fmla="*/ ss a 100000"/>
              <a:gd name="x2" fmla="+- r 0 x1"/>
              <a:gd name="y2" fmla="+- b 0 x1"/>
              <a:gd name="il" fmla="*/ x1 29289 100000"/>
              <a:gd name="ir" fmla="+- r 0 il"/>
              <a:gd name="ib" fmla="+- b 0 il"/>
            </a:gdLst>
            <a:ahLst/>
            <a:cxnLst>
              <a:cxn ang="3">
                <a:pos x="hc" y="t"/>
              </a:cxn>
              <a:cxn ang="cd2">
                <a:pos x="l" y="vc"/>
              </a:cxn>
              <a:cxn ang="cd4">
                <a:pos x="hc" y="b"/>
              </a:cxn>
              <a:cxn ang="0">
                <a:pos x="r" y="vc"/>
              </a:cxn>
            </a:cxnLst>
            <a:rect l="l" t="t" r="r" b="b"/>
            <a:pathLst>
              <a:path w="8213" h="7780">
                <a:moveTo>
                  <a:pt x="0" y="3181"/>
                </a:moveTo>
                <a:cubicBezTo>
                  <a:pt x="-55" y="1396"/>
                  <a:pt x="1580" y="-44"/>
                  <a:pt x="3181" y="0"/>
                </a:cubicBezTo>
                <a:lnTo>
                  <a:pt x="8212" y="0"/>
                </a:lnTo>
                <a:lnTo>
                  <a:pt x="8212" y="7778"/>
                </a:lnTo>
                <a:lnTo>
                  <a:pt x="3181" y="7778"/>
                </a:lnTo>
                <a:cubicBezTo>
                  <a:pt x="1396" y="7833"/>
                  <a:pt x="-44" y="6198"/>
                  <a:pt x="0" y="4597"/>
                </a:cubicBezTo>
                <a:lnTo>
                  <a:pt x="0" y="3181"/>
                </a:lnTo>
                <a:close/>
              </a:path>
            </a:pathLst>
          </a:custGeom>
          <a:gradFill>
            <a:gsLst>
              <a:gs pos="0">
                <a:schemeClr val="accent1">
                  <a:lumMod val="20000"/>
                  <a:lumOff val="80000"/>
                  <a:alpha val="50000"/>
                </a:schemeClr>
              </a:gs>
              <a:gs pos="63000">
                <a:schemeClr val="accent1">
                  <a:lumMod val="20000"/>
                  <a:lumOff val="80000"/>
                  <a:alpha val="0"/>
                </a:schemeClr>
              </a:gs>
            </a:gsLst>
            <a:lin ang="0" scaled="0"/>
          </a:gradFill>
          <a:ln>
            <a:no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5" name="标题 2"/>
          <p:cNvSpPr>
            <a:spLocks noGrp="1"/>
          </p:cNvSpPr>
          <p:nvPr/>
        </p:nvSpPr>
        <p:spPr>
          <a:xfrm>
            <a:off x="1105535" y="347980"/>
            <a:ext cx="724027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循环逻辑架构 | </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sym typeface="+mn-ea"/>
              </a:rPr>
              <a:t>B2B</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数字赋能家居建材业</a:t>
            </a:r>
            <a:endParaRPr lang="en-US" altLang="zh-CN"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圆角矩形 1"/>
          <p:cNvSpPr/>
          <p:nvPr/>
        </p:nvSpPr>
        <p:spPr>
          <a:xfrm>
            <a:off x="2186305" y="4806950"/>
            <a:ext cx="7729220" cy="1438910"/>
          </a:xfrm>
          <a:prstGeom prst="roundRect">
            <a:avLst/>
          </a:prstGeom>
          <a:solidFill>
            <a:schemeClr val="bg1"/>
          </a:solidFill>
          <a:ln>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 name="矩形 5"/>
          <p:cNvSpPr/>
          <p:nvPr/>
        </p:nvSpPr>
        <p:spPr>
          <a:xfrm>
            <a:off x="2325370" y="5838190"/>
            <a:ext cx="7498080" cy="299720"/>
          </a:xfrm>
          <a:prstGeom prst="rect">
            <a:avLst/>
          </a:prstGeom>
          <a:solidFill>
            <a:schemeClr val="accent5">
              <a:lumMod val="20000"/>
              <a:lumOff val="80000"/>
            </a:schemeClr>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技术中台</a:t>
            </a:r>
            <a:r>
              <a:rPr lang="en-US" altLang="zh-CN" sz="1200" b="1">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数据中台</a:t>
            </a:r>
            <a:r>
              <a:rPr lang="en-US" altLang="zh-CN" sz="1200" b="1">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业务中台</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 name="圆角矩形 6"/>
          <p:cNvSpPr/>
          <p:nvPr/>
        </p:nvSpPr>
        <p:spPr>
          <a:xfrm rot="2760000">
            <a:off x="5301615" y="2463165"/>
            <a:ext cx="1471930" cy="1471930"/>
          </a:xfrm>
          <a:prstGeom prst="roundRect">
            <a:avLst/>
          </a:prstGeom>
          <a:gradFill>
            <a:gsLst>
              <a:gs pos="0">
                <a:schemeClr val="accent1"/>
              </a:gs>
              <a:gs pos="100000">
                <a:schemeClr val="accent1">
                  <a:lumMod val="60000"/>
                  <a:lumOff val="40000"/>
                </a:schemeClr>
              </a:gs>
            </a:gsLst>
            <a:lin ang="5400000" scaled="0"/>
          </a:gradFill>
          <a:ln>
            <a:noFill/>
          </a:ln>
          <a:effectLst>
            <a:outerShdw blurRad="50800" dist="38100" dir="2700000" algn="tl" rotWithShape="0">
              <a:schemeClr val="accent1">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5" name="文本框 14"/>
          <p:cNvSpPr txBox="1"/>
          <p:nvPr/>
        </p:nvSpPr>
        <p:spPr>
          <a:xfrm>
            <a:off x="5456555" y="3061970"/>
            <a:ext cx="1203325" cy="645160"/>
          </a:xfrm>
          <a:prstGeom prst="rect">
            <a:avLst/>
          </a:prstGeom>
          <a:noFill/>
        </p:spPr>
        <p:txBody>
          <a:bodyPr wrap="square" rtlCol="0">
            <a:spAutoFit/>
          </a:bodyPr>
          <a:p>
            <a:pPr algn="ctr"/>
            <a:r>
              <a:rPr lang="zh-CN" altLang="en-US" b="1">
                <a:solidFill>
                  <a:schemeClr val="bg1"/>
                </a:solidFill>
                <a:latin typeface="微软雅黑" panose="020B0503020204020204" charset="-122"/>
                <a:ea typeface="微软雅黑" panose="020B0503020204020204" charset="-122"/>
                <a:cs typeface="微软雅黑" panose="020B0503020204020204" charset="-122"/>
              </a:rPr>
              <a:t>家居建材</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a:p>
            <a:pPr algn="ctr"/>
            <a:r>
              <a:rPr lang="en-US" altLang="zh-CN" b="1">
                <a:solidFill>
                  <a:schemeClr val="bg1"/>
                </a:solidFill>
                <a:latin typeface="微软雅黑" panose="020B0503020204020204" charset="-122"/>
                <a:ea typeface="微软雅黑" panose="020B0503020204020204" charset="-122"/>
                <a:cs typeface="微软雅黑" panose="020B0503020204020204" charset="-122"/>
              </a:rPr>
              <a:t>B2B</a:t>
            </a:r>
            <a:r>
              <a:rPr lang="zh-CN" altLang="en-US" b="1">
                <a:solidFill>
                  <a:schemeClr val="bg1"/>
                </a:solidFill>
                <a:latin typeface="微软雅黑" panose="020B0503020204020204" charset="-122"/>
                <a:ea typeface="微软雅黑" panose="020B0503020204020204" charset="-122"/>
                <a:cs typeface="微软雅黑" panose="020B0503020204020204" charset="-122"/>
              </a:rPr>
              <a:t>平台</a:t>
            </a:r>
            <a:endParaRPr lang="zh-CN" altLang="en-US"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 name="椭圆 15"/>
          <p:cNvSpPr/>
          <p:nvPr/>
        </p:nvSpPr>
        <p:spPr>
          <a:xfrm>
            <a:off x="4818380" y="1891030"/>
            <a:ext cx="2604135" cy="2604135"/>
          </a:xfrm>
          <a:prstGeom prst="ellipse">
            <a:avLst/>
          </a:prstGeom>
          <a:noFill/>
          <a:ln w="38100">
            <a:gradFill>
              <a:gsLst>
                <a:gs pos="0">
                  <a:schemeClr val="accent1">
                    <a:lumMod val="60000"/>
                    <a:lumOff val="40000"/>
                  </a:schemeClr>
                </a:gs>
                <a:gs pos="42000">
                  <a:schemeClr val="accent1">
                    <a:lumMod val="60000"/>
                    <a:lumOff val="40000"/>
                    <a:alpha val="0"/>
                  </a:schemeClr>
                </a:gs>
              </a:gsLst>
              <a:lin ang="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7" name="椭圆 16"/>
          <p:cNvSpPr/>
          <p:nvPr/>
        </p:nvSpPr>
        <p:spPr>
          <a:xfrm>
            <a:off x="4735513" y="1877695"/>
            <a:ext cx="2604135" cy="2604135"/>
          </a:xfrm>
          <a:prstGeom prst="ellipse">
            <a:avLst/>
          </a:prstGeom>
          <a:noFill/>
          <a:ln w="38100">
            <a:gradFill>
              <a:gsLst>
                <a:gs pos="100000">
                  <a:schemeClr val="accent1">
                    <a:lumMod val="60000"/>
                    <a:lumOff val="40000"/>
                  </a:schemeClr>
                </a:gs>
                <a:gs pos="42000">
                  <a:schemeClr val="accent1">
                    <a:lumMod val="60000"/>
                    <a:lumOff val="40000"/>
                    <a:alpha val="0"/>
                  </a:schemeClr>
                </a:gs>
              </a:gsLst>
              <a:lin ang="0" scaled="1"/>
            </a:gra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8" name="圆角矩形 17"/>
          <p:cNvSpPr/>
          <p:nvPr/>
        </p:nvSpPr>
        <p:spPr>
          <a:xfrm>
            <a:off x="867410" y="1442085"/>
            <a:ext cx="10361930" cy="4939030"/>
          </a:xfrm>
          <a:prstGeom prst="roundRect">
            <a:avLst>
              <a:gd name="adj" fmla="val 40903"/>
            </a:avLst>
          </a:prstGeom>
          <a:noFill/>
          <a:ln>
            <a:gradFill>
              <a:gsLst>
                <a:gs pos="0">
                  <a:schemeClr val="accent1">
                    <a:lumMod val="60000"/>
                    <a:lumOff val="40000"/>
                  </a:schemeClr>
                </a:gs>
                <a:gs pos="42000">
                  <a:schemeClr val="accent1">
                    <a:lumMod val="60000"/>
                    <a:lumOff val="40000"/>
                    <a:alpha val="0"/>
                  </a:schemeClr>
                </a:gs>
              </a:gsLst>
              <a:lin ang="0" scaled="1"/>
            </a:gra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9" name="文本框 18"/>
          <p:cNvSpPr txBox="1"/>
          <p:nvPr/>
        </p:nvSpPr>
        <p:spPr>
          <a:xfrm>
            <a:off x="277495" y="2284095"/>
            <a:ext cx="521335" cy="2286000"/>
          </a:xfrm>
          <a:prstGeom prst="rect">
            <a:avLst/>
          </a:prstGeom>
          <a:noFill/>
        </p:spPr>
        <p:txBody>
          <a:bodyPr vert="eaVert" wrap="square" rtlCol="0">
            <a:spAutoFit/>
          </a:bodyPr>
          <a:p>
            <a:pPr algn="ctr"/>
            <a:r>
              <a:rPr lang="zh-CN" altLang="en-US" sz="2200" b="1">
                <a:solidFill>
                  <a:schemeClr val="accent1"/>
                </a:solidFill>
                <a:latin typeface="微软雅黑" panose="020B0503020204020204" charset="-122"/>
                <a:ea typeface="微软雅黑" panose="020B0503020204020204" charset="-122"/>
                <a:cs typeface="微软雅黑" panose="020B0503020204020204" charset="-122"/>
              </a:rPr>
              <a:t>上游客户</a:t>
            </a:r>
            <a:endParaRPr lang="zh-CN" altLang="en-US" sz="22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11303000" y="2284095"/>
            <a:ext cx="567055" cy="2286000"/>
          </a:xfrm>
          <a:prstGeom prst="rect">
            <a:avLst/>
          </a:prstGeom>
          <a:noFill/>
        </p:spPr>
        <p:txBody>
          <a:bodyPr vert="eaVert" wrap="square" rtlCol="0">
            <a:spAutoFit/>
          </a:bodyPr>
          <a:p>
            <a:pPr lvl="0" algn="ctr">
              <a:buClrTx/>
              <a:buSzTx/>
              <a:buFontTx/>
            </a:pPr>
            <a:r>
              <a:rPr lang="zh-CN" altLang="en-US" sz="2200" b="1">
                <a:solidFill>
                  <a:schemeClr val="accent1"/>
                </a:solidFill>
                <a:latin typeface="微软雅黑" panose="020B0503020204020204" charset="-122"/>
                <a:ea typeface="微软雅黑" panose="020B0503020204020204" charset="-122"/>
                <a:cs typeface="微软雅黑" panose="020B0503020204020204" charset="-122"/>
                <a:sym typeface="+mn-ea"/>
              </a:rPr>
              <a:t>下游客户</a:t>
            </a:r>
            <a:endParaRPr lang="zh-CN" altLang="en-US" sz="22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32" name="文本框 31"/>
          <p:cNvSpPr txBox="1"/>
          <p:nvPr/>
        </p:nvSpPr>
        <p:spPr>
          <a:xfrm>
            <a:off x="7717155" y="1720215"/>
            <a:ext cx="2583180" cy="521970"/>
          </a:xfrm>
          <a:prstGeom prst="rect">
            <a:avLst/>
          </a:prstGeom>
          <a:noFill/>
        </p:spPr>
        <p:txBody>
          <a:bodyPr wrap="square" rtlCol="0">
            <a:spAutoFit/>
          </a:bodyPr>
          <a:p>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面向下游提供智慧门店等服务，赋能经销终端</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4" name="圆角矩形 43"/>
          <p:cNvSpPr/>
          <p:nvPr/>
        </p:nvSpPr>
        <p:spPr>
          <a:xfrm>
            <a:off x="4579620" y="4629150"/>
            <a:ext cx="2915920" cy="345440"/>
          </a:xfrm>
          <a:prstGeom prst="roundRect">
            <a:avLst/>
          </a:prstGeom>
          <a:gradFill>
            <a:gsLst>
              <a:gs pos="0">
                <a:schemeClr val="accent5"/>
              </a:gs>
              <a:gs pos="100000">
                <a:schemeClr val="accent5">
                  <a:lumMod val="60000"/>
                  <a:lumOff val="40000"/>
                </a:schemeClr>
              </a:gs>
            </a:gsLst>
            <a:lin ang="0" scaled="0"/>
          </a:gra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b="1">
                <a:cs typeface="微软雅黑" panose="020B0503020204020204" charset="-122"/>
              </a:rPr>
              <a:t>一站式深度价值服务</a:t>
            </a:r>
            <a:endParaRPr lang="zh-CN" altLang="en-US" sz="1400" b="1">
              <a:cs typeface="微软雅黑" panose="020B0503020204020204" charset="-122"/>
            </a:endParaRPr>
          </a:p>
        </p:txBody>
      </p:sp>
      <p:grpSp>
        <p:nvGrpSpPr>
          <p:cNvPr id="52" name="组合 51"/>
          <p:cNvGrpSpPr/>
          <p:nvPr/>
        </p:nvGrpSpPr>
        <p:grpSpPr>
          <a:xfrm rot="18960000">
            <a:off x="5043805" y="2409190"/>
            <a:ext cx="646430" cy="185420"/>
            <a:chOff x="6712" y="1983"/>
            <a:chExt cx="1018" cy="292"/>
          </a:xfrm>
        </p:grpSpPr>
        <p:sp>
          <p:nvSpPr>
            <p:cNvPr id="116" name="燕尾形 115"/>
            <p:cNvSpPr/>
            <p:nvPr>
              <p:custDataLst>
                <p:tags r:id="rId3"/>
              </p:custDataLst>
            </p:nvPr>
          </p:nvSpPr>
          <p:spPr>
            <a:xfrm rot="10800000">
              <a:off x="7081" y="1983"/>
              <a:ext cx="417" cy="292"/>
            </a:xfrm>
            <a:prstGeom prst="chevron">
              <a:avLst/>
            </a:prstGeom>
            <a:gradFill>
              <a:gsLst>
                <a:gs pos="0">
                  <a:schemeClr val="accent1">
                    <a:lumMod val="40000"/>
                    <a:lumOff val="60000"/>
                    <a:alpha val="50000"/>
                  </a:schemeClr>
                </a:gs>
                <a:gs pos="100000">
                  <a:schemeClr val="accent1">
                    <a:lumMod val="40000"/>
                    <a:lumOff val="6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17" name="燕尾形 116"/>
            <p:cNvSpPr/>
            <p:nvPr>
              <p:custDataLst>
                <p:tags r:id="rId4"/>
              </p:custDataLst>
            </p:nvPr>
          </p:nvSpPr>
          <p:spPr>
            <a:xfrm rot="10800000">
              <a:off x="7458" y="1983"/>
              <a:ext cx="273" cy="292"/>
            </a:xfrm>
            <a:prstGeom prst="chevron">
              <a:avLst/>
            </a:prstGeom>
            <a:gradFill>
              <a:gsLst>
                <a:gs pos="0">
                  <a:schemeClr val="accent1">
                    <a:lumMod val="40000"/>
                    <a:lumOff val="60000"/>
                    <a:alpha val="0"/>
                  </a:schemeClr>
                </a:gs>
                <a:gs pos="100000">
                  <a:schemeClr val="accent1">
                    <a:lumMod val="40000"/>
                    <a:lumOff val="6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51" name="燕尾形 50"/>
            <p:cNvSpPr/>
            <p:nvPr>
              <p:custDataLst>
                <p:tags r:id="rId5"/>
              </p:custDataLst>
            </p:nvPr>
          </p:nvSpPr>
          <p:spPr>
            <a:xfrm rot="10800000">
              <a:off x="6712" y="1983"/>
              <a:ext cx="417" cy="292"/>
            </a:xfrm>
            <a:prstGeom prst="chevron">
              <a:avLst/>
            </a:prstGeom>
            <a:gradFill>
              <a:gsLst>
                <a:gs pos="0">
                  <a:schemeClr val="accent1">
                    <a:lumMod val="60000"/>
                    <a:lumOff val="40000"/>
                    <a:alpha val="5000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sp>
        <p:nvSpPr>
          <p:cNvPr id="67" name="椭圆 66"/>
          <p:cNvSpPr/>
          <p:nvPr/>
        </p:nvSpPr>
        <p:spPr>
          <a:xfrm>
            <a:off x="5950268" y="1805305"/>
            <a:ext cx="174625" cy="174625"/>
          </a:xfrm>
          <a:prstGeom prst="ellipse">
            <a:avLst/>
          </a:prstGeom>
          <a:solidFill>
            <a:schemeClr val="accent1">
              <a:lumMod val="20000"/>
              <a:lumOff val="8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2" name="圆角矩形 71"/>
          <p:cNvSpPr/>
          <p:nvPr/>
        </p:nvSpPr>
        <p:spPr>
          <a:xfrm>
            <a:off x="867410" y="1442085"/>
            <a:ext cx="10361930" cy="4939030"/>
          </a:xfrm>
          <a:prstGeom prst="roundRect">
            <a:avLst>
              <a:gd name="adj" fmla="val 40903"/>
            </a:avLst>
          </a:prstGeom>
          <a:noFill/>
          <a:ln>
            <a:gradFill>
              <a:gsLst>
                <a:gs pos="100000">
                  <a:schemeClr val="accent1">
                    <a:lumMod val="60000"/>
                    <a:lumOff val="40000"/>
                  </a:schemeClr>
                </a:gs>
                <a:gs pos="42000">
                  <a:schemeClr val="accent1">
                    <a:lumMod val="60000"/>
                    <a:lumOff val="40000"/>
                    <a:alpha val="0"/>
                  </a:schemeClr>
                </a:gs>
              </a:gsLst>
              <a:lin ang="0" scaled="1"/>
            </a:gradFill>
            <a:prstDash val="sysDash"/>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solidFill>
                <a:schemeClr val="tx2">
                  <a:lumMod val="60000"/>
                  <a:lumOff val="40000"/>
                </a:schemeClr>
              </a:solidFill>
              <a:cs typeface="微软雅黑" panose="020B0503020204020204" charset="-122"/>
              <a:sym typeface="+mn-ea"/>
            </a:endParaRPr>
          </a:p>
        </p:txBody>
      </p:sp>
      <p:sp>
        <p:nvSpPr>
          <p:cNvPr id="73" name="圆角矩形 72"/>
          <p:cNvSpPr/>
          <p:nvPr/>
        </p:nvSpPr>
        <p:spPr>
          <a:xfrm>
            <a:off x="5217161" y="1216660"/>
            <a:ext cx="1640840" cy="508000"/>
          </a:xfrm>
          <a:prstGeom prst="roundRect">
            <a:avLst>
              <a:gd name="adj" fmla="val 50000"/>
            </a:avLst>
          </a:prstGeom>
          <a:gradFill>
            <a:gsLst>
              <a:gs pos="0">
                <a:schemeClr val="accent1"/>
              </a:gs>
              <a:gs pos="100000">
                <a:schemeClr val="accent1">
                  <a:lumMod val="60000"/>
                  <a:lumOff val="40000"/>
                </a:schemeClr>
              </a:gs>
            </a:gsLst>
            <a:lin ang="0" scaled="0"/>
          </a:gradFill>
          <a:ln>
            <a:noFill/>
          </a:ln>
          <a:effectLst>
            <a:outerShdw blurRad="50800" dist="38100" dir="2700000" algn="tl" rotWithShape="0">
              <a:schemeClr val="accent1">
                <a:alpha val="40000"/>
              </a:schemeClr>
            </a:outerShdw>
          </a:effectLst>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b="1">
                <a:solidFill>
                  <a:schemeClr val="bg1"/>
                </a:solidFill>
                <a:cs typeface="微软雅黑" panose="020B0503020204020204" charset="-122"/>
              </a:rPr>
              <a:t>数字化赋能</a:t>
            </a:r>
            <a:endParaRPr lang="zh-CN" altLang="en-US" b="1">
              <a:solidFill>
                <a:schemeClr val="bg1"/>
              </a:solidFill>
              <a:cs typeface="微软雅黑" panose="020B0503020204020204" charset="-122"/>
            </a:endParaRPr>
          </a:p>
        </p:txBody>
      </p:sp>
      <p:grpSp>
        <p:nvGrpSpPr>
          <p:cNvPr id="86" name="组合 85"/>
          <p:cNvGrpSpPr/>
          <p:nvPr/>
        </p:nvGrpSpPr>
        <p:grpSpPr>
          <a:xfrm>
            <a:off x="4962525" y="5056505"/>
            <a:ext cx="1052830" cy="781050"/>
            <a:chOff x="7763" y="7963"/>
            <a:chExt cx="1658" cy="1230"/>
          </a:xfrm>
        </p:grpSpPr>
        <p:sp>
          <p:nvSpPr>
            <p:cNvPr id="11" name="椭圆 10"/>
            <p:cNvSpPr/>
            <p:nvPr/>
          </p:nvSpPr>
          <p:spPr>
            <a:xfrm>
              <a:off x="8258" y="7963"/>
              <a:ext cx="669" cy="669"/>
            </a:xfrm>
            <a:prstGeom prst="ellipse">
              <a:avLst/>
            </a:prstGeom>
            <a:solidFill>
              <a:schemeClr val="accent5">
                <a:lumMod val="20000"/>
                <a:lumOff val="80000"/>
              </a:schemeClr>
            </a:solidFill>
            <a:ln>
              <a:solidFill>
                <a:schemeClr val="accent5">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7" name="文本框 46"/>
            <p:cNvSpPr txBox="1"/>
            <p:nvPr/>
          </p:nvSpPr>
          <p:spPr>
            <a:xfrm>
              <a:off x="7763" y="8711"/>
              <a:ext cx="1658" cy="483"/>
            </a:xfrm>
            <a:prstGeom prst="rect">
              <a:avLst/>
            </a:prstGeom>
            <a:noFill/>
          </p:spPr>
          <p:txBody>
            <a:bodyPr wrap="square" rtlCol="0">
              <a:spAutoFit/>
            </a:bodyPr>
            <a:p>
              <a:pPr algn="ctr"/>
              <a:r>
                <a:rPr lang="zh-CN" altLang="en-US" sz="1400">
                  <a:latin typeface="微软雅黑" panose="020B0503020204020204" charset="-122"/>
                  <a:ea typeface="微软雅黑" panose="020B0503020204020204" charset="-122"/>
                  <a:cs typeface="微软雅黑" panose="020B0503020204020204" charset="-122"/>
                </a:rPr>
                <a:t>交易服务</a:t>
              </a:r>
              <a:endParaRPr lang="zh-CN" altLang="en-US" sz="1400">
                <a:latin typeface="微软雅黑" panose="020B0503020204020204" charset="-122"/>
                <a:ea typeface="微软雅黑" panose="020B0503020204020204" charset="-122"/>
                <a:cs typeface="微软雅黑" panose="020B0503020204020204" charset="-122"/>
              </a:endParaRPr>
            </a:p>
          </p:txBody>
        </p:sp>
        <p:pic>
          <p:nvPicPr>
            <p:cNvPr id="77" name="图片 76" descr="债券交易服务"/>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345" y="8051"/>
              <a:ext cx="493" cy="493"/>
            </a:xfrm>
            <a:prstGeom prst="rect">
              <a:avLst/>
            </a:prstGeom>
          </p:spPr>
        </p:pic>
      </p:grpSp>
      <p:grpSp>
        <p:nvGrpSpPr>
          <p:cNvPr id="85" name="组合 84"/>
          <p:cNvGrpSpPr/>
          <p:nvPr/>
        </p:nvGrpSpPr>
        <p:grpSpPr>
          <a:xfrm>
            <a:off x="3724910" y="5056505"/>
            <a:ext cx="1052830" cy="781685"/>
            <a:chOff x="5840" y="7963"/>
            <a:chExt cx="1658" cy="1231"/>
          </a:xfrm>
        </p:grpSpPr>
        <p:sp>
          <p:nvSpPr>
            <p:cNvPr id="9" name="椭圆 8"/>
            <p:cNvSpPr/>
            <p:nvPr/>
          </p:nvSpPr>
          <p:spPr>
            <a:xfrm>
              <a:off x="6335" y="7963"/>
              <a:ext cx="669" cy="669"/>
            </a:xfrm>
            <a:prstGeom prst="ellipse">
              <a:avLst/>
            </a:prstGeom>
            <a:solidFill>
              <a:schemeClr val="accent5">
                <a:lumMod val="20000"/>
                <a:lumOff val="80000"/>
              </a:schemeClr>
            </a:solidFill>
            <a:ln>
              <a:solidFill>
                <a:schemeClr val="accent5">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6" name="文本框 45"/>
            <p:cNvSpPr txBox="1"/>
            <p:nvPr/>
          </p:nvSpPr>
          <p:spPr>
            <a:xfrm>
              <a:off x="5840" y="8711"/>
              <a:ext cx="1658" cy="483"/>
            </a:xfrm>
            <a:prstGeom prst="rect">
              <a:avLst/>
            </a:prstGeom>
            <a:noFill/>
          </p:spPr>
          <p:txBody>
            <a:bodyPr wrap="square" rtlCol="0">
              <a:spAutoFit/>
            </a:bodyPr>
            <a:p>
              <a:pPr algn="ctr"/>
              <a:r>
                <a:rPr lang="zh-CN" altLang="en-US" sz="1400">
                  <a:latin typeface="微软雅黑" panose="020B0503020204020204" charset="-122"/>
                  <a:ea typeface="微软雅黑" panose="020B0503020204020204" charset="-122"/>
                  <a:cs typeface="微软雅黑" panose="020B0503020204020204" charset="-122"/>
                </a:rPr>
                <a:t>营销服务</a:t>
              </a:r>
              <a:endParaRPr lang="zh-CN" altLang="en-US" sz="1400">
                <a:latin typeface="微软雅黑" panose="020B0503020204020204" charset="-122"/>
                <a:ea typeface="微软雅黑" panose="020B0503020204020204" charset="-122"/>
                <a:cs typeface="微软雅黑" panose="020B0503020204020204" charset="-122"/>
              </a:endParaRPr>
            </a:p>
          </p:txBody>
        </p:sp>
        <p:pic>
          <p:nvPicPr>
            <p:cNvPr id="78" name="图片 77" descr="营销服务"/>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447" y="8075"/>
              <a:ext cx="445" cy="445"/>
            </a:xfrm>
            <a:prstGeom prst="rect">
              <a:avLst/>
            </a:prstGeom>
          </p:spPr>
        </p:pic>
      </p:grpSp>
      <p:grpSp>
        <p:nvGrpSpPr>
          <p:cNvPr id="84" name="组合 83"/>
          <p:cNvGrpSpPr/>
          <p:nvPr/>
        </p:nvGrpSpPr>
        <p:grpSpPr>
          <a:xfrm>
            <a:off x="2487295" y="5056505"/>
            <a:ext cx="1052830" cy="781685"/>
            <a:chOff x="3917" y="7963"/>
            <a:chExt cx="1658" cy="1231"/>
          </a:xfrm>
        </p:grpSpPr>
        <p:sp>
          <p:nvSpPr>
            <p:cNvPr id="8" name="椭圆 7"/>
            <p:cNvSpPr/>
            <p:nvPr/>
          </p:nvSpPr>
          <p:spPr>
            <a:xfrm>
              <a:off x="4412" y="7963"/>
              <a:ext cx="669" cy="669"/>
            </a:xfrm>
            <a:prstGeom prst="ellipse">
              <a:avLst/>
            </a:prstGeom>
            <a:solidFill>
              <a:schemeClr val="accent5">
                <a:lumMod val="20000"/>
                <a:lumOff val="80000"/>
              </a:schemeClr>
            </a:solidFill>
            <a:ln>
              <a:solidFill>
                <a:schemeClr val="accent5">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5" name="文本框 44"/>
            <p:cNvSpPr txBox="1"/>
            <p:nvPr/>
          </p:nvSpPr>
          <p:spPr>
            <a:xfrm>
              <a:off x="3917" y="8711"/>
              <a:ext cx="1658" cy="483"/>
            </a:xfrm>
            <a:prstGeom prst="rect">
              <a:avLst/>
            </a:prstGeom>
            <a:noFill/>
          </p:spPr>
          <p:txBody>
            <a:bodyPr wrap="square" rtlCol="0">
              <a:spAutoFit/>
            </a:bodyPr>
            <a:p>
              <a:pPr algn="ctr"/>
              <a:r>
                <a:rPr lang="zh-CN" altLang="en-US" sz="1400">
                  <a:latin typeface="微软雅黑" panose="020B0503020204020204" charset="-122"/>
                  <a:ea typeface="微软雅黑" panose="020B0503020204020204" charset="-122"/>
                  <a:cs typeface="微软雅黑" panose="020B0503020204020204" charset="-122"/>
                </a:rPr>
                <a:t>信息服务</a:t>
              </a:r>
              <a:endParaRPr lang="zh-CN" altLang="en-US" sz="1400">
                <a:latin typeface="微软雅黑" panose="020B0503020204020204" charset="-122"/>
                <a:ea typeface="微软雅黑" panose="020B0503020204020204" charset="-122"/>
                <a:cs typeface="微软雅黑" panose="020B0503020204020204" charset="-122"/>
              </a:endParaRPr>
            </a:p>
          </p:txBody>
        </p:sp>
        <p:pic>
          <p:nvPicPr>
            <p:cNvPr id="79" name="图片 78" descr="信息服务-copy"/>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4533" y="8084"/>
              <a:ext cx="428" cy="428"/>
            </a:xfrm>
            <a:prstGeom prst="rect">
              <a:avLst/>
            </a:prstGeom>
          </p:spPr>
        </p:pic>
      </p:grpSp>
      <p:grpSp>
        <p:nvGrpSpPr>
          <p:cNvPr id="88" name="组合 87"/>
          <p:cNvGrpSpPr/>
          <p:nvPr/>
        </p:nvGrpSpPr>
        <p:grpSpPr>
          <a:xfrm>
            <a:off x="7437755" y="5056505"/>
            <a:ext cx="1052830" cy="781050"/>
            <a:chOff x="11609" y="7963"/>
            <a:chExt cx="1658" cy="1230"/>
          </a:xfrm>
        </p:grpSpPr>
        <p:sp>
          <p:nvSpPr>
            <p:cNvPr id="13" name="椭圆 12"/>
            <p:cNvSpPr/>
            <p:nvPr/>
          </p:nvSpPr>
          <p:spPr>
            <a:xfrm>
              <a:off x="12104" y="7963"/>
              <a:ext cx="669" cy="669"/>
            </a:xfrm>
            <a:prstGeom prst="ellipse">
              <a:avLst/>
            </a:prstGeom>
            <a:solidFill>
              <a:schemeClr val="accent5">
                <a:lumMod val="20000"/>
                <a:lumOff val="80000"/>
              </a:schemeClr>
            </a:solidFill>
            <a:ln>
              <a:solidFill>
                <a:schemeClr val="accent5">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9" name="文本框 48"/>
            <p:cNvSpPr txBox="1"/>
            <p:nvPr/>
          </p:nvSpPr>
          <p:spPr>
            <a:xfrm>
              <a:off x="11609" y="8711"/>
              <a:ext cx="1658" cy="483"/>
            </a:xfrm>
            <a:prstGeom prst="rect">
              <a:avLst/>
            </a:prstGeom>
            <a:noFill/>
          </p:spPr>
          <p:txBody>
            <a:bodyPr wrap="square" rtlCol="0">
              <a:spAutoFit/>
            </a:bodyPr>
            <a:p>
              <a:pPr algn="ctr"/>
              <a:r>
                <a:rPr lang="zh-CN" altLang="en-US" sz="1400">
                  <a:latin typeface="微软雅黑" panose="020B0503020204020204" charset="-122"/>
                  <a:ea typeface="微软雅黑" panose="020B0503020204020204" charset="-122"/>
                  <a:cs typeface="微软雅黑" panose="020B0503020204020204" charset="-122"/>
                </a:rPr>
                <a:t>物流服务</a:t>
              </a:r>
              <a:endParaRPr lang="zh-CN" altLang="en-US" sz="1400">
                <a:latin typeface="微软雅黑" panose="020B0503020204020204" charset="-122"/>
                <a:ea typeface="微软雅黑" panose="020B0503020204020204" charset="-122"/>
                <a:cs typeface="微软雅黑" panose="020B0503020204020204" charset="-122"/>
              </a:endParaRPr>
            </a:p>
          </p:txBody>
        </p:sp>
        <p:pic>
          <p:nvPicPr>
            <p:cNvPr id="80" name="图片 79" descr="物流服务商时效"/>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12232" y="8092"/>
              <a:ext cx="412" cy="412"/>
            </a:xfrm>
            <a:prstGeom prst="rect">
              <a:avLst/>
            </a:prstGeom>
          </p:spPr>
        </p:pic>
      </p:grpSp>
      <p:grpSp>
        <p:nvGrpSpPr>
          <p:cNvPr id="89" name="组合 88"/>
          <p:cNvGrpSpPr/>
          <p:nvPr/>
        </p:nvGrpSpPr>
        <p:grpSpPr>
          <a:xfrm>
            <a:off x="8675370" y="5056505"/>
            <a:ext cx="1052830" cy="781050"/>
            <a:chOff x="13532" y="7963"/>
            <a:chExt cx="1658" cy="1230"/>
          </a:xfrm>
        </p:grpSpPr>
        <p:sp>
          <p:nvSpPr>
            <p:cNvPr id="14" name="椭圆 13"/>
            <p:cNvSpPr/>
            <p:nvPr/>
          </p:nvSpPr>
          <p:spPr>
            <a:xfrm>
              <a:off x="14027" y="7963"/>
              <a:ext cx="669" cy="669"/>
            </a:xfrm>
            <a:prstGeom prst="ellipse">
              <a:avLst/>
            </a:prstGeom>
            <a:solidFill>
              <a:schemeClr val="accent5">
                <a:lumMod val="20000"/>
                <a:lumOff val="80000"/>
              </a:schemeClr>
            </a:solidFill>
            <a:ln>
              <a:solidFill>
                <a:schemeClr val="accent5">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50" name="文本框 49"/>
            <p:cNvSpPr txBox="1"/>
            <p:nvPr/>
          </p:nvSpPr>
          <p:spPr>
            <a:xfrm>
              <a:off x="13532" y="8711"/>
              <a:ext cx="1658" cy="483"/>
            </a:xfrm>
            <a:prstGeom prst="rect">
              <a:avLst/>
            </a:prstGeom>
            <a:noFill/>
          </p:spPr>
          <p:txBody>
            <a:bodyPr wrap="square" rtlCol="0">
              <a:spAutoFit/>
            </a:bodyPr>
            <a:p>
              <a:pPr algn="ctr"/>
              <a:r>
                <a:rPr lang="zh-CN" altLang="en-US" sz="1400">
                  <a:latin typeface="微软雅黑" panose="020B0503020204020204" charset="-122"/>
                  <a:ea typeface="微软雅黑" panose="020B0503020204020204" charset="-122"/>
                  <a:cs typeface="微软雅黑" panose="020B0503020204020204" charset="-122"/>
                </a:rPr>
                <a:t>售后服务</a:t>
              </a:r>
              <a:endParaRPr lang="zh-CN" altLang="en-US" sz="1400">
                <a:latin typeface="微软雅黑" panose="020B0503020204020204" charset="-122"/>
                <a:ea typeface="微软雅黑" panose="020B0503020204020204" charset="-122"/>
                <a:cs typeface="微软雅黑" panose="020B0503020204020204" charset="-122"/>
              </a:endParaRPr>
            </a:p>
          </p:txBody>
        </p:sp>
        <p:pic>
          <p:nvPicPr>
            <p:cNvPr id="82" name="图片 81" descr="售后服务"/>
            <p:cNvPicPr>
              <a:picLocks noChangeAspect="1"/>
            </p:cNvPicPr>
            <p:nvPr/>
          </p:nvPicPr>
          <p:blipFill>
            <a:blip r:embed="rId14">
              <a:extLst>
                <a:ext uri="{96DAC541-7B7A-43D3-8B79-37D633B846F1}">
                  <asvg:svgBlip xmlns:asvg="http://schemas.microsoft.com/office/drawing/2016/SVG/main" r:embed="rId15"/>
                </a:ext>
              </a:extLst>
            </a:blip>
            <a:stretch>
              <a:fillRect/>
            </a:stretch>
          </p:blipFill>
          <p:spPr>
            <a:xfrm>
              <a:off x="14159" y="8096"/>
              <a:ext cx="404" cy="404"/>
            </a:xfrm>
            <a:prstGeom prst="rect">
              <a:avLst/>
            </a:prstGeom>
          </p:spPr>
        </p:pic>
      </p:grpSp>
      <p:grpSp>
        <p:nvGrpSpPr>
          <p:cNvPr id="87" name="组合 86"/>
          <p:cNvGrpSpPr/>
          <p:nvPr/>
        </p:nvGrpSpPr>
        <p:grpSpPr>
          <a:xfrm>
            <a:off x="6200140" y="5056505"/>
            <a:ext cx="1052830" cy="777240"/>
            <a:chOff x="9686" y="7969"/>
            <a:chExt cx="1658" cy="1224"/>
          </a:xfrm>
        </p:grpSpPr>
        <p:sp>
          <p:nvSpPr>
            <p:cNvPr id="12" name="椭圆 11"/>
            <p:cNvSpPr/>
            <p:nvPr/>
          </p:nvSpPr>
          <p:spPr>
            <a:xfrm>
              <a:off x="10181" y="7969"/>
              <a:ext cx="669" cy="669"/>
            </a:xfrm>
            <a:prstGeom prst="ellipse">
              <a:avLst/>
            </a:prstGeom>
            <a:solidFill>
              <a:schemeClr val="accent5">
                <a:lumMod val="20000"/>
                <a:lumOff val="80000"/>
              </a:schemeClr>
            </a:solidFill>
            <a:ln>
              <a:solidFill>
                <a:schemeClr val="accent5">
                  <a:alpha val="7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8" name="文本框 47"/>
            <p:cNvSpPr txBox="1"/>
            <p:nvPr/>
          </p:nvSpPr>
          <p:spPr>
            <a:xfrm>
              <a:off x="9686" y="8711"/>
              <a:ext cx="1658" cy="483"/>
            </a:xfrm>
            <a:prstGeom prst="rect">
              <a:avLst/>
            </a:prstGeom>
            <a:noFill/>
          </p:spPr>
          <p:txBody>
            <a:bodyPr wrap="square" rtlCol="0">
              <a:spAutoFit/>
            </a:bodyPr>
            <a:p>
              <a:pPr algn="ctr"/>
              <a:r>
                <a:rPr lang="zh-CN" altLang="en-US" sz="1400">
                  <a:latin typeface="微软雅黑" panose="020B0503020204020204" charset="-122"/>
                  <a:ea typeface="微软雅黑" panose="020B0503020204020204" charset="-122"/>
                  <a:cs typeface="微软雅黑" panose="020B0503020204020204" charset="-122"/>
                </a:rPr>
                <a:t>金融服务</a:t>
              </a:r>
              <a:endParaRPr lang="zh-CN" altLang="en-US" sz="1400">
                <a:latin typeface="微软雅黑" panose="020B0503020204020204" charset="-122"/>
                <a:ea typeface="微软雅黑" panose="020B0503020204020204" charset="-122"/>
                <a:cs typeface="微软雅黑" panose="020B0503020204020204" charset="-122"/>
              </a:endParaRPr>
            </a:p>
          </p:txBody>
        </p:sp>
        <p:pic>
          <p:nvPicPr>
            <p:cNvPr id="83" name="图片 82" descr="金融服务"/>
            <p:cNvPicPr>
              <a:picLocks noChangeAspect="1"/>
            </p:cNvPicPr>
            <p:nvPr/>
          </p:nvPicPr>
          <p:blipFill>
            <a:blip r:embed="rId16">
              <a:extLst>
                <a:ext uri="{96DAC541-7B7A-43D3-8B79-37D633B846F1}">
                  <asvg:svgBlip xmlns:asvg="http://schemas.microsoft.com/office/drawing/2016/SVG/main" r:embed="rId17"/>
                </a:ext>
              </a:extLst>
            </a:blip>
            <a:stretch>
              <a:fillRect/>
            </a:stretch>
          </p:blipFill>
          <p:spPr>
            <a:xfrm>
              <a:off x="10268" y="8057"/>
              <a:ext cx="494" cy="494"/>
            </a:xfrm>
            <a:prstGeom prst="rect">
              <a:avLst/>
            </a:prstGeom>
          </p:spPr>
        </p:pic>
      </p:grpSp>
      <p:pic>
        <p:nvPicPr>
          <p:cNvPr id="90" name="图片 89" descr="家居建材"/>
          <p:cNvPicPr>
            <a:picLocks noChangeAspect="1"/>
          </p:cNvPicPr>
          <p:nvPr/>
        </p:nvPicPr>
        <p:blipFill>
          <a:blip r:embed="rId18">
            <a:extLst>
              <a:ext uri="{96DAC541-7B7A-43D3-8B79-37D633B846F1}">
                <asvg:svgBlip xmlns:asvg="http://schemas.microsoft.com/office/drawing/2016/SVG/main" r:embed="rId19"/>
              </a:ext>
            </a:extLst>
          </a:blip>
          <a:stretch>
            <a:fillRect/>
          </a:stretch>
        </p:blipFill>
        <p:spPr>
          <a:xfrm>
            <a:off x="5819775" y="2590800"/>
            <a:ext cx="476885" cy="406400"/>
          </a:xfrm>
          <a:prstGeom prst="rect">
            <a:avLst/>
          </a:prstGeom>
        </p:spPr>
      </p:pic>
      <p:sp>
        <p:nvSpPr>
          <p:cNvPr id="106" name="文本框 105"/>
          <p:cNvSpPr txBox="1"/>
          <p:nvPr/>
        </p:nvSpPr>
        <p:spPr>
          <a:xfrm>
            <a:off x="2194560" y="1724660"/>
            <a:ext cx="2583180" cy="521970"/>
          </a:xfrm>
          <a:prstGeom prst="rect">
            <a:avLst/>
          </a:prstGeom>
          <a:noFill/>
        </p:spPr>
        <p:txBody>
          <a:bodyPr wrap="square" rtlCol="0">
            <a:spAutoFit/>
          </a:bodyPr>
          <a:p>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面向上游提供数据辅助决策、智能供应链协同等服务。</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grpSp>
        <p:nvGrpSpPr>
          <p:cNvPr id="111" name="组合 110"/>
          <p:cNvGrpSpPr/>
          <p:nvPr/>
        </p:nvGrpSpPr>
        <p:grpSpPr>
          <a:xfrm>
            <a:off x="1336040" y="2439670"/>
            <a:ext cx="3232150" cy="470535"/>
            <a:chOff x="2104" y="3840"/>
            <a:chExt cx="5090" cy="741"/>
          </a:xfrm>
        </p:grpSpPr>
        <p:cxnSp>
          <p:nvCxnSpPr>
            <p:cNvPr id="22" name="直接箭头连接符 21"/>
            <p:cNvCxnSpPr/>
            <p:nvPr/>
          </p:nvCxnSpPr>
          <p:spPr>
            <a:xfrm flipH="1">
              <a:off x="2104" y="4581"/>
              <a:ext cx="4725" cy="0"/>
            </a:xfrm>
            <a:prstGeom prst="straightConnector1">
              <a:avLst/>
            </a:prstGeom>
            <a:ln w="19050">
              <a:solidFill>
                <a:schemeClr val="accent1"/>
              </a:solidFill>
              <a:prstDash val="sysDot"/>
              <a:tailEnd type="triangle" w="lg" len="lg"/>
            </a:ln>
          </p:spPr>
          <p:style>
            <a:lnRef idx="2">
              <a:schemeClr val="accent1"/>
            </a:lnRef>
            <a:fillRef idx="0">
              <a:srgbClr val="FFFFFF"/>
            </a:fillRef>
            <a:effectRef idx="0">
              <a:srgbClr val="FFFFFF"/>
            </a:effectRef>
            <a:fontRef idx="minor">
              <a:schemeClr val="tx1"/>
            </a:fontRef>
          </p:style>
        </p:cxnSp>
        <p:sp>
          <p:nvSpPr>
            <p:cNvPr id="26" name="文本框 25"/>
            <p:cNvSpPr txBox="1"/>
            <p:nvPr/>
          </p:nvSpPr>
          <p:spPr>
            <a:xfrm>
              <a:off x="3490" y="3840"/>
              <a:ext cx="3705" cy="628"/>
            </a:xfrm>
            <a:prstGeom prst="rect">
              <a:avLst/>
            </a:prstGeom>
            <a:noFill/>
          </p:spPr>
          <p:txBody>
            <a:bodyPr wrap="square" rtlCol="0">
              <a:spAutoFit/>
            </a:bodyPr>
            <a:p>
              <a:pPr algn="l"/>
              <a:r>
                <a:rPr lang="zh-CN" altLang="en-US" sz="1000">
                  <a:latin typeface="微软雅黑" panose="020B0503020204020204" charset="-122"/>
                  <a:ea typeface="微软雅黑" panose="020B0503020204020204" charset="-122"/>
                  <a:cs typeface="微软雅黑" panose="020B0503020204020204" charset="-122"/>
                </a:rPr>
                <a:t>通过市场数据预测与产能分析，辅助工厂实现多品类小批量柔性化定制生产。</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05" name="圆角矩形 104"/>
            <p:cNvSpPr/>
            <p:nvPr/>
          </p:nvSpPr>
          <p:spPr>
            <a:xfrm>
              <a:off x="2622" y="3862"/>
              <a:ext cx="868" cy="570"/>
            </a:xfrm>
            <a:prstGeom prst="round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07" name="文本框 106"/>
            <p:cNvSpPr txBox="1"/>
            <p:nvPr/>
          </p:nvSpPr>
          <p:spPr>
            <a:xfrm>
              <a:off x="2683" y="3840"/>
              <a:ext cx="730" cy="628"/>
            </a:xfrm>
            <a:prstGeom prst="rect">
              <a:avLst/>
            </a:prstGeom>
            <a:noFill/>
          </p:spPr>
          <p:txBody>
            <a:bodyPr wrap="square" rtlCol="0">
              <a:spAutoFit/>
            </a:bodyPr>
            <a:p>
              <a:pPr algn="ct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rPr>
                <a:t>生产</a:t>
              </a:r>
              <a:endPar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endParaRPr>
            </a:p>
            <a:p>
              <a:pPr algn="ct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rPr>
                <a:t>环节</a:t>
              </a:r>
              <a:endPar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21" name="组合 120"/>
          <p:cNvGrpSpPr/>
          <p:nvPr/>
        </p:nvGrpSpPr>
        <p:grpSpPr>
          <a:xfrm>
            <a:off x="1139190" y="3130550"/>
            <a:ext cx="3227070" cy="502920"/>
            <a:chOff x="1794" y="4866"/>
            <a:chExt cx="5082" cy="792"/>
          </a:xfrm>
        </p:grpSpPr>
        <p:cxnSp>
          <p:nvCxnSpPr>
            <p:cNvPr id="23" name="直接箭头连接符 22"/>
            <p:cNvCxnSpPr/>
            <p:nvPr/>
          </p:nvCxnSpPr>
          <p:spPr>
            <a:xfrm flipH="1">
              <a:off x="1794" y="5658"/>
              <a:ext cx="4725" cy="0"/>
            </a:xfrm>
            <a:prstGeom prst="straightConnector1">
              <a:avLst/>
            </a:prstGeom>
            <a:ln w="19050">
              <a:solidFill>
                <a:schemeClr val="accent1"/>
              </a:solidFill>
              <a:prstDash val="sysDot"/>
              <a:tailEnd type="triangle" w="lg" len="lg"/>
            </a:ln>
          </p:spPr>
          <p:style>
            <a:lnRef idx="2">
              <a:schemeClr val="accent1"/>
            </a:lnRef>
            <a:fillRef idx="0">
              <a:srgbClr val="FFFFFF"/>
            </a:fillRef>
            <a:effectRef idx="0">
              <a:srgbClr val="FFFFFF"/>
            </a:effectRef>
            <a:fontRef idx="minor">
              <a:schemeClr val="tx1"/>
            </a:fontRef>
          </p:style>
        </p:cxnSp>
        <p:sp>
          <p:nvSpPr>
            <p:cNvPr id="108" name="文本框 107"/>
            <p:cNvSpPr txBox="1"/>
            <p:nvPr/>
          </p:nvSpPr>
          <p:spPr>
            <a:xfrm>
              <a:off x="3172" y="4894"/>
              <a:ext cx="3705" cy="628"/>
            </a:xfrm>
            <a:prstGeom prst="rect">
              <a:avLst/>
            </a:prstGeom>
            <a:noFill/>
          </p:spPr>
          <p:txBody>
            <a:bodyPr wrap="square" rtlCol="0">
              <a:spAutoFit/>
            </a:bodyPr>
            <a:p>
              <a:pPr algn="l"/>
              <a:r>
                <a:rPr lang="zh-CN" altLang="en-US" sz="1000">
                  <a:latin typeface="微软雅黑" panose="020B0503020204020204" charset="-122"/>
                  <a:ea typeface="微软雅黑" panose="020B0503020204020204" charset="-122"/>
                  <a:cs typeface="微软雅黑" panose="020B0503020204020204" charset="-122"/>
                </a:rPr>
                <a:t>依托智能仓储系统优化大件建材分拣调度，实现全链路可视化配送管理。</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09" name="圆角矩形 108"/>
            <p:cNvSpPr/>
            <p:nvPr/>
          </p:nvSpPr>
          <p:spPr>
            <a:xfrm>
              <a:off x="2304" y="4888"/>
              <a:ext cx="868" cy="570"/>
            </a:xfrm>
            <a:prstGeom prst="round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10" name="文本框 109"/>
            <p:cNvSpPr txBox="1"/>
            <p:nvPr/>
          </p:nvSpPr>
          <p:spPr>
            <a:xfrm>
              <a:off x="2365" y="4866"/>
              <a:ext cx="730" cy="628"/>
            </a:xfrm>
            <a:prstGeom prst="rect">
              <a:avLst/>
            </a:prstGeom>
            <a:noFill/>
          </p:spPr>
          <p:txBody>
            <a:bodyPr wrap="square" rtlCol="0">
              <a:spAutoFit/>
            </a:bodyPr>
            <a:p>
              <a:pPr algn="ct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rPr>
                <a:t>流通</a:t>
              </a:r>
              <a:endPar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endParaRPr>
            </a:p>
            <a:p>
              <a:pPr algn="ct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rPr>
                <a:t>环节</a:t>
              </a:r>
              <a:endPar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12" name="组合 111"/>
          <p:cNvGrpSpPr/>
          <p:nvPr/>
        </p:nvGrpSpPr>
        <p:grpSpPr>
          <a:xfrm>
            <a:off x="1336040" y="3853815"/>
            <a:ext cx="3232785" cy="470535"/>
            <a:chOff x="2104" y="3840"/>
            <a:chExt cx="5091" cy="741"/>
          </a:xfrm>
        </p:grpSpPr>
        <p:cxnSp>
          <p:nvCxnSpPr>
            <p:cNvPr id="113" name="直接箭头连接符 112"/>
            <p:cNvCxnSpPr/>
            <p:nvPr/>
          </p:nvCxnSpPr>
          <p:spPr>
            <a:xfrm flipH="1">
              <a:off x="2104" y="4581"/>
              <a:ext cx="4725" cy="0"/>
            </a:xfrm>
            <a:prstGeom prst="straightConnector1">
              <a:avLst/>
            </a:prstGeom>
            <a:ln w="19050">
              <a:solidFill>
                <a:schemeClr val="accent1"/>
              </a:solidFill>
              <a:prstDash val="sysDot"/>
              <a:tailEnd type="triangle" w="lg" len="lg"/>
            </a:ln>
          </p:spPr>
          <p:style>
            <a:lnRef idx="2">
              <a:schemeClr val="accent1"/>
            </a:lnRef>
            <a:fillRef idx="0">
              <a:srgbClr val="FFFFFF"/>
            </a:fillRef>
            <a:effectRef idx="0">
              <a:srgbClr val="FFFFFF"/>
            </a:effectRef>
            <a:fontRef idx="minor">
              <a:schemeClr val="tx1"/>
            </a:fontRef>
          </p:style>
        </p:cxnSp>
        <p:sp>
          <p:nvSpPr>
            <p:cNvPr id="118" name="文本框 117"/>
            <p:cNvSpPr txBox="1"/>
            <p:nvPr/>
          </p:nvSpPr>
          <p:spPr>
            <a:xfrm>
              <a:off x="3490" y="3840"/>
              <a:ext cx="3705" cy="628"/>
            </a:xfrm>
            <a:prstGeom prst="rect">
              <a:avLst/>
            </a:prstGeom>
            <a:noFill/>
          </p:spPr>
          <p:txBody>
            <a:bodyPr wrap="square" rtlCol="0">
              <a:spAutoFit/>
            </a:bodyPr>
            <a:p>
              <a:pPr algn="l"/>
              <a:r>
                <a:rPr lang="zh-CN" altLang="en-US" sz="1000">
                  <a:latin typeface="微软雅黑" panose="020B0503020204020204" charset="-122"/>
                  <a:ea typeface="微软雅黑" panose="020B0503020204020204" charset="-122"/>
                  <a:cs typeface="微软雅黑" panose="020B0503020204020204" charset="-122"/>
                </a:rPr>
                <a:t>基于</a:t>
              </a:r>
              <a:r>
                <a:rPr lang="en-US" altLang="zh-CN" sz="1000">
                  <a:latin typeface="微软雅黑" panose="020B0503020204020204" charset="-122"/>
                  <a:ea typeface="微软雅黑" panose="020B0503020204020204" charset="-122"/>
                  <a:cs typeface="微软雅黑" panose="020B0503020204020204" charset="-122"/>
                </a:rPr>
                <a:t>SaaS</a:t>
              </a:r>
              <a:r>
                <a:rPr lang="zh-CN" altLang="en-US" sz="1000">
                  <a:latin typeface="微软雅黑" panose="020B0503020204020204" charset="-122"/>
                  <a:ea typeface="微软雅黑" panose="020B0503020204020204" charset="-122"/>
                  <a:cs typeface="微软雅黑" panose="020B0503020204020204" charset="-122"/>
                </a:rPr>
                <a:t>化</a:t>
              </a:r>
              <a:r>
                <a:rPr lang="en-US" altLang="zh-CN" sz="1000">
                  <a:latin typeface="微软雅黑" panose="020B0503020204020204" charset="-122"/>
                  <a:ea typeface="微软雅黑" panose="020B0503020204020204" charset="-122"/>
                  <a:cs typeface="微软雅黑" panose="020B0503020204020204" charset="-122"/>
                </a:rPr>
                <a:t>3D</a:t>
              </a:r>
              <a:r>
                <a:rPr lang="zh-CN" altLang="en-US" sz="1000">
                  <a:latin typeface="微软雅黑" panose="020B0503020204020204" charset="-122"/>
                  <a:ea typeface="微软雅黑" panose="020B0503020204020204" charset="-122"/>
                  <a:cs typeface="微软雅黑" panose="020B0503020204020204" charset="-122"/>
                </a:rPr>
                <a:t>设计工具赋能渠道商，精准触达装企与设计师群体。</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19" name="圆角矩形 118"/>
            <p:cNvSpPr/>
            <p:nvPr/>
          </p:nvSpPr>
          <p:spPr>
            <a:xfrm>
              <a:off x="2622" y="3862"/>
              <a:ext cx="868" cy="570"/>
            </a:xfrm>
            <a:prstGeom prst="round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20" name="文本框 119"/>
            <p:cNvSpPr txBox="1"/>
            <p:nvPr/>
          </p:nvSpPr>
          <p:spPr>
            <a:xfrm>
              <a:off x="2683" y="3840"/>
              <a:ext cx="730" cy="628"/>
            </a:xfrm>
            <a:prstGeom prst="rect">
              <a:avLst/>
            </a:prstGeom>
            <a:noFill/>
          </p:spPr>
          <p:txBody>
            <a:bodyPr wrap="square" rtlCol="0">
              <a:spAutoFit/>
            </a:bodyPr>
            <a:p>
              <a:pPr algn="ct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rPr>
                <a:t>营销</a:t>
              </a:r>
              <a:endPar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endParaRPr>
            </a:p>
            <a:p>
              <a:pPr algn="ct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rPr>
                <a:t>环节</a:t>
              </a:r>
              <a:endPar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22" name="组合 121"/>
          <p:cNvGrpSpPr/>
          <p:nvPr/>
        </p:nvGrpSpPr>
        <p:grpSpPr>
          <a:xfrm flipH="1">
            <a:off x="7751445" y="2439670"/>
            <a:ext cx="3158490" cy="470535"/>
            <a:chOff x="2104" y="3840"/>
            <a:chExt cx="4974" cy="741"/>
          </a:xfrm>
        </p:grpSpPr>
        <p:cxnSp>
          <p:nvCxnSpPr>
            <p:cNvPr id="123" name="直接箭头连接符 122"/>
            <p:cNvCxnSpPr/>
            <p:nvPr/>
          </p:nvCxnSpPr>
          <p:spPr>
            <a:xfrm flipH="1">
              <a:off x="2104" y="4581"/>
              <a:ext cx="4725" cy="0"/>
            </a:xfrm>
            <a:prstGeom prst="straightConnector1">
              <a:avLst/>
            </a:prstGeom>
            <a:ln w="19050">
              <a:solidFill>
                <a:schemeClr val="accent1"/>
              </a:solidFill>
              <a:prstDash val="sysDot"/>
              <a:tailEnd type="triangle" w="lg" len="lg"/>
            </a:ln>
          </p:spPr>
          <p:style>
            <a:lnRef idx="2">
              <a:schemeClr val="accent1"/>
            </a:lnRef>
            <a:fillRef idx="0">
              <a:srgbClr val="FFFFFF"/>
            </a:fillRef>
            <a:effectRef idx="0">
              <a:srgbClr val="FFFFFF"/>
            </a:effectRef>
            <a:fontRef idx="minor">
              <a:schemeClr val="tx1"/>
            </a:fontRef>
          </p:style>
        </p:cxnSp>
        <p:sp>
          <p:nvSpPr>
            <p:cNvPr id="124" name="文本框 123"/>
            <p:cNvSpPr txBox="1"/>
            <p:nvPr/>
          </p:nvSpPr>
          <p:spPr>
            <a:xfrm>
              <a:off x="3490" y="3840"/>
              <a:ext cx="3588" cy="628"/>
            </a:xfrm>
            <a:prstGeom prst="rect">
              <a:avLst/>
            </a:prstGeom>
            <a:noFill/>
          </p:spPr>
          <p:txBody>
            <a:bodyPr wrap="square" rtlCol="0">
              <a:spAutoFit/>
            </a:bodyPr>
            <a:p>
              <a:pPr algn="r"/>
              <a:r>
                <a:rPr lang="zh-CN" altLang="en-US" sz="1000">
                  <a:latin typeface="微软雅黑" panose="020B0503020204020204" charset="-122"/>
                  <a:ea typeface="微软雅黑" panose="020B0503020204020204" charset="-122"/>
                  <a:cs typeface="微软雅黑" panose="020B0503020204020204" charset="-122"/>
                </a:rPr>
                <a:t>通过动态采购模型与滞销预警机制，辅助门店精准匹配区域消费趋势备货。</a:t>
              </a:r>
              <a:r>
                <a:rPr lang="en-US" altLang="zh-CN" sz="1000">
                  <a:latin typeface="微软雅黑" panose="020B0503020204020204" charset="-122"/>
                  <a:ea typeface="微软雅黑" panose="020B0503020204020204" charset="-122"/>
                  <a:cs typeface="微软雅黑" panose="020B0503020204020204" charset="-122"/>
                </a:rPr>
                <a:t> </a:t>
              </a:r>
              <a:endParaRPr lang="en-US" altLang="zh-CN" sz="1000">
                <a:latin typeface="微软雅黑" panose="020B0503020204020204" charset="-122"/>
                <a:ea typeface="微软雅黑" panose="020B0503020204020204" charset="-122"/>
                <a:cs typeface="微软雅黑" panose="020B0503020204020204" charset="-122"/>
              </a:endParaRPr>
            </a:p>
          </p:txBody>
        </p:sp>
        <p:sp>
          <p:nvSpPr>
            <p:cNvPr id="125" name="圆角矩形 124"/>
            <p:cNvSpPr/>
            <p:nvPr/>
          </p:nvSpPr>
          <p:spPr>
            <a:xfrm>
              <a:off x="2622" y="3862"/>
              <a:ext cx="868" cy="570"/>
            </a:xfrm>
            <a:prstGeom prst="round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26" name="文本框 125"/>
            <p:cNvSpPr txBox="1"/>
            <p:nvPr/>
          </p:nvSpPr>
          <p:spPr>
            <a:xfrm>
              <a:off x="2683" y="3840"/>
              <a:ext cx="730" cy="628"/>
            </a:xfrm>
            <a:prstGeom prst="rect">
              <a:avLst/>
            </a:prstGeom>
            <a:noFill/>
          </p:spPr>
          <p:txBody>
            <a:bodyPr wrap="square" rtlCol="0">
              <a:spAutoFit/>
            </a:bodyPr>
            <a:p>
              <a:pPr algn="ct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rPr>
                <a:t>采购环节</a:t>
              </a:r>
              <a:endPar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27" name="组合 126"/>
          <p:cNvGrpSpPr/>
          <p:nvPr/>
        </p:nvGrpSpPr>
        <p:grpSpPr>
          <a:xfrm flipH="1">
            <a:off x="7529830" y="3130550"/>
            <a:ext cx="3178175" cy="502920"/>
            <a:chOff x="1794" y="4866"/>
            <a:chExt cx="5005" cy="792"/>
          </a:xfrm>
        </p:grpSpPr>
        <p:cxnSp>
          <p:nvCxnSpPr>
            <p:cNvPr id="128" name="直接箭头连接符 127"/>
            <p:cNvCxnSpPr/>
            <p:nvPr/>
          </p:nvCxnSpPr>
          <p:spPr>
            <a:xfrm flipH="1">
              <a:off x="1794" y="5658"/>
              <a:ext cx="4725" cy="0"/>
            </a:xfrm>
            <a:prstGeom prst="straightConnector1">
              <a:avLst/>
            </a:prstGeom>
            <a:ln w="19050">
              <a:solidFill>
                <a:schemeClr val="accent1"/>
              </a:solidFill>
              <a:prstDash val="sysDot"/>
              <a:tailEnd type="triangle" w="lg" len="lg"/>
            </a:ln>
          </p:spPr>
          <p:style>
            <a:lnRef idx="2">
              <a:schemeClr val="accent1"/>
            </a:lnRef>
            <a:fillRef idx="0">
              <a:srgbClr val="FFFFFF"/>
            </a:fillRef>
            <a:effectRef idx="0">
              <a:srgbClr val="FFFFFF"/>
            </a:effectRef>
            <a:fontRef idx="minor">
              <a:schemeClr val="tx1"/>
            </a:fontRef>
          </p:style>
        </p:cxnSp>
        <p:sp>
          <p:nvSpPr>
            <p:cNvPr id="129" name="文本框 128"/>
            <p:cNvSpPr txBox="1"/>
            <p:nvPr/>
          </p:nvSpPr>
          <p:spPr>
            <a:xfrm>
              <a:off x="3172" y="4894"/>
              <a:ext cx="3627" cy="628"/>
            </a:xfrm>
            <a:prstGeom prst="rect">
              <a:avLst/>
            </a:prstGeom>
            <a:noFill/>
          </p:spPr>
          <p:txBody>
            <a:bodyPr wrap="square" rtlCol="0">
              <a:spAutoFit/>
            </a:bodyPr>
            <a:p>
              <a:pPr algn="r"/>
              <a:r>
                <a:rPr lang="zh-CN" altLang="en-US" sz="1000">
                  <a:latin typeface="微软雅黑" panose="020B0503020204020204" charset="-122"/>
                  <a:ea typeface="微软雅黑" panose="020B0503020204020204" charset="-122"/>
                  <a:cs typeface="微软雅黑" panose="020B0503020204020204" charset="-122"/>
                </a:rPr>
                <a:t>基于云端</a:t>
              </a:r>
              <a:r>
                <a:rPr lang="en-US" altLang="zh-CN" sz="1000">
                  <a:latin typeface="微软雅黑" panose="020B0503020204020204" charset="-122"/>
                  <a:ea typeface="微软雅黑" panose="020B0503020204020204" charset="-122"/>
                  <a:cs typeface="微软雅黑" panose="020B0503020204020204" charset="-122"/>
                </a:rPr>
                <a:t>ERP</a:t>
              </a:r>
              <a:r>
                <a:rPr lang="zh-CN" altLang="en-US" sz="1000">
                  <a:latin typeface="微软雅黑" panose="020B0503020204020204" charset="-122"/>
                  <a:ea typeface="微软雅黑" panose="020B0503020204020204" charset="-122"/>
                  <a:cs typeface="微软雅黑" panose="020B0503020204020204" charset="-122"/>
                </a:rPr>
                <a:t>系统实现多店库存联动与财务自动化，降低人力管理成本。</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30" name="圆角矩形 129"/>
            <p:cNvSpPr/>
            <p:nvPr/>
          </p:nvSpPr>
          <p:spPr>
            <a:xfrm>
              <a:off x="2304" y="4888"/>
              <a:ext cx="868" cy="570"/>
            </a:xfrm>
            <a:prstGeom prst="round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31" name="文本框 130"/>
            <p:cNvSpPr txBox="1"/>
            <p:nvPr/>
          </p:nvSpPr>
          <p:spPr>
            <a:xfrm>
              <a:off x="2365" y="4866"/>
              <a:ext cx="730" cy="628"/>
            </a:xfrm>
            <a:prstGeom prst="rect">
              <a:avLst/>
            </a:prstGeom>
            <a:noFill/>
          </p:spPr>
          <p:txBody>
            <a:bodyPr wrap="square" rtlCol="0">
              <a:spAutoFit/>
            </a:bodyPr>
            <a:p>
              <a:pPr algn="ct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rPr>
                <a:t>经营</a:t>
              </a:r>
              <a:endPar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endParaRPr>
            </a:p>
            <a:p>
              <a:pPr algn="ct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rPr>
                <a:t>环节</a:t>
              </a:r>
              <a:endPar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32" name="组合 131"/>
          <p:cNvGrpSpPr/>
          <p:nvPr/>
        </p:nvGrpSpPr>
        <p:grpSpPr>
          <a:xfrm flipH="1">
            <a:off x="7832725" y="3853815"/>
            <a:ext cx="3077845" cy="470535"/>
            <a:chOff x="2104" y="3840"/>
            <a:chExt cx="4847" cy="741"/>
          </a:xfrm>
        </p:grpSpPr>
        <p:cxnSp>
          <p:nvCxnSpPr>
            <p:cNvPr id="133" name="直接箭头连接符 132"/>
            <p:cNvCxnSpPr/>
            <p:nvPr/>
          </p:nvCxnSpPr>
          <p:spPr>
            <a:xfrm flipH="1">
              <a:off x="2104" y="4581"/>
              <a:ext cx="4725" cy="0"/>
            </a:xfrm>
            <a:prstGeom prst="straightConnector1">
              <a:avLst/>
            </a:prstGeom>
            <a:ln w="19050">
              <a:solidFill>
                <a:schemeClr val="accent1"/>
              </a:solidFill>
              <a:prstDash val="sysDot"/>
              <a:tailEnd type="triangle" w="lg" len="lg"/>
            </a:ln>
          </p:spPr>
          <p:style>
            <a:lnRef idx="2">
              <a:schemeClr val="accent1"/>
            </a:lnRef>
            <a:fillRef idx="0">
              <a:srgbClr val="FFFFFF"/>
            </a:fillRef>
            <a:effectRef idx="0">
              <a:srgbClr val="FFFFFF"/>
            </a:effectRef>
            <a:fontRef idx="minor">
              <a:schemeClr val="tx1"/>
            </a:fontRef>
          </p:style>
        </p:cxnSp>
        <p:sp>
          <p:nvSpPr>
            <p:cNvPr id="134" name="文本框 133"/>
            <p:cNvSpPr txBox="1"/>
            <p:nvPr/>
          </p:nvSpPr>
          <p:spPr>
            <a:xfrm>
              <a:off x="3490" y="3840"/>
              <a:ext cx="3461" cy="628"/>
            </a:xfrm>
            <a:prstGeom prst="rect">
              <a:avLst/>
            </a:prstGeom>
            <a:noFill/>
          </p:spPr>
          <p:txBody>
            <a:bodyPr wrap="square" rtlCol="0">
              <a:spAutoFit/>
            </a:bodyPr>
            <a:p>
              <a:pPr algn="r"/>
              <a:r>
                <a:rPr lang="zh-CN" altLang="en-US" sz="1000">
                  <a:latin typeface="微软雅黑" panose="020B0503020204020204" charset="-122"/>
                  <a:ea typeface="微软雅黑" panose="020B0503020204020204" charset="-122"/>
                  <a:cs typeface="微软雅黑" panose="020B0503020204020204" charset="-122"/>
                </a:rPr>
                <a:t>借力</a:t>
              </a:r>
              <a:r>
                <a:rPr lang="en-US" altLang="zh-CN" sz="1000">
                  <a:latin typeface="微软雅黑" panose="020B0503020204020204" charset="-122"/>
                  <a:ea typeface="微软雅黑" panose="020B0503020204020204" charset="-122"/>
                  <a:cs typeface="微软雅黑" panose="020B0503020204020204" charset="-122"/>
                </a:rPr>
                <a:t>AI</a:t>
              </a:r>
              <a:r>
                <a:rPr lang="zh-CN" altLang="en-US" sz="1000">
                  <a:latin typeface="微软雅黑" panose="020B0503020204020204" charset="-122"/>
                  <a:ea typeface="微软雅黑" panose="020B0503020204020204" charset="-122"/>
                  <a:cs typeface="微软雅黑" panose="020B0503020204020204" charset="-122"/>
                </a:rPr>
                <a:t>设计工具生成沉浸式家装方案，提升客户转化率与客单价。</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135" name="圆角矩形 134"/>
            <p:cNvSpPr/>
            <p:nvPr/>
          </p:nvSpPr>
          <p:spPr>
            <a:xfrm>
              <a:off x="2622" y="3862"/>
              <a:ext cx="868" cy="570"/>
            </a:xfrm>
            <a:prstGeom prst="roundRect">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36" name="文本框 135"/>
            <p:cNvSpPr txBox="1"/>
            <p:nvPr/>
          </p:nvSpPr>
          <p:spPr>
            <a:xfrm>
              <a:off x="2683" y="3840"/>
              <a:ext cx="730" cy="628"/>
            </a:xfrm>
            <a:prstGeom prst="rect">
              <a:avLst/>
            </a:prstGeom>
            <a:noFill/>
          </p:spPr>
          <p:txBody>
            <a:bodyPr wrap="square" rtlCol="0">
              <a:spAutoFit/>
            </a:bodyPr>
            <a:p>
              <a:pPr algn="ct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rPr>
                <a:t>服务</a:t>
              </a:r>
              <a:endPar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endParaRPr>
            </a:p>
            <a:p>
              <a:pPr algn="ctr"/>
              <a:r>
                <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rPr>
                <a:t>环节</a:t>
              </a:r>
              <a:endParaRPr lang="zh-CN" altLang="en-US" sz="10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25" name="组合 24"/>
          <p:cNvGrpSpPr/>
          <p:nvPr/>
        </p:nvGrpSpPr>
        <p:grpSpPr>
          <a:xfrm rot="2880000">
            <a:off x="6420485" y="2430780"/>
            <a:ext cx="646430" cy="185420"/>
            <a:chOff x="6712" y="1983"/>
            <a:chExt cx="1018" cy="292"/>
          </a:xfrm>
        </p:grpSpPr>
        <p:sp>
          <p:nvSpPr>
            <p:cNvPr id="27" name="燕尾形 26"/>
            <p:cNvSpPr/>
            <p:nvPr>
              <p:custDataLst>
                <p:tags r:id="rId20"/>
              </p:custDataLst>
            </p:nvPr>
          </p:nvSpPr>
          <p:spPr>
            <a:xfrm rot="10800000">
              <a:off x="7081" y="1983"/>
              <a:ext cx="417" cy="292"/>
            </a:xfrm>
            <a:prstGeom prst="chevron">
              <a:avLst/>
            </a:prstGeom>
            <a:gradFill>
              <a:gsLst>
                <a:gs pos="0">
                  <a:schemeClr val="accent1">
                    <a:lumMod val="40000"/>
                    <a:lumOff val="60000"/>
                    <a:alpha val="50000"/>
                  </a:schemeClr>
                </a:gs>
                <a:gs pos="100000">
                  <a:schemeClr val="accent1">
                    <a:lumMod val="40000"/>
                    <a:lumOff val="6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8" name="燕尾形 27"/>
            <p:cNvSpPr/>
            <p:nvPr>
              <p:custDataLst>
                <p:tags r:id="rId21"/>
              </p:custDataLst>
            </p:nvPr>
          </p:nvSpPr>
          <p:spPr>
            <a:xfrm rot="10800000">
              <a:off x="7458" y="1983"/>
              <a:ext cx="273" cy="292"/>
            </a:xfrm>
            <a:prstGeom prst="chevron">
              <a:avLst/>
            </a:prstGeom>
            <a:gradFill>
              <a:gsLst>
                <a:gs pos="0">
                  <a:schemeClr val="accent1">
                    <a:lumMod val="40000"/>
                    <a:lumOff val="60000"/>
                    <a:alpha val="0"/>
                  </a:schemeClr>
                </a:gs>
                <a:gs pos="100000">
                  <a:schemeClr val="accent1">
                    <a:lumMod val="40000"/>
                    <a:lumOff val="6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29" name="燕尾形 28"/>
            <p:cNvSpPr/>
            <p:nvPr>
              <p:custDataLst>
                <p:tags r:id="rId22"/>
              </p:custDataLst>
            </p:nvPr>
          </p:nvSpPr>
          <p:spPr>
            <a:xfrm rot="10800000">
              <a:off x="6712" y="1983"/>
              <a:ext cx="417" cy="292"/>
            </a:xfrm>
            <a:prstGeom prst="chevron">
              <a:avLst/>
            </a:prstGeom>
            <a:gradFill>
              <a:gsLst>
                <a:gs pos="0">
                  <a:schemeClr val="accent1">
                    <a:lumMod val="60000"/>
                    <a:lumOff val="40000"/>
                    <a:alpha val="5000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grpSp>
        <p:nvGrpSpPr>
          <p:cNvPr id="35" name="组合 34"/>
          <p:cNvGrpSpPr/>
          <p:nvPr/>
        </p:nvGrpSpPr>
        <p:grpSpPr>
          <a:xfrm rot="8100000">
            <a:off x="6457315" y="3796030"/>
            <a:ext cx="646430" cy="185420"/>
            <a:chOff x="6712" y="1983"/>
            <a:chExt cx="1018" cy="292"/>
          </a:xfrm>
        </p:grpSpPr>
        <p:sp>
          <p:nvSpPr>
            <p:cNvPr id="36" name="燕尾形 35"/>
            <p:cNvSpPr/>
            <p:nvPr>
              <p:custDataLst>
                <p:tags r:id="rId23"/>
              </p:custDataLst>
            </p:nvPr>
          </p:nvSpPr>
          <p:spPr>
            <a:xfrm rot="10800000">
              <a:off x="7081" y="1983"/>
              <a:ext cx="417" cy="292"/>
            </a:xfrm>
            <a:prstGeom prst="chevron">
              <a:avLst/>
            </a:prstGeom>
            <a:gradFill>
              <a:gsLst>
                <a:gs pos="0">
                  <a:schemeClr val="accent1">
                    <a:lumMod val="40000"/>
                    <a:lumOff val="60000"/>
                    <a:alpha val="50000"/>
                  </a:schemeClr>
                </a:gs>
                <a:gs pos="100000">
                  <a:schemeClr val="accent1">
                    <a:lumMod val="40000"/>
                    <a:lumOff val="6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7" name="燕尾形 36"/>
            <p:cNvSpPr/>
            <p:nvPr>
              <p:custDataLst>
                <p:tags r:id="rId24"/>
              </p:custDataLst>
            </p:nvPr>
          </p:nvSpPr>
          <p:spPr>
            <a:xfrm rot="10800000">
              <a:off x="7458" y="1983"/>
              <a:ext cx="273" cy="292"/>
            </a:xfrm>
            <a:prstGeom prst="chevron">
              <a:avLst/>
            </a:prstGeom>
            <a:gradFill>
              <a:gsLst>
                <a:gs pos="0">
                  <a:schemeClr val="accent1">
                    <a:lumMod val="40000"/>
                    <a:lumOff val="60000"/>
                    <a:alpha val="0"/>
                  </a:schemeClr>
                </a:gs>
                <a:gs pos="100000">
                  <a:schemeClr val="accent1">
                    <a:lumMod val="40000"/>
                    <a:lumOff val="6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8" name="燕尾形 37"/>
            <p:cNvSpPr/>
            <p:nvPr>
              <p:custDataLst>
                <p:tags r:id="rId25"/>
              </p:custDataLst>
            </p:nvPr>
          </p:nvSpPr>
          <p:spPr>
            <a:xfrm rot="10800000">
              <a:off x="6712" y="1983"/>
              <a:ext cx="417" cy="292"/>
            </a:xfrm>
            <a:prstGeom prst="chevron">
              <a:avLst/>
            </a:prstGeom>
            <a:gradFill>
              <a:gsLst>
                <a:gs pos="0">
                  <a:schemeClr val="accent1">
                    <a:lumMod val="60000"/>
                    <a:lumOff val="40000"/>
                    <a:alpha val="5000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grpSp>
        <p:nvGrpSpPr>
          <p:cNvPr id="43" name="组合 42"/>
          <p:cNvGrpSpPr/>
          <p:nvPr/>
        </p:nvGrpSpPr>
        <p:grpSpPr>
          <a:xfrm rot="13560000">
            <a:off x="5046345" y="3808095"/>
            <a:ext cx="646430" cy="185420"/>
            <a:chOff x="6712" y="1983"/>
            <a:chExt cx="1018" cy="292"/>
          </a:xfrm>
        </p:grpSpPr>
        <p:sp>
          <p:nvSpPr>
            <p:cNvPr id="53" name="燕尾形 52"/>
            <p:cNvSpPr/>
            <p:nvPr>
              <p:custDataLst>
                <p:tags r:id="rId26"/>
              </p:custDataLst>
            </p:nvPr>
          </p:nvSpPr>
          <p:spPr>
            <a:xfrm rot="10800000">
              <a:off x="7081" y="1983"/>
              <a:ext cx="417" cy="292"/>
            </a:xfrm>
            <a:prstGeom prst="chevron">
              <a:avLst/>
            </a:prstGeom>
            <a:gradFill>
              <a:gsLst>
                <a:gs pos="0">
                  <a:schemeClr val="accent1">
                    <a:lumMod val="40000"/>
                    <a:lumOff val="60000"/>
                    <a:alpha val="50000"/>
                  </a:schemeClr>
                </a:gs>
                <a:gs pos="100000">
                  <a:schemeClr val="accent1">
                    <a:lumMod val="40000"/>
                    <a:lumOff val="6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54" name="燕尾形 53"/>
            <p:cNvSpPr/>
            <p:nvPr>
              <p:custDataLst>
                <p:tags r:id="rId27"/>
              </p:custDataLst>
            </p:nvPr>
          </p:nvSpPr>
          <p:spPr>
            <a:xfrm rot="10800000">
              <a:off x="7458" y="1983"/>
              <a:ext cx="273" cy="292"/>
            </a:xfrm>
            <a:prstGeom prst="chevron">
              <a:avLst/>
            </a:prstGeom>
            <a:gradFill>
              <a:gsLst>
                <a:gs pos="0">
                  <a:schemeClr val="accent1">
                    <a:lumMod val="40000"/>
                    <a:lumOff val="60000"/>
                    <a:alpha val="0"/>
                  </a:schemeClr>
                </a:gs>
                <a:gs pos="100000">
                  <a:schemeClr val="accent1">
                    <a:lumMod val="40000"/>
                    <a:lumOff val="6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55" name="燕尾形 54"/>
            <p:cNvSpPr/>
            <p:nvPr>
              <p:custDataLst>
                <p:tags r:id="rId28"/>
              </p:custDataLst>
            </p:nvPr>
          </p:nvSpPr>
          <p:spPr>
            <a:xfrm rot="10800000">
              <a:off x="6712" y="1983"/>
              <a:ext cx="417" cy="292"/>
            </a:xfrm>
            <a:prstGeom prst="chevron">
              <a:avLst/>
            </a:prstGeom>
            <a:gradFill>
              <a:gsLst>
                <a:gs pos="0">
                  <a:schemeClr val="accent1">
                    <a:lumMod val="60000"/>
                    <a:lumOff val="40000"/>
                    <a:alpha val="5000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sp>
        <p:nvSpPr>
          <p:cNvPr id="56" name="椭圆 55"/>
          <p:cNvSpPr/>
          <p:nvPr/>
        </p:nvSpPr>
        <p:spPr>
          <a:xfrm>
            <a:off x="5950268" y="4395470"/>
            <a:ext cx="174625" cy="174625"/>
          </a:xfrm>
          <a:prstGeom prst="ellipse">
            <a:avLst/>
          </a:prstGeom>
          <a:solidFill>
            <a:schemeClr val="accent5">
              <a:lumMod val="20000"/>
              <a:lumOff val="80000"/>
            </a:schemeClr>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3"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21" name="图片 20"/>
            <p:cNvPicPr>
              <a:picLocks noChangeAspect="1"/>
            </p:cNvPicPr>
            <p:nvPr userDrawn="1"/>
          </p:nvPicPr>
          <p:blipFill>
            <a:blip r:embed="rId29"/>
            <a:srcRect l="17002" t="-1765" r="56499" b="-1176"/>
            <a:stretch>
              <a:fillRect/>
            </a:stretch>
          </p:blipFill>
          <p:spPr>
            <a:xfrm>
              <a:off x="13761" y="549"/>
              <a:ext cx="1582" cy="525"/>
            </a:xfrm>
            <a:prstGeom prst="rect">
              <a:avLst/>
            </a:prstGeom>
          </p:spPr>
        </p:pic>
        <p:sp>
          <p:nvSpPr>
            <p:cNvPr id="24" name="文本框 2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7" name="组合 636"/>
          <p:cNvGrpSpPr/>
          <p:nvPr/>
        </p:nvGrpSpPr>
        <p:grpSpPr>
          <a:xfrm>
            <a:off x="2613660" y="1157605"/>
            <a:ext cx="9131300" cy="1296000"/>
            <a:chOff x="4116" y="1834"/>
            <a:chExt cx="14380" cy="2108"/>
          </a:xfrm>
        </p:grpSpPr>
        <p:sp>
          <p:nvSpPr>
            <p:cNvPr id="635" name="熊大的PPT宝库6"/>
            <p:cNvSpPr/>
            <p:nvPr/>
          </p:nvSpPr>
          <p:spPr>
            <a:xfrm>
              <a:off x="4116" y="1834"/>
              <a:ext cx="14379" cy="2108"/>
            </a:xfrm>
            <a:prstGeom prst="roundRect">
              <a:avLst>
                <a:gd name="adj" fmla="val 0"/>
              </a:avLst>
            </a:prstGeom>
            <a:gradFill>
              <a:gsLst>
                <a:gs pos="11000">
                  <a:schemeClr val="accent1">
                    <a:lumMod val="20000"/>
                    <a:lumOff val="80000"/>
                    <a:alpha val="0"/>
                  </a:schemeClr>
                </a:gs>
                <a:gs pos="100000">
                  <a:schemeClr val="accent1">
                    <a:lumMod val="20000"/>
                    <a:lumOff val="80000"/>
                    <a:alpha val="50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a:solidFill>
                  <a:schemeClr val="tx1"/>
                </a:solidFill>
                <a:latin typeface="+mn-ea"/>
                <a:cs typeface="微软雅黑" panose="020B0503020204020204" charset="-122"/>
              </a:endParaRPr>
            </a:p>
          </p:txBody>
        </p:sp>
        <p:sp>
          <p:nvSpPr>
            <p:cNvPr id="636" name="熊大的PPT宝库7"/>
            <p:cNvSpPr/>
            <p:nvPr/>
          </p:nvSpPr>
          <p:spPr>
            <a:xfrm flipV="1">
              <a:off x="18384" y="1834"/>
              <a:ext cx="113" cy="2108"/>
            </a:xfrm>
            <a:prstGeom prst="roundRect">
              <a:avLst>
                <a:gd name="adj" fmla="val 0"/>
              </a:avLst>
            </a:prstGeom>
            <a:gradFill>
              <a:gsLst>
                <a:gs pos="0">
                  <a:schemeClr val="accent1">
                    <a:lumMod val="60000"/>
                    <a:lumOff val="40000"/>
                  </a:schemeClr>
                </a:gs>
                <a:gs pos="78000">
                  <a:schemeClr val="accent1"/>
                </a:gs>
              </a:gsLst>
              <a:lin ang="5400000" scaled="0"/>
            </a:gradFill>
            <a:ln w="9525" cap="flat">
              <a:noFill/>
              <a:prstDash val="solid"/>
              <a:miter/>
            </a:ln>
          </p:spPr>
          <p:txBody>
            <a:bodyPr rtlCol="0" anchor="ctr"/>
            <a:lstStyle/>
            <a:p>
              <a:pPr defTabSz="457200"/>
              <a:endParaRPr lang="zh-CN" altLang="en-US">
                <a:solidFill>
                  <a:schemeClr val="tx1"/>
                </a:solidFill>
                <a:latin typeface="+mn-ea"/>
                <a:cs typeface="微软雅黑" panose="020B0503020204020204" charset="-122"/>
              </a:endParaRPr>
            </a:p>
          </p:txBody>
        </p:sp>
      </p:grpSp>
      <p:grpSp>
        <p:nvGrpSpPr>
          <p:cNvPr id="644" name="组合 643"/>
          <p:cNvGrpSpPr/>
          <p:nvPr/>
        </p:nvGrpSpPr>
        <p:grpSpPr>
          <a:xfrm>
            <a:off x="2613660" y="5261575"/>
            <a:ext cx="9131300" cy="1295400"/>
            <a:chOff x="4116" y="1834"/>
            <a:chExt cx="14380" cy="2108"/>
          </a:xfrm>
        </p:grpSpPr>
        <p:sp>
          <p:nvSpPr>
            <p:cNvPr id="645" name="熊大的PPT宝库6"/>
            <p:cNvSpPr/>
            <p:nvPr/>
          </p:nvSpPr>
          <p:spPr>
            <a:xfrm>
              <a:off x="4116" y="1834"/>
              <a:ext cx="14379" cy="2108"/>
            </a:xfrm>
            <a:prstGeom prst="roundRect">
              <a:avLst>
                <a:gd name="adj" fmla="val 0"/>
              </a:avLst>
            </a:prstGeom>
            <a:gradFill>
              <a:gsLst>
                <a:gs pos="11000">
                  <a:schemeClr val="accent1">
                    <a:lumMod val="20000"/>
                    <a:lumOff val="80000"/>
                    <a:alpha val="0"/>
                  </a:schemeClr>
                </a:gs>
                <a:gs pos="100000">
                  <a:schemeClr val="accent1">
                    <a:lumMod val="20000"/>
                    <a:lumOff val="80000"/>
                    <a:alpha val="50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a:solidFill>
                  <a:schemeClr val="tx1"/>
                </a:solidFill>
                <a:latin typeface="+mn-ea"/>
                <a:cs typeface="微软雅黑" panose="020B0503020204020204" charset="-122"/>
              </a:endParaRPr>
            </a:p>
          </p:txBody>
        </p:sp>
        <p:sp>
          <p:nvSpPr>
            <p:cNvPr id="646" name="熊大的PPT宝库7"/>
            <p:cNvSpPr/>
            <p:nvPr/>
          </p:nvSpPr>
          <p:spPr>
            <a:xfrm flipV="1">
              <a:off x="18384" y="1834"/>
              <a:ext cx="113" cy="2108"/>
            </a:xfrm>
            <a:prstGeom prst="roundRect">
              <a:avLst>
                <a:gd name="adj" fmla="val 0"/>
              </a:avLst>
            </a:prstGeom>
            <a:gradFill>
              <a:gsLst>
                <a:gs pos="0">
                  <a:schemeClr val="accent1">
                    <a:alpha val="67000"/>
                  </a:schemeClr>
                </a:gs>
                <a:gs pos="78000">
                  <a:schemeClr val="accent1"/>
                </a:gs>
              </a:gsLst>
              <a:lin ang="5400000" scaled="0"/>
            </a:gradFill>
            <a:ln w="9525" cap="flat">
              <a:noFill/>
              <a:prstDash val="solid"/>
              <a:miter/>
            </a:ln>
          </p:spPr>
          <p:txBody>
            <a:bodyPr rtlCol="0" anchor="ctr"/>
            <a:lstStyle/>
            <a:p>
              <a:pPr defTabSz="457200"/>
              <a:endParaRPr lang="zh-CN" altLang="en-US">
                <a:solidFill>
                  <a:schemeClr val="tx1"/>
                </a:solidFill>
                <a:latin typeface="+mn-ea"/>
                <a:cs typeface="微软雅黑" panose="020B0503020204020204" charset="-122"/>
              </a:endParaRPr>
            </a:p>
          </p:txBody>
        </p:sp>
      </p:grpSp>
      <p:grpSp>
        <p:nvGrpSpPr>
          <p:cNvPr id="641" name="组合 640"/>
          <p:cNvGrpSpPr/>
          <p:nvPr/>
        </p:nvGrpSpPr>
        <p:grpSpPr>
          <a:xfrm>
            <a:off x="2613660" y="3893785"/>
            <a:ext cx="9131300" cy="1295400"/>
            <a:chOff x="4116" y="1834"/>
            <a:chExt cx="14380" cy="2108"/>
          </a:xfrm>
        </p:grpSpPr>
        <p:sp>
          <p:nvSpPr>
            <p:cNvPr id="642" name="熊大的PPT宝库6"/>
            <p:cNvSpPr/>
            <p:nvPr/>
          </p:nvSpPr>
          <p:spPr>
            <a:xfrm>
              <a:off x="4116" y="1834"/>
              <a:ext cx="14379" cy="2108"/>
            </a:xfrm>
            <a:prstGeom prst="roundRect">
              <a:avLst>
                <a:gd name="adj" fmla="val 0"/>
              </a:avLst>
            </a:prstGeom>
            <a:gradFill>
              <a:gsLst>
                <a:gs pos="11000">
                  <a:schemeClr val="accent5">
                    <a:lumMod val="20000"/>
                    <a:lumOff val="80000"/>
                    <a:alpha val="0"/>
                  </a:schemeClr>
                </a:gs>
                <a:gs pos="100000">
                  <a:schemeClr val="accent5">
                    <a:lumMod val="20000"/>
                    <a:lumOff val="80000"/>
                    <a:alpha val="50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a:solidFill>
                  <a:schemeClr val="tx1"/>
                </a:solidFill>
                <a:latin typeface="+mn-ea"/>
                <a:cs typeface="微软雅黑" panose="020B0503020204020204" charset="-122"/>
              </a:endParaRPr>
            </a:p>
          </p:txBody>
        </p:sp>
        <p:sp>
          <p:nvSpPr>
            <p:cNvPr id="643" name="熊大的PPT宝库7"/>
            <p:cNvSpPr/>
            <p:nvPr/>
          </p:nvSpPr>
          <p:spPr>
            <a:xfrm flipV="1">
              <a:off x="18384" y="1834"/>
              <a:ext cx="113" cy="2108"/>
            </a:xfrm>
            <a:prstGeom prst="roundRect">
              <a:avLst>
                <a:gd name="adj" fmla="val 0"/>
              </a:avLst>
            </a:prstGeom>
            <a:gradFill>
              <a:gsLst>
                <a:gs pos="0">
                  <a:schemeClr val="accent5">
                    <a:lumMod val="60000"/>
                    <a:lumOff val="40000"/>
                  </a:schemeClr>
                </a:gs>
                <a:gs pos="78000">
                  <a:schemeClr val="accent5"/>
                </a:gs>
              </a:gsLst>
              <a:lin ang="5400000" scaled="0"/>
            </a:gradFill>
            <a:ln w="9525" cap="flat">
              <a:noFill/>
              <a:prstDash val="solid"/>
              <a:miter/>
            </a:ln>
          </p:spPr>
          <p:txBody>
            <a:bodyPr rtlCol="0" anchor="ctr"/>
            <a:lstStyle/>
            <a:p>
              <a:pPr defTabSz="457200"/>
              <a:endParaRPr lang="zh-CN" altLang="en-US">
                <a:solidFill>
                  <a:schemeClr val="tx1"/>
                </a:solidFill>
                <a:latin typeface="+mn-ea"/>
                <a:cs typeface="微软雅黑" panose="020B0503020204020204" charset="-122"/>
              </a:endParaRPr>
            </a:p>
          </p:txBody>
        </p:sp>
      </p:grpSp>
      <p:grpSp>
        <p:nvGrpSpPr>
          <p:cNvPr id="638" name="组合 637"/>
          <p:cNvGrpSpPr/>
          <p:nvPr/>
        </p:nvGrpSpPr>
        <p:grpSpPr>
          <a:xfrm>
            <a:off x="2613660" y="2525995"/>
            <a:ext cx="9131300" cy="1295400"/>
            <a:chOff x="4116" y="1834"/>
            <a:chExt cx="14380" cy="2108"/>
          </a:xfrm>
        </p:grpSpPr>
        <p:sp>
          <p:nvSpPr>
            <p:cNvPr id="639" name="熊大的PPT宝库6"/>
            <p:cNvSpPr/>
            <p:nvPr/>
          </p:nvSpPr>
          <p:spPr>
            <a:xfrm>
              <a:off x="4116" y="1834"/>
              <a:ext cx="14379" cy="2108"/>
            </a:xfrm>
            <a:prstGeom prst="roundRect">
              <a:avLst>
                <a:gd name="adj" fmla="val 0"/>
              </a:avLst>
            </a:prstGeom>
            <a:gradFill>
              <a:gsLst>
                <a:gs pos="11000">
                  <a:schemeClr val="accent5">
                    <a:lumMod val="20000"/>
                    <a:lumOff val="80000"/>
                    <a:alpha val="0"/>
                  </a:schemeClr>
                </a:gs>
                <a:gs pos="100000">
                  <a:schemeClr val="accent5">
                    <a:lumMod val="20000"/>
                    <a:lumOff val="80000"/>
                    <a:alpha val="50000"/>
                  </a:schemeClr>
                </a:gs>
              </a:gsLst>
              <a:lin ang="0" scaled="0"/>
            </a:gradFill>
            <a:ln w="9525" cap="flat">
              <a:noFill/>
              <a:prstDash val="solid"/>
              <a:miter/>
            </a:ln>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a:solidFill>
                  <a:schemeClr val="tx1"/>
                </a:solidFill>
                <a:latin typeface="+mn-ea"/>
                <a:cs typeface="微软雅黑" panose="020B0503020204020204" charset="-122"/>
              </a:endParaRPr>
            </a:p>
          </p:txBody>
        </p:sp>
        <p:sp>
          <p:nvSpPr>
            <p:cNvPr id="640" name="熊大的PPT宝库7"/>
            <p:cNvSpPr/>
            <p:nvPr/>
          </p:nvSpPr>
          <p:spPr>
            <a:xfrm flipV="1">
              <a:off x="18384" y="1834"/>
              <a:ext cx="113" cy="2108"/>
            </a:xfrm>
            <a:prstGeom prst="roundRect">
              <a:avLst>
                <a:gd name="adj" fmla="val 0"/>
              </a:avLst>
            </a:prstGeom>
            <a:gradFill>
              <a:gsLst>
                <a:gs pos="0">
                  <a:schemeClr val="accent5">
                    <a:lumMod val="60000"/>
                    <a:lumOff val="40000"/>
                  </a:schemeClr>
                </a:gs>
                <a:gs pos="78000">
                  <a:schemeClr val="accent5"/>
                </a:gs>
              </a:gsLst>
              <a:lin ang="5400000" scaled="0"/>
            </a:gradFill>
            <a:ln w="9525" cap="flat">
              <a:noFill/>
              <a:prstDash val="solid"/>
              <a:miter/>
            </a:ln>
          </p:spPr>
          <p:txBody>
            <a:bodyPr rtlCol="0" anchor="ctr"/>
            <a:lstStyle/>
            <a:p>
              <a:pPr defTabSz="457200"/>
              <a:endParaRPr lang="zh-CN" altLang="en-US">
                <a:solidFill>
                  <a:schemeClr val="tx1"/>
                </a:solidFill>
                <a:latin typeface="+mn-ea"/>
                <a:cs typeface="微软雅黑" panose="020B0503020204020204" charset="-122"/>
              </a:endParaRPr>
            </a:p>
          </p:txBody>
        </p:sp>
      </p:grpSp>
      <p:sp>
        <p:nvSpPr>
          <p:cNvPr id="5" name="标题 2"/>
          <p:cNvSpPr>
            <a:spLocks noGrp="1"/>
          </p:cNvSpPr>
          <p:nvPr/>
        </p:nvSpPr>
        <p:spPr>
          <a:xfrm>
            <a:off x="1105535" y="347980"/>
            <a:ext cx="870712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sz="2500">
                <a:solidFill>
                  <a:schemeClr val="tx2"/>
                </a:solidFill>
                <a:effectLst/>
                <a:latin typeface="微软雅黑" panose="020B0503020204020204" charset="-122"/>
                <a:ea typeface="微软雅黑" panose="020B0503020204020204" charset="-122"/>
                <a:cs typeface="微软雅黑" panose="020B0503020204020204" charset="-122"/>
                <a:sym typeface="+mn-ea"/>
              </a:rPr>
              <a:t>运营管理的</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一核四维三翼</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6" name="椭圆 5"/>
          <p:cNvSpPr/>
          <p:nvPr/>
        </p:nvSpPr>
        <p:spPr>
          <a:xfrm>
            <a:off x="928370" y="1479550"/>
            <a:ext cx="4720590" cy="4720590"/>
          </a:xfrm>
          <a:prstGeom prst="ellipse">
            <a:avLst/>
          </a:prstGeom>
          <a:solidFill>
            <a:schemeClr val="accent1">
              <a:lumMod val="20000"/>
              <a:lumOff val="80000"/>
              <a:alpha val="44000"/>
            </a:schemeClr>
          </a:solidFill>
          <a:ln w="3175">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 name="椭圆 1"/>
          <p:cNvSpPr/>
          <p:nvPr/>
        </p:nvSpPr>
        <p:spPr>
          <a:xfrm>
            <a:off x="2056130" y="2607310"/>
            <a:ext cx="2465705" cy="2465705"/>
          </a:xfrm>
          <a:prstGeom prst="ellipse">
            <a:avLst/>
          </a:prstGeom>
          <a:solidFill>
            <a:schemeClr val="bg1"/>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cxnSp>
        <p:nvCxnSpPr>
          <p:cNvPr id="63" name="直接连接符 62"/>
          <p:cNvCxnSpPr/>
          <p:nvPr/>
        </p:nvCxnSpPr>
        <p:spPr>
          <a:xfrm flipH="1" flipV="1">
            <a:off x="968375" y="3425190"/>
            <a:ext cx="604520" cy="9588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cxnSp>
        <p:nvCxnSpPr>
          <p:cNvPr id="65" name="直接连接符 64"/>
          <p:cNvCxnSpPr/>
          <p:nvPr/>
        </p:nvCxnSpPr>
        <p:spPr>
          <a:xfrm flipH="1" flipV="1">
            <a:off x="3258820" y="1479550"/>
            <a:ext cx="4445" cy="1127760"/>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cxnSp>
        <p:nvCxnSpPr>
          <p:cNvPr id="66" name="直接连接符 65"/>
          <p:cNvCxnSpPr/>
          <p:nvPr/>
        </p:nvCxnSpPr>
        <p:spPr>
          <a:xfrm flipV="1">
            <a:off x="4371975" y="1997710"/>
            <a:ext cx="405765" cy="501650"/>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cxnSp>
        <p:nvCxnSpPr>
          <p:cNvPr id="67" name="直接连接符 66"/>
          <p:cNvCxnSpPr/>
          <p:nvPr/>
        </p:nvCxnSpPr>
        <p:spPr>
          <a:xfrm flipV="1">
            <a:off x="4967605" y="3429000"/>
            <a:ext cx="598170" cy="92075"/>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cxnSp>
        <p:nvCxnSpPr>
          <p:cNvPr id="68" name="直接连接符 67"/>
          <p:cNvCxnSpPr/>
          <p:nvPr/>
        </p:nvCxnSpPr>
        <p:spPr>
          <a:xfrm>
            <a:off x="4369435" y="4437380"/>
            <a:ext cx="965835" cy="547370"/>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cxnSp>
        <p:nvCxnSpPr>
          <p:cNvPr id="69" name="直接连接符 68"/>
          <p:cNvCxnSpPr/>
          <p:nvPr/>
        </p:nvCxnSpPr>
        <p:spPr>
          <a:xfrm>
            <a:off x="3853815" y="5438775"/>
            <a:ext cx="243840" cy="599440"/>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cxnSp>
        <p:nvCxnSpPr>
          <p:cNvPr id="70" name="直接连接符 69"/>
          <p:cNvCxnSpPr/>
          <p:nvPr/>
        </p:nvCxnSpPr>
        <p:spPr>
          <a:xfrm flipH="1">
            <a:off x="2492375" y="5438775"/>
            <a:ext cx="213360" cy="614680"/>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23" name="文本框 22"/>
          <p:cNvSpPr txBox="1"/>
          <p:nvPr/>
        </p:nvSpPr>
        <p:spPr>
          <a:xfrm rot="15480000">
            <a:off x="762000" y="3963035"/>
            <a:ext cx="1070610" cy="398780"/>
          </a:xfrm>
          <a:prstGeom prst="rect">
            <a:avLst/>
          </a:prstGeom>
          <a:noFill/>
        </p:spPr>
        <p:txBody>
          <a:bodyPr wrap="square" rtlCol="0">
            <a:spAutoFit/>
          </a:bodyPr>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流程再造</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打破部门的墙</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nvSpPr>
        <p:spPr>
          <a:xfrm rot="18180000">
            <a:off x="1000125" y="2599690"/>
            <a:ext cx="1070610" cy="398780"/>
          </a:xfrm>
          <a:prstGeom prst="rect">
            <a:avLst/>
          </a:prstGeom>
          <a:noFill/>
        </p:spPr>
        <p:txBody>
          <a:bodyPr wrap="square" rtlCol="0">
            <a:spAutoFit/>
          </a:bodyPr>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成本工程</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构建成本优势</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5" name="文本框 24"/>
          <p:cNvSpPr txBox="1"/>
          <p:nvPr/>
        </p:nvSpPr>
        <p:spPr>
          <a:xfrm rot="20400000">
            <a:off x="2082800" y="1722120"/>
            <a:ext cx="1070610" cy="398780"/>
          </a:xfrm>
          <a:prstGeom prst="rect">
            <a:avLst/>
          </a:prstGeom>
          <a:noFill/>
        </p:spPr>
        <p:txBody>
          <a:bodyPr wrap="square" rtlCol="0">
            <a:spAutoFit/>
          </a:bodyPr>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质量固本</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sz="1000">
                <a:solidFill>
                  <a:schemeClr val="tx2"/>
                </a:solidFill>
                <a:latin typeface="微软雅黑" panose="020B0503020204020204" charset="-122"/>
                <a:ea typeface="微软雅黑" panose="020B0503020204020204" charset="-122"/>
                <a:cs typeface="微软雅黑" panose="020B0503020204020204" charset="-122"/>
              </a:rPr>
              <a:t>零缺陷交付</a:t>
            </a:r>
            <a:endParaRPr 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nvSpPr>
        <p:spPr>
          <a:xfrm rot="1620000">
            <a:off x="3471545" y="1752600"/>
            <a:ext cx="1070610" cy="39878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需求深挖</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客户洞见机制</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 name="©显眼包PPT3"/>
          <p:cNvSpPr/>
          <p:nvPr/>
        </p:nvSpPr>
        <p:spPr>
          <a:xfrm>
            <a:off x="2177415" y="2729230"/>
            <a:ext cx="2226945" cy="2226945"/>
          </a:xfrm>
          <a:prstGeom prst="ellipse">
            <a:avLst/>
          </a:prstGeom>
          <a:gradFill flip="none" rotWithShape="1">
            <a:gsLst>
              <a:gs pos="39000">
                <a:schemeClr val="accent5">
                  <a:lumMod val="20000"/>
                  <a:lumOff val="80000"/>
                  <a:alpha val="0"/>
                </a:schemeClr>
              </a:gs>
              <a:gs pos="100000">
                <a:schemeClr val="accent5">
                  <a:lumMod val="40000"/>
                  <a:lumOff val="60000"/>
                </a:schemeClr>
              </a:gs>
            </a:gsLst>
            <a:path path="circle">
              <a:fillToRect l="50000" t="50000" r="50000" b="50000"/>
            </a:path>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56" name="任意多边形 55"/>
          <p:cNvSpPr/>
          <p:nvPr/>
        </p:nvSpPr>
        <p:spPr>
          <a:xfrm rot="7200000">
            <a:off x="3277870" y="2000250"/>
            <a:ext cx="1691640" cy="2632710"/>
          </a:xfrm>
          <a:custGeom>
            <a:avLst/>
            <a:gdLst>
              <a:gd name="adj1" fmla="val 9092596"/>
              <a:gd name="adj2" fmla="val 15834864"/>
              <a:gd name="adj3" fmla="val 3817"/>
              <a:gd name="stAng" fmla="pin 0 adj1 21599999"/>
              <a:gd name="istAng" fmla="pin 0 adj2 21599999"/>
              <a:gd name="a3" fmla="pin 0 adj3 50000"/>
              <a:gd name="sw11" fmla="+- istAng 0 stAng"/>
              <a:gd name="sw12" fmla="+- sw11 21600000 0"/>
              <a:gd name="swAng" fmla="?: sw11 sw11 sw12"/>
              <a:gd name="iswAng" fmla="+- 0 0 swAng"/>
              <a:gd name="wt1" fmla="sin wd2 stAng"/>
              <a:gd name="ht1" fmla="cos hd2 stAng"/>
              <a:gd name="wt3" fmla="sin wd2 istAng"/>
              <a:gd name="ht3" fmla="cos hd2 istAng"/>
              <a:gd name="dx1" fmla="cat2 wd2 ht1 wt1"/>
              <a:gd name="dy1" fmla="sat2 hd2 ht1 wt1"/>
              <a:gd name="dx3" fmla="cat2 wd2 ht3 wt3"/>
              <a:gd name="dy3" fmla="sat2 hd2 ht3 wt3"/>
              <a:gd name="x1" fmla="+- hc dx1 0"/>
              <a:gd name="y1" fmla="+- vc dy1 0"/>
              <a:gd name="x3" fmla="+- hc dx3 0"/>
              <a:gd name="y3" fmla="+- vc dy3 0"/>
              <a:gd name="dr" fmla="*/ ss a3 100000"/>
              <a:gd name="iwd2" fmla="+- wd2 0 dr"/>
              <a:gd name="ihd2" fmla="+- hd2 0 dr"/>
              <a:gd name="wt2" fmla="sin iwd2 istAng"/>
              <a:gd name="ht2" fmla="cos ihd2 istAng"/>
              <a:gd name="wt4" fmla="sin iwd2 stAng"/>
              <a:gd name="ht4" fmla="cos ihd2 stAng"/>
              <a:gd name="dx2" fmla="cat2 iwd2 ht2 wt2"/>
              <a:gd name="dy2" fmla="sat2 ihd2 ht2 wt2"/>
              <a:gd name="dx4" fmla="cat2 iwd2 ht4 wt4"/>
              <a:gd name="dy4" fmla="sat2 ihd2 ht4 wt4"/>
              <a:gd name="x2" fmla="+- hc dx2 0"/>
              <a:gd name="y2" fmla="+- vc dy2 0"/>
              <a:gd name="x4" fmla="+- hc dx4 0"/>
              <a:gd name="y4" fmla="+- vc dy4 0"/>
              <a:gd name="sw0" fmla="+- 21600000 0 stAng"/>
              <a:gd name="da1" fmla="+- swAng 0 sw0"/>
              <a:gd name="g1" fmla="max x1 x2"/>
              <a:gd name="g2" fmla="max x3 x4"/>
              <a:gd name="g3" fmla="max g1 g2"/>
              <a:gd name="ir" fmla="?: da1 r g3"/>
              <a:gd name="sw1" fmla="+- cd4 0 stAng"/>
              <a:gd name="sw2" fmla="+- 27000000 0 stAng"/>
              <a:gd name="sw3" fmla="?: sw1 sw1 sw2"/>
              <a:gd name="da2" fmla="+- swAng 0 sw3"/>
              <a:gd name="g5" fmla="max y1 y2"/>
              <a:gd name="g6" fmla="max y3 y4"/>
              <a:gd name="g7" fmla="max g5 g6"/>
              <a:gd name="ib" fmla="?: da2 b g7"/>
              <a:gd name="sw4" fmla="+- cd2 0 stAng"/>
              <a:gd name="sw5" fmla="+- 32400000 0 stAng"/>
              <a:gd name="sw6" fmla="?: sw4 sw4 sw5"/>
              <a:gd name="da3" fmla="+- swAng 0 sw6"/>
              <a:gd name="g9" fmla="min x1 x2"/>
              <a:gd name="g10" fmla="min x3 x4"/>
              <a:gd name="g11" fmla="min g9 g10"/>
              <a:gd name="il" fmla="?: da3 l g11"/>
              <a:gd name="sw7" fmla="+- 3 0 stAng"/>
              <a:gd name="sw8" fmla="+- 37800000 0 stAng"/>
              <a:gd name="sw9" fmla="?: sw7 sw7 sw8"/>
              <a:gd name="da4" fmla="+- swAng 0 sw9"/>
              <a:gd name="g13" fmla="min y1 y2"/>
              <a:gd name="g14" fmla="min y3 y4"/>
              <a:gd name="g15" fmla="min g13 g14"/>
              <a:gd name="it" fmla="?: da4 t g15"/>
              <a:gd name="x5" fmla="+/ x1 x4 2"/>
              <a:gd name="y5" fmla="+/ y1 y4 2"/>
              <a:gd name="x6" fmla="+/ x3 x2 2"/>
              <a:gd name="y6" fmla="+/ y3 y2 2"/>
              <a:gd name="cang1" fmla="+- stAng 0 cd4"/>
              <a:gd name="cang2" fmla="+- istAng cd4 0"/>
              <a:gd name="cang3" fmla="+/ cang1 cang2 2"/>
            </a:gdLst>
            <a:ahLst/>
            <a:cxnLst>
              <a:cxn ang="cang1">
                <a:pos x="x5" y="y5"/>
              </a:cxn>
              <a:cxn ang="cang2">
                <a:pos x="x6" y="y6"/>
              </a:cxn>
              <a:cxn ang="cang3">
                <a:pos x="hc" y="vc"/>
              </a:cxn>
            </a:cxnLst>
            <a:rect l="l" t="t" r="r" b="b"/>
            <a:pathLst>
              <a:path w="2667" h="4146">
                <a:moveTo>
                  <a:pt x="324" y="4146"/>
                </a:moveTo>
                <a:cubicBezTo>
                  <a:pt x="114" y="3774"/>
                  <a:pt x="-4" y="3287"/>
                  <a:pt x="0" y="2866"/>
                </a:cubicBezTo>
                <a:cubicBezTo>
                  <a:pt x="-77" y="1465"/>
                  <a:pt x="1241" y="285"/>
                  <a:pt x="2346" y="202"/>
                </a:cubicBezTo>
                <a:lnTo>
                  <a:pt x="2349" y="0"/>
                </a:lnTo>
                <a:lnTo>
                  <a:pt x="2664" y="295"/>
                </a:lnTo>
                <a:lnTo>
                  <a:pt x="2339" y="578"/>
                </a:lnTo>
                <a:lnTo>
                  <a:pt x="2342" y="410"/>
                </a:lnTo>
                <a:cubicBezTo>
                  <a:pt x="1154" y="524"/>
                  <a:pt x="162" y="1722"/>
                  <a:pt x="206" y="2867"/>
                </a:cubicBezTo>
                <a:cubicBezTo>
                  <a:pt x="200" y="3291"/>
                  <a:pt x="330" y="3732"/>
                  <a:pt x="505" y="4049"/>
                </a:cubicBezTo>
                <a:lnTo>
                  <a:pt x="324" y="4146"/>
                </a:lnTo>
                <a:close/>
              </a:path>
            </a:pathLst>
          </a:custGeom>
          <a:gradFill>
            <a:gsLst>
              <a:gs pos="0">
                <a:schemeClr val="accent1"/>
              </a:gs>
              <a:gs pos="100000">
                <a:schemeClr val="accent1">
                  <a:lumMod val="40000"/>
                  <a:lumOff val="6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53" name="任意多边形 152"/>
          <p:cNvSpPr/>
          <p:nvPr/>
        </p:nvSpPr>
        <p:spPr>
          <a:xfrm rot="7200000">
            <a:off x="2395220" y="3564255"/>
            <a:ext cx="1668780" cy="2468880"/>
          </a:xfrm>
          <a:custGeom>
            <a:avLst/>
            <a:gdLst>
              <a:gd name="adj1" fmla="val 16279792"/>
              <a:gd name="adj2" fmla="val 1457264"/>
              <a:gd name="adj3" fmla="val 3829"/>
              <a:gd name="stAng" fmla="pin 0 adj1 21599999"/>
              <a:gd name="istAng" fmla="pin 0 adj2 21599999"/>
              <a:gd name="a3" fmla="pin 0 adj3 50000"/>
              <a:gd name="sw11" fmla="+- istAng 0 stAng"/>
              <a:gd name="sw12" fmla="+- sw11 21600000 0"/>
              <a:gd name="swAng" fmla="?: sw11 sw11 sw12"/>
              <a:gd name="iswAng" fmla="+- 0 0 swAng"/>
              <a:gd name="wt1" fmla="sin wd2 stAng"/>
              <a:gd name="ht1" fmla="cos hd2 stAng"/>
              <a:gd name="wt3" fmla="sin wd2 istAng"/>
              <a:gd name="ht3" fmla="cos hd2 istAng"/>
              <a:gd name="dx1" fmla="cat2 wd2 ht1 wt1"/>
              <a:gd name="dy1" fmla="sat2 hd2 ht1 wt1"/>
              <a:gd name="dx3" fmla="cat2 wd2 ht3 wt3"/>
              <a:gd name="dy3" fmla="sat2 hd2 ht3 wt3"/>
              <a:gd name="x1" fmla="+- hc dx1 0"/>
              <a:gd name="y1" fmla="+- vc dy1 0"/>
              <a:gd name="x3" fmla="+- hc dx3 0"/>
              <a:gd name="y3" fmla="+- vc dy3 0"/>
              <a:gd name="dr" fmla="*/ ss a3 100000"/>
              <a:gd name="iwd2" fmla="+- wd2 0 dr"/>
              <a:gd name="ihd2" fmla="+- hd2 0 dr"/>
              <a:gd name="wt2" fmla="sin iwd2 istAng"/>
              <a:gd name="ht2" fmla="cos ihd2 istAng"/>
              <a:gd name="wt4" fmla="sin iwd2 stAng"/>
              <a:gd name="ht4" fmla="cos ihd2 stAng"/>
              <a:gd name="dx2" fmla="cat2 iwd2 ht2 wt2"/>
              <a:gd name="dy2" fmla="sat2 ihd2 ht2 wt2"/>
              <a:gd name="dx4" fmla="cat2 iwd2 ht4 wt4"/>
              <a:gd name="dy4" fmla="sat2 ihd2 ht4 wt4"/>
              <a:gd name="x2" fmla="+- hc dx2 0"/>
              <a:gd name="y2" fmla="+- vc dy2 0"/>
              <a:gd name="x4" fmla="+- hc dx4 0"/>
              <a:gd name="y4" fmla="+- vc dy4 0"/>
              <a:gd name="sw0" fmla="+- 21600000 0 stAng"/>
              <a:gd name="da1" fmla="+- swAng 0 sw0"/>
              <a:gd name="g1" fmla="max x1 x2"/>
              <a:gd name="g2" fmla="max x3 x4"/>
              <a:gd name="g3" fmla="max g1 g2"/>
              <a:gd name="ir" fmla="?: da1 r g3"/>
              <a:gd name="sw1" fmla="+- cd4 0 stAng"/>
              <a:gd name="sw2" fmla="+- 27000000 0 stAng"/>
              <a:gd name="sw3" fmla="?: sw1 sw1 sw2"/>
              <a:gd name="da2" fmla="+- swAng 0 sw3"/>
              <a:gd name="g5" fmla="max y1 y2"/>
              <a:gd name="g6" fmla="max y3 y4"/>
              <a:gd name="g7" fmla="max g5 g6"/>
              <a:gd name="ib" fmla="?: da2 b g7"/>
              <a:gd name="sw4" fmla="+- cd2 0 stAng"/>
              <a:gd name="sw5" fmla="+- 32400000 0 stAng"/>
              <a:gd name="sw6" fmla="?: sw4 sw4 sw5"/>
              <a:gd name="da3" fmla="+- swAng 0 sw6"/>
              <a:gd name="g9" fmla="min x1 x2"/>
              <a:gd name="g10" fmla="min x3 x4"/>
              <a:gd name="g11" fmla="min g9 g10"/>
              <a:gd name="il" fmla="?: da3 l g11"/>
              <a:gd name="sw7" fmla="+- 3 0 stAng"/>
              <a:gd name="sw8" fmla="+- 37800000 0 stAng"/>
              <a:gd name="sw9" fmla="?: sw7 sw7 sw8"/>
              <a:gd name="da4" fmla="+- swAng 0 sw9"/>
              <a:gd name="g13" fmla="min y1 y2"/>
              <a:gd name="g14" fmla="min y3 y4"/>
              <a:gd name="g15" fmla="min g13 g14"/>
              <a:gd name="it" fmla="?: da4 t g15"/>
              <a:gd name="x5" fmla="+/ x1 x4 2"/>
              <a:gd name="y5" fmla="+/ y1 y4 2"/>
              <a:gd name="x6" fmla="+/ x3 x2 2"/>
              <a:gd name="y6" fmla="+/ y3 y2 2"/>
              <a:gd name="cang1" fmla="+- stAng 0 cd4"/>
              <a:gd name="cang2" fmla="+- istAng cd4 0"/>
              <a:gd name="cang3" fmla="+/ cang1 cang2 2"/>
            </a:gdLst>
            <a:ahLst/>
            <a:cxnLst>
              <a:cxn ang="cang1">
                <a:pos x="x5" y="y5"/>
              </a:cxn>
              <a:cxn ang="cang2">
                <a:pos x="x6" y="y6"/>
              </a:cxn>
              <a:cxn ang="cang3">
                <a:pos x="hc" y="vc"/>
              </a:cxn>
            </a:cxnLst>
            <a:rect l="l" t="t" r="r" b="b"/>
            <a:pathLst>
              <a:path w="2629" h="3888">
                <a:moveTo>
                  <a:pt x="5" y="0"/>
                </a:moveTo>
                <a:cubicBezTo>
                  <a:pt x="1483" y="-12"/>
                  <a:pt x="2664" y="1352"/>
                  <a:pt x="2628" y="2685"/>
                </a:cubicBezTo>
                <a:cubicBezTo>
                  <a:pt x="2636" y="3021"/>
                  <a:pt x="2543" y="3422"/>
                  <a:pt x="2445" y="3662"/>
                </a:cubicBezTo>
                <a:lnTo>
                  <a:pt x="2622" y="3777"/>
                </a:lnTo>
                <a:lnTo>
                  <a:pt x="2205" y="3888"/>
                </a:lnTo>
                <a:lnTo>
                  <a:pt x="2137" y="3462"/>
                </a:lnTo>
                <a:lnTo>
                  <a:pt x="2268" y="3547"/>
                </a:lnTo>
                <a:cubicBezTo>
                  <a:pt x="2365" y="3299"/>
                  <a:pt x="2426" y="2952"/>
                  <a:pt x="2422" y="2684"/>
                </a:cubicBezTo>
                <a:cubicBezTo>
                  <a:pt x="2464" y="1313"/>
                  <a:pt x="1224" y="200"/>
                  <a:pt x="0" y="205"/>
                </a:cubicBezTo>
                <a:lnTo>
                  <a:pt x="5" y="0"/>
                </a:lnTo>
                <a:close/>
              </a:path>
            </a:pathLst>
          </a:custGeom>
          <a:gradFill>
            <a:gsLst>
              <a:gs pos="100000">
                <a:schemeClr val="accent1"/>
              </a:gs>
              <a:gs pos="0">
                <a:schemeClr val="accent1">
                  <a:lumMod val="40000"/>
                  <a:lumOff val="6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55" name="文本框 154"/>
          <p:cNvSpPr txBox="1"/>
          <p:nvPr/>
        </p:nvSpPr>
        <p:spPr>
          <a:xfrm rot="3360000">
            <a:off x="4504055" y="2647315"/>
            <a:ext cx="1070610" cy="39878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体验升级</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客户触点</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MOT</a:t>
            </a:r>
            <a:endParaRPr lang="en-US" altLang="zh-CN"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6" name="文本框 75"/>
          <p:cNvSpPr txBox="1"/>
          <p:nvPr/>
        </p:nvSpPr>
        <p:spPr>
          <a:xfrm rot="5580000">
            <a:off x="4697095" y="3940810"/>
            <a:ext cx="1155065" cy="39878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服务延伸</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客户粘性与复购</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7" name="文本框 76"/>
          <p:cNvSpPr txBox="1"/>
          <p:nvPr/>
        </p:nvSpPr>
        <p:spPr>
          <a:xfrm rot="2220000">
            <a:off x="1522730" y="5236210"/>
            <a:ext cx="1070610" cy="39878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机制激活</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考核与激励</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8" name="文本框 77"/>
          <p:cNvSpPr txBox="1"/>
          <p:nvPr/>
        </p:nvSpPr>
        <p:spPr>
          <a:xfrm>
            <a:off x="2807970" y="5639435"/>
            <a:ext cx="1070610" cy="39878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敏捷迭代</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小步快跑机制</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9" name="文本框 78"/>
          <p:cNvSpPr txBox="1"/>
          <p:nvPr/>
        </p:nvSpPr>
        <p:spPr>
          <a:xfrm rot="19260000">
            <a:off x="4035425" y="5226050"/>
            <a:ext cx="1070610" cy="398780"/>
          </a:xfrm>
          <a:prstGeom prst="rect">
            <a:avLst/>
          </a:prstGeom>
          <a:noFill/>
        </p:spPr>
        <p:txBody>
          <a:bodyPr wrap="square" rtlCol="0">
            <a:spAutoFit/>
          </a:bodyPr>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赋能授权</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000">
                <a:solidFill>
                  <a:schemeClr val="tx2"/>
                </a:solidFill>
                <a:latin typeface="微软雅黑" panose="020B0503020204020204" charset="-122"/>
                <a:ea typeface="微软雅黑" panose="020B0503020204020204" charset="-122"/>
                <a:cs typeface="微软雅黑" panose="020B0503020204020204" charset="-122"/>
              </a:rPr>
              <a:t>去中心化决策</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81" name="直接连接符 80"/>
          <p:cNvCxnSpPr/>
          <p:nvPr/>
        </p:nvCxnSpPr>
        <p:spPr>
          <a:xfrm flipH="1">
            <a:off x="970280" y="5013960"/>
            <a:ext cx="279400" cy="172720"/>
          </a:xfrm>
          <a:prstGeom prst="line">
            <a:avLst/>
          </a:prstGeom>
          <a:ln>
            <a:solidFill>
              <a:schemeClr val="tx2">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cxnSp>
        <p:nvCxnSpPr>
          <p:cNvPr id="82" name="直接连接符 81"/>
          <p:cNvCxnSpPr/>
          <p:nvPr/>
        </p:nvCxnSpPr>
        <p:spPr>
          <a:xfrm>
            <a:off x="3258185" y="1194435"/>
            <a:ext cx="1270" cy="285115"/>
          </a:xfrm>
          <a:prstGeom prst="line">
            <a:avLst/>
          </a:prstGeom>
          <a:ln>
            <a:solidFill>
              <a:schemeClr val="tx2">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grpSp>
        <p:nvGrpSpPr>
          <p:cNvPr id="697" name="熊大的PPT宝库51"/>
          <p:cNvGrpSpPr/>
          <p:nvPr/>
        </p:nvGrpSpPr>
        <p:grpSpPr>
          <a:xfrm rot="0">
            <a:off x="5687060" y="1623060"/>
            <a:ext cx="487680" cy="271145"/>
            <a:chOff x="4856673" y="5108015"/>
            <a:chExt cx="487937" cy="271126"/>
          </a:xfrm>
          <a:gradFill>
            <a:gsLst>
              <a:gs pos="0">
                <a:schemeClr val="accent1">
                  <a:lumMod val="60000"/>
                  <a:lumOff val="40000"/>
                  <a:alpha val="0"/>
                </a:schemeClr>
              </a:gs>
              <a:gs pos="100000">
                <a:schemeClr val="accent1"/>
              </a:gs>
            </a:gsLst>
            <a:lin ang="0" scaled="0"/>
          </a:gradFill>
        </p:grpSpPr>
        <p:grpSp>
          <p:nvGrpSpPr>
            <p:cNvPr id="698" name="图形 6"/>
            <p:cNvGrpSpPr/>
            <p:nvPr/>
          </p:nvGrpSpPr>
          <p:grpSpPr>
            <a:xfrm>
              <a:off x="4856673" y="5108015"/>
              <a:ext cx="189077" cy="271126"/>
              <a:chOff x="4856673" y="5108015"/>
              <a:chExt cx="189077" cy="271126"/>
            </a:xfrm>
            <a:grpFill/>
          </p:grpSpPr>
          <p:sp>
            <p:nvSpPr>
              <p:cNvPr id="699" name="熊大的PPT宝库51-1"/>
              <p:cNvSpPr/>
              <p:nvPr/>
            </p:nvSpPr>
            <p:spPr>
              <a:xfrm>
                <a:off x="489594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00" name="熊大的PPT宝库51-2"/>
              <p:cNvSpPr/>
              <p:nvPr/>
            </p:nvSpPr>
            <p:spPr>
              <a:xfrm>
                <a:off x="493516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01" name="熊大的PPT宝库51-3"/>
              <p:cNvSpPr/>
              <p:nvPr/>
            </p:nvSpPr>
            <p:spPr>
              <a:xfrm>
                <a:off x="485669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02" name="熊大的PPT宝库51-4"/>
              <p:cNvSpPr/>
              <p:nvPr/>
            </p:nvSpPr>
            <p:spPr>
              <a:xfrm>
                <a:off x="489594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03" name="熊大的PPT宝库51-5"/>
              <p:cNvSpPr/>
              <p:nvPr/>
            </p:nvSpPr>
            <p:spPr>
              <a:xfrm>
                <a:off x="4856673"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44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184" y="32114"/>
                      <a:pt x="0" y="24930"/>
                      <a:pt x="0" y="16044"/>
                    </a:cubicBezTo>
                    <a:cubicBezTo>
                      <a:pt x="0" y="7184"/>
                      <a:pt x="7184" y="0"/>
                      <a:pt x="16044"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04" name="熊大的PPT宝库51-6"/>
              <p:cNvSpPr/>
              <p:nvPr/>
            </p:nvSpPr>
            <p:spPr>
              <a:xfrm>
                <a:off x="489594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05" name="熊大的PPT宝库51-7"/>
              <p:cNvSpPr/>
              <p:nvPr/>
            </p:nvSpPr>
            <p:spPr>
              <a:xfrm>
                <a:off x="493516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06" name="熊大的PPT宝库51-8"/>
              <p:cNvSpPr/>
              <p:nvPr/>
            </p:nvSpPr>
            <p:spPr>
              <a:xfrm>
                <a:off x="493516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07" name="熊大的PPT宝库51-9"/>
              <p:cNvSpPr/>
              <p:nvPr/>
            </p:nvSpPr>
            <p:spPr>
              <a:xfrm>
                <a:off x="489594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08" name="熊大的PPT宝库51-10"/>
              <p:cNvSpPr/>
              <p:nvPr/>
            </p:nvSpPr>
            <p:spPr>
              <a:xfrm>
                <a:off x="493516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3" y="32089"/>
                      <a:pt x="0" y="24905"/>
                      <a:pt x="0" y="16044"/>
                    </a:cubicBezTo>
                    <a:cubicBezTo>
                      <a:pt x="0" y="7183"/>
                      <a:pt x="7183" y="0"/>
                      <a:pt x="16044" y="0"/>
                    </a:cubicBezTo>
                    <a:cubicBezTo>
                      <a:pt x="24905" y="0"/>
                      <a:pt x="32089" y="7183"/>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09" name="熊大的PPT宝库51-11"/>
              <p:cNvSpPr/>
              <p:nvPr/>
            </p:nvSpPr>
            <p:spPr>
              <a:xfrm>
                <a:off x="497441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10" name="熊大的PPT宝库51-12"/>
              <p:cNvSpPr/>
              <p:nvPr/>
            </p:nvSpPr>
            <p:spPr>
              <a:xfrm>
                <a:off x="497441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11" name="熊大的PPT宝库51-13"/>
              <p:cNvSpPr/>
              <p:nvPr/>
            </p:nvSpPr>
            <p:spPr>
              <a:xfrm>
                <a:off x="5013637" y="5229311"/>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12" name="熊大的PPT宝库51-14"/>
              <p:cNvSpPr/>
              <p:nvPr/>
            </p:nvSpPr>
            <p:spPr>
              <a:xfrm>
                <a:off x="497441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nvGrpSpPr>
            <p:cNvPr id="713" name="图形 6"/>
            <p:cNvGrpSpPr/>
            <p:nvPr/>
          </p:nvGrpSpPr>
          <p:grpSpPr>
            <a:xfrm>
              <a:off x="5001822" y="5108015"/>
              <a:ext cx="189077" cy="271126"/>
              <a:chOff x="5001822" y="5108015"/>
              <a:chExt cx="189077" cy="271126"/>
            </a:xfrm>
            <a:grpFill/>
          </p:grpSpPr>
          <p:sp>
            <p:nvSpPr>
              <p:cNvPr id="714" name="熊大的PPT宝库51-15"/>
              <p:cNvSpPr/>
              <p:nvPr/>
            </p:nvSpPr>
            <p:spPr>
              <a:xfrm>
                <a:off x="504109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15" name="熊大的PPT宝库51-16"/>
              <p:cNvSpPr/>
              <p:nvPr/>
            </p:nvSpPr>
            <p:spPr>
              <a:xfrm>
                <a:off x="5080342"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16" name="熊大的PPT宝库51-17"/>
              <p:cNvSpPr/>
              <p:nvPr/>
            </p:nvSpPr>
            <p:spPr>
              <a:xfrm>
                <a:off x="5001822" y="5343473"/>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17" name="熊大的PPT宝库51-18"/>
              <p:cNvSpPr/>
              <p:nvPr/>
            </p:nvSpPr>
            <p:spPr>
              <a:xfrm>
                <a:off x="504109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18" name="熊大的PPT宝库51-19"/>
              <p:cNvSpPr/>
              <p:nvPr/>
            </p:nvSpPr>
            <p:spPr>
              <a:xfrm>
                <a:off x="5001822"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19" name="熊大的PPT宝库51-20"/>
              <p:cNvSpPr/>
              <p:nvPr/>
            </p:nvSpPr>
            <p:spPr>
              <a:xfrm>
                <a:off x="504109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20" name="熊大的PPT宝库51-21"/>
              <p:cNvSpPr/>
              <p:nvPr/>
            </p:nvSpPr>
            <p:spPr>
              <a:xfrm>
                <a:off x="5080342"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21" name="熊大的PPT宝库51-22"/>
              <p:cNvSpPr/>
              <p:nvPr/>
            </p:nvSpPr>
            <p:spPr>
              <a:xfrm>
                <a:off x="5080342"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22" name="熊大的PPT宝库51-23"/>
              <p:cNvSpPr/>
              <p:nvPr/>
            </p:nvSpPr>
            <p:spPr>
              <a:xfrm>
                <a:off x="504109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23" name="熊大的PPT宝库51-24"/>
              <p:cNvSpPr/>
              <p:nvPr/>
            </p:nvSpPr>
            <p:spPr>
              <a:xfrm>
                <a:off x="5080342"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24" name="熊大的PPT宝库51-25"/>
              <p:cNvSpPr/>
              <p:nvPr/>
            </p:nvSpPr>
            <p:spPr>
              <a:xfrm>
                <a:off x="5119589"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25" name="熊大的PPT宝库51-26"/>
              <p:cNvSpPr/>
              <p:nvPr/>
            </p:nvSpPr>
            <p:spPr>
              <a:xfrm>
                <a:off x="5119589"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26" name="熊大的PPT宝库51-27"/>
              <p:cNvSpPr/>
              <p:nvPr/>
            </p:nvSpPr>
            <p:spPr>
              <a:xfrm>
                <a:off x="5158811"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27" name="熊大的PPT宝库51-28"/>
              <p:cNvSpPr/>
              <p:nvPr/>
            </p:nvSpPr>
            <p:spPr>
              <a:xfrm>
                <a:off x="5119589"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nvGrpSpPr>
            <p:cNvPr id="728" name="图形 6"/>
            <p:cNvGrpSpPr/>
            <p:nvPr/>
          </p:nvGrpSpPr>
          <p:grpSpPr>
            <a:xfrm>
              <a:off x="5155558" y="5108015"/>
              <a:ext cx="189052" cy="271126"/>
              <a:chOff x="5155558" y="5108015"/>
              <a:chExt cx="189052" cy="271126"/>
            </a:xfrm>
            <a:grpFill/>
          </p:grpSpPr>
          <p:sp>
            <p:nvSpPr>
              <p:cNvPr id="729" name="熊大的PPT宝库51-29"/>
              <p:cNvSpPr/>
              <p:nvPr/>
            </p:nvSpPr>
            <p:spPr>
              <a:xfrm>
                <a:off x="519480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30" name="熊大的PPT宝库51-30"/>
              <p:cNvSpPr/>
              <p:nvPr/>
            </p:nvSpPr>
            <p:spPr>
              <a:xfrm>
                <a:off x="523402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31" name="熊大的PPT宝库51-31"/>
              <p:cNvSpPr/>
              <p:nvPr/>
            </p:nvSpPr>
            <p:spPr>
              <a:xfrm>
                <a:off x="515555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32" name="熊大的PPT宝库51-32"/>
              <p:cNvSpPr/>
              <p:nvPr/>
            </p:nvSpPr>
            <p:spPr>
              <a:xfrm>
                <a:off x="519480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33" name="熊大的PPT宝库51-33"/>
              <p:cNvSpPr/>
              <p:nvPr/>
            </p:nvSpPr>
            <p:spPr>
              <a:xfrm>
                <a:off x="5155558" y="510801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34" name="熊大的PPT宝库51-34"/>
              <p:cNvSpPr/>
              <p:nvPr/>
            </p:nvSpPr>
            <p:spPr>
              <a:xfrm>
                <a:off x="519480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35" name="熊大的PPT宝库51-35"/>
              <p:cNvSpPr/>
              <p:nvPr/>
            </p:nvSpPr>
            <p:spPr>
              <a:xfrm>
                <a:off x="523402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36" name="熊大的PPT宝库51-36"/>
              <p:cNvSpPr/>
              <p:nvPr/>
            </p:nvSpPr>
            <p:spPr>
              <a:xfrm>
                <a:off x="523402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37" name="熊大的PPT宝库51-37"/>
              <p:cNvSpPr/>
              <p:nvPr/>
            </p:nvSpPr>
            <p:spPr>
              <a:xfrm>
                <a:off x="519480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38" name="熊大的PPT宝库51-38"/>
              <p:cNvSpPr/>
              <p:nvPr/>
            </p:nvSpPr>
            <p:spPr>
              <a:xfrm>
                <a:off x="523402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39" name="熊大的PPT宝库51-39"/>
              <p:cNvSpPr/>
              <p:nvPr/>
            </p:nvSpPr>
            <p:spPr>
              <a:xfrm>
                <a:off x="527327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40" name="熊大的PPT宝库51-40"/>
              <p:cNvSpPr/>
              <p:nvPr/>
            </p:nvSpPr>
            <p:spPr>
              <a:xfrm>
                <a:off x="527327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41" name="熊大的PPT宝库51-41"/>
              <p:cNvSpPr/>
              <p:nvPr/>
            </p:nvSpPr>
            <p:spPr>
              <a:xfrm>
                <a:off x="5312522"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42" name="熊大的PPT宝库51-42"/>
              <p:cNvSpPr/>
              <p:nvPr/>
            </p:nvSpPr>
            <p:spPr>
              <a:xfrm>
                <a:off x="527327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grpSp>
        <p:nvGrpSpPr>
          <p:cNvPr id="745" name="熊大的PPT宝库51"/>
          <p:cNvGrpSpPr/>
          <p:nvPr/>
        </p:nvGrpSpPr>
        <p:grpSpPr>
          <a:xfrm rot="0">
            <a:off x="5687060" y="5727065"/>
            <a:ext cx="487680" cy="271145"/>
            <a:chOff x="4856673" y="5108015"/>
            <a:chExt cx="487937" cy="271126"/>
          </a:xfrm>
          <a:gradFill>
            <a:gsLst>
              <a:gs pos="0">
                <a:schemeClr val="accent1">
                  <a:lumMod val="60000"/>
                  <a:lumOff val="40000"/>
                  <a:alpha val="0"/>
                </a:schemeClr>
              </a:gs>
              <a:gs pos="100000">
                <a:schemeClr val="accent1"/>
              </a:gs>
            </a:gsLst>
            <a:lin ang="0" scaled="0"/>
          </a:gradFill>
        </p:grpSpPr>
        <p:grpSp>
          <p:nvGrpSpPr>
            <p:cNvPr id="746" name="图形 6"/>
            <p:cNvGrpSpPr/>
            <p:nvPr/>
          </p:nvGrpSpPr>
          <p:grpSpPr>
            <a:xfrm>
              <a:off x="4856673" y="5108015"/>
              <a:ext cx="189077" cy="271126"/>
              <a:chOff x="4856673" y="5108015"/>
              <a:chExt cx="189077" cy="271126"/>
            </a:xfrm>
            <a:grpFill/>
          </p:grpSpPr>
          <p:sp>
            <p:nvSpPr>
              <p:cNvPr id="747" name="熊大的PPT宝库51-1"/>
              <p:cNvSpPr/>
              <p:nvPr/>
            </p:nvSpPr>
            <p:spPr>
              <a:xfrm>
                <a:off x="489594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48" name="熊大的PPT宝库51-2"/>
              <p:cNvSpPr/>
              <p:nvPr/>
            </p:nvSpPr>
            <p:spPr>
              <a:xfrm>
                <a:off x="493516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49" name="熊大的PPT宝库51-3"/>
              <p:cNvSpPr/>
              <p:nvPr/>
            </p:nvSpPr>
            <p:spPr>
              <a:xfrm>
                <a:off x="485669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50" name="熊大的PPT宝库51-4"/>
              <p:cNvSpPr/>
              <p:nvPr/>
            </p:nvSpPr>
            <p:spPr>
              <a:xfrm>
                <a:off x="489594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51" name="熊大的PPT宝库51-5"/>
              <p:cNvSpPr/>
              <p:nvPr/>
            </p:nvSpPr>
            <p:spPr>
              <a:xfrm>
                <a:off x="4856673"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44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184" y="32114"/>
                      <a:pt x="0" y="24930"/>
                      <a:pt x="0" y="16044"/>
                    </a:cubicBezTo>
                    <a:cubicBezTo>
                      <a:pt x="0" y="7184"/>
                      <a:pt x="7184" y="0"/>
                      <a:pt x="16044"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52" name="熊大的PPT宝库51-6"/>
              <p:cNvSpPr/>
              <p:nvPr/>
            </p:nvSpPr>
            <p:spPr>
              <a:xfrm>
                <a:off x="489594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53" name="熊大的PPT宝库51-7"/>
              <p:cNvSpPr/>
              <p:nvPr/>
            </p:nvSpPr>
            <p:spPr>
              <a:xfrm>
                <a:off x="493516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54" name="熊大的PPT宝库51-8"/>
              <p:cNvSpPr/>
              <p:nvPr/>
            </p:nvSpPr>
            <p:spPr>
              <a:xfrm>
                <a:off x="493516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55" name="熊大的PPT宝库51-9"/>
              <p:cNvSpPr/>
              <p:nvPr/>
            </p:nvSpPr>
            <p:spPr>
              <a:xfrm>
                <a:off x="489594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56" name="熊大的PPT宝库51-10"/>
              <p:cNvSpPr/>
              <p:nvPr/>
            </p:nvSpPr>
            <p:spPr>
              <a:xfrm>
                <a:off x="493516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3" y="32089"/>
                      <a:pt x="0" y="24905"/>
                      <a:pt x="0" y="16044"/>
                    </a:cubicBezTo>
                    <a:cubicBezTo>
                      <a:pt x="0" y="7183"/>
                      <a:pt x="7183" y="0"/>
                      <a:pt x="16044" y="0"/>
                    </a:cubicBezTo>
                    <a:cubicBezTo>
                      <a:pt x="24905" y="0"/>
                      <a:pt x="32089" y="7183"/>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57" name="熊大的PPT宝库51-11"/>
              <p:cNvSpPr/>
              <p:nvPr/>
            </p:nvSpPr>
            <p:spPr>
              <a:xfrm>
                <a:off x="497441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58" name="熊大的PPT宝库51-12"/>
              <p:cNvSpPr/>
              <p:nvPr/>
            </p:nvSpPr>
            <p:spPr>
              <a:xfrm>
                <a:off x="497441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59" name="熊大的PPT宝库51-13"/>
              <p:cNvSpPr/>
              <p:nvPr/>
            </p:nvSpPr>
            <p:spPr>
              <a:xfrm>
                <a:off x="5013637" y="5229311"/>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60" name="熊大的PPT宝库51-14"/>
              <p:cNvSpPr/>
              <p:nvPr/>
            </p:nvSpPr>
            <p:spPr>
              <a:xfrm>
                <a:off x="497441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nvGrpSpPr>
            <p:cNvPr id="761" name="图形 6"/>
            <p:cNvGrpSpPr/>
            <p:nvPr/>
          </p:nvGrpSpPr>
          <p:grpSpPr>
            <a:xfrm>
              <a:off x="5001822" y="5108015"/>
              <a:ext cx="189077" cy="271126"/>
              <a:chOff x="5001822" y="5108015"/>
              <a:chExt cx="189077" cy="271126"/>
            </a:xfrm>
            <a:grpFill/>
          </p:grpSpPr>
          <p:sp>
            <p:nvSpPr>
              <p:cNvPr id="762" name="熊大的PPT宝库51-15"/>
              <p:cNvSpPr/>
              <p:nvPr/>
            </p:nvSpPr>
            <p:spPr>
              <a:xfrm>
                <a:off x="504109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63" name="熊大的PPT宝库51-16"/>
              <p:cNvSpPr/>
              <p:nvPr/>
            </p:nvSpPr>
            <p:spPr>
              <a:xfrm>
                <a:off x="5080342"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64" name="熊大的PPT宝库51-17"/>
              <p:cNvSpPr/>
              <p:nvPr/>
            </p:nvSpPr>
            <p:spPr>
              <a:xfrm>
                <a:off x="5001822" y="5343473"/>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65" name="熊大的PPT宝库51-18"/>
              <p:cNvSpPr/>
              <p:nvPr/>
            </p:nvSpPr>
            <p:spPr>
              <a:xfrm>
                <a:off x="504109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66" name="熊大的PPT宝库51-19"/>
              <p:cNvSpPr/>
              <p:nvPr/>
            </p:nvSpPr>
            <p:spPr>
              <a:xfrm>
                <a:off x="5001822"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67" name="熊大的PPT宝库51-20"/>
              <p:cNvSpPr/>
              <p:nvPr/>
            </p:nvSpPr>
            <p:spPr>
              <a:xfrm>
                <a:off x="504109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68" name="熊大的PPT宝库51-21"/>
              <p:cNvSpPr/>
              <p:nvPr/>
            </p:nvSpPr>
            <p:spPr>
              <a:xfrm>
                <a:off x="5080342"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69" name="熊大的PPT宝库51-22"/>
              <p:cNvSpPr/>
              <p:nvPr/>
            </p:nvSpPr>
            <p:spPr>
              <a:xfrm>
                <a:off x="5080342"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70" name="熊大的PPT宝库51-23"/>
              <p:cNvSpPr/>
              <p:nvPr/>
            </p:nvSpPr>
            <p:spPr>
              <a:xfrm>
                <a:off x="504109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71" name="熊大的PPT宝库51-24"/>
              <p:cNvSpPr/>
              <p:nvPr/>
            </p:nvSpPr>
            <p:spPr>
              <a:xfrm>
                <a:off x="5080342"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72" name="熊大的PPT宝库51-25"/>
              <p:cNvSpPr/>
              <p:nvPr/>
            </p:nvSpPr>
            <p:spPr>
              <a:xfrm>
                <a:off x="5119589"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73" name="熊大的PPT宝库51-26"/>
              <p:cNvSpPr/>
              <p:nvPr/>
            </p:nvSpPr>
            <p:spPr>
              <a:xfrm>
                <a:off x="5119589"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74" name="熊大的PPT宝库51-27"/>
              <p:cNvSpPr/>
              <p:nvPr/>
            </p:nvSpPr>
            <p:spPr>
              <a:xfrm>
                <a:off x="5158811"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75" name="熊大的PPT宝库51-28"/>
              <p:cNvSpPr/>
              <p:nvPr/>
            </p:nvSpPr>
            <p:spPr>
              <a:xfrm>
                <a:off x="5119589"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nvGrpSpPr>
            <p:cNvPr id="776" name="图形 6"/>
            <p:cNvGrpSpPr/>
            <p:nvPr/>
          </p:nvGrpSpPr>
          <p:grpSpPr>
            <a:xfrm>
              <a:off x="5155558" y="5108015"/>
              <a:ext cx="189052" cy="271126"/>
              <a:chOff x="5155558" y="5108015"/>
              <a:chExt cx="189052" cy="271126"/>
            </a:xfrm>
            <a:grpFill/>
          </p:grpSpPr>
          <p:sp>
            <p:nvSpPr>
              <p:cNvPr id="777" name="熊大的PPT宝库51-29"/>
              <p:cNvSpPr/>
              <p:nvPr/>
            </p:nvSpPr>
            <p:spPr>
              <a:xfrm>
                <a:off x="519480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78" name="熊大的PPT宝库51-30"/>
              <p:cNvSpPr/>
              <p:nvPr/>
            </p:nvSpPr>
            <p:spPr>
              <a:xfrm>
                <a:off x="523402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79" name="熊大的PPT宝库51-31"/>
              <p:cNvSpPr/>
              <p:nvPr/>
            </p:nvSpPr>
            <p:spPr>
              <a:xfrm>
                <a:off x="515555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80" name="熊大的PPT宝库51-32"/>
              <p:cNvSpPr/>
              <p:nvPr/>
            </p:nvSpPr>
            <p:spPr>
              <a:xfrm>
                <a:off x="519480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81" name="熊大的PPT宝库51-33"/>
              <p:cNvSpPr/>
              <p:nvPr/>
            </p:nvSpPr>
            <p:spPr>
              <a:xfrm>
                <a:off x="5155558" y="510801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82" name="熊大的PPT宝库51-34"/>
              <p:cNvSpPr/>
              <p:nvPr/>
            </p:nvSpPr>
            <p:spPr>
              <a:xfrm>
                <a:off x="519480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83" name="熊大的PPT宝库51-35"/>
              <p:cNvSpPr/>
              <p:nvPr/>
            </p:nvSpPr>
            <p:spPr>
              <a:xfrm>
                <a:off x="523402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84" name="熊大的PPT宝库51-36"/>
              <p:cNvSpPr/>
              <p:nvPr/>
            </p:nvSpPr>
            <p:spPr>
              <a:xfrm>
                <a:off x="523402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85" name="熊大的PPT宝库51-37"/>
              <p:cNvSpPr/>
              <p:nvPr/>
            </p:nvSpPr>
            <p:spPr>
              <a:xfrm>
                <a:off x="519480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86" name="熊大的PPT宝库51-38"/>
              <p:cNvSpPr/>
              <p:nvPr/>
            </p:nvSpPr>
            <p:spPr>
              <a:xfrm>
                <a:off x="523402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87" name="熊大的PPT宝库51-39"/>
              <p:cNvSpPr/>
              <p:nvPr/>
            </p:nvSpPr>
            <p:spPr>
              <a:xfrm>
                <a:off x="527327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88" name="熊大的PPT宝库51-40"/>
              <p:cNvSpPr/>
              <p:nvPr/>
            </p:nvSpPr>
            <p:spPr>
              <a:xfrm>
                <a:off x="527327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89" name="熊大的PPT宝库51-41"/>
              <p:cNvSpPr/>
              <p:nvPr/>
            </p:nvSpPr>
            <p:spPr>
              <a:xfrm>
                <a:off x="5312522"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90" name="熊大的PPT宝库51-42"/>
              <p:cNvSpPr/>
              <p:nvPr/>
            </p:nvSpPr>
            <p:spPr>
              <a:xfrm>
                <a:off x="527327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grpSp>
        <p:nvGrpSpPr>
          <p:cNvPr id="793" name="熊大的PPT宝库51"/>
          <p:cNvGrpSpPr/>
          <p:nvPr/>
        </p:nvGrpSpPr>
        <p:grpSpPr>
          <a:xfrm rot="0">
            <a:off x="6275705" y="2991485"/>
            <a:ext cx="487680" cy="271145"/>
            <a:chOff x="4856673" y="5108015"/>
            <a:chExt cx="487937" cy="271126"/>
          </a:xfrm>
          <a:gradFill>
            <a:gsLst>
              <a:gs pos="0">
                <a:schemeClr val="accent5">
                  <a:lumMod val="60000"/>
                  <a:lumOff val="40000"/>
                  <a:alpha val="0"/>
                </a:schemeClr>
              </a:gs>
              <a:gs pos="100000">
                <a:schemeClr val="accent5"/>
              </a:gs>
            </a:gsLst>
            <a:lin ang="0" scaled="0"/>
          </a:gradFill>
        </p:grpSpPr>
        <p:grpSp>
          <p:nvGrpSpPr>
            <p:cNvPr id="794" name="图形 6"/>
            <p:cNvGrpSpPr/>
            <p:nvPr/>
          </p:nvGrpSpPr>
          <p:grpSpPr>
            <a:xfrm>
              <a:off x="4856673" y="5108015"/>
              <a:ext cx="189077" cy="271126"/>
              <a:chOff x="4856673" y="5108015"/>
              <a:chExt cx="189077" cy="271126"/>
            </a:xfrm>
            <a:grpFill/>
          </p:grpSpPr>
          <p:sp>
            <p:nvSpPr>
              <p:cNvPr id="795" name="熊大的PPT宝库51-1"/>
              <p:cNvSpPr/>
              <p:nvPr/>
            </p:nvSpPr>
            <p:spPr>
              <a:xfrm>
                <a:off x="489594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96" name="熊大的PPT宝库51-2"/>
              <p:cNvSpPr/>
              <p:nvPr/>
            </p:nvSpPr>
            <p:spPr>
              <a:xfrm>
                <a:off x="493516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97" name="熊大的PPT宝库51-3"/>
              <p:cNvSpPr/>
              <p:nvPr/>
            </p:nvSpPr>
            <p:spPr>
              <a:xfrm>
                <a:off x="485669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98" name="熊大的PPT宝库51-4"/>
              <p:cNvSpPr/>
              <p:nvPr/>
            </p:nvSpPr>
            <p:spPr>
              <a:xfrm>
                <a:off x="489594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99" name="熊大的PPT宝库51-5"/>
              <p:cNvSpPr/>
              <p:nvPr/>
            </p:nvSpPr>
            <p:spPr>
              <a:xfrm>
                <a:off x="4856673"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44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184" y="32114"/>
                      <a:pt x="0" y="24930"/>
                      <a:pt x="0" y="16044"/>
                    </a:cubicBezTo>
                    <a:cubicBezTo>
                      <a:pt x="0" y="7184"/>
                      <a:pt x="7184" y="0"/>
                      <a:pt x="16044"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0" name="熊大的PPT宝库51-6"/>
              <p:cNvSpPr/>
              <p:nvPr/>
            </p:nvSpPr>
            <p:spPr>
              <a:xfrm>
                <a:off x="489594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1" name="熊大的PPT宝库51-7"/>
              <p:cNvSpPr/>
              <p:nvPr/>
            </p:nvSpPr>
            <p:spPr>
              <a:xfrm>
                <a:off x="493516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2" name="熊大的PPT宝库51-8"/>
              <p:cNvSpPr/>
              <p:nvPr/>
            </p:nvSpPr>
            <p:spPr>
              <a:xfrm>
                <a:off x="493516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3" name="熊大的PPT宝库51-9"/>
              <p:cNvSpPr/>
              <p:nvPr/>
            </p:nvSpPr>
            <p:spPr>
              <a:xfrm>
                <a:off x="489594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4" name="熊大的PPT宝库51-10"/>
              <p:cNvSpPr/>
              <p:nvPr/>
            </p:nvSpPr>
            <p:spPr>
              <a:xfrm>
                <a:off x="493516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3" y="32089"/>
                      <a:pt x="0" y="24905"/>
                      <a:pt x="0" y="16044"/>
                    </a:cubicBezTo>
                    <a:cubicBezTo>
                      <a:pt x="0" y="7183"/>
                      <a:pt x="7183" y="0"/>
                      <a:pt x="16044" y="0"/>
                    </a:cubicBezTo>
                    <a:cubicBezTo>
                      <a:pt x="24905" y="0"/>
                      <a:pt x="32089" y="7183"/>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5" name="熊大的PPT宝库51-11"/>
              <p:cNvSpPr/>
              <p:nvPr/>
            </p:nvSpPr>
            <p:spPr>
              <a:xfrm>
                <a:off x="497441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6" name="熊大的PPT宝库51-12"/>
              <p:cNvSpPr/>
              <p:nvPr/>
            </p:nvSpPr>
            <p:spPr>
              <a:xfrm>
                <a:off x="497441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7" name="熊大的PPT宝库51-13"/>
              <p:cNvSpPr/>
              <p:nvPr/>
            </p:nvSpPr>
            <p:spPr>
              <a:xfrm>
                <a:off x="5013637" y="5229311"/>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8" name="熊大的PPT宝库51-14"/>
              <p:cNvSpPr/>
              <p:nvPr/>
            </p:nvSpPr>
            <p:spPr>
              <a:xfrm>
                <a:off x="497441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nvGrpSpPr>
            <p:cNvPr id="809" name="图形 6"/>
            <p:cNvGrpSpPr/>
            <p:nvPr/>
          </p:nvGrpSpPr>
          <p:grpSpPr>
            <a:xfrm>
              <a:off x="5001822" y="5108015"/>
              <a:ext cx="189077" cy="271126"/>
              <a:chOff x="5001822" y="5108015"/>
              <a:chExt cx="189077" cy="271126"/>
            </a:xfrm>
            <a:grpFill/>
          </p:grpSpPr>
          <p:sp>
            <p:nvSpPr>
              <p:cNvPr id="810" name="熊大的PPT宝库51-15"/>
              <p:cNvSpPr/>
              <p:nvPr/>
            </p:nvSpPr>
            <p:spPr>
              <a:xfrm>
                <a:off x="504109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1" name="熊大的PPT宝库51-16"/>
              <p:cNvSpPr/>
              <p:nvPr/>
            </p:nvSpPr>
            <p:spPr>
              <a:xfrm>
                <a:off x="5080342"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2" name="熊大的PPT宝库51-17"/>
              <p:cNvSpPr/>
              <p:nvPr/>
            </p:nvSpPr>
            <p:spPr>
              <a:xfrm>
                <a:off x="5001822" y="5343473"/>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3" name="熊大的PPT宝库51-18"/>
              <p:cNvSpPr/>
              <p:nvPr/>
            </p:nvSpPr>
            <p:spPr>
              <a:xfrm>
                <a:off x="504109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4" name="熊大的PPT宝库51-19"/>
              <p:cNvSpPr/>
              <p:nvPr/>
            </p:nvSpPr>
            <p:spPr>
              <a:xfrm>
                <a:off x="5001822"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5" name="熊大的PPT宝库51-20"/>
              <p:cNvSpPr/>
              <p:nvPr/>
            </p:nvSpPr>
            <p:spPr>
              <a:xfrm>
                <a:off x="504109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6" name="熊大的PPT宝库51-21"/>
              <p:cNvSpPr/>
              <p:nvPr/>
            </p:nvSpPr>
            <p:spPr>
              <a:xfrm>
                <a:off x="5080342"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7" name="熊大的PPT宝库51-22"/>
              <p:cNvSpPr/>
              <p:nvPr/>
            </p:nvSpPr>
            <p:spPr>
              <a:xfrm>
                <a:off x="5080342"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8" name="熊大的PPT宝库51-23"/>
              <p:cNvSpPr/>
              <p:nvPr/>
            </p:nvSpPr>
            <p:spPr>
              <a:xfrm>
                <a:off x="504109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9" name="熊大的PPT宝库51-24"/>
              <p:cNvSpPr/>
              <p:nvPr/>
            </p:nvSpPr>
            <p:spPr>
              <a:xfrm>
                <a:off x="5080342"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0" name="熊大的PPT宝库51-25"/>
              <p:cNvSpPr/>
              <p:nvPr/>
            </p:nvSpPr>
            <p:spPr>
              <a:xfrm>
                <a:off x="5119589"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1" name="熊大的PPT宝库51-26"/>
              <p:cNvSpPr/>
              <p:nvPr/>
            </p:nvSpPr>
            <p:spPr>
              <a:xfrm>
                <a:off x="5119589"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2" name="熊大的PPT宝库51-27"/>
              <p:cNvSpPr/>
              <p:nvPr/>
            </p:nvSpPr>
            <p:spPr>
              <a:xfrm>
                <a:off x="5158811"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3" name="熊大的PPT宝库51-28"/>
              <p:cNvSpPr/>
              <p:nvPr/>
            </p:nvSpPr>
            <p:spPr>
              <a:xfrm>
                <a:off x="5119589"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nvGrpSpPr>
            <p:cNvPr id="824" name="图形 6"/>
            <p:cNvGrpSpPr/>
            <p:nvPr/>
          </p:nvGrpSpPr>
          <p:grpSpPr>
            <a:xfrm>
              <a:off x="5155558" y="5108015"/>
              <a:ext cx="189052" cy="271126"/>
              <a:chOff x="5155558" y="5108015"/>
              <a:chExt cx="189052" cy="271126"/>
            </a:xfrm>
            <a:grpFill/>
          </p:grpSpPr>
          <p:sp>
            <p:nvSpPr>
              <p:cNvPr id="825" name="熊大的PPT宝库51-29"/>
              <p:cNvSpPr/>
              <p:nvPr/>
            </p:nvSpPr>
            <p:spPr>
              <a:xfrm>
                <a:off x="519480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6" name="熊大的PPT宝库51-30"/>
              <p:cNvSpPr/>
              <p:nvPr/>
            </p:nvSpPr>
            <p:spPr>
              <a:xfrm>
                <a:off x="523402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7" name="熊大的PPT宝库51-31"/>
              <p:cNvSpPr/>
              <p:nvPr/>
            </p:nvSpPr>
            <p:spPr>
              <a:xfrm>
                <a:off x="515555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8" name="熊大的PPT宝库51-32"/>
              <p:cNvSpPr/>
              <p:nvPr/>
            </p:nvSpPr>
            <p:spPr>
              <a:xfrm>
                <a:off x="519480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9" name="熊大的PPT宝库51-33"/>
              <p:cNvSpPr/>
              <p:nvPr/>
            </p:nvSpPr>
            <p:spPr>
              <a:xfrm>
                <a:off x="5155558" y="510801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0" name="熊大的PPT宝库51-34"/>
              <p:cNvSpPr/>
              <p:nvPr/>
            </p:nvSpPr>
            <p:spPr>
              <a:xfrm>
                <a:off x="519480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1" name="熊大的PPT宝库51-35"/>
              <p:cNvSpPr/>
              <p:nvPr/>
            </p:nvSpPr>
            <p:spPr>
              <a:xfrm>
                <a:off x="523402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2" name="熊大的PPT宝库51-36"/>
              <p:cNvSpPr/>
              <p:nvPr/>
            </p:nvSpPr>
            <p:spPr>
              <a:xfrm>
                <a:off x="523402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3" name="熊大的PPT宝库51-37"/>
              <p:cNvSpPr/>
              <p:nvPr/>
            </p:nvSpPr>
            <p:spPr>
              <a:xfrm>
                <a:off x="519480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4" name="熊大的PPT宝库51-38"/>
              <p:cNvSpPr/>
              <p:nvPr/>
            </p:nvSpPr>
            <p:spPr>
              <a:xfrm>
                <a:off x="523402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5" name="熊大的PPT宝库51-39"/>
              <p:cNvSpPr/>
              <p:nvPr/>
            </p:nvSpPr>
            <p:spPr>
              <a:xfrm>
                <a:off x="527327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6" name="熊大的PPT宝库51-40"/>
              <p:cNvSpPr/>
              <p:nvPr/>
            </p:nvSpPr>
            <p:spPr>
              <a:xfrm>
                <a:off x="527327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7" name="熊大的PPT宝库51-41"/>
              <p:cNvSpPr/>
              <p:nvPr/>
            </p:nvSpPr>
            <p:spPr>
              <a:xfrm>
                <a:off x="5312522"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8" name="熊大的PPT宝库51-42"/>
              <p:cNvSpPr/>
              <p:nvPr/>
            </p:nvSpPr>
            <p:spPr>
              <a:xfrm>
                <a:off x="527327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grpSp>
        <p:nvGrpSpPr>
          <p:cNvPr id="841" name="熊大的PPT宝库51"/>
          <p:cNvGrpSpPr/>
          <p:nvPr/>
        </p:nvGrpSpPr>
        <p:grpSpPr>
          <a:xfrm rot="0">
            <a:off x="6275705" y="4359275"/>
            <a:ext cx="487680" cy="271145"/>
            <a:chOff x="4856673" y="5108015"/>
            <a:chExt cx="487937" cy="271126"/>
          </a:xfrm>
          <a:gradFill>
            <a:gsLst>
              <a:gs pos="0">
                <a:schemeClr val="accent5">
                  <a:lumMod val="60000"/>
                  <a:lumOff val="40000"/>
                  <a:alpha val="0"/>
                </a:schemeClr>
              </a:gs>
              <a:gs pos="100000">
                <a:schemeClr val="accent5"/>
              </a:gs>
            </a:gsLst>
            <a:lin ang="0" scaled="0"/>
          </a:gradFill>
        </p:grpSpPr>
        <p:grpSp>
          <p:nvGrpSpPr>
            <p:cNvPr id="842" name="图形 6"/>
            <p:cNvGrpSpPr/>
            <p:nvPr/>
          </p:nvGrpSpPr>
          <p:grpSpPr>
            <a:xfrm>
              <a:off x="4856673" y="5108015"/>
              <a:ext cx="189077" cy="271126"/>
              <a:chOff x="4856673" y="5108015"/>
              <a:chExt cx="189077" cy="271126"/>
            </a:xfrm>
            <a:grpFill/>
          </p:grpSpPr>
          <p:sp>
            <p:nvSpPr>
              <p:cNvPr id="843" name="熊大的PPT宝库51-1"/>
              <p:cNvSpPr/>
              <p:nvPr/>
            </p:nvSpPr>
            <p:spPr>
              <a:xfrm>
                <a:off x="489594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44" name="熊大的PPT宝库51-2"/>
              <p:cNvSpPr/>
              <p:nvPr/>
            </p:nvSpPr>
            <p:spPr>
              <a:xfrm>
                <a:off x="493516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45" name="熊大的PPT宝库51-3"/>
              <p:cNvSpPr/>
              <p:nvPr/>
            </p:nvSpPr>
            <p:spPr>
              <a:xfrm>
                <a:off x="485669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46" name="熊大的PPT宝库51-4"/>
              <p:cNvSpPr/>
              <p:nvPr/>
            </p:nvSpPr>
            <p:spPr>
              <a:xfrm>
                <a:off x="489594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47" name="熊大的PPT宝库51-5"/>
              <p:cNvSpPr/>
              <p:nvPr/>
            </p:nvSpPr>
            <p:spPr>
              <a:xfrm>
                <a:off x="4856673"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44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184" y="32114"/>
                      <a:pt x="0" y="24930"/>
                      <a:pt x="0" y="16044"/>
                    </a:cubicBezTo>
                    <a:cubicBezTo>
                      <a:pt x="0" y="7184"/>
                      <a:pt x="7184" y="0"/>
                      <a:pt x="16044"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48" name="熊大的PPT宝库51-6"/>
              <p:cNvSpPr/>
              <p:nvPr/>
            </p:nvSpPr>
            <p:spPr>
              <a:xfrm>
                <a:off x="489594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49" name="熊大的PPT宝库51-7"/>
              <p:cNvSpPr/>
              <p:nvPr/>
            </p:nvSpPr>
            <p:spPr>
              <a:xfrm>
                <a:off x="493516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50" name="熊大的PPT宝库51-8"/>
              <p:cNvSpPr/>
              <p:nvPr/>
            </p:nvSpPr>
            <p:spPr>
              <a:xfrm>
                <a:off x="493516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51" name="熊大的PPT宝库51-9"/>
              <p:cNvSpPr/>
              <p:nvPr/>
            </p:nvSpPr>
            <p:spPr>
              <a:xfrm>
                <a:off x="489594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52" name="熊大的PPT宝库51-10"/>
              <p:cNvSpPr/>
              <p:nvPr/>
            </p:nvSpPr>
            <p:spPr>
              <a:xfrm>
                <a:off x="493516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3" y="32089"/>
                      <a:pt x="0" y="24905"/>
                      <a:pt x="0" y="16044"/>
                    </a:cubicBezTo>
                    <a:cubicBezTo>
                      <a:pt x="0" y="7183"/>
                      <a:pt x="7183" y="0"/>
                      <a:pt x="16044" y="0"/>
                    </a:cubicBezTo>
                    <a:cubicBezTo>
                      <a:pt x="24905" y="0"/>
                      <a:pt x="32089" y="7183"/>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53" name="熊大的PPT宝库51-11"/>
              <p:cNvSpPr/>
              <p:nvPr/>
            </p:nvSpPr>
            <p:spPr>
              <a:xfrm>
                <a:off x="497441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54" name="熊大的PPT宝库51-12"/>
              <p:cNvSpPr/>
              <p:nvPr/>
            </p:nvSpPr>
            <p:spPr>
              <a:xfrm>
                <a:off x="497441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55" name="熊大的PPT宝库51-13"/>
              <p:cNvSpPr/>
              <p:nvPr/>
            </p:nvSpPr>
            <p:spPr>
              <a:xfrm>
                <a:off x="5013637" y="5229311"/>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56" name="熊大的PPT宝库51-14"/>
              <p:cNvSpPr/>
              <p:nvPr/>
            </p:nvSpPr>
            <p:spPr>
              <a:xfrm>
                <a:off x="497441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nvGrpSpPr>
            <p:cNvPr id="857" name="图形 6"/>
            <p:cNvGrpSpPr/>
            <p:nvPr/>
          </p:nvGrpSpPr>
          <p:grpSpPr>
            <a:xfrm>
              <a:off x="5001822" y="5108015"/>
              <a:ext cx="189077" cy="271126"/>
              <a:chOff x="5001822" y="5108015"/>
              <a:chExt cx="189077" cy="271126"/>
            </a:xfrm>
            <a:grpFill/>
          </p:grpSpPr>
          <p:sp>
            <p:nvSpPr>
              <p:cNvPr id="858" name="熊大的PPT宝库51-15"/>
              <p:cNvSpPr/>
              <p:nvPr/>
            </p:nvSpPr>
            <p:spPr>
              <a:xfrm>
                <a:off x="504109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59" name="熊大的PPT宝库51-16"/>
              <p:cNvSpPr/>
              <p:nvPr/>
            </p:nvSpPr>
            <p:spPr>
              <a:xfrm>
                <a:off x="5080342"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60" name="熊大的PPT宝库51-17"/>
              <p:cNvSpPr/>
              <p:nvPr/>
            </p:nvSpPr>
            <p:spPr>
              <a:xfrm>
                <a:off x="5001822" y="5343473"/>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61" name="熊大的PPT宝库51-18"/>
              <p:cNvSpPr/>
              <p:nvPr/>
            </p:nvSpPr>
            <p:spPr>
              <a:xfrm>
                <a:off x="504109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62" name="熊大的PPT宝库51-19"/>
              <p:cNvSpPr/>
              <p:nvPr/>
            </p:nvSpPr>
            <p:spPr>
              <a:xfrm>
                <a:off x="5001822"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63" name="熊大的PPT宝库51-20"/>
              <p:cNvSpPr/>
              <p:nvPr/>
            </p:nvSpPr>
            <p:spPr>
              <a:xfrm>
                <a:off x="504109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64" name="熊大的PPT宝库51-21"/>
              <p:cNvSpPr/>
              <p:nvPr/>
            </p:nvSpPr>
            <p:spPr>
              <a:xfrm>
                <a:off x="5080342"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65" name="熊大的PPT宝库51-22"/>
              <p:cNvSpPr/>
              <p:nvPr/>
            </p:nvSpPr>
            <p:spPr>
              <a:xfrm>
                <a:off x="5080342"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66" name="熊大的PPT宝库51-23"/>
              <p:cNvSpPr/>
              <p:nvPr/>
            </p:nvSpPr>
            <p:spPr>
              <a:xfrm>
                <a:off x="504109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67" name="熊大的PPT宝库51-24"/>
              <p:cNvSpPr/>
              <p:nvPr/>
            </p:nvSpPr>
            <p:spPr>
              <a:xfrm>
                <a:off x="5080342"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68" name="熊大的PPT宝库51-25"/>
              <p:cNvSpPr/>
              <p:nvPr/>
            </p:nvSpPr>
            <p:spPr>
              <a:xfrm>
                <a:off x="5119589"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69" name="熊大的PPT宝库51-26"/>
              <p:cNvSpPr/>
              <p:nvPr/>
            </p:nvSpPr>
            <p:spPr>
              <a:xfrm>
                <a:off x="5119589"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70" name="熊大的PPT宝库51-27"/>
              <p:cNvSpPr/>
              <p:nvPr/>
            </p:nvSpPr>
            <p:spPr>
              <a:xfrm>
                <a:off x="5158811"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71" name="熊大的PPT宝库51-28"/>
              <p:cNvSpPr/>
              <p:nvPr/>
            </p:nvSpPr>
            <p:spPr>
              <a:xfrm>
                <a:off x="5119589"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nvGrpSpPr>
            <p:cNvPr id="872" name="图形 6"/>
            <p:cNvGrpSpPr/>
            <p:nvPr/>
          </p:nvGrpSpPr>
          <p:grpSpPr>
            <a:xfrm>
              <a:off x="5155558" y="5108015"/>
              <a:ext cx="189052" cy="271126"/>
              <a:chOff x="5155558" y="5108015"/>
              <a:chExt cx="189052" cy="271126"/>
            </a:xfrm>
            <a:grpFill/>
          </p:grpSpPr>
          <p:sp>
            <p:nvSpPr>
              <p:cNvPr id="873" name="熊大的PPT宝库51-29"/>
              <p:cNvSpPr/>
              <p:nvPr/>
            </p:nvSpPr>
            <p:spPr>
              <a:xfrm>
                <a:off x="519480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74" name="熊大的PPT宝库51-30"/>
              <p:cNvSpPr/>
              <p:nvPr/>
            </p:nvSpPr>
            <p:spPr>
              <a:xfrm>
                <a:off x="523402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75" name="熊大的PPT宝库51-31"/>
              <p:cNvSpPr/>
              <p:nvPr/>
            </p:nvSpPr>
            <p:spPr>
              <a:xfrm>
                <a:off x="515555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76" name="熊大的PPT宝库51-32"/>
              <p:cNvSpPr/>
              <p:nvPr/>
            </p:nvSpPr>
            <p:spPr>
              <a:xfrm>
                <a:off x="519480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77" name="熊大的PPT宝库51-33"/>
              <p:cNvSpPr/>
              <p:nvPr/>
            </p:nvSpPr>
            <p:spPr>
              <a:xfrm>
                <a:off x="5155558" y="510801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78" name="熊大的PPT宝库51-34"/>
              <p:cNvSpPr/>
              <p:nvPr/>
            </p:nvSpPr>
            <p:spPr>
              <a:xfrm>
                <a:off x="519480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79" name="熊大的PPT宝库51-35"/>
              <p:cNvSpPr/>
              <p:nvPr/>
            </p:nvSpPr>
            <p:spPr>
              <a:xfrm>
                <a:off x="523402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80" name="熊大的PPT宝库51-36"/>
              <p:cNvSpPr/>
              <p:nvPr/>
            </p:nvSpPr>
            <p:spPr>
              <a:xfrm>
                <a:off x="523402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81" name="熊大的PPT宝库51-37"/>
              <p:cNvSpPr/>
              <p:nvPr/>
            </p:nvSpPr>
            <p:spPr>
              <a:xfrm>
                <a:off x="519480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82" name="熊大的PPT宝库51-38"/>
              <p:cNvSpPr/>
              <p:nvPr/>
            </p:nvSpPr>
            <p:spPr>
              <a:xfrm>
                <a:off x="523402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83" name="熊大的PPT宝库51-39"/>
              <p:cNvSpPr/>
              <p:nvPr/>
            </p:nvSpPr>
            <p:spPr>
              <a:xfrm>
                <a:off x="527327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84" name="熊大的PPT宝库51-40"/>
              <p:cNvSpPr/>
              <p:nvPr/>
            </p:nvSpPr>
            <p:spPr>
              <a:xfrm>
                <a:off x="527327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85" name="熊大的PPT宝库51-41"/>
              <p:cNvSpPr/>
              <p:nvPr/>
            </p:nvSpPr>
            <p:spPr>
              <a:xfrm>
                <a:off x="5312522"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86" name="熊大的PPT宝库51-42"/>
              <p:cNvSpPr/>
              <p:nvPr/>
            </p:nvSpPr>
            <p:spPr>
              <a:xfrm>
                <a:off x="527327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grpSp>
        <p:nvGrpSpPr>
          <p:cNvPr id="7" name="组合 6"/>
          <p:cNvGrpSpPr/>
          <p:nvPr/>
        </p:nvGrpSpPr>
        <p:grpSpPr>
          <a:xfrm>
            <a:off x="6272530" y="1444608"/>
            <a:ext cx="1231900" cy="721995"/>
            <a:chOff x="9914" y="2253"/>
            <a:chExt cx="1940" cy="1137"/>
          </a:xfrm>
        </p:grpSpPr>
        <p:sp>
          <p:nvSpPr>
            <p:cNvPr id="696" name="熊大的PPT宝库21"/>
            <p:cNvSpPr txBox="1"/>
            <p:nvPr/>
          </p:nvSpPr>
          <p:spPr>
            <a:xfrm>
              <a:off x="10027" y="2253"/>
              <a:ext cx="1716" cy="628"/>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algn="ctr" defTabSz="457200"/>
              <a:r>
                <a:rPr lang="zh-CN" dirty="0">
                  <a:gradFill>
                    <a:gsLst>
                      <a:gs pos="97000">
                        <a:schemeClr val="accent1"/>
                      </a:gs>
                      <a:gs pos="0">
                        <a:schemeClr val="accent1"/>
                      </a:gs>
                    </a:gsLst>
                    <a:lin ang="2700000" scaled="0"/>
                  </a:gradFill>
                  <a:latin typeface="+mn-ea"/>
                  <a:cs typeface="微软雅黑" panose="020B0503020204020204" charset="-122"/>
                </a:rPr>
                <a:t>第一维</a:t>
              </a:r>
              <a:endParaRPr lang="zh-CN" dirty="0">
                <a:gradFill>
                  <a:gsLst>
                    <a:gs pos="97000">
                      <a:schemeClr val="accent1"/>
                    </a:gs>
                    <a:gs pos="0">
                      <a:schemeClr val="accent1"/>
                    </a:gs>
                  </a:gsLst>
                  <a:lin ang="2700000" scaled="0"/>
                </a:gradFill>
                <a:latin typeface="+mn-ea"/>
                <a:cs typeface="微软雅黑" panose="020B0503020204020204" charset="-122"/>
              </a:endParaRPr>
            </a:p>
          </p:txBody>
        </p:sp>
        <p:sp>
          <p:nvSpPr>
            <p:cNvPr id="4" name="熊大的PPT宝库21"/>
            <p:cNvSpPr txBox="1"/>
            <p:nvPr/>
          </p:nvSpPr>
          <p:spPr>
            <a:xfrm>
              <a:off x="9914" y="2860"/>
              <a:ext cx="1941" cy="531"/>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algn="ctr" defTabSz="457200"/>
              <a:r>
                <a:rPr lang="zh-CN" sz="1600" b="0" dirty="0">
                  <a:solidFill>
                    <a:schemeClr val="tx2"/>
                  </a:solidFill>
                  <a:latin typeface="+mn-ea"/>
                  <a:cs typeface="微软雅黑" panose="020B0503020204020204" charset="-122"/>
                </a:rPr>
                <a:t>（顶层牵引）</a:t>
              </a:r>
              <a:endParaRPr lang="zh-CN" sz="1600" b="0" dirty="0">
                <a:solidFill>
                  <a:schemeClr val="tx2"/>
                </a:solidFill>
                <a:latin typeface="+mn-ea"/>
                <a:cs typeface="微软雅黑" panose="020B0503020204020204" charset="-122"/>
              </a:endParaRPr>
            </a:p>
          </p:txBody>
        </p:sp>
      </p:grpSp>
      <p:sp>
        <p:nvSpPr>
          <p:cNvPr id="8" name="熊大的PPT宝库20"/>
          <p:cNvSpPr txBox="1"/>
          <p:nvPr/>
        </p:nvSpPr>
        <p:spPr>
          <a:xfrm>
            <a:off x="7686675" y="1375410"/>
            <a:ext cx="3524885" cy="866140"/>
          </a:xfrm>
          <a:prstGeom prst="rect">
            <a:avLst/>
          </a:prstGeom>
          <a:noFill/>
        </p:spPr>
        <p:txBody>
          <a:bodyPr wrap="square">
            <a:spAutoFit/>
          </a:bodyPr>
          <a:lstStyle/>
          <a:p>
            <a:pPr marL="285750" indent="-285750" defTabSz="457200">
              <a:lnSpc>
                <a:spcPct val="120000"/>
              </a:lnSpc>
              <a:buFont typeface="Wingdings" panose="05000000000000000000" charset="0"/>
              <a:buChar char="Ø"/>
            </a:pPr>
            <a:r>
              <a:rPr lang="zh-CN" altLang="en-US" sz="1400" dirty="0">
                <a:solidFill>
                  <a:schemeClr val="tx2"/>
                </a:solidFill>
                <a:latin typeface="+mn-ea"/>
                <a:cs typeface="微软雅黑" panose="020B0503020204020204" charset="-122"/>
              </a:rPr>
              <a:t>清晰的战略方向是否对齐？</a:t>
            </a:r>
            <a:endParaRPr lang="zh-CN" altLang="en-US" sz="1400" dirty="0">
              <a:solidFill>
                <a:schemeClr val="tx2"/>
              </a:solidFill>
              <a:latin typeface="+mn-ea"/>
              <a:cs typeface="微软雅黑" panose="020B0503020204020204" charset="-122"/>
            </a:endParaRPr>
          </a:p>
          <a:p>
            <a:pPr marL="285750" indent="-285750" defTabSz="457200">
              <a:lnSpc>
                <a:spcPct val="120000"/>
              </a:lnSpc>
              <a:buFont typeface="Wingdings" panose="05000000000000000000" charset="0"/>
              <a:buChar char="Ø"/>
            </a:pPr>
            <a:r>
              <a:rPr lang="zh-CN" altLang="en-US" sz="1400" dirty="0">
                <a:solidFill>
                  <a:schemeClr val="tx2"/>
                </a:solidFill>
                <a:latin typeface="+mn-ea"/>
                <a:cs typeface="微软雅黑" panose="020B0503020204020204" charset="-122"/>
              </a:rPr>
              <a:t>是否建立了鼓励创新、容忍失败、追求卓越的执行文化？</a:t>
            </a:r>
            <a:endParaRPr lang="zh-CN" altLang="en-US" sz="1400" dirty="0">
              <a:solidFill>
                <a:schemeClr val="tx2"/>
              </a:solidFill>
              <a:latin typeface="+mn-ea"/>
              <a:cs typeface="微软雅黑" panose="020B0503020204020204" charset="-122"/>
            </a:endParaRPr>
          </a:p>
        </p:txBody>
      </p:sp>
      <p:grpSp>
        <p:nvGrpSpPr>
          <p:cNvPr id="9" name="组合 8"/>
          <p:cNvGrpSpPr/>
          <p:nvPr/>
        </p:nvGrpSpPr>
        <p:grpSpPr>
          <a:xfrm>
            <a:off x="6884670" y="2792713"/>
            <a:ext cx="1232535" cy="722630"/>
            <a:chOff x="9914" y="2253"/>
            <a:chExt cx="1941" cy="1138"/>
          </a:xfrm>
        </p:grpSpPr>
        <p:sp>
          <p:nvSpPr>
            <p:cNvPr id="11" name="熊大的PPT宝库21"/>
            <p:cNvSpPr txBox="1"/>
            <p:nvPr/>
          </p:nvSpPr>
          <p:spPr>
            <a:xfrm>
              <a:off x="10027" y="2253"/>
              <a:ext cx="1716" cy="628"/>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algn="ctr" defTabSz="457200"/>
              <a:r>
                <a:rPr lang="zh-CN" dirty="0">
                  <a:solidFill>
                    <a:schemeClr val="accent5"/>
                  </a:solidFill>
                  <a:latin typeface="+mn-ea"/>
                  <a:cs typeface="微软雅黑" panose="020B0503020204020204" charset="-122"/>
                </a:rPr>
                <a:t>第二维</a:t>
              </a:r>
              <a:endParaRPr lang="zh-CN" dirty="0">
                <a:solidFill>
                  <a:schemeClr val="accent5"/>
                </a:solidFill>
                <a:latin typeface="+mn-ea"/>
                <a:cs typeface="微软雅黑" panose="020B0503020204020204" charset="-122"/>
              </a:endParaRPr>
            </a:p>
          </p:txBody>
        </p:sp>
        <p:sp>
          <p:nvSpPr>
            <p:cNvPr id="12" name="熊大的PPT宝库21"/>
            <p:cNvSpPr txBox="1"/>
            <p:nvPr/>
          </p:nvSpPr>
          <p:spPr>
            <a:xfrm>
              <a:off x="9914" y="2860"/>
              <a:ext cx="1941" cy="531"/>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algn="ctr" defTabSz="457200"/>
              <a:r>
                <a:rPr lang="zh-CN" sz="1600" b="0" dirty="0">
                  <a:solidFill>
                    <a:schemeClr val="tx2"/>
                  </a:solidFill>
                  <a:latin typeface="+mn-ea"/>
                  <a:cs typeface="微软雅黑" panose="020B0503020204020204" charset="-122"/>
                </a:rPr>
                <a:t>（运行法则）</a:t>
              </a:r>
              <a:endParaRPr lang="zh-CN" sz="1600" b="0" dirty="0">
                <a:solidFill>
                  <a:schemeClr val="tx2"/>
                </a:solidFill>
                <a:latin typeface="+mn-ea"/>
                <a:cs typeface="微软雅黑" panose="020B0503020204020204" charset="-122"/>
              </a:endParaRPr>
            </a:p>
          </p:txBody>
        </p:sp>
      </p:grpSp>
      <p:grpSp>
        <p:nvGrpSpPr>
          <p:cNvPr id="21" name="组合 20"/>
          <p:cNvGrpSpPr/>
          <p:nvPr/>
        </p:nvGrpSpPr>
        <p:grpSpPr>
          <a:xfrm>
            <a:off x="6956425" y="4159233"/>
            <a:ext cx="1232535" cy="722630"/>
            <a:chOff x="9914" y="2253"/>
            <a:chExt cx="1941" cy="1138"/>
          </a:xfrm>
        </p:grpSpPr>
        <p:sp>
          <p:nvSpPr>
            <p:cNvPr id="42" name="熊大的PPT宝库21"/>
            <p:cNvSpPr txBox="1"/>
            <p:nvPr/>
          </p:nvSpPr>
          <p:spPr>
            <a:xfrm>
              <a:off x="10027" y="2253"/>
              <a:ext cx="1716" cy="628"/>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algn="ctr" defTabSz="457200"/>
              <a:r>
                <a:rPr lang="zh-CN" dirty="0">
                  <a:solidFill>
                    <a:schemeClr val="accent5"/>
                  </a:solidFill>
                  <a:latin typeface="+mn-ea"/>
                  <a:cs typeface="微软雅黑" panose="020B0503020204020204" charset="-122"/>
                </a:rPr>
                <a:t>第三维</a:t>
              </a:r>
              <a:endParaRPr lang="zh-CN" dirty="0">
                <a:solidFill>
                  <a:schemeClr val="accent5"/>
                </a:solidFill>
                <a:latin typeface="+mn-ea"/>
                <a:cs typeface="微软雅黑" panose="020B0503020204020204" charset="-122"/>
              </a:endParaRPr>
            </a:p>
          </p:txBody>
        </p:sp>
        <p:sp>
          <p:nvSpPr>
            <p:cNvPr id="45" name="熊大的PPT宝库21"/>
            <p:cNvSpPr txBox="1"/>
            <p:nvPr/>
          </p:nvSpPr>
          <p:spPr>
            <a:xfrm>
              <a:off x="9914" y="2860"/>
              <a:ext cx="1941" cy="531"/>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algn="ctr" defTabSz="457200"/>
              <a:r>
                <a:rPr lang="zh-CN" sz="1600" b="0" dirty="0">
                  <a:solidFill>
                    <a:schemeClr val="tx2"/>
                  </a:solidFill>
                  <a:latin typeface="+mn-ea"/>
                  <a:cs typeface="微软雅黑" panose="020B0503020204020204" charset="-122"/>
                </a:rPr>
                <a:t>（执行主体）</a:t>
              </a:r>
              <a:endParaRPr lang="zh-CN" sz="1600" b="0" dirty="0">
                <a:solidFill>
                  <a:schemeClr val="tx2"/>
                </a:solidFill>
                <a:latin typeface="+mn-ea"/>
                <a:cs typeface="微软雅黑" panose="020B0503020204020204" charset="-122"/>
              </a:endParaRPr>
            </a:p>
          </p:txBody>
        </p:sp>
      </p:grpSp>
      <p:grpSp>
        <p:nvGrpSpPr>
          <p:cNvPr id="47" name="组合 46"/>
          <p:cNvGrpSpPr/>
          <p:nvPr/>
        </p:nvGrpSpPr>
        <p:grpSpPr>
          <a:xfrm>
            <a:off x="6275705" y="5544803"/>
            <a:ext cx="1232535" cy="722630"/>
            <a:chOff x="9914" y="2253"/>
            <a:chExt cx="1941" cy="1138"/>
          </a:xfrm>
        </p:grpSpPr>
        <p:sp>
          <p:nvSpPr>
            <p:cNvPr id="48" name="熊大的PPT宝库21"/>
            <p:cNvSpPr txBox="1"/>
            <p:nvPr/>
          </p:nvSpPr>
          <p:spPr>
            <a:xfrm>
              <a:off x="10027" y="2253"/>
              <a:ext cx="1716" cy="628"/>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algn="ctr" defTabSz="457200"/>
              <a:r>
                <a:rPr lang="zh-CN" dirty="0">
                  <a:gradFill>
                    <a:gsLst>
                      <a:gs pos="97000">
                        <a:schemeClr val="accent1"/>
                      </a:gs>
                      <a:gs pos="0">
                        <a:schemeClr val="accent1"/>
                      </a:gs>
                    </a:gsLst>
                    <a:lin ang="2700000" scaled="0"/>
                  </a:gradFill>
                  <a:latin typeface="+mn-ea"/>
                  <a:cs typeface="微软雅黑" panose="020B0503020204020204" charset="-122"/>
                </a:rPr>
                <a:t>第四维</a:t>
              </a:r>
              <a:endParaRPr lang="zh-CN" dirty="0">
                <a:gradFill>
                  <a:gsLst>
                    <a:gs pos="97000">
                      <a:schemeClr val="accent1"/>
                    </a:gs>
                    <a:gs pos="0">
                      <a:schemeClr val="accent1"/>
                    </a:gs>
                  </a:gsLst>
                  <a:lin ang="2700000" scaled="0"/>
                </a:gradFill>
                <a:latin typeface="+mn-ea"/>
                <a:cs typeface="微软雅黑" panose="020B0503020204020204" charset="-122"/>
              </a:endParaRPr>
            </a:p>
          </p:txBody>
        </p:sp>
        <p:sp>
          <p:nvSpPr>
            <p:cNvPr id="60" name="熊大的PPT宝库21"/>
            <p:cNvSpPr txBox="1"/>
            <p:nvPr/>
          </p:nvSpPr>
          <p:spPr>
            <a:xfrm>
              <a:off x="9914" y="2860"/>
              <a:ext cx="1941" cy="531"/>
            </a:xfrm>
            <a:prstGeom prst="rect">
              <a:avLst/>
            </a:prstGeom>
          </p:spPr>
          <p:txBody>
            <a:bodyPr wrap="square" rtlCol="0">
              <a:spAutoFit/>
            </a:bodyPr>
            <a:lstStyle>
              <a:defPPr>
                <a:defRPr lang="zh-CN"/>
              </a:defPPr>
              <a:lvl1pPr>
                <a:defRPr sz="2000" b="1">
                  <a:gradFill>
                    <a:gsLst>
                      <a:gs pos="97000">
                        <a:schemeClr val="accent1"/>
                      </a:gs>
                      <a:gs pos="0">
                        <a:schemeClr val="accent2"/>
                      </a:gs>
                    </a:gsLst>
                    <a:lin ang="2700000" scaled="0"/>
                  </a:gradFill>
                </a:defRPr>
              </a:lvl1pPr>
            </a:lstStyle>
            <a:p>
              <a:pPr algn="ctr" defTabSz="457200"/>
              <a:r>
                <a:rPr lang="zh-CN" sz="1600" b="0" dirty="0">
                  <a:solidFill>
                    <a:schemeClr val="tx2"/>
                  </a:solidFill>
                  <a:latin typeface="+mn-ea"/>
                  <a:cs typeface="微软雅黑" panose="020B0503020204020204" charset="-122"/>
                </a:rPr>
                <a:t>（智慧赋能）</a:t>
              </a:r>
              <a:endParaRPr lang="zh-CN" sz="1600" b="0" dirty="0">
                <a:solidFill>
                  <a:schemeClr val="tx2"/>
                </a:solidFill>
                <a:latin typeface="+mn-ea"/>
                <a:cs typeface="微软雅黑" panose="020B0503020204020204" charset="-122"/>
              </a:endParaRPr>
            </a:p>
          </p:txBody>
        </p:sp>
      </p:grpSp>
      <p:grpSp>
        <p:nvGrpSpPr>
          <p:cNvPr id="107" name="组合 106"/>
          <p:cNvGrpSpPr/>
          <p:nvPr/>
        </p:nvGrpSpPr>
        <p:grpSpPr>
          <a:xfrm>
            <a:off x="8160385" y="2740025"/>
            <a:ext cx="1003300" cy="363220"/>
            <a:chOff x="12896" y="4362"/>
            <a:chExt cx="1676" cy="572"/>
          </a:xfrm>
        </p:grpSpPr>
        <p:sp>
          <p:nvSpPr>
            <p:cNvPr id="74" name="熊大的PPT宝库29-1"/>
            <p:cNvSpPr/>
            <p:nvPr/>
          </p:nvSpPr>
          <p:spPr>
            <a:xfrm>
              <a:off x="12896" y="4362"/>
              <a:ext cx="1676" cy="572"/>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solidFill>
                <a:schemeClr val="accent5">
                  <a:lumMod val="40000"/>
                  <a:lumOff val="6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latin typeface="+mn-ea"/>
                <a:cs typeface="微软雅黑" panose="020B0503020204020204" charset="-122"/>
              </a:endParaRPr>
            </a:p>
          </p:txBody>
        </p:sp>
        <p:sp>
          <p:nvSpPr>
            <p:cNvPr id="105" name="熊大的PPT宝库29-2"/>
            <p:cNvSpPr txBox="1"/>
            <p:nvPr/>
          </p:nvSpPr>
          <p:spPr>
            <a:xfrm>
              <a:off x="12896" y="4407"/>
              <a:ext cx="1675" cy="483"/>
            </a:xfrm>
            <a:prstGeom prst="rect">
              <a:avLst/>
            </a:prstGeom>
            <a:noFill/>
          </p:spPr>
          <p:txBody>
            <a:bodyPr wrap="square">
              <a:spAutoFit/>
            </a:bodyPr>
            <a:lstStyle/>
            <a:p>
              <a:pPr algn="ctr" defTabSz="457200"/>
              <a:r>
                <a:rPr lang="zh-CN" altLang="en-US" sz="1400" dirty="0">
                  <a:solidFill>
                    <a:schemeClr val="tx2"/>
                  </a:solidFill>
                  <a:latin typeface="+mn-ea"/>
                  <a:cs typeface="微软雅黑" panose="020B0503020204020204" charset="-122"/>
                </a:rPr>
                <a:t>量化指标</a:t>
              </a:r>
              <a:endParaRPr lang="zh-CN" altLang="en-US" sz="1400" dirty="0">
                <a:solidFill>
                  <a:schemeClr val="tx2"/>
                </a:solidFill>
                <a:latin typeface="+mn-ea"/>
                <a:cs typeface="微软雅黑" panose="020B0503020204020204" charset="-122"/>
              </a:endParaRPr>
            </a:p>
          </p:txBody>
        </p:sp>
      </p:grpSp>
      <p:grpSp>
        <p:nvGrpSpPr>
          <p:cNvPr id="108" name="组合 107"/>
          <p:cNvGrpSpPr/>
          <p:nvPr/>
        </p:nvGrpSpPr>
        <p:grpSpPr>
          <a:xfrm>
            <a:off x="8160385" y="3251835"/>
            <a:ext cx="1003300" cy="363220"/>
            <a:chOff x="12896" y="4362"/>
            <a:chExt cx="1676" cy="572"/>
          </a:xfrm>
        </p:grpSpPr>
        <p:sp>
          <p:nvSpPr>
            <p:cNvPr id="109" name="熊大的PPT宝库29-1"/>
            <p:cNvSpPr/>
            <p:nvPr/>
          </p:nvSpPr>
          <p:spPr>
            <a:xfrm>
              <a:off x="12896" y="4362"/>
              <a:ext cx="1676" cy="572"/>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solidFill>
                <a:schemeClr val="accent5">
                  <a:lumMod val="40000"/>
                  <a:lumOff val="6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latin typeface="+mn-ea"/>
                <a:cs typeface="微软雅黑" panose="020B0503020204020204" charset="-122"/>
              </a:endParaRPr>
            </a:p>
          </p:txBody>
        </p:sp>
        <p:sp>
          <p:nvSpPr>
            <p:cNvPr id="110" name="熊大的PPT宝库29-2"/>
            <p:cNvSpPr txBox="1"/>
            <p:nvPr/>
          </p:nvSpPr>
          <p:spPr>
            <a:xfrm>
              <a:off x="12896" y="4407"/>
              <a:ext cx="1675" cy="483"/>
            </a:xfrm>
            <a:prstGeom prst="rect">
              <a:avLst/>
            </a:prstGeom>
            <a:noFill/>
          </p:spPr>
          <p:txBody>
            <a:bodyPr wrap="square">
              <a:spAutoFit/>
            </a:bodyPr>
            <a:lstStyle/>
            <a:p>
              <a:pPr algn="ctr" defTabSz="457200"/>
              <a:r>
                <a:rPr lang="zh-CN" altLang="en-US" sz="1400" dirty="0">
                  <a:solidFill>
                    <a:schemeClr val="tx2"/>
                  </a:solidFill>
                  <a:latin typeface="+mn-ea"/>
                  <a:cs typeface="微软雅黑" panose="020B0503020204020204" charset="-122"/>
                </a:rPr>
                <a:t>实时监控</a:t>
              </a:r>
              <a:endParaRPr lang="zh-CN" altLang="en-US" sz="1400" dirty="0">
                <a:solidFill>
                  <a:schemeClr val="tx2"/>
                </a:solidFill>
                <a:latin typeface="+mn-ea"/>
                <a:cs typeface="微软雅黑" panose="020B0503020204020204" charset="-122"/>
              </a:endParaRPr>
            </a:p>
          </p:txBody>
        </p:sp>
      </p:grpSp>
      <p:grpSp>
        <p:nvGrpSpPr>
          <p:cNvPr id="111" name="组合 110"/>
          <p:cNvGrpSpPr/>
          <p:nvPr/>
        </p:nvGrpSpPr>
        <p:grpSpPr>
          <a:xfrm>
            <a:off x="9290050" y="2740025"/>
            <a:ext cx="1003300" cy="363220"/>
            <a:chOff x="12896" y="4362"/>
            <a:chExt cx="1676" cy="572"/>
          </a:xfrm>
        </p:grpSpPr>
        <p:sp>
          <p:nvSpPr>
            <p:cNvPr id="113" name="熊大的PPT宝库29-1"/>
            <p:cNvSpPr/>
            <p:nvPr/>
          </p:nvSpPr>
          <p:spPr>
            <a:xfrm>
              <a:off x="12896" y="4362"/>
              <a:ext cx="1676" cy="572"/>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solidFill>
                <a:schemeClr val="accent5">
                  <a:lumMod val="40000"/>
                  <a:lumOff val="6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latin typeface="+mn-ea"/>
                <a:cs typeface="微软雅黑" panose="020B0503020204020204" charset="-122"/>
              </a:endParaRPr>
            </a:p>
          </p:txBody>
        </p:sp>
        <p:sp>
          <p:nvSpPr>
            <p:cNvPr id="114" name="熊大的PPT宝库29-2"/>
            <p:cNvSpPr txBox="1"/>
            <p:nvPr/>
          </p:nvSpPr>
          <p:spPr>
            <a:xfrm>
              <a:off x="12896" y="4407"/>
              <a:ext cx="1675" cy="483"/>
            </a:xfrm>
            <a:prstGeom prst="rect">
              <a:avLst/>
            </a:prstGeom>
            <a:noFill/>
          </p:spPr>
          <p:txBody>
            <a:bodyPr wrap="square">
              <a:spAutoFit/>
            </a:bodyPr>
            <a:lstStyle/>
            <a:p>
              <a:pPr algn="ctr" defTabSz="457200"/>
              <a:r>
                <a:rPr lang="zh-CN" altLang="en-US" sz="1400" dirty="0">
                  <a:solidFill>
                    <a:schemeClr val="tx2"/>
                  </a:solidFill>
                  <a:latin typeface="+mn-ea"/>
                  <a:cs typeface="微软雅黑" panose="020B0503020204020204" charset="-122"/>
                </a:rPr>
                <a:t>节点标准</a:t>
              </a:r>
              <a:endParaRPr lang="zh-CN" altLang="en-US" sz="1400" dirty="0">
                <a:solidFill>
                  <a:schemeClr val="tx2"/>
                </a:solidFill>
                <a:latin typeface="+mn-ea"/>
                <a:cs typeface="微软雅黑" panose="020B0503020204020204" charset="-122"/>
              </a:endParaRPr>
            </a:p>
          </p:txBody>
        </p:sp>
      </p:grpSp>
      <p:grpSp>
        <p:nvGrpSpPr>
          <p:cNvPr id="116" name="组合 115"/>
          <p:cNvGrpSpPr/>
          <p:nvPr/>
        </p:nvGrpSpPr>
        <p:grpSpPr>
          <a:xfrm>
            <a:off x="9310370" y="3251835"/>
            <a:ext cx="1003300" cy="363220"/>
            <a:chOff x="12896" y="4362"/>
            <a:chExt cx="1677" cy="572"/>
          </a:xfrm>
        </p:grpSpPr>
        <p:sp>
          <p:nvSpPr>
            <p:cNvPr id="117" name="熊大的PPT宝库29-1"/>
            <p:cNvSpPr/>
            <p:nvPr/>
          </p:nvSpPr>
          <p:spPr>
            <a:xfrm>
              <a:off x="12896" y="4362"/>
              <a:ext cx="1676" cy="572"/>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solidFill>
                <a:schemeClr val="accent5">
                  <a:lumMod val="40000"/>
                  <a:lumOff val="6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latin typeface="+mn-ea"/>
                <a:cs typeface="微软雅黑" panose="020B0503020204020204" charset="-122"/>
              </a:endParaRPr>
            </a:p>
          </p:txBody>
        </p:sp>
        <p:sp>
          <p:nvSpPr>
            <p:cNvPr id="118" name="熊大的PPT宝库29-2"/>
            <p:cNvSpPr txBox="1"/>
            <p:nvPr/>
          </p:nvSpPr>
          <p:spPr>
            <a:xfrm>
              <a:off x="12896" y="4407"/>
              <a:ext cx="1677" cy="483"/>
            </a:xfrm>
            <a:prstGeom prst="rect">
              <a:avLst/>
            </a:prstGeom>
            <a:noFill/>
          </p:spPr>
          <p:txBody>
            <a:bodyPr wrap="square">
              <a:spAutoFit/>
            </a:bodyPr>
            <a:lstStyle/>
            <a:p>
              <a:pPr algn="ctr" defTabSz="457200"/>
              <a:r>
                <a:rPr lang="zh-CN" altLang="en-US" sz="1400" dirty="0">
                  <a:solidFill>
                    <a:schemeClr val="tx2"/>
                  </a:solidFill>
                  <a:latin typeface="+mn-ea"/>
                  <a:cs typeface="微软雅黑" panose="020B0503020204020204" charset="-122"/>
                </a:rPr>
                <a:t>执行固化</a:t>
              </a:r>
              <a:endParaRPr lang="zh-CN" altLang="en-US" sz="1400" dirty="0">
                <a:solidFill>
                  <a:schemeClr val="tx2"/>
                </a:solidFill>
                <a:latin typeface="+mn-ea"/>
                <a:cs typeface="微软雅黑" panose="020B0503020204020204" charset="-122"/>
              </a:endParaRPr>
            </a:p>
          </p:txBody>
        </p:sp>
      </p:grpSp>
      <p:grpSp>
        <p:nvGrpSpPr>
          <p:cNvPr id="119" name="组合 118"/>
          <p:cNvGrpSpPr/>
          <p:nvPr/>
        </p:nvGrpSpPr>
        <p:grpSpPr>
          <a:xfrm>
            <a:off x="10419715" y="2740025"/>
            <a:ext cx="1044575" cy="363220"/>
            <a:chOff x="12827" y="4362"/>
            <a:chExt cx="1745" cy="572"/>
          </a:xfrm>
        </p:grpSpPr>
        <p:sp>
          <p:nvSpPr>
            <p:cNvPr id="121" name="熊大的PPT宝库29-1"/>
            <p:cNvSpPr/>
            <p:nvPr/>
          </p:nvSpPr>
          <p:spPr>
            <a:xfrm>
              <a:off x="12896" y="4362"/>
              <a:ext cx="1676" cy="572"/>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solidFill>
                <a:schemeClr val="accent5">
                  <a:lumMod val="40000"/>
                  <a:lumOff val="6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latin typeface="+mn-ea"/>
                <a:cs typeface="微软雅黑" panose="020B0503020204020204" charset="-122"/>
              </a:endParaRPr>
            </a:p>
          </p:txBody>
        </p:sp>
        <p:sp>
          <p:nvSpPr>
            <p:cNvPr id="122" name="熊大的PPT宝库29-2"/>
            <p:cNvSpPr txBox="1"/>
            <p:nvPr/>
          </p:nvSpPr>
          <p:spPr>
            <a:xfrm>
              <a:off x="12827" y="4407"/>
              <a:ext cx="1744" cy="483"/>
            </a:xfrm>
            <a:prstGeom prst="rect">
              <a:avLst/>
            </a:prstGeom>
            <a:noFill/>
          </p:spPr>
          <p:txBody>
            <a:bodyPr wrap="square">
              <a:spAutoFit/>
            </a:bodyPr>
            <a:lstStyle/>
            <a:p>
              <a:pPr algn="ctr" defTabSz="457200"/>
              <a:r>
                <a:rPr lang="zh-CN" altLang="en-US" sz="1400" dirty="0">
                  <a:solidFill>
                    <a:schemeClr val="tx2"/>
                  </a:solidFill>
                  <a:latin typeface="+mn-ea"/>
                  <a:cs typeface="微软雅黑" panose="020B0503020204020204" charset="-122"/>
                </a:rPr>
                <a:t>流程显性</a:t>
              </a:r>
              <a:endParaRPr lang="zh-CN" altLang="en-US" sz="1400" dirty="0">
                <a:solidFill>
                  <a:schemeClr val="tx2"/>
                </a:solidFill>
                <a:latin typeface="+mn-ea"/>
                <a:cs typeface="微软雅黑" panose="020B0503020204020204" charset="-122"/>
              </a:endParaRPr>
            </a:p>
          </p:txBody>
        </p:sp>
      </p:grpSp>
      <p:grpSp>
        <p:nvGrpSpPr>
          <p:cNvPr id="127" name="组合 126"/>
          <p:cNvGrpSpPr/>
          <p:nvPr/>
        </p:nvGrpSpPr>
        <p:grpSpPr>
          <a:xfrm>
            <a:off x="10460355" y="3251835"/>
            <a:ext cx="1003300" cy="363220"/>
            <a:chOff x="12896" y="4362"/>
            <a:chExt cx="1676" cy="572"/>
          </a:xfrm>
        </p:grpSpPr>
        <p:sp>
          <p:nvSpPr>
            <p:cNvPr id="128" name="熊大的PPT宝库29-1"/>
            <p:cNvSpPr/>
            <p:nvPr/>
          </p:nvSpPr>
          <p:spPr>
            <a:xfrm>
              <a:off x="12896" y="4362"/>
              <a:ext cx="1676" cy="572"/>
            </a:xfrm>
            <a:prstGeom prst="roundRect">
              <a:avLst>
                <a:gd name="adj" fmla="val 50000"/>
              </a:avLst>
            </a:prstGeom>
            <a:gradFill>
              <a:gsLst>
                <a:gs pos="0">
                  <a:schemeClr val="accent1">
                    <a:lumMod val="0"/>
                    <a:lumOff val="100000"/>
                  </a:schemeClr>
                </a:gs>
                <a:gs pos="100000">
                  <a:schemeClr val="accent1">
                    <a:lumMod val="5000"/>
                    <a:lumOff val="95000"/>
                  </a:schemeClr>
                </a:gs>
              </a:gsLst>
              <a:lin ang="2700000" scaled="1"/>
            </a:gradFill>
            <a:ln w="9525">
              <a:solidFill>
                <a:schemeClr val="accent5">
                  <a:lumMod val="40000"/>
                  <a:lumOff val="6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latin typeface="+mn-ea"/>
                <a:cs typeface="微软雅黑" panose="020B0503020204020204" charset="-122"/>
              </a:endParaRPr>
            </a:p>
          </p:txBody>
        </p:sp>
        <p:sp>
          <p:nvSpPr>
            <p:cNvPr id="129" name="熊大的PPT宝库29-2"/>
            <p:cNvSpPr txBox="1"/>
            <p:nvPr/>
          </p:nvSpPr>
          <p:spPr>
            <a:xfrm>
              <a:off x="12896" y="4407"/>
              <a:ext cx="1675" cy="483"/>
            </a:xfrm>
            <a:prstGeom prst="rect">
              <a:avLst/>
            </a:prstGeom>
            <a:noFill/>
          </p:spPr>
          <p:txBody>
            <a:bodyPr wrap="square">
              <a:spAutoFit/>
            </a:bodyPr>
            <a:lstStyle/>
            <a:p>
              <a:pPr algn="ctr" defTabSz="457200"/>
              <a:r>
                <a:rPr lang="zh-CN" altLang="en-US" sz="1400" dirty="0">
                  <a:solidFill>
                    <a:schemeClr val="tx2"/>
                  </a:solidFill>
                  <a:latin typeface="+mn-ea"/>
                  <a:cs typeface="微软雅黑" panose="020B0503020204020204" charset="-122"/>
                </a:rPr>
                <a:t>持续改进</a:t>
              </a:r>
              <a:endParaRPr lang="zh-CN" altLang="en-US" sz="1400" dirty="0">
                <a:solidFill>
                  <a:schemeClr val="tx2"/>
                </a:solidFill>
                <a:latin typeface="+mn-ea"/>
                <a:cs typeface="微软雅黑" panose="020B0503020204020204" charset="-122"/>
              </a:endParaRPr>
            </a:p>
          </p:txBody>
        </p:sp>
      </p:grpSp>
      <p:grpSp>
        <p:nvGrpSpPr>
          <p:cNvPr id="138" name="组合 137"/>
          <p:cNvGrpSpPr/>
          <p:nvPr/>
        </p:nvGrpSpPr>
        <p:grpSpPr>
          <a:xfrm>
            <a:off x="8335010" y="4026364"/>
            <a:ext cx="1232424" cy="929065"/>
            <a:chOff x="12974" y="6190"/>
            <a:chExt cx="2353" cy="1773"/>
          </a:xfrm>
        </p:grpSpPr>
        <p:grpSp>
          <p:nvGrpSpPr>
            <p:cNvPr id="136" name="组合 135"/>
            <p:cNvGrpSpPr/>
            <p:nvPr/>
          </p:nvGrpSpPr>
          <p:grpSpPr>
            <a:xfrm>
              <a:off x="12974" y="6190"/>
              <a:ext cx="2353" cy="1773"/>
              <a:chOff x="13100" y="6250"/>
              <a:chExt cx="1831" cy="1773"/>
            </a:xfrm>
          </p:grpSpPr>
          <p:sp>
            <p:nvSpPr>
              <p:cNvPr id="130" name="熊大的PPT宝库35"/>
              <p:cNvSpPr/>
              <p:nvPr/>
            </p:nvSpPr>
            <p:spPr>
              <a:xfrm>
                <a:off x="13100" y="6348"/>
                <a:ext cx="1831" cy="1675"/>
              </a:xfrm>
              <a:prstGeom prst="roundRect">
                <a:avLst>
                  <a:gd name="adj" fmla="val 3421"/>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latin typeface="+mn-ea"/>
                  <a:cs typeface="微软雅黑" panose="020B0503020204020204" charset="-122"/>
                </a:endParaRPr>
              </a:p>
            </p:txBody>
          </p:sp>
          <p:sp>
            <p:nvSpPr>
              <p:cNvPr id="131" name="熊大的PPT宝库36"/>
              <p:cNvSpPr/>
              <p:nvPr/>
            </p:nvSpPr>
            <p:spPr>
              <a:xfrm>
                <a:off x="13100" y="6292"/>
                <a:ext cx="1831" cy="501"/>
              </a:xfrm>
              <a:prstGeom prst="roundRect">
                <a:avLst>
                  <a:gd name="adj" fmla="val 10322"/>
                </a:avLst>
              </a:prstGeom>
              <a:gradFill>
                <a:gsLst>
                  <a:gs pos="0">
                    <a:schemeClr val="accent5">
                      <a:lumMod val="40000"/>
                      <a:lumOff val="60000"/>
                    </a:schemeClr>
                  </a:gs>
                  <a:gs pos="80000">
                    <a:schemeClr val="accent5">
                      <a:lumMod val="60000"/>
                      <a:lumOff val="40000"/>
                    </a:schemeClr>
                  </a:gs>
                </a:gsLst>
                <a:lin ang="2700000" scaled="0"/>
              </a:gradFill>
              <a:ln w="9525" cap="flat">
                <a:noFill/>
                <a:prstDash val="solid"/>
                <a:miter/>
              </a:ln>
              <a:effectLst>
                <a:outerShdw blurRad="50800" dist="25400" dir="5400000" algn="t" rotWithShape="0">
                  <a:schemeClr val="accent5">
                    <a:lumMod val="60000"/>
                    <a:lumOff val="40000"/>
                    <a:alpha val="2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dirty="0">
                  <a:latin typeface="+mn-ea"/>
                  <a:cs typeface="微软雅黑" panose="020B0503020204020204" charset="-122"/>
                </a:endParaRPr>
              </a:p>
            </p:txBody>
          </p:sp>
          <p:sp>
            <p:nvSpPr>
              <p:cNvPr id="133" name="熊大的PPT宝库37"/>
              <p:cNvSpPr txBox="1"/>
              <p:nvPr/>
            </p:nvSpPr>
            <p:spPr>
              <a:xfrm>
                <a:off x="13183" y="6250"/>
                <a:ext cx="1664" cy="585"/>
              </a:xfrm>
              <a:prstGeom prst="rect">
                <a:avLst/>
              </a:prstGeom>
              <a:noFill/>
            </p:spPr>
            <p:txBody>
              <a:bodyPr wrap="square">
                <a:spAutoFit/>
              </a:bodyPr>
              <a:lstStyle/>
              <a:p>
                <a:pPr algn="ctr" defTabSz="457200"/>
                <a:r>
                  <a:rPr lang="zh-CN" altLang="en-US" sz="1400" dirty="0">
                    <a:solidFill>
                      <a:schemeClr val="bg1"/>
                    </a:solidFill>
                    <a:latin typeface="+mn-ea"/>
                    <a:cs typeface="微软雅黑" panose="020B0503020204020204" charset="-122"/>
                  </a:rPr>
                  <a:t>组织架构</a:t>
                </a:r>
                <a:endParaRPr lang="zh-CN" altLang="en-US" sz="1400" dirty="0">
                  <a:solidFill>
                    <a:schemeClr val="bg1"/>
                  </a:solidFill>
                  <a:latin typeface="+mn-ea"/>
                  <a:cs typeface="微软雅黑" panose="020B0503020204020204" charset="-122"/>
                </a:endParaRPr>
              </a:p>
            </p:txBody>
          </p:sp>
        </p:grpSp>
        <p:sp>
          <p:nvSpPr>
            <p:cNvPr id="137" name="熊大的PPT宝库29-2"/>
            <p:cNvSpPr txBox="1"/>
            <p:nvPr/>
          </p:nvSpPr>
          <p:spPr>
            <a:xfrm>
              <a:off x="13027" y="6946"/>
              <a:ext cx="2192" cy="879"/>
            </a:xfrm>
            <a:prstGeom prst="rect">
              <a:avLst/>
            </a:prstGeom>
            <a:noFill/>
          </p:spPr>
          <p:txBody>
            <a:bodyPr wrap="square">
              <a:spAutoFit/>
            </a:bodyPr>
            <a:lstStyle/>
            <a:p>
              <a:pPr algn="ctr" defTabSz="457200"/>
              <a:r>
                <a:rPr lang="zh-CN" altLang="en-US" sz="1200" dirty="0">
                  <a:solidFill>
                    <a:schemeClr val="tx2"/>
                  </a:solidFill>
                  <a:latin typeface="+mn-ea"/>
                  <a:cs typeface="微软雅黑" panose="020B0503020204020204" charset="-122"/>
                </a:rPr>
                <a:t>扁平化架构，快速响应市场</a:t>
              </a:r>
              <a:endParaRPr lang="zh-CN" altLang="en-US" sz="1200" dirty="0">
                <a:solidFill>
                  <a:schemeClr val="tx2"/>
                </a:solidFill>
                <a:latin typeface="+mn-ea"/>
                <a:cs typeface="微软雅黑" panose="020B0503020204020204" charset="-122"/>
              </a:endParaRPr>
            </a:p>
          </p:txBody>
        </p:sp>
      </p:grpSp>
      <p:grpSp>
        <p:nvGrpSpPr>
          <p:cNvPr id="236" name="组合 235"/>
          <p:cNvGrpSpPr/>
          <p:nvPr/>
        </p:nvGrpSpPr>
        <p:grpSpPr>
          <a:xfrm>
            <a:off x="7745730" y="5455920"/>
            <a:ext cx="690245" cy="862330"/>
            <a:chOff x="12144" y="8529"/>
            <a:chExt cx="1087" cy="1358"/>
          </a:xfrm>
        </p:grpSpPr>
        <p:grpSp>
          <p:nvGrpSpPr>
            <p:cNvPr id="997" name="组合 996"/>
            <p:cNvGrpSpPr/>
            <p:nvPr/>
          </p:nvGrpSpPr>
          <p:grpSpPr>
            <a:xfrm rot="0">
              <a:off x="12144" y="8881"/>
              <a:ext cx="1087" cy="1006"/>
              <a:chOff x="1750980" y="5624548"/>
              <a:chExt cx="690236" cy="639134"/>
            </a:xfrm>
          </p:grpSpPr>
          <p:sp>
            <p:nvSpPr>
              <p:cNvPr id="999" name="@显眼包PPT15-1"/>
              <p:cNvSpPr txBox="1"/>
              <p:nvPr/>
            </p:nvSpPr>
            <p:spPr>
              <a:xfrm>
                <a:off x="1918301" y="5624548"/>
                <a:ext cx="355595" cy="430748"/>
              </a:xfrm>
              <a:prstGeom prst="rect">
                <a:avLst/>
              </a:prstGeom>
              <a:noFill/>
            </p:spPr>
            <p:txBody>
              <a:bodyPr wrap="none" lIns="0" tIns="0" rIns="0" bIns="0" rtlCol="0">
                <a:spAutoFit/>
                <a:scene3d>
                  <a:camera prst="orthographicFront"/>
                  <a:lightRig rig="threePt" dir="t"/>
                </a:scene3d>
              </a:bodyPr>
              <a:lstStyle/>
              <a:p>
                <a:pPr marL="0" marR="0" lvl="0" indent="0" algn="ctr" defTabSz="914400" rtl="0" eaLnBrk="1" fontAlgn="auto" latinLnBrk="0" hangingPunct="1">
                  <a:spcBef>
                    <a:spcPts val="0"/>
                  </a:spcBef>
                  <a:buClrTx/>
                  <a:buSzTx/>
                  <a:buFontTx/>
                  <a:buNone/>
                  <a:defRPr/>
                </a:pPr>
                <a:r>
                  <a:rPr 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数据</a:t>
                </a:r>
                <a:endParaRPr 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spcBef>
                    <a:spcPts val="0"/>
                  </a:spcBef>
                  <a:buClrTx/>
                  <a:buSzTx/>
                  <a:buFontTx/>
                  <a:buNone/>
                  <a:defRPr/>
                </a:pPr>
                <a:r>
                  <a:rPr 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打通</a:t>
                </a:r>
                <a:endParaRPr 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nvGrpSpPr>
              <p:cNvPr id="1000" name="组合 999"/>
              <p:cNvGrpSpPr/>
              <p:nvPr/>
            </p:nvGrpSpPr>
            <p:grpSpPr>
              <a:xfrm>
                <a:off x="1750980" y="5816937"/>
                <a:ext cx="690236" cy="446745"/>
                <a:chOff x="1846211" y="5922627"/>
                <a:chExt cx="661308" cy="344058"/>
              </a:xfrm>
            </p:grpSpPr>
            <p:grpSp>
              <p:nvGrpSpPr>
                <p:cNvPr id="1001" name="组合 1000"/>
                <p:cNvGrpSpPr/>
                <p:nvPr/>
              </p:nvGrpSpPr>
              <p:grpSpPr>
                <a:xfrm>
                  <a:off x="1846211" y="6090853"/>
                  <a:ext cx="661308" cy="175832"/>
                  <a:chOff x="1160606" y="3870007"/>
                  <a:chExt cx="584190" cy="135236"/>
                </a:xfrm>
              </p:grpSpPr>
              <p:sp>
                <p:nvSpPr>
                  <p:cNvPr id="1012" name="@显眼包PPT15-2"/>
                  <p:cNvSpPr/>
                  <p:nvPr/>
                </p:nvSpPr>
                <p:spPr>
                  <a:xfrm>
                    <a:off x="1216805" y="3943756"/>
                    <a:ext cx="471792" cy="61487"/>
                  </a:xfrm>
                  <a:prstGeom prst="hexagon">
                    <a:avLst>
                      <a:gd name="adj" fmla="val 113646"/>
                      <a:gd name="vf" fmla="val 115470"/>
                    </a:avLst>
                  </a:prstGeom>
                  <a:gradFill flip="none" rotWithShape="1">
                    <a:gsLst>
                      <a:gs pos="12000">
                        <a:schemeClr val="accent1">
                          <a:lumMod val="60000"/>
                          <a:lumOff val="40000"/>
                          <a:alpha val="27000"/>
                        </a:schemeClr>
                      </a:gs>
                      <a:gs pos="94000">
                        <a:schemeClr val="accent1">
                          <a:lumMod val="60000"/>
                          <a:lumOff val="40000"/>
                          <a:alpha val="0"/>
                        </a:schemeClr>
                      </a:gs>
                    </a:gsLst>
                    <a:lin ang="162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13" name="@显眼包PPT3-3"/>
                  <p:cNvSpPr/>
                  <p:nvPr/>
                </p:nvSpPr>
                <p:spPr>
                  <a:xfrm>
                    <a:off x="1160606" y="3870007"/>
                    <a:ext cx="584190" cy="93301"/>
                  </a:xfrm>
                  <a:prstGeom prst="hexagon">
                    <a:avLst>
                      <a:gd name="adj" fmla="val 113646"/>
                      <a:gd name="vf" fmla="val 115470"/>
                    </a:avLst>
                  </a:prstGeom>
                  <a:gradFill flip="none" rotWithShape="1">
                    <a:gsLst>
                      <a:gs pos="12000">
                        <a:schemeClr val="accent1">
                          <a:lumMod val="60000"/>
                          <a:lumOff val="40000"/>
                          <a:alpha val="50000"/>
                        </a:schemeClr>
                      </a:gs>
                      <a:gs pos="94000">
                        <a:schemeClr val="accent1">
                          <a:lumMod val="60000"/>
                          <a:lumOff val="40000"/>
                          <a:alpha val="0"/>
                        </a:schemeClr>
                      </a:gs>
                    </a:gsLst>
                    <a:lin ang="16200000" scaled="1"/>
                    <a:tileRect/>
                  </a:gradFill>
                  <a:ln w="12700">
                    <a:gradFill>
                      <a:gsLst>
                        <a:gs pos="7000">
                          <a:schemeClr val="accent1">
                            <a:lumMod val="60000"/>
                            <a:lumOff val="40000"/>
                            <a:alpha val="0"/>
                          </a:schemeClr>
                        </a:gs>
                        <a:gs pos="88000">
                          <a:schemeClr val="accent1">
                            <a:lumMod val="60000"/>
                            <a:lumOff val="40000"/>
                          </a:schemeClr>
                        </a:gs>
                      </a:gsLst>
                      <a:lin ang="5400000" scaled="1"/>
                    </a:gradFill>
                  </a:ln>
                  <a:effectLst>
                    <a:innerShdw blurRad="114300">
                      <a:schemeClr val="accent1">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002" name="组合 1001"/>
                <p:cNvGrpSpPr/>
                <p:nvPr/>
              </p:nvGrpSpPr>
              <p:grpSpPr>
                <a:xfrm>
                  <a:off x="1878900" y="5922627"/>
                  <a:ext cx="595930" cy="197490"/>
                  <a:chOff x="1184081" y="3694733"/>
                  <a:chExt cx="544509" cy="175270"/>
                </a:xfrm>
              </p:grpSpPr>
              <p:grpSp>
                <p:nvGrpSpPr>
                  <p:cNvPr id="1006" name="组合 1005"/>
                  <p:cNvGrpSpPr/>
                  <p:nvPr/>
                </p:nvGrpSpPr>
                <p:grpSpPr>
                  <a:xfrm>
                    <a:off x="1682870" y="3694733"/>
                    <a:ext cx="45720" cy="175270"/>
                    <a:chOff x="1144352" y="3690146"/>
                    <a:chExt cx="55150" cy="175270"/>
                  </a:xfrm>
                </p:grpSpPr>
                <p:cxnSp>
                  <p:nvCxnSpPr>
                    <p:cNvPr id="1010" name="@显眼包PPT3-4"/>
                    <p:cNvCxnSpPr/>
                    <p:nvPr/>
                  </p:nvCxnSpPr>
                  <p:spPr>
                    <a:xfrm flipV="1">
                      <a:off x="1199502" y="3732792"/>
                      <a:ext cx="0" cy="132624"/>
                    </a:xfrm>
                    <a:prstGeom prst="line">
                      <a:avLst/>
                    </a:prstGeom>
                    <a:ln w="6350" cap="rnd">
                      <a:gradFill flip="none" rotWithShape="1">
                        <a:gsLst>
                          <a:gs pos="0">
                            <a:schemeClr val="accent1">
                              <a:lumMod val="60000"/>
                              <a:lumOff val="40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cxnSp>
                  <p:nvCxnSpPr>
                    <p:cNvPr id="1011" name="@显眼包PPT3-5"/>
                    <p:cNvCxnSpPr/>
                    <p:nvPr/>
                  </p:nvCxnSpPr>
                  <p:spPr>
                    <a:xfrm flipV="1">
                      <a:off x="1144352" y="3690146"/>
                      <a:ext cx="0" cy="66312"/>
                    </a:xfrm>
                    <a:prstGeom prst="line">
                      <a:avLst/>
                    </a:prstGeom>
                    <a:ln w="6350" cap="rnd">
                      <a:gradFill flip="none" rotWithShape="1">
                        <a:gsLst>
                          <a:gs pos="0">
                            <a:schemeClr val="accent1">
                              <a:lumMod val="60000"/>
                              <a:lumOff val="40000"/>
                              <a:alpha val="54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grpSp>
              <p:grpSp>
                <p:nvGrpSpPr>
                  <p:cNvPr id="1007" name="组合 1006"/>
                  <p:cNvGrpSpPr/>
                  <p:nvPr/>
                </p:nvGrpSpPr>
                <p:grpSpPr>
                  <a:xfrm flipH="1">
                    <a:off x="1184081" y="3694733"/>
                    <a:ext cx="45720" cy="175270"/>
                    <a:chOff x="1144352" y="3690146"/>
                    <a:chExt cx="55150" cy="175270"/>
                  </a:xfrm>
                </p:grpSpPr>
                <p:cxnSp>
                  <p:nvCxnSpPr>
                    <p:cNvPr id="1008" name="@显眼包PPT3-6"/>
                    <p:cNvCxnSpPr/>
                    <p:nvPr/>
                  </p:nvCxnSpPr>
                  <p:spPr>
                    <a:xfrm flipV="1">
                      <a:off x="1199502" y="3732792"/>
                      <a:ext cx="0" cy="132624"/>
                    </a:xfrm>
                    <a:prstGeom prst="line">
                      <a:avLst/>
                    </a:prstGeom>
                    <a:ln w="6350" cap="rnd">
                      <a:gradFill flip="none" rotWithShape="1">
                        <a:gsLst>
                          <a:gs pos="0">
                            <a:schemeClr val="accent1">
                              <a:lumMod val="60000"/>
                              <a:lumOff val="40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cxnSp>
                  <p:nvCxnSpPr>
                    <p:cNvPr id="1009" name="@显眼包PPT3-7"/>
                    <p:cNvCxnSpPr/>
                    <p:nvPr/>
                  </p:nvCxnSpPr>
                  <p:spPr>
                    <a:xfrm flipV="1">
                      <a:off x="1144352" y="3690146"/>
                      <a:ext cx="0" cy="66312"/>
                    </a:xfrm>
                    <a:prstGeom prst="line">
                      <a:avLst/>
                    </a:prstGeom>
                    <a:ln w="6350" cap="rnd">
                      <a:gradFill flip="none" rotWithShape="1">
                        <a:gsLst>
                          <a:gs pos="0">
                            <a:schemeClr val="accent1">
                              <a:lumMod val="60000"/>
                              <a:lumOff val="40000"/>
                              <a:alpha val="54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grpSp>
            </p:grpSp>
            <p:grpSp>
              <p:nvGrpSpPr>
                <p:cNvPr id="1003" name="组合 1002"/>
                <p:cNvGrpSpPr/>
                <p:nvPr/>
              </p:nvGrpSpPr>
              <p:grpSpPr>
                <a:xfrm>
                  <a:off x="1935420" y="6154572"/>
                  <a:ext cx="482891" cy="28956"/>
                  <a:chOff x="1379689" y="4245602"/>
                  <a:chExt cx="482891" cy="28956"/>
                </a:xfrm>
              </p:grpSpPr>
              <p:sp>
                <p:nvSpPr>
                  <p:cNvPr id="1004" name="@显眼包PPT3-8"/>
                  <p:cNvSpPr/>
                  <p:nvPr/>
                </p:nvSpPr>
                <p:spPr>
                  <a:xfrm>
                    <a:off x="1379689" y="4245602"/>
                    <a:ext cx="163666" cy="28956"/>
                  </a:xfrm>
                  <a:custGeom>
                    <a:avLst/>
                    <a:gdLst>
                      <a:gd name="connsiteX0" fmla="*/ 0 w 534073"/>
                      <a:gd name="connsiteY0" fmla="*/ 39973 h 79945"/>
                      <a:gd name="connsiteX1" fmla="*/ 90854 w 534073"/>
                      <a:gd name="connsiteY1" fmla="*/ 0 h 79945"/>
                      <a:gd name="connsiteX2" fmla="*/ 443219 w 534073"/>
                      <a:gd name="connsiteY2" fmla="*/ 0 h 79945"/>
                      <a:gd name="connsiteX3" fmla="*/ 534073 w 534073"/>
                      <a:gd name="connsiteY3" fmla="*/ 39973 h 79945"/>
                      <a:gd name="connsiteX4" fmla="*/ 443219 w 534073"/>
                      <a:gd name="connsiteY4" fmla="*/ 79945 h 79945"/>
                      <a:gd name="connsiteX5" fmla="*/ 90854 w 534073"/>
                      <a:gd name="connsiteY5" fmla="*/ 79945 h 79945"/>
                      <a:gd name="connsiteX6" fmla="*/ 0 w 534073"/>
                      <a:gd name="connsiteY6" fmla="*/ 39973 h 79945"/>
                      <a:gd name="connsiteX0-1" fmla="*/ 443219 w 534659"/>
                      <a:gd name="connsiteY0-2" fmla="*/ 79945 h 171385"/>
                      <a:gd name="connsiteX1-3" fmla="*/ 90854 w 534659"/>
                      <a:gd name="connsiteY1-4" fmla="*/ 79945 h 171385"/>
                      <a:gd name="connsiteX2-5" fmla="*/ 0 w 534659"/>
                      <a:gd name="connsiteY2-6" fmla="*/ 39973 h 171385"/>
                      <a:gd name="connsiteX3-7" fmla="*/ 90854 w 534659"/>
                      <a:gd name="connsiteY3-8" fmla="*/ 0 h 171385"/>
                      <a:gd name="connsiteX4-9" fmla="*/ 443219 w 534659"/>
                      <a:gd name="connsiteY4-10" fmla="*/ 0 h 171385"/>
                      <a:gd name="connsiteX5-11" fmla="*/ 534073 w 534659"/>
                      <a:gd name="connsiteY5-12" fmla="*/ 39973 h 171385"/>
                      <a:gd name="connsiteX6-13" fmla="*/ 534659 w 534659"/>
                      <a:gd name="connsiteY6-14" fmla="*/ 171385 h 171385"/>
                      <a:gd name="connsiteX0-15" fmla="*/ 443219 w 534659"/>
                      <a:gd name="connsiteY0-16" fmla="*/ 79945 h 171385"/>
                      <a:gd name="connsiteX1-17" fmla="*/ 90854 w 534659"/>
                      <a:gd name="connsiteY1-18" fmla="*/ 79945 h 171385"/>
                      <a:gd name="connsiteX2-19" fmla="*/ 0 w 534659"/>
                      <a:gd name="connsiteY2-20" fmla="*/ 39973 h 171385"/>
                      <a:gd name="connsiteX3-21" fmla="*/ 90854 w 534659"/>
                      <a:gd name="connsiteY3-22" fmla="*/ 0 h 171385"/>
                      <a:gd name="connsiteX4-23" fmla="*/ 443219 w 534659"/>
                      <a:gd name="connsiteY4-24" fmla="*/ 0 h 171385"/>
                      <a:gd name="connsiteX5-25" fmla="*/ 534659 w 534659"/>
                      <a:gd name="connsiteY5-26" fmla="*/ 171385 h 171385"/>
                      <a:gd name="connsiteX0-27" fmla="*/ 443219 w 534659"/>
                      <a:gd name="connsiteY0-28" fmla="*/ 79945 h 171385"/>
                      <a:gd name="connsiteX1-29" fmla="*/ 90854 w 534659"/>
                      <a:gd name="connsiteY1-30" fmla="*/ 79945 h 171385"/>
                      <a:gd name="connsiteX2-31" fmla="*/ 0 w 534659"/>
                      <a:gd name="connsiteY2-32" fmla="*/ 39973 h 171385"/>
                      <a:gd name="connsiteX3-33" fmla="*/ 90854 w 534659"/>
                      <a:gd name="connsiteY3-34" fmla="*/ 0 h 171385"/>
                      <a:gd name="connsiteX4-35" fmla="*/ 534659 w 534659"/>
                      <a:gd name="connsiteY4-36" fmla="*/ 171385 h 171385"/>
                      <a:gd name="connsiteX0-37" fmla="*/ 443219 w 534659"/>
                      <a:gd name="connsiteY0-38" fmla="*/ 39972 h 131412"/>
                      <a:gd name="connsiteX1-39" fmla="*/ 90854 w 534659"/>
                      <a:gd name="connsiteY1-40" fmla="*/ 39972 h 131412"/>
                      <a:gd name="connsiteX2-41" fmla="*/ 0 w 534659"/>
                      <a:gd name="connsiteY2-42" fmla="*/ 0 h 131412"/>
                      <a:gd name="connsiteX3-43" fmla="*/ 534659 w 534659"/>
                      <a:gd name="connsiteY3-44" fmla="*/ 131412 h 131412"/>
                      <a:gd name="connsiteX0-45" fmla="*/ 443219 w 443219"/>
                      <a:gd name="connsiteY0-46" fmla="*/ 39972 h 39972"/>
                      <a:gd name="connsiteX1-47" fmla="*/ 90854 w 443219"/>
                      <a:gd name="connsiteY1-48" fmla="*/ 39972 h 39972"/>
                      <a:gd name="connsiteX2-49" fmla="*/ 0 w 443219"/>
                      <a:gd name="connsiteY2-50" fmla="*/ 0 h 39972"/>
                      <a:gd name="connsiteX0-51" fmla="*/ 196717 w 196717"/>
                      <a:gd name="connsiteY0-52" fmla="*/ 41350 h 41350"/>
                      <a:gd name="connsiteX1-53" fmla="*/ 90854 w 196717"/>
                      <a:gd name="connsiteY1-54" fmla="*/ 39972 h 41350"/>
                      <a:gd name="connsiteX2-55" fmla="*/ 0 w 196717"/>
                      <a:gd name="connsiteY2-56" fmla="*/ 0 h 41350"/>
                      <a:gd name="connsiteX0-57" fmla="*/ 163666 w 163666"/>
                      <a:gd name="connsiteY0-58" fmla="*/ 28956 h 28956"/>
                      <a:gd name="connsiteX1-59" fmla="*/ 57803 w 163666"/>
                      <a:gd name="connsiteY1-60" fmla="*/ 27578 h 28956"/>
                      <a:gd name="connsiteX2-61" fmla="*/ 0 w 163666"/>
                      <a:gd name="connsiteY2-62" fmla="*/ 0 h 28956"/>
                    </a:gdLst>
                    <a:ahLst/>
                    <a:cxnLst>
                      <a:cxn ang="0">
                        <a:pos x="connsiteX0-1" y="connsiteY0-2"/>
                      </a:cxn>
                      <a:cxn ang="0">
                        <a:pos x="connsiteX1-3" y="connsiteY1-4"/>
                      </a:cxn>
                      <a:cxn ang="0">
                        <a:pos x="connsiteX2-5" y="connsiteY2-6"/>
                      </a:cxn>
                    </a:cxnLst>
                    <a:rect l="l" t="t" r="r" b="b"/>
                    <a:pathLst>
                      <a:path w="163666" h="28956">
                        <a:moveTo>
                          <a:pt x="163666" y="28956"/>
                        </a:moveTo>
                        <a:lnTo>
                          <a:pt x="57803" y="27578"/>
                        </a:lnTo>
                        <a:lnTo>
                          <a:pt x="0" y="0"/>
                        </a:lnTo>
                      </a:path>
                    </a:pathLst>
                  </a:custGeom>
                  <a:noFill/>
                  <a:ln w="317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05" name="@显眼包PPT3-9"/>
                  <p:cNvSpPr/>
                  <p:nvPr/>
                </p:nvSpPr>
                <p:spPr>
                  <a:xfrm flipH="1">
                    <a:off x="1698914" y="4245602"/>
                    <a:ext cx="163666" cy="28956"/>
                  </a:xfrm>
                  <a:custGeom>
                    <a:avLst/>
                    <a:gdLst>
                      <a:gd name="connsiteX0" fmla="*/ 0 w 534073"/>
                      <a:gd name="connsiteY0" fmla="*/ 39973 h 79945"/>
                      <a:gd name="connsiteX1" fmla="*/ 90854 w 534073"/>
                      <a:gd name="connsiteY1" fmla="*/ 0 h 79945"/>
                      <a:gd name="connsiteX2" fmla="*/ 443219 w 534073"/>
                      <a:gd name="connsiteY2" fmla="*/ 0 h 79945"/>
                      <a:gd name="connsiteX3" fmla="*/ 534073 w 534073"/>
                      <a:gd name="connsiteY3" fmla="*/ 39973 h 79945"/>
                      <a:gd name="connsiteX4" fmla="*/ 443219 w 534073"/>
                      <a:gd name="connsiteY4" fmla="*/ 79945 h 79945"/>
                      <a:gd name="connsiteX5" fmla="*/ 90854 w 534073"/>
                      <a:gd name="connsiteY5" fmla="*/ 79945 h 79945"/>
                      <a:gd name="connsiteX6" fmla="*/ 0 w 534073"/>
                      <a:gd name="connsiteY6" fmla="*/ 39973 h 79945"/>
                      <a:gd name="connsiteX0-1" fmla="*/ 443219 w 534659"/>
                      <a:gd name="connsiteY0-2" fmla="*/ 79945 h 171385"/>
                      <a:gd name="connsiteX1-3" fmla="*/ 90854 w 534659"/>
                      <a:gd name="connsiteY1-4" fmla="*/ 79945 h 171385"/>
                      <a:gd name="connsiteX2-5" fmla="*/ 0 w 534659"/>
                      <a:gd name="connsiteY2-6" fmla="*/ 39973 h 171385"/>
                      <a:gd name="connsiteX3-7" fmla="*/ 90854 w 534659"/>
                      <a:gd name="connsiteY3-8" fmla="*/ 0 h 171385"/>
                      <a:gd name="connsiteX4-9" fmla="*/ 443219 w 534659"/>
                      <a:gd name="connsiteY4-10" fmla="*/ 0 h 171385"/>
                      <a:gd name="connsiteX5-11" fmla="*/ 534073 w 534659"/>
                      <a:gd name="connsiteY5-12" fmla="*/ 39973 h 171385"/>
                      <a:gd name="connsiteX6-13" fmla="*/ 534659 w 534659"/>
                      <a:gd name="connsiteY6-14" fmla="*/ 171385 h 171385"/>
                      <a:gd name="connsiteX0-15" fmla="*/ 443219 w 534659"/>
                      <a:gd name="connsiteY0-16" fmla="*/ 79945 h 171385"/>
                      <a:gd name="connsiteX1-17" fmla="*/ 90854 w 534659"/>
                      <a:gd name="connsiteY1-18" fmla="*/ 79945 h 171385"/>
                      <a:gd name="connsiteX2-19" fmla="*/ 0 w 534659"/>
                      <a:gd name="connsiteY2-20" fmla="*/ 39973 h 171385"/>
                      <a:gd name="connsiteX3-21" fmla="*/ 90854 w 534659"/>
                      <a:gd name="connsiteY3-22" fmla="*/ 0 h 171385"/>
                      <a:gd name="connsiteX4-23" fmla="*/ 443219 w 534659"/>
                      <a:gd name="connsiteY4-24" fmla="*/ 0 h 171385"/>
                      <a:gd name="connsiteX5-25" fmla="*/ 534659 w 534659"/>
                      <a:gd name="connsiteY5-26" fmla="*/ 171385 h 171385"/>
                      <a:gd name="connsiteX0-27" fmla="*/ 443219 w 534659"/>
                      <a:gd name="connsiteY0-28" fmla="*/ 79945 h 171385"/>
                      <a:gd name="connsiteX1-29" fmla="*/ 90854 w 534659"/>
                      <a:gd name="connsiteY1-30" fmla="*/ 79945 h 171385"/>
                      <a:gd name="connsiteX2-31" fmla="*/ 0 w 534659"/>
                      <a:gd name="connsiteY2-32" fmla="*/ 39973 h 171385"/>
                      <a:gd name="connsiteX3-33" fmla="*/ 90854 w 534659"/>
                      <a:gd name="connsiteY3-34" fmla="*/ 0 h 171385"/>
                      <a:gd name="connsiteX4-35" fmla="*/ 534659 w 534659"/>
                      <a:gd name="connsiteY4-36" fmla="*/ 171385 h 171385"/>
                      <a:gd name="connsiteX0-37" fmla="*/ 443219 w 534659"/>
                      <a:gd name="connsiteY0-38" fmla="*/ 39972 h 131412"/>
                      <a:gd name="connsiteX1-39" fmla="*/ 90854 w 534659"/>
                      <a:gd name="connsiteY1-40" fmla="*/ 39972 h 131412"/>
                      <a:gd name="connsiteX2-41" fmla="*/ 0 w 534659"/>
                      <a:gd name="connsiteY2-42" fmla="*/ 0 h 131412"/>
                      <a:gd name="connsiteX3-43" fmla="*/ 534659 w 534659"/>
                      <a:gd name="connsiteY3-44" fmla="*/ 131412 h 131412"/>
                      <a:gd name="connsiteX0-45" fmla="*/ 443219 w 443219"/>
                      <a:gd name="connsiteY0-46" fmla="*/ 39972 h 39972"/>
                      <a:gd name="connsiteX1-47" fmla="*/ 90854 w 443219"/>
                      <a:gd name="connsiteY1-48" fmla="*/ 39972 h 39972"/>
                      <a:gd name="connsiteX2-49" fmla="*/ 0 w 443219"/>
                      <a:gd name="connsiteY2-50" fmla="*/ 0 h 39972"/>
                      <a:gd name="connsiteX0-51" fmla="*/ 196717 w 196717"/>
                      <a:gd name="connsiteY0-52" fmla="*/ 41350 h 41350"/>
                      <a:gd name="connsiteX1-53" fmla="*/ 90854 w 196717"/>
                      <a:gd name="connsiteY1-54" fmla="*/ 39972 h 41350"/>
                      <a:gd name="connsiteX2-55" fmla="*/ 0 w 196717"/>
                      <a:gd name="connsiteY2-56" fmla="*/ 0 h 41350"/>
                      <a:gd name="connsiteX0-57" fmla="*/ 163666 w 163666"/>
                      <a:gd name="connsiteY0-58" fmla="*/ 28956 h 28956"/>
                      <a:gd name="connsiteX1-59" fmla="*/ 57803 w 163666"/>
                      <a:gd name="connsiteY1-60" fmla="*/ 27578 h 28956"/>
                      <a:gd name="connsiteX2-61" fmla="*/ 0 w 163666"/>
                      <a:gd name="connsiteY2-62" fmla="*/ 0 h 28956"/>
                    </a:gdLst>
                    <a:ahLst/>
                    <a:cxnLst>
                      <a:cxn ang="0">
                        <a:pos x="connsiteX0-1" y="connsiteY0-2"/>
                      </a:cxn>
                      <a:cxn ang="0">
                        <a:pos x="connsiteX1-3" y="connsiteY1-4"/>
                      </a:cxn>
                      <a:cxn ang="0">
                        <a:pos x="connsiteX2-5" y="connsiteY2-6"/>
                      </a:cxn>
                    </a:cxnLst>
                    <a:rect l="l" t="t" r="r" b="b"/>
                    <a:pathLst>
                      <a:path w="163666" h="28956">
                        <a:moveTo>
                          <a:pt x="163666" y="28956"/>
                        </a:moveTo>
                        <a:lnTo>
                          <a:pt x="57803" y="27578"/>
                        </a:lnTo>
                        <a:lnTo>
                          <a:pt x="0" y="0"/>
                        </a:lnTo>
                      </a:path>
                    </a:pathLst>
                  </a:custGeom>
                  <a:noFill/>
                  <a:ln w="317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grpSp>
        <p:sp>
          <p:nvSpPr>
            <p:cNvPr id="998" name="显眼包PPT13-1"/>
            <p:cNvSpPr/>
            <p:nvPr/>
          </p:nvSpPr>
          <p:spPr>
            <a:xfrm>
              <a:off x="12497" y="8529"/>
              <a:ext cx="354" cy="374"/>
            </a:xfrm>
            <a:custGeom>
              <a:avLst/>
              <a:gdLst>
                <a:gd name="connsiteX0" fmla="*/ 492945 w 987251"/>
                <a:gd name="connsiteY0" fmla="*/ 0 h 785016"/>
                <a:gd name="connsiteX1" fmla="*/ 886379 w 987251"/>
                <a:gd name="connsiteY1" fmla="*/ 358284 h 785016"/>
                <a:gd name="connsiteX2" fmla="*/ 651185 w 987251"/>
                <a:gd name="connsiteY2" fmla="*/ 286423 h 785016"/>
                <a:gd name="connsiteX3" fmla="*/ 655826 w 987251"/>
                <a:gd name="connsiteY3" fmla="*/ 301395 h 785016"/>
                <a:gd name="connsiteX4" fmla="*/ 715976 w 987251"/>
                <a:gd name="connsiteY4" fmla="*/ 434705 h 785016"/>
                <a:gd name="connsiteX5" fmla="*/ 975009 w 987251"/>
                <a:gd name="connsiteY5" fmla="*/ 775178 h 785016"/>
                <a:gd name="connsiteX6" fmla="*/ 987251 w 987251"/>
                <a:gd name="connsiteY6" fmla="*/ 785016 h 785016"/>
                <a:gd name="connsiteX7" fmla="*/ 493625 w 987251"/>
                <a:gd name="connsiteY7" fmla="*/ 683361 h 785016"/>
                <a:gd name="connsiteX8" fmla="*/ 0 w 987251"/>
                <a:gd name="connsiteY8" fmla="*/ 785016 h 785016"/>
                <a:gd name="connsiteX9" fmla="*/ 12241 w 987251"/>
                <a:gd name="connsiteY9" fmla="*/ 775177 h 785016"/>
                <a:gd name="connsiteX10" fmla="*/ 271276 w 987251"/>
                <a:gd name="connsiteY10" fmla="*/ 434704 h 785016"/>
                <a:gd name="connsiteX11" fmla="*/ 331426 w 987251"/>
                <a:gd name="connsiteY11" fmla="*/ 301394 h 785016"/>
                <a:gd name="connsiteX12" fmla="*/ 336208 w 987251"/>
                <a:gd name="connsiteY12" fmla="*/ 285964 h 785016"/>
                <a:gd name="connsiteX13" fmla="*/ 99511 w 987251"/>
                <a:gd name="connsiteY13" fmla="*/ 358284 h 785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7251" h="785016">
                  <a:moveTo>
                    <a:pt x="492945" y="0"/>
                  </a:moveTo>
                  <a:lnTo>
                    <a:pt x="886379" y="358284"/>
                  </a:lnTo>
                  <a:lnTo>
                    <a:pt x="651185" y="286423"/>
                  </a:lnTo>
                  <a:lnTo>
                    <a:pt x="655826" y="301395"/>
                  </a:lnTo>
                  <a:cubicBezTo>
                    <a:pt x="672513" y="345329"/>
                    <a:pt x="692548" y="389940"/>
                    <a:pt x="715976" y="434705"/>
                  </a:cubicBezTo>
                  <a:cubicBezTo>
                    <a:pt x="786260" y="569003"/>
                    <a:pt x="877099" y="685625"/>
                    <a:pt x="975009" y="775178"/>
                  </a:cubicBezTo>
                  <a:lnTo>
                    <a:pt x="987251" y="785016"/>
                  </a:lnTo>
                  <a:lnTo>
                    <a:pt x="493625" y="683361"/>
                  </a:lnTo>
                  <a:lnTo>
                    <a:pt x="0" y="785016"/>
                  </a:lnTo>
                  <a:lnTo>
                    <a:pt x="12241" y="775177"/>
                  </a:lnTo>
                  <a:cubicBezTo>
                    <a:pt x="110152" y="685624"/>
                    <a:pt x="200991" y="569002"/>
                    <a:pt x="271276" y="434704"/>
                  </a:cubicBezTo>
                  <a:cubicBezTo>
                    <a:pt x="294704" y="389939"/>
                    <a:pt x="314739" y="345328"/>
                    <a:pt x="331426" y="301394"/>
                  </a:cubicBezTo>
                  <a:lnTo>
                    <a:pt x="336208" y="285964"/>
                  </a:lnTo>
                  <a:lnTo>
                    <a:pt x="99511" y="358284"/>
                  </a:lnTo>
                  <a:close/>
                </a:path>
              </a:pathLst>
            </a:custGeom>
            <a:gradFill flip="none" rotWithShape="1">
              <a:gsLst>
                <a:gs pos="23000">
                  <a:schemeClr val="accent1">
                    <a:lumMod val="60000"/>
                    <a:lumOff val="40000"/>
                    <a:alpha val="0"/>
                  </a:schemeClr>
                </a:gs>
                <a:gs pos="100000">
                  <a:schemeClr val="accent1">
                    <a:lumMod val="60000"/>
                    <a:lumOff val="40000"/>
                  </a:schemeClr>
                </a:gs>
              </a:gsLst>
              <a:lin ang="16200000" scaled="0"/>
              <a:tileRect/>
            </a:gradFill>
            <a:ln w="15875">
              <a:noFill/>
              <a:round/>
            </a:ln>
            <a:effectLst/>
          </p:spPr>
          <p:txBody>
            <a:bodyPr vert="horz" wrap="square" lIns="91440" tIns="45720" rIns="91440" bIns="45720" numCol="1" anchor="t" anchorCtr="0" compatLnSpc="1"/>
            <a:lstStyle/>
            <a:p>
              <a:endParaRPr lang="zh-CN" altLang="en-US" dirty="0">
                <a:solidFill>
                  <a:schemeClr val="tx1"/>
                </a:solidFill>
                <a:cs typeface="微软雅黑" panose="020B0503020204020204" charset="-122"/>
              </a:endParaRPr>
            </a:p>
          </p:txBody>
        </p:sp>
      </p:grpSp>
      <p:grpSp>
        <p:nvGrpSpPr>
          <p:cNvPr id="208" name="组合 207"/>
          <p:cNvGrpSpPr/>
          <p:nvPr/>
        </p:nvGrpSpPr>
        <p:grpSpPr>
          <a:xfrm>
            <a:off x="9954260" y="4026364"/>
            <a:ext cx="1232424" cy="929065"/>
            <a:chOff x="12974" y="6190"/>
            <a:chExt cx="2353" cy="1773"/>
          </a:xfrm>
        </p:grpSpPr>
        <p:grpSp>
          <p:nvGrpSpPr>
            <p:cNvPr id="209" name="组合 208"/>
            <p:cNvGrpSpPr/>
            <p:nvPr/>
          </p:nvGrpSpPr>
          <p:grpSpPr>
            <a:xfrm>
              <a:off x="12974" y="6190"/>
              <a:ext cx="2353" cy="1773"/>
              <a:chOff x="13100" y="6250"/>
              <a:chExt cx="1831" cy="1773"/>
            </a:xfrm>
          </p:grpSpPr>
          <p:sp>
            <p:nvSpPr>
              <p:cNvPr id="210" name="熊大的PPT宝库35"/>
              <p:cNvSpPr/>
              <p:nvPr/>
            </p:nvSpPr>
            <p:spPr>
              <a:xfrm>
                <a:off x="13100" y="6348"/>
                <a:ext cx="1831" cy="1675"/>
              </a:xfrm>
              <a:prstGeom prst="roundRect">
                <a:avLst>
                  <a:gd name="adj" fmla="val 3421"/>
                </a:avLst>
              </a:prstGeom>
              <a:solidFill>
                <a:schemeClr val="bg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latin typeface="+mn-ea"/>
                  <a:cs typeface="微软雅黑" panose="020B0503020204020204" charset="-122"/>
                </a:endParaRPr>
              </a:p>
            </p:txBody>
          </p:sp>
          <p:sp>
            <p:nvSpPr>
              <p:cNvPr id="211" name="熊大的PPT宝库36"/>
              <p:cNvSpPr/>
              <p:nvPr/>
            </p:nvSpPr>
            <p:spPr>
              <a:xfrm>
                <a:off x="13100" y="6292"/>
                <a:ext cx="1831" cy="501"/>
              </a:xfrm>
              <a:prstGeom prst="roundRect">
                <a:avLst>
                  <a:gd name="adj" fmla="val 10322"/>
                </a:avLst>
              </a:prstGeom>
              <a:gradFill>
                <a:gsLst>
                  <a:gs pos="0">
                    <a:schemeClr val="accent5">
                      <a:lumMod val="40000"/>
                      <a:lumOff val="60000"/>
                    </a:schemeClr>
                  </a:gs>
                  <a:gs pos="80000">
                    <a:schemeClr val="accent5">
                      <a:lumMod val="60000"/>
                      <a:lumOff val="40000"/>
                    </a:schemeClr>
                  </a:gs>
                </a:gsLst>
                <a:lin ang="2700000" scaled="0"/>
              </a:gradFill>
              <a:ln w="9525" cap="flat">
                <a:noFill/>
                <a:prstDash val="solid"/>
                <a:miter/>
              </a:ln>
              <a:effectLst>
                <a:outerShdw blurRad="50800" dist="25400" dir="5400000" algn="t" rotWithShape="0">
                  <a:schemeClr val="accent5">
                    <a:lumMod val="60000"/>
                    <a:lumOff val="40000"/>
                    <a:alpha val="20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defTabSz="457200"/>
                <a:endParaRPr lang="zh-CN" altLang="en-US" dirty="0">
                  <a:latin typeface="+mn-ea"/>
                  <a:cs typeface="微软雅黑" panose="020B0503020204020204" charset="-122"/>
                </a:endParaRPr>
              </a:p>
            </p:txBody>
          </p:sp>
          <p:sp>
            <p:nvSpPr>
              <p:cNvPr id="212" name="熊大的PPT宝库37"/>
              <p:cNvSpPr txBox="1"/>
              <p:nvPr/>
            </p:nvSpPr>
            <p:spPr>
              <a:xfrm>
                <a:off x="13183" y="6250"/>
                <a:ext cx="1664" cy="585"/>
              </a:xfrm>
              <a:prstGeom prst="rect">
                <a:avLst/>
              </a:prstGeom>
              <a:noFill/>
            </p:spPr>
            <p:txBody>
              <a:bodyPr wrap="square">
                <a:spAutoFit/>
              </a:bodyPr>
              <a:lstStyle/>
              <a:p>
                <a:pPr algn="ctr" defTabSz="457200"/>
                <a:r>
                  <a:rPr lang="zh-CN" altLang="en-US" sz="1400" dirty="0">
                    <a:solidFill>
                      <a:schemeClr val="bg1"/>
                    </a:solidFill>
                    <a:latin typeface="+mn-ea"/>
                    <a:cs typeface="微软雅黑" panose="020B0503020204020204" charset="-122"/>
                  </a:rPr>
                  <a:t>人才梯队</a:t>
                </a:r>
                <a:endParaRPr lang="zh-CN" altLang="en-US" sz="1400" dirty="0">
                  <a:solidFill>
                    <a:schemeClr val="bg1"/>
                  </a:solidFill>
                  <a:latin typeface="+mn-ea"/>
                  <a:cs typeface="微软雅黑" panose="020B0503020204020204" charset="-122"/>
                </a:endParaRPr>
              </a:p>
            </p:txBody>
          </p:sp>
        </p:grpSp>
        <p:sp>
          <p:nvSpPr>
            <p:cNvPr id="213" name="熊大的PPT宝库29-2"/>
            <p:cNvSpPr txBox="1"/>
            <p:nvPr/>
          </p:nvSpPr>
          <p:spPr>
            <a:xfrm>
              <a:off x="13027" y="6946"/>
              <a:ext cx="2192" cy="879"/>
            </a:xfrm>
            <a:prstGeom prst="rect">
              <a:avLst/>
            </a:prstGeom>
            <a:noFill/>
          </p:spPr>
          <p:txBody>
            <a:bodyPr wrap="square">
              <a:spAutoFit/>
            </a:bodyPr>
            <a:lstStyle/>
            <a:p>
              <a:pPr algn="ctr" defTabSz="457200"/>
              <a:r>
                <a:rPr lang="zh-CN" altLang="en-US" sz="1200" dirty="0">
                  <a:solidFill>
                    <a:schemeClr val="tx2"/>
                  </a:solidFill>
                  <a:latin typeface="+mn-ea"/>
                  <a:cs typeface="微软雅黑" panose="020B0503020204020204" charset="-122"/>
                </a:rPr>
                <a:t>具备支撑战略的核心能力</a:t>
              </a:r>
              <a:endParaRPr lang="zh-CN" altLang="en-US" sz="1200" dirty="0">
                <a:solidFill>
                  <a:schemeClr val="tx2"/>
                </a:solidFill>
                <a:latin typeface="+mn-ea"/>
                <a:cs typeface="微软雅黑" panose="020B0503020204020204" charset="-122"/>
              </a:endParaRPr>
            </a:p>
          </p:txBody>
        </p:sp>
      </p:grpSp>
      <p:sp>
        <p:nvSpPr>
          <p:cNvPr id="302" name="©显眼包PPT5"/>
          <p:cNvSpPr/>
          <p:nvPr/>
        </p:nvSpPr>
        <p:spPr>
          <a:xfrm>
            <a:off x="2613660" y="3164205"/>
            <a:ext cx="1380490" cy="1380490"/>
          </a:xfrm>
          <a:prstGeom prst="ellipse">
            <a:avLst/>
          </a:prstGeom>
          <a:solidFill>
            <a:schemeClr val="bg1"/>
          </a:solidFill>
          <a:ln>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FFFFFF"/>
              </a:solidFill>
              <a:latin typeface="微软雅黑" panose="020B0503020204020204" charset="-122"/>
              <a:ea typeface="微软雅黑" panose="020B0503020204020204" charset="-122"/>
              <a:cs typeface="微软雅黑" panose="020B0503020204020204" charset="-122"/>
            </a:endParaRPr>
          </a:p>
        </p:txBody>
      </p:sp>
      <p:cxnSp>
        <p:nvCxnSpPr>
          <p:cNvPr id="303" name="直接连接符 302"/>
          <p:cNvCxnSpPr/>
          <p:nvPr/>
        </p:nvCxnSpPr>
        <p:spPr>
          <a:xfrm flipH="1">
            <a:off x="1252855" y="4425315"/>
            <a:ext cx="944880" cy="589280"/>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cxnSp>
        <p:nvCxnSpPr>
          <p:cNvPr id="304" name="直接连接符 303"/>
          <p:cNvCxnSpPr/>
          <p:nvPr/>
        </p:nvCxnSpPr>
        <p:spPr>
          <a:xfrm flipH="1" flipV="1">
            <a:off x="1781175" y="2033270"/>
            <a:ext cx="359410" cy="441960"/>
          </a:xfrm>
          <a:prstGeom prst="line">
            <a:avLst/>
          </a:prstGeom>
          <a:ln>
            <a:solidFill>
              <a:schemeClr val="tx2"/>
            </a:solidFill>
          </a:ln>
        </p:spPr>
        <p:style>
          <a:lnRef idx="2">
            <a:schemeClr val="accent1"/>
          </a:lnRef>
          <a:fillRef idx="0">
            <a:srgbClr val="FFFFFF"/>
          </a:fillRef>
          <a:effectRef idx="0">
            <a:srgbClr val="FFFFFF"/>
          </a:effectRef>
          <a:fontRef idx="minor">
            <a:schemeClr val="tx1"/>
          </a:fontRef>
        </p:style>
      </p:cxnSp>
      <p:sp>
        <p:nvSpPr>
          <p:cNvPr id="325" name="©显眼包PPT-13"/>
          <p:cNvSpPr txBox="1"/>
          <p:nvPr/>
        </p:nvSpPr>
        <p:spPr>
          <a:xfrm>
            <a:off x="3048000" y="2899410"/>
            <a:ext cx="494665" cy="245745"/>
          </a:xfrm>
          <a:prstGeom prst="rect">
            <a:avLst/>
          </a:prstGeom>
          <a:noFill/>
        </p:spPr>
        <p:txBody>
          <a:bodyPr wrap="square" lIns="0" tIns="0" rIns="0" bIns="0" rtlCol="0">
            <a:sp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四维</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支撑</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7" name="©显眼包PPT-13"/>
          <p:cNvSpPr txBox="1"/>
          <p:nvPr/>
        </p:nvSpPr>
        <p:spPr>
          <a:xfrm>
            <a:off x="3028950" y="4634865"/>
            <a:ext cx="494665" cy="245745"/>
          </a:xfrm>
          <a:prstGeom prst="rect">
            <a:avLst/>
          </a:prstGeom>
          <a:noFill/>
        </p:spPr>
        <p:txBody>
          <a:bodyPr wrap="square" lIns="0" tIns="0" rIns="0" bIns="0" rtlCol="0">
            <a:sp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四维</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支撑</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29" name="©显眼包PPT-13"/>
          <p:cNvSpPr txBox="1"/>
          <p:nvPr/>
        </p:nvSpPr>
        <p:spPr>
          <a:xfrm>
            <a:off x="2286000" y="3750945"/>
            <a:ext cx="219075" cy="245745"/>
          </a:xfrm>
          <a:prstGeom prst="rect">
            <a:avLst/>
          </a:prstGeom>
          <a:noFill/>
        </p:spPr>
        <p:txBody>
          <a:bodyPr wrap="square" lIns="0" tIns="0" rIns="0" bIns="0" rtlCol="0">
            <a:sp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四维支撑</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0" name="©显眼包PPT-13"/>
          <p:cNvSpPr txBox="1"/>
          <p:nvPr/>
        </p:nvSpPr>
        <p:spPr>
          <a:xfrm>
            <a:off x="4050665" y="3725545"/>
            <a:ext cx="219075" cy="245745"/>
          </a:xfrm>
          <a:prstGeom prst="rect">
            <a:avLst/>
          </a:prstGeom>
          <a:noFill/>
        </p:spPr>
        <p:txBody>
          <a:bodyPr wrap="square" lIns="0" tIns="0" rIns="0" bIns="0" rtlCol="0">
            <a:sp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四维支撑</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33" name="任意多边形 332"/>
          <p:cNvSpPr/>
          <p:nvPr/>
        </p:nvSpPr>
        <p:spPr>
          <a:xfrm rot="5400000">
            <a:off x="1092835" y="2444750"/>
            <a:ext cx="2623185" cy="1719580"/>
          </a:xfrm>
          <a:custGeom>
            <a:avLst/>
            <a:gdLst>
              <a:gd name="adj" fmla="val 50000"/>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4131" h="2711">
                <a:moveTo>
                  <a:pt x="0" y="320"/>
                </a:moveTo>
                <a:lnTo>
                  <a:pt x="289" y="0"/>
                </a:lnTo>
                <a:lnTo>
                  <a:pt x="578" y="320"/>
                </a:lnTo>
                <a:lnTo>
                  <a:pt x="400" y="320"/>
                </a:lnTo>
                <a:cubicBezTo>
                  <a:pt x="506" y="1557"/>
                  <a:pt x="1704" y="2524"/>
                  <a:pt x="2852" y="2491"/>
                </a:cubicBezTo>
                <a:cubicBezTo>
                  <a:pt x="3274" y="2497"/>
                  <a:pt x="3713" y="2368"/>
                  <a:pt x="4029" y="2193"/>
                </a:cubicBezTo>
                <a:lnTo>
                  <a:pt x="4131" y="2384"/>
                </a:lnTo>
                <a:cubicBezTo>
                  <a:pt x="3759" y="2594"/>
                  <a:pt x="3271" y="2711"/>
                  <a:pt x="2851" y="2708"/>
                </a:cubicBezTo>
                <a:cubicBezTo>
                  <a:pt x="1437" y="2779"/>
                  <a:pt x="255" y="1462"/>
                  <a:pt x="182" y="320"/>
                </a:cubicBezTo>
                <a:lnTo>
                  <a:pt x="0" y="320"/>
                </a:lnTo>
                <a:close/>
              </a:path>
            </a:pathLst>
          </a:custGeom>
          <a:gradFill>
            <a:gsLst>
              <a:gs pos="0">
                <a:schemeClr val="accent1"/>
              </a:gs>
              <a:gs pos="100000">
                <a:schemeClr val="accent1">
                  <a:lumMod val="40000"/>
                  <a:lumOff val="6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120" name="组合 119"/>
          <p:cNvGrpSpPr/>
          <p:nvPr/>
        </p:nvGrpSpPr>
        <p:grpSpPr>
          <a:xfrm>
            <a:off x="2504758" y="3050223"/>
            <a:ext cx="1572260" cy="1584960"/>
            <a:chOff x="3994" y="4761"/>
            <a:chExt cx="2476" cy="2496"/>
          </a:xfrm>
        </p:grpSpPr>
        <p:sp>
          <p:nvSpPr>
            <p:cNvPr id="305" name="©显眼包PPT5"/>
            <p:cNvSpPr/>
            <p:nvPr/>
          </p:nvSpPr>
          <p:spPr>
            <a:xfrm>
              <a:off x="4116" y="4980"/>
              <a:ext cx="2174" cy="2174"/>
            </a:xfrm>
            <a:prstGeom prst="ellipse">
              <a:avLst/>
            </a:prstGeom>
            <a:solidFill>
              <a:schemeClr val="bg1"/>
            </a:solidFill>
            <a:ln>
              <a:solidFill>
                <a:schemeClr val="accent5">
                  <a:lumMod val="40000"/>
                  <a:lumOff val="60000"/>
                </a:schemeClr>
              </a:solidFill>
              <a:prstDash val="sys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2000">
                <a:solidFill>
                  <a:srgbClr val="FFFFFF"/>
                </a:solidFill>
                <a:latin typeface="微软雅黑" panose="020B0503020204020204" charset="-122"/>
                <a:ea typeface="微软雅黑" panose="020B0503020204020204" charset="-122"/>
                <a:cs typeface="微软雅黑" panose="020B0503020204020204" charset="-122"/>
              </a:endParaRPr>
            </a:p>
          </p:txBody>
        </p:sp>
        <p:grpSp>
          <p:nvGrpSpPr>
            <p:cNvPr id="318" name="组合 317"/>
            <p:cNvGrpSpPr/>
            <p:nvPr/>
          </p:nvGrpSpPr>
          <p:grpSpPr>
            <a:xfrm>
              <a:off x="3994" y="4761"/>
              <a:ext cx="826" cy="826"/>
              <a:chOff x="3827" y="4787"/>
              <a:chExt cx="977" cy="977"/>
            </a:xfrm>
          </p:grpSpPr>
          <p:grpSp>
            <p:nvGrpSpPr>
              <p:cNvPr id="319" name="组合 318"/>
              <p:cNvGrpSpPr/>
              <p:nvPr/>
            </p:nvGrpSpPr>
            <p:grpSpPr>
              <a:xfrm rot="0">
                <a:off x="3827" y="4787"/>
                <a:ext cx="977" cy="977"/>
                <a:chOff x="8654" y="4120"/>
                <a:chExt cx="1146" cy="1146"/>
              </a:xfrm>
            </p:grpSpPr>
            <p:sp>
              <p:nvSpPr>
                <p:cNvPr id="320" name="©显眼包PPT-1"/>
                <p:cNvSpPr/>
                <p:nvPr/>
              </p:nvSpPr>
              <p:spPr>
                <a:xfrm>
                  <a:off x="8654" y="4120"/>
                  <a:ext cx="1146" cy="1146"/>
                </a:xfrm>
                <a:prstGeom prst="ellipse">
                  <a:avLst/>
                </a:prstGeom>
                <a:solidFill>
                  <a:schemeClr val="accent5">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21" name="©显眼包PPT-2"/>
                <p:cNvSpPr/>
                <p:nvPr/>
              </p:nvSpPr>
              <p:spPr>
                <a:xfrm>
                  <a:off x="8710" y="4176"/>
                  <a:ext cx="1033" cy="1033"/>
                </a:xfrm>
                <a:prstGeom prst="ellipse">
                  <a:avLst/>
                </a:prstGeom>
                <a:gradFill flip="none" rotWithShape="1">
                  <a:gsLst>
                    <a:gs pos="39000">
                      <a:schemeClr val="bg1"/>
                    </a:gs>
                    <a:gs pos="100000">
                      <a:schemeClr val="accent5">
                        <a:lumMod val="60000"/>
                        <a:lumOff val="40000"/>
                      </a:schemeClr>
                    </a:gs>
                  </a:gsLst>
                  <a:path path="circle">
                    <a:fillToRect l="50000" t="50000" r="50000" b="50000"/>
                  </a:path>
                  <a:tileRect/>
                </a:gradFill>
                <a:ln w="9525">
                  <a:solidFill>
                    <a:schemeClr val="accent5">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22" name="©显眼包PPT-3"/>
                <p:cNvSpPr/>
                <p:nvPr/>
              </p:nvSpPr>
              <p:spPr>
                <a:xfrm>
                  <a:off x="8751" y="4217"/>
                  <a:ext cx="953" cy="953"/>
                </a:xfrm>
                <a:prstGeom prst="ellipse">
                  <a:avLst/>
                </a:prstGeom>
                <a:noFill/>
                <a:ln w="6350">
                  <a:solidFill>
                    <a:schemeClr val="accent5">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323" name="©显眼包PPT-13"/>
              <p:cNvSpPr txBox="1"/>
              <p:nvPr/>
            </p:nvSpPr>
            <p:spPr>
              <a:xfrm>
                <a:off x="3925" y="5044"/>
                <a:ext cx="779" cy="228"/>
              </a:xfrm>
              <a:prstGeom prst="rect">
                <a:avLst/>
              </a:prstGeom>
              <a:noFill/>
            </p:spPr>
            <p:txBody>
              <a:bodyPr wrap="square" lIns="0" tIns="0" rIns="0" bIns="0" rtlCol="0">
                <a:spAutoFit/>
              </a:bodyPr>
              <a:lstStyle/>
              <a:p>
                <a:pPr algn="ctr"/>
                <a:r>
                  <a:rPr lang="en-US" altLang="zh-CN"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一维</a:t>
                </a:r>
                <a:r>
                  <a:rPr lang="en-US" altLang="zh-CN"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a:t>
                </a:r>
                <a:endParaRPr lang="en-US" altLang="zh-CN"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24" name="©显眼包PPT-13"/>
              <p:cNvSpPr txBox="1"/>
              <p:nvPr/>
            </p:nvSpPr>
            <p:spPr>
              <a:xfrm>
                <a:off x="3925" y="5277"/>
                <a:ext cx="779" cy="228"/>
              </a:xfrm>
              <a:prstGeom prst="rect">
                <a:avLst/>
              </a:prstGeom>
              <a:noFill/>
            </p:spPr>
            <p:txBody>
              <a:bodyPr wrap="square" lIns="0" tIns="0" rIns="0" bIns="0" rtlCol="0">
                <a:sp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战略</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326" name="下箭头 325"/>
            <p:cNvSpPr/>
            <p:nvPr/>
          </p:nvSpPr>
          <p:spPr>
            <a:xfrm>
              <a:off x="5133" y="5175"/>
              <a:ext cx="222" cy="231"/>
            </a:xfrm>
            <a:prstGeom prst="downArrow">
              <a:avLst/>
            </a:prstGeom>
            <a:solidFill>
              <a:schemeClr val="bg1">
                <a:alpha val="5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28" name="下箭头 327"/>
            <p:cNvSpPr/>
            <p:nvPr/>
          </p:nvSpPr>
          <p:spPr>
            <a:xfrm flipH="1" flipV="1">
              <a:off x="5097" y="6757"/>
              <a:ext cx="222" cy="231"/>
            </a:xfrm>
            <a:prstGeom prst="downArrow">
              <a:avLst/>
            </a:prstGeom>
            <a:solidFill>
              <a:schemeClr val="bg1">
                <a:alpha val="5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331" name="下箭头 330"/>
            <p:cNvSpPr/>
            <p:nvPr/>
          </p:nvSpPr>
          <p:spPr>
            <a:xfrm rot="5400000" flipH="1" flipV="1">
              <a:off x="4195" y="5919"/>
              <a:ext cx="222" cy="231"/>
            </a:xfrm>
            <a:prstGeom prst="downArrow">
              <a:avLst/>
            </a:prstGeom>
            <a:solidFill>
              <a:schemeClr val="bg1">
                <a:alpha val="5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32" name="下箭头 331"/>
            <p:cNvSpPr/>
            <p:nvPr/>
          </p:nvSpPr>
          <p:spPr>
            <a:xfrm rot="16200000" flipV="1">
              <a:off x="5988" y="5935"/>
              <a:ext cx="222" cy="231"/>
            </a:xfrm>
            <a:prstGeom prst="downArrow">
              <a:avLst/>
            </a:prstGeom>
            <a:solidFill>
              <a:schemeClr val="bg1">
                <a:alpha val="50000"/>
              </a:schemeClr>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grpSp>
          <p:nvGrpSpPr>
            <p:cNvPr id="334" name="组合 333"/>
            <p:cNvGrpSpPr/>
            <p:nvPr/>
          </p:nvGrpSpPr>
          <p:grpSpPr>
            <a:xfrm>
              <a:off x="5628" y="4761"/>
              <a:ext cx="826" cy="826"/>
              <a:chOff x="3827" y="4787"/>
              <a:chExt cx="977" cy="977"/>
            </a:xfrm>
          </p:grpSpPr>
          <p:grpSp>
            <p:nvGrpSpPr>
              <p:cNvPr id="335" name="组合 334"/>
              <p:cNvGrpSpPr/>
              <p:nvPr/>
            </p:nvGrpSpPr>
            <p:grpSpPr>
              <a:xfrm rot="0">
                <a:off x="3827" y="4787"/>
                <a:ext cx="977" cy="977"/>
                <a:chOff x="8654" y="4120"/>
                <a:chExt cx="1146" cy="1146"/>
              </a:xfrm>
            </p:grpSpPr>
            <p:sp>
              <p:nvSpPr>
                <p:cNvPr id="336" name="©显眼包PPT-1"/>
                <p:cNvSpPr/>
                <p:nvPr/>
              </p:nvSpPr>
              <p:spPr>
                <a:xfrm>
                  <a:off x="8654" y="4120"/>
                  <a:ext cx="1146" cy="1146"/>
                </a:xfrm>
                <a:prstGeom prst="ellipse">
                  <a:avLst/>
                </a:prstGeom>
                <a:solidFill>
                  <a:schemeClr val="accent5">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37" name="©显眼包PPT-2"/>
                <p:cNvSpPr/>
                <p:nvPr/>
              </p:nvSpPr>
              <p:spPr>
                <a:xfrm>
                  <a:off x="8710" y="4176"/>
                  <a:ext cx="1033" cy="1033"/>
                </a:xfrm>
                <a:prstGeom prst="ellipse">
                  <a:avLst/>
                </a:prstGeom>
                <a:gradFill flip="none" rotWithShape="1">
                  <a:gsLst>
                    <a:gs pos="39000">
                      <a:schemeClr val="bg1"/>
                    </a:gs>
                    <a:gs pos="100000">
                      <a:schemeClr val="accent5">
                        <a:lumMod val="60000"/>
                        <a:lumOff val="40000"/>
                      </a:schemeClr>
                    </a:gs>
                  </a:gsLst>
                  <a:path path="circle">
                    <a:fillToRect l="50000" t="50000" r="50000" b="50000"/>
                  </a:path>
                  <a:tileRect/>
                </a:gradFill>
                <a:ln w="9525">
                  <a:solidFill>
                    <a:schemeClr val="accent5">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38" name="©显眼包PPT-3"/>
                <p:cNvSpPr/>
                <p:nvPr/>
              </p:nvSpPr>
              <p:spPr>
                <a:xfrm>
                  <a:off x="8751" y="4217"/>
                  <a:ext cx="953" cy="953"/>
                </a:xfrm>
                <a:prstGeom prst="ellipse">
                  <a:avLst/>
                </a:prstGeom>
                <a:noFill/>
                <a:ln w="6350">
                  <a:solidFill>
                    <a:schemeClr val="accent5">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339" name="©显眼包PPT-13"/>
              <p:cNvSpPr txBox="1"/>
              <p:nvPr/>
            </p:nvSpPr>
            <p:spPr>
              <a:xfrm>
                <a:off x="3925" y="5044"/>
                <a:ext cx="779" cy="228"/>
              </a:xfrm>
              <a:prstGeom prst="rect">
                <a:avLst/>
              </a:prstGeom>
              <a:noFill/>
            </p:spPr>
            <p:txBody>
              <a:bodyPr wrap="square" lIns="0" tIns="0" rIns="0" bIns="0" rtlCol="0">
                <a:spAutoFit/>
              </a:bodyPr>
              <a:lstStyle/>
              <a:p>
                <a:pPr algn="ctr"/>
                <a:r>
                  <a:rPr lang="en-US" altLang="zh-CN"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二</a:t>
                </a:r>
                <a:r>
                  <a:rPr lang="zh-CN" altLang="en-US"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维</a:t>
                </a:r>
                <a:r>
                  <a:rPr lang="en-US" altLang="zh-CN"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a:t>
                </a:r>
                <a:endParaRPr lang="en-US" altLang="zh-CN"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40" name="©显眼包PPT-13"/>
              <p:cNvSpPr txBox="1"/>
              <p:nvPr/>
            </p:nvSpPr>
            <p:spPr>
              <a:xfrm>
                <a:off x="3925" y="5277"/>
                <a:ext cx="779" cy="228"/>
              </a:xfrm>
              <a:prstGeom prst="rect">
                <a:avLst/>
              </a:prstGeom>
              <a:noFill/>
            </p:spPr>
            <p:txBody>
              <a:bodyPr wrap="square" lIns="0" tIns="0" rIns="0" bIns="0" rtlCol="0">
                <a:sp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标准</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341" name="组合 340"/>
            <p:cNvGrpSpPr/>
            <p:nvPr/>
          </p:nvGrpSpPr>
          <p:grpSpPr>
            <a:xfrm>
              <a:off x="3994" y="6431"/>
              <a:ext cx="826" cy="826"/>
              <a:chOff x="3827" y="4787"/>
              <a:chExt cx="977" cy="977"/>
            </a:xfrm>
          </p:grpSpPr>
          <p:grpSp>
            <p:nvGrpSpPr>
              <p:cNvPr id="342" name="组合 341"/>
              <p:cNvGrpSpPr/>
              <p:nvPr/>
            </p:nvGrpSpPr>
            <p:grpSpPr>
              <a:xfrm rot="0">
                <a:off x="3827" y="4787"/>
                <a:ext cx="977" cy="977"/>
                <a:chOff x="8654" y="4120"/>
                <a:chExt cx="1146" cy="1146"/>
              </a:xfrm>
            </p:grpSpPr>
            <p:sp>
              <p:nvSpPr>
                <p:cNvPr id="343" name="©显眼包PPT-1"/>
                <p:cNvSpPr/>
                <p:nvPr/>
              </p:nvSpPr>
              <p:spPr>
                <a:xfrm>
                  <a:off x="8654" y="4120"/>
                  <a:ext cx="1146" cy="1146"/>
                </a:xfrm>
                <a:prstGeom prst="ellipse">
                  <a:avLst/>
                </a:prstGeom>
                <a:solidFill>
                  <a:schemeClr val="accent5">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44" name="©显眼包PPT-2"/>
                <p:cNvSpPr/>
                <p:nvPr/>
              </p:nvSpPr>
              <p:spPr>
                <a:xfrm>
                  <a:off x="8710" y="4176"/>
                  <a:ext cx="1033" cy="1033"/>
                </a:xfrm>
                <a:prstGeom prst="ellipse">
                  <a:avLst/>
                </a:prstGeom>
                <a:gradFill flip="none" rotWithShape="1">
                  <a:gsLst>
                    <a:gs pos="39000">
                      <a:schemeClr val="bg1"/>
                    </a:gs>
                    <a:gs pos="100000">
                      <a:schemeClr val="accent5">
                        <a:lumMod val="60000"/>
                        <a:lumOff val="40000"/>
                      </a:schemeClr>
                    </a:gs>
                  </a:gsLst>
                  <a:path path="circle">
                    <a:fillToRect l="50000" t="50000" r="50000" b="50000"/>
                  </a:path>
                  <a:tileRect/>
                </a:gradFill>
                <a:ln w="9525">
                  <a:solidFill>
                    <a:schemeClr val="accent5">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45" name="©显眼包PPT-3"/>
                <p:cNvSpPr/>
                <p:nvPr/>
              </p:nvSpPr>
              <p:spPr>
                <a:xfrm>
                  <a:off x="8751" y="4217"/>
                  <a:ext cx="953" cy="953"/>
                </a:xfrm>
                <a:prstGeom prst="ellipse">
                  <a:avLst/>
                </a:prstGeom>
                <a:noFill/>
                <a:ln w="6350">
                  <a:solidFill>
                    <a:schemeClr val="accent5">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346" name="©显眼包PPT-13"/>
              <p:cNvSpPr txBox="1"/>
              <p:nvPr/>
            </p:nvSpPr>
            <p:spPr>
              <a:xfrm>
                <a:off x="3925" y="5044"/>
                <a:ext cx="779" cy="228"/>
              </a:xfrm>
              <a:prstGeom prst="rect">
                <a:avLst/>
              </a:prstGeom>
              <a:noFill/>
            </p:spPr>
            <p:txBody>
              <a:bodyPr wrap="square" lIns="0" tIns="0" rIns="0" bIns="0" rtlCol="0">
                <a:spAutoFit/>
              </a:bodyPr>
              <a:lstStyle/>
              <a:p>
                <a:pPr algn="ctr"/>
                <a:r>
                  <a:rPr lang="en-US" altLang="zh-CN"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四</a:t>
                </a:r>
                <a:r>
                  <a:rPr lang="zh-CN" altLang="en-US"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维</a:t>
                </a:r>
                <a:r>
                  <a:rPr lang="en-US" altLang="zh-CN"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a:t>
                </a:r>
                <a:endParaRPr lang="en-US" altLang="zh-CN"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47" name="©显眼包PPT-13"/>
              <p:cNvSpPr txBox="1"/>
              <p:nvPr/>
            </p:nvSpPr>
            <p:spPr>
              <a:xfrm>
                <a:off x="3925" y="5277"/>
                <a:ext cx="779" cy="228"/>
              </a:xfrm>
              <a:prstGeom prst="rect">
                <a:avLst/>
              </a:prstGeom>
              <a:noFill/>
            </p:spPr>
            <p:txBody>
              <a:bodyPr wrap="square" lIns="0" tIns="0" rIns="0" bIns="0" rtlCol="0">
                <a:sp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技术</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348" name="组合 347"/>
            <p:cNvGrpSpPr/>
            <p:nvPr/>
          </p:nvGrpSpPr>
          <p:grpSpPr>
            <a:xfrm>
              <a:off x="5644" y="6431"/>
              <a:ext cx="826" cy="826"/>
              <a:chOff x="3827" y="4787"/>
              <a:chExt cx="977" cy="977"/>
            </a:xfrm>
          </p:grpSpPr>
          <p:grpSp>
            <p:nvGrpSpPr>
              <p:cNvPr id="349" name="组合 348"/>
              <p:cNvGrpSpPr/>
              <p:nvPr/>
            </p:nvGrpSpPr>
            <p:grpSpPr>
              <a:xfrm rot="0">
                <a:off x="3827" y="4787"/>
                <a:ext cx="977" cy="977"/>
                <a:chOff x="8654" y="4120"/>
                <a:chExt cx="1146" cy="1146"/>
              </a:xfrm>
            </p:grpSpPr>
            <p:sp>
              <p:nvSpPr>
                <p:cNvPr id="350" name="©显眼包PPT-1"/>
                <p:cNvSpPr/>
                <p:nvPr/>
              </p:nvSpPr>
              <p:spPr>
                <a:xfrm>
                  <a:off x="8654" y="4120"/>
                  <a:ext cx="1146" cy="1146"/>
                </a:xfrm>
                <a:prstGeom prst="ellipse">
                  <a:avLst/>
                </a:prstGeom>
                <a:solidFill>
                  <a:schemeClr val="accent5">
                    <a:lumMod val="20000"/>
                    <a:lumOff val="80000"/>
                  </a:schemeClr>
                </a:soli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51" name="©显眼包PPT-2"/>
                <p:cNvSpPr/>
                <p:nvPr/>
              </p:nvSpPr>
              <p:spPr>
                <a:xfrm>
                  <a:off x="8710" y="4176"/>
                  <a:ext cx="1033" cy="1033"/>
                </a:xfrm>
                <a:prstGeom prst="ellipse">
                  <a:avLst/>
                </a:prstGeom>
                <a:gradFill flip="none" rotWithShape="1">
                  <a:gsLst>
                    <a:gs pos="39000">
                      <a:schemeClr val="bg1"/>
                    </a:gs>
                    <a:gs pos="100000">
                      <a:schemeClr val="accent5">
                        <a:lumMod val="60000"/>
                        <a:lumOff val="40000"/>
                      </a:schemeClr>
                    </a:gs>
                  </a:gsLst>
                  <a:path path="circle">
                    <a:fillToRect l="50000" t="50000" r="50000" b="50000"/>
                  </a:path>
                  <a:tileRect/>
                </a:gradFill>
                <a:ln w="9525">
                  <a:solidFill>
                    <a:schemeClr val="accent5">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52" name="©显眼包PPT-3"/>
                <p:cNvSpPr/>
                <p:nvPr/>
              </p:nvSpPr>
              <p:spPr>
                <a:xfrm>
                  <a:off x="8751" y="4217"/>
                  <a:ext cx="953" cy="953"/>
                </a:xfrm>
                <a:prstGeom prst="ellipse">
                  <a:avLst/>
                </a:prstGeom>
                <a:noFill/>
                <a:ln w="6350">
                  <a:solidFill>
                    <a:schemeClr val="accent5">
                      <a:lumMod val="60000"/>
                      <a:lumOff val="4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endParaRPr lang="zh-CN" altLang="en-US" sz="200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353" name="©显眼包PPT-13"/>
              <p:cNvSpPr txBox="1"/>
              <p:nvPr/>
            </p:nvSpPr>
            <p:spPr>
              <a:xfrm>
                <a:off x="3925" y="5044"/>
                <a:ext cx="779" cy="228"/>
              </a:xfrm>
              <a:prstGeom prst="rect">
                <a:avLst/>
              </a:prstGeom>
              <a:noFill/>
            </p:spPr>
            <p:txBody>
              <a:bodyPr wrap="square" lIns="0" tIns="0" rIns="0" bIns="0" rtlCol="0">
                <a:spAutoFit/>
              </a:bodyPr>
              <a:lstStyle/>
              <a:p>
                <a:pPr algn="ctr"/>
                <a:r>
                  <a:rPr lang="en-US" altLang="zh-CN"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a:t>
                </a:r>
                <a:r>
                  <a:rPr lang="zh-CN" altLang="en-US"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三维</a:t>
                </a:r>
                <a:r>
                  <a:rPr lang="en-US" altLang="zh-CN"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a:t>
                </a:r>
                <a:endParaRPr lang="en-US" altLang="zh-CN" sz="8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354" name="©显眼包PPT-13"/>
              <p:cNvSpPr txBox="1"/>
              <p:nvPr/>
            </p:nvSpPr>
            <p:spPr>
              <a:xfrm>
                <a:off x="3925" y="5277"/>
                <a:ext cx="779" cy="228"/>
              </a:xfrm>
              <a:prstGeom prst="rect">
                <a:avLst/>
              </a:prstGeom>
              <a:noFill/>
            </p:spPr>
            <p:txBody>
              <a:bodyPr wrap="square" lIns="0" tIns="0" rIns="0" bIns="0" rtlCol="0">
                <a:spAutoFit/>
              </a:bodyPr>
              <a:lstStyle/>
              <a:p>
                <a:pPr algn="ctr"/>
                <a:r>
                  <a:rPr lang="zh-CN" altLang="en-US" sz="800" dirty="0">
                    <a:solidFill>
                      <a:schemeClr val="tx2"/>
                    </a:solidFill>
                    <a:latin typeface="微软雅黑" panose="020B0503020204020204" charset="-122"/>
                    <a:ea typeface="微软雅黑" panose="020B0503020204020204" charset="-122"/>
                    <a:cs typeface="微软雅黑" panose="020B0503020204020204" charset="-122"/>
                  </a:rPr>
                  <a:t>组织</a:t>
                </a:r>
                <a:endParaRPr lang="zh-CN" altLang="en-US" sz="800" dirty="0">
                  <a:solidFill>
                    <a:schemeClr val="tx2"/>
                  </a:solidFill>
                  <a:latin typeface="微软雅黑" panose="020B0503020204020204" charset="-122"/>
                  <a:ea typeface="微软雅黑" panose="020B0503020204020204" charset="-122"/>
                  <a:cs typeface="微软雅黑" panose="020B0503020204020204" charset="-122"/>
                </a:endParaRPr>
              </a:p>
            </p:txBody>
          </p:sp>
        </p:grpSp>
      </p:grpSp>
      <p:cxnSp>
        <p:nvCxnSpPr>
          <p:cNvPr id="357" name="直接连接符 356"/>
          <p:cNvCxnSpPr/>
          <p:nvPr/>
        </p:nvCxnSpPr>
        <p:spPr>
          <a:xfrm flipH="1" flipV="1">
            <a:off x="5337175" y="4992370"/>
            <a:ext cx="262890" cy="158115"/>
          </a:xfrm>
          <a:prstGeom prst="line">
            <a:avLst/>
          </a:prstGeom>
          <a:ln>
            <a:solidFill>
              <a:schemeClr val="tx2">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grpSp>
        <p:nvGrpSpPr>
          <p:cNvPr id="14" name="组合 13"/>
          <p:cNvGrpSpPr/>
          <p:nvPr/>
        </p:nvGrpSpPr>
        <p:grpSpPr>
          <a:xfrm>
            <a:off x="8710930" y="5455920"/>
            <a:ext cx="690245" cy="862330"/>
            <a:chOff x="12144" y="8529"/>
            <a:chExt cx="1087" cy="1358"/>
          </a:xfrm>
        </p:grpSpPr>
        <p:grpSp>
          <p:nvGrpSpPr>
            <p:cNvPr id="15" name="组合 14"/>
            <p:cNvGrpSpPr/>
            <p:nvPr/>
          </p:nvGrpSpPr>
          <p:grpSpPr>
            <a:xfrm rot="0">
              <a:off x="12144" y="8881"/>
              <a:ext cx="1087" cy="1006"/>
              <a:chOff x="1750980" y="5624548"/>
              <a:chExt cx="690236" cy="639134"/>
            </a:xfrm>
          </p:grpSpPr>
          <p:sp>
            <p:nvSpPr>
              <p:cNvPr id="16" name="@显眼包PPT15-1"/>
              <p:cNvSpPr txBox="1"/>
              <p:nvPr/>
            </p:nvSpPr>
            <p:spPr>
              <a:xfrm>
                <a:off x="1918300" y="5624548"/>
                <a:ext cx="355595" cy="430748"/>
              </a:xfrm>
              <a:prstGeom prst="rect">
                <a:avLst/>
              </a:prstGeom>
              <a:noFill/>
            </p:spPr>
            <p:txBody>
              <a:bodyPr wrap="none" lIns="0" tIns="0" rIns="0" bIns="0" rtlCol="0">
                <a:spAutoFit/>
                <a:scene3d>
                  <a:camera prst="orthographicFront"/>
                  <a:lightRig rig="threePt" dir="t"/>
                </a:scene3d>
              </a:bodyPr>
              <a:lstStyle/>
              <a:p>
                <a:pPr marL="0" marR="0" lvl="0" indent="0" algn="ctr" defTabSz="914400" rtl="0" eaLnBrk="1" fontAlgn="auto" latinLnBrk="0" hangingPunct="1">
                  <a:spcBef>
                    <a:spcPts val="0"/>
                  </a:spcBef>
                  <a:buClrTx/>
                  <a:buSzTx/>
                  <a:buFontTx/>
                  <a:buNone/>
                  <a:defRPr/>
                </a:pPr>
                <a:r>
                  <a:rPr lang="en-US" alt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AI</a:t>
                </a:r>
                <a:endParaRPr lang="en-US" alt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spcBef>
                    <a:spcPts val="0"/>
                  </a:spcBef>
                  <a:buClrTx/>
                  <a:buSzTx/>
                  <a:buFontTx/>
                  <a:buNone/>
                  <a:defRPr/>
                </a:pPr>
                <a:r>
                  <a:rPr lang="zh-CN" alt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赋能</a:t>
                </a:r>
                <a:endParaRPr lang="zh-CN" alt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nvGrpSpPr>
              <p:cNvPr id="17" name="组合 16"/>
              <p:cNvGrpSpPr/>
              <p:nvPr/>
            </p:nvGrpSpPr>
            <p:grpSpPr>
              <a:xfrm>
                <a:off x="1750980" y="5816937"/>
                <a:ext cx="690236" cy="446745"/>
                <a:chOff x="1846211" y="5922627"/>
                <a:chExt cx="661308" cy="344058"/>
              </a:xfrm>
            </p:grpSpPr>
            <p:grpSp>
              <p:nvGrpSpPr>
                <p:cNvPr id="18" name="组合 17"/>
                <p:cNvGrpSpPr/>
                <p:nvPr/>
              </p:nvGrpSpPr>
              <p:grpSpPr>
                <a:xfrm>
                  <a:off x="1846211" y="6090853"/>
                  <a:ext cx="661308" cy="175832"/>
                  <a:chOff x="1160606" y="3870007"/>
                  <a:chExt cx="584190" cy="135236"/>
                </a:xfrm>
              </p:grpSpPr>
              <p:sp>
                <p:nvSpPr>
                  <p:cNvPr id="19" name="@显眼包PPT15-2"/>
                  <p:cNvSpPr/>
                  <p:nvPr/>
                </p:nvSpPr>
                <p:spPr>
                  <a:xfrm>
                    <a:off x="1216805" y="3943756"/>
                    <a:ext cx="471792" cy="61487"/>
                  </a:xfrm>
                  <a:prstGeom prst="hexagon">
                    <a:avLst>
                      <a:gd name="adj" fmla="val 113646"/>
                      <a:gd name="vf" fmla="val 115470"/>
                    </a:avLst>
                  </a:prstGeom>
                  <a:gradFill flip="none" rotWithShape="1">
                    <a:gsLst>
                      <a:gs pos="12000">
                        <a:schemeClr val="accent1">
                          <a:lumMod val="60000"/>
                          <a:lumOff val="40000"/>
                          <a:alpha val="27000"/>
                        </a:schemeClr>
                      </a:gs>
                      <a:gs pos="94000">
                        <a:schemeClr val="accent1">
                          <a:lumMod val="60000"/>
                          <a:lumOff val="40000"/>
                          <a:alpha val="0"/>
                        </a:schemeClr>
                      </a:gs>
                    </a:gsLst>
                    <a:lin ang="162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 name="@显眼包PPT3-3"/>
                  <p:cNvSpPr/>
                  <p:nvPr/>
                </p:nvSpPr>
                <p:spPr>
                  <a:xfrm>
                    <a:off x="1160606" y="3870007"/>
                    <a:ext cx="584190" cy="93301"/>
                  </a:xfrm>
                  <a:prstGeom prst="hexagon">
                    <a:avLst>
                      <a:gd name="adj" fmla="val 113646"/>
                      <a:gd name="vf" fmla="val 115470"/>
                    </a:avLst>
                  </a:prstGeom>
                  <a:gradFill flip="none" rotWithShape="1">
                    <a:gsLst>
                      <a:gs pos="12000">
                        <a:schemeClr val="accent1">
                          <a:lumMod val="60000"/>
                          <a:lumOff val="40000"/>
                          <a:alpha val="50000"/>
                        </a:schemeClr>
                      </a:gs>
                      <a:gs pos="94000">
                        <a:schemeClr val="accent1">
                          <a:lumMod val="60000"/>
                          <a:lumOff val="40000"/>
                          <a:alpha val="0"/>
                        </a:schemeClr>
                      </a:gs>
                    </a:gsLst>
                    <a:lin ang="16200000" scaled="1"/>
                    <a:tileRect/>
                  </a:gradFill>
                  <a:ln w="12700">
                    <a:gradFill>
                      <a:gsLst>
                        <a:gs pos="7000">
                          <a:schemeClr val="accent1">
                            <a:lumMod val="60000"/>
                            <a:lumOff val="40000"/>
                            <a:alpha val="0"/>
                          </a:schemeClr>
                        </a:gs>
                        <a:gs pos="88000">
                          <a:schemeClr val="accent1">
                            <a:lumMod val="60000"/>
                            <a:lumOff val="40000"/>
                          </a:schemeClr>
                        </a:gs>
                      </a:gsLst>
                      <a:lin ang="5400000" scaled="1"/>
                    </a:gradFill>
                  </a:ln>
                  <a:effectLst>
                    <a:innerShdw blurRad="114300">
                      <a:schemeClr val="accent1">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22" name="组合 21"/>
                <p:cNvGrpSpPr/>
                <p:nvPr/>
              </p:nvGrpSpPr>
              <p:grpSpPr>
                <a:xfrm>
                  <a:off x="1878900" y="5922627"/>
                  <a:ext cx="595930" cy="197490"/>
                  <a:chOff x="1184081" y="3694733"/>
                  <a:chExt cx="544509" cy="175270"/>
                </a:xfrm>
              </p:grpSpPr>
              <p:grpSp>
                <p:nvGrpSpPr>
                  <p:cNvPr id="27" name="组合 26"/>
                  <p:cNvGrpSpPr/>
                  <p:nvPr/>
                </p:nvGrpSpPr>
                <p:grpSpPr>
                  <a:xfrm>
                    <a:off x="1682870" y="3694733"/>
                    <a:ext cx="45720" cy="175270"/>
                    <a:chOff x="1144352" y="3690146"/>
                    <a:chExt cx="55150" cy="175270"/>
                  </a:xfrm>
                </p:grpSpPr>
                <p:cxnSp>
                  <p:nvCxnSpPr>
                    <p:cNvPr id="28" name="@显眼包PPT3-4"/>
                    <p:cNvCxnSpPr/>
                    <p:nvPr/>
                  </p:nvCxnSpPr>
                  <p:spPr>
                    <a:xfrm flipV="1">
                      <a:off x="1199502" y="3732792"/>
                      <a:ext cx="0" cy="132624"/>
                    </a:xfrm>
                    <a:prstGeom prst="line">
                      <a:avLst/>
                    </a:prstGeom>
                    <a:ln w="6350" cap="rnd">
                      <a:gradFill flip="none" rotWithShape="1">
                        <a:gsLst>
                          <a:gs pos="0">
                            <a:schemeClr val="accent1">
                              <a:lumMod val="60000"/>
                              <a:lumOff val="40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cxnSp>
                  <p:nvCxnSpPr>
                    <p:cNvPr id="29" name="@显眼包PPT3-5"/>
                    <p:cNvCxnSpPr/>
                    <p:nvPr/>
                  </p:nvCxnSpPr>
                  <p:spPr>
                    <a:xfrm flipV="1">
                      <a:off x="1144352" y="3690146"/>
                      <a:ext cx="0" cy="66312"/>
                    </a:xfrm>
                    <a:prstGeom prst="line">
                      <a:avLst/>
                    </a:prstGeom>
                    <a:ln w="6350" cap="rnd">
                      <a:gradFill flip="none" rotWithShape="1">
                        <a:gsLst>
                          <a:gs pos="0">
                            <a:schemeClr val="accent1">
                              <a:lumMod val="60000"/>
                              <a:lumOff val="40000"/>
                              <a:alpha val="54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grpSp>
              <p:grpSp>
                <p:nvGrpSpPr>
                  <p:cNvPr id="30" name="组合 29"/>
                  <p:cNvGrpSpPr/>
                  <p:nvPr/>
                </p:nvGrpSpPr>
                <p:grpSpPr>
                  <a:xfrm flipH="1">
                    <a:off x="1184081" y="3694733"/>
                    <a:ext cx="45720" cy="175270"/>
                    <a:chOff x="1144352" y="3690146"/>
                    <a:chExt cx="55150" cy="175270"/>
                  </a:xfrm>
                </p:grpSpPr>
                <p:cxnSp>
                  <p:nvCxnSpPr>
                    <p:cNvPr id="31" name="@显眼包PPT3-6"/>
                    <p:cNvCxnSpPr/>
                    <p:nvPr/>
                  </p:nvCxnSpPr>
                  <p:spPr>
                    <a:xfrm flipV="1">
                      <a:off x="1199502" y="3732792"/>
                      <a:ext cx="0" cy="132624"/>
                    </a:xfrm>
                    <a:prstGeom prst="line">
                      <a:avLst/>
                    </a:prstGeom>
                    <a:ln w="6350" cap="rnd">
                      <a:gradFill flip="none" rotWithShape="1">
                        <a:gsLst>
                          <a:gs pos="0">
                            <a:schemeClr val="accent1">
                              <a:lumMod val="60000"/>
                              <a:lumOff val="40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cxnSp>
                  <p:nvCxnSpPr>
                    <p:cNvPr id="32" name="@显眼包PPT3-7"/>
                    <p:cNvCxnSpPr/>
                    <p:nvPr/>
                  </p:nvCxnSpPr>
                  <p:spPr>
                    <a:xfrm flipV="1">
                      <a:off x="1144352" y="3690146"/>
                      <a:ext cx="0" cy="66312"/>
                    </a:xfrm>
                    <a:prstGeom prst="line">
                      <a:avLst/>
                    </a:prstGeom>
                    <a:ln w="6350" cap="rnd">
                      <a:gradFill flip="none" rotWithShape="1">
                        <a:gsLst>
                          <a:gs pos="0">
                            <a:schemeClr val="accent1">
                              <a:lumMod val="60000"/>
                              <a:lumOff val="40000"/>
                              <a:alpha val="54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grpSp>
            </p:grpSp>
            <p:grpSp>
              <p:nvGrpSpPr>
                <p:cNvPr id="33" name="组合 32"/>
                <p:cNvGrpSpPr/>
                <p:nvPr/>
              </p:nvGrpSpPr>
              <p:grpSpPr>
                <a:xfrm>
                  <a:off x="1935420" y="6154572"/>
                  <a:ext cx="482891" cy="28956"/>
                  <a:chOff x="1379689" y="4245602"/>
                  <a:chExt cx="482891" cy="28956"/>
                </a:xfrm>
              </p:grpSpPr>
              <p:sp>
                <p:nvSpPr>
                  <p:cNvPr id="34" name="@显眼包PPT3-8"/>
                  <p:cNvSpPr/>
                  <p:nvPr/>
                </p:nvSpPr>
                <p:spPr>
                  <a:xfrm>
                    <a:off x="1379689" y="4245602"/>
                    <a:ext cx="163666" cy="28956"/>
                  </a:xfrm>
                  <a:custGeom>
                    <a:avLst/>
                    <a:gdLst>
                      <a:gd name="connsiteX0" fmla="*/ 0 w 534073"/>
                      <a:gd name="connsiteY0" fmla="*/ 39973 h 79945"/>
                      <a:gd name="connsiteX1" fmla="*/ 90854 w 534073"/>
                      <a:gd name="connsiteY1" fmla="*/ 0 h 79945"/>
                      <a:gd name="connsiteX2" fmla="*/ 443219 w 534073"/>
                      <a:gd name="connsiteY2" fmla="*/ 0 h 79945"/>
                      <a:gd name="connsiteX3" fmla="*/ 534073 w 534073"/>
                      <a:gd name="connsiteY3" fmla="*/ 39973 h 79945"/>
                      <a:gd name="connsiteX4" fmla="*/ 443219 w 534073"/>
                      <a:gd name="connsiteY4" fmla="*/ 79945 h 79945"/>
                      <a:gd name="connsiteX5" fmla="*/ 90854 w 534073"/>
                      <a:gd name="connsiteY5" fmla="*/ 79945 h 79945"/>
                      <a:gd name="connsiteX6" fmla="*/ 0 w 534073"/>
                      <a:gd name="connsiteY6" fmla="*/ 39973 h 79945"/>
                      <a:gd name="connsiteX0-1" fmla="*/ 443219 w 534659"/>
                      <a:gd name="connsiteY0-2" fmla="*/ 79945 h 171385"/>
                      <a:gd name="connsiteX1-3" fmla="*/ 90854 w 534659"/>
                      <a:gd name="connsiteY1-4" fmla="*/ 79945 h 171385"/>
                      <a:gd name="connsiteX2-5" fmla="*/ 0 w 534659"/>
                      <a:gd name="connsiteY2-6" fmla="*/ 39973 h 171385"/>
                      <a:gd name="connsiteX3-7" fmla="*/ 90854 w 534659"/>
                      <a:gd name="connsiteY3-8" fmla="*/ 0 h 171385"/>
                      <a:gd name="connsiteX4-9" fmla="*/ 443219 w 534659"/>
                      <a:gd name="connsiteY4-10" fmla="*/ 0 h 171385"/>
                      <a:gd name="connsiteX5-11" fmla="*/ 534073 w 534659"/>
                      <a:gd name="connsiteY5-12" fmla="*/ 39973 h 171385"/>
                      <a:gd name="connsiteX6-13" fmla="*/ 534659 w 534659"/>
                      <a:gd name="connsiteY6-14" fmla="*/ 171385 h 171385"/>
                      <a:gd name="connsiteX0-15" fmla="*/ 443219 w 534659"/>
                      <a:gd name="connsiteY0-16" fmla="*/ 79945 h 171385"/>
                      <a:gd name="connsiteX1-17" fmla="*/ 90854 w 534659"/>
                      <a:gd name="connsiteY1-18" fmla="*/ 79945 h 171385"/>
                      <a:gd name="connsiteX2-19" fmla="*/ 0 w 534659"/>
                      <a:gd name="connsiteY2-20" fmla="*/ 39973 h 171385"/>
                      <a:gd name="connsiteX3-21" fmla="*/ 90854 w 534659"/>
                      <a:gd name="connsiteY3-22" fmla="*/ 0 h 171385"/>
                      <a:gd name="connsiteX4-23" fmla="*/ 443219 w 534659"/>
                      <a:gd name="connsiteY4-24" fmla="*/ 0 h 171385"/>
                      <a:gd name="connsiteX5-25" fmla="*/ 534659 w 534659"/>
                      <a:gd name="connsiteY5-26" fmla="*/ 171385 h 171385"/>
                      <a:gd name="connsiteX0-27" fmla="*/ 443219 w 534659"/>
                      <a:gd name="connsiteY0-28" fmla="*/ 79945 h 171385"/>
                      <a:gd name="connsiteX1-29" fmla="*/ 90854 w 534659"/>
                      <a:gd name="connsiteY1-30" fmla="*/ 79945 h 171385"/>
                      <a:gd name="connsiteX2-31" fmla="*/ 0 w 534659"/>
                      <a:gd name="connsiteY2-32" fmla="*/ 39973 h 171385"/>
                      <a:gd name="connsiteX3-33" fmla="*/ 90854 w 534659"/>
                      <a:gd name="connsiteY3-34" fmla="*/ 0 h 171385"/>
                      <a:gd name="connsiteX4-35" fmla="*/ 534659 w 534659"/>
                      <a:gd name="connsiteY4-36" fmla="*/ 171385 h 171385"/>
                      <a:gd name="connsiteX0-37" fmla="*/ 443219 w 534659"/>
                      <a:gd name="connsiteY0-38" fmla="*/ 39972 h 131412"/>
                      <a:gd name="connsiteX1-39" fmla="*/ 90854 w 534659"/>
                      <a:gd name="connsiteY1-40" fmla="*/ 39972 h 131412"/>
                      <a:gd name="connsiteX2-41" fmla="*/ 0 w 534659"/>
                      <a:gd name="connsiteY2-42" fmla="*/ 0 h 131412"/>
                      <a:gd name="connsiteX3-43" fmla="*/ 534659 w 534659"/>
                      <a:gd name="connsiteY3-44" fmla="*/ 131412 h 131412"/>
                      <a:gd name="connsiteX0-45" fmla="*/ 443219 w 443219"/>
                      <a:gd name="connsiteY0-46" fmla="*/ 39972 h 39972"/>
                      <a:gd name="connsiteX1-47" fmla="*/ 90854 w 443219"/>
                      <a:gd name="connsiteY1-48" fmla="*/ 39972 h 39972"/>
                      <a:gd name="connsiteX2-49" fmla="*/ 0 w 443219"/>
                      <a:gd name="connsiteY2-50" fmla="*/ 0 h 39972"/>
                      <a:gd name="connsiteX0-51" fmla="*/ 196717 w 196717"/>
                      <a:gd name="connsiteY0-52" fmla="*/ 41350 h 41350"/>
                      <a:gd name="connsiteX1-53" fmla="*/ 90854 w 196717"/>
                      <a:gd name="connsiteY1-54" fmla="*/ 39972 h 41350"/>
                      <a:gd name="connsiteX2-55" fmla="*/ 0 w 196717"/>
                      <a:gd name="connsiteY2-56" fmla="*/ 0 h 41350"/>
                      <a:gd name="connsiteX0-57" fmla="*/ 163666 w 163666"/>
                      <a:gd name="connsiteY0-58" fmla="*/ 28956 h 28956"/>
                      <a:gd name="connsiteX1-59" fmla="*/ 57803 w 163666"/>
                      <a:gd name="connsiteY1-60" fmla="*/ 27578 h 28956"/>
                      <a:gd name="connsiteX2-61" fmla="*/ 0 w 163666"/>
                      <a:gd name="connsiteY2-62" fmla="*/ 0 h 28956"/>
                    </a:gdLst>
                    <a:ahLst/>
                    <a:cxnLst>
                      <a:cxn ang="0">
                        <a:pos x="connsiteX0-1" y="connsiteY0-2"/>
                      </a:cxn>
                      <a:cxn ang="0">
                        <a:pos x="connsiteX1-3" y="connsiteY1-4"/>
                      </a:cxn>
                      <a:cxn ang="0">
                        <a:pos x="connsiteX2-5" y="connsiteY2-6"/>
                      </a:cxn>
                    </a:cxnLst>
                    <a:rect l="l" t="t" r="r" b="b"/>
                    <a:pathLst>
                      <a:path w="163666" h="28956">
                        <a:moveTo>
                          <a:pt x="163666" y="28956"/>
                        </a:moveTo>
                        <a:lnTo>
                          <a:pt x="57803" y="27578"/>
                        </a:lnTo>
                        <a:lnTo>
                          <a:pt x="0" y="0"/>
                        </a:lnTo>
                      </a:path>
                    </a:pathLst>
                  </a:custGeom>
                  <a:noFill/>
                  <a:ln w="317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5" name="@显眼包PPT3-9"/>
                  <p:cNvSpPr/>
                  <p:nvPr/>
                </p:nvSpPr>
                <p:spPr>
                  <a:xfrm flipH="1">
                    <a:off x="1698914" y="4245602"/>
                    <a:ext cx="163666" cy="28956"/>
                  </a:xfrm>
                  <a:custGeom>
                    <a:avLst/>
                    <a:gdLst>
                      <a:gd name="connsiteX0" fmla="*/ 0 w 534073"/>
                      <a:gd name="connsiteY0" fmla="*/ 39973 h 79945"/>
                      <a:gd name="connsiteX1" fmla="*/ 90854 w 534073"/>
                      <a:gd name="connsiteY1" fmla="*/ 0 h 79945"/>
                      <a:gd name="connsiteX2" fmla="*/ 443219 w 534073"/>
                      <a:gd name="connsiteY2" fmla="*/ 0 h 79945"/>
                      <a:gd name="connsiteX3" fmla="*/ 534073 w 534073"/>
                      <a:gd name="connsiteY3" fmla="*/ 39973 h 79945"/>
                      <a:gd name="connsiteX4" fmla="*/ 443219 w 534073"/>
                      <a:gd name="connsiteY4" fmla="*/ 79945 h 79945"/>
                      <a:gd name="connsiteX5" fmla="*/ 90854 w 534073"/>
                      <a:gd name="connsiteY5" fmla="*/ 79945 h 79945"/>
                      <a:gd name="connsiteX6" fmla="*/ 0 w 534073"/>
                      <a:gd name="connsiteY6" fmla="*/ 39973 h 79945"/>
                      <a:gd name="connsiteX0-1" fmla="*/ 443219 w 534659"/>
                      <a:gd name="connsiteY0-2" fmla="*/ 79945 h 171385"/>
                      <a:gd name="connsiteX1-3" fmla="*/ 90854 w 534659"/>
                      <a:gd name="connsiteY1-4" fmla="*/ 79945 h 171385"/>
                      <a:gd name="connsiteX2-5" fmla="*/ 0 w 534659"/>
                      <a:gd name="connsiteY2-6" fmla="*/ 39973 h 171385"/>
                      <a:gd name="connsiteX3-7" fmla="*/ 90854 w 534659"/>
                      <a:gd name="connsiteY3-8" fmla="*/ 0 h 171385"/>
                      <a:gd name="connsiteX4-9" fmla="*/ 443219 w 534659"/>
                      <a:gd name="connsiteY4-10" fmla="*/ 0 h 171385"/>
                      <a:gd name="connsiteX5-11" fmla="*/ 534073 w 534659"/>
                      <a:gd name="connsiteY5-12" fmla="*/ 39973 h 171385"/>
                      <a:gd name="connsiteX6-13" fmla="*/ 534659 w 534659"/>
                      <a:gd name="connsiteY6-14" fmla="*/ 171385 h 171385"/>
                      <a:gd name="connsiteX0-15" fmla="*/ 443219 w 534659"/>
                      <a:gd name="connsiteY0-16" fmla="*/ 79945 h 171385"/>
                      <a:gd name="connsiteX1-17" fmla="*/ 90854 w 534659"/>
                      <a:gd name="connsiteY1-18" fmla="*/ 79945 h 171385"/>
                      <a:gd name="connsiteX2-19" fmla="*/ 0 w 534659"/>
                      <a:gd name="connsiteY2-20" fmla="*/ 39973 h 171385"/>
                      <a:gd name="connsiteX3-21" fmla="*/ 90854 w 534659"/>
                      <a:gd name="connsiteY3-22" fmla="*/ 0 h 171385"/>
                      <a:gd name="connsiteX4-23" fmla="*/ 443219 w 534659"/>
                      <a:gd name="connsiteY4-24" fmla="*/ 0 h 171385"/>
                      <a:gd name="connsiteX5-25" fmla="*/ 534659 w 534659"/>
                      <a:gd name="connsiteY5-26" fmla="*/ 171385 h 171385"/>
                      <a:gd name="connsiteX0-27" fmla="*/ 443219 w 534659"/>
                      <a:gd name="connsiteY0-28" fmla="*/ 79945 h 171385"/>
                      <a:gd name="connsiteX1-29" fmla="*/ 90854 w 534659"/>
                      <a:gd name="connsiteY1-30" fmla="*/ 79945 h 171385"/>
                      <a:gd name="connsiteX2-31" fmla="*/ 0 w 534659"/>
                      <a:gd name="connsiteY2-32" fmla="*/ 39973 h 171385"/>
                      <a:gd name="connsiteX3-33" fmla="*/ 90854 w 534659"/>
                      <a:gd name="connsiteY3-34" fmla="*/ 0 h 171385"/>
                      <a:gd name="connsiteX4-35" fmla="*/ 534659 w 534659"/>
                      <a:gd name="connsiteY4-36" fmla="*/ 171385 h 171385"/>
                      <a:gd name="connsiteX0-37" fmla="*/ 443219 w 534659"/>
                      <a:gd name="connsiteY0-38" fmla="*/ 39972 h 131412"/>
                      <a:gd name="connsiteX1-39" fmla="*/ 90854 w 534659"/>
                      <a:gd name="connsiteY1-40" fmla="*/ 39972 h 131412"/>
                      <a:gd name="connsiteX2-41" fmla="*/ 0 w 534659"/>
                      <a:gd name="connsiteY2-42" fmla="*/ 0 h 131412"/>
                      <a:gd name="connsiteX3-43" fmla="*/ 534659 w 534659"/>
                      <a:gd name="connsiteY3-44" fmla="*/ 131412 h 131412"/>
                      <a:gd name="connsiteX0-45" fmla="*/ 443219 w 443219"/>
                      <a:gd name="connsiteY0-46" fmla="*/ 39972 h 39972"/>
                      <a:gd name="connsiteX1-47" fmla="*/ 90854 w 443219"/>
                      <a:gd name="connsiteY1-48" fmla="*/ 39972 h 39972"/>
                      <a:gd name="connsiteX2-49" fmla="*/ 0 w 443219"/>
                      <a:gd name="connsiteY2-50" fmla="*/ 0 h 39972"/>
                      <a:gd name="connsiteX0-51" fmla="*/ 196717 w 196717"/>
                      <a:gd name="connsiteY0-52" fmla="*/ 41350 h 41350"/>
                      <a:gd name="connsiteX1-53" fmla="*/ 90854 w 196717"/>
                      <a:gd name="connsiteY1-54" fmla="*/ 39972 h 41350"/>
                      <a:gd name="connsiteX2-55" fmla="*/ 0 w 196717"/>
                      <a:gd name="connsiteY2-56" fmla="*/ 0 h 41350"/>
                      <a:gd name="connsiteX0-57" fmla="*/ 163666 w 163666"/>
                      <a:gd name="connsiteY0-58" fmla="*/ 28956 h 28956"/>
                      <a:gd name="connsiteX1-59" fmla="*/ 57803 w 163666"/>
                      <a:gd name="connsiteY1-60" fmla="*/ 27578 h 28956"/>
                      <a:gd name="connsiteX2-61" fmla="*/ 0 w 163666"/>
                      <a:gd name="connsiteY2-62" fmla="*/ 0 h 28956"/>
                    </a:gdLst>
                    <a:ahLst/>
                    <a:cxnLst>
                      <a:cxn ang="0">
                        <a:pos x="connsiteX0-1" y="connsiteY0-2"/>
                      </a:cxn>
                      <a:cxn ang="0">
                        <a:pos x="connsiteX1-3" y="connsiteY1-4"/>
                      </a:cxn>
                      <a:cxn ang="0">
                        <a:pos x="connsiteX2-5" y="connsiteY2-6"/>
                      </a:cxn>
                    </a:cxnLst>
                    <a:rect l="l" t="t" r="r" b="b"/>
                    <a:pathLst>
                      <a:path w="163666" h="28956">
                        <a:moveTo>
                          <a:pt x="163666" y="28956"/>
                        </a:moveTo>
                        <a:lnTo>
                          <a:pt x="57803" y="27578"/>
                        </a:lnTo>
                        <a:lnTo>
                          <a:pt x="0" y="0"/>
                        </a:lnTo>
                      </a:path>
                    </a:pathLst>
                  </a:custGeom>
                  <a:noFill/>
                  <a:ln w="317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grpSp>
        <p:sp>
          <p:nvSpPr>
            <p:cNvPr id="36" name="显眼包PPT13-1"/>
            <p:cNvSpPr/>
            <p:nvPr/>
          </p:nvSpPr>
          <p:spPr>
            <a:xfrm>
              <a:off x="12497" y="8529"/>
              <a:ext cx="354" cy="374"/>
            </a:xfrm>
            <a:custGeom>
              <a:avLst/>
              <a:gdLst>
                <a:gd name="connsiteX0" fmla="*/ 492945 w 987251"/>
                <a:gd name="connsiteY0" fmla="*/ 0 h 785016"/>
                <a:gd name="connsiteX1" fmla="*/ 886379 w 987251"/>
                <a:gd name="connsiteY1" fmla="*/ 358284 h 785016"/>
                <a:gd name="connsiteX2" fmla="*/ 651185 w 987251"/>
                <a:gd name="connsiteY2" fmla="*/ 286423 h 785016"/>
                <a:gd name="connsiteX3" fmla="*/ 655826 w 987251"/>
                <a:gd name="connsiteY3" fmla="*/ 301395 h 785016"/>
                <a:gd name="connsiteX4" fmla="*/ 715976 w 987251"/>
                <a:gd name="connsiteY4" fmla="*/ 434705 h 785016"/>
                <a:gd name="connsiteX5" fmla="*/ 975009 w 987251"/>
                <a:gd name="connsiteY5" fmla="*/ 775178 h 785016"/>
                <a:gd name="connsiteX6" fmla="*/ 987251 w 987251"/>
                <a:gd name="connsiteY6" fmla="*/ 785016 h 785016"/>
                <a:gd name="connsiteX7" fmla="*/ 493625 w 987251"/>
                <a:gd name="connsiteY7" fmla="*/ 683361 h 785016"/>
                <a:gd name="connsiteX8" fmla="*/ 0 w 987251"/>
                <a:gd name="connsiteY8" fmla="*/ 785016 h 785016"/>
                <a:gd name="connsiteX9" fmla="*/ 12241 w 987251"/>
                <a:gd name="connsiteY9" fmla="*/ 775177 h 785016"/>
                <a:gd name="connsiteX10" fmla="*/ 271276 w 987251"/>
                <a:gd name="connsiteY10" fmla="*/ 434704 h 785016"/>
                <a:gd name="connsiteX11" fmla="*/ 331426 w 987251"/>
                <a:gd name="connsiteY11" fmla="*/ 301394 h 785016"/>
                <a:gd name="connsiteX12" fmla="*/ 336208 w 987251"/>
                <a:gd name="connsiteY12" fmla="*/ 285964 h 785016"/>
                <a:gd name="connsiteX13" fmla="*/ 99511 w 987251"/>
                <a:gd name="connsiteY13" fmla="*/ 358284 h 785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7251" h="785016">
                  <a:moveTo>
                    <a:pt x="492945" y="0"/>
                  </a:moveTo>
                  <a:lnTo>
                    <a:pt x="886379" y="358284"/>
                  </a:lnTo>
                  <a:lnTo>
                    <a:pt x="651185" y="286423"/>
                  </a:lnTo>
                  <a:lnTo>
                    <a:pt x="655826" y="301395"/>
                  </a:lnTo>
                  <a:cubicBezTo>
                    <a:pt x="672513" y="345329"/>
                    <a:pt x="692548" y="389940"/>
                    <a:pt x="715976" y="434705"/>
                  </a:cubicBezTo>
                  <a:cubicBezTo>
                    <a:pt x="786260" y="569003"/>
                    <a:pt x="877099" y="685625"/>
                    <a:pt x="975009" y="775178"/>
                  </a:cubicBezTo>
                  <a:lnTo>
                    <a:pt x="987251" y="785016"/>
                  </a:lnTo>
                  <a:lnTo>
                    <a:pt x="493625" y="683361"/>
                  </a:lnTo>
                  <a:lnTo>
                    <a:pt x="0" y="785016"/>
                  </a:lnTo>
                  <a:lnTo>
                    <a:pt x="12241" y="775177"/>
                  </a:lnTo>
                  <a:cubicBezTo>
                    <a:pt x="110152" y="685624"/>
                    <a:pt x="200991" y="569002"/>
                    <a:pt x="271276" y="434704"/>
                  </a:cubicBezTo>
                  <a:cubicBezTo>
                    <a:pt x="294704" y="389939"/>
                    <a:pt x="314739" y="345328"/>
                    <a:pt x="331426" y="301394"/>
                  </a:cubicBezTo>
                  <a:lnTo>
                    <a:pt x="336208" y="285964"/>
                  </a:lnTo>
                  <a:lnTo>
                    <a:pt x="99511" y="358284"/>
                  </a:lnTo>
                  <a:close/>
                </a:path>
              </a:pathLst>
            </a:custGeom>
            <a:gradFill flip="none" rotWithShape="1">
              <a:gsLst>
                <a:gs pos="23000">
                  <a:schemeClr val="accent1">
                    <a:lumMod val="60000"/>
                    <a:lumOff val="40000"/>
                    <a:alpha val="0"/>
                  </a:schemeClr>
                </a:gs>
                <a:gs pos="100000">
                  <a:schemeClr val="accent1">
                    <a:lumMod val="60000"/>
                    <a:lumOff val="40000"/>
                  </a:schemeClr>
                </a:gs>
              </a:gsLst>
              <a:lin ang="16200000" scaled="0"/>
              <a:tileRect/>
            </a:gradFill>
            <a:ln w="15875">
              <a:noFill/>
              <a:round/>
            </a:ln>
            <a:effectLst/>
          </p:spPr>
          <p:txBody>
            <a:bodyPr vert="horz" wrap="square" lIns="91440" tIns="45720" rIns="91440" bIns="45720" numCol="1" anchor="t" anchorCtr="0" compatLnSpc="1"/>
            <a:lstStyle/>
            <a:p>
              <a:endParaRPr lang="zh-CN" altLang="en-US" dirty="0">
                <a:solidFill>
                  <a:schemeClr val="tx1"/>
                </a:solidFill>
                <a:cs typeface="微软雅黑" panose="020B0503020204020204" charset="-122"/>
              </a:endParaRPr>
            </a:p>
          </p:txBody>
        </p:sp>
      </p:grpSp>
      <p:grpSp>
        <p:nvGrpSpPr>
          <p:cNvPr id="37" name="组合 36"/>
          <p:cNvGrpSpPr/>
          <p:nvPr/>
        </p:nvGrpSpPr>
        <p:grpSpPr>
          <a:xfrm>
            <a:off x="9676130" y="5455920"/>
            <a:ext cx="690245" cy="862330"/>
            <a:chOff x="12144" y="8529"/>
            <a:chExt cx="1087" cy="1358"/>
          </a:xfrm>
        </p:grpSpPr>
        <p:grpSp>
          <p:nvGrpSpPr>
            <p:cNvPr id="38" name="组合 37"/>
            <p:cNvGrpSpPr/>
            <p:nvPr/>
          </p:nvGrpSpPr>
          <p:grpSpPr>
            <a:xfrm rot="0">
              <a:off x="12144" y="8881"/>
              <a:ext cx="1087" cy="1006"/>
              <a:chOff x="1750980" y="5624548"/>
              <a:chExt cx="690236" cy="639134"/>
            </a:xfrm>
          </p:grpSpPr>
          <p:sp>
            <p:nvSpPr>
              <p:cNvPr id="39" name="@显眼包PPT15-1"/>
              <p:cNvSpPr txBox="1"/>
              <p:nvPr/>
            </p:nvSpPr>
            <p:spPr>
              <a:xfrm>
                <a:off x="1918300" y="5624548"/>
                <a:ext cx="355595" cy="430748"/>
              </a:xfrm>
              <a:prstGeom prst="rect">
                <a:avLst/>
              </a:prstGeom>
              <a:noFill/>
            </p:spPr>
            <p:txBody>
              <a:bodyPr wrap="none" lIns="0" tIns="0" rIns="0" bIns="0" rtlCol="0">
                <a:spAutoFit/>
                <a:scene3d>
                  <a:camera prst="orthographicFront"/>
                  <a:lightRig rig="threePt" dir="t"/>
                </a:scene3d>
              </a:bodyPr>
              <a:lstStyle/>
              <a:p>
                <a:pPr marL="0" marR="0" lvl="0" indent="0" algn="ctr" defTabSz="914400" rtl="0" eaLnBrk="1" fontAlgn="auto" latinLnBrk="0" hangingPunct="1">
                  <a:spcBef>
                    <a:spcPts val="0"/>
                  </a:spcBef>
                  <a:buClrTx/>
                  <a:buSzTx/>
                  <a:buFontTx/>
                  <a:buNone/>
                  <a:defRPr/>
                </a:pPr>
                <a:r>
                  <a:rPr lang="en-US" alt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BI</a:t>
                </a:r>
                <a:endParaRPr lang="en-US" alt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spcBef>
                    <a:spcPts val="0"/>
                  </a:spcBef>
                  <a:buClrTx/>
                  <a:buSzTx/>
                  <a:buFontTx/>
                  <a:buNone/>
                  <a:defRPr/>
                </a:pPr>
                <a:r>
                  <a:rPr lang="zh-CN" alt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分析</a:t>
                </a:r>
                <a:endParaRPr lang="zh-CN" altLang="en-US"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nvGrpSpPr>
              <p:cNvPr id="40" name="组合 39"/>
              <p:cNvGrpSpPr/>
              <p:nvPr/>
            </p:nvGrpSpPr>
            <p:grpSpPr>
              <a:xfrm>
                <a:off x="1750980" y="5816937"/>
                <a:ext cx="690236" cy="446745"/>
                <a:chOff x="1846211" y="5922627"/>
                <a:chExt cx="661308" cy="344058"/>
              </a:xfrm>
            </p:grpSpPr>
            <p:grpSp>
              <p:nvGrpSpPr>
                <p:cNvPr id="41" name="组合 40"/>
                <p:cNvGrpSpPr/>
                <p:nvPr/>
              </p:nvGrpSpPr>
              <p:grpSpPr>
                <a:xfrm>
                  <a:off x="1846211" y="6090853"/>
                  <a:ext cx="661308" cy="175832"/>
                  <a:chOff x="1160606" y="3870007"/>
                  <a:chExt cx="584190" cy="135236"/>
                </a:xfrm>
              </p:grpSpPr>
              <p:sp>
                <p:nvSpPr>
                  <p:cNvPr id="43" name="@显眼包PPT15-2"/>
                  <p:cNvSpPr/>
                  <p:nvPr/>
                </p:nvSpPr>
                <p:spPr>
                  <a:xfrm>
                    <a:off x="1216805" y="3943756"/>
                    <a:ext cx="471792" cy="61487"/>
                  </a:xfrm>
                  <a:prstGeom prst="hexagon">
                    <a:avLst>
                      <a:gd name="adj" fmla="val 113646"/>
                      <a:gd name="vf" fmla="val 115470"/>
                    </a:avLst>
                  </a:prstGeom>
                  <a:gradFill flip="none" rotWithShape="1">
                    <a:gsLst>
                      <a:gs pos="12000">
                        <a:schemeClr val="accent1">
                          <a:lumMod val="60000"/>
                          <a:lumOff val="40000"/>
                          <a:alpha val="27000"/>
                        </a:schemeClr>
                      </a:gs>
                      <a:gs pos="94000">
                        <a:schemeClr val="accent1">
                          <a:lumMod val="60000"/>
                          <a:lumOff val="40000"/>
                          <a:alpha val="0"/>
                        </a:schemeClr>
                      </a:gs>
                    </a:gsLst>
                    <a:lin ang="162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4" name="@显眼包PPT3-3"/>
                  <p:cNvSpPr/>
                  <p:nvPr/>
                </p:nvSpPr>
                <p:spPr>
                  <a:xfrm>
                    <a:off x="1160606" y="3870007"/>
                    <a:ext cx="584190" cy="93301"/>
                  </a:xfrm>
                  <a:prstGeom prst="hexagon">
                    <a:avLst>
                      <a:gd name="adj" fmla="val 113646"/>
                      <a:gd name="vf" fmla="val 115470"/>
                    </a:avLst>
                  </a:prstGeom>
                  <a:gradFill flip="none" rotWithShape="1">
                    <a:gsLst>
                      <a:gs pos="12000">
                        <a:schemeClr val="accent1">
                          <a:lumMod val="60000"/>
                          <a:lumOff val="40000"/>
                          <a:alpha val="50000"/>
                        </a:schemeClr>
                      </a:gs>
                      <a:gs pos="94000">
                        <a:schemeClr val="accent1">
                          <a:lumMod val="60000"/>
                          <a:lumOff val="40000"/>
                          <a:alpha val="0"/>
                        </a:schemeClr>
                      </a:gs>
                    </a:gsLst>
                    <a:lin ang="16200000" scaled="1"/>
                    <a:tileRect/>
                  </a:gradFill>
                  <a:ln w="12700">
                    <a:gradFill>
                      <a:gsLst>
                        <a:gs pos="7000">
                          <a:schemeClr val="accent1">
                            <a:lumMod val="60000"/>
                            <a:lumOff val="40000"/>
                            <a:alpha val="0"/>
                          </a:schemeClr>
                        </a:gs>
                        <a:gs pos="88000">
                          <a:schemeClr val="accent1">
                            <a:lumMod val="60000"/>
                            <a:lumOff val="40000"/>
                          </a:schemeClr>
                        </a:gs>
                      </a:gsLst>
                      <a:lin ang="5400000" scaled="1"/>
                    </a:gradFill>
                  </a:ln>
                  <a:effectLst>
                    <a:innerShdw blurRad="114300">
                      <a:schemeClr val="accent1">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46" name="组合 45"/>
                <p:cNvGrpSpPr/>
                <p:nvPr/>
              </p:nvGrpSpPr>
              <p:grpSpPr>
                <a:xfrm>
                  <a:off x="1878900" y="5922627"/>
                  <a:ext cx="595930" cy="197490"/>
                  <a:chOff x="1184081" y="3694733"/>
                  <a:chExt cx="544509" cy="175270"/>
                </a:xfrm>
              </p:grpSpPr>
              <p:grpSp>
                <p:nvGrpSpPr>
                  <p:cNvPr id="49" name="组合 48"/>
                  <p:cNvGrpSpPr/>
                  <p:nvPr/>
                </p:nvGrpSpPr>
                <p:grpSpPr>
                  <a:xfrm>
                    <a:off x="1682870" y="3694733"/>
                    <a:ext cx="45720" cy="175270"/>
                    <a:chOff x="1144352" y="3690146"/>
                    <a:chExt cx="55150" cy="175270"/>
                  </a:xfrm>
                </p:grpSpPr>
                <p:cxnSp>
                  <p:nvCxnSpPr>
                    <p:cNvPr id="50" name="@显眼包PPT3-4"/>
                    <p:cNvCxnSpPr/>
                    <p:nvPr/>
                  </p:nvCxnSpPr>
                  <p:spPr>
                    <a:xfrm flipV="1">
                      <a:off x="1199502" y="3732792"/>
                      <a:ext cx="0" cy="132624"/>
                    </a:xfrm>
                    <a:prstGeom prst="line">
                      <a:avLst/>
                    </a:prstGeom>
                    <a:ln w="6350" cap="rnd">
                      <a:gradFill flip="none" rotWithShape="1">
                        <a:gsLst>
                          <a:gs pos="0">
                            <a:schemeClr val="accent1">
                              <a:lumMod val="60000"/>
                              <a:lumOff val="40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cxnSp>
                  <p:nvCxnSpPr>
                    <p:cNvPr id="51" name="@显眼包PPT3-5"/>
                    <p:cNvCxnSpPr/>
                    <p:nvPr/>
                  </p:nvCxnSpPr>
                  <p:spPr>
                    <a:xfrm flipV="1">
                      <a:off x="1144352" y="3690146"/>
                      <a:ext cx="0" cy="66312"/>
                    </a:xfrm>
                    <a:prstGeom prst="line">
                      <a:avLst/>
                    </a:prstGeom>
                    <a:ln w="6350" cap="rnd">
                      <a:gradFill flip="none" rotWithShape="1">
                        <a:gsLst>
                          <a:gs pos="0">
                            <a:schemeClr val="accent1">
                              <a:lumMod val="60000"/>
                              <a:lumOff val="40000"/>
                              <a:alpha val="54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grpSp>
              <p:grpSp>
                <p:nvGrpSpPr>
                  <p:cNvPr id="52" name="组合 51"/>
                  <p:cNvGrpSpPr/>
                  <p:nvPr/>
                </p:nvGrpSpPr>
                <p:grpSpPr>
                  <a:xfrm flipH="1">
                    <a:off x="1184081" y="3694733"/>
                    <a:ext cx="45720" cy="175270"/>
                    <a:chOff x="1144352" y="3690146"/>
                    <a:chExt cx="55150" cy="175270"/>
                  </a:xfrm>
                </p:grpSpPr>
                <p:cxnSp>
                  <p:nvCxnSpPr>
                    <p:cNvPr id="53" name="@显眼包PPT3-6"/>
                    <p:cNvCxnSpPr/>
                    <p:nvPr/>
                  </p:nvCxnSpPr>
                  <p:spPr>
                    <a:xfrm flipV="1">
                      <a:off x="1199502" y="3732792"/>
                      <a:ext cx="0" cy="132624"/>
                    </a:xfrm>
                    <a:prstGeom prst="line">
                      <a:avLst/>
                    </a:prstGeom>
                    <a:ln w="6350" cap="rnd">
                      <a:gradFill flip="none" rotWithShape="1">
                        <a:gsLst>
                          <a:gs pos="0">
                            <a:schemeClr val="accent1">
                              <a:lumMod val="60000"/>
                              <a:lumOff val="40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cxnSp>
                  <p:nvCxnSpPr>
                    <p:cNvPr id="54" name="@显眼包PPT3-7"/>
                    <p:cNvCxnSpPr/>
                    <p:nvPr/>
                  </p:nvCxnSpPr>
                  <p:spPr>
                    <a:xfrm flipV="1">
                      <a:off x="1144352" y="3690146"/>
                      <a:ext cx="0" cy="66312"/>
                    </a:xfrm>
                    <a:prstGeom prst="line">
                      <a:avLst/>
                    </a:prstGeom>
                    <a:ln w="6350" cap="rnd">
                      <a:gradFill flip="none" rotWithShape="1">
                        <a:gsLst>
                          <a:gs pos="0">
                            <a:schemeClr val="accent1">
                              <a:lumMod val="60000"/>
                              <a:lumOff val="40000"/>
                              <a:alpha val="54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grpSp>
            </p:grpSp>
            <p:grpSp>
              <p:nvGrpSpPr>
                <p:cNvPr id="55" name="组合 54"/>
                <p:cNvGrpSpPr/>
                <p:nvPr/>
              </p:nvGrpSpPr>
              <p:grpSpPr>
                <a:xfrm>
                  <a:off x="1935420" y="6154572"/>
                  <a:ext cx="482891" cy="28956"/>
                  <a:chOff x="1379689" y="4245602"/>
                  <a:chExt cx="482891" cy="28956"/>
                </a:xfrm>
              </p:grpSpPr>
              <p:sp>
                <p:nvSpPr>
                  <p:cNvPr id="57" name="@显眼包PPT3-8"/>
                  <p:cNvSpPr/>
                  <p:nvPr/>
                </p:nvSpPr>
                <p:spPr>
                  <a:xfrm>
                    <a:off x="1379689" y="4245602"/>
                    <a:ext cx="163666" cy="28956"/>
                  </a:xfrm>
                  <a:custGeom>
                    <a:avLst/>
                    <a:gdLst>
                      <a:gd name="connsiteX0" fmla="*/ 0 w 534073"/>
                      <a:gd name="connsiteY0" fmla="*/ 39973 h 79945"/>
                      <a:gd name="connsiteX1" fmla="*/ 90854 w 534073"/>
                      <a:gd name="connsiteY1" fmla="*/ 0 h 79945"/>
                      <a:gd name="connsiteX2" fmla="*/ 443219 w 534073"/>
                      <a:gd name="connsiteY2" fmla="*/ 0 h 79945"/>
                      <a:gd name="connsiteX3" fmla="*/ 534073 w 534073"/>
                      <a:gd name="connsiteY3" fmla="*/ 39973 h 79945"/>
                      <a:gd name="connsiteX4" fmla="*/ 443219 w 534073"/>
                      <a:gd name="connsiteY4" fmla="*/ 79945 h 79945"/>
                      <a:gd name="connsiteX5" fmla="*/ 90854 w 534073"/>
                      <a:gd name="connsiteY5" fmla="*/ 79945 h 79945"/>
                      <a:gd name="connsiteX6" fmla="*/ 0 w 534073"/>
                      <a:gd name="connsiteY6" fmla="*/ 39973 h 79945"/>
                      <a:gd name="connsiteX0-1" fmla="*/ 443219 w 534659"/>
                      <a:gd name="connsiteY0-2" fmla="*/ 79945 h 171385"/>
                      <a:gd name="connsiteX1-3" fmla="*/ 90854 w 534659"/>
                      <a:gd name="connsiteY1-4" fmla="*/ 79945 h 171385"/>
                      <a:gd name="connsiteX2-5" fmla="*/ 0 w 534659"/>
                      <a:gd name="connsiteY2-6" fmla="*/ 39973 h 171385"/>
                      <a:gd name="connsiteX3-7" fmla="*/ 90854 w 534659"/>
                      <a:gd name="connsiteY3-8" fmla="*/ 0 h 171385"/>
                      <a:gd name="connsiteX4-9" fmla="*/ 443219 w 534659"/>
                      <a:gd name="connsiteY4-10" fmla="*/ 0 h 171385"/>
                      <a:gd name="connsiteX5-11" fmla="*/ 534073 w 534659"/>
                      <a:gd name="connsiteY5-12" fmla="*/ 39973 h 171385"/>
                      <a:gd name="connsiteX6-13" fmla="*/ 534659 w 534659"/>
                      <a:gd name="connsiteY6-14" fmla="*/ 171385 h 171385"/>
                      <a:gd name="connsiteX0-15" fmla="*/ 443219 w 534659"/>
                      <a:gd name="connsiteY0-16" fmla="*/ 79945 h 171385"/>
                      <a:gd name="connsiteX1-17" fmla="*/ 90854 w 534659"/>
                      <a:gd name="connsiteY1-18" fmla="*/ 79945 h 171385"/>
                      <a:gd name="connsiteX2-19" fmla="*/ 0 w 534659"/>
                      <a:gd name="connsiteY2-20" fmla="*/ 39973 h 171385"/>
                      <a:gd name="connsiteX3-21" fmla="*/ 90854 w 534659"/>
                      <a:gd name="connsiteY3-22" fmla="*/ 0 h 171385"/>
                      <a:gd name="connsiteX4-23" fmla="*/ 443219 w 534659"/>
                      <a:gd name="connsiteY4-24" fmla="*/ 0 h 171385"/>
                      <a:gd name="connsiteX5-25" fmla="*/ 534659 w 534659"/>
                      <a:gd name="connsiteY5-26" fmla="*/ 171385 h 171385"/>
                      <a:gd name="connsiteX0-27" fmla="*/ 443219 w 534659"/>
                      <a:gd name="connsiteY0-28" fmla="*/ 79945 h 171385"/>
                      <a:gd name="connsiteX1-29" fmla="*/ 90854 w 534659"/>
                      <a:gd name="connsiteY1-30" fmla="*/ 79945 h 171385"/>
                      <a:gd name="connsiteX2-31" fmla="*/ 0 w 534659"/>
                      <a:gd name="connsiteY2-32" fmla="*/ 39973 h 171385"/>
                      <a:gd name="connsiteX3-33" fmla="*/ 90854 w 534659"/>
                      <a:gd name="connsiteY3-34" fmla="*/ 0 h 171385"/>
                      <a:gd name="connsiteX4-35" fmla="*/ 534659 w 534659"/>
                      <a:gd name="connsiteY4-36" fmla="*/ 171385 h 171385"/>
                      <a:gd name="connsiteX0-37" fmla="*/ 443219 w 534659"/>
                      <a:gd name="connsiteY0-38" fmla="*/ 39972 h 131412"/>
                      <a:gd name="connsiteX1-39" fmla="*/ 90854 w 534659"/>
                      <a:gd name="connsiteY1-40" fmla="*/ 39972 h 131412"/>
                      <a:gd name="connsiteX2-41" fmla="*/ 0 w 534659"/>
                      <a:gd name="connsiteY2-42" fmla="*/ 0 h 131412"/>
                      <a:gd name="connsiteX3-43" fmla="*/ 534659 w 534659"/>
                      <a:gd name="connsiteY3-44" fmla="*/ 131412 h 131412"/>
                      <a:gd name="connsiteX0-45" fmla="*/ 443219 w 443219"/>
                      <a:gd name="connsiteY0-46" fmla="*/ 39972 h 39972"/>
                      <a:gd name="connsiteX1-47" fmla="*/ 90854 w 443219"/>
                      <a:gd name="connsiteY1-48" fmla="*/ 39972 h 39972"/>
                      <a:gd name="connsiteX2-49" fmla="*/ 0 w 443219"/>
                      <a:gd name="connsiteY2-50" fmla="*/ 0 h 39972"/>
                      <a:gd name="connsiteX0-51" fmla="*/ 196717 w 196717"/>
                      <a:gd name="connsiteY0-52" fmla="*/ 41350 h 41350"/>
                      <a:gd name="connsiteX1-53" fmla="*/ 90854 w 196717"/>
                      <a:gd name="connsiteY1-54" fmla="*/ 39972 h 41350"/>
                      <a:gd name="connsiteX2-55" fmla="*/ 0 w 196717"/>
                      <a:gd name="connsiteY2-56" fmla="*/ 0 h 41350"/>
                      <a:gd name="connsiteX0-57" fmla="*/ 163666 w 163666"/>
                      <a:gd name="connsiteY0-58" fmla="*/ 28956 h 28956"/>
                      <a:gd name="connsiteX1-59" fmla="*/ 57803 w 163666"/>
                      <a:gd name="connsiteY1-60" fmla="*/ 27578 h 28956"/>
                      <a:gd name="connsiteX2-61" fmla="*/ 0 w 163666"/>
                      <a:gd name="connsiteY2-62" fmla="*/ 0 h 28956"/>
                    </a:gdLst>
                    <a:ahLst/>
                    <a:cxnLst>
                      <a:cxn ang="0">
                        <a:pos x="connsiteX0-1" y="connsiteY0-2"/>
                      </a:cxn>
                      <a:cxn ang="0">
                        <a:pos x="connsiteX1-3" y="connsiteY1-4"/>
                      </a:cxn>
                      <a:cxn ang="0">
                        <a:pos x="connsiteX2-5" y="connsiteY2-6"/>
                      </a:cxn>
                    </a:cxnLst>
                    <a:rect l="l" t="t" r="r" b="b"/>
                    <a:pathLst>
                      <a:path w="163666" h="28956">
                        <a:moveTo>
                          <a:pt x="163666" y="28956"/>
                        </a:moveTo>
                        <a:lnTo>
                          <a:pt x="57803" y="27578"/>
                        </a:lnTo>
                        <a:lnTo>
                          <a:pt x="0" y="0"/>
                        </a:lnTo>
                      </a:path>
                    </a:pathLst>
                  </a:custGeom>
                  <a:noFill/>
                  <a:ln w="317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8" name="@显眼包PPT3-9"/>
                  <p:cNvSpPr/>
                  <p:nvPr/>
                </p:nvSpPr>
                <p:spPr>
                  <a:xfrm flipH="1">
                    <a:off x="1698914" y="4245602"/>
                    <a:ext cx="163666" cy="28956"/>
                  </a:xfrm>
                  <a:custGeom>
                    <a:avLst/>
                    <a:gdLst>
                      <a:gd name="connsiteX0" fmla="*/ 0 w 534073"/>
                      <a:gd name="connsiteY0" fmla="*/ 39973 h 79945"/>
                      <a:gd name="connsiteX1" fmla="*/ 90854 w 534073"/>
                      <a:gd name="connsiteY1" fmla="*/ 0 h 79945"/>
                      <a:gd name="connsiteX2" fmla="*/ 443219 w 534073"/>
                      <a:gd name="connsiteY2" fmla="*/ 0 h 79945"/>
                      <a:gd name="connsiteX3" fmla="*/ 534073 w 534073"/>
                      <a:gd name="connsiteY3" fmla="*/ 39973 h 79945"/>
                      <a:gd name="connsiteX4" fmla="*/ 443219 w 534073"/>
                      <a:gd name="connsiteY4" fmla="*/ 79945 h 79945"/>
                      <a:gd name="connsiteX5" fmla="*/ 90854 w 534073"/>
                      <a:gd name="connsiteY5" fmla="*/ 79945 h 79945"/>
                      <a:gd name="connsiteX6" fmla="*/ 0 w 534073"/>
                      <a:gd name="connsiteY6" fmla="*/ 39973 h 79945"/>
                      <a:gd name="connsiteX0-1" fmla="*/ 443219 w 534659"/>
                      <a:gd name="connsiteY0-2" fmla="*/ 79945 h 171385"/>
                      <a:gd name="connsiteX1-3" fmla="*/ 90854 w 534659"/>
                      <a:gd name="connsiteY1-4" fmla="*/ 79945 h 171385"/>
                      <a:gd name="connsiteX2-5" fmla="*/ 0 w 534659"/>
                      <a:gd name="connsiteY2-6" fmla="*/ 39973 h 171385"/>
                      <a:gd name="connsiteX3-7" fmla="*/ 90854 w 534659"/>
                      <a:gd name="connsiteY3-8" fmla="*/ 0 h 171385"/>
                      <a:gd name="connsiteX4-9" fmla="*/ 443219 w 534659"/>
                      <a:gd name="connsiteY4-10" fmla="*/ 0 h 171385"/>
                      <a:gd name="connsiteX5-11" fmla="*/ 534073 w 534659"/>
                      <a:gd name="connsiteY5-12" fmla="*/ 39973 h 171385"/>
                      <a:gd name="connsiteX6-13" fmla="*/ 534659 w 534659"/>
                      <a:gd name="connsiteY6-14" fmla="*/ 171385 h 171385"/>
                      <a:gd name="connsiteX0-15" fmla="*/ 443219 w 534659"/>
                      <a:gd name="connsiteY0-16" fmla="*/ 79945 h 171385"/>
                      <a:gd name="connsiteX1-17" fmla="*/ 90854 w 534659"/>
                      <a:gd name="connsiteY1-18" fmla="*/ 79945 h 171385"/>
                      <a:gd name="connsiteX2-19" fmla="*/ 0 w 534659"/>
                      <a:gd name="connsiteY2-20" fmla="*/ 39973 h 171385"/>
                      <a:gd name="connsiteX3-21" fmla="*/ 90854 w 534659"/>
                      <a:gd name="connsiteY3-22" fmla="*/ 0 h 171385"/>
                      <a:gd name="connsiteX4-23" fmla="*/ 443219 w 534659"/>
                      <a:gd name="connsiteY4-24" fmla="*/ 0 h 171385"/>
                      <a:gd name="connsiteX5-25" fmla="*/ 534659 w 534659"/>
                      <a:gd name="connsiteY5-26" fmla="*/ 171385 h 171385"/>
                      <a:gd name="connsiteX0-27" fmla="*/ 443219 w 534659"/>
                      <a:gd name="connsiteY0-28" fmla="*/ 79945 h 171385"/>
                      <a:gd name="connsiteX1-29" fmla="*/ 90854 w 534659"/>
                      <a:gd name="connsiteY1-30" fmla="*/ 79945 h 171385"/>
                      <a:gd name="connsiteX2-31" fmla="*/ 0 w 534659"/>
                      <a:gd name="connsiteY2-32" fmla="*/ 39973 h 171385"/>
                      <a:gd name="connsiteX3-33" fmla="*/ 90854 w 534659"/>
                      <a:gd name="connsiteY3-34" fmla="*/ 0 h 171385"/>
                      <a:gd name="connsiteX4-35" fmla="*/ 534659 w 534659"/>
                      <a:gd name="connsiteY4-36" fmla="*/ 171385 h 171385"/>
                      <a:gd name="connsiteX0-37" fmla="*/ 443219 w 534659"/>
                      <a:gd name="connsiteY0-38" fmla="*/ 39972 h 131412"/>
                      <a:gd name="connsiteX1-39" fmla="*/ 90854 w 534659"/>
                      <a:gd name="connsiteY1-40" fmla="*/ 39972 h 131412"/>
                      <a:gd name="connsiteX2-41" fmla="*/ 0 w 534659"/>
                      <a:gd name="connsiteY2-42" fmla="*/ 0 h 131412"/>
                      <a:gd name="connsiteX3-43" fmla="*/ 534659 w 534659"/>
                      <a:gd name="connsiteY3-44" fmla="*/ 131412 h 131412"/>
                      <a:gd name="connsiteX0-45" fmla="*/ 443219 w 443219"/>
                      <a:gd name="connsiteY0-46" fmla="*/ 39972 h 39972"/>
                      <a:gd name="connsiteX1-47" fmla="*/ 90854 w 443219"/>
                      <a:gd name="connsiteY1-48" fmla="*/ 39972 h 39972"/>
                      <a:gd name="connsiteX2-49" fmla="*/ 0 w 443219"/>
                      <a:gd name="connsiteY2-50" fmla="*/ 0 h 39972"/>
                      <a:gd name="connsiteX0-51" fmla="*/ 196717 w 196717"/>
                      <a:gd name="connsiteY0-52" fmla="*/ 41350 h 41350"/>
                      <a:gd name="connsiteX1-53" fmla="*/ 90854 w 196717"/>
                      <a:gd name="connsiteY1-54" fmla="*/ 39972 h 41350"/>
                      <a:gd name="connsiteX2-55" fmla="*/ 0 w 196717"/>
                      <a:gd name="connsiteY2-56" fmla="*/ 0 h 41350"/>
                      <a:gd name="connsiteX0-57" fmla="*/ 163666 w 163666"/>
                      <a:gd name="connsiteY0-58" fmla="*/ 28956 h 28956"/>
                      <a:gd name="connsiteX1-59" fmla="*/ 57803 w 163666"/>
                      <a:gd name="connsiteY1-60" fmla="*/ 27578 h 28956"/>
                      <a:gd name="connsiteX2-61" fmla="*/ 0 w 163666"/>
                      <a:gd name="connsiteY2-62" fmla="*/ 0 h 28956"/>
                    </a:gdLst>
                    <a:ahLst/>
                    <a:cxnLst>
                      <a:cxn ang="0">
                        <a:pos x="connsiteX0-1" y="connsiteY0-2"/>
                      </a:cxn>
                      <a:cxn ang="0">
                        <a:pos x="connsiteX1-3" y="connsiteY1-4"/>
                      </a:cxn>
                      <a:cxn ang="0">
                        <a:pos x="connsiteX2-5" y="connsiteY2-6"/>
                      </a:cxn>
                    </a:cxnLst>
                    <a:rect l="l" t="t" r="r" b="b"/>
                    <a:pathLst>
                      <a:path w="163666" h="28956">
                        <a:moveTo>
                          <a:pt x="163666" y="28956"/>
                        </a:moveTo>
                        <a:lnTo>
                          <a:pt x="57803" y="27578"/>
                        </a:lnTo>
                        <a:lnTo>
                          <a:pt x="0" y="0"/>
                        </a:lnTo>
                      </a:path>
                    </a:pathLst>
                  </a:custGeom>
                  <a:noFill/>
                  <a:ln w="317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grpSp>
        <p:sp>
          <p:nvSpPr>
            <p:cNvPr id="59" name="显眼包PPT13-1"/>
            <p:cNvSpPr/>
            <p:nvPr/>
          </p:nvSpPr>
          <p:spPr>
            <a:xfrm>
              <a:off x="12497" y="8529"/>
              <a:ext cx="354" cy="374"/>
            </a:xfrm>
            <a:custGeom>
              <a:avLst/>
              <a:gdLst>
                <a:gd name="connsiteX0" fmla="*/ 492945 w 987251"/>
                <a:gd name="connsiteY0" fmla="*/ 0 h 785016"/>
                <a:gd name="connsiteX1" fmla="*/ 886379 w 987251"/>
                <a:gd name="connsiteY1" fmla="*/ 358284 h 785016"/>
                <a:gd name="connsiteX2" fmla="*/ 651185 w 987251"/>
                <a:gd name="connsiteY2" fmla="*/ 286423 h 785016"/>
                <a:gd name="connsiteX3" fmla="*/ 655826 w 987251"/>
                <a:gd name="connsiteY3" fmla="*/ 301395 h 785016"/>
                <a:gd name="connsiteX4" fmla="*/ 715976 w 987251"/>
                <a:gd name="connsiteY4" fmla="*/ 434705 h 785016"/>
                <a:gd name="connsiteX5" fmla="*/ 975009 w 987251"/>
                <a:gd name="connsiteY5" fmla="*/ 775178 h 785016"/>
                <a:gd name="connsiteX6" fmla="*/ 987251 w 987251"/>
                <a:gd name="connsiteY6" fmla="*/ 785016 h 785016"/>
                <a:gd name="connsiteX7" fmla="*/ 493625 w 987251"/>
                <a:gd name="connsiteY7" fmla="*/ 683361 h 785016"/>
                <a:gd name="connsiteX8" fmla="*/ 0 w 987251"/>
                <a:gd name="connsiteY8" fmla="*/ 785016 h 785016"/>
                <a:gd name="connsiteX9" fmla="*/ 12241 w 987251"/>
                <a:gd name="connsiteY9" fmla="*/ 775177 h 785016"/>
                <a:gd name="connsiteX10" fmla="*/ 271276 w 987251"/>
                <a:gd name="connsiteY10" fmla="*/ 434704 h 785016"/>
                <a:gd name="connsiteX11" fmla="*/ 331426 w 987251"/>
                <a:gd name="connsiteY11" fmla="*/ 301394 h 785016"/>
                <a:gd name="connsiteX12" fmla="*/ 336208 w 987251"/>
                <a:gd name="connsiteY12" fmla="*/ 285964 h 785016"/>
                <a:gd name="connsiteX13" fmla="*/ 99511 w 987251"/>
                <a:gd name="connsiteY13" fmla="*/ 358284 h 785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7251" h="785016">
                  <a:moveTo>
                    <a:pt x="492945" y="0"/>
                  </a:moveTo>
                  <a:lnTo>
                    <a:pt x="886379" y="358284"/>
                  </a:lnTo>
                  <a:lnTo>
                    <a:pt x="651185" y="286423"/>
                  </a:lnTo>
                  <a:lnTo>
                    <a:pt x="655826" y="301395"/>
                  </a:lnTo>
                  <a:cubicBezTo>
                    <a:pt x="672513" y="345329"/>
                    <a:pt x="692548" y="389940"/>
                    <a:pt x="715976" y="434705"/>
                  </a:cubicBezTo>
                  <a:cubicBezTo>
                    <a:pt x="786260" y="569003"/>
                    <a:pt x="877099" y="685625"/>
                    <a:pt x="975009" y="775178"/>
                  </a:cubicBezTo>
                  <a:lnTo>
                    <a:pt x="987251" y="785016"/>
                  </a:lnTo>
                  <a:lnTo>
                    <a:pt x="493625" y="683361"/>
                  </a:lnTo>
                  <a:lnTo>
                    <a:pt x="0" y="785016"/>
                  </a:lnTo>
                  <a:lnTo>
                    <a:pt x="12241" y="775177"/>
                  </a:lnTo>
                  <a:cubicBezTo>
                    <a:pt x="110152" y="685624"/>
                    <a:pt x="200991" y="569002"/>
                    <a:pt x="271276" y="434704"/>
                  </a:cubicBezTo>
                  <a:cubicBezTo>
                    <a:pt x="294704" y="389939"/>
                    <a:pt x="314739" y="345328"/>
                    <a:pt x="331426" y="301394"/>
                  </a:cubicBezTo>
                  <a:lnTo>
                    <a:pt x="336208" y="285964"/>
                  </a:lnTo>
                  <a:lnTo>
                    <a:pt x="99511" y="358284"/>
                  </a:lnTo>
                  <a:close/>
                </a:path>
              </a:pathLst>
            </a:custGeom>
            <a:gradFill flip="none" rotWithShape="1">
              <a:gsLst>
                <a:gs pos="23000">
                  <a:schemeClr val="accent1">
                    <a:lumMod val="60000"/>
                    <a:lumOff val="40000"/>
                    <a:alpha val="0"/>
                  </a:schemeClr>
                </a:gs>
                <a:gs pos="100000">
                  <a:schemeClr val="accent1">
                    <a:lumMod val="60000"/>
                    <a:lumOff val="40000"/>
                  </a:schemeClr>
                </a:gs>
              </a:gsLst>
              <a:lin ang="16200000" scaled="0"/>
              <a:tileRect/>
            </a:gradFill>
            <a:ln w="15875">
              <a:noFill/>
              <a:round/>
            </a:ln>
            <a:effectLst/>
          </p:spPr>
          <p:txBody>
            <a:bodyPr vert="horz" wrap="square" lIns="91440" tIns="45720" rIns="91440" bIns="45720" numCol="1" anchor="t" anchorCtr="0" compatLnSpc="1"/>
            <a:lstStyle/>
            <a:p>
              <a:endParaRPr lang="zh-CN" altLang="en-US" dirty="0">
                <a:solidFill>
                  <a:schemeClr val="tx1"/>
                </a:solidFill>
                <a:cs typeface="微软雅黑" panose="020B0503020204020204" charset="-122"/>
              </a:endParaRPr>
            </a:p>
          </p:txBody>
        </p:sp>
      </p:grpSp>
      <p:grpSp>
        <p:nvGrpSpPr>
          <p:cNvPr id="61" name="组合 60"/>
          <p:cNvGrpSpPr/>
          <p:nvPr/>
        </p:nvGrpSpPr>
        <p:grpSpPr>
          <a:xfrm>
            <a:off x="10641330" y="5455920"/>
            <a:ext cx="690245" cy="862330"/>
            <a:chOff x="12144" y="8529"/>
            <a:chExt cx="1087" cy="1358"/>
          </a:xfrm>
        </p:grpSpPr>
        <p:grpSp>
          <p:nvGrpSpPr>
            <p:cNvPr id="62" name="组合 61"/>
            <p:cNvGrpSpPr/>
            <p:nvPr/>
          </p:nvGrpSpPr>
          <p:grpSpPr>
            <a:xfrm rot="0">
              <a:off x="12144" y="8881"/>
              <a:ext cx="1087" cy="1006"/>
              <a:chOff x="1750980" y="5624548"/>
              <a:chExt cx="690236" cy="639134"/>
            </a:xfrm>
          </p:grpSpPr>
          <p:sp>
            <p:nvSpPr>
              <p:cNvPr id="64" name="@显眼包PPT15-1"/>
              <p:cNvSpPr txBox="1"/>
              <p:nvPr/>
            </p:nvSpPr>
            <p:spPr>
              <a:xfrm>
                <a:off x="1918301" y="5624548"/>
                <a:ext cx="355595" cy="430748"/>
              </a:xfrm>
              <a:prstGeom prst="rect">
                <a:avLst/>
              </a:prstGeom>
              <a:noFill/>
            </p:spPr>
            <p:txBody>
              <a:bodyPr wrap="none" lIns="0" tIns="0" rIns="0" bIns="0" rtlCol="0">
                <a:spAutoFit/>
                <a:scene3d>
                  <a:camera prst="orthographicFront"/>
                  <a:lightRig rig="threePt" dir="t"/>
                </a:scene3d>
              </a:bodyPr>
              <a:lstStyle/>
              <a:p>
                <a:pPr marL="0" marR="0" lvl="0" indent="0" algn="ctr" defTabSz="914400" rtl="0" eaLnBrk="1" fontAlgn="auto" latinLnBrk="0" hangingPunct="1">
                  <a:spcBef>
                    <a:spcPts val="0"/>
                  </a:spcBef>
                  <a:buClrTx/>
                  <a:buSzTx/>
                  <a:buFontTx/>
                  <a:buNone/>
                  <a:defRPr/>
                </a:pPr>
                <a:r>
                  <a:rPr 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技术</a:t>
                </a:r>
                <a:endParaRPr 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spcBef>
                    <a:spcPts val="0"/>
                  </a:spcBef>
                  <a:buClrTx/>
                  <a:buSzTx/>
                  <a:buFontTx/>
                  <a:buNone/>
                  <a:defRPr/>
                </a:pPr>
                <a:r>
                  <a:rPr 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提效</a:t>
                </a:r>
                <a:endParaRPr lang="zh-CN" sz="14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nvGrpSpPr>
              <p:cNvPr id="73" name="组合 72"/>
              <p:cNvGrpSpPr/>
              <p:nvPr/>
            </p:nvGrpSpPr>
            <p:grpSpPr>
              <a:xfrm>
                <a:off x="1750980" y="5816937"/>
                <a:ext cx="690236" cy="446745"/>
                <a:chOff x="1846211" y="5922627"/>
                <a:chExt cx="661308" cy="344058"/>
              </a:xfrm>
            </p:grpSpPr>
            <p:grpSp>
              <p:nvGrpSpPr>
                <p:cNvPr id="75" name="组合 74"/>
                <p:cNvGrpSpPr/>
                <p:nvPr/>
              </p:nvGrpSpPr>
              <p:grpSpPr>
                <a:xfrm>
                  <a:off x="1846211" y="6090853"/>
                  <a:ext cx="661308" cy="175832"/>
                  <a:chOff x="1160606" y="3870007"/>
                  <a:chExt cx="584190" cy="135236"/>
                </a:xfrm>
              </p:grpSpPr>
              <p:sp>
                <p:nvSpPr>
                  <p:cNvPr id="80" name="@显眼包PPT15-2"/>
                  <p:cNvSpPr/>
                  <p:nvPr/>
                </p:nvSpPr>
                <p:spPr>
                  <a:xfrm>
                    <a:off x="1216805" y="3943756"/>
                    <a:ext cx="471792" cy="61487"/>
                  </a:xfrm>
                  <a:prstGeom prst="hexagon">
                    <a:avLst>
                      <a:gd name="adj" fmla="val 113646"/>
                      <a:gd name="vf" fmla="val 115470"/>
                    </a:avLst>
                  </a:prstGeom>
                  <a:gradFill flip="none" rotWithShape="1">
                    <a:gsLst>
                      <a:gs pos="12000">
                        <a:schemeClr val="accent1">
                          <a:lumMod val="60000"/>
                          <a:lumOff val="40000"/>
                          <a:alpha val="27000"/>
                        </a:schemeClr>
                      </a:gs>
                      <a:gs pos="94000">
                        <a:schemeClr val="accent1">
                          <a:lumMod val="60000"/>
                          <a:lumOff val="40000"/>
                          <a:alpha val="0"/>
                        </a:schemeClr>
                      </a:gs>
                    </a:gsLst>
                    <a:lin ang="16200000" scaled="1"/>
                    <a:tileRect/>
                  </a:gra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3" name="@显眼包PPT3-3"/>
                  <p:cNvSpPr/>
                  <p:nvPr/>
                </p:nvSpPr>
                <p:spPr>
                  <a:xfrm>
                    <a:off x="1160606" y="3870007"/>
                    <a:ext cx="584190" cy="93301"/>
                  </a:xfrm>
                  <a:prstGeom prst="hexagon">
                    <a:avLst>
                      <a:gd name="adj" fmla="val 113646"/>
                      <a:gd name="vf" fmla="val 115470"/>
                    </a:avLst>
                  </a:prstGeom>
                  <a:gradFill flip="none" rotWithShape="1">
                    <a:gsLst>
                      <a:gs pos="12000">
                        <a:schemeClr val="accent1">
                          <a:lumMod val="60000"/>
                          <a:lumOff val="40000"/>
                          <a:alpha val="50000"/>
                        </a:schemeClr>
                      </a:gs>
                      <a:gs pos="94000">
                        <a:schemeClr val="accent1">
                          <a:lumMod val="60000"/>
                          <a:lumOff val="40000"/>
                          <a:alpha val="0"/>
                        </a:schemeClr>
                      </a:gs>
                    </a:gsLst>
                    <a:lin ang="16200000" scaled="1"/>
                    <a:tileRect/>
                  </a:gradFill>
                  <a:ln w="12700">
                    <a:gradFill>
                      <a:gsLst>
                        <a:gs pos="7000">
                          <a:schemeClr val="accent1">
                            <a:lumMod val="60000"/>
                            <a:lumOff val="40000"/>
                            <a:alpha val="0"/>
                          </a:schemeClr>
                        </a:gs>
                        <a:gs pos="88000">
                          <a:schemeClr val="accent1">
                            <a:lumMod val="60000"/>
                            <a:lumOff val="40000"/>
                          </a:schemeClr>
                        </a:gs>
                      </a:gsLst>
                      <a:lin ang="5400000" scaled="1"/>
                    </a:gradFill>
                  </a:ln>
                  <a:effectLst>
                    <a:innerShdw blurRad="114300">
                      <a:schemeClr val="accent1">
                        <a:lumMod val="60000"/>
                        <a:lumOff val="40000"/>
                      </a:schemeClr>
                    </a:inn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85" name="组合 84"/>
                <p:cNvGrpSpPr/>
                <p:nvPr/>
              </p:nvGrpSpPr>
              <p:grpSpPr>
                <a:xfrm>
                  <a:off x="1878900" y="5922627"/>
                  <a:ext cx="595930" cy="197490"/>
                  <a:chOff x="1184081" y="3694733"/>
                  <a:chExt cx="544509" cy="175270"/>
                </a:xfrm>
              </p:grpSpPr>
              <p:grpSp>
                <p:nvGrpSpPr>
                  <p:cNvPr id="86" name="组合 85"/>
                  <p:cNvGrpSpPr/>
                  <p:nvPr/>
                </p:nvGrpSpPr>
                <p:grpSpPr>
                  <a:xfrm>
                    <a:off x="1682870" y="3694733"/>
                    <a:ext cx="45720" cy="175270"/>
                    <a:chOff x="1144352" y="3690146"/>
                    <a:chExt cx="55150" cy="175270"/>
                  </a:xfrm>
                </p:grpSpPr>
                <p:cxnSp>
                  <p:nvCxnSpPr>
                    <p:cNvPr id="87" name="@显眼包PPT3-4"/>
                    <p:cNvCxnSpPr/>
                    <p:nvPr/>
                  </p:nvCxnSpPr>
                  <p:spPr>
                    <a:xfrm flipV="1">
                      <a:off x="1199502" y="3732792"/>
                      <a:ext cx="0" cy="132624"/>
                    </a:xfrm>
                    <a:prstGeom prst="line">
                      <a:avLst/>
                    </a:prstGeom>
                    <a:ln w="6350" cap="rnd">
                      <a:gradFill flip="none" rotWithShape="1">
                        <a:gsLst>
                          <a:gs pos="0">
                            <a:schemeClr val="accent1">
                              <a:lumMod val="60000"/>
                              <a:lumOff val="40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cxnSp>
                  <p:nvCxnSpPr>
                    <p:cNvPr id="88" name="@显眼包PPT3-5"/>
                    <p:cNvCxnSpPr/>
                    <p:nvPr/>
                  </p:nvCxnSpPr>
                  <p:spPr>
                    <a:xfrm flipV="1">
                      <a:off x="1144352" y="3690146"/>
                      <a:ext cx="0" cy="66312"/>
                    </a:xfrm>
                    <a:prstGeom prst="line">
                      <a:avLst/>
                    </a:prstGeom>
                    <a:ln w="6350" cap="rnd">
                      <a:gradFill flip="none" rotWithShape="1">
                        <a:gsLst>
                          <a:gs pos="0">
                            <a:schemeClr val="accent1">
                              <a:lumMod val="60000"/>
                              <a:lumOff val="40000"/>
                              <a:alpha val="54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grpSp>
              <p:grpSp>
                <p:nvGrpSpPr>
                  <p:cNvPr id="89" name="组合 88"/>
                  <p:cNvGrpSpPr/>
                  <p:nvPr/>
                </p:nvGrpSpPr>
                <p:grpSpPr>
                  <a:xfrm flipH="1">
                    <a:off x="1184081" y="3694733"/>
                    <a:ext cx="45720" cy="175270"/>
                    <a:chOff x="1144352" y="3690146"/>
                    <a:chExt cx="55150" cy="175270"/>
                  </a:xfrm>
                </p:grpSpPr>
                <p:cxnSp>
                  <p:nvCxnSpPr>
                    <p:cNvPr id="90" name="@显眼包PPT3-6"/>
                    <p:cNvCxnSpPr/>
                    <p:nvPr/>
                  </p:nvCxnSpPr>
                  <p:spPr>
                    <a:xfrm flipV="1">
                      <a:off x="1199502" y="3732792"/>
                      <a:ext cx="0" cy="132624"/>
                    </a:xfrm>
                    <a:prstGeom prst="line">
                      <a:avLst/>
                    </a:prstGeom>
                    <a:ln w="6350" cap="rnd">
                      <a:gradFill flip="none" rotWithShape="1">
                        <a:gsLst>
                          <a:gs pos="0">
                            <a:schemeClr val="accent1">
                              <a:lumMod val="60000"/>
                              <a:lumOff val="40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cxnSp>
                  <p:nvCxnSpPr>
                    <p:cNvPr id="91" name="@显眼包PPT3-7"/>
                    <p:cNvCxnSpPr/>
                    <p:nvPr/>
                  </p:nvCxnSpPr>
                  <p:spPr>
                    <a:xfrm flipV="1">
                      <a:off x="1144352" y="3690146"/>
                      <a:ext cx="0" cy="66312"/>
                    </a:xfrm>
                    <a:prstGeom prst="line">
                      <a:avLst/>
                    </a:prstGeom>
                    <a:ln w="6350" cap="rnd">
                      <a:gradFill flip="none" rotWithShape="1">
                        <a:gsLst>
                          <a:gs pos="0">
                            <a:schemeClr val="accent1">
                              <a:lumMod val="60000"/>
                              <a:lumOff val="40000"/>
                              <a:alpha val="54000"/>
                            </a:schemeClr>
                          </a:gs>
                          <a:gs pos="100000">
                            <a:schemeClr val="accent1">
                              <a:lumMod val="60000"/>
                              <a:lumOff val="40000"/>
                              <a:alpha val="0"/>
                            </a:schemeClr>
                          </a:gs>
                        </a:gsLst>
                        <a:lin ang="16200000" scaled="1"/>
                        <a:tileRect/>
                      </a:gradFill>
                      <a:round/>
                    </a:ln>
                  </p:spPr>
                  <p:style>
                    <a:lnRef idx="1">
                      <a:schemeClr val="accent1"/>
                    </a:lnRef>
                    <a:fillRef idx="0">
                      <a:schemeClr val="accent1"/>
                    </a:fillRef>
                    <a:effectRef idx="0">
                      <a:schemeClr val="accent1"/>
                    </a:effectRef>
                    <a:fontRef idx="minor">
                      <a:schemeClr val="tx1"/>
                    </a:fontRef>
                  </p:style>
                </p:cxnSp>
              </p:grpSp>
            </p:grpSp>
            <p:grpSp>
              <p:nvGrpSpPr>
                <p:cNvPr id="92" name="组合 91"/>
                <p:cNvGrpSpPr/>
                <p:nvPr/>
              </p:nvGrpSpPr>
              <p:grpSpPr>
                <a:xfrm>
                  <a:off x="1935420" y="6154572"/>
                  <a:ext cx="482891" cy="28956"/>
                  <a:chOff x="1379689" y="4245602"/>
                  <a:chExt cx="482891" cy="28956"/>
                </a:xfrm>
              </p:grpSpPr>
              <p:sp>
                <p:nvSpPr>
                  <p:cNvPr id="93" name="@显眼包PPT3-8"/>
                  <p:cNvSpPr/>
                  <p:nvPr/>
                </p:nvSpPr>
                <p:spPr>
                  <a:xfrm>
                    <a:off x="1379689" y="4245602"/>
                    <a:ext cx="163666" cy="28956"/>
                  </a:xfrm>
                  <a:custGeom>
                    <a:avLst/>
                    <a:gdLst>
                      <a:gd name="connsiteX0" fmla="*/ 0 w 534073"/>
                      <a:gd name="connsiteY0" fmla="*/ 39973 h 79945"/>
                      <a:gd name="connsiteX1" fmla="*/ 90854 w 534073"/>
                      <a:gd name="connsiteY1" fmla="*/ 0 h 79945"/>
                      <a:gd name="connsiteX2" fmla="*/ 443219 w 534073"/>
                      <a:gd name="connsiteY2" fmla="*/ 0 h 79945"/>
                      <a:gd name="connsiteX3" fmla="*/ 534073 w 534073"/>
                      <a:gd name="connsiteY3" fmla="*/ 39973 h 79945"/>
                      <a:gd name="connsiteX4" fmla="*/ 443219 w 534073"/>
                      <a:gd name="connsiteY4" fmla="*/ 79945 h 79945"/>
                      <a:gd name="connsiteX5" fmla="*/ 90854 w 534073"/>
                      <a:gd name="connsiteY5" fmla="*/ 79945 h 79945"/>
                      <a:gd name="connsiteX6" fmla="*/ 0 w 534073"/>
                      <a:gd name="connsiteY6" fmla="*/ 39973 h 79945"/>
                      <a:gd name="connsiteX0-1" fmla="*/ 443219 w 534659"/>
                      <a:gd name="connsiteY0-2" fmla="*/ 79945 h 171385"/>
                      <a:gd name="connsiteX1-3" fmla="*/ 90854 w 534659"/>
                      <a:gd name="connsiteY1-4" fmla="*/ 79945 h 171385"/>
                      <a:gd name="connsiteX2-5" fmla="*/ 0 w 534659"/>
                      <a:gd name="connsiteY2-6" fmla="*/ 39973 h 171385"/>
                      <a:gd name="connsiteX3-7" fmla="*/ 90854 w 534659"/>
                      <a:gd name="connsiteY3-8" fmla="*/ 0 h 171385"/>
                      <a:gd name="connsiteX4-9" fmla="*/ 443219 w 534659"/>
                      <a:gd name="connsiteY4-10" fmla="*/ 0 h 171385"/>
                      <a:gd name="connsiteX5-11" fmla="*/ 534073 w 534659"/>
                      <a:gd name="connsiteY5-12" fmla="*/ 39973 h 171385"/>
                      <a:gd name="connsiteX6-13" fmla="*/ 534659 w 534659"/>
                      <a:gd name="connsiteY6-14" fmla="*/ 171385 h 171385"/>
                      <a:gd name="connsiteX0-15" fmla="*/ 443219 w 534659"/>
                      <a:gd name="connsiteY0-16" fmla="*/ 79945 h 171385"/>
                      <a:gd name="connsiteX1-17" fmla="*/ 90854 w 534659"/>
                      <a:gd name="connsiteY1-18" fmla="*/ 79945 h 171385"/>
                      <a:gd name="connsiteX2-19" fmla="*/ 0 w 534659"/>
                      <a:gd name="connsiteY2-20" fmla="*/ 39973 h 171385"/>
                      <a:gd name="connsiteX3-21" fmla="*/ 90854 w 534659"/>
                      <a:gd name="connsiteY3-22" fmla="*/ 0 h 171385"/>
                      <a:gd name="connsiteX4-23" fmla="*/ 443219 w 534659"/>
                      <a:gd name="connsiteY4-24" fmla="*/ 0 h 171385"/>
                      <a:gd name="connsiteX5-25" fmla="*/ 534659 w 534659"/>
                      <a:gd name="connsiteY5-26" fmla="*/ 171385 h 171385"/>
                      <a:gd name="connsiteX0-27" fmla="*/ 443219 w 534659"/>
                      <a:gd name="connsiteY0-28" fmla="*/ 79945 h 171385"/>
                      <a:gd name="connsiteX1-29" fmla="*/ 90854 w 534659"/>
                      <a:gd name="connsiteY1-30" fmla="*/ 79945 h 171385"/>
                      <a:gd name="connsiteX2-31" fmla="*/ 0 w 534659"/>
                      <a:gd name="connsiteY2-32" fmla="*/ 39973 h 171385"/>
                      <a:gd name="connsiteX3-33" fmla="*/ 90854 w 534659"/>
                      <a:gd name="connsiteY3-34" fmla="*/ 0 h 171385"/>
                      <a:gd name="connsiteX4-35" fmla="*/ 534659 w 534659"/>
                      <a:gd name="connsiteY4-36" fmla="*/ 171385 h 171385"/>
                      <a:gd name="connsiteX0-37" fmla="*/ 443219 w 534659"/>
                      <a:gd name="connsiteY0-38" fmla="*/ 39972 h 131412"/>
                      <a:gd name="connsiteX1-39" fmla="*/ 90854 w 534659"/>
                      <a:gd name="connsiteY1-40" fmla="*/ 39972 h 131412"/>
                      <a:gd name="connsiteX2-41" fmla="*/ 0 w 534659"/>
                      <a:gd name="connsiteY2-42" fmla="*/ 0 h 131412"/>
                      <a:gd name="connsiteX3-43" fmla="*/ 534659 w 534659"/>
                      <a:gd name="connsiteY3-44" fmla="*/ 131412 h 131412"/>
                      <a:gd name="connsiteX0-45" fmla="*/ 443219 w 443219"/>
                      <a:gd name="connsiteY0-46" fmla="*/ 39972 h 39972"/>
                      <a:gd name="connsiteX1-47" fmla="*/ 90854 w 443219"/>
                      <a:gd name="connsiteY1-48" fmla="*/ 39972 h 39972"/>
                      <a:gd name="connsiteX2-49" fmla="*/ 0 w 443219"/>
                      <a:gd name="connsiteY2-50" fmla="*/ 0 h 39972"/>
                      <a:gd name="connsiteX0-51" fmla="*/ 196717 w 196717"/>
                      <a:gd name="connsiteY0-52" fmla="*/ 41350 h 41350"/>
                      <a:gd name="connsiteX1-53" fmla="*/ 90854 w 196717"/>
                      <a:gd name="connsiteY1-54" fmla="*/ 39972 h 41350"/>
                      <a:gd name="connsiteX2-55" fmla="*/ 0 w 196717"/>
                      <a:gd name="connsiteY2-56" fmla="*/ 0 h 41350"/>
                      <a:gd name="connsiteX0-57" fmla="*/ 163666 w 163666"/>
                      <a:gd name="connsiteY0-58" fmla="*/ 28956 h 28956"/>
                      <a:gd name="connsiteX1-59" fmla="*/ 57803 w 163666"/>
                      <a:gd name="connsiteY1-60" fmla="*/ 27578 h 28956"/>
                      <a:gd name="connsiteX2-61" fmla="*/ 0 w 163666"/>
                      <a:gd name="connsiteY2-62" fmla="*/ 0 h 28956"/>
                    </a:gdLst>
                    <a:ahLst/>
                    <a:cxnLst>
                      <a:cxn ang="0">
                        <a:pos x="connsiteX0-1" y="connsiteY0-2"/>
                      </a:cxn>
                      <a:cxn ang="0">
                        <a:pos x="connsiteX1-3" y="connsiteY1-4"/>
                      </a:cxn>
                      <a:cxn ang="0">
                        <a:pos x="connsiteX2-5" y="connsiteY2-6"/>
                      </a:cxn>
                    </a:cxnLst>
                    <a:rect l="l" t="t" r="r" b="b"/>
                    <a:pathLst>
                      <a:path w="163666" h="28956">
                        <a:moveTo>
                          <a:pt x="163666" y="28956"/>
                        </a:moveTo>
                        <a:lnTo>
                          <a:pt x="57803" y="27578"/>
                        </a:lnTo>
                        <a:lnTo>
                          <a:pt x="0" y="0"/>
                        </a:lnTo>
                      </a:path>
                    </a:pathLst>
                  </a:custGeom>
                  <a:noFill/>
                  <a:ln w="317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4" name="@显眼包PPT3-9"/>
                  <p:cNvSpPr/>
                  <p:nvPr/>
                </p:nvSpPr>
                <p:spPr>
                  <a:xfrm flipH="1">
                    <a:off x="1698914" y="4245602"/>
                    <a:ext cx="163666" cy="28956"/>
                  </a:xfrm>
                  <a:custGeom>
                    <a:avLst/>
                    <a:gdLst>
                      <a:gd name="connsiteX0" fmla="*/ 0 w 534073"/>
                      <a:gd name="connsiteY0" fmla="*/ 39973 h 79945"/>
                      <a:gd name="connsiteX1" fmla="*/ 90854 w 534073"/>
                      <a:gd name="connsiteY1" fmla="*/ 0 h 79945"/>
                      <a:gd name="connsiteX2" fmla="*/ 443219 w 534073"/>
                      <a:gd name="connsiteY2" fmla="*/ 0 h 79945"/>
                      <a:gd name="connsiteX3" fmla="*/ 534073 w 534073"/>
                      <a:gd name="connsiteY3" fmla="*/ 39973 h 79945"/>
                      <a:gd name="connsiteX4" fmla="*/ 443219 w 534073"/>
                      <a:gd name="connsiteY4" fmla="*/ 79945 h 79945"/>
                      <a:gd name="connsiteX5" fmla="*/ 90854 w 534073"/>
                      <a:gd name="connsiteY5" fmla="*/ 79945 h 79945"/>
                      <a:gd name="connsiteX6" fmla="*/ 0 w 534073"/>
                      <a:gd name="connsiteY6" fmla="*/ 39973 h 79945"/>
                      <a:gd name="connsiteX0-1" fmla="*/ 443219 w 534659"/>
                      <a:gd name="connsiteY0-2" fmla="*/ 79945 h 171385"/>
                      <a:gd name="connsiteX1-3" fmla="*/ 90854 w 534659"/>
                      <a:gd name="connsiteY1-4" fmla="*/ 79945 h 171385"/>
                      <a:gd name="connsiteX2-5" fmla="*/ 0 w 534659"/>
                      <a:gd name="connsiteY2-6" fmla="*/ 39973 h 171385"/>
                      <a:gd name="connsiteX3-7" fmla="*/ 90854 w 534659"/>
                      <a:gd name="connsiteY3-8" fmla="*/ 0 h 171385"/>
                      <a:gd name="connsiteX4-9" fmla="*/ 443219 w 534659"/>
                      <a:gd name="connsiteY4-10" fmla="*/ 0 h 171385"/>
                      <a:gd name="connsiteX5-11" fmla="*/ 534073 w 534659"/>
                      <a:gd name="connsiteY5-12" fmla="*/ 39973 h 171385"/>
                      <a:gd name="connsiteX6-13" fmla="*/ 534659 w 534659"/>
                      <a:gd name="connsiteY6-14" fmla="*/ 171385 h 171385"/>
                      <a:gd name="connsiteX0-15" fmla="*/ 443219 w 534659"/>
                      <a:gd name="connsiteY0-16" fmla="*/ 79945 h 171385"/>
                      <a:gd name="connsiteX1-17" fmla="*/ 90854 w 534659"/>
                      <a:gd name="connsiteY1-18" fmla="*/ 79945 h 171385"/>
                      <a:gd name="connsiteX2-19" fmla="*/ 0 w 534659"/>
                      <a:gd name="connsiteY2-20" fmla="*/ 39973 h 171385"/>
                      <a:gd name="connsiteX3-21" fmla="*/ 90854 w 534659"/>
                      <a:gd name="connsiteY3-22" fmla="*/ 0 h 171385"/>
                      <a:gd name="connsiteX4-23" fmla="*/ 443219 w 534659"/>
                      <a:gd name="connsiteY4-24" fmla="*/ 0 h 171385"/>
                      <a:gd name="connsiteX5-25" fmla="*/ 534659 w 534659"/>
                      <a:gd name="connsiteY5-26" fmla="*/ 171385 h 171385"/>
                      <a:gd name="connsiteX0-27" fmla="*/ 443219 w 534659"/>
                      <a:gd name="connsiteY0-28" fmla="*/ 79945 h 171385"/>
                      <a:gd name="connsiteX1-29" fmla="*/ 90854 w 534659"/>
                      <a:gd name="connsiteY1-30" fmla="*/ 79945 h 171385"/>
                      <a:gd name="connsiteX2-31" fmla="*/ 0 w 534659"/>
                      <a:gd name="connsiteY2-32" fmla="*/ 39973 h 171385"/>
                      <a:gd name="connsiteX3-33" fmla="*/ 90854 w 534659"/>
                      <a:gd name="connsiteY3-34" fmla="*/ 0 h 171385"/>
                      <a:gd name="connsiteX4-35" fmla="*/ 534659 w 534659"/>
                      <a:gd name="connsiteY4-36" fmla="*/ 171385 h 171385"/>
                      <a:gd name="connsiteX0-37" fmla="*/ 443219 w 534659"/>
                      <a:gd name="connsiteY0-38" fmla="*/ 39972 h 131412"/>
                      <a:gd name="connsiteX1-39" fmla="*/ 90854 w 534659"/>
                      <a:gd name="connsiteY1-40" fmla="*/ 39972 h 131412"/>
                      <a:gd name="connsiteX2-41" fmla="*/ 0 w 534659"/>
                      <a:gd name="connsiteY2-42" fmla="*/ 0 h 131412"/>
                      <a:gd name="connsiteX3-43" fmla="*/ 534659 w 534659"/>
                      <a:gd name="connsiteY3-44" fmla="*/ 131412 h 131412"/>
                      <a:gd name="connsiteX0-45" fmla="*/ 443219 w 443219"/>
                      <a:gd name="connsiteY0-46" fmla="*/ 39972 h 39972"/>
                      <a:gd name="connsiteX1-47" fmla="*/ 90854 w 443219"/>
                      <a:gd name="connsiteY1-48" fmla="*/ 39972 h 39972"/>
                      <a:gd name="connsiteX2-49" fmla="*/ 0 w 443219"/>
                      <a:gd name="connsiteY2-50" fmla="*/ 0 h 39972"/>
                      <a:gd name="connsiteX0-51" fmla="*/ 196717 w 196717"/>
                      <a:gd name="connsiteY0-52" fmla="*/ 41350 h 41350"/>
                      <a:gd name="connsiteX1-53" fmla="*/ 90854 w 196717"/>
                      <a:gd name="connsiteY1-54" fmla="*/ 39972 h 41350"/>
                      <a:gd name="connsiteX2-55" fmla="*/ 0 w 196717"/>
                      <a:gd name="connsiteY2-56" fmla="*/ 0 h 41350"/>
                      <a:gd name="connsiteX0-57" fmla="*/ 163666 w 163666"/>
                      <a:gd name="connsiteY0-58" fmla="*/ 28956 h 28956"/>
                      <a:gd name="connsiteX1-59" fmla="*/ 57803 w 163666"/>
                      <a:gd name="connsiteY1-60" fmla="*/ 27578 h 28956"/>
                      <a:gd name="connsiteX2-61" fmla="*/ 0 w 163666"/>
                      <a:gd name="connsiteY2-62" fmla="*/ 0 h 28956"/>
                    </a:gdLst>
                    <a:ahLst/>
                    <a:cxnLst>
                      <a:cxn ang="0">
                        <a:pos x="connsiteX0-1" y="connsiteY0-2"/>
                      </a:cxn>
                      <a:cxn ang="0">
                        <a:pos x="connsiteX1-3" y="connsiteY1-4"/>
                      </a:cxn>
                      <a:cxn ang="0">
                        <a:pos x="connsiteX2-5" y="connsiteY2-6"/>
                      </a:cxn>
                    </a:cxnLst>
                    <a:rect l="l" t="t" r="r" b="b"/>
                    <a:pathLst>
                      <a:path w="163666" h="28956">
                        <a:moveTo>
                          <a:pt x="163666" y="28956"/>
                        </a:moveTo>
                        <a:lnTo>
                          <a:pt x="57803" y="27578"/>
                        </a:lnTo>
                        <a:lnTo>
                          <a:pt x="0" y="0"/>
                        </a:lnTo>
                      </a:path>
                    </a:pathLst>
                  </a:custGeom>
                  <a:noFill/>
                  <a:ln w="3175">
                    <a:solidFill>
                      <a:schemeClr val="accent1">
                        <a:lumMod val="60000"/>
                        <a:lumOff val="40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grpSp>
        <p:sp>
          <p:nvSpPr>
            <p:cNvPr id="95" name="显眼包PPT13-1"/>
            <p:cNvSpPr/>
            <p:nvPr/>
          </p:nvSpPr>
          <p:spPr>
            <a:xfrm>
              <a:off x="12497" y="8529"/>
              <a:ext cx="354" cy="374"/>
            </a:xfrm>
            <a:custGeom>
              <a:avLst/>
              <a:gdLst>
                <a:gd name="connsiteX0" fmla="*/ 492945 w 987251"/>
                <a:gd name="connsiteY0" fmla="*/ 0 h 785016"/>
                <a:gd name="connsiteX1" fmla="*/ 886379 w 987251"/>
                <a:gd name="connsiteY1" fmla="*/ 358284 h 785016"/>
                <a:gd name="connsiteX2" fmla="*/ 651185 w 987251"/>
                <a:gd name="connsiteY2" fmla="*/ 286423 h 785016"/>
                <a:gd name="connsiteX3" fmla="*/ 655826 w 987251"/>
                <a:gd name="connsiteY3" fmla="*/ 301395 h 785016"/>
                <a:gd name="connsiteX4" fmla="*/ 715976 w 987251"/>
                <a:gd name="connsiteY4" fmla="*/ 434705 h 785016"/>
                <a:gd name="connsiteX5" fmla="*/ 975009 w 987251"/>
                <a:gd name="connsiteY5" fmla="*/ 775178 h 785016"/>
                <a:gd name="connsiteX6" fmla="*/ 987251 w 987251"/>
                <a:gd name="connsiteY6" fmla="*/ 785016 h 785016"/>
                <a:gd name="connsiteX7" fmla="*/ 493625 w 987251"/>
                <a:gd name="connsiteY7" fmla="*/ 683361 h 785016"/>
                <a:gd name="connsiteX8" fmla="*/ 0 w 987251"/>
                <a:gd name="connsiteY8" fmla="*/ 785016 h 785016"/>
                <a:gd name="connsiteX9" fmla="*/ 12241 w 987251"/>
                <a:gd name="connsiteY9" fmla="*/ 775177 h 785016"/>
                <a:gd name="connsiteX10" fmla="*/ 271276 w 987251"/>
                <a:gd name="connsiteY10" fmla="*/ 434704 h 785016"/>
                <a:gd name="connsiteX11" fmla="*/ 331426 w 987251"/>
                <a:gd name="connsiteY11" fmla="*/ 301394 h 785016"/>
                <a:gd name="connsiteX12" fmla="*/ 336208 w 987251"/>
                <a:gd name="connsiteY12" fmla="*/ 285964 h 785016"/>
                <a:gd name="connsiteX13" fmla="*/ 99511 w 987251"/>
                <a:gd name="connsiteY13" fmla="*/ 358284 h 785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987251" h="785016">
                  <a:moveTo>
                    <a:pt x="492945" y="0"/>
                  </a:moveTo>
                  <a:lnTo>
                    <a:pt x="886379" y="358284"/>
                  </a:lnTo>
                  <a:lnTo>
                    <a:pt x="651185" y="286423"/>
                  </a:lnTo>
                  <a:lnTo>
                    <a:pt x="655826" y="301395"/>
                  </a:lnTo>
                  <a:cubicBezTo>
                    <a:pt x="672513" y="345329"/>
                    <a:pt x="692548" y="389940"/>
                    <a:pt x="715976" y="434705"/>
                  </a:cubicBezTo>
                  <a:cubicBezTo>
                    <a:pt x="786260" y="569003"/>
                    <a:pt x="877099" y="685625"/>
                    <a:pt x="975009" y="775178"/>
                  </a:cubicBezTo>
                  <a:lnTo>
                    <a:pt x="987251" y="785016"/>
                  </a:lnTo>
                  <a:lnTo>
                    <a:pt x="493625" y="683361"/>
                  </a:lnTo>
                  <a:lnTo>
                    <a:pt x="0" y="785016"/>
                  </a:lnTo>
                  <a:lnTo>
                    <a:pt x="12241" y="775177"/>
                  </a:lnTo>
                  <a:cubicBezTo>
                    <a:pt x="110152" y="685624"/>
                    <a:pt x="200991" y="569002"/>
                    <a:pt x="271276" y="434704"/>
                  </a:cubicBezTo>
                  <a:cubicBezTo>
                    <a:pt x="294704" y="389939"/>
                    <a:pt x="314739" y="345328"/>
                    <a:pt x="331426" y="301394"/>
                  </a:cubicBezTo>
                  <a:lnTo>
                    <a:pt x="336208" y="285964"/>
                  </a:lnTo>
                  <a:lnTo>
                    <a:pt x="99511" y="358284"/>
                  </a:lnTo>
                  <a:close/>
                </a:path>
              </a:pathLst>
            </a:custGeom>
            <a:gradFill flip="none" rotWithShape="1">
              <a:gsLst>
                <a:gs pos="23000">
                  <a:schemeClr val="accent1">
                    <a:lumMod val="60000"/>
                    <a:lumOff val="40000"/>
                    <a:alpha val="0"/>
                  </a:schemeClr>
                </a:gs>
                <a:gs pos="100000">
                  <a:schemeClr val="accent1">
                    <a:lumMod val="60000"/>
                    <a:lumOff val="40000"/>
                  </a:schemeClr>
                </a:gs>
              </a:gsLst>
              <a:lin ang="16200000" scaled="0"/>
              <a:tileRect/>
            </a:gradFill>
            <a:ln w="15875">
              <a:noFill/>
              <a:round/>
            </a:ln>
            <a:effectLst/>
          </p:spPr>
          <p:txBody>
            <a:bodyPr vert="horz" wrap="square" lIns="91440" tIns="45720" rIns="91440" bIns="45720" numCol="1" anchor="t" anchorCtr="0" compatLnSpc="1"/>
            <a:lstStyle/>
            <a:p>
              <a:endParaRPr lang="zh-CN" altLang="en-US" dirty="0">
                <a:solidFill>
                  <a:schemeClr val="tx1"/>
                </a:solidFill>
                <a:cs typeface="微软雅黑" panose="020B0503020204020204" charset="-122"/>
              </a:endParaRPr>
            </a:p>
          </p:txBody>
        </p:sp>
      </p:grpSp>
      <p:sp>
        <p:nvSpPr>
          <p:cNvPr id="72" name="弧形 71"/>
          <p:cNvSpPr/>
          <p:nvPr/>
        </p:nvSpPr>
        <p:spPr>
          <a:xfrm flipH="1">
            <a:off x="631190" y="1194435"/>
            <a:ext cx="5309235" cy="5309235"/>
          </a:xfrm>
          <a:prstGeom prst="arc">
            <a:avLst>
              <a:gd name="adj1" fmla="val 9044368"/>
              <a:gd name="adj2" fmla="val 16181497"/>
            </a:avLst>
          </a:prstGeom>
          <a:ln>
            <a:headEnd type="triangle"/>
            <a:tailEnd type="triangle"/>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3" name="弧形 12"/>
          <p:cNvSpPr/>
          <p:nvPr/>
        </p:nvSpPr>
        <p:spPr>
          <a:xfrm flipH="1">
            <a:off x="631190" y="1194435"/>
            <a:ext cx="5309235" cy="5309235"/>
          </a:xfrm>
          <a:prstGeom prst="arc">
            <a:avLst>
              <a:gd name="adj1" fmla="val 1885606"/>
              <a:gd name="adj2" fmla="val 8993183"/>
            </a:avLst>
          </a:prstGeom>
          <a:ln>
            <a:headEnd type="triangle"/>
            <a:tailEnd type="triangle"/>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nvGrpSpPr>
          <p:cNvPr id="98" name="组合 97"/>
          <p:cNvGrpSpPr/>
          <p:nvPr/>
        </p:nvGrpSpPr>
        <p:grpSpPr>
          <a:xfrm rot="0">
            <a:off x="217805" y="1171575"/>
            <a:ext cx="6054090" cy="5308600"/>
            <a:chOff x="400" y="1881"/>
            <a:chExt cx="9534" cy="8360"/>
          </a:xfrm>
        </p:grpSpPr>
        <p:sp>
          <p:nvSpPr>
            <p:cNvPr id="99" name="文本框 98"/>
            <p:cNvSpPr txBox="1"/>
            <p:nvPr/>
          </p:nvSpPr>
          <p:spPr>
            <a:xfrm rot="2040000">
              <a:off x="1366" y="2882"/>
              <a:ext cx="4904" cy="5159"/>
            </a:xfrm>
            <a:prstGeom prst="rect">
              <a:avLst/>
            </a:prstGeom>
            <a:noFill/>
          </p:spPr>
          <p:txBody>
            <a:bodyPr wrap="square" rtlCol="0">
              <a:prstTxWarp prst="textArchUp">
                <a:avLst>
                  <a:gd name="adj" fmla="val 8606457"/>
                </a:avLst>
              </a:prstTxWarp>
              <a:noAutofit/>
            </a:bodyPr>
            <a:p>
              <a:pPr marL="1800225" indent="0" fontAlgn="auto">
                <a:lnSpc>
                  <a:spcPct val="150000"/>
                </a:lnSpc>
                <a:spcBef>
                  <a:spcPts val="0"/>
                </a:spcBef>
                <a:spcAft>
                  <a:spcPts val="0"/>
                </a:spcAft>
              </a:pP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向内要效益</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grpSp>
          <p:nvGrpSpPr>
            <p:cNvPr id="100" name="组合 99"/>
            <p:cNvGrpSpPr/>
            <p:nvPr/>
          </p:nvGrpSpPr>
          <p:grpSpPr>
            <a:xfrm>
              <a:off x="400" y="1881"/>
              <a:ext cx="9534" cy="8360"/>
              <a:chOff x="400" y="1881"/>
              <a:chExt cx="9534" cy="8360"/>
            </a:xfrm>
          </p:grpSpPr>
          <p:sp>
            <p:nvSpPr>
              <p:cNvPr id="101" name="弧形 100"/>
              <p:cNvSpPr/>
              <p:nvPr/>
            </p:nvSpPr>
            <p:spPr>
              <a:xfrm>
                <a:off x="956" y="1881"/>
                <a:ext cx="8361" cy="8361"/>
              </a:xfrm>
              <a:prstGeom prst="arc">
                <a:avLst>
                  <a:gd name="adj1" fmla="val 9018303"/>
                  <a:gd name="adj2" fmla="val 16151896"/>
                </a:avLst>
              </a:prstGeom>
              <a:ln>
                <a:solidFill>
                  <a:schemeClr val="accent1"/>
                </a:solidFill>
                <a:headEnd type="triangle"/>
                <a:tailEnd type="triangle"/>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02" name="文本框 101"/>
              <p:cNvSpPr txBox="1"/>
              <p:nvPr/>
            </p:nvSpPr>
            <p:spPr>
              <a:xfrm rot="21420000">
                <a:off x="400" y="4620"/>
                <a:ext cx="9534" cy="5364"/>
              </a:xfrm>
              <a:prstGeom prst="rect">
                <a:avLst/>
              </a:prstGeom>
              <a:noFill/>
            </p:spPr>
            <p:txBody>
              <a:bodyPr wrap="square" rtlCol="0">
                <a:prstTxWarp prst="textArchDown">
                  <a:avLst>
                    <a:gd name="adj" fmla="val 21037961"/>
                  </a:avLst>
                </a:prstTxWarp>
                <a:noAutofit/>
              </a:bodyPr>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向人要潜能</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03" name="文本框 102"/>
              <p:cNvSpPr txBox="1"/>
              <p:nvPr/>
            </p:nvSpPr>
            <p:spPr>
              <a:xfrm rot="9300000">
                <a:off x="3893" y="2626"/>
                <a:ext cx="4904" cy="5159"/>
              </a:xfrm>
              <a:prstGeom prst="rect">
                <a:avLst/>
              </a:prstGeom>
              <a:noFill/>
            </p:spPr>
            <p:txBody>
              <a:bodyPr wrap="square" rtlCol="0">
                <a:prstTxWarp prst="textArchUp">
                  <a:avLst>
                    <a:gd name="adj" fmla="val 8606457"/>
                  </a:avLst>
                </a:prstTxWarp>
                <a:noAutofit/>
              </a:bodyPr>
              <a:p>
                <a:pPr marL="1800225" indent="0" fontAlgn="auto">
                  <a:lnSpc>
                    <a:spcPct val="150000"/>
                  </a:lnSpc>
                  <a:spcBef>
                    <a:spcPts val="0"/>
                  </a:spcBef>
                  <a:spcAft>
                    <a:spcPts val="0"/>
                  </a:spcAft>
                </a:pP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向外要增长</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grpSp>
      </p:grpSp>
      <p:grpSp>
        <p:nvGrpSpPr>
          <p:cNvPr id="123" name="组合 122"/>
          <p:cNvGrpSpPr/>
          <p:nvPr/>
        </p:nvGrpSpPr>
        <p:grpSpPr>
          <a:xfrm>
            <a:off x="2824163" y="3516313"/>
            <a:ext cx="933450" cy="652780"/>
            <a:chOff x="4494" y="5536"/>
            <a:chExt cx="1470" cy="1028"/>
          </a:xfrm>
        </p:grpSpPr>
        <p:grpSp>
          <p:nvGrpSpPr>
            <p:cNvPr id="124" name="©显眼包PPT"/>
            <p:cNvGrpSpPr/>
            <p:nvPr/>
          </p:nvGrpSpPr>
          <p:grpSpPr>
            <a:xfrm rot="0">
              <a:off x="4494" y="5536"/>
              <a:ext cx="1470" cy="1028"/>
              <a:chOff x="4959134" y="3759488"/>
              <a:chExt cx="2213528" cy="1548040"/>
            </a:xfrm>
          </p:grpSpPr>
          <p:grpSp>
            <p:nvGrpSpPr>
              <p:cNvPr id="125" name="显眼包PPT"/>
              <p:cNvGrpSpPr/>
              <p:nvPr/>
            </p:nvGrpSpPr>
            <p:grpSpPr>
              <a:xfrm>
                <a:off x="5321980" y="3759488"/>
                <a:ext cx="1548040" cy="1548040"/>
                <a:chOff x="8299422" y="3022983"/>
                <a:chExt cx="626975" cy="626974"/>
              </a:xfrm>
            </p:grpSpPr>
            <p:grpSp>
              <p:nvGrpSpPr>
                <p:cNvPr id="132" name="组合 131"/>
                <p:cNvGrpSpPr/>
                <p:nvPr/>
              </p:nvGrpSpPr>
              <p:grpSpPr>
                <a:xfrm>
                  <a:off x="8299422" y="3022983"/>
                  <a:ext cx="626975" cy="626974"/>
                  <a:chOff x="1252391" y="1250950"/>
                  <a:chExt cx="1419449" cy="1419449"/>
                </a:xfrm>
              </p:grpSpPr>
              <p:sp>
                <p:nvSpPr>
                  <p:cNvPr id="134" name="©显眼包PPT-1"/>
                  <p:cNvSpPr/>
                  <p:nvPr/>
                </p:nvSpPr>
                <p:spPr>
                  <a:xfrm>
                    <a:off x="1252391" y="1250950"/>
                    <a:ext cx="1419449" cy="1419449"/>
                  </a:xfrm>
                  <a:prstGeom prst="ellipse">
                    <a:avLst/>
                  </a:prstGeom>
                  <a:gradFill flip="none" rotWithShape="1">
                    <a:gsLst>
                      <a:gs pos="95000">
                        <a:schemeClr val="accent5">
                          <a:lumMod val="60000"/>
                          <a:lumOff val="40000"/>
                        </a:schemeClr>
                      </a:gs>
                      <a:gs pos="0">
                        <a:schemeClr val="accent5"/>
                      </a:gs>
                    </a:gsLst>
                    <a:path path="circle">
                      <a:fillToRect r="100000" b="100000"/>
                    </a:path>
                    <a:tileRect l="-100000" t="-100000"/>
                  </a:gradFill>
                  <a:ln w="9525">
                    <a:gradFill flip="none" rotWithShape="1">
                      <a:gsLst>
                        <a:gs pos="40000">
                          <a:schemeClr val="accent1">
                            <a:lumMod val="0"/>
                            <a:lumOff val="100000"/>
                          </a:schemeClr>
                        </a:gs>
                        <a:gs pos="95000">
                          <a:schemeClr val="accent1">
                            <a:lumMod val="0"/>
                            <a:lumOff val="100000"/>
                          </a:schemeClr>
                        </a:gs>
                        <a:gs pos="65000">
                          <a:schemeClr val="accent5">
                            <a:lumMod val="60000"/>
                            <a:lumOff val="40000"/>
                          </a:schemeClr>
                        </a:gs>
                      </a:gsLst>
                      <a:lin ang="2700000" scaled="1"/>
                      <a:tileRect/>
                    </a:gradFill>
                  </a:ln>
                  <a:effectLst>
                    <a:outerShdw blurRad="304800" dist="254000" dir="5400000" sx="76000" sy="76000" algn="tl" rotWithShape="0">
                      <a:schemeClr val="accent5">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35" name="组合 134"/>
                  <p:cNvGrpSpPr/>
                  <p:nvPr/>
                </p:nvGrpSpPr>
                <p:grpSpPr>
                  <a:xfrm rot="10800000">
                    <a:off x="1949528" y="1765204"/>
                    <a:ext cx="597318" cy="810050"/>
                    <a:chOff x="1364916" y="1364034"/>
                    <a:chExt cx="597318" cy="810048"/>
                  </a:xfrm>
                </p:grpSpPr>
                <p:sp>
                  <p:nvSpPr>
                    <p:cNvPr id="143" name="©显眼包PPT-8"/>
                    <p:cNvSpPr/>
                    <p:nvPr/>
                  </p:nvSpPr>
                  <p:spPr>
                    <a:xfrm>
                      <a:off x="1364916" y="1364034"/>
                      <a:ext cx="597318" cy="810048"/>
                    </a:xfrm>
                    <a:custGeom>
                      <a:avLst/>
                      <a:gdLst>
                        <a:gd name="connsiteX0" fmla="*/ 546803 w 571905"/>
                        <a:gd name="connsiteY0" fmla="*/ 0 h 775585"/>
                        <a:gd name="connsiteX1" fmla="*/ 571905 w 571905"/>
                        <a:gd name="connsiteY1" fmla="*/ 46247 h 775585"/>
                        <a:gd name="connsiteX2" fmla="*/ 465290 w 571905"/>
                        <a:gd name="connsiteY2" fmla="*/ 95007 h 775585"/>
                        <a:gd name="connsiteX3" fmla="*/ 65697 w 571905"/>
                        <a:gd name="connsiteY3" fmla="*/ 651256 h 775585"/>
                        <a:gd name="connsiteX4" fmla="*/ 54727 w 571905"/>
                        <a:gd name="connsiteY4" fmla="*/ 775585 h 775585"/>
                        <a:gd name="connsiteX5" fmla="*/ 35757 w 571905"/>
                        <a:gd name="connsiteY5" fmla="*/ 723754 h 775585"/>
                        <a:gd name="connsiteX6" fmla="*/ 0 w 571905"/>
                        <a:gd name="connsiteY6" fmla="*/ 487245 h 775585"/>
                        <a:gd name="connsiteX7" fmla="*/ 35757 w 571905"/>
                        <a:gd name="connsiteY7" fmla="*/ 250736 h 775585"/>
                        <a:gd name="connsiteX8" fmla="*/ 38558 w 571905"/>
                        <a:gd name="connsiteY8" fmla="*/ 243081 h 775585"/>
                        <a:gd name="connsiteX9" fmla="*/ 49635 w 571905"/>
                        <a:gd name="connsiteY9" fmla="*/ 229656 h 775585"/>
                        <a:gd name="connsiteX10" fmla="*/ 530705 w 571905"/>
                        <a:gd name="connsiteY10" fmla="*/ 813 h 775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1905" h="775585">
                          <a:moveTo>
                            <a:pt x="546803" y="0"/>
                          </a:moveTo>
                          <a:lnTo>
                            <a:pt x="571905" y="46247"/>
                          </a:lnTo>
                          <a:lnTo>
                            <a:pt x="465290" y="95007"/>
                          </a:lnTo>
                          <a:cubicBezTo>
                            <a:pt x="258973" y="208710"/>
                            <a:pt x="108551" y="411351"/>
                            <a:pt x="65697" y="651256"/>
                          </a:cubicBezTo>
                          <a:lnTo>
                            <a:pt x="54727" y="775585"/>
                          </a:lnTo>
                          <a:lnTo>
                            <a:pt x="35757" y="723754"/>
                          </a:lnTo>
                          <a:cubicBezTo>
                            <a:pt x="12519" y="649041"/>
                            <a:pt x="0" y="569605"/>
                            <a:pt x="0" y="487245"/>
                          </a:cubicBezTo>
                          <a:cubicBezTo>
                            <a:pt x="0" y="404885"/>
                            <a:pt x="12519" y="325449"/>
                            <a:pt x="35757" y="250736"/>
                          </a:cubicBezTo>
                          <a:lnTo>
                            <a:pt x="38558" y="243081"/>
                          </a:lnTo>
                          <a:lnTo>
                            <a:pt x="49635" y="229656"/>
                          </a:lnTo>
                          <a:cubicBezTo>
                            <a:pt x="175572" y="103719"/>
                            <a:pt x="343547" y="19820"/>
                            <a:pt x="530705" y="813"/>
                          </a:cubicBezTo>
                          <a:close/>
                        </a:path>
                      </a:pathLst>
                    </a:custGeom>
                    <a:gradFill flip="none" rotWithShape="1">
                      <a:gsLst>
                        <a:gs pos="20000">
                          <a:schemeClr val="accent1">
                            <a:lumMod val="0"/>
                            <a:lumOff val="100000"/>
                            <a:alpha val="60000"/>
                          </a:schemeClr>
                        </a:gs>
                        <a:gs pos="100000">
                          <a:schemeClr val="accent1">
                            <a:lumMod val="0"/>
                            <a:lumOff val="100000"/>
                            <a:alpha val="0"/>
                          </a:schemeClr>
                        </a:gs>
                      </a:gsLst>
                      <a:lin ang="10800000" scaled="1"/>
                      <a:tileRect/>
                    </a:gradFill>
                    <a:ln>
                      <a:noFill/>
                    </a:ln>
                    <a:effectLst>
                      <a:softEdge rad="381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6" name="©显眼包PPT-9"/>
                    <p:cNvSpPr/>
                    <p:nvPr/>
                  </p:nvSpPr>
                  <p:spPr>
                    <a:xfrm>
                      <a:off x="1377622" y="1381265"/>
                      <a:ext cx="571906" cy="775586"/>
                    </a:xfrm>
                    <a:custGeom>
                      <a:avLst/>
                      <a:gdLst>
                        <a:gd name="connsiteX0" fmla="*/ 546803 w 571905"/>
                        <a:gd name="connsiteY0" fmla="*/ 0 h 775585"/>
                        <a:gd name="connsiteX1" fmla="*/ 571905 w 571905"/>
                        <a:gd name="connsiteY1" fmla="*/ 46247 h 775585"/>
                        <a:gd name="connsiteX2" fmla="*/ 465290 w 571905"/>
                        <a:gd name="connsiteY2" fmla="*/ 95007 h 775585"/>
                        <a:gd name="connsiteX3" fmla="*/ 65697 w 571905"/>
                        <a:gd name="connsiteY3" fmla="*/ 651256 h 775585"/>
                        <a:gd name="connsiteX4" fmla="*/ 54727 w 571905"/>
                        <a:gd name="connsiteY4" fmla="*/ 775585 h 775585"/>
                        <a:gd name="connsiteX5" fmla="*/ 35757 w 571905"/>
                        <a:gd name="connsiteY5" fmla="*/ 723754 h 775585"/>
                        <a:gd name="connsiteX6" fmla="*/ 0 w 571905"/>
                        <a:gd name="connsiteY6" fmla="*/ 487245 h 775585"/>
                        <a:gd name="connsiteX7" fmla="*/ 35757 w 571905"/>
                        <a:gd name="connsiteY7" fmla="*/ 250736 h 775585"/>
                        <a:gd name="connsiteX8" fmla="*/ 38558 w 571905"/>
                        <a:gd name="connsiteY8" fmla="*/ 243081 h 775585"/>
                        <a:gd name="connsiteX9" fmla="*/ 49635 w 571905"/>
                        <a:gd name="connsiteY9" fmla="*/ 229656 h 775585"/>
                        <a:gd name="connsiteX10" fmla="*/ 530705 w 571905"/>
                        <a:gd name="connsiteY10" fmla="*/ 813 h 7755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71905" h="775585">
                          <a:moveTo>
                            <a:pt x="546803" y="0"/>
                          </a:moveTo>
                          <a:lnTo>
                            <a:pt x="571905" y="46247"/>
                          </a:lnTo>
                          <a:lnTo>
                            <a:pt x="465290" y="95007"/>
                          </a:lnTo>
                          <a:cubicBezTo>
                            <a:pt x="258973" y="208710"/>
                            <a:pt x="108551" y="411351"/>
                            <a:pt x="65697" y="651256"/>
                          </a:cubicBezTo>
                          <a:lnTo>
                            <a:pt x="54727" y="775585"/>
                          </a:lnTo>
                          <a:lnTo>
                            <a:pt x="35757" y="723754"/>
                          </a:lnTo>
                          <a:cubicBezTo>
                            <a:pt x="12519" y="649041"/>
                            <a:pt x="0" y="569605"/>
                            <a:pt x="0" y="487245"/>
                          </a:cubicBezTo>
                          <a:cubicBezTo>
                            <a:pt x="0" y="404885"/>
                            <a:pt x="12519" y="325449"/>
                            <a:pt x="35757" y="250736"/>
                          </a:cubicBezTo>
                          <a:lnTo>
                            <a:pt x="38558" y="243081"/>
                          </a:lnTo>
                          <a:lnTo>
                            <a:pt x="49635" y="229656"/>
                          </a:lnTo>
                          <a:cubicBezTo>
                            <a:pt x="175572" y="103719"/>
                            <a:pt x="343547" y="19820"/>
                            <a:pt x="530705" y="813"/>
                          </a:cubicBezTo>
                          <a:close/>
                        </a:path>
                      </a:pathLst>
                    </a:custGeom>
                    <a:gradFill flip="none" rotWithShape="1">
                      <a:gsLst>
                        <a:gs pos="20000">
                          <a:schemeClr val="accent1">
                            <a:lumMod val="0"/>
                            <a:lumOff val="100000"/>
                            <a:alpha val="30000"/>
                          </a:schemeClr>
                        </a:gs>
                        <a:gs pos="78000">
                          <a:schemeClr val="accent1">
                            <a:lumMod val="0"/>
                            <a:lumOff val="100000"/>
                            <a:alpha val="0"/>
                          </a:schemeClr>
                        </a:gs>
                      </a:gsLst>
                      <a:lin ang="10800000" scaled="1"/>
                      <a:tileRect/>
                    </a:gradFill>
                    <a:ln>
                      <a:no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900" b="0" i="0" u="none" strike="noStrike" kern="1200" cap="none" spc="0" normalizeH="0" baseline="0" noProof="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grpSp>
            </p:grpSp>
            <p:sp>
              <p:nvSpPr>
                <p:cNvPr id="183" name="©显眼包PPT-10"/>
                <p:cNvSpPr txBox="1"/>
                <p:nvPr/>
              </p:nvSpPr>
              <p:spPr>
                <a:xfrm>
                  <a:off x="8698900" y="3480780"/>
                  <a:ext cx="51" cy="83344"/>
                </a:xfrm>
                <a:prstGeom prst="rect">
                  <a:avLst/>
                </a:prstGeom>
                <a:noFill/>
              </p:spPr>
              <p:txBody>
                <a:bodyPr wrap="square" lIns="0" tIns="0" rIns="0" bIns="0" rtlCol="0">
                  <a:spAutoFit/>
                </a:bodyPr>
                <a:lstStyle/>
                <a:p>
                  <a:pPr marL="0" marR="0" lvl="0" indent="0" algn="ctr" defTabSz="914400" rtl="0" eaLnBrk="1" fontAlgn="auto" latinLnBrk="0" hangingPunct="1">
                    <a:lnSpc>
                      <a:spcPct val="120000"/>
                    </a:lnSpc>
                    <a:spcBef>
                      <a:spcPts val="0"/>
                    </a:spcBef>
                    <a:spcAft>
                      <a:spcPts val="1200"/>
                    </a:spcAft>
                    <a:buClrTx/>
                    <a:buSzTx/>
                    <a:buFontTx/>
                    <a:buNone/>
                    <a:defRPr/>
                  </a:pPr>
                  <a:endParaRPr kumimoji="0" lang="zh-CN" altLang="en-US" sz="6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84" name="©显眼包PPT-11"/>
              <p:cNvSpPr/>
              <p:nvPr/>
            </p:nvSpPr>
            <p:spPr>
              <a:xfrm rot="864717">
                <a:off x="5075592" y="4227313"/>
                <a:ext cx="2013357" cy="753022"/>
              </a:xfrm>
              <a:prstGeom prst="ellipse">
                <a:avLst/>
              </a:prstGeom>
              <a:noFill/>
              <a:ln w="9525">
                <a:gradFill>
                  <a:gsLst>
                    <a:gs pos="13000">
                      <a:schemeClr val="accent5">
                        <a:lumMod val="20000"/>
                        <a:lumOff val="80000"/>
                        <a:alpha val="0"/>
                      </a:schemeClr>
                    </a:gs>
                    <a:gs pos="74000">
                      <a:schemeClr val="accent5">
                        <a:lumMod val="60000"/>
                        <a:lumOff val="40000"/>
                      </a:schemeClr>
                    </a:gs>
                    <a:gs pos="100000">
                      <a:schemeClr val="accent5"/>
                    </a:gs>
                  </a:gsLst>
                  <a:lin ang="5400000" scaled="1"/>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5" name="©显眼包PPT-12"/>
              <p:cNvSpPr/>
              <p:nvPr/>
            </p:nvSpPr>
            <p:spPr>
              <a:xfrm rot="864717">
                <a:off x="4959134" y="4237614"/>
                <a:ext cx="2213528" cy="827887"/>
              </a:xfrm>
              <a:prstGeom prst="ellipse">
                <a:avLst/>
              </a:prstGeom>
              <a:noFill/>
              <a:ln w="6350">
                <a:gradFill>
                  <a:gsLst>
                    <a:gs pos="13000">
                      <a:schemeClr val="accent5">
                        <a:lumMod val="20000"/>
                        <a:lumOff val="80000"/>
                        <a:alpha val="0"/>
                      </a:schemeClr>
                    </a:gs>
                    <a:gs pos="74000">
                      <a:schemeClr val="accent5">
                        <a:lumMod val="60000"/>
                        <a:lumOff val="40000"/>
                      </a:schemeClr>
                    </a:gs>
                    <a:gs pos="100000">
                      <a:schemeClr val="accent5"/>
                    </a:gs>
                  </a:gsLst>
                  <a:lin ang="5400000" scaled="1"/>
                </a:gra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sz="105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6" name="©显眼包PPT-13"/>
              <p:cNvSpPr txBox="1"/>
              <p:nvPr/>
            </p:nvSpPr>
            <p:spPr>
              <a:xfrm>
                <a:off x="5501367" y="4117980"/>
                <a:ext cx="1173335" cy="436800"/>
              </a:xfrm>
              <a:prstGeom prst="rect">
                <a:avLst/>
              </a:prstGeom>
              <a:noFill/>
            </p:spPr>
            <p:txBody>
              <a:bodyPr wrap="square" lIns="0" tIns="0" rIns="0" bIns="0" rtlCol="0">
                <a:spAutoFit/>
              </a:bodyPr>
              <a:lstStyle/>
              <a:p>
                <a:pPr algn="ctr"/>
                <a:r>
                  <a:rPr lang="en-US" altLang="zh-CN" sz="1200" b="1"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一核</a:t>
                </a:r>
                <a:r>
                  <a:rPr lang="en-US" altLang="zh-CN" sz="1200" b="1" dirty="0">
                    <a:solidFill>
                      <a:schemeClr val="bg1"/>
                    </a:solidFill>
                    <a:latin typeface="微软雅黑" panose="020B0503020204020204" charset="-122"/>
                    <a:ea typeface="微软雅黑" panose="020B0503020204020204" charset="-122"/>
                    <a:cs typeface="微软雅黑" panose="020B0503020204020204" charset="-122"/>
                  </a:rPr>
                  <a:t>”</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187" name="©显眼包PPT-13"/>
            <p:cNvSpPr txBox="1"/>
            <p:nvPr/>
          </p:nvSpPr>
          <p:spPr>
            <a:xfrm>
              <a:off x="4886" y="6108"/>
              <a:ext cx="758" cy="145"/>
            </a:xfrm>
            <a:prstGeom prst="rect">
              <a:avLst/>
            </a:prstGeom>
            <a:noFill/>
          </p:spPr>
          <p:txBody>
            <a:bodyPr wrap="square" lIns="0" tIns="0" rIns="0" bIns="0" rtlCol="0">
              <a:spAutoFit/>
            </a:bodyPr>
            <a:lstStyle/>
            <a:p>
              <a:pPr algn="ctr"/>
              <a:r>
                <a:rPr lang="zh-CN" altLang="en-US" sz="600" dirty="0">
                  <a:solidFill>
                    <a:schemeClr val="bg1"/>
                  </a:solidFill>
                  <a:latin typeface="微软雅黑" panose="020B0503020204020204" charset="-122"/>
                  <a:ea typeface="微软雅黑" panose="020B0503020204020204" charset="-122"/>
                  <a:cs typeface="微软雅黑" panose="020B0503020204020204" charset="-122"/>
                </a:rPr>
                <a:t>价值增长</a:t>
              </a:r>
              <a:endParaRPr lang="zh-CN" altLang="en-US" sz="600" dirty="0">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190" name="组合 189"/>
          <p:cNvGrpSpPr/>
          <p:nvPr/>
        </p:nvGrpSpPr>
        <p:grpSpPr>
          <a:xfrm>
            <a:off x="1346835" y="1954530"/>
            <a:ext cx="3949700" cy="3648710"/>
            <a:chOff x="3936" y="12583"/>
            <a:chExt cx="6220" cy="5746"/>
          </a:xfrm>
        </p:grpSpPr>
        <p:sp>
          <p:nvSpPr>
            <p:cNvPr id="191" name="文本框 190"/>
            <p:cNvSpPr txBox="1"/>
            <p:nvPr/>
          </p:nvSpPr>
          <p:spPr>
            <a:xfrm rot="1800000">
              <a:off x="4713" y="13170"/>
              <a:ext cx="5443" cy="5159"/>
            </a:xfrm>
            <a:prstGeom prst="rect">
              <a:avLst/>
            </a:prstGeom>
            <a:noFill/>
          </p:spPr>
          <p:txBody>
            <a:bodyPr wrap="square" rtlCol="0">
              <a:prstTxWarp prst="textArchUp">
                <a:avLst>
                  <a:gd name="adj" fmla="val 8606457"/>
                </a:avLst>
              </a:prstTxWarp>
              <a:noAutofit/>
            </a:bodyPr>
            <a:p>
              <a:r>
                <a:rPr lang="zh-CN" altLang="en-US" sz="1000" b="1">
                  <a:solidFill>
                    <a:schemeClr val="tx2"/>
                  </a:solidFill>
                  <a:latin typeface="微软雅黑" panose="020B0503020204020204" charset="-122"/>
                  <a:ea typeface="微软雅黑" panose="020B0503020204020204" charset="-122"/>
                  <a:cs typeface="微软雅黑" panose="020B0503020204020204" charset="-122"/>
                </a:rPr>
                <a:t>第一翼：</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精益管理翼（提效率、降成本）</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2" name="文本框 191"/>
            <p:cNvSpPr txBox="1"/>
            <p:nvPr/>
          </p:nvSpPr>
          <p:spPr>
            <a:xfrm rot="18360000">
              <a:off x="4318" y="12503"/>
              <a:ext cx="4924" cy="5083"/>
            </a:xfrm>
            <a:prstGeom prst="rect">
              <a:avLst/>
            </a:prstGeom>
            <a:noFill/>
          </p:spPr>
          <p:txBody>
            <a:bodyPr wrap="square" rtlCol="0">
              <a:prstTxWarp prst="textArchDown">
                <a:avLst/>
              </a:prstTxWarp>
              <a:noAutofit/>
            </a:bodyPr>
            <a:p>
              <a:r>
                <a:rPr lang="zh-CN" altLang="en-US" sz="1000" b="1">
                  <a:solidFill>
                    <a:schemeClr val="tx2"/>
                  </a:solidFill>
                  <a:latin typeface="微软雅黑" panose="020B0503020204020204" charset="-122"/>
                  <a:ea typeface="微软雅黑" panose="020B0503020204020204" charset="-122"/>
                  <a:cs typeface="微软雅黑" panose="020B0503020204020204" charset="-122"/>
                </a:rPr>
                <a:t>第三翼：</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组织创新翼（激活力、促变革）</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93" name="文本框 192"/>
            <p:cNvSpPr txBox="1"/>
            <p:nvPr/>
          </p:nvSpPr>
          <p:spPr>
            <a:xfrm rot="8760000">
              <a:off x="3936" y="13166"/>
              <a:ext cx="5291" cy="5159"/>
            </a:xfrm>
            <a:prstGeom prst="rect">
              <a:avLst/>
            </a:prstGeom>
            <a:noFill/>
          </p:spPr>
          <p:txBody>
            <a:bodyPr wrap="square" rtlCol="0">
              <a:prstTxWarp prst="textArchUp">
                <a:avLst>
                  <a:gd name="adj" fmla="val 8606457"/>
                </a:avLst>
              </a:prstTxWarp>
              <a:noAutofit/>
            </a:bodyPr>
            <a:p>
              <a:r>
                <a:rPr lang="zh-CN" altLang="en-US" sz="1000" b="1">
                  <a:solidFill>
                    <a:schemeClr val="tx2"/>
                  </a:solidFill>
                  <a:latin typeface="微软雅黑" panose="020B0503020204020204" charset="-122"/>
                  <a:ea typeface="微软雅黑" panose="020B0503020204020204" charset="-122"/>
                  <a:cs typeface="微软雅黑" panose="020B0503020204020204" charset="-122"/>
                </a:rPr>
                <a:t>第二翼：</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客户价值翼（创收入、塑品牌）</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cxnSp>
        <p:nvCxnSpPr>
          <p:cNvPr id="7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84" name="组合 83"/>
          <p:cNvGrpSpPr/>
          <p:nvPr/>
        </p:nvGrpSpPr>
        <p:grpSpPr>
          <a:xfrm>
            <a:off x="8738235" y="348615"/>
            <a:ext cx="3219450" cy="332740"/>
            <a:chOff x="13761" y="549"/>
            <a:chExt cx="5070" cy="524"/>
          </a:xfrm>
        </p:grpSpPr>
        <p:pic>
          <p:nvPicPr>
            <p:cNvPr id="96" name="图片 95"/>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97" name="文本框 96"/>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熊大的PPT宝库1"/>
          <p:cNvSpPr/>
          <p:nvPr/>
        </p:nvSpPr>
        <p:spPr>
          <a:xfrm flipH="1" flipV="1">
            <a:off x="2632710" y="1043305"/>
            <a:ext cx="3897630" cy="5418455"/>
          </a:xfrm>
          <a:custGeom>
            <a:avLst/>
            <a:gdLst>
              <a:gd name="connsiteX0" fmla="*/ 0 w 8928484"/>
              <a:gd name="connsiteY0" fmla="*/ 0 h 6858000"/>
              <a:gd name="connsiteX1" fmla="*/ 498456 w 8928484"/>
              <a:gd name="connsiteY1" fmla="*/ 0 h 6858000"/>
              <a:gd name="connsiteX2" fmla="*/ 888782 w 8928484"/>
              <a:gd name="connsiteY2" fmla="*/ 136240 h 6858000"/>
              <a:gd name="connsiteX3" fmla="*/ 8928484 w 8928484"/>
              <a:gd name="connsiteY3" fmla="*/ 1391779 h 6858000"/>
              <a:gd name="connsiteX4" fmla="*/ 8928484 w 8928484"/>
              <a:gd name="connsiteY4" fmla="*/ 6132034 h 6858000"/>
              <a:gd name="connsiteX5" fmla="*/ 2739265 w 8928484"/>
              <a:gd name="connsiteY5" fmla="*/ 6851344 h 6858000"/>
              <a:gd name="connsiteX6" fmla="*/ 2713283 w 8928484"/>
              <a:gd name="connsiteY6" fmla="*/ 6858000 h 6858000"/>
              <a:gd name="connsiteX7" fmla="*/ 0 w 8928484"/>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780" h="10516">
                <a:moveTo>
                  <a:pt x="1" y="0"/>
                </a:moveTo>
                <a:lnTo>
                  <a:pt x="324" y="0"/>
                </a:lnTo>
                <a:lnTo>
                  <a:pt x="576" y="180"/>
                </a:lnTo>
                <a:cubicBezTo>
                  <a:pt x="2826" y="1738"/>
                  <a:pt x="4966" y="1851"/>
                  <a:pt x="5527" y="1844"/>
                </a:cubicBezTo>
                <a:cubicBezTo>
                  <a:pt x="5705" y="1843"/>
                  <a:pt x="5791" y="1834"/>
                  <a:pt x="5779" y="1835"/>
                </a:cubicBezTo>
                <a:lnTo>
                  <a:pt x="5779" y="8084"/>
                </a:lnTo>
                <a:lnTo>
                  <a:pt x="5778" y="8084"/>
                </a:lnTo>
                <a:lnTo>
                  <a:pt x="5778" y="8681"/>
                </a:lnTo>
                <a:cubicBezTo>
                  <a:pt x="5798" y="8681"/>
                  <a:pt x="5628" y="8671"/>
                  <a:pt x="5526" y="8672"/>
                </a:cubicBezTo>
                <a:cubicBezTo>
                  <a:pt x="4906" y="8610"/>
                  <a:pt x="2554" y="8934"/>
                  <a:pt x="575" y="10336"/>
                </a:cubicBezTo>
                <a:lnTo>
                  <a:pt x="323" y="10516"/>
                </a:lnTo>
                <a:lnTo>
                  <a:pt x="0" y="10516"/>
                </a:lnTo>
                <a:lnTo>
                  <a:pt x="0" y="1475"/>
                </a:lnTo>
                <a:lnTo>
                  <a:pt x="1" y="1475"/>
                </a:lnTo>
                <a:lnTo>
                  <a:pt x="1" y="0"/>
                </a:lnTo>
                <a:close/>
              </a:path>
            </a:pathLst>
          </a:custGeom>
          <a:gradFill flip="none" rotWithShape="1">
            <a:gsLst>
              <a:gs pos="0">
                <a:schemeClr val="accent1">
                  <a:lumMod val="20000"/>
                  <a:lumOff val="80000"/>
                  <a:alpha val="0"/>
                </a:schemeClr>
              </a:gs>
              <a:gs pos="100000">
                <a:schemeClr val="accent1">
                  <a:lumMod val="20000"/>
                  <a:lumOff val="80000"/>
                </a:schemeClr>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457200"/>
            <a:endParaRPr lang="en-US" altLang="en-US">
              <a:solidFill>
                <a:schemeClr val="lt1"/>
              </a:solidFill>
              <a:latin typeface="微软雅黑" panose="020B0503020204020204" charset="-122"/>
              <a:ea typeface="微软雅黑" panose="020B0503020204020204" charset="-122"/>
              <a:cs typeface="微软雅黑" panose="020B0503020204020204" charset="-122"/>
            </a:endParaRPr>
          </a:p>
        </p:txBody>
      </p:sp>
      <p:sp>
        <p:nvSpPr>
          <p:cNvPr id="41" name="椭圆 40"/>
          <p:cNvSpPr/>
          <p:nvPr/>
        </p:nvSpPr>
        <p:spPr>
          <a:xfrm>
            <a:off x="1267803" y="1827530"/>
            <a:ext cx="3933612" cy="3933616"/>
          </a:xfrm>
          <a:prstGeom prst="ellipse">
            <a:avLst/>
          </a:prstGeom>
          <a:solidFill>
            <a:schemeClr val="bg1"/>
          </a:solidFill>
          <a:ln w="13716">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5" name="标题 2"/>
          <p:cNvSpPr>
            <a:spLocks noGrp="1"/>
          </p:cNvSpPr>
          <p:nvPr/>
        </p:nvSpPr>
        <p:spPr>
          <a:xfrm>
            <a:off x="1105535" y="348298"/>
            <a:ext cx="7338695"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企业数字化转型中的困难</a:t>
            </a:r>
            <a:endPar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 name="椭圆 2"/>
          <p:cNvSpPr/>
          <p:nvPr/>
        </p:nvSpPr>
        <p:spPr>
          <a:xfrm>
            <a:off x="1268095" y="1827530"/>
            <a:ext cx="3933825" cy="3933825"/>
          </a:xfrm>
          <a:prstGeom prst="ellipse">
            <a:avLst/>
          </a:prstGeom>
          <a:gradFill flip="none" rotWithShape="1">
            <a:gsLst>
              <a:gs pos="40000">
                <a:schemeClr val="accent1">
                  <a:lumMod val="20000"/>
                  <a:lumOff val="80000"/>
                  <a:alpha val="0"/>
                </a:schemeClr>
              </a:gs>
              <a:gs pos="100000">
                <a:schemeClr val="accent1">
                  <a:lumMod val="20000"/>
                  <a:lumOff val="80000"/>
                  <a:alpha val="80000"/>
                </a:schemeClr>
              </a:gs>
            </a:gsLst>
            <a:path path="circle">
              <a:fillToRect l="50000" t="50000" r="50000" b="50000"/>
            </a:path>
            <a:tileRect/>
          </a:gradFill>
          <a:ln w="13716">
            <a:solidFill>
              <a:schemeClr val="accent1">
                <a:lumMod val="40000"/>
                <a:lumOff val="6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6" name="椭圆 5"/>
          <p:cNvSpPr/>
          <p:nvPr/>
        </p:nvSpPr>
        <p:spPr>
          <a:xfrm>
            <a:off x="2130425" y="2679700"/>
            <a:ext cx="2229485" cy="2229485"/>
          </a:xfrm>
          <a:prstGeom prst="ellipse">
            <a:avLst/>
          </a:prstGeom>
          <a:gradFill flip="none" rotWithShape="1">
            <a:gsLst>
              <a:gs pos="40000">
                <a:schemeClr val="accent1">
                  <a:lumMod val="20000"/>
                  <a:lumOff val="80000"/>
                  <a:alpha val="50000"/>
                </a:schemeClr>
              </a:gs>
              <a:gs pos="100000">
                <a:schemeClr val="accent1">
                  <a:lumMod val="20000"/>
                  <a:lumOff val="80000"/>
                  <a:alpha val="0"/>
                </a:schemeClr>
              </a:gs>
            </a:gsLst>
            <a:path path="circle">
              <a:fillToRect l="50000" t="50000" r="50000" b="50000"/>
            </a:path>
            <a:tileRect/>
          </a:gradFill>
          <a:ln w="13716">
            <a:solidFill>
              <a:schemeClr val="accent1"/>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7" name="椭圆 6"/>
          <p:cNvSpPr/>
          <p:nvPr/>
        </p:nvSpPr>
        <p:spPr>
          <a:xfrm>
            <a:off x="2640965" y="3197860"/>
            <a:ext cx="1226820" cy="1226820"/>
          </a:xfrm>
          <a:prstGeom prst="ellipse">
            <a:avLst/>
          </a:prstGeom>
          <a:gradFill>
            <a:gsLst>
              <a:gs pos="0">
                <a:schemeClr val="accent1"/>
              </a:gs>
              <a:gs pos="100000">
                <a:schemeClr val="accent1">
                  <a:lumMod val="60000"/>
                  <a:lumOff val="40000"/>
                </a:schemeClr>
              </a:gs>
            </a:gsLst>
            <a:lin ang="2700000" scaled="0"/>
          </a:gradFill>
          <a:ln w="38100">
            <a:noFill/>
          </a:ln>
          <a:effectLst>
            <a:outerShdw blurRad="50800" dist="38100" dir="2700000" algn="tl"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b="1" dirty="0">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2820035" y="3585210"/>
            <a:ext cx="883285" cy="492125"/>
          </a:xfrm>
          <a:prstGeom prst="rect">
            <a:avLst/>
          </a:prstGeom>
          <a:noFill/>
        </p:spPr>
        <p:txBody>
          <a:bodyPr wrap="square" lIns="0" tIns="0" rIns="0" bIns="0" rtlCol="0">
            <a:spAutoFit/>
          </a:bodyPr>
          <a:lstStyle/>
          <a:p>
            <a:pPr algn="ctr"/>
            <a:r>
              <a:rPr lang="zh-CN" sz="1600" b="1" dirty="0">
                <a:solidFill>
                  <a:srgbClr val="FFFFFF"/>
                </a:solidFill>
                <a:latin typeface="微软雅黑" panose="020B0503020204020204" charset="-122"/>
                <a:ea typeface="微软雅黑" panose="020B0503020204020204" charset="-122"/>
                <a:cs typeface="+mn-ea"/>
                <a:sym typeface="+mn-lt"/>
              </a:rPr>
              <a:t>数字化</a:t>
            </a:r>
            <a:endParaRPr lang="zh-CN" sz="1600" b="1" dirty="0">
              <a:solidFill>
                <a:srgbClr val="FFFFFF"/>
              </a:solidFill>
              <a:latin typeface="微软雅黑" panose="020B0503020204020204" charset="-122"/>
              <a:ea typeface="微软雅黑" panose="020B0503020204020204" charset="-122"/>
              <a:cs typeface="+mn-ea"/>
              <a:sym typeface="+mn-lt"/>
            </a:endParaRPr>
          </a:p>
          <a:p>
            <a:pPr algn="ctr"/>
            <a:r>
              <a:rPr lang="zh-CN" sz="1600" b="1" dirty="0">
                <a:solidFill>
                  <a:srgbClr val="FFFFFF"/>
                </a:solidFill>
                <a:latin typeface="微软雅黑" panose="020B0503020204020204" charset="-122"/>
                <a:ea typeface="微软雅黑" panose="020B0503020204020204" charset="-122"/>
                <a:cs typeface="+mn-ea"/>
                <a:sym typeface="+mn-lt"/>
              </a:rPr>
              <a:t>转型困难</a:t>
            </a:r>
            <a:endParaRPr lang="zh-CN" sz="1600" b="1" dirty="0">
              <a:solidFill>
                <a:srgbClr val="FFFFFF"/>
              </a:solidFill>
              <a:latin typeface="微软雅黑" panose="020B0503020204020204" charset="-122"/>
              <a:ea typeface="微软雅黑" panose="020B0503020204020204" charset="-122"/>
              <a:cs typeface="+mn-ea"/>
              <a:sym typeface="+mn-lt"/>
            </a:endParaRPr>
          </a:p>
        </p:txBody>
      </p:sp>
      <p:sp>
        <p:nvSpPr>
          <p:cNvPr id="15" name="îṧļïḑe"/>
          <p:cNvSpPr txBox="1"/>
          <p:nvPr/>
        </p:nvSpPr>
        <p:spPr>
          <a:xfrm rot="19387322">
            <a:off x="1674495" y="2347595"/>
            <a:ext cx="1645285" cy="769620"/>
          </a:xfrm>
          <a:prstGeom prst="rect">
            <a:avLst/>
          </a:prstGeom>
          <a:noFill/>
        </p:spPr>
        <p:txBody>
          <a:bodyPr wrap="square" lIns="91440" tIns="45720" rIns="91440" bIns="45720" rtlCol="0" anchor="ctr" anchorCtr="0">
            <a:prstTxWarp prst="textArchUp">
              <a:avLst/>
            </a:prstTxWarp>
            <a:noAutofit/>
          </a:bodyPr>
          <a:lstStyle/>
          <a:p>
            <a:pPr algn="ctr"/>
            <a:r>
              <a:rPr lang="zh-CN" altLang="en-US" sz="1400" dirty="0">
                <a:solidFill>
                  <a:schemeClr val="accent1"/>
                </a:solidFill>
                <a:latin typeface="微软雅黑" panose="020B0503020204020204" charset="-122"/>
                <a:ea typeface="微软雅黑" panose="020B0503020204020204" charset="-122"/>
                <a:cs typeface="+mn-ea"/>
                <a:sym typeface="+mn-lt"/>
              </a:rPr>
              <a:t>投资回报不确定</a:t>
            </a:r>
            <a:endParaRPr lang="zh-CN" altLang="en-US" sz="1400" dirty="0">
              <a:solidFill>
                <a:schemeClr val="accent1"/>
              </a:solidFill>
              <a:latin typeface="微软雅黑" panose="020B0503020204020204" charset="-122"/>
              <a:ea typeface="微软雅黑" panose="020B0503020204020204" charset="-122"/>
              <a:cs typeface="+mn-ea"/>
              <a:sym typeface="+mn-lt"/>
            </a:endParaRPr>
          </a:p>
        </p:txBody>
      </p:sp>
      <p:sp>
        <p:nvSpPr>
          <p:cNvPr id="8" name="îṧļïḑe"/>
          <p:cNvSpPr txBox="1"/>
          <p:nvPr/>
        </p:nvSpPr>
        <p:spPr>
          <a:xfrm rot="1973401">
            <a:off x="3080385" y="2267585"/>
            <a:ext cx="1645285" cy="769620"/>
          </a:xfrm>
          <a:prstGeom prst="rect">
            <a:avLst/>
          </a:prstGeom>
          <a:noFill/>
        </p:spPr>
        <p:txBody>
          <a:bodyPr wrap="square" lIns="91440" tIns="45720" rIns="91440" bIns="45720" rtlCol="0" anchor="ctr" anchorCtr="0">
            <a:prstTxWarp prst="textArchUp">
              <a:avLst/>
            </a:prstTxWarp>
            <a:noAutofit/>
          </a:bodyPr>
          <a:lstStyle/>
          <a:p>
            <a:pPr algn="ctr"/>
            <a:r>
              <a:rPr lang="zh-CN" altLang="en-US" sz="1400" dirty="0">
                <a:solidFill>
                  <a:schemeClr val="accent1"/>
                </a:solidFill>
                <a:latin typeface="微软雅黑" panose="020B0503020204020204" charset="-122"/>
                <a:ea typeface="微软雅黑" panose="020B0503020204020204" charset="-122"/>
                <a:cs typeface="+mn-ea"/>
                <a:sym typeface="+mn-lt"/>
              </a:rPr>
              <a:t>技术迭代迅速</a:t>
            </a:r>
            <a:endParaRPr lang="zh-CN" altLang="en-US" sz="1400" dirty="0">
              <a:solidFill>
                <a:schemeClr val="accent1"/>
              </a:solidFill>
              <a:latin typeface="微软雅黑" panose="020B0503020204020204" charset="-122"/>
              <a:ea typeface="微软雅黑" panose="020B0503020204020204" charset="-122"/>
              <a:cs typeface="+mn-ea"/>
              <a:sym typeface="+mn-lt"/>
            </a:endParaRPr>
          </a:p>
        </p:txBody>
      </p:sp>
      <p:sp>
        <p:nvSpPr>
          <p:cNvPr id="9" name="îṧļïḑe"/>
          <p:cNvSpPr txBox="1"/>
          <p:nvPr/>
        </p:nvSpPr>
        <p:spPr>
          <a:xfrm rot="16200000">
            <a:off x="3723005" y="3444875"/>
            <a:ext cx="1645285" cy="769620"/>
          </a:xfrm>
          <a:prstGeom prst="rect">
            <a:avLst/>
          </a:prstGeom>
          <a:noFill/>
        </p:spPr>
        <p:txBody>
          <a:bodyPr wrap="square" lIns="91440" tIns="45720" rIns="91440" bIns="45720" rtlCol="0" anchor="ctr" anchorCtr="0">
            <a:prstTxWarp prst="textArchDown">
              <a:avLst>
                <a:gd name="adj" fmla="val 1000281"/>
              </a:avLst>
            </a:prstTxWarp>
            <a:noAutofit/>
          </a:bodyPr>
          <a:lstStyle/>
          <a:p>
            <a:pPr algn="ctr"/>
            <a:r>
              <a:rPr lang="zh-CN" altLang="en-US" sz="1400" dirty="0">
                <a:solidFill>
                  <a:schemeClr val="accent5"/>
                </a:solidFill>
                <a:latin typeface="微软雅黑" panose="020B0503020204020204" charset="-122"/>
                <a:ea typeface="微软雅黑" panose="020B0503020204020204" charset="-122"/>
                <a:cs typeface="+mn-ea"/>
                <a:sym typeface="+mn-lt"/>
              </a:rPr>
              <a:t>组织架构僵化</a:t>
            </a:r>
            <a:endParaRPr lang="zh-CN" altLang="en-US" sz="1400" dirty="0">
              <a:solidFill>
                <a:schemeClr val="accent5"/>
              </a:solidFill>
              <a:latin typeface="微软雅黑" panose="020B0503020204020204" charset="-122"/>
              <a:ea typeface="微软雅黑" panose="020B0503020204020204" charset="-122"/>
              <a:cs typeface="+mn-ea"/>
              <a:sym typeface="+mn-lt"/>
            </a:endParaRPr>
          </a:p>
        </p:txBody>
      </p:sp>
      <p:sp>
        <p:nvSpPr>
          <p:cNvPr id="11" name="îṧļïḑe"/>
          <p:cNvSpPr txBox="1"/>
          <p:nvPr/>
        </p:nvSpPr>
        <p:spPr>
          <a:xfrm rot="19981576">
            <a:off x="2985770" y="4542790"/>
            <a:ext cx="1645285" cy="769620"/>
          </a:xfrm>
          <a:prstGeom prst="rect">
            <a:avLst/>
          </a:prstGeom>
          <a:noFill/>
        </p:spPr>
        <p:txBody>
          <a:bodyPr wrap="square" lIns="91440" tIns="45720" rIns="91440" bIns="45720" rtlCol="0" anchor="ctr" anchorCtr="0">
            <a:prstTxWarp prst="textArchDown">
              <a:avLst>
                <a:gd name="adj" fmla="val 1580621"/>
              </a:avLst>
            </a:prstTxWarp>
            <a:noAutofit/>
          </a:bodyPr>
          <a:lstStyle/>
          <a:p>
            <a:pPr algn="ctr"/>
            <a:r>
              <a:rPr lang="zh-CN" altLang="en-US" sz="1400" dirty="0">
                <a:solidFill>
                  <a:schemeClr val="accent1"/>
                </a:solidFill>
                <a:latin typeface="微软雅黑" panose="020B0503020204020204" charset="-122"/>
                <a:ea typeface="微软雅黑" panose="020B0503020204020204" charset="-122"/>
                <a:cs typeface="+mn-ea"/>
                <a:sym typeface="+mn-lt"/>
              </a:rPr>
              <a:t>数据形成孤岛</a:t>
            </a:r>
            <a:endParaRPr lang="zh-CN" altLang="en-US" sz="1400" dirty="0">
              <a:solidFill>
                <a:schemeClr val="accent1"/>
              </a:solidFill>
              <a:latin typeface="微软雅黑" panose="020B0503020204020204" charset="-122"/>
              <a:ea typeface="微软雅黑" panose="020B0503020204020204" charset="-122"/>
              <a:cs typeface="+mn-ea"/>
              <a:sym typeface="+mn-lt"/>
            </a:endParaRPr>
          </a:p>
        </p:txBody>
      </p:sp>
      <p:sp>
        <p:nvSpPr>
          <p:cNvPr id="12" name="îṧļïḑe"/>
          <p:cNvSpPr txBox="1"/>
          <p:nvPr/>
        </p:nvSpPr>
        <p:spPr>
          <a:xfrm rot="2298444">
            <a:off x="1657985" y="4390390"/>
            <a:ext cx="1645285" cy="821055"/>
          </a:xfrm>
          <a:prstGeom prst="rect">
            <a:avLst/>
          </a:prstGeom>
          <a:noFill/>
        </p:spPr>
        <p:txBody>
          <a:bodyPr wrap="square" lIns="91440" tIns="45720" rIns="91440" bIns="45720" rtlCol="0" anchor="ctr" anchorCtr="0">
            <a:prstTxWarp prst="textArchDown">
              <a:avLst>
                <a:gd name="adj" fmla="val 655720"/>
              </a:avLst>
            </a:prstTxWarp>
            <a:noAutofit/>
          </a:bodyPr>
          <a:lstStyle/>
          <a:p>
            <a:pPr algn="ctr"/>
            <a:r>
              <a:rPr lang="zh-CN" sz="1400" dirty="0">
                <a:solidFill>
                  <a:schemeClr val="accent1"/>
                </a:solidFill>
                <a:latin typeface="微软雅黑" panose="020B0503020204020204" charset="-122"/>
                <a:ea typeface="微软雅黑" panose="020B0503020204020204" charset="-122"/>
                <a:cs typeface="微软雅黑" panose="020B0503020204020204" charset="-122"/>
                <a:sym typeface="+mn-lt"/>
              </a:rPr>
              <a:t>人才技能短缺</a:t>
            </a:r>
            <a:endParaRPr lang="zh-CN" sz="1400" dirty="0">
              <a:solidFill>
                <a:schemeClr val="accent1"/>
              </a:solidFill>
              <a:latin typeface="微软雅黑" panose="020B0503020204020204" charset="-122"/>
              <a:ea typeface="微软雅黑" panose="020B0503020204020204" charset="-122"/>
              <a:cs typeface="微软雅黑" panose="020B0503020204020204" charset="-122"/>
              <a:sym typeface="+mn-lt"/>
            </a:endParaRPr>
          </a:p>
        </p:txBody>
      </p:sp>
      <p:sp>
        <p:nvSpPr>
          <p:cNvPr id="13" name="îṧļïḑe"/>
          <p:cNvSpPr txBox="1"/>
          <p:nvPr/>
        </p:nvSpPr>
        <p:spPr>
          <a:xfrm rot="16442167">
            <a:off x="1118870" y="3394075"/>
            <a:ext cx="1645285" cy="769620"/>
          </a:xfrm>
          <a:prstGeom prst="rect">
            <a:avLst/>
          </a:prstGeom>
          <a:noFill/>
        </p:spPr>
        <p:txBody>
          <a:bodyPr wrap="square" lIns="91440" tIns="45720" rIns="91440" bIns="45720" rtlCol="0" anchor="ctr" anchorCtr="0">
            <a:prstTxWarp prst="textArchUp">
              <a:avLst>
                <a:gd name="adj" fmla="val 12012906"/>
              </a:avLst>
            </a:prstTxWarp>
            <a:noAutofit/>
          </a:bodyPr>
          <a:lstStyle/>
          <a:p>
            <a:pPr algn="ctr"/>
            <a:r>
              <a:rPr lang="zh-CN" altLang="en-US" sz="1400" dirty="0">
                <a:solidFill>
                  <a:schemeClr val="accent5"/>
                </a:solidFill>
                <a:latin typeface="微软雅黑" panose="020B0503020204020204" charset="-122"/>
                <a:ea typeface="微软雅黑" panose="020B0503020204020204" charset="-122"/>
                <a:cs typeface="+mn-ea"/>
                <a:sym typeface="+mn-lt"/>
              </a:rPr>
              <a:t>业务流程受阻</a:t>
            </a:r>
            <a:endParaRPr lang="zh-CN" altLang="en-US" sz="1400" dirty="0">
              <a:solidFill>
                <a:schemeClr val="accent5"/>
              </a:solidFill>
              <a:latin typeface="微软雅黑" panose="020B0503020204020204" charset="-122"/>
              <a:ea typeface="微软雅黑" panose="020B0503020204020204" charset="-122"/>
              <a:cs typeface="+mn-ea"/>
              <a:sym typeface="+mn-lt"/>
            </a:endParaRPr>
          </a:p>
        </p:txBody>
      </p:sp>
      <p:sp>
        <p:nvSpPr>
          <p:cNvPr id="47" name="椭圆 46"/>
          <p:cNvSpPr/>
          <p:nvPr>
            <p:custDataLst>
              <p:tags r:id="rId3"/>
            </p:custDataLst>
          </p:nvPr>
        </p:nvSpPr>
        <p:spPr>
          <a:xfrm flipH="1">
            <a:off x="3506470" y="4610100"/>
            <a:ext cx="499745" cy="499745"/>
          </a:xfrm>
          <a:prstGeom prst="ellipse">
            <a:avLst/>
          </a:prstGeom>
          <a:solidFill>
            <a:schemeClr val="accent1">
              <a:lumMod val="60000"/>
              <a:lumOff val="40000"/>
            </a:schemeClr>
          </a:solidFill>
          <a:ln w="12700" cap="flat" cmpd="sng" algn="ctr">
            <a:solidFill>
              <a:schemeClr val="bg1"/>
            </a:solidFill>
            <a:prstDash val="solid"/>
            <a:miter lim="800000"/>
          </a:ln>
          <a:effectLst>
            <a:outerShdw blurRad="50800" dist="38100" dir="2700000" algn="tl" rotWithShape="0">
              <a:schemeClr val="accent1">
                <a:lumMod val="60000"/>
                <a:lumOff val="40000"/>
                <a:alpha val="40000"/>
              </a:schemeClr>
            </a:outerShdw>
          </a:effectLst>
        </p:spPr>
        <p:txBody>
          <a:bodyPr lIns="98755" tIns="49378" rIns="98755" bIns="49378" rtlCol="0" anchor="ctr">
            <a:noAutofit/>
          </a:bodyPr>
          <a:lstStyle/>
          <a:p>
            <a:pPr lvl="0" algn="ctr">
              <a:spcBef>
                <a:spcPts val="0"/>
              </a:spcBef>
              <a:spcAft>
                <a:spcPts val="0"/>
              </a:spcAft>
              <a:buClrTx/>
              <a:buSzTx/>
              <a:buFontTx/>
              <a:defRPr/>
            </a:pPr>
            <a:endParaRPr lang="zh-CN" altLang="en-US" sz="1945" kern="0" noProof="0" dirty="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4" name="椭圆 43"/>
          <p:cNvSpPr/>
          <p:nvPr>
            <p:custDataLst>
              <p:tags r:id="rId4"/>
            </p:custDataLst>
          </p:nvPr>
        </p:nvSpPr>
        <p:spPr>
          <a:xfrm flipH="1">
            <a:off x="4189730" y="3519170"/>
            <a:ext cx="499745" cy="499745"/>
          </a:xfrm>
          <a:prstGeom prst="ellipse">
            <a:avLst/>
          </a:prstGeom>
          <a:solidFill>
            <a:schemeClr val="accent5">
              <a:lumMod val="60000"/>
              <a:lumOff val="40000"/>
            </a:schemeClr>
          </a:solidFill>
          <a:ln w="12700" cap="flat" cmpd="sng" algn="ctr">
            <a:solidFill>
              <a:schemeClr val="bg1"/>
            </a:solidFill>
            <a:prstDash val="solid"/>
            <a:miter lim="800000"/>
          </a:ln>
          <a:effectLst>
            <a:outerShdw blurRad="50800" dist="38100" dir="2700000" algn="tl" rotWithShape="0">
              <a:schemeClr val="accent5">
                <a:lumMod val="60000"/>
                <a:lumOff val="40000"/>
                <a:alpha val="40000"/>
              </a:schemeClr>
            </a:outerShdw>
          </a:effectLst>
        </p:spPr>
        <p:txBody>
          <a:bodyPr lIns="98755" tIns="49378" rIns="98755" bIns="49378" rtlCol="0" anchor="ctr">
            <a:noAutofit/>
          </a:bodyPr>
          <a:lstStyle/>
          <a:p>
            <a:pPr lvl="0" algn="ctr">
              <a:spcBef>
                <a:spcPts val="0"/>
              </a:spcBef>
              <a:spcAft>
                <a:spcPts val="0"/>
              </a:spcAft>
              <a:buClrTx/>
              <a:buSzTx/>
              <a:buFontTx/>
              <a:defRPr/>
            </a:pPr>
            <a:endParaRPr lang="zh-CN" altLang="en-US" sz="1945" kern="0" noProof="0" dirty="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6" name="椭圆 15"/>
          <p:cNvSpPr/>
          <p:nvPr>
            <p:custDataLst>
              <p:tags r:id="rId5"/>
            </p:custDataLst>
          </p:nvPr>
        </p:nvSpPr>
        <p:spPr>
          <a:xfrm flipH="1">
            <a:off x="2320290" y="2556510"/>
            <a:ext cx="499745" cy="499745"/>
          </a:xfrm>
          <a:prstGeom prst="ellipse">
            <a:avLst/>
          </a:prstGeom>
          <a:solidFill>
            <a:schemeClr val="accent1">
              <a:lumMod val="60000"/>
              <a:lumOff val="40000"/>
            </a:schemeClr>
          </a:solidFill>
          <a:ln w="12700" cap="flat" cmpd="sng" algn="ctr">
            <a:solidFill>
              <a:schemeClr val="bg1"/>
            </a:solidFill>
            <a:prstDash val="solid"/>
            <a:miter lim="800000"/>
          </a:ln>
          <a:effectLst>
            <a:outerShdw blurRad="50800" dist="38100" dir="2700000" algn="tl" rotWithShape="0">
              <a:schemeClr val="accent1">
                <a:lumMod val="60000"/>
                <a:lumOff val="40000"/>
                <a:alpha val="40000"/>
              </a:schemeClr>
            </a:outerShdw>
          </a:effectLst>
        </p:spPr>
        <p:txBody>
          <a:bodyPr lIns="98755" tIns="49378" rIns="98755" bIns="49378" rtlCol="0" anchor="ctr"/>
          <a:lstStyle/>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945" u="none" strike="noStrike" kern="0" cap="none" spc="0" normalizeH="0" baseline="0" noProof="0" dirty="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endParaRPr>
          </a:p>
        </p:txBody>
      </p:sp>
      <p:sp>
        <p:nvSpPr>
          <p:cNvPr id="39" name="椭圆 38"/>
          <p:cNvSpPr/>
          <p:nvPr>
            <p:custDataLst>
              <p:tags r:id="rId6"/>
            </p:custDataLst>
          </p:nvPr>
        </p:nvSpPr>
        <p:spPr>
          <a:xfrm flipH="1">
            <a:off x="3559175" y="2512060"/>
            <a:ext cx="499745" cy="499745"/>
          </a:xfrm>
          <a:prstGeom prst="ellipse">
            <a:avLst/>
          </a:prstGeom>
          <a:solidFill>
            <a:schemeClr val="accent1">
              <a:lumMod val="60000"/>
              <a:lumOff val="40000"/>
            </a:schemeClr>
          </a:solidFill>
          <a:ln w="12700" cap="flat" cmpd="sng" algn="ctr">
            <a:solidFill>
              <a:schemeClr val="bg1"/>
            </a:solidFill>
            <a:prstDash val="solid"/>
            <a:miter lim="800000"/>
          </a:ln>
          <a:effectLst>
            <a:outerShdw blurRad="50800" dist="38100" dir="2700000" algn="tl" rotWithShape="0">
              <a:schemeClr val="accent1">
                <a:lumMod val="60000"/>
                <a:lumOff val="40000"/>
                <a:alpha val="40000"/>
              </a:schemeClr>
            </a:outerShdw>
          </a:effectLst>
        </p:spPr>
        <p:txBody>
          <a:bodyPr lIns="98755" tIns="49378" rIns="98755" bIns="49378" rtlCol="0" anchor="ctr">
            <a:noAutofit/>
          </a:bodyPr>
          <a:lstStyle/>
          <a:p>
            <a:pPr lvl="0" algn="ctr">
              <a:spcBef>
                <a:spcPts val="0"/>
              </a:spcBef>
              <a:spcAft>
                <a:spcPts val="0"/>
              </a:spcAft>
              <a:buClrTx/>
              <a:buSzTx/>
              <a:buFontTx/>
              <a:defRPr/>
            </a:pPr>
            <a:endParaRPr lang="zh-CN" altLang="en-US" sz="1945" kern="0" noProof="0" dirty="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3" name="椭圆 52"/>
          <p:cNvSpPr/>
          <p:nvPr>
            <p:custDataLst>
              <p:tags r:id="rId7"/>
            </p:custDataLst>
          </p:nvPr>
        </p:nvSpPr>
        <p:spPr>
          <a:xfrm flipH="1">
            <a:off x="1757045" y="3502660"/>
            <a:ext cx="499745" cy="499745"/>
          </a:xfrm>
          <a:prstGeom prst="ellipse">
            <a:avLst/>
          </a:prstGeom>
          <a:solidFill>
            <a:schemeClr val="accent5">
              <a:lumMod val="60000"/>
              <a:lumOff val="40000"/>
            </a:schemeClr>
          </a:solidFill>
          <a:ln w="12700" cap="flat" cmpd="sng" algn="ctr">
            <a:solidFill>
              <a:schemeClr val="bg1"/>
            </a:solidFill>
            <a:prstDash val="solid"/>
            <a:miter lim="800000"/>
          </a:ln>
          <a:effectLst>
            <a:outerShdw blurRad="50800" dist="38100" dir="2700000" algn="tl" rotWithShape="0">
              <a:schemeClr val="accent5">
                <a:lumMod val="60000"/>
                <a:lumOff val="40000"/>
                <a:alpha val="40000"/>
              </a:schemeClr>
            </a:outerShdw>
          </a:effectLst>
        </p:spPr>
        <p:txBody>
          <a:bodyPr lIns="98755" tIns="49378" rIns="98755" bIns="49378" rtlCol="0" anchor="ctr">
            <a:noAutofit/>
          </a:bodyPr>
          <a:lstStyle/>
          <a:p>
            <a:pPr lvl="0" algn="ctr">
              <a:spcBef>
                <a:spcPts val="0"/>
              </a:spcBef>
              <a:spcAft>
                <a:spcPts val="0"/>
              </a:spcAft>
              <a:buClrTx/>
              <a:buSzTx/>
              <a:buFontTx/>
              <a:defRPr/>
            </a:pPr>
            <a:endParaRPr lang="zh-CN" altLang="en-US" sz="1945" kern="0" noProof="0" dirty="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7" name="Oval 4+"/>
          <p:cNvSpPr/>
          <p:nvPr/>
        </p:nvSpPr>
        <p:spPr>
          <a:xfrm>
            <a:off x="2259330" y="2648585"/>
            <a:ext cx="2229485" cy="2229485"/>
          </a:xfrm>
          <a:prstGeom prst="arc">
            <a:avLst>
              <a:gd name="adj1" fmla="val 18657190"/>
              <a:gd name="adj2" fmla="val 20613723"/>
            </a:avLst>
          </a:prstGeom>
          <a:noFill/>
          <a:ln w="13716">
            <a:gradFill flip="none" rotWithShape="1">
              <a:gsLst>
                <a:gs pos="13000">
                  <a:schemeClr val="accent1">
                    <a:alpha val="0"/>
                  </a:schemeClr>
                </a:gs>
                <a:gs pos="100000">
                  <a:schemeClr val="accent1"/>
                </a:gs>
              </a:gsLst>
              <a:lin ang="2700000" scaled="1"/>
              <a:tileRect/>
            </a:gradFill>
            <a:prstDash val="solid"/>
            <a:tailEnd type="stealt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dirty="0">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8" name="Oval 4++"/>
          <p:cNvSpPr/>
          <p:nvPr/>
        </p:nvSpPr>
        <p:spPr>
          <a:xfrm>
            <a:off x="2247900" y="2764155"/>
            <a:ext cx="2229485" cy="2229485"/>
          </a:xfrm>
          <a:prstGeom prst="arc">
            <a:avLst>
              <a:gd name="adj1" fmla="val 713063"/>
              <a:gd name="adj2" fmla="val 2859865"/>
            </a:avLst>
          </a:prstGeom>
          <a:noFill/>
          <a:ln w="13716">
            <a:gradFill flip="none" rotWithShape="1">
              <a:gsLst>
                <a:gs pos="57000">
                  <a:schemeClr val="accent1">
                    <a:alpha val="0"/>
                  </a:schemeClr>
                </a:gs>
                <a:gs pos="100000">
                  <a:schemeClr val="accent1"/>
                </a:gs>
              </a:gsLst>
              <a:lin ang="2700000" scaled="1"/>
              <a:tileRect/>
            </a:gradFill>
            <a:prstDash val="solid"/>
            <a:tailEnd type="stealt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19" name="Oval 4+++"/>
          <p:cNvSpPr/>
          <p:nvPr/>
        </p:nvSpPr>
        <p:spPr>
          <a:xfrm>
            <a:off x="2130425" y="2793365"/>
            <a:ext cx="2229485" cy="2229485"/>
          </a:xfrm>
          <a:prstGeom prst="arc">
            <a:avLst>
              <a:gd name="adj1" fmla="val 4605080"/>
              <a:gd name="adj2" fmla="val 6902473"/>
            </a:avLst>
          </a:prstGeom>
          <a:noFill/>
          <a:ln w="13716">
            <a:gradFill flip="none" rotWithShape="1">
              <a:gsLst>
                <a:gs pos="45000">
                  <a:schemeClr val="accent1">
                    <a:alpha val="0"/>
                  </a:schemeClr>
                </a:gs>
                <a:gs pos="100000">
                  <a:schemeClr val="accent1"/>
                </a:gs>
              </a:gsLst>
              <a:lin ang="8100000" scaled="1"/>
              <a:tileRect/>
            </a:gradFill>
            <a:prstDash val="solid"/>
            <a:tailEnd type="stealt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20" name="Oval 4++++"/>
          <p:cNvSpPr/>
          <p:nvPr/>
        </p:nvSpPr>
        <p:spPr>
          <a:xfrm>
            <a:off x="1960245" y="2711450"/>
            <a:ext cx="2229485" cy="2229485"/>
          </a:xfrm>
          <a:prstGeom prst="arc">
            <a:avLst>
              <a:gd name="adj1" fmla="val 7546148"/>
              <a:gd name="adj2" fmla="val 9985660"/>
            </a:avLst>
          </a:prstGeom>
          <a:noFill/>
          <a:ln w="13716">
            <a:gradFill flip="none" rotWithShape="1">
              <a:gsLst>
                <a:gs pos="49000">
                  <a:schemeClr val="accent1">
                    <a:alpha val="0"/>
                  </a:schemeClr>
                </a:gs>
                <a:gs pos="100000">
                  <a:schemeClr val="accent1"/>
                </a:gs>
              </a:gsLst>
              <a:lin ang="13500000" scaled="1"/>
              <a:tileRect/>
            </a:gradFill>
            <a:prstDash val="solid"/>
            <a:tailEnd type="stealt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50" name="椭圆 49"/>
          <p:cNvSpPr/>
          <p:nvPr>
            <p:custDataLst>
              <p:tags r:id="rId8"/>
            </p:custDataLst>
          </p:nvPr>
        </p:nvSpPr>
        <p:spPr>
          <a:xfrm flipH="1">
            <a:off x="2247900" y="4440555"/>
            <a:ext cx="499745" cy="499745"/>
          </a:xfrm>
          <a:prstGeom prst="ellipse">
            <a:avLst/>
          </a:prstGeom>
          <a:solidFill>
            <a:schemeClr val="accent1">
              <a:lumMod val="60000"/>
              <a:lumOff val="40000"/>
            </a:schemeClr>
          </a:solidFill>
          <a:ln w="12700" cap="flat" cmpd="sng" algn="ctr">
            <a:solidFill>
              <a:schemeClr val="bg1"/>
            </a:solidFill>
            <a:prstDash val="solid"/>
            <a:miter lim="800000"/>
          </a:ln>
          <a:effectLst>
            <a:outerShdw blurRad="50800" dist="38100" dir="2700000" algn="tl" rotWithShape="0">
              <a:schemeClr val="accent1">
                <a:lumMod val="60000"/>
                <a:lumOff val="40000"/>
                <a:alpha val="40000"/>
              </a:schemeClr>
            </a:outerShdw>
          </a:effectLst>
        </p:spPr>
        <p:txBody>
          <a:bodyPr lIns="98755" tIns="49378" rIns="98755" bIns="49378" rtlCol="0" anchor="ctr">
            <a:noAutofit/>
          </a:bodyPr>
          <a:lstStyle/>
          <a:p>
            <a:pPr lvl="0" algn="ctr">
              <a:spcBef>
                <a:spcPts val="0"/>
              </a:spcBef>
              <a:spcAft>
                <a:spcPts val="0"/>
              </a:spcAft>
              <a:buClrTx/>
              <a:buSzTx/>
              <a:buFontTx/>
              <a:defRPr/>
            </a:pPr>
            <a:endParaRPr lang="zh-CN" altLang="en-US" sz="1945" kern="0" noProof="0" dirty="0">
              <a:ln>
                <a:noFill/>
              </a:ln>
              <a:solidFill>
                <a:prstClr val="white"/>
              </a:solidFill>
              <a:effectLst>
                <a:outerShdw blurRad="137160" dist="41148" dir="2699997" algn="tl">
                  <a:srgbClr val="000000">
                    <a:alpha val="40000"/>
                  </a:srgbClr>
                </a:outerShdw>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1" name="Oval 4+++++"/>
          <p:cNvSpPr/>
          <p:nvPr/>
        </p:nvSpPr>
        <p:spPr>
          <a:xfrm>
            <a:off x="2017395" y="2648585"/>
            <a:ext cx="2229485" cy="2229485"/>
          </a:xfrm>
          <a:prstGeom prst="arc">
            <a:avLst>
              <a:gd name="adj1" fmla="val 11864422"/>
              <a:gd name="adj2" fmla="val 13276569"/>
            </a:avLst>
          </a:prstGeom>
          <a:noFill/>
          <a:ln w="13716">
            <a:gradFill flip="none" rotWithShape="1">
              <a:gsLst>
                <a:gs pos="49000">
                  <a:schemeClr val="accent1">
                    <a:alpha val="0"/>
                  </a:schemeClr>
                </a:gs>
                <a:gs pos="100000">
                  <a:schemeClr val="accent1"/>
                </a:gs>
              </a:gsLst>
              <a:lin ang="13500000" scaled="1"/>
              <a:tileRect/>
            </a:gradFill>
            <a:prstDash val="solid"/>
            <a:tailEnd type="stealt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22" name="Oval 4++++++"/>
          <p:cNvSpPr/>
          <p:nvPr/>
        </p:nvSpPr>
        <p:spPr>
          <a:xfrm>
            <a:off x="2130425" y="2556510"/>
            <a:ext cx="2229485" cy="2229485"/>
          </a:xfrm>
          <a:prstGeom prst="arc">
            <a:avLst>
              <a:gd name="adj1" fmla="val 14961700"/>
              <a:gd name="adj2" fmla="val 16748381"/>
            </a:avLst>
          </a:prstGeom>
          <a:noFill/>
          <a:ln w="13716">
            <a:gradFill flip="none" rotWithShape="1">
              <a:gsLst>
                <a:gs pos="49000">
                  <a:schemeClr val="accent1">
                    <a:alpha val="0"/>
                  </a:schemeClr>
                </a:gs>
                <a:gs pos="100000">
                  <a:schemeClr val="accent1"/>
                </a:gs>
              </a:gsLst>
              <a:lin ang="18900000" scaled="1"/>
              <a:tileRect/>
            </a:gradFill>
            <a:prstDash val="solid"/>
            <a:tailEnd type="stealth"/>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b="1">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cxnSp>
        <p:nvCxnSpPr>
          <p:cNvPr id="23" name="直接连接符 22"/>
          <p:cNvCxnSpPr/>
          <p:nvPr/>
        </p:nvCxnSpPr>
        <p:spPr>
          <a:xfrm>
            <a:off x="4184650" y="4398010"/>
            <a:ext cx="699770" cy="453390"/>
          </a:xfrm>
          <a:prstGeom prst="line">
            <a:avLst/>
          </a:prstGeom>
          <a:ln>
            <a:solidFill>
              <a:schemeClr val="accent1">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3186430" y="4918710"/>
            <a:ext cx="0" cy="842645"/>
          </a:xfrm>
          <a:prstGeom prst="line">
            <a:avLst/>
          </a:prstGeom>
          <a:ln>
            <a:solidFill>
              <a:schemeClr val="accent1">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81" name="直接连接符 80"/>
          <p:cNvCxnSpPr/>
          <p:nvPr/>
        </p:nvCxnSpPr>
        <p:spPr>
          <a:xfrm flipV="1">
            <a:off x="4228465" y="2893695"/>
            <a:ext cx="753745" cy="364490"/>
          </a:xfrm>
          <a:prstGeom prst="line">
            <a:avLst/>
          </a:prstGeom>
          <a:ln>
            <a:solidFill>
              <a:schemeClr val="accent1">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flipH="1" flipV="1">
            <a:off x="3126105" y="1829435"/>
            <a:ext cx="17780" cy="855980"/>
          </a:xfrm>
          <a:prstGeom prst="line">
            <a:avLst/>
          </a:prstGeom>
          <a:ln>
            <a:solidFill>
              <a:schemeClr val="accent1">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flipH="1">
            <a:off x="1385570" y="4229100"/>
            <a:ext cx="828040" cy="198120"/>
          </a:xfrm>
          <a:prstGeom prst="line">
            <a:avLst/>
          </a:prstGeom>
          <a:ln>
            <a:solidFill>
              <a:schemeClr val="accent1">
                <a:alpha val="5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5" name="直接连接符 94"/>
          <p:cNvCxnSpPr/>
          <p:nvPr/>
        </p:nvCxnSpPr>
        <p:spPr>
          <a:xfrm flipH="1" flipV="1">
            <a:off x="1499235" y="2890520"/>
            <a:ext cx="759460" cy="367665"/>
          </a:xfrm>
          <a:prstGeom prst="line">
            <a:avLst/>
          </a:prstGeom>
          <a:ln>
            <a:solidFill>
              <a:schemeClr val="accent1">
                <a:alpha val="50000"/>
              </a:schemeClr>
            </a:solidFill>
            <a:prstDash val="dash"/>
          </a:ln>
        </p:spPr>
        <p:style>
          <a:lnRef idx="1">
            <a:schemeClr val="accent1"/>
          </a:lnRef>
          <a:fillRef idx="0">
            <a:schemeClr val="accent1"/>
          </a:fillRef>
          <a:effectRef idx="0">
            <a:schemeClr val="accent1"/>
          </a:effectRef>
          <a:fontRef idx="minor">
            <a:schemeClr val="tx1"/>
          </a:fontRef>
        </p:style>
      </p:cxnSp>
      <p:sp>
        <p:nvSpPr>
          <p:cNvPr id="55" name="不完整圆 235"/>
          <p:cNvSpPr/>
          <p:nvPr/>
        </p:nvSpPr>
        <p:spPr>
          <a:xfrm>
            <a:off x="1160145" y="5518785"/>
            <a:ext cx="4234815" cy="519430"/>
          </a:xfrm>
          <a:custGeom>
            <a:avLst/>
            <a:gdLst>
              <a:gd name="connsiteX0" fmla="*/ 5903762 w 7865462"/>
              <a:gd name="connsiteY0" fmla="*/ 108533 h 1611954"/>
              <a:gd name="connsiteX1" fmla="*/ 4523377 w 7865462"/>
              <a:gd name="connsiteY1" fmla="*/ 1602812 h 1611954"/>
              <a:gd name="connsiteX2" fmla="*/ 3345359 w 7865462"/>
              <a:gd name="connsiteY2" fmla="*/ 1602914 h 1611954"/>
              <a:gd name="connsiteX3" fmla="*/ 1948886 w 7865462"/>
              <a:gd name="connsiteY3" fmla="*/ 110061 h 1611954"/>
              <a:gd name="connsiteX4" fmla="*/ 3932731 w 7865462"/>
              <a:gd name="connsiteY4" fmla="*/ 805977 h 1611954"/>
              <a:gd name="connsiteX5" fmla="*/ 5903762 w 7865462"/>
              <a:gd name="connsiteY5" fmla="*/ 108533 h 1611954"/>
              <a:gd name="connsiteX0-1" fmla="*/ 3935506 w 7870963"/>
              <a:gd name="connsiteY0-2" fmla="*/ 697444 h 1503420"/>
              <a:gd name="connsiteX1-3" fmla="*/ 5906537 w 7870963"/>
              <a:gd name="connsiteY1-4" fmla="*/ 0 h 1503420"/>
              <a:gd name="connsiteX2-5" fmla="*/ 4526152 w 7870963"/>
              <a:gd name="connsiteY2-6" fmla="*/ 1494279 h 1503420"/>
              <a:gd name="connsiteX3-7" fmla="*/ 3348134 w 7870963"/>
              <a:gd name="connsiteY3-8" fmla="*/ 1494381 h 1503420"/>
              <a:gd name="connsiteX4-9" fmla="*/ 1951661 w 7870963"/>
              <a:gd name="connsiteY4-10" fmla="*/ 1528 h 1503420"/>
              <a:gd name="connsiteX5-11" fmla="*/ 4026946 w 7870963"/>
              <a:gd name="connsiteY5-12" fmla="*/ 788884 h 1503420"/>
              <a:gd name="connsiteX0-13" fmla="*/ 3935506 w 7870963"/>
              <a:gd name="connsiteY0-14" fmla="*/ 697444 h 1503420"/>
              <a:gd name="connsiteX1-15" fmla="*/ 5906537 w 7870963"/>
              <a:gd name="connsiteY1-16" fmla="*/ 0 h 1503420"/>
              <a:gd name="connsiteX2-17" fmla="*/ 4526152 w 7870963"/>
              <a:gd name="connsiteY2-18" fmla="*/ 1494279 h 1503420"/>
              <a:gd name="connsiteX3-19" fmla="*/ 3348134 w 7870963"/>
              <a:gd name="connsiteY3-20" fmla="*/ 1494381 h 1503420"/>
              <a:gd name="connsiteX4-21" fmla="*/ 1951661 w 7870963"/>
              <a:gd name="connsiteY4-22" fmla="*/ 1528 h 1503420"/>
              <a:gd name="connsiteX0-23" fmla="*/ 5906537 w 7870963"/>
              <a:gd name="connsiteY0-24" fmla="*/ 0 h 1503420"/>
              <a:gd name="connsiteX1-25" fmla="*/ 4526152 w 7870963"/>
              <a:gd name="connsiteY1-26" fmla="*/ 1494279 h 1503420"/>
              <a:gd name="connsiteX2-27" fmla="*/ 3348134 w 7870963"/>
              <a:gd name="connsiteY2-28" fmla="*/ 1494381 h 1503420"/>
              <a:gd name="connsiteX3-29" fmla="*/ 1951661 w 7870963"/>
              <a:gd name="connsiteY3-30" fmla="*/ 1528 h 1503420"/>
            </a:gdLst>
            <a:ahLst/>
            <a:cxnLst>
              <a:cxn ang="0">
                <a:pos x="connsiteX0-1" y="connsiteY0-2"/>
              </a:cxn>
              <a:cxn ang="0">
                <a:pos x="connsiteX1-3" y="connsiteY1-4"/>
              </a:cxn>
              <a:cxn ang="0">
                <a:pos x="connsiteX2-5" y="connsiteY2-6"/>
              </a:cxn>
              <a:cxn ang="0">
                <a:pos x="connsiteX3-7" y="connsiteY3-8"/>
              </a:cxn>
            </a:cxnLst>
            <a:rect l="l" t="t" r="r" b="b"/>
            <a:pathLst>
              <a:path w="7870963" h="1503420">
                <a:moveTo>
                  <a:pt x="5906537" y="0"/>
                </a:moveTo>
                <a:cubicBezTo>
                  <a:pt x="9121776" y="381640"/>
                  <a:pt x="8199590" y="1379915"/>
                  <a:pt x="4526152" y="1494279"/>
                </a:cubicBezTo>
                <a:cubicBezTo>
                  <a:pt x="4135731" y="1506434"/>
                  <a:pt x="3738605" y="1506468"/>
                  <a:pt x="3348134" y="1494381"/>
                </a:cubicBezTo>
                <a:cubicBezTo>
                  <a:pt x="-320076" y="1380828"/>
                  <a:pt x="-1251561" y="385054"/>
                  <a:pt x="1951661" y="1528"/>
                </a:cubicBezTo>
              </a:path>
            </a:pathLst>
          </a:custGeom>
          <a:noFill/>
          <a:ln w="57150">
            <a:gradFill flip="none" rotWithShape="1">
              <a:gsLst>
                <a:gs pos="0">
                  <a:schemeClr val="accent1">
                    <a:lumMod val="60000"/>
                    <a:lumOff val="40000"/>
                    <a:alpha val="0"/>
                  </a:schemeClr>
                </a:gs>
                <a:gs pos="100000">
                  <a:schemeClr val="accent1">
                    <a:lumMod val="60000"/>
                    <a:lumOff val="40000"/>
                  </a:schemeClr>
                </a:gs>
              </a:gsLst>
              <a:lin ang="5400000" scaled="1"/>
              <a:tileRect/>
            </a:gra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grpSp>
        <p:nvGrpSpPr>
          <p:cNvPr id="59" name="组合 58"/>
          <p:cNvGrpSpPr/>
          <p:nvPr/>
        </p:nvGrpSpPr>
        <p:grpSpPr>
          <a:xfrm rot="1140000">
            <a:off x="862330" y="1443355"/>
            <a:ext cx="4830445" cy="4830445"/>
            <a:chOff x="6206" y="826"/>
            <a:chExt cx="9730" cy="9730"/>
          </a:xfrm>
        </p:grpSpPr>
        <p:sp>
          <p:nvSpPr>
            <p:cNvPr id="57" name="熊大的PPT宝库6-23"/>
            <p:cNvSpPr/>
            <p:nvPr/>
          </p:nvSpPr>
          <p:spPr>
            <a:xfrm rot="35677214">
              <a:off x="6206" y="826"/>
              <a:ext cx="9731" cy="9731"/>
            </a:xfrm>
            <a:prstGeom prst="arc">
              <a:avLst>
                <a:gd name="adj1" fmla="val 15876070"/>
                <a:gd name="adj2" fmla="val 20374532"/>
              </a:avLst>
            </a:prstGeom>
            <a:ln w="76200">
              <a:gradFill>
                <a:gsLst>
                  <a:gs pos="10000">
                    <a:schemeClr val="accent1">
                      <a:lumMod val="60000"/>
                      <a:lumOff val="40000"/>
                      <a:alpha val="0"/>
                    </a:schemeClr>
                  </a:gs>
                  <a:gs pos="100000">
                    <a:schemeClr val="accent1">
                      <a:lumMod val="60000"/>
                      <a:lumOff val="40000"/>
                    </a:schemeClr>
                  </a:gs>
                </a:gsLst>
                <a:lin ang="0" scaled="0"/>
              </a:gradFill>
            </a:ln>
          </p:spPr>
          <p:style>
            <a:lnRef idx="1">
              <a:schemeClr val="accent1"/>
            </a:lnRef>
            <a:fillRef idx="0">
              <a:schemeClr val="accent1"/>
            </a:fillRef>
            <a:effectRef idx="0">
              <a:schemeClr val="accent1"/>
            </a:effectRef>
            <a:fontRef idx="minor">
              <a:schemeClr val="tx1"/>
            </a:fontRef>
          </p:style>
          <p:txBody>
            <a:bodyPr wrap="square"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8" name="熊大的PPT宝库6-24"/>
            <p:cNvSpPr/>
            <p:nvPr/>
          </p:nvSpPr>
          <p:spPr>
            <a:xfrm rot="23874641">
              <a:off x="6873" y="2622"/>
              <a:ext cx="557" cy="48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60" name="组合 59"/>
          <p:cNvGrpSpPr/>
          <p:nvPr/>
        </p:nvGrpSpPr>
        <p:grpSpPr>
          <a:xfrm rot="10800000">
            <a:off x="659765" y="1424305"/>
            <a:ext cx="4830445" cy="4830445"/>
            <a:chOff x="6206" y="826"/>
            <a:chExt cx="9730" cy="9730"/>
          </a:xfrm>
        </p:grpSpPr>
        <p:sp>
          <p:nvSpPr>
            <p:cNvPr id="61" name="熊大的PPT宝库6-23"/>
            <p:cNvSpPr/>
            <p:nvPr/>
          </p:nvSpPr>
          <p:spPr>
            <a:xfrm rot="35677214">
              <a:off x="6206" y="826"/>
              <a:ext cx="9731" cy="9731"/>
            </a:xfrm>
            <a:prstGeom prst="arc">
              <a:avLst>
                <a:gd name="adj1" fmla="val 15876070"/>
                <a:gd name="adj2" fmla="val 20374532"/>
              </a:avLst>
            </a:prstGeom>
            <a:ln w="76200">
              <a:gradFill>
                <a:gsLst>
                  <a:gs pos="10000">
                    <a:schemeClr val="accent1">
                      <a:lumMod val="60000"/>
                      <a:lumOff val="40000"/>
                      <a:alpha val="0"/>
                    </a:schemeClr>
                  </a:gs>
                  <a:gs pos="100000">
                    <a:schemeClr val="accent1">
                      <a:lumMod val="60000"/>
                      <a:lumOff val="40000"/>
                    </a:schemeClr>
                  </a:gs>
                </a:gsLst>
                <a:lin ang="0" scaled="0"/>
              </a:gradFill>
            </a:ln>
          </p:spPr>
          <p:style>
            <a:lnRef idx="1">
              <a:schemeClr val="accent1"/>
            </a:lnRef>
            <a:fillRef idx="0">
              <a:schemeClr val="accent1"/>
            </a:fillRef>
            <a:effectRef idx="0">
              <a:schemeClr val="accent1"/>
            </a:effectRef>
            <a:fontRef idx="minor">
              <a:schemeClr val="tx1"/>
            </a:fontRef>
          </p:style>
          <p:txBody>
            <a:bodyPr wrap="square"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2" name="熊大的PPT宝库6-24"/>
            <p:cNvSpPr/>
            <p:nvPr/>
          </p:nvSpPr>
          <p:spPr>
            <a:xfrm rot="23874641">
              <a:off x="6873" y="2622"/>
              <a:ext cx="557" cy="480"/>
            </a:xfrm>
            <a:prstGeom prst="triangle">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chorCtr="0"/>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64" name="组合 63"/>
          <p:cNvGrpSpPr/>
          <p:nvPr/>
        </p:nvGrpSpPr>
        <p:grpSpPr>
          <a:xfrm rot="0">
            <a:off x="5916930" y="2849245"/>
            <a:ext cx="481330" cy="372745"/>
            <a:chOff x="8321" y="4205"/>
            <a:chExt cx="758" cy="587"/>
          </a:xfrm>
          <a:gradFill>
            <a:gsLst>
              <a:gs pos="0">
                <a:schemeClr val="accent1">
                  <a:lumMod val="60000"/>
                  <a:lumOff val="40000"/>
                </a:schemeClr>
              </a:gs>
              <a:gs pos="100000">
                <a:schemeClr val="accent1">
                  <a:lumMod val="60000"/>
                  <a:lumOff val="40000"/>
                  <a:alpha val="0"/>
                </a:schemeClr>
              </a:gs>
            </a:gsLst>
            <a:lin ang="2700000" scaled="0"/>
          </a:gradFill>
        </p:grpSpPr>
        <p:sp>
          <p:nvSpPr>
            <p:cNvPr id="1059" name="箭头: V 形 1058"/>
            <p:cNvSpPr/>
            <p:nvPr/>
          </p:nvSpPr>
          <p:spPr>
            <a:xfrm>
              <a:off x="8321" y="4205"/>
              <a:ext cx="440" cy="578"/>
            </a:xfrm>
            <a:prstGeom prst="chevron">
              <a:avLst>
                <a:gd name="adj" fmla="val 6117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3" name="箭头: V 形 1058"/>
            <p:cNvSpPr/>
            <p:nvPr/>
          </p:nvSpPr>
          <p:spPr>
            <a:xfrm>
              <a:off x="8639" y="4214"/>
              <a:ext cx="440" cy="578"/>
            </a:xfrm>
            <a:prstGeom prst="chevron">
              <a:avLst>
                <a:gd name="adj" fmla="val 6117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solidFill>
                  <a:schemeClr val="tx1"/>
                </a:solidFill>
                <a:latin typeface="微软雅黑" panose="020B0503020204020204" charset="-122"/>
                <a:ea typeface="微软雅黑" panose="020B0503020204020204" charset="-122"/>
                <a:cs typeface="微软雅黑" panose="020B0503020204020204" charset="-122"/>
              </a:endParaRPr>
            </a:p>
          </p:txBody>
        </p:sp>
      </p:grpSp>
      <p:grpSp>
        <p:nvGrpSpPr>
          <p:cNvPr id="65" name="组合 64"/>
          <p:cNvGrpSpPr/>
          <p:nvPr/>
        </p:nvGrpSpPr>
        <p:grpSpPr>
          <a:xfrm rot="0">
            <a:off x="5916930" y="4284345"/>
            <a:ext cx="481330" cy="372745"/>
            <a:chOff x="8321" y="4205"/>
            <a:chExt cx="758" cy="587"/>
          </a:xfrm>
          <a:gradFill>
            <a:gsLst>
              <a:gs pos="0">
                <a:schemeClr val="accent1">
                  <a:lumMod val="60000"/>
                  <a:lumOff val="40000"/>
                </a:schemeClr>
              </a:gs>
              <a:gs pos="100000">
                <a:schemeClr val="accent1">
                  <a:lumMod val="60000"/>
                  <a:lumOff val="40000"/>
                  <a:alpha val="0"/>
                </a:schemeClr>
              </a:gs>
            </a:gsLst>
            <a:lin ang="2700000" scaled="0"/>
          </a:gradFill>
        </p:grpSpPr>
        <p:sp>
          <p:nvSpPr>
            <p:cNvPr id="66" name="箭头: V 形 1058"/>
            <p:cNvSpPr/>
            <p:nvPr/>
          </p:nvSpPr>
          <p:spPr>
            <a:xfrm>
              <a:off x="8321" y="4205"/>
              <a:ext cx="440" cy="578"/>
            </a:xfrm>
            <a:prstGeom prst="chevron">
              <a:avLst>
                <a:gd name="adj" fmla="val 6117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67" name="箭头: V 形 1058"/>
            <p:cNvSpPr/>
            <p:nvPr/>
          </p:nvSpPr>
          <p:spPr>
            <a:xfrm>
              <a:off x="8639" y="4214"/>
              <a:ext cx="440" cy="578"/>
            </a:xfrm>
            <a:prstGeom prst="chevron">
              <a:avLst>
                <a:gd name="adj" fmla="val 61179"/>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zh-CN" altLang="en-US" dirty="0">
                <a:solidFill>
                  <a:schemeClr val="tx1"/>
                </a:solidFill>
                <a:latin typeface="微软雅黑" panose="020B0503020204020204" charset="-122"/>
                <a:ea typeface="微软雅黑" panose="020B0503020204020204" charset="-122"/>
                <a:cs typeface="微软雅黑" panose="020B0503020204020204" charset="-122"/>
              </a:endParaRPr>
            </a:p>
          </p:txBody>
        </p:sp>
      </p:grpSp>
      <p:sp>
        <p:nvSpPr>
          <p:cNvPr id="136" name="@显眼包PPT4"/>
          <p:cNvSpPr/>
          <p:nvPr/>
        </p:nvSpPr>
        <p:spPr>
          <a:xfrm flipH="1">
            <a:off x="6825615" y="1262380"/>
            <a:ext cx="4766945" cy="5017770"/>
          </a:xfrm>
          <a:prstGeom prst="roundRect">
            <a:avLst>
              <a:gd name="adj" fmla="val 3076"/>
            </a:avLst>
          </a:prstGeom>
          <a:gradFill>
            <a:gsLst>
              <a:gs pos="0">
                <a:schemeClr val="bg1"/>
              </a:gs>
              <a:gs pos="100000">
                <a:schemeClr val="bg1">
                  <a:alpha val="9000"/>
                </a:schemeClr>
              </a:gs>
            </a:gsLst>
            <a:lin ang="5400000" scaled="1"/>
          </a:gradFill>
          <a:ln w="15875">
            <a:gradFill>
              <a:gsLst>
                <a:gs pos="0">
                  <a:schemeClr val="accent1">
                    <a:lumMod val="60000"/>
                    <a:lumOff val="40000"/>
                  </a:schemeClr>
                </a:gs>
                <a:gs pos="100000">
                  <a:schemeClr val="accent1">
                    <a:lumMod val="60000"/>
                    <a:lumOff val="40000"/>
                    <a:alpha val="100000"/>
                  </a:schemeClr>
                </a:gs>
              </a:gsLst>
              <a:lin ang="5400000" scaled="1"/>
            </a:grad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03" name="@显眼包PPT24"/>
          <p:cNvSpPr txBox="1"/>
          <p:nvPr/>
        </p:nvSpPr>
        <p:spPr>
          <a:xfrm>
            <a:off x="7098665" y="2209800"/>
            <a:ext cx="4184650" cy="607060"/>
          </a:xfrm>
          <a:prstGeom prst="rect">
            <a:avLst/>
          </a:prstGeom>
          <a:noFill/>
        </p:spPr>
        <p:txBody>
          <a:bodyPr wrap="square" lIns="0" tIns="0" rIns="0" bIns="0">
            <a:noAutofit/>
          </a:bodyPr>
          <a:lstStyle>
            <a:defPPr>
              <a:defRPr lang="en-US"/>
            </a:defPPr>
            <a:lvl1pPr marL="228600" indent="-228600" algn="just">
              <a:lnSpc>
                <a:spcPct val="120000"/>
              </a:lnSpc>
              <a:buClr>
                <a:schemeClr val="accent1"/>
              </a:buClr>
              <a:buFont typeface="+mj-ea"/>
              <a:buAutoNum type="circleNumDbPlain"/>
              <a:defRPr sz="1000">
                <a:solidFill>
                  <a:schemeClr val="accent1"/>
                </a:solidFill>
                <a:latin typeface="+mj-ea"/>
                <a:ea typeface="+mj-ea"/>
              </a:defRPr>
            </a:lvl1pPr>
          </a:lstStyle>
          <a:p>
            <a:pPr marL="0" lvl="0" algn="just">
              <a:spcBef>
                <a:spcPts val="0"/>
              </a:spcBef>
              <a:spcAft>
                <a:spcPts val="0"/>
              </a:spcAft>
              <a:buSzTx/>
              <a:buNone/>
              <a:defRPr/>
            </a:pPr>
            <a:r>
              <a:rPr lang="zh-CN" altLang="en-US" sz="14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技术迭代迅速、组织架构僵化、数据孤岛、人才技能短缺、安全风险、投资回报不确定等多重因素。</a:t>
            </a:r>
            <a:endParaRPr lang="zh-CN" altLang="en-US" sz="14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74" name="@显眼包PPT25"/>
          <p:cNvSpPr/>
          <p:nvPr/>
        </p:nvSpPr>
        <p:spPr>
          <a:xfrm>
            <a:off x="6964680" y="1350645"/>
            <a:ext cx="4489450" cy="664210"/>
          </a:xfrm>
          <a:prstGeom prst="round2SameRect">
            <a:avLst/>
          </a:prstGeom>
          <a:gradFill flip="none" rotWithShape="1">
            <a:gsLst>
              <a:gs pos="0">
                <a:schemeClr val="accent1">
                  <a:lumMod val="60000"/>
                  <a:lumOff val="40000"/>
                </a:schemeClr>
              </a:gs>
              <a:gs pos="100000">
                <a:schemeClr val="accent1"/>
              </a:gs>
            </a:gsLst>
            <a:path path="circle">
              <a:fillToRect l="100000" t="100000"/>
            </a:path>
            <a:tileRect r="-100000" b="-100000"/>
          </a:gradFill>
          <a:ln>
            <a:noFill/>
          </a:ln>
          <a:effectLst>
            <a:outerShdw blurRad="165100" dist="38100" dir="5400000" algn="t" rotWithShape="0">
              <a:schemeClr val="accent1">
                <a:lumMod val="60000"/>
                <a:lumOff val="40000"/>
                <a:alpha val="32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企业数字化转型难的根本原因</a:t>
            </a:r>
            <a:endParaRPr kumimoji="0" lang="zh-CN" altLang="en-US" sz="18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79" name="@显眼包PPT27"/>
          <p:cNvGrpSpPr/>
          <p:nvPr/>
        </p:nvGrpSpPr>
        <p:grpSpPr>
          <a:xfrm rot="0">
            <a:off x="7098665" y="3046095"/>
            <a:ext cx="4221480" cy="1416050"/>
            <a:chOff x="989288" y="4050860"/>
            <a:chExt cx="2644955" cy="960937"/>
          </a:xfrm>
        </p:grpSpPr>
        <p:grpSp>
          <p:nvGrpSpPr>
            <p:cNvPr id="180" name="组合 179"/>
            <p:cNvGrpSpPr/>
            <p:nvPr/>
          </p:nvGrpSpPr>
          <p:grpSpPr>
            <a:xfrm>
              <a:off x="989288" y="4050860"/>
              <a:ext cx="2644941" cy="249272"/>
              <a:chOff x="579243" y="1516572"/>
              <a:chExt cx="2644941" cy="249272"/>
            </a:xfrm>
          </p:grpSpPr>
          <p:sp>
            <p:nvSpPr>
              <p:cNvPr id="182" name="@显眼包PPT27-1"/>
              <p:cNvSpPr/>
              <p:nvPr/>
            </p:nvSpPr>
            <p:spPr>
              <a:xfrm>
                <a:off x="579243" y="1516572"/>
                <a:ext cx="2644941" cy="249272"/>
              </a:xfrm>
              <a:prstGeom prst="roundRect">
                <a:avLst>
                  <a:gd name="adj" fmla="val 50000"/>
                </a:avLst>
              </a:prstGeom>
              <a:gradFill>
                <a:gsLst>
                  <a:gs pos="0">
                    <a:schemeClr val="accent1">
                      <a:lumMod val="60000"/>
                      <a:lumOff val="40000"/>
                      <a:alpha val="18000"/>
                    </a:schemeClr>
                  </a:gs>
                  <a:gs pos="100000">
                    <a:schemeClr val="accent1">
                      <a:lumMod val="60000"/>
                      <a:lumOff val="40000"/>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4" name="显眼包PPT-9"/>
              <p:cNvSpPr txBox="1"/>
              <p:nvPr/>
            </p:nvSpPr>
            <p:spPr>
              <a:xfrm>
                <a:off x="874082" y="1576455"/>
                <a:ext cx="2077471" cy="124965"/>
              </a:xfrm>
              <a:prstGeom prst="rect">
                <a:avLst/>
              </a:prstGeom>
              <a:noFill/>
              <a:effectLst/>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accent1"/>
                    </a:solidFill>
                    <a:latin typeface="微软雅黑" panose="020B0503020204020204" charset="-122"/>
                    <a:ea typeface="微软雅黑" panose="020B0503020204020204" charset="-122"/>
                    <a:cs typeface="微软雅黑" panose="020B0503020204020204" charset="-122"/>
                    <a:sym typeface="+mj-ea"/>
                  </a:rPr>
                  <a:t>传统企业在数字化转型中的天然不足</a:t>
                </a: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sym typeface="+mj-ea"/>
                </a:endParaRPr>
              </a:p>
            </p:txBody>
          </p:sp>
        </p:grpSp>
        <p:sp>
          <p:nvSpPr>
            <p:cNvPr id="181" name="显眼包PPT-10"/>
            <p:cNvSpPr txBox="1"/>
            <p:nvPr/>
          </p:nvSpPr>
          <p:spPr>
            <a:xfrm>
              <a:off x="1049762" y="4339572"/>
              <a:ext cx="2584481" cy="672225"/>
            </a:xfrm>
            <a:prstGeom prst="rect">
              <a:avLst/>
            </a:prstGeom>
            <a:noFill/>
          </p:spPr>
          <p:txBody>
            <a:bodyPr wrap="square" lIns="0" tIns="0" rIns="0" bIns="0">
              <a:noAutofit/>
            </a:bodyPr>
            <a:lstStyle>
              <a:defPPr>
                <a:defRPr lang="en-US"/>
              </a:defPPr>
              <a:lvl1pPr marL="228600" indent="-228600" algn="just">
                <a:lnSpc>
                  <a:spcPct val="120000"/>
                </a:lnSpc>
                <a:buClr>
                  <a:schemeClr val="accent1"/>
                </a:buClr>
                <a:buFont typeface="+mj-ea"/>
                <a:buAutoNum type="circleNumDbPlain"/>
                <a:defRPr sz="1000">
                  <a:solidFill>
                    <a:schemeClr val="accent1"/>
                  </a:solidFill>
                  <a:latin typeface="+mj-ea"/>
                  <a:ea typeface="+mj-ea"/>
                </a:defRPr>
              </a:lvl1pPr>
            </a:lstStyle>
            <a:p>
              <a:pPr marL="0" marR="0" lvl="0" indent="0" algn="just" defTabSz="914400" rtl="0" eaLnBrk="1" fontAlgn="auto" latinLnBrk="0" hangingPunct="1">
                <a:lnSpc>
                  <a:spcPct val="120000"/>
                </a:lnSpc>
                <a:spcBef>
                  <a:spcPts val="0"/>
                </a:spcBef>
                <a:spcAft>
                  <a:spcPts val="0"/>
                </a:spcAft>
                <a:buClr>
                  <a:srgbClr val="1E1F20"/>
                </a:buClr>
                <a:buSzTx/>
                <a:buFont typeface="+mj-ea"/>
                <a:buNone/>
                <a:defRPr/>
              </a:pPr>
              <a:r>
                <a:rPr kumimoji="0" lang="zh-CN" altLang="en-US" sz="1200" b="1" i="0" u="none" strike="noStrike" kern="1200" cap="none" spc="0" normalizeH="0" baseline="0" noProof="0" dirty="0">
                  <a:ln>
                    <a:noFill/>
                  </a:ln>
                  <a:effectLst/>
                  <a:uLnTx/>
                  <a:uFillTx/>
                  <a:latin typeface="微软雅黑" panose="020B0503020204020204" charset="-122"/>
                  <a:ea typeface="微软雅黑" panose="020B0503020204020204" charset="-122"/>
                  <a:cs typeface="微软雅黑" panose="020B0503020204020204" charset="-122"/>
                </a:rPr>
                <a:t>表象：</a:t>
              </a: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传统企业在数字化转型领域面临基础设施薄弱、数据治理混乱、员工数字化技能不足。</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marL="0" marR="0" lvl="0" indent="0" algn="just" defTabSz="914400" rtl="0" eaLnBrk="1" fontAlgn="auto" latinLnBrk="0" hangingPunct="1">
                <a:lnSpc>
                  <a:spcPct val="120000"/>
                </a:lnSpc>
                <a:spcBef>
                  <a:spcPts val="0"/>
                </a:spcBef>
                <a:spcAft>
                  <a:spcPts val="0"/>
                </a:spcAft>
                <a:buClr>
                  <a:srgbClr val="1E1F20"/>
                </a:buClr>
                <a:buSzTx/>
                <a:buFont typeface="+mj-ea"/>
                <a:buNone/>
                <a:defRPr/>
              </a:pP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rPr>
                <a:t>原因：</a:t>
              </a: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根本原因是企业对于数字化转型战略布局仍停留在传统视角，缺乏顶层设计和系统规划</a:t>
              </a:r>
              <a:r>
                <a:rPr kumimoji="0" lang="zh-CN" altLang="en-US" sz="1200" b="0" i="0" u="none" strike="noStrike" kern="1200" cap="none" spc="0" normalizeH="0" baseline="0" noProof="0" dirty="0">
                  <a:ln>
                    <a:noFill/>
                  </a:ln>
                  <a:solidFill>
                    <a:srgbClr val="292D37"/>
                  </a:solidFill>
                  <a:effectLst/>
                  <a:uLnTx/>
                  <a:uFillTx/>
                  <a:latin typeface="微软雅黑" panose="020B0503020204020204" charset="-122"/>
                  <a:ea typeface="微软雅黑" panose="020B0503020204020204" charset="-122"/>
                  <a:cs typeface="微软雅黑" panose="020B0503020204020204" charset="-122"/>
                </a:rPr>
                <a:t>。</a:t>
              </a:r>
              <a:endParaRPr kumimoji="0" lang="zh-CN" altLang="en-US" sz="1200" b="0" i="0" u="none" strike="noStrike" kern="1200" cap="none" spc="0" normalizeH="0" baseline="0" noProof="0" dirty="0">
                <a:ln>
                  <a:noFill/>
                </a:ln>
                <a:solidFill>
                  <a:srgbClr val="292D37"/>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86" name="组合 185"/>
          <p:cNvGrpSpPr/>
          <p:nvPr/>
        </p:nvGrpSpPr>
        <p:grpSpPr>
          <a:xfrm rot="0">
            <a:off x="7098665" y="4662805"/>
            <a:ext cx="4221480" cy="367125"/>
            <a:chOff x="579243" y="1516572"/>
            <a:chExt cx="2644941" cy="249272"/>
          </a:xfrm>
        </p:grpSpPr>
        <p:sp>
          <p:nvSpPr>
            <p:cNvPr id="188" name="@显眼包PPT28-1"/>
            <p:cNvSpPr/>
            <p:nvPr/>
          </p:nvSpPr>
          <p:spPr>
            <a:xfrm>
              <a:off x="579243" y="1516572"/>
              <a:ext cx="2644941" cy="249272"/>
            </a:xfrm>
            <a:prstGeom prst="roundRect">
              <a:avLst>
                <a:gd name="adj" fmla="val 50000"/>
              </a:avLst>
            </a:prstGeom>
            <a:gradFill>
              <a:gsLst>
                <a:gs pos="0">
                  <a:schemeClr val="accent5">
                    <a:lumMod val="60000"/>
                    <a:lumOff val="40000"/>
                    <a:alpha val="18000"/>
                  </a:schemeClr>
                </a:gs>
                <a:gs pos="100000">
                  <a:schemeClr val="accent5">
                    <a:lumMod val="60000"/>
                    <a:lumOff val="40000"/>
                    <a:alpha val="0"/>
                  </a:schemeClr>
                </a:gs>
              </a:gsLst>
              <a:lin ang="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0" name="显眼包PPT-9"/>
            <p:cNvSpPr txBox="1"/>
            <p:nvPr/>
          </p:nvSpPr>
          <p:spPr>
            <a:xfrm>
              <a:off x="874082" y="1578691"/>
              <a:ext cx="2077471" cy="125035"/>
            </a:xfrm>
            <a:prstGeom prst="rect">
              <a:avLst/>
            </a:prstGeom>
            <a:noFill/>
            <a:effectLst/>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1200" dirty="0">
                  <a:solidFill>
                    <a:schemeClr val="accent5"/>
                  </a:solidFill>
                  <a:latin typeface="微软雅黑" panose="020B0503020204020204" charset="-122"/>
                  <a:ea typeface="微软雅黑" panose="020B0503020204020204" charset="-122"/>
                  <a:cs typeface="微软雅黑" panose="020B0503020204020204" charset="-122"/>
                  <a:sym typeface="+mj-ea"/>
                </a:rPr>
                <a:t>转变传统视角，实现智慧化的全面转型</a:t>
              </a:r>
              <a:endParaRPr lang="zh-CN" altLang="en-US" sz="1200" dirty="0">
                <a:solidFill>
                  <a:schemeClr val="accent5"/>
                </a:solidFill>
                <a:latin typeface="微软雅黑" panose="020B0503020204020204" charset="-122"/>
                <a:ea typeface="微软雅黑" panose="020B0503020204020204" charset="-122"/>
                <a:cs typeface="微软雅黑" panose="020B0503020204020204" charset="-122"/>
                <a:sym typeface="+mj-ea"/>
              </a:endParaRPr>
            </a:p>
          </p:txBody>
        </p:sp>
      </p:grpSp>
      <p:sp>
        <p:nvSpPr>
          <p:cNvPr id="34" name="显眼包PPT-10"/>
          <p:cNvSpPr txBox="1"/>
          <p:nvPr/>
        </p:nvSpPr>
        <p:spPr>
          <a:xfrm>
            <a:off x="7176135" y="5118735"/>
            <a:ext cx="4224020" cy="777240"/>
          </a:xfrm>
          <a:prstGeom prst="rect">
            <a:avLst/>
          </a:prstGeom>
          <a:noFill/>
        </p:spPr>
        <p:txBody>
          <a:bodyPr wrap="square" lIns="0" tIns="0" rIns="0" bIns="0">
            <a:noAutofit/>
          </a:bodyPr>
          <a:lstStyle>
            <a:defPPr>
              <a:defRPr lang="en-US"/>
            </a:defPPr>
            <a:lvl1pPr marL="228600" indent="-228600" algn="just">
              <a:lnSpc>
                <a:spcPct val="120000"/>
              </a:lnSpc>
              <a:buClr>
                <a:schemeClr val="accent1"/>
              </a:buClr>
              <a:buFont typeface="+mj-ea"/>
              <a:buAutoNum type="circleNumDbPlain"/>
              <a:defRPr sz="1000">
                <a:solidFill>
                  <a:schemeClr val="accent1"/>
                </a:solidFill>
                <a:latin typeface="+mj-ea"/>
                <a:ea typeface="+mj-ea"/>
              </a:defRPr>
            </a:lvl1pPr>
          </a:lstStyle>
          <a:p>
            <a:pPr marL="0" marR="0" lvl="0" indent="0" algn="just" defTabSz="914400" rtl="0" eaLnBrk="1" fontAlgn="auto" latinLnBrk="0" hangingPunct="1">
              <a:lnSpc>
                <a:spcPct val="120000"/>
              </a:lnSpc>
              <a:spcBef>
                <a:spcPts val="0"/>
              </a:spcBef>
              <a:spcAft>
                <a:spcPts val="0"/>
              </a:spcAft>
              <a:buClr>
                <a:srgbClr val="1E1F20"/>
              </a:buClr>
              <a:buSzTx/>
              <a:buFont typeface="+mj-ea"/>
              <a:buNone/>
              <a:defRPr/>
            </a:pPr>
            <a:r>
              <a:rPr kumimoji="0" lang="zh-CN" altLang="en-US" sz="12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改变：</a:t>
            </a: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企业需要转换传统数字化转型视角，采用新模式、新工具和新思维来应对困难和挑战。</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a:p>
            <a:pPr marL="0" marR="0" lvl="0" indent="0" algn="just" defTabSz="914400" rtl="0" eaLnBrk="1" fontAlgn="auto" latinLnBrk="0" hangingPunct="1">
              <a:lnSpc>
                <a:spcPct val="120000"/>
              </a:lnSpc>
              <a:spcBef>
                <a:spcPts val="0"/>
              </a:spcBef>
              <a:spcAft>
                <a:spcPts val="0"/>
              </a:spcAft>
              <a:buClr>
                <a:srgbClr val="1E1F20"/>
              </a:buClr>
              <a:buSzTx/>
              <a:buFont typeface="+mj-ea"/>
              <a:buNone/>
              <a:defRPr/>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rPr>
              <a:t>实现：</a:t>
            </a: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公司致力于为企业打造智慧企业数字化转型全链条产品及服务，实现企业数字化转型的数智化、全域化、闭环化。</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5" name="椭圆 34"/>
          <p:cNvSpPr/>
          <p:nvPr/>
        </p:nvSpPr>
        <p:spPr>
          <a:xfrm>
            <a:off x="7203440" y="3111500"/>
            <a:ext cx="246380" cy="246380"/>
          </a:xfrm>
          <a:prstGeom prst="ellipse">
            <a:avLst/>
          </a:prstGeom>
          <a:gradFill flip="none" rotWithShape="1">
            <a:gsLst>
              <a:gs pos="100000">
                <a:schemeClr val="accent1">
                  <a:lumMod val="60000"/>
                  <a:lumOff val="40000"/>
                </a:schemeClr>
              </a:gs>
              <a:gs pos="18000">
                <a:schemeClr val="accent1"/>
              </a:gs>
            </a:gsLst>
            <a:lin ang="2700000"/>
          </a:gradFill>
          <a:ln w="16828">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98865" tIns="49432" rIns="98865" bIns="49432" numCol="1" spcCol="0" rtlCol="0" fromWordArt="0" anchor="ctr" anchorCtr="0" forceAA="0" compatLnSpc="1">
            <a:noAutofit/>
          </a:bodyPr>
          <a:lstStyle/>
          <a:p>
            <a:pPr lvl="0" algn="ctr">
              <a:spcBef>
                <a:spcPts val="0"/>
              </a:spcBef>
              <a:spcAft>
                <a:spcPts val="0"/>
              </a:spcAft>
              <a:buClrTx/>
              <a:buSzTx/>
              <a:buFontTx/>
              <a:defRPr/>
            </a:pPr>
            <a:r>
              <a:rPr lang="en-US" altLang="zh-CN" sz="12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1</a:t>
            </a:r>
            <a:endParaRPr lang="en-US" altLang="zh-CN" sz="12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8" name="椭圆 37"/>
          <p:cNvSpPr/>
          <p:nvPr/>
        </p:nvSpPr>
        <p:spPr>
          <a:xfrm>
            <a:off x="7226300" y="4721860"/>
            <a:ext cx="246380" cy="246380"/>
          </a:xfrm>
          <a:prstGeom prst="ellipse">
            <a:avLst/>
          </a:prstGeom>
          <a:gradFill flip="none" rotWithShape="1">
            <a:gsLst>
              <a:gs pos="100000">
                <a:schemeClr val="accent5">
                  <a:lumMod val="60000"/>
                  <a:lumOff val="40000"/>
                </a:schemeClr>
              </a:gs>
              <a:gs pos="18000">
                <a:schemeClr val="accent5"/>
              </a:gs>
            </a:gsLst>
            <a:lin ang="2700000"/>
          </a:gradFill>
          <a:ln w="16828">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none" lIns="98865" tIns="49432" rIns="98865" bIns="49432" numCol="1" spcCol="0" rtlCol="0" fromWordArt="0" anchor="ctr" anchorCtr="0" forceAA="0" compatLnSpc="1">
            <a:noAutofit/>
          </a:bodyPr>
          <a:lstStyle/>
          <a:p>
            <a:pPr lvl="0" algn="ctr">
              <a:spcBef>
                <a:spcPts val="0"/>
              </a:spcBef>
              <a:spcAft>
                <a:spcPts val="0"/>
              </a:spcAft>
              <a:buClrTx/>
              <a:buSzTx/>
              <a:buFontTx/>
              <a:defRPr/>
            </a:pPr>
            <a:r>
              <a:rPr lang="en-US" altLang="zh-CN" sz="12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2</a:t>
            </a:r>
            <a:endParaRPr lang="en-US" altLang="zh-CN" sz="1200" b="1"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pic>
        <p:nvPicPr>
          <p:cNvPr id="167" name="图片 166" descr="营销"/>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451100" y="2659380"/>
            <a:ext cx="234315" cy="234315"/>
          </a:xfrm>
          <a:prstGeom prst="rect">
            <a:avLst/>
          </a:prstGeom>
        </p:spPr>
      </p:pic>
      <p:pic>
        <p:nvPicPr>
          <p:cNvPr id="169" name="图片 168" descr="团队5"/>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2383155" y="4568825"/>
            <a:ext cx="220980" cy="220980"/>
          </a:xfrm>
          <a:prstGeom prst="rect">
            <a:avLst/>
          </a:prstGeom>
        </p:spPr>
      </p:pic>
      <p:pic>
        <p:nvPicPr>
          <p:cNvPr id="43" name="图片 42" descr="空间数据"/>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3654425" y="4741545"/>
            <a:ext cx="244475" cy="244475"/>
          </a:xfrm>
          <a:prstGeom prst="rect">
            <a:avLst/>
          </a:prstGeom>
        </p:spPr>
      </p:pic>
      <p:pic>
        <p:nvPicPr>
          <p:cNvPr id="45" name="图片 44" descr="组织结构"/>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4283710" y="3609975"/>
            <a:ext cx="312420" cy="312420"/>
          </a:xfrm>
          <a:prstGeom prst="rect">
            <a:avLst/>
          </a:prstGeom>
        </p:spPr>
      </p:pic>
      <p:pic>
        <p:nvPicPr>
          <p:cNvPr id="48" name="图片 47" descr="技术"/>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857375" y="3609975"/>
            <a:ext cx="299720" cy="299720"/>
          </a:xfrm>
          <a:prstGeom prst="rect">
            <a:avLst/>
          </a:prstGeom>
        </p:spPr>
      </p:pic>
      <p:pic>
        <p:nvPicPr>
          <p:cNvPr id="49" name="图片 48" descr="信贷技术"/>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3667760" y="2614930"/>
            <a:ext cx="282575" cy="282575"/>
          </a:xfrm>
          <a:prstGeom prst="rect">
            <a:avLst/>
          </a:prstGeom>
        </p:spPr>
      </p:pic>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14" name="图片 13"/>
            <p:cNvPicPr>
              <a:picLocks noChangeAspect="1"/>
            </p:cNvPicPr>
            <p:nvPr userDrawn="1"/>
          </p:nvPicPr>
          <p:blipFill>
            <a:blip r:embed="rId21"/>
            <a:srcRect l="17002" t="-1765" r="56499" b="-1176"/>
            <a:stretch>
              <a:fillRect/>
            </a:stretch>
          </p:blipFill>
          <p:spPr>
            <a:xfrm>
              <a:off x="13761" y="549"/>
              <a:ext cx="1582" cy="525"/>
            </a:xfrm>
            <a:prstGeom prst="rect">
              <a:avLst/>
            </a:prstGeom>
          </p:spPr>
        </p:pic>
        <p:sp>
          <p:nvSpPr>
            <p:cNvPr id="26" name="文本框 25"/>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图形 61"/>
          <p:cNvSpPr/>
          <p:nvPr/>
        </p:nvSpPr>
        <p:spPr>
          <a:xfrm>
            <a:off x="5278223" y="981075"/>
            <a:ext cx="1640736" cy="5564504"/>
          </a:xfrm>
          <a:custGeom>
            <a:avLst/>
            <a:gdLst>
              <a:gd name="connsiteX0" fmla="*/ 1216850 w 1217294"/>
              <a:gd name="connsiteY0" fmla="*/ 4156332 h 4157090"/>
              <a:gd name="connsiteX1" fmla="*/ 980630 w 1217294"/>
              <a:gd name="connsiteY1" fmla="*/ 3907634 h 4157090"/>
              <a:gd name="connsiteX2" fmla="*/ -445 w 1217294"/>
              <a:gd name="connsiteY2" fmla="*/ 3486343 h 4157090"/>
              <a:gd name="connsiteX3" fmla="*/ -445 w 1217294"/>
              <a:gd name="connsiteY3" fmla="*/ 3486343 h 4157090"/>
              <a:gd name="connsiteX4" fmla="*/ -445 w 1217294"/>
              <a:gd name="connsiteY4" fmla="*/ 669230 h 4157090"/>
              <a:gd name="connsiteX5" fmla="*/ -445 w 1217294"/>
              <a:gd name="connsiteY5" fmla="*/ 669230 h 4157090"/>
              <a:gd name="connsiteX6" fmla="*/ 980630 w 1217294"/>
              <a:gd name="connsiteY6" fmla="*/ 247939 h 4157090"/>
              <a:gd name="connsiteX7" fmla="*/ 1216850 w 1217294"/>
              <a:gd name="connsiteY7" fmla="*/ -759 h 4157090"/>
              <a:gd name="connsiteX8" fmla="*/ 1216850 w 1217294"/>
              <a:gd name="connsiteY8" fmla="*/ 4156332 h 4157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7294" h="4157090">
                <a:moveTo>
                  <a:pt x="1216850" y="4156332"/>
                </a:moveTo>
                <a:lnTo>
                  <a:pt x="980630" y="3907634"/>
                </a:lnTo>
                <a:cubicBezTo>
                  <a:pt x="725179" y="3638648"/>
                  <a:pt x="370506" y="3486343"/>
                  <a:pt x="-445" y="3486343"/>
                </a:cubicBezTo>
                <a:lnTo>
                  <a:pt x="-445" y="3486343"/>
                </a:lnTo>
                <a:lnTo>
                  <a:pt x="-445" y="669230"/>
                </a:lnTo>
                <a:lnTo>
                  <a:pt x="-445" y="669230"/>
                </a:lnTo>
                <a:cubicBezTo>
                  <a:pt x="370506" y="669211"/>
                  <a:pt x="725179" y="516906"/>
                  <a:pt x="980630" y="247939"/>
                </a:cubicBezTo>
                <a:lnTo>
                  <a:pt x="1216850" y="-759"/>
                </a:lnTo>
                <a:lnTo>
                  <a:pt x="1216850" y="4156332"/>
                </a:lnTo>
                <a:close/>
              </a:path>
            </a:pathLst>
          </a:custGeom>
          <a:gradFill flip="none" rotWithShape="1">
            <a:gsLst>
              <a:gs pos="20000">
                <a:schemeClr val="accent5">
                  <a:alpha val="5000"/>
                </a:schemeClr>
              </a:gs>
              <a:gs pos="0">
                <a:schemeClr val="accent5">
                  <a:alpha val="0"/>
                </a:schemeClr>
              </a:gs>
              <a:gs pos="100000">
                <a:schemeClr val="accent5">
                  <a:alpha val="10000"/>
                </a:schemeClr>
              </a:gs>
            </a:gsLst>
            <a:lin ang="0" scaled="1"/>
            <a:tileRect/>
          </a:gradFill>
          <a:ln w="9525" cap="flat">
            <a:noFill/>
            <a:prstDash val="solid"/>
            <a:miter/>
          </a:ln>
        </p:spPr>
        <p:txBody>
          <a:bodyPr rtlCol="0" anchor="ctr"/>
          <a:lstStyle/>
          <a:p>
            <a:endParaRPr lang="en-US">
              <a:cs typeface="微软雅黑" panose="020B0503020204020204" charset="-122"/>
            </a:endParaRPr>
          </a:p>
        </p:txBody>
      </p:sp>
      <p:sp>
        <p:nvSpPr>
          <p:cNvPr id="5" name="标题 2"/>
          <p:cNvSpPr>
            <a:spLocks noGrp="1"/>
          </p:cNvSpPr>
          <p:nvPr/>
        </p:nvSpPr>
        <p:spPr>
          <a:xfrm>
            <a:off x="1105535" y="347980"/>
            <a:ext cx="72517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循环逻辑架构 | </a:t>
            </a:r>
            <a:r>
              <a:rPr sz="2500">
                <a:solidFill>
                  <a:schemeClr val="tx2"/>
                </a:solidFill>
                <a:effectLst/>
                <a:latin typeface="微软雅黑" panose="020B0503020204020204" charset="-122"/>
                <a:ea typeface="微软雅黑" panose="020B0503020204020204" charset="-122"/>
                <a:cs typeface="微软雅黑" panose="020B0503020204020204" charset="-122"/>
              </a:rPr>
              <a:t>碳中和循环发展战略框架</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724" name="组合 723"/>
          <p:cNvGrpSpPr/>
          <p:nvPr/>
        </p:nvGrpSpPr>
        <p:grpSpPr>
          <a:xfrm>
            <a:off x="932180" y="1806575"/>
            <a:ext cx="5092065" cy="4163695"/>
            <a:chOff x="1968" y="3445"/>
            <a:chExt cx="8019" cy="6557"/>
          </a:xfrm>
        </p:grpSpPr>
        <p:sp>
          <p:nvSpPr>
            <p:cNvPr id="710" name="文本框 709"/>
            <p:cNvSpPr txBox="1"/>
            <p:nvPr/>
          </p:nvSpPr>
          <p:spPr>
            <a:xfrm>
              <a:off x="1968" y="6121"/>
              <a:ext cx="1297" cy="628"/>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合规与</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r>
                <a:rPr lang="zh-CN" altLang="en-US" sz="1000">
                  <a:solidFill>
                    <a:schemeClr val="tx2"/>
                  </a:solidFill>
                  <a:latin typeface="微软雅黑" panose="020B0503020204020204" charset="-122"/>
                  <a:ea typeface="微软雅黑" panose="020B0503020204020204" charset="-122"/>
                  <a:cs typeface="微软雅黑" panose="020B0503020204020204" charset="-122"/>
                </a:rPr>
                <a:t>商业道德</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11" name="文本框 710"/>
            <p:cNvSpPr txBox="1"/>
            <p:nvPr/>
          </p:nvSpPr>
          <p:spPr>
            <a:xfrm>
              <a:off x="2013" y="7323"/>
              <a:ext cx="1297" cy="386"/>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透明度</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657" name="组合 656"/>
            <p:cNvGrpSpPr/>
            <p:nvPr/>
          </p:nvGrpSpPr>
          <p:grpSpPr>
            <a:xfrm>
              <a:off x="3351" y="4182"/>
              <a:ext cx="5096" cy="5095"/>
              <a:chOff x="23036" y="4108"/>
              <a:chExt cx="5096" cy="5095"/>
            </a:xfrm>
          </p:grpSpPr>
          <p:sp>
            <p:nvSpPr>
              <p:cNvPr id="642" name="任意多边形 641"/>
              <p:cNvSpPr/>
              <p:nvPr/>
            </p:nvSpPr>
            <p:spPr>
              <a:xfrm>
                <a:off x="24641" y="4108"/>
                <a:ext cx="897" cy="229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923" h="2266">
                    <a:moveTo>
                      <a:pt x="0" y="190"/>
                    </a:moveTo>
                    <a:cubicBezTo>
                      <a:pt x="180" y="85"/>
                      <a:pt x="810" y="-20"/>
                      <a:pt x="923" y="0"/>
                    </a:cubicBezTo>
                    <a:lnTo>
                      <a:pt x="923" y="2263"/>
                    </a:lnTo>
                    <a:lnTo>
                      <a:pt x="0" y="190"/>
                    </a:lnTo>
                    <a:close/>
                  </a:path>
                </a:pathLst>
              </a:custGeom>
              <a:solidFill>
                <a:schemeClr val="accent1"/>
              </a:soli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微软雅黑" panose="020B0503020204020204" charset="-122"/>
                </a:endParaRPr>
              </a:p>
            </p:txBody>
          </p:sp>
          <p:sp>
            <p:nvSpPr>
              <p:cNvPr id="643" name="任意多边形 642"/>
              <p:cNvSpPr/>
              <p:nvPr/>
            </p:nvSpPr>
            <p:spPr>
              <a:xfrm>
                <a:off x="23735" y="4332"/>
                <a:ext cx="1733" cy="210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733" h="2108">
                    <a:moveTo>
                      <a:pt x="0" y="570"/>
                    </a:moveTo>
                    <a:cubicBezTo>
                      <a:pt x="158" y="364"/>
                      <a:pt x="677" y="37"/>
                      <a:pt x="802" y="0"/>
                    </a:cubicBezTo>
                    <a:lnTo>
                      <a:pt x="1733" y="2093"/>
                    </a:lnTo>
                    <a:cubicBezTo>
                      <a:pt x="1727" y="2095"/>
                      <a:pt x="1700" y="2112"/>
                      <a:pt x="1707" y="2108"/>
                    </a:cubicBezTo>
                    <a:lnTo>
                      <a:pt x="0" y="570"/>
                    </a:lnTo>
                    <a:close/>
                  </a:path>
                </a:pathLst>
              </a:custGeom>
              <a:gradFill>
                <a:gsLst>
                  <a:gs pos="0">
                    <a:schemeClr val="accent1">
                      <a:lumMod val="60000"/>
                      <a:lumOff val="40000"/>
                    </a:schemeClr>
                  </a:gs>
                  <a:gs pos="100000">
                    <a:schemeClr val="accent1">
                      <a:lumMod val="40000"/>
                      <a:lumOff val="60000"/>
                    </a:schemeClr>
                  </a:gs>
                </a:gsLst>
                <a:lin ang="0" scaled="0"/>
              </a:gra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44" name="任意多边形 643"/>
              <p:cNvSpPr/>
              <p:nvPr/>
            </p:nvSpPr>
            <p:spPr>
              <a:xfrm>
                <a:off x="25716" y="4339"/>
                <a:ext cx="1724" cy="210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724" h="2106">
                    <a:moveTo>
                      <a:pt x="0" y="2094"/>
                    </a:moveTo>
                    <a:lnTo>
                      <a:pt x="932" y="0"/>
                    </a:lnTo>
                    <a:cubicBezTo>
                      <a:pt x="1226" y="118"/>
                      <a:pt x="1603" y="429"/>
                      <a:pt x="1724" y="570"/>
                    </a:cubicBezTo>
                    <a:lnTo>
                      <a:pt x="18" y="2106"/>
                    </a:lnTo>
                    <a:lnTo>
                      <a:pt x="14" y="2103"/>
                    </a:lnTo>
                    <a:lnTo>
                      <a:pt x="9" y="2100"/>
                    </a:lnTo>
                    <a:lnTo>
                      <a:pt x="3" y="2096"/>
                    </a:lnTo>
                    <a:lnTo>
                      <a:pt x="0" y="2094"/>
                    </a:lnTo>
                    <a:close/>
                  </a:path>
                </a:pathLst>
              </a:custGeom>
              <a:gradFill>
                <a:gsLst>
                  <a:gs pos="0">
                    <a:schemeClr val="accent1">
                      <a:lumMod val="60000"/>
                      <a:lumOff val="40000"/>
                    </a:schemeClr>
                  </a:gs>
                  <a:gs pos="100000">
                    <a:schemeClr val="accent1">
                      <a:lumMod val="40000"/>
                      <a:lumOff val="60000"/>
                    </a:schemeClr>
                  </a:gs>
                </a:gsLst>
                <a:lin ang="0" scaled="0"/>
              </a:gra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45" name="任意多边形 644"/>
              <p:cNvSpPr/>
              <p:nvPr/>
            </p:nvSpPr>
            <p:spPr>
              <a:xfrm>
                <a:off x="25623" y="4108"/>
                <a:ext cx="948" cy="229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948" h="2297">
                    <a:moveTo>
                      <a:pt x="0" y="0"/>
                    </a:moveTo>
                    <a:cubicBezTo>
                      <a:pt x="247" y="-19"/>
                      <a:pt x="817" y="122"/>
                      <a:pt x="948" y="198"/>
                    </a:cubicBezTo>
                    <a:lnTo>
                      <a:pt x="14" y="2295"/>
                    </a:lnTo>
                    <a:lnTo>
                      <a:pt x="14" y="2295"/>
                    </a:lnTo>
                    <a:lnTo>
                      <a:pt x="7" y="2294"/>
                    </a:lnTo>
                    <a:lnTo>
                      <a:pt x="1" y="2293"/>
                    </a:lnTo>
                    <a:lnTo>
                      <a:pt x="0" y="2292"/>
                    </a:lnTo>
                    <a:lnTo>
                      <a:pt x="0" y="0"/>
                    </a:lnTo>
                    <a:close/>
                  </a:path>
                </a:pathLst>
              </a:custGeom>
              <a:gradFill>
                <a:gsLst>
                  <a:gs pos="0">
                    <a:schemeClr val="accent1">
                      <a:lumMod val="60000"/>
                      <a:lumOff val="40000"/>
                    </a:schemeClr>
                  </a:gs>
                  <a:gs pos="100000">
                    <a:schemeClr val="accent1">
                      <a:lumMod val="40000"/>
                      <a:lumOff val="60000"/>
                    </a:schemeClr>
                  </a:gs>
                </a:gsLst>
                <a:lin ang="0" scaled="0"/>
              </a:gra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46" name="任意多边形 645"/>
              <p:cNvSpPr/>
              <p:nvPr/>
            </p:nvSpPr>
            <p:spPr>
              <a:xfrm>
                <a:off x="23053" y="6709"/>
                <a:ext cx="2284" cy="116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284" h="1168">
                    <a:moveTo>
                      <a:pt x="295" y="1168"/>
                    </a:moveTo>
                    <a:cubicBezTo>
                      <a:pt x="140" y="930"/>
                      <a:pt x="5" y="401"/>
                      <a:pt x="0" y="240"/>
                    </a:cubicBezTo>
                    <a:lnTo>
                      <a:pt x="2279" y="0"/>
                    </a:lnTo>
                    <a:lnTo>
                      <a:pt x="2280" y="5"/>
                    </a:lnTo>
                    <a:lnTo>
                      <a:pt x="2281" y="11"/>
                    </a:lnTo>
                    <a:lnTo>
                      <a:pt x="2283" y="17"/>
                    </a:lnTo>
                    <a:lnTo>
                      <a:pt x="2284" y="20"/>
                    </a:lnTo>
                    <a:lnTo>
                      <a:pt x="295" y="1168"/>
                    </a:lnTo>
                    <a:close/>
                  </a:path>
                </a:pathLst>
              </a:custGeom>
              <a:solidFill>
                <a:schemeClr val="accent1"/>
              </a:soli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47" name="任意多边形 646"/>
              <p:cNvSpPr/>
              <p:nvPr/>
            </p:nvSpPr>
            <p:spPr>
              <a:xfrm>
                <a:off x="23390" y="6806"/>
                <a:ext cx="2006" cy="1882"/>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006" h="1882">
                    <a:moveTo>
                      <a:pt x="657" y="1882"/>
                    </a:moveTo>
                    <a:cubicBezTo>
                      <a:pt x="473" y="1771"/>
                      <a:pt x="73" y="1313"/>
                      <a:pt x="0" y="1146"/>
                    </a:cubicBezTo>
                    <a:lnTo>
                      <a:pt x="1984" y="0"/>
                    </a:lnTo>
                    <a:cubicBezTo>
                      <a:pt x="1984" y="1"/>
                      <a:pt x="2011" y="33"/>
                      <a:pt x="2006" y="26"/>
                    </a:cubicBezTo>
                    <a:lnTo>
                      <a:pt x="657" y="1882"/>
                    </a:lnTo>
                    <a:close/>
                  </a:path>
                </a:pathLst>
              </a:custGeom>
              <a:gradFill>
                <a:gsLst>
                  <a:gs pos="0">
                    <a:schemeClr val="accent1">
                      <a:lumMod val="60000"/>
                      <a:lumOff val="40000"/>
                    </a:schemeClr>
                  </a:gs>
                  <a:gs pos="100000">
                    <a:schemeClr val="accent1">
                      <a:lumMod val="40000"/>
                      <a:lumOff val="60000"/>
                    </a:schemeClr>
                  </a:gs>
                </a:gsLst>
                <a:lin ang="0" scaled="0"/>
              </a:gra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48" name="任意多边形 647"/>
              <p:cNvSpPr/>
              <p:nvPr/>
            </p:nvSpPr>
            <p:spPr>
              <a:xfrm>
                <a:off x="24116" y="6883"/>
                <a:ext cx="1376" cy="225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376" h="2256">
                    <a:moveTo>
                      <a:pt x="899" y="2256"/>
                    </a:moveTo>
                    <a:cubicBezTo>
                      <a:pt x="673" y="2233"/>
                      <a:pt x="98" y="1952"/>
                      <a:pt x="0" y="1855"/>
                    </a:cubicBezTo>
                    <a:lnTo>
                      <a:pt x="1347" y="0"/>
                    </a:lnTo>
                    <a:cubicBezTo>
                      <a:pt x="1349" y="1"/>
                      <a:pt x="1380" y="15"/>
                      <a:pt x="1376" y="13"/>
                    </a:cubicBezTo>
                    <a:lnTo>
                      <a:pt x="899" y="2256"/>
                    </a:lnTo>
                    <a:close/>
                  </a:path>
                </a:pathLst>
              </a:custGeom>
              <a:solidFill>
                <a:schemeClr val="accent1"/>
              </a:soli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49" name="任意多边形 648"/>
              <p:cNvSpPr/>
              <p:nvPr/>
            </p:nvSpPr>
            <p:spPr>
              <a:xfrm>
                <a:off x="25098" y="6913"/>
                <a:ext cx="978" cy="229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978" h="2292">
                    <a:moveTo>
                      <a:pt x="978" y="2243"/>
                    </a:moveTo>
                    <a:cubicBezTo>
                      <a:pt x="883" y="2269"/>
                      <a:pt x="538" y="2298"/>
                      <a:pt x="486" y="2290"/>
                    </a:cubicBezTo>
                    <a:cubicBezTo>
                      <a:pt x="322" y="2298"/>
                      <a:pt x="-1" y="2248"/>
                      <a:pt x="0" y="2244"/>
                    </a:cubicBezTo>
                    <a:lnTo>
                      <a:pt x="477" y="0"/>
                    </a:lnTo>
                    <a:lnTo>
                      <a:pt x="479" y="0"/>
                    </a:lnTo>
                    <a:lnTo>
                      <a:pt x="486" y="0"/>
                    </a:lnTo>
                    <a:lnTo>
                      <a:pt x="493" y="0"/>
                    </a:lnTo>
                    <a:lnTo>
                      <a:pt x="499" y="0"/>
                    </a:lnTo>
                    <a:lnTo>
                      <a:pt x="501" y="0"/>
                    </a:lnTo>
                    <a:lnTo>
                      <a:pt x="978" y="2243"/>
                    </a:lnTo>
                    <a:close/>
                  </a:path>
                </a:pathLst>
              </a:custGeom>
              <a:solidFill>
                <a:schemeClr val="accent1"/>
              </a:soli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50" name="任意多边形 649"/>
              <p:cNvSpPr/>
              <p:nvPr/>
            </p:nvSpPr>
            <p:spPr>
              <a:xfrm>
                <a:off x="25682" y="6884"/>
                <a:ext cx="1368" cy="22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368" h="2254">
                    <a:moveTo>
                      <a:pt x="1368" y="1855"/>
                    </a:moveTo>
                    <a:cubicBezTo>
                      <a:pt x="1196" y="2014"/>
                      <a:pt x="586" y="2250"/>
                      <a:pt x="477" y="2254"/>
                    </a:cubicBezTo>
                    <a:lnTo>
                      <a:pt x="0" y="10"/>
                    </a:lnTo>
                    <a:lnTo>
                      <a:pt x="4" y="8"/>
                    </a:lnTo>
                    <a:lnTo>
                      <a:pt x="10" y="5"/>
                    </a:lnTo>
                    <a:lnTo>
                      <a:pt x="16" y="3"/>
                    </a:lnTo>
                    <a:lnTo>
                      <a:pt x="21" y="0"/>
                    </a:lnTo>
                    <a:lnTo>
                      <a:pt x="1368" y="1855"/>
                    </a:lnTo>
                    <a:close/>
                  </a:path>
                </a:pathLst>
              </a:custGeom>
              <a:solidFill>
                <a:schemeClr val="accent1"/>
              </a:soli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51" name="任意多边形 650"/>
              <p:cNvSpPr/>
              <p:nvPr/>
            </p:nvSpPr>
            <p:spPr>
              <a:xfrm>
                <a:off x="25771" y="6801"/>
                <a:ext cx="2010" cy="188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010" h="1889">
                    <a:moveTo>
                      <a:pt x="2010" y="1145"/>
                    </a:moveTo>
                    <a:cubicBezTo>
                      <a:pt x="1878" y="1421"/>
                      <a:pt x="1456" y="1823"/>
                      <a:pt x="1348" y="1888"/>
                    </a:cubicBezTo>
                    <a:lnTo>
                      <a:pt x="0" y="32"/>
                    </a:lnTo>
                    <a:cubicBezTo>
                      <a:pt x="6" y="28"/>
                      <a:pt x="30" y="-5"/>
                      <a:pt x="26" y="0"/>
                    </a:cubicBezTo>
                    <a:lnTo>
                      <a:pt x="2010" y="1145"/>
                    </a:lnTo>
                    <a:close/>
                  </a:path>
                </a:pathLst>
              </a:custGeom>
              <a:gradFill>
                <a:gsLst>
                  <a:gs pos="0">
                    <a:schemeClr val="accent1">
                      <a:lumMod val="60000"/>
                      <a:lumOff val="40000"/>
                    </a:schemeClr>
                  </a:gs>
                  <a:gs pos="100000">
                    <a:schemeClr val="accent1">
                      <a:lumMod val="40000"/>
                      <a:lumOff val="60000"/>
                    </a:schemeClr>
                  </a:gs>
                </a:gsLst>
                <a:lin ang="0" scaled="0"/>
              </a:gra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52" name="任意多边形 651"/>
              <p:cNvSpPr/>
              <p:nvPr/>
            </p:nvSpPr>
            <p:spPr>
              <a:xfrm>
                <a:off x="25833" y="6709"/>
                <a:ext cx="2282" cy="116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282" h="1163">
                    <a:moveTo>
                      <a:pt x="2282" y="240"/>
                    </a:moveTo>
                    <a:cubicBezTo>
                      <a:pt x="2273" y="504"/>
                      <a:pt x="2083" y="1025"/>
                      <a:pt x="1990" y="1163"/>
                    </a:cubicBezTo>
                    <a:lnTo>
                      <a:pt x="0" y="14"/>
                    </a:lnTo>
                    <a:lnTo>
                      <a:pt x="1" y="11"/>
                    </a:lnTo>
                    <a:lnTo>
                      <a:pt x="2" y="5"/>
                    </a:lnTo>
                    <a:lnTo>
                      <a:pt x="3" y="0"/>
                    </a:lnTo>
                    <a:lnTo>
                      <a:pt x="2282" y="240"/>
                    </a:lnTo>
                    <a:close/>
                  </a:path>
                </a:pathLst>
              </a:custGeom>
              <a:gradFill>
                <a:gsLst>
                  <a:gs pos="0">
                    <a:schemeClr val="accent1">
                      <a:lumMod val="60000"/>
                      <a:lumOff val="40000"/>
                    </a:schemeClr>
                  </a:gs>
                  <a:gs pos="100000">
                    <a:schemeClr val="accent1">
                      <a:lumMod val="40000"/>
                      <a:lumOff val="60000"/>
                    </a:schemeClr>
                  </a:gs>
                </a:gsLst>
                <a:lin ang="0" scaled="0"/>
              </a:gra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53" name="任意多边形 652"/>
              <p:cNvSpPr/>
              <p:nvPr/>
            </p:nvSpPr>
            <p:spPr>
              <a:xfrm>
                <a:off x="25836" y="5892"/>
                <a:ext cx="2296" cy="973"/>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297" h="973">
                    <a:moveTo>
                      <a:pt x="2180" y="0"/>
                    </a:moveTo>
                    <a:cubicBezTo>
                      <a:pt x="2259" y="217"/>
                      <a:pt x="2303" y="615"/>
                      <a:pt x="2296" y="763"/>
                    </a:cubicBezTo>
                    <a:lnTo>
                      <a:pt x="2295" y="830"/>
                    </a:lnTo>
                    <a:lnTo>
                      <a:pt x="2293" y="897"/>
                    </a:lnTo>
                    <a:lnTo>
                      <a:pt x="2288" y="963"/>
                    </a:lnTo>
                    <a:lnTo>
                      <a:pt x="2287" y="973"/>
                    </a:lnTo>
                    <a:lnTo>
                      <a:pt x="4" y="733"/>
                    </a:lnTo>
                    <a:cubicBezTo>
                      <a:pt x="4" y="731"/>
                      <a:pt x="-1" y="700"/>
                      <a:pt x="0" y="708"/>
                    </a:cubicBezTo>
                    <a:lnTo>
                      <a:pt x="2180" y="0"/>
                    </a:lnTo>
                    <a:close/>
                  </a:path>
                </a:pathLst>
              </a:custGeom>
              <a:solidFill>
                <a:schemeClr val="accent1"/>
              </a:soli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54" name="任意多边形 653"/>
              <p:cNvSpPr/>
              <p:nvPr/>
            </p:nvSpPr>
            <p:spPr>
              <a:xfrm>
                <a:off x="25794" y="4972"/>
                <a:ext cx="2194" cy="1548"/>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194" h="1548">
                    <a:moveTo>
                      <a:pt x="0" y="1533"/>
                    </a:moveTo>
                    <a:lnTo>
                      <a:pt x="1703" y="0"/>
                    </a:lnTo>
                    <a:cubicBezTo>
                      <a:pt x="1911" y="209"/>
                      <a:pt x="2143" y="661"/>
                      <a:pt x="2194" y="838"/>
                    </a:cubicBezTo>
                    <a:lnTo>
                      <a:pt x="10" y="1548"/>
                    </a:lnTo>
                    <a:lnTo>
                      <a:pt x="9" y="1547"/>
                    </a:lnTo>
                    <a:lnTo>
                      <a:pt x="6" y="1542"/>
                    </a:lnTo>
                    <a:lnTo>
                      <a:pt x="2" y="1536"/>
                    </a:lnTo>
                    <a:lnTo>
                      <a:pt x="0" y="1533"/>
                    </a:lnTo>
                    <a:close/>
                  </a:path>
                </a:pathLst>
              </a:custGeom>
              <a:gradFill>
                <a:gsLst>
                  <a:gs pos="0">
                    <a:schemeClr val="accent1">
                      <a:lumMod val="60000"/>
                      <a:lumOff val="40000"/>
                    </a:schemeClr>
                  </a:gs>
                  <a:gs pos="100000">
                    <a:schemeClr val="accent1">
                      <a:lumMod val="40000"/>
                      <a:lumOff val="60000"/>
                    </a:schemeClr>
                  </a:gs>
                </a:gsLst>
                <a:lin ang="0" scaled="0"/>
              </a:gra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55" name="任意多边形 654"/>
              <p:cNvSpPr/>
              <p:nvPr/>
            </p:nvSpPr>
            <p:spPr>
              <a:xfrm>
                <a:off x="23180" y="4964"/>
                <a:ext cx="2200" cy="1554"/>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200" h="1554">
                    <a:moveTo>
                      <a:pt x="0" y="844"/>
                    </a:moveTo>
                    <a:cubicBezTo>
                      <a:pt x="64" y="572"/>
                      <a:pt x="421" y="62"/>
                      <a:pt x="498" y="0"/>
                    </a:cubicBezTo>
                    <a:lnTo>
                      <a:pt x="2200" y="1533"/>
                    </a:lnTo>
                    <a:cubicBezTo>
                      <a:pt x="2199" y="1533"/>
                      <a:pt x="2183" y="1557"/>
                      <a:pt x="2185" y="1554"/>
                    </a:cubicBezTo>
                    <a:lnTo>
                      <a:pt x="0" y="844"/>
                    </a:lnTo>
                    <a:close/>
                  </a:path>
                </a:pathLst>
              </a:custGeom>
              <a:gradFill>
                <a:gsLst>
                  <a:gs pos="0">
                    <a:schemeClr val="accent1">
                      <a:lumMod val="60000"/>
                      <a:lumOff val="40000"/>
                    </a:schemeClr>
                  </a:gs>
                  <a:gs pos="100000">
                    <a:schemeClr val="accent1">
                      <a:lumMod val="40000"/>
                      <a:lumOff val="60000"/>
                    </a:schemeClr>
                  </a:gs>
                </a:gsLst>
                <a:lin ang="0" scaled="0"/>
              </a:gra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656" name="任意多边形 655"/>
              <p:cNvSpPr/>
              <p:nvPr/>
            </p:nvSpPr>
            <p:spPr>
              <a:xfrm>
                <a:off x="23036" y="5889"/>
                <a:ext cx="2296" cy="975"/>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297" h="975">
                    <a:moveTo>
                      <a:pt x="0" y="766"/>
                    </a:moveTo>
                    <a:cubicBezTo>
                      <a:pt x="-10" y="506"/>
                      <a:pt x="71" y="128"/>
                      <a:pt x="117" y="0"/>
                    </a:cubicBezTo>
                    <a:lnTo>
                      <a:pt x="2296" y="708"/>
                    </a:lnTo>
                    <a:cubicBezTo>
                      <a:pt x="2295" y="714"/>
                      <a:pt x="2291" y="741"/>
                      <a:pt x="2292" y="735"/>
                    </a:cubicBezTo>
                    <a:lnTo>
                      <a:pt x="9" y="975"/>
                    </a:lnTo>
                    <a:lnTo>
                      <a:pt x="8" y="965"/>
                    </a:lnTo>
                    <a:lnTo>
                      <a:pt x="3" y="899"/>
                    </a:lnTo>
                    <a:lnTo>
                      <a:pt x="1" y="832"/>
                    </a:lnTo>
                    <a:lnTo>
                      <a:pt x="0" y="766"/>
                    </a:lnTo>
                    <a:close/>
                  </a:path>
                </a:pathLst>
              </a:custGeom>
              <a:gradFill>
                <a:gsLst>
                  <a:gs pos="0">
                    <a:schemeClr val="accent1">
                      <a:lumMod val="60000"/>
                      <a:lumOff val="40000"/>
                    </a:schemeClr>
                  </a:gs>
                  <a:gs pos="100000">
                    <a:schemeClr val="accent1">
                      <a:lumMod val="40000"/>
                      <a:lumOff val="60000"/>
                    </a:schemeClr>
                  </a:gs>
                </a:gsLst>
                <a:lin ang="0" scaled="0"/>
              </a:gradFill>
              <a:ln w="12700">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cs typeface="微软雅黑" panose="020B0503020204020204" charset="-122"/>
                </a:endParaRPr>
              </a:p>
            </p:txBody>
          </p:sp>
        </p:grpSp>
        <p:sp>
          <p:nvSpPr>
            <p:cNvPr id="679" name="空心弧 678"/>
            <p:cNvSpPr/>
            <p:nvPr/>
          </p:nvSpPr>
          <p:spPr>
            <a:xfrm>
              <a:off x="3109" y="3964"/>
              <a:ext cx="5525" cy="5524"/>
            </a:xfrm>
            <a:prstGeom prst="blockArc">
              <a:avLst>
                <a:gd name="adj1" fmla="val 9047133"/>
                <a:gd name="adj2" fmla="val 16142709"/>
                <a:gd name="adj3" fmla="val 1658"/>
              </a:avLst>
            </a:prstGeom>
            <a:gradFill>
              <a:gsLst>
                <a:gs pos="0">
                  <a:schemeClr val="accent1">
                    <a:alpha val="40000"/>
                  </a:schemeClr>
                </a:gs>
                <a:gs pos="100000">
                  <a:schemeClr val="accent1">
                    <a:alpha val="10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cs typeface="微软雅黑" panose="020B0503020204020204" charset="-122"/>
              </a:endParaRPr>
            </a:p>
          </p:txBody>
        </p:sp>
        <p:sp>
          <p:nvSpPr>
            <p:cNvPr id="680" name="空心弧 679"/>
            <p:cNvSpPr/>
            <p:nvPr/>
          </p:nvSpPr>
          <p:spPr>
            <a:xfrm>
              <a:off x="3139" y="4023"/>
              <a:ext cx="5525" cy="5524"/>
            </a:xfrm>
            <a:prstGeom prst="blockArc">
              <a:avLst>
                <a:gd name="adj1" fmla="val 1849346"/>
                <a:gd name="adj2" fmla="val 8990298"/>
                <a:gd name="adj3" fmla="val 1545"/>
              </a:avLst>
            </a:prstGeom>
            <a:gradFill>
              <a:gsLst>
                <a:gs pos="0">
                  <a:schemeClr val="accent1">
                    <a:lumMod val="60000"/>
                    <a:lumOff val="40000"/>
                    <a:alpha val="40000"/>
                  </a:schemeClr>
                </a:gs>
                <a:gs pos="100000">
                  <a:schemeClr val="accent1">
                    <a:lumMod val="60000"/>
                    <a:lumOff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cs typeface="微软雅黑" panose="020B0503020204020204" charset="-122"/>
              </a:endParaRPr>
            </a:p>
          </p:txBody>
        </p:sp>
        <p:sp>
          <p:nvSpPr>
            <p:cNvPr id="681" name="空心弧 680"/>
            <p:cNvSpPr/>
            <p:nvPr/>
          </p:nvSpPr>
          <p:spPr>
            <a:xfrm>
              <a:off x="3165" y="3964"/>
              <a:ext cx="5525" cy="5524"/>
            </a:xfrm>
            <a:prstGeom prst="blockArc">
              <a:avLst>
                <a:gd name="adj1" fmla="val 16192750"/>
                <a:gd name="adj2" fmla="val 1742964"/>
                <a:gd name="adj3" fmla="val 1540"/>
              </a:avLst>
            </a:prstGeom>
            <a:gradFill>
              <a:gsLst>
                <a:gs pos="100000">
                  <a:schemeClr val="accent5"/>
                </a:gs>
                <a:gs pos="0">
                  <a:schemeClr val="accent5">
                    <a:alpha val="40000"/>
                  </a:schemeClr>
                </a:gs>
              </a:gsLst>
              <a:lin ang="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solidFill>
                  <a:schemeClr val="tx1"/>
                </a:solidFill>
                <a:cs typeface="微软雅黑" panose="020B0503020204020204" charset="-122"/>
              </a:endParaRPr>
            </a:p>
          </p:txBody>
        </p:sp>
        <p:sp>
          <p:nvSpPr>
            <p:cNvPr id="684" name="椭圆 683"/>
            <p:cNvSpPr/>
            <p:nvPr/>
          </p:nvSpPr>
          <p:spPr>
            <a:xfrm>
              <a:off x="3409" y="5269"/>
              <a:ext cx="203" cy="203"/>
            </a:xfrm>
            <a:prstGeom prst="ellipse">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85" name="椭圆 684"/>
            <p:cNvSpPr/>
            <p:nvPr/>
          </p:nvSpPr>
          <p:spPr>
            <a:xfrm>
              <a:off x="3062" y="6369"/>
              <a:ext cx="203" cy="203"/>
            </a:xfrm>
            <a:prstGeom prst="ellipse">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86" name="椭圆 685"/>
            <p:cNvSpPr/>
            <p:nvPr/>
          </p:nvSpPr>
          <p:spPr>
            <a:xfrm>
              <a:off x="3165" y="7469"/>
              <a:ext cx="203" cy="203"/>
            </a:xfrm>
            <a:prstGeom prst="ellipse">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87" name="椭圆 686"/>
            <p:cNvSpPr/>
            <p:nvPr/>
          </p:nvSpPr>
          <p:spPr>
            <a:xfrm>
              <a:off x="3740" y="8448"/>
              <a:ext cx="203" cy="203"/>
            </a:xfrm>
            <a:prstGeom prst="ellipse">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88" name="椭圆 687"/>
            <p:cNvSpPr/>
            <p:nvPr/>
          </p:nvSpPr>
          <p:spPr>
            <a:xfrm>
              <a:off x="4648" y="9125"/>
              <a:ext cx="203" cy="203"/>
            </a:xfrm>
            <a:prstGeom prst="ellipse">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89" name="椭圆 688"/>
            <p:cNvSpPr/>
            <p:nvPr/>
          </p:nvSpPr>
          <p:spPr>
            <a:xfrm>
              <a:off x="5828" y="9366"/>
              <a:ext cx="203" cy="203"/>
            </a:xfrm>
            <a:prstGeom prst="ellipse">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90" name="椭圆 689"/>
            <p:cNvSpPr/>
            <p:nvPr/>
          </p:nvSpPr>
          <p:spPr>
            <a:xfrm>
              <a:off x="6886" y="9147"/>
              <a:ext cx="203" cy="203"/>
            </a:xfrm>
            <a:prstGeom prst="ellipse">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91" name="椭圆 690"/>
            <p:cNvSpPr/>
            <p:nvPr/>
          </p:nvSpPr>
          <p:spPr>
            <a:xfrm>
              <a:off x="4134" y="4463"/>
              <a:ext cx="203" cy="203"/>
            </a:xfrm>
            <a:prstGeom prst="ellipse">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92" name="椭圆 691"/>
            <p:cNvSpPr/>
            <p:nvPr/>
          </p:nvSpPr>
          <p:spPr>
            <a:xfrm>
              <a:off x="5210" y="3936"/>
              <a:ext cx="203" cy="203"/>
            </a:xfrm>
            <a:prstGeom prst="ellipse">
              <a:avLst/>
            </a:prstGeom>
            <a:solidFill>
              <a:schemeClr val="bg1"/>
            </a:solid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93" name="椭圆 692"/>
            <p:cNvSpPr/>
            <p:nvPr/>
          </p:nvSpPr>
          <p:spPr>
            <a:xfrm>
              <a:off x="6391" y="3964"/>
              <a:ext cx="203" cy="203"/>
            </a:xfrm>
            <a:prstGeom prst="ellipse">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94" name="椭圆 693"/>
            <p:cNvSpPr/>
            <p:nvPr/>
          </p:nvSpPr>
          <p:spPr>
            <a:xfrm>
              <a:off x="7449" y="4463"/>
              <a:ext cx="203" cy="203"/>
            </a:xfrm>
            <a:prstGeom prst="ellipse">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95" name="椭圆 694"/>
            <p:cNvSpPr/>
            <p:nvPr/>
          </p:nvSpPr>
          <p:spPr>
            <a:xfrm>
              <a:off x="8147" y="5221"/>
              <a:ext cx="203" cy="203"/>
            </a:xfrm>
            <a:prstGeom prst="ellipse">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96" name="椭圆 695"/>
            <p:cNvSpPr/>
            <p:nvPr/>
          </p:nvSpPr>
          <p:spPr>
            <a:xfrm>
              <a:off x="8550" y="6303"/>
              <a:ext cx="203" cy="203"/>
            </a:xfrm>
            <a:prstGeom prst="ellipse">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97" name="椭圆 696"/>
            <p:cNvSpPr/>
            <p:nvPr/>
          </p:nvSpPr>
          <p:spPr>
            <a:xfrm>
              <a:off x="8430" y="7469"/>
              <a:ext cx="203" cy="203"/>
            </a:xfrm>
            <a:prstGeom prst="ellipse">
              <a:avLst/>
            </a:prstGeom>
            <a:solidFill>
              <a:schemeClr val="bg1"/>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98" name="椭圆 697"/>
            <p:cNvSpPr/>
            <p:nvPr/>
          </p:nvSpPr>
          <p:spPr>
            <a:xfrm>
              <a:off x="7832" y="8487"/>
              <a:ext cx="203" cy="203"/>
            </a:xfrm>
            <a:prstGeom prst="ellipse">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99" name="文本框 698"/>
            <p:cNvSpPr txBox="1"/>
            <p:nvPr/>
          </p:nvSpPr>
          <p:spPr>
            <a:xfrm>
              <a:off x="4556" y="3445"/>
              <a:ext cx="1297" cy="386"/>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架构与监管</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00" name="文本框 699"/>
            <p:cNvSpPr txBox="1"/>
            <p:nvPr/>
          </p:nvSpPr>
          <p:spPr>
            <a:xfrm>
              <a:off x="6152" y="3445"/>
              <a:ext cx="1297" cy="386"/>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自然资源</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02" name="文本框 701"/>
            <p:cNvSpPr txBox="1"/>
            <p:nvPr/>
          </p:nvSpPr>
          <p:spPr>
            <a:xfrm>
              <a:off x="7456" y="4075"/>
              <a:ext cx="1297" cy="386"/>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能源利用率</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03" name="文本框 702"/>
            <p:cNvSpPr txBox="1"/>
            <p:nvPr/>
          </p:nvSpPr>
          <p:spPr>
            <a:xfrm>
              <a:off x="8312" y="5018"/>
              <a:ext cx="1297" cy="386"/>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污染物排放</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04" name="文本框 703"/>
            <p:cNvSpPr txBox="1"/>
            <p:nvPr/>
          </p:nvSpPr>
          <p:spPr>
            <a:xfrm>
              <a:off x="8690" y="6203"/>
              <a:ext cx="1297" cy="386"/>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污染与废弃</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05" name="文本框 704"/>
            <p:cNvSpPr txBox="1"/>
            <p:nvPr/>
          </p:nvSpPr>
          <p:spPr>
            <a:xfrm>
              <a:off x="8580" y="7469"/>
              <a:ext cx="1371" cy="628"/>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创新环保机会</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06" name="文本框 705"/>
            <p:cNvSpPr txBox="1"/>
            <p:nvPr/>
          </p:nvSpPr>
          <p:spPr>
            <a:xfrm>
              <a:off x="8096" y="8532"/>
              <a:ext cx="1371" cy="386"/>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社会与社区</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07" name="文本框 706"/>
            <p:cNvSpPr txBox="1"/>
            <p:nvPr/>
          </p:nvSpPr>
          <p:spPr>
            <a:xfrm>
              <a:off x="7059" y="9277"/>
              <a:ext cx="1371" cy="386"/>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员工待遇</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08" name="文本框 707"/>
            <p:cNvSpPr txBox="1"/>
            <p:nvPr/>
          </p:nvSpPr>
          <p:spPr>
            <a:xfrm>
              <a:off x="3310" y="4020"/>
              <a:ext cx="1297" cy="386"/>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补偿政策</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09" name="文本框 708"/>
            <p:cNvSpPr txBox="1"/>
            <p:nvPr/>
          </p:nvSpPr>
          <p:spPr>
            <a:xfrm>
              <a:off x="2253" y="4883"/>
              <a:ext cx="1297" cy="386"/>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供应链管理</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12" name="文本框 711"/>
            <p:cNvSpPr txBox="1"/>
            <p:nvPr/>
          </p:nvSpPr>
          <p:spPr>
            <a:xfrm>
              <a:off x="2837" y="8553"/>
              <a:ext cx="1297" cy="386"/>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产品责任</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13" name="文本框 712"/>
            <p:cNvSpPr txBox="1"/>
            <p:nvPr/>
          </p:nvSpPr>
          <p:spPr>
            <a:xfrm>
              <a:off x="3913" y="9376"/>
              <a:ext cx="1586" cy="386"/>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多样性与机会</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14" name="文本框 713"/>
            <p:cNvSpPr txBox="1"/>
            <p:nvPr/>
          </p:nvSpPr>
          <p:spPr>
            <a:xfrm>
              <a:off x="5647" y="9616"/>
              <a:ext cx="1297" cy="386"/>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人权</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723" name="组合 722"/>
            <p:cNvGrpSpPr/>
            <p:nvPr/>
          </p:nvGrpSpPr>
          <p:grpSpPr>
            <a:xfrm>
              <a:off x="4467" y="5309"/>
              <a:ext cx="2847" cy="2847"/>
              <a:chOff x="4512" y="5384"/>
              <a:chExt cx="2847" cy="2847"/>
            </a:xfrm>
          </p:grpSpPr>
          <p:sp>
            <p:nvSpPr>
              <p:cNvPr id="720" name="椭圆 719"/>
              <p:cNvSpPr/>
              <p:nvPr/>
            </p:nvSpPr>
            <p:spPr>
              <a:xfrm>
                <a:off x="5074" y="5946"/>
                <a:ext cx="1723" cy="1723"/>
              </a:xfrm>
              <a:prstGeom prst="ellipse">
                <a:avLst/>
              </a:prstGeom>
              <a:noFill/>
              <a:ln>
                <a:solidFill>
                  <a:schemeClr val="bg1"/>
                </a:solidFill>
              </a:ln>
              <a:extLst>
                <a:ext uri="{909E8E84-426E-40DD-AFC4-6F175D3DCCD1}">
                  <a14:hiddenFill xmlns:a14="http://schemas.microsoft.com/office/drawing/2010/main">
                    <a:solidFill>
                      <a:srgbClr val="000000">
                        <a:alpha val="0"/>
                      </a:srgb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721" name="椭圆 720"/>
              <p:cNvSpPr/>
              <p:nvPr/>
            </p:nvSpPr>
            <p:spPr>
              <a:xfrm>
                <a:off x="4512" y="5384"/>
                <a:ext cx="2847" cy="2847"/>
              </a:xfrm>
              <a:prstGeom prst="ellipse">
                <a:avLst/>
              </a:prstGeom>
              <a:noFill/>
              <a:ln>
                <a:solidFill>
                  <a:schemeClr val="bg1"/>
                </a:solidFill>
                <a:prstDash val="dashDot"/>
              </a:ln>
              <a:extLst>
                <a:ext uri="{909E8E84-426E-40DD-AFC4-6F175D3DCCD1}">
                  <a14:hiddenFill xmlns:a14="http://schemas.microsoft.com/office/drawing/2010/main">
                    <a:solidFill>
                      <a:srgbClr val="000000">
                        <a:alpha val="0"/>
                      </a:srgbClr>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grpSp>
        <p:nvGrpSpPr>
          <p:cNvPr id="753" name="组合 752"/>
          <p:cNvGrpSpPr/>
          <p:nvPr/>
        </p:nvGrpSpPr>
        <p:grpSpPr>
          <a:xfrm>
            <a:off x="6918960" y="981075"/>
            <a:ext cx="4830445" cy="1783715"/>
            <a:chOff x="10896" y="1545"/>
            <a:chExt cx="7607" cy="2809"/>
          </a:xfrm>
        </p:grpSpPr>
        <p:sp>
          <p:nvSpPr>
            <p:cNvPr id="22" name="矩形 21"/>
            <p:cNvSpPr/>
            <p:nvPr/>
          </p:nvSpPr>
          <p:spPr>
            <a:xfrm>
              <a:off x="10896" y="1545"/>
              <a:ext cx="7607" cy="2809"/>
            </a:xfrm>
            <a:prstGeom prst="rect">
              <a:avLst/>
            </a:prstGeom>
            <a:solidFill>
              <a:schemeClr val="accent5">
                <a:alpha val="5000"/>
              </a:schemeClr>
            </a:solidFill>
            <a:ln w="19050" cap="flat" cmpd="sng" algn="ctr">
              <a:noFill/>
              <a:prstDash val="solid"/>
              <a:miter lim="800000"/>
            </a:ln>
            <a:effectLst/>
          </p:spPr>
          <p:txBody>
            <a:bodyPr rtlCol="0" anchor="ctr"/>
            <a:lstStyle/>
            <a:p>
              <a:pPr algn="ctr"/>
              <a:endParaRPr lang="en-US" sz="1400" dirty="0">
                <a:solidFill>
                  <a:sysClr val="window" lastClr="FFFFFF"/>
                </a:solidFill>
                <a:latin typeface="微软雅黑" panose="020B0503020204020204" charset="-122"/>
                <a:cs typeface="微软雅黑" panose="020B0503020204020204" charset="-122"/>
              </a:endParaRPr>
            </a:p>
          </p:txBody>
        </p:sp>
        <p:sp>
          <p:nvSpPr>
            <p:cNvPr id="23" name="矩形 22"/>
            <p:cNvSpPr/>
            <p:nvPr/>
          </p:nvSpPr>
          <p:spPr>
            <a:xfrm>
              <a:off x="18414" y="1545"/>
              <a:ext cx="88" cy="2809"/>
            </a:xfrm>
            <a:prstGeom prst="rect">
              <a:avLst/>
            </a:prstGeom>
            <a:gradFill flip="none" rotWithShape="1">
              <a:gsLst>
                <a:gs pos="0">
                  <a:schemeClr val="accent5"/>
                </a:gs>
                <a:gs pos="100000">
                  <a:schemeClr val="accent5">
                    <a:lumMod val="80000"/>
                    <a:lumOff val="20000"/>
                  </a:schemeClr>
                </a:gs>
              </a:gsLst>
              <a:lin ang="16200000" scaled="1"/>
              <a:tileRect/>
            </a:gradFill>
            <a:ln w="19050" cap="flat" cmpd="sng" algn="ctr">
              <a:noFill/>
              <a:prstDash val="solid"/>
              <a:miter lim="800000"/>
            </a:ln>
            <a:effectLst/>
          </p:spPr>
          <p:txBody>
            <a:bodyPr rtlCol="0" anchor="ctr"/>
            <a:lstStyle/>
            <a:p>
              <a:pPr algn="ctr"/>
              <a:endParaRPr lang="en-US" sz="1000" dirty="0">
                <a:solidFill>
                  <a:sysClr val="window" lastClr="FFFFFF"/>
                </a:solidFill>
                <a:latin typeface="微软雅黑" panose="020B0503020204020204" charset="-122"/>
                <a:ea typeface="微软雅黑" panose="020B0503020204020204" charset="-122"/>
                <a:cs typeface="微软雅黑" panose="020B0503020204020204" charset="-122"/>
              </a:endParaRPr>
            </a:p>
          </p:txBody>
        </p:sp>
        <p:grpSp>
          <p:nvGrpSpPr>
            <p:cNvPr id="728" name="组合 727"/>
            <p:cNvGrpSpPr/>
            <p:nvPr/>
          </p:nvGrpSpPr>
          <p:grpSpPr>
            <a:xfrm>
              <a:off x="11244" y="2265"/>
              <a:ext cx="1252" cy="1362"/>
              <a:chOff x="11244" y="2265"/>
              <a:chExt cx="1252" cy="1362"/>
            </a:xfrm>
          </p:grpSpPr>
          <p:pic>
            <p:nvPicPr>
              <p:cNvPr id="726" name="图片 725" descr="联合国环境署"/>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02" y="2265"/>
                <a:ext cx="935" cy="810"/>
              </a:xfrm>
              <a:prstGeom prst="rect">
                <a:avLst/>
              </a:prstGeom>
            </p:spPr>
          </p:pic>
          <p:sp>
            <p:nvSpPr>
              <p:cNvPr id="727" name="文本框 726"/>
              <p:cNvSpPr txBox="1"/>
              <p:nvPr/>
            </p:nvSpPr>
            <p:spPr>
              <a:xfrm>
                <a:off x="11244" y="3193"/>
                <a:ext cx="1252" cy="434"/>
              </a:xfrm>
              <a:prstGeom prst="rect">
                <a:avLst/>
              </a:prstGeom>
              <a:noFill/>
            </p:spPr>
            <p:txBody>
              <a:bodyPr wrap="none">
                <a:spAutoFit/>
              </a:bodyPr>
              <a:p>
                <a:pPr algn="ct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环境维度</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grpSp>
        <p:cxnSp>
          <p:nvCxnSpPr>
            <p:cNvPr id="729" name="直接连接符 728"/>
            <p:cNvCxnSpPr/>
            <p:nvPr/>
          </p:nvCxnSpPr>
          <p:spPr>
            <a:xfrm>
              <a:off x="12602" y="2106"/>
              <a:ext cx="0" cy="1584"/>
            </a:xfrm>
            <a:prstGeom prst="line">
              <a:avLst/>
            </a:prstGeom>
            <a:ln>
              <a:solidFill>
                <a:schemeClr val="accent6">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sp>
          <p:nvSpPr>
            <p:cNvPr id="730" name="文本框 729"/>
            <p:cNvSpPr txBox="1"/>
            <p:nvPr/>
          </p:nvSpPr>
          <p:spPr>
            <a:xfrm>
              <a:off x="12686" y="2166"/>
              <a:ext cx="1517" cy="386"/>
            </a:xfrm>
            <a:prstGeom prst="rect">
              <a:avLst/>
            </a:prstGeom>
            <a:noFill/>
          </p:spPr>
          <p:txBody>
            <a:bodyPr wrap="square" rtlCol="0">
              <a:spAutoFit/>
            </a:bodyPr>
            <a:p>
              <a:r>
                <a:rPr lang="zh-CN" altLang="en-US" sz="1000" b="1">
                  <a:solidFill>
                    <a:schemeClr val="tx2"/>
                  </a:solidFill>
                  <a:latin typeface="微软雅黑" panose="020B0503020204020204" charset="-122"/>
                  <a:ea typeface="微软雅黑" panose="020B0503020204020204" charset="-122"/>
                  <a:cs typeface="微软雅黑" panose="020B0503020204020204" charset="-122"/>
                </a:rPr>
                <a:t>工业能效升级</a:t>
              </a:r>
              <a:endParaRPr lang="zh-CN" altLang="en-US" sz="10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31" name="文本框 730"/>
            <p:cNvSpPr txBox="1"/>
            <p:nvPr/>
          </p:nvSpPr>
          <p:spPr>
            <a:xfrm>
              <a:off x="12746" y="2577"/>
              <a:ext cx="1457" cy="1113"/>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重点领域单位产值碳排放下降</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r>
                <a:rPr lang="en-US" altLang="zh-CN" sz="1000" b="1">
                  <a:solidFill>
                    <a:schemeClr val="accent5"/>
                  </a:solidFill>
                  <a:latin typeface="微软雅黑" panose="020B0503020204020204" charset="-122"/>
                  <a:ea typeface="微软雅黑" panose="020B0503020204020204" charset="-122"/>
                  <a:cs typeface="微软雅黑" panose="020B0503020204020204" charset="-122"/>
                </a:rPr>
                <a:t>-45%</a:t>
              </a:r>
              <a:endParaRPr lang="en-US" altLang="zh-CN" sz="10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32" name="文本框 731"/>
            <p:cNvSpPr txBox="1"/>
            <p:nvPr/>
          </p:nvSpPr>
          <p:spPr>
            <a:xfrm>
              <a:off x="14873" y="1919"/>
              <a:ext cx="3541" cy="628"/>
            </a:xfrm>
            <a:prstGeom prst="rect">
              <a:avLst/>
            </a:prstGeom>
            <a:noFill/>
          </p:spPr>
          <p:txBody>
            <a:bodyPr wrap="square" rtlCol="0">
              <a:spAutoFit/>
            </a:bodyPr>
            <a:p>
              <a:pPr marL="228600" indent="-228600">
                <a:buFont typeface="Wingdings" panose="05000000000000000000" charset="0"/>
                <a:buChar char="l"/>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目标：</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2030</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年工业能源利用率提升至</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50%</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2023</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年基准：</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32%</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33" name="紫荆的职场Point99-4"/>
            <p:cNvSpPr/>
            <p:nvPr/>
          </p:nvSpPr>
          <p:spPr>
            <a:xfrm rot="5400000" flipH="1">
              <a:off x="14180" y="2532"/>
              <a:ext cx="565" cy="641"/>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734" name="直接连接符 733"/>
            <p:cNvCxnSpPr/>
            <p:nvPr/>
          </p:nvCxnSpPr>
          <p:spPr>
            <a:xfrm>
              <a:off x="15004" y="2571"/>
              <a:ext cx="3118" cy="0"/>
            </a:xfrm>
            <a:prstGeom prst="line">
              <a:avLst/>
            </a:prstGeom>
            <a:ln>
              <a:solidFill>
                <a:schemeClr val="tx2">
                  <a:alpha val="70000"/>
                </a:schemeClr>
              </a:solidFill>
              <a:prstDash val="sysDash"/>
            </a:ln>
          </p:spPr>
          <p:style>
            <a:lnRef idx="2">
              <a:schemeClr val="accent1"/>
            </a:lnRef>
            <a:fillRef idx="0">
              <a:srgbClr val="FFFFFF"/>
            </a:fillRef>
            <a:effectRef idx="0">
              <a:srgbClr val="FFFFFF"/>
            </a:effectRef>
            <a:fontRef idx="minor">
              <a:schemeClr val="tx1"/>
            </a:fontRef>
          </p:style>
        </p:cxnSp>
        <p:sp>
          <p:nvSpPr>
            <p:cNvPr id="735" name="文本框 734"/>
            <p:cNvSpPr txBox="1"/>
            <p:nvPr/>
          </p:nvSpPr>
          <p:spPr>
            <a:xfrm>
              <a:off x="14873" y="2684"/>
              <a:ext cx="3353" cy="628"/>
            </a:xfrm>
            <a:prstGeom prst="rect">
              <a:avLst/>
            </a:prstGeom>
            <a:noFill/>
          </p:spPr>
          <p:txBody>
            <a:bodyPr wrap="square" rtlCol="0">
              <a:spAutoFit/>
            </a:bodyPr>
            <a:p>
              <a:pPr marL="171450" indent="-171450">
                <a:buFont typeface="Wingdings" panose="05000000000000000000" charset="0"/>
                <a:buChar char="l"/>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投资：</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创新环保技术研发投入</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年营收的</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5%</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（示例：宁德时代）</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736" name="直接连接符 735"/>
            <p:cNvCxnSpPr/>
            <p:nvPr/>
          </p:nvCxnSpPr>
          <p:spPr>
            <a:xfrm>
              <a:off x="15004" y="3340"/>
              <a:ext cx="3118" cy="0"/>
            </a:xfrm>
            <a:prstGeom prst="line">
              <a:avLst/>
            </a:prstGeom>
            <a:ln>
              <a:solidFill>
                <a:schemeClr val="tx2">
                  <a:alpha val="70000"/>
                </a:schemeClr>
              </a:solidFill>
              <a:prstDash val="sysDash"/>
            </a:ln>
          </p:spPr>
          <p:style>
            <a:lnRef idx="2">
              <a:schemeClr val="accent1"/>
            </a:lnRef>
            <a:fillRef idx="0">
              <a:srgbClr val="FFFFFF"/>
            </a:fillRef>
            <a:effectRef idx="0">
              <a:srgbClr val="FFFFFF"/>
            </a:effectRef>
            <a:fontRef idx="minor">
              <a:schemeClr val="tx1"/>
            </a:fontRef>
          </p:style>
        </p:cxnSp>
        <p:sp>
          <p:nvSpPr>
            <p:cNvPr id="737" name="文本框 736"/>
            <p:cNvSpPr txBox="1"/>
            <p:nvPr/>
          </p:nvSpPr>
          <p:spPr>
            <a:xfrm>
              <a:off x="14873" y="3449"/>
              <a:ext cx="3353" cy="628"/>
            </a:xfrm>
            <a:prstGeom prst="rect">
              <a:avLst/>
            </a:prstGeom>
            <a:noFill/>
          </p:spPr>
          <p:txBody>
            <a:bodyPr wrap="square" rtlCol="0">
              <a:spAutoFit/>
            </a:bodyPr>
            <a:p>
              <a:pPr marL="171450" indent="-171450">
                <a:buFont typeface="Wingdings" panose="05000000000000000000" charset="0"/>
                <a:buChar char="l"/>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减排量：</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钢铁</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化工行业污染物排放强度降低</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40%</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grpSp>
        <p:nvGrpSpPr>
          <p:cNvPr id="754" name="组合 753"/>
          <p:cNvGrpSpPr/>
          <p:nvPr/>
        </p:nvGrpSpPr>
        <p:grpSpPr>
          <a:xfrm>
            <a:off x="6918325" y="2840990"/>
            <a:ext cx="4830445" cy="1788795"/>
            <a:chOff x="10895" y="1537"/>
            <a:chExt cx="7607" cy="2817"/>
          </a:xfrm>
        </p:grpSpPr>
        <p:sp>
          <p:nvSpPr>
            <p:cNvPr id="755" name="矩形 754"/>
            <p:cNvSpPr/>
            <p:nvPr/>
          </p:nvSpPr>
          <p:spPr>
            <a:xfrm>
              <a:off x="10895" y="1537"/>
              <a:ext cx="7607" cy="2809"/>
            </a:xfrm>
            <a:prstGeom prst="rect">
              <a:avLst/>
            </a:prstGeom>
            <a:solidFill>
              <a:schemeClr val="accent5">
                <a:alpha val="5000"/>
              </a:schemeClr>
            </a:solidFill>
            <a:ln w="19050" cap="flat" cmpd="sng" algn="ctr">
              <a:noFill/>
              <a:prstDash val="solid"/>
              <a:miter lim="800000"/>
            </a:ln>
            <a:effectLst/>
          </p:spPr>
          <p:txBody>
            <a:bodyPr rtlCol="0" anchor="ctr"/>
            <a:p>
              <a:pPr algn="ctr"/>
              <a:endParaRPr lang="en-US" sz="1400" dirty="0">
                <a:solidFill>
                  <a:sysClr val="window" lastClr="FFFFFF"/>
                </a:solidFill>
                <a:latin typeface="微软雅黑" panose="020B0503020204020204" charset="-122"/>
                <a:cs typeface="微软雅黑" panose="020B0503020204020204" charset="-122"/>
              </a:endParaRPr>
            </a:p>
          </p:txBody>
        </p:sp>
        <p:sp>
          <p:nvSpPr>
            <p:cNvPr id="756" name="矩形 755"/>
            <p:cNvSpPr/>
            <p:nvPr/>
          </p:nvSpPr>
          <p:spPr>
            <a:xfrm>
              <a:off x="18414" y="1545"/>
              <a:ext cx="88" cy="2809"/>
            </a:xfrm>
            <a:prstGeom prst="rect">
              <a:avLst/>
            </a:prstGeom>
            <a:gradFill flip="none" rotWithShape="1">
              <a:gsLst>
                <a:gs pos="0">
                  <a:schemeClr val="accent5"/>
                </a:gs>
                <a:gs pos="100000">
                  <a:schemeClr val="accent5">
                    <a:lumMod val="80000"/>
                    <a:lumOff val="20000"/>
                  </a:schemeClr>
                </a:gs>
              </a:gsLst>
              <a:lin ang="16200000" scaled="1"/>
              <a:tileRect/>
            </a:gradFill>
            <a:ln w="19050" cap="flat" cmpd="sng" algn="ctr">
              <a:noFill/>
              <a:prstDash val="solid"/>
              <a:miter lim="800000"/>
            </a:ln>
            <a:effectLst/>
          </p:spPr>
          <p:txBody>
            <a:bodyPr rtlCol="0" anchor="ctr"/>
            <a:p>
              <a:pPr algn="ctr"/>
              <a:endParaRPr lang="en-US" sz="1000" dirty="0">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759" name="文本框 758"/>
            <p:cNvSpPr txBox="1"/>
            <p:nvPr/>
          </p:nvSpPr>
          <p:spPr>
            <a:xfrm>
              <a:off x="11248" y="3193"/>
              <a:ext cx="1252" cy="434"/>
            </a:xfrm>
            <a:prstGeom prst="rect">
              <a:avLst/>
            </a:prstGeom>
            <a:noFill/>
          </p:spPr>
          <p:txBody>
            <a:bodyPr wrap="none">
              <a:spAutoFit/>
            </a:bodyPr>
            <a:p>
              <a:pPr algn="ct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社会维度</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760" name="直接连接符 759"/>
            <p:cNvCxnSpPr/>
            <p:nvPr/>
          </p:nvCxnSpPr>
          <p:spPr>
            <a:xfrm>
              <a:off x="12602" y="2106"/>
              <a:ext cx="0" cy="1584"/>
            </a:xfrm>
            <a:prstGeom prst="line">
              <a:avLst/>
            </a:prstGeom>
            <a:ln>
              <a:solidFill>
                <a:schemeClr val="accent6">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sp>
          <p:nvSpPr>
            <p:cNvPr id="761" name="文本框 760"/>
            <p:cNvSpPr txBox="1"/>
            <p:nvPr/>
          </p:nvSpPr>
          <p:spPr>
            <a:xfrm>
              <a:off x="12686" y="2166"/>
              <a:ext cx="1517" cy="386"/>
            </a:xfrm>
            <a:prstGeom prst="rect">
              <a:avLst/>
            </a:prstGeom>
            <a:noFill/>
          </p:spPr>
          <p:txBody>
            <a:bodyPr wrap="square" rtlCol="0">
              <a:spAutoFit/>
            </a:bodyPr>
            <a:p>
              <a:r>
                <a:rPr lang="zh-CN" altLang="en-US" sz="1000" b="1">
                  <a:solidFill>
                    <a:schemeClr val="tx2"/>
                  </a:solidFill>
                  <a:latin typeface="微软雅黑" panose="020B0503020204020204" charset="-122"/>
                  <a:ea typeface="微软雅黑" panose="020B0503020204020204" charset="-122"/>
                  <a:cs typeface="微软雅黑" panose="020B0503020204020204" charset="-122"/>
                </a:rPr>
                <a:t>绿色就业计划</a:t>
              </a:r>
              <a:endParaRPr lang="zh-CN" altLang="en-US" sz="10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62" name="文本框 761"/>
            <p:cNvSpPr txBox="1"/>
            <p:nvPr/>
          </p:nvSpPr>
          <p:spPr>
            <a:xfrm>
              <a:off x="12687" y="2577"/>
              <a:ext cx="1516" cy="1355"/>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构建绿色就业机制，带动低碳产业链新增就业</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r>
                <a:rPr lang="en-US" altLang="zh-CN" sz="1000" b="1">
                  <a:solidFill>
                    <a:schemeClr val="accent5"/>
                  </a:solidFill>
                  <a:latin typeface="微软雅黑" panose="020B0503020204020204" charset="-122"/>
                  <a:ea typeface="微软雅黑" panose="020B0503020204020204" charset="-122"/>
                  <a:cs typeface="微软雅黑" panose="020B0503020204020204" charset="-122"/>
                </a:rPr>
                <a:t>+120</a:t>
              </a:r>
              <a:r>
                <a:rPr lang="zh-CN" altLang="en-US" sz="1000" b="1">
                  <a:solidFill>
                    <a:schemeClr val="accent5"/>
                  </a:solidFill>
                  <a:latin typeface="微软雅黑" panose="020B0503020204020204" charset="-122"/>
                  <a:ea typeface="微软雅黑" panose="020B0503020204020204" charset="-122"/>
                  <a:cs typeface="微软雅黑" panose="020B0503020204020204" charset="-122"/>
                </a:rPr>
                <a:t>万人</a:t>
              </a:r>
              <a:endParaRPr lang="en-US" altLang="zh-CN" sz="10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63" name="文本框 762"/>
            <p:cNvSpPr txBox="1"/>
            <p:nvPr/>
          </p:nvSpPr>
          <p:spPr>
            <a:xfrm>
              <a:off x="14873" y="1919"/>
              <a:ext cx="3403" cy="628"/>
            </a:xfrm>
            <a:prstGeom prst="rect">
              <a:avLst/>
            </a:prstGeom>
            <a:noFill/>
          </p:spPr>
          <p:txBody>
            <a:bodyPr wrap="square" rtlCol="0">
              <a:spAutoFit/>
            </a:bodyPr>
            <a:p>
              <a:pPr marL="228600" indent="-228600">
                <a:buFont typeface="Wingdings" panose="05000000000000000000" charset="0"/>
                <a:buChar char="l"/>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就业规模：</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新能源车</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光伏供应链新增岗位</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80</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万；</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64" name="紫荆的职场Point99-4"/>
            <p:cNvSpPr/>
            <p:nvPr/>
          </p:nvSpPr>
          <p:spPr>
            <a:xfrm rot="5400000" flipH="1">
              <a:off x="14180" y="2532"/>
              <a:ext cx="565" cy="641"/>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765" name="直接连接符 764"/>
            <p:cNvCxnSpPr/>
            <p:nvPr/>
          </p:nvCxnSpPr>
          <p:spPr>
            <a:xfrm>
              <a:off x="15004" y="2571"/>
              <a:ext cx="3118" cy="0"/>
            </a:xfrm>
            <a:prstGeom prst="line">
              <a:avLst/>
            </a:prstGeom>
            <a:ln>
              <a:solidFill>
                <a:schemeClr val="tx2">
                  <a:alpha val="70000"/>
                </a:schemeClr>
              </a:solidFill>
              <a:prstDash val="sysDash"/>
            </a:ln>
          </p:spPr>
          <p:style>
            <a:lnRef idx="2">
              <a:schemeClr val="accent1"/>
            </a:lnRef>
            <a:fillRef idx="0">
              <a:srgbClr val="FFFFFF"/>
            </a:fillRef>
            <a:effectRef idx="0">
              <a:srgbClr val="FFFFFF"/>
            </a:effectRef>
            <a:fontRef idx="minor">
              <a:schemeClr val="tx1"/>
            </a:fontRef>
          </p:style>
        </p:cxnSp>
        <p:sp>
          <p:nvSpPr>
            <p:cNvPr id="766" name="文本框 765"/>
            <p:cNvSpPr txBox="1"/>
            <p:nvPr/>
          </p:nvSpPr>
          <p:spPr>
            <a:xfrm>
              <a:off x="14873" y="2684"/>
              <a:ext cx="3353" cy="628"/>
            </a:xfrm>
            <a:prstGeom prst="rect">
              <a:avLst/>
            </a:prstGeom>
            <a:noFill/>
          </p:spPr>
          <p:txBody>
            <a:bodyPr wrap="square" rtlCol="0">
              <a:spAutoFit/>
            </a:bodyPr>
            <a:p>
              <a:pPr marL="171450" indent="-171450">
                <a:buFont typeface="Wingdings" panose="05000000000000000000" charset="0"/>
                <a:buChar char="l"/>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社区覆盖：</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建立</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200</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个零碳示范社区（</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2025</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年试点：</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20</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个）</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767" name="直接连接符 766"/>
            <p:cNvCxnSpPr/>
            <p:nvPr/>
          </p:nvCxnSpPr>
          <p:spPr>
            <a:xfrm>
              <a:off x="15004" y="3340"/>
              <a:ext cx="3118" cy="0"/>
            </a:xfrm>
            <a:prstGeom prst="line">
              <a:avLst/>
            </a:prstGeom>
            <a:ln>
              <a:solidFill>
                <a:schemeClr val="tx2">
                  <a:alpha val="70000"/>
                </a:schemeClr>
              </a:solidFill>
              <a:prstDash val="sysDash"/>
            </a:ln>
          </p:spPr>
          <p:style>
            <a:lnRef idx="2">
              <a:schemeClr val="accent1"/>
            </a:lnRef>
            <a:fillRef idx="0">
              <a:srgbClr val="FFFFFF"/>
            </a:fillRef>
            <a:effectRef idx="0">
              <a:srgbClr val="FFFFFF"/>
            </a:effectRef>
            <a:fontRef idx="minor">
              <a:schemeClr val="tx1"/>
            </a:fontRef>
          </p:style>
        </p:cxnSp>
        <p:sp>
          <p:nvSpPr>
            <p:cNvPr id="768" name="文本框 767"/>
            <p:cNvSpPr txBox="1"/>
            <p:nvPr/>
          </p:nvSpPr>
          <p:spPr>
            <a:xfrm>
              <a:off x="14873" y="3457"/>
              <a:ext cx="3353" cy="628"/>
            </a:xfrm>
            <a:prstGeom prst="rect">
              <a:avLst/>
            </a:prstGeom>
            <a:noFill/>
          </p:spPr>
          <p:txBody>
            <a:bodyPr wrap="square" rtlCol="0">
              <a:spAutoFit/>
            </a:bodyPr>
            <a:p>
              <a:pPr marL="171450" indent="-171450">
                <a:buFont typeface="Wingdings" panose="05000000000000000000" charset="0"/>
                <a:buChar char="l"/>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公平性指标：</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女性在绿色技术岗位占比提升至</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35%</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pic>
        <p:nvPicPr>
          <p:cNvPr id="769" name="图片 768" descr="社会 (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65670" y="3289935"/>
            <a:ext cx="578485" cy="565150"/>
          </a:xfrm>
          <a:prstGeom prst="rect">
            <a:avLst/>
          </a:prstGeom>
        </p:spPr>
      </p:pic>
      <p:grpSp>
        <p:nvGrpSpPr>
          <p:cNvPr id="770" name="组合 769"/>
          <p:cNvGrpSpPr/>
          <p:nvPr/>
        </p:nvGrpSpPr>
        <p:grpSpPr>
          <a:xfrm>
            <a:off x="6918325" y="4733290"/>
            <a:ext cx="4830445" cy="1788795"/>
            <a:chOff x="10895" y="1537"/>
            <a:chExt cx="7607" cy="2817"/>
          </a:xfrm>
        </p:grpSpPr>
        <p:sp>
          <p:nvSpPr>
            <p:cNvPr id="771" name="矩形 770"/>
            <p:cNvSpPr/>
            <p:nvPr/>
          </p:nvSpPr>
          <p:spPr>
            <a:xfrm>
              <a:off x="10895" y="1537"/>
              <a:ext cx="7607" cy="2809"/>
            </a:xfrm>
            <a:prstGeom prst="rect">
              <a:avLst/>
            </a:prstGeom>
            <a:solidFill>
              <a:schemeClr val="accent5">
                <a:alpha val="5000"/>
              </a:schemeClr>
            </a:solidFill>
            <a:ln w="19050" cap="flat" cmpd="sng" algn="ctr">
              <a:noFill/>
              <a:prstDash val="solid"/>
              <a:miter lim="800000"/>
            </a:ln>
            <a:effectLst/>
          </p:spPr>
          <p:txBody>
            <a:bodyPr rtlCol="0" anchor="ctr"/>
            <a:p>
              <a:pPr algn="ctr"/>
              <a:endParaRPr lang="en-US" sz="1400" dirty="0">
                <a:solidFill>
                  <a:sysClr val="window" lastClr="FFFFFF"/>
                </a:solidFill>
                <a:latin typeface="微软雅黑" panose="020B0503020204020204" charset="-122"/>
                <a:cs typeface="微软雅黑" panose="020B0503020204020204" charset="-122"/>
              </a:endParaRPr>
            </a:p>
          </p:txBody>
        </p:sp>
        <p:sp>
          <p:nvSpPr>
            <p:cNvPr id="772" name="矩形 771"/>
            <p:cNvSpPr/>
            <p:nvPr/>
          </p:nvSpPr>
          <p:spPr>
            <a:xfrm>
              <a:off x="18414" y="1545"/>
              <a:ext cx="88" cy="2809"/>
            </a:xfrm>
            <a:prstGeom prst="rect">
              <a:avLst/>
            </a:prstGeom>
            <a:gradFill flip="none" rotWithShape="1">
              <a:gsLst>
                <a:gs pos="0">
                  <a:schemeClr val="accent5"/>
                </a:gs>
                <a:gs pos="100000">
                  <a:schemeClr val="accent5">
                    <a:lumMod val="80000"/>
                    <a:lumOff val="20000"/>
                  </a:schemeClr>
                </a:gs>
              </a:gsLst>
              <a:lin ang="16200000" scaled="1"/>
              <a:tileRect/>
            </a:gradFill>
            <a:ln w="19050" cap="flat" cmpd="sng" algn="ctr">
              <a:noFill/>
              <a:prstDash val="solid"/>
              <a:miter lim="800000"/>
            </a:ln>
            <a:effectLst/>
          </p:spPr>
          <p:txBody>
            <a:bodyPr rtlCol="0" anchor="ctr"/>
            <a:p>
              <a:pPr algn="ctr"/>
              <a:endParaRPr lang="en-US" sz="1000" dirty="0">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773" name="文本框 772"/>
            <p:cNvSpPr txBox="1"/>
            <p:nvPr/>
          </p:nvSpPr>
          <p:spPr>
            <a:xfrm>
              <a:off x="11251" y="3193"/>
              <a:ext cx="1252" cy="434"/>
            </a:xfrm>
            <a:prstGeom prst="rect">
              <a:avLst/>
            </a:prstGeom>
            <a:noFill/>
          </p:spPr>
          <p:txBody>
            <a:bodyPr wrap="none">
              <a:spAutoFit/>
            </a:bodyPr>
            <a:p>
              <a:pPr algn="ct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治理维度</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774" name="直接连接符 773"/>
            <p:cNvCxnSpPr/>
            <p:nvPr/>
          </p:nvCxnSpPr>
          <p:spPr>
            <a:xfrm>
              <a:off x="12602" y="2106"/>
              <a:ext cx="0" cy="1584"/>
            </a:xfrm>
            <a:prstGeom prst="line">
              <a:avLst/>
            </a:prstGeom>
            <a:ln>
              <a:solidFill>
                <a:schemeClr val="accent6">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sp>
          <p:nvSpPr>
            <p:cNvPr id="775" name="文本框 774"/>
            <p:cNvSpPr txBox="1"/>
            <p:nvPr/>
          </p:nvSpPr>
          <p:spPr>
            <a:xfrm>
              <a:off x="12686" y="2166"/>
              <a:ext cx="1898" cy="386"/>
            </a:xfrm>
            <a:prstGeom prst="rect">
              <a:avLst/>
            </a:prstGeom>
            <a:noFill/>
          </p:spPr>
          <p:txBody>
            <a:bodyPr wrap="square" rtlCol="0">
              <a:spAutoFit/>
            </a:bodyPr>
            <a:p>
              <a:r>
                <a:rPr lang="zh-CN" altLang="en-US" sz="1000" b="1">
                  <a:solidFill>
                    <a:schemeClr val="tx2"/>
                  </a:solidFill>
                  <a:latin typeface="微软雅黑" panose="020B0503020204020204" charset="-122"/>
                  <a:ea typeface="微软雅黑" panose="020B0503020204020204" charset="-122"/>
                  <a:cs typeface="微软雅黑" panose="020B0503020204020204" charset="-122"/>
                </a:rPr>
                <a:t>碳透明披露机制</a:t>
              </a:r>
              <a:endParaRPr lang="zh-CN" altLang="en-US" sz="1000" b="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76" name="文本框 775"/>
            <p:cNvSpPr txBox="1"/>
            <p:nvPr/>
          </p:nvSpPr>
          <p:spPr>
            <a:xfrm>
              <a:off x="12687" y="2577"/>
              <a:ext cx="1516" cy="1598"/>
            </a:xfrm>
            <a:prstGeom prst="rect">
              <a:avLst/>
            </a:prstGeom>
            <a:noFill/>
          </p:spPr>
          <p:txBody>
            <a:bodyPr wrap="square" rtlCol="0">
              <a:spAutoFit/>
            </a:bodyPr>
            <a:p>
              <a:r>
                <a:rPr lang="zh-CN" altLang="en-US" sz="1000">
                  <a:solidFill>
                    <a:schemeClr val="tx2"/>
                  </a:solidFill>
                  <a:latin typeface="微软雅黑" panose="020B0503020204020204" charset="-122"/>
                  <a:ea typeface="微软雅黑" panose="020B0503020204020204" charset="-122"/>
                  <a:cs typeface="微软雅黑" panose="020B0503020204020204" charset="-122"/>
                </a:rPr>
                <a:t>治理架构升级，实现企业碳足迹</a:t>
              </a:r>
              <a:r>
                <a:rPr lang="en-US" altLang="zh-CN" sz="1000" b="1">
                  <a:solidFill>
                    <a:schemeClr val="accent5"/>
                  </a:solidFill>
                  <a:latin typeface="微软雅黑" panose="020B0503020204020204" charset="-122"/>
                  <a:ea typeface="微软雅黑" panose="020B0503020204020204" charset="-122"/>
                  <a:cs typeface="微软雅黑" panose="020B0503020204020204" charset="-122"/>
                </a:rPr>
                <a:t>100%</a:t>
              </a:r>
              <a:r>
                <a:rPr lang="zh-CN" altLang="en-US" sz="1000" b="1">
                  <a:solidFill>
                    <a:schemeClr val="accent5"/>
                  </a:solidFill>
                  <a:latin typeface="微软雅黑" panose="020B0503020204020204" charset="-122"/>
                  <a:ea typeface="微软雅黑" panose="020B0503020204020204" charset="-122"/>
                  <a:cs typeface="微软雅黑" panose="020B0503020204020204" charset="-122"/>
                </a:rPr>
                <a:t>可追溯</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，绿证交易覆盖率</a:t>
              </a:r>
              <a:r>
                <a:rPr lang="zh-CN" altLang="en-US" sz="1000" b="1">
                  <a:solidFill>
                    <a:schemeClr val="accent5"/>
                  </a:solidFill>
                  <a:latin typeface="微软雅黑" panose="020B0503020204020204" charset="-122"/>
                  <a:ea typeface="微软雅黑" panose="020B0503020204020204" charset="-122"/>
                  <a:cs typeface="微软雅黑" panose="020B0503020204020204" charset="-122"/>
                </a:rPr>
                <a:t>提升至</a:t>
              </a:r>
              <a:r>
                <a:rPr lang="en-US" altLang="zh-CN" sz="1000" b="1">
                  <a:solidFill>
                    <a:schemeClr val="accent5"/>
                  </a:solidFill>
                  <a:latin typeface="微软雅黑" panose="020B0503020204020204" charset="-122"/>
                  <a:ea typeface="微软雅黑" panose="020B0503020204020204" charset="-122"/>
                  <a:cs typeface="微软雅黑" panose="020B0503020204020204" charset="-122"/>
                </a:rPr>
                <a:t>90%</a:t>
              </a:r>
              <a:r>
                <a:rPr lang="zh-CN" altLang="en-US" sz="1000" b="1">
                  <a:solidFill>
                    <a:schemeClr val="accent5"/>
                  </a:solidFill>
                  <a:latin typeface="微软雅黑" panose="020B0503020204020204" charset="-122"/>
                  <a:ea typeface="微软雅黑" panose="020B0503020204020204" charset="-122"/>
                  <a:cs typeface="微软雅黑" panose="020B0503020204020204" charset="-122"/>
                </a:rPr>
                <a:t>。</a:t>
              </a:r>
              <a:endParaRPr lang="zh-CN" altLang="en-US" sz="10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777" name="文本框 776"/>
            <p:cNvSpPr txBox="1"/>
            <p:nvPr/>
          </p:nvSpPr>
          <p:spPr>
            <a:xfrm>
              <a:off x="14873" y="1919"/>
              <a:ext cx="3403" cy="628"/>
            </a:xfrm>
            <a:prstGeom prst="rect">
              <a:avLst/>
            </a:prstGeom>
            <a:noFill/>
          </p:spPr>
          <p:txBody>
            <a:bodyPr wrap="square" rtlCol="0">
              <a:spAutoFit/>
            </a:bodyPr>
            <a:p>
              <a:pPr marL="228600" indent="-228600">
                <a:buFont typeface="Wingdings" panose="05000000000000000000" charset="0"/>
                <a:buChar char="l"/>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监管要求：</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2026</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年起上市公司</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Scope 1-3</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碳排放强制披露；</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78" name="紫荆的职场Point99-4"/>
            <p:cNvSpPr/>
            <p:nvPr/>
          </p:nvSpPr>
          <p:spPr>
            <a:xfrm rot="5400000" flipH="1">
              <a:off x="14180" y="2532"/>
              <a:ext cx="565" cy="641"/>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gs>
              </a:gsLst>
              <a:lin ang="16200000" scaled="1"/>
              <a:tileRect/>
            </a:gradFill>
            <a:ln w="6350" cap="flat" cmpd="sng" algn="ctr">
              <a:noFill/>
              <a:prstDash val="lgDash"/>
              <a:miter lim="800000"/>
            </a:ln>
            <a:effectLst>
              <a:outerShdw blurRad="190500" algn="ctr" rotWithShape="0">
                <a:srgbClr val="24396B">
                  <a:alpha val="40000"/>
                </a:srgbClr>
              </a:outerShdw>
            </a:effectLst>
          </p:spPr>
          <p:txBody>
            <a:bodyPr wrap="square" rtlCol="0" anchor="ctr">
              <a:noAutofit/>
            </a:bodyPr>
            <a:p>
              <a:pPr marL="0" marR="0" lvl="0" indent="0" algn="ctr" defTabSz="91440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779" name="直接连接符 778"/>
            <p:cNvCxnSpPr/>
            <p:nvPr/>
          </p:nvCxnSpPr>
          <p:spPr>
            <a:xfrm>
              <a:off x="15004" y="2571"/>
              <a:ext cx="3118" cy="0"/>
            </a:xfrm>
            <a:prstGeom prst="line">
              <a:avLst/>
            </a:prstGeom>
            <a:ln>
              <a:solidFill>
                <a:schemeClr val="tx2">
                  <a:alpha val="70000"/>
                </a:schemeClr>
              </a:solidFill>
              <a:prstDash val="sysDash"/>
            </a:ln>
          </p:spPr>
          <p:style>
            <a:lnRef idx="2">
              <a:schemeClr val="accent1"/>
            </a:lnRef>
            <a:fillRef idx="0">
              <a:srgbClr val="FFFFFF"/>
            </a:fillRef>
            <a:effectRef idx="0">
              <a:srgbClr val="FFFFFF"/>
            </a:effectRef>
            <a:fontRef idx="minor">
              <a:schemeClr val="tx1"/>
            </a:fontRef>
          </p:style>
        </p:cxnSp>
        <p:sp>
          <p:nvSpPr>
            <p:cNvPr id="780" name="文本框 779"/>
            <p:cNvSpPr txBox="1"/>
            <p:nvPr/>
          </p:nvSpPr>
          <p:spPr>
            <a:xfrm>
              <a:off x="14873" y="2684"/>
              <a:ext cx="3353" cy="628"/>
            </a:xfrm>
            <a:prstGeom prst="rect">
              <a:avLst/>
            </a:prstGeom>
            <a:noFill/>
          </p:spPr>
          <p:txBody>
            <a:bodyPr wrap="square" rtlCol="0">
              <a:spAutoFit/>
            </a:bodyPr>
            <a:p>
              <a:pPr marL="171450" indent="-171450">
                <a:buFont typeface="Wingdings" panose="05000000000000000000" charset="0"/>
                <a:buChar char="l"/>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技术支撑：</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区块链碳账本覆盖</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80%</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供应链节点；</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781" name="直接连接符 780"/>
            <p:cNvCxnSpPr/>
            <p:nvPr/>
          </p:nvCxnSpPr>
          <p:spPr>
            <a:xfrm>
              <a:off x="15004" y="3340"/>
              <a:ext cx="3118" cy="0"/>
            </a:xfrm>
            <a:prstGeom prst="line">
              <a:avLst/>
            </a:prstGeom>
            <a:ln>
              <a:solidFill>
                <a:schemeClr val="tx2">
                  <a:alpha val="70000"/>
                </a:schemeClr>
              </a:solidFill>
              <a:prstDash val="sysDash"/>
            </a:ln>
          </p:spPr>
          <p:style>
            <a:lnRef idx="2">
              <a:schemeClr val="accent1"/>
            </a:lnRef>
            <a:fillRef idx="0">
              <a:srgbClr val="FFFFFF"/>
            </a:fillRef>
            <a:effectRef idx="0">
              <a:srgbClr val="FFFFFF"/>
            </a:effectRef>
            <a:fontRef idx="minor">
              <a:schemeClr val="tx1"/>
            </a:fontRef>
          </p:style>
        </p:cxnSp>
        <p:sp>
          <p:nvSpPr>
            <p:cNvPr id="782" name="文本框 781"/>
            <p:cNvSpPr txBox="1"/>
            <p:nvPr/>
          </p:nvSpPr>
          <p:spPr>
            <a:xfrm>
              <a:off x="14873" y="3457"/>
              <a:ext cx="3353" cy="628"/>
            </a:xfrm>
            <a:prstGeom prst="rect">
              <a:avLst/>
            </a:prstGeom>
            <a:noFill/>
          </p:spPr>
          <p:txBody>
            <a:bodyPr wrap="square" rtlCol="0">
              <a:spAutoFit/>
            </a:bodyPr>
            <a:p>
              <a:pPr marL="171450" indent="-171450">
                <a:buFont typeface="Wingdings" panose="05000000000000000000" charset="0"/>
                <a:buChar char="l"/>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市场机制：</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碳交易额突破</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5000</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亿</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年（</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2023</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年：</a:t>
              </a:r>
              <a:r>
                <a:rPr lang="en-US" altLang="zh-CN" sz="1000">
                  <a:solidFill>
                    <a:schemeClr val="tx2"/>
                  </a:solidFill>
                  <a:latin typeface="微软雅黑" panose="020B0503020204020204" charset="-122"/>
                  <a:ea typeface="微软雅黑" panose="020B0503020204020204" charset="-122"/>
                  <a:cs typeface="微软雅黑" panose="020B0503020204020204" charset="-122"/>
                </a:rPr>
                <a:t>2100</a:t>
              </a:r>
              <a:r>
                <a:rPr lang="zh-CN" altLang="en-US" sz="1000">
                  <a:solidFill>
                    <a:schemeClr val="tx2"/>
                  </a:solidFill>
                  <a:latin typeface="微软雅黑" panose="020B0503020204020204" charset="-122"/>
                  <a:ea typeface="微软雅黑" panose="020B0503020204020204" charset="-122"/>
                  <a:cs typeface="微软雅黑" panose="020B0503020204020204" charset="-122"/>
                </a:rPr>
                <a:t>亿）。</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p:txBody>
        </p:sp>
      </p:grpSp>
      <p:pic>
        <p:nvPicPr>
          <p:cNvPr id="784" name="图片 783" descr="市域治理"/>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25030" y="5203190"/>
            <a:ext cx="666115" cy="516890"/>
          </a:xfrm>
          <a:prstGeom prst="rect">
            <a:avLst/>
          </a:prstGeom>
        </p:spPr>
      </p:pic>
      <p:grpSp>
        <p:nvGrpSpPr>
          <p:cNvPr id="787" name="组合 786"/>
          <p:cNvGrpSpPr/>
          <p:nvPr/>
        </p:nvGrpSpPr>
        <p:grpSpPr>
          <a:xfrm>
            <a:off x="395605" y="2274570"/>
            <a:ext cx="868045" cy="409575"/>
            <a:chOff x="1108" y="3567"/>
            <a:chExt cx="1367" cy="645"/>
          </a:xfrm>
        </p:grpSpPr>
        <p:sp>
          <p:nvSpPr>
            <p:cNvPr id="785" name="椭圆 784"/>
            <p:cNvSpPr/>
            <p:nvPr/>
          </p:nvSpPr>
          <p:spPr>
            <a:xfrm>
              <a:off x="1108" y="3567"/>
              <a:ext cx="645" cy="645"/>
            </a:xfrm>
            <a:prstGeom prst="ellipse">
              <a:avLst/>
            </a:prstGeom>
            <a:noFill/>
            <a:ln>
              <a:solidFill>
                <a:schemeClr val="accent1"/>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solidFill>
                    <a:schemeClr val="accent1"/>
                  </a:solidFill>
                  <a:cs typeface="微软雅黑" panose="020B0503020204020204" charset="-122"/>
                </a:rPr>
                <a:t>G</a:t>
              </a:r>
              <a:endParaRPr lang="en-US" altLang="zh-CN" b="1">
                <a:solidFill>
                  <a:schemeClr val="accent1"/>
                </a:solidFill>
                <a:cs typeface="微软雅黑" panose="020B0503020204020204" charset="-122"/>
              </a:endParaRPr>
            </a:p>
          </p:txBody>
        </p:sp>
        <p:sp>
          <p:nvSpPr>
            <p:cNvPr id="786" name="文本框 785"/>
            <p:cNvSpPr txBox="1"/>
            <p:nvPr/>
          </p:nvSpPr>
          <p:spPr>
            <a:xfrm>
              <a:off x="1741" y="3567"/>
              <a:ext cx="734" cy="628"/>
            </a:xfrm>
            <a:prstGeom prst="rect">
              <a:avLst/>
            </a:prstGeom>
            <a:noFill/>
          </p:spPr>
          <p:txBody>
            <a:bodyPr wrap="square" rtlCol="0">
              <a:spAutoFit/>
            </a:bodyPr>
            <a:p>
              <a:r>
                <a:rPr lang="zh-CN" altLang="en-US" sz="1000" b="1">
                  <a:solidFill>
                    <a:schemeClr val="accent1"/>
                  </a:solidFill>
                  <a:latin typeface="微软雅黑" panose="020B0503020204020204" charset="-122"/>
                  <a:ea typeface="微软雅黑" panose="020B0503020204020204" charset="-122"/>
                  <a:cs typeface="微软雅黑" panose="020B0503020204020204" charset="-122"/>
                </a:rPr>
                <a:t>治理维度</a:t>
              </a:r>
              <a:endParaRPr lang="zh-CN" altLang="en-US" sz="1000" b="1">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788" name="组合 787"/>
          <p:cNvGrpSpPr/>
          <p:nvPr/>
        </p:nvGrpSpPr>
        <p:grpSpPr>
          <a:xfrm>
            <a:off x="3917315" y="5941695"/>
            <a:ext cx="868045" cy="409575"/>
            <a:chOff x="1108" y="3567"/>
            <a:chExt cx="1367" cy="645"/>
          </a:xfrm>
        </p:grpSpPr>
        <p:sp>
          <p:nvSpPr>
            <p:cNvPr id="789" name="椭圆 788"/>
            <p:cNvSpPr/>
            <p:nvPr/>
          </p:nvSpPr>
          <p:spPr>
            <a:xfrm>
              <a:off x="1108" y="3567"/>
              <a:ext cx="645" cy="645"/>
            </a:xfrm>
            <a:prstGeom prst="ellipse">
              <a:avLst/>
            </a:prstGeom>
            <a:noFill/>
            <a:ln>
              <a:solidFill>
                <a:schemeClr val="accent1">
                  <a:lumMod val="60000"/>
                  <a:lumOff val="40000"/>
                </a:schemeClr>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solidFill>
                    <a:schemeClr val="accent1">
                      <a:lumMod val="60000"/>
                      <a:lumOff val="40000"/>
                    </a:schemeClr>
                  </a:solidFill>
                  <a:cs typeface="微软雅黑" panose="020B0503020204020204" charset="-122"/>
                </a:rPr>
                <a:t>S</a:t>
              </a:r>
              <a:endParaRPr lang="en-US" altLang="zh-CN" b="1">
                <a:solidFill>
                  <a:schemeClr val="accent1">
                    <a:lumMod val="60000"/>
                    <a:lumOff val="40000"/>
                  </a:schemeClr>
                </a:solidFill>
                <a:cs typeface="微软雅黑" panose="020B0503020204020204" charset="-122"/>
              </a:endParaRPr>
            </a:p>
          </p:txBody>
        </p:sp>
        <p:sp>
          <p:nvSpPr>
            <p:cNvPr id="790" name="文本框 789"/>
            <p:cNvSpPr txBox="1"/>
            <p:nvPr/>
          </p:nvSpPr>
          <p:spPr>
            <a:xfrm>
              <a:off x="1741" y="3567"/>
              <a:ext cx="734" cy="628"/>
            </a:xfrm>
            <a:prstGeom prst="rect">
              <a:avLst/>
            </a:prstGeom>
            <a:noFill/>
          </p:spPr>
          <p:txBody>
            <a:bodyPr wrap="square" rtlCol="0">
              <a:spAutoFit/>
            </a:bodyPr>
            <a:p>
              <a:r>
                <a:rPr lang="zh-CN" altLang="en-US" sz="10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社会维度</a:t>
              </a:r>
              <a:endParaRPr lang="zh-CN" altLang="en-US" sz="10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grpSp>
        <p:nvGrpSpPr>
          <p:cNvPr id="791" name="组合 790"/>
          <p:cNvGrpSpPr/>
          <p:nvPr/>
        </p:nvGrpSpPr>
        <p:grpSpPr>
          <a:xfrm>
            <a:off x="4453890" y="1581150"/>
            <a:ext cx="868045" cy="409575"/>
            <a:chOff x="1108" y="3567"/>
            <a:chExt cx="1367" cy="645"/>
          </a:xfrm>
        </p:grpSpPr>
        <p:sp>
          <p:nvSpPr>
            <p:cNvPr id="792" name="椭圆 791"/>
            <p:cNvSpPr/>
            <p:nvPr/>
          </p:nvSpPr>
          <p:spPr>
            <a:xfrm>
              <a:off x="1108" y="3567"/>
              <a:ext cx="645" cy="645"/>
            </a:xfrm>
            <a:prstGeom prst="ellipse">
              <a:avLst/>
            </a:prstGeom>
            <a:noFill/>
            <a:ln>
              <a:solidFill>
                <a:schemeClr val="accent5"/>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b="1">
                  <a:solidFill>
                    <a:schemeClr val="accent5"/>
                  </a:solidFill>
                  <a:cs typeface="微软雅黑" panose="020B0503020204020204" charset="-122"/>
                </a:rPr>
                <a:t>E</a:t>
              </a:r>
              <a:endParaRPr lang="en-US" altLang="zh-CN" b="1">
                <a:solidFill>
                  <a:schemeClr val="accent5"/>
                </a:solidFill>
                <a:cs typeface="微软雅黑" panose="020B0503020204020204" charset="-122"/>
              </a:endParaRPr>
            </a:p>
          </p:txBody>
        </p:sp>
        <p:sp>
          <p:nvSpPr>
            <p:cNvPr id="793" name="文本框 792"/>
            <p:cNvSpPr txBox="1"/>
            <p:nvPr/>
          </p:nvSpPr>
          <p:spPr>
            <a:xfrm>
              <a:off x="1741" y="3567"/>
              <a:ext cx="734" cy="628"/>
            </a:xfrm>
            <a:prstGeom prst="rect">
              <a:avLst/>
            </a:prstGeom>
            <a:noFill/>
          </p:spPr>
          <p:txBody>
            <a:bodyPr wrap="square" rtlCol="0">
              <a:spAutoFit/>
            </a:bodyPr>
            <a:p>
              <a:r>
                <a:rPr lang="zh-CN" altLang="en-US" sz="1000" b="1">
                  <a:solidFill>
                    <a:schemeClr val="accent5"/>
                  </a:solidFill>
                  <a:latin typeface="微软雅黑" panose="020B0503020204020204" charset="-122"/>
                  <a:ea typeface="微软雅黑" panose="020B0503020204020204" charset="-122"/>
                  <a:cs typeface="微软雅黑" panose="020B0503020204020204" charset="-122"/>
                </a:rPr>
                <a:t>环境维度</a:t>
              </a:r>
              <a:endParaRPr lang="zh-CN" altLang="en-US" sz="1000" b="1">
                <a:solidFill>
                  <a:schemeClr val="accent5"/>
                </a:solidFill>
                <a:latin typeface="微软雅黑" panose="020B0503020204020204" charset="-122"/>
                <a:ea typeface="微软雅黑" panose="020B0503020204020204" charset="-122"/>
                <a:cs typeface="微软雅黑" panose="020B0503020204020204" charset="-122"/>
              </a:endParaRPr>
            </a:p>
          </p:txBody>
        </p:sp>
      </p:grpSp>
      <p:sp>
        <p:nvSpPr>
          <p:cNvPr id="794" name="文本框 793"/>
          <p:cNvSpPr txBox="1"/>
          <p:nvPr/>
        </p:nvSpPr>
        <p:spPr>
          <a:xfrm>
            <a:off x="6349365" y="3093720"/>
            <a:ext cx="349250" cy="974090"/>
          </a:xfrm>
          <a:prstGeom prst="rect">
            <a:avLst/>
          </a:prstGeom>
          <a:noFill/>
        </p:spPr>
        <p:txBody>
          <a:bodyPr wrap="square" rtlCol="0">
            <a:noAutofit/>
          </a:bodyPr>
          <a:p>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战略方向</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806" name="文本框 805"/>
          <p:cNvSpPr txBox="1"/>
          <p:nvPr/>
        </p:nvSpPr>
        <p:spPr>
          <a:xfrm rot="900000">
            <a:off x="3450590" y="2421255"/>
            <a:ext cx="488950" cy="46037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资源可持续管理</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07" name="文本框 806"/>
          <p:cNvSpPr txBox="1"/>
          <p:nvPr/>
        </p:nvSpPr>
        <p:spPr>
          <a:xfrm rot="2040000">
            <a:off x="3930650" y="2618105"/>
            <a:ext cx="488950" cy="46037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能效提升与清洁能源</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08" name="文本框 807"/>
          <p:cNvSpPr txBox="1"/>
          <p:nvPr/>
        </p:nvSpPr>
        <p:spPr>
          <a:xfrm rot="20880000">
            <a:off x="2933065" y="2468245"/>
            <a:ext cx="488950" cy="337185"/>
          </a:xfrm>
          <a:prstGeom prst="rect">
            <a:avLst/>
          </a:prstGeom>
          <a:noFill/>
        </p:spPr>
        <p:txBody>
          <a:bodyPr wrap="square" rtlCol="0">
            <a:spAutoFit/>
          </a:bodyPr>
          <a:p>
            <a:pPr algn="ctr"/>
            <a:r>
              <a:rPr lang="en-US" altLang="zh-CN" sz="800">
                <a:solidFill>
                  <a:schemeClr val="bg2"/>
                </a:solidFill>
                <a:latin typeface="微软雅黑" panose="020B0503020204020204" charset="-122"/>
                <a:ea typeface="微软雅黑" panose="020B0503020204020204" charset="-122"/>
                <a:cs typeface="微软雅黑" panose="020B0503020204020204" charset="-122"/>
              </a:rPr>
              <a:t>ESG</a:t>
            </a:r>
            <a:r>
              <a:rPr lang="zh-CN" altLang="en-US" sz="800">
                <a:solidFill>
                  <a:schemeClr val="bg2"/>
                </a:solidFill>
                <a:latin typeface="微软雅黑" panose="020B0503020204020204" charset="-122"/>
                <a:ea typeface="微软雅黑" panose="020B0503020204020204" charset="-122"/>
                <a:cs typeface="微软雅黑" panose="020B0503020204020204" charset="-122"/>
              </a:rPr>
              <a:t>管理架构</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09" name="文本框 808"/>
          <p:cNvSpPr txBox="1"/>
          <p:nvPr/>
        </p:nvSpPr>
        <p:spPr>
          <a:xfrm rot="19620000">
            <a:off x="2472055" y="2640965"/>
            <a:ext cx="488950" cy="46037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激励与问责机制</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10" name="文本框 809"/>
          <p:cNvSpPr txBox="1"/>
          <p:nvPr/>
        </p:nvSpPr>
        <p:spPr>
          <a:xfrm rot="3060000">
            <a:off x="4307840" y="3004185"/>
            <a:ext cx="488950" cy="46037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减排技术与监控</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11" name="文本框 810"/>
          <p:cNvSpPr txBox="1"/>
          <p:nvPr/>
        </p:nvSpPr>
        <p:spPr>
          <a:xfrm rot="18300000">
            <a:off x="2068830" y="3077845"/>
            <a:ext cx="488950" cy="33718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可持续供应链</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grpSp>
        <p:nvGrpSpPr>
          <p:cNvPr id="821" name="组合 820"/>
          <p:cNvGrpSpPr/>
          <p:nvPr/>
        </p:nvGrpSpPr>
        <p:grpSpPr>
          <a:xfrm>
            <a:off x="2490470" y="2969895"/>
            <a:ext cx="1773555" cy="1869440"/>
            <a:chOff x="3687" y="4698"/>
            <a:chExt cx="2793" cy="2944"/>
          </a:xfrm>
        </p:grpSpPr>
        <p:sp>
          <p:nvSpPr>
            <p:cNvPr id="822" name="等腰三角形 821"/>
            <p:cNvSpPr/>
            <p:nvPr/>
          </p:nvSpPr>
          <p:spPr>
            <a:xfrm rot="5880000">
              <a:off x="5409" y="4698"/>
              <a:ext cx="131" cy="131"/>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23" name="等腰三角形 822"/>
            <p:cNvSpPr/>
            <p:nvPr/>
          </p:nvSpPr>
          <p:spPr>
            <a:xfrm rot="8820000">
              <a:off x="6349" y="5412"/>
              <a:ext cx="131" cy="131"/>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24" name="等腰三角形 823"/>
            <p:cNvSpPr/>
            <p:nvPr/>
          </p:nvSpPr>
          <p:spPr>
            <a:xfrm rot="13320000">
              <a:off x="6127" y="7070"/>
              <a:ext cx="131" cy="131"/>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25" name="等腰三角形 824"/>
            <p:cNvSpPr/>
            <p:nvPr/>
          </p:nvSpPr>
          <p:spPr>
            <a:xfrm rot="16500000">
              <a:off x="5158" y="7511"/>
              <a:ext cx="131" cy="131"/>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26" name="等腰三角形 825"/>
            <p:cNvSpPr/>
            <p:nvPr/>
          </p:nvSpPr>
          <p:spPr>
            <a:xfrm rot="19380000">
              <a:off x="3997" y="7000"/>
              <a:ext cx="131" cy="131"/>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27" name="等腰三角形 826"/>
            <p:cNvSpPr/>
            <p:nvPr/>
          </p:nvSpPr>
          <p:spPr>
            <a:xfrm rot="1020000">
              <a:off x="3687" y="5837"/>
              <a:ext cx="131" cy="131"/>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28" name="等腰三角形 827"/>
            <p:cNvSpPr/>
            <p:nvPr/>
          </p:nvSpPr>
          <p:spPr>
            <a:xfrm rot="3240000">
              <a:off x="4275" y="4919"/>
              <a:ext cx="131" cy="131"/>
            </a:xfrm>
            <a:prstGeom prst="triangl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sp>
        <p:nvSpPr>
          <p:cNvPr id="829" name="文本框 828"/>
          <p:cNvSpPr txBox="1"/>
          <p:nvPr/>
        </p:nvSpPr>
        <p:spPr>
          <a:xfrm rot="17100000">
            <a:off x="1916430" y="3484880"/>
            <a:ext cx="488950" cy="46037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道德规范与反贪腐</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30" name="文本框 829"/>
          <p:cNvSpPr txBox="1"/>
          <p:nvPr/>
        </p:nvSpPr>
        <p:spPr>
          <a:xfrm rot="20640000">
            <a:off x="3695065" y="4882515"/>
            <a:ext cx="488950" cy="46037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公平雇佣与福利</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31" name="文本框 830"/>
          <p:cNvSpPr txBox="1"/>
          <p:nvPr/>
        </p:nvSpPr>
        <p:spPr>
          <a:xfrm>
            <a:off x="3173730" y="5009515"/>
            <a:ext cx="488950" cy="46037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人权保障与劳工权益</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32" name="文本框 831"/>
          <p:cNvSpPr txBox="1"/>
          <p:nvPr/>
        </p:nvSpPr>
        <p:spPr>
          <a:xfrm rot="1560000">
            <a:off x="2670810" y="4890135"/>
            <a:ext cx="488950" cy="46037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多元包容与平等机会</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33" name="文本框 832"/>
          <p:cNvSpPr txBox="1"/>
          <p:nvPr/>
        </p:nvSpPr>
        <p:spPr>
          <a:xfrm rot="2640000">
            <a:off x="2197735" y="4568190"/>
            <a:ext cx="488950" cy="46037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安全与可持续产品</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34" name="文本框 833"/>
          <p:cNvSpPr txBox="1"/>
          <p:nvPr/>
        </p:nvSpPr>
        <p:spPr>
          <a:xfrm rot="18840000">
            <a:off x="4182745" y="4545965"/>
            <a:ext cx="488950" cy="46037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社区发展与公益</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35" name="文本框 834"/>
          <p:cNvSpPr txBox="1"/>
          <p:nvPr/>
        </p:nvSpPr>
        <p:spPr>
          <a:xfrm rot="17520000">
            <a:off x="4404995" y="4001135"/>
            <a:ext cx="488950" cy="58356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低碳技术研发与绿色创新</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36" name="文本框 835"/>
          <p:cNvSpPr txBox="1"/>
          <p:nvPr/>
        </p:nvSpPr>
        <p:spPr>
          <a:xfrm rot="4380000">
            <a:off x="4472305" y="3524885"/>
            <a:ext cx="488950" cy="46037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废弃物循环处理</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38" name="文本框 837"/>
          <p:cNvSpPr txBox="1"/>
          <p:nvPr/>
        </p:nvSpPr>
        <p:spPr>
          <a:xfrm rot="3720000">
            <a:off x="1901825" y="4059555"/>
            <a:ext cx="488950" cy="460375"/>
          </a:xfrm>
          <a:prstGeom prst="rect">
            <a:avLst/>
          </a:prstGeom>
          <a:noFill/>
        </p:spPr>
        <p:txBody>
          <a:bodyPr wrap="square" rtlCol="0">
            <a:spAutoFit/>
          </a:bodyPr>
          <a:p>
            <a:pPr algn="ctr"/>
            <a:r>
              <a:rPr lang="zh-CN" altLang="en-US" sz="800">
                <a:solidFill>
                  <a:schemeClr val="bg2"/>
                </a:solidFill>
                <a:latin typeface="微软雅黑" panose="020B0503020204020204" charset="-122"/>
                <a:ea typeface="微软雅黑" panose="020B0503020204020204" charset="-122"/>
                <a:cs typeface="微软雅黑" panose="020B0503020204020204" charset="-122"/>
              </a:rPr>
              <a:t>信息披露与审计</a:t>
            </a:r>
            <a:endParaRPr lang="zh-CN" altLang="en-US" sz="8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39" name="Circle"/>
          <p:cNvSpPr/>
          <p:nvPr/>
        </p:nvSpPr>
        <p:spPr>
          <a:xfrm>
            <a:off x="3521710" y="3123565"/>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1</a:t>
            </a:r>
            <a:endParaRPr lang="en-US" sz="600" b="1">
              <a:latin typeface="微软雅黑" panose="020B0503020204020204" charset="-122"/>
              <a:ea typeface="微软雅黑" panose="020B0503020204020204" charset="-122"/>
              <a:sym typeface="微软雅黑" panose="020B0503020204020204" charset="-122"/>
            </a:endParaRPr>
          </a:p>
        </p:txBody>
      </p:sp>
      <p:sp>
        <p:nvSpPr>
          <p:cNvPr id="840" name="Circle"/>
          <p:cNvSpPr/>
          <p:nvPr/>
        </p:nvSpPr>
        <p:spPr>
          <a:xfrm>
            <a:off x="3810635" y="3240405"/>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2</a:t>
            </a:r>
            <a:endParaRPr lang="en-US" sz="600" b="1">
              <a:latin typeface="微软雅黑" panose="020B0503020204020204" charset="-122"/>
              <a:ea typeface="微软雅黑" panose="020B0503020204020204" charset="-122"/>
              <a:sym typeface="微软雅黑" panose="020B0503020204020204" charset="-122"/>
            </a:endParaRPr>
          </a:p>
        </p:txBody>
      </p:sp>
      <p:sp>
        <p:nvSpPr>
          <p:cNvPr id="841" name="Circle"/>
          <p:cNvSpPr/>
          <p:nvPr/>
        </p:nvSpPr>
        <p:spPr>
          <a:xfrm>
            <a:off x="4033520" y="3462655"/>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3</a:t>
            </a:r>
            <a:endParaRPr lang="en-US" sz="600" b="1">
              <a:latin typeface="微软雅黑" panose="020B0503020204020204" charset="-122"/>
              <a:ea typeface="微软雅黑" panose="020B0503020204020204" charset="-122"/>
              <a:sym typeface="微软雅黑" panose="020B0503020204020204" charset="-122"/>
            </a:endParaRPr>
          </a:p>
        </p:txBody>
      </p:sp>
      <p:sp>
        <p:nvSpPr>
          <p:cNvPr id="842" name="Circle"/>
          <p:cNvSpPr/>
          <p:nvPr/>
        </p:nvSpPr>
        <p:spPr>
          <a:xfrm>
            <a:off x="4131310" y="3755390"/>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4</a:t>
            </a:r>
            <a:endParaRPr lang="en-US" sz="600" b="1">
              <a:latin typeface="微软雅黑" panose="020B0503020204020204" charset="-122"/>
              <a:ea typeface="微软雅黑" panose="020B0503020204020204" charset="-122"/>
              <a:sym typeface="微软雅黑" panose="020B0503020204020204" charset="-122"/>
            </a:endParaRPr>
          </a:p>
        </p:txBody>
      </p:sp>
      <p:sp>
        <p:nvSpPr>
          <p:cNvPr id="843" name="Circle"/>
          <p:cNvSpPr/>
          <p:nvPr/>
        </p:nvSpPr>
        <p:spPr>
          <a:xfrm>
            <a:off x="4100195" y="4056380"/>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5</a:t>
            </a:r>
            <a:endParaRPr lang="en-US" sz="600" b="1">
              <a:latin typeface="微软雅黑" panose="020B0503020204020204" charset="-122"/>
              <a:ea typeface="微软雅黑" panose="020B0503020204020204" charset="-122"/>
              <a:sym typeface="微软雅黑" panose="020B0503020204020204" charset="-122"/>
            </a:endParaRPr>
          </a:p>
        </p:txBody>
      </p:sp>
      <p:sp>
        <p:nvSpPr>
          <p:cNvPr id="844" name="Circle"/>
          <p:cNvSpPr/>
          <p:nvPr/>
        </p:nvSpPr>
        <p:spPr>
          <a:xfrm>
            <a:off x="3948430" y="4308475"/>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1</a:t>
            </a:r>
            <a:endParaRPr lang="en-US" sz="600" b="1">
              <a:latin typeface="微软雅黑" panose="020B0503020204020204" charset="-122"/>
              <a:ea typeface="微软雅黑" panose="020B0503020204020204" charset="-122"/>
              <a:sym typeface="微软雅黑" panose="020B0503020204020204" charset="-122"/>
            </a:endParaRPr>
          </a:p>
        </p:txBody>
      </p:sp>
      <p:sp>
        <p:nvSpPr>
          <p:cNvPr id="845" name="Circle"/>
          <p:cNvSpPr/>
          <p:nvPr/>
        </p:nvSpPr>
        <p:spPr>
          <a:xfrm>
            <a:off x="3686175" y="4490720"/>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2</a:t>
            </a:r>
            <a:endParaRPr lang="en-US" sz="600" b="1">
              <a:latin typeface="微软雅黑" panose="020B0503020204020204" charset="-122"/>
              <a:ea typeface="微软雅黑" panose="020B0503020204020204" charset="-122"/>
              <a:sym typeface="微软雅黑" panose="020B0503020204020204" charset="-122"/>
            </a:endParaRPr>
          </a:p>
        </p:txBody>
      </p:sp>
      <p:sp>
        <p:nvSpPr>
          <p:cNvPr id="846" name="Circle"/>
          <p:cNvSpPr/>
          <p:nvPr/>
        </p:nvSpPr>
        <p:spPr>
          <a:xfrm>
            <a:off x="3383280" y="4544060"/>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3</a:t>
            </a:r>
            <a:endParaRPr lang="en-US" sz="600" b="1">
              <a:latin typeface="微软雅黑" panose="020B0503020204020204" charset="-122"/>
              <a:ea typeface="微软雅黑" panose="020B0503020204020204" charset="-122"/>
              <a:sym typeface="微软雅黑" panose="020B0503020204020204" charset="-122"/>
            </a:endParaRPr>
          </a:p>
        </p:txBody>
      </p:sp>
      <p:sp>
        <p:nvSpPr>
          <p:cNvPr id="847" name="Circle"/>
          <p:cNvSpPr/>
          <p:nvPr/>
        </p:nvSpPr>
        <p:spPr>
          <a:xfrm>
            <a:off x="3098800" y="4458970"/>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4</a:t>
            </a:r>
            <a:endParaRPr lang="en-US" sz="600" b="1">
              <a:latin typeface="微软雅黑" panose="020B0503020204020204" charset="-122"/>
              <a:ea typeface="微软雅黑" panose="020B0503020204020204" charset="-122"/>
              <a:sym typeface="微软雅黑" panose="020B0503020204020204" charset="-122"/>
            </a:endParaRPr>
          </a:p>
        </p:txBody>
      </p:sp>
      <p:sp>
        <p:nvSpPr>
          <p:cNvPr id="848" name="Circle"/>
          <p:cNvSpPr/>
          <p:nvPr/>
        </p:nvSpPr>
        <p:spPr>
          <a:xfrm>
            <a:off x="2856865" y="4290695"/>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5</a:t>
            </a:r>
            <a:endParaRPr lang="en-US" sz="600" b="1">
              <a:latin typeface="微软雅黑" panose="020B0503020204020204" charset="-122"/>
              <a:ea typeface="微软雅黑" panose="020B0503020204020204" charset="-122"/>
              <a:sym typeface="微软雅黑" panose="020B0503020204020204" charset="-122"/>
            </a:endParaRPr>
          </a:p>
        </p:txBody>
      </p:sp>
      <p:sp>
        <p:nvSpPr>
          <p:cNvPr id="849" name="Circle"/>
          <p:cNvSpPr/>
          <p:nvPr/>
        </p:nvSpPr>
        <p:spPr>
          <a:xfrm>
            <a:off x="2722880" y="4036695"/>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1</a:t>
            </a:r>
            <a:endParaRPr lang="en-US" sz="600" b="1">
              <a:latin typeface="微软雅黑" panose="020B0503020204020204" charset="-122"/>
              <a:ea typeface="微软雅黑" panose="020B0503020204020204" charset="-122"/>
              <a:sym typeface="微软雅黑" panose="020B0503020204020204" charset="-122"/>
            </a:endParaRPr>
          </a:p>
        </p:txBody>
      </p:sp>
      <p:sp>
        <p:nvSpPr>
          <p:cNvPr id="851" name="Circle"/>
          <p:cNvSpPr/>
          <p:nvPr/>
        </p:nvSpPr>
        <p:spPr>
          <a:xfrm>
            <a:off x="2778125" y="3482340"/>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3</a:t>
            </a:r>
            <a:endParaRPr lang="en-US" sz="600" b="1">
              <a:latin typeface="微软雅黑" panose="020B0503020204020204" charset="-122"/>
              <a:ea typeface="微软雅黑" panose="020B0503020204020204" charset="-122"/>
              <a:sym typeface="微软雅黑" panose="020B0503020204020204" charset="-122"/>
            </a:endParaRPr>
          </a:p>
        </p:txBody>
      </p:sp>
      <p:sp>
        <p:nvSpPr>
          <p:cNvPr id="852" name="Circle"/>
          <p:cNvSpPr/>
          <p:nvPr/>
        </p:nvSpPr>
        <p:spPr>
          <a:xfrm>
            <a:off x="3235960" y="3133725"/>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5</a:t>
            </a:r>
            <a:endParaRPr lang="en-US" sz="600" b="1">
              <a:latin typeface="微软雅黑" panose="020B0503020204020204" charset="-122"/>
              <a:ea typeface="微软雅黑" panose="020B0503020204020204" charset="-122"/>
              <a:sym typeface="微软雅黑" panose="020B0503020204020204" charset="-122"/>
            </a:endParaRPr>
          </a:p>
        </p:txBody>
      </p:sp>
      <p:sp>
        <p:nvSpPr>
          <p:cNvPr id="853" name="Circle"/>
          <p:cNvSpPr/>
          <p:nvPr/>
        </p:nvSpPr>
        <p:spPr>
          <a:xfrm>
            <a:off x="2974340" y="3261360"/>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4</a:t>
            </a:r>
            <a:endParaRPr lang="en-US" sz="600" b="1">
              <a:latin typeface="微软雅黑" panose="020B0503020204020204" charset="-122"/>
              <a:ea typeface="微软雅黑" panose="020B0503020204020204" charset="-122"/>
              <a:sym typeface="微软雅黑" panose="020B0503020204020204" charset="-122"/>
            </a:endParaRPr>
          </a:p>
        </p:txBody>
      </p:sp>
      <p:sp>
        <p:nvSpPr>
          <p:cNvPr id="855" name="Circle"/>
          <p:cNvSpPr/>
          <p:nvPr/>
        </p:nvSpPr>
        <p:spPr>
          <a:xfrm>
            <a:off x="2698115" y="3755390"/>
            <a:ext cx="106680" cy="106680"/>
          </a:xfrm>
          <a:prstGeom prst="ellipse">
            <a:avLst/>
          </a:prstGeom>
          <a:solidFill>
            <a:schemeClr val="accent5"/>
          </a:solidFill>
          <a:ln w="6350" cap="flat">
            <a:solidFill>
              <a:schemeClr val="bg1"/>
            </a:solidFill>
            <a:miter lim="400000"/>
          </a:ln>
          <a:effectLst>
            <a:outerShdw blurRad="50800" dist="38100" dir="2700000" algn="tl" rotWithShape="0">
              <a:prstClr val="black">
                <a:alpha val="40000"/>
              </a:prstClr>
            </a:outerShdw>
          </a:effectLst>
        </p:spPr>
        <p:txBody>
          <a:bodyPr wrap="square" lIns="0" tIns="0" rIns="0" bIns="0" numCol="1" anchor="ctr">
            <a:noAutofit/>
          </a:bodyPr>
          <a:p>
            <a:pPr algn="ctr">
              <a:defRPr sz="3200" b="0">
                <a:solidFill>
                  <a:srgbClr val="FFFFFF"/>
                </a:solidFill>
                <a:latin typeface="OPPO Sans" panose="00020600040101010101" charset="-122"/>
                <a:ea typeface="OPPO Sans" panose="00020600040101010101" charset="-122"/>
                <a:cs typeface="+mn-ea"/>
                <a:sym typeface="Helvetica Neue Medium"/>
              </a:defRPr>
            </a:pPr>
            <a:r>
              <a:rPr lang="en-US" sz="600" b="1">
                <a:latin typeface="微软雅黑" panose="020B0503020204020204" charset="-122"/>
                <a:ea typeface="微软雅黑" panose="020B0503020204020204" charset="-122"/>
                <a:sym typeface="微软雅黑" panose="020B0503020204020204" charset="-122"/>
              </a:rPr>
              <a:t>2</a:t>
            </a:r>
            <a:endParaRPr lang="en-US" sz="600" b="1">
              <a:latin typeface="微软雅黑" panose="020B0503020204020204" charset="-122"/>
              <a:ea typeface="微软雅黑" panose="020B0503020204020204" charset="-122"/>
              <a:sym typeface="微软雅黑" panose="020B0503020204020204" charset="-122"/>
            </a:endParaRPr>
          </a:p>
        </p:txBody>
      </p:sp>
      <p:sp>
        <p:nvSpPr>
          <p:cNvPr id="856" name="文本框 855"/>
          <p:cNvSpPr txBox="1"/>
          <p:nvPr/>
        </p:nvSpPr>
        <p:spPr>
          <a:xfrm rot="20880000">
            <a:off x="3265170" y="3381375"/>
            <a:ext cx="158115" cy="146685"/>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G</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57" name="文本框 856"/>
          <p:cNvSpPr txBox="1"/>
          <p:nvPr/>
        </p:nvSpPr>
        <p:spPr>
          <a:xfrm rot="780000">
            <a:off x="3435985" y="3390900"/>
            <a:ext cx="158115" cy="146685"/>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E</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58" name="文本框 857"/>
          <p:cNvSpPr txBox="1"/>
          <p:nvPr/>
        </p:nvSpPr>
        <p:spPr>
          <a:xfrm rot="1860000">
            <a:off x="3599815" y="3459480"/>
            <a:ext cx="158115" cy="146685"/>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E</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59" name="文本框 858"/>
          <p:cNvSpPr txBox="1"/>
          <p:nvPr/>
        </p:nvSpPr>
        <p:spPr>
          <a:xfrm rot="3420000">
            <a:off x="3726815" y="3586480"/>
            <a:ext cx="158115" cy="146685"/>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E</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60" name="文本框 859"/>
          <p:cNvSpPr txBox="1"/>
          <p:nvPr/>
        </p:nvSpPr>
        <p:spPr>
          <a:xfrm rot="5100000">
            <a:off x="3782695" y="3751580"/>
            <a:ext cx="158115" cy="157480"/>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E</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61" name="文本框 860"/>
          <p:cNvSpPr txBox="1"/>
          <p:nvPr/>
        </p:nvSpPr>
        <p:spPr>
          <a:xfrm>
            <a:off x="3345180" y="4250690"/>
            <a:ext cx="158115" cy="146685"/>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S</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62" name="文本框 861"/>
          <p:cNvSpPr txBox="1"/>
          <p:nvPr/>
        </p:nvSpPr>
        <p:spPr>
          <a:xfrm rot="1140000">
            <a:off x="3167380" y="4208145"/>
            <a:ext cx="158115" cy="146685"/>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S</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63" name="文本框 862"/>
          <p:cNvSpPr txBox="1"/>
          <p:nvPr/>
        </p:nvSpPr>
        <p:spPr>
          <a:xfrm rot="20160000">
            <a:off x="3513455" y="4203700"/>
            <a:ext cx="158115" cy="146685"/>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S</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64" name="文本框 863"/>
          <p:cNvSpPr txBox="1"/>
          <p:nvPr/>
        </p:nvSpPr>
        <p:spPr>
          <a:xfrm rot="19860000">
            <a:off x="3099435" y="3448050"/>
            <a:ext cx="158115" cy="156210"/>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G</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65" name="文本框 864"/>
          <p:cNvSpPr txBox="1"/>
          <p:nvPr/>
        </p:nvSpPr>
        <p:spPr>
          <a:xfrm rot="18060000">
            <a:off x="2970530" y="3583305"/>
            <a:ext cx="158115" cy="156210"/>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G</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66" name="文本框 865"/>
          <p:cNvSpPr txBox="1"/>
          <p:nvPr/>
        </p:nvSpPr>
        <p:spPr>
          <a:xfrm rot="2700000">
            <a:off x="3019425" y="4094480"/>
            <a:ext cx="158115" cy="146685"/>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S</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67" name="文本框 866"/>
          <p:cNvSpPr txBox="1"/>
          <p:nvPr/>
        </p:nvSpPr>
        <p:spPr>
          <a:xfrm rot="4140000">
            <a:off x="2930525" y="3939540"/>
            <a:ext cx="158115" cy="146685"/>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G</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68" name="文本框 867"/>
          <p:cNvSpPr txBox="1"/>
          <p:nvPr/>
        </p:nvSpPr>
        <p:spPr>
          <a:xfrm rot="18840000">
            <a:off x="3669665" y="4087495"/>
            <a:ext cx="158115" cy="146685"/>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S</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69" name="文本框 868"/>
          <p:cNvSpPr txBox="1"/>
          <p:nvPr/>
        </p:nvSpPr>
        <p:spPr>
          <a:xfrm rot="17880000">
            <a:off x="3760470" y="3923030"/>
            <a:ext cx="158115" cy="160655"/>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E</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870" name="文本框 869"/>
          <p:cNvSpPr txBox="1"/>
          <p:nvPr/>
        </p:nvSpPr>
        <p:spPr>
          <a:xfrm rot="16380000">
            <a:off x="2900045" y="3761105"/>
            <a:ext cx="161290" cy="146685"/>
          </a:xfrm>
          <a:prstGeom prst="rect">
            <a:avLst/>
          </a:prstGeom>
          <a:noFill/>
        </p:spPr>
        <p:txBody>
          <a:bodyPr wrap="square" rtlCol="0">
            <a:noAutofit/>
          </a:bodyPr>
          <a:p>
            <a:pPr algn="ctr"/>
            <a:r>
              <a:rPr lang="en-US" sz="600">
                <a:solidFill>
                  <a:schemeClr val="bg2"/>
                </a:solidFill>
                <a:latin typeface="微软雅黑" panose="020B0503020204020204" charset="-122"/>
                <a:ea typeface="微软雅黑" panose="020B0503020204020204" charset="-122"/>
                <a:cs typeface="微软雅黑" panose="020B0503020204020204" charset="-122"/>
              </a:rPr>
              <a:t>G</a:t>
            </a:r>
            <a:endParaRPr lang="en-US" sz="600">
              <a:solidFill>
                <a:schemeClr val="bg2"/>
              </a:solidFill>
              <a:latin typeface="微软雅黑" panose="020B0503020204020204" charset="-122"/>
              <a:ea typeface="微软雅黑" panose="020B0503020204020204" charset="-122"/>
              <a:cs typeface="微软雅黑" panose="020B0503020204020204" charset="-122"/>
            </a:endParaRPr>
          </a:p>
        </p:txBody>
      </p:sp>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9"/>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知识付费的运营模型</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89" name="椭圆 88"/>
          <p:cNvSpPr/>
          <p:nvPr/>
        </p:nvSpPr>
        <p:spPr>
          <a:xfrm>
            <a:off x="509270" y="1246505"/>
            <a:ext cx="5868035" cy="4302760"/>
          </a:xfrm>
          <a:prstGeom prst="ellipse">
            <a:avLst/>
          </a:prstGeom>
          <a:noFill/>
          <a:ln w="12700" cmpd="sng">
            <a:gradFill>
              <a:gsLst>
                <a:gs pos="88000">
                  <a:schemeClr val="accent1">
                    <a:alpha val="0"/>
                  </a:schemeClr>
                </a:gs>
                <a:gs pos="51000">
                  <a:schemeClr val="accent1"/>
                </a:gs>
              </a:gsLst>
              <a:lin ang="0" scaled="1"/>
            </a:gradFill>
            <a:prstDash val="sysDash"/>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7" name="任意多边形 6"/>
          <p:cNvSpPr/>
          <p:nvPr/>
        </p:nvSpPr>
        <p:spPr>
          <a:xfrm>
            <a:off x="1069975" y="1726565"/>
            <a:ext cx="4587240" cy="339217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7225" h="5346">
                <a:moveTo>
                  <a:pt x="2" y="2671"/>
                </a:moveTo>
                <a:lnTo>
                  <a:pt x="0" y="2600"/>
                </a:lnTo>
                <a:cubicBezTo>
                  <a:pt x="-61" y="1134"/>
                  <a:pt x="2029" y="-34"/>
                  <a:pt x="3692" y="0"/>
                </a:cubicBezTo>
                <a:lnTo>
                  <a:pt x="3782" y="1"/>
                </a:lnTo>
                <a:lnTo>
                  <a:pt x="3883" y="0"/>
                </a:lnTo>
                <a:cubicBezTo>
                  <a:pt x="5384" y="-62"/>
                  <a:pt x="6810" y="865"/>
                  <a:pt x="7224" y="1570"/>
                </a:cubicBezTo>
                <a:cubicBezTo>
                  <a:pt x="7059" y="1786"/>
                  <a:pt x="6904" y="2274"/>
                  <a:pt x="6896" y="2455"/>
                </a:cubicBezTo>
                <a:cubicBezTo>
                  <a:pt x="6837" y="1571"/>
                  <a:pt x="5325" y="542"/>
                  <a:pt x="3888" y="603"/>
                </a:cubicBezTo>
                <a:lnTo>
                  <a:pt x="3805" y="604"/>
                </a:lnTo>
                <a:lnTo>
                  <a:pt x="3731" y="603"/>
                </a:lnTo>
                <a:cubicBezTo>
                  <a:pt x="2190" y="569"/>
                  <a:pt x="647" y="1616"/>
                  <a:pt x="697" y="2644"/>
                </a:cubicBezTo>
                <a:lnTo>
                  <a:pt x="698" y="2700"/>
                </a:lnTo>
                <a:lnTo>
                  <a:pt x="697" y="2750"/>
                </a:lnTo>
                <a:cubicBezTo>
                  <a:pt x="646" y="3789"/>
                  <a:pt x="2198" y="4830"/>
                  <a:pt x="3722" y="4797"/>
                </a:cubicBezTo>
                <a:lnTo>
                  <a:pt x="3805" y="4796"/>
                </a:lnTo>
                <a:lnTo>
                  <a:pt x="3879" y="4797"/>
                </a:lnTo>
                <a:cubicBezTo>
                  <a:pt x="5311" y="4848"/>
                  <a:pt x="6783" y="3868"/>
                  <a:pt x="6889" y="3003"/>
                </a:cubicBezTo>
                <a:cubicBezTo>
                  <a:pt x="6895" y="3266"/>
                  <a:pt x="7069" y="3716"/>
                  <a:pt x="7170" y="3870"/>
                </a:cubicBezTo>
                <a:cubicBezTo>
                  <a:pt x="6587" y="4749"/>
                  <a:pt x="5020" y="5371"/>
                  <a:pt x="3873" y="5342"/>
                </a:cubicBezTo>
                <a:lnTo>
                  <a:pt x="3782" y="5341"/>
                </a:lnTo>
                <a:lnTo>
                  <a:pt x="3682" y="5342"/>
                </a:lnTo>
                <a:cubicBezTo>
                  <a:pt x="1606" y="5385"/>
                  <a:pt x="-48" y="3909"/>
                  <a:pt x="0" y="2735"/>
                </a:cubicBezTo>
                <a:lnTo>
                  <a:pt x="2" y="2671"/>
                </a:lnTo>
                <a:close/>
              </a:path>
            </a:pathLst>
          </a:custGeom>
          <a:solidFill>
            <a:schemeClr val="accent1">
              <a:lumMod val="20000"/>
              <a:lumOff val="80000"/>
              <a:alpha val="50000"/>
            </a:schemeClr>
          </a:solidFill>
          <a:ln w="12700" cmpd="sng">
            <a:solidFill>
              <a:schemeClr val="accent1">
                <a:alpha val="2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1" name="任意多边形 20"/>
          <p:cNvSpPr/>
          <p:nvPr/>
        </p:nvSpPr>
        <p:spPr>
          <a:xfrm>
            <a:off x="5622925" y="2039620"/>
            <a:ext cx="2729865" cy="289306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4300" h="4561">
                <a:moveTo>
                  <a:pt x="54" y="1077"/>
                </a:moveTo>
                <a:cubicBezTo>
                  <a:pt x="389" y="478"/>
                  <a:pt x="1321" y="-43"/>
                  <a:pt x="1950" y="0"/>
                </a:cubicBezTo>
                <a:lnTo>
                  <a:pt x="2005" y="1"/>
                </a:lnTo>
                <a:lnTo>
                  <a:pt x="2066" y="0"/>
                </a:lnTo>
                <a:cubicBezTo>
                  <a:pt x="3325" y="-37"/>
                  <a:pt x="4328" y="1222"/>
                  <a:pt x="4299" y="2223"/>
                </a:cubicBezTo>
                <a:lnTo>
                  <a:pt x="4298" y="2278"/>
                </a:lnTo>
                <a:lnTo>
                  <a:pt x="4299" y="2339"/>
                </a:lnTo>
                <a:cubicBezTo>
                  <a:pt x="4336" y="3589"/>
                  <a:pt x="3068" y="4585"/>
                  <a:pt x="2060" y="4556"/>
                </a:cubicBezTo>
                <a:lnTo>
                  <a:pt x="2005" y="4555"/>
                </a:lnTo>
                <a:lnTo>
                  <a:pt x="1943" y="4556"/>
                </a:lnTo>
                <a:cubicBezTo>
                  <a:pt x="1101" y="4613"/>
                  <a:pt x="257" y="3888"/>
                  <a:pt x="0" y="3376"/>
                </a:cubicBezTo>
                <a:cubicBezTo>
                  <a:pt x="200" y="3164"/>
                  <a:pt x="438" y="2511"/>
                  <a:pt x="395" y="2249"/>
                </a:cubicBezTo>
                <a:lnTo>
                  <a:pt x="394" y="2178"/>
                </a:lnTo>
                <a:lnTo>
                  <a:pt x="395" y="2114"/>
                </a:lnTo>
                <a:cubicBezTo>
                  <a:pt x="425" y="1775"/>
                  <a:pt x="184" y="1248"/>
                  <a:pt x="54" y="1077"/>
                </a:cubicBezTo>
                <a:close/>
                <a:moveTo>
                  <a:pt x="451" y="2278"/>
                </a:moveTo>
                <a:lnTo>
                  <a:pt x="450" y="2237"/>
                </a:lnTo>
                <a:cubicBezTo>
                  <a:pt x="425" y="1390"/>
                  <a:pt x="1284" y="715"/>
                  <a:pt x="1967" y="735"/>
                </a:cubicBezTo>
                <a:lnTo>
                  <a:pt x="2005" y="736"/>
                </a:lnTo>
                <a:lnTo>
                  <a:pt x="2046" y="735"/>
                </a:lnTo>
                <a:cubicBezTo>
                  <a:pt x="2899" y="710"/>
                  <a:pt x="3578" y="1563"/>
                  <a:pt x="3559" y="2241"/>
                </a:cubicBezTo>
                <a:lnTo>
                  <a:pt x="3558" y="2278"/>
                </a:lnTo>
                <a:lnTo>
                  <a:pt x="3559" y="2319"/>
                </a:lnTo>
                <a:cubicBezTo>
                  <a:pt x="3584" y="3166"/>
                  <a:pt x="2725" y="3841"/>
                  <a:pt x="2042" y="3821"/>
                </a:cubicBezTo>
                <a:lnTo>
                  <a:pt x="2005" y="3820"/>
                </a:lnTo>
                <a:lnTo>
                  <a:pt x="1963" y="3821"/>
                </a:lnTo>
                <a:cubicBezTo>
                  <a:pt x="1110" y="3846"/>
                  <a:pt x="431" y="2993"/>
                  <a:pt x="451" y="2315"/>
                </a:cubicBezTo>
                <a:lnTo>
                  <a:pt x="451" y="2278"/>
                </a:lnTo>
                <a:close/>
              </a:path>
            </a:pathLst>
          </a:custGeom>
          <a:solidFill>
            <a:schemeClr val="accent1">
              <a:lumMod val="40000"/>
              <a:lumOff val="60000"/>
              <a:alpha val="50000"/>
            </a:schemeClr>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lstStyle>
            <a:defPPr>
              <a:defRPr lang="en-US">
                <a:solidFill>
                  <a:srgbClr val="FFFFFF"/>
                </a:solidFill>
              </a:defRPr>
            </a:defPPr>
            <a:lvl1pPr marL="0" algn="l" defTabSz="914400" rtl="0" eaLnBrk="1" latinLnBrk="0" hangingPunct="1">
              <a:defRPr sz="1800" kern="1200">
                <a:solidFill>
                  <a:srgbClr val="FFFFFF"/>
                </a:solidFill>
                <a:latin typeface="+mn-lt"/>
                <a:ea typeface="+mn-ea"/>
                <a:cs typeface="+mn-cs"/>
              </a:defRPr>
            </a:lvl1pPr>
            <a:lvl2pPr marL="457200" algn="l" defTabSz="914400" rtl="0" eaLnBrk="1" latinLnBrk="0" hangingPunct="1">
              <a:defRPr sz="1800" kern="1200">
                <a:solidFill>
                  <a:srgbClr val="FFFFFF"/>
                </a:solidFill>
                <a:latin typeface="+mn-lt"/>
                <a:ea typeface="+mn-ea"/>
                <a:cs typeface="+mn-cs"/>
              </a:defRPr>
            </a:lvl2pPr>
            <a:lvl3pPr marL="914400" algn="l" defTabSz="914400" rtl="0" eaLnBrk="1" latinLnBrk="0" hangingPunct="1">
              <a:defRPr sz="1800" kern="1200">
                <a:solidFill>
                  <a:srgbClr val="FFFFFF"/>
                </a:solidFill>
                <a:latin typeface="+mn-lt"/>
                <a:ea typeface="+mn-ea"/>
                <a:cs typeface="+mn-cs"/>
              </a:defRPr>
            </a:lvl3pPr>
            <a:lvl4pPr marL="1371600" algn="l" defTabSz="914400" rtl="0" eaLnBrk="1" latinLnBrk="0" hangingPunct="1">
              <a:defRPr sz="1800" kern="1200">
                <a:solidFill>
                  <a:srgbClr val="FFFFFF"/>
                </a:solidFill>
                <a:latin typeface="+mn-lt"/>
                <a:ea typeface="+mn-ea"/>
                <a:cs typeface="+mn-cs"/>
              </a:defRPr>
            </a:lvl4pPr>
            <a:lvl5pPr marL="1828800" algn="l" defTabSz="914400" rtl="0" eaLnBrk="1" latinLnBrk="0" hangingPunct="1">
              <a:defRPr sz="1800" kern="1200">
                <a:solidFill>
                  <a:srgbClr val="FFFFFF"/>
                </a:solidFill>
                <a:latin typeface="+mn-lt"/>
                <a:ea typeface="+mn-ea"/>
                <a:cs typeface="+mn-cs"/>
              </a:defRPr>
            </a:lvl5pPr>
            <a:lvl6pPr marL="2286000" algn="l" defTabSz="914400" rtl="0" eaLnBrk="1" latinLnBrk="0" hangingPunct="1">
              <a:defRPr sz="1800" kern="1200">
                <a:solidFill>
                  <a:srgbClr val="FFFFFF"/>
                </a:solidFill>
                <a:latin typeface="+mn-lt"/>
                <a:ea typeface="+mn-ea"/>
                <a:cs typeface="+mn-cs"/>
              </a:defRPr>
            </a:lvl6pPr>
            <a:lvl7pPr marL="2743200" algn="l" defTabSz="914400" rtl="0" eaLnBrk="1" latinLnBrk="0" hangingPunct="1">
              <a:defRPr sz="1800" kern="1200">
                <a:solidFill>
                  <a:srgbClr val="FFFFFF"/>
                </a:solidFill>
                <a:latin typeface="+mn-lt"/>
                <a:ea typeface="+mn-ea"/>
                <a:cs typeface="+mn-cs"/>
              </a:defRPr>
            </a:lvl7pPr>
            <a:lvl8pPr marL="3200400" algn="l" defTabSz="914400" rtl="0" eaLnBrk="1" latinLnBrk="0" hangingPunct="1">
              <a:defRPr sz="1800" kern="1200">
                <a:solidFill>
                  <a:srgbClr val="FFFFFF"/>
                </a:solidFill>
                <a:latin typeface="+mn-lt"/>
                <a:ea typeface="+mn-ea"/>
                <a:cs typeface="+mn-cs"/>
              </a:defRPr>
            </a:lvl8pPr>
            <a:lvl9pPr marL="3657600" algn="l" defTabSz="914400" rtl="0" eaLnBrk="1" latinLnBrk="0" hangingPunct="1">
              <a:defRPr sz="1800" kern="1200">
                <a:solidFill>
                  <a:srgbClr val="FFFFFF"/>
                </a:solidFill>
                <a:latin typeface="+mn-lt"/>
                <a:ea typeface="+mn-ea"/>
                <a:cs typeface="+mn-cs"/>
              </a:defRPr>
            </a:lvl9pPr>
          </a:lstStyle>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4" name="椭圆 23"/>
          <p:cNvSpPr/>
          <p:nvPr/>
        </p:nvSpPr>
        <p:spPr>
          <a:xfrm>
            <a:off x="1647190" y="2265680"/>
            <a:ext cx="3715385" cy="2301240"/>
          </a:xfrm>
          <a:prstGeom prst="ellipse">
            <a:avLst/>
          </a:prstGeom>
          <a:noFill/>
          <a:ln w="12700" cmpd="sng">
            <a:solidFill>
              <a:schemeClr val="accent1"/>
            </a:solidFill>
            <a:prstDash val="sysDash"/>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5" name="椭圆 24"/>
          <p:cNvSpPr/>
          <p:nvPr/>
        </p:nvSpPr>
        <p:spPr>
          <a:xfrm>
            <a:off x="2998470" y="1701165"/>
            <a:ext cx="430530" cy="430530"/>
          </a:xfrm>
          <a:prstGeom prst="ellipse">
            <a:avLst/>
          </a:prstGeom>
          <a:solidFill>
            <a:schemeClr val="accent1"/>
          </a:solidFill>
          <a:ln w="12700" cmpd="sng">
            <a:solidFill>
              <a:schemeClr val="bg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2" name="椭圆 31"/>
          <p:cNvSpPr/>
          <p:nvPr/>
        </p:nvSpPr>
        <p:spPr>
          <a:xfrm>
            <a:off x="5968365" y="2218055"/>
            <a:ext cx="505460" cy="505460"/>
          </a:xfrm>
          <a:prstGeom prst="ellipse">
            <a:avLst/>
          </a:prstGeom>
          <a:solidFill>
            <a:schemeClr val="accent1">
              <a:lumMod val="60000"/>
              <a:lumOff val="40000"/>
            </a:schemeClr>
          </a:solidFill>
          <a:ln w="12700" cmpd="sng">
            <a:solidFill>
              <a:schemeClr val="bg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900"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39" name="椭圆 38"/>
          <p:cNvSpPr/>
          <p:nvPr/>
        </p:nvSpPr>
        <p:spPr>
          <a:xfrm>
            <a:off x="5438775" y="1629410"/>
            <a:ext cx="434975" cy="434975"/>
          </a:xfrm>
          <a:prstGeom prst="ellipse">
            <a:avLst/>
          </a:prstGeom>
          <a:solidFill>
            <a:schemeClr val="accent5"/>
          </a:solidFill>
          <a:ln w="12700" cmpd="sng">
            <a:solidFill>
              <a:schemeClr val="bg1"/>
            </a:solidFill>
            <a:prstDash val="solid"/>
          </a:ln>
          <a:effectLst>
            <a:glow rad="63500">
              <a:schemeClr val="accent5">
                <a:lumMod val="60000"/>
                <a:lumOff val="40000"/>
                <a:alpha val="40000"/>
              </a:schemeClr>
            </a:glow>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46" name="弧 57"/>
          <p:cNvSpPr/>
          <p:nvPr/>
        </p:nvSpPr>
        <p:spPr>
          <a:xfrm rot="6352716">
            <a:off x="4831715" y="1494790"/>
            <a:ext cx="4171950" cy="4207510"/>
          </a:xfrm>
          <a:prstGeom prst="arc">
            <a:avLst>
              <a:gd name="adj1" fmla="val 15948615"/>
              <a:gd name="adj2" fmla="val 1240212"/>
            </a:avLst>
          </a:prstGeom>
          <a:ln w="25400">
            <a:solidFill>
              <a:schemeClr val="accent5"/>
            </a:solidFill>
            <a:prstDash val="sysDot"/>
            <a:tailEnd type="triangle"/>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49" name="文本框 48"/>
          <p:cNvSpPr txBox="1"/>
          <p:nvPr/>
        </p:nvSpPr>
        <p:spPr>
          <a:xfrm>
            <a:off x="2769870" y="2921635"/>
            <a:ext cx="1652270" cy="475615"/>
          </a:xfrm>
          <a:prstGeom prst="rect">
            <a:avLst/>
          </a:prstGeom>
          <a:noFill/>
        </p:spPr>
        <p:txBody>
          <a:bodyPr wrap="square" rtlCol="0">
            <a:spAutoFit/>
          </a:bodyPr>
          <a:p>
            <a:pPr algn="ctr"/>
            <a:r>
              <a:rPr lang="zh-CN" altLang="en-US" sz="2500" b="1">
                <a:solidFill>
                  <a:schemeClr val="accent1"/>
                </a:solidFill>
                <a:latin typeface="微软雅黑" panose="020B0503020204020204" charset="-122"/>
                <a:ea typeface="微软雅黑" panose="020B0503020204020204" charset="-122"/>
                <a:cs typeface="微软雅黑" panose="020B0503020204020204" charset="-122"/>
              </a:rPr>
              <a:t>公域阵地</a:t>
            </a:r>
            <a:endParaRPr lang="zh-CN" altLang="en-US" sz="25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nvSpPr>
        <p:spPr>
          <a:xfrm>
            <a:off x="2267585" y="3470275"/>
            <a:ext cx="2608580" cy="368300"/>
          </a:xfrm>
          <a:prstGeom prst="rect">
            <a:avLst/>
          </a:prstGeom>
          <a:noFill/>
        </p:spPr>
        <p:txBody>
          <a:bodyPr wrap="square" rtlCol="0">
            <a:spAutoFit/>
          </a:bodyPr>
          <a:p>
            <a:pPr algn="ctr"/>
            <a:r>
              <a:rPr lang="zh-CN" altLang="en-US">
                <a:solidFill>
                  <a:schemeClr val="accent6"/>
                </a:solidFill>
                <a:latin typeface="微软雅黑" panose="020B0503020204020204" charset="-122"/>
                <a:ea typeface="微软雅黑" panose="020B0503020204020204" charset="-122"/>
                <a:cs typeface="微软雅黑" panose="020B0503020204020204" charset="-122"/>
              </a:rPr>
              <a:t>精准获客及流量转化</a:t>
            </a:r>
            <a:endParaRPr lang="zh-CN" altLang="en-US">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2267585" y="1726565"/>
            <a:ext cx="798195" cy="460375"/>
          </a:xfrm>
          <a:prstGeom prst="rect">
            <a:avLst/>
          </a:prstGeom>
          <a:noFill/>
        </p:spPr>
        <p:txBody>
          <a:bodyPr wrap="square" rtlCol="0">
            <a:spAutoFit/>
          </a:bodyPr>
          <a:p>
            <a:pPr algn="ctr"/>
            <a:r>
              <a:rPr lang="zh-CN" sz="1200">
                <a:latin typeface="微软雅黑" panose="020B0503020204020204" charset="-122"/>
                <a:ea typeface="微软雅黑" panose="020B0503020204020204" charset="-122"/>
                <a:cs typeface="微软雅黑" panose="020B0503020204020204" charset="-122"/>
              </a:rPr>
              <a:t>知乎等搜索引擎</a:t>
            </a:r>
            <a:endParaRPr lang="zh-CN" sz="1200">
              <a:latin typeface="微软雅黑" panose="020B0503020204020204" charset="-122"/>
              <a:ea typeface="微软雅黑" panose="020B0503020204020204" charset="-122"/>
              <a:cs typeface="微软雅黑" panose="020B0503020204020204" charset="-122"/>
            </a:endParaRPr>
          </a:p>
        </p:txBody>
      </p:sp>
      <p:sp>
        <p:nvSpPr>
          <p:cNvPr id="72" name="文本框 71"/>
          <p:cNvSpPr txBox="1"/>
          <p:nvPr/>
        </p:nvSpPr>
        <p:spPr>
          <a:xfrm>
            <a:off x="4016375" y="1783080"/>
            <a:ext cx="628650" cy="460375"/>
          </a:xfrm>
          <a:prstGeom prst="rect">
            <a:avLst/>
          </a:prstGeom>
          <a:noFill/>
        </p:spPr>
        <p:txBody>
          <a:bodyPr wrap="square" rtlCol="0">
            <a:spAutoFit/>
          </a:bodyPr>
          <a:p>
            <a:r>
              <a:rPr lang="zh-CN" altLang="en-US" sz="1200">
                <a:latin typeface="微软雅黑" panose="020B0503020204020204" charset="-122"/>
                <a:ea typeface="微软雅黑" panose="020B0503020204020204" charset="-122"/>
                <a:cs typeface="微软雅黑" panose="020B0503020204020204" charset="-122"/>
              </a:rPr>
              <a:t>钉钉课堂</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73" name="文本框 72"/>
          <p:cNvSpPr txBox="1"/>
          <p:nvPr/>
        </p:nvSpPr>
        <p:spPr>
          <a:xfrm>
            <a:off x="4264025" y="4564380"/>
            <a:ext cx="749935" cy="460375"/>
          </a:xfrm>
          <a:prstGeom prst="rect">
            <a:avLst/>
          </a:prstGeom>
          <a:noFill/>
        </p:spPr>
        <p:txBody>
          <a:bodyPr wrap="square" rtlCol="0">
            <a:spAutoFit/>
          </a:bodyPr>
          <a:p>
            <a:r>
              <a:rPr lang="en-US" altLang="zh-CN" sz="1200">
                <a:latin typeface="微软雅黑" panose="020B0503020204020204" charset="-122"/>
                <a:ea typeface="微软雅黑" panose="020B0503020204020204" charset="-122"/>
                <a:cs typeface="微软雅黑" panose="020B0503020204020204" charset="-122"/>
              </a:rPr>
              <a:t>B</a:t>
            </a:r>
            <a:r>
              <a:rPr lang="zh-CN" altLang="en-US" sz="1200">
                <a:latin typeface="微软雅黑" panose="020B0503020204020204" charset="-122"/>
                <a:ea typeface="微软雅黑" panose="020B0503020204020204" charset="-122"/>
                <a:cs typeface="微软雅黑" panose="020B0503020204020204" charset="-122"/>
              </a:rPr>
              <a:t>站等视频平台</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74" name="文本框 73"/>
          <p:cNvSpPr txBox="1"/>
          <p:nvPr/>
        </p:nvSpPr>
        <p:spPr>
          <a:xfrm>
            <a:off x="1095375" y="3815080"/>
            <a:ext cx="680085" cy="460375"/>
          </a:xfrm>
          <a:prstGeom prst="rect">
            <a:avLst/>
          </a:prstGeom>
          <a:noFill/>
        </p:spPr>
        <p:txBody>
          <a:bodyPr wrap="square" rtlCol="0">
            <a:spAutoFit/>
          </a:bodyPr>
          <a:p>
            <a:pPr algn="ctr"/>
            <a:r>
              <a:rPr lang="zh-CN" sz="1200">
                <a:latin typeface="微软雅黑" panose="020B0503020204020204" charset="-122"/>
                <a:ea typeface="微软雅黑" panose="020B0503020204020204" charset="-122"/>
                <a:cs typeface="微软雅黑" panose="020B0503020204020204" charset="-122"/>
              </a:rPr>
              <a:t>小红书种草</a:t>
            </a:r>
            <a:endParaRPr lang="zh-CN" sz="1200">
              <a:latin typeface="微软雅黑" panose="020B0503020204020204" charset="-122"/>
              <a:ea typeface="微软雅黑" panose="020B0503020204020204" charset="-122"/>
              <a:cs typeface="微软雅黑" panose="020B0503020204020204" charset="-122"/>
            </a:endParaRPr>
          </a:p>
        </p:txBody>
      </p:sp>
      <p:sp>
        <p:nvSpPr>
          <p:cNvPr id="75" name="文本框 74"/>
          <p:cNvSpPr txBox="1"/>
          <p:nvPr/>
        </p:nvSpPr>
        <p:spPr>
          <a:xfrm>
            <a:off x="5156835" y="1322705"/>
            <a:ext cx="1135380" cy="275590"/>
          </a:xfrm>
          <a:prstGeom prst="rect">
            <a:avLst/>
          </a:prstGeom>
          <a:noFill/>
        </p:spPr>
        <p:txBody>
          <a:bodyPr wrap="square" rtlCol="0">
            <a:spAutoFit/>
          </a:bodyPr>
          <a:p>
            <a:pPr algn="ctr"/>
            <a:r>
              <a:rPr lang="zh-CN" sz="1200" b="1">
                <a:solidFill>
                  <a:schemeClr val="accent5"/>
                </a:solidFill>
                <a:latin typeface="微软雅黑" panose="020B0503020204020204" charset="-122"/>
                <a:ea typeface="微软雅黑" panose="020B0503020204020204" charset="-122"/>
                <a:cs typeface="微软雅黑" panose="020B0503020204020204" charset="-122"/>
              </a:rPr>
              <a:t>以客户为中心</a:t>
            </a:r>
            <a:endParaRPr lang="zh-CN" sz="12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86" name="矩形 85"/>
          <p:cNvSpPr/>
          <p:nvPr/>
        </p:nvSpPr>
        <p:spPr>
          <a:xfrm rot="180000">
            <a:off x="3261360" y="1120775"/>
            <a:ext cx="882015" cy="361950"/>
          </a:xfrm>
          <a:prstGeom prst="rect">
            <a:avLst/>
          </a:prstGeom>
          <a:solidFill>
            <a:schemeClr val="bg1"/>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r>
              <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rPr>
              <a:t>流量导入</a:t>
            </a:r>
            <a:endPar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87" name="矩形 86"/>
          <p:cNvSpPr/>
          <p:nvPr/>
        </p:nvSpPr>
        <p:spPr>
          <a:xfrm rot="21360000">
            <a:off x="336550" y="3242945"/>
            <a:ext cx="416560" cy="797560"/>
          </a:xfrm>
          <a:prstGeom prst="rect">
            <a:avLst/>
          </a:prstGeom>
          <a:solidFill>
            <a:schemeClr val="bg1"/>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r>
              <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sym typeface="+mn-ea"/>
              </a:rPr>
              <a:t>产品种草</a:t>
            </a:r>
            <a:endParaRPr lang="zh-CN" altLang="en-US" sz="1000" dirty="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88" name="文本框 87"/>
          <p:cNvSpPr txBox="1"/>
          <p:nvPr/>
        </p:nvSpPr>
        <p:spPr>
          <a:xfrm>
            <a:off x="1336675" y="2395220"/>
            <a:ext cx="655320" cy="460375"/>
          </a:xfrm>
          <a:prstGeom prst="rect">
            <a:avLst/>
          </a:prstGeom>
          <a:noFill/>
        </p:spPr>
        <p:txBody>
          <a:bodyPr wrap="square" rtlCol="0">
            <a:spAutoFit/>
          </a:bodyPr>
          <a:p>
            <a:pPr algn="ctr"/>
            <a:r>
              <a:rPr lang="zh-CN" sz="1200">
                <a:latin typeface="微软雅黑" panose="020B0503020204020204" charset="-122"/>
                <a:ea typeface="微软雅黑" panose="020B0503020204020204" charset="-122"/>
                <a:cs typeface="微软雅黑" panose="020B0503020204020204" charset="-122"/>
              </a:rPr>
              <a:t>微信公众号</a:t>
            </a:r>
            <a:endParaRPr lang="zh-CN" sz="1200">
              <a:latin typeface="微软雅黑" panose="020B0503020204020204" charset="-122"/>
              <a:ea typeface="微软雅黑" panose="020B0503020204020204" charset="-122"/>
              <a:cs typeface="微软雅黑" panose="020B0503020204020204" charset="-122"/>
            </a:endParaRPr>
          </a:p>
        </p:txBody>
      </p:sp>
      <p:sp>
        <p:nvSpPr>
          <p:cNvPr id="90" name="等腰三角形 89"/>
          <p:cNvSpPr/>
          <p:nvPr/>
        </p:nvSpPr>
        <p:spPr>
          <a:xfrm rot="18360000" flipV="1">
            <a:off x="5271135" y="1691640"/>
            <a:ext cx="76200" cy="76200"/>
          </a:xfrm>
          <a:prstGeom prst="triangle">
            <a:avLst/>
          </a:prstGeom>
          <a:solidFill>
            <a:schemeClr val="accent1"/>
          </a:solidFill>
          <a:ln w="12700" cmpd="sng">
            <a:solidFill>
              <a:schemeClr val="accent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91" name="矩形 90"/>
          <p:cNvSpPr/>
          <p:nvPr/>
        </p:nvSpPr>
        <p:spPr>
          <a:xfrm rot="180000">
            <a:off x="1732280" y="1537970"/>
            <a:ext cx="128905" cy="160020"/>
          </a:xfrm>
          <a:prstGeom prst="rect">
            <a:avLst/>
          </a:prstGeom>
          <a:solidFill>
            <a:srgbClr val="FCFCFC"/>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200" dirty="0">
              <a:solidFill>
                <a:schemeClr val="accent1"/>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92" name="等腰三角形 91"/>
          <p:cNvSpPr/>
          <p:nvPr/>
        </p:nvSpPr>
        <p:spPr>
          <a:xfrm rot="14580000" flipV="1">
            <a:off x="1685925" y="1612265"/>
            <a:ext cx="76200" cy="76200"/>
          </a:xfrm>
          <a:prstGeom prst="triangle">
            <a:avLst/>
          </a:prstGeom>
          <a:solidFill>
            <a:schemeClr val="accent1"/>
          </a:solidFill>
          <a:ln w="12700" cmpd="sng">
            <a:solidFill>
              <a:schemeClr val="accent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93" name="矩形 92"/>
          <p:cNvSpPr/>
          <p:nvPr/>
        </p:nvSpPr>
        <p:spPr>
          <a:xfrm rot="180000">
            <a:off x="1995805" y="5189220"/>
            <a:ext cx="128905" cy="160020"/>
          </a:xfrm>
          <a:prstGeom prst="rect">
            <a:avLst/>
          </a:prstGeom>
          <a:solidFill>
            <a:srgbClr val="FCFCFC"/>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200" dirty="0">
              <a:solidFill>
                <a:schemeClr val="accent1"/>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94" name="等腰三角形 93"/>
          <p:cNvSpPr/>
          <p:nvPr/>
        </p:nvSpPr>
        <p:spPr>
          <a:xfrm rot="7200000" flipV="1">
            <a:off x="2105025" y="5288280"/>
            <a:ext cx="76200" cy="76200"/>
          </a:xfrm>
          <a:prstGeom prst="triangle">
            <a:avLst/>
          </a:prstGeom>
          <a:solidFill>
            <a:schemeClr val="accent1"/>
          </a:solidFill>
          <a:ln w="12700" cmpd="sng">
            <a:solidFill>
              <a:schemeClr val="accent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95" name="矩形 94"/>
          <p:cNvSpPr/>
          <p:nvPr/>
        </p:nvSpPr>
        <p:spPr>
          <a:xfrm>
            <a:off x="3354070" y="5382895"/>
            <a:ext cx="882015" cy="361950"/>
          </a:xfrm>
          <a:prstGeom prst="rect">
            <a:avLst/>
          </a:prstGeom>
          <a:solidFill>
            <a:schemeClr val="bg1"/>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r>
              <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rPr>
              <a:t>内容分发</a:t>
            </a:r>
            <a:endPar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96" name="椭圆 95"/>
          <p:cNvSpPr/>
          <p:nvPr/>
        </p:nvSpPr>
        <p:spPr>
          <a:xfrm>
            <a:off x="6085840" y="2656205"/>
            <a:ext cx="1663700" cy="1663700"/>
          </a:xfrm>
          <a:prstGeom prst="ellipse">
            <a:avLst/>
          </a:prstGeom>
          <a:noFill/>
          <a:ln w="12700" cmpd="sng">
            <a:solidFill>
              <a:schemeClr val="accent1">
                <a:lumMod val="60000"/>
                <a:lumOff val="40000"/>
              </a:schemeClr>
            </a:solidFill>
            <a:prstDash val="sysDash"/>
          </a:ln>
          <a:extLst>
            <a:ext uri="{909E8E84-426E-40DD-AFC4-6F175D3DCCD1}">
              <a14:hiddenFill xmlns:a14="http://schemas.microsoft.com/office/drawing/2010/main">
                <a:solidFill>
                  <a:srgbClr val="FCFCFC"/>
                </a:soli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97" name="椭圆 96"/>
          <p:cNvSpPr/>
          <p:nvPr/>
        </p:nvSpPr>
        <p:spPr>
          <a:xfrm>
            <a:off x="5041900" y="1610360"/>
            <a:ext cx="3750945" cy="3755390"/>
          </a:xfrm>
          <a:prstGeom prst="ellipse">
            <a:avLst/>
          </a:prstGeom>
          <a:noFill/>
          <a:ln w="12700" cmpd="sng">
            <a:gradFill>
              <a:gsLst>
                <a:gs pos="15000">
                  <a:schemeClr val="accent1">
                    <a:lumMod val="60000"/>
                    <a:lumOff val="40000"/>
                    <a:alpha val="0"/>
                  </a:schemeClr>
                </a:gs>
                <a:gs pos="100000">
                  <a:schemeClr val="accent1">
                    <a:lumMod val="60000"/>
                    <a:lumOff val="40000"/>
                  </a:schemeClr>
                </a:gs>
              </a:gsLst>
              <a:lin ang="0" scaled="1"/>
            </a:gradFill>
            <a:prstDash val="sysDash"/>
          </a:ln>
          <a:extLst>
            <a:ext uri="{909E8E84-426E-40DD-AFC4-6F175D3DCCD1}">
              <a14:hiddenFill xmlns:a14="http://schemas.microsoft.com/office/drawing/2010/main">
                <a:solidFill>
                  <a:srgbClr val="FCFCFC"/>
                </a:solidFill>
              </a14:hiddenFill>
            </a:ext>
          </a:ex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r>
              <a:rPr lang="zh-CN" altLang="en-US" sz="1945"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rPr>
              <a:t>私域阵地</a:t>
            </a:r>
            <a:endParaRPr lang="zh-CN" altLang="en-US" sz="1945"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endParaRPr lang="zh-CN" altLang="en-US" sz="1945"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lvl="0" algn="ctr">
              <a:buClrTx/>
              <a:buSzTx/>
              <a:buFontTx/>
            </a:pPr>
            <a:endParaRPr lang="zh-CN" altLang="en-US" sz="1945" b="1" dirty="0">
              <a:solidFill>
                <a:schemeClr val="accent1">
                  <a:lumMod val="60000"/>
                  <a:lumOff val="40000"/>
                </a:schemeClr>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98" name="矩形 97"/>
          <p:cNvSpPr/>
          <p:nvPr/>
        </p:nvSpPr>
        <p:spPr>
          <a:xfrm>
            <a:off x="6386195" y="1398270"/>
            <a:ext cx="882015" cy="361950"/>
          </a:xfrm>
          <a:prstGeom prst="rect">
            <a:avLst/>
          </a:prstGeom>
          <a:solidFill>
            <a:schemeClr val="bg1"/>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r>
              <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rPr>
              <a:t>深度互动</a:t>
            </a:r>
            <a:endPar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99" name="矩形 98"/>
          <p:cNvSpPr/>
          <p:nvPr/>
        </p:nvSpPr>
        <p:spPr>
          <a:xfrm>
            <a:off x="8193405" y="2294255"/>
            <a:ext cx="549910" cy="361950"/>
          </a:xfrm>
          <a:prstGeom prst="rect">
            <a:avLst/>
          </a:prstGeom>
          <a:solidFill>
            <a:schemeClr val="bg1"/>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r>
              <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rPr>
              <a:t>用户</a:t>
            </a:r>
            <a:endPar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rPr>
              <a:t>运营</a:t>
            </a:r>
            <a:endPar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00" name="矩形 99"/>
          <p:cNvSpPr/>
          <p:nvPr/>
        </p:nvSpPr>
        <p:spPr>
          <a:xfrm rot="480000">
            <a:off x="8468995" y="3665220"/>
            <a:ext cx="549910" cy="361950"/>
          </a:xfrm>
          <a:prstGeom prst="rect">
            <a:avLst/>
          </a:prstGeom>
          <a:solidFill>
            <a:schemeClr val="bg1"/>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r>
              <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rPr>
              <a:t>课程试听</a:t>
            </a:r>
            <a:endPar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01" name="矩形 100"/>
          <p:cNvSpPr/>
          <p:nvPr/>
        </p:nvSpPr>
        <p:spPr>
          <a:xfrm rot="21060000">
            <a:off x="6985000" y="5059045"/>
            <a:ext cx="1005205" cy="361950"/>
          </a:xfrm>
          <a:prstGeom prst="rect">
            <a:avLst/>
          </a:prstGeom>
          <a:solidFill>
            <a:schemeClr val="bg1"/>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r>
              <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rPr>
              <a:t>社交分享</a:t>
            </a:r>
            <a:endParaRPr lang="zh-CN" altLang="en-US" sz="1200" dirty="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04" name="等腰三角形 103"/>
          <p:cNvSpPr/>
          <p:nvPr/>
        </p:nvSpPr>
        <p:spPr>
          <a:xfrm rot="6420000" flipV="1">
            <a:off x="6142990" y="5177155"/>
            <a:ext cx="76200" cy="76200"/>
          </a:xfrm>
          <a:prstGeom prst="triangle">
            <a:avLst/>
          </a:prstGeom>
          <a:solidFill>
            <a:schemeClr val="accent1">
              <a:lumMod val="60000"/>
              <a:lumOff val="40000"/>
            </a:schemeClr>
          </a:solidFill>
          <a:ln w="12700" cmpd="sng">
            <a:solidFill>
              <a:schemeClr val="accent1">
                <a:lumMod val="60000"/>
                <a:lumOff val="4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06" name="矩形 105"/>
          <p:cNvSpPr/>
          <p:nvPr/>
        </p:nvSpPr>
        <p:spPr>
          <a:xfrm rot="180000">
            <a:off x="8009255" y="1979930"/>
            <a:ext cx="128905" cy="160020"/>
          </a:xfrm>
          <a:prstGeom prst="rect">
            <a:avLst/>
          </a:prstGeom>
          <a:solidFill>
            <a:srgbClr val="FCFCFC"/>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200" dirty="0">
              <a:solidFill>
                <a:schemeClr val="accent1"/>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07" name="等腰三角形 106"/>
          <p:cNvSpPr/>
          <p:nvPr/>
        </p:nvSpPr>
        <p:spPr>
          <a:xfrm rot="18000000" flipV="1">
            <a:off x="7966075" y="1919605"/>
            <a:ext cx="76200" cy="76200"/>
          </a:xfrm>
          <a:prstGeom prst="triangle">
            <a:avLst/>
          </a:prstGeom>
          <a:solidFill>
            <a:schemeClr val="accent1">
              <a:lumMod val="60000"/>
              <a:lumOff val="40000"/>
            </a:schemeClr>
          </a:solidFill>
          <a:ln w="12700" cmpd="sng">
            <a:solidFill>
              <a:schemeClr val="accent1">
                <a:lumMod val="60000"/>
                <a:lumOff val="4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08" name="矩形 107"/>
          <p:cNvSpPr/>
          <p:nvPr/>
        </p:nvSpPr>
        <p:spPr>
          <a:xfrm rot="180000">
            <a:off x="8706485" y="3148330"/>
            <a:ext cx="128905" cy="160020"/>
          </a:xfrm>
          <a:prstGeom prst="rect">
            <a:avLst/>
          </a:prstGeom>
          <a:solidFill>
            <a:srgbClr val="FCFCFC"/>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200" dirty="0">
              <a:solidFill>
                <a:schemeClr val="accent1"/>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09" name="等腰三角形 108"/>
          <p:cNvSpPr/>
          <p:nvPr/>
        </p:nvSpPr>
        <p:spPr>
          <a:xfrm rot="20400000" flipV="1">
            <a:off x="8713470" y="3077210"/>
            <a:ext cx="76200" cy="76200"/>
          </a:xfrm>
          <a:prstGeom prst="triangle">
            <a:avLst/>
          </a:prstGeom>
          <a:solidFill>
            <a:schemeClr val="accent1">
              <a:lumMod val="60000"/>
              <a:lumOff val="40000"/>
            </a:schemeClr>
          </a:solidFill>
          <a:ln w="12700" cmpd="sng">
            <a:solidFill>
              <a:schemeClr val="accent1">
                <a:lumMod val="60000"/>
                <a:lumOff val="4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10" name="矩形 109"/>
          <p:cNvSpPr/>
          <p:nvPr/>
        </p:nvSpPr>
        <p:spPr>
          <a:xfrm rot="180000">
            <a:off x="8356600" y="4570095"/>
            <a:ext cx="128905" cy="160020"/>
          </a:xfrm>
          <a:prstGeom prst="rect">
            <a:avLst/>
          </a:prstGeom>
          <a:solidFill>
            <a:srgbClr val="FCFCFC"/>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200" dirty="0">
              <a:solidFill>
                <a:schemeClr val="accent1"/>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11" name="等腰三角形 110"/>
          <p:cNvSpPr/>
          <p:nvPr/>
        </p:nvSpPr>
        <p:spPr>
          <a:xfrm rot="2100000" flipV="1">
            <a:off x="8422640" y="4535805"/>
            <a:ext cx="76200" cy="76200"/>
          </a:xfrm>
          <a:prstGeom prst="triangle">
            <a:avLst/>
          </a:prstGeom>
          <a:solidFill>
            <a:schemeClr val="accent1">
              <a:lumMod val="60000"/>
              <a:lumOff val="40000"/>
            </a:schemeClr>
          </a:solidFill>
          <a:ln w="12700" cmpd="sng">
            <a:solidFill>
              <a:schemeClr val="accent1">
                <a:lumMod val="60000"/>
                <a:lumOff val="4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12" name="矩形 111"/>
          <p:cNvSpPr/>
          <p:nvPr/>
        </p:nvSpPr>
        <p:spPr>
          <a:xfrm rot="20280000">
            <a:off x="7214870" y="5573395"/>
            <a:ext cx="1005205" cy="361950"/>
          </a:xfrm>
          <a:prstGeom prst="rect">
            <a:avLst/>
          </a:prstGeom>
          <a:solidFill>
            <a:srgbClr val="FCFCFC"/>
          </a:solidFill>
          <a:ln w="12700" cmpd="sng">
            <a:no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r>
              <a:rPr lang="zh-CN" altLang="en-US" sz="1200" b="1" dirty="0">
                <a:solidFill>
                  <a:schemeClr val="accent5"/>
                </a:solidFill>
                <a:effectLst/>
                <a:latin typeface="微软雅黑" panose="020B0503020204020204" charset="-122"/>
                <a:ea typeface="微软雅黑" panose="020B0503020204020204" charset="-122"/>
                <a:cs typeface="微软雅黑" panose="020B0503020204020204" charset="-122"/>
                <a:sym typeface="+mn-ea"/>
              </a:rPr>
              <a:t>裂变拉新</a:t>
            </a:r>
            <a:endParaRPr lang="zh-CN" altLang="en-US" sz="1200" b="1" dirty="0">
              <a:solidFill>
                <a:schemeClr val="accent5"/>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114" name="椭圆 113"/>
          <p:cNvSpPr/>
          <p:nvPr/>
        </p:nvSpPr>
        <p:spPr>
          <a:xfrm>
            <a:off x="1837055" y="2073910"/>
            <a:ext cx="430530" cy="430530"/>
          </a:xfrm>
          <a:prstGeom prst="ellipse">
            <a:avLst/>
          </a:prstGeom>
          <a:solidFill>
            <a:schemeClr val="accent1"/>
          </a:solidFill>
          <a:ln w="12700" cmpd="sng">
            <a:solidFill>
              <a:schemeClr val="bg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15" name="椭圆 114"/>
          <p:cNvSpPr/>
          <p:nvPr/>
        </p:nvSpPr>
        <p:spPr>
          <a:xfrm>
            <a:off x="1069975" y="3339465"/>
            <a:ext cx="430530" cy="430530"/>
          </a:xfrm>
          <a:prstGeom prst="ellipse">
            <a:avLst/>
          </a:prstGeom>
          <a:solidFill>
            <a:schemeClr val="accent1"/>
          </a:solidFill>
          <a:ln w="12700" cmpd="sng">
            <a:solidFill>
              <a:schemeClr val="bg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16" name="椭圆 115"/>
          <p:cNvSpPr/>
          <p:nvPr/>
        </p:nvSpPr>
        <p:spPr>
          <a:xfrm>
            <a:off x="2091055" y="4502150"/>
            <a:ext cx="430530" cy="430530"/>
          </a:xfrm>
          <a:prstGeom prst="ellipse">
            <a:avLst/>
          </a:prstGeom>
          <a:solidFill>
            <a:schemeClr val="accent1"/>
          </a:solidFill>
          <a:ln w="12700" cmpd="sng">
            <a:solidFill>
              <a:schemeClr val="bg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17" name="椭圆 116"/>
          <p:cNvSpPr/>
          <p:nvPr/>
        </p:nvSpPr>
        <p:spPr>
          <a:xfrm>
            <a:off x="3816985" y="4643120"/>
            <a:ext cx="430530" cy="430530"/>
          </a:xfrm>
          <a:prstGeom prst="ellipse">
            <a:avLst/>
          </a:prstGeom>
          <a:solidFill>
            <a:schemeClr val="accent1"/>
          </a:solidFill>
          <a:ln w="12700" cmpd="sng">
            <a:solidFill>
              <a:schemeClr val="bg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18" name="椭圆 117"/>
          <p:cNvSpPr/>
          <p:nvPr/>
        </p:nvSpPr>
        <p:spPr>
          <a:xfrm>
            <a:off x="4497070" y="1964690"/>
            <a:ext cx="430530" cy="430530"/>
          </a:xfrm>
          <a:prstGeom prst="ellipse">
            <a:avLst/>
          </a:prstGeom>
          <a:solidFill>
            <a:schemeClr val="accent1"/>
          </a:solidFill>
          <a:ln w="12700" cmpd="sng">
            <a:solidFill>
              <a:schemeClr val="bg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cxnSp>
        <p:nvCxnSpPr>
          <p:cNvPr id="119" name="直接箭头连接符 118"/>
          <p:cNvCxnSpPr/>
          <p:nvPr/>
        </p:nvCxnSpPr>
        <p:spPr>
          <a:xfrm flipV="1">
            <a:off x="5657215" y="4411345"/>
            <a:ext cx="0" cy="793750"/>
          </a:xfrm>
          <a:prstGeom prst="straightConnector1">
            <a:avLst/>
          </a:prstGeom>
          <a:ln>
            <a:solidFill>
              <a:schemeClr val="accent5"/>
            </a:solidFill>
            <a:prstDash val="sysDash"/>
            <a:tailEnd type="triangle"/>
          </a:ln>
        </p:spPr>
        <p:style>
          <a:lnRef idx="2">
            <a:schemeClr val="accent1"/>
          </a:lnRef>
          <a:fillRef idx="0">
            <a:srgbClr val="FFFFFF"/>
          </a:fillRef>
          <a:effectRef idx="0">
            <a:srgbClr val="FFFFFF"/>
          </a:effectRef>
          <a:fontRef idx="minor">
            <a:schemeClr val="tx1"/>
          </a:fontRef>
        </p:style>
      </p:cxnSp>
      <p:cxnSp>
        <p:nvCxnSpPr>
          <p:cNvPr id="120" name="直接箭头连接符 119"/>
          <p:cNvCxnSpPr/>
          <p:nvPr/>
        </p:nvCxnSpPr>
        <p:spPr>
          <a:xfrm>
            <a:off x="5664200" y="2115820"/>
            <a:ext cx="0" cy="438150"/>
          </a:xfrm>
          <a:prstGeom prst="straightConnector1">
            <a:avLst/>
          </a:prstGeom>
          <a:ln>
            <a:solidFill>
              <a:schemeClr val="accent5"/>
            </a:solidFill>
            <a:prstDash val="sysDash"/>
            <a:tailEnd type="triangle"/>
          </a:ln>
        </p:spPr>
        <p:style>
          <a:lnRef idx="2">
            <a:schemeClr val="accent1"/>
          </a:lnRef>
          <a:fillRef idx="0">
            <a:srgbClr val="FFFFFF"/>
          </a:fillRef>
          <a:effectRef idx="0">
            <a:srgbClr val="FFFFFF"/>
          </a:effectRef>
          <a:fontRef idx="minor">
            <a:schemeClr val="tx1"/>
          </a:fontRef>
        </p:style>
      </p:cxnSp>
      <p:sp>
        <p:nvSpPr>
          <p:cNvPr id="121" name="椭圆 120"/>
          <p:cNvSpPr/>
          <p:nvPr/>
        </p:nvSpPr>
        <p:spPr>
          <a:xfrm>
            <a:off x="6907530" y="2034540"/>
            <a:ext cx="505460" cy="505460"/>
          </a:xfrm>
          <a:prstGeom prst="ellipse">
            <a:avLst/>
          </a:prstGeom>
          <a:solidFill>
            <a:schemeClr val="accent1">
              <a:lumMod val="60000"/>
              <a:lumOff val="40000"/>
            </a:schemeClr>
          </a:solidFill>
          <a:ln w="12700" cmpd="sng">
            <a:solidFill>
              <a:schemeClr val="bg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en-US" altLang="zh-CN"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22" name="椭圆 121"/>
          <p:cNvSpPr/>
          <p:nvPr/>
        </p:nvSpPr>
        <p:spPr>
          <a:xfrm>
            <a:off x="7672070" y="2599690"/>
            <a:ext cx="505460" cy="505460"/>
          </a:xfrm>
          <a:prstGeom prst="ellipse">
            <a:avLst/>
          </a:prstGeom>
          <a:solidFill>
            <a:schemeClr val="accent1">
              <a:lumMod val="60000"/>
              <a:lumOff val="40000"/>
            </a:schemeClr>
          </a:solidFill>
          <a:ln w="12700" cmpd="sng">
            <a:solidFill>
              <a:schemeClr val="bg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en-US" altLang="zh-CN"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23" name="椭圆 122"/>
          <p:cNvSpPr/>
          <p:nvPr/>
        </p:nvSpPr>
        <p:spPr>
          <a:xfrm>
            <a:off x="7863840" y="3358515"/>
            <a:ext cx="505460" cy="505460"/>
          </a:xfrm>
          <a:prstGeom prst="ellipse">
            <a:avLst/>
          </a:prstGeom>
          <a:solidFill>
            <a:schemeClr val="accent1">
              <a:lumMod val="60000"/>
              <a:lumOff val="40000"/>
            </a:schemeClr>
          </a:solidFill>
          <a:ln w="12700" cmpd="sng">
            <a:solidFill>
              <a:schemeClr val="bg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en-US" altLang="zh-CN"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24" name="椭圆 123"/>
          <p:cNvSpPr/>
          <p:nvPr/>
        </p:nvSpPr>
        <p:spPr>
          <a:xfrm>
            <a:off x="7500620" y="4124960"/>
            <a:ext cx="505460" cy="505460"/>
          </a:xfrm>
          <a:prstGeom prst="ellipse">
            <a:avLst/>
          </a:prstGeom>
          <a:solidFill>
            <a:schemeClr val="accent1">
              <a:lumMod val="60000"/>
              <a:lumOff val="40000"/>
            </a:schemeClr>
          </a:solidFill>
          <a:ln w="12700" cmpd="sng">
            <a:solidFill>
              <a:schemeClr val="bg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en-US" altLang="zh-CN"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25" name="椭圆 124"/>
          <p:cNvSpPr/>
          <p:nvPr/>
        </p:nvSpPr>
        <p:spPr>
          <a:xfrm>
            <a:off x="6678295" y="4427220"/>
            <a:ext cx="505460" cy="505460"/>
          </a:xfrm>
          <a:prstGeom prst="ellipse">
            <a:avLst/>
          </a:prstGeom>
          <a:solidFill>
            <a:schemeClr val="accent1">
              <a:lumMod val="60000"/>
              <a:lumOff val="40000"/>
            </a:schemeClr>
          </a:solidFill>
          <a:ln w="12700" cmpd="sng">
            <a:solidFill>
              <a:schemeClr val="bg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en-US" altLang="zh-CN"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26" name="椭圆 125"/>
          <p:cNvSpPr/>
          <p:nvPr/>
        </p:nvSpPr>
        <p:spPr>
          <a:xfrm>
            <a:off x="5723255" y="4063365"/>
            <a:ext cx="505460" cy="505460"/>
          </a:xfrm>
          <a:prstGeom prst="ellipse">
            <a:avLst/>
          </a:prstGeom>
          <a:solidFill>
            <a:schemeClr val="accent1">
              <a:lumMod val="60000"/>
              <a:lumOff val="40000"/>
            </a:schemeClr>
          </a:solidFill>
          <a:ln w="12700" cmpd="sng">
            <a:solidFill>
              <a:schemeClr val="bg1"/>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en-US" altLang="zh-CN"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27" name="文本框 126"/>
          <p:cNvSpPr txBox="1"/>
          <p:nvPr/>
        </p:nvSpPr>
        <p:spPr>
          <a:xfrm>
            <a:off x="5982970" y="2271395"/>
            <a:ext cx="476250" cy="398780"/>
          </a:xfrm>
          <a:prstGeom prst="rect">
            <a:avLst/>
          </a:prstGeom>
          <a:noFill/>
        </p:spPr>
        <p:txBody>
          <a:bodyPr wrap="square" rtlCol="0">
            <a:spAutoFit/>
          </a:bodyPr>
          <a:p>
            <a:pPr algn="ctr"/>
            <a:r>
              <a:rPr lang="zh-CN" sz="1000">
                <a:solidFill>
                  <a:schemeClr val="bg1"/>
                </a:solidFill>
                <a:latin typeface="微软雅黑" panose="020B0503020204020204" charset="-122"/>
                <a:ea typeface="微软雅黑" panose="020B0503020204020204" charset="-122"/>
                <a:cs typeface="微软雅黑" panose="020B0503020204020204" charset="-122"/>
              </a:rPr>
              <a:t>小程序</a:t>
            </a:r>
            <a:endParaRPr lang="zh-CN"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0" name="文本框 129"/>
          <p:cNvSpPr txBox="1"/>
          <p:nvPr/>
        </p:nvSpPr>
        <p:spPr>
          <a:xfrm>
            <a:off x="6922135" y="2087880"/>
            <a:ext cx="476250" cy="398780"/>
          </a:xfrm>
          <a:prstGeom prst="rect">
            <a:avLst/>
          </a:prstGeom>
          <a:noFill/>
        </p:spPr>
        <p:txBody>
          <a:bodyPr wrap="square" rtlCol="0">
            <a:spAutoFit/>
          </a:bodyPr>
          <a:p>
            <a:pPr algn="ctr"/>
            <a:r>
              <a:rPr lang="zh-CN" sz="1000">
                <a:solidFill>
                  <a:schemeClr val="bg1"/>
                </a:solidFill>
                <a:latin typeface="微软雅黑" panose="020B0503020204020204" charset="-122"/>
                <a:ea typeface="微软雅黑" panose="020B0503020204020204" charset="-122"/>
                <a:cs typeface="微软雅黑" panose="020B0503020204020204" charset="-122"/>
              </a:rPr>
              <a:t>知识店铺</a:t>
            </a:r>
            <a:endParaRPr lang="zh-CN"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1" name="文本框 130"/>
          <p:cNvSpPr txBox="1"/>
          <p:nvPr/>
        </p:nvSpPr>
        <p:spPr>
          <a:xfrm>
            <a:off x="7701280" y="2656205"/>
            <a:ext cx="476250" cy="398780"/>
          </a:xfrm>
          <a:prstGeom prst="rect">
            <a:avLst/>
          </a:prstGeom>
          <a:noFill/>
        </p:spPr>
        <p:txBody>
          <a:bodyPr wrap="square" rtlCol="0">
            <a:spAutoFit/>
          </a:bodyPr>
          <a:p>
            <a:pPr algn="ctr"/>
            <a:r>
              <a:rPr lang="zh-CN" sz="1000">
                <a:solidFill>
                  <a:schemeClr val="bg1"/>
                </a:solidFill>
                <a:latin typeface="微软雅黑" panose="020B0503020204020204" charset="-122"/>
                <a:ea typeface="微软雅黑" panose="020B0503020204020204" charset="-122"/>
                <a:cs typeface="微软雅黑" panose="020B0503020204020204" charset="-122"/>
              </a:rPr>
              <a:t>品牌</a:t>
            </a:r>
            <a:r>
              <a:rPr lang="en-US" altLang="zh-CN" sz="1000">
                <a:solidFill>
                  <a:schemeClr val="bg1"/>
                </a:solidFill>
                <a:latin typeface="微软雅黑" panose="020B0503020204020204" charset="-122"/>
                <a:ea typeface="微软雅黑" panose="020B0503020204020204" charset="-122"/>
                <a:cs typeface="微软雅黑" panose="020B0503020204020204" charset="-122"/>
              </a:rPr>
              <a:t>APP</a:t>
            </a:r>
            <a:endParaRPr lang="en-US" altLang="zh-CN"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4" name="文本框 133"/>
          <p:cNvSpPr txBox="1"/>
          <p:nvPr/>
        </p:nvSpPr>
        <p:spPr>
          <a:xfrm>
            <a:off x="2506345" y="4658360"/>
            <a:ext cx="795020" cy="460375"/>
          </a:xfrm>
          <a:prstGeom prst="rect">
            <a:avLst/>
          </a:prstGeom>
          <a:noFill/>
        </p:spPr>
        <p:txBody>
          <a:bodyPr wrap="square" rtlCol="0">
            <a:spAutoFit/>
          </a:bodyPr>
          <a:p>
            <a:pPr algn="ctr"/>
            <a:r>
              <a:rPr lang="zh-CN" sz="1200">
                <a:latin typeface="微软雅黑" panose="020B0503020204020204" charset="-122"/>
                <a:ea typeface="微软雅黑" panose="020B0503020204020204" charset="-122"/>
                <a:cs typeface="微软雅黑" panose="020B0503020204020204" charset="-122"/>
              </a:rPr>
              <a:t>得到等课程平台</a:t>
            </a:r>
            <a:endParaRPr lang="zh-CN" sz="1200">
              <a:latin typeface="微软雅黑" panose="020B0503020204020204" charset="-122"/>
              <a:ea typeface="微软雅黑" panose="020B0503020204020204" charset="-122"/>
              <a:cs typeface="微软雅黑" panose="020B0503020204020204" charset="-122"/>
            </a:endParaRPr>
          </a:p>
        </p:txBody>
      </p:sp>
      <p:sp>
        <p:nvSpPr>
          <p:cNvPr id="135" name="矩形 134"/>
          <p:cNvSpPr/>
          <p:nvPr/>
        </p:nvSpPr>
        <p:spPr>
          <a:xfrm>
            <a:off x="724535" y="6007735"/>
            <a:ext cx="7851140" cy="534670"/>
          </a:xfrm>
          <a:prstGeom prst="rect">
            <a:avLst/>
          </a:prstGeom>
          <a:solidFill>
            <a:schemeClr val="accent5">
              <a:alpha val="20000"/>
            </a:schemeClr>
          </a:solidFill>
          <a:ln w="12700" cmpd="sng">
            <a:solidFill>
              <a:schemeClr val="accent5">
                <a:alpha val="70000"/>
              </a:schemeClr>
            </a:solidFill>
            <a:prstDash val="solid"/>
          </a:ln>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r>
              <a:rPr lang="zh-CN" altLang="en-US" sz="1945" dirty="0">
                <a:solidFill>
                  <a:schemeClr val="accent5"/>
                </a:solidFill>
                <a:effectLst/>
                <a:latin typeface="微软雅黑" panose="020B0503020204020204" charset="-122"/>
                <a:ea typeface="微软雅黑" panose="020B0503020204020204" charset="-122"/>
                <a:cs typeface="微软雅黑" panose="020B0503020204020204" charset="-122"/>
                <a:sym typeface="+mn-ea"/>
              </a:rPr>
              <a:t>公域做广度</a:t>
            </a:r>
            <a:r>
              <a:rPr lang="en-US" altLang="zh-CN" sz="1945" dirty="0">
                <a:solidFill>
                  <a:schemeClr val="accent5"/>
                </a:solidFill>
                <a:effectLst/>
                <a:latin typeface="微软雅黑" panose="020B0503020204020204" charset="-122"/>
                <a:ea typeface="微软雅黑" panose="020B0503020204020204" charset="-122"/>
                <a:cs typeface="微软雅黑" panose="020B0503020204020204" charset="-122"/>
                <a:sym typeface="+mn-ea"/>
              </a:rPr>
              <a:t> + </a:t>
            </a:r>
            <a:r>
              <a:rPr lang="zh-CN" altLang="en-US" sz="1945" dirty="0">
                <a:solidFill>
                  <a:schemeClr val="accent5"/>
                </a:solidFill>
                <a:effectLst/>
                <a:latin typeface="微软雅黑" panose="020B0503020204020204" charset="-122"/>
                <a:ea typeface="微软雅黑" panose="020B0503020204020204" charset="-122"/>
                <a:cs typeface="微软雅黑" panose="020B0503020204020204" charset="-122"/>
                <a:sym typeface="+mn-ea"/>
              </a:rPr>
              <a:t>私域做深度</a:t>
            </a:r>
            <a:r>
              <a:rPr lang="en-US" altLang="zh-CN" sz="1945" dirty="0">
                <a:solidFill>
                  <a:schemeClr val="accent5"/>
                </a:solidFill>
                <a:effectLst/>
                <a:latin typeface="微软雅黑" panose="020B0503020204020204" charset="-122"/>
                <a:ea typeface="微软雅黑" panose="020B0503020204020204" charset="-122"/>
                <a:cs typeface="微软雅黑" panose="020B0503020204020204" charset="-122"/>
                <a:sym typeface="+mn-ea"/>
              </a:rPr>
              <a:t> + </a:t>
            </a:r>
            <a:r>
              <a:rPr lang="zh-CN" altLang="en-US" sz="1945" dirty="0">
                <a:solidFill>
                  <a:schemeClr val="accent5"/>
                </a:solidFill>
                <a:effectLst/>
                <a:latin typeface="微软雅黑" panose="020B0503020204020204" charset="-122"/>
                <a:ea typeface="微软雅黑" panose="020B0503020204020204" charset="-122"/>
                <a:cs typeface="微软雅黑" panose="020B0503020204020204" charset="-122"/>
                <a:sym typeface="+mn-ea"/>
              </a:rPr>
              <a:t>数据做连接</a:t>
            </a:r>
            <a:r>
              <a:rPr lang="en-US" altLang="zh-CN" sz="1945" dirty="0">
                <a:solidFill>
                  <a:schemeClr val="accent5"/>
                </a:solidFill>
                <a:effectLst/>
                <a:latin typeface="微软雅黑" panose="020B0503020204020204" charset="-122"/>
                <a:ea typeface="微软雅黑" panose="020B0503020204020204" charset="-122"/>
                <a:cs typeface="微软雅黑" panose="020B0503020204020204" charset="-122"/>
                <a:sym typeface="+mn-ea"/>
              </a:rPr>
              <a:t> </a:t>
            </a:r>
            <a:r>
              <a:rPr lang="en-US" altLang="zh-CN" sz="1945" b="1" dirty="0">
                <a:solidFill>
                  <a:schemeClr val="accent5"/>
                </a:solidFill>
                <a:effectLst/>
                <a:latin typeface="微软雅黑" panose="020B0503020204020204" charset="-122"/>
                <a:ea typeface="微软雅黑" panose="020B0503020204020204" charset="-122"/>
                <a:cs typeface="微软雅黑" panose="020B0503020204020204" charset="-122"/>
                <a:sym typeface="+mn-ea"/>
              </a:rPr>
              <a:t>= </a:t>
            </a:r>
            <a:r>
              <a:rPr lang="zh-CN" altLang="en-US" sz="1945" b="1" dirty="0">
                <a:solidFill>
                  <a:schemeClr val="accent5"/>
                </a:solidFill>
                <a:effectLst/>
                <a:latin typeface="微软雅黑" panose="020B0503020204020204" charset="-122"/>
                <a:ea typeface="微软雅黑" panose="020B0503020204020204" charset="-122"/>
                <a:cs typeface="微软雅黑" panose="020B0503020204020204" charset="-122"/>
                <a:sym typeface="+mn-ea"/>
              </a:rPr>
              <a:t>知识付费最佳运营实践</a:t>
            </a:r>
            <a:endParaRPr lang="zh-CN" altLang="en-US" sz="1945" b="1" dirty="0">
              <a:solidFill>
                <a:schemeClr val="accent5"/>
              </a:solidFill>
              <a:effectLst/>
              <a:latin typeface="微软雅黑" panose="020B0503020204020204" charset="-122"/>
              <a:ea typeface="微软雅黑" panose="020B0503020204020204" charset="-122"/>
              <a:cs typeface="微软雅黑" panose="020B0503020204020204" charset="-122"/>
              <a:sym typeface="+mn-ea"/>
            </a:endParaRPr>
          </a:p>
        </p:txBody>
      </p:sp>
      <p:grpSp>
        <p:nvGrpSpPr>
          <p:cNvPr id="2" name="组合 1"/>
          <p:cNvGrpSpPr/>
          <p:nvPr/>
        </p:nvGrpSpPr>
        <p:grpSpPr>
          <a:xfrm>
            <a:off x="9230360" y="1202690"/>
            <a:ext cx="2647950" cy="5340350"/>
            <a:chOff x="14316" y="1894"/>
            <a:chExt cx="4170" cy="8410"/>
          </a:xfrm>
        </p:grpSpPr>
        <p:sp>
          <p:nvSpPr>
            <p:cNvPr id="136" name="矩形 135"/>
            <p:cNvSpPr/>
            <p:nvPr/>
          </p:nvSpPr>
          <p:spPr>
            <a:xfrm>
              <a:off x="14316" y="1895"/>
              <a:ext cx="4170" cy="8409"/>
            </a:xfrm>
            <a:prstGeom prst="rect">
              <a:avLst/>
            </a:prstGeom>
            <a:solidFill>
              <a:schemeClr val="accent1">
                <a:lumMod val="20000"/>
                <a:lumOff val="80000"/>
                <a:alpha val="20000"/>
              </a:schemeClr>
            </a:solidFill>
            <a:ln w="12700" cmpd="sng">
              <a:solidFill>
                <a:schemeClr val="accent1">
                  <a:alpha val="5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137" name="文本框 136"/>
            <p:cNvSpPr txBox="1"/>
            <p:nvPr/>
          </p:nvSpPr>
          <p:spPr>
            <a:xfrm>
              <a:off x="14555" y="3504"/>
              <a:ext cx="3802" cy="1888"/>
            </a:xfrm>
            <a:prstGeom prst="rect">
              <a:avLst/>
            </a:prstGeom>
            <a:noFill/>
          </p:spPr>
          <p:txBody>
            <a:bodyPr wrap="square" rtlCol="0">
              <a:spAutoFit/>
            </a:bodyPr>
            <a:p>
              <a:pPr marL="285750" indent="-285750">
                <a:buFont typeface="Wingdings" panose="05000000000000000000" charset="0"/>
                <a:buChar char="u"/>
              </a:pP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公域内容矩阵：</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a:p>
              <a:pPr indent="0">
                <a:buFont typeface="微软雅黑" panose="020B0503020204020204" charset="-122"/>
                <a:buNone/>
              </a:pPr>
              <a:endParaRPr lang="zh-CN" altLang="en-US" sz="500" b="1">
                <a:latin typeface="微软雅黑" panose="020B0503020204020204" charset="-122"/>
                <a:ea typeface="微软雅黑" panose="020B0503020204020204" charset="-122"/>
                <a:cs typeface="微软雅黑" panose="020B0503020204020204" charset="-122"/>
              </a:endParaRPr>
            </a:p>
            <a:p>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①抖音发布「</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3</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分钟职场干货」短视频，引流转化</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9.9</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元体验课；</a:t>
              </a:r>
              <a:endParaRPr lang="zh-CN" altLang="en-US" sz="1200">
                <a:solidFill>
                  <a:schemeClr val="accent6"/>
                </a:solidFill>
                <a:latin typeface="微软雅黑" panose="020B0503020204020204" charset="-122"/>
                <a:ea typeface="微软雅黑" panose="020B0503020204020204" charset="-122"/>
                <a:cs typeface="微软雅黑" panose="020B0503020204020204" charset="-122"/>
              </a:endParaRPr>
            </a:p>
            <a:p>
              <a:endParaRPr lang="zh-CN" altLang="en-US" sz="500">
                <a:solidFill>
                  <a:schemeClr val="accent6"/>
                </a:solidFill>
                <a:latin typeface="微软雅黑" panose="020B0503020204020204" charset="-122"/>
                <a:ea typeface="微软雅黑" panose="020B0503020204020204" charset="-122"/>
                <a:cs typeface="微软雅黑" panose="020B0503020204020204" charset="-122"/>
              </a:endParaRPr>
            </a:p>
            <a:p>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②知乎回答「如何升职加薪」收藏量</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10</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万</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，植入系统课链接</a:t>
              </a:r>
              <a:r>
                <a:rPr lang="zh-CN" sz="1200">
                  <a:solidFill>
                    <a:schemeClr val="accent6"/>
                  </a:solidFill>
                  <a:latin typeface="微软雅黑" panose="020B0503020204020204" charset="-122"/>
                  <a:ea typeface="微软雅黑" panose="020B0503020204020204" charset="-122"/>
                  <a:cs typeface="微软雅黑" panose="020B0503020204020204" charset="-122"/>
                </a:rPr>
                <a:t>。</a:t>
              </a:r>
              <a:endParaRPr lang="zh-CN" sz="1400">
                <a:latin typeface="微软雅黑" panose="020B0503020204020204" charset="-122"/>
                <a:ea typeface="微软雅黑" panose="020B0503020204020204" charset="-122"/>
                <a:cs typeface="微软雅黑" panose="020B0503020204020204" charset="-122"/>
              </a:endParaRPr>
            </a:p>
          </p:txBody>
        </p:sp>
        <p:sp>
          <p:nvSpPr>
            <p:cNvPr id="138" name="文本框 137"/>
            <p:cNvSpPr txBox="1"/>
            <p:nvPr/>
          </p:nvSpPr>
          <p:spPr>
            <a:xfrm>
              <a:off x="14555" y="5822"/>
              <a:ext cx="3723" cy="1888"/>
            </a:xfrm>
            <a:prstGeom prst="rect">
              <a:avLst/>
            </a:prstGeom>
            <a:noFill/>
          </p:spPr>
          <p:txBody>
            <a:bodyPr wrap="square" rtlCol="0">
              <a:spAutoFit/>
            </a:bodyPr>
            <a:p>
              <a:pPr marL="285750" indent="-285750">
                <a:buFont typeface="Wingdings" panose="05000000000000000000" charset="0"/>
                <a:buChar char="u"/>
              </a:pP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私域深度服务：</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a:p>
              <a:pPr indent="0">
                <a:buFont typeface="微软雅黑" panose="020B0503020204020204" charset="-122"/>
                <a:buNone/>
              </a:pPr>
              <a:endParaRPr lang="zh-CN" altLang="en-US" sz="500" b="1">
                <a:latin typeface="微软雅黑" panose="020B0503020204020204" charset="-122"/>
                <a:ea typeface="微软雅黑" panose="020B0503020204020204" charset="-122"/>
                <a:cs typeface="微软雅黑" panose="020B0503020204020204" charset="-122"/>
              </a:endParaRPr>
            </a:p>
            <a:p>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①企业微信社群「</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21</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天成长计划」</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每日打卡</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导师晚</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8</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点答疑</a:t>
              </a:r>
              <a:r>
                <a:rPr lang="zh-CN" sz="1200">
                  <a:solidFill>
                    <a:schemeClr val="accent6"/>
                  </a:solidFill>
                  <a:latin typeface="微软雅黑" panose="020B0503020204020204" charset="-122"/>
                  <a:ea typeface="微软雅黑" panose="020B0503020204020204" charset="-122"/>
                  <a:cs typeface="微软雅黑" panose="020B0503020204020204" charset="-122"/>
                </a:rPr>
                <a:t>；</a:t>
              </a:r>
              <a:endParaRPr lang="zh-CN" sz="1200">
                <a:solidFill>
                  <a:schemeClr val="accent6"/>
                </a:solidFill>
                <a:latin typeface="微软雅黑" panose="020B0503020204020204" charset="-122"/>
                <a:ea typeface="微软雅黑" panose="020B0503020204020204" charset="-122"/>
                <a:cs typeface="微软雅黑" panose="020B0503020204020204" charset="-122"/>
              </a:endParaRPr>
            </a:p>
            <a:p>
              <a:endParaRPr lang="en-US" altLang="zh-CN" sz="500">
                <a:solidFill>
                  <a:schemeClr val="accent6"/>
                </a:solidFill>
                <a:latin typeface="微软雅黑" panose="020B0503020204020204" charset="-122"/>
                <a:ea typeface="微软雅黑" panose="020B0503020204020204" charset="-122"/>
                <a:cs typeface="微软雅黑" panose="020B0503020204020204" charset="-122"/>
              </a:endParaRPr>
            </a:p>
            <a:p>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②会员分层权益：普通会员免费直播，年费会员：</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1v1</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职业规划</a:t>
              </a:r>
              <a:r>
                <a:rPr lang="zh-CN" sz="1200">
                  <a:solidFill>
                    <a:schemeClr val="accent6"/>
                  </a:solidFill>
                  <a:latin typeface="微软雅黑" panose="020B0503020204020204" charset="-122"/>
                  <a:ea typeface="微软雅黑" panose="020B0503020204020204" charset="-122"/>
                  <a:cs typeface="微软雅黑" panose="020B0503020204020204" charset="-122"/>
                </a:rPr>
                <a:t>。</a:t>
              </a:r>
              <a:endParaRPr lang="en-US" altLang="zh-CN" sz="1400">
                <a:latin typeface="微软雅黑" panose="020B0503020204020204" charset="-122"/>
                <a:ea typeface="微软雅黑" panose="020B0503020204020204" charset="-122"/>
                <a:cs typeface="微软雅黑" panose="020B0503020204020204" charset="-122"/>
              </a:endParaRPr>
            </a:p>
          </p:txBody>
        </p:sp>
        <p:sp>
          <p:nvSpPr>
            <p:cNvPr id="139" name="文本框 138"/>
            <p:cNvSpPr txBox="1"/>
            <p:nvPr/>
          </p:nvSpPr>
          <p:spPr>
            <a:xfrm>
              <a:off x="14555" y="8140"/>
              <a:ext cx="3723" cy="1888"/>
            </a:xfrm>
            <a:prstGeom prst="rect">
              <a:avLst/>
            </a:prstGeom>
            <a:noFill/>
          </p:spPr>
          <p:txBody>
            <a:bodyPr wrap="square" rtlCol="0">
              <a:spAutoFit/>
            </a:bodyPr>
            <a:p>
              <a:pPr marL="285750" indent="-285750">
                <a:buFont typeface="Wingdings" panose="05000000000000000000" charset="0"/>
                <a:buChar char="u"/>
              </a:pP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数据化运营：</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a:p>
              <a:pPr indent="0">
                <a:buFont typeface="微软雅黑" panose="020B0503020204020204" charset="-122"/>
                <a:buNone/>
              </a:pPr>
              <a:endParaRPr lang="zh-CN" altLang="en-US" sz="500" b="1">
                <a:latin typeface="微软雅黑" panose="020B0503020204020204" charset="-122"/>
                <a:ea typeface="微软雅黑" panose="020B0503020204020204" charset="-122"/>
                <a:cs typeface="微软雅黑" panose="020B0503020204020204" charset="-122"/>
              </a:endParaRPr>
            </a:p>
            <a:p>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①</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CDP</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识别「高潜力用户」，推送</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4999</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元私教课</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a:t>
              </a:r>
              <a:endParaRPr lang="en-US" altLang="zh-CN" sz="1200">
                <a:solidFill>
                  <a:schemeClr val="accent6"/>
                </a:solidFill>
                <a:latin typeface="微软雅黑" panose="020B0503020204020204" charset="-122"/>
                <a:ea typeface="微软雅黑" panose="020B0503020204020204" charset="-122"/>
                <a:cs typeface="微软雅黑" panose="020B0503020204020204" charset="-122"/>
              </a:endParaRPr>
            </a:p>
            <a:p>
              <a:endParaRPr lang="zh-CN" altLang="en-US" sz="500">
                <a:solidFill>
                  <a:schemeClr val="accent6"/>
                </a:solidFill>
                <a:latin typeface="微软雅黑" panose="020B0503020204020204" charset="-122"/>
                <a:ea typeface="微软雅黑" panose="020B0503020204020204" charset="-122"/>
                <a:cs typeface="微软雅黑" panose="020B0503020204020204" charset="-122"/>
              </a:endParaRPr>
            </a:p>
            <a:p>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②</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A/B</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测试社群话术，优化后</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7</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日留存率从</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40%</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提升至</a:t>
              </a:r>
              <a:r>
                <a:rPr lang="en-US" altLang="zh-CN" sz="1200">
                  <a:solidFill>
                    <a:schemeClr val="accent6"/>
                  </a:solidFill>
                  <a:latin typeface="微软雅黑" panose="020B0503020204020204" charset="-122"/>
                  <a:ea typeface="微软雅黑" panose="020B0503020204020204" charset="-122"/>
                  <a:cs typeface="微软雅黑" panose="020B0503020204020204" charset="-122"/>
                </a:rPr>
                <a:t>58%</a:t>
              </a:r>
              <a:r>
                <a:rPr lang="zh-CN" altLang="en-US" sz="1200">
                  <a:solidFill>
                    <a:schemeClr val="accent6"/>
                  </a:solidFill>
                  <a:latin typeface="微软雅黑" panose="020B0503020204020204" charset="-122"/>
                  <a:ea typeface="微软雅黑" panose="020B0503020204020204" charset="-122"/>
                  <a:cs typeface="微软雅黑" panose="020B0503020204020204" charset="-122"/>
                </a:rPr>
                <a:t>。</a:t>
              </a:r>
              <a:endParaRPr lang="zh-CN" altLang="en-US" sz="120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140" name="矩形 139"/>
            <p:cNvSpPr/>
            <p:nvPr/>
          </p:nvSpPr>
          <p:spPr>
            <a:xfrm>
              <a:off x="14316" y="1894"/>
              <a:ext cx="4170" cy="1271"/>
            </a:xfrm>
            <a:prstGeom prst="rect">
              <a:avLst/>
            </a:prstGeom>
            <a:gradFill flip="none" rotWithShape="1">
              <a:gsLst>
                <a:gs pos="0">
                  <a:schemeClr val="accent1"/>
                </a:gs>
                <a:gs pos="100000">
                  <a:schemeClr val="accent1">
                    <a:lumMod val="80000"/>
                    <a:lumOff val="20000"/>
                  </a:schemeClr>
                </a:gs>
              </a:gsLst>
              <a:lin ang="16200000"/>
            </a:gradFill>
            <a:ln w="12700" cmpd="sng">
              <a:solidFill>
                <a:schemeClr val="accent1">
                  <a:alpha val="50000"/>
                </a:schemeClr>
              </a:solidFill>
              <a:prstDash val="solid"/>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r>
                <a:rPr lang="zh-CN" altLang="en-US" sz="1945" b="1" dirty="0">
                  <a:solidFill>
                    <a:schemeClr val="bg1"/>
                  </a:solidFill>
                  <a:effectLst/>
                  <a:latin typeface="微软雅黑" panose="020B0503020204020204" charset="-122"/>
                  <a:ea typeface="微软雅黑" panose="020B0503020204020204" charset="-122"/>
                  <a:cs typeface="微软雅黑" panose="020B0503020204020204" charset="-122"/>
                  <a:sym typeface="+mn-ea"/>
                </a:rPr>
                <a:t>标杆案例：某职场教育品牌运营实践</a:t>
              </a:r>
              <a:endParaRPr lang="zh-CN" altLang="en-US" sz="1945" b="1" dirty="0">
                <a:solidFill>
                  <a:schemeClr val="bg1"/>
                </a:solidFill>
                <a:effectLst/>
                <a:latin typeface="微软雅黑" panose="020B0503020204020204" charset="-122"/>
                <a:ea typeface="微软雅黑" panose="020B0503020204020204" charset="-122"/>
                <a:cs typeface="微软雅黑" panose="020B0503020204020204" charset="-122"/>
                <a:sym typeface="+mn-ea"/>
              </a:endParaRPr>
            </a:p>
          </p:txBody>
        </p:sp>
      </p:grpSp>
      <p:pic>
        <p:nvPicPr>
          <p:cNvPr id="3" name="图片 2" descr="知乎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087370" y="1778635"/>
            <a:ext cx="244475" cy="244475"/>
          </a:xfrm>
          <a:prstGeom prst="rect">
            <a:avLst/>
          </a:prstGeom>
        </p:spPr>
      </p:pic>
      <p:pic>
        <p:nvPicPr>
          <p:cNvPr id="6" name="图片 5" descr="微信"/>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911350" y="2127250"/>
            <a:ext cx="306705" cy="306705"/>
          </a:xfrm>
          <a:prstGeom prst="rect">
            <a:avLst/>
          </a:prstGeom>
        </p:spPr>
      </p:pic>
      <p:pic>
        <p:nvPicPr>
          <p:cNvPr id="8" name="图片 7" descr="钉钉"/>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584065" y="2033905"/>
            <a:ext cx="283845" cy="283845"/>
          </a:xfrm>
          <a:prstGeom prst="rect">
            <a:avLst/>
          </a:prstGeom>
        </p:spPr>
      </p:pic>
      <p:pic>
        <p:nvPicPr>
          <p:cNvPr id="9" name="图片 8" descr="得到"/>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2162810" y="4643120"/>
            <a:ext cx="287020" cy="136525"/>
          </a:xfrm>
          <a:prstGeom prst="rect">
            <a:avLst/>
          </a:prstGeom>
        </p:spPr>
      </p:pic>
      <p:pic>
        <p:nvPicPr>
          <p:cNvPr id="11" name="图片 10" descr="b站"/>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3909695" y="4733290"/>
            <a:ext cx="242570" cy="232410"/>
          </a:xfrm>
          <a:prstGeom prst="rect">
            <a:avLst/>
          </a:prstGeom>
        </p:spPr>
      </p:pic>
      <p:pic>
        <p:nvPicPr>
          <p:cNvPr id="13" name="图片 12" descr="小红书 (1)"/>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95375" y="3358515"/>
            <a:ext cx="356235" cy="356235"/>
          </a:xfrm>
          <a:prstGeom prst="rect">
            <a:avLst/>
          </a:prstGeom>
        </p:spPr>
      </p:pic>
      <p:pic>
        <p:nvPicPr>
          <p:cNvPr id="14" name="图片 13" descr="系统用户"/>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501005" y="1681480"/>
            <a:ext cx="310515" cy="310515"/>
          </a:xfrm>
          <a:prstGeom prst="rect">
            <a:avLst/>
          </a:prstGeom>
        </p:spPr>
      </p:pic>
      <p:sp>
        <p:nvSpPr>
          <p:cNvPr id="4" name="文本框 3"/>
          <p:cNvSpPr txBox="1"/>
          <p:nvPr/>
        </p:nvSpPr>
        <p:spPr>
          <a:xfrm>
            <a:off x="5737860" y="4116705"/>
            <a:ext cx="476250" cy="398780"/>
          </a:xfrm>
          <a:prstGeom prst="rect">
            <a:avLst/>
          </a:prstGeom>
          <a:noFill/>
        </p:spPr>
        <p:txBody>
          <a:bodyPr wrap="square" rtlCol="0">
            <a:spAutoFit/>
          </a:bodyPr>
          <a:p>
            <a:pPr algn="ctr"/>
            <a:r>
              <a:rPr lang="zh-CN" sz="1000">
                <a:solidFill>
                  <a:schemeClr val="bg1"/>
                </a:solidFill>
                <a:latin typeface="微软雅黑" panose="020B0503020204020204" charset="-122"/>
                <a:ea typeface="微软雅黑" panose="020B0503020204020204" charset="-122"/>
                <a:cs typeface="微软雅黑" panose="020B0503020204020204" charset="-122"/>
              </a:rPr>
              <a:t>会员中心</a:t>
            </a:r>
            <a:endParaRPr lang="zh-CN"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a:off x="6692900" y="4480560"/>
            <a:ext cx="476250" cy="398780"/>
          </a:xfrm>
          <a:prstGeom prst="rect">
            <a:avLst/>
          </a:prstGeom>
          <a:noFill/>
        </p:spPr>
        <p:txBody>
          <a:bodyPr wrap="square" rtlCol="0">
            <a:spAutoFi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学习社群</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a:off x="7893050" y="3416300"/>
            <a:ext cx="476250" cy="398780"/>
          </a:xfrm>
          <a:prstGeom prst="rect">
            <a:avLst/>
          </a:prstGeom>
          <a:noFill/>
        </p:spPr>
        <p:txBody>
          <a:bodyPr wrap="square" rtlCol="0">
            <a:spAutoFit/>
          </a:bodyPr>
          <a:p>
            <a:pPr algn="ctr"/>
            <a:r>
              <a:rPr lang="zh-CN" sz="1000">
                <a:solidFill>
                  <a:schemeClr val="bg1"/>
                </a:solidFill>
                <a:latin typeface="微软雅黑" panose="020B0503020204020204" charset="-122"/>
                <a:ea typeface="微软雅黑" panose="020B0503020204020204" charset="-122"/>
                <a:cs typeface="微软雅黑" panose="020B0503020204020204" charset="-122"/>
              </a:rPr>
              <a:t>企业网信</a:t>
            </a:r>
            <a:endParaRPr lang="en-US" altLang="zh-CN"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a:off x="7515225" y="4178300"/>
            <a:ext cx="476250" cy="398780"/>
          </a:xfrm>
          <a:prstGeom prst="rect">
            <a:avLst/>
          </a:prstGeom>
          <a:noFill/>
        </p:spPr>
        <p:txBody>
          <a:bodyPr wrap="square" rtlCol="0">
            <a:spAutoFit/>
          </a:bodyPr>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直播课程</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8" name="任意多边形 17"/>
          <p:cNvSpPr/>
          <p:nvPr/>
        </p:nvSpPr>
        <p:spPr>
          <a:xfrm>
            <a:off x="5442585" y="2716762"/>
            <a:ext cx="431165" cy="1461552"/>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684" h="2302">
                <a:moveTo>
                  <a:pt x="338" y="0"/>
                </a:moveTo>
                <a:cubicBezTo>
                  <a:pt x="565" y="309"/>
                  <a:pt x="694" y="843"/>
                  <a:pt x="679" y="1111"/>
                </a:cubicBezTo>
                <a:cubicBezTo>
                  <a:pt x="721" y="1522"/>
                  <a:pt x="419" y="2140"/>
                  <a:pt x="283" y="2302"/>
                </a:cubicBezTo>
                <a:cubicBezTo>
                  <a:pt x="96" y="2000"/>
                  <a:pt x="-10" y="1486"/>
                  <a:pt x="0" y="1198"/>
                </a:cubicBezTo>
                <a:cubicBezTo>
                  <a:pt x="-20" y="767"/>
                  <a:pt x="179" y="240"/>
                  <a:pt x="338" y="0"/>
                </a:cubicBezTo>
                <a:close/>
              </a:path>
            </a:pathLst>
          </a:custGeom>
          <a:solidFill>
            <a:schemeClr val="accent5"/>
          </a:solid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20" name="文本框 19"/>
          <p:cNvSpPr txBox="1"/>
          <p:nvPr/>
        </p:nvSpPr>
        <p:spPr>
          <a:xfrm>
            <a:off x="5316220" y="3014345"/>
            <a:ext cx="680085" cy="645160"/>
          </a:xfrm>
          <a:prstGeom prst="rect">
            <a:avLst/>
          </a:prstGeom>
          <a:noFill/>
        </p:spPr>
        <p:txBody>
          <a:bodyPr wrap="square" rtlCol="0">
            <a:spAutoFit/>
          </a:bodyPr>
          <a:p>
            <a:pPr algn="ctr"/>
            <a:r>
              <a:rPr lang="zh-CN" sz="1200">
                <a:solidFill>
                  <a:schemeClr val="bg1"/>
                </a:solidFill>
                <a:latin typeface="微软雅黑" panose="020B0503020204020204" charset="-122"/>
                <a:ea typeface="微软雅黑" panose="020B0503020204020204" charset="-122"/>
                <a:cs typeface="微软雅黑" panose="020B0503020204020204" charset="-122"/>
              </a:rPr>
              <a:t>公私</a:t>
            </a:r>
            <a:endParaRPr lang="zh-CN" sz="12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sz="1200">
                <a:solidFill>
                  <a:schemeClr val="bg1"/>
                </a:solidFill>
                <a:latin typeface="微软雅黑" panose="020B0503020204020204" charset="-122"/>
                <a:ea typeface="微软雅黑" panose="020B0503020204020204" charset="-122"/>
                <a:cs typeface="微软雅黑" panose="020B0503020204020204" charset="-122"/>
              </a:rPr>
              <a:t>域全</a:t>
            </a:r>
            <a:endParaRPr lang="zh-CN" sz="1200">
              <a:solidFill>
                <a:schemeClr val="bg1"/>
              </a:solidFill>
              <a:latin typeface="微软雅黑" panose="020B0503020204020204" charset="-122"/>
              <a:ea typeface="微软雅黑" panose="020B0503020204020204" charset="-122"/>
              <a:cs typeface="微软雅黑" panose="020B0503020204020204" charset="-122"/>
            </a:endParaRPr>
          </a:p>
          <a:p>
            <a:pPr algn="ctr"/>
            <a:r>
              <a:rPr lang="zh-CN" sz="1200">
                <a:solidFill>
                  <a:schemeClr val="bg1"/>
                </a:solidFill>
                <a:latin typeface="微软雅黑" panose="020B0503020204020204" charset="-122"/>
                <a:ea typeface="微软雅黑" panose="020B0503020204020204" charset="-122"/>
                <a:cs typeface="微软雅黑" panose="020B0503020204020204" charset="-122"/>
              </a:rPr>
              <a:t>联动</a:t>
            </a:r>
            <a:endParaRPr lang="zh-CN" sz="12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2" name="左右箭头 21"/>
          <p:cNvSpPr/>
          <p:nvPr/>
        </p:nvSpPr>
        <p:spPr>
          <a:xfrm>
            <a:off x="5514340" y="3667125"/>
            <a:ext cx="278765" cy="144780"/>
          </a:xfrm>
          <a:prstGeom prst="leftRightArrow">
            <a:avLst/>
          </a:prstGeom>
          <a:solidFill>
            <a:schemeClr val="bg1"/>
          </a:solidFill>
          <a:ln w="12700" cmpd="sng">
            <a:solidFill>
              <a:schemeClr val="accent5"/>
            </a:solidFill>
            <a:prstDash val="solid"/>
          </a:ln>
          <a:effectLst/>
        </p:spPr>
        <p:style>
          <a:lnRef idx="2">
            <a:srgbClr val="24396B">
              <a:shade val="50000"/>
            </a:srgbClr>
          </a:lnRef>
          <a:fillRef idx="1">
            <a:srgbClr val="24396B"/>
          </a:fillRef>
          <a:effectRef idx="0">
            <a:srgbClr val="24396B"/>
          </a:effectRef>
          <a:fontRef idx="minor">
            <a:srgbClr val="FFFFFF"/>
          </a:fontRef>
        </p:style>
        <p:txBody>
          <a:bodyPr vertOverflow="overflow" horzOverflow="overflow" vert="horz" wrap="square" lIns="98755" tIns="49378" rIns="98755" bIns="49378" numCol="1" spcCol="0" rtlCol="0" fromWordArt="0" anchor="ctr" anchorCtr="0" compatLnSpc="1">
            <a:noAutofit/>
          </a:bodyPr>
          <a:p>
            <a:pPr lvl="0" algn="ctr">
              <a:buClrTx/>
              <a:buSzTx/>
              <a:buFontTx/>
            </a:pPr>
            <a:endParaRPr lang="zh-CN" altLang="en-US" sz="1945" dirty="0">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mn-ea"/>
            </a:endParaRPr>
          </a:p>
        </p:txBody>
      </p:sp>
      <p:sp>
        <p:nvSpPr>
          <p:cNvPr id="23" name="文本框 22"/>
          <p:cNvSpPr txBox="1"/>
          <p:nvPr/>
        </p:nvSpPr>
        <p:spPr>
          <a:xfrm>
            <a:off x="6236970" y="3408680"/>
            <a:ext cx="1442720" cy="521970"/>
          </a:xfrm>
          <a:prstGeom prst="rect">
            <a:avLst/>
          </a:prstGeom>
          <a:noFill/>
        </p:spPr>
        <p:txBody>
          <a:bodyPr wrap="square" rtlCol="0">
            <a:spAutoFit/>
          </a:bodyPr>
          <a:p>
            <a:pPr algn="ctr"/>
            <a:r>
              <a:rPr lang="zh-CN" altLang="en-US" sz="1400">
                <a:solidFill>
                  <a:schemeClr val="tx2"/>
                </a:solidFill>
                <a:latin typeface="微软雅黑" panose="020B0503020204020204" charset="-122"/>
                <a:ea typeface="微软雅黑" panose="020B0503020204020204" charset="-122"/>
                <a:cs typeface="微软雅黑" panose="020B0503020204020204" charset="-122"/>
              </a:rPr>
              <a:t>深度运营及客户价值挖掘</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17"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9" name="组合 18"/>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17"/>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互联网消费者行为洞察</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Freeform 5"/>
          <p:cNvSpPr/>
          <p:nvPr/>
        </p:nvSpPr>
        <p:spPr bwMode="auto">
          <a:xfrm>
            <a:off x="7701747" y="2441510"/>
            <a:ext cx="2349601" cy="815022"/>
          </a:xfrm>
          <a:custGeom>
            <a:avLst/>
            <a:gdLst>
              <a:gd name="T0" fmla="*/ 212 w 3802"/>
              <a:gd name="T1" fmla="*/ 0 h 1318"/>
              <a:gd name="T2" fmla="*/ 165 w 3802"/>
              <a:gd name="T3" fmla="*/ 47 h 1318"/>
              <a:gd name="T4" fmla="*/ 140 w 3802"/>
              <a:gd name="T5" fmla="*/ 72 h 1318"/>
              <a:gd name="T6" fmla="*/ 131 w 3802"/>
              <a:gd name="T7" fmla="*/ 81 h 1318"/>
              <a:gd name="T8" fmla="*/ 129 w 3802"/>
              <a:gd name="T9" fmla="*/ 82 h 1318"/>
              <a:gd name="T10" fmla="*/ 0 w 3802"/>
              <a:gd name="T11" fmla="*/ 215 h 1318"/>
              <a:gd name="T12" fmla="*/ 177 w 3802"/>
              <a:gd name="T13" fmla="*/ 301 h 1318"/>
              <a:gd name="T14" fmla="*/ 271 w 3802"/>
              <a:gd name="T15" fmla="*/ 347 h 1318"/>
              <a:gd name="T16" fmla="*/ 307 w 3802"/>
              <a:gd name="T17" fmla="*/ 364 h 1318"/>
              <a:gd name="T18" fmla="*/ 312 w 3802"/>
              <a:gd name="T19" fmla="*/ 366 h 1318"/>
              <a:gd name="T20" fmla="*/ 387 w 3802"/>
              <a:gd name="T21" fmla="*/ 402 h 1318"/>
              <a:gd name="T22" fmla="*/ 426 w 3802"/>
              <a:gd name="T23" fmla="*/ 421 h 1318"/>
              <a:gd name="T24" fmla="*/ 440 w 3802"/>
              <a:gd name="T25" fmla="*/ 428 h 1318"/>
              <a:gd name="T26" fmla="*/ 442 w 3802"/>
              <a:gd name="T27" fmla="*/ 429 h 1318"/>
              <a:gd name="T28" fmla="*/ 671 w 3802"/>
              <a:gd name="T29" fmla="*/ 452 h 1318"/>
              <a:gd name="T30" fmla="*/ 906 w 3802"/>
              <a:gd name="T31" fmla="*/ 491 h 1318"/>
              <a:gd name="T32" fmla="*/ 1147 w 3802"/>
              <a:gd name="T33" fmla="*/ 547 h 1318"/>
              <a:gd name="T34" fmla="*/ 1395 w 3802"/>
              <a:gd name="T35" fmla="*/ 622 h 1318"/>
              <a:gd name="T36" fmla="*/ 1730 w 3802"/>
              <a:gd name="T37" fmla="*/ 752 h 1318"/>
              <a:gd name="T38" fmla="*/ 2032 w 3802"/>
              <a:gd name="T39" fmla="*/ 909 h 1318"/>
              <a:gd name="T40" fmla="*/ 2294 w 3802"/>
              <a:gd name="T41" fmla="*/ 1090 h 1318"/>
              <a:gd name="T42" fmla="*/ 2504 w 3802"/>
              <a:gd name="T43" fmla="*/ 1290 h 1318"/>
              <a:gd name="T44" fmla="*/ 2565 w 3802"/>
              <a:gd name="T45" fmla="*/ 1249 h 1318"/>
              <a:gd name="T46" fmla="*/ 2596 w 3802"/>
              <a:gd name="T47" fmla="*/ 1229 h 1318"/>
              <a:gd name="T48" fmla="*/ 2607 w 3802"/>
              <a:gd name="T49" fmla="*/ 1221 h 1318"/>
              <a:gd name="T50" fmla="*/ 2609 w 3802"/>
              <a:gd name="T51" fmla="*/ 1220 h 1318"/>
              <a:gd name="T52" fmla="*/ 2745 w 3802"/>
              <a:gd name="T53" fmla="*/ 1130 h 1318"/>
              <a:gd name="T54" fmla="*/ 2813 w 3802"/>
              <a:gd name="T55" fmla="*/ 1086 h 1318"/>
              <a:gd name="T56" fmla="*/ 2838 w 3802"/>
              <a:gd name="T57" fmla="*/ 1070 h 1318"/>
              <a:gd name="T58" fmla="*/ 2841 w 3802"/>
              <a:gd name="T59" fmla="*/ 1067 h 1318"/>
              <a:gd name="T60" fmla="*/ 3172 w 3802"/>
              <a:gd name="T61" fmla="*/ 1154 h 1318"/>
              <a:gd name="T62" fmla="*/ 3347 w 3802"/>
              <a:gd name="T63" fmla="*/ 1200 h 1318"/>
              <a:gd name="T64" fmla="*/ 3412 w 3802"/>
              <a:gd name="T65" fmla="*/ 1217 h 1318"/>
              <a:gd name="T66" fmla="*/ 3421 w 3802"/>
              <a:gd name="T67" fmla="*/ 1220 h 1318"/>
              <a:gd name="T68" fmla="*/ 3639 w 3802"/>
              <a:gd name="T69" fmla="*/ 1276 h 1318"/>
              <a:gd name="T70" fmla="*/ 3753 w 3802"/>
              <a:gd name="T71" fmla="*/ 1306 h 1318"/>
              <a:gd name="T72" fmla="*/ 3796 w 3802"/>
              <a:gd name="T73" fmla="*/ 1317 h 1318"/>
              <a:gd name="T74" fmla="*/ 3802 w 3802"/>
              <a:gd name="T75" fmla="*/ 1318 h 1318"/>
              <a:gd name="T76" fmla="*/ 3351 w 3802"/>
              <a:gd name="T77" fmla="*/ 985 h 1318"/>
              <a:gd name="T78" fmla="*/ 2852 w 3802"/>
              <a:gd name="T79" fmla="*/ 701 h 1318"/>
              <a:gd name="T80" fmla="*/ 2323 w 3802"/>
              <a:gd name="T81" fmla="*/ 466 h 1318"/>
              <a:gd name="T82" fmla="*/ 1775 w 3802"/>
              <a:gd name="T83" fmla="*/ 276 h 1318"/>
              <a:gd name="T84" fmla="*/ 1357 w 3802"/>
              <a:gd name="T85" fmla="*/ 165 h 1318"/>
              <a:gd name="T86" fmla="*/ 959 w 3802"/>
              <a:gd name="T87" fmla="*/ 84 h 1318"/>
              <a:gd name="T88" fmla="*/ 578 w 3802"/>
              <a:gd name="T89" fmla="*/ 30 h 1318"/>
              <a:gd name="T90" fmla="*/ 212 w 3802"/>
              <a:gd name="T91" fmla="*/ 0 h 13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802" h="1318">
                <a:moveTo>
                  <a:pt x="212" y="0"/>
                </a:moveTo>
                <a:cubicBezTo>
                  <a:pt x="192" y="20"/>
                  <a:pt x="176" y="36"/>
                  <a:pt x="165" y="47"/>
                </a:cubicBezTo>
                <a:cubicBezTo>
                  <a:pt x="153" y="59"/>
                  <a:pt x="145" y="67"/>
                  <a:pt x="140" y="72"/>
                </a:cubicBezTo>
                <a:cubicBezTo>
                  <a:pt x="135" y="77"/>
                  <a:pt x="132" y="80"/>
                  <a:pt x="131" y="81"/>
                </a:cubicBezTo>
                <a:cubicBezTo>
                  <a:pt x="129" y="82"/>
                  <a:pt x="129" y="82"/>
                  <a:pt x="129" y="82"/>
                </a:cubicBezTo>
                <a:cubicBezTo>
                  <a:pt x="0" y="215"/>
                  <a:pt x="0" y="215"/>
                  <a:pt x="0" y="215"/>
                </a:cubicBezTo>
                <a:cubicBezTo>
                  <a:pt x="76" y="252"/>
                  <a:pt x="133" y="280"/>
                  <a:pt x="177" y="301"/>
                </a:cubicBezTo>
                <a:cubicBezTo>
                  <a:pt x="222" y="323"/>
                  <a:pt x="251" y="337"/>
                  <a:pt x="271" y="347"/>
                </a:cubicBezTo>
                <a:cubicBezTo>
                  <a:pt x="292" y="357"/>
                  <a:pt x="302" y="361"/>
                  <a:pt x="307" y="364"/>
                </a:cubicBezTo>
                <a:cubicBezTo>
                  <a:pt x="312" y="366"/>
                  <a:pt x="312" y="366"/>
                  <a:pt x="312" y="366"/>
                </a:cubicBezTo>
                <a:cubicBezTo>
                  <a:pt x="344" y="382"/>
                  <a:pt x="368" y="394"/>
                  <a:pt x="387" y="402"/>
                </a:cubicBezTo>
                <a:cubicBezTo>
                  <a:pt x="405" y="411"/>
                  <a:pt x="417" y="417"/>
                  <a:pt x="426" y="421"/>
                </a:cubicBezTo>
                <a:cubicBezTo>
                  <a:pt x="434" y="425"/>
                  <a:pt x="438" y="427"/>
                  <a:pt x="440" y="428"/>
                </a:cubicBezTo>
                <a:cubicBezTo>
                  <a:pt x="442" y="429"/>
                  <a:pt x="442" y="429"/>
                  <a:pt x="442" y="429"/>
                </a:cubicBezTo>
                <a:cubicBezTo>
                  <a:pt x="517" y="435"/>
                  <a:pt x="593" y="442"/>
                  <a:pt x="671" y="452"/>
                </a:cubicBezTo>
                <a:cubicBezTo>
                  <a:pt x="748" y="463"/>
                  <a:pt x="827" y="476"/>
                  <a:pt x="906" y="491"/>
                </a:cubicBezTo>
                <a:cubicBezTo>
                  <a:pt x="986" y="507"/>
                  <a:pt x="1066" y="525"/>
                  <a:pt x="1147" y="547"/>
                </a:cubicBezTo>
                <a:cubicBezTo>
                  <a:pt x="1229" y="569"/>
                  <a:pt x="1312" y="594"/>
                  <a:pt x="1395" y="622"/>
                </a:cubicBezTo>
                <a:cubicBezTo>
                  <a:pt x="1513" y="661"/>
                  <a:pt x="1625" y="705"/>
                  <a:pt x="1730" y="752"/>
                </a:cubicBezTo>
                <a:cubicBezTo>
                  <a:pt x="1838" y="801"/>
                  <a:pt x="1939" y="854"/>
                  <a:pt x="2032" y="909"/>
                </a:cubicBezTo>
                <a:cubicBezTo>
                  <a:pt x="2128" y="967"/>
                  <a:pt x="2216" y="1027"/>
                  <a:pt x="2294" y="1090"/>
                </a:cubicBezTo>
                <a:cubicBezTo>
                  <a:pt x="2375" y="1155"/>
                  <a:pt x="2445" y="1222"/>
                  <a:pt x="2504" y="1290"/>
                </a:cubicBezTo>
                <a:cubicBezTo>
                  <a:pt x="2531" y="1272"/>
                  <a:pt x="2550" y="1259"/>
                  <a:pt x="2565" y="1249"/>
                </a:cubicBezTo>
                <a:cubicBezTo>
                  <a:pt x="2580" y="1239"/>
                  <a:pt x="2589" y="1233"/>
                  <a:pt x="2596" y="1229"/>
                </a:cubicBezTo>
                <a:cubicBezTo>
                  <a:pt x="2602" y="1224"/>
                  <a:pt x="2606" y="1222"/>
                  <a:pt x="2607" y="1221"/>
                </a:cubicBezTo>
                <a:cubicBezTo>
                  <a:pt x="2609" y="1220"/>
                  <a:pt x="2609" y="1220"/>
                  <a:pt x="2609" y="1220"/>
                </a:cubicBezTo>
                <a:cubicBezTo>
                  <a:pt x="2668" y="1181"/>
                  <a:pt x="2712" y="1152"/>
                  <a:pt x="2745" y="1130"/>
                </a:cubicBezTo>
                <a:cubicBezTo>
                  <a:pt x="2777" y="1109"/>
                  <a:pt x="2799" y="1095"/>
                  <a:pt x="2813" y="1086"/>
                </a:cubicBezTo>
                <a:cubicBezTo>
                  <a:pt x="2827" y="1076"/>
                  <a:pt x="2834" y="1072"/>
                  <a:pt x="2838" y="1070"/>
                </a:cubicBezTo>
                <a:cubicBezTo>
                  <a:pt x="2841" y="1067"/>
                  <a:pt x="2841" y="1067"/>
                  <a:pt x="2841" y="1067"/>
                </a:cubicBezTo>
                <a:cubicBezTo>
                  <a:pt x="2983" y="1104"/>
                  <a:pt x="3090" y="1133"/>
                  <a:pt x="3172" y="1154"/>
                </a:cubicBezTo>
                <a:cubicBezTo>
                  <a:pt x="3254" y="1176"/>
                  <a:pt x="3310" y="1190"/>
                  <a:pt x="3347" y="1200"/>
                </a:cubicBezTo>
                <a:cubicBezTo>
                  <a:pt x="3384" y="1210"/>
                  <a:pt x="3403" y="1215"/>
                  <a:pt x="3412" y="1217"/>
                </a:cubicBezTo>
                <a:cubicBezTo>
                  <a:pt x="3421" y="1220"/>
                  <a:pt x="3421" y="1220"/>
                  <a:pt x="3421" y="1220"/>
                </a:cubicBezTo>
                <a:cubicBezTo>
                  <a:pt x="3515" y="1244"/>
                  <a:pt x="3586" y="1262"/>
                  <a:pt x="3639" y="1276"/>
                </a:cubicBezTo>
                <a:cubicBezTo>
                  <a:pt x="3693" y="1290"/>
                  <a:pt x="3729" y="1299"/>
                  <a:pt x="3753" y="1306"/>
                </a:cubicBezTo>
                <a:cubicBezTo>
                  <a:pt x="3778" y="1312"/>
                  <a:pt x="3790" y="1315"/>
                  <a:pt x="3796" y="1317"/>
                </a:cubicBezTo>
                <a:cubicBezTo>
                  <a:pt x="3802" y="1318"/>
                  <a:pt x="3802" y="1318"/>
                  <a:pt x="3802" y="1318"/>
                </a:cubicBezTo>
                <a:cubicBezTo>
                  <a:pt x="3666" y="1202"/>
                  <a:pt x="3514" y="1090"/>
                  <a:pt x="3351" y="985"/>
                </a:cubicBezTo>
                <a:cubicBezTo>
                  <a:pt x="3194" y="884"/>
                  <a:pt x="3027" y="789"/>
                  <a:pt x="2852" y="701"/>
                </a:cubicBezTo>
                <a:cubicBezTo>
                  <a:pt x="2683" y="616"/>
                  <a:pt x="2506" y="538"/>
                  <a:pt x="2323" y="466"/>
                </a:cubicBezTo>
                <a:cubicBezTo>
                  <a:pt x="2147" y="396"/>
                  <a:pt x="1963" y="332"/>
                  <a:pt x="1775" y="276"/>
                </a:cubicBezTo>
                <a:cubicBezTo>
                  <a:pt x="1634" y="234"/>
                  <a:pt x="1494" y="197"/>
                  <a:pt x="1357" y="165"/>
                </a:cubicBezTo>
                <a:cubicBezTo>
                  <a:pt x="1222" y="133"/>
                  <a:pt x="1089" y="106"/>
                  <a:pt x="959" y="84"/>
                </a:cubicBezTo>
                <a:cubicBezTo>
                  <a:pt x="830" y="62"/>
                  <a:pt x="702" y="44"/>
                  <a:pt x="578" y="30"/>
                </a:cubicBezTo>
                <a:cubicBezTo>
                  <a:pt x="454" y="16"/>
                  <a:pt x="332" y="6"/>
                  <a:pt x="212" y="0"/>
                </a:cubicBezTo>
              </a:path>
            </a:pathLst>
          </a:custGeom>
          <a:gradFill>
            <a:gsLst>
              <a:gs pos="0">
                <a:schemeClr val="accent5">
                  <a:lumMod val="40000"/>
                  <a:lumOff val="60000"/>
                </a:schemeClr>
              </a:gs>
              <a:gs pos="100000">
                <a:schemeClr val="accent5">
                  <a:lumMod val="60000"/>
                  <a:lumOff val="40000"/>
                </a:schemeClr>
              </a:gs>
            </a:gsLst>
            <a:lin ang="5400000" scaled="0"/>
          </a:gradFill>
          <a:ln w="19050" cap="flat" cmpd="sng" algn="ctr">
            <a:noFill/>
            <a:prstDash val="solid"/>
            <a:miter lim="800000"/>
          </a:ln>
          <a:effectLst/>
        </p:spPr>
        <p:style>
          <a:lnRef idx="2">
            <a:srgbClr val="64171D">
              <a:shade val="15000"/>
            </a:srgbClr>
          </a:lnRef>
          <a:fillRef idx="1">
            <a:srgbClr val="64171D"/>
          </a:fillRef>
          <a:effectRef idx="0">
            <a:srgbClr val="64171D"/>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 name="Freeform 6"/>
          <p:cNvSpPr/>
          <p:nvPr/>
        </p:nvSpPr>
        <p:spPr bwMode="auto">
          <a:xfrm>
            <a:off x="2348121" y="2437849"/>
            <a:ext cx="2572712" cy="810576"/>
          </a:xfrm>
          <a:custGeom>
            <a:avLst/>
            <a:gdLst>
              <a:gd name="T0" fmla="*/ 3840 w 4163"/>
              <a:gd name="T1" fmla="*/ 0 h 1311"/>
              <a:gd name="T2" fmla="*/ 3419 w 4163"/>
              <a:gd name="T3" fmla="*/ 17 h 1311"/>
              <a:gd name="T4" fmla="*/ 2975 w 4163"/>
              <a:gd name="T5" fmla="*/ 66 h 1311"/>
              <a:gd name="T6" fmla="*/ 2506 w 4163"/>
              <a:gd name="T7" fmla="*/ 153 h 1311"/>
              <a:gd name="T8" fmla="*/ 2010 w 4163"/>
              <a:gd name="T9" fmla="*/ 282 h 1311"/>
              <a:gd name="T10" fmla="*/ 1465 w 4163"/>
              <a:gd name="T11" fmla="*/ 470 h 1311"/>
              <a:gd name="T12" fmla="*/ 942 w 4163"/>
              <a:gd name="T13" fmla="*/ 703 h 1311"/>
              <a:gd name="T14" fmla="*/ 448 w 4163"/>
              <a:gd name="T15" fmla="*/ 983 h 1311"/>
              <a:gd name="T16" fmla="*/ 0 w 4163"/>
              <a:gd name="T17" fmla="*/ 1311 h 1311"/>
              <a:gd name="T18" fmla="*/ 192 w 4163"/>
              <a:gd name="T19" fmla="*/ 1261 h 1311"/>
              <a:gd name="T20" fmla="*/ 290 w 4163"/>
              <a:gd name="T21" fmla="*/ 1236 h 1311"/>
              <a:gd name="T22" fmla="*/ 325 w 4163"/>
              <a:gd name="T23" fmla="*/ 1227 h 1311"/>
              <a:gd name="T24" fmla="*/ 330 w 4163"/>
              <a:gd name="T25" fmla="*/ 1225 h 1311"/>
              <a:gd name="T26" fmla="*/ 911 w 4163"/>
              <a:gd name="T27" fmla="*/ 1073 h 1311"/>
              <a:gd name="T28" fmla="*/ 1043 w 4163"/>
              <a:gd name="T29" fmla="*/ 1160 h 1311"/>
              <a:gd name="T30" fmla="*/ 1113 w 4163"/>
              <a:gd name="T31" fmla="*/ 1206 h 1311"/>
              <a:gd name="T32" fmla="*/ 1139 w 4163"/>
              <a:gd name="T33" fmla="*/ 1223 h 1311"/>
              <a:gd name="T34" fmla="*/ 1143 w 4163"/>
              <a:gd name="T35" fmla="*/ 1225 h 1311"/>
              <a:gd name="T36" fmla="*/ 1215 w 4163"/>
              <a:gd name="T37" fmla="*/ 1272 h 1311"/>
              <a:gd name="T38" fmla="*/ 1253 w 4163"/>
              <a:gd name="T39" fmla="*/ 1297 h 1311"/>
              <a:gd name="T40" fmla="*/ 1267 w 4163"/>
              <a:gd name="T41" fmla="*/ 1306 h 1311"/>
              <a:gd name="T42" fmla="*/ 1269 w 4163"/>
              <a:gd name="T43" fmla="*/ 1307 h 1311"/>
              <a:gd name="T44" fmla="*/ 1479 w 4163"/>
              <a:gd name="T45" fmla="*/ 1104 h 1311"/>
              <a:gd name="T46" fmla="*/ 1743 w 4163"/>
              <a:gd name="T47" fmla="*/ 920 h 1311"/>
              <a:gd name="T48" fmla="*/ 2049 w 4163"/>
              <a:gd name="T49" fmla="*/ 761 h 1311"/>
              <a:gd name="T50" fmla="*/ 2390 w 4163"/>
              <a:gd name="T51" fmla="*/ 628 h 1311"/>
              <a:gd name="T52" fmla="*/ 2695 w 4163"/>
              <a:gd name="T53" fmla="*/ 538 h 1311"/>
              <a:gd name="T54" fmla="*/ 2990 w 4163"/>
              <a:gd name="T55" fmla="*/ 477 h 1311"/>
              <a:gd name="T56" fmla="*/ 3274 w 4163"/>
              <a:gd name="T57" fmla="*/ 442 h 1311"/>
              <a:gd name="T58" fmla="*/ 3545 w 4163"/>
              <a:gd name="T59" fmla="*/ 430 h 1311"/>
              <a:gd name="T60" fmla="*/ 3578 w 4163"/>
              <a:gd name="T61" fmla="*/ 430 h 1311"/>
              <a:gd name="T62" fmla="*/ 3610 w 4163"/>
              <a:gd name="T63" fmla="*/ 430 h 1311"/>
              <a:gd name="T64" fmla="*/ 3640 w 4163"/>
              <a:gd name="T65" fmla="*/ 430 h 1311"/>
              <a:gd name="T66" fmla="*/ 3670 w 4163"/>
              <a:gd name="T67" fmla="*/ 430 h 1311"/>
              <a:gd name="T68" fmla="*/ 3740 w 4163"/>
              <a:gd name="T69" fmla="*/ 409 h 1311"/>
              <a:gd name="T70" fmla="*/ 3775 w 4163"/>
              <a:gd name="T71" fmla="*/ 398 h 1311"/>
              <a:gd name="T72" fmla="*/ 3788 w 4163"/>
              <a:gd name="T73" fmla="*/ 394 h 1311"/>
              <a:gd name="T74" fmla="*/ 3790 w 4163"/>
              <a:gd name="T75" fmla="*/ 393 h 1311"/>
              <a:gd name="T76" fmla="*/ 4008 w 4163"/>
              <a:gd name="T77" fmla="*/ 325 h 1311"/>
              <a:gd name="T78" fmla="*/ 4117 w 4163"/>
              <a:gd name="T79" fmla="*/ 291 h 1311"/>
              <a:gd name="T80" fmla="*/ 4157 w 4163"/>
              <a:gd name="T81" fmla="*/ 279 h 1311"/>
              <a:gd name="T82" fmla="*/ 4163 w 4163"/>
              <a:gd name="T83" fmla="*/ 277 h 1311"/>
              <a:gd name="T84" fmla="*/ 4147 w 4163"/>
              <a:gd name="T85" fmla="*/ 183 h 1311"/>
              <a:gd name="T86" fmla="*/ 4139 w 4163"/>
              <a:gd name="T87" fmla="*/ 137 h 1311"/>
              <a:gd name="T88" fmla="*/ 4136 w 4163"/>
              <a:gd name="T89" fmla="*/ 120 h 1311"/>
              <a:gd name="T90" fmla="*/ 4135 w 4163"/>
              <a:gd name="T91" fmla="*/ 118 h 1311"/>
              <a:gd name="T92" fmla="*/ 4123 w 4163"/>
              <a:gd name="T93" fmla="*/ 53 h 1311"/>
              <a:gd name="T94" fmla="*/ 4117 w 4163"/>
              <a:gd name="T95" fmla="*/ 20 h 1311"/>
              <a:gd name="T96" fmla="*/ 4114 w 4163"/>
              <a:gd name="T97" fmla="*/ 8 h 1311"/>
              <a:gd name="T98" fmla="*/ 4114 w 4163"/>
              <a:gd name="T99" fmla="*/ 7 h 1311"/>
              <a:gd name="T100" fmla="*/ 4047 w 4163"/>
              <a:gd name="T101" fmla="*/ 4 h 1311"/>
              <a:gd name="T102" fmla="*/ 3980 w 4163"/>
              <a:gd name="T103" fmla="*/ 2 h 1311"/>
              <a:gd name="T104" fmla="*/ 3911 w 4163"/>
              <a:gd name="T105" fmla="*/ 1 h 1311"/>
              <a:gd name="T106" fmla="*/ 3840 w 4163"/>
              <a:gd name="T107" fmla="*/ 0 h 13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4163" h="1311">
                <a:moveTo>
                  <a:pt x="3840" y="0"/>
                </a:moveTo>
                <a:cubicBezTo>
                  <a:pt x="3704" y="0"/>
                  <a:pt x="3563" y="6"/>
                  <a:pt x="3419" y="17"/>
                </a:cubicBezTo>
                <a:cubicBezTo>
                  <a:pt x="3275" y="28"/>
                  <a:pt x="3126" y="44"/>
                  <a:pt x="2975" y="66"/>
                </a:cubicBezTo>
                <a:cubicBezTo>
                  <a:pt x="2822" y="89"/>
                  <a:pt x="2665" y="118"/>
                  <a:pt x="2506" y="153"/>
                </a:cubicBezTo>
                <a:cubicBezTo>
                  <a:pt x="2344" y="189"/>
                  <a:pt x="2178" y="232"/>
                  <a:pt x="2010" y="282"/>
                </a:cubicBezTo>
                <a:cubicBezTo>
                  <a:pt x="1822" y="338"/>
                  <a:pt x="1640" y="401"/>
                  <a:pt x="1465" y="470"/>
                </a:cubicBezTo>
                <a:cubicBezTo>
                  <a:pt x="1284" y="541"/>
                  <a:pt x="1109" y="619"/>
                  <a:pt x="942" y="703"/>
                </a:cubicBezTo>
                <a:cubicBezTo>
                  <a:pt x="768" y="790"/>
                  <a:pt x="603" y="884"/>
                  <a:pt x="448" y="983"/>
                </a:cubicBezTo>
                <a:cubicBezTo>
                  <a:pt x="286" y="1087"/>
                  <a:pt x="136" y="1197"/>
                  <a:pt x="0" y="1311"/>
                </a:cubicBezTo>
                <a:cubicBezTo>
                  <a:pt x="84" y="1289"/>
                  <a:pt x="146" y="1273"/>
                  <a:pt x="192" y="1261"/>
                </a:cubicBezTo>
                <a:cubicBezTo>
                  <a:pt x="239" y="1249"/>
                  <a:pt x="269" y="1241"/>
                  <a:pt x="290" y="1236"/>
                </a:cubicBezTo>
                <a:cubicBezTo>
                  <a:pt x="310" y="1231"/>
                  <a:pt x="320" y="1228"/>
                  <a:pt x="325" y="1227"/>
                </a:cubicBezTo>
                <a:cubicBezTo>
                  <a:pt x="330" y="1225"/>
                  <a:pt x="330" y="1225"/>
                  <a:pt x="330" y="1225"/>
                </a:cubicBezTo>
                <a:cubicBezTo>
                  <a:pt x="911" y="1073"/>
                  <a:pt x="911" y="1073"/>
                  <a:pt x="911" y="1073"/>
                </a:cubicBezTo>
                <a:cubicBezTo>
                  <a:pt x="968" y="1110"/>
                  <a:pt x="1011" y="1138"/>
                  <a:pt x="1043" y="1160"/>
                </a:cubicBezTo>
                <a:cubicBezTo>
                  <a:pt x="1076" y="1181"/>
                  <a:pt x="1098" y="1196"/>
                  <a:pt x="1113" y="1206"/>
                </a:cubicBezTo>
                <a:cubicBezTo>
                  <a:pt x="1128" y="1215"/>
                  <a:pt x="1135" y="1220"/>
                  <a:pt x="1139" y="1223"/>
                </a:cubicBezTo>
                <a:cubicBezTo>
                  <a:pt x="1143" y="1225"/>
                  <a:pt x="1143" y="1225"/>
                  <a:pt x="1143" y="1225"/>
                </a:cubicBezTo>
                <a:cubicBezTo>
                  <a:pt x="1174" y="1245"/>
                  <a:pt x="1198" y="1261"/>
                  <a:pt x="1215" y="1272"/>
                </a:cubicBezTo>
                <a:cubicBezTo>
                  <a:pt x="1233" y="1284"/>
                  <a:pt x="1245" y="1292"/>
                  <a:pt x="1253" y="1297"/>
                </a:cubicBezTo>
                <a:cubicBezTo>
                  <a:pt x="1261" y="1302"/>
                  <a:pt x="1265" y="1305"/>
                  <a:pt x="1267" y="1306"/>
                </a:cubicBezTo>
                <a:cubicBezTo>
                  <a:pt x="1269" y="1307"/>
                  <a:pt x="1269" y="1307"/>
                  <a:pt x="1269" y="1307"/>
                </a:cubicBezTo>
                <a:cubicBezTo>
                  <a:pt x="1328" y="1238"/>
                  <a:pt x="1398" y="1169"/>
                  <a:pt x="1479" y="1104"/>
                </a:cubicBezTo>
                <a:cubicBezTo>
                  <a:pt x="1558" y="1040"/>
                  <a:pt x="1646" y="978"/>
                  <a:pt x="1743" y="920"/>
                </a:cubicBezTo>
                <a:cubicBezTo>
                  <a:pt x="1837" y="864"/>
                  <a:pt x="1940" y="810"/>
                  <a:pt x="2049" y="761"/>
                </a:cubicBezTo>
                <a:cubicBezTo>
                  <a:pt x="2156" y="712"/>
                  <a:pt x="2270" y="668"/>
                  <a:pt x="2390" y="628"/>
                </a:cubicBezTo>
                <a:cubicBezTo>
                  <a:pt x="2492" y="593"/>
                  <a:pt x="2594" y="563"/>
                  <a:pt x="2695" y="538"/>
                </a:cubicBezTo>
                <a:cubicBezTo>
                  <a:pt x="2794" y="513"/>
                  <a:pt x="2893" y="493"/>
                  <a:pt x="2990" y="477"/>
                </a:cubicBezTo>
                <a:cubicBezTo>
                  <a:pt x="3086" y="461"/>
                  <a:pt x="3181" y="449"/>
                  <a:pt x="3274" y="442"/>
                </a:cubicBezTo>
                <a:cubicBezTo>
                  <a:pt x="3367" y="434"/>
                  <a:pt x="3457" y="430"/>
                  <a:pt x="3545" y="430"/>
                </a:cubicBezTo>
                <a:cubicBezTo>
                  <a:pt x="3557" y="430"/>
                  <a:pt x="3568" y="430"/>
                  <a:pt x="3578" y="430"/>
                </a:cubicBezTo>
                <a:cubicBezTo>
                  <a:pt x="3589" y="430"/>
                  <a:pt x="3600" y="430"/>
                  <a:pt x="3610" y="430"/>
                </a:cubicBezTo>
                <a:cubicBezTo>
                  <a:pt x="3620" y="430"/>
                  <a:pt x="3630" y="430"/>
                  <a:pt x="3640" y="430"/>
                </a:cubicBezTo>
                <a:cubicBezTo>
                  <a:pt x="3650" y="430"/>
                  <a:pt x="3660" y="430"/>
                  <a:pt x="3670" y="430"/>
                </a:cubicBezTo>
                <a:cubicBezTo>
                  <a:pt x="3700" y="421"/>
                  <a:pt x="3723" y="414"/>
                  <a:pt x="3740" y="409"/>
                </a:cubicBezTo>
                <a:cubicBezTo>
                  <a:pt x="3756" y="404"/>
                  <a:pt x="3767" y="400"/>
                  <a:pt x="3775" y="398"/>
                </a:cubicBezTo>
                <a:cubicBezTo>
                  <a:pt x="3782" y="396"/>
                  <a:pt x="3786" y="394"/>
                  <a:pt x="3788" y="394"/>
                </a:cubicBezTo>
                <a:cubicBezTo>
                  <a:pt x="3790" y="393"/>
                  <a:pt x="3790" y="393"/>
                  <a:pt x="3790" y="393"/>
                </a:cubicBezTo>
                <a:cubicBezTo>
                  <a:pt x="3885" y="364"/>
                  <a:pt x="3956" y="342"/>
                  <a:pt x="4008" y="325"/>
                </a:cubicBezTo>
                <a:cubicBezTo>
                  <a:pt x="4060" y="309"/>
                  <a:pt x="4094" y="298"/>
                  <a:pt x="4117" y="291"/>
                </a:cubicBezTo>
                <a:cubicBezTo>
                  <a:pt x="4140" y="284"/>
                  <a:pt x="4151" y="281"/>
                  <a:pt x="4157" y="279"/>
                </a:cubicBezTo>
                <a:cubicBezTo>
                  <a:pt x="4163" y="277"/>
                  <a:pt x="4163" y="277"/>
                  <a:pt x="4163" y="277"/>
                </a:cubicBezTo>
                <a:cubicBezTo>
                  <a:pt x="4156" y="236"/>
                  <a:pt x="4150" y="206"/>
                  <a:pt x="4147" y="183"/>
                </a:cubicBezTo>
                <a:cubicBezTo>
                  <a:pt x="4143" y="161"/>
                  <a:pt x="4140" y="147"/>
                  <a:pt x="4139" y="137"/>
                </a:cubicBezTo>
                <a:cubicBezTo>
                  <a:pt x="4137" y="127"/>
                  <a:pt x="4136" y="122"/>
                  <a:pt x="4136" y="120"/>
                </a:cubicBezTo>
                <a:cubicBezTo>
                  <a:pt x="4135" y="118"/>
                  <a:pt x="4135" y="118"/>
                  <a:pt x="4135" y="118"/>
                </a:cubicBezTo>
                <a:cubicBezTo>
                  <a:pt x="4130" y="89"/>
                  <a:pt x="4126" y="68"/>
                  <a:pt x="4123" y="53"/>
                </a:cubicBezTo>
                <a:cubicBezTo>
                  <a:pt x="4120" y="37"/>
                  <a:pt x="4118" y="27"/>
                  <a:pt x="4117" y="20"/>
                </a:cubicBezTo>
                <a:cubicBezTo>
                  <a:pt x="4115" y="13"/>
                  <a:pt x="4115" y="10"/>
                  <a:pt x="4114" y="8"/>
                </a:cubicBezTo>
                <a:cubicBezTo>
                  <a:pt x="4114" y="7"/>
                  <a:pt x="4114" y="7"/>
                  <a:pt x="4114" y="7"/>
                </a:cubicBezTo>
                <a:cubicBezTo>
                  <a:pt x="4092" y="6"/>
                  <a:pt x="4070" y="5"/>
                  <a:pt x="4047" y="4"/>
                </a:cubicBezTo>
                <a:cubicBezTo>
                  <a:pt x="4025" y="3"/>
                  <a:pt x="4003" y="2"/>
                  <a:pt x="3980" y="2"/>
                </a:cubicBezTo>
                <a:cubicBezTo>
                  <a:pt x="3957" y="1"/>
                  <a:pt x="3934" y="1"/>
                  <a:pt x="3911" y="1"/>
                </a:cubicBezTo>
                <a:cubicBezTo>
                  <a:pt x="3888" y="1"/>
                  <a:pt x="3864" y="0"/>
                  <a:pt x="3840" y="0"/>
                </a:cubicBezTo>
              </a:path>
            </a:pathLst>
          </a:custGeom>
          <a:gradFill>
            <a:gsLst>
              <a:gs pos="0">
                <a:schemeClr val="accent1">
                  <a:lumMod val="40000"/>
                  <a:lumOff val="60000"/>
                </a:schemeClr>
              </a:gs>
              <a:gs pos="100000">
                <a:schemeClr val="accent1">
                  <a:lumMod val="60000"/>
                  <a:lumOff val="40000"/>
                </a:schemeClr>
              </a:gs>
            </a:gsLst>
            <a:lin ang="5400000" scaled="0"/>
          </a:gradFill>
          <a:ln w="19050" cap="flat" cmpd="sng" algn="ctr">
            <a:noFill/>
            <a:prstDash val="solid"/>
            <a:miter lim="800000"/>
          </a:ln>
          <a:effectLst/>
        </p:spPr>
        <p:style>
          <a:lnRef idx="2">
            <a:srgbClr val="64171D">
              <a:shade val="15000"/>
            </a:srgbClr>
          </a:lnRef>
          <a:fillRef idx="1">
            <a:srgbClr val="64171D"/>
          </a:fillRef>
          <a:effectRef idx="0">
            <a:srgbClr val="64171D"/>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7" name="Freeform 7"/>
          <p:cNvSpPr/>
          <p:nvPr/>
        </p:nvSpPr>
        <p:spPr bwMode="auto">
          <a:xfrm>
            <a:off x="6268657" y="3224360"/>
            <a:ext cx="2926866" cy="1482787"/>
          </a:xfrm>
          <a:custGeom>
            <a:avLst/>
            <a:gdLst>
              <a:gd name="T0" fmla="*/ 897 w 4736"/>
              <a:gd name="T1" fmla="*/ 0 h 2398"/>
              <a:gd name="T2" fmla="*/ 874 w 4736"/>
              <a:gd name="T3" fmla="*/ 102 h 2398"/>
              <a:gd name="T4" fmla="*/ 862 w 4736"/>
              <a:gd name="T5" fmla="*/ 156 h 2398"/>
              <a:gd name="T6" fmla="*/ 858 w 4736"/>
              <a:gd name="T7" fmla="*/ 176 h 2398"/>
              <a:gd name="T8" fmla="*/ 857 w 4736"/>
              <a:gd name="T9" fmla="*/ 179 h 2398"/>
              <a:gd name="T10" fmla="*/ 811 w 4736"/>
              <a:gd name="T11" fmla="*/ 356 h 2398"/>
              <a:gd name="T12" fmla="*/ 786 w 4736"/>
              <a:gd name="T13" fmla="*/ 452 h 2398"/>
              <a:gd name="T14" fmla="*/ 776 w 4736"/>
              <a:gd name="T15" fmla="*/ 488 h 2398"/>
              <a:gd name="T16" fmla="*/ 775 w 4736"/>
              <a:gd name="T17" fmla="*/ 494 h 2398"/>
              <a:gd name="T18" fmla="*/ 465 w 4736"/>
              <a:gd name="T19" fmla="*/ 516 h 2398"/>
              <a:gd name="T20" fmla="*/ 305 w 4736"/>
              <a:gd name="T21" fmla="*/ 527 h 2398"/>
              <a:gd name="T22" fmla="*/ 246 w 4736"/>
              <a:gd name="T23" fmla="*/ 531 h 2398"/>
              <a:gd name="T24" fmla="*/ 237 w 4736"/>
              <a:gd name="T25" fmla="*/ 532 h 2398"/>
              <a:gd name="T26" fmla="*/ 100 w 4736"/>
              <a:gd name="T27" fmla="*/ 543 h 2398"/>
              <a:gd name="T28" fmla="*/ 30 w 4736"/>
              <a:gd name="T29" fmla="*/ 549 h 2398"/>
              <a:gd name="T30" fmla="*/ 4 w 4736"/>
              <a:gd name="T31" fmla="*/ 551 h 2398"/>
              <a:gd name="T32" fmla="*/ 0 w 4736"/>
              <a:gd name="T33" fmla="*/ 552 h 2398"/>
              <a:gd name="T34" fmla="*/ 767 w 4736"/>
              <a:gd name="T35" fmla="*/ 1029 h 2398"/>
              <a:gd name="T36" fmla="*/ 1217 w 4736"/>
              <a:gd name="T37" fmla="*/ 1310 h 2398"/>
              <a:gd name="T38" fmla="*/ 1394 w 4736"/>
              <a:gd name="T39" fmla="*/ 1420 h 2398"/>
              <a:gd name="T40" fmla="*/ 1420 w 4736"/>
              <a:gd name="T41" fmla="*/ 1436 h 2398"/>
              <a:gd name="T42" fmla="*/ 2132 w 4736"/>
              <a:gd name="T43" fmla="*/ 1813 h 2398"/>
              <a:gd name="T44" fmla="*/ 2951 w 4736"/>
              <a:gd name="T45" fmla="*/ 2117 h 2398"/>
              <a:gd name="T46" fmla="*/ 3825 w 4736"/>
              <a:gd name="T47" fmla="*/ 2319 h 2398"/>
              <a:gd name="T48" fmla="*/ 4689 w 4736"/>
              <a:gd name="T49" fmla="*/ 2398 h 2398"/>
              <a:gd name="T50" fmla="*/ 4702 w 4736"/>
              <a:gd name="T51" fmla="*/ 2193 h 2398"/>
              <a:gd name="T52" fmla="*/ 4709 w 4736"/>
              <a:gd name="T53" fmla="*/ 2092 h 2398"/>
              <a:gd name="T54" fmla="*/ 4711 w 4736"/>
              <a:gd name="T55" fmla="*/ 2056 h 2398"/>
              <a:gd name="T56" fmla="*/ 4712 w 4736"/>
              <a:gd name="T57" fmla="*/ 2051 h 2398"/>
              <a:gd name="T58" fmla="*/ 4736 w 4736"/>
              <a:gd name="T59" fmla="*/ 1593 h 2398"/>
              <a:gd name="T60" fmla="*/ 4342 w 4736"/>
              <a:gd name="T61" fmla="*/ 1367 h 2398"/>
              <a:gd name="T62" fmla="*/ 4151 w 4736"/>
              <a:gd name="T63" fmla="*/ 1257 h 2398"/>
              <a:gd name="T64" fmla="*/ 4082 w 4736"/>
              <a:gd name="T65" fmla="*/ 1217 h 2398"/>
              <a:gd name="T66" fmla="*/ 4072 w 4736"/>
              <a:gd name="T67" fmla="*/ 1211 h 2398"/>
              <a:gd name="T68" fmla="*/ 3938 w 4736"/>
              <a:gd name="T69" fmla="*/ 1134 h 2398"/>
              <a:gd name="T70" fmla="*/ 3871 w 4736"/>
              <a:gd name="T71" fmla="*/ 1095 h 2398"/>
              <a:gd name="T72" fmla="*/ 3847 w 4736"/>
              <a:gd name="T73" fmla="*/ 1081 h 2398"/>
              <a:gd name="T74" fmla="*/ 3843 w 4736"/>
              <a:gd name="T75" fmla="*/ 1078 h 2398"/>
              <a:gd name="T76" fmla="*/ 3440 w 4736"/>
              <a:gd name="T77" fmla="*/ 1049 h 2398"/>
              <a:gd name="T78" fmla="*/ 3026 w 4736"/>
              <a:gd name="T79" fmla="*/ 970 h 2398"/>
              <a:gd name="T80" fmla="*/ 2623 w 4736"/>
              <a:gd name="T81" fmla="*/ 848 h 2398"/>
              <a:gd name="T82" fmla="*/ 2251 w 4736"/>
              <a:gd name="T83" fmla="*/ 687 h 2398"/>
              <a:gd name="T84" fmla="*/ 1424 w 4736"/>
              <a:gd name="T85" fmla="*/ 267 h 2398"/>
              <a:gd name="T86" fmla="*/ 1047 w 4736"/>
              <a:gd name="T87" fmla="*/ 76 h 2398"/>
              <a:gd name="T88" fmla="*/ 916 w 4736"/>
              <a:gd name="T89" fmla="*/ 9 h 2398"/>
              <a:gd name="T90" fmla="*/ 897 w 4736"/>
              <a:gd name="T91" fmla="*/ 0 h 23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4736" h="2398">
                <a:moveTo>
                  <a:pt x="897" y="0"/>
                </a:moveTo>
                <a:cubicBezTo>
                  <a:pt x="887" y="43"/>
                  <a:pt x="880" y="76"/>
                  <a:pt x="874" y="102"/>
                </a:cubicBezTo>
                <a:cubicBezTo>
                  <a:pt x="868" y="127"/>
                  <a:pt x="865" y="144"/>
                  <a:pt x="862" y="156"/>
                </a:cubicBezTo>
                <a:cubicBezTo>
                  <a:pt x="859" y="167"/>
                  <a:pt x="858" y="173"/>
                  <a:pt x="858" y="176"/>
                </a:cubicBezTo>
                <a:cubicBezTo>
                  <a:pt x="857" y="179"/>
                  <a:pt x="857" y="179"/>
                  <a:pt x="857" y="179"/>
                </a:cubicBezTo>
                <a:cubicBezTo>
                  <a:pt x="837" y="254"/>
                  <a:pt x="822" y="312"/>
                  <a:pt x="811" y="356"/>
                </a:cubicBezTo>
                <a:cubicBezTo>
                  <a:pt x="799" y="401"/>
                  <a:pt x="791" y="432"/>
                  <a:pt x="786" y="452"/>
                </a:cubicBezTo>
                <a:cubicBezTo>
                  <a:pt x="780" y="473"/>
                  <a:pt x="777" y="483"/>
                  <a:pt x="776" y="488"/>
                </a:cubicBezTo>
                <a:cubicBezTo>
                  <a:pt x="775" y="494"/>
                  <a:pt x="775" y="494"/>
                  <a:pt x="775" y="494"/>
                </a:cubicBezTo>
                <a:cubicBezTo>
                  <a:pt x="641" y="503"/>
                  <a:pt x="540" y="510"/>
                  <a:pt x="465" y="516"/>
                </a:cubicBezTo>
                <a:cubicBezTo>
                  <a:pt x="389" y="521"/>
                  <a:pt x="338" y="525"/>
                  <a:pt x="305" y="527"/>
                </a:cubicBezTo>
                <a:cubicBezTo>
                  <a:pt x="271" y="530"/>
                  <a:pt x="254" y="531"/>
                  <a:pt x="246" y="531"/>
                </a:cubicBezTo>
                <a:cubicBezTo>
                  <a:pt x="237" y="532"/>
                  <a:pt x="237" y="532"/>
                  <a:pt x="237" y="532"/>
                </a:cubicBezTo>
                <a:cubicBezTo>
                  <a:pt x="178" y="537"/>
                  <a:pt x="134" y="541"/>
                  <a:pt x="100" y="543"/>
                </a:cubicBezTo>
                <a:cubicBezTo>
                  <a:pt x="67" y="546"/>
                  <a:pt x="45" y="548"/>
                  <a:pt x="30" y="549"/>
                </a:cubicBezTo>
                <a:cubicBezTo>
                  <a:pt x="15" y="550"/>
                  <a:pt x="7" y="551"/>
                  <a:pt x="4" y="551"/>
                </a:cubicBezTo>
                <a:cubicBezTo>
                  <a:pt x="0" y="552"/>
                  <a:pt x="0" y="552"/>
                  <a:pt x="0" y="552"/>
                </a:cubicBezTo>
                <a:cubicBezTo>
                  <a:pt x="315" y="748"/>
                  <a:pt x="568" y="905"/>
                  <a:pt x="767" y="1029"/>
                </a:cubicBezTo>
                <a:cubicBezTo>
                  <a:pt x="975" y="1159"/>
                  <a:pt x="1119" y="1248"/>
                  <a:pt x="1217" y="1310"/>
                </a:cubicBezTo>
                <a:cubicBezTo>
                  <a:pt x="1318" y="1372"/>
                  <a:pt x="1369" y="1404"/>
                  <a:pt x="1394" y="1420"/>
                </a:cubicBezTo>
                <a:cubicBezTo>
                  <a:pt x="1420" y="1436"/>
                  <a:pt x="1420" y="1436"/>
                  <a:pt x="1420" y="1436"/>
                </a:cubicBezTo>
                <a:cubicBezTo>
                  <a:pt x="1640" y="1574"/>
                  <a:pt x="1879" y="1700"/>
                  <a:pt x="2132" y="1813"/>
                </a:cubicBezTo>
                <a:cubicBezTo>
                  <a:pt x="2394" y="1931"/>
                  <a:pt x="2669" y="2032"/>
                  <a:pt x="2951" y="2117"/>
                </a:cubicBezTo>
                <a:cubicBezTo>
                  <a:pt x="3240" y="2204"/>
                  <a:pt x="3534" y="2271"/>
                  <a:pt x="3825" y="2319"/>
                </a:cubicBezTo>
                <a:cubicBezTo>
                  <a:pt x="4121" y="2367"/>
                  <a:pt x="4411" y="2393"/>
                  <a:pt x="4689" y="2398"/>
                </a:cubicBezTo>
                <a:cubicBezTo>
                  <a:pt x="4695" y="2308"/>
                  <a:pt x="4699" y="2242"/>
                  <a:pt x="4702" y="2193"/>
                </a:cubicBezTo>
                <a:cubicBezTo>
                  <a:pt x="4705" y="2145"/>
                  <a:pt x="4708" y="2113"/>
                  <a:pt x="4709" y="2092"/>
                </a:cubicBezTo>
                <a:cubicBezTo>
                  <a:pt x="4710" y="2072"/>
                  <a:pt x="4711" y="2061"/>
                  <a:pt x="4711" y="2056"/>
                </a:cubicBezTo>
                <a:cubicBezTo>
                  <a:pt x="4712" y="2051"/>
                  <a:pt x="4712" y="2051"/>
                  <a:pt x="4712" y="2051"/>
                </a:cubicBezTo>
                <a:cubicBezTo>
                  <a:pt x="4736" y="1593"/>
                  <a:pt x="4736" y="1593"/>
                  <a:pt x="4736" y="1593"/>
                </a:cubicBezTo>
                <a:cubicBezTo>
                  <a:pt x="4562" y="1493"/>
                  <a:pt x="4435" y="1420"/>
                  <a:pt x="4342" y="1367"/>
                </a:cubicBezTo>
                <a:cubicBezTo>
                  <a:pt x="4250" y="1314"/>
                  <a:pt x="4190" y="1279"/>
                  <a:pt x="4151" y="1257"/>
                </a:cubicBezTo>
                <a:cubicBezTo>
                  <a:pt x="4111" y="1234"/>
                  <a:pt x="4091" y="1223"/>
                  <a:pt x="4082" y="1217"/>
                </a:cubicBezTo>
                <a:cubicBezTo>
                  <a:pt x="4072" y="1211"/>
                  <a:pt x="4072" y="1211"/>
                  <a:pt x="4072" y="1211"/>
                </a:cubicBezTo>
                <a:cubicBezTo>
                  <a:pt x="4014" y="1178"/>
                  <a:pt x="3970" y="1153"/>
                  <a:pt x="3938" y="1134"/>
                </a:cubicBezTo>
                <a:cubicBezTo>
                  <a:pt x="3906" y="1115"/>
                  <a:pt x="3885" y="1103"/>
                  <a:pt x="3871" y="1095"/>
                </a:cubicBezTo>
                <a:cubicBezTo>
                  <a:pt x="3857" y="1087"/>
                  <a:pt x="3850" y="1083"/>
                  <a:pt x="3847" y="1081"/>
                </a:cubicBezTo>
                <a:cubicBezTo>
                  <a:pt x="3843" y="1078"/>
                  <a:pt x="3843" y="1078"/>
                  <a:pt x="3843" y="1078"/>
                </a:cubicBezTo>
                <a:cubicBezTo>
                  <a:pt x="3713" y="1077"/>
                  <a:pt x="3578" y="1067"/>
                  <a:pt x="3440" y="1049"/>
                </a:cubicBezTo>
                <a:cubicBezTo>
                  <a:pt x="3303" y="1031"/>
                  <a:pt x="3164" y="1004"/>
                  <a:pt x="3026" y="970"/>
                </a:cubicBezTo>
                <a:cubicBezTo>
                  <a:pt x="2889" y="937"/>
                  <a:pt x="2754" y="896"/>
                  <a:pt x="2623" y="848"/>
                </a:cubicBezTo>
                <a:cubicBezTo>
                  <a:pt x="2494" y="801"/>
                  <a:pt x="2369" y="747"/>
                  <a:pt x="2251" y="687"/>
                </a:cubicBezTo>
                <a:cubicBezTo>
                  <a:pt x="1877" y="497"/>
                  <a:pt x="1613" y="363"/>
                  <a:pt x="1424" y="267"/>
                </a:cubicBezTo>
                <a:cubicBezTo>
                  <a:pt x="1242" y="175"/>
                  <a:pt x="1124" y="115"/>
                  <a:pt x="1047" y="76"/>
                </a:cubicBezTo>
                <a:cubicBezTo>
                  <a:pt x="972" y="37"/>
                  <a:pt x="934" y="18"/>
                  <a:pt x="916" y="9"/>
                </a:cubicBezTo>
                <a:cubicBezTo>
                  <a:pt x="897" y="0"/>
                  <a:pt x="897" y="0"/>
                  <a:pt x="897" y="0"/>
                </a:cubicBezTo>
              </a:path>
            </a:pathLst>
          </a:custGeom>
          <a:gradFill>
            <a:gsLst>
              <a:gs pos="34000">
                <a:schemeClr val="accent5">
                  <a:lumMod val="80000"/>
                  <a:lumOff val="20000"/>
                </a:schemeClr>
              </a:gs>
              <a:gs pos="100000">
                <a:schemeClr val="accent5"/>
              </a:gs>
            </a:gsLst>
            <a:lin ang="0" scaled="0"/>
          </a:gradFill>
          <a:ln w="35814">
            <a:solidFill>
              <a:srgbClr val="FFFFFF"/>
            </a:solidFill>
          </a:ln>
          <a:effectLst/>
        </p:spPr>
        <p:txBody>
          <a:bodyPr vert="horz" wrap="square" lIns="114597" tIns="57299" rIns="114597" bIns="57299" numCol="1" spcCol="0" rtlCol="0" fromWordArt="0" anchor="t" anchorCtr="0" forceAA="0" compatLnSpc="1">
            <a:noAutofit/>
          </a:bodyPr>
          <a:lstStyle/>
          <a:p>
            <a:pPr lvl="0" algn="l">
              <a:buClrTx/>
              <a:buSzTx/>
              <a:buFontTx/>
            </a:pPr>
            <a:endParaRPr lang="en-US" sz="3010">
              <a:latin typeface="微软雅黑" panose="020B0503020204020204" charset="-122"/>
              <a:ea typeface="微软雅黑" panose="020B0503020204020204" charset="-122"/>
              <a:cs typeface="微软雅黑" panose="020B0503020204020204" charset="-122"/>
              <a:sym typeface="+mn-ea"/>
            </a:endParaRPr>
          </a:p>
        </p:txBody>
      </p:sp>
      <p:sp>
        <p:nvSpPr>
          <p:cNvPr id="6" name="Freeform 8"/>
          <p:cNvSpPr/>
          <p:nvPr/>
        </p:nvSpPr>
        <p:spPr bwMode="auto">
          <a:xfrm>
            <a:off x="8676323" y="3113723"/>
            <a:ext cx="1821249" cy="1593425"/>
          </a:xfrm>
          <a:custGeom>
            <a:avLst/>
            <a:gdLst>
              <a:gd name="T0" fmla="*/ 1287 w 2947"/>
              <a:gd name="T1" fmla="*/ 0 h 2577"/>
              <a:gd name="T2" fmla="*/ 1153 w 2947"/>
              <a:gd name="T3" fmla="*/ 85 h 2577"/>
              <a:gd name="T4" fmla="*/ 1082 w 2947"/>
              <a:gd name="T5" fmla="*/ 131 h 2577"/>
              <a:gd name="T6" fmla="*/ 1055 w 2947"/>
              <a:gd name="T7" fmla="*/ 148 h 2577"/>
              <a:gd name="T8" fmla="*/ 1051 w 2947"/>
              <a:gd name="T9" fmla="*/ 150 h 2577"/>
              <a:gd name="T10" fmla="*/ 990 w 2947"/>
              <a:gd name="T11" fmla="*/ 193 h 2577"/>
              <a:gd name="T12" fmla="*/ 958 w 2947"/>
              <a:gd name="T13" fmla="*/ 215 h 2577"/>
              <a:gd name="T14" fmla="*/ 946 w 2947"/>
              <a:gd name="T15" fmla="*/ 224 h 2577"/>
              <a:gd name="T16" fmla="*/ 944 w 2947"/>
              <a:gd name="T17" fmla="*/ 225 h 2577"/>
              <a:gd name="T18" fmla="*/ 1049 w 2947"/>
              <a:gd name="T19" fmla="*/ 383 h 2577"/>
              <a:gd name="T20" fmla="*/ 1109 w 2947"/>
              <a:gd name="T21" fmla="*/ 545 h 2577"/>
              <a:gd name="T22" fmla="*/ 1116 w 2947"/>
              <a:gd name="T23" fmla="*/ 707 h 2577"/>
              <a:gd name="T24" fmla="*/ 1062 w 2947"/>
              <a:gd name="T25" fmla="*/ 865 h 2577"/>
              <a:gd name="T26" fmla="*/ 907 w 2947"/>
              <a:gd name="T27" fmla="*/ 1026 h 2577"/>
              <a:gd name="T28" fmla="*/ 670 w 2947"/>
              <a:gd name="T29" fmla="*/ 1148 h 2577"/>
              <a:gd name="T30" fmla="*/ 363 w 2947"/>
              <a:gd name="T31" fmla="*/ 1227 h 2577"/>
              <a:gd name="T32" fmla="*/ 0 w 2947"/>
              <a:gd name="T33" fmla="*/ 1257 h 2577"/>
              <a:gd name="T34" fmla="*/ 132 w 2947"/>
              <a:gd name="T35" fmla="*/ 1333 h 2577"/>
              <a:gd name="T36" fmla="*/ 201 w 2947"/>
              <a:gd name="T37" fmla="*/ 1373 h 2577"/>
              <a:gd name="T38" fmla="*/ 227 w 2947"/>
              <a:gd name="T39" fmla="*/ 1387 h 2577"/>
              <a:gd name="T40" fmla="*/ 230 w 2947"/>
              <a:gd name="T41" fmla="*/ 1390 h 2577"/>
              <a:gd name="T42" fmla="*/ 606 w 2947"/>
              <a:gd name="T43" fmla="*/ 1605 h 2577"/>
              <a:gd name="T44" fmla="*/ 810 w 2947"/>
              <a:gd name="T45" fmla="*/ 1721 h 2577"/>
              <a:gd name="T46" fmla="*/ 887 w 2947"/>
              <a:gd name="T47" fmla="*/ 1765 h 2577"/>
              <a:gd name="T48" fmla="*/ 898 w 2947"/>
              <a:gd name="T49" fmla="*/ 1771 h 2577"/>
              <a:gd name="T50" fmla="*/ 887 w 2947"/>
              <a:gd name="T51" fmla="*/ 2029 h 2577"/>
              <a:gd name="T52" fmla="*/ 881 w 2947"/>
              <a:gd name="T53" fmla="*/ 2169 h 2577"/>
              <a:gd name="T54" fmla="*/ 879 w 2947"/>
              <a:gd name="T55" fmla="*/ 2222 h 2577"/>
              <a:gd name="T56" fmla="*/ 879 w 2947"/>
              <a:gd name="T57" fmla="*/ 2230 h 2577"/>
              <a:gd name="T58" fmla="*/ 867 w 2947"/>
              <a:gd name="T59" fmla="*/ 2426 h 2577"/>
              <a:gd name="T60" fmla="*/ 861 w 2947"/>
              <a:gd name="T61" fmla="*/ 2532 h 2577"/>
              <a:gd name="T62" fmla="*/ 859 w 2947"/>
              <a:gd name="T63" fmla="*/ 2571 h 2577"/>
              <a:gd name="T64" fmla="*/ 859 w 2947"/>
              <a:gd name="T65" fmla="*/ 2577 h 2577"/>
              <a:gd name="T66" fmla="*/ 1649 w 2947"/>
              <a:gd name="T67" fmla="*/ 2509 h 2577"/>
              <a:gd name="T68" fmla="*/ 2283 w 2947"/>
              <a:gd name="T69" fmla="*/ 2311 h 2577"/>
              <a:gd name="T70" fmla="*/ 2714 w 2947"/>
              <a:gd name="T71" fmla="*/ 2004 h 2577"/>
              <a:gd name="T72" fmla="*/ 2920 w 2947"/>
              <a:gd name="T73" fmla="*/ 1614 h 2577"/>
              <a:gd name="T74" fmla="*/ 2921 w 2947"/>
              <a:gd name="T75" fmla="*/ 1248 h 2577"/>
              <a:gd name="T76" fmla="*/ 2785 w 2947"/>
              <a:gd name="T77" fmla="*/ 891 h 2577"/>
              <a:gd name="T78" fmla="*/ 2549 w 2947"/>
              <a:gd name="T79" fmla="*/ 556 h 2577"/>
              <a:gd name="T80" fmla="*/ 2241 w 2947"/>
              <a:gd name="T81" fmla="*/ 249 h 2577"/>
              <a:gd name="T82" fmla="*/ 2025 w 2947"/>
              <a:gd name="T83" fmla="*/ 194 h 2577"/>
              <a:gd name="T84" fmla="*/ 1916 w 2947"/>
              <a:gd name="T85" fmla="*/ 166 h 2577"/>
              <a:gd name="T86" fmla="*/ 1876 w 2947"/>
              <a:gd name="T87" fmla="*/ 155 h 2577"/>
              <a:gd name="T88" fmla="*/ 1871 w 2947"/>
              <a:gd name="T89" fmla="*/ 154 h 2577"/>
              <a:gd name="T90" fmla="*/ 1287 w 2947"/>
              <a:gd name="T91" fmla="*/ 0 h 25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2947" h="2577">
                <a:moveTo>
                  <a:pt x="1287" y="0"/>
                </a:moveTo>
                <a:cubicBezTo>
                  <a:pt x="1230" y="36"/>
                  <a:pt x="1186" y="64"/>
                  <a:pt x="1153" y="85"/>
                </a:cubicBezTo>
                <a:cubicBezTo>
                  <a:pt x="1119" y="107"/>
                  <a:pt x="1097" y="121"/>
                  <a:pt x="1082" y="131"/>
                </a:cubicBezTo>
                <a:cubicBezTo>
                  <a:pt x="1066" y="140"/>
                  <a:pt x="1059" y="145"/>
                  <a:pt x="1055" y="148"/>
                </a:cubicBezTo>
                <a:cubicBezTo>
                  <a:pt x="1051" y="150"/>
                  <a:pt x="1051" y="150"/>
                  <a:pt x="1051" y="150"/>
                </a:cubicBezTo>
                <a:cubicBezTo>
                  <a:pt x="1025" y="168"/>
                  <a:pt x="1005" y="182"/>
                  <a:pt x="990" y="193"/>
                </a:cubicBezTo>
                <a:cubicBezTo>
                  <a:pt x="974" y="204"/>
                  <a:pt x="964" y="211"/>
                  <a:pt x="958" y="215"/>
                </a:cubicBezTo>
                <a:cubicBezTo>
                  <a:pt x="951" y="220"/>
                  <a:pt x="947" y="222"/>
                  <a:pt x="946" y="224"/>
                </a:cubicBezTo>
                <a:cubicBezTo>
                  <a:pt x="944" y="225"/>
                  <a:pt x="944" y="225"/>
                  <a:pt x="944" y="225"/>
                </a:cubicBezTo>
                <a:cubicBezTo>
                  <a:pt x="986" y="277"/>
                  <a:pt x="1021" y="331"/>
                  <a:pt x="1049" y="383"/>
                </a:cubicBezTo>
                <a:cubicBezTo>
                  <a:pt x="1077" y="438"/>
                  <a:pt x="1097" y="492"/>
                  <a:pt x="1109" y="545"/>
                </a:cubicBezTo>
                <a:cubicBezTo>
                  <a:pt x="1120" y="600"/>
                  <a:pt x="1123" y="654"/>
                  <a:pt x="1116" y="707"/>
                </a:cubicBezTo>
                <a:cubicBezTo>
                  <a:pt x="1108" y="761"/>
                  <a:pt x="1091" y="814"/>
                  <a:pt x="1062" y="865"/>
                </a:cubicBezTo>
                <a:cubicBezTo>
                  <a:pt x="1025" y="925"/>
                  <a:pt x="972" y="978"/>
                  <a:pt x="907" y="1026"/>
                </a:cubicBezTo>
                <a:cubicBezTo>
                  <a:pt x="841" y="1074"/>
                  <a:pt x="761" y="1115"/>
                  <a:pt x="670" y="1148"/>
                </a:cubicBezTo>
                <a:cubicBezTo>
                  <a:pt x="578" y="1182"/>
                  <a:pt x="475" y="1209"/>
                  <a:pt x="363" y="1227"/>
                </a:cubicBezTo>
                <a:cubicBezTo>
                  <a:pt x="250" y="1245"/>
                  <a:pt x="128" y="1255"/>
                  <a:pt x="0" y="1257"/>
                </a:cubicBezTo>
                <a:cubicBezTo>
                  <a:pt x="57" y="1289"/>
                  <a:pt x="100" y="1314"/>
                  <a:pt x="132" y="1333"/>
                </a:cubicBezTo>
                <a:cubicBezTo>
                  <a:pt x="165" y="1352"/>
                  <a:pt x="187" y="1364"/>
                  <a:pt x="201" y="1373"/>
                </a:cubicBezTo>
                <a:cubicBezTo>
                  <a:pt x="216" y="1381"/>
                  <a:pt x="223" y="1385"/>
                  <a:pt x="227" y="1387"/>
                </a:cubicBezTo>
                <a:cubicBezTo>
                  <a:pt x="230" y="1390"/>
                  <a:pt x="230" y="1390"/>
                  <a:pt x="230" y="1390"/>
                </a:cubicBezTo>
                <a:cubicBezTo>
                  <a:pt x="390" y="1481"/>
                  <a:pt x="512" y="1551"/>
                  <a:pt x="606" y="1605"/>
                </a:cubicBezTo>
                <a:cubicBezTo>
                  <a:pt x="702" y="1659"/>
                  <a:pt x="766" y="1696"/>
                  <a:pt x="810" y="1721"/>
                </a:cubicBezTo>
                <a:cubicBezTo>
                  <a:pt x="854" y="1746"/>
                  <a:pt x="876" y="1759"/>
                  <a:pt x="887" y="1765"/>
                </a:cubicBezTo>
                <a:cubicBezTo>
                  <a:pt x="898" y="1771"/>
                  <a:pt x="898" y="1771"/>
                  <a:pt x="898" y="1771"/>
                </a:cubicBezTo>
                <a:cubicBezTo>
                  <a:pt x="893" y="1880"/>
                  <a:pt x="890" y="1964"/>
                  <a:pt x="887" y="2029"/>
                </a:cubicBezTo>
                <a:cubicBezTo>
                  <a:pt x="884" y="2094"/>
                  <a:pt x="882" y="2139"/>
                  <a:pt x="881" y="2169"/>
                </a:cubicBezTo>
                <a:cubicBezTo>
                  <a:pt x="880" y="2199"/>
                  <a:pt x="879" y="2214"/>
                  <a:pt x="879" y="2222"/>
                </a:cubicBezTo>
                <a:cubicBezTo>
                  <a:pt x="879" y="2230"/>
                  <a:pt x="879" y="2230"/>
                  <a:pt x="879" y="2230"/>
                </a:cubicBezTo>
                <a:cubicBezTo>
                  <a:pt x="874" y="2313"/>
                  <a:pt x="870" y="2377"/>
                  <a:pt x="867" y="2426"/>
                </a:cubicBezTo>
                <a:cubicBezTo>
                  <a:pt x="865" y="2476"/>
                  <a:pt x="863" y="2509"/>
                  <a:pt x="861" y="2532"/>
                </a:cubicBezTo>
                <a:cubicBezTo>
                  <a:pt x="860" y="2554"/>
                  <a:pt x="860" y="2565"/>
                  <a:pt x="859" y="2571"/>
                </a:cubicBezTo>
                <a:cubicBezTo>
                  <a:pt x="859" y="2577"/>
                  <a:pt x="859" y="2577"/>
                  <a:pt x="859" y="2577"/>
                </a:cubicBezTo>
                <a:cubicBezTo>
                  <a:pt x="1141" y="2577"/>
                  <a:pt x="1407" y="2554"/>
                  <a:pt x="1649" y="2509"/>
                </a:cubicBezTo>
                <a:cubicBezTo>
                  <a:pt x="1889" y="2464"/>
                  <a:pt x="2102" y="2398"/>
                  <a:pt x="2283" y="2311"/>
                </a:cubicBezTo>
                <a:cubicBezTo>
                  <a:pt x="2460" y="2227"/>
                  <a:pt x="2605" y="2124"/>
                  <a:pt x="2714" y="2004"/>
                </a:cubicBezTo>
                <a:cubicBezTo>
                  <a:pt x="2818" y="1888"/>
                  <a:pt x="2888" y="1758"/>
                  <a:pt x="2920" y="1614"/>
                </a:cubicBezTo>
                <a:cubicBezTo>
                  <a:pt x="2947" y="1495"/>
                  <a:pt x="2946" y="1372"/>
                  <a:pt x="2921" y="1248"/>
                </a:cubicBezTo>
                <a:cubicBezTo>
                  <a:pt x="2896" y="1129"/>
                  <a:pt x="2850" y="1010"/>
                  <a:pt x="2785" y="891"/>
                </a:cubicBezTo>
                <a:cubicBezTo>
                  <a:pt x="2723" y="778"/>
                  <a:pt x="2643" y="666"/>
                  <a:pt x="2549" y="556"/>
                </a:cubicBezTo>
                <a:cubicBezTo>
                  <a:pt x="2459" y="451"/>
                  <a:pt x="2355" y="348"/>
                  <a:pt x="2241" y="249"/>
                </a:cubicBezTo>
                <a:cubicBezTo>
                  <a:pt x="2147" y="225"/>
                  <a:pt x="2077" y="207"/>
                  <a:pt x="2025" y="194"/>
                </a:cubicBezTo>
                <a:cubicBezTo>
                  <a:pt x="1973" y="180"/>
                  <a:pt x="1939" y="171"/>
                  <a:pt x="1916" y="166"/>
                </a:cubicBezTo>
                <a:cubicBezTo>
                  <a:pt x="1893" y="160"/>
                  <a:pt x="1882" y="157"/>
                  <a:pt x="1876" y="155"/>
                </a:cubicBezTo>
                <a:cubicBezTo>
                  <a:pt x="1871" y="154"/>
                  <a:pt x="1871" y="154"/>
                  <a:pt x="1871" y="154"/>
                </a:cubicBezTo>
                <a:cubicBezTo>
                  <a:pt x="1287" y="0"/>
                  <a:pt x="1287" y="0"/>
                  <a:pt x="1287" y="0"/>
                </a:cubicBezTo>
              </a:path>
            </a:pathLst>
          </a:custGeom>
          <a:gradFill>
            <a:gsLst>
              <a:gs pos="0">
                <a:schemeClr val="accent5">
                  <a:lumMod val="60000"/>
                  <a:lumOff val="40000"/>
                </a:schemeClr>
              </a:gs>
              <a:gs pos="100000">
                <a:schemeClr val="accent5">
                  <a:lumMod val="80000"/>
                  <a:lumOff val="20000"/>
                </a:schemeClr>
              </a:gs>
            </a:gsLst>
            <a:lin ang="5400000" scaled="0"/>
          </a:gradFill>
          <a:ln w="19050" cap="flat" cmpd="sng" algn="ctr">
            <a:solidFill>
              <a:schemeClr val="bg1"/>
            </a:solidFill>
            <a:prstDash val="solid"/>
            <a:miter lim="800000"/>
          </a:ln>
          <a:effectLst/>
        </p:spPr>
        <p:style>
          <a:lnRef idx="2">
            <a:srgbClr val="64171D">
              <a:shade val="15000"/>
            </a:srgbClr>
          </a:lnRef>
          <a:fillRef idx="1">
            <a:srgbClr val="64171D"/>
          </a:fillRef>
          <a:effectRef idx="0">
            <a:srgbClr val="64171D"/>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 name="Freeform 9"/>
          <p:cNvSpPr/>
          <p:nvPr/>
        </p:nvSpPr>
        <p:spPr bwMode="auto">
          <a:xfrm>
            <a:off x="3569350" y="3178587"/>
            <a:ext cx="2623977" cy="1466832"/>
          </a:xfrm>
          <a:custGeom>
            <a:avLst/>
            <a:gdLst>
              <a:gd name="T0" fmla="*/ 3377 w 4246"/>
              <a:gd name="T1" fmla="*/ 0 h 2372"/>
              <a:gd name="T2" fmla="*/ 2566 w 4246"/>
              <a:gd name="T3" fmla="*/ 411 h 2372"/>
              <a:gd name="T4" fmla="*/ 2092 w 4246"/>
              <a:gd name="T5" fmla="*/ 651 h 2372"/>
              <a:gd name="T6" fmla="*/ 1905 w 4246"/>
              <a:gd name="T7" fmla="*/ 746 h 2372"/>
              <a:gd name="T8" fmla="*/ 1878 w 4246"/>
              <a:gd name="T9" fmla="*/ 759 h 2372"/>
              <a:gd name="T10" fmla="*/ 1603 w 4246"/>
              <a:gd name="T11" fmla="*/ 882 h 2372"/>
              <a:gd name="T12" fmla="*/ 1309 w 4246"/>
              <a:gd name="T13" fmla="*/ 984 h 2372"/>
              <a:gd name="T14" fmla="*/ 1004 w 4246"/>
              <a:gd name="T15" fmla="*/ 1065 h 2372"/>
              <a:gd name="T16" fmla="*/ 693 w 4246"/>
              <a:gd name="T17" fmla="*/ 1121 h 2372"/>
              <a:gd name="T18" fmla="*/ 607 w 4246"/>
              <a:gd name="T19" fmla="*/ 1190 h 2372"/>
              <a:gd name="T20" fmla="*/ 561 w 4246"/>
              <a:gd name="T21" fmla="*/ 1225 h 2372"/>
              <a:gd name="T22" fmla="*/ 545 w 4246"/>
              <a:gd name="T23" fmla="*/ 1239 h 2372"/>
              <a:gd name="T24" fmla="*/ 542 w 4246"/>
              <a:gd name="T25" fmla="*/ 1240 h 2372"/>
              <a:gd name="T26" fmla="*/ 238 w 4246"/>
              <a:gd name="T27" fmla="*/ 1478 h 2372"/>
              <a:gd name="T28" fmla="*/ 72 w 4246"/>
              <a:gd name="T29" fmla="*/ 1608 h 2372"/>
              <a:gd name="T30" fmla="*/ 9 w 4246"/>
              <a:gd name="T31" fmla="*/ 1657 h 2372"/>
              <a:gd name="T32" fmla="*/ 0 w 4246"/>
              <a:gd name="T33" fmla="*/ 1665 h 2372"/>
              <a:gd name="T34" fmla="*/ 124 w 4246"/>
              <a:gd name="T35" fmla="*/ 1882 h 2372"/>
              <a:gd name="T36" fmla="*/ 191 w 4246"/>
              <a:gd name="T37" fmla="*/ 2000 h 2372"/>
              <a:gd name="T38" fmla="*/ 217 w 4246"/>
              <a:gd name="T39" fmla="*/ 2044 h 2372"/>
              <a:gd name="T40" fmla="*/ 220 w 4246"/>
              <a:gd name="T41" fmla="*/ 2050 h 2372"/>
              <a:gd name="T42" fmla="*/ 326 w 4246"/>
              <a:gd name="T43" fmla="*/ 2233 h 2372"/>
              <a:gd name="T44" fmla="*/ 382 w 4246"/>
              <a:gd name="T45" fmla="*/ 2330 h 2372"/>
              <a:gd name="T46" fmla="*/ 403 w 4246"/>
              <a:gd name="T47" fmla="*/ 2367 h 2372"/>
              <a:gd name="T48" fmla="*/ 406 w 4246"/>
              <a:gd name="T49" fmla="*/ 2372 h 2372"/>
              <a:gd name="T50" fmla="*/ 1039 w 4246"/>
              <a:gd name="T51" fmla="*/ 2227 h 2372"/>
              <a:gd name="T52" fmla="*/ 1645 w 4246"/>
              <a:gd name="T53" fmla="*/ 2030 h 2372"/>
              <a:gd name="T54" fmla="*/ 2207 w 4246"/>
              <a:gd name="T55" fmla="*/ 1787 h 2372"/>
              <a:gd name="T56" fmla="*/ 2710 w 4246"/>
              <a:gd name="T57" fmla="*/ 1508 h 2372"/>
              <a:gd name="T58" fmla="*/ 3609 w 4246"/>
              <a:gd name="T59" fmla="*/ 946 h 2372"/>
              <a:gd name="T60" fmla="*/ 4037 w 4246"/>
              <a:gd name="T61" fmla="*/ 678 h 2372"/>
              <a:gd name="T62" fmla="*/ 4208 w 4246"/>
              <a:gd name="T63" fmla="*/ 572 h 2372"/>
              <a:gd name="T64" fmla="*/ 4246 w 4246"/>
              <a:gd name="T65" fmla="*/ 548 h 2372"/>
              <a:gd name="T66" fmla="*/ 4246 w 4246"/>
              <a:gd name="T67" fmla="*/ 547 h 2372"/>
              <a:gd name="T68" fmla="*/ 4245 w 4246"/>
              <a:gd name="T69" fmla="*/ 547 h 2372"/>
              <a:gd name="T70" fmla="*/ 4245 w 4246"/>
              <a:gd name="T71" fmla="*/ 547 h 2372"/>
              <a:gd name="T72" fmla="*/ 4245 w 4246"/>
              <a:gd name="T73" fmla="*/ 547 h 2372"/>
              <a:gd name="T74" fmla="*/ 4230 w 4246"/>
              <a:gd name="T75" fmla="*/ 537 h 2372"/>
              <a:gd name="T76" fmla="*/ 4126 w 4246"/>
              <a:gd name="T77" fmla="*/ 472 h 2372"/>
              <a:gd name="T78" fmla="*/ 3855 w 4246"/>
              <a:gd name="T79" fmla="*/ 301 h 2372"/>
              <a:gd name="T80" fmla="*/ 3377 w 4246"/>
              <a:gd name="T81" fmla="*/ 0 h 2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4246" h="2372">
                <a:moveTo>
                  <a:pt x="3377" y="0"/>
                </a:moveTo>
                <a:cubicBezTo>
                  <a:pt x="3043" y="169"/>
                  <a:pt x="2776" y="304"/>
                  <a:pt x="2566" y="411"/>
                </a:cubicBezTo>
                <a:cubicBezTo>
                  <a:pt x="2347" y="522"/>
                  <a:pt x="2195" y="599"/>
                  <a:pt x="2092" y="651"/>
                </a:cubicBezTo>
                <a:cubicBezTo>
                  <a:pt x="1986" y="705"/>
                  <a:pt x="1932" y="732"/>
                  <a:pt x="1905" y="746"/>
                </a:cubicBezTo>
                <a:cubicBezTo>
                  <a:pt x="1878" y="759"/>
                  <a:pt x="1878" y="759"/>
                  <a:pt x="1878" y="759"/>
                </a:cubicBezTo>
                <a:cubicBezTo>
                  <a:pt x="1789" y="803"/>
                  <a:pt x="1697" y="844"/>
                  <a:pt x="1603" y="882"/>
                </a:cubicBezTo>
                <a:cubicBezTo>
                  <a:pt x="1507" y="919"/>
                  <a:pt x="1409" y="954"/>
                  <a:pt x="1309" y="984"/>
                </a:cubicBezTo>
                <a:cubicBezTo>
                  <a:pt x="1209" y="1015"/>
                  <a:pt x="1106" y="1042"/>
                  <a:pt x="1004" y="1065"/>
                </a:cubicBezTo>
                <a:cubicBezTo>
                  <a:pt x="900" y="1088"/>
                  <a:pt x="796" y="1107"/>
                  <a:pt x="693" y="1121"/>
                </a:cubicBezTo>
                <a:cubicBezTo>
                  <a:pt x="656" y="1151"/>
                  <a:pt x="628" y="1173"/>
                  <a:pt x="607" y="1190"/>
                </a:cubicBezTo>
                <a:cubicBezTo>
                  <a:pt x="585" y="1206"/>
                  <a:pt x="571" y="1218"/>
                  <a:pt x="561" y="1225"/>
                </a:cubicBezTo>
                <a:cubicBezTo>
                  <a:pt x="552" y="1233"/>
                  <a:pt x="547" y="1237"/>
                  <a:pt x="545" y="1239"/>
                </a:cubicBezTo>
                <a:cubicBezTo>
                  <a:pt x="542" y="1240"/>
                  <a:pt x="542" y="1240"/>
                  <a:pt x="542" y="1240"/>
                </a:cubicBezTo>
                <a:cubicBezTo>
                  <a:pt x="414" y="1341"/>
                  <a:pt x="314" y="1419"/>
                  <a:pt x="238" y="1478"/>
                </a:cubicBezTo>
                <a:cubicBezTo>
                  <a:pt x="160" y="1539"/>
                  <a:pt x="108" y="1580"/>
                  <a:pt x="72" y="1608"/>
                </a:cubicBezTo>
                <a:cubicBezTo>
                  <a:pt x="36" y="1636"/>
                  <a:pt x="18" y="1650"/>
                  <a:pt x="9" y="1657"/>
                </a:cubicBezTo>
                <a:cubicBezTo>
                  <a:pt x="0" y="1665"/>
                  <a:pt x="0" y="1665"/>
                  <a:pt x="0" y="1665"/>
                </a:cubicBezTo>
                <a:cubicBezTo>
                  <a:pt x="53" y="1757"/>
                  <a:pt x="93" y="1828"/>
                  <a:pt x="124" y="1882"/>
                </a:cubicBezTo>
                <a:cubicBezTo>
                  <a:pt x="156" y="1937"/>
                  <a:pt x="177" y="1975"/>
                  <a:pt x="191" y="2000"/>
                </a:cubicBezTo>
                <a:cubicBezTo>
                  <a:pt x="206" y="2025"/>
                  <a:pt x="213" y="2038"/>
                  <a:pt x="217" y="2044"/>
                </a:cubicBezTo>
                <a:cubicBezTo>
                  <a:pt x="220" y="2050"/>
                  <a:pt x="220" y="2050"/>
                  <a:pt x="220" y="2050"/>
                </a:cubicBezTo>
                <a:cubicBezTo>
                  <a:pt x="265" y="2128"/>
                  <a:pt x="300" y="2187"/>
                  <a:pt x="326" y="2233"/>
                </a:cubicBezTo>
                <a:cubicBezTo>
                  <a:pt x="352" y="2278"/>
                  <a:pt x="370" y="2309"/>
                  <a:pt x="382" y="2330"/>
                </a:cubicBezTo>
                <a:cubicBezTo>
                  <a:pt x="394" y="2351"/>
                  <a:pt x="400" y="2361"/>
                  <a:pt x="403" y="2367"/>
                </a:cubicBezTo>
                <a:cubicBezTo>
                  <a:pt x="406" y="2372"/>
                  <a:pt x="406" y="2372"/>
                  <a:pt x="406" y="2372"/>
                </a:cubicBezTo>
                <a:cubicBezTo>
                  <a:pt x="618" y="2333"/>
                  <a:pt x="830" y="2285"/>
                  <a:pt x="1039" y="2227"/>
                </a:cubicBezTo>
                <a:cubicBezTo>
                  <a:pt x="1245" y="2170"/>
                  <a:pt x="1447" y="2104"/>
                  <a:pt x="1645" y="2030"/>
                </a:cubicBezTo>
                <a:cubicBezTo>
                  <a:pt x="1839" y="1957"/>
                  <a:pt x="2026" y="1876"/>
                  <a:pt x="2207" y="1787"/>
                </a:cubicBezTo>
                <a:cubicBezTo>
                  <a:pt x="2383" y="1701"/>
                  <a:pt x="2551" y="1607"/>
                  <a:pt x="2710" y="1508"/>
                </a:cubicBezTo>
                <a:cubicBezTo>
                  <a:pt x="3111" y="1257"/>
                  <a:pt x="3399" y="1077"/>
                  <a:pt x="3609" y="946"/>
                </a:cubicBezTo>
                <a:cubicBezTo>
                  <a:pt x="3809" y="821"/>
                  <a:pt x="3944" y="736"/>
                  <a:pt x="4037" y="678"/>
                </a:cubicBezTo>
                <a:cubicBezTo>
                  <a:pt x="4127" y="622"/>
                  <a:pt x="4179" y="590"/>
                  <a:pt x="4208" y="572"/>
                </a:cubicBezTo>
                <a:cubicBezTo>
                  <a:pt x="4237" y="553"/>
                  <a:pt x="4244" y="549"/>
                  <a:pt x="4246" y="548"/>
                </a:cubicBezTo>
                <a:cubicBezTo>
                  <a:pt x="4246" y="548"/>
                  <a:pt x="4246" y="547"/>
                  <a:pt x="4246" y="547"/>
                </a:cubicBezTo>
                <a:cubicBezTo>
                  <a:pt x="4246" y="547"/>
                  <a:pt x="4246" y="547"/>
                  <a:pt x="4245" y="547"/>
                </a:cubicBezTo>
                <a:cubicBezTo>
                  <a:pt x="4245" y="547"/>
                  <a:pt x="4245" y="547"/>
                  <a:pt x="4245" y="547"/>
                </a:cubicBezTo>
                <a:cubicBezTo>
                  <a:pt x="4245" y="547"/>
                  <a:pt x="4245" y="547"/>
                  <a:pt x="4245" y="547"/>
                </a:cubicBezTo>
                <a:cubicBezTo>
                  <a:pt x="4245" y="547"/>
                  <a:pt x="4245" y="547"/>
                  <a:pt x="4230" y="537"/>
                </a:cubicBezTo>
                <a:cubicBezTo>
                  <a:pt x="4215" y="528"/>
                  <a:pt x="4185" y="509"/>
                  <a:pt x="4126" y="472"/>
                </a:cubicBezTo>
                <a:cubicBezTo>
                  <a:pt x="4067" y="435"/>
                  <a:pt x="3981" y="380"/>
                  <a:pt x="3855" y="301"/>
                </a:cubicBezTo>
                <a:cubicBezTo>
                  <a:pt x="3733" y="224"/>
                  <a:pt x="3577" y="125"/>
                  <a:pt x="3377" y="0"/>
                </a:cubicBezTo>
              </a:path>
            </a:pathLst>
          </a:custGeom>
          <a:gradFill>
            <a:gsLst>
              <a:gs pos="34000">
                <a:schemeClr val="accent1">
                  <a:lumMod val="80000"/>
                  <a:lumOff val="20000"/>
                </a:schemeClr>
              </a:gs>
              <a:gs pos="100000">
                <a:schemeClr val="accent1"/>
              </a:gs>
            </a:gsLst>
            <a:lin ang="0" scaled="0"/>
          </a:gradFill>
          <a:ln w="35814">
            <a:solidFill>
              <a:srgbClr val="FFFFFF"/>
            </a:solidFill>
          </a:ln>
          <a:effectLst/>
        </p:spPr>
        <p:txBody>
          <a:bodyPr vert="horz" wrap="square" lIns="114597" tIns="57299" rIns="114597" bIns="57299" numCol="1" anchor="t" anchorCtr="0" compatLnSpc="1"/>
          <a:lstStyle/>
          <a:p>
            <a:endParaRPr lang="en-US" sz="3010">
              <a:latin typeface="微软雅黑" panose="020B0503020204020204" charset="-122"/>
              <a:ea typeface="微软雅黑" panose="020B0503020204020204" charset="-122"/>
              <a:cs typeface="微软雅黑" panose="020B0503020204020204" charset="-122"/>
            </a:endParaRPr>
          </a:p>
        </p:txBody>
      </p:sp>
      <p:sp>
        <p:nvSpPr>
          <p:cNvPr id="9" name="Freeform 10"/>
          <p:cNvSpPr/>
          <p:nvPr/>
        </p:nvSpPr>
        <p:spPr bwMode="auto">
          <a:xfrm>
            <a:off x="6193851" y="2437850"/>
            <a:ext cx="1760042" cy="740739"/>
          </a:xfrm>
          <a:custGeom>
            <a:avLst/>
            <a:gdLst>
              <a:gd name="T0" fmla="*/ 2382 w 2848"/>
              <a:gd name="T1" fmla="*/ 0 h 1198"/>
              <a:gd name="T2" fmla="*/ 1983 w 2848"/>
              <a:gd name="T3" fmla="*/ 17 h 1198"/>
              <a:gd name="T4" fmla="*/ 1607 w 2848"/>
              <a:gd name="T5" fmla="*/ 67 h 1198"/>
              <a:gd name="T6" fmla="*/ 1257 w 2848"/>
              <a:gd name="T7" fmla="*/ 153 h 1198"/>
              <a:gd name="T8" fmla="*/ 937 w 2848"/>
              <a:gd name="T9" fmla="*/ 282 h 1198"/>
              <a:gd name="T10" fmla="*/ 465 w 2848"/>
              <a:gd name="T11" fmla="*/ 522 h 1198"/>
              <a:gd name="T12" fmla="*/ 172 w 2848"/>
              <a:gd name="T13" fmla="*/ 670 h 1198"/>
              <a:gd name="T14" fmla="*/ 35 w 2848"/>
              <a:gd name="T15" fmla="*/ 739 h 1198"/>
              <a:gd name="T16" fmla="*/ 0 w 2848"/>
              <a:gd name="T17" fmla="*/ 758 h 1198"/>
              <a:gd name="T18" fmla="*/ 27 w 2848"/>
              <a:gd name="T19" fmla="*/ 771 h 1198"/>
              <a:gd name="T20" fmla="*/ 135 w 2848"/>
              <a:gd name="T21" fmla="*/ 826 h 1198"/>
              <a:gd name="T22" fmla="*/ 387 w 2848"/>
              <a:gd name="T23" fmla="*/ 952 h 1198"/>
              <a:gd name="T24" fmla="*/ 873 w 2848"/>
              <a:gd name="T25" fmla="*/ 1197 h 1198"/>
              <a:gd name="T26" fmla="*/ 875 w 2848"/>
              <a:gd name="T27" fmla="*/ 1198 h 1198"/>
              <a:gd name="T28" fmla="*/ 1434 w 2848"/>
              <a:gd name="T29" fmla="*/ 851 h 1198"/>
              <a:gd name="T30" fmla="*/ 1690 w 2848"/>
              <a:gd name="T31" fmla="*/ 692 h 1198"/>
              <a:gd name="T32" fmla="*/ 1780 w 2848"/>
              <a:gd name="T33" fmla="*/ 636 h 1198"/>
              <a:gd name="T34" fmla="*/ 1792 w 2848"/>
              <a:gd name="T35" fmla="*/ 628 h 1198"/>
              <a:gd name="T36" fmla="*/ 1974 w 2848"/>
              <a:gd name="T37" fmla="*/ 538 h 1198"/>
              <a:gd name="T38" fmla="*/ 2185 w 2848"/>
              <a:gd name="T39" fmla="*/ 477 h 1198"/>
              <a:gd name="T40" fmla="*/ 2421 w 2848"/>
              <a:gd name="T41" fmla="*/ 442 h 1198"/>
              <a:gd name="T42" fmla="*/ 2676 w 2848"/>
              <a:gd name="T43" fmla="*/ 430 h 1198"/>
              <a:gd name="T44" fmla="*/ 2719 w 2848"/>
              <a:gd name="T45" fmla="*/ 430 h 1198"/>
              <a:gd name="T46" fmla="*/ 2761 w 2848"/>
              <a:gd name="T47" fmla="*/ 431 h 1198"/>
              <a:gd name="T48" fmla="*/ 2804 w 2848"/>
              <a:gd name="T49" fmla="*/ 431 h 1198"/>
              <a:gd name="T50" fmla="*/ 2848 w 2848"/>
              <a:gd name="T51" fmla="*/ 433 h 1198"/>
              <a:gd name="T52" fmla="*/ 2773 w 2848"/>
              <a:gd name="T53" fmla="*/ 396 h 1198"/>
              <a:gd name="T54" fmla="*/ 2735 w 2848"/>
              <a:gd name="T55" fmla="*/ 378 h 1198"/>
              <a:gd name="T56" fmla="*/ 2721 w 2848"/>
              <a:gd name="T57" fmla="*/ 371 h 1198"/>
              <a:gd name="T58" fmla="*/ 2719 w 2848"/>
              <a:gd name="T59" fmla="*/ 370 h 1198"/>
              <a:gd name="T60" fmla="*/ 2410 w 2848"/>
              <a:gd name="T61" fmla="*/ 222 h 1198"/>
              <a:gd name="T62" fmla="*/ 2487 w 2848"/>
              <a:gd name="T63" fmla="*/ 144 h 1198"/>
              <a:gd name="T64" fmla="*/ 2525 w 2848"/>
              <a:gd name="T65" fmla="*/ 105 h 1198"/>
              <a:gd name="T66" fmla="*/ 2539 w 2848"/>
              <a:gd name="T67" fmla="*/ 91 h 1198"/>
              <a:gd name="T68" fmla="*/ 2541 w 2848"/>
              <a:gd name="T69" fmla="*/ 89 h 1198"/>
              <a:gd name="T70" fmla="*/ 2591 w 2848"/>
              <a:gd name="T71" fmla="*/ 40 h 1198"/>
              <a:gd name="T72" fmla="*/ 2617 w 2848"/>
              <a:gd name="T73" fmla="*/ 15 h 1198"/>
              <a:gd name="T74" fmla="*/ 2626 w 2848"/>
              <a:gd name="T75" fmla="*/ 6 h 1198"/>
              <a:gd name="T76" fmla="*/ 2627 w 2848"/>
              <a:gd name="T77" fmla="*/ 5 h 1198"/>
              <a:gd name="T78" fmla="*/ 2565 w 2848"/>
              <a:gd name="T79" fmla="*/ 3 h 1198"/>
              <a:gd name="T80" fmla="*/ 2504 w 2848"/>
              <a:gd name="T81" fmla="*/ 2 h 1198"/>
              <a:gd name="T82" fmla="*/ 2443 w 2848"/>
              <a:gd name="T83" fmla="*/ 1 h 1198"/>
              <a:gd name="T84" fmla="*/ 2382 w 2848"/>
              <a:gd name="T85" fmla="*/ 0 h 11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2848" h="1198">
                <a:moveTo>
                  <a:pt x="2382" y="0"/>
                </a:moveTo>
                <a:cubicBezTo>
                  <a:pt x="2245" y="0"/>
                  <a:pt x="2112" y="6"/>
                  <a:pt x="1983" y="17"/>
                </a:cubicBezTo>
                <a:cubicBezTo>
                  <a:pt x="1854" y="28"/>
                  <a:pt x="1728" y="44"/>
                  <a:pt x="1607" y="67"/>
                </a:cubicBezTo>
                <a:cubicBezTo>
                  <a:pt x="1485" y="89"/>
                  <a:pt x="1368" y="118"/>
                  <a:pt x="1257" y="153"/>
                </a:cubicBezTo>
                <a:cubicBezTo>
                  <a:pt x="1144" y="189"/>
                  <a:pt x="1037" y="232"/>
                  <a:pt x="937" y="282"/>
                </a:cubicBezTo>
                <a:cubicBezTo>
                  <a:pt x="746" y="379"/>
                  <a:pt x="590" y="458"/>
                  <a:pt x="465" y="522"/>
                </a:cubicBezTo>
                <a:cubicBezTo>
                  <a:pt x="336" y="587"/>
                  <a:pt x="241" y="635"/>
                  <a:pt x="172" y="670"/>
                </a:cubicBezTo>
                <a:cubicBezTo>
                  <a:pt x="103" y="705"/>
                  <a:pt x="61" y="727"/>
                  <a:pt x="35" y="739"/>
                </a:cubicBezTo>
                <a:cubicBezTo>
                  <a:pt x="10" y="752"/>
                  <a:pt x="2" y="756"/>
                  <a:pt x="0" y="758"/>
                </a:cubicBezTo>
                <a:cubicBezTo>
                  <a:pt x="2" y="759"/>
                  <a:pt x="8" y="762"/>
                  <a:pt x="27" y="771"/>
                </a:cubicBezTo>
                <a:cubicBezTo>
                  <a:pt x="47" y="781"/>
                  <a:pt x="79" y="798"/>
                  <a:pt x="135" y="826"/>
                </a:cubicBezTo>
                <a:cubicBezTo>
                  <a:pt x="191" y="854"/>
                  <a:pt x="271" y="894"/>
                  <a:pt x="387" y="952"/>
                </a:cubicBezTo>
                <a:cubicBezTo>
                  <a:pt x="505" y="1012"/>
                  <a:pt x="662" y="1091"/>
                  <a:pt x="873" y="1197"/>
                </a:cubicBezTo>
                <a:cubicBezTo>
                  <a:pt x="875" y="1198"/>
                  <a:pt x="875" y="1198"/>
                  <a:pt x="875" y="1198"/>
                </a:cubicBezTo>
                <a:cubicBezTo>
                  <a:pt x="1127" y="1041"/>
                  <a:pt x="1306" y="930"/>
                  <a:pt x="1434" y="851"/>
                </a:cubicBezTo>
                <a:cubicBezTo>
                  <a:pt x="1558" y="774"/>
                  <a:pt x="1638" y="724"/>
                  <a:pt x="1690" y="692"/>
                </a:cubicBezTo>
                <a:cubicBezTo>
                  <a:pt x="1742" y="660"/>
                  <a:pt x="1767" y="644"/>
                  <a:pt x="1780" y="636"/>
                </a:cubicBezTo>
                <a:cubicBezTo>
                  <a:pt x="1792" y="628"/>
                  <a:pt x="1792" y="628"/>
                  <a:pt x="1792" y="628"/>
                </a:cubicBezTo>
                <a:cubicBezTo>
                  <a:pt x="1847" y="593"/>
                  <a:pt x="1908" y="563"/>
                  <a:pt x="1974" y="538"/>
                </a:cubicBezTo>
                <a:cubicBezTo>
                  <a:pt x="2039" y="514"/>
                  <a:pt x="2110" y="493"/>
                  <a:pt x="2185" y="477"/>
                </a:cubicBezTo>
                <a:cubicBezTo>
                  <a:pt x="2260" y="461"/>
                  <a:pt x="2339" y="450"/>
                  <a:pt x="2421" y="442"/>
                </a:cubicBezTo>
                <a:cubicBezTo>
                  <a:pt x="2503" y="434"/>
                  <a:pt x="2588" y="430"/>
                  <a:pt x="2676" y="430"/>
                </a:cubicBezTo>
                <a:cubicBezTo>
                  <a:pt x="2690" y="430"/>
                  <a:pt x="2704" y="430"/>
                  <a:pt x="2719" y="430"/>
                </a:cubicBezTo>
                <a:cubicBezTo>
                  <a:pt x="2733" y="430"/>
                  <a:pt x="2747" y="430"/>
                  <a:pt x="2761" y="431"/>
                </a:cubicBezTo>
                <a:cubicBezTo>
                  <a:pt x="2776" y="431"/>
                  <a:pt x="2790" y="431"/>
                  <a:pt x="2804" y="431"/>
                </a:cubicBezTo>
                <a:cubicBezTo>
                  <a:pt x="2819" y="432"/>
                  <a:pt x="2833" y="432"/>
                  <a:pt x="2848" y="433"/>
                </a:cubicBezTo>
                <a:cubicBezTo>
                  <a:pt x="2815" y="417"/>
                  <a:pt x="2791" y="405"/>
                  <a:pt x="2773" y="396"/>
                </a:cubicBezTo>
                <a:cubicBezTo>
                  <a:pt x="2755" y="388"/>
                  <a:pt x="2743" y="382"/>
                  <a:pt x="2735" y="378"/>
                </a:cubicBezTo>
                <a:cubicBezTo>
                  <a:pt x="2727" y="374"/>
                  <a:pt x="2723" y="372"/>
                  <a:pt x="2721" y="371"/>
                </a:cubicBezTo>
                <a:cubicBezTo>
                  <a:pt x="2719" y="370"/>
                  <a:pt x="2719" y="370"/>
                  <a:pt x="2719" y="370"/>
                </a:cubicBezTo>
                <a:cubicBezTo>
                  <a:pt x="2410" y="222"/>
                  <a:pt x="2410" y="222"/>
                  <a:pt x="2410" y="222"/>
                </a:cubicBezTo>
                <a:cubicBezTo>
                  <a:pt x="2443" y="188"/>
                  <a:pt x="2468" y="162"/>
                  <a:pt x="2487" y="144"/>
                </a:cubicBezTo>
                <a:cubicBezTo>
                  <a:pt x="2505" y="125"/>
                  <a:pt x="2517" y="113"/>
                  <a:pt x="2525" y="105"/>
                </a:cubicBezTo>
                <a:cubicBezTo>
                  <a:pt x="2533" y="97"/>
                  <a:pt x="2537" y="93"/>
                  <a:pt x="2539" y="91"/>
                </a:cubicBezTo>
                <a:cubicBezTo>
                  <a:pt x="2541" y="89"/>
                  <a:pt x="2541" y="89"/>
                  <a:pt x="2541" y="89"/>
                </a:cubicBezTo>
                <a:cubicBezTo>
                  <a:pt x="2563" y="67"/>
                  <a:pt x="2579" y="51"/>
                  <a:pt x="2591" y="40"/>
                </a:cubicBezTo>
                <a:cubicBezTo>
                  <a:pt x="2603" y="28"/>
                  <a:pt x="2611" y="20"/>
                  <a:pt x="2617" y="15"/>
                </a:cubicBezTo>
                <a:cubicBezTo>
                  <a:pt x="2622" y="10"/>
                  <a:pt x="2625" y="7"/>
                  <a:pt x="2626" y="6"/>
                </a:cubicBezTo>
                <a:cubicBezTo>
                  <a:pt x="2627" y="5"/>
                  <a:pt x="2627" y="5"/>
                  <a:pt x="2627" y="5"/>
                </a:cubicBezTo>
                <a:cubicBezTo>
                  <a:pt x="2607" y="4"/>
                  <a:pt x="2586" y="4"/>
                  <a:pt x="2565" y="3"/>
                </a:cubicBezTo>
                <a:cubicBezTo>
                  <a:pt x="2545" y="3"/>
                  <a:pt x="2524" y="2"/>
                  <a:pt x="2504" y="2"/>
                </a:cubicBezTo>
                <a:cubicBezTo>
                  <a:pt x="2483" y="1"/>
                  <a:pt x="2463" y="1"/>
                  <a:pt x="2443" y="1"/>
                </a:cubicBezTo>
                <a:cubicBezTo>
                  <a:pt x="2422" y="1"/>
                  <a:pt x="2402" y="0"/>
                  <a:pt x="2382" y="0"/>
                </a:cubicBezTo>
              </a:path>
            </a:pathLst>
          </a:custGeom>
          <a:gradFill>
            <a:gsLst>
              <a:gs pos="0">
                <a:schemeClr val="accent5">
                  <a:lumMod val="20000"/>
                  <a:lumOff val="80000"/>
                </a:schemeClr>
              </a:gs>
              <a:gs pos="100000">
                <a:schemeClr val="accent5">
                  <a:lumMod val="40000"/>
                  <a:lumOff val="60000"/>
                </a:schemeClr>
              </a:gs>
            </a:gsLst>
            <a:lin ang="5400000" scaled="0"/>
          </a:gradFill>
          <a:ln w="19050" cap="flat" cmpd="sng" algn="ctr">
            <a:noFill/>
            <a:prstDash val="solid"/>
            <a:miter lim="800000"/>
          </a:ln>
          <a:effectLst/>
        </p:spPr>
        <p:style>
          <a:lnRef idx="2">
            <a:srgbClr val="64171D">
              <a:shade val="15000"/>
            </a:srgbClr>
          </a:lnRef>
          <a:fillRef idx="1">
            <a:srgbClr val="64171D"/>
          </a:fillRef>
          <a:effectRef idx="0">
            <a:srgbClr val="64171D"/>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5" name="Freeform 11"/>
          <p:cNvSpPr/>
          <p:nvPr/>
        </p:nvSpPr>
        <p:spPr bwMode="auto">
          <a:xfrm>
            <a:off x="4640181" y="2442819"/>
            <a:ext cx="2163629" cy="1109278"/>
          </a:xfrm>
          <a:custGeom>
            <a:avLst/>
            <a:gdLst>
              <a:gd name="T0" fmla="*/ 447 w 3501"/>
              <a:gd name="T1" fmla="*/ 65 h 1794"/>
              <a:gd name="T2" fmla="*/ 456 w 3501"/>
              <a:gd name="T3" fmla="*/ 112 h 1794"/>
              <a:gd name="T4" fmla="*/ 472 w 3501"/>
              <a:gd name="T5" fmla="*/ 204 h 1794"/>
              <a:gd name="T6" fmla="*/ 484 w 3501"/>
              <a:gd name="T7" fmla="*/ 271 h 1794"/>
              <a:gd name="T8" fmla="*/ 272 w 3501"/>
              <a:gd name="T9" fmla="*/ 340 h 1794"/>
              <a:gd name="T10" fmla="*/ 118 w 3501"/>
              <a:gd name="T11" fmla="*/ 388 h 1794"/>
              <a:gd name="T12" fmla="*/ 48 w 3501"/>
              <a:gd name="T13" fmla="*/ 409 h 1794"/>
              <a:gd name="T14" fmla="*/ 2 w 3501"/>
              <a:gd name="T15" fmla="*/ 423 h 1794"/>
              <a:gd name="T16" fmla="*/ 207 w 3501"/>
              <a:gd name="T17" fmla="*/ 444 h 1794"/>
              <a:gd name="T18" fmla="*/ 574 w 3501"/>
              <a:gd name="T19" fmla="*/ 540 h 1794"/>
              <a:gd name="T20" fmla="*/ 1227 w 3501"/>
              <a:gd name="T21" fmla="*/ 931 h 1794"/>
              <a:gd name="T22" fmla="*/ 1628 w 3501"/>
              <a:gd name="T23" fmla="*/ 1179 h 1794"/>
              <a:gd name="T24" fmla="*/ 1644 w 3501"/>
              <a:gd name="T25" fmla="*/ 1189 h 1794"/>
              <a:gd name="T26" fmla="*/ 1644 w 3501"/>
              <a:gd name="T27" fmla="*/ 1190 h 1794"/>
              <a:gd name="T28" fmla="*/ 2122 w 3501"/>
              <a:gd name="T29" fmla="*/ 1491 h 1794"/>
              <a:gd name="T30" fmla="*/ 2497 w 3501"/>
              <a:gd name="T31" fmla="*/ 1727 h 1794"/>
              <a:gd name="T32" fmla="*/ 2512 w 3501"/>
              <a:gd name="T33" fmla="*/ 1737 h 1794"/>
              <a:gd name="T34" fmla="*/ 2513 w 3501"/>
              <a:gd name="T35" fmla="*/ 1737 h 1794"/>
              <a:gd name="T36" fmla="*/ 2565 w 3501"/>
              <a:gd name="T37" fmla="*/ 1770 h 1794"/>
              <a:gd name="T38" fmla="*/ 2602 w 3501"/>
              <a:gd name="T39" fmla="*/ 1794 h 1794"/>
              <a:gd name="T40" fmla="*/ 2741 w 3501"/>
              <a:gd name="T41" fmla="*/ 1783 h 1794"/>
              <a:gd name="T42" fmla="*/ 2836 w 3501"/>
              <a:gd name="T43" fmla="*/ 1775 h 1794"/>
              <a:gd name="T44" fmla="*/ 3155 w 3501"/>
              <a:gd name="T45" fmla="*/ 1750 h 1794"/>
              <a:gd name="T46" fmla="*/ 3374 w 3501"/>
              <a:gd name="T47" fmla="*/ 1733 h 1794"/>
              <a:gd name="T48" fmla="*/ 3428 w 3501"/>
              <a:gd name="T49" fmla="*/ 1550 h 1794"/>
              <a:gd name="T50" fmla="*/ 3459 w 3501"/>
              <a:gd name="T51" fmla="*/ 1429 h 1794"/>
              <a:gd name="T52" fmla="*/ 3484 w 3501"/>
              <a:gd name="T53" fmla="*/ 1321 h 1794"/>
              <a:gd name="T54" fmla="*/ 3501 w 3501"/>
              <a:gd name="T55" fmla="*/ 1250 h 1794"/>
              <a:gd name="T56" fmla="*/ 3389 w 3501"/>
              <a:gd name="T57" fmla="*/ 1190 h 1794"/>
              <a:gd name="T58" fmla="*/ 2901 w 3501"/>
              <a:gd name="T59" fmla="*/ 944 h 1794"/>
              <a:gd name="T60" fmla="*/ 2541 w 3501"/>
              <a:gd name="T61" fmla="*/ 763 h 1794"/>
              <a:gd name="T62" fmla="*/ 2513 w 3501"/>
              <a:gd name="T63" fmla="*/ 749 h 1794"/>
              <a:gd name="T64" fmla="*/ 2513 w 3501"/>
              <a:gd name="T65" fmla="*/ 749 h 1794"/>
              <a:gd name="T66" fmla="*/ 1947 w 3501"/>
              <a:gd name="T67" fmla="*/ 460 h 1794"/>
              <a:gd name="T68" fmla="*/ 1593 w 3501"/>
              <a:gd name="T69" fmla="*/ 280 h 1794"/>
              <a:gd name="T70" fmla="*/ 1322 w 3501"/>
              <a:gd name="T71" fmla="*/ 164 h 1794"/>
              <a:gd name="T72" fmla="*/ 747 w 3501"/>
              <a:gd name="T73" fmla="*/ 30 h 17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01" h="1794">
                <a:moveTo>
                  <a:pt x="435" y="0"/>
                </a:moveTo>
                <a:cubicBezTo>
                  <a:pt x="440" y="28"/>
                  <a:pt x="444" y="49"/>
                  <a:pt x="447" y="65"/>
                </a:cubicBezTo>
                <a:cubicBezTo>
                  <a:pt x="450" y="81"/>
                  <a:pt x="452" y="92"/>
                  <a:pt x="453" y="99"/>
                </a:cubicBezTo>
                <a:cubicBezTo>
                  <a:pt x="455" y="106"/>
                  <a:pt x="455" y="110"/>
                  <a:pt x="456" y="112"/>
                </a:cubicBezTo>
                <a:cubicBezTo>
                  <a:pt x="456" y="113"/>
                  <a:pt x="456" y="113"/>
                  <a:pt x="456" y="113"/>
                </a:cubicBezTo>
                <a:cubicBezTo>
                  <a:pt x="463" y="152"/>
                  <a:pt x="468" y="182"/>
                  <a:pt x="472" y="204"/>
                </a:cubicBezTo>
                <a:cubicBezTo>
                  <a:pt x="476" y="227"/>
                  <a:pt x="479" y="242"/>
                  <a:pt x="481" y="253"/>
                </a:cubicBezTo>
                <a:cubicBezTo>
                  <a:pt x="483" y="263"/>
                  <a:pt x="484" y="268"/>
                  <a:pt x="484" y="271"/>
                </a:cubicBezTo>
                <a:cubicBezTo>
                  <a:pt x="484" y="273"/>
                  <a:pt x="484" y="273"/>
                  <a:pt x="484" y="273"/>
                </a:cubicBezTo>
                <a:cubicBezTo>
                  <a:pt x="394" y="302"/>
                  <a:pt x="324" y="323"/>
                  <a:pt x="272" y="340"/>
                </a:cubicBezTo>
                <a:cubicBezTo>
                  <a:pt x="219" y="356"/>
                  <a:pt x="184" y="367"/>
                  <a:pt x="160" y="375"/>
                </a:cubicBezTo>
                <a:cubicBezTo>
                  <a:pt x="136" y="382"/>
                  <a:pt x="124" y="386"/>
                  <a:pt x="118" y="388"/>
                </a:cubicBezTo>
                <a:cubicBezTo>
                  <a:pt x="112" y="390"/>
                  <a:pt x="112" y="390"/>
                  <a:pt x="112" y="390"/>
                </a:cubicBezTo>
                <a:cubicBezTo>
                  <a:pt x="84" y="398"/>
                  <a:pt x="64" y="405"/>
                  <a:pt x="48" y="409"/>
                </a:cubicBezTo>
                <a:cubicBezTo>
                  <a:pt x="32" y="414"/>
                  <a:pt x="21" y="417"/>
                  <a:pt x="14" y="420"/>
                </a:cubicBezTo>
                <a:cubicBezTo>
                  <a:pt x="7" y="422"/>
                  <a:pt x="4" y="423"/>
                  <a:pt x="2" y="423"/>
                </a:cubicBezTo>
                <a:cubicBezTo>
                  <a:pt x="0" y="424"/>
                  <a:pt x="0" y="424"/>
                  <a:pt x="0" y="424"/>
                </a:cubicBezTo>
                <a:cubicBezTo>
                  <a:pt x="72" y="428"/>
                  <a:pt x="141" y="435"/>
                  <a:pt x="207" y="444"/>
                </a:cubicBezTo>
                <a:cubicBezTo>
                  <a:pt x="274" y="454"/>
                  <a:pt x="339" y="467"/>
                  <a:pt x="400" y="483"/>
                </a:cubicBezTo>
                <a:cubicBezTo>
                  <a:pt x="461" y="499"/>
                  <a:pt x="520" y="518"/>
                  <a:pt x="574" y="540"/>
                </a:cubicBezTo>
                <a:cubicBezTo>
                  <a:pt x="629" y="563"/>
                  <a:pt x="680" y="589"/>
                  <a:pt x="726" y="619"/>
                </a:cubicBezTo>
                <a:cubicBezTo>
                  <a:pt x="934" y="748"/>
                  <a:pt x="1099" y="851"/>
                  <a:pt x="1227" y="931"/>
                </a:cubicBezTo>
                <a:cubicBezTo>
                  <a:pt x="1361" y="1014"/>
                  <a:pt x="1453" y="1071"/>
                  <a:pt x="1516" y="1110"/>
                </a:cubicBezTo>
                <a:cubicBezTo>
                  <a:pt x="1579" y="1149"/>
                  <a:pt x="1612" y="1169"/>
                  <a:pt x="1628" y="1179"/>
                </a:cubicBezTo>
                <a:cubicBezTo>
                  <a:pt x="1644" y="1189"/>
                  <a:pt x="1644" y="1189"/>
                  <a:pt x="1644" y="1189"/>
                </a:cubicBezTo>
                <a:cubicBezTo>
                  <a:pt x="1644" y="1189"/>
                  <a:pt x="1644" y="1189"/>
                  <a:pt x="1644" y="1189"/>
                </a:cubicBezTo>
                <a:cubicBezTo>
                  <a:pt x="1644" y="1189"/>
                  <a:pt x="1644" y="1190"/>
                  <a:pt x="1644" y="1190"/>
                </a:cubicBezTo>
                <a:cubicBezTo>
                  <a:pt x="1644" y="1190"/>
                  <a:pt x="1644" y="1190"/>
                  <a:pt x="1644" y="1190"/>
                </a:cubicBezTo>
                <a:cubicBezTo>
                  <a:pt x="1644" y="1190"/>
                  <a:pt x="1644" y="1190"/>
                  <a:pt x="1644" y="1190"/>
                </a:cubicBezTo>
                <a:cubicBezTo>
                  <a:pt x="1844" y="1315"/>
                  <a:pt x="2000" y="1414"/>
                  <a:pt x="2122" y="1491"/>
                </a:cubicBezTo>
                <a:cubicBezTo>
                  <a:pt x="2248" y="1570"/>
                  <a:pt x="2334" y="1625"/>
                  <a:pt x="2393" y="1662"/>
                </a:cubicBezTo>
                <a:cubicBezTo>
                  <a:pt x="2452" y="1699"/>
                  <a:pt x="2482" y="1718"/>
                  <a:pt x="2497" y="1727"/>
                </a:cubicBezTo>
                <a:cubicBezTo>
                  <a:pt x="2512" y="1737"/>
                  <a:pt x="2512" y="1737"/>
                  <a:pt x="2512" y="1737"/>
                </a:cubicBezTo>
                <a:cubicBezTo>
                  <a:pt x="2512" y="1737"/>
                  <a:pt x="2512" y="1737"/>
                  <a:pt x="2512" y="1737"/>
                </a:cubicBezTo>
                <a:cubicBezTo>
                  <a:pt x="2512" y="1737"/>
                  <a:pt x="2512" y="1737"/>
                  <a:pt x="2512" y="1737"/>
                </a:cubicBezTo>
                <a:cubicBezTo>
                  <a:pt x="2513" y="1737"/>
                  <a:pt x="2513" y="1737"/>
                  <a:pt x="2513" y="1737"/>
                </a:cubicBezTo>
                <a:cubicBezTo>
                  <a:pt x="2513" y="1737"/>
                  <a:pt x="2513" y="1738"/>
                  <a:pt x="2513" y="1738"/>
                </a:cubicBezTo>
                <a:cubicBezTo>
                  <a:pt x="2536" y="1752"/>
                  <a:pt x="2553" y="1762"/>
                  <a:pt x="2565" y="1770"/>
                </a:cubicBezTo>
                <a:cubicBezTo>
                  <a:pt x="2578" y="1778"/>
                  <a:pt x="2587" y="1784"/>
                  <a:pt x="2592" y="1787"/>
                </a:cubicBezTo>
                <a:cubicBezTo>
                  <a:pt x="2598" y="1791"/>
                  <a:pt x="2601" y="1793"/>
                  <a:pt x="2602" y="1794"/>
                </a:cubicBezTo>
                <a:cubicBezTo>
                  <a:pt x="2604" y="1794"/>
                  <a:pt x="2604" y="1794"/>
                  <a:pt x="2604" y="1794"/>
                </a:cubicBezTo>
                <a:cubicBezTo>
                  <a:pt x="2663" y="1790"/>
                  <a:pt x="2707" y="1786"/>
                  <a:pt x="2741" y="1783"/>
                </a:cubicBezTo>
                <a:cubicBezTo>
                  <a:pt x="2774" y="1781"/>
                  <a:pt x="2796" y="1779"/>
                  <a:pt x="2811" y="1778"/>
                </a:cubicBezTo>
                <a:cubicBezTo>
                  <a:pt x="2825" y="1776"/>
                  <a:pt x="2833" y="1776"/>
                  <a:pt x="2836" y="1775"/>
                </a:cubicBezTo>
                <a:cubicBezTo>
                  <a:pt x="2840" y="1775"/>
                  <a:pt x="2840" y="1775"/>
                  <a:pt x="2840" y="1775"/>
                </a:cubicBezTo>
                <a:cubicBezTo>
                  <a:pt x="2977" y="1764"/>
                  <a:pt x="3079" y="1756"/>
                  <a:pt x="3155" y="1750"/>
                </a:cubicBezTo>
                <a:cubicBezTo>
                  <a:pt x="3231" y="1744"/>
                  <a:pt x="3282" y="1740"/>
                  <a:pt x="3315" y="1738"/>
                </a:cubicBezTo>
                <a:cubicBezTo>
                  <a:pt x="3349" y="1735"/>
                  <a:pt x="3366" y="1734"/>
                  <a:pt x="3374" y="1733"/>
                </a:cubicBezTo>
                <a:cubicBezTo>
                  <a:pt x="3383" y="1732"/>
                  <a:pt x="3383" y="1732"/>
                  <a:pt x="3383" y="1732"/>
                </a:cubicBezTo>
                <a:cubicBezTo>
                  <a:pt x="3403" y="1652"/>
                  <a:pt x="3418" y="1593"/>
                  <a:pt x="3428" y="1550"/>
                </a:cubicBezTo>
                <a:cubicBezTo>
                  <a:pt x="3439" y="1508"/>
                  <a:pt x="3446" y="1480"/>
                  <a:pt x="3451" y="1461"/>
                </a:cubicBezTo>
                <a:cubicBezTo>
                  <a:pt x="3455" y="1443"/>
                  <a:pt x="3457" y="1434"/>
                  <a:pt x="3459" y="1429"/>
                </a:cubicBezTo>
                <a:cubicBezTo>
                  <a:pt x="3460" y="1425"/>
                  <a:pt x="3460" y="1425"/>
                  <a:pt x="3460" y="1425"/>
                </a:cubicBezTo>
                <a:cubicBezTo>
                  <a:pt x="3470" y="1379"/>
                  <a:pt x="3478" y="1346"/>
                  <a:pt x="3484" y="1321"/>
                </a:cubicBezTo>
                <a:cubicBezTo>
                  <a:pt x="3490" y="1296"/>
                  <a:pt x="3494" y="1280"/>
                  <a:pt x="3496" y="1269"/>
                </a:cubicBezTo>
                <a:cubicBezTo>
                  <a:pt x="3499" y="1258"/>
                  <a:pt x="3500" y="1253"/>
                  <a:pt x="3501" y="1250"/>
                </a:cubicBezTo>
                <a:cubicBezTo>
                  <a:pt x="3501" y="1247"/>
                  <a:pt x="3501" y="1247"/>
                  <a:pt x="3501" y="1247"/>
                </a:cubicBezTo>
                <a:cubicBezTo>
                  <a:pt x="3389" y="1190"/>
                  <a:pt x="3389" y="1190"/>
                  <a:pt x="3389" y="1190"/>
                </a:cubicBezTo>
                <a:cubicBezTo>
                  <a:pt x="3387" y="1189"/>
                  <a:pt x="3387" y="1189"/>
                  <a:pt x="3387" y="1189"/>
                </a:cubicBezTo>
                <a:cubicBezTo>
                  <a:pt x="3176" y="1083"/>
                  <a:pt x="3019" y="1004"/>
                  <a:pt x="2901" y="944"/>
                </a:cubicBezTo>
                <a:cubicBezTo>
                  <a:pt x="2785" y="886"/>
                  <a:pt x="2705" y="846"/>
                  <a:pt x="2649" y="818"/>
                </a:cubicBezTo>
                <a:cubicBezTo>
                  <a:pt x="2593" y="790"/>
                  <a:pt x="2561" y="773"/>
                  <a:pt x="2541" y="763"/>
                </a:cubicBezTo>
                <a:cubicBezTo>
                  <a:pt x="2522" y="754"/>
                  <a:pt x="2516" y="751"/>
                  <a:pt x="2514" y="750"/>
                </a:cubicBezTo>
                <a:cubicBezTo>
                  <a:pt x="2513" y="749"/>
                  <a:pt x="2513" y="749"/>
                  <a:pt x="2513" y="749"/>
                </a:cubicBezTo>
                <a:cubicBezTo>
                  <a:pt x="2513" y="749"/>
                  <a:pt x="2513" y="749"/>
                  <a:pt x="2513" y="749"/>
                </a:cubicBezTo>
                <a:cubicBezTo>
                  <a:pt x="2513" y="749"/>
                  <a:pt x="2513" y="749"/>
                  <a:pt x="2513" y="749"/>
                </a:cubicBezTo>
                <a:cubicBezTo>
                  <a:pt x="2513" y="749"/>
                  <a:pt x="2513" y="749"/>
                  <a:pt x="2513" y="749"/>
                </a:cubicBezTo>
                <a:cubicBezTo>
                  <a:pt x="2258" y="619"/>
                  <a:pt x="2077" y="527"/>
                  <a:pt x="1947" y="460"/>
                </a:cubicBezTo>
                <a:cubicBezTo>
                  <a:pt x="1821" y="396"/>
                  <a:pt x="1739" y="354"/>
                  <a:pt x="1685" y="327"/>
                </a:cubicBezTo>
                <a:cubicBezTo>
                  <a:pt x="1633" y="300"/>
                  <a:pt x="1606" y="287"/>
                  <a:pt x="1593" y="280"/>
                </a:cubicBezTo>
                <a:cubicBezTo>
                  <a:pt x="1581" y="273"/>
                  <a:pt x="1581" y="273"/>
                  <a:pt x="1581" y="273"/>
                </a:cubicBezTo>
                <a:cubicBezTo>
                  <a:pt x="1499" y="232"/>
                  <a:pt x="1413" y="196"/>
                  <a:pt x="1322" y="164"/>
                </a:cubicBezTo>
                <a:cubicBezTo>
                  <a:pt x="1233" y="133"/>
                  <a:pt x="1140" y="107"/>
                  <a:pt x="1043" y="84"/>
                </a:cubicBezTo>
                <a:cubicBezTo>
                  <a:pt x="948" y="62"/>
                  <a:pt x="848" y="44"/>
                  <a:pt x="747" y="30"/>
                </a:cubicBezTo>
                <a:cubicBezTo>
                  <a:pt x="646" y="17"/>
                  <a:pt x="541" y="6"/>
                  <a:pt x="435" y="0"/>
                </a:cubicBezTo>
              </a:path>
            </a:pathLst>
          </a:custGeom>
          <a:gradFill>
            <a:gsLst>
              <a:gs pos="0">
                <a:schemeClr val="accent1">
                  <a:lumMod val="20000"/>
                  <a:lumOff val="80000"/>
                </a:schemeClr>
              </a:gs>
              <a:gs pos="100000">
                <a:schemeClr val="accent1">
                  <a:lumMod val="40000"/>
                  <a:lumOff val="60000"/>
                </a:schemeClr>
              </a:gs>
            </a:gsLst>
            <a:lin ang="5400000" scaled="0"/>
          </a:gradFill>
          <a:ln w="19050" cap="flat" cmpd="sng" algn="ctr">
            <a:noFill/>
            <a:prstDash val="solid"/>
            <a:miter lim="800000"/>
          </a:ln>
          <a:effectLst/>
        </p:spPr>
        <p:style>
          <a:lnRef idx="2">
            <a:srgbClr val="64171D">
              <a:shade val="15000"/>
            </a:srgbClr>
          </a:lnRef>
          <a:fillRef idx="1">
            <a:srgbClr val="64171D"/>
          </a:fillRef>
          <a:effectRef idx="0">
            <a:srgbClr val="64171D"/>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2" name="Freeform 12"/>
          <p:cNvSpPr/>
          <p:nvPr/>
        </p:nvSpPr>
        <p:spPr bwMode="auto">
          <a:xfrm>
            <a:off x="3239259" y="2774738"/>
            <a:ext cx="2156830" cy="960972"/>
          </a:xfrm>
          <a:custGeom>
            <a:avLst/>
            <a:gdLst>
              <a:gd name="T0" fmla="*/ 2021 w 3490"/>
              <a:gd name="T1" fmla="*/ 0 h 1554"/>
              <a:gd name="T2" fmla="*/ 1791 w 3490"/>
              <a:gd name="T3" fmla="*/ 10 h 1554"/>
              <a:gd name="T4" fmla="*/ 1550 w 3490"/>
              <a:gd name="T5" fmla="*/ 41 h 1554"/>
              <a:gd name="T6" fmla="*/ 1300 w 3490"/>
              <a:gd name="T7" fmla="*/ 94 h 1554"/>
              <a:gd name="T8" fmla="*/ 1044 w 3490"/>
              <a:gd name="T9" fmla="*/ 171 h 1554"/>
              <a:gd name="T10" fmla="*/ 575 w 3490"/>
              <a:gd name="T11" fmla="*/ 383 h 1554"/>
              <a:gd name="T12" fmla="*/ 219 w 3490"/>
              <a:gd name="T13" fmla="*/ 651 h 1554"/>
              <a:gd name="T14" fmla="*/ 29 w 3490"/>
              <a:gd name="T15" fmla="*/ 954 h 1554"/>
              <a:gd name="T16" fmla="*/ 77 w 3490"/>
              <a:gd name="T17" fmla="*/ 1255 h 1554"/>
              <a:gd name="T18" fmla="*/ 210 w 3490"/>
              <a:gd name="T19" fmla="*/ 1382 h 1554"/>
              <a:gd name="T20" fmla="*/ 407 w 3490"/>
              <a:gd name="T21" fmla="*/ 1476 h 1554"/>
              <a:gd name="T22" fmla="*/ 659 w 3490"/>
              <a:gd name="T23" fmla="*/ 1534 h 1554"/>
              <a:gd name="T24" fmla="*/ 954 w 3490"/>
              <a:gd name="T25" fmla="*/ 1554 h 1554"/>
              <a:gd name="T26" fmla="*/ 1275 w 3490"/>
              <a:gd name="T27" fmla="*/ 1534 h 1554"/>
              <a:gd name="T28" fmla="*/ 1607 w 3490"/>
              <a:gd name="T29" fmla="*/ 1476 h 1554"/>
              <a:gd name="T30" fmla="*/ 1934 w 3490"/>
              <a:gd name="T31" fmla="*/ 1382 h 1554"/>
              <a:gd name="T32" fmla="*/ 2241 w 3490"/>
              <a:gd name="T33" fmla="*/ 1255 h 1554"/>
              <a:gd name="T34" fmla="*/ 3490 w 3490"/>
              <a:gd name="T35" fmla="*/ 651 h 1554"/>
              <a:gd name="T36" fmla="*/ 2763 w 3490"/>
              <a:gd name="T37" fmla="*/ 171 h 1554"/>
              <a:gd name="T38" fmla="*/ 2613 w 3490"/>
              <a:gd name="T39" fmla="*/ 94 h 1554"/>
              <a:gd name="T40" fmla="*/ 2436 w 3490"/>
              <a:gd name="T41" fmla="*/ 41 h 1554"/>
              <a:gd name="T42" fmla="*/ 2237 w 3490"/>
              <a:gd name="T43" fmla="*/ 10 h 1554"/>
              <a:gd name="T44" fmla="*/ 2021 w 3490"/>
              <a:gd name="T45" fmla="*/ 0 h 1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90" h="1554">
                <a:moveTo>
                  <a:pt x="2021" y="0"/>
                </a:moveTo>
                <a:cubicBezTo>
                  <a:pt x="1947" y="0"/>
                  <a:pt x="1870" y="3"/>
                  <a:pt x="1791" y="10"/>
                </a:cubicBezTo>
                <a:cubicBezTo>
                  <a:pt x="1712" y="17"/>
                  <a:pt x="1631" y="27"/>
                  <a:pt x="1550" y="41"/>
                </a:cubicBezTo>
                <a:cubicBezTo>
                  <a:pt x="1467" y="55"/>
                  <a:pt x="1384" y="73"/>
                  <a:pt x="1300" y="94"/>
                </a:cubicBezTo>
                <a:cubicBezTo>
                  <a:pt x="1215" y="116"/>
                  <a:pt x="1129" y="141"/>
                  <a:pt x="1044" y="171"/>
                </a:cubicBezTo>
                <a:cubicBezTo>
                  <a:pt x="870" y="231"/>
                  <a:pt x="712" y="303"/>
                  <a:pt x="575" y="383"/>
                </a:cubicBezTo>
                <a:cubicBezTo>
                  <a:pt x="433" y="465"/>
                  <a:pt x="312" y="556"/>
                  <a:pt x="219" y="651"/>
                </a:cubicBezTo>
                <a:cubicBezTo>
                  <a:pt x="123" y="750"/>
                  <a:pt x="56" y="853"/>
                  <a:pt x="29" y="954"/>
                </a:cubicBezTo>
                <a:cubicBezTo>
                  <a:pt x="0" y="1060"/>
                  <a:pt x="13" y="1163"/>
                  <a:pt x="77" y="1255"/>
                </a:cubicBezTo>
                <a:cubicBezTo>
                  <a:pt x="110" y="1303"/>
                  <a:pt x="155" y="1345"/>
                  <a:pt x="210" y="1382"/>
                </a:cubicBezTo>
                <a:cubicBezTo>
                  <a:pt x="266" y="1419"/>
                  <a:pt x="332" y="1451"/>
                  <a:pt x="407" y="1476"/>
                </a:cubicBezTo>
                <a:cubicBezTo>
                  <a:pt x="483" y="1502"/>
                  <a:pt x="568" y="1521"/>
                  <a:pt x="659" y="1534"/>
                </a:cubicBezTo>
                <a:cubicBezTo>
                  <a:pt x="751" y="1547"/>
                  <a:pt x="850" y="1554"/>
                  <a:pt x="954" y="1554"/>
                </a:cubicBezTo>
                <a:cubicBezTo>
                  <a:pt x="1057" y="1554"/>
                  <a:pt x="1165" y="1547"/>
                  <a:pt x="1275" y="1534"/>
                </a:cubicBezTo>
                <a:cubicBezTo>
                  <a:pt x="1384" y="1521"/>
                  <a:pt x="1496" y="1502"/>
                  <a:pt x="1607" y="1476"/>
                </a:cubicBezTo>
                <a:cubicBezTo>
                  <a:pt x="1717" y="1451"/>
                  <a:pt x="1827" y="1419"/>
                  <a:pt x="1934" y="1382"/>
                </a:cubicBezTo>
                <a:cubicBezTo>
                  <a:pt x="2039" y="1345"/>
                  <a:pt x="2142" y="1303"/>
                  <a:pt x="2241" y="1255"/>
                </a:cubicBezTo>
                <a:cubicBezTo>
                  <a:pt x="3490" y="651"/>
                  <a:pt x="3490" y="651"/>
                  <a:pt x="3490" y="651"/>
                </a:cubicBezTo>
                <a:cubicBezTo>
                  <a:pt x="2763" y="171"/>
                  <a:pt x="2763" y="171"/>
                  <a:pt x="2763" y="171"/>
                </a:cubicBezTo>
                <a:cubicBezTo>
                  <a:pt x="2718" y="141"/>
                  <a:pt x="2668" y="116"/>
                  <a:pt x="2613" y="94"/>
                </a:cubicBezTo>
                <a:cubicBezTo>
                  <a:pt x="2558" y="73"/>
                  <a:pt x="2499" y="55"/>
                  <a:pt x="2436" y="41"/>
                </a:cubicBezTo>
                <a:cubicBezTo>
                  <a:pt x="2373" y="27"/>
                  <a:pt x="2307" y="17"/>
                  <a:pt x="2237" y="10"/>
                </a:cubicBezTo>
                <a:cubicBezTo>
                  <a:pt x="2168" y="3"/>
                  <a:pt x="2096" y="0"/>
                  <a:pt x="2021" y="0"/>
                </a:cubicBezTo>
              </a:path>
            </a:pathLst>
          </a:custGeom>
          <a:solidFill>
            <a:schemeClr val="accent1">
              <a:lumMod val="20000"/>
              <a:lumOff val="80000"/>
              <a:alpha val="50000"/>
            </a:schemeClr>
          </a:solidFill>
          <a:ln>
            <a:noFill/>
          </a:ln>
          <a:effectLst/>
        </p:spPr>
        <p:txBody>
          <a:bodyPr vert="horz" wrap="square" lIns="114597" tIns="57299" rIns="114597" bIns="57299" numCol="1" anchor="t" anchorCtr="0" compatLnSpc="1"/>
          <a:lstStyle/>
          <a:p>
            <a:endParaRPr lang="en-US" sz="3010">
              <a:latin typeface="微软雅黑" panose="020B0503020204020204" charset="-122"/>
              <a:ea typeface="微软雅黑" panose="020B0503020204020204" charset="-122"/>
              <a:cs typeface="微软雅黑" panose="020B0503020204020204" charset="-122"/>
            </a:endParaRPr>
          </a:p>
        </p:txBody>
      </p:sp>
      <p:sp>
        <p:nvSpPr>
          <p:cNvPr id="23" name="Freeform 13"/>
          <p:cNvSpPr/>
          <p:nvPr/>
        </p:nvSpPr>
        <p:spPr bwMode="auto">
          <a:xfrm>
            <a:off x="6989778" y="2774738"/>
            <a:ext cx="2156307" cy="960972"/>
          </a:xfrm>
          <a:custGeom>
            <a:avLst/>
            <a:gdLst>
              <a:gd name="T0" fmla="*/ 1469 w 3489"/>
              <a:gd name="T1" fmla="*/ 0 h 1554"/>
              <a:gd name="T2" fmla="*/ 1253 w 3489"/>
              <a:gd name="T3" fmla="*/ 10 h 1554"/>
              <a:gd name="T4" fmla="*/ 1055 w 3489"/>
              <a:gd name="T5" fmla="*/ 41 h 1554"/>
              <a:gd name="T6" fmla="*/ 878 w 3489"/>
              <a:gd name="T7" fmla="*/ 94 h 1554"/>
              <a:gd name="T8" fmla="*/ 727 w 3489"/>
              <a:gd name="T9" fmla="*/ 171 h 1554"/>
              <a:gd name="T10" fmla="*/ 0 w 3489"/>
              <a:gd name="T11" fmla="*/ 651 h 1554"/>
              <a:gd name="T12" fmla="*/ 1248 w 3489"/>
              <a:gd name="T13" fmla="*/ 1255 h 1554"/>
              <a:gd name="T14" fmla="*/ 1555 w 3489"/>
              <a:gd name="T15" fmla="*/ 1382 h 1554"/>
              <a:gd name="T16" fmla="*/ 1882 w 3489"/>
              <a:gd name="T17" fmla="*/ 1476 h 1554"/>
              <a:gd name="T18" fmla="*/ 2214 w 3489"/>
              <a:gd name="T19" fmla="*/ 1534 h 1554"/>
              <a:gd name="T20" fmla="*/ 2535 w 3489"/>
              <a:gd name="T21" fmla="*/ 1554 h 1554"/>
              <a:gd name="T22" fmla="*/ 2829 w 3489"/>
              <a:gd name="T23" fmla="*/ 1534 h 1554"/>
              <a:gd name="T24" fmla="*/ 3081 w 3489"/>
              <a:gd name="T25" fmla="*/ 1476 h 1554"/>
              <a:gd name="T26" fmla="*/ 3279 w 3489"/>
              <a:gd name="T27" fmla="*/ 1382 h 1554"/>
              <a:gd name="T28" fmla="*/ 3412 w 3489"/>
              <a:gd name="T29" fmla="*/ 1255 h 1554"/>
              <a:gd name="T30" fmla="*/ 3461 w 3489"/>
              <a:gd name="T31" fmla="*/ 954 h 1554"/>
              <a:gd name="T32" fmla="*/ 3270 w 3489"/>
              <a:gd name="T33" fmla="*/ 651 h 1554"/>
              <a:gd name="T34" fmla="*/ 2915 w 3489"/>
              <a:gd name="T35" fmla="*/ 383 h 1554"/>
              <a:gd name="T36" fmla="*/ 2446 w 3489"/>
              <a:gd name="T37" fmla="*/ 171 h 1554"/>
              <a:gd name="T38" fmla="*/ 2191 w 3489"/>
              <a:gd name="T39" fmla="*/ 94 h 1554"/>
              <a:gd name="T40" fmla="*/ 1941 w 3489"/>
              <a:gd name="T41" fmla="*/ 41 h 1554"/>
              <a:gd name="T42" fmla="*/ 1700 w 3489"/>
              <a:gd name="T43" fmla="*/ 10 h 1554"/>
              <a:gd name="T44" fmla="*/ 1469 w 3489"/>
              <a:gd name="T45" fmla="*/ 0 h 15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3489" h="1554">
                <a:moveTo>
                  <a:pt x="1469" y="0"/>
                </a:moveTo>
                <a:cubicBezTo>
                  <a:pt x="1395" y="0"/>
                  <a:pt x="1322" y="3"/>
                  <a:pt x="1253" y="10"/>
                </a:cubicBezTo>
                <a:cubicBezTo>
                  <a:pt x="1184" y="17"/>
                  <a:pt x="1117" y="27"/>
                  <a:pt x="1055" y="41"/>
                </a:cubicBezTo>
                <a:cubicBezTo>
                  <a:pt x="991" y="55"/>
                  <a:pt x="932" y="73"/>
                  <a:pt x="878" y="94"/>
                </a:cubicBezTo>
                <a:cubicBezTo>
                  <a:pt x="822" y="116"/>
                  <a:pt x="772" y="141"/>
                  <a:pt x="727" y="171"/>
                </a:cubicBezTo>
                <a:cubicBezTo>
                  <a:pt x="0" y="651"/>
                  <a:pt x="0" y="651"/>
                  <a:pt x="0" y="651"/>
                </a:cubicBezTo>
                <a:cubicBezTo>
                  <a:pt x="1248" y="1255"/>
                  <a:pt x="1248" y="1255"/>
                  <a:pt x="1248" y="1255"/>
                </a:cubicBezTo>
                <a:cubicBezTo>
                  <a:pt x="1346" y="1303"/>
                  <a:pt x="1449" y="1345"/>
                  <a:pt x="1555" y="1382"/>
                </a:cubicBezTo>
                <a:cubicBezTo>
                  <a:pt x="1662" y="1419"/>
                  <a:pt x="1771" y="1451"/>
                  <a:pt x="1882" y="1476"/>
                </a:cubicBezTo>
                <a:cubicBezTo>
                  <a:pt x="1993" y="1502"/>
                  <a:pt x="2104" y="1521"/>
                  <a:pt x="2214" y="1534"/>
                </a:cubicBezTo>
                <a:cubicBezTo>
                  <a:pt x="2324" y="1547"/>
                  <a:pt x="2431" y="1554"/>
                  <a:pt x="2535" y="1554"/>
                </a:cubicBezTo>
                <a:cubicBezTo>
                  <a:pt x="2638" y="1554"/>
                  <a:pt x="2737" y="1547"/>
                  <a:pt x="2829" y="1534"/>
                </a:cubicBezTo>
                <a:cubicBezTo>
                  <a:pt x="2921" y="1521"/>
                  <a:pt x="3005" y="1502"/>
                  <a:pt x="3081" y="1476"/>
                </a:cubicBezTo>
                <a:cubicBezTo>
                  <a:pt x="3157" y="1451"/>
                  <a:pt x="3223" y="1419"/>
                  <a:pt x="3279" y="1382"/>
                </a:cubicBezTo>
                <a:cubicBezTo>
                  <a:pt x="3334" y="1345"/>
                  <a:pt x="3379" y="1303"/>
                  <a:pt x="3412" y="1255"/>
                </a:cubicBezTo>
                <a:cubicBezTo>
                  <a:pt x="3476" y="1163"/>
                  <a:pt x="3489" y="1060"/>
                  <a:pt x="3461" y="954"/>
                </a:cubicBezTo>
                <a:cubicBezTo>
                  <a:pt x="3433" y="853"/>
                  <a:pt x="3367" y="750"/>
                  <a:pt x="3270" y="651"/>
                </a:cubicBezTo>
                <a:cubicBezTo>
                  <a:pt x="3178" y="556"/>
                  <a:pt x="3057" y="465"/>
                  <a:pt x="2915" y="383"/>
                </a:cubicBezTo>
                <a:cubicBezTo>
                  <a:pt x="2778" y="303"/>
                  <a:pt x="2620" y="231"/>
                  <a:pt x="2446" y="171"/>
                </a:cubicBezTo>
                <a:cubicBezTo>
                  <a:pt x="2361" y="141"/>
                  <a:pt x="2275" y="116"/>
                  <a:pt x="2191" y="94"/>
                </a:cubicBezTo>
                <a:cubicBezTo>
                  <a:pt x="2107" y="73"/>
                  <a:pt x="2023" y="55"/>
                  <a:pt x="1941" y="41"/>
                </a:cubicBezTo>
                <a:cubicBezTo>
                  <a:pt x="1859" y="27"/>
                  <a:pt x="1779" y="17"/>
                  <a:pt x="1700" y="10"/>
                </a:cubicBezTo>
                <a:cubicBezTo>
                  <a:pt x="1621" y="3"/>
                  <a:pt x="1544" y="0"/>
                  <a:pt x="1469" y="0"/>
                </a:cubicBezTo>
              </a:path>
            </a:pathLst>
          </a:custGeom>
          <a:solidFill>
            <a:schemeClr val="accent5">
              <a:lumMod val="20000"/>
              <a:lumOff val="80000"/>
              <a:alpha val="50000"/>
            </a:schemeClr>
          </a:solidFill>
          <a:ln>
            <a:noFill/>
          </a:ln>
          <a:effectLst/>
        </p:spPr>
        <p:txBody>
          <a:bodyPr vert="horz" wrap="square" lIns="114597" tIns="57299" rIns="114597" bIns="57299" numCol="1" anchor="t" anchorCtr="0" compatLnSpc="1"/>
          <a:lstStyle/>
          <a:p>
            <a:endParaRPr lang="en-US" sz="3010">
              <a:latin typeface="微软雅黑" panose="020B0503020204020204" charset="-122"/>
              <a:ea typeface="微软雅黑" panose="020B0503020204020204" charset="-122"/>
              <a:cs typeface="微软雅黑" panose="020B0503020204020204" charset="-122"/>
            </a:endParaRPr>
          </a:p>
        </p:txBody>
      </p:sp>
      <p:sp>
        <p:nvSpPr>
          <p:cNvPr id="24" name="Freeform 14"/>
          <p:cNvSpPr/>
          <p:nvPr/>
        </p:nvSpPr>
        <p:spPr bwMode="auto">
          <a:xfrm>
            <a:off x="1907199" y="3106102"/>
            <a:ext cx="2071562" cy="1590287"/>
          </a:xfrm>
          <a:custGeom>
            <a:avLst/>
            <a:gdLst>
              <a:gd name="T0" fmla="*/ 1625 w 3352"/>
              <a:gd name="T1" fmla="*/ 0 h 2572"/>
              <a:gd name="T2" fmla="*/ 1294 w 3352"/>
              <a:gd name="T3" fmla="*/ 85 h 2572"/>
              <a:gd name="T4" fmla="*/ 1119 w 3352"/>
              <a:gd name="T5" fmla="*/ 131 h 2572"/>
              <a:gd name="T6" fmla="*/ 1054 w 3352"/>
              <a:gd name="T7" fmla="*/ 147 h 2572"/>
              <a:gd name="T8" fmla="*/ 1045 w 3352"/>
              <a:gd name="T9" fmla="*/ 150 h 2572"/>
              <a:gd name="T10" fmla="*/ 854 w 3352"/>
              <a:gd name="T11" fmla="*/ 200 h 2572"/>
              <a:gd name="T12" fmla="*/ 755 w 3352"/>
              <a:gd name="T13" fmla="*/ 226 h 2572"/>
              <a:gd name="T14" fmla="*/ 718 w 3352"/>
              <a:gd name="T15" fmla="*/ 235 h 2572"/>
              <a:gd name="T16" fmla="*/ 712 w 3352"/>
              <a:gd name="T17" fmla="*/ 237 h 2572"/>
              <a:gd name="T18" fmla="*/ 402 w 3352"/>
              <a:gd name="T19" fmla="*/ 545 h 2572"/>
              <a:gd name="T20" fmla="*/ 163 w 3352"/>
              <a:gd name="T21" fmla="*/ 883 h 2572"/>
              <a:gd name="T22" fmla="*/ 26 w 3352"/>
              <a:gd name="T23" fmla="*/ 1242 h 2572"/>
              <a:gd name="T24" fmla="*/ 27 w 3352"/>
              <a:gd name="T25" fmla="*/ 1612 h 2572"/>
              <a:gd name="T26" fmla="*/ 227 w 3352"/>
              <a:gd name="T27" fmla="*/ 1999 h 2572"/>
              <a:gd name="T28" fmla="*/ 649 w 3352"/>
              <a:gd name="T29" fmla="*/ 2306 h 2572"/>
              <a:gd name="T30" fmla="*/ 1275 w 3352"/>
              <a:gd name="T31" fmla="*/ 2504 h 2572"/>
              <a:gd name="T32" fmla="*/ 2060 w 3352"/>
              <a:gd name="T33" fmla="*/ 2572 h 2572"/>
              <a:gd name="T34" fmla="*/ 2301 w 3352"/>
              <a:gd name="T35" fmla="*/ 2567 h 2572"/>
              <a:gd name="T36" fmla="*/ 2549 w 3352"/>
              <a:gd name="T37" fmla="*/ 2551 h 2572"/>
              <a:gd name="T38" fmla="*/ 2800 w 3352"/>
              <a:gd name="T39" fmla="*/ 2523 h 2572"/>
              <a:gd name="T40" fmla="*/ 3053 w 3352"/>
              <a:gd name="T41" fmla="*/ 2485 h 2572"/>
              <a:gd name="T42" fmla="*/ 2946 w 3352"/>
              <a:gd name="T43" fmla="*/ 2295 h 2572"/>
              <a:gd name="T44" fmla="*/ 2892 w 3352"/>
              <a:gd name="T45" fmla="*/ 2202 h 2572"/>
              <a:gd name="T46" fmla="*/ 2873 w 3352"/>
              <a:gd name="T47" fmla="*/ 2168 h 2572"/>
              <a:gd name="T48" fmla="*/ 2870 w 3352"/>
              <a:gd name="T49" fmla="*/ 2163 h 2572"/>
              <a:gd name="T50" fmla="*/ 2654 w 3352"/>
              <a:gd name="T51" fmla="*/ 1776 h 2572"/>
              <a:gd name="T52" fmla="*/ 2979 w 3352"/>
              <a:gd name="T53" fmla="*/ 1523 h 2572"/>
              <a:gd name="T54" fmla="*/ 3136 w 3352"/>
              <a:gd name="T55" fmla="*/ 1401 h 2572"/>
              <a:gd name="T56" fmla="*/ 3193 w 3352"/>
              <a:gd name="T57" fmla="*/ 1357 h 2572"/>
              <a:gd name="T58" fmla="*/ 3201 w 3352"/>
              <a:gd name="T59" fmla="*/ 1351 h 2572"/>
              <a:gd name="T60" fmla="*/ 3289 w 3352"/>
              <a:gd name="T61" fmla="*/ 1281 h 2572"/>
              <a:gd name="T62" fmla="*/ 3334 w 3352"/>
              <a:gd name="T63" fmla="*/ 1246 h 2572"/>
              <a:gd name="T64" fmla="*/ 3350 w 3352"/>
              <a:gd name="T65" fmla="*/ 1233 h 2572"/>
              <a:gd name="T66" fmla="*/ 3352 w 3352"/>
              <a:gd name="T67" fmla="*/ 1232 h 2572"/>
              <a:gd name="T68" fmla="*/ 3255 w 3352"/>
              <a:gd name="T69" fmla="*/ 1242 h 2572"/>
              <a:gd name="T70" fmla="*/ 3159 w 3352"/>
              <a:gd name="T71" fmla="*/ 1249 h 2572"/>
              <a:gd name="T72" fmla="*/ 3064 w 3352"/>
              <a:gd name="T73" fmla="*/ 1254 h 2572"/>
              <a:gd name="T74" fmla="*/ 2971 w 3352"/>
              <a:gd name="T75" fmla="*/ 1255 h 2572"/>
              <a:gd name="T76" fmla="*/ 2599 w 3352"/>
              <a:gd name="T77" fmla="*/ 1229 h 2572"/>
              <a:gd name="T78" fmla="*/ 2282 w 3352"/>
              <a:gd name="T79" fmla="*/ 1151 h 2572"/>
              <a:gd name="T80" fmla="*/ 2040 w 3352"/>
              <a:gd name="T81" fmla="*/ 1028 h 2572"/>
              <a:gd name="T82" fmla="*/ 1885 w 3352"/>
              <a:gd name="T83" fmla="*/ 864 h 2572"/>
              <a:gd name="T84" fmla="*/ 1827 w 3352"/>
              <a:gd name="T85" fmla="*/ 710 h 2572"/>
              <a:gd name="T86" fmla="*/ 1830 w 3352"/>
              <a:gd name="T87" fmla="*/ 552 h 2572"/>
              <a:gd name="T88" fmla="*/ 1886 w 3352"/>
              <a:gd name="T89" fmla="*/ 395 h 2572"/>
              <a:gd name="T90" fmla="*/ 1985 w 3352"/>
              <a:gd name="T91" fmla="*/ 241 h 2572"/>
              <a:gd name="T92" fmla="*/ 1910 w 3352"/>
              <a:gd name="T93" fmla="*/ 190 h 2572"/>
              <a:gd name="T94" fmla="*/ 1872 w 3352"/>
              <a:gd name="T95" fmla="*/ 164 h 2572"/>
              <a:gd name="T96" fmla="*/ 1858 w 3352"/>
              <a:gd name="T97" fmla="*/ 155 h 2572"/>
              <a:gd name="T98" fmla="*/ 1856 w 3352"/>
              <a:gd name="T99" fmla="*/ 154 h 2572"/>
              <a:gd name="T100" fmla="*/ 1720 w 3352"/>
              <a:gd name="T101" fmla="*/ 63 h 2572"/>
              <a:gd name="T102" fmla="*/ 1653 w 3352"/>
              <a:gd name="T103" fmla="*/ 18 h 2572"/>
              <a:gd name="T104" fmla="*/ 1628 w 3352"/>
              <a:gd name="T105" fmla="*/ 2 h 2572"/>
              <a:gd name="T106" fmla="*/ 1625 w 3352"/>
              <a:gd name="T107" fmla="*/ 0 h 25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3352" h="2572">
                <a:moveTo>
                  <a:pt x="1625" y="0"/>
                </a:moveTo>
                <a:cubicBezTo>
                  <a:pt x="1483" y="36"/>
                  <a:pt x="1375" y="64"/>
                  <a:pt x="1294" y="85"/>
                </a:cubicBezTo>
                <a:cubicBezTo>
                  <a:pt x="1212" y="107"/>
                  <a:pt x="1156" y="121"/>
                  <a:pt x="1119" y="131"/>
                </a:cubicBezTo>
                <a:cubicBezTo>
                  <a:pt x="1082" y="140"/>
                  <a:pt x="1063" y="145"/>
                  <a:pt x="1054" y="147"/>
                </a:cubicBezTo>
                <a:cubicBezTo>
                  <a:pt x="1045" y="150"/>
                  <a:pt x="1045" y="150"/>
                  <a:pt x="1045" y="150"/>
                </a:cubicBezTo>
                <a:cubicBezTo>
                  <a:pt x="963" y="171"/>
                  <a:pt x="901" y="187"/>
                  <a:pt x="854" y="200"/>
                </a:cubicBezTo>
                <a:cubicBezTo>
                  <a:pt x="807" y="212"/>
                  <a:pt x="776" y="220"/>
                  <a:pt x="755" y="226"/>
                </a:cubicBezTo>
                <a:cubicBezTo>
                  <a:pt x="734" y="231"/>
                  <a:pt x="723" y="234"/>
                  <a:pt x="718" y="235"/>
                </a:cubicBezTo>
                <a:cubicBezTo>
                  <a:pt x="712" y="237"/>
                  <a:pt x="712" y="237"/>
                  <a:pt x="712" y="237"/>
                </a:cubicBezTo>
                <a:cubicBezTo>
                  <a:pt x="597" y="336"/>
                  <a:pt x="493" y="439"/>
                  <a:pt x="402" y="545"/>
                </a:cubicBezTo>
                <a:cubicBezTo>
                  <a:pt x="307" y="655"/>
                  <a:pt x="226" y="768"/>
                  <a:pt x="163" y="883"/>
                </a:cubicBezTo>
                <a:cubicBezTo>
                  <a:pt x="97" y="1002"/>
                  <a:pt x="50" y="1123"/>
                  <a:pt x="26" y="1242"/>
                </a:cubicBezTo>
                <a:cubicBezTo>
                  <a:pt x="1" y="1368"/>
                  <a:pt x="0" y="1492"/>
                  <a:pt x="27" y="1612"/>
                </a:cubicBezTo>
                <a:cubicBezTo>
                  <a:pt x="58" y="1754"/>
                  <a:pt x="125" y="1884"/>
                  <a:pt x="227" y="1999"/>
                </a:cubicBezTo>
                <a:cubicBezTo>
                  <a:pt x="333" y="2119"/>
                  <a:pt x="475" y="2221"/>
                  <a:pt x="649" y="2306"/>
                </a:cubicBezTo>
                <a:cubicBezTo>
                  <a:pt x="828" y="2393"/>
                  <a:pt x="1038" y="2459"/>
                  <a:pt x="1275" y="2504"/>
                </a:cubicBezTo>
                <a:cubicBezTo>
                  <a:pt x="1515" y="2550"/>
                  <a:pt x="1779" y="2572"/>
                  <a:pt x="2060" y="2572"/>
                </a:cubicBezTo>
                <a:cubicBezTo>
                  <a:pt x="2139" y="2572"/>
                  <a:pt x="2220" y="2571"/>
                  <a:pt x="2301" y="2567"/>
                </a:cubicBezTo>
                <a:cubicBezTo>
                  <a:pt x="2383" y="2563"/>
                  <a:pt x="2465" y="2558"/>
                  <a:pt x="2549" y="2551"/>
                </a:cubicBezTo>
                <a:cubicBezTo>
                  <a:pt x="2632" y="2543"/>
                  <a:pt x="2716" y="2534"/>
                  <a:pt x="2800" y="2523"/>
                </a:cubicBezTo>
                <a:cubicBezTo>
                  <a:pt x="2884" y="2512"/>
                  <a:pt x="2969" y="2500"/>
                  <a:pt x="3053" y="2485"/>
                </a:cubicBezTo>
                <a:cubicBezTo>
                  <a:pt x="3006" y="2402"/>
                  <a:pt x="2971" y="2341"/>
                  <a:pt x="2946" y="2295"/>
                </a:cubicBezTo>
                <a:cubicBezTo>
                  <a:pt x="2920" y="2251"/>
                  <a:pt x="2903" y="2221"/>
                  <a:pt x="2892" y="2202"/>
                </a:cubicBezTo>
                <a:cubicBezTo>
                  <a:pt x="2881" y="2182"/>
                  <a:pt x="2876" y="2173"/>
                  <a:pt x="2873" y="2168"/>
                </a:cubicBezTo>
                <a:cubicBezTo>
                  <a:pt x="2870" y="2163"/>
                  <a:pt x="2870" y="2163"/>
                  <a:pt x="2870" y="2163"/>
                </a:cubicBezTo>
                <a:cubicBezTo>
                  <a:pt x="2654" y="1776"/>
                  <a:pt x="2654" y="1776"/>
                  <a:pt x="2654" y="1776"/>
                </a:cubicBezTo>
                <a:cubicBezTo>
                  <a:pt x="2798" y="1664"/>
                  <a:pt x="2902" y="1583"/>
                  <a:pt x="2979" y="1523"/>
                </a:cubicBezTo>
                <a:cubicBezTo>
                  <a:pt x="3054" y="1465"/>
                  <a:pt x="3104" y="1426"/>
                  <a:pt x="3136" y="1401"/>
                </a:cubicBezTo>
                <a:cubicBezTo>
                  <a:pt x="3169" y="1376"/>
                  <a:pt x="3185" y="1364"/>
                  <a:pt x="3193" y="1357"/>
                </a:cubicBezTo>
                <a:cubicBezTo>
                  <a:pt x="3201" y="1351"/>
                  <a:pt x="3201" y="1351"/>
                  <a:pt x="3201" y="1351"/>
                </a:cubicBezTo>
                <a:cubicBezTo>
                  <a:pt x="3239" y="1321"/>
                  <a:pt x="3268" y="1298"/>
                  <a:pt x="3289" y="1281"/>
                </a:cubicBezTo>
                <a:cubicBezTo>
                  <a:pt x="3310" y="1265"/>
                  <a:pt x="3324" y="1254"/>
                  <a:pt x="3334" y="1246"/>
                </a:cubicBezTo>
                <a:cubicBezTo>
                  <a:pt x="3343" y="1239"/>
                  <a:pt x="3348" y="1235"/>
                  <a:pt x="3350" y="1233"/>
                </a:cubicBezTo>
                <a:cubicBezTo>
                  <a:pt x="3352" y="1232"/>
                  <a:pt x="3352" y="1232"/>
                  <a:pt x="3352" y="1232"/>
                </a:cubicBezTo>
                <a:cubicBezTo>
                  <a:pt x="3320" y="1235"/>
                  <a:pt x="3288" y="1239"/>
                  <a:pt x="3255" y="1242"/>
                </a:cubicBezTo>
                <a:cubicBezTo>
                  <a:pt x="3223" y="1245"/>
                  <a:pt x="3191" y="1247"/>
                  <a:pt x="3159" y="1249"/>
                </a:cubicBezTo>
                <a:cubicBezTo>
                  <a:pt x="3127" y="1251"/>
                  <a:pt x="3096" y="1253"/>
                  <a:pt x="3064" y="1254"/>
                </a:cubicBezTo>
                <a:cubicBezTo>
                  <a:pt x="3033" y="1255"/>
                  <a:pt x="3002" y="1255"/>
                  <a:pt x="2971" y="1255"/>
                </a:cubicBezTo>
                <a:cubicBezTo>
                  <a:pt x="2840" y="1255"/>
                  <a:pt x="2715" y="1246"/>
                  <a:pt x="2599" y="1229"/>
                </a:cubicBezTo>
                <a:cubicBezTo>
                  <a:pt x="2483" y="1211"/>
                  <a:pt x="2377" y="1185"/>
                  <a:pt x="2282" y="1151"/>
                </a:cubicBezTo>
                <a:cubicBezTo>
                  <a:pt x="2189" y="1118"/>
                  <a:pt x="2108" y="1076"/>
                  <a:pt x="2040" y="1028"/>
                </a:cubicBezTo>
                <a:cubicBezTo>
                  <a:pt x="1974" y="980"/>
                  <a:pt x="1921" y="925"/>
                  <a:pt x="1885" y="864"/>
                </a:cubicBezTo>
                <a:cubicBezTo>
                  <a:pt x="1855" y="814"/>
                  <a:pt x="1836" y="763"/>
                  <a:pt x="1827" y="710"/>
                </a:cubicBezTo>
                <a:cubicBezTo>
                  <a:pt x="1819" y="658"/>
                  <a:pt x="1820" y="605"/>
                  <a:pt x="1830" y="552"/>
                </a:cubicBezTo>
                <a:cubicBezTo>
                  <a:pt x="1841" y="500"/>
                  <a:pt x="1859" y="447"/>
                  <a:pt x="1886" y="395"/>
                </a:cubicBezTo>
                <a:cubicBezTo>
                  <a:pt x="1912" y="343"/>
                  <a:pt x="1945" y="292"/>
                  <a:pt x="1985" y="241"/>
                </a:cubicBezTo>
                <a:cubicBezTo>
                  <a:pt x="1953" y="219"/>
                  <a:pt x="1928" y="202"/>
                  <a:pt x="1910" y="190"/>
                </a:cubicBezTo>
                <a:cubicBezTo>
                  <a:pt x="1892" y="178"/>
                  <a:pt x="1880" y="170"/>
                  <a:pt x="1872" y="164"/>
                </a:cubicBezTo>
                <a:cubicBezTo>
                  <a:pt x="1864" y="159"/>
                  <a:pt x="1860" y="156"/>
                  <a:pt x="1858" y="155"/>
                </a:cubicBezTo>
                <a:cubicBezTo>
                  <a:pt x="1856" y="154"/>
                  <a:pt x="1856" y="154"/>
                  <a:pt x="1856" y="154"/>
                </a:cubicBezTo>
                <a:cubicBezTo>
                  <a:pt x="1797" y="114"/>
                  <a:pt x="1753" y="85"/>
                  <a:pt x="1720" y="63"/>
                </a:cubicBezTo>
                <a:cubicBezTo>
                  <a:pt x="1688" y="42"/>
                  <a:pt x="1667" y="28"/>
                  <a:pt x="1653" y="18"/>
                </a:cubicBezTo>
                <a:cubicBezTo>
                  <a:pt x="1639" y="9"/>
                  <a:pt x="1632" y="4"/>
                  <a:pt x="1628" y="2"/>
                </a:cubicBezTo>
                <a:cubicBezTo>
                  <a:pt x="1625" y="0"/>
                  <a:pt x="1625" y="0"/>
                  <a:pt x="1625" y="0"/>
                </a:cubicBezTo>
              </a:path>
            </a:pathLst>
          </a:custGeom>
          <a:gradFill>
            <a:gsLst>
              <a:gs pos="0">
                <a:schemeClr val="accent1">
                  <a:lumMod val="60000"/>
                  <a:lumOff val="40000"/>
                </a:schemeClr>
              </a:gs>
              <a:gs pos="100000">
                <a:schemeClr val="accent1">
                  <a:lumMod val="80000"/>
                  <a:lumOff val="20000"/>
                </a:schemeClr>
              </a:gs>
            </a:gsLst>
            <a:lin ang="5400000" scaled="0"/>
          </a:gradFill>
          <a:ln w="19050" cap="flat" cmpd="sng" algn="ctr">
            <a:solidFill>
              <a:schemeClr val="bg1"/>
            </a:solidFill>
            <a:prstDash val="solid"/>
            <a:miter lim="800000"/>
          </a:ln>
          <a:effectLst/>
        </p:spPr>
        <p:style>
          <a:lnRef idx="2">
            <a:srgbClr val="64171D">
              <a:shade val="15000"/>
            </a:srgbClr>
          </a:lnRef>
          <a:fillRef idx="1">
            <a:srgbClr val="64171D"/>
          </a:fillRef>
          <a:effectRef idx="0">
            <a:srgbClr val="64171D"/>
          </a:effectRef>
          <a:fontRef idx="minor">
            <a:sysClr val="window" lastClr="FFFFFF"/>
          </a:fontRef>
        </p:style>
        <p:txBody>
          <a:bodyPr vertOverflow="overflow" horzOverflow="overflow" vert="horz" wrap="square" lIns="91440" tIns="45720" rIns="91440" bIns="45720"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5" name="Rectangle 74"/>
          <p:cNvSpPr/>
          <p:nvPr/>
        </p:nvSpPr>
        <p:spPr>
          <a:xfrm>
            <a:off x="3430795" y="3023103"/>
            <a:ext cx="1420497" cy="384175"/>
          </a:xfrm>
          <a:prstGeom prst="rect">
            <a:avLst/>
          </a:prstGeom>
          <a:effectLst/>
        </p:spPr>
        <p:txBody>
          <a:bodyPr wrap="square" lIns="0" tIns="0" rIns="0" bIns="0" anchor="ctr">
            <a:spAutoFit/>
          </a:bodyPr>
          <a:lstStyle/>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精准触达</a:t>
            </a:r>
            <a:endParaRPr lang="en-US" sz="1400" dirty="0">
              <a:solidFill>
                <a:schemeClr val="tx2"/>
              </a:solidFill>
              <a:latin typeface="微软雅黑" panose="020B0503020204020204" charset="-122"/>
              <a:ea typeface="微软雅黑" panose="020B0503020204020204" charset="-122"/>
              <a:cs typeface="微软雅黑" panose="020B0503020204020204" charset="-122"/>
            </a:endParaRPr>
          </a:p>
          <a:p>
            <a:pPr algn="ctr"/>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流量获取与客户转化</a:t>
            </a:r>
            <a:endParaRPr lang="zh-CN" altLang="en-US" sz="11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6" name="Rectangle 75"/>
          <p:cNvSpPr/>
          <p:nvPr/>
        </p:nvSpPr>
        <p:spPr>
          <a:xfrm>
            <a:off x="7473568" y="3023323"/>
            <a:ext cx="1420497" cy="384175"/>
          </a:xfrm>
          <a:prstGeom prst="rect">
            <a:avLst/>
          </a:prstGeom>
          <a:effectLst/>
        </p:spPr>
        <p:txBody>
          <a:bodyPr wrap="square" lIns="0" tIns="0" rIns="0" bIns="0" anchor="ctr">
            <a:spAutoFit/>
          </a:bodyPr>
          <a:lstStyle/>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提升忠诚</a:t>
            </a:r>
            <a:endParaRPr lang="en-US" altLang="zh-CN" sz="1400" dirty="0">
              <a:solidFill>
                <a:srgbClr val="000000"/>
              </a:solidFill>
              <a:latin typeface="微软雅黑" panose="020B0503020204020204" charset="-122"/>
              <a:ea typeface="微软雅黑" panose="020B0503020204020204" charset="-122"/>
              <a:cs typeface="微软雅黑" panose="020B0503020204020204" charset="-122"/>
            </a:endParaRPr>
          </a:p>
          <a:p>
            <a:pPr algn="ctr"/>
            <a:r>
              <a:rPr lang="zh-CN" altLang="en-US" sz="1100" dirty="0">
                <a:solidFill>
                  <a:schemeClr val="accent5"/>
                </a:solidFill>
                <a:latin typeface="微软雅黑" panose="020B0503020204020204" charset="-122"/>
                <a:ea typeface="微软雅黑" panose="020B0503020204020204" charset="-122"/>
                <a:cs typeface="微软雅黑" panose="020B0503020204020204" charset="-122"/>
              </a:rPr>
              <a:t>消费洞察与价值创造</a:t>
            </a:r>
            <a:endParaRPr lang="zh-CN" altLang="en-US" sz="1100" dirty="0">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27" name="Straight Connector 80"/>
          <p:cNvCxnSpPr/>
          <p:nvPr/>
        </p:nvCxnSpPr>
        <p:spPr>
          <a:xfrm flipH="1">
            <a:off x="5230531" y="3926237"/>
            <a:ext cx="1" cy="763002"/>
          </a:xfrm>
          <a:prstGeom prst="line">
            <a:avLst/>
          </a:prstGeom>
          <a:ln w="5969">
            <a:solidFill>
              <a:schemeClr val="accent6">
                <a:lumMod val="60000"/>
                <a:lumOff val="40000"/>
              </a:schemeClr>
            </a:solidFill>
          </a:ln>
          <a:effectLst/>
        </p:spPr>
        <p:style>
          <a:lnRef idx="1">
            <a:srgbClr val="24396B"/>
          </a:lnRef>
          <a:fillRef idx="0">
            <a:srgbClr val="24396B"/>
          </a:fillRef>
          <a:effectRef idx="0">
            <a:srgbClr val="24396B"/>
          </a:effectRef>
          <a:fontRef idx="minor">
            <a:srgbClr val="000000"/>
          </a:fontRef>
        </p:style>
      </p:cxnSp>
      <p:cxnSp>
        <p:nvCxnSpPr>
          <p:cNvPr id="31" name="Straight Connector 92"/>
          <p:cNvCxnSpPr/>
          <p:nvPr/>
        </p:nvCxnSpPr>
        <p:spPr>
          <a:xfrm>
            <a:off x="3735114" y="1816361"/>
            <a:ext cx="0" cy="829310"/>
          </a:xfrm>
          <a:prstGeom prst="line">
            <a:avLst/>
          </a:prstGeom>
          <a:ln w="5969">
            <a:solidFill>
              <a:schemeClr val="accent6">
                <a:lumMod val="60000"/>
                <a:lumOff val="40000"/>
              </a:schemeClr>
            </a:solidFill>
          </a:ln>
          <a:effectLst/>
        </p:spPr>
        <p:style>
          <a:lnRef idx="1">
            <a:srgbClr val="24396B"/>
          </a:lnRef>
          <a:fillRef idx="0">
            <a:srgbClr val="24396B"/>
          </a:fillRef>
          <a:effectRef idx="0">
            <a:srgbClr val="24396B"/>
          </a:effectRef>
          <a:fontRef idx="minor">
            <a:srgbClr val="000000"/>
          </a:fontRef>
        </p:style>
      </p:cxnSp>
      <p:cxnSp>
        <p:nvCxnSpPr>
          <p:cNvPr id="33" name="Straight Connector 103"/>
          <p:cNvCxnSpPr/>
          <p:nvPr/>
        </p:nvCxnSpPr>
        <p:spPr>
          <a:xfrm>
            <a:off x="5679954" y="2114852"/>
            <a:ext cx="0" cy="715645"/>
          </a:xfrm>
          <a:prstGeom prst="line">
            <a:avLst/>
          </a:prstGeom>
          <a:ln w="5969">
            <a:solidFill>
              <a:schemeClr val="accent6">
                <a:lumMod val="60000"/>
                <a:lumOff val="40000"/>
              </a:schemeClr>
            </a:solidFill>
          </a:ln>
          <a:effectLst/>
        </p:spPr>
        <p:style>
          <a:lnRef idx="1">
            <a:srgbClr val="24396B"/>
          </a:lnRef>
          <a:fillRef idx="0">
            <a:srgbClr val="24396B"/>
          </a:fillRef>
          <a:effectRef idx="0">
            <a:srgbClr val="24396B"/>
          </a:effectRef>
          <a:fontRef idx="minor">
            <a:srgbClr val="000000"/>
          </a:fontRef>
        </p:style>
      </p:cxnSp>
      <p:cxnSp>
        <p:nvCxnSpPr>
          <p:cNvPr id="35" name="Straight Connector 107"/>
          <p:cNvCxnSpPr/>
          <p:nvPr/>
        </p:nvCxnSpPr>
        <p:spPr>
          <a:xfrm>
            <a:off x="7593896" y="4116298"/>
            <a:ext cx="0" cy="543560"/>
          </a:xfrm>
          <a:prstGeom prst="line">
            <a:avLst/>
          </a:prstGeom>
          <a:ln w="5969">
            <a:solidFill>
              <a:schemeClr val="accent6">
                <a:lumMod val="60000"/>
                <a:lumOff val="40000"/>
              </a:schemeClr>
            </a:solidFill>
          </a:ln>
          <a:effectLst/>
        </p:spPr>
        <p:style>
          <a:lnRef idx="1">
            <a:srgbClr val="24396B"/>
          </a:lnRef>
          <a:fillRef idx="0">
            <a:srgbClr val="24396B"/>
          </a:fillRef>
          <a:effectRef idx="0">
            <a:srgbClr val="24396B"/>
          </a:effectRef>
          <a:fontRef idx="minor">
            <a:srgbClr val="000000"/>
          </a:fontRef>
        </p:style>
      </p:cxnSp>
      <p:cxnSp>
        <p:nvCxnSpPr>
          <p:cNvPr id="37" name="Straight Connector 111"/>
          <p:cNvCxnSpPr/>
          <p:nvPr/>
        </p:nvCxnSpPr>
        <p:spPr>
          <a:xfrm>
            <a:off x="9948655" y="2769298"/>
            <a:ext cx="0" cy="1031240"/>
          </a:xfrm>
          <a:prstGeom prst="line">
            <a:avLst/>
          </a:prstGeom>
          <a:ln w="5969">
            <a:solidFill>
              <a:schemeClr val="accent6">
                <a:lumMod val="60000"/>
                <a:lumOff val="40000"/>
              </a:schemeClr>
            </a:solidFill>
          </a:ln>
          <a:effectLst/>
        </p:spPr>
        <p:style>
          <a:lnRef idx="1">
            <a:srgbClr val="24396B"/>
          </a:lnRef>
          <a:fillRef idx="0">
            <a:srgbClr val="24396B"/>
          </a:fillRef>
          <a:effectRef idx="0">
            <a:srgbClr val="24396B"/>
          </a:effectRef>
          <a:fontRef idx="minor">
            <a:srgbClr val="000000"/>
          </a:fontRef>
        </p:style>
      </p:cxnSp>
      <p:cxnSp>
        <p:nvCxnSpPr>
          <p:cNvPr id="39" name="Straight Connector 115"/>
          <p:cNvCxnSpPr/>
          <p:nvPr/>
        </p:nvCxnSpPr>
        <p:spPr>
          <a:xfrm flipH="1">
            <a:off x="8709749" y="1678905"/>
            <a:ext cx="1" cy="1004830"/>
          </a:xfrm>
          <a:prstGeom prst="line">
            <a:avLst/>
          </a:prstGeom>
          <a:ln w="5969">
            <a:solidFill>
              <a:schemeClr val="accent6">
                <a:lumMod val="60000"/>
                <a:lumOff val="40000"/>
              </a:schemeClr>
            </a:solidFill>
          </a:ln>
          <a:effectLst/>
        </p:spPr>
        <p:style>
          <a:lnRef idx="1">
            <a:srgbClr val="24396B"/>
          </a:lnRef>
          <a:fillRef idx="0">
            <a:srgbClr val="24396B"/>
          </a:fillRef>
          <a:effectRef idx="0">
            <a:srgbClr val="24396B"/>
          </a:effectRef>
          <a:fontRef idx="minor">
            <a:srgbClr val="000000"/>
          </a:fontRef>
        </p:style>
      </p:cxnSp>
      <p:cxnSp>
        <p:nvCxnSpPr>
          <p:cNvPr id="41" name="Straight Connector 119"/>
          <p:cNvCxnSpPr/>
          <p:nvPr/>
        </p:nvCxnSpPr>
        <p:spPr>
          <a:xfrm>
            <a:off x="6984258" y="1645056"/>
            <a:ext cx="3810" cy="1009015"/>
          </a:xfrm>
          <a:prstGeom prst="line">
            <a:avLst/>
          </a:prstGeom>
          <a:ln w="5969">
            <a:solidFill>
              <a:schemeClr val="accent6">
                <a:lumMod val="60000"/>
                <a:lumOff val="40000"/>
              </a:schemeClr>
            </a:solidFill>
          </a:ln>
          <a:effectLst/>
        </p:spPr>
        <p:style>
          <a:lnRef idx="1">
            <a:srgbClr val="24396B"/>
          </a:lnRef>
          <a:fillRef idx="0">
            <a:srgbClr val="24396B"/>
          </a:fillRef>
          <a:effectRef idx="0">
            <a:srgbClr val="24396B"/>
          </a:effectRef>
          <a:fontRef idx="minor">
            <a:srgbClr val="000000"/>
          </a:fontRef>
        </p:style>
      </p:cxnSp>
      <p:sp>
        <p:nvSpPr>
          <p:cNvPr id="542" name="椭圆 541"/>
          <p:cNvSpPr/>
          <p:nvPr/>
        </p:nvSpPr>
        <p:spPr>
          <a:xfrm>
            <a:off x="5530720" y="2720988"/>
            <a:ext cx="306291" cy="306291"/>
          </a:xfrm>
          <a:prstGeom prst="ellipse">
            <a:avLst/>
          </a:prstGeom>
          <a:solidFill>
            <a:srgbClr val="FFFFFF"/>
          </a:solidFill>
          <a:ln>
            <a:noFill/>
          </a:ln>
          <a:effectLst/>
        </p:spPr>
        <p:style>
          <a:lnRef idx="2">
            <a:srgbClr val="24396B">
              <a:shade val="15000"/>
            </a:srgbClr>
          </a:lnRef>
          <a:fillRef idx="1">
            <a:srgbClr val="24396B"/>
          </a:fillRef>
          <a:effectRef idx="0">
            <a:srgbClr val="24396B"/>
          </a:effectRef>
          <a:fontRef idx="minor">
            <a:srgbClr val="FFFFFF"/>
          </a:fontRef>
        </p:style>
        <p:txBody>
          <a:bodyPr lIns="85954" tIns="42977" rIns="85954" bIns="42977" rtlCol="0" anchor="ctr"/>
          <a:lstStyle/>
          <a:p>
            <a:pPr algn="ctr"/>
            <a:r>
              <a:rPr lang="en-US" altLang="zh-CN" sz="1100" b="1">
                <a:solidFill>
                  <a:schemeClr val="accent2"/>
                </a:solidFill>
                <a:latin typeface="微软雅黑" panose="020B0503020204020204" charset="-122"/>
                <a:ea typeface="微软雅黑" panose="020B0503020204020204" charset="-122"/>
                <a:cs typeface="微软雅黑" panose="020B0503020204020204" charset="-122"/>
              </a:rPr>
              <a:t>4</a:t>
            </a:r>
            <a:endParaRPr lang="en-US" altLang="zh-CN" sz="1100" b="1">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543" name="椭圆 542"/>
          <p:cNvSpPr/>
          <p:nvPr/>
        </p:nvSpPr>
        <p:spPr>
          <a:xfrm>
            <a:off x="5033932" y="3549311"/>
            <a:ext cx="386874" cy="386874"/>
          </a:xfrm>
          <a:prstGeom prst="ellipse">
            <a:avLst/>
          </a:prstGeom>
          <a:solidFill>
            <a:srgbClr val="FFFFFF"/>
          </a:solidFill>
          <a:ln>
            <a:noFill/>
          </a:ln>
          <a:effectLst/>
        </p:spPr>
        <p:style>
          <a:lnRef idx="2">
            <a:srgbClr val="24396B">
              <a:shade val="15000"/>
            </a:srgbClr>
          </a:lnRef>
          <a:fillRef idx="1">
            <a:srgbClr val="24396B"/>
          </a:fillRef>
          <a:effectRef idx="0">
            <a:srgbClr val="24396B"/>
          </a:effectRef>
          <a:fontRef idx="minor">
            <a:srgbClr val="FFFFFF"/>
          </a:fontRef>
        </p:style>
        <p:txBody>
          <a:bodyPr lIns="85954" tIns="42977" rIns="85954" bIns="42977" rtlCol="0" anchor="ctr"/>
          <a:lstStyle/>
          <a:p>
            <a:pPr algn="ctr"/>
            <a:r>
              <a:rPr lang="en-US" altLang="zh-CN" sz="1600" b="1" dirty="0">
                <a:solidFill>
                  <a:schemeClr val="accent1"/>
                </a:solidFill>
                <a:latin typeface="微软雅黑" panose="020B0503020204020204" charset="-122"/>
                <a:ea typeface="微软雅黑" panose="020B0503020204020204" charset="-122"/>
                <a:cs typeface="微软雅黑" panose="020B0503020204020204" charset="-122"/>
              </a:rPr>
              <a:t>1</a:t>
            </a:r>
            <a:endParaRPr lang="en-US" altLang="zh-CN"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44" name="椭圆 543"/>
          <p:cNvSpPr/>
          <p:nvPr/>
        </p:nvSpPr>
        <p:spPr>
          <a:xfrm>
            <a:off x="2176717" y="3813980"/>
            <a:ext cx="451601" cy="451601"/>
          </a:xfrm>
          <a:prstGeom prst="ellipse">
            <a:avLst/>
          </a:prstGeom>
          <a:solidFill>
            <a:srgbClr val="FFFFFF"/>
          </a:solidFill>
          <a:ln>
            <a:noFill/>
          </a:ln>
          <a:effectLst/>
        </p:spPr>
        <p:style>
          <a:lnRef idx="2">
            <a:srgbClr val="24396B">
              <a:shade val="15000"/>
            </a:srgbClr>
          </a:lnRef>
          <a:fillRef idx="1">
            <a:srgbClr val="24396B"/>
          </a:fillRef>
          <a:effectRef idx="0">
            <a:srgbClr val="24396B"/>
          </a:effectRef>
          <a:fontRef idx="minor">
            <a:srgbClr val="FFFFFF"/>
          </a:fontRef>
        </p:style>
        <p:txBody>
          <a:bodyPr lIns="85954" tIns="42977" rIns="85954" bIns="42977" rtlCol="0" anchor="ctr"/>
          <a:lstStyle/>
          <a:p>
            <a:pPr algn="ctr"/>
            <a:r>
              <a:rPr lang="en-US" altLang="zh-CN" sz="2400" b="1">
                <a:solidFill>
                  <a:schemeClr val="accent1"/>
                </a:solidFill>
                <a:latin typeface="微软雅黑" panose="020B0503020204020204" charset="-122"/>
                <a:ea typeface="微软雅黑" panose="020B0503020204020204" charset="-122"/>
                <a:cs typeface="微软雅黑" panose="020B0503020204020204" charset="-122"/>
              </a:rPr>
              <a:t>2</a:t>
            </a:r>
            <a:endParaRPr lang="en-US" altLang="zh-CN" sz="2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46" name="椭圆 545"/>
          <p:cNvSpPr/>
          <p:nvPr/>
        </p:nvSpPr>
        <p:spPr>
          <a:xfrm>
            <a:off x="3636629" y="2606261"/>
            <a:ext cx="211835" cy="211835"/>
          </a:xfrm>
          <a:prstGeom prst="ellipse">
            <a:avLst/>
          </a:prstGeom>
          <a:solidFill>
            <a:srgbClr val="FFFFFF"/>
          </a:solidFill>
          <a:ln>
            <a:noFill/>
          </a:ln>
          <a:effectLst/>
        </p:spPr>
        <p:style>
          <a:lnRef idx="2">
            <a:srgbClr val="24396B">
              <a:shade val="15000"/>
            </a:srgbClr>
          </a:lnRef>
          <a:fillRef idx="1">
            <a:srgbClr val="24396B"/>
          </a:fillRef>
          <a:effectRef idx="0">
            <a:srgbClr val="24396B"/>
          </a:effectRef>
          <a:fontRef idx="minor">
            <a:srgbClr val="FFFFFF"/>
          </a:fontRef>
        </p:style>
        <p:txBody>
          <a:bodyPr lIns="85954" tIns="42977" rIns="85954" bIns="42977" rtlCol="0" anchor="ctr"/>
          <a:lstStyle/>
          <a:p>
            <a:pPr algn="ctr"/>
            <a:r>
              <a:rPr lang="en-US" altLang="zh-CN" sz="800" b="1">
                <a:solidFill>
                  <a:schemeClr val="accent2"/>
                </a:solidFill>
                <a:latin typeface="微软雅黑" panose="020B0503020204020204" charset="-122"/>
                <a:ea typeface="微软雅黑" panose="020B0503020204020204" charset="-122"/>
                <a:cs typeface="微软雅黑" panose="020B0503020204020204" charset="-122"/>
              </a:rPr>
              <a:t>3</a:t>
            </a:r>
            <a:endParaRPr lang="en-US" altLang="zh-CN" sz="800" b="1">
              <a:solidFill>
                <a:schemeClr val="accent2"/>
              </a:solidFill>
              <a:latin typeface="微软雅黑" panose="020B0503020204020204" charset="-122"/>
              <a:ea typeface="微软雅黑" panose="020B0503020204020204" charset="-122"/>
              <a:cs typeface="微软雅黑" panose="020B0503020204020204" charset="-122"/>
            </a:endParaRPr>
          </a:p>
        </p:txBody>
      </p:sp>
      <p:sp>
        <p:nvSpPr>
          <p:cNvPr id="547" name="椭圆 546"/>
          <p:cNvSpPr/>
          <p:nvPr/>
        </p:nvSpPr>
        <p:spPr>
          <a:xfrm>
            <a:off x="7439215" y="3828873"/>
            <a:ext cx="306291" cy="306291"/>
          </a:xfrm>
          <a:prstGeom prst="ellipse">
            <a:avLst/>
          </a:prstGeom>
          <a:solidFill>
            <a:srgbClr val="FFFFFF"/>
          </a:solidFill>
          <a:ln>
            <a:noFill/>
          </a:ln>
          <a:effectLst/>
        </p:spPr>
        <p:style>
          <a:lnRef idx="2">
            <a:srgbClr val="24396B">
              <a:shade val="15000"/>
            </a:srgbClr>
          </a:lnRef>
          <a:fillRef idx="1">
            <a:srgbClr val="24396B"/>
          </a:fillRef>
          <a:effectRef idx="0">
            <a:srgbClr val="24396B"/>
          </a:effectRef>
          <a:fontRef idx="minor">
            <a:srgbClr val="FFFFFF"/>
          </a:fontRef>
        </p:style>
        <p:txBody>
          <a:bodyPr lIns="85954" tIns="42977" rIns="85954" bIns="42977" rtlCol="0" anchor="ctr"/>
          <a:lstStyle/>
          <a:p>
            <a:pPr algn="ctr"/>
            <a:r>
              <a:rPr lang="en-US" altLang="zh-CN" sz="1100" b="1">
                <a:solidFill>
                  <a:schemeClr val="accent5"/>
                </a:solidFill>
                <a:latin typeface="微软雅黑" panose="020B0503020204020204" charset="-122"/>
                <a:ea typeface="微软雅黑" panose="020B0503020204020204" charset="-122"/>
                <a:cs typeface="微软雅黑" panose="020B0503020204020204" charset="-122"/>
              </a:rPr>
              <a:t>5</a:t>
            </a:r>
            <a:endParaRPr lang="en-US" altLang="zh-CN" sz="11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549" name="椭圆 548"/>
          <p:cNvSpPr/>
          <p:nvPr/>
        </p:nvSpPr>
        <p:spPr>
          <a:xfrm>
            <a:off x="9586949" y="3717798"/>
            <a:ext cx="414615" cy="414615"/>
          </a:xfrm>
          <a:prstGeom prst="ellipse">
            <a:avLst/>
          </a:prstGeom>
          <a:solidFill>
            <a:srgbClr val="FFFFFF"/>
          </a:solidFill>
          <a:ln>
            <a:noFill/>
          </a:ln>
          <a:effectLst/>
        </p:spPr>
        <p:style>
          <a:lnRef idx="2">
            <a:srgbClr val="24396B">
              <a:shade val="15000"/>
            </a:srgbClr>
          </a:lnRef>
          <a:fillRef idx="1">
            <a:srgbClr val="24396B"/>
          </a:fillRef>
          <a:effectRef idx="0">
            <a:srgbClr val="24396B"/>
          </a:effectRef>
          <a:fontRef idx="minor">
            <a:srgbClr val="FFFFFF"/>
          </a:fontRef>
        </p:style>
        <p:txBody>
          <a:bodyPr lIns="85954" tIns="42977" rIns="85954" bIns="42977" rtlCol="0" anchor="ctr"/>
          <a:lstStyle/>
          <a:p>
            <a:pPr algn="ctr"/>
            <a:r>
              <a:rPr lang="en-US" altLang="zh-CN" sz="2070" b="1" dirty="0">
                <a:solidFill>
                  <a:schemeClr val="accent5"/>
                </a:solidFill>
                <a:latin typeface="微软雅黑" panose="020B0503020204020204" charset="-122"/>
                <a:ea typeface="微软雅黑" panose="020B0503020204020204" charset="-122"/>
                <a:cs typeface="微软雅黑" panose="020B0503020204020204" charset="-122"/>
              </a:rPr>
              <a:t>6</a:t>
            </a:r>
            <a:endParaRPr lang="en-US" altLang="zh-CN" sz="207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550" name="椭圆 549"/>
          <p:cNvSpPr/>
          <p:nvPr/>
        </p:nvSpPr>
        <p:spPr>
          <a:xfrm>
            <a:off x="8602898" y="2620790"/>
            <a:ext cx="211835" cy="211835"/>
          </a:xfrm>
          <a:prstGeom prst="ellipse">
            <a:avLst/>
          </a:prstGeom>
          <a:solidFill>
            <a:srgbClr val="FFFFFF"/>
          </a:solidFill>
          <a:ln>
            <a:noFill/>
          </a:ln>
          <a:effectLst/>
        </p:spPr>
        <p:style>
          <a:lnRef idx="2">
            <a:srgbClr val="24396B">
              <a:shade val="15000"/>
            </a:srgbClr>
          </a:lnRef>
          <a:fillRef idx="1">
            <a:srgbClr val="24396B"/>
          </a:fillRef>
          <a:effectRef idx="0">
            <a:srgbClr val="24396B"/>
          </a:effectRef>
          <a:fontRef idx="minor">
            <a:srgbClr val="FFFFFF"/>
          </a:fontRef>
        </p:style>
        <p:txBody>
          <a:bodyPr lIns="85954" tIns="42977" rIns="85954" bIns="42977" rtlCol="0" anchor="ctr"/>
          <a:lstStyle/>
          <a:p>
            <a:pPr algn="ctr"/>
            <a:r>
              <a:rPr lang="en-US" altLang="zh-CN" sz="800" b="1" dirty="0">
                <a:solidFill>
                  <a:schemeClr val="accent5"/>
                </a:solidFill>
                <a:latin typeface="微软雅黑" panose="020B0503020204020204" charset="-122"/>
                <a:ea typeface="微软雅黑" panose="020B0503020204020204" charset="-122"/>
                <a:cs typeface="微软雅黑" panose="020B0503020204020204" charset="-122"/>
              </a:rPr>
              <a:t>7</a:t>
            </a:r>
            <a:endParaRPr lang="en-US" altLang="zh-CN" sz="8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553" name="椭圆 552"/>
          <p:cNvSpPr/>
          <p:nvPr/>
        </p:nvSpPr>
        <p:spPr>
          <a:xfrm>
            <a:off x="6850374" y="2608173"/>
            <a:ext cx="274323" cy="274323"/>
          </a:xfrm>
          <a:prstGeom prst="ellipse">
            <a:avLst/>
          </a:prstGeom>
          <a:solidFill>
            <a:srgbClr val="FFFFFF"/>
          </a:solidFill>
          <a:ln>
            <a:noFill/>
          </a:ln>
          <a:effectLst/>
        </p:spPr>
        <p:style>
          <a:lnRef idx="2">
            <a:srgbClr val="24396B">
              <a:shade val="15000"/>
            </a:srgbClr>
          </a:lnRef>
          <a:fillRef idx="1">
            <a:srgbClr val="24396B"/>
          </a:fillRef>
          <a:effectRef idx="0">
            <a:srgbClr val="24396B"/>
          </a:effectRef>
          <a:fontRef idx="minor">
            <a:srgbClr val="FFFFFF"/>
          </a:fontRef>
        </p:style>
        <p:txBody>
          <a:bodyPr lIns="85954" tIns="42977" rIns="85954" bIns="42977" rtlCol="0" anchor="ctr"/>
          <a:lstStyle/>
          <a:p>
            <a:pPr algn="ctr"/>
            <a:r>
              <a:rPr lang="en-US" altLang="zh-CN" sz="1130" b="1">
                <a:solidFill>
                  <a:schemeClr val="accent5"/>
                </a:solidFill>
                <a:latin typeface="微软雅黑" panose="020B0503020204020204" charset="-122"/>
                <a:ea typeface="微软雅黑" panose="020B0503020204020204" charset="-122"/>
                <a:cs typeface="微软雅黑" panose="020B0503020204020204" charset="-122"/>
              </a:rPr>
              <a:t>8</a:t>
            </a:r>
            <a:endParaRPr lang="en-US" altLang="zh-CN" sz="1130" b="1">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159" name="组合 158"/>
          <p:cNvGrpSpPr/>
          <p:nvPr/>
        </p:nvGrpSpPr>
        <p:grpSpPr>
          <a:xfrm>
            <a:off x="316230" y="4469765"/>
            <a:ext cx="183515" cy="183515"/>
            <a:chOff x="5734988" y="949771"/>
            <a:chExt cx="347205" cy="347205"/>
          </a:xfrm>
        </p:grpSpPr>
        <p:sp>
          <p:nvSpPr>
            <p:cNvPr id="160" name="椭圆 159"/>
            <p:cNvSpPr/>
            <p:nvPr/>
          </p:nvSpPr>
          <p:spPr>
            <a:xfrm>
              <a:off x="5734988" y="949771"/>
              <a:ext cx="347205" cy="347205"/>
            </a:xfrm>
            <a:prstGeom prst="ellipse">
              <a:avLst/>
            </a:prstGeom>
            <a:solidFill>
              <a:schemeClr val="accent1"/>
            </a:solidFill>
            <a:ln w="38100" cap="flat" cmpd="sng" algn="ctr">
              <a:solidFill>
                <a:srgbClr val="FFFFFF"/>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1" name="Freeform 29"/>
            <p:cNvSpPr/>
            <p:nvPr/>
          </p:nvSpPr>
          <p:spPr bwMode="auto">
            <a:xfrm>
              <a:off x="5810061" y="1055694"/>
              <a:ext cx="201613" cy="155575"/>
            </a:xfrm>
            <a:custGeom>
              <a:avLst/>
              <a:gdLst/>
              <a:ahLst/>
              <a:cxnLst>
                <a:cxn ang="0">
                  <a:pos x="58" y="12"/>
                </a:cxn>
                <a:cxn ang="0">
                  <a:pos x="30" y="39"/>
                </a:cxn>
                <a:cxn ang="0">
                  <a:pos x="25" y="44"/>
                </a:cxn>
                <a:cxn ang="0">
                  <a:pos x="23" y="45"/>
                </a:cxn>
                <a:cxn ang="0">
                  <a:pos x="20" y="44"/>
                </a:cxn>
                <a:cxn ang="0">
                  <a:pos x="15" y="39"/>
                </a:cxn>
                <a:cxn ang="0">
                  <a:pos x="1" y="26"/>
                </a:cxn>
                <a:cxn ang="0">
                  <a:pos x="0" y="23"/>
                </a:cxn>
                <a:cxn ang="0">
                  <a:pos x="1" y="20"/>
                </a:cxn>
                <a:cxn ang="0">
                  <a:pos x="6" y="15"/>
                </a:cxn>
                <a:cxn ang="0">
                  <a:pos x="9" y="14"/>
                </a:cxn>
                <a:cxn ang="0">
                  <a:pos x="11" y="15"/>
                </a:cxn>
                <a:cxn ang="0">
                  <a:pos x="23" y="26"/>
                </a:cxn>
                <a:cxn ang="0">
                  <a:pos x="47" y="1"/>
                </a:cxn>
                <a:cxn ang="0">
                  <a:pos x="50" y="0"/>
                </a:cxn>
                <a:cxn ang="0">
                  <a:pos x="53" y="1"/>
                </a:cxn>
                <a:cxn ang="0">
                  <a:pos x="58" y="7"/>
                </a:cxn>
                <a:cxn ang="0">
                  <a:pos x="59" y="9"/>
                </a:cxn>
                <a:cxn ang="0">
                  <a:pos x="58" y="12"/>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163" name="小红书30"/>
          <p:cNvSpPr/>
          <p:nvPr/>
        </p:nvSpPr>
        <p:spPr>
          <a:xfrm>
            <a:off x="3807460" y="5256530"/>
            <a:ext cx="2578735" cy="773430"/>
          </a:xfrm>
          <a:prstGeom prst="roundRect">
            <a:avLst>
              <a:gd name="adj" fmla="val 6749"/>
            </a:avLst>
          </a:prstGeom>
          <a:solidFill>
            <a:schemeClr val="accent1">
              <a:lumMod val="20000"/>
              <a:lumOff val="80000"/>
              <a:alpha val="20000"/>
            </a:schemeClr>
          </a:solidFill>
          <a:ln w="12700" cap="flat" cmpd="sng" algn="ctr">
            <a:solidFill>
              <a:schemeClr val="accent1"/>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4" name="文本框 163"/>
          <p:cNvSpPr txBox="1"/>
          <p:nvPr/>
        </p:nvSpPr>
        <p:spPr>
          <a:xfrm>
            <a:off x="4196595" y="4704178"/>
            <a:ext cx="1783080" cy="553085"/>
          </a:xfrm>
          <a:prstGeom prst="rect">
            <a:avLst/>
          </a:prstGeom>
          <a:noFill/>
        </p:spPr>
        <p:txBody>
          <a:bodyPr wrap="none">
            <a:spAutoFit/>
          </a:bodyPr>
          <a:lstStyle/>
          <a:p>
            <a:pPr algn="ctr"/>
            <a:r>
              <a:rPr lang="zh-CN" sz="1600" b="1" dirty="0">
                <a:solidFill>
                  <a:schemeClr val="accent1"/>
                </a:solidFill>
                <a:latin typeface="微软雅黑" panose="020B0503020204020204" charset="-122"/>
                <a:ea typeface="微软雅黑" panose="020B0503020204020204" charset="-122"/>
                <a:cs typeface="微软雅黑" panose="020B0503020204020204" charset="-122"/>
              </a:rPr>
              <a:t>用户需求</a:t>
            </a:r>
            <a:endParaRPr lang="zh-CN" sz="1600" b="1" dirty="0">
              <a:solidFill>
                <a:schemeClr val="accent1"/>
              </a:solidFill>
              <a:latin typeface="微软雅黑" panose="020B0503020204020204" charset="-122"/>
              <a:ea typeface="微软雅黑" panose="020B0503020204020204" charset="-122"/>
              <a:cs typeface="微软雅黑" panose="020B0503020204020204" charset="-122"/>
            </a:endParaRPr>
          </a:p>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明确需求与触达场景</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3" name="对话气泡: 矩形 42"/>
          <p:cNvSpPr/>
          <p:nvPr/>
        </p:nvSpPr>
        <p:spPr>
          <a:xfrm>
            <a:off x="354965" y="1081405"/>
            <a:ext cx="2580640" cy="946785"/>
          </a:xfrm>
          <a:prstGeom prst="wedgeRectCallout">
            <a:avLst>
              <a:gd name="adj1" fmla="val 61572"/>
              <a:gd name="adj2" fmla="val -8428"/>
            </a:avLst>
          </a:prstGeom>
          <a:solidFill>
            <a:srgbClr val="FFFFFF"/>
          </a:solidFill>
          <a:ln w="19050">
            <a:solidFill>
              <a:schemeClr val="accent1"/>
            </a:solidFill>
          </a:ln>
          <a:effectLst/>
        </p:spPr>
        <p:style>
          <a:lnRef idx="2">
            <a:srgbClr val="24396B">
              <a:shade val="15000"/>
            </a:srgbClr>
          </a:lnRef>
          <a:fillRef idx="1">
            <a:srgbClr val="24396B"/>
          </a:fillRef>
          <a:effectRef idx="0">
            <a:srgbClr val="24396B"/>
          </a:effectRef>
          <a:fontRef idx="minor">
            <a:srgbClr val="FFFFFF"/>
          </a:fontRef>
        </p:style>
        <p:txBody>
          <a:bodyPr lIns="87782" tIns="43891" rIns="87782" bIns="43891" rtlCol="0" anchor="ctr"/>
          <a:lstStyle/>
          <a:p>
            <a:pPr algn="ctr"/>
            <a:endParaRPr lang="zh-CN" altLang="en-US" sz="650">
              <a:latin typeface="微软雅黑" panose="020B0503020204020204" charset="-122"/>
              <a:ea typeface="微软雅黑" panose="020B0503020204020204" charset="-122"/>
              <a:cs typeface="微软雅黑" panose="020B0503020204020204" charset="-122"/>
            </a:endParaRPr>
          </a:p>
        </p:txBody>
      </p:sp>
      <p:sp>
        <p:nvSpPr>
          <p:cNvPr id="47" name="对话气泡: 矩形 46"/>
          <p:cNvSpPr/>
          <p:nvPr/>
        </p:nvSpPr>
        <p:spPr>
          <a:xfrm>
            <a:off x="433070" y="3091815"/>
            <a:ext cx="1198880" cy="1235710"/>
          </a:xfrm>
          <a:prstGeom prst="wedgeRectCallout">
            <a:avLst>
              <a:gd name="adj1" fmla="val 43114"/>
              <a:gd name="adj2" fmla="val -69630"/>
            </a:avLst>
          </a:prstGeom>
          <a:solidFill>
            <a:schemeClr val="accent1"/>
          </a:solidFill>
          <a:ln w="12700" cap="flat" cmpd="sng" algn="ctr">
            <a:solidFill>
              <a:srgbClr val="1D3557"/>
            </a:solidFill>
            <a:prstDash val="solid"/>
            <a:miter lim="800000"/>
          </a:ln>
          <a:effectLst/>
        </p:spPr>
        <p:txBody>
          <a:bodyPr lIns="91440" tIns="45720" rIns="91440" bIns="45720" rtlCol="0" anchor="ctr">
            <a:noAutofit/>
          </a:bodyPr>
          <a:lstStyle/>
          <a:p>
            <a:pPr lvl="0" algn="ctr">
              <a:spcBef>
                <a:spcPts val="0"/>
              </a:spcBef>
              <a:spcAft>
                <a:spcPts val="0"/>
              </a:spcAft>
              <a:buClrTx/>
              <a:buSzTx/>
              <a:buFontTx/>
              <a:defRPr/>
            </a:pPr>
            <a:endParaRPr 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1" name="对话气泡: 矩形 50"/>
          <p:cNvSpPr/>
          <p:nvPr/>
        </p:nvSpPr>
        <p:spPr>
          <a:xfrm flipH="1">
            <a:off x="9594927" y="1045112"/>
            <a:ext cx="2224970" cy="983556"/>
          </a:xfrm>
          <a:prstGeom prst="wedgeRectCallout">
            <a:avLst>
              <a:gd name="adj1" fmla="val 61572"/>
              <a:gd name="adj2" fmla="val -8428"/>
            </a:avLst>
          </a:prstGeom>
          <a:solidFill>
            <a:schemeClr val="accent5"/>
          </a:solidFill>
          <a:ln w="35814">
            <a:noFill/>
          </a:ln>
          <a:effectLst/>
        </p:spPr>
        <p:style>
          <a:lnRef idx="2">
            <a:srgbClr val="24396B">
              <a:shade val="15000"/>
            </a:srgbClr>
          </a:lnRef>
          <a:fillRef idx="1">
            <a:srgbClr val="24396B"/>
          </a:fillRef>
          <a:effectRef idx="0">
            <a:srgbClr val="24396B"/>
          </a:effectRef>
          <a:fontRef idx="minor">
            <a:srgbClr val="FFFFFF"/>
          </a:fontRef>
        </p:style>
        <p:txBody>
          <a:bodyPr lIns="85954" tIns="42977" rIns="85954" bIns="42977" rtlCol="0" anchor="ctr"/>
          <a:lstStyle/>
          <a:p>
            <a:pPr algn="ctr"/>
            <a:endParaRPr lang="zh-CN" altLang="en-US" sz="635">
              <a:latin typeface="微软雅黑" panose="020B0503020204020204" charset="-122"/>
              <a:ea typeface="微软雅黑" panose="020B0503020204020204" charset="-122"/>
              <a:cs typeface="微软雅黑" panose="020B0503020204020204" charset="-122"/>
            </a:endParaRPr>
          </a:p>
        </p:txBody>
      </p:sp>
      <p:sp>
        <p:nvSpPr>
          <p:cNvPr id="52" name="对话气泡: 矩形 51"/>
          <p:cNvSpPr/>
          <p:nvPr/>
        </p:nvSpPr>
        <p:spPr>
          <a:xfrm>
            <a:off x="4476115" y="1035685"/>
            <a:ext cx="1623060" cy="458470"/>
          </a:xfrm>
          <a:prstGeom prst="wedgeRectCallout">
            <a:avLst>
              <a:gd name="adj1" fmla="val -137"/>
              <a:gd name="adj2" fmla="val 71496"/>
            </a:avLst>
          </a:prstGeom>
          <a:solidFill>
            <a:schemeClr val="accent1">
              <a:lumMod val="20000"/>
              <a:lumOff val="80000"/>
            </a:schemeClr>
          </a:solidFill>
          <a:ln w="15875">
            <a:noFill/>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lIns="87782" tIns="43891" rIns="87782" bIns="43891" numCol="1" spcCol="0" rtlCol="0" fromWordArt="0" anchor="ctr" anchorCtr="0" forceAA="0" compatLnSpc="1">
            <a:noAutofit/>
          </a:bodyPr>
          <a:lstStyle/>
          <a:p>
            <a:pPr lvl="0" algn="ctr">
              <a:buClrTx/>
              <a:buSzTx/>
              <a:buFontTx/>
            </a:pPr>
            <a:endParaRPr lang="zh-CN" altLang="en-US" sz="650">
              <a:latin typeface="微软雅黑" panose="020B0503020204020204" charset="-122"/>
              <a:ea typeface="微软雅黑" panose="020B0503020204020204" charset="-122"/>
              <a:cs typeface="微软雅黑" panose="020B0503020204020204" charset="-122"/>
              <a:sym typeface="+mn-ea"/>
            </a:endParaRPr>
          </a:p>
        </p:txBody>
      </p:sp>
      <p:sp>
        <p:nvSpPr>
          <p:cNvPr id="8" name="矩形: 圆角 56"/>
          <p:cNvSpPr/>
          <p:nvPr/>
        </p:nvSpPr>
        <p:spPr>
          <a:xfrm>
            <a:off x="442914" y="6149948"/>
            <a:ext cx="11306174" cy="381797"/>
          </a:xfrm>
          <a:prstGeom prst="roundRect">
            <a:avLst>
              <a:gd name="adj" fmla="val 0"/>
            </a:avLst>
          </a:prstGeom>
          <a:solidFill>
            <a:schemeClr val="accent1"/>
          </a:solidFill>
          <a:ln w="19050" cap="flat" cmpd="sng" algn="ctr">
            <a:noFill/>
            <a:prstDash val="solid"/>
            <a:miter lim="800000"/>
          </a:ln>
          <a:effectLst/>
        </p:spPr>
        <p:style>
          <a:lnRef idx="2">
            <a:srgbClr val="24396B">
              <a:shade val="15000"/>
            </a:srgbClr>
          </a:lnRef>
          <a:fillRef idx="1">
            <a:srgbClr val="24396B"/>
          </a:fillRef>
          <a:effectRef idx="0">
            <a:srgbClr val="24396B"/>
          </a:effectRef>
          <a:fontRef idx="minor">
            <a:srgbClr val="FFFFFF"/>
          </a:fontRef>
        </p:style>
        <p:txBody>
          <a:bodyPr rtlCol="0" anchor="ctr"/>
          <a:lstStyle/>
          <a:p>
            <a:pPr algn="ctr"/>
            <a:r>
              <a:rPr lang="zh-CN" altLang="en-US" sz="1400" spc="100" dirty="0">
                <a:solidFill>
                  <a:schemeClr val="bg2"/>
                </a:solidFill>
                <a:latin typeface="微软雅黑" panose="020B0503020204020204" charset="-122"/>
                <a:ea typeface="微软雅黑" panose="020B0503020204020204" charset="-122"/>
                <a:cs typeface="微软雅黑" panose="020B0503020204020204" charset="-122"/>
              </a:rPr>
              <a:t>围绕精准触达和提升忠诚两大核心目标，构建的互联网消费者行为洞察框架</a:t>
            </a:r>
            <a:endParaRPr lang="zh-CN" altLang="en-US" sz="1400" spc="10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nvSpPr>
        <p:spPr>
          <a:xfrm>
            <a:off x="3125350" y="1272638"/>
            <a:ext cx="1249680" cy="553085"/>
          </a:xfrm>
          <a:prstGeom prst="rect">
            <a:avLst/>
          </a:prstGeom>
          <a:noFill/>
        </p:spPr>
        <p:txBody>
          <a:bodyPr wrap="none">
            <a:spAutoFit/>
          </a:bodyPr>
          <a:lstStyle/>
          <a:p>
            <a:pPr algn="ctr"/>
            <a:r>
              <a:rPr lang="zh-CN" sz="1600" b="1" dirty="0">
                <a:solidFill>
                  <a:schemeClr val="accent1"/>
                </a:solidFill>
                <a:latin typeface="微软雅黑" panose="020B0503020204020204" charset="-122"/>
                <a:ea typeface="微软雅黑" panose="020B0503020204020204" charset="-122"/>
                <a:cs typeface="微软雅黑" panose="020B0503020204020204" charset="-122"/>
              </a:rPr>
              <a:t>用户分群</a:t>
            </a:r>
            <a:endParaRPr lang="zh-CN" sz="1600" b="1" dirty="0">
              <a:solidFill>
                <a:srgbClr val="24396B"/>
              </a:solidFill>
              <a:latin typeface="微软雅黑" panose="020B0503020204020204" charset="-122"/>
              <a:ea typeface="微软雅黑" panose="020B0503020204020204" charset="-122"/>
              <a:cs typeface="微软雅黑" panose="020B0503020204020204" charset="-122"/>
            </a:endParaRPr>
          </a:p>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生成客户画像</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30" name="文本框 29"/>
          <p:cNvSpPr txBox="1"/>
          <p:nvPr/>
        </p:nvSpPr>
        <p:spPr>
          <a:xfrm>
            <a:off x="433070" y="1313815"/>
            <a:ext cx="2453640" cy="645160"/>
          </a:xfrm>
          <a:prstGeom prst="rect">
            <a:avLst/>
          </a:prstGeom>
          <a:noFill/>
        </p:spPr>
        <p:txBody>
          <a:bodyPr wrap="square">
            <a:spAutoFit/>
          </a:bodyPr>
          <a:lstStyle/>
          <a:p>
            <a:pPr marL="171450" indent="-171450" algn="l">
              <a:buFont typeface="Wingdings" panose="05000000000000000000" charset="0"/>
              <a:buChar char="Ø"/>
            </a:pP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价值分层：</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RFM</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模型；</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Ø"/>
            </a:pP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行为聚类：</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冲动型</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与</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理性比价者</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Ø"/>
            </a:pP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场景定向：如</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母婴类用户</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晚</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8</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点后活跃</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关注奶粉折扣</a:t>
            </a:r>
            <a:r>
              <a:rPr lang="en-US" altLang="zh-CN" sz="9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32" name="Straight Connector 84"/>
          <p:cNvCxnSpPr/>
          <p:nvPr/>
        </p:nvCxnSpPr>
        <p:spPr>
          <a:xfrm>
            <a:off x="2379712" y="2683804"/>
            <a:ext cx="0" cy="1166495"/>
          </a:xfrm>
          <a:prstGeom prst="line">
            <a:avLst/>
          </a:prstGeom>
          <a:ln w="5969">
            <a:solidFill>
              <a:schemeClr val="accent6">
                <a:lumMod val="60000"/>
                <a:lumOff val="40000"/>
              </a:schemeClr>
            </a:solidFill>
          </a:ln>
          <a:effectLst/>
        </p:spPr>
        <p:style>
          <a:lnRef idx="1">
            <a:srgbClr val="24396B"/>
          </a:lnRef>
          <a:fillRef idx="0">
            <a:srgbClr val="24396B"/>
          </a:fillRef>
          <a:effectRef idx="0">
            <a:srgbClr val="24396B"/>
          </a:effectRef>
          <a:fontRef idx="minor">
            <a:srgbClr val="000000"/>
          </a:fontRef>
        </p:style>
      </p:cxnSp>
      <p:sp>
        <p:nvSpPr>
          <p:cNvPr id="34" name="文本框 33"/>
          <p:cNvSpPr txBox="1"/>
          <p:nvPr/>
        </p:nvSpPr>
        <p:spPr>
          <a:xfrm>
            <a:off x="1098430" y="2291178"/>
            <a:ext cx="1249680" cy="553085"/>
          </a:xfrm>
          <a:prstGeom prst="rect">
            <a:avLst/>
          </a:prstGeom>
          <a:noFill/>
        </p:spPr>
        <p:txBody>
          <a:bodyPr wrap="none">
            <a:spAutoFit/>
          </a:bodyPr>
          <a:lstStyle/>
          <a:p>
            <a:pPr algn="ctr"/>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数据整合</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构建用户标签</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 name="Rectangle 88"/>
          <p:cNvSpPr/>
          <p:nvPr/>
        </p:nvSpPr>
        <p:spPr>
          <a:xfrm>
            <a:off x="543560" y="4486910"/>
            <a:ext cx="1456055" cy="170180"/>
          </a:xfrm>
          <a:prstGeom prst="rect">
            <a:avLst/>
          </a:prstGeom>
          <a:effectLst/>
        </p:spPr>
        <p:txBody>
          <a:bodyPr wrap="square" lIns="0" tIns="0" rIns="0" bIns="0" anchor="ctr">
            <a:spAutoFit/>
          </a:bodyPr>
          <a:lstStyle/>
          <a:p>
            <a:r>
              <a:rPr lang="zh-CN" sz="1110" dirty="0">
                <a:solidFill>
                  <a:schemeClr val="accent1"/>
                </a:solidFill>
                <a:latin typeface="微软雅黑" panose="020B0503020204020204" charset="-122"/>
                <a:ea typeface="微软雅黑" panose="020B0503020204020204" charset="-122"/>
                <a:cs typeface="微软雅黑" panose="020B0503020204020204" charset="-122"/>
              </a:rPr>
              <a:t>静态标签：</a:t>
            </a:r>
            <a:r>
              <a:rPr lang="zh-CN" sz="1110" dirty="0">
                <a:solidFill>
                  <a:schemeClr val="tx2"/>
                </a:solidFill>
                <a:latin typeface="微软雅黑" panose="020B0503020204020204" charset="-122"/>
                <a:ea typeface="微软雅黑" panose="020B0503020204020204" charset="-122"/>
                <a:cs typeface="微软雅黑" panose="020B0503020204020204" charset="-122"/>
              </a:rPr>
              <a:t>性别、年龄</a:t>
            </a:r>
            <a:endParaRPr lang="zh-CN" sz="111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12" name="Rectangle 88"/>
          <p:cNvSpPr/>
          <p:nvPr/>
        </p:nvSpPr>
        <p:spPr>
          <a:xfrm>
            <a:off x="543560" y="4782185"/>
            <a:ext cx="1630045" cy="170180"/>
          </a:xfrm>
          <a:prstGeom prst="rect">
            <a:avLst/>
          </a:prstGeom>
          <a:effectLst/>
        </p:spPr>
        <p:txBody>
          <a:bodyPr wrap="square" lIns="0" tIns="0" rIns="0" bIns="0" anchor="ctr">
            <a:spAutoFit/>
          </a:bodyPr>
          <a:lstStyle/>
          <a:p>
            <a:r>
              <a:rPr lang="zh-CN" sz="1110" dirty="0">
                <a:solidFill>
                  <a:schemeClr val="accent1"/>
                </a:solidFill>
                <a:latin typeface="微软雅黑" panose="020B0503020204020204" charset="-122"/>
                <a:ea typeface="微软雅黑" panose="020B0503020204020204" charset="-122"/>
                <a:cs typeface="微软雅黑" panose="020B0503020204020204" charset="-122"/>
              </a:rPr>
              <a:t>动态标签：</a:t>
            </a:r>
            <a:r>
              <a:rPr lang="zh-CN" sz="1110" dirty="0">
                <a:solidFill>
                  <a:schemeClr val="tx2"/>
                </a:solidFill>
                <a:latin typeface="微软雅黑" panose="020B0503020204020204" charset="-122"/>
                <a:ea typeface="微软雅黑" panose="020B0503020204020204" charset="-122"/>
                <a:cs typeface="微软雅黑" panose="020B0503020204020204" charset="-122"/>
              </a:rPr>
              <a:t>浏览、加购</a:t>
            </a:r>
            <a:endParaRPr lang="zh-CN" sz="111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17" name="Rectangle 88"/>
          <p:cNvSpPr/>
          <p:nvPr/>
        </p:nvSpPr>
        <p:spPr>
          <a:xfrm>
            <a:off x="543560" y="5077460"/>
            <a:ext cx="1775460" cy="170180"/>
          </a:xfrm>
          <a:prstGeom prst="rect">
            <a:avLst/>
          </a:prstGeom>
          <a:effectLst/>
        </p:spPr>
        <p:txBody>
          <a:bodyPr wrap="square" lIns="0" tIns="0" rIns="0" bIns="0" anchor="ctr">
            <a:spAutoFit/>
          </a:bodyPr>
          <a:lstStyle/>
          <a:p>
            <a:r>
              <a:rPr lang="zh-CN" sz="1110" dirty="0">
                <a:solidFill>
                  <a:schemeClr val="accent1"/>
                </a:solidFill>
                <a:latin typeface="微软雅黑" panose="020B0503020204020204" charset="-122"/>
                <a:ea typeface="微软雅黑" panose="020B0503020204020204" charset="-122"/>
                <a:cs typeface="微软雅黑" panose="020B0503020204020204" charset="-122"/>
              </a:rPr>
              <a:t>场景标签：</a:t>
            </a:r>
            <a:r>
              <a:rPr lang="zh-CN" sz="1110" dirty="0">
                <a:solidFill>
                  <a:schemeClr val="tx2"/>
                </a:solidFill>
                <a:latin typeface="微软雅黑" panose="020B0503020204020204" charset="-122"/>
                <a:ea typeface="微软雅黑" panose="020B0503020204020204" charset="-122"/>
                <a:cs typeface="微软雅黑" panose="020B0503020204020204" charset="-122"/>
              </a:rPr>
              <a:t>活跃时段、活动</a:t>
            </a:r>
            <a:endParaRPr lang="zh-CN" sz="111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24" name="Rectangle 88"/>
          <p:cNvSpPr/>
          <p:nvPr/>
        </p:nvSpPr>
        <p:spPr>
          <a:xfrm>
            <a:off x="543560" y="5372735"/>
            <a:ext cx="1984375" cy="170180"/>
          </a:xfrm>
          <a:prstGeom prst="rect">
            <a:avLst/>
          </a:prstGeom>
          <a:effectLst/>
        </p:spPr>
        <p:txBody>
          <a:bodyPr wrap="square" lIns="0" tIns="0" rIns="0" bIns="0" anchor="ctr">
            <a:spAutoFit/>
          </a:bodyPr>
          <a:lstStyle/>
          <a:p>
            <a:r>
              <a:rPr lang="zh-CN" sz="1110" dirty="0">
                <a:solidFill>
                  <a:schemeClr val="accent1"/>
                </a:solidFill>
                <a:latin typeface="微软雅黑" panose="020B0503020204020204" charset="-122"/>
                <a:ea typeface="微软雅黑" panose="020B0503020204020204" charset="-122"/>
                <a:cs typeface="微软雅黑" panose="020B0503020204020204" charset="-122"/>
              </a:rPr>
              <a:t>兴趣标签：</a:t>
            </a:r>
            <a:r>
              <a:rPr lang="zh-CN" sz="1110" dirty="0">
                <a:solidFill>
                  <a:schemeClr val="tx2"/>
                </a:solidFill>
                <a:latin typeface="微软雅黑" panose="020B0503020204020204" charset="-122"/>
                <a:ea typeface="微软雅黑" panose="020B0503020204020204" charset="-122"/>
                <a:cs typeface="微软雅黑" panose="020B0503020204020204" charset="-122"/>
              </a:rPr>
              <a:t>品类、价位区间</a:t>
            </a:r>
            <a:endParaRPr lang="zh-CN" altLang="zh-CN" sz="111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0" name="文本框 39"/>
          <p:cNvSpPr txBox="1"/>
          <p:nvPr/>
        </p:nvSpPr>
        <p:spPr>
          <a:xfrm>
            <a:off x="479425" y="3210560"/>
            <a:ext cx="1073785" cy="1014730"/>
          </a:xfrm>
          <a:prstGeom prst="rect">
            <a:avLst/>
          </a:prstGeom>
          <a:noFill/>
        </p:spPr>
        <p:txBody>
          <a:bodyPr wrap="square">
            <a:spAutoFit/>
          </a:bodyPr>
          <a:lstStyle/>
          <a:p>
            <a:pPr indent="0" algn="l">
              <a:buFont typeface="微软雅黑" panose="020B0503020204020204" charset="-122"/>
              <a:buNone/>
            </a:pPr>
            <a:r>
              <a:rPr lang="zh-CN" altLang="en-US" sz="1000" dirty="0">
                <a:solidFill>
                  <a:schemeClr val="bg2"/>
                </a:solidFill>
                <a:latin typeface="微软雅黑" panose="020B0503020204020204" charset="-122"/>
                <a:ea typeface="微软雅黑" panose="020B0503020204020204" charset="-122"/>
                <a:cs typeface="微软雅黑" panose="020B0503020204020204" charset="-122"/>
              </a:rPr>
              <a:t>通过</a:t>
            </a:r>
            <a:r>
              <a:rPr lang="en-US" altLang="zh-CN" sz="1000" dirty="0">
                <a:solidFill>
                  <a:schemeClr val="bg2"/>
                </a:solidFill>
                <a:latin typeface="微软雅黑" panose="020B0503020204020204" charset="-122"/>
                <a:ea typeface="微软雅黑" panose="020B0503020204020204" charset="-122"/>
                <a:cs typeface="微软雅黑" panose="020B0503020204020204" charset="-122"/>
              </a:rPr>
              <a:t>CDP</a:t>
            </a:r>
            <a:r>
              <a:rPr lang="zh-CN" altLang="en-US" sz="1000" dirty="0">
                <a:solidFill>
                  <a:schemeClr val="bg2"/>
                </a:solidFill>
                <a:latin typeface="微软雅黑" panose="020B0503020204020204" charset="-122"/>
                <a:ea typeface="微软雅黑" panose="020B0503020204020204" charset="-122"/>
                <a:cs typeface="微软雅黑" panose="020B0503020204020204" charset="-122"/>
              </a:rPr>
              <a:t>（客户数据平台）整合数据，从而</a:t>
            </a:r>
            <a:endParaRPr lang="zh-CN" altLang="en-US" sz="1000" dirty="0">
              <a:solidFill>
                <a:schemeClr val="bg2"/>
              </a:solidFill>
              <a:latin typeface="微软雅黑" panose="020B0503020204020204" charset="-122"/>
              <a:ea typeface="微软雅黑" panose="020B0503020204020204" charset="-122"/>
              <a:cs typeface="微软雅黑" panose="020B0503020204020204" charset="-122"/>
            </a:endParaRPr>
          </a:p>
          <a:p>
            <a:pPr indent="0" algn="l">
              <a:buFont typeface="微软雅黑" panose="020B0503020204020204" charset="-122"/>
              <a:buNone/>
            </a:pPr>
            <a:r>
              <a:rPr lang="zh-CN" altLang="en-US" sz="1000" dirty="0">
                <a:solidFill>
                  <a:schemeClr val="bg2"/>
                </a:solidFill>
                <a:latin typeface="微软雅黑" panose="020B0503020204020204" charset="-122"/>
                <a:ea typeface="微软雅黑" panose="020B0503020204020204" charset="-122"/>
                <a:cs typeface="微软雅黑" panose="020B0503020204020204" charset="-122"/>
              </a:rPr>
              <a:t>聚合多源数据，构建用户标签体系。</a:t>
            </a:r>
            <a:endParaRPr lang="zh-CN" altLang="en-US" sz="100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a:off x="850145" y="1094203"/>
            <a:ext cx="1249680" cy="306705"/>
          </a:xfrm>
          <a:prstGeom prst="rect">
            <a:avLst/>
          </a:prstGeom>
          <a:noFill/>
        </p:spPr>
        <p:txBody>
          <a:bodyPr wrap="none">
            <a:spAutoFit/>
          </a:bodyPr>
          <a:lstStyle/>
          <a:p>
            <a:pPr algn="ctr"/>
            <a:r>
              <a:rPr lang="zh-CN" sz="1400" dirty="0">
                <a:solidFill>
                  <a:schemeClr val="accent1"/>
                </a:solidFill>
                <a:latin typeface="微软雅黑" panose="020B0503020204020204" charset="-122"/>
                <a:ea typeface="微软雅黑" panose="020B0503020204020204" charset="-122"/>
                <a:cs typeface="微软雅黑" panose="020B0503020204020204" charset="-122"/>
              </a:rPr>
              <a:t>用户画像看板</a:t>
            </a:r>
            <a:endParaRPr lang="zh-CN" altLang="en-US" sz="14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4" name="小红书30"/>
          <p:cNvSpPr/>
          <p:nvPr/>
        </p:nvSpPr>
        <p:spPr>
          <a:xfrm>
            <a:off x="6554470" y="5234305"/>
            <a:ext cx="2578735" cy="773430"/>
          </a:xfrm>
          <a:prstGeom prst="roundRect">
            <a:avLst>
              <a:gd name="adj" fmla="val 6749"/>
            </a:avLst>
          </a:prstGeom>
          <a:solidFill>
            <a:schemeClr val="accent5">
              <a:lumMod val="20000"/>
              <a:lumOff val="80000"/>
              <a:alpha val="20000"/>
            </a:schemeClr>
          </a:solidFill>
          <a:ln w="12700" cap="flat" cmpd="sng" algn="ctr">
            <a:solidFill>
              <a:schemeClr val="accent5"/>
            </a:solidFill>
            <a:prstDash val="dash"/>
            <a:miter lim="800000"/>
          </a:ln>
          <a:effectLst/>
        </p:spPr>
        <p:txBody>
          <a:bodyPr rtlCol="0" anchor="ctr">
            <a:noAutofit/>
          </a:bodyPr>
          <a:lstStyle/>
          <a:p>
            <a:pPr lvl="0" algn="ctr">
              <a:spcBef>
                <a:spcPts val="0"/>
              </a:spcBef>
              <a:spcAft>
                <a:spcPts val="0"/>
              </a:spcAft>
              <a:buClrTx/>
              <a:buSzTx/>
              <a:buFontTx/>
              <a:defRPr/>
            </a:pPr>
            <a:r>
              <a:rPr 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a:t>
            </a:r>
            <a:endParaRPr 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5" name="文本框 44"/>
          <p:cNvSpPr txBox="1"/>
          <p:nvPr/>
        </p:nvSpPr>
        <p:spPr>
          <a:xfrm>
            <a:off x="6803905" y="4681953"/>
            <a:ext cx="1783080" cy="553085"/>
          </a:xfrm>
          <a:prstGeom prst="rect">
            <a:avLst/>
          </a:prstGeom>
          <a:noFill/>
        </p:spPr>
        <p:txBody>
          <a:bodyPr wrap="none">
            <a:spAutoFit/>
          </a:bodyPr>
          <a:lstStyle/>
          <a:p>
            <a:pPr algn="ctr"/>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用户行为</a:t>
            </a:r>
            <a:endParaRPr lang="en-US" altLang="zh-CN" sz="1600" b="1" dirty="0">
              <a:solidFill>
                <a:schemeClr val="accent5"/>
              </a:solidFill>
              <a:latin typeface="微软雅黑" panose="020B0503020204020204" charset="-122"/>
              <a:ea typeface="微软雅黑" panose="020B0503020204020204" charset="-122"/>
              <a:cs typeface="微软雅黑" panose="020B0503020204020204" charset="-122"/>
            </a:endParaRPr>
          </a:p>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关键节点与体验断点</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6" name="文本框 45"/>
          <p:cNvSpPr txBox="1"/>
          <p:nvPr/>
        </p:nvSpPr>
        <p:spPr>
          <a:xfrm>
            <a:off x="3868420" y="5370830"/>
            <a:ext cx="2400300" cy="553085"/>
          </a:xfrm>
          <a:prstGeom prst="rect">
            <a:avLst/>
          </a:prstGeom>
          <a:noFill/>
        </p:spPr>
        <p:txBody>
          <a:bodyPr wrap="square">
            <a:spAutoFit/>
          </a:bodyPr>
          <a:lstStyle/>
          <a:p>
            <a:pPr marL="171450" indent="-171450" algn="l">
              <a:buFont typeface="Wingdings" panose="05000000000000000000" charset="0"/>
              <a:buChar char="Ø"/>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需求挖掘：通过搜索关键词分析、社交媒体话题识别用户痛点。</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Ø"/>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场景划分：确定用户高频触达场景。</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nvSpPr>
        <p:spPr>
          <a:xfrm>
            <a:off x="6644005" y="5300980"/>
            <a:ext cx="2400300" cy="706755"/>
          </a:xfrm>
          <a:prstGeom prst="rect">
            <a:avLst/>
          </a:prstGeom>
          <a:noFill/>
        </p:spPr>
        <p:txBody>
          <a:bodyPr wrap="square">
            <a:spAutoFit/>
          </a:bodyPr>
          <a:lstStyle/>
          <a:p>
            <a:pPr marL="171450" indent="-171450" algn="l">
              <a:buFont typeface="Wingdings" panose="05000000000000000000" charset="0"/>
              <a:buChar char="Ø"/>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漏斗分析：监测从</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浏览</a:t>
            </a:r>
            <a:r>
              <a:rPr lang="en-US" altLang="en-US"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加购</a:t>
            </a:r>
            <a:r>
              <a:rPr lang="en-US" altLang="en-US"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支付</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的转化率，定位流失环节。</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Ø"/>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归因分析：首次点击</a:t>
            </a:r>
            <a:r>
              <a:rPr lang="en-US" altLang="zh-CN" sz="10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solidFill>
                <a:latin typeface="微软雅黑" panose="020B0503020204020204" charset="-122"/>
                <a:ea typeface="微软雅黑" panose="020B0503020204020204" charset="-122"/>
                <a:cs typeface="微软雅黑" panose="020B0503020204020204" charset="-122"/>
              </a:rPr>
              <a:t>末次点击归因分析，识别影响复购的核心渠道。</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49" name="组合 48"/>
          <p:cNvGrpSpPr/>
          <p:nvPr/>
        </p:nvGrpSpPr>
        <p:grpSpPr>
          <a:xfrm>
            <a:off x="316230" y="4760595"/>
            <a:ext cx="183515" cy="183515"/>
            <a:chOff x="5734988" y="949771"/>
            <a:chExt cx="347205" cy="347205"/>
          </a:xfrm>
        </p:grpSpPr>
        <p:sp>
          <p:nvSpPr>
            <p:cNvPr id="50" name="椭圆 49"/>
            <p:cNvSpPr/>
            <p:nvPr/>
          </p:nvSpPr>
          <p:spPr>
            <a:xfrm>
              <a:off x="5734988" y="949771"/>
              <a:ext cx="347205" cy="347205"/>
            </a:xfrm>
            <a:prstGeom prst="ellipse">
              <a:avLst/>
            </a:prstGeom>
            <a:solidFill>
              <a:schemeClr val="accent1"/>
            </a:solidFill>
            <a:ln w="38100" cap="flat" cmpd="sng" algn="ctr">
              <a:solidFill>
                <a:srgbClr val="FFFFFF"/>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4" name="Freeform 29"/>
            <p:cNvSpPr/>
            <p:nvPr/>
          </p:nvSpPr>
          <p:spPr bwMode="auto">
            <a:xfrm>
              <a:off x="5810061" y="1055694"/>
              <a:ext cx="201613" cy="155575"/>
            </a:xfrm>
            <a:custGeom>
              <a:avLst/>
              <a:gdLst/>
              <a:ahLst/>
              <a:cxnLst>
                <a:cxn ang="0">
                  <a:pos x="58" y="12"/>
                </a:cxn>
                <a:cxn ang="0">
                  <a:pos x="30" y="39"/>
                </a:cxn>
                <a:cxn ang="0">
                  <a:pos x="25" y="44"/>
                </a:cxn>
                <a:cxn ang="0">
                  <a:pos x="23" y="45"/>
                </a:cxn>
                <a:cxn ang="0">
                  <a:pos x="20" y="44"/>
                </a:cxn>
                <a:cxn ang="0">
                  <a:pos x="15" y="39"/>
                </a:cxn>
                <a:cxn ang="0">
                  <a:pos x="1" y="26"/>
                </a:cxn>
                <a:cxn ang="0">
                  <a:pos x="0" y="23"/>
                </a:cxn>
                <a:cxn ang="0">
                  <a:pos x="1" y="20"/>
                </a:cxn>
                <a:cxn ang="0">
                  <a:pos x="6" y="15"/>
                </a:cxn>
                <a:cxn ang="0">
                  <a:pos x="9" y="14"/>
                </a:cxn>
                <a:cxn ang="0">
                  <a:pos x="11" y="15"/>
                </a:cxn>
                <a:cxn ang="0">
                  <a:pos x="23" y="26"/>
                </a:cxn>
                <a:cxn ang="0">
                  <a:pos x="47" y="1"/>
                </a:cxn>
                <a:cxn ang="0">
                  <a:pos x="50" y="0"/>
                </a:cxn>
                <a:cxn ang="0">
                  <a:pos x="53" y="1"/>
                </a:cxn>
                <a:cxn ang="0">
                  <a:pos x="58" y="7"/>
                </a:cxn>
                <a:cxn ang="0">
                  <a:pos x="59" y="9"/>
                </a:cxn>
                <a:cxn ang="0">
                  <a:pos x="58" y="12"/>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grpSp>
        <p:nvGrpSpPr>
          <p:cNvPr id="12" name="组合 11"/>
          <p:cNvGrpSpPr/>
          <p:nvPr/>
        </p:nvGrpSpPr>
        <p:grpSpPr>
          <a:xfrm>
            <a:off x="316230" y="5051425"/>
            <a:ext cx="183515" cy="183515"/>
            <a:chOff x="5734988" y="949771"/>
            <a:chExt cx="347205" cy="347205"/>
          </a:xfrm>
        </p:grpSpPr>
        <p:sp>
          <p:nvSpPr>
            <p:cNvPr id="13" name="椭圆 12"/>
            <p:cNvSpPr/>
            <p:nvPr/>
          </p:nvSpPr>
          <p:spPr>
            <a:xfrm>
              <a:off x="5734988" y="949771"/>
              <a:ext cx="347205" cy="347205"/>
            </a:xfrm>
            <a:prstGeom prst="ellipse">
              <a:avLst/>
            </a:prstGeom>
            <a:solidFill>
              <a:schemeClr val="accent1"/>
            </a:solidFill>
            <a:ln w="38100" cap="flat" cmpd="sng" algn="ctr">
              <a:solidFill>
                <a:srgbClr val="FFFFFF"/>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4" name="Freeform 29"/>
            <p:cNvSpPr/>
            <p:nvPr/>
          </p:nvSpPr>
          <p:spPr bwMode="auto">
            <a:xfrm>
              <a:off x="5810061" y="1055694"/>
              <a:ext cx="201613" cy="155575"/>
            </a:xfrm>
            <a:custGeom>
              <a:avLst/>
              <a:gdLst/>
              <a:ahLst/>
              <a:cxnLst>
                <a:cxn ang="0">
                  <a:pos x="58" y="12"/>
                </a:cxn>
                <a:cxn ang="0">
                  <a:pos x="30" y="39"/>
                </a:cxn>
                <a:cxn ang="0">
                  <a:pos x="25" y="44"/>
                </a:cxn>
                <a:cxn ang="0">
                  <a:pos x="23" y="45"/>
                </a:cxn>
                <a:cxn ang="0">
                  <a:pos x="20" y="44"/>
                </a:cxn>
                <a:cxn ang="0">
                  <a:pos x="15" y="39"/>
                </a:cxn>
                <a:cxn ang="0">
                  <a:pos x="1" y="26"/>
                </a:cxn>
                <a:cxn ang="0">
                  <a:pos x="0" y="23"/>
                </a:cxn>
                <a:cxn ang="0">
                  <a:pos x="1" y="20"/>
                </a:cxn>
                <a:cxn ang="0">
                  <a:pos x="6" y="15"/>
                </a:cxn>
                <a:cxn ang="0">
                  <a:pos x="9" y="14"/>
                </a:cxn>
                <a:cxn ang="0">
                  <a:pos x="11" y="15"/>
                </a:cxn>
                <a:cxn ang="0">
                  <a:pos x="23" y="26"/>
                </a:cxn>
                <a:cxn ang="0">
                  <a:pos x="47" y="1"/>
                </a:cxn>
                <a:cxn ang="0">
                  <a:pos x="50" y="0"/>
                </a:cxn>
                <a:cxn ang="0">
                  <a:pos x="53" y="1"/>
                </a:cxn>
                <a:cxn ang="0">
                  <a:pos x="58" y="7"/>
                </a:cxn>
                <a:cxn ang="0">
                  <a:pos x="59" y="9"/>
                </a:cxn>
                <a:cxn ang="0">
                  <a:pos x="58" y="12"/>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grpSp>
        <p:nvGrpSpPr>
          <p:cNvPr id="16" name="组合 15"/>
          <p:cNvGrpSpPr/>
          <p:nvPr/>
        </p:nvGrpSpPr>
        <p:grpSpPr>
          <a:xfrm>
            <a:off x="316230" y="5342255"/>
            <a:ext cx="183515" cy="183515"/>
            <a:chOff x="5734988" y="949771"/>
            <a:chExt cx="347205" cy="347205"/>
          </a:xfrm>
        </p:grpSpPr>
        <p:sp>
          <p:nvSpPr>
            <p:cNvPr id="18" name="椭圆 17"/>
            <p:cNvSpPr/>
            <p:nvPr/>
          </p:nvSpPr>
          <p:spPr>
            <a:xfrm>
              <a:off x="5734988" y="949771"/>
              <a:ext cx="347205" cy="347205"/>
            </a:xfrm>
            <a:prstGeom prst="ellipse">
              <a:avLst/>
            </a:prstGeom>
            <a:solidFill>
              <a:schemeClr val="accent1"/>
            </a:solidFill>
            <a:ln w="38100" cap="flat" cmpd="sng" algn="ctr">
              <a:solidFill>
                <a:srgbClr val="FFFFFF"/>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9" name="Freeform 29"/>
            <p:cNvSpPr/>
            <p:nvPr/>
          </p:nvSpPr>
          <p:spPr bwMode="auto">
            <a:xfrm>
              <a:off x="5810061" y="1055694"/>
              <a:ext cx="201613" cy="155575"/>
            </a:xfrm>
            <a:custGeom>
              <a:avLst/>
              <a:gdLst/>
              <a:ahLst/>
              <a:cxnLst>
                <a:cxn ang="0">
                  <a:pos x="58" y="12"/>
                </a:cxn>
                <a:cxn ang="0">
                  <a:pos x="30" y="39"/>
                </a:cxn>
                <a:cxn ang="0">
                  <a:pos x="25" y="44"/>
                </a:cxn>
                <a:cxn ang="0">
                  <a:pos x="23" y="45"/>
                </a:cxn>
                <a:cxn ang="0">
                  <a:pos x="20" y="44"/>
                </a:cxn>
                <a:cxn ang="0">
                  <a:pos x="15" y="39"/>
                </a:cxn>
                <a:cxn ang="0">
                  <a:pos x="1" y="26"/>
                </a:cxn>
                <a:cxn ang="0">
                  <a:pos x="0" y="23"/>
                </a:cxn>
                <a:cxn ang="0">
                  <a:pos x="1" y="20"/>
                </a:cxn>
                <a:cxn ang="0">
                  <a:pos x="6" y="15"/>
                </a:cxn>
                <a:cxn ang="0">
                  <a:pos x="9" y="14"/>
                </a:cxn>
                <a:cxn ang="0">
                  <a:pos x="11" y="15"/>
                </a:cxn>
                <a:cxn ang="0">
                  <a:pos x="23" y="26"/>
                </a:cxn>
                <a:cxn ang="0">
                  <a:pos x="47" y="1"/>
                </a:cxn>
                <a:cxn ang="0">
                  <a:pos x="50" y="0"/>
                </a:cxn>
                <a:cxn ang="0">
                  <a:pos x="53" y="1"/>
                </a:cxn>
                <a:cxn ang="0">
                  <a:pos x="58" y="7"/>
                </a:cxn>
                <a:cxn ang="0">
                  <a:pos x="59" y="9"/>
                </a:cxn>
                <a:cxn ang="0">
                  <a:pos x="58" y="12"/>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20" name="对话气泡: 矩形 46"/>
          <p:cNvSpPr/>
          <p:nvPr/>
        </p:nvSpPr>
        <p:spPr>
          <a:xfrm>
            <a:off x="10690860" y="3091815"/>
            <a:ext cx="1198880" cy="1235710"/>
          </a:xfrm>
          <a:prstGeom prst="wedgeRectCallout">
            <a:avLst>
              <a:gd name="adj1" fmla="val -54343"/>
              <a:gd name="adj2" fmla="val -80729"/>
            </a:avLst>
          </a:prstGeom>
          <a:solidFill>
            <a:srgbClr val="FFFFFF"/>
          </a:solidFill>
          <a:ln w="19050" cap="flat" cmpd="sng" algn="ctr">
            <a:solidFill>
              <a:schemeClr val="accent5"/>
            </a:solidFill>
            <a:prstDash val="solid"/>
            <a:miter lim="800000"/>
          </a:ln>
          <a:effectLst/>
        </p:spPr>
        <p:txBody>
          <a:bodyPr lIns="91440" tIns="45720" rIns="91440" bIns="45720" rtlCol="0" anchor="ctr">
            <a:noAutofit/>
          </a:bodyPr>
          <a:lstStyle/>
          <a:p>
            <a:pPr lvl="0" algn="ctr">
              <a:spcBef>
                <a:spcPts val="0"/>
              </a:spcBef>
              <a:spcAft>
                <a:spcPts val="0"/>
              </a:spcAft>
              <a:buClrTx/>
              <a:buSzTx/>
              <a:buFontTx/>
              <a:defRPr/>
            </a:pPr>
            <a:endParaRPr 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1" name="文本框 20"/>
          <p:cNvSpPr txBox="1"/>
          <p:nvPr/>
        </p:nvSpPr>
        <p:spPr>
          <a:xfrm>
            <a:off x="9348350" y="2173068"/>
            <a:ext cx="1605280" cy="553085"/>
          </a:xfrm>
          <a:prstGeom prst="rect">
            <a:avLst/>
          </a:prstGeom>
          <a:noFill/>
        </p:spPr>
        <p:txBody>
          <a:bodyPr wrap="square">
            <a:spAutoFit/>
          </a:bodyPr>
          <a:lstStyle/>
          <a:p>
            <a:pPr algn="ctr"/>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情感洞察</a:t>
            </a:r>
            <a:endParaRPr lang="en-US" altLang="zh-CN" sz="1600" b="1" dirty="0">
              <a:solidFill>
                <a:schemeClr val="accent5"/>
              </a:solidFill>
              <a:latin typeface="微软雅黑" panose="020B0503020204020204" charset="-122"/>
              <a:ea typeface="微软雅黑" panose="020B0503020204020204" charset="-122"/>
              <a:cs typeface="微软雅黑" panose="020B0503020204020204" charset="-122"/>
            </a:endParaRPr>
          </a:p>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深层需求挖掘</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9" name="文本框 28"/>
          <p:cNvSpPr txBox="1"/>
          <p:nvPr/>
        </p:nvSpPr>
        <p:spPr>
          <a:xfrm>
            <a:off x="10746105" y="3213735"/>
            <a:ext cx="1073785" cy="1014730"/>
          </a:xfrm>
          <a:prstGeom prst="rect">
            <a:avLst/>
          </a:prstGeom>
          <a:noFill/>
        </p:spPr>
        <p:txBody>
          <a:bodyPr wrap="square">
            <a:spAutoFit/>
          </a:bodyPr>
          <a:lstStyle/>
          <a:p>
            <a:pPr indent="0" algn="l">
              <a:buFont typeface="微软雅黑" panose="020B0503020204020204" charset="-122"/>
              <a:buNone/>
            </a:pPr>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rPr>
              <a:t>通过挖掘用户未表达的隐性需求与情感倾向，形成用户需求矩阵（显性需求</a:t>
            </a:r>
            <a:r>
              <a:rPr lang="en-US" altLang="zh-CN" sz="1000" dirty="0">
                <a:solidFill>
                  <a:schemeClr val="accent5"/>
                </a:solidFill>
                <a:latin typeface="微软雅黑" panose="020B0503020204020204" charset="-122"/>
                <a:ea typeface="微软雅黑" panose="020B0503020204020204" charset="-122"/>
                <a:cs typeface="微软雅黑" panose="020B0503020204020204" charset="-122"/>
              </a:rPr>
              <a:t>vs</a:t>
            </a:r>
            <a:r>
              <a:rPr lang="zh-CN" altLang="en-US" sz="1000" dirty="0">
                <a:solidFill>
                  <a:schemeClr val="accent5"/>
                </a:solidFill>
                <a:latin typeface="微软雅黑" panose="020B0503020204020204" charset="-122"/>
                <a:ea typeface="微软雅黑" panose="020B0503020204020204" charset="-122"/>
                <a:cs typeface="微软雅黑" panose="020B0503020204020204" charset="-122"/>
              </a:rPr>
              <a:t>隐性需求）。</a:t>
            </a:r>
            <a:endParaRPr lang="zh-CN" altLang="en-US" sz="100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36" name="组合 35"/>
          <p:cNvGrpSpPr/>
          <p:nvPr/>
        </p:nvGrpSpPr>
        <p:grpSpPr>
          <a:xfrm>
            <a:off x="10270490" y="4566285"/>
            <a:ext cx="183515" cy="183515"/>
            <a:chOff x="5734988" y="949771"/>
            <a:chExt cx="347205" cy="347205"/>
          </a:xfrm>
        </p:grpSpPr>
        <p:sp>
          <p:nvSpPr>
            <p:cNvPr id="38" name="椭圆 37"/>
            <p:cNvSpPr/>
            <p:nvPr/>
          </p:nvSpPr>
          <p:spPr>
            <a:xfrm>
              <a:off x="5734988" y="949771"/>
              <a:ext cx="347205" cy="347205"/>
            </a:xfrm>
            <a:prstGeom prst="ellipse">
              <a:avLst/>
            </a:prstGeom>
            <a:solidFill>
              <a:schemeClr val="accent5"/>
            </a:solidFill>
            <a:ln w="38100" cap="flat" cmpd="sng" algn="ctr">
              <a:solidFill>
                <a:srgbClr val="FFFFFF"/>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3" name="Freeform 29"/>
            <p:cNvSpPr/>
            <p:nvPr/>
          </p:nvSpPr>
          <p:spPr bwMode="auto">
            <a:xfrm>
              <a:off x="5810061" y="1055694"/>
              <a:ext cx="201613" cy="155575"/>
            </a:xfrm>
            <a:custGeom>
              <a:avLst/>
              <a:gdLst/>
              <a:ahLst/>
              <a:cxnLst>
                <a:cxn ang="0">
                  <a:pos x="58" y="12"/>
                </a:cxn>
                <a:cxn ang="0">
                  <a:pos x="30" y="39"/>
                </a:cxn>
                <a:cxn ang="0">
                  <a:pos x="25" y="44"/>
                </a:cxn>
                <a:cxn ang="0">
                  <a:pos x="23" y="45"/>
                </a:cxn>
                <a:cxn ang="0">
                  <a:pos x="20" y="44"/>
                </a:cxn>
                <a:cxn ang="0">
                  <a:pos x="15" y="39"/>
                </a:cxn>
                <a:cxn ang="0">
                  <a:pos x="1" y="26"/>
                </a:cxn>
                <a:cxn ang="0">
                  <a:pos x="0" y="23"/>
                </a:cxn>
                <a:cxn ang="0">
                  <a:pos x="1" y="20"/>
                </a:cxn>
                <a:cxn ang="0">
                  <a:pos x="6" y="15"/>
                </a:cxn>
                <a:cxn ang="0">
                  <a:pos x="9" y="14"/>
                </a:cxn>
                <a:cxn ang="0">
                  <a:pos x="11" y="15"/>
                </a:cxn>
                <a:cxn ang="0">
                  <a:pos x="23" y="26"/>
                </a:cxn>
                <a:cxn ang="0">
                  <a:pos x="47" y="1"/>
                </a:cxn>
                <a:cxn ang="0">
                  <a:pos x="50" y="0"/>
                </a:cxn>
                <a:cxn ang="0">
                  <a:pos x="53" y="1"/>
                </a:cxn>
                <a:cxn ang="0">
                  <a:pos x="58" y="7"/>
                </a:cxn>
                <a:cxn ang="0">
                  <a:pos x="59" y="9"/>
                </a:cxn>
                <a:cxn ang="0">
                  <a:pos x="58" y="12"/>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56" name="Rectangle 88"/>
          <p:cNvSpPr/>
          <p:nvPr/>
        </p:nvSpPr>
        <p:spPr>
          <a:xfrm>
            <a:off x="10497820" y="4583430"/>
            <a:ext cx="1456055" cy="170180"/>
          </a:xfrm>
          <a:prstGeom prst="rect">
            <a:avLst/>
          </a:prstGeom>
          <a:effectLst/>
        </p:spPr>
        <p:txBody>
          <a:bodyPr wrap="square" lIns="0" tIns="0" rIns="0" bIns="0" anchor="ctr">
            <a:spAutoFit/>
          </a:bodyPr>
          <a:lstStyle/>
          <a:p>
            <a:r>
              <a:rPr lang="zh-CN" altLang="en-US" sz="1110" dirty="0">
                <a:solidFill>
                  <a:schemeClr val="accent5"/>
                </a:solidFill>
                <a:latin typeface="微软雅黑" panose="020B0503020204020204" charset="-122"/>
                <a:ea typeface="微软雅黑" panose="020B0503020204020204" charset="-122"/>
                <a:cs typeface="微软雅黑" panose="020B0503020204020204" charset="-122"/>
              </a:rPr>
              <a:t>情感分析</a:t>
            </a:r>
            <a:r>
              <a:rPr lang="zh-CN" sz="1110" dirty="0">
                <a:solidFill>
                  <a:schemeClr val="accent5"/>
                </a:solidFill>
                <a:latin typeface="微软雅黑" panose="020B0503020204020204" charset="-122"/>
                <a:ea typeface="微软雅黑" panose="020B0503020204020204" charset="-122"/>
                <a:cs typeface="微软雅黑" panose="020B0503020204020204" charset="-122"/>
              </a:rPr>
              <a:t>：</a:t>
            </a:r>
            <a:r>
              <a:rPr lang="en-US" altLang="zh-CN" sz="1110" dirty="0">
                <a:solidFill>
                  <a:schemeClr val="tx2"/>
                </a:solidFill>
                <a:latin typeface="微软雅黑" panose="020B0503020204020204" charset="-122"/>
                <a:ea typeface="微软雅黑" panose="020B0503020204020204" charset="-122"/>
                <a:cs typeface="微软雅黑" panose="020B0503020204020204" charset="-122"/>
              </a:rPr>
              <a:t>NLP</a:t>
            </a:r>
            <a:r>
              <a:rPr lang="zh-CN" altLang="en-US" sz="1110" dirty="0">
                <a:solidFill>
                  <a:schemeClr val="tx2"/>
                </a:solidFill>
                <a:latin typeface="微软雅黑" panose="020B0503020204020204" charset="-122"/>
                <a:ea typeface="微软雅黑" panose="020B0503020204020204" charset="-122"/>
                <a:cs typeface="微软雅黑" panose="020B0503020204020204" charset="-122"/>
              </a:rPr>
              <a:t>解析</a:t>
            </a:r>
            <a:endParaRPr lang="zh-CN" altLang="en-US" sz="111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3" name="Rectangle 88"/>
          <p:cNvSpPr/>
          <p:nvPr/>
        </p:nvSpPr>
        <p:spPr>
          <a:xfrm>
            <a:off x="10497820" y="4878705"/>
            <a:ext cx="1630045" cy="170180"/>
          </a:xfrm>
          <a:prstGeom prst="rect">
            <a:avLst/>
          </a:prstGeom>
          <a:effectLst/>
        </p:spPr>
        <p:txBody>
          <a:bodyPr wrap="square" lIns="0" tIns="0" rIns="0" bIns="0" anchor="ctr">
            <a:spAutoFit/>
          </a:bodyPr>
          <a:lstStyle/>
          <a:p>
            <a:r>
              <a:rPr lang="zh-CN" sz="1110" dirty="0">
                <a:solidFill>
                  <a:schemeClr val="accent5"/>
                </a:solidFill>
                <a:latin typeface="微软雅黑" panose="020B0503020204020204" charset="-122"/>
                <a:ea typeface="微软雅黑" panose="020B0503020204020204" charset="-122"/>
                <a:cs typeface="微软雅黑" panose="020B0503020204020204" charset="-122"/>
              </a:rPr>
              <a:t>行为关联：</a:t>
            </a:r>
            <a:r>
              <a:rPr lang="zh-CN" sz="1110" dirty="0">
                <a:solidFill>
                  <a:schemeClr val="tx2"/>
                </a:solidFill>
                <a:latin typeface="微软雅黑" panose="020B0503020204020204" charset="-122"/>
                <a:ea typeface="微软雅黑" panose="020B0503020204020204" charset="-122"/>
                <a:cs typeface="微软雅黑" panose="020B0503020204020204" charset="-122"/>
              </a:rPr>
              <a:t>购物</a:t>
            </a:r>
            <a:r>
              <a:rPr lang="en-US" altLang="zh-CN" sz="1110" dirty="0">
                <a:solidFill>
                  <a:schemeClr val="tx2"/>
                </a:solidFill>
                <a:latin typeface="微软雅黑" panose="020B0503020204020204" charset="-122"/>
                <a:ea typeface="微软雅黑" panose="020B0503020204020204" charset="-122"/>
                <a:cs typeface="微软雅黑" panose="020B0503020204020204" charset="-122"/>
              </a:rPr>
              <a:t>     </a:t>
            </a:r>
            <a:r>
              <a:rPr lang="zh-CN" sz="1110" dirty="0">
                <a:solidFill>
                  <a:schemeClr val="tx2"/>
                </a:solidFill>
                <a:latin typeface="微软雅黑" panose="020B0503020204020204" charset="-122"/>
                <a:ea typeface="微软雅黑" panose="020B0503020204020204" charset="-122"/>
                <a:cs typeface="微软雅黑" panose="020B0503020204020204" charset="-122"/>
              </a:rPr>
              <a:t>浏览</a:t>
            </a:r>
            <a:endParaRPr lang="zh-CN" sz="111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5" name="Rectangle 88"/>
          <p:cNvSpPr/>
          <p:nvPr/>
        </p:nvSpPr>
        <p:spPr>
          <a:xfrm>
            <a:off x="10497820" y="5173980"/>
            <a:ext cx="1775460" cy="170180"/>
          </a:xfrm>
          <a:prstGeom prst="rect">
            <a:avLst/>
          </a:prstGeom>
          <a:effectLst/>
        </p:spPr>
        <p:txBody>
          <a:bodyPr wrap="square" lIns="0" tIns="0" rIns="0" bIns="0" anchor="ctr">
            <a:spAutoFit/>
          </a:bodyPr>
          <a:lstStyle/>
          <a:p>
            <a:r>
              <a:rPr lang="zh-CN" sz="1110" dirty="0">
                <a:solidFill>
                  <a:schemeClr val="accent5"/>
                </a:solidFill>
                <a:latin typeface="微软雅黑" panose="020B0503020204020204" charset="-122"/>
                <a:ea typeface="微软雅黑" panose="020B0503020204020204" charset="-122"/>
                <a:cs typeface="微软雅黑" panose="020B0503020204020204" charset="-122"/>
              </a:rPr>
              <a:t>深度访谈：</a:t>
            </a:r>
            <a:r>
              <a:rPr lang="en-US" altLang="zh-CN" sz="1110" dirty="0">
                <a:solidFill>
                  <a:schemeClr val="tx2"/>
                </a:solidFill>
                <a:latin typeface="微软雅黑" panose="020B0503020204020204" charset="-122"/>
                <a:ea typeface="微软雅黑" panose="020B0503020204020204" charset="-122"/>
                <a:cs typeface="微软雅黑" panose="020B0503020204020204" charset="-122"/>
              </a:rPr>
              <a:t>5Why</a:t>
            </a:r>
            <a:r>
              <a:rPr lang="zh-CN" altLang="en-US" sz="1110" dirty="0">
                <a:solidFill>
                  <a:schemeClr val="tx2"/>
                </a:solidFill>
                <a:latin typeface="微软雅黑" panose="020B0503020204020204" charset="-122"/>
                <a:ea typeface="微软雅黑" panose="020B0503020204020204" charset="-122"/>
                <a:cs typeface="微软雅黑" panose="020B0503020204020204" charset="-122"/>
              </a:rPr>
              <a:t>分析法</a:t>
            </a:r>
            <a:endParaRPr lang="zh-CN" altLang="en-US" sz="111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56" name="Rectangle 88"/>
          <p:cNvSpPr/>
          <p:nvPr/>
        </p:nvSpPr>
        <p:spPr>
          <a:xfrm>
            <a:off x="10497820" y="5469255"/>
            <a:ext cx="1984375" cy="170180"/>
          </a:xfrm>
          <a:prstGeom prst="rect">
            <a:avLst/>
          </a:prstGeom>
          <a:effectLst/>
        </p:spPr>
        <p:txBody>
          <a:bodyPr wrap="square" lIns="0" tIns="0" rIns="0" bIns="0" anchor="ctr">
            <a:spAutoFit/>
          </a:bodyPr>
          <a:lstStyle/>
          <a:p>
            <a:r>
              <a:rPr lang="zh-CN" sz="1110" dirty="0">
                <a:solidFill>
                  <a:schemeClr val="accent5"/>
                </a:solidFill>
                <a:latin typeface="微软雅黑" panose="020B0503020204020204" charset="-122"/>
                <a:ea typeface="微软雅黑" panose="020B0503020204020204" charset="-122"/>
                <a:cs typeface="微软雅黑" panose="020B0503020204020204" charset="-122"/>
              </a:rPr>
              <a:t>需求分析：</a:t>
            </a:r>
            <a:r>
              <a:rPr lang="zh-CN" altLang="en-US" sz="1110" dirty="0">
                <a:solidFill>
                  <a:schemeClr val="tx2"/>
                </a:solidFill>
                <a:latin typeface="微软雅黑" panose="020B0503020204020204" charset="-122"/>
                <a:ea typeface="微软雅黑" panose="020B0503020204020204" charset="-122"/>
                <a:cs typeface="微软雅黑" panose="020B0503020204020204" charset="-122"/>
              </a:rPr>
              <a:t>用户需求矩阵</a:t>
            </a:r>
            <a:endParaRPr lang="zh-CN" altLang="en-US" sz="111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157" name="组合 156"/>
          <p:cNvGrpSpPr/>
          <p:nvPr/>
        </p:nvGrpSpPr>
        <p:grpSpPr>
          <a:xfrm>
            <a:off x="10270490" y="4857115"/>
            <a:ext cx="183515" cy="183515"/>
            <a:chOff x="5734988" y="949771"/>
            <a:chExt cx="347205" cy="347205"/>
          </a:xfrm>
        </p:grpSpPr>
        <p:sp>
          <p:nvSpPr>
            <p:cNvPr id="158" name="椭圆 157"/>
            <p:cNvSpPr/>
            <p:nvPr/>
          </p:nvSpPr>
          <p:spPr>
            <a:xfrm>
              <a:off x="5734988" y="949771"/>
              <a:ext cx="347205" cy="347205"/>
            </a:xfrm>
            <a:prstGeom prst="ellipse">
              <a:avLst/>
            </a:prstGeom>
            <a:solidFill>
              <a:schemeClr val="accent5"/>
            </a:solidFill>
            <a:ln w="38100" cap="flat" cmpd="sng" algn="ctr">
              <a:solidFill>
                <a:srgbClr val="FFFFFF"/>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2" name="Freeform 29"/>
            <p:cNvSpPr/>
            <p:nvPr/>
          </p:nvSpPr>
          <p:spPr bwMode="auto">
            <a:xfrm>
              <a:off x="5810061" y="1055694"/>
              <a:ext cx="201613" cy="155575"/>
            </a:xfrm>
            <a:custGeom>
              <a:avLst/>
              <a:gdLst/>
              <a:ahLst/>
              <a:cxnLst>
                <a:cxn ang="0">
                  <a:pos x="58" y="12"/>
                </a:cxn>
                <a:cxn ang="0">
                  <a:pos x="30" y="39"/>
                </a:cxn>
                <a:cxn ang="0">
                  <a:pos x="25" y="44"/>
                </a:cxn>
                <a:cxn ang="0">
                  <a:pos x="23" y="45"/>
                </a:cxn>
                <a:cxn ang="0">
                  <a:pos x="20" y="44"/>
                </a:cxn>
                <a:cxn ang="0">
                  <a:pos x="15" y="39"/>
                </a:cxn>
                <a:cxn ang="0">
                  <a:pos x="1" y="26"/>
                </a:cxn>
                <a:cxn ang="0">
                  <a:pos x="0" y="23"/>
                </a:cxn>
                <a:cxn ang="0">
                  <a:pos x="1" y="20"/>
                </a:cxn>
                <a:cxn ang="0">
                  <a:pos x="6" y="15"/>
                </a:cxn>
                <a:cxn ang="0">
                  <a:pos x="9" y="14"/>
                </a:cxn>
                <a:cxn ang="0">
                  <a:pos x="11" y="15"/>
                </a:cxn>
                <a:cxn ang="0">
                  <a:pos x="23" y="26"/>
                </a:cxn>
                <a:cxn ang="0">
                  <a:pos x="47" y="1"/>
                </a:cxn>
                <a:cxn ang="0">
                  <a:pos x="50" y="0"/>
                </a:cxn>
                <a:cxn ang="0">
                  <a:pos x="53" y="1"/>
                </a:cxn>
                <a:cxn ang="0">
                  <a:pos x="58" y="7"/>
                </a:cxn>
                <a:cxn ang="0">
                  <a:pos x="59" y="9"/>
                </a:cxn>
                <a:cxn ang="0">
                  <a:pos x="58" y="12"/>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grpSp>
        <p:nvGrpSpPr>
          <p:cNvPr id="165" name="组合 164"/>
          <p:cNvGrpSpPr/>
          <p:nvPr/>
        </p:nvGrpSpPr>
        <p:grpSpPr>
          <a:xfrm>
            <a:off x="10270490" y="5147945"/>
            <a:ext cx="183515" cy="183515"/>
            <a:chOff x="5734988" y="949771"/>
            <a:chExt cx="347205" cy="347205"/>
          </a:xfrm>
        </p:grpSpPr>
        <p:sp>
          <p:nvSpPr>
            <p:cNvPr id="166" name="椭圆 165"/>
            <p:cNvSpPr/>
            <p:nvPr/>
          </p:nvSpPr>
          <p:spPr>
            <a:xfrm>
              <a:off x="5734988" y="949771"/>
              <a:ext cx="347205" cy="347205"/>
            </a:xfrm>
            <a:prstGeom prst="ellipse">
              <a:avLst/>
            </a:prstGeom>
            <a:solidFill>
              <a:schemeClr val="accent5"/>
            </a:solidFill>
            <a:ln w="38100" cap="flat" cmpd="sng" algn="ctr">
              <a:solidFill>
                <a:srgbClr val="FFFFFF"/>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7" name="Freeform 29"/>
            <p:cNvSpPr/>
            <p:nvPr/>
          </p:nvSpPr>
          <p:spPr bwMode="auto">
            <a:xfrm>
              <a:off x="5810061" y="1055694"/>
              <a:ext cx="201613" cy="155575"/>
            </a:xfrm>
            <a:custGeom>
              <a:avLst/>
              <a:gdLst/>
              <a:ahLst/>
              <a:cxnLst>
                <a:cxn ang="0">
                  <a:pos x="58" y="12"/>
                </a:cxn>
                <a:cxn ang="0">
                  <a:pos x="30" y="39"/>
                </a:cxn>
                <a:cxn ang="0">
                  <a:pos x="25" y="44"/>
                </a:cxn>
                <a:cxn ang="0">
                  <a:pos x="23" y="45"/>
                </a:cxn>
                <a:cxn ang="0">
                  <a:pos x="20" y="44"/>
                </a:cxn>
                <a:cxn ang="0">
                  <a:pos x="15" y="39"/>
                </a:cxn>
                <a:cxn ang="0">
                  <a:pos x="1" y="26"/>
                </a:cxn>
                <a:cxn ang="0">
                  <a:pos x="0" y="23"/>
                </a:cxn>
                <a:cxn ang="0">
                  <a:pos x="1" y="20"/>
                </a:cxn>
                <a:cxn ang="0">
                  <a:pos x="6" y="15"/>
                </a:cxn>
                <a:cxn ang="0">
                  <a:pos x="9" y="14"/>
                </a:cxn>
                <a:cxn ang="0">
                  <a:pos x="11" y="15"/>
                </a:cxn>
                <a:cxn ang="0">
                  <a:pos x="23" y="26"/>
                </a:cxn>
                <a:cxn ang="0">
                  <a:pos x="47" y="1"/>
                </a:cxn>
                <a:cxn ang="0">
                  <a:pos x="50" y="0"/>
                </a:cxn>
                <a:cxn ang="0">
                  <a:pos x="53" y="1"/>
                </a:cxn>
                <a:cxn ang="0">
                  <a:pos x="58" y="7"/>
                </a:cxn>
                <a:cxn ang="0">
                  <a:pos x="59" y="9"/>
                </a:cxn>
                <a:cxn ang="0">
                  <a:pos x="58" y="12"/>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grpSp>
        <p:nvGrpSpPr>
          <p:cNvPr id="168" name="组合 167"/>
          <p:cNvGrpSpPr/>
          <p:nvPr/>
        </p:nvGrpSpPr>
        <p:grpSpPr>
          <a:xfrm>
            <a:off x="10270490" y="5438775"/>
            <a:ext cx="183515" cy="183515"/>
            <a:chOff x="5734988" y="949771"/>
            <a:chExt cx="347205" cy="347205"/>
          </a:xfrm>
        </p:grpSpPr>
        <p:sp>
          <p:nvSpPr>
            <p:cNvPr id="169" name="椭圆 168"/>
            <p:cNvSpPr/>
            <p:nvPr/>
          </p:nvSpPr>
          <p:spPr>
            <a:xfrm>
              <a:off x="5734988" y="949771"/>
              <a:ext cx="347205" cy="347205"/>
            </a:xfrm>
            <a:prstGeom prst="ellipse">
              <a:avLst/>
            </a:prstGeom>
            <a:solidFill>
              <a:schemeClr val="accent5"/>
            </a:solidFill>
            <a:ln w="38100" cap="flat" cmpd="sng" algn="ctr">
              <a:solidFill>
                <a:srgbClr val="FFFFFF"/>
              </a:solidFill>
              <a:prstDash val="solid"/>
              <a:miter lim="800000"/>
            </a:ln>
            <a:effectLst/>
          </p:spPr>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70" name="Freeform 29"/>
            <p:cNvSpPr/>
            <p:nvPr/>
          </p:nvSpPr>
          <p:spPr bwMode="auto">
            <a:xfrm>
              <a:off x="5810061" y="1055694"/>
              <a:ext cx="201613" cy="155575"/>
            </a:xfrm>
            <a:custGeom>
              <a:avLst/>
              <a:gdLst/>
              <a:ahLst/>
              <a:cxnLst>
                <a:cxn ang="0">
                  <a:pos x="58" y="12"/>
                </a:cxn>
                <a:cxn ang="0">
                  <a:pos x="30" y="39"/>
                </a:cxn>
                <a:cxn ang="0">
                  <a:pos x="25" y="44"/>
                </a:cxn>
                <a:cxn ang="0">
                  <a:pos x="23" y="45"/>
                </a:cxn>
                <a:cxn ang="0">
                  <a:pos x="20" y="44"/>
                </a:cxn>
                <a:cxn ang="0">
                  <a:pos x="15" y="39"/>
                </a:cxn>
                <a:cxn ang="0">
                  <a:pos x="1" y="26"/>
                </a:cxn>
                <a:cxn ang="0">
                  <a:pos x="0" y="23"/>
                </a:cxn>
                <a:cxn ang="0">
                  <a:pos x="1" y="20"/>
                </a:cxn>
                <a:cxn ang="0">
                  <a:pos x="6" y="15"/>
                </a:cxn>
                <a:cxn ang="0">
                  <a:pos x="9" y="14"/>
                </a:cxn>
                <a:cxn ang="0">
                  <a:pos x="11" y="15"/>
                </a:cxn>
                <a:cxn ang="0">
                  <a:pos x="23" y="26"/>
                </a:cxn>
                <a:cxn ang="0">
                  <a:pos x="47" y="1"/>
                </a:cxn>
                <a:cxn ang="0">
                  <a:pos x="50" y="0"/>
                </a:cxn>
                <a:cxn ang="0">
                  <a:pos x="53" y="1"/>
                </a:cxn>
                <a:cxn ang="0">
                  <a:pos x="58" y="7"/>
                </a:cxn>
                <a:cxn ang="0">
                  <a:pos x="59" y="9"/>
                </a:cxn>
                <a:cxn ang="0">
                  <a:pos x="58" y="12"/>
                </a:cxn>
              </a:cxnLst>
              <a:rect l="0" t="0" r="r" b="b"/>
              <a:pathLst>
                <a:path w="59" h="45">
                  <a:moveTo>
                    <a:pt x="58" y="12"/>
                  </a:moveTo>
                  <a:cubicBezTo>
                    <a:pt x="30" y="39"/>
                    <a:pt x="30" y="39"/>
                    <a:pt x="30" y="39"/>
                  </a:cubicBezTo>
                  <a:cubicBezTo>
                    <a:pt x="25" y="44"/>
                    <a:pt x="25" y="44"/>
                    <a:pt x="25" y="44"/>
                  </a:cubicBezTo>
                  <a:cubicBezTo>
                    <a:pt x="24" y="45"/>
                    <a:pt x="24" y="45"/>
                    <a:pt x="23" y="45"/>
                  </a:cubicBezTo>
                  <a:cubicBezTo>
                    <a:pt x="22" y="45"/>
                    <a:pt x="21" y="45"/>
                    <a:pt x="20" y="44"/>
                  </a:cubicBezTo>
                  <a:cubicBezTo>
                    <a:pt x="15" y="39"/>
                    <a:pt x="15" y="39"/>
                    <a:pt x="15" y="39"/>
                  </a:cubicBezTo>
                  <a:cubicBezTo>
                    <a:pt x="1" y="26"/>
                    <a:pt x="1" y="26"/>
                    <a:pt x="1" y="26"/>
                  </a:cubicBezTo>
                  <a:cubicBezTo>
                    <a:pt x="0" y="25"/>
                    <a:pt x="0" y="24"/>
                    <a:pt x="0" y="23"/>
                  </a:cubicBezTo>
                  <a:cubicBezTo>
                    <a:pt x="0" y="22"/>
                    <a:pt x="0" y="21"/>
                    <a:pt x="1" y="20"/>
                  </a:cubicBezTo>
                  <a:cubicBezTo>
                    <a:pt x="6" y="15"/>
                    <a:pt x="6" y="15"/>
                    <a:pt x="6" y="15"/>
                  </a:cubicBezTo>
                  <a:cubicBezTo>
                    <a:pt x="7" y="14"/>
                    <a:pt x="8" y="14"/>
                    <a:pt x="9" y="14"/>
                  </a:cubicBezTo>
                  <a:cubicBezTo>
                    <a:pt x="10" y="14"/>
                    <a:pt x="11" y="14"/>
                    <a:pt x="11" y="15"/>
                  </a:cubicBezTo>
                  <a:cubicBezTo>
                    <a:pt x="23" y="26"/>
                    <a:pt x="23" y="26"/>
                    <a:pt x="23" y="26"/>
                  </a:cubicBezTo>
                  <a:cubicBezTo>
                    <a:pt x="47" y="1"/>
                    <a:pt x="47" y="1"/>
                    <a:pt x="47" y="1"/>
                  </a:cubicBezTo>
                  <a:cubicBezTo>
                    <a:pt x="48" y="1"/>
                    <a:pt x="49" y="0"/>
                    <a:pt x="50" y="0"/>
                  </a:cubicBezTo>
                  <a:cubicBezTo>
                    <a:pt x="51" y="0"/>
                    <a:pt x="52" y="1"/>
                    <a:pt x="53" y="1"/>
                  </a:cubicBezTo>
                  <a:cubicBezTo>
                    <a:pt x="58" y="7"/>
                    <a:pt x="58" y="7"/>
                    <a:pt x="58" y="7"/>
                  </a:cubicBezTo>
                  <a:cubicBezTo>
                    <a:pt x="58" y="7"/>
                    <a:pt x="59" y="8"/>
                    <a:pt x="59" y="9"/>
                  </a:cubicBezTo>
                  <a:cubicBezTo>
                    <a:pt x="59" y="10"/>
                    <a:pt x="58" y="11"/>
                    <a:pt x="58" y="12"/>
                  </a:cubicBez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pic>
        <p:nvPicPr>
          <p:cNvPr id="171" name="图片 170" descr="左右箭头-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87150" y="4857115"/>
            <a:ext cx="171450" cy="171450"/>
          </a:xfrm>
          <a:prstGeom prst="rect">
            <a:avLst/>
          </a:prstGeom>
        </p:spPr>
      </p:pic>
      <p:sp>
        <p:nvSpPr>
          <p:cNvPr id="172" name="文本框 171"/>
          <p:cNvSpPr txBox="1"/>
          <p:nvPr/>
        </p:nvSpPr>
        <p:spPr>
          <a:xfrm>
            <a:off x="7953890" y="1177388"/>
            <a:ext cx="1605280" cy="553085"/>
          </a:xfrm>
          <a:prstGeom prst="rect">
            <a:avLst/>
          </a:prstGeom>
          <a:noFill/>
        </p:spPr>
        <p:txBody>
          <a:bodyPr wrap="square">
            <a:spAutoFit/>
          </a:bodyPr>
          <a:lstStyle/>
          <a:p>
            <a:pPr algn="ctr"/>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忠诚计划</a:t>
            </a:r>
            <a:endParaRPr lang="en-US" altLang="zh-CN" sz="1600" b="1" dirty="0">
              <a:solidFill>
                <a:schemeClr val="accent5"/>
              </a:solidFill>
              <a:latin typeface="微软雅黑" panose="020B0503020204020204" charset="-122"/>
              <a:ea typeface="微软雅黑" panose="020B0503020204020204" charset="-122"/>
              <a:cs typeface="微软雅黑" panose="020B0503020204020204" charset="-122"/>
            </a:endParaRPr>
          </a:p>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忠诚度驱动策略</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3" name="文本框 172"/>
          <p:cNvSpPr txBox="1"/>
          <p:nvPr/>
        </p:nvSpPr>
        <p:spPr>
          <a:xfrm>
            <a:off x="9657715" y="1186815"/>
            <a:ext cx="2099310" cy="706755"/>
          </a:xfrm>
          <a:prstGeom prst="rect">
            <a:avLst/>
          </a:prstGeom>
          <a:noFill/>
        </p:spPr>
        <p:txBody>
          <a:bodyPr wrap="square">
            <a:spAutoFit/>
          </a:bodyPr>
          <a:lstStyle/>
          <a:p>
            <a:pPr marL="171450" indent="-171450" algn="l">
              <a:buFont typeface="Wingdings" panose="05000000000000000000" charset="0"/>
              <a:buChar char="Ø"/>
            </a:pPr>
            <a:r>
              <a:rPr lang="zh-CN" altLang="en-US" sz="1000" dirty="0">
                <a:solidFill>
                  <a:schemeClr val="bg2"/>
                </a:solidFill>
                <a:latin typeface="微软雅黑" panose="020B0503020204020204" charset="-122"/>
                <a:ea typeface="微软雅黑" panose="020B0503020204020204" charset="-122"/>
                <a:cs typeface="微软雅黑" panose="020B0503020204020204" charset="-122"/>
              </a:rPr>
              <a:t>会员体系：阶梯式权益；</a:t>
            </a:r>
            <a:endParaRPr lang="en-US" altLang="zh-CN" sz="1000" dirty="0">
              <a:solidFill>
                <a:schemeClr val="bg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Ø"/>
            </a:pPr>
            <a:r>
              <a:rPr lang="zh-CN" altLang="en-US" sz="1000" dirty="0">
                <a:solidFill>
                  <a:schemeClr val="bg2"/>
                </a:solidFill>
                <a:latin typeface="微软雅黑" panose="020B0503020204020204" charset="-122"/>
                <a:ea typeface="微软雅黑" panose="020B0503020204020204" charset="-122"/>
                <a:cs typeface="微软雅黑" panose="020B0503020204020204" charset="-122"/>
              </a:rPr>
              <a:t>个性化体验：基于浏览历史的首页推荐；</a:t>
            </a:r>
            <a:endParaRPr lang="zh-CN" altLang="en-US" sz="1000" dirty="0">
              <a:solidFill>
                <a:schemeClr val="bg2"/>
              </a:solidFill>
              <a:latin typeface="微软雅黑" panose="020B0503020204020204" charset="-122"/>
              <a:ea typeface="微软雅黑" panose="020B0503020204020204" charset="-122"/>
              <a:cs typeface="微软雅黑" panose="020B0503020204020204" charset="-122"/>
            </a:endParaRPr>
          </a:p>
          <a:p>
            <a:pPr marL="171450" indent="-171450" algn="l">
              <a:buFont typeface="Wingdings" panose="05000000000000000000" charset="0"/>
              <a:buChar char="Ø"/>
            </a:pPr>
            <a:r>
              <a:rPr lang="zh-CN" altLang="en-US" sz="1000" dirty="0">
                <a:solidFill>
                  <a:schemeClr val="bg2"/>
                </a:solidFill>
                <a:latin typeface="微软雅黑" panose="020B0503020204020204" charset="-122"/>
                <a:ea typeface="微软雅黑" panose="020B0503020204020204" charset="-122"/>
                <a:cs typeface="微软雅黑" panose="020B0503020204020204" charset="-122"/>
              </a:rPr>
              <a:t>社交裂变：老客砍一刀邀请；</a:t>
            </a:r>
            <a:endParaRPr lang="zh-CN" altLang="en-US" sz="100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174" name="文本框 173"/>
          <p:cNvSpPr txBox="1"/>
          <p:nvPr/>
        </p:nvSpPr>
        <p:spPr>
          <a:xfrm>
            <a:off x="6224785" y="1142463"/>
            <a:ext cx="1605280" cy="553085"/>
          </a:xfrm>
          <a:prstGeom prst="rect">
            <a:avLst/>
          </a:prstGeom>
          <a:noFill/>
        </p:spPr>
        <p:txBody>
          <a:bodyPr wrap="square">
            <a:spAutoFit/>
          </a:bodyPr>
          <a:lstStyle/>
          <a:p>
            <a:pPr algn="ctr"/>
            <a:r>
              <a:rPr lang="zh-CN" sz="1600" b="1" dirty="0">
                <a:solidFill>
                  <a:schemeClr val="accent5"/>
                </a:solidFill>
                <a:latin typeface="微软雅黑" panose="020B0503020204020204" charset="-122"/>
                <a:ea typeface="微软雅黑" panose="020B0503020204020204" charset="-122"/>
                <a:cs typeface="微软雅黑" panose="020B0503020204020204" charset="-122"/>
              </a:rPr>
              <a:t>闭环迭代</a:t>
            </a:r>
            <a:endParaRPr lang="zh-CN" sz="1600" b="1" dirty="0">
              <a:solidFill>
                <a:schemeClr val="accent5"/>
              </a:solidFill>
              <a:latin typeface="微软雅黑" panose="020B0503020204020204" charset="-122"/>
              <a:ea typeface="微软雅黑" panose="020B0503020204020204" charset="-122"/>
              <a:cs typeface="微软雅黑" panose="020B0503020204020204" charset="-122"/>
            </a:endParaRPr>
          </a:p>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效果闭环监测</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5" name="文本框 174"/>
          <p:cNvSpPr txBox="1"/>
          <p:nvPr/>
        </p:nvSpPr>
        <p:spPr>
          <a:xfrm>
            <a:off x="4851915" y="1560928"/>
            <a:ext cx="1605280" cy="553085"/>
          </a:xfrm>
          <a:prstGeom prst="rect">
            <a:avLst/>
          </a:prstGeom>
          <a:noFill/>
        </p:spPr>
        <p:txBody>
          <a:bodyPr wrap="square">
            <a:spAutoFit/>
          </a:bodyPr>
          <a:lstStyle/>
          <a:p>
            <a:pPr algn="ctr"/>
            <a:r>
              <a:rPr lang="zh-CN" sz="1600" b="1" dirty="0">
                <a:solidFill>
                  <a:schemeClr val="accent1"/>
                </a:solidFill>
                <a:latin typeface="微软雅黑" panose="020B0503020204020204" charset="-122"/>
                <a:ea typeface="微软雅黑" panose="020B0503020204020204" charset="-122"/>
                <a:cs typeface="微软雅黑" panose="020B0503020204020204" charset="-122"/>
              </a:rPr>
              <a:t>精准触达</a:t>
            </a:r>
            <a:endParaRPr lang="zh-CN" sz="1600" b="1" dirty="0">
              <a:solidFill>
                <a:schemeClr val="accent1"/>
              </a:solidFill>
              <a:latin typeface="微软雅黑" panose="020B0503020204020204" charset="-122"/>
              <a:ea typeface="微软雅黑" panose="020B0503020204020204" charset="-122"/>
              <a:cs typeface="微软雅黑" panose="020B0503020204020204" charset="-122"/>
            </a:endParaRPr>
          </a:p>
          <a:p>
            <a:pPr algn="ctr"/>
            <a:r>
              <a:rPr lang="zh-CN" altLang="en-US" sz="1400" dirty="0">
                <a:solidFill>
                  <a:schemeClr val="tx2"/>
                </a:solidFill>
                <a:latin typeface="微软雅黑" panose="020B0503020204020204" charset="-122"/>
                <a:ea typeface="微软雅黑" panose="020B0503020204020204" charset="-122"/>
                <a:cs typeface="微软雅黑" panose="020B0503020204020204" charset="-122"/>
              </a:rPr>
              <a:t>精准营销策略</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6" name="矩形: 圆角 297"/>
          <p:cNvSpPr/>
          <p:nvPr/>
        </p:nvSpPr>
        <p:spPr>
          <a:xfrm>
            <a:off x="4581525" y="1142365"/>
            <a:ext cx="647700" cy="227330"/>
          </a:xfrm>
          <a:prstGeom prst="roundRect">
            <a:avLst>
              <a:gd name="adj" fmla="val 50000"/>
            </a:avLst>
          </a:prstGeom>
          <a:solidFill>
            <a:srgbClr val="FFFFFF"/>
          </a:solidFill>
          <a:ln>
            <a:noFill/>
          </a:ln>
        </p:spPr>
        <p:style>
          <a:lnRef idx="2">
            <a:srgbClr val="24396B">
              <a:shade val="15000"/>
            </a:srgbClr>
          </a:lnRef>
          <a:fillRef idx="1">
            <a:srgbClr val="24396B"/>
          </a:fillRef>
          <a:effectRef idx="0">
            <a:srgbClr val="24396B"/>
          </a:effectRef>
          <a:fontRef idx="minor">
            <a:srgbClr val="FFFFFF"/>
          </a:fontRef>
        </p:style>
        <p:txBody>
          <a:bodyPr wrap="none" rtlCol="0" anchor="ctr"/>
          <a:lstStyle/>
          <a:p>
            <a:pPr algn="ctr"/>
            <a:r>
              <a:rPr lang="en-US" altLang="zh-SG" sz="800" dirty="0">
                <a:solidFill>
                  <a:schemeClr val="accent1"/>
                </a:solidFill>
                <a:latin typeface="微软雅黑" panose="020B0503020204020204" charset="-122"/>
                <a:ea typeface="微软雅黑" panose="020B0503020204020204" charset="-122"/>
                <a:cs typeface="微软雅黑" panose="020B0503020204020204" charset="-122"/>
              </a:rPr>
              <a:t>A/B</a:t>
            </a:r>
            <a:r>
              <a:rPr lang="zh-CN" altLang="en-US" sz="800" dirty="0">
                <a:solidFill>
                  <a:schemeClr val="accent1"/>
                </a:solidFill>
                <a:latin typeface="微软雅黑" panose="020B0503020204020204" charset="-122"/>
                <a:ea typeface="微软雅黑" panose="020B0503020204020204" charset="-122"/>
                <a:cs typeface="微软雅黑" panose="020B0503020204020204" charset="-122"/>
              </a:rPr>
              <a:t>文案</a:t>
            </a:r>
            <a:endParaRPr lang="zh-CN" altLang="en-US" sz="8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77" name="矩形: 圆角 298"/>
          <p:cNvSpPr/>
          <p:nvPr/>
        </p:nvSpPr>
        <p:spPr>
          <a:xfrm>
            <a:off x="5314315" y="1142365"/>
            <a:ext cx="645795" cy="227330"/>
          </a:xfrm>
          <a:prstGeom prst="roundRect">
            <a:avLst>
              <a:gd name="adj" fmla="val 50000"/>
            </a:avLst>
          </a:prstGeom>
          <a:solidFill>
            <a:srgbClr val="FFFFFF"/>
          </a:solidFill>
          <a:ln>
            <a:noFill/>
          </a:ln>
        </p:spPr>
        <p:style>
          <a:lnRef idx="2">
            <a:srgbClr val="24396B">
              <a:shade val="15000"/>
            </a:srgbClr>
          </a:lnRef>
          <a:fillRef idx="1">
            <a:srgbClr val="24396B"/>
          </a:fillRef>
          <a:effectRef idx="0">
            <a:srgbClr val="24396B"/>
          </a:effectRef>
          <a:fontRef idx="minor">
            <a:srgbClr val="FFFFFF"/>
          </a:fontRef>
        </p:style>
        <p:txBody>
          <a:bodyPr wrap="none" rtlCol="0" anchor="ctr"/>
          <a:lstStyle/>
          <a:p>
            <a:pPr algn="ctr"/>
            <a:r>
              <a:rPr lang="zh-CN" altLang="zh-SG" sz="800" dirty="0">
                <a:solidFill>
                  <a:schemeClr val="accent1"/>
                </a:solidFill>
                <a:latin typeface="微软雅黑" panose="020B0503020204020204" charset="-122"/>
                <a:ea typeface="微软雅黑" panose="020B0503020204020204" charset="-122"/>
                <a:cs typeface="微软雅黑" panose="020B0503020204020204" charset="-122"/>
              </a:rPr>
              <a:t>触达时机</a:t>
            </a:r>
            <a:endParaRPr lang="zh-CN" altLang="zh-SG" sz="8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78" name="对话气泡: 矩形 51"/>
          <p:cNvSpPr/>
          <p:nvPr/>
        </p:nvSpPr>
        <p:spPr>
          <a:xfrm>
            <a:off x="7124700" y="1767840"/>
            <a:ext cx="1358265" cy="405765"/>
          </a:xfrm>
          <a:prstGeom prst="wedgeRectCallout">
            <a:avLst>
              <a:gd name="adj1" fmla="val -43944"/>
              <a:gd name="adj2" fmla="val -75844"/>
            </a:avLst>
          </a:prstGeom>
          <a:solidFill>
            <a:schemeClr val="accent5">
              <a:lumMod val="20000"/>
              <a:lumOff val="80000"/>
            </a:schemeClr>
          </a:solidFill>
          <a:ln w="15875">
            <a:noFill/>
          </a:ln>
          <a:effectLst/>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lIns="87782" tIns="43891" rIns="87782" bIns="43891" numCol="1" spcCol="0" rtlCol="0" fromWordArt="0" anchor="ctr" anchorCtr="0" forceAA="0" compatLnSpc="1">
            <a:noAutofit/>
          </a:bodyPr>
          <a:lstStyle/>
          <a:p>
            <a:pPr lvl="0" algn="ctr">
              <a:buClrTx/>
              <a:buSzTx/>
              <a:buFontTx/>
            </a:pPr>
            <a:endParaRPr lang="zh-CN" altLang="en-US" sz="650">
              <a:latin typeface="微软雅黑" panose="020B0503020204020204" charset="-122"/>
              <a:ea typeface="微软雅黑" panose="020B0503020204020204" charset="-122"/>
              <a:cs typeface="微软雅黑" panose="020B0503020204020204" charset="-122"/>
              <a:sym typeface="+mn-ea"/>
            </a:endParaRPr>
          </a:p>
        </p:txBody>
      </p:sp>
      <p:sp>
        <p:nvSpPr>
          <p:cNvPr id="179" name="矩形: 圆角 297"/>
          <p:cNvSpPr/>
          <p:nvPr/>
        </p:nvSpPr>
        <p:spPr>
          <a:xfrm>
            <a:off x="7218680" y="1866900"/>
            <a:ext cx="546100" cy="227330"/>
          </a:xfrm>
          <a:prstGeom prst="roundRect">
            <a:avLst>
              <a:gd name="adj" fmla="val 50000"/>
            </a:avLst>
          </a:prstGeom>
          <a:solidFill>
            <a:srgbClr val="FFFFFF"/>
          </a:solidFill>
          <a:ln>
            <a:noFill/>
          </a:ln>
        </p:spPr>
        <p:style>
          <a:lnRef idx="2">
            <a:srgbClr val="24396B">
              <a:shade val="15000"/>
            </a:srgbClr>
          </a:lnRef>
          <a:fillRef idx="1">
            <a:srgbClr val="24396B"/>
          </a:fillRef>
          <a:effectRef idx="0">
            <a:srgbClr val="24396B"/>
          </a:effectRef>
          <a:fontRef idx="minor">
            <a:srgbClr val="FFFFFF"/>
          </a:fontRef>
        </p:style>
        <p:txBody>
          <a:bodyPr wrap="none" rtlCol="0" anchor="ctr"/>
          <a:lstStyle/>
          <a:p>
            <a:pPr algn="ctr"/>
            <a:r>
              <a:rPr lang="zh-CN" altLang="en-US" sz="800" dirty="0">
                <a:solidFill>
                  <a:schemeClr val="accent5"/>
                </a:solidFill>
                <a:latin typeface="微软雅黑" panose="020B0503020204020204" charset="-122"/>
                <a:ea typeface="微软雅黑" panose="020B0503020204020204" charset="-122"/>
                <a:cs typeface="微软雅黑" panose="020B0503020204020204" charset="-122"/>
              </a:rPr>
              <a:t>指标监控</a:t>
            </a:r>
            <a:endParaRPr lang="zh-CN" altLang="en-US" sz="80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80" name="矩形: 圆角 298"/>
          <p:cNvSpPr/>
          <p:nvPr/>
        </p:nvSpPr>
        <p:spPr>
          <a:xfrm>
            <a:off x="7849235" y="1866900"/>
            <a:ext cx="537210" cy="227330"/>
          </a:xfrm>
          <a:prstGeom prst="roundRect">
            <a:avLst>
              <a:gd name="adj" fmla="val 50000"/>
            </a:avLst>
          </a:prstGeom>
          <a:solidFill>
            <a:srgbClr val="FFFFFF"/>
          </a:solidFill>
          <a:ln>
            <a:noFill/>
          </a:ln>
        </p:spPr>
        <p:style>
          <a:lnRef idx="2">
            <a:srgbClr val="24396B">
              <a:shade val="15000"/>
            </a:srgbClr>
          </a:lnRef>
          <a:fillRef idx="1">
            <a:srgbClr val="24396B"/>
          </a:fillRef>
          <a:effectRef idx="0">
            <a:srgbClr val="24396B"/>
          </a:effectRef>
          <a:fontRef idx="minor">
            <a:srgbClr val="FFFFFF"/>
          </a:fontRef>
        </p:style>
        <p:txBody>
          <a:bodyPr wrap="none" rtlCol="0" anchor="ctr"/>
          <a:lstStyle/>
          <a:p>
            <a:pPr algn="ctr"/>
            <a:r>
              <a:rPr lang="zh-CN" altLang="zh-SG" sz="800" dirty="0">
                <a:solidFill>
                  <a:schemeClr val="accent5"/>
                </a:solidFill>
                <a:latin typeface="微软雅黑" panose="020B0503020204020204" charset="-122"/>
                <a:ea typeface="微软雅黑" panose="020B0503020204020204" charset="-122"/>
                <a:cs typeface="微软雅黑" panose="020B0503020204020204" charset="-122"/>
              </a:rPr>
              <a:t>敏捷迭代</a:t>
            </a:r>
            <a:endParaRPr lang="zh-CN" altLang="zh-SG" sz="800" dirty="0">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4"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5" name="组合 54"/>
          <p:cNvGrpSpPr/>
          <p:nvPr/>
        </p:nvGrpSpPr>
        <p:grpSpPr>
          <a:xfrm>
            <a:off x="8738235" y="348615"/>
            <a:ext cx="3219450" cy="332740"/>
            <a:chOff x="13761" y="549"/>
            <a:chExt cx="5070" cy="524"/>
          </a:xfrm>
        </p:grpSpPr>
        <p:pic>
          <p:nvPicPr>
            <p:cNvPr id="57" name="图片 56"/>
            <p:cNvPicPr>
              <a:picLocks noChangeAspect="1"/>
            </p:cNvPicPr>
            <p:nvPr userDrawn="1"/>
          </p:nvPicPr>
          <p:blipFill>
            <a:blip r:embed="rId5"/>
            <a:srcRect l="17002" t="-1765" r="56499" b="-1176"/>
            <a:stretch>
              <a:fillRect/>
            </a:stretch>
          </p:blipFill>
          <p:spPr>
            <a:xfrm>
              <a:off x="13761" y="549"/>
              <a:ext cx="1582" cy="525"/>
            </a:xfrm>
            <a:prstGeom prst="rect">
              <a:avLst/>
            </a:prstGeom>
          </p:spPr>
        </p:pic>
        <p:sp>
          <p:nvSpPr>
            <p:cNvPr id="58" name="文本框 57"/>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循环逻辑架构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汽车产业生态架构布局</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9" name="矩形 28"/>
          <p:cNvSpPr/>
          <p:nvPr/>
        </p:nvSpPr>
        <p:spPr>
          <a:xfrm>
            <a:off x="980440" y="5495925"/>
            <a:ext cx="10537825" cy="897255"/>
          </a:xfrm>
          <a:prstGeom prst="rect">
            <a:avLst/>
          </a:prstGeom>
          <a:gradFill>
            <a:gsLst>
              <a:gs pos="74000">
                <a:schemeClr val="accent5"/>
              </a:gs>
              <a:gs pos="0">
                <a:schemeClr val="accent5">
                  <a:lumMod val="60000"/>
                  <a:lumOff val="40000"/>
                </a:schemeClr>
              </a:gs>
            </a:gsLst>
            <a:lin ang="54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cxnSp>
        <p:nvCxnSpPr>
          <p:cNvPr id="30" name="直接连接符 29"/>
          <p:cNvCxnSpPr/>
          <p:nvPr/>
        </p:nvCxnSpPr>
        <p:spPr>
          <a:xfrm>
            <a:off x="2955290" y="5612130"/>
            <a:ext cx="0" cy="624840"/>
          </a:xfrm>
          <a:prstGeom prst="line">
            <a:avLst/>
          </a:prstGeom>
          <a:ln w="19050">
            <a:solidFill>
              <a:schemeClr val="bg1"/>
            </a:solidFill>
          </a:ln>
        </p:spPr>
        <p:style>
          <a:lnRef idx="2">
            <a:schemeClr val="accent1"/>
          </a:lnRef>
          <a:fillRef idx="0">
            <a:srgbClr val="FFFFFF"/>
          </a:fillRef>
          <a:effectRef idx="0">
            <a:srgbClr val="FFFFFF"/>
          </a:effectRef>
          <a:fontRef idx="minor">
            <a:schemeClr val="tx1"/>
          </a:fontRef>
        </p:style>
      </p:cxnSp>
      <p:cxnSp>
        <p:nvCxnSpPr>
          <p:cNvPr id="31" name="直接连接符 30"/>
          <p:cNvCxnSpPr/>
          <p:nvPr/>
        </p:nvCxnSpPr>
        <p:spPr>
          <a:xfrm>
            <a:off x="9904730" y="5628640"/>
            <a:ext cx="0" cy="609600"/>
          </a:xfrm>
          <a:prstGeom prst="line">
            <a:avLst/>
          </a:prstGeom>
          <a:ln w="19050">
            <a:solidFill>
              <a:schemeClr val="bg1"/>
            </a:solidFill>
          </a:ln>
        </p:spPr>
        <p:style>
          <a:lnRef idx="2">
            <a:schemeClr val="accent1"/>
          </a:lnRef>
          <a:fillRef idx="0">
            <a:srgbClr val="FFFFFF"/>
          </a:fillRef>
          <a:effectRef idx="0">
            <a:srgbClr val="FFFFFF"/>
          </a:effectRef>
          <a:fontRef idx="minor">
            <a:schemeClr val="tx1"/>
          </a:fontRef>
        </p:style>
      </p:cxnSp>
      <p:cxnSp>
        <p:nvCxnSpPr>
          <p:cNvPr id="32" name="直接连接符 31"/>
          <p:cNvCxnSpPr/>
          <p:nvPr/>
        </p:nvCxnSpPr>
        <p:spPr>
          <a:xfrm>
            <a:off x="8100695" y="5598160"/>
            <a:ext cx="0" cy="629920"/>
          </a:xfrm>
          <a:prstGeom prst="line">
            <a:avLst/>
          </a:prstGeom>
          <a:ln w="19050">
            <a:solidFill>
              <a:schemeClr val="bg1"/>
            </a:solidFill>
          </a:ln>
        </p:spPr>
        <p:style>
          <a:lnRef idx="2">
            <a:schemeClr val="accent1"/>
          </a:lnRef>
          <a:fillRef idx="0">
            <a:srgbClr val="FFFFFF"/>
          </a:fillRef>
          <a:effectRef idx="0">
            <a:srgbClr val="FFFFFF"/>
          </a:effectRef>
          <a:fontRef idx="minor">
            <a:schemeClr val="tx1"/>
          </a:fontRef>
        </p:style>
      </p:cxnSp>
      <p:cxnSp>
        <p:nvCxnSpPr>
          <p:cNvPr id="33" name="直接连接符 32"/>
          <p:cNvCxnSpPr/>
          <p:nvPr/>
        </p:nvCxnSpPr>
        <p:spPr>
          <a:xfrm>
            <a:off x="6385560" y="5581650"/>
            <a:ext cx="0" cy="640080"/>
          </a:xfrm>
          <a:prstGeom prst="line">
            <a:avLst/>
          </a:prstGeom>
          <a:ln w="19050">
            <a:solidFill>
              <a:schemeClr val="bg1"/>
            </a:solidFill>
          </a:ln>
        </p:spPr>
        <p:style>
          <a:lnRef idx="2">
            <a:schemeClr val="accent1"/>
          </a:lnRef>
          <a:fillRef idx="0">
            <a:srgbClr val="FFFFFF"/>
          </a:fillRef>
          <a:effectRef idx="0">
            <a:srgbClr val="FFFFFF"/>
          </a:effectRef>
          <a:fontRef idx="minor">
            <a:schemeClr val="tx1"/>
          </a:fontRef>
        </p:style>
      </p:cxnSp>
      <p:cxnSp>
        <p:nvCxnSpPr>
          <p:cNvPr id="34" name="直接连接符 33"/>
          <p:cNvCxnSpPr/>
          <p:nvPr/>
        </p:nvCxnSpPr>
        <p:spPr>
          <a:xfrm>
            <a:off x="4670425" y="5604510"/>
            <a:ext cx="0" cy="617220"/>
          </a:xfrm>
          <a:prstGeom prst="line">
            <a:avLst/>
          </a:prstGeom>
          <a:ln w="19050">
            <a:solidFill>
              <a:schemeClr val="bg1"/>
            </a:solidFill>
          </a:ln>
        </p:spPr>
        <p:style>
          <a:lnRef idx="2">
            <a:schemeClr val="accent1"/>
          </a:lnRef>
          <a:fillRef idx="0">
            <a:srgbClr val="FFFFFF"/>
          </a:fillRef>
          <a:effectRef idx="0">
            <a:srgbClr val="FFFFFF"/>
          </a:effectRef>
          <a:fontRef idx="minor">
            <a:schemeClr val="tx1"/>
          </a:fontRef>
        </p:style>
      </p:cxnSp>
      <p:sp>
        <p:nvSpPr>
          <p:cNvPr id="2" name="任意多边形 1"/>
          <p:cNvSpPr/>
          <p:nvPr/>
        </p:nvSpPr>
        <p:spPr>
          <a:xfrm>
            <a:off x="4901565" y="3324860"/>
            <a:ext cx="1238885" cy="12700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612" h="1652">
                <a:moveTo>
                  <a:pt x="0" y="26"/>
                </a:moveTo>
                <a:lnTo>
                  <a:pt x="0" y="0"/>
                </a:lnTo>
                <a:lnTo>
                  <a:pt x="1611" y="0"/>
                </a:lnTo>
                <a:lnTo>
                  <a:pt x="1611" y="1651"/>
                </a:lnTo>
                <a:cubicBezTo>
                  <a:pt x="732" y="1680"/>
                  <a:pt x="-32" y="844"/>
                  <a:pt x="0" y="26"/>
                </a:cubicBezTo>
                <a:close/>
              </a:path>
            </a:pathLst>
          </a:custGeom>
          <a:gradFill>
            <a:gsLst>
              <a:gs pos="100000">
                <a:schemeClr val="accent1">
                  <a:lumMod val="60000"/>
                  <a:lumOff val="40000"/>
                </a:schemeClr>
              </a:gs>
              <a:gs pos="0">
                <a:schemeClr val="accent1">
                  <a:lumMod val="20000"/>
                  <a:lumOff val="80000"/>
                </a:schemeClr>
              </a:gs>
            </a:gsLst>
            <a:lin ang="16200000" scaled="0"/>
          </a:gra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17" name="任意多边形 16"/>
          <p:cNvSpPr/>
          <p:nvPr/>
        </p:nvSpPr>
        <p:spPr>
          <a:xfrm>
            <a:off x="6165215" y="2094865"/>
            <a:ext cx="1238250" cy="120777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610" h="1572">
                <a:moveTo>
                  <a:pt x="0" y="0"/>
                </a:moveTo>
                <a:cubicBezTo>
                  <a:pt x="864" y="-36"/>
                  <a:pt x="1622" y="799"/>
                  <a:pt x="1610" y="1571"/>
                </a:cubicBezTo>
                <a:lnTo>
                  <a:pt x="0" y="1571"/>
                </a:lnTo>
                <a:lnTo>
                  <a:pt x="0" y="0"/>
                </a:lnTo>
                <a:close/>
              </a:path>
            </a:pathLst>
          </a:custGeom>
          <a:gradFill>
            <a:gsLst>
              <a:gs pos="100000">
                <a:schemeClr val="accent1">
                  <a:lumMod val="60000"/>
                  <a:lumOff val="40000"/>
                </a:schemeClr>
              </a:gs>
              <a:gs pos="0">
                <a:schemeClr val="accent1">
                  <a:lumMod val="20000"/>
                  <a:lumOff val="80000"/>
                </a:schemeClr>
              </a:gs>
            </a:gsLst>
            <a:lin ang="5400000" scaled="0"/>
          </a:gra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18" name="任意多边形 17"/>
          <p:cNvSpPr/>
          <p:nvPr/>
        </p:nvSpPr>
        <p:spPr>
          <a:xfrm>
            <a:off x="4902835" y="2094865"/>
            <a:ext cx="1238250" cy="120777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611" h="1572">
                <a:moveTo>
                  <a:pt x="0" y="1571"/>
                </a:moveTo>
                <a:cubicBezTo>
                  <a:pt x="-15" y="706"/>
                  <a:pt x="840" y="-30"/>
                  <a:pt x="1610" y="0"/>
                </a:cubicBezTo>
                <a:lnTo>
                  <a:pt x="1610" y="1571"/>
                </a:lnTo>
                <a:lnTo>
                  <a:pt x="0" y="1571"/>
                </a:lnTo>
                <a:close/>
              </a:path>
            </a:pathLst>
          </a:custGeom>
          <a:gradFill>
            <a:gsLst>
              <a:gs pos="100000">
                <a:schemeClr val="accent1">
                  <a:lumMod val="60000"/>
                  <a:lumOff val="40000"/>
                </a:schemeClr>
              </a:gs>
              <a:gs pos="0">
                <a:schemeClr val="accent1">
                  <a:lumMod val="20000"/>
                  <a:lumOff val="80000"/>
                </a:schemeClr>
              </a:gs>
            </a:gsLst>
            <a:lin ang="5400000" scaled="0"/>
          </a:gra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19" name="任意多边形 18"/>
          <p:cNvSpPr/>
          <p:nvPr/>
        </p:nvSpPr>
        <p:spPr>
          <a:xfrm>
            <a:off x="6165215" y="3325495"/>
            <a:ext cx="1238885" cy="127000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1612" h="1652">
                <a:moveTo>
                  <a:pt x="0" y="0"/>
                </a:moveTo>
                <a:lnTo>
                  <a:pt x="1611" y="0"/>
                </a:lnTo>
                <a:lnTo>
                  <a:pt x="1611" y="26"/>
                </a:lnTo>
                <a:cubicBezTo>
                  <a:pt x="1649" y="938"/>
                  <a:pt x="785" y="1674"/>
                  <a:pt x="0" y="1651"/>
                </a:cubicBezTo>
                <a:lnTo>
                  <a:pt x="0" y="0"/>
                </a:lnTo>
                <a:close/>
              </a:path>
            </a:pathLst>
          </a:custGeom>
          <a:gradFill>
            <a:gsLst>
              <a:gs pos="100000">
                <a:schemeClr val="accent1">
                  <a:lumMod val="60000"/>
                  <a:lumOff val="40000"/>
                </a:schemeClr>
              </a:gs>
              <a:gs pos="0">
                <a:schemeClr val="accent1">
                  <a:lumMod val="20000"/>
                  <a:lumOff val="80000"/>
                </a:schemeClr>
              </a:gs>
            </a:gsLst>
            <a:lin ang="16200000" scaled="0"/>
          </a:gradFill>
          <a:ln>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cs typeface="微软雅黑" panose="020B0503020204020204" charset="-122"/>
              <a:sym typeface="+mn-ea"/>
            </a:endParaRPr>
          </a:p>
        </p:txBody>
      </p:sp>
      <p:sp>
        <p:nvSpPr>
          <p:cNvPr id="20" name="椭圆 19"/>
          <p:cNvSpPr/>
          <p:nvPr/>
        </p:nvSpPr>
        <p:spPr>
          <a:xfrm>
            <a:off x="5732780" y="2877820"/>
            <a:ext cx="849630" cy="849630"/>
          </a:xfrm>
          <a:prstGeom prst="ellipse">
            <a:avLst/>
          </a:prstGeom>
          <a:gradFill>
            <a:gsLst>
              <a:gs pos="0">
                <a:schemeClr val="accent1">
                  <a:lumMod val="60000"/>
                  <a:lumOff val="40000"/>
                </a:schemeClr>
              </a:gs>
              <a:gs pos="75000">
                <a:schemeClr val="accent1"/>
              </a:gs>
            </a:gsLst>
            <a:lin ang="5400000" scaled="0"/>
          </a:gradFill>
          <a:ln>
            <a:solidFill>
              <a:schemeClr val="bg1"/>
            </a:solidFill>
          </a:ln>
          <a:effectLst>
            <a:outerShdw blurRad="50800" dist="38100" dir="2700000" algn="tl" rotWithShape="0">
              <a:schemeClr val="accent1">
                <a:lumMod val="60000"/>
                <a:lumOff val="40000"/>
                <a:alpha val="40000"/>
              </a:schemeClr>
            </a:outerShdw>
          </a:effec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1" name="椭圆 20"/>
          <p:cNvSpPr/>
          <p:nvPr/>
        </p:nvSpPr>
        <p:spPr>
          <a:xfrm>
            <a:off x="5704205" y="1473835"/>
            <a:ext cx="936625" cy="936625"/>
          </a:xfrm>
          <a:prstGeom prst="ellipse">
            <a:avLst/>
          </a:prstGeom>
          <a:solidFill>
            <a:schemeClr val="bg1"/>
          </a:solidFill>
          <a:ln>
            <a:gradFill>
              <a:gsLst>
                <a:gs pos="0">
                  <a:schemeClr val="accent5"/>
                </a:gs>
                <a:gs pos="100000">
                  <a:schemeClr val="accent5">
                    <a:lumMod val="60000"/>
                    <a:lumOff val="4000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40" name="文本框 39"/>
          <p:cNvSpPr txBox="1"/>
          <p:nvPr/>
        </p:nvSpPr>
        <p:spPr>
          <a:xfrm>
            <a:off x="5765165" y="3121660"/>
            <a:ext cx="817245" cy="368300"/>
          </a:xfrm>
          <a:prstGeom prst="rect">
            <a:avLst/>
          </a:prstGeom>
          <a:noFill/>
        </p:spPr>
        <p:txBody>
          <a:bodyPr wrap="square" rtlCol="0">
            <a:spAutoFit/>
          </a:bodyPr>
          <a:p>
            <a:pPr algn="ctr"/>
            <a:r>
              <a:rPr lang="zh-CN" altLang="en-US" b="1">
                <a:solidFill>
                  <a:schemeClr val="bg2"/>
                </a:solidFill>
                <a:latin typeface="微软雅黑" panose="020B0503020204020204" charset="-122"/>
                <a:ea typeface="微软雅黑" panose="020B0503020204020204" charset="-122"/>
                <a:cs typeface="微软雅黑" panose="020B0503020204020204" charset="-122"/>
              </a:rPr>
              <a:t>车联</a:t>
            </a:r>
            <a:r>
              <a:rPr lang="en-US" altLang="zh-CN" b="1">
                <a:solidFill>
                  <a:schemeClr val="bg2"/>
                </a:solidFill>
                <a:latin typeface="微软雅黑" panose="020B0503020204020204" charset="-122"/>
                <a:ea typeface="微软雅黑" panose="020B0503020204020204" charset="-122"/>
                <a:cs typeface="微软雅黑" panose="020B0503020204020204" charset="-122"/>
              </a:rPr>
              <a:t>+</a:t>
            </a:r>
            <a:endParaRPr lang="en-US" altLang="zh-CN" b="1">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41" name="文本框 40"/>
          <p:cNvSpPr txBox="1"/>
          <p:nvPr/>
        </p:nvSpPr>
        <p:spPr>
          <a:xfrm>
            <a:off x="5183505" y="2581910"/>
            <a:ext cx="949960" cy="306705"/>
          </a:xfrm>
          <a:prstGeom prst="rect">
            <a:avLst/>
          </a:prstGeom>
          <a:noFill/>
        </p:spPr>
        <p:txBody>
          <a:bodyPr wrap="square" rtlCol="0">
            <a:spAutoFit/>
          </a:bodyPr>
          <a:p>
            <a:pPr algn="ctr"/>
            <a:r>
              <a:rPr lang="zh-CN" altLang="en-US" sz="1400" b="1">
                <a:solidFill>
                  <a:schemeClr val="bg2"/>
                </a:solidFill>
                <a:latin typeface="微软雅黑" panose="020B0503020204020204" charset="-122"/>
                <a:ea typeface="微软雅黑" panose="020B0503020204020204" charset="-122"/>
                <a:cs typeface="微软雅黑" panose="020B0503020204020204" charset="-122"/>
              </a:rPr>
              <a:t>车联网</a:t>
            </a:r>
            <a:endParaRPr lang="zh-CN" altLang="en-US" sz="1400" b="1">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a:off x="6207760" y="2581910"/>
            <a:ext cx="949960" cy="306705"/>
          </a:xfrm>
          <a:prstGeom prst="rect">
            <a:avLst/>
          </a:prstGeom>
          <a:noFill/>
        </p:spPr>
        <p:txBody>
          <a:bodyPr wrap="square" rtlCol="0">
            <a:spAutoFit/>
          </a:bodyPr>
          <a:p>
            <a:pPr algn="ctr"/>
            <a:r>
              <a:rPr lang="zh-CN" altLang="en-US" sz="1400" b="1">
                <a:solidFill>
                  <a:schemeClr val="bg2"/>
                </a:solidFill>
                <a:latin typeface="微软雅黑" panose="020B0503020204020204" charset="-122"/>
                <a:ea typeface="微软雅黑" panose="020B0503020204020204" charset="-122"/>
                <a:cs typeface="微软雅黑" panose="020B0503020204020204" charset="-122"/>
              </a:rPr>
              <a:t>智慧出行</a:t>
            </a:r>
            <a:endParaRPr lang="zh-CN" altLang="en-US" sz="1400" b="1">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5270500" y="3825240"/>
            <a:ext cx="949960" cy="306705"/>
          </a:xfrm>
          <a:prstGeom prst="rect">
            <a:avLst/>
          </a:prstGeom>
          <a:noFill/>
        </p:spPr>
        <p:txBody>
          <a:bodyPr wrap="square" rtlCol="0">
            <a:spAutoFit/>
          </a:bodyPr>
          <a:p>
            <a:pPr algn="ctr"/>
            <a:r>
              <a:rPr lang="zh-CN" altLang="en-US" sz="1400" b="1">
                <a:solidFill>
                  <a:schemeClr val="bg2"/>
                </a:solidFill>
                <a:latin typeface="微软雅黑" panose="020B0503020204020204" charset="-122"/>
                <a:ea typeface="微软雅黑" panose="020B0503020204020204" charset="-122"/>
                <a:cs typeface="微软雅黑" panose="020B0503020204020204" charset="-122"/>
              </a:rPr>
              <a:t>车主运营</a:t>
            </a:r>
            <a:endParaRPr lang="zh-CN" altLang="en-US" sz="1400" b="1">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6247765" y="3825240"/>
            <a:ext cx="949960" cy="306705"/>
          </a:xfrm>
          <a:prstGeom prst="rect">
            <a:avLst/>
          </a:prstGeom>
          <a:noFill/>
        </p:spPr>
        <p:txBody>
          <a:bodyPr wrap="square" rtlCol="0">
            <a:spAutoFit/>
          </a:bodyPr>
          <a:p>
            <a:pPr algn="ctr"/>
            <a:r>
              <a:rPr lang="zh-CN" sz="1400" b="1">
                <a:solidFill>
                  <a:schemeClr val="bg2"/>
                </a:solidFill>
                <a:latin typeface="微软雅黑" panose="020B0503020204020204" charset="-122"/>
                <a:ea typeface="微软雅黑" panose="020B0503020204020204" charset="-122"/>
                <a:cs typeface="微软雅黑" panose="020B0503020204020204" charset="-122"/>
              </a:rPr>
              <a:t>增值业务</a:t>
            </a:r>
            <a:endParaRPr lang="zh-CN" sz="1400" b="1">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45" name="文本框 44"/>
          <p:cNvSpPr txBox="1"/>
          <p:nvPr/>
        </p:nvSpPr>
        <p:spPr>
          <a:xfrm>
            <a:off x="5763895" y="1947545"/>
            <a:ext cx="817245" cy="306705"/>
          </a:xfrm>
          <a:prstGeom prst="rect">
            <a:avLst/>
          </a:prstGeom>
          <a:noFill/>
        </p:spPr>
        <p:txBody>
          <a:bodyPr wrap="square" rtlCol="0">
            <a:spAutoFit/>
          </a:bodyPr>
          <a:p>
            <a:pPr algn="ctr"/>
            <a:r>
              <a:rPr lang="zh-CN" altLang="en-US" sz="14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rPr>
              <a:t>经销商</a:t>
            </a:r>
            <a:endParaRPr lang="zh-CN" altLang="en-US" sz="1400" b="1">
              <a:gradFill>
                <a:gsLst>
                  <a:gs pos="0">
                    <a:schemeClr val="accent5">
                      <a:lumMod val="60000"/>
                      <a:lumOff val="40000"/>
                    </a:schemeClr>
                  </a:gs>
                  <a:gs pos="100000">
                    <a:schemeClr val="accent5"/>
                  </a:gs>
                </a:gsLst>
                <a:lin ang="5400000" scaled="0"/>
              </a:gradFill>
              <a:latin typeface="微软雅黑" panose="020B0503020204020204" charset="-122"/>
              <a:ea typeface="微软雅黑" panose="020B0503020204020204" charset="-122"/>
              <a:cs typeface="微软雅黑" panose="020B0503020204020204" charset="-122"/>
            </a:endParaRPr>
          </a:p>
        </p:txBody>
      </p:sp>
      <p:pic>
        <p:nvPicPr>
          <p:cNvPr id="47" name="图片 46" descr="4-2商户"/>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96623" y="1623060"/>
            <a:ext cx="351790" cy="298450"/>
          </a:xfrm>
          <a:prstGeom prst="rect">
            <a:avLst/>
          </a:prstGeom>
        </p:spPr>
      </p:pic>
      <p:sp>
        <p:nvSpPr>
          <p:cNvPr id="48" name="椭圆 47"/>
          <p:cNvSpPr/>
          <p:nvPr/>
        </p:nvSpPr>
        <p:spPr>
          <a:xfrm>
            <a:off x="4322445" y="3392805"/>
            <a:ext cx="936625" cy="936625"/>
          </a:xfrm>
          <a:prstGeom prst="ellipse">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gradFill>
                <a:gsLst>
                  <a:gs pos="0">
                    <a:schemeClr val="accent1">
                      <a:lumMod val="60000"/>
                      <a:lumOff val="40000"/>
                    </a:schemeClr>
                  </a:gs>
                  <a:gs pos="100000">
                    <a:schemeClr val="accent1"/>
                  </a:gs>
                </a:gsLst>
                <a:lin ang="5400000" scaled="0"/>
              </a:gradFill>
              <a:cs typeface="微软雅黑" panose="020B0503020204020204" charset="-122"/>
            </a:endParaRPr>
          </a:p>
        </p:txBody>
      </p:sp>
      <p:sp>
        <p:nvSpPr>
          <p:cNvPr id="49" name="文本框 48"/>
          <p:cNvSpPr txBox="1"/>
          <p:nvPr/>
        </p:nvSpPr>
        <p:spPr>
          <a:xfrm>
            <a:off x="4323080" y="3893185"/>
            <a:ext cx="935990" cy="306705"/>
          </a:xfrm>
          <a:prstGeom prst="rect">
            <a:avLst/>
          </a:prstGeom>
          <a:noFill/>
        </p:spPr>
        <p:txBody>
          <a:bodyPr wrap="square" rtlCol="0">
            <a:spAutoFit/>
          </a:bodyPr>
          <a:p>
            <a:pPr algn="ctr"/>
            <a:r>
              <a:rPr lang="zh-CN" altLang="en-US" sz="1400" b="1">
                <a:gradFill>
                  <a:gsLst>
                    <a:gs pos="0">
                      <a:schemeClr val="accent1">
                        <a:lumMod val="60000"/>
                        <a:lumOff val="40000"/>
                      </a:schemeClr>
                    </a:gs>
                    <a:gs pos="100000">
                      <a:schemeClr val="accent1"/>
                    </a:gs>
                  </a:gsLst>
                  <a:lin ang="5400000" scaled="0"/>
                </a:gradFill>
                <a:latin typeface="微软雅黑" panose="020B0503020204020204" charset="-122"/>
                <a:ea typeface="微软雅黑" panose="020B0503020204020204" charset="-122"/>
                <a:cs typeface="微软雅黑" panose="020B0503020204020204" charset="-122"/>
              </a:rPr>
              <a:t>车联平台</a:t>
            </a:r>
            <a:endParaRPr lang="zh-CN" altLang="en-US" sz="1400" b="1">
              <a:gradFill>
                <a:gsLst>
                  <a:gs pos="0">
                    <a:schemeClr val="accent1">
                      <a:lumMod val="60000"/>
                      <a:lumOff val="40000"/>
                    </a:schemeClr>
                  </a:gs>
                  <a:gs pos="100000">
                    <a:schemeClr val="accent1"/>
                  </a:gs>
                </a:gsLst>
                <a:lin ang="5400000" scaled="0"/>
              </a:gradFill>
              <a:latin typeface="微软雅黑" panose="020B0503020204020204" charset="-122"/>
              <a:ea typeface="微软雅黑" panose="020B0503020204020204" charset="-122"/>
              <a:cs typeface="微软雅黑" panose="020B0503020204020204" charset="-122"/>
            </a:endParaRPr>
          </a:p>
        </p:txBody>
      </p:sp>
      <p:pic>
        <p:nvPicPr>
          <p:cNvPr id="51" name="图片 50" descr="银行 (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78985" y="3485515"/>
            <a:ext cx="423545" cy="423545"/>
          </a:xfrm>
          <a:prstGeom prst="rect">
            <a:avLst/>
          </a:prstGeom>
        </p:spPr>
      </p:pic>
      <p:sp>
        <p:nvSpPr>
          <p:cNvPr id="52" name="椭圆 51"/>
          <p:cNvSpPr/>
          <p:nvPr/>
        </p:nvSpPr>
        <p:spPr>
          <a:xfrm>
            <a:off x="7131050" y="3299460"/>
            <a:ext cx="936625" cy="936625"/>
          </a:xfrm>
          <a:prstGeom prst="ellipse">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gradFill>
                <a:gsLst>
                  <a:gs pos="0">
                    <a:schemeClr val="accent1">
                      <a:lumMod val="60000"/>
                      <a:lumOff val="40000"/>
                    </a:schemeClr>
                  </a:gs>
                  <a:gs pos="100000">
                    <a:schemeClr val="accent1"/>
                  </a:gs>
                </a:gsLst>
                <a:lin ang="5400000" scaled="0"/>
              </a:gradFill>
              <a:cs typeface="微软雅黑" panose="020B0503020204020204" charset="-122"/>
              <a:sym typeface="+mn-ea"/>
            </a:endParaRPr>
          </a:p>
        </p:txBody>
      </p:sp>
      <p:sp>
        <p:nvSpPr>
          <p:cNvPr id="53" name="文本框 52"/>
          <p:cNvSpPr txBox="1"/>
          <p:nvPr/>
        </p:nvSpPr>
        <p:spPr>
          <a:xfrm>
            <a:off x="7190740" y="3768090"/>
            <a:ext cx="817245" cy="306705"/>
          </a:xfrm>
          <a:prstGeom prst="rect">
            <a:avLst/>
          </a:prstGeom>
          <a:noFill/>
        </p:spPr>
        <p:txBody>
          <a:bodyPr wrap="square" rtlCol="0">
            <a:spAutoFit/>
          </a:bodyPr>
          <a:p>
            <a:pPr algn="ctr"/>
            <a:r>
              <a:rPr lang="zh-CN" altLang="en-US" sz="1400" b="1">
                <a:gradFill>
                  <a:gsLst>
                    <a:gs pos="0">
                      <a:schemeClr val="accent1">
                        <a:lumMod val="60000"/>
                        <a:lumOff val="40000"/>
                      </a:schemeClr>
                    </a:gs>
                    <a:gs pos="100000">
                      <a:schemeClr val="accent1"/>
                    </a:gs>
                  </a:gsLst>
                  <a:lin ang="5400000" scaled="0"/>
                </a:gradFill>
                <a:latin typeface="微软雅黑" panose="020B0503020204020204" charset="-122"/>
                <a:ea typeface="微软雅黑" panose="020B0503020204020204" charset="-122"/>
                <a:cs typeface="微软雅黑" panose="020B0503020204020204" charset="-122"/>
              </a:rPr>
              <a:t>车主</a:t>
            </a:r>
            <a:endParaRPr lang="zh-CN" altLang="en-US" sz="1400" b="1">
              <a:gradFill>
                <a:gsLst>
                  <a:gs pos="0">
                    <a:schemeClr val="accent1">
                      <a:lumMod val="60000"/>
                      <a:lumOff val="40000"/>
                    </a:schemeClr>
                  </a:gs>
                  <a:gs pos="100000">
                    <a:schemeClr val="accent1"/>
                  </a:gs>
                </a:gsLst>
                <a:lin ang="5400000" scaled="0"/>
              </a:gradFill>
              <a:latin typeface="微软雅黑" panose="020B0503020204020204" charset="-122"/>
              <a:ea typeface="微软雅黑" panose="020B0503020204020204" charset="-122"/>
              <a:cs typeface="微软雅黑" panose="020B0503020204020204" charset="-122"/>
            </a:endParaRPr>
          </a:p>
        </p:txBody>
      </p:sp>
      <p:pic>
        <p:nvPicPr>
          <p:cNvPr id="55" name="图片 54" descr="消费者-2-copy"/>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423785" y="3416935"/>
            <a:ext cx="351155" cy="351155"/>
          </a:xfrm>
          <a:prstGeom prst="rect">
            <a:avLst/>
          </a:prstGeom>
        </p:spPr>
      </p:pic>
      <p:sp>
        <p:nvSpPr>
          <p:cNvPr id="73" name="弧形 72"/>
          <p:cNvSpPr/>
          <p:nvPr/>
        </p:nvSpPr>
        <p:spPr>
          <a:xfrm rot="540000" flipV="1">
            <a:off x="5116195" y="4013200"/>
            <a:ext cx="1784350" cy="927735"/>
          </a:xfrm>
          <a:prstGeom prst="arc">
            <a:avLst>
              <a:gd name="adj1" fmla="val 11858649"/>
              <a:gd name="adj2" fmla="val 18038571"/>
            </a:avLst>
          </a:prstGeom>
          <a:noFill/>
          <a:ln>
            <a:gradFill>
              <a:gsLst>
                <a:gs pos="0">
                  <a:schemeClr val="accent1">
                    <a:lumMod val="60000"/>
                    <a:lumOff val="40000"/>
                  </a:schemeClr>
                </a:gs>
                <a:gs pos="100000">
                  <a:schemeClr val="accent1">
                    <a:lumMod val="60000"/>
                    <a:lumOff val="40000"/>
                    <a:alpha val="0"/>
                  </a:schemeClr>
                </a:gs>
              </a:gsLst>
              <a:lin ang="0" scaled="1"/>
            </a:gradFill>
            <a:headEnd type="triangle" w="med" len="med"/>
            <a:tailEnd type="none"/>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74" name="弧形 73"/>
          <p:cNvSpPr/>
          <p:nvPr/>
        </p:nvSpPr>
        <p:spPr>
          <a:xfrm rot="20640000" flipH="1" flipV="1">
            <a:off x="5573395" y="4042410"/>
            <a:ext cx="1784350" cy="927735"/>
          </a:xfrm>
          <a:prstGeom prst="arc">
            <a:avLst>
              <a:gd name="adj1" fmla="val 12249290"/>
              <a:gd name="adj2" fmla="val 18340016"/>
            </a:avLst>
          </a:prstGeom>
          <a:noFill/>
          <a:ln>
            <a:gradFill>
              <a:gsLst>
                <a:gs pos="0">
                  <a:schemeClr val="accent1">
                    <a:lumMod val="60000"/>
                    <a:lumOff val="40000"/>
                  </a:schemeClr>
                </a:gs>
                <a:gs pos="100000">
                  <a:schemeClr val="accent1">
                    <a:lumMod val="60000"/>
                    <a:lumOff val="40000"/>
                    <a:alpha val="0"/>
                  </a:schemeClr>
                </a:gs>
              </a:gsLst>
              <a:lin ang="0" scaled="1"/>
            </a:gradFill>
            <a:headEnd type="triangle" w="med" len="med"/>
            <a:tailEnd type="none"/>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75" name="弧形 74"/>
          <p:cNvSpPr/>
          <p:nvPr/>
        </p:nvSpPr>
        <p:spPr>
          <a:xfrm rot="2880000" flipV="1">
            <a:off x="4960620" y="1724660"/>
            <a:ext cx="1057275" cy="1647190"/>
          </a:xfrm>
          <a:prstGeom prst="arc">
            <a:avLst>
              <a:gd name="adj1" fmla="val 7678758"/>
              <a:gd name="adj2" fmla="val 13603036"/>
            </a:avLst>
          </a:prstGeom>
          <a:noFill/>
          <a:ln>
            <a:gradFill>
              <a:gsLst>
                <a:gs pos="0">
                  <a:schemeClr val="accent5">
                    <a:lumMod val="60000"/>
                    <a:lumOff val="40000"/>
                  </a:schemeClr>
                </a:gs>
                <a:gs pos="100000">
                  <a:schemeClr val="accent5">
                    <a:lumMod val="60000"/>
                    <a:lumOff val="40000"/>
                    <a:alpha val="0"/>
                  </a:schemeClr>
                </a:gs>
              </a:gsLst>
              <a:lin ang="16200000" scaled="1"/>
            </a:gradFill>
            <a:headEnd type="triangle" w="med" len="med"/>
            <a:tailEnd type="none"/>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79" name="文本框 78"/>
          <p:cNvSpPr txBox="1"/>
          <p:nvPr/>
        </p:nvSpPr>
        <p:spPr>
          <a:xfrm rot="1080000">
            <a:off x="5185410" y="4639310"/>
            <a:ext cx="931545" cy="460375"/>
          </a:xfrm>
          <a:prstGeom prst="rect">
            <a:avLst/>
          </a:prstGeom>
          <a:noFill/>
        </p:spPr>
        <p:txBody>
          <a:bodyPr wrap="square" rtlCol="0">
            <a:spAutoFit/>
          </a:bodyPr>
          <a:p>
            <a:pPr algn="ctr"/>
            <a:r>
              <a:rPr lang="zh-CN" altLang="en-US"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车联服务</a:t>
            </a:r>
            <a:endParaRPr lang="zh-CN" altLang="en-US"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endParaRPr lang="zh-CN" altLang="en-US"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en-US" alt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r>
              <a:rPr lang="zh-CN" altLang="en-US"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生命周期转化</a:t>
            </a:r>
            <a:r>
              <a:rPr lang="en-US" alt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endParaRPr lang="en-US" alt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80" name="文本框 79"/>
          <p:cNvSpPr txBox="1"/>
          <p:nvPr/>
        </p:nvSpPr>
        <p:spPr>
          <a:xfrm rot="19980000">
            <a:off x="6365875" y="4639310"/>
            <a:ext cx="837565" cy="460375"/>
          </a:xfrm>
          <a:prstGeom prst="rect">
            <a:avLst/>
          </a:prstGeom>
          <a:noFill/>
        </p:spPr>
        <p:txBody>
          <a:bodyPr wrap="square" rtlCol="0">
            <a:spAutoFit/>
          </a:bodyPr>
          <a:p>
            <a:pPr algn="ctr"/>
            <a:r>
              <a:rPr 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动态权益</a:t>
            </a:r>
            <a:endParaRPr 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en-US" alt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endParaRPr lang="en-US" alt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zh-CN" altLang="en-US"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刺激出行</a:t>
            </a:r>
            <a:endParaRPr lang="zh-CN" altLang="en-US"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rot="19320000">
            <a:off x="4681855" y="1875790"/>
            <a:ext cx="1026795" cy="460375"/>
          </a:xfrm>
          <a:prstGeom prst="rect">
            <a:avLst/>
          </a:prstGeom>
          <a:noFill/>
        </p:spPr>
        <p:txBody>
          <a:bodyPr wrap="square" rtlCol="0">
            <a:spAutoFit/>
          </a:bodyPr>
          <a:p>
            <a:pPr algn="ctr"/>
            <a:r>
              <a:rPr lang="zh-CN" sz="8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车生态金融</a:t>
            </a:r>
            <a:endParaRPr lang="zh-CN" sz="8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en-US" altLang="zh-CN" sz="8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 </a:t>
            </a:r>
            <a:endParaRPr lang="en-US" altLang="zh-CN" sz="8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zh-CN" altLang="en-US" sz="8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降低</a:t>
            </a:r>
            <a:r>
              <a:rPr lang="en-US" altLang="zh-CN" sz="8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TCO</a:t>
            </a:r>
            <a:endParaRPr lang="en-US" altLang="zh-CN" sz="8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82" name="文本框 81"/>
          <p:cNvSpPr txBox="1"/>
          <p:nvPr/>
        </p:nvSpPr>
        <p:spPr>
          <a:xfrm rot="17340000">
            <a:off x="4017645" y="2618105"/>
            <a:ext cx="1249680" cy="460375"/>
          </a:xfrm>
          <a:prstGeom prst="rect">
            <a:avLst/>
          </a:prstGeom>
          <a:noFill/>
        </p:spPr>
        <p:txBody>
          <a:bodyPr wrap="square" rtlCol="0">
            <a:spAutoFit/>
          </a:bodyPr>
          <a:p>
            <a:pPr algn="ctr"/>
            <a:r>
              <a:rPr 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车辆生命周期</a:t>
            </a:r>
            <a:endParaRPr 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en-US" alt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endParaRPr lang="en-US" alt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出行场景运营</a:t>
            </a:r>
            <a:endParaRPr 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83" name="弧形 82"/>
          <p:cNvSpPr/>
          <p:nvPr/>
        </p:nvSpPr>
        <p:spPr>
          <a:xfrm rot="1500000">
            <a:off x="4625975" y="2106930"/>
            <a:ext cx="958850" cy="1647190"/>
          </a:xfrm>
          <a:prstGeom prst="arc">
            <a:avLst>
              <a:gd name="adj1" fmla="val 7310304"/>
              <a:gd name="adj2" fmla="val 13253095"/>
            </a:avLst>
          </a:prstGeom>
          <a:noFill/>
          <a:ln>
            <a:gradFill>
              <a:gsLst>
                <a:gs pos="0">
                  <a:schemeClr val="accent1">
                    <a:lumMod val="60000"/>
                    <a:lumOff val="40000"/>
                  </a:schemeClr>
                </a:gs>
                <a:gs pos="100000">
                  <a:schemeClr val="accent1">
                    <a:lumMod val="60000"/>
                    <a:lumOff val="40000"/>
                    <a:alpha val="0"/>
                  </a:schemeClr>
                </a:gs>
              </a:gsLst>
              <a:lin ang="16200000" scaled="1"/>
            </a:gradFill>
            <a:headEnd type="triangle" w="med" len="med"/>
            <a:tailEnd type="none"/>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84" name="弧形 83"/>
          <p:cNvSpPr/>
          <p:nvPr/>
        </p:nvSpPr>
        <p:spPr>
          <a:xfrm rot="18660000" flipH="1" flipV="1">
            <a:off x="6350000" y="1696720"/>
            <a:ext cx="996950" cy="1647190"/>
          </a:xfrm>
          <a:prstGeom prst="arc">
            <a:avLst>
              <a:gd name="adj1" fmla="val 7660376"/>
              <a:gd name="adj2" fmla="val 13776152"/>
            </a:avLst>
          </a:prstGeom>
          <a:noFill/>
          <a:ln>
            <a:gradFill>
              <a:gsLst>
                <a:gs pos="0">
                  <a:schemeClr val="accent5">
                    <a:lumMod val="60000"/>
                    <a:lumOff val="40000"/>
                  </a:schemeClr>
                </a:gs>
                <a:gs pos="100000">
                  <a:schemeClr val="accent5">
                    <a:lumMod val="60000"/>
                    <a:lumOff val="40000"/>
                    <a:alpha val="0"/>
                  </a:schemeClr>
                </a:gs>
              </a:gsLst>
              <a:lin ang="16200000" scaled="1"/>
            </a:gradFill>
            <a:headEnd type="triangle" w="med" len="med"/>
            <a:tailEnd type="none"/>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85" name="弧形 84"/>
          <p:cNvSpPr/>
          <p:nvPr/>
        </p:nvSpPr>
        <p:spPr>
          <a:xfrm rot="20040000" flipH="1">
            <a:off x="6788150" y="2078355"/>
            <a:ext cx="904875" cy="1647190"/>
          </a:xfrm>
          <a:prstGeom prst="arc">
            <a:avLst>
              <a:gd name="adj1" fmla="val 7297488"/>
              <a:gd name="adj2" fmla="val 13253095"/>
            </a:avLst>
          </a:prstGeom>
          <a:noFill/>
          <a:ln>
            <a:gradFill>
              <a:gsLst>
                <a:gs pos="0">
                  <a:schemeClr val="accent1">
                    <a:lumMod val="60000"/>
                    <a:lumOff val="40000"/>
                  </a:schemeClr>
                </a:gs>
                <a:gs pos="100000">
                  <a:schemeClr val="accent1">
                    <a:lumMod val="60000"/>
                    <a:lumOff val="40000"/>
                    <a:alpha val="0"/>
                  </a:schemeClr>
                </a:gs>
              </a:gsLst>
              <a:lin ang="16200000" scaled="1"/>
            </a:gradFill>
            <a:headEnd type="triangle" w="med" len="med"/>
            <a:tailEnd type="none"/>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86" name="文本框 85"/>
          <p:cNvSpPr txBox="1"/>
          <p:nvPr/>
        </p:nvSpPr>
        <p:spPr>
          <a:xfrm rot="2160000">
            <a:off x="6662420" y="1856740"/>
            <a:ext cx="830580" cy="460375"/>
          </a:xfrm>
          <a:prstGeom prst="rect">
            <a:avLst/>
          </a:prstGeom>
          <a:noFill/>
        </p:spPr>
        <p:txBody>
          <a:bodyPr wrap="square" rtlCol="0">
            <a:spAutoFit/>
          </a:bodyPr>
          <a:p>
            <a:pPr algn="ctr"/>
            <a:r>
              <a:rPr lang="zh-CN" sz="8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无感服务</a:t>
            </a:r>
            <a:endParaRPr lang="zh-CN" sz="8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endParaRPr lang="zh-CN" sz="8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en-US" altLang="zh-CN" sz="8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 </a:t>
            </a:r>
            <a:r>
              <a:rPr lang="zh-CN" altLang="en-US" sz="8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生态交叉</a:t>
            </a:r>
            <a:endParaRPr lang="zh-CN" altLang="en-US" sz="80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87" name="文本框 86"/>
          <p:cNvSpPr txBox="1"/>
          <p:nvPr/>
        </p:nvSpPr>
        <p:spPr>
          <a:xfrm rot="4020000">
            <a:off x="7258050" y="2545080"/>
            <a:ext cx="800735" cy="460375"/>
          </a:xfrm>
          <a:prstGeom prst="rect">
            <a:avLst/>
          </a:prstGeom>
          <a:noFill/>
        </p:spPr>
        <p:txBody>
          <a:bodyPr wrap="square" rtlCol="0">
            <a:spAutoFit/>
          </a:bodyPr>
          <a:p>
            <a:pPr algn="ctr"/>
            <a:r>
              <a:rPr 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车主社群</a:t>
            </a:r>
            <a:endParaRPr 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endParaRPr lang="zh-CN" alt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a:p>
            <a:pPr algn="ctr"/>
            <a:r>
              <a:rPr lang="en-US" alt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r>
              <a:rPr lang="zh-CN" altLang="en-US"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增强</a:t>
            </a:r>
            <a:r>
              <a:rPr lang="en-US" alt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LTV</a:t>
            </a:r>
            <a:endParaRPr lang="en-US" altLang="zh-CN" sz="80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7" name="圆角矩形 26"/>
          <p:cNvSpPr/>
          <p:nvPr/>
        </p:nvSpPr>
        <p:spPr>
          <a:xfrm>
            <a:off x="1082040" y="1532255"/>
            <a:ext cx="2900680" cy="1167765"/>
          </a:xfrm>
          <a:prstGeom prst="roundRect">
            <a:avLst>
              <a:gd name="adj" fmla="val 8124"/>
            </a:avLst>
          </a:prstGeom>
          <a:gradFill>
            <a:gsLst>
              <a:gs pos="0">
                <a:schemeClr val="accent5">
                  <a:lumMod val="20000"/>
                  <a:lumOff val="80000"/>
                  <a:alpha val="0"/>
                </a:schemeClr>
              </a:gs>
              <a:gs pos="100000">
                <a:schemeClr val="accent5">
                  <a:lumMod val="20000"/>
                  <a:lumOff val="80000"/>
                </a:schemeClr>
              </a:gs>
            </a:gsLst>
            <a:lin ang="16200000" scaled="0"/>
          </a:gradFill>
          <a:ln>
            <a:gradFill>
              <a:gsLst>
                <a:gs pos="0">
                  <a:schemeClr val="accent5">
                    <a:lumMod val="60000"/>
                    <a:lumOff val="40000"/>
                  </a:schemeClr>
                </a:gs>
                <a:gs pos="100000">
                  <a:schemeClr val="accent5">
                    <a:lumMod val="60000"/>
                    <a:lumOff val="40000"/>
                    <a:alpha val="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9" name="圆角矩形 88"/>
          <p:cNvSpPr/>
          <p:nvPr/>
        </p:nvSpPr>
        <p:spPr>
          <a:xfrm>
            <a:off x="1722755" y="1670050"/>
            <a:ext cx="1289050" cy="277495"/>
          </a:xfrm>
          <a:prstGeom prst="roundRect">
            <a:avLst>
              <a:gd name="adj" fmla="val 50000"/>
            </a:avLst>
          </a:prstGeom>
          <a:solidFill>
            <a:schemeClr val="bg1"/>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accent5">
                    <a:lumMod val="60000"/>
                    <a:lumOff val="40000"/>
                  </a:schemeClr>
                </a:solidFill>
                <a:cs typeface="微软雅黑" panose="020B0503020204020204" charset="-122"/>
              </a:rPr>
              <a:t>车联网</a:t>
            </a:r>
            <a:r>
              <a:rPr lang="zh-CN" altLang="en-US" sz="1000">
                <a:solidFill>
                  <a:schemeClr val="accent5">
                    <a:lumMod val="60000"/>
                    <a:lumOff val="40000"/>
                  </a:schemeClr>
                </a:solidFill>
                <a:cs typeface="微软雅黑" panose="020B0503020204020204" charset="-122"/>
              </a:rPr>
              <a:t>服务</a:t>
            </a:r>
            <a:endParaRPr lang="zh-CN" altLang="en-US" sz="1000">
              <a:solidFill>
                <a:schemeClr val="accent5">
                  <a:lumMod val="60000"/>
                  <a:lumOff val="40000"/>
                </a:schemeClr>
              </a:solidFill>
              <a:cs typeface="微软雅黑" panose="020B0503020204020204" charset="-122"/>
            </a:endParaRPr>
          </a:p>
        </p:txBody>
      </p:sp>
      <p:sp>
        <p:nvSpPr>
          <p:cNvPr id="90" name="文本框 89"/>
          <p:cNvSpPr txBox="1"/>
          <p:nvPr/>
        </p:nvSpPr>
        <p:spPr>
          <a:xfrm>
            <a:off x="1104900" y="2085975"/>
            <a:ext cx="2853690" cy="521970"/>
          </a:xfrm>
          <a:prstGeom prst="rect">
            <a:avLst/>
          </a:prstGeom>
          <a:noFill/>
        </p:spPr>
        <p:txBody>
          <a:bodyPr wrap="square" rtlCol="0">
            <a:spAutoFit/>
          </a:bodyPr>
          <a:p>
            <a:pPr marL="171450" indent="-171450">
              <a:buFont typeface="Wingdings" panose="05000000000000000000" charset="0"/>
              <a:buChar char="ü"/>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智能车联平台：</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提供车辆数据管理、远程诊断、</a:t>
            </a:r>
            <a:r>
              <a:rPr lang="en-US" altLang="zh-CN" sz="800">
                <a:solidFill>
                  <a:schemeClr val="tx2"/>
                </a:solidFill>
                <a:latin typeface="微软雅黑" panose="020B0503020204020204" charset="-122"/>
                <a:ea typeface="微软雅黑" panose="020B0503020204020204" charset="-122"/>
                <a:cs typeface="微软雅黑" panose="020B0503020204020204" charset="-122"/>
              </a:rPr>
              <a:t>OTA</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升级服务；</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ü"/>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安全出行保障：</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构建端到端加密的车云通信体系。</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8" name="圆角矩形 27"/>
          <p:cNvSpPr/>
          <p:nvPr/>
        </p:nvSpPr>
        <p:spPr>
          <a:xfrm>
            <a:off x="1082040" y="3188335"/>
            <a:ext cx="2900680" cy="1167765"/>
          </a:xfrm>
          <a:prstGeom prst="roundRect">
            <a:avLst>
              <a:gd name="adj" fmla="val 8124"/>
            </a:avLst>
          </a:prstGeom>
          <a:gradFill>
            <a:gsLst>
              <a:gs pos="0">
                <a:schemeClr val="accent1">
                  <a:lumMod val="20000"/>
                  <a:lumOff val="80000"/>
                  <a:alpha val="0"/>
                </a:schemeClr>
              </a:gs>
              <a:gs pos="100000">
                <a:schemeClr val="accent1">
                  <a:lumMod val="20000"/>
                  <a:lumOff val="80000"/>
                </a:schemeClr>
              </a:gs>
            </a:gsLst>
            <a:lin ang="16200000" scaled="0"/>
          </a:gradFill>
          <a:ln>
            <a:gradFill>
              <a:gsLst>
                <a:gs pos="0">
                  <a:schemeClr val="accent1">
                    <a:lumMod val="60000"/>
                    <a:lumOff val="40000"/>
                  </a:schemeClr>
                </a:gs>
                <a:gs pos="100000">
                  <a:schemeClr val="accent1">
                    <a:lumMod val="60000"/>
                    <a:lumOff val="40000"/>
                    <a:alpha val="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2" name="圆角矩形 91"/>
          <p:cNvSpPr/>
          <p:nvPr/>
        </p:nvSpPr>
        <p:spPr>
          <a:xfrm>
            <a:off x="1740535" y="3343910"/>
            <a:ext cx="1289050" cy="277495"/>
          </a:xfrm>
          <a:prstGeom prst="roundRect">
            <a:avLst>
              <a:gd name="adj" fmla="val 50000"/>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accent1">
                    <a:lumMod val="60000"/>
                    <a:lumOff val="40000"/>
                  </a:schemeClr>
                </a:solidFill>
                <a:cs typeface="微软雅黑" panose="020B0503020204020204" charset="-122"/>
                <a:sym typeface="+mn-ea"/>
              </a:rPr>
              <a:t>车主生态</a:t>
            </a:r>
            <a:r>
              <a:rPr lang="zh-CN" altLang="en-US" sz="1000">
                <a:solidFill>
                  <a:schemeClr val="accent1">
                    <a:lumMod val="60000"/>
                    <a:lumOff val="40000"/>
                  </a:schemeClr>
                </a:solidFill>
                <a:cs typeface="微软雅黑" panose="020B0503020204020204" charset="-122"/>
                <a:sym typeface="+mn-ea"/>
              </a:rPr>
              <a:t>运营</a:t>
            </a:r>
            <a:endParaRPr lang="zh-CN" altLang="en-US" sz="1000">
              <a:solidFill>
                <a:schemeClr val="accent1">
                  <a:lumMod val="60000"/>
                  <a:lumOff val="40000"/>
                </a:schemeClr>
              </a:solidFill>
              <a:cs typeface="微软雅黑" panose="020B0503020204020204" charset="-122"/>
              <a:sym typeface="+mn-ea"/>
            </a:endParaRPr>
          </a:p>
        </p:txBody>
      </p:sp>
      <p:sp>
        <p:nvSpPr>
          <p:cNvPr id="94" name="圆角矩形 93"/>
          <p:cNvSpPr/>
          <p:nvPr/>
        </p:nvSpPr>
        <p:spPr>
          <a:xfrm>
            <a:off x="8536940" y="1532255"/>
            <a:ext cx="2900680" cy="1167765"/>
          </a:xfrm>
          <a:prstGeom prst="roundRect">
            <a:avLst>
              <a:gd name="adj" fmla="val 8124"/>
            </a:avLst>
          </a:prstGeom>
          <a:gradFill>
            <a:gsLst>
              <a:gs pos="0">
                <a:schemeClr val="accent5">
                  <a:lumMod val="20000"/>
                  <a:lumOff val="80000"/>
                  <a:alpha val="0"/>
                </a:schemeClr>
              </a:gs>
              <a:gs pos="100000">
                <a:schemeClr val="accent5">
                  <a:lumMod val="20000"/>
                  <a:lumOff val="80000"/>
                </a:schemeClr>
              </a:gs>
            </a:gsLst>
            <a:lin ang="16200000" scaled="0"/>
          </a:gradFill>
          <a:ln>
            <a:gradFill>
              <a:gsLst>
                <a:gs pos="0">
                  <a:schemeClr val="accent5">
                    <a:lumMod val="60000"/>
                    <a:lumOff val="40000"/>
                  </a:schemeClr>
                </a:gs>
                <a:gs pos="100000">
                  <a:schemeClr val="accent5">
                    <a:lumMod val="60000"/>
                    <a:lumOff val="40000"/>
                    <a:alpha val="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97" name="圆角矩形 96"/>
          <p:cNvSpPr/>
          <p:nvPr/>
        </p:nvSpPr>
        <p:spPr>
          <a:xfrm>
            <a:off x="9177655" y="1670050"/>
            <a:ext cx="1289050" cy="277495"/>
          </a:xfrm>
          <a:prstGeom prst="roundRect">
            <a:avLst>
              <a:gd name="adj" fmla="val 50000"/>
            </a:avLst>
          </a:prstGeom>
          <a:solidFill>
            <a:schemeClr val="bg1"/>
          </a:soli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accent5">
                    <a:lumMod val="60000"/>
                    <a:lumOff val="40000"/>
                  </a:schemeClr>
                </a:solidFill>
                <a:cs typeface="微软雅黑" panose="020B0503020204020204" charset="-122"/>
                <a:sym typeface="+mn-ea"/>
              </a:rPr>
              <a:t>智慧出行</a:t>
            </a:r>
            <a:r>
              <a:rPr lang="zh-CN" altLang="en-US" sz="1000">
                <a:solidFill>
                  <a:schemeClr val="accent5">
                    <a:lumMod val="60000"/>
                    <a:lumOff val="40000"/>
                  </a:schemeClr>
                </a:solidFill>
                <a:cs typeface="微软雅黑" panose="020B0503020204020204" charset="-122"/>
                <a:sym typeface="+mn-ea"/>
              </a:rPr>
              <a:t>方案</a:t>
            </a:r>
            <a:endParaRPr lang="zh-CN" altLang="en-US" sz="1000" b="1">
              <a:solidFill>
                <a:schemeClr val="accent5">
                  <a:lumMod val="60000"/>
                  <a:lumOff val="40000"/>
                </a:schemeClr>
              </a:solidFill>
              <a:cs typeface="微软雅黑" panose="020B0503020204020204" charset="-122"/>
              <a:sym typeface="+mn-ea"/>
            </a:endParaRPr>
          </a:p>
        </p:txBody>
      </p:sp>
      <p:sp>
        <p:nvSpPr>
          <p:cNvPr id="95" name="圆角矩形 94"/>
          <p:cNvSpPr/>
          <p:nvPr/>
        </p:nvSpPr>
        <p:spPr>
          <a:xfrm>
            <a:off x="8536940" y="3137535"/>
            <a:ext cx="2900680" cy="1167765"/>
          </a:xfrm>
          <a:prstGeom prst="roundRect">
            <a:avLst>
              <a:gd name="adj" fmla="val 8124"/>
            </a:avLst>
          </a:prstGeom>
          <a:gradFill>
            <a:gsLst>
              <a:gs pos="0">
                <a:schemeClr val="accent1">
                  <a:lumMod val="20000"/>
                  <a:lumOff val="80000"/>
                  <a:alpha val="0"/>
                </a:schemeClr>
              </a:gs>
              <a:gs pos="100000">
                <a:schemeClr val="accent1">
                  <a:lumMod val="20000"/>
                  <a:lumOff val="80000"/>
                </a:schemeClr>
              </a:gs>
            </a:gsLst>
            <a:lin ang="16200000" scaled="0"/>
          </a:gradFill>
          <a:ln>
            <a:gradFill>
              <a:gsLst>
                <a:gs pos="0">
                  <a:schemeClr val="accent1">
                    <a:lumMod val="60000"/>
                    <a:lumOff val="40000"/>
                  </a:schemeClr>
                </a:gs>
                <a:gs pos="100000">
                  <a:schemeClr val="accent1">
                    <a:lumMod val="60000"/>
                    <a:lumOff val="40000"/>
                    <a:alpha val="0"/>
                  </a:schemeClr>
                </a:gs>
              </a:gsLst>
              <a:lin ang="5400000" scaled="1"/>
            </a:gra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100" name="圆角矩形 99"/>
          <p:cNvSpPr/>
          <p:nvPr/>
        </p:nvSpPr>
        <p:spPr>
          <a:xfrm>
            <a:off x="9195435" y="3293110"/>
            <a:ext cx="1289050" cy="277495"/>
          </a:xfrm>
          <a:prstGeom prst="roundRect">
            <a:avLst>
              <a:gd name="adj" fmla="val 50000"/>
            </a:avLst>
          </a:prstGeom>
          <a:solidFill>
            <a:schemeClr val="bg1"/>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200" b="1">
                <a:solidFill>
                  <a:schemeClr val="accent1">
                    <a:lumMod val="60000"/>
                    <a:lumOff val="40000"/>
                  </a:schemeClr>
                </a:solidFill>
                <a:cs typeface="微软雅黑" panose="020B0503020204020204" charset="-122"/>
              </a:rPr>
              <a:t>增值衍生</a:t>
            </a:r>
            <a:r>
              <a:rPr lang="zh-CN" altLang="en-US" sz="1000">
                <a:solidFill>
                  <a:schemeClr val="accent1">
                    <a:lumMod val="60000"/>
                    <a:lumOff val="40000"/>
                  </a:schemeClr>
                </a:solidFill>
                <a:cs typeface="微软雅黑" panose="020B0503020204020204" charset="-122"/>
              </a:rPr>
              <a:t>业务</a:t>
            </a:r>
            <a:endParaRPr lang="zh-CN" altLang="en-US" sz="1000">
              <a:solidFill>
                <a:schemeClr val="accent1">
                  <a:lumMod val="60000"/>
                  <a:lumOff val="40000"/>
                </a:schemeClr>
              </a:solidFill>
              <a:cs typeface="微软雅黑" panose="020B0503020204020204" charset="-122"/>
            </a:endParaRPr>
          </a:p>
        </p:txBody>
      </p:sp>
      <p:sp>
        <p:nvSpPr>
          <p:cNvPr id="106" name="文本框 105"/>
          <p:cNvSpPr txBox="1"/>
          <p:nvPr/>
        </p:nvSpPr>
        <p:spPr>
          <a:xfrm>
            <a:off x="1104900" y="5038725"/>
            <a:ext cx="1191895" cy="337185"/>
          </a:xfrm>
          <a:prstGeom prst="rect">
            <a:avLst/>
          </a:prstGeom>
          <a:noFill/>
        </p:spPr>
        <p:txBody>
          <a:bodyPr wrap="square" rtlCol="0">
            <a:spAutoFit/>
          </a:bodyPr>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核心优势：</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07" name="文本框 106"/>
          <p:cNvSpPr txBox="1"/>
          <p:nvPr/>
        </p:nvSpPr>
        <p:spPr>
          <a:xfrm>
            <a:off x="1150620" y="5621655"/>
            <a:ext cx="1713230" cy="337185"/>
          </a:xfrm>
          <a:prstGeom prst="rect">
            <a:avLst/>
          </a:prstGeom>
          <a:noFill/>
        </p:spPr>
        <p:txBody>
          <a:bodyPr wrap="square" rtlCol="0">
            <a:spAutoFit/>
          </a:bodyPr>
          <a:p>
            <a:pPr algn="ct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主机厂战略合作</a:t>
            </a:r>
            <a:endParaRPr lang="zh-CN" altLang="en-US" sz="16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8" name="文本框 107"/>
          <p:cNvSpPr txBox="1"/>
          <p:nvPr/>
        </p:nvSpPr>
        <p:spPr>
          <a:xfrm>
            <a:off x="2955925" y="5621655"/>
            <a:ext cx="1715135" cy="337185"/>
          </a:xfrm>
          <a:prstGeom prst="rect">
            <a:avLst/>
          </a:prstGeom>
          <a:noFill/>
        </p:spPr>
        <p:txBody>
          <a:bodyPr wrap="square" rtlCol="0">
            <a:spAutoFit/>
          </a:bodyPr>
          <a:p>
            <a:pPr algn="ct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车规级安全认证</a:t>
            </a:r>
            <a:endParaRPr lang="zh-CN" altLang="en-US" sz="16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09" name="文本框 108"/>
          <p:cNvSpPr txBox="1"/>
          <p:nvPr/>
        </p:nvSpPr>
        <p:spPr>
          <a:xfrm>
            <a:off x="4671695" y="5621655"/>
            <a:ext cx="1677035" cy="337185"/>
          </a:xfrm>
          <a:prstGeom prst="rect">
            <a:avLst/>
          </a:prstGeom>
          <a:noFill/>
        </p:spPr>
        <p:txBody>
          <a:bodyPr wrap="square" rtlCol="0">
            <a:spAutoFit/>
          </a:bodyPr>
          <a:p>
            <a:pPr algn="ct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覆盖率</a:t>
            </a:r>
            <a:endParaRPr lang="zh-CN" altLang="en-US" sz="16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0" name="文本框 109"/>
          <p:cNvSpPr txBox="1"/>
          <p:nvPr/>
        </p:nvSpPr>
        <p:spPr>
          <a:xfrm>
            <a:off x="6343650" y="5621655"/>
            <a:ext cx="1713230" cy="337185"/>
          </a:xfrm>
          <a:prstGeom prst="rect">
            <a:avLst/>
          </a:prstGeom>
          <a:noFill/>
        </p:spPr>
        <p:txBody>
          <a:bodyPr wrap="square" rtlCol="0">
            <a:spAutoFit/>
          </a:bodyPr>
          <a:p>
            <a:pPr algn="ctr"/>
            <a:r>
              <a:rPr lang="en-US" altLang="zh-CN" sz="1600" b="1">
                <a:solidFill>
                  <a:schemeClr val="bg1"/>
                </a:solidFill>
                <a:latin typeface="微软雅黑" panose="020B0503020204020204" charset="-122"/>
                <a:ea typeface="微软雅黑" panose="020B0503020204020204" charset="-122"/>
                <a:cs typeface="微软雅黑" panose="020B0503020204020204" charset="-122"/>
                <a:sym typeface="+mn-ea"/>
              </a:rPr>
              <a:t>10</a:t>
            </a:r>
            <a:r>
              <a:rPr lang="zh-CN" altLang="en-US" sz="1600" b="1">
                <a:solidFill>
                  <a:schemeClr val="bg1"/>
                </a:solidFill>
                <a:latin typeface="微软雅黑" panose="020B0503020204020204" charset="-122"/>
                <a:ea typeface="微软雅黑" panose="020B0503020204020204" charset="-122"/>
                <a:cs typeface="微软雅黑" panose="020B0503020204020204" charset="-122"/>
                <a:sym typeface="+mn-ea"/>
              </a:rPr>
              <a:t>大核心领域</a:t>
            </a:r>
            <a:endParaRPr lang="en-US" altLang="zh-CN" sz="16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1" name="文本框 110"/>
          <p:cNvSpPr txBox="1"/>
          <p:nvPr/>
        </p:nvSpPr>
        <p:spPr>
          <a:xfrm>
            <a:off x="8132445" y="5621655"/>
            <a:ext cx="1687195" cy="337185"/>
          </a:xfrm>
          <a:prstGeom prst="rect">
            <a:avLst/>
          </a:prstGeom>
          <a:noFill/>
        </p:spPr>
        <p:txBody>
          <a:bodyPr wrap="square" rtlCol="0">
            <a:spAutoFit/>
          </a:bodyPr>
          <a:p>
            <a:pPr algn="ctr"/>
            <a:r>
              <a:rPr lang="en-US" sz="1600" b="1">
                <a:solidFill>
                  <a:schemeClr val="bg1"/>
                </a:solidFill>
                <a:latin typeface="微软雅黑" panose="020B0503020204020204" charset="-122"/>
                <a:ea typeface="微软雅黑" panose="020B0503020204020204" charset="-122"/>
                <a:cs typeface="微软雅黑" panose="020B0503020204020204" charset="-122"/>
              </a:rPr>
              <a:t>50+</a:t>
            </a:r>
            <a:r>
              <a:rPr lang="zh-CN" altLang="en-US" sz="1600" b="1">
                <a:solidFill>
                  <a:schemeClr val="bg1"/>
                </a:solidFill>
                <a:latin typeface="微软雅黑" panose="020B0503020204020204" charset="-122"/>
                <a:ea typeface="微软雅黑" panose="020B0503020204020204" charset="-122"/>
                <a:cs typeface="微软雅黑" panose="020B0503020204020204" charset="-122"/>
              </a:rPr>
              <a:t>创新场景</a:t>
            </a:r>
            <a:endParaRPr lang="zh-CN" altLang="en-US" sz="16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2" name="文本框 111"/>
          <p:cNvSpPr txBox="1"/>
          <p:nvPr/>
        </p:nvSpPr>
        <p:spPr>
          <a:xfrm>
            <a:off x="9805670" y="5621655"/>
            <a:ext cx="1713230" cy="337185"/>
          </a:xfrm>
          <a:prstGeom prst="rect">
            <a:avLst/>
          </a:prstGeom>
          <a:noFill/>
        </p:spPr>
        <p:txBody>
          <a:bodyPr wrap="square" rtlCol="0">
            <a:spAutoFit/>
          </a:bodyPr>
          <a:p>
            <a:pPr algn="ctr"/>
            <a:r>
              <a:rPr lang="en-US" sz="1600" b="1">
                <a:solidFill>
                  <a:schemeClr val="bg1"/>
                </a:solidFill>
                <a:latin typeface="微软雅黑" panose="020B0503020204020204" charset="-122"/>
                <a:ea typeface="微软雅黑" panose="020B0503020204020204" charset="-122"/>
                <a:cs typeface="微软雅黑" panose="020B0503020204020204" charset="-122"/>
              </a:rPr>
              <a:t>200+</a:t>
            </a:r>
            <a:endParaRPr lang="en-US" sz="1600" b="1">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3" name="文本框 112"/>
          <p:cNvSpPr txBox="1"/>
          <p:nvPr/>
        </p:nvSpPr>
        <p:spPr>
          <a:xfrm>
            <a:off x="1150620" y="5958840"/>
            <a:ext cx="1713230" cy="275590"/>
          </a:xfrm>
          <a:prstGeom prst="rect">
            <a:avLst/>
          </a:prstGeom>
          <a:noFill/>
        </p:spPr>
        <p:txBody>
          <a:bodyPr wrap="square" rtlCol="0">
            <a:spAutoFit/>
          </a:bodyPr>
          <a:p>
            <a:pPr algn="ctr"/>
            <a:r>
              <a:rPr lang="zh-CN" altLang="en-US" sz="1200">
                <a:solidFill>
                  <a:schemeClr val="bg1"/>
                </a:solidFill>
                <a:latin typeface="微软雅黑" panose="020B0503020204020204" charset="-122"/>
                <a:ea typeface="微软雅黑" panose="020B0503020204020204" charset="-122"/>
                <a:cs typeface="微软雅黑" panose="020B0503020204020204" charset="-122"/>
              </a:rPr>
              <a:t>与头部车企联合研发</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4" name="文本框 113"/>
          <p:cNvSpPr txBox="1"/>
          <p:nvPr/>
        </p:nvSpPr>
        <p:spPr>
          <a:xfrm>
            <a:off x="3029585" y="5958840"/>
            <a:ext cx="1567180" cy="275590"/>
          </a:xfrm>
          <a:prstGeom prst="rect">
            <a:avLst/>
          </a:prstGeom>
          <a:noFill/>
        </p:spPr>
        <p:txBody>
          <a:bodyPr wrap="square" rtlCol="0">
            <a:spAutoFit/>
          </a:bodyPr>
          <a:p>
            <a:pPr algn="ctr"/>
            <a:r>
              <a:rPr lang="en-US" altLang="zh-CN" sz="1200">
                <a:solidFill>
                  <a:schemeClr val="bg1"/>
                </a:solidFill>
                <a:latin typeface="微软雅黑" panose="020B0503020204020204" charset="-122"/>
                <a:ea typeface="微软雅黑" panose="020B0503020204020204" charset="-122"/>
                <a:cs typeface="微软雅黑" panose="020B0503020204020204" charset="-122"/>
                <a:sym typeface="+mn-ea"/>
              </a:rPr>
              <a:t>ISO</a:t>
            </a:r>
            <a:r>
              <a:rPr lang="zh-CN" altLang="en-US" sz="1200">
                <a:solidFill>
                  <a:schemeClr val="bg1"/>
                </a:solidFill>
                <a:latin typeface="微软雅黑" panose="020B0503020204020204" charset="-122"/>
                <a:ea typeface="微软雅黑" panose="020B0503020204020204" charset="-122"/>
                <a:cs typeface="微软雅黑" panose="020B0503020204020204" charset="-122"/>
                <a:sym typeface="+mn-ea"/>
              </a:rPr>
              <a:t>功能安全认证</a:t>
            </a:r>
            <a:endParaRPr lang="zh-CN" altLang="en-US" sz="12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15" name="文本框 114"/>
          <p:cNvSpPr txBox="1"/>
          <p:nvPr/>
        </p:nvSpPr>
        <p:spPr>
          <a:xfrm>
            <a:off x="4652010" y="5958840"/>
            <a:ext cx="1713230" cy="275590"/>
          </a:xfrm>
          <a:prstGeom prst="rect">
            <a:avLst/>
          </a:prstGeom>
          <a:noFill/>
        </p:spPr>
        <p:txBody>
          <a:bodyPr wrap="square" rtlCol="0">
            <a:spAutoFit/>
          </a:bodyPr>
          <a:p>
            <a:pPr algn="ctr"/>
            <a:r>
              <a:rPr lang="zh-CN" altLang="en-US" sz="1200">
                <a:solidFill>
                  <a:schemeClr val="bg1"/>
                </a:solidFill>
                <a:latin typeface="微软雅黑" panose="020B0503020204020204" charset="-122"/>
                <a:ea typeface="微软雅黑" panose="020B0503020204020204" charset="-122"/>
                <a:cs typeface="微软雅黑" panose="020B0503020204020204" charset="-122"/>
              </a:rPr>
              <a:t>覆盖生产</a:t>
            </a:r>
            <a:r>
              <a:rPr lang="en-US" altLang="zh-CN" sz="1200">
                <a:solidFill>
                  <a:schemeClr val="bg1"/>
                </a:solidFill>
                <a:latin typeface="微软雅黑" panose="020B0503020204020204" charset="-122"/>
                <a:ea typeface="微软雅黑" panose="020B0503020204020204" charset="-122"/>
                <a:cs typeface="微软雅黑" panose="020B0503020204020204" charset="-122"/>
              </a:rPr>
              <a:t>-</a:t>
            </a:r>
            <a:r>
              <a:rPr lang="zh-CN" altLang="en-US" sz="1200">
                <a:solidFill>
                  <a:schemeClr val="bg1"/>
                </a:solidFill>
                <a:latin typeface="微软雅黑" panose="020B0503020204020204" charset="-122"/>
                <a:ea typeface="微软雅黑" panose="020B0503020204020204" charset="-122"/>
                <a:cs typeface="微软雅黑" panose="020B0503020204020204" charset="-122"/>
              </a:rPr>
              <a:t>零售产业链</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6" name="文本框 115"/>
          <p:cNvSpPr txBox="1"/>
          <p:nvPr/>
        </p:nvSpPr>
        <p:spPr>
          <a:xfrm>
            <a:off x="6349365" y="5958840"/>
            <a:ext cx="1713230" cy="275590"/>
          </a:xfrm>
          <a:prstGeom prst="rect">
            <a:avLst/>
          </a:prstGeom>
          <a:noFill/>
        </p:spPr>
        <p:txBody>
          <a:bodyPr wrap="square" rtlCol="0">
            <a:spAutoFit/>
          </a:bodyPr>
          <a:p>
            <a:pPr algn="ctr"/>
            <a:r>
              <a:rPr lang="zh-CN" altLang="en-US" sz="1200">
                <a:solidFill>
                  <a:schemeClr val="bg1"/>
                </a:solidFill>
                <a:latin typeface="微软雅黑" panose="020B0503020204020204" charset="-122"/>
                <a:ea typeface="微软雅黑" panose="020B0503020204020204" charset="-122"/>
                <a:cs typeface="微软雅黑" panose="020B0503020204020204" charset="-122"/>
                <a:sym typeface="+mn-ea"/>
              </a:rPr>
              <a:t>智能驾驶</a:t>
            </a:r>
            <a:r>
              <a:rPr lang="en-US" altLang="zh-CN" sz="1200">
                <a:solidFill>
                  <a:schemeClr val="bg1"/>
                </a:solidFill>
                <a:latin typeface="微软雅黑" panose="020B0503020204020204" charset="-122"/>
                <a:ea typeface="微软雅黑" panose="020B0503020204020204" charset="-122"/>
                <a:cs typeface="微软雅黑" panose="020B0503020204020204" charset="-122"/>
                <a:sym typeface="+mn-ea"/>
              </a:rPr>
              <a:t>/</a:t>
            </a:r>
            <a:r>
              <a:rPr lang="zh-CN" altLang="en-US" sz="1200">
                <a:solidFill>
                  <a:schemeClr val="bg1"/>
                </a:solidFill>
                <a:latin typeface="微软雅黑" panose="020B0503020204020204" charset="-122"/>
                <a:ea typeface="微软雅黑" panose="020B0503020204020204" charset="-122"/>
                <a:cs typeface="微软雅黑" panose="020B0503020204020204" charset="-122"/>
                <a:sym typeface="+mn-ea"/>
              </a:rPr>
              <a:t>电动化等</a:t>
            </a:r>
            <a:endParaRPr lang="zh-CN" altLang="en-US" sz="12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17" name="文本框 116"/>
          <p:cNvSpPr txBox="1"/>
          <p:nvPr/>
        </p:nvSpPr>
        <p:spPr>
          <a:xfrm>
            <a:off x="8089265" y="5958840"/>
            <a:ext cx="1803400" cy="275590"/>
          </a:xfrm>
          <a:prstGeom prst="rect">
            <a:avLst/>
          </a:prstGeom>
          <a:noFill/>
        </p:spPr>
        <p:txBody>
          <a:bodyPr wrap="square" rtlCol="0">
            <a:spAutoFit/>
          </a:bodyPr>
          <a:p>
            <a:pPr algn="ctr"/>
            <a:r>
              <a:rPr lang="en-US" altLang="zh-CN" sz="1200">
                <a:solidFill>
                  <a:schemeClr val="bg1"/>
                </a:solidFill>
                <a:latin typeface="微软雅黑" panose="020B0503020204020204" charset="-122"/>
                <a:ea typeface="微软雅黑" panose="020B0503020204020204" charset="-122"/>
                <a:cs typeface="微软雅黑" panose="020B0503020204020204" charset="-122"/>
                <a:sym typeface="+mn-ea"/>
              </a:rPr>
              <a:t>AR</a:t>
            </a:r>
            <a:r>
              <a:rPr lang="zh-CN" altLang="en-US" sz="1200">
                <a:solidFill>
                  <a:schemeClr val="bg1"/>
                </a:solidFill>
                <a:latin typeface="微软雅黑" panose="020B0503020204020204" charset="-122"/>
                <a:ea typeface="微软雅黑" panose="020B0503020204020204" charset="-122"/>
                <a:cs typeface="微软雅黑" panose="020B0503020204020204" charset="-122"/>
                <a:sym typeface="+mn-ea"/>
              </a:rPr>
              <a:t>维修指导等场景方案</a:t>
            </a:r>
            <a:endParaRPr lang="zh-CN" altLang="en-US" sz="120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18" name="文本框 117"/>
          <p:cNvSpPr txBox="1"/>
          <p:nvPr/>
        </p:nvSpPr>
        <p:spPr>
          <a:xfrm>
            <a:off x="9815195" y="5958840"/>
            <a:ext cx="1713230" cy="275590"/>
          </a:xfrm>
          <a:prstGeom prst="rect">
            <a:avLst/>
          </a:prstGeom>
          <a:noFill/>
        </p:spPr>
        <p:txBody>
          <a:bodyPr wrap="square" rtlCol="0">
            <a:spAutoFit/>
          </a:bodyPr>
          <a:p>
            <a:pPr algn="ctr"/>
            <a:r>
              <a:rPr lang="zh-CN" altLang="en-US" sz="1200">
                <a:solidFill>
                  <a:schemeClr val="bg1"/>
                </a:solidFill>
                <a:latin typeface="微软雅黑" panose="020B0503020204020204" charset="-122"/>
                <a:ea typeface="微软雅黑" panose="020B0503020204020204" charset="-122"/>
                <a:cs typeface="微软雅黑" panose="020B0503020204020204" charset="-122"/>
              </a:rPr>
              <a:t>整合产业联盟伙伴</a:t>
            </a:r>
            <a:endParaRPr lang="zh-CN" altLang="en-US" sz="12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19" name="文本框 118"/>
          <p:cNvSpPr txBox="1"/>
          <p:nvPr/>
        </p:nvSpPr>
        <p:spPr>
          <a:xfrm>
            <a:off x="1082040" y="3755390"/>
            <a:ext cx="2853690" cy="398780"/>
          </a:xfrm>
          <a:prstGeom prst="rect">
            <a:avLst/>
          </a:prstGeom>
          <a:noFill/>
        </p:spPr>
        <p:txBody>
          <a:bodyPr wrap="square" rtlCol="0">
            <a:spAutoFit/>
          </a:bodyPr>
          <a:p>
            <a:pPr marL="171450" indent="-171450">
              <a:buFont typeface="Wingdings" panose="05000000000000000000" charset="0"/>
              <a:buChar char="ü"/>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车主生活圈：</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整合充电、保险、维保等消费场景；</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ü"/>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数据价值转化：</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驾驶行为分析驱动的精准服务推荐。</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0" name="文本框 119"/>
          <p:cNvSpPr txBox="1"/>
          <p:nvPr/>
        </p:nvSpPr>
        <p:spPr>
          <a:xfrm>
            <a:off x="8623300" y="2094865"/>
            <a:ext cx="2853690" cy="398780"/>
          </a:xfrm>
          <a:prstGeom prst="rect">
            <a:avLst/>
          </a:prstGeom>
          <a:noFill/>
        </p:spPr>
        <p:txBody>
          <a:bodyPr wrap="square" rtlCol="0">
            <a:spAutoFit/>
          </a:bodyPr>
          <a:p>
            <a:pPr marL="171450" indent="-171450">
              <a:buFont typeface="Wingdings" panose="05000000000000000000" charset="0"/>
              <a:buChar char="ü"/>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行业定制平台：</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车厂数字展厅、</a:t>
            </a:r>
            <a:r>
              <a:rPr lang="en-US" altLang="zh-CN" sz="800">
                <a:solidFill>
                  <a:schemeClr val="tx2"/>
                </a:solidFill>
                <a:latin typeface="微软雅黑" panose="020B0503020204020204" charset="-122"/>
                <a:ea typeface="微软雅黑" panose="020B0503020204020204" charset="-122"/>
                <a:cs typeface="微软雅黑" panose="020B0503020204020204" charset="-122"/>
              </a:rPr>
              <a:t>4S</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店智能管理系统；</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ü"/>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新基建赋能：</a:t>
            </a:r>
            <a:r>
              <a:rPr lang="en-US" altLang="zh-CN" sz="800">
                <a:solidFill>
                  <a:schemeClr val="tx2"/>
                </a:solidFill>
                <a:latin typeface="微软雅黑" panose="020B0503020204020204" charset="-122"/>
                <a:ea typeface="微软雅黑" panose="020B0503020204020204" charset="-122"/>
                <a:cs typeface="微软雅黑" panose="020B0503020204020204" charset="-122"/>
              </a:rPr>
              <a:t>V2X</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车路协同系统、智慧停车场集成。</a:t>
            </a:r>
            <a:endParaRPr lang="zh-CN" altLang="en-US"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1" name="文本框 120"/>
          <p:cNvSpPr txBox="1"/>
          <p:nvPr/>
        </p:nvSpPr>
        <p:spPr>
          <a:xfrm>
            <a:off x="8623300" y="3782695"/>
            <a:ext cx="2853690" cy="398780"/>
          </a:xfrm>
          <a:prstGeom prst="rect">
            <a:avLst/>
          </a:prstGeom>
          <a:noFill/>
        </p:spPr>
        <p:txBody>
          <a:bodyPr wrap="square" rtlCol="0">
            <a:spAutoFit/>
          </a:bodyPr>
          <a:p>
            <a:pPr marL="171450" indent="-171450">
              <a:buFont typeface="Wingdings" panose="05000000000000000000" charset="0"/>
              <a:buChar char="ü"/>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移动服务网络：</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一键上门洗车、充电车救援；</a:t>
            </a:r>
            <a:endParaRPr lang="zh-CN" altLang="en-US" sz="1000">
              <a:solidFill>
                <a:schemeClr val="tx2"/>
              </a:solidFill>
              <a:latin typeface="微软雅黑" panose="020B0503020204020204" charset="-122"/>
              <a:ea typeface="微软雅黑" panose="020B0503020204020204" charset="-122"/>
              <a:cs typeface="微软雅黑" panose="020B0503020204020204" charset="-122"/>
            </a:endParaRPr>
          </a:p>
          <a:p>
            <a:pPr marL="171450" indent="-171450">
              <a:buFont typeface="Wingdings" panose="05000000000000000000" charset="0"/>
              <a:buChar char="ü"/>
            </a:pPr>
            <a:r>
              <a:rPr lang="zh-CN" altLang="en-US" sz="1000" b="1">
                <a:solidFill>
                  <a:schemeClr val="tx2"/>
                </a:solidFill>
                <a:latin typeface="微软雅黑" panose="020B0503020204020204" charset="-122"/>
                <a:ea typeface="微软雅黑" panose="020B0503020204020204" charset="-122"/>
                <a:cs typeface="微软雅黑" panose="020B0503020204020204" charset="-122"/>
              </a:rPr>
              <a:t>汽车金融科技：</a:t>
            </a:r>
            <a:r>
              <a:rPr lang="zh-CN" altLang="en-US" sz="800">
                <a:solidFill>
                  <a:schemeClr val="tx2"/>
                </a:solidFill>
                <a:latin typeface="微软雅黑" panose="020B0503020204020204" charset="-122"/>
                <a:ea typeface="微软雅黑" panose="020B0503020204020204" charset="-122"/>
                <a:cs typeface="微软雅黑" panose="020B0503020204020204" charset="-122"/>
              </a:rPr>
              <a:t>融资租赁风控模型、供应链金融</a:t>
            </a:r>
            <a:r>
              <a:rPr lang="en-US" altLang="zh-CN" sz="800">
                <a:solidFill>
                  <a:schemeClr val="tx2"/>
                </a:solidFill>
                <a:latin typeface="微软雅黑" panose="020B0503020204020204" charset="-122"/>
                <a:ea typeface="微软雅黑" panose="020B0503020204020204" charset="-122"/>
                <a:cs typeface="微软雅黑" panose="020B0503020204020204" charset="-122"/>
              </a:rPr>
              <a:t>.</a:t>
            </a:r>
            <a:endParaRPr lang="en-US" altLang="zh-CN" sz="80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125" name="组合 124"/>
          <p:cNvGrpSpPr/>
          <p:nvPr/>
        </p:nvGrpSpPr>
        <p:grpSpPr>
          <a:xfrm rot="5400000">
            <a:off x="2766695" y="5095240"/>
            <a:ext cx="481965" cy="382270"/>
            <a:chOff x="6647" y="8054"/>
            <a:chExt cx="759" cy="602"/>
          </a:xfrm>
        </p:grpSpPr>
        <p:sp>
          <p:nvSpPr>
            <p:cNvPr id="123" name="菱形 122"/>
            <p:cNvSpPr/>
            <p:nvPr/>
          </p:nvSpPr>
          <p:spPr>
            <a:xfrm rot="10800000" flipH="1" flipV="1">
              <a:off x="6647" y="8054"/>
              <a:ext cx="567" cy="603"/>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24" name="菱形 123"/>
            <p:cNvSpPr/>
            <p:nvPr/>
          </p:nvSpPr>
          <p:spPr>
            <a:xfrm rot="10800000" flipH="1" flipV="1">
              <a:off x="6840" y="8054"/>
              <a:ext cx="567" cy="603"/>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29" name="组合 128"/>
          <p:cNvGrpSpPr/>
          <p:nvPr/>
        </p:nvGrpSpPr>
        <p:grpSpPr>
          <a:xfrm rot="5400000">
            <a:off x="4219575" y="5095240"/>
            <a:ext cx="481965" cy="382270"/>
            <a:chOff x="6647" y="8054"/>
            <a:chExt cx="759" cy="602"/>
          </a:xfrm>
        </p:grpSpPr>
        <p:sp>
          <p:nvSpPr>
            <p:cNvPr id="130" name="菱形 129"/>
            <p:cNvSpPr/>
            <p:nvPr/>
          </p:nvSpPr>
          <p:spPr>
            <a:xfrm rot="10800000" flipH="1" flipV="1">
              <a:off x="6647" y="8054"/>
              <a:ext cx="567" cy="603"/>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31" name="菱形 130"/>
            <p:cNvSpPr/>
            <p:nvPr/>
          </p:nvSpPr>
          <p:spPr>
            <a:xfrm rot="10800000" flipH="1" flipV="1">
              <a:off x="6840" y="8054"/>
              <a:ext cx="567" cy="603"/>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32" name="组合 131"/>
          <p:cNvGrpSpPr/>
          <p:nvPr/>
        </p:nvGrpSpPr>
        <p:grpSpPr>
          <a:xfrm rot="5400000">
            <a:off x="7958455" y="5062855"/>
            <a:ext cx="481965" cy="382270"/>
            <a:chOff x="6647" y="8054"/>
            <a:chExt cx="759" cy="602"/>
          </a:xfrm>
        </p:grpSpPr>
        <p:sp>
          <p:nvSpPr>
            <p:cNvPr id="133" name="菱形 132"/>
            <p:cNvSpPr/>
            <p:nvPr/>
          </p:nvSpPr>
          <p:spPr>
            <a:xfrm rot="10800000" flipH="1" flipV="1">
              <a:off x="6647" y="8054"/>
              <a:ext cx="567" cy="603"/>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34" name="菱形 133"/>
            <p:cNvSpPr/>
            <p:nvPr/>
          </p:nvSpPr>
          <p:spPr>
            <a:xfrm rot="10800000" flipH="1" flipV="1">
              <a:off x="6840" y="8054"/>
              <a:ext cx="567" cy="603"/>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35" name="组合 134"/>
          <p:cNvGrpSpPr/>
          <p:nvPr/>
        </p:nvGrpSpPr>
        <p:grpSpPr>
          <a:xfrm rot="5400000">
            <a:off x="9411335" y="5062855"/>
            <a:ext cx="481965" cy="382270"/>
            <a:chOff x="6647" y="8054"/>
            <a:chExt cx="759" cy="602"/>
          </a:xfrm>
        </p:grpSpPr>
        <p:sp>
          <p:nvSpPr>
            <p:cNvPr id="136" name="菱形 135"/>
            <p:cNvSpPr/>
            <p:nvPr/>
          </p:nvSpPr>
          <p:spPr>
            <a:xfrm rot="10800000" flipH="1" flipV="1">
              <a:off x="6647" y="8054"/>
              <a:ext cx="567" cy="603"/>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37" name="菱形 136"/>
            <p:cNvSpPr/>
            <p:nvPr/>
          </p:nvSpPr>
          <p:spPr>
            <a:xfrm rot="10800000" flipH="1" flipV="1">
              <a:off x="6840" y="8054"/>
              <a:ext cx="567" cy="603"/>
            </a:xfrm>
            <a:prstGeom prst="diamond">
              <a:avLst/>
            </a:prstGeom>
            <a:gradFill flip="none" rotWithShape="1">
              <a:gsLst>
                <a:gs pos="0">
                  <a:schemeClr val="accent5"/>
                </a:gs>
                <a:gs pos="50000">
                  <a:schemeClr val="accent5">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pic>
        <p:nvPicPr>
          <p:cNvPr id="139" name="图片 138" descr="车联网 (1)"/>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304925" y="1677670"/>
            <a:ext cx="279400" cy="279400"/>
          </a:xfrm>
          <a:prstGeom prst="rect">
            <a:avLst/>
          </a:prstGeom>
        </p:spPr>
      </p:pic>
      <p:pic>
        <p:nvPicPr>
          <p:cNvPr id="140" name="图片 139" descr="kj_cloudServices"/>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773795" y="1670050"/>
            <a:ext cx="281940" cy="281940"/>
          </a:xfrm>
          <a:prstGeom prst="rect">
            <a:avLst/>
          </a:prstGeom>
        </p:spPr>
      </p:pic>
      <p:pic>
        <p:nvPicPr>
          <p:cNvPr id="141" name="图片 140" descr="客户运营"/>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243330" y="3294380"/>
            <a:ext cx="403225" cy="403225"/>
          </a:xfrm>
          <a:prstGeom prst="rect">
            <a:avLst/>
          </a:prstGeom>
        </p:spPr>
      </p:pic>
      <p:pic>
        <p:nvPicPr>
          <p:cNvPr id="142" name="图片 141" descr="增值服务"/>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764905" y="3266440"/>
            <a:ext cx="308610" cy="308610"/>
          </a:xfrm>
          <a:prstGeom prst="rect">
            <a:avLst/>
          </a:prstGeom>
        </p:spPr>
      </p:pic>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6" name="图片 5"/>
            <p:cNvPicPr>
              <a:picLocks noChangeAspect="1"/>
            </p:cNvPicPr>
            <p:nvPr userDrawn="1"/>
          </p:nvPicPr>
          <p:blipFill>
            <a:blip r:embed="rId17"/>
            <a:srcRect l="17002" t="-1765" r="56499" b="-1176"/>
            <a:stretch>
              <a:fillRect/>
            </a:stretch>
          </p:blipFill>
          <p:spPr>
            <a:xfrm>
              <a:off x="13761" y="549"/>
              <a:ext cx="1582" cy="525"/>
            </a:xfrm>
            <a:prstGeom prst="rect">
              <a:avLst/>
            </a:prstGeom>
          </p:spPr>
        </p:pic>
        <p:sp>
          <p:nvSpPr>
            <p:cNvPr id="7" name="文本框 6"/>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 name="矩形: 圆角 121"/>
          <p:cNvSpPr/>
          <p:nvPr/>
        </p:nvSpPr>
        <p:spPr>
          <a:xfrm>
            <a:off x="2635885" y="1495425"/>
            <a:ext cx="7016115" cy="2686685"/>
          </a:xfrm>
          <a:prstGeom prst="roundRect">
            <a:avLst>
              <a:gd name="adj" fmla="val 50000"/>
            </a:avLst>
          </a:prstGeom>
          <a:solidFill>
            <a:schemeClr val="bg1"/>
          </a:solidFill>
          <a:ln w="12700">
            <a:solidFill>
              <a:schemeClr val="tx2"/>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05" name="组合 104"/>
          <p:cNvGrpSpPr/>
          <p:nvPr/>
        </p:nvGrpSpPr>
        <p:grpSpPr>
          <a:xfrm rot="0">
            <a:off x="2863434" y="1681480"/>
            <a:ext cx="2289372" cy="2286635"/>
            <a:chOff x="10043699" y="1470929"/>
            <a:chExt cx="4562633" cy="4557715"/>
          </a:xfrm>
          <a:solidFill>
            <a:schemeClr val="bg1"/>
          </a:solidFill>
        </p:grpSpPr>
        <p:sp>
          <p:nvSpPr>
            <p:cNvPr id="106" name="任意多边形: 形状 105"/>
            <p:cNvSpPr/>
            <p:nvPr/>
          </p:nvSpPr>
          <p:spPr>
            <a:xfrm>
              <a:off x="10043699" y="1470929"/>
              <a:ext cx="4551680" cy="4551680"/>
            </a:xfrm>
            <a:custGeom>
              <a:avLst/>
              <a:gdLst>
                <a:gd name="connsiteX0" fmla="*/ 2275840 w 4551680"/>
                <a:gd name="connsiteY0" fmla="*/ 0 h 4551680"/>
                <a:gd name="connsiteX1" fmla="*/ 4440292 w 4551680"/>
                <a:gd name="connsiteY1" fmla="*/ 1572567 h 4551680"/>
                <a:gd name="connsiteX2" fmla="*/ 2275840 w 4551680"/>
                <a:gd name="connsiteY2" fmla="*/ 2275840 h 4551680"/>
                <a:gd name="connsiteX3" fmla="*/ 2275840 w 4551680"/>
                <a:gd name="connsiteY3" fmla="*/ 0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2275840" y="0"/>
                  </a:moveTo>
                  <a:cubicBezTo>
                    <a:pt x="3261794" y="0"/>
                    <a:pt x="4135616" y="634869"/>
                    <a:pt x="4440292" y="1572567"/>
                  </a:cubicBezTo>
                  <a:lnTo>
                    <a:pt x="2275840" y="2275840"/>
                  </a:lnTo>
                  <a:lnTo>
                    <a:pt x="2275840" y="0"/>
                  </a:lnTo>
                  <a:close/>
                </a:path>
              </a:pathLst>
            </a:custGeom>
            <a:solidFill>
              <a:schemeClr val="accent1">
                <a:lumMod val="20000"/>
                <a:lumOff val="80000"/>
                <a:alpha val="20000"/>
              </a:schemeClr>
            </a:solidFill>
            <a:ln>
              <a:solidFill>
                <a:schemeClr val="accent1">
                  <a:lumMod val="20000"/>
                  <a:lumOff val="80000"/>
                  <a:alpha val="7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Overflow="overflow" horzOverflow="overflow" vert="horz" wrap="square" lIns="717127" tIns="746929" rIns="2396913" bIns="2854791" numCol="1" spcCol="1270" rtlCol="0" fromWordArt="0" anchor="ctr" anchorCtr="0" forceAA="0" compatLnSpc="1">
              <a:noAutofit/>
            </a:bodyPr>
            <a:lstStyle/>
            <a:p>
              <a:pPr lvl="0" algn="ctr" defTabSz="1866900">
                <a:lnSpc>
                  <a:spcPct val="90000"/>
                </a:lnSpc>
                <a:spcAft>
                  <a:spcPct val="35000"/>
                </a:spcAft>
                <a:buClrTx/>
                <a:buSzTx/>
                <a:buFontTx/>
                <a:defRPr/>
              </a:pPr>
              <a:endParaRPr lang="zh-CN" altLang="en-US" sz="42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8" name="任意多边形: 形状 107"/>
            <p:cNvSpPr/>
            <p:nvPr/>
          </p:nvSpPr>
          <p:spPr>
            <a:xfrm>
              <a:off x="10054652" y="1476964"/>
              <a:ext cx="4551680" cy="4551680"/>
            </a:xfrm>
            <a:custGeom>
              <a:avLst/>
              <a:gdLst>
                <a:gd name="connsiteX0" fmla="*/ 4440292 w 4551680"/>
                <a:gd name="connsiteY0" fmla="*/ 1572567 h 4551680"/>
                <a:gd name="connsiteX1" fmla="*/ 3613545 w 4551680"/>
                <a:gd name="connsiteY1" fmla="*/ 4117033 h 4551680"/>
                <a:gd name="connsiteX2" fmla="*/ 2275840 w 4551680"/>
                <a:gd name="connsiteY2" fmla="*/ 2275840 h 4551680"/>
                <a:gd name="connsiteX3" fmla="*/ 4440292 w 4551680"/>
                <a:gd name="connsiteY3" fmla="*/ 1572567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4440292" y="1572567"/>
                  </a:moveTo>
                  <a:cubicBezTo>
                    <a:pt x="4744968" y="2510265"/>
                    <a:pt x="4411198" y="3537504"/>
                    <a:pt x="3613545" y="4117033"/>
                  </a:cubicBezTo>
                  <a:lnTo>
                    <a:pt x="2275840" y="2275840"/>
                  </a:lnTo>
                  <a:lnTo>
                    <a:pt x="4440292" y="1572567"/>
                  </a:lnTo>
                  <a:close/>
                </a:path>
              </a:pathLst>
            </a:custGeom>
            <a:solidFill>
              <a:schemeClr val="accent1">
                <a:lumMod val="20000"/>
                <a:lumOff val="80000"/>
                <a:alpha val="20000"/>
              </a:schemeClr>
            </a:solidFill>
            <a:ln>
              <a:solidFill>
                <a:schemeClr val="accent1">
                  <a:lumMod val="20000"/>
                  <a:lumOff val="80000"/>
                  <a:alpha val="7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Overflow="overflow" horzOverflow="overflow" vert="horz" wrap="square" lIns="717127" tIns="746929" rIns="2396913" bIns="2854791" numCol="1" spcCol="1270" rtlCol="0" fromWordArt="0" anchor="ctr" anchorCtr="0" forceAA="0" compatLnSpc="1">
              <a:noAutofit/>
            </a:bodyPr>
            <a:lstStyle/>
            <a:p>
              <a:pPr lvl="0" algn="ctr" defTabSz="1866900">
                <a:lnSpc>
                  <a:spcPct val="90000"/>
                </a:lnSpc>
                <a:spcAft>
                  <a:spcPct val="35000"/>
                </a:spcAft>
                <a:buClrTx/>
                <a:buSzTx/>
                <a:buFontTx/>
                <a:defRPr/>
              </a:pPr>
              <a:endParaRPr lang="zh-CN" altLang="en-US" sz="42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9" name="任意多边形: 形状 108"/>
            <p:cNvSpPr/>
            <p:nvPr/>
          </p:nvSpPr>
          <p:spPr>
            <a:xfrm>
              <a:off x="10054652" y="1476964"/>
              <a:ext cx="4551680" cy="4551680"/>
            </a:xfrm>
            <a:custGeom>
              <a:avLst/>
              <a:gdLst>
                <a:gd name="connsiteX0" fmla="*/ 3613545 w 4551680"/>
                <a:gd name="connsiteY0" fmla="*/ 4117033 h 4551680"/>
                <a:gd name="connsiteX1" fmla="*/ 938135 w 4551680"/>
                <a:gd name="connsiteY1" fmla="*/ 4117033 h 4551680"/>
                <a:gd name="connsiteX2" fmla="*/ 2275840 w 4551680"/>
                <a:gd name="connsiteY2" fmla="*/ 2275840 h 4551680"/>
                <a:gd name="connsiteX3" fmla="*/ 3613545 w 4551680"/>
                <a:gd name="connsiteY3" fmla="*/ 4117033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3613545" y="4117033"/>
                  </a:moveTo>
                  <a:cubicBezTo>
                    <a:pt x="2815892" y="4696562"/>
                    <a:pt x="1735788" y="4696562"/>
                    <a:pt x="938135" y="4117033"/>
                  </a:cubicBezTo>
                  <a:lnTo>
                    <a:pt x="2275840" y="2275840"/>
                  </a:lnTo>
                  <a:lnTo>
                    <a:pt x="3613545" y="4117033"/>
                  </a:lnTo>
                  <a:close/>
                </a:path>
              </a:pathLst>
            </a:custGeom>
            <a:solidFill>
              <a:schemeClr val="accent1">
                <a:lumMod val="20000"/>
                <a:lumOff val="80000"/>
                <a:alpha val="20000"/>
              </a:schemeClr>
            </a:solidFill>
            <a:ln>
              <a:solidFill>
                <a:schemeClr val="accent1">
                  <a:lumMod val="20000"/>
                  <a:lumOff val="80000"/>
                  <a:alpha val="7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Overflow="overflow" horzOverflow="overflow" vert="horz" wrap="square" lIns="717127" tIns="746929" rIns="2396913" bIns="2854791" numCol="1" spcCol="1270" rtlCol="0" fromWordArt="0" anchor="ctr" anchorCtr="0" forceAA="0" compatLnSpc="1">
              <a:noAutofit/>
            </a:bodyPr>
            <a:lstStyle/>
            <a:p>
              <a:pPr lvl="0" algn="ctr" defTabSz="1866900">
                <a:lnSpc>
                  <a:spcPct val="90000"/>
                </a:lnSpc>
                <a:spcAft>
                  <a:spcPct val="35000"/>
                </a:spcAft>
                <a:buClrTx/>
                <a:buSzTx/>
                <a:buFontTx/>
                <a:defRPr/>
              </a:pPr>
              <a:endParaRPr lang="zh-CN" altLang="en-US" sz="42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0" name="任意多边形: 形状 109"/>
            <p:cNvSpPr/>
            <p:nvPr/>
          </p:nvSpPr>
          <p:spPr>
            <a:xfrm>
              <a:off x="10054652" y="1476964"/>
              <a:ext cx="4551680" cy="4551680"/>
            </a:xfrm>
            <a:custGeom>
              <a:avLst/>
              <a:gdLst>
                <a:gd name="connsiteX0" fmla="*/ 938135 w 4551680"/>
                <a:gd name="connsiteY0" fmla="*/ 4117033 h 4551680"/>
                <a:gd name="connsiteX1" fmla="*/ 111388 w 4551680"/>
                <a:gd name="connsiteY1" fmla="*/ 1572567 h 4551680"/>
                <a:gd name="connsiteX2" fmla="*/ 2275840 w 4551680"/>
                <a:gd name="connsiteY2" fmla="*/ 2275840 h 4551680"/>
                <a:gd name="connsiteX3" fmla="*/ 938135 w 4551680"/>
                <a:gd name="connsiteY3" fmla="*/ 4117033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938135" y="4117033"/>
                  </a:moveTo>
                  <a:cubicBezTo>
                    <a:pt x="140482" y="3537504"/>
                    <a:pt x="-193289" y="2510264"/>
                    <a:pt x="111388" y="1572567"/>
                  </a:cubicBezTo>
                  <a:lnTo>
                    <a:pt x="2275840" y="2275840"/>
                  </a:lnTo>
                  <a:lnTo>
                    <a:pt x="938135" y="4117033"/>
                  </a:lnTo>
                  <a:close/>
                </a:path>
              </a:pathLst>
            </a:custGeom>
            <a:solidFill>
              <a:schemeClr val="accent1">
                <a:lumMod val="20000"/>
                <a:lumOff val="80000"/>
                <a:alpha val="20000"/>
              </a:schemeClr>
            </a:solidFill>
            <a:ln>
              <a:solidFill>
                <a:schemeClr val="accent1">
                  <a:lumMod val="20000"/>
                  <a:lumOff val="80000"/>
                  <a:alpha val="7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Overflow="overflow" horzOverflow="overflow" vert="horz" wrap="square" lIns="717127" tIns="746929" rIns="2396913" bIns="2854791" numCol="1" spcCol="1270" rtlCol="0" fromWordArt="0" anchor="ctr" anchorCtr="0" forceAA="0" compatLnSpc="1">
              <a:noAutofit/>
            </a:bodyPr>
            <a:lstStyle/>
            <a:p>
              <a:pPr lvl="0" algn="ctr" defTabSz="1866900">
                <a:lnSpc>
                  <a:spcPct val="90000"/>
                </a:lnSpc>
                <a:spcAft>
                  <a:spcPct val="35000"/>
                </a:spcAft>
                <a:buClrTx/>
                <a:buSzTx/>
                <a:buFontTx/>
                <a:defRPr/>
              </a:pPr>
              <a:endParaRPr lang="zh-CN" altLang="en-US" sz="42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1" name="任意多边形: 形状 110"/>
            <p:cNvSpPr/>
            <p:nvPr/>
          </p:nvSpPr>
          <p:spPr>
            <a:xfrm>
              <a:off x="10054652" y="1476964"/>
              <a:ext cx="4551680" cy="4551680"/>
            </a:xfrm>
            <a:custGeom>
              <a:avLst/>
              <a:gdLst>
                <a:gd name="connsiteX0" fmla="*/ 111388 w 4551680"/>
                <a:gd name="connsiteY0" fmla="*/ 1572567 h 4551680"/>
                <a:gd name="connsiteX1" fmla="*/ 2275840 w 4551680"/>
                <a:gd name="connsiteY1" fmla="*/ 0 h 4551680"/>
                <a:gd name="connsiteX2" fmla="*/ 2275840 w 4551680"/>
                <a:gd name="connsiteY2" fmla="*/ 2275840 h 4551680"/>
                <a:gd name="connsiteX3" fmla="*/ 111388 w 4551680"/>
                <a:gd name="connsiteY3" fmla="*/ 1572567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111388" y="1572567"/>
                  </a:moveTo>
                  <a:cubicBezTo>
                    <a:pt x="416064" y="634869"/>
                    <a:pt x="1289887" y="0"/>
                    <a:pt x="2275840" y="0"/>
                  </a:cubicBezTo>
                  <a:lnTo>
                    <a:pt x="2275840" y="2275840"/>
                  </a:lnTo>
                  <a:lnTo>
                    <a:pt x="111388" y="1572567"/>
                  </a:lnTo>
                  <a:close/>
                </a:path>
              </a:pathLst>
            </a:custGeom>
            <a:solidFill>
              <a:schemeClr val="accent1">
                <a:lumMod val="20000"/>
                <a:lumOff val="80000"/>
                <a:alpha val="20000"/>
              </a:schemeClr>
            </a:solidFill>
            <a:ln>
              <a:solidFill>
                <a:schemeClr val="accent1">
                  <a:lumMod val="20000"/>
                  <a:lumOff val="80000"/>
                  <a:alpha val="7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17127" tIns="746929" rIns="2396913" bIns="2854791" numCol="1" spcCol="1270" anchor="ctr" anchorCtr="0">
              <a:noAutofit/>
            </a:bodyPr>
            <a:lstStyle/>
            <a:p>
              <a:pPr marL="0" marR="0" lvl="0" indent="0" algn="ctr" defTabSz="1866900" rtl="0" eaLnBrk="1" fontAlgn="auto" latinLnBrk="0" hangingPunct="1">
                <a:lnSpc>
                  <a:spcPct val="90000"/>
                </a:lnSpc>
                <a:spcBef>
                  <a:spcPct val="0"/>
                </a:spcBef>
                <a:spcAft>
                  <a:spcPct val="35000"/>
                </a:spcAft>
                <a:buClrTx/>
                <a:buSzTx/>
                <a:buFontTx/>
                <a:buNone/>
                <a:defRPr/>
              </a:pPr>
              <a:endParaRPr kumimoji="0" lang="zh-CN" altLang="en-US" sz="42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5" name="标题 2"/>
          <p:cNvSpPr>
            <a:spLocks noGrp="1"/>
          </p:cNvSpPr>
          <p:nvPr/>
        </p:nvSpPr>
        <p:spPr>
          <a:xfrm>
            <a:off x="1105535" y="347980"/>
            <a:ext cx="870712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sz="2500" dirty="0">
                <a:solidFill>
                  <a:schemeClr val="tx2"/>
                </a:solidFill>
                <a:effectLst/>
                <a:latin typeface="微软雅黑" panose="020B0503020204020204" charset="-122"/>
                <a:ea typeface="微软雅黑" panose="020B0503020204020204" charset="-122"/>
                <a:cs typeface="微软雅黑" panose="020B0503020204020204" charset="-122"/>
              </a:rPr>
              <a:t>公域引流</a:t>
            </a:r>
            <a:r>
              <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rPr>
              <a:t>+</a:t>
            </a:r>
            <a:r>
              <a:rPr sz="2500" dirty="0">
                <a:solidFill>
                  <a:schemeClr val="tx2"/>
                </a:solidFill>
                <a:effectLst/>
                <a:latin typeface="微软雅黑" panose="020B0503020204020204" charset="-122"/>
                <a:ea typeface="微软雅黑" panose="020B0503020204020204" charset="-122"/>
                <a:cs typeface="微软雅黑" panose="020B0503020204020204" charset="-122"/>
              </a:rPr>
              <a:t>私域深耕</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6" name="椭圆 25"/>
          <p:cNvSpPr/>
          <p:nvPr/>
        </p:nvSpPr>
        <p:spPr>
          <a:xfrm>
            <a:off x="3220085" y="2030730"/>
            <a:ext cx="1584325" cy="1583690"/>
          </a:xfrm>
          <a:prstGeom prst="ellipse">
            <a:avLst/>
          </a:prstGeom>
          <a:gradFill>
            <a:gsLst>
              <a:gs pos="0">
                <a:schemeClr val="accent1"/>
              </a:gs>
              <a:gs pos="100000">
                <a:schemeClr val="accent1">
                  <a:lumMod val="60000"/>
                  <a:lumOff val="4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30" name="组合 129"/>
          <p:cNvGrpSpPr/>
          <p:nvPr/>
        </p:nvGrpSpPr>
        <p:grpSpPr>
          <a:xfrm rot="0">
            <a:off x="5861050" y="4082415"/>
            <a:ext cx="476885" cy="188595"/>
            <a:chOff x="5991197" y="5285973"/>
            <a:chExt cx="550743" cy="217820"/>
          </a:xfrm>
          <a:solidFill>
            <a:schemeClr val="tx2">
              <a:lumMod val="60000"/>
              <a:lumOff val="40000"/>
            </a:schemeClr>
          </a:solidFill>
        </p:grpSpPr>
        <p:sp>
          <p:nvSpPr>
            <p:cNvPr id="126" name="等腰三角形 125"/>
            <p:cNvSpPr/>
            <p:nvPr/>
          </p:nvSpPr>
          <p:spPr>
            <a:xfrm rot="16195239">
              <a:off x="5976175" y="5300995"/>
              <a:ext cx="217819" cy="187775"/>
            </a:xfrm>
            <a:prstGeom prst="triangle">
              <a:avLst>
                <a:gd name="adj" fmla="val 50723"/>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7" name="等腰三角形 126"/>
            <p:cNvSpPr/>
            <p:nvPr/>
          </p:nvSpPr>
          <p:spPr>
            <a:xfrm rot="16195239">
              <a:off x="6158596" y="5300996"/>
              <a:ext cx="217819" cy="187775"/>
            </a:xfrm>
            <a:prstGeom prst="triangle">
              <a:avLst>
                <a:gd name="adj" fmla="val 50723"/>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8" name="等腰三角形 127"/>
            <p:cNvSpPr/>
            <p:nvPr/>
          </p:nvSpPr>
          <p:spPr>
            <a:xfrm rot="16195239">
              <a:off x="6339143" y="5300995"/>
              <a:ext cx="217819" cy="187775"/>
            </a:xfrm>
            <a:prstGeom prst="triangle">
              <a:avLst>
                <a:gd name="adj" fmla="val 50723"/>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32" name="组合 131"/>
          <p:cNvGrpSpPr/>
          <p:nvPr/>
        </p:nvGrpSpPr>
        <p:grpSpPr>
          <a:xfrm rot="10800000">
            <a:off x="5909945" y="1399540"/>
            <a:ext cx="476885" cy="188595"/>
            <a:chOff x="5991197" y="5285973"/>
            <a:chExt cx="550743" cy="217820"/>
          </a:xfrm>
          <a:solidFill>
            <a:schemeClr val="tx2">
              <a:lumMod val="60000"/>
              <a:lumOff val="40000"/>
            </a:schemeClr>
          </a:solidFill>
        </p:grpSpPr>
        <p:sp>
          <p:nvSpPr>
            <p:cNvPr id="133" name="等腰三角形 132"/>
            <p:cNvSpPr/>
            <p:nvPr/>
          </p:nvSpPr>
          <p:spPr>
            <a:xfrm rot="16195239">
              <a:off x="5976175" y="5300995"/>
              <a:ext cx="217819" cy="187775"/>
            </a:xfrm>
            <a:prstGeom prst="triangle">
              <a:avLst>
                <a:gd name="adj" fmla="val 50723"/>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4" name="等腰三角形 133"/>
            <p:cNvSpPr/>
            <p:nvPr/>
          </p:nvSpPr>
          <p:spPr>
            <a:xfrm rot="16195239">
              <a:off x="6158596" y="5300996"/>
              <a:ext cx="217819" cy="187775"/>
            </a:xfrm>
            <a:prstGeom prst="triangle">
              <a:avLst>
                <a:gd name="adj" fmla="val 50723"/>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6" name="等腰三角形 135"/>
            <p:cNvSpPr/>
            <p:nvPr/>
          </p:nvSpPr>
          <p:spPr>
            <a:xfrm rot="16195239">
              <a:off x="6339143" y="5300995"/>
              <a:ext cx="217819" cy="187775"/>
            </a:xfrm>
            <a:prstGeom prst="triangle">
              <a:avLst>
                <a:gd name="adj" fmla="val 50723"/>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tx2">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6" name="圆角矩形 5"/>
          <p:cNvSpPr/>
          <p:nvPr/>
        </p:nvSpPr>
        <p:spPr>
          <a:xfrm>
            <a:off x="1123950" y="1479550"/>
            <a:ext cx="1278255" cy="350520"/>
          </a:xfrm>
          <a:prstGeom prst="roundRect">
            <a:avLst>
              <a:gd name="adj" fmla="val 50000"/>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zh-CN" altLang="en-US" sz="1400">
                <a:solidFill>
                  <a:schemeClr val="accent1"/>
                </a:solidFill>
                <a:cs typeface="微软雅黑" panose="020B0503020204020204" charset="-122"/>
              </a:rPr>
              <a:t>引入流量</a:t>
            </a:r>
            <a:endParaRPr lang="zh-CN" altLang="en-US" sz="1400">
              <a:solidFill>
                <a:schemeClr val="accent1"/>
              </a:solidFill>
              <a:cs typeface="微软雅黑" panose="020B0503020204020204" charset="-122"/>
            </a:endParaRPr>
          </a:p>
        </p:txBody>
      </p:sp>
      <p:sp>
        <p:nvSpPr>
          <p:cNvPr id="7" name="圆角矩形 6"/>
          <p:cNvSpPr/>
          <p:nvPr/>
        </p:nvSpPr>
        <p:spPr>
          <a:xfrm>
            <a:off x="802005" y="2078990"/>
            <a:ext cx="1449705" cy="350520"/>
          </a:xfrm>
          <a:prstGeom prst="roundRect">
            <a:avLst>
              <a:gd name="adj" fmla="val 50000"/>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accent1"/>
                </a:solidFill>
                <a:cs typeface="微软雅黑" panose="020B0503020204020204" charset="-122"/>
                <a:sym typeface="+mn-ea"/>
              </a:rPr>
              <a:t>覆盖潜客</a:t>
            </a:r>
            <a:endParaRPr lang="zh-CN" altLang="en-US" sz="1400">
              <a:solidFill>
                <a:schemeClr val="accent1"/>
              </a:solidFill>
              <a:cs typeface="微软雅黑" panose="020B0503020204020204" charset="-122"/>
              <a:sym typeface="+mn-ea"/>
            </a:endParaRPr>
          </a:p>
        </p:txBody>
      </p:sp>
      <p:sp>
        <p:nvSpPr>
          <p:cNvPr id="8" name="圆角矩形 7"/>
          <p:cNvSpPr/>
          <p:nvPr/>
        </p:nvSpPr>
        <p:spPr>
          <a:xfrm>
            <a:off x="1106170" y="3927475"/>
            <a:ext cx="1278255" cy="350520"/>
          </a:xfrm>
          <a:prstGeom prst="roundRect">
            <a:avLst>
              <a:gd name="adj" fmla="val 50000"/>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accent1"/>
                </a:solidFill>
                <a:cs typeface="微软雅黑" panose="020B0503020204020204" charset="-122"/>
                <a:sym typeface="+mn-ea"/>
              </a:rPr>
              <a:t>线上</a:t>
            </a:r>
            <a:r>
              <a:rPr lang="en-US" altLang="zh-CN" sz="1400">
                <a:solidFill>
                  <a:schemeClr val="accent1"/>
                </a:solidFill>
                <a:cs typeface="微软雅黑" panose="020B0503020204020204" charset="-122"/>
                <a:sym typeface="+mn-ea"/>
              </a:rPr>
              <a:t>+</a:t>
            </a:r>
            <a:r>
              <a:rPr lang="zh-CN" altLang="en-US" sz="1400">
                <a:solidFill>
                  <a:schemeClr val="accent1"/>
                </a:solidFill>
                <a:cs typeface="微软雅黑" panose="020B0503020204020204" charset="-122"/>
                <a:sym typeface="+mn-ea"/>
              </a:rPr>
              <a:t>线下</a:t>
            </a:r>
            <a:endParaRPr lang="zh-CN" altLang="en-US" sz="1400">
              <a:solidFill>
                <a:schemeClr val="accent1"/>
              </a:solidFill>
              <a:cs typeface="微软雅黑" panose="020B0503020204020204" charset="-122"/>
              <a:sym typeface="+mn-ea"/>
            </a:endParaRPr>
          </a:p>
        </p:txBody>
      </p:sp>
      <p:sp>
        <p:nvSpPr>
          <p:cNvPr id="9" name="圆角矩形 8"/>
          <p:cNvSpPr/>
          <p:nvPr/>
        </p:nvSpPr>
        <p:spPr>
          <a:xfrm>
            <a:off x="771525" y="3315335"/>
            <a:ext cx="1278255" cy="350520"/>
          </a:xfrm>
          <a:prstGeom prst="roundRect">
            <a:avLst>
              <a:gd name="adj" fmla="val 50000"/>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accent1"/>
                </a:solidFill>
                <a:cs typeface="微软雅黑" panose="020B0503020204020204" charset="-122"/>
                <a:sym typeface="+mn-ea"/>
              </a:rPr>
              <a:t>拓展渠道</a:t>
            </a:r>
            <a:endParaRPr lang="zh-CN" altLang="en-US" sz="1400">
              <a:solidFill>
                <a:schemeClr val="accent1"/>
              </a:solidFill>
              <a:cs typeface="微软雅黑" panose="020B0503020204020204" charset="-122"/>
              <a:sym typeface="+mn-ea"/>
            </a:endParaRPr>
          </a:p>
        </p:txBody>
      </p:sp>
      <p:sp>
        <p:nvSpPr>
          <p:cNvPr id="11" name="圆角矩形 10"/>
          <p:cNvSpPr/>
          <p:nvPr/>
        </p:nvSpPr>
        <p:spPr>
          <a:xfrm>
            <a:off x="597535" y="2696210"/>
            <a:ext cx="1270635" cy="350520"/>
          </a:xfrm>
          <a:prstGeom prst="roundRect">
            <a:avLst>
              <a:gd name="adj" fmla="val 50000"/>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accent1"/>
                </a:solidFill>
                <a:cs typeface="微软雅黑" panose="020B0503020204020204" charset="-122"/>
                <a:sym typeface="+mn-ea"/>
              </a:rPr>
              <a:t>广泛分发</a:t>
            </a:r>
            <a:endParaRPr lang="zh-CN" altLang="en-US" sz="1400">
              <a:solidFill>
                <a:schemeClr val="accent1"/>
              </a:solidFill>
              <a:cs typeface="微软雅黑" panose="020B0503020204020204" charset="-122"/>
              <a:sym typeface="+mn-ea"/>
            </a:endParaRPr>
          </a:p>
        </p:txBody>
      </p:sp>
      <p:sp>
        <p:nvSpPr>
          <p:cNvPr id="12" name="圆角矩形 11"/>
          <p:cNvSpPr/>
          <p:nvPr/>
        </p:nvSpPr>
        <p:spPr>
          <a:xfrm>
            <a:off x="2436495" y="3927475"/>
            <a:ext cx="513715" cy="350520"/>
          </a:xfrm>
          <a:prstGeom prst="roundRect">
            <a:avLst>
              <a:gd name="adj" fmla="val 50000"/>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accent1"/>
                </a:solidFill>
                <a:cs typeface="微软雅黑" panose="020B0503020204020204" charset="-122"/>
                <a:sym typeface="+mn-ea"/>
              </a:rPr>
              <a:t>…</a:t>
            </a:r>
            <a:endParaRPr lang="zh-CN" altLang="en-US" sz="1400">
              <a:solidFill>
                <a:schemeClr val="accent1"/>
              </a:solidFill>
              <a:cs typeface="微软雅黑" panose="020B0503020204020204" charset="-122"/>
              <a:sym typeface="+mn-ea"/>
            </a:endParaRPr>
          </a:p>
        </p:txBody>
      </p:sp>
      <p:grpSp>
        <p:nvGrpSpPr>
          <p:cNvPr id="793" name="熊大的PPT宝库51"/>
          <p:cNvGrpSpPr/>
          <p:nvPr/>
        </p:nvGrpSpPr>
        <p:grpSpPr>
          <a:xfrm rot="0" flipH="1">
            <a:off x="2026285" y="2739390"/>
            <a:ext cx="487680" cy="271145"/>
            <a:chOff x="4856673" y="5108015"/>
            <a:chExt cx="487937" cy="271126"/>
          </a:xfrm>
          <a:gradFill>
            <a:gsLst>
              <a:gs pos="0">
                <a:schemeClr val="accent1">
                  <a:lumMod val="60000"/>
                  <a:lumOff val="40000"/>
                  <a:alpha val="50000"/>
                </a:schemeClr>
              </a:gs>
              <a:gs pos="100000">
                <a:schemeClr val="accent1"/>
              </a:gs>
            </a:gsLst>
            <a:lin ang="0" scaled="0"/>
          </a:gradFill>
        </p:grpSpPr>
        <p:grpSp>
          <p:nvGrpSpPr>
            <p:cNvPr id="794" name="图形 6"/>
            <p:cNvGrpSpPr/>
            <p:nvPr/>
          </p:nvGrpSpPr>
          <p:grpSpPr>
            <a:xfrm>
              <a:off x="4856673" y="5108015"/>
              <a:ext cx="189077" cy="271126"/>
              <a:chOff x="4856673" y="5108015"/>
              <a:chExt cx="189077" cy="271126"/>
            </a:xfrm>
            <a:grpFill/>
          </p:grpSpPr>
          <p:sp>
            <p:nvSpPr>
              <p:cNvPr id="795" name="熊大的PPT宝库51-1"/>
              <p:cNvSpPr/>
              <p:nvPr/>
            </p:nvSpPr>
            <p:spPr>
              <a:xfrm>
                <a:off x="489594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96" name="熊大的PPT宝库51-2"/>
              <p:cNvSpPr/>
              <p:nvPr/>
            </p:nvSpPr>
            <p:spPr>
              <a:xfrm>
                <a:off x="493516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97" name="熊大的PPT宝库51-3"/>
              <p:cNvSpPr/>
              <p:nvPr/>
            </p:nvSpPr>
            <p:spPr>
              <a:xfrm>
                <a:off x="485669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98" name="熊大的PPT宝库51-4"/>
              <p:cNvSpPr/>
              <p:nvPr/>
            </p:nvSpPr>
            <p:spPr>
              <a:xfrm>
                <a:off x="489594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799" name="熊大的PPT宝库51-5"/>
              <p:cNvSpPr/>
              <p:nvPr/>
            </p:nvSpPr>
            <p:spPr>
              <a:xfrm>
                <a:off x="4856673"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44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184" y="32114"/>
                      <a:pt x="0" y="24930"/>
                      <a:pt x="0" y="16044"/>
                    </a:cubicBezTo>
                    <a:cubicBezTo>
                      <a:pt x="0" y="7184"/>
                      <a:pt x="7184" y="0"/>
                      <a:pt x="16044"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0" name="熊大的PPT宝库51-6"/>
              <p:cNvSpPr/>
              <p:nvPr/>
            </p:nvSpPr>
            <p:spPr>
              <a:xfrm>
                <a:off x="489594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1" name="熊大的PPT宝库51-7"/>
              <p:cNvSpPr/>
              <p:nvPr/>
            </p:nvSpPr>
            <p:spPr>
              <a:xfrm>
                <a:off x="493516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2" name="熊大的PPT宝库51-8"/>
              <p:cNvSpPr/>
              <p:nvPr/>
            </p:nvSpPr>
            <p:spPr>
              <a:xfrm>
                <a:off x="493516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3" name="熊大的PPT宝库51-9"/>
              <p:cNvSpPr/>
              <p:nvPr/>
            </p:nvSpPr>
            <p:spPr>
              <a:xfrm>
                <a:off x="489594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4" name="熊大的PPT宝库51-10"/>
              <p:cNvSpPr/>
              <p:nvPr/>
            </p:nvSpPr>
            <p:spPr>
              <a:xfrm>
                <a:off x="493516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3" y="32089"/>
                      <a:pt x="0" y="24905"/>
                      <a:pt x="0" y="16044"/>
                    </a:cubicBezTo>
                    <a:cubicBezTo>
                      <a:pt x="0" y="7183"/>
                      <a:pt x="7183" y="0"/>
                      <a:pt x="16044" y="0"/>
                    </a:cubicBezTo>
                    <a:cubicBezTo>
                      <a:pt x="24905" y="0"/>
                      <a:pt x="32089" y="7183"/>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5" name="熊大的PPT宝库51-11"/>
              <p:cNvSpPr/>
              <p:nvPr/>
            </p:nvSpPr>
            <p:spPr>
              <a:xfrm>
                <a:off x="497441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6" name="熊大的PPT宝库51-12"/>
              <p:cNvSpPr/>
              <p:nvPr/>
            </p:nvSpPr>
            <p:spPr>
              <a:xfrm>
                <a:off x="497441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7" name="熊大的PPT宝库51-13"/>
              <p:cNvSpPr/>
              <p:nvPr/>
            </p:nvSpPr>
            <p:spPr>
              <a:xfrm>
                <a:off x="5013637" y="5229311"/>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08" name="熊大的PPT宝库51-14"/>
              <p:cNvSpPr/>
              <p:nvPr/>
            </p:nvSpPr>
            <p:spPr>
              <a:xfrm>
                <a:off x="497441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nvGrpSpPr>
            <p:cNvPr id="809" name="图形 6"/>
            <p:cNvGrpSpPr/>
            <p:nvPr/>
          </p:nvGrpSpPr>
          <p:grpSpPr>
            <a:xfrm>
              <a:off x="5001822" y="5108015"/>
              <a:ext cx="189077" cy="271126"/>
              <a:chOff x="5001822" y="5108015"/>
              <a:chExt cx="189077" cy="271126"/>
            </a:xfrm>
            <a:grpFill/>
          </p:grpSpPr>
          <p:sp>
            <p:nvSpPr>
              <p:cNvPr id="810" name="熊大的PPT宝库51-15"/>
              <p:cNvSpPr/>
              <p:nvPr/>
            </p:nvSpPr>
            <p:spPr>
              <a:xfrm>
                <a:off x="504109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1" name="熊大的PPT宝库51-16"/>
              <p:cNvSpPr/>
              <p:nvPr/>
            </p:nvSpPr>
            <p:spPr>
              <a:xfrm>
                <a:off x="5080342"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2" name="熊大的PPT宝库51-17"/>
              <p:cNvSpPr/>
              <p:nvPr/>
            </p:nvSpPr>
            <p:spPr>
              <a:xfrm>
                <a:off x="5001822" y="5343473"/>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3" name="熊大的PPT宝库51-18"/>
              <p:cNvSpPr/>
              <p:nvPr/>
            </p:nvSpPr>
            <p:spPr>
              <a:xfrm>
                <a:off x="504109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4" name="熊大的PPT宝库51-19"/>
              <p:cNvSpPr/>
              <p:nvPr/>
            </p:nvSpPr>
            <p:spPr>
              <a:xfrm>
                <a:off x="5001822"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5" name="熊大的PPT宝库51-20"/>
              <p:cNvSpPr/>
              <p:nvPr/>
            </p:nvSpPr>
            <p:spPr>
              <a:xfrm>
                <a:off x="504109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6" name="熊大的PPT宝库51-21"/>
              <p:cNvSpPr/>
              <p:nvPr/>
            </p:nvSpPr>
            <p:spPr>
              <a:xfrm>
                <a:off x="5080342"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7" name="熊大的PPT宝库51-22"/>
              <p:cNvSpPr/>
              <p:nvPr/>
            </p:nvSpPr>
            <p:spPr>
              <a:xfrm>
                <a:off x="5080342"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8" name="熊大的PPT宝库51-23"/>
              <p:cNvSpPr/>
              <p:nvPr/>
            </p:nvSpPr>
            <p:spPr>
              <a:xfrm>
                <a:off x="504109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19" name="熊大的PPT宝库51-24"/>
              <p:cNvSpPr/>
              <p:nvPr/>
            </p:nvSpPr>
            <p:spPr>
              <a:xfrm>
                <a:off x="5080342"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0" name="熊大的PPT宝库51-25"/>
              <p:cNvSpPr/>
              <p:nvPr/>
            </p:nvSpPr>
            <p:spPr>
              <a:xfrm>
                <a:off x="5119589"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1" name="熊大的PPT宝库51-26"/>
              <p:cNvSpPr/>
              <p:nvPr/>
            </p:nvSpPr>
            <p:spPr>
              <a:xfrm>
                <a:off x="5119589"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2" name="熊大的PPT宝库51-27"/>
              <p:cNvSpPr/>
              <p:nvPr/>
            </p:nvSpPr>
            <p:spPr>
              <a:xfrm>
                <a:off x="5158811"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3" name="熊大的PPT宝库51-28"/>
              <p:cNvSpPr/>
              <p:nvPr/>
            </p:nvSpPr>
            <p:spPr>
              <a:xfrm>
                <a:off x="5119589"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nvGrpSpPr>
            <p:cNvPr id="824" name="图形 6"/>
            <p:cNvGrpSpPr/>
            <p:nvPr/>
          </p:nvGrpSpPr>
          <p:grpSpPr>
            <a:xfrm>
              <a:off x="5155558" y="5108015"/>
              <a:ext cx="189052" cy="271126"/>
              <a:chOff x="5155558" y="5108015"/>
              <a:chExt cx="189052" cy="271126"/>
            </a:xfrm>
            <a:grpFill/>
          </p:grpSpPr>
          <p:sp>
            <p:nvSpPr>
              <p:cNvPr id="825" name="熊大的PPT宝库51-29"/>
              <p:cNvSpPr/>
              <p:nvPr/>
            </p:nvSpPr>
            <p:spPr>
              <a:xfrm>
                <a:off x="519480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6" name="熊大的PPT宝库51-30"/>
              <p:cNvSpPr/>
              <p:nvPr/>
            </p:nvSpPr>
            <p:spPr>
              <a:xfrm>
                <a:off x="523402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7" name="熊大的PPT宝库51-31"/>
              <p:cNvSpPr/>
              <p:nvPr/>
            </p:nvSpPr>
            <p:spPr>
              <a:xfrm>
                <a:off x="515555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8" name="熊大的PPT宝库51-32"/>
              <p:cNvSpPr/>
              <p:nvPr/>
            </p:nvSpPr>
            <p:spPr>
              <a:xfrm>
                <a:off x="519480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29" name="熊大的PPT宝库51-33"/>
              <p:cNvSpPr/>
              <p:nvPr/>
            </p:nvSpPr>
            <p:spPr>
              <a:xfrm>
                <a:off x="5155558" y="510801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0" name="熊大的PPT宝库51-34"/>
              <p:cNvSpPr/>
              <p:nvPr/>
            </p:nvSpPr>
            <p:spPr>
              <a:xfrm>
                <a:off x="519480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1" name="熊大的PPT宝库51-35"/>
              <p:cNvSpPr/>
              <p:nvPr/>
            </p:nvSpPr>
            <p:spPr>
              <a:xfrm>
                <a:off x="523402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2" name="熊大的PPT宝库51-36"/>
              <p:cNvSpPr/>
              <p:nvPr/>
            </p:nvSpPr>
            <p:spPr>
              <a:xfrm>
                <a:off x="523402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3" name="熊大的PPT宝库51-37"/>
              <p:cNvSpPr/>
              <p:nvPr/>
            </p:nvSpPr>
            <p:spPr>
              <a:xfrm>
                <a:off x="519480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4" name="熊大的PPT宝库51-38"/>
              <p:cNvSpPr/>
              <p:nvPr/>
            </p:nvSpPr>
            <p:spPr>
              <a:xfrm>
                <a:off x="523402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5" name="熊大的PPT宝库51-39"/>
              <p:cNvSpPr/>
              <p:nvPr/>
            </p:nvSpPr>
            <p:spPr>
              <a:xfrm>
                <a:off x="527327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6" name="熊大的PPT宝库51-40"/>
              <p:cNvSpPr/>
              <p:nvPr/>
            </p:nvSpPr>
            <p:spPr>
              <a:xfrm>
                <a:off x="527327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7" name="熊大的PPT宝库51-41"/>
              <p:cNvSpPr/>
              <p:nvPr/>
            </p:nvSpPr>
            <p:spPr>
              <a:xfrm>
                <a:off x="5312522"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838" name="熊大的PPT宝库51-42"/>
              <p:cNvSpPr/>
              <p:nvPr/>
            </p:nvSpPr>
            <p:spPr>
              <a:xfrm>
                <a:off x="527327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sp>
        <p:nvSpPr>
          <p:cNvPr id="15" name="圆角矩形 14"/>
          <p:cNvSpPr/>
          <p:nvPr/>
        </p:nvSpPr>
        <p:spPr>
          <a:xfrm>
            <a:off x="9877425" y="1480185"/>
            <a:ext cx="1278255" cy="350520"/>
          </a:xfrm>
          <a:prstGeom prst="roundRect">
            <a:avLst>
              <a:gd name="adj" fmla="val 50000"/>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tx2"/>
                </a:solidFill>
                <a:cs typeface="微软雅黑" panose="020B0503020204020204" charset="-122"/>
                <a:sym typeface="+mn-ea"/>
              </a:rPr>
              <a:t>增强粘性</a:t>
            </a:r>
            <a:endParaRPr lang="zh-CN" altLang="en-US" sz="1400">
              <a:solidFill>
                <a:schemeClr val="tx2"/>
              </a:solidFill>
              <a:cs typeface="微软雅黑" panose="020B0503020204020204" charset="-122"/>
              <a:sym typeface="+mn-ea"/>
            </a:endParaRPr>
          </a:p>
        </p:txBody>
      </p:sp>
      <p:sp>
        <p:nvSpPr>
          <p:cNvPr id="16" name="圆角矩形 15"/>
          <p:cNvSpPr/>
          <p:nvPr/>
        </p:nvSpPr>
        <p:spPr>
          <a:xfrm>
            <a:off x="10225405" y="2078990"/>
            <a:ext cx="1278255" cy="350520"/>
          </a:xfrm>
          <a:prstGeom prst="roundRect">
            <a:avLst>
              <a:gd name="adj" fmla="val 50000"/>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tx2"/>
                </a:solidFill>
                <a:cs typeface="微软雅黑" panose="020B0503020204020204" charset="-122"/>
                <a:sym typeface="+mn-ea"/>
              </a:rPr>
              <a:t>挖掘需求</a:t>
            </a:r>
            <a:endParaRPr lang="zh-CN" altLang="en-US" sz="1400">
              <a:solidFill>
                <a:schemeClr val="tx2"/>
              </a:solidFill>
              <a:cs typeface="微软雅黑" panose="020B0503020204020204" charset="-122"/>
              <a:sym typeface="+mn-ea"/>
            </a:endParaRPr>
          </a:p>
        </p:txBody>
      </p:sp>
      <p:sp>
        <p:nvSpPr>
          <p:cNvPr id="17" name="圆角矩形 16"/>
          <p:cNvSpPr/>
          <p:nvPr/>
        </p:nvSpPr>
        <p:spPr>
          <a:xfrm>
            <a:off x="10401935" y="2696210"/>
            <a:ext cx="1278255" cy="350520"/>
          </a:xfrm>
          <a:prstGeom prst="roundRect">
            <a:avLst>
              <a:gd name="adj" fmla="val 50000"/>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tx2"/>
                </a:solidFill>
                <a:cs typeface="微软雅黑" panose="020B0503020204020204" charset="-122"/>
                <a:sym typeface="+mn-ea"/>
              </a:rPr>
              <a:t>精准触达</a:t>
            </a:r>
            <a:endParaRPr lang="zh-CN" altLang="en-US" sz="1400">
              <a:solidFill>
                <a:schemeClr val="tx2"/>
              </a:solidFill>
              <a:cs typeface="微软雅黑" panose="020B0503020204020204" charset="-122"/>
              <a:sym typeface="+mn-ea"/>
            </a:endParaRPr>
          </a:p>
        </p:txBody>
      </p:sp>
      <p:sp>
        <p:nvSpPr>
          <p:cNvPr id="18" name="圆角矩形 17"/>
          <p:cNvSpPr/>
          <p:nvPr/>
        </p:nvSpPr>
        <p:spPr>
          <a:xfrm>
            <a:off x="10225405" y="3315335"/>
            <a:ext cx="1278255" cy="350520"/>
          </a:xfrm>
          <a:prstGeom prst="roundRect">
            <a:avLst>
              <a:gd name="adj" fmla="val 50000"/>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tx2"/>
                </a:solidFill>
                <a:cs typeface="微软雅黑" panose="020B0503020204020204" charset="-122"/>
                <a:sym typeface="+mn-ea"/>
              </a:rPr>
              <a:t>高频互动</a:t>
            </a:r>
            <a:endParaRPr lang="zh-CN" altLang="en-US" sz="1400">
              <a:solidFill>
                <a:schemeClr val="tx2"/>
              </a:solidFill>
              <a:cs typeface="微软雅黑" panose="020B0503020204020204" charset="-122"/>
              <a:sym typeface="+mn-ea"/>
            </a:endParaRPr>
          </a:p>
        </p:txBody>
      </p:sp>
      <p:sp>
        <p:nvSpPr>
          <p:cNvPr id="19" name="圆角矩形 18"/>
          <p:cNvSpPr/>
          <p:nvPr/>
        </p:nvSpPr>
        <p:spPr>
          <a:xfrm>
            <a:off x="9877425" y="3927475"/>
            <a:ext cx="1278255" cy="350520"/>
          </a:xfrm>
          <a:prstGeom prst="roundRect">
            <a:avLst>
              <a:gd name="adj" fmla="val 50000"/>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zh-CN" altLang="en-US" sz="1400">
                <a:solidFill>
                  <a:schemeClr val="tx2"/>
                </a:solidFill>
                <a:cs typeface="微软雅黑" panose="020B0503020204020204" charset="-122"/>
                <a:sym typeface="+mn-ea"/>
              </a:rPr>
              <a:t>提升好感</a:t>
            </a:r>
            <a:endParaRPr lang="zh-CN" altLang="en-US" sz="1400">
              <a:solidFill>
                <a:schemeClr val="tx2"/>
              </a:solidFill>
              <a:cs typeface="微软雅黑" panose="020B0503020204020204" charset="-122"/>
              <a:sym typeface="+mn-ea"/>
            </a:endParaRPr>
          </a:p>
        </p:txBody>
      </p:sp>
      <p:sp>
        <p:nvSpPr>
          <p:cNvPr id="20" name="圆角矩形 19"/>
          <p:cNvSpPr/>
          <p:nvPr/>
        </p:nvSpPr>
        <p:spPr>
          <a:xfrm>
            <a:off x="9337675" y="3927475"/>
            <a:ext cx="490220" cy="350520"/>
          </a:xfrm>
          <a:prstGeom prst="roundRect">
            <a:avLst>
              <a:gd name="adj" fmla="val 50000"/>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r>
              <a:rPr lang="en-US" altLang="zh-CN" sz="1400">
                <a:solidFill>
                  <a:schemeClr val="tx2"/>
                </a:solidFill>
                <a:cs typeface="微软雅黑" panose="020B0503020204020204" charset="-122"/>
                <a:sym typeface="+mn-ea"/>
              </a:rPr>
              <a:t>…</a:t>
            </a:r>
            <a:endParaRPr lang="en-US" altLang="zh-CN" sz="1400">
              <a:solidFill>
                <a:schemeClr val="tx2"/>
              </a:solidFill>
              <a:cs typeface="微软雅黑" panose="020B0503020204020204" charset="-122"/>
              <a:sym typeface="+mn-ea"/>
            </a:endParaRPr>
          </a:p>
        </p:txBody>
      </p:sp>
      <p:grpSp>
        <p:nvGrpSpPr>
          <p:cNvPr id="21" name="熊大的PPT宝库51"/>
          <p:cNvGrpSpPr/>
          <p:nvPr/>
        </p:nvGrpSpPr>
        <p:grpSpPr>
          <a:xfrm rot="0">
            <a:off x="9762490" y="2746375"/>
            <a:ext cx="487680" cy="271145"/>
            <a:chOff x="4856673" y="5108015"/>
            <a:chExt cx="487937" cy="271126"/>
          </a:xfrm>
          <a:gradFill>
            <a:gsLst>
              <a:gs pos="0">
                <a:schemeClr val="accent1">
                  <a:lumMod val="60000"/>
                  <a:lumOff val="40000"/>
                  <a:alpha val="50000"/>
                </a:schemeClr>
              </a:gs>
              <a:gs pos="100000">
                <a:schemeClr val="accent1"/>
              </a:gs>
            </a:gsLst>
            <a:lin ang="0" scaled="0"/>
          </a:gradFill>
        </p:grpSpPr>
        <p:grpSp>
          <p:nvGrpSpPr>
            <p:cNvPr id="22" name="图形 6"/>
            <p:cNvGrpSpPr/>
            <p:nvPr/>
          </p:nvGrpSpPr>
          <p:grpSpPr>
            <a:xfrm>
              <a:off x="4856673" y="5108015"/>
              <a:ext cx="189077" cy="271126"/>
              <a:chOff x="4856673" y="5108015"/>
              <a:chExt cx="189077" cy="271126"/>
            </a:xfrm>
            <a:grpFill/>
          </p:grpSpPr>
          <p:sp>
            <p:nvSpPr>
              <p:cNvPr id="23" name="熊大的PPT宝库51-1"/>
              <p:cNvSpPr/>
              <p:nvPr/>
            </p:nvSpPr>
            <p:spPr>
              <a:xfrm>
                <a:off x="489594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24" name="熊大的PPT宝库51-2"/>
              <p:cNvSpPr/>
              <p:nvPr/>
            </p:nvSpPr>
            <p:spPr>
              <a:xfrm>
                <a:off x="493516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25" name="熊大的PPT宝库51-3"/>
              <p:cNvSpPr/>
              <p:nvPr/>
            </p:nvSpPr>
            <p:spPr>
              <a:xfrm>
                <a:off x="485669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28" name="熊大的PPT宝库51-4"/>
              <p:cNvSpPr/>
              <p:nvPr/>
            </p:nvSpPr>
            <p:spPr>
              <a:xfrm>
                <a:off x="489594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29" name="熊大的PPT宝库51-5"/>
              <p:cNvSpPr/>
              <p:nvPr/>
            </p:nvSpPr>
            <p:spPr>
              <a:xfrm>
                <a:off x="4856673"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44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184" y="32114"/>
                      <a:pt x="0" y="24930"/>
                      <a:pt x="0" y="16044"/>
                    </a:cubicBezTo>
                    <a:cubicBezTo>
                      <a:pt x="0" y="7184"/>
                      <a:pt x="7184" y="0"/>
                      <a:pt x="16044"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30" name="熊大的PPT宝库51-6"/>
              <p:cNvSpPr/>
              <p:nvPr/>
            </p:nvSpPr>
            <p:spPr>
              <a:xfrm>
                <a:off x="489594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31" name="熊大的PPT宝库51-7"/>
              <p:cNvSpPr/>
              <p:nvPr/>
            </p:nvSpPr>
            <p:spPr>
              <a:xfrm>
                <a:off x="493516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32" name="熊大的PPT宝库51-8"/>
              <p:cNvSpPr/>
              <p:nvPr/>
            </p:nvSpPr>
            <p:spPr>
              <a:xfrm>
                <a:off x="493516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33" name="熊大的PPT宝库51-9"/>
              <p:cNvSpPr/>
              <p:nvPr/>
            </p:nvSpPr>
            <p:spPr>
              <a:xfrm>
                <a:off x="489594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34" name="熊大的PPT宝库51-10"/>
              <p:cNvSpPr/>
              <p:nvPr/>
            </p:nvSpPr>
            <p:spPr>
              <a:xfrm>
                <a:off x="493516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3" y="32089"/>
                      <a:pt x="0" y="24905"/>
                      <a:pt x="0" y="16044"/>
                    </a:cubicBezTo>
                    <a:cubicBezTo>
                      <a:pt x="0" y="7183"/>
                      <a:pt x="7183" y="0"/>
                      <a:pt x="16044" y="0"/>
                    </a:cubicBezTo>
                    <a:cubicBezTo>
                      <a:pt x="24905" y="0"/>
                      <a:pt x="32089" y="7183"/>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35" name="熊大的PPT宝库51-11"/>
              <p:cNvSpPr/>
              <p:nvPr/>
            </p:nvSpPr>
            <p:spPr>
              <a:xfrm>
                <a:off x="497441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36" name="熊大的PPT宝库51-12"/>
              <p:cNvSpPr/>
              <p:nvPr/>
            </p:nvSpPr>
            <p:spPr>
              <a:xfrm>
                <a:off x="497441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37" name="熊大的PPT宝库51-13"/>
              <p:cNvSpPr/>
              <p:nvPr/>
            </p:nvSpPr>
            <p:spPr>
              <a:xfrm>
                <a:off x="5013637" y="5229311"/>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38" name="熊大的PPT宝库51-14"/>
              <p:cNvSpPr/>
              <p:nvPr/>
            </p:nvSpPr>
            <p:spPr>
              <a:xfrm>
                <a:off x="497441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nvGrpSpPr>
            <p:cNvPr id="39" name="图形 6"/>
            <p:cNvGrpSpPr/>
            <p:nvPr/>
          </p:nvGrpSpPr>
          <p:grpSpPr>
            <a:xfrm>
              <a:off x="5001822" y="5108015"/>
              <a:ext cx="189077" cy="271126"/>
              <a:chOff x="5001822" y="5108015"/>
              <a:chExt cx="189077" cy="271126"/>
            </a:xfrm>
            <a:grpFill/>
          </p:grpSpPr>
          <p:sp>
            <p:nvSpPr>
              <p:cNvPr id="40" name="熊大的PPT宝库51-15"/>
              <p:cNvSpPr/>
              <p:nvPr/>
            </p:nvSpPr>
            <p:spPr>
              <a:xfrm>
                <a:off x="504109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41" name="熊大的PPT宝库51-16"/>
              <p:cNvSpPr/>
              <p:nvPr/>
            </p:nvSpPr>
            <p:spPr>
              <a:xfrm>
                <a:off x="5080342"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42" name="熊大的PPT宝库51-17"/>
              <p:cNvSpPr/>
              <p:nvPr/>
            </p:nvSpPr>
            <p:spPr>
              <a:xfrm>
                <a:off x="5001822" y="5343473"/>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43" name="熊大的PPT宝库51-18"/>
              <p:cNvSpPr/>
              <p:nvPr/>
            </p:nvSpPr>
            <p:spPr>
              <a:xfrm>
                <a:off x="504109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44" name="熊大的PPT宝库51-19"/>
              <p:cNvSpPr/>
              <p:nvPr/>
            </p:nvSpPr>
            <p:spPr>
              <a:xfrm>
                <a:off x="5001822" y="5108015"/>
                <a:ext cx="32113" cy="32088"/>
              </a:xfrm>
              <a:custGeom>
                <a:avLst/>
                <a:gdLst>
                  <a:gd name="connsiteX0" fmla="*/ 32114 w 32113"/>
                  <a:gd name="connsiteY0" fmla="*/ 16044 h 32088"/>
                  <a:gd name="connsiteX1" fmla="*/ 16069 w 32113"/>
                  <a:gd name="connsiteY1" fmla="*/ 32089 h 32088"/>
                  <a:gd name="connsiteX2" fmla="*/ 0 w 32113"/>
                  <a:gd name="connsiteY2" fmla="*/ 16044 h 32088"/>
                  <a:gd name="connsiteX3" fmla="*/ 16069 w 32113"/>
                  <a:gd name="connsiteY3" fmla="*/ 0 h 32088"/>
                  <a:gd name="connsiteX4" fmla="*/ 32114 w 32113"/>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113" h="32088">
                    <a:moveTo>
                      <a:pt x="32114" y="16044"/>
                    </a:moveTo>
                    <a:cubicBezTo>
                      <a:pt x="32114" y="24905"/>
                      <a:pt x="24930" y="32089"/>
                      <a:pt x="16069" y="32089"/>
                    </a:cubicBezTo>
                    <a:cubicBezTo>
                      <a:pt x="7209" y="32089"/>
                      <a:pt x="0" y="24905"/>
                      <a:pt x="0" y="16044"/>
                    </a:cubicBezTo>
                    <a:cubicBezTo>
                      <a:pt x="0" y="7184"/>
                      <a:pt x="7184" y="0"/>
                      <a:pt x="16069" y="0"/>
                    </a:cubicBezTo>
                    <a:cubicBezTo>
                      <a:pt x="24930" y="0"/>
                      <a:pt x="32114" y="7184"/>
                      <a:pt x="32114"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45" name="熊大的PPT宝库51-20"/>
              <p:cNvSpPr/>
              <p:nvPr/>
            </p:nvSpPr>
            <p:spPr>
              <a:xfrm>
                <a:off x="504109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46" name="熊大的PPT宝库51-21"/>
              <p:cNvSpPr/>
              <p:nvPr/>
            </p:nvSpPr>
            <p:spPr>
              <a:xfrm>
                <a:off x="5080342"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47" name="熊大的PPT宝库51-22"/>
              <p:cNvSpPr/>
              <p:nvPr/>
            </p:nvSpPr>
            <p:spPr>
              <a:xfrm>
                <a:off x="5080342"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48" name="熊大的PPT宝库51-23"/>
              <p:cNvSpPr/>
              <p:nvPr/>
            </p:nvSpPr>
            <p:spPr>
              <a:xfrm>
                <a:off x="504109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49" name="熊大的PPT宝库51-24"/>
              <p:cNvSpPr/>
              <p:nvPr/>
            </p:nvSpPr>
            <p:spPr>
              <a:xfrm>
                <a:off x="5080342"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50" name="熊大的PPT宝库51-25"/>
              <p:cNvSpPr/>
              <p:nvPr/>
            </p:nvSpPr>
            <p:spPr>
              <a:xfrm>
                <a:off x="5119589"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51" name="熊大的PPT宝库51-26"/>
              <p:cNvSpPr/>
              <p:nvPr/>
            </p:nvSpPr>
            <p:spPr>
              <a:xfrm>
                <a:off x="5119589"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52" name="熊大的PPT宝库51-27"/>
              <p:cNvSpPr/>
              <p:nvPr/>
            </p:nvSpPr>
            <p:spPr>
              <a:xfrm>
                <a:off x="5158811"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53" name="熊大的PPT宝库51-28"/>
              <p:cNvSpPr/>
              <p:nvPr/>
            </p:nvSpPr>
            <p:spPr>
              <a:xfrm>
                <a:off x="5119589"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880"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nvGrpSpPr>
            <p:cNvPr id="54" name="图形 6"/>
            <p:cNvGrpSpPr/>
            <p:nvPr/>
          </p:nvGrpSpPr>
          <p:grpSpPr>
            <a:xfrm>
              <a:off x="5155558" y="5108015"/>
              <a:ext cx="189052" cy="271126"/>
              <a:chOff x="5155558" y="5108015"/>
              <a:chExt cx="189052" cy="271126"/>
            </a:xfrm>
            <a:grpFill/>
          </p:grpSpPr>
          <p:sp>
            <p:nvSpPr>
              <p:cNvPr id="55" name="熊大的PPT宝库51-29"/>
              <p:cNvSpPr/>
              <p:nvPr/>
            </p:nvSpPr>
            <p:spPr>
              <a:xfrm>
                <a:off x="5194805" y="530780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56" name="熊大的PPT宝库51-30"/>
              <p:cNvSpPr/>
              <p:nvPr/>
            </p:nvSpPr>
            <p:spPr>
              <a:xfrm>
                <a:off x="5234027" y="5311360"/>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57" name="熊大的PPT宝库51-31"/>
              <p:cNvSpPr/>
              <p:nvPr/>
            </p:nvSpPr>
            <p:spPr>
              <a:xfrm>
                <a:off x="5155558" y="534347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58" name="熊大的PPT宝库51-32"/>
              <p:cNvSpPr/>
              <p:nvPr/>
            </p:nvSpPr>
            <p:spPr>
              <a:xfrm>
                <a:off x="5194805" y="5347053"/>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59" name="熊大的PPT宝库51-33"/>
              <p:cNvSpPr/>
              <p:nvPr/>
            </p:nvSpPr>
            <p:spPr>
              <a:xfrm>
                <a:off x="5155558" y="510801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60" name="熊大的PPT宝库51-34"/>
              <p:cNvSpPr/>
              <p:nvPr/>
            </p:nvSpPr>
            <p:spPr>
              <a:xfrm>
                <a:off x="5194805" y="5111594"/>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61" name="熊大的PPT宝库51-35"/>
              <p:cNvSpPr/>
              <p:nvPr/>
            </p:nvSpPr>
            <p:spPr>
              <a:xfrm>
                <a:off x="5234027" y="5271236"/>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62" name="熊大的PPT宝库51-36"/>
              <p:cNvSpPr/>
              <p:nvPr/>
            </p:nvSpPr>
            <p:spPr>
              <a:xfrm>
                <a:off x="5234027" y="5190965"/>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63" name="熊大的PPT宝库51-37"/>
              <p:cNvSpPr/>
              <p:nvPr/>
            </p:nvSpPr>
            <p:spPr>
              <a:xfrm>
                <a:off x="5194805"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64" name="熊大的PPT宝库51-38"/>
              <p:cNvSpPr/>
              <p:nvPr/>
            </p:nvSpPr>
            <p:spPr>
              <a:xfrm>
                <a:off x="5234027" y="515084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65" name="熊大的PPT宝库51-39"/>
              <p:cNvSpPr/>
              <p:nvPr/>
            </p:nvSpPr>
            <p:spPr>
              <a:xfrm>
                <a:off x="5273274"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66" name="熊大的PPT宝库51-40"/>
              <p:cNvSpPr/>
              <p:nvPr/>
            </p:nvSpPr>
            <p:spPr>
              <a:xfrm>
                <a:off x="5273274" y="526855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67" name="熊大的PPT宝库51-41"/>
              <p:cNvSpPr/>
              <p:nvPr/>
            </p:nvSpPr>
            <p:spPr>
              <a:xfrm>
                <a:off x="5312522" y="5229311"/>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0"/>
                      <a:pt x="32089" y="7184"/>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sp>
            <p:nvSpPr>
              <p:cNvPr id="68" name="熊大的PPT宝库51-42"/>
              <p:cNvSpPr/>
              <p:nvPr/>
            </p:nvSpPr>
            <p:spPr>
              <a:xfrm>
                <a:off x="5273274" y="5190088"/>
                <a:ext cx="32088" cy="32088"/>
              </a:xfrm>
              <a:custGeom>
                <a:avLst/>
                <a:gdLst>
                  <a:gd name="connsiteX0" fmla="*/ 32089 w 32088"/>
                  <a:gd name="connsiteY0" fmla="*/ 16044 h 32088"/>
                  <a:gd name="connsiteX1" fmla="*/ 16044 w 32088"/>
                  <a:gd name="connsiteY1" fmla="*/ 32089 h 32088"/>
                  <a:gd name="connsiteX2" fmla="*/ 0 w 32088"/>
                  <a:gd name="connsiteY2" fmla="*/ 16044 h 32088"/>
                  <a:gd name="connsiteX3" fmla="*/ 16044 w 32088"/>
                  <a:gd name="connsiteY3" fmla="*/ 0 h 32088"/>
                  <a:gd name="connsiteX4" fmla="*/ 32089 w 32088"/>
                  <a:gd name="connsiteY4" fmla="*/ 16044 h 3208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2088" h="32088">
                    <a:moveTo>
                      <a:pt x="32089" y="16044"/>
                    </a:moveTo>
                    <a:cubicBezTo>
                      <a:pt x="32089" y="24905"/>
                      <a:pt x="24905" y="32089"/>
                      <a:pt x="16044" y="32089"/>
                    </a:cubicBezTo>
                    <a:cubicBezTo>
                      <a:pt x="7184" y="32089"/>
                      <a:pt x="0" y="24905"/>
                      <a:pt x="0" y="16044"/>
                    </a:cubicBezTo>
                    <a:cubicBezTo>
                      <a:pt x="0" y="7184"/>
                      <a:pt x="7184" y="0"/>
                      <a:pt x="16044" y="0"/>
                    </a:cubicBezTo>
                    <a:cubicBezTo>
                      <a:pt x="24905" y="-25"/>
                      <a:pt x="32089" y="7159"/>
                      <a:pt x="32089" y="16044"/>
                    </a:cubicBezTo>
                    <a:close/>
                  </a:path>
                </a:pathLst>
              </a:custGeom>
              <a:grpFill/>
              <a:ln w="0">
                <a:noFill/>
                <a:prstDash val="solid"/>
                <a:round/>
              </a:ln>
            </p:spPr>
            <p:txBody>
              <a:bodyPr vert="horz" wrap="square" lIns="91440" tIns="45720" rIns="91440" bIns="45720" numCol="1" anchor="t" anchorCtr="0" compatLnSpc="1"/>
              <a:lstStyle/>
              <a:p>
                <a:pPr defTabSz="457200"/>
                <a:endParaRPr lang="zh-CN" altLang="en-US">
                  <a:latin typeface="+mn-ea"/>
                  <a:cs typeface="微软雅黑" panose="020B0503020204020204" charset="-122"/>
                </a:endParaRPr>
              </a:p>
            </p:txBody>
          </p:sp>
        </p:grpSp>
      </p:grpSp>
      <p:sp>
        <p:nvSpPr>
          <p:cNvPr id="168" name="梯形 167"/>
          <p:cNvSpPr/>
          <p:nvPr/>
        </p:nvSpPr>
        <p:spPr>
          <a:xfrm flipH="1">
            <a:off x="227011" y="4381789"/>
            <a:ext cx="11737975" cy="664087"/>
          </a:xfrm>
          <a:prstGeom prst="trapezoid">
            <a:avLst>
              <a:gd name="adj" fmla="val 479390"/>
            </a:avLst>
          </a:prstGeom>
          <a:gradFill flip="none" rotWithShape="1">
            <a:gsLst>
              <a:gs pos="0">
                <a:schemeClr val="accent5">
                  <a:lumMod val="60000"/>
                  <a:lumOff val="40000"/>
                  <a:alpha val="0"/>
                </a:schemeClr>
              </a:gs>
              <a:gs pos="100000">
                <a:schemeClr val="accent5">
                  <a:lumMod val="60000"/>
                  <a:lumOff val="40000"/>
                  <a:alpha val="50000"/>
                </a:schemeClr>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zh-CN">
                <a:latin typeface="+mn-ea"/>
                <a:cs typeface="微软雅黑" panose="020B0503020204020204" charset="-122"/>
              </a:rPr>
              <a:t> </a:t>
            </a:r>
            <a:endParaRPr lang="en-US" altLang="zh-CN">
              <a:latin typeface="+mn-ea"/>
              <a:cs typeface="微软雅黑" panose="020B0503020204020204" charset="-122"/>
            </a:endParaRPr>
          </a:p>
        </p:txBody>
      </p:sp>
      <p:grpSp>
        <p:nvGrpSpPr>
          <p:cNvPr id="94" name="组合 93"/>
          <p:cNvGrpSpPr/>
          <p:nvPr/>
        </p:nvGrpSpPr>
        <p:grpSpPr>
          <a:xfrm>
            <a:off x="3020060" y="1890395"/>
            <a:ext cx="1946910" cy="1901825"/>
            <a:chOff x="4851" y="3015"/>
            <a:chExt cx="3066" cy="2995"/>
          </a:xfrm>
        </p:grpSpPr>
        <p:sp>
          <p:nvSpPr>
            <p:cNvPr id="92" name="文本框 91"/>
            <p:cNvSpPr txBox="1"/>
            <p:nvPr/>
          </p:nvSpPr>
          <p:spPr>
            <a:xfrm rot="10800000">
              <a:off x="5035" y="3128"/>
              <a:ext cx="2882" cy="2882"/>
            </a:xfrm>
            <a:prstGeom prst="rect">
              <a:avLst/>
            </a:prstGeom>
            <a:noFill/>
          </p:spPr>
          <p:txBody>
            <a:bodyPr wrap="square" rtlCol="0">
              <a:prstTxWarp prst="textArchUp">
                <a:avLst>
                  <a:gd name="adj" fmla="val 1356131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内容营销</a:t>
              </a:r>
              <a:endPar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3" name="文本框 92"/>
            <p:cNvSpPr txBox="1"/>
            <p:nvPr/>
          </p:nvSpPr>
          <p:spPr>
            <a:xfrm rot="19463872">
              <a:off x="4851" y="3015"/>
              <a:ext cx="2882" cy="2882"/>
            </a:xfrm>
            <a:prstGeom prst="rect">
              <a:avLst/>
            </a:prstGeom>
            <a:noFill/>
          </p:spPr>
          <p:txBody>
            <a:bodyPr wrap="square" rtlCol="0">
              <a:prstTxWarp prst="textArchUp">
                <a:avLst>
                  <a:gd name="adj" fmla="val 1356131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达人合作</a:t>
              </a:r>
              <a:endPar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35" name="PPT14"/>
          <p:cNvSpPr txBox="1"/>
          <p:nvPr/>
        </p:nvSpPr>
        <p:spPr>
          <a:xfrm>
            <a:off x="3584205" y="2842908"/>
            <a:ext cx="804685" cy="433070"/>
          </a:xfrm>
          <a:prstGeom prst="rect">
            <a:avLst/>
          </a:prstGeom>
          <a:noFill/>
          <a:effectLst/>
        </p:spPr>
        <p:txBody>
          <a:bodyPr wrap="square" lIns="0" tIns="0" rIns="0" bIns="0" rtlCol="0">
            <a:spAutoFit/>
          </a:bodyPr>
          <a:lstStyle/>
          <a:p>
            <a:pPr algn="ctr"/>
            <a:r>
              <a:rPr lang="zh-CN" altLang="en-US" sz="2815" b="1" dirty="0">
                <a:solidFill>
                  <a:schemeClr val="bg1"/>
                </a:solidFill>
                <a:latin typeface="微软雅黑" panose="020B0503020204020204" charset="-122"/>
                <a:ea typeface="微软雅黑" panose="020B0503020204020204" charset="-122"/>
                <a:cs typeface="微软雅黑" panose="020B0503020204020204" charset="-122"/>
              </a:rPr>
              <a:t>公域</a:t>
            </a:r>
            <a:endParaRPr lang="zh-CN" altLang="en-US" sz="2815"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8" name="文本框 137"/>
          <p:cNvSpPr txBox="1"/>
          <p:nvPr/>
        </p:nvSpPr>
        <p:spPr>
          <a:xfrm rot="6609597">
            <a:off x="3185795" y="1878330"/>
            <a:ext cx="1830070" cy="1830070"/>
          </a:xfrm>
          <a:prstGeom prst="rect">
            <a:avLst/>
          </a:prstGeom>
          <a:noFill/>
        </p:spPr>
        <p:txBody>
          <a:bodyPr wrap="square" rtlCol="0">
            <a:prstTxWarp prst="textArchUp">
              <a:avLst>
                <a:gd name="adj" fmla="val 1356131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线下引流</a:t>
            </a:r>
            <a:endPar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39" name="组合 138"/>
          <p:cNvGrpSpPr/>
          <p:nvPr/>
        </p:nvGrpSpPr>
        <p:grpSpPr>
          <a:xfrm>
            <a:off x="3037840" y="1865313"/>
            <a:ext cx="1962785" cy="1899920"/>
            <a:chOff x="4911" y="4141"/>
            <a:chExt cx="3091" cy="2992"/>
          </a:xfrm>
        </p:grpSpPr>
        <p:sp>
          <p:nvSpPr>
            <p:cNvPr id="140" name="文本框 139"/>
            <p:cNvSpPr txBox="1"/>
            <p:nvPr/>
          </p:nvSpPr>
          <p:spPr>
            <a:xfrm rot="2256641">
              <a:off x="5120" y="4141"/>
              <a:ext cx="2882" cy="2882"/>
            </a:xfrm>
            <a:prstGeom prst="rect">
              <a:avLst/>
            </a:prstGeom>
            <a:noFill/>
          </p:spPr>
          <p:txBody>
            <a:bodyPr wrap="square" rtlCol="0">
              <a:prstTxWarp prst="textArchUp">
                <a:avLst>
                  <a:gd name="adj" fmla="val 1356131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搜索优化</a:t>
              </a:r>
              <a:endPar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1" name="文本框 140"/>
            <p:cNvSpPr txBox="1"/>
            <p:nvPr/>
          </p:nvSpPr>
          <p:spPr>
            <a:xfrm rot="15133517">
              <a:off x="4911" y="4251"/>
              <a:ext cx="2882" cy="2882"/>
            </a:xfrm>
            <a:prstGeom prst="rect">
              <a:avLst/>
            </a:prstGeom>
            <a:noFill/>
          </p:spPr>
          <p:txBody>
            <a:bodyPr wrap="square" rtlCol="0">
              <a:prstTxWarp prst="textArchUp">
                <a:avLst>
                  <a:gd name="adj" fmla="val 1356131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平台曝光</a:t>
              </a:r>
              <a:endPar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42" name="组合 141"/>
          <p:cNvGrpSpPr/>
          <p:nvPr/>
        </p:nvGrpSpPr>
        <p:grpSpPr>
          <a:xfrm rot="0">
            <a:off x="7077294" y="1732915"/>
            <a:ext cx="2289372" cy="2286635"/>
            <a:chOff x="10043699" y="1470929"/>
            <a:chExt cx="4562633" cy="4557715"/>
          </a:xfrm>
          <a:solidFill>
            <a:schemeClr val="bg1"/>
          </a:solidFill>
        </p:grpSpPr>
        <p:sp>
          <p:nvSpPr>
            <p:cNvPr id="143" name="任意多边形: 形状 105"/>
            <p:cNvSpPr/>
            <p:nvPr/>
          </p:nvSpPr>
          <p:spPr>
            <a:xfrm>
              <a:off x="10043699" y="1470929"/>
              <a:ext cx="4551680" cy="4551680"/>
            </a:xfrm>
            <a:custGeom>
              <a:avLst/>
              <a:gdLst>
                <a:gd name="connsiteX0" fmla="*/ 2275840 w 4551680"/>
                <a:gd name="connsiteY0" fmla="*/ 0 h 4551680"/>
                <a:gd name="connsiteX1" fmla="*/ 4440292 w 4551680"/>
                <a:gd name="connsiteY1" fmla="*/ 1572567 h 4551680"/>
                <a:gd name="connsiteX2" fmla="*/ 2275840 w 4551680"/>
                <a:gd name="connsiteY2" fmla="*/ 2275840 h 4551680"/>
                <a:gd name="connsiteX3" fmla="*/ 2275840 w 4551680"/>
                <a:gd name="connsiteY3" fmla="*/ 0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2275840" y="0"/>
                  </a:moveTo>
                  <a:cubicBezTo>
                    <a:pt x="3261794" y="0"/>
                    <a:pt x="4135616" y="634869"/>
                    <a:pt x="4440292" y="1572567"/>
                  </a:cubicBezTo>
                  <a:lnTo>
                    <a:pt x="2275840" y="2275840"/>
                  </a:lnTo>
                  <a:lnTo>
                    <a:pt x="2275840" y="0"/>
                  </a:lnTo>
                  <a:close/>
                </a:path>
              </a:pathLst>
            </a:custGeom>
            <a:solidFill>
              <a:schemeClr val="accent1">
                <a:lumMod val="20000"/>
                <a:lumOff val="80000"/>
                <a:alpha val="20000"/>
              </a:schemeClr>
            </a:solidFill>
            <a:ln>
              <a:solidFill>
                <a:schemeClr val="accent1">
                  <a:lumMod val="20000"/>
                  <a:lumOff val="80000"/>
                  <a:alpha val="7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Overflow="overflow" horzOverflow="overflow" vert="horz" wrap="square" lIns="717127" tIns="746929" rIns="2396913" bIns="2854791" numCol="1" spcCol="1270" rtlCol="0" fromWordArt="0" anchor="ctr" anchorCtr="0" forceAA="0" compatLnSpc="1">
              <a:noAutofit/>
            </a:bodyPr>
            <a:lstStyle/>
            <a:p>
              <a:pPr lvl="0" algn="ctr" defTabSz="1866900">
                <a:lnSpc>
                  <a:spcPct val="90000"/>
                </a:lnSpc>
                <a:spcAft>
                  <a:spcPct val="35000"/>
                </a:spcAft>
                <a:buClrTx/>
                <a:buSzTx/>
                <a:buFontTx/>
                <a:defRPr/>
              </a:pPr>
              <a:endParaRPr lang="zh-CN" altLang="en-US" sz="42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44" name="任意多边形: 形状 107"/>
            <p:cNvSpPr/>
            <p:nvPr/>
          </p:nvSpPr>
          <p:spPr>
            <a:xfrm>
              <a:off x="10054652" y="1476964"/>
              <a:ext cx="4551680" cy="4551680"/>
            </a:xfrm>
            <a:custGeom>
              <a:avLst/>
              <a:gdLst>
                <a:gd name="connsiteX0" fmla="*/ 4440292 w 4551680"/>
                <a:gd name="connsiteY0" fmla="*/ 1572567 h 4551680"/>
                <a:gd name="connsiteX1" fmla="*/ 3613545 w 4551680"/>
                <a:gd name="connsiteY1" fmla="*/ 4117033 h 4551680"/>
                <a:gd name="connsiteX2" fmla="*/ 2275840 w 4551680"/>
                <a:gd name="connsiteY2" fmla="*/ 2275840 h 4551680"/>
                <a:gd name="connsiteX3" fmla="*/ 4440292 w 4551680"/>
                <a:gd name="connsiteY3" fmla="*/ 1572567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4440292" y="1572567"/>
                  </a:moveTo>
                  <a:cubicBezTo>
                    <a:pt x="4744968" y="2510265"/>
                    <a:pt x="4411198" y="3537504"/>
                    <a:pt x="3613545" y="4117033"/>
                  </a:cubicBezTo>
                  <a:lnTo>
                    <a:pt x="2275840" y="2275840"/>
                  </a:lnTo>
                  <a:lnTo>
                    <a:pt x="4440292" y="1572567"/>
                  </a:lnTo>
                  <a:close/>
                </a:path>
              </a:pathLst>
            </a:custGeom>
            <a:solidFill>
              <a:schemeClr val="accent1">
                <a:lumMod val="20000"/>
                <a:lumOff val="80000"/>
                <a:alpha val="20000"/>
              </a:schemeClr>
            </a:solidFill>
            <a:ln>
              <a:solidFill>
                <a:schemeClr val="accent1">
                  <a:lumMod val="20000"/>
                  <a:lumOff val="80000"/>
                  <a:alpha val="7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Overflow="overflow" horzOverflow="overflow" vert="horz" wrap="square" lIns="717127" tIns="746929" rIns="2396913" bIns="2854791" numCol="1" spcCol="1270" rtlCol="0" fromWordArt="0" anchor="ctr" anchorCtr="0" forceAA="0" compatLnSpc="1">
              <a:noAutofit/>
            </a:bodyPr>
            <a:lstStyle/>
            <a:p>
              <a:pPr lvl="0" algn="ctr" defTabSz="1866900">
                <a:lnSpc>
                  <a:spcPct val="90000"/>
                </a:lnSpc>
                <a:spcAft>
                  <a:spcPct val="35000"/>
                </a:spcAft>
                <a:buClrTx/>
                <a:buSzTx/>
                <a:buFontTx/>
                <a:defRPr/>
              </a:pPr>
              <a:endParaRPr lang="zh-CN" altLang="en-US" sz="42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45" name="任意多边形: 形状 108"/>
            <p:cNvSpPr/>
            <p:nvPr/>
          </p:nvSpPr>
          <p:spPr>
            <a:xfrm>
              <a:off x="10054652" y="1476964"/>
              <a:ext cx="4551680" cy="4551680"/>
            </a:xfrm>
            <a:custGeom>
              <a:avLst/>
              <a:gdLst>
                <a:gd name="connsiteX0" fmla="*/ 3613545 w 4551680"/>
                <a:gd name="connsiteY0" fmla="*/ 4117033 h 4551680"/>
                <a:gd name="connsiteX1" fmla="*/ 938135 w 4551680"/>
                <a:gd name="connsiteY1" fmla="*/ 4117033 h 4551680"/>
                <a:gd name="connsiteX2" fmla="*/ 2275840 w 4551680"/>
                <a:gd name="connsiteY2" fmla="*/ 2275840 h 4551680"/>
                <a:gd name="connsiteX3" fmla="*/ 3613545 w 4551680"/>
                <a:gd name="connsiteY3" fmla="*/ 4117033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3613545" y="4117033"/>
                  </a:moveTo>
                  <a:cubicBezTo>
                    <a:pt x="2815892" y="4696562"/>
                    <a:pt x="1735788" y="4696562"/>
                    <a:pt x="938135" y="4117033"/>
                  </a:cubicBezTo>
                  <a:lnTo>
                    <a:pt x="2275840" y="2275840"/>
                  </a:lnTo>
                  <a:lnTo>
                    <a:pt x="3613545" y="4117033"/>
                  </a:lnTo>
                  <a:close/>
                </a:path>
              </a:pathLst>
            </a:custGeom>
            <a:solidFill>
              <a:schemeClr val="accent1">
                <a:lumMod val="20000"/>
                <a:lumOff val="80000"/>
                <a:alpha val="20000"/>
              </a:schemeClr>
            </a:solidFill>
            <a:ln>
              <a:solidFill>
                <a:schemeClr val="accent1">
                  <a:lumMod val="20000"/>
                  <a:lumOff val="80000"/>
                  <a:alpha val="7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Overflow="overflow" horzOverflow="overflow" vert="horz" wrap="square" lIns="717127" tIns="746929" rIns="2396913" bIns="2854791" numCol="1" spcCol="1270" rtlCol="0" fromWordArt="0" anchor="ctr" anchorCtr="0" forceAA="0" compatLnSpc="1">
              <a:noAutofit/>
            </a:bodyPr>
            <a:lstStyle/>
            <a:p>
              <a:pPr lvl="0" algn="ctr" defTabSz="1866900">
                <a:lnSpc>
                  <a:spcPct val="90000"/>
                </a:lnSpc>
                <a:spcAft>
                  <a:spcPct val="35000"/>
                </a:spcAft>
                <a:buClrTx/>
                <a:buSzTx/>
                <a:buFontTx/>
                <a:defRPr/>
              </a:pPr>
              <a:endParaRPr lang="zh-CN" altLang="en-US" sz="42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46" name="任意多边形: 形状 109"/>
            <p:cNvSpPr/>
            <p:nvPr/>
          </p:nvSpPr>
          <p:spPr>
            <a:xfrm>
              <a:off x="10054652" y="1476964"/>
              <a:ext cx="4551680" cy="4551680"/>
            </a:xfrm>
            <a:custGeom>
              <a:avLst/>
              <a:gdLst>
                <a:gd name="connsiteX0" fmla="*/ 938135 w 4551680"/>
                <a:gd name="connsiteY0" fmla="*/ 4117033 h 4551680"/>
                <a:gd name="connsiteX1" fmla="*/ 111388 w 4551680"/>
                <a:gd name="connsiteY1" fmla="*/ 1572567 h 4551680"/>
                <a:gd name="connsiteX2" fmla="*/ 2275840 w 4551680"/>
                <a:gd name="connsiteY2" fmla="*/ 2275840 h 4551680"/>
                <a:gd name="connsiteX3" fmla="*/ 938135 w 4551680"/>
                <a:gd name="connsiteY3" fmla="*/ 4117033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938135" y="4117033"/>
                  </a:moveTo>
                  <a:cubicBezTo>
                    <a:pt x="140482" y="3537504"/>
                    <a:pt x="-193289" y="2510264"/>
                    <a:pt x="111388" y="1572567"/>
                  </a:cubicBezTo>
                  <a:lnTo>
                    <a:pt x="2275840" y="2275840"/>
                  </a:lnTo>
                  <a:lnTo>
                    <a:pt x="938135" y="4117033"/>
                  </a:lnTo>
                  <a:close/>
                </a:path>
              </a:pathLst>
            </a:custGeom>
            <a:solidFill>
              <a:schemeClr val="accent1">
                <a:lumMod val="20000"/>
                <a:lumOff val="80000"/>
                <a:alpha val="20000"/>
              </a:schemeClr>
            </a:solidFill>
            <a:ln>
              <a:solidFill>
                <a:schemeClr val="accent1">
                  <a:lumMod val="20000"/>
                  <a:lumOff val="80000"/>
                  <a:alpha val="7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Overflow="overflow" horzOverflow="overflow" vert="horz" wrap="square" lIns="717127" tIns="746929" rIns="2396913" bIns="2854791" numCol="1" spcCol="1270" rtlCol="0" fromWordArt="0" anchor="ctr" anchorCtr="0" forceAA="0" compatLnSpc="1">
              <a:noAutofit/>
            </a:bodyPr>
            <a:lstStyle/>
            <a:p>
              <a:pPr lvl="0" algn="ctr" defTabSz="1866900">
                <a:lnSpc>
                  <a:spcPct val="90000"/>
                </a:lnSpc>
                <a:spcAft>
                  <a:spcPct val="35000"/>
                </a:spcAft>
                <a:buClrTx/>
                <a:buSzTx/>
                <a:buFontTx/>
                <a:defRPr/>
              </a:pPr>
              <a:endParaRPr lang="zh-CN" altLang="en-US" sz="420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47" name="任意多边形: 形状 110"/>
            <p:cNvSpPr/>
            <p:nvPr/>
          </p:nvSpPr>
          <p:spPr>
            <a:xfrm>
              <a:off x="10054652" y="1476964"/>
              <a:ext cx="4551680" cy="4551680"/>
            </a:xfrm>
            <a:custGeom>
              <a:avLst/>
              <a:gdLst>
                <a:gd name="connsiteX0" fmla="*/ 111388 w 4551680"/>
                <a:gd name="connsiteY0" fmla="*/ 1572567 h 4551680"/>
                <a:gd name="connsiteX1" fmla="*/ 2275840 w 4551680"/>
                <a:gd name="connsiteY1" fmla="*/ 0 h 4551680"/>
                <a:gd name="connsiteX2" fmla="*/ 2275840 w 4551680"/>
                <a:gd name="connsiteY2" fmla="*/ 2275840 h 4551680"/>
                <a:gd name="connsiteX3" fmla="*/ 111388 w 4551680"/>
                <a:gd name="connsiteY3" fmla="*/ 1572567 h 4551680"/>
              </a:gdLst>
              <a:ahLst/>
              <a:cxnLst>
                <a:cxn ang="0">
                  <a:pos x="connsiteX0" y="connsiteY0"/>
                </a:cxn>
                <a:cxn ang="0">
                  <a:pos x="connsiteX1" y="connsiteY1"/>
                </a:cxn>
                <a:cxn ang="0">
                  <a:pos x="connsiteX2" y="connsiteY2"/>
                </a:cxn>
                <a:cxn ang="0">
                  <a:pos x="connsiteX3" y="connsiteY3"/>
                </a:cxn>
              </a:cxnLst>
              <a:rect l="l" t="t" r="r" b="b"/>
              <a:pathLst>
                <a:path w="4551680" h="4551680">
                  <a:moveTo>
                    <a:pt x="111388" y="1572567"/>
                  </a:moveTo>
                  <a:cubicBezTo>
                    <a:pt x="416064" y="634869"/>
                    <a:pt x="1289887" y="0"/>
                    <a:pt x="2275840" y="0"/>
                  </a:cubicBezTo>
                  <a:lnTo>
                    <a:pt x="2275840" y="2275840"/>
                  </a:lnTo>
                  <a:lnTo>
                    <a:pt x="111388" y="1572567"/>
                  </a:lnTo>
                  <a:close/>
                </a:path>
              </a:pathLst>
            </a:custGeom>
            <a:solidFill>
              <a:schemeClr val="accent1">
                <a:lumMod val="20000"/>
                <a:lumOff val="80000"/>
                <a:alpha val="20000"/>
              </a:schemeClr>
            </a:solidFill>
            <a:ln>
              <a:solidFill>
                <a:schemeClr val="accent1">
                  <a:lumMod val="20000"/>
                  <a:lumOff val="80000"/>
                  <a:alpha val="70000"/>
                </a:schemeClr>
              </a:solidFill>
            </a:ln>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spcFirstLastPara="0" vert="horz" wrap="square" lIns="717127" tIns="746929" rIns="2396913" bIns="2854791" numCol="1" spcCol="1270" anchor="ctr" anchorCtr="0">
              <a:noAutofit/>
            </a:bodyPr>
            <a:lstStyle/>
            <a:p>
              <a:pPr marL="0" marR="0" lvl="0" indent="0" algn="ctr" defTabSz="1866900" rtl="0" eaLnBrk="1" fontAlgn="auto" latinLnBrk="0" hangingPunct="1">
                <a:lnSpc>
                  <a:spcPct val="90000"/>
                </a:lnSpc>
                <a:spcBef>
                  <a:spcPct val="0"/>
                </a:spcBef>
                <a:spcAft>
                  <a:spcPct val="35000"/>
                </a:spcAft>
                <a:buClrTx/>
                <a:buSzTx/>
                <a:buFontTx/>
                <a:buNone/>
                <a:defRPr/>
              </a:pPr>
              <a:endParaRPr kumimoji="0" lang="zh-CN" altLang="en-US" sz="42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48" name="椭圆 147"/>
          <p:cNvSpPr/>
          <p:nvPr/>
        </p:nvSpPr>
        <p:spPr>
          <a:xfrm>
            <a:off x="7433945" y="2082165"/>
            <a:ext cx="1584325" cy="1583690"/>
          </a:xfrm>
          <a:prstGeom prst="ellipse">
            <a:avLst/>
          </a:prstGeom>
          <a:gradFill>
            <a:gsLst>
              <a:gs pos="0">
                <a:schemeClr val="accent1"/>
              </a:gs>
              <a:gs pos="100000">
                <a:schemeClr val="accent1">
                  <a:lumMod val="60000"/>
                  <a:lumOff val="4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6" name="PPT14"/>
          <p:cNvSpPr txBox="1"/>
          <p:nvPr/>
        </p:nvSpPr>
        <p:spPr>
          <a:xfrm>
            <a:off x="7823765" y="2894343"/>
            <a:ext cx="804685" cy="433070"/>
          </a:xfrm>
          <a:prstGeom prst="rect">
            <a:avLst/>
          </a:prstGeom>
          <a:noFill/>
          <a:effectLst/>
        </p:spPr>
        <p:txBody>
          <a:bodyPr wrap="square" lIns="0" tIns="0" rIns="0" bIns="0" rtlCol="0">
            <a:spAutoFit/>
          </a:bodyPr>
          <a:lstStyle/>
          <a:p>
            <a:pPr algn="ctr"/>
            <a:r>
              <a:rPr lang="zh-CN" altLang="en-US" sz="2815" b="1" dirty="0">
                <a:solidFill>
                  <a:schemeClr val="bg1"/>
                </a:solidFill>
                <a:latin typeface="微软雅黑" panose="020B0503020204020204" charset="-122"/>
                <a:ea typeface="微软雅黑" panose="020B0503020204020204" charset="-122"/>
                <a:cs typeface="微软雅黑" panose="020B0503020204020204" charset="-122"/>
              </a:rPr>
              <a:t>私域</a:t>
            </a:r>
            <a:endParaRPr lang="zh-CN" altLang="en-US" sz="2815" b="1"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165" name="图片 164" descr="私域"/>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970520" y="2331720"/>
            <a:ext cx="511175" cy="511175"/>
          </a:xfrm>
          <a:prstGeom prst="rect">
            <a:avLst/>
          </a:prstGeom>
        </p:spPr>
      </p:pic>
      <p:pic>
        <p:nvPicPr>
          <p:cNvPr id="166" name="图片 165" descr="公域"/>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703320" y="2186305"/>
            <a:ext cx="628015" cy="628015"/>
          </a:xfrm>
          <a:prstGeom prst="rect">
            <a:avLst/>
          </a:prstGeom>
        </p:spPr>
      </p:pic>
      <p:sp>
        <p:nvSpPr>
          <p:cNvPr id="167" name="文本框 166"/>
          <p:cNvSpPr txBox="1"/>
          <p:nvPr/>
        </p:nvSpPr>
        <p:spPr>
          <a:xfrm rot="15133517">
            <a:off x="9307830" y="4836795"/>
            <a:ext cx="1830070" cy="1830070"/>
          </a:xfrm>
          <a:prstGeom prst="rect">
            <a:avLst/>
          </a:prstGeom>
          <a:noFill/>
        </p:spPr>
        <p:txBody>
          <a:bodyPr wrap="square" rtlCol="0">
            <a:prstTxWarp prst="textArchUp">
              <a:avLst>
                <a:gd name="adj" fmla="val 1356131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社群互动</a:t>
            </a:r>
            <a:endPar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9" name="文本框 168"/>
          <p:cNvSpPr txBox="1"/>
          <p:nvPr/>
        </p:nvSpPr>
        <p:spPr>
          <a:xfrm rot="2256641">
            <a:off x="7374255" y="1924685"/>
            <a:ext cx="1830070" cy="1830070"/>
          </a:xfrm>
          <a:prstGeom prst="rect">
            <a:avLst/>
          </a:prstGeom>
          <a:noFill/>
        </p:spPr>
        <p:txBody>
          <a:bodyPr wrap="square" rtlCol="0">
            <a:prstTxWarp prst="textArchUp">
              <a:avLst>
                <a:gd name="adj" fmla="val 1356131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口碑传播</a:t>
            </a:r>
            <a:endPar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203" name="组合 202"/>
          <p:cNvGrpSpPr/>
          <p:nvPr/>
        </p:nvGrpSpPr>
        <p:grpSpPr>
          <a:xfrm>
            <a:off x="7252970" y="1931035"/>
            <a:ext cx="1946910" cy="1901825"/>
            <a:chOff x="4851" y="3015"/>
            <a:chExt cx="3066" cy="2995"/>
          </a:xfrm>
        </p:grpSpPr>
        <p:sp>
          <p:nvSpPr>
            <p:cNvPr id="205" name="文本框 204"/>
            <p:cNvSpPr txBox="1"/>
            <p:nvPr/>
          </p:nvSpPr>
          <p:spPr>
            <a:xfrm rot="10800000">
              <a:off x="5035" y="3128"/>
              <a:ext cx="2882" cy="2882"/>
            </a:xfrm>
            <a:prstGeom prst="rect">
              <a:avLst/>
            </a:prstGeom>
            <a:noFill/>
          </p:spPr>
          <p:txBody>
            <a:bodyPr wrap="square" rtlCol="0">
              <a:prstTxWarp prst="textArchUp">
                <a:avLst>
                  <a:gd name="adj" fmla="val 1356131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私域直播</a:t>
              </a:r>
              <a:endPar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6" name="文本框 205"/>
            <p:cNvSpPr txBox="1"/>
            <p:nvPr/>
          </p:nvSpPr>
          <p:spPr>
            <a:xfrm rot="19463872">
              <a:off x="4851" y="3015"/>
              <a:ext cx="2882" cy="2882"/>
            </a:xfrm>
            <a:prstGeom prst="rect">
              <a:avLst/>
            </a:prstGeom>
            <a:noFill/>
          </p:spPr>
          <p:txBody>
            <a:bodyPr wrap="square" rtlCol="0">
              <a:prstTxWarp prst="textArchUp">
                <a:avLst>
                  <a:gd name="adj" fmla="val 1356131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私域内容</a:t>
              </a:r>
              <a:endPar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212" name="文本框 211"/>
          <p:cNvSpPr txBox="1"/>
          <p:nvPr/>
        </p:nvSpPr>
        <p:spPr>
          <a:xfrm>
            <a:off x="5366068" y="1631950"/>
            <a:ext cx="1506855" cy="306705"/>
          </a:xfrm>
          <a:prstGeom prst="rect">
            <a:avLst/>
          </a:prstGeom>
        </p:spPr>
        <p:txBody>
          <a:bodyPr wrap="square">
            <a:spAutoFit/>
            <a:extLst>
              <a:ext uri="{4A0BC546-FE56-4ADE-93B0-CB8AF2F6F144}">
                <wpsdc:textFrameExt xmlns:wpsdc="http://www.wps.cn/officeDocument/2022/drawingmlCustomData" type="text"/>
              </a:ext>
            </a:extLst>
          </a:bodyPr>
          <a:p>
            <a:pPr algn="ctr"/>
            <a:r>
              <a:rPr lang="zh-CN" altLang="en-US" sz="1400">
                <a:solidFill>
                  <a:schemeClr val="tx2"/>
                </a:solidFill>
                <a:latin typeface="微软雅黑" panose="020B0503020204020204" charset="-122"/>
                <a:ea typeface="微软雅黑" panose="020B0503020204020204" charset="-122"/>
                <a:cs typeface="微软雅黑" panose="020B0503020204020204" charset="-122"/>
              </a:rPr>
              <a:t>精准引流</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13" name="文本框 212"/>
          <p:cNvSpPr txBox="1"/>
          <p:nvPr/>
        </p:nvSpPr>
        <p:spPr>
          <a:xfrm>
            <a:off x="5569903" y="3726180"/>
            <a:ext cx="1099185" cy="306705"/>
          </a:xfrm>
          <a:prstGeom prst="rect">
            <a:avLst/>
          </a:prstGeom>
          <a:noFill/>
          <a:extLst>
            <a:ext uri="{909E8E84-426E-40DD-AFC4-6F175D3DCCD1}">
              <a14:hiddenFill xmlns:a14="http://schemas.microsoft.com/office/drawing/2010/main">
                <a:solidFill>
                  <a:schemeClr val="tx2">
                    <a:lumMod val="60000"/>
                    <a:lumOff val="40000"/>
                  </a:schemeClr>
                </a:solidFill>
              </a14:hiddenFill>
            </a:ext>
          </a:extLst>
        </p:spPr>
        <p:txBody>
          <a:bodyPr wrap="square">
            <a:spAutoFit/>
            <a:extLst>
              <a:ext uri="{4A0BC546-FE56-4ADE-93B0-CB8AF2F6F144}">
                <wpsdc:textFrameExt xmlns:wpsdc="http://www.wps.cn/officeDocument/2022/drawingmlCustomData" type="text"/>
              </a:ext>
            </a:extLst>
          </a:bodyPr>
          <a:p>
            <a:pPr algn="ctr"/>
            <a:r>
              <a:rPr lang="zh-CN" altLang="en-US" sz="1400">
                <a:solidFill>
                  <a:schemeClr val="tx2"/>
                </a:solidFill>
                <a:latin typeface="微软雅黑" panose="020B0503020204020204" charset="-122"/>
                <a:ea typeface="微软雅黑" panose="020B0503020204020204" charset="-122"/>
                <a:cs typeface="微软雅黑" panose="020B0503020204020204" charset="-122"/>
              </a:rPr>
              <a:t>数据赋能</a:t>
            </a:r>
            <a:endParaRPr lang="zh-CN" altLang="en-US" sz="14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15" name="弧形 214"/>
          <p:cNvSpPr/>
          <p:nvPr/>
        </p:nvSpPr>
        <p:spPr>
          <a:xfrm>
            <a:off x="2807335" y="1540510"/>
            <a:ext cx="2489200" cy="2489200"/>
          </a:xfrm>
          <a:prstGeom prst="arc">
            <a:avLst>
              <a:gd name="adj1" fmla="val 18819948"/>
              <a:gd name="adj2" fmla="val 2010368"/>
            </a:avLst>
          </a:prstGeom>
          <a:noFill/>
          <a:ln w="19050">
            <a:gradFill>
              <a:gsLst>
                <a:gs pos="7000">
                  <a:schemeClr val="accent1">
                    <a:lumMod val="60000"/>
                    <a:lumOff val="40000"/>
                    <a:alpha val="0"/>
                  </a:schemeClr>
                </a:gs>
                <a:gs pos="100000">
                  <a:schemeClr val="accent1">
                    <a:lumMod val="60000"/>
                    <a:lumOff val="40000"/>
                  </a:schemeClr>
                </a:gs>
              </a:gsLst>
              <a:lin ang="5400000" scaled="1"/>
            </a:gra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BD6F1"/>
              </a:solidFill>
              <a:latin typeface="微软雅黑" panose="020B0503020204020204" charset="-122"/>
              <a:ea typeface="微软雅黑" panose="020B0503020204020204" charset="-122"/>
              <a:cs typeface="微软雅黑" panose="020B0503020204020204" charset="-122"/>
            </a:endParaRPr>
          </a:p>
        </p:txBody>
      </p:sp>
      <p:sp>
        <p:nvSpPr>
          <p:cNvPr id="216" name="弧形 215"/>
          <p:cNvSpPr/>
          <p:nvPr/>
        </p:nvSpPr>
        <p:spPr>
          <a:xfrm flipH="1">
            <a:off x="6929120" y="1600200"/>
            <a:ext cx="2489200" cy="2489200"/>
          </a:xfrm>
          <a:prstGeom prst="arc">
            <a:avLst>
              <a:gd name="adj1" fmla="val 18819948"/>
              <a:gd name="adj2" fmla="val 2010368"/>
            </a:avLst>
          </a:prstGeom>
          <a:noFill/>
          <a:ln w="19050">
            <a:gradFill>
              <a:gsLst>
                <a:gs pos="7000">
                  <a:schemeClr val="accent1">
                    <a:lumMod val="60000"/>
                    <a:lumOff val="40000"/>
                    <a:alpha val="0"/>
                  </a:schemeClr>
                </a:gs>
                <a:gs pos="100000">
                  <a:schemeClr val="accent1">
                    <a:lumMod val="60000"/>
                    <a:lumOff val="40000"/>
                  </a:schemeClr>
                </a:gs>
              </a:gsLst>
              <a:lin ang="5400000" scaled="1"/>
            </a:gra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olidFill>
                <a:srgbClr val="CBD6F1"/>
              </a:solidFill>
              <a:latin typeface="微软雅黑" panose="020B0503020204020204" charset="-122"/>
              <a:ea typeface="微软雅黑" panose="020B0503020204020204" charset="-122"/>
              <a:cs typeface="微软雅黑" panose="020B0503020204020204" charset="-122"/>
              <a:sym typeface="+mn-ea"/>
            </a:endParaRPr>
          </a:p>
        </p:txBody>
      </p:sp>
      <p:sp>
        <p:nvSpPr>
          <p:cNvPr id="217" name="子陵职场PPT5"/>
          <p:cNvSpPr/>
          <p:nvPr/>
        </p:nvSpPr>
        <p:spPr>
          <a:xfrm>
            <a:off x="5595620" y="2179320"/>
            <a:ext cx="1050925" cy="1053465"/>
          </a:xfrm>
          <a:prstGeom prst="ellipse">
            <a:avLst/>
          </a:prstGeom>
          <a:gradFill>
            <a:gsLst>
              <a:gs pos="0">
                <a:schemeClr val="accent5"/>
              </a:gs>
              <a:gs pos="100000">
                <a:schemeClr val="accent5">
                  <a:lumMod val="60000"/>
                  <a:lumOff val="4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r>
              <a:rPr lang="zh-CN" altLang="en-US" b="1"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rPr>
              <a:t>双轮驱动</a:t>
            </a:r>
            <a:endParaRPr lang="zh-CN" altLang="en-US" b="1"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224" name="组合 223"/>
          <p:cNvGrpSpPr/>
          <p:nvPr/>
        </p:nvGrpSpPr>
        <p:grpSpPr>
          <a:xfrm>
            <a:off x="148590" y="5120005"/>
            <a:ext cx="2914015" cy="1546860"/>
            <a:chOff x="234" y="8063"/>
            <a:chExt cx="4589" cy="2436"/>
          </a:xfrm>
        </p:grpSpPr>
        <p:sp>
          <p:nvSpPr>
            <p:cNvPr id="170" name="矩形 169"/>
            <p:cNvSpPr/>
            <p:nvPr/>
          </p:nvSpPr>
          <p:spPr>
            <a:xfrm>
              <a:off x="357" y="8063"/>
              <a:ext cx="4467" cy="2436"/>
            </a:xfrm>
            <a:prstGeom prst="rect">
              <a:avLst/>
            </a:prstGeom>
            <a:solidFill>
              <a:schemeClr val="bg1"/>
            </a:solidFill>
            <a:ln w="15875">
              <a:solidFill>
                <a:schemeClr val="tx2">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微软雅黑" panose="020B0503020204020204" charset="-122"/>
              </a:endParaRPr>
            </a:p>
          </p:txBody>
        </p:sp>
        <p:sp>
          <p:nvSpPr>
            <p:cNvPr id="175" name="矩形: 圆角 174"/>
            <p:cNvSpPr/>
            <p:nvPr/>
          </p:nvSpPr>
          <p:spPr>
            <a:xfrm rot="16200000">
              <a:off x="1980" y="6494"/>
              <a:ext cx="551" cy="4042"/>
            </a:xfrm>
            <a:prstGeom prst="roundRect">
              <a:avLst>
                <a:gd name="adj" fmla="val 50000"/>
              </a:avLst>
            </a:prstGeom>
            <a:gradFill flip="none" rotWithShape="1">
              <a:gsLst>
                <a:gs pos="30000">
                  <a:schemeClr val="accent5">
                    <a:lumMod val="20000"/>
                    <a:lumOff val="80000"/>
                    <a:alpha val="0"/>
                  </a:schemeClr>
                </a:gs>
                <a:gs pos="100000">
                  <a:schemeClr val="accent5">
                    <a:lumMod val="20000"/>
                    <a:lumOff val="80000"/>
                  </a:schemeClr>
                </a:gs>
              </a:gsLst>
              <a:lin ang="5400000" scaled="1"/>
              <a:tileRect/>
            </a:gradFill>
            <a:ln>
              <a:gradFill>
                <a:gsLst>
                  <a:gs pos="12000">
                    <a:schemeClr val="accent5">
                      <a:lumMod val="60000"/>
                      <a:lumOff val="40000"/>
                      <a:alpha val="0"/>
                    </a:schemeClr>
                  </a:gs>
                  <a:gs pos="100000">
                    <a:schemeClr val="accent5">
                      <a:lumMod val="60000"/>
                      <a:lumOff val="40000"/>
                    </a:schemeClr>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j-ea"/>
                <a:ea typeface="+mj-ea"/>
                <a:cs typeface="微软雅黑" panose="020B0503020204020204" charset="-122"/>
              </a:endParaRPr>
            </a:p>
          </p:txBody>
        </p:sp>
        <p:sp>
          <p:nvSpPr>
            <p:cNvPr id="177" name="文本框 176"/>
            <p:cNvSpPr txBox="1"/>
            <p:nvPr/>
          </p:nvSpPr>
          <p:spPr>
            <a:xfrm>
              <a:off x="650" y="8131"/>
              <a:ext cx="637" cy="824"/>
            </a:xfrm>
            <a:prstGeom prst="rect">
              <a:avLst/>
            </a:prstGeom>
            <a:noFill/>
          </p:spPr>
          <p:txBody>
            <a:bodyPr wrap="square">
              <a:spAutoFit/>
            </a:bodyPr>
            <a:lstStyle/>
            <a:p>
              <a:r>
                <a:rPr lang="en-US" altLang="zh-CN" sz="2800">
                  <a:ln>
                    <a:solidFill>
                      <a:schemeClr val="accent5"/>
                    </a:solidFill>
                  </a:ln>
                  <a:solidFill>
                    <a:schemeClr val="bg1"/>
                  </a:solidFill>
                  <a:effectLst/>
                  <a:latin typeface="+mj-ea"/>
                  <a:ea typeface="+mj-ea"/>
                  <a:cs typeface="微软雅黑" panose="020B0503020204020204" charset="-122"/>
                </a:rPr>
                <a:t>1</a:t>
              </a:r>
              <a:endParaRPr lang="en-US" altLang="zh-CN" sz="2800">
                <a:ln>
                  <a:solidFill>
                    <a:schemeClr val="accent5"/>
                  </a:solidFill>
                </a:ln>
                <a:solidFill>
                  <a:schemeClr val="bg1"/>
                </a:solidFill>
                <a:effectLst/>
                <a:latin typeface="+mj-ea"/>
                <a:ea typeface="+mj-ea"/>
                <a:cs typeface="微软雅黑" panose="020B0503020204020204" charset="-122"/>
              </a:endParaRPr>
            </a:p>
          </p:txBody>
        </p:sp>
        <p:sp>
          <p:nvSpPr>
            <p:cNvPr id="178" name="文本框 177"/>
            <p:cNvSpPr txBox="1"/>
            <p:nvPr/>
          </p:nvSpPr>
          <p:spPr>
            <a:xfrm>
              <a:off x="691" y="8890"/>
              <a:ext cx="3661" cy="1537"/>
            </a:xfrm>
            <a:prstGeom prst="rect">
              <a:avLst/>
            </a:prstGeom>
            <a:noFill/>
          </p:spPr>
          <p:txBody>
            <a:bodyPr wrap="square">
              <a:spAutoFit/>
            </a:bodyPr>
            <a:lstStyle/>
            <a:p>
              <a:pPr>
                <a:lnSpc>
                  <a:spcPct val="120000"/>
                </a:lnSpc>
                <a:spcBef>
                  <a:spcPts val="600"/>
                </a:spcBef>
              </a:pPr>
              <a:r>
                <a:rPr lang="zh-CN" altLang="en-US" sz="1200">
                  <a:solidFill>
                    <a:schemeClr val="tx2"/>
                  </a:solidFill>
                  <a:latin typeface="+mn-ea"/>
                  <a:cs typeface="微软雅黑" panose="020B0503020204020204" charset="-122"/>
                </a:rPr>
                <a:t>在公域平台通过优质内容吸引目标用户，再以福利或服务为诱饵，将其引导至私域池沉淀，完成流量闭环的第一步。</a:t>
              </a:r>
              <a:endParaRPr lang="zh-CN" altLang="en-US" sz="1200">
                <a:solidFill>
                  <a:schemeClr val="tx2"/>
                </a:solidFill>
                <a:latin typeface="+mn-ea"/>
                <a:cs typeface="微软雅黑" panose="020B0503020204020204" charset="-122"/>
              </a:endParaRPr>
            </a:p>
          </p:txBody>
        </p:sp>
        <p:sp>
          <p:nvSpPr>
            <p:cNvPr id="223" name="文本框 222"/>
            <p:cNvSpPr txBox="1"/>
            <p:nvPr/>
          </p:nvSpPr>
          <p:spPr>
            <a:xfrm>
              <a:off x="1226" y="8276"/>
              <a:ext cx="3050" cy="483"/>
            </a:xfrm>
            <a:prstGeom prst="rect">
              <a:avLst/>
            </a:prstGeom>
            <a:noFill/>
          </p:spPr>
          <p:txBody>
            <a:bodyPr wrap="square">
              <a:spAutoFit/>
            </a:bodyPr>
            <a:lstStyle/>
            <a:p>
              <a:r>
                <a:rPr lang="zh-CN" altLang="en-US" sz="1400" b="1">
                  <a:solidFill>
                    <a:schemeClr val="accent5"/>
                  </a:solidFill>
                  <a:latin typeface="+mj-ea"/>
                  <a:ea typeface="+mj-ea"/>
                  <a:cs typeface="微软雅黑" panose="020B0503020204020204" charset="-122"/>
                </a:rPr>
                <a:t>精准引流，沉淀私域</a:t>
              </a:r>
              <a:endParaRPr lang="zh-CN" altLang="en-US" sz="1400" b="1">
                <a:solidFill>
                  <a:schemeClr val="accent5"/>
                </a:solidFill>
                <a:latin typeface="+mj-ea"/>
                <a:ea typeface="+mj-ea"/>
                <a:cs typeface="微软雅黑" panose="020B0503020204020204" charset="-122"/>
              </a:endParaRPr>
            </a:p>
          </p:txBody>
        </p:sp>
      </p:grpSp>
      <p:grpSp>
        <p:nvGrpSpPr>
          <p:cNvPr id="225" name="组合 224"/>
          <p:cNvGrpSpPr/>
          <p:nvPr/>
        </p:nvGrpSpPr>
        <p:grpSpPr>
          <a:xfrm>
            <a:off x="3123565" y="5120005"/>
            <a:ext cx="2914015" cy="1546860"/>
            <a:chOff x="235" y="8063"/>
            <a:chExt cx="4589" cy="2436"/>
          </a:xfrm>
        </p:grpSpPr>
        <p:sp>
          <p:nvSpPr>
            <p:cNvPr id="226" name="矩形 225"/>
            <p:cNvSpPr/>
            <p:nvPr/>
          </p:nvSpPr>
          <p:spPr>
            <a:xfrm>
              <a:off x="357" y="8063"/>
              <a:ext cx="4467" cy="2436"/>
            </a:xfrm>
            <a:prstGeom prst="rect">
              <a:avLst/>
            </a:prstGeom>
            <a:solidFill>
              <a:schemeClr val="bg1"/>
            </a:solidFill>
            <a:ln w="15875">
              <a:solidFill>
                <a:schemeClr val="tx2">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微软雅黑" panose="020B0503020204020204" charset="-122"/>
              </a:endParaRPr>
            </a:p>
          </p:txBody>
        </p:sp>
        <p:sp>
          <p:nvSpPr>
            <p:cNvPr id="227" name="矩形: 圆角 174"/>
            <p:cNvSpPr/>
            <p:nvPr/>
          </p:nvSpPr>
          <p:spPr>
            <a:xfrm rot="16200000">
              <a:off x="1980" y="6494"/>
              <a:ext cx="551" cy="4042"/>
            </a:xfrm>
            <a:prstGeom prst="roundRect">
              <a:avLst>
                <a:gd name="adj" fmla="val 50000"/>
              </a:avLst>
            </a:prstGeom>
            <a:gradFill flip="none" rotWithShape="1">
              <a:gsLst>
                <a:gs pos="30000">
                  <a:schemeClr val="accent5">
                    <a:lumMod val="20000"/>
                    <a:lumOff val="80000"/>
                    <a:alpha val="0"/>
                  </a:schemeClr>
                </a:gs>
                <a:gs pos="100000">
                  <a:schemeClr val="accent5">
                    <a:lumMod val="20000"/>
                    <a:lumOff val="80000"/>
                  </a:schemeClr>
                </a:gs>
              </a:gsLst>
              <a:lin ang="5400000" scaled="1"/>
              <a:tileRect/>
            </a:gradFill>
            <a:ln>
              <a:gradFill>
                <a:gsLst>
                  <a:gs pos="12000">
                    <a:schemeClr val="accent5">
                      <a:lumMod val="60000"/>
                      <a:lumOff val="40000"/>
                      <a:alpha val="0"/>
                    </a:schemeClr>
                  </a:gs>
                  <a:gs pos="100000">
                    <a:schemeClr val="accent5">
                      <a:lumMod val="60000"/>
                      <a:lumOff val="40000"/>
                    </a:schemeClr>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j-ea"/>
                <a:ea typeface="+mj-ea"/>
                <a:cs typeface="微软雅黑" panose="020B0503020204020204" charset="-122"/>
              </a:endParaRPr>
            </a:p>
          </p:txBody>
        </p:sp>
        <p:sp>
          <p:nvSpPr>
            <p:cNvPr id="228" name="文本框 227"/>
            <p:cNvSpPr txBox="1"/>
            <p:nvPr/>
          </p:nvSpPr>
          <p:spPr>
            <a:xfrm>
              <a:off x="650" y="8131"/>
              <a:ext cx="637" cy="822"/>
            </a:xfrm>
            <a:prstGeom prst="rect">
              <a:avLst/>
            </a:prstGeom>
            <a:noFill/>
          </p:spPr>
          <p:txBody>
            <a:bodyPr wrap="square">
              <a:spAutoFit/>
            </a:bodyPr>
            <a:lstStyle/>
            <a:p>
              <a:r>
                <a:rPr lang="en-US" altLang="zh-CN" sz="2800">
                  <a:ln>
                    <a:solidFill>
                      <a:schemeClr val="accent5"/>
                    </a:solidFill>
                  </a:ln>
                  <a:solidFill>
                    <a:schemeClr val="bg1"/>
                  </a:solidFill>
                  <a:effectLst/>
                  <a:latin typeface="+mj-ea"/>
                  <a:ea typeface="+mj-ea"/>
                  <a:cs typeface="微软雅黑" panose="020B0503020204020204" charset="-122"/>
                </a:rPr>
                <a:t>2</a:t>
              </a:r>
              <a:endParaRPr lang="en-US" altLang="zh-CN" sz="2800">
                <a:ln>
                  <a:solidFill>
                    <a:schemeClr val="accent5"/>
                  </a:solidFill>
                </a:ln>
                <a:solidFill>
                  <a:schemeClr val="bg1"/>
                </a:solidFill>
                <a:effectLst/>
                <a:latin typeface="+mj-ea"/>
                <a:ea typeface="+mj-ea"/>
                <a:cs typeface="微软雅黑" panose="020B0503020204020204" charset="-122"/>
              </a:endParaRPr>
            </a:p>
          </p:txBody>
        </p:sp>
        <p:sp>
          <p:nvSpPr>
            <p:cNvPr id="229" name="文本框 228"/>
            <p:cNvSpPr txBox="1"/>
            <p:nvPr/>
          </p:nvSpPr>
          <p:spPr>
            <a:xfrm>
              <a:off x="691" y="8890"/>
              <a:ext cx="3661" cy="1537"/>
            </a:xfrm>
            <a:prstGeom prst="rect">
              <a:avLst/>
            </a:prstGeom>
            <a:noFill/>
          </p:spPr>
          <p:txBody>
            <a:bodyPr wrap="square">
              <a:spAutoFit/>
            </a:bodyPr>
            <a:lstStyle/>
            <a:p>
              <a:pPr>
                <a:lnSpc>
                  <a:spcPct val="120000"/>
                </a:lnSpc>
                <a:spcBef>
                  <a:spcPts val="600"/>
                </a:spcBef>
              </a:pPr>
              <a:r>
                <a:rPr lang="zh-CN" altLang="en-US" sz="1200">
                  <a:solidFill>
                    <a:schemeClr val="tx2"/>
                  </a:solidFill>
                  <a:latin typeface="+mn-ea"/>
                  <a:cs typeface="微软雅黑" panose="020B0503020204020204" charset="-122"/>
                </a:rPr>
                <a:t>在私域内对用户打标签分层，实施精细化、个性化互动，通过专属服务和社群活动，有效提升用户粘性与长期忠诚度。</a:t>
              </a:r>
              <a:endParaRPr lang="zh-CN" altLang="en-US" sz="1200">
                <a:solidFill>
                  <a:schemeClr val="tx2"/>
                </a:solidFill>
                <a:latin typeface="+mn-ea"/>
                <a:cs typeface="微软雅黑" panose="020B0503020204020204" charset="-122"/>
              </a:endParaRPr>
            </a:p>
          </p:txBody>
        </p:sp>
        <p:sp>
          <p:nvSpPr>
            <p:cNvPr id="230" name="文本框 229"/>
            <p:cNvSpPr txBox="1"/>
            <p:nvPr/>
          </p:nvSpPr>
          <p:spPr>
            <a:xfrm>
              <a:off x="1226" y="8276"/>
              <a:ext cx="3050" cy="483"/>
            </a:xfrm>
            <a:prstGeom prst="rect">
              <a:avLst/>
            </a:prstGeom>
            <a:noFill/>
          </p:spPr>
          <p:txBody>
            <a:bodyPr wrap="square">
              <a:spAutoFit/>
            </a:bodyPr>
            <a:lstStyle/>
            <a:p>
              <a:r>
                <a:rPr lang="zh-CN" altLang="en-US" sz="1400" b="1">
                  <a:solidFill>
                    <a:schemeClr val="accent5"/>
                  </a:solidFill>
                  <a:latin typeface="+mj-ea"/>
                  <a:ea typeface="+mj-ea"/>
                  <a:cs typeface="微软雅黑" panose="020B0503020204020204" charset="-122"/>
                </a:rPr>
                <a:t>分层运营，深耕用户</a:t>
              </a:r>
              <a:endParaRPr lang="zh-CN" altLang="en-US" sz="1400" b="1">
                <a:solidFill>
                  <a:schemeClr val="accent5"/>
                </a:solidFill>
                <a:latin typeface="+mj-ea"/>
                <a:ea typeface="+mj-ea"/>
                <a:cs typeface="微软雅黑" panose="020B0503020204020204" charset="-122"/>
              </a:endParaRPr>
            </a:p>
          </p:txBody>
        </p:sp>
      </p:grpSp>
      <p:grpSp>
        <p:nvGrpSpPr>
          <p:cNvPr id="231" name="组合 230"/>
          <p:cNvGrpSpPr/>
          <p:nvPr/>
        </p:nvGrpSpPr>
        <p:grpSpPr>
          <a:xfrm>
            <a:off x="6097905" y="5120005"/>
            <a:ext cx="2914015" cy="1546860"/>
            <a:chOff x="235" y="8063"/>
            <a:chExt cx="4589" cy="2436"/>
          </a:xfrm>
        </p:grpSpPr>
        <p:sp>
          <p:nvSpPr>
            <p:cNvPr id="232" name="矩形 231"/>
            <p:cNvSpPr/>
            <p:nvPr/>
          </p:nvSpPr>
          <p:spPr>
            <a:xfrm>
              <a:off x="357" y="8063"/>
              <a:ext cx="4467" cy="2436"/>
            </a:xfrm>
            <a:prstGeom prst="rect">
              <a:avLst/>
            </a:prstGeom>
            <a:solidFill>
              <a:schemeClr val="bg1"/>
            </a:solidFill>
            <a:ln w="15875">
              <a:solidFill>
                <a:schemeClr val="tx2">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微软雅黑" panose="020B0503020204020204" charset="-122"/>
              </a:endParaRPr>
            </a:p>
          </p:txBody>
        </p:sp>
        <p:sp>
          <p:nvSpPr>
            <p:cNvPr id="233" name="矩形: 圆角 174"/>
            <p:cNvSpPr/>
            <p:nvPr/>
          </p:nvSpPr>
          <p:spPr>
            <a:xfrm rot="16200000">
              <a:off x="1980" y="6494"/>
              <a:ext cx="551" cy="4042"/>
            </a:xfrm>
            <a:prstGeom prst="roundRect">
              <a:avLst>
                <a:gd name="adj" fmla="val 50000"/>
              </a:avLst>
            </a:prstGeom>
            <a:gradFill flip="none" rotWithShape="1">
              <a:gsLst>
                <a:gs pos="30000">
                  <a:schemeClr val="accent5">
                    <a:lumMod val="20000"/>
                    <a:lumOff val="80000"/>
                    <a:alpha val="0"/>
                  </a:schemeClr>
                </a:gs>
                <a:gs pos="100000">
                  <a:schemeClr val="accent5">
                    <a:lumMod val="20000"/>
                    <a:lumOff val="80000"/>
                  </a:schemeClr>
                </a:gs>
              </a:gsLst>
              <a:lin ang="5400000" scaled="1"/>
              <a:tileRect/>
            </a:gradFill>
            <a:ln>
              <a:gradFill>
                <a:gsLst>
                  <a:gs pos="12000">
                    <a:schemeClr val="accent5">
                      <a:lumMod val="60000"/>
                      <a:lumOff val="40000"/>
                      <a:alpha val="0"/>
                    </a:schemeClr>
                  </a:gs>
                  <a:gs pos="100000">
                    <a:schemeClr val="accent5">
                      <a:lumMod val="60000"/>
                      <a:lumOff val="40000"/>
                    </a:schemeClr>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j-ea"/>
                <a:ea typeface="+mj-ea"/>
                <a:cs typeface="微软雅黑" panose="020B0503020204020204" charset="-122"/>
              </a:endParaRPr>
            </a:p>
          </p:txBody>
        </p:sp>
        <p:sp>
          <p:nvSpPr>
            <p:cNvPr id="234" name="文本框 233"/>
            <p:cNvSpPr txBox="1"/>
            <p:nvPr/>
          </p:nvSpPr>
          <p:spPr>
            <a:xfrm>
              <a:off x="650" y="8131"/>
              <a:ext cx="637" cy="822"/>
            </a:xfrm>
            <a:prstGeom prst="rect">
              <a:avLst/>
            </a:prstGeom>
            <a:noFill/>
          </p:spPr>
          <p:txBody>
            <a:bodyPr wrap="square">
              <a:spAutoFit/>
            </a:bodyPr>
            <a:lstStyle/>
            <a:p>
              <a:r>
                <a:rPr lang="en-US" altLang="zh-CN" sz="2800">
                  <a:ln>
                    <a:solidFill>
                      <a:schemeClr val="accent5"/>
                    </a:solidFill>
                  </a:ln>
                  <a:solidFill>
                    <a:schemeClr val="bg1"/>
                  </a:solidFill>
                  <a:effectLst/>
                  <a:latin typeface="+mj-ea"/>
                  <a:ea typeface="+mj-ea"/>
                  <a:cs typeface="微软雅黑" panose="020B0503020204020204" charset="-122"/>
                </a:rPr>
                <a:t>3</a:t>
              </a:r>
              <a:endParaRPr lang="en-US" altLang="zh-CN" sz="2800">
                <a:ln>
                  <a:solidFill>
                    <a:schemeClr val="accent5"/>
                  </a:solidFill>
                </a:ln>
                <a:solidFill>
                  <a:schemeClr val="bg1"/>
                </a:solidFill>
                <a:effectLst/>
                <a:latin typeface="+mj-ea"/>
                <a:ea typeface="+mj-ea"/>
                <a:cs typeface="微软雅黑" panose="020B0503020204020204" charset="-122"/>
              </a:endParaRPr>
            </a:p>
          </p:txBody>
        </p:sp>
        <p:sp>
          <p:nvSpPr>
            <p:cNvPr id="235" name="文本框 234"/>
            <p:cNvSpPr txBox="1"/>
            <p:nvPr/>
          </p:nvSpPr>
          <p:spPr>
            <a:xfrm>
              <a:off x="691" y="8890"/>
              <a:ext cx="3661" cy="1537"/>
            </a:xfrm>
            <a:prstGeom prst="rect">
              <a:avLst/>
            </a:prstGeom>
            <a:noFill/>
          </p:spPr>
          <p:txBody>
            <a:bodyPr wrap="square">
              <a:spAutoFit/>
            </a:bodyPr>
            <a:lstStyle/>
            <a:p>
              <a:pPr>
                <a:lnSpc>
                  <a:spcPct val="120000"/>
                </a:lnSpc>
                <a:spcBef>
                  <a:spcPts val="600"/>
                </a:spcBef>
              </a:pPr>
              <a:r>
                <a:rPr lang="zh-CN" altLang="en-US" sz="1200">
                  <a:solidFill>
                    <a:schemeClr val="tx2"/>
                  </a:solidFill>
                  <a:latin typeface="+mn-ea"/>
                  <a:cs typeface="微软雅黑" panose="020B0503020204020204" charset="-122"/>
                </a:rPr>
                <a:t>激励私域用户进行口碑分享与内容生产（</a:t>
              </a:r>
              <a:r>
                <a:rPr lang="en-US" altLang="zh-CN" sz="1200">
                  <a:solidFill>
                    <a:schemeClr val="tx2"/>
                  </a:solidFill>
                  <a:latin typeface="+mn-ea"/>
                  <a:cs typeface="微软雅黑" panose="020B0503020204020204" charset="-122"/>
                </a:rPr>
                <a:t>UGC</a:t>
              </a:r>
              <a:r>
                <a:rPr lang="zh-CN" altLang="en-US" sz="1200">
                  <a:solidFill>
                    <a:schemeClr val="tx2"/>
                  </a:solidFill>
                  <a:latin typeface="+mn-ea"/>
                  <a:cs typeface="微软雅黑" panose="020B0503020204020204" charset="-122"/>
                </a:rPr>
                <a:t>），筛选优质内容反哺公域，借助真实体验吸引新用户，实现裂变式增长。</a:t>
              </a:r>
              <a:endParaRPr lang="zh-CN" altLang="en-US" sz="1200">
                <a:solidFill>
                  <a:schemeClr val="tx2"/>
                </a:solidFill>
                <a:latin typeface="+mn-ea"/>
                <a:cs typeface="微软雅黑" panose="020B0503020204020204" charset="-122"/>
              </a:endParaRPr>
            </a:p>
          </p:txBody>
        </p:sp>
        <p:sp>
          <p:nvSpPr>
            <p:cNvPr id="236" name="文本框 235"/>
            <p:cNvSpPr txBox="1"/>
            <p:nvPr/>
          </p:nvSpPr>
          <p:spPr>
            <a:xfrm>
              <a:off x="1226" y="8276"/>
              <a:ext cx="3050" cy="483"/>
            </a:xfrm>
            <a:prstGeom prst="rect">
              <a:avLst/>
            </a:prstGeom>
            <a:noFill/>
          </p:spPr>
          <p:txBody>
            <a:bodyPr wrap="square">
              <a:spAutoFit/>
            </a:bodyPr>
            <a:lstStyle/>
            <a:p>
              <a:r>
                <a:rPr lang="zh-CN" altLang="en-US" sz="1400" b="1">
                  <a:solidFill>
                    <a:schemeClr val="accent5"/>
                  </a:solidFill>
                  <a:latin typeface="+mj-ea"/>
                  <a:ea typeface="+mj-ea"/>
                  <a:cs typeface="微软雅黑" panose="020B0503020204020204" charset="-122"/>
                </a:rPr>
                <a:t>内容共创，放大声量</a:t>
              </a:r>
              <a:endParaRPr lang="zh-CN" altLang="en-US" sz="1400" b="1">
                <a:solidFill>
                  <a:schemeClr val="accent5"/>
                </a:solidFill>
                <a:latin typeface="+mj-ea"/>
                <a:ea typeface="+mj-ea"/>
                <a:cs typeface="微软雅黑" panose="020B0503020204020204" charset="-122"/>
              </a:endParaRPr>
            </a:p>
          </p:txBody>
        </p:sp>
      </p:grpSp>
      <p:grpSp>
        <p:nvGrpSpPr>
          <p:cNvPr id="237" name="组合 236"/>
          <p:cNvGrpSpPr/>
          <p:nvPr/>
        </p:nvGrpSpPr>
        <p:grpSpPr>
          <a:xfrm>
            <a:off x="9072245" y="5120005"/>
            <a:ext cx="2914015" cy="1546860"/>
            <a:chOff x="235" y="8063"/>
            <a:chExt cx="4589" cy="2436"/>
          </a:xfrm>
        </p:grpSpPr>
        <p:sp>
          <p:nvSpPr>
            <p:cNvPr id="238" name="矩形 237"/>
            <p:cNvSpPr/>
            <p:nvPr/>
          </p:nvSpPr>
          <p:spPr>
            <a:xfrm>
              <a:off x="357" y="8063"/>
              <a:ext cx="4467" cy="2436"/>
            </a:xfrm>
            <a:prstGeom prst="rect">
              <a:avLst/>
            </a:prstGeom>
            <a:solidFill>
              <a:schemeClr val="bg1"/>
            </a:solidFill>
            <a:ln w="15875">
              <a:solidFill>
                <a:schemeClr val="tx2">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mn-ea"/>
                <a:cs typeface="微软雅黑" panose="020B0503020204020204" charset="-122"/>
              </a:endParaRPr>
            </a:p>
          </p:txBody>
        </p:sp>
        <p:sp>
          <p:nvSpPr>
            <p:cNvPr id="239" name="矩形: 圆角 174"/>
            <p:cNvSpPr/>
            <p:nvPr/>
          </p:nvSpPr>
          <p:spPr>
            <a:xfrm rot="16200000">
              <a:off x="1980" y="6494"/>
              <a:ext cx="551" cy="4042"/>
            </a:xfrm>
            <a:prstGeom prst="roundRect">
              <a:avLst>
                <a:gd name="adj" fmla="val 50000"/>
              </a:avLst>
            </a:prstGeom>
            <a:gradFill flip="none" rotWithShape="1">
              <a:gsLst>
                <a:gs pos="30000">
                  <a:schemeClr val="accent5">
                    <a:lumMod val="20000"/>
                    <a:lumOff val="80000"/>
                    <a:alpha val="0"/>
                  </a:schemeClr>
                </a:gs>
                <a:gs pos="100000">
                  <a:schemeClr val="accent5">
                    <a:lumMod val="20000"/>
                    <a:lumOff val="80000"/>
                  </a:schemeClr>
                </a:gs>
              </a:gsLst>
              <a:lin ang="5400000" scaled="1"/>
              <a:tileRect/>
            </a:gradFill>
            <a:ln>
              <a:gradFill>
                <a:gsLst>
                  <a:gs pos="12000">
                    <a:schemeClr val="accent5">
                      <a:lumMod val="60000"/>
                      <a:lumOff val="40000"/>
                      <a:alpha val="0"/>
                    </a:schemeClr>
                  </a:gs>
                  <a:gs pos="100000">
                    <a:schemeClr val="accent5">
                      <a:lumMod val="60000"/>
                      <a:lumOff val="40000"/>
                    </a:schemeClr>
                  </a:gs>
                </a:gsLst>
                <a:lin ang="5400000" scaled="1"/>
              </a:gra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sz="1600">
                <a:latin typeface="+mj-ea"/>
                <a:ea typeface="+mj-ea"/>
                <a:cs typeface="微软雅黑" panose="020B0503020204020204" charset="-122"/>
              </a:endParaRPr>
            </a:p>
          </p:txBody>
        </p:sp>
        <p:sp>
          <p:nvSpPr>
            <p:cNvPr id="240" name="文本框 239"/>
            <p:cNvSpPr txBox="1"/>
            <p:nvPr/>
          </p:nvSpPr>
          <p:spPr>
            <a:xfrm>
              <a:off x="650" y="8131"/>
              <a:ext cx="637" cy="822"/>
            </a:xfrm>
            <a:prstGeom prst="rect">
              <a:avLst/>
            </a:prstGeom>
            <a:noFill/>
          </p:spPr>
          <p:txBody>
            <a:bodyPr wrap="square">
              <a:spAutoFit/>
            </a:bodyPr>
            <a:lstStyle/>
            <a:p>
              <a:r>
                <a:rPr lang="en-US" altLang="zh-CN" sz="2800">
                  <a:ln>
                    <a:solidFill>
                      <a:schemeClr val="accent5"/>
                    </a:solidFill>
                  </a:ln>
                  <a:solidFill>
                    <a:schemeClr val="bg1"/>
                  </a:solidFill>
                  <a:effectLst/>
                  <a:latin typeface="+mj-ea"/>
                  <a:ea typeface="+mj-ea"/>
                  <a:cs typeface="微软雅黑" panose="020B0503020204020204" charset="-122"/>
                </a:rPr>
                <a:t>4</a:t>
              </a:r>
              <a:endParaRPr lang="en-US" altLang="zh-CN" sz="2800">
                <a:ln>
                  <a:solidFill>
                    <a:schemeClr val="accent5"/>
                  </a:solidFill>
                </a:ln>
                <a:solidFill>
                  <a:schemeClr val="bg1"/>
                </a:solidFill>
                <a:effectLst/>
                <a:latin typeface="+mj-ea"/>
                <a:ea typeface="+mj-ea"/>
                <a:cs typeface="微软雅黑" panose="020B0503020204020204" charset="-122"/>
              </a:endParaRPr>
            </a:p>
          </p:txBody>
        </p:sp>
        <p:sp>
          <p:nvSpPr>
            <p:cNvPr id="241" name="文本框 240"/>
            <p:cNvSpPr txBox="1"/>
            <p:nvPr/>
          </p:nvSpPr>
          <p:spPr>
            <a:xfrm>
              <a:off x="691" y="8890"/>
              <a:ext cx="3661" cy="1537"/>
            </a:xfrm>
            <a:prstGeom prst="rect">
              <a:avLst/>
            </a:prstGeom>
            <a:noFill/>
          </p:spPr>
          <p:txBody>
            <a:bodyPr wrap="square">
              <a:spAutoFit/>
            </a:bodyPr>
            <a:lstStyle/>
            <a:p>
              <a:pPr>
                <a:lnSpc>
                  <a:spcPct val="120000"/>
                </a:lnSpc>
                <a:spcBef>
                  <a:spcPts val="600"/>
                </a:spcBef>
              </a:pPr>
              <a:r>
                <a:rPr lang="zh-CN" altLang="en-US" sz="1200">
                  <a:solidFill>
                    <a:schemeClr val="tx2"/>
                  </a:solidFill>
                  <a:latin typeface="+mn-ea"/>
                  <a:cs typeface="微软雅黑" panose="020B0503020204020204" charset="-122"/>
                </a:rPr>
                <a:t>打通公私域数据，分析用户全生命周期行为，用私域的深度洞察反哺公域的广告投放与内容策略，形成持续优化的增长飞轮。</a:t>
              </a:r>
              <a:endParaRPr lang="zh-CN" altLang="en-US" sz="1200">
                <a:solidFill>
                  <a:schemeClr val="tx2"/>
                </a:solidFill>
                <a:latin typeface="+mn-ea"/>
                <a:cs typeface="微软雅黑" panose="020B0503020204020204" charset="-122"/>
              </a:endParaRPr>
            </a:p>
          </p:txBody>
        </p:sp>
        <p:sp>
          <p:nvSpPr>
            <p:cNvPr id="242" name="文本框 241"/>
            <p:cNvSpPr txBox="1"/>
            <p:nvPr/>
          </p:nvSpPr>
          <p:spPr>
            <a:xfrm>
              <a:off x="1226" y="8276"/>
              <a:ext cx="3050" cy="483"/>
            </a:xfrm>
            <a:prstGeom prst="rect">
              <a:avLst/>
            </a:prstGeom>
            <a:noFill/>
          </p:spPr>
          <p:txBody>
            <a:bodyPr wrap="square">
              <a:spAutoFit/>
            </a:bodyPr>
            <a:lstStyle/>
            <a:p>
              <a:r>
                <a:rPr lang="zh-CN" altLang="en-US" sz="1400" b="1">
                  <a:solidFill>
                    <a:schemeClr val="accent5"/>
                  </a:solidFill>
                  <a:latin typeface="+mj-ea"/>
                  <a:ea typeface="+mj-ea"/>
                  <a:cs typeface="微软雅黑" panose="020B0503020204020204" charset="-122"/>
                </a:rPr>
                <a:t>数据闭环，驱动增长</a:t>
              </a:r>
              <a:endParaRPr lang="zh-CN" altLang="en-US" sz="1400" b="1">
                <a:solidFill>
                  <a:schemeClr val="accent5"/>
                </a:solidFill>
                <a:latin typeface="+mj-ea"/>
                <a:ea typeface="+mj-ea"/>
                <a:cs typeface="微软雅黑" panose="020B0503020204020204" charset="-122"/>
              </a:endParaRPr>
            </a:p>
          </p:txBody>
        </p:sp>
      </p:grpSp>
      <p:sp>
        <p:nvSpPr>
          <p:cNvPr id="263" name="PPT63"/>
          <p:cNvSpPr txBox="1"/>
          <p:nvPr/>
        </p:nvSpPr>
        <p:spPr>
          <a:xfrm>
            <a:off x="3553460" y="4601071"/>
            <a:ext cx="1815465" cy="245745"/>
          </a:xfrm>
          <a:prstGeom prst="rect">
            <a:avLst/>
          </a:prstGeom>
          <a:noFill/>
        </p:spPr>
        <p:txBody>
          <a:bodyPr wrap="square" lIns="0" tIns="0" rIns="0" bIns="0">
            <a:spAutoFit/>
          </a:bodyPr>
          <a:lstStyle/>
          <a:p>
            <a:r>
              <a:rPr lang="zh-CN" altLang="en-US" sz="1600" b="1" i="0" dirty="0">
                <a:solidFill>
                  <a:schemeClr val="tx2"/>
                </a:solidFill>
                <a:effectLst/>
                <a:latin typeface="微软雅黑" panose="020B0503020204020204" charset="-122"/>
                <a:ea typeface="微软雅黑" panose="020B0503020204020204" charset="-122"/>
                <a:cs typeface="微软雅黑" panose="020B0503020204020204" charset="-122"/>
              </a:rPr>
              <a:t>广泛拓展</a:t>
            </a:r>
            <a:r>
              <a:rPr lang="en-US" altLang="zh-CN" sz="1600" b="1" i="0" dirty="0">
                <a:solidFill>
                  <a:schemeClr val="tx2"/>
                </a:solidFill>
                <a:effectLst/>
                <a:latin typeface="微软雅黑" panose="020B0503020204020204" charset="-122"/>
                <a:ea typeface="微软雅黑" panose="020B0503020204020204" charset="-122"/>
                <a:cs typeface="微软雅黑" panose="020B0503020204020204" charset="-122"/>
              </a:rPr>
              <a:t> </a:t>
            </a:r>
            <a:r>
              <a:rPr lang="zh-CN" altLang="en-US" sz="1600" b="1" i="0" dirty="0">
                <a:solidFill>
                  <a:schemeClr val="tx2"/>
                </a:solidFill>
                <a:effectLst/>
                <a:latin typeface="微软雅黑" panose="020B0503020204020204" charset="-122"/>
                <a:ea typeface="微软雅黑" panose="020B0503020204020204" charset="-122"/>
                <a:cs typeface="微软雅黑" panose="020B0503020204020204" charset="-122"/>
              </a:rPr>
              <a:t>打响品牌</a:t>
            </a:r>
            <a:endParaRPr lang="zh-CN" altLang="en-US" sz="1600" b="1" i="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64" name="PPT64"/>
          <p:cNvSpPr txBox="1"/>
          <p:nvPr/>
        </p:nvSpPr>
        <p:spPr>
          <a:xfrm>
            <a:off x="6721475" y="4601071"/>
            <a:ext cx="1990725" cy="245745"/>
          </a:xfrm>
          <a:prstGeom prst="rect">
            <a:avLst/>
          </a:prstGeom>
          <a:noFill/>
        </p:spPr>
        <p:txBody>
          <a:bodyPr wrap="square" lIns="0" tIns="0" rIns="0" bIns="0">
            <a:spAutoFit/>
          </a:bodyPr>
          <a:lstStyle/>
          <a:p>
            <a:pPr lvl="0" algn="l">
              <a:buClrTx/>
              <a:buSzTx/>
              <a:buFontTx/>
            </a:pPr>
            <a:r>
              <a:rPr lang="zh-CN" altLang="en-US" sz="1600" b="1" dirty="0">
                <a:solidFill>
                  <a:schemeClr val="tx2"/>
                </a:solidFill>
                <a:effectLst/>
                <a:latin typeface="微软雅黑" panose="020B0503020204020204" charset="-122"/>
                <a:ea typeface="微软雅黑" panose="020B0503020204020204" charset="-122"/>
                <a:cs typeface="微软雅黑" panose="020B0503020204020204" charset="-122"/>
                <a:sym typeface="+mn-ea"/>
              </a:rPr>
              <a:t>精耕细作</a:t>
            </a:r>
            <a:r>
              <a:rPr lang="en-US" altLang="zh-CN" sz="1600" b="1" dirty="0">
                <a:solidFill>
                  <a:schemeClr val="tx2"/>
                </a:solidFill>
                <a:effectLst/>
                <a:latin typeface="微软雅黑" panose="020B0503020204020204" charset="-122"/>
                <a:ea typeface="微软雅黑" panose="020B0503020204020204" charset="-122"/>
                <a:cs typeface="微软雅黑" panose="020B0503020204020204" charset="-122"/>
                <a:sym typeface="+mn-ea"/>
              </a:rPr>
              <a:t> </a:t>
            </a:r>
            <a:r>
              <a:rPr lang="zh-CN" altLang="en-US" sz="1600" b="1" dirty="0">
                <a:solidFill>
                  <a:schemeClr val="tx2"/>
                </a:solidFill>
                <a:effectLst/>
                <a:latin typeface="微软雅黑" panose="020B0503020204020204" charset="-122"/>
                <a:ea typeface="微软雅黑" panose="020B0503020204020204" charset="-122"/>
                <a:cs typeface="微软雅黑" panose="020B0503020204020204" charset="-122"/>
                <a:sym typeface="+mn-ea"/>
              </a:rPr>
              <a:t>沉淀用户</a:t>
            </a:r>
            <a:endParaRPr lang="zh-CN" altLang="en-US" sz="1600" b="1" dirty="0">
              <a:solidFill>
                <a:schemeClr val="tx2"/>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280" name="PPT67"/>
          <p:cNvSpPr/>
          <p:nvPr/>
        </p:nvSpPr>
        <p:spPr>
          <a:xfrm>
            <a:off x="5758014" y="4548228"/>
            <a:ext cx="675971" cy="351430"/>
          </a:xfrm>
          <a:custGeom>
            <a:avLst/>
            <a:gdLst>
              <a:gd name="connsiteX0" fmla="*/ 157356 w 675971"/>
              <a:gd name="connsiteY0" fmla="*/ 0 h 351430"/>
              <a:gd name="connsiteX1" fmla="*/ 157356 w 675971"/>
              <a:gd name="connsiteY1" fmla="*/ 107477 h 351430"/>
              <a:gd name="connsiteX2" fmla="*/ 518615 w 675971"/>
              <a:gd name="connsiteY2" fmla="*/ 107477 h 351430"/>
              <a:gd name="connsiteX3" fmla="*/ 518615 w 675971"/>
              <a:gd name="connsiteY3" fmla="*/ 0 h 351430"/>
              <a:gd name="connsiteX4" fmla="*/ 675971 w 675971"/>
              <a:gd name="connsiteY4" fmla="*/ 175715 h 351430"/>
              <a:gd name="connsiteX5" fmla="*/ 518615 w 675971"/>
              <a:gd name="connsiteY5" fmla="*/ 351430 h 351430"/>
              <a:gd name="connsiteX6" fmla="*/ 518615 w 675971"/>
              <a:gd name="connsiteY6" fmla="*/ 243954 h 351430"/>
              <a:gd name="connsiteX7" fmla="*/ 157356 w 675971"/>
              <a:gd name="connsiteY7" fmla="*/ 243954 h 351430"/>
              <a:gd name="connsiteX8" fmla="*/ 157356 w 675971"/>
              <a:gd name="connsiteY8" fmla="*/ 351430 h 351430"/>
              <a:gd name="connsiteX9" fmla="*/ 0 w 675971"/>
              <a:gd name="connsiteY9" fmla="*/ 175715 h 3514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75971" h="351430">
                <a:moveTo>
                  <a:pt x="157356" y="0"/>
                </a:moveTo>
                <a:lnTo>
                  <a:pt x="157356" y="107477"/>
                </a:lnTo>
                <a:lnTo>
                  <a:pt x="518615" y="107477"/>
                </a:lnTo>
                <a:lnTo>
                  <a:pt x="518615" y="0"/>
                </a:lnTo>
                <a:lnTo>
                  <a:pt x="675971" y="175715"/>
                </a:lnTo>
                <a:lnTo>
                  <a:pt x="518615" y="351430"/>
                </a:lnTo>
                <a:lnTo>
                  <a:pt x="518615" y="243954"/>
                </a:lnTo>
                <a:lnTo>
                  <a:pt x="157356" y="243954"/>
                </a:lnTo>
                <a:lnTo>
                  <a:pt x="157356" y="351430"/>
                </a:lnTo>
                <a:lnTo>
                  <a:pt x="0" y="175715"/>
                </a:lnTo>
                <a:close/>
              </a:path>
            </a:pathLst>
          </a:cu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43" name="文本框 242"/>
          <p:cNvSpPr txBox="1"/>
          <p:nvPr/>
        </p:nvSpPr>
        <p:spPr>
          <a:xfrm rot="6609597">
            <a:off x="7390765" y="1958340"/>
            <a:ext cx="1830070" cy="1830070"/>
          </a:xfrm>
          <a:prstGeom prst="rect">
            <a:avLst/>
          </a:prstGeom>
          <a:noFill/>
        </p:spPr>
        <p:txBody>
          <a:bodyPr wrap="square" rtlCol="0">
            <a:prstTxWarp prst="textArchUp">
              <a:avLst>
                <a:gd name="adj" fmla="val 1356131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会员专享受</a:t>
            </a:r>
            <a:endPar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5" name="文本框 244"/>
          <p:cNvSpPr txBox="1"/>
          <p:nvPr/>
        </p:nvSpPr>
        <p:spPr>
          <a:xfrm rot="15133517">
            <a:off x="7270115" y="1998028"/>
            <a:ext cx="1830070" cy="1830070"/>
          </a:xfrm>
          <a:prstGeom prst="rect">
            <a:avLst/>
          </a:prstGeom>
          <a:noFill/>
        </p:spPr>
        <p:txBody>
          <a:bodyPr wrap="square" rtlCol="0">
            <a:prstTxWarp prst="textArchUp">
              <a:avLst>
                <a:gd name="adj" fmla="val 13561318"/>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社群历史</a:t>
            </a:r>
            <a:endParaRPr kumimoji="0" 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6" name="子陵职场PPT17"/>
          <p:cNvSpPr/>
          <p:nvPr/>
        </p:nvSpPr>
        <p:spPr>
          <a:xfrm rot="5400000">
            <a:off x="5979160" y="3257550"/>
            <a:ext cx="350520" cy="413385"/>
          </a:xfrm>
          <a:prstGeom prst="stripedRightArrow">
            <a:avLst>
              <a:gd name="adj1" fmla="val 50000"/>
              <a:gd name="adj2" fmla="val 50000"/>
            </a:avLst>
          </a:prstGeom>
          <a:gradFill>
            <a:gsLst>
              <a:gs pos="0">
                <a:schemeClr val="accent5"/>
              </a:gs>
              <a:gs pos="100000">
                <a:schemeClr val="accent5">
                  <a:lumMod val="60000"/>
                  <a:lumOff val="4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47" name="子陵职场PPT15"/>
          <p:cNvSpPr/>
          <p:nvPr/>
        </p:nvSpPr>
        <p:spPr>
          <a:xfrm rot="10800000" flipH="1">
            <a:off x="6686568" y="2580594"/>
            <a:ext cx="181707" cy="250917"/>
          </a:xfrm>
          <a:prstGeom prst="stripedRightArrow">
            <a:avLst>
              <a:gd name="adj1" fmla="val 50000"/>
              <a:gd name="adj2" fmla="val 50000"/>
            </a:avLst>
          </a:prstGeom>
          <a:gradFill>
            <a:gsLst>
              <a:gs pos="0">
                <a:schemeClr val="accent5"/>
              </a:gs>
              <a:gs pos="100000">
                <a:schemeClr val="accent5">
                  <a:lumMod val="60000"/>
                  <a:lumOff val="4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48" name="子陵职场PPT15"/>
          <p:cNvSpPr/>
          <p:nvPr/>
        </p:nvSpPr>
        <p:spPr>
          <a:xfrm rot="10800000">
            <a:off x="5371483" y="2574879"/>
            <a:ext cx="181707" cy="250917"/>
          </a:xfrm>
          <a:prstGeom prst="stripedRightArrow">
            <a:avLst>
              <a:gd name="adj1" fmla="val 50000"/>
              <a:gd name="adj2" fmla="val 50000"/>
            </a:avLst>
          </a:prstGeom>
          <a:gradFill>
            <a:gsLst>
              <a:gs pos="0">
                <a:schemeClr val="accent5"/>
              </a:gs>
              <a:gs pos="100000">
                <a:schemeClr val="accent5">
                  <a:lumMod val="60000"/>
                  <a:lumOff val="40000"/>
                </a:schemeClr>
              </a:gs>
            </a:gsLst>
            <a:lin ang="27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spcFirstLastPara="0" vertOverflow="overflow" horzOverflow="overflow" vert="horz" wrap="square" lIns="91440" tIns="45720" rIns="91440" bIns="45720" numCol="1" spcCol="0" rtlCol="0" fromWordArt="0" anchor="ctr" anchorCtr="0" forceAA="0" compatLnSpc="1">
            <a:noAutofit/>
          </a:bodyPr>
          <a:lstStyle/>
          <a:p>
            <a:pPr lvl="0" algn="ctr">
              <a:spcBef>
                <a:spcPts val="0"/>
              </a:spcBef>
              <a:spcAft>
                <a:spcPts val="0"/>
              </a:spcAft>
              <a:buClrTx/>
              <a:buSzTx/>
              <a:buFontTx/>
              <a:defRPr/>
            </a:pPr>
            <a:endParaRPr lang="zh-CN" altLang="en-US"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8738235" y="348615"/>
            <a:ext cx="3219450" cy="332740"/>
            <a:chOff x="13761" y="549"/>
            <a:chExt cx="5070" cy="524"/>
          </a:xfrm>
        </p:grpSpPr>
        <p:pic>
          <p:nvPicPr>
            <p:cNvPr id="4" name="图片 3"/>
            <p:cNvPicPr>
              <a:picLocks noChangeAspect="1"/>
            </p:cNvPicPr>
            <p:nvPr userDrawn="1"/>
          </p:nvPicPr>
          <p:blipFill>
            <a:blip r:embed="rId7"/>
            <a:srcRect l="17002" t="-1765" r="56499" b="-1176"/>
            <a:stretch>
              <a:fillRect/>
            </a:stretch>
          </p:blipFill>
          <p:spPr>
            <a:xfrm>
              <a:off x="13761" y="549"/>
              <a:ext cx="1582" cy="525"/>
            </a:xfrm>
            <a:prstGeom prst="rect">
              <a:avLst/>
            </a:prstGeom>
          </p:spPr>
        </p:pic>
        <p:sp>
          <p:nvSpPr>
            <p:cNvPr id="13" name="文本框 12"/>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新能源</a:t>
            </a:r>
            <a:r>
              <a:rPr sz="2500" dirty="0">
                <a:solidFill>
                  <a:schemeClr val="tx2"/>
                </a:solidFill>
                <a:effectLst/>
                <a:latin typeface="微软雅黑" panose="020B0503020204020204" charset="-122"/>
                <a:ea typeface="微软雅黑" panose="020B0503020204020204" charset="-122"/>
                <a:cs typeface="微软雅黑" panose="020B0503020204020204" charset="-122"/>
              </a:rPr>
              <a:t>电池的循环经济</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57" name="弧形 56"/>
          <p:cNvSpPr/>
          <p:nvPr/>
        </p:nvSpPr>
        <p:spPr>
          <a:xfrm>
            <a:off x="4091940" y="2423795"/>
            <a:ext cx="3646805" cy="3646805"/>
          </a:xfrm>
          <a:prstGeom prst="arc">
            <a:avLst>
              <a:gd name="adj1" fmla="val 12895476"/>
              <a:gd name="adj2" fmla="val 5822840"/>
            </a:avLst>
          </a:prstGeom>
          <a:ln w="25400">
            <a:solidFill>
              <a:schemeClr val="accent1">
                <a:lumMod val="60000"/>
                <a:lumOff val="40000"/>
              </a:schemeClr>
            </a:solidFill>
            <a:prstDash val="sysDash"/>
            <a:headEnd type="triangle" w="lg" len="lg"/>
          </a:ln>
        </p:spPr>
        <p:style>
          <a:lnRef idx="1">
            <a:schemeClr val="accent1"/>
          </a:lnRef>
          <a:fillRef idx="0">
            <a:schemeClr val="accent1"/>
          </a:fillRef>
          <a:effectRef idx="0">
            <a:schemeClr val="accent1"/>
          </a:effectRef>
          <a:fontRef idx="minor">
            <a:schemeClr val="tx1"/>
          </a:fontRef>
        </p:style>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8" name="弧形 57"/>
          <p:cNvSpPr/>
          <p:nvPr/>
        </p:nvSpPr>
        <p:spPr>
          <a:xfrm>
            <a:off x="4555490" y="3392805"/>
            <a:ext cx="2623185" cy="2623185"/>
          </a:xfrm>
          <a:prstGeom prst="arc">
            <a:avLst>
              <a:gd name="adj1" fmla="val 12947354"/>
              <a:gd name="adj2" fmla="val 5701267"/>
            </a:avLst>
          </a:prstGeom>
          <a:ln w="25400">
            <a:solidFill>
              <a:schemeClr val="accent1">
                <a:lumMod val="60000"/>
                <a:lumOff val="40000"/>
              </a:schemeClr>
            </a:solidFill>
            <a:prstDash val="sysDash"/>
            <a:headEnd type="triangle" w="lg" len="lg"/>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9" name="弧形 58"/>
          <p:cNvSpPr/>
          <p:nvPr/>
        </p:nvSpPr>
        <p:spPr>
          <a:xfrm>
            <a:off x="5143500" y="4558665"/>
            <a:ext cx="1366520" cy="1366520"/>
          </a:xfrm>
          <a:prstGeom prst="arc">
            <a:avLst>
              <a:gd name="adj1" fmla="val 11770703"/>
              <a:gd name="adj2" fmla="val 5789954"/>
            </a:avLst>
          </a:prstGeom>
          <a:ln w="25400">
            <a:solidFill>
              <a:schemeClr val="accent1">
                <a:lumMod val="60000"/>
                <a:lumOff val="40000"/>
              </a:schemeClr>
            </a:solidFill>
            <a:prstDash val="sysDash"/>
            <a:headEnd type="triangle" w="lg" len="lg"/>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1" name="弧形 60"/>
          <p:cNvSpPr/>
          <p:nvPr/>
        </p:nvSpPr>
        <p:spPr>
          <a:xfrm>
            <a:off x="4901565" y="4051300"/>
            <a:ext cx="1920875" cy="1920875"/>
          </a:xfrm>
          <a:prstGeom prst="arc">
            <a:avLst>
              <a:gd name="adj1" fmla="val 11821370"/>
              <a:gd name="adj2" fmla="val 5707787"/>
            </a:avLst>
          </a:prstGeom>
          <a:ln w="25400">
            <a:solidFill>
              <a:schemeClr val="accent1">
                <a:lumMod val="60000"/>
                <a:lumOff val="40000"/>
              </a:schemeClr>
            </a:solidFill>
            <a:prstDash val="sysDash"/>
            <a:headEnd type="triangle" w="lg" len="lg"/>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p>
            <a:pPr lvl="0" algn="ctr">
              <a:spcBef>
                <a:spcPts val="0"/>
              </a:spcBef>
              <a:spcAft>
                <a:spcPts val="0"/>
              </a:spcAft>
              <a:buClrTx/>
              <a:buSzTx/>
              <a:buFontTx/>
              <a:defRPr/>
            </a:pPr>
            <a:endParaRPr lang="zh-CN" altLang="en-US"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4" name="椭圆 63"/>
          <p:cNvSpPr/>
          <p:nvPr/>
        </p:nvSpPr>
        <p:spPr>
          <a:xfrm rot="10800000" flipH="1">
            <a:off x="3725545" y="1859280"/>
            <a:ext cx="5377815" cy="4728210"/>
          </a:xfrm>
          <a:prstGeom prst="ellipse">
            <a:avLst/>
          </a:prstGeom>
          <a:noFill/>
          <a:ln w="63500">
            <a:gradFill>
              <a:gsLst>
                <a:gs pos="70000">
                  <a:schemeClr val="accent5">
                    <a:alpha val="0"/>
                  </a:schemeClr>
                </a:gs>
                <a:gs pos="100000">
                  <a:schemeClr val="accent5"/>
                </a:gs>
              </a:gsLst>
              <a:lin ang="0" scaled="0"/>
            </a:grad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65" name="椭圆 64"/>
          <p:cNvSpPr/>
          <p:nvPr/>
        </p:nvSpPr>
        <p:spPr>
          <a:xfrm>
            <a:off x="3061970" y="1761490"/>
            <a:ext cx="663575" cy="663575"/>
          </a:xfrm>
          <a:prstGeom prst="ellipse">
            <a:avLst/>
          </a:prstGeom>
          <a:solidFill>
            <a:schemeClr val="accent1"/>
          </a:solidFill>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6" name="椭圆 65"/>
          <p:cNvSpPr/>
          <p:nvPr/>
        </p:nvSpPr>
        <p:spPr>
          <a:xfrm>
            <a:off x="3061970" y="5282565"/>
            <a:ext cx="663575" cy="663575"/>
          </a:xfrm>
          <a:prstGeom prst="ellipse">
            <a:avLst/>
          </a:prstGeom>
          <a:solidFill>
            <a:schemeClr val="accent5">
              <a:lumMod val="20000"/>
              <a:lumOff val="80000"/>
            </a:schemeClr>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67" name="椭圆 66"/>
          <p:cNvSpPr/>
          <p:nvPr/>
        </p:nvSpPr>
        <p:spPr>
          <a:xfrm>
            <a:off x="4946650" y="5084445"/>
            <a:ext cx="663575" cy="663575"/>
          </a:xfrm>
          <a:prstGeom prst="ellipse">
            <a:avLst/>
          </a:prstGeom>
          <a:solidFill>
            <a:schemeClr val="accent5"/>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71" name="椭圆 70"/>
          <p:cNvSpPr/>
          <p:nvPr/>
        </p:nvSpPr>
        <p:spPr>
          <a:xfrm>
            <a:off x="4255135" y="3895725"/>
            <a:ext cx="520065" cy="520065"/>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sp>
        <p:nvSpPr>
          <p:cNvPr id="72" name="椭圆 71"/>
          <p:cNvSpPr/>
          <p:nvPr/>
        </p:nvSpPr>
        <p:spPr>
          <a:xfrm>
            <a:off x="3738880" y="3007995"/>
            <a:ext cx="516255" cy="516255"/>
          </a:xfrm>
          <a:prstGeom prst="ellipse">
            <a:avLst/>
          </a:prstGeom>
          <a:solidFill>
            <a:schemeClr val="accent1">
              <a:lumMod val="60000"/>
              <a:lumOff val="4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cs typeface="微软雅黑" panose="020B0503020204020204" charset="-122"/>
              <a:sym typeface="+mn-ea"/>
            </a:endParaRPr>
          </a:p>
        </p:txBody>
      </p:sp>
      <p:cxnSp>
        <p:nvCxnSpPr>
          <p:cNvPr id="80" name="直接箭头连接符 79"/>
          <p:cNvCxnSpPr/>
          <p:nvPr/>
        </p:nvCxnSpPr>
        <p:spPr>
          <a:xfrm flipH="1">
            <a:off x="3891280" y="5462270"/>
            <a:ext cx="1010285" cy="123190"/>
          </a:xfrm>
          <a:prstGeom prst="straightConnector1">
            <a:avLst/>
          </a:prstGeom>
          <a:ln>
            <a:solidFill>
              <a:schemeClr val="accent5"/>
            </a:solidFill>
            <a:tailEnd type="triangle" w="med" len="lg"/>
          </a:ln>
        </p:spPr>
        <p:style>
          <a:lnRef idx="2">
            <a:schemeClr val="accent1"/>
          </a:lnRef>
          <a:fillRef idx="0">
            <a:srgbClr val="FFFFFF"/>
          </a:fillRef>
          <a:effectRef idx="0">
            <a:srgbClr val="FFFFFF"/>
          </a:effectRef>
          <a:fontRef idx="minor">
            <a:schemeClr val="tx1"/>
          </a:fontRef>
        </p:style>
      </p:cxnSp>
      <p:sp>
        <p:nvSpPr>
          <p:cNvPr id="82" name="文本框 81"/>
          <p:cNvSpPr txBox="1"/>
          <p:nvPr/>
        </p:nvSpPr>
        <p:spPr>
          <a:xfrm>
            <a:off x="1967865" y="1859280"/>
            <a:ext cx="1188085" cy="521970"/>
          </a:xfrm>
          <a:prstGeom prst="rect">
            <a:avLst/>
          </a:prstGeom>
          <a:noFill/>
        </p:spPr>
        <p:txBody>
          <a:bodyPr wrap="square" rtlCol="0">
            <a:spAutoFit/>
          </a:bodyPr>
          <a:p>
            <a:pPr lvl="0" algn="ctr">
              <a:buClrTx/>
              <a:buSzTx/>
              <a:buFontTx/>
            </a:pPr>
            <a:r>
              <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mn-ea"/>
              </a:rPr>
              <a:t>电池原</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mn-ea"/>
              </a:rPr>
              <a:t>材料开采</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83" name="文本框 82"/>
          <p:cNvSpPr txBox="1"/>
          <p:nvPr/>
        </p:nvSpPr>
        <p:spPr>
          <a:xfrm>
            <a:off x="2493010" y="3067050"/>
            <a:ext cx="1685925" cy="521970"/>
          </a:xfrm>
          <a:prstGeom prst="rect">
            <a:avLst/>
          </a:prstGeom>
          <a:noFill/>
        </p:spPr>
        <p:txBody>
          <a:bodyPr wrap="square" rtlCol="0">
            <a:spAutoFit/>
          </a:bodyPr>
          <a:p>
            <a:pPr lvl="0" algn="ctr">
              <a:buClrTx/>
              <a:buSzTx/>
              <a:buFontTx/>
            </a:pPr>
            <a:r>
              <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mn-ea"/>
              </a:rPr>
              <a:t>电芯</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mn-ea"/>
              </a:rPr>
              <a:t>生产商</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84" name="文本框 83"/>
          <p:cNvSpPr txBox="1"/>
          <p:nvPr/>
        </p:nvSpPr>
        <p:spPr>
          <a:xfrm>
            <a:off x="2959100" y="3976370"/>
            <a:ext cx="1685925" cy="521970"/>
          </a:xfrm>
          <a:prstGeom prst="rect">
            <a:avLst/>
          </a:prstGeom>
          <a:noFill/>
        </p:spPr>
        <p:txBody>
          <a:bodyPr wrap="square" rtlCol="0">
            <a:spAutoFit/>
          </a:bodyPr>
          <a:p>
            <a:pPr lvl="0" algn="ctr">
              <a:buClrTx/>
              <a:buSzTx/>
              <a:buFontTx/>
            </a:pPr>
            <a:r>
              <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mn-ea"/>
              </a:rPr>
              <a:t>新能源</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mn-ea"/>
              </a:rPr>
              <a:t>汽车厂商</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85" name="文本框 84"/>
          <p:cNvSpPr txBox="1"/>
          <p:nvPr/>
        </p:nvSpPr>
        <p:spPr>
          <a:xfrm>
            <a:off x="4361180" y="5836285"/>
            <a:ext cx="1685925" cy="306705"/>
          </a:xfrm>
          <a:prstGeom prst="rect">
            <a:avLst/>
          </a:prstGeom>
          <a:noFill/>
        </p:spPr>
        <p:txBody>
          <a:bodyPr wrap="square" rtlCol="0">
            <a:spAutoFit/>
          </a:bodyPr>
          <a:p>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用户</a:t>
            </a:r>
            <a:r>
              <a:rPr lang="en-US" altLang="zh-CN" sz="1400" b="1">
                <a:solidFill>
                  <a:schemeClr val="accent5"/>
                </a:solidFill>
                <a:latin typeface="微软雅黑" panose="020B0503020204020204" charset="-122"/>
                <a:ea typeface="微软雅黑" panose="020B0503020204020204" charset="-122"/>
                <a:cs typeface="微软雅黑" panose="020B0503020204020204" charset="-122"/>
              </a:rPr>
              <a:t>/</a:t>
            </a: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消费者</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87" name="文本框 86"/>
          <p:cNvSpPr txBox="1"/>
          <p:nvPr/>
        </p:nvSpPr>
        <p:spPr>
          <a:xfrm>
            <a:off x="9051925" y="2313305"/>
            <a:ext cx="1884680" cy="337185"/>
          </a:xfrm>
          <a:prstGeom prst="rect">
            <a:avLst/>
          </a:prstGeom>
          <a:noFill/>
        </p:spPr>
        <p:txBody>
          <a:bodyPr wrap="square" rtlCol="0">
            <a:spAutoFit/>
          </a:bodyPr>
          <a:p>
            <a:r>
              <a:rPr lang="zh-CN" sz="1600" b="1">
                <a:solidFill>
                  <a:schemeClr val="accent5"/>
                </a:solidFill>
                <a:latin typeface="微软雅黑" panose="020B0503020204020204" charset="-122"/>
                <a:ea typeface="微软雅黑" panose="020B0503020204020204" charset="-122"/>
                <a:cs typeface="微软雅黑" panose="020B0503020204020204" charset="-122"/>
              </a:rPr>
              <a:t>电池模块再设计</a:t>
            </a:r>
            <a:endParaRPr lang="zh-CN"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92" name="文本框 91"/>
          <p:cNvSpPr txBox="1"/>
          <p:nvPr/>
        </p:nvSpPr>
        <p:spPr>
          <a:xfrm>
            <a:off x="1616075" y="5474970"/>
            <a:ext cx="1938655" cy="521970"/>
          </a:xfrm>
          <a:prstGeom prst="rect">
            <a:avLst/>
          </a:prstGeom>
          <a:noFill/>
        </p:spPr>
        <p:txBody>
          <a:bodyPr wrap="square" rtlCol="0">
            <a:spAutoFit/>
          </a:bodyPr>
          <a:p>
            <a:pPr lvl="0" algn="ctr">
              <a:buClrTx/>
              <a:buSzTx/>
              <a:buFontTx/>
            </a:pPr>
            <a:r>
              <a:rPr lang="zh-CN" altLang="en-US" sz="1400" b="1">
                <a:solidFill>
                  <a:schemeClr val="accent5"/>
                </a:solidFill>
                <a:latin typeface="微软雅黑" panose="020B0503020204020204" charset="-122"/>
                <a:ea typeface="微软雅黑" panose="020B0503020204020204" charset="-122"/>
                <a:cs typeface="微软雅黑" panose="020B0503020204020204" charset="-122"/>
                <a:sym typeface="+mn-ea"/>
              </a:rPr>
              <a:t>不可回收</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sym typeface="+mn-ea"/>
            </a:endParaRPr>
          </a:p>
          <a:p>
            <a:pPr lvl="0" algn="ctr">
              <a:buClrTx/>
              <a:buSzTx/>
              <a:buFontTx/>
            </a:pPr>
            <a:r>
              <a:rPr lang="zh-CN" altLang="en-US" sz="1400" b="1">
                <a:solidFill>
                  <a:schemeClr val="accent5"/>
                </a:solidFill>
                <a:latin typeface="微软雅黑" panose="020B0503020204020204" charset="-122"/>
                <a:ea typeface="微软雅黑" panose="020B0503020204020204" charset="-122"/>
                <a:cs typeface="微软雅黑" panose="020B0503020204020204" charset="-122"/>
                <a:sym typeface="+mn-ea"/>
              </a:rPr>
              <a:t>废弃物</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cxnSp>
        <p:nvCxnSpPr>
          <p:cNvPr id="93" name="直接箭头连接符 92"/>
          <p:cNvCxnSpPr/>
          <p:nvPr/>
        </p:nvCxnSpPr>
        <p:spPr>
          <a:xfrm>
            <a:off x="3597910" y="2423795"/>
            <a:ext cx="293370" cy="510540"/>
          </a:xfrm>
          <a:prstGeom prst="straightConnector1">
            <a:avLst/>
          </a:prstGeom>
          <a:ln>
            <a:solidFill>
              <a:schemeClr val="accent1"/>
            </a:solidFill>
            <a:tailEnd type="triangle" w="med" len="lg"/>
          </a:ln>
        </p:spPr>
        <p:style>
          <a:lnRef idx="2">
            <a:schemeClr val="accent1"/>
          </a:lnRef>
          <a:fillRef idx="0">
            <a:srgbClr val="FFFFFF"/>
          </a:fillRef>
          <a:effectRef idx="0">
            <a:srgbClr val="FFFFFF"/>
          </a:effectRef>
          <a:fontRef idx="minor">
            <a:schemeClr val="tx1"/>
          </a:fontRef>
        </p:style>
      </p:cxnSp>
      <p:cxnSp>
        <p:nvCxnSpPr>
          <p:cNvPr id="94" name="直接连接符 93"/>
          <p:cNvCxnSpPr/>
          <p:nvPr/>
        </p:nvCxnSpPr>
        <p:spPr>
          <a:xfrm>
            <a:off x="4683125" y="4415790"/>
            <a:ext cx="398145" cy="667385"/>
          </a:xfrm>
          <a:prstGeom prst="line">
            <a:avLst/>
          </a:prstGeom>
          <a:ln>
            <a:solidFill>
              <a:schemeClr val="accent1"/>
            </a:solidFill>
            <a:tailEnd type="triangle" w="med" len="lg"/>
          </a:ln>
        </p:spPr>
        <p:style>
          <a:lnRef idx="2">
            <a:schemeClr val="accent1"/>
          </a:lnRef>
          <a:fillRef idx="0">
            <a:srgbClr val="FFFFFF"/>
          </a:fillRef>
          <a:effectRef idx="0">
            <a:srgbClr val="FFFFFF"/>
          </a:effectRef>
          <a:fontRef idx="minor">
            <a:schemeClr val="tx1"/>
          </a:fontRef>
        </p:style>
      </p:cxnSp>
      <p:cxnSp>
        <p:nvCxnSpPr>
          <p:cNvPr id="95" name="直接箭头连接符 94"/>
          <p:cNvCxnSpPr/>
          <p:nvPr/>
        </p:nvCxnSpPr>
        <p:spPr>
          <a:xfrm>
            <a:off x="4178935" y="3509645"/>
            <a:ext cx="207645" cy="362585"/>
          </a:xfrm>
          <a:prstGeom prst="straightConnector1">
            <a:avLst/>
          </a:prstGeom>
          <a:ln>
            <a:solidFill>
              <a:schemeClr val="accent1"/>
            </a:solidFill>
            <a:tailEnd type="triangle" w="med" len="lg"/>
          </a:ln>
        </p:spPr>
        <p:style>
          <a:lnRef idx="2">
            <a:schemeClr val="accent1"/>
          </a:lnRef>
          <a:fillRef idx="0">
            <a:srgbClr val="FFFFFF"/>
          </a:fillRef>
          <a:effectRef idx="0">
            <a:srgbClr val="FFFFFF"/>
          </a:effectRef>
          <a:fontRef idx="minor">
            <a:schemeClr val="tx1"/>
          </a:fontRef>
        </p:style>
      </p:cxnSp>
      <p:sp>
        <p:nvSpPr>
          <p:cNvPr id="97" name="文本框 96"/>
          <p:cNvSpPr txBox="1"/>
          <p:nvPr/>
        </p:nvSpPr>
        <p:spPr>
          <a:xfrm>
            <a:off x="9103360" y="2623820"/>
            <a:ext cx="2110740" cy="645160"/>
          </a:xfrm>
          <a:prstGeom prst="rect">
            <a:avLst/>
          </a:prstGeom>
          <a:noFill/>
        </p:spPr>
        <p:txBody>
          <a:bodyPr wrap="square" rtlCol="0">
            <a:spAutoFit/>
          </a:bodyPr>
          <a:p>
            <a:r>
              <a:rPr lang="zh-CN" altLang="en-US" sz="1200">
                <a:latin typeface="微软雅黑" panose="020B0503020204020204" charset="-122"/>
                <a:ea typeface="微软雅黑" panose="020B0503020204020204" charset="-122"/>
                <a:cs typeface="微软雅黑" panose="020B0503020204020204" charset="-122"/>
              </a:rPr>
              <a:t>针对退役电池的模块化结构进行重新设计，使其适应新场景或提升性能。</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98" name="文本框 97"/>
          <p:cNvSpPr txBox="1"/>
          <p:nvPr/>
        </p:nvSpPr>
        <p:spPr>
          <a:xfrm>
            <a:off x="9476740" y="3712845"/>
            <a:ext cx="1884680" cy="337185"/>
          </a:xfrm>
          <a:prstGeom prst="rect">
            <a:avLst/>
          </a:prstGeom>
          <a:noFill/>
        </p:spPr>
        <p:txBody>
          <a:bodyPr wrap="square" rtlCol="0">
            <a:spAutoFit/>
          </a:bodyPr>
          <a:p>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减少资源消耗</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99" name="文本框 98"/>
          <p:cNvSpPr txBox="1"/>
          <p:nvPr/>
        </p:nvSpPr>
        <p:spPr>
          <a:xfrm>
            <a:off x="9476740" y="4023360"/>
            <a:ext cx="2110740" cy="645160"/>
          </a:xfrm>
          <a:prstGeom prst="rect">
            <a:avLst/>
          </a:prstGeom>
          <a:noFill/>
        </p:spPr>
        <p:txBody>
          <a:bodyPr wrap="square" rtlCol="0">
            <a:spAutoFit/>
          </a:bodyPr>
          <a:p>
            <a:r>
              <a:rPr lang="zh-CN" altLang="en-US" sz="1200">
                <a:latin typeface="微软雅黑" panose="020B0503020204020204" charset="-122"/>
                <a:ea typeface="微软雅黑" panose="020B0503020204020204" charset="-122"/>
                <a:cs typeface="微软雅黑" panose="020B0503020204020204" charset="-122"/>
              </a:rPr>
              <a:t>通过循环再生技术，闭环回收、材料替代，降低对钴、锂、镍等稀缺金属的依赖。</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100" name="文本框 99"/>
          <p:cNvSpPr txBox="1"/>
          <p:nvPr/>
        </p:nvSpPr>
        <p:spPr>
          <a:xfrm>
            <a:off x="9115425" y="5272405"/>
            <a:ext cx="1884680" cy="337185"/>
          </a:xfrm>
          <a:prstGeom prst="rect">
            <a:avLst/>
          </a:prstGeom>
          <a:noFill/>
        </p:spPr>
        <p:txBody>
          <a:bodyPr wrap="square" rtlCol="0">
            <a:spAutoFit/>
          </a:bodyPr>
          <a:p>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共享电池模式</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01" name="文本框 100"/>
          <p:cNvSpPr txBox="1"/>
          <p:nvPr/>
        </p:nvSpPr>
        <p:spPr>
          <a:xfrm>
            <a:off x="9115425" y="5582920"/>
            <a:ext cx="2472055" cy="645160"/>
          </a:xfrm>
          <a:prstGeom prst="rect">
            <a:avLst/>
          </a:prstGeom>
          <a:noFill/>
        </p:spPr>
        <p:txBody>
          <a:bodyPr wrap="square" rtlCol="0">
            <a:spAutoFit/>
          </a:bodyPr>
          <a:p>
            <a:r>
              <a:rPr lang="zh-CN" altLang="en-US" sz="1200">
                <a:latin typeface="微软雅黑" panose="020B0503020204020204" charset="-122"/>
                <a:ea typeface="微软雅黑" panose="020B0503020204020204" charset="-122"/>
                <a:cs typeface="微软雅黑" panose="020B0503020204020204" charset="-122"/>
              </a:rPr>
              <a:t>以蔚来汽车为例，电池所有权分离，用户按月付费租赁电池，退役电池由蔚来统一回收用于储能站。</a:t>
            </a:r>
            <a:endParaRPr lang="zh-CN" altLang="en-US" sz="1200">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5499100" y="4923790"/>
            <a:ext cx="965200" cy="245110"/>
          </a:xfrm>
          <a:prstGeom prst="rect">
            <a:avLst/>
          </a:prstGeom>
          <a:noFill/>
        </p:spPr>
        <p:txBody>
          <a:bodyPr wrap="square" rtlCol="0">
            <a:spAutoFit/>
          </a:bodyPr>
          <a:p>
            <a:pPr algn="ctr"/>
            <a:r>
              <a:rPr lang="zh-CN" sz="1000">
                <a:latin typeface="微软雅黑" panose="020B0503020204020204" charset="-122"/>
                <a:ea typeface="微软雅黑" panose="020B0503020204020204" charset="-122"/>
                <a:cs typeface="微软雅黑" panose="020B0503020204020204" charset="-122"/>
                <a:sym typeface="+mn-ea"/>
              </a:rPr>
              <a:t>接收旧电池</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25" name="文本框 24"/>
          <p:cNvSpPr txBox="1"/>
          <p:nvPr/>
        </p:nvSpPr>
        <p:spPr>
          <a:xfrm>
            <a:off x="5379085" y="4146550"/>
            <a:ext cx="965200" cy="245110"/>
          </a:xfrm>
          <a:prstGeom prst="rect">
            <a:avLst/>
          </a:prstGeom>
          <a:noFill/>
        </p:spPr>
        <p:txBody>
          <a:bodyPr wrap="square" rtlCol="0">
            <a:spAutoFit/>
          </a:bodyPr>
          <a:p>
            <a:pPr algn="ctr"/>
            <a:r>
              <a:rPr lang="zh-CN" sz="1000">
                <a:latin typeface="微软雅黑" panose="020B0503020204020204" charset="-122"/>
                <a:ea typeface="微软雅黑" panose="020B0503020204020204" charset="-122"/>
                <a:cs typeface="微软雅黑" panose="020B0503020204020204" charset="-122"/>
                <a:sym typeface="+mn-ea"/>
              </a:rPr>
              <a:t>电池维修</a:t>
            </a:r>
            <a:endParaRPr lang="zh-CN" altLang="en-US" sz="1000">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nvSpPr>
        <p:spPr>
          <a:xfrm>
            <a:off x="5753735" y="3585845"/>
            <a:ext cx="965200" cy="368300"/>
          </a:xfrm>
          <a:prstGeom prst="rect">
            <a:avLst/>
          </a:prstGeom>
          <a:noFill/>
        </p:spPr>
        <p:txBody>
          <a:bodyPr wrap="square" rtlCol="0">
            <a:spAutoFit/>
          </a:bodyPr>
          <a:p>
            <a:pPr algn="ctr"/>
            <a:r>
              <a:rPr lang="zh-CN" sz="1000">
                <a:latin typeface="微软雅黑" panose="020B0503020204020204" charset="-122"/>
                <a:ea typeface="微软雅黑" panose="020B0503020204020204" charset="-122"/>
                <a:cs typeface="微软雅黑" panose="020B0503020204020204" charset="-122"/>
                <a:sym typeface="+mn-ea"/>
              </a:rPr>
              <a:t>电池翻新</a:t>
            </a:r>
            <a:endParaRPr lang="zh-CN" sz="1000">
              <a:latin typeface="微软雅黑" panose="020B0503020204020204" charset="-122"/>
              <a:ea typeface="微软雅黑" panose="020B0503020204020204" charset="-122"/>
              <a:cs typeface="微软雅黑" panose="020B0503020204020204" charset="-122"/>
              <a:sym typeface="+mn-ea"/>
            </a:endParaRPr>
          </a:p>
          <a:p>
            <a:pPr algn="ctr"/>
            <a:r>
              <a:rPr lang="zh-CN" altLang="en-US" sz="800">
                <a:latin typeface="微软雅黑" panose="020B0503020204020204" charset="-122"/>
                <a:ea typeface="微软雅黑" panose="020B0503020204020204" charset="-122"/>
                <a:cs typeface="微软雅黑" panose="020B0503020204020204" charset="-122"/>
              </a:rPr>
              <a:t>（性能恢复</a:t>
            </a:r>
            <a:r>
              <a:rPr lang="en-US" altLang="zh-CN" sz="800">
                <a:latin typeface="微软雅黑" panose="020B0503020204020204" charset="-122"/>
                <a:ea typeface="微软雅黑" panose="020B0503020204020204" charset="-122"/>
                <a:cs typeface="微软雅黑" panose="020B0503020204020204" charset="-122"/>
              </a:rPr>
              <a:t>)</a:t>
            </a:r>
            <a:endParaRPr lang="en-US" altLang="zh-CN" sz="800">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nvSpPr>
        <p:spPr>
          <a:xfrm>
            <a:off x="6236335" y="2823845"/>
            <a:ext cx="965200" cy="368300"/>
          </a:xfrm>
          <a:prstGeom prst="rect">
            <a:avLst/>
          </a:prstGeom>
          <a:noFill/>
        </p:spPr>
        <p:txBody>
          <a:bodyPr wrap="square" rtlCol="0">
            <a:spAutoFit/>
          </a:bodyPr>
          <a:p>
            <a:pPr algn="ctr"/>
            <a:r>
              <a:rPr lang="zh-CN" sz="1000">
                <a:latin typeface="微软雅黑" panose="020B0503020204020204" charset="-122"/>
                <a:ea typeface="微软雅黑" panose="020B0503020204020204" charset="-122"/>
                <a:cs typeface="微软雅黑" panose="020B0503020204020204" charset="-122"/>
                <a:sym typeface="+mn-ea"/>
              </a:rPr>
              <a:t>梯次利用</a:t>
            </a:r>
            <a:endParaRPr lang="zh-CN" sz="1000">
              <a:latin typeface="微软雅黑" panose="020B0503020204020204" charset="-122"/>
              <a:ea typeface="微软雅黑" panose="020B0503020204020204" charset="-122"/>
              <a:cs typeface="微软雅黑" panose="020B0503020204020204" charset="-122"/>
              <a:sym typeface="+mn-ea"/>
            </a:endParaRPr>
          </a:p>
          <a:p>
            <a:pPr algn="ctr"/>
            <a:r>
              <a:rPr lang="zh-CN" altLang="en-US" sz="800">
                <a:latin typeface="微软雅黑" panose="020B0503020204020204" charset="-122"/>
                <a:ea typeface="微软雅黑" panose="020B0503020204020204" charset="-122"/>
                <a:cs typeface="微软雅黑" panose="020B0503020204020204" charset="-122"/>
              </a:rPr>
              <a:t>（储能系统）</a:t>
            </a:r>
            <a:endParaRPr lang="zh-CN" altLang="en-US" sz="800">
              <a:latin typeface="微软雅黑" panose="020B0503020204020204" charset="-122"/>
              <a:ea typeface="微软雅黑" panose="020B0503020204020204" charset="-122"/>
              <a:cs typeface="微软雅黑" panose="020B0503020204020204" charset="-122"/>
            </a:endParaRPr>
          </a:p>
        </p:txBody>
      </p:sp>
      <p:pic>
        <p:nvPicPr>
          <p:cNvPr id="33" name="图片 32" descr="垃圾箱"/>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3219450" y="5412740"/>
            <a:ext cx="361950" cy="361950"/>
          </a:xfrm>
          <a:prstGeom prst="rect">
            <a:avLst/>
          </a:prstGeom>
        </p:spPr>
      </p:pic>
      <p:pic>
        <p:nvPicPr>
          <p:cNvPr id="34" name="图片 33" descr="daolushigo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219450" y="1852930"/>
            <a:ext cx="422275" cy="422275"/>
          </a:xfrm>
          <a:prstGeom prst="rect">
            <a:avLst/>
          </a:prstGeom>
        </p:spPr>
      </p:pic>
      <p:pic>
        <p:nvPicPr>
          <p:cNvPr id="35" name="图片 34" descr="化工厂"/>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839210" y="3089275"/>
            <a:ext cx="316230" cy="316230"/>
          </a:xfrm>
          <a:prstGeom prst="rect">
            <a:avLst/>
          </a:prstGeom>
        </p:spPr>
      </p:pic>
      <p:pic>
        <p:nvPicPr>
          <p:cNvPr id="36" name="图片 35" descr="机动车辅助管理"/>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386580" y="4036060"/>
            <a:ext cx="284480" cy="226695"/>
          </a:xfrm>
          <a:prstGeom prst="rect">
            <a:avLst/>
          </a:prstGeom>
        </p:spPr>
      </p:pic>
      <p:pic>
        <p:nvPicPr>
          <p:cNvPr id="37" name="图片 36" descr="消费者"/>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5081270" y="5168900"/>
            <a:ext cx="361315" cy="361315"/>
          </a:xfrm>
          <a:prstGeom prst="rect">
            <a:avLst/>
          </a:prstGeom>
        </p:spPr>
      </p:pic>
      <p:sp>
        <p:nvSpPr>
          <p:cNvPr id="43" name="对话气泡: 矩形 42"/>
          <p:cNvSpPr/>
          <p:nvPr/>
        </p:nvSpPr>
        <p:spPr>
          <a:xfrm>
            <a:off x="4671060" y="1142365"/>
            <a:ext cx="2580640" cy="946785"/>
          </a:xfrm>
          <a:prstGeom prst="wedgeRectCallout">
            <a:avLst>
              <a:gd name="adj1" fmla="val -5314"/>
              <a:gd name="adj2" fmla="val 76894"/>
            </a:avLst>
          </a:prstGeom>
          <a:solidFill>
            <a:srgbClr val="FFFFFF"/>
          </a:solidFill>
          <a:ln w="19050">
            <a:solidFill>
              <a:schemeClr val="accent6">
                <a:lumMod val="60000"/>
                <a:lumOff val="40000"/>
              </a:schemeClr>
            </a:solidFill>
          </a:ln>
          <a:effectLst/>
        </p:spPr>
        <p:style>
          <a:lnRef idx="2">
            <a:srgbClr val="24396B">
              <a:shade val="15000"/>
            </a:srgbClr>
          </a:lnRef>
          <a:fillRef idx="1">
            <a:srgbClr val="24396B"/>
          </a:fillRef>
          <a:effectRef idx="0">
            <a:srgbClr val="24396B"/>
          </a:effectRef>
          <a:fontRef idx="minor">
            <a:srgbClr val="FFFFFF"/>
          </a:fontRef>
        </p:style>
        <p:txBody>
          <a:bodyPr lIns="87782" tIns="43891" rIns="87782" bIns="43891" rtlCol="0" anchor="ctr"/>
          <a:p>
            <a:pPr algn="ctr"/>
            <a:endParaRPr lang="zh-CN" altLang="en-US" sz="650">
              <a:latin typeface="微软雅黑" panose="020B0503020204020204" charset="-122"/>
              <a:ea typeface="微软雅黑" panose="020B0503020204020204" charset="-122"/>
              <a:cs typeface="微软雅黑" panose="020B0503020204020204" charset="-122"/>
            </a:endParaRPr>
          </a:p>
        </p:txBody>
      </p:sp>
      <p:sp>
        <p:nvSpPr>
          <p:cNvPr id="38" name="文本框 37"/>
          <p:cNvSpPr txBox="1"/>
          <p:nvPr/>
        </p:nvSpPr>
        <p:spPr>
          <a:xfrm>
            <a:off x="4801235" y="1262380"/>
            <a:ext cx="2400300" cy="706755"/>
          </a:xfrm>
          <a:prstGeom prst="rect">
            <a:avLst/>
          </a:prstGeom>
          <a:noFill/>
        </p:spPr>
        <p:txBody>
          <a:bodyPr wrap="square">
            <a:spAutoFit/>
          </a:bodyPr>
          <a:p>
            <a:pPr indent="0" algn="l">
              <a:buFont typeface="微软雅黑" panose="020B0503020204020204" charset="-122"/>
              <a:buNone/>
            </a:pPr>
            <a:r>
              <a:rPr lang="zh-CN" altLang="en-US" sz="1000" b="1" dirty="0">
                <a:solidFill>
                  <a:schemeClr val="accent6"/>
                </a:solidFill>
                <a:latin typeface="微软雅黑" panose="020B0503020204020204" charset="-122"/>
                <a:ea typeface="微软雅黑" panose="020B0503020204020204" charset="-122"/>
                <a:cs typeface="微软雅黑" panose="020B0503020204020204" charset="-122"/>
              </a:rPr>
              <a:t>新能源汽车电池循环经济的关键路径：</a:t>
            </a:r>
            <a:endParaRPr lang="zh-CN" altLang="en-US" sz="1000" b="1" dirty="0">
              <a:solidFill>
                <a:schemeClr val="accent6"/>
              </a:solidFill>
              <a:latin typeface="微软雅黑" panose="020B0503020204020204" charset="-122"/>
              <a:ea typeface="微软雅黑" panose="020B0503020204020204" charset="-122"/>
              <a:cs typeface="微软雅黑" panose="020B0503020204020204" charset="-122"/>
            </a:endParaRPr>
          </a:p>
          <a:p>
            <a:pPr indent="0" algn="l">
              <a:buFont typeface="微软雅黑" panose="020B0503020204020204" charset="-122"/>
              <a:buNone/>
            </a:pPr>
            <a:r>
              <a:rPr lang="en-US" altLang="zh-CN" sz="1000" dirty="0">
                <a:solidFill>
                  <a:schemeClr val="accent6"/>
                </a:solidFill>
                <a:latin typeface="微软雅黑" panose="020B0503020204020204" charset="-122"/>
                <a:ea typeface="微软雅黑" panose="020B0503020204020204" charset="-122"/>
                <a:cs typeface="微软雅黑" panose="020B0503020204020204" charset="-122"/>
              </a:rPr>
              <a:t>1</a:t>
            </a:r>
            <a:r>
              <a:rPr lang="zh-CN" altLang="en-US" sz="1000" dirty="0">
                <a:solidFill>
                  <a:schemeClr val="accent6"/>
                </a:solidFill>
                <a:latin typeface="微软雅黑" panose="020B0503020204020204" charset="-122"/>
                <a:ea typeface="微软雅黑" panose="020B0503020204020204" charset="-122"/>
                <a:cs typeface="微软雅黑" panose="020B0503020204020204" charset="-122"/>
              </a:rPr>
              <a:t>、梯次利用：储能电站、备用电源；</a:t>
            </a:r>
            <a:endParaRPr lang="zh-CN" altLang="en-US" sz="1000" dirty="0">
              <a:solidFill>
                <a:schemeClr val="accent6"/>
              </a:solidFill>
              <a:latin typeface="微软雅黑" panose="020B0503020204020204" charset="-122"/>
              <a:ea typeface="微软雅黑" panose="020B0503020204020204" charset="-122"/>
              <a:cs typeface="微软雅黑" panose="020B0503020204020204" charset="-122"/>
            </a:endParaRPr>
          </a:p>
          <a:p>
            <a:pPr indent="0" algn="l">
              <a:buFont typeface="微软雅黑" panose="020B0503020204020204" charset="-122"/>
              <a:buNone/>
            </a:pPr>
            <a:r>
              <a:rPr lang="en-US" altLang="zh-CN" sz="1000" dirty="0">
                <a:solidFill>
                  <a:schemeClr val="accent6"/>
                </a:solidFill>
                <a:latin typeface="微软雅黑" panose="020B0503020204020204" charset="-122"/>
                <a:ea typeface="微软雅黑" panose="020B0503020204020204" charset="-122"/>
                <a:cs typeface="微软雅黑" panose="020B0503020204020204" charset="-122"/>
              </a:rPr>
              <a:t>2</a:t>
            </a:r>
            <a:r>
              <a:rPr lang="zh-CN" altLang="en-US" sz="1000" dirty="0">
                <a:solidFill>
                  <a:schemeClr val="accent6"/>
                </a:solidFill>
                <a:latin typeface="微软雅黑" panose="020B0503020204020204" charset="-122"/>
                <a:ea typeface="微软雅黑" panose="020B0503020204020204" charset="-122"/>
                <a:cs typeface="微软雅黑" panose="020B0503020204020204" charset="-122"/>
              </a:rPr>
              <a:t>、材料再生：湿法冶金、直接回收；</a:t>
            </a:r>
            <a:endParaRPr lang="zh-CN" altLang="en-US" sz="1000" dirty="0">
              <a:solidFill>
                <a:schemeClr val="accent6"/>
              </a:solidFill>
              <a:latin typeface="微软雅黑" panose="020B0503020204020204" charset="-122"/>
              <a:ea typeface="微软雅黑" panose="020B0503020204020204" charset="-122"/>
              <a:cs typeface="微软雅黑" panose="020B0503020204020204" charset="-122"/>
            </a:endParaRPr>
          </a:p>
          <a:p>
            <a:pPr indent="0" algn="l">
              <a:buFont typeface="微软雅黑" panose="020B0503020204020204" charset="-122"/>
              <a:buNone/>
            </a:pPr>
            <a:r>
              <a:rPr lang="en-US" altLang="zh-CN" sz="1000" dirty="0">
                <a:solidFill>
                  <a:schemeClr val="accent6"/>
                </a:solidFill>
                <a:latin typeface="微软雅黑" panose="020B0503020204020204" charset="-122"/>
                <a:ea typeface="微软雅黑" panose="020B0503020204020204" charset="-122"/>
                <a:cs typeface="微软雅黑" panose="020B0503020204020204" charset="-122"/>
              </a:rPr>
              <a:t>3</a:t>
            </a:r>
            <a:r>
              <a:rPr lang="zh-CN" altLang="en-US" sz="1000" dirty="0">
                <a:solidFill>
                  <a:schemeClr val="accent6"/>
                </a:solidFill>
                <a:latin typeface="微软雅黑" panose="020B0503020204020204" charset="-122"/>
                <a:ea typeface="微软雅黑" panose="020B0503020204020204" charset="-122"/>
                <a:cs typeface="微软雅黑" panose="020B0503020204020204" charset="-122"/>
              </a:rPr>
              <a:t>、模式创新：</a:t>
            </a:r>
            <a:r>
              <a:rPr lang="en-US" altLang="zh-CN" sz="1000" dirty="0">
                <a:solidFill>
                  <a:schemeClr val="accent6"/>
                </a:solidFill>
                <a:latin typeface="微软雅黑" panose="020B0503020204020204" charset="-122"/>
                <a:ea typeface="微软雅黑" panose="020B0503020204020204" charset="-122"/>
                <a:cs typeface="微软雅黑" panose="020B0503020204020204" charset="-122"/>
              </a:rPr>
              <a:t>BaaS</a:t>
            </a:r>
            <a:r>
              <a:rPr lang="zh-CN" altLang="en-US" sz="1000" dirty="0">
                <a:solidFill>
                  <a:schemeClr val="accent6"/>
                </a:solidFill>
                <a:latin typeface="微软雅黑" panose="020B0503020204020204" charset="-122"/>
                <a:ea typeface="微软雅黑" panose="020B0503020204020204" charset="-122"/>
                <a:cs typeface="微软雅黑" panose="020B0503020204020204" charset="-122"/>
              </a:rPr>
              <a:t>（电池即服务）</a:t>
            </a:r>
            <a:endParaRPr lang="zh-CN" altLang="en-US" sz="1000" dirty="0">
              <a:solidFill>
                <a:schemeClr val="accent6"/>
              </a:solidFill>
              <a:latin typeface="微软雅黑" panose="020B0503020204020204" charset="-122"/>
              <a:ea typeface="微软雅黑" panose="020B0503020204020204" charset="-122"/>
              <a:cs typeface="微软雅黑" panose="020B0503020204020204" charset="-122"/>
            </a:endParaRPr>
          </a:p>
        </p:txBody>
      </p:sp>
      <p:sp>
        <p:nvSpPr>
          <p:cNvPr id="163" name="小红书30"/>
          <p:cNvSpPr/>
          <p:nvPr/>
        </p:nvSpPr>
        <p:spPr>
          <a:xfrm>
            <a:off x="844550" y="2505710"/>
            <a:ext cx="1050290" cy="2776855"/>
          </a:xfrm>
          <a:prstGeom prst="roundRect">
            <a:avLst>
              <a:gd name="adj" fmla="val 6749"/>
            </a:avLst>
          </a:prstGeom>
          <a:solidFill>
            <a:schemeClr val="accent1">
              <a:lumMod val="20000"/>
              <a:lumOff val="80000"/>
              <a:alpha val="50000"/>
            </a:schemeClr>
          </a:solidFill>
          <a:ln w="12700" cap="flat" cmpd="sng" algn="ctr">
            <a:solidFill>
              <a:schemeClr val="accent1"/>
            </a:solidFill>
            <a:prstDash val="dash"/>
            <a:miter lim="800000"/>
          </a:ln>
          <a:effectLst/>
        </p:spPr>
        <p:txBody>
          <a:bodyPr rtlCol="0" anchor="ctr"/>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nvGrpSpPr>
          <p:cNvPr id="40" name="组合 39"/>
          <p:cNvGrpSpPr/>
          <p:nvPr/>
        </p:nvGrpSpPr>
        <p:grpSpPr>
          <a:xfrm>
            <a:off x="2001520" y="2650490"/>
            <a:ext cx="490855" cy="382270"/>
            <a:chOff x="2641" y="4174"/>
            <a:chExt cx="773" cy="602"/>
          </a:xfrm>
        </p:grpSpPr>
        <p:sp>
          <p:nvSpPr>
            <p:cNvPr id="287" name="菱形 286"/>
            <p:cNvSpPr/>
            <p:nvPr/>
          </p:nvSpPr>
          <p:spPr>
            <a:xfrm rot="10800000" flipV="1">
              <a:off x="2848" y="4174"/>
              <a:ext cx="567" cy="603"/>
            </a:xfrm>
            <a:prstGeom prst="diamond">
              <a:avLst/>
            </a:prstGeom>
            <a:gradFill flip="none" rotWithShape="1">
              <a:gsLst>
                <a:gs pos="0">
                  <a:schemeClr val="accent1"/>
                </a:gs>
                <a:gs pos="50000">
                  <a:schemeClr val="accent1">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39" name="菱形 38"/>
            <p:cNvSpPr/>
            <p:nvPr/>
          </p:nvSpPr>
          <p:spPr>
            <a:xfrm rot="10800000" flipV="1">
              <a:off x="2641" y="4174"/>
              <a:ext cx="567" cy="603"/>
            </a:xfrm>
            <a:prstGeom prst="diamond">
              <a:avLst/>
            </a:prstGeom>
            <a:gradFill flip="none" rotWithShape="1">
              <a:gsLst>
                <a:gs pos="0">
                  <a:schemeClr val="accent1"/>
                </a:gs>
                <a:gs pos="50000">
                  <a:schemeClr val="accent1">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1" name="组合 40"/>
          <p:cNvGrpSpPr/>
          <p:nvPr/>
        </p:nvGrpSpPr>
        <p:grpSpPr>
          <a:xfrm>
            <a:off x="2001520" y="3659505"/>
            <a:ext cx="490855" cy="382270"/>
            <a:chOff x="2641" y="4174"/>
            <a:chExt cx="773" cy="602"/>
          </a:xfrm>
        </p:grpSpPr>
        <p:sp>
          <p:nvSpPr>
            <p:cNvPr id="42" name="菱形 41"/>
            <p:cNvSpPr/>
            <p:nvPr/>
          </p:nvSpPr>
          <p:spPr>
            <a:xfrm rot="10800000" flipV="1">
              <a:off x="2848" y="4174"/>
              <a:ext cx="567" cy="603"/>
            </a:xfrm>
            <a:prstGeom prst="diamond">
              <a:avLst/>
            </a:prstGeom>
            <a:gradFill flip="none" rotWithShape="1">
              <a:gsLst>
                <a:gs pos="0">
                  <a:schemeClr val="accent1"/>
                </a:gs>
                <a:gs pos="50000">
                  <a:schemeClr val="accent1">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44" name="菱形 43"/>
            <p:cNvSpPr/>
            <p:nvPr/>
          </p:nvSpPr>
          <p:spPr>
            <a:xfrm rot="10800000" flipV="1">
              <a:off x="2641" y="4174"/>
              <a:ext cx="567" cy="603"/>
            </a:xfrm>
            <a:prstGeom prst="diamond">
              <a:avLst/>
            </a:prstGeom>
            <a:gradFill flip="none" rotWithShape="1">
              <a:gsLst>
                <a:gs pos="0">
                  <a:schemeClr val="accent1"/>
                </a:gs>
                <a:gs pos="50000">
                  <a:schemeClr val="accent1">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45" name="组合 44"/>
          <p:cNvGrpSpPr/>
          <p:nvPr/>
        </p:nvGrpSpPr>
        <p:grpSpPr>
          <a:xfrm>
            <a:off x="2001520" y="4668520"/>
            <a:ext cx="490855" cy="382270"/>
            <a:chOff x="2641" y="4174"/>
            <a:chExt cx="773" cy="602"/>
          </a:xfrm>
        </p:grpSpPr>
        <p:sp>
          <p:nvSpPr>
            <p:cNvPr id="46" name="菱形 45"/>
            <p:cNvSpPr/>
            <p:nvPr/>
          </p:nvSpPr>
          <p:spPr>
            <a:xfrm rot="10800000" flipV="1">
              <a:off x="2848" y="4174"/>
              <a:ext cx="567" cy="603"/>
            </a:xfrm>
            <a:prstGeom prst="diamond">
              <a:avLst/>
            </a:prstGeom>
            <a:gradFill flip="none" rotWithShape="1">
              <a:gsLst>
                <a:gs pos="0">
                  <a:schemeClr val="accent1"/>
                </a:gs>
                <a:gs pos="50000">
                  <a:schemeClr val="accent1">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47" name="菱形 46"/>
            <p:cNvSpPr/>
            <p:nvPr/>
          </p:nvSpPr>
          <p:spPr>
            <a:xfrm rot="10800000" flipV="1">
              <a:off x="2641" y="4174"/>
              <a:ext cx="567" cy="603"/>
            </a:xfrm>
            <a:prstGeom prst="diamond">
              <a:avLst/>
            </a:prstGeom>
            <a:gradFill flip="none" rotWithShape="1">
              <a:gsLst>
                <a:gs pos="0">
                  <a:schemeClr val="accent1"/>
                </a:gs>
                <a:gs pos="50000">
                  <a:schemeClr val="accent1">
                    <a:alpha val="0"/>
                  </a:schemeClr>
                </a:gs>
              </a:gsLst>
              <a:lin ang="0" scaled="0"/>
              <a:tileRect/>
            </a:gradFill>
            <a:ln w="12700" cap="flat" cmpd="sng" algn="ctr">
              <a:noFill/>
              <a:prstDash val="solid"/>
              <a:miter lim="800000"/>
            </a:ln>
            <a:effectLst/>
          </p:spPr>
          <p:txBody>
            <a:bodyPr rtlCol="0" anchor="ctr">
              <a:noAutofit/>
            </a:bodyPr>
            <a:p>
              <a:pPr lvl="0" algn="ctr">
                <a:buClrTx/>
                <a:buSzTx/>
                <a:buFontTx/>
                <a:defRPr/>
              </a:pPr>
              <a:endParaRPr lang="zh-CN" altLang="en-US"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136" name="组合 135"/>
          <p:cNvGrpSpPr/>
          <p:nvPr/>
        </p:nvGrpSpPr>
        <p:grpSpPr>
          <a:xfrm>
            <a:off x="963295" y="2706688"/>
            <a:ext cx="812800" cy="2217420"/>
            <a:chOff x="1589" y="4350"/>
            <a:chExt cx="1280" cy="3492"/>
          </a:xfrm>
        </p:grpSpPr>
        <p:sp>
          <p:nvSpPr>
            <p:cNvPr id="49" name="文本框 48"/>
            <p:cNvSpPr txBox="1"/>
            <p:nvPr/>
          </p:nvSpPr>
          <p:spPr>
            <a:xfrm>
              <a:off x="1589" y="4791"/>
              <a:ext cx="675" cy="2859"/>
            </a:xfrm>
            <a:prstGeom prst="rect">
              <a:avLst/>
            </a:prstGeom>
            <a:noFill/>
          </p:spPr>
          <p:txBody>
            <a:bodyPr vert="eaVert" wrap="square" rtlCol="0">
              <a:spAutoFit/>
            </a:bodyPr>
            <a:p>
              <a:pPr algn="ctr"/>
              <a:r>
                <a:rPr lang="zh-CN" altLang="en-US" sz="1600">
                  <a:solidFill>
                    <a:schemeClr val="accent1"/>
                  </a:solidFill>
                  <a:latin typeface="微软雅黑" panose="020B0503020204020204" charset="-122"/>
                  <a:ea typeface="微软雅黑" panose="020B0503020204020204" charset="-122"/>
                  <a:cs typeface="微软雅黑" panose="020B0503020204020204" charset="-122"/>
                </a:rPr>
                <a:t>循环经济框架下的</a:t>
              </a:r>
              <a:endParaRPr lang="en-US" altLang="zh-CN" sz="16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0" name="文本框 49"/>
            <p:cNvSpPr txBox="1"/>
            <p:nvPr/>
          </p:nvSpPr>
          <p:spPr>
            <a:xfrm>
              <a:off x="2145" y="4350"/>
              <a:ext cx="724" cy="3492"/>
            </a:xfrm>
            <a:prstGeom prst="rect">
              <a:avLst/>
            </a:prstGeom>
            <a:noFill/>
          </p:spPr>
          <p:txBody>
            <a:bodyPr vert="eaVert" wrap="square" rtlCol="0">
              <a:spAutoFit/>
            </a:bodyPr>
            <a:p>
              <a:pPr algn="ctr"/>
              <a:r>
                <a:rPr lang="zh-CN" altLang="en-US" b="1">
                  <a:solidFill>
                    <a:schemeClr val="accent1"/>
                  </a:solidFill>
                  <a:latin typeface="微软雅黑" panose="020B0503020204020204" charset="-122"/>
                  <a:ea typeface="微软雅黑" panose="020B0503020204020204" charset="-122"/>
                  <a:cs typeface="微软雅黑" panose="020B0503020204020204" charset="-122"/>
                </a:rPr>
                <a:t>电池全生命周期阶段</a:t>
              </a:r>
              <a:endParaRPr lang="zh-CN" altLang="en-US" b="1">
                <a:solidFill>
                  <a:schemeClr val="accent1"/>
                </a:solidFill>
                <a:latin typeface="微软雅黑" panose="020B0503020204020204" charset="-122"/>
                <a:ea typeface="微软雅黑" panose="020B0503020204020204" charset="-122"/>
                <a:cs typeface="微软雅黑" panose="020B0503020204020204" charset="-122"/>
              </a:endParaRPr>
            </a:p>
          </p:txBody>
        </p:sp>
      </p:grpSp>
      <p:grpSp>
        <p:nvGrpSpPr>
          <p:cNvPr id="6" name="组合 5"/>
          <p:cNvGrpSpPr/>
          <p:nvPr/>
        </p:nvGrpSpPr>
        <p:grpSpPr>
          <a:xfrm>
            <a:off x="8316595" y="2510155"/>
            <a:ext cx="662940" cy="662940"/>
            <a:chOff x="13097" y="3953"/>
            <a:chExt cx="1044" cy="1044"/>
          </a:xfrm>
        </p:grpSpPr>
        <p:sp>
          <p:nvSpPr>
            <p:cNvPr id="2" name="椭圆 1"/>
            <p:cNvSpPr/>
            <p:nvPr/>
          </p:nvSpPr>
          <p:spPr>
            <a:xfrm>
              <a:off x="13097" y="3953"/>
              <a:ext cx="1045" cy="1045"/>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 name="椭圆 2"/>
            <p:cNvSpPr/>
            <p:nvPr/>
          </p:nvSpPr>
          <p:spPr>
            <a:xfrm>
              <a:off x="13097" y="3953"/>
              <a:ext cx="1045" cy="1045"/>
            </a:xfrm>
            <a:prstGeom prst="ellipse">
              <a:avLst/>
            </a:prstGeom>
            <a:solidFill>
              <a:schemeClr val="accent5">
                <a:lumMod val="20000"/>
                <a:lumOff val="80000"/>
                <a:alpha val="50000"/>
              </a:schemeClr>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pic>
          <p:nvPicPr>
            <p:cNvPr id="4" name="图片 3" descr="114329-OP492S-104_ji"/>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3226" y="4047"/>
              <a:ext cx="818" cy="818"/>
            </a:xfrm>
            <a:prstGeom prst="rect">
              <a:avLst/>
            </a:prstGeom>
          </p:spPr>
        </p:pic>
      </p:grpSp>
      <p:grpSp>
        <p:nvGrpSpPr>
          <p:cNvPr id="13" name="组合 12"/>
          <p:cNvGrpSpPr/>
          <p:nvPr/>
        </p:nvGrpSpPr>
        <p:grpSpPr>
          <a:xfrm>
            <a:off x="8748395" y="3869055"/>
            <a:ext cx="662940" cy="662940"/>
            <a:chOff x="13777" y="6041"/>
            <a:chExt cx="1044" cy="1044"/>
          </a:xfrm>
        </p:grpSpPr>
        <p:grpSp>
          <p:nvGrpSpPr>
            <p:cNvPr id="7" name="组合 6"/>
            <p:cNvGrpSpPr/>
            <p:nvPr/>
          </p:nvGrpSpPr>
          <p:grpSpPr>
            <a:xfrm>
              <a:off x="13777" y="6041"/>
              <a:ext cx="1045" cy="1045"/>
              <a:chOff x="13097" y="3953"/>
              <a:chExt cx="1045" cy="1045"/>
            </a:xfrm>
          </p:grpSpPr>
          <p:sp>
            <p:nvSpPr>
              <p:cNvPr id="8" name="椭圆 7"/>
              <p:cNvSpPr/>
              <p:nvPr/>
            </p:nvSpPr>
            <p:spPr>
              <a:xfrm>
                <a:off x="13097" y="3953"/>
                <a:ext cx="1045" cy="1045"/>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 name="椭圆 8"/>
              <p:cNvSpPr/>
              <p:nvPr/>
            </p:nvSpPr>
            <p:spPr>
              <a:xfrm>
                <a:off x="13097" y="3953"/>
                <a:ext cx="1045" cy="1045"/>
              </a:xfrm>
              <a:prstGeom prst="ellipse">
                <a:avLst/>
              </a:prstGeom>
              <a:solidFill>
                <a:schemeClr val="accent5">
                  <a:lumMod val="20000"/>
                  <a:lumOff val="80000"/>
                  <a:alpha val="50000"/>
                </a:schemeClr>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12" name="图片 11" descr="回收百分率"/>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3892" y="6154"/>
              <a:ext cx="815" cy="815"/>
            </a:xfrm>
            <a:prstGeom prst="rect">
              <a:avLst/>
            </a:prstGeom>
            <a:gradFill>
              <a:gsLst>
                <a:gs pos="0">
                  <a:schemeClr val="accent5">
                    <a:lumMod val="20000"/>
                    <a:lumOff val="80000"/>
                  </a:schemeClr>
                </a:gs>
                <a:gs pos="100000">
                  <a:schemeClr val="accent5">
                    <a:lumMod val="40000"/>
                    <a:lumOff val="60000"/>
                  </a:schemeClr>
                </a:gs>
              </a:gsLst>
              <a:lin ang="5400000" scaled="0"/>
            </a:gradFill>
          </p:spPr>
        </p:pic>
      </p:grpSp>
      <p:grpSp>
        <p:nvGrpSpPr>
          <p:cNvPr id="32" name="组合 31"/>
          <p:cNvGrpSpPr/>
          <p:nvPr/>
        </p:nvGrpSpPr>
        <p:grpSpPr>
          <a:xfrm>
            <a:off x="8254365" y="5227955"/>
            <a:ext cx="662940" cy="662940"/>
            <a:chOff x="12847" y="8429"/>
            <a:chExt cx="1044" cy="1044"/>
          </a:xfrm>
        </p:grpSpPr>
        <p:grpSp>
          <p:nvGrpSpPr>
            <p:cNvPr id="15" name="组合 14"/>
            <p:cNvGrpSpPr/>
            <p:nvPr/>
          </p:nvGrpSpPr>
          <p:grpSpPr>
            <a:xfrm rot="0">
              <a:off x="12847" y="8429"/>
              <a:ext cx="1045" cy="1045"/>
              <a:chOff x="13097" y="3953"/>
              <a:chExt cx="1045" cy="1045"/>
            </a:xfrm>
          </p:grpSpPr>
          <p:sp>
            <p:nvSpPr>
              <p:cNvPr id="16" name="椭圆 15"/>
              <p:cNvSpPr/>
              <p:nvPr/>
            </p:nvSpPr>
            <p:spPr>
              <a:xfrm>
                <a:off x="13097" y="3953"/>
                <a:ext cx="1045" cy="1045"/>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7" name="椭圆 16"/>
              <p:cNvSpPr/>
              <p:nvPr/>
            </p:nvSpPr>
            <p:spPr>
              <a:xfrm>
                <a:off x="13097" y="3953"/>
                <a:ext cx="1045" cy="1045"/>
              </a:xfrm>
              <a:prstGeom prst="ellipse">
                <a:avLst/>
              </a:prstGeom>
              <a:solidFill>
                <a:schemeClr val="accent5">
                  <a:lumMod val="20000"/>
                  <a:lumOff val="80000"/>
                  <a:alpha val="50000"/>
                </a:schemeClr>
              </a:solid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21" name="图片 20" descr="接通电源4"/>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13097" y="8622"/>
              <a:ext cx="656" cy="656"/>
            </a:xfrm>
            <a:prstGeom prst="rect">
              <a:avLst/>
            </a:prstGeom>
          </p:spPr>
        </p:pic>
      </p:grpSp>
      <p:grpSp>
        <p:nvGrpSpPr>
          <p:cNvPr id="62" name="组合 61"/>
          <p:cNvGrpSpPr/>
          <p:nvPr/>
        </p:nvGrpSpPr>
        <p:grpSpPr>
          <a:xfrm>
            <a:off x="7051040" y="2860040"/>
            <a:ext cx="487680" cy="487680"/>
            <a:chOff x="12042" y="4884"/>
            <a:chExt cx="768" cy="768"/>
          </a:xfrm>
        </p:grpSpPr>
        <p:grpSp>
          <p:nvGrpSpPr>
            <p:cNvPr id="63" name="组合 62"/>
            <p:cNvGrpSpPr/>
            <p:nvPr/>
          </p:nvGrpSpPr>
          <p:grpSpPr>
            <a:xfrm>
              <a:off x="12042" y="4884"/>
              <a:ext cx="768" cy="768"/>
              <a:chOff x="12810" y="5708"/>
              <a:chExt cx="768" cy="768"/>
            </a:xfrm>
          </p:grpSpPr>
          <p:sp>
            <p:nvSpPr>
              <p:cNvPr id="68" name="椭圆 67"/>
              <p:cNvSpPr/>
              <p:nvPr/>
            </p:nvSpPr>
            <p:spPr>
              <a:xfrm>
                <a:off x="12810" y="5708"/>
                <a:ext cx="768" cy="768"/>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69" name="椭圆 68"/>
              <p:cNvSpPr/>
              <p:nvPr/>
            </p:nvSpPr>
            <p:spPr>
              <a:xfrm>
                <a:off x="12810" y="5708"/>
                <a:ext cx="768" cy="768"/>
              </a:xfrm>
              <a:prstGeom prst="ellipse">
                <a:avLst/>
              </a:prstGeom>
              <a:solidFill>
                <a:schemeClr val="accent1">
                  <a:lumMod val="20000"/>
                  <a:lumOff val="80000"/>
                  <a:alpha val="5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70" name="图片 69" descr="Build_up-and-down"/>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12224" y="5039"/>
              <a:ext cx="405" cy="405"/>
            </a:xfrm>
            <a:prstGeom prst="rect">
              <a:avLst/>
            </a:prstGeom>
          </p:spPr>
        </p:pic>
      </p:grpSp>
      <p:grpSp>
        <p:nvGrpSpPr>
          <p:cNvPr id="89" name="组合 88"/>
          <p:cNvGrpSpPr/>
          <p:nvPr/>
        </p:nvGrpSpPr>
        <p:grpSpPr>
          <a:xfrm>
            <a:off x="6553835" y="3498850"/>
            <a:ext cx="487680" cy="487680"/>
            <a:chOff x="11216" y="5728"/>
            <a:chExt cx="768" cy="768"/>
          </a:xfrm>
        </p:grpSpPr>
        <p:grpSp>
          <p:nvGrpSpPr>
            <p:cNvPr id="90" name="组合 89"/>
            <p:cNvGrpSpPr/>
            <p:nvPr/>
          </p:nvGrpSpPr>
          <p:grpSpPr>
            <a:xfrm rot="0">
              <a:off x="11216" y="5728"/>
              <a:ext cx="768" cy="768"/>
              <a:chOff x="12810" y="5708"/>
              <a:chExt cx="768" cy="768"/>
            </a:xfrm>
          </p:grpSpPr>
          <p:sp>
            <p:nvSpPr>
              <p:cNvPr id="91" name="椭圆 90"/>
              <p:cNvSpPr/>
              <p:nvPr/>
            </p:nvSpPr>
            <p:spPr>
              <a:xfrm>
                <a:off x="12810" y="5708"/>
                <a:ext cx="768" cy="768"/>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6" name="椭圆 95"/>
              <p:cNvSpPr/>
              <p:nvPr/>
            </p:nvSpPr>
            <p:spPr>
              <a:xfrm>
                <a:off x="12810" y="5708"/>
                <a:ext cx="768" cy="768"/>
              </a:xfrm>
              <a:prstGeom prst="ellipse">
                <a:avLst/>
              </a:prstGeom>
              <a:solidFill>
                <a:schemeClr val="accent1">
                  <a:lumMod val="20000"/>
                  <a:lumOff val="80000"/>
                  <a:alpha val="5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103" name="图片 102" descr="翻新改造"/>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11394" y="5894"/>
              <a:ext cx="445" cy="445"/>
            </a:xfrm>
            <a:prstGeom prst="rect">
              <a:avLst/>
            </a:prstGeom>
          </p:spPr>
        </p:pic>
      </p:grpSp>
      <p:grpSp>
        <p:nvGrpSpPr>
          <p:cNvPr id="119" name="组合 118"/>
          <p:cNvGrpSpPr/>
          <p:nvPr/>
        </p:nvGrpSpPr>
        <p:grpSpPr>
          <a:xfrm>
            <a:off x="6137275" y="3976370"/>
            <a:ext cx="487680" cy="487680"/>
            <a:chOff x="10466" y="6646"/>
            <a:chExt cx="768" cy="768"/>
          </a:xfrm>
        </p:grpSpPr>
        <p:grpSp>
          <p:nvGrpSpPr>
            <p:cNvPr id="120" name="组合 119"/>
            <p:cNvGrpSpPr/>
            <p:nvPr/>
          </p:nvGrpSpPr>
          <p:grpSpPr>
            <a:xfrm rot="0">
              <a:off x="10466" y="6646"/>
              <a:ext cx="768" cy="768"/>
              <a:chOff x="12810" y="5708"/>
              <a:chExt cx="768" cy="768"/>
            </a:xfrm>
          </p:grpSpPr>
          <p:sp>
            <p:nvSpPr>
              <p:cNvPr id="121" name="椭圆 120"/>
              <p:cNvSpPr/>
              <p:nvPr/>
            </p:nvSpPr>
            <p:spPr>
              <a:xfrm>
                <a:off x="12810" y="5708"/>
                <a:ext cx="768" cy="768"/>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22" name="椭圆 121"/>
              <p:cNvSpPr/>
              <p:nvPr/>
            </p:nvSpPr>
            <p:spPr>
              <a:xfrm>
                <a:off x="12810" y="5708"/>
                <a:ext cx="768" cy="768"/>
              </a:xfrm>
              <a:prstGeom prst="ellipse">
                <a:avLst/>
              </a:prstGeom>
              <a:solidFill>
                <a:schemeClr val="accent1">
                  <a:lumMod val="20000"/>
                  <a:lumOff val="80000"/>
                  <a:alpha val="5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123" name="图片 122" descr="维修"/>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0650" y="6830"/>
              <a:ext cx="401" cy="401"/>
            </a:xfrm>
            <a:prstGeom prst="rect">
              <a:avLst/>
            </a:prstGeom>
          </p:spPr>
        </p:pic>
      </p:grpSp>
      <p:grpSp>
        <p:nvGrpSpPr>
          <p:cNvPr id="131" name="组合 130"/>
          <p:cNvGrpSpPr/>
          <p:nvPr/>
        </p:nvGrpSpPr>
        <p:grpSpPr>
          <a:xfrm>
            <a:off x="5788660" y="4415790"/>
            <a:ext cx="487680" cy="487680"/>
            <a:chOff x="10499" y="6916"/>
            <a:chExt cx="768" cy="768"/>
          </a:xfrm>
        </p:grpSpPr>
        <p:grpSp>
          <p:nvGrpSpPr>
            <p:cNvPr id="132" name="组合 131"/>
            <p:cNvGrpSpPr/>
            <p:nvPr/>
          </p:nvGrpSpPr>
          <p:grpSpPr>
            <a:xfrm rot="0">
              <a:off x="10499" y="6916"/>
              <a:ext cx="768" cy="768"/>
              <a:chOff x="12810" y="5708"/>
              <a:chExt cx="768" cy="768"/>
            </a:xfrm>
          </p:grpSpPr>
          <p:sp>
            <p:nvSpPr>
              <p:cNvPr id="133" name="椭圆 132"/>
              <p:cNvSpPr/>
              <p:nvPr/>
            </p:nvSpPr>
            <p:spPr>
              <a:xfrm>
                <a:off x="12810" y="5708"/>
                <a:ext cx="768" cy="768"/>
              </a:xfrm>
              <a:prstGeom prst="ellipse">
                <a:avLst/>
              </a:prstGeom>
              <a:solidFill>
                <a:schemeClr val="bg1"/>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34" name="椭圆 133"/>
              <p:cNvSpPr/>
              <p:nvPr/>
            </p:nvSpPr>
            <p:spPr>
              <a:xfrm>
                <a:off x="12810" y="5708"/>
                <a:ext cx="768" cy="768"/>
              </a:xfrm>
              <a:prstGeom prst="ellipse">
                <a:avLst/>
              </a:prstGeom>
              <a:solidFill>
                <a:schemeClr val="accent1">
                  <a:lumMod val="20000"/>
                  <a:lumOff val="80000"/>
                  <a:alpha val="50000"/>
                </a:schemeClr>
              </a:soli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pic>
          <p:nvPicPr>
            <p:cNvPr id="135" name="图片 134" descr="回收站"/>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0702" y="7119"/>
              <a:ext cx="363" cy="363"/>
            </a:xfrm>
            <a:prstGeom prst="rect">
              <a:avLst/>
            </a:prstGeom>
          </p:spPr>
        </p:pic>
      </p:grpSp>
      <p:cxnSp>
        <p:nvCxnSpPr>
          <p:cNvPr id="11"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4" name="组合 13"/>
          <p:cNvGrpSpPr/>
          <p:nvPr/>
        </p:nvGrpSpPr>
        <p:grpSpPr>
          <a:xfrm>
            <a:off x="8738235" y="348615"/>
            <a:ext cx="3219450" cy="332740"/>
            <a:chOff x="13761" y="549"/>
            <a:chExt cx="5070" cy="524"/>
          </a:xfrm>
        </p:grpSpPr>
        <p:pic>
          <p:nvPicPr>
            <p:cNvPr id="18" name="图片 17"/>
            <p:cNvPicPr>
              <a:picLocks noChangeAspect="1"/>
            </p:cNvPicPr>
            <p:nvPr userDrawn="1"/>
          </p:nvPicPr>
          <p:blipFill>
            <a:blip r:embed="rId27"/>
            <a:srcRect l="17002" t="-1765" r="56499" b="-1176"/>
            <a:stretch>
              <a:fillRect/>
            </a:stretch>
          </p:blipFill>
          <p:spPr>
            <a:xfrm>
              <a:off x="13761" y="549"/>
              <a:ext cx="1582" cy="525"/>
            </a:xfrm>
            <a:prstGeom prst="rect">
              <a:avLst/>
            </a:prstGeom>
          </p:spPr>
        </p:pic>
        <p:sp>
          <p:nvSpPr>
            <p:cNvPr id="19" name="文本框 18"/>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循环逻辑架构 | </a:t>
            </a:r>
            <a:r>
              <a:rPr sz="2500">
                <a:solidFill>
                  <a:schemeClr val="tx2"/>
                </a:solidFill>
                <a:effectLst/>
                <a:latin typeface="微软雅黑" panose="020B0503020204020204" charset="-122"/>
                <a:ea typeface="微软雅黑" panose="020B0503020204020204" charset="-122"/>
                <a:cs typeface="微软雅黑" panose="020B0503020204020204" charset="-122"/>
              </a:rPr>
              <a:t>线上线下业务联动模型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04" name="椭圆 103"/>
          <p:cNvSpPr>
            <a:spLocks noChangeAspect="1"/>
          </p:cNvSpPr>
          <p:nvPr/>
        </p:nvSpPr>
        <p:spPr>
          <a:xfrm>
            <a:off x="4657794" y="2204679"/>
            <a:ext cx="3096000" cy="3096000"/>
          </a:xfrm>
          <a:prstGeom prst="ellipse">
            <a:avLst/>
          </a:prstGeom>
          <a:gradFill>
            <a:gsLst>
              <a:gs pos="33000">
                <a:schemeClr val="accent1">
                  <a:lumMod val="20000"/>
                  <a:lumOff val="80000"/>
                  <a:alpha val="50000"/>
                </a:schemeClr>
              </a:gs>
              <a:gs pos="89000">
                <a:schemeClr val="accent1">
                  <a:lumMod val="20000"/>
                  <a:lumOff val="80000"/>
                </a:schemeClr>
              </a:gs>
            </a:gsLst>
            <a:path path="circle">
              <a:fillToRect r="100000" b="100000"/>
            </a:path>
            <a:tileRect l="-100000" t="-10000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5" name="文本框 104"/>
          <p:cNvSpPr txBox="1"/>
          <p:nvPr/>
        </p:nvSpPr>
        <p:spPr>
          <a:xfrm>
            <a:off x="5190473" y="3099395"/>
            <a:ext cx="2087880" cy="475615"/>
          </a:xfrm>
          <a:prstGeom prst="rect">
            <a:avLst/>
          </a:prstGeom>
          <a:noFill/>
        </p:spPr>
        <p:txBody>
          <a:bodyPr wrap="none" rtlCol="0">
            <a:spAutoFit/>
          </a:bodyPr>
          <a:lstStyle/>
          <a:p>
            <a:pPr lvl="0" algn="ctr" fontAlgn="ctr">
              <a:defRPr/>
            </a:pPr>
            <a:r>
              <a:rPr lang="zh-CN" altLang="en-US" sz="2500" b="1"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sym typeface="微软雅黑" panose="020B0503020204020204" charset="-122"/>
              </a:rPr>
              <a:t>线上线下联动</a:t>
            </a:r>
            <a:endParaRPr lang="zh-CN" altLang="en-US" sz="2500" b="1" dirty="0">
              <a:gradFill>
                <a:gsLst>
                  <a:gs pos="0">
                    <a:schemeClr val="accent1"/>
                  </a:gs>
                  <a:gs pos="100000">
                    <a:schemeClr val="accent1">
                      <a:lumMod val="60000"/>
                      <a:lumOff val="40000"/>
                    </a:schemeClr>
                  </a:gs>
                </a:gsLst>
                <a:lin ang="5400000" scaled="0"/>
              </a:gra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58" name="组合 157"/>
          <p:cNvGrpSpPr/>
          <p:nvPr/>
        </p:nvGrpSpPr>
        <p:grpSpPr>
          <a:xfrm>
            <a:off x="5145405" y="3971925"/>
            <a:ext cx="1066800" cy="275590"/>
            <a:chOff x="8103" y="6255"/>
            <a:chExt cx="1680" cy="434"/>
          </a:xfrm>
        </p:grpSpPr>
        <p:sp>
          <p:nvSpPr>
            <p:cNvPr id="108" name="圆角矩形 107"/>
            <p:cNvSpPr/>
            <p:nvPr/>
          </p:nvSpPr>
          <p:spPr>
            <a:xfrm>
              <a:off x="8103" y="6255"/>
              <a:ext cx="1681" cy="434"/>
            </a:xfrm>
            <a:prstGeom prst="roundRect">
              <a:avLst/>
            </a:prstGeom>
            <a:solidFill>
              <a:schemeClr val="bg1"/>
            </a:solidFill>
            <a:ln w="12700" cap="flat" cmpd="sng" algn="ctr">
              <a:solidFill>
                <a:schemeClr val="accent1">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09" name="文本框 108"/>
            <p:cNvSpPr txBox="1"/>
            <p:nvPr/>
          </p:nvSpPr>
          <p:spPr>
            <a:xfrm flipH="1">
              <a:off x="8145" y="6326"/>
              <a:ext cx="1599" cy="290"/>
            </a:xfrm>
            <a:prstGeom prst="rect">
              <a:avLst/>
            </a:prstGeom>
            <a:noFill/>
          </p:spPr>
          <p:txBody>
            <a:bodyPr wrap="square" lIns="0" tIns="0" rIns="0" bIns="0" rtlCol="0">
              <a:spAutoFit/>
            </a:bodyPr>
            <a:lstStyle/>
            <a:p>
              <a:pPr lvl="0" algn="ctr">
                <a:defRPr/>
              </a:pPr>
              <a:r>
                <a:rPr lang="zh-CN" alt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实时数据共享</a:t>
              </a:r>
              <a:endParaRPr kumimoji="0" lang="zh-CN" alt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112" name="文本框 111"/>
          <p:cNvSpPr txBox="1"/>
          <p:nvPr/>
        </p:nvSpPr>
        <p:spPr>
          <a:xfrm>
            <a:off x="5308507" y="3558021"/>
            <a:ext cx="1821332" cy="261610"/>
          </a:xfrm>
          <a:prstGeom prst="rect">
            <a:avLst/>
          </a:prstGeom>
          <a:noFill/>
        </p:spPr>
        <p:txBody>
          <a:bodyPr wrap="none" rtlCol="0">
            <a:spAutoFit/>
          </a:bodyPr>
          <a:lstStyle/>
          <a:p>
            <a:pPr marL="0" marR="0" lvl="0" indent="0" algn="ctr" defTabSz="914400" rtl="0" eaLnBrk="1" fontAlgn="ctr" latinLnBrk="0" hangingPunct="1">
              <a:lnSpc>
                <a:spcPct val="100000"/>
              </a:lnSpc>
              <a:spcBef>
                <a:spcPts val="0"/>
              </a:spcBef>
              <a:spcAft>
                <a:spcPts val="0"/>
              </a:spcAft>
              <a:buClrTx/>
              <a:buSzTx/>
              <a:buFontTx/>
              <a:buNone/>
              <a:defRPr/>
            </a:pPr>
            <a:r>
              <a:rPr kumimoji="0" lang="zh-CN" altLang="en-US" sz="1100" b="0" i="0" u="none" strike="noStrike" kern="1200" cap="all"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Marketing strategy</a:t>
            </a:r>
            <a:endParaRPr kumimoji="0" lang="zh-CN" altLang="en-US" sz="1100" b="0" i="0" u="none" strike="noStrike" kern="1200" cap="all"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3" name="文本框 112"/>
          <p:cNvSpPr txBox="1"/>
          <p:nvPr/>
        </p:nvSpPr>
        <p:spPr>
          <a:xfrm>
            <a:off x="5461872" y="1188670"/>
            <a:ext cx="1560157" cy="228396"/>
          </a:xfrm>
          <a:prstGeom prst="rect">
            <a:avLst/>
          </a:prstGeom>
          <a:noFill/>
          <a:effectLst/>
        </p:spPr>
        <p:txBody>
          <a:bodyPr wrap="square" lIns="0" tIns="0" rIns="0" bIns="0"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投放</a:t>
            </a:r>
            <a:r>
              <a:rPr kumimoji="0" lang="en-US" altLang="zh-CN"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a:t>
            </a:r>
            <a:r>
              <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吸引目标受众</a:t>
            </a:r>
            <a:endPar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4" name="文本框 113"/>
          <p:cNvSpPr txBox="1"/>
          <p:nvPr/>
        </p:nvSpPr>
        <p:spPr>
          <a:xfrm>
            <a:off x="4742881" y="1485862"/>
            <a:ext cx="2699155" cy="228396"/>
          </a:xfrm>
          <a:prstGeom prst="rect">
            <a:avLst/>
          </a:prstGeom>
          <a:noFill/>
          <a:effectLst/>
        </p:spPr>
        <p:txBody>
          <a:bodyPr wrap="square" lIns="0" tIns="0" rIns="0" bIns="0" rtlCol="0">
            <a:spAutoFit/>
          </a:bodyPr>
          <a:lstStyle/>
          <a:p>
            <a:pPr lvl="0" algn="r">
              <a:lnSpc>
                <a:spcPct val="120000"/>
              </a:lnSpc>
              <a:defRPr/>
            </a:pPr>
            <a:r>
              <a:rPr lang="zh-CN" altLang="en-US" sz="1300" dirty="0">
                <a:solidFill>
                  <a:schemeClr val="bg2"/>
                </a:solidFill>
                <a:latin typeface="微软雅黑" panose="020B0503020204020204" charset="-122"/>
                <a:ea typeface="微软雅黑" panose="020B0503020204020204" charset="-122"/>
                <a:cs typeface="微软雅黑" panose="020B0503020204020204" charset="-122"/>
                <a:sym typeface="微软雅黑" panose="020B0503020204020204" charset="-122"/>
              </a:rPr>
              <a:t>线下购买转化、分享线上传播发酵</a:t>
            </a:r>
            <a:endParaRPr lang="zh-CN" altLang="en-US" sz="1300" dirty="0">
              <a:solidFill>
                <a:schemeClr val="bg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5" name="任意形状 82"/>
          <p:cNvSpPr/>
          <p:nvPr/>
        </p:nvSpPr>
        <p:spPr>
          <a:xfrm>
            <a:off x="3875889" y="1285622"/>
            <a:ext cx="6946638" cy="2751183"/>
          </a:xfrm>
          <a:custGeom>
            <a:avLst/>
            <a:gdLst>
              <a:gd name="connsiteX0" fmla="*/ 2361543 w 7219132"/>
              <a:gd name="connsiteY0" fmla="*/ 1097 h 2859103"/>
              <a:gd name="connsiteX1" fmla="*/ 3013584 w 7219132"/>
              <a:gd name="connsiteY1" fmla="*/ 65033 h 2859103"/>
              <a:gd name="connsiteX2" fmla="*/ 5016582 w 7219132"/>
              <a:gd name="connsiteY2" fmla="*/ 2321219 h 2859103"/>
              <a:gd name="connsiteX3" fmla="*/ 5023844 w 7219132"/>
              <a:gd name="connsiteY3" fmla="*/ 2437903 h 2859103"/>
              <a:gd name="connsiteX4" fmla="*/ 7219132 w 7219132"/>
              <a:gd name="connsiteY4" fmla="*/ 2437903 h 2859103"/>
              <a:gd name="connsiteX5" fmla="*/ 7219132 w 7219132"/>
              <a:gd name="connsiteY5" fmla="*/ 2859103 h 2859103"/>
              <a:gd name="connsiteX6" fmla="*/ 4339132 w 7219132"/>
              <a:gd name="connsiteY6" fmla="*/ 2859103 h 2859103"/>
              <a:gd name="connsiteX7" fmla="*/ 4339132 w 7219132"/>
              <a:gd name="connsiteY7" fmla="*/ 2556048 h 2859103"/>
              <a:gd name="connsiteX8" fmla="*/ 4336031 w 7219132"/>
              <a:gd name="connsiteY8" fmla="*/ 2556109 h 2859103"/>
              <a:gd name="connsiteX9" fmla="*/ 2859317 w 7219132"/>
              <a:gd name="connsiteY9" fmla="*/ 742134 h 2859103"/>
              <a:gd name="connsiteX10" fmla="*/ 821801 w 7219132"/>
              <a:gd name="connsiteY10" fmla="*/ 1595789 h 2859103"/>
              <a:gd name="connsiteX11" fmla="*/ 763661 w 7219132"/>
              <a:gd name="connsiteY11" fmla="*/ 1699687 h 2859103"/>
              <a:gd name="connsiteX12" fmla="*/ 933379 w 7219132"/>
              <a:gd name="connsiteY12" fmla="*/ 1797674 h 2859103"/>
              <a:gd name="connsiteX13" fmla="*/ 289463 w 7219132"/>
              <a:gd name="connsiteY13" fmla="*/ 1835195 h 2859103"/>
              <a:gd name="connsiteX14" fmla="*/ 0 w 7219132"/>
              <a:gd name="connsiteY14" fmla="*/ 1258788 h 2859103"/>
              <a:gd name="connsiteX15" fmla="*/ 162172 w 7219132"/>
              <a:gd name="connsiteY15" fmla="*/ 1352417 h 2859103"/>
              <a:gd name="connsiteX16" fmla="*/ 209514 w 7219132"/>
              <a:gd name="connsiteY16" fmla="*/ 1266220 h 2859103"/>
              <a:gd name="connsiteX17" fmla="*/ 2361543 w 7219132"/>
              <a:gd name="connsiteY17" fmla="*/ 1097 h 28591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219132" h="2859103">
                <a:moveTo>
                  <a:pt x="2361543" y="1097"/>
                </a:moveTo>
                <a:cubicBezTo>
                  <a:pt x="2576961" y="-5185"/>
                  <a:pt x="2795816" y="15418"/>
                  <a:pt x="3013584" y="65033"/>
                </a:cubicBezTo>
                <a:cubicBezTo>
                  <a:pt x="4102425" y="313110"/>
                  <a:pt x="4901564" y="1226671"/>
                  <a:pt x="5016582" y="2321219"/>
                </a:cubicBezTo>
                <a:lnTo>
                  <a:pt x="5023844" y="2437903"/>
                </a:lnTo>
                <a:lnTo>
                  <a:pt x="7219132" y="2437903"/>
                </a:lnTo>
                <a:lnTo>
                  <a:pt x="7219132" y="2859103"/>
                </a:lnTo>
                <a:lnTo>
                  <a:pt x="4339132" y="2859103"/>
                </a:lnTo>
                <a:lnTo>
                  <a:pt x="4339132" y="2556048"/>
                </a:lnTo>
                <a:lnTo>
                  <a:pt x="4336031" y="2556109"/>
                </a:lnTo>
                <a:cubicBezTo>
                  <a:pt x="4318810" y="1684064"/>
                  <a:pt x="3709739" y="935890"/>
                  <a:pt x="2859317" y="742134"/>
                </a:cubicBezTo>
                <a:cubicBezTo>
                  <a:pt x="2062047" y="560488"/>
                  <a:pt x="1244883" y="909921"/>
                  <a:pt x="821801" y="1595789"/>
                </a:cubicBezTo>
                <a:lnTo>
                  <a:pt x="763661" y="1699687"/>
                </a:lnTo>
                <a:lnTo>
                  <a:pt x="933379" y="1797674"/>
                </a:lnTo>
                <a:lnTo>
                  <a:pt x="289463" y="1835195"/>
                </a:lnTo>
                <a:lnTo>
                  <a:pt x="0" y="1258788"/>
                </a:lnTo>
                <a:lnTo>
                  <a:pt x="162172" y="1352417"/>
                </a:lnTo>
                <a:lnTo>
                  <a:pt x="209514" y="1266220"/>
                </a:lnTo>
                <a:cubicBezTo>
                  <a:pt x="667978" y="495853"/>
                  <a:pt x="1486405" y="26618"/>
                  <a:pt x="2361543" y="1097"/>
                </a:cubicBezTo>
                <a:close/>
              </a:path>
            </a:pathLst>
          </a:custGeom>
          <a:gradFill>
            <a:gsLst>
              <a:gs pos="92000">
                <a:schemeClr val="accent5"/>
              </a:gs>
              <a:gs pos="33000">
                <a:schemeClr val="accent5">
                  <a:lumMod val="60000"/>
                  <a:lumOff val="4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solidFill>
                <a:schemeClr val="tx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2" name="任意形状 83"/>
          <p:cNvSpPr/>
          <p:nvPr/>
        </p:nvSpPr>
        <p:spPr>
          <a:xfrm rot="1800000">
            <a:off x="1731034" y="2819409"/>
            <a:ext cx="6743209" cy="2930213"/>
          </a:xfrm>
          <a:custGeom>
            <a:avLst/>
            <a:gdLst>
              <a:gd name="connsiteX0" fmla="*/ 0 w 7007723"/>
              <a:gd name="connsiteY0" fmla="*/ 2680386 h 3045156"/>
              <a:gd name="connsiteX1" fmla="*/ 2494153 w 7007723"/>
              <a:gd name="connsiteY1" fmla="*/ 1240386 h 3045156"/>
              <a:gd name="connsiteX2" fmla="*/ 2590294 w 7007723"/>
              <a:gd name="connsiteY2" fmla="*/ 1406909 h 3045156"/>
              <a:gd name="connsiteX3" fmla="*/ 2592951 w 7007723"/>
              <a:gd name="connsiteY3" fmla="*/ 1405304 h 3045156"/>
              <a:gd name="connsiteX4" fmla="*/ 4778810 w 7007723"/>
              <a:gd name="connsiteY4" fmla="*/ 2237896 h 3045156"/>
              <a:gd name="connsiteX5" fmla="*/ 6116523 w 7007723"/>
              <a:gd name="connsiteY5" fmla="*/ 479851 h 3045156"/>
              <a:gd name="connsiteX6" fmla="*/ 6114840 w 7007723"/>
              <a:gd name="connsiteY6" fmla="*/ 354452 h 3045156"/>
              <a:gd name="connsiteX7" fmla="*/ 5929950 w 7007723"/>
              <a:gd name="connsiteY7" fmla="*/ 354452 h 3045156"/>
              <a:gd name="connsiteX8" fmla="*/ 6468837 w 7007723"/>
              <a:gd name="connsiteY8" fmla="*/ 0 h 3045156"/>
              <a:gd name="connsiteX9" fmla="*/ 7007723 w 7007723"/>
              <a:gd name="connsiteY9" fmla="*/ 354452 h 3045156"/>
              <a:gd name="connsiteX10" fmla="*/ 6808730 w 7007723"/>
              <a:gd name="connsiteY10" fmla="*/ 354452 h 3045156"/>
              <a:gd name="connsiteX11" fmla="*/ 6810689 w 7007723"/>
              <a:gd name="connsiteY11" fmla="*/ 500435 h 3045156"/>
              <a:gd name="connsiteX12" fmla="*/ 4983762 w 7007723"/>
              <a:gd name="connsiteY12" fmla="*/ 2901416 h 3045156"/>
              <a:gd name="connsiteX13" fmla="*/ 2256918 w 7007723"/>
              <a:gd name="connsiteY13" fmla="*/ 2120363 h 3045156"/>
              <a:gd name="connsiteX14" fmla="*/ 2125648 w 7007723"/>
              <a:gd name="connsiteY14" fmla="*/ 1939502 h 3045156"/>
              <a:gd name="connsiteX15" fmla="*/ 210600 w 7007723"/>
              <a:gd name="connsiteY15" fmla="*/ 3045156 h 30451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7007723" h="3045156">
                <a:moveTo>
                  <a:pt x="0" y="2680386"/>
                </a:moveTo>
                <a:lnTo>
                  <a:pt x="2494153" y="1240386"/>
                </a:lnTo>
                <a:lnTo>
                  <a:pt x="2590294" y="1406909"/>
                </a:lnTo>
                <a:lnTo>
                  <a:pt x="2592951" y="1405304"/>
                </a:lnTo>
                <a:cubicBezTo>
                  <a:pt x="3043887" y="2151907"/>
                  <a:pt x="3945445" y="2495309"/>
                  <a:pt x="4778810" y="2237896"/>
                </a:cubicBezTo>
                <a:cubicBezTo>
                  <a:pt x="5560090" y="1996571"/>
                  <a:pt x="6093058" y="1285371"/>
                  <a:pt x="6116523" y="479851"/>
                </a:cubicBezTo>
                <a:lnTo>
                  <a:pt x="6114840" y="354452"/>
                </a:lnTo>
                <a:lnTo>
                  <a:pt x="5929950" y="354452"/>
                </a:lnTo>
                <a:lnTo>
                  <a:pt x="6468837" y="0"/>
                </a:lnTo>
                <a:lnTo>
                  <a:pt x="7007723" y="354452"/>
                </a:lnTo>
                <a:lnTo>
                  <a:pt x="6808730" y="354452"/>
                </a:lnTo>
                <a:lnTo>
                  <a:pt x="6810689" y="500435"/>
                </a:lnTo>
                <a:cubicBezTo>
                  <a:pt x="6778643" y="1600544"/>
                  <a:pt x="6050763" y="2571835"/>
                  <a:pt x="4983762" y="2901416"/>
                </a:cubicBezTo>
                <a:cubicBezTo>
                  <a:pt x="3987893" y="3209023"/>
                  <a:pt x="2920721" y="2888405"/>
                  <a:pt x="2256918" y="2120363"/>
                </a:cubicBezTo>
                <a:lnTo>
                  <a:pt x="2125648" y="1939502"/>
                </a:lnTo>
                <a:lnTo>
                  <a:pt x="210600" y="3045156"/>
                </a:lnTo>
                <a:close/>
              </a:path>
            </a:pathLst>
          </a:custGeom>
          <a:gradFill>
            <a:gsLst>
              <a:gs pos="29000">
                <a:schemeClr val="accent1"/>
              </a:gs>
              <a:gs pos="99000">
                <a:schemeClr val="accent1">
                  <a:lumMod val="60000"/>
                  <a:lumOff val="4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6" name="任意多边形: 形状 105"/>
          <p:cNvSpPr/>
          <p:nvPr/>
        </p:nvSpPr>
        <p:spPr>
          <a:xfrm>
            <a:off x="10188274" y="3099692"/>
            <a:ext cx="1331374" cy="1331374"/>
          </a:xfrm>
          <a:custGeom>
            <a:avLst/>
            <a:gdLst>
              <a:gd name="connsiteX0" fmla="*/ 2286381 w 2286381"/>
              <a:gd name="connsiteY0" fmla="*/ 1143191 h 2286380"/>
              <a:gd name="connsiteX1" fmla="*/ 1143190 w 2286381"/>
              <a:gd name="connsiteY1" fmla="*/ 2286381 h 2286380"/>
              <a:gd name="connsiteX2" fmla="*/ -1 w 2286381"/>
              <a:gd name="connsiteY2" fmla="*/ 1143191 h 2286380"/>
              <a:gd name="connsiteX3" fmla="*/ 1143190 w 2286381"/>
              <a:gd name="connsiteY3" fmla="*/ 0 h 2286380"/>
              <a:gd name="connsiteX4" fmla="*/ 2286381 w 2286381"/>
              <a:gd name="connsiteY4" fmla="*/ 1143191 h 2286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381" h="2286380">
                <a:moveTo>
                  <a:pt x="2286381" y="1143191"/>
                </a:moveTo>
                <a:cubicBezTo>
                  <a:pt x="2286381" y="1774557"/>
                  <a:pt x="1774557" y="2286381"/>
                  <a:pt x="1143190" y="2286381"/>
                </a:cubicBezTo>
                <a:cubicBezTo>
                  <a:pt x="511823" y="2286381"/>
                  <a:pt x="-1" y="1774557"/>
                  <a:pt x="-1" y="1143191"/>
                </a:cubicBezTo>
                <a:cubicBezTo>
                  <a:pt x="-1" y="511824"/>
                  <a:pt x="511823" y="0"/>
                  <a:pt x="1143190" y="0"/>
                </a:cubicBezTo>
                <a:cubicBezTo>
                  <a:pt x="1774557" y="0"/>
                  <a:pt x="2286381" y="511824"/>
                  <a:pt x="2286381" y="1143191"/>
                </a:cubicBezTo>
                <a:close/>
              </a:path>
            </a:pathLst>
          </a:custGeom>
          <a:solidFill>
            <a:schemeClr val="accent5"/>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57" name="组合 156"/>
          <p:cNvGrpSpPr/>
          <p:nvPr/>
        </p:nvGrpSpPr>
        <p:grpSpPr>
          <a:xfrm>
            <a:off x="10259601" y="3314065"/>
            <a:ext cx="1188720" cy="720090"/>
            <a:chOff x="16144" y="5219"/>
            <a:chExt cx="1872" cy="1134"/>
          </a:xfrm>
        </p:grpSpPr>
        <p:sp>
          <p:nvSpPr>
            <p:cNvPr id="117" name="Object27"/>
            <p:cNvSpPr/>
            <p:nvPr/>
          </p:nvSpPr>
          <p:spPr>
            <a:xfrm>
              <a:off x="16144" y="5219"/>
              <a:ext cx="1873" cy="1128"/>
            </a:xfrm>
            <a:prstGeom prst="rect">
              <a:avLst/>
            </a:prstGeom>
            <a:noFill/>
          </p:spPr>
          <p:txBody>
            <a:bodyPr wrap="square" lIns="0" tIns="0" rIns="0" bIns="0" rtlCol="0" anchor="ct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altLang="en-US" sz="2160" b="1"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线下</a:t>
              </a:r>
              <a:endParaRPr kumimoji="0" lang="en-US" altLang="en-US" sz="2160" b="1"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8" name="文本框 117"/>
            <p:cNvSpPr txBox="1"/>
            <p:nvPr/>
          </p:nvSpPr>
          <p:spPr>
            <a:xfrm>
              <a:off x="16293" y="6015"/>
              <a:ext cx="1654" cy="339"/>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Brand marketing</a:t>
              </a:r>
              <a:endParaRPr kumimoji="0" lang="en-US" altLang="zh-CN" sz="8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119" name="椭圆 118"/>
          <p:cNvSpPr/>
          <p:nvPr/>
        </p:nvSpPr>
        <p:spPr>
          <a:xfrm>
            <a:off x="8414059" y="1359366"/>
            <a:ext cx="687450" cy="687450"/>
          </a:xfrm>
          <a:prstGeom prst="ellipse">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0" name="文本框 119"/>
          <p:cNvSpPr txBox="1"/>
          <p:nvPr/>
        </p:nvSpPr>
        <p:spPr>
          <a:xfrm flipH="1">
            <a:off x="9277622" y="1660833"/>
            <a:ext cx="2016000" cy="344197"/>
          </a:xfrm>
          <a:prstGeom prst="rect">
            <a:avLst/>
          </a:prstGeom>
          <a:noFill/>
        </p:spPr>
        <p:txBody>
          <a:bodyPr wrap="square" lIns="0" tIns="0" rIns="0" bIns="0" rtlCol="0">
            <a:spAutoFit/>
          </a:bodyPr>
          <a:lstStyle/>
          <a:p>
            <a:pPr lvl="0">
              <a:lnSpc>
                <a:spcPct val="114000"/>
              </a:lnSpc>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包括销售额、客流量等，找出销售业绩的增长点和下降点。</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1" name="文本框 120"/>
          <p:cNvSpPr txBox="1"/>
          <p:nvPr/>
        </p:nvSpPr>
        <p:spPr>
          <a:xfrm flipH="1">
            <a:off x="9277622" y="1386931"/>
            <a:ext cx="1741933" cy="238125"/>
          </a:xfrm>
          <a:prstGeom prst="rect">
            <a:avLst/>
          </a:prstGeom>
          <a:noFill/>
        </p:spPr>
        <p:txBody>
          <a:bodyPr wrap="square" lIns="0" tIns="0" rIns="0" bIns="0" rtlCol="0">
            <a:spAutoFit/>
          </a:bodyPr>
          <a:lstStyle/>
          <a:p>
            <a:pPr lvl="0">
              <a:defRPr/>
            </a:pPr>
            <a:r>
              <a:rPr lang="zh-CN" altLang="en-US" sz="155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销售漏斗分析</a:t>
            </a:r>
            <a:endParaRPr kumimoji="0" lang="zh-CN" altLang="en-US" sz="1550"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3" name="椭圆 122"/>
          <p:cNvSpPr/>
          <p:nvPr/>
        </p:nvSpPr>
        <p:spPr>
          <a:xfrm>
            <a:off x="8924639" y="2271587"/>
            <a:ext cx="687450" cy="687450"/>
          </a:xfrm>
          <a:prstGeom prst="ellipse">
            <a:avLst/>
          </a:prstGeom>
          <a:solidFill>
            <a:schemeClr val="accent5">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4" name="文本框 123"/>
          <p:cNvSpPr txBox="1"/>
          <p:nvPr/>
        </p:nvSpPr>
        <p:spPr>
          <a:xfrm flipH="1">
            <a:off x="9788202" y="2587602"/>
            <a:ext cx="2016000" cy="344197"/>
          </a:xfrm>
          <a:prstGeom prst="rect">
            <a:avLst/>
          </a:prstGeom>
          <a:noFill/>
        </p:spPr>
        <p:txBody>
          <a:bodyPr wrap="square" lIns="0" tIns="0" rIns="0" bIns="0" rtlCol="0">
            <a:spAutoFit/>
          </a:bodyPr>
          <a:lstStyle/>
          <a:p>
            <a:pPr lvl="0">
              <a:lnSpc>
                <a:spcPct val="114000"/>
              </a:lnSpc>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通过客户调查、投诉分析等方式，了解客户在门店的购物体验。</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5" name="文本框 124"/>
          <p:cNvSpPr txBox="1"/>
          <p:nvPr/>
        </p:nvSpPr>
        <p:spPr>
          <a:xfrm flipH="1">
            <a:off x="9788202" y="2313700"/>
            <a:ext cx="1741933" cy="238125"/>
          </a:xfrm>
          <a:prstGeom prst="rect">
            <a:avLst/>
          </a:prstGeom>
          <a:noFill/>
        </p:spPr>
        <p:txBody>
          <a:bodyPr wrap="square" lIns="0" tIns="0" rIns="0" bIns="0" rtlCol="0">
            <a:spAutoFit/>
          </a:bodyPr>
          <a:lstStyle/>
          <a:p>
            <a:pPr lvl="0" algn="l">
              <a:buClrTx/>
              <a:buSzTx/>
              <a:buFontTx/>
              <a:defRPr/>
            </a:pPr>
            <a:r>
              <a:rPr lang="zh-CN" altLang="en-US" sz="155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客户体验</a:t>
            </a:r>
            <a:endParaRPr lang="zh-CN" altLang="en-US" sz="155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7" name="椭圆 126"/>
          <p:cNvSpPr/>
          <p:nvPr/>
        </p:nvSpPr>
        <p:spPr>
          <a:xfrm>
            <a:off x="8924639" y="4557587"/>
            <a:ext cx="687450" cy="687450"/>
          </a:xfrm>
          <a:prstGeom prst="ellipse">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8" name="文本框 127"/>
          <p:cNvSpPr txBox="1"/>
          <p:nvPr/>
        </p:nvSpPr>
        <p:spPr>
          <a:xfrm flipH="1">
            <a:off x="9788202" y="4873602"/>
            <a:ext cx="2016000" cy="349885"/>
          </a:xfrm>
          <a:prstGeom prst="rect">
            <a:avLst/>
          </a:prstGeom>
          <a:noFill/>
        </p:spPr>
        <p:txBody>
          <a:bodyPr wrap="square" lIns="0" tIns="0" rIns="0" bIns="0" rtlCol="0">
            <a:spAutoFit/>
          </a:bodyPr>
          <a:lstStyle/>
          <a:p>
            <a:pPr lvl="0" algn="l">
              <a:lnSpc>
                <a:spcPct val="114000"/>
              </a:lnSpc>
              <a:buClrTx/>
              <a:buSzTx/>
              <a:buFontTx/>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分析活动对销售的促进作用，以及活动成本和收益的关系。</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9" name="文本框 128"/>
          <p:cNvSpPr txBox="1"/>
          <p:nvPr/>
        </p:nvSpPr>
        <p:spPr>
          <a:xfrm flipH="1">
            <a:off x="9788202" y="4599700"/>
            <a:ext cx="1741933" cy="238125"/>
          </a:xfrm>
          <a:prstGeom prst="rect">
            <a:avLst/>
          </a:prstGeom>
          <a:noFill/>
        </p:spPr>
        <p:txBody>
          <a:bodyPr wrap="square" lIns="0" tIns="0" rIns="0" bIns="0" rtlCol="0">
            <a:spAutoFit/>
          </a:bodyPr>
          <a:lstStyle/>
          <a:p>
            <a:pPr lvl="0" algn="l">
              <a:buClrTx/>
              <a:buSzTx/>
              <a:buFontTx/>
              <a:defRPr/>
            </a:pPr>
            <a:r>
              <a:rPr lang="zh-CN" altLang="en-US" sz="155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促销活动评估</a:t>
            </a:r>
            <a:endParaRPr lang="zh-CN" altLang="en-US" sz="155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1" name="椭圆 130"/>
          <p:cNvSpPr/>
          <p:nvPr/>
        </p:nvSpPr>
        <p:spPr>
          <a:xfrm>
            <a:off x="8414059" y="5543439"/>
            <a:ext cx="687450" cy="687450"/>
          </a:xfrm>
          <a:prstGeom prst="ellipse">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2" name="文本框 131"/>
          <p:cNvSpPr txBox="1"/>
          <p:nvPr/>
        </p:nvSpPr>
        <p:spPr>
          <a:xfrm flipH="1">
            <a:off x="9277622" y="5844906"/>
            <a:ext cx="2016000" cy="349885"/>
          </a:xfrm>
          <a:prstGeom prst="rect">
            <a:avLst/>
          </a:prstGeom>
          <a:noFill/>
        </p:spPr>
        <p:txBody>
          <a:bodyPr wrap="square" lIns="0" tIns="0" rIns="0" bIns="0" rtlCol="0">
            <a:spAutoFit/>
          </a:bodyPr>
          <a:lstStyle/>
          <a:p>
            <a:pPr lvl="0" algn="l">
              <a:lnSpc>
                <a:spcPct val="114000"/>
              </a:lnSpc>
              <a:buClrTx/>
              <a:buSzTx/>
              <a:buFontTx/>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检查门店的日常运营管理，包括商品陈列、库存管理等。</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3" name="文本框 132"/>
          <p:cNvSpPr txBox="1"/>
          <p:nvPr/>
        </p:nvSpPr>
        <p:spPr>
          <a:xfrm flipH="1">
            <a:off x="9277622" y="5571004"/>
            <a:ext cx="1741933" cy="238125"/>
          </a:xfrm>
          <a:prstGeom prst="rect">
            <a:avLst/>
          </a:prstGeom>
          <a:noFill/>
        </p:spPr>
        <p:txBody>
          <a:bodyPr wrap="square" lIns="0" tIns="0" rIns="0" bIns="0" rtlCol="0">
            <a:spAutoFit/>
          </a:bodyPr>
          <a:lstStyle/>
          <a:p>
            <a:pPr lvl="0" algn="l">
              <a:buClrTx/>
              <a:buSzTx/>
              <a:buFontTx/>
              <a:defRPr/>
            </a:pPr>
            <a:r>
              <a:rPr lang="zh-CN" altLang="en-US" sz="155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门店运营管理</a:t>
            </a:r>
            <a:endParaRPr lang="zh-CN" altLang="en-US" sz="155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5" name="任意多边形: 形状 105"/>
          <p:cNvSpPr/>
          <p:nvPr/>
        </p:nvSpPr>
        <p:spPr>
          <a:xfrm>
            <a:off x="642920" y="3099692"/>
            <a:ext cx="1331374" cy="1331374"/>
          </a:xfrm>
          <a:custGeom>
            <a:avLst/>
            <a:gdLst>
              <a:gd name="connsiteX0" fmla="*/ 2286381 w 2286381"/>
              <a:gd name="connsiteY0" fmla="*/ 1143191 h 2286380"/>
              <a:gd name="connsiteX1" fmla="*/ 1143190 w 2286381"/>
              <a:gd name="connsiteY1" fmla="*/ 2286381 h 2286380"/>
              <a:gd name="connsiteX2" fmla="*/ -1 w 2286381"/>
              <a:gd name="connsiteY2" fmla="*/ 1143191 h 2286380"/>
              <a:gd name="connsiteX3" fmla="*/ 1143190 w 2286381"/>
              <a:gd name="connsiteY3" fmla="*/ 0 h 2286380"/>
              <a:gd name="connsiteX4" fmla="*/ 2286381 w 2286381"/>
              <a:gd name="connsiteY4" fmla="*/ 1143191 h 228638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286381" h="2286380">
                <a:moveTo>
                  <a:pt x="2286381" y="1143191"/>
                </a:moveTo>
                <a:cubicBezTo>
                  <a:pt x="2286381" y="1774557"/>
                  <a:pt x="1774557" y="2286381"/>
                  <a:pt x="1143190" y="2286381"/>
                </a:cubicBezTo>
                <a:cubicBezTo>
                  <a:pt x="511823" y="2286381"/>
                  <a:pt x="-1" y="1774557"/>
                  <a:pt x="-1" y="1143191"/>
                </a:cubicBezTo>
                <a:cubicBezTo>
                  <a:pt x="-1" y="511824"/>
                  <a:pt x="511823" y="0"/>
                  <a:pt x="1143190" y="0"/>
                </a:cubicBezTo>
                <a:cubicBezTo>
                  <a:pt x="1774557" y="0"/>
                  <a:pt x="2286381" y="511824"/>
                  <a:pt x="2286381" y="1143191"/>
                </a:cubicBezTo>
                <a:close/>
              </a:path>
            </a:pathLst>
          </a:custGeom>
          <a:solidFill>
            <a:schemeClr val="accent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6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6" name="Object27"/>
          <p:cNvSpPr/>
          <p:nvPr/>
        </p:nvSpPr>
        <p:spPr>
          <a:xfrm>
            <a:off x="706270" y="3314288"/>
            <a:ext cx="1189342" cy="716280"/>
          </a:xfrm>
          <a:prstGeom prst="rect">
            <a:avLst/>
          </a:prstGeom>
          <a:noFill/>
        </p:spPr>
        <p:txBody>
          <a:bodyPr wrap="square" lIns="0" tIns="0" rIns="0" bIns="0" rtlCol="0" anchor="ctr"/>
          <a:lstStyle/>
          <a:p>
            <a:pPr marL="0" marR="0" lvl="0" indent="0" algn="ctr" defTabSz="731520" rtl="0" eaLnBrk="1" fontAlgn="auto" latinLnBrk="0" hangingPunct="1">
              <a:lnSpc>
                <a:spcPct val="100000"/>
              </a:lnSpc>
              <a:spcBef>
                <a:spcPts val="0"/>
              </a:spcBef>
              <a:spcAft>
                <a:spcPts val="0"/>
              </a:spcAft>
              <a:buClrTx/>
              <a:buSzTx/>
              <a:buFontTx/>
              <a:buNone/>
              <a:defRPr/>
            </a:pPr>
            <a:r>
              <a:rPr kumimoji="0" lang="en-US" altLang="en-US" sz="2160" b="1"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线上</a:t>
            </a:r>
            <a:endParaRPr kumimoji="0" lang="en-US" altLang="en-US" sz="2160" b="1"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7" name="文本框 136"/>
          <p:cNvSpPr txBox="1"/>
          <p:nvPr/>
        </p:nvSpPr>
        <p:spPr>
          <a:xfrm>
            <a:off x="800644" y="3819699"/>
            <a:ext cx="1050288" cy="215444"/>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8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Brand marketing</a:t>
            </a:r>
            <a:endParaRPr kumimoji="0" lang="en-US" altLang="zh-CN" sz="8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8" name="椭圆 137"/>
          <p:cNvSpPr/>
          <p:nvPr/>
        </p:nvSpPr>
        <p:spPr>
          <a:xfrm>
            <a:off x="3263612" y="1359366"/>
            <a:ext cx="687450" cy="687450"/>
          </a:xfrm>
          <a:prstGeom prst="ellipse">
            <a:avLst/>
          </a:prstGeom>
          <a:solidFill>
            <a:schemeClr val="accent5">
              <a:lumMod val="60000"/>
              <a:lumOff val="40000"/>
            </a:schemeClr>
          </a:solidFill>
          <a:ln w="12700" cap="flat" cmpd="sng" algn="ctr">
            <a:noFill/>
            <a:prstDash val="solid"/>
            <a:miter lim="800000"/>
          </a:ln>
          <a:effectLst/>
        </p:spPr>
        <p:txBody>
          <a:bodyPr rtlCol="0" anchor="ctr">
            <a:noAutofit/>
          </a:bodyPr>
          <a:lstStyle/>
          <a:p>
            <a:pPr lvl="0" algn="ctr">
              <a:spcBef>
                <a:spcPts val="0"/>
              </a:spcBef>
              <a:spcAft>
                <a:spcPts val="0"/>
              </a:spcAft>
              <a:buClrTx/>
              <a:buSzTx/>
              <a:buFontTx/>
              <a:defRPr/>
            </a:pPr>
            <a:endParaRPr lang="en-US" kern="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9" name="文本框 138"/>
          <p:cNvSpPr txBox="1"/>
          <p:nvPr/>
        </p:nvSpPr>
        <p:spPr>
          <a:xfrm flipH="1">
            <a:off x="1105993" y="1660833"/>
            <a:ext cx="2016000" cy="349885"/>
          </a:xfrm>
          <a:prstGeom prst="rect">
            <a:avLst/>
          </a:prstGeom>
          <a:noFill/>
        </p:spPr>
        <p:txBody>
          <a:bodyPr wrap="square" lIns="0" tIns="0" rIns="0" bIns="0" rtlCol="0">
            <a:spAutoFit/>
          </a:bodyPr>
          <a:lstStyle/>
          <a:p>
            <a:pPr lvl="0" algn="r">
              <a:lnSpc>
                <a:spcPct val="114000"/>
              </a:lnSpc>
              <a:buClrTx/>
              <a:buSzTx/>
              <a:buFontTx/>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回顾线上业务的关键指标，分析数据的变化趋势和原因。</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0" name="文本框 139"/>
          <p:cNvSpPr txBox="1"/>
          <p:nvPr/>
        </p:nvSpPr>
        <p:spPr>
          <a:xfrm flipH="1">
            <a:off x="1380060" y="1386931"/>
            <a:ext cx="1741933" cy="238125"/>
          </a:xfrm>
          <a:prstGeom prst="rect">
            <a:avLst/>
          </a:prstGeom>
          <a:noFill/>
        </p:spPr>
        <p:txBody>
          <a:bodyPr wrap="square" lIns="0" tIns="0" rIns="0" bIns="0" rtlCol="0">
            <a:spAutoFit/>
          </a:bodyPr>
          <a:lstStyle/>
          <a:p>
            <a:pPr lvl="0" algn="r">
              <a:buClrTx/>
              <a:buSzTx/>
              <a:buFontTx/>
              <a:defRPr/>
            </a:pPr>
            <a:r>
              <a:rPr lang="zh-CN" altLang="en-US" sz="155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指标分析</a:t>
            </a:r>
            <a:endParaRPr lang="zh-CN" altLang="en-US" sz="155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2" name="椭圆 141"/>
          <p:cNvSpPr/>
          <p:nvPr/>
        </p:nvSpPr>
        <p:spPr>
          <a:xfrm>
            <a:off x="2806585" y="2272418"/>
            <a:ext cx="687450" cy="687450"/>
          </a:xfrm>
          <a:prstGeom prst="ellipse">
            <a:avLst/>
          </a:prstGeom>
          <a:solidFill>
            <a:schemeClr val="accent5">
              <a:lumMod val="60000"/>
              <a:lumOff val="40000"/>
            </a:schemeClr>
          </a:solidFill>
          <a:ln w="12700" cap="flat" cmpd="sng" algn="ctr">
            <a:noFill/>
            <a:prstDash val="solid"/>
            <a:miter lim="800000"/>
          </a:ln>
          <a:effectLst/>
        </p:spPr>
        <p:txBody>
          <a:bodyPr rtlCol="0" anchor="ctr">
            <a:noAutofit/>
          </a:bodyPr>
          <a:lstStyle/>
          <a:p>
            <a:pPr lvl="0" algn="ctr">
              <a:spcBef>
                <a:spcPts val="0"/>
              </a:spcBef>
              <a:spcAft>
                <a:spcPts val="0"/>
              </a:spcAft>
              <a:buClrTx/>
              <a:buSzTx/>
              <a:buFontTx/>
              <a:defRPr/>
            </a:pPr>
            <a:endParaRPr lang="en-US" kern="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4" name="文本框 143"/>
          <p:cNvSpPr txBox="1"/>
          <p:nvPr/>
        </p:nvSpPr>
        <p:spPr>
          <a:xfrm flipH="1">
            <a:off x="648966" y="2573885"/>
            <a:ext cx="2016000" cy="349885"/>
          </a:xfrm>
          <a:prstGeom prst="rect">
            <a:avLst/>
          </a:prstGeom>
          <a:noFill/>
        </p:spPr>
        <p:txBody>
          <a:bodyPr wrap="square" lIns="0" tIns="0" rIns="0" bIns="0" rtlCol="0">
            <a:spAutoFit/>
          </a:bodyPr>
          <a:lstStyle/>
          <a:p>
            <a:pPr lvl="0" algn="r">
              <a:lnSpc>
                <a:spcPct val="114000"/>
              </a:lnSpc>
              <a:buClrTx/>
              <a:buSzTx/>
              <a:buFontTx/>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收集用户的反馈和评价，了解用户对产品或服务的满意度。</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5" name="文本框 144"/>
          <p:cNvSpPr txBox="1"/>
          <p:nvPr/>
        </p:nvSpPr>
        <p:spPr>
          <a:xfrm flipH="1">
            <a:off x="923033" y="2299983"/>
            <a:ext cx="1741933" cy="238125"/>
          </a:xfrm>
          <a:prstGeom prst="rect">
            <a:avLst/>
          </a:prstGeom>
          <a:noFill/>
        </p:spPr>
        <p:txBody>
          <a:bodyPr wrap="square" lIns="0" tIns="0" rIns="0" bIns="0" rtlCol="0">
            <a:spAutoFit/>
          </a:bodyPr>
          <a:lstStyle/>
          <a:p>
            <a:pPr lvl="0" algn="r">
              <a:buClrTx/>
              <a:buSzTx/>
              <a:buFontTx/>
              <a:defRPr/>
            </a:pPr>
            <a:r>
              <a:rPr lang="zh-CN" altLang="en-US" sz="155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用户反馈</a:t>
            </a:r>
            <a:endParaRPr lang="zh-CN" altLang="en-US" sz="155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7" name="椭圆 146"/>
          <p:cNvSpPr/>
          <p:nvPr/>
        </p:nvSpPr>
        <p:spPr>
          <a:xfrm>
            <a:off x="2806585" y="4557587"/>
            <a:ext cx="687450" cy="687450"/>
          </a:xfrm>
          <a:prstGeom prst="ellipse">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8" name="文本框 147"/>
          <p:cNvSpPr txBox="1"/>
          <p:nvPr/>
        </p:nvSpPr>
        <p:spPr>
          <a:xfrm flipH="1">
            <a:off x="648966" y="4859054"/>
            <a:ext cx="2016000" cy="349885"/>
          </a:xfrm>
          <a:prstGeom prst="rect">
            <a:avLst/>
          </a:prstGeom>
          <a:noFill/>
        </p:spPr>
        <p:txBody>
          <a:bodyPr wrap="square" lIns="0" tIns="0" rIns="0" bIns="0" rtlCol="0">
            <a:spAutoFit/>
          </a:bodyPr>
          <a:lstStyle/>
          <a:p>
            <a:pPr lvl="0" algn="r">
              <a:lnSpc>
                <a:spcPct val="114000"/>
              </a:lnSpc>
              <a:buClrTx/>
              <a:buSzTx/>
              <a:buFontTx/>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包括广告投放、社交媒体推广等，分析哪些策略有效，哪些需要调整。</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9" name="文本框 148"/>
          <p:cNvSpPr txBox="1"/>
          <p:nvPr/>
        </p:nvSpPr>
        <p:spPr>
          <a:xfrm flipH="1">
            <a:off x="923033" y="4585152"/>
            <a:ext cx="1741933" cy="238125"/>
          </a:xfrm>
          <a:prstGeom prst="rect">
            <a:avLst/>
          </a:prstGeom>
          <a:noFill/>
        </p:spPr>
        <p:txBody>
          <a:bodyPr wrap="square" lIns="0" tIns="0" rIns="0" bIns="0" rtlCol="0">
            <a:spAutoFit/>
          </a:bodyPr>
          <a:lstStyle/>
          <a:p>
            <a:pPr lvl="0" algn="r">
              <a:buClrTx/>
              <a:buSzTx/>
              <a:buFontTx/>
              <a:defRPr/>
            </a:pPr>
            <a:r>
              <a:rPr lang="zh-CN" altLang="en-US" sz="155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营销策略评估</a:t>
            </a:r>
            <a:endParaRPr lang="zh-CN" altLang="en-US" sz="155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1" name="椭圆 150"/>
          <p:cNvSpPr/>
          <p:nvPr/>
        </p:nvSpPr>
        <p:spPr>
          <a:xfrm>
            <a:off x="3263612" y="5543439"/>
            <a:ext cx="687450" cy="687450"/>
          </a:xfrm>
          <a:prstGeom prst="ellipse">
            <a:avLst/>
          </a:prstGeom>
          <a:solidFill>
            <a:schemeClr val="accent1">
              <a:lumMod val="60000"/>
              <a:lumOff val="40000"/>
            </a:schemeClr>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2" name="文本框 151"/>
          <p:cNvSpPr txBox="1"/>
          <p:nvPr/>
        </p:nvSpPr>
        <p:spPr>
          <a:xfrm flipH="1">
            <a:off x="1105993" y="5844906"/>
            <a:ext cx="2016000" cy="349885"/>
          </a:xfrm>
          <a:prstGeom prst="rect">
            <a:avLst/>
          </a:prstGeom>
          <a:noFill/>
        </p:spPr>
        <p:txBody>
          <a:bodyPr wrap="square" lIns="0" tIns="0" rIns="0" bIns="0" rtlCol="0">
            <a:spAutoFit/>
          </a:bodyPr>
          <a:lstStyle/>
          <a:p>
            <a:pPr lvl="0" algn="r">
              <a:lnSpc>
                <a:spcPct val="114000"/>
              </a:lnSpc>
              <a:buClrTx/>
              <a:buSzTx/>
              <a:buFontTx/>
              <a:defRPr/>
            </a:pPr>
            <a:r>
              <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是否存在沟通不畅或工作流程不合理的地方。</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3" name="文本框 152"/>
          <p:cNvSpPr txBox="1"/>
          <p:nvPr/>
        </p:nvSpPr>
        <p:spPr>
          <a:xfrm flipH="1">
            <a:off x="1380060" y="5571004"/>
            <a:ext cx="1741933" cy="238125"/>
          </a:xfrm>
          <a:prstGeom prst="rect">
            <a:avLst/>
          </a:prstGeom>
          <a:noFill/>
        </p:spPr>
        <p:txBody>
          <a:bodyPr wrap="square" lIns="0" tIns="0" rIns="0" bIns="0" rtlCol="0">
            <a:spAutoFit/>
          </a:bodyPr>
          <a:lstStyle/>
          <a:p>
            <a:pPr lvl="0" algn="r">
              <a:buClrTx/>
              <a:buSzTx/>
              <a:buFontTx/>
              <a:defRPr/>
            </a:pPr>
            <a:r>
              <a:rPr lang="zh-CN" altLang="en-US" sz="155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团队协作</a:t>
            </a:r>
            <a:endParaRPr lang="zh-CN" altLang="en-US" sz="155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5" name="文本框 154"/>
          <p:cNvSpPr txBox="1"/>
          <p:nvPr/>
        </p:nvSpPr>
        <p:spPr>
          <a:xfrm>
            <a:off x="4841013" y="1671601"/>
            <a:ext cx="2814823" cy="1358042"/>
          </a:xfrm>
          <a:prstGeom prst="rect">
            <a:avLst/>
          </a:prstGeom>
          <a:noFill/>
          <a:effectLst/>
        </p:spPr>
        <p:txBody>
          <a:bodyPr wrap="square" lIns="0" tIns="0" rIns="0" bIns="0" rtlCol="0">
            <a:prstTxWarp prst="textArchUp">
              <a:avLst/>
            </a:prstTxWarp>
            <a:noAutofit/>
          </a:bodyPr>
          <a:lstStyle/>
          <a:p>
            <a:pPr lvl="0" algn="ctr">
              <a:lnSpc>
                <a:spcPct val="120000"/>
              </a:lnSpc>
              <a:defRPr/>
            </a:pPr>
            <a:r>
              <a:rPr lang="zh-CN" altLang="en-US" sz="1300" dirty="0">
                <a:solidFill>
                  <a:schemeClr val="bg2"/>
                </a:solidFill>
                <a:latin typeface="微软雅黑" panose="020B0503020204020204" charset="-122"/>
                <a:ea typeface="微软雅黑" panose="020B0503020204020204" charset="-122"/>
                <a:cs typeface="微软雅黑" panose="020B0503020204020204" charset="-122"/>
                <a:sym typeface="微软雅黑" panose="020B0503020204020204" charset="-122"/>
              </a:rPr>
              <a:t>提供无缝的数字化服务和产品</a:t>
            </a:r>
            <a:endPar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6" name="文本框 155"/>
          <p:cNvSpPr txBox="1"/>
          <p:nvPr/>
        </p:nvSpPr>
        <p:spPr>
          <a:xfrm>
            <a:off x="4857055" y="4501920"/>
            <a:ext cx="2724236" cy="1370859"/>
          </a:xfrm>
          <a:prstGeom prst="rect">
            <a:avLst/>
          </a:prstGeom>
          <a:noFill/>
          <a:effectLst/>
        </p:spPr>
        <p:txBody>
          <a:bodyPr wrap="square" lIns="0" tIns="0" rIns="0" bIns="0" rtlCol="0">
            <a:prstTxWarp prst="textArchDown">
              <a:avLst/>
            </a:prstTxWarp>
            <a:noAutofit/>
          </a:bodyPr>
          <a:lstStyle/>
          <a:p>
            <a:pPr lvl="0" algn="ctr">
              <a:lnSpc>
                <a:spcPct val="120000"/>
              </a:lnSpc>
              <a:defRPr/>
            </a:pPr>
            <a:r>
              <a:rPr lang="zh-CN" altLang="en-US" sz="1300" dirty="0">
                <a:solidFill>
                  <a:schemeClr val="bg2"/>
                </a:solidFill>
                <a:latin typeface="微软雅黑" panose="020B0503020204020204" charset="-122"/>
                <a:ea typeface="微软雅黑" panose="020B0503020204020204" charset="-122"/>
                <a:cs typeface="微软雅黑" panose="020B0503020204020204" charset="-122"/>
                <a:sym typeface="微软雅黑" panose="020B0503020204020204" charset="-122"/>
              </a:rPr>
              <a:t>提供直接的人际交互和产品体验</a:t>
            </a:r>
            <a:endParaRPr kumimoji="0" lang="zh-CN" altLang="en-US" sz="130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59" name="组合 158"/>
          <p:cNvGrpSpPr/>
          <p:nvPr/>
        </p:nvGrpSpPr>
        <p:grpSpPr>
          <a:xfrm>
            <a:off x="6358255" y="3971290"/>
            <a:ext cx="1067435" cy="275590"/>
            <a:chOff x="8103" y="6255"/>
            <a:chExt cx="1681" cy="434"/>
          </a:xfrm>
        </p:grpSpPr>
        <p:sp>
          <p:nvSpPr>
            <p:cNvPr id="160" name="圆角矩形 159"/>
            <p:cNvSpPr/>
            <p:nvPr/>
          </p:nvSpPr>
          <p:spPr>
            <a:xfrm>
              <a:off x="8103" y="6255"/>
              <a:ext cx="1681" cy="434"/>
            </a:xfrm>
            <a:prstGeom prst="roundRect">
              <a:avLst/>
            </a:prstGeom>
            <a:solidFill>
              <a:schemeClr val="bg1"/>
            </a:solidFill>
            <a:ln w="12700" cap="flat" cmpd="sng" algn="ctr">
              <a:solidFill>
                <a:schemeClr val="accent1">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 name="文本框 160"/>
            <p:cNvSpPr txBox="1"/>
            <p:nvPr/>
          </p:nvSpPr>
          <p:spPr>
            <a:xfrm flipH="1">
              <a:off x="8145" y="6326"/>
              <a:ext cx="1599" cy="290"/>
            </a:xfrm>
            <a:prstGeom prst="rect">
              <a:avLst/>
            </a:prstGeom>
            <a:noFill/>
          </p:spPr>
          <p:txBody>
            <a:bodyPr wrap="square" lIns="0" tIns="0" rIns="0" bIns="0" rtlCol="0">
              <a:spAutoFit/>
            </a:bodyPr>
            <a:lstStyle/>
            <a:p>
              <a:pPr lvl="0" algn="ctr">
                <a:defRPr/>
              </a:pPr>
              <a:r>
                <a:rPr kumimoji="0" lang="zh-CN" alt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无缝用户体验</a:t>
              </a:r>
              <a:endParaRPr kumimoji="0" lang="zh-CN" alt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62" name="组合 161"/>
          <p:cNvGrpSpPr/>
          <p:nvPr/>
        </p:nvGrpSpPr>
        <p:grpSpPr>
          <a:xfrm>
            <a:off x="5671820" y="4373880"/>
            <a:ext cx="1067435" cy="275590"/>
            <a:chOff x="8103" y="6255"/>
            <a:chExt cx="1681" cy="434"/>
          </a:xfrm>
        </p:grpSpPr>
        <p:sp>
          <p:nvSpPr>
            <p:cNvPr id="163" name="圆角矩形 162"/>
            <p:cNvSpPr/>
            <p:nvPr/>
          </p:nvSpPr>
          <p:spPr>
            <a:xfrm>
              <a:off x="8103" y="6255"/>
              <a:ext cx="1681" cy="434"/>
            </a:xfrm>
            <a:prstGeom prst="roundRect">
              <a:avLst/>
            </a:prstGeom>
            <a:solidFill>
              <a:schemeClr val="bg1"/>
            </a:solidFill>
            <a:ln w="12700" cap="flat" cmpd="sng" algn="ctr">
              <a:solidFill>
                <a:schemeClr val="accent1">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4" name="文本框 163"/>
            <p:cNvSpPr txBox="1"/>
            <p:nvPr/>
          </p:nvSpPr>
          <p:spPr>
            <a:xfrm flipH="1">
              <a:off x="8145" y="6326"/>
              <a:ext cx="1599" cy="290"/>
            </a:xfrm>
            <a:prstGeom prst="rect">
              <a:avLst/>
            </a:prstGeom>
            <a:noFill/>
          </p:spPr>
          <p:txBody>
            <a:bodyPr wrap="square" lIns="0" tIns="0" rIns="0" bIns="0" rtlCol="0">
              <a:spAutoFit/>
            </a:bodyPr>
            <a:lstStyle/>
            <a:p>
              <a:pPr lvl="0" algn="ctr">
                <a:defRPr/>
              </a:pPr>
              <a:r>
                <a:rPr lang="zh-CN" altLang="en-US" sz="1200"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线上线下互补</a:t>
              </a:r>
              <a:endParaRPr kumimoji="0" lang="zh-CN" altLang="en-US" sz="1200" b="0" i="0" u="none" strike="noStrike" kern="1200" cap="none" spc="0" normalizeH="0" baseline="0" noProof="0" dirty="0">
                <a:ln>
                  <a:noFill/>
                </a:ln>
                <a:solidFill>
                  <a:schemeClr val="accent1">
                    <a:lumMod val="60000"/>
                    <a:lumOff val="40000"/>
                  </a:schemeClr>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pic>
        <p:nvPicPr>
          <p:cNvPr id="165" name="图片 164" descr="store"/>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95360" y="5728335"/>
            <a:ext cx="340995" cy="323215"/>
          </a:xfrm>
          <a:prstGeom prst="rect">
            <a:avLst/>
          </a:prstGeom>
        </p:spPr>
      </p:pic>
      <p:pic>
        <p:nvPicPr>
          <p:cNvPr id="167" name="图片 166" descr="营销"/>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422870" y="1498304"/>
            <a:ext cx="368935" cy="368935"/>
          </a:xfrm>
          <a:prstGeom prst="rect">
            <a:avLst/>
          </a:prstGeom>
        </p:spPr>
      </p:pic>
      <p:pic>
        <p:nvPicPr>
          <p:cNvPr id="168" name="图片 167" descr="营销 (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98140" y="4640580"/>
            <a:ext cx="495300" cy="495300"/>
          </a:xfrm>
          <a:prstGeom prst="rect">
            <a:avLst/>
          </a:prstGeom>
        </p:spPr>
      </p:pic>
      <p:pic>
        <p:nvPicPr>
          <p:cNvPr id="169" name="图片 168" descr="团队5"/>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3443605" y="5706110"/>
            <a:ext cx="343535" cy="343535"/>
          </a:xfrm>
          <a:prstGeom prst="rect">
            <a:avLst/>
          </a:prstGeom>
        </p:spPr>
      </p:pic>
      <p:pic>
        <p:nvPicPr>
          <p:cNvPr id="170" name="图片 169" descr="销售"/>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8595360" y="1520825"/>
            <a:ext cx="351790" cy="346710"/>
          </a:xfrm>
          <a:prstGeom prst="rect">
            <a:avLst/>
          </a:prstGeom>
        </p:spPr>
      </p:pic>
      <p:pic>
        <p:nvPicPr>
          <p:cNvPr id="172" name="图片 171" descr="体验金"/>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9061450" y="4747895"/>
            <a:ext cx="424815" cy="298450"/>
          </a:xfrm>
          <a:prstGeom prst="rect">
            <a:avLst/>
          </a:prstGeom>
        </p:spPr>
      </p:pic>
      <p:pic>
        <p:nvPicPr>
          <p:cNvPr id="173" name="图片 172" descr="体验-亮"/>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069070" y="2379345"/>
            <a:ext cx="437515" cy="437515"/>
          </a:xfrm>
          <a:prstGeom prst="rect">
            <a:avLst/>
          </a:prstGeom>
        </p:spPr>
      </p:pic>
      <p:pic>
        <p:nvPicPr>
          <p:cNvPr id="174" name="图片 173" descr="用户反馈"/>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2971800" y="2419350"/>
            <a:ext cx="357505" cy="357505"/>
          </a:xfrm>
          <a:prstGeom prst="rect">
            <a:avLst/>
          </a:prstGeom>
        </p:spPr>
      </p:pic>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19"/>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870712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mj-lt"/>
                <a:ea typeface="+mj-lt"/>
                <a:cs typeface="+mj-lt"/>
              </a:rPr>
              <a:t>业务框架</a:t>
            </a:r>
            <a:r>
              <a:rPr lang="en-US" altLang="zh-CN" sz="2500" dirty="0">
                <a:solidFill>
                  <a:schemeClr val="accent1"/>
                </a:solidFill>
                <a:effectLst/>
                <a:latin typeface="+mj-lt"/>
                <a:ea typeface="+mj-lt"/>
                <a:cs typeface="+mj-lt"/>
              </a:rPr>
              <a:t>-</a:t>
            </a:r>
            <a:r>
              <a:rPr sz="2500" dirty="0">
                <a:solidFill>
                  <a:schemeClr val="accent1"/>
                </a:solidFill>
                <a:effectLst/>
                <a:latin typeface="+mj-lt"/>
                <a:ea typeface="+mj-lt"/>
                <a:cs typeface="+mj-lt"/>
              </a:rPr>
              <a:t>循环逻辑架构 |</a:t>
            </a:r>
            <a:r>
              <a:rPr lang="zh-CN" altLang="en-US" sz="2500" dirty="0">
                <a:solidFill>
                  <a:schemeClr val="accent1"/>
                </a:solidFill>
                <a:effectLst/>
                <a:latin typeface="+mj-lt"/>
                <a:ea typeface="+mj-lt"/>
                <a:cs typeface="+mj-lt"/>
              </a:rPr>
              <a:t> </a:t>
            </a:r>
            <a:r>
              <a:rPr lang="zh-CN" altLang="en-US" sz="2500" dirty="0">
                <a:solidFill>
                  <a:schemeClr val="tx2"/>
                </a:solidFill>
                <a:effectLst/>
                <a:latin typeface="+mj-lt"/>
                <a:ea typeface="+mj-lt"/>
                <a:cs typeface="+mj-lt"/>
              </a:rPr>
              <a:t>客户业务管理三环运营</a:t>
            </a:r>
            <a:endParaRPr lang="zh-CN" altLang="en-US" sz="2500" dirty="0">
              <a:solidFill>
                <a:schemeClr val="tx2"/>
              </a:solidFill>
              <a:effectLst/>
              <a:latin typeface="+mj-lt"/>
              <a:ea typeface="+mj-lt"/>
              <a:cs typeface="+mj-lt"/>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79" name="组合 78"/>
          <p:cNvGrpSpPr/>
          <p:nvPr/>
        </p:nvGrpSpPr>
        <p:grpSpPr>
          <a:xfrm>
            <a:off x="3534410" y="1277620"/>
            <a:ext cx="5215255" cy="5215255"/>
            <a:chOff x="1746" y="1847"/>
            <a:chExt cx="8213" cy="8213"/>
          </a:xfrm>
        </p:grpSpPr>
        <p:grpSp>
          <p:nvGrpSpPr>
            <p:cNvPr id="36" name="组合 35"/>
            <p:cNvGrpSpPr/>
            <p:nvPr/>
          </p:nvGrpSpPr>
          <p:grpSpPr>
            <a:xfrm>
              <a:off x="2167" y="2172"/>
              <a:ext cx="7371" cy="7371"/>
              <a:chOff x="4783" y="1898"/>
              <a:chExt cx="8293" cy="8293"/>
            </a:xfrm>
          </p:grpSpPr>
          <p:grpSp>
            <p:nvGrpSpPr>
              <p:cNvPr id="2" name="组合 1"/>
              <p:cNvGrpSpPr/>
              <p:nvPr/>
            </p:nvGrpSpPr>
            <p:grpSpPr>
              <a:xfrm>
                <a:off x="6163" y="3162"/>
                <a:ext cx="5534" cy="5568"/>
                <a:chOff x="6548" y="3641"/>
                <a:chExt cx="6077" cy="6065"/>
              </a:xfrm>
            </p:grpSpPr>
            <p:sp>
              <p:nvSpPr>
                <p:cNvPr id="11" name="任意形状 10"/>
                <p:cNvSpPr/>
                <p:nvPr/>
              </p:nvSpPr>
              <p:spPr>
                <a:xfrm>
                  <a:off x="9069" y="3658"/>
                  <a:ext cx="3556" cy="4742"/>
                </a:xfrm>
                <a:custGeom>
                  <a:avLst/>
                  <a:gdLst>
                    <a:gd name="connsiteX0" fmla="*/ 4101 w 2257956"/>
                    <a:gd name="connsiteY0" fmla="*/ 442976 h 3011049"/>
                    <a:gd name="connsiteX1" fmla="*/ 443795 w 2257956"/>
                    <a:gd name="connsiteY1" fmla="*/ 1009572 h 3011049"/>
                    <a:gd name="connsiteX2" fmla="*/ 840569 w 2257956"/>
                    <a:gd name="connsiteY2" fmla="*/ 1158856 h 3011049"/>
                    <a:gd name="connsiteX3" fmla="*/ 1127136 w 2257956"/>
                    <a:gd name="connsiteY3" fmla="*/ 1470817 h 3011049"/>
                    <a:gd name="connsiteX4" fmla="*/ 1241803 w 2257956"/>
                    <a:gd name="connsiteY4" fmla="*/ 1878286 h 3011049"/>
                    <a:gd name="connsiteX5" fmla="*/ 1159890 w 2257956"/>
                    <a:gd name="connsiteY5" fmla="*/ 2293560 h 3011049"/>
                    <a:gd name="connsiteX6" fmla="*/ 1410720 w 2257956"/>
                    <a:gd name="connsiteY6" fmla="*/ 2965100 h 3011049"/>
                    <a:gd name="connsiteX7" fmla="*/ 2083500 w 2257956"/>
                    <a:gd name="connsiteY7" fmla="*/ 2714732 h 3011049"/>
                    <a:gd name="connsiteX8" fmla="*/ 2256435 w 2257956"/>
                    <a:gd name="connsiteY8" fmla="*/ 1838048 h 3011049"/>
                    <a:gd name="connsiteX9" fmla="*/ 2014362 w 2257956"/>
                    <a:gd name="connsiteY9" fmla="*/ 977822 h 3011049"/>
                    <a:gd name="connsiteX10" fmla="*/ 1409381 w 2257956"/>
                    <a:gd name="connsiteY10" fmla="*/ 319247 h 3011049"/>
                    <a:gd name="connsiteX11" fmla="*/ 571746 w 2257956"/>
                    <a:gd name="connsiteY11" fmla="*/ 4094 h 3011049"/>
                    <a:gd name="connsiteX12" fmla="*/ 4101 w 2257956"/>
                    <a:gd name="connsiteY12" fmla="*/ 442976 h 30110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257956" h="3011049">
                      <a:moveTo>
                        <a:pt x="4101" y="442976"/>
                      </a:moveTo>
                      <a:cubicBezTo>
                        <a:pt x="-31230" y="720632"/>
                        <a:pt x="165624" y="974306"/>
                        <a:pt x="443795" y="1009572"/>
                      </a:cubicBezTo>
                      <a:cubicBezTo>
                        <a:pt x="585949" y="1027594"/>
                        <a:pt x="721865" y="1078734"/>
                        <a:pt x="840569" y="1158856"/>
                      </a:cubicBezTo>
                      <a:cubicBezTo>
                        <a:pt x="959273" y="1238978"/>
                        <a:pt x="1057439" y="1345839"/>
                        <a:pt x="1127136" y="1470817"/>
                      </a:cubicBezTo>
                      <a:cubicBezTo>
                        <a:pt x="1196839" y="1595789"/>
                        <a:pt x="1236117" y="1735368"/>
                        <a:pt x="1241803" y="1878286"/>
                      </a:cubicBezTo>
                      <a:cubicBezTo>
                        <a:pt x="1247496" y="2021211"/>
                        <a:pt x="1219432" y="2163464"/>
                        <a:pt x="1159890" y="2293560"/>
                      </a:cubicBezTo>
                      <a:cubicBezTo>
                        <a:pt x="1043369" y="2548141"/>
                        <a:pt x="1155670" y="2848800"/>
                        <a:pt x="1410720" y="2965100"/>
                      </a:cubicBezTo>
                      <a:cubicBezTo>
                        <a:pt x="1665765" y="3081405"/>
                        <a:pt x="1966980" y="2969312"/>
                        <a:pt x="2083500" y="2714732"/>
                      </a:cubicBezTo>
                      <a:cubicBezTo>
                        <a:pt x="2209204" y="2440076"/>
                        <a:pt x="2268449" y="2139772"/>
                        <a:pt x="2256435" y="1838048"/>
                      </a:cubicBezTo>
                      <a:cubicBezTo>
                        <a:pt x="2244427" y="1536331"/>
                        <a:pt x="2161505" y="1241658"/>
                        <a:pt x="2014362" y="977822"/>
                      </a:cubicBezTo>
                      <a:cubicBezTo>
                        <a:pt x="1867220" y="713993"/>
                        <a:pt x="1659983" y="488394"/>
                        <a:pt x="1409381" y="319247"/>
                      </a:cubicBezTo>
                      <a:cubicBezTo>
                        <a:pt x="1158786" y="150099"/>
                        <a:pt x="871850" y="42143"/>
                        <a:pt x="571746" y="4094"/>
                      </a:cubicBezTo>
                      <a:cubicBezTo>
                        <a:pt x="293575" y="-31174"/>
                        <a:pt x="39438" y="165321"/>
                        <a:pt x="4101" y="442976"/>
                      </a:cubicBezTo>
                      <a:close/>
                    </a:path>
                  </a:pathLst>
                </a:custGeom>
                <a:gradFill flip="none" rotWithShape="1">
                  <a:gsLst>
                    <a:gs pos="0">
                      <a:schemeClr val="accent1">
                        <a:lumMod val="60000"/>
                        <a:lumOff val="40000"/>
                      </a:schemeClr>
                    </a:gs>
                    <a:gs pos="79000">
                      <a:schemeClr val="accent1">
                        <a:lumMod val="60000"/>
                        <a:lumOff val="40000"/>
                        <a:alpha val="0"/>
                      </a:schemeClr>
                    </a:gs>
                  </a:gsLst>
                  <a:lin ang="13500000" scaled="1"/>
                  <a:tileRect/>
                </a:gradFill>
                <a:ln w="25400" cap="flat">
                  <a:gradFill>
                    <a:gsLst>
                      <a:gs pos="0">
                        <a:schemeClr val="bg1"/>
                      </a:gs>
                      <a:gs pos="90000">
                        <a:schemeClr val="bg1">
                          <a:alpha val="0"/>
                        </a:schemeClr>
                      </a:gs>
                    </a:gsLst>
                    <a:lin ang="13500000" scaled="0"/>
                  </a:gradFill>
                  <a:prstDash val="solid"/>
                  <a:miter/>
                </a:ln>
                <a:effectLst>
                  <a:outerShdw blurRad="254000" dist="190500" dir="5400000" algn="t" rotWithShape="0">
                    <a:schemeClr val="accent1">
                      <a:lumMod val="40000"/>
                      <a:lumOff val="60000"/>
                      <a:alpha val="20000"/>
                    </a:schemeClr>
                  </a:outerShdw>
                </a:effectLst>
              </p:spPr>
              <p:txBody>
                <a:bodyPr rtlCol="0" anchor="ctr"/>
                <a:lstStyle/>
                <a:p>
                  <a:endParaRPr lang="zh-CN" altLang="en-US" sz="1000">
                    <a:latin typeface="+mj-lt"/>
                    <a:ea typeface="+mj-lt"/>
                    <a:cs typeface="微软雅黑" panose="020B0503020204020204" charset="-122"/>
                  </a:endParaRPr>
                </a:p>
              </p:txBody>
            </p:sp>
            <p:sp>
              <p:nvSpPr>
                <p:cNvPr id="14" name="任意形状 13"/>
                <p:cNvSpPr/>
                <p:nvPr/>
              </p:nvSpPr>
              <p:spPr>
                <a:xfrm>
                  <a:off x="6548" y="3641"/>
                  <a:ext cx="4052" cy="5057"/>
                </a:xfrm>
                <a:custGeom>
                  <a:avLst/>
                  <a:gdLst>
                    <a:gd name="connsiteX0" fmla="*/ 2114017 w 2573163"/>
                    <a:gd name="connsiteY0" fmla="*/ 8846 h 3211110"/>
                    <a:gd name="connsiteX1" fmla="*/ 1062487 w 2573163"/>
                    <a:gd name="connsiteY1" fmla="*/ 205317 h 3211110"/>
                    <a:gd name="connsiteX2" fmla="*/ 277477 w 2573163"/>
                    <a:gd name="connsiteY2" fmla="*/ 930757 h 3211110"/>
                    <a:gd name="connsiteX3" fmla="*/ 344 w 2573163"/>
                    <a:gd name="connsiteY3" fmla="*/ 1962129 h 3211110"/>
                    <a:gd name="connsiteX4" fmla="*/ 316297 w 2573163"/>
                    <a:gd name="connsiteY4" fmla="*/ 2982313 h 3211110"/>
                    <a:gd name="connsiteX5" fmla="*/ 1019332 w 2573163"/>
                    <a:gd name="connsiteY5" fmla="*/ 3127968 h 3211110"/>
                    <a:gd name="connsiteX6" fmla="*/ 1165255 w 2573163"/>
                    <a:gd name="connsiteY6" fmla="*/ 2426237 h 3211110"/>
                    <a:gd name="connsiteX7" fmla="*/ 1015594 w 2573163"/>
                    <a:gd name="connsiteY7" fmla="*/ 1942985 h 3211110"/>
                    <a:gd name="connsiteX8" fmla="*/ 1146870 w 2573163"/>
                    <a:gd name="connsiteY8" fmla="*/ 1454444 h 3211110"/>
                    <a:gd name="connsiteX9" fmla="*/ 1518714 w 2573163"/>
                    <a:gd name="connsiteY9" fmla="*/ 1110816 h 3211110"/>
                    <a:gd name="connsiteX10" fmla="*/ 2016808 w 2573163"/>
                    <a:gd name="connsiteY10" fmla="*/ 1017752 h 3211110"/>
                    <a:gd name="connsiteX11" fmla="*/ 2570796 w 2573163"/>
                    <a:gd name="connsiteY11" fmla="*/ 561813 h 3211110"/>
                    <a:gd name="connsiteX12" fmla="*/ 2114017 w 2573163"/>
                    <a:gd name="connsiteY12" fmla="*/ 8846 h 3211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573163" h="3211110">
                      <a:moveTo>
                        <a:pt x="2114017" y="8846"/>
                      </a:moveTo>
                      <a:cubicBezTo>
                        <a:pt x="1751965" y="-25910"/>
                        <a:pt x="1387438" y="42199"/>
                        <a:pt x="1062487" y="205317"/>
                      </a:cubicBezTo>
                      <a:cubicBezTo>
                        <a:pt x="737543" y="368436"/>
                        <a:pt x="465408" y="619919"/>
                        <a:pt x="277477" y="930757"/>
                      </a:cubicBezTo>
                      <a:cubicBezTo>
                        <a:pt x="89547" y="1241603"/>
                        <a:pt x="-6524" y="1599135"/>
                        <a:pt x="344" y="1962129"/>
                      </a:cubicBezTo>
                      <a:cubicBezTo>
                        <a:pt x="7213" y="2325122"/>
                        <a:pt x="116742" y="2678778"/>
                        <a:pt x="316297" y="2982313"/>
                      </a:cubicBezTo>
                      <a:cubicBezTo>
                        <a:pt x="470138" y="3216319"/>
                        <a:pt x="784894" y="3281528"/>
                        <a:pt x="1019332" y="3127968"/>
                      </a:cubicBezTo>
                      <a:cubicBezTo>
                        <a:pt x="1253763" y="2974414"/>
                        <a:pt x="1319099" y="2660236"/>
                        <a:pt x="1165255" y="2426237"/>
                      </a:cubicBezTo>
                      <a:cubicBezTo>
                        <a:pt x="1070731" y="2282451"/>
                        <a:pt x="1018849" y="2114929"/>
                        <a:pt x="1015594" y="1942985"/>
                      </a:cubicBezTo>
                      <a:cubicBezTo>
                        <a:pt x="1012338" y="1771048"/>
                        <a:pt x="1057848" y="1601688"/>
                        <a:pt x="1146870" y="1454444"/>
                      </a:cubicBezTo>
                      <a:cubicBezTo>
                        <a:pt x="1235885" y="1307205"/>
                        <a:pt x="1364794" y="1188081"/>
                        <a:pt x="1518714" y="1110816"/>
                      </a:cubicBezTo>
                      <a:cubicBezTo>
                        <a:pt x="1672641" y="1033551"/>
                        <a:pt x="1845308" y="1001288"/>
                        <a:pt x="2016808" y="1017752"/>
                      </a:cubicBezTo>
                      <a:cubicBezTo>
                        <a:pt x="2295925" y="1044542"/>
                        <a:pt x="2543950" y="840411"/>
                        <a:pt x="2570796" y="561813"/>
                      </a:cubicBezTo>
                      <a:cubicBezTo>
                        <a:pt x="2597641" y="283212"/>
                        <a:pt x="2393133" y="35640"/>
                        <a:pt x="2114017" y="8846"/>
                      </a:cubicBezTo>
                      <a:close/>
                    </a:path>
                  </a:pathLst>
                </a:custGeom>
                <a:gradFill flip="none" rotWithShape="1">
                  <a:gsLst>
                    <a:gs pos="0">
                      <a:schemeClr val="accent5">
                        <a:lumMod val="60000"/>
                        <a:lumOff val="40000"/>
                      </a:schemeClr>
                    </a:gs>
                    <a:gs pos="80000">
                      <a:schemeClr val="accent5">
                        <a:lumMod val="60000"/>
                        <a:lumOff val="40000"/>
                        <a:alpha val="0"/>
                      </a:schemeClr>
                    </a:gs>
                  </a:gsLst>
                  <a:lin ang="8100000" scaled="1"/>
                  <a:tileRect/>
                </a:gradFill>
                <a:ln w="25400" cap="flat">
                  <a:gradFill>
                    <a:gsLst>
                      <a:gs pos="0">
                        <a:schemeClr val="bg1"/>
                      </a:gs>
                      <a:gs pos="80000">
                        <a:schemeClr val="bg1">
                          <a:alpha val="0"/>
                        </a:schemeClr>
                      </a:gs>
                    </a:gsLst>
                    <a:lin ang="8100000" scaled="0"/>
                  </a:gradFill>
                  <a:prstDash val="solid"/>
                  <a:miter/>
                </a:ln>
                <a:effectLst>
                  <a:outerShdw blurRad="254000" dist="190500" dir="5400000" algn="t" rotWithShape="0">
                    <a:schemeClr val="accent1">
                      <a:lumMod val="60000"/>
                      <a:lumOff val="40000"/>
                      <a:alpha val="20000"/>
                    </a:schemeClr>
                  </a:outerShdw>
                </a:effectLst>
              </p:spPr>
              <p:txBody>
                <a:bodyPr rtlCol="0" anchor="ctr"/>
                <a:lstStyle/>
                <a:p>
                  <a:endParaRPr lang="zh-CN" altLang="en-US" sz="1000">
                    <a:latin typeface="+mj-lt"/>
                    <a:ea typeface="+mj-lt"/>
                    <a:cs typeface="微软雅黑" panose="020B0503020204020204" charset="-122"/>
                  </a:endParaRPr>
                </a:p>
              </p:txBody>
            </p:sp>
            <p:sp>
              <p:nvSpPr>
                <p:cNvPr id="17" name="任意形状 16"/>
                <p:cNvSpPr/>
                <p:nvPr/>
              </p:nvSpPr>
              <p:spPr>
                <a:xfrm>
                  <a:off x="6948" y="7001"/>
                  <a:ext cx="5372" cy="2705"/>
                </a:xfrm>
                <a:custGeom>
                  <a:avLst/>
                  <a:gdLst>
                    <a:gd name="connsiteX0" fmla="*/ 3159384 w 3411413"/>
                    <a:gd name="connsiteY0" fmla="*/ 69086 h 1717793"/>
                    <a:gd name="connsiteX1" fmla="*/ 2465026 w 3411413"/>
                    <a:gd name="connsiteY1" fmla="*/ 251565 h 1717793"/>
                    <a:gd name="connsiteX2" fmla="*/ 2146327 w 3411413"/>
                    <a:gd name="connsiteY2" fmla="*/ 573902 h 1717793"/>
                    <a:gd name="connsiteX3" fmla="*/ 1711596 w 3411413"/>
                    <a:gd name="connsiteY3" fmla="*/ 703529 h 1717793"/>
                    <a:gd name="connsiteX4" fmla="*/ 1267986 w 3411413"/>
                    <a:gd name="connsiteY4" fmla="*/ 608489 h 1717793"/>
                    <a:gd name="connsiteX5" fmla="*/ 924833 w 3411413"/>
                    <a:gd name="connsiteY5" fmla="*/ 312214 h 1717793"/>
                    <a:gd name="connsiteX6" fmla="*/ 218239 w 3411413"/>
                    <a:gd name="connsiteY6" fmla="*/ 184892 h 1717793"/>
                    <a:gd name="connsiteX7" fmla="*/ 90685 w 3411413"/>
                    <a:gd name="connsiteY7" fmla="*/ 890189 h 1717793"/>
                    <a:gd name="connsiteX8" fmla="*/ 815110 w 3411413"/>
                    <a:gd name="connsiteY8" fmla="*/ 1515662 h 1717793"/>
                    <a:gd name="connsiteX9" fmla="*/ 1751623 w 3411413"/>
                    <a:gd name="connsiteY9" fmla="*/ 1716296 h 1717793"/>
                    <a:gd name="connsiteX10" fmla="*/ 2669388 w 3411413"/>
                    <a:gd name="connsiteY10" fmla="*/ 1442648 h 1717793"/>
                    <a:gd name="connsiteX11" fmla="*/ 3342200 w 3411413"/>
                    <a:gd name="connsiteY11" fmla="*/ 762157 h 1717793"/>
                    <a:gd name="connsiteX12" fmla="*/ 3159384 w 3411413"/>
                    <a:gd name="connsiteY12" fmla="*/ 69086 h 1717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1413" h="1717793">
                      <a:moveTo>
                        <a:pt x="3159384" y="69086"/>
                      </a:moveTo>
                      <a:cubicBezTo>
                        <a:pt x="2917160" y="-71912"/>
                        <a:pt x="2606285" y="9787"/>
                        <a:pt x="2465026" y="251565"/>
                      </a:cubicBezTo>
                      <a:cubicBezTo>
                        <a:pt x="2387631" y="384043"/>
                        <a:pt x="2278016" y="494907"/>
                        <a:pt x="2146327" y="573902"/>
                      </a:cubicBezTo>
                      <a:cubicBezTo>
                        <a:pt x="2014638" y="652902"/>
                        <a:pt x="1865116" y="697480"/>
                        <a:pt x="1711596" y="703529"/>
                      </a:cubicBezTo>
                      <a:cubicBezTo>
                        <a:pt x="1558075" y="709573"/>
                        <a:pt x="1405500" y="676886"/>
                        <a:pt x="1267986" y="608489"/>
                      </a:cubicBezTo>
                      <a:cubicBezTo>
                        <a:pt x="1130471" y="540093"/>
                        <a:pt x="1012452" y="438193"/>
                        <a:pt x="924833" y="312214"/>
                      </a:cubicBezTo>
                      <a:cubicBezTo>
                        <a:pt x="764935" y="82294"/>
                        <a:pt x="448584" y="25288"/>
                        <a:pt x="218239" y="184892"/>
                      </a:cubicBezTo>
                      <a:cubicBezTo>
                        <a:pt x="-12106" y="344495"/>
                        <a:pt x="-69213" y="660270"/>
                        <a:pt x="90685" y="890189"/>
                      </a:cubicBezTo>
                      <a:cubicBezTo>
                        <a:pt x="275647" y="1156146"/>
                        <a:pt x="524798" y="1371268"/>
                        <a:pt x="815110" y="1515662"/>
                      </a:cubicBezTo>
                      <a:cubicBezTo>
                        <a:pt x="1105421" y="1660056"/>
                        <a:pt x="1427516" y="1729060"/>
                        <a:pt x="1751623" y="1716296"/>
                      </a:cubicBezTo>
                      <a:cubicBezTo>
                        <a:pt x="2075723" y="1703538"/>
                        <a:pt x="2391376" y="1609416"/>
                        <a:pt x="2669388" y="1442648"/>
                      </a:cubicBezTo>
                      <a:cubicBezTo>
                        <a:pt x="2947400" y="1275873"/>
                        <a:pt x="3178804" y="1041836"/>
                        <a:pt x="3342200" y="762157"/>
                      </a:cubicBezTo>
                      <a:cubicBezTo>
                        <a:pt x="3483459" y="520379"/>
                        <a:pt x="3401609" y="210078"/>
                        <a:pt x="3159384" y="69086"/>
                      </a:cubicBezTo>
                      <a:close/>
                    </a:path>
                  </a:pathLst>
                </a:custGeom>
                <a:gradFill flip="none" rotWithShape="1">
                  <a:gsLst>
                    <a:gs pos="0">
                      <a:schemeClr val="accent1">
                        <a:lumMod val="60000"/>
                        <a:lumOff val="40000"/>
                      </a:schemeClr>
                    </a:gs>
                    <a:gs pos="80000">
                      <a:schemeClr val="accent1">
                        <a:lumMod val="60000"/>
                        <a:lumOff val="40000"/>
                        <a:alpha val="0"/>
                      </a:schemeClr>
                    </a:gs>
                  </a:gsLst>
                  <a:lin ang="0" scaled="1"/>
                  <a:tileRect/>
                </a:gradFill>
                <a:ln w="25400" cap="flat">
                  <a:gradFill>
                    <a:gsLst>
                      <a:gs pos="0">
                        <a:schemeClr val="bg1"/>
                      </a:gs>
                      <a:gs pos="80000">
                        <a:schemeClr val="bg1">
                          <a:alpha val="0"/>
                        </a:schemeClr>
                      </a:gs>
                    </a:gsLst>
                    <a:lin ang="0" scaled="0"/>
                  </a:gradFill>
                  <a:prstDash val="solid"/>
                  <a:miter/>
                </a:ln>
                <a:effectLst>
                  <a:outerShdw blurRad="254000" dist="190500" dir="5400000" algn="t" rotWithShape="0">
                    <a:schemeClr val="tx2">
                      <a:alpha val="20000"/>
                    </a:schemeClr>
                  </a:outerShdw>
                </a:effectLst>
              </p:spPr>
              <p:txBody>
                <a:bodyPr rtlCol="0" anchor="ctr"/>
                <a:lstStyle/>
                <a:p>
                  <a:endParaRPr lang="zh-CN" altLang="en-US" sz="1000">
                    <a:latin typeface="+mj-lt"/>
                    <a:ea typeface="+mj-lt"/>
                    <a:cs typeface="微软雅黑" panose="020B0503020204020204" charset="-122"/>
                  </a:endParaRPr>
                </a:p>
              </p:txBody>
            </p:sp>
            <p:sp>
              <p:nvSpPr>
                <p:cNvPr id="25" name="文本框 24"/>
                <p:cNvSpPr txBox="1"/>
                <p:nvPr/>
              </p:nvSpPr>
              <p:spPr>
                <a:xfrm>
                  <a:off x="11141" y="6182"/>
                  <a:ext cx="1304" cy="413"/>
                </a:xfrm>
                <a:prstGeom prst="rect">
                  <a:avLst/>
                </a:prstGeom>
                <a:noFill/>
              </p:spPr>
              <p:txBody>
                <a:bodyPr wrap="square" rtlCol="0">
                  <a:spAutoFit/>
                </a:bodyPr>
                <a:lstStyle/>
                <a:p>
                  <a:pPr lvl="0" algn="l">
                    <a:buClrTx/>
                    <a:buSzTx/>
                    <a:buFontTx/>
                  </a:pPr>
                  <a:r>
                    <a:rPr kumimoji="1" lang="en-US" altLang="zh-CN" sz="800" dirty="0">
                      <a:solidFill>
                        <a:schemeClr val="bg1"/>
                      </a:solidFill>
                      <a:latin typeface="+mj-lt"/>
                      <a:ea typeface="+mj-lt"/>
                      <a:cs typeface="微软雅黑" panose="020B0503020204020204" charset="-122"/>
                      <a:sym typeface="+mn-ea"/>
                    </a:rPr>
                    <a:t>BUSINESS</a:t>
                  </a:r>
                  <a:endParaRPr kumimoji="1" lang="en-US" altLang="zh-CN" sz="800" dirty="0">
                    <a:solidFill>
                      <a:schemeClr val="bg1"/>
                    </a:solidFill>
                    <a:latin typeface="+mj-lt"/>
                    <a:ea typeface="+mj-lt"/>
                    <a:cs typeface="微软雅黑" panose="020B0503020204020204" charset="-122"/>
                    <a:sym typeface="+mn-ea"/>
                  </a:endParaRPr>
                </a:p>
              </p:txBody>
            </p:sp>
            <p:sp>
              <p:nvSpPr>
                <p:cNvPr id="26" name="文本框 25"/>
                <p:cNvSpPr txBox="1"/>
                <p:nvPr/>
              </p:nvSpPr>
              <p:spPr>
                <a:xfrm>
                  <a:off x="11142" y="5596"/>
                  <a:ext cx="1380" cy="651"/>
                </a:xfrm>
                <a:prstGeom prst="rect">
                  <a:avLst/>
                </a:prstGeom>
                <a:noFill/>
              </p:spPr>
              <p:txBody>
                <a:bodyPr wrap="square" rtlCol="0">
                  <a:spAutoFit/>
                </a:bodyPr>
                <a:lstStyle/>
                <a:p>
                  <a:pPr lvl="0" algn="l">
                    <a:buClrTx/>
                    <a:buSzTx/>
                    <a:buFontTx/>
                  </a:pPr>
                  <a:r>
                    <a:rPr kumimoji="1" lang="zh-CN" altLang="en-US" sz="1600" b="1" dirty="0">
                      <a:solidFill>
                        <a:schemeClr val="bg1"/>
                      </a:solidFill>
                      <a:latin typeface="+mj-lt"/>
                      <a:ea typeface="+mj-lt"/>
                      <a:cs typeface="微软雅黑" panose="020B0503020204020204" charset="-122"/>
                      <a:sym typeface="+mn-ea"/>
                    </a:rPr>
                    <a:t>业务</a:t>
                  </a:r>
                  <a:endParaRPr kumimoji="1" lang="zh-CN" altLang="en-US" sz="1600" b="1" dirty="0">
                    <a:solidFill>
                      <a:schemeClr val="bg1"/>
                    </a:solidFill>
                    <a:latin typeface="+mj-lt"/>
                    <a:ea typeface="+mj-lt"/>
                    <a:cs typeface="微软雅黑" panose="020B0503020204020204" charset="-122"/>
                    <a:sym typeface="+mn-ea"/>
                  </a:endParaRPr>
                </a:p>
              </p:txBody>
            </p:sp>
            <p:sp>
              <p:nvSpPr>
                <p:cNvPr id="29" name="文本框 28"/>
                <p:cNvSpPr txBox="1"/>
                <p:nvPr/>
              </p:nvSpPr>
              <p:spPr>
                <a:xfrm>
                  <a:off x="8914" y="8880"/>
                  <a:ext cx="1100" cy="403"/>
                </a:xfrm>
                <a:prstGeom prst="rect">
                  <a:avLst/>
                </a:prstGeom>
                <a:noFill/>
              </p:spPr>
              <p:txBody>
                <a:bodyPr wrap="square" rtlCol="0">
                  <a:spAutoFit/>
                </a:bodyPr>
                <a:lstStyle/>
                <a:p>
                  <a:pPr lvl="0" algn="l">
                    <a:buClrTx/>
                    <a:buSzTx/>
                    <a:buFontTx/>
                  </a:pPr>
                  <a:r>
                    <a:rPr kumimoji="1" lang="en-US" altLang="zh-CN" sz="800" dirty="0">
                      <a:solidFill>
                        <a:schemeClr val="bg1"/>
                      </a:solidFill>
                      <a:latin typeface="+mj-lt"/>
                      <a:ea typeface="+mj-lt"/>
                      <a:cs typeface="微软雅黑" panose="020B0503020204020204" charset="-122"/>
                      <a:sym typeface="+mn-ea"/>
                    </a:rPr>
                    <a:t>ADMIN</a:t>
                  </a:r>
                  <a:endParaRPr kumimoji="1" lang="en-US" altLang="zh-CN" sz="800" dirty="0">
                    <a:solidFill>
                      <a:schemeClr val="bg1"/>
                    </a:solidFill>
                    <a:latin typeface="+mj-lt"/>
                    <a:ea typeface="+mj-lt"/>
                    <a:cs typeface="微软雅黑" panose="020B0503020204020204" charset="-122"/>
                    <a:sym typeface="+mn-ea"/>
                  </a:endParaRPr>
                </a:p>
              </p:txBody>
            </p:sp>
            <p:sp>
              <p:nvSpPr>
                <p:cNvPr id="30" name="文本框 29"/>
                <p:cNvSpPr txBox="1"/>
                <p:nvPr/>
              </p:nvSpPr>
              <p:spPr>
                <a:xfrm>
                  <a:off x="8780" y="8345"/>
                  <a:ext cx="1367" cy="651"/>
                </a:xfrm>
                <a:prstGeom prst="rect">
                  <a:avLst/>
                </a:prstGeom>
                <a:noFill/>
              </p:spPr>
              <p:txBody>
                <a:bodyPr wrap="square" rtlCol="0">
                  <a:spAutoFit/>
                </a:bodyPr>
                <a:lstStyle/>
                <a:p>
                  <a:pPr lvl="0" algn="l">
                    <a:buClrTx/>
                    <a:buSzTx/>
                    <a:buFontTx/>
                  </a:pPr>
                  <a:r>
                    <a:rPr kumimoji="1" lang="zh-CN" altLang="en-US" sz="1600" b="1" dirty="0">
                      <a:solidFill>
                        <a:schemeClr val="bg1"/>
                      </a:solidFill>
                      <a:latin typeface="+mj-lt"/>
                      <a:ea typeface="+mj-lt"/>
                      <a:cs typeface="微软雅黑" panose="020B0503020204020204" charset="-122"/>
                      <a:sym typeface="+mn-ea"/>
                    </a:rPr>
                    <a:t>管理</a:t>
                  </a:r>
                  <a:endParaRPr kumimoji="1" lang="zh-CN" altLang="en-US" sz="1600" b="1" dirty="0">
                    <a:solidFill>
                      <a:schemeClr val="bg1"/>
                    </a:solidFill>
                    <a:latin typeface="+mj-lt"/>
                    <a:ea typeface="+mj-lt"/>
                    <a:cs typeface="微软雅黑" panose="020B0503020204020204" charset="-122"/>
                    <a:sym typeface="+mn-ea"/>
                  </a:endParaRPr>
                </a:p>
              </p:txBody>
            </p:sp>
            <p:sp>
              <p:nvSpPr>
                <p:cNvPr id="31" name="文本框 30"/>
                <p:cNvSpPr txBox="1"/>
                <p:nvPr/>
              </p:nvSpPr>
              <p:spPr>
                <a:xfrm>
                  <a:off x="9223" y="4080"/>
                  <a:ext cx="980" cy="711"/>
                </a:xfrm>
                <a:prstGeom prst="rect">
                  <a:avLst/>
                </a:prstGeom>
                <a:noFill/>
              </p:spPr>
              <p:txBody>
                <a:bodyPr wrap="square" rtlCol="0">
                  <a:spAutoFit/>
                </a:bodyPr>
                <a:lstStyle/>
                <a:p>
                  <a:r>
                    <a:rPr kumimoji="1" lang="en-US" altLang="zh-CN" b="1" dirty="0">
                      <a:solidFill>
                        <a:schemeClr val="bg1"/>
                      </a:solidFill>
                      <a:latin typeface="+mj-lt"/>
                      <a:ea typeface="+mj-lt"/>
                      <a:cs typeface="微软雅黑" panose="020B0503020204020204" charset="-122"/>
                    </a:rPr>
                    <a:t>01</a:t>
                  </a:r>
                  <a:endParaRPr kumimoji="1" lang="en-US" altLang="zh-CN" b="1" dirty="0">
                    <a:solidFill>
                      <a:schemeClr val="bg1"/>
                    </a:solidFill>
                    <a:latin typeface="+mj-lt"/>
                    <a:ea typeface="+mj-lt"/>
                    <a:cs typeface="微软雅黑" panose="020B0503020204020204" charset="-122"/>
                  </a:endParaRPr>
                </a:p>
              </p:txBody>
            </p:sp>
            <p:sp>
              <p:nvSpPr>
                <p:cNvPr id="32" name="文本框 31"/>
                <p:cNvSpPr txBox="1"/>
                <p:nvPr/>
              </p:nvSpPr>
              <p:spPr>
                <a:xfrm>
                  <a:off x="11198" y="7304"/>
                  <a:ext cx="940" cy="711"/>
                </a:xfrm>
                <a:prstGeom prst="rect">
                  <a:avLst/>
                </a:prstGeom>
                <a:noFill/>
              </p:spPr>
              <p:txBody>
                <a:bodyPr wrap="square" rtlCol="0">
                  <a:spAutoFit/>
                </a:bodyPr>
                <a:lstStyle/>
                <a:p>
                  <a:pPr lvl="0" algn="l">
                    <a:buClrTx/>
                    <a:buSzTx/>
                    <a:buFontTx/>
                  </a:pPr>
                  <a:r>
                    <a:rPr kumimoji="1" lang="en-US" altLang="zh-CN" b="1" dirty="0">
                      <a:solidFill>
                        <a:schemeClr val="bg1"/>
                      </a:solidFill>
                      <a:latin typeface="+mj-lt"/>
                      <a:ea typeface="+mj-lt"/>
                      <a:cs typeface="微软雅黑" panose="020B0503020204020204" charset="-122"/>
                      <a:sym typeface="+mn-ea"/>
                    </a:rPr>
                    <a:t>02</a:t>
                  </a:r>
                  <a:endParaRPr kumimoji="1" lang="en-US" altLang="zh-CN" b="1" dirty="0">
                    <a:solidFill>
                      <a:schemeClr val="bg1"/>
                    </a:solidFill>
                    <a:latin typeface="+mj-lt"/>
                    <a:ea typeface="+mj-lt"/>
                    <a:cs typeface="微软雅黑" panose="020B0503020204020204" charset="-122"/>
                    <a:sym typeface="+mn-ea"/>
                  </a:endParaRPr>
                </a:p>
              </p:txBody>
            </p:sp>
            <p:sp>
              <p:nvSpPr>
                <p:cNvPr id="33" name="文本框 32"/>
                <p:cNvSpPr txBox="1"/>
                <p:nvPr/>
              </p:nvSpPr>
              <p:spPr>
                <a:xfrm>
                  <a:off x="7223" y="7509"/>
                  <a:ext cx="1092" cy="711"/>
                </a:xfrm>
                <a:prstGeom prst="rect">
                  <a:avLst/>
                </a:prstGeom>
                <a:noFill/>
              </p:spPr>
              <p:txBody>
                <a:bodyPr wrap="square" rtlCol="0">
                  <a:spAutoFit/>
                </a:bodyPr>
                <a:lstStyle/>
                <a:p>
                  <a:pPr lvl="0" algn="l">
                    <a:buClrTx/>
                    <a:buSzTx/>
                    <a:buFontTx/>
                  </a:pPr>
                  <a:r>
                    <a:rPr kumimoji="1" lang="en-US" altLang="zh-CN" b="1" dirty="0">
                      <a:solidFill>
                        <a:schemeClr val="bg1"/>
                      </a:solidFill>
                      <a:latin typeface="+mj-lt"/>
                      <a:ea typeface="+mj-lt"/>
                      <a:cs typeface="微软雅黑" panose="020B0503020204020204" charset="-122"/>
                      <a:sym typeface="+mn-ea"/>
                    </a:rPr>
                    <a:t>03</a:t>
                  </a:r>
                  <a:endParaRPr kumimoji="1" lang="en-US" altLang="zh-CN" b="1" dirty="0">
                    <a:solidFill>
                      <a:schemeClr val="bg1"/>
                    </a:solidFill>
                    <a:latin typeface="+mj-lt"/>
                    <a:ea typeface="+mj-lt"/>
                    <a:cs typeface="微软雅黑" panose="020B0503020204020204" charset="-122"/>
                    <a:sym typeface="+mn-ea"/>
                  </a:endParaRPr>
                </a:p>
              </p:txBody>
            </p:sp>
          </p:grpSp>
          <p:sp>
            <p:nvSpPr>
              <p:cNvPr id="12" name="任意多边形 11"/>
              <p:cNvSpPr/>
              <p:nvPr/>
            </p:nvSpPr>
            <p:spPr>
              <a:xfrm>
                <a:off x="4783" y="6006"/>
                <a:ext cx="8293" cy="4185"/>
              </a:xfrm>
              <a:custGeom>
                <a:avLst/>
                <a:gdLst>
                  <a:gd name="adj" fmla="val 10959"/>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8296" h="4187">
                    <a:moveTo>
                      <a:pt x="8293" y="20"/>
                    </a:moveTo>
                    <a:lnTo>
                      <a:pt x="8293" y="39"/>
                    </a:lnTo>
                    <a:cubicBezTo>
                      <a:pt x="8364" y="2366"/>
                      <a:pt x="6233" y="4242"/>
                      <a:pt x="4146" y="4185"/>
                    </a:cubicBezTo>
                    <a:cubicBezTo>
                      <a:pt x="1819" y="4259"/>
                      <a:pt x="-57" y="2121"/>
                      <a:pt x="0" y="42"/>
                    </a:cubicBezTo>
                    <a:lnTo>
                      <a:pt x="427" y="375"/>
                    </a:lnTo>
                    <a:lnTo>
                      <a:pt x="909" y="0"/>
                    </a:lnTo>
                    <a:lnTo>
                      <a:pt x="909" y="39"/>
                    </a:lnTo>
                    <a:cubicBezTo>
                      <a:pt x="853" y="1856"/>
                      <a:pt x="2517" y="3321"/>
                      <a:pt x="4146" y="3276"/>
                    </a:cubicBezTo>
                    <a:cubicBezTo>
                      <a:pt x="5964" y="3332"/>
                      <a:pt x="7429" y="1668"/>
                      <a:pt x="7384" y="39"/>
                    </a:cubicBezTo>
                    <a:lnTo>
                      <a:pt x="7384" y="23"/>
                    </a:lnTo>
                    <a:lnTo>
                      <a:pt x="7836" y="375"/>
                    </a:lnTo>
                    <a:lnTo>
                      <a:pt x="8293" y="20"/>
                    </a:lnTo>
                    <a:close/>
                  </a:path>
                </a:pathLst>
              </a:custGeom>
              <a:gradFill>
                <a:gsLst>
                  <a:gs pos="0">
                    <a:schemeClr val="accent5">
                      <a:lumMod val="60000"/>
                      <a:lumOff val="40000"/>
                    </a:schemeClr>
                  </a:gs>
                  <a:gs pos="100000">
                    <a:schemeClr val="accent5">
                      <a:lumMod val="60000"/>
                      <a:lumOff val="40000"/>
                      <a:alpha val="0"/>
                    </a:schemeClr>
                  </a:gs>
                </a:gsLst>
                <a:lin ang="0" scaled="0"/>
              </a:gradFill>
              <a:ln>
                <a:solidFill>
                  <a:schemeClr val="accent5">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lang="zh-CN" altLang="en-US">
                  <a:solidFill>
                    <a:schemeClr val="tx1"/>
                  </a:solidFill>
                  <a:latin typeface="+mj-lt"/>
                  <a:ea typeface="+mj-lt"/>
                  <a:cs typeface="微软雅黑" panose="020B0503020204020204" charset="-122"/>
                  <a:sym typeface="+mn-ea"/>
                </a:endParaRPr>
              </a:p>
            </p:txBody>
          </p:sp>
          <p:sp>
            <p:nvSpPr>
              <p:cNvPr id="13" name="任意多边形 12"/>
              <p:cNvSpPr/>
              <p:nvPr/>
            </p:nvSpPr>
            <p:spPr>
              <a:xfrm>
                <a:off x="4789" y="1898"/>
                <a:ext cx="8279" cy="4249"/>
              </a:xfrm>
              <a:custGeom>
                <a:avLst/>
                <a:gdLst>
                  <a:gd name="adj" fmla="val 10959"/>
                  <a:gd name="a" fmla="pin 0 adj 50000"/>
                  <a:gd name="dr" fmla="*/ ss a 100000"/>
                  <a:gd name="iwd2" fmla="+- wd2 0 dr"/>
                  <a:gd name="ihd2" fmla="+- hd2 0 dr"/>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8279" h="4252">
                    <a:moveTo>
                      <a:pt x="0" y="3921"/>
                    </a:moveTo>
                    <a:cubicBezTo>
                      <a:pt x="42" y="1715"/>
                      <a:pt x="2127" y="-61"/>
                      <a:pt x="4140" y="0"/>
                    </a:cubicBezTo>
                    <a:cubicBezTo>
                      <a:pt x="6390" y="-90"/>
                      <a:pt x="8236" y="1980"/>
                      <a:pt x="8279" y="3899"/>
                    </a:cubicBezTo>
                    <a:lnTo>
                      <a:pt x="7830" y="4249"/>
                    </a:lnTo>
                    <a:lnTo>
                      <a:pt x="7368" y="3889"/>
                    </a:lnTo>
                    <a:cubicBezTo>
                      <a:pt x="7293" y="2201"/>
                      <a:pt x="5684" y="864"/>
                      <a:pt x="4140" y="909"/>
                    </a:cubicBezTo>
                    <a:cubicBezTo>
                      <a:pt x="2414" y="835"/>
                      <a:pt x="985" y="2416"/>
                      <a:pt x="915" y="3865"/>
                    </a:cubicBezTo>
                    <a:lnTo>
                      <a:pt x="421" y="4249"/>
                    </a:lnTo>
                    <a:lnTo>
                      <a:pt x="0" y="3921"/>
                    </a:lnTo>
                    <a:close/>
                  </a:path>
                </a:pathLst>
              </a:custGeom>
              <a:gradFill>
                <a:gsLst>
                  <a:gs pos="100000">
                    <a:schemeClr val="accent1">
                      <a:lumMod val="60000"/>
                      <a:lumOff val="40000"/>
                      <a:alpha val="0"/>
                    </a:schemeClr>
                  </a:gs>
                  <a:gs pos="0">
                    <a:schemeClr val="accent1">
                      <a:lumMod val="60000"/>
                      <a:lumOff val="40000"/>
                    </a:schemeClr>
                  </a:gs>
                </a:gsLst>
                <a:lin ang="0" scaled="0"/>
              </a:gradFill>
              <a:ln>
                <a:solidFill>
                  <a:schemeClr val="accent1">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solidFill>
                    <a:schemeClr val="tx1"/>
                  </a:solidFill>
                  <a:latin typeface="+mj-lt"/>
                  <a:ea typeface="+mj-lt"/>
                  <a:cs typeface="微软雅黑" panose="020B0503020204020204" charset="-122"/>
                </a:endParaRPr>
              </a:p>
            </p:txBody>
          </p:sp>
        </p:grpSp>
        <p:grpSp>
          <p:nvGrpSpPr>
            <p:cNvPr id="118" name="组合 117"/>
            <p:cNvGrpSpPr/>
            <p:nvPr/>
          </p:nvGrpSpPr>
          <p:grpSpPr>
            <a:xfrm rot="20520000">
              <a:off x="1746" y="1847"/>
              <a:ext cx="8213" cy="8213"/>
              <a:chOff x="6377" y="2769"/>
              <a:chExt cx="6626" cy="6626"/>
            </a:xfrm>
          </p:grpSpPr>
          <p:sp>
            <p:nvSpPr>
              <p:cNvPr id="114" name="弧形 113"/>
              <p:cNvSpPr/>
              <p:nvPr/>
            </p:nvSpPr>
            <p:spPr>
              <a:xfrm>
                <a:off x="6377" y="2769"/>
                <a:ext cx="6627" cy="6627"/>
              </a:xfrm>
              <a:prstGeom prst="arc">
                <a:avLst>
                  <a:gd name="adj1" fmla="val 17281646"/>
                  <a:gd name="adj2" fmla="val 21406547"/>
                </a:avLst>
              </a:prstGeom>
              <a:noFill/>
              <a:ln w="19050">
                <a:gradFill>
                  <a:gsLst>
                    <a:gs pos="7000">
                      <a:schemeClr val="accent1">
                        <a:alpha val="0"/>
                      </a:schemeClr>
                    </a:gs>
                    <a:gs pos="100000">
                      <a:schemeClr val="accent1"/>
                    </a:gs>
                  </a:gsLst>
                  <a:lin ang="5400000" scaled="1"/>
                </a:gra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olidFill>
                    <a:srgbClr val="CBD6F1"/>
                  </a:solidFill>
                  <a:latin typeface="+mj-lt"/>
                  <a:ea typeface="+mj-lt"/>
                  <a:cs typeface="微软雅黑" panose="020B0503020204020204" charset="-122"/>
                  <a:sym typeface="+mn-ea"/>
                </a:endParaRPr>
              </a:p>
            </p:txBody>
          </p:sp>
          <p:sp>
            <p:nvSpPr>
              <p:cNvPr id="115" name="弧形 114"/>
              <p:cNvSpPr/>
              <p:nvPr/>
            </p:nvSpPr>
            <p:spPr>
              <a:xfrm rot="16200000">
                <a:off x="6377" y="2769"/>
                <a:ext cx="6627" cy="6627"/>
              </a:xfrm>
              <a:prstGeom prst="arc">
                <a:avLst>
                  <a:gd name="adj1" fmla="val 17281646"/>
                  <a:gd name="adj2" fmla="val 21406547"/>
                </a:avLst>
              </a:prstGeom>
              <a:noFill/>
              <a:ln w="19050">
                <a:gradFill>
                  <a:gsLst>
                    <a:gs pos="7000">
                      <a:schemeClr val="accent1">
                        <a:alpha val="0"/>
                      </a:schemeClr>
                    </a:gs>
                    <a:gs pos="100000">
                      <a:schemeClr val="accent1"/>
                    </a:gs>
                  </a:gsLst>
                  <a:lin ang="5400000" scaled="1"/>
                </a:gra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BD6F1"/>
                  </a:solidFill>
                  <a:latin typeface="+mj-lt"/>
                  <a:ea typeface="+mj-lt"/>
                  <a:cs typeface="微软雅黑" panose="020B0503020204020204" charset="-122"/>
                </a:endParaRPr>
              </a:p>
            </p:txBody>
          </p:sp>
          <p:sp>
            <p:nvSpPr>
              <p:cNvPr id="116" name="弧形 115"/>
              <p:cNvSpPr/>
              <p:nvPr/>
            </p:nvSpPr>
            <p:spPr>
              <a:xfrm rot="16200000" flipH="1" flipV="1">
                <a:off x="6377" y="2769"/>
                <a:ext cx="6627" cy="6627"/>
              </a:xfrm>
              <a:prstGeom prst="arc">
                <a:avLst>
                  <a:gd name="adj1" fmla="val 17281646"/>
                  <a:gd name="adj2" fmla="val 21406547"/>
                </a:avLst>
              </a:prstGeom>
              <a:noFill/>
              <a:ln w="19050">
                <a:gradFill>
                  <a:gsLst>
                    <a:gs pos="7000">
                      <a:schemeClr val="accent5">
                        <a:alpha val="0"/>
                      </a:schemeClr>
                    </a:gs>
                    <a:gs pos="100000">
                      <a:schemeClr val="accent5"/>
                    </a:gs>
                  </a:gsLst>
                  <a:lin ang="5400000" scaled="1"/>
                </a:gra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olidFill>
                    <a:srgbClr val="CBD6F1"/>
                  </a:solidFill>
                  <a:latin typeface="+mj-lt"/>
                  <a:ea typeface="+mj-lt"/>
                  <a:cs typeface="微软雅黑" panose="020B0503020204020204" charset="-122"/>
                  <a:sym typeface="+mn-ea"/>
                </a:endParaRPr>
              </a:p>
            </p:txBody>
          </p:sp>
          <p:sp>
            <p:nvSpPr>
              <p:cNvPr id="117" name="弧形 116"/>
              <p:cNvSpPr/>
              <p:nvPr/>
            </p:nvSpPr>
            <p:spPr>
              <a:xfrm flipH="1" flipV="1">
                <a:off x="6377" y="2769"/>
                <a:ext cx="6627" cy="6627"/>
              </a:xfrm>
              <a:prstGeom prst="arc">
                <a:avLst>
                  <a:gd name="adj1" fmla="val 17281646"/>
                  <a:gd name="adj2" fmla="val 21406547"/>
                </a:avLst>
              </a:prstGeom>
              <a:noFill/>
              <a:ln w="19050">
                <a:gradFill>
                  <a:gsLst>
                    <a:gs pos="7000">
                      <a:schemeClr val="accent5">
                        <a:alpha val="0"/>
                      </a:schemeClr>
                    </a:gs>
                    <a:gs pos="100000">
                      <a:schemeClr val="accent5"/>
                    </a:gs>
                  </a:gsLst>
                  <a:lin ang="5400000" scaled="1"/>
                </a:gra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BD6F1"/>
                  </a:solidFill>
                  <a:latin typeface="+mj-lt"/>
                  <a:ea typeface="+mj-lt"/>
                  <a:cs typeface="微软雅黑" panose="020B0503020204020204" charset="-122"/>
                </a:endParaRPr>
              </a:p>
            </p:txBody>
          </p:sp>
        </p:grpSp>
        <p:sp>
          <p:nvSpPr>
            <p:cNvPr id="74" name="文本框 73"/>
            <p:cNvSpPr txBox="1"/>
            <p:nvPr/>
          </p:nvSpPr>
          <p:spPr>
            <a:xfrm>
              <a:off x="4923" y="5859"/>
              <a:ext cx="1857" cy="523"/>
            </a:xfrm>
            <a:prstGeom prst="rect">
              <a:avLst/>
            </a:prstGeom>
            <a:noFill/>
          </p:spPr>
          <p:txBody>
            <a:bodyPr wrap="square" rtlCol="0">
              <a:spAutoFit/>
            </a:bodyPr>
            <a:lstStyle/>
            <a:p>
              <a:pPr algn="ctr"/>
              <a:r>
                <a:rPr kumimoji="1" lang="zh-CN" altLang="en-US" sz="1000" b="1" dirty="0">
                  <a:solidFill>
                    <a:schemeClr val="accent1"/>
                  </a:solidFill>
                  <a:latin typeface="+mj-lt"/>
                  <a:ea typeface="+mj-lt"/>
                  <a:cs typeface="微软雅黑" panose="020B0503020204020204" charset="-122"/>
                </a:rPr>
                <a:t>客户运营的</a:t>
              </a:r>
              <a:endParaRPr kumimoji="1" lang="zh-CN" altLang="en-US" sz="1000" b="1" dirty="0">
                <a:solidFill>
                  <a:schemeClr val="accent1"/>
                </a:solidFill>
                <a:latin typeface="+mj-lt"/>
                <a:ea typeface="+mj-lt"/>
                <a:cs typeface="微软雅黑" panose="020B0503020204020204" charset="-122"/>
              </a:endParaRPr>
            </a:p>
            <a:p>
              <a:pPr algn="ctr"/>
              <a:r>
                <a:rPr kumimoji="1" lang="en-US" altLang="zh-CN" sz="1000" b="1" dirty="0">
                  <a:solidFill>
                    <a:schemeClr val="accent1"/>
                  </a:solidFill>
                  <a:latin typeface="+mj-lt"/>
                  <a:ea typeface="+mj-lt"/>
                  <a:cs typeface="微软雅黑" panose="020B0503020204020204" charset="-122"/>
                </a:rPr>
                <a:t>“</a:t>
              </a:r>
              <a:r>
                <a:rPr kumimoji="1" lang="zh-CN" altLang="en-US" sz="1000" b="1" dirty="0">
                  <a:solidFill>
                    <a:schemeClr val="accent1"/>
                  </a:solidFill>
                  <a:latin typeface="+mj-lt"/>
                  <a:ea typeface="+mj-lt"/>
                  <a:cs typeface="微软雅黑" panose="020B0503020204020204" charset="-122"/>
                </a:rPr>
                <a:t>三环模型</a:t>
              </a:r>
              <a:r>
                <a:rPr kumimoji="1" lang="en-US" altLang="zh-CN" sz="1000" b="1" dirty="0">
                  <a:solidFill>
                    <a:schemeClr val="accent1"/>
                  </a:solidFill>
                  <a:latin typeface="+mj-lt"/>
                  <a:ea typeface="+mj-lt"/>
                  <a:cs typeface="微软雅黑" panose="020B0503020204020204" charset="-122"/>
                </a:rPr>
                <a:t>”</a:t>
              </a:r>
              <a:endParaRPr kumimoji="1" lang="en-US" altLang="zh-CN" sz="1000" b="1" dirty="0">
                <a:solidFill>
                  <a:schemeClr val="accent1"/>
                </a:solidFill>
                <a:latin typeface="+mj-lt"/>
                <a:ea typeface="+mj-lt"/>
                <a:cs typeface="微软雅黑" panose="020B0503020204020204" charset="-122"/>
              </a:endParaRPr>
            </a:p>
          </p:txBody>
        </p:sp>
        <p:grpSp>
          <p:nvGrpSpPr>
            <p:cNvPr id="78" name="组合 77"/>
            <p:cNvGrpSpPr/>
            <p:nvPr/>
          </p:nvGrpSpPr>
          <p:grpSpPr>
            <a:xfrm>
              <a:off x="4204" y="3937"/>
              <a:ext cx="1377" cy="768"/>
              <a:chOff x="7942" y="4391"/>
              <a:chExt cx="1377" cy="768"/>
            </a:xfrm>
          </p:grpSpPr>
          <p:sp>
            <p:nvSpPr>
              <p:cNvPr id="76" name="文本框 75"/>
              <p:cNvSpPr txBox="1"/>
              <p:nvPr/>
            </p:nvSpPr>
            <p:spPr>
              <a:xfrm>
                <a:off x="7942" y="4823"/>
                <a:ext cx="1204" cy="337"/>
              </a:xfrm>
              <a:prstGeom prst="rect">
                <a:avLst/>
              </a:prstGeom>
              <a:noFill/>
            </p:spPr>
            <p:txBody>
              <a:bodyPr wrap="square" rtlCol="0">
                <a:spAutoFit/>
              </a:bodyPr>
              <a:lstStyle/>
              <a:p>
                <a:r>
                  <a:rPr kumimoji="1" lang="en-US" altLang="zh-CN" sz="800" dirty="0">
                    <a:solidFill>
                      <a:schemeClr val="bg1"/>
                    </a:solidFill>
                    <a:latin typeface="+mj-lt"/>
                    <a:ea typeface="+mj-lt"/>
                    <a:cs typeface="微软雅黑" panose="020B0503020204020204" charset="-122"/>
                  </a:rPr>
                  <a:t>CUSTOMER</a:t>
                </a:r>
                <a:endParaRPr kumimoji="1" lang="en-US" altLang="zh-CN" sz="800" dirty="0">
                  <a:solidFill>
                    <a:schemeClr val="bg1"/>
                  </a:solidFill>
                  <a:latin typeface="+mj-lt"/>
                  <a:ea typeface="+mj-lt"/>
                  <a:cs typeface="微软雅黑" panose="020B0503020204020204" charset="-122"/>
                </a:endParaRPr>
              </a:p>
            </p:txBody>
          </p:sp>
          <p:sp>
            <p:nvSpPr>
              <p:cNvPr id="77" name="文本框 76"/>
              <p:cNvSpPr txBox="1"/>
              <p:nvPr/>
            </p:nvSpPr>
            <p:spPr>
              <a:xfrm>
                <a:off x="8081" y="4391"/>
                <a:ext cx="1239" cy="531"/>
              </a:xfrm>
              <a:prstGeom prst="rect">
                <a:avLst/>
              </a:prstGeom>
              <a:noFill/>
            </p:spPr>
            <p:txBody>
              <a:bodyPr wrap="square" rtlCol="0">
                <a:spAutoFit/>
              </a:bodyPr>
              <a:lstStyle/>
              <a:p>
                <a:r>
                  <a:rPr kumimoji="1" lang="zh-CN" altLang="en-US" sz="1600" b="1" dirty="0">
                    <a:solidFill>
                      <a:schemeClr val="bg1"/>
                    </a:solidFill>
                    <a:latin typeface="+mj-lt"/>
                    <a:ea typeface="+mj-lt"/>
                    <a:cs typeface="微软雅黑" panose="020B0503020204020204" charset="-122"/>
                  </a:rPr>
                  <a:t>客户</a:t>
                </a:r>
                <a:endParaRPr kumimoji="1" lang="zh-CN" altLang="en-US" sz="1600" b="1" dirty="0">
                  <a:solidFill>
                    <a:schemeClr val="bg1"/>
                  </a:solidFill>
                  <a:latin typeface="+mj-lt"/>
                  <a:ea typeface="+mj-lt"/>
                  <a:cs typeface="微软雅黑" panose="020B0503020204020204" charset="-122"/>
                </a:endParaRPr>
              </a:p>
            </p:txBody>
          </p:sp>
        </p:grpSp>
      </p:grpSp>
      <p:sp>
        <p:nvSpPr>
          <p:cNvPr id="104" name="矩形 103"/>
          <p:cNvSpPr/>
          <p:nvPr>
            <p:custDataLst>
              <p:tags r:id="rId3"/>
            </p:custDataLst>
          </p:nvPr>
        </p:nvSpPr>
        <p:spPr>
          <a:xfrm>
            <a:off x="485628" y="1910864"/>
            <a:ext cx="2433024" cy="4488942"/>
          </a:xfrm>
          <a:prstGeom prst="rect">
            <a:avLst/>
          </a:prstGeom>
          <a:solidFill>
            <a:schemeClr val="accent5">
              <a:lumMod val="20000"/>
              <a:lumOff val="80000"/>
              <a:alpha val="4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lt"/>
              <a:ea typeface="+mj-lt"/>
              <a:cs typeface="微软雅黑" panose="020B0503020204020204" charset="-122"/>
            </a:endParaRPr>
          </a:p>
        </p:txBody>
      </p:sp>
      <p:sp>
        <p:nvSpPr>
          <p:cNvPr id="105" name="矩形 104"/>
          <p:cNvSpPr/>
          <p:nvPr/>
        </p:nvSpPr>
        <p:spPr>
          <a:xfrm>
            <a:off x="485627" y="1431234"/>
            <a:ext cx="2431389" cy="668733"/>
          </a:xfrm>
          <a:prstGeom prst="rect">
            <a:avLst/>
          </a:prstGeom>
          <a:gradFill>
            <a:gsLst>
              <a:gs pos="0">
                <a:schemeClr val="accent5"/>
              </a:gs>
              <a:gs pos="100000">
                <a:schemeClr val="accent5">
                  <a:lumMod val="60000"/>
                  <a:lumOff val="40000"/>
                </a:schemeClr>
              </a:gs>
            </a:gsLst>
            <a:lin ang="0" scaled="0"/>
          </a:gra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mj-lt"/>
              <a:ea typeface="+mj-lt"/>
              <a:cs typeface="微软雅黑" panose="020B0503020204020204" charset="-122"/>
            </a:endParaRPr>
          </a:p>
        </p:txBody>
      </p:sp>
      <p:sp>
        <p:nvSpPr>
          <p:cNvPr id="7" name="文本框 6"/>
          <p:cNvSpPr txBox="1"/>
          <p:nvPr/>
        </p:nvSpPr>
        <p:spPr>
          <a:xfrm>
            <a:off x="738505" y="1565910"/>
            <a:ext cx="1209675" cy="398780"/>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2"/>
                </a:solidFill>
                <a:effectLst/>
                <a:uLnTx/>
                <a:uFillTx/>
                <a:latin typeface="+mj-lt"/>
                <a:ea typeface="+mj-lt"/>
                <a:cs typeface="微软雅黑" panose="020B0503020204020204" charset="-122"/>
              </a:rPr>
              <a:t>客户环</a:t>
            </a:r>
            <a:endParaRPr kumimoji="0" lang="zh-CN" altLang="en-US" sz="2000" b="1" i="0" u="none" strike="noStrike" kern="1200" cap="none" spc="0" normalizeH="0" baseline="0" noProof="0" dirty="0">
              <a:ln>
                <a:noFill/>
              </a:ln>
              <a:solidFill>
                <a:schemeClr val="bg2"/>
              </a:solidFill>
              <a:effectLst/>
              <a:uLnTx/>
              <a:uFillTx/>
              <a:latin typeface="+mj-lt"/>
              <a:ea typeface="+mj-lt"/>
              <a:cs typeface="微软雅黑" panose="020B0503020204020204" charset="-122"/>
            </a:endParaRPr>
          </a:p>
        </p:txBody>
      </p:sp>
      <p:sp>
        <p:nvSpPr>
          <p:cNvPr id="108" name="矩形 107"/>
          <p:cNvSpPr/>
          <p:nvPr/>
        </p:nvSpPr>
        <p:spPr>
          <a:xfrm>
            <a:off x="2040395" y="1497948"/>
            <a:ext cx="652780" cy="553085"/>
          </a:xfrm>
          <a:prstGeom prst="rect">
            <a:avLst/>
          </a:prstGeom>
        </p:spPr>
        <p:txBody>
          <a:bodyPr wrap="none">
            <a:spAutoFit/>
          </a:bodyPr>
          <a:lstStyle/>
          <a:p>
            <a:r>
              <a:rPr kumimoji="1" lang="en-US" altLang="zh-CN" sz="3000" b="1" dirty="0">
                <a:gradFill>
                  <a:gsLst>
                    <a:gs pos="0">
                      <a:schemeClr val="bg2">
                        <a:alpha val="0"/>
                      </a:schemeClr>
                    </a:gs>
                    <a:gs pos="91000">
                      <a:schemeClr val="bg1"/>
                    </a:gs>
                  </a:gsLst>
                  <a:lin ang="16200000" scaled="0"/>
                </a:gradFill>
                <a:latin typeface="+mj-lt"/>
                <a:ea typeface="+mj-lt"/>
                <a:cs typeface="微软雅黑" panose="020B0503020204020204" charset="-122"/>
              </a:rPr>
              <a:t>01</a:t>
            </a:r>
            <a:endParaRPr kumimoji="1" lang="en-US" altLang="zh-CN" sz="3000" b="1" dirty="0">
              <a:gradFill>
                <a:gsLst>
                  <a:gs pos="0">
                    <a:schemeClr val="bg2">
                      <a:alpha val="0"/>
                    </a:schemeClr>
                  </a:gs>
                  <a:gs pos="91000">
                    <a:schemeClr val="bg1"/>
                  </a:gs>
                </a:gsLst>
                <a:lin ang="16200000" scaled="0"/>
              </a:gradFill>
              <a:latin typeface="+mj-lt"/>
              <a:ea typeface="+mj-lt"/>
              <a:cs typeface="微软雅黑" panose="020B0503020204020204" charset="-122"/>
            </a:endParaRPr>
          </a:p>
        </p:txBody>
      </p:sp>
      <p:cxnSp>
        <p:nvCxnSpPr>
          <p:cNvPr id="109" name="直线连接符 108"/>
          <p:cNvCxnSpPr/>
          <p:nvPr>
            <p:custDataLst>
              <p:tags r:id="rId4"/>
            </p:custDataLst>
          </p:nvPr>
        </p:nvCxnSpPr>
        <p:spPr>
          <a:xfrm>
            <a:off x="665487" y="3569314"/>
            <a:ext cx="2073307" cy="0"/>
          </a:xfrm>
          <a:prstGeom prst="line">
            <a:avLst/>
          </a:prstGeom>
          <a:ln w="12700">
            <a:solidFill>
              <a:schemeClr val="tx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9" name="直线连接符 110"/>
          <p:cNvCxnSpPr/>
          <p:nvPr>
            <p:custDataLst>
              <p:tags r:id="rId5"/>
            </p:custDataLst>
          </p:nvPr>
        </p:nvCxnSpPr>
        <p:spPr>
          <a:xfrm>
            <a:off x="665487" y="4953366"/>
            <a:ext cx="2073307" cy="0"/>
          </a:xfrm>
          <a:prstGeom prst="line">
            <a:avLst/>
          </a:prstGeom>
          <a:ln w="12700">
            <a:solidFill>
              <a:schemeClr val="tx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sp>
        <p:nvSpPr>
          <p:cNvPr id="163" name="文本框 162"/>
          <p:cNvSpPr txBox="1"/>
          <p:nvPr>
            <p:custDataLst>
              <p:tags r:id="rId6"/>
            </p:custDataLst>
          </p:nvPr>
        </p:nvSpPr>
        <p:spPr>
          <a:xfrm>
            <a:off x="769491" y="2308225"/>
            <a:ext cx="1953895" cy="174625"/>
          </a:xfrm>
          <a:prstGeom prst="rect">
            <a:avLst/>
          </a:prstGeom>
          <a:noFill/>
        </p:spPr>
        <p:txBody>
          <a:bodyPr wrap="square" lIns="0" tIns="0" rIns="0" bIns="0" rtlCol="0">
            <a:spAutoFit/>
          </a:body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2"/>
                </a:solidFill>
                <a:effectLst/>
                <a:uLnTx/>
                <a:uFillTx/>
                <a:latin typeface="+mj-lt"/>
                <a:ea typeface="+mj-lt"/>
                <a:cs typeface="微软雅黑" panose="020B0503020204020204" charset="-122"/>
              </a:rPr>
              <a:t>模块一：客户洞察</a:t>
            </a:r>
            <a:endParaRPr kumimoji="0" lang="en-US" altLang="zh-CN" sz="1000" b="1" i="0" u="none" strike="noStrike" kern="1200" cap="none" spc="0" normalizeH="0" baseline="0" noProof="0" dirty="0">
              <a:ln>
                <a:noFill/>
              </a:ln>
              <a:solidFill>
                <a:schemeClr val="tx2"/>
              </a:solidFill>
              <a:effectLst/>
              <a:uLnTx/>
              <a:uFillTx/>
              <a:latin typeface="+mj-lt"/>
              <a:ea typeface="+mj-lt"/>
              <a:cs typeface="微软雅黑" panose="020B0503020204020204" charset="-122"/>
            </a:endParaRPr>
          </a:p>
        </p:txBody>
      </p:sp>
      <p:sp>
        <p:nvSpPr>
          <p:cNvPr id="27" name="文本框 26"/>
          <p:cNvSpPr txBox="1"/>
          <p:nvPr>
            <p:custDataLst>
              <p:tags r:id="rId7"/>
            </p:custDataLst>
          </p:nvPr>
        </p:nvSpPr>
        <p:spPr>
          <a:xfrm>
            <a:off x="723373" y="2550650"/>
            <a:ext cx="2046131" cy="875030"/>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mj-lt"/>
                <a:ea typeface="+mj-lt"/>
                <a:cs typeface="+mj-lt"/>
              </a:rPr>
              <a:t>建立客户数据平台，整合交易数据、行为数据、客服记录和社交舆情；运用</a:t>
            </a:r>
            <a:r>
              <a:rPr kumimoji="0" lang="en-US" altLang="zh-CN" sz="1000" b="0" i="0" u="none" strike="noStrike" kern="1200" cap="none" spc="0" normalizeH="0" baseline="0" noProof="0" dirty="0">
                <a:ln>
                  <a:noFill/>
                </a:ln>
                <a:solidFill>
                  <a:schemeClr val="tx2"/>
                </a:solidFill>
                <a:effectLst/>
                <a:uLnTx/>
                <a:uFillTx/>
                <a:latin typeface="+mj-lt"/>
                <a:ea typeface="+mj-lt"/>
                <a:cs typeface="+mj-lt"/>
              </a:rPr>
              <a:t>RFM</a:t>
            </a:r>
            <a:r>
              <a:rPr kumimoji="0" lang="zh-CN" altLang="en-US" sz="1000" b="0" i="0" u="none" strike="noStrike" kern="1200" cap="none" spc="0" normalizeH="0" baseline="0" noProof="0" dirty="0">
                <a:ln>
                  <a:noFill/>
                </a:ln>
                <a:solidFill>
                  <a:schemeClr val="tx2"/>
                </a:solidFill>
                <a:effectLst/>
                <a:uLnTx/>
                <a:uFillTx/>
                <a:latin typeface="+mj-lt"/>
                <a:ea typeface="+mj-lt"/>
                <a:cs typeface="+mj-lt"/>
              </a:rPr>
              <a:t>模型、用户画像、同理心地图等工具进行分析；定期开展用户访谈和体验监测。</a:t>
            </a:r>
            <a:endParaRPr kumimoji="0" lang="zh-CN" altLang="en-US" sz="1000" b="0" i="0" u="none" strike="noStrike" kern="1200" cap="none" spc="0" normalizeH="0" baseline="0" noProof="0" dirty="0">
              <a:ln>
                <a:noFill/>
              </a:ln>
              <a:solidFill>
                <a:schemeClr val="tx2"/>
              </a:solidFill>
              <a:effectLst/>
              <a:uLnTx/>
              <a:uFillTx/>
              <a:latin typeface="+mj-lt"/>
              <a:ea typeface="+mj-lt"/>
              <a:cs typeface="+mj-lt"/>
            </a:endParaRPr>
          </a:p>
        </p:txBody>
      </p:sp>
      <p:sp>
        <p:nvSpPr>
          <p:cNvPr id="28" name="文本框 27"/>
          <p:cNvSpPr txBox="1"/>
          <p:nvPr>
            <p:custDataLst>
              <p:tags r:id="rId8"/>
            </p:custDataLst>
          </p:nvPr>
        </p:nvSpPr>
        <p:spPr>
          <a:xfrm>
            <a:off x="769491" y="3695700"/>
            <a:ext cx="1953895" cy="174625"/>
          </a:xfrm>
          <a:prstGeom prst="rect">
            <a:avLst/>
          </a:prstGeom>
          <a:noFill/>
        </p:spPr>
        <p:txBody>
          <a:bodyPr wrap="square" lIns="0" tIns="0" rIns="0" bIns="0" rtlCol="0">
            <a:spAutoFit/>
          </a:body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2"/>
                </a:solidFill>
                <a:effectLst/>
                <a:uLnTx/>
                <a:uFillTx/>
                <a:latin typeface="+mj-lt"/>
                <a:ea typeface="+mj-lt"/>
                <a:cs typeface="微软雅黑" panose="020B0503020204020204" charset="-122"/>
              </a:rPr>
              <a:t>模块二：客户交互</a:t>
            </a:r>
            <a:endParaRPr kumimoji="0" lang="en-US" altLang="zh-CN" sz="1000" b="1" i="0" u="none" strike="noStrike" kern="1200" cap="none" spc="0" normalizeH="0" baseline="0" noProof="0" dirty="0">
              <a:ln>
                <a:noFill/>
              </a:ln>
              <a:solidFill>
                <a:schemeClr val="tx2"/>
              </a:solidFill>
              <a:effectLst/>
              <a:uLnTx/>
              <a:uFillTx/>
              <a:latin typeface="+mj-lt"/>
              <a:ea typeface="+mj-lt"/>
              <a:cs typeface="微软雅黑" panose="020B0503020204020204" charset="-122"/>
            </a:endParaRPr>
          </a:p>
        </p:txBody>
      </p:sp>
      <p:sp>
        <p:nvSpPr>
          <p:cNvPr id="34" name="文本框 33"/>
          <p:cNvSpPr txBox="1"/>
          <p:nvPr>
            <p:custDataLst>
              <p:tags r:id="rId9"/>
            </p:custDataLst>
          </p:nvPr>
        </p:nvSpPr>
        <p:spPr>
          <a:xfrm>
            <a:off x="723373" y="3938125"/>
            <a:ext cx="2046131" cy="875030"/>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mj-lt"/>
                <a:ea typeface="+mj-lt"/>
                <a:cs typeface="+mj-lt"/>
              </a:rPr>
              <a:t>将洞察转化为实际体验的过程，核心在于</a:t>
            </a:r>
            <a:r>
              <a:rPr kumimoji="0" lang="en-US" altLang="zh-CN" sz="1000" b="0" i="0" u="none" strike="noStrike" kern="1200" cap="none" spc="0" normalizeH="0" baseline="0" noProof="0" dirty="0">
                <a:ln>
                  <a:noFill/>
                </a:ln>
                <a:solidFill>
                  <a:schemeClr val="tx2"/>
                </a:solidFill>
                <a:effectLst/>
                <a:uLnTx/>
                <a:uFillTx/>
                <a:latin typeface="+mj-lt"/>
                <a:ea typeface="+mj-lt"/>
                <a:cs typeface="+mj-lt"/>
              </a:rPr>
              <a:t>“</a:t>
            </a:r>
            <a:r>
              <a:rPr kumimoji="0" lang="zh-CN" altLang="en-US" sz="1000" b="0" i="0" u="none" strike="noStrike" kern="1200" cap="none" spc="0" normalizeH="0" baseline="0" noProof="0" dirty="0">
                <a:ln>
                  <a:noFill/>
                </a:ln>
                <a:solidFill>
                  <a:schemeClr val="tx2"/>
                </a:solidFill>
                <a:effectLst/>
                <a:uLnTx/>
                <a:uFillTx/>
                <a:latin typeface="+mj-lt"/>
                <a:ea typeface="+mj-lt"/>
                <a:cs typeface="+mj-lt"/>
              </a:rPr>
              <a:t>连接与服务</a:t>
            </a:r>
            <a:r>
              <a:rPr kumimoji="0" lang="en-US" altLang="zh-CN" sz="1000" b="0" i="0" u="none" strike="noStrike" kern="1200" cap="none" spc="0" normalizeH="0" baseline="0" noProof="0" dirty="0">
                <a:ln>
                  <a:noFill/>
                </a:ln>
                <a:solidFill>
                  <a:schemeClr val="tx2"/>
                </a:solidFill>
                <a:effectLst/>
                <a:uLnTx/>
                <a:uFillTx/>
                <a:latin typeface="+mj-lt"/>
                <a:ea typeface="+mj-lt"/>
                <a:cs typeface="+mj-lt"/>
              </a:rPr>
              <a:t>”</a:t>
            </a:r>
            <a:r>
              <a:rPr kumimoji="0" lang="zh-CN" altLang="en-US" sz="1000" b="0" i="0" u="none" strike="noStrike" kern="1200" cap="none" spc="0" normalizeH="0" baseline="0" noProof="0" dirty="0">
                <a:ln>
                  <a:noFill/>
                </a:ln>
                <a:solidFill>
                  <a:schemeClr val="tx2"/>
                </a:solidFill>
                <a:effectLst/>
                <a:uLnTx/>
                <a:uFillTx/>
                <a:latin typeface="+mj-lt"/>
                <a:ea typeface="+mj-lt"/>
                <a:cs typeface="+mj-lt"/>
              </a:rPr>
              <a:t>。它涵盖了客户从认知、购买到使用、求助的全部触点，线上线下全渠道布局，确保体验的一致性。</a:t>
            </a:r>
            <a:endParaRPr kumimoji="0" lang="zh-CN" altLang="en-US" sz="1000" b="0" i="0" u="none" strike="noStrike" kern="1200" cap="none" spc="0" normalizeH="0" baseline="0" noProof="0" dirty="0">
              <a:ln>
                <a:noFill/>
              </a:ln>
              <a:solidFill>
                <a:schemeClr val="tx2"/>
              </a:solidFill>
              <a:effectLst/>
              <a:uLnTx/>
              <a:uFillTx/>
              <a:latin typeface="+mj-lt"/>
              <a:ea typeface="+mj-lt"/>
              <a:cs typeface="+mj-lt"/>
            </a:endParaRPr>
          </a:p>
        </p:txBody>
      </p:sp>
      <p:sp>
        <p:nvSpPr>
          <p:cNvPr id="35" name="文本框 34"/>
          <p:cNvSpPr txBox="1"/>
          <p:nvPr>
            <p:custDataLst>
              <p:tags r:id="rId10"/>
            </p:custDataLst>
          </p:nvPr>
        </p:nvSpPr>
        <p:spPr>
          <a:xfrm>
            <a:off x="769491" y="5120640"/>
            <a:ext cx="1953895" cy="174625"/>
          </a:xfrm>
          <a:prstGeom prst="rect">
            <a:avLst/>
          </a:prstGeom>
          <a:noFill/>
        </p:spPr>
        <p:txBody>
          <a:bodyPr wrap="square" lIns="0" tIns="0" rIns="0" bIns="0" rtlCol="0">
            <a:spAutoFit/>
          </a:body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zh-CN" altLang="en-US" sz="1000" b="1" i="0" u="none" strike="noStrike" kern="1200" cap="none" spc="0" normalizeH="0" baseline="0" noProof="0" dirty="0">
                <a:ln>
                  <a:noFill/>
                </a:ln>
                <a:solidFill>
                  <a:schemeClr val="tx2"/>
                </a:solidFill>
                <a:effectLst/>
                <a:uLnTx/>
                <a:uFillTx/>
                <a:latin typeface="+mj-lt"/>
                <a:ea typeface="+mj-lt"/>
                <a:cs typeface="微软雅黑" panose="020B0503020204020204" charset="-122"/>
              </a:rPr>
              <a:t>模块三：客户资产</a:t>
            </a:r>
            <a:endParaRPr kumimoji="0" lang="en-US" altLang="zh-CN" sz="1000" b="1" i="0" u="none" strike="noStrike" kern="1200" cap="none" spc="0" normalizeH="0" baseline="0" noProof="0" dirty="0">
              <a:ln>
                <a:noFill/>
              </a:ln>
              <a:solidFill>
                <a:schemeClr val="tx2"/>
              </a:solidFill>
              <a:effectLst/>
              <a:uLnTx/>
              <a:uFillTx/>
              <a:latin typeface="+mj-lt"/>
              <a:ea typeface="+mj-lt"/>
              <a:cs typeface="微软雅黑" panose="020B0503020204020204" charset="-122"/>
            </a:endParaRPr>
          </a:p>
        </p:txBody>
      </p:sp>
      <p:sp>
        <p:nvSpPr>
          <p:cNvPr id="37" name="文本框 36"/>
          <p:cNvSpPr txBox="1"/>
          <p:nvPr>
            <p:custDataLst>
              <p:tags r:id="rId11"/>
            </p:custDataLst>
          </p:nvPr>
        </p:nvSpPr>
        <p:spPr>
          <a:xfrm>
            <a:off x="723373" y="5363065"/>
            <a:ext cx="2046131" cy="875030"/>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mj-lt"/>
                <a:ea typeface="+mj-lt"/>
                <a:cs typeface="+mj-lt"/>
              </a:rPr>
              <a:t>设计分层级的会员体系和权益；开展老带新裂变活动；建立</a:t>
            </a:r>
            <a:r>
              <a:rPr kumimoji="0" lang="en-US" altLang="zh-CN" sz="1000" b="0" i="0" u="none" strike="noStrike" kern="1200" cap="none" spc="0" normalizeH="0" baseline="0" noProof="0" dirty="0">
                <a:ln>
                  <a:noFill/>
                </a:ln>
                <a:solidFill>
                  <a:schemeClr val="tx2"/>
                </a:solidFill>
                <a:effectLst/>
                <a:uLnTx/>
                <a:uFillTx/>
                <a:latin typeface="+mj-lt"/>
                <a:ea typeface="+mj-lt"/>
                <a:cs typeface="+mj-lt"/>
              </a:rPr>
              <a:t>NPS</a:t>
            </a:r>
            <a:r>
              <a:rPr kumimoji="0" lang="zh-CN" altLang="en-US" sz="1000" b="0" i="0" u="none" strike="noStrike" kern="1200" cap="none" spc="0" normalizeH="0" baseline="0" noProof="0" dirty="0">
                <a:ln>
                  <a:noFill/>
                </a:ln>
                <a:solidFill>
                  <a:schemeClr val="tx2"/>
                </a:solidFill>
                <a:effectLst/>
                <a:uLnTx/>
                <a:uFillTx/>
                <a:latin typeface="+mj-lt"/>
                <a:ea typeface="+mj-lt"/>
                <a:cs typeface="+mj-lt"/>
              </a:rPr>
              <a:t>（净推荐值）监测机制，并将客户反馈闭环至业务改进中；鼓励</a:t>
            </a:r>
            <a:r>
              <a:rPr kumimoji="0" lang="en-US" altLang="zh-CN" sz="1000" b="0" i="0" u="none" strike="noStrike" kern="1200" cap="none" spc="0" normalizeH="0" baseline="0" noProof="0" dirty="0">
                <a:ln>
                  <a:noFill/>
                </a:ln>
                <a:solidFill>
                  <a:schemeClr val="tx2"/>
                </a:solidFill>
                <a:effectLst/>
                <a:uLnTx/>
                <a:uFillTx/>
                <a:latin typeface="+mj-lt"/>
                <a:ea typeface="+mj-lt"/>
                <a:cs typeface="+mj-lt"/>
              </a:rPr>
              <a:t>UGC</a:t>
            </a:r>
            <a:r>
              <a:rPr kumimoji="0" lang="zh-CN" altLang="en-US" sz="1000" b="0" i="0" u="none" strike="noStrike" kern="1200" cap="none" spc="0" normalizeH="0" baseline="0" noProof="0" dirty="0">
                <a:ln>
                  <a:noFill/>
                </a:ln>
                <a:solidFill>
                  <a:schemeClr val="tx2"/>
                </a:solidFill>
                <a:effectLst/>
                <a:uLnTx/>
                <a:uFillTx/>
                <a:latin typeface="+mj-lt"/>
                <a:ea typeface="+mj-lt"/>
                <a:cs typeface="+mj-lt"/>
              </a:rPr>
              <a:t>（用户原创内容）和口碑传播。</a:t>
            </a:r>
            <a:endParaRPr kumimoji="0" lang="zh-CN" altLang="en-US" sz="1000" b="0" i="0" u="none" strike="noStrike" kern="1200" cap="none" spc="0" normalizeH="0" baseline="0" noProof="0" dirty="0">
              <a:ln>
                <a:noFill/>
              </a:ln>
              <a:solidFill>
                <a:schemeClr val="tx2"/>
              </a:solidFill>
              <a:effectLst/>
              <a:uLnTx/>
              <a:uFillTx/>
              <a:latin typeface="+mj-lt"/>
              <a:ea typeface="+mj-lt"/>
              <a:cs typeface="+mj-lt"/>
            </a:endParaRPr>
          </a:p>
        </p:txBody>
      </p:sp>
      <p:sp>
        <p:nvSpPr>
          <p:cNvPr id="38" name="矩形 37"/>
          <p:cNvSpPr/>
          <p:nvPr/>
        </p:nvSpPr>
        <p:spPr>
          <a:xfrm>
            <a:off x="9306560" y="1749425"/>
            <a:ext cx="2433320" cy="2120900"/>
          </a:xfrm>
          <a:prstGeom prst="rect">
            <a:avLst/>
          </a:prstGeom>
          <a:solidFill>
            <a:schemeClr val="accent1">
              <a:lumMod val="20000"/>
              <a:lumOff val="80000"/>
              <a:alpha val="4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mj-lt"/>
              <a:ea typeface="+mj-lt"/>
              <a:cs typeface="微软雅黑" panose="020B0503020204020204" charset="-122"/>
            </a:endParaRPr>
          </a:p>
        </p:txBody>
      </p:sp>
      <p:sp>
        <p:nvSpPr>
          <p:cNvPr id="39" name="矩形 38"/>
          <p:cNvSpPr/>
          <p:nvPr/>
        </p:nvSpPr>
        <p:spPr>
          <a:xfrm>
            <a:off x="9306412" y="1269944"/>
            <a:ext cx="2431389" cy="668733"/>
          </a:xfrm>
          <a:prstGeom prst="rect">
            <a:avLst/>
          </a:prstGeom>
          <a:gradFill>
            <a:gsLst>
              <a:gs pos="0">
                <a:schemeClr val="accent1"/>
              </a:gs>
              <a:gs pos="100000">
                <a:schemeClr val="accent1">
                  <a:lumMod val="60000"/>
                  <a:lumOff val="40000"/>
                </a:schemeClr>
              </a:gs>
            </a:gsLst>
            <a:lin ang="0" scaled="0"/>
          </a:gradFill>
          <a:ln w="38100" cap="flat" cmpd="sng" algn="ctr">
            <a:noFill/>
            <a:prstDash val="solid"/>
            <a:miter lim="800000"/>
          </a:ln>
          <a:effectLst/>
        </p:spPr>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45" b="0" i="0" u="none" strike="noStrike" kern="0" cap="none" spc="0" normalizeH="0" baseline="0" noProof="0">
              <a:ln>
                <a:noFill/>
              </a:ln>
              <a:solidFill>
                <a:srgbClr val="FFFFFF"/>
              </a:solidFill>
              <a:effectLst>
                <a:outerShdw blurRad="137160" dist="41148" dir="2699997" algn="tl">
                  <a:srgbClr val="000000">
                    <a:alpha val="40000"/>
                  </a:srgbClr>
                </a:outerShdw>
              </a:effectLst>
              <a:uLnTx/>
              <a:uFillTx/>
              <a:latin typeface="+mj-lt"/>
              <a:ea typeface="+mj-lt"/>
              <a:cs typeface="微软雅黑" panose="020B0503020204020204" charset="-122"/>
            </a:endParaRPr>
          </a:p>
        </p:txBody>
      </p:sp>
      <p:sp>
        <p:nvSpPr>
          <p:cNvPr id="40" name="文本框 39"/>
          <p:cNvSpPr txBox="1"/>
          <p:nvPr/>
        </p:nvSpPr>
        <p:spPr>
          <a:xfrm>
            <a:off x="9559290" y="1404620"/>
            <a:ext cx="1209675" cy="398780"/>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2"/>
                </a:solidFill>
                <a:effectLst/>
                <a:uLnTx/>
                <a:uFillTx/>
                <a:latin typeface="+mj-lt"/>
                <a:ea typeface="+mj-lt"/>
                <a:cs typeface="微软雅黑" panose="020B0503020204020204" charset="-122"/>
              </a:rPr>
              <a:t>业务环</a:t>
            </a:r>
            <a:endParaRPr kumimoji="0" lang="zh-CN" altLang="en-US" sz="2000" b="1" i="0" u="none" strike="noStrike" kern="1200" cap="none" spc="0" normalizeH="0" baseline="0" noProof="0" dirty="0">
              <a:ln>
                <a:noFill/>
              </a:ln>
              <a:solidFill>
                <a:schemeClr val="bg2"/>
              </a:solidFill>
              <a:effectLst/>
              <a:uLnTx/>
              <a:uFillTx/>
              <a:latin typeface="+mj-lt"/>
              <a:ea typeface="+mj-lt"/>
              <a:cs typeface="微软雅黑" panose="020B0503020204020204" charset="-122"/>
            </a:endParaRPr>
          </a:p>
        </p:txBody>
      </p:sp>
      <p:sp>
        <p:nvSpPr>
          <p:cNvPr id="41" name="矩形 40"/>
          <p:cNvSpPr/>
          <p:nvPr/>
        </p:nvSpPr>
        <p:spPr>
          <a:xfrm>
            <a:off x="10861180" y="1336658"/>
            <a:ext cx="652780" cy="553085"/>
          </a:xfrm>
          <a:prstGeom prst="rect">
            <a:avLst/>
          </a:prstGeom>
        </p:spPr>
        <p:txBody>
          <a:bodyPr wrap="none">
            <a:spAutoFit/>
          </a:bodyPr>
          <a:lstStyle/>
          <a:p>
            <a:r>
              <a:rPr kumimoji="1" lang="en-US" altLang="zh-CN" sz="3000" b="1" dirty="0">
                <a:gradFill>
                  <a:gsLst>
                    <a:gs pos="0">
                      <a:schemeClr val="bg2">
                        <a:alpha val="0"/>
                      </a:schemeClr>
                    </a:gs>
                    <a:gs pos="91000">
                      <a:schemeClr val="bg1"/>
                    </a:gs>
                  </a:gsLst>
                  <a:lin ang="16200000" scaled="0"/>
                </a:gradFill>
                <a:latin typeface="+mj-lt"/>
                <a:ea typeface="+mj-lt"/>
                <a:cs typeface="微软雅黑" panose="020B0503020204020204" charset="-122"/>
              </a:rPr>
              <a:t>02</a:t>
            </a:r>
            <a:endParaRPr kumimoji="1" lang="en-US" altLang="zh-CN" sz="3000" b="1" dirty="0">
              <a:gradFill>
                <a:gsLst>
                  <a:gs pos="0">
                    <a:schemeClr val="bg2">
                      <a:alpha val="0"/>
                    </a:schemeClr>
                  </a:gs>
                  <a:gs pos="91000">
                    <a:schemeClr val="bg1"/>
                  </a:gs>
                </a:gsLst>
                <a:lin ang="16200000" scaled="0"/>
              </a:gradFill>
              <a:latin typeface="+mj-lt"/>
              <a:ea typeface="+mj-lt"/>
              <a:cs typeface="微软雅黑" panose="020B0503020204020204" charset="-122"/>
            </a:endParaRPr>
          </a:p>
        </p:txBody>
      </p:sp>
      <p:sp>
        <p:nvSpPr>
          <p:cNvPr id="50" name="矩形 49"/>
          <p:cNvSpPr/>
          <p:nvPr/>
        </p:nvSpPr>
        <p:spPr>
          <a:xfrm>
            <a:off x="9304655" y="4570095"/>
            <a:ext cx="2433320" cy="2120900"/>
          </a:xfrm>
          <a:prstGeom prst="rect">
            <a:avLst/>
          </a:prstGeom>
          <a:solidFill>
            <a:schemeClr val="accent1">
              <a:lumMod val="20000"/>
              <a:lumOff val="80000"/>
              <a:alpha val="40000"/>
            </a:schemeClr>
          </a:solidFill>
          <a:ln w="9525">
            <a:no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lang="zh-CN" altLang="en-US" noProof="0">
              <a:ln>
                <a:noFill/>
              </a:ln>
              <a:solidFill>
                <a:srgbClr val="FFFFFF"/>
              </a:solidFill>
              <a:effectLst/>
              <a:uLnTx/>
              <a:uFillTx/>
              <a:latin typeface="+mj-lt"/>
              <a:ea typeface="+mj-lt"/>
              <a:cs typeface="微软雅黑" panose="020B0503020204020204" charset="-122"/>
              <a:sym typeface="+mn-ea"/>
            </a:endParaRPr>
          </a:p>
        </p:txBody>
      </p:sp>
      <p:sp>
        <p:nvSpPr>
          <p:cNvPr id="51" name="矩形 50"/>
          <p:cNvSpPr/>
          <p:nvPr/>
        </p:nvSpPr>
        <p:spPr>
          <a:xfrm>
            <a:off x="9304507" y="4090614"/>
            <a:ext cx="2431389" cy="668733"/>
          </a:xfrm>
          <a:prstGeom prst="rect">
            <a:avLst/>
          </a:prstGeom>
          <a:gradFill>
            <a:gsLst>
              <a:gs pos="0">
                <a:schemeClr val="accent1"/>
              </a:gs>
              <a:gs pos="100000">
                <a:schemeClr val="accent1">
                  <a:lumMod val="60000"/>
                  <a:lumOff val="40000"/>
                </a:schemeClr>
              </a:gs>
            </a:gsLst>
            <a:lin ang="0" scaled="0"/>
          </a:gradFill>
          <a:ln w="38100" cap="flat" cmpd="sng" algn="ctr">
            <a:noFill/>
            <a:prstDash val="solid"/>
            <a:miter lim="800000"/>
          </a:ln>
          <a:effectLst/>
        </p:spPr>
        <p:txBody>
          <a:bodyPr lIns="98755" tIns="49378" rIns="98755" bIns="49378" rtlCol="0" anchor="ctr">
            <a:noAutofit/>
          </a:bodyPr>
          <a:lstStyle/>
          <a:p>
            <a:pPr lvl="0" algn="ctr">
              <a:spcBef>
                <a:spcPts val="0"/>
              </a:spcBef>
              <a:spcAft>
                <a:spcPts val="0"/>
              </a:spcAft>
              <a:buClrTx/>
              <a:buSzTx/>
              <a:buFontTx/>
              <a:defRPr/>
            </a:pPr>
            <a:endParaRPr lang="zh-CN" altLang="en-US" sz="1945" kern="0" noProof="0">
              <a:ln>
                <a:noFill/>
              </a:ln>
              <a:solidFill>
                <a:srgbClr val="FFFFFF"/>
              </a:solidFill>
              <a:effectLst>
                <a:outerShdw blurRad="137160" dist="41148" dir="2699997" algn="tl">
                  <a:srgbClr val="000000">
                    <a:alpha val="40000"/>
                  </a:srgbClr>
                </a:outerShdw>
              </a:effectLst>
              <a:uLnTx/>
              <a:uFillTx/>
              <a:latin typeface="+mj-lt"/>
              <a:ea typeface="+mj-lt"/>
              <a:cs typeface="微软雅黑" panose="020B0503020204020204" charset="-122"/>
              <a:sym typeface="+mn-ea"/>
            </a:endParaRPr>
          </a:p>
        </p:txBody>
      </p:sp>
      <p:sp>
        <p:nvSpPr>
          <p:cNvPr id="52" name="文本框 51"/>
          <p:cNvSpPr txBox="1"/>
          <p:nvPr/>
        </p:nvSpPr>
        <p:spPr>
          <a:xfrm>
            <a:off x="9557385" y="4225290"/>
            <a:ext cx="1209675" cy="398780"/>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schemeClr val="bg2"/>
                </a:solidFill>
                <a:effectLst/>
                <a:uLnTx/>
                <a:uFillTx/>
                <a:latin typeface="+mj-lt"/>
                <a:ea typeface="+mj-lt"/>
                <a:cs typeface="微软雅黑" panose="020B0503020204020204" charset="-122"/>
              </a:rPr>
              <a:t>管理环</a:t>
            </a:r>
            <a:endParaRPr kumimoji="0" lang="zh-CN" altLang="en-US" sz="2000" b="1" i="0" u="none" strike="noStrike" kern="1200" cap="none" spc="0" normalizeH="0" baseline="0" noProof="0" dirty="0">
              <a:ln>
                <a:noFill/>
              </a:ln>
              <a:solidFill>
                <a:schemeClr val="bg2"/>
              </a:solidFill>
              <a:effectLst/>
              <a:uLnTx/>
              <a:uFillTx/>
              <a:latin typeface="+mj-lt"/>
              <a:ea typeface="+mj-lt"/>
              <a:cs typeface="微软雅黑" panose="020B0503020204020204" charset="-122"/>
            </a:endParaRPr>
          </a:p>
        </p:txBody>
      </p:sp>
      <p:sp>
        <p:nvSpPr>
          <p:cNvPr id="53" name="矩形 52"/>
          <p:cNvSpPr/>
          <p:nvPr/>
        </p:nvSpPr>
        <p:spPr>
          <a:xfrm>
            <a:off x="10859275" y="4157328"/>
            <a:ext cx="652780" cy="553085"/>
          </a:xfrm>
          <a:prstGeom prst="rect">
            <a:avLst/>
          </a:prstGeom>
        </p:spPr>
        <p:txBody>
          <a:bodyPr wrap="none">
            <a:spAutoFit/>
          </a:bodyPr>
          <a:lstStyle/>
          <a:p>
            <a:r>
              <a:rPr kumimoji="1" lang="en-US" altLang="zh-CN" sz="3000" b="1" dirty="0">
                <a:gradFill>
                  <a:gsLst>
                    <a:gs pos="0">
                      <a:schemeClr val="bg2">
                        <a:alpha val="0"/>
                      </a:schemeClr>
                    </a:gs>
                    <a:gs pos="91000">
                      <a:schemeClr val="bg1"/>
                    </a:gs>
                  </a:gsLst>
                  <a:lin ang="16200000" scaled="0"/>
                </a:gradFill>
                <a:latin typeface="+mj-lt"/>
                <a:ea typeface="+mj-lt"/>
                <a:cs typeface="微软雅黑" panose="020B0503020204020204" charset="-122"/>
              </a:rPr>
              <a:t>03</a:t>
            </a:r>
            <a:endParaRPr kumimoji="1" lang="en-US" altLang="zh-CN" sz="3000" b="1" dirty="0">
              <a:gradFill>
                <a:gsLst>
                  <a:gs pos="0">
                    <a:schemeClr val="bg2">
                      <a:alpha val="0"/>
                    </a:schemeClr>
                  </a:gs>
                  <a:gs pos="91000">
                    <a:schemeClr val="bg1"/>
                  </a:gs>
                </a:gsLst>
                <a:lin ang="16200000" scaled="0"/>
              </a:gradFill>
              <a:latin typeface="+mj-lt"/>
              <a:ea typeface="+mj-lt"/>
              <a:cs typeface="微软雅黑" panose="020B0503020204020204" charset="-122"/>
            </a:endParaRPr>
          </a:p>
        </p:txBody>
      </p:sp>
      <p:sp>
        <p:nvSpPr>
          <p:cNvPr id="54" name="文本框 53"/>
          <p:cNvSpPr txBox="1"/>
          <p:nvPr/>
        </p:nvSpPr>
        <p:spPr>
          <a:xfrm>
            <a:off x="9467958" y="2099800"/>
            <a:ext cx="2046131" cy="1615440"/>
          </a:xfrm>
          <a:prstGeom prst="rect">
            <a:avLst/>
          </a:prstGeom>
          <a:noFill/>
        </p:spPr>
        <p:txBody>
          <a:bodyPr wrap="square" lIns="0" tIns="0" rIns="0" bIns="0" rtlCol="0">
            <a:spAutoFit/>
          </a:bodyPr>
          <a:lstStyle/>
          <a:p>
            <a:pPr marL="171450" marR="0" lvl="0" indent="-171450" algn="l" defTabSz="914400" rtl="0" fontAlgn="auto">
              <a:lnSpc>
                <a:spcPts val="1400"/>
              </a:lnSpc>
              <a:spcBef>
                <a:spcPts val="0"/>
              </a:spcBef>
              <a:spcAft>
                <a:spcPts val="0"/>
              </a:spcAft>
              <a:buClrTx/>
              <a:buSzTx/>
              <a:buFont typeface="Wingdings" panose="05000000000000000000" charset="0"/>
              <a:buChar char="l"/>
              <a:defRPr/>
            </a:pPr>
            <a:r>
              <a:rPr kumimoji="0" lang="zh-CN" altLang="en-US" sz="1000" b="0" i="0" u="none" strike="noStrike" kern="1200" cap="none" spc="0" normalizeH="0" baseline="0" noProof="0" dirty="0">
                <a:ln>
                  <a:noFill/>
                </a:ln>
                <a:solidFill>
                  <a:schemeClr val="tx2"/>
                </a:solidFill>
                <a:effectLst/>
                <a:uLnTx/>
                <a:uFillTx/>
                <a:latin typeface="+mj-lt"/>
                <a:ea typeface="+mj-lt"/>
                <a:cs typeface="+mj-lt"/>
              </a:rPr>
              <a:t>业务环涵盖产品、服务、渠道、营销等环节，是将客户需求转化为实际交付的过程。运营需优化业务组合，提升产品竞争力，拓展触达渠道，并通过数据驱动决策，实现精准营销与高效转化。</a:t>
            </a:r>
            <a:endParaRPr kumimoji="0" lang="zh-CN" altLang="en-US" sz="1000" b="0" i="0" u="none" strike="noStrike" kern="1200" cap="none" spc="0" normalizeH="0" baseline="0" noProof="0" dirty="0">
              <a:ln>
                <a:noFill/>
              </a:ln>
              <a:solidFill>
                <a:schemeClr val="tx2"/>
              </a:solidFill>
              <a:effectLst/>
              <a:uLnTx/>
              <a:uFillTx/>
              <a:latin typeface="+mj-lt"/>
              <a:ea typeface="+mj-lt"/>
              <a:cs typeface="+mj-lt"/>
            </a:endParaRPr>
          </a:p>
          <a:p>
            <a:pPr marL="171450" marR="0" lvl="0" indent="-171450" algn="l" defTabSz="914400" rtl="0" fontAlgn="auto">
              <a:lnSpc>
                <a:spcPts val="1400"/>
              </a:lnSpc>
              <a:spcBef>
                <a:spcPts val="0"/>
              </a:spcBef>
              <a:spcAft>
                <a:spcPts val="0"/>
              </a:spcAft>
              <a:buClrTx/>
              <a:buSzTx/>
              <a:buFont typeface="Wingdings" panose="05000000000000000000" charset="0"/>
              <a:buChar char="l"/>
              <a:defRPr/>
            </a:pPr>
            <a:r>
              <a:rPr kumimoji="0" lang="zh-CN" altLang="en-US" sz="1000" b="0" i="0" u="none" strike="noStrike" kern="1200" cap="none" spc="0" normalizeH="0" baseline="0" noProof="0" dirty="0">
                <a:ln>
                  <a:noFill/>
                </a:ln>
                <a:solidFill>
                  <a:schemeClr val="tx2"/>
                </a:solidFill>
                <a:effectLst/>
                <a:uLnTx/>
                <a:uFillTx/>
                <a:latin typeface="+mj-lt"/>
                <a:ea typeface="+mj-lt"/>
                <a:cs typeface="+mj-lt"/>
              </a:rPr>
              <a:t>业务环的核心是</a:t>
            </a:r>
            <a:r>
              <a:rPr kumimoji="0" lang="en-US" altLang="zh-CN" sz="1000" b="0" i="0" u="none" strike="noStrike" kern="1200" cap="none" spc="0" normalizeH="0" baseline="0" noProof="0" dirty="0">
                <a:ln>
                  <a:noFill/>
                </a:ln>
                <a:solidFill>
                  <a:schemeClr val="tx2"/>
                </a:solidFill>
                <a:effectLst/>
                <a:uLnTx/>
                <a:uFillTx/>
                <a:latin typeface="+mj-lt"/>
                <a:ea typeface="+mj-lt"/>
                <a:cs typeface="+mj-lt"/>
              </a:rPr>
              <a:t>“</a:t>
            </a:r>
            <a:r>
              <a:rPr kumimoji="0" lang="zh-CN" altLang="en-US" sz="1000" b="0" i="0" u="none" strike="noStrike" kern="1200" cap="none" spc="0" normalizeH="0" baseline="0" noProof="0" dirty="0">
                <a:ln>
                  <a:noFill/>
                </a:ln>
                <a:solidFill>
                  <a:schemeClr val="tx2"/>
                </a:solidFill>
                <a:effectLst/>
                <a:uLnTx/>
                <a:uFillTx/>
                <a:latin typeface="+mj-lt"/>
                <a:ea typeface="+mj-lt"/>
                <a:cs typeface="+mj-lt"/>
              </a:rPr>
              <a:t>创新</a:t>
            </a:r>
            <a:r>
              <a:rPr kumimoji="0" lang="en-US" altLang="zh-CN" sz="1000" b="0" i="0" u="none" strike="noStrike" kern="1200" cap="none" spc="0" normalizeH="0" baseline="0" noProof="0" dirty="0">
                <a:ln>
                  <a:noFill/>
                </a:ln>
                <a:solidFill>
                  <a:schemeClr val="tx2"/>
                </a:solidFill>
                <a:effectLst/>
                <a:uLnTx/>
                <a:uFillTx/>
                <a:latin typeface="+mj-lt"/>
                <a:ea typeface="+mj-lt"/>
                <a:cs typeface="+mj-lt"/>
              </a:rPr>
              <a:t>-</a:t>
            </a:r>
            <a:r>
              <a:rPr kumimoji="0" lang="zh-CN" altLang="en-US" sz="1000" b="0" i="0" u="none" strike="noStrike" kern="1200" cap="none" spc="0" normalizeH="0" baseline="0" noProof="0" dirty="0">
                <a:ln>
                  <a:noFill/>
                </a:ln>
                <a:solidFill>
                  <a:schemeClr val="tx2"/>
                </a:solidFill>
                <a:effectLst/>
                <a:uLnTx/>
                <a:uFillTx/>
                <a:latin typeface="+mj-lt"/>
                <a:ea typeface="+mj-lt"/>
                <a:cs typeface="+mj-lt"/>
              </a:rPr>
              <a:t>执行</a:t>
            </a:r>
            <a:r>
              <a:rPr kumimoji="0" lang="en-US" altLang="zh-CN" sz="1000" b="0" i="0" u="none" strike="noStrike" kern="1200" cap="none" spc="0" normalizeH="0" baseline="0" noProof="0" dirty="0">
                <a:ln>
                  <a:noFill/>
                </a:ln>
                <a:solidFill>
                  <a:schemeClr val="tx2"/>
                </a:solidFill>
                <a:effectLst/>
                <a:uLnTx/>
                <a:uFillTx/>
                <a:latin typeface="+mj-lt"/>
                <a:ea typeface="+mj-lt"/>
                <a:cs typeface="+mj-lt"/>
              </a:rPr>
              <a:t>”</a:t>
            </a:r>
            <a:r>
              <a:rPr kumimoji="0" lang="zh-CN" altLang="en-US" sz="1000" b="0" i="0" u="none" strike="noStrike" kern="1200" cap="none" spc="0" normalizeH="0" baseline="0" noProof="0" dirty="0">
                <a:ln>
                  <a:noFill/>
                </a:ln>
                <a:solidFill>
                  <a:schemeClr val="tx2"/>
                </a:solidFill>
                <a:effectLst/>
                <a:uLnTx/>
                <a:uFillTx/>
                <a:latin typeface="+mj-lt"/>
                <a:ea typeface="+mj-lt"/>
                <a:cs typeface="+mj-lt"/>
              </a:rPr>
              <a:t>，即不断迭代业务模式，同时确保落地效率。</a:t>
            </a:r>
            <a:endParaRPr kumimoji="0" lang="zh-CN" altLang="en-US" sz="1000" b="0" i="0" u="none" strike="noStrike" kern="1200" cap="none" spc="0" normalizeH="0" baseline="0" noProof="0" dirty="0">
              <a:ln>
                <a:noFill/>
              </a:ln>
              <a:solidFill>
                <a:schemeClr val="tx2"/>
              </a:solidFill>
              <a:effectLst/>
              <a:uLnTx/>
              <a:uFillTx/>
              <a:latin typeface="+mj-lt"/>
              <a:ea typeface="+mj-lt"/>
              <a:cs typeface="+mj-lt"/>
            </a:endParaRPr>
          </a:p>
        </p:txBody>
      </p:sp>
      <p:sp>
        <p:nvSpPr>
          <p:cNvPr id="55" name="文本框 54"/>
          <p:cNvSpPr txBox="1"/>
          <p:nvPr/>
        </p:nvSpPr>
        <p:spPr>
          <a:xfrm>
            <a:off x="9467958" y="4911580"/>
            <a:ext cx="2046131" cy="1615440"/>
          </a:xfrm>
          <a:prstGeom prst="rect">
            <a:avLst/>
          </a:prstGeom>
          <a:noFill/>
        </p:spPr>
        <p:txBody>
          <a:bodyPr wrap="square" lIns="0" tIns="0" rIns="0" bIns="0" rtlCol="0">
            <a:spAutoFit/>
          </a:bodyPr>
          <a:lstStyle/>
          <a:p>
            <a:pPr marL="171450" marR="0" lvl="0" indent="-171450" algn="l" defTabSz="914400" rtl="0" fontAlgn="auto">
              <a:lnSpc>
                <a:spcPts val="1400"/>
              </a:lnSpc>
              <a:spcBef>
                <a:spcPts val="0"/>
              </a:spcBef>
              <a:spcAft>
                <a:spcPts val="0"/>
              </a:spcAft>
              <a:buClrTx/>
              <a:buSzTx/>
              <a:buFont typeface="Wingdings" panose="05000000000000000000" charset="0"/>
              <a:buChar char="l"/>
              <a:defRPr/>
            </a:pPr>
            <a:r>
              <a:rPr kumimoji="0" lang="zh-CN" altLang="en-US" sz="1000" b="0" i="0" u="none" strike="noStrike" kern="1200" cap="none" spc="0" normalizeH="0" baseline="0" noProof="0" dirty="0">
                <a:ln>
                  <a:noFill/>
                </a:ln>
                <a:solidFill>
                  <a:schemeClr val="tx2"/>
                </a:solidFill>
                <a:effectLst/>
                <a:uLnTx/>
                <a:uFillTx/>
                <a:latin typeface="+mj-lt"/>
                <a:ea typeface="+mj-lt"/>
                <a:cs typeface="+mj-lt"/>
              </a:rPr>
              <a:t>管理环包括组织、流程、资源、绩效等支撑体系，为业务运营提供稳定保障。运营需建立敏捷的组织架构，优化流程效率，合理配置资源，并通过数字化工具提升管理透明度。</a:t>
            </a:r>
            <a:endParaRPr kumimoji="0" lang="zh-CN" altLang="en-US" sz="1000" b="0" i="0" u="none" strike="noStrike" kern="1200" cap="none" spc="0" normalizeH="0" baseline="0" noProof="0" dirty="0">
              <a:ln>
                <a:noFill/>
              </a:ln>
              <a:solidFill>
                <a:schemeClr val="tx2"/>
              </a:solidFill>
              <a:effectLst/>
              <a:uLnTx/>
              <a:uFillTx/>
              <a:latin typeface="+mj-lt"/>
              <a:ea typeface="+mj-lt"/>
              <a:cs typeface="+mj-lt"/>
            </a:endParaRPr>
          </a:p>
          <a:p>
            <a:pPr marL="171450" marR="0" lvl="0" indent="-171450" algn="l" defTabSz="914400" rtl="0" fontAlgn="auto">
              <a:lnSpc>
                <a:spcPts val="1400"/>
              </a:lnSpc>
              <a:spcBef>
                <a:spcPts val="0"/>
              </a:spcBef>
              <a:spcAft>
                <a:spcPts val="0"/>
              </a:spcAft>
              <a:buClrTx/>
              <a:buSzTx/>
              <a:buFont typeface="Wingdings" panose="05000000000000000000" charset="0"/>
              <a:buChar char="l"/>
              <a:defRPr/>
            </a:pPr>
            <a:r>
              <a:rPr kumimoji="0" lang="zh-CN" altLang="en-US" sz="1000" b="0" i="0" u="none" strike="noStrike" kern="1200" cap="none" spc="0" normalizeH="0" baseline="0" noProof="0" dirty="0">
                <a:ln>
                  <a:noFill/>
                </a:ln>
                <a:solidFill>
                  <a:schemeClr val="tx2"/>
                </a:solidFill>
                <a:effectLst/>
                <a:uLnTx/>
                <a:uFillTx/>
                <a:latin typeface="+mj-lt"/>
                <a:ea typeface="+mj-lt"/>
                <a:cs typeface="+mj-lt"/>
              </a:rPr>
              <a:t>管理环的核心是</a:t>
            </a:r>
            <a:r>
              <a:rPr kumimoji="0" lang="en-US" altLang="zh-CN" sz="1000" b="0" i="0" u="none" strike="noStrike" kern="1200" cap="none" spc="0" normalizeH="0" baseline="0" noProof="0" dirty="0">
                <a:ln>
                  <a:noFill/>
                </a:ln>
                <a:solidFill>
                  <a:schemeClr val="tx2"/>
                </a:solidFill>
                <a:effectLst/>
                <a:uLnTx/>
                <a:uFillTx/>
                <a:latin typeface="+mj-lt"/>
                <a:ea typeface="+mj-lt"/>
                <a:cs typeface="+mj-lt"/>
              </a:rPr>
              <a:t>“</a:t>
            </a:r>
            <a:r>
              <a:rPr kumimoji="0" lang="zh-CN" altLang="en-US" sz="1000" b="0" i="0" u="none" strike="noStrike" kern="1200" cap="none" spc="0" normalizeH="0" baseline="0" noProof="0" dirty="0">
                <a:ln>
                  <a:noFill/>
                </a:ln>
                <a:solidFill>
                  <a:schemeClr val="tx2"/>
                </a:solidFill>
                <a:effectLst/>
                <a:uLnTx/>
                <a:uFillTx/>
                <a:latin typeface="+mj-lt"/>
                <a:ea typeface="+mj-lt"/>
                <a:cs typeface="+mj-lt"/>
              </a:rPr>
              <a:t>协同</a:t>
            </a:r>
            <a:r>
              <a:rPr kumimoji="0" lang="en-US" altLang="zh-CN" sz="1000" b="0" i="0" u="none" strike="noStrike" kern="1200" cap="none" spc="0" normalizeH="0" baseline="0" noProof="0" dirty="0">
                <a:ln>
                  <a:noFill/>
                </a:ln>
                <a:solidFill>
                  <a:schemeClr val="tx2"/>
                </a:solidFill>
                <a:effectLst/>
                <a:uLnTx/>
                <a:uFillTx/>
                <a:latin typeface="+mj-lt"/>
                <a:ea typeface="+mj-lt"/>
                <a:cs typeface="+mj-lt"/>
              </a:rPr>
              <a:t>-</a:t>
            </a:r>
            <a:r>
              <a:rPr kumimoji="0" lang="zh-CN" altLang="en-US" sz="1000" b="0" i="0" u="none" strike="noStrike" kern="1200" cap="none" spc="0" normalizeH="0" baseline="0" noProof="0" dirty="0">
                <a:ln>
                  <a:noFill/>
                </a:ln>
                <a:solidFill>
                  <a:schemeClr val="tx2"/>
                </a:solidFill>
                <a:effectLst/>
                <a:uLnTx/>
                <a:uFillTx/>
                <a:latin typeface="+mj-lt"/>
                <a:ea typeface="+mj-lt"/>
                <a:cs typeface="+mj-lt"/>
              </a:rPr>
              <a:t>优化</a:t>
            </a:r>
            <a:r>
              <a:rPr kumimoji="0" lang="en-US" altLang="zh-CN" sz="1000" b="0" i="0" u="none" strike="noStrike" kern="1200" cap="none" spc="0" normalizeH="0" baseline="0" noProof="0" dirty="0">
                <a:ln>
                  <a:noFill/>
                </a:ln>
                <a:solidFill>
                  <a:schemeClr val="tx2"/>
                </a:solidFill>
                <a:effectLst/>
                <a:uLnTx/>
                <a:uFillTx/>
                <a:latin typeface="+mj-lt"/>
                <a:ea typeface="+mj-lt"/>
                <a:cs typeface="+mj-lt"/>
              </a:rPr>
              <a:t>”</a:t>
            </a:r>
            <a:r>
              <a:rPr kumimoji="0" lang="zh-CN" altLang="en-US" sz="1000" b="0" i="0" u="none" strike="noStrike" kern="1200" cap="none" spc="0" normalizeH="0" baseline="0" noProof="0" dirty="0">
                <a:ln>
                  <a:noFill/>
                </a:ln>
                <a:solidFill>
                  <a:schemeClr val="tx2"/>
                </a:solidFill>
                <a:effectLst/>
                <a:uLnTx/>
                <a:uFillTx/>
                <a:latin typeface="+mj-lt"/>
                <a:ea typeface="+mj-lt"/>
                <a:cs typeface="+mj-lt"/>
              </a:rPr>
              <a:t>，即协调各方资源，持续改进运营效能。</a:t>
            </a:r>
            <a:endParaRPr kumimoji="0" lang="zh-CN" altLang="en-US" sz="1000" b="0" i="0" u="none" strike="noStrike" kern="1200" cap="none" spc="0" normalizeH="0" baseline="0" noProof="0" dirty="0">
              <a:ln>
                <a:noFill/>
              </a:ln>
              <a:solidFill>
                <a:schemeClr val="tx2"/>
              </a:solidFill>
              <a:effectLst/>
              <a:uLnTx/>
              <a:uFillTx/>
              <a:latin typeface="+mj-lt"/>
              <a:ea typeface="+mj-lt"/>
              <a:cs typeface="+mj-lt"/>
            </a:endParaRPr>
          </a:p>
        </p:txBody>
      </p:sp>
      <p:sp>
        <p:nvSpPr>
          <p:cNvPr id="56" name="Title 2"/>
          <p:cNvSpPr txBox="1"/>
          <p:nvPr/>
        </p:nvSpPr>
        <p:spPr>
          <a:xfrm>
            <a:off x="4785995" y="1765300"/>
            <a:ext cx="2639695" cy="1028065"/>
          </a:xfrm>
          <a:prstGeom prst="rect">
            <a:avLst/>
          </a:prstGeom>
        </p:spPr>
        <p:txBody>
          <a:bodyPr vert="horz" wrap="square" lIns="0" tIns="0" rIns="0" bIns="0" rtlCol="0" anchor="t" anchorCtr="0">
            <a:prstTxWarp prst="textArchUp">
              <a:avLst/>
            </a:prstTxWarp>
            <a:no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500" dirty="0">
                <a:solidFill>
                  <a:schemeClr val="bg1"/>
                </a:solidFill>
                <a:latin typeface="微软雅黑" panose="020B0503020204020204" charset="-122"/>
                <a:ea typeface="微软雅黑" panose="020B0503020204020204" charset="-122"/>
                <a:cs typeface="微软雅黑" panose="020B0503020204020204" charset="-122"/>
              </a:rPr>
              <a:t>三环联动：运营闭环的构建</a:t>
            </a:r>
            <a:endParaRPr lang="zh-CN" altLang="en-US" sz="15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7" name="Title 2"/>
          <p:cNvSpPr txBox="1"/>
          <p:nvPr/>
        </p:nvSpPr>
        <p:spPr>
          <a:xfrm>
            <a:off x="4785995" y="4839970"/>
            <a:ext cx="2639695" cy="1028065"/>
          </a:xfrm>
          <a:prstGeom prst="rect">
            <a:avLst/>
          </a:prstGeom>
        </p:spPr>
        <p:txBody>
          <a:bodyPr vert="horz" wrap="square" lIns="0" tIns="0" rIns="0" bIns="0" rtlCol="0" anchor="t" anchorCtr="0">
            <a:prstTxWarp prst="textArchDown">
              <a:avLst/>
            </a:prstTxWarp>
            <a:no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500" dirty="0">
                <a:solidFill>
                  <a:schemeClr val="bg1"/>
                </a:solidFill>
                <a:latin typeface="微软雅黑" panose="020B0503020204020204" charset="-122"/>
                <a:ea typeface="微软雅黑" panose="020B0503020204020204" charset="-122"/>
                <a:cs typeface="微软雅黑" panose="020B0503020204020204" charset="-122"/>
              </a:rPr>
              <a:t>相互依存，实现动态平衡</a:t>
            </a:r>
            <a:endParaRPr lang="zh-CN" altLang="en-US" sz="1500" dirty="0">
              <a:solidFill>
                <a:schemeClr val="bg1"/>
              </a:solidFill>
              <a:latin typeface="微软雅黑" panose="020B0503020204020204" charset="-122"/>
              <a:ea typeface="微软雅黑" panose="020B0503020204020204" charset="-122"/>
              <a:cs typeface="微软雅黑" panose="020B0503020204020204" charset="-122"/>
            </a:endParaRPr>
          </a:p>
        </p:txBody>
      </p:sp>
      <p:pic>
        <p:nvPicPr>
          <p:cNvPr id="58" name="图片 57" descr="客户运营"/>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5885815" y="3286125"/>
            <a:ext cx="516255" cy="516255"/>
          </a:xfrm>
          <a:prstGeom prst="rect">
            <a:avLst/>
          </a:prstGeom>
        </p:spPr>
      </p:pic>
      <p:sp>
        <p:nvSpPr>
          <p:cNvPr id="59" name="文本框 58"/>
          <p:cNvSpPr txBox="1"/>
          <p:nvPr>
            <p:custDataLst>
              <p:tags r:id="rId14"/>
            </p:custDataLst>
          </p:nvPr>
        </p:nvSpPr>
        <p:spPr>
          <a:xfrm>
            <a:off x="5210810" y="1158875"/>
            <a:ext cx="1694815" cy="245110"/>
          </a:xfrm>
          <a:prstGeom prst="rect">
            <a:avLst/>
          </a:prstGeom>
          <a:noFill/>
        </p:spPr>
        <p:txBody>
          <a:bodyPr wrap="square" lIns="0" tIns="0" rIns="0" bIns="0" rtlCol="0">
            <a:spAutoFit/>
          </a:body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1"/>
                </a:solidFill>
                <a:effectLst/>
                <a:uLnTx/>
                <a:uFillTx/>
                <a:latin typeface="+mj-lt"/>
                <a:ea typeface="+mj-lt"/>
                <a:cs typeface="微软雅黑" panose="020B0503020204020204" charset="-122"/>
              </a:rPr>
              <a:t>价值导向的核心</a:t>
            </a:r>
            <a:endParaRPr kumimoji="0" lang="zh-CN" altLang="en-US" sz="1400" b="1" i="0" u="none" strike="noStrike" kern="1200" cap="none" spc="0" normalizeH="0" baseline="0" noProof="0" dirty="0">
              <a:ln>
                <a:noFill/>
              </a:ln>
              <a:solidFill>
                <a:schemeClr val="accent1"/>
              </a:solidFill>
              <a:effectLst/>
              <a:uLnTx/>
              <a:uFillTx/>
              <a:latin typeface="+mj-lt"/>
              <a:ea typeface="+mj-lt"/>
              <a:cs typeface="微软雅黑" panose="020B0503020204020204" charset="-122"/>
            </a:endParaRPr>
          </a:p>
        </p:txBody>
      </p:sp>
      <p:sp>
        <p:nvSpPr>
          <p:cNvPr id="61" name="文本框 60"/>
          <p:cNvSpPr txBox="1"/>
          <p:nvPr/>
        </p:nvSpPr>
        <p:spPr>
          <a:xfrm>
            <a:off x="8539480" y="2818130"/>
            <a:ext cx="398145" cy="1691640"/>
          </a:xfrm>
          <a:prstGeom prst="rect">
            <a:avLst/>
          </a:prstGeom>
        </p:spPr>
        <p:txBody>
          <a:bodyPr vert="eaVert" wrap="square">
            <a:spAutoFit/>
            <a:extLst>
              <a:ext uri="{4A0BC546-FE56-4ADE-93B0-CB8AF2F6F144}">
                <wpsdc:textFrameExt xmlns:wpsdc="http://www.wps.cn/officeDocument/2022/drawingmlCustomData" type="text"/>
              </a:ext>
            </a:extLst>
          </a:bodyPr>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rPr>
              <a:t>价值创造的载体</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custDataLst>
              <p:tags r:id="rId15"/>
            </p:custDataLst>
          </p:nvPr>
        </p:nvSpPr>
        <p:spPr>
          <a:xfrm>
            <a:off x="5488940" y="6299200"/>
            <a:ext cx="1694815" cy="245110"/>
          </a:xfrm>
          <a:prstGeom prst="rect">
            <a:avLst/>
          </a:prstGeom>
          <a:noFill/>
        </p:spPr>
        <p:txBody>
          <a:bodyPr wrap="square" lIns="0" tIns="0" rIns="0" bIns="0" rtlCol="0">
            <a:spAutoFit/>
          </a:body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zh-CN" altLang="en-US" sz="1400" b="1" i="0" u="none" strike="noStrike" kern="1200" cap="none" spc="0" normalizeH="0" baseline="0" noProof="0" dirty="0">
                <a:ln>
                  <a:noFill/>
                </a:ln>
                <a:solidFill>
                  <a:schemeClr val="accent5"/>
                </a:solidFill>
                <a:effectLst/>
                <a:uLnTx/>
                <a:uFillTx/>
                <a:latin typeface="+mj-lt"/>
                <a:ea typeface="+mj-lt"/>
                <a:cs typeface="微软雅黑" panose="020B0503020204020204" charset="-122"/>
              </a:rPr>
              <a:t>价值保障的基石</a:t>
            </a:r>
            <a:endParaRPr kumimoji="0" lang="zh-CN" altLang="en-US" sz="1400" b="1" i="0" u="none" strike="noStrike" kern="1200" cap="none" spc="0" normalizeH="0" baseline="0" noProof="0" dirty="0">
              <a:ln>
                <a:noFill/>
              </a:ln>
              <a:solidFill>
                <a:schemeClr val="accent5"/>
              </a:solidFill>
              <a:effectLst/>
              <a:uLnTx/>
              <a:uFillTx/>
              <a:latin typeface="+mj-lt"/>
              <a:ea typeface="+mj-lt"/>
              <a:cs typeface="微软雅黑" panose="020B0503020204020204" charset="-122"/>
            </a:endParaRPr>
          </a:p>
        </p:txBody>
      </p:sp>
      <p:sp>
        <p:nvSpPr>
          <p:cNvPr id="63" name="文本框 62"/>
          <p:cNvSpPr txBox="1"/>
          <p:nvPr/>
        </p:nvSpPr>
        <p:spPr>
          <a:xfrm>
            <a:off x="3355340" y="3093085"/>
            <a:ext cx="398145" cy="1691640"/>
          </a:xfrm>
          <a:prstGeom prst="rect">
            <a:avLst/>
          </a:prstGeom>
        </p:spPr>
        <p:txBody>
          <a:bodyPr vert="eaVert" wrap="square">
            <a:spAutoFit/>
            <a:extLst>
              <a:ext uri="{4A0BC546-FE56-4ADE-93B0-CB8AF2F6F144}">
                <wpsdc:textFrameExt xmlns:wpsdc="http://www.wps.cn/officeDocument/2022/drawingmlCustomData" type="text"/>
              </a:ext>
            </a:extLst>
          </a:bodyPr>
          <a:p>
            <a:pPr algn="ctr"/>
            <a:r>
              <a:rPr lang="zh-CN" altLang="en-US" sz="1400" b="1">
                <a:solidFill>
                  <a:schemeClr val="accent5"/>
                </a:solidFill>
                <a:latin typeface="微软雅黑" panose="020B0503020204020204" charset="-122"/>
                <a:ea typeface="微软雅黑" panose="020B0503020204020204" charset="-122"/>
                <a:cs typeface="微软雅黑" panose="020B0503020204020204" charset="-122"/>
              </a:rPr>
              <a:t>运营闭环的构建</a:t>
            </a:r>
            <a:endParaRPr lang="zh-CN" altLang="en-US" sz="1400" b="1">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3"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16"/>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3" name="组合 62"/>
          <p:cNvGrpSpPr/>
          <p:nvPr>
            <p:custDataLst>
              <p:tags r:id="rId1"/>
            </p:custDataLst>
          </p:nvPr>
        </p:nvGrpSpPr>
        <p:grpSpPr>
          <a:xfrm>
            <a:off x="6816090" y="3864610"/>
            <a:ext cx="4956175" cy="1027430"/>
            <a:chOff x="10734" y="2022"/>
            <a:chExt cx="7805" cy="1618"/>
          </a:xfrm>
        </p:grpSpPr>
        <p:sp>
          <p:nvSpPr>
            <p:cNvPr id="69" name="矩形 68"/>
            <p:cNvSpPr/>
            <p:nvPr>
              <p:custDataLst>
                <p:tags r:id="rId2"/>
              </p:custDataLst>
            </p:nvPr>
          </p:nvSpPr>
          <p:spPr>
            <a:xfrm>
              <a:off x="10991" y="2022"/>
              <a:ext cx="7549" cy="1619"/>
            </a:xfrm>
            <a:prstGeom prst="rect">
              <a:avLst/>
            </a:prstGeom>
            <a:gradFill>
              <a:gsLst>
                <a:gs pos="0">
                  <a:schemeClr val="accent1">
                    <a:lumMod val="20000"/>
                    <a:lumOff val="80000"/>
                  </a:schemeClr>
                </a:gs>
                <a:gs pos="100000">
                  <a:schemeClr val="accent1">
                    <a:lumMod val="20000"/>
                    <a:lumOff val="80000"/>
                    <a:alpha val="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64" name="YOYOON18"/>
            <p:cNvGrpSpPr/>
            <p:nvPr>
              <p:custDataLst>
                <p:tags r:id="rId3"/>
              </p:custDataLst>
            </p:nvPr>
          </p:nvGrpSpPr>
          <p:grpSpPr>
            <a:xfrm>
              <a:off x="10734" y="2266"/>
              <a:ext cx="1358" cy="1196"/>
              <a:chOff x="980251" y="2951842"/>
              <a:chExt cx="862530" cy="759408"/>
            </a:xfrm>
          </p:grpSpPr>
          <p:grpSp>
            <p:nvGrpSpPr>
              <p:cNvPr id="65" name="YOYOON22"/>
              <p:cNvGrpSpPr/>
              <p:nvPr/>
            </p:nvGrpSpPr>
            <p:grpSpPr>
              <a:xfrm>
                <a:off x="980251" y="2951842"/>
                <a:ext cx="862530" cy="759408"/>
                <a:chOff x="10369242" y="4351570"/>
                <a:chExt cx="1067876" cy="940203"/>
              </a:xfrm>
            </p:grpSpPr>
            <p:sp>
              <p:nvSpPr>
                <p:cNvPr id="66" name="YOYOON1"/>
                <p:cNvSpPr/>
                <p:nvPr>
                  <p:custDataLst>
                    <p:tags r:id="rId4"/>
                  </p:custDataLst>
                </p:nvPr>
              </p:nvSpPr>
              <p:spPr>
                <a:xfrm>
                  <a:off x="10369260" y="4517462"/>
                  <a:ext cx="1067841" cy="774311"/>
                </a:xfrm>
                <a:custGeom>
                  <a:avLst/>
                  <a:gdLst>
                    <a:gd name="connsiteX0" fmla="*/ 1322137 w 1322136"/>
                    <a:gd name="connsiteY0" fmla="*/ 273998 h 958705"/>
                    <a:gd name="connsiteX1" fmla="*/ 1267787 w 1322136"/>
                    <a:gd name="connsiteY1" fmla="*/ 273998 h 958705"/>
                    <a:gd name="connsiteX2" fmla="*/ 1115711 w 1322136"/>
                    <a:gd name="connsiteY2" fmla="*/ 121837 h 958705"/>
                    <a:gd name="connsiteX3" fmla="*/ 206426 w 1322136"/>
                    <a:gd name="connsiteY3" fmla="*/ 121837 h 958705"/>
                    <a:gd name="connsiteX4" fmla="*/ 54350 w 1322136"/>
                    <a:gd name="connsiteY4" fmla="*/ 273998 h 958705"/>
                    <a:gd name="connsiteX5" fmla="*/ 0 w 1322136"/>
                    <a:gd name="connsiteY5" fmla="*/ 273998 h 958705"/>
                    <a:gd name="connsiteX6" fmla="*/ 0 w 1322136"/>
                    <a:gd name="connsiteY6" fmla="*/ 479310 h 958705"/>
                    <a:gd name="connsiteX7" fmla="*/ 0 w 1322136"/>
                    <a:gd name="connsiteY7" fmla="*/ 479310 h 958705"/>
                    <a:gd name="connsiteX8" fmla="*/ 206426 w 1322136"/>
                    <a:gd name="connsiteY8" fmla="*/ 836869 h 958705"/>
                    <a:gd name="connsiteX9" fmla="*/ 206426 w 1322136"/>
                    <a:gd name="connsiteY9" fmla="*/ 836869 h 958705"/>
                    <a:gd name="connsiteX10" fmla="*/ 1115711 w 1322136"/>
                    <a:gd name="connsiteY10" fmla="*/ 836869 h 958705"/>
                    <a:gd name="connsiteX11" fmla="*/ 1115711 w 1322136"/>
                    <a:gd name="connsiteY11" fmla="*/ 836869 h 958705"/>
                    <a:gd name="connsiteX12" fmla="*/ 1322137 w 1322136"/>
                    <a:gd name="connsiteY12" fmla="*/ 479310 h 958705"/>
                    <a:gd name="connsiteX13" fmla="*/ 1322137 w 1322136"/>
                    <a:gd name="connsiteY13" fmla="*/ 479310 h 958705"/>
                    <a:gd name="connsiteX14" fmla="*/ 1322137 w 1322136"/>
                    <a:gd name="connsiteY14" fmla="*/ 273998 h 958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22136" h="958705">
                      <a:moveTo>
                        <a:pt x="1322137" y="273998"/>
                      </a:moveTo>
                      <a:lnTo>
                        <a:pt x="1267787" y="273998"/>
                      </a:lnTo>
                      <a:cubicBezTo>
                        <a:pt x="1233411" y="213734"/>
                        <a:pt x="1182919" y="160584"/>
                        <a:pt x="1115711" y="121837"/>
                      </a:cubicBezTo>
                      <a:cubicBezTo>
                        <a:pt x="834361" y="-40612"/>
                        <a:pt x="487775" y="-40612"/>
                        <a:pt x="206426" y="121837"/>
                      </a:cubicBezTo>
                      <a:cubicBezTo>
                        <a:pt x="139217" y="160670"/>
                        <a:pt x="88725" y="213734"/>
                        <a:pt x="54350" y="273998"/>
                      </a:cubicBezTo>
                      <a:lnTo>
                        <a:pt x="0" y="273998"/>
                      </a:lnTo>
                      <a:lnTo>
                        <a:pt x="0" y="479310"/>
                      </a:lnTo>
                      <a:lnTo>
                        <a:pt x="0" y="479310"/>
                      </a:lnTo>
                      <a:cubicBezTo>
                        <a:pt x="0" y="618356"/>
                        <a:pt x="68837" y="757402"/>
                        <a:pt x="206426" y="836869"/>
                      </a:cubicBezTo>
                      <a:lnTo>
                        <a:pt x="206426" y="836869"/>
                      </a:lnTo>
                      <a:cubicBezTo>
                        <a:pt x="487775" y="999318"/>
                        <a:pt x="834361" y="999318"/>
                        <a:pt x="1115711" y="836869"/>
                      </a:cubicBezTo>
                      <a:lnTo>
                        <a:pt x="1115711" y="836869"/>
                      </a:lnTo>
                      <a:cubicBezTo>
                        <a:pt x="1253300" y="757402"/>
                        <a:pt x="1322137" y="618356"/>
                        <a:pt x="1322137" y="479310"/>
                      </a:cubicBezTo>
                      <a:lnTo>
                        <a:pt x="1322137" y="479310"/>
                      </a:lnTo>
                      <a:lnTo>
                        <a:pt x="1322137" y="273998"/>
                      </a:lnTo>
                      <a:close/>
                    </a:path>
                  </a:pathLst>
                </a:custGeom>
                <a:solidFill>
                  <a:schemeClr val="accent1"/>
                </a:solidFill>
                <a:ln w="8572" cap="flat">
                  <a:noFill/>
                  <a:prstDash val="solid"/>
                  <a:miter/>
                </a:ln>
              </p:spPr>
              <p:txBody>
                <a:bodyPr rtlCol="0" anchor="ctr"/>
                <a:lstStyle/>
                <a:p>
                  <a:pPr defTabSz="1828165"/>
                  <a:endParaRPr lang="en-US" sz="1350">
                    <a:latin typeface="微软雅黑" panose="020B0503020204020204" charset="-122"/>
                    <a:ea typeface="微软雅黑" panose="020B0503020204020204" charset="-122"/>
                    <a:cs typeface="微软雅黑" panose="020B0503020204020204" charset="-122"/>
                  </a:endParaRPr>
                </a:p>
              </p:txBody>
            </p:sp>
            <p:sp>
              <p:nvSpPr>
                <p:cNvPr id="67" name="YOYOON2"/>
                <p:cNvSpPr/>
                <p:nvPr>
                  <p:custDataLst>
                    <p:tags r:id="rId5"/>
                  </p:custDataLst>
                </p:nvPr>
              </p:nvSpPr>
              <p:spPr>
                <a:xfrm>
                  <a:off x="10369242" y="4351570"/>
                  <a:ext cx="1067876" cy="774328"/>
                </a:xfrm>
                <a:custGeom>
                  <a:avLst/>
                  <a:gdLst>
                    <a:gd name="connsiteX0" fmla="*/ 1115732 w 1322179"/>
                    <a:gd name="connsiteY0" fmla="*/ 836955 h 958726"/>
                    <a:gd name="connsiteX1" fmla="*/ 1115732 w 1322179"/>
                    <a:gd name="connsiteY1" fmla="*/ 836955 h 958726"/>
                    <a:gd name="connsiteX2" fmla="*/ 1115732 w 1322179"/>
                    <a:gd name="connsiteY2" fmla="*/ 121837 h 958726"/>
                    <a:gd name="connsiteX3" fmla="*/ 1115732 w 1322179"/>
                    <a:gd name="connsiteY3" fmla="*/ 121837 h 958726"/>
                    <a:gd name="connsiteX4" fmla="*/ 206447 w 1322179"/>
                    <a:gd name="connsiteY4" fmla="*/ 121837 h 958726"/>
                    <a:gd name="connsiteX5" fmla="*/ 206447 w 1322179"/>
                    <a:gd name="connsiteY5" fmla="*/ 121837 h 958726"/>
                    <a:gd name="connsiteX6" fmla="*/ 206447 w 1322179"/>
                    <a:gd name="connsiteY6" fmla="*/ 836955 h 958726"/>
                    <a:gd name="connsiteX7" fmla="*/ 206447 w 1322179"/>
                    <a:gd name="connsiteY7" fmla="*/ 836955 h 958726"/>
                    <a:gd name="connsiteX8" fmla="*/ 1115732 w 1322179"/>
                    <a:gd name="connsiteY8" fmla="*/ 836955 h 95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2179" h="958726">
                      <a:moveTo>
                        <a:pt x="1115732" y="836955"/>
                      </a:moveTo>
                      <a:lnTo>
                        <a:pt x="1115732" y="836955"/>
                      </a:lnTo>
                      <a:cubicBezTo>
                        <a:pt x="1390995" y="678021"/>
                        <a:pt x="1390995" y="280771"/>
                        <a:pt x="1115732" y="121837"/>
                      </a:cubicBezTo>
                      <a:lnTo>
                        <a:pt x="1115732" y="121837"/>
                      </a:lnTo>
                      <a:cubicBezTo>
                        <a:pt x="834383" y="-40612"/>
                        <a:pt x="487797" y="-40612"/>
                        <a:pt x="206447" y="121837"/>
                      </a:cubicBezTo>
                      <a:lnTo>
                        <a:pt x="206447" y="121837"/>
                      </a:lnTo>
                      <a:cubicBezTo>
                        <a:pt x="-68816" y="280771"/>
                        <a:pt x="-68816" y="678021"/>
                        <a:pt x="206447" y="836955"/>
                      </a:cubicBezTo>
                      <a:lnTo>
                        <a:pt x="206447" y="836955"/>
                      </a:lnTo>
                      <a:cubicBezTo>
                        <a:pt x="487797" y="999318"/>
                        <a:pt x="834469" y="999318"/>
                        <a:pt x="1115732" y="836955"/>
                      </a:cubicBezTo>
                      <a:close/>
                    </a:path>
                  </a:pathLst>
                </a:custGeom>
                <a:solidFill>
                  <a:schemeClr val="accent1">
                    <a:lumMod val="60000"/>
                    <a:lumOff val="40000"/>
                  </a:schemeClr>
                </a:solidFill>
                <a:ln w="8572" cap="flat">
                  <a:noFill/>
                  <a:prstDash val="solid"/>
                  <a:miter/>
                </a:ln>
              </p:spPr>
              <p:txBody>
                <a:bodyPr rtlCol="0" anchor="ctr"/>
                <a:lstStyle/>
                <a:p>
                  <a:pPr defTabSz="1828165"/>
                  <a:endParaRPr lang="en-US" sz="1350">
                    <a:latin typeface="微软雅黑" panose="020B0503020204020204" charset="-122"/>
                    <a:ea typeface="微软雅黑" panose="020B0503020204020204" charset="-122"/>
                    <a:cs typeface="微软雅黑" panose="020B0503020204020204" charset="-122"/>
                  </a:endParaRPr>
                </a:p>
              </p:txBody>
            </p:sp>
          </p:grpSp>
          <p:sp>
            <p:nvSpPr>
              <p:cNvPr id="68" name="YOYOON23"/>
              <p:cNvSpPr/>
              <p:nvPr>
                <p:custDataLst>
                  <p:tags r:id="rId6"/>
                </p:custDataLst>
              </p:nvPr>
            </p:nvSpPr>
            <p:spPr>
              <a:xfrm>
                <a:off x="1082510" y="3105501"/>
                <a:ext cx="633877" cy="260332"/>
              </a:xfrm>
              <a:prstGeom prst="rect">
                <a:avLst/>
              </a:prstGeom>
              <a:ln w="12700">
                <a:miter lim="400000"/>
              </a:ln>
            </p:spPr>
            <p:txBody>
              <a:bodyPr lIns="25398" tIns="25398" rIns="25398" bIns="25398" anchor="ctr"/>
              <a:lstStyle>
                <a:lvl1pPr marL="40640" marR="40640" defTabSz="914400">
                  <a:buClr>
                    <a:srgbClr val="FFFFFF"/>
                  </a:buClr>
                  <a:buFont typeface="Arial" panose="020B0604020202020204"/>
                  <a:defRPr sz="2400" b="1">
                    <a:solidFill>
                      <a:srgbClr val="606060"/>
                    </a:solidFill>
                    <a:uFill>
                      <a:solidFill>
                        <a:srgbClr val="606060"/>
                      </a:solidFill>
                    </a:uFill>
                    <a:latin typeface="Open Sans"/>
                    <a:ea typeface="Open Sans"/>
                    <a:cs typeface="Open Sans"/>
                    <a:sym typeface="Open Sans"/>
                  </a:defRPr>
                </a:lvl1pPr>
              </a:lstStyle>
              <a:p>
                <a:pPr lvl="0" algn="ctr">
                  <a:defRPr sz="1800" b="0">
                    <a:solidFill>
                      <a:srgbClr val="000000"/>
                    </a:solidFill>
                    <a:uFillTx/>
                  </a:defRPr>
                </a:pPr>
                <a:r>
                  <a:rPr lang="zh-CN" sz="12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③</a:t>
                </a:r>
                <a:r>
                  <a:rPr lang="en-US" altLang="zh-CN" sz="12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 </a:t>
                </a:r>
                <a:endParaRPr lang="en-US" altLang="zh-CN" sz="12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lvl="0" algn="ctr">
                  <a:defRPr sz="1800" b="0">
                    <a:solidFill>
                      <a:srgbClr val="000000"/>
                    </a:solidFill>
                    <a:uFillTx/>
                  </a:defRPr>
                </a:pP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好效果</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sp>
        <p:nvSpPr>
          <p:cNvPr id="25" name="椭圆 24"/>
          <p:cNvSpPr/>
          <p:nvPr/>
        </p:nvSpPr>
        <p:spPr>
          <a:xfrm>
            <a:off x="1583690" y="2398395"/>
            <a:ext cx="3142615" cy="3142615"/>
          </a:xfrm>
          <a:prstGeom prst="ellipse">
            <a:avLst/>
          </a:prstGeom>
          <a:solidFill>
            <a:schemeClr val="accent1">
              <a:lumMod val="20000"/>
              <a:lumOff val="80000"/>
              <a:alpha val="3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r>
              <a:rPr lang="en-US" altLang="zh-CN">
                <a:latin typeface="微软雅黑" panose="020B0503020204020204" charset="-122"/>
                <a:ea typeface="微软雅黑" panose="020B0503020204020204" charset="-122"/>
                <a:cs typeface="微软雅黑" panose="020B0503020204020204" charset="-122"/>
              </a:rPr>
              <a:t>.</a:t>
            </a:r>
            <a:endParaRPr lang="en-US" altLang="zh-CN">
              <a:latin typeface="微软雅黑" panose="020B0503020204020204" charset="-122"/>
              <a:ea typeface="微软雅黑" panose="020B0503020204020204" charset="-122"/>
              <a:cs typeface="微软雅黑" panose="020B0503020204020204" charset="-122"/>
            </a:endParaRPr>
          </a:p>
        </p:txBody>
      </p:sp>
      <p:sp>
        <p:nvSpPr>
          <p:cNvPr id="24" name="椭圆 23"/>
          <p:cNvSpPr/>
          <p:nvPr/>
        </p:nvSpPr>
        <p:spPr>
          <a:xfrm>
            <a:off x="1985963" y="2800668"/>
            <a:ext cx="2338070" cy="2338070"/>
          </a:xfrm>
          <a:prstGeom prst="ellipse">
            <a:avLst/>
          </a:prstGeom>
          <a:noFill/>
          <a:ln>
            <a:solidFill>
              <a:schemeClr val="accent1">
                <a:lumMod val="40000"/>
                <a:lumOff val="60000"/>
                <a:alpha val="3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5" name="标题 2"/>
          <p:cNvSpPr>
            <a:spLocks noGrp="1"/>
          </p:cNvSpPr>
          <p:nvPr/>
        </p:nvSpPr>
        <p:spPr>
          <a:xfrm>
            <a:off x="1105535" y="347980"/>
            <a:ext cx="870712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sz="2500" dirty="0">
                <a:solidFill>
                  <a:schemeClr val="tx2"/>
                </a:solidFill>
                <a:effectLst/>
                <a:latin typeface="微软雅黑" panose="020B0503020204020204" charset="-122"/>
                <a:ea typeface="微软雅黑" panose="020B0503020204020204" charset="-122"/>
                <a:cs typeface="微软雅黑" panose="020B0503020204020204" charset="-122"/>
              </a:rPr>
              <a:t>小红书客资经营链路图</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5600" y="186055"/>
            <a:ext cx="549910" cy="549910"/>
          </a:xfrm>
          <a:prstGeom prst="rect">
            <a:avLst/>
          </a:prstGeom>
        </p:spPr>
      </p:pic>
      <p:sp>
        <p:nvSpPr>
          <p:cNvPr id="97" name="空心弧 96"/>
          <p:cNvSpPr/>
          <p:nvPr/>
        </p:nvSpPr>
        <p:spPr>
          <a:xfrm flipH="1">
            <a:off x="430863" y="758771"/>
            <a:ext cx="6099349" cy="6099349"/>
          </a:xfrm>
          <a:prstGeom prst="blockArc">
            <a:avLst>
              <a:gd name="adj1" fmla="val 7769797"/>
              <a:gd name="adj2" fmla="val 13892912"/>
              <a:gd name="adj3" fmla="val 1736"/>
            </a:avLst>
          </a:prstGeom>
          <a:gradFill>
            <a:gsLst>
              <a:gs pos="0">
                <a:schemeClr val="accent5">
                  <a:lumMod val="60000"/>
                  <a:lumOff val="40000"/>
                </a:schemeClr>
              </a:gs>
              <a:gs pos="100000">
                <a:schemeClr val="accent5">
                  <a:alpha val="7000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8" name="等腰三角形 4"/>
          <p:cNvSpPr/>
          <p:nvPr/>
        </p:nvSpPr>
        <p:spPr>
          <a:xfrm rot="5400000">
            <a:off x="6449796" y="3671020"/>
            <a:ext cx="338555" cy="202622"/>
          </a:xfrm>
          <a:prstGeom prst="triangle">
            <a:avLst/>
          </a:prstGeom>
          <a:solidFill>
            <a:schemeClr val="accent5">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1"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99" name="文本框 98"/>
          <p:cNvSpPr txBox="1"/>
          <p:nvPr/>
        </p:nvSpPr>
        <p:spPr>
          <a:xfrm>
            <a:off x="5478780" y="3216910"/>
            <a:ext cx="881380" cy="82994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400"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rPr>
              <a:t>核心逻辑</a:t>
            </a:r>
            <a:endParaRPr kumimoji="0" lang="zh-CN" altLang="en-US" sz="2400" b="1" i="0" u="none" strike="noStrike" kern="1200" cap="none" spc="0" normalizeH="0" baseline="0" noProof="0" dirty="0">
              <a:ln>
                <a:noFill/>
              </a:ln>
              <a:solidFill>
                <a:schemeClr val="accent5">
                  <a:lumMod val="60000"/>
                  <a:lumOff val="40000"/>
                </a:schemeClr>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91" name="子陵职场PPT1"/>
          <p:cNvGrpSpPr/>
          <p:nvPr/>
        </p:nvGrpSpPr>
        <p:grpSpPr>
          <a:xfrm>
            <a:off x="6530340" y="5594350"/>
            <a:ext cx="5474970" cy="633095"/>
            <a:chOff x="1146486" y="4584771"/>
            <a:chExt cx="9845364" cy="633404"/>
          </a:xfrm>
        </p:grpSpPr>
        <p:sp>
          <p:nvSpPr>
            <p:cNvPr id="92" name="子陵职场PPT1-1"/>
            <p:cNvSpPr/>
            <p:nvPr/>
          </p:nvSpPr>
          <p:spPr>
            <a:xfrm>
              <a:off x="1147029" y="4584771"/>
              <a:ext cx="9844821" cy="524131"/>
            </a:xfrm>
            <a:prstGeom prst="trapezoid">
              <a:avLst>
                <a:gd name="adj" fmla="val 119447"/>
              </a:avLst>
            </a:prstGeom>
            <a:noFill/>
            <a:ln w="12700">
              <a:gradFill>
                <a:gsLst>
                  <a:gs pos="0">
                    <a:schemeClr val="bg1"/>
                  </a:gs>
                  <a:gs pos="89000">
                    <a:schemeClr val="accent5">
                      <a:lumMod val="60000"/>
                      <a:lumOff val="40000"/>
                    </a:schemeClr>
                  </a:gs>
                </a:gsLst>
                <a:lin ang="5400000" scaled="1"/>
              </a:grad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endParaRPr>
            </a:p>
          </p:txBody>
        </p:sp>
        <p:sp>
          <p:nvSpPr>
            <p:cNvPr id="93" name="子陵职场PPT1-2"/>
            <p:cNvSpPr/>
            <p:nvPr/>
          </p:nvSpPr>
          <p:spPr>
            <a:xfrm>
              <a:off x="1146486" y="5109193"/>
              <a:ext cx="9845364" cy="10898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74" name="组合 73"/>
          <p:cNvGrpSpPr/>
          <p:nvPr/>
        </p:nvGrpSpPr>
        <p:grpSpPr>
          <a:xfrm>
            <a:off x="6920230" y="5111115"/>
            <a:ext cx="1451610" cy="828675"/>
            <a:chOff x="10611" y="7965"/>
            <a:chExt cx="2286" cy="1305"/>
          </a:xfrm>
        </p:grpSpPr>
        <p:sp>
          <p:nvSpPr>
            <p:cNvPr id="149" name="子陵职场PPT80"/>
            <p:cNvSpPr txBox="1"/>
            <p:nvPr/>
          </p:nvSpPr>
          <p:spPr>
            <a:xfrm>
              <a:off x="10611" y="8690"/>
              <a:ext cx="2286" cy="580"/>
            </a:xfrm>
            <a:prstGeom prst="rect">
              <a:avLst/>
            </a:prstGeom>
            <a:noFill/>
          </p:spPr>
          <p:txBody>
            <a:bodyPr wrap="square" rtlCol="0">
              <a:spAutoFit/>
            </a:bodyPr>
            <a:lstStyle/>
            <a:p>
              <a:pPr algn="ctr">
                <a:lnSpc>
                  <a:spcPct val="90000"/>
                </a:lnSpc>
                <a:buClrTx/>
                <a:buSzTx/>
                <a:buFontTx/>
              </a:pPr>
              <a:r>
                <a:rPr lang="zh-CN" altLang="en-US" sz="2000">
                  <a:solidFill>
                    <a:schemeClr val="accent5"/>
                  </a:solidFill>
                  <a:effectLst/>
                  <a:latin typeface="微软雅黑" panose="020B0503020204020204" charset="-122"/>
                  <a:ea typeface="微软雅黑" panose="020B0503020204020204" charset="-122"/>
                  <a:cs typeface="微软雅黑" panose="020B0503020204020204" charset="-122"/>
                  <a:sym typeface="+mn-ea"/>
                </a:rPr>
                <a:t>心智起点</a:t>
              </a:r>
              <a:endParaRPr lang="zh-CN" altLang="en-US" sz="2000">
                <a:solidFill>
                  <a:schemeClr val="accent5"/>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6" name="子陵职场PPT84"/>
            <p:cNvSpPr/>
            <p:nvPr/>
          </p:nvSpPr>
          <p:spPr>
            <a:xfrm>
              <a:off x="11337" y="7965"/>
              <a:ext cx="754" cy="726"/>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alpha val="7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11" name="子陵职场PPT8-37"/>
          <p:cNvSpPr/>
          <p:nvPr/>
        </p:nvSpPr>
        <p:spPr>
          <a:xfrm>
            <a:off x="2303145" y="3117850"/>
            <a:ext cx="1704340" cy="1704340"/>
          </a:xfrm>
          <a:prstGeom prst="ellipse">
            <a:avLst/>
          </a:prstGeom>
          <a:gradFill flip="none" rotWithShape="1">
            <a:gsLst>
              <a:gs pos="100000">
                <a:schemeClr val="accent1">
                  <a:alpha val="10000"/>
                </a:schemeClr>
              </a:gs>
              <a:gs pos="88000">
                <a:schemeClr val="bg1">
                  <a:alpha val="0"/>
                </a:schemeClr>
              </a:gs>
            </a:gsLst>
            <a:path path="shape">
              <a:fillToRect l="50000" t="50000" r="50000" b="50000"/>
            </a:path>
            <a:tileRect/>
          </a:gra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微软雅黑" panose="020B0503020204020204" charset="-122"/>
              <a:ea typeface="微软雅黑" panose="020B0503020204020204" charset="-122"/>
              <a:cs typeface="微软雅黑" panose="020B0503020204020204" charset="-122"/>
            </a:endParaRPr>
          </a:p>
        </p:txBody>
      </p:sp>
      <p:sp>
        <p:nvSpPr>
          <p:cNvPr id="12" name="子陵职场PPT8-38"/>
          <p:cNvSpPr/>
          <p:nvPr/>
        </p:nvSpPr>
        <p:spPr>
          <a:xfrm>
            <a:off x="2590800" y="3406140"/>
            <a:ext cx="1128395" cy="1129030"/>
          </a:xfrm>
          <a:prstGeom prst="ellipse">
            <a:avLst/>
          </a:prstGeom>
          <a:gradFill flip="none" rotWithShape="1">
            <a:gsLst>
              <a:gs pos="0">
                <a:schemeClr val="accent1">
                  <a:lumMod val="75000"/>
                  <a:lumOff val="25000"/>
                </a:schemeClr>
              </a:gs>
              <a:gs pos="100000">
                <a:schemeClr val="accent1"/>
              </a:gs>
            </a:gsLst>
            <a:lin ang="2700000" scaled="1"/>
          </a:gradFill>
          <a:ln w="254000">
            <a:solidFill>
              <a:schemeClr val="accent1">
                <a:alpha val="10000"/>
              </a:schemeClr>
            </a:solid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sz="20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 name="子陵职场PPT8-45"/>
          <p:cNvSpPr txBox="1"/>
          <p:nvPr/>
        </p:nvSpPr>
        <p:spPr>
          <a:xfrm>
            <a:off x="2633345" y="3710305"/>
            <a:ext cx="1043940" cy="429895"/>
          </a:xfrm>
          <a:prstGeom prst="rect">
            <a:avLst/>
          </a:prstGeom>
          <a:noFill/>
        </p:spPr>
        <p:txBody>
          <a:bodyPr wrap="square" rtlCol="0">
            <a:spAutoFit/>
          </a:bodyPr>
          <a:lstStyle/>
          <a:p>
            <a:pPr algn="ctr"/>
            <a:r>
              <a:rPr kumimoji="1" lang="zh-CN" sz="2200" b="1" dirty="0">
                <a:solidFill>
                  <a:schemeClr val="bg1"/>
                </a:solidFill>
                <a:latin typeface="微软雅黑" panose="020B0503020204020204" charset="-122"/>
                <a:ea typeface="微软雅黑" panose="020B0503020204020204" charset="-122"/>
                <a:cs typeface="微软雅黑" panose="020B0503020204020204" charset="-122"/>
                <a:sym typeface="+mn-ea"/>
              </a:rPr>
              <a:t>用户</a:t>
            </a:r>
            <a:endParaRPr kumimoji="1" lang="zh-CN" sz="2200" b="1" dirty="0">
              <a:solidFill>
                <a:schemeClr val="bg1"/>
              </a:solidFill>
              <a:latin typeface="微软雅黑" panose="020B0503020204020204" charset="-122"/>
              <a:ea typeface="微软雅黑" panose="020B0503020204020204" charset="-122"/>
              <a:cs typeface="微软雅黑" panose="020B0503020204020204" charset="-122"/>
              <a:sym typeface="+mn-ea"/>
            </a:endParaRPr>
          </a:p>
        </p:txBody>
      </p:sp>
      <p:sp>
        <p:nvSpPr>
          <p:cNvPr id="14" name="圆角矩形 13"/>
          <p:cNvSpPr/>
          <p:nvPr/>
        </p:nvSpPr>
        <p:spPr>
          <a:xfrm>
            <a:off x="585153" y="4386580"/>
            <a:ext cx="1255395" cy="975360"/>
          </a:xfrm>
          <a:prstGeom prst="roundRect">
            <a:avLst>
              <a:gd name="adj" fmla="val 12209"/>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5" name="圆角矩形 14"/>
          <p:cNvSpPr/>
          <p:nvPr/>
        </p:nvSpPr>
        <p:spPr>
          <a:xfrm>
            <a:off x="4548823" y="4386580"/>
            <a:ext cx="1255395" cy="975360"/>
          </a:xfrm>
          <a:prstGeom prst="roundRect">
            <a:avLst>
              <a:gd name="adj" fmla="val 12209"/>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16" name="圆角矩形 15"/>
          <p:cNvSpPr/>
          <p:nvPr/>
        </p:nvSpPr>
        <p:spPr>
          <a:xfrm>
            <a:off x="2573338" y="1473835"/>
            <a:ext cx="1255395" cy="975360"/>
          </a:xfrm>
          <a:prstGeom prst="roundRect">
            <a:avLst>
              <a:gd name="adj" fmla="val 12209"/>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cxnSp>
        <p:nvCxnSpPr>
          <p:cNvPr id="17" name="直接箭头连接符 16"/>
          <p:cNvCxnSpPr/>
          <p:nvPr/>
        </p:nvCxnSpPr>
        <p:spPr>
          <a:xfrm flipH="1">
            <a:off x="2036445" y="4508500"/>
            <a:ext cx="670560" cy="386715"/>
          </a:xfrm>
          <a:prstGeom prst="straightConnector1">
            <a:avLst/>
          </a:prstGeom>
          <a:ln>
            <a:solidFill>
              <a:schemeClr val="accent1">
                <a:lumMod val="60000"/>
                <a:lumOff val="4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8" name="直接箭头连接符 17"/>
          <p:cNvCxnSpPr/>
          <p:nvPr/>
        </p:nvCxnSpPr>
        <p:spPr>
          <a:xfrm>
            <a:off x="3633470" y="4520565"/>
            <a:ext cx="640080" cy="372110"/>
          </a:xfrm>
          <a:prstGeom prst="straightConnector1">
            <a:avLst/>
          </a:prstGeom>
          <a:ln>
            <a:solidFill>
              <a:schemeClr val="accent1">
                <a:lumMod val="60000"/>
                <a:lumOff val="40000"/>
              </a:schemeClr>
            </a:solidFill>
            <a:tailEnd type="triangle"/>
          </a:ln>
        </p:spPr>
        <p:style>
          <a:lnRef idx="2">
            <a:schemeClr val="accent1"/>
          </a:lnRef>
          <a:fillRef idx="0">
            <a:srgbClr val="FFFFFF"/>
          </a:fillRef>
          <a:effectRef idx="0">
            <a:srgbClr val="FFFFFF"/>
          </a:effectRef>
          <a:fontRef idx="minor">
            <a:schemeClr val="tx1"/>
          </a:fontRef>
        </p:style>
      </p:cxnSp>
      <p:cxnSp>
        <p:nvCxnSpPr>
          <p:cNvPr id="19" name="直接箭头连接符 18"/>
          <p:cNvCxnSpPr/>
          <p:nvPr/>
        </p:nvCxnSpPr>
        <p:spPr>
          <a:xfrm flipH="1" flipV="1">
            <a:off x="3152140" y="2600325"/>
            <a:ext cx="8255" cy="682625"/>
          </a:xfrm>
          <a:prstGeom prst="straightConnector1">
            <a:avLst/>
          </a:prstGeom>
          <a:ln>
            <a:solidFill>
              <a:schemeClr val="accent5">
                <a:lumMod val="60000"/>
                <a:lumOff val="40000"/>
              </a:schemeClr>
            </a:solidFill>
            <a:tailEnd type="triangle"/>
          </a:ln>
        </p:spPr>
        <p:style>
          <a:lnRef idx="2">
            <a:schemeClr val="accent1"/>
          </a:lnRef>
          <a:fillRef idx="0">
            <a:srgbClr val="FFFFFF"/>
          </a:fillRef>
          <a:effectRef idx="0">
            <a:srgbClr val="FFFFFF"/>
          </a:effectRef>
          <a:fontRef idx="minor">
            <a:schemeClr val="tx1"/>
          </a:fontRef>
        </p:style>
      </p:cxnSp>
      <p:sp>
        <p:nvSpPr>
          <p:cNvPr id="20" name="弧形 19"/>
          <p:cNvSpPr/>
          <p:nvPr/>
        </p:nvSpPr>
        <p:spPr>
          <a:xfrm>
            <a:off x="1421130" y="2251710"/>
            <a:ext cx="3432175" cy="3432175"/>
          </a:xfrm>
          <a:prstGeom prst="arc">
            <a:avLst>
              <a:gd name="adj1" fmla="val 10288608"/>
              <a:gd name="adj2" fmla="val 14206022"/>
            </a:avLst>
          </a:prstGeom>
          <a:ln>
            <a:gradFill>
              <a:gsLst>
                <a:gs pos="0">
                  <a:schemeClr val="accent1">
                    <a:lumMod val="60000"/>
                    <a:lumOff val="40000"/>
                    <a:alpha val="0"/>
                  </a:schemeClr>
                </a:gs>
                <a:gs pos="100000">
                  <a:schemeClr val="accent1">
                    <a:lumMod val="60000"/>
                    <a:lumOff val="40000"/>
                  </a:schemeClr>
                </a:gs>
              </a:gsLst>
              <a:lin ang="16200000" scaled="1"/>
            </a:gradFill>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1" name="等腰三角形 20"/>
          <p:cNvSpPr/>
          <p:nvPr/>
        </p:nvSpPr>
        <p:spPr>
          <a:xfrm rot="3720000">
            <a:off x="2159635" y="2413635"/>
            <a:ext cx="174625" cy="174625"/>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2" name="弧形 21"/>
          <p:cNvSpPr/>
          <p:nvPr/>
        </p:nvSpPr>
        <p:spPr>
          <a:xfrm>
            <a:off x="1421130" y="2251710"/>
            <a:ext cx="3432175" cy="3432175"/>
          </a:xfrm>
          <a:prstGeom prst="arc">
            <a:avLst>
              <a:gd name="adj1" fmla="val 17754356"/>
              <a:gd name="adj2" fmla="val 236515"/>
            </a:avLst>
          </a:prstGeom>
          <a:ln>
            <a:gradFill>
              <a:gsLst>
                <a:gs pos="0">
                  <a:schemeClr val="accent1">
                    <a:lumMod val="60000"/>
                    <a:lumOff val="40000"/>
                    <a:alpha val="0"/>
                  </a:schemeClr>
                </a:gs>
                <a:gs pos="100000">
                  <a:schemeClr val="accent1">
                    <a:lumMod val="60000"/>
                    <a:lumOff val="40000"/>
                  </a:schemeClr>
                </a:gs>
              </a:gsLst>
              <a:lin ang="5400000" scaled="1"/>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3" name="弧形 22"/>
          <p:cNvSpPr/>
          <p:nvPr/>
        </p:nvSpPr>
        <p:spPr>
          <a:xfrm>
            <a:off x="1421130" y="2251710"/>
            <a:ext cx="3432175" cy="3432175"/>
          </a:xfrm>
          <a:prstGeom prst="arc">
            <a:avLst>
              <a:gd name="adj1" fmla="val 2977330"/>
              <a:gd name="adj2" fmla="val 7250850"/>
            </a:avLst>
          </a:prstGeom>
          <a:ln>
            <a:gradFill>
              <a:gsLst>
                <a:gs pos="0">
                  <a:schemeClr val="accent1">
                    <a:lumMod val="60000"/>
                    <a:lumOff val="40000"/>
                    <a:alpha val="0"/>
                  </a:schemeClr>
                </a:gs>
                <a:gs pos="100000">
                  <a:schemeClr val="accent1">
                    <a:lumMod val="60000"/>
                    <a:lumOff val="40000"/>
                  </a:schemeClr>
                </a:gs>
              </a:gsLst>
              <a:lin ang="10800000" scaled="1"/>
            </a:gradFill>
          </a:ln>
        </p:spPr>
        <p:style>
          <a:lnRef idx="2">
            <a:schemeClr val="accent1"/>
          </a:lnRef>
          <a:fillRef idx="0">
            <a:srgbClr val="FFFFFF"/>
          </a:fillRef>
          <a:effectRef idx="0">
            <a:srgbClr val="FFFFFF"/>
          </a:effectRef>
          <a:fontRef idx="minor">
            <a:schemeClr val="tx1"/>
          </a:fontRef>
        </p:style>
        <p:txBody>
          <a:bodyPr vertOverflow="overflow" horzOverflow="overflow" vert="horz" wrap="square" numCol="1" spcCol="0" rtlCol="0" fromWordArt="0" anchor="ctr" anchorCtr="0" forceAA="0" compatLnSpc="1">
            <a:noAutofit/>
          </a:bodyPr>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7" name="等腰三角形 26"/>
          <p:cNvSpPr/>
          <p:nvPr/>
        </p:nvSpPr>
        <p:spPr>
          <a:xfrm rot="10800000">
            <a:off x="4766310" y="4046855"/>
            <a:ext cx="174625" cy="174625"/>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84" name="©天蝎PPT27"/>
          <p:cNvSpPr txBox="1"/>
          <p:nvPr>
            <p:custDataLst>
              <p:tags r:id="rId9"/>
            </p:custDataLst>
          </p:nvPr>
        </p:nvSpPr>
        <p:spPr>
          <a:xfrm>
            <a:off x="2573020" y="1654493"/>
            <a:ext cx="1256030" cy="614045"/>
          </a:xfrm>
          <a:prstGeom prst="rect">
            <a:avLst/>
          </a:prstGeom>
          <a:noFill/>
        </p:spPr>
        <p:txBody>
          <a:bodyPr wrap="square">
            <a:spAutoFit/>
          </a:bodyPr>
          <a:lstStyle/>
          <a:p>
            <a:pPr algn="ctr" rtl="0"/>
            <a:r>
              <a:rPr lang="zh-CN" altLang="en-US" sz="2000" b="1" dirty="0">
                <a:solidFill>
                  <a:schemeClr val="bg1"/>
                </a:solidFill>
                <a:effectLst/>
                <a:latin typeface="微软雅黑" panose="020B0503020204020204" charset="-122"/>
                <a:ea typeface="微软雅黑" panose="020B0503020204020204" charset="-122"/>
                <a:cs typeface="+mn-ea"/>
                <a:sym typeface="Arial" panose="020B0604020202020204" pitchFamily="34" charset="0"/>
              </a:rPr>
              <a:t>好内容</a:t>
            </a:r>
            <a:endParaRPr lang="zh-CN" altLang="en-US" sz="2000" b="1" dirty="0">
              <a:solidFill>
                <a:schemeClr val="bg1"/>
              </a:solidFill>
              <a:effectLst/>
              <a:latin typeface="微软雅黑" panose="020B0503020204020204" charset="-122"/>
              <a:ea typeface="微软雅黑" panose="020B0503020204020204" charset="-122"/>
              <a:cs typeface="+mn-ea"/>
              <a:sym typeface="Arial" panose="020B0604020202020204" pitchFamily="34" charset="0"/>
            </a:endParaRPr>
          </a:p>
          <a:p>
            <a:pPr algn="ctr" rtl="0"/>
            <a:r>
              <a:rPr lang="zh-CN" altLang="en-US" sz="1400" dirty="0">
                <a:solidFill>
                  <a:schemeClr val="bg1"/>
                </a:solidFill>
                <a:effectLst/>
                <a:latin typeface="微软雅黑" panose="020B0503020204020204" charset="-122"/>
                <a:ea typeface="微软雅黑" panose="020B0503020204020204" charset="-122"/>
                <a:cs typeface="+mn-ea"/>
                <a:sym typeface="Arial" panose="020B0604020202020204" pitchFamily="34" charset="0"/>
              </a:rPr>
              <a:t>心智起点</a:t>
            </a:r>
            <a:endParaRPr lang="zh-CN" altLang="en-US" sz="1400" dirty="0">
              <a:solidFill>
                <a:schemeClr val="bg1"/>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30" name="等腰三角形 29"/>
          <p:cNvSpPr/>
          <p:nvPr/>
        </p:nvSpPr>
        <p:spPr>
          <a:xfrm rot="17760000">
            <a:off x="2134870" y="5339715"/>
            <a:ext cx="174625" cy="174625"/>
          </a:xfrm>
          <a:prstGeom prst="triangle">
            <a:avLst/>
          </a:prstGeom>
          <a:solidFill>
            <a:schemeClr val="accent1">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1" name="©天蝎PPT27"/>
          <p:cNvSpPr txBox="1"/>
          <p:nvPr>
            <p:custDataLst>
              <p:tags r:id="rId10"/>
            </p:custDataLst>
          </p:nvPr>
        </p:nvSpPr>
        <p:spPr>
          <a:xfrm>
            <a:off x="584835" y="4567238"/>
            <a:ext cx="1256030" cy="614045"/>
          </a:xfrm>
          <a:prstGeom prst="rect">
            <a:avLst/>
          </a:prstGeom>
          <a:noFill/>
        </p:spPr>
        <p:txBody>
          <a:bodyPr wrap="square">
            <a:spAutoFit/>
          </a:bodyPr>
          <a:lstStyle/>
          <a:p>
            <a:pPr algn="ctr" rtl="0"/>
            <a:r>
              <a:rPr lang="zh-CN" altLang="en-US" sz="2000" b="1" dirty="0">
                <a:solidFill>
                  <a:schemeClr val="bg1"/>
                </a:solidFill>
                <a:effectLst/>
                <a:latin typeface="微软雅黑" panose="020B0503020204020204" charset="-122"/>
                <a:ea typeface="微软雅黑" panose="020B0503020204020204" charset="-122"/>
                <a:cs typeface="+mn-ea"/>
                <a:sym typeface="Arial" panose="020B0604020202020204" pitchFamily="34" charset="0"/>
              </a:rPr>
              <a:t>有效投放</a:t>
            </a:r>
            <a:endParaRPr lang="zh-CN" altLang="en-US" sz="2000" b="1" dirty="0">
              <a:solidFill>
                <a:schemeClr val="bg1"/>
              </a:solidFill>
              <a:effectLst/>
              <a:latin typeface="微软雅黑" panose="020B0503020204020204" charset="-122"/>
              <a:ea typeface="微软雅黑" panose="020B0503020204020204" charset="-122"/>
              <a:cs typeface="+mn-ea"/>
              <a:sym typeface="Arial" panose="020B0604020202020204" pitchFamily="34" charset="0"/>
            </a:endParaRPr>
          </a:p>
          <a:p>
            <a:pPr algn="ctr" rtl="0"/>
            <a:r>
              <a:rPr lang="zh-CN" altLang="en-US" sz="1400" dirty="0">
                <a:solidFill>
                  <a:schemeClr val="bg1"/>
                </a:solidFill>
                <a:effectLst/>
                <a:latin typeface="微软雅黑" panose="020B0503020204020204" charset="-122"/>
                <a:ea typeface="微软雅黑" panose="020B0503020204020204" charset="-122"/>
                <a:cs typeface="+mn-ea"/>
                <a:sym typeface="Arial" panose="020B0604020202020204" pitchFamily="34" charset="0"/>
              </a:rPr>
              <a:t>生意放大</a:t>
            </a:r>
            <a:endParaRPr lang="zh-CN" altLang="en-US" sz="1400" dirty="0">
              <a:solidFill>
                <a:schemeClr val="bg1"/>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32" name="©天蝎PPT27"/>
          <p:cNvSpPr txBox="1"/>
          <p:nvPr>
            <p:custDataLst>
              <p:tags r:id="rId11"/>
            </p:custDataLst>
          </p:nvPr>
        </p:nvSpPr>
        <p:spPr>
          <a:xfrm>
            <a:off x="4548505" y="4567238"/>
            <a:ext cx="1256030" cy="614045"/>
          </a:xfrm>
          <a:prstGeom prst="rect">
            <a:avLst/>
          </a:prstGeom>
          <a:noFill/>
        </p:spPr>
        <p:txBody>
          <a:bodyPr wrap="square">
            <a:spAutoFit/>
          </a:bodyPr>
          <a:lstStyle/>
          <a:p>
            <a:pPr algn="ctr" rtl="0"/>
            <a:r>
              <a:rPr lang="zh-CN" altLang="en-US" sz="2000" b="1" dirty="0">
                <a:solidFill>
                  <a:schemeClr val="bg1"/>
                </a:solidFill>
                <a:effectLst/>
                <a:latin typeface="微软雅黑" panose="020B0503020204020204" charset="-122"/>
                <a:ea typeface="微软雅黑" panose="020B0503020204020204" charset="-122"/>
                <a:cs typeface="+mn-ea"/>
                <a:sym typeface="Arial" panose="020B0604020202020204" pitchFamily="34" charset="0"/>
              </a:rPr>
              <a:t>私信承接</a:t>
            </a:r>
            <a:endParaRPr lang="zh-CN" altLang="en-US" sz="2000" b="1" dirty="0">
              <a:solidFill>
                <a:schemeClr val="bg1"/>
              </a:solidFill>
              <a:effectLst/>
              <a:latin typeface="微软雅黑" panose="020B0503020204020204" charset="-122"/>
              <a:ea typeface="微软雅黑" panose="020B0503020204020204" charset="-122"/>
              <a:cs typeface="+mn-ea"/>
              <a:sym typeface="Arial" panose="020B0604020202020204" pitchFamily="34" charset="0"/>
            </a:endParaRPr>
          </a:p>
          <a:p>
            <a:pPr algn="ctr" rtl="0"/>
            <a:r>
              <a:rPr lang="zh-CN" altLang="en-US" sz="1400" dirty="0">
                <a:solidFill>
                  <a:schemeClr val="bg1"/>
                </a:solidFill>
                <a:effectLst/>
                <a:latin typeface="微软雅黑" panose="020B0503020204020204" charset="-122"/>
                <a:ea typeface="微软雅黑" panose="020B0503020204020204" charset="-122"/>
                <a:cs typeface="+mn-ea"/>
                <a:sym typeface="Arial" panose="020B0604020202020204" pitchFamily="34" charset="0"/>
              </a:rPr>
              <a:t>经营通道</a:t>
            </a:r>
            <a:endParaRPr lang="zh-CN" altLang="en-US" sz="1400" dirty="0">
              <a:solidFill>
                <a:schemeClr val="bg1"/>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33" name="©天蝎PPT27"/>
          <p:cNvSpPr txBox="1"/>
          <p:nvPr>
            <p:custDataLst>
              <p:tags r:id="rId12"/>
            </p:custDataLst>
          </p:nvPr>
        </p:nvSpPr>
        <p:spPr>
          <a:xfrm>
            <a:off x="3068320" y="2800668"/>
            <a:ext cx="1256030" cy="306705"/>
          </a:xfrm>
          <a:prstGeom prst="rect">
            <a:avLst/>
          </a:prstGeom>
          <a:noFill/>
        </p:spPr>
        <p:txBody>
          <a:bodyPr wrap="square">
            <a:spAutoFit/>
          </a:bodyPr>
          <a:lstStyle/>
          <a:p>
            <a:pPr algn="ctr" rtl="0"/>
            <a:r>
              <a:rPr lang="zh-CN" altLang="en-US" sz="1400" dirty="0">
                <a:solidFill>
                  <a:schemeClr val="accent5">
                    <a:lumMod val="60000"/>
                    <a:lumOff val="40000"/>
                  </a:schemeClr>
                </a:solidFill>
                <a:effectLst/>
                <a:latin typeface="微软雅黑" panose="020B0503020204020204" charset="-122"/>
                <a:ea typeface="微软雅黑" panose="020B0503020204020204" charset="-122"/>
                <a:cs typeface="+mn-ea"/>
                <a:sym typeface="Arial" panose="020B0604020202020204" pitchFamily="34" charset="0"/>
              </a:rPr>
              <a:t>消费内容</a:t>
            </a:r>
            <a:endParaRPr lang="zh-CN" altLang="en-US" sz="1400" dirty="0">
              <a:solidFill>
                <a:schemeClr val="accent5">
                  <a:lumMod val="60000"/>
                  <a:lumOff val="40000"/>
                </a:schemeClr>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34" name="©天蝎PPT27"/>
          <p:cNvSpPr txBox="1"/>
          <p:nvPr>
            <p:custDataLst>
              <p:tags r:id="rId13"/>
            </p:custDataLst>
          </p:nvPr>
        </p:nvSpPr>
        <p:spPr>
          <a:xfrm>
            <a:off x="1619250" y="4260533"/>
            <a:ext cx="1256030" cy="306705"/>
          </a:xfrm>
          <a:prstGeom prst="rect">
            <a:avLst/>
          </a:prstGeom>
          <a:noFill/>
        </p:spPr>
        <p:txBody>
          <a:bodyPr wrap="square">
            <a:spAutoFit/>
          </a:bodyPr>
          <a:lstStyle/>
          <a:p>
            <a:pPr algn="ctr" rtl="0"/>
            <a:r>
              <a:rPr lang="zh-CN" altLang="en-US" sz="1400" dirty="0">
                <a:solidFill>
                  <a:schemeClr val="accent1">
                    <a:lumMod val="60000"/>
                    <a:lumOff val="40000"/>
                  </a:schemeClr>
                </a:solidFill>
                <a:effectLst/>
                <a:latin typeface="微软雅黑" panose="020B0503020204020204" charset="-122"/>
                <a:ea typeface="微软雅黑" panose="020B0503020204020204" charset="-122"/>
                <a:cs typeface="+mn-ea"/>
                <a:sym typeface="Arial" panose="020B0604020202020204" pitchFamily="34" charset="0"/>
              </a:rPr>
              <a:t>洞察助力</a:t>
            </a:r>
            <a:endParaRPr lang="zh-CN" altLang="en-US" sz="1400" dirty="0">
              <a:solidFill>
                <a:schemeClr val="accent1">
                  <a:lumMod val="60000"/>
                  <a:lumOff val="40000"/>
                </a:schemeClr>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35" name="©天蝎PPT27"/>
          <p:cNvSpPr txBox="1"/>
          <p:nvPr>
            <p:custDataLst>
              <p:tags r:id="rId14"/>
            </p:custDataLst>
          </p:nvPr>
        </p:nvSpPr>
        <p:spPr>
          <a:xfrm>
            <a:off x="3510280" y="4296728"/>
            <a:ext cx="1256030" cy="306705"/>
          </a:xfrm>
          <a:prstGeom prst="rect">
            <a:avLst/>
          </a:prstGeom>
          <a:noFill/>
        </p:spPr>
        <p:txBody>
          <a:bodyPr wrap="square">
            <a:spAutoFit/>
          </a:bodyPr>
          <a:lstStyle/>
          <a:p>
            <a:pPr algn="ctr" rtl="0"/>
            <a:r>
              <a:rPr lang="zh-CN" altLang="en-US" sz="1400" dirty="0">
                <a:solidFill>
                  <a:schemeClr val="accent1">
                    <a:lumMod val="60000"/>
                    <a:lumOff val="40000"/>
                  </a:schemeClr>
                </a:solidFill>
                <a:effectLst/>
                <a:latin typeface="微软雅黑" panose="020B0503020204020204" charset="-122"/>
                <a:ea typeface="微软雅黑" panose="020B0503020204020204" charset="-122"/>
                <a:cs typeface="+mn-ea"/>
                <a:sym typeface="Arial" panose="020B0604020202020204" pitchFamily="34" charset="0"/>
              </a:rPr>
              <a:t>人感咨询</a:t>
            </a:r>
            <a:endParaRPr lang="zh-CN" altLang="en-US" sz="1400" dirty="0">
              <a:solidFill>
                <a:schemeClr val="accent1">
                  <a:lumMod val="60000"/>
                  <a:lumOff val="40000"/>
                </a:schemeClr>
              </a:solidFill>
              <a:effectLst/>
              <a:latin typeface="微软雅黑" panose="020B0503020204020204" charset="-122"/>
              <a:ea typeface="微软雅黑" panose="020B0503020204020204" charset="-122"/>
              <a:cs typeface="+mn-ea"/>
              <a:sym typeface="Arial" panose="020B0604020202020204" pitchFamily="34" charset="0"/>
            </a:endParaRPr>
          </a:p>
        </p:txBody>
      </p:sp>
      <p:grpSp>
        <p:nvGrpSpPr>
          <p:cNvPr id="61" name="组合 60"/>
          <p:cNvGrpSpPr/>
          <p:nvPr>
            <p:custDataLst>
              <p:tags r:id="rId15"/>
            </p:custDataLst>
          </p:nvPr>
        </p:nvGrpSpPr>
        <p:grpSpPr>
          <a:xfrm>
            <a:off x="6816090" y="1283970"/>
            <a:ext cx="4956175" cy="1027430"/>
            <a:chOff x="10734" y="2022"/>
            <a:chExt cx="7805" cy="1618"/>
          </a:xfrm>
        </p:grpSpPr>
        <p:sp>
          <p:nvSpPr>
            <p:cNvPr id="48" name="矩形 47"/>
            <p:cNvSpPr/>
            <p:nvPr>
              <p:custDataLst>
                <p:tags r:id="rId16"/>
              </p:custDataLst>
            </p:nvPr>
          </p:nvSpPr>
          <p:spPr>
            <a:xfrm>
              <a:off x="10991" y="2022"/>
              <a:ext cx="7549" cy="1619"/>
            </a:xfrm>
            <a:prstGeom prst="rect">
              <a:avLst/>
            </a:prstGeom>
            <a:gradFill>
              <a:gsLst>
                <a:gs pos="0">
                  <a:schemeClr val="accent1">
                    <a:lumMod val="20000"/>
                    <a:lumOff val="80000"/>
                  </a:schemeClr>
                </a:gs>
                <a:gs pos="100000">
                  <a:schemeClr val="accent1">
                    <a:lumMod val="20000"/>
                    <a:lumOff val="80000"/>
                    <a:alpha val="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41" name="YOYOON18"/>
            <p:cNvGrpSpPr/>
            <p:nvPr>
              <p:custDataLst>
                <p:tags r:id="rId17"/>
              </p:custDataLst>
            </p:nvPr>
          </p:nvGrpSpPr>
          <p:grpSpPr>
            <a:xfrm>
              <a:off x="10734" y="2266"/>
              <a:ext cx="1358" cy="1196"/>
              <a:chOff x="980251" y="2951842"/>
              <a:chExt cx="862530" cy="759408"/>
            </a:xfrm>
          </p:grpSpPr>
          <p:grpSp>
            <p:nvGrpSpPr>
              <p:cNvPr id="44" name="YOYOON22"/>
              <p:cNvGrpSpPr/>
              <p:nvPr/>
            </p:nvGrpSpPr>
            <p:grpSpPr>
              <a:xfrm>
                <a:off x="980251" y="2951842"/>
                <a:ext cx="862530" cy="759408"/>
                <a:chOff x="10369242" y="4351570"/>
                <a:chExt cx="1067876" cy="940203"/>
              </a:xfrm>
            </p:grpSpPr>
            <p:sp>
              <p:nvSpPr>
                <p:cNvPr id="45" name="YOYOON1"/>
                <p:cNvSpPr/>
                <p:nvPr>
                  <p:custDataLst>
                    <p:tags r:id="rId18"/>
                  </p:custDataLst>
                </p:nvPr>
              </p:nvSpPr>
              <p:spPr>
                <a:xfrm>
                  <a:off x="10369260" y="4517462"/>
                  <a:ext cx="1067841" cy="774311"/>
                </a:xfrm>
                <a:custGeom>
                  <a:avLst/>
                  <a:gdLst>
                    <a:gd name="connsiteX0" fmla="*/ 1322137 w 1322136"/>
                    <a:gd name="connsiteY0" fmla="*/ 273998 h 958705"/>
                    <a:gd name="connsiteX1" fmla="*/ 1267787 w 1322136"/>
                    <a:gd name="connsiteY1" fmla="*/ 273998 h 958705"/>
                    <a:gd name="connsiteX2" fmla="*/ 1115711 w 1322136"/>
                    <a:gd name="connsiteY2" fmla="*/ 121837 h 958705"/>
                    <a:gd name="connsiteX3" fmla="*/ 206426 w 1322136"/>
                    <a:gd name="connsiteY3" fmla="*/ 121837 h 958705"/>
                    <a:gd name="connsiteX4" fmla="*/ 54350 w 1322136"/>
                    <a:gd name="connsiteY4" fmla="*/ 273998 h 958705"/>
                    <a:gd name="connsiteX5" fmla="*/ 0 w 1322136"/>
                    <a:gd name="connsiteY5" fmla="*/ 273998 h 958705"/>
                    <a:gd name="connsiteX6" fmla="*/ 0 w 1322136"/>
                    <a:gd name="connsiteY6" fmla="*/ 479310 h 958705"/>
                    <a:gd name="connsiteX7" fmla="*/ 0 w 1322136"/>
                    <a:gd name="connsiteY7" fmla="*/ 479310 h 958705"/>
                    <a:gd name="connsiteX8" fmla="*/ 206426 w 1322136"/>
                    <a:gd name="connsiteY8" fmla="*/ 836869 h 958705"/>
                    <a:gd name="connsiteX9" fmla="*/ 206426 w 1322136"/>
                    <a:gd name="connsiteY9" fmla="*/ 836869 h 958705"/>
                    <a:gd name="connsiteX10" fmla="*/ 1115711 w 1322136"/>
                    <a:gd name="connsiteY10" fmla="*/ 836869 h 958705"/>
                    <a:gd name="connsiteX11" fmla="*/ 1115711 w 1322136"/>
                    <a:gd name="connsiteY11" fmla="*/ 836869 h 958705"/>
                    <a:gd name="connsiteX12" fmla="*/ 1322137 w 1322136"/>
                    <a:gd name="connsiteY12" fmla="*/ 479310 h 958705"/>
                    <a:gd name="connsiteX13" fmla="*/ 1322137 w 1322136"/>
                    <a:gd name="connsiteY13" fmla="*/ 479310 h 958705"/>
                    <a:gd name="connsiteX14" fmla="*/ 1322137 w 1322136"/>
                    <a:gd name="connsiteY14" fmla="*/ 273998 h 958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22136" h="958705">
                      <a:moveTo>
                        <a:pt x="1322137" y="273998"/>
                      </a:moveTo>
                      <a:lnTo>
                        <a:pt x="1267787" y="273998"/>
                      </a:lnTo>
                      <a:cubicBezTo>
                        <a:pt x="1233411" y="213734"/>
                        <a:pt x="1182919" y="160584"/>
                        <a:pt x="1115711" y="121837"/>
                      </a:cubicBezTo>
                      <a:cubicBezTo>
                        <a:pt x="834361" y="-40612"/>
                        <a:pt x="487775" y="-40612"/>
                        <a:pt x="206426" y="121837"/>
                      </a:cubicBezTo>
                      <a:cubicBezTo>
                        <a:pt x="139217" y="160670"/>
                        <a:pt x="88725" y="213734"/>
                        <a:pt x="54350" y="273998"/>
                      </a:cubicBezTo>
                      <a:lnTo>
                        <a:pt x="0" y="273998"/>
                      </a:lnTo>
                      <a:lnTo>
                        <a:pt x="0" y="479310"/>
                      </a:lnTo>
                      <a:lnTo>
                        <a:pt x="0" y="479310"/>
                      </a:lnTo>
                      <a:cubicBezTo>
                        <a:pt x="0" y="618356"/>
                        <a:pt x="68837" y="757402"/>
                        <a:pt x="206426" y="836869"/>
                      </a:cubicBezTo>
                      <a:lnTo>
                        <a:pt x="206426" y="836869"/>
                      </a:lnTo>
                      <a:cubicBezTo>
                        <a:pt x="487775" y="999318"/>
                        <a:pt x="834361" y="999318"/>
                        <a:pt x="1115711" y="836869"/>
                      </a:cubicBezTo>
                      <a:lnTo>
                        <a:pt x="1115711" y="836869"/>
                      </a:lnTo>
                      <a:cubicBezTo>
                        <a:pt x="1253300" y="757402"/>
                        <a:pt x="1322137" y="618356"/>
                        <a:pt x="1322137" y="479310"/>
                      </a:cubicBezTo>
                      <a:lnTo>
                        <a:pt x="1322137" y="479310"/>
                      </a:lnTo>
                      <a:lnTo>
                        <a:pt x="1322137" y="273998"/>
                      </a:lnTo>
                      <a:close/>
                    </a:path>
                  </a:pathLst>
                </a:custGeom>
                <a:solidFill>
                  <a:schemeClr val="accent1"/>
                </a:solidFill>
                <a:ln w="8572" cap="flat">
                  <a:noFill/>
                  <a:prstDash val="solid"/>
                  <a:miter/>
                </a:ln>
              </p:spPr>
              <p:txBody>
                <a:bodyPr rtlCol="0" anchor="ctr"/>
                <a:lstStyle/>
                <a:p>
                  <a:pPr defTabSz="1828165"/>
                  <a:endParaRPr lang="en-US" sz="1350">
                    <a:latin typeface="微软雅黑" panose="020B0503020204020204" charset="-122"/>
                    <a:ea typeface="微软雅黑" panose="020B0503020204020204" charset="-122"/>
                    <a:cs typeface="微软雅黑" panose="020B0503020204020204" charset="-122"/>
                  </a:endParaRPr>
                </a:p>
              </p:txBody>
            </p:sp>
            <p:sp>
              <p:nvSpPr>
                <p:cNvPr id="46" name="YOYOON2"/>
                <p:cNvSpPr/>
                <p:nvPr>
                  <p:custDataLst>
                    <p:tags r:id="rId19"/>
                  </p:custDataLst>
                </p:nvPr>
              </p:nvSpPr>
              <p:spPr>
                <a:xfrm>
                  <a:off x="10369242" y="4351570"/>
                  <a:ext cx="1067876" cy="774328"/>
                </a:xfrm>
                <a:custGeom>
                  <a:avLst/>
                  <a:gdLst>
                    <a:gd name="connsiteX0" fmla="*/ 1115732 w 1322179"/>
                    <a:gd name="connsiteY0" fmla="*/ 836955 h 958726"/>
                    <a:gd name="connsiteX1" fmla="*/ 1115732 w 1322179"/>
                    <a:gd name="connsiteY1" fmla="*/ 836955 h 958726"/>
                    <a:gd name="connsiteX2" fmla="*/ 1115732 w 1322179"/>
                    <a:gd name="connsiteY2" fmla="*/ 121837 h 958726"/>
                    <a:gd name="connsiteX3" fmla="*/ 1115732 w 1322179"/>
                    <a:gd name="connsiteY3" fmla="*/ 121837 h 958726"/>
                    <a:gd name="connsiteX4" fmla="*/ 206447 w 1322179"/>
                    <a:gd name="connsiteY4" fmla="*/ 121837 h 958726"/>
                    <a:gd name="connsiteX5" fmla="*/ 206447 w 1322179"/>
                    <a:gd name="connsiteY5" fmla="*/ 121837 h 958726"/>
                    <a:gd name="connsiteX6" fmla="*/ 206447 w 1322179"/>
                    <a:gd name="connsiteY6" fmla="*/ 836955 h 958726"/>
                    <a:gd name="connsiteX7" fmla="*/ 206447 w 1322179"/>
                    <a:gd name="connsiteY7" fmla="*/ 836955 h 958726"/>
                    <a:gd name="connsiteX8" fmla="*/ 1115732 w 1322179"/>
                    <a:gd name="connsiteY8" fmla="*/ 836955 h 95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2179" h="958726">
                      <a:moveTo>
                        <a:pt x="1115732" y="836955"/>
                      </a:moveTo>
                      <a:lnTo>
                        <a:pt x="1115732" y="836955"/>
                      </a:lnTo>
                      <a:cubicBezTo>
                        <a:pt x="1390995" y="678021"/>
                        <a:pt x="1390995" y="280771"/>
                        <a:pt x="1115732" y="121837"/>
                      </a:cubicBezTo>
                      <a:lnTo>
                        <a:pt x="1115732" y="121837"/>
                      </a:lnTo>
                      <a:cubicBezTo>
                        <a:pt x="834383" y="-40612"/>
                        <a:pt x="487797" y="-40612"/>
                        <a:pt x="206447" y="121837"/>
                      </a:cubicBezTo>
                      <a:lnTo>
                        <a:pt x="206447" y="121837"/>
                      </a:lnTo>
                      <a:cubicBezTo>
                        <a:pt x="-68816" y="280771"/>
                        <a:pt x="-68816" y="678021"/>
                        <a:pt x="206447" y="836955"/>
                      </a:cubicBezTo>
                      <a:lnTo>
                        <a:pt x="206447" y="836955"/>
                      </a:lnTo>
                      <a:cubicBezTo>
                        <a:pt x="487797" y="999318"/>
                        <a:pt x="834469" y="999318"/>
                        <a:pt x="1115732" y="836955"/>
                      </a:cubicBezTo>
                      <a:close/>
                    </a:path>
                  </a:pathLst>
                </a:custGeom>
                <a:solidFill>
                  <a:schemeClr val="accent1">
                    <a:lumMod val="60000"/>
                    <a:lumOff val="40000"/>
                  </a:schemeClr>
                </a:solidFill>
                <a:ln w="8572" cap="flat">
                  <a:noFill/>
                  <a:prstDash val="solid"/>
                  <a:miter/>
                </a:ln>
              </p:spPr>
              <p:txBody>
                <a:bodyPr rtlCol="0" anchor="ctr"/>
                <a:lstStyle/>
                <a:p>
                  <a:pPr defTabSz="1828165"/>
                  <a:endParaRPr lang="en-US" sz="1350">
                    <a:latin typeface="微软雅黑" panose="020B0503020204020204" charset="-122"/>
                    <a:ea typeface="微软雅黑" panose="020B0503020204020204" charset="-122"/>
                    <a:cs typeface="微软雅黑" panose="020B0503020204020204" charset="-122"/>
                  </a:endParaRPr>
                </a:p>
              </p:txBody>
            </p:sp>
          </p:grpSp>
          <p:sp>
            <p:nvSpPr>
              <p:cNvPr id="47" name="YOYOON23"/>
              <p:cNvSpPr/>
              <p:nvPr>
                <p:custDataLst>
                  <p:tags r:id="rId20"/>
                </p:custDataLst>
              </p:nvPr>
            </p:nvSpPr>
            <p:spPr>
              <a:xfrm>
                <a:off x="1097733" y="3105522"/>
                <a:ext cx="633770" cy="260367"/>
              </a:xfrm>
              <a:prstGeom prst="rect">
                <a:avLst/>
              </a:prstGeom>
              <a:ln w="12700">
                <a:miter lim="400000"/>
              </a:ln>
            </p:spPr>
            <p:txBody>
              <a:bodyPr lIns="25398" tIns="25398" rIns="25398" bIns="25398" anchor="ctr"/>
              <a:lstStyle>
                <a:lvl1pPr marL="40640" marR="40640" defTabSz="914400">
                  <a:buClr>
                    <a:srgbClr val="FFFFFF"/>
                  </a:buClr>
                  <a:buFont typeface="Arial" panose="020B0604020202020204"/>
                  <a:defRPr sz="2400" b="1">
                    <a:solidFill>
                      <a:srgbClr val="606060"/>
                    </a:solidFill>
                    <a:uFill>
                      <a:solidFill>
                        <a:srgbClr val="606060"/>
                      </a:solidFill>
                    </a:uFill>
                    <a:latin typeface="Open Sans"/>
                    <a:ea typeface="Open Sans"/>
                    <a:cs typeface="Open Sans"/>
                    <a:sym typeface="Open Sans"/>
                  </a:defRPr>
                </a:lvl1pPr>
              </a:lstStyle>
              <a:p>
                <a:pPr lvl="0" algn="ctr">
                  <a:defRPr sz="1800" b="0">
                    <a:solidFill>
                      <a:srgbClr val="000000"/>
                    </a:solidFill>
                    <a:uFillTx/>
                  </a:defRPr>
                </a:pP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①</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lvl="0" algn="ctr">
                  <a:defRPr sz="1800" b="0">
                    <a:solidFill>
                      <a:srgbClr val="000000"/>
                    </a:solidFill>
                    <a:uFillTx/>
                  </a:defRPr>
                </a:pP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好内容</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grpSp>
        <p:nvGrpSpPr>
          <p:cNvPr id="62" name="组合 61"/>
          <p:cNvGrpSpPr/>
          <p:nvPr>
            <p:custDataLst>
              <p:tags r:id="rId21"/>
            </p:custDataLst>
          </p:nvPr>
        </p:nvGrpSpPr>
        <p:grpSpPr>
          <a:xfrm>
            <a:off x="7071837" y="2549525"/>
            <a:ext cx="4701698" cy="1028065"/>
            <a:chOff x="11394" y="4411"/>
            <a:chExt cx="7404" cy="1619"/>
          </a:xfrm>
        </p:grpSpPr>
        <p:sp>
          <p:nvSpPr>
            <p:cNvPr id="54" name="矩形 53"/>
            <p:cNvSpPr/>
            <p:nvPr>
              <p:custDataLst>
                <p:tags r:id="rId22"/>
              </p:custDataLst>
            </p:nvPr>
          </p:nvSpPr>
          <p:spPr>
            <a:xfrm>
              <a:off x="11651" y="4411"/>
              <a:ext cx="7147" cy="1619"/>
            </a:xfrm>
            <a:prstGeom prst="rect">
              <a:avLst/>
            </a:prstGeom>
            <a:gradFill>
              <a:gsLst>
                <a:gs pos="0">
                  <a:schemeClr val="accent5">
                    <a:lumMod val="20000"/>
                    <a:lumOff val="80000"/>
                  </a:schemeClr>
                </a:gs>
                <a:gs pos="100000">
                  <a:schemeClr val="accent5">
                    <a:lumMod val="20000"/>
                    <a:lumOff val="80000"/>
                    <a:alpha val="0"/>
                  </a:schemeClr>
                </a:gs>
              </a:gsLst>
              <a:lin ang="108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49" name="YOYOON18"/>
            <p:cNvGrpSpPr/>
            <p:nvPr>
              <p:custDataLst>
                <p:tags r:id="rId23"/>
              </p:custDataLst>
            </p:nvPr>
          </p:nvGrpSpPr>
          <p:grpSpPr>
            <a:xfrm>
              <a:off x="11394" y="4655"/>
              <a:ext cx="1358" cy="1196"/>
              <a:chOff x="980251" y="2951842"/>
              <a:chExt cx="862530" cy="759408"/>
            </a:xfrm>
          </p:grpSpPr>
          <p:grpSp>
            <p:nvGrpSpPr>
              <p:cNvPr id="50" name="YOYOON22"/>
              <p:cNvGrpSpPr/>
              <p:nvPr/>
            </p:nvGrpSpPr>
            <p:grpSpPr>
              <a:xfrm>
                <a:off x="980251" y="2951842"/>
                <a:ext cx="862530" cy="759408"/>
                <a:chOff x="10369242" y="4351570"/>
                <a:chExt cx="1067876" cy="940203"/>
              </a:xfrm>
            </p:grpSpPr>
            <p:sp>
              <p:nvSpPr>
                <p:cNvPr id="51" name="YOYOON1"/>
                <p:cNvSpPr/>
                <p:nvPr>
                  <p:custDataLst>
                    <p:tags r:id="rId24"/>
                  </p:custDataLst>
                </p:nvPr>
              </p:nvSpPr>
              <p:spPr>
                <a:xfrm>
                  <a:off x="10369260" y="4517462"/>
                  <a:ext cx="1067841" cy="774311"/>
                </a:xfrm>
                <a:custGeom>
                  <a:avLst/>
                  <a:gdLst>
                    <a:gd name="connsiteX0" fmla="*/ 1322137 w 1322136"/>
                    <a:gd name="connsiteY0" fmla="*/ 273998 h 958705"/>
                    <a:gd name="connsiteX1" fmla="*/ 1267787 w 1322136"/>
                    <a:gd name="connsiteY1" fmla="*/ 273998 h 958705"/>
                    <a:gd name="connsiteX2" fmla="*/ 1115711 w 1322136"/>
                    <a:gd name="connsiteY2" fmla="*/ 121837 h 958705"/>
                    <a:gd name="connsiteX3" fmla="*/ 206426 w 1322136"/>
                    <a:gd name="connsiteY3" fmla="*/ 121837 h 958705"/>
                    <a:gd name="connsiteX4" fmla="*/ 54350 w 1322136"/>
                    <a:gd name="connsiteY4" fmla="*/ 273998 h 958705"/>
                    <a:gd name="connsiteX5" fmla="*/ 0 w 1322136"/>
                    <a:gd name="connsiteY5" fmla="*/ 273998 h 958705"/>
                    <a:gd name="connsiteX6" fmla="*/ 0 w 1322136"/>
                    <a:gd name="connsiteY6" fmla="*/ 479310 h 958705"/>
                    <a:gd name="connsiteX7" fmla="*/ 0 w 1322136"/>
                    <a:gd name="connsiteY7" fmla="*/ 479310 h 958705"/>
                    <a:gd name="connsiteX8" fmla="*/ 206426 w 1322136"/>
                    <a:gd name="connsiteY8" fmla="*/ 836869 h 958705"/>
                    <a:gd name="connsiteX9" fmla="*/ 206426 w 1322136"/>
                    <a:gd name="connsiteY9" fmla="*/ 836869 h 958705"/>
                    <a:gd name="connsiteX10" fmla="*/ 1115711 w 1322136"/>
                    <a:gd name="connsiteY10" fmla="*/ 836869 h 958705"/>
                    <a:gd name="connsiteX11" fmla="*/ 1115711 w 1322136"/>
                    <a:gd name="connsiteY11" fmla="*/ 836869 h 958705"/>
                    <a:gd name="connsiteX12" fmla="*/ 1322137 w 1322136"/>
                    <a:gd name="connsiteY12" fmla="*/ 479310 h 958705"/>
                    <a:gd name="connsiteX13" fmla="*/ 1322137 w 1322136"/>
                    <a:gd name="connsiteY13" fmla="*/ 479310 h 958705"/>
                    <a:gd name="connsiteX14" fmla="*/ 1322137 w 1322136"/>
                    <a:gd name="connsiteY14" fmla="*/ 273998 h 9587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322136" h="958705">
                      <a:moveTo>
                        <a:pt x="1322137" y="273998"/>
                      </a:moveTo>
                      <a:lnTo>
                        <a:pt x="1267787" y="273998"/>
                      </a:lnTo>
                      <a:cubicBezTo>
                        <a:pt x="1233411" y="213734"/>
                        <a:pt x="1182919" y="160584"/>
                        <a:pt x="1115711" y="121837"/>
                      </a:cubicBezTo>
                      <a:cubicBezTo>
                        <a:pt x="834361" y="-40612"/>
                        <a:pt x="487775" y="-40612"/>
                        <a:pt x="206426" y="121837"/>
                      </a:cubicBezTo>
                      <a:cubicBezTo>
                        <a:pt x="139217" y="160670"/>
                        <a:pt x="88725" y="213734"/>
                        <a:pt x="54350" y="273998"/>
                      </a:cubicBezTo>
                      <a:lnTo>
                        <a:pt x="0" y="273998"/>
                      </a:lnTo>
                      <a:lnTo>
                        <a:pt x="0" y="479310"/>
                      </a:lnTo>
                      <a:lnTo>
                        <a:pt x="0" y="479310"/>
                      </a:lnTo>
                      <a:cubicBezTo>
                        <a:pt x="0" y="618356"/>
                        <a:pt x="68837" y="757402"/>
                        <a:pt x="206426" y="836869"/>
                      </a:cubicBezTo>
                      <a:lnTo>
                        <a:pt x="206426" y="836869"/>
                      </a:lnTo>
                      <a:cubicBezTo>
                        <a:pt x="487775" y="999318"/>
                        <a:pt x="834361" y="999318"/>
                        <a:pt x="1115711" y="836869"/>
                      </a:cubicBezTo>
                      <a:lnTo>
                        <a:pt x="1115711" y="836869"/>
                      </a:lnTo>
                      <a:cubicBezTo>
                        <a:pt x="1253300" y="757402"/>
                        <a:pt x="1322137" y="618356"/>
                        <a:pt x="1322137" y="479310"/>
                      </a:cubicBezTo>
                      <a:lnTo>
                        <a:pt x="1322137" y="479310"/>
                      </a:lnTo>
                      <a:lnTo>
                        <a:pt x="1322137" y="273998"/>
                      </a:lnTo>
                      <a:close/>
                    </a:path>
                  </a:pathLst>
                </a:custGeom>
                <a:solidFill>
                  <a:schemeClr val="accent5"/>
                </a:solidFill>
                <a:ln w="8572" cap="flat">
                  <a:noFill/>
                  <a:prstDash val="solid"/>
                  <a:miter/>
                </a:ln>
              </p:spPr>
              <p:txBody>
                <a:bodyPr rtlCol="0" anchor="ctr"/>
                <a:lstStyle/>
                <a:p>
                  <a:pPr defTabSz="1828165"/>
                  <a:endParaRPr lang="en-US" sz="1350">
                    <a:latin typeface="微软雅黑" panose="020B0503020204020204" charset="-122"/>
                    <a:ea typeface="微软雅黑" panose="020B0503020204020204" charset="-122"/>
                    <a:cs typeface="微软雅黑" panose="020B0503020204020204" charset="-122"/>
                  </a:endParaRPr>
                </a:p>
              </p:txBody>
            </p:sp>
            <p:sp>
              <p:nvSpPr>
                <p:cNvPr id="52" name="YOYOON2"/>
                <p:cNvSpPr/>
                <p:nvPr>
                  <p:custDataLst>
                    <p:tags r:id="rId25"/>
                  </p:custDataLst>
                </p:nvPr>
              </p:nvSpPr>
              <p:spPr>
                <a:xfrm>
                  <a:off x="10369242" y="4351570"/>
                  <a:ext cx="1067876" cy="774328"/>
                </a:xfrm>
                <a:custGeom>
                  <a:avLst/>
                  <a:gdLst>
                    <a:gd name="connsiteX0" fmla="*/ 1115732 w 1322179"/>
                    <a:gd name="connsiteY0" fmla="*/ 836955 h 958726"/>
                    <a:gd name="connsiteX1" fmla="*/ 1115732 w 1322179"/>
                    <a:gd name="connsiteY1" fmla="*/ 836955 h 958726"/>
                    <a:gd name="connsiteX2" fmla="*/ 1115732 w 1322179"/>
                    <a:gd name="connsiteY2" fmla="*/ 121837 h 958726"/>
                    <a:gd name="connsiteX3" fmla="*/ 1115732 w 1322179"/>
                    <a:gd name="connsiteY3" fmla="*/ 121837 h 958726"/>
                    <a:gd name="connsiteX4" fmla="*/ 206447 w 1322179"/>
                    <a:gd name="connsiteY4" fmla="*/ 121837 h 958726"/>
                    <a:gd name="connsiteX5" fmla="*/ 206447 w 1322179"/>
                    <a:gd name="connsiteY5" fmla="*/ 121837 h 958726"/>
                    <a:gd name="connsiteX6" fmla="*/ 206447 w 1322179"/>
                    <a:gd name="connsiteY6" fmla="*/ 836955 h 958726"/>
                    <a:gd name="connsiteX7" fmla="*/ 206447 w 1322179"/>
                    <a:gd name="connsiteY7" fmla="*/ 836955 h 958726"/>
                    <a:gd name="connsiteX8" fmla="*/ 1115732 w 1322179"/>
                    <a:gd name="connsiteY8" fmla="*/ 836955 h 9587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22179" h="958726">
                      <a:moveTo>
                        <a:pt x="1115732" y="836955"/>
                      </a:moveTo>
                      <a:lnTo>
                        <a:pt x="1115732" y="836955"/>
                      </a:lnTo>
                      <a:cubicBezTo>
                        <a:pt x="1390995" y="678021"/>
                        <a:pt x="1390995" y="280771"/>
                        <a:pt x="1115732" y="121837"/>
                      </a:cubicBezTo>
                      <a:lnTo>
                        <a:pt x="1115732" y="121837"/>
                      </a:lnTo>
                      <a:cubicBezTo>
                        <a:pt x="834383" y="-40612"/>
                        <a:pt x="487797" y="-40612"/>
                        <a:pt x="206447" y="121837"/>
                      </a:cubicBezTo>
                      <a:lnTo>
                        <a:pt x="206447" y="121837"/>
                      </a:lnTo>
                      <a:cubicBezTo>
                        <a:pt x="-68816" y="280771"/>
                        <a:pt x="-68816" y="678021"/>
                        <a:pt x="206447" y="836955"/>
                      </a:cubicBezTo>
                      <a:lnTo>
                        <a:pt x="206447" y="836955"/>
                      </a:lnTo>
                      <a:cubicBezTo>
                        <a:pt x="487797" y="999318"/>
                        <a:pt x="834469" y="999318"/>
                        <a:pt x="1115732" y="836955"/>
                      </a:cubicBezTo>
                      <a:close/>
                    </a:path>
                  </a:pathLst>
                </a:custGeom>
                <a:solidFill>
                  <a:schemeClr val="accent5">
                    <a:lumMod val="60000"/>
                    <a:lumOff val="40000"/>
                  </a:schemeClr>
                </a:solidFill>
                <a:ln w="8572" cap="flat">
                  <a:noFill/>
                  <a:prstDash val="solid"/>
                  <a:miter/>
                </a:ln>
              </p:spPr>
              <p:txBody>
                <a:bodyPr rtlCol="0" anchor="ctr"/>
                <a:lstStyle/>
                <a:p>
                  <a:pPr defTabSz="1828165"/>
                  <a:endParaRPr lang="en-US" sz="1350">
                    <a:latin typeface="微软雅黑" panose="020B0503020204020204" charset="-122"/>
                    <a:ea typeface="微软雅黑" panose="020B0503020204020204" charset="-122"/>
                    <a:cs typeface="微软雅黑" panose="020B0503020204020204" charset="-122"/>
                  </a:endParaRPr>
                </a:p>
              </p:txBody>
            </p:sp>
          </p:grpSp>
          <p:sp>
            <p:nvSpPr>
              <p:cNvPr id="53" name="YOYOON23"/>
              <p:cNvSpPr/>
              <p:nvPr>
                <p:custDataLst>
                  <p:tags r:id="rId26"/>
                </p:custDataLst>
              </p:nvPr>
            </p:nvSpPr>
            <p:spPr>
              <a:xfrm>
                <a:off x="1072967" y="3105522"/>
                <a:ext cx="647741" cy="260367"/>
              </a:xfrm>
              <a:prstGeom prst="rect">
                <a:avLst/>
              </a:prstGeom>
              <a:ln w="12700">
                <a:miter lim="400000"/>
              </a:ln>
            </p:spPr>
            <p:txBody>
              <a:bodyPr lIns="25398" tIns="25398" rIns="25398" bIns="25398" anchor="ctr"/>
              <a:lstStyle>
                <a:lvl1pPr marL="40640" marR="40640" defTabSz="914400">
                  <a:buClr>
                    <a:srgbClr val="FFFFFF"/>
                  </a:buClr>
                  <a:buFont typeface="Arial" panose="020B0604020202020204"/>
                  <a:defRPr sz="2400" b="1">
                    <a:solidFill>
                      <a:srgbClr val="606060"/>
                    </a:solidFill>
                    <a:uFill>
                      <a:solidFill>
                        <a:srgbClr val="606060"/>
                      </a:solidFill>
                    </a:uFill>
                    <a:latin typeface="Open Sans"/>
                    <a:ea typeface="Open Sans"/>
                    <a:cs typeface="Open Sans"/>
                    <a:sym typeface="Open Sans"/>
                  </a:defRPr>
                </a:lvl1pPr>
              </a:lstStyle>
              <a:p>
                <a:pPr lvl="0" algn="ctr">
                  <a:defRPr sz="1800" b="0">
                    <a:solidFill>
                      <a:srgbClr val="000000"/>
                    </a:solidFill>
                    <a:uFillTx/>
                  </a:defRPr>
                </a:pPr>
                <a:r>
                  <a:rPr lang="zh-CN" sz="12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②</a:t>
                </a:r>
                <a:endParaRPr lang="zh-CN" sz="12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lvl="0" algn="ctr">
                  <a:defRPr sz="1800" b="0">
                    <a:solidFill>
                      <a:srgbClr val="000000"/>
                    </a:solidFill>
                    <a:uFillTx/>
                  </a:defRPr>
                </a:pPr>
                <a:r>
                  <a:rPr lang="zh-CN" sz="12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好服务</a:t>
                </a:r>
                <a:endParaRPr lang="zh-CN" sz="1200" b="1"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sp>
        <p:nvSpPr>
          <p:cNvPr id="70" name="©天蝎PPT27"/>
          <p:cNvSpPr txBox="1"/>
          <p:nvPr>
            <p:custDataLst>
              <p:tags r:id="rId27"/>
            </p:custDataLst>
          </p:nvPr>
        </p:nvSpPr>
        <p:spPr>
          <a:xfrm>
            <a:off x="7762875" y="1360170"/>
            <a:ext cx="3911600" cy="860425"/>
          </a:xfrm>
          <a:prstGeom prst="rect">
            <a:avLst/>
          </a:prstGeom>
          <a:noFill/>
        </p:spPr>
        <p:txBody>
          <a:bodyPr wrap="square">
            <a:spAutoFit/>
          </a:bodyPr>
          <a:lstStyle/>
          <a:p>
            <a:pPr marL="285750" indent="-285750" algn="l" rtl="0">
              <a:buFont typeface="Wingdings" panose="05000000000000000000" charset="0"/>
              <a:buChar char="l"/>
            </a:pPr>
            <a:r>
              <a:rPr lang="zh-CN" altLang="en-US" sz="1000" b="1" dirty="0">
                <a:solidFill>
                  <a:schemeClr val="accent1"/>
                </a:solidFill>
                <a:effectLst/>
                <a:latin typeface="微软雅黑" panose="020B0503020204020204" charset="-122"/>
                <a:ea typeface="微软雅黑" panose="020B0503020204020204" charset="-122"/>
                <a:cs typeface="+mn-ea"/>
                <a:sym typeface="Arial" panose="020B0604020202020204" pitchFamily="34" charset="0"/>
              </a:rPr>
              <a:t>这是整个经营链条的基石</a:t>
            </a:r>
            <a:r>
              <a:rPr lang="zh-CN" altLang="en-US" sz="1000" dirty="0">
                <a:solidFill>
                  <a:schemeClr val="accent1"/>
                </a:solidFill>
                <a:effectLst/>
                <a:latin typeface="微软雅黑" panose="020B0503020204020204" charset="-122"/>
                <a:ea typeface="微软雅黑" panose="020B0503020204020204" charset="-122"/>
                <a:cs typeface="+mn-ea"/>
                <a:sym typeface="Arial" panose="020B0604020202020204" pitchFamily="34" charset="0"/>
              </a:rPr>
              <a:t>。</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在小红书平台，用户是基于兴趣和搜索发现内容的。</a:t>
            </a:r>
            <a:endPar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endParaRPr>
          </a:p>
          <a:p>
            <a:pPr marL="285750" indent="-285750" algn="l" rtl="0">
              <a:buFont typeface="Wingdings" panose="05000000000000000000" charset="0"/>
              <a:buChar char="l"/>
            </a:pPr>
            <a:r>
              <a:rPr lang="zh-CN" altLang="en-US" sz="1000" b="1" dirty="0">
                <a:solidFill>
                  <a:schemeClr val="accent1"/>
                </a:solidFill>
                <a:effectLst/>
                <a:latin typeface="微软雅黑" panose="020B0503020204020204" charset="-122"/>
                <a:ea typeface="微软雅黑" panose="020B0503020204020204" charset="-122"/>
                <a:cs typeface="+mn-ea"/>
                <a:sym typeface="Arial" panose="020B0604020202020204" pitchFamily="34" charset="0"/>
              </a:rPr>
              <a:t>心智起点：</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优质的内容能够在用户心中种下草，建立初步的信任感和兴趣，让用户产生</a:t>
            </a:r>
            <a:r>
              <a:rPr lang="en-US" altLang="zh-CN"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想要了解更多</a:t>
            </a:r>
            <a:r>
              <a:rPr lang="en-US" altLang="zh-CN"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或</a:t>
            </a:r>
            <a:r>
              <a:rPr lang="en-US" altLang="zh-CN"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这个能解决我的问题</a:t>
            </a:r>
            <a:r>
              <a:rPr lang="en-US" altLang="zh-CN"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的想法。</a:t>
            </a:r>
            <a:endPar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72" name="©天蝎PPT27"/>
          <p:cNvSpPr txBox="1"/>
          <p:nvPr>
            <p:custDataLst>
              <p:tags r:id="rId28"/>
            </p:custDataLst>
          </p:nvPr>
        </p:nvSpPr>
        <p:spPr>
          <a:xfrm>
            <a:off x="7999730" y="2618740"/>
            <a:ext cx="3674110" cy="860425"/>
          </a:xfrm>
          <a:prstGeom prst="rect">
            <a:avLst/>
          </a:prstGeom>
          <a:noFill/>
        </p:spPr>
        <p:txBody>
          <a:bodyPr wrap="square">
            <a:spAutoFit/>
          </a:bodyPr>
          <a:lstStyle/>
          <a:p>
            <a:pPr marL="285750" indent="-285750" algn="l" rtl="0">
              <a:buFont typeface="Wingdings" panose="05000000000000000000" charset="0"/>
              <a:buChar char="l"/>
            </a:pPr>
            <a:r>
              <a:rPr lang="zh-CN" altLang="en-US" sz="1000" b="1" dirty="0">
                <a:solidFill>
                  <a:schemeClr val="accent5"/>
                </a:solidFill>
                <a:effectLst/>
                <a:latin typeface="微软雅黑" panose="020B0503020204020204" charset="-122"/>
                <a:ea typeface="微软雅黑" panose="020B0503020204020204" charset="-122"/>
                <a:cs typeface="+mn-ea"/>
                <a:sym typeface="Arial" panose="020B0604020202020204" pitchFamily="34" charset="0"/>
              </a:rPr>
              <a:t>好服务是经营通路</a:t>
            </a:r>
            <a:r>
              <a:rPr lang="zh-CN" altLang="en-US" sz="1000" dirty="0">
                <a:solidFill>
                  <a:schemeClr val="accent5"/>
                </a:solidFill>
                <a:effectLst/>
                <a:latin typeface="微软雅黑" panose="020B0503020204020204" charset="-122"/>
                <a:ea typeface="微软雅黑" panose="020B0503020204020204" charset="-122"/>
                <a:cs typeface="+mn-ea"/>
                <a:sym typeface="Arial" panose="020B0604020202020204" pitchFamily="34" charset="0"/>
              </a:rPr>
              <a:t>。</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当用户被内容吸引后，下一步就是互动和咨询。</a:t>
            </a:r>
            <a:endPar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endParaRPr>
          </a:p>
          <a:p>
            <a:pPr marL="285750" indent="-285750" algn="l" rtl="0">
              <a:buFont typeface="Wingdings" panose="05000000000000000000" charset="0"/>
              <a:buChar char="l"/>
            </a:pPr>
            <a:r>
              <a:rPr lang="zh-CN" altLang="en-US" sz="1000" b="1" dirty="0">
                <a:solidFill>
                  <a:schemeClr val="accent5"/>
                </a:solidFill>
                <a:effectLst/>
                <a:latin typeface="微软雅黑" panose="020B0503020204020204" charset="-122"/>
                <a:ea typeface="微软雅黑" panose="020B0503020204020204" charset="-122"/>
                <a:cs typeface="+mn-ea"/>
                <a:sym typeface="Arial" panose="020B0604020202020204" pitchFamily="34" charset="0"/>
              </a:rPr>
              <a:t>人感咨询：</a:t>
            </a:r>
            <a:r>
              <a:rPr lang="en-US" altLang="zh-CN"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人感</a:t>
            </a:r>
            <a:r>
              <a:rPr lang="en-US" altLang="zh-CN"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意味着咨询过程要像朋友之间的建议，真诚、专业且有温度，针对用户的具体问题（如预算、肤质、档期）提供个性化解答。</a:t>
            </a:r>
            <a:endPar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73" name="©天蝎PPT27"/>
          <p:cNvSpPr txBox="1"/>
          <p:nvPr>
            <p:custDataLst>
              <p:tags r:id="rId29"/>
            </p:custDataLst>
          </p:nvPr>
        </p:nvSpPr>
        <p:spPr>
          <a:xfrm>
            <a:off x="7812405" y="4022725"/>
            <a:ext cx="3911600" cy="706755"/>
          </a:xfrm>
          <a:prstGeom prst="rect">
            <a:avLst/>
          </a:prstGeom>
          <a:noFill/>
        </p:spPr>
        <p:txBody>
          <a:bodyPr wrap="square">
            <a:spAutoFit/>
          </a:bodyPr>
          <a:lstStyle/>
          <a:p>
            <a:pPr marL="285750" indent="-285750" algn="l" rtl="0">
              <a:buFont typeface="Wingdings" panose="05000000000000000000" charset="0"/>
              <a:buChar char="l"/>
            </a:pPr>
            <a:r>
              <a:rPr lang="zh-CN" altLang="en-US" sz="1000" b="1" dirty="0">
                <a:solidFill>
                  <a:schemeClr val="accent1"/>
                </a:solidFill>
                <a:effectLst/>
                <a:latin typeface="微软雅黑" panose="020B0503020204020204" charset="-122"/>
                <a:ea typeface="微软雅黑" panose="020B0503020204020204" charset="-122"/>
                <a:cs typeface="+mn-ea"/>
                <a:sym typeface="Arial" panose="020B0604020202020204" pitchFamily="34" charset="0"/>
              </a:rPr>
              <a:t>有效投放放大生意效果</a:t>
            </a:r>
            <a:r>
              <a:rPr lang="zh-CN" altLang="en-US" sz="1000" dirty="0">
                <a:solidFill>
                  <a:schemeClr val="accent1"/>
                </a:solidFill>
                <a:effectLst/>
                <a:latin typeface="微软雅黑" panose="020B0503020204020204" charset="-122"/>
                <a:ea typeface="微软雅黑" panose="020B0503020204020204" charset="-122"/>
                <a:cs typeface="+mn-ea"/>
                <a:sym typeface="Arial" panose="020B0604020202020204" pitchFamily="34" charset="0"/>
              </a:rPr>
              <a:t>。</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有了好的内容（素材）和好的服务（转化能力），最后需要通过投放来放大成果。</a:t>
            </a:r>
            <a:endParaRPr lang="zh-CN" altLang="en-US" sz="1000" b="1" dirty="0">
              <a:solidFill>
                <a:schemeClr val="accent1"/>
              </a:solidFill>
              <a:effectLst/>
              <a:latin typeface="微软雅黑" panose="020B0503020204020204" charset="-122"/>
              <a:ea typeface="微软雅黑" panose="020B0503020204020204" charset="-122"/>
              <a:cs typeface="+mn-ea"/>
              <a:sym typeface="Arial" panose="020B0604020202020204" pitchFamily="34" charset="0"/>
            </a:endParaRPr>
          </a:p>
          <a:p>
            <a:pPr marL="285750" indent="-285750" algn="l" rtl="0">
              <a:buFont typeface="Wingdings" panose="05000000000000000000" charset="0"/>
              <a:buChar char="l"/>
            </a:pPr>
            <a:r>
              <a:rPr lang="zh-CN" altLang="en-US" sz="1000" b="1" dirty="0">
                <a:solidFill>
                  <a:schemeClr val="accent1"/>
                </a:solidFill>
                <a:effectLst/>
                <a:latin typeface="微软雅黑" panose="020B0503020204020204" charset="-122"/>
                <a:ea typeface="微软雅黑" panose="020B0503020204020204" charset="-122"/>
                <a:cs typeface="+mn-ea"/>
                <a:sym typeface="Arial" panose="020B0604020202020204" pitchFamily="34" charset="0"/>
              </a:rPr>
              <a:t>生意放大：</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放不是盲目花钱，而是把已经验证过的</a:t>
            </a:r>
            <a:r>
              <a:rPr lang="en-US" altLang="zh-CN"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好内容</a:t>
            </a:r>
            <a:r>
              <a:rPr lang="en-US" altLang="zh-CN"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投给更精准的人群，从而获取更多的客资。</a:t>
            </a:r>
            <a:endPar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endParaRPr>
          </a:p>
        </p:txBody>
      </p:sp>
      <p:grpSp>
        <p:nvGrpSpPr>
          <p:cNvPr id="75" name="组合 74"/>
          <p:cNvGrpSpPr/>
          <p:nvPr/>
        </p:nvGrpSpPr>
        <p:grpSpPr>
          <a:xfrm>
            <a:off x="8457565" y="5111115"/>
            <a:ext cx="1451610" cy="828675"/>
            <a:chOff x="10611" y="7965"/>
            <a:chExt cx="2286" cy="1305"/>
          </a:xfrm>
        </p:grpSpPr>
        <p:sp>
          <p:nvSpPr>
            <p:cNvPr id="76" name="子陵职场PPT80"/>
            <p:cNvSpPr txBox="1"/>
            <p:nvPr/>
          </p:nvSpPr>
          <p:spPr>
            <a:xfrm>
              <a:off x="10611" y="8690"/>
              <a:ext cx="2286" cy="580"/>
            </a:xfrm>
            <a:prstGeom prst="rect">
              <a:avLst/>
            </a:prstGeom>
            <a:noFill/>
          </p:spPr>
          <p:txBody>
            <a:bodyPr wrap="square" rtlCol="0">
              <a:spAutoFit/>
            </a:bodyPr>
            <a:lstStyle/>
            <a:p>
              <a:pPr algn="ctr">
                <a:lnSpc>
                  <a:spcPct val="90000"/>
                </a:lnSpc>
                <a:buClrTx/>
                <a:buSzTx/>
                <a:buFontTx/>
              </a:pPr>
              <a:r>
                <a:rPr lang="zh-CN" altLang="en-US" sz="2000">
                  <a:solidFill>
                    <a:schemeClr val="accent5"/>
                  </a:solidFill>
                  <a:effectLst/>
                  <a:latin typeface="微软雅黑" panose="020B0503020204020204" charset="-122"/>
                  <a:ea typeface="微软雅黑" panose="020B0503020204020204" charset="-122"/>
                  <a:cs typeface="微软雅黑" panose="020B0503020204020204" charset="-122"/>
                  <a:sym typeface="+mn-ea"/>
                </a:rPr>
                <a:t>经营通路</a:t>
              </a:r>
              <a:endParaRPr lang="zh-CN" altLang="en-US" sz="2000">
                <a:solidFill>
                  <a:schemeClr val="accent5"/>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77" name="子陵职场PPT84"/>
            <p:cNvSpPr/>
            <p:nvPr/>
          </p:nvSpPr>
          <p:spPr>
            <a:xfrm>
              <a:off x="11337" y="7965"/>
              <a:ext cx="754" cy="726"/>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alpha val="7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78" name="组合 77"/>
          <p:cNvGrpSpPr/>
          <p:nvPr/>
        </p:nvGrpSpPr>
        <p:grpSpPr>
          <a:xfrm>
            <a:off x="9994900" y="5111115"/>
            <a:ext cx="1451610" cy="828675"/>
            <a:chOff x="10611" y="7965"/>
            <a:chExt cx="2286" cy="1305"/>
          </a:xfrm>
        </p:grpSpPr>
        <p:sp>
          <p:nvSpPr>
            <p:cNvPr id="79" name="子陵职场PPT80"/>
            <p:cNvSpPr txBox="1"/>
            <p:nvPr/>
          </p:nvSpPr>
          <p:spPr>
            <a:xfrm>
              <a:off x="10611" y="8690"/>
              <a:ext cx="2286" cy="580"/>
            </a:xfrm>
            <a:prstGeom prst="rect">
              <a:avLst/>
            </a:prstGeom>
            <a:noFill/>
          </p:spPr>
          <p:txBody>
            <a:bodyPr wrap="square" rtlCol="0">
              <a:spAutoFit/>
            </a:bodyPr>
            <a:lstStyle/>
            <a:p>
              <a:pPr algn="ctr">
                <a:lnSpc>
                  <a:spcPct val="90000"/>
                </a:lnSpc>
                <a:buClrTx/>
                <a:buSzTx/>
                <a:buFontTx/>
              </a:pPr>
              <a:r>
                <a:rPr lang="zh-CN" altLang="en-US" sz="2000">
                  <a:solidFill>
                    <a:schemeClr val="accent5"/>
                  </a:solidFill>
                  <a:effectLst/>
                  <a:latin typeface="微软雅黑" panose="020B0503020204020204" charset="-122"/>
                  <a:ea typeface="微软雅黑" panose="020B0503020204020204" charset="-122"/>
                  <a:cs typeface="微软雅黑" panose="020B0503020204020204" charset="-122"/>
                  <a:sym typeface="+mn-ea"/>
                </a:rPr>
                <a:t>转化生意</a:t>
              </a:r>
              <a:endParaRPr lang="zh-CN" altLang="en-US" sz="2000">
                <a:solidFill>
                  <a:schemeClr val="accent5"/>
                </a:solidFill>
                <a:effectLst/>
                <a:latin typeface="微软雅黑" panose="020B0503020204020204" charset="-122"/>
                <a:ea typeface="微软雅黑" panose="020B0503020204020204" charset="-122"/>
                <a:cs typeface="微软雅黑" panose="020B0503020204020204" charset="-122"/>
                <a:sym typeface="+mn-ea"/>
              </a:endParaRPr>
            </a:p>
          </p:txBody>
        </p:sp>
        <p:sp>
          <p:nvSpPr>
            <p:cNvPr id="80" name="子陵职场PPT84"/>
            <p:cNvSpPr/>
            <p:nvPr/>
          </p:nvSpPr>
          <p:spPr>
            <a:xfrm>
              <a:off x="11337" y="7965"/>
              <a:ext cx="754" cy="726"/>
            </a:xfrm>
            <a:custGeom>
              <a:avLst/>
              <a:gdLst>
                <a:gd name="connsiteX0" fmla="*/ 202633 w 416172"/>
                <a:gd name="connsiteY0" fmla="*/ 0 h 485927"/>
                <a:gd name="connsiteX1" fmla="*/ 374083 w 416172"/>
                <a:gd name="connsiteY1" fmla="*/ 157551 h 485927"/>
                <a:gd name="connsiteX2" fmla="*/ 294275 w 416172"/>
                <a:gd name="connsiteY2" fmla="*/ 157551 h 485927"/>
                <a:gd name="connsiteX3" fmla="*/ 306015 w 416172"/>
                <a:gd name="connsiteY3" fmla="*/ 222549 h 485927"/>
                <a:gd name="connsiteX4" fmla="*/ 416172 w 416172"/>
                <a:gd name="connsiteY4" fmla="*/ 485927 h 485927"/>
                <a:gd name="connsiteX5" fmla="*/ 0 w 416172"/>
                <a:gd name="connsiteY5" fmla="*/ 485927 h 485927"/>
                <a:gd name="connsiteX6" fmla="*/ 112166 w 416172"/>
                <a:gd name="connsiteY6" fmla="*/ 219870 h 485927"/>
                <a:gd name="connsiteX7" fmla="*/ 122329 w 416172"/>
                <a:gd name="connsiteY7" fmla="*/ 157551 h 485927"/>
                <a:gd name="connsiteX8" fmla="*/ 31183 w 416172"/>
                <a:gd name="connsiteY8" fmla="*/ 157551 h 485927"/>
                <a:gd name="connsiteX9" fmla="*/ 202633 w 416172"/>
                <a:gd name="connsiteY9" fmla="*/ 0 h 4859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16172" h="485927">
                  <a:moveTo>
                    <a:pt x="202633" y="0"/>
                  </a:moveTo>
                  <a:cubicBezTo>
                    <a:pt x="238352" y="59661"/>
                    <a:pt x="269308" y="105034"/>
                    <a:pt x="374083" y="157551"/>
                  </a:cubicBezTo>
                  <a:lnTo>
                    <a:pt x="294275" y="157551"/>
                  </a:lnTo>
                  <a:lnTo>
                    <a:pt x="306015" y="222549"/>
                  </a:lnTo>
                  <a:cubicBezTo>
                    <a:pt x="326661" y="313020"/>
                    <a:pt x="361370" y="404832"/>
                    <a:pt x="416172" y="485927"/>
                  </a:cubicBezTo>
                  <a:lnTo>
                    <a:pt x="0" y="485927"/>
                  </a:lnTo>
                  <a:cubicBezTo>
                    <a:pt x="54801" y="401260"/>
                    <a:pt x="92191" y="308555"/>
                    <a:pt x="112166" y="219870"/>
                  </a:cubicBezTo>
                  <a:lnTo>
                    <a:pt x="122329" y="157551"/>
                  </a:lnTo>
                  <a:lnTo>
                    <a:pt x="31183" y="157551"/>
                  </a:lnTo>
                  <a:cubicBezTo>
                    <a:pt x="131195" y="107415"/>
                    <a:pt x="181202" y="45373"/>
                    <a:pt x="202633" y="0"/>
                  </a:cubicBezTo>
                  <a:close/>
                </a:path>
              </a:pathLst>
            </a:custGeom>
            <a:gradFill flip="none" rotWithShape="1">
              <a:gsLst>
                <a:gs pos="0">
                  <a:schemeClr val="accent5">
                    <a:alpha val="0"/>
                  </a:schemeClr>
                </a:gs>
                <a:gs pos="100000">
                  <a:schemeClr val="accent5">
                    <a:alpha val="70000"/>
                  </a:schemeClr>
                </a:gs>
              </a:gsLst>
              <a:lin ang="162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738235" y="348615"/>
            <a:ext cx="3219450" cy="332740"/>
            <a:chOff x="13761" y="549"/>
            <a:chExt cx="5070" cy="524"/>
          </a:xfrm>
        </p:grpSpPr>
        <p:pic>
          <p:nvPicPr>
            <p:cNvPr id="3" name="图片 2"/>
            <p:cNvPicPr>
              <a:picLocks noChangeAspect="1"/>
            </p:cNvPicPr>
            <p:nvPr userDrawn="1"/>
          </p:nvPicPr>
          <p:blipFill>
            <a:blip r:embed="rId30"/>
            <a:srcRect l="17002" t="-1765" r="56499" b="-1176"/>
            <a:stretch>
              <a:fillRect/>
            </a:stretch>
          </p:blipFill>
          <p:spPr>
            <a:xfrm>
              <a:off x="13761" y="549"/>
              <a:ext cx="1582" cy="525"/>
            </a:xfrm>
            <a:prstGeom prst="rect">
              <a:avLst/>
            </a:prstGeom>
          </p:spPr>
        </p:pic>
        <p:sp>
          <p:nvSpPr>
            <p:cNvPr id="4" name="文本框 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rPr>
              <a:t>PDCA</a:t>
            </a:r>
            <a:r>
              <a:rPr sz="2500" dirty="0">
                <a:solidFill>
                  <a:schemeClr val="tx2"/>
                </a:solidFill>
                <a:effectLst/>
                <a:latin typeface="微软雅黑" panose="020B0503020204020204" charset="-122"/>
                <a:ea typeface="微软雅黑" panose="020B0503020204020204" charset="-122"/>
                <a:cs typeface="微软雅黑" panose="020B0503020204020204" charset="-122"/>
              </a:rPr>
              <a:t>循环工作法</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112" name="组合 111"/>
          <p:cNvGrpSpPr/>
          <p:nvPr/>
        </p:nvGrpSpPr>
        <p:grpSpPr>
          <a:xfrm>
            <a:off x="3983990" y="1711325"/>
            <a:ext cx="4274820" cy="4188460"/>
            <a:chOff x="6167" y="2566"/>
            <a:chExt cx="6732" cy="6596"/>
          </a:xfrm>
        </p:grpSpPr>
        <p:sp>
          <p:nvSpPr>
            <p:cNvPr id="82" name="熊大的PPT宝库5"/>
            <p:cNvSpPr/>
            <p:nvPr/>
          </p:nvSpPr>
          <p:spPr>
            <a:xfrm rot="10800000">
              <a:off x="6766" y="3029"/>
              <a:ext cx="5669" cy="5669"/>
            </a:xfrm>
            <a:prstGeom prst="arc">
              <a:avLst/>
            </a:prstGeom>
            <a:noFill/>
            <a:ln w="762000" cap="rnd">
              <a:gradFill>
                <a:gsLst>
                  <a:gs pos="0">
                    <a:schemeClr val="bg1"/>
                  </a:gs>
                  <a:gs pos="82000">
                    <a:schemeClr val="accent5">
                      <a:lumMod val="60000"/>
                      <a:lumOff val="40000"/>
                    </a:schemeClr>
                  </a:gs>
                </a:gsLst>
                <a:lin ang="36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defTabSz="914400"/>
              <a:endParaRPr lang="en-US"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83" name="熊大的PPT宝库6"/>
            <p:cNvSpPr/>
            <p:nvPr/>
          </p:nvSpPr>
          <p:spPr>
            <a:xfrm rot="5400000">
              <a:off x="6766" y="3029"/>
              <a:ext cx="5669" cy="5669"/>
            </a:xfrm>
            <a:prstGeom prst="arc">
              <a:avLst/>
            </a:prstGeom>
            <a:noFill/>
            <a:ln w="762000" cap="rnd">
              <a:gradFill>
                <a:gsLst>
                  <a:gs pos="0">
                    <a:schemeClr val="bg1"/>
                  </a:gs>
                  <a:gs pos="80000">
                    <a:schemeClr val="accent1">
                      <a:lumMod val="60000"/>
                      <a:lumOff val="40000"/>
                    </a:schemeClr>
                  </a:gs>
                </a:gsLst>
                <a:lin ang="36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 name="熊大的PPT宝库3"/>
            <p:cNvSpPr/>
            <p:nvPr/>
          </p:nvSpPr>
          <p:spPr>
            <a:xfrm>
              <a:off x="6766" y="3029"/>
              <a:ext cx="5669" cy="5669"/>
            </a:xfrm>
            <a:prstGeom prst="arc">
              <a:avLst/>
            </a:prstGeom>
            <a:noFill/>
            <a:ln w="762000" cap="rnd">
              <a:gradFill>
                <a:gsLst>
                  <a:gs pos="0">
                    <a:schemeClr val="bg1"/>
                  </a:gs>
                  <a:gs pos="80000">
                    <a:schemeClr val="accent5">
                      <a:lumMod val="60000"/>
                      <a:lumOff val="40000"/>
                    </a:schemeClr>
                  </a:gs>
                </a:gsLst>
                <a:lin ang="36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defTabSz="914400"/>
              <a:endParaRPr lang="en-US"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81" name="熊大的PPT宝库4"/>
            <p:cNvSpPr/>
            <p:nvPr/>
          </p:nvSpPr>
          <p:spPr>
            <a:xfrm rot="16200000">
              <a:off x="6766" y="3029"/>
              <a:ext cx="5669" cy="5669"/>
            </a:xfrm>
            <a:prstGeom prst="arc">
              <a:avLst/>
            </a:prstGeom>
            <a:noFill/>
            <a:ln w="762000" cap="rnd">
              <a:gradFill>
                <a:gsLst>
                  <a:gs pos="0">
                    <a:schemeClr val="bg1"/>
                  </a:gs>
                  <a:gs pos="80000">
                    <a:schemeClr val="accent1">
                      <a:lumMod val="60000"/>
                      <a:lumOff val="40000"/>
                    </a:schemeClr>
                  </a:gs>
                </a:gsLst>
                <a:lin ang="36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algn="ctr" defTabSz="914400"/>
              <a:endParaRPr lang="en-US" dirty="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84" name="熊大的PPT宝库7"/>
            <p:cNvSpPr/>
            <p:nvPr/>
          </p:nvSpPr>
          <p:spPr>
            <a:xfrm>
              <a:off x="9138" y="2566"/>
              <a:ext cx="926" cy="92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01</a:t>
              </a:r>
              <a:endParaRPr kumimoji="0" lang="en-US" sz="240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5" name="熊大的PPT宝库8"/>
            <p:cNvSpPr/>
            <p:nvPr/>
          </p:nvSpPr>
          <p:spPr>
            <a:xfrm>
              <a:off x="11973" y="5401"/>
              <a:ext cx="926" cy="92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02</a:t>
              </a:r>
              <a:endParaRPr kumimoji="0" lang="en-US" sz="240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6" name="熊大的PPT宝库9"/>
            <p:cNvSpPr/>
            <p:nvPr/>
          </p:nvSpPr>
          <p:spPr>
            <a:xfrm>
              <a:off x="9138" y="8236"/>
              <a:ext cx="926" cy="92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03</a:t>
              </a:r>
              <a:endParaRPr kumimoji="0" lang="en-US" sz="240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6" name="椭圆 105"/>
            <p:cNvSpPr/>
            <p:nvPr/>
          </p:nvSpPr>
          <p:spPr>
            <a:xfrm>
              <a:off x="6167" y="5271"/>
              <a:ext cx="1200" cy="1200"/>
            </a:xfrm>
            <a:prstGeom prst="ellipse">
              <a:avLst/>
            </a:prstGeom>
            <a:solidFill>
              <a:schemeClr val="accent5">
                <a:lumMod val="60000"/>
                <a:lumOff val="40000"/>
              </a:schemeClr>
            </a:soli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07" name="熊大的PPT宝库10"/>
            <p:cNvSpPr/>
            <p:nvPr/>
          </p:nvSpPr>
          <p:spPr>
            <a:xfrm>
              <a:off x="6302" y="5545"/>
              <a:ext cx="926" cy="926"/>
            </a:xfrm>
            <a:prstGeom prst="ellipse">
              <a:avLst/>
            </a:prstGeom>
            <a:no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04</a:t>
              </a:r>
              <a:endParaRPr kumimoji="0" lang="en-US" sz="240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11" name="组合 110"/>
          <p:cNvGrpSpPr/>
          <p:nvPr/>
        </p:nvGrpSpPr>
        <p:grpSpPr>
          <a:xfrm>
            <a:off x="5247005" y="2955925"/>
            <a:ext cx="1727200" cy="1727200"/>
            <a:chOff x="7898" y="4870"/>
            <a:chExt cx="2720" cy="2720"/>
          </a:xfrm>
        </p:grpSpPr>
        <p:sp>
          <p:nvSpPr>
            <p:cNvPr id="68" name="熊大的PPT宝库15-1"/>
            <p:cNvSpPr/>
            <p:nvPr/>
          </p:nvSpPr>
          <p:spPr>
            <a:xfrm>
              <a:off x="7898" y="4870"/>
              <a:ext cx="2721" cy="2721"/>
            </a:xfrm>
            <a:prstGeom prst="ellipse">
              <a:avLst/>
            </a:prstGeom>
            <a:gradFill>
              <a:gsLst>
                <a:gs pos="0">
                  <a:schemeClr val="accent1">
                    <a:lumMod val="60000"/>
                    <a:lumOff val="40000"/>
                  </a:schemeClr>
                </a:gs>
                <a:gs pos="100000">
                  <a:schemeClr val="accent1"/>
                </a:gs>
              </a:gsLst>
              <a:lin ang="189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3" name="©天蝎PPT9-42"/>
            <p:cNvSpPr txBox="1"/>
            <p:nvPr/>
          </p:nvSpPr>
          <p:spPr>
            <a:xfrm>
              <a:off x="8215" y="5638"/>
              <a:ext cx="2088" cy="1186"/>
            </a:xfrm>
            <a:prstGeom prst="rect">
              <a:avLst/>
            </a:prstGeom>
            <a:noFill/>
          </p:spPr>
          <p:txBody>
            <a:bodyPr wrap="none" rtlCol="0">
              <a:spAutoFit/>
            </a:bodyPr>
            <a:lstStyle/>
            <a:p>
              <a:pPr algn="ctr"/>
              <a:r>
                <a:rPr kumimoji="1" lang="en-US" altLang="zh-CN" sz="25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PDCA</a:t>
              </a:r>
              <a:endParaRPr kumimoji="1" lang="en-US" altLang="zh-CN" sz="25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r>
                <a:rPr kumimoji="1"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循环工作法</a:t>
              </a:r>
              <a:endParaRPr kumimoji="1" lang="en-US" altLang="zh-CN"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grpSp>
        <p:nvGrpSpPr>
          <p:cNvPr id="118" name="组合 117"/>
          <p:cNvGrpSpPr/>
          <p:nvPr/>
        </p:nvGrpSpPr>
        <p:grpSpPr>
          <a:xfrm>
            <a:off x="3665855" y="1344295"/>
            <a:ext cx="4950460" cy="4950460"/>
            <a:chOff x="6377" y="2769"/>
            <a:chExt cx="6626" cy="6626"/>
          </a:xfrm>
        </p:grpSpPr>
        <p:sp>
          <p:nvSpPr>
            <p:cNvPr id="114" name="弧形 113"/>
            <p:cNvSpPr/>
            <p:nvPr/>
          </p:nvSpPr>
          <p:spPr>
            <a:xfrm>
              <a:off x="6377" y="2769"/>
              <a:ext cx="6627" cy="6627"/>
            </a:xfrm>
            <a:prstGeom prst="arc">
              <a:avLst>
                <a:gd name="adj1" fmla="val 17281646"/>
                <a:gd name="adj2" fmla="val 21406547"/>
              </a:avLst>
            </a:prstGeom>
            <a:noFill/>
            <a:ln w="19050">
              <a:gradFill>
                <a:gsLst>
                  <a:gs pos="7000">
                    <a:schemeClr val="accent5">
                      <a:alpha val="0"/>
                    </a:schemeClr>
                  </a:gs>
                  <a:gs pos="100000">
                    <a:schemeClr val="accent5"/>
                  </a:gs>
                </a:gsLst>
                <a:lin ang="5400000" scaled="1"/>
              </a:gra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olidFill>
                  <a:srgbClr val="CBD6F1"/>
                </a:solidFill>
                <a:latin typeface="微软雅黑" panose="020B0503020204020204" charset="-122"/>
                <a:ea typeface="微软雅黑" panose="020B0503020204020204" charset="-122"/>
                <a:cs typeface="微软雅黑" panose="020B0503020204020204" charset="-122"/>
                <a:sym typeface="+mn-ea"/>
              </a:endParaRPr>
            </a:p>
          </p:txBody>
        </p:sp>
        <p:sp>
          <p:nvSpPr>
            <p:cNvPr id="115" name="弧形 114"/>
            <p:cNvSpPr/>
            <p:nvPr/>
          </p:nvSpPr>
          <p:spPr>
            <a:xfrm rot="16200000">
              <a:off x="6377" y="2769"/>
              <a:ext cx="6627" cy="6627"/>
            </a:xfrm>
            <a:prstGeom prst="arc">
              <a:avLst>
                <a:gd name="adj1" fmla="val 17281646"/>
                <a:gd name="adj2" fmla="val 21406547"/>
              </a:avLst>
            </a:prstGeom>
            <a:noFill/>
            <a:ln w="19050">
              <a:gradFill>
                <a:gsLst>
                  <a:gs pos="7000">
                    <a:schemeClr val="accent1">
                      <a:alpha val="0"/>
                    </a:schemeClr>
                  </a:gs>
                  <a:gs pos="100000">
                    <a:schemeClr val="accent1"/>
                  </a:gs>
                </a:gsLst>
                <a:lin ang="5400000" scaled="1"/>
              </a:gra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BD6F1"/>
                </a:solidFill>
                <a:latin typeface="微软雅黑" panose="020B0503020204020204" charset="-122"/>
                <a:ea typeface="微软雅黑" panose="020B0503020204020204" charset="-122"/>
                <a:cs typeface="微软雅黑" panose="020B0503020204020204" charset="-122"/>
              </a:endParaRPr>
            </a:p>
          </p:txBody>
        </p:sp>
        <p:sp>
          <p:nvSpPr>
            <p:cNvPr id="116" name="弧形 115"/>
            <p:cNvSpPr/>
            <p:nvPr/>
          </p:nvSpPr>
          <p:spPr>
            <a:xfrm rot="16200000" flipH="1" flipV="1">
              <a:off x="6377" y="2769"/>
              <a:ext cx="6627" cy="6627"/>
            </a:xfrm>
            <a:prstGeom prst="arc">
              <a:avLst>
                <a:gd name="adj1" fmla="val 17281646"/>
                <a:gd name="adj2" fmla="val 21406547"/>
              </a:avLst>
            </a:prstGeom>
            <a:noFill/>
            <a:ln w="19050">
              <a:gradFill>
                <a:gsLst>
                  <a:gs pos="7000">
                    <a:schemeClr val="accent1">
                      <a:alpha val="0"/>
                    </a:schemeClr>
                  </a:gs>
                  <a:gs pos="100000">
                    <a:schemeClr val="accent1"/>
                  </a:gs>
                </a:gsLst>
                <a:lin ang="5400000" scaled="1"/>
              </a:gra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dirty="0">
                <a:solidFill>
                  <a:srgbClr val="CBD6F1"/>
                </a:solidFill>
                <a:latin typeface="微软雅黑" panose="020B0503020204020204" charset="-122"/>
                <a:ea typeface="微软雅黑" panose="020B0503020204020204" charset="-122"/>
                <a:cs typeface="微软雅黑" panose="020B0503020204020204" charset="-122"/>
                <a:sym typeface="+mn-ea"/>
              </a:endParaRPr>
            </a:p>
          </p:txBody>
        </p:sp>
        <p:sp>
          <p:nvSpPr>
            <p:cNvPr id="117" name="弧形 116"/>
            <p:cNvSpPr/>
            <p:nvPr/>
          </p:nvSpPr>
          <p:spPr>
            <a:xfrm flipH="1" flipV="1">
              <a:off x="6377" y="2769"/>
              <a:ext cx="6627" cy="6627"/>
            </a:xfrm>
            <a:prstGeom prst="arc">
              <a:avLst>
                <a:gd name="adj1" fmla="val 17281646"/>
                <a:gd name="adj2" fmla="val 21406547"/>
              </a:avLst>
            </a:prstGeom>
            <a:noFill/>
            <a:ln w="19050">
              <a:gradFill>
                <a:gsLst>
                  <a:gs pos="7000">
                    <a:schemeClr val="accent5">
                      <a:alpha val="0"/>
                    </a:schemeClr>
                  </a:gs>
                  <a:gs pos="100000">
                    <a:schemeClr val="accent5"/>
                  </a:gs>
                </a:gsLst>
                <a:lin ang="5400000" scaled="1"/>
              </a:gradFill>
              <a:tailEnd type="stealth" w="lg" len="lg"/>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solidFill>
                  <a:srgbClr val="CBD6F1"/>
                </a:solidFill>
                <a:latin typeface="微软雅黑" panose="020B0503020204020204" charset="-122"/>
                <a:ea typeface="微软雅黑" panose="020B0503020204020204" charset="-122"/>
                <a:cs typeface="微软雅黑" panose="020B0503020204020204" charset="-122"/>
              </a:endParaRPr>
            </a:p>
          </p:txBody>
        </p:sp>
      </p:grpSp>
      <p:sp>
        <p:nvSpPr>
          <p:cNvPr id="119" name="熊大的PPT宝库14"/>
          <p:cNvSpPr txBox="1"/>
          <p:nvPr/>
        </p:nvSpPr>
        <p:spPr>
          <a:xfrm rot="18900000">
            <a:off x="4270075" y="2019947"/>
            <a:ext cx="3600000" cy="3600000"/>
          </a:xfrm>
          <a:prstGeom prst="rect">
            <a:avLst/>
          </a:prstGeom>
          <a:noFill/>
        </p:spPr>
        <p:txBody>
          <a:bodyPr wrap="none">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en-US" altLang="zh-CN" sz="2000" b="1" dirty="0">
                <a:solidFill>
                  <a:schemeClr val="bg1"/>
                </a:solidFill>
                <a:latin typeface="+mn-ea"/>
                <a:cs typeface="微软雅黑" panose="020B0503020204020204" charset="-122"/>
              </a:rPr>
              <a:t>Check </a:t>
            </a:r>
            <a:r>
              <a:rPr lang="zh-CN" altLang="en-US" sz="2000" b="1" dirty="0">
                <a:solidFill>
                  <a:schemeClr val="bg1"/>
                </a:solidFill>
                <a:latin typeface="+mn-ea"/>
                <a:cs typeface="微软雅黑" panose="020B0503020204020204" charset="-122"/>
              </a:rPr>
              <a:t>检查</a:t>
            </a:r>
            <a:endParaRPr kumimoji="0" lang="zh-CN" altLang="en-US" sz="2000" b="1" i="0" u="none" strike="noStrike" kern="1200" cap="none" spc="0" normalizeH="0" baseline="0" noProof="0" dirty="0">
              <a:ln>
                <a:noFill/>
              </a:ln>
              <a:solidFill>
                <a:schemeClr val="bg1"/>
              </a:solidFill>
              <a:effectLst/>
              <a:uLnTx/>
              <a:uFillTx/>
              <a:latin typeface="+mn-ea"/>
              <a:cs typeface="微软雅黑" panose="020B0503020204020204" charset="-122"/>
            </a:endParaRPr>
          </a:p>
        </p:txBody>
      </p:sp>
      <p:sp>
        <p:nvSpPr>
          <p:cNvPr id="122" name="熊大的PPT宝库13"/>
          <p:cNvSpPr txBox="1"/>
          <p:nvPr/>
        </p:nvSpPr>
        <p:spPr>
          <a:xfrm rot="2700000">
            <a:off x="4354129" y="1952512"/>
            <a:ext cx="3564120" cy="3564855"/>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mn-ea"/>
                <a:cs typeface="微软雅黑" panose="020B0503020204020204" charset="-122"/>
              </a:rPr>
              <a:t>Do </a:t>
            </a:r>
            <a:r>
              <a:rPr kumimoji="0" lang="zh-CN" altLang="en-US" sz="2000" b="1" i="0" u="none" strike="noStrike" kern="1200" cap="none" spc="0" normalizeH="0" baseline="0" noProof="0" dirty="0">
                <a:ln>
                  <a:noFill/>
                </a:ln>
                <a:solidFill>
                  <a:prstClr val="white"/>
                </a:solidFill>
                <a:effectLst/>
                <a:uLnTx/>
                <a:uFillTx/>
                <a:latin typeface="+mn-ea"/>
                <a:cs typeface="微软雅黑" panose="020B0503020204020204" charset="-122"/>
              </a:rPr>
              <a:t>执行</a:t>
            </a:r>
            <a:endParaRPr kumimoji="0" lang="zh-CN" altLang="en-US" sz="2000" b="1" i="0" u="none" strike="noStrike" kern="1200" cap="none" spc="0" normalizeH="0" baseline="0" noProof="0" dirty="0">
              <a:ln>
                <a:noFill/>
              </a:ln>
              <a:solidFill>
                <a:prstClr val="white"/>
              </a:solidFill>
              <a:effectLst/>
              <a:uLnTx/>
              <a:uFillTx/>
              <a:latin typeface="+mn-ea"/>
              <a:cs typeface="微软雅黑" panose="020B0503020204020204" charset="-122"/>
            </a:endParaRPr>
          </a:p>
        </p:txBody>
      </p:sp>
      <p:sp>
        <p:nvSpPr>
          <p:cNvPr id="124" name="熊大的PPT宝库12"/>
          <p:cNvSpPr txBox="1"/>
          <p:nvPr/>
        </p:nvSpPr>
        <p:spPr>
          <a:xfrm rot="2700000">
            <a:off x="4361516" y="1909701"/>
            <a:ext cx="3600000" cy="3600000"/>
          </a:xfrm>
          <a:prstGeom prst="rect">
            <a:avLst/>
          </a:prstGeom>
          <a:noFill/>
        </p:spPr>
        <p:txBody>
          <a:bodyPr wrap="none">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mn-ea"/>
                <a:cs typeface="微软雅黑" panose="020B0503020204020204" charset="-122"/>
              </a:rPr>
              <a:t>Act </a:t>
            </a:r>
            <a:r>
              <a:rPr kumimoji="0" lang="zh-CN" altLang="en-US" sz="2000" b="1" i="0" u="none" strike="noStrike" kern="1200" cap="none" spc="0" normalizeH="0" baseline="0" noProof="0" dirty="0">
                <a:ln>
                  <a:noFill/>
                </a:ln>
                <a:solidFill>
                  <a:prstClr val="white"/>
                </a:solidFill>
                <a:effectLst/>
                <a:uLnTx/>
                <a:uFillTx/>
                <a:latin typeface="+mn-ea"/>
                <a:cs typeface="微软雅黑" panose="020B0503020204020204" charset="-122"/>
              </a:rPr>
              <a:t>处理</a:t>
            </a:r>
            <a:endParaRPr kumimoji="0" lang="zh-CN" altLang="en-US" sz="2000" b="1" i="0" u="none" strike="noStrike" kern="1200" cap="none" spc="0" normalizeH="0" baseline="0" noProof="0" dirty="0">
              <a:ln>
                <a:noFill/>
              </a:ln>
              <a:solidFill>
                <a:prstClr val="white"/>
              </a:solidFill>
              <a:effectLst/>
              <a:uLnTx/>
              <a:uFillTx/>
              <a:latin typeface="+mn-ea"/>
              <a:cs typeface="微软雅黑" panose="020B0503020204020204" charset="-122"/>
            </a:endParaRPr>
          </a:p>
        </p:txBody>
      </p:sp>
      <p:sp>
        <p:nvSpPr>
          <p:cNvPr id="126" name="熊大的PPT宝库11"/>
          <p:cNvSpPr txBox="1"/>
          <p:nvPr/>
        </p:nvSpPr>
        <p:spPr>
          <a:xfrm rot="18720000">
            <a:off x="4407923" y="1941717"/>
            <a:ext cx="3564120" cy="3564855"/>
          </a:xfrm>
          <a:prstGeom prst="rect">
            <a:avLst/>
          </a:prstGeom>
          <a:noFill/>
        </p:spPr>
        <p:txBody>
          <a:bodyPr wrap="none">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1" i="0" u="none" strike="noStrike" kern="1200" cap="none" spc="0" normalizeH="0" baseline="0" noProof="0" dirty="0">
                <a:ln>
                  <a:noFill/>
                </a:ln>
                <a:solidFill>
                  <a:prstClr val="white"/>
                </a:solidFill>
                <a:effectLst/>
                <a:uLnTx/>
                <a:uFillTx/>
                <a:latin typeface="+mn-ea"/>
                <a:cs typeface="微软雅黑" panose="020B0503020204020204" charset="-122"/>
              </a:rPr>
              <a:t>Plan </a:t>
            </a:r>
            <a:r>
              <a:rPr kumimoji="0" lang="zh-CN" altLang="en-US" sz="2000" b="1" i="0" u="none" strike="noStrike" kern="1200" cap="none" spc="0" normalizeH="0" baseline="0" noProof="0" dirty="0">
                <a:ln>
                  <a:noFill/>
                </a:ln>
                <a:solidFill>
                  <a:prstClr val="white"/>
                </a:solidFill>
                <a:effectLst/>
                <a:uLnTx/>
                <a:uFillTx/>
                <a:latin typeface="+mn-ea"/>
                <a:cs typeface="微软雅黑" panose="020B0503020204020204" charset="-122"/>
              </a:rPr>
              <a:t>计划</a:t>
            </a:r>
            <a:endParaRPr kumimoji="0" lang="zh-CN" altLang="en-US" sz="2000" b="1" i="0" u="none" strike="noStrike" kern="1200" cap="none" spc="0" normalizeH="0" baseline="0" noProof="0" dirty="0">
              <a:ln>
                <a:noFill/>
              </a:ln>
              <a:solidFill>
                <a:prstClr val="white"/>
              </a:solidFill>
              <a:effectLst/>
              <a:uLnTx/>
              <a:uFillTx/>
              <a:latin typeface="+mn-ea"/>
              <a:cs typeface="微软雅黑" panose="020B0503020204020204" charset="-122"/>
            </a:endParaRPr>
          </a:p>
        </p:txBody>
      </p:sp>
      <p:grpSp>
        <p:nvGrpSpPr>
          <p:cNvPr id="155" name="组合 154"/>
          <p:cNvGrpSpPr/>
          <p:nvPr/>
        </p:nvGrpSpPr>
        <p:grpSpPr>
          <a:xfrm>
            <a:off x="427355" y="1393825"/>
            <a:ext cx="3688080" cy="2117725"/>
            <a:chOff x="875" y="1987"/>
            <a:chExt cx="5808" cy="3335"/>
          </a:xfrm>
        </p:grpSpPr>
        <p:grpSp>
          <p:nvGrpSpPr>
            <p:cNvPr id="141" name="组合 140"/>
            <p:cNvGrpSpPr/>
            <p:nvPr/>
          </p:nvGrpSpPr>
          <p:grpSpPr>
            <a:xfrm>
              <a:off x="875" y="1987"/>
              <a:ext cx="5808" cy="1466"/>
              <a:chOff x="371749" y="1226561"/>
              <a:chExt cx="4190587" cy="930822"/>
            </a:xfrm>
          </p:grpSpPr>
          <p:grpSp>
            <p:nvGrpSpPr>
              <p:cNvPr id="142" name="组合 141"/>
              <p:cNvGrpSpPr/>
              <p:nvPr/>
            </p:nvGrpSpPr>
            <p:grpSpPr>
              <a:xfrm>
                <a:off x="447536" y="1601758"/>
                <a:ext cx="4114800" cy="555625"/>
                <a:chOff x="447536" y="1601758"/>
                <a:chExt cx="4114800" cy="555625"/>
              </a:xfrm>
            </p:grpSpPr>
            <p:sp>
              <p:nvSpPr>
                <p:cNvPr id="143" name="任意多边形: 形状 535"/>
                <p:cNvSpPr/>
                <p:nvPr/>
              </p:nvSpPr>
              <p:spPr>
                <a:xfrm>
                  <a:off x="447536" y="1646843"/>
                  <a:ext cx="4114800" cy="510540"/>
                </a:xfrm>
                <a:custGeom>
                  <a:avLst/>
                  <a:gdLst>
                    <a:gd name="connsiteX0" fmla="*/ 5094514 w 5094514"/>
                    <a:gd name="connsiteY0" fmla="*/ 740228 h 740228"/>
                    <a:gd name="connsiteX1" fmla="*/ 4354286 w 5094514"/>
                    <a:gd name="connsiteY1" fmla="*/ 0 h 740228"/>
                    <a:gd name="connsiteX2" fmla="*/ 0 w 5094514"/>
                    <a:gd name="connsiteY2" fmla="*/ 0 h 740228"/>
                    <a:gd name="connsiteX0-1" fmla="*/ 6691302 w 6691302"/>
                    <a:gd name="connsiteY0-2" fmla="*/ 740228 h 740228"/>
                    <a:gd name="connsiteX1-3" fmla="*/ 5951074 w 6691302"/>
                    <a:gd name="connsiteY1-4" fmla="*/ 0 h 740228"/>
                    <a:gd name="connsiteX2-5" fmla="*/ 0 w 6691302"/>
                    <a:gd name="connsiteY2-6" fmla="*/ 0 h 740228"/>
                  </a:gdLst>
                  <a:ahLst/>
                  <a:cxnLst>
                    <a:cxn ang="0">
                      <a:pos x="connsiteX0-1" y="connsiteY0-2"/>
                    </a:cxn>
                    <a:cxn ang="0">
                      <a:pos x="connsiteX1-3" y="connsiteY1-4"/>
                    </a:cxn>
                    <a:cxn ang="0">
                      <a:pos x="connsiteX2-5" y="connsiteY2-6"/>
                    </a:cxn>
                  </a:cxnLst>
                  <a:rect l="l" t="t" r="r" b="b"/>
                  <a:pathLst>
                    <a:path w="6691302" h="740228">
                      <a:moveTo>
                        <a:pt x="6691302" y="740228"/>
                      </a:moveTo>
                      <a:lnTo>
                        <a:pt x="5951074" y="0"/>
                      </a:lnTo>
                      <a:lnTo>
                        <a:pt x="0" y="0"/>
                      </a:lnTo>
                    </a:path>
                  </a:pathLst>
                </a:custGeom>
                <a:noFill/>
                <a:ln w="9525">
                  <a:solidFill>
                    <a:schemeClr val="tx2">
                      <a:lumMod val="60000"/>
                      <a:lumOff val="4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44" name="矩形 143"/>
                <p:cNvSpPr/>
                <p:nvPr/>
              </p:nvSpPr>
              <p:spPr>
                <a:xfrm flipV="1">
                  <a:off x="447536" y="1601758"/>
                  <a:ext cx="1227152" cy="45719"/>
                </a:xfrm>
                <a:prstGeom prst="rect">
                  <a:avLst/>
                </a:prstGeom>
                <a:solidFill>
                  <a:schemeClr val="accent1"/>
                </a:solidFill>
                <a:ln w="12700" cap="flat" cmpd="sng" algn="ctr">
                  <a:noFill/>
                  <a:prstDash val="solid"/>
                  <a:miter lim="800000"/>
                </a:ln>
                <a:effectLst/>
              </p:spPr>
              <p:txBody>
                <a:bodyPr rtlCol="0" anchor="ctr"/>
                <a:lstStyle/>
                <a:p>
                  <a:pPr algn="ctr"/>
                  <a:endParaRPr kumimoji="1" lang="zh-CN" altLang="en-US" dirty="0">
                    <a:gradFill>
                      <a:gsLst>
                        <a:gs pos="100000">
                          <a:srgbClr val="4971FF"/>
                        </a:gs>
                        <a:gs pos="0">
                          <a:srgbClr val="1B16FF"/>
                        </a:gs>
                      </a:gsLst>
                      <a:lin ang="2700000" scaled="1"/>
                    </a:gradFill>
                    <a:latin typeface="微软雅黑" panose="020B0503020204020204" charset="-122"/>
                    <a:ea typeface="微软雅黑" panose="020B0503020204020204" charset="-122"/>
                    <a:cs typeface="微软雅黑" panose="020B0503020204020204" charset="-122"/>
                  </a:endParaRPr>
                </a:p>
              </p:txBody>
            </p:sp>
          </p:grpSp>
          <p:sp>
            <p:nvSpPr>
              <p:cNvPr id="145" name="文本框 144"/>
              <p:cNvSpPr txBox="1"/>
              <p:nvPr/>
            </p:nvSpPr>
            <p:spPr>
              <a:xfrm>
                <a:off x="371749" y="1226561"/>
                <a:ext cx="1386761" cy="337153"/>
              </a:xfrm>
              <a:prstGeom prst="rect">
                <a:avLst/>
              </a:prstGeom>
              <a:noFill/>
            </p:spPr>
            <p:txBody>
              <a:bodyPr wrap="square" rtlCol="0">
                <a:spAutoFit/>
              </a:bodyPr>
              <a:lstStyle/>
              <a:p>
                <a:r>
                  <a:rPr kumimoji="1"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计划阶段</a:t>
                </a:r>
                <a:endParaRPr kumimoji="1"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153" name="矩形: 圆角 1040"/>
            <p:cNvSpPr/>
            <p:nvPr>
              <p:custDataLst>
                <p:tags r:id="rId3"/>
              </p:custDataLst>
            </p:nvPr>
          </p:nvSpPr>
          <p:spPr>
            <a:xfrm>
              <a:off x="980" y="2807"/>
              <a:ext cx="4241" cy="2515"/>
            </a:xfrm>
            <a:prstGeom prst="roundRect">
              <a:avLst>
                <a:gd name="adj" fmla="val 0"/>
              </a:avLst>
            </a:prstGeom>
            <a:solidFill>
              <a:schemeClr val="accent1">
                <a:lumMod val="20000"/>
                <a:lumOff val="80000"/>
                <a:alpha val="20000"/>
              </a:schemeClr>
            </a:solidFill>
            <a:ln w="12700" cap="flat" cmpd="sng" algn="ctr">
              <a:solidFill>
                <a:schemeClr val="accent1">
                  <a:alpha val="50000"/>
                </a:schemeClr>
              </a:solidFill>
              <a:prstDash val="dash"/>
              <a:miter lim="800000"/>
            </a:ln>
            <a:effectLst/>
          </p:spPr>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4" name="文本框 153"/>
            <p:cNvSpPr txBox="1"/>
            <p:nvPr>
              <p:custDataLst>
                <p:tags r:id="rId4"/>
              </p:custDataLst>
            </p:nvPr>
          </p:nvSpPr>
          <p:spPr>
            <a:xfrm>
              <a:off x="1093" y="2996"/>
              <a:ext cx="4077" cy="2179"/>
            </a:xfrm>
            <a:prstGeom prst="rect">
              <a:avLst/>
            </a:prstGeom>
            <a:noFill/>
          </p:spPr>
          <p:txBody>
            <a:bodyPr wrap="square">
              <a:spAutoFit/>
            </a:bodyPr>
            <a:lstStyle/>
            <a:p>
              <a:pPr algn="l"/>
              <a:r>
                <a:rPr lang="zh-CN" altLang="en-US" sz="1400" b="0" i="0" dirty="0">
                  <a:solidFill>
                    <a:schemeClr val="tx2"/>
                  </a:solidFill>
                  <a:effectLst/>
                  <a:latin typeface="微软雅黑" panose="020B0503020204020204" charset="-122"/>
                  <a:ea typeface="微软雅黑" panose="020B0503020204020204" charset="-122"/>
                  <a:cs typeface="微软雅黑" panose="020B0503020204020204" charset="-122"/>
                </a:rPr>
                <a:t>基于现状调查与数据分析，设定清晰可量化的目标，并制定详细实施步骤。需明确</a:t>
              </a:r>
              <a:r>
                <a:rPr lang="en-US" altLang="zh-CN" sz="1400" b="0" i="0" dirty="0">
                  <a:solidFill>
                    <a:schemeClr val="tx2"/>
                  </a:solidFill>
                  <a:effectLst/>
                  <a:latin typeface="微软雅黑" panose="020B0503020204020204" charset="-122"/>
                  <a:ea typeface="微软雅黑" panose="020B0503020204020204" charset="-122"/>
                  <a:cs typeface="微软雅黑" panose="020B0503020204020204" charset="-122"/>
                </a:rPr>
                <a:t>5W1H</a:t>
              </a:r>
              <a:r>
                <a:rPr lang="zh-CN" altLang="en-US" sz="1400" b="0" i="0" dirty="0">
                  <a:solidFill>
                    <a:schemeClr val="tx2"/>
                  </a:solidFill>
                  <a:effectLst/>
                  <a:latin typeface="微软雅黑" panose="020B0503020204020204" charset="-122"/>
                  <a:ea typeface="微软雅黑" panose="020B0503020204020204" charset="-122"/>
                  <a:cs typeface="微软雅黑" panose="020B0503020204020204" charset="-122"/>
                </a:rPr>
                <a:t>（为何做、做什么、何处、何时、谁做、如何做），同时预判潜在障碍并制定预案。</a:t>
              </a:r>
              <a:endParaRPr lang="zh-CN" altLang="en-US" sz="1400" b="0" i="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grpSp>
        <p:nvGrpSpPr>
          <p:cNvPr id="156" name="组合 155"/>
          <p:cNvGrpSpPr/>
          <p:nvPr/>
        </p:nvGrpSpPr>
        <p:grpSpPr>
          <a:xfrm flipH="1">
            <a:off x="8319111" y="1584960"/>
            <a:ext cx="3489349" cy="2061210"/>
            <a:chOff x="875" y="1987"/>
            <a:chExt cx="5495" cy="3246"/>
          </a:xfrm>
        </p:grpSpPr>
        <p:grpSp>
          <p:nvGrpSpPr>
            <p:cNvPr id="157" name="组合 156"/>
            <p:cNvGrpSpPr/>
            <p:nvPr/>
          </p:nvGrpSpPr>
          <p:grpSpPr>
            <a:xfrm>
              <a:off x="875" y="1987"/>
              <a:ext cx="5495" cy="1466"/>
              <a:chOff x="371749" y="1226561"/>
              <a:chExt cx="3964779" cy="930770"/>
            </a:xfrm>
          </p:grpSpPr>
          <p:grpSp>
            <p:nvGrpSpPr>
              <p:cNvPr id="158" name="组合 157"/>
              <p:cNvGrpSpPr/>
              <p:nvPr/>
            </p:nvGrpSpPr>
            <p:grpSpPr>
              <a:xfrm>
                <a:off x="447536" y="1601758"/>
                <a:ext cx="3888992" cy="555573"/>
                <a:chOff x="447536" y="1601758"/>
                <a:chExt cx="3888992" cy="555573"/>
              </a:xfrm>
            </p:grpSpPr>
            <p:sp>
              <p:nvSpPr>
                <p:cNvPr id="159" name="任意多边形: 形状 535"/>
                <p:cNvSpPr/>
                <p:nvPr/>
              </p:nvSpPr>
              <p:spPr>
                <a:xfrm>
                  <a:off x="447536" y="1646839"/>
                  <a:ext cx="3888992" cy="510492"/>
                </a:xfrm>
                <a:custGeom>
                  <a:avLst/>
                  <a:gdLst>
                    <a:gd name="connsiteX0" fmla="*/ 5094514 w 5094514"/>
                    <a:gd name="connsiteY0" fmla="*/ 740228 h 740228"/>
                    <a:gd name="connsiteX1" fmla="*/ 4354286 w 5094514"/>
                    <a:gd name="connsiteY1" fmla="*/ 0 h 740228"/>
                    <a:gd name="connsiteX2" fmla="*/ 0 w 5094514"/>
                    <a:gd name="connsiteY2" fmla="*/ 0 h 740228"/>
                    <a:gd name="connsiteX0-1" fmla="*/ 6691302 w 6691302"/>
                    <a:gd name="connsiteY0-2" fmla="*/ 740228 h 740228"/>
                    <a:gd name="connsiteX1-3" fmla="*/ 5951074 w 6691302"/>
                    <a:gd name="connsiteY1-4" fmla="*/ 0 h 740228"/>
                    <a:gd name="connsiteX2-5" fmla="*/ 0 w 6691302"/>
                    <a:gd name="connsiteY2-6" fmla="*/ 0 h 740228"/>
                  </a:gdLst>
                  <a:ahLst/>
                  <a:cxnLst>
                    <a:cxn ang="0">
                      <a:pos x="connsiteX0-1" y="connsiteY0-2"/>
                    </a:cxn>
                    <a:cxn ang="0">
                      <a:pos x="connsiteX1-3" y="connsiteY1-4"/>
                    </a:cxn>
                    <a:cxn ang="0">
                      <a:pos x="connsiteX2-5" y="connsiteY2-6"/>
                    </a:cxn>
                  </a:cxnLst>
                  <a:rect l="l" t="t" r="r" b="b"/>
                  <a:pathLst>
                    <a:path w="6691302" h="740228">
                      <a:moveTo>
                        <a:pt x="6691302" y="740228"/>
                      </a:moveTo>
                      <a:lnTo>
                        <a:pt x="5951074" y="0"/>
                      </a:lnTo>
                      <a:lnTo>
                        <a:pt x="0" y="0"/>
                      </a:lnTo>
                    </a:path>
                  </a:pathLst>
                </a:custGeom>
                <a:noFill/>
                <a:ln w="9525">
                  <a:solidFill>
                    <a:schemeClr val="tx2">
                      <a:lumMod val="60000"/>
                      <a:lumOff val="4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61" name="矩形 160"/>
                <p:cNvSpPr/>
                <p:nvPr/>
              </p:nvSpPr>
              <p:spPr>
                <a:xfrm flipV="1">
                  <a:off x="447536" y="1601758"/>
                  <a:ext cx="1227152" cy="45719"/>
                </a:xfrm>
                <a:prstGeom prst="rect">
                  <a:avLst/>
                </a:prstGeom>
                <a:solidFill>
                  <a:schemeClr val="accent5"/>
                </a:solidFill>
                <a:ln w="12700" cap="flat" cmpd="sng" algn="ctr">
                  <a:noFill/>
                  <a:prstDash val="solid"/>
                  <a:miter lim="800000"/>
                </a:ln>
                <a:effectLst/>
              </p:spPr>
              <p:txBody>
                <a:bodyPr rtlCol="0" anchor="ctr"/>
                <a:lstStyle/>
                <a:p>
                  <a:pPr algn="ctr"/>
                  <a:endParaRPr kumimoji="1" lang="zh-CN" altLang="en-US" dirty="0">
                    <a:gradFill>
                      <a:gsLst>
                        <a:gs pos="100000">
                          <a:srgbClr val="4971FF"/>
                        </a:gs>
                        <a:gs pos="0">
                          <a:srgbClr val="1B16FF"/>
                        </a:gs>
                      </a:gsLst>
                      <a:lin ang="2700000" scaled="1"/>
                    </a:gradFill>
                    <a:latin typeface="微软雅黑" panose="020B0503020204020204" charset="-122"/>
                    <a:ea typeface="微软雅黑" panose="020B0503020204020204" charset="-122"/>
                    <a:cs typeface="微软雅黑" panose="020B0503020204020204" charset="-122"/>
                  </a:endParaRPr>
                </a:p>
              </p:txBody>
            </p:sp>
          </p:grpSp>
          <p:sp>
            <p:nvSpPr>
              <p:cNvPr id="162" name="文本框 161"/>
              <p:cNvSpPr txBox="1"/>
              <p:nvPr/>
            </p:nvSpPr>
            <p:spPr>
              <a:xfrm>
                <a:off x="371749" y="1226561"/>
                <a:ext cx="1386761" cy="337153"/>
              </a:xfrm>
              <a:prstGeom prst="rect">
                <a:avLst/>
              </a:prstGeom>
              <a:noFill/>
            </p:spPr>
            <p:txBody>
              <a:bodyPr wrap="square" rtlCol="0">
                <a:spAutoFit/>
              </a:bodyPr>
              <a:lstStyle/>
              <a:p>
                <a:r>
                  <a:rPr kumimoji="1"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执行阶段</a:t>
                </a:r>
                <a:endParaRPr kumimoji="1" lang="zh-CN" altLang="en-US" sz="1600" b="1" dirty="0">
                  <a:solidFill>
                    <a:schemeClr val="accent5"/>
                  </a:solidFill>
                  <a:latin typeface="微软雅黑" panose="020B0503020204020204" charset="-122"/>
                  <a:ea typeface="微软雅黑" panose="020B0503020204020204" charset="-122"/>
                  <a:cs typeface="微软雅黑" panose="020B0503020204020204" charset="-122"/>
                </a:endParaRPr>
              </a:p>
            </p:txBody>
          </p:sp>
        </p:grpSp>
        <p:sp>
          <p:nvSpPr>
            <p:cNvPr id="163" name="矩形: 圆角 1040"/>
            <p:cNvSpPr/>
            <p:nvPr>
              <p:custDataLst>
                <p:tags r:id="rId5"/>
              </p:custDataLst>
            </p:nvPr>
          </p:nvSpPr>
          <p:spPr>
            <a:xfrm>
              <a:off x="980" y="2807"/>
              <a:ext cx="4490" cy="2426"/>
            </a:xfrm>
            <a:prstGeom prst="roundRect">
              <a:avLst>
                <a:gd name="adj" fmla="val 0"/>
              </a:avLst>
            </a:prstGeom>
            <a:solidFill>
              <a:schemeClr val="accent5">
                <a:lumMod val="20000"/>
                <a:lumOff val="80000"/>
                <a:alpha val="20000"/>
              </a:schemeClr>
            </a:solidFill>
            <a:ln w="12700" cap="flat" cmpd="sng" algn="ctr">
              <a:solidFill>
                <a:schemeClr val="accent5">
                  <a:alpha val="50000"/>
                </a:schemeClr>
              </a:solidFill>
              <a:prstDash val="dash"/>
              <a:miter lim="800000"/>
            </a:ln>
            <a:effectLst/>
          </p:spPr>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64" name="文本框 163"/>
            <p:cNvSpPr txBox="1"/>
            <p:nvPr>
              <p:custDataLst>
                <p:tags r:id="rId6"/>
              </p:custDataLst>
            </p:nvPr>
          </p:nvSpPr>
          <p:spPr>
            <a:xfrm>
              <a:off x="1165" y="2944"/>
              <a:ext cx="4077" cy="2179"/>
            </a:xfrm>
            <a:prstGeom prst="rect">
              <a:avLst/>
            </a:prstGeom>
            <a:noFill/>
          </p:spPr>
          <p:txBody>
            <a:bodyPr wrap="square">
              <a:spAutoFit/>
            </a:bodyPr>
            <a:lstStyle/>
            <a:p>
              <a:pPr algn="l"/>
              <a:r>
                <a:rPr lang="zh-CN" altLang="en-US" sz="1400" b="0" i="0" dirty="0">
                  <a:solidFill>
                    <a:schemeClr val="tx2"/>
                  </a:solidFill>
                  <a:effectLst/>
                  <a:latin typeface="微软雅黑" panose="020B0503020204020204" charset="-122"/>
                  <a:ea typeface="微软雅黑" panose="020B0503020204020204" charset="-122"/>
                  <a:cs typeface="微软雅黑" panose="020B0503020204020204" charset="-122"/>
                </a:rPr>
                <a:t>严格按照既定计划展开行动，落实各项措施。在执行过程中注重过程管控与数据记录，确保动作不走样。同时做好人员沟通与资源协调，及时解决突发问题，保证执行进度与质量。</a:t>
              </a:r>
              <a:endParaRPr lang="zh-CN" altLang="en-US" sz="1400" b="0" i="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grpSp>
      <p:grpSp>
        <p:nvGrpSpPr>
          <p:cNvPr id="165" name="组合 164"/>
          <p:cNvGrpSpPr/>
          <p:nvPr/>
        </p:nvGrpSpPr>
        <p:grpSpPr>
          <a:xfrm flipH="1" flipV="1">
            <a:off x="8116570" y="4274185"/>
            <a:ext cx="3621405" cy="1715770"/>
            <a:chOff x="980" y="2578"/>
            <a:chExt cx="5703" cy="2702"/>
          </a:xfrm>
        </p:grpSpPr>
        <p:grpSp>
          <p:nvGrpSpPr>
            <p:cNvPr id="167" name="组合 166"/>
            <p:cNvGrpSpPr/>
            <p:nvPr/>
          </p:nvGrpSpPr>
          <p:grpSpPr>
            <a:xfrm rot="0">
              <a:off x="980" y="2578"/>
              <a:ext cx="5703" cy="875"/>
              <a:chOff x="447536" y="1601758"/>
              <a:chExt cx="4114800" cy="555625"/>
            </a:xfrm>
          </p:grpSpPr>
          <p:sp>
            <p:nvSpPr>
              <p:cNvPr id="168" name="任意多边形: 形状 535"/>
              <p:cNvSpPr/>
              <p:nvPr/>
            </p:nvSpPr>
            <p:spPr>
              <a:xfrm>
                <a:off x="447536" y="1646843"/>
                <a:ext cx="4114800" cy="510540"/>
              </a:xfrm>
              <a:custGeom>
                <a:avLst/>
                <a:gdLst>
                  <a:gd name="connsiteX0" fmla="*/ 5094514 w 5094514"/>
                  <a:gd name="connsiteY0" fmla="*/ 740228 h 740228"/>
                  <a:gd name="connsiteX1" fmla="*/ 4354286 w 5094514"/>
                  <a:gd name="connsiteY1" fmla="*/ 0 h 740228"/>
                  <a:gd name="connsiteX2" fmla="*/ 0 w 5094514"/>
                  <a:gd name="connsiteY2" fmla="*/ 0 h 740228"/>
                  <a:gd name="connsiteX0-1" fmla="*/ 6691302 w 6691302"/>
                  <a:gd name="connsiteY0-2" fmla="*/ 740228 h 740228"/>
                  <a:gd name="connsiteX1-3" fmla="*/ 5951074 w 6691302"/>
                  <a:gd name="connsiteY1-4" fmla="*/ 0 h 740228"/>
                  <a:gd name="connsiteX2-5" fmla="*/ 0 w 6691302"/>
                  <a:gd name="connsiteY2-6" fmla="*/ 0 h 740228"/>
                </a:gdLst>
                <a:ahLst/>
                <a:cxnLst>
                  <a:cxn ang="0">
                    <a:pos x="connsiteX0-1" y="connsiteY0-2"/>
                  </a:cxn>
                  <a:cxn ang="0">
                    <a:pos x="connsiteX1-3" y="connsiteY1-4"/>
                  </a:cxn>
                  <a:cxn ang="0">
                    <a:pos x="connsiteX2-5" y="connsiteY2-6"/>
                  </a:cxn>
                </a:cxnLst>
                <a:rect l="l" t="t" r="r" b="b"/>
                <a:pathLst>
                  <a:path w="6691302" h="740228">
                    <a:moveTo>
                      <a:pt x="6691302" y="740228"/>
                    </a:moveTo>
                    <a:lnTo>
                      <a:pt x="5951074" y="0"/>
                    </a:lnTo>
                    <a:lnTo>
                      <a:pt x="0" y="0"/>
                    </a:lnTo>
                  </a:path>
                </a:pathLst>
              </a:custGeom>
              <a:noFill/>
              <a:ln w="9525">
                <a:solidFill>
                  <a:schemeClr val="tx2">
                    <a:lumMod val="60000"/>
                    <a:lumOff val="4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69" name="矩形 168"/>
              <p:cNvSpPr/>
              <p:nvPr/>
            </p:nvSpPr>
            <p:spPr>
              <a:xfrm flipV="1">
                <a:off x="447536" y="1601758"/>
                <a:ext cx="1227152" cy="45719"/>
              </a:xfrm>
              <a:prstGeom prst="rect">
                <a:avLst/>
              </a:prstGeom>
              <a:solidFill>
                <a:schemeClr val="accent1"/>
              </a:solidFill>
              <a:ln w="12700" cap="flat" cmpd="sng" algn="ctr">
                <a:noFill/>
                <a:prstDash val="solid"/>
                <a:miter lim="800000"/>
              </a:ln>
              <a:effectLst/>
            </p:spPr>
            <p:txBody>
              <a:bodyPr rtlCol="0" anchor="ctr"/>
              <a:lstStyle/>
              <a:p>
                <a:pPr algn="ctr"/>
                <a:endParaRPr kumimoji="1" lang="zh-CN" altLang="en-US" dirty="0">
                  <a:gradFill>
                    <a:gsLst>
                      <a:gs pos="100000">
                        <a:srgbClr val="4971FF"/>
                      </a:gs>
                      <a:gs pos="0">
                        <a:srgbClr val="1B16FF"/>
                      </a:gs>
                    </a:gsLst>
                    <a:lin ang="2700000" scaled="1"/>
                  </a:gradFill>
                  <a:latin typeface="微软雅黑" panose="020B0503020204020204" charset="-122"/>
                  <a:ea typeface="微软雅黑" panose="020B0503020204020204" charset="-122"/>
                  <a:cs typeface="微软雅黑" panose="020B0503020204020204" charset="-122"/>
                </a:endParaRPr>
              </a:p>
            </p:txBody>
          </p:sp>
        </p:grpSp>
        <p:sp>
          <p:nvSpPr>
            <p:cNvPr id="171" name="矩形: 圆角 1040"/>
            <p:cNvSpPr/>
            <p:nvPr>
              <p:custDataLst>
                <p:tags r:id="rId7"/>
              </p:custDataLst>
            </p:nvPr>
          </p:nvSpPr>
          <p:spPr>
            <a:xfrm>
              <a:off x="980" y="2807"/>
              <a:ext cx="4490" cy="2473"/>
            </a:xfrm>
            <a:prstGeom prst="roundRect">
              <a:avLst>
                <a:gd name="adj" fmla="val 0"/>
              </a:avLst>
            </a:prstGeom>
            <a:solidFill>
              <a:schemeClr val="accent1">
                <a:lumMod val="20000"/>
                <a:lumOff val="80000"/>
                <a:alpha val="20000"/>
              </a:schemeClr>
            </a:solidFill>
            <a:ln w="12700" cap="flat" cmpd="sng" algn="ctr">
              <a:solidFill>
                <a:schemeClr val="accent1">
                  <a:alpha val="50000"/>
                </a:schemeClr>
              </a:solidFill>
              <a:prstDash val="dash"/>
              <a:miter lim="800000"/>
            </a:ln>
            <a:effectLst/>
          </p:spPr>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grpSp>
      <p:sp>
        <p:nvSpPr>
          <p:cNvPr id="173" name="文本框 172"/>
          <p:cNvSpPr txBox="1"/>
          <p:nvPr/>
        </p:nvSpPr>
        <p:spPr>
          <a:xfrm>
            <a:off x="10577830" y="6028055"/>
            <a:ext cx="1220470" cy="337185"/>
          </a:xfrm>
          <a:prstGeom prst="rect">
            <a:avLst/>
          </a:prstGeom>
          <a:noFill/>
        </p:spPr>
        <p:txBody>
          <a:bodyPr wrap="square" rtlCol="0">
            <a:spAutoFit/>
          </a:bodyPr>
          <a:lstStyle/>
          <a:p>
            <a:pPr algn="r"/>
            <a:r>
              <a:rPr kumimoji="1"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检查阶段</a:t>
            </a:r>
            <a:endParaRPr kumimoji="1"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grpSp>
        <p:nvGrpSpPr>
          <p:cNvPr id="174" name="组合 173"/>
          <p:cNvGrpSpPr/>
          <p:nvPr/>
        </p:nvGrpSpPr>
        <p:grpSpPr>
          <a:xfrm flipV="1">
            <a:off x="498475" y="4274185"/>
            <a:ext cx="3621405" cy="1715770"/>
            <a:chOff x="980" y="2578"/>
            <a:chExt cx="5703" cy="2702"/>
          </a:xfrm>
        </p:grpSpPr>
        <p:grpSp>
          <p:nvGrpSpPr>
            <p:cNvPr id="175" name="组合 174"/>
            <p:cNvGrpSpPr/>
            <p:nvPr/>
          </p:nvGrpSpPr>
          <p:grpSpPr>
            <a:xfrm rot="0">
              <a:off x="980" y="2578"/>
              <a:ext cx="5703" cy="875"/>
              <a:chOff x="447536" y="1601758"/>
              <a:chExt cx="4114800" cy="555625"/>
            </a:xfrm>
          </p:grpSpPr>
          <p:sp>
            <p:nvSpPr>
              <p:cNvPr id="176" name="任意多边形: 形状 535"/>
              <p:cNvSpPr/>
              <p:nvPr/>
            </p:nvSpPr>
            <p:spPr>
              <a:xfrm>
                <a:off x="447536" y="1646843"/>
                <a:ext cx="4114800" cy="510540"/>
              </a:xfrm>
              <a:custGeom>
                <a:avLst/>
                <a:gdLst>
                  <a:gd name="connsiteX0" fmla="*/ 5094514 w 5094514"/>
                  <a:gd name="connsiteY0" fmla="*/ 740228 h 740228"/>
                  <a:gd name="connsiteX1" fmla="*/ 4354286 w 5094514"/>
                  <a:gd name="connsiteY1" fmla="*/ 0 h 740228"/>
                  <a:gd name="connsiteX2" fmla="*/ 0 w 5094514"/>
                  <a:gd name="connsiteY2" fmla="*/ 0 h 740228"/>
                  <a:gd name="connsiteX0-1" fmla="*/ 6691302 w 6691302"/>
                  <a:gd name="connsiteY0-2" fmla="*/ 740228 h 740228"/>
                  <a:gd name="connsiteX1-3" fmla="*/ 5951074 w 6691302"/>
                  <a:gd name="connsiteY1-4" fmla="*/ 0 h 740228"/>
                  <a:gd name="connsiteX2-5" fmla="*/ 0 w 6691302"/>
                  <a:gd name="connsiteY2-6" fmla="*/ 0 h 740228"/>
                </a:gdLst>
                <a:ahLst/>
                <a:cxnLst>
                  <a:cxn ang="0">
                    <a:pos x="connsiteX0-1" y="connsiteY0-2"/>
                  </a:cxn>
                  <a:cxn ang="0">
                    <a:pos x="connsiteX1-3" y="connsiteY1-4"/>
                  </a:cxn>
                  <a:cxn ang="0">
                    <a:pos x="connsiteX2-5" y="connsiteY2-6"/>
                  </a:cxn>
                </a:cxnLst>
                <a:rect l="l" t="t" r="r" b="b"/>
                <a:pathLst>
                  <a:path w="6691302" h="740228">
                    <a:moveTo>
                      <a:pt x="6691302" y="740228"/>
                    </a:moveTo>
                    <a:lnTo>
                      <a:pt x="5951074" y="0"/>
                    </a:lnTo>
                    <a:lnTo>
                      <a:pt x="0" y="0"/>
                    </a:lnTo>
                  </a:path>
                </a:pathLst>
              </a:custGeom>
              <a:noFill/>
              <a:ln w="9525">
                <a:solidFill>
                  <a:schemeClr val="tx2">
                    <a:lumMod val="60000"/>
                    <a:lumOff val="40000"/>
                  </a:schemeClr>
                </a:solid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177" name="矩形 176"/>
              <p:cNvSpPr/>
              <p:nvPr/>
            </p:nvSpPr>
            <p:spPr>
              <a:xfrm flipV="1">
                <a:off x="447536" y="1601758"/>
                <a:ext cx="1227152" cy="45719"/>
              </a:xfrm>
              <a:prstGeom prst="rect">
                <a:avLst/>
              </a:prstGeom>
              <a:solidFill>
                <a:schemeClr val="accent5"/>
              </a:solidFill>
              <a:ln w="12700" cap="flat" cmpd="sng" algn="ctr">
                <a:noFill/>
                <a:prstDash val="solid"/>
                <a:miter lim="800000"/>
              </a:ln>
              <a:effectLst/>
            </p:spPr>
            <p:txBody>
              <a:bodyPr rtlCol="0" anchor="ctr"/>
              <a:lstStyle/>
              <a:p>
                <a:pPr algn="ctr"/>
                <a:endParaRPr kumimoji="1" lang="zh-CN" altLang="en-US" dirty="0">
                  <a:gradFill>
                    <a:gsLst>
                      <a:gs pos="100000">
                        <a:srgbClr val="4971FF"/>
                      </a:gs>
                      <a:gs pos="0">
                        <a:srgbClr val="1B16FF"/>
                      </a:gs>
                    </a:gsLst>
                    <a:lin ang="2700000" scaled="1"/>
                  </a:gradFill>
                  <a:latin typeface="微软雅黑" panose="020B0503020204020204" charset="-122"/>
                  <a:ea typeface="微软雅黑" panose="020B0503020204020204" charset="-122"/>
                  <a:cs typeface="微软雅黑" panose="020B0503020204020204" charset="-122"/>
                </a:endParaRPr>
              </a:p>
            </p:txBody>
          </p:sp>
        </p:grpSp>
        <p:sp>
          <p:nvSpPr>
            <p:cNvPr id="178" name="矩形: 圆角 1040"/>
            <p:cNvSpPr/>
            <p:nvPr>
              <p:custDataLst>
                <p:tags r:id="rId8"/>
              </p:custDataLst>
            </p:nvPr>
          </p:nvSpPr>
          <p:spPr>
            <a:xfrm>
              <a:off x="980" y="2807"/>
              <a:ext cx="4531" cy="2473"/>
            </a:xfrm>
            <a:prstGeom prst="roundRect">
              <a:avLst>
                <a:gd name="adj" fmla="val 0"/>
              </a:avLst>
            </a:prstGeom>
            <a:solidFill>
              <a:schemeClr val="accent5">
                <a:lumMod val="20000"/>
                <a:lumOff val="80000"/>
                <a:alpha val="20000"/>
              </a:schemeClr>
            </a:solidFill>
            <a:ln w="12700" cap="flat" cmpd="sng" algn="ctr">
              <a:solidFill>
                <a:schemeClr val="accent5">
                  <a:alpha val="50000"/>
                </a:schemeClr>
              </a:solidFill>
              <a:prstDash val="dash"/>
              <a:miter lim="800000"/>
            </a:ln>
            <a:effectLst/>
          </p:spPr>
          <p:txBody>
            <a:bodyPr rtlCol="0" anchor="ctr"/>
            <a:lstStyle/>
            <a:p>
              <a:pPr algn="ctr"/>
              <a:endParaRPr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grpSp>
      <p:sp>
        <p:nvSpPr>
          <p:cNvPr id="180" name="文本框 179"/>
          <p:cNvSpPr txBox="1"/>
          <p:nvPr>
            <p:custDataLst>
              <p:tags r:id="rId9"/>
            </p:custDataLst>
          </p:nvPr>
        </p:nvSpPr>
        <p:spPr>
          <a:xfrm flipH="1">
            <a:off x="8978265" y="4368165"/>
            <a:ext cx="2703195" cy="1383665"/>
          </a:xfrm>
          <a:prstGeom prst="rect">
            <a:avLst/>
          </a:prstGeom>
          <a:noFill/>
        </p:spPr>
        <p:txBody>
          <a:bodyPr wrap="square">
            <a:spAutoFit/>
          </a:bodyPr>
          <a:lstStyle/>
          <a:p>
            <a:pPr algn="l"/>
            <a:r>
              <a:rPr lang="zh-CN" altLang="en-US" sz="1400" b="0" i="0" dirty="0">
                <a:solidFill>
                  <a:schemeClr val="tx2"/>
                </a:solidFill>
                <a:effectLst/>
                <a:latin typeface="微软雅黑" panose="020B0503020204020204" charset="-122"/>
                <a:ea typeface="微软雅黑" panose="020B0503020204020204" charset="-122"/>
                <a:cs typeface="微软雅黑" panose="020B0503020204020204" charset="-122"/>
              </a:rPr>
              <a:t>将执行结果与计划目标进行对比分析，评估达成情况。通过数据统计与现场验证，找出成功经验与存在的偏差，深入剖析问题根源。既要肯定成果，也要不回避短板，为改进提供客观依据。</a:t>
            </a:r>
            <a:endParaRPr lang="zh-CN" altLang="en-US" sz="1400" b="0" i="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81" name="文本框 180"/>
          <p:cNvSpPr txBox="1"/>
          <p:nvPr>
            <p:custDataLst>
              <p:tags r:id="rId10"/>
            </p:custDataLst>
          </p:nvPr>
        </p:nvSpPr>
        <p:spPr>
          <a:xfrm flipH="1">
            <a:off x="621665" y="4368165"/>
            <a:ext cx="2703195" cy="1383665"/>
          </a:xfrm>
          <a:prstGeom prst="rect">
            <a:avLst/>
          </a:prstGeom>
          <a:noFill/>
        </p:spPr>
        <p:txBody>
          <a:bodyPr wrap="square">
            <a:spAutoFit/>
          </a:bodyPr>
          <a:lstStyle/>
          <a:p>
            <a:pPr algn="l"/>
            <a:r>
              <a:rPr lang="zh-CN" altLang="en-US" sz="1400" b="0" i="0" dirty="0">
                <a:solidFill>
                  <a:schemeClr val="tx2"/>
                </a:solidFill>
                <a:effectLst/>
                <a:latin typeface="微软雅黑" panose="020B0503020204020204" charset="-122"/>
                <a:ea typeface="微软雅黑" panose="020B0503020204020204" charset="-122"/>
                <a:cs typeface="微软雅黑" panose="020B0503020204020204" charset="-122"/>
              </a:rPr>
              <a:t>对检查结果进行总结处理。将有效措施标准化纳入制度，防止问题复发；未解决问题转入下一循环持续改进。通过固化成果与迭代升级，推动工作质量螺旋式上升，实现管理闭环。</a:t>
            </a:r>
            <a:endParaRPr lang="zh-CN" altLang="en-US" sz="1400" b="0" i="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82" name="文本框 181"/>
          <p:cNvSpPr txBox="1"/>
          <p:nvPr/>
        </p:nvSpPr>
        <p:spPr>
          <a:xfrm flipH="1">
            <a:off x="485140" y="6049010"/>
            <a:ext cx="1220470" cy="337185"/>
          </a:xfrm>
          <a:prstGeom prst="rect">
            <a:avLst/>
          </a:prstGeom>
          <a:noFill/>
        </p:spPr>
        <p:txBody>
          <a:bodyPr wrap="square" rtlCol="0">
            <a:spAutoFit/>
          </a:bodyPr>
          <a:lstStyle/>
          <a:p>
            <a:r>
              <a:rPr kumimoji="1"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处理阶段</a:t>
            </a:r>
            <a:endParaRPr kumimoji="1" lang="zh-CN" altLang="en-US" sz="1600" b="1" dirty="0">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11"/>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6" name="组合 15"/>
          <p:cNvGrpSpPr/>
          <p:nvPr/>
        </p:nvGrpSpPr>
        <p:grpSpPr>
          <a:xfrm>
            <a:off x="3801443" y="1426233"/>
            <a:ext cx="4621563" cy="4595786"/>
            <a:chOff x="6700" y="2615"/>
            <a:chExt cx="5664" cy="5632"/>
          </a:xfrm>
        </p:grpSpPr>
        <p:sp>
          <p:nvSpPr>
            <p:cNvPr id="14" name="任意多边形: 形状 106"/>
            <p:cNvSpPr/>
            <p:nvPr/>
          </p:nvSpPr>
          <p:spPr>
            <a:xfrm rot="19566226">
              <a:off x="6700" y="3324"/>
              <a:ext cx="3328" cy="1608"/>
            </a:xfrm>
            <a:custGeom>
              <a:avLst/>
              <a:gdLst>
                <a:gd name="connsiteX0" fmla="*/ 1241011 w 2113030"/>
                <a:gd name="connsiteY0" fmla="*/ 766 h 1020885"/>
                <a:gd name="connsiteX1" fmla="*/ 1931044 w 2113030"/>
                <a:gd name="connsiteY1" fmla="*/ 188998 h 1020885"/>
                <a:gd name="connsiteX2" fmla="*/ 2038420 w 2113030"/>
                <a:gd name="connsiteY2" fmla="*/ 254872 h 1020885"/>
                <a:gd name="connsiteX3" fmla="*/ 2095836 w 2113030"/>
                <a:gd name="connsiteY3" fmla="*/ 171791 h 1020885"/>
                <a:gd name="connsiteX4" fmla="*/ 2113030 w 2113030"/>
                <a:gd name="connsiteY4" fmla="*/ 818914 h 1020885"/>
                <a:gd name="connsiteX5" fmla="*/ 1588900 w 2113030"/>
                <a:gd name="connsiteY5" fmla="*/ 905327 h 1020885"/>
                <a:gd name="connsiteX6" fmla="*/ 1653684 w 2113030"/>
                <a:gd name="connsiteY6" fmla="*/ 811584 h 1020885"/>
                <a:gd name="connsiteX7" fmla="*/ 1590351 w 2113030"/>
                <a:gd name="connsiteY7" fmla="*/ 773755 h 1020885"/>
                <a:gd name="connsiteX8" fmla="*/ 543487 w 2113030"/>
                <a:gd name="connsiteY8" fmla="*/ 1020885 h 1020885"/>
                <a:gd name="connsiteX9" fmla="*/ 464950 w 2113030"/>
                <a:gd name="connsiteY9" fmla="*/ 594175 h 1020885"/>
                <a:gd name="connsiteX10" fmla="*/ 0 w 2113030"/>
                <a:gd name="connsiteY10" fmla="*/ 605678 h 1020885"/>
                <a:gd name="connsiteX11" fmla="*/ 1241011 w 2113030"/>
                <a:gd name="connsiteY11" fmla="*/ 766 h 102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30" h="1020885">
                  <a:moveTo>
                    <a:pt x="1241011" y="766"/>
                  </a:moveTo>
                  <a:cubicBezTo>
                    <a:pt x="1477911" y="8253"/>
                    <a:pt x="1715229" y="70628"/>
                    <a:pt x="1931044" y="188998"/>
                  </a:cubicBezTo>
                  <a:lnTo>
                    <a:pt x="2038420" y="254872"/>
                  </a:lnTo>
                  <a:lnTo>
                    <a:pt x="2095836" y="171791"/>
                  </a:lnTo>
                  <a:lnTo>
                    <a:pt x="2113030" y="818914"/>
                  </a:lnTo>
                  <a:lnTo>
                    <a:pt x="1588900" y="905327"/>
                  </a:lnTo>
                  <a:lnTo>
                    <a:pt x="1653684" y="811584"/>
                  </a:lnTo>
                  <a:lnTo>
                    <a:pt x="1590351" y="773755"/>
                  </a:lnTo>
                  <a:cubicBezTo>
                    <a:pt x="1236350" y="589629"/>
                    <a:pt x="706551" y="701189"/>
                    <a:pt x="543487" y="1020885"/>
                  </a:cubicBezTo>
                  <a:lnTo>
                    <a:pt x="464950" y="594175"/>
                  </a:lnTo>
                  <a:lnTo>
                    <a:pt x="0" y="605678"/>
                  </a:lnTo>
                  <a:cubicBezTo>
                    <a:pt x="295084" y="190377"/>
                    <a:pt x="767211" y="-14207"/>
                    <a:pt x="1241011" y="766"/>
                  </a:cubicBezTo>
                  <a:close/>
                </a:path>
              </a:pathLst>
            </a:custGeom>
            <a:gradFill flip="none" rotWithShape="1">
              <a:gsLst>
                <a:gs pos="23000">
                  <a:schemeClr val="accent1"/>
                </a:gs>
                <a:gs pos="100000">
                  <a:schemeClr val="accent1">
                    <a:lumMod val="60000"/>
                    <a:lumOff val="40000"/>
                  </a:schemeClr>
                </a:gs>
              </a:gsLst>
              <a:lin ang="10800000" scaled="1"/>
              <a:tileRect/>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08" name="Freeform 39++"/>
            <p:cNvSpPr/>
            <p:nvPr/>
          </p:nvSpPr>
          <p:spPr>
            <a:xfrm rot="14166226">
              <a:off x="6549" y="5779"/>
              <a:ext cx="3328" cy="1608"/>
            </a:xfrm>
            <a:custGeom>
              <a:avLst/>
              <a:gdLst>
                <a:gd name="connsiteX0" fmla="*/ 1241011 w 2113030"/>
                <a:gd name="connsiteY0" fmla="*/ 766 h 1020885"/>
                <a:gd name="connsiteX1" fmla="*/ 1931044 w 2113030"/>
                <a:gd name="connsiteY1" fmla="*/ 188998 h 1020885"/>
                <a:gd name="connsiteX2" fmla="*/ 2038420 w 2113030"/>
                <a:gd name="connsiteY2" fmla="*/ 254872 h 1020885"/>
                <a:gd name="connsiteX3" fmla="*/ 2095836 w 2113030"/>
                <a:gd name="connsiteY3" fmla="*/ 171791 h 1020885"/>
                <a:gd name="connsiteX4" fmla="*/ 2113030 w 2113030"/>
                <a:gd name="connsiteY4" fmla="*/ 818914 h 1020885"/>
                <a:gd name="connsiteX5" fmla="*/ 1588900 w 2113030"/>
                <a:gd name="connsiteY5" fmla="*/ 905327 h 1020885"/>
                <a:gd name="connsiteX6" fmla="*/ 1653684 w 2113030"/>
                <a:gd name="connsiteY6" fmla="*/ 811584 h 1020885"/>
                <a:gd name="connsiteX7" fmla="*/ 1590351 w 2113030"/>
                <a:gd name="connsiteY7" fmla="*/ 773755 h 1020885"/>
                <a:gd name="connsiteX8" fmla="*/ 543487 w 2113030"/>
                <a:gd name="connsiteY8" fmla="*/ 1020885 h 1020885"/>
                <a:gd name="connsiteX9" fmla="*/ 464950 w 2113030"/>
                <a:gd name="connsiteY9" fmla="*/ 594175 h 1020885"/>
                <a:gd name="connsiteX10" fmla="*/ 0 w 2113030"/>
                <a:gd name="connsiteY10" fmla="*/ 605678 h 1020885"/>
                <a:gd name="connsiteX11" fmla="*/ 1241011 w 2113030"/>
                <a:gd name="connsiteY11" fmla="*/ 766 h 102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30" h="1020885">
                  <a:moveTo>
                    <a:pt x="1241011" y="766"/>
                  </a:moveTo>
                  <a:cubicBezTo>
                    <a:pt x="1477911" y="8253"/>
                    <a:pt x="1715229" y="70628"/>
                    <a:pt x="1931044" y="188998"/>
                  </a:cubicBezTo>
                  <a:lnTo>
                    <a:pt x="2038420" y="254872"/>
                  </a:lnTo>
                  <a:lnTo>
                    <a:pt x="2095836" y="171791"/>
                  </a:lnTo>
                  <a:lnTo>
                    <a:pt x="2113030" y="818914"/>
                  </a:lnTo>
                  <a:lnTo>
                    <a:pt x="1588900" y="905327"/>
                  </a:lnTo>
                  <a:lnTo>
                    <a:pt x="1653684" y="811584"/>
                  </a:lnTo>
                  <a:lnTo>
                    <a:pt x="1590351" y="773755"/>
                  </a:lnTo>
                  <a:cubicBezTo>
                    <a:pt x="1236350" y="589629"/>
                    <a:pt x="706551" y="701189"/>
                    <a:pt x="543487" y="1020885"/>
                  </a:cubicBezTo>
                  <a:lnTo>
                    <a:pt x="464950" y="594175"/>
                  </a:lnTo>
                  <a:lnTo>
                    <a:pt x="0" y="605678"/>
                  </a:lnTo>
                  <a:cubicBezTo>
                    <a:pt x="295084" y="190377"/>
                    <a:pt x="767211" y="-14207"/>
                    <a:pt x="1241011" y="766"/>
                  </a:cubicBezTo>
                  <a:close/>
                </a:path>
              </a:pathLst>
            </a:custGeom>
            <a:gradFill flip="none" rotWithShape="1">
              <a:gsLst>
                <a:gs pos="100000">
                  <a:schemeClr val="accent5">
                    <a:lumMod val="60000"/>
                    <a:lumOff val="40000"/>
                  </a:schemeClr>
                </a:gs>
                <a:gs pos="0">
                  <a:schemeClr val="accent5">
                    <a:lumMod val="40000"/>
                    <a:lumOff val="6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09" name="Freeform 39+++"/>
            <p:cNvSpPr/>
            <p:nvPr/>
          </p:nvSpPr>
          <p:spPr>
            <a:xfrm rot="8766226">
              <a:off x="9036" y="5962"/>
              <a:ext cx="3328" cy="1608"/>
            </a:xfrm>
            <a:custGeom>
              <a:avLst/>
              <a:gdLst>
                <a:gd name="connsiteX0" fmla="*/ 1241011 w 2113030"/>
                <a:gd name="connsiteY0" fmla="*/ 766 h 1020885"/>
                <a:gd name="connsiteX1" fmla="*/ 1931044 w 2113030"/>
                <a:gd name="connsiteY1" fmla="*/ 188998 h 1020885"/>
                <a:gd name="connsiteX2" fmla="*/ 2038420 w 2113030"/>
                <a:gd name="connsiteY2" fmla="*/ 254872 h 1020885"/>
                <a:gd name="connsiteX3" fmla="*/ 2095836 w 2113030"/>
                <a:gd name="connsiteY3" fmla="*/ 171791 h 1020885"/>
                <a:gd name="connsiteX4" fmla="*/ 2113030 w 2113030"/>
                <a:gd name="connsiteY4" fmla="*/ 818914 h 1020885"/>
                <a:gd name="connsiteX5" fmla="*/ 1588900 w 2113030"/>
                <a:gd name="connsiteY5" fmla="*/ 905327 h 1020885"/>
                <a:gd name="connsiteX6" fmla="*/ 1653684 w 2113030"/>
                <a:gd name="connsiteY6" fmla="*/ 811584 h 1020885"/>
                <a:gd name="connsiteX7" fmla="*/ 1590351 w 2113030"/>
                <a:gd name="connsiteY7" fmla="*/ 773755 h 1020885"/>
                <a:gd name="connsiteX8" fmla="*/ 543487 w 2113030"/>
                <a:gd name="connsiteY8" fmla="*/ 1020885 h 1020885"/>
                <a:gd name="connsiteX9" fmla="*/ 464950 w 2113030"/>
                <a:gd name="connsiteY9" fmla="*/ 594175 h 1020885"/>
                <a:gd name="connsiteX10" fmla="*/ 0 w 2113030"/>
                <a:gd name="connsiteY10" fmla="*/ 605678 h 1020885"/>
                <a:gd name="connsiteX11" fmla="*/ 1241011 w 2113030"/>
                <a:gd name="connsiteY11" fmla="*/ 766 h 102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30" h="1020885">
                  <a:moveTo>
                    <a:pt x="1241011" y="766"/>
                  </a:moveTo>
                  <a:cubicBezTo>
                    <a:pt x="1477911" y="8253"/>
                    <a:pt x="1715229" y="70628"/>
                    <a:pt x="1931044" y="188998"/>
                  </a:cubicBezTo>
                  <a:lnTo>
                    <a:pt x="2038420" y="254872"/>
                  </a:lnTo>
                  <a:lnTo>
                    <a:pt x="2095836" y="171791"/>
                  </a:lnTo>
                  <a:lnTo>
                    <a:pt x="2113030" y="818914"/>
                  </a:lnTo>
                  <a:lnTo>
                    <a:pt x="1588900" y="905327"/>
                  </a:lnTo>
                  <a:lnTo>
                    <a:pt x="1653684" y="811584"/>
                  </a:lnTo>
                  <a:lnTo>
                    <a:pt x="1590351" y="773755"/>
                  </a:lnTo>
                  <a:cubicBezTo>
                    <a:pt x="1236350" y="589629"/>
                    <a:pt x="706551" y="701189"/>
                    <a:pt x="543487" y="1020885"/>
                  </a:cubicBezTo>
                  <a:lnTo>
                    <a:pt x="464950" y="594175"/>
                  </a:lnTo>
                  <a:lnTo>
                    <a:pt x="0" y="605678"/>
                  </a:lnTo>
                  <a:cubicBezTo>
                    <a:pt x="295084" y="190377"/>
                    <a:pt x="767211" y="-14207"/>
                    <a:pt x="1241011" y="766"/>
                  </a:cubicBezTo>
                  <a:close/>
                </a:path>
              </a:pathLst>
            </a:custGeom>
            <a:gradFill flip="none" rotWithShape="1">
              <a:gsLst>
                <a:gs pos="23000">
                  <a:schemeClr val="accent5"/>
                </a:gs>
                <a:gs pos="100000">
                  <a:schemeClr val="accent5">
                    <a:lumMod val="60000"/>
                    <a:lumOff val="40000"/>
                  </a:schemeClr>
                </a:gs>
              </a:gsLst>
              <a:lin ang="10800000" scaled="1"/>
              <a:tileRect/>
            </a:gradFill>
            <a:ln w="9525">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10" name="Freeform 39++++"/>
            <p:cNvSpPr/>
            <p:nvPr/>
          </p:nvSpPr>
          <p:spPr>
            <a:xfrm rot="3366226">
              <a:off x="9175" y="3475"/>
              <a:ext cx="3328" cy="1608"/>
            </a:xfrm>
            <a:custGeom>
              <a:avLst/>
              <a:gdLst>
                <a:gd name="connsiteX0" fmla="*/ 1241011 w 2113030"/>
                <a:gd name="connsiteY0" fmla="*/ 766 h 1020885"/>
                <a:gd name="connsiteX1" fmla="*/ 1931044 w 2113030"/>
                <a:gd name="connsiteY1" fmla="*/ 188998 h 1020885"/>
                <a:gd name="connsiteX2" fmla="*/ 2038420 w 2113030"/>
                <a:gd name="connsiteY2" fmla="*/ 254872 h 1020885"/>
                <a:gd name="connsiteX3" fmla="*/ 2095836 w 2113030"/>
                <a:gd name="connsiteY3" fmla="*/ 171791 h 1020885"/>
                <a:gd name="connsiteX4" fmla="*/ 2113030 w 2113030"/>
                <a:gd name="connsiteY4" fmla="*/ 818914 h 1020885"/>
                <a:gd name="connsiteX5" fmla="*/ 1588900 w 2113030"/>
                <a:gd name="connsiteY5" fmla="*/ 905327 h 1020885"/>
                <a:gd name="connsiteX6" fmla="*/ 1653684 w 2113030"/>
                <a:gd name="connsiteY6" fmla="*/ 811584 h 1020885"/>
                <a:gd name="connsiteX7" fmla="*/ 1590351 w 2113030"/>
                <a:gd name="connsiteY7" fmla="*/ 773755 h 1020885"/>
                <a:gd name="connsiteX8" fmla="*/ 543487 w 2113030"/>
                <a:gd name="connsiteY8" fmla="*/ 1020885 h 1020885"/>
                <a:gd name="connsiteX9" fmla="*/ 464950 w 2113030"/>
                <a:gd name="connsiteY9" fmla="*/ 594175 h 1020885"/>
                <a:gd name="connsiteX10" fmla="*/ 0 w 2113030"/>
                <a:gd name="connsiteY10" fmla="*/ 605678 h 1020885"/>
                <a:gd name="connsiteX11" fmla="*/ 1241011 w 2113030"/>
                <a:gd name="connsiteY11" fmla="*/ 766 h 1020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13030" h="1020885">
                  <a:moveTo>
                    <a:pt x="1241011" y="766"/>
                  </a:moveTo>
                  <a:cubicBezTo>
                    <a:pt x="1477911" y="8253"/>
                    <a:pt x="1715229" y="70628"/>
                    <a:pt x="1931044" y="188998"/>
                  </a:cubicBezTo>
                  <a:lnTo>
                    <a:pt x="2038420" y="254872"/>
                  </a:lnTo>
                  <a:lnTo>
                    <a:pt x="2095836" y="171791"/>
                  </a:lnTo>
                  <a:lnTo>
                    <a:pt x="2113030" y="818914"/>
                  </a:lnTo>
                  <a:lnTo>
                    <a:pt x="1588900" y="905327"/>
                  </a:lnTo>
                  <a:lnTo>
                    <a:pt x="1653684" y="811584"/>
                  </a:lnTo>
                  <a:lnTo>
                    <a:pt x="1590351" y="773755"/>
                  </a:lnTo>
                  <a:cubicBezTo>
                    <a:pt x="1236350" y="589629"/>
                    <a:pt x="706551" y="701189"/>
                    <a:pt x="543487" y="1020885"/>
                  </a:cubicBezTo>
                  <a:lnTo>
                    <a:pt x="464950" y="594175"/>
                  </a:lnTo>
                  <a:lnTo>
                    <a:pt x="0" y="605678"/>
                  </a:lnTo>
                  <a:cubicBezTo>
                    <a:pt x="295084" y="190377"/>
                    <a:pt x="767211" y="-14207"/>
                    <a:pt x="1241011" y="766"/>
                  </a:cubicBezTo>
                  <a:close/>
                </a:path>
              </a:pathLst>
            </a:custGeom>
            <a:gradFill flip="none" rotWithShape="1">
              <a:gsLst>
                <a:gs pos="100000">
                  <a:schemeClr val="accent1">
                    <a:lumMod val="60000"/>
                    <a:lumOff val="40000"/>
                  </a:schemeClr>
                </a:gs>
                <a:gs pos="0">
                  <a:schemeClr val="accent1">
                    <a:lumMod val="40000"/>
                    <a:lumOff val="60000"/>
                  </a:schemeClr>
                </a:gs>
              </a:gsLst>
              <a:path path="circle">
                <a:fillToRect t="100000" r="100000"/>
              </a:path>
              <a:tileRect l="-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wrap="square" lIns="98755" tIns="49378" rIns="98755" bIns="49378" rtlCol="0" anchor="ctr">
              <a:noAutofit/>
            </a:bodyPr>
            <a:lstStyle/>
            <a:p>
              <a:pPr algn="ctr"/>
              <a:endParaRPr lang="zh-CN" altLang="en-US" sz="1945">
                <a:solidFill>
                  <a:schemeClr val="bg1"/>
                </a:solidFill>
                <a:effectLst>
                  <a:outerShdw blurRad="137160" dist="41148" dir="2699997" algn="tl">
                    <a:srgbClr val="000000">
                      <a:alpha val="40000"/>
                    </a:srgbClr>
                  </a:outerShdw>
                </a:effectLst>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23" name="文本框 122"/>
            <p:cNvSpPr txBox="1"/>
            <p:nvPr/>
          </p:nvSpPr>
          <p:spPr>
            <a:xfrm rot="19075733">
              <a:off x="7473" y="3841"/>
              <a:ext cx="2689" cy="1127"/>
            </a:xfrm>
            <a:prstGeom prst="rect">
              <a:avLst/>
            </a:prstGeom>
            <a:noFill/>
          </p:spPr>
          <p:txBody>
            <a:bodyPr wrap="square" rtlCol="0">
              <a:prstTxWarp prst="textArchUp">
                <a:avLst/>
              </a:prstTxWarp>
              <a:spAutoFit/>
            </a:bodyPr>
            <a:lstStyle/>
            <a:p>
              <a:pPr marL="285750" marR="0" lvl="0" indent="-285750" algn="ctr" defTabSz="4572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1" lang="en-US" altLang="zh-CN" sz="2000" b="1"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S</a:t>
              </a:r>
              <a:r>
                <a:rPr kumimoji="1" lang="en-US" altLang="zh-CN" sz="1600" b="1"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trengths</a:t>
              </a:r>
              <a:endParaRPr kumimoji="1" lang="en-US" altLang="zh-CN" sz="1600" b="1"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a:p>
              <a:pPr marL="285750" marR="0" lvl="0" indent="-285750" algn="ctr" defTabSz="4572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1" lang="zh-CN" altLang="en-US" sz="2000" b="1"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优势</a:t>
              </a:r>
              <a:endParaRPr lang="zh-CN" altLang="en-US" sz="2000" b="1" dirty="0">
                <a:solidFill>
                  <a:schemeClr val="bg1">
                    <a:alpha val="90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rPr>
              <a:t>SWOT</a:t>
            </a:r>
            <a:r>
              <a:rPr sz="2500" dirty="0">
                <a:solidFill>
                  <a:schemeClr val="tx2"/>
                </a:solidFill>
                <a:effectLst/>
                <a:latin typeface="微软雅黑" panose="020B0503020204020204" charset="-122"/>
                <a:ea typeface="微软雅黑" panose="020B0503020204020204" charset="-122"/>
                <a:cs typeface="微软雅黑" panose="020B0503020204020204" charset="-122"/>
              </a:rPr>
              <a:t>分析法模型</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 name="熊大的PPT宝库3"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3576000" y="1252700"/>
            <a:ext cx="5040000" cy="5040000"/>
          </a:xfrm>
          <a:prstGeom prst="ellipse">
            <a:avLst/>
          </a:prstGeom>
          <a:noFill/>
          <a:ln>
            <a:gradFill flip="none" rotWithShape="1">
              <a:gsLst>
                <a:gs pos="0">
                  <a:schemeClr val="accent1">
                    <a:lumMod val="60000"/>
                    <a:lumOff val="40000"/>
                  </a:schemeClr>
                </a:gs>
                <a:gs pos="50000">
                  <a:schemeClr val="accent1">
                    <a:lumMod val="60000"/>
                    <a:lumOff val="40000"/>
                    <a:alpha val="0"/>
                  </a:schemeClr>
                </a:gs>
                <a:gs pos="100000">
                  <a:schemeClr val="accent1">
                    <a:lumMod val="60000"/>
                    <a:lumOff val="40000"/>
                  </a:schemeClr>
                </a:gs>
              </a:gsLst>
              <a:lin ang="0" scaled="1"/>
              <a:tileRect/>
            </a:gra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latin typeface="微软雅黑" panose="020B0503020204020204" charset="-122"/>
              <a:ea typeface="微软雅黑" panose="020B0503020204020204" charset="-122"/>
              <a:cs typeface="微软雅黑" panose="020B0503020204020204" charset="-122"/>
            </a:endParaRPr>
          </a:p>
        </p:txBody>
      </p:sp>
      <p:sp>
        <p:nvSpPr>
          <p:cNvPr id="20" name="熊大的PPT宝库14"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434974" y="1390237"/>
            <a:ext cx="3859375" cy="1994515"/>
          </a:xfrm>
          <a:custGeom>
            <a:avLst/>
            <a:gdLst>
              <a:gd name="connsiteX0" fmla="*/ 0 w 3859375"/>
              <a:gd name="connsiteY0" fmla="*/ 0 h 1994515"/>
              <a:gd name="connsiteX1" fmla="*/ 3859375 w 3859375"/>
              <a:gd name="connsiteY1" fmla="*/ 0 h 1994515"/>
              <a:gd name="connsiteX2" fmla="*/ 3758978 w 3859375"/>
              <a:gd name="connsiteY2" fmla="*/ 75075 h 1994515"/>
              <a:gd name="connsiteX3" fmla="*/ 2731571 w 3859375"/>
              <a:gd name="connsiteY3" fmla="*/ 1779832 h 1994515"/>
              <a:gd name="connsiteX4" fmla="*/ 2698807 w 3859375"/>
              <a:gd name="connsiteY4" fmla="*/ 1994515 h 1994515"/>
              <a:gd name="connsiteX5" fmla="*/ 0 w 3859375"/>
              <a:gd name="connsiteY5" fmla="*/ 1994515 h 1994515"/>
              <a:gd name="connsiteX6" fmla="*/ 0 w 3859375"/>
              <a:gd name="connsiteY6" fmla="*/ 0 h 199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9375" h="1994515">
                <a:moveTo>
                  <a:pt x="0" y="0"/>
                </a:moveTo>
                <a:lnTo>
                  <a:pt x="3859375" y="0"/>
                </a:lnTo>
                <a:lnTo>
                  <a:pt x="3758978" y="75075"/>
                </a:lnTo>
                <a:cubicBezTo>
                  <a:pt x="3242094" y="501646"/>
                  <a:pt x="2870984" y="1098539"/>
                  <a:pt x="2731571" y="1779832"/>
                </a:cubicBezTo>
                <a:lnTo>
                  <a:pt x="2698807" y="1994515"/>
                </a:lnTo>
                <a:lnTo>
                  <a:pt x="0" y="1994515"/>
                </a:lnTo>
                <a:lnTo>
                  <a:pt x="0" y="0"/>
                </a:lnTo>
                <a:close/>
              </a:path>
            </a:pathLst>
          </a:custGeom>
          <a:solidFill>
            <a:schemeClr val="accent1">
              <a:lumMod val="20000"/>
              <a:lumOff val="80000"/>
              <a:alpha val="40000"/>
            </a:schemeClr>
          </a:solidFill>
          <a:ln w="12700">
            <a:solidFill>
              <a:schemeClr val="accent1">
                <a:lumMod val="40000"/>
                <a:lumOff val="6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lang="zh-CN" altLang="en-US">
              <a:latin typeface="微软雅黑" panose="020B0503020204020204" charset="-122"/>
              <a:ea typeface="微软雅黑" panose="020B0503020204020204" charset="-122"/>
              <a:cs typeface="微软雅黑" panose="020B0503020204020204" charset="-122"/>
            </a:endParaRPr>
          </a:p>
        </p:txBody>
      </p:sp>
      <p:sp>
        <p:nvSpPr>
          <p:cNvPr id="21" name="熊大的PPT宝库15"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7897652" y="1390237"/>
            <a:ext cx="3813514" cy="1994515"/>
          </a:xfrm>
          <a:custGeom>
            <a:avLst/>
            <a:gdLst>
              <a:gd name="connsiteX0" fmla="*/ 0 w 3813514"/>
              <a:gd name="connsiteY0" fmla="*/ 0 h 1994515"/>
              <a:gd name="connsiteX1" fmla="*/ 3813514 w 3813514"/>
              <a:gd name="connsiteY1" fmla="*/ 0 h 1994515"/>
              <a:gd name="connsiteX2" fmla="*/ 3813514 w 3813514"/>
              <a:gd name="connsiteY2" fmla="*/ 1994515 h 1994515"/>
              <a:gd name="connsiteX3" fmla="*/ 1160567 w 3813514"/>
              <a:gd name="connsiteY3" fmla="*/ 1994515 h 1994515"/>
              <a:gd name="connsiteX4" fmla="*/ 1127803 w 3813514"/>
              <a:gd name="connsiteY4" fmla="*/ 1779832 h 1994515"/>
              <a:gd name="connsiteX5" fmla="*/ 100396 w 3813514"/>
              <a:gd name="connsiteY5" fmla="*/ 75075 h 1994515"/>
              <a:gd name="connsiteX6" fmla="*/ 0 w 3813514"/>
              <a:gd name="connsiteY6" fmla="*/ 0 h 199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13514" h="1994515">
                <a:moveTo>
                  <a:pt x="0" y="0"/>
                </a:moveTo>
                <a:lnTo>
                  <a:pt x="3813514" y="0"/>
                </a:lnTo>
                <a:lnTo>
                  <a:pt x="3813514" y="1994515"/>
                </a:lnTo>
                <a:lnTo>
                  <a:pt x="1160567" y="1994515"/>
                </a:lnTo>
                <a:lnTo>
                  <a:pt x="1127803" y="1779832"/>
                </a:lnTo>
                <a:cubicBezTo>
                  <a:pt x="988390" y="1098539"/>
                  <a:pt x="617280" y="501646"/>
                  <a:pt x="100396" y="75075"/>
                </a:cubicBezTo>
                <a:lnTo>
                  <a:pt x="0" y="0"/>
                </a:lnTo>
                <a:close/>
              </a:path>
            </a:pathLst>
          </a:custGeom>
          <a:solidFill>
            <a:schemeClr val="accent1">
              <a:lumMod val="20000"/>
              <a:lumOff val="80000"/>
              <a:alpha val="40000"/>
            </a:schemeClr>
          </a:solidFill>
          <a:ln w="12700">
            <a:solidFill>
              <a:schemeClr val="accent1">
                <a:lumMod val="40000"/>
                <a:lumOff val="6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2" name="熊大的PPT宝库16"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434974" y="4192259"/>
            <a:ext cx="3901648" cy="1994515"/>
          </a:xfrm>
          <a:custGeom>
            <a:avLst/>
            <a:gdLst>
              <a:gd name="connsiteX0" fmla="*/ 0 w 3901648"/>
              <a:gd name="connsiteY0" fmla="*/ 0 h 1994515"/>
              <a:gd name="connsiteX1" fmla="*/ 2703631 w 3901648"/>
              <a:gd name="connsiteY1" fmla="*/ 0 h 1994515"/>
              <a:gd name="connsiteX2" fmla="*/ 2731571 w 3901648"/>
              <a:gd name="connsiteY2" fmla="*/ 183072 h 1994515"/>
              <a:gd name="connsiteX3" fmla="*/ 3758978 w 3901648"/>
              <a:gd name="connsiteY3" fmla="*/ 1887829 h 1994515"/>
              <a:gd name="connsiteX4" fmla="*/ 3901648 w 3901648"/>
              <a:gd name="connsiteY4" fmla="*/ 1994515 h 1994515"/>
              <a:gd name="connsiteX5" fmla="*/ 0 w 3901648"/>
              <a:gd name="connsiteY5" fmla="*/ 1994515 h 1994515"/>
              <a:gd name="connsiteX6" fmla="*/ 0 w 3901648"/>
              <a:gd name="connsiteY6" fmla="*/ 0 h 199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901648" h="1994515">
                <a:moveTo>
                  <a:pt x="0" y="0"/>
                </a:moveTo>
                <a:lnTo>
                  <a:pt x="2703631" y="0"/>
                </a:lnTo>
                <a:lnTo>
                  <a:pt x="2731571" y="183072"/>
                </a:lnTo>
                <a:cubicBezTo>
                  <a:pt x="2870984" y="864365"/>
                  <a:pt x="3242094" y="1461259"/>
                  <a:pt x="3758978" y="1887829"/>
                </a:cubicBezTo>
                <a:lnTo>
                  <a:pt x="3901648" y="1994515"/>
                </a:lnTo>
                <a:lnTo>
                  <a:pt x="0" y="1994515"/>
                </a:lnTo>
                <a:lnTo>
                  <a:pt x="0" y="0"/>
                </a:lnTo>
                <a:close/>
              </a:path>
            </a:pathLst>
          </a:custGeom>
          <a:solidFill>
            <a:schemeClr val="accent5">
              <a:lumMod val="20000"/>
              <a:lumOff val="80000"/>
              <a:alpha val="40000"/>
            </a:schemeClr>
          </a:solidFill>
          <a:ln w="12700">
            <a:solidFill>
              <a:schemeClr val="accent5">
                <a:lumMod val="40000"/>
                <a:lumOff val="6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3" name="熊大的PPT宝库17"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p:nvPr/>
        </p:nvSpPr>
        <p:spPr>
          <a:xfrm>
            <a:off x="7855379" y="4192259"/>
            <a:ext cx="3855787" cy="1994515"/>
          </a:xfrm>
          <a:custGeom>
            <a:avLst/>
            <a:gdLst>
              <a:gd name="connsiteX0" fmla="*/ 1198016 w 3855787"/>
              <a:gd name="connsiteY0" fmla="*/ 0 h 1994515"/>
              <a:gd name="connsiteX1" fmla="*/ 3855787 w 3855787"/>
              <a:gd name="connsiteY1" fmla="*/ 0 h 1994515"/>
              <a:gd name="connsiteX2" fmla="*/ 3855787 w 3855787"/>
              <a:gd name="connsiteY2" fmla="*/ 1994515 h 1994515"/>
              <a:gd name="connsiteX3" fmla="*/ 0 w 3855787"/>
              <a:gd name="connsiteY3" fmla="*/ 1994515 h 1994515"/>
              <a:gd name="connsiteX4" fmla="*/ 142669 w 3855787"/>
              <a:gd name="connsiteY4" fmla="*/ 1887829 h 1994515"/>
              <a:gd name="connsiteX5" fmla="*/ 1170076 w 3855787"/>
              <a:gd name="connsiteY5" fmla="*/ 183072 h 1994515"/>
              <a:gd name="connsiteX6" fmla="*/ 1198016 w 3855787"/>
              <a:gd name="connsiteY6" fmla="*/ 0 h 19945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855787" h="1994515">
                <a:moveTo>
                  <a:pt x="1198016" y="0"/>
                </a:moveTo>
                <a:lnTo>
                  <a:pt x="3855787" y="0"/>
                </a:lnTo>
                <a:lnTo>
                  <a:pt x="3855787" y="1994515"/>
                </a:lnTo>
                <a:lnTo>
                  <a:pt x="0" y="1994515"/>
                </a:lnTo>
                <a:lnTo>
                  <a:pt x="142669" y="1887829"/>
                </a:lnTo>
                <a:cubicBezTo>
                  <a:pt x="659553" y="1461259"/>
                  <a:pt x="1030663" y="864365"/>
                  <a:pt x="1170076" y="183072"/>
                </a:cubicBezTo>
                <a:lnTo>
                  <a:pt x="1198016" y="0"/>
                </a:lnTo>
                <a:close/>
              </a:path>
            </a:pathLst>
          </a:custGeom>
          <a:solidFill>
            <a:schemeClr val="accent5">
              <a:lumMod val="20000"/>
              <a:lumOff val="80000"/>
              <a:alpha val="40000"/>
            </a:schemeClr>
          </a:solidFill>
          <a:ln w="12700">
            <a:solidFill>
              <a:schemeClr val="accent5">
                <a:lumMod val="40000"/>
                <a:lumOff val="60000"/>
              </a:schemeClr>
            </a:solidFill>
            <a:prstDash val="dash"/>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6" name="熊大的PPT宝库18"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txBox="1"/>
          <p:nvPr/>
        </p:nvSpPr>
        <p:spPr>
          <a:xfrm>
            <a:off x="858444" y="1495732"/>
            <a:ext cx="2206625" cy="368300"/>
          </a:xfrm>
          <a:prstGeom prst="rect">
            <a:avLst/>
          </a:prstGeom>
          <a:noFill/>
        </p:spPr>
        <p:txBody>
          <a:bodyPr wrap="none" rtlCol="0">
            <a:spAutoFit/>
          </a:bodyPr>
          <a:lstStyle/>
          <a:p>
            <a:pPr algn="l" defTabSz="457200"/>
            <a:r>
              <a:rPr lang="zh-CN" altLang="en-US" b="1" dirty="0">
                <a:solidFill>
                  <a:schemeClr val="accent1"/>
                </a:solidFill>
                <a:latin typeface="微软雅黑" panose="020B0503020204020204" charset="-122"/>
                <a:ea typeface="微软雅黑" panose="020B0503020204020204" charset="-122"/>
                <a:cs typeface="微软雅黑" panose="020B0503020204020204" charset="-122"/>
              </a:rPr>
              <a:t>优势（</a:t>
            </a:r>
            <a:r>
              <a:rPr lang="en-US" altLang="zh-CN" b="1" dirty="0">
                <a:solidFill>
                  <a:schemeClr val="accent1"/>
                </a:solidFill>
                <a:latin typeface="微软雅黑" panose="020B0503020204020204" charset="-122"/>
                <a:ea typeface="微软雅黑" panose="020B0503020204020204" charset="-122"/>
                <a:cs typeface="微软雅黑" panose="020B0503020204020204" charset="-122"/>
              </a:rPr>
              <a:t>Strengths</a:t>
            </a:r>
            <a:r>
              <a:rPr lang="zh-CN" altLang="en-US" b="1" dirty="0">
                <a:solidFill>
                  <a:schemeClr val="accent1"/>
                </a:solidFill>
                <a:latin typeface="微软雅黑" panose="020B0503020204020204" charset="-122"/>
                <a:ea typeface="微软雅黑" panose="020B0503020204020204" charset="-122"/>
                <a:cs typeface="微软雅黑" panose="020B0503020204020204" charset="-122"/>
              </a:rPr>
              <a:t>）</a:t>
            </a:r>
            <a:endParaRPr lang="zh-CN" altLang="en-US"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33" name="熊大的PPT宝库21"/>
          <p:cNvSpPr/>
          <p:nvPr/>
        </p:nvSpPr>
        <p:spPr>
          <a:xfrm flipH="1">
            <a:off x="580642" y="2286896"/>
            <a:ext cx="2474049" cy="1021080"/>
          </a:xfrm>
          <a:prstGeom prst="rect">
            <a:avLst/>
          </a:prstGeom>
          <a:ln>
            <a:noFill/>
          </a:ln>
        </p:spPr>
        <p:txBody>
          <a:bodyPr wrap="square" lIns="91440" tIns="45720" rIns="91440" bIns="45720" anchor="t">
            <a:spAutoFit/>
          </a:bodyPr>
          <a:lstStyle/>
          <a:p>
            <a:pPr marL="0" marR="0" lvl="0" indent="0" algn="just" defTabSz="914400" rtl="0" eaLnBrk="1" fontAlgn="auto" latinLnBrk="0" hangingPunct="1">
              <a:lnSpc>
                <a:spcPct val="110000"/>
              </a:lnSpc>
              <a:spcBef>
                <a:spcPts val="0"/>
              </a:spcBef>
              <a:spcAft>
                <a:spcPts val="0"/>
              </a:spcAft>
              <a:buClrTx/>
              <a:buSzTx/>
              <a:buFontTx/>
              <a:buNone/>
              <a:defRPr/>
            </a:pPr>
            <a:r>
              <a:rPr kumimoji="0" lang="zh-CN" altLang="en-US" sz="11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组织内部具备的积极因素，是提升竞争力的基石，有助于在市场中占据有利地位。识别优势能让企业聚焦核心能力，在战略制定中最大限度地利用现有资产，巩固市场地位。</a:t>
            </a:r>
            <a:endParaRPr kumimoji="0" lang="zh-CN" altLang="en-US" sz="11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nvSpPr>
        <p:spPr>
          <a:xfrm rot="2695732">
            <a:off x="5881550" y="2716295"/>
            <a:ext cx="2194109" cy="919711"/>
          </a:xfrm>
          <a:prstGeom prst="rect">
            <a:avLst/>
          </a:prstGeom>
          <a:noFill/>
        </p:spPr>
        <p:txBody>
          <a:bodyPr wrap="square" rtlCol="0">
            <a:prstTxWarp prst="textArchUp">
              <a:avLst/>
            </a:prstTxWarp>
            <a:spAutoFit/>
          </a:bodyPr>
          <a:lstStyle/>
          <a:p>
            <a:pPr marL="285750" marR="0" lvl="0" indent="-285750" algn="ctr" defTabSz="4572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1" lang="en-US" altLang="zh-CN" sz="2000" b="1"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W</a:t>
            </a:r>
            <a:r>
              <a:rPr kumimoji="1" lang="en-US" altLang="zh-CN" sz="1600" b="1"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eaknesses</a:t>
            </a:r>
            <a:endParaRPr kumimoji="1" lang="en-US" altLang="zh-CN" sz="1600" b="1"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a:p>
            <a:pPr marL="285750" marR="0" lvl="0" indent="-285750" algn="ctr" defTabSz="4572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1" lang="zh-CN" altLang="en-US" sz="2000" b="1"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rPr>
              <a:t>劣势</a:t>
            </a:r>
            <a:endParaRPr lang="zh-CN" altLang="en-US" sz="2000" b="1" dirty="0">
              <a:solidFill>
                <a:schemeClr val="bg1">
                  <a:alpha val="90000"/>
                </a:schemeClr>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5" name="文本框 24"/>
          <p:cNvSpPr txBox="1"/>
          <p:nvPr/>
        </p:nvSpPr>
        <p:spPr>
          <a:xfrm rot="3295730">
            <a:off x="4164510" y="3697370"/>
            <a:ext cx="2194109" cy="919711"/>
          </a:xfrm>
          <a:prstGeom prst="rect">
            <a:avLst/>
          </a:prstGeom>
          <a:noFill/>
        </p:spPr>
        <p:txBody>
          <a:bodyPr wrap="square" rtlCol="0">
            <a:prstTxWarp prst="textArchDown">
              <a:avLst/>
            </a:prstTxWarp>
            <a:spAutoFit/>
          </a:bodyPr>
          <a:lstStyle/>
          <a:p>
            <a:pPr marL="285750" marR="0" lvl="0" indent="-285750" algn="ctr" defTabSz="4572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1" lang="en-US" altLang="zh-CN" sz="20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T</a:t>
            </a:r>
            <a:r>
              <a:rPr kumimoji="1" lang="en-US" altLang="zh-CN" sz="16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hreats</a:t>
            </a:r>
            <a:endParaRPr kumimoji="1" lang="en-US" altLang="zh-CN" sz="16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endParaRPr>
          </a:p>
          <a:p>
            <a:pPr marL="285750" marR="0" lvl="0" indent="-285750" algn="ctr" defTabSz="4572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1" lang="zh-CN" altLang="en-US" sz="20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威胁</a:t>
            </a:r>
            <a:endParaRPr kumimoji="1" lang="zh-CN" altLang="en-US" sz="20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endParaRPr>
          </a:p>
        </p:txBody>
      </p:sp>
      <p:grpSp>
        <p:nvGrpSpPr>
          <p:cNvPr id="30" name="组合 29"/>
          <p:cNvGrpSpPr/>
          <p:nvPr/>
        </p:nvGrpSpPr>
        <p:grpSpPr>
          <a:xfrm>
            <a:off x="5210810" y="2893060"/>
            <a:ext cx="1727835" cy="1727835"/>
            <a:chOff x="7898" y="4870"/>
            <a:chExt cx="2721" cy="2721"/>
          </a:xfrm>
        </p:grpSpPr>
        <p:sp>
          <p:nvSpPr>
            <p:cNvPr id="35" name="熊大的PPT宝库15-1"/>
            <p:cNvSpPr/>
            <p:nvPr/>
          </p:nvSpPr>
          <p:spPr>
            <a:xfrm>
              <a:off x="7898" y="4870"/>
              <a:ext cx="2721" cy="2721"/>
            </a:xfrm>
            <a:prstGeom prst="ellipse">
              <a:avLst/>
            </a:prstGeom>
            <a:gradFill>
              <a:gsLst>
                <a:gs pos="0">
                  <a:schemeClr val="accent1">
                    <a:lumMod val="60000"/>
                    <a:lumOff val="40000"/>
                  </a:schemeClr>
                </a:gs>
                <a:gs pos="100000">
                  <a:schemeClr val="accent1"/>
                </a:gs>
              </a:gsLst>
              <a:lin ang="18900000" scaled="0"/>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6" name="©天蝎PPT9-42"/>
            <p:cNvSpPr txBox="1"/>
            <p:nvPr/>
          </p:nvSpPr>
          <p:spPr>
            <a:xfrm>
              <a:off x="8347" y="5638"/>
              <a:ext cx="1827" cy="1186"/>
            </a:xfrm>
            <a:prstGeom prst="rect">
              <a:avLst/>
            </a:prstGeom>
            <a:noFill/>
          </p:spPr>
          <p:txBody>
            <a:bodyPr wrap="none" rtlCol="0">
              <a:spAutoFit/>
            </a:bodyPr>
            <a:lstStyle/>
            <a:p>
              <a:pPr algn="ctr"/>
              <a:r>
                <a:rPr kumimoji="1" lang="en-US" sz="25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SWOT</a:t>
              </a:r>
              <a:endParaRPr kumimoji="1" lang="en-US" sz="25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r>
                <a:rPr kumimoji="1"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分析法</a:t>
              </a:r>
              <a:endParaRPr kumimoji="1"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99" name="圆角矩形 98"/>
          <p:cNvSpPr/>
          <p:nvPr/>
        </p:nvSpPr>
        <p:spPr>
          <a:xfrm>
            <a:off x="581025" y="1954530"/>
            <a:ext cx="793115" cy="240030"/>
          </a:xfrm>
          <a:prstGeom prst="roundRect">
            <a:avLst>
              <a:gd name="adj" fmla="val 50000"/>
            </a:avLst>
          </a:prstGeom>
          <a:solidFill>
            <a:schemeClr val="bg1"/>
          </a:solidFill>
          <a:ln w="6350">
            <a:solidFill>
              <a:schemeClr val="accent1"/>
            </a:solidFill>
            <a:prstDash val="solid"/>
          </a:ln>
          <a:effectLst>
            <a:outerShdw blurRad="1016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技术领先</a:t>
            </a:r>
            <a:endParaRPr kumimoji="1" lang="zh-CN" altLang="en-US"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7" name="圆角矩形 36"/>
          <p:cNvSpPr/>
          <p:nvPr/>
        </p:nvSpPr>
        <p:spPr>
          <a:xfrm>
            <a:off x="1454785" y="1954530"/>
            <a:ext cx="793115" cy="240030"/>
          </a:xfrm>
          <a:prstGeom prst="roundRect">
            <a:avLst>
              <a:gd name="adj" fmla="val 50000"/>
            </a:avLst>
          </a:prstGeom>
          <a:solidFill>
            <a:schemeClr val="bg1"/>
          </a:solidFill>
          <a:ln w="6350">
            <a:solidFill>
              <a:schemeClr val="accent1"/>
            </a:solidFill>
            <a:prstDash val="solid"/>
          </a:ln>
          <a:effectLst>
            <a:outerShdw blurRad="1016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品牌声誉</a:t>
            </a:r>
            <a:endParaRPr kumimoji="1" lang="zh-CN" altLang="en-US"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8" name="圆角矩形 37"/>
          <p:cNvSpPr/>
          <p:nvPr/>
        </p:nvSpPr>
        <p:spPr>
          <a:xfrm>
            <a:off x="2328545" y="1954530"/>
            <a:ext cx="793115" cy="240030"/>
          </a:xfrm>
          <a:prstGeom prst="roundRect">
            <a:avLst>
              <a:gd name="adj" fmla="val 50000"/>
            </a:avLst>
          </a:prstGeom>
          <a:solidFill>
            <a:schemeClr val="bg1"/>
          </a:solidFill>
          <a:ln w="6350">
            <a:solidFill>
              <a:schemeClr val="accent1"/>
            </a:solidFill>
            <a:prstDash val="solid"/>
          </a:ln>
          <a:effectLst>
            <a:outerShdw blurRad="1016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成本优势</a:t>
            </a:r>
            <a:endParaRPr kumimoji="1" lang="zh-CN" altLang="en-US"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9" name="熊大的PPT宝库18"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txBox="1"/>
          <p:nvPr/>
        </p:nvSpPr>
        <p:spPr>
          <a:xfrm>
            <a:off x="9223299" y="1494462"/>
            <a:ext cx="2491740" cy="368300"/>
          </a:xfrm>
          <a:prstGeom prst="rect">
            <a:avLst/>
          </a:prstGeom>
          <a:noFill/>
        </p:spPr>
        <p:txBody>
          <a:bodyPr wrap="none" rtlCol="0">
            <a:spAutoFit/>
          </a:bodyPr>
          <a:lstStyle/>
          <a:p>
            <a:pPr algn="l" defTabSz="457200"/>
            <a:r>
              <a:rPr lang="zh-CN" altLang="en-US" b="1" dirty="0">
                <a:solidFill>
                  <a:schemeClr val="accent1"/>
                </a:solidFill>
                <a:latin typeface="微软雅黑" panose="020B0503020204020204" charset="-122"/>
                <a:ea typeface="微软雅黑" panose="020B0503020204020204" charset="-122"/>
                <a:cs typeface="微软雅黑" panose="020B0503020204020204" charset="-122"/>
              </a:rPr>
              <a:t>劣势（</a:t>
            </a:r>
            <a:r>
              <a:rPr lang="en-US" altLang="zh-CN" b="1" dirty="0">
                <a:solidFill>
                  <a:schemeClr val="accent1"/>
                </a:solidFill>
                <a:latin typeface="微软雅黑" panose="020B0503020204020204" charset="-122"/>
                <a:ea typeface="微软雅黑" panose="020B0503020204020204" charset="-122"/>
                <a:cs typeface="微软雅黑" panose="020B0503020204020204" charset="-122"/>
              </a:rPr>
              <a:t>Weaknesses</a:t>
            </a:r>
            <a:r>
              <a:rPr lang="zh-CN" altLang="en-US" b="1" dirty="0">
                <a:solidFill>
                  <a:schemeClr val="accent1"/>
                </a:solidFill>
                <a:latin typeface="微软雅黑" panose="020B0503020204020204" charset="-122"/>
                <a:ea typeface="微软雅黑" panose="020B0503020204020204" charset="-122"/>
                <a:cs typeface="微软雅黑" panose="020B0503020204020204" charset="-122"/>
              </a:rPr>
              <a:t>）</a:t>
            </a:r>
            <a:endParaRPr lang="zh-CN" altLang="en-US"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0" name="熊大的PPT宝库21"/>
          <p:cNvSpPr/>
          <p:nvPr/>
        </p:nvSpPr>
        <p:spPr>
          <a:xfrm flipH="1">
            <a:off x="9094722" y="2286896"/>
            <a:ext cx="2474049" cy="1021080"/>
          </a:xfrm>
          <a:prstGeom prst="rect">
            <a:avLst/>
          </a:prstGeom>
          <a:ln>
            <a:noFill/>
          </a:ln>
        </p:spPr>
        <p:txBody>
          <a:bodyPr wrap="square" lIns="91440" tIns="45720" rIns="91440" bIns="45720" anchor="t">
            <a:spAutoFit/>
          </a:bodyPr>
          <a:lstStyle/>
          <a:p>
            <a:pPr marL="0" marR="0" lvl="0" indent="0" algn="just" defTabSz="914400" rtl="0" eaLnBrk="1" fontAlgn="auto" latinLnBrk="0" hangingPunct="1">
              <a:lnSpc>
                <a:spcPct val="110000"/>
              </a:lnSpc>
              <a:spcBef>
                <a:spcPts val="0"/>
              </a:spcBef>
              <a:spcAft>
                <a:spcPts val="0"/>
              </a:spcAft>
              <a:buClrTx/>
              <a:buSzTx/>
              <a:buFontTx/>
              <a:buNone/>
              <a:defRPr/>
            </a:pPr>
            <a:r>
              <a:rPr kumimoji="0" lang="zh-CN" altLang="en-US" sz="11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组织内部存在的限制性或薄弱环节，这些因素可能阻碍发展，增加运营风险。通过坦诚评估自身不足，企业可以制定针对性的改进计划，弥补短板，防止在竞争中错失良机。</a:t>
            </a:r>
            <a:endParaRPr kumimoji="0" lang="zh-CN" altLang="en-US" sz="11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1" name="圆角矩形 40"/>
          <p:cNvSpPr/>
          <p:nvPr/>
        </p:nvSpPr>
        <p:spPr>
          <a:xfrm>
            <a:off x="9095105" y="1954530"/>
            <a:ext cx="793115" cy="240030"/>
          </a:xfrm>
          <a:prstGeom prst="roundRect">
            <a:avLst>
              <a:gd name="adj" fmla="val 50000"/>
            </a:avLst>
          </a:prstGeom>
          <a:solidFill>
            <a:schemeClr val="bg1"/>
          </a:solidFill>
          <a:ln w="6350">
            <a:solidFill>
              <a:schemeClr val="accent1"/>
            </a:solidFill>
            <a:prstDash val="solid"/>
          </a:ln>
          <a:effectLst>
            <a:outerShdw blurRad="1016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资金短缺</a:t>
            </a:r>
            <a:endParaRPr kumimoji="1" lang="zh-CN" altLang="en-US"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2" name="圆角矩形 41"/>
          <p:cNvSpPr/>
          <p:nvPr/>
        </p:nvSpPr>
        <p:spPr>
          <a:xfrm>
            <a:off x="9968865" y="1954530"/>
            <a:ext cx="793115" cy="240030"/>
          </a:xfrm>
          <a:prstGeom prst="roundRect">
            <a:avLst>
              <a:gd name="adj" fmla="val 50000"/>
            </a:avLst>
          </a:prstGeom>
          <a:solidFill>
            <a:schemeClr val="bg1"/>
          </a:solidFill>
          <a:ln w="6350">
            <a:solidFill>
              <a:schemeClr val="accent1"/>
            </a:solidFill>
            <a:prstDash val="solid"/>
          </a:ln>
          <a:effectLst>
            <a:outerShdw blurRad="1016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技术落后</a:t>
            </a:r>
            <a:endParaRPr kumimoji="1" lang="zh-CN" altLang="en-US"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6" name="圆角矩形 45"/>
          <p:cNvSpPr/>
          <p:nvPr/>
        </p:nvSpPr>
        <p:spPr>
          <a:xfrm>
            <a:off x="10842625" y="1954530"/>
            <a:ext cx="793115" cy="240030"/>
          </a:xfrm>
          <a:prstGeom prst="roundRect">
            <a:avLst>
              <a:gd name="adj" fmla="val 50000"/>
            </a:avLst>
          </a:prstGeom>
          <a:solidFill>
            <a:schemeClr val="bg1"/>
          </a:solidFill>
          <a:ln w="6350">
            <a:solidFill>
              <a:schemeClr val="accent1"/>
            </a:solidFill>
            <a:prstDash val="solid"/>
          </a:ln>
          <a:effectLst>
            <a:outerShdw blurRad="1016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管理混乱</a:t>
            </a:r>
            <a:endParaRPr kumimoji="1" lang="zh-CN" altLang="en-US" sz="10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7" name="熊大的PPT宝库18"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txBox="1"/>
          <p:nvPr/>
        </p:nvSpPr>
        <p:spPr>
          <a:xfrm>
            <a:off x="9154160" y="4301490"/>
            <a:ext cx="2391410" cy="337185"/>
          </a:xfrm>
          <a:prstGeom prst="rect">
            <a:avLst/>
          </a:prstGeom>
          <a:noFill/>
        </p:spPr>
        <p:txBody>
          <a:bodyPr wrap="square" rtlCol="0">
            <a:spAutoFit/>
          </a:bodyPr>
          <a:lstStyle/>
          <a:p>
            <a:pPr algn="ctr" defTabSz="457200"/>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机遇（</a:t>
            </a:r>
            <a:r>
              <a:rPr lang="en-US" altLang="zh-CN" sz="1600" b="1" dirty="0">
                <a:solidFill>
                  <a:schemeClr val="accent5"/>
                </a:solidFill>
                <a:latin typeface="微软雅黑" panose="020B0503020204020204" charset="-122"/>
                <a:ea typeface="微软雅黑" panose="020B0503020204020204" charset="-122"/>
                <a:cs typeface="微软雅黑" panose="020B0503020204020204" charset="-122"/>
              </a:rPr>
              <a:t>Opportunities</a:t>
            </a:r>
            <a:r>
              <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rPr>
              <a:t>）</a:t>
            </a:r>
            <a:endParaRPr lang="zh-CN" altLang="en-US" sz="16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48" name="熊大的PPT宝库21"/>
          <p:cNvSpPr/>
          <p:nvPr/>
        </p:nvSpPr>
        <p:spPr>
          <a:xfrm flipH="1">
            <a:off x="8952230" y="5093970"/>
            <a:ext cx="2613660" cy="1021080"/>
          </a:xfrm>
          <a:prstGeom prst="rect">
            <a:avLst/>
          </a:prstGeom>
          <a:ln>
            <a:noFill/>
          </a:ln>
        </p:spPr>
        <p:txBody>
          <a:bodyPr wrap="square" lIns="91440" tIns="45720" rIns="91440" bIns="45720" anchor="t">
            <a:spAutoFit/>
          </a:bodyPr>
          <a:lstStyle/>
          <a:p>
            <a:pPr marL="0" marR="0" lvl="0" indent="0" algn="just" defTabSz="914400" rtl="0" eaLnBrk="1" fontAlgn="auto" latinLnBrk="0" hangingPunct="1">
              <a:lnSpc>
                <a:spcPct val="110000"/>
              </a:lnSpc>
              <a:spcBef>
                <a:spcPts val="0"/>
              </a:spcBef>
              <a:spcAft>
                <a:spcPts val="0"/>
              </a:spcAft>
              <a:buClrTx/>
              <a:buSzTx/>
              <a:buFontTx/>
              <a:buNone/>
              <a:defRPr/>
            </a:pPr>
            <a:r>
              <a:rPr kumimoji="0" lang="zh-CN" altLang="en-US" sz="11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外部环境中有利于组织发展的趋势或变化，抓住机会可以帮助企业实现快速增长。通过扫描宏观环境，企业能够提前布局，借助外部利好因素拓展业务版图或实现转型升级。</a:t>
            </a:r>
            <a:endParaRPr kumimoji="0" lang="zh-CN" altLang="en-US" sz="11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9" name="圆角矩形 48"/>
          <p:cNvSpPr/>
          <p:nvPr/>
        </p:nvSpPr>
        <p:spPr>
          <a:xfrm>
            <a:off x="9025890" y="4761865"/>
            <a:ext cx="793115" cy="240030"/>
          </a:xfrm>
          <a:prstGeom prst="roundRect">
            <a:avLst>
              <a:gd name="adj" fmla="val 50000"/>
            </a:avLst>
          </a:prstGeom>
          <a:solidFill>
            <a:schemeClr val="bg1"/>
          </a:solidFill>
          <a:ln w="6350">
            <a:solidFill>
              <a:schemeClr val="accent5"/>
            </a:solidFill>
            <a:prstDash val="solid"/>
          </a:ln>
          <a:effectLst>
            <a:outerShdw blurRad="1016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政策支持</a:t>
            </a:r>
            <a:endParaRPr kumimoji="1" lang="zh-CN" altLang="en-US" sz="10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0" name="圆角矩形 49"/>
          <p:cNvSpPr/>
          <p:nvPr/>
        </p:nvSpPr>
        <p:spPr>
          <a:xfrm>
            <a:off x="9899650" y="4761865"/>
            <a:ext cx="793115" cy="240030"/>
          </a:xfrm>
          <a:prstGeom prst="roundRect">
            <a:avLst>
              <a:gd name="adj" fmla="val 50000"/>
            </a:avLst>
          </a:prstGeom>
          <a:solidFill>
            <a:schemeClr val="bg1"/>
          </a:solidFill>
          <a:ln w="6350">
            <a:solidFill>
              <a:schemeClr val="accent5"/>
            </a:solidFill>
            <a:prstDash val="solid"/>
          </a:ln>
          <a:effectLst>
            <a:outerShdw blurRad="1016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需求增长</a:t>
            </a:r>
            <a:endParaRPr kumimoji="1" lang="zh-CN" altLang="en-US" sz="10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1" name="圆角矩形 50"/>
          <p:cNvSpPr/>
          <p:nvPr/>
        </p:nvSpPr>
        <p:spPr>
          <a:xfrm>
            <a:off x="10773410" y="4761865"/>
            <a:ext cx="793115" cy="240030"/>
          </a:xfrm>
          <a:prstGeom prst="roundRect">
            <a:avLst>
              <a:gd name="adj" fmla="val 50000"/>
            </a:avLst>
          </a:prstGeom>
          <a:solidFill>
            <a:schemeClr val="bg1"/>
          </a:solidFill>
          <a:ln w="6350">
            <a:solidFill>
              <a:schemeClr val="accent5"/>
            </a:solidFill>
            <a:prstDash val="solid"/>
          </a:ln>
          <a:effectLst>
            <a:outerShdw blurRad="1016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新技术</a:t>
            </a:r>
            <a:endParaRPr kumimoji="1" lang="zh-CN" altLang="en-US" sz="10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2" name="熊大的PPT宝库18" descr="e7d195523061f1c0c30ee18c1b05f65d12b38e2533cb2ccdAE0CC34CB5CBEBFAEC353FED4DECE97C3E379FD1D933F5E4DC18EF8EA6B7A1130D5F6DE9DD2BE4B0A8C9126ACE5083D1F5A9E323B29CCFC7C592C3DE36010C775864093B1AE11BE7779DB11EA877BF5E93C7A894F3BEF923282315AE05C47AF469CA43A0F5CB487DFDD3FC124DFDF1BD"/>
          <p:cNvSpPr txBox="1"/>
          <p:nvPr/>
        </p:nvSpPr>
        <p:spPr>
          <a:xfrm>
            <a:off x="764540" y="4300855"/>
            <a:ext cx="2285365" cy="368300"/>
          </a:xfrm>
          <a:prstGeom prst="rect">
            <a:avLst/>
          </a:prstGeom>
          <a:noFill/>
        </p:spPr>
        <p:txBody>
          <a:bodyPr wrap="square" rtlCol="0">
            <a:spAutoFit/>
          </a:bodyPr>
          <a:lstStyle/>
          <a:p>
            <a:pPr algn="ctr" defTabSz="457200"/>
            <a:r>
              <a:rPr lang="zh-CN" altLang="en-US" b="1" dirty="0">
                <a:solidFill>
                  <a:schemeClr val="accent5"/>
                </a:solidFill>
                <a:latin typeface="微软雅黑" panose="020B0503020204020204" charset="-122"/>
                <a:ea typeface="微软雅黑" panose="020B0503020204020204" charset="-122"/>
                <a:cs typeface="微软雅黑" panose="020B0503020204020204" charset="-122"/>
              </a:rPr>
              <a:t>威胁（</a:t>
            </a:r>
            <a:r>
              <a:rPr lang="en-US" altLang="zh-CN" b="1" dirty="0">
                <a:solidFill>
                  <a:schemeClr val="accent5"/>
                </a:solidFill>
                <a:latin typeface="微软雅黑" panose="020B0503020204020204" charset="-122"/>
                <a:ea typeface="微软雅黑" panose="020B0503020204020204" charset="-122"/>
                <a:cs typeface="微软雅黑" panose="020B0503020204020204" charset="-122"/>
              </a:rPr>
              <a:t>Threats</a:t>
            </a:r>
            <a:r>
              <a:rPr lang="zh-CN" altLang="en-US" b="1" dirty="0">
                <a:solidFill>
                  <a:schemeClr val="accent5"/>
                </a:solidFill>
                <a:latin typeface="微软雅黑" panose="020B0503020204020204" charset="-122"/>
                <a:ea typeface="微软雅黑" panose="020B0503020204020204" charset="-122"/>
                <a:cs typeface="微软雅黑" panose="020B0503020204020204" charset="-122"/>
              </a:rPr>
              <a:t>）</a:t>
            </a:r>
            <a:endParaRPr lang="zh-CN" altLang="en-US"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53" name="熊大的PPT宝库21"/>
          <p:cNvSpPr/>
          <p:nvPr/>
        </p:nvSpPr>
        <p:spPr>
          <a:xfrm flipH="1">
            <a:off x="562610" y="5093335"/>
            <a:ext cx="2613660" cy="1021080"/>
          </a:xfrm>
          <a:prstGeom prst="rect">
            <a:avLst/>
          </a:prstGeom>
          <a:ln>
            <a:noFill/>
          </a:ln>
        </p:spPr>
        <p:txBody>
          <a:bodyPr wrap="square" lIns="91440" tIns="45720" rIns="91440" bIns="45720" anchor="t">
            <a:spAutoFit/>
          </a:bodyPr>
          <a:lstStyle/>
          <a:p>
            <a:pPr marL="0" marR="0" lvl="0" indent="0" algn="just" defTabSz="914400" rtl="0" eaLnBrk="1" fontAlgn="auto" latinLnBrk="0" hangingPunct="1">
              <a:lnSpc>
                <a:spcPct val="110000"/>
              </a:lnSpc>
              <a:spcBef>
                <a:spcPts val="0"/>
              </a:spcBef>
              <a:spcAft>
                <a:spcPts val="0"/>
              </a:spcAft>
              <a:buClrTx/>
              <a:buSzTx/>
              <a:buFontTx/>
              <a:buNone/>
              <a:defRPr/>
            </a:pPr>
            <a:r>
              <a:rPr kumimoji="0" lang="zh-CN" altLang="en-US" sz="11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外部环境中可能对组织造成不利影响的挑战，这些因素可能侵蚀利润或引发危机。识别威胁有助于企业建立预警机制，制定应对策略，降低外部冲击带来的不确定性。</a:t>
            </a:r>
            <a:endParaRPr kumimoji="0" lang="zh-CN" altLang="en-US" sz="110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4" name="圆角矩形 53"/>
          <p:cNvSpPr/>
          <p:nvPr/>
        </p:nvSpPr>
        <p:spPr>
          <a:xfrm>
            <a:off x="636270" y="4761230"/>
            <a:ext cx="793115" cy="240030"/>
          </a:xfrm>
          <a:prstGeom prst="roundRect">
            <a:avLst>
              <a:gd name="adj" fmla="val 50000"/>
            </a:avLst>
          </a:prstGeom>
          <a:solidFill>
            <a:schemeClr val="bg1"/>
          </a:solidFill>
          <a:ln w="6350">
            <a:solidFill>
              <a:schemeClr val="accent5"/>
            </a:solidFill>
            <a:prstDash val="solid"/>
          </a:ln>
          <a:effectLst>
            <a:outerShdw blurRad="1016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竞品崛起</a:t>
            </a:r>
            <a:endParaRPr kumimoji="1" lang="zh-CN" altLang="en-US" sz="10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5" name="圆角矩形 54"/>
          <p:cNvSpPr/>
          <p:nvPr/>
        </p:nvSpPr>
        <p:spPr>
          <a:xfrm>
            <a:off x="1510030" y="4761230"/>
            <a:ext cx="793115" cy="240030"/>
          </a:xfrm>
          <a:prstGeom prst="roundRect">
            <a:avLst>
              <a:gd name="adj" fmla="val 50000"/>
            </a:avLst>
          </a:prstGeom>
          <a:solidFill>
            <a:schemeClr val="bg1"/>
          </a:solidFill>
          <a:ln w="6350">
            <a:solidFill>
              <a:schemeClr val="accent5"/>
            </a:solidFill>
            <a:prstDash val="solid"/>
          </a:ln>
          <a:effectLst>
            <a:outerShdw blurRad="1016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法规收紧</a:t>
            </a:r>
            <a:endParaRPr kumimoji="1" lang="zh-CN" altLang="en-US" sz="10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6" name="圆角矩形 55"/>
          <p:cNvSpPr/>
          <p:nvPr/>
        </p:nvSpPr>
        <p:spPr>
          <a:xfrm>
            <a:off x="2383790" y="4761230"/>
            <a:ext cx="793115" cy="240030"/>
          </a:xfrm>
          <a:prstGeom prst="roundRect">
            <a:avLst>
              <a:gd name="adj" fmla="val 50000"/>
            </a:avLst>
          </a:prstGeom>
          <a:solidFill>
            <a:schemeClr val="bg1"/>
          </a:solidFill>
          <a:ln w="6350">
            <a:solidFill>
              <a:schemeClr val="accent5"/>
            </a:solidFill>
            <a:prstDash val="solid"/>
          </a:ln>
          <a:effectLst>
            <a:outerShdw blurRad="101600" sx="102000" sy="102000" algn="ctr" rotWithShape="0">
              <a:schemeClr val="accent1">
                <a:lumMod val="20000"/>
                <a:lumOff val="80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0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材料上涨</a:t>
            </a:r>
            <a:endParaRPr kumimoji="1" lang="zh-CN" altLang="en-US" sz="10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7" name="文本框 56"/>
          <p:cNvSpPr txBox="1"/>
          <p:nvPr/>
        </p:nvSpPr>
        <p:spPr>
          <a:xfrm rot="19375728">
            <a:off x="5586910" y="4130440"/>
            <a:ext cx="2194109" cy="919711"/>
          </a:xfrm>
          <a:prstGeom prst="rect">
            <a:avLst/>
          </a:prstGeom>
          <a:noFill/>
        </p:spPr>
        <p:txBody>
          <a:bodyPr wrap="square" rtlCol="0">
            <a:prstTxWarp prst="textArchDown">
              <a:avLst/>
            </a:prstTxWarp>
            <a:spAutoFit/>
          </a:bodyPr>
          <a:lstStyle/>
          <a:p>
            <a:pPr marL="285750" marR="0" lvl="0" indent="-285750" algn="ctr" defTabSz="4572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1" lang="en-US" altLang="zh-CN" sz="20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O</a:t>
            </a:r>
            <a:r>
              <a:rPr kumimoji="1" lang="en-US" altLang="zh-CN" sz="16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pportunities</a:t>
            </a:r>
            <a:endParaRPr kumimoji="1" lang="en-US" altLang="zh-CN" sz="16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endParaRPr>
          </a:p>
          <a:p>
            <a:pPr marL="285750" marR="0" lvl="0" indent="-285750" algn="ctr" defTabSz="457200" rtl="0" eaLnBrk="1" fontAlgn="auto" latinLnBrk="0" hangingPunct="1">
              <a:lnSpc>
                <a:spcPct val="100000"/>
              </a:lnSpc>
              <a:spcBef>
                <a:spcPts val="0"/>
              </a:spcBef>
              <a:spcAft>
                <a:spcPts val="0"/>
              </a:spcAft>
              <a:buClrTx/>
              <a:buSzTx/>
              <a:buFont typeface="Wingdings" panose="05000000000000000000" pitchFamily="2" charset="2"/>
              <a:buChar char="l"/>
              <a:defRPr/>
            </a:pPr>
            <a:r>
              <a:rPr kumimoji="1" lang="zh-CN" altLang="en-US" sz="16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rPr>
              <a:t>机遇</a:t>
            </a:r>
            <a:endParaRPr kumimoji="1" lang="zh-CN" altLang="en-US" sz="1600" b="1"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sym typeface="+mn-ea"/>
            </a:endParaRPr>
          </a:p>
        </p:txBody>
      </p:sp>
      <p:cxnSp>
        <p:nvCxnSpPr>
          <p:cNvPr id="58"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59" name="组合 58"/>
          <p:cNvGrpSpPr/>
          <p:nvPr/>
        </p:nvGrpSpPr>
        <p:grpSpPr>
          <a:xfrm>
            <a:off x="8738235" y="348615"/>
            <a:ext cx="3219450" cy="332740"/>
            <a:chOff x="13761" y="549"/>
            <a:chExt cx="5070" cy="524"/>
          </a:xfrm>
        </p:grpSpPr>
        <p:pic>
          <p:nvPicPr>
            <p:cNvPr id="60" name="图片 59"/>
            <p:cNvPicPr>
              <a:picLocks noChangeAspect="1"/>
            </p:cNvPicPr>
            <p:nvPr userDrawn="1"/>
          </p:nvPicPr>
          <p:blipFill>
            <a:blip r:embed="rId1"/>
            <a:srcRect l="17002" t="-1765" r="56499" b="-1176"/>
            <a:stretch>
              <a:fillRect/>
            </a:stretch>
          </p:blipFill>
          <p:spPr>
            <a:xfrm>
              <a:off x="13761" y="549"/>
              <a:ext cx="1582" cy="525"/>
            </a:xfrm>
            <a:prstGeom prst="rect">
              <a:avLst/>
            </a:prstGeom>
          </p:spPr>
        </p:pic>
        <p:sp>
          <p:nvSpPr>
            <p:cNvPr id="61" name="文本框 6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pic>
        <p:nvPicPr>
          <p:cNvPr id="3" name="图片 2" descr="屋顶资源管理"/>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5600" y="186055"/>
            <a:ext cx="549910" cy="54991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紫荆的职场Point9"/>
          <p:cNvSpPr/>
          <p:nvPr/>
        </p:nvSpPr>
        <p:spPr bwMode="auto">
          <a:xfrm>
            <a:off x="6766560" y="3687445"/>
            <a:ext cx="882650" cy="1083310"/>
          </a:xfrm>
          <a:custGeom>
            <a:avLst/>
            <a:gdLst>
              <a:gd name="connsiteX0" fmla="*/ 1072263 w 1102722"/>
              <a:gd name="connsiteY0" fmla="*/ 0 h 1352548"/>
              <a:gd name="connsiteX1" fmla="*/ 833940 w 1102722"/>
              <a:gd name="connsiteY1" fmla="*/ 1352548 h 1352548"/>
              <a:gd name="connsiteX2" fmla="*/ 0 w 1102722"/>
              <a:gd name="connsiteY2" fmla="*/ 870774 h 1352548"/>
              <a:gd name="connsiteX3" fmla="*/ 123920 w 1102722"/>
              <a:gd name="connsiteY3" fmla="*/ 167449 h 1352548"/>
            </a:gdLst>
            <a:ahLst/>
            <a:cxnLst>
              <a:cxn ang="0">
                <a:pos x="connsiteX0" y="connsiteY0"/>
              </a:cxn>
              <a:cxn ang="0">
                <a:pos x="connsiteX1" y="connsiteY1"/>
              </a:cxn>
              <a:cxn ang="0">
                <a:pos x="connsiteX2" y="connsiteY2"/>
              </a:cxn>
              <a:cxn ang="0">
                <a:pos x="connsiteX3" y="connsiteY3"/>
              </a:cxn>
            </a:cxnLst>
            <a:rect l="l" t="t" r="r" b="b"/>
            <a:pathLst>
              <a:path w="1102722" h="1352548">
                <a:moveTo>
                  <a:pt x="1072263" y="0"/>
                </a:moveTo>
                <a:cubicBezTo>
                  <a:pt x="1154115" y="465010"/>
                  <a:pt x="1069788" y="943736"/>
                  <a:pt x="833940" y="1352548"/>
                </a:cubicBezTo>
                <a:lnTo>
                  <a:pt x="0" y="870774"/>
                </a:lnTo>
                <a:cubicBezTo>
                  <a:pt x="122588" y="658177"/>
                  <a:pt x="166560" y="409194"/>
                  <a:pt x="123920" y="167449"/>
                </a:cubicBezTo>
                <a:close/>
              </a:path>
            </a:pathLst>
          </a:custGeom>
          <a:solidFill>
            <a:schemeClr val="accent1">
              <a:lumMod val="20000"/>
              <a:lumOff val="80000"/>
              <a:alpha val="7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15" name="紫荆的职场Point13"/>
          <p:cNvSpPr/>
          <p:nvPr/>
        </p:nvSpPr>
        <p:spPr bwMode="auto">
          <a:xfrm>
            <a:off x="4244340" y="3679190"/>
            <a:ext cx="883920" cy="1083310"/>
          </a:xfrm>
          <a:custGeom>
            <a:avLst/>
            <a:gdLst>
              <a:gd name="connsiteX0" fmla="*/ 30497 w 1104248"/>
              <a:gd name="connsiteY0" fmla="*/ 0 h 1352548"/>
              <a:gd name="connsiteX1" fmla="*/ 980178 w 1104248"/>
              <a:gd name="connsiteY1" fmla="*/ 167449 h 1352548"/>
              <a:gd name="connsiteX2" fmla="*/ 1104248 w 1104248"/>
              <a:gd name="connsiteY2" fmla="*/ 870774 h 1352548"/>
              <a:gd name="connsiteX3" fmla="*/ 269109 w 1104248"/>
              <a:gd name="connsiteY3" fmla="*/ 1352548 h 1352548"/>
              <a:gd name="connsiteX4" fmla="*/ 30497 w 1104248"/>
              <a:gd name="connsiteY4" fmla="*/ 0 h 13525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04248" h="1352548">
                <a:moveTo>
                  <a:pt x="30497" y="0"/>
                </a:moveTo>
                <a:lnTo>
                  <a:pt x="980178" y="167449"/>
                </a:lnTo>
                <a:cubicBezTo>
                  <a:pt x="937487" y="409194"/>
                  <a:pt x="981321" y="658177"/>
                  <a:pt x="1104248" y="870774"/>
                </a:cubicBezTo>
                <a:lnTo>
                  <a:pt x="269109" y="1352548"/>
                </a:lnTo>
                <a:cubicBezTo>
                  <a:pt x="32975" y="943736"/>
                  <a:pt x="-51454" y="465010"/>
                  <a:pt x="30497" y="0"/>
                </a:cubicBezTo>
                <a:close/>
              </a:path>
            </a:pathLst>
          </a:custGeom>
          <a:solidFill>
            <a:schemeClr val="accent1">
              <a:lumMod val="20000"/>
              <a:lumOff val="80000"/>
              <a:alpha val="7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13" name="紫荆的职场Point11"/>
          <p:cNvSpPr/>
          <p:nvPr/>
        </p:nvSpPr>
        <p:spPr bwMode="auto">
          <a:xfrm>
            <a:off x="5396230" y="4825365"/>
            <a:ext cx="1100455" cy="821690"/>
          </a:xfrm>
          <a:custGeom>
            <a:avLst/>
            <a:gdLst>
              <a:gd name="connsiteX0" fmla="*/ 329870 w 1374777"/>
              <a:gd name="connsiteY0" fmla="*/ 0 h 1026426"/>
              <a:gd name="connsiteX1" fmla="*/ 1044716 w 1374777"/>
              <a:gd name="connsiteY1" fmla="*/ 0 h 1026426"/>
              <a:gd name="connsiteX2" fmla="*/ 1374777 w 1374777"/>
              <a:gd name="connsiteY2" fmla="*/ 905312 h 1026426"/>
              <a:gd name="connsiteX3" fmla="*/ 0 w 1374777"/>
              <a:gd name="connsiteY3" fmla="*/ 905312 h 1026426"/>
            </a:gdLst>
            <a:ahLst/>
            <a:cxnLst>
              <a:cxn ang="0">
                <a:pos x="connsiteX0" y="connsiteY0"/>
              </a:cxn>
              <a:cxn ang="0">
                <a:pos x="connsiteX1" y="connsiteY1"/>
              </a:cxn>
              <a:cxn ang="0">
                <a:pos x="connsiteX2" y="connsiteY2"/>
              </a:cxn>
              <a:cxn ang="0">
                <a:pos x="connsiteX3" y="connsiteY3"/>
              </a:cxn>
            </a:cxnLst>
            <a:rect l="l" t="t" r="r" b="b"/>
            <a:pathLst>
              <a:path w="1374777" h="1026426">
                <a:moveTo>
                  <a:pt x="329870" y="0"/>
                </a:moveTo>
                <a:cubicBezTo>
                  <a:pt x="560779" y="83981"/>
                  <a:pt x="813807" y="83981"/>
                  <a:pt x="1044716" y="0"/>
                </a:cubicBezTo>
                <a:lnTo>
                  <a:pt x="1374777" y="905312"/>
                </a:lnTo>
                <a:cubicBezTo>
                  <a:pt x="930692" y="1066798"/>
                  <a:pt x="443895" y="1066798"/>
                  <a:pt x="0" y="905312"/>
                </a:cubicBezTo>
                <a:close/>
              </a:path>
            </a:pathLst>
          </a:custGeom>
          <a:solidFill>
            <a:schemeClr val="accent1">
              <a:lumMod val="20000"/>
              <a:lumOff val="80000"/>
              <a:alpha val="7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32" name="任意多边形: 形状 54"/>
          <p:cNvSpPr/>
          <p:nvPr/>
        </p:nvSpPr>
        <p:spPr>
          <a:xfrm>
            <a:off x="3371850" y="1364615"/>
            <a:ext cx="2583180" cy="2563495"/>
          </a:xfrm>
          <a:custGeom>
            <a:avLst/>
            <a:gdLst>
              <a:gd name="connsiteX0" fmla="*/ 720258 w 2418588"/>
              <a:gd name="connsiteY0" fmla="*/ 2400151 h 2400300"/>
              <a:gd name="connsiteX1" fmla="*/ 2414280 w 2418588"/>
              <a:gd name="connsiteY1" fmla="*/ 718417 h 2400300"/>
              <a:gd name="connsiteX2" fmla="*/ 2419805 w 2418588"/>
              <a:gd name="connsiteY2" fmla="*/ 718417 h 2400300"/>
              <a:gd name="connsiteX3" fmla="*/ 2419805 w 2418588"/>
              <a:gd name="connsiteY3" fmla="*/ -54 h 2400300"/>
              <a:gd name="connsiteX4" fmla="*/ 2413899 w 2418588"/>
              <a:gd name="connsiteY4" fmla="*/ -54 h 2400300"/>
              <a:gd name="connsiteX5" fmla="*/ 1216 w 2418588"/>
              <a:gd name="connsiteY5" fmla="*/ 2400247 h 2400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18588" h="2400300">
                <a:moveTo>
                  <a:pt x="720258" y="2400151"/>
                </a:moveTo>
                <a:cubicBezTo>
                  <a:pt x="727117" y="1470225"/>
                  <a:pt x="1482830" y="718417"/>
                  <a:pt x="2414280" y="718417"/>
                </a:cubicBezTo>
                <a:lnTo>
                  <a:pt x="2419805" y="718417"/>
                </a:lnTo>
                <a:lnTo>
                  <a:pt x="2419805" y="-54"/>
                </a:lnTo>
                <a:lnTo>
                  <a:pt x="2413899" y="-54"/>
                </a:lnTo>
                <a:cubicBezTo>
                  <a:pt x="1085543" y="-54"/>
                  <a:pt x="7980" y="1073509"/>
                  <a:pt x="1216" y="2400247"/>
                </a:cubicBezTo>
                <a:close/>
              </a:path>
            </a:pathLst>
          </a:custGeom>
          <a:gradFill flip="none" rotWithShape="1">
            <a:gsLst>
              <a:gs pos="0">
                <a:schemeClr val="accent1">
                  <a:lumMod val="60000"/>
                  <a:lumOff val="40000"/>
                </a:schemeClr>
              </a:gs>
              <a:gs pos="79000">
                <a:schemeClr val="accent1"/>
              </a:gs>
            </a:gsLst>
            <a:lin ang="0" scaled="1"/>
            <a:tileRect/>
          </a:gra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 name="任意多边形: 形状 55"/>
          <p:cNvSpPr/>
          <p:nvPr/>
        </p:nvSpPr>
        <p:spPr>
          <a:xfrm>
            <a:off x="3180715" y="3178175"/>
            <a:ext cx="2773045" cy="3341370"/>
          </a:xfrm>
          <a:custGeom>
            <a:avLst/>
            <a:gdLst>
              <a:gd name="connsiteX0" fmla="*/ 2592778 w 2596610"/>
              <a:gd name="connsiteY0" fmla="*/ 2409581 h 3128200"/>
              <a:gd name="connsiteX1" fmla="*/ 898471 w 2596610"/>
              <a:gd name="connsiteY1" fmla="*/ 715274 h 3128200"/>
              <a:gd name="connsiteX2" fmla="*/ 898471 w 2596610"/>
              <a:gd name="connsiteY2" fmla="*/ 715179 h 3128200"/>
              <a:gd name="connsiteX3" fmla="*/ 898471 w 2596610"/>
              <a:gd name="connsiteY3" fmla="*/ 707749 h 3128200"/>
              <a:gd name="connsiteX4" fmla="*/ 1069921 w 2596610"/>
              <a:gd name="connsiteY4" fmla="*/ 707749 h 3128200"/>
              <a:gd name="connsiteX5" fmla="*/ 535568 w 2596610"/>
              <a:gd name="connsiteY5" fmla="*/ -54 h 3128200"/>
              <a:gd name="connsiteX6" fmla="*/ 1216 w 2596610"/>
              <a:gd name="connsiteY6" fmla="*/ 707749 h 3128200"/>
              <a:gd name="connsiteX7" fmla="*/ 179428 w 2596610"/>
              <a:gd name="connsiteY7" fmla="*/ 707749 h 3128200"/>
              <a:gd name="connsiteX8" fmla="*/ 179428 w 2596610"/>
              <a:gd name="connsiteY8" fmla="*/ 715179 h 3128200"/>
              <a:gd name="connsiteX9" fmla="*/ 2592302 w 2596610"/>
              <a:gd name="connsiteY9" fmla="*/ 3128147 h 3128200"/>
              <a:gd name="connsiteX10" fmla="*/ 2597826 w 2596610"/>
              <a:gd name="connsiteY10" fmla="*/ 3128147 h 3128200"/>
              <a:gd name="connsiteX11" fmla="*/ 2597826 w 2596610"/>
              <a:gd name="connsiteY11" fmla="*/ 2409391 h 3128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596610" h="3128200">
                <a:moveTo>
                  <a:pt x="2592778" y="2409581"/>
                </a:moveTo>
                <a:cubicBezTo>
                  <a:pt x="1657042" y="2409581"/>
                  <a:pt x="898471" y="1651010"/>
                  <a:pt x="898471" y="715274"/>
                </a:cubicBezTo>
                <a:cubicBezTo>
                  <a:pt x="898471" y="715245"/>
                  <a:pt x="898471" y="715207"/>
                  <a:pt x="898471" y="715179"/>
                </a:cubicBezTo>
                <a:cubicBezTo>
                  <a:pt x="898471" y="712702"/>
                  <a:pt x="898471" y="710226"/>
                  <a:pt x="898471" y="707749"/>
                </a:cubicBezTo>
                <a:lnTo>
                  <a:pt x="1069921" y="707749"/>
                </a:lnTo>
                <a:lnTo>
                  <a:pt x="535568" y="-54"/>
                </a:lnTo>
                <a:lnTo>
                  <a:pt x="1216" y="707749"/>
                </a:lnTo>
                <a:lnTo>
                  <a:pt x="179428" y="707749"/>
                </a:lnTo>
                <a:cubicBezTo>
                  <a:pt x="179428" y="710226"/>
                  <a:pt x="179428" y="712702"/>
                  <a:pt x="179428" y="715179"/>
                </a:cubicBezTo>
                <a:cubicBezTo>
                  <a:pt x="179428" y="2047822"/>
                  <a:pt x="1259754" y="3128147"/>
                  <a:pt x="2592302" y="3128147"/>
                </a:cubicBezTo>
                <a:lnTo>
                  <a:pt x="2597826" y="3128147"/>
                </a:lnTo>
                <a:lnTo>
                  <a:pt x="2597826" y="2409391"/>
                </a:lnTo>
                <a:close/>
              </a:path>
            </a:pathLst>
          </a:custGeom>
          <a:gradFill flip="none" rotWithShape="1">
            <a:gsLst>
              <a:gs pos="72000">
                <a:schemeClr val="accent5">
                  <a:lumMod val="40000"/>
                  <a:lumOff val="60000"/>
                </a:schemeClr>
              </a:gs>
              <a:gs pos="0">
                <a:schemeClr val="accent5">
                  <a:lumMod val="60000"/>
                  <a:lumOff val="40000"/>
                </a:schemeClr>
              </a:gs>
            </a:gsLst>
            <a:lin ang="0" scaled="1"/>
            <a:tileRect/>
          </a:gradFill>
          <a:ln w="9525" cap="flat">
            <a:noFill/>
            <a:prstDash val="solid"/>
            <a:miter/>
          </a:ln>
        </p:spPr>
        <p:txBody>
          <a:bodyPr rtlCol="0" anchor="ctr">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60" name="任意多边形: 形状 56"/>
          <p:cNvSpPr/>
          <p:nvPr/>
        </p:nvSpPr>
        <p:spPr>
          <a:xfrm>
            <a:off x="5211445" y="3928745"/>
            <a:ext cx="3314700" cy="2768600"/>
          </a:xfrm>
          <a:custGeom>
            <a:avLst/>
            <a:gdLst>
              <a:gd name="connsiteX0" fmla="*/ 3104937 w 3103721"/>
              <a:gd name="connsiteY0" fmla="*/ 12520 h 2592038"/>
              <a:gd name="connsiteX1" fmla="*/ 3104937 w 3103721"/>
              <a:gd name="connsiteY1" fmla="*/ -54 h 2592038"/>
              <a:gd name="connsiteX2" fmla="*/ 2386180 w 3103721"/>
              <a:gd name="connsiteY2" fmla="*/ -54 h 2592038"/>
              <a:gd name="connsiteX3" fmla="*/ 2386180 w 3103721"/>
              <a:gd name="connsiteY3" fmla="*/ 12520 h 2592038"/>
              <a:gd name="connsiteX4" fmla="*/ 708923 w 3103721"/>
              <a:gd name="connsiteY4" fmla="*/ 1706541 h 2592038"/>
              <a:gd name="connsiteX5" fmla="*/ 708923 w 3103721"/>
              <a:gd name="connsiteY5" fmla="*/ 1523280 h 2592038"/>
              <a:gd name="connsiteX6" fmla="*/ 1216 w 3103721"/>
              <a:gd name="connsiteY6" fmla="*/ 2057632 h 2592038"/>
              <a:gd name="connsiteX7" fmla="*/ 708923 w 3103721"/>
              <a:gd name="connsiteY7" fmla="*/ 2591985 h 2592038"/>
              <a:gd name="connsiteX8" fmla="*/ 708923 w 3103721"/>
              <a:gd name="connsiteY8" fmla="*/ 2425297 h 2592038"/>
              <a:gd name="connsiteX9" fmla="*/ 3104937 w 3103721"/>
              <a:gd name="connsiteY9" fmla="*/ 12520 h 25920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103721" h="2592038">
                <a:moveTo>
                  <a:pt x="3104937" y="12520"/>
                </a:moveTo>
                <a:cubicBezTo>
                  <a:pt x="3104937" y="8329"/>
                  <a:pt x="3104937" y="4137"/>
                  <a:pt x="3104937" y="-54"/>
                </a:cubicBezTo>
                <a:lnTo>
                  <a:pt x="2386180" y="-54"/>
                </a:lnTo>
                <a:cubicBezTo>
                  <a:pt x="2386180" y="4137"/>
                  <a:pt x="2386180" y="8329"/>
                  <a:pt x="2386180" y="12520"/>
                </a:cubicBezTo>
                <a:cubicBezTo>
                  <a:pt x="2386123" y="941550"/>
                  <a:pt x="1637906" y="1697244"/>
                  <a:pt x="708923" y="1706541"/>
                </a:cubicBezTo>
                <a:lnTo>
                  <a:pt x="708923" y="1523280"/>
                </a:lnTo>
                <a:lnTo>
                  <a:pt x="1216" y="2057632"/>
                </a:lnTo>
                <a:lnTo>
                  <a:pt x="708923" y="2591985"/>
                </a:lnTo>
                <a:lnTo>
                  <a:pt x="708923" y="2425297"/>
                </a:lnTo>
                <a:cubicBezTo>
                  <a:pt x="2033755" y="2416153"/>
                  <a:pt x="3104937" y="1339542"/>
                  <a:pt x="3104937" y="12520"/>
                </a:cubicBezTo>
                <a:close/>
              </a:path>
            </a:pathLst>
          </a:custGeom>
          <a:gradFill flip="none" rotWithShape="1">
            <a:gsLst>
              <a:gs pos="75000">
                <a:schemeClr val="accent5">
                  <a:lumMod val="60000"/>
                  <a:lumOff val="40000"/>
                </a:schemeClr>
              </a:gs>
              <a:gs pos="0">
                <a:schemeClr val="accent5"/>
              </a:gs>
            </a:gsLst>
            <a:lin ang="0" scaled="1"/>
            <a:tileRect/>
          </a:gradFill>
          <a:ln w="9525" cap="flat">
            <a:noFill/>
            <a:prstDash val="solid"/>
            <a:miter/>
          </a:ln>
        </p:spPr>
        <p:txBody>
          <a:bodyPr rtlCol="0" anchor="ctr">
            <a:noAutofit/>
          </a:bodyPr>
          <a:lstStyle/>
          <a:p>
            <a:pPr lvl="0" algn="l">
              <a:buClrTx/>
              <a:buSzTx/>
              <a:buFontTx/>
            </a:pPr>
            <a:endParaRPr lang="zh-CN" altLang="en-US" b="1">
              <a:latin typeface="微软雅黑" panose="020B0503020204020204" charset="-122"/>
              <a:ea typeface="微软雅黑" panose="020B0503020204020204" charset="-122"/>
              <a:cs typeface="微软雅黑" panose="020B0503020204020204" charset="-122"/>
              <a:sym typeface="+mn-ea"/>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循环逻辑架构 | </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rPr>
              <a:t>PDCA</a:t>
            </a:r>
            <a:r>
              <a:rPr sz="2500">
                <a:solidFill>
                  <a:schemeClr val="tx2"/>
                </a:solidFill>
                <a:effectLst/>
                <a:latin typeface="微软雅黑" panose="020B0503020204020204" charset="-122"/>
                <a:ea typeface="微软雅黑" panose="020B0503020204020204" charset="-122"/>
                <a:cs typeface="微软雅黑" panose="020B0503020204020204" charset="-122"/>
              </a:rPr>
              <a:t>复盘工作法</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 name="任意多边形 1"/>
          <p:cNvSpPr/>
          <p:nvPr/>
        </p:nvSpPr>
        <p:spPr>
          <a:xfrm>
            <a:off x="442914" y="1057275"/>
            <a:ext cx="4772089" cy="2619375"/>
          </a:xfrm>
          <a:custGeom>
            <a:avLst/>
            <a:gdLst/>
            <a:ahLst/>
            <a:cxnLst>
              <a:cxn ang="3">
                <a:pos x="hc" y="t"/>
              </a:cxn>
              <a:cxn ang="cd2">
                <a:pos x="l" y="vc"/>
              </a:cxn>
              <a:cxn ang="cd4">
                <a:pos x="hc" y="b"/>
              </a:cxn>
              <a:cxn ang="0">
                <a:pos x="r" y="vc"/>
              </a:cxn>
            </a:cxnLst>
            <a:rect l="l" t="t" r="r" b="b"/>
            <a:pathLst>
              <a:path w="7515" h="4125">
                <a:moveTo>
                  <a:pt x="0" y="0"/>
                </a:moveTo>
                <a:lnTo>
                  <a:pt x="7515" y="0"/>
                </a:lnTo>
                <a:lnTo>
                  <a:pt x="7468" y="13"/>
                </a:lnTo>
                <a:cubicBezTo>
                  <a:pt x="5624" y="537"/>
                  <a:pt x="4240" y="2156"/>
                  <a:pt x="4066" y="4122"/>
                </a:cubicBezTo>
                <a:lnTo>
                  <a:pt x="4065" y="4125"/>
                </a:lnTo>
                <a:lnTo>
                  <a:pt x="0" y="4125"/>
                </a:lnTo>
                <a:lnTo>
                  <a:pt x="0" y="0"/>
                </a:lnTo>
                <a:close/>
              </a:path>
            </a:pathLst>
          </a:custGeom>
          <a:solidFill>
            <a:schemeClr val="accent1">
              <a:lumMod val="20000"/>
              <a:lumOff val="80000"/>
              <a:alpha val="35000"/>
            </a:schemeClr>
          </a:solidFill>
          <a:ln>
            <a:noFill/>
          </a:ln>
        </p:spPr>
        <p:style>
          <a:lnRef idx="2">
            <a:srgbClr val="24396B">
              <a:shade val="15000"/>
            </a:srgbClr>
          </a:lnRef>
          <a:fillRef idx="1">
            <a:srgbClr val="24396B"/>
          </a:fillRef>
          <a:effectRef idx="0">
            <a:srgbClr val="24396B"/>
          </a:effectRef>
          <a:fontRef idx="minor">
            <a:srgbClr val="FFFFFF"/>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3" name="任意多边形 2"/>
          <p:cNvSpPr/>
          <p:nvPr/>
        </p:nvSpPr>
        <p:spPr>
          <a:xfrm>
            <a:off x="442914" y="3980434"/>
            <a:ext cx="4185879" cy="2619375"/>
          </a:xfrm>
          <a:custGeom>
            <a:avLst/>
            <a:gdLst/>
            <a:ahLst/>
            <a:cxnLst>
              <a:cxn ang="3">
                <a:pos x="hc" y="t"/>
              </a:cxn>
              <a:cxn ang="cd2">
                <a:pos x="l" y="vc"/>
              </a:cxn>
              <a:cxn ang="cd4">
                <a:pos x="hc" y="b"/>
              </a:cxn>
              <a:cxn ang="0">
                <a:pos x="r" y="vc"/>
              </a:cxn>
            </a:cxnLst>
            <a:rect l="l" t="t" r="r" b="b"/>
            <a:pathLst>
              <a:path w="6592" h="4125">
                <a:moveTo>
                  <a:pt x="0" y="0"/>
                </a:moveTo>
                <a:lnTo>
                  <a:pt x="4047" y="0"/>
                </a:lnTo>
                <a:lnTo>
                  <a:pt x="4047" y="2"/>
                </a:lnTo>
                <a:cubicBezTo>
                  <a:pt x="4070" y="1785"/>
                  <a:pt x="5083" y="3329"/>
                  <a:pt x="6562" y="4110"/>
                </a:cubicBezTo>
                <a:lnTo>
                  <a:pt x="6592" y="4125"/>
                </a:lnTo>
                <a:lnTo>
                  <a:pt x="0" y="4125"/>
                </a:lnTo>
                <a:lnTo>
                  <a:pt x="0" y="0"/>
                </a:lnTo>
                <a:close/>
              </a:path>
            </a:pathLst>
          </a:custGeom>
          <a:solidFill>
            <a:schemeClr val="accent5">
              <a:lumMod val="20000"/>
              <a:lumOff val="80000"/>
              <a:alpha val="35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 name="任意多边形 5"/>
          <p:cNvSpPr/>
          <p:nvPr/>
        </p:nvSpPr>
        <p:spPr>
          <a:xfrm>
            <a:off x="6785861" y="1057275"/>
            <a:ext cx="4955739" cy="2619375"/>
          </a:xfrm>
          <a:custGeom>
            <a:avLst/>
            <a:gdLst/>
            <a:ahLst/>
            <a:cxnLst>
              <a:cxn ang="3">
                <a:pos x="hc" y="t"/>
              </a:cxn>
              <a:cxn ang="cd2">
                <a:pos x="l" y="vc"/>
              </a:cxn>
              <a:cxn ang="cd4">
                <a:pos x="hc" y="b"/>
              </a:cxn>
              <a:cxn ang="0">
                <a:pos x="r" y="vc"/>
              </a:cxn>
            </a:cxnLst>
            <a:rect l="l" t="t" r="r" b="b"/>
            <a:pathLst>
              <a:path w="7804" h="4125">
                <a:moveTo>
                  <a:pt x="0" y="0"/>
                </a:moveTo>
                <a:lnTo>
                  <a:pt x="7804" y="0"/>
                </a:lnTo>
                <a:lnTo>
                  <a:pt x="7804" y="4125"/>
                </a:lnTo>
                <a:lnTo>
                  <a:pt x="3450" y="4125"/>
                </a:lnTo>
                <a:lnTo>
                  <a:pt x="3449" y="4122"/>
                </a:lnTo>
                <a:cubicBezTo>
                  <a:pt x="3275" y="2156"/>
                  <a:pt x="1892" y="537"/>
                  <a:pt x="48" y="13"/>
                </a:cubicBezTo>
                <a:lnTo>
                  <a:pt x="0" y="0"/>
                </a:lnTo>
                <a:close/>
              </a:path>
            </a:pathLst>
          </a:custGeom>
          <a:solidFill>
            <a:schemeClr val="accent1">
              <a:lumMod val="20000"/>
              <a:lumOff val="80000"/>
              <a:alpha val="35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 name="任意多边形 6"/>
          <p:cNvSpPr/>
          <p:nvPr/>
        </p:nvSpPr>
        <p:spPr>
          <a:xfrm>
            <a:off x="7378421" y="3980434"/>
            <a:ext cx="4369529" cy="2619375"/>
          </a:xfrm>
          <a:custGeom>
            <a:avLst/>
            <a:gdLst/>
            <a:ahLst/>
            <a:cxnLst>
              <a:cxn ang="3">
                <a:pos x="hc" y="t"/>
              </a:cxn>
              <a:cxn ang="cd2">
                <a:pos x="l" y="vc"/>
              </a:cxn>
              <a:cxn ang="cd4">
                <a:pos x="hc" y="b"/>
              </a:cxn>
              <a:cxn ang="0">
                <a:pos x="r" y="vc"/>
              </a:cxn>
            </a:cxnLst>
            <a:rect l="l" t="t" r="r" b="b"/>
            <a:pathLst>
              <a:path w="6881" h="4125">
                <a:moveTo>
                  <a:pt x="2545" y="0"/>
                </a:moveTo>
                <a:lnTo>
                  <a:pt x="6881" y="0"/>
                </a:lnTo>
                <a:lnTo>
                  <a:pt x="6881" y="4125"/>
                </a:lnTo>
                <a:lnTo>
                  <a:pt x="0" y="4125"/>
                </a:lnTo>
                <a:lnTo>
                  <a:pt x="30" y="4110"/>
                </a:lnTo>
                <a:cubicBezTo>
                  <a:pt x="1509" y="3329"/>
                  <a:pt x="2522" y="1785"/>
                  <a:pt x="2545" y="2"/>
                </a:cubicBezTo>
                <a:lnTo>
                  <a:pt x="2545" y="0"/>
                </a:lnTo>
                <a:close/>
              </a:path>
            </a:pathLst>
          </a:custGeom>
          <a:solidFill>
            <a:schemeClr val="accent5">
              <a:lumMod val="20000"/>
              <a:lumOff val="80000"/>
              <a:alpha val="35000"/>
            </a:schemeClr>
          </a:solidFill>
          <a:ln>
            <a:noFill/>
          </a:ln>
        </p:spPr>
        <p:style>
          <a:lnRef idx="2">
            <a:srgbClr val="24396B">
              <a:shade val="15000"/>
            </a:srgbClr>
          </a:lnRef>
          <a:fillRef idx="1">
            <a:srgbClr val="24396B"/>
          </a:fillRef>
          <a:effectRef idx="0">
            <a:srgbClr val="24396B"/>
          </a:effectRef>
          <a:fontRef idx="minor">
            <a:srgbClr val="FFFFFF"/>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pic>
        <p:nvPicPr>
          <p:cNvPr id="8" name="图片 7" descr="左右箭头-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917882" y="3857308"/>
            <a:ext cx="171450" cy="171450"/>
          </a:xfrm>
          <a:prstGeom prst="rect">
            <a:avLst/>
          </a:prstGeom>
        </p:spPr>
      </p:pic>
      <p:sp>
        <p:nvSpPr>
          <p:cNvPr id="9" name="紫荆的职场Point8"/>
          <p:cNvSpPr/>
          <p:nvPr/>
        </p:nvSpPr>
        <p:spPr bwMode="auto">
          <a:xfrm>
            <a:off x="6567805" y="2661285"/>
            <a:ext cx="1045845" cy="1086485"/>
          </a:xfrm>
          <a:custGeom>
            <a:avLst/>
            <a:gdLst>
              <a:gd name="connsiteX0" fmla="*/ 619628 w 1306515"/>
              <a:gd name="connsiteY0" fmla="*/ 0 h 1357311"/>
              <a:gd name="connsiteX1" fmla="*/ 1306515 w 1306515"/>
              <a:gd name="connsiteY1" fmla="*/ 1189815 h 1357311"/>
              <a:gd name="connsiteX2" fmla="*/ 357258 w 1306515"/>
              <a:gd name="connsiteY2" fmla="*/ 1357311 h 1357311"/>
              <a:gd name="connsiteX3" fmla="*/ 0 w 1306515"/>
              <a:gd name="connsiteY3" fmla="*/ 738585 h 1357311"/>
            </a:gdLst>
            <a:ahLst/>
            <a:cxnLst>
              <a:cxn ang="0">
                <a:pos x="connsiteX0" y="connsiteY0"/>
              </a:cxn>
              <a:cxn ang="0">
                <a:pos x="connsiteX1" y="connsiteY1"/>
              </a:cxn>
              <a:cxn ang="0">
                <a:pos x="connsiteX2" y="connsiteY2"/>
              </a:cxn>
              <a:cxn ang="0">
                <a:pos x="connsiteX3" y="connsiteY3"/>
              </a:cxn>
            </a:cxnLst>
            <a:rect l="l" t="t" r="r" b="b"/>
            <a:pathLst>
              <a:path w="1306515" h="1357311">
                <a:moveTo>
                  <a:pt x="619628" y="0"/>
                </a:moveTo>
                <a:cubicBezTo>
                  <a:pt x="981268" y="303552"/>
                  <a:pt x="1224584" y="724865"/>
                  <a:pt x="1306515" y="1189815"/>
                </a:cubicBezTo>
                <a:lnTo>
                  <a:pt x="357258" y="1357311"/>
                </a:lnTo>
                <a:cubicBezTo>
                  <a:pt x="314577" y="1115499"/>
                  <a:pt x="188060" y="896363"/>
                  <a:pt x="0" y="738585"/>
                </a:cubicBezTo>
                <a:close/>
              </a:path>
            </a:pathLst>
          </a:custGeom>
          <a:solidFill>
            <a:schemeClr val="accent1">
              <a:lumMod val="20000"/>
              <a:lumOff val="80000"/>
              <a:alpha val="7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12" name="紫荆的职场Point10"/>
          <p:cNvSpPr/>
          <p:nvPr/>
        </p:nvSpPr>
        <p:spPr bwMode="auto">
          <a:xfrm>
            <a:off x="6294755" y="4434840"/>
            <a:ext cx="1106805" cy="1093470"/>
          </a:xfrm>
          <a:custGeom>
            <a:avLst/>
            <a:gdLst>
              <a:gd name="connsiteX0" fmla="*/ 547519 w 1382715"/>
              <a:gd name="connsiteY0" fmla="*/ 0 h 1365248"/>
              <a:gd name="connsiteX1" fmla="*/ 1382715 w 1382715"/>
              <a:gd name="connsiteY1" fmla="*/ 482144 h 1365248"/>
              <a:gd name="connsiteX2" fmla="*/ 329808 w 1382715"/>
              <a:gd name="connsiteY2" fmla="*/ 1365248 h 1365248"/>
              <a:gd name="connsiteX3" fmla="*/ 0 w 1382715"/>
              <a:gd name="connsiteY3" fmla="*/ 459275 h 1365248"/>
              <a:gd name="connsiteX4" fmla="*/ 547519 w 1382715"/>
              <a:gd name="connsiteY4" fmla="*/ 0 h 136524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82715" h="1365248">
                <a:moveTo>
                  <a:pt x="547519" y="0"/>
                </a:moveTo>
                <a:lnTo>
                  <a:pt x="1382715" y="482144"/>
                </a:lnTo>
                <a:cubicBezTo>
                  <a:pt x="1146512" y="891108"/>
                  <a:pt x="773810" y="1203835"/>
                  <a:pt x="329808" y="1365248"/>
                </a:cubicBezTo>
                <a:lnTo>
                  <a:pt x="0" y="459275"/>
                </a:lnTo>
                <a:cubicBezTo>
                  <a:pt x="230866" y="375424"/>
                  <a:pt x="424556" y="212677"/>
                  <a:pt x="547519" y="0"/>
                </a:cubicBezTo>
                <a:close/>
              </a:path>
            </a:pathLst>
          </a:custGeom>
          <a:solidFill>
            <a:schemeClr val="accent1">
              <a:lumMod val="20000"/>
              <a:lumOff val="80000"/>
              <a:alpha val="7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14" name="紫荆的职场Point12"/>
          <p:cNvSpPr/>
          <p:nvPr/>
        </p:nvSpPr>
        <p:spPr bwMode="auto">
          <a:xfrm>
            <a:off x="4492625" y="4434840"/>
            <a:ext cx="1105535" cy="1093470"/>
          </a:xfrm>
          <a:custGeom>
            <a:avLst/>
            <a:gdLst>
              <a:gd name="connsiteX0" fmla="*/ 834237 w 1381127"/>
              <a:gd name="connsiteY0" fmla="*/ 0 h 1365248"/>
              <a:gd name="connsiteX1" fmla="*/ 1381127 w 1381127"/>
              <a:gd name="connsiteY1" fmla="*/ 459275 h 1365248"/>
              <a:gd name="connsiteX2" fmla="*/ 1051508 w 1381127"/>
              <a:gd name="connsiteY2" fmla="*/ 1365248 h 1365248"/>
              <a:gd name="connsiteX3" fmla="*/ 0 w 1381127"/>
              <a:gd name="connsiteY3" fmla="*/ 482144 h 1365248"/>
            </a:gdLst>
            <a:ahLst/>
            <a:cxnLst>
              <a:cxn ang="0">
                <a:pos x="connsiteX0" y="connsiteY0"/>
              </a:cxn>
              <a:cxn ang="0">
                <a:pos x="connsiteX1" y="connsiteY1"/>
              </a:cxn>
              <a:cxn ang="0">
                <a:pos x="connsiteX2" y="connsiteY2"/>
              </a:cxn>
              <a:cxn ang="0">
                <a:pos x="connsiteX3" y="connsiteY3"/>
              </a:cxn>
            </a:cxnLst>
            <a:rect l="l" t="t" r="r" b="b"/>
            <a:pathLst>
              <a:path w="1381127" h="1365248">
                <a:moveTo>
                  <a:pt x="834237" y="0"/>
                </a:moveTo>
                <a:cubicBezTo>
                  <a:pt x="956868" y="212677"/>
                  <a:pt x="1150527" y="375424"/>
                  <a:pt x="1381127" y="459275"/>
                </a:cubicBezTo>
                <a:lnTo>
                  <a:pt x="1051508" y="1365248"/>
                </a:lnTo>
                <a:cubicBezTo>
                  <a:pt x="608206" y="1203835"/>
                  <a:pt x="235742" y="891108"/>
                  <a:pt x="0" y="482144"/>
                </a:cubicBezTo>
                <a:close/>
              </a:path>
            </a:pathLst>
          </a:custGeom>
          <a:solidFill>
            <a:schemeClr val="accent1">
              <a:lumMod val="20000"/>
              <a:lumOff val="80000"/>
              <a:alpha val="7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16" name="紫荆的职场Point14"/>
          <p:cNvSpPr/>
          <p:nvPr/>
        </p:nvSpPr>
        <p:spPr bwMode="auto">
          <a:xfrm>
            <a:off x="4279900" y="2661285"/>
            <a:ext cx="1045845" cy="1086485"/>
          </a:xfrm>
          <a:custGeom>
            <a:avLst/>
            <a:gdLst>
              <a:gd name="connsiteX0" fmla="*/ 686888 w 1306515"/>
              <a:gd name="connsiteY0" fmla="*/ 0 h 1357311"/>
              <a:gd name="connsiteX1" fmla="*/ 1306515 w 1306515"/>
              <a:gd name="connsiteY1" fmla="*/ 738593 h 1357311"/>
              <a:gd name="connsiteX2" fmla="*/ 949353 w 1306515"/>
              <a:gd name="connsiteY2" fmla="*/ 1357311 h 1357311"/>
              <a:gd name="connsiteX3" fmla="*/ 0 w 1306515"/>
              <a:gd name="connsiteY3" fmla="*/ 1189887 h 1357311"/>
              <a:gd name="connsiteX4" fmla="*/ 686888 w 1306515"/>
              <a:gd name="connsiteY4" fmla="*/ 0 h 135731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6515" h="1357311">
                <a:moveTo>
                  <a:pt x="686888" y="0"/>
                </a:moveTo>
                <a:lnTo>
                  <a:pt x="1306515" y="738593"/>
                </a:lnTo>
                <a:cubicBezTo>
                  <a:pt x="1118455" y="896393"/>
                  <a:pt x="991938" y="1115465"/>
                  <a:pt x="949353" y="1357311"/>
                </a:cubicBezTo>
                <a:lnTo>
                  <a:pt x="0" y="1189887"/>
                </a:lnTo>
                <a:cubicBezTo>
                  <a:pt x="82027" y="724776"/>
                  <a:pt x="325248" y="303499"/>
                  <a:pt x="686888" y="0"/>
                </a:cubicBezTo>
                <a:close/>
              </a:path>
            </a:pathLst>
          </a:custGeom>
          <a:solidFill>
            <a:schemeClr val="accent1">
              <a:lumMod val="20000"/>
              <a:lumOff val="80000"/>
              <a:alpha val="7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17" name="紫荆的职场Point15"/>
          <p:cNvSpPr/>
          <p:nvPr/>
        </p:nvSpPr>
        <p:spPr bwMode="auto">
          <a:xfrm>
            <a:off x="4879975" y="2243455"/>
            <a:ext cx="1033780" cy="967105"/>
          </a:xfrm>
          <a:custGeom>
            <a:avLst/>
            <a:gdLst>
              <a:gd name="connsiteX0" fmla="*/ 1290640 w 1290640"/>
              <a:gd name="connsiteY0" fmla="*/ 0 h 1208086"/>
              <a:gd name="connsiteX1" fmla="*/ 1290640 w 1290640"/>
              <a:gd name="connsiteY1" fmla="*/ 963840 h 1208086"/>
              <a:gd name="connsiteX2" fmla="*/ 619599 w 1290640"/>
              <a:gd name="connsiteY2" fmla="*/ 1208086 h 1208086"/>
              <a:gd name="connsiteX3" fmla="*/ 0 w 1290640"/>
              <a:gd name="connsiteY3" fmla="*/ 469631 h 1208086"/>
              <a:gd name="connsiteX4" fmla="*/ 1290640 w 1290640"/>
              <a:gd name="connsiteY4" fmla="*/ 0 h 120808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90640" h="1208086">
                <a:moveTo>
                  <a:pt x="1290640" y="0"/>
                </a:moveTo>
                <a:lnTo>
                  <a:pt x="1290640" y="963840"/>
                </a:lnTo>
                <a:cubicBezTo>
                  <a:pt x="1045239" y="963840"/>
                  <a:pt x="807650" y="1050336"/>
                  <a:pt x="619599" y="1208086"/>
                </a:cubicBezTo>
                <a:lnTo>
                  <a:pt x="0" y="469631"/>
                </a:lnTo>
                <a:cubicBezTo>
                  <a:pt x="361623" y="166324"/>
                  <a:pt x="818701" y="0"/>
                  <a:pt x="1290640" y="0"/>
                </a:cubicBezTo>
                <a:close/>
              </a:path>
            </a:pathLst>
          </a:custGeom>
          <a:solidFill>
            <a:schemeClr val="accent1">
              <a:lumMod val="20000"/>
              <a:lumOff val="80000"/>
              <a:alpha val="7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18" name="紫荆的职场Point16"/>
          <p:cNvSpPr/>
          <p:nvPr/>
        </p:nvSpPr>
        <p:spPr bwMode="auto">
          <a:xfrm>
            <a:off x="5979795" y="2243455"/>
            <a:ext cx="1033780" cy="967105"/>
          </a:xfrm>
          <a:custGeom>
            <a:avLst/>
            <a:gdLst>
              <a:gd name="connsiteX0" fmla="*/ 0 w 1290640"/>
              <a:gd name="connsiteY0" fmla="*/ 0 h 1208086"/>
              <a:gd name="connsiteX1" fmla="*/ 1290640 w 1290640"/>
              <a:gd name="connsiteY1" fmla="*/ 469631 h 1208086"/>
              <a:gd name="connsiteX2" fmla="*/ 671133 w 1290640"/>
              <a:gd name="connsiteY2" fmla="*/ 1208086 h 1208086"/>
              <a:gd name="connsiteX3" fmla="*/ 0 w 1290640"/>
              <a:gd name="connsiteY3" fmla="*/ 963840 h 1208086"/>
            </a:gdLst>
            <a:ahLst/>
            <a:cxnLst>
              <a:cxn ang="0">
                <a:pos x="connsiteX0" y="connsiteY0"/>
              </a:cxn>
              <a:cxn ang="0">
                <a:pos x="connsiteX1" y="connsiteY1"/>
              </a:cxn>
              <a:cxn ang="0">
                <a:pos x="connsiteX2" y="connsiteY2"/>
              </a:cxn>
              <a:cxn ang="0">
                <a:pos x="connsiteX3" y="connsiteY3"/>
              </a:cxn>
            </a:cxnLst>
            <a:rect l="l" t="t" r="r" b="b"/>
            <a:pathLst>
              <a:path w="1290640" h="1208086">
                <a:moveTo>
                  <a:pt x="0" y="0"/>
                </a:moveTo>
                <a:cubicBezTo>
                  <a:pt x="472060" y="0"/>
                  <a:pt x="929070" y="166324"/>
                  <a:pt x="1290640" y="469631"/>
                </a:cubicBezTo>
                <a:lnTo>
                  <a:pt x="671133" y="1208086"/>
                </a:lnTo>
                <a:cubicBezTo>
                  <a:pt x="483109" y="1050336"/>
                  <a:pt x="245555" y="963840"/>
                  <a:pt x="0" y="963840"/>
                </a:cubicBezTo>
                <a:close/>
              </a:path>
            </a:pathLst>
          </a:custGeom>
          <a:solidFill>
            <a:schemeClr val="accent1">
              <a:lumMod val="20000"/>
              <a:lumOff val="80000"/>
              <a:alpha val="70000"/>
            </a:schemeClr>
          </a:solidFill>
          <a:ln w="12700" cap="flat">
            <a:gradFill flip="none" rotWithShape="1">
              <a:gsLst>
                <a:gs pos="1000">
                  <a:srgbClr val="FFFFFF">
                    <a:alpha val="0"/>
                  </a:srgbClr>
                </a:gs>
                <a:gs pos="20000">
                  <a:srgbClr val="FFFFFF">
                    <a:alpha val="0"/>
                  </a:srgbClr>
                </a:gs>
                <a:gs pos="100000">
                  <a:srgbClr val="FFFFFF"/>
                </a:gs>
              </a:gsLst>
              <a:lin ang="2700000" scaled="0"/>
              <a:tileRect/>
            </a:gradFill>
            <a:prstDash val="solid"/>
            <a:round/>
          </a:ln>
        </p:spPr>
        <p:txBody>
          <a:bodyPr vert="horz" wrap="square" lIns="91440" tIns="45720" rIns="91440" bIns="45720" numCol="1" anchor="t" anchorCtr="0" compatLnSpc="1">
            <a:noAutofit/>
          </a:bodyPr>
          <a:lstStyle/>
          <a:p>
            <a:pPr lvl="0" algn="l">
              <a:buClrTx/>
              <a:buSzTx/>
              <a:buFontTx/>
            </a:pPr>
            <a:endParaRPr lang="zh-CN" altLang="en-US">
              <a:solidFill>
                <a:srgbClr val="EFF3FC"/>
              </a:solidFill>
              <a:latin typeface="微软雅黑" panose="020B0503020204020204" charset="-122"/>
              <a:ea typeface="微软雅黑" panose="020B0503020204020204" charset="-122"/>
              <a:cs typeface="微软雅黑" panose="020B0503020204020204" charset="-122"/>
              <a:sym typeface="+mn-ea"/>
            </a:endParaRPr>
          </a:p>
        </p:txBody>
      </p:sp>
      <p:sp>
        <p:nvSpPr>
          <p:cNvPr id="19" name="紫荆的职场Point17"/>
          <p:cNvSpPr/>
          <p:nvPr>
            <p:custDataLst>
              <p:tags r:id="rId5"/>
            </p:custDataLst>
          </p:nvPr>
        </p:nvSpPr>
        <p:spPr>
          <a:xfrm>
            <a:off x="5151120" y="3169920"/>
            <a:ext cx="1540510" cy="1540510"/>
          </a:xfrm>
          <a:prstGeom prst="ellipse">
            <a:avLst/>
          </a:prstGeom>
          <a:solidFill>
            <a:srgbClr val="FFFFFF"/>
          </a:solidFill>
          <a:ln w="25617">
            <a:solidFill>
              <a:schemeClr val="accent1"/>
            </a:solidFill>
          </a:ln>
          <a:effectLst>
            <a:outerShdw blurRad="153699" dist="136622" dir="2699999" algn="tl" rotWithShape="0">
              <a:schemeClr val="accent1">
                <a:alpha val="30000"/>
              </a:schemeClr>
            </a:outerShdw>
          </a:effectLst>
        </p:spPr>
        <p:style>
          <a:lnRef idx="2">
            <a:srgbClr val="24396B">
              <a:shade val="50000"/>
            </a:srgbClr>
          </a:lnRef>
          <a:fillRef idx="1">
            <a:srgbClr val="24396B"/>
          </a:fillRef>
          <a:effectRef idx="0">
            <a:srgbClr val="24396B"/>
          </a:effectRef>
          <a:fontRef idx="minor">
            <a:srgbClr val="FFFFFF"/>
          </a:fontRef>
        </p:style>
        <p:txBody>
          <a:bodyPr lIns="122959" tIns="61480" rIns="122959" bIns="61480" rtlCol="0" anchor="ctr"/>
          <a:lstStyle/>
          <a:p>
            <a:pPr algn="ctr">
              <a:spcBef>
                <a:spcPct val="0"/>
              </a:spcBef>
              <a:spcAft>
                <a:spcPct val="0"/>
              </a:spcAft>
            </a:pPr>
            <a:endParaRPr 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 name="紫荆的职场Point18"/>
          <p:cNvSpPr txBox="1"/>
          <p:nvPr/>
        </p:nvSpPr>
        <p:spPr>
          <a:xfrm>
            <a:off x="5275580" y="3578860"/>
            <a:ext cx="1291590" cy="721995"/>
          </a:xfrm>
          <a:prstGeom prst="rect">
            <a:avLst/>
          </a:prstGeom>
          <a:noFill/>
        </p:spPr>
        <p:txBody>
          <a:bodyPr wrap="square" rtlCol="0">
            <a:spAutoFit/>
          </a:bodyPr>
          <a:lstStyle/>
          <a:p>
            <a:pPr algn="ctr"/>
            <a:r>
              <a:rPr lang="en-US" altLang="zh-CN" sz="2500" b="1" dirty="0">
                <a:solidFill>
                  <a:schemeClr val="accent1"/>
                </a:solidFill>
                <a:latin typeface="微软雅黑" panose="020B0503020204020204" charset="-122"/>
                <a:ea typeface="微软雅黑" panose="020B0503020204020204" charset="-122"/>
                <a:cs typeface="微软雅黑" panose="020B0503020204020204" charset="-122"/>
              </a:rPr>
              <a:t>PDCA</a:t>
            </a:r>
            <a:endParaRPr lang="en-US" altLang="zh-CN" sz="2500" b="1" dirty="0">
              <a:solidFill>
                <a:schemeClr val="accent1"/>
              </a:solidFill>
              <a:latin typeface="微软雅黑" panose="020B0503020204020204" charset="-122"/>
              <a:ea typeface="微软雅黑" panose="020B0503020204020204" charset="-122"/>
              <a:cs typeface="微软雅黑" panose="020B0503020204020204" charset="-122"/>
            </a:endParaRPr>
          </a:p>
          <a:p>
            <a:pPr algn="ctr"/>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复盘工作法</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1" name="紫荆的职场Point20"/>
          <p:cNvSpPr txBox="1"/>
          <p:nvPr/>
        </p:nvSpPr>
        <p:spPr>
          <a:xfrm rot="20400000">
            <a:off x="5148580" y="2598420"/>
            <a:ext cx="722630" cy="245110"/>
          </a:xfrm>
          <a:prstGeom prst="rect">
            <a:avLst/>
          </a:prstGeom>
          <a:noFill/>
        </p:spPr>
        <p:txBody>
          <a:bodyPr wrap="square" rtlCol="0">
            <a:spAutoFit/>
          </a:bodyPr>
          <a:lstStyle/>
          <a:p>
            <a:pPr algn="ct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分析原因</a:t>
            </a:r>
            <a:endPar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2" name="紫荆的职场Point21"/>
          <p:cNvSpPr txBox="1"/>
          <p:nvPr/>
        </p:nvSpPr>
        <p:spPr>
          <a:xfrm rot="1200000">
            <a:off x="6060440" y="2606040"/>
            <a:ext cx="722630" cy="245110"/>
          </a:xfrm>
          <a:prstGeom prst="rect">
            <a:avLst/>
          </a:prstGeom>
          <a:noFill/>
        </p:spPr>
        <p:txBody>
          <a:bodyPr wrap="square" rtlCol="0">
            <a:spAutoFit/>
          </a:bodyPr>
          <a:lstStyle/>
          <a:p>
            <a:pPr algn="ct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制定计划</a:t>
            </a:r>
            <a:endPar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3" name="紫荆的职场Point22"/>
          <p:cNvSpPr txBox="1"/>
          <p:nvPr/>
        </p:nvSpPr>
        <p:spPr>
          <a:xfrm rot="3420000">
            <a:off x="6674485" y="3128645"/>
            <a:ext cx="722630" cy="245110"/>
          </a:xfrm>
          <a:prstGeom prst="rect">
            <a:avLst/>
          </a:prstGeom>
          <a:noFill/>
        </p:spPr>
        <p:txBody>
          <a:bodyPr wrap="square" rtlCol="0">
            <a:spAutoFit/>
          </a:bodyPr>
          <a:lstStyle/>
          <a:p>
            <a:pPr algn="ct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采取措施</a:t>
            </a:r>
            <a:endPar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4" name="紫荆的职场Point23"/>
          <p:cNvSpPr txBox="1"/>
          <p:nvPr/>
        </p:nvSpPr>
        <p:spPr>
          <a:xfrm rot="18180000">
            <a:off x="4467225" y="3121025"/>
            <a:ext cx="722630" cy="245110"/>
          </a:xfrm>
          <a:prstGeom prst="rect">
            <a:avLst/>
          </a:prstGeom>
          <a:noFill/>
        </p:spPr>
        <p:txBody>
          <a:bodyPr wrap="square" rtlCol="0">
            <a:spAutoFit/>
          </a:bodyPr>
          <a:lstStyle/>
          <a:p>
            <a:pPr algn="ct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发现问题</a:t>
            </a:r>
            <a:endPar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5" name="紫荆的职场Point24"/>
          <p:cNvSpPr txBox="1"/>
          <p:nvPr/>
        </p:nvSpPr>
        <p:spPr>
          <a:xfrm rot="15660000">
            <a:off x="4255135" y="4008120"/>
            <a:ext cx="722630" cy="245110"/>
          </a:xfrm>
          <a:prstGeom prst="rect">
            <a:avLst/>
          </a:prstGeom>
          <a:noFill/>
        </p:spPr>
        <p:txBody>
          <a:bodyPr wrap="square" rtlCol="0">
            <a:spAutoFit/>
          </a:bodyPr>
          <a:lstStyle/>
          <a:p>
            <a:pPr algn="ct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周而复始</a:t>
            </a:r>
            <a:endPar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6" name="紫荆的职场Point25"/>
          <p:cNvSpPr txBox="1"/>
          <p:nvPr/>
        </p:nvSpPr>
        <p:spPr>
          <a:xfrm rot="5760000">
            <a:off x="6888480" y="4011930"/>
            <a:ext cx="722630" cy="245110"/>
          </a:xfrm>
          <a:prstGeom prst="rect">
            <a:avLst/>
          </a:prstGeom>
          <a:noFill/>
        </p:spPr>
        <p:txBody>
          <a:bodyPr wrap="square" rtlCol="0">
            <a:spAutoFit/>
          </a:bodyPr>
          <a:lstStyle/>
          <a:p>
            <a:pPr algn="ct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执行方案</a:t>
            </a:r>
            <a:endPar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7" name="紫荆的职场Point26"/>
          <p:cNvSpPr txBox="1"/>
          <p:nvPr/>
        </p:nvSpPr>
        <p:spPr>
          <a:xfrm rot="2340000">
            <a:off x="4690745" y="4848860"/>
            <a:ext cx="722630" cy="245110"/>
          </a:xfrm>
          <a:prstGeom prst="rect">
            <a:avLst/>
          </a:prstGeom>
          <a:noFill/>
        </p:spPr>
        <p:txBody>
          <a:bodyPr wrap="square" rtlCol="0">
            <a:spAutoFit/>
          </a:bodyPr>
          <a:lstStyle/>
          <a:p>
            <a:pPr algn="ct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总结经验</a:t>
            </a:r>
            <a:endPar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8" name="紫荆的职场Point27"/>
          <p:cNvSpPr txBox="1"/>
          <p:nvPr/>
        </p:nvSpPr>
        <p:spPr>
          <a:xfrm>
            <a:off x="5598160" y="5160645"/>
            <a:ext cx="722630" cy="245110"/>
          </a:xfrm>
          <a:prstGeom prst="rect">
            <a:avLst/>
          </a:prstGeom>
          <a:noFill/>
        </p:spPr>
        <p:txBody>
          <a:bodyPr wrap="square" rtlCol="0">
            <a:spAutoFit/>
          </a:bodyPr>
          <a:lstStyle/>
          <a:p>
            <a:pPr algn="ct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分析结果</a:t>
            </a:r>
            <a:endPar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29" name="紫荆的职场Point28"/>
          <p:cNvSpPr txBox="1"/>
          <p:nvPr/>
        </p:nvSpPr>
        <p:spPr>
          <a:xfrm rot="19260000">
            <a:off x="6448425" y="4845685"/>
            <a:ext cx="722630" cy="245110"/>
          </a:xfrm>
          <a:prstGeom prst="rect">
            <a:avLst/>
          </a:prstGeom>
          <a:noFill/>
        </p:spPr>
        <p:txBody>
          <a:bodyPr wrap="square" rtlCol="0">
            <a:spAutoFit/>
          </a:bodyPr>
          <a:lstStyle/>
          <a:p>
            <a:pPr algn="ctr"/>
            <a:r>
              <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rPr>
              <a:t>检查对比</a:t>
            </a:r>
            <a:endParaRPr lang="zh-CN" altLang="en-US" sz="1000" b="1"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35" name="任意多边形: 形状 57"/>
          <p:cNvSpPr/>
          <p:nvPr/>
        </p:nvSpPr>
        <p:spPr>
          <a:xfrm>
            <a:off x="5955030" y="1364615"/>
            <a:ext cx="2745740" cy="3308350"/>
          </a:xfrm>
          <a:custGeom>
            <a:avLst/>
            <a:gdLst>
              <a:gd name="connsiteX0" fmla="*/ 2408279 w 2570511"/>
              <a:gd name="connsiteY0" fmla="*/ 2389864 h 3097625"/>
              <a:gd name="connsiteX1" fmla="*/ 1216 w 2570511"/>
              <a:gd name="connsiteY1" fmla="*/ -54 h 3097625"/>
              <a:gd name="connsiteX2" fmla="*/ 1216 w 2570511"/>
              <a:gd name="connsiteY2" fmla="*/ 718608 h 3097625"/>
              <a:gd name="connsiteX3" fmla="*/ 1689522 w 2570511"/>
              <a:gd name="connsiteY3" fmla="*/ 2389864 h 3097625"/>
              <a:gd name="connsiteX4" fmla="*/ 1503023 w 2570511"/>
              <a:gd name="connsiteY4" fmla="*/ 2389864 h 3097625"/>
              <a:gd name="connsiteX5" fmla="*/ 2037375 w 2570511"/>
              <a:gd name="connsiteY5" fmla="*/ 3097572 h 3097625"/>
              <a:gd name="connsiteX6" fmla="*/ 2571728 w 2570511"/>
              <a:gd name="connsiteY6" fmla="*/ 2389864 h 3097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70511" h="3097625">
                <a:moveTo>
                  <a:pt x="2408279" y="2389864"/>
                </a:moveTo>
                <a:cubicBezTo>
                  <a:pt x="2395611" y="1069604"/>
                  <a:pt x="1323667" y="2899"/>
                  <a:pt x="1216" y="-54"/>
                </a:cubicBezTo>
                <a:lnTo>
                  <a:pt x="1216" y="718608"/>
                </a:lnTo>
                <a:cubicBezTo>
                  <a:pt x="926760" y="721465"/>
                  <a:pt x="1677616" y="1466511"/>
                  <a:pt x="1689522" y="2389864"/>
                </a:cubicBezTo>
                <a:lnTo>
                  <a:pt x="1503023" y="2389864"/>
                </a:lnTo>
                <a:lnTo>
                  <a:pt x="2037375" y="3097572"/>
                </a:lnTo>
                <a:lnTo>
                  <a:pt x="2571728" y="2389864"/>
                </a:lnTo>
                <a:close/>
              </a:path>
            </a:pathLst>
          </a:custGeom>
          <a:gradFill flip="none" rotWithShape="1">
            <a:gsLst>
              <a:gs pos="0">
                <a:schemeClr val="accent1">
                  <a:lumMod val="60000"/>
                  <a:lumOff val="40000"/>
                </a:schemeClr>
              </a:gs>
              <a:gs pos="70000">
                <a:schemeClr val="accent1">
                  <a:lumMod val="40000"/>
                  <a:lumOff val="60000"/>
                </a:schemeClr>
              </a:gs>
            </a:gsLst>
            <a:lin ang="0" scaled="1"/>
            <a:tileRect/>
          </a:gra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6" name="任意多边形: 形状 59"/>
          <p:cNvSpPr/>
          <p:nvPr/>
        </p:nvSpPr>
        <p:spPr>
          <a:xfrm>
            <a:off x="5871210" y="1183640"/>
            <a:ext cx="767715" cy="1141730"/>
          </a:xfrm>
          <a:custGeom>
            <a:avLst/>
            <a:gdLst>
              <a:gd name="connsiteX0" fmla="*/ 0 w 718946"/>
              <a:gd name="connsiteY0" fmla="*/ 0 h 1068704"/>
              <a:gd name="connsiteX1" fmla="*/ 718947 w 718946"/>
              <a:gd name="connsiteY1" fmla="*/ 534353 h 1068704"/>
              <a:gd name="connsiteX2" fmla="*/ 0 w 718946"/>
              <a:gd name="connsiteY2" fmla="*/ 1068705 h 1068704"/>
              <a:gd name="connsiteX3" fmla="*/ 0 w 718946"/>
              <a:gd name="connsiteY3" fmla="*/ 0 h 1068704"/>
            </a:gdLst>
            <a:ahLst/>
            <a:cxnLst>
              <a:cxn ang="0">
                <a:pos x="connsiteX0" y="connsiteY0"/>
              </a:cxn>
              <a:cxn ang="0">
                <a:pos x="connsiteX1" y="connsiteY1"/>
              </a:cxn>
              <a:cxn ang="0">
                <a:pos x="connsiteX2" y="connsiteY2"/>
              </a:cxn>
              <a:cxn ang="0">
                <a:pos x="connsiteX3" y="connsiteY3"/>
              </a:cxn>
            </a:cxnLst>
            <a:rect l="l" t="t" r="r" b="b"/>
            <a:pathLst>
              <a:path w="718946" h="1068704">
                <a:moveTo>
                  <a:pt x="0" y="0"/>
                </a:moveTo>
                <a:lnTo>
                  <a:pt x="718947" y="534353"/>
                </a:lnTo>
                <a:lnTo>
                  <a:pt x="0" y="1068705"/>
                </a:lnTo>
                <a:lnTo>
                  <a:pt x="0" y="0"/>
                </a:lnTo>
                <a:close/>
              </a:path>
            </a:pathLst>
          </a:custGeom>
          <a:solidFill>
            <a:schemeClr val="accent1"/>
          </a:solidFill>
          <a:ln w="9525" cap="flat">
            <a:noFill/>
            <a:prstDash val="solid"/>
            <a:miter/>
          </a:ln>
        </p:spPr>
        <p:txBody>
          <a:bodyPr rtlCol="0" anchor="ctr">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41" name="文本框 40"/>
          <p:cNvSpPr txBox="1"/>
          <p:nvPr/>
        </p:nvSpPr>
        <p:spPr>
          <a:xfrm>
            <a:off x="5644515" y="1498531"/>
            <a:ext cx="648970" cy="583565"/>
          </a:xfrm>
          <a:prstGeom prst="rect">
            <a:avLst/>
          </a:prstGeom>
          <a:noFill/>
        </p:spPr>
        <p:txBody>
          <a:bodyPr wrap="none" rtlCol="0">
            <a:spAutoFit/>
          </a:bodyPr>
          <a:lstStyle/>
          <a:p>
            <a:pPr algn="ctr"/>
            <a:r>
              <a:rPr lang="en-US" altLang="zh-CN" sz="3200" dirty="0">
                <a:solidFill>
                  <a:schemeClr val="bg2">
                    <a:alpha val="60000"/>
                  </a:schemeClr>
                </a:solidFill>
                <a:latin typeface="微软雅黑" panose="020B0503020204020204" charset="-122"/>
                <a:ea typeface="微软雅黑" panose="020B0503020204020204" charset="-122"/>
                <a:cs typeface="微软雅黑" panose="020B0503020204020204" charset="-122"/>
              </a:rPr>
              <a:t>04</a:t>
            </a:r>
            <a:endParaRPr lang="en-US" altLang="zh-CN" sz="3200" dirty="0">
              <a:solidFill>
                <a:schemeClr val="bg2">
                  <a:alpha val="60000"/>
                </a:schemeClr>
              </a:solidFill>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a:off x="7843598" y="3568185"/>
            <a:ext cx="648970" cy="583565"/>
          </a:xfrm>
          <a:prstGeom prst="rect">
            <a:avLst/>
          </a:prstGeom>
          <a:noFill/>
        </p:spPr>
        <p:txBody>
          <a:bodyPr wrap="none" rtlCol="0">
            <a:spAutoFit/>
          </a:bodyPr>
          <a:lstStyle/>
          <a:p>
            <a:pPr algn="ctr"/>
            <a:r>
              <a:rPr lang="en-US" altLang="zh-CN" sz="3200" dirty="0">
                <a:solidFill>
                  <a:schemeClr val="bg2">
                    <a:alpha val="60000"/>
                  </a:schemeClr>
                </a:solidFill>
                <a:latin typeface="微软雅黑" panose="020B0503020204020204" charset="-122"/>
                <a:ea typeface="微软雅黑" panose="020B0503020204020204" charset="-122"/>
                <a:cs typeface="微软雅黑" panose="020B0503020204020204" charset="-122"/>
              </a:rPr>
              <a:t>01</a:t>
            </a:r>
            <a:endParaRPr lang="en-US" altLang="zh-CN" sz="3200" dirty="0">
              <a:solidFill>
                <a:schemeClr val="bg2">
                  <a:alpha val="60000"/>
                </a:schemeClr>
              </a:solidFill>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3449594" y="3568185"/>
            <a:ext cx="648970" cy="583565"/>
          </a:xfrm>
          <a:prstGeom prst="rect">
            <a:avLst/>
          </a:prstGeom>
          <a:noFill/>
        </p:spPr>
        <p:txBody>
          <a:bodyPr wrap="none" rtlCol="0">
            <a:spAutoFit/>
          </a:bodyPr>
          <a:lstStyle/>
          <a:p>
            <a:pPr algn="ctr"/>
            <a:r>
              <a:rPr lang="en-US" altLang="zh-CN" sz="3200" dirty="0">
                <a:solidFill>
                  <a:schemeClr val="bg2">
                    <a:alpha val="60000"/>
                  </a:schemeClr>
                </a:solidFill>
                <a:latin typeface="微软雅黑" panose="020B0503020204020204" charset="-122"/>
                <a:ea typeface="微软雅黑" panose="020B0503020204020204" charset="-122"/>
                <a:cs typeface="微软雅黑" panose="020B0503020204020204" charset="-122"/>
              </a:rPr>
              <a:t>03</a:t>
            </a:r>
            <a:endParaRPr lang="en-US" altLang="zh-CN" sz="3200" dirty="0">
              <a:solidFill>
                <a:schemeClr val="bg2">
                  <a:alpha val="60000"/>
                </a:schemeClr>
              </a:solidFill>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5771515" y="5783664"/>
            <a:ext cx="648970" cy="583565"/>
          </a:xfrm>
          <a:prstGeom prst="rect">
            <a:avLst/>
          </a:prstGeom>
          <a:noFill/>
        </p:spPr>
        <p:txBody>
          <a:bodyPr wrap="none" rtlCol="0">
            <a:spAutoFit/>
          </a:bodyPr>
          <a:lstStyle/>
          <a:p>
            <a:pPr algn="ctr"/>
            <a:r>
              <a:rPr lang="en-US" altLang="zh-CN" sz="3200" dirty="0">
                <a:solidFill>
                  <a:schemeClr val="bg2">
                    <a:alpha val="60000"/>
                  </a:schemeClr>
                </a:solidFill>
                <a:latin typeface="微软雅黑" panose="020B0503020204020204" charset="-122"/>
                <a:ea typeface="微软雅黑" panose="020B0503020204020204" charset="-122"/>
                <a:cs typeface="微软雅黑" panose="020B0503020204020204" charset="-122"/>
              </a:rPr>
              <a:t>02</a:t>
            </a:r>
            <a:endParaRPr lang="en-US" altLang="zh-CN" sz="3200" dirty="0">
              <a:solidFill>
                <a:schemeClr val="bg2">
                  <a:alpha val="60000"/>
                </a:schemeClr>
              </a:solidFill>
              <a:latin typeface="微软雅黑" panose="020B0503020204020204" charset="-122"/>
              <a:ea typeface="微软雅黑" panose="020B0503020204020204" charset="-122"/>
              <a:cs typeface="微软雅黑" panose="020B0503020204020204" charset="-122"/>
            </a:endParaRPr>
          </a:p>
        </p:txBody>
      </p:sp>
      <p:grpSp>
        <p:nvGrpSpPr>
          <p:cNvPr id="45" name="组合 44"/>
          <p:cNvGrpSpPr/>
          <p:nvPr/>
        </p:nvGrpSpPr>
        <p:grpSpPr>
          <a:xfrm>
            <a:off x="9131300" y="2818765"/>
            <a:ext cx="2397760" cy="581025"/>
            <a:chOff x="14236" y="4439"/>
            <a:chExt cx="3776" cy="915"/>
          </a:xfrm>
        </p:grpSpPr>
        <p:sp>
          <p:nvSpPr>
            <p:cNvPr id="46" name="文本框 45"/>
            <p:cNvSpPr txBox="1"/>
            <p:nvPr/>
          </p:nvSpPr>
          <p:spPr>
            <a:xfrm>
              <a:off x="14631" y="4726"/>
              <a:ext cx="1154" cy="628"/>
            </a:xfrm>
            <a:prstGeom prst="rect">
              <a:avLst/>
            </a:prstGeom>
            <a:noFill/>
          </p:spPr>
          <p:txBody>
            <a:bodyPr wrap="none">
              <a:spAutoFit/>
            </a:bodyPr>
            <a:lstStyle/>
            <a:p>
              <a:r>
                <a:rPr lang="en-US" altLang="zh-CN" sz="2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20%</a:t>
              </a:r>
              <a:endParaRPr lang="en-US" altLang="zh-CN" sz="2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7" name="文本框 46"/>
            <p:cNvSpPr txBox="1"/>
            <p:nvPr/>
          </p:nvSpPr>
          <p:spPr>
            <a:xfrm>
              <a:off x="14236" y="4439"/>
              <a:ext cx="1906" cy="400"/>
            </a:xfrm>
            <a:prstGeom prst="rect">
              <a:avLst/>
            </a:prstGeom>
            <a:noFill/>
          </p:spPr>
          <p:txBody>
            <a:bodyPr wrap="none">
              <a:spAutoFit/>
            </a:bodyPr>
            <a:lstStyle/>
            <a:p>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目标生产效率提升</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48" name="文本框 47"/>
            <p:cNvSpPr txBox="1"/>
            <p:nvPr/>
          </p:nvSpPr>
          <p:spPr>
            <a:xfrm>
              <a:off x="16684" y="4726"/>
              <a:ext cx="1154" cy="628"/>
            </a:xfrm>
            <a:prstGeom prst="rect">
              <a:avLst/>
            </a:prstGeom>
            <a:noFill/>
          </p:spPr>
          <p:txBody>
            <a:bodyPr wrap="none">
              <a:spAutoFit/>
            </a:bodyPr>
            <a:lstStyle/>
            <a:p>
              <a:r>
                <a:rPr lang="en-US" altLang="zh-CN" sz="2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80%</a:t>
              </a:r>
              <a:endParaRPr lang="en-US" altLang="zh-CN" sz="20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49" name="文本框 48"/>
            <p:cNvSpPr txBox="1"/>
            <p:nvPr/>
          </p:nvSpPr>
          <p:spPr>
            <a:xfrm>
              <a:off x="16509" y="4439"/>
              <a:ext cx="1503" cy="400"/>
            </a:xfrm>
            <a:prstGeom prst="rect">
              <a:avLst/>
            </a:prstGeom>
            <a:noFill/>
          </p:spPr>
          <p:txBody>
            <a:bodyPr wrap="none">
              <a:spAutoFit/>
            </a:bodyPr>
            <a:lstStyle/>
            <a:p>
              <a:r>
                <a:rPr lang="zh-CN" altLang="en-US" sz="1050">
                  <a:solidFill>
                    <a:schemeClr val="tx2"/>
                  </a:solidFill>
                  <a:latin typeface="微软雅黑" panose="020B0503020204020204" charset="-122"/>
                  <a:ea typeface="微软雅黑" panose="020B0503020204020204" charset="-122"/>
                  <a:cs typeface="微软雅黑" panose="020B0503020204020204" charset="-122"/>
                </a:rPr>
                <a:t>当前生产效率</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50" name="直接连接符 49"/>
            <p:cNvCxnSpPr/>
            <p:nvPr/>
          </p:nvCxnSpPr>
          <p:spPr>
            <a:xfrm>
              <a:off x="16294" y="4518"/>
              <a:ext cx="0" cy="728"/>
            </a:xfrm>
            <a:prstGeom prst="line">
              <a:avLst/>
            </a:prstGeom>
            <a:ln w="9525">
              <a:solidFill>
                <a:srgbClr val="FFFFFF">
                  <a:lumMod val="85000"/>
                </a:srgbClr>
              </a:solidFill>
            </a:ln>
          </p:spPr>
          <p:style>
            <a:lnRef idx="2">
              <a:srgbClr val="24396B"/>
            </a:lnRef>
            <a:fillRef idx="0">
              <a:srgbClr val="24396B"/>
            </a:fillRef>
            <a:effectRef idx="1">
              <a:srgbClr val="24396B"/>
            </a:effectRef>
            <a:fontRef idx="minor">
              <a:srgbClr val="000000"/>
            </a:fontRef>
          </p:style>
        </p:cxnSp>
      </p:grpSp>
      <p:sp>
        <p:nvSpPr>
          <p:cNvPr id="51" name="矩形: 圆角 117"/>
          <p:cNvSpPr/>
          <p:nvPr/>
        </p:nvSpPr>
        <p:spPr>
          <a:xfrm>
            <a:off x="10831830" y="1318260"/>
            <a:ext cx="632460" cy="233680"/>
          </a:xfrm>
          <a:prstGeom prst="roundRect">
            <a:avLst/>
          </a:prstGeom>
          <a:solidFill>
            <a:schemeClr val="accent1">
              <a:lumMod val="60000"/>
              <a:lumOff val="40000"/>
            </a:schemeClr>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algn="ctr"/>
            <a:r>
              <a:rPr lang="zh-CN" altLang="en-US" sz="1000" dirty="0">
                <a:solidFill>
                  <a:schemeClr val="bg2"/>
                </a:solidFill>
                <a:latin typeface="微软雅黑" panose="020B0503020204020204" charset="-122"/>
                <a:ea typeface="微软雅黑" panose="020B0503020204020204" charset="-122"/>
                <a:cs typeface="微软雅黑" panose="020B0503020204020204" charset="-122"/>
              </a:rPr>
              <a:t>目标设定</a:t>
            </a:r>
            <a:endParaRPr lang="zh-CN" altLang="en-US" sz="100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52" name="文本框 51"/>
          <p:cNvSpPr txBox="1"/>
          <p:nvPr/>
        </p:nvSpPr>
        <p:spPr>
          <a:xfrm>
            <a:off x="8800465" y="1307465"/>
            <a:ext cx="1979930" cy="254000"/>
          </a:xfrm>
          <a:prstGeom prst="rect">
            <a:avLst/>
          </a:prstGeom>
          <a:noFill/>
        </p:spPr>
        <p:txBody>
          <a:bodyPr wrap="none">
            <a:spAutoFit/>
          </a:bodyPr>
          <a:lstStyle/>
          <a:p>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明确改进目标，如提高生产效率</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3" name="矩形: 圆角 119"/>
          <p:cNvSpPr/>
          <p:nvPr/>
        </p:nvSpPr>
        <p:spPr>
          <a:xfrm>
            <a:off x="10831830" y="1654175"/>
            <a:ext cx="632460" cy="233680"/>
          </a:xfrm>
          <a:prstGeom prst="roundRect">
            <a:avLst/>
          </a:prstGeom>
          <a:solidFill>
            <a:schemeClr val="accent1">
              <a:lumMod val="60000"/>
              <a:lumOff val="40000"/>
            </a:schemeClr>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r>
              <a:rPr lang="zh-CN" altLang="en-US" sz="1000" dirty="0">
                <a:solidFill>
                  <a:schemeClr val="bg2"/>
                </a:solidFill>
                <a:latin typeface="微软雅黑" panose="020B0503020204020204" charset="-122"/>
                <a:ea typeface="微软雅黑" panose="020B0503020204020204" charset="-122"/>
                <a:cs typeface="微软雅黑" panose="020B0503020204020204" charset="-122"/>
                <a:sym typeface="+mn-ea"/>
              </a:rPr>
              <a:t>现状分析</a:t>
            </a:r>
            <a:endParaRPr lang="zh-CN" altLang="en-US" sz="1000" dirty="0">
              <a:solidFill>
                <a:schemeClr val="bg2"/>
              </a:solidFill>
              <a:latin typeface="微软雅黑" panose="020B0503020204020204" charset="-122"/>
              <a:ea typeface="微软雅黑" panose="020B0503020204020204" charset="-122"/>
              <a:cs typeface="微软雅黑" panose="020B0503020204020204" charset="-122"/>
              <a:sym typeface="+mn-ea"/>
            </a:endParaRPr>
          </a:p>
        </p:txBody>
      </p:sp>
      <p:sp>
        <p:nvSpPr>
          <p:cNvPr id="54" name="文本框 53"/>
          <p:cNvSpPr txBox="1"/>
          <p:nvPr/>
        </p:nvSpPr>
        <p:spPr>
          <a:xfrm>
            <a:off x="9185275" y="1643380"/>
            <a:ext cx="1595120" cy="254000"/>
          </a:xfrm>
          <a:prstGeom prst="rect">
            <a:avLst/>
          </a:prstGeom>
          <a:noFill/>
        </p:spPr>
        <p:txBody>
          <a:bodyPr wrap="none">
            <a:spAutoFit/>
          </a:bodyPr>
          <a:lstStyle/>
          <a:p>
            <a:r>
              <a:rPr lang="zh-CN" altLang="en-US" sz="1050">
                <a:solidFill>
                  <a:schemeClr val="tx2"/>
                </a:solidFill>
                <a:latin typeface="微软雅黑" panose="020B0503020204020204" charset="-122"/>
                <a:ea typeface="微软雅黑" panose="020B0503020204020204" charset="-122"/>
                <a:cs typeface="微软雅黑" panose="020B0503020204020204" charset="-122"/>
              </a:rPr>
              <a:t>收集并分析当前流程数据</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5" name="矩形: 圆角 123"/>
          <p:cNvSpPr/>
          <p:nvPr/>
        </p:nvSpPr>
        <p:spPr>
          <a:xfrm>
            <a:off x="10831830" y="1989455"/>
            <a:ext cx="632460" cy="233680"/>
          </a:xfrm>
          <a:prstGeom prst="roundRect">
            <a:avLst/>
          </a:prstGeom>
          <a:solidFill>
            <a:schemeClr val="accent1">
              <a:lumMod val="60000"/>
              <a:lumOff val="40000"/>
            </a:schemeClr>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r>
              <a:rPr lang="zh-CN" altLang="en-US" sz="1000" dirty="0">
                <a:solidFill>
                  <a:schemeClr val="bg2"/>
                </a:solidFill>
                <a:latin typeface="微软雅黑" panose="020B0503020204020204" charset="-122"/>
                <a:ea typeface="微软雅黑" panose="020B0503020204020204" charset="-122"/>
                <a:cs typeface="微软雅黑" panose="020B0503020204020204" charset="-122"/>
                <a:sym typeface="+mn-ea"/>
              </a:rPr>
              <a:t>原因分析</a:t>
            </a:r>
            <a:endParaRPr lang="zh-CN" altLang="en-US" sz="1000" dirty="0">
              <a:solidFill>
                <a:schemeClr val="bg2"/>
              </a:solidFill>
              <a:latin typeface="微软雅黑" panose="020B0503020204020204" charset="-122"/>
              <a:ea typeface="微软雅黑" panose="020B0503020204020204" charset="-122"/>
              <a:cs typeface="微软雅黑" panose="020B0503020204020204" charset="-122"/>
              <a:sym typeface="+mn-ea"/>
            </a:endParaRPr>
          </a:p>
        </p:txBody>
      </p:sp>
      <p:sp>
        <p:nvSpPr>
          <p:cNvPr id="56" name="文本框 55"/>
          <p:cNvSpPr txBox="1"/>
          <p:nvPr/>
        </p:nvSpPr>
        <p:spPr>
          <a:xfrm>
            <a:off x="9057005" y="1978660"/>
            <a:ext cx="1723390" cy="254000"/>
          </a:xfrm>
          <a:prstGeom prst="rect">
            <a:avLst/>
          </a:prstGeom>
          <a:noFill/>
        </p:spPr>
        <p:txBody>
          <a:bodyPr wrap="none">
            <a:spAutoFit/>
          </a:bodyPr>
          <a:lstStyle/>
          <a:p>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识别问题根源，如设备老化</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57" name="矩形: 圆角 125"/>
          <p:cNvSpPr/>
          <p:nvPr/>
        </p:nvSpPr>
        <p:spPr>
          <a:xfrm>
            <a:off x="10831830" y="2325370"/>
            <a:ext cx="632460" cy="233680"/>
          </a:xfrm>
          <a:prstGeom prst="roundRect">
            <a:avLst/>
          </a:prstGeom>
          <a:solidFill>
            <a:schemeClr val="accent1">
              <a:lumMod val="60000"/>
              <a:lumOff val="40000"/>
            </a:schemeClr>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r>
              <a:rPr lang="zh-CN" altLang="en-US" sz="1000" dirty="0">
                <a:solidFill>
                  <a:schemeClr val="bg2"/>
                </a:solidFill>
                <a:latin typeface="微软雅黑" panose="020B0503020204020204" charset="-122"/>
                <a:ea typeface="微软雅黑" panose="020B0503020204020204" charset="-122"/>
                <a:cs typeface="微软雅黑" panose="020B0503020204020204" charset="-122"/>
                <a:sym typeface="+mn-ea"/>
              </a:rPr>
              <a:t>改进策略</a:t>
            </a:r>
            <a:endParaRPr lang="zh-CN" altLang="en-US" sz="1000" dirty="0">
              <a:solidFill>
                <a:schemeClr val="bg2"/>
              </a:solidFill>
              <a:latin typeface="微软雅黑" panose="020B0503020204020204" charset="-122"/>
              <a:ea typeface="微软雅黑" panose="020B0503020204020204" charset="-122"/>
              <a:cs typeface="微软雅黑" panose="020B0503020204020204" charset="-122"/>
              <a:sym typeface="+mn-ea"/>
            </a:endParaRPr>
          </a:p>
        </p:txBody>
      </p:sp>
      <p:sp>
        <p:nvSpPr>
          <p:cNvPr id="58" name="文本框 57"/>
          <p:cNvSpPr txBox="1"/>
          <p:nvPr/>
        </p:nvSpPr>
        <p:spPr>
          <a:xfrm>
            <a:off x="9441815" y="2314575"/>
            <a:ext cx="1338580" cy="254000"/>
          </a:xfrm>
          <a:prstGeom prst="rect">
            <a:avLst/>
          </a:prstGeom>
          <a:noFill/>
        </p:spPr>
        <p:txBody>
          <a:bodyPr wrap="none">
            <a:spAutoFit/>
          </a:bodyPr>
          <a:lstStyle/>
          <a:p>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制定具体的改进措施</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grpSp>
        <p:nvGrpSpPr>
          <p:cNvPr id="59" name="组合 58"/>
          <p:cNvGrpSpPr/>
          <p:nvPr/>
        </p:nvGrpSpPr>
        <p:grpSpPr>
          <a:xfrm>
            <a:off x="9105657" y="5721618"/>
            <a:ext cx="2396979" cy="581317"/>
            <a:chOff x="14440" y="9010"/>
            <a:chExt cx="3775" cy="915"/>
          </a:xfrm>
        </p:grpSpPr>
        <p:sp>
          <p:nvSpPr>
            <p:cNvPr id="61" name="文本框 60"/>
            <p:cNvSpPr txBox="1"/>
            <p:nvPr/>
          </p:nvSpPr>
          <p:spPr>
            <a:xfrm>
              <a:off x="17033" y="9297"/>
              <a:ext cx="1182" cy="628"/>
            </a:xfrm>
            <a:prstGeom prst="rect">
              <a:avLst/>
            </a:prstGeom>
            <a:noFill/>
          </p:spPr>
          <p:txBody>
            <a:bodyPr wrap="none">
              <a:spAutoFit/>
            </a:bodyPr>
            <a:lstStyle/>
            <a:p>
              <a:pPr algn="r"/>
              <a:r>
                <a:rPr lang="en-US" altLang="zh-CN" sz="2000" b="1" dirty="0">
                  <a:solidFill>
                    <a:schemeClr val="accent5"/>
                  </a:solidFill>
                  <a:latin typeface="微软雅黑" panose="020B0503020204020204" charset="-122"/>
                  <a:ea typeface="微软雅黑" panose="020B0503020204020204" charset="-122"/>
                  <a:cs typeface="微软雅黑" panose="020B0503020204020204" charset="-122"/>
                </a:rPr>
                <a:t>15</a:t>
              </a:r>
              <a:r>
                <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rPr>
                <a:t>条</a:t>
              </a:r>
              <a:endPar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62" name="文本框 61"/>
            <p:cNvSpPr txBox="1"/>
            <p:nvPr/>
          </p:nvSpPr>
          <p:spPr>
            <a:xfrm>
              <a:off x="16511" y="9010"/>
              <a:ext cx="1704" cy="400"/>
            </a:xfrm>
            <a:prstGeom prst="rect">
              <a:avLst/>
            </a:prstGeom>
            <a:noFill/>
          </p:spPr>
          <p:txBody>
            <a:bodyPr wrap="none">
              <a:spAutoFit/>
            </a:bodyPr>
            <a:lstStyle/>
            <a:p>
              <a:pPr algn="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收集的反馈数量</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64" name="文本框 63"/>
            <p:cNvSpPr txBox="1"/>
            <p:nvPr/>
          </p:nvSpPr>
          <p:spPr>
            <a:xfrm>
              <a:off x="14760" y="9297"/>
              <a:ext cx="1182" cy="628"/>
            </a:xfrm>
            <a:prstGeom prst="rect">
              <a:avLst/>
            </a:prstGeom>
            <a:noFill/>
          </p:spPr>
          <p:txBody>
            <a:bodyPr wrap="none">
              <a:spAutoFit/>
            </a:bodyPr>
            <a:lstStyle/>
            <a:p>
              <a:pPr algn="r"/>
              <a:r>
                <a:rPr lang="en-US" altLang="zh-CN" sz="2000" b="1" dirty="0">
                  <a:solidFill>
                    <a:schemeClr val="accent5"/>
                  </a:solidFill>
                  <a:latin typeface="微软雅黑" panose="020B0503020204020204" charset="-122"/>
                  <a:ea typeface="微软雅黑" panose="020B0503020204020204" charset="-122"/>
                  <a:cs typeface="微软雅黑" panose="020B0503020204020204" charset="-122"/>
                </a:rPr>
                <a:t>30</a:t>
              </a:r>
              <a:r>
                <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rPr>
                <a:t>人</a:t>
              </a:r>
              <a:endParaRPr lang="zh-CN" altLang="en-US" sz="20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65" name="文本框 64"/>
            <p:cNvSpPr txBox="1"/>
            <p:nvPr/>
          </p:nvSpPr>
          <p:spPr>
            <a:xfrm>
              <a:off x="14440" y="9010"/>
              <a:ext cx="1503" cy="400"/>
            </a:xfrm>
            <a:prstGeom prst="rect">
              <a:avLst/>
            </a:prstGeom>
            <a:noFill/>
          </p:spPr>
          <p:txBody>
            <a:bodyPr wrap="none">
              <a:spAutoFit/>
            </a:bodyPr>
            <a:lstStyle/>
            <a:p>
              <a:pPr algn="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培训员工人数</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66" name="直接连接符 65"/>
            <p:cNvCxnSpPr/>
            <p:nvPr/>
          </p:nvCxnSpPr>
          <p:spPr>
            <a:xfrm>
              <a:off x="16261" y="9089"/>
              <a:ext cx="0" cy="728"/>
            </a:xfrm>
            <a:prstGeom prst="line">
              <a:avLst/>
            </a:prstGeom>
            <a:ln w="9525">
              <a:solidFill>
                <a:schemeClr val="accent6">
                  <a:lumMod val="40000"/>
                  <a:lumOff val="60000"/>
                </a:schemeClr>
              </a:solidFill>
            </a:ln>
          </p:spPr>
          <p:style>
            <a:lnRef idx="2">
              <a:srgbClr val="24396B"/>
            </a:lnRef>
            <a:fillRef idx="0">
              <a:srgbClr val="24396B"/>
            </a:fillRef>
            <a:effectRef idx="1">
              <a:srgbClr val="24396B"/>
            </a:effectRef>
            <a:fontRef idx="minor">
              <a:srgbClr val="000000"/>
            </a:fontRef>
          </p:style>
        </p:cxnSp>
      </p:grpSp>
      <p:sp>
        <p:nvSpPr>
          <p:cNvPr id="67" name="矩形: 圆角 151"/>
          <p:cNvSpPr/>
          <p:nvPr/>
        </p:nvSpPr>
        <p:spPr>
          <a:xfrm>
            <a:off x="10831830" y="4277360"/>
            <a:ext cx="632460" cy="233680"/>
          </a:xfrm>
          <a:prstGeom prst="roundRect">
            <a:avLst/>
          </a:prstGeom>
          <a:solidFill>
            <a:schemeClr val="accent5"/>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algn="ctr"/>
            <a:r>
              <a:rPr lang="zh-CN" altLang="en-US" sz="1000" dirty="0">
                <a:solidFill>
                  <a:schemeClr val="bg2"/>
                </a:solidFill>
                <a:latin typeface="微软雅黑" panose="020B0503020204020204" charset="-122"/>
                <a:ea typeface="微软雅黑" panose="020B0503020204020204" charset="-122"/>
                <a:cs typeface="微软雅黑" panose="020B0503020204020204" charset="-122"/>
              </a:rPr>
              <a:t>改进实施</a:t>
            </a:r>
            <a:endParaRPr lang="zh-CN" altLang="en-US" sz="100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9313545" y="4267200"/>
            <a:ext cx="1466850" cy="254000"/>
          </a:xfrm>
          <a:prstGeom prst="rect">
            <a:avLst/>
          </a:prstGeom>
          <a:noFill/>
        </p:spPr>
        <p:txBody>
          <a:bodyPr wrap="none">
            <a:spAutoFit/>
          </a:bodyPr>
          <a:lstStyle/>
          <a:p>
            <a:pPr algn="r"/>
            <a:r>
              <a:rPr lang="zh-CN" altLang="en-US" sz="1050">
                <a:solidFill>
                  <a:schemeClr val="tx2"/>
                </a:solidFill>
                <a:latin typeface="微软雅黑" panose="020B0503020204020204" charset="-122"/>
                <a:ea typeface="微软雅黑" panose="020B0503020204020204" charset="-122"/>
                <a:cs typeface="微软雅黑" panose="020B0503020204020204" charset="-122"/>
              </a:rPr>
              <a:t>按照计划执行改进措施</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2" name="矩形: 圆角 149"/>
          <p:cNvSpPr/>
          <p:nvPr/>
        </p:nvSpPr>
        <p:spPr>
          <a:xfrm>
            <a:off x="10831830" y="4613275"/>
            <a:ext cx="632460" cy="233680"/>
          </a:xfrm>
          <a:prstGeom prst="roundRect">
            <a:avLst/>
          </a:prstGeom>
          <a:solidFill>
            <a:schemeClr val="accent5"/>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algn="ctr"/>
            <a:r>
              <a:rPr lang="zh-CN" altLang="en-US" sz="1000">
                <a:solidFill>
                  <a:srgbClr val="FFFFFF"/>
                </a:solidFill>
                <a:latin typeface="微软雅黑" panose="020B0503020204020204" charset="-122"/>
                <a:ea typeface="微软雅黑" panose="020B0503020204020204" charset="-122"/>
                <a:cs typeface="微软雅黑" panose="020B0503020204020204" charset="-122"/>
              </a:rPr>
              <a:t>员工培训</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3" name="文本框 72"/>
          <p:cNvSpPr txBox="1"/>
          <p:nvPr/>
        </p:nvSpPr>
        <p:spPr>
          <a:xfrm>
            <a:off x="9313545" y="4603115"/>
            <a:ext cx="1466850" cy="254000"/>
          </a:xfrm>
          <a:prstGeom prst="rect">
            <a:avLst/>
          </a:prstGeom>
          <a:noFill/>
        </p:spPr>
        <p:txBody>
          <a:bodyPr wrap="none">
            <a:spAutoFit/>
          </a:bodyPr>
          <a:lstStyle/>
          <a:p>
            <a:pPr algn="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对员工进行新流程培训</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4" name="矩形: 圆角 147"/>
          <p:cNvSpPr/>
          <p:nvPr/>
        </p:nvSpPr>
        <p:spPr>
          <a:xfrm>
            <a:off x="10831830" y="4948555"/>
            <a:ext cx="632460" cy="233680"/>
          </a:xfrm>
          <a:prstGeom prst="roundRect">
            <a:avLst/>
          </a:prstGeom>
          <a:solidFill>
            <a:schemeClr val="accent5"/>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algn="ctr"/>
            <a:r>
              <a:rPr lang="zh-CN" altLang="en-US" sz="1000">
                <a:solidFill>
                  <a:srgbClr val="FFFFFF"/>
                </a:solidFill>
                <a:latin typeface="微软雅黑" panose="020B0503020204020204" charset="-122"/>
                <a:ea typeface="微软雅黑" panose="020B0503020204020204" charset="-122"/>
                <a:cs typeface="微软雅黑" panose="020B0503020204020204" charset="-122"/>
              </a:rPr>
              <a:t>流程测试</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5" name="文本框 74"/>
          <p:cNvSpPr txBox="1"/>
          <p:nvPr/>
        </p:nvSpPr>
        <p:spPr>
          <a:xfrm>
            <a:off x="9185275" y="4938395"/>
            <a:ext cx="1595120" cy="254000"/>
          </a:xfrm>
          <a:prstGeom prst="rect">
            <a:avLst/>
          </a:prstGeom>
          <a:noFill/>
        </p:spPr>
        <p:txBody>
          <a:bodyPr wrap="none">
            <a:spAutoFit/>
          </a:bodyPr>
          <a:lstStyle/>
          <a:p>
            <a:pPr algn="r"/>
            <a:r>
              <a:rPr lang="zh-CN" altLang="en-US" sz="1050">
                <a:solidFill>
                  <a:schemeClr val="tx2"/>
                </a:solidFill>
                <a:latin typeface="微软雅黑" panose="020B0503020204020204" charset="-122"/>
                <a:ea typeface="微软雅黑" panose="020B0503020204020204" charset="-122"/>
                <a:cs typeface="微软雅黑" panose="020B0503020204020204" charset="-122"/>
              </a:rPr>
              <a:t>在控制环境中测试新流程</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6" name="矩形: 圆角 145"/>
          <p:cNvSpPr/>
          <p:nvPr/>
        </p:nvSpPr>
        <p:spPr>
          <a:xfrm>
            <a:off x="10831830" y="5284470"/>
            <a:ext cx="632460" cy="233680"/>
          </a:xfrm>
          <a:prstGeom prst="roundRect">
            <a:avLst/>
          </a:prstGeom>
          <a:solidFill>
            <a:schemeClr val="accent5"/>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algn="ctr"/>
            <a:r>
              <a:rPr lang="zh-CN" altLang="en-US" sz="1000">
                <a:solidFill>
                  <a:srgbClr val="FFFFFF"/>
                </a:solidFill>
                <a:latin typeface="微软雅黑" panose="020B0503020204020204" charset="-122"/>
                <a:ea typeface="微软雅黑" panose="020B0503020204020204" charset="-122"/>
                <a:cs typeface="微软雅黑" panose="020B0503020204020204" charset="-122"/>
              </a:rPr>
              <a:t>反馈收集</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7" name="文本框 76"/>
          <p:cNvSpPr txBox="1"/>
          <p:nvPr/>
        </p:nvSpPr>
        <p:spPr>
          <a:xfrm>
            <a:off x="9313545" y="5274310"/>
            <a:ext cx="1466850" cy="254000"/>
          </a:xfrm>
          <a:prstGeom prst="rect">
            <a:avLst/>
          </a:prstGeom>
          <a:noFill/>
        </p:spPr>
        <p:txBody>
          <a:bodyPr wrap="none">
            <a:spAutoFit/>
          </a:bodyPr>
          <a:lstStyle/>
          <a:p>
            <a:pPr algn="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收集员工和客户的反馈</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8" name="文本框 77"/>
          <p:cNvSpPr txBox="1"/>
          <p:nvPr/>
        </p:nvSpPr>
        <p:spPr>
          <a:xfrm>
            <a:off x="1990336" y="5794262"/>
            <a:ext cx="982980" cy="252730"/>
          </a:xfrm>
          <a:prstGeom prst="rect">
            <a:avLst/>
          </a:prstGeom>
          <a:noFill/>
        </p:spPr>
        <p:txBody>
          <a:bodyPr wrap="none">
            <a:spAutoFit/>
          </a:bodyPr>
          <a:lstStyle/>
          <a:p>
            <a:pPr algn="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预期生产效率</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79" name="文本框 78"/>
          <p:cNvSpPr txBox="1"/>
          <p:nvPr/>
        </p:nvSpPr>
        <p:spPr>
          <a:xfrm>
            <a:off x="2159246" y="5976104"/>
            <a:ext cx="732790" cy="398780"/>
          </a:xfrm>
          <a:prstGeom prst="rect">
            <a:avLst/>
          </a:prstGeom>
          <a:noFill/>
        </p:spPr>
        <p:txBody>
          <a:bodyPr wrap="none">
            <a:spAutoFit/>
          </a:bodyPr>
          <a:lstStyle/>
          <a:p>
            <a:pPr algn="r"/>
            <a:r>
              <a:rPr lang="en-US" altLang="zh-CN" sz="2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82%</a:t>
            </a:r>
            <a:endParaRPr lang="en-US" altLang="zh-CN" sz="2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80" name="文本框 79"/>
          <p:cNvSpPr txBox="1"/>
          <p:nvPr/>
        </p:nvSpPr>
        <p:spPr>
          <a:xfrm>
            <a:off x="827499" y="5976104"/>
            <a:ext cx="732790" cy="398780"/>
          </a:xfrm>
          <a:prstGeom prst="rect">
            <a:avLst/>
          </a:prstGeom>
          <a:noFill/>
        </p:spPr>
        <p:txBody>
          <a:bodyPr wrap="none">
            <a:spAutoFit/>
          </a:bodyPr>
          <a:lstStyle/>
          <a:p>
            <a:pPr algn="r"/>
            <a:r>
              <a:rPr lang="en-US" altLang="zh-CN" sz="2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85%</a:t>
            </a:r>
            <a:endParaRPr lang="en-US" altLang="zh-CN" sz="2000" b="1" dirty="0">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81" name="文本框 80"/>
          <p:cNvSpPr txBox="1"/>
          <p:nvPr/>
        </p:nvSpPr>
        <p:spPr>
          <a:xfrm>
            <a:off x="728102" y="5794262"/>
            <a:ext cx="954107" cy="253916"/>
          </a:xfrm>
          <a:prstGeom prst="rect">
            <a:avLst/>
          </a:prstGeom>
          <a:noFill/>
        </p:spPr>
        <p:txBody>
          <a:bodyPr wrap="none">
            <a:spAutoFit/>
          </a:bodyPr>
          <a:lstStyle/>
          <a:p>
            <a:pPr algn="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实际生产效率</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82" name="直接连接符 81"/>
          <p:cNvCxnSpPr/>
          <p:nvPr/>
        </p:nvCxnSpPr>
        <p:spPr>
          <a:xfrm>
            <a:off x="1833646" y="5838311"/>
            <a:ext cx="0" cy="461963"/>
          </a:xfrm>
          <a:prstGeom prst="line">
            <a:avLst/>
          </a:prstGeom>
          <a:ln w="9525">
            <a:solidFill>
              <a:srgbClr val="FFFFFF">
                <a:lumMod val="85000"/>
              </a:srgbClr>
            </a:solidFill>
          </a:ln>
        </p:spPr>
        <p:style>
          <a:lnRef idx="2">
            <a:srgbClr val="24396B"/>
          </a:lnRef>
          <a:fillRef idx="0">
            <a:srgbClr val="24396B"/>
          </a:fillRef>
          <a:effectRef idx="1">
            <a:srgbClr val="24396B"/>
          </a:effectRef>
          <a:fontRef idx="minor">
            <a:srgbClr val="000000"/>
          </a:fontRef>
        </p:style>
      </p:cxnSp>
      <p:sp>
        <p:nvSpPr>
          <p:cNvPr id="83" name="矩形: 圆角 162"/>
          <p:cNvSpPr/>
          <p:nvPr/>
        </p:nvSpPr>
        <p:spPr>
          <a:xfrm>
            <a:off x="751483" y="4350032"/>
            <a:ext cx="632347" cy="233691"/>
          </a:xfrm>
          <a:prstGeom prst="roundRect">
            <a:avLst/>
          </a:prstGeom>
          <a:solidFill>
            <a:schemeClr val="accent5">
              <a:lumMod val="60000"/>
              <a:lumOff val="40000"/>
            </a:schemeClr>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结果监控</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4" name="文本框 83"/>
          <p:cNvSpPr txBox="1"/>
          <p:nvPr/>
        </p:nvSpPr>
        <p:spPr>
          <a:xfrm>
            <a:off x="1433578" y="4360239"/>
            <a:ext cx="1338828" cy="253916"/>
          </a:xfrm>
          <a:prstGeom prst="rect">
            <a:avLst/>
          </a:prstGeom>
          <a:noFill/>
        </p:spPr>
        <p:txBody>
          <a:bodyPr wrap="none">
            <a:spAutoFit/>
          </a:bodyPr>
          <a:lstStyle/>
          <a:p>
            <a:pPr algn="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监控改进措施的效果</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5" name="矩形: 圆角 164"/>
          <p:cNvSpPr/>
          <p:nvPr/>
        </p:nvSpPr>
        <p:spPr>
          <a:xfrm>
            <a:off x="751483" y="4685679"/>
            <a:ext cx="632347" cy="233691"/>
          </a:xfrm>
          <a:prstGeom prst="roundRect">
            <a:avLst/>
          </a:prstGeom>
          <a:solidFill>
            <a:schemeClr val="accent5">
              <a:lumMod val="60000"/>
              <a:lumOff val="40000"/>
            </a:schemeClr>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数据分析</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6" name="文本框 85"/>
          <p:cNvSpPr txBox="1"/>
          <p:nvPr/>
        </p:nvSpPr>
        <p:spPr>
          <a:xfrm>
            <a:off x="1387987" y="4695886"/>
            <a:ext cx="1649730" cy="252730"/>
          </a:xfrm>
          <a:prstGeom prst="rect">
            <a:avLst/>
          </a:prstGeom>
          <a:noFill/>
        </p:spPr>
        <p:txBody>
          <a:bodyPr wrap="none">
            <a:spAutoFit/>
          </a:bodyPr>
          <a:lstStyle/>
          <a:p>
            <a:pPr algn="l"/>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分析改进后的数据与预期</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7" name="矩形: 圆角 166"/>
          <p:cNvSpPr/>
          <p:nvPr/>
        </p:nvSpPr>
        <p:spPr>
          <a:xfrm>
            <a:off x="751483" y="5021326"/>
            <a:ext cx="632347" cy="233691"/>
          </a:xfrm>
          <a:prstGeom prst="roundRect">
            <a:avLst/>
          </a:prstGeom>
          <a:solidFill>
            <a:schemeClr val="accent5">
              <a:lumMod val="60000"/>
              <a:lumOff val="40000"/>
            </a:schemeClr>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成效评估</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88" name="文本框 87"/>
          <p:cNvSpPr txBox="1"/>
          <p:nvPr/>
        </p:nvSpPr>
        <p:spPr>
          <a:xfrm>
            <a:off x="1398118" y="5031533"/>
            <a:ext cx="1783080" cy="252730"/>
          </a:xfrm>
          <a:prstGeom prst="rect">
            <a:avLst/>
          </a:prstGeom>
          <a:noFill/>
        </p:spPr>
        <p:txBody>
          <a:bodyPr wrap="none">
            <a:spAutoFit/>
          </a:bodyPr>
          <a:lstStyle/>
          <a:p>
            <a:pPr algn="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评估实际成效与目标的差距</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89" name="矩形: 圆角 168"/>
          <p:cNvSpPr/>
          <p:nvPr/>
        </p:nvSpPr>
        <p:spPr>
          <a:xfrm>
            <a:off x="751483" y="5356972"/>
            <a:ext cx="632347" cy="233691"/>
          </a:xfrm>
          <a:prstGeom prst="roundRect">
            <a:avLst/>
          </a:prstGeom>
          <a:solidFill>
            <a:schemeClr val="accent5">
              <a:lumMod val="60000"/>
              <a:lumOff val="40000"/>
            </a:schemeClr>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问题识别</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0" name="文本框 89"/>
          <p:cNvSpPr txBox="1"/>
          <p:nvPr/>
        </p:nvSpPr>
        <p:spPr>
          <a:xfrm>
            <a:off x="1433578" y="5367179"/>
            <a:ext cx="1595309" cy="253916"/>
          </a:xfrm>
          <a:prstGeom prst="rect">
            <a:avLst/>
          </a:prstGeom>
          <a:noFill/>
        </p:spPr>
        <p:txBody>
          <a:bodyPr wrap="none">
            <a:spAutoFit/>
          </a:bodyPr>
          <a:lstStyle/>
          <a:p>
            <a:pPr algn="r"/>
            <a:r>
              <a:rPr lang="zh-CN" altLang="en-US" sz="1050">
                <a:solidFill>
                  <a:schemeClr val="tx2"/>
                </a:solidFill>
                <a:latin typeface="微软雅黑" panose="020B0503020204020204" charset="-122"/>
                <a:ea typeface="微软雅黑" panose="020B0503020204020204" charset="-122"/>
                <a:cs typeface="微软雅黑" panose="020B0503020204020204" charset="-122"/>
              </a:rPr>
              <a:t>识别实施过程中的新问题</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1" name="文本框 90"/>
          <p:cNvSpPr txBox="1"/>
          <p:nvPr/>
        </p:nvSpPr>
        <p:spPr>
          <a:xfrm>
            <a:off x="648724" y="2762772"/>
            <a:ext cx="1082348" cy="253916"/>
          </a:xfrm>
          <a:prstGeom prst="rect">
            <a:avLst/>
          </a:prstGeom>
          <a:noFill/>
        </p:spPr>
        <p:txBody>
          <a:bodyPr wrap="none">
            <a:spAutoFit/>
          </a:bodyPr>
          <a:lstStyle/>
          <a:p>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标准化流程数量</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2" name="文本框 91"/>
          <p:cNvSpPr txBox="1"/>
          <p:nvPr/>
        </p:nvSpPr>
        <p:spPr>
          <a:xfrm>
            <a:off x="816364" y="2944614"/>
            <a:ext cx="593725" cy="398780"/>
          </a:xfrm>
          <a:prstGeom prst="rect">
            <a:avLst/>
          </a:prstGeom>
          <a:noFill/>
        </p:spPr>
        <p:txBody>
          <a:bodyPr wrap="none">
            <a:spAutoFit/>
          </a:bodyPr>
          <a:lstStyle/>
          <a:p>
            <a:r>
              <a:rPr lang="en-US" altLang="zh-CN" sz="2000" b="1" dirty="0">
                <a:solidFill>
                  <a:schemeClr val="accent1"/>
                </a:solidFill>
                <a:latin typeface="微软雅黑" panose="020B0503020204020204" charset="-122"/>
                <a:ea typeface="微软雅黑" panose="020B0503020204020204" charset="-122"/>
                <a:cs typeface="微软雅黑" panose="020B0503020204020204" charset="-122"/>
              </a:rPr>
              <a:t>4</a:t>
            </a:r>
            <a:r>
              <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rPr>
              <a:t>个</a:t>
            </a:r>
            <a:endPar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93" name="文本框 92"/>
          <p:cNvSpPr txBox="1"/>
          <p:nvPr/>
        </p:nvSpPr>
        <p:spPr>
          <a:xfrm>
            <a:off x="2132871" y="2944614"/>
            <a:ext cx="593725" cy="398780"/>
          </a:xfrm>
          <a:prstGeom prst="rect">
            <a:avLst/>
          </a:prstGeom>
          <a:noFill/>
        </p:spPr>
        <p:txBody>
          <a:bodyPr wrap="none">
            <a:spAutoFit/>
          </a:bodyPr>
          <a:lstStyle/>
          <a:p>
            <a:r>
              <a:rPr lang="en-US" altLang="zh-CN" sz="2000" b="1" dirty="0">
                <a:solidFill>
                  <a:schemeClr val="accent1"/>
                </a:solidFill>
                <a:latin typeface="微软雅黑" panose="020B0503020204020204" charset="-122"/>
                <a:ea typeface="微软雅黑" panose="020B0503020204020204" charset="-122"/>
                <a:cs typeface="微软雅黑" panose="020B0503020204020204" charset="-122"/>
              </a:rPr>
              <a:t>2</a:t>
            </a:r>
            <a:r>
              <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rPr>
              <a:t>个</a:t>
            </a:r>
            <a:endParaRPr lang="zh-CN" altLang="en-US" sz="20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94" name="文本框 93"/>
          <p:cNvSpPr txBox="1"/>
          <p:nvPr/>
        </p:nvSpPr>
        <p:spPr>
          <a:xfrm>
            <a:off x="1934751" y="2762772"/>
            <a:ext cx="1082348" cy="253916"/>
          </a:xfrm>
          <a:prstGeom prst="rect">
            <a:avLst/>
          </a:prstGeom>
          <a:noFill/>
        </p:spPr>
        <p:txBody>
          <a:bodyPr wrap="none">
            <a:spAutoFit/>
          </a:bodyPr>
          <a:lstStyle/>
          <a:p>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解决的问题数量</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cxnSp>
        <p:nvCxnSpPr>
          <p:cNvPr id="95" name="直接连接符 94"/>
          <p:cNvCxnSpPr/>
          <p:nvPr/>
        </p:nvCxnSpPr>
        <p:spPr>
          <a:xfrm>
            <a:off x="1823954" y="2812536"/>
            <a:ext cx="0" cy="461963"/>
          </a:xfrm>
          <a:prstGeom prst="line">
            <a:avLst/>
          </a:prstGeom>
          <a:ln w="9525">
            <a:solidFill>
              <a:srgbClr val="FFFFFF">
                <a:lumMod val="85000"/>
              </a:srgbClr>
            </a:solidFill>
          </a:ln>
        </p:spPr>
        <p:style>
          <a:lnRef idx="2">
            <a:srgbClr val="24396B"/>
          </a:lnRef>
          <a:fillRef idx="0">
            <a:srgbClr val="24396B"/>
          </a:fillRef>
          <a:effectRef idx="1">
            <a:srgbClr val="24396B"/>
          </a:effectRef>
          <a:fontRef idx="minor">
            <a:srgbClr val="000000"/>
          </a:fontRef>
        </p:style>
      </p:cxnSp>
      <p:sp>
        <p:nvSpPr>
          <p:cNvPr id="96" name="矩形: 圆角 187"/>
          <p:cNvSpPr/>
          <p:nvPr/>
        </p:nvSpPr>
        <p:spPr>
          <a:xfrm>
            <a:off x="751483" y="1318542"/>
            <a:ext cx="632347" cy="233691"/>
          </a:xfrm>
          <a:prstGeom prst="roundRect">
            <a:avLst/>
          </a:prstGeom>
          <a:solidFill>
            <a:schemeClr val="accent1"/>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algn="ctr"/>
            <a:r>
              <a:rPr lang="zh-CN" altLang="en-US" sz="1000" dirty="0">
                <a:solidFill>
                  <a:srgbClr val="FFFFFF"/>
                </a:solidFill>
                <a:latin typeface="微软雅黑" panose="020B0503020204020204" charset="-122"/>
                <a:ea typeface="微软雅黑" panose="020B0503020204020204" charset="-122"/>
                <a:cs typeface="微软雅黑" panose="020B0503020204020204" charset="-122"/>
              </a:rPr>
              <a:t>标准化</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97" name="文本框 96"/>
          <p:cNvSpPr txBox="1"/>
          <p:nvPr/>
        </p:nvSpPr>
        <p:spPr>
          <a:xfrm>
            <a:off x="1397787" y="1308429"/>
            <a:ext cx="1851789" cy="253916"/>
          </a:xfrm>
          <a:prstGeom prst="rect">
            <a:avLst/>
          </a:prstGeom>
          <a:noFill/>
        </p:spPr>
        <p:txBody>
          <a:bodyPr wrap="none">
            <a:spAutoFit/>
          </a:bodyPr>
          <a:lstStyle/>
          <a:p>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将有效措施纳入标准操作流程</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8" name="矩形: 圆角 185"/>
          <p:cNvSpPr/>
          <p:nvPr/>
        </p:nvSpPr>
        <p:spPr>
          <a:xfrm>
            <a:off x="751483" y="1654189"/>
            <a:ext cx="632347" cy="233691"/>
          </a:xfrm>
          <a:prstGeom prst="roundRect">
            <a:avLst/>
          </a:prstGeom>
          <a:solidFill>
            <a:schemeClr val="accent1"/>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sym typeface="+mn-ea"/>
              </a:rPr>
              <a:t>问题解决</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99" name="文本框 98"/>
          <p:cNvSpPr txBox="1"/>
          <p:nvPr/>
        </p:nvSpPr>
        <p:spPr>
          <a:xfrm>
            <a:off x="1397787" y="1644076"/>
            <a:ext cx="1595309" cy="253916"/>
          </a:xfrm>
          <a:prstGeom prst="rect">
            <a:avLst/>
          </a:prstGeom>
          <a:noFill/>
        </p:spPr>
        <p:txBody>
          <a:bodyPr wrap="none">
            <a:spAutoFit/>
          </a:bodyPr>
          <a:lstStyle/>
          <a:p>
            <a:r>
              <a:rPr lang="zh-CN" altLang="en-US" sz="1050">
                <a:solidFill>
                  <a:schemeClr val="tx2"/>
                </a:solidFill>
                <a:latin typeface="微软雅黑" panose="020B0503020204020204" charset="-122"/>
                <a:ea typeface="微软雅黑" panose="020B0503020204020204" charset="-122"/>
                <a:cs typeface="微软雅黑" panose="020B0503020204020204" charset="-122"/>
              </a:rPr>
              <a:t>针对新问题制定解决方案</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0" name="矩形: 圆角 183"/>
          <p:cNvSpPr/>
          <p:nvPr/>
        </p:nvSpPr>
        <p:spPr>
          <a:xfrm>
            <a:off x="751483" y="1989836"/>
            <a:ext cx="632347" cy="233691"/>
          </a:xfrm>
          <a:prstGeom prst="roundRect">
            <a:avLst/>
          </a:prstGeom>
          <a:solidFill>
            <a:schemeClr val="accent1"/>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sym typeface="+mn-ea"/>
              </a:rPr>
              <a:t>持续改进</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01" name="文本框 100"/>
          <p:cNvSpPr txBox="1"/>
          <p:nvPr/>
        </p:nvSpPr>
        <p:spPr>
          <a:xfrm>
            <a:off x="1397787" y="1979723"/>
            <a:ext cx="1595309" cy="253916"/>
          </a:xfrm>
          <a:prstGeom prst="rect">
            <a:avLst/>
          </a:prstGeom>
          <a:noFill/>
        </p:spPr>
        <p:txBody>
          <a:bodyPr wrap="none">
            <a:spAutoFit/>
          </a:bodyPr>
          <a:lstStyle/>
          <a:p>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制定下一阶段的改进计划</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02" name="矩形: 圆角 181"/>
          <p:cNvSpPr/>
          <p:nvPr/>
        </p:nvSpPr>
        <p:spPr>
          <a:xfrm>
            <a:off x="751483" y="2325482"/>
            <a:ext cx="632347" cy="233691"/>
          </a:xfrm>
          <a:prstGeom prst="roundRect">
            <a:avLst/>
          </a:prstGeom>
          <a:solidFill>
            <a:schemeClr val="accent1"/>
          </a:solidFill>
          <a:ln w="9525" cap="flat">
            <a:noFill/>
            <a:prstDash val="solid"/>
            <a:miter/>
          </a:ln>
        </p:spPr>
        <p:txBody>
          <a:bodyPr rot="0" spcFirstLastPara="0" vertOverflow="overflow" horzOverflow="overflow" vert="horz" wrap="none" lIns="91440" tIns="45720" rIns="91440" bIns="45720" numCol="1" spcCol="0" rtlCol="0" fromWordArt="0" anchor="ctr" anchorCtr="0" forceAA="0" compatLnSpc="1">
            <a:noAutofit/>
          </a:bodyPr>
          <a:lstStyle/>
          <a:p>
            <a:pPr lvl="0" algn="ctr">
              <a:buClrTx/>
              <a:buSzTx/>
              <a:buFontTx/>
            </a:pPr>
            <a:r>
              <a:rPr lang="zh-CN" altLang="en-US" sz="1000" dirty="0">
                <a:solidFill>
                  <a:srgbClr val="FFFFFF"/>
                </a:solidFill>
                <a:latin typeface="微软雅黑" panose="020B0503020204020204" charset="-122"/>
                <a:ea typeface="微软雅黑" panose="020B0503020204020204" charset="-122"/>
                <a:cs typeface="微软雅黑" panose="020B0503020204020204" charset="-122"/>
                <a:sym typeface="+mn-ea"/>
              </a:rPr>
              <a:t>循环迭代</a:t>
            </a:r>
            <a:endParaRPr lang="zh-CN" altLang="en-US" sz="100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03" name="文本框 102"/>
          <p:cNvSpPr txBox="1"/>
          <p:nvPr/>
        </p:nvSpPr>
        <p:spPr>
          <a:xfrm>
            <a:off x="1397787" y="2315369"/>
            <a:ext cx="1718740" cy="253916"/>
          </a:xfrm>
          <a:prstGeom prst="rect">
            <a:avLst/>
          </a:prstGeom>
          <a:noFill/>
        </p:spPr>
        <p:txBody>
          <a:bodyPr wrap="none">
            <a:spAutoFit/>
          </a:bodyPr>
          <a:lstStyle/>
          <a:p>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准备进入下一个</a:t>
            </a:r>
            <a:r>
              <a:rPr lang="en-US" altLang="zh-CN" sz="1050" dirty="0">
                <a:solidFill>
                  <a:schemeClr val="tx2"/>
                </a:solidFill>
                <a:latin typeface="微软雅黑" panose="020B0503020204020204" charset="-122"/>
                <a:ea typeface="微软雅黑" panose="020B0503020204020204" charset="-122"/>
                <a:cs typeface="微软雅黑" panose="020B0503020204020204" charset="-122"/>
              </a:rPr>
              <a:t>PDAC</a:t>
            </a:r>
            <a:r>
              <a:rPr lang="zh-CN" altLang="en-US" sz="1050" dirty="0">
                <a:solidFill>
                  <a:schemeClr val="tx2"/>
                </a:solidFill>
                <a:latin typeface="微软雅黑" panose="020B0503020204020204" charset="-122"/>
                <a:ea typeface="微软雅黑" panose="020B0503020204020204" charset="-122"/>
                <a:cs typeface="微软雅黑" panose="020B0503020204020204" charset="-122"/>
              </a:rPr>
              <a:t>循环</a:t>
            </a:r>
            <a:endParaRPr lang="zh-CN" altLang="en-US" sz="105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0" name="文本框 109"/>
          <p:cNvSpPr txBox="1"/>
          <p:nvPr/>
        </p:nvSpPr>
        <p:spPr>
          <a:xfrm>
            <a:off x="8946515" y="3815080"/>
            <a:ext cx="4064000" cy="368300"/>
          </a:xfrm>
          <a:prstGeom prst="rect">
            <a:avLst/>
          </a:prstGeom>
          <a:noFill/>
        </p:spPr>
        <p:txBody>
          <a:bodyPr wrap="square" rtlCol="0">
            <a:spAutoFit/>
          </a:bodyPr>
          <a:p>
            <a:endParaRPr lang="en-US" altLang="zh-CN">
              <a:latin typeface="微软雅黑" panose="020B0503020204020204" charset="-122"/>
              <a:ea typeface="微软雅黑" panose="020B0503020204020204" charset="-122"/>
              <a:cs typeface="微软雅黑" panose="020B0503020204020204" charset="-122"/>
            </a:endParaRPr>
          </a:p>
        </p:txBody>
      </p:sp>
      <p:grpSp>
        <p:nvGrpSpPr>
          <p:cNvPr id="116" name="组合 115"/>
          <p:cNvGrpSpPr/>
          <p:nvPr/>
        </p:nvGrpSpPr>
        <p:grpSpPr>
          <a:xfrm>
            <a:off x="3886835" y="1940560"/>
            <a:ext cx="4182110" cy="3994150"/>
            <a:chOff x="6155" y="3056"/>
            <a:chExt cx="6586" cy="6290"/>
          </a:xfrm>
        </p:grpSpPr>
        <p:sp>
          <p:nvSpPr>
            <p:cNvPr id="117" name="文本框 116"/>
            <p:cNvSpPr txBox="1"/>
            <p:nvPr/>
          </p:nvSpPr>
          <p:spPr>
            <a:xfrm rot="18900000">
              <a:off x="6155" y="3056"/>
              <a:ext cx="4402" cy="3463"/>
            </a:xfrm>
            <a:prstGeom prst="rect">
              <a:avLst/>
            </a:prstGeom>
            <a:noFill/>
          </p:spPr>
          <p:txBody>
            <a:bodyPr wrap="square" rtlCol="0">
              <a:prstTxWarp prst="textArchUp">
                <a:avLst/>
              </a:prstTxWarp>
              <a:spAutoFit/>
            </a:bodyPr>
            <a:lstStyle/>
            <a:p>
              <a:pPr algn="ctr"/>
              <a:r>
                <a:rPr lang="zh-CN" altLang="en-US" sz="2000" b="1" spc="300" dirty="0">
                  <a:solidFill>
                    <a:srgbClr val="F5F7FC"/>
                  </a:solidFill>
                  <a:latin typeface="微软雅黑" panose="020B0503020204020204" charset="-122"/>
                  <a:ea typeface="微软雅黑" panose="020B0503020204020204" charset="-122"/>
                  <a:cs typeface="微软雅黑" panose="020B0503020204020204" charset="-122"/>
                </a:rPr>
                <a:t>行动</a:t>
              </a:r>
              <a:endParaRPr lang="zh-CN" altLang="en-US" sz="2000" b="1" spc="300" dirty="0">
                <a:solidFill>
                  <a:srgbClr val="F5F7FC"/>
                </a:solidFill>
                <a:latin typeface="微软雅黑" panose="020B0503020204020204" charset="-122"/>
                <a:ea typeface="微软雅黑" panose="020B0503020204020204" charset="-122"/>
                <a:cs typeface="微软雅黑" panose="020B0503020204020204" charset="-122"/>
              </a:endParaRPr>
            </a:p>
          </p:txBody>
        </p:sp>
        <p:sp>
          <p:nvSpPr>
            <p:cNvPr id="118" name="文本框 117"/>
            <p:cNvSpPr txBox="1"/>
            <p:nvPr/>
          </p:nvSpPr>
          <p:spPr>
            <a:xfrm rot="2700000">
              <a:off x="8643" y="3606"/>
              <a:ext cx="4402" cy="3463"/>
            </a:xfrm>
            <a:prstGeom prst="rect">
              <a:avLst/>
            </a:prstGeom>
            <a:noFill/>
          </p:spPr>
          <p:txBody>
            <a:bodyPr wrap="square" rtlCol="0">
              <a:prstTxWarp prst="textArchUp">
                <a:avLst/>
              </a:prstTxWarp>
              <a:spAutoFit/>
            </a:bodyPr>
            <a:lstStyle/>
            <a:p>
              <a:pPr algn="ctr"/>
              <a:r>
                <a:rPr lang="zh-CN" altLang="en-US" sz="2000" b="1" spc="300" dirty="0">
                  <a:solidFill>
                    <a:srgbClr val="FFFFFF"/>
                  </a:solidFill>
                  <a:latin typeface="微软雅黑" panose="020B0503020204020204" charset="-122"/>
                  <a:ea typeface="微软雅黑" panose="020B0503020204020204" charset="-122"/>
                  <a:cs typeface="微软雅黑" panose="020B0503020204020204" charset="-122"/>
                </a:rPr>
                <a:t>计划</a:t>
              </a:r>
              <a:endParaRPr lang="zh-CN" altLang="en-US" sz="2000" b="1" spc="30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19" name="文本框 118"/>
            <p:cNvSpPr txBox="1"/>
            <p:nvPr/>
          </p:nvSpPr>
          <p:spPr>
            <a:xfrm rot="18900000">
              <a:off x="8339" y="5701"/>
              <a:ext cx="4402" cy="3463"/>
            </a:xfrm>
            <a:prstGeom prst="rect">
              <a:avLst/>
            </a:prstGeom>
            <a:noFill/>
          </p:spPr>
          <p:txBody>
            <a:bodyPr wrap="square" rtlCol="0">
              <a:prstTxWarp prst="textArchDown">
                <a:avLst/>
              </a:prstTxWarp>
              <a:spAutoFit/>
            </a:bodyPr>
            <a:lstStyle/>
            <a:p>
              <a:pPr algn="ctr"/>
              <a:r>
                <a:rPr lang="zh-CN" altLang="en-US" sz="2000" b="1" spc="300" dirty="0">
                  <a:solidFill>
                    <a:srgbClr val="F5F7FC"/>
                  </a:solidFill>
                  <a:latin typeface="微软雅黑" panose="020B0503020204020204" charset="-122"/>
                  <a:ea typeface="微软雅黑" panose="020B0503020204020204" charset="-122"/>
                  <a:cs typeface="微软雅黑" panose="020B0503020204020204" charset="-122"/>
                </a:rPr>
                <a:t>执行</a:t>
              </a:r>
              <a:endParaRPr lang="zh-CN" altLang="en-US" sz="2000" b="1" spc="300" dirty="0">
                <a:solidFill>
                  <a:srgbClr val="F5F7FC"/>
                </a:solidFill>
                <a:latin typeface="微软雅黑" panose="020B0503020204020204" charset="-122"/>
                <a:ea typeface="微软雅黑" panose="020B0503020204020204" charset="-122"/>
                <a:cs typeface="微软雅黑" panose="020B0503020204020204" charset="-122"/>
              </a:endParaRPr>
            </a:p>
          </p:txBody>
        </p:sp>
        <p:sp>
          <p:nvSpPr>
            <p:cNvPr id="120" name="文本框 119"/>
            <p:cNvSpPr txBox="1"/>
            <p:nvPr/>
          </p:nvSpPr>
          <p:spPr>
            <a:xfrm rot="2700000">
              <a:off x="5732" y="5414"/>
              <a:ext cx="4402" cy="3463"/>
            </a:xfrm>
            <a:prstGeom prst="rect">
              <a:avLst/>
            </a:prstGeom>
            <a:noFill/>
          </p:spPr>
          <p:txBody>
            <a:bodyPr wrap="square" rtlCol="0">
              <a:prstTxWarp prst="textArchDown">
                <a:avLst/>
              </a:prstTxWarp>
              <a:spAutoFit/>
            </a:bodyPr>
            <a:lstStyle/>
            <a:p>
              <a:pPr algn="ctr"/>
              <a:r>
                <a:rPr lang="zh-CN" altLang="en-US" sz="2000" b="1" spc="300" dirty="0">
                  <a:solidFill>
                    <a:srgbClr val="F5F7FC"/>
                  </a:solidFill>
                  <a:latin typeface="微软雅黑" panose="020B0503020204020204" charset="-122"/>
                  <a:ea typeface="微软雅黑" panose="020B0503020204020204" charset="-122"/>
                  <a:cs typeface="微软雅黑" panose="020B0503020204020204" charset="-122"/>
                </a:rPr>
                <a:t>检查</a:t>
              </a:r>
              <a:endParaRPr lang="zh-CN" altLang="en-US" sz="2000" b="1" spc="300" dirty="0">
                <a:solidFill>
                  <a:srgbClr val="F5F7FC"/>
                </a:solidFill>
                <a:latin typeface="微软雅黑" panose="020B0503020204020204" charset="-122"/>
                <a:ea typeface="微软雅黑" panose="020B0503020204020204" charset="-122"/>
                <a:cs typeface="微软雅黑" panose="020B0503020204020204" charset="-122"/>
              </a:endParaRPr>
            </a:p>
          </p:txBody>
        </p:sp>
      </p:grpSp>
      <p:cxnSp>
        <p:nvCxnSpPr>
          <p:cNvPr id="30"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1" name="组合 30"/>
          <p:cNvGrpSpPr/>
          <p:nvPr/>
        </p:nvGrpSpPr>
        <p:grpSpPr>
          <a:xfrm>
            <a:off x="8738235" y="348615"/>
            <a:ext cx="3219450" cy="332740"/>
            <a:chOff x="13761" y="549"/>
            <a:chExt cx="5070" cy="524"/>
          </a:xfrm>
        </p:grpSpPr>
        <p:pic>
          <p:nvPicPr>
            <p:cNvPr id="33" name="图片 32"/>
            <p:cNvPicPr>
              <a:picLocks noChangeAspect="1"/>
            </p:cNvPicPr>
            <p:nvPr userDrawn="1"/>
          </p:nvPicPr>
          <p:blipFill>
            <a:blip r:embed="rId6"/>
            <a:srcRect l="17002" t="-1765" r="56499" b="-1176"/>
            <a:stretch>
              <a:fillRect/>
            </a:stretch>
          </p:blipFill>
          <p:spPr>
            <a:xfrm>
              <a:off x="13761" y="549"/>
              <a:ext cx="1582" cy="525"/>
            </a:xfrm>
            <a:prstGeom prst="rect">
              <a:avLst/>
            </a:prstGeom>
          </p:spPr>
        </p:pic>
        <p:sp>
          <p:nvSpPr>
            <p:cNvPr id="34" name="文本框 3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圆角矩形 10"/>
          <p:cNvSpPr/>
          <p:nvPr/>
        </p:nvSpPr>
        <p:spPr>
          <a:xfrm>
            <a:off x="690914" y="1456169"/>
            <a:ext cx="5134289" cy="2007355"/>
          </a:xfrm>
          <a:prstGeom prst="roundRect">
            <a:avLst>
              <a:gd name="adj" fmla="val 7242"/>
            </a:avLst>
          </a:prstGeom>
          <a:gradFill flip="none" rotWithShape="1">
            <a:gsLst>
              <a:gs pos="100000">
                <a:schemeClr val="accent1">
                  <a:lumMod val="20000"/>
                  <a:lumOff val="80000"/>
                  <a:alpha val="0"/>
                </a:schemeClr>
              </a:gs>
              <a:gs pos="0">
                <a:schemeClr val="accent1">
                  <a:lumMod val="20000"/>
                  <a:lumOff val="80000"/>
                  <a:alpha val="50000"/>
                </a:schemeClr>
              </a:gs>
            </a:gsLst>
            <a:lin ang="0" scaled="1"/>
            <a:tileRect/>
          </a:gra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400" b="0" i="0" u="none" strike="noStrike" kern="1200" cap="none" spc="0" normalizeH="0" baseline="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rPr>
              <a:t>PDCA</a:t>
            </a:r>
            <a:r>
              <a:rPr sz="2500" dirty="0">
                <a:solidFill>
                  <a:schemeClr val="tx2"/>
                </a:solidFill>
                <a:effectLst/>
                <a:latin typeface="微软雅黑" panose="020B0503020204020204" charset="-122"/>
                <a:ea typeface="微软雅黑" panose="020B0503020204020204" charset="-122"/>
                <a:cs typeface="微软雅黑" panose="020B0503020204020204" charset="-122"/>
              </a:rPr>
              <a:t>循环工作法</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50" name="圆角矩形 49"/>
          <p:cNvSpPr/>
          <p:nvPr/>
        </p:nvSpPr>
        <p:spPr>
          <a:xfrm flipH="1">
            <a:off x="6409348" y="3937404"/>
            <a:ext cx="5134288" cy="2007355"/>
          </a:xfrm>
          <a:prstGeom prst="roundRect">
            <a:avLst>
              <a:gd name="adj" fmla="val 7242"/>
            </a:avLst>
          </a:prstGeom>
          <a:gradFill flip="none" rotWithShape="1">
            <a:gsLst>
              <a:gs pos="100000">
                <a:schemeClr val="accent1">
                  <a:lumMod val="20000"/>
                  <a:lumOff val="80000"/>
                  <a:alpha val="0"/>
                </a:schemeClr>
              </a:gs>
              <a:gs pos="0">
                <a:schemeClr val="accent1">
                  <a:lumMod val="20000"/>
                  <a:lumOff val="80000"/>
                  <a:alpha val="50000"/>
                </a:schemeClr>
              </a:gs>
            </a:gsLst>
            <a:lin ang="0" scaled="1"/>
            <a:tileRect/>
          </a:gra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sz="140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1" name="圆角矩形 50"/>
          <p:cNvSpPr/>
          <p:nvPr/>
        </p:nvSpPr>
        <p:spPr>
          <a:xfrm flipH="1">
            <a:off x="6409348" y="1456169"/>
            <a:ext cx="5134288" cy="2007355"/>
          </a:xfrm>
          <a:prstGeom prst="roundRect">
            <a:avLst>
              <a:gd name="adj" fmla="val 6719"/>
            </a:avLst>
          </a:prstGeom>
          <a:gradFill flip="none" rotWithShape="1">
            <a:gsLst>
              <a:gs pos="100000">
                <a:schemeClr val="accent5">
                  <a:lumMod val="20000"/>
                  <a:lumOff val="80000"/>
                  <a:alpha val="0"/>
                </a:schemeClr>
              </a:gs>
              <a:gs pos="0">
                <a:schemeClr val="accent5">
                  <a:lumMod val="20000"/>
                  <a:lumOff val="80000"/>
                  <a:alpha val="50000"/>
                </a:schemeClr>
              </a:gs>
            </a:gsLst>
            <a:lin ang="0" scaled="1"/>
            <a:tileRect/>
          </a:gra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sz="140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9" name="圆角矩形 48"/>
          <p:cNvSpPr/>
          <p:nvPr/>
        </p:nvSpPr>
        <p:spPr>
          <a:xfrm>
            <a:off x="718171" y="3972478"/>
            <a:ext cx="5134289" cy="2007355"/>
          </a:xfrm>
          <a:prstGeom prst="roundRect">
            <a:avLst>
              <a:gd name="adj" fmla="val 8290"/>
            </a:avLst>
          </a:prstGeom>
          <a:gradFill flip="none" rotWithShape="1">
            <a:gsLst>
              <a:gs pos="100000">
                <a:schemeClr val="accent5">
                  <a:lumMod val="20000"/>
                  <a:lumOff val="80000"/>
                  <a:alpha val="0"/>
                </a:schemeClr>
              </a:gs>
              <a:gs pos="0">
                <a:schemeClr val="accent5">
                  <a:lumMod val="20000"/>
                  <a:lumOff val="80000"/>
                  <a:alpha val="50000"/>
                </a:schemeClr>
              </a:gs>
            </a:gsLst>
            <a:lin ang="0" scaled="1"/>
            <a:tileRect/>
          </a:gradFill>
          <a:ln w="6350">
            <a:noFill/>
            <a:prstDash val="solid"/>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sz="1400" noProof="0" dirty="0">
              <a:ln>
                <a:noFill/>
              </a:ln>
              <a:solidFill>
                <a:srgbClr val="E7E6E6">
                  <a:lumMod val="25000"/>
                </a:srgbClr>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6" name="椭圆 45"/>
          <p:cNvSpPr/>
          <p:nvPr/>
        </p:nvSpPr>
        <p:spPr>
          <a:xfrm>
            <a:off x="3487687" y="1166127"/>
            <a:ext cx="5262346" cy="5262346"/>
          </a:xfrm>
          <a:prstGeom prst="ellipse">
            <a:avLst/>
          </a:prstGeom>
          <a:gradFill flip="none" rotWithShape="1">
            <a:gsLst>
              <a:gs pos="100000">
                <a:schemeClr val="accent1">
                  <a:lumMod val="20000"/>
                  <a:lumOff val="80000"/>
                  <a:alpha val="30000"/>
                </a:schemeClr>
              </a:gs>
              <a:gs pos="0">
                <a:schemeClr val="accent1">
                  <a:lumMod val="20000"/>
                  <a:lumOff val="80000"/>
                  <a:alpha val="0"/>
                </a:schemeClr>
              </a:gs>
            </a:gsLst>
            <a:path path="shape">
              <a:fillToRect l="50000" t="50000" r="50000" b="50000"/>
            </a:path>
            <a:tileRect/>
          </a:gra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2" name="圆角矩形 41"/>
          <p:cNvSpPr/>
          <p:nvPr/>
        </p:nvSpPr>
        <p:spPr>
          <a:xfrm>
            <a:off x="524499" y="1847663"/>
            <a:ext cx="382095" cy="1224366"/>
          </a:xfrm>
          <a:prstGeom prst="roundRect">
            <a:avLst>
              <a:gd name="adj" fmla="val 50000"/>
            </a:avLst>
          </a:prstGeom>
          <a:gradFill flip="none" rotWithShape="1">
            <a:gsLst>
              <a:gs pos="0">
                <a:schemeClr val="accent1"/>
              </a:gs>
              <a:gs pos="100000">
                <a:schemeClr val="accent1">
                  <a:lumMod val="60000"/>
                  <a:lumOff val="40000"/>
                </a:schemeClr>
              </a:gs>
            </a:gsLst>
            <a:path path="circle">
              <a:fillToRect r="100000" b="100000"/>
            </a:path>
            <a:tileRect l="-100000" t="-100000"/>
          </a:gradFill>
          <a:ln w="707" cap="flat">
            <a:noFill/>
            <a:prstDash val="solid"/>
            <a:miter/>
          </a:ln>
          <a:effectLst>
            <a:outerShdw blurRad="254000" dist="101600" dir="5400000" algn="t" rotWithShape="0">
              <a:schemeClr val="accent1">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285750" marR="0" lvl="0" indent="-285750" algn="l" defTabSz="457200" rtl="0" eaLnBrk="1" fontAlgn="auto" latinLnBrk="0" hangingPunct="1">
              <a:lnSpc>
                <a:spcPct val="100000"/>
              </a:lnSpc>
              <a:spcBef>
                <a:spcPts val="0"/>
              </a:spcBef>
              <a:spcAft>
                <a:spcPts val="0"/>
              </a:spcAft>
              <a:buClrTx/>
              <a:buSzTx/>
              <a:buFont typeface="Wingdings" panose="05000000000000000000" pitchFamily="2" charset="2"/>
              <a:buChar char="Ø"/>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515491" y="1977663"/>
            <a:ext cx="400110" cy="964367"/>
          </a:xfrm>
          <a:prstGeom prst="rect">
            <a:avLst/>
          </a:prstGeom>
          <a:noFill/>
        </p:spPr>
        <p:txBody>
          <a:bodyPr vert="eaVert" wrap="none"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30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制定计划</a:t>
            </a:r>
            <a:endParaRPr kumimoji="1" lang="zh-CN" altLang="en-US" sz="1400" b="1" i="0" u="none" strike="noStrike" kern="1200" cap="none" spc="30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4" name="圆角矩形 43"/>
          <p:cNvSpPr/>
          <p:nvPr/>
        </p:nvSpPr>
        <p:spPr>
          <a:xfrm>
            <a:off x="524499" y="4396783"/>
            <a:ext cx="382095" cy="1224366"/>
          </a:xfrm>
          <a:prstGeom prst="roundRect">
            <a:avLst>
              <a:gd name="adj" fmla="val 50000"/>
            </a:avLst>
          </a:prstGeom>
          <a:gradFill flip="none" rotWithShape="1">
            <a:gsLst>
              <a:gs pos="0">
                <a:schemeClr val="accent5"/>
              </a:gs>
              <a:gs pos="100000">
                <a:schemeClr val="accent5">
                  <a:lumMod val="60000"/>
                  <a:lumOff val="40000"/>
                </a:schemeClr>
              </a:gs>
            </a:gsLst>
            <a:path path="circle">
              <a:fillToRect r="100000" b="100000"/>
            </a:path>
            <a:tileRect l="-100000" t="-100000"/>
          </a:gradFill>
          <a:ln w="707" cap="flat">
            <a:noFill/>
            <a:prstDash val="solid"/>
            <a:miter/>
          </a:ln>
          <a:effectLst>
            <a:outerShdw blurRad="254000" dist="101600" dir="5400000" algn="t" rotWithShape="0">
              <a:schemeClr val="accent5">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285750" lvl="0" indent="-285750" algn="l" defTabSz="457200">
              <a:spcBef>
                <a:spcPts val="0"/>
              </a:spcBef>
              <a:spcAft>
                <a:spcPts val="0"/>
              </a:spcAft>
              <a:buClrTx/>
              <a:buSzTx/>
              <a:buFont typeface="Wingdings" panose="05000000000000000000" pitchFamily="2" charset="2"/>
              <a:buChar char="Ø"/>
              <a:defRPr/>
            </a:pPr>
            <a:endParaRPr kumimoji="1" lang="zh-CN" altLang="en-US"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5" name="文本框 44"/>
          <p:cNvSpPr txBox="1"/>
          <p:nvPr/>
        </p:nvSpPr>
        <p:spPr>
          <a:xfrm>
            <a:off x="515491" y="4526780"/>
            <a:ext cx="400110" cy="964367"/>
          </a:xfrm>
          <a:prstGeom prst="rect">
            <a:avLst/>
          </a:prstGeom>
          <a:noFill/>
        </p:spPr>
        <p:txBody>
          <a:bodyPr vert="eaVert" wrap="none"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30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执行行动</a:t>
            </a:r>
            <a:endParaRPr kumimoji="1" lang="zh-CN" altLang="en-US" sz="1400" b="1" i="0" u="none" strike="noStrike" kern="1200" cap="none" spc="30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7" name="圆角矩形 46"/>
          <p:cNvSpPr/>
          <p:nvPr/>
        </p:nvSpPr>
        <p:spPr>
          <a:xfrm>
            <a:off x="11356960" y="1847663"/>
            <a:ext cx="382095" cy="1224366"/>
          </a:xfrm>
          <a:prstGeom prst="roundRect">
            <a:avLst>
              <a:gd name="adj" fmla="val 50000"/>
            </a:avLst>
          </a:prstGeom>
          <a:gradFill flip="none" rotWithShape="1">
            <a:gsLst>
              <a:gs pos="0">
                <a:schemeClr val="accent5"/>
              </a:gs>
              <a:gs pos="100000">
                <a:schemeClr val="accent5">
                  <a:lumMod val="60000"/>
                  <a:lumOff val="40000"/>
                </a:schemeClr>
              </a:gs>
            </a:gsLst>
            <a:path path="circle">
              <a:fillToRect r="100000" b="100000"/>
            </a:path>
            <a:tileRect l="-100000" t="-100000"/>
          </a:gradFill>
          <a:ln w="707" cap="flat">
            <a:noFill/>
            <a:prstDash val="solid"/>
            <a:miter/>
          </a:ln>
          <a:effectLst>
            <a:outerShdw blurRad="254000" dist="101600" dir="5400000" algn="t" rotWithShape="0">
              <a:schemeClr val="accent5">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285750" lvl="0" indent="-285750" algn="l" defTabSz="457200">
              <a:spcBef>
                <a:spcPts val="0"/>
              </a:spcBef>
              <a:spcAft>
                <a:spcPts val="0"/>
              </a:spcAft>
              <a:buClrTx/>
              <a:buSzTx/>
              <a:buFont typeface="Wingdings" panose="05000000000000000000" pitchFamily="2" charset="2"/>
              <a:buChar char="Ø"/>
              <a:defRPr/>
            </a:pPr>
            <a:endParaRPr kumimoji="1" lang="zh-CN" altLang="en-US"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48" name="文本框 47"/>
          <p:cNvSpPr txBox="1"/>
          <p:nvPr/>
        </p:nvSpPr>
        <p:spPr>
          <a:xfrm>
            <a:off x="11347952" y="1977661"/>
            <a:ext cx="400110" cy="964367"/>
          </a:xfrm>
          <a:prstGeom prst="rect">
            <a:avLst/>
          </a:prstGeom>
          <a:noFill/>
        </p:spPr>
        <p:txBody>
          <a:bodyPr vert="eaVert" wrap="none" rtlCol="0" anchor="ctr" anchorCtr="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30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执行计划</a:t>
            </a:r>
            <a:endParaRPr kumimoji="1" lang="zh-CN" altLang="en-US" sz="1400" b="1" i="0" u="none" strike="noStrike" kern="1200" cap="none" spc="30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2" name="圆角矩形 51"/>
          <p:cNvSpPr/>
          <p:nvPr/>
        </p:nvSpPr>
        <p:spPr>
          <a:xfrm>
            <a:off x="11356960" y="4396783"/>
            <a:ext cx="382095" cy="1224366"/>
          </a:xfrm>
          <a:prstGeom prst="roundRect">
            <a:avLst>
              <a:gd name="adj" fmla="val 50000"/>
            </a:avLst>
          </a:prstGeom>
          <a:gradFill flip="none" rotWithShape="1">
            <a:gsLst>
              <a:gs pos="0">
                <a:schemeClr val="accent1"/>
              </a:gs>
              <a:gs pos="100000">
                <a:schemeClr val="accent1">
                  <a:lumMod val="60000"/>
                  <a:lumOff val="40000"/>
                </a:schemeClr>
              </a:gs>
            </a:gsLst>
            <a:path path="circle">
              <a:fillToRect r="100000" b="100000"/>
            </a:path>
            <a:tileRect l="-100000" t="-100000"/>
          </a:gradFill>
          <a:ln w="707" cap="flat">
            <a:noFill/>
            <a:prstDash val="solid"/>
            <a:miter/>
          </a:ln>
          <a:effectLst>
            <a:outerShdw blurRad="254000" dist="101600" dir="5400000" algn="t" rotWithShape="0">
              <a:schemeClr val="accent1">
                <a:alpha val="25000"/>
              </a:schemeClr>
            </a:outerShdw>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285750" lvl="0" indent="-285750" algn="l" defTabSz="457200">
              <a:spcBef>
                <a:spcPts val="0"/>
              </a:spcBef>
              <a:spcAft>
                <a:spcPts val="0"/>
              </a:spcAft>
              <a:buClrTx/>
              <a:buSzTx/>
              <a:buFont typeface="Wingdings" panose="05000000000000000000" pitchFamily="2" charset="2"/>
              <a:buChar char="Ø"/>
              <a:defRPr/>
            </a:pPr>
            <a:endParaRPr kumimoji="1" lang="zh-CN" altLang="en-US"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3" name="文本框 52"/>
          <p:cNvSpPr txBox="1"/>
          <p:nvPr/>
        </p:nvSpPr>
        <p:spPr>
          <a:xfrm>
            <a:off x="11347952" y="4526778"/>
            <a:ext cx="400110" cy="964367"/>
          </a:xfrm>
          <a:prstGeom prst="rect">
            <a:avLst/>
          </a:prstGeom>
          <a:noFill/>
        </p:spPr>
        <p:txBody>
          <a:bodyPr vert="eaVert"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30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评估检查</a:t>
            </a:r>
            <a:endParaRPr kumimoji="1" lang="zh-CN" altLang="en-US" sz="1400" b="1" i="0" u="none" strike="noStrike" kern="1200" cap="none" spc="30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2" name="椭圆 61"/>
          <p:cNvSpPr/>
          <p:nvPr/>
        </p:nvSpPr>
        <p:spPr>
          <a:xfrm>
            <a:off x="1072258" y="1885693"/>
            <a:ext cx="120028" cy="120028"/>
          </a:xfrm>
          <a:prstGeom prst="ellipse">
            <a:avLst/>
          </a:prstGeom>
          <a:solidFill>
            <a:schemeClr val="bg1"/>
          </a:solidFill>
          <a:ln>
            <a:solidFill>
              <a:schemeClr val="accent1"/>
            </a:solidFill>
          </a:ln>
          <a:effectLst>
            <a:outerShdw blurRad="101600" dist="63500" dir="5400000" algn="t"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3" name="文本框 62"/>
          <p:cNvSpPr txBox="1"/>
          <p:nvPr/>
        </p:nvSpPr>
        <p:spPr>
          <a:xfrm>
            <a:off x="1252220" y="1807210"/>
            <a:ext cx="2173605" cy="441960"/>
          </a:xfrm>
          <a:prstGeom prst="rect">
            <a:avLst/>
          </a:prstGeom>
          <a:noFill/>
        </p:spPr>
        <p:txBody>
          <a:bodyPr wrap="square" rtlCol="0">
            <a:noAutofit/>
          </a:bodyPr>
          <a:lstStyle/>
          <a:p>
            <a:pPr marL="0" marR="0" lvl="0" indent="0" algn="just" defTabSz="457200" rtl="0" eaLnBrk="1" fontAlgn="auto" latinLnBrk="0" hangingPunct="1">
              <a:lnSpc>
                <a:spcPct val="12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减少生产线停机时间至少</a:t>
            </a:r>
            <a:r>
              <a:rPr kumimoji="1"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a:t>
            </a:r>
            <a:endParaRPr kumimoji="1"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 name="椭圆 2"/>
          <p:cNvSpPr/>
          <p:nvPr/>
        </p:nvSpPr>
        <p:spPr>
          <a:xfrm>
            <a:off x="1072258" y="2399833"/>
            <a:ext cx="120028" cy="120028"/>
          </a:xfrm>
          <a:prstGeom prst="ellipse">
            <a:avLst/>
          </a:prstGeom>
          <a:solidFill>
            <a:schemeClr val="bg1"/>
          </a:solidFill>
          <a:ln>
            <a:solidFill>
              <a:schemeClr val="accent1"/>
            </a:solidFill>
          </a:ln>
          <a:effectLst>
            <a:outerShdw blurRad="101600" dist="63500" dir="5400000" algn="t"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9" name="文本框 68"/>
          <p:cNvSpPr txBox="1"/>
          <p:nvPr/>
        </p:nvSpPr>
        <p:spPr>
          <a:xfrm>
            <a:off x="1252491" y="2214799"/>
            <a:ext cx="2185053" cy="502317"/>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记录每次停机时间，分析停机原因</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0" name="椭圆 69"/>
          <p:cNvSpPr/>
          <p:nvPr/>
        </p:nvSpPr>
        <p:spPr>
          <a:xfrm>
            <a:off x="1072258" y="2913973"/>
            <a:ext cx="120028" cy="120028"/>
          </a:xfrm>
          <a:prstGeom prst="ellipse">
            <a:avLst/>
          </a:prstGeom>
          <a:solidFill>
            <a:schemeClr val="bg1"/>
          </a:solidFill>
          <a:ln>
            <a:solidFill>
              <a:schemeClr val="accent1"/>
            </a:solidFill>
          </a:ln>
          <a:effectLst>
            <a:outerShdw blurRad="101600" dist="63500" dir="5400000" algn="t"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1" name="文本框 70"/>
          <p:cNvSpPr txBox="1"/>
          <p:nvPr/>
        </p:nvSpPr>
        <p:spPr>
          <a:xfrm>
            <a:off x="1252491" y="2727137"/>
            <a:ext cx="2185053" cy="502317"/>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分析常见停机原因，制定改进措施</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5" name="椭圆 54"/>
          <p:cNvSpPr/>
          <p:nvPr/>
        </p:nvSpPr>
        <p:spPr>
          <a:xfrm>
            <a:off x="1072258" y="4434807"/>
            <a:ext cx="120028" cy="120028"/>
          </a:xfrm>
          <a:prstGeom prst="ellipse">
            <a:avLst/>
          </a:prstGeom>
          <a:solidFill>
            <a:schemeClr val="bg1"/>
          </a:solidFill>
          <a:ln>
            <a:solidFill>
              <a:schemeClr val="accent5"/>
            </a:solidFill>
          </a:ln>
          <a:effectLst>
            <a:outerShdw blurRad="101600" dist="63500" dir="5400000" algn="t" rotWithShape="0">
              <a:schemeClr val="accent5">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6" name="文本框 55"/>
          <p:cNvSpPr txBox="1"/>
          <p:nvPr/>
        </p:nvSpPr>
        <p:spPr>
          <a:xfrm>
            <a:off x="1252491" y="4356321"/>
            <a:ext cx="2185053" cy="280718"/>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生产线停机时间减少了</a:t>
            </a:r>
            <a:r>
              <a:rPr kumimoji="1"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25%</a:t>
            </a:r>
            <a:endParaRPr kumimoji="1" lang="en-US" altLang="zh-CN"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7" name="椭圆 56"/>
          <p:cNvSpPr/>
          <p:nvPr/>
        </p:nvSpPr>
        <p:spPr>
          <a:xfrm>
            <a:off x="1072258" y="4948947"/>
            <a:ext cx="120028" cy="120028"/>
          </a:xfrm>
          <a:prstGeom prst="ellipse">
            <a:avLst/>
          </a:prstGeom>
          <a:solidFill>
            <a:schemeClr val="bg1"/>
          </a:solidFill>
          <a:ln>
            <a:solidFill>
              <a:schemeClr val="accent5"/>
            </a:solidFill>
          </a:ln>
          <a:effectLst>
            <a:outerShdw blurRad="101600" dist="63500" dir="5400000" algn="t" rotWithShape="0">
              <a:schemeClr val="accent5">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58" name="文本框 57"/>
          <p:cNvSpPr txBox="1"/>
          <p:nvPr/>
        </p:nvSpPr>
        <p:spPr>
          <a:xfrm>
            <a:off x="1252491" y="4765030"/>
            <a:ext cx="2185053" cy="502317"/>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持续监控生产线运行情况，进一步优化设备维护计划</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59" name="椭圆 58"/>
          <p:cNvSpPr/>
          <p:nvPr/>
        </p:nvSpPr>
        <p:spPr>
          <a:xfrm>
            <a:off x="1072258" y="5463087"/>
            <a:ext cx="120028" cy="120028"/>
          </a:xfrm>
          <a:prstGeom prst="ellipse">
            <a:avLst/>
          </a:prstGeom>
          <a:solidFill>
            <a:schemeClr val="bg1"/>
          </a:solidFill>
          <a:ln>
            <a:solidFill>
              <a:schemeClr val="accent5"/>
            </a:solidFill>
          </a:ln>
          <a:effectLst>
            <a:outerShdw blurRad="101600" dist="63500" dir="5400000" algn="t" rotWithShape="0">
              <a:schemeClr val="accent5">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0" name="文本框 59"/>
          <p:cNvSpPr txBox="1"/>
          <p:nvPr/>
        </p:nvSpPr>
        <p:spPr>
          <a:xfrm>
            <a:off x="1252492" y="5275240"/>
            <a:ext cx="2185052" cy="502317"/>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发现新的停机原因，制定解决方案并执行，确保持续改进</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4" name="椭圆 63"/>
          <p:cNvSpPr/>
          <p:nvPr/>
        </p:nvSpPr>
        <p:spPr>
          <a:xfrm>
            <a:off x="8848105" y="1885693"/>
            <a:ext cx="120028" cy="120028"/>
          </a:xfrm>
          <a:prstGeom prst="ellipse">
            <a:avLst/>
          </a:prstGeom>
          <a:solidFill>
            <a:schemeClr val="bg1"/>
          </a:solidFill>
          <a:ln>
            <a:solidFill>
              <a:schemeClr val="accent5"/>
            </a:solidFill>
          </a:ln>
          <a:effectLst>
            <a:outerShdw blurRad="101600" dist="63500" dir="5400000" algn="t" rotWithShape="0">
              <a:schemeClr val="accent5">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5" name="文本框 64"/>
          <p:cNvSpPr txBox="1"/>
          <p:nvPr/>
        </p:nvSpPr>
        <p:spPr>
          <a:xfrm>
            <a:off x="8997858" y="1746883"/>
            <a:ext cx="2198084" cy="502317"/>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提供设备操作和维护的培训课程</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6" name="椭圆 65"/>
          <p:cNvSpPr/>
          <p:nvPr/>
        </p:nvSpPr>
        <p:spPr>
          <a:xfrm>
            <a:off x="8848105" y="2399833"/>
            <a:ext cx="120028" cy="120028"/>
          </a:xfrm>
          <a:prstGeom prst="ellipse">
            <a:avLst/>
          </a:prstGeom>
          <a:solidFill>
            <a:schemeClr val="bg1"/>
          </a:solidFill>
          <a:ln>
            <a:solidFill>
              <a:schemeClr val="accent5"/>
            </a:solidFill>
          </a:ln>
          <a:effectLst>
            <a:outerShdw blurRad="101600" dist="63500" dir="5400000" algn="t" rotWithShape="0">
              <a:schemeClr val="accent5">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7" name="文本框 66"/>
          <p:cNvSpPr txBox="1"/>
          <p:nvPr/>
        </p:nvSpPr>
        <p:spPr>
          <a:xfrm>
            <a:off x="8997858" y="2218560"/>
            <a:ext cx="2188420" cy="502317"/>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制定设备维护计划，定期对设备进行检查和保养</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2" name="椭圆 71"/>
          <p:cNvSpPr/>
          <p:nvPr/>
        </p:nvSpPr>
        <p:spPr>
          <a:xfrm>
            <a:off x="8848105" y="2913973"/>
            <a:ext cx="120028" cy="120028"/>
          </a:xfrm>
          <a:prstGeom prst="ellipse">
            <a:avLst/>
          </a:prstGeom>
          <a:solidFill>
            <a:schemeClr val="bg1"/>
          </a:solidFill>
          <a:ln>
            <a:solidFill>
              <a:schemeClr val="accent5"/>
            </a:solidFill>
          </a:ln>
          <a:effectLst>
            <a:outerShdw blurRad="101600" dist="63500" dir="5400000" algn="t" rotWithShape="0">
              <a:schemeClr val="accent5">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73" name="文本框 72"/>
          <p:cNvSpPr txBox="1"/>
          <p:nvPr/>
        </p:nvSpPr>
        <p:spPr>
          <a:xfrm>
            <a:off x="8997859" y="2776936"/>
            <a:ext cx="2188420" cy="502317"/>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针对常见停机原因，采取相应的改进措施，更换易损件等</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5" name="椭圆 74"/>
          <p:cNvSpPr/>
          <p:nvPr/>
        </p:nvSpPr>
        <p:spPr>
          <a:xfrm>
            <a:off x="8848105" y="4434807"/>
            <a:ext cx="120028" cy="120028"/>
          </a:xfrm>
          <a:prstGeom prst="ellipse">
            <a:avLst/>
          </a:prstGeom>
          <a:solidFill>
            <a:schemeClr val="bg1"/>
          </a:solidFill>
          <a:ln>
            <a:solidFill>
              <a:schemeClr val="accent1"/>
            </a:solidFill>
          </a:ln>
          <a:effectLst>
            <a:outerShdw blurRad="101600" dist="63500" dir="5400000" algn="t"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76" name="文本框 75"/>
          <p:cNvSpPr txBox="1"/>
          <p:nvPr/>
        </p:nvSpPr>
        <p:spPr>
          <a:xfrm>
            <a:off x="9012520" y="4249360"/>
            <a:ext cx="2188420" cy="502317"/>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记录生产线停机时间及停机原因，建立停机时间数据统计表</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7" name="椭圆 76"/>
          <p:cNvSpPr/>
          <p:nvPr/>
        </p:nvSpPr>
        <p:spPr>
          <a:xfrm>
            <a:off x="8848105" y="4948947"/>
            <a:ext cx="120028" cy="120028"/>
          </a:xfrm>
          <a:prstGeom prst="ellipse">
            <a:avLst/>
          </a:prstGeom>
          <a:solidFill>
            <a:schemeClr val="bg1"/>
          </a:solidFill>
          <a:ln>
            <a:solidFill>
              <a:schemeClr val="accent1"/>
            </a:solidFill>
          </a:ln>
          <a:effectLst>
            <a:outerShdw blurRad="101600" dist="63500" dir="5400000" algn="t"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78" name="文本框 77"/>
          <p:cNvSpPr txBox="1"/>
          <p:nvPr/>
        </p:nvSpPr>
        <p:spPr>
          <a:xfrm>
            <a:off x="8997858" y="4765030"/>
            <a:ext cx="2188420" cy="502317"/>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分析停机时间数据，识别主要停机原因和频率</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9" name="椭圆 78"/>
          <p:cNvSpPr/>
          <p:nvPr/>
        </p:nvSpPr>
        <p:spPr>
          <a:xfrm>
            <a:off x="8848105" y="5463087"/>
            <a:ext cx="120028" cy="120028"/>
          </a:xfrm>
          <a:prstGeom prst="ellipse">
            <a:avLst/>
          </a:prstGeom>
          <a:solidFill>
            <a:schemeClr val="bg1"/>
          </a:solidFill>
          <a:ln>
            <a:solidFill>
              <a:schemeClr val="accent1"/>
            </a:solidFill>
          </a:ln>
          <a:effectLst>
            <a:outerShdw blurRad="101600" dist="63500" dir="5400000" algn="t" rotWithShape="0">
              <a:schemeClr val="accent1">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0" name="文本框 79"/>
          <p:cNvSpPr txBox="1"/>
          <p:nvPr/>
        </p:nvSpPr>
        <p:spPr>
          <a:xfrm>
            <a:off x="8997858" y="5277205"/>
            <a:ext cx="2188420" cy="502317"/>
          </a:xfrm>
          <a:prstGeom prst="rect">
            <a:avLst/>
          </a:prstGeom>
          <a:noFill/>
        </p:spPr>
        <p:txBody>
          <a:bodyPr wrap="square" rtlCol="0">
            <a:spAutoFit/>
          </a:bodyPr>
          <a:lstStyle/>
          <a:p>
            <a:pPr marL="0" marR="0" lvl="0" indent="0" algn="just" defTabSz="457200" rtl="0" eaLnBrk="1" fontAlgn="auto" latinLnBrk="0" hangingPunct="1">
              <a:lnSpc>
                <a:spcPct val="120000"/>
              </a:lnSpc>
              <a:spcBef>
                <a:spcPts val="0"/>
              </a:spcBef>
              <a:spcAft>
                <a:spcPts val="0"/>
              </a:spcAft>
              <a:buClrTx/>
              <a:buSzTx/>
              <a:buFontTx/>
              <a:buNone/>
              <a:defRPr/>
            </a:pPr>
            <a:r>
              <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比较改进前后的停机时间数据，评估效果是否达到预期目标</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 name="文本框 6"/>
          <p:cNvSpPr txBox="1"/>
          <p:nvPr/>
        </p:nvSpPr>
        <p:spPr>
          <a:xfrm>
            <a:off x="13788736" y="6819554"/>
            <a:ext cx="18473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96" name="组合 95"/>
          <p:cNvGrpSpPr/>
          <p:nvPr/>
        </p:nvGrpSpPr>
        <p:grpSpPr>
          <a:xfrm>
            <a:off x="3700145" y="1370330"/>
            <a:ext cx="4837430" cy="4853940"/>
            <a:chOff x="5875" y="2038"/>
            <a:chExt cx="7618" cy="7644"/>
          </a:xfrm>
        </p:grpSpPr>
        <p:sp>
          <p:nvSpPr>
            <p:cNvPr id="9" name="椭圆 8"/>
            <p:cNvSpPr/>
            <p:nvPr/>
          </p:nvSpPr>
          <p:spPr>
            <a:xfrm>
              <a:off x="8453" y="4629"/>
              <a:ext cx="2463" cy="2463"/>
            </a:xfrm>
            <a:prstGeom prst="ellipse">
              <a:avLst/>
            </a:prstGeom>
            <a:gradFill flip="none" rotWithShape="1">
              <a:gsLst>
                <a:gs pos="0">
                  <a:schemeClr val="accent1">
                    <a:lumMod val="60000"/>
                    <a:lumOff val="40000"/>
                  </a:schemeClr>
                </a:gs>
                <a:gs pos="100000">
                  <a:schemeClr val="accent1"/>
                </a:gs>
              </a:gsLst>
              <a:lin ang="1200000" scaled="0"/>
              <a:tileRect/>
            </a:gradFill>
            <a:ln w="101600" cap="flat">
              <a:solidFill>
                <a:schemeClr val="accent1">
                  <a:lumMod val="20000"/>
                  <a:lumOff val="80000"/>
                </a:schemeClr>
              </a:solid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 name="同心圆 1"/>
            <p:cNvSpPr/>
            <p:nvPr/>
          </p:nvSpPr>
          <p:spPr>
            <a:xfrm>
              <a:off x="6370" y="2547"/>
              <a:ext cx="6627" cy="6627"/>
            </a:xfrm>
            <a:prstGeom prst="donut">
              <a:avLst>
                <a:gd name="adj" fmla="val 16353"/>
              </a:avLst>
            </a:prstGeom>
            <a:gradFill flip="none" rotWithShape="1">
              <a:gsLst>
                <a:gs pos="100000">
                  <a:schemeClr val="accent1"/>
                </a:gs>
                <a:gs pos="62000">
                  <a:schemeClr val="accent1">
                    <a:lumMod val="60000"/>
                    <a:lumOff val="40000"/>
                  </a:schemeClr>
                </a:gs>
                <a:gs pos="0">
                  <a:schemeClr val="accent1">
                    <a:lumMod val="20000"/>
                    <a:lumOff val="80000"/>
                  </a:schemeClr>
                </a:gs>
                <a:gs pos="30000">
                  <a:schemeClr val="accent1">
                    <a:lumMod val="60000"/>
                    <a:lumOff val="40000"/>
                  </a:schemeClr>
                </a:gs>
              </a:gsLst>
              <a:lin ang="1200000" scaled="0"/>
              <a:tileRect/>
            </a:gradFill>
            <a:ln w="1860"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5" name="椭圆 34"/>
            <p:cNvSpPr/>
            <p:nvPr/>
          </p:nvSpPr>
          <p:spPr>
            <a:xfrm>
              <a:off x="8727" y="2038"/>
              <a:ext cx="1829" cy="1829"/>
            </a:xfrm>
            <a:prstGeom prst="ellipse">
              <a:avLst/>
            </a:prstGeom>
            <a:gradFill flip="none" rotWithShape="1">
              <a:gsLst>
                <a:gs pos="0">
                  <a:schemeClr val="accent1"/>
                </a:gs>
                <a:gs pos="100000">
                  <a:schemeClr val="accent1">
                    <a:lumMod val="60000"/>
                    <a:lumOff val="40000"/>
                  </a:schemeClr>
                </a:gs>
              </a:gsLst>
              <a:lin ang="10800000" scaled="1"/>
              <a:tileRect/>
            </a:gra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spcBef>
                  <a:spcPts val="0"/>
                </a:spcBef>
                <a:spcAft>
                  <a:spcPts val="0"/>
                </a:spcAft>
                <a:buClrTx/>
                <a:buSzTx/>
                <a:buFontTx/>
                <a:defRPr/>
              </a:pPr>
              <a:endParaRPr kumimoji="1" lang="zh-CN" altLang="en-US"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6" name="椭圆 35"/>
            <p:cNvSpPr/>
            <p:nvPr/>
          </p:nvSpPr>
          <p:spPr>
            <a:xfrm>
              <a:off x="8770" y="7854"/>
              <a:ext cx="1829" cy="1829"/>
            </a:xfrm>
            <a:prstGeom prst="ellipse">
              <a:avLst/>
            </a:prstGeom>
            <a:gradFill flip="none" rotWithShape="1">
              <a:gsLst>
                <a:gs pos="0">
                  <a:schemeClr val="accent1"/>
                </a:gs>
                <a:gs pos="100000">
                  <a:schemeClr val="accent1">
                    <a:lumMod val="60000"/>
                    <a:lumOff val="40000"/>
                  </a:schemeClr>
                </a:gs>
              </a:gsLst>
              <a:lin ang="10800000" scaled="1"/>
              <a:tileRect/>
            </a:gra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7" name="椭圆 36"/>
            <p:cNvSpPr/>
            <p:nvPr/>
          </p:nvSpPr>
          <p:spPr>
            <a:xfrm>
              <a:off x="5875" y="4946"/>
              <a:ext cx="1829" cy="1829"/>
            </a:xfrm>
            <a:prstGeom prst="ellipse">
              <a:avLst/>
            </a:prstGeom>
            <a:gradFill flip="none" rotWithShape="1">
              <a:gsLst>
                <a:gs pos="32000">
                  <a:schemeClr val="accent5"/>
                </a:gs>
                <a:gs pos="100000">
                  <a:schemeClr val="accent5">
                    <a:lumMod val="60000"/>
                    <a:lumOff val="40000"/>
                  </a:schemeClr>
                </a:gs>
              </a:gsLst>
              <a:lin ang="10800000" scaled="1"/>
              <a:tileRect/>
            </a:gra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8" name="椭圆 37"/>
            <p:cNvSpPr/>
            <p:nvPr/>
          </p:nvSpPr>
          <p:spPr>
            <a:xfrm>
              <a:off x="11665" y="4946"/>
              <a:ext cx="1829" cy="1829"/>
            </a:xfrm>
            <a:prstGeom prst="ellipse">
              <a:avLst/>
            </a:prstGeom>
            <a:gradFill flip="none" rotWithShape="1">
              <a:gsLst>
                <a:gs pos="32000">
                  <a:schemeClr val="accent5"/>
                </a:gs>
                <a:gs pos="100000">
                  <a:schemeClr val="accent5">
                    <a:lumMod val="60000"/>
                    <a:lumOff val="40000"/>
                  </a:schemeClr>
                </a:gs>
              </a:gsLst>
              <a:lin ang="10800000" scaled="1"/>
              <a:tileRect/>
            </a:gradFill>
            <a:ln w="25400">
              <a:solidFill>
                <a:schemeClr val="bg1"/>
              </a:solid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a:off x="9054" y="2379"/>
              <a:ext cx="1260" cy="727"/>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defRPr/>
              </a:pPr>
              <a:r>
                <a:rPr kumimoji="1" lang="zh-CN" altLang="en-US" sz="2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计划</a:t>
              </a:r>
              <a:endParaRPr kumimoji="1" lang="zh-CN" altLang="en-US" sz="2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 name="文本框 19"/>
            <p:cNvSpPr txBox="1"/>
            <p:nvPr/>
          </p:nvSpPr>
          <p:spPr>
            <a:xfrm>
              <a:off x="11766" y="5296"/>
              <a:ext cx="1626" cy="727"/>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执行</a:t>
              </a:r>
              <a:endParaRPr kumimoji="1" lang="zh-CN" altLang="en-US" sz="2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 name="文本框 20"/>
            <p:cNvSpPr txBox="1"/>
            <p:nvPr/>
          </p:nvSpPr>
          <p:spPr>
            <a:xfrm>
              <a:off x="9054" y="8239"/>
              <a:ext cx="1260" cy="72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检查</a:t>
              </a:r>
              <a:endParaRPr kumimoji="1" lang="zh-CN" altLang="en-US" sz="2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 name="文本框 21"/>
            <p:cNvSpPr txBox="1"/>
            <p:nvPr/>
          </p:nvSpPr>
          <p:spPr>
            <a:xfrm>
              <a:off x="6159" y="5296"/>
              <a:ext cx="1260" cy="727"/>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行动</a:t>
              </a:r>
              <a:endParaRPr kumimoji="1" lang="zh-CN" altLang="en-US" sz="2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8993" y="3057"/>
              <a:ext cx="1382" cy="48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Plan</a:t>
              </a:r>
              <a:endParaRPr kumimoji="1" lang="en-US" altLang="zh-CN"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nvSpPr>
          <p:spPr>
            <a:xfrm>
              <a:off x="11864" y="5966"/>
              <a:ext cx="1429" cy="48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Do</a:t>
              </a:r>
              <a:endParaRPr kumimoji="1" lang="en-US" altLang="zh-CN"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5" name="文本框 24"/>
            <p:cNvSpPr txBox="1"/>
            <p:nvPr/>
          </p:nvSpPr>
          <p:spPr>
            <a:xfrm>
              <a:off x="9034" y="8892"/>
              <a:ext cx="1299" cy="48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Check</a:t>
              </a:r>
              <a:endParaRPr kumimoji="1" lang="en-US" altLang="zh-CN"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nvSpPr>
          <p:spPr>
            <a:xfrm>
              <a:off x="6055" y="5966"/>
              <a:ext cx="1467" cy="485"/>
            </a:xfrm>
            <a:prstGeom prst="rect">
              <a:avLst/>
            </a:prstGeom>
            <a:no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Action</a:t>
              </a:r>
              <a:endParaRPr kumimoji="1" lang="en-US" altLang="zh-CN" sz="14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nvSpPr>
          <p:spPr>
            <a:xfrm>
              <a:off x="8812" y="5351"/>
              <a:ext cx="1745" cy="1018"/>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36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目标</a:t>
              </a:r>
              <a:endParaRPr kumimoji="1" lang="zh-CN" altLang="en-US" sz="36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9" name="图形 14" descr="箭头顺时针弯曲"/>
            <p:cNvSpPr/>
            <p:nvPr/>
          </p:nvSpPr>
          <p:spPr>
            <a:xfrm rot="3790758">
              <a:off x="7455" y="3362"/>
              <a:ext cx="747" cy="953"/>
            </a:xfrm>
            <a:custGeom>
              <a:avLst/>
              <a:gdLst>
                <a:gd name="connsiteX0" fmla="*/ 552450 w 552450"/>
                <a:gd name="connsiteY0" fmla="*/ 704876 h 704876"/>
                <a:gd name="connsiteX1" fmla="*/ 323850 w 552450"/>
                <a:gd name="connsiteY1" fmla="*/ 228626 h 704876"/>
                <a:gd name="connsiteX2" fmla="*/ 457200 w 552450"/>
                <a:gd name="connsiteY2" fmla="*/ 228626 h 704876"/>
                <a:gd name="connsiteX3" fmla="*/ 228600 w 552450"/>
                <a:gd name="connsiteY3" fmla="*/ 26 h 704876"/>
                <a:gd name="connsiteX4" fmla="*/ 0 w 552450"/>
                <a:gd name="connsiteY4" fmla="*/ 228626 h 704876"/>
                <a:gd name="connsiteX5" fmla="*/ 123825 w 552450"/>
                <a:gd name="connsiteY5" fmla="*/ 228626 h 704876"/>
                <a:gd name="connsiteX6" fmla="*/ 552450 w 552450"/>
                <a:gd name="connsiteY6" fmla="*/ 704876 h 70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450" h="704876">
                  <a:moveTo>
                    <a:pt x="552450" y="704876"/>
                  </a:moveTo>
                  <a:cubicBezTo>
                    <a:pt x="552450" y="704876"/>
                    <a:pt x="323850" y="633439"/>
                    <a:pt x="323850" y="228626"/>
                  </a:cubicBezTo>
                  <a:lnTo>
                    <a:pt x="457200" y="228626"/>
                  </a:lnTo>
                  <a:lnTo>
                    <a:pt x="228600" y="26"/>
                  </a:lnTo>
                  <a:cubicBezTo>
                    <a:pt x="228600" y="-2831"/>
                    <a:pt x="0" y="228626"/>
                    <a:pt x="0" y="228626"/>
                  </a:cubicBezTo>
                  <a:lnTo>
                    <a:pt x="123825" y="228626"/>
                  </a:lnTo>
                  <a:cubicBezTo>
                    <a:pt x="123825" y="229579"/>
                    <a:pt x="159068" y="615341"/>
                    <a:pt x="552450" y="704876"/>
                  </a:cubicBezTo>
                  <a:close/>
                </a:path>
              </a:pathLst>
            </a:custGeom>
            <a:solidFill>
              <a:schemeClr val="bg1"/>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9" name="图形 14" descr="箭头顺时针弯曲"/>
            <p:cNvSpPr/>
            <p:nvPr/>
          </p:nvSpPr>
          <p:spPr>
            <a:xfrm rot="14196843">
              <a:off x="11398" y="7282"/>
              <a:ext cx="747" cy="953"/>
            </a:xfrm>
            <a:custGeom>
              <a:avLst/>
              <a:gdLst>
                <a:gd name="connsiteX0" fmla="*/ 552450 w 552450"/>
                <a:gd name="connsiteY0" fmla="*/ 704876 h 704876"/>
                <a:gd name="connsiteX1" fmla="*/ 323850 w 552450"/>
                <a:gd name="connsiteY1" fmla="*/ 228626 h 704876"/>
                <a:gd name="connsiteX2" fmla="*/ 457200 w 552450"/>
                <a:gd name="connsiteY2" fmla="*/ 228626 h 704876"/>
                <a:gd name="connsiteX3" fmla="*/ 228600 w 552450"/>
                <a:gd name="connsiteY3" fmla="*/ 26 h 704876"/>
                <a:gd name="connsiteX4" fmla="*/ 0 w 552450"/>
                <a:gd name="connsiteY4" fmla="*/ 228626 h 704876"/>
                <a:gd name="connsiteX5" fmla="*/ 123825 w 552450"/>
                <a:gd name="connsiteY5" fmla="*/ 228626 h 704876"/>
                <a:gd name="connsiteX6" fmla="*/ 552450 w 552450"/>
                <a:gd name="connsiteY6" fmla="*/ 704876 h 70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450" h="704876">
                  <a:moveTo>
                    <a:pt x="552450" y="704876"/>
                  </a:moveTo>
                  <a:cubicBezTo>
                    <a:pt x="552450" y="704876"/>
                    <a:pt x="323850" y="633439"/>
                    <a:pt x="323850" y="228626"/>
                  </a:cubicBezTo>
                  <a:lnTo>
                    <a:pt x="457200" y="228626"/>
                  </a:lnTo>
                  <a:lnTo>
                    <a:pt x="228600" y="26"/>
                  </a:lnTo>
                  <a:cubicBezTo>
                    <a:pt x="228600" y="-2831"/>
                    <a:pt x="0" y="228626"/>
                    <a:pt x="0" y="228626"/>
                  </a:cubicBezTo>
                  <a:lnTo>
                    <a:pt x="123825" y="228626"/>
                  </a:lnTo>
                  <a:cubicBezTo>
                    <a:pt x="123825" y="229579"/>
                    <a:pt x="159068" y="615341"/>
                    <a:pt x="552450" y="704876"/>
                  </a:cubicBezTo>
                  <a:close/>
                </a:path>
              </a:pathLst>
            </a:custGeom>
            <a:solidFill>
              <a:schemeClr val="bg1"/>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0" name="图形 14" descr="箭头顺时针弯曲"/>
            <p:cNvSpPr/>
            <p:nvPr/>
          </p:nvSpPr>
          <p:spPr>
            <a:xfrm rot="19984679">
              <a:off x="7380" y="7358"/>
              <a:ext cx="747" cy="953"/>
            </a:xfrm>
            <a:custGeom>
              <a:avLst/>
              <a:gdLst>
                <a:gd name="connsiteX0" fmla="*/ 552450 w 552450"/>
                <a:gd name="connsiteY0" fmla="*/ 704876 h 704876"/>
                <a:gd name="connsiteX1" fmla="*/ 323850 w 552450"/>
                <a:gd name="connsiteY1" fmla="*/ 228626 h 704876"/>
                <a:gd name="connsiteX2" fmla="*/ 457200 w 552450"/>
                <a:gd name="connsiteY2" fmla="*/ 228626 h 704876"/>
                <a:gd name="connsiteX3" fmla="*/ 228600 w 552450"/>
                <a:gd name="connsiteY3" fmla="*/ 26 h 704876"/>
                <a:gd name="connsiteX4" fmla="*/ 0 w 552450"/>
                <a:gd name="connsiteY4" fmla="*/ 228626 h 704876"/>
                <a:gd name="connsiteX5" fmla="*/ 123825 w 552450"/>
                <a:gd name="connsiteY5" fmla="*/ 228626 h 704876"/>
                <a:gd name="connsiteX6" fmla="*/ 552450 w 552450"/>
                <a:gd name="connsiteY6" fmla="*/ 704876 h 70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450" h="704876">
                  <a:moveTo>
                    <a:pt x="552450" y="704876"/>
                  </a:moveTo>
                  <a:cubicBezTo>
                    <a:pt x="552450" y="704876"/>
                    <a:pt x="323850" y="633439"/>
                    <a:pt x="323850" y="228626"/>
                  </a:cubicBezTo>
                  <a:lnTo>
                    <a:pt x="457200" y="228626"/>
                  </a:lnTo>
                  <a:lnTo>
                    <a:pt x="228600" y="26"/>
                  </a:lnTo>
                  <a:cubicBezTo>
                    <a:pt x="228600" y="-2831"/>
                    <a:pt x="0" y="228626"/>
                    <a:pt x="0" y="228626"/>
                  </a:cubicBezTo>
                  <a:lnTo>
                    <a:pt x="123825" y="228626"/>
                  </a:lnTo>
                  <a:cubicBezTo>
                    <a:pt x="123825" y="229579"/>
                    <a:pt x="159068" y="615341"/>
                    <a:pt x="552450" y="704876"/>
                  </a:cubicBezTo>
                  <a:close/>
                </a:path>
              </a:pathLst>
            </a:custGeom>
            <a:solidFill>
              <a:schemeClr val="bg1"/>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41" name="图形 14" descr="箭头顺时针弯曲"/>
            <p:cNvSpPr/>
            <p:nvPr/>
          </p:nvSpPr>
          <p:spPr>
            <a:xfrm rot="9546975">
              <a:off x="11271" y="3460"/>
              <a:ext cx="747" cy="953"/>
            </a:xfrm>
            <a:custGeom>
              <a:avLst/>
              <a:gdLst>
                <a:gd name="connsiteX0" fmla="*/ 552450 w 552450"/>
                <a:gd name="connsiteY0" fmla="*/ 704876 h 704876"/>
                <a:gd name="connsiteX1" fmla="*/ 323850 w 552450"/>
                <a:gd name="connsiteY1" fmla="*/ 228626 h 704876"/>
                <a:gd name="connsiteX2" fmla="*/ 457200 w 552450"/>
                <a:gd name="connsiteY2" fmla="*/ 228626 h 704876"/>
                <a:gd name="connsiteX3" fmla="*/ 228600 w 552450"/>
                <a:gd name="connsiteY3" fmla="*/ 26 h 704876"/>
                <a:gd name="connsiteX4" fmla="*/ 0 w 552450"/>
                <a:gd name="connsiteY4" fmla="*/ 228626 h 704876"/>
                <a:gd name="connsiteX5" fmla="*/ 123825 w 552450"/>
                <a:gd name="connsiteY5" fmla="*/ 228626 h 704876"/>
                <a:gd name="connsiteX6" fmla="*/ 552450 w 552450"/>
                <a:gd name="connsiteY6" fmla="*/ 704876 h 704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2450" h="704876">
                  <a:moveTo>
                    <a:pt x="552450" y="704876"/>
                  </a:moveTo>
                  <a:cubicBezTo>
                    <a:pt x="552450" y="704876"/>
                    <a:pt x="323850" y="633439"/>
                    <a:pt x="323850" y="228626"/>
                  </a:cubicBezTo>
                  <a:lnTo>
                    <a:pt x="457200" y="228626"/>
                  </a:lnTo>
                  <a:lnTo>
                    <a:pt x="228600" y="26"/>
                  </a:lnTo>
                  <a:cubicBezTo>
                    <a:pt x="228600" y="-2831"/>
                    <a:pt x="0" y="228626"/>
                    <a:pt x="0" y="228626"/>
                  </a:cubicBezTo>
                  <a:lnTo>
                    <a:pt x="123825" y="228626"/>
                  </a:lnTo>
                  <a:cubicBezTo>
                    <a:pt x="123825" y="229579"/>
                    <a:pt x="159068" y="615341"/>
                    <a:pt x="552450" y="704876"/>
                  </a:cubicBezTo>
                  <a:close/>
                </a:path>
              </a:pathLst>
            </a:custGeom>
            <a:solidFill>
              <a:schemeClr val="bg1"/>
            </a:solidFill>
            <a:ln w="9525" cap="flat">
              <a:noFill/>
              <a:prstDash val="solid"/>
              <a:miter/>
            </a:ln>
          </p:spPr>
          <p:txBody>
            <a:bodyPr rtlCol="0" anchor="ctr"/>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 name="椭圆 16"/>
            <p:cNvSpPr/>
            <p:nvPr/>
          </p:nvSpPr>
          <p:spPr>
            <a:xfrm>
              <a:off x="7878" y="4055"/>
              <a:ext cx="3611" cy="3611"/>
            </a:xfrm>
            <a:prstGeom prst="ellipse">
              <a:avLst/>
            </a:prstGeom>
            <a:noFill/>
            <a:ln>
              <a:solidFill>
                <a:schemeClr val="accent1">
                  <a:lumMod val="40000"/>
                  <a:lumOff val="60000"/>
                </a:schemeClr>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90" name="组 92"/>
          <p:cNvGrpSpPr/>
          <p:nvPr/>
        </p:nvGrpSpPr>
        <p:grpSpPr>
          <a:xfrm rot="16540936">
            <a:off x="3357880" y="1036320"/>
            <a:ext cx="5521960" cy="5521960"/>
            <a:chOff x="554448" y="1521383"/>
            <a:chExt cx="4926965" cy="4926965"/>
          </a:xfrm>
        </p:grpSpPr>
        <p:sp>
          <p:nvSpPr>
            <p:cNvPr id="91" name="弧形 61"/>
            <p:cNvSpPr/>
            <p:nvPr/>
          </p:nvSpPr>
          <p:spPr>
            <a:xfrm>
              <a:off x="554448" y="1521383"/>
              <a:ext cx="4926965" cy="4926965"/>
            </a:xfrm>
            <a:prstGeom prst="arc">
              <a:avLst>
                <a:gd name="adj1" fmla="val 5354757"/>
                <a:gd name="adj2" fmla="val 15907736"/>
              </a:avLst>
            </a:prstGeom>
            <a:ln w="38100" cap="sq" cmpd="sng">
              <a:gradFill>
                <a:gsLst>
                  <a:gs pos="100000">
                    <a:schemeClr val="accent5">
                      <a:lumMod val="60000"/>
                      <a:lumOff val="40000"/>
                      <a:alpha val="0"/>
                    </a:schemeClr>
                  </a:gs>
                  <a:gs pos="0">
                    <a:schemeClr val="accent5">
                      <a:lumMod val="60000"/>
                      <a:lumOff val="40000"/>
                    </a:schemeClr>
                  </a:gs>
                </a:gsLst>
                <a:lin ang="5400000" scaled="1"/>
              </a:gradFill>
              <a:prstDash val="solid"/>
              <a:miter lim="800000"/>
              <a:headEnd type="none"/>
              <a:tailEnd type="triangle"/>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rgbClr val="313131"/>
                </a:solidFill>
                <a:latin typeface="微软雅黑" panose="020B0503020204020204" charset="-122"/>
                <a:ea typeface="微软雅黑" panose="020B0503020204020204" charset="-122"/>
                <a:cs typeface="微软雅黑" panose="020B0503020204020204" charset="-122"/>
              </a:endParaRPr>
            </a:p>
          </p:txBody>
        </p:sp>
        <p:sp>
          <p:nvSpPr>
            <p:cNvPr id="92" name="弧形 61"/>
            <p:cNvSpPr/>
            <p:nvPr/>
          </p:nvSpPr>
          <p:spPr>
            <a:xfrm>
              <a:off x="554448" y="1521383"/>
              <a:ext cx="4926965" cy="4926965"/>
            </a:xfrm>
            <a:prstGeom prst="arc">
              <a:avLst>
                <a:gd name="adj1" fmla="val 16270707"/>
                <a:gd name="adj2" fmla="val 5004990"/>
              </a:avLst>
            </a:prstGeom>
            <a:ln w="38100" cap="sq" cmpd="sng">
              <a:gradFill>
                <a:gsLst>
                  <a:gs pos="0">
                    <a:schemeClr val="accent1">
                      <a:lumMod val="60000"/>
                      <a:lumOff val="40000"/>
                      <a:alpha val="0"/>
                    </a:schemeClr>
                  </a:gs>
                  <a:gs pos="99000">
                    <a:schemeClr val="accent1">
                      <a:lumMod val="60000"/>
                      <a:lumOff val="40000"/>
                    </a:schemeClr>
                  </a:gs>
                </a:gsLst>
                <a:lin ang="5400000" scaled="1"/>
              </a:gradFill>
              <a:prstDash val="solid"/>
              <a:miter lim="800000"/>
              <a:headEnd type="none"/>
              <a:tailEnd type="triangle"/>
            </a:ln>
          </p:spPr>
          <p:style>
            <a:lnRef idx="2">
              <a:schemeClr val="accent1"/>
            </a:lnRef>
            <a:fillRef idx="0">
              <a:srgbClr val="FFFFFF"/>
            </a:fillRef>
            <a:effectRef idx="0">
              <a:srgbClr val="FFFFFF"/>
            </a:effectRef>
            <a:fontRef idx="minor">
              <a:schemeClr val="tx1"/>
            </a:fontRef>
          </p:style>
          <p:txBody>
            <a:bodyPr rtlCol="0" anchor="ctr"/>
            <a:lstStyle/>
            <a:p>
              <a:pPr algn="ctr"/>
              <a:endParaRPr lang="zh-CN" altLang="en-US">
                <a:solidFill>
                  <a:srgbClr val="313131"/>
                </a:solidFill>
                <a:latin typeface="微软雅黑" panose="020B0503020204020204" charset="-122"/>
                <a:ea typeface="微软雅黑" panose="020B0503020204020204" charset="-122"/>
                <a:cs typeface="微软雅黑" panose="020B0503020204020204" charset="-122"/>
              </a:endParaRPr>
            </a:p>
          </p:txBody>
        </p:sp>
      </p:grpSp>
      <p:pic>
        <p:nvPicPr>
          <p:cNvPr id="4" name="图片 3"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cxnSp>
        <p:nvCxnSpPr>
          <p:cNvPr id="6"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8738235" y="348615"/>
            <a:ext cx="3219450" cy="332740"/>
            <a:chOff x="13761" y="549"/>
            <a:chExt cx="5070" cy="524"/>
          </a:xfrm>
        </p:grpSpPr>
        <p:pic>
          <p:nvPicPr>
            <p:cNvPr id="8" name="图片 7"/>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2" name="文本框 11"/>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3285"/>
            <a:ext cx="7137400" cy="40626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 </a:t>
            </a:r>
            <a:r>
              <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rPr>
              <a:t>STAR</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复盘法模型</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104" name="组合 103"/>
          <p:cNvGrpSpPr/>
          <p:nvPr/>
        </p:nvGrpSpPr>
        <p:grpSpPr>
          <a:xfrm rot="0" flipH="1">
            <a:off x="7618095" y="5487035"/>
            <a:ext cx="3577590" cy="0"/>
            <a:chOff x="2035" y="9189"/>
            <a:chExt cx="5290" cy="0"/>
          </a:xfrm>
        </p:grpSpPr>
        <p:sp>
          <p:nvSpPr>
            <p:cNvPr id="144" name="Line 299"/>
            <p:cNvSpPr>
              <a:spLocks noChangeShapeType="1"/>
            </p:cNvSpPr>
            <p:nvPr>
              <p:custDataLst>
                <p:tags r:id="rId3"/>
              </p:custDataLst>
            </p:nvPr>
          </p:nvSpPr>
          <p:spPr bwMode="auto">
            <a:xfrm>
              <a:off x="2371" y="9189"/>
              <a:ext cx="4954" cy="0"/>
            </a:xfrm>
            <a:prstGeom prst="line">
              <a:avLst/>
            </a:prstGeom>
            <a:noFill/>
            <a:ln w="3175" cap="flat">
              <a:solidFill>
                <a:schemeClr val="accent5"/>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en-US">
                <a:cs typeface="微软雅黑" panose="020B0503020204020204" charset="-122"/>
              </a:endParaRPr>
            </a:p>
          </p:txBody>
        </p:sp>
        <p:sp>
          <p:nvSpPr>
            <p:cNvPr id="145" name="Line 23"/>
            <p:cNvSpPr>
              <a:spLocks noChangeShapeType="1"/>
            </p:cNvSpPr>
            <p:nvPr>
              <p:custDataLst>
                <p:tags r:id="rId4"/>
              </p:custDataLst>
            </p:nvPr>
          </p:nvSpPr>
          <p:spPr bwMode="auto">
            <a:xfrm flipH="1">
              <a:off x="2035" y="9189"/>
              <a:ext cx="336" cy="0"/>
            </a:xfrm>
            <a:prstGeom prst="line">
              <a:avLst/>
            </a:prstGeom>
            <a:noFill/>
            <a:ln w="25400" cap="rnd">
              <a:solidFill>
                <a:schemeClr val="accent5"/>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en-US">
                <a:cs typeface="微软雅黑" panose="020B0503020204020204" charset="-122"/>
              </a:endParaRPr>
            </a:p>
          </p:txBody>
        </p:sp>
      </p:grpSp>
      <p:grpSp>
        <p:nvGrpSpPr>
          <p:cNvPr id="105" name="组合 104"/>
          <p:cNvGrpSpPr/>
          <p:nvPr/>
        </p:nvGrpSpPr>
        <p:grpSpPr>
          <a:xfrm rot="0" flipH="1">
            <a:off x="7618095" y="1990725"/>
            <a:ext cx="3577590" cy="0"/>
            <a:chOff x="2035" y="9189"/>
            <a:chExt cx="5290" cy="0"/>
          </a:xfrm>
        </p:grpSpPr>
        <p:sp>
          <p:nvSpPr>
            <p:cNvPr id="142" name="Line 299"/>
            <p:cNvSpPr>
              <a:spLocks noChangeShapeType="1"/>
            </p:cNvSpPr>
            <p:nvPr>
              <p:custDataLst>
                <p:tags r:id="rId5"/>
              </p:custDataLst>
            </p:nvPr>
          </p:nvSpPr>
          <p:spPr bwMode="auto">
            <a:xfrm>
              <a:off x="2371" y="9189"/>
              <a:ext cx="4954" cy="0"/>
            </a:xfrm>
            <a:prstGeom prst="line">
              <a:avLst/>
            </a:prstGeom>
            <a:noFill/>
            <a:ln w="3175" cap="flat">
              <a:solidFill>
                <a:schemeClr val="accent1">
                  <a:lumMod val="60000"/>
                  <a:lumOff val="40000"/>
                </a:schemeClr>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en-US">
                <a:cs typeface="微软雅黑" panose="020B0503020204020204" charset="-122"/>
              </a:endParaRPr>
            </a:p>
          </p:txBody>
        </p:sp>
        <p:sp>
          <p:nvSpPr>
            <p:cNvPr id="143" name="Line 23"/>
            <p:cNvSpPr>
              <a:spLocks noChangeShapeType="1"/>
            </p:cNvSpPr>
            <p:nvPr>
              <p:custDataLst>
                <p:tags r:id="rId6"/>
              </p:custDataLst>
            </p:nvPr>
          </p:nvSpPr>
          <p:spPr bwMode="auto">
            <a:xfrm flipH="1">
              <a:off x="2035" y="9189"/>
              <a:ext cx="336" cy="0"/>
            </a:xfrm>
            <a:prstGeom prst="line">
              <a:avLst/>
            </a:prstGeom>
            <a:noFill/>
            <a:ln w="25400" cap="rnd">
              <a:solidFill>
                <a:schemeClr val="accent1">
                  <a:lumMod val="60000"/>
                  <a:lumOff val="40000"/>
                </a:schemeClr>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en-US">
                <a:cs typeface="微软雅黑" panose="020B0503020204020204" charset="-122"/>
              </a:endParaRPr>
            </a:p>
          </p:txBody>
        </p:sp>
      </p:grpSp>
      <p:grpSp>
        <p:nvGrpSpPr>
          <p:cNvPr id="106" name="组合 105"/>
          <p:cNvGrpSpPr/>
          <p:nvPr/>
        </p:nvGrpSpPr>
        <p:grpSpPr>
          <a:xfrm rot="0">
            <a:off x="1016635" y="1990725"/>
            <a:ext cx="3577590" cy="0"/>
            <a:chOff x="2035" y="9189"/>
            <a:chExt cx="5290" cy="0"/>
          </a:xfrm>
        </p:grpSpPr>
        <p:sp>
          <p:nvSpPr>
            <p:cNvPr id="140" name="Line 299"/>
            <p:cNvSpPr>
              <a:spLocks noChangeShapeType="1"/>
            </p:cNvSpPr>
            <p:nvPr>
              <p:custDataLst>
                <p:tags r:id="rId7"/>
              </p:custDataLst>
            </p:nvPr>
          </p:nvSpPr>
          <p:spPr bwMode="auto">
            <a:xfrm>
              <a:off x="2371" y="9189"/>
              <a:ext cx="4954" cy="0"/>
            </a:xfrm>
            <a:prstGeom prst="line">
              <a:avLst/>
            </a:prstGeom>
            <a:noFill/>
            <a:ln w="3175" cap="flat">
              <a:solidFill>
                <a:schemeClr val="accent1"/>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en-US">
                <a:cs typeface="微软雅黑" panose="020B0503020204020204" charset="-122"/>
              </a:endParaRPr>
            </a:p>
          </p:txBody>
        </p:sp>
        <p:sp>
          <p:nvSpPr>
            <p:cNvPr id="141" name="Line 23"/>
            <p:cNvSpPr>
              <a:spLocks noChangeShapeType="1"/>
            </p:cNvSpPr>
            <p:nvPr>
              <p:custDataLst>
                <p:tags r:id="rId8"/>
              </p:custDataLst>
            </p:nvPr>
          </p:nvSpPr>
          <p:spPr bwMode="auto">
            <a:xfrm flipH="1">
              <a:off x="2035" y="9189"/>
              <a:ext cx="336" cy="0"/>
            </a:xfrm>
            <a:prstGeom prst="line">
              <a:avLst/>
            </a:prstGeom>
            <a:noFill/>
            <a:ln w="25400" cap="rnd">
              <a:solidFill>
                <a:schemeClr val="accent1"/>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en-US">
                <a:cs typeface="微软雅黑" panose="020B0503020204020204" charset="-122"/>
              </a:endParaRPr>
            </a:p>
          </p:txBody>
        </p:sp>
      </p:grpSp>
      <p:sp>
        <p:nvSpPr>
          <p:cNvPr id="107" name="TextBox 7"/>
          <p:cNvSpPr txBox="1"/>
          <p:nvPr>
            <p:custDataLst>
              <p:tags r:id="rId9"/>
            </p:custDataLst>
          </p:nvPr>
        </p:nvSpPr>
        <p:spPr>
          <a:xfrm>
            <a:off x="1049020" y="1557655"/>
            <a:ext cx="2432050" cy="307975"/>
          </a:xfrm>
          <a:prstGeom prst="rect">
            <a:avLst/>
          </a:prstGeom>
          <a:noFill/>
        </p:spPr>
        <p:txBody>
          <a:bodyPr wrap="square" lIns="0" tIns="0" rIns="0" bIns="0" rtlCol="0">
            <a:spAutoFit/>
          </a:bodyPr>
          <a:lstStyle/>
          <a:p>
            <a:r>
              <a:rPr lang="en-US" altLang="zh-CN" sz="2000" b="1">
                <a:solidFill>
                  <a:schemeClr val="accent1"/>
                </a:solidFill>
                <a:latin typeface="微软雅黑" panose="020B0503020204020204" charset="-122"/>
                <a:ea typeface="微软雅黑" panose="020B0503020204020204" charset="-122"/>
                <a:cs typeface="微软雅黑" panose="020B0503020204020204" charset="-122"/>
              </a:rPr>
              <a:t>Situation</a:t>
            </a:r>
            <a:r>
              <a:rPr lang="zh-CN" altLang="en-US" sz="2000" b="1">
                <a:solidFill>
                  <a:schemeClr val="accent1"/>
                </a:solidFill>
                <a:latin typeface="微软雅黑" panose="020B0503020204020204" charset="-122"/>
                <a:ea typeface="微软雅黑" panose="020B0503020204020204" charset="-122"/>
                <a:cs typeface="微软雅黑" panose="020B0503020204020204" charset="-122"/>
              </a:rPr>
              <a:t>：情境</a:t>
            </a:r>
            <a:endParaRPr lang="zh-CN" altLang="en-US" sz="2000" b="1">
              <a:solidFill>
                <a:schemeClr val="accent1"/>
              </a:solidFill>
              <a:latin typeface="微软雅黑" panose="020B0503020204020204" charset="-122"/>
              <a:ea typeface="微软雅黑" panose="020B0503020204020204" charset="-122"/>
              <a:cs typeface="微软雅黑" panose="020B0503020204020204" charset="-122"/>
            </a:endParaRPr>
          </a:p>
        </p:txBody>
      </p:sp>
      <p:grpSp>
        <p:nvGrpSpPr>
          <p:cNvPr id="108" name="组合 107"/>
          <p:cNvGrpSpPr/>
          <p:nvPr/>
        </p:nvGrpSpPr>
        <p:grpSpPr>
          <a:xfrm rot="0">
            <a:off x="1048385" y="5537835"/>
            <a:ext cx="3592830" cy="451485"/>
            <a:chOff x="1522" y="9189"/>
            <a:chExt cx="5313" cy="668"/>
          </a:xfrm>
        </p:grpSpPr>
        <p:sp>
          <p:nvSpPr>
            <p:cNvPr id="137" name="Line 299"/>
            <p:cNvSpPr>
              <a:spLocks noChangeShapeType="1"/>
            </p:cNvSpPr>
            <p:nvPr>
              <p:custDataLst>
                <p:tags r:id="rId10"/>
              </p:custDataLst>
            </p:nvPr>
          </p:nvSpPr>
          <p:spPr bwMode="auto">
            <a:xfrm>
              <a:off x="1881" y="9189"/>
              <a:ext cx="4954" cy="0"/>
            </a:xfrm>
            <a:prstGeom prst="line">
              <a:avLst/>
            </a:prstGeom>
            <a:noFill/>
            <a:ln w="3175" cap="flat">
              <a:solidFill>
                <a:schemeClr val="accent5">
                  <a:lumMod val="60000"/>
                  <a:lumOff val="40000"/>
                </a:schemeClr>
              </a:solidFill>
              <a:prstDash val="dash"/>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en-US">
                <a:cs typeface="微软雅黑" panose="020B0503020204020204" charset="-122"/>
              </a:endParaRPr>
            </a:p>
          </p:txBody>
        </p:sp>
        <p:sp>
          <p:nvSpPr>
            <p:cNvPr id="138" name="Line 23"/>
            <p:cNvSpPr>
              <a:spLocks noChangeShapeType="1"/>
            </p:cNvSpPr>
            <p:nvPr>
              <p:custDataLst>
                <p:tags r:id="rId11"/>
              </p:custDataLst>
            </p:nvPr>
          </p:nvSpPr>
          <p:spPr bwMode="auto">
            <a:xfrm flipH="1">
              <a:off x="1545" y="9189"/>
              <a:ext cx="336" cy="0"/>
            </a:xfrm>
            <a:prstGeom prst="line">
              <a:avLst/>
            </a:prstGeom>
            <a:noFill/>
            <a:ln w="25400" cap="rnd">
              <a:solidFill>
                <a:schemeClr val="accent5">
                  <a:lumMod val="60000"/>
                  <a:lumOff val="40000"/>
                </a:schemeClr>
              </a:solidFill>
              <a:prstDash val="solid"/>
              <a:miter lim="800000"/>
            </a:ln>
            <a:extLst>
              <a:ext uri="{909E8E84-426E-40DD-AFC4-6F175D3DCCD1}">
                <a14:hiddenFill xmlns:a14="http://schemas.microsoft.com/office/drawing/2010/main">
                  <a:noFill/>
                </a14:hiddenFill>
              </a:ext>
            </a:extLst>
          </p:spPr>
          <p:txBody>
            <a:bodyPr vert="horz" wrap="square" lIns="91440" tIns="45720" rIns="91440" bIns="45720" numCol="1" anchor="t" anchorCtr="0" compatLnSpc="1"/>
            <a:lstStyle/>
            <a:p>
              <a:endParaRPr lang="en-US">
                <a:cs typeface="微软雅黑" panose="020B0503020204020204" charset="-122"/>
              </a:endParaRPr>
            </a:p>
          </p:txBody>
        </p:sp>
        <p:sp>
          <p:nvSpPr>
            <p:cNvPr id="139" name="TextBox 7"/>
            <p:cNvSpPr txBox="1"/>
            <p:nvPr>
              <p:custDataLst>
                <p:tags r:id="rId12"/>
              </p:custDataLst>
            </p:nvPr>
          </p:nvSpPr>
          <p:spPr>
            <a:xfrm>
              <a:off x="1522" y="9402"/>
              <a:ext cx="3596" cy="455"/>
            </a:xfrm>
            <a:prstGeom prst="rect">
              <a:avLst/>
            </a:prstGeom>
            <a:noFill/>
          </p:spPr>
          <p:txBody>
            <a:bodyPr wrap="square" lIns="0" tIns="0" rIns="0" bIns="0" rtlCol="0">
              <a:spAutoFit/>
            </a:bodyPr>
            <a:lstStyle/>
            <a:p>
              <a:r>
                <a:rPr lang="en-US" altLang="zh-CN" sz="20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Result</a:t>
              </a:r>
              <a:r>
                <a:rPr lang="zh-CN" altLang="en-US" sz="20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：结果</a:t>
              </a:r>
              <a:endParaRPr lang="zh-CN" altLang="en-US" sz="2000" b="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sp>
        <p:nvSpPr>
          <p:cNvPr id="109" name="Freeform 5"/>
          <p:cNvSpPr/>
          <p:nvPr/>
        </p:nvSpPr>
        <p:spPr bwMode="auto">
          <a:xfrm>
            <a:off x="3692525" y="1338580"/>
            <a:ext cx="3513455" cy="1983105"/>
          </a:xfrm>
          <a:custGeom>
            <a:avLst/>
            <a:gdLst>
              <a:gd name="T0" fmla="*/ 1248 w 1248"/>
              <a:gd name="T1" fmla="*/ 705 h 705"/>
              <a:gd name="T2" fmla="*/ 1233 w 1248"/>
              <a:gd name="T3" fmla="*/ 519 h 705"/>
              <a:gd name="T4" fmla="*/ 1192 w 1248"/>
              <a:gd name="T5" fmla="*/ 567 h 705"/>
              <a:gd name="T6" fmla="*/ 1182 w 1248"/>
              <a:gd name="T7" fmla="*/ 542 h 705"/>
              <a:gd name="T8" fmla="*/ 623 w 1248"/>
              <a:gd name="T9" fmla="*/ 281 h 705"/>
              <a:gd name="T10" fmla="*/ 312 w 1248"/>
              <a:gd name="T11" fmla="*/ 0 h 705"/>
              <a:gd name="T12" fmla="*/ 0 w 1248"/>
              <a:gd name="T13" fmla="*/ 312 h 705"/>
              <a:gd name="T14" fmla="*/ 226 w 1248"/>
              <a:gd name="T15" fmla="*/ 612 h 705"/>
              <a:gd name="T16" fmla="*/ 226 w 1248"/>
              <a:gd name="T17" fmla="*/ 612 h 705"/>
              <a:gd name="T18" fmla="*/ 250 w 1248"/>
              <a:gd name="T19" fmla="*/ 618 h 705"/>
              <a:gd name="T20" fmla="*/ 251 w 1248"/>
              <a:gd name="T21" fmla="*/ 618 h 705"/>
              <a:gd name="T22" fmla="*/ 251 w 1248"/>
              <a:gd name="T23" fmla="*/ 618 h 705"/>
              <a:gd name="T24" fmla="*/ 511 w 1248"/>
              <a:gd name="T25" fmla="*/ 368 h 705"/>
              <a:gd name="T26" fmla="*/ 627 w 1248"/>
              <a:gd name="T27" fmla="*/ 328 h 705"/>
              <a:gd name="T28" fmla="*/ 1181 w 1248"/>
              <a:gd name="T29" fmla="*/ 571 h 705"/>
              <a:gd name="T30" fmla="*/ 1117 w 1248"/>
              <a:gd name="T31" fmla="*/ 572 h 705"/>
              <a:gd name="T32" fmla="*/ 1248 w 1248"/>
              <a:gd name="T33" fmla="*/ 705 h 7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48" h="705">
                <a:moveTo>
                  <a:pt x="1248" y="705"/>
                </a:moveTo>
                <a:cubicBezTo>
                  <a:pt x="1233" y="519"/>
                  <a:pt x="1233" y="519"/>
                  <a:pt x="1233" y="519"/>
                </a:cubicBezTo>
                <a:cubicBezTo>
                  <a:pt x="1192" y="567"/>
                  <a:pt x="1192" y="567"/>
                  <a:pt x="1192" y="567"/>
                </a:cubicBezTo>
                <a:cubicBezTo>
                  <a:pt x="1188" y="556"/>
                  <a:pt x="1187" y="553"/>
                  <a:pt x="1182" y="542"/>
                </a:cubicBezTo>
                <a:cubicBezTo>
                  <a:pt x="1087" y="335"/>
                  <a:pt x="851" y="233"/>
                  <a:pt x="623" y="281"/>
                </a:cubicBezTo>
                <a:cubicBezTo>
                  <a:pt x="607" y="123"/>
                  <a:pt x="474" y="0"/>
                  <a:pt x="312" y="0"/>
                </a:cubicBezTo>
                <a:cubicBezTo>
                  <a:pt x="140" y="0"/>
                  <a:pt x="0" y="139"/>
                  <a:pt x="0" y="312"/>
                </a:cubicBezTo>
                <a:cubicBezTo>
                  <a:pt x="0" y="454"/>
                  <a:pt x="96" y="574"/>
                  <a:pt x="226" y="612"/>
                </a:cubicBezTo>
                <a:cubicBezTo>
                  <a:pt x="226" y="612"/>
                  <a:pt x="226" y="612"/>
                  <a:pt x="226" y="612"/>
                </a:cubicBezTo>
                <a:cubicBezTo>
                  <a:pt x="234" y="614"/>
                  <a:pt x="242" y="616"/>
                  <a:pt x="250" y="618"/>
                </a:cubicBezTo>
                <a:cubicBezTo>
                  <a:pt x="251" y="618"/>
                  <a:pt x="251" y="618"/>
                  <a:pt x="251" y="618"/>
                </a:cubicBezTo>
                <a:cubicBezTo>
                  <a:pt x="251" y="618"/>
                  <a:pt x="251" y="618"/>
                  <a:pt x="251" y="618"/>
                </a:cubicBezTo>
                <a:cubicBezTo>
                  <a:pt x="303" y="513"/>
                  <a:pt x="393" y="423"/>
                  <a:pt x="511" y="368"/>
                </a:cubicBezTo>
                <a:cubicBezTo>
                  <a:pt x="580" y="336"/>
                  <a:pt x="626" y="328"/>
                  <a:pt x="627" y="328"/>
                </a:cubicBezTo>
                <a:cubicBezTo>
                  <a:pt x="853" y="278"/>
                  <a:pt x="1082" y="370"/>
                  <a:pt x="1181" y="571"/>
                </a:cubicBezTo>
                <a:cubicBezTo>
                  <a:pt x="1117" y="572"/>
                  <a:pt x="1117" y="572"/>
                  <a:pt x="1117" y="572"/>
                </a:cubicBezTo>
                <a:lnTo>
                  <a:pt x="1248" y="705"/>
                </a:lnTo>
                <a:close/>
              </a:path>
            </a:pathLst>
          </a:custGeom>
          <a:solidFill>
            <a:schemeClr val="accent1"/>
          </a:solidFill>
          <a:ln w="25400">
            <a:noFill/>
            <a:miter lim="800000"/>
          </a:ln>
          <a:effectLst/>
        </p:spPr>
        <p:txBody>
          <a:bodyPr vert="horz" wrap="square" lIns="161283" tIns="20160" rIns="40320" bIns="161283" numCol="1" anchor="ctr"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64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0" name="Freeform 8"/>
          <p:cNvSpPr/>
          <p:nvPr/>
        </p:nvSpPr>
        <p:spPr bwMode="auto">
          <a:xfrm>
            <a:off x="4968875" y="4330700"/>
            <a:ext cx="3575050" cy="1894205"/>
          </a:xfrm>
          <a:custGeom>
            <a:avLst/>
            <a:gdLst>
              <a:gd name="T0" fmla="*/ 0 w 1270"/>
              <a:gd name="T1" fmla="*/ 0 h 673"/>
              <a:gd name="T2" fmla="*/ 22 w 1270"/>
              <a:gd name="T3" fmla="*/ 185 h 673"/>
              <a:gd name="T4" fmla="*/ 62 w 1270"/>
              <a:gd name="T5" fmla="*/ 136 h 673"/>
              <a:gd name="T6" fmla="*/ 73 w 1270"/>
              <a:gd name="T7" fmla="*/ 161 h 673"/>
              <a:gd name="T8" fmla="*/ 642 w 1270"/>
              <a:gd name="T9" fmla="*/ 398 h 673"/>
              <a:gd name="T10" fmla="*/ 964 w 1270"/>
              <a:gd name="T11" fmla="*/ 666 h 673"/>
              <a:gd name="T12" fmla="*/ 1263 w 1270"/>
              <a:gd name="T13" fmla="*/ 342 h 673"/>
              <a:gd name="T14" fmla="*/ 1025 w 1270"/>
              <a:gd name="T15" fmla="*/ 51 h 673"/>
              <a:gd name="T16" fmla="*/ 1025 w 1270"/>
              <a:gd name="T17" fmla="*/ 51 h 673"/>
              <a:gd name="T18" fmla="*/ 1000 w 1270"/>
              <a:gd name="T19" fmla="*/ 46 h 673"/>
              <a:gd name="T20" fmla="*/ 1000 w 1270"/>
              <a:gd name="T21" fmla="*/ 46 h 673"/>
              <a:gd name="T22" fmla="*/ 999 w 1270"/>
              <a:gd name="T23" fmla="*/ 46 h 673"/>
              <a:gd name="T24" fmla="*/ 750 w 1270"/>
              <a:gd name="T25" fmla="*/ 306 h 673"/>
              <a:gd name="T26" fmla="*/ 636 w 1270"/>
              <a:gd name="T27" fmla="*/ 351 h 673"/>
              <a:gd name="T28" fmla="*/ 72 w 1270"/>
              <a:gd name="T29" fmla="*/ 131 h 673"/>
              <a:gd name="T30" fmla="*/ 136 w 1270"/>
              <a:gd name="T31" fmla="*/ 127 h 673"/>
              <a:gd name="T32" fmla="*/ 0 w 1270"/>
              <a:gd name="T33" fmla="*/ 0 h 6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270" h="673">
                <a:moveTo>
                  <a:pt x="0" y="0"/>
                </a:moveTo>
                <a:cubicBezTo>
                  <a:pt x="22" y="185"/>
                  <a:pt x="22" y="185"/>
                  <a:pt x="22" y="185"/>
                </a:cubicBezTo>
                <a:cubicBezTo>
                  <a:pt x="62" y="136"/>
                  <a:pt x="62" y="136"/>
                  <a:pt x="62" y="136"/>
                </a:cubicBezTo>
                <a:cubicBezTo>
                  <a:pt x="66" y="147"/>
                  <a:pt x="67" y="150"/>
                  <a:pt x="73" y="161"/>
                </a:cubicBezTo>
                <a:cubicBezTo>
                  <a:pt x="176" y="363"/>
                  <a:pt x="416" y="456"/>
                  <a:pt x="642" y="398"/>
                </a:cubicBezTo>
                <a:cubicBezTo>
                  <a:pt x="664" y="555"/>
                  <a:pt x="802" y="673"/>
                  <a:pt x="964" y="666"/>
                </a:cubicBezTo>
                <a:cubicBezTo>
                  <a:pt x="1136" y="659"/>
                  <a:pt x="1270" y="514"/>
                  <a:pt x="1263" y="342"/>
                </a:cubicBezTo>
                <a:cubicBezTo>
                  <a:pt x="1257" y="199"/>
                  <a:pt x="1156" y="83"/>
                  <a:pt x="1025" y="51"/>
                </a:cubicBezTo>
                <a:cubicBezTo>
                  <a:pt x="1025" y="51"/>
                  <a:pt x="1025" y="51"/>
                  <a:pt x="1025" y="51"/>
                </a:cubicBezTo>
                <a:cubicBezTo>
                  <a:pt x="1017" y="49"/>
                  <a:pt x="1008" y="47"/>
                  <a:pt x="1000" y="46"/>
                </a:cubicBezTo>
                <a:cubicBezTo>
                  <a:pt x="1000" y="46"/>
                  <a:pt x="1000" y="46"/>
                  <a:pt x="1000" y="46"/>
                </a:cubicBezTo>
                <a:cubicBezTo>
                  <a:pt x="1000" y="46"/>
                  <a:pt x="999" y="46"/>
                  <a:pt x="999" y="46"/>
                </a:cubicBezTo>
                <a:cubicBezTo>
                  <a:pt x="951" y="153"/>
                  <a:pt x="865" y="247"/>
                  <a:pt x="750" y="306"/>
                </a:cubicBezTo>
                <a:cubicBezTo>
                  <a:pt x="682" y="341"/>
                  <a:pt x="637" y="351"/>
                  <a:pt x="636" y="351"/>
                </a:cubicBezTo>
                <a:cubicBezTo>
                  <a:pt x="412" y="411"/>
                  <a:pt x="179" y="328"/>
                  <a:pt x="72" y="131"/>
                </a:cubicBezTo>
                <a:cubicBezTo>
                  <a:pt x="136" y="127"/>
                  <a:pt x="136" y="127"/>
                  <a:pt x="136" y="127"/>
                </a:cubicBezTo>
                <a:lnTo>
                  <a:pt x="0" y="0"/>
                </a:lnTo>
                <a:close/>
              </a:path>
            </a:pathLst>
          </a:custGeom>
          <a:solidFill>
            <a:schemeClr val="accent5"/>
          </a:solidFill>
          <a:ln w="25400">
            <a:noFill/>
            <a:miter lim="800000"/>
          </a:ln>
          <a:effectLst/>
        </p:spPr>
        <p:txBody>
          <a:bodyPr vert="horz" wrap="square" lIns="725774" tIns="120962" rIns="40320" bIns="0" numCol="1" anchor="ctr"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64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1" name="Freeform 9"/>
          <p:cNvSpPr/>
          <p:nvPr/>
        </p:nvSpPr>
        <p:spPr bwMode="auto">
          <a:xfrm>
            <a:off x="3692525" y="2647315"/>
            <a:ext cx="1892300" cy="3577590"/>
          </a:xfrm>
          <a:custGeom>
            <a:avLst/>
            <a:gdLst>
              <a:gd name="T0" fmla="*/ 672 w 672"/>
              <a:gd name="T1" fmla="*/ 0 h 1271"/>
              <a:gd name="T2" fmla="*/ 487 w 672"/>
              <a:gd name="T3" fmla="*/ 23 h 1271"/>
              <a:gd name="T4" fmla="*/ 536 w 672"/>
              <a:gd name="T5" fmla="*/ 62 h 1271"/>
              <a:gd name="T6" fmla="*/ 511 w 672"/>
              <a:gd name="T7" fmla="*/ 73 h 1271"/>
              <a:gd name="T8" fmla="*/ 274 w 672"/>
              <a:gd name="T9" fmla="*/ 643 h 1271"/>
              <a:gd name="T10" fmla="*/ 6 w 672"/>
              <a:gd name="T11" fmla="*/ 965 h 1271"/>
              <a:gd name="T12" fmla="*/ 331 w 672"/>
              <a:gd name="T13" fmla="*/ 1264 h 1271"/>
              <a:gd name="T14" fmla="*/ 622 w 672"/>
              <a:gd name="T15" fmla="*/ 1025 h 1271"/>
              <a:gd name="T16" fmla="*/ 622 w 672"/>
              <a:gd name="T17" fmla="*/ 1025 h 1271"/>
              <a:gd name="T18" fmla="*/ 627 w 672"/>
              <a:gd name="T19" fmla="*/ 1000 h 1271"/>
              <a:gd name="T20" fmla="*/ 627 w 672"/>
              <a:gd name="T21" fmla="*/ 1000 h 1271"/>
              <a:gd name="T22" fmla="*/ 627 w 672"/>
              <a:gd name="T23" fmla="*/ 1000 h 1271"/>
              <a:gd name="T24" fmla="*/ 366 w 672"/>
              <a:gd name="T25" fmla="*/ 750 h 1271"/>
              <a:gd name="T26" fmla="*/ 321 w 672"/>
              <a:gd name="T27" fmla="*/ 637 h 1271"/>
              <a:gd name="T28" fmla="*/ 540 w 672"/>
              <a:gd name="T29" fmla="*/ 73 h 1271"/>
              <a:gd name="T30" fmla="*/ 545 w 672"/>
              <a:gd name="T31" fmla="*/ 137 h 1271"/>
              <a:gd name="T32" fmla="*/ 672 w 672"/>
              <a:gd name="T33" fmla="*/ 0 h 1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72" h="1271">
                <a:moveTo>
                  <a:pt x="672" y="0"/>
                </a:moveTo>
                <a:cubicBezTo>
                  <a:pt x="487" y="23"/>
                  <a:pt x="487" y="23"/>
                  <a:pt x="487" y="23"/>
                </a:cubicBezTo>
                <a:cubicBezTo>
                  <a:pt x="536" y="62"/>
                  <a:pt x="536" y="62"/>
                  <a:pt x="536" y="62"/>
                </a:cubicBezTo>
                <a:cubicBezTo>
                  <a:pt x="525" y="67"/>
                  <a:pt x="522" y="68"/>
                  <a:pt x="511" y="73"/>
                </a:cubicBezTo>
                <a:cubicBezTo>
                  <a:pt x="309" y="177"/>
                  <a:pt x="216" y="417"/>
                  <a:pt x="274" y="643"/>
                </a:cubicBezTo>
                <a:cubicBezTo>
                  <a:pt x="117" y="665"/>
                  <a:pt x="0" y="803"/>
                  <a:pt x="6" y="965"/>
                </a:cubicBezTo>
                <a:cubicBezTo>
                  <a:pt x="14" y="1137"/>
                  <a:pt x="159" y="1271"/>
                  <a:pt x="331" y="1264"/>
                </a:cubicBezTo>
                <a:cubicBezTo>
                  <a:pt x="474" y="1258"/>
                  <a:pt x="590" y="1157"/>
                  <a:pt x="622" y="1025"/>
                </a:cubicBezTo>
                <a:cubicBezTo>
                  <a:pt x="622" y="1025"/>
                  <a:pt x="622" y="1025"/>
                  <a:pt x="622" y="1025"/>
                </a:cubicBezTo>
                <a:cubicBezTo>
                  <a:pt x="624" y="1017"/>
                  <a:pt x="625" y="1009"/>
                  <a:pt x="627" y="1000"/>
                </a:cubicBezTo>
                <a:cubicBezTo>
                  <a:pt x="627" y="1000"/>
                  <a:pt x="627" y="1000"/>
                  <a:pt x="627" y="1000"/>
                </a:cubicBezTo>
                <a:cubicBezTo>
                  <a:pt x="627" y="1000"/>
                  <a:pt x="627" y="1000"/>
                  <a:pt x="627" y="1000"/>
                </a:cubicBezTo>
                <a:cubicBezTo>
                  <a:pt x="520" y="952"/>
                  <a:pt x="426" y="866"/>
                  <a:pt x="366" y="750"/>
                </a:cubicBezTo>
                <a:cubicBezTo>
                  <a:pt x="331" y="683"/>
                  <a:pt x="322" y="638"/>
                  <a:pt x="321" y="637"/>
                </a:cubicBezTo>
                <a:cubicBezTo>
                  <a:pt x="261" y="413"/>
                  <a:pt x="344" y="180"/>
                  <a:pt x="540" y="73"/>
                </a:cubicBezTo>
                <a:cubicBezTo>
                  <a:pt x="545" y="137"/>
                  <a:pt x="545" y="137"/>
                  <a:pt x="545" y="137"/>
                </a:cubicBezTo>
                <a:lnTo>
                  <a:pt x="672" y="0"/>
                </a:lnTo>
                <a:close/>
              </a:path>
            </a:pathLst>
          </a:custGeom>
          <a:solidFill>
            <a:schemeClr val="accent5">
              <a:lumMod val="60000"/>
              <a:lumOff val="40000"/>
            </a:schemeClr>
          </a:solidFill>
          <a:ln w="25400">
            <a:noFill/>
            <a:miter lim="800000"/>
          </a:ln>
          <a:effectLst/>
        </p:spPr>
        <p:txBody>
          <a:bodyPr vert="horz" wrap="square" lIns="40320" tIns="20160" rIns="120962" bIns="161283" numCol="1" anchor="b"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64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2" name="Freeform 7"/>
          <p:cNvSpPr/>
          <p:nvPr/>
        </p:nvSpPr>
        <p:spPr bwMode="auto">
          <a:xfrm>
            <a:off x="6559550" y="1338580"/>
            <a:ext cx="1985010" cy="3516630"/>
          </a:xfrm>
          <a:custGeom>
            <a:avLst/>
            <a:gdLst>
              <a:gd name="T0" fmla="*/ 0 w 705"/>
              <a:gd name="T1" fmla="*/ 1249 h 1249"/>
              <a:gd name="T2" fmla="*/ 186 w 705"/>
              <a:gd name="T3" fmla="*/ 1234 h 1249"/>
              <a:gd name="T4" fmla="*/ 139 w 705"/>
              <a:gd name="T5" fmla="*/ 1192 h 1249"/>
              <a:gd name="T6" fmla="*/ 164 w 705"/>
              <a:gd name="T7" fmla="*/ 1182 h 1249"/>
              <a:gd name="T8" fmla="*/ 424 w 705"/>
              <a:gd name="T9" fmla="*/ 623 h 1249"/>
              <a:gd name="T10" fmla="*/ 705 w 705"/>
              <a:gd name="T11" fmla="*/ 312 h 1249"/>
              <a:gd name="T12" fmla="*/ 393 w 705"/>
              <a:gd name="T13" fmla="*/ 0 h 1249"/>
              <a:gd name="T14" fmla="*/ 93 w 705"/>
              <a:gd name="T15" fmla="*/ 227 h 1249"/>
              <a:gd name="T16" fmla="*/ 93 w 705"/>
              <a:gd name="T17" fmla="*/ 227 h 1249"/>
              <a:gd name="T18" fmla="*/ 87 w 705"/>
              <a:gd name="T19" fmla="*/ 251 h 1249"/>
              <a:gd name="T20" fmla="*/ 87 w 705"/>
              <a:gd name="T21" fmla="*/ 251 h 1249"/>
              <a:gd name="T22" fmla="*/ 87 w 705"/>
              <a:gd name="T23" fmla="*/ 252 h 1249"/>
              <a:gd name="T24" fmla="*/ 337 w 705"/>
              <a:gd name="T25" fmla="*/ 512 h 1249"/>
              <a:gd name="T26" fmla="*/ 377 w 705"/>
              <a:gd name="T27" fmla="*/ 627 h 1249"/>
              <a:gd name="T28" fmla="*/ 135 w 705"/>
              <a:gd name="T29" fmla="*/ 1182 h 1249"/>
              <a:gd name="T30" fmla="*/ 133 w 705"/>
              <a:gd name="T31" fmla="*/ 1118 h 1249"/>
              <a:gd name="T32" fmla="*/ 0 w 705"/>
              <a:gd name="T33" fmla="*/ 1249 h 12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05" h="1249">
                <a:moveTo>
                  <a:pt x="0" y="1249"/>
                </a:moveTo>
                <a:cubicBezTo>
                  <a:pt x="186" y="1234"/>
                  <a:pt x="186" y="1234"/>
                  <a:pt x="186" y="1234"/>
                </a:cubicBezTo>
                <a:cubicBezTo>
                  <a:pt x="139" y="1192"/>
                  <a:pt x="139" y="1192"/>
                  <a:pt x="139" y="1192"/>
                </a:cubicBezTo>
                <a:cubicBezTo>
                  <a:pt x="150" y="1188"/>
                  <a:pt x="153" y="1187"/>
                  <a:pt x="164" y="1182"/>
                </a:cubicBezTo>
                <a:cubicBezTo>
                  <a:pt x="370" y="1087"/>
                  <a:pt x="473" y="851"/>
                  <a:pt x="424" y="623"/>
                </a:cubicBezTo>
                <a:cubicBezTo>
                  <a:pt x="582" y="608"/>
                  <a:pt x="705" y="474"/>
                  <a:pt x="705" y="312"/>
                </a:cubicBezTo>
                <a:cubicBezTo>
                  <a:pt x="705" y="140"/>
                  <a:pt x="565" y="0"/>
                  <a:pt x="393" y="0"/>
                </a:cubicBezTo>
                <a:cubicBezTo>
                  <a:pt x="250" y="1"/>
                  <a:pt x="130" y="96"/>
                  <a:pt x="93" y="227"/>
                </a:cubicBezTo>
                <a:cubicBezTo>
                  <a:pt x="93" y="227"/>
                  <a:pt x="93" y="227"/>
                  <a:pt x="93" y="227"/>
                </a:cubicBezTo>
                <a:cubicBezTo>
                  <a:pt x="90" y="235"/>
                  <a:pt x="88" y="243"/>
                  <a:pt x="87" y="251"/>
                </a:cubicBezTo>
                <a:cubicBezTo>
                  <a:pt x="87" y="251"/>
                  <a:pt x="87" y="251"/>
                  <a:pt x="87" y="251"/>
                </a:cubicBezTo>
                <a:cubicBezTo>
                  <a:pt x="87" y="252"/>
                  <a:pt x="87" y="252"/>
                  <a:pt x="87" y="252"/>
                </a:cubicBezTo>
                <a:cubicBezTo>
                  <a:pt x="192" y="304"/>
                  <a:pt x="282" y="394"/>
                  <a:pt x="337" y="512"/>
                </a:cubicBezTo>
                <a:cubicBezTo>
                  <a:pt x="369" y="580"/>
                  <a:pt x="377" y="626"/>
                  <a:pt x="377" y="627"/>
                </a:cubicBezTo>
                <a:cubicBezTo>
                  <a:pt x="428" y="854"/>
                  <a:pt x="336" y="1083"/>
                  <a:pt x="135" y="1182"/>
                </a:cubicBezTo>
                <a:cubicBezTo>
                  <a:pt x="133" y="1118"/>
                  <a:pt x="133" y="1118"/>
                  <a:pt x="133" y="1118"/>
                </a:cubicBezTo>
                <a:lnTo>
                  <a:pt x="0" y="1249"/>
                </a:lnTo>
                <a:close/>
              </a:path>
            </a:pathLst>
          </a:custGeom>
          <a:solidFill>
            <a:schemeClr val="accent1">
              <a:lumMod val="60000"/>
              <a:lumOff val="40000"/>
            </a:schemeClr>
          </a:solidFill>
          <a:ln w="25400">
            <a:noFill/>
            <a:miter lim="800000"/>
          </a:ln>
          <a:effectLst/>
        </p:spPr>
        <p:txBody>
          <a:bodyPr vert="horz" wrap="square" lIns="161283" tIns="0" rIns="40320" bIns="685453" numCol="1" anchor="ctr"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645"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3" name="椭圆 112"/>
          <p:cNvSpPr/>
          <p:nvPr/>
        </p:nvSpPr>
        <p:spPr>
          <a:xfrm>
            <a:off x="5169535" y="2851150"/>
            <a:ext cx="1844675" cy="1844675"/>
          </a:xfrm>
          <a:prstGeom prst="ellipse">
            <a:avLst/>
          </a:prstGeom>
          <a:solidFill>
            <a:schemeClr val="bg1"/>
          </a:solidFill>
          <a:ln w="25400" cap="flat" cmpd="sng" algn="ctr">
            <a:solidFill>
              <a:schemeClr val="accent5"/>
            </a:solidFill>
            <a:prstDash val="solid"/>
            <a:miter lim="800000"/>
          </a:ln>
          <a:effectLst>
            <a:outerShdw blurRad="50800" dist="38100" dir="2700000" algn="tl" rotWithShape="0">
              <a:schemeClr val="accent5">
                <a:alpha val="34000"/>
              </a:schemeClr>
            </a:outerShdw>
          </a:effectLst>
        </p:spPr>
        <p:txBody>
          <a:bodyPr rtlCol="0" anchor="ctr"/>
          <a:lstStyle/>
          <a:p>
            <a:pPr algn="ctr"/>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11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5169535" y="3258185"/>
            <a:ext cx="1844675" cy="967740"/>
          </a:xfrm>
          <a:prstGeom prst="rect">
            <a:avLst/>
          </a:prstGeom>
          <a:ln w="12700">
            <a:miter lim="400000"/>
          </a:ln>
        </p:spPr>
        <p:txBody>
          <a:bodyPr wrap="square" lIns="22400" tIns="22400" rIns="22400" bIns="22400">
            <a:spAutoFit/>
          </a:bodyPr>
          <a:lstStyle>
            <a:lvl1pPr>
              <a:lnSpc>
                <a:spcPct val="130000"/>
              </a:lnSpc>
              <a:defRPr sz="2000">
                <a:solidFill>
                  <a:srgbClr val="F7F5F6"/>
                </a:solidFill>
                <a:latin typeface="Barlow Medium" panose="00000600000000000000"/>
                <a:ea typeface="Barlow Medium" panose="00000600000000000000"/>
                <a:cs typeface="Barlow Medium" panose="00000600000000000000"/>
                <a:sym typeface="Barlow Medium" panose="00000600000000000000"/>
              </a:defRPr>
            </a:lvl1pPr>
          </a:lstStyle>
          <a:p>
            <a:pPr indent="0" algn="ctr" fontAlgn="auto">
              <a:lnSpc>
                <a:spcPct val="100000"/>
              </a:lnSpc>
            </a:pPr>
            <a:r>
              <a:rPr lang="en-US" altLang="zh-CN" sz="30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STAR</a:t>
            </a:r>
            <a:endParaRPr lang="en-US" altLang="zh-CN" sz="30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indent="0" algn="ctr" fontAlgn="auto">
              <a:lnSpc>
                <a:spcPct val="100000"/>
              </a:lnSpc>
            </a:pPr>
            <a:r>
              <a:rPr lang="zh-CN" altLang="en-US" sz="30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复盘法</a:t>
            </a:r>
            <a:endParaRPr lang="zh-CN" altLang="en-US" sz="30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15" name="组合 114"/>
          <p:cNvGrpSpPr/>
          <p:nvPr/>
        </p:nvGrpSpPr>
        <p:grpSpPr>
          <a:xfrm rot="0">
            <a:off x="3998595" y="1565275"/>
            <a:ext cx="1113155" cy="706755"/>
            <a:chOff x="7815" y="28528"/>
            <a:chExt cx="1646" cy="1045"/>
          </a:xfrm>
        </p:grpSpPr>
        <p:sp>
          <p:nvSpPr>
            <p:cNvPr id="135" name="文本框 134"/>
            <p:cNvSpPr txBox="1"/>
            <p:nvPr/>
          </p:nvSpPr>
          <p:spPr>
            <a:xfrm>
              <a:off x="7815" y="28528"/>
              <a:ext cx="732" cy="1045"/>
            </a:xfrm>
            <a:prstGeom prst="rect">
              <a:avLst/>
            </a:prstGeom>
            <a:noFill/>
          </p:spPr>
          <p:txBody>
            <a:bodyPr wrap="square" rtlCol="0">
              <a:spAutoFit/>
            </a:bodyPr>
            <a:lstStyle/>
            <a:p>
              <a:r>
                <a:rPr kumimoji="1" lang="en-US" altLang="zh-CN" sz="4000" b="1" dirty="0">
                  <a:solidFill>
                    <a:srgbClr val="FEFFFF"/>
                  </a:solidFill>
                  <a:latin typeface="微软雅黑" panose="020B0503020204020204" charset="-122"/>
                  <a:ea typeface="微软雅黑" panose="020B0503020204020204" charset="-122"/>
                  <a:cs typeface="微软雅黑" panose="020B0503020204020204" charset="-122"/>
                </a:rPr>
                <a:t>S</a:t>
              </a:r>
              <a:endParaRPr kumimoji="1" lang="en-US" altLang="zh-CN" sz="4000" b="1" dirty="0">
                <a:solidFill>
                  <a:srgbClr val="FEFFFF"/>
                </a:solidFill>
                <a:latin typeface="微软雅黑" panose="020B0503020204020204" charset="-122"/>
                <a:ea typeface="微软雅黑" panose="020B0503020204020204" charset="-122"/>
                <a:cs typeface="微软雅黑" panose="020B0503020204020204" charset="-122"/>
              </a:endParaRPr>
            </a:p>
          </p:txBody>
        </p:sp>
        <p:sp>
          <p:nvSpPr>
            <p:cNvPr id="136" name="文本框 135"/>
            <p:cNvSpPr txBox="1"/>
            <p:nvPr/>
          </p:nvSpPr>
          <p:spPr>
            <a:xfrm>
              <a:off x="8373" y="28918"/>
              <a:ext cx="1088" cy="581"/>
            </a:xfrm>
            <a:prstGeom prst="rect">
              <a:avLst/>
            </a:prstGeom>
            <a:noFill/>
          </p:spPr>
          <p:txBody>
            <a:bodyPr wrap="square" rtlCol="0">
              <a:spAutoFit/>
            </a:bodyPr>
            <a:lstStyle/>
            <a:p>
              <a:r>
                <a:rPr kumimoji="1" lang="zh-CN" altLang="en-US" sz="2000" dirty="0">
                  <a:solidFill>
                    <a:srgbClr val="FEFFFF"/>
                  </a:solidFill>
                  <a:latin typeface="微软雅黑" panose="020B0503020204020204" charset="-122"/>
                  <a:ea typeface="微软雅黑" panose="020B0503020204020204" charset="-122"/>
                  <a:cs typeface="微软雅黑" panose="020B0503020204020204" charset="-122"/>
                </a:rPr>
                <a:t>情境</a:t>
              </a:r>
              <a:endParaRPr kumimoji="1" lang="zh-CN" altLang="en-US" sz="2000" dirty="0">
                <a:solidFill>
                  <a:srgbClr val="FEFFFF"/>
                </a:solidFill>
                <a:latin typeface="微软雅黑" panose="020B0503020204020204" charset="-122"/>
                <a:ea typeface="微软雅黑" panose="020B0503020204020204" charset="-122"/>
                <a:cs typeface="微软雅黑" panose="020B0503020204020204" charset="-122"/>
              </a:endParaRPr>
            </a:p>
          </p:txBody>
        </p:sp>
      </p:grpSp>
      <p:grpSp>
        <p:nvGrpSpPr>
          <p:cNvPr id="116" name="组合 115"/>
          <p:cNvGrpSpPr/>
          <p:nvPr/>
        </p:nvGrpSpPr>
        <p:grpSpPr>
          <a:xfrm rot="0">
            <a:off x="7228840" y="1565275"/>
            <a:ext cx="1042670" cy="706755"/>
            <a:chOff x="11345" y="28528"/>
            <a:chExt cx="1542" cy="1045"/>
          </a:xfrm>
        </p:grpSpPr>
        <p:sp>
          <p:nvSpPr>
            <p:cNvPr id="133" name="文本框 132"/>
            <p:cNvSpPr txBox="1"/>
            <p:nvPr/>
          </p:nvSpPr>
          <p:spPr>
            <a:xfrm>
              <a:off x="12132" y="28528"/>
              <a:ext cx="755" cy="1045"/>
            </a:xfrm>
            <a:prstGeom prst="rect">
              <a:avLst/>
            </a:prstGeom>
            <a:noFill/>
          </p:spPr>
          <p:txBody>
            <a:bodyPr wrap="square" rtlCol="0">
              <a:spAutoFit/>
            </a:bodyPr>
            <a:lstStyle/>
            <a:p>
              <a:r>
                <a:rPr kumimoji="1" lang="en-US" altLang="zh-CN" sz="4000" b="1" dirty="0">
                  <a:solidFill>
                    <a:srgbClr val="FEFFFF"/>
                  </a:solidFill>
                  <a:latin typeface="微软雅黑" panose="020B0503020204020204" charset="-122"/>
                  <a:ea typeface="微软雅黑" panose="020B0503020204020204" charset="-122"/>
                  <a:cs typeface="微软雅黑" panose="020B0503020204020204" charset="-122"/>
                </a:rPr>
                <a:t>T</a:t>
              </a:r>
              <a:endParaRPr kumimoji="1" lang="en-US" altLang="zh-CN" sz="4000" b="1" dirty="0">
                <a:solidFill>
                  <a:srgbClr val="FEFFFF"/>
                </a:solidFill>
                <a:latin typeface="微软雅黑" panose="020B0503020204020204" charset="-122"/>
                <a:ea typeface="微软雅黑" panose="020B0503020204020204" charset="-122"/>
                <a:cs typeface="微软雅黑" panose="020B0503020204020204" charset="-122"/>
              </a:endParaRPr>
            </a:p>
          </p:txBody>
        </p:sp>
        <p:sp>
          <p:nvSpPr>
            <p:cNvPr id="134" name="文本框 133"/>
            <p:cNvSpPr txBox="1"/>
            <p:nvPr/>
          </p:nvSpPr>
          <p:spPr>
            <a:xfrm>
              <a:off x="11345" y="28919"/>
              <a:ext cx="1089" cy="581"/>
            </a:xfrm>
            <a:prstGeom prst="rect">
              <a:avLst/>
            </a:prstGeom>
            <a:noFill/>
          </p:spPr>
          <p:txBody>
            <a:bodyPr wrap="square" rtlCol="0">
              <a:spAutoFit/>
            </a:bodyPr>
            <a:lstStyle/>
            <a:p>
              <a:r>
                <a:rPr kumimoji="1" lang="zh-CN" altLang="en-US" sz="2000" dirty="0">
                  <a:solidFill>
                    <a:srgbClr val="FEFFFF"/>
                  </a:solidFill>
                  <a:latin typeface="微软雅黑" panose="020B0503020204020204" charset="-122"/>
                  <a:ea typeface="微软雅黑" panose="020B0503020204020204" charset="-122"/>
                  <a:cs typeface="微软雅黑" panose="020B0503020204020204" charset="-122"/>
                </a:rPr>
                <a:t>任务</a:t>
              </a:r>
              <a:endParaRPr kumimoji="1" lang="zh-CN" altLang="en-US" sz="2000" dirty="0">
                <a:solidFill>
                  <a:srgbClr val="FEFFFF"/>
                </a:solidFill>
                <a:latin typeface="微软雅黑" panose="020B0503020204020204" charset="-122"/>
                <a:ea typeface="微软雅黑" panose="020B0503020204020204" charset="-122"/>
                <a:cs typeface="微软雅黑" panose="020B0503020204020204" charset="-122"/>
              </a:endParaRPr>
            </a:p>
          </p:txBody>
        </p:sp>
      </p:grpSp>
      <p:grpSp>
        <p:nvGrpSpPr>
          <p:cNvPr id="117" name="组合 116"/>
          <p:cNvGrpSpPr/>
          <p:nvPr/>
        </p:nvGrpSpPr>
        <p:grpSpPr>
          <a:xfrm rot="0">
            <a:off x="7087235" y="5198110"/>
            <a:ext cx="1165860" cy="706755"/>
            <a:chOff x="11233" y="32426"/>
            <a:chExt cx="1724" cy="1045"/>
          </a:xfrm>
        </p:grpSpPr>
        <p:sp>
          <p:nvSpPr>
            <p:cNvPr id="131" name="文本框 130"/>
            <p:cNvSpPr txBox="1"/>
            <p:nvPr/>
          </p:nvSpPr>
          <p:spPr>
            <a:xfrm>
              <a:off x="12132" y="32426"/>
              <a:ext cx="825" cy="1045"/>
            </a:xfrm>
            <a:prstGeom prst="rect">
              <a:avLst/>
            </a:prstGeom>
            <a:noFill/>
          </p:spPr>
          <p:txBody>
            <a:bodyPr wrap="square" rtlCol="0">
              <a:spAutoFit/>
            </a:bodyPr>
            <a:lstStyle/>
            <a:p>
              <a:r>
                <a:rPr kumimoji="1" lang="en-US" altLang="zh-CN" sz="4000" b="1" dirty="0">
                  <a:solidFill>
                    <a:srgbClr val="FEFFFF"/>
                  </a:solidFill>
                  <a:latin typeface="微软雅黑" panose="020B0503020204020204" charset="-122"/>
                  <a:ea typeface="微软雅黑" panose="020B0503020204020204" charset="-122"/>
                  <a:cs typeface="微软雅黑" panose="020B0503020204020204" charset="-122"/>
                </a:rPr>
                <a:t>A</a:t>
              </a:r>
              <a:endParaRPr kumimoji="1" lang="en-US" altLang="zh-CN" sz="4000" b="1" dirty="0">
                <a:solidFill>
                  <a:srgbClr val="FEFFFF"/>
                </a:solidFill>
                <a:latin typeface="微软雅黑" panose="020B0503020204020204" charset="-122"/>
                <a:ea typeface="微软雅黑" panose="020B0503020204020204" charset="-122"/>
                <a:cs typeface="微软雅黑" panose="020B0503020204020204" charset="-122"/>
              </a:endParaRPr>
            </a:p>
          </p:txBody>
        </p:sp>
        <p:sp>
          <p:nvSpPr>
            <p:cNvPr id="132" name="文本框 131"/>
            <p:cNvSpPr txBox="1"/>
            <p:nvPr/>
          </p:nvSpPr>
          <p:spPr>
            <a:xfrm>
              <a:off x="11233" y="32484"/>
              <a:ext cx="1089" cy="581"/>
            </a:xfrm>
            <a:prstGeom prst="rect">
              <a:avLst/>
            </a:prstGeom>
            <a:noFill/>
          </p:spPr>
          <p:txBody>
            <a:bodyPr wrap="square" rtlCol="0">
              <a:spAutoFit/>
            </a:bodyPr>
            <a:lstStyle/>
            <a:p>
              <a:r>
                <a:rPr kumimoji="1" lang="zh-CN" altLang="en-US" sz="2000" dirty="0">
                  <a:solidFill>
                    <a:srgbClr val="FEFFFF"/>
                  </a:solidFill>
                  <a:latin typeface="微软雅黑" panose="020B0503020204020204" charset="-122"/>
                  <a:ea typeface="微软雅黑" panose="020B0503020204020204" charset="-122"/>
                  <a:cs typeface="微软雅黑" panose="020B0503020204020204" charset="-122"/>
                </a:rPr>
                <a:t>行动</a:t>
              </a:r>
              <a:endParaRPr kumimoji="1" lang="zh-CN" altLang="en-US" sz="2000" dirty="0">
                <a:solidFill>
                  <a:srgbClr val="FEFFFF"/>
                </a:solidFill>
                <a:latin typeface="微软雅黑" panose="020B0503020204020204" charset="-122"/>
                <a:ea typeface="微软雅黑" panose="020B0503020204020204" charset="-122"/>
                <a:cs typeface="微软雅黑" panose="020B0503020204020204" charset="-122"/>
              </a:endParaRPr>
            </a:p>
          </p:txBody>
        </p:sp>
      </p:grpSp>
      <p:grpSp>
        <p:nvGrpSpPr>
          <p:cNvPr id="118" name="组合 117"/>
          <p:cNvGrpSpPr/>
          <p:nvPr/>
        </p:nvGrpSpPr>
        <p:grpSpPr>
          <a:xfrm rot="0">
            <a:off x="3943985" y="5198110"/>
            <a:ext cx="1167765" cy="706755"/>
            <a:chOff x="16414" y="30709"/>
            <a:chExt cx="1727" cy="1045"/>
          </a:xfrm>
        </p:grpSpPr>
        <p:sp>
          <p:nvSpPr>
            <p:cNvPr id="129" name="文本框 128"/>
            <p:cNvSpPr txBox="1"/>
            <p:nvPr/>
          </p:nvSpPr>
          <p:spPr>
            <a:xfrm>
              <a:off x="16414" y="30709"/>
              <a:ext cx="813" cy="1045"/>
            </a:xfrm>
            <a:prstGeom prst="rect">
              <a:avLst/>
            </a:prstGeom>
            <a:noFill/>
          </p:spPr>
          <p:txBody>
            <a:bodyPr wrap="square" rtlCol="0">
              <a:spAutoFit/>
            </a:bodyPr>
            <a:lstStyle/>
            <a:p>
              <a:r>
                <a:rPr kumimoji="1" lang="en-US" altLang="zh-CN" sz="4000" b="1" dirty="0">
                  <a:solidFill>
                    <a:srgbClr val="FEFFFF"/>
                  </a:solidFill>
                  <a:latin typeface="微软雅黑" panose="020B0503020204020204" charset="-122"/>
                  <a:ea typeface="微软雅黑" panose="020B0503020204020204" charset="-122"/>
                  <a:cs typeface="微软雅黑" panose="020B0503020204020204" charset="-122"/>
                </a:rPr>
                <a:t>R</a:t>
              </a:r>
              <a:endParaRPr kumimoji="1" lang="en-US" altLang="zh-CN" sz="4000" b="1" dirty="0">
                <a:solidFill>
                  <a:srgbClr val="FEFFFF"/>
                </a:solidFill>
                <a:latin typeface="微软雅黑" panose="020B0503020204020204" charset="-122"/>
                <a:ea typeface="微软雅黑" panose="020B0503020204020204" charset="-122"/>
                <a:cs typeface="微软雅黑" panose="020B0503020204020204" charset="-122"/>
              </a:endParaRPr>
            </a:p>
          </p:txBody>
        </p:sp>
        <p:sp>
          <p:nvSpPr>
            <p:cNvPr id="130" name="文本框 129"/>
            <p:cNvSpPr txBox="1"/>
            <p:nvPr/>
          </p:nvSpPr>
          <p:spPr>
            <a:xfrm>
              <a:off x="17053" y="30767"/>
              <a:ext cx="1088" cy="581"/>
            </a:xfrm>
            <a:prstGeom prst="rect">
              <a:avLst/>
            </a:prstGeom>
            <a:noFill/>
          </p:spPr>
          <p:txBody>
            <a:bodyPr wrap="square" rtlCol="0">
              <a:spAutoFit/>
            </a:bodyPr>
            <a:lstStyle/>
            <a:p>
              <a:r>
                <a:rPr kumimoji="1" lang="zh-CN" altLang="en-US" sz="2000" dirty="0">
                  <a:solidFill>
                    <a:srgbClr val="FEFFFF"/>
                  </a:solidFill>
                  <a:latin typeface="微软雅黑" panose="020B0503020204020204" charset="-122"/>
                  <a:ea typeface="微软雅黑" panose="020B0503020204020204" charset="-122"/>
                  <a:cs typeface="微软雅黑" panose="020B0503020204020204" charset="-122"/>
                </a:rPr>
                <a:t>结果</a:t>
              </a:r>
              <a:endParaRPr kumimoji="1" lang="zh-CN" altLang="en-US" sz="2000" dirty="0">
                <a:solidFill>
                  <a:srgbClr val="FEFFFF"/>
                </a:solidFill>
                <a:latin typeface="微软雅黑" panose="020B0503020204020204" charset="-122"/>
                <a:ea typeface="微软雅黑" panose="020B0503020204020204" charset="-122"/>
                <a:cs typeface="微软雅黑" panose="020B0503020204020204" charset="-122"/>
              </a:endParaRPr>
            </a:p>
          </p:txBody>
        </p:sp>
      </p:grpSp>
      <p:sp>
        <p:nvSpPr>
          <p:cNvPr id="119" name="TextBox 6"/>
          <p:cNvSpPr txBox="1"/>
          <p:nvPr>
            <p:custDataLst>
              <p:tags r:id="rId13"/>
            </p:custDataLst>
          </p:nvPr>
        </p:nvSpPr>
        <p:spPr>
          <a:xfrm>
            <a:off x="1000760" y="2150110"/>
            <a:ext cx="2494915" cy="466725"/>
          </a:xfrm>
          <a:prstGeom prst="rect">
            <a:avLst/>
          </a:prstGeom>
          <a:noFill/>
        </p:spPr>
        <p:txBody>
          <a:bodyPr wrap="square" lIns="0" tIns="0" rIns="0" bIns="0" rtlCol="0">
            <a:spAutoFit/>
          </a:bodyPr>
          <a:lstStyle/>
          <a:p>
            <a:pPr indent="0" algn="l" fontAlgn="auto">
              <a:lnSpc>
                <a:spcPts val="1820"/>
              </a:lnSpc>
              <a:spcBef>
                <a:spcPts val="0"/>
              </a:spcBef>
              <a:spcAft>
                <a:spcPts val="0"/>
              </a:spcAft>
            </a:pPr>
            <a:r>
              <a:rPr lang="zh-CN" altLang="en-US" sz="1600" b="1" dirty="0" err="1">
                <a:solidFill>
                  <a:schemeClr val="accent1"/>
                </a:solidFill>
                <a:latin typeface="微软雅黑" panose="020B0503020204020204" charset="-122"/>
                <a:ea typeface="微软雅黑" panose="020B0503020204020204" charset="-122"/>
                <a:cs typeface="微软雅黑" panose="020B0503020204020204" charset="-122"/>
              </a:rPr>
              <a:t>定义：</a:t>
            </a:r>
            <a:r>
              <a:rPr lang="zh-CN" altLang="en-US" sz="1600" dirty="0" err="1">
                <a:solidFill>
                  <a:schemeClr val="tx2"/>
                </a:solidFill>
                <a:latin typeface="微软雅黑" panose="020B0503020204020204" charset="-122"/>
                <a:ea typeface="微软雅黑" panose="020B0503020204020204" charset="-122"/>
                <a:cs typeface="微软雅黑" panose="020B0503020204020204" charset="-122"/>
              </a:rPr>
              <a:t>明确事件发生的背景、环境和条件。</a:t>
            </a:r>
            <a:endParaRPr lang="zh-CN" altLang="en-US" sz="1600" dirty="0" err="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0" name="文本框 119"/>
          <p:cNvSpPr txBox="1"/>
          <p:nvPr/>
        </p:nvSpPr>
        <p:spPr>
          <a:xfrm>
            <a:off x="905510" y="2707640"/>
            <a:ext cx="2590165" cy="558165"/>
          </a:xfrm>
          <a:prstGeom prst="rect">
            <a:avLst/>
          </a:prstGeom>
          <a:noFill/>
        </p:spPr>
        <p:txBody>
          <a:bodyPr wrap="square" rtlCol="0" anchor="t">
            <a:spAutoFit/>
          </a:bodyPr>
          <a:lstStyle/>
          <a:p>
            <a:pPr indent="0" algn="l" fontAlgn="auto">
              <a:lnSpc>
                <a:spcPts val="1820"/>
              </a:lnSpc>
              <a:spcBef>
                <a:spcPts val="0"/>
              </a:spcBef>
              <a:spcAft>
                <a:spcPts val="0"/>
              </a:spcAft>
            </a:pPr>
            <a:r>
              <a:rPr lang="zh-CN" altLang="en-US" sz="1600" b="1" dirty="0" err="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关键问题：</a:t>
            </a:r>
            <a:r>
              <a:rPr lang="zh-CN" altLang="en-US" sz="1600" dirty="0" err="1">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当时发生了什么？有哪些外部因素影响？</a:t>
            </a:r>
            <a:endParaRPr lang="zh-CN" altLang="en-US" sz="1600" dirty="0" err="1">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1" name="TextBox 6"/>
          <p:cNvSpPr txBox="1"/>
          <p:nvPr>
            <p:custDataLst>
              <p:tags r:id="rId14"/>
            </p:custDataLst>
          </p:nvPr>
        </p:nvSpPr>
        <p:spPr>
          <a:xfrm>
            <a:off x="1049020" y="4254500"/>
            <a:ext cx="2642870" cy="466725"/>
          </a:xfrm>
          <a:prstGeom prst="rect">
            <a:avLst/>
          </a:prstGeom>
          <a:noFill/>
        </p:spPr>
        <p:txBody>
          <a:bodyPr wrap="square" lIns="0" tIns="0" rIns="0" bIns="0" rtlCol="0">
            <a:spAutoFit/>
          </a:bodyPr>
          <a:lstStyle/>
          <a:p>
            <a:pPr indent="0" algn="l" fontAlgn="auto">
              <a:lnSpc>
                <a:spcPts val="1820"/>
              </a:lnSpc>
              <a:spcBef>
                <a:spcPts val="0"/>
              </a:spcBef>
              <a:spcAft>
                <a:spcPts val="0"/>
              </a:spcAft>
            </a:pPr>
            <a:r>
              <a:rPr lang="zh-CN" altLang="en-US" sz="1600" b="1" dirty="0" err="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rPr>
              <a:t>定义：</a:t>
            </a:r>
            <a:r>
              <a:rPr lang="zh-CN" altLang="en-US" sz="1600" dirty="0" err="1">
                <a:solidFill>
                  <a:schemeClr val="tx2"/>
                </a:solidFill>
                <a:latin typeface="微软雅黑" panose="020B0503020204020204" charset="-122"/>
                <a:ea typeface="微软雅黑" panose="020B0503020204020204" charset="-122"/>
                <a:cs typeface="微软雅黑" panose="020B0503020204020204" charset="-122"/>
              </a:rPr>
              <a:t>评估最终成果，分析目标与实际的差距及原因。</a:t>
            </a:r>
            <a:endParaRPr lang="zh-CN" altLang="en-US" sz="1600" dirty="0" err="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2" name="文本框 121"/>
          <p:cNvSpPr txBox="1"/>
          <p:nvPr/>
        </p:nvSpPr>
        <p:spPr>
          <a:xfrm>
            <a:off x="953770" y="4812030"/>
            <a:ext cx="2590165" cy="558165"/>
          </a:xfrm>
          <a:prstGeom prst="rect">
            <a:avLst/>
          </a:prstGeom>
          <a:noFill/>
        </p:spPr>
        <p:txBody>
          <a:bodyPr wrap="square" rtlCol="0" anchor="t">
            <a:spAutoFit/>
          </a:bodyPr>
          <a:lstStyle/>
          <a:p>
            <a:pPr indent="0" algn="l" fontAlgn="auto">
              <a:lnSpc>
                <a:spcPts val="1820"/>
              </a:lnSpc>
              <a:spcBef>
                <a:spcPts val="0"/>
              </a:spcBef>
              <a:spcAft>
                <a:spcPts val="0"/>
              </a:spcAft>
            </a:pPr>
            <a:r>
              <a:rPr lang="zh-CN" altLang="en-US" sz="1600" b="1" dirty="0" err="1">
                <a:solidFill>
                  <a:schemeClr val="accent5">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关键问题：</a:t>
            </a:r>
            <a:r>
              <a:rPr lang="zh-CN" altLang="en-US" sz="1600" dirty="0" err="1">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是否达成预期？有哪些意外收获或教训？</a:t>
            </a:r>
            <a:endParaRPr lang="zh-CN" altLang="en-US" sz="1600" dirty="0" err="1">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3" name="TextBox 7"/>
          <p:cNvSpPr txBox="1"/>
          <p:nvPr>
            <p:custDataLst>
              <p:tags r:id="rId15"/>
            </p:custDataLst>
          </p:nvPr>
        </p:nvSpPr>
        <p:spPr>
          <a:xfrm>
            <a:off x="9803765" y="1518920"/>
            <a:ext cx="1901190" cy="307975"/>
          </a:xfrm>
          <a:prstGeom prst="rect">
            <a:avLst/>
          </a:prstGeom>
          <a:noFill/>
        </p:spPr>
        <p:txBody>
          <a:bodyPr wrap="square" lIns="0" tIns="0" rIns="0" bIns="0" rtlCol="0">
            <a:spAutoFit/>
          </a:bodyPr>
          <a:lstStyle/>
          <a:p>
            <a:r>
              <a:rPr lang="en-US" altLang="zh-CN" sz="20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Task</a:t>
            </a:r>
            <a:r>
              <a:rPr lang="zh-CN" altLang="en-US" sz="20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：任务</a:t>
            </a:r>
            <a:endParaRPr lang="zh-CN" altLang="en-US" sz="20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124" name="TextBox 6"/>
          <p:cNvSpPr txBox="1"/>
          <p:nvPr>
            <p:custDataLst>
              <p:tags r:id="rId16"/>
            </p:custDataLst>
          </p:nvPr>
        </p:nvSpPr>
        <p:spPr>
          <a:xfrm>
            <a:off x="8766175" y="2197735"/>
            <a:ext cx="2708910" cy="466725"/>
          </a:xfrm>
          <a:prstGeom prst="rect">
            <a:avLst/>
          </a:prstGeom>
          <a:noFill/>
        </p:spPr>
        <p:txBody>
          <a:bodyPr wrap="square" lIns="0" tIns="0" rIns="0" bIns="0" rtlCol="0">
            <a:spAutoFit/>
          </a:bodyPr>
          <a:lstStyle/>
          <a:p>
            <a:pPr indent="0" algn="l" fontAlgn="auto">
              <a:lnSpc>
                <a:spcPts val="1820"/>
              </a:lnSpc>
              <a:spcBef>
                <a:spcPts val="0"/>
              </a:spcBef>
              <a:spcAft>
                <a:spcPts val="0"/>
              </a:spcAft>
            </a:pPr>
            <a:r>
              <a:rPr lang="zh-CN" altLang="en-US" sz="16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定义：</a:t>
            </a:r>
            <a:r>
              <a:rPr lang="zh-CN" altLang="en-US" sz="1600" dirty="0" err="1">
                <a:solidFill>
                  <a:schemeClr val="tx2"/>
                </a:solidFill>
                <a:latin typeface="微软雅黑" panose="020B0503020204020204" charset="-122"/>
                <a:ea typeface="微软雅黑" panose="020B0503020204020204" charset="-122"/>
                <a:cs typeface="微软雅黑" panose="020B0503020204020204" charset="-122"/>
              </a:rPr>
              <a:t>明确事件中需要完成的具体目标或责任。</a:t>
            </a:r>
            <a:endParaRPr lang="zh-CN" altLang="en-US" sz="1600" dirty="0" err="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5" name="文本框 124"/>
          <p:cNvSpPr txBox="1"/>
          <p:nvPr/>
        </p:nvSpPr>
        <p:spPr>
          <a:xfrm>
            <a:off x="8671560" y="2755900"/>
            <a:ext cx="2891155" cy="558165"/>
          </a:xfrm>
          <a:prstGeom prst="rect">
            <a:avLst/>
          </a:prstGeom>
          <a:noFill/>
        </p:spPr>
        <p:txBody>
          <a:bodyPr wrap="square" rtlCol="0" anchor="t">
            <a:spAutoFit/>
          </a:bodyPr>
          <a:lstStyle/>
          <a:p>
            <a:pPr indent="0" algn="l" fontAlgn="auto">
              <a:lnSpc>
                <a:spcPts val="1820"/>
              </a:lnSpc>
              <a:spcBef>
                <a:spcPts val="0"/>
              </a:spcBef>
              <a:spcAft>
                <a:spcPts val="0"/>
              </a:spcAft>
            </a:pPr>
            <a:r>
              <a:rPr lang="zh-CN" altLang="en-US" sz="1600" b="1" dirty="0" err="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关键问题：</a:t>
            </a:r>
            <a:r>
              <a:rPr lang="zh-CN" altLang="en-US" sz="1600" dirty="0" err="1">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你的角色是什么？预期达成哪些量化成果？</a:t>
            </a:r>
            <a:endParaRPr lang="zh-CN" altLang="en-US" sz="1600" dirty="0" err="1">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6" name="TextBox 7"/>
          <p:cNvSpPr txBox="1"/>
          <p:nvPr>
            <p:custDataLst>
              <p:tags r:id="rId17"/>
            </p:custDataLst>
          </p:nvPr>
        </p:nvSpPr>
        <p:spPr>
          <a:xfrm>
            <a:off x="9662160" y="5678805"/>
            <a:ext cx="1901190" cy="307975"/>
          </a:xfrm>
          <a:prstGeom prst="rect">
            <a:avLst/>
          </a:prstGeom>
          <a:noFill/>
        </p:spPr>
        <p:txBody>
          <a:bodyPr wrap="square" lIns="0" tIns="0" rIns="0" bIns="0" rtlCol="0">
            <a:spAutoFit/>
          </a:bodyPr>
          <a:lstStyle/>
          <a:p>
            <a:r>
              <a:rPr lang="en-US" altLang="zh-CN" sz="2000" b="1">
                <a:solidFill>
                  <a:schemeClr val="accent5"/>
                </a:solidFill>
                <a:latin typeface="微软雅黑" panose="020B0503020204020204" charset="-122"/>
                <a:ea typeface="微软雅黑" panose="020B0503020204020204" charset="-122"/>
                <a:cs typeface="微软雅黑" panose="020B0503020204020204" charset="-122"/>
              </a:rPr>
              <a:t>Action</a:t>
            </a:r>
            <a:r>
              <a:rPr lang="zh-CN" altLang="en-US" sz="2000" b="1">
                <a:solidFill>
                  <a:schemeClr val="accent5"/>
                </a:solidFill>
                <a:latin typeface="微软雅黑" panose="020B0503020204020204" charset="-122"/>
                <a:ea typeface="微软雅黑" panose="020B0503020204020204" charset="-122"/>
                <a:cs typeface="微软雅黑" panose="020B0503020204020204" charset="-122"/>
              </a:rPr>
              <a:t>：行动</a:t>
            </a:r>
            <a:endParaRPr lang="zh-CN" altLang="en-US" sz="20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27" name="TextBox 6"/>
          <p:cNvSpPr txBox="1"/>
          <p:nvPr>
            <p:custDataLst>
              <p:tags r:id="rId18"/>
            </p:custDataLst>
          </p:nvPr>
        </p:nvSpPr>
        <p:spPr>
          <a:xfrm>
            <a:off x="8766175" y="4246245"/>
            <a:ext cx="2642870" cy="466725"/>
          </a:xfrm>
          <a:prstGeom prst="rect">
            <a:avLst/>
          </a:prstGeom>
          <a:noFill/>
        </p:spPr>
        <p:txBody>
          <a:bodyPr wrap="square" lIns="0" tIns="0" rIns="0" bIns="0" rtlCol="0">
            <a:spAutoFit/>
          </a:bodyPr>
          <a:lstStyle/>
          <a:p>
            <a:pPr indent="0" algn="l" fontAlgn="auto">
              <a:lnSpc>
                <a:spcPts val="1820"/>
              </a:lnSpc>
              <a:spcBef>
                <a:spcPts val="0"/>
              </a:spcBef>
              <a:spcAft>
                <a:spcPts val="0"/>
              </a:spcAft>
            </a:pPr>
            <a:r>
              <a:rPr lang="zh-CN" altLang="en-US" sz="1600" b="1" dirty="0" err="1">
                <a:solidFill>
                  <a:schemeClr val="accent5"/>
                </a:solidFill>
                <a:latin typeface="微软雅黑" panose="020B0503020204020204" charset="-122"/>
                <a:ea typeface="微软雅黑" panose="020B0503020204020204" charset="-122"/>
                <a:cs typeface="微软雅黑" panose="020B0503020204020204" charset="-122"/>
              </a:rPr>
              <a:t>定义：</a:t>
            </a:r>
            <a:r>
              <a:rPr lang="zh-CN" altLang="en-US" sz="1600" dirty="0" err="1">
                <a:solidFill>
                  <a:schemeClr val="tx2"/>
                </a:solidFill>
                <a:latin typeface="微软雅黑" panose="020B0503020204020204" charset="-122"/>
                <a:ea typeface="微软雅黑" panose="020B0503020204020204" charset="-122"/>
                <a:cs typeface="微软雅黑" panose="020B0503020204020204" charset="-122"/>
              </a:rPr>
              <a:t>梳理实际采取的措施，包括计划、执行和协作过程。</a:t>
            </a:r>
            <a:endParaRPr lang="zh-CN" altLang="en-US" sz="1600" dirty="0" err="1">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8" name="文本框 127"/>
          <p:cNvSpPr txBox="1"/>
          <p:nvPr/>
        </p:nvSpPr>
        <p:spPr>
          <a:xfrm>
            <a:off x="8671560" y="4804410"/>
            <a:ext cx="2590165" cy="558165"/>
          </a:xfrm>
          <a:prstGeom prst="rect">
            <a:avLst/>
          </a:prstGeom>
          <a:noFill/>
        </p:spPr>
        <p:txBody>
          <a:bodyPr wrap="square" rtlCol="0" anchor="t">
            <a:spAutoFit/>
          </a:bodyPr>
          <a:lstStyle/>
          <a:p>
            <a:pPr indent="0" algn="l" fontAlgn="auto">
              <a:lnSpc>
                <a:spcPts val="1820"/>
              </a:lnSpc>
              <a:spcBef>
                <a:spcPts val="0"/>
              </a:spcBef>
              <a:spcAft>
                <a:spcPts val="0"/>
              </a:spcAft>
            </a:pPr>
            <a:r>
              <a:rPr lang="zh-CN" altLang="en-US" sz="1600" b="1" dirty="0" err="1">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关键问题：</a:t>
            </a:r>
            <a:r>
              <a:rPr lang="zh-CN" altLang="en-US" sz="1600" dirty="0" err="1">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如何分配资源？遇到问题如何解决？</a:t>
            </a:r>
            <a:endParaRPr lang="zh-CN" altLang="en-US" sz="1600" dirty="0" err="1">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19"/>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870712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sz="2500" dirty="0">
                <a:solidFill>
                  <a:schemeClr val="tx2"/>
                </a:solidFill>
                <a:effectLst/>
                <a:latin typeface="微软雅黑" panose="020B0503020204020204" charset="-122"/>
                <a:ea typeface="微软雅黑" panose="020B0503020204020204" charset="-122"/>
                <a:cs typeface="微软雅黑" panose="020B0503020204020204" charset="-122"/>
              </a:rPr>
              <a:t>人力资源</a:t>
            </a:r>
            <a:r>
              <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rPr>
              <a:t>"</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五步工作法</a:t>
            </a:r>
            <a:r>
              <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rPr>
              <a:t>"</a:t>
            </a:r>
            <a:endPar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95" name="子陵职场PPT2"/>
          <p:cNvSpPr/>
          <p:nvPr/>
        </p:nvSpPr>
        <p:spPr>
          <a:xfrm>
            <a:off x="481330" y="1028065"/>
            <a:ext cx="5029200" cy="2181225"/>
          </a:xfrm>
          <a:custGeom>
            <a:avLst/>
            <a:gdLst>
              <a:gd name="connsiteX0" fmla="*/ 0 w 5287599"/>
              <a:gd name="connsiteY0" fmla="*/ 0 h 1851489"/>
              <a:gd name="connsiteX1" fmla="*/ 5287599 w 5287599"/>
              <a:gd name="connsiteY1" fmla="*/ 0 h 1851489"/>
              <a:gd name="connsiteX2" fmla="*/ 5105417 w 5287599"/>
              <a:gd name="connsiteY2" fmla="*/ 32974 h 1851489"/>
              <a:gd name="connsiteX3" fmla="*/ 4301855 w 5287599"/>
              <a:gd name="connsiteY3" fmla="*/ 353801 h 1851489"/>
              <a:gd name="connsiteX4" fmla="*/ 3054898 w 5287599"/>
              <a:gd name="connsiteY4" fmla="*/ 1845650 h 1851489"/>
              <a:gd name="connsiteX5" fmla="*/ 3053071 w 5287599"/>
              <a:gd name="connsiteY5" fmla="*/ 1851489 h 1851489"/>
              <a:gd name="connsiteX6" fmla="*/ 0 w 5287599"/>
              <a:gd name="connsiteY6" fmla="*/ 1851489 h 1851489"/>
              <a:gd name="connsiteX7" fmla="*/ 0 w 5287599"/>
              <a:gd name="connsiteY7" fmla="*/ 0 h 185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87599" h="1851489">
                <a:moveTo>
                  <a:pt x="0" y="0"/>
                </a:moveTo>
                <a:lnTo>
                  <a:pt x="5287599" y="0"/>
                </a:lnTo>
                <a:lnTo>
                  <a:pt x="5105417" y="32974"/>
                </a:lnTo>
                <a:cubicBezTo>
                  <a:pt x="4829736" y="97048"/>
                  <a:pt x="4558914" y="203215"/>
                  <a:pt x="4301855" y="353801"/>
                </a:cubicBezTo>
                <a:cubicBezTo>
                  <a:pt x="3702053" y="705167"/>
                  <a:pt x="3276552" y="1240156"/>
                  <a:pt x="3054898" y="1845650"/>
                </a:cubicBezTo>
                <a:lnTo>
                  <a:pt x="3053071" y="1851489"/>
                </a:lnTo>
                <a:lnTo>
                  <a:pt x="0" y="1851489"/>
                </a:lnTo>
                <a:lnTo>
                  <a:pt x="0" y="0"/>
                </a:lnTo>
                <a:close/>
              </a:path>
            </a:pathLst>
          </a:custGeom>
          <a:gradFill flip="none" rotWithShape="1">
            <a:gsLst>
              <a:gs pos="100000">
                <a:srgbClr val="FFFFFF">
                  <a:alpha val="0"/>
                </a:srgbClr>
              </a:gs>
              <a:gs pos="63000">
                <a:schemeClr val="bg1"/>
              </a:gs>
              <a:gs pos="86000">
                <a:srgbClr val="FFFFFF">
                  <a:alpha val="80000"/>
                </a:srgbClr>
              </a:gs>
              <a:gs pos="0">
                <a:schemeClr val="bg1"/>
              </a:gs>
            </a:gsLst>
            <a:path path="circle">
              <a:fillToRect t="100000" r="100000"/>
            </a:path>
            <a:tileRect l="-100000" b="-100000"/>
          </a:gradFill>
          <a:ln>
            <a:noFill/>
          </a:ln>
          <a:effectLst>
            <a:outerShdw blurRad="254000" sx="102000" sy="102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lvl="0" algn="ctr">
              <a:buClrTx/>
              <a:buSzTx/>
              <a:buFontTx/>
              <a:defRPr/>
            </a:pPr>
            <a:endParaRPr lang="zh-CN" altLang="en-US" noProof="0" dirty="0">
              <a:ln>
                <a:noFill/>
              </a:ln>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6" name="子陵职场PPT3"/>
          <p:cNvSpPr/>
          <p:nvPr/>
        </p:nvSpPr>
        <p:spPr>
          <a:xfrm>
            <a:off x="6613525" y="1028065"/>
            <a:ext cx="5034915" cy="1760855"/>
          </a:xfrm>
          <a:custGeom>
            <a:avLst/>
            <a:gdLst>
              <a:gd name="connsiteX0" fmla="*/ 0 w 5293301"/>
              <a:gd name="connsiteY0" fmla="*/ 0 h 1851489"/>
              <a:gd name="connsiteX1" fmla="*/ 5293301 w 5293301"/>
              <a:gd name="connsiteY1" fmla="*/ 0 h 1851489"/>
              <a:gd name="connsiteX2" fmla="*/ 5293301 w 5293301"/>
              <a:gd name="connsiteY2" fmla="*/ 1851489 h 1851489"/>
              <a:gd name="connsiteX3" fmla="*/ 2223524 w 5293301"/>
              <a:gd name="connsiteY3" fmla="*/ 1851489 h 1851489"/>
              <a:gd name="connsiteX4" fmla="*/ 2140744 w 5293301"/>
              <a:gd name="connsiteY4" fmla="*/ 1643309 h 1851489"/>
              <a:gd name="connsiteX5" fmla="*/ 2004879 w 5293301"/>
              <a:gd name="connsiteY5" fmla="*/ 1381993 h 1851489"/>
              <a:gd name="connsiteX6" fmla="*/ 249547 w 5293301"/>
              <a:gd name="connsiteY6" fmla="*/ 52609 h 1851489"/>
              <a:gd name="connsiteX7" fmla="*/ 0 w 5293301"/>
              <a:gd name="connsiteY7" fmla="*/ 0 h 185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3301" h="1851489">
                <a:moveTo>
                  <a:pt x="0" y="0"/>
                </a:moveTo>
                <a:lnTo>
                  <a:pt x="5293301" y="0"/>
                </a:lnTo>
                <a:lnTo>
                  <a:pt x="5293301" y="1851489"/>
                </a:lnTo>
                <a:lnTo>
                  <a:pt x="2223524" y="1851489"/>
                </a:lnTo>
                <a:lnTo>
                  <a:pt x="2140744" y="1643309"/>
                </a:lnTo>
                <a:cubicBezTo>
                  <a:pt x="2100334" y="1554894"/>
                  <a:pt x="2055074" y="1467679"/>
                  <a:pt x="2004879" y="1381993"/>
                </a:cubicBezTo>
                <a:cubicBezTo>
                  <a:pt x="1603319" y="696505"/>
                  <a:pt x="961924" y="238675"/>
                  <a:pt x="249547" y="52609"/>
                </a:cubicBezTo>
                <a:lnTo>
                  <a:pt x="0" y="0"/>
                </a:lnTo>
                <a:close/>
              </a:path>
            </a:pathLst>
          </a:custGeom>
          <a:gradFill flip="none" rotWithShape="1">
            <a:gsLst>
              <a:gs pos="100000">
                <a:srgbClr val="FFFFFF">
                  <a:alpha val="0"/>
                </a:srgbClr>
              </a:gs>
              <a:gs pos="63000">
                <a:schemeClr val="bg1"/>
              </a:gs>
              <a:gs pos="86000">
                <a:srgbClr val="FFFFFF">
                  <a:alpha val="80000"/>
                </a:srgbClr>
              </a:gs>
              <a:gs pos="0">
                <a:schemeClr val="bg1"/>
              </a:gs>
            </a:gsLst>
            <a:path path="circle">
              <a:fillToRect l="100000" t="100000"/>
            </a:path>
            <a:tileRect r="-100000" b="-100000"/>
          </a:gradFill>
          <a:ln>
            <a:noFill/>
          </a:ln>
          <a:effectLst>
            <a:outerShdw blurRad="254000" sx="102000" sy="102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lvl="0" algn="ctr">
              <a:buClrTx/>
              <a:buSzTx/>
              <a:buFontTx/>
              <a:defRPr/>
            </a:pPr>
            <a:endParaRPr lang="zh-CN" altLang="en-US" noProof="0" dirty="0">
              <a:ln>
                <a:noFill/>
              </a:ln>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7" name="子陵职场PPT4"/>
          <p:cNvSpPr/>
          <p:nvPr/>
        </p:nvSpPr>
        <p:spPr>
          <a:xfrm>
            <a:off x="473710" y="3509645"/>
            <a:ext cx="4960177" cy="3037840"/>
          </a:xfrm>
          <a:custGeom>
            <a:avLst/>
            <a:gdLst>
              <a:gd name="connsiteX0" fmla="*/ 0 w 3032101"/>
              <a:gd name="connsiteY0" fmla="*/ 0 h 1835305"/>
              <a:gd name="connsiteX1" fmla="*/ 3032101 w 3032101"/>
              <a:gd name="connsiteY1" fmla="*/ 0 h 1835305"/>
              <a:gd name="connsiteX2" fmla="*/ 2972470 w 3032101"/>
              <a:gd name="connsiteY2" fmla="*/ 190612 h 1835305"/>
              <a:gd name="connsiteX3" fmla="*/ 2952834 w 3032101"/>
              <a:gd name="connsiteY3" fmla="*/ 1568277 h 1835305"/>
              <a:gd name="connsiteX4" fmla="*/ 3029110 w 3032101"/>
              <a:gd name="connsiteY4" fmla="*/ 1835305 h 1835305"/>
              <a:gd name="connsiteX5" fmla="*/ 0 w 3032101"/>
              <a:gd name="connsiteY5" fmla="*/ 1835305 h 1835305"/>
              <a:gd name="connsiteX6" fmla="*/ 0 w 3032101"/>
              <a:gd name="connsiteY6" fmla="*/ 0 h 1835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811" h="4784">
                <a:moveTo>
                  <a:pt x="0" y="0"/>
                </a:moveTo>
                <a:lnTo>
                  <a:pt x="4550" y="0"/>
                </a:lnTo>
                <a:cubicBezTo>
                  <a:pt x="4524" y="164"/>
                  <a:pt x="4510" y="527"/>
                  <a:pt x="4515" y="552"/>
                </a:cubicBezTo>
                <a:cubicBezTo>
                  <a:pt x="4401" y="2630"/>
                  <a:pt x="6233" y="4465"/>
                  <a:pt x="7811" y="4784"/>
                </a:cubicBezTo>
                <a:lnTo>
                  <a:pt x="0" y="4784"/>
                </a:lnTo>
                <a:lnTo>
                  <a:pt x="0" y="0"/>
                </a:lnTo>
                <a:close/>
              </a:path>
            </a:pathLst>
          </a:custGeom>
          <a:gradFill flip="none" rotWithShape="1">
            <a:gsLst>
              <a:gs pos="100000">
                <a:srgbClr val="FFFFFF">
                  <a:alpha val="0"/>
                </a:srgbClr>
              </a:gs>
              <a:gs pos="70000">
                <a:schemeClr val="bg1"/>
              </a:gs>
              <a:gs pos="88000">
                <a:srgbClr val="FFFFFF">
                  <a:alpha val="80000"/>
                </a:srgbClr>
              </a:gs>
              <a:gs pos="0">
                <a:schemeClr val="bg1"/>
              </a:gs>
            </a:gsLst>
            <a:path path="circle">
              <a:fillToRect t="100000" r="100000"/>
            </a:path>
            <a:tileRect l="-100000" b="-100000"/>
          </a:gradFill>
          <a:ln>
            <a:noFill/>
          </a:ln>
          <a:effectLst>
            <a:outerShdw blurRad="254000" sx="102000" sy="102000" algn="ctr"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lvl="0" algn="ctr">
              <a:buClrTx/>
              <a:buSzTx/>
              <a:buFontTx/>
              <a:defRPr/>
            </a:pPr>
            <a:endParaRPr lang="zh-CN" altLang="en-US" noProof="0" dirty="0">
              <a:ln>
                <a:noFill/>
              </a:ln>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8" name="子陵职场PPT5"/>
          <p:cNvSpPr/>
          <p:nvPr/>
        </p:nvSpPr>
        <p:spPr>
          <a:xfrm>
            <a:off x="8750300" y="2882265"/>
            <a:ext cx="2898140" cy="1745615"/>
          </a:xfrm>
          <a:custGeom>
            <a:avLst/>
            <a:gdLst>
              <a:gd name="connsiteX0" fmla="*/ 2989 w 3046862"/>
              <a:gd name="connsiteY0" fmla="*/ 0 h 1835305"/>
              <a:gd name="connsiteX1" fmla="*/ 3046862 w 3046862"/>
              <a:gd name="connsiteY1" fmla="*/ 0 h 1835305"/>
              <a:gd name="connsiteX2" fmla="*/ 3046862 w 3046862"/>
              <a:gd name="connsiteY2" fmla="*/ 1835305 h 1835305"/>
              <a:gd name="connsiteX3" fmla="*/ 0 w 3046862"/>
              <a:gd name="connsiteY3" fmla="*/ 1835305 h 1835305"/>
              <a:gd name="connsiteX4" fmla="*/ 59631 w 3046862"/>
              <a:gd name="connsiteY4" fmla="*/ 1644693 h 1835305"/>
              <a:gd name="connsiteX5" fmla="*/ 79266 w 3046862"/>
              <a:gd name="connsiteY5" fmla="*/ 267029 h 1835305"/>
              <a:gd name="connsiteX6" fmla="*/ 2989 w 3046862"/>
              <a:gd name="connsiteY6" fmla="*/ 0 h 1835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6862" h="1835305">
                <a:moveTo>
                  <a:pt x="2989" y="0"/>
                </a:moveTo>
                <a:lnTo>
                  <a:pt x="3046862" y="0"/>
                </a:lnTo>
                <a:lnTo>
                  <a:pt x="3046862" y="1835305"/>
                </a:lnTo>
                <a:lnTo>
                  <a:pt x="0" y="1835305"/>
                </a:lnTo>
                <a:lnTo>
                  <a:pt x="59631" y="1644693"/>
                </a:lnTo>
                <a:cubicBezTo>
                  <a:pt x="175923" y="1199458"/>
                  <a:pt x="186057" y="726495"/>
                  <a:pt x="79266" y="267029"/>
                </a:cubicBezTo>
                <a:lnTo>
                  <a:pt x="2989" y="0"/>
                </a:lnTo>
                <a:close/>
              </a:path>
            </a:pathLst>
          </a:custGeom>
          <a:gradFill flip="none" rotWithShape="1">
            <a:gsLst>
              <a:gs pos="100000">
                <a:srgbClr val="FFFFFF">
                  <a:alpha val="0"/>
                </a:srgbClr>
              </a:gs>
              <a:gs pos="70000">
                <a:schemeClr val="bg1"/>
              </a:gs>
              <a:gs pos="88000">
                <a:srgbClr val="FFFFFF">
                  <a:alpha val="80000"/>
                </a:srgbClr>
              </a:gs>
              <a:gs pos="0">
                <a:schemeClr val="bg1"/>
              </a:gs>
            </a:gsLst>
            <a:path path="circle">
              <a:fillToRect l="100000" t="100000"/>
            </a:path>
            <a:tileRect r="-100000" b="-100000"/>
          </a:gradFill>
          <a:ln>
            <a:noFill/>
          </a:ln>
          <a:effectLst>
            <a:outerShdw blurRad="254000" sx="102000" sy="102000" algn="ctr"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lvl="0" algn="ctr">
              <a:buClrTx/>
              <a:buSzTx/>
              <a:buFontTx/>
              <a:defRPr/>
            </a:pPr>
            <a:endParaRPr lang="zh-CN" altLang="en-US" noProof="0" dirty="0">
              <a:ln>
                <a:noFill/>
              </a:ln>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9" name="子陵职场PPT7"/>
          <p:cNvSpPr/>
          <p:nvPr/>
        </p:nvSpPr>
        <p:spPr>
          <a:xfrm>
            <a:off x="6604635" y="4720590"/>
            <a:ext cx="5043170" cy="1760220"/>
          </a:xfrm>
          <a:custGeom>
            <a:avLst/>
            <a:gdLst>
              <a:gd name="connsiteX0" fmla="*/ 2234520 w 5302353"/>
              <a:gd name="connsiteY0" fmla="*/ 0 h 1851488"/>
              <a:gd name="connsiteX1" fmla="*/ 5302353 w 5302353"/>
              <a:gd name="connsiteY1" fmla="*/ 0 h 1851488"/>
              <a:gd name="connsiteX2" fmla="*/ 5302353 w 5302353"/>
              <a:gd name="connsiteY2" fmla="*/ 1851488 h 1851488"/>
              <a:gd name="connsiteX3" fmla="*/ 0 w 5302353"/>
              <a:gd name="connsiteY3" fmla="*/ 1851488 h 1851488"/>
              <a:gd name="connsiteX4" fmla="*/ 182176 w 5302353"/>
              <a:gd name="connsiteY4" fmla="*/ 1818516 h 1851488"/>
              <a:gd name="connsiteX5" fmla="*/ 985736 w 5302353"/>
              <a:gd name="connsiteY5" fmla="*/ 1497689 h 1851488"/>
              <a:gd name="connsiteX6" fmla="*/ 2232694 w 5302353"/>
              <a:gd name="connsiteY6" fmla="*/ 5838 h 1851488"/>
              <a:gd name="connsiteX7" fmla="*/ 2234520 w 5302353"/>
              <a:gd name="connsiteY7" fmla="*/ 0 h 1851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02353" h="1851488">
                <a:moveTo>
                  <a:pt x="2234520" y="0"/>
                </a:moveTo>
                <a:lnTo>
                  <a:pt x="5302353" y="0"/>
                </a:lnTo>
                <a:lnTo>
                  <a:pt x="5302353" y="1851488"/>
                </a:lnTo>
                <a:lnTo>
                  <a:pt x="0" y="1851488"/>
                </a:lnTo>
                <a:lnTo>
                  <a:pt x="182176" y="1818516"/>
                </a:lnTo>
                <a:cubicBezTo>
                  <a:pt x="457856" y="1754441"/>
                  <a:pt x="728677" y="1648274"/>
                  <a:pt x="985736" y="1497689"/>
                </a:cubicBezTo>
                <a:cubicBezTo>
                  <a:pt x="1585540" y="1146322"/>
                  <a:pt x="2011041" y="611333"/>
                  <a:pt x="2232694" y="5838"/>
                </a:cubicBezTo>
                <a:lnTo>
                  <a:pt x="2234520" y="0"/>
                </a:lnTo>
                <a:close/>
              </a:path>
            </a:pathLst>
          </a:custGeom>
          <a:gradFill flip="none" rotWithShape="1">
            <a:gsLst>
              <a:gs pos="100000">
                <a:srgbClr val="FFFFFF">
                  <a:alpha val="0"/>
                </a:srgbClr>
              </a:gs>
              <a:gs pos="63000">
                <a:schemeClr val="bg1"/>
              </a:gs>
              <a:gs pos="86000">
                <a:srgbClr val="FFFFFF">
                  <a:alpha val="80000"/>
                </a:srgbClr>
              </a:gs>
              <a:gs pos="0">
                <a:schemeClr val="bg1"/>
              </a:gs>
            </a:gsLst>
            <a:path path="circle">
              <a:fillToRect l="100000" t="100000"/>
            </a:path>
            <a:tileRect r="-100000" b="-100000"/>
          </a:gradFill>
          <a:ln>
            <a:noFill/>
          </a:ln>
          <a:effectLst>
            <a:outerShdw blurRad="254000" sx="102000" sy="102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lvl="0" algn="ctr">
              <a:buClrTx/>
              <a:buSzTx/>
              <a:buFontTx/>
              <a:defRPr/>
            </a:pPr>
            <a:endParaRPr lang="zh-CN" altLang="en-US" noProof="0" dirty="0">
              <a:ln>
                <a:noFill/>
              </a:ln>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31" name="子陵职场PPT8-36"/>
          <p:cNvSpPr/>
          <p:nvPr/>
        </p:nvSpPr>
        <p:spPr>
          <a:xfrm>
            <a:off x="3226435" y="6007100"/>
            <a:ext cx="5657215" cy="273050"/>
          </a:xfrm>
          <a:prstGeom prst="ellipse">
            <a:avLst/>
          </a:prstGeom>
          <a:gradFill>
            <a:gsLst>
              <a:gs pos="69000">
                <a:schemeClr val="bg1">
                  <a:alpha val="0"/>
                </a:schemeClr>
              </a:gs>
              <a:gs pos="98000">
                <a:schemeClr val="bg1"/>
              </a:gs>
            </a:gsLst>
            <a:lin ang="5400000" scaled="1"/>
          </a:gradFill>
          <a:ln w="25400">
            <a:gradFill>
              <a:gsLst>
                <a:gs pos="24000">
                  <a:schemeClr val="accent1">
                    <a:lumMod val="20000"/>
                    <a:lumOff val="80000"/>
                    <a:alpha val="0"/>
                  </a:schemeClr>
                </a:gs>
                <a:gs pos="100000">
                  <a:schemeClr val="accent1">
                    <a:lumMod val="60000"/>
                    <a:lumOff val="40000"/>
                  </a:schemeClr>
                </a:gs>
              </a:gsLst>
              <a:lin ang="5400000" scaled="1"/>
            </a:gradFill>
          </a:ln>
          <a:effectLst>
            <a:outerShdw blurRad="1270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微软雅黑" panose="020B0503020204020204" charset="-122"/>
              <a:ea typeface="微软雅黑" panose="020B0503020204020204" charset="-122"/>
              <a:cs typeface="微软雅黑" panose="020B0503020204020204" charset="-122"/>
            </a:endParaRPr>
          </a:p>
        </p:txBody>
      </p:sp>
      <p:sp>
        <p:nvSpPr>
          <p:cNvPr id="134" name="子陵职场PPT8-37"/>
          <p:cNvSpPr/>
          <p:nvPr/>
        </p:nvSpPr>
        <p:spPr>
          <a:xfrm>
            <a:off x="4860290" y="2496185"/>
            <a:ext cx="2393315" cy="2393315"/>
          </a:xfrm>
          <a:prstGeom prst="ellipse">
            <a:avLst/>
          </a:prstGeom>
          <a:gradFill flip="none" rotWithShape="1">
            <a:gsLst>
              <a:gs pos="100000">
                <a:schemeClr val="accent1">
                  <a:alpha val="10000"/>
                </a:schemeClr>
              </a:gs>
              <a:gs pos="88000">
                <a:schemeClr val="bg1">
                  <a:alpha val="0"/>
                </a:schemeClr>
              </a:gs>
            </a:gsLst>
            <a:path path="shape">
              <a:fillToRect l="50000" t="50000" r="50000" b="50000"/>
            </a:path>
            <a:tileRect/>
          </a:gra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微软雅黑" panose="020B0503020204020204" charset="-122"/>
              <a:ea typeface="微软雅黑" panose="020B0503020204020204" charset="-122"/>
              <a:cs typeface="微软雅黑" panose="020B0503020204020204" charset="-122"/>
            </a:endParaRPr>
          </a:p>
        </p:txBody>
      </p:sp>
      <p:sp>
        <p:nvSpPr>
          <p:cNvPr id="135" name="子陵职场PPT8-38"/>
          <p:cNvSpPr/>
          <p:nvPr/>
        </p:nvSpPr>
        <p:spPr>
          <a:xfrm>
            <a:off x="5264785" y="2901315"/>
            <a:ext cx="1584960" cy="1585595"/>
          </a:xfrm>
          <a:prstGeom prst="ellipse">
            <a:avLst/>
          </a:prstGeom>
          <a:gradFill flip="none" rotWithShape="1">
            <a:gsLst>
              <a:gs pos="0">
                <a:schemeClr val="accent1">
                  <a:lumMod val="75000"/>
                  <a:lumOff val="25000"/>
                </a:schemeClr>
              </a:gs>
              <a:gs pos="99000">
                <a:schemeClr val="accent1"/>
              </a:gs>
            </a:gsLst>
            <a:lin ang="0" scaled="1"/>
            <a:tileRect/>
          </a:gradFill>
          <a:ln w="254000">
            <a:solidFill>
              <a:schemeClr val="accent1">
                <a:alpha val="10000"/>
              </a:schemeClr>
            </a:solid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a:endParaRPr kumimoji="1" lang="zh-CN" altLang="en-US" sz="20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39" name="子陵职场PPT8-45"/>
          <p:cNvSpPr txBox="1"/>
          <p:nvPr/>
        </p:nvSpPr>
        <p:spPr>
          <a:xfrm>
            <a:off x="5324475" y="3328670"/>
            <a:ext cx="1466215" cy="768350"/>
          </a:xfrm>
          <a:prstGeom prst="rect">
            <a:avLst/>
          </a:prstGeom>
          <a:noFill/>
        </p:spPr>
        <p:txBody>
          <a:bodyPr wrap="square" rtlCol="0">
            <a:spAutoFit/>
          </a:bodyPr>
          <a:lstStyle/>
          <a:p>
            <a:pPr algn="ctr"/>
            <a:r>
              <a:rPr kumimoji="1" lang="zh-CN" altLang="en-US" sz="2200" b="1" dirty="0">
                <a:solidFill>
                  <a:schemeClr val="bg1"/>
                </a:solidFill>
                <a:latin typeface="微软雅黑" panose="020B0503020204020204" charset="-122"/>
                <a:ea typeface="微软雅黑" panose="020B0503020204020204" charset="-122"/>
                <a:cs typeface="微软雅黑" panose="020B0503020204020204" charset="-122"/>
                <a:sym typeface="+mn-ea"/>
              </a:rPr>
              <a:t>人力资源</a:t>
            </a:r>
            <a:endParaRPr kumimoji="1" lang="en-US" sz="2200" b="1" dirty="0">
              <a:solidFill>
                <a:schemeClr val="bg1"/>
              </a:solidFill>
              <a:latin typeface="微软雅黑" panose="020B0503020204020204" charset="-122"/>
              <a:ea typeface="微软雅黑" panose="020B0503020204020204" charset="-122"/>
              <a:cs typeface="微软雅黑" panose="020B0503020204020204" charset="-122"/>
              <a:sym typeface="+mn-ea"/>
            </a:endParaRPr>
          </a:p>
          <a:p>
            <a:pPr algn="ctr"/>
            <a:r>
              <a:rPr kumimoji="1" lang="en-US" altLang="zh-CN" sz="2200" b="1" dirty="0">
                <a:solidFill>
                  <a:schemeClr val="bg1"/>
                </a:solidFill>
                <a:latin typeface="微软雅黑" panose="020B0503020204020204" charset="-122"/>
                <a:ea typeface="微软雅黑" panose="020B0503020204020204" charset="-122"/>
                <a:cs typeface="微软雅黑" panose="020B0503020204020204" charset="-122"/>
              </a:rPr>
              <a:t>“</a:t>
            </a:r>
            <a:r>
              <a:rPr kumimoji="1" lang="zh-CN" altLang="en-US" sz="2200" b="1" dirty="0">
                <a:solidFill>
                  <a:schemeClr val="bg1"/>
                </a:solidFill>
                <a:latin typeface="微软雅黑" panose="020B0503020204020204" charset="-122"/>
                <a:ea typeface="微软雅黑" panose="020B0503020204020204" charset="-122"/>
                <a:cs typeface="微软雅黑" panose="020B0503020204020204" charset="-122"/>
              </a:rPr>
              <a:t>五步法</a:t>
            </a:r>
            <a:r>
              <a:rPr kumimoji="1" lang="en-US" altLang="zh-CN" sz="2200" b="1" dirty="0">
                <a:solidFill>
                  <a:schemeClr val="bg1"/>
                </a:solidFill>
                <a:latin typeface="微软雅黑" panose="020B0503020204020204" charset="-122"/>
                <a:ea typeface="微软雅黑" panose="020B0503020204020204" charset="-122"/>
                <a:cs typeface="微软雅黑" panose="020B0503020204020204" charset="-122"/>
              </a:rPr>
              <a:t>”</a:t>
            </a:r>
            <a:endParaRPr kumimoji="1" lang="en-US" altLang="zh-CN" sz="2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40" name="子陵职场PPT8-50"/>
          <p:cNvSpPr/>
          <p:nvPr/>
        </p:nvSpPr>
        <p:spPr>
          <a:xfrm>
            <a:off x="3949065" y="6307455"/>
            <a:ext cx="4212590" cy="252730"/>
          </a:xfrm>
          <a:prstGeom prst="ellipse">
            <a:avLst/>
          </a:prstGeom>
          <a:gradFill>
            <a:gsLst>
              <a:gs pos="69000">
                <a:schemeClr val="bg1">
                  <a:alpha val="0"/>
                </a:schemeClr>
              </a:gs>
              <a:gs pos="98000">
                <a:schemeClr val="bg1"/>
              </a:gs>
            </a:gsLst>
            <a:lin ang="5400000" scaled="1"/>
          </a:gradFill>
          <a:ln w="25400">
            <a:gradFill>
              <a:gsLst>
                <a:gs pos="24000">
                  <a:schemeClr val="accent1">
                    <a:lumMod val="20000"/>
                    <a:lumOff val="80000"/>
                    <a:alpha val="0"/>
                  </a:schemeClr>
                </a:gs>
                <a:gs pos="100000">
                  <a:schemeClr val="accent1">
                    <a:lumMod val="60000"/>
                    <a:lumOff val="40000"/>
                  </a:schemeClr>
                </a:gs>
              </a:gsLst>
              <a:lin ang="5400000" scaled="1"/>
            </a:gradFill>
          </a:ln>
          <a:effectLst>
            <a:outerShdw blurRad="1270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微软雅黑" panose="020B0503020204020204" charset="-122"/>
              <a:ea typeface="微软雅黑" panose="020B0503020204020204" charset="-122"/>
              <a:cs typeface="微软雅黑" panose="020B0503020204020204" charset="-122"/>
            </a:endParaRPr>
          </a:p>
        </p:txBody>
      </p:sp>
      <p:sp>
        <p:nvSpPr>
          <p:cNvPr id="141" name="子陵职场PPT9"/>
          <p:cNvSpPr/>
          <p:nvPr/>
        </p:nvSpPr>
        <p:spPr>
          <a:xfrm>
            <a:off x="473710" y="1031875"/>
            <a:ext cx="1929130" cy="419735"/>
          </a:xfrm>
          <a:custGeom>
            <a:avLst/>
            <a:gdLst>
              <a:gd name="connsiteX0" fmla="*/ 38563 w 1655078"/>
              <a:gd name="connsiteY0" fmla="*/ 0 h 231375"/>
              <a:gd name="connsiteX1" fmla="*/ 1616515 w 1655078"/>
              <a:gd name="connsiteY1" fmla="*/ 0 h 231375"/>
              <a:gd name="connsiteX2" fmla="*/ 1655078 w 1655078"/>
              <a:gd name="connsiteY2" fmla="*/ 38563 h 231375"/>
              <a:gd name="connsiteX3" fmla="*/ 1655078 w 1655078"/>
              <a:gd name="connsiteY3" fmla="*/ 231375 h 231375"/>
              <a:gd name="connsiteX4" fmla="*/ 1655078 w 1655078"/>
              <a:gd name="connsiteY4" fmla="*/ 231375 h 231375"/>
              <a:gd name="connsiteX5" fmla="*/ 0 w 1655078"/>
              <a:gd name="connsiteY5" fmla="*/ 231375 h 231375"/>
              <a:gd name="connsiteX6" fmla="*/ 0 w 1655078"/>
              <a:gd name="connsiteY6" fmla="*/ 231375 h 231375"/>
              <a:gd name="connsiteX7" fmla="*/ 0 w 1655078"/>
              <a:gd name="connsiteY7" fmla="*/ 38563 h 231375"/>
              <a:gd name="connsiteX8" fmla="*/ 38563 w 1655078"/>
              <a:gd name="connsiteY8" fmla="*/ 0 h 231375"/>
              <a:gd name="connsiteX0-1" fmla="*/ 38563 w 1794778"/>
              <a:gd name="connsiteY0-2" fmla="*/ 0 h 231375"/>
              <a:gd name="connsiteX1-3" fmla="*/ 1616515 w 1794778"/>
              <a:gd name="connsiteY1-4" fmla="*/ 0 h 231375"/>
              <a:gd name="connsiteX2-5" fmla="*/ 1655078 w 1794778"/>
              <a:gd name="connsiteY2-6" fmla="*/ 38563 h 231375"/>
              <a:gd name="connsiteX3-7" fmla="*/ 1655078 w 1794778"/>
              <a:gd name="connsiteY3-8" fmla="*/ 231375 h 231375"/>
              <a:gd name="connsiteX4-9" fmla="*/ 1794778 w 1794778"/>
              <a:gd name="connsiteY4-10" fmla="*/ 231375 h 231375"/>
              <a:gd name="connsiteX5-11" fmla="*/ 0 w 1794778"/>
              <a:gd name="connsiteY5-12" fmla="*/ 231375 h 231375"/>
              <a:gd name="connsiteX6-13" fmla="*/ 0 w 1794778"/>
              <a:gd name="connsiteY6-14" fmla="*/ 231375 h 231375"/>
              <a:gd name="connsiteX7-15" fmla="*/ 0 w 1794778"/>
              <a:gd name="connsiteY7-16" fmla="*/ 38563 h 231375"/>
              <a:gd name="connsiteX8-17" fmla="*/ 38563 w 1794778"/>
              <a:gd name="connsiteY8-18" fmla="*/ 0 h 231375"/>
              <a:gd name="connsiteX0-19" fmla="*/ 38563 w 1655078"/>
              <a:gd name="connsiteY0-20" fmla="*/ 0 h 231375"/>
              <a:gd name="connsiteX1-21" fmla="*/ 1616515 w 1655078"/>
              <a:gd name="connsiteY1-22" fmla="*/ 0 h 231375"/>
              <a:gd name="connsiteX2-23" fmla="*/ 1655078 w 1655078"/>
              <a:gd name="connsiteY2-24" fmla="*/ 38563 h 231375"/>
              <a:gd name="connsiteX3-25" fmla="*/ 1655078 w 1655078"/>
              <a:gd name="connsiteY3-26" fmla="*/ 231375 h 231375"/>
              <a:gd name="connsiteX4-27" fmla="*/ 0 w 1655078"/>
              <a:gd name="connsiteY4-28" fmla="*/ 231375 h 231375"/>
              <a:gd name="connsiteX5-29" fmla="*/ 0 w 1655078"/>
              <a:gd name="connsiteY5-30" fmla="*/ 231375 h 231375"/>
              <a:gd name="connsiteX6-31" fmla="*/ 0 w 1655078"/>
              <a:gd name="connsiteY6-32" fmla="*/ 38563 h 231375"/>
              <a:gd name="connsiteX7-33" fmla="*/ 38563 w 1655078"/>
              <a:gd name="connsiteY7-34" fmla="*/ 0 h 231375"/>
              <a:gd name="connsiteX0-35" fmla="*/ 38563 w 1657402"/>
              <a:gd name="connsiteY0-36" fmla="*/ 0 h 231375"/>
              <a:gd name="connsiteX1-37" fmla="*/ 1616515 w 1657402"/>
              <a:gd name="connsiteY1-38" fmla="*/ 0 h 231375"/>
              <a:gd name="connsiteX2-39" fmla="*/ 1655078 w 1657402"/>
              <a:gd name="connsiteY2-40" fmla="*/ 38563 h 231375"/>
              <a:gd name="connsiteX3-41" fmla="*/ 1657402 w 1657402"/>
              <a:gd name="connsiteY3-42" fmla="*/ 213709 h 231375"/>
              <a:gd name="connsiteX4-43" fmla="*/ 1655078 w 1657402"/>
              <a:gd name="connsiteY4-44" fmla="*/ 231375 h 231375"/>
              <a:gd name="connsiteX5-45" fmla="*/ 0 w 1657402"/>
              <a:gd name="connsiteY5-46" fmla="*/ 231375 h 231375"/>
              <a:gd name="connsiteX6-47" fmla="*/ 0 w 1657402"/>
              <a:gd name="connsiteY6-48" fmla="*/ 231375 h 231375"/>
              <a:gd name="connsiteX7-49" fmla="*/ 0 w 1657402"/>
              <a:gd name="connsiteY7-50" fmla="*/ 38563 h 231375"/>
              <a:gd name="connsiteX8-51" fmla="*/ 38563 w 1657402"/>
              <a:gd name="connsiteY8-52" fmla="*/ 0 h 231375"/>
              <a:gd name="connsiteX0-53" fmla="*/ 38563 w 1825307"/>
              <a:gd name="connsiteY0-54" fmla="*/ 0 h 231375"/>
              <a:gd name="connsiteX1-55" fmla="*/ 1616515 w 1825307"/>
              <a:gd name="connsiteY1-56" fmla="*/ 0 h 231375"/>
              <a:gd name="connsiteX2-57" fmla="*/ 1655078 w 1825307"/>
              <a:gd name="connsiteY2-58" fmla="*/ 38563 h 231375"/>
              <a:gd name="connsiteX3-59" fmla="*/ 1825307 w 1825307"/>
              <a:gd name="connsiteY3-60" fmla="*/ 217920 h 231375"/>
              <a:gd name="connsiteX4-61" fmla="*/ 1655078 w 1825307"/>
              <a:gd name="connsiteY4-62" fmla="*/ 231375 h 231375"/>
              <a:gd name="connsiteX5-63" fmla="*/ 0 w 1825307"/>
              <a:gd name="connsiteY5-64" fmla="*/ 231375 h 231375"/>
              <a:gd name="connsiteX6-65" fmla="*/ 0 w 1825307"/>
              <a:gd name="connsiteY6-66" fmla="*/ 231375 h 231375"/>
              <a:gd name="connsiteX7-67" fmla="*/ 0 w 1825307"/>
              <a:gd name="connsiteY7-68" fmla="*/ 38563 h 231375"/>
              <a:gd name="connsiteX8-69" fmla="*/ 38563 w 1825307"/>
              <a:gd name="connsiteY8-70" fmla="*/ 0 h 231375"/>
              <a:gd name="connsiteX0-71" fmla="*/ 38563 w 1825307"/>
              <a:gd name="connsiteY0-72" fmla="*/ 0 h 231375"/>
              <a:gd name="connsiteX1-73" fmla="*/ 1616515 w 1825307"/>
              <a:gd name="connsiteY1-74" fmla="*/ 0 h 231375"/>
              <a:gd name="connsiteX2-75" fmla="*/ 1655078 w 1825307"/>
              <a:gd name="connsiteY2-76" fmla="*/ 38563 h 231375"/>
              <a:gd name="connsiteX3-77" fmla="*/ 1825307 w 1825307"/>
              <a:gd name="connsiteY3-78" fmla="*/ 217920 h 231375"/>
              <a:gd name="connsiteX4-79" fmla="*/ 1655078 w 1825307"/>
              <a:gd name="connsiteY4-80" fmla="*/ 231375 h 231375"/>
              <a:gd name="connsiteX5-81" fmla="*/ 0 w 1825307"/>
              <a:gd name="connsiteY5-82" fmla="*/ 231375 h 231375"/>
              <a:gd name="connsiteX6-83" fmla="*/ 0 w 1825307"/>
              <a:gd name="connsiteY6-84" fmla="*/ 231375 h 231375"/>
              <a:gd name="connsiteX7-85" fmla="*/ 0 w 1825307"/>
              <a:gd name="connsiteY7-86" fmla="*/ 38563 h 231375"/>
              <a:gd name="connsiteX8-87" fmla="*/ 38563 w 1825307"/>
              <a:gd name="connsiteY8-88" fmla="*/ 0 h 231375"/>
              <a:gd name="connsiteX0-89" fmla="*/ 38563 w 1825307"/>
              <a:gd name="connsiteY0-90" fmla="*/ 0 h 231375"/>
              <a:gd name="connsiteX1-91" fmla="*/ 1616515 w 1825307"/>
              <a:gd name="connsiteY1-92" fmla="*/ 0 h 231375"/>
              <a:gd name="connsiteX2-93" fmla="*/ 1655078 w 1825307"/>
              <a:gd name="connsiteY2-94" fmla="*/ 38563 h 231375"/>
              <a:gd name="connsiteX3-95" fmla="*/ 1825307 w 1825307"/>
              <a:gd name="connsiteY3-96" fmla="*/ 217920 h 231375"/>
              <a:gd name="connsiteX4-97" fmla="*/ 1655078 w 1825307"/>
              <a:gd name="connsiteY4-98" fmla="*/ 231375 h 231375"/>
              <a:gd name="connsiteX5-99" fmla="*/ 0 w 1825307"/>
              <a:gd name="connsiteY5-100" fmla="*/ 231375 h 231375"/>
              <a:gd name="connsiteX6-101" fmla="*/ 0 w 1825307"/>
              <a:gd name="connsiteY6-102" fmla="*/ 231375 h 231375"/>
              <a:gd name="connsiteX7-103" fmla="*/ 0 w 1825307"/>
              <a:gd name="connsiteY7-104" fmla="*/ 38563 h 231375"/>
              <a:gd name="connsiteX8-105" fmla="*/ 38563 w 1825307"/>
              <a:gd name="connsiteY8-106" fmla="*/ 0 h 231375"/>
              <a:gd name="connsiteX0-107" fmla="*/ 38563 w 1825307"/>
              <a:gd name="connsiteY0-108" fmla="*/ 0 h 231375"/>
              <a:gd name="connsiteX1-109" fmla="*/ 1616515 w 1825307"/>
              <a:gd name="connsiteY1-110" fmla="*/ 0 h 231375"/>
              <a:gd name="connsiteX2-111" fmla="*/ 1655078 w 1825307"/>
              <a:gd name="connsiteY2-112" fmla="*/ 38563 h 231375"/>
              <a:gd name="connsiteX3-113" fmla="*/ 1825307 w 1825307"/>
              <a:gd name="connsiteY3-114" fmla="*/ 230557 h 231375"/>
              <a:gd name="connsiteX4-115" fmla="*/ 1655078 w 1825307"/>
              <a:gd name="connsiteY4-116" fmla="*/ 231375 h 231375"/>
              <a:gd name="connsiteX5-117" fmla="*/ 0 w 1825307"/>
              <a:gd name="connsiteY5-118" fmla="*/ 231375 h 231375"/>
              <a:gd name="connsiteX6-119" fmla="*/ 0 w 1825307"/>
              <a:gd name="connsiteY6-120" fmla="*/ 231375 h 231375"/>
              <a:gd name="connsiteX7-121" fmla="*/ 0 w 1825307"/>
              <a:gd name="connsiteY7-122" fmla="*/ 38563 h 231375"/>
              <a:gd name="connsiteX8-123" fmla="*/ 38563 w 1825307"/>
              <a:gd name="connsiteY8-124" fmla="*/ 0 h 231375"/>
              <a:gd name="connsiteX0-125" fmla="*/ 38563 w 1825307"/>
              <a:gd name="connsiteY0-126" fmla="*/ 0 h 231375"/>
              <a:gd name="connsiteX1-127" fmla="*/ 1616515 w 1825307"/>
              <a:gd name="connsiteY1-128" fmla="*/ 0 h 231375"/>
              <a:gd name="connsiteX2-129" fmla="*/ 1670343 w 1825307"/>
              <a:gd name="connsiteY2-130" fmla="*/ 40669 h 231375"/>
              <a:gd name="connsiteX3-131" fmla="*/ 1825307 w 1825307"/>
              <a:gd name="connsiteY3-132" fmla="*/ 230557 h 231375"/>
              <a:gd name="connsiteX4-133" fmla="*/ 1655078 w 1825307"/>
              <a:gd name="connsiteY4-134" fmla="*/ 231375 h 231375"/>
              <a:gd name="connsiteX5-135" fmla="*/ 0 w 1825307"/>
              <a:gd name="connsiteY5-136" fmla="*/ 231375 h 231375"/>
              <a:gd name="connsiteX6-137" fmla="*/ 0 w 1825307"/>
              <a:gd name="connsiteY6-138" fmla="*/ 231375 h 231375"/>
              <a:gd name="connsiteX7-139" fmla="*/ 0 w 1825307"/>
              <a:gd name="connsiteY7-140" fmla="*/ 38563 h 231375"/>
              <a:gd name="connsiteX8-141" fmla="*/ 38563 w 1825307"/>
              <a:gd name="connsiteY8-142" fmla="*/ 0 h 231375"/>
              <a:gd name="connsiteX0-143" fmla="*/ 38563 w 1825307"/>
              <a:gd name="connsiteY0-144" fmla="*/ 0 h 231375"/>
              <a:gd name="connsiteX1-145" fmla="*/ 1616515 w 1825307"/>
              <a:gd name="connsiteY1-146" fmla="*/ 0 h 231375"/>
              <a:gd name="connsiteX2-147" fmla="*/ 1670343 w 1825307"/>
              <a:gd name="connsiteY2-148" fmla="*/ 40669 h 231375"/>
              <a:gd name="connsiteX3-149" fmla="*/ 1825307 w 1825307"/>
              <a:gd name="connsiteY3-150" fmla="*/ 230557 h 231375"/>
              <a:gd name="connsiteX4-151" fmla="*/ 0 w 1825307"/>
              <a:gd name="connsiteY4-152" fmla="*/ 231375 h 231375"/>
              <a:gd name="connsiteX5-153" fmla="*/ 0 w 1825307"/>
              <a:gd name="connsiteY5-154" fmla="*/ 231375 h 231375"/>
              <a:gd name="connsiteX6-155" fmla="*/ 0 w 1825307"/>
              <a:gd name="connsiteY6-156" fmla="*/ 38563 h 231375"/>
              <a:gd name="connsiteX7-157" fmla="*/ 38563 w 1825307"/>
              <a:gd name="connsiteY7-158" fmla="*/ 0 h 231375"/>
              <a:gd name="connsiteX0-159" fmla="*/ 38563 w 1825307"/>
              <a:gd name="connsiteY0-160" fmla="*/ 0 h 231375"/>
              <a:gd name="connsiteX1-161" fmla="*/ 1616515 w 1825307"/>
              <a:gd name="connsiteY1-162" fmla="*/ 0 h 231375"/>
              <a:gd name="connsiteX2-163" fmla="*/ 1670343 w 1825307"/>
              <a:gd name="connsiteY2-164" fmla="*/ 40669 h 231375"/>
              <a:gd name="connsiteX3-165" fmla="*/ 1825307 w 1825307"/>
              <a:gd name="connsiteY3-166" fmla="*/ 230557 h 231375"/>
              <a:gd name="connsiteX4-167" fmla="*/ 0 w 1825307"/>
              <a:gd name="connsiteY4-168" fmla="*/ 231375 h 231375"/>
              <a:gd name="connsiteX5-169" fmla="*/ 0 w 1825307"/>
              <a:gd name="connsiteY5-170" fmla="*/ 231375 h 231375"/>
              <a:gd name="connsiteX6-171" fmla="*/ 0 w 1825307"/>
              <a:gd name="connsiteY6-172" fmla="*/ 38563 h 231375"/>
              <a:gd name="connsiteX7-173" fmla="*/ 38563 w 1825307"/>
              <a:gd name="connsiteY7-174" fmla="*/ 0 h 231375"/>
              <a:gd name="connsiteX0-175" fmla="*/ 38563 w 1825307"/>
              <a:gd name="connsiteY0-176" fmla="*/ 0 h 231375"/>
              <a:gd name="connsiteX1-177" fmla="*/ 1616515 w 1825307"/>
              <a:gd name="connsiteY1-178" fmla="*/ 0 h 231375"/>
              <a:gd name="connsiteX2-179" fmla="*/ 1670343 w 1825307"/>
              <a:gd name="connsiteY2-180" fmla="*/ 40669 h 231375"/>
              <a:gd name="connsiteX3-181" fmla="*/ 1825307 w 1825307"/>
              <a:gd name="connsiteY3-182" fmla="*/ 230557 h 231375"/>
              <a:gd name="connsiteX4-183" fmla="*/ 0 w 1825307"/>
              <a:gd name="connsiteY4-184" fmla="*/ 231375 h 231375"/>
              <a:gd name="connsiteX5-185" fmla="*/ 0 w 1825307"/>
              <a:gd name="connsiteY5-186" fmla="*/ 231375 h 231375"/>
              <a:gd name="connsiteX6-187" fmla="*/ 0 w 1825307"/>
              <a:gd name="connsiteY6-188" fmla="*/ 38563 h 231375"/>
              <a:gd name="connsiteX7-189" fmla="*/ 38563 w 1825307"/>
              <a:gd name="connsiteY7-190" fmla="*/ 0 h 231375"/>
              <a:gd name="connsiteX0-191" fmla="*/ 38563 w 1825307"/>
              <a:gd name="connsiteY0-192" fmla="*/ 0 h 231375"/>
              <a:gd name="connsiteX1-193" fmla="*/ 1616515 w 1825307"/>
              <a:gd name="connsiteY1-194" fmla="*/ 0 h 231375"/>
              <a:gd name="connsiteX2-195" fmla="*/ 1670343 w 1825307"/>
              <a:gd name="connsiteY2-196" fmla="*/ 40669 h 231375"/>
              <a:gd name="connsiteX3-197" fmla="*/ 1825307 w 1825307"/>
              <a:gd name="connsiteY3-198" fmla="*/ 230557 h 231375"/>
              <a:gd name="connsiteX4-199" fmla="*/ 0 w 1825307"/>
              <a:gd name="connsiteY4-200" fmla="*/ 231375 h 231375"/>
              <a:gd name="connsiteX5-201" fmla="*/ 0 w 1825307"/>
              <a:gd name="connsiteY5-202" fmla="*/ 231375 h 231375"/>
              <a:gd name="connsiteX6-203" fmla="*/ 0 w 1825307"/>
              <a:gd name="connsiteY6-204" fmla="*/ 38563 h 231375"/>
              <a:gd name="connsiteX7-205" fmla="*/ 38563 w 1825307"/>
              <a:gd name="connsiteY7-206" fmla="*/ 0 h 231375"/>
              <a:gd name="connsiteX0-207" fmla="*/ 38563 w 1825307"/>
              <a:gd name="connsiteY0-208" fmla="*/ 0 h 231375"/>
              <a:gd name="connsiteX1-209" fmla="*/ 1616515 w 1825307"/>
              <a:gd name="connsiteY1-210" fmla="*/ 0 h 231375"/>
              <a:gd name="connsiteX2-211" fmla="*/ 1670343 w 1825307"/>
              <a:gd name="connsiteY2-212" fmla="*/ 40669 h 231375"/>
              <a:gd name="connsiteX3-213" fmla="*/ 1825307 w 1825307"/>
              <a:gd name="connsiteY3-214" fmla="*/ 230557 h 231375"/>
              <a:gd name="connsiteX4-215" fmla="*/ 0 w 1825307"/>
              <a:gd name="connsiteY4-216" fmla="*/ 231375 h 231375"/>
              <a:gd name="connsiteX5-217" fmla="*/ 0 w 1825307"/>
              <a:gd name="connsiteY5-218" fmla="*/ 231375 h 231375"/>
              <a:gd name="connsiteX6-219" fmla="*/ 0 w 1825307"/>
              <a:gd name="connsiteY6-220" fmla="*/ 38563 h 231375"/>
              <a:gd name="connsiteX7-221" fmla="*/ 38563 w 1825307"/>
              <a:gd name="connsiteY7-222" fmla="*/ 0 h 231375"/>
              <a:gd name="connsiteX0-223" fmla="*/ 38563 w 1827851"/>
              <a:gd name="connsiteY0-224" fmla="*/ 0 h 249512"/>
              <a:gd name="connsiteX1-225" fmla="*/ 1616515 w 1827851"/>
              <a:gd name="connsiteY1-226" fmla="*/ 0 h 249512"/>
              <a:gd name="connsiteX2-227" fmla="*/ 1670343 w 1827851"/>
              <a:gd name="connsiteY2-228" fmla="*/ 40669 h 249512"/>
              <a:gd name="connsiteX3-229" fmla="*/ 1827851 w 1827851"/>
              <a:gd name="connsiteY3-230" fmla="*/ 249512 h 249512"/>
              <a:gd name="connsiteX4-231" fmla="*/ 0 w 1827851"/>
              <a:gd name="connsiteY4-232" fmla="*/ 231375 h 249512"/>
              <a:gd name="connsiteX5-233" fmla="*/ 0 w 1827851"/>
              <a:gd name="connsiteY5-234" fmla="*/ 231375 h 249512"/>
              <a:gd name="connsiteX6-235" fmla="*/ 0 w 1827851"/>
              <a:gd name="connsiteY6-236" fmla="*/ 38563 h 249512"/>
              <a:gd name="connsiteX7-237" fmla="*/ 38563 w 1827851"/>
              <a:gd name="connsiteY7-238" fmla="*/ 0 h 249512"/>
              <a:gd name="connsiteX0-239" fmla="*/ 38563 w 1827851"/>
              <a:gd name="connsiteY0-240" fmla="*/ 0 h 249512"/>
              <a:gd name="connsiteX1-241" fmla="*/ 1616515 w 1827851"/>
              <a:gd name="connsiteY1-242" fmla="*/ 0 h 249512"/>
              <a:gd name="connsiteX2-243" fmla="*/ 1670343 w 1827851"/>
              <a:gd name="connsiteY2-244" fmla="*/ 40669 h 249512"/>
              <a:gd name="connsiteX3-245" fmla="*/ 1827851 w 1827851"/>
              <a:gd name="connsiteY3-246" fmla="*/ 249512 h 249512"/>
              <a:gd name="connsiteX4-247" fmla="*/ 0 w 1827851"/>
              <a:gd name="connsiteY4-248" fmla="*/ 231375 h 249512"/>
              <a:gd name="connsiteX5-249" fmla="*/ 0 w 1827851"/>
              <a:gd name="connsiteY5-250" fmla="*/ 231375 h 249512"/>
              <a:gd name="connsiteX6-251" fmla="*/ 0 w 1827851"/>
              <a:gd name="connsiteY6-252" fmla="*/ 38563 h 249512"/>
              <a:gd name="connsiteX7-253" fmla="*/ 38563 w 1827851"/>
              <a:gd name="connsiteY7-254" fmla="*/ 0 h 249512"/>
              <a:gd name="connsiteX0-255" fmla="*/ 38563 w 1827851"/>
              <a:gd name="connsiteY0-256" fmla="*/ 0 h 249512"/>
              <a:gd name="connsiteX1-257" fmla="*/ 1585987 w 1827851"/>
              <a:gd name="connsiteY1-258" fmla="*/ 0 h 249512"/>
              <a:gd name="connsiteX2-259" fmla="*/ 1670343 w 1827851"/>
              <a:gd name="connsiteY2-260" fmla="*/ 40669 h 249512"/>
              <a:gd name="connsiteX3-261" fmla="*/ 1827851 w 1827851"/>
              <a:gd name="connsiteY3-262" fmla="*/ 249512 h 249512"/>
              <a:gd name="connsiteX4-263" fmla="*/ 0 w 1827851"/>
              <a:gd name="connsiteY4-264" fmla="*/ 231375 h 249512"/>
              <a:gd name="connsiteX5-265" fmla="*/ 0 w 1827851"/>
              <a:gd name="connsiteY5-266" fmla="*/ 231375 h 249512"/>
              <a:gd name="connsiteX6-267" fmla="*/ 0 w 1827851"/>
              <a:gd name="connsiteY6-268" fmla="*/ 38563 h 249512"/>
              <a:gd name="connsiteX7-269" fmla="*/ 38563 w 1827851"/>
              <a:gd name="connsiteY7-270" fmla="*/ 0 h 249512"/>
              <a:gd name="connsiteX0-271" fmla="*/ 38563 w 1827851"/>
              <a:gd name="connsiteY0-272" fmla="*/ 157 h 249669"/>
              <a:gd name="connsiteX1-273" fmla="*/ 1585987 w 1827851"/>
              <a:gd name="connsiteY1-274" fmla="*/ 157 h 249669"/>
              <a:gd name="connsiteX2-275" fmla="*/ 1670343 w 1827851"/>
              <a:gd name="connsiteY2-276" fmla="*/ 40826 h 249669"/>
              <a:gd name="connsiteX3-277" fmla="*/ 1827851 w 1827851"/>
              <a:gd name="connsiteY3-278" fmla="*/ 249669 h 249669"/>
              <a:gd name="connsiteX4-279" fmla="*/ 0 w 1827851"/>
              <a:gd name="connsiteY4-280" fmla="*/ 231532 h 249669"/>
              <a:gd name="connsiteX5-281" fmla="*/ 0 w 1827851"/>
              <a:gd name="connsiteY5-282" fmla="*/ 231532 h 249669"/>
              <a:gd name="connsiteX6-283" fmla="*/ 0 w 1827851"/>
              <a:gd name="connsiteY6-284" fmla="*/ 38720 h 249669"/>
              <a:gd name="connsiteX7-285" fmla="*/ 38563 w 1827851"/>
              <a:gd name="connsiteY7-286" fmla="*/ 157 h 249669"/>
              <a:gd name="connsiteX0-287" fmla="*/ 38563 w 1835483"/>
              <a:gd name="connsiteY0-288" fmla="*/ 157 h 247563"/>
              <a:gd name="connsiteX1-289" fmla="*/ 1585987 w 1835483"/>
              <a:gd name="connsiteY1-290" fmla="*/ 157 h 247563"/>
              <a:gd name="connsiteX2-291" fmla="*/ 1670343 w 1835483"/>
              <a:gd name="connsiteY2-292" fmla="*/ 40826 h 247563"/>
              <a:gd name="connsiteX3-293" fmla="*/ 1835483 w 1835483"/>
              <a:gd name="connsiteY3-294" fmla="*/ 247563 h 247563"/>
              <a:gd name="connsiteX4-295" fmla="*/ 0 w 1835483"/>
              <a:gd name="connsiteY4-296" fmla="*/ 231532 h 247563"/>
              <a:gd name="connsiteX5-297" fmla="*/ 0 w 1835483"/>
              <a:gd name="connsiteY5-298" fmla="*/ 231532 h 247563"/>
              <a:gd name="connsiteX6-299" fmla="*/ 0 w 1835483"/>
              <a:gd name="connsiteY6-300" fmla="*/ 38720 h 247563"/>
              <a:gd name="connsiteX7-301" fmla="*/ 38563 w 1835483"/>
              <a:gd name="connsiteY7-302" fmla="*/ 157 h 247563"/>
              <a:gd name="connsiteX0-303" fmla="*/ 38563 w 1835483"/>
              <a:gd name="connsiteY0-304" fmla="*/ 157 h 247563"/>
              <a:gd name="connsiteX1-305" fmla="*/ 1585987 w 1835483"/>
              <a:gd name="connsiteY1-306" fmla="*/ 157 h 247563"/>
              <a:gd name="connsiteX2-307" fmla="*/ 1670343 w 1835483"/>
              <a:gd name="connsiteY2-308" fmla="*/ 40826 h 247563"/>
              <a:gd name="connsiteX3-309" fmla="*/ 1835483 w 1835483"/>
              <a:gd name="connsiteY3-310" fmla="*/ 247563 h 247563"/>
              <a:gd name="connsiteX4-311" fmla="*/ 0 w 1835483"/>
              <a:gd name="connsiteY4-312" fmla="*/ 231532 h 247563"/>
              <a:gd name="connsiteX5-313" fmla="*/ 0 w 1835483"/>
              <a:gd name="connsiteY5-314" fmla="*/ 231532 h 247563"/>
              <a:gd name="connsiteX6-315" fmla="*/ 0 w 1835483"/>
              <a:gd name="connsiteY6-316" fmla="*/ 38720 h 247563"/>
              <a:gd name="connsiteX7-317" fmla="*/ 38563 w 1835483"/>
              <a:gd name="connsiteY7-318" fmla="*/ 157 h 2475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835483" h="247563">
                <a:moveTo>
                  <a:pt x="38563" y="157"/>
                </a:moveTo>
                <a:lnTo>
                  <a:pt x="1585987" y="157"/>
                </a:lnTo>
                <a:cubicBezTo>
                  <a:pt x="1632725" y="-1949"/>
                  <a:pt x="1644903" y="17421"/>
                  <a:pt x="1670343" y="40826"/>
                </a:cubicBezTo>
                <a:cubicBezTo>
                  <a:pt x="1724542" y="107632"/>
                  <a:pt x="1794004" y="187075"/>
                  <a:pt x="1835483" y="247563"/>
                </a:cubicBezTo>
                <a:lnTo>
                  <a:pt x="0" y="231532"/>
                </a:lnTo>
                <a:lnTo>
                  <a:pt x="0" y="231532"/>
                </a:lnTo>
                <a:lnTo>
                  <a:pt x="0" y="38720"/>
                </a:lnTo>
                <a:cubicBezTo>
                  <a:pt x="0" y="17422"/>
                  <a:pt x="17265" y="157"/>
                  <a:pt x="38563" y="157"/>
                </a:cubicBezTo>
                <a:close/>
              </a:path>
            </a:pathLst>
          </a:custGeom>
          <a:gradFill flip="none" rotWithShape="1">
            <a:gsLst>
              <a:gs pos="23000">
                <a:schemeClr val="accent5"/>
              </a:gs>
              <a:gs pos="100000">
                <a:schemeClr val="accent5">
                  <a:lumMod val="60000"/>
                  <a:lumOff val="40000"/>
                </a:schemeClr>
              </a:gs>
            </a:gsLst>
            <a:lin ang="2700000" scaled="1"/>
            <a:tileRect/>
          </a:gradFill>
          <a:ln w="12700" cap="flat" cmpd="sng" algn="ctr">
            <a:noFill/>
            <a:prstDash val="solid"/>
            <a:miter lim="800000"/>
          </a:ln>
          <a:effectLst/>
        </p:spPr>
        <p:txBody>
          <a:bodyPr lIns="144000" tIns="0" rIns="0" bIns="36000" rtlCol="0" anchor="ctr"/>
          <a:lstStyle/>
          <a:p>
            <a:pPr marL="0" marR="0" lvl="0" indent="0" algn="l" defTabSz="457200" eaLnBrk="1" fontAlgn="auto" latinLnBrk="0" hangingPunct="1">
              <a:lnSpc>
                <a:spcPct val="100000"/>
              </a:lnSpc>
              <a:spcBef>
                <a:spcPts val="0"/>
              </a:spcBef>
              <a:spcAft>
                <a:spcPts val="0"/>
              </a:spcAft>
              <a:buClrTx/>
              <a:buSzTx/>
              <a:buFontTx/>
              <a:buNone/>
              <a:defRPr/>
            </a:pPr>
            <a:r>
              <a:rPr kumimoji="0" lang="en-US" sz="20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 </a:t>
            </a:r>
            <a:r>
              <a:rPr kumimoji="0" lang="zh-CN" sz="20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⑤</a:t>
            </a:r>
            <a:r>
              <a:rPr kumimoji="0" lang="en-US" altLang="zh-CN" sz="20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20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优化</a:t>
            </a:r>
            <a:endParaRPr kumimoji="0" lang="zh-CN" altLang="en-US" sz="20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4" name="子陵职场PPT10"/>
          <p:cNvSpPr/>
          <p:nvPr/>
        </p:nvSpPr>
        <p:spPr>
          <a:xfrm>
            <a:off x="480695" y="3518535"/>
            <a:ext cx="1929130" cy="419735"/>
          </a:xfrm>
          <a:custGeom>
            <a:avLst/>
            <a:gdLst>
              <a:gd name="connsiteX0" fmla="*/ 38563 w 1655078"/>
              <a:gd name="connsiteY0" fmla="*/ 0 h 231375"/>
              <a:gd name="connsiteX1" fmla="*/ 1616515 w 1655078"/>
              <a:gd name="connsiteY1" fmla="*/ 0 h 231375"/>
              <a:gd name="connsiteX2" fmla="*/ 1655078 w 1655078"/>
              <a:gd name="connsiteY2" fmla="*/ 38563 h 231375"/>
              <a:gd name="connsiteX3" fmla="*/ 1655078 w 1655078"/>
              <a:gd name="connsiteY3" fmla="*/ 231375 h 231375"/>
              <a:gd name="connsiteX4" fmla="*/ 1655078 w 1655078"/>
              <a:gd name="connsiteY4" fmla="*/ 231375 h 231375"/>
              <a:gd name="connsiteX5" fmla="*/ 0 w 1655078"/>
              <a:gd name="connsiteY5" fmla="*/ 231375 h 231375"/>
              <a:gd name="connsiteX6" fmla="*/ 0 w 1655078"/>
              <a:gd name="connsiteY6" fmla="*/ 231375 h 231375"/>
              <a:gd name="connsiteX7" fmla="*/ 0 w 1655078"/>
              <a:gd name="connsiteY7" fmla="*/ 38563 h 231375"/>
              <a:gd name="connsiteX8" fmla="*/ 38563 w 1655078"/>
              <a:gd name="connsiteY8" fmla="*/ 0 h 231375"/>
              <a:gd name="connsiteX0-1" fmla="*/ 38563 w 1794778"/>
              <a:gd name="connsiteY0-2" fmla="*/ 0 h 231375"/>
              <a:gd name="connsiteX1-3" fmla="*/ 1616515 w 1794778"/>
              <a:gd name="connsiteY1-4" fmla="*/ 0 h 231375"/>
              <a:gd name="connsiteX2-5" fmla="*/ 1655078 w 1794778"/>
              <a:gd name="connsiteY2-6" fmla="*/ 38563 h 231375"/>
              <a:gd name="connsiteX3-7" fmla="*/ 1655078 w 1794778"/>
              <a:gd name="connsiteY3-8" fmla="*/ 231375 h 231375"/>
              <a:gd name="connsiteX4-9" fmla="*/ 1794778 w 1794778"/>
              <a:gd name="connsiteY4-10" fmla="*/ 231375 h 231375"/>
              <a:gd name="connsiteX5-11" fmla="*/ 0 w 1794778"/>
              <a:gd name="connsiteY5-12" fmla="*/ 231375 h 231375"/>
              <a:gd name="connsiteX6-13" fmla="*/ 0 w 1794778"/>
              <a:gd name="connsiteY6-14" fmla="*/ 231375 h 231375"/>
              <a:gd name="connsiteX7-15" fmla="*/ 0 w 1794778"/>
              <a:gd name="connsiteY7-16" fmla="*/ 38563 h 231375"/>
              <a:gd name="connsiteX8-17" fmla="*/ 38563 w 1794778"/>
              <a:gd name="connsiteY8-18" fmla="*/ 0 h 231375"/>
              <a:gd name="connsiteX0-19" fmla="*/ 38563 w 1655078"/>
              <a:gd name="connsiteY0-20" fmla="*/ 0 h 231375"/>
              <a:gd name="connsiteX1-21" fmla="*/ 1616515 w 1655078"/>
              <a:gd name="connsiteY1-22" fmla="*/ 0 h 231375"/>
              <a:gd name="connsiteX2-23" fmla="*/ 1655078 w 1655078"/>
              <a:gd name="connsiteY2-24" fmla="*/ 38563 h 231375"/>
              <a:gd name="connsiteX3-25" fmla="*/ 1655078 w 1655078"/>
              <a:gd name="connsiteY3-26" fmla="*/ 231375 h 231375"/>
              <a:gd name="connsiteX4-27" fmla="*/ 0 w 1655078"/>
              <a:gd name="connsiteY4-28" fmla="*/ 231375 h 231375"/>
              <a:gd name="connsiteX5-29" fmla="*/ 0 w 1655078"/>
              <a:gd name="connsiteY5-30" fmla="*/ 231375 h 231375"/>
              <a:gd name="connsiteX6-31" fmla="*/ 0 w 1655078"/>
              <a:gd name="connsiteY6-32" fmla="*/ 38563 h 231375"/>
              <a:gd name="connsiteX7-33" fmla="*/ 38563 w 1655078"/>
              <a:gd name="connsiteY7-34" fmla="*/ 0 h 231375"/>
              <a:gd name="connsiteX0-35" fmla="*/ 38563 w 1657402"/>
              <a:gd name="connsiteY0-36" fmla="*/ 0 h 231375"/>
              <a:gd name="connsiteX1-37" fmla="*/ 1616515 w 1657402"/>
              <a:gd name="connsiteY1-38" fmla="*/ 0 h 231375"/>
              <a:gd name="connsiteX2-39" fmla="*/ 1655078 w 1657402"/>
              <a:gd name="connsiteY2-40" fmla="*/ 38563 h 231375"/>
              <a:gd name="connsiteX3-41" fmla="*/ 1657402 w 1657402"/>
              <a:gd name="connsiteY3-42" fmla="*/ 213709 h 231375"/>
              <a:gd name="connsiteX4-43" fmla="*/ 1655078 w 1657402"/>
              <a:gd name="connsiteY4-44" fmla="*/ 231375 h 231375"/>
              <a:gd name="connsiteX5-45" fmla="*/ 0 w 1657402"/>
              <a:gd name="connsiteY5-46" fmla="*/ 231375 h 231375"/>
              <a:gd name="connsiteX6-47" fmla="*/ 0 w 1657402"/>
              <a:gd name="connsiteY6-48" fmla="*/ 231375 h 231375"/>
              <a:gd name="connsiteX7-49" fmla="*/ 0 w 1657402"/>
              <a:gd name="connsiteY7-50" fmla="*/ 38563 h 231375"/>
              <a:gd name="connsiteX8-51" fmla="*/ 38563 w 1657402"/>
              <a:gd name="connsiteY8-52" fmla="*/ 0 h 231375"/>
              <a:gd name="connsiteX0-53" fmla="*/ 38563 w 1825307"/>
              <a:gd name="connsiteY0-54" fmla="*/ 0 h 231375"/>
              <a:gd name="connsiteX1-55" fmla="*/ 1616515 w 1825307"/>
              <a:gd name="connsiteY1-56" fmla="*/ 0 h 231375"/>
              <a:gd name="connsiteX2-57" fmla="*/ 1655078 w 1825307"/>
              <a:gd name="connsiteY2-58" fmla="*/ 38563 h 231375"/>
              <a:gd name="connsiteX3-59" fmla="*/ 1825307 w 1825307"/>
              <a:gd name="connsiteY3-60" fmla="*/ 217920 h 231375"/>
              <a:gd name="connsiteX4-61" fmla="*/ 1655078 w 1825307"/>
              <a:gd name="connsiteY4-62" fmla="*/ 231375 h 231375"/>
              <a:gd name="connsiteX5-63" fmla="*/ 0 w 1825307"/>
              <a:gd name="connsiteY5-64" fmla="*/ 231375 h 231375"/>
              <a:gd name="connsiteX6-65" fmla="*/ 0 w 1825307"/>
              <a:gd name="connsiteY6-66" fmla="*/ 231375 h 231375"/>
              <a:gd name="connsiteX7-67" fmla="*/ 0 w 1825307"/>
              <a:gd name="connsiteY7-68" fmla="*/ 38563 h 231375"/>
              <a:gd name="connsiteX8-69" fmla="*/ 38563 w 1825307"/>
              <a:gd name="connsiteY8-70" fmla="*/ 0 h 231375"/>
              <a:gd name="connsiteX0-71" fmla="*/ 38563 w 1825307"/>
              <a:gd name="connsiteY0-72" fmla="*/ 0 h 231375"/>
              <a:gd name="connsiteX1-73" fmla="*/ 1616515 w 1825307"/>
              <a:gd name="connsiteY1-74" fmla="*/ 0 h 231375"/>
              <a:gd name="connsiteX2-75" fmla="*/ 1655078 w 1825307"/>
              <a:gd name="connsiteY2-76" fmla="*/ 38563 h 231375"/>
              <a:gd name="connsiteX3-77" fmla="*/ 1825307 w 1825307"/>
              <a:gd name="connsiteY3-78" fmla="*/ 217920 h 231375"/>
              <a:gd name="connsiteX4-79" fmla="*/ 1655078 w 1825307"/>
              <a:gd name="connsiteY4-80" fmla="*/ 231375 h 231375"/>
              <a:gd name="connsiteX5-81" fmla="*/ 0 w 1825307"/>
              <a:gd name="connsiteY5-82" fmla="*/ 231375 h 231375"/>
              <a:gd name="connsiteX6-83" fmla="*/ 0 w 1825307"/>
              <a:gd name="connsiteY6-84" fmla="*/ 231375 h 231375"/>
              <a:gd name="connsiteX7-85" fmla="*/ 0 w 1825307"/>
              <a:gd name="connsiteY7-86" fmla="*/ 38563 h 231375"/>
              <a:gd name="connsiteX8-87" fmla="*/ 38563 w 1825307"/>
              <a:gd name="connsiteY8-88" fmla="*/ 0 h 231375"/>
              <a:gd name="connsiteX0-89" fmla="*/ 38563 w 1825307"/>
              <a:gd name="connsiteY0-90" fmla="*/ 0 h 231375"/>
              <a:gd name="connsiteX1-91" fmla="*/ 1616515 w 1825307"/>
              <a:gd name="connsiteY1-92" fmla="*/ 0 h 231375"/>
              <a:gd name="connsiteX2-93" fmla="*/ 1655078 w 1825307"/>
              <a:gd name="connsiteY2-94" fmla="*/ 38563 h 231375"/>
              <a:gd name="connsiteX3-95" fmla="*/ 1825307 w 1825307"/>
              <a:gd name="connsiteY3-96" fmla="*/ 217920 h 231375"/>
              <a:gd name="connsiteX4-97" fmla="*/ 1655078 w 1825307"/>
              <a:gd name="connsiteY4-98" fmla="*/ 231375 h 231375"/>
              <a:gd name="connsiteX5-99" fmla="*/ 0 w 1825307"/>
              <a:gd name="connsiteY5-100" fmla="*/ 231375 h 231375"/>
              <a:gd name="connsiteX6-101" fmla="*/ 0 w 1825307"/>
              <a:gd name="connsiteY6-102" fmla="*/ 231375 h 231375"/>
              <a:gd name="connsiteX7-103" fmla="*/ 0 w 1825307"/>
              <a:gd name="connsiteY7-104" fmla="*/ 38563 h 231375"/>
              <a:gd name="connsiteX8-105" fmla="*/ 38563 w 1825307"/>
              <a:gd name="connsiteY8-106" fmla="*/ 0 h 231375"/>
              <a:gd name="connsiteX0-107" fmla="*/ 38563 w 1825307"/>
              <a:gd name="connsiteY0-108" fmla="*/ 0 h 231375"/>
              <a:gd name="connsiteX1-109" fmla="*/ 1616515 w 1825307"/>
              <a:gd name="connsiteY1-110" fmla="*/ 0 h 231375"/>
              <a:gd name="connsiteX2-111" fmla="*/ 1655078 w 1825307"/>
              <a:gd name="connsiteY2-112" fmla="*/ 38563 h 231375"/>
              <a:gd name="connsiteX3-113" fmla="*/ 1825307 w 1825307"/>
              <a:gd name="connsiteY3-114" fmla="*/ 230557 h 231375"/>
              <a:gd name="connsiteX4-115" fmla="*/ 1655078 w 1825307"/>
              <a:gd name="connsiteY4-116" fmla="*/ 231375 h 231375"/>
              <a:gd name="connsiteX5-117" fmla="*/ 0 w 1825307"/>
              <a:gd name="connsiteY5-118" fmla="*/ 231375 h 231375"/>
              <a:gd name="connsiteX6-119" fmla="*/ 0 w 1825307"/>
              <a:gd name="connsiteY6-120" fmla="*/ 231375 h 231375"/>
              <a:gd name="connsiteX7-121" fmla="*/ 0 w 1825307"/>
              <a:gd name="connsiteY7-122" fmla="*/ 38563 h 231375"/>
              <a:gd name="connsiteX8-123" fmla="*/ 38563 w 1825307"/>
              <a:gd name="connsiteY8-124" fmla="*/ 0 h 231375"/>
              <a:gd name="connsiteX0-125" fmla="*/ 38563 w 1825307"/>
              <a:gd name="connsiteY0-126" fmla="*/ 0 h 231375"/>
              <a:gd name="connsiteX1-127" fmla="*/ 1616515 w 1825307"/>
              <a:gd name="connsiteY1-128" fmla="*/ 0 h 231375"/>
              <a:gd name="connsiteX2-129" fmla="*/ 1670343 w 1825307"/>
              <a:gd name="connsiteY2-130" fmla="*/ 40669 h 231375"/>
              <a:gd name="connsiteX3-131" fmla="*/ 1825307 w 1825307"/>
              <a:gd name="connsiteY3-132" fmla="*/ 230557 h 231375"/>
              <a:gd name="connsiteX4-133" fmla="*/ 1655078 w 1825307"/>
              <a:gd name="connsiteY4-134" fmla="*/ 231375 h 231375"/>
              <a:gd name="connsiteX5-135" fmla="*/ 0 w 1825307"/>
              <a:gd name="connsiteY5-136" fmla="*/ 231375 h 231375"/>
              <a:gd name="connsiteX6-137" fmla="*/ 0 w 1825307"/>
              <a:gd name="connsiteY6-138" fmla="*/ 231375 h 231375"/>
              <a:gd name="connsiteX7-139" fmla="*/ 0 w 1825307"/>
              <a:gd name="connsiteY7-140" fmla="*/ 38563 h 231375"/>
              <a:gd name="connsiteX8-141" fmla="*/ 38563 w 1825307"/>
              <a:gd name="connsiteY8-142" fmla="*/ 0 h 231375"/>
              <a:gd name="connsiteX0-143" fmla="*/ 38563 w 1825307"/>
              <a:gd name="connsiteY0-144" fmla="*/ 0 h 231375"/>
              <a:gd name="connsiteX1-145" fmla="*/ 1616515 w 1825307"/>
              <a:gd name="connsiteY1-146" fmla="*/ 0 h 231375"/>
              <a:gd name="connsiteX2-147" fmla="*/ 1670343 w 1825307"/>
              <a:gd name="connsiteY2-148" fmla="*/ 40669 h 231375"/>
              <a:gd name="connsiteX3-149" fmla="*/ 1825307 w 1825307"/>
              <a:gd name="connsiteY3-150" fmla="*/ 230557 h 231375"/>
              <a:gd name="connsiteX4-151" fmla="*/ 0 w 1825307"/>
              <a:gd name="connsiteY4-152" fmla="*/ 231375 h 231375"/>
              <a:gd name="connsiteX5-153" fmla="*/ 0 w 1825307"/>
              <a:gd name="connsiteY5-154" fmla="*/ 231375 h 231375"/>
              <a:gd name="connsiteX6-155" fmla="*/ 0 w 1825307"/>
              <a:gd name="connsiteY6-156" fmla="*/ 38563 h 231375"/>
              <a:gd name="connsiteX7-157" fmla="*/ 38563 w 1825307"/>
              <a:gd name="connsiteY7-158" fmla="*/ 0 h 231375"/>
              <a:gd name="connsiteX0-159" fmla="*/ 38563 w 1825307"/>
              <a:gd name="connsiteY0-160" fmla="*/ 0 h 231375"/>
              <a:gd name="connsiteX1-161" fmla="*/ 1616515 w 1825307"/>
              <a:gd name="connsiteY1-162" fmla="*/ 0 h 231375"/>
              <a:gd name="connsiteX2-163" fmla="*/ 1670343 w 1825307"/>
              <a:gd name="connsiteY2-164" fmla="*/ 40669 h 231375"/>
              <a:gd name="connsiteX3-165" fmla="*/ 1825307 w 1825307"/>
              <a:gd name="connsiteY3-166" fmla="*/ 230557 h 231375"/>
              <a:gd name="connsiteX4-167" fmla="*/ 0 w 1825307"/>
              <a:gd name="connsiteY4-168" fmla="*/ 231375 h 231375"/>
              <a:gd name="connsiteX5-169" fmla="*/ 0 w 1825307"/>
              <a:gd name="connsiteY5-170" fmla="*/ 231375 h 231375"/>
              <a:gd name="connsiteX6-171" fmla="*/ 0 w 1825307"/>
              <a:gd name="connsiteY6-172" fmla="*/ 38563 h 231375"/>
              <a:gd name="connsiteX7-173" fmla="*/ 38563 w 1825307"/>
              <a:gd name="connsiteY7-174" fmla="*/ 0 h 231375"/>
              <a:gd name="connsiteX0-175" fmla="*/ 38563 w 1825307"/>
              <a:gd name="connsiteY0-176" fmla="*/ 0 h 231375"/>
              <a:gd name="connsiteX1-177" fmla="*/ 1616515 w 1825307"/>
              <a:gd name="connsiteY1-178" fmla="*/ 0 h 231375"/>
              <a:gd name="connsiteX2-179" fmla="*/ 1670343 w 1825307"/>
              <a:gd name="connsiteY2-180" fmla="*/ 40669 h 231375"/>
              <a:gd name="connsiteX3-181" fmla="*/ 1825307 w 1825307"/>
              <a:gd name="connsiteY3-182" fmla="*/ 230557 h 231375"/>
              <a:gd name="connsiteX4-183" fmla="*/ 0 w 1825307"/>
              <a:gd name="connsiteY4-184" fmla="*/ 231375 h 231375"/>
              <a:gd name="connsiteX5-185" fmla="*/ 0 w 1825307"/>
              <a:gd name="connsiteY5-186" fmla="*/ 231375 h 231375"/>
              <a:gd name="connsiteX6-187" fmla="*/ 0 w 1825307"/>
              <a:gd name="connsiteY6-188" fmla="*/ 38563 h 231375"/>
              <a:gd name="connsiteX7-189" fmla="*/ 38563 w 1825307"/>
              <a:gd name="connsiteY7-190" fmla="*/ 0 h 231375"/>
              <a:gd name="connsiteX0-191" fmla="*/ 38563 w 1825307"/>
              <a:gd name="connsiteY0-192" fmla="*/ 0 h 231375"/>
              <a:gd name="connsiteX1-193" fmla="*/ 1616515 w 1825307"/>
              <a:gd name="connsiteY1-194" fmla="*/ 0 h 231375"/>
              <a:gd name="connsiteX2-195" fmla="*/ 1670343 w 1825307"/>
              <a:gd name="connsiteY2-196" fmla="*/ 40669 h 231375"/>
              <a:gd name="connsiteX3-197" fmla="*/ 1825307 w 1825307"/>
              <a:gd name="connsiteY3-198" fmla="*/ 230557 h 231375"/>
              <a:gd name="connsiteX4-199" fmla="*/ 0 w 1825307"/>
              <a:gd name="connsiteY4-200" fmla="*/ 231375 h 231375"/>
              <a:gd name="connsiteX5-201" fmla="*/ 0 w 1825307"/>
              <a:gd name="connsiteY5-202" fmla="*/ 231375 h 231375"/>
              <a:gd name="connsiteX6-203" fmla="*/ 0 w 1825307"/>
              <a:gd name="connsiteY6-204" fmla="*/ 38563 h 231375"/>
              <a:gd name="connsiteX7-205" fmla="*/ 38563 w 1825307"/>
              <a:gd name="connsiteY7-206" fmla="*/ 0 h 231375"/>
              <a:gd name="connsiteX0-207" fmla="*/ 38563 w 1825307"/>
              <a:gd name="connsiteY0-208" fmla="*/ 0 h 231375"/>
              <a:gd name="connsiteX1-209" fmla="*/ 1616515 w 1825307"/>
              <a:gd name="connsiteY1-210" fmla="*/ 0 h 231375"/>
              <a:gd name="connsiteX2-211" fmla="*/ 1670343 w 1825307"/>
              <a:gd name="connsiteY2-212" fmla="*/ 40669 h 231375"/>
              <a:gd name="connsiteX3-213" fmla="*/ 1825307 w 1825307"/>
              <a:gd name="connsiteY3-214" fmla="*/ 230557 h 231375"/>
              <a:gd name="connsiteX4-215" fmla="*/ 0 w 1825307"/>
              <a:gd name="connsiteY4-216" fmla="*/ 231375 h 231375"/>
              <a:gd name="connsiteX5-217" fmla="*/ 0 w 1825307"/>
              <a:gd name="connsiteY5-218" fmla="*/ 231375 h 231375"/>
              <a:gd name="connsiteX6-219" fmla="*/ 0 w 1825307"/>
              <a:gd name="connsiteY6-220" fmla="*/ 38563 h 231375"/>
              <a:gd name="connsiteX7-221" fmla="*/ 38563 w 1825307"/>
              <a:gd name="connsiteY7-222" fmla="*/ 0 h 231375"/>
              <a:gd name="connsiteX0-223" fmla="*/ 38563 w 1827851"/>
              <a:gd name="connsiteY0-224" fmla="*/ 0 h 249512"/>
              <a:gd name="connsiteX1-225" fmla="*/ 1616515 w 1827851"/>
              <a:gd name="connsiteY1-226" fmla="*/ 0 h 249512"/>
              <a:gd name="connsiteX2-227" fmla="*/ 1670343 w 1827851"/>
              <a:gd name="connsiteY2-228" fmla="*/ 40669 h 249512"/>
              <a:gd name="connsiteX3-229" fmla="*/ 1827851 w 1827851"/>
              <a:gd name="connsiteY3-230" fmla="*/ 249512 h 249512"/>
              <a:gd name="connsiteX4-231" fmla="*/ 0 w 1827851"/>
              <a:gd name="connsiteY4-232" fmla="*/ 231375 h 249512"/>
              <a:gd name="connsiteX5-233" fmla="*/ 0 w 1827851"/>
              <a:gd name="connsiteY5-234" fmla="*/ 231375 h 249512"/>
              <a:gd name="connsiteX6-235" fmla="*/ 0 w 1827851"/>
              <a:gd name="connsiteY6-236" fmla="*/ 38563 h 249512"/>
              <a:gd name="connsiteX7-237" fmla="*/ 38563 w 1827851"/>
              <a:gd name="connsiteY7-238" fmla="*/ 0 h 249512"/>
              <a:gd name="connsiteX0-239" fmla="*/ 38563 w 1827851"/>
              <a:gd name="connsiteY0-240" fmla="*/ 0 h 249512"/>
              <a:gd name="connsiteX1-241" fmla="*/ 1616515 w 1827851"/>
              <a:gd name="connsiteY1-242" fmla="*/ 0 h 249512"/>
              <a:gd name="connsiteX2-243" fmla="*/ 1670343 w 1827851"/>
              <a:gd name="connsiteY2-244" fmla="*/ 40669 h 249512"/>
              <a:gd name="connsiteX3-245" fmla="*/ 1827851 w 1827851"/>
              <a:gd name="connsiteY3-246" fmla="*/ 249512 h 249512"/>
              <a:gd name="connsiteX4-247" fmla="*/ 0 w 1827851"/>
              <a:gd name="connsiteY4-248" fmla="*/ 231375 h 249512"/>
              <a:gd name="connsiteX5-249" fmla="*/ 0 w 1827851"/>
              <a:gd name="connsiteY5-250" fmla="*/ 231375 h 249512"/>
              <a:gd name="connsiteX6-251" fmla="*/ 0 w 1827851"/>
              <a:gd name="connsiteY6-252" fmla="*/ 38563 h 249512"/>
              <a:gd name="connsiteX7-253" fmla="*/ 38563 w 1827851"/>
              <a:gd name="connsiteY7-254" fmla="*/ 0 h 249512"/>
              <a:gd name="connsiteX0-255" fmla="*/ 38563 w 1827851"/>
              <a:gd name="connsiteY0-256" fmla="*/ 0 h 249512"/>
              <a:gd name="connsiteX1-257" fmla="*/ 1585987 w 1827851"/>
              <a:gd name="connsiteY1-258" fmla="*/ 0 h 249512"/>
              <a:gd name="connsiteX2-259" fmla="*/ 1670343 w 1827851"/>
              <a:gd name="connsiteY2-260" fmla="*/ 40669 h 249512"/>
              <a:gd name="connsiteX3-261" fmla="*/ 1827851 w 1827851"/>
              <a:gd name="connsiteY3-262" fmla="*/ 249512 h 249512"/>
              <a:gd name="connsiteX4-263" fmla="*/ 0 w 1827851"/>
              <a:gd name="connsiteY4-264" fmla="*/ 231375 h 249512"/>
              <a:gd name="connsiteX5-265" fmla="*/ 0 w 1827851"/>
              <a:gd name="connsiteY5-266" fmla="*/ 231375 h 249512"/>
              <a:gd name="connsiteX6-267" fmla="*/ 0 w 1827851"/>
              <a:gd name="connsiteY6-268" fmla="*/ 38563 h 249512"/>
              <a:gd name="connsiteX7-269" fmla="*/ 38563 w 1827851"/>
              <a:gd name="connsiteY7-270" fmla="*/ 0 h 249512"/>
              <a:gd name="connsiteX0-271" fmla="*/ 38563 w 1827851"/>
              <a:gd name="connsiteY0-272" fmla="*/ 157 h 249669"/>
              <a:gd name="connsiteX1-273" fmla="*/ 1585987 w 1827851"/>
              <a:gd name="connsiteY1-274" fmla="*/ 157 h 249669"/>
              <a:gd name="connsiteX2-275" fmla="*/ 1670343 w 1827851"/>
              <a:gd name="connsiteY2-276" fmla="*/ 40826 h 249669"/>
              <a:gd name="connsiteX3-277" fmla="*/ 1827851 w 1827851"/>
              <a:gd name="connsiteY3-278" fmla="*/ 249669 h 249669"/>
              <a:gd name="connsiteX4-279" fmla="*/ 0 w 1827851"/>
              <a:gd name="connsiteY4-280" fmla="*/ 231532 h 249669"/>
              <a:gd name="connsiteX5-281" fmla="*/ 0 w 1827851"/>
              <a:gd name="connsiteY5-282" fmla="*/ 231532 h 249669"/>
              <a:gd name="connsiteX6-283" fmla="*/ 0 w 1827851"/>
              <a:gd name="connsiteY6-284" fmla="*/ 38720 h 249669"/>
              <a:gd name="connsiteX7-285" fmla="*/ 38563 w 1827851"/>
              <a:gd name="connsiteY7-286" fmla="*/ 157 h 249669"/>
              <a:gd name="connsiteX0-287" fmla="*/ 38563 w 1835483"/>
              <a:gd name="connsiteY0-288" fmla="*/ 157 h 247563"/>
              <a:gd name="connsiteX1-289" fmla="*/ 1585987 w 1835483"/>
              <a:gd name="connsiteY1-290" fmla="*/ 157 h 247563"/>
              <a:gd name="connsiteX2-291" fmla="*/ 1670343 w 1835483"/>
              <a:gd name="connsiteY2-292" fmla="*/ 40826 h 247563"/>
              <a:gd name="connsiteX3-293" fmla="*/ 1835483 w 1835483"/>
              <a:gd name="connsiteY3-294" fmla="*/ 247563 h 247563"/>
              <a:gd name="connsiteX4-295" fmla="*/ 0 w 1835483"/>
              <a:gd name="connsiteY4-296" fmla="*/ 231532 h 247563"/>
              <a:gd name="connsiteX5-297" fmla="*/ 0 w 1835483"/>
              <a:gd name="connsiteY5-298" fmla="*/ 231532 h 247563"/>
              <a:gd name="connsiteX6-299" fmla="*/ 0 w 1835483"/>
              <a:gd name="connsiteY6-300" fmla="*/ 38720 h 247563"/>
              <a:gd name="connsiteX7-301" fmla="*/ 38563 w 1835483"/>
              <a:gd name="connsiteY7-302" fmla="*/ 157 h 247563"/>
              <a:gd name="connsiteX0-303" fmla="*/ 38563 w 1835483"/>
              <a:gd name="connsiteY0-304" fmla="*/ 157 h 247563"/>
              <a:gd name="connsiteX1-305" fmla="*/ 1585987 w 1835483"/>
              <a:gd name="connsiteY1-306" fmla="*/ 157 h 247563"/>
              <a:gd name="connsiteX2-307" fmla="*/ 1670343 w 1835483"/>
              <a:gd name="connsiteY2-308" fmla="*/ 40826 h 247563"/>
              <a:gd name="connsiteX3-309" fmla="*/ 1835483 w 1835483"/>
              <a:gd name="connsiteY3-310" fmla="*/ 247563 h 247563"/>
              <a:gd name="connsiteX4-311" fmla="*/ 0 w 1835483"/>
              <a:gd name="connsiteY4-312" fmla="*/ 231532 h 247563"/>
              <a:gd name="connsiteX5-313" fmla="*/ 0 w 1835483"/>
              <a:gd name="connsiteY5-314" fmla="*/ 231532 h 247563"/>
              <a:gd name="connsiteX6-315" fmla="*/ 0 w 1835483"/>
              <a:gd name="connsiteY6-316" fmla="*/ 38720 h 247563"/>
              <a:gd name="connsiteX7-317" fmla="*/ 38563 w 1835483"/>
              <a:gd name="connsiteY7-318" fmla="*/ 157 h 2475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835483" h="247563">
                <a:moveTo>
                  <a:pt x="38563" y="157"/>
                </a:moveTo>
                <a:lnTo>
                  <a:pt x="1585987" y="157"/>
                </a:lnTo>
                <a:cubicBezTo>
                  <a:pt x="1632725" y="-1949"/>
                  <a:pt x="1644903" y="17421"/>
                  <a:pt x="1670343" y="40826"/>
                </a:cubicBezTo>
                <a:cubicBezTo>
                  <a:pt x="1724542" y="107632"/>
                  <a:pt x="1794004" y="187075"/>
                  <a:pt x="1835483" y="247563"/>
                </a:cubicBezTo>
                <a:lnTo>
                  <a:pt x="0" y="231532"/>
                </a:lnTo>
                <a:lnTo>
                  <a:pt x="0" y="231532"/>
                </a:lnTo>
                <a:lnTo>
                  <a:pt x="0" y="38720"/>
                </a:lnTo>
                <a:cubicBezTo>
                  <a:pt x="0" y="17422"/>
                  <a:pt x="17265" y="157"/>
                  <a:pt x="38563" y="157"/>
                </a:cubicBezTo>
                <a:close/>
              </a:path>
            </a:pathLst>
          </a:custGeom>
          <a:gradFill flip="none" rotWithShape="1">
            <a:gsLst>
              <a:gs pos="23000">
                <a:schemeClr val="accent1">
                  <a:lumMod val="60000"/>
                  <a:lumOff val="40000"/>
                </a:schemeClr>
              </a:gs>
              <a:gs pos="100000">
                <a:schemeClr val="accent1">
                  <a:lumMod val="40000"/>
                  <a:lumOff val="60000"/>
                </a:schemeClr>
              </a:gs>
            </a:gsLst>
            <a:lin ang="2700000" scaled="1"/>
            <a:tileRect/>
          </a:gradFill>
          <a:ln w="12700" cap="flat" cmpd="sng" algn="ctr">
            <a:noFill/>
            <a:prstDash val="solid"/>
            <a:miter lim="800000"/>
          </a:ln>
          <a:effectLst/>
        </p:spPr>
        <p:txBody>
          <a:bodyPr lIns="144000" tIns="0" rIns="0" bIns="36000" rtlCol="0" anchor="ctr"/>
          <a:lstStyle/>
          <a:p>
            <a:pPr marL="0" marR="0" lvl="0" indent="0" defTabSz="457200" eaLnBrk="1" fontAlgn="auto" latinLnBrk="0" hangingPunct="1">
              <a:lnSpc>
                <a:spcPct val="100000"/>
              </a:lnSpc>
              <a:spcBef>
                <a:spcPts val="0"/>
              </a:spcBef>
              <a:spcAft>
                <a:spcPts val="0"/>
              </a:spcAft>
              <a:buClrTx/>
              <a:buSzTx/>
              <a:buFontTx/>
              <a:buNone/>
              <a:defRPr/>
            </a:pPr>
            <a:r>
              <a:rPr kumimoji="0" lang="en-US" sz="20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 </a:t>
            </a:r>
            <a:r>
              <a:rPr kumimoji="0" lang="zh-CN" altLang="en-US" sz="20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④</a:t>
            </a:r>
            <a:r>
              <a:rPr kumimoji="0" lang="en-US" altLang="zh-CN" sz="20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a:t>
            </a:r>
            <a:r>
              <a:rPr kumimoji="0" lang="zh-CN" altLang="en-US" sz="20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留人</a:t>
            </a:r>
            <a:endParaRPr kumimoji="0" lang="zh-CN" altLang="en-US" sz="2000" b="1"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8" name="子陵职场PPT11"/>
          <p:cNvSpPr/>
          <p:nvPr/>
        </p:nvSpPr>
        <p:spPr>
          <a:xfrm flipH="1">
            <a:off x="9733280" y="2872740"/>
            <a:ext cx="1929130" cy="419735"/>
          </a:xfrm>
          <a:custGeom>
            <a:avLst/>
            <a:gdLst>
              <a:gd name="connsiteX0" fmla="*/ 38563 w 1655078"/>
              <a:gd name="connsiteY0" fmla="*/ 0 h 231375"/>
              <a:gd name="connsiteX1" fmla="*/ 1616515 w 1655078"/>
              <a:gd name="connsiteY1" fmla="*/ 0 h 231375"/>
              <a:gd name="connsiteX2" fmla="*/ 1655078 w 1655078"/>
              <a:gd name="connsiteY2" fmla="*/ 38563 h 231375"/>
              <a:gd name="connsiteX3" fmla="*/ 1655078 w 1655078"/>
              <a:gd name="connsiteY3" fmla="*/ 231375 h 231375"/>
              <a:gd name="connsiteX4" fmla="*/ 1655078 w 1655078"/>
              <a:gd name="connsiteY4" fmla="*/ 231375 h 231375"/>
              <a:gd name="connsiteX5" fmla="*/ 0 w 1655078"/>
              <a:gd name="connsiteY5" fmla="*/ 231375 h 231375"/>
              <a:gd name="connsiteX6" fmla="*/ 0 w 1655078"/>
              <a:gd name="connsiteY6" fmla="*/ 231375 h 231375"/>
              <a:gd name="connsiteX7" fmla="*/ 0 w 1655078"/>
              <a:gd name="connsiteY7" fmla="*/ 38563 h 231375"/>
              <a:gd name="connsiteX8" fmla="*/ 38563 w 1655078"/>
              <a:gd name="connsiteY8" fmla="*/ 0 h 231375"/>
              <a:gd name="connsiteX0-1" fmla="*/ 38563 w 1794778"/>
              <a:gd name="connsiteY0-2" fmla="*/ 0 h 231375"/>
              <a:gd name="connsiteX1-3" fmla="*/ 1616515 w 1794778"/>
              <a:gd name="connsiteY1-4" fmla="*/ 0 h 231375"/>
              <a:gd name="connsiteX2-5" fmla="*/ 1655078 w 1794778"/>
              <a:gd name="connsiteY2-6" fmla="*/ 38563 h 231375"/>
              <a:gd name="connsiteX3-7" fmla="*/ 1655078 w 1794778"/>
              <a:gd name="connsiteY3-8" fmla="*/ 231375 h 231375"/>
              <a:gd name="connsiteX4-9" fmla="*/ 1794778 w 1794778"/>
              <a:gd name="connsiteY4-10" fmla="*/ 231375 h 231375"/>
              <a:gd name="connsiteX5-11" fmla="*/ 0 w 1794778"/>
              <a:gd name="connsiteY5-12" fmla="*/ 231375 h 231375"/>
              <a:gd name="connsiteX6-13" fmla="*/ 0 w 1794778"/>
              <a:gd name="connsiteY6-14" fmla="*/ 231375 h 231375"/>
              <a:gd name="connsiteX7-15" fmla="*/ 0 w 1794778"/>
              <a:gd name="connsiteY7-16" fmla="*/ 38563 h 231375"/>
              <a:gd name="connsiteX8-17" fmla="*/ 38563 w 1794778"/>
              <a:gd name="connsiteY8-18" fmla="*/ 0 h 231375"/>
              <a:gd name="connsiteX0-19" fmla="*/ 38563 w 1655078"/>
              <a:gd name="connsiteY0-20" fmla="*/ 0 h 231375"/>
              <a:gd name="connsiteX1-21" fmla="*/ 1616515 w 1655078"/>
              <a:gd name="connsiteY1-22" fmla="*/ 0 h 231375"/>
              <a:gd name="connsiteX2-23" fmla="*/ 1655078 w 1655078"/>
              <a:gd name="connsiteY2-24" fmla="*/ 38563 h 231375"/>
              <a:gd name="connsiteX3-25" fmla="*/ 1655078 w 1655078"/>
              <a:gd name="connsiteY3-26" fmla="*/ 231375 h 231375"/>
              <a:gd name="connsiteX4-27" fmla="*/ 0 w 1655078"/>
              <a:gd name="connsiteY4-28" fmla="*/ 231375 h 231375"/>
              <a:gd name="connsiteX5-29" fmla="*/ 0 w 1655078"/>
              <a:gd name="connsiteY5-30" fmla="*/ 231375 h 231375"/>
              <a:gd name="connsiteX6-31" fmla="*/ 0 w 1655078"/>
              <a:gd name="connsiteY6-32" fmla="*/ 38563 h 231375"/>
              <a:gd name="connsiteX7-33" fmla="*/ 38563 w 1655078"/>
              <a:gd name="connsiteY7-34" fmla="*/ 0 h 231375"/>
              <a:gd name="connsiteX0-35" fmla="*/ 38563 w 1657402"/>
              <a:gd name="connsiteY0-36" fmla="*/ 0 h 231375"/>
              <a:gd name="connsiteX1-37" fmla="*/ 1616515 w 1657402"/>
              <a:gd name="connsiteY1-38" fmla="*/ 0 h 231375"/>
              <a:gd name="connsiteX2-39" fmla="*/ 1655078 w 1657402"/>
              <a:gd name="connsiteY2-40" fmla="*/ 38563 h 231375"/>
              <a:gd name="connsiteX3-41" fmla="*/ 1657402 w 1657402"/>
              <a:gd name="connsiteY3-42" fmla="*/ 213709 h 231375"/>
              <a:gd name="connsiteX4-43" fmla="*/ 1655078 w 1657402"/>
              <a:gd name="connsiteY4-44" fmla="*/ 231375 h 231375"/>
              <a:gd name="connsiteX5-45" fmla="*/ 0 w 1657402"/>
              <a:gd name="connsiteY5-46" fmla="*/ 231375 h 231375"/>
              <a:gd name="connsiteX6-47" fmla="*/ 0 w 1657402"/>
              <a:gd name="connsiteY6-48" fmla="*/ 231375 h 231375"/>
              <a:gd name="connsiteX7-49" fmla="*/ 0 w 1657402"/>
              <a:gd name="connsiteY7-50" fmla="*/ 38563 h 231375"/>
              <a:gd name="connsiteX8-51" fmla="*/ 38563 w 1657402"/>
              <a:gd name="connsiteY8-52" fmla="*/ 0 h 231375"/>
              <a:gd name="connsiteX0-53" fmla="*/ 38563 w 1825307"/>
              <a:gd name="connsiteY0-54" fmla="*/ 0 h 231375"/>
              <a:gd name="connsiteX1-55" fmla="*/ 1616515 w 1825307"/>
              <a:gd name="connsiteY1-56" fmla="*/ 0 h 231375"/>
              <a:gd name="connsiteX2-57" fmla="*/ 1655078 w 1825307"/>
              <a:gd name="connsiteY2-58" fmla="*/ 38563 h 231375"/>
              <a:gd name="connsiteX3-59" fmla="*/ 1825307 w 1825307"/>
              <a:gd name="connsiteY3-60" fmla="*/ 217920 h 231375"/>
              <a:gd name="connsiteX4-61" fmla="*/ 1655078 w 1825307"/>
              <a:gd name="connsiteY4-62" fmla="*/ 231375 h 231375"/>
              <a:gd name="connsiteX5-63" fmla="*/ 0 w 1825307"/>
              <a:gd name="connsiteY5-64" fmla="*/ 231375 h 231375"/>
              <a:gd name="connsiteX6-65" fmla="*/ 0 w 1825307"/>
              <a:gd name="connsiteY6-66" fmla="*/ 231375 h 231375"/>
              <a:gd name="connsiteX7-67" fmla="*/ 0 w 1825307"/>
              <a:gd name="connsiteY7-68" fmla="*/ 38563 h 231375"/>
              <a:gd name="connsiteX8-69" fmla="*/ 38563 w 1825307"/>
              <a:gd name="connsiteY8-70" fmla="*/ 0 h 231375"/>
              <a:gd name="connsiteX0-71" fmla="*/ 38563 w 1825307"/>
              <a:gd name="connsiteY0-72" fmla="*/ 0 h 231375"/>
              <a:gd name="connsiteX1-73" fmla="*/ 1616515 w 1825307"/>
              <a:gd name="connsiteY1-74" fmla="*/ 0 h 231375"/>
              <a:gd name="connsiteX2-75" fmla="*/ 1655078 w 1825307"/>
              <a:gd name="connsiteY2-76" fmla="*/ 38563 h 231375"/>
              <a:gd name="connsiteX3-77" fmla="*/ 1825307 w 1825307"/>
              <a:gd name="connsiteY3-78" fmla="*/ 217920 h 231375"/>
              <a:gd name="connsiteX4-79" fmla="*/ 1655078 w 1825307"/>
              <a:gd name="connsiteY4-80" fmla="*/ 231375 h 231375"/>
              <a:gd name="connsiteX5-81" fmla="*/ 0 w 1825307"/>
              <a:gd name="connsiteY5-82" fmla="*/ 231375 h 231375"/>
              <a:gd name="connsiteX6-83" fmla="*/ 0 w 1825307"/>
              <a:gd name="connsiteY6-84" fmla="*/ 231375 h 231375"/>
              <a:gd name="connsiteX7-85" fmla="*/ 0 w 1825307"/>
              <a:gd name="connsiteY7-86" fmla="*/ 38563 h 231375"/>
              <a:gd name="connsiteX8-87" fmla="*/ 38563 w 1825307"/>
              <a:gd name="connsiteY8-88" fmla="*/ 0 h 231375"/>
              <a:gd name="connsiteX0-89" fmla="*/ 38563 w 1825307"/>
              <a:gd name="connsiteY0-90" fmla="*/ 0 h 231375"/>
              <a:gd name="connsiteX1-91" fmla="*/ 1616515 w 1825307"/>
              <a:gd name="connsiteY1-92" fmla="*/ 0 h 231375"/>
              <a:gd name="connsiteX2-93" fmla="*/ 1655078 w 1825307"/>
              <a:gd name="connsiteY2-94" fmla="*/ 38563 h 231375"/>
              <a:gd name="connsiteX3-95" fmla="*/ 1825307 w 1825307"/>
              <a:gd name="connsiteY3-96" fmla="*/ 217920 h 231375"/>
              <a:gd name="connsiteX4-97" fmla="*/ 1655078 w 1825307"/>
              <a:gd name="connsiteY4-98" fmla="*/ 231375 h 231375"/>
              <a:gd name="connsiteX5-99" fmla="*/ 0 w 1825307"/>
              <a:gd name="connsiteY5-100" fmla="*/ 231375 h 231375"/>
              <a:gd name="connsiteX6-101" fmla="*/ 0 w 1825307"/>
              <a:gd name="connsiteY6-102" fmla="*/ 231375 h 231375"/>
              <a:gd name="connsiteX7-103" fmla="*/ 0 w 1825307"/>
              <a:gd name="connsiteY7-104" fmla="*/ 38563 h 231375"/>
              <a:gd name="connsiteX8-105" fmla="*/ 38563 w 1825307"/>
              <a:gd name="connsiteY8-106" fmla="*/ 0 h 231375"/>
              <a:gd name="connsiteX0-107" fmla="*/ 38563 w 1825307"/>
              <a:gd name="connsiteY0-108" fmla="*/ 0 h 231375"/>
              <a:gd name="connsiteX1-109" fmla="*/ 1616515 w 1825307"/>
              <a:gd name="connsiteY1-110" fmla="*/ 0 h 231375"/>
              <a:gd name="connsiteX2-111" fmla="*/ 1655078 w 1825307"/>
              <a:gd name="connsiteY2-112" fmla="*/ 38563 h 231375"/>
              <a:gd name="connsiteX3-113" fmla="*/ 1825307 w 1825307"/>
              <a:gd name="connsiteY3-114" fmla="*/ 230557 h 231375"/>
              <a:gd name="connsiteX4-115" fmla="*/ 1655078 w 1825307"/>
              <a:gd name="connsiteY4-116" fmla="*/ 231375 h 231375"/>
              <a:gd name="connsiteX5-117" fmla="*/ 0 w 1825307"/>
              <a:gd name="connsiteY5-118" fmla="*/ 231375 h 231375"/>
              <a:gd name="connsiteX6-119" fmla="*/ 0 w 1825307"/>
              <a:gd name="connsiteY6-120" fmla="*/ 231375 h 231375"/>
              <a:gd name="connsiteX7-121" fmla="*/ 0 w 1825307"/>
              <a:gd name="connsiteY7-122" fmla="*/ 38563 h 231375"/>
              <a:gd name="connsiteX8-123" fmla="*/ 38563 w 1825307"/>
              <a:gd name="connsiteY8-124" fmla="*/ 0 h 231375"/>
              <a:gd name="connsiteX0-125" fmla="*/ 38563 w 1825307"/>
              <a:gd name="connsiteY0-126" fmla="*/ 0 h 231375"/>
              <a:gd name="connsiteX1-127" fmla="*/ 1616515 w 1825307"/>
              <a:gd name="connsiteY1-128" fmla="*/ 0 h 231375"/>
              <a:gd name="connsiteX2-129" fmla="*/ 1670343 w 1825307"/>
              <a:gd name="connsiteY2-130" fmla="*/ 40669 h 231375"/>
              <a:gd name="connsiteX3-131" fmla="*/ 1825307 w 1825307"/>
              <a:gd name="connsiteY3-132" fmla="*/ 230557 h 231375"/>
              <a:gd name="connsiteX4-133" fmla="*/ 1655078 w 1825307"/>
              <a:gd name="connsiteY4-134" fmla="*/ 231375 h 231375"/>
              <a:gd name="connsiteX5-135" fmla="*/ 0 w 1825307"/>
              <a:gd name="connsiteY5-136" fmla="*/ 231375 h 231375"/>
              <a:gd name="connsiteX6-137" fmla="*/ 0 w 1825307"/>
              <a:gd name="connsiteY6-138" fmla="*/ 231375 h 231375"/>
              <a:gd name="connsiteX7-139" fmla="*/ 0 w 1825307"/>
              <a:gd name="connsiteY7-140" fmla="*/ 38563 h 231375"/>
              <a:gd name="connsiteX8-141" fmla="*/ 38563 w 1825307"/>
              <a:gd name="connsiteY8-142" fmla="*/ 0 h 231375"/>
              <a:gd name="connsiteX0-143" fmla="*/ 38563 w 1825307"/>
              <a:gd name="connsiteY0-144" fmla="*/ 0 h 231375"/>
              <a:gd name="connsiteX1-145" fmla="*/ 1616515 w 1825307"/>
              <a:gd name="connsiteY1-146" fmla="*/ 0 h 231375"/>
              <a:gd name="connsiteX2-147" fmla="*/ 1670343 w 1825307"/>
              <a:gd name="connsiteY2-148" fmla="*/ 40669 h 231375"/>
              <a:gd name="connsiteX3-149" fmla="*/ 1825307 w 1825307"/>
              <a:gd name="connsiteY3-150" fmla="*/ 230557 h 231375"/>
              <a:gd name="connsiteX4-151" fmla="*/ 0 w 1825307"/>
              <a:gd name="connsiteY4-152" fmla="*/ 231375 h 231375"/>
              <a:gd name="connsiteX5-153" fmla="*/ 0 w 1825307"/>
              <a:gd name="connsiteY5-154" fmla="*/ 231375 h 231375"/>
              <a:gd name="connsiteX6-155" fmla="*/ 0 w 1825307"/>
              <a:gd name="connsiteY6-156" fmla="*/ 38563 h 231375"/>
              <a:gd name="connsiteX7-157" fmla="*/ 38563 w 1825307"/>
              <a:gd name="connsiteY7-158" fmla="*/ 0 h 231375"/>
              <a:gd name="connsiteX0-159" fmla="*/ 38563 w 1825307"/>
              <a:gd name="connsiteY0-160" fmla="*/ 0 h 231375"/>
              <a:gd name="connsiteX1-161" fmla="*/ 1616515 w 1825307"/>
              <a:gd name="connsiteY1-162" fmla="*/ 0 h 231375"/>
              <a:gd name="connsiteX2-163" fmla="*/ 1670343 w 1825307"/>
              <a:gd name="connsiteY2-164" fmla="*/ 40669 h 231375"/>
              <a:gd name="connsiteX3-165" fmla="*/ 1825307 w 1825307"/>
              <a:gd name="connsiteY3-166" fmla="*/ 230557 h 231375"/>
              <a:gd name="connsiteX4-167" fmla="*/ 0 w 1825307"/>
              <a:gd name="connsiteY4-168" fmla="*/ 231375 h 231375"/>
              <a:gd name="connsiteX5-169" fmla="*/ 0 w 1825307"/>
              <a:gd name="connsiteY5-170" fmla="*/ 231375 h 231375"/>
              <a:gd name="connsiteX6-171" fmla="*/ 0 w 1825307"/>
              <a:gd name="connsiteY6-172" fmla="*/ 38563 h 231375"/>
              <a:gd name="connsiteX7-173" fmla="*/ 38563 w 1825307"/>
              <a:gd name="connsiteY7-174" fmla="*/ 0 h 231375"/>
              <a:gd name="connsiteX0-175" fmla="*/ 38563 w 1825307"/>
              <a:gd name="connsiteY0-176" fmla="*/ 0 h 231375"/>
              <a:gd name="connsiteX1-177" fmla="*/ 1616515 w 1825307"/>
              <a:gd name="connsiteY1-178" fmla="*/ 0 h 231375"/>
              <a:gd name="connsiteX2-179" fmla="*/ 1670343 w 1825307"/>
              <a:gd name="connsiteY2-180" fmla="*/ 40669 h 231375"/>
              <a:gd name="connsiteX3-181" fmla="*/ 1825307 w 1825307"/>
              <a:gd name="connsiteY3-182" fmla="*/ 230557 h 231375"/>
              <a:gd name="connsiteX4-183" fmla="*/ 0 w 1825307"/>
              <a:gd name="connsiteY4-184" fmla="*/ 231375 h 231375"/>
              <a:gd name="connsiteX5-185" fmla="*/ 0 w 1825307"/>
              <a:gd name="connsiteY5-186" fmla="*/ 231375 h 231375"/>
              <a:gd name="connsiteX6-187" fmla="*/ 0 w 1825307"/>
              <a:gd name="connsiteY6-188" fmla="*/ 38563 h 231375"/>
              <a:gd name="connsiteX7-189" fmla="*/ 38563 w 1825307"/>
              <a:gd name="connsiteY7-190" fmla="*/ 0 h 231375"/>
              <a:gd name="connsiteX0-191" fmla="*/ 38563 w 1825307"/>
              <a:gd name="connsiteY0-192" fmla="*/ 0 h 231375"/>
              <a:gd name="connsiteX1-193" fmla="*/ 1616515 w 1825307"/>
              <a:gd name="connsiteY1-194" fmla="*/ 0 h 231375"/>
              <a:gd name="connsiteX2-195" fmla="*/ 1670343 w 1825307"/>
              <a:gd name="connsiteY2-196" fmla="*/ 40669 h 231375"/>
              <a:gd name="connsiteX3-197" fmla="*/ 1825307 w 1825307"/>
              <a:gd name="connsiteY3-198" fmla="*/ 230557 h 231375"/>
              <a:gd name="connsiteX4-199" fmla="*/ 0 w 1825307"/>
              <a:gd name="connsiteY4-200" fmla="*/ 231375 h 231375"/>
              <a:gd name="connsiteX5-201" fmla="*/ 0 w 1825307"/>
              <a:gd name="connsiteY5-202" fmla="*/ 231375 h 231375"/>
              <a:gd name="connsiteX6-203" fmla="*/ 0 w 1825307"/>
              <a:gd name="connsiteY6-204" fmla="*/ 38563 h 231375"/>
              <a:gd name="connsiteX7-205" fmla="*/ 38563 w 1825307"/>
              <a:gd name="connsiteY7-206" fmla="*/ 0 h 231375"/>
              <a:gd name="connsiteX0-207" fmla="*/ 38563 w 1825307"/>
              <a:gd name="connsiteY0-208" fmla="*/ 0 h 231375"/>
              <a:gd name="connsiteX1-209" fmla="*/ 1616515 w 1825307"/>
              <a:gd name="connsiteY1-210" fmla="*/ 0 h 231375"/>
              <a:gd name="connsiteX2-211" fmla="*/ 1670343 w 1825307"/>
              <a:gd name="connsiteY2-212" fmla="*/ 40669 h 231375"/>
              <a:gd name="connsiteX3-213" fmla="*/ 1825307 w 1825307"/>
              <a:gd name="connsiteY3-214" fmla="*/ 230557 h 231375"/>
              <a:gd name="connsiteX4-215" fmla="*/ 0 w 1825307"/>
              <a:gd name="connsiteY4-216" fmla="*/ 231375 h 231375"/>
              <a:gd name="connsiteX5-217" fmla="*/ 0 w 1825307"/>
              <a:gd name="connsiteY5-218" fmla="*/ 231375 h 231375"/>
              <a:gd name="connsiteX6-219" fmla="*/ 0 w 1825307"/>
              <a:gd name="connsiteY6-220" fmla="*/ 38563 h 231375"/>
              <a:gd name="connsiteX7-221" fmla="*/ 38563 w 1825307"/>
              <a:gd name="connsiteY7-222" fmla="*/ 0 h 231375"/>
              <a:gd name="connsiteX0-223" fmla="*/ 38563 w 1827851"/>
              <a:gd name="connsiteY0-224" fmla="*/ 0 h 249512"/>
              <a:gd name="connsiteX1-225" fmla="*/ 1616515 w 1827851"/>
              <a:gd name="connsiteY1-226" fmla="*/ 0 h 249512"/>
              <a:gd name="connsiteX2-227" fmla="*/ 1670343 w 1827851"/>
              <a:gd name="connsiteY2-228" fmla="*/ 40669 h 249512"/>
              <a:gd name="connsiteX3-229" fmla="*/ 1827851 w 1827851"/>
              <a:gd name="connsiteY3-230" fmla="*/ 249512 h 249512"/>
              <a:gd name="connsiteX4-231" fmla="*/ 0 w 1827851"/>
              <a:gd name="connsiteY4-232" fmla="*/ 231375 h 249512"/>
              <a:gd name="connsiteX5-233" fmla="*/ 0 w 1827851"/>
              <a:gd name="connsiteY5-234" fmla="*/ 231375 h 249512"/>
              <a:gd name="connsiteX6-235" fmla="*/ 0 w 1827851"/>
              <a:gd name="connsiteY6-236" fmla="*/ 38563 h 249512"/>
              <a:gd name="connsiteX7-237" fmla="*/ 38563 w 1827851"/>
              <a:gd name="connsiteY7-238" fmla="*/ 0 h 249512"/>
              <a:gd name="connsiteX0-239" fmla="*/ 38563 w 1827851"/>
              <a:gd name="connsiteY0-240" fmla="*/ 0 h 249512"/>
              <a:gd name="connsiteX1-241" fmla="*/ 1616515 w 1827851"/>
              <a:gd name="connsiteY1-242" fmla="*/ 0 h 249512"/>
              <a:gd name="connsiteX2-243" fmla="*/ 1670343 w 1827851"/>
              <a:gd name="connsiteY2-244" fmla="*/ 40669 h 249512"/>
              <a:gd name="connsiteX3-245" fmla="*/ 1827851 w 1827851"/>
              <a:gd name="connsiteY3-246" fmla="*/ 249512 h 249512"/>
              <a:gd name="connsiteX4-247" fmla="*/ 0 w 1827851"/>
              <a:gd name="connsiteY4-248" fmla="*/ 231375 h 249512"/>
              <a:gd name="connsiteX5-249" fmla="*/ 0 w 1827851"/>
              <a:gd name="connsiteY5-250" fmla="*/ 231375 h 249512"/>
              <a:gd name="connsiteX6-251" fmla="*/ 0 w 1827851"/>
              <a:gd name="connsiteY6-252" fmla="*/ 38563 h 249512"/>
              <a:gd name="connsiteX7-253" fmla="*/ 38563 w 1827851"/>
              <a:gd name="connsiteY7-254" fmla="*/ 0 h 249512"/>
              <a:gd name="connsiteX0-255" fmla="*/ 38563 w 1827851"/>
              <a:gd name="connsiteY0-256" fmla="*/ 0 h 249512"/>
              <a:gd name="connsiteX1-257" fmla="*/ 1585987 w 1827851"/>
              <a:gd name="connsiteY1-258" fmla="*/ 0 h 249512"/>
              <a:gd name="connsiteX2-259" fmla="*/ 1670343 w 1827851"/>
              <a:gd name="connsiteY2-260" fmla="*/ 40669 h 249512"/>
              <a:gd name="connsiteX3-261" fmla="*/ 1827851 w 1827851"/>
              <a:gd name="connsiteY3-262" fmla="*/ 249512 h 249512"/>
              <a:gd name="connsiteX4-263" fmla="*/ 0 w 1827851"/>
              <a:gd name="connsiteY4-264" fmla="*/ 231375 h 249512"/>
              <a:gd name="connsiteX5-265" fmla="*/ 0 w 1827851"/>
              <a:gd name="connsiteY5-266" fmla="*/ 231375 h 249512"/>
              <a:gd name="connsiteX6-267" fmla="*/ 0 w 1827851"/>
              <a:gd name="connsiteY6-268" fmla="*/ 38563 h 249512"/>
              <a:gd name="connsiteX7-269" fmla="*/ 38563 w 1827851"/>
              <a:gd name="connsiteY7-270" fmla="*/ 0 h 249512"/>
              <a:gd name="connsiteX0-271" fmla="*/ 38563 w 1827851"/>
              <a:gd name="connsiteY0-272" fmla="*/ 157 h 249669"/>
              <a:gd name="connsiteX1-273" fmla="*/ 1585987 w 1827851"/>
              <a:gd name="connsiteY1-274" fmla="*/ 157 h 249669"/>
              <a:gd name="connsiteX2-275" fmla="*/ 1670343 w 1827851"/>
              <a:gd name="connsiteY2-276" fmla="*/ 40826 h 249669"/>
              <a:gd name="connsiteX3-277" fmla="*/ 1827851 w 1827851"/>
              <a:gd name="connsiteY3-278" fmla="*/ 249669 h 249669"/>
              <a:gd name="connsiteX4-279" fmla="*/ 0 w 1827851"/>
              <a:gd name="connsiteY4-280" fmla="*/ 231532 h 249669"/>
              <a:gd name="connsiteX5-281" fmla="*/ 0 w 1827851"/>
              <a:gd name="connsiteY5-282" fmla="*/ 231532 h 249669"/>
              <a:gd name="connsiteX6-283" fmla="*/ 0 w 1827851"/>
              <a:gd name="connsiteY6-284" fmla="*/ 38720 h 249669"/>
              <a:gd name="connsiteX7-285" fmla="*/ 38563 w 1827851"/>
              <a:gd name="connsiteY7-286" fmla="*/ 157 h 249669"/>
              <a:gd name="connsiteX0-287" fmla="*/ 38563 w 1835483"/>
              <a:gd name="connsiteY0-288" fmla="*/ 157 h 247563"/>
              <a:gd name="connsiteX1-289" fmla="*/ 1585987 w 1835483"/>
              <a:gd name="connsiteY1-290" fmla="*/ 157 h 247563"/>
              <a:gd name="connsiteX2-291" fmla="*/ 1670343 w 1835483"/>
              <a:gd name="connsiteY2-292" fmla="*/ 40826 h 247563"/>
              <a:gd name="connsiteX3-293" fmla="*/ 1835483 w 1835483"/>
              <a:gd name="connsiteY3-294" fmla="*/ 247563 h 247563"/>
              <a:gd name="connsiteX4-295" fmla="*/ 0 w 1835483"/>
              <a:gd name="connsiteY4-296" fmla="*/ 231532 h 247563"/>
              <a:gd name="connsiteX5-297" fmla="*/ 0 w 1835483"/>
              <a:gd name="connsiteY5-298" fmla="*/ 231532 h 247563"/>
              <a:gd name="connsiteX6-299" fmla="*/ 0 w 1835483"/>
              <a:gd name="connsiteY6-300" fmla="*/ 38720 h 247563"/>
              <a:gd name="connsiteX7-301" fmla="*/ 38563 w 1835483"/>
              <a:gd name="connsiteY7-302" fmla="*/ 157 h 247563"/>
              <a:gd name="connsiteX0-303" fmla="*/ 38563 w 1835483"/>
              <a:gd name="connsiteY0-304" fmla="*/ 157 h 247563"/>
              <a:gd name="connsiteX1-305" fmla="*/ 1585987 w 1835483"/>
              <a:gd name="connsiteY1-306" fmla="*/ 157 h 247563"/>
              <a:gd name="connsiteX2-307" fmla="*/ 1670343 w 1835483"/>
              <a:gd name="connsiteY2-308" fmla="*/ 40826 h 247563"/>
              <a:gd name="connsiteX3-309" fmla="*/ 1835483 w 1835483"/>
              <a:gd name="connsiteY3-310" fmla="*/ 247563 h 247563"/>
              <a:gd name="connsiteX4-311" fmla="*/ 0 w 1835483"/>
              <a:gd name="connsiteY4-312" fmla="*/ 231532 h 247563"/>
              <a:gd name="connsiteX5-313" fmla="*/ 0 w 1835483"/>
              <a:gd name="connsiteY5-314" fmla="*/ 231532 h 247563"/>
              <a:gd name="connsiteX6-315" fmla="*/ 0 w 1835483"/>
              <a:gd name="connsiteY6-316" fmla="*/ 38720 h 247563"/>
              <a:gd name="connsiteX7-317" fmla="*/ 38563 w 1835483"/>
              <a:gd name="connsiteY7-318" fmla="*/ 157 h 2475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835483" h="247563">
                <a:moveTo>
                  <a:pt x="38563" y="157"/>
                </a:moveTo>
                <a:lnTo>
                  <a:pt x="1585987" y="157"/>
                </a:lnTo>
                <a:cubicBezTo>
                  <a:pt x="1632725" y="-1949"/>
                  <a:pt x="1644903" y="17421"/>
                  <a:pt x="1670343" y="40826"/>
                </a:cubicBezTo>
                <a:cubicBezTo>
                  <a:pt x="1724542" y="107632"/>
                  <a:pt x="1794004" y="187075"/>
                  <a:pt x="1835483" y="247563"/>
                </a:cubicBezTo>
                <a:lnTo>
                  <a:pt x="0" y="231532"/>
                </a:lnTo>
                <a:lnTo>
                  <a:pt x="0" y="231532"/>
                </a:lnTo>
                <a:lnTo>
                  <a:pt x="0" y="38720"/>
                </a:lnTo>
                <a:cubicBezTo>
                  <a:pt x="0" y="17422"/>
                  <a:pt x="17265" y="157"/>
                  <a:pt x="38563" y="157"/>
                </a:cubicBezTo>
                <a:close/>
              </a:path>
            </a:pathLst>
          </a:custGeom>
          <a:gradFill flip="none" rotWithShape="0">
            <a:gsLst>
              <a:gs pos="23000">
                <a:schemeClr val="accent5">
                  <a:lumMod val="60000"/>
                  <a:lumOff val="40000"/>
                </a:schemeClr>
              </a:gs>
              <a:gs pos="100000">
                <a:schemeClr val="accent5"/>
              </a:gs>
            </a:gsLst>
            <a:lin ang="2700000" scaled="1"/>
            <a:tileRect/>
          </a:gradFill>
          <a:ln w="12700" cap="flat" cmpd="sng" algn="ctr">
            <a:noFill/>
            <a:prstDash val="solid"/>
            <a:miter lim="800000"/>
          </a:ln>
          <a:effectLst/>
        </p:spPr>
        <p:txBody>
          <a:bodyPr lIns="0" tIns="0" rIns="144000" bIns="36000" rtlCol="0" anchor="ctr">
            <a:noAutofit/>
          </a:bodyPr>
          <a:lstStyle/>
          <a:p>
            <a:pPr lvl="0" algn="l" defTabSz="457200">
              <a:buClrTx/>
              <a:buSzTx/>
              <a:buFontTx/>
            </a:pPr>
            <a:r>
              <a:rPr 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②</a:t>
            </a:r>
            <a:r>
              <a:rPr lang="en-US" altLang="zh-CN"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育人</a:t>
            </a:r>
            <a:endPar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70" name="子陵职场PPT12"/>
          <p:cNvSpPr/>
          <p:nvPr/>
        </p:nvSpPr>
        <p:spPr>
          <a:xfrm flipH="1">
            <a:off x="9704070" y="1021715"/>
            <a:ext cx="1929130" cy="419735"/>
          </a:xfrm>
          <a:custGeom>
            <a:avLst/>
            <a:gdLst>
              <a:gd name="connsiteX0" fmla="*/ 38563 w 1655078"/>
              <a:gd name="connsiteY0" fmla="*/ 0 h 231375"/>
              <a:gd name="connsiteX1" fmla="*/ 1616515 w 1655078"/>
              <a:gd name="connsiteY1" fmla="*/ 0 h 231375"/>
              <a:gd name="connsiteX2" fmla="*/ 1655078 w 1655078"/>
              <a:gd name="connsiteY2" fmla="*/ 38563 h 231375"/>
              <a:gd name="connsiteX3" fmla="*/ 1655078 w 1655078"/>
              <a:gd name="connsiteY3" fmla="*/ 231375 h 231375"/>
              <a:gd name="connsiteX4" fmla="*/ 1655078 w 1655078"/>
              <a:gd name="connsiteY4" fmla="*/ 231375 h 231375"/>
              <a:gd name="connsiteX5" fmla="*/ 0 w 1655078"/>
              <a:gd name="connsiteY5" fmla="*/ 231375 h 231375"/>
              <a:gd name="connsiteX6" fmla="*/ 0 w 1655078"/>
              <a:gd name="connsiteY6" fmla="*/ 231375 h 231375"/>
              <a:gd name="connsiteX7" fmla="*/ 0 w 1655078"/>
              <a:gd name="connsiteY7" fmla="*/ 38563 h 231375"/>
              <a:gd name="connsiteX8" fmla="*/ 38563 w 1655078"/>
              <a:gd name="connsiteY8" fmla="*/ 0 h 231375"/>
              <a:gd name="connsiteX0-1" fmla="*/ 38563 w 1794778"/>
              <a:gd name="connsiteY0-2" fmla="*/ 0 h 231375"/>
              <a:gd name="connsiteX1-3" fmla="*/ 1616515 w 1794778"/>
              <a:gd name="connsiteY1-4" fmla="*/ 0 h 231375"/>
              <a:gd name="connsiteX2-5" fmla="*/ 1655078 w 1794778"/>
              <a:gd name="connsiteY2-6" fmla="*/ 38563 h 231375"/>
              <a:gd name="connsiteX3-7" fmla="*/ 1655078 w 1794778"/>
              <a:gd name="connsiteY3-8" fmla="*/ 231375 h 231375"/>
              <a:gd name="connsiteX4-9" fmla="*/ 1794778 w 1794778"/>
              <a:gd name="connsiteY4-10" fmla="*/ 231375 h 231375"/>
              <a:gd name="connsiteX5-11" fmla="*/ 0 w 1794778"/>
              <a:gd name="connsiteY5-12" fmla="*/ 231375 h 231375"/>
              <a:gd name="connsiteX6-13" fmla="*/ 0 w 1794778"/>
              <a:gd name="connsiteY6-14" fmla="*/ 231375 h 231375"/>
              <a:gd name="connsiteX7-15" fmla="*/ 0 w 1794778"/>
              <a:gd name="connsiteY7-16" fmla="*/ 38563 h 231375"/>
              <a:gd name="connsiteX8-17" fmla="*/ 38563 w 1794778"/>
              <a:gd name="connsiteY8-18" fmla="*/ 0 h 231375"/>
              <a:gd name="connsiteX0-19" fmla="*/ 38563 w 1655078"/>
              <a:gd name="connsiteY0-20" fmla="*/ 0 h 231375"/>
              <a:gd name="connsiteX1-21" fmla="*/ 1616515 w 1655078"/>
              <a:gd name="connsiteY1-22" fmla="*/ 0 h 231375"/>
              <a:gd name="connsiteX2-23" fmla="*/ 1655078 w 1655078"/>
              <a:gd name="connsiteY2-24" fmla="*/ 38563 h 231375"/>
              <a:gd name="connsiteX3-25" fmla="*/ 1655078 w 1655078"/>
              <a:gd name="connsiteY3-26" fmla="*/ 231375 h 231375"/>
              <a:gd name="connsiteX4-27" fmla="*/ 0 w 1655078"/>
              <a:gd name="connsiteY4-28" fmla="*/ 231375 h 231375"/>
              <a:gd name="connsiteX5-29" fmla="*/ 0 w 1655078"/>
              <a:gd name="connsiteY5-30" fmla="*/ 231375 h 231375"/>
              <a:gd name="connsiteX6-31" fmla="*/ 0 w 1655078"/>
              <a:gd name="connsiteY6-32" fmla="*/ 38563 h 231375"/>
              <a:gd name="connsiteX7-33" fmla="*/ 38563 w 1655078"/>
              <a:gd name="connsiteY7-34" fmla="*/ 0 h 231375"/>
              <a:gd name="connsiteX0-35" fmla="*/ 38563 w 1657402"/>
              <a:gd name="connsiteY0-36" fmla="*/ 0 h 231375"/>
              <a:gd name="connsiteX1-37" fmla="*/ 1616515 w 1657402"/>
              <a:gd name="connsiteY1-38" fmla="*/ 0 h 231375"/>
              <a:gd name="connsiteX2-39" fmla="*/ 1655078 w 1657402"/>
              <a:gd name="connsiteY2-40" fmla="*/ 38563 h 231375"/>
              <a:gd name="connsiteX3-41" fmla="*/ 1657402 w 1657402"/>
              <a:gd name="connsiteY3-42" fmla="*/ 213709 h 231375"/>
              <a:gd name="connsiteX4-43" fmla="*/ 1655078 w 1657402"/>
              <a:gd name="connsiteY4-44" fmla="*/ 231375 h 231375"/>
              <a:gd name="connsiteX5-45" fmla="*/ 0 w 1657402"/>
              <a:gd name="connsiteY5-46" fmla="*/ 231375 h 231375"/>
              <a:gd name="connsiteX6-47" fmla="*/ 0 w 1657402"/>
              <a:gd name="connsiteY6-48" fmla="*/ 231375 h 231375"/>
              <a:gd name="connsiteX7-49" fmla="*/ 0 w 1657402"/>
              <a:gd name="connsiteY7-50" fmla="*/ 38563 h 231375"/>
              <a:gd name="connsiteX8-51" fmla="*/ 38563 w 1657402"/>
              <a:gd name="connsiteY8-52" fmla="*/ 0 h 231375"/>
              <a:gd name="connsiteX0-53" fmla="*/ 38563 w 1825307"/>
              <a:gd name="connsiteY0-54" fmla="*/ 0 h 231375"/>
              <a:gd name="connsiteX1-55" fmla="*/ 1616515 w 1825307"/>
              <a:gd name="connsiteY1-56" fmla="*/ 0 h 231375"/>
              <a:gd name="connsiteX2-57" fmla="*/ 1655078 w 1825307"/>
              <a:gd name="connsiteY2-58" fmla="*/ 38563 h 231375"/>
              <a:gd name="connsiteX3-59" fmla="*/ 1825307 w 1825307"/>
              <a:gd name="connsiteY3-60" fmla="*/ 217920 h 231375"/>
              <a:gd name="connsiteX4-61" fmla="*/ 1655078 w 1825307"/>
              <a:gd name="connsiteY4-62" fmla="*/ 231375 h 231375"/>
              <a:gd name="connsiteX5-63" fmla="*/ 0 w 1825307"/>
              <a:gd name="connsiteY5-64" fmla="*/ 231375 h 231375"/>
              <a:gd name="connsiteX6-65" fmla="*/ 0 w 1825307"/>
              <a:gd name="connsiteY6-66" fmla="*/ 231375 h 231375"/>
              <a:gd name="connsiteX7-67" fmla="*/ 0 w 1825307"/>
              <a:gd name="connsiteY7-68" fmla="*/ 38563 h 231375"/>
              <a:gd name="connsiteX8-69" fmla="*/ 38563 w 1825307"/>
              <a:gd name="connsiteY8-70" fmla="*/ 0 h 231375"/>
              <a:gd name="connsiteX0-71" fmla="*/ 38563 w 1825307"/>
              <a:gd name="connsiteY0-72" fmla="*/ 0 h 231375"/>
              <a:gd name="connsiteX1-73" fmla="*/ 1616515 w 1825307"/>
              <a:gd name="connsiteY1-74" fmla="*/ 0 h 231375"/>
              <a:gd name="connsiteX2-75" fmla="*/ 1655078 w 1825307"/>
              <a:gd name="connsiteY2-76" fmla="*/ 38563 h 231375"/>
              <a:gd name="connsiteX3-77" fmla="*/ 1825307 w 1825307"/>
              <a:gd name="connsiteY3-78" fmla="*/ 217920 h 231375"/>
              <a:gd name="connsiteX4-79" fmla="*/ 1655078 w 1825307"/>
              <a:gd name="connsiteY4-80" fmla="*/ 231375 h 231375"/>
              <a:gd name="connsiteX5-81" fmla="*/ 0 w 1825307"/>
              <a:gd name="connsiteY5-82" fmla="*/ 231375 h 231375"/>
              <a:gd name="connsiteX6-83" fmla="*/ 0 w 1825307"/>
              <a:gd name="connsiteY6-84" fmla="*/ 231375 h 231375"/>
              <a:gd name="connsiteX7-85" fmla="*/ 0 w 1825307"/>
              <a:gd name="connsiteY7-86" fmla="*/ 38563 h 231375"/>
              <a:gd name="connsiteX8-87" fmla="*/ 38563 w 1825307"/>
              <a:gd name="connsiteY8-88" fmla="*/ 0 h 231375"/>
              <a:gd name="connsiteX0-89" fmla="*/ 38563 w 1825307"/>
              <a:gd name="connsiteY0-90" fmla="*/ 0 h 231375"/>
              <a:gd name="connsiteX1-91" fmla="*/ 1616515 w 1825307"/>
              <a:gd name="connsiteY1-92" fmla="*/ 0 h 231375"/>
              <a:gd name="connsiteX2-93" fmla="*/ 1655078 w 1825307"/>
              <a:gd name="connsiteY2-94" fmla="*/ 38563 h 231375"/>
              <a:gd name="connsiteX3-95" fmla="*/ 1825307 w 1825307"/>
              <a:gd name="connsiteY3-96" fmla="*/ 217920 h 231375"/>
              <a:gd name="connsiteX4-97" fmla="*/ 1655078 w 1825307"/>
              <a:gd name="connsiteY4-98" fmla="*/ 231375 h 231375"/>
              <a:gd name="connsiteX5-99" fmla="*/ 0 w 1825307"/>
              <a:gd name="connsiteY5-100" fmla="*/ 231375 h 231375"/>
              <a:gd name="connsiteX6-101" fmla="*/ 0 w 1825307"/>
              <a:gd name="connsiteY6-102" fmla="*/ 231375 h 231375"/>
              <a:gd name="connsiteX7-103" fmla="*/ 0 w 1825307"/>
              <a:gd name="connsiteY7-104" fmla="*/ 38563 h 231375"/>
              <a:gd name="connsiteX8-105" fmla="*/ 38563 w 1825307"/>
              <a:gd name="connsiteY8-106" fmla="*/ 0 h 231375"/>
              <a:gd name="connsiteX0-107" fmla="*/ 38563 w 1825307"/>
              <a:gd name="connsiteY0-108" fmla="*/ 0 h 231375"/>
              <a:gd name="connsiteX1-109" fmla="*/ 1616515 w 1825307"/>
              <a:gd name="connsiteY1-110" fmla="*/ 0 h 231375"/>
              <a:gd name="connsiteX2-111" fmla="*/ 1655078 w 1825307"/>
              <a:gd name="connsiteY2-112" fmla="*/ 38563 h 231375"/>
              <a:gd name="connsiteX3-113" fmla="*/ 1825307 w 1825307"/>
              <a:gd name="connsiteY3-114" fmla="*/ 230557 h 231375"/>
              <a:gd name="connsiteX4-115" fmla="*/ 1655078 w 1825307"/>
              <a:gd name="connsiteY4-116" fmla="*/ 231375 h 231375"/>
              <a:gd name="connsiteX5-117" fmla="*/ 0 w 1825307"/>
              <a:gd name="connsiteY5-118" fmla="*/ 231375 h 231375"/>
              <a:gd name="connsiteX6-119" fmla="*/ 0 w 1825307"/>
              <a:gd name="connsiteY6-120" fmla="*/ 231375 h 231375"/>
              <a:gd name="connsiteX7-121" fmla="*/ 0 w 1825307"/>
              <a:gd name="connsiteY7-122" fmla="*/ 38563 h 231375"/>
              <a:gd name="connsiteX8-123" fmla="*/ 38563 w 1825307"/>
              <a:gd name="connsiteY8-124" fmla="*/ 0 h 231375"/>
              <a:gd name="connsiteX0-125" fmla="*/ 38563 w 1825307"/>
              <a:gd name="connsiteY0-126" fmla="*/ 0 h 231375"/>
              <a:gd name="connsiteX1-127" fmla="*/ 1616515 w 1825307"/>
              <a:gd name="connsiteY1-128" fmla="*/ 0 h 231375"/>
              <a:gd name="connsiteX2-129" fmla="*/ 1670343 w 1825307"/>
              <a:gd name="connsiteY2-130" fmla="*/ 40669 h 231375"/>
              <a:gd name="connsiteX3-131" fmla="*/ 1825307 w 1825307"/>
              <a:gd name="connsiteY3-132" fmla="*/ 230557 h 231375"/>
              <a:gd name="connsiteX4-133" fmla="*/ 1655078 w 1825307"/>
              <a:gd name="connsiteY4-134" fmla="*/ 231375 h 231375"/>
              <a:gd name="connsiteX5-135" fmla="*/ 0 w 1825307"/>
              <a:gd name="connsiteY5-136" fmla="*/ 231375 h 231375"/>
              <a:gd name="connsiteX6-137" fmla="*/ 0 w 1825307"/>
              <a:gd name="connsiteY6-138" fmla="*/ 231375 h 231375"/>
              <a:gd name="connsiteX7-139" fmla="*/ 0 w 1825307"/>
              <a:gd name="connsiteY7-140" fmla="*/ 38563 h 231375"/>
              <a:gd name="connsiteX8-141" fmla="*/ 38563 w 1825307"/>
              <a:gd name="connsiteY8-142" fmla="*/ 0 h 231375"/>
              <a:gd name="connsiteX0-143" fmla="*/ 38563 w 1825307"/>
              <a:gd name="connsiteY0-144" fmla="*/ 0 h 231375"/>
              <a:gd name="connsiteX1-145" fmla="*/ 1616515 w 1825307"/>
              <a:gd name="connsiteY1-146" fmla="*/ 0 h 231375"/>
              <a:gd name="connsiteX2-147" fmla="*/ 1670343 w 1825307"/>
              <a:gd name="connsiteY2-148" fmla="*/ 40669 h 231375"/>
              <a:gd name="connsiteX3-149" fmla="*/ 1825307 w 1825307"/>
              <a:gd name="connsiteY3-150" fmla="*/ 230557 h 231375"/>
              <a:gd name="connsiteX4-151" fmla="*/ 0 w 1825307"/>
              <a:gd name="connsiteY4-152" fmla="*/ 231375 h 231375"/>
              <a:gd name="connsiteX5-153" fmla="*/ 0 w 1825307"/>
              <a:gd name="connsiteY5-154" fmla="*/ 231375 h 231375"/>
              <a:gd name="connsiteX6-155" fmla="*/ 0 w 1825307"/>
              <a:gd name="connsiteY6-156" fmla="*/ 38563 h 231375"/>
              <a:gd name="connsiteX7-157" fmla="*/ 38563 w 1825307"/>
              <a:gd name="connsiteY7-158" fmla="*/ 0 h 231375"/>
              <a:gd name="connsiteX0-159" fmla="*/ 38563 w 1825307"/>
              <a:gd name="connsiteY0-160" fmla="*/ 0 h 231375"/>
              <a:gd name="connsiteX1-161" fmla="*/ 1616515 w 1825307"/>
              <a:gd name="connsiteY1-162" fmla="*/ 0 h 231375"/>
              <a:gd name="connsiteX2-163" fmla="*/ 1670343 w 1825307"/>
              <a:gd name="connsiteY2-164" fmla="*/ 40669 h 231375"/>
              <a:gd name="connsiteX3-165" fmla="*/ 1825307 w 1825307"/>
              <a:gd name="connsiteY3-166" fmla="*/ 230557 h 231375"/>
              <a:gd name="connsiteX4-167" fmla="*/ 0 w 1825307"/>
              <a:gd name="connsiteY4-168" fmla="*/ 231375 h 231375"/>
              <a:gd name="connsiteX5-169" fmla="*/ 0 w 1825307"/>
              <a:gd name="connsiteY5-170" fmla="*/ 231375 h 231375"/>
              <a:gd name="connsiteX6-171" fmla="*/ 0 w 1825307"/>
              <a:gd name="connsiteY6-172" fmla="*/ 38563 h 231375"/>
              <a:gd name="connsiteX7-173" fmla="*/ 38563 w 1825307"/>
              <a:gd name="connsiteY7-174" fmla="*/ 0 h 231375"/>
              <a:gd name="connsiteX0-175" fmla="*/ 38563 w 1825307"/>
              <a:gd name="connsiteY0-176" fmla="*/ 0 h 231375"/>
              <a:gd name="connsiteX1-177" fmla="*/ 1616515 w 1825307"/>
              <a:gd name="connsiteY1-178" fmla="*/ 0 h 231375"/>
              <a:gd name="connsiteX2-179" fmla="*/ 1670343 w 1825307"/>
              <a:gd name="connsiteY2-180" fmla="*/ 40669 h 231375"/>
              <a:gd name="connsiteX3-181" fmla="*/ 1825307 w 1825307"/>
              <a:gd name="connsiteY3-182" fmla="*/ 230557 h 231375"/>
              <a:gd name="connsiteX4-183" fmla="*/ 0 w 1825307"/>
              <a:gd name="connsiteY4-184" fmla="*/ 231375 h 231375"/>
              <a:gd name="connsiteX5-185" fmla="*/ 0 w 1825307"/>
              <a:gd name="connsiteY5-186" fmla="*/ 231375 h 231375"/>
              <a:gd name="connsiteX6-187" fmla="*/ 0 w 1825307"/>
              <a:gd name="connsiteY6-188" fmla="*/ 38563 h 231375"/>
              <a:gd name="connsiteX7-189" fmla="*/ 38563 w 1825307"/>
              <a:gd name="connsiteY7-190" fmla="*/ 0 h 231375"/>
              <a:gd name="connsiteX0-191" fmla="*/ 38563 w 1825307"/>
              <a:gd name="connsiteY0-192" fmla="*/ 0 h 231375"/>
              <a:gd name="connsiteX1-193" fmla="*/ 1616515 w 1825307"/>
              <a:gd name="connsiteY1-194" fmla="*/ 0 h 231375"/>
              <a:gd name="connsiteX2-195" fmla="*/ 1670343 w 1825307"/>
              <a:gd name="connsiteY2-196" fmla="*/ 40669 h 231375"/>
              <a:gd name="connsiteX3-197" fmla="*/ 1825307 w 1825307"/>
              <a:gd name="connsiteY3-198" fmla="*/ 230557 h 231375"/>
              <a:gd name="connsiteX4-199" fmla="*/ 0 w 1825307"/>
              <a:gd name="connsiteY4-200" fmla="*/ 231375 h 231375"/>
              <a:gd name="connsiteX5-201" fmla="*/ 0 w 1825307"/>
              <a:gd name="connsiteY5-202" fmla="*/ 231375 h 231375"/>
              <a:gd name="connsiteX6-203" fmla="*/ 0 w 1825307"/>
              <a:gd name="connsiteY6-204" fmla="*/ 38563 h 231375"/>
              <a:gd name="connsiteX7-205" fmla="*/ 38563 w 1825307"/>
              <a:gd name="connsiteY7-206" fmla="*/ 0 h 231375"/>
              <a:gd name="connsiteX0-207" fmla="*/ 38563 w 1825307"/>
              <a:gd name="connsiteY0-208" fmla="*/ 0 h 231375"/>
              <a:gd name="connsiteX1-209" fmla="*/ 1616515 w 1825307"/>
              <a:gd name="connsiteY1-210" fmla="*/ 0 h 231375"/>
              <a:gd name="connsiteX2-211" fmla="*/ 1670343 w 1825307"/>
              <a:gd name="connsiteY2-212" fmla="*/ 40669 h 231375"/>
              <a:gd name="connsiteX3-213" fmla="*/ 1825307 w 1825307"/>
              <a:gd name="connsiteY3-214" fmla="*/ 230557 h 231375"/>
              <a:gd name="connsiteX4-215" fmla="*/ 0 w 1825307"/>
              <a:gd name="connsiteY4-216" fmla="*/ 231375 h 231375"/>
              <a:gd name="connsiteX5-217" fmla="*/ 0 w 1825307"/>
              <a:gd name="connsiteY5-218" fmla="*/ 231375 h 231375"/>
              <a:gd name="connsiteX6-219" fmla="*/ 0 w 1825307"/>
              <a:gd name="connsiteY6-220" fmla="*/ 38563 h 231375"/>
              <a:gd name="connsiteX7-221" fmla="*/ 38563 w 1825307"/>
              <a:gd name="connsiteY7-222" fmla="*/ 0 h 231375"/>
              <a:gd name="connsiteX0-223" fmla="*/ 38563 w 1827851"/>
              <a:gd name="connsiteY0-224" fmla="*/ 0 h 249512"/>
              <a:gd name="connsiteX1-225" fmla="*/ 1616515 w 1827851"/>
              <a:gd name="connsiteY1-226" fmla="*/ 0 h 249512"/>
              <a:gd name="connsiteX2-227" fmla="*/ 1670343 w 1827851"/>
              <a:gd name="connsiteY2-228" fmla="*/ 40669 h 249512"/>
              <a:gd name="connsiteX3-229" fmla="*/ 1827851 w 1827851"/>
              <a:gd name="connsiteY3-230" fmla="*/ 249512 h 249512"/>
              <a:gd name="connsiteX4-231" fmla="*/ 0 w 1827851"/>
              <a:gd name="connsiteY4-232" fmla="*/ 231375 h 249512"/>
              <a:gd name="connsiteX5-233" fmla="*/ 0 w 1827851"/>
              <a:gd name="connsiteY5-234" fmla="*/ 231375 h 249512"/>
              <a:gd name="connsiteX6-235" fmla="*/ 0 w 1827851"/>
              <a:gd name="connsiteY6-236" fmla="*/ 38563 h 249512"/>
              <a:gd name="connsiteX7-237" fmla="*/ 38563 w 1827851"/>
              <a:gd name="connsiteY7-238" fmla="*/ 0 h 249512"/>
              <a:gd name="connsiteX0-239" fmla="*/ 38563 w 1827851"/>
              <a:gd name="connsiteY0-240" fmla="*/ 0 h 249512"/>
              <a:gd name="connsiteX1-241" fmla="*/ 1616515 w 1827851"/>
              <a:gd name="connsiteY1-242" fmla="*/ 0 h 249512"/>
              <a:gd name="connsiteX2-243" fmla="*/ 1670343 w 1827851"/>
              <a:gd name="connsiteY2-244" fmla="*/ 40669 h 249512"/>
              <a:gd name="connsiteX3-245" fmla="*/ 1827851 w 1827851"/>
              <a:gd name="connsiteY3-246" fmla="*/ 249512 h 249512"/>
              <a:gd name="connsiteX4-247" fmla="*/ 0 w 1827851"/>
              <a:gd name="connsiteY4-248" fmla="*/ 231375 h 249512"/>
              <a:gd name="connsiteX5-249" fmla="*/ 0 w 1827851"/>
              <a:gd name="connsiteY5-250" fmla="*/ 231375 h 249512"/>
              <a:gd name="connsiteX6-251" fmla="*/ 0 w 1827851"/>
              <a:gd name="connsiteY6-252" fmla="*/ 38563 h 249512"/>
              <a:gd name="connsiteX7-253" fmla="*/ 38563 w 1827851"/>
              <a:gd name="connsiteY7-254" fmla="*/ 0 h 249512"/>
              <a:gd name="connsiteX0-255" fmla="*/ 38563 w 1827851"/>
              <a:gd name="connsiteY0-256" fmla="*/ 0 h 249512"/>
              <a:gd name="connsiteX1-257" fmla="*/ 1585987 w 1827851"/>
              <a:gd name="connsiteY1-258" fmla="*/ 0 h 249512"/>
              <a:gd name="connsiteX2-259" fmla="*/ 1670343 w 1827851"/>
              <a:gd name="connsiteY2-260" fmla="*/ 40669 h 249512"/>
              <a:gd name="connsiteX3-261" fmla="*/ 1827851 w 1827851"/>
              <a:gd name="connsiteY3-262" fmla="*/ 249512 h 249512"/>
              <a:gd name="connsiteX4-263" fmla="*/ 0 w 1827851"/>
              <a:gd name="connsiteY4-264" fmla="*/ 231375 h 249512"/>
              <a:gd name="connsiteX5-265" fmla="*/ 0 w 1827851"/>
              <a:gd name="connsiteY5-266" fmla="*/ 231375 h 249512"/>
              <a:gd name="connsiteX6-267" fmla="*/ 0 w 1827851"/>
              <a:gd name="connsiteY6-268" fmla="*/ 38563 h 249512"/>
              <a:gd name="connsiteX7-269" fmla="*/ 38563 w 1827851"/>
              <a:gd name="connsiteY7-270" fmla="*/ 0 h 249512"/>
              <a:gd name="connsiteX0-271" fmla="*/ 38563 w 1827851"/>
              <a:gd name="connsiteY0-272" fmla="*/ 157 h 249669"/>
              <a:gd name="connsiteX1-273" fmla="*/ 1585987 w 1827851"/>
              <a:gd name="connsiteY1-274" fmla="*/ 157 h 249669"/>
              <a:gd name="connsiteX2-275" fmla="*/ 1670343 w 1827851"/>
              <a:gd name="connsiteY2-276" fmla="*/ 40826 h 249669"/>
              <a:gd name="connsiteX3-277" fmla="*/ 1827851 w 1827851"/>
              <a:gd name="connsiteY3-278" fmla="*/ 249669 h 249669"/>
              <a:gd name="connsiteX4-279" fmla="*/ 0 w 1827851"/>
              <a:gd name="connsiteY4-280" fmla="*/ 231532 h 249669"/>
              <a:gd name="connsiteX5-281" fmla="*/ 0 w 1827851"/>
              <a:gd name="connsiteY5-282" fmla="*/ 231532 h 249669"/>
              <a:gd name="connsiteX6-283" fmla="*/ 0 w 1827851"/>
              <a:gd name="connsiteY6-284" fmla="*/ 38720 h 249669"/>
              <a:gd name="connsiteX7-285" fmla="*/ 38563 w 1827851"/>
              <a:gd name="connsiteY7-286" fmla="*/ 157 h 249669"/>
              <a:gd name="connsiteX0-287" fmla="*/ 38563 w 1835483"/>
              <a:gd name="connsiteY0-288" fmla="*/ 157 h 247563"/>
              <a:gd name="connsiteX1-289" fmla="*/ 1585987 w 1835483"/>
              <a:gd name="connsiteY1-290" fmla="*/ 157 h 247563"/>
              <a:gd name="connsiteX2-291" fmla="*/ 1670343 w 1835483"/>
              <a:gd name="connsiteY2-292" fmla="*/ 40826 h 247563"/>
              <a:gd name="connsiteX3-293" fmla="*/ 1835483 w 1835483"/>
              <a:gd name="connsiteY3-294" fmla="*/ 247563 h 247563"/>
              <a:gd name="connsiteX4-295" fmla="*/ 0 w 1835483"/>
              <a:gd name="connsiteY4-296" fmla="*/ 231532 h 247563"/>
              <a:gd name="connsiteX5-297" fmla="*/ 0 w 1835483"/>
              <a:gd name="connsiteY5-298" fmla="*/ 231532 h 247563"/>
              <a:gd name="connsiteX6-299" fmla="*/ 0 w 1835483"/>
              <a:gd name="connsiteY6-300" fmla="*/ 38720 h 247563"/>
              <a:gd name="connsiteX7-301" fmla="*/ 38563 w 1835483"/>
              <a:gd name="connsiteY7-302" fmla="*/ 157 h 247563"/>
              <a:gd name="connsiteX0-303" fmla="*/ 38563 w 1835483"/>
              <a:gd name="connsiteY0-304" fmla="*/ 157 h 247563"/>
              <a:gd name="connsiteX1-305" fmla="*/ 1585987 w 1835483"/>
              <a:gd name="connsiteY1-306" fmla="*/ 157 h 247563"/>
              <a:gd name="connsiteX2-307" fmla="*/ 1670343 w 1835483"/>
              <a:gd name="connsiteY2-308" fmla="*/ 40826 h 247563"/>
              <a:gd name="connsiteX3-309" fmla="*/ 1835483 w 1835483"/>
              <a:gd name="connsiteY3-310" fmla="*/ 247563 h 247563"/>
              <a:gd name="connsiteX4-311" fmla="*/ 0 w 1835483"/>
              <a:gd name="connsiteY4-312" fmla="*/ 231532 h 247563"/>
              <a:gd name="connsiteX5-313" fmla="*/ 0 w 1835483"/>
              <a:gd name="connsiteY5-314" fmla="*/ 231532 h 247563"/>
              <a:gd name="connsiteX6-315" fmla="*/ 0 w 1835483"/>
              <a:gd name="connsiteY6-316" fmla="*/ 38720 h 247563"/>
              <a:gd name="connsiteX7-317" fmla="*/ 38563 w 1835483"/>
              <a:gd name="connsiteY7-318" fmla="*/ 157 h 2475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835483" h="247563">
                <a:moveTo>
                  <a:pt x="38563" y="157"/>
                </a:moveTo>
                <a:lnTo>
                  <a:pt x="1585987" y="157"/>
                </a:lnTo>
                <a:cubicBezTo>
                  <a:pt x="1632725" y="-1949"/>
                  <a:pt x="1644903" y="17421"/>
                  <a:pt x="1670343" y="40826"/>
                </a:cubicBezTo>
                <a:cubicBezTo>
                  <a:pt x="1724542" y="107632"/>
                  <a:pt x="1794004" y="187075"/>
                  <a:pt x="1835483" y="247563"/>
                </a:cubicBezTo>
                <a:lnTo>
                  <a:pt x="0" y="231532"/>
                </a:lnTo>
                <a:lnTo>
                  <a:pt x="0" y="231532"/>
                </a:lnTo>
                <a:lnTo>
                  <a:pt x="0" y="38720"/>
                </a:lnTo>
                <a:cubicBezTo>
                  <a:pt x="0" y="17422"/>
                  <a:pt x="17265" y="157"/>
                  <a:pt x="38563" y="157"/>
                </a:cubicBezTo>
                <a:close/>
              </a:path>
            </a:pathLst>
          </a:custGeom>
          <a:gradFill flip="none" rotWithShape="0">
            <a:gsLst>
              <a:gs pos="23000">
                <a:schemeClr val="accent1">
                  <a:lumMod val="75000"/>
                  <a:lumOff val="25000"/>
                </a:schemeClr>
              </a:gs>
              <a:gs pos="100000">
                <a:schemeClr val="accent1"/>
              </a:gs>
            </a:gsLst>
            <a:lin ang="2700000" scaled="1"/>
            <a:tileRect/>
          </a:gradFill>
          <a:ln w="12700" cap="flat" cmpd="sng" algn="ctr">
            <a:noFill/>
            <a:prstDash val="solid"/>
            <a:miter lim="800000"/>
          </a:ln>
          <a:effectLst/>
        </p:spPr>
        <p:txBody>
          <a:bodyPr lIns="0" tIns="0" rIns="144000" bIns="36000" rtlCol="0" anchor="ctr"/>
          <a:lstStyle/>
          <a:p>
            <a:pPr algn="l" defTabSz="457200"/>
            <a:r>
              <a:rPr lang="en-US" sz="2000" b="1" kern="0" dirty="0">
                <a:solidFill>
                  <a:srgbClr val="FFFFFF"/>
                </a:solidFill>
                <a:latin typeface="微软雅黑" panose="020B0503020204020204" charset="-122"/>
                <a:ea typeface="微软雅黑" panose="020B0503020204020204" charset="-122"/>
                <a:cs typeface="微软雅黑" panose="020B0503020204020204" charset="-122"/>
              </a:rPr>
              <a:t>      </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rPr>
              <a:t>①</a:t>
            </a:r>
            <a:r>
              <a:rPr lang="en-US" altLang="zh-CN" sz="2000" b="1" kern="0" dirty="0">
                <a:solidFill>
                  <a:srgbClr val="FFFFFF"/>
                </a:solidFill>
                <a:latin typeface="微软雅黑" panose="020B0503020204020204" charset="-122"/>
                <a:ea typeface="微软雅黑" panose="020B0503020204020204" charset="-122"/>
                <a:cs typeface="微软雅黑" panose="020B0503020204020204" charset="-122"/>
              </a:rPr>
              <a:t>-</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rPr>
              <a:t>选人</a:t>
            </a:r>
            <a:endPar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2" name="子陵职场PPT14"/>
          <p:cNvSpPr/>
          <p:nvPr/>
        </p:nvSpPr>
        <p:spPr>
          <a:xfrm flipH="1">
            <a:off x="9694545" y="4722495"/>
            <a:ext cx="1929130" cy="419735"/>
          </a:xfrm>
          <a:custGeom>
            <a:avLst/>
            <a:gdLst>
              <a:gd name="connsiteX0" fmla="*/ 38563 w 1655078"/>
              <a:gd name="connsiteY0" fmla="*/ 0 h 231375"/>
              <a:gd name="connsiteX1" fmla="*/ 1616515 w 1655078"/>
              <a:gd name="connsiteY1" fmla="*/ 0 h 231375"/>
              <a:gd name="connsiteX2" fmla="*/ 1655078 w 1655078"/>
              <a:gd name="connsiteY2" fmla="*/ 38563 h 231375"/>
              <a:gd name="connsiteX3" fmla="*/ 1655078 w 1655078"/>
              <a:gd name="connsiteY3" fmla="*/ 231375 h 231375"/>
              <a:gd name="connsiteX4" fmla="*/ 1655078 w 1655078"/>
              <a:gd name="connsiteY4" fmla="*/ 231375 h 231375"/>
              <a:gd name="connsiteX5" fmla="*/ 0 w 1655078"/>
              <a:gd name="connsiteY5" fmla="*/ 231375 h 231375"/>
              <a:gd name="connsiteX6" fmla="*/ 0 w 1655078"/>
              <a:gd name="connsiteY6" fmla="*/ 231375 h 231375"/>
              <a:gd name="connsiteX7" fmla="*/ 0 w 1655078"/>
              <a:gd name="connsiteY7" fmla="*/ 38563 h 231375"/>
              <a:gd name="connsiteX8" fmla="*/ 38563 w 1655078"/>
              <a:gd name="connsiteY8" fmla="*/ 0 h 231375"/>
              <a:gd name="connsiteX0-1" fmla="*/ 38563 w 1794778"/>
              <a:gd name="connsiteY0-2" fmla="*/ 0 h 231375"/>
              <a:gd name="connsiteX1-3" fmla="*/ 1616515 w 1794778"/>
              <a:gd name="connsiteY1-4" fmla="*/ 0 h 231375"/>
              <a:gd name="connsiteX2-5" fmla="*/ 1655078 w 1794778"/>
              <a:gd name="connsiteY2-6" fmla="*/ 38563 h 231375"/>
              <a:gd name="connsiteX3-7" fmla="*/ 1655078 w 1794778"/>
              <a:gd name="connsiteY3-8" fmla="*/ 231375 h 231375"/>
              <a:gd name="connsiteX4-9" fmla="*/ 1794778 w 1794778"/>
              <a:gd name="connsiteY4-10" fmla="*/ 231375 h 231375"/>
              <a:gd name="connsiteX5-11" fmla="*/ 0 w 1794778"/>
              <a:gd name="connsiteY5-12" fmla="*/ 231375 h 231375"/>
              <a:gd name="connsiteX6-13" fmla="*/ 0 w 1794778"/>
              <a:gd name="connsiteY6-14" fmla="*/ 231375 h 231375"/>
              <a:gd name="connsiteX7-15" fmla="*/ 0 w 1794778"/>
              <a:gd name="connsiteY7-16" fmla="*/ 38563 h 231375"/>
              <a:gd name="connsiteX8-17" fmla="*/ 38563 w 1794778"/>
              <a:gd name="connsiteY8-18" fmla="*/ 0 h 231375"/>
              <a:gd name="connsiteX0-19" fmla="*/ 38563 w 1655078"/>
              <a:gd name="connsiteY0-20" fmla="*/ 0 h 231375"/>
              <a:gd name="connsiteX1-21" fmla="*/ 1616515 w 1655078"/>
              <a:gd name="connsiteY1-22" fmla="*/ 0 h 231375"/>
              <a:gd name="connsiteX2-23" fmla="*/ 1655078 w 1655078"/>
              <a:gd name="connsiteY2-24" fmla="*/ 38563 h 231375"/>
              <a:gd name="connsiteX3-25" fmla="*/ 1655078 w 1655078"/>
              <a:gd name="connsiteY3-26" fmla="*/ 231375 h 231375"/>
              <a:gd name="connsiteX4-27" fmla="*/ 0 w 1655078"/>
              <a:gd name="connsiteY4-28" fmla="*/ 231375 h 231375"/>
              <a:gd name="connsiteX5-29" fmla="*/ 0 w 1655078"/>
              <a:gd name="connsiteY5-30" fmla="*/ 231375 h 231375"/>
              <a:gd name="connsiteX6-31" fmla="*/ 0 w 1655078"/>
              <a:gd name="connsiteY6-32" fmla="*/ 38563 h 231375"/>
              <a:gd name="connsiteX7-33" fmla="*/ 38563 w 1655078"/>
              <a:gd name="connsiteY7-34" fmla="*/ 0 h 231375"/>
              <a:gd name="connsiteX0-35" fmla="*/ 38563 w 1657402"/>
              <a:gd name="connsiteY0-36" fmla="*/ 0 h 231375"/>
              <a:gd name="connsiteX1-37" fmla="*/ 1616515 w 1657402"/>
              <a:gd name="connsiteY1-38" fmla="*/ 0 h 231375"/>
              <a:gd name="connsiteX2-39" fmla="*/ 1655078 w 1657402"/>
              <a:gd name="connsiteY2-40" fmla="*/ 38563 h 231375"/>
              <a:gd name="connsiteX3-41" fmla="*/ 1657402 w 1657402"/>
              <a:gd name="connsiteY3-42" fmla="*/ 213709 h 231375"/>
              <a:gd name="connsiteX4-43" fmla="*/ 1655078 w 1657402"/>
              <a:gd name="connsiteY4-44" fmla="*/ 231375 h 231375"/>
              <a:gd name="connsiteX5-45" fmla="*/ 0 w 1657402"/>
              <a:gd name="connsiteY5-46" fmla="*/ 231375 h 231375"/>
              <a:gd name="connsiteX6-47" fmla="*/ 0 w 1657402"/>
              <a:gd name="connsiteY6-48" fmla="*/ 231375 h 231375"/>
              <a:gd name="connsiteX7-49" fmla="*/ 0 w 1657402"/>
              <a:gd name="connsiteY7-50" fmla="*/ 38563 h 231375"/>
              <a:gd name="connsiteX8-51" fmla="*/ 38563 w 1657402"/>
              <a:gd name="connsiteY8-52" fmla="*/ 0 h 231375"/>
              <a:gd name="connsiteX0-53" fmla="*/ 38563 w 1825307"/>
              <a:gd name="connsiteY0-54" fmla="*/ 0 h 231375"/>
              <a:gd name="connsiteX1-55" fmla="*/ 1616515 w 1825307"/>
              <a:gd name="connsiteY1-56" fmla="*/ 0 h 231375"/>
              <a:gd name="connsiteX2-57" fmla="*/ 1655078 w 1825307"/>
              <a:gd name="connsiteY2-58" fmla="*/ 38563 h 231375"/>
              <a:gd name="connsiteX3-59" fmla="*/ 1825307 w 1825307"/>
              <a:gd name="connsiteY3-60" fmla="*/ 217920 h 231375"/>
              <a:gd name="connsiteX4-61" fmla="*/ 1655078 w 1825307"/>
              <a:gd name="connsiteY4-62" fmla="*/ 231375 h 231375"/>
              <a:gd name="connsiteX5-63" fmla="*/ 0 w 1825307"/>
              <a:gd name="connsiteY5-64" fmla="*/ 231375 h 231375"/>
              <a:gd name="connsiteX6-65" fmla="*/ 0 w 1825307"/>
              <a:gd name="connsiteY6-66" fmla="*/ 231375 h 231375"/>
              <a:gd name="connsiteX7-67" fmla="*/ 0 w 1825307"/>
              <a:gd name="connsiteY7-68" fmla="*/ 38563 h 231375"/>
              <a:gd name="connsiteX8-69" fmla="*/ 38563 w 1825307"/>
              <a:gd name="connsiteY8-70" fmla="*/ 0 h 231375"/>
              <a:gd name="connsiteX0-71" fmla="*/ 38563 w 1825307"/>
              <a:gd name="connsiteY0-72" fmla="*/ 0 h 231375"/>
              <a:gd name="connsiteX1-73" fmla="*/ 1616515 w 1825307"/>
              <a:gd name="connsiteY1-74" fmla="*/ 0 h 231375"/>
              <a:gd name="connsiteX2-75" fmla="*/ 1655078 w 1825307"/>
              <a:gd name="connsiteY2-76" fmla="*/ 38563 h 231375"/>
              <a:gd name="connsiteX3-77" fmla="*/ 1825307 w 1825307"/>
              <a:gd name="connsiteY3-78" fmla="*/ 217920 h 231375"/>
              <a:gd name="connsiteX4-79" fmla="*/ 1655078 w 1825307"/>
              <a:gd name="connsiteY4-80" fmla="*/ 231375 h 231375"/>
              <a:gd name="connsiteX5-81" fmla="*/ 0 w 1825307"/>
              <a:gd name="connsiteY5-82" fmla="*/ 231375 h 231375"/>
              <a:gd name="connsiteX6-83" fmla="*/ 0 w 1825307"/>
              <a:gd name="connsiteY6-84" fmla="*/ 231375 h 231375"/>
              <a:gd name="connsiteX7-85" fmla="*/ 0 w 1825307"/>
              <a:gd name="connsiteY7-86" fmla="*/ 38563 h 231375"/>
              <a:gd name="connsiteX8-87" fmla="*/ 38563 w 1825307"/>
              <a:gd name="connsiteY8-88" fmla="*/ 0 h 231375"/>
              <a:gd name="connsiteX0-89" fmla="*/ 38563 w 1825307"/>
              <a:gd name="connsiteY0-90" fmla="*/ 0 h 231375"/>
              <a:gd name="connsiteX1-91" fmla="*/ 1616515 w 1825307"/>
              <a:gd name="connsiteY1-92" fmla="*/ 0 h 231375"/>
              <a:gd name="connsiteX2-93" fmla="*/ 1655078 w 1825307"/>
              <a:gd name="connsiteY2-94" fmla="*/ 38563 h 231375"/>
              <a:gd name="connsiteX3-95" fmla="*/ 1825307 w 1825307"/>
              <a:gd name="connsiteY3-96" fmla="*/ 217920 h 231375"/>
              <a:gd name="connsiteX4-97" fmla="*/ 1655078 w 1825307"/>
              <a:gd name="connsiteY4-98" fmla="*/ 231375 h 231375"/>
              <a:gd name="connsiteX5-99" fmla="*/ 0 w 1825307"/>
              <a:gd name="connsiteY5-100" fmla="*/ 231375 h 231375"/>
              <a:gd name="connsiteX6-101" fmla="*/ 0 w 1825307"/>
              <a:gd name="connsiteY6-102" fmla="*/ 231375 h 231375"/>
              <a:gd name="connsiteX7-103" fmla="*/ 0 w 1825307"/>
              <a:gd name="connsiteY7-104" fmla="*/ 38563 h 231375"/>
              <a:gd name="connsiteX8-105" fmla="*/ 38563 w 1825307"/>
              <a:gd name="connsiteY8-106" fmla="*/ 0 h 231375"/>
              <a:gd name="connsiteX0-107" fmla="*/ 38563 w 1825307"/>
              <a:gd name="connsiteY0-108" fmla="*/ 0 h 231375"/>
              <a:gd name="connsiteX1-109" fmla="*/ 1616515 w 1825307"/>
              <a:gd name="connsiteY1-110" fmla="*/ 0 h 231375"/>
              <a:gd name="connsiteX2-111" fmla="*/ 1655078 w 1825307"/>
              <a:gd name="connsiteY2-112" fmla="*/ 38563 h 231375"/>
              <a:gd name="connsiteX3-113" fmla="*/ 1825307 w 1825307"/>
              <a:gd name="connsiteY3-114" fmla="*/ 230557 h 231375"/>
              <a:gd name="connsiteX4-115" fmla="*/ 1655078 w 1825307"/>
              <a:gd name="connsiteY4-116" fmla="*/ 231375 h 231375"/>
              <a:gd name="connsiteX5-117" fmla="*/ 0 w 1825307"/>
              <a:gd name="connsiteY5-118" fmla="*/ 231375 h 231375"/>
              <a:gd name="connsiteX6-119" fmla="*/ 0 w 1825307"/>
              <a:gd name="connsiteY6-120" fmla="*/ 231375 h 231375"/>
              <a:gd name="connsiteX7-121" fmla="*/ 0 w 1825307"/>
              <a:gd name="connsiteY7-122" fmla="*/ 38563 h 231375"/>
              <a:gd name="connsiteX8-123" fmla="*/ 38563 w 1825307"/>
              <a:gd name="connsiteY8-124" fmla="*/ 0 h 231375"/>
              <a:gd name="connsiteX0-125" fmla="*/ 38563 w 1825307"/>
              <a:gd name="connsiteY0-126" fmla="*/ 0 h 231375"/>
              <a:gd name="connsiteX1-127" fmla="*/ 1616515 w 1825307"/>
              <a:gd name="connsiteY1-128" fmla="*/ 0 h 231375"/>
              <a:gd name="connsiteX2-129" fmla="*/ 1670343 w 1825307"/>
              <a:gd name="connsiteY2-130" fmla="*/ 40669 h 231375"/>
              <a:gd name="connsiteX3-131" fmla="*/ 1825307 w 1825307"/>
              <a:gd name="connsiteY3-132" fmla="*/ 230557 h 231375"/>
              <a:gd name="connsiteX4-133" fmla="*/ 1655078 w 1825307"/>
              <a:gd name="connsiteY4-134" fmla="*/ 231375 h 231375"/>
              <a:gd name="connsiteX5-135" fmla="*/ 0 w 1825307"/>
              <a:gd name="connsiteY5-136" fmla="*/ 231375 h 231375"/>
              <a:gd name="connsiteX6-137" fmla="*/ 0 w 1825307"/>
              <a:gd name="connsiteY6-138" fmla="*/ 231375 h 231375"/>
              <a:gd name="connsiteX7-139" fmla="*/ 0 w 1825307"/>
              <a:gd name="connsiteY7-140" fmla="*/ 38563 h 231375"/>
              <a:gd name="connsiteX8-141" fmla="*/ 38563 w 1825307"/>
              <a:gd name="connsiteY8-142" fmla="*/ 0 h 231375"/>
              <a:gd name="connsiteX0-143" fmla="*/ 38563 w 1825307"/>
              <a:gd name="connsiteY0-144" fmla="*/ 0 h 231375"/>
              <a:gd name="connsiteX1-145" fmla="*/ 1616515 w 1825307"/>
              <a:gd name="connsiteY1-146" fmla="*/ 0 h 231375"/>
              <a:gd name="connsiteX2-147" fmla="*/ 1670343 w 1825307"/>
              <a:gd name="connsiteY2-148" fmla="*/ 40669 h 231375"/>
              <a:gd name="connsiteX3-149" fmla="*/ 1825307 w 1825307"/>
              <a:gd name="connsiteY3-150" fmla="*/ 230557 h 231375"/>
              <a:gd name="connsiteX4-151" fmla="*/ 0 w 1825307"/>
              <a:gd name="connsiteY4-152" fmla="*/ 231375 h 231375"/>
              <a:gd name="connsiteX5-153" fmla="*/ 0 w 1825307"/>
              <a:gd name="connsiteY5-154" fmla="*/ 231375 h 231375"/>
              <a:gd name="connsiteX6-155" fmla="*/ 0 w 1825307"/>
              <a:gd name="connsiteY6-156" fmla="*/ 38563 h 231375"/>
              <a:gd name="connsiteX7-157" fmla="*/ 38563 w 1825307"/>
              <a:gd name="connsiteY7-158" fmla="*/ 0 h 231375"/>
              <a:gd name="connsiteX0-159" fmla="*/ 38563 w 1825307"/>
              <a:gd name="connsiteY0-160" fmla="*/ 0 h 231375"/>
              <a:gd name="connsiteX1-161" fmla="*/ 1616515 w 1825307"/>
              <a:gd name="connsiteY1-162" fmla="*/ 0 h 231375"/>
              <a:gd name="connsiteX2-163" fmla="*/ 1670343 w 1825307"/>
              <a:gd name="connsiteY2-164" fmla="*/ 40669 h 231375"/>
              <a:gd name="connsiteX3-165" fmla="*/ 1825307 w 1825307"/>
              <a:gd name="connsiteY3-166" fmla="*/ 230557 h 231375"/>
              <a:gd name="connsiteX4-167" fmla="*/ 0 w 1825307"/>
              <a:gd name="connsiteY4-168" fmla="*/ 231375 h 231375"/>
              <a:gd name="connsiteX5-169" fmla="*/ 0 w 1825307"/>
              <a:gd name="connsiteY5-170" fmla="*/ 231375 h 231375"/>
              <a:gd name="connsiteX6-171" fmla="*/ 0 w 1825307"/>
              <a:gd name="connsiteY6-172" fmla="*/ 38563 h 231375"/>
              <a:gd name="connsiteX7-173" fmla="*/ 38563 w 1825307"/>
              <a:gd name="connsiteY7-174" fmla="*/ 0 h 231375"/>
              <a:gd name="connsiteX0-175" fmla="*/ 38563 w 1825307"/>
              <a:gd name="connsiteY0-176" fmla="*/ 0 h 231375"/>
              <a:gd name="connsiteX1-177" fmla="*/ 1616515 w 1825307"/>
              <a:gd name="connsiteY1-178" fmla="*/ 0 h 231375"/>
              <a:gd name="connsiteX2-179" fmla="*/ 1670343 w 1825307"/>
              <a:gd name="connsiteY2-180" fmla="*/ 40669 h 231375"/>
              <a:gd name="connsiteX3-181" fmla="*/ 1825307 w 1825307"/>
              <a:gd name="connsiteY3-182" fmla="*/ 230557 h 231375"/>
              <a:gd name="connsiteX4-183" fmla="*/ 0 w 1825307"/>
              <a:gd name="connsiteY4-184" fmla="*/ 231375 h 231375"/>
              <a:gd name="connsiteX5-185" fmla="*/ 0 w 1825307"/>
              <a:gd name="connsiteY5-186" fmla="*/ 231375 h 231375"/>
              <a:gd name="connsiteX6-187" fmla="*/ 0 w 1825307"/>
              <a:gd name="connsiteY6-188" fmla="*/ 38563 h 231375"/>
              <a:gd name="connsiteX7-189" fmla="*/ 38563 w 1825307"/>
              <a:gd name="connsiteY7-190" fmla="*/ 0 h 231375"/>
              <a:gd name="connsiteX0-191" fmla="*/ 38563 w 1825307"/>
              <a:gd name="connsiteY0-192" fmla="*/ 0 h 231375"/>
              <a:gd name="connsiteX1-193" fmla="*/ 1616515 w 1825307"/>
              <a:gd name="connsiteY1-194" fmla="*/ 0 h 231375"/>
              <a:gd name="connsiteX2-195" fmla="*/ 1670343 w 1825307"/>
              <a:gd name="connsiteY2-196" fmla="*/ 40669 h 231375"/>
              <a:gd name="connsiteX3-197" fmla="*/ 1825307 w 1825307"/>
              <a:gd name="connsiteY3-198" fmla="*/ 230557 h 231375"/>
              <a:gd name="connsiteX4-199" fmla="*/ 0 w 1825307"/>
              <a:gd name="connsiteY4-200" fmla="*/ 231375 h 231375"/>
              <a:gd name="connsiteX5-201" fmla="*/ 0 w 1825307"/>
              <a:gd name="connsiteY5-202" fmla="*/ 231375 h 231375"/>
              <a:gd name="connsiteX6-203" fmla="*/ 0 w 1825307"/>
              <a:gd name="connsiteY6-204" fmla="*/ 38563 h 231375"/>
              <a:gd name="connsiteX7-205" fmla="*/ 38563 w 1825307"/>
              <a:gd name="connsiteY7-206" fmla="*/ 0 h 231375"/>
              <a:gd name="connsiteX0-207" fmla="*/ 38563 w 1825307"/>
              <a:gd name="connsiteY0-208" fmla="*/ 0 h 231375"/>
              <a:gd name="connsiteX1-209" fmla="*/ 1616515 w 1825307"/>
              <a:gd name="connsiteY1-210" fmla="*/ 0 h 231375"/>
              <a:gd name="connsiteX2-211" fmla="*/ 1670343 w 1825307"/>
              <a:gd name="connsiteY2-212" fmla="*/ 40669 h 231375"/>
              <a:gd name="connsiteX3-213" fmla="*/ 1825307 w 1825307"/>
              <a:gd name="connsiteY3-214" fmla="*/ 230557 h 231375"/>
              <a:gd name="connsiteX4-215" fmla="*/ 0 w 1825307"/>
              <a:gd name="connsiteY4-216" fmla="*/ 231375 h 231375"/>
              <a:gd name="connsiteX5-217" fmla="*/ 0 w 1825307"/>
              <a:gd name="connsiteY5-218" fmla="*/ 231375 h 231375"/>
              <a:gd name="connsiteX6-219" fmla="*/ 0 w 1825307"/>
              <a:gd name="connsiteY6-220" fmla="*/ 38563 h 231375"/>
              <a:gd name="connsiteX7-221" fmla="*/ 38563 w 1825307"/>
              <a:gd name="connsiteY7-222" fmla="*/ 0 h 231375"/>
              <a:gd name="connsiteX0-223" fmla="*/ 38563 w 1827851"/>
              <a:gd name="connsiteY0-224" fmla="*/ 0 h 249512"/>
              <a:gd name="connsiteX1-225" fmla="*/ 1616515 w 1827851"/>
              <a:gd name="connsiteY1-226" fmla="*/ 0 h 249512"/>
              <a:gd name="connsiteX2-227" fmla="*/ 1670343 w 1827851"/>
              <a:gd name="connsiteY2-228" fmla="*/ 40669 h 249512"/>
              <a:gd name="connsiteX3-229" fmla="*/ 1827851 w 1827851"/>
              <a:gd name="connsiteY3-230" fmla="*/ 249512 h 249512"/>
              <a:gd name="connsiteX4-231" fmla="*/ 0 w 1827851"/>
              <a:gd name="connsiteY4-232" fmla="*/ 231375 h 249512"/>
              <a:gd name="connsiteX5-233" fmla="*/ 0 w 1827851"/>
              <a:gd name="connsiteY5-234" fmla="*/ 231375 h 249512"/>
              <a:gd name="connsiteX6-235" fmla="*/ 0 w 1827851"/>
              <a:gd name="connsiteY6-236" fmla="*/ 38563 h 249512"/>
              <a:gd name="connsiteX7-237" fmla="*/ 38563 w 1827851"/>
              <a:gd name="connsiteY7-238" fmla="*/ 0 h 249512"/>
              <a:gd name="connsiteX0-239" fmla="*/ 38563 w 1827851"/>
              <a:gd name="connsiteY0-240" fmla="*/ 0 h 249512"/>
              <a:gd name="connsiteX1-241" fmla="*/ 1616515 w 1827851"/>
              <a:gd name="connsiteY1-242" fmla="*/ 0 h 249512"/>
              <a:gd name="connsiteX2-243" fmla="*/ 1670343 w 1827851"/>
              <a:gd name="connsiteY2-244" fmla="*/ 40669 h 249512"/>
              <a:gd name="connsiteX3-245" fmla="*/ 1827851 w 1827851"/>
              <a:gd name="connsiteY3-246" fmla="*/ 249512 h 249512"/>
              <a:gd name="connsiteX4-247" fmla="*/ 0 w 1827851"/>
              <a:gd name="connsiteY4-248" fmla="*/ 231375 h 249512"/>
              <a:gd name="connsiteX5-249" fmla="*/ 0 w 1827851"/>
              <a:gd name="connsiteY5-250" fmla="*/ 231375 h 249512"/>
              <a:gd name="connsiteX6-251" fmla="*/ 0 w 1827851"/>
              <a:gd name="connsiteY6-252" fmla="*/ 38563 h 249512"/>
              <a:gd name="connsiteX7-253" fmla="*/ 38563 w 1827851"/>
              <a:gd name="connsiteY7-254" fmla="*/ 0 h 249512"/>
              <a:gd name="connsiteX0-255" fmla="*/ 38563 w 1827851"/>
              <a:gd name="connsiteY0-256" fmla="*/ 0 h 249512"/>
              <a:gd name="connsiteX1-257" fmla="*/ 1585987 w 1827851"/>
              <a:gd name="connsiteY1-258" fmla="*/ 0 h 249512"/>
              <a:gd name="connsiteX2-259" fmla="*/ 1670343 w 1827851"/>
              <a:gd name="connsiteY2-260" fmla="*/ 40669 h 249512"/>
              <a:gd name="connsiteX3-261" fmla="*/ 1827851 w 1827851"/>
              <a:gd name="connsiteY3-262" fmla="*/ 249512 h 249512"/>
              <a:gd name="connsiteX4-263" fmla="*/ 0 w 1827851"/>
              <a:gd name="connsiteY4-264" fmla="*/ 231375 h 249512"/>
              <a:gd name="connsiteX5-265" fmla="*/ 0 w 1827851"/>
              <a:gd name="connsiteY5-266" fmla="*/ 231375 h 249512"/>
              <a:gd name="connsiteX6-267" fmla="*/ 0 w 1827851"/>
              <a:gd name="connsiteY6-268" fmla="*/ 38563 h 249512"/>
              <a:gd name="connsiteX7-269" fmla="*/ 38563 w 1827851"/>
              <a:gd name="connsiteY7-270" fmla="*/ 0 h 249512"/>
              <a:gd name="connsiteX0-271" fmla="*/ 38563 w 1827851"/>
              <a:gd name="connsiteY0-272" fmla="*/ 157 h 249669"/>
              <a:gd name="connsiteX1-273" fmla="*/ 1585987 w 1827851"/>
              <a:gd name="connsiteY1-274" fmla="*/ 157 h 249669"/>
              <a:gd name="connsiteX2-275" fmla="*/ 1670343 w 1827851"/>
              <a:gd name="connsiteY2-276" fmla="*/ 40826 h 249669"/>
              <a:gd name="connsiteX3-277" fmla="*/ 1827851 w 1827851"/>
              <a:gd name="connsiteY3-278" fmla="*/ 249669 h 249669"/>
              <a:gd name="connsiteX4-279" fmla="*/ 0 w 1827851"/>
              <a:gd name="connsiteY4-280" fmla="*/ 231532 h 249669"/>
              <a:gd name="connsiteX5-281" fmla="*/ 0 w 1827851"/>
              <a:gd name="connsiteY5-282" fmla="*/ 231532 h 249669"/>
              <a:gd name="connsiteX6-283" fmla="*/ 0 w 1827851"/>
              <a:gd name="connsiteY6-284" fmla="*/ 38720 h 249669"/>
              <a:gd name="connsiteX7-285" fmla="*/ 38563 w 1827851"/>
              <a:gd name="connsiteY7-286" fmla="*/ 157 h 249669"/>
              <a:gd name="connsiteX0-287" fmla="*/ 38563 w 1835483"/>
              <a:gd name="connsiteY0-288" fmla="*/ 157 h 247563"/>
              <a:gd name="connsiteX1-289" fmla="*/ 1585987 w 1835483"/>
              <a:gd name="connsiteY1-290" fmla="*/ 157 h 247563"/>
              <a:gd name="connsiteX2-291" fmla="*/ 1670343 w 1835483"/>
              <a:gd name="connsiteY2-292" fmla="*/ 40826 h 247563"/>
              <a:gd name="connsiteX3-293" fmla="*/ 1835483 w 1835483"/>
              <a:gd name="connsiteY3-294" fmla="*/ 247563 h 247563"/>
              <a:gd name="connsiteX4-295" fmla="*/ 0 w 1835483"/>
              <a:gd name="connsiteY4-296" fmla="*/ 231532 h 247563"/>
              <a:gd name="connsiteX5-297" fmla="*/ 0 w 1835483"/>
              <a:gd name="connsiteY5-298" fmla="*/ 231532 h 247563"/>
              <a:gd name="connsiteX6-299" fmla="*/ 0 w 1835483"/>
              <a:gd name="connsiteY6-300" fmla="*/ 38720 h 247563"/>
              <a:gd name="connsiteX7-301" fmla="*/ 38563 w 1835483"/>
              <a:gd name="connsiteY7-302" fmla="*/ 157 h 247563"/>
              <a:gd name="connsiteX0-303" fmla="*/ 38563 w 1835483"/>
              <a:gd name="connsiteY0-304" fmla="*/ 157 h 247563"/>
              <a:gd name="connsiteX1-305" fmla="*/ 1585987 w 1835483"/>
              <a:gd name="connsiteY1-306" fmla="*/ 157 h 247563"/>
              <a:gd name="connsiteX2-307" fmla="*/ 1670343 w 1835483"/>
              <a:gd name="connsiteY2-308" fmla="*/ 40826 h 247563"/>
              <a:gd name="connsiteX3-309" fmla="*/ 1835483 w 1835483"/>
              <a:gd name="connsiteY3-310" fmla="*/ 247563 h 247563"/>
              <a:gd name="connsiteX4-311" fmla="*/ 0 w 1835483"/>
              <a:gd name="connsiteY4-312" fmla="*/ 231532 h 247563"/>
              <a:gd name="connsiteX5-313" fmla="*/ 0 w 1835483"/>
              <a:gd name="connsiteY5-314" fmla="*/ 231532 h 247563"/>
              <a:gd name="connsiteX6-315" fmla="*/ 0 w 1835483"/>
              <a:gd name="connsiteY6-316" fmla="*/ 38720 h 247563"/>
              <a:gd name="connsiteX7-317" fmla="*/ 38563 w 1835483"/>
              <a:gd name="connsiteY7-318" fmla="*/ 157 h 2475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835483" h="247563">
                <a:moveTo>
                  <a:pt x="38563" y="157"/>
                </a:moveTo>
                <a:lnTo>
                  <a:pt x="1585987" y="157"/>
                </a:lnTo>
                <a:cubicBezTo>
                  <a:pt x="1632725" y="-1949"/>
                  <a:pt x="1644903" y="17421"/>
                  <a:pt x="1670343" y="40826"/>
                </a:cubicBezTo>
                <a:cubicBezTo>
                  <a:pt x="1724542" y="107632"/>
                  <a:pt x="1794004" y="187075"/>
                  <a:pt x="1835483" y="247563"/>
                </a:cubicBezTo>
                <a:lnTo>
                  <a:pt x="0" y="231532"/>
                </a:lnTo>
                <a:lnTo>
                  <a:pt x="0" y="231532"/>
                </a:lnTo>
                <a:lnTo>
                  <a:pt x="0" y="38720"/>
                </a:lnTo>
                <a:cubicBezTo>
                  <a:pt x="0" y="17422"/>
                  <a:pt x="17265" y="157"/>
                  <a:pt x="38563" y="157"/>
                </a:cubicBezTo>
                <a:close/>
              </a:path>
            </a:pathLst>
          </a:custGeom>
          <a:gradFill flip="none" rotWithShape="0">
            <a:gsLst>
              <a:gs pos="23000">
                <a:schemeClr val="accent1">
                  <a:lumMod val="75000"/>
                  <a:lumOff val="25000"/>
                </a:schemeClr>
              </a:gs>
              <a:gs pos="100000">
                <a:schemeClr val="accent1"/>
              </a:gs>
            </a:gsLst>
            <a:lin ang="2700000" scaled="1"/>
            <a:tileRect/>
          </a:gradFill>
          <a:ln w="12700" cap="flat" cmpd="sng" algn="ctr">
            <a:noFill/>
            <a:prstDash val="solid"/>
            <a:miter lim="800000"/>
          </a:ln>
          <a:effectLst/>
        </p:spPr>
        <p:txBody>
          <a:bodyPr lIns="0" tIns="0" rIns="144000" bIns="36000" rtlCol="0" anchor="ctr"/>
          <a:lstStyle/>
          <a:p>
            <a:pPr algn="l" defTabSz="457200"/>
            <a:r>
              <a:rPr lang="en-US" sz="2000" b="1" kern="0" dirty="0">
                <a:solidFill>
                  <a:srgbClr val="FFFFFF"/>
                </a:solidFill>
                <a:latin typeface="微软雅黑" panose="020B0503020204020204" charset="-122"/>
                <a:ea typeface="微软雅黑" panose="020B0503020204020204" charset="-122"/>
                <a:cs typeface="微软雅黑" panose="020B0503020204020204" charset="-122"/>
              </a:rPr>
              <a:t>      </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rPr>
              <a:t>③</a:t>
            </a:r>
            <a:r>
              <a:rPr lang="en-US" altLang="zh-CN" sz="2000" b="1" kern="0" dirty="0">
                <a:solidFill>
                  <a:srgbClr val="FFFFFF"/>
                </a:solidFill>
                <a:latin typeface="微软雅黑" panose="020B0503020204020204" charset="-122"/>
                <a:ea typeface="微软雅黑" panose="020B0503020204020204" charset="-122"/>
                <a:cs typeface="微软雅黑" panose="020B0503020204020204" charset="-122"/>
              </a:rPr>
              <a:t>-</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rPr>
              <a:t>用人</a:t>
            </a:r>
            <a:endPar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4" name="子陵职场PPT18"/>
          <p:cNvSpPr txBox="1"/>
          <p:nvPr/>
        </p:nvSpPr>
        <p:spPr>
          <a:xfrm>
            <a:off x="8633460" y="1506220"/>
            <a:ext cx="3091815" cy="312420"/>
          </a:xfrm>
          <a:prstGeom prst="rect">
            <a:avLst/>
          </a:prstGeom>
          <a:noFill/>
        </p:spPr>
        <p:txBody>
          <a:bodyPr wrap="square">
            <a:spAutoFit/>
          </a:bodyPr>
          <a:lstStyle/>
          <a:p>
            <a:pPr algn="r">
              <a:lnSpc>
                <a:spcPct val="120000"/>
              </a:lnSpc>
            </a:pP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rPr>
              <a:t>解决</a:t>
            </a:r>
            <a:r>
              <a:rPr lang="en-US" altLang="zh-CN" sz="1200" b="1" dirty="0">
                <a:solidFill>
                  <a:schemeClr val="accent1"/>
                </a:solidFill>
                <a:latin typeface="微软雅黑" panose="020B0503020204020204" charset="-122"/>
                <a:ea typeface="微软雅黑" panose="020B0503020204020204" charset="-122"/>
                <a:cs typeface="微软雅黑" panose="020B0503020204020204" charset="-122"/>
                <a:sym typeface="+mn-ea"/>
              </a:rPr>
              <a:t>“</a:t>
            </a: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rPr>
              <a:t>如何找到对的人</a:t>
            </a:r>
            <a:r>
              <a:rPr lang="en-US" altLang="zh-CN" sz="1200" b="1" dirty="0">
                <a:solidFill>
                  <a:schemeClr val="accent1"/>
                </a:solidFill>
                <a:latin typeface="微软雅黑" panose="020B0503020204020204" charset="-122"/>
                <a:ea typeface="微软雅黑" panose="020B0503020204020204" charset="-122"/>
                <a:cs typeface="微软雅黑" panose="020B0503020204020204" charset="-122"/>
                <a:sym typeface="+mn-ea"/>
              </a:rPr>
              <a:t>”</a:t>
            </a: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sym typeface="+mn-ea"/>
              </a:rPr>
              <a:t>的问题</a:t>
            </a:r>
            <a:r>
              <a:rPr lang="zh-CN" altLang="en-US" sz="1200" dirty="0">
                <a:solidFill>
                  <a:schemeClr val="accent1"/>
                </a:solidFill>
                <a:latin typeface="微软雅黑" panose="020B0503020204020204" charset="-122"/>
                <a:ea typeface="微软雅黑" panose="020B0503020204020204" charset="-122"/>
                <a:cs typeface="微软雅黑" panose="020B0503020204020204" charset="-122"/>
                <a:sym typeface="+mn-ea"/>
              </a:rPr>
              <a:t>（起点）</a:t>
            </a: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nvGrpSpPr>
          <p:cNvPr id="175" name="子陵职场PPT22"/>
          <p:cNvGrpSpPr/>
          <p:nvPr/>
        </p:nvGrpSpPr>
        <p:grpSpPr>
          <a:xfrm rot="0">
            <a:off x="588645" y="2954020"/>
            <a:ext cx="239395" cy="239395"/>
            <a:chOff x="899850" y="4992125"/>
            <a:chExt cx="481825" cy="481825"/>
          </a:xfrm>
          <a:solidFill>
            <a:schemeClr val="bg1"/>
          </a:solidFill>
        </p:grpSpPr>
        <p:sp>
          <p:nvSpPr>
            <p:cNvPr id="176" name="子陵职场PPT22-1"/>
            <p:cNvSpPr/>
            <p:nvPr/>
          </p:nvSpPr>
          <p:spPr>
            <a:xfrm>
              <a:off x="1126600" y="5360100"/>
              <a:ext cx="28250" cy="28250"/>
            </a:xfrm>
            <a:custGeom>
              <a:avLst/>
              <a:gdLst/>
              <a:ahLst/>
              <a:cxnLst/>
              <a:rect l="l" t="t" r="r" b="b"/>
              <a:pathLst>
                <a:path w="1130" h="1130" extrusionOk="0">
                  <a:moveTo>
                    <a:pt x="566" y="1"/>
                  </a:moveTo>
                  <a:cubicBezTo>
                    <a:pt x="253" y="1"/>
                    <a:pt x="0" y="250"/>
                    <a:pt x="0" y="564"/>
                  </a:cubicBezTo>
                  <a:cubicBezTo>
                    <a:pt x="0" y="877"/>
                    <a:pt x="253" y="1130"/>
                    <a:pt x="566" y="1130"/>
                  </a:cubicBezTo>
                  <a:cubicBezTo>
                    <a:pt x="876" y="1130"/>
                    <a:pt x="1129" y="877"/>
                    <a:pt x="1129" y="564"/>
                  </a:cubicBezTo>
                  <a:cubicBezTo>
                    <a:pt x="1129" y="250"/>
                    <a:pt x="876" y="1"/>
                    <a:pt x="56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latin typeface="微软雅黑" panose="020B0503020204020204" charset="-122"/>
                <a:ea typeface="微软雅黑" panose="020B0503020204020204" charset="-122"/>
                <a:cs typeface="微软雅黑" panose="020B0503020204020204" charset="-122"/>
              </a:endParaRPr>
            </a:p>
          </p:txBody>
        </p:sp>
        <p:sp>
          <p:nvSpPr>
            <p:cNvPr id="180" name="子陵职场PPT22-2"/>
            <p:cNvSpPr/>
            <p:nvPr/>
          </p:nvSpPr>
          <p:spPr>
            <a:xfrm>
              <a:off x="1056050" y="5079900"/>
              <a:ext cx="169400" cy="194950"/>
            </a:xfrm>
            <a:custGeom>
              <a:avLst/>
              <a:gdLst/>
              <a:ahLst/>
              <a:cxnLst/>
              <a:rect l="l" t="t" r="r" b="b"/>
              <a:pathLst>
                <a:path w="6776" h="7798" extrusionOk="0">
                  <a:moveTo>
                    <a:pt x="3417" y="1"/>
                  </a:moveTo>
                  <a:cubicBezTo>
                    <a:pt x="1713" y="1"/>
                    <a:pt x="0" y="1115"/>
                    <a:pt x="0" y="3304"/>
                  </a:cubicBezTo>
                  <a:cubicBezTo>
                    <a:pt x="0" y="3614"/>
                    <a:pt x="250" y="3867"/>
                    <a:pt x="564" y="3867"/>
                  </a:cubicBezTo>
                  <a:cubicBezTo>
                    <a:pt x="877" y="3867"/>
                    <a:pt x="1130" y="3614"/>
                    <a:pt x="1130" y="3304"/>
                  </a:cubicBezTo>
                  <a:cubicBezTo>
                    <a:pt x="1130" y="2069"/>
                    <a:pt x="2111" y="1061"/>
                    <a:pt x="3388" y="1061"/>
                  </a:cubicBezTo>
                  <a:cubicBezTo>
                    <a:pt x="4665" y="1061"/>
                    <a:pt x="5647" y="2066"/>
                    <a:pt x="5647" y="3304"/>
                  </a:cubicBezTo>
                  <a:cubicBezTo>
                    <a:pt x="5647" y="4147"/>
                    <a:pt x="5174" y="4921"/>
                    <a:pt x="4424" y="5310"/>
                  </a:cubicBezTo>
                  <a:cubicBezTo>
                    <a:pt x="3617" y="5728"/>
                    <a:pt x="3108" y="6336"/>
                    <a:pt x="2912" y="7116"/>
                  </a:cubicBezTo>
                  <a:cubicBezTo>
                    <a:pt x="2870" y="7285"/>
                    <a:pt x="2906" y="7466"/>
                    <a:pt x="3015" y="7601"/>
                  </a:cubicBezTo>
                  <a:cubicBezTo>
                    <a:pt x="3118" y="7736"/>
                    <a:pt x="3277" y="7798"/>
                    <a:pt x="3439" y="7798"/>
                  </a:cubicBezTo>
                  <a:cubicBezTo>
                    <a:pt x="3686" y="7798"/>
                    <a:pt x="3938" y="7652"/>
                    <a:pt x="4005" y="7399"/>
                  </a:cubicBezTo>
                  <a:cubicBezTo>
                    <a:pt x="4129" y="6936"/>
                    <a:pt x="4445" y="6568"/>
                    <a:pt x="4945" y="6312"/>
                  </a:cubicBezTo>
                  <a:cubicBezTo>
                    <a:pt x="6071" y="5728"/>
                    <a:pt x="6776" y="4569"/>
                    <a:pt x="6776" y="3304"/>
                  </a:cubicBezTo>
                  <a:cubicBezTo>
                    <a:pt x="6776" y="1090"/>
                    <a:pt x="5101" y="1"/>
                    <a:pt x="3417"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latin typeface="微软雅黑" panose="020B0503020204020204" charset="-122"/>
                <a:ea typeface="微软雅黑" panose="020B0503020204020204" charset="-122"/>
                <a:cs typeface="微软雅黑" panose="020B0503020204020204" charset="-122"/>
              </a:endParaRPr>
            </a:p>
          </p:txBody>
        </p:sp>
        <p:sp>
          <p:nvSpPr>
            <p:cNvPr id="181" name="子陵职场PPT22-3"/>
            <p:cNvSpPr/>
            <p:nvPr/>
          </p:nvSpPr>
          <p:spPr>
            <a:xfrm>
              <a:off x="899850" y="4992125"/>
              <a:ext cx="481825" cy="481825"/>
            </a:xfrm>
            <a:custGeom>
              <a:avLst/>
              <a:gdLst/>
              <a:ahLst/>
              <a:cxnLst/>
              <a:rect l="l" t="t" r="r" b="b"/>
              <a:pathLst>
                <a:path w="19273" h="19273" extrusionOk="0">
                  <a:moveTo>
                    <a:pt x="9636" y="2334"/>
                  </a:moveTo>
                  <a:cubicBezTo>
                    <a:pt x="12223" y="2334"/>
                    <a:pt x="14153" y="4367"/>
                    <a:pt x="14153" y="6815"/>
                  </a:cubicBezTo>
                  <a:cubicBezTo>
                    <a:pt x="14153" y="8501"/>
                    <a:pt x="13214" y="10049"/>
                    <a:pt x="11714" y="10826"/>
                  </a:cubicBezTo>
                  <a:cubicBezTo>
                    <a:pt x="11401" y="10986"/>
                    <a:pt x="11362" y="11142"/>
                    <a:pt x="11344" y="11202"/>
                  </a:cubicBezTo>
                  <a:cubicBezTo>
                    <a:pt x="11141" y="11958"/>
                    <a:pt x="10458" y="12455"/>
                    <a:pt x="9710" y="12455"/>
                  </a:cubicBezTo>
                  <a:cubicBezTo>
                    <a:pt x="9569" y="12455"/>
                    <a:pt x="9426" y="12438"/>
                    <a:pt x="9284" y="12401"/>
                  </a:cubicBezTo>
                  <a:cubicBezTo>
                    <a:pt x="8383" y="12169"/>
                    <a:pt x="7841" y="11254"/>
                    <a:pt x="8064" y="10353"/>
                  </a:cubicBezTo>
                  <a:cubicBezTo>
                    <a:pt x="8338" y="9260"/>
                    <a:pt x="9061" y="8384"/>
                    <a:pt x="10154" y="7818"/>
                  </a:cubicBezTo>
                  <a:cubicBezTo>
                    <a:pt x="10832" y="7465"/>
                    <a:pt x="10973" y="6556"/>
                    <a:pt x="10434" y="6017"/>
                  </a:cubicBezTo>
                  <a:cubicBezTo>
                    <a:pt x="10219" y="5801"/>
                    <a:pt x="9934" y="5700"/>
                    <a:pt x="9650" y="5700"/>
                  </a:cubicBezTo>
                  <a:cubicBezTo>
                    <a:pt x="9078" y="5700"/>
                    <a:pt x="8507" y="6109"/>
                    <a:pt x="8507" y="6815"/>
                  </a:cubicBezTo>
                  <a:cubicBezTo>
                    <a:pt x="8507" y="7749"/>
                    <a:pt x="7748" y="8507"/>
                    <a:pt x="6812" y="8507"/>
                  </a:cubicBezTo>
                  <a:cubicBezTo>
                    <a:pt x="5875" y="8507"/>
                    <a:pt x="5119" y="7749"/>
                    <a:pt x="5119" y="6815"/>
                  </a:cubicBezTo>
                  <a:cubicBezTo>
                    <a:pt x="5119" y="4388"/>
                    <a:pt x="7028" y="2334"/>
                    <a:pt x="9636" y="2334"/>
                  </a:cubicBezTo>
                  <a:close/>
                  <a:moveTo>
                    <a:pt x="9636" y="13588"/>
                  </a:moveTo>
                  <a:cubicBezTo>
                    <a:pt x="9854" y="13588"/>
                    <a:pt x="10074" y="13630"/>
                    <a:pt x="10284" y="13717"/>
                  </a:cubicBezTo>
                  <a:cubicBezTo>
                    <a:pt x="10916" y="13979"/>
                    <a:pt x="11328" y="14596"/>
                    <a:pt x="11328" y="15283"/>
                  </a:cubicBezTo>
                  <a:cubicBezTo>
                    <a:pt x="11328" y="16219"/>
                    <a:pt x="10570" y="16975"/>
                    <a:pt x="9636" y="16978"/>
                  </a:cubicBezTo>
                  <a:cubicBezTo>
                    <a:pt x="8950" y="16978"/>
                    <a:pt x="8332" y="16562"/>
                    <a:pt x="8070" y="15930"/>
                  </a:cubicBezTo>
                  <a:cubicBezTo>
                    <a:pt x="7808" y="15298"/>
                    <a:pt x="7953" y="14569"/>
                    <a:pt x="8438" y="14084"/>
                  </a:cubicBezTo>
                  <a:cubicBezTo>
                    <a:pt x="8762" y="13760"/>
                    <a:pt x="9195" y="13588"/>
                    <a:pt x="9636" y="13588"/>
                  </a:cubicBezTo>
                  <a:close/>
                  <a:moveTo>
                    <a:pt x="9636" y="1"/>
                  </a:moveTo>
                  <a:cubicBezTo>
                    <a:pt x="4330" y="1"/>
                    <a:pt x="0" y="4331"/>
                    <a:pt x="0" y="9637"/>
                  </a:cubicBezTo>
                  <a:cubicBezTo>
                    <a:pt x="0" y="14945"/>
                    <a:pt x="4330" y="19273"/>
                    <a:pt x="9636" y="19273"/>
                  </a:cubicBezTo>
                  <a:cubicBezTo>
                    <a:pt x="14939" y="19273"/>
                    <a:pt x="19272" y="14945"/>
                    <a:pt x="19272" y="9637"/>
                  </a:cubicBezTo>
                  <a:cubicBezTo>
                    <a:pt x="19272" y="4331"/>
                    <a:pt x="14942" y="1"/>
                    <a:pt x="9636"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latin typeface="微软雅黑" panose="020B0503020204020204" charset="-122"/>
                <a:ea typeface="微软雅黑" panose="020B0503020204020204" charset="-122"/>
                <a:cs typeface="微软雅黑" panose="020B0503020204020204" charset="-122"/>
              </a:endParaRPr>
            </a:p>
          </p:txBody>
        </p:sp>
      </p:grpSp>
      <p:sp>
        <p:nvSpPr>
          <p:cNvPr id="182" name="任意多边形 181"/>
          <p:cNvSpPr/>
          <p:nvPr/>
        </p:nvSpPr>
        <p:spPr bwMode="auto">
          <a:xfrm>
            <a:off x="7054850" y="2054860"/>
            <a:ext cx="1414145" cy="2448560"/>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42" h="4054">
                <a:moveTo>
                  <a:pt x="817" y="0"/>
                </a:moveTo>
                <a:cubicBezTo>
                  <a:pt x="1544" y="561"/>
                  <a:pt x="2083" y="1854"/>
                  <a:pt x="2062" y="2569"/>
                </a:cubicBezTo>
                <a:lnTo>
                  <a:pt x="2061" y="2608"/>
                </a:lnTo>
                <a:lnTo>
                  <a:pt x="2059" y="2647"/>
                </a:lnTo>
                <a:lnTo>
                  <a:pt x="2058" y="2734"/>
                </a:lnTo>
                <a:lnTo>
                  <a:pt x="2060" y="2832"/>
                </a:lnTo>
                <a:lnTo>
                  <a:pt x="2060" y="2848"/>
                </a:lnTo>
                <a:lnTo>
                  <a:pt x="2061" y="2865"/>
                </a:lnTo>
                <a:lnTo>
                  <a:pt x="2061" y="2882"/>
                </a:lnTo>
                <a:lnTo>
                  <a:pt x="2061" y="2899"/>
                </a:lnTo>
                <a:cubicBezTo>
                  <a:pt x="2064" y="3158"/>
                  <a:pt x="1986" y="3542"/>
                  <a:pt x="1943" y="3703"/>
                </a:cubicBezTo>
                <a:lnTo>
                  <a:pt x="2342" y="3832"/>
                </a:lnTo>
                <a:lnTo>
                  <a:pt x="1160" y="4054"/>
                </a:lnTo>
                <a:lnTo>
                  <a:pt x="435" y="3213"/>
                </a:lnTo>
                <a:lnTo>
                  <a:pt x="662" y="3286"/>
                </a:lnTo>
                <a:cubicBezTo>
                  <a:pt x="698" y="3142"/>
                  <a:pt x="722" y="2903"/>
                  <a:pt x="720" y="2823"/>
                </a:cubicBezTo>
                <a:lnTo>
                  <a:pt x="720" y="2817"/>
                </a:lnTo>
                <a:lnTo>
                  <a:pt x="720" y="2811"/>
                </a:lnTo>
                <a:lnTo>
                  <a:pt x="720" y="2806"/>
                </a:lnTo>
                <a:lnTo>
                  <a:pt x="720" y="2801"/>
                </a:lnTo>
                <a:lnTo>
                  <a:pt x="719" y="2796"/>
                </a:lnTo>
                <a:lnTo>
                  <a:pt x="718" y="2734"/>
                </a:lnTo>
                <a:lnTo>
                  <a:pt x="719" y="2679"/>
                </a:lnTo>
                <a:lnTo>
                  <a:pt x="721" y="2651"/>
                </a:lnTo>
                <a:lnTo>
                  <a:pt x="722" y="2623"/>
                </a:lnTo>
                <a:lnTo>
                  <a:pt x="723" y="2595"/>
                </a:lnTo>
                <a:cubicBezTo>
                  <a:pt x="735" y="2026"/>
                  <a:pt x="254" y="1274"/>
                  <a:pt x="0" y="1067"/>
                </a:cubicBezTo>
                <a:lnTo>
                  <a:pt x="678" y="682"/>
                </a:lnTo>
                <a:lnTo>
                  <a:pt x="817" y="0"/>
                </a:lnTo>
                <a:close/>
              </a:path>
            </a:pathLst>
          </a:custGeom>
          <a:gradFill flip="none" rotWithShape="1">
            <a:gsLst>
              <a:gs pos="0">
                <a:schemeClr val="accent5">
                  <a:lumMod val="60000"/>
                  <a:lumOff val="40000"/>
                </a:schemeClr>
              </a:gs>
              <a:gs pos="91000">
                <a:schemeClr val="accent5"/>
              </a:gs>
            </a:gsLst>
            <a:lin ang="0" scaled="1"/>
            <a:tileRect/>
          </a:gradFill>
          <a:ln>
            <a:noFill/>
          </a:ln>
          <a:effectLst>
            <a:outerShdw blurRad="330200" dist="88900" dir="5400000" algn="t" rotWithShape="0">
              <a:schemeClr val="accent5">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84" name="任意多边形 183"/>
          <p:cNvSpPr/>
          <p:nvPr/>
        </p:nvSpPr>
        <p:spPr bwMode="auto">
          <a:xfrm rot="3360000">
            <a:off x="3582035" y="1869440"/>
            <a:ext cx="1802765" cy="2265680"/>
          </a:xfrm>
          <a:custGeom>
            <a:avLst/>
            <a:gdLst>
              <a:gd name="adj" fmla="val 52632"/>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2985" h="3751">
                <a:moveTo>
                  <a:pt x="0" y="576"/>
                </a:moveTo>
                <a:lnTo>
                  <a:pt x="1055" y="0"/>
                </a:lnTo>
                <a:lnTo>
                  <a:pt x="2005" y="576"/>
                </a:lnTo>
                <a:lnTo>
                  <a:pt x="1605" y="576"/>
                </a:lnTo>
                <a:cubicBezTo>
                  <a:pt x="1636" y="1198"/>
                  <a:pt x="2113" y="1964"/>
                  <a:pt x="2558" y="2220"/>
                </a:cubicBezTo>
                <a:lnTo>
                  <a:pt x="2609" y="2253"/>
                </a:lnTo>
                <a:lnTo>
                  <a:pt x="2655" y="2285"/>
                </a:lnTo>
                <a:lnTo>
                  <a:pt x="2660" y="2288"/>
                </a:lnTo>
                <a:cubicBezTo>
                  <a:pt x="2763" y="2362"/>
                  <a:pt x="2972" y="2461"/>
                  <a:pt x="2985" y="2463"/>
                </a:cubicBezTo>
                <a:lnTo>
                  <a:pt x="2517" y="2957"/>
                </a:lnTo>
                <a:lnTo>
                  <a:pt x="2593" y="3751"/>
                </a:lnTo>
                <a:cubicBezTo>
                  <a:pt x="2446" y="3711"/>
                  <a:pt x="1979" y="3463"/>
                  <a:pt x="1932" y="3414"/>
                </a:cubicBezTo>
                <a:lnTo>
                  <a:pt x="1860" y="3364"/>
                </a:lnTo>
                <a:lnTo>
                  <a:pt x="1779" y="3311"/>
                </a:lnTo>
                <a:lnTo>
                  <a:pt x="1732" y="3281"/>
                </a:lnTo>
                <a:cubicBezTo>
                  <a:pt x="775" y="2717"/>
                  <a:pt x="274" y="1263"/>
                  <a:pt x="266" y="576"/>
                </a:cubicBezTo>
                <a:lnTo>
                  <a:pt x="0" y="576"/>
                </a:lnTo>
                <a:close/>
              </a:path>
            </a:pathLst>
          </a:custGeom>
          <a:gradFill flip="none" rotWithShape="1">
            <a:gsLst>
              <a:gs pos="0">
                <a:schemeClr val="accent5">
                  <a:lumMod val="60000"/>
                  <a:lumOff val="40000"/>
                </a:schemeClr>
              </a:gs>
              <a:gs pos="91000">
                <a:schemeClr val="accent5"/>
              </a:gs>
            </a:gsLst>
            <a:lin ang="0" scaled="1"/>
            <a:tileRect/>
          </a:gradFill>
          <a:ln>
            <a:noFill/>
          </a:ln>
          <a:effectLst>
            <a:outerShdw blurRad="330200" dist="88900" dir="5400000" algn="t" rotWithShape="0">
              <a:schemeClr val="accent5">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85" name="任意多边形 184"/>
          <p:cNvSpPr/>
          <p:nvPr/>
        </p:nvSpPr>
        <p:spPr bwMode="auto">
          <a:xfrm rot="7620000">
            <a:off x="5356225" y="824865"/>
            <a:ext cx="1822450" cy="2280285"/>
          </a:xfrm>
          <a:custGeom>
            <a:avLst/>
            <a:gdLst>
              <a:gd name="adj" fmla="val 52632"/>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3018" h="3776">
                <a:moveTo>
                  <a:pt x="0" y="576"/>
                </a:moveTo>
                <a:lnTo>
                  <a:pt x="1055" y="0"/>
                </a:lnTo>
                <a:lnTo>
                  <a:pt x="2005" y="576"/>
                </a:lnTo>
                <a:lnTo>
                  <a:pt x="1707" y="576"/>
                </a:lnTo>
                <a:cubicBezTo>
                  <a:pt x="1706" y="939"/>
                  <a:pt x="1940" y="1540"/>
                  <a:pt x="2133" y="1751"/>
                </a:cubicBezTo>
                <a:lnTo>
                  <a:pt x="2171" y="1800"/>
                </a:lnTo>
                <a:lnTo>
                  <a:pt x="2203" y="1845"/>
                </a:lnTo>
                <a:lnTo>
                  <a:pt x="2213" y="1858"/>
                </a:lnTo>
                <a:cubicBezTo>
                  <a:pt x="2399" y="2133"/>
                  <a:pt x="2841" y="2420"/>
                  <a:pt x="3018" y="2490"/>
                </a:cubicBezTo>
                <a:lnTo>
                  <a:pt x="2549" y="2985"/>
                </a:lnTo>
                <a:lnTo>
                  <a:pt x="2626" y="3776"/>
                </a:lnTo>
                <a:cubicBezTo>
                  <a:pt x="2047" y="3580"/>
                  <a:pt x="1374" y="3001"/>
                  <a:pt x="1155" y="2675"/>
                </a:cubicBezTo>
                <a:lnTo>
                  <a:pt x="1103" y="2605"/>
                </a:lnTo>
                <a:lnTo>
                  <a:pt x="1043" y="2528"/>
                </a:lnTo>
                <a:lnTo>
                  <a:pt x="1020" y="2501"/>
                </a:lnTo>
                <a:cubicBezTo>
                  <a:pt x="565" y="1979"/>
                  <a:pt x="363" y="940"/>
                  <a:pt x="368" y="576"/>
                </a:cubicBezTo>
                <a:lnTo>
                  <a:pt x="0" y="576"/>
                </a:lnTo>
                <a:close/>
              </a:path>
            </a:pathLst>
          </a:custGeom>
          <a:gradFill flip="none" rotWithShape="1">
            <a:gsLst>
              <a:gs pos="100000">
                <a:schemeClr val="accent1">
                  <a:lumMod val="60000"/>
                  <a:lumOff val="40000"/>
                </a:schemeClr>
              </a:gs>
              <a:gs pos="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86" name="任意多边形 185"/>
          <p:cNvSpPr/>
          <p:nvPr/>
        </p:nvSpPr>
        <p:spPr bwMode="auto">
          <a:xfrm rot="16200000">
            <a:off x="6039485" y="4065905"/>
            <a:ext cx="1837055" cy="2269490"/>
          </a:xfrm>
          <a:custGeom>
            <a:avLst/>
            <a:gdLst>
              <a:gd name="adj" fmla="val 52632"/>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3042" h="3758">
                <a:moveTo>
                  <a:pt x="0" y="576"/>
                </a:moveTo>
                <a:lnTo>
                  <a:pt x="1055" y="0"/>
                </a:lnTo>
                <a:lnTo>
                  <a:pt x="2005" y="576"/>
                </a:lnTo>
                <a:lnTo>
                  <a:pt x="1718" y="576"/>
                </a:lnTo>
                <a:cubicBezTo>
                  <a:pt x="1704" y="1297"/>
                  <a:pt x="2448" y="2275"/>
                  <a:pt x="3042" y="2497"/>
                </a:cubicBezTo>
                <a:lnTo>
                  <a:pt x="2511" y="3039"/>
                </a:lnTo>
                <a:lnTo>
                  <a:pt x="2567" y="3758"/>
                </a:lnTo>
                <a:cubicBezTo>
                  <a:pt x="1414" y="3371"/>
                  <a:pt x="327" y="1642"/>
                  <a:pt x="375" y="603"/>
                </a:cubicBezTo>
                <a:lnTo>
                  <a:pt x="375" y="576"/>
                </a:lnTo>
                <a:lnTo>
                  <a:pt x="0" y="576"/>
                </a:lnTo>
                <a:close/>
              </a:path>
            </a:pathLst>
          </a:custGeom>
          <a:gradFill flip="none" rotWithShape="1">
            <a:gsLst>
              <a:gs pos="100000">
                <a:schemeClr val="accent1">
                  <a:lumMod val="60000"/>
                  <a:lumOff val="40000"/>
                </a:schemeClr>
              </a:gs>
              <a:gs pos="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87" name="任意多边形 186"/>
          <p:cNvSpPr/>
          <p:nvPr/>
        </p:nvSpPr>
        <p:spPr bwMode="auto">
          <a:xfrm rot="20580000">
            <a:off x="3999230" y="3861435"/>
            <a:ext cx="1815465" cy="2256155"/>
          </a:xfrm>
          <a:custGeom>
            <a:avLst/>
            <a:gdLst>
              <a:gd name="adj" fmla="val 52632"/>
              <a:gd name="a" fmla="pin 0 adj 100000"/>
              <a:gd name="x1" fmla="*/ w a 200000"/>
              <a:gd name="x2" fmla="*/ w a 100000"/>
              <a:gd name="x3" fmla="+- x1 wd2 0"/>
            </a:gdLst>
            <a:ahLst/>
            <a:cxnLst>
              <a:cxn ang="3">
                <a:pos x="x2" y="t"/>
              </a:cxn>
              <a:cxn ang="cd2">
                <a:pos x="x1" y="vc"/>
              </a:cxn>
              <a:cxn ang="cd4">
                <a:pos x="l" y="b"/>
              </a:cxn>
              <a:cxn ang="cd4">
                <a:pos x="x2" y="b"/>
              </a:cxn>
              <a:cxn ang="cd4">
                <a:pos x="r" y="b"/>
              </a:cxn>
              <a:cxn ang="0">
                <a:pos x="x3" y="vc"/>
              </a:cxn>
            </a:cxnLst>
            <a:rect l="l" t="t" r="r" b="b"/>
            <a:pathLst>
              <a:path w="3006" h="3736">
                <a:moveTo>
                  <a:pt x="0" y="576"/>
                </a:moveTo>
                <a:lnTo>
                  <a:pt x="1055" y="0"/>
                </a:lnTo>
                <a:lnTo>
                  <a:pt x="2005" y="576"/>
                </a:lnTo>
                <a:lnTo>
                  <a:pt x="1665" y="576"/>
                </a:lnTo>
                <a:cubicBezTo>
                  <a:pt x="1685" y="1307"/>
                  <a:pt x="2385" y="2270"/>
                  <a:pt x="3006" y="2476"/>
                </a:cubicBezTo>
                <a:lnTo>
                  <a:pt x="2451" y="3105"/>
                </a:lnTo>
                <a:lnTo>
                  <a:pt x="2534" y="3736"/>
                </a:lnTo>
                <a:cubicBezTo>
                  <a:pt x="1159" y="3330"/>
                  <a:pt x="311" y="1424"/>
                  <a:pt x="320" y="576"/>
                </a:cubicBezTo>
                <a:lnTo>
                  <a:pt x="0" y="576"/>
                </a:lnTo>
                <a:close/>
              </a:path>
            </a:pathLst>
          </a:custGeom>
          <a:gradFill flip="none" rotWithShape="1">
            <a:gsLst>
              <a:gs pos="0">
                <a:schemeClr val="accent1">
                  <a:lumMod val="40000"/>
                  <a:lumOff val="60000"/>
                </a:schemeClr>
              </a:gs>
              <a:gs pos="91000">
                <a:schemeClr val="accent1">
                  <a:lumMod val="60000"/>
                  <a:lumOff val="40000"/>
                </a:schemeClr>
              </a:gs>
            </a:gsLst>
            <a:lin ang="0" scaled="1"/>
            <a:tileRect/>
          </a:gradFill>
          <a:ln>
            <a:noFill/>
          </a:ln>
          <a:effectLst>
            <a:outerShdw blurRad="330200" dist="88900" dir="5400000" algn="t" rotWithShape="0">
              <a:schemeClr val="accent1">
                <a:lumMod val="60000"/>
                <a:lumOff val="40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88" name="子陵职场PPT8-46"/>
          <p:cNvSpPr txBox="1"/>
          <p:nvPr/>
        </p:nvSpPr>
        <p:spPr>
          <a:xfrm>
            <a:off x="5324475" y="1787525"/>
            <a:ext cx="1804035" cy="472440"/>
          </a:xfrm>
          <a:prstGeom prst="rect">
            <a:avLst/>
          </a:prstGeom>
          <a:noFill/>
        </p:spPr>
        <p:txBody>
          <a:bodyPr wrap="none" rtlCol="0" anchor="b"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选人</a:t>
            </a:r>
            <a:endParaRPr kumimoji="1" lang="zh-CN"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第①步</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0" name="子陵职场PPT8-46"/>
          <p:cNvSpPr txBox="1"/>
          <p:nvPr/>
        </p:nvSpPr>
        <p:spPr>
          <a:xfrm rot="19620000">
            <a:off x="6024245" y="5081905"/>
            <a:ext cx="1804035" cy="472440"/>
          </a:xfrm>
          <a:prstGeom prst="rect">
            <a:avLst/>
          </a:prstGeom>
          <a:noFill/>
        </p:spPr>
        <p:txBody>
          <a:bodyPr wrap="none" rtlCol="0" anchor="b"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用人</a:t>
            </a:r>
            <a:endParaRPr kumimoji="1" lang="en-US" altLang="zh-CN"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第③步</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1" name="子陵职场PPT8-46"/>
          <p:cNvSpPr txBox="1"/>
          <p:nvPr/>
        </p:nvSpPr>
        <p:spPr>
          <a:xfrm rot="2580000">
            <a:off x="3890010" y="4773295"/>
            <a:ext cx="1804035" cy="472440"/>
          </a:xfrm>
          <a:prstGeom prst="rect">
            <a:avLst/>
          </a:prstGeom>
          <a:noFill/>
        </p:spPr>
        <p:txBody>
          <a:bodyPr wrap="none" rtlCol="0" anchor="b"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留人</a:t>
            </a:r>
            <a:endParaRPr kumimoji="1" lang="en-US" altLang="zh-CN"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第④步</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2" name="子陵职场PPT8-46"/>
          <p:cNvSpPr txBox="1"/>
          <p:nvPr/>
        </p:nvSpPr>
        <p:spPr>
          <a:xfrm rot="17820000">
            <a:off x="3630930" y="2766060"/>
            <a:ext cx="1804035" cy="472440"/>
          </a:xfrm>
          <a:prstGeom prst="rect">
            <a:avLst/>
          </a:prstGeom>
          <a:noFill/>
        </p:spPr>
        <p:txBody>
          <a:bodyPr wrap="none" rtlCol="0" anchor="b"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优化</a:t>
            </a:r>
            <a:endParaRPr kumimoji="1" lang="en-US" altLang="zh-CN"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第⑤步</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1" name="子陵职场PPT18"/>
          <p:cNvSpPr txBox="1"/>
          <p:nvPr/>
        </p:nvSpPr>
        <p:spPr>
          <a:xfrm>
            <a:off x="8757285" y="1772920"/>
            <a:ext cx="2839085" cy="937260"/>
          </a:xfrm>
          <a:prstGeom prst="rect">
            <a:avLst/>
          </a:prstGeom>
          <a:noFill/>
        </p:spPr>
        <p:txBody>
          <a:bodyPr wrap="square">
            <a:spAutoFit/>
          </a:bodyPr>
          <a:lstStyle/>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mn-ea"/>
                <a:cs typeface="微软雅黑" panose="020B0503020204020204" charset="-122"/>
              </a:rPr>
              <a:t>精准画像：</a:t>
            </a:r>
            <a:r>
              <a:rPr lang="en-US" altLang="zh-CN" sz="1000" b="1" dirty="0">
                <a:solidFill>
                  <a:schemeClr val="tx2">
                    <a:alpha val="80000"/>
                  </a:schemeClr>
                </a:solidFill>
                <a:latin typeface="+mn-ea"/>
                <a:cs typeface="微软雅黑" panose="020B0503020204020204" charset="-122"/>
              </a:rPr>
              <a:t> </a:t>
            </a:r>
            <a:r>
              <a:rPr lang="zh-CN" altLang="en-US" sz="1000" dirty="0">
                <a:solidFill>
                  <a:schemeClr val="tx2">
                    <a:alpha val="80000"/>
                  </a:schemeClr>
                </a:solidFill>
                <a:latin typeface="+mn-ea"/>
                <a:cs typeface="微软雅黑" panose="020B0503020204020204" charset="-122"/>
              </a:rPr>
              <a:t>不能只看简历上的硬技能，更要明确岗位所需的软素质。</a:t>
            </a:r>
            <a:endParaRPr lang="zh-CN" altLang="en-US" sz="1000" dirty="0">
              <a:solidFill>
                <a:schemeClr val="tx2">
                  <a:alpha val="80000"/>
                </a:schemeClr>
              </a:solidFill>
              <a:latin typeface="+mn-ea"/>
              <a:cs typeface="微软雅黑" panose="020B0503020204020204" charset="-122"/>
            </a:endParaRPr>
          </a:p>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mn-ea"/>
                <a:cs typeface="微软雅黑" panose="020B0503020204020204" charset="-122"/>
              </a:rPr>
              <a:t>识别匹配：</a:t>
            </a:r>
            <a:r>
              <a:rPr lang="en-US" altLang="zh-CN" sz="1000" dirty="0">
                <a:solidFill>
                  <a:schemeClr val="tx2">
                    <a:alpha val="80000"/>
                  </a:schemeClr>
                </a:solidFill>
                <a:latin typeface="+mn-ea"/>
                <a:cs typeface="微软雅黑" panose="020B0503020204020204" charset="-122"/>
              </a:rPr>
              <a:t> </a:t>
            </a:r>
            <a:r>
              <a:rPr lang="zh-CN" altLang="en-US" sz="1000" dirty="0">
                <a:solidFill>
                  <a:schemeClr val="tx2">
                    <a:alpha val="80000"/>
                  </a:schemeClr>
                </a:solidFill>
                <a:latin typeface="+mn-ea"/>
                <a:cs typeface="微软雅黑" panose="020B0503020204020204" charset="-122"/>
              </a:rPr>
              <a:t>面试中重点考察</a:t>
            </a:r>
            <a:r>
              <a:rPr lang="en-US" altLang="zh-CN" sz="1000" dirty="0">
                <a:solidFill>
                  <a:schemeClr val="tx2">
                    <a:alpha val="80000"/>
                  </a:schemeClr>
                </a:solidFill>
                <a:latin typeface="+mn-ea"/>
                <a:cs typeface="微软雅黑" panose="020B0503020204020204" charset="-122"/>
              </a:rPr>
              <a:t>“</a:t>
            </a:r>
            <a:r>
              <a:rPr lang="zh-CN" altLang="en-US" sz="1000" dirty="0">
                <a:solidFill>
                  <a:schemeClr val="tx2">
                    <a:alpha val="80000"/>
                  </a:schemeClr>
                </a:solidFill>
                <a:latin typeface="+mn-ea"/>
                <a:cs typeface="微软雅黑" panose="020B0503020204020204" charset="-122"/>
              </a:rPr>
              <a:t>能力匹配度</a:t>
            </a:r>
            <a:r>
              <a:rPr lang="en-US" altLang="zh-CN" sz="1000" dirty="0">
                <a:solidFill>
                  <a:schemeClr val="tx2">
                    <a:alpha val="80000"/>
                  </a:schemeClr>
                </a:solidFill>
                <a:latin typeface="+mn-ea"/>
                <a:cs typeface="微软雅黑" panose="020B0503020204020204" charset="-122"/>
              </a:rPr>
              <a:t>”</a:t>
            </a:r>
            <a:r>
              <a:rPr lang="zh-CN" altLang="en-US" sz="1000" dirty="0">
                <a:solidFill>
                  <a:schemeClr val="tx2">
                    <a:alpha val="80000"/>
                  </a:schemeClr>
                </a:solidFill>
                <a:latin typeface="+mn-ea"/>
                <a:cs typeface="微软雅黑" panose="020B0503020204020204" charset="-122"/>
              </a:rPr>
              <a:t>与</a:t>
            </a:r>
            <a:r>
              <a:rPr lang="en-US" altLang="zh-CN" sz="1000" dirty="0">
                <a:solidFill>
                  <a:schemeClr val="tx2">
                    <a:alpha val="80000"/>
                  </a:schemeClr>
                </a:solidFill>
                <a:latin typeface="+mn-ea"/>
                <a:cs typeface="微软雅黑" panose="020B0503020204020204" charset="-122"/>
              </a:rPr>
              <a:t>“</a:t>
            </a:r>
            <a:r>
              <a:rPr lang="zh-CN" altLang="en-US" sz="1000" dirty="0">
                <a:solidFill>
                  <a:schemeClr val="tx2">
                    <a:alpha val="80000"/>
                  </a:schemeClr>
                </a:solidFill>
                <a:latin typeface="+mn-ea"/>
                <a:cs typeface="微软雅黑" panose="020B0503020204020204" charset="-122"/>
              </a:rPr>
              <a:t>文化匹配度</a:t>
            </a:r>
            <a:r>
              <a:rPr lang="en-US" altLang="zh-CN" sz="1000" dirty="0">
                <a:solidFill>
                  <a:schemeClr val="tx2">
                    <a:alpha val="80000"/>
                  </a:schemeClr>
                </a:solidFill>
                <a:latin typeface="+mn-ea"/>
                <a:cs typeface="微软雅黑" panose="020B0503020204020204" charset="-122"/>
              </a:rPr>
              <a:t>”</a:t>
            </a:r>
            <a:r>
              <a:rPr lang="zh-CN" altLang="en-US" sz="1000" dirty="0">
                <a:solidFill>
                  <a:schemeClr val="tx2">
                    <a:alpha val="80000"/>
                  </a:schemeClr>
                </a:solidFill>
                <a:latin typeface="+mn-ea"/>
                <a:cs typeface="微软雅黑" panose="020B0503020204020204" charset="-122"/>
              </a:rPr>
              <a:t>。如果价值观与企业不符，往往很难融入团队。</a:t>
            </a:r>
            <a:endParaRPr lang="zh-CN" altLang="en-US" sz="1000" dirty="0">
              <a:solidFill>
                <a:schemeClr val="tx2">
                  <a:alpha val="80000"/>
                </a:schemeClr>
              </a:solidFill>
              <a:latin typeface="+mn-ea"/>
              <a:cs typeface="微软雅黑" panose="020B0503020204020204" charset="-122"/>
            </a:endParaRPr>
          </a:p>
        </p:txBody>
      </p:sp>
      <p:sp>
        <p:nvSpPr>
          <p:cNvPr id="222" name="子陵职场PPT18"/>
          <p:cNvSpPr txBox="1"/>
          <p:nvPr/>
        </p:nvSpPr>
        <p:spPr>
          <a:xfrm>
            <a:off x="8613775" y="3312795"/>
            <a:ext cx="3114675" cy="312420"/>
          </a:xfrm>
          <a:prstGeom prst="rect">
            <a:avLst/>
          </a:prstGeom>
          <a:noFill/>
        </p:spPr>
        <p:txBody>
          <a:bodyPr wrap="square">
            <a:spAutoFit/>
          </a:bodyPr>
          <a:lstStyle/>
          <a:p>
            <a:pPr algn="r">
              <a:lnSpc>
                <a:spcPct val="120000"/>
              </a:lnSpc>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rPr>
              <a:t>解决</a:t>
            </a:r>
            <a:r>
              <a:rPr lang="en-US" altLang="zh-CN" sz="1200" b="1" dirty="0">
                <a:solidFill>
                  <a:schemeClr val="accent5"/>
                </a:solidFill>
                <a:latin typeface="微软雅黑" panose="020B0503020204020204" charset="-122"/>
                <a:ea typeface="微软雅黑" panose="020B0503020204020204" charset="-122"/>
                <a:cs typeface="微软雅黑" panose="020B0503020204020204" charset="-122"/>
                <a:sym typeface="+mn-ea"/>
              </a:rPr>
              <a:t>“</a:t>
            </a: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rPr>
              <a:t>让员工增值</a:t>
            </a:r>
            <a:r>
              <a:rPr lang="en-US" altLang="zh-CN" sz="1200" b="1" dirty="0">
                <a:solidFill>
                  <a:schemeClr val="accent5"/>
                </a:solidFill>
                <a:latin typeface="微软雅黑" panose="020B0503020204020204" charset="-122"/>
                <a:ea typeface="微软雅黑" panose="020B0503020204020204" charset="-122"/>
                <a:cs typeface="微软雅黑" panose="020B0503020204020204" charset="-122"/>
                <a:sym typeface="+mn-ea"/>
              </a:rPr>
              <a:t>”</a:t>
            </a: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rPr>
              <a:t>的问题</a:t>
            </a:r>
            <a:r>
              <a:rPr lang="zh-CN" altLang="en-US" sz="1200" dirty="0">
                <a:solidFill>
                  <a:schemeClr val="accent5"/>
                </a:solidFill>
                <a:latin typeface="微软雅黑" panose="020B0503020204020204" charset="-122"/>
                <a:ea typeface="微软雅黑" panose="020B0503020204020204" charset="-122"/>
                <a:cs typeface="微软雅黑" panose="020B0503020204020204" charset="-122"/>
                <a:sym typeface="+mn-ea"/>
              </a:rPr>
              <a:t>（未来）</a:t>
            </a:r>
            <a:endParaRPr lang="zh-CN" altLang="en-US" sz="1200"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223" name="Rectangle 60"/>
          <p:cNvSpPr/>
          <p:nvPr/>
        </p:nvSpPr>
        <p:spPr>
          <a:xfrm flipH="1">
            <a:off x="8971915" y="3506471"/>
            <a:ext cx="2564765" cy="1015365"/>
          </a:xfrm>
          <a:prstGeom prst="rect">
            <a:avLst/>
          </a:prstGeom>
        </p:spPr>
        <p:txBody>
          <a:bodyPr wrap="square" lIns="0" tIns="0" rIns="0" bIns="0" anchor="t" anchorCtr="0">
            <a:spAutoFit/>
          </a:bodyPr>
          <a:lstStyle/>
          <a:p>
            <a:pPr indent="0" algn="l" fontAlgn="auto">
              <a:lnSpc>
                <a:spcPct val="110000"/>
              </a:lnSpc>
              <a:spcBef>
                <a:spcPts val="0"/>
              </a:spcBef>
              <a:buFont typeface="Wingdings" panose="05000000000000000000" charset="0"/>
              <a:buNone/>
            </a:pPr>
            <a:endParaRPr lang="en-US" altLang="zh-CN" sz="10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在职培训：</a:t>
            </a:r>
            <a:r>
              <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 </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建立分层级的培训体系。基层员工重技能，中层管理重流程，高层决策重战略。</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职业规划：</a:t>
            </a:r>
            <a:r>
              <a:rPr lang="en-US" altLang="zh-CN"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 </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帮助员工看到晋升路径。无论是走专业路线（</a:t>
            </a:r>
            <a:r>
              <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P</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序列）还是管理路线</a:t>
            </a:r>
            <a:r>
              <a:rPr 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a:t>
            </a:r>
            <a:endParaRPr 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p:txBody>
      </p:sp>
      <p:sp>
        <p:nvSpPr>
          <p:cNvPr id="224" name="子陵职场PPT18"/>
          <p:cNvSpPr txBox="1"/>
          <p:nvPr/>
        </p:nvSpPr>
        <p:spPr>
          <a:xfrm>
            <a:off x="8636635" y="5276850"/>
            <a:ext cx="3091815" cy="312420"/>
          </a:xfrm>
          <a:prstGeom prst="rect">
            <a:avLst/>
          </a:prstGeom>
          <a:noFill/>
        </p:spPr>
        <p:txBody>
          <a:bodyPr wrap="square">
            <a:spAutoFit/>
          </a:bodyPr>
          <a:lstStyle/>
          <a:p>
            <a:pPr algn="r">
              <a:lnSpc>
                <a:spcPct val="120000"/>
              </a:lnSpc>
            </a:pPr>
            <a:r>
              <a:rPr lang="en-US" altLang="zh-CN" sz="1200" b="1" dirty="0">
                <a:solidFill>
                  <a:schemeClr val="accent1"/>
                </a:solidFill>
                <a:latin typeface="微软雅黑" panose="020B0503020204020204" charset="-122"/>
                <a:ea typeface="微软雅黑" panose="020B0503020204020204" charset="-122"/>
                <a:cs typeface="微软雅黑" panose="020B0503020204020204" charset="-122"/>
              </a:rPr>
              <a:t>解决“如何人尽其才”的问题</a:t>
            </a:r>
            <a:r>
              <a:rPr lang="zh-CN" altLang="en-US" sz="1200" dirty="0">
                <a:solidFill>
                  <a:schemeClr val="accent1"/>
                </a:solidFill>
                <a:latin typeface="微软雅黑" panose="020B0503020204020204" charset="-122"/>
                <a:ea typeface="微软雅黑" panose="020B0503020204020204" charset="-122"/>
                <a:cs typeface="微软雅黑" panose="020B0503020204020204" charset="-122"/>
              </a:rPr>
              <a:t>（结果）</a:t>
            </a: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25" name="Rectangle 60"/>
          <p:cNvSpPr/>
          <p:nvPr/>
        </p:nvSpPr>
        <p:spPr>
          <a:xfrm flipH="1">
            <a:off x="8919845" y="5652135"/>
            <a:ext cx="2616835" cy="676910"/>
          </a:xfrm>
          <a:prstGeom prst="rect">
            <a:avLst/>
          </a:prstGeom>
        </p:spPr>
        <p:txBody>
          <a:bodyPr wrap="square" lIns="0" tIns="0" rIns="0" bIns="0" anchor="t" anchorCtr="0">
            <a:spAutoFit/>
          </a:bodyPr>
          <a:lstStyle/>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知人善任：</a:t>
            </a:r>
            <a:r>
              <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 </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了解每个下属的长处和短板。把合适的人放在合适的岗位上</a:t>
            </a:r>
            <a:r>
              <a:rPr 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a:t>
            </a:r>
            <a:endParaRPr 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绩效驱动：</a:t>
            </a:r>
            <a:r>
              <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 </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建立目标共识。通过定期的绩效沟通，确保员工的方向与团队目标一致。</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p:txBody>
      </p:sp>
      <p:sp>
        <p:nvSpPr>
          <p:cNvPr id="226" name="子陵职场PPT18"/>
          <p:cNvSpPr txBox="1"/>
          <p:nvPr/>
        </p:nvSpPr>
        <p:spPr>
          <a:xfrm>
            <a:off x="553085" y="4097020"/>
            <a:ext cx="2662555" cy="312420"/>
          </a:xfrm>
          <a:prstGeom prst="rect">
            <a:avLst/>
          </a:prstGeom>
          <a:noFill/>
        </p:spPr>
        <p:txBody>
          <a:bodyPr wrap="square">
            <a:spAutoFit/>
          </a:bodyPr>
          <a:lstStyle/>
          <a:p>
            <a:pPr algn="l">
              <a:lnSpc>
                <a:spcPct val="120000"/>
              </a:lnSpc>
            </a:pPr>
            <a:r>
              <a:rPr lang="zh-CN" altLang="en-US"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解决“如何让人不想走”的问题</a:t>
            </a:r>
            <a:endParaRPr lang="zh-CN" altLang="en-US" sz="1200" b="1" dirty="0">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sp>
        <p:nvSpPr>
          <p:cNvPr id="227" name="Rectangle 60"/>
          <p:cNvSpPr/>
          <p:nvPr/>
        </p:nvSpPr>
        <p:spPr>
          <a:xfrm flipH="1">
            <a:off x="650875" y="4521518"/>
            <a:ext cx="2440940" cy="1641475"/>
          </a:xfrm>
          <a:prstGeom prst="rect">
            <a:avLst/>
          </a:prstGeom>
        </p:spPr>
        <p:txBody>
          <a:bodyPr wrap="square" lIns="0" tIns="0" rIns="0" bIns="0" anchor="t" anchorCtr="0">
            <a:spAutoFit/>
          </a:bodyPr>
          <a:lstStyle/>
          <a:p>
            <a:pPr marL="171450" indent="-171450" algn="l" fontAlgn="auto">
              <a:lnSpc>
                <a:spcPts val="16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薪酬激励：</a:t>
            </a:r>
            <a:r>
              <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 </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提供有市场竞争力的薪酬是基础。要做到内部的公平性和外部的竞争性，让员工觉得付出有对等的回报。</a:t>
            </a:r>
            <a:endPar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ts val="16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情感归属：</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营造开放透明的沟通氛围，组织团建活动，关注员工的身心健康。</a:t>
            </a:r>
            <a:endPar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ts val="16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事业留人：</a:t>
            </a:r>
            <a:r>
              <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 </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给核心人才提供挑战性的工作机会，让他们觉得在做的是一件有意义的大事，而不仅是一份糊口的工作。</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p:txBody>
      </p:sp>
      <p:sp>
        <p:nvSpPr>
          <p:cNvPr id="228" name="子陵职场PPT18"/>
          <p:cNvSpPr txBox="1"/>
          <p:nvPr/>
        </p:nvSpPr>
        <p:spPr>
          <a:xfrm>
            <a:off x="616585" y="1486535"/>
            <a:ext cx="2475230" cy="312420"/>
          </a:xfrm>
          <a:prstGeom prst="rect">
            <a:avLst/>
          </a:prstGeom>
          <a:noFill/>
        </p:spPr>
        <p:txBody>
          <a:bodyPr wrap="square">
            <a:spAutoFit/>
          </a:bodyPr>
          <a:lstStyle/>
          <a:p>
            <a:pPr lvl="0" algn="l">
              <a:lnSpc>
                <a:spcPct val="120000"/>
              </a:lnSpc>
              <a:buClrTx/>
              <a:buSzTx/>
              <a:buFontTx/>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rPr>
              <a:t>解决</a:t>
            </a:r>
            <a:r>
              <a:rPr lang="en-US" altLang="zh-CN" sz="1200" b="1" dirty="0">
                <a:solidFill>
                  <a:schemeClr val="accent5"/>
                </a:solidFill>
                <a:latin typeface="微软雅黑" panose="020B0503020204020204" charset="-122"/>
                <a:ea typeface="微软雅黑" panose="020B0503020204020204" charset="-122"/>
                <a:cs typeface="微软雅黑" panose="020B0503020204020204" charset="-122"/>
                <a:sym typeface="+mn-ea"/>
              </a:rPr>
              <a:t>“</a:t>
            </a: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rPr>
              <a:t>如何保持组织活力</a:t>
            </a:r>
            <a:r>
              <a:rPr lang="en-US" altLang="zh-CN" sz="1200" b="1" dirty="0">
                <a:solidFill>
                  <a:schemeClr val="accent5"/>
                </a:solidFill>
                <a:latin typeface="微软雅黑" panose="020B0503020204020204" charset="-122"/>
                <a:ea typeface="微软雅黑" panose="020B0503020204020204" charset="-122"/>
                <a:cs typeface="微软雅黑" panose="020B0503020204020204" charset="-122"/>
                <a:sym typeface="+mn-ea"/>
              </a:rPr>
              <a:t>”</a:t>
            </a: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rPr>
              <a:t>的问题</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229" name="Rectangle 60"/>
          <p:cNvSpPr/>
          <p:nvPr/>
        </p:nvSpPr>
        <p:spPr>
          <a:xfrm flipH="1">
            <a:off x="650240" y="1887220"/>
            <a:ext cx="2515870" cy="1066800"/>
          </a:xfrm>
          <a:prstGeom prst="rect">
            <a:avLst/>
          </a:prstGeom>
        </p:spPr>
        <p:txBody>
          <a:bodyPr wrap="square" lIns="0" tIns="0" rIns="0" bIns="0" anchor="ctr">
            <a:spAutoFit/>
          </a:bodyPr>
          <a:lstStyle/>
          <a:p>
            <a:pPr marL="171450" indent="-171450" algn="l">
              <a:lnSpc>
                <a:spcPct val="110000"/>
              </a:lnSpc>
              <a:spcBef>
                <a:spcPts val="40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建立退出机制：</a:t>
            </a:r>
            <a:r>
              <a:rPr lang="en-US" altLang="zh-CN"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 </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完善劳动合同法框架下的合规流程。对于不合格、严重违纪或不能胜任工作的员工，要有清晰的处理流程。</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a:p>
            <a:pPr marL="171450" indent="-171450" algn="l">
              <a:lnSpc>
                <a:spcPct val="110000"/>
              </a:lnSpc>
              <a:spcBef>
                <a:spcPts val="40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激活组织：</a:t>
            </a:r>
            <a:r>
              <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 </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定期进行人才盘点，实行合理的末位淘汰制，可以腾出编制引进更优秀的新人，保持团队的狼性和流动性</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p:txBody>
      </p:sp>
      <p:grpSp>
        <p:nvGrpSpPr>
          <p:cNvPr id="230" name="子陵职场PPT25"/>
          <p:cNvGrpSpPr/>
          <p:nvPr/>
        </p:nvGrpSpPr>
        <p:grpSpPr>
          <a:xfrm>
            <a:off x="380277" y="4848003"/>
            <a:ext cx="252000" cy="251460"/>
            <a:chOff x="3330525" y="4399275"/>
            <a:chExt cx="390650" cy="481850"/>
          </a:xfrm>
          <a:solidFill>
            <a:schemeClr val="bg1"/>
          </a:solidFill>
        </p:grpSpPr>
        <p:sp>
          <p:nvSpPr>
            <p:cNvPr id="231" name="子陵职场PPT25-1"/>
            <p:cNvSpPr/>
            <p:nvPr/>
          </p:nvSpPr>
          <p:spPr>
            <a:xfrm>
              <a:off x="3543950" y="4648550"/>
              <a:ext cx="78450" cy="95775"/>
            </a:xfrm>
            <a:custGeom>
              <a:avLst/>
              <a:gdLst/>
              <a:ahLst/>
              <a:cxnLst/>
              <a:rect l="l" t="t" r="r" b="b"/>
              <a:pathLst>
                <a:path w="3138" h="3831" extrusionOk="0">
                  <a:moveTo>
                    <a:pt x="2677" y="0"/>
                  </a:moveTo>
                  <a:cubicBezTo>
                    <a:pt x="2298" y="356"/>
                    <a:pt x="1861" y="648"/>
                    <a:pt x="1388" y="858"/>
                  </a:cubicBezTo>
                  <a:lnTo>
                    <a:pt x="0" y="2948"/>
                  </a:lnTo>
                  <a:lnTo>
                    <a:pt x="880" y="3831"/>
                  </a:lnTo>
                  <a:lnTo>
                    <a:pt x="3138" y="443"/>
                  </a:lnTo>
                  <a:lnTo>
                    <a:pt x="2677" y="0"/>
                  </a:lnTo>
                  <a:close/>
                </a:path>
              </a:pathLst>
            </a:custGeom>
            <a:grpFill/>
            <a:ln>
              <a:noFill/>
            </a:ln>
          </p:spPr>
          <p:txBody>
            <a:bodyPr spcFirstLastPara="1" wrap="square" lIns="121900" tIns="121900" rIns="121900" bIns="121900" anchor="ctr" anchorCtr="0">
              <a:noAutofit/>
            </a:bodyPr>
            <a:lstStyle/>
            <a:p>
              <a:endParaRPr sz="2400">
                <a:solidFill>
                  <a:srgbClr val="435D74"/>
                </a:solidFill>
                <a:latin typeface="微软雅黑" panose="020B0503020204020204" charset="-122"/>
                <a:ea typeface="微软雅黑" panose="020B0503020204020204" charset="-122"/>
                <a:cs typeface="微软雅黑" panose="020B0503020204020204" charset="-122"/>
              </a:endParaRPr>
            </a:p>
          </p:txBody>
        </p:sp>
        <p:sp>
          <p:nvSpPr>
            <p:cNvPr id="232" name="子陵职场PPT25-2"/>
            <p:cNvSpPr/>
            <p:nvPr/>
          </p:nvSpPr>
          <p:spPr>
            <a:xfrm>
              <a:off x="3427250" y="4456050"/>
              <a:ext cx="197650" cy="197175"/>
            </a:xfrm>
            <a:custGeom>
              <a:avLst/>
              <a:gdLst/>
              <a:ahLst/>
              <a:cxnLst/>
              <a:rect l="l" t="t" r="r" b="b"/>
              <a:pathLst>
                <a:path w="7906" h="7887" extrusionOk="0">
                  <a:moveTo>
                    <a:pt x="7520" y="0"/>
                  </a:moveTo>
                  <a:cubicBezTo>
                    <a:pt x="6863" y="1374"/>
                    <a:pt x="5475" y="2247"/>
                    <a:pt x="3952" y="2247"/>
                  </a:cubicBezTo>
                  <a:lnTo>
                    <a:pt x="1" y="2247"/>
                  </a:lnTo>
                  <a:lnTo>
                    <a:pt x="1" y="3942"/>
                  </a:lnTo>
                  <a:cubicBezTo>
                    <a:pt x="1" y="5698"/>
                    <a:pt x="1154" y="7137"/>
                    <a:pt x="2587" y="7643"/>
                  </a:cubicBezTo>
                  <a:lnTo>
                    <a:pt x="2597" y="7643"/>
                  </a:lnTo>
                  <a:cubicBezTo>
                    <a:pt x="3006" y="7806"/>
                    <a:pt x="3480" y="7887"/>
                    <a:pt x="3953" y="7887"/>
                  </a:cubicBezTo>
                  <a:cubicBezTo>
                    <a:pt x="4426" y="7887"/>
                    <a:pt x="4899" y="7806"/>
                    <a:pt x="5307" y="7643"/>
                  </a:cubicBezTo>
                  <a:lnTo>
                    <a:pt x="5319" y="7643"/>
                  </a:lnTo>
                  <a:cubicBezTo>
                    <a:pt x="6451" y="7306"/>
                    <a:pt x="7905" y="5848"/>
                    <a:pt x="7905" y="3942"/>
                  </a:cubicBezTo>
                  <a:lnTo>
                    <a:pt x="7905" y="1684"/>
                  </a:lnTo>
                  <a:cubicBezTo>
                    <a:pt x="7905" y="1100"/>
                    <a:pt x="7776" y="524"/>
                    <a:pt x="7520" y="0"/>
                  </a:cubicBezTo>
                  <a:close/>
                </a:path>
              </a:pathLst>
            </a:custGeom>
            <a:grpFill/>
            <a:ln>
              <a:noFill/>
            </a:ln>
          </p:spPr>
          <p:txBody>
            <a:bodyPr spcFirstLastPara="1" wrap="square" lIns="121900" tIns="121900" rIns="121900" bIns="121900" anchor="ctr" anchorCtr="0">
              <a:noAutofit/>
            </a:bodyPr>
            <a:lstStyle/>
            <a:p>
              <a:endParaRPr sz="2400">
                <a:solidFill>
                  <a:srgbClr val="435D74"/>
                </a:solidFill>
                <a:latin typeface="微软雅黑" panose="020B0503020204020204" charset="-122"/>
                <a:ea typeface="微软雅黑" panose="020B0503020204020204" charset="-122"/>
                <a:cs typeface="微软雅黑" panose="020B0503020204020204" charset="-122"/>
              </a:endParaRPr>
            </a:p>
          </p:txBody>
        </p:sp>
        <p:sp>
          <p:nvSpPr>
            <p:cNvPr id="233" name="子陵职场PPT25-3"/>
            <p:cNvSpPr/>
            <p:nvPr/>
          </p:nvSpPr>
          <p:spPr>
            <a:xfrm>
              <a:off x="3428150" y="4399275"/>
              <a:ext cx="166925" cy="84725"/>
            </a:xfrm>
            <a:custGeom>
              <a:avLst/>
              <a:gdLst/>
              <a:ahLst/>
              <a:cxnLst/>
              <a:rect l="l" t="t" r="r" b="b"/>
              <a:pathLst>
                <a:path w="6677" h="3389" extrusionOk="0">
                  <a:moveTo>
                    <a:pt x="3921" y="1"/>
                  </a:moveTo>
                  <a:cubicBezTo>
                    <a:pt x="3917" y="1"/>
                    <a:pt x="3913" y="1"/>
                    <a:pt x="3910" y="1"/>
                  </a:cubicBezTo>
                  <a:cubicBezTo>
                    <a:pt x="1946" y="4"/>
                    <a:pt x="284" y="1446"/>
                    <a:pt x="1" y="3389"/>
                  </a:cubicBezTo>
                  <a:lnTo>
                    <a:pt x="3910" y="3389"/>
                  </a:lnTo>
                  <a:cubicBezTo>
                    <a:pt x="5247" y="3389"/>
                    <a:pt x="6403" y="2452"/>
                    <a:pt x="6677" y="1142"/>
                  </a:cubicBezTo>
                  <a:cubicBezTo>
                    <a:pt x="5945" y="410"/>
                    <a:pt x="4953" y="1"/>
                    <a:pt x="3921" y="1"/>
                  </a:cubicBezTo>
                  <a:close/>
                </a:path>
              </a:pathLst>
            </a:custGeom>
            <a:grpFill/>
            <a:ln>
              <a:noFill/>
            </a:ln>
          </p:spPr>
          <p:txBody>
            <a:bodyPr spcFirstLastPara="1" wrap="square" lIns="121900" tIns="121900" rIns="121900" bIns="121900" anchor="ctr" anchorCtr="0">
              <a:noAutofit/>
            </a:bodyPr>
            <a:lstStyle/>
            <a:p>
              <a:endParaRPr sz="2400">
                <a:solidFill>
                  <a:srgbClr val="435D74"/>
                </a:solidFill>
                <a:latin typeface="微软雅黑" panose="020B0503020204020204" charset="-122"/>
                <a:ea typeface="微软雅黑" panose="020B0503020204020204" charset="-122"/>
                <a:cs typeface="微软雅黑" panose="020B0503020204020204" charset="-122"/>
              </a:endParaRPr>
            </a:p>
          </p:txBody>
        </p:sp>
        <p:sp>
          <p:nvSpPr>
            <p:cNvPr id="234" name="子陵职场PPT25-4"/>
            <p:cNvSpPr/>
            <p:nvPr/>
          </p:nvSpPr>
          <p:spPr>
            <a:xfrm>
              <a:off x="3330525" y="4674000"/>
              <a:ext cx="181225" cy="207125"/>
            </a:xfrm>
            <a:custGeom>
              <a:avLst/>
              <a:gdLst/>
              <a:ahLst/>
              <a:cxnLst/>
              <a:rect l="l" t="t" r="r" b="b"/>
              <a:pathLst>
                <a:path w="7249" h="8285" extrusionOk="0">
                  <a:moveTo>
                    <a:pt x="2972" y="0"/>
                  </a:moveTo>
                  <a:lnTo>
                    <a:pt x="1455" y="440"/>
                  </a:lnTo>
                  <a:cubicBezTo>
                    <a:pt x="542" y="744"/>
                    <a:pt x="0" y="1716"/>
                    <a:pt x="235" y="2620"/>
                  </a:cubicBezTo>
                  <a:lnTo>
                    <a:pt x="1229" y="7832"/>
                  </a:lnTo>
                  <a:cubicBezTo>
                    <a:pt x="1289" y="8091"/>
                    <a:pt x="1518" y="8278"/>
                    <a:pt x="1783" y="8284"/>
                  </a:cubicBezTo>
                  <a:cubicBezTo>
                    <a:pt x="1787" y="8284"/>
                    <a:pt x="1792" y="8285"/>
                    <a:pt x="1796" y="8285"/>
                  </a:cubicBezTo>
                  <a:cubicBezTo>
                    <a:pt x="1816" y="8285"/>
                    <a:pt x="1835" y="8279"/>
                    <a:pt x="1852" y="8272"/>
                  </a:cubicBezTo>
                  <a:cubicBezTo>
                    <a:pt x="1861" y="8284"/>
                    <a:pt x="1861" y="8284"/>
                    <a:pt x="1873" y="8284"/>
                  </a:cubicBezTo>
                  <a:lnTo>
                    <a:pt x="7248" y="8284"/>
                  </a:lnTo>
                  <a:lnTo>
                    <a:pt x="7248" y="3364"/>
                  </a:lnTo>
                  <a:lnTo>
                    <a:pt x="6514" y="4086"/>
                  </a:lnTo>
                  <a:cubicBezTo>
                    <a:pt x="6410" y="4202"/>
                    <a:pt x="6270" y="4259"/>
                    <a:pt x="6126" y="4259"/>
                  </a:cubicBezTo>
                  <a:cubicBezTo>
                    <a:pt x="5952" y="4259"/>
                    <a:pt x="5772" y="4175"/>
                    <a:pt x="5646" y="4008"/>
                  </a:cubicBezTo>
                  <a:lnTo>
                    <a:pt x="2972" y="0"/>
                  </a:lnTo>
                  <a:close/>
                </a:path>
              </a:pathLst>
            </a:custGeom>
            <a:grpFill/>
            <a:ln>
              <a:noFill/>
            </a:ln>
          </p:spPr>
          <p:txBody>
            <a:bodyPr spcFirstLastPara="1" wrap="square" lIns="121900" tIns="121900" rIns="121900" bIns="121900" anchor="ctr" anchorCtr="0">
              <a:noAutofit/>
            </a:bodyPr>
            <a:lstStyle/>
            <a:p>
              <a:endParaRPr sz="2400">
                <a:solidFill>
                  <a:srgbClr val="435D74"/>
                </a:solidFill>
                <a:latin typeface="微软雅黑" panose="020B0503020204020204" charset="-122"/>
                <a:ea typeface="微软雅黑" panose="020B0503020204020204" charset="-122"/>
                <a:cs typeface="微软雅黑" panose="020B0503020204020204" charset="-122"/>
              </a:endParaRPr>
            </a:p>
          </p:txBody>
        </p:sp>
        <p:sp>
          <p:nvSpPr>
            <p:cNvPr id="235" name="子陵职场PPT25-5"/>
            <p:cNvSpPr/>
            <p:nvPr/>
          </p:nvSpPr>
          <p:spPr>
            <a:xfrm>
              <a:off x="3540175" y="4674000"/>
              <a:ext cx="181000" cy="207100"/>
            </a:xfrm>
            <a:custGeom>
              <a:avLst/>
              <a:gdLst/>
              <a:ahLst/>
              <a:cxnLst/>
              <a:rect l="l" t="t" r="r" b="b"/>
              <a:pathLst>
                <a:path w="7240" h="8284" extrusionOk="0">
                  <a:moveTo>
                    <a:pt x="3951" y="4821"/>
                  </a:moveTo>
                  <a:cubicBezTo>
                    <a:pt x="4701" y="4821"/>
                    <a:pt x="4701" y="5950"/>
                    <a:pt x="3951" y="5950"/>
                  </a:cubicBezTo>
                  <a:lnTo>
                    <a:pt x="2822" y="5950"/>
                  </a:lnTo>
                  <a:cubicBezTo>
                    <a:pt x="2075" y="5950"/>
                    <a:pt x="2075" y="4821"/>
                    <a:pt x="2822" y="4821"/>
                  </a:cubicBezTo>
                  <a:close/>
                  <a:moveTo>
                    <a:pt x="4280" y="0"/>
                  </a:moveTo>
                  <a:lnTo>
                    <a:pt x="1603" y="4008"/>
                  </a:lnTo>
                  <a:cubicBezTo>
                    <a:pt x="1476" y="4178"/>
                    <a:pt x="1297" y="4257"/>
                    <a:pt x="1126" y="4257"/>
                  </a:cubicBezTo>
                  <a:cubicBezTo>
                    <a:pt x="977" y="4257"/>
                    <a:pt x="834" y="4197"/>
                    <a:pt x="735" y="4086"/>
                  </a:cubicBezTo>
                  <a:lnTo>
                    <a:pt x="1" y="3364"/>
                  </a:lnTo>
                  <a:lnTo>
                    <a:pt x="1" y="8284"/>
                  </a:lnTo>
                  <a:lnTo>
                    <a:pt x="5454" y="8284"/>
                  </a:lnTo>
                  <a:cubicBezTo>
                    <a:pt x="5722" y="8284"/>
                    <a:pt x="5954" y="8094"/>
                    <a:pt x="6008" y="7832"/>
                  </a:cubicBezTo>
                  <a:lnTo>
                    <a:pt x="7002" y="2653"/>
                  </a:lnTo>
                  <a:cubicBezTo>
                    <a:pt x="7240" y="1716"/>
                    <a:pt x="6707" y="744"/>
                    <a:pt x="5770" y="428"/>
                  </a:cubicBezTo>
                  <a:lnTo>
                    <a:pt x="4280" y="0"/>
                  </a:lnTo>
                  <a:close/>
                </a:path>
              </a:pathLst>
            </a:custGeom>
            <a:grpFill/>
            <a:ln>
              <a:noFill/>
            </a:ln>
          </p:spPr>
          <p:txBody>
            <a:bodyPr spcFirstLastPara="1" wrap="square" lIns="121900" tIns="121900" rIns="121900" bIns="121900" anchor="ctr" anchorCtr="0">
              <a:noAutofit/>
            </a:bodyPr>
            <a:lstStyle/>
            <a:p>
              <a:endParaRPr sz="2400">
                <a:solidFill>
                  <a:srgbClr val="435D74"/>
                </a:solidFill>
                <a:latin typeface="微软雅黑" panose="020B0503020204020204" charset="-122"/>
                <a:ea typeface="微软雅黑" panose="020B0503020204020204" charset="-122"/>
                <a:cs typeface="微软雅黑" panose="020B0503020204020204" charset="-122"/>
              </a:endParaRPr>
            </a:p>
          </p:txBody>
        </p:sp>
        <p:sp>
          <p:nvSpPr>
            <p:cNvPr id="236" name="子陵职场PPT25-6"/>
            <p:cNvSpPr/>
            <p:nvPr/>
          </p:nvSpPr>
          <p:spPr>
            <a:xfrm>
              <a:off x="3429975" y="4648850"/>
              <a:ext cx="78225" cy="95400"/>
            </a:xfrm>
            <a:custGeom>
              <a:avLst/>
              <a:gdLst/>
              <a:ahLst/>
              <a:cxnLst/>
              <a:rect l="l" t="t" r="r" b="b"/>
              <a:pathLst>
                <a:path w="3129" h="3816" extrusionOk="0">
                  <a:moveTo>
                    <a:pt x="452" y="0"/>
                  </a:moveTo>
                  <a:lnTo>
                    <a:pt x="0" y="440"/>
                  </a:lnTo>
                  <a:lnTo>
                    <a:pt x="2247" y="3816"/>
                  </a:lnTo>
                  <a:lnTo>
                    <a:pt x="3129" y="2936"/>
                  </a:lnTo>
                  <a:lnTo>
                    <a:pt x="1741" y="846"/>
                  </a:lnTo>
                  <a:cubicBezTo>
                    <a:pt x="1268" y="636"/>
                    <a:pt x="834" y="350"/>
                    <a:pt x="452" y="0"/>
                  </a:cubicBezTo>
                  <a:close/>
                </a:path>
              </a:pathLst>
            </a:custGeom>
            <a:grpFill/>
            <a:ln>
              <a:noFill/>
            </a:ln>
          </p:spPr>
          <p:txBody>
            <a:bodyPr spcFirstLastPara="1" wrap="square" lIns="121900" tIns="121900" rIns="121900" bIns="121900" anchor="ctr" anchorCtr="0">
              <a:noAutofit/>
            </a:bodyPr>
            <a:lstStyle/>
            <a:p>
              <a:endParaRPr sz="2400">
                <a:solidFill>
                  <a:srgbClr val="435D74"/>
                </a:solidFill>
                <a:latin typeface="微软雅黑" panose="020B0503020204020204" charset="-122"/>
                <a:ea typeface="微软雅黑" panose="020B0503020204020204" charset="-122"/>
                <a:cs typeface="微软雅黑" panose="020B0503020204020204" charset="-122"/>
              </a:endParaRPr>
            </a:p>
          </p:txBody>
        </p:sp>
        <p:sp>
          <p:nvSpPr>
            <p:cNvPr id="237" name="子陵职场PPT25-7"/>
            <p:cNvSpPr/>
            <p:nvPr/>
          </p:nvSpPr>
          <p:spPr>
            <a:xfrm>
              <a:off x="3514200" y="4681000"/>
              <a:ext cx="23150" cy="17550"/>
            </a:xfrm>
            <a:custGeom>
              <a:avLst/>
              <a:gdLst/>
              <a:ahLst/>
              <a:cxnLst/>
              <a:rect l="l" t="t" r="r" b="b"/>
              <a:pathLst>
                <a:path w="926" h="702" extrusionOk="0">
                  <a:moveTo>
                    <a:pt x="1" y="0"/>
                  </a:moveTo>
                  <a:lnTo>
                    <a:pt x="465" y="702"/>
                  </a:lnTo>
                  <a:lnTo>
                    <a:pt x="925" y="0"/>
                  </a:lnTo>
                  <a:lnTo>
                    <a:pt x="916" y="0"/>
                  </a:lnTo>
                  <a:cubicBezTo>
                    <a:pt x="769" y="12"/>
                    <a:pt x="609" y="24"/>
                    <a:pt x="465" y="24"/>
                  </a:cubicBezTo>
                  <a:cubicBezTo>
                    <a:pt x="317" y="24"/>
                    <a:pt x="157" y="12"/>
                    <a:pt x="13" y="0"/>
                  </a:cubicBezTo>
                  <a:close/>
                </a:path>
              </a:pathLst>
            </a:custGeom>
            <a:grpFill/>
            <a:ln>
              <a:noFill/>
            </a:ln>
          </p:spPr>
          <p:txBody>
            <a:bodyPr spcFirstLastPara="1" wrap="square" lIns="121900" tIns="121900" rIns="121900" bIns="121900" anchor="ctr" anchorCtr="0">
              <a:noAutofit/>
            </a:bodyPr>
            <a:lstStyle/>
            <a:p>
              <a:endParaRPr sz="2400">
                <a:solidFill>
                  <a:srgbClr val="435D74"/>
                </a:solidFill>
                <a:latin typeface="微软雅黑" panose="020B0503020204020204" charset="-122"/>
                <a:ea typeface="微软雅黑" panose="020B0503020204020204" charset="-122"/>
                <a:cs typeface="微软雅黑" panose="020B0503020204020204" charset="-122"/>
              </a:endParaRPr>
            </a:p>
          </p:txBody>
        </p:sp>
      </p:grpSp>
      <p:pic>
        <p:nvPicPr>
          <p:cNvPr id="238" name="图片 237" descr="闭环管理"/>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54200" y="1088390"/>
            <a:ext cx="252000" cy="252000"/>
          </a:xfrm>
          <a:prstGeom prst="rect">
            <a:avLst/>
          </a:prstGeom>
        </p:spPr>
      </p:pic>
      <p:pic>
        <p:nvPicPr>
          <p:cNvPr id="239" name="图片 238" descr="提升"/>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54200" y="3589020"/>
            <a:ext cx="252000" cy="252000"/>
          </a:xfrm>
          <a:prstGeom prst="rect">
            <a:avLst/>
          </a:prstGeom>
        </p:spPr>
      </p:pic>
      <p:pic>
        <p:nvPicPr>
          <p:cNvPr id="240" name="图片 239" descr="对标"/>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244898" y="4830445"/>
            <a:ext cx="203835" cy="203835"/>
          </a:xfrm>
          <a:prstGeom prst="rect">
            <a:avLst/>
          </a:prstGeom>
        </p:spPr>
      </p:pic>
      <p:pic>
        <p:nvPicPr>
          <p:cNvPr id="241" name="图片 240" descr="组队"/>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208385" y="2933065"/>
            <a:ext cx="276860" cy="276860"/>
          </a:xfrm>
          <a:prstGeom prst="rect">
            <a:avLst/>
          </a:prstGeom>
        </p:spPr>
      </p:pic>
      <p:pic>
        <p:nvPicPr>
          <p:cNvPr id="242" name="图片 241" descr="诊断"/>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244898" y="1124585"/>
            <a:ext cx="203835" cy="203835"/>
          </a:xfrm>
          <a:prstGeom prst="rect">
            <a:avLst/>
          </a:prstGeom>
        </p:spPr>
      </p:pic>
      <p:sp>
        <p:nvSpPr>
          <p:cNvPr id="2" name="子陵职场PPT8-46"/>
          <p:cNvSpPr txBox="1"/>
          <p:nvPr/>
        </p:nvSpPr>
        <p:spPr>
          <a:xfrm rot="4740000">
            <a:off x="6822440" y="3187065"/>
            <a:ext cx="1804035" cy="472440"/>
          </a:xfrm>
          <a:prstGeom prst="rect">
            <a:avLst/>
          </a:prstGeom>
          <a:noFill/>
        </p:spPr>
        <p:txBody>
          <a:bodyPr wrap="none" rtlCol="0" anchor="b" anchorCtr="0">
            <a:no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育人</a:t>
            </a:r>
            <a:endParaRPr kumimoji="1" lang="zh-CN" sz="2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第②步</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1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870712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市场管理战略模型</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28" name="椭圆 127"/>
          <p:cNvSpPr/>
          <p:nvPr/>
        </p:nvSpPr>
        <p:spPr>
          <a:xfrm>
            <a:off x="3560436" y="1399142"/>
            <a:ext cx="5071128" cy="5071128"/>
          </a:xfrm>
          <a:prstGeom prst="ellipse">
            <a:avLst/>
          </a:prstGeom>
          <a:gradFill flip="none" rotWithShape="1">
            <a:gsLst>
              <a:gs pos="100000">
                <a:schemeClr val="accent5">
                  <a:alpha val="10000"/>
                </a:schemeClr>
              </a:gs>
              <a:gs pos="88000">
                <a:schemeClr val="bg1">
                  <a:alpha val="0"/>
                </a:schemeClr>
              </a:gs>
            </a:gsLst>
            <a:path path="shape">
              <a:fillToRect l="50000" t="50000" r="50000" b="50000"/>
            </a:path>
            <a:tileRect/>
          </a:gra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dirty="0">
              <a:latin typeface="微软雅黑" panose="020B0503020204020204" charset="-122"/>
              <a:ea typeface="微软雅黑" panose="020B0503020204020204" charset="-122"/>
              <a:cs typeface="微软雅黑" panose="020B0503020204020204" charset="-122"/>
            </a:endParaRPr>
          </a:p>
        </p:txBody>
      </p:sp>
      <p:sp>
        <p:nvSpPr>
          <p:cNvPr id="186" name="椭圆 185"/>
          <p:cNvSpPr/>
          <p:nvPr/>
        </p:nvSpPr>
        <p:spPr>
          <a:xfrm>
            <a:off x="4935794" y="2774500"/>
            <a:ext cx="2320412" cy="2320412"/>
          </a:xfrm>
          <a:prstGeom prst="ellipse">
            <a:avLst/>
          </a:prstGeom>
          <a:gradFill flip="none" rotWithShape="1">
            <a:gsLst>
              <a:gs pos="100000">
                <a:schemeClr val="accent5">
                  <a:alpha val="10000"/>
                </a:schemeClr>
              </a:gs>
              <a:gs pos="88000">
                <a:schemeClr val="bg1">
                  <a:alpha val="0"/>
                </a:schemeClr>
              </a:gs>
            </a:gsLst>
            <a:path path="shape">
              <a:fillToRect l="50000" t="50000" r="50000" b="50000"/>
            </a:path>
            <a:tileRect/>
          </a:gra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dirty="0">
              <a:latin typeface="微软雅黑" panose="020B0503020204020204" charset="-122"/>
              <a:ea typeface="微软雅黑" panose="020B0503020204020204" charset="-122"/>
              <a:cs typeface="微软雅黑" panose="020B0503020204020204" charset="-122"/>
            </a:endParaRPr>
          </a:p>
        </p:txBody>
      </p:sp>
      <p:sp>
        <p:nvSpPr>
          <p:cNvPr id="185" name="椭圆 184"/>
          <p:cNvSpPr/>
          <p:nvPr/>
        </p:nvSpPr>
        <p:spPr>
          <a:xfrm>
            <a:off x="3560436" y="6299334"/>
            <a:ext cx="5071128" cy="244647"/>
          </a:xfrm>
          <a:prstGeom prst="ellipse">
            <a:avLst/>
          </a:prstGeom>
          <a:gradFill>
            <a:gsLst>
              <a:gs pos="69000">
                <a:schemeClr val="bg1">
                  <a:alpha val="0"/>
                </a:schemeClr>
              </a:gs>
              <a:gs pos="98000">
                <a:schemeClr val="bg1"/>
              </a:gs>
            </a:gsLst>
            <a:lin ang="5400000" scaled="1"/>
          </a:gradFill>
          <a:ln w="25400">
            <a:gradFill>
              <a:gsLst>
                <a:gs pos="24000">
                  <a:schemeClr val="accent5">
                    <a:alpha val="0"/>
                  </a:schemeClr>
                </a:gs>
                <a:gs pos="100000">
                  <a:schemeClr val="accent5"/>
                </a:gs>
              </a:gsLst>
              <a:lin ang="5400000" scaled="1"/>
            </a:gradFill>
          </a:ln>
          <a:effectLst>
            <a:outerShdw blurRad="127000" dist="88900" dir="5400000" algn="t" rotWithShape="0">
              <a:schemeClr val="accent5">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dirty="0">
              <a:latin typeface="微软雅黑" panose="020B0503020204020204" charset="-122"/>
              <a:ea typeface="微软雅黑" panose="020B0503020204020204" charset="-122"/>
              <a:cs typeface="微软雅黑" panose="020B0503020204020204" charset="-122"/>
            </a:endParaRPr>
          </a:p>
        </p:txBody>
      </p:sp>
      <p:sp>
        <p:nvSpPr>
          <p:cNvPr id="126" name="椭圆 125"/>
          <p:cNvSpPr/>
          <p:nvPr/>
        </p:nvSpPr>
        <p:spPr>
          <a:xfrm>
            <a:off x="5327778" y="3166484"/>
            <a:ext cx="1536444" cy="1536444"/>
          </a:xfrm>
          <a:prstGeom prst="ellipse">
            <a:avLst/>
          </a:prstGeom>
          <a:gradFill flip="none" rotWithShape="1">
            <a:gsLst>
              <a:gs pos="0">
                <a:schemeClr val="accent5">
                  <a:lumMod val="60000"/>
                  <a:lumOff val="40000"/>
                </a:schemeClr>
              </a:gs>
              <a:gs pos="99000">
                <a:schemeClr val="accent5"/>
              </a:gs>
            </a:gsLst>
            <a:lin ang="0" scaled="1"/>
            <a:tileRect/>
          </a:gradFill>
          <a:ln w="254000">
            <a:solidFill>
              <a:schemeClr val="accent5">
                <a:alpha val="10000"/>
              </a:schemeClr>
            </a:solidFill>
          </a:ln>
          <a:effectLst>
            <a:outerShdw blurRad="330200" dist="88900" dir="5400000" algn="t" rotWithShape="0">
              <a:schemeClr val="accent5">
                <a:lumMod val="60000"/>
                <a:lumOff val="40000"/>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457200"/>
            <a:endParaRPr kumimoji="1" lang="zh-CN" altLang="en-US" sz="20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0" name="任意形状 169"/>
          <p:cNvSpPr/>
          <p:nvPr/>
        </p:nvSpPr>
        <p:spPr bwMode="auto">
          <a:xfrm>
            <a:off x="5897746" y="4688243"/>
            <a:ext cx="1945050" cy="1531388"/>
          </a:xfrm>
          <a:custGeom>
            <a:avLst/>
            <a:gdLst>
              <a:gd name="connsiteX0" fmla="*/ 1352789 w 2090635"/>
              <a:gd name="connsiteY0" fmla="*/ 86766 h 1646011"/>
              <a:gd name="connsiteX1" fmla="*/ 1497542 w 2090635"/>
              <a:gd name="connsiteY1" fmla="*/ 387793 h 1646011"/>
              <a:gd name="connsiteX2" fmla="*/ 2090635 w 2090635"/>
              <a:gd name="connsiteY2" fmla="*/ 455317 h 1646011"/>
              <a:gd name="connsiteX3" fmla="*/ 1979764 w 2090635"/>
              <a:gd name="connsiteY3" fmla="*/ 620942 h 1646011"/>
              <a:gd name="connsiteX4" fmla="*/ 520776 w 2090635"/>
              <a:gd name="connsiteY4" fmla="*/ 1447129 h 1646011"/>
              <a:gd name="connsiteX5" fmla="*/ 297468 w 2090635"/>
              <a:gd name="connsiteY5" fmla="*/ 1460101 h 1646011"/>
              <a:gd name="connsiteX6" fmla="*/ 299761 w 2090635"/>
              <a:gd name="connsiteY6" fmla="*/ 1646011 h 1646011"/>
              <a:gd name="connsiteX7" fmla="*/ 0 w 2090635"/>
              <a:gd name="connsiteY7" fmla="*/ 956764 h 1646011"/>
              <a:gd name="connsiteX8" fmla="*/ 286090 w 2090635"/>
              <a:gd name="connsiteY8" fmla="*/ 537666 h 1646011"/>
              <a:gd name="connsiteX9" fmla="*/ 287362 w 2090635"/>
              <a:gd name="connsiteY9" fmla="*/ 640760 h 1646011"/>
              <a:gd name="connsiteX10" fmla="*/ 425595 w 2090635"/>
              <a:gd name="connsiteY10" fmla="*/ 632732 h 1646011"/>
              <a:gd name="connsiteX11" fmla="*/ 1330202 w 2090635"/>
              <a:gd name="connsiteY11" fmla="*/ 120514 h 1646011"/>
              <a:gd name="connsiteX12" fmla="*/ 1410861 w 2090635"/>
              <a:gd name="connsiteY12" fmla="*/ 0 h 1646011"/>
              <a:gd name="connsiteX13" fmla="*/ 1486691 w 2090635"/>
              <a:gd name="connsiteY13" fmla="*/ 47765 h 1646011"/>
              <a:gd name="connsiteX14" fmla="*/ 1408319 w 2090635"/>
              <a:gd name="connsiteY14" fmla="*/ 3797 h 16460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2090635" h="1646011">
                <a:moveTo>
                  <a:pt x="1352789" y="86766"/>
                </a:moveTo>
                <a:lnTo>
                  <a:pt x="1497542" y="387793"/>
                </a:lnTo>
                <a:lnTo>
                  <a:pt x="2090635" y="455317"/>
                </a:lnTo>
                <a:lnTo>
                  <a:pt x="1979764" y="620942"/>
                </a:lnTo>
                <a:cubicBezTo>
                  <a:pt x="1625262" y="1081181"/>
                  <a:pt x="1098782" y="1379693"/>
                  <a:pt x="520776" y="1447129"/>
                </a:cubicBezTo>
                <a:lnTo>
                  <a:pt x="297468" y="1460101"/>
                </a:lnTo>
                <a:lnTo>
                  <a:pt x="299761" y="1646011"/>
                </a:lnTo>
                <a:lnTo>
                  <a:pt x="0" y="956764"/>
                </a:lnTo>
                <a:lnTo>
                  <a:pt x="286090" y="537666"/>
                </a:lnTo>
                <a:lnTo>
                  <a:pt x="287362" y="640760"/>
                </a:lnTo>
                <a:lnTo>
                  <a:pt x="425595" y="632732"/>
                </a:lnTo>
                <a:cubicBezTo>
                  <a:pt x="783998" y="590923"/>
                  <a:pt x="1110442" y="405854"/>
                  <a:pt x="1330202" y="120514"/>
                </a:cubicBezTo>
                <a:close/>
                <a:moveTo>
                  <a:pt x="1410861" y="0"/>
                </a:moveTo>
                <a:lnTo>
                  <a:pt x="1486691" y="47765"/>
                </a:lnTo>
                <a:lnTo>
                  <a:pt x="1408319" y="3797"/>
                </a:lnTo>
                <a:close/>
              </a:path>
            </a:pathLst>
          </a:custGeom>
          <a:gradFill>
            <a:gsLst>
              <a:gs pos="0">
                <a:schemeClr val="accent5"/>
              </a:gs>
              <a:gs pos="100000">
                <a:schemeClr val="accent5">
                  <a:lumMod val="60000"/>
                  <a:lumOff val="40000"/>
                </a:schemeClr>
              </a:gs>
            </a:gsLst>
            <a:lin ang="16200000" scaled="0"/>
          </a:gradFill>
          <a:ln w="9525" cap="flat">
            <a:noFill/>
            <a:prstDash val="solid"/>
            <a:miter/>
          </a:ln>
        </p:spPr>
        <p:txBody>
          <a:bodyPr vert="horz" wrap="square" numCol="1" spcCol="0" rtlCol="0" fromWordArt="0" anchor="ctr" anchorCtr="0" forceAA="0" compatLnSpc="0">
            <a:noAutofit/>
          </a:bodyPr>
          <a:lstStyle/>
          <a:p>
            <a:pPr lvl="0" algn="l">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74" name="任意形状 173"/>
          <p:cNvSpPr/>
          <p:nvPr/>
        </p:nvSpPr>
        <p:spPr bwMode="auto">
          <a:xfrm>
            <a:off x="4150364" y="4587481"/>
            <a:ext cx="1781954" cy="1447712"/>
          </a:xfrm>
          <a:custGeom>
            <a:avLst/>
            <a:gdLst>
              <a:gd name="connsiteX0" fmla="*/ 447025 w 1915332"/>
              <a:gd name="connsiteY0" fmla="*/ 0 h 1556072"/>
              <a:gd name="connsiteX1" fmla="*/ 953020 w 1915332"/>
              <a:gd name="connsiteY1" fmla="*/ 38212 h 1556072"/>
              <a:gd name="connsiteX2" fmla="*/ 865709 w 1915332"/>
              <a:gd name="connsiteY2" fmla="*/ 90068 h 1556072"/>
              <a:gd name="connsiteX3" fmla="*/ 938348 w 1915332"/>
              <a:gd name="connsiteY3" fmla="*/ 200548 h 1556072"/>
              <a:gd name="connsiteX4" fmla="*/ 1834336 w 1915332"/>
              <a:gd name="connsiteY4" fmla="*/ 727622 h 1556072"/>
              <a:gd name="connsiteX5" fmla="*/ 1915332 w 1915332"/>
              <a:gd name="connsiteY5" fmla="*/ 732998 h 1556072"/>
              <a:gd name="connsiteX6" fmla="*/ 1695937 w 1915332"/>
              <a:gd name="connsiteY6" fmla="*/ 1054393 h 1556072"/>
              <a:gd name="connsiteX7" fmla="*/ 1914123 w 1915332"/>
              <a:gd name="connsiteY7" fmla="*/ 1556072 h 1556072"/>
              <a:gd name="connsiteX8" fmla="*/ 1867748 w 1915332"/>
              <a:gd name="connsiteY8" fmla="*/ 1554530 h 1556072"/>
              <a:gd name="connsiteX9" fmla="*/ 291242 w 1915332"/>
              <a:gd name="connsiteY9" fmla="*/ 704432 h 1556072"/>
              <a:gd name="connsiteX10" fmla="*/ 161219 w 1915332"/>
              <a:gd name="connsiteY10" fmla="*/ 508475 h 1556072"/>
              <a:gd name="connsiteX11" fmla="*/ 0 w 1915332"/>
              <a:gd name="connsiteY11" fmla="*/ 604225 h 1556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915332" h="1556072">
                <a:moveTo>
                  <a:pt x="447025" y="0"/>
                </a:moveTo>
                <a:lnTo>
                  <a:pt x="953020" y="38212"/>
                </a:lnTo>
                <a:lnTo>
                  <a:pt x="865709" y="90068"/>
                </a:lnTo>
                <a:lnTo>
                  <a:pt x="938348" y="200548"/>
                </a:lnTo>
                <a:cubicBezTo>
                  <a:pt x="1153741" y="489962"/>
                  <a:pt x="1477344" y="679984"/>
                  <a:pt x="1834336" y="727622"/>
                </a:cubicBezTo>
                <a:lnTo>
                  <a:pt x="1915332" y="732998"/>
                </a:lnTo>
                <a:lnTo>
                  <a:pt x="1695937" y="1054393"/>
                </a:lnTo>
                <a:lnTo>
                  <a:pt x="1914123" y="1556072"/>
                </a:lnTo>
                <a:lnTo>
                  <a:pt x="1867748" y="1554530"/>
                </a:lnTo>
                <a:cubicBezTo>
                  <a:pt x="1242254" y="1512871"/>
                  <a:pt x="667327" y="1201073"/>
                  <a:pt x="291242" y="704432"/>
                </a:cubicBezTo>
                <a:lnTo>
                  <a:pt x="161219" y="508475"/>
                </a:lnTo>
                <a:lnTo>
                  <a:pt x="0" y="604225"/>
                </a:lnTo>
                <a:close/>
              </a:path>
            </a:pathLst>
          </a:custGeom>
          <a:gradFill>
            <a:gsLst>
              <a:gs pos="0">
                <a:schemeClr val="accent5">
                  <a:lumMod val="60000"/>
                  <a:lumOff val="40000"/>
                </a:schemeClr>
              </a:gs>
              <a:gs pos="100000">
                <a:schemeClr val="accent5">
                  <a:lumMod val="40000"/>
                  <a:lumOff val="60000"/>
                </a:schemeClr>
              </a:gs>
            </a:gsLst>
            <a:lin ang="16200000" scaled="0"/>
          </a:gradFill>
          <a:ln w="9525" cap="flat">
            <a:noFill/>
            <a:prstDash val="solid"/>
            <a:miter/>
          </a:ln>
        </p:spPr>
        <p:txBody>
          <a:bodyPr vert="horz" wrap="square" numCol="1" spcCol="0" rtlCol="0" fromWordArt="0" anchor="ctr" anchorCtr="0" forceAA="0" compatLnSpc="0">
            <a:noAutofit/>
          </a:bodyPr>
          <a:lstStyle/>
          <a:p>
            <a:pPr lvl="0" algn="l">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75" name="任意形状 174"/>
          <p:cNvSpPr/>
          <p:nvPr/>
        </p:nvSpPr>
        <p:spPr bwMode="auto">
          <a:xfrm>
            <a:off x="3974926" y="2853889"/>
            <a:ext cx="989732" cy="2003852"/>
          </a:xfrm>
          <a:custGeom>
            <a:avLst/>
            <a:gdLst>
              <a:gd name="connsiteX0" fmla="*/ 97123 w 1063814"/>
              <a:gd name="connsiteY0" fmla="*/ 0 h 2153840"/>
              <a:gd name="connsiteX1" fmla="*/ 843909 w 1063814"/>
              <a:gd name="connsiteY1" fmla="*/ 85023 h 2153840"/>
              <a:gd name="connsiteX2" fmla="*/ 1063814 w 1063814"/>
              <a:gd name="connsiteY2" fmla="*/ 542333 h 2153840"/>
              <a:gd name="connsiteX3" fmla="*/ 991980 w 1063814"/>
              <a:gd name="connsiteY3" fmla="*/ 502033 h 2153840"/>
              <a:gd name="connsiteX4" fmla="*/ 921090 w 1063814"/>
              <a:gd name="connsiteY4" fmla="*/ 646027 h 2153840"/>
              <a:gd name="connsiteX5" fmla="*/ 929675 w 1063814"/>
              <a:gd name="connsiteY5" fmla="*/ 1685940 h 2153840"/>
              <a:gd name="connsiteX6" fmla="*/ 959115 w 1063814"/>
              <a:gd name="connsiteY6" fmla="*/ 1744516 h 2153840"/>
              <a:gd name="connsiteX7" fmla="*/ 570144 w 1063814"/>
              <a:gd name="connsiteY7" fmla="*/ 1715142 h 2153840"/>
              <a:gd name="connsiteX8" fmla="*/ 245581 w 1063814"/>
              <a:gd name="connsiteY8" fmla="*/ 2153840 h 2153840"/>
              <a:gd name="connsiteX9" fmla="*/ 225395 w 1063814"/>
              <a:gd name="connsiteY9" fmla="*/ 2116212 h 2153840"/>
              <a:gd name="connsiteX10" fmla="*/ 221423 w 1063814"/>
              <a:gd name="connsiteY10" fmla="*/ 203446 h 2153840"/>
              <a:gd name="connsiteX11" fmla="*/ 276349 w 1063814"/>
              <a:gd name="connsiteY11" fmla="*/ 100549 h 2153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63814" h="2153840">
                <a:moveTo>
                  <a:pt x="97123" y="0"/>
                </a:moveTo>
                <a:lnTo>
                  <a:pt x="843909" y="85023"/>
                </a:lnTo>
                <a:lnTo>
                  <a:pt x="1063814" y="542333"/>
                </a:lnTo>
                <a:lnTo>
                  <a:pt x="991980" y="502033"/>
                </a:lnTo>
                <a:lnTo>
                  <a:pt x="921090" y="646027"/>
                </a:lnTo>
                <a:cubicBezTo>
                  <a:pt x="783738" y="979180"/>
                  <a:pt x="786599" y="1354547"/>
                  <a:pt x="929675" y="1685940"/>
                </a:cubicBezTo>
                <a:lnTo>
                  <a:pt x="959115" y="1744516"/>
                </a:lnTo>
                <a:lnTo>
                  <a:pt x="570144" y="1715142"/>
                </a:lnTo>
                <a:lnTo>
                  <a:pt x="245581" y="2153840"/>
                </a:lnTo>
                <a:lnTo>
                  <a:pt x="225395" y="2116212"/>
                </a:lnTo>
                <a:cubicBezTo>
                  <a:pt x="-73802" y="1514118"/>
                  <a:pt x="-75126" y="806473"/>
                  <a:pt x="221423" y="203446"/>
                </a:cubicBezTo>
                <a:lnTo>
                  <a:pt x="276349" y="100549"/>
                </a:lnTo>
                <a:close/>
              </a:path>
            </a:pathLst>
          </a:custGeom>
          <a:gradFill>
            <a:gsLst>
              <a:gs pos="0">
                <a:schemeClr val="accent1"/>
              </a:gs>
              <a:gs pos="100000">
                <a:schemeClr val="accent1">
                  <a:lumMod val="60000"/>
                  <a:lumOff val="40000"/>
                </a:schemeClr>
              </a:gs>
            </a:gsLst>
            <a:lin ang="16200000" scaled="0"/>
          </a:gradFill>
          <a:ln w="9525" cap="flat">
            <a:noFill/>
            <a:prstDash val="solid"/>
            <a:miter/>
          </a:ln>
        </p:spPr>
        <p:txBody>
          <a:bodyPr vert="horz" wrap="square" numCol="1" spcCol="0" rtlCol="0" fromWordArt="0" anchor="ctr" anchorCtr="0" forceAA="0" compatLnSpc="0">
            <a:noAutofit/>
          </a:bodyPr>
          <a:lstStyle/>
          <a:p>
            <a:pPr lvl="0" algn="l">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66" name="任意形状 165"/>
          <p:cNvSpPr/>
          <p:nvPr/>
        </p:nvSpPr>
        <p:spPr bwMode="auto">
          <a:xfrm>
            <a:off x="4358453" y="1666389"/>
            <a:ext cx="1934608" cy="1473796"/>
          </a:xfrm>
          <a:custGeom>
            <a:avLst/>
            <a:gdLst>
              <a:gd name="connsiteX0" fmla="*/ 1779652 w 2079413"/>
              <a:gd name="connsiteY0" fmla="*/ 0 h 1584110"/>
              <a:gd name="connsiteX1" fmla="*/ 2079413 w 2079413"/>
              <a:gd name="connsiteY1" fmla="*/ 689247 h 1584110"/>
              <a:gd name="connsiteX2" fmla="*/ 1793323 w 2079413"/>
              <a:gd name="connsiteY2" fmla="*/ 1108345 h 1584110"/>
              <a:gd name="connsiteX3" fmla="*/ 1791822 w 2079413"/>
              <a:gd name="connsiteY3" fmla="*/ 986646 h 1584110"/>
              <a:gd name="connsiteX4" fmla="*/ 1631961 w 2079413"/>
              <a:gd name="connsiteY4" fmla="*/ 997255 h 1584110"/>
              <a:gd name="connsiteX5" fmla="*/ 735973 w 2079413"/>
              <a:gd name="connsiteY5" fmla="*/ 1524330 h 1584110"/>
              <a:gd name="connsiteX6" fmla="*/ 696668 w 2079413"/>
              <a:gd name="connsiteY6" fmla="*/ 1584110 h 1584110"/>
              <a:gd name="connsiteX7" fmla="*/ 518416 w 2079413"/>
              <a:gd name="connsiteY7" fmla="*/ 1213420 h 1584110"/>
              <a:gd name="connsiteX8" fmla="*/ 0 w 2079413"/>
              <a:gd name="connsiteY8" fmla="*/ 1154397 h 1584110"/>
              <a:gd name="connsiteX9" fmla="*/ 88867 w 2079413"/>
              <a:gd name="connsiteY9" fmla="*/ 1020498 h 1584110"/>
              <a:gd name="connsiteX10" fmla="*/ 1665373 w 2079413"/>
              <a:gd name="connsiteY10" fmla="*/ 170349 h 1584110"/>
              <a:gd name="connsiteX11" fmla="*/ 1781706 w 2079413"/>
              <a:gd name="connsiteY11" fmla="*/ 166480 h 158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79413" h="1584110">
                <a:moveTo>
                  <a:pt x="1779652" y="0"/>
                </a:moveTo>
                <a:lnTo>
                  <a:pt x="2079413" y="689247"/>
                </a:lnTo>
                <a:lnTo>
                  <a:pt x="1793323" y="1108345"/>
                </a:lnTo>
                <a:lnTo>
                  <a:pt x="1791822" y="986646"/>
                </a:lnTo>
                <a:lnTo>
                  <a:pt x="1631961" y="997255"/>
                </a:lnTo>
                <a:cubicBezTo>
                  <a:pt x="1274969" y="1044894"/>
                  <a:pt x="951366" y="1234915"/>
                  <a:pt x="735973" y="1524330"/>
                </a:cubicBezTo>
                <a:lnTo>
                  <a:pt x="696668" y="1584110"/>
                </a:lnTo>
                <a:lnTo>
                  <a:pt x="518416" y="1213420"/>
                </a:lnTo>
                <a:lnTo>
                  <a:pt x="0" y="1154397"/>
                </a:lnTo>
                <a:lnTo>
                  <a:pt x="88867" y="1020498"/>
                </a:lnTo>
                <a:cubicBezTo>
                  <a:pt x="464952" y="523945"/>
                  <a:pt x="1039879" y="212026"/>
                  <a:pt x="1665373" y="170349"/>
                </a:cubicBezTo>
                <a:lnTo>
                  <a:pt x="1781706" y="166480"/>
                </a:lnTo>
                <a:close/>
              </a:path>
            </a:pathLst>
          </a:custGeom>
          <a:gradFill>
            <a:gsLst>
              <a:gs pos="0">
                <a:schemeClr val="accent5"/>
              </a:gs>
              <a:gs pos="100000">
                <a:schemeClr val="accent5">
                  <a:lumMod val="60000"/>
                  <a:lumOff val="40000"/>
                </a:schemeClr>
              </a:gs>
            </a:gsLst>
            <a:lin ang="16200000" scaled="0"/>
          </a:gradFill>
          <a:ln w="9525" cap="flat">
            <a:noFill/>
            <a:prstDash val="solid"/>
            <a:miter/>
          </a:ln>
        </p:spPr>
        <p:txBody>
          <a:bodyPr wrap="square" rtlCol="0" anchor="ctr">
            <a:noAutofit/>
          </a:bodyPr>
          <a:lstStyle/>
          <a:p>
            <a:pPr lvl="0" algn="l">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68" name="任意形状 167"/>
          <p:cNvSpPr/>
          <p:nvPr/>
        </p:nvSpPr>
        <p:spPr bwMode="auto">
          <a:xfrm rot="12203689" flipV="1">
            <a:off x="5998037" y="2062463"/>
            <a:ext cx="1981594" cy="1079666"/>
          </a:xfrm>
          <a:custGeom>
            <a:avLst/>
            <a:gdLst>
              <a:gd name="connsiteX0" fmla="*/ 2129915 w 2129915"/>
              <a:gd name="connsiteY0" fmla="*/ 144764 h 1160478"/>
              <a:gd name="connsiteX1" fmla="*/ 2079015 w 2129915"/>
              <a:gd name="connsiteY1" fmla="*/ 124723 h 1160478"/>
              <a:gd name="connsiteX2" fmla="*/ 294552 w 2129915"/>
              <a:gd name="connsiteY2" fmla="*/ 279008 h 1160478"/>
              <a:gd name="connsiteX3" fmla="*/ 102356 w 2129915"/>
              <a:gd name="connsiteY3" fmla="*/ 403994 h 1160478"/>
              <a:gd name="connsiteX4" fmla="*/ 0 w 2129915"/>
              <a:gd name="connsiteY4" fmla="*/ 262587 h 1160478"/>
              <a:gd name="connsiteX5" fmla="*/ 170359 w 2129915"/>
              <a:gd name="connsiteY5" fmla="*/ 994636 h 1160478"/>
              <a:gd name="connsiteX6" fmla="*/ 649929 w 2129915"/>
              <a:gd name="connsiteY6" fmla="*/ 1160478 h 1160478"/>
              <a:gd name="connsiteX7" fmla="*/ 582744 w 2129915"/>
              <a:gd name="connsiteY7" fmla="*/ 1067661 h 1160478"/>
              <a:gd name="connsiteX8" fmla="*/ 688344 w 2129915"/>
              <a:gd name="connsiteY8" fmla="*/ 998337 h 1160478"/>
              <a:gd name="connsiteX9" fmla="*/ 1719990 w 2129915"/>
              <a:gd name="connsiteY9" fmla="*/ 870373 h 1160478"/>
              <a:gd name="connsiteX10" fmla="*/ 1784935 w 2129915"/>
              <a:gd name="connsiteY10" fmla="*/ 893497 h 1160478"/>
              <a:gd name="connsiteX11" fmla="*/ 1715310 w 2129915"/>
              <a:gd name="connsiteY11" fmla="*/ 532751 h 11604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129915" h="1160478">
                <a:moveTo>
                  <a:pt x="2129915" y="144764"/>
                </a:moveTo>
                <a:lnTo>
                  <a:pt x="2079015" y="124723"/>
                </a:lnTo>
                <a:cubicBezTo>
                  <a:pt x="1488325" y="-85417"/>
                  <a:pt x="836849" y="-27407"/>
                  <a:pt x="294552" y="279008"/>
                </a:cubicBezTo>
                <a:lnTo>
                  <a:pt x="102356" y="403994"/>
                </a:lnTo>
                <a:lnTo>
                  <a:pt x="0" y="262587"/>
                </a:lnTo>
                <a:lnTo>
                  <a:pt x="170359" y="994636"/>
                </a:lnTo>
                <a:lnTo>
                  <a:pt x="649929" y="1160478"/>
                </a:lnTo>
                <a:lnTo>
                  <a:pt x="582744" y="1067661"/>
                </a:lnTo>
                <a:lnTo>
                  <a:pt x="688344" y="998337"/>
                </a:lnTo>
                <a:cubicBezTo>
                  <a:pt x="1000928" y="818232"/>
                  <a:pt x="1373362" y="772316"/>
                  <a:pt x="1719990" y="870373"/>
                </a:cubicBezTo>
                <a:lnTo>
                  <a:pt x="1784935" y="893497"/>
                </a:lnTo>
                <a:lnTo>
                  <a:pt x="1715310" y="532751"/>
                </a:lnTo>
                <a:close/>
              </a:path>
            </a:pathLst>
          </a:custGeom>
          <a:gradFill>
            <a:gsLst>
              <a:gs pos="0">
                <a:schemeClr val="accent5">
                  <a:lumMod val="60000"/>
                  <a:lumOff val="40000"/>
                </a:schemeClr>
              </a:gs>
              <a:gs pos="100000">
                <a:schemeClr val="accent5">
                  <a:lumMod val="40000"/>
                  <a:lumOff val="60000"/>
                </a:schemeClr>
              </a:gs>
            </a:gsLst>
            <a:lin ang="16200000" scaled="0"/>
          </a:gradFill>
          <a:ln w="9525" cap="flat">
            <a:noFill/>
            <a:prstDash val="solid"/>
            <a:miter/>
          </a:ln>
        </p:spPr>
        <p:txBody>
          <a:bodyPr vert="horz" wrap="square" numCol="1" spcCol="0" rtlCol="0" fromWordArt="0" anchor="ctr" anchorCtr="0" forceAA="0" compatLnSpc="0">
            <a:noAutofit/>
          </a:bodyPr>
          <a:lstStyle/>
          <a:p>
            <a:pPr lvl="0" algn="l">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72" name="任意形状 171"/>
          <p:cNvSpPr/>
          <p:nvPr/>
        </p:nvSpPr>
        <p:spPr bwMode="auto">
          <a:xfrm>
            <a:off x="7164565" y="2999810"/>
            <a:ext cx="1050244" cy="1990188"/>
          </a:xfrm>
          <a:custGeom>
            <a:avLst/>
            <a:gdLst>
              <a:gd name="connsiteX0" fmla="*/ 876998 w 1128854"/>
              <a:gd name="connsiteY0" fmla="*/ 0 h 2139153"/>
              <a:gd name="connsiteX1" fmla="*/ 907431 w 1128854"/>
              <a:gd name="connsiteY1" fmla="*/ 57013 h 2139153"/>
              <a:gd name="connsiteX2" fmla="*/ 903459 w 1128854"/>
              <a:gd name="connsiteY2" fmla="*/ 1969780 h 2139153"/>
              <a:gd name="connsiteX3" fmla="*/ 848246 w 1128854"/>
              <a:gd name="connsiteY3" fmla="*/ 2072703 h 2139153"/>
              <a:gd name="connsiteX4" fmla="*/ 966691 w 1128854"/>
              <a:gd name="connsiteY4" fmla="*/ 2139153 h 2139153"/>
              <a:gd name="connsiteX5" fmla="*/ 219905 w 1128854"/>
              <a:gd name="connsiteY5" fmla="*/ 2054131 h 2139153"/>
              <a:gd name="connsiteX6" fmla="*/ 0 w 1128854"/>
              <a:gd name="connsiteY6" fmla="*/ 1596820 h 2139153"/>
              <a:gd name="connsiteX7" fmla="*/ 132901 w 1128854"/>
              <a:gd name="connsiteY7" fmla="*/ 1671380 h 2139153"/>
              <a:gd name="connsiteX8" fmla="*/ 199180 w 1128854"/>
              <a:gd name="connsiteY8" fmla="*/ 1539508 h 2139153"/>
              <a:gd name="connsiteX9" fmla="*/ 207764 w 1128854"/>
              <a:gd name="connsiteY9" fmla="*/ 499595 h 2139153"/>
              <a:gd name="connsiteX10" fmla="*/ 170379 w 1128854"/>
              <a:gd name="connsiteY10" fmla="*/ 423657 h 2139153"/>
              <a:gd name="connsiteX11" fmla="*/ 542757 w 1128854"/>
              <a:gd name="connsiteY11" fmla="*/ 451779 h 2139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28854" h="2139153">
                <a:moveTo>
                  <a:pt x="876998" y="0"/>
                </a:moveTo>
                <a:lnTo>
                  <a:pt x="907431" y="57013"/>
                </a:lnTo>
                <a:cubicBezTo>
                  <a:pt x="1203980" y="660041"/>
                  <a:pt x="1202657" y="1367686"/>
                  <a:pt x="903459" y="1969780"/>
                </a:cubicBezTo>
                <a:lnTo>
                  <a:pt x="848246" y="2072703"/>
                </a:lnTo>
                <a:lnTo>
                  <a:pt x="966691" y="2139153"/>
                </a:lnTo>
                <a:lnTo>
                  <a:pt x="219905" y="2054131"/>
                </a:lnTo>
                <a:lnTo>
                  <a:pt x="0" y="1596820"/>
                </a:lnTo>
                <a:lnTo>
                  <a:pt x="132901" y="1671380"/>
                </a:lnTo>
                <a:lnTo>
                  <a:pt x="199180" y="1539508"/>
                </a:lnTo>
                <a:cubicBezTo>
                  <a:pt x="342255" y="1208115"/>
                  <a:pt x="345117" y="832748"/>
                  <a:pt x="207764" y="499595"/>
                </a:cubicBezTo>
                <a:lnTo>
                  <a:pt x="170379" y="423657"/>
                </a:lnTo>
                <a:lnTo>
                  <a:pt x="542757" y="451779"/>
                </a:lnTo>
                <a:close/>
              </a:path>
            </a:pathLst>
          </a:custGeom>
          <a:gradFill>
            <a:gsLst>
              <a:gs pos="0">
                <a:schemeClr val="accent1"/>
              </a:gs>
              <a:gs pos="100000">
                <a:schemeClr val="accent1">
                  <a:lumMod val="60000"/>
                  <a:lumOff val="40000"/>
                </a:schemeClr>
              </a:gs>
            </a:gsLst>
            <a:lin ang="16200000" scaled="0"/>
          </a:gradFill>
          <a:ln w="9525" cap="flat">
            <a:noFill/>
            <a:prstDash val="solid"/>
            <a:miter/>
          </a:ln>
        </p:spPr>
        <p:txBody>
          <a:bodyPr vert="horz" wrap="square" numCol="1" spcCol="0" rtlCol="0" fromWordArt="0" anchor="ctr" anchorCtr="0" forceAA="0" compatLnSpc="0">
            <a:noAutofit/>
          </a:bodyPr>
          <a:lstStyle/>
          <a:p>
            <a:pPr lvl="0" algn="l">
              <a:buClrTx/>
              <a:buSzTx/>
              <a:buFontTx/>
            </a:pPr>
            <a:endParaRPr lang="en-US">
              <a:latin typeface="微软雅黑" panose="020B0503020204020204" charset="-122"/>
              <a:ea typeface="微软雅黑" panose="020B0503020204020204" charset="-122"/>
              <a:cs typeface="微软雅黑" panose="020B0503020204020204" charset="-122"/>
              <a:sym typeface="+mn-ea"/>
            </a:endParaRPr>
          </a:p>
        </p:txBody>
      </p:sp>
      <p:sp>
        <p:nvSpPr>
          <p:cNvPr id="183" name="文本框 182"/>
          <p:cNvSpPr txBox="1"/>
          <p:nvPr/>
        </p:nvSpPr>
        <p:spPr>
          <a:xfrm>
            <a:off x="5388115" y="3496468"/>
            <a:ext cx="1415772" cy="830997"/>
          </a:xfrm>
          <a:prstGeom prst="rect">
            <a:avLst/>
          </a:prstGeom>
          <a:noFill/>
        </p:spPr>
        <p:txBody>
          <a:bodyPr wrap="none" rtlCol="0">
            <a:spAutoFit/>
          </a:bodyPr>
          <a:lstStyle/>
          <a:p>
            <a:pPr algn="ctr" defTabSz="457200"/>
            <a:r>
              <a:rPr kumimoji="1" lang="zh-CN" altLang="en-US" sz="2400" b="1" dirty="0">
                <a:solidFill>
                  <a:schemeClr val="bg1"/>
                </a:solidFill>
                <a:latin typeface="微软雅黑" panose="020B0503020204020204" charset="-122"/>
                <a:ea typeface="微软雅黑" panose="020B0503020204020204" charset="-122"/>
                <a:cs typeface="微软雅黑" panose="020B0503020204020204" charset="-122"/>
              </a:rPr>
              <a:t>市场及</a:t>
            </a:r>
            <a:endParaRPr kumimoji="1" lang="en-US" altLang="zh-CN" sz="2400" b="1" dirty="0">
              <a:solidFill>
                <a:schemeClr val="bg1"/>
              </a:solidFill>
              <a:latin typeface="微软雅黑" panose="020B0503020204020204" charset="-122"/>
              <a:ea typeface="微软雅黑" panose="020B0503020204020204" charset="-122"/>
              <a:cs typeface="微软雅黑" panose="020B0503020204020204" charset="-122"/>
            </a:endParaRPr>
          </a:p>
          <a:p>
            <a:pPr algn="ctr" defTabSz="457200"/>
            <a:r>
              <a:rPr kumimoji="1" lang="zh-CN" altLang="en-US" sz="2400" b="1" dirty="0">
                <a:solidFill>
                  <a:schemeClr val="bg1"/>
                </a:solidFill>
                <a:latin typeface="微软雅黑" panose="020B0503020204020204" charset="-122"/>
                <a:ea typeface="微软雅黑" panose="020B0503020204020204" charset="-122"/>
                <a:cs typeface="微软雅黑" panose="020B0503020204020204" charset="-122"/>
              </a:rPr>
              <a:t>客户需求</a:t>
            </a:r>
            <a:endParaRPr kumimoji="1" lang="zh-CN" altLang="en-US" sz="24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84" name="文本框 183"/>
          <p:cNvSpPr txBox="1"/>
          <p:nvPr/>
        </p:nvSpPr>
        <p:spPr>
          <a:xfrm rot="19899852">
            <a:off x="5001010" y="2367452"/>
            <a:ext cx="800219" cy="238562"/>
          </a:xfrm>
          <a:prstGeom prst="rect">
            <a:avLst/>
          </a:prstGeom>
          <a:noFill/>
        </p:spPr>
        <p:txBody>
          <a:bodyPr wrap="none" rtlCol="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理解市场</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7" name="文本框 186"/>
          <p:cNvSpPr txBox="1"/>
          <p:nvPr/>
        </p:nvSpPr>
        <p:spPr>
          <a:xfrm rot="2080456">
            <a:off x="6625899" y="2510124"/>
            <a:ext cx="800219" cy="238562"/>
          </a:xfrm>
          <a:prstGeom prst="rect">
            <a:avLst/>
          </a:prstGeom>
          <a:noFill/>
        </p:spPr>
        <p:txBody>
          <a:bodyPr wrap="none" rtlCol="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市场细分</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8" name="文本框 187"/>
          <p:cNvSpPr txBox="1"/>
          <p:nvPr/>
        </p:nvSpPr>
        <p:spPr>
          <a:xfrm rot="5837229">
            <a:off x="7289577" y="4025374"/>
            <a:ext cx="800219" cy="238562"/>
          </a:xfrm>
          <a:prstGeom prst="rect">
            <a:avLst/>
          </a:prstGeom>
          <a:noFill/>
        </p:spPr>
        <p:txBody>
          <a:bodyPr wrap="none" rtlCol="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组合分析</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1" name="文本框 190"/>
          <p:cNvSpPr txBox="1"/>
          <p:nvPr/>
        </p:nvSpPr>
        <p:spPr>
          <a:xfrm rot="16559070">
            <a:off x="4110722" y="3637346"/>
            <a:ext cx="800219" cy="238562"/>
          </a:xfrm>
          <a:prstGeom prst="rect">
            <a:avLst/>
          </a:prstGeom>
          <a:noFill/>
        </p:spPr>
        <p:txBody>
          <a:bodyPr wrap="none" rtlCol="0">
            <a:prstTxWarp prst="textArchUp">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业务计划</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2" name="矩形 235"/>
          <p:cNvSpPr/>
          <p:nvPr/>
        </p:nvSpPr>
        <p:spPr>
          <a:xfrm>
            <a:off x="7354108" y="1637017"/>
            <a:ext cx="4004051" cy="552779"/>
          </a:xfrm>
          <a:custGeom>
            <a:avLst/>
            <a:gdLst>
              <a:gd name="connsiteX0" fmla="*/ 0 w 1430042"/>
              <a:gd name="connsiteY0" fmla="*/ 0 h 365310"/>
              <a:gd name="connsiteX1" fmla="*/ 1430042 w 1430042"/>
              <a:gd name="connsiteY1" fmla="*/ 0 h 365310"/>
              <a:gd name="connsiteX2" fmla="*/ 1430042 w 1430042"/>
              <a:gd name="connsiteY2" fmla="*/ 365310 h 365310"/>
              <a:gd name="connsiteX3" fmla="*/ 0 w 1430042"/>
              <a:gd name="connsiteY3" fmla="*/ 365310 h 365310"/>
              <a:gd name="connsiteX4" fmla="*/ 0 w 1430042"/>
              <a:gd name="connsiteY4" fmla="*/ 0 h 365310"/>
              <a:gd name="connsiteX0-1" fmla="*/ 0 w 1430042"/>
              <a:gd name="connsiteY0-2" fmla="*/ 0 h 365310"/>
              <a:gd name="connsiteX1-3" fmla="*/ 1430042 w 1430042"/>
              <a:gd name="connsiteY1-4" fmla="*/ 0 h 365310"/>
              <a:gd name="connsiteX2-5" fmla="*/ 0 w 1430042"/>
              <a:gd name="connsiteY2-6" fmla="*/ 365310 h 365310"/>
              <a:gd name="connsiteX3-7" fmla="*/ 0 w 1430042"/>
              <a:gd name="connsiteY3-8" fmla="*/ 0 h 365310"/>
              <a:gd name="connsiteX0-9" fmla="*/ 1430042 w 1521482"/>
              <a:gd name="connsiteY0-10" fmla="*/ 0 h 365310"/>
              <a:gd name="connsiteX1-11" fmla="*/ 0 w 1521482"/>
              <a:gd name="connsiteY1-12" fmla="*/ 365310 h 365310"/>
              <a:gd name="connsiteX2-13" fmla="*/ 0 w 1521482"/>
              <a:gd name="connsiteY2-14" fmla="*/ 0 h 365310"/>
              <a:gd name="connsiteX3-15" fmla="*/ 1521482 w 1521482"/>
              <a:gd name="connsiteY3-16" fmla="*/ 91440 h 365310"/>
              <a:gd name="connsiteX0-17" fmla="*/ 1430042 w 1430042"/>
              <a:gd name="connsiteY0-18" fmla="*/ 0 h 365310"/>
              <a:gd name="connsiteX1-19" fmla="*/ 0 w 1430042"/>
              <a:gd name="connsiteY1-20" fmla="*/ 365310 h 365310"/>
              <a:gd name="connsiteX2-21" fmla="*/ 0 w 1430042"/>
              <a:gd name="connsiteY2-22" fmla="*/ 0 h 365310"/>
              <a:gd name="connsiteX3-23" fmla="*/ 1410163 w 1430042"/>
              <a:gd name="connsiteY3-24" fmla="*/ 3976 h 365310"/>
              <a:gd name="connsiteX0-25" fmla="*/ 1430042 w 1489676"/>
              <a:gd name="connsiteY0-26" fmla="*/ 107343 h 472653"/>
              <a:gd name="connsiteX1-27" fmla="*/ 0 w 1489676"/>
              <a:gd name="connsiteY1-28" fmla="*/ 472653 h 472653"/>
              <a:gd name="connsiteX2-29" fmla="*/ 0 w 1489676"/>
              <a:gd name="connsiteY2-30" fmla="*/ 107343 h 472653"/>
              <a:gd name="connsiteX3-31" fmla="*/ 1489676 w 1489676"/>
              <a:gd name="connsiteY3-32" fmla="*/ 0 h 472653"/>
              <a:gd name="connsiteX0-33" fmla="*/ 0 w 1489676"/>
              <a:gd name="connsiteY0-34" fmla="*/ 472653 h 472653"/>
              <a:gd name="connsiteX1-35" fmla="*/ 0 w 1489676"/>
              <a:gd name="connsiteY1-36" fmla="*/ 107343 h 472653"/>
              <a:gd name="connsiteX2-37" fmla="*/ 1489676 w 1489676"/>
              <a:gd name="connsiteY2-38" fmla="*/ 0 h 472653"/>
              <a:gd name="connsiteX0-39" fmla="*/ 0 w 1489676"/>
              <a:gd name="connsiteY0-40" fmla="*/ 365310 h 365310"/>
              <a:gd name="connsiteX1-41" fmla="*/ 0 w 1489676"/>
              <a:gd name="connsiteY1-42" fmla="*/ 0 h 365310"/>
              <a:gd name="connsiteX2-43" fmla="*/ 1489676 w 1489676"/>
              <a:gd name="connsiteY2-44" fmla="*/ 11927 h 365310"/>
              <a:gd name="connsiteX0-45" fmla="*/ 0 w 1489676"/>
              <a:gd name="connsiteY0-46" fmla="*/ 368969 h 368969"/>
              <a:gd name="connsiteX1-47" fmla="*/ 0 w 1489676"/>
              <a:gd name="connsiteY1-48" fmla="*/ 3659 h 368969"/>
              <a:gd name="connsiteX2-49" fmla="*/ 1489676 w 1489676"/>
              <a:gd name="connsiteY2-50" fmla="*/ 0 h 368969"/>
              <a:gd name="connsiteX0-51" fmla="*/ 0 w 1687103"/>
              <a:gd name="connsiteY0-52" fmla="*/ 259865 h 259865"/>
              <a:gd name="connsiteX1-53" fmla="*/ 197427 w 1687103"/>
              <a:gd name="connsiteY1-54" fmla="*/ 3659 h 259865"/>
              <a:gd name="connsiteX2-55" fmla="*/ 1687103 w 1687103"/>
              <a:gd name="connsiteY2-56" fmla="*/ 0 h 259865"/>
              <a:gd name="connsiteX0-57" fmla="*/ 0 w 1110407"/>
              <a:gd name="connsiteY0-58" fmla="*/ 259865 h 259865"/>
              <a:gd name="connsiteX1-59" fmla="*/ 197427 w 1110407"/>
              <a:gd name="connsiteY1-60" fmla="*/ 3659 h 259865"/>
              <a:gd name="connsiteX2-61" fmla="*/ 1110407 w 1110407"/>
              <a:gd name="connsiteY2-62" fmla="*/ 0 h 259865"/>
            </a:gdLst>
            <a:ahLst/>
            <a:cxnLst>
              <a:cxn ang="0">
                <a:pos x="connsiteX0-1" y="connsiteY0-2"/>
              </a:cxn>
              <a:cxn ang="0">
                <a:pos x="connsiteX1-3" y="connsiteY1-4"/>
              </a:cxn>
              <a:cxn ang="0">
                <a:pos x="connsiteX2-5" y="connsiteY2-6"/>
              </a:cxn>
            </a:cxnLst>
            <a:rect l="l" t="t" r="r" b="b"/>
            <a:pathLst>
              <a:path w="1110407" h="259865">
                <a:moveTo>
                  <a:pt x="0" y="259865"/>
                </a:moveTo>
                <a:lnTo>
                  <a:pt x="197427" y="3659"/>
                </a:lnTo>
                <a:lnTo>
                  <a:pt x="1110407" y="0"/>
                </a:lnTo>
              </a:path>
            </a:pathLst>
          </a:custGeom>
          <a:noFill/>
          <a:ln w="12700">
            <a:solidFill>
              <a:schemeClr val="tx2"/>
            </a:solidFill>
            <a:prstDash val="dash"/>
          </a:ln>
          <a:effectLst>
            <a:outerShdw blurRad="1270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93" name="剪去对角的矩形 192"/>
          <p:cNvSpPr/>
          <p:nvPr/>
        </p:nvSpPr>
        <p:spPr>
          <a:xfrm>
            <a:off x="9124276" y="1161140"/>
            <a:ext cx="2359862" cy="491164"/>
          </a:xfrm>
          <a:prstGeom prst="snip2DiagRect">
            <a:avLst/>
          </a:prstGeom>
          <a:gradFill flip="none" rotWithShape="1">
            <a:gsLst>
              <a:gs pos="0">
                <a:schemeClr val="accent5">
                  <a:lumMod val="60000"/>
                  <a:lumOff val="40000"/>
                </a:schemeClr>
              </a:gs>
              <a:gs pos="99000">
                <a:schemeClr val="accent5"/>
              </a:gs>
            </a:gsLst>
            <a:lin ang="0" scaled="1"/>
            <a:tileRect/>
          </a:gradFill>
          <a:ln>
            <a:noFill/>
          </a:ln>
          <a:effectLst>
            <a:outerShdw blurRad="330200" dist="88900" dir="5400000" algn="t" rotWithShape="0">
              <a:schemeClr val="accent5">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96" name="矩形 235"/>
          <p:cNvSpPr/>
          <p:nvPr/>
        </p:nvSpPr>
        <p:spPr>
          <a:xfrm flipV="1">
            <a:off x="7604828" y="5509031"/>
            <a:ext cx="3753331" cy="21838"/>
          </a:xfrm>
          <a:custGeom>
            <a:avLst/>
            <a:gdLst>
              <a:gd name="connsiteX0" fmla="*/ 0 w 1430042"/>
              <a:gd name="connsiteY0" fmla="*/ 0 h 365310"/>
              <a:gd name="connsiteX1" fmla="*/ 1430042 w 1430042"/>
              <a:gd name="connsiteY1" fmla="*/ 0 h 365310"/>
              <a:gd name="connsiteX2" fmla="*/ 1430042 w 1430042"/>
              <a:gd name="connsiteY2" fmla="*/ 365310 h 365310"/>
              <a:gd name="connsiteX3" fmla="*/ 0 w 1430042"/>
              <a:gd name="connsiteY3" fmla="*/ 365310 h 365310"/>
              <a:gd name="connsiteX4" fmla="*/ 0 w 1430042"/>
              <a:gd name="connsiteY4" fmla="*/ 0 h 365310"/>
              <a:gd name="connsiteX0-1" fmla="*/ 0 w 1430042"/>
              <a:gd name="connsiteY0-2" fmla="*/ 0 h 365310"/>
              <a:gd name="connsiteX1-3" fmla="*/ 1430042 w 1430042"/>
              <a:gd name="connsiteY1-4" fmla="*/ 0 h 365310"/>
              <a:gd name="connsiteX2-5" fmla="*/ 0 w 1430042"/>
              <a:gd name="connsiteY2-6" fmla="*/ 365310 h 365310"/>
              <a:gd name="connsiteX3-7" fmla="*/ 0 w 1430042"/>
              <a:gd name="connsiteY3-8" fmla="*/ 0 h 365310"/>
              <a:gd name="connsiteX0-9" fmla="*/ 1430042 w 1521482"/>
              <a:gd name="connsiteY0-10" fmla="*/ 0 h 365310"/>
              <a:gd name="connsiteX1-11" fmla="*/ 0 w 1521482"/>
              <a:gd name="connsiteY1-12" fmla="*/ 365310 h 365310"/>
              <a:gd name="connsiteX2-13" fmla="*/ 0 w 1521482"/>
              <a:gd name="connsiteY2-14" fmla="*/ 0 h 365310"/>
              <a:gd name="connsiteX3-15" fmla="*/ 1521482 w 1521482"/>
              <a:gd name="connsiteY3-16" fmla="*/ 91440 h 365310"/>
              <a:gd name="connsiteX0-17" fmla="*/ 1430042 w 1430042"/>
              <a:gd name="connsiteY0-18" fmla="*/ 0 h 365310"/>
              <a:gd name="connsiteX1-19" fmla="*/ 0 w 1430042"/>
              <a:gd name="connsiteY1-20" fmla="*/ 365310 h 365310"/>
              <a:gd name="connsiteX2-21" fmla="*/ 0 w 1430042"/>
              <a:gd name="connsiteY2-22" fmla="*/ 0 h 365310"/>
              <a:gd name="connsiteX3-23" fmla="*/ 1410163 w 1430042"/>
              <a:gd name="connsiteY3-24" fmla="*/ 3976 h 365310"/>
              <a:gd name="connsiteX0-25" fmla="*/ 1430042 w 1489676"/>
              <a:gd name="connsiteY0-26" fmla="*/ 107343 h 472653"/>
              <a:gd name="connsiteX1-27" fmla="*/ 0 w 1489676"/>
              <a:gd name="connsiteY1-28" fmla="*/ 472653 h 472653"/>
              <a:gd name="connsiteX2-29" fmla="*/ 0 w 1489676"/>
              <a:gd name="connsiteY2-30" fmla="*/ 107343 h 472653"/>
              <a:gd name="connsiteX3-31" fmla="*/ 1489676 w 1489676"/>
              <a:gd name="connsiteY3-32" fmla="*/ 0 h 472653"/>
              <a:gd name="connsiteX0-33" fmla="*/ 0 w 1489676"/>
              <a:gd name="connsiteY0-34" fmla="*/ 472653 h 472653"/>
              <a:gd name="connsiteX1-35" fmla="*/ 0 w 1489676"/>
              <a:gd name="connsiteY1-36" fmla="*/ 107343 h 472653"/>
              <a:gd name="connsiteX2-37" fmla="*/ 1489676 w 1489676"/>
              <a:gd name="connsiteY2-38" fmla="*/ 0 h 472653"/>
              <a:gd name="connsiteX0-39" fmla="*/ 0 w 1489676"/>
              <a:gd name="connsiteY0-40" fmla="*/ 365310 h 365310"/>
              <a:gd name="connsiteX1-41" fmla="*/ 0 w 1489676"/>
              <a:gd name="connsiteY1-42" fmla="*/ 0 h 365310"/>
              <a:gd name="connsiteX2-43" fmla="*/ 1489676 w 1489676"/>
              <a:gd name="connsiteY2-44" fmla="*/ 11927 h 365310"/>
              <a:gd name="connsiteX0-45" fmla="*/ 0 w 1489676"/>
              <a:gd name="connsiteY0-46" fmla="*/ 368969 h 368969"/>
              <a:gd name="connsiteX1-47" fmla="*/ 0 w 1489676"/>
              <a:gd name="connsiteY1-48" fmla="*/ 3659 h 368969"/>
              <a:gd name="connsiteX2-49" fmla="*/ 1489676 w 1489676"/>
              <a:gd name="connsiteY2-50" fmla="*/ 0 h 368969"/>
              <a:gd name="connsiteX0-51" fmla="*/ 0 w 1687103"/>
              <a:gd name="connsiteY0-52" fmla="*/ 259865 h 259865"/>
              <a:gd name="connsiteX1-53" fmla="*/ 197427 w 1687103"/>
              <a:gd name="connsiteY1-54" fmla="*/ 3659 h 259865"/>
              <a:gd name="connsiteX2-55" fmla="*/ 1687103 w 1687103"/>
              <a:gd name="connsiteY2-56" fmla="*/ 0 h 259865"/>
              <a:gd name="connsiteX0-57" fmla="*/ 0 w 1110407"/>
              <a:gd name="connsiteY0-58" fmla="*/ 259865 h 259865"/>
              <a:gd name="connsiteX1-59" fmla="*/ 197427 w 1110407"/>
              <a:gd name="connsiteY1-60" fmla="*/ 3659 h 259865"/>
              <a:gd name="connsiteX2-61" fmla="*/ 1110407 w 1110407"/>
              <a:gd name="connsiteY2-62" fmla="*/ 0 h 259865"/>
              <a:gd name="connsiteX0-63" fmla="*/ 0 w 1040877"/>
              <a:gd name="connsiteY0-64" fmla="*/ 10266 h 10266"/>
              <a:gd name="connsiteX1-65" fmla="*/ 127897 w 1040877"/>
              <a:gd name="connsiteY1-66" fmla="*/ 3659 h 10266"/>
              <a:gd name="connsiteX2-67" fmla="*/ 1040877 w 1040877"/>
              <a:gd name="connsiteY2-68" fmla="*/ 0 h 10266"/>
            </a:gdLst>
            <a:ahLst/>
            <a:cxnLst>
              <a:cxn ang="0">
                <a:pos x="connsiteX0-1" y="connsiteY0-2"/>
              </a:cxn>
              <a:cxn ang="0">
                <a:pos x="connsiteX1-3" y="connsiteY1-4"/>
              </a:cxn>
              <a:cxn ang="0">
                <a:pos x="connsiteX2-5" y="connsiteY2-6"/>
              </a:cxn>
            </a:cxnLst>
            <a:rect l="l" t="t" r="r" b="b"/>
            <a:pathLst>
              <a:path w="1040877" h="10266">
                <a:moveTo>
                  <a:pt x="0" y="10266"/>
                </a:moveTo>
                <a:lnTo>
                  <a:pt x="127897" y="3659"/>
                </a:lnTo>
                <a:lnTo>
                  <a:pt x="1040877" y="0"/>
                </a:lnTo>
              </a:path>
            </a:pathLst>
          </a:custGeom>
          <a:noFill/>
          <a:ln w="12700">
            <a:solidFill>
              <a:schemeClr val="tx2"/>
            </a:solidFill>
            <a:prstDash val="dash"/>
          </a:ln>
          <a:effectLst>
            <a:outerShdw blurRad="1270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97" name="剪去对角的矩形 196"/>
          <p:cNvSpPr/>
          <p:nvPr/>
        </p:nvSpPr>
        <p:spPr>
          <a:xfrm>
            <a:off x="9124276" y="5045544"/>
            <a:ext cx="2359862" cy="491164"/>
          </a:xfrm>
          <a:prstGeom prst="snip2DiagRect">
            <a:avLst/>
          </a:prstGeom>
          <a:gradFill flip="none" rotWithShape="1">
            <a:gsLst>
              <a:gs pos="0">
                <a:schemeClr val="accent5">
                  <a:lumMod val="60000"/>
                  <a:lumOff val="40000"/>
                </a:schemeClr>
              </a:gs>
              <a:gs pos="99000">
                <a:schemeClr val="accent5"/>
              </a:gs>
            </a:gsLst>
            <a:lin ang="0" scaled="1"/>
            <a:tileRect/>
          </a:gradFill>
          <a:ln>
            <a:noFill/>
          </a:ln>
          <a:effectLst>
            <a:outerShdw blurRad="330200" dist="88900" dir="5400000" algn="t" rotWithShape="0">
              <a:schemeClr val="accent5">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99" name="矩形 235"/>
          <p:cNvSpPr/>
          <p:nvPr/>
        </p:nvSpPr>
        <p:spPr>
          <a:xfrm>
            <a:off x="8234391" y="3517622"/>
            <a:ext cx="3130498" cy="21638"/>
          </a:xfrm>
          <a:custGeom>
            <a:avLst/>
            <a:gdLst>
              <a:gd name="connsiteX0" fmla="*/ 0 w 1430042"/>
              <a:gd name="connsiteY0" fmla="*/ 0 h 365310"/>
              <a:gd name="connsiteX1" fmla="*/ 1430042 w 1430042"/>
              <a:gd name="connsiteY1" fmla="*/ 0 h 365310"/>
              <a:gd name="connsiteX2" fmla="*/ 1430042 w 1430042"/>
              <a:gd name="connsiteY2" fmla="*/ 365310 h 365310"/>
              <a:gd name="connsiteX3" fmla="*/ 0 w 1430042"/>
              <a:gd name="connsiteY3" fmla="*/ 365310 h 365310"/>
              <a:gd name="connsiteX4" fmla="*/ 0 w 1430042"/>
              <a:gd name="connsiteY4" fmla="*/ 0 h 365310"/>
              <a:gd name="connsiteX0-1" fmla="*/ 0 w 1430042"/>
              <a:gd name="connsiteY0-2" fmla="*/ 0 h 365310"/>
              <a:gd name="connsiteX1-3" fmla="*/ 1430042 w 1430042"/>
              <a:gd name="connsiteY1-4" fmla="*/ 0 h 365310"/>
              <a:gd name="connsiteX2-5" fmla="*/ 0 w 1430042"/>
              <a:gd name="connsiteY2-6" fmla="*/ 365310 h 365310"/>
              <a:gd name="connsiteX3-7" fmla="*/ 0 w 1430042"/>
              <a:gd name="connsiteY3-8" fmla="*/ 0 h 365310"/>
              <a:gd name="connsiteX0-9" fmla="*/ 1430042 w 1521482"/>
              <a:gd name="connsiteY0-10" fmla="*/ 0 h 365310"/>
              <a:gd name="connsiteX1-11" fmla="*/ 0 w 1521482"/>
              <a:gd name="connsiteY1-12" fmla="*/ 365310 h 365310"/>
              <a:gd name="connsiteX2-13" fmla="*/ 0 w 1521482"/>
              <a:gd name="connsiteY2-14" fmla="*/ 0 h 365310"/>
              <a:gd name="connsiteX3-15" fmla="*/ 1521482 w 1521482"/>
              <a:gd name="connsiteY3-16" fmla="*/ 91440 h 365310"/>
              <a:gd name="connsiteX0-17" fmla="*/ 1430042 w 1430042"/>
              <a:gd name="connsiteY0-18" fmla="*/ 0 h 365310"/>
              <a:gd name="connsiteX1-19" fmla="*/ 0 w 1430042"/>
              <a:gd name="connsiteY1-20" fmla="*/ 365310 h 365310"/>
              <a:gd name="connsiteX2-21" fmla="*/ 0 w 1430042"/>
              <a:gd name="connsiteY2-22" fmla="*/ 0 h 365310"/>
              <a:gd name="connsiteX3-23" fmla="*/ 1410163 w 1430042"/>
              <a:gd name="connsiteY3-24" fmla="*/ 3976 h 365310"/>
              <a:gd name="connsiteX0-25" fmla="*/ 1430042 w 1489676"/>
              <a:gd name="connsiteY0-26" fmla="*/ 107343 h 472653"/>
              <a:gd name="connsiteX1-27" fmla="*/ 0 w 1489676"/>
              <a:gd name="connsiteY1-28" fmla="*/ 472653 h 472653"/>
              <a:gd name="connsiteX2-29" fmla="*/ 0 w 1489676"/>
              <a:gd name="connsiteY2-30" fmla="*/ 107343 h 472653"/>
              <a:gd name="connsiteX3-31" fmla="*/ 1489676 w 1489676"/>
              <a:gd name="connsiteY3-32" fmla="*/ 0 h 472653"/>
              <a:gd name="connsiteX0-33" fmla="*/ 0 w 1489676"/>
              <a:gd name="connsiteY0-34" fmla="*/ 472653 h 472653"/>
              <a:gd name="connsiteX1-35" fmla="*/ 0 w 1489676"/>
              <a:gd name="connsiteY1-36" fmla="*/ 107343 h 472653"/>
              <a:gd name="connsiteX2-37" fmla="*/ 1489676 w 1489676"/>
              <a:gd name="connsiteY2-38" fmla="*/ 0 h 472653"/>
              <a:gd name="connsiteX0-39" fmla="*/ 0 w 1489676"/>
              <a:gd name="connsiteY0-40" fmla="*/ 365310 h 365310"/>
              <a:gd name="connsiteX1-41" fmla="*/ 0 w 1489676"/>
              <a:gd name="connsiteY1-42" fmla="*/ 0 h 365310"/>
              <a:gd name="connsiteX2-43" fmla="*/ 1489676 w 1489676"/>
              <a:gd name="connsiteY2-44" fmla="*/ 11927 h 365310"/>
              <a:gd name="connsiteX0-45" fmla="*/ 0 w 1489676"/>
              <a:gd name="connsiteY0-46" fmla="*/ 368969 h 368969"/>
              <a:gd name="connsiteX1-47" fmla="*/ 0 w 1489676"/>
              <a:gd name="connsiteY1-48" fmla="*/ 3659 h 368969"/>
              <a:gd name="connsiteX2-49" fmla="*/ 1489676 w 1489676"/>
              <a:gd name="connsiteY2-50" fmla="*/ 0 h 368969"/>
              <a:gd name="connsiteX0-51" fmla="*/ 0 w 1687103"/>
              <a:gd name="connsiteY0-52" fmla="*/ 259865 h 259865"/>
              <a:gd name="connsiteX1-53" fmla="*/ 197427 w 1687103"/>
              <a:gd name="connsiteY1-54" fmla="*/ 3659 h 259865"/>
              <a:gd name="connsiteX2-55" fmla="*/ 1687103 w 1687103"/>
              <a:gd name="connsiteY2-56" fmla="*/ 0 h 259865"/>
              <a:gd name="connsiteX0-57" fmla="*/ 0 w 1110407"/>
              <a:gd name="connsiteY0-58" fmla="*/ 259865 h 259865"/>
              <a:gd name="connsiteX1-59" fmla="*/ 197427 w 1110407"/>
              <a:gd name="connsiteY1-60" fmla="*/ 3659 h 259865"/>
              <a:gd name="connsiteX2-61" fmla="*/ 1110407 w 1110407"/>
              <a:gd name="connsiteY2-62" fmla="*/ 0 h 259865"/>
              <a:gd name="connsiteX0-63" fmla="*/ 0 w 912980"/>
              <a:gd name="connsiteY0-64" fmla="*/ 3659 h 3659"/>
              <a:gd name="connsiteX1-65" fmla="*/ 912980 w 912980"/>
              <a:gd name="connsiteY1-66" fmla="*/ 0 h 3659"/>
              <a:gd name="connsiteX0-67" fmla="*/ 0 w 9509"/>
              <a:gd name="connsiteY0-68" fmla="*/ 27802 h 27802"/>
              <a:gd name="connsiteX1-69" fmla="*/ 9509 w 9509"/>
              <a:gd name="connsiteY1-70" fmla="*/ 0 h 27802"/>
            </a:gdLst>
            <a:ahLst/>
            <a:cxnLst>
              <a:cxn ang="0">
                <a:pos x="connsiteX0-1" y="connsiteY0-2"/>
              </a:cxn>
              <a:cxn ang="0">
                <a:pos x="connsiteX1-3" y="connsiteY1-4"/>
              </a:cxn>
            </a:cxnLst>
            <a:rect l="l" t="t" r="r" b="b"/>
            <a:pathLst>
              <a:path w="9509" h="27802">
                <a:moveTo>
                  <a:pt x="0" y="27802"/>
                </a:moveTo>
                <a:lnTo>
                  <a:pt x="9509" y="0"/>
                </a:lnTo>
              </a:path>
            </a:pathLst>
          </a:custGeom>
          <a:noFill/>
          <a:ln w="12700">
            <a:solidFill>
              <a:schemeClr val="tx2"/>
            </a:solidFill>
            <a:prstDash val="dash"/>
          </a:ln>
          <a:effectLst>
            <a:outerShdw blurRad="1270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00" name="剪去对角的矩形 199"/>
          <p:cNvSpPr/>
          <p:nvPr/>
        </p:nvSpPr>
        <p:spPr>
          <a:xfrm>
            <a:off x="9124276" y="3041744"/>
            <a:ext cx="2359862" cy="491164"/>
          </a:xfrm>
          <a:prstGeom prst="snip2DiagRect">
            <a:avLst/>
          </a:prstGeom>
          <a:gradFill flip="none" rotWithShape="1">
            <a:gsLst>
              <a:gs pos="0">
                <a:schemeClr val="accent1">
                  <a:lumMod val="60000"/>
                  <a:lumOff val="40000"/>
                </a:schemeClr>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36" name="文本框 135"/>
          <p:cNvSpPr txBox="1"/>
          <p:nvPr/>
        </p:nvSpPr>
        <p:spPr>
          <a:xfrm>
            <a:off x="9484912" y="1256017"/>
            <a:ext cx="1638590"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STEP</a:t>
            </a:r>
            <a:r>
              <a:rPr kumimoji="1" lang="en-US" altLang="zh-CN" sz="1200" b="1" dirty="0">
                <a:solidFill>
                  <a:srgbClr val="FFFFFF"/>
                </a:solidFill>
                <a:latin typeface="微软雅黑" panose="020B0503020204020204" charset="-122"/>
                <a:ea typeface="微软雅黑" panose="020B0503020204020204" charset="-122"/>
                <a:cs typeface="微软雅黑" panose="020B0503020204020204" charset="-122"/>
              </a:rPr>
              <a:t>2:</a:t>
            </a:r>
            <a:r>
              <a:rPr kumimoji="1" lang="zh-CN" altLang="en-US" sz="1200" b="1" dirty="0">
                <a:solidFill>
                  <a:srgbClr val="FFFFFF"/>
                </a:solidFill>
                <a:latin typeface="微软雅黑" panose="020B0503020204020204" charset="-122"/>
                <a:ea typeface="微软雅黑" panose="020B0503020204020204" charset="-122"/>
                <a:cs typeface="微软雅黑" panose="020B0503020204020204" charset="-122"/>
              </a:rPr>
              <a:t>进行市场细分</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7" name="文本框 136"/>
          <p:cNvSpPr txBox="1"/>
          <p:nvPr/>
        </p:nvSpPr>
        <p:spPr>
          <a:xfrm>
            <a:off x="9484912" y="3138113"/>
            <a:ext cx="1638590"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STEP</a:t>
            </a:r>
            <a:r>
              <a:rPr kumimoji="1" lang="en-US" altLang="zh-CN" sz="1200" b="1" dirty="0">
                <a:solidFill>
                  <a:srgbClr val="FFFFFF"/>
                </a:solidFill>
                <a:latin typeface="微软雅黑" panose="020B0503020204020204" charset="-122"/>
                <a:ea typeface="微软雅黑" panose="020B0503020204020204" charset="-122"/>
                <a:cs typeface="微软雅黑" panose="020B0503020204020204" charset="-122"/>
              </a:rPr>
              <a:t>3:</a:t>
            </a:r>
            <a:r>
              <a:rPr kumimoji="1" lang="zh-CN" altLang="en-US" sz="1200" b="1" dirty="0">
                <a:solidFill>
                  <a:srgbClr val="FFFFFF"/>
                </a:solidFill>
                <a:latin typeface="微软雅黑" panose="020B0503020204020204" charset="-122"/>
                <a:ea typeface="微软雅黑" panose="020B0503020204020204" charset="-122"/>
                <a:cs typeface="微软雅黑" panose="020B0503020204020204" charset="-122"/>
              </a:rPr>
              <a:t>进行组合分析</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8" name="文本框 137"/>
          <p:cNvSpPr txBox="1"/>
          <p:nvPr/>
        </p:nvSpPr>
        <p:spPr>
          <a:xfrm>
            <a:off x="9254083" y="5151366"/>
            <a:ext cx="2100254"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STEP</a:t>
            </a:r>
            <a:r>
              <a:rPr kumimoji="1" lang="en-US" altLang="zh-CN" sz="1200" b="1" dirty="0">
                <a:solidFill>
                  <a:srgbClr val="FFFFFF"/>
                </a:solidFill>
                <a:latin typeface="微软雅黑" panose="020B0503020204020204" charset="-122"/>
                <a:ea typeface="微软雅黑" panose="020B0503020204020204" charset="-122"/>
                <a:cs typeface="微软雅黑" panose="020B0503020204020204" charset="-122"/>
              </a:rPr>
              <a:t>4:</a:t>
            </a:r>
            <a:r>
              <a:rPr kumimoji="1" lang="zh-CN" altLang="en-US" sz="1200" b="1" dirty="0">
                <a:solidFill>
                  <a:srgbClr val="FFFFFF"/>
                </a:solidFill>
                <a:latin typeface="微软雅黑" panose="020B0503020204020204" charset="-122"/>
                <a:ea typeface="微软雅黑" panose="020B0503020204020204" charset="-122"/>
                <a:cs typeface="微软雅黑" panose="020B0503020204020204" charset="-122"/>
              </a:rPr>
              <a:t>制定业务战略和计划</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3" name="矩形 235"/>
          <p:cNvSpPr/>
          <p:nvPr/>
        </p:nvSpPr>
        <p:spPr>
          <a:xfrm flipH="1">
            <a:off x="833841" y="1637017"/>
            <a:ext cx="4004051" cy="552779"/>
          </a:xfrm>
          <a:custGeom>
            <a:avLst/>
            <a:gdLst>
              <a:gd name="connsiteX0" fmla="*/ 0 w 1430042"/>
              <a:gd name="connsiteY0" fmla="*/ 0 h 365310"/>
              <a:gd name="connsiteX1" fmla="*/ 1430042 w 1430042"/>
              <a:gd name="connsiteY1" fmla="*/ 0 h 365310"/>
              <a:gd name="connsiteX2" fmla="*/ 1430042 w 1430042"/>
              <a:gd name="connsiteY2" fmla="*/ 365310 h 365310"/>
              <a:gd name="connsiteX3" fmla="*/ 0 w 1430042"/>
              <a:gd name="connsiteY3" fmla="*/ 365310 h 365310"/>
              <a:gd name="connsiteX4" fmla="*/ 0 w 1430042"/>
              <a:gd name="connsiteY4" fmla="*/ 0 h 365310"/>
              <a:gd name="connsiteX0-1" fmla="*/ 0 w 1430042"/>
              <a:gd name="connsiteY0-2" fmla="*/ 0 h 365310"/>
              <a:gd name="connsiteX1-3" fmla="*/ 1430042 w 1430042"/>
              <a:gd name="connsiteY1-4" fmla="*/ 0 h 365310"/>
              <a:gd name="connsiteX2-5" fmla="*/ 0 w 1430042"/>
              <a:gd name="connsiteY2-6" fmla="*/ 365310 h 365310"/>
              <a:gd name="connsiteX3-7" fmla="*/ 0 w 1430042"/>
              <a:gd name="connsiteY3-8" fmla="*/ 0 h 365310"/>
              <a:gd name="connsiteX0-9" fmla="*/ 1430042 w 1521482"/>
              <a:gd name="connsiteY0-10" fmla="*/ 0 h 365310"/>
              <a:gd name="connsiteX1-11" fmla="*/ 0 w 1521482"/>
              <a:gd name="connsiteY1-12" fmla="*/ 365310 h 365310"/>
              <a:gd name="connsiteX2-13" fmla="*/ 0 w 1521482"/>
              <a:gd name="connsiteY2-14" fmla="*/ 0 h 365310"/>
              <a:gd name="connsiteX3-15" fmla="*/ 1521482 w 1521482"/>
              <a:gd name="connsiteY3-16" fmla="*/ 91440 h 365310"/>
              <a:gd name="connsiteX0-17" fmla="*/ 1430042 w 1430042"/>
              <a:gd name="connsiteY0-18" fmla="*/ 0 h 365310"/>
              <a:gd name="connsiteX1-19" fmla="*/ 0 w 1430042"/>
              <a:gd name="connsiteY1-20" fmla="*/ 365310 h 365310"/>
              <a:gd name="connsiteX2-21" fmla="*/ 0 w 1430042"/>
              <a:gd name="connsiteY2-22" fmla="*/ 0 h 365310"/>
              <a:gd name="connsiteX3-23" fmla="*/ 1410163 w 1430042"/>
              <a:gd name="connsiteY3-24" fmla="*/ 3976 h 365310"/>
              <a:gd name="connsiteX0-25" fmla="*/ 1430042 w 1489676"/>
              <a:gd name="connsiteY0-26" fmla="*/ 107343 h 472653"/>
              <a:gd name="connsiteX1-27" fmla="*/ 0 w 1489676"/>
              <a:gd name="connsiteY1-28" fmla="*/ 472653 h 472653"/>
              <a:gd name="connsiteX2-29" fmla="*/ 0 w 1489676"/>
              <a:gd name="connsiteY2-30" fmla="*/ 107343 h 472653"/>
              <a:gd name="connsiteX3-31" fmla="*/ 1489676 w 1489676"/>
              <a:gd name="connsiteY3-32" fmla="*/ 0 h 472653"/>
              <a:gd name="connsiteX0-33" fmla="*/ 0 w 1489676"/>
              <a:gd name="connsiteY0-34" fmla="*/ 472653 h 472653"/>
              <a:gd name="connsiteX1-35" fmla="*/ 0 w 1489676"/>
              <a:gd name="connsiteY1-36" fmla="*/ 107343 h 472653"/>
              <a:gd name="connsiteX2-37" fmla="*/ 1489676 w 1489676"/>
              <a:gd name="connsiteY2-38" fmla="*/ 0 h 472653"/>
              <a:gd name="connsiteX0-39" fmla="*/ 0 w 1489676"/>
              <a:gd name="connsiteY0-40" fmla="*/ 365310 h 365310"/>
              <a:gd name="connsiteX1-41" fmla="*/ 0 w 1489676"/>
              <a:gd name="connsiteY1-42" fmla="*/ 0 h 365310"/>
              <a:gd name="connsiteX2-43" fmla="*/ 1489676 w 1489676"/>
              <a:gd name="connsiteY2-44" fmla="*/ 11927 h 365310"/>
              <a:gd name="connsiteX0-45" fmla="*/ 0 w 1489676"/>
              <a:gd name="connsiteY0-46" fmla="*/ 368969 h 368969"/>
              <a:gd name="connsiteX1-47" fmla="*/ 0 w 1489676"/>
              <a:gd name="connsiteY1-48" fmla="*/ 3659 h 368969"/>
              <a:gd name="connsiteX2-49" fmla="*/ 1489676 w 1489676"/>
              <a:gd name="connsiteY2-50" fmla="*/ 0 h 368969"/>
              <a:gd name="connsiteX0-51" fmla="*/ 0 w 1687103"/>
              <a:gd name="connsiteY0-52" fmla="*/ 259865 h 259865"/>
              <a:gd name="connsiteX1-53" fmla="*/ 197427 w 1687103"/>
              <a:gd name="connsiteY1-54" fmla="*/ 3659 h 259865"/>
              <a:gd name="connsiteX2-55" fmla="*/ 1687103 w 1687103"/>
              <a:gd name="connsiteY2-56" fmla="*/ 0 h 259865"/>
              <a:gd name="connsiteX0-57" fmla="*/ 0 w 1110407"/>
              <a:gd name="connsiteY0-58" fmla="*/ 259865 h 259865"/>
              <a:gd name="connsiteX1-59" fmla="*/ 197427 w 1110407"/>
              <a:gd name="connsiteY1-60" fmla="*/ 3659 h 259865"/>
              <a:gd name="connsiteX2-61" fmla="*/ 1110407 w 1110407"/>
              <a:gd name="connsiteY2-62" fmla="*/ 0 h 259865"/>
            </a:gdLst>
            <a:ahLst/>
            <a:cxnLst>
              <a:cxn ang="0">
                <a:pos x="connsiteX0-1" y="connsiteY0-2"/>
              </a:cxn>
              <a:cxn ang="0">
                <a:pos x="connsiteX1-3" y="connsiteY1-4"/>
              </a:cxn>
              <a:cxn ang="0">
                <a:pos x="connsiteX2-5" y="connsiteY2-6"/>
              </a:cxn>
            </a:cxnLst>
            <a:rect l="l" t="t" r="r" b="b"/>
            <a:pathLst>
              <a:path w="1110407" h="259865">
                <a:moveTo>
                  <a:pt x="0" y="259865"/>
                </a:moveTo>
                <a:lnTo>
                  <a:pt x="197427" y="3659"/>
                </a:lnTo>
                <a:lnTo>
                  <a:pt x="1110407" y="0"/>
                </a:lnTo>
              </a:path>
            </a:pathLst>
          </a:custGeom>
          <a:noFill/>
          <a:ln w="12700">
            <a:solidFill>
              <a:schemeClr val="tx2"/>
            </a:solidFill>
            <a:prstDash val="dash"/>
          </a:ln>
          <a:effectLst>
            <a:outerShdw blurRad="1270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54" name="剪去对角的矩形 153"/>
          <p:cNvSpPr/>
          <p:nvPr/>
        </p:nvSpPr>
        <p:spPr>
          <a:xfrm flipH="1" flipV="1">
            <a:off x="707862" y="1161140"/>
            <a:ext cx="2359862" cy="491164"/>
          </a:xfrm>
          <a:prstGeom prst="snip2DiagRect">
            <a:avLst/>
          </a:prstGeom>
          <a:gradFill flip="none" rotWithShape="1">
            <a:gsLst>
              <a:gs pos="0">
                <a:schemeClr val="accent5">
                  <a:lumMod val="60000"/>
                  <a:lumOff val="40000"/>
                </a:schemeClr>
              </a:gs>
              <a:gs pos="99000">
                <a:schemeClr val="accent5"/>
              </a:gs>
            </a:gsLst>
            <a:lin ang="0" scaled="1"/>
            <a:tileRect/>
          </a:gradFill>
          <a:ln>
            <a:noFill/>
          </a:ln>
          <a:effectLst>
            <a:outerShdw blurRad="330200" dist="88900" dir="5400000" algn="t" rotWithShape="0">
              <a:schemeClr val="accent5">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defTabSz="457200"/>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79" name="矩形 235"/>
          <p:cNvSpPr/>
          <p:nvPr/>
        </p:nvSpPr>
        <p:spPr>
          <a:xfrm flipH="1" flipV="1">
            <a:off x="833841" y="5509031"/>
            <a:ext cx="3753331" cy="21838"/>
          </a:xfrm>
          <a:custGeom>
            <a:avLst/>
            <a:gdLst>
              <a:gd name="connsiteX0" fmla="*/ 0 w 1430042"/>
              <a:gd name="connsiteY0" fmla="*/ 0 h 365310"/>
              <a:gd name="connsiteX1" fmla="*/ 1430042 w 1430042"/>
              <a:gd name="connsiteY1" fmla="*/ 0 h 365310"/>
              <a:gd name="connsiteX2" fmla="*/ 1430042 w 1430042"/>
              <a:gd name="connsiteY2" fmla="*/ 365310 h 365310"/>
              <a:gd name="connsiteX3" fmla="*/ 0 w 1430042"/>
              <a:gd name="connsiteY3" fmla="*/ 365310 h 365310"/>
              <a:gd name="connsiteX4" fmla="*/ 0 w 1430042"/>
              <a:gd name="connsiteY4" fmla="*/ 0 h 365310"/>
              <a:gd name="connsiteX0-1" fmla="*/ 0 w 1430042"/>
              <a:gd name="connsiteY0-2" fmla="*/ 0 h 365310"/>
              <a:gd name="connsiteX1-3" fmla="*/ 1430042 w 1430042"/>
              <a:gd name="connsiteY1-4" fmla="*/ 0 h 365310"/>
              <a:gd name="connsiteX2-5" fmla="*/ 0 w 1430042"/>
              <a:gd name="connsiteY2-6" fmla="*/ 365310 h 365310"/>
              <a:gd name="connsiteX3-7" fmla="*/ 0 w 1430042"/>
              <a:gd name="connsiteY3-8" fmla="*/ 0 h 365310"/>
              <a:gd name="connsiteX0-9" fmla="*/ 1430042 w 1521482"/>
              <a:gd name="connsiteY0-10" fmla="*/ 0 h 365310"/>
              <a:gd name="connsiteX1-11" fmla="*/ 0 w 1521482"/>
              <a:gd name="connsiteY1-12" fmla="*/ 365310 h 365310"/>
              <a:gd name="connsiteX2-13" fmla="*/ 0 w 1521482"/>
              <a:gd name="connsiteY2-14" fmla="*/ 0 h 365310"/>
              <a:gd name="connsiteX3-15" fmla="*/ 1521482 w 1521482"/>
              <a:gd name="connsiteY3-16" fmla="*/ 91440 h 365310"/>
              <a:gd name="connsiteX0-17" fmla="*/ 1430042 w 1430042"/>
              <a:gd name="connsiteY0-18" fmla="*/ 0 h 365310"/>
              <a:gd name="connsiteX1-19" fmla="*/ 0 w 1430042"/>
              <a:gd name="connsiteY1-20" fmla="*/ 365310 h 365310"/>
              <a:gd name="connsiteX2-21" fmla="*/ 0 w 1430042"/>
              <a:gd name="connsiteY2-22" fmla="*/ 0 h 365310"/>
              <a:gd name="connsiteX3-23" fmla="*/ 1410163 w 1430042"/>
              <a:gd name="connsiteY3-24" fmla="*/ 3976 h 365310"/>
              <a:gd name="connsiteX0-25" fmla="*/ 1430042 w 1489676"/>
              <a:gd name="connsiteY0-26" fmla="*/ 107343 h 472653"/>
              <a:gd name="connsiteX1-27" fmla="*/ 0 w 1489676"/>
              <a:gd name="connsiteY1-28" fmla="*/ 472653 h 472653"/>
              <a:gd name="connsiteX2-29" fmla="*/ 0 w 1489676"/>
              <a:gd name="connsiteY2-30" fmla="*/ 107343 h 472653"/>
              <a:gd name="connsiteX3-31" fmla="*/ 1489676 w 1489676"/>
              <a:gd name="connsiteY3-32" fmla="*/ 0 h 472653"/>
              <a:gd name="connsiteX0-33" fmla="*/ 0 w 1489676"/>
              <a:gd name="connsiteY0-34" fmla="*/ 472653 h 472653"/>
              <a:gd name="connsiteX1-35" fmla="*/ 0 w 1489676"/>
              <a:gd name="connsiteY1-36" fmla="*/ 107343 h 472653"/>
              <a:gd name="connsiteX2-37" fmla="*/ 1489676 w 1489676"/>
              <a:gd name="connsiteY2-38" fmla="*/ 0 h 472653"/>
              <a:gd name="connsiteX0-39" fmla="*/ 0 w 1489676"/>
              <a:gd name="connsiteY0-40" fmla="*/ 365310 h 365310"/>
              <a:gd name="connsiteX1-41" fmla="*/ 0 w 1489676"/>
              <a:gd name="connsiteY1-42" fmla="*/ 0 h 365310"/>
              <a:gd name="connsiteX2-43" fmla="*/ 1489676 w 1489676"/>
              <a:gd name="connsiteY2-44" fmla="*/ 11927 h 365310"/>
              <a:gd name="connsiteX0-45" fmla="*/ 0 w 1489676"/>
              <a:gd name="connsiteY0-46" fmla="*/ 368969 h 368969"/>
              <a:gd name="connsiteX1-47" fmla="*/ 0 w 1489676"/>
              <a:gd name="connsiteY1-48" fmla="*/ 3659 h 368969"/>
              <a:gd name="connsiteX2-49" fmla="*/ 1489676 w 1489676"/>
              <a:gd name="connsiteY2-50" fmla="*/ 0 h 368969"/>
              <a:gd name="connsiteX0-51" fmla="*/ 0 w 1687103"/>
              <a:gd name="connsiteY0-52" fmla="*/ 259865 h 259865"/>
              <a:gd name="connsiteX1-53" fmla="*/ 197427 w 1687103"/>
              <a:gd name="connsiteY1-54" fmla="*/ 3659 h 259865"/>
              <a:gd name="connsiteX2-55" fmla="*/ 1687103 w 1687103"/>
              <a:gd name="connsiteY2-56" fmla="*/ 0 h 259865"/>
              <a:gd name="connsiteX0-57" fmla="*/ 0 w 1110407"/>
              <a:gd name="connsiteY0-58" fmla="*/ 259865 h 259865"/>
              <a:gd name="connsiteX1-59" fmla="*/ 197427 w 1110407"/>
              <a:gd name="connsiteY1-60" fmla="*/ 3659 h 259865"/>
              <a:gd name="connsiteX2-61" fmla="*/ 1110407 w 1110407"/>
              <a:gd name="connsiteY2-62" fmla="*/ 0 h 259865"/>
              <a:gd name="connsiteX0-63" fmla="*/ 0 w 1040877"/>
              <a:gd name="connsiteY0-64" fmla="*/ 10266 h 10266"/>
              <a:gd name="connsiteX1-65" fmla="*/ 127897 w 1040877"/>
              <a:gd name="connsiteY1-66" fmla="*/ 3659 h 10266"/>
              <a:gd name="connsiteX2-67" fmla="*/ 1040877 w 1040877"/>
              <a:gd name="connsiteY2-68" fmla="*/ 0 h 10266"/>
            </a:gdLst>
            <a:ahLst/>
            <a:cxnLst>
              <a:cxn ang="0">
                <a:pos x="connsiteX0-1" y="connsiteY0-2"/>
              </a:cxn>
              <a:cxn ang="0">
                <a:pos x="connsiteX1-3" y="connsiteY1-4"/>
              </a:cxn>
              <a:cxn ang="0">
                <a:pos x="connsiteX2-5" y="connsiteY2-6"/>
              </a:cxn>
            </a:cxnLst>
            <a:rect l="l" t="t" r="r" b="b"/>
            <a:pathLst>
              <a:path w="1040877" h="10266">
                <a:moveTo>
                  <a:pt x="0" y="10266"/>
                </a:moveTo>
                <a:lnTo>
                  <a:pt x="127897" y="3659"/>
                </a:lnTo>
                <a:lnTo>
                  <a:pt x="1040877" y="0"/>
                </a:lnTo>
              </a:path>
            </a:pathLst>
          </a:custGeom>
          <a:noFill/>
          <a:ln w="12700">
            <a:solidFill>
              <a:schemeClr val="tx2"/>
            </a:solidFill>
            <a:prstDash val="dash"/>
          </a:ln>
          <a:effectLst>
            <a:outerShdw blurRad="1270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80" name="剪去对角的矩形 179"/>
          <p:cNvSpPr/>
          <p:nvPr/>
        </p:nvSpPr>
        <p:spPr>
          <a:xfrm>
            <a:off x="707862" y="5045544"/>
            <a:ext cx="2359862" cy="491164"/>
          </a:xfrm>
          <a:prstGeom prst="snip2DiagRect">
            <a:avLst/>
          </a:prstGeom>
          <a:gradFill flip="none" rotWithShape="1">
            <a:gsLst>
              <a:gs pos="0">
                <a:schemeClr val="accent5">
                  <a:lumMod val="60000"/>
                  <a:lumOff val="40000"/>
                </a:schemeClr>
              </a:gs>
              <a:gs pos="99000">
                <a:schemeClr val="accent5"/>
              </a:gs>
            </a:gsLst>
            <a:lin ang="0" scaled="1"/>
            <a:tileRect/>
          </a:gradFill>
          <a:ln>
            <a:noFill/>
          </a:ln>
          <a:effectLst>
            <a:outerShdw blurRad="330200" dist="88900" dir="5400000" algn="t" rotWithShape="0">
              <a:schemeClr val="accent5">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56" name="矩形 235"/>
          <p:cNvSpPr/>
          <p:nvPr/>
        </p:nvSpPr>
        <p:spPr>
          <a:xfrm flipH="1">
            <a:off x="820848" y="3517622"/>
            <a:ext cx="3130498" cy="21638"/>
          </a:xfrm>
          <a:custGeom>
            <a:avLst/>
            <a:gdLst>
              <a:gd name="connsiteX0" fmla="*/ 0 w 1430042"/>
              <a:gd name="connsiteY0" fmla="*/ 0 h 365310"/>
              <a:gd name="connsiteX1" fmla="*/ 1430042 w 1430042"/>
              <a:gd name="connsiteY1" fmla="*/ 0 h 365310"/>
              <a:gd name="connsiteX2" fmla="*/ 1430042 w 1430042"/>
              <a:gd name="connsiteY2" fmla="*/ 365310 h 365310"/>
              <a:gd name="connsiteX3" fmla="*/ 0 w 1430042"/>
              <a:gd name="connsiteY3" fmla="*/ 365310 h 365310"/>
              <a:gd name="connsiteX4" fmla="*/ 0 w 1430042"/>
              <a:gd name="connsiteY4" fmla="*/ 0 h 365310"/>
              <a:gd name="connsiteX0-1" fmla="*/ 0 w 1430042"/>
              <a:gd name="connsiteY0-2" fmla="*/ 0 h 365310"/>
              <a:gd name="connsiteX1-3" fmla="*/ 1430042 w 1430042"/>
              <a:gd name="connsiteY1-4" fmla="*/ 0 h 365310"/>
              <a:gd name="connsiteX2-5" fmla="*/ 0 w 1430042"/>
              <a:gd name="connsiteY2-6" fmla="*/ 365310 h 365310"/>
              <a:gd name="connsiteX3-7" fmla="*/ 0 w 1430042"/>
              <a:gd name="connsiteY3-8" fmla="*/ 0 h 365310"/>
              <a:gd name="connsiteX0-9" fmla="*/ 1430042 w 1521482"/>
              <a:gd name="connsiteY0-10" fmla="*/ 0 h 365310"/>
              <a:gd name="connsiteX1-11" fmla="*/ 0 w 1521482"/>
              <a:gd name="connsiteY1-12" fmla="*/ 365310 h 365310"/>
              <a:gd name="connsiteX2-13" fmla="*/ 0 w 1521482"/>
              <a:gd name="connsiteY2-14" fmla="*/ 0 h 365310"/>
              <a:gd name="connsiteX3-15" fmla="*/ 1521482 w 1521482"/>
              <a:gd name="connsiteY3-16" fmla="*/ 91440 h 365310"/>
              <a:gd name="connsiteX0-17" fmla="*/ 1430042 w 1430042"/>
              <a:gd name="connsiteY0-18" fmla="*/ 0 h 365310"/>
              <a:gd name="connsiteX1-19" fmla="*/ 0 w 1430042"/>
              <a:gd name="connsiteY1-20" fmla="*/ 365310 h 365310"/>
              <a:gd name="connsiteX2-21" fmla="*/ 0 w 1430042"/>
              <a:gd name="connsiteY2-22" fmla="*/ 0 h 365310"/>
              <a:gd name="connsiteX3-23" fmla="*/ 1410163 w 1430042"/>
              <a:gd name="connsiteY3-24" fmla="*/ 3976 h 365310"/>
              <a:gd name="connsiteX0-25" fmla="*/ 1430042 w 1489676"/>
              <a:gd name="connsiteY0-26" fmla="*/ 107343 h 472653"/>
              <a:gd name="connsiteX1-27" fmla="*/ 0 w 1489676"/>
              <a:gd name="connsiteY1-28" fmla="*/ 472653 h 472653"/>
              <a:gd name="connsiteX2-29" fmla="*/ 0 w 1489676"/>
              <a:gd name="connsiteY2-30" fmla="*/ 107343 h 472653"/>
              <a:gd name="connsiteX3-31" fmla="*/ 1489676 w 1489676"/>
              <a:gd name="connsiteY3-32" fmla="*/ 0 h 472653"/>
              <a:gd name="connsiteX0-33" fmla="*/ 0 w 1489676"/>
              <a:gd name="connsiteY0-34" fmla="*/ 472653 h 472653"/>
              <a:gd name="connsiteX1-35" fmla="*/ 0 w 1489676"/>
              <a:gd name="connsiteY1-36" fmla="*/ 107343 h 472653"/>
              <a:gd name="connsiteX2-37" fmla="*/ 1489676 w 1489676"/>
              <a:gd name="connsiteY2-38" fmla="*/ 0 h 472653"/>
              <a:gd name="connsiteX0-39" fmla="*/ 0 w 1489676"/>
              <a:gd name="connsiteY0-40" fmla="*/ 365310 h 365310"/>
              <a:gd name="connsiteX1-41" fmla="*/ 0 w 1489676"/>
              <a:gd name="connsiteY1-42" fmla="*/ 0 h 365310"/>
              <a:gd name="connsiteX2-43" fmla="*/ 1489676 w 1489676"/>
              <a:gd name="connsiteY2-44" fmla="*/ 11927 h 365310"/>
              <a:gd name="connsiteX0-45" fmla="*/ 0 w 1489676"/>
              <a:gd name="connsiteY0-46" fmla="*/ 368969 h 368969"/>
              <a:gd name="connsiteX1-47" fmla="*/ 0 w 1489676"/>
              <a:gd name="connsiteY1-48" fmla="*/ 3659 h 368969"/>
              <a:gd name="connsiteX2-49" fmla="*/ 1489676 w 1489676"/>
              <a:gd name="connsiteY2-50" fmla="*/ 0 h 368969"/>
              <a:gd name="connsiteX0-51" fmla="*/ 0 w 1687103"/>
              <a:gd name="connsiteY0-52" fmla="*/ 259865 h 259865"/>
              <a:gd name="connsiteX1-53" fmla="*/ 197427 w 1687103"/>
              <a:gd name="connsiteY1-54" fmla="*/ 3659 h 259865"/>
              <a:gd name="connsiteX2-55" fmla="*/ 1687103 w 1687103"/>
              <a:gd name="connsiteY2-56" fmla="*/ 0 h 259865"/>
              <a:gd name="connsiteX0-57" fmla="*/ 0 w 1110407"/>
              <a:gd name="connsiteY0-58" fmla="*/ 259865 h 259865"/>
              <a:gd name="connsiteX1-59" fmla="*/ 197427 w 1110407"/>
              <a:gd name="connsiteY1-60" fmla="*/ 3659 h 259865"/>
              <a:gd name="connsiteX2-61" fmla="*/ 1110407 w 1110407"/>
              <a:gd name="connsiteY2-62" fmla="*/ 0 h 259865"/>
              <a:gd name="connsiteX0-63" fmla="*/ 0 w 912980"/>
              <a:gd name="connsiteY0-64" fmla="*/ 3659 h 3659"/>
              <a:gd name="connsiteX1-65" fmla="*/ 912980 w 912980"/>
              <a:gd name="connsiteY1-66" fmla="*/ 0 h 3659"/>
              <a:gd name="connsiteX0-67" fmla="*/ 0 w 9509"/>
              <a:gd name="connsiteY0-68" fmla="*/ 27802 h 27802"/>
              <a:gd name="connsiteX1-69" fmla="*/ 9509 w 9509"/>
              <a:gd name="connsiteY1-70" fmla="*/ 0 h 27802"/>
            </a:gdLst>
            <a:ahLst/>
            <a:cxnLst>
              <a:cxn ang="0">
                <a:pos x="connsiteX0-1" y="connsiteY0-2"/>
              </a:cxn>
              <a:cxn ang="0">
                <a:pos x="connsiteX1-3" y="connsiteY1-4"/>
              </a:cxn>
            </a:cxnLst>
            <a:rect l="l" t="t" r="r" b="b"/>
            <a:pathLst>
              <a:path w="9509" h="27802">
                <a:moveTo>
                  <a:pt x="0" y="27802"/>
                </a:moveTo>
                <a:lnTo>
                  <a:pt x="9509" y="0"/>
                </a:lnTo>
              </a:path>
            </a:pathLst>
          </a:custGeom>
          <a:noFill/>
          <a:ln w="12700">
            <a:solidFill>
              <a:schemeClr val="tx2"/>
            </a:solidFill>
            <a:prstDash val="dash"/>
          </a:ln>
          <a:effectLst>
            <a:outerShdw blurRad="1270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57200"/>
            <a:endParaRPr kumimoji="1" lang="zh-CN" altLang="en-US" dirty="0">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157" name="剪去对角的矩形 156"/>
          <p:cNvSpPr/>
          <p:nvPr/>
        </p:nvSpPr>
        <p:spPr>
          <a:xfrm>
            <a:off x="707862" y="3041744"/>
            <a:ext cx="2359862" cy="491164"/>
          </a:xfrm>
          <a:prstGeom prst="snip2DiagRect">
            <a:avLst/>
          </a:prstGeom>
          <a:gradFill flip="none" rotWithShape="1">
            <a:gsLst>
              <a:gs pos="0">
                <a:schemeClr val="accent1">
                  <a:lumMod val="60000"/>
                  <a:lumOff val="40000"/>
                </a:schemeClr>
              </a:gs>
              <a:gs pos="99000">
                <a:schemeClr val="accent1"/>
              </a:gs>
            </a:gsLst>
            <a:lin ang="0" scaled="1"/>
            <a:tileRect/>
          </a:gradFill>
          <a:ln>
            <a:noFill/>
          </a:ln>
          <a:effectLst>
            <a:outerShdw blurRad="330200" dist="88900" dir="5400000" algn="t" rotWithShape="0">
              <a:schemeClr val="accent1">
                <a:alpha val="3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defTabSz="457200">
              <a:buClrTx/>
              <a:buSzTx/>
              <a:buFontTx/>
            </a:pP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58" name="文本框 157"/>
          <p:cNvSpPr txBox="1"/>
          <p:nvPr/>
        </p:nvSpPr>
        <p:spPr>
          <a:xfrm flipH="1">
            <a:off x="1222387" y="1270860"/>
            <a:ext cx="1330813"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STEP</a:t>
            </a:r>
            <a:r>
              <a:rPr kumimoji="1" lang="en-US" altLang="zh-CN" sz="1200" b="1" dirty="0">
                <a:solidFill>
                  <a:srgbClr val="FFFFFF"/>
                </a:solidFill>
                <a:latin typeface="微软雅黑" panose="020B0503020204020204" charset="-122"/>
                <a:ea typeface="微软雅黑" panose="020B0503020204020204" charset="-122"/>
                <a:cs typeface="微软雅黑" panose="020B0503020204020204" charset="-122"/>
              </a:rPr>
              <a:t>1:</a:t>
            </a:r>
            <a:r>
              <a:rPr kumimoji="1" lang="zh-CN" altLang="en-US" sz="1200" b="1" dirty="0">
                <a:solidFill>
                  <a:srgbClr val="FFFFFF"/>
                </a:solidFill>
                <a:latin typeface="微软雅黑" panose="020B0503020204020204" charset="-122"/>
                <a:ea typeface="微软雅黑" panose="020B0503020204020204" charset="-122"/>
                <a:cs typeface="微软雅黑" panose="020B0503020204020204" charset="-122"/>
              </a:rPr>
              <a:t>理解市场</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9" name="文本框 158"/>
          <p:cNvSpPr txBox="1"/>
          <p:nvPr/>
        </p:nvSpPr>
        <p:spPr>
          <a:xfrm flipH="1">
            <a:off x="1068499" y="3138113"/>
            <a:ext cx="1638590"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STEP6</a:t>
            </a:r>
            <a:r>
              <a:rPr kumimoji="1" lang="en-US" altLang="zh-CN" sz="1200" b="1" dirty="0">
                <a:solidFill>
                  <a:srgbClr val="FFFFFF"/>
                </a:solidFill>
                <a:latin typeface="微软雅黑" panose="020B0503020204020204" charset="-122"/>
                <a:ea typeface="微软雅黑" panose="020B0503020204020204" charset="-122"/>
                <a:cs typeface="微软雅黑" panose="020B0503020204020204" charset="-122"/>
              </a:rPr>
              <a:t>:</a:t>
            </a:r>
            <a:r>
              <a:rPr kumimoji="1" lang="zh-CN" altLang="en-US" sz="1200" b="1" dirty="0">
                <a:solidFill>
                  <a:srgbClr val="FFFFFF"/>
                </a:solidFill>
                <a:latin typeface="微软雅黑" panose="020B0503020204020204" charset="-122"/>
                <a:ea typeface="微软雅黑" panose="020B0503020204020204" charset="-122"/>
                <a:cs typeface="微软雅黑" panose="020B0503020204020204" charset="-122"/>
              </a:rPr>
              <a:t>管理业务计划</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0" name="文本框 159"/>
          <p:cNvSpPr txBox="1"/>
          <p:nvPr/>
        </p:nvSpPr>
        <p:spPr>
          <a:xfrm flipH="1">
            <a:off x="914610" y="5151366"/>
            <a:ext cx="1946366" cy="276999"/>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en-US" altLang="zh-CN"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STEP5</a:t>
            </a:r>
            <a:r>
              <a:rPr kumimoji="1" lang="en-US" altLang="zh-CN" sz="1200" b="1" dirty="0">
                <a:solidFill>
                  <a:srgbClr val="FFFFFF"/>
                </a:solidFill>
                <a:latin typeface="微软雅黑" panose="020B0503020204020204" charset="-122"/>
                <a:ea typeface="微软雅黑" panose="020B0503020204020204" charset="-122"/>
                <a:cs typeface="微软雅黑" panose="020B0503020204020204" charset="-122"/>
              </a:rPr>
              <a:t>:</a:t>
            </a:r>
            <a:r>
              <a:rPr kumimoji="1" lang="zh-CN" altLang="en-US" sz="1200" b="1" dirty="0">
                <a:solidFill>
                  <a:srgbClr val="FFFFFF"/>
                </a:solidFill>
                <a:latin typeface="微软雅黑" panose="020B0503020204020204" charset="-122"/>
                <a:ea typeface="微软雅黑" panose="020B0503020204020204" charset="-122"/>
                <a:cs typeface="微软雅黑" panose="020B0503020204020204" charset="-122"/>
              </a:rPr>
              <a:t>融合优化业务计划</a:t>
            </a:r>
            <a:endParaRPr kumimoji="1" lang="zh-CN" altLang="en-US" sz="12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 name="文本框 2"/>
          <p:cNvSpPr txBox="1"/>
          <p:nvPr/>
        </p:nvSpPr>
        <p:spPr>
          <a:xfrm rot="20090839">
            <a:off x="6336628" y="5288670"/>
            <a:ext cx="800219" cy="238562"/>
          </a:xfrm>
          <a:prstGeom prst="rect">
            <a:avLst/>
          </a:prstGeom>
          <a:noFill/>
        </p:spPr>
        <p:txBody>
          <a:bodyPr wrap="none" rtlCol="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业务计划</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6" name="文本框 65"/>
          <p:cNvSpPr txBox="1"/>
          <p:nvPr/>
        </p:nvSpPr>
        <p:spPr>
          <a:xfrm rot="2263619">
            <a:off x="4519932" y="4839419"/>
            <a:ext cx="1335584" cy="530353"/>
          </a:xfrm>
          <a:prstGeom prst="rect">
            <a:avLst/>
          </a:prstGeom>
          <a:noFill/>
        </p:spPr>
        <p:txBody>
          <a:bodyPr wrap="none" rtlCol="0">
            <a:prstTxWarp prst="textArchDown">
              <a:avLst/>
            </a:prstTxWarp>
            <a:spAutoFit/>
          </a:bodyPr>
          <a:lstStyle/>
          <a:p>
            <a:pPr marL="0" marR="0" lvl="0" indent="0" algn="ctr" defTabSz="457200" rtl="0" eaLnBrk="1" fontAlgn="auto" latinLnBrk="0" hangingPunct="1">
              <a:lnSpc>
                <a:spcPct val="100000"/>
              </a:lnSpc>
              <a:spcBef>
                <a:spcPts val="0"/>
              </a:spcBef>
              <a:spcAft>
                <a:spcPts val="0"/>
              </a:spcAft>
              <a:buClrTx/>
              <a:buSzTx/>
              <a:buFontTx/>
              <a:buNone/>
              <a:defRPr/>
            </a:pPr>
            <a:r>
              <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产品线规划</a:t>
            </a:r>
            <a:endParaRPr kumimoji="1" lang="zh-CN" altLang="en-US" sz="1400" b="1"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 name="Rectangle 60"/>
          <p:cNvSpPr/>
          <p:nvPr/>
        </p:nvSpPr>
        <p:spPr>
          <a:xfrm flipH="1">
            <a:off x="875665" y="1842770"/>
            <a:ext cx="2616835" cy="784225"/>
          </a:xfrm>
          <a:prstGeom prst="rect">
            <a:avLst/>
          </a:prstGeom>
        </p:spPr>
        <p:txBody>
          <a:bodyPr wrap="square" lIns="0" tIns="0" rIns="0" bIns="0" anchor="t" anchorCtr="0">
            <a:spAutoFit/>
          </a:bodyPr>
          <a:lstStyle/>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设定愿景、使命和目标</a:t>
            </a:r>
            <a:endPar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驱动对市场的分析</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确定潜在的机会和目标</a:t>
            </a:r>
            <a:endPar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 name="Rectangle 60"/>
          <p:cNvSpPr/>
          <p:nvPr/>
        </p:nvSpPr>
        <p:spPr>
          <a:xfrm flipH="1">
            <a:off x="875665" y="3702050"/>
            <a:ext cx="2616835" cy="784225"/>
          </a:xfrm>
          <a:prstGeom prst="rect">
            <a:avLst/>
          </a:prstGeom>
        </p:spPr>
        <p:txBody>
          <a:bodyPr wrap="square" lIns="0" tIns="0" rIns="0" bIns="0" anchor="t" anchorCtr="0">
            <a:spAutoFit/>
          </a:bodyPr>
          <a:lstStyle/>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确保业务计划的执行</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评估业务和流程的表现</a:t>
            </a:r>
            <a:endPar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对业务计划进行修改</a:t>
            </a:r>
            <a:endPar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7" name="Rectangle 60"/>
          <p:cNvSpPr/>
          <p:nvPr/>
        </p:nvSpPr>
        <p:spPr>
          <a:xfrm flipH="1">
            <a:off x="875665" y="5602605"/>
            <a:ext cx="2616835" cy="784225"/>
          </a:xfrm>
          <a:prstGeom prst="rect">
            <a:avLst/>
          </a:prstGeom>
        </p:spPr>
        <p:txBody>
          <a:bodyPr wrap="square" lIns="0" tIns="0" rIns="0" bIns="0" anchor="t" anchorCtr="0">
            <a:spAutoFit/>
          </a:bodyPr>
          <a:lstStyle/>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融合和优化业务计划</a:t>
            </a:r>
            <a:endParaRPr kumimoji="1" lang="zh-CN" altLang="en-US" sz="12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制定整个公司和产品线的产品包路标</a:t>
            </a:r>
            <a:endParaRPr kumimoji="1" lang="zh-CN" altLang="en-US" sz="12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rPr>
              <a:t>产品线规则制定</a:t>
            </a:r>
            <a:endPar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 name="Rectangle 60"/>
          <p:cNvSpPr/>
          <p:nvPr/>
        </p:nvSpPr>
        <p:spPr>
          <a:xfrm flipH="1">
            <a:off x="9380855" y="1787525"/>
            <a:ext cx="2058035" cy="784225"/>
          </a:xfrm>
          <a:prstGeom prst="rect">
            <a:avLst/>
          </a:prstGeom>
        </p:spPr>
        <p:txBody>
          <a:bodyPr wrap="square" lIns="0" tIns="0" rIns="0" bIns="0" anchor="t" anchorCtr="0">
            <a:spAutoFit/>
          </a:bodyPr>
          <a:lstStyle/>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确定市场细分结构</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确定初步的目标细分市场</a:t>
            </a:r>
            <a:endPar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目标细分市场</a:t>
            </a:r>
            <a:endPar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7" name="Rectangle 60"/>
          <p:cNvSpPr/>
          <p:nvPr/>
        </p:nvSpPr>
        <p:spPr>
          <a:xfrm flipH="1">
            <a:off x="9380855" y="3718560"/>
            <a:ext cx="2058035" cy="1045845"/>
          </a:xfrm>
          <a:prstGeom prst="rect">
            <a:avLst/>
          </a:prstGeom>
        </p:spPr>
        <p:txBody>
          <a:bodyPr wrap="square" lIns="0" tIns="0" rIns="0" bIns="0" anchor="t" anchorCtr="0">
            <a:spAutoFit/>
          </a:bodyPr>
          <a:lstStyle/>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直接竞争分析</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审视战略定位</a:t>
            </a:r>
            <a:endPar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审视财务分析</a:t>
            </a:r>
            <a:endPar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选择投资机会并排序</a:t>
            </a:r>
            <a:endPar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8" name="Rectangle 60"/>
          <p:cNvSpPr/>
          <p:nvPr/>
        </p:nvSpPr>
        <p:spPr>
          <a:xfrm flipH="1">
            <a:off x="9380855" y="5714365"/>
            <a:ext cx="2058035" cy="784225"/>
          </a:xfrm>
          <a:prstGeom prst="rect">
            <a:avLst/>
          </a:prstGeom>
        </p:spPr>
        <p:txBody>
          <a:bodyPr wrap="square" lIns="0" tIns="0" rIns="0" bIns="0" anchor="t" anchorCtr="0">
            <a:spAutoFit/>
          </a:bodyPr>
          <a:lstStyle/>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确定细分市场的目标和策略</a:t>
            </a:r>
            <a:endParaRPr kumimoji="1"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确定对客户及我方的价值</a:t>
            </a:r>
            <a:endPar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a:p>
            <a:pPr marL="171450" indent="-171450" algn="l" fontAlgn="auto">
              <a:lnSpc>
                <a:spcPts val="2040"/>
              </a:lnSpc>
              <a:spcBef>
                <a:spcPts val="0"/>
              </a:spcBef>
              <a:buFont typeface="Wingdings" panose="05000000000000000000" charset="0"/>
              <a:buChar char="l"/>
            </a:pPr>
            <a:r>
              <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推动多个功能部门提供信息</a:t>
            </a:r>
            <a:endParaRPr kumimoji="1" lang="zh-CN" altLang="en-US" sz="12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iming>
    <p:tnLst>
      <p:par>
        <p:cTn id="1" dur="indefinite" restart="never" fill="hold"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870712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销售六步循环驱动增长</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29" name="组合 28"/>
          <p:cNvGrpSpPr/>
          <p:nvPr/>
        </p:nvGrpSpPr>
        <p:grpSpPr>
          <a:xfrm>
            <a:off x="6696075" y="1113155"/>
            <a:ext cx="5057775" cy="5459095"/>
            <a:chOff x="10401" y="1609"/>
            <a:chExt cx="7965" cy="8597"/>
          </a:xfrm>
        </p:grpSpPr>
        <p:sp>
          <p:nvSpPr>
            <p:cNvPr id="4" name="子陵职场PPT3"/>
            <p:cNvSpPr/>
            <p:nvPr/>
          </p:nvSpPr>
          <p:spPr>
            <a:xfrm>
              <a:off x="10415" y="1619"/>
              <a:ext cx="7929" cy="2773"/>
            </a:xfrm>
            <a:custGeom>
              <a:avLst/>
              <a:gdLst>
                <a:gd name="connsiteX0" fmla="*/ 0 w 5293301"/>
                <a:gd name="connsiteY0" fmla="*/ 0 h 1851489"/>
                <a:gd name="connsiteX1" fmla="*/ 5293301 w 5293301"/>
                <a:gd name="connsiteY1" fmla="*/ 0 h 1851489"/>
                <a:gd name="connsiteX2" fmla="*/ 5293301 w 5293301"/>
                <a:gd name="connsiteY2" fmla="*/ 1851489 h 1851489"/>
                <a:gd name="connsiteX3" fmla="*/ 2223524 w 5293301"/>
                <a:gd name="connsiteY3" fmla="*/ 1851489 h 1851489"/>
                <a:gd name="connsiteX4" fmla="*/ 2140744 w 5293301"/>
                <a:gd name="connsiteY4" fmla="*/ 1643309 h 1851489"/>
                <a:gd name="connsiteX5" fmla="*/ 2004879 w 5293301"/>
                <a:gd name="connsiteY5" fmla="*/ 1381993 h 1851489"/>
                <a:gd name="connsiteX6" fmla="*/ 249547 w 5293301"/>
                <a:gd name="connsiteY6" fmla="*/ 52609 h 1851489"/>
                <a:gd name="connsiteX7" fmla="*/ 0 w 5293301"/>
                <a:gd name="connsiteY7" fmla="*/ 0 h 185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3301" h="1851489">
                  <a:moveTo>
                    <a:pt x="0" y="0"/>
                  </a:moveTo>
                  <a:lnTo>
                    <a:pt x="5293301" y="0"/>
                  </a:lnTo>
                  <a:lnTo>
                    <a:pt x="5293301" y="1851489"/>
                  </a:lnTo>
                  <a:lnTo>
                    <a:pt x="2223524" y="1851489"/>
                  </a:lnTo>
                  <a:lnTo>
                    <a:pt x="2140744" y="1643309"/>
                  </a:lnTo>
                  <a:cubicBezTo>
                    <a:pt x="2100334" y="1554894"/>
                    <a:pt x="2055074" y="1467679"/>
                    <a:pt x="2004879" y="1381993"/>
                  </a:cubicBezTo>
                  <a:cubicBezTo>
                    <a:pt x="1603319" y="696505"/>
                    <a:pt x="961924" y="238675"/>
                    <a:pt x="249547" y="52609"/>
                  </a:cubicBezTo>
                  <a:lnTo>
                    <a:pt x="0" y="0"/>
                  </a:lnTo>
                  <a:close/>
                </a:path>
              </a:pathLst>
            </a:custGeom>
            <a:gradFill flip="none" rotWithShape="1">
              <a:gsLst>
                <a:gs pos="100000">
                  <a:srgbClr val="FFFFFF">
                    <a:alpha val="0"/>
                  </a:srgbClr>
                </a:gs>
                <a:gs pos="63000">
                  <a:schemeClr val="bg1"/>
                </a:gs>
                <a:gs pos="86000">
                  <a:srgbClr val="FFFFFF">
                    <a:alpha val="80000"/>
                  </a:srgbClr>
                </a:gs>
                <a:gs pos="0">
                  <a:schemeClr val="bg1"/>
                </a:gs>
              </a:gsLst>
              <a:path path="circle">
                <a:fillToRect l="100000" t="100000"/>
              </a:path>
              <a:tileRect r="-100000" b="-100000"/>
            </a:gradFill>
            <a:ln>
              <a:noFill/>
            </a:ln>
            <a:effectLst>
              <a:outerShdw blurRad="254000" sx="102000" sy="102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lvl="0" algn="ctr">
                <a:buClrTx/>
                <a:buSzTx/>
                <a:buFontTx/>
                <a:defRPr/>
              </a:pPr>
              <a:endParaRPr lang="zh-CN" altLang="en-US" noProof="0" dirty="0">
                <a:ln>
                  <a:noFill/>
                </a:ln>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8" name="子陵职场PPT5"/>
            <p:cNvSpPr/>
            <p:nvPr/>
          </p:nvSpPr>
          <p:spPr>
            <a:xfrm>
              <a:off x="13780" y="4539"/>
              <a:ext cx="4564" cy="2749"/>
            </a:xfrm>
            <a:custGeom>
              <a:avLst/>
              <a:gdLst>
                <a:gd name="connsiteX0" fmla="*/ 2989 w 3046862"/>
                <a:gd name="connsiteY0" fmla="*/ 0 h 1835305"/>
                <a:gd name="connsiteX1" fmla="*/ 3046862 w 3046862"/>
                <a:gd name="connsiteY1" fmla="*/ 0 h 1835305"/>
                <a:gd name="connsiteX2" fmla="*/ 3046862 w 3046862"/>
                <a:gd name="connsiteY2" fmla="*/ 1835305 h 1835305"/>
                <a:gd name="connsiteX3" fmla="*/ 0 w 3046862"/>
                <a:gd name="connsiteY3" fmla="*/ 1835305 h 1835305"/>
                <a:gd name="connsiteX4" fmla="*/ 59631 w 3046862"/>
                <a:gd name="connsiteY4" fmla="*/ 1644693 h 1835305"/>
                <a:gd name="connsiteX5" fmla="*/ 79266 w 3046862"/>
                <a:gd name="connsiteY5" fmla="*/ 267029 h 1835305"/>
                <a:gd name="connsiteX6" fmla="*/ 2989 w 3046862"/>
                <a:gd name="connsiteY6" fmla="*/ 0 h 1835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6862" h="1835305">
                  <a:moveTo>
                    <a:pt x="2989" y="0"/>
                  </a:moveTo>
                  <a:lnTo>
                    <a:pt x="3046862" y="0"/>
                  </a:lnTo>
                  <a:lnTo>
                    <a:pt x="3046862" y="1835305"/>
                  </a:lnTo>
                  <a:lnTo>
                    <a:pt x="0" y="1835305"/>
                  </a:lnTo>
                  <a:lnTo>
                    <a:pt x="59631" y="1644693"/>
                  </a:lnTo>
                  <a:cubicBezTo>
                    <a:pt x="175923" y="1199458"/>
                    <a:pt x="186057" y="726495"/>
                    <a:pt x="79266" y="267029"/>
                  </a:cubicBezTo>
                  <a:lnTo>
                    <a:pt x="2989" y="0"/>
                  </a:lnTo>
                  <a:close/>
                </a:path>
              </a:pathLst>
            </a:custGeom>
            <a:gradFill flip="none" rotWithShape="1">
              <a:gsLst>
                <a:gs pos="100000">
                  <a:srgbClr val="FFFFFF">
                    <a:alpha val="0"/>
                  </a:srgbClr>
                </a:gs>
                <a:gs pos="70000">
                  <a:schemeClr val="bg1"/>
                </a:gs>
                <a:gs pos="88000">
                  <a:srgbClr val="FFFFFF">
                    <a:alpha val="80000"/>
                  </a:srgbClr>
                </a:gs>
                <a:gs pos="0">
                  <a:schemeClr val="bg1"/>
                </a:gs>
              </a:gsLst>
              <a:path path="circle">
                <a:fillToRect l="100000" t="100000"/>
              </a:path>
              <a:tileRect r="-100000" b="-100000"/>
            </a:gradFill>
            <a:ln>
              <a:noFill/>
            </a:ln>
            <a:effectLst>
              <a:outerShdw blurRad="254000" sx="102000" sy="102000" algn="ctr"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lvl="0" algn="ctr">
                <a:buClrTx/>
                <a:buSzTx/>
                <a:buFontTx/>
                <a:defRPr/>
              </a:pPr>
              <a:endParaRPr lang="zh-CN" altLang="en-US" noProof="0" dirty="0">
                <a:ln>
                  <a:noFill/>
                </a:ln>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9" name="子陵职场PPT7"/>
            <p:cNvSpPr/>
            <p:nvPr/>
          </p:nvSpPr>
          <p:spPr>
            <a:xfrm>
              <a:off x="10401" y="7434"/>
              <a:ext cx="7942" cy="2772"/>
            </a:xfrm>
            <a:custGeom>
              <a:avLst/>
              <a:gdLst>
                <a:gd name="connsiteX0" fmla="*/ 2234520 w 5302353"/>
                <a:gd name="connsiteY0" fmla="*/ 0 h 1851488"/>
                <a:gd name="connsiteX1" fmla="*/ 5302353 w 5302353"/>
                <a:gd name="connsiteY1" fmla="*/ 0 h 1851488"/>
                <a:gd name="connsiteX2" fmla="*/ 5302353 w 5302353"/>
                <a:gd name="connsiteY2" fmla="*/ 1851488 h 1851488"/>
                <a:gd name="connsiteX3" fmla="*/ 0 w 5302353"/>
                <a:gd name="connsiteY3" fmla="*/ 1851488 h 1851488"/>
                <a:gd name="connsiteX4" fmla="*/ 182176 w 5302353"/>
                <a:gd name="connsiteY4" fmla="*/ 1818516 h 1851488"/>
                <a:gd name="connsiteX5" fmla="*/ 985736 w 5302353"/>
                <a:gd name="connsiteY5" fmla="*/ 1497689 h 1851488"/>
                <a:gd name="connsiteX6" fmla="*/ 2232694 w 5302353"/>
                <a:gd name="connsiteY6" fmla="*/ 5838 h 1851488"/>
                <a:gd name="connsiteX7" fmla="*/ 2234520 w 5302353"/>
                <a:gd name="connsiteY7" fmla="*/ 0 h 1851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02353" h="1851488">
                  <a:moveTo>
                    <a:pt x="2234520" y="0"/>
                  </a:moveTo>
                  <a:lnTo>
                    <a:pt x="5302353" y="0"/>
                  </a:lnTo>
                  <a:lnTo>
                    <a:pt x="5302353" y="1851488"/>
                  </a:lnTo>
                  <a:lnTo>
                    <a:pt x="0" y="1851488"/>
                  </a:lnTo>
                  <a:lnTo>
                    <a:pt x="182176" y="1818516"/>
                  </a:lnTo>
                  <a:cubicBezTo>
                    <a:pt x="457856" y="1754441"/>
                    <a:pt x="728677" y="1648274"/>
                    <a:pt x="985736" y="1497689"/>
                  </a:cubicBezTo>
                  <a:cubicBezTo>
                    <a:pt x="1585540" y="1146322"/>
                    <a:pt x="2011041" y="611333"/>
                    <a:pt x="2232694" y="5838"/>
                  </a:cubicBezTo>
                  <a:lnTo>
                    <a:pt x="2234520" y="0"/>
                  </a:lnTo>
                  <a:close/>
                </a:path>
              </a:pathLst>
            </a:custGeom>
            <a:gradFill flip="none" rotWithShape="1">
              <a:gsLst>
                <a:gs pos="100000">
                  <a:srgbClr val="FFFFFF">
                    <a:alpha val="0"/>
                  </a:srgbClr>
                </a:gs>
                <a:gs pos="63000">
                  <a:schemeClr val="bg1"/>
                </a:gs>
                <a:gs pos="86000">
                  <a:srgbClr val="FFFFFF">
                    <a:alpha val="80000"/>
                  </a:srgbClr>
                </a:gs>
                <a:gs pos="0">
                  <a:schemeClr val="bg1"/>
                </a:gs>
              </a:gsLst>
              <a:path path="circle">
                <a:fillToRect l="100000" t="100000"/>
              </a:path>
              <a:tileRect r="-100000" b="-100000"/>
            </a:gradFill>
            <a:ln>
              <a:noFill/>
            </a:ln>
            <a:effectLst>
              <a:outerShdw blurRad="254000" sx="102000" sy="102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lvl="0" algn="ctr">
                <a:buClrTx/>
                <a:buSzTx/>
                <a:buFontTx/>
                <a:defRPr/>
              </a:pPr>
              <a:endParaRPr lang="zh-CN" altLang="en-US" noProof="0" dirty="0">
                <a:ln>
                  <a:noFill/>
                </a:ln>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2" name="子陵职场PPT11"/>
            <p:cNvSpPr/>
            <p:nvPr/>
          </p:nvSpPr>
          <p:spPr>
            <a:xfrm flipH="1">
              <a:off x="15328" y="4524"/>
              <a:ext cx="3038" cy="661"/>
            </a:xfrm>
            <a:custGeom>
              <a:avLst/>
              <a:gdLst>
                <a:gd name="connsiteX0" fmla="*/ 38563 w 1655078"/>
                <a:gd name="connsiteY0" fmla="*/ 0 h 231375"/>
                <a:gd name="connsiteX1" fmla="*/ 1616515 w 1655078"/>
                <a:gd name="connsiteY1" fmla="*/ 0 h 231375"/>
                <a:gd name="connsiteX2" fmla="*/ 1655078 w 1655078"/>
                <a:gd name="connsiteY2" fmla="*/ 38563 h 231375"/>
                <a:gd name="connsiteX3" fmla="*/ 1655078 w 1655078"/>
                <a:gd name="connsiteY3" fmla="*/ 231375 h 231375"/>
                <a:gd name="connsiteX4" fmla="*/ 1655078 w 1655078"/>
                <a:gd name="connsiteY4" fmla="*/ 231375 h 231375"/>
                <a:gd name="connsiteX5" fmla="*/ 0 w 1655078"/>
                <a:gd name="connsiteY5" fmla="*/ 231375 h 231375"/>
                <a:gd name="connsiteX6" fmla="*/ 0 w 1655078"/>
                <a:gd name="connsiteY6" fmla="*/ 231375 h 231375"/>
                <a:gd name="connsiteX7" fmla="*/ 0 w 1655078"/>
                <a:gd name="connsiteY7" fmla="*/ 38563 h 231375"/>
                <a:gd name="connsiteX8" fmla="*/ 38563 w 1655078"/>
                <a:gd name="connsiteY8" fmla="*/ 0 h 231375"/>
                <a:gd name="connsiteX0-1" fmla="*/ 38563 w 1794778"/>
                <a:gd name="connsiteY0-2" fmla="*/ 0 h 231375"/>
                <a:gd name="connsiteX1-3" fmla="*/ 1616515 w 1794778"/>
                <a:gd name="connsiteY1-4" fmla="*/ 0 h 231375"/>
                <a:gd name="connsiteX2-5" fmla="*/ 1655078 w 1794778"/>
                <a:gd name="connsiteY2-6" fmla="*/ 38563 h 231375"/>
                <a:gd name="connsiteX3-7" fmla="*/ 1655078 w 1794778"/>
                <a:gd name="connsiteY3-8" fmla="*/ 231375 h 231375"/>
                <a:gd name="connsiteX4-9" fmla="*/ 1794778 w 1794778"/>
                <a:gd name="connsiteY4-10" fmla="*/ 231375 h 231375"/>
                <a:gd name="connsiteX5-11" fmla="*/ 0 w 1794778"/>
                <a:gd name="connsiteY5-12" fmla="*/ 231375 h 231375"/>
                <a:gd name="connsiteX6-13" fmla="*/ 0 w 1794778"/>
                <a:gd name="connsiteY6-14" fmla="*/ 231375 h 231375"/>
                <a:gd name="connsiteX7-15" fmla="*/ 0 w 1794778"/>
                <a:gd name="connsiteY7-16" fmla="*/ 38563 h 231375"/>
                <a:gd name="connsiteX8-17" fmla="*/ 38563 w 1794778"/>
                <a:gd name="connsiteY8-18" fmla="*/ 0 h 231375"/>
                <a:gd name="connsiteX0-19" fmla="*/ 38563 w 1655078"/>
                <a:gd name="connsiteY0-20" fmla="*/ 0 h 231375"/>
                <a:gd name="connsiteX1-21" fmla="*/ 1616515 w 1655078"/>
                <a:gd name="connsiteY1-22" fmla="*/ 0 h 231375"/>
                <a:gd name="connsiteX2-23" fmla="*/ 1655078 w 1655078"/>
                <a:gd name="connsiteY2-24" fmla="*/ 38563 h 231375"/>
                <a:gd name="connsiteX3-25" fmla="*/ 1655078 w 1655078"/>
                <a:gd name="connsiteY3-26" fmla="*/ 231375 h 231375"/>
                <a:gd name="connsiteX4-27" fmla="*/ 0 w 1655078"/>
                <a:gd name="connsiteY4-28" fmla="*/ 231375 h 231375"/>
                <a:gd name="connsiteX5-29" fmla="*/ 0 w 1655078"/>
                <a:gd name="connsiteY5-30" fmla="*/ 231375 h 231375"/>
                <a:gd name="connsiteX6-31" fmla="*/ 0 w 1655078"/>
                <a:gd name="connsiteY6-32" fmla="*/ 38563 h 231375"/>
                <a:gd name="connsiteX7-33" fmla="*/ 38563 w 1655078"/>
                <a:gd name="connsiteY7-34" fmla="*/ 0 h 231375"/>
                <a:gd name="connsiteX0-35" fmla="*/ 38563 w 1657402"/>
                <a:gd name="connsiteY0-36" fmla="*/ 0 h 231375"/>
                <a:gd name="connsiteX1-37" fmla="*/ 1616515 w 1657402"/>
                <a:gd name="connsiteY1-38" fmla="*/ 0 h 231375"/>
                <a:gd name="connsiteX2-39" fmla="*/ 1655078 w 1657402"/>
                <a:gd name="connsiteY2-40" fmla="*/ 38563 h 231375"/>
                <a:gd name="connsiteX3-41" fmla="*/ 1657402 w 1657402"/>
                <a:gd name="connsiteY3-42" fmla="*/ 213709 h 231375"/>
                <a:gd name="connsiteX4-43" fmla="*/ 1655078 w 1657402"/>
                <a:gd name="connsiteY4-44" fmla="*/ 231375 h 231375"/>
                <a:gd name="connsiteX5-45" fmla="*/ 0 w 1657402"/>
                <a:gd name="connsiteY5-46" fmla="*/ 231375 h 231375"/>
                <a:gd name="connsiteX6-47" fmla="*/ 0 w 1657402"/>
                <a:gd name="connsiteY6-48" fmla="*/ 231375 h 231375"/>
                <a:gd name="connsiteX7-49" fmla="*/ 0 w 1657402"/>
                <a:gd name="connsiteY7-50" fmla="*/ 38563 h 231375"/>
                <a:gd name="connsiteX8-51" fmla="*/ 38563 w 1657402"/>
                <a:gd name="connsiteY8-52" fmla="*/ 0 h 231375"/>
                <a:gd name="connsiteX0-53" fmla="*/ 38563 w 1825307"/>
                <a:gd name="connsiteY0-54" fmla="*/ 0 h 231375"/>
                <a:gd name="connsiteX1-55" fmla="*/ 1616515 w 1825307"/>
                <a:gd name="connsiteY1-56" fmla="*/ 0 h 231375"/>
                <a:gd name="connsiteX2-57" fmla="*/ 1655078 w 1825307"/>
                <a:gd name="connsiteY2-58" fmla="*/ 38563 h 231375"/>
                <a:gd name="connsiteX3-59" fmla="*/ 1825307 w 1825307"/>
                <a:gd name="connsiteY3-60" fmla="*/ 217920 h 231375"/>
                <a:gd name="connsiteX4-61" fmla="*/ 1655078 w 1825307"/>
                <a:gd name="connsiteY4-62" fmla="*/ 231375 h 231375"/>
                <a:gd name="connsiteX5-63" fmla="*/ 0 w 1825307"/>
                <a:gd name="connsiteY5-64" fmla="*/ 231375 h 231375"/>
                <a:gd name="connsiteX6-65" fmla="*/ 0 w 1825307"/>
                <a:gd name="connsiteY6-66" fmla="*/ 231375 h 231375"/>
                <a:gd name="connsiteX7-67" fmla="*/ 0 w 1825307"/>
                <a:gd name="connsiteY7-68" fmla="*/ 38563 h 231375"/>
                <a:gd name="connsiteX8-69" fmla="*/ 38563 w 1825307"/>
                <a:gd name="connsiteY8-70" fmla="*/ 0 h 231375"/>
                <a:gd name="connsiteX0-71" fmla="*/ 38563 w 1825307"/>
                <a:gd name="connsiteY0-72" fmla="*/ 0 h 231375"/>
                <a:gd name="connsiteX1-73" fmla="*/ 1616515 w 1825307"/>
                <a:gd name="connsiteY1-74" fmla="*/ 0 h 231375"/>
                <a:gd name="connsiteX2-75" fmla="*/ 1655078 w 1825307"/>
                <a:gd name="connsiteY2-76" fmla="*/ 38563 h 231375"/>
                <a:gd name="connsiteX3-77" fmla="*/ 1825307 w 1825307"/>
                <a:gd name="connsiteY3-78" fmla="*/ 217920 h 231375"/>
                <a:gd name="connsiteX4-79" fmla="*/ 1655078 w 1825307"/>
                <a:gd name="connsiteY4-80" fmla="*/ 231375 h 231375"/>
                <a:gd name="connsiteX5-81" fmla="*/ 0 w 1825307"/>
                <a:gd name="connsiteY5-82" fmla="*/ 231375 h 231375"/>
                <a:gd name="connsiteX6-83" fmla="*/ 0 w 1825307"/>
                <a:gd name="connsiteY6-84" fmla="*/ 231375 h 231375"/>
                <a:gd name="connsiteX7-85" fmla="*/ 0 w 1825307"/>
                <a:gd name="connsiteY7-86" fmla="*/ 38563 h 231375"/>
                <a:gd name="connsiteX8-87" fmla="*/ 38563 w 1825307"/>
                <a:gd name="connsiteY8-88" fmla="*/ 0 h 231375"/>
                <a:gd name="connsiteX0-89" fmla="*/ 38563 w 1825307"/>
                <a:gd name="connsiteY0-90" fmla="*/ 0 h 231375"/>
                <a:gd name="connsiteX1-91" fmla="*/ 1616515 w 1825307"/>
                <a:gd name="connsiteY1-92" fmla="*/ 0 h 231375"/>
                <a:gd name="connsiteX2-93" fmla="*/ 1655078 w 1825307"/>
                <a:gd name="connsiteY2-94" fmla="*/ 38563 h 231375"/>
                <a:gd name="connsiteX3-95" fmla="*/ 1825307 w 1825307"/>
                <a:gd name="connsiteY3-96" fmla="*/ 217920 h 231375"/>
                <a:gd name="connsiteX4-97" fmla="*/ 1655078 w 1825307"/>
                <a:gd name="connsiteY4-98" fmla="*/ 231375 h 231375"/>
                <a:gd name="connsiteX5-99" fmla="*/ 0 w 1825307"/>
                <a:gd name="connsiteY5-100" fmla="*/ 231375 h 231375"/>
                <a:gd name="connsiteX6-101" fmla="*/ 0 w 1825307"/>
                <a:gd name="connsiteY6-102" fmla="*/ 231375 h 231375"/>
                <a:gd name="connsiteX7-103" fmla="*/ 0 w 1825307"/>
                <a:gd name="connsiteY7-104" fmla="*/ 38563 h 231375"/>
                <a:gd name="connsiteX8-105" fmla="*/ 38563 w 1825307"/>
                <a:gd name="connsiteY8-106" fmla="*/ 0 h 231375"/>
                <a:gd name="connsiteX0-107" fmla="*/ 38563 w 1825307"/>
                <a:gd name="connsiteY0-108" fmla="*/ 0 h 231375"/>
                <a:gd name="connsiteX1-109" fmla="*/ 1616515 w 1825307"/>
                <a:gd name="connsiteY1-110" fmla="*/ 0 h 231375"/>
                <a:gd name="connsiteX2-111" fmla="*/ 1655078 w 1825307"/>
                <a:gd name="connsiteY2-112" fmla="*/ 38563 h 231375"/>
                <a:gd name="connsiteX3-113" fmla="*/ 1825307 w 1825307"/>
                <a:gd name="connsiteY3-114" fmla="*/ 230557 h 231375"/>
                <a:gd name="connsiteX4-115" fmla="*/ 1655078 w 1825307"/>
                <a:gd name="connsiteY4-116" fmla="*/ 231375 h 231375"/>
                <a:gd name="connsiteX5-117" fmla="*/ 0 w 1825307"/>
                <a:gd name="connsiteY5-118" fmla="*/ 231375 h 231375"/>
                <a:gd name="connsiteX6-119" fmla="*/ 0 w 1825307"/>
                <a:gd name="connsiteY6-120" fmla="*/ 231375 h 231375"/>
                <a:gd name="connsiteX7-121" fmla="*/ 0 w 1825307"/>
                <a:gd name="connsiteY7-122" fmla="*/ 38563 h 231375"/>
                <a:gd name="connsiteX8-123" fmla="*/ 38563 w 1825307"/>
                <a:gd name="connsiteY8-124" fmla="*/ 0 h 231375"/>
                <a:gd name="connsiteX0-125" fmla="*/ 38563 w 1825307"/>
                <a:gd name="connsiteY0-126" fmla="*/ 0 h 231375"/>
                <a:gd name="connsiteX1-127" fmla="*/ 1616515 w 1825307"/>
                <a:gd name="connsiteY1-128" fmla="*/ 0 h 231375"/>
                <a:gd name="connsiteX2-129" fmla="*/ 1670343 w 1825307"/>
                <a:gd name="connsiteY2-130" fmla="*/ 40669 h 231375"/>
                <a:gd name="connsiteX3-131" fmla="*/ 1825307 w 1825307"/>
                <a:gd name="connsiteY3-132" fmla="*/ 230557 h 231375"/>
                <a:gd name="connsiteX4-133" fmla="*/ 1655078 w 1825307"/>
                <a:gd name="connsiteY4-134" fmla="*/ 231375 h 231375"/>
                <a:gd name="connsiteX5-135" fmla="*/ 0 w 1825307"/>
                <a:gd name="connsiteY5-136" fmla="*/ 231375 h 231375"/>
                <a:gd name="connsiteX6-137" fmla="*/ 0 w 1825307"/>
                <a:gd name="connsiteY6-138" fmla="*/ 231375 h 231375"/>
                <a:gd name="connsiteX7-139" fmla="*/ 0 w 1825307"/>
                <a:gd name="connsiteY7-140" fmla="*/ 38563 h 231375"/>
                <a:gd name="connsiteX8-141" fmla="*/ 38563 w 1825307"/>
                <a:gd name="connsiteY8-142" fmla="*/ 0 h 231375"/>
                <a:gd name="connsiteX0-143" fmla="*/ 38563 w 1825307"/>
                <a:gd name="connsiteY0-144" fmla="*/ 0 h 231375"/>
                <a:gd name="connsiteX1-145" fmla="*/ 1616515 w 1825307"/>
                <a:gd name="connsiteY1-146" fmla="*/ 0 h 231375"/>
                <a:gd name="connsiteX2-147" fmla="*/ 1670343 w 1825307"/>
                <a:gd name="connsiteY2-148" fmla="*/ 40669 h 231375"/>
                <a:gd name="connsiteX3-149" fmla="*/ 1825307 w 1825307"/>
                <a:gd name="connsiteY3-150" fmla="*/ 230557 h 231375"/>
                <a:gd name="connsiteX4-151" fmla="*/ 0 w 1825307"/>
                <a:gd name="connsiteY4-152" fmla="*/ 231375 h 231375"/>
                <a:gd name="connsiteX5-153" fmla="*/ 0 w 1825307"/>
                <a:gd name="connsiteY5-154" fmla="*/ 231375 h 231375"/>
                <a:gd name="connsiteX6-155" fmla="*/ 0 w 1825307"/>
                <a:gd name="connsiteY6-156" fmla="*/ 38563 h 231375"/>
                <a:gd name="connsiteX7-157" fmla="*/ 38563 w 1825307"/>
                <a:gd name="connsiteY7-158" fmla="*/ 0 h 231375"/>
                <a:gd name="connsiteX0-159" fmla="*/ 38563 w 1825307"/>
                <a:gd name="connsiteY0-160" fmla="*/ 0 h 231375"/>
                <a:gd name="connsiteX1-161" fmla="*/ 1616515 w 1825307"/>
                <a:gd name="connsiteY1-162" fmla="*/ 0 h 231375"/>
                <a:gd name="connsiteX2-163" fmla="*/ 1670343 w 1825307"/>
                <a:gd name="connsiteY2-164" fmla="*/ 40669 h 231375"/>
                <a:gd name="connsiteX3-165" fmla="*/ 1825307 w 1825307"/>
                <a:gd name="connsiteY3-166" fmla="*/ 230557 h 231375"/>
                <a:gd name="connsiteX4-167" fmla="*/ 0 w 1825307"/>
                <a:gd name="connsiteY4-168" fmla="*/ 231375 h 231375"/>
                <a:gd name="connsiteX5-169" fmla="*/ 0 w 1825307"/>
                <a:gd name="connsiteY5-170" fmla="*/ 231375 h 231375"/>
                <a:gd name="connsiteX6-171" fmla="*/ 0 w 1825307"/>
                <a:gd name="connsiteY6-172" fmla="*/ 38563 h 231375"/>
                <a:gd name="connsiteX7-173" fmla="*/ 38563 w 1825307"/>
                <a:gd name="connsiteY7-174" fmla="*/ 0 h 231375"/>
                <a:gd name="connsiteX0-175" fmla="*/ 38563 w 1825307"/>
                <a:gd name="connsiteY0-176" fmla="*/ 0 h 231375"/>
                <a:gd name="connsiteX1-177" fmla="*/ 1616515 w 1825307"/>
                <a:gd name="connsiteY1-178" fmla="*/ 0 h 231375"/>
                <a:gd name="connsiteX2-179" fmla="*/ 1670343 w 1825307"/>
                <a:gd name="connsiteY2-180" fmla="*/ 40669 h 231375"/>
                <a:gd name="connsiteX3-181" fmla="*/ 1825307 w 1825307"/>
                <a:gd name="connsiteY3-182" fmla="*/ 230557 h 231375"/>
                <a:gd name="connsiteX4-183" fmla="*/ 0 w 1825307"/>
                <a:gd name="connsiteY4-184" fmla="*/ 231375 h 231375"/>
                <a:gd name="connsiteX5-185" fmla="*/ 0 w 1825307"/>
                <a:gd name="connsiteY5-186" fmla="*/ 231375 h 231375"/>
                <a:gd name="connsiteX6-187" fmla="*/ 0 w 1825307"/>
                <a:gd name="connsiteY6-188" fmla="*/ 38563 h 231375"/>
                <a:gd name="connsiteX7-189" fmla="*/ 38563 w 1825307"/>
                <a:gd name="connsiteY7-190" fmla="*/ 0 h 231375"/>
                <a:gd name="connsiteX0-191" fmla="*/ 38563 w 1825307"/>
                <a:gd name="connsiteY0-192" fmla="*/ 0 h 231375"/>
                <a:gd name="connsiteX1-193" fmla="*/ 1616515 w 1825307"/>
                <a:gd name="connsiteY1-194" fmla="*/ 0 h 231375"/>
                <a:gd name="connsiteX2-195" fmla="*/ 1670343 w 1825307"/>
                <a:gd name="connsiteY2-196" fmla="*/ 40669 h 231375"/>
                <a:gd name="connsiteX3-197" fmla="*/ 1825307 w 1825307"/>
                <a:gd name="connsiteY3-198" fmla="*/ 230557 h 231375"/>
                <a:gd name="connsiteX4-199" fmla="*/ 0 w 1825307"/>
                <a:gd name="connsiteY4-200" fmla="*/ 231375 h 231375"/>
                <a:gd name="connsiteX5-201" fmla="*/ 0 w 1825307"/>
                <a:gd name="connsiteY5-202" fmla="*/ 231375 h 231375"/>
                <a:gd name="connsiteX6-203" fmla="*/ 0 w 1825307"/>
                <a:gd name="connsiteY6-204" fmla="*/ 38563 h 231375"/>
                <a:gd name="connsiteX7-205" fmla="*/ 38563 w 1825307"/>
                <a:gd name="connsiteY7-206" fmla="*/ 0 h 231375"/>
                <a:gd name="connsiteX0-207" fmla="*/ 38563 w 1825307"/>
                <a:gd name="connsiteY0-208" fmla="*/ 0 h 231375"/>
                <a:gd name="connsiteX1-209" fmla="*/ 1616515 w 1825307"/>
                <a:gd name="connsiteY1-210" fmla="*/ 0 h 231375"/>
                <a:gd name="connsiteX2-211" fmla="*/ 1670343 w 1825307"/>
                <a:gd name="connsiteY2-212" fmla="*/ 40669 h 231375"/>
                <a:gd name="connsiteX3-213" fmla="*/ 1825307 w 1825307"/>
                <a:gd name="connsiteY3-214" fmla="*/ 230557 h 231375"/>
                <a:gd name="connsiteX4-215" fmla="*/ 0 w 1825307"/>
                <a:gd name="connsiteY4-216" fmla="*/ 231375 h 231375"/>
                <a:gd name="connsiteX5-217" fmla="*/ 0 w 1825307"/>
                <a:gd name="connsiteY5-218" fmla="*/ 231375 h 231375"/>
                <a:gd name="connsiteX6-219" fmla="*/ 0 w 1825307"/>
                <a:gd name="connsiteY6-220" fmla="*/ 38563 h 231375"/>
                <a:gd name="connsiteX7-221" fmla="*/ 38563 w 1825307"/>
                <a:gd name="connsiteY7-222" fmla="*/ 0 h 231375"/>
                <a:gd name="connsiteX0-223" fmla="*/ 38563 w 1827851"/>
                <a:gd name="connsiteY0-224" fmla="*/ 0 h 249512"/>
                <a:gd name="connsiteX1-225" fmla="*/ 1616515 w 1827851"/>
                <a:gd name="connsiteY1-226" fmla="*/ 0 h 249512"/>
                <a:gd name="connsiteX2-227" fmla="*/ 1670343 w 1827851"/>
                <a:gd name="connsiteY2-228" fmla="*/ 40669 h 249512"/>
                <a:gd name="connsiteX3-229" fmla="*/ 1827851 w 1827851"/>
                <a:gd name="connsiteY3-230" fmla="*/ 249512 h 249512"/>
                <a:gd name="connsiteX4-231" fmla="*/ 0 w 1827851"/>
                <a:gd name="connsiteY4-232" fmla="*/ 231375 h 249512"/>
                <a:gd name="connsiteX5-233" fmla="*/ 0 w 1827851"/>
                <a:gd name="connsiteY5-234" fmla="*/ 231375 h 249512"/>
                <a:gd name="connsiteX6-235" fmla="*/ 0 w 1827851"/>
                <a:gd name="connsiteY6-236" fmla="*/ 38563 h 249512"/>
                <a:gd name="connsiteX7-237" fmla="*/ 38563 w 1827851"/>
                <a:gd name="connsiteY7-238" fmla="*/ 0 h 249512"/>
                <a:gd name="connsiteX0-239" fmla="*/ 38563 w 1827851"/>
                <a:gd name="connsiteY0-240" fmla="*/ 0 h 249512"/>
                <a:gd name="connsiteX1-241" fmla="*/ 1616515 w 1827851"/>
                <a:gd name="connsiteY1-242" fmla="*/ 0 h 249512"/>
                <a:gd name="connsiteX2-243" fmla="*/ 1670343 w 1827851"/>
                <a:gd name="connsiteY2-244" fmla="*/ 40669 h 249512"/>
                <a:gd name="connsiteX3-245" fmla="*/ 1827851 w 1827851"/>
                <a:gd name="connsiteY3-246" fmla="*/ 249512 h 249512"/>
                <a:gd name="connsiteX4-247" fmla="*/ 0 w 1827851"/>
                <a:gd name="connsiteY4-248" fmla="*/ 231375 h 249512"/>
                <a:gd name="connsiteX5-249" fmla="*/ 0 w 1827851"/>
                <a:gd name="connsiteY5-250" fmla="*/ 231375 h 249512"/>
                <a:gd name="connsiteX6-251" fmla="*/ 0 w 1827851"/>
                <a:gd name="connsiteY6-252" fmla="*/ 38563 h 249512"/>
                <a:gd name="connsiteX7-253" fmla="*/ 38563 w 1827851"/>
                <a:gd name="connsiteY7-254" fmla="*/ 0 h 249512"/>
                <a:gd name="connsiteX0-255" fmla="*/ 38563 w 1827851"/>
                <a:gd name="connsiteY0-256" fmla="*/ 0 h 249512"/>
                <a:gd name="connsiteX1-257" fmla="*/ 1585987 w 1827851"/>
                <a:gd name="connsiteY1-258" fmla="*/ 0 h 249512"/>
                <a:gd name="connsiteX2-259" fmla="*/ 1670343 w 1827851"/>
                <a:gd name="connsiteY2-260" fmla="*/ 40669 h 249512"/>
                <a:gd name="connsiteX3-261" fmla="*/ 1827851 w 1827851"/>
                <a:gd name="connsiteY3-262" fmla="*/ 249512 h 249512"/>
                <a:gd name="connsiteX4-263" fmla="*/ 0 w 1827851"/>
                <a:gd name="connsiteY4-264" fmla="*/ 231375 h 249512"/>
                <a:gd name="connsiteX5-265" fmla="*/ 0 w 1827851"/>
                <a:gd name="connsiteY5-266" fmla="*/ 231375 h 249512"/>
                <a:gd name="connsiteX6-267" fmla="*/ 0 w 1827851"/>
                <a:gd name="connsiteY6-268" fmla="*/ 38563 h 249512"/>
                <a:gd name="connsiteX7-269" fmla="*/ 38563 w 1827851"/>
                <a:gd name="connsiteY7-270" fmla="*/ 0 h 249512"/>
                <a:gd name="connsiteX0-271" fmla="*/ 38563 w 1827851"/>
                <a:gd name="connsiteY0-272" fmla="*/ 157 h 249669"/>
                <a:gd name="connsiteX1-273" fmla="*/ 1585987 w 1827851"/>
                <a:gd name="connsiteY1-274" fmla="*/ 157 h 249669"/>
                <a:gd name="connsiteX2-275" fmla="*/ 1670343 w 1827851"/>
                <a:gd name="connsiteY2-276" fmla="*/ 40826 h 249669"/>
                <a:gd name="connsiteX3-277" fmla="*/ 1827851 w 1827851"/>
                <a:gd name="connsiteY3-278" fmla="*/ 249669 h 249669"/>
                <a:gd name="connsiteX4-279" fmla="*/ 0 w 1827851"/>
                <a:gd name="connsiteY4-280" fmla="*/ 231532 h 249669"/>
                <a:gd name="connsiteX5-281" fmla="*/ 0 w 1827851"/>
                <a:gd name="connsiteY5-282" fmla="*/ 231532 h 249669"/>
                <a:gd name="connsiteX6-283" fmla="*/ 0 w 1827851"/>
                <a:gd name="connsiteY6-284" fmla="*/ 38720 h 249669"/>
                <a:gd name="connsiteX7-285" fmla="*/ 38563 w 1827851"/>
                <a:gd name="connsiteY7-286" fmla="*/ 157 h 249669"/>
                <a:gd name="connsiteX0-287" fmla="*/ 38563 w 1835483"/>
                <a:gd name="connsiteY0-288" fmla="*/ 157 h 247563"/>
                <a:gd name="connsiteX1-289" fmla="*/ 1585987 w 1835483"/>
                <a:gd name="connsiteY1-290" fmla="*/ 157 h 247563"/>
                <a:gd name="connsiteX2-291" fmla="*/ 1670343 w 1835483"/>
                <a:gd name="connsiteY2-292" fmla="*/ 40826 h 247563"/>
                <a:gd name="connsiteX3-293" fmla="*/ 1835483 w 1835483"/>
                <a:gd name="connsiteY3-294" fmla="*/ 247563 h 247563"/>
                <a:gd name="connsiteX4-295" fmla="*/ 0 w 1835483"/>
                <a:gd name="connsiteY4-296" fmla="*/ 231532 h 247563"/>
                <a:gd name="connsiteX5-297" fmla="*/ 0 w 1835483"/>
                <a:gd name="connsiteY5-298" fmla="*/ 231532 h 247563"/>
                <a:gd name="connsiteX6-299" fmla="*/ 0 w 1835483"/>
                <a:gd name="connsiteY6-300" fmla="*/ 38720 h 247563"/>
                <a:gd name="connsiteX7-301" fmla="*/ 38563 w 1835483"/>
                <a:gd name="connsiteY7-302" fmla="*/ 157 h 247563"/>
                <a:gd name="connsiteX0-303" fmla="*/ 38563 w 1835483"/>
                <a:gd name="connsiteY0-304" fmla="*/ 157 h 247563"/>
                <a:gd name="connsiteX1-305" fmla="*/ 1585987 w 1835483"/>
                <a:gd name="connsiteY1-306" fmla="*/ 157 h 247563"/>
                <a:gd name="connsiteX2-307" fmla="*/ 1670343 w 1835483"/>
                <a:gd name="connsiteY2-308" fmla="*/ 40826 h 247563"/>
                <a:gd name="connsiteX3-309" fmla="*/ 1835483 w 1835483"/>
                <a:gd name="connsiteY3-310" fmla="*/ 247563 h 247563"/>
                <a:gd name="connsiteX4-311" fmla="*/ 0 w 1835483"/>
                <a:gd name="connsiteY4-312" fmla="*/ 231532 h 247563"/>
                <a:gd name="connsiteX5-313" fmla="*/ 0 w 1835483"/>
                <a:gd name="connsiteY5-314" fmla="*/ 231532 h 247563"/>
                <a:gd name="connsiteX6-315" fmla="*/ 0 w 1835483"/>
                <a:gd name="connsiteY6-316" fmla="*/ 38720 h 247563"/>
                <a:gd name="connsiteX7-317" fmla="*/ 38563 w 1835483"/>
                <a:gd name="connsiteY7-318" fmla="*/ 157 h 2475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835483" h="247563">
                  <a:moveTo>
                    <a:pt x="38563" y="157"/>
                  </a:moveTo>
                  <a:lnTo>
                    <a:pt x="1585987" y="157"/>
                  </a:lnTo>
                  <a:cubicBezTo>
                    <a:pt x="1632725" y="-1949"/>
                    <a:pt x="1644903" y="17421"/>
                    <a:pt x="1670343" y="40826"/>
                  </a:cubicBezTo>
                  <a:cubicBezTo>
                    <a:pt x="1724542" y="107632"/>
                    <a:pt x="1794004" y="187075"/>
                    <a:pt x="1835483" y="247563"/>
                  </a:cubicBezTo>
                  <a:lnTo>
                    <a:pt x="0" y="231532"/>
                  </a:lnTo>
                  <a:lnTo>
                    <a:pt x="0" y="231532"/>
                  </a:lnTo>
                  <a:lnTo>
                    <a:pt x="0" y="38720"/>
                  </a:lnTo>
                  <a:cubicBezTo>
                    <a:pt x="0" y="17422"/>
                    <a:pt x="17265" y="157"/>
                    <a:pt x="38563" y="157"/>
                  </a:cubicBezTo>
                  <a:close/>
                </a:path>
              </a:pathLst>
            </a:custGeom>
            <a:gradFill flip="none" rotWithShape="0">
              <a:gsLst>
                <a:gs pos="23000">
                  <a:schemeClr val="accent5">
                    <a:lumMod val="60000"/>
                    <a:lumOff val="40000"/>
                  </a:schemeClr>
                </a:gs>
                <a:gs pos="100000">
                  <a:schemeClr val="accent5"/>
                </a:gs>
              </a:gsLst>
              <a:lin ang="2700000" scaled="1"/>
              <a:tileRect/>
            </a:gradFill>
            <a:ln w="12700" cap="flat" cmpd="sng" algn="ctr">
              <a:noFill/>
              <a:prstDash val="solid"/>
              <a:miter lim="800000"/>
            </a:ln>
            <a:effectLst/>
          </p:spPr>
          <p:txBody>
            <a:bodyPr lIns="0" tIns="0" rIns="144000" bIns="36000" rtlCol="0" anchor="ctr">
              <a:noAutofit/>
            </a:bodyPr>
            <a:lstStyle/>
            <a:p>
              <a:pPr lvl="0" algn="l" defTabSz="457200">
                <a:buClrTx/>
                <a:buSzTx/>
                <a:buFontTx/>
              </a:pPr>
              <a:r>
                <a:rPr 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②</a:t>
              </a:r>
              <a:r>
                <a:rPr lang="en-US" altLang="zh-CN"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触客</a:t>
              </a:r>
              <a:endPar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13" name="子陵职场PPT12"/>
            <p:cNvSpPr/>
            <p:nvPr/>
          </p:nvSpPr>
          <p:spPr>
            <a:xfrm flipH="1">
              <a:off x="15282" y="1609"/>
              <a:ext cx="3038" cy="661"/>
            </a:xfrm>
            <a:custGeom>
              <a:avLst/>
              <a:gdLst>
                <a:gd name="connsiteX0" fmla="*/ 38563 w 1655078"/>
                <a:gd name="connsiteY0" fmla="*/ 0 h 231375"/>
                <a:gd name="connsiteX1" fmla="*/ 1616515 w 1655078"/>
                <a:gd name="connsiteY1" fmla="*/ 0 h 231375"/>
                <a:gd name="connsiteX2" fmla="*/ 1655078 w 1655078"/>
                <a:gd name="connsiteY2" fmla="*/ 38563 h 231375"/>
                <a:gd name="connsiteX3" fmla="*/ 1655078 w 1655078"/>
                <a:gd name="connsiteY3" fmla="*/ 231375 h 231375"/>
                <a:gd name="connsiteX4" fmla="*/ 1655078 w 1655078"/>
                <a:gd name="connsiteY4" fmla="*/ 231375 h 231375"/>
                <a:gd name="connsiteX5" fmla="*/ 0 w 1655078"/>
                <a:gd name="connsiteY5" fmla="*/ 231375 h 231375"/>
                <a:gd name="connsiteX6" fmla="*/ 0 w 1655078"/>
                <a:gd name="connsiteY6" fmla="*/ 231375 h 231375"/>
                <a:gd name="connsiteX7" fmla="*/ 0 w 1655078"/>
                <a:gd name="connsiteY7" fmla="*/ 38563 h 231375"/>
                <a:gd name="connsiteX8" fmla="*/ 38563 w 1655078"/>
                <a:gd name="connsiteY8" fmla="*/ 0 h 231375"/>
                <a:gd name="connsiteX0-1" fmla="*/ 38563 w 1794778"/>
                <a:gd name="connsiteY0-2" fmla="*/ 0 h 231375"/>
                <a:gd name="connsiteX1-3" fmla="*/ 1616515 w 1794778"/>
                <a:gd name="connsiteY1-4" fmla="*/ 0 h 231375"/>
                <a:gd name="connsiteX2-5" fmla="*/ 1655078 w 1794778"/>
                <a:gd name="connsiteY2-6" fmla="*/ 38563 h 231375"/>
                <a:gd name="connsiteX3-7" fmla="*/ 1655078 w 1794778"/>
                <a:gd name="connsiteY3-8" fmla="*/ 231375 h 231375"/>
                <a:gd name="connsiteX4-9" fmla="*/ 1794778 w 1794778"/>
                <a:gd name="connsiteY4-10" fmla="*/ 231375 h 231375"/>
                <a:gd name="connsiteX5-11" fmla="*/ 0 w 1794778"/>
                <a:gd name="connsiteY5-12" fmla="*/ 231375 h 231375"/>
                <a:gd name="connsiteX6-13" fmla="*/ 0 w 1794778"/>
                <a:gd name="connsiteY6-14" fmla="*/ 231375 h 231375"/>
                <a:gd name="connsiteX7-15" fmla="*/ 0 w 1794778"/>
                <a:gd name="connsiteY7-16" fmla="*/ 38563 h 231375"/>
                <a:gd name="connsiteX8-17" fmla="*/ 38563 w 1794778"/>
                <a:gd name="connsiteY8-18" fmla="*/ 0 h 231375"/>
                <a:gd name="connsiteX0-19" fmla="*/ 38563 w 1655078"/>
                <a:gd name="connsiteY0-20" fmla="*/ 0 h 231375"/>
                <a:gd name="connsiteX1-21" fmla="*/ 1616515 w 1655078"/>
                <a:gd name="connsiteY1-22" fmla="*/ 0 h 231375"/>
                <a:gd name="connsiteX2-23" fmla="*/ 1655078 w 1655078"/>
                <a:gd name="connsiteY2-24" fmla="*/ 38563 h 231375"/>
                <a:gd name="connsiteX3-25" fmla="*/ 1655078 w 1655078"/>
                <a:gd name="connsiteY3-26" fmla="*/ 231375 h 231375"/>
                <a:gd name="connsiteX4-27" fmla="*/ 0 w 1655078"/>
                <a:gd name="connsiteY4-28" fmla="*/ 231375 h 231375"/>
                <a:gd name="connsiteX5-29" fmla="*/ 0 w 1655078"/>
                <a:gd name="connsiteY5-30" fmla="*/ 231375 h 231375"/>
                <a:gd name="connsiteX6-31" fmla="*/ 0 w 1655078"/>
                <a:gd name="connsiteY6-32" fmla="*/ 38563 h 231375"/>
                <a:gd name="connsiteX7-33" fmla="*/ 38563 w 1655078"/>
                <a:gd name="connsiteY7-34" fmla="*/ 0 h 231375"/>
                <a:gd name="connsiteX0-35" fmla="*/ 38563 w 1657402"/>
                <a:gd name="connsiteY0-36" fmla="*/ 0 h 231375"/>
                <a:gd name="connsiteX1-37" fmla="*/ 1616515 w 1657402"/>
                <a:gd name="connsiteY1-38" fmla="*/ 0 h 231375"/>
                <a:gd name="connsiteX2-39" fmla="*/ 1655078 w 1657402"/>
                <a:gd name="connsiteY2-40" fmla="*/ 38563 h 231375"/>
                <a:gd name="connsiteX3-41" fmla="*/ 1657402 w 1657402"/>
                <a:gd name="connsiteY3-42" fmla="*/ 213709 h 231375"/>
                <a:gd name="connsiteX4-43" fmla="*/ 1655078 w 1657402"/>
                <a:gd name="connsiteY4-44" fmla="*/ 231375 h 231375"/>
                <a:gd name="connsiteX5-45" fmla="*/ 0 w 1657402"/>
                <a:gd name="connsiteY5-46" fmla="*/ 231375 h 231375"/>
                <a:gd name="connsiteX6-47" fmla="*/ 0 w 1657402"/>
                <a:gd name="connsiteY6-48" fmla="*/ 231375 h 231375"/>
                <a:gd name="connsiteX7-49" fmla="*/ 0 w 1657402"/>
                <a:gd name="connsiteY7-50" fmla="*/ 38563 h 231375"/>
                <a:gd name="connsiteX8-51" fmla="*/ 38563 w 1657402"/>
                <a:gd name="connsiteY8-52" fmla="*/ 0 h 231375"/>
                <a:gd name="connsiteX0-53" fmla="*/ 38563 w 1825307"/>
                <a:gd name="connsiteY0-54" fmla="*/ 0 h 231375"/>
                <a:gd name="connsiteX1-55" fmla="*/ 1616515 w 1825307"/>
                <a:gd name="connsiteY1-56" fmla="*/ 0 h 231375"/>
                <a:gd name="connsiteX2-57" fmla="*/ 1655078 w 1825307"/>
                <a:gd name="connsiteY2-58" fmla="*/ 38563 h 231375"/>
                <a:gd name="connsiteX3-59" fmla="*/ 1825307 w 1825307"/>
                <a:gd name="connsiteY3-60" fmla="*/ 217920 h 231375"/>
                <a:gd name="connsiteX4-61" fmla="*/ 1655078 w 1825307"/>
                <a:gd name="connsiteY4-62" fmla="*/ 231375 h 231375"/>
                <a:gd name="connsiteX5-63" fmla="*/ 0 w 1825307"/>
                <a:gd name="connsiteY5-64" fmla="*/ 231375 h 231375"/>
                <a:gd name="connsiteX6-65" fmla="*/ 0 w 1825307"/>
                <a:gd name="connsiteY6-66" fmla="*/ 231375 h 231375"/>
                <a:gd name="connsiteX7-67" fmla="*/ 0 w 1825307"/>
                <a:gd name="connsiteY7-68" fmla="*/ 38563 h 231375"/>
                <a:gd name="connsiteX8-69" fmla="*/ 38563 w 1825307"/>
                <a:gd name="connsiteY8-70" fmla="*/ 0 h 231375"/>
                <a:gd name="connsiteX0-71" fmla="*/ 38563 w 1825307"/>
                <a:gd name="connsiteY0-72" fmla="*/ 0 h 231375"/>
                <a:gd name="connsiteX1-73" fmla="*/ 1616515 w 1825307"/>
                <a:gd name="connsiteY1-74" fmla="*/ 0 h 231375"/>
                <a:gd name="connsiteX2-75" fmla="*/ 1655078 w 1825307"/>
                <a:gd name="connsiteY2-76" fmla="*/ 38563 h 231375"/>
                <a:gd name="connsiteX3-77" fmla="*/ 1825307 w 1825307"/>
                <a:gd name="connsiteY3-78" fmla="*/ 217920 h 231375"/>
                <a:gd name="connsiteX4-79" fmla="*/ 1655078 w 1825307"/>
                <a:gd name="connsiteY4-80" fmla="*/ 231375 h 231375"/>
                <a:gd name="connsiteX5-81" fmla="*/ 0 w 1825307"/>
                <a:gd name="connsiteY5-82" fmla="*/ 231375 h 231375"/>
                <a:gd name="connsiteX6-83" fmla="*/ 0 w 1825307"/>
                <a:gd name="connsiteY6-84" fmla="*/ 231375 h 231375"/>
                <a:gd name="connsiteX7-85" fmla="*/ 0 w 1825307"/>
                <a:gd name="connsiteY7-86" fmla="*/ 38563 h 231375"/>
                <a:gd name="connsiteX8-87" fmla="*/ 38563 w 1825307"/>
                <a:gd name="connsiteY8-88" fmla="*/ 0 h 231375"/>
                <a:gd name="connsiteX0-89" fmla="*/ 38563 w 1825307"/>
                <a:gd name="connsiteY0-90" fmla="*/ 0 h 231375"/>
                <a:gd name="connsiteX1-91" fmla="*/ 1616515 w 1825307"/>
                <a:gd name="connsiteY1-92" fmla="*/ 0 h 231375"/>
                <a:gd name="connsiteX2-93" fmla="*/ 1655078 w 1825307"/>
                <a:gd name="connsiteY2-94" fmla="*/ 38563 h 231375"/>
                <a:gd name="connsiteX3-95" fmla="*/ 1825307 w 1825307"/>
                <a:gd name="connsiteY3-96" fmla="*/ 217920 h 231375"/>
                <a:gd name="connsiteX4-97" fmla="*/ 1655078 w 1825307"/>
                <a:gd name="connsiteY4-98" fmla="*/ 231375 h 231375"/>
                <a:gd name="connsiteX5-99" fmla="*/ 0 w 1825307"/>
                <a:gd name="connsiteY5-100" fmla="*/ 231375 h 231375"/>
                <a:gd name="connsiteX6-101" fmla="*/ 0 w 1825307"/>
                <a:gd name="connsiteY6-102" fmla="*/ 231375 h 231375"/>
                <a:gd name="connsiteX7-103" fmla="*/ 0 w 1825307"/>
                <a:gd name="connsiteY7-104" fmla="*/ 38563 h 231375"/>
                <a:gd name="connsiteX8-105" fmla="*/ 38563 w 1825307"/>
                <a:gd name="connsiteY8-106" fmla="*/ 0 h 231375"/>
                <a:gd name="connsiteX0-107" fmla="*/ 38563 w 1825307"/>
                <a:gd name="connsiteY0-108" fmla="*/ 0 h 231375"/>
                <a:gd name="connsiteX1-109" fmla="*/ 1616515 w 1825307"/>
                <a:gd name="connsiteY1-110" fmla="*/ 0 h 231375"/>
                <a:gd name="connsiteX2-111" fmla="*/ 1655078 w 1825307"/>
                <a:gd name="connsiteY2-112" fmla="*/ 38563 h 231375"/>
                <a:gd name="connsiteX3-113" fmla="*/ 1825307 w 1825307"/>
                <a:gd name="connsiteY3-114" fmla="*/ 230557 h 231375"/>
                <a:gd name="connsiteX4-115" fmla="*/ 1655078 w 1825307"/>
                <a:gd name="connsiteY4-116" fmla="*/ 231375 h 231375"/>
                <a:gd name="connsiteX5-117" fmla="*/ 0 w 1825307"/>
                <a:gd name="connsiteY5-118" fmla="*/ 231375 h 231375"/>
                <a:gd name="connsiteX6-119" fmla="*/ 0 w 1825307"/>
                <a:gd name="connsiteY6-120" fmla="*/ 231375 h 231375"/>
                <a:gd name="connsiteX7-121" fmla="*/ 0 w 1825307"/>
                <a:gd name="connsiteY7-122" fmla="*/ 38563 h 231375"/>
                <a:gd name="connsiteX8-123" fmla="*/ 38563 w 1825307"/>
                <a:gd name="connsiteY8-124" fmla="*/ 0 h 231375"/>
                <a:gd name="connsiteX0-125" fmla="*/ 38563 w 1825307"/>
                <a:gd name="connsiteY0-126" fmla="*/ 0 h 231375"/>
                <a:gd name="connsiteX1-127" fmla="*/ 1616515 w 1825307"/>
                <a:gd name="connsiteY1-128" fmla="*/ 0 h 231375"/>
                <a:gd name="connsiteX2-129" fmla="*/ 1670343 w 1825307"/>
                <a:gd name="connsiteY2-130" fmla="*/ 40669 h 231375"/>
                <a:gd name="connsiteX3-131" fmla="*/ 1825307 w 1825307"/>
                <a:gd name="connsiteY3-132" fmla="*/ 230557 h 231375"/>
                <a:gd name="connsiteX4-133" fmla="*/ 1655078 w 1825307"/>
                <a:gd name="connsiteY4-134" fmla="*/ 231375 h 231375"/>
                <a:gd name="connsiteX5-135" fmla="*/ 0 w 1825307"/>
                <a:gd name="connsiteY5-136" fmla="*/ 231375 h 231375"/>
                <a:gd name="connsiteX6-137" fmla="*/ 0 w 1825307"/>
                <a:gd name="connsiteY6-138" fmla="*/ 231375 h 231375"/>
                <a:gd name="connsiteX7-139" fmla="*/ 0 w 1825307"/>
                <a:gd name="connsiteY7-140" fmla="*/ 38563 h 231375"/>
                <a:gd name="connsiteX8-141" fmla="*/ 38563 w 1825307"/>
                <a:gd name="connsiteY8-142" fmla="*/ 0 h 231375"/>
                <a:gd name="connsiteX0-143" fmla="*/ 38563 w 1825307"/>
                <a:gd name="connsiteY0-144" fmla="*/ 0 h 231375"/>
                <a:gd name="connsiteX1-145" fmla="*/ 1616515 w 1825307"/>
                <a:gd name="connsiteY1-146" fmla="*/ 0 h 231375"/>
                <a:gd name="connsiteX2-147" fmla="*/ 1670343 w 1825307"/>
                <a:gd name="connsiteY2-148" fmla="*/ 40669 h 231375"/>
                <a:gd name="connsiteX3-149" fmla="*/ 1825307 w 1825307"/>
                <a:gd name="connsiteY3-150" fmla="*/ 230557 h 231375"/>
                <a:gd name="connsiteX4-151" fmla="*/ 0 w 1825307"/>
                <a:gd name="connsiteY4-152" fmla="*/ 231375 h 231375"/>
                <a:gd name="connsiteX5-153" fmla="*/ 0 w 1825307"/>
                <a:gd name="connsiteY5-154" fmla="*/ 231375 h 231375"/>
                <a:gd name="connsiteX6-155" fmla="*/ 0 w 1825307"/>
                <a:gd name="connsiteY6-156" fmla="*/ 38563 h 231375"/>
                <a:gd name="connsiteX7-157" fmla="*/ 38563 w 1825307"/>
                <a:gd name="connsiteY7-158" fmla="*/ 0 h 231375"/>
                <a:gd name="connsiteX0-159" fmla="*/ 38563 w 1825307"/>
                <a:gd name="connsiteY0-160" fmla="*/ 0 h 231375"/>
                <a:gd name="connsiteX1-161" fmla="*/ 1616515 w 1825307"/>
                <a:gd name="connsiteY1-162" fmla="*/ 0 h 231375"/>
                <a:gd name="connsiteX2-163" fmla="*/ 1670343 w 1825307"/>
                <a:gd name="connsiteY2-164" fmla="*/ 40669 h 231375"/>
                <a:gd name="connsiteX3-165" fmla="*/ 1825307 w 1825307"/>
                <a:gd name="connsiteY3-166" fmla="*/ 230557 h 231375"/>
                <a:gd name="connsiteX4-167" fmla="*/ 0 w 1825307"/>
                <a:gd name="connsiteY4-168" fmla="*/ 231375 h 231375"/>
                <a:gd name="connsiteX5-169" fmla="*/ 0 w 1825307"/>
                <a:gd name="connsiteY5-170" fmla="*/ 231375 h 231375"/>
                <a:gd name="connsiteX6-171" fmla="*/ 0 w 1825307"/>
                <a:gd name="connsiteY6-172" fmla="*/ 38563 h 231375"/>
                <a:gd name="connsiteX7-173" fmla="*/ 38563 w 1825307"/>
                <a:gd name="connsiteY7-174" fmla="*/ 0 h 231375"/>
                <a:gd name="connsiteX0-175" fmla="*/ 38563 w 1825307"/>
                <a:gd name="connsiteY0-176" fmla="*/ 0 h 231375"/>
                <a:gd name="connsiteX1-177" fmla="*/ 1616515 w 1825307"/>
                <a:gd name="connsiteY1-178" fmla="*/ 0 h 231375"/>
                <a:gd name="connsiteX2-179" fmla="*/ 1670343 w 1825307"/>
                <a:gd name="connsiteY2-180" fmla="*/ 40669 h 231375"/>
                <a:gd name="connsiteX3-181" fmla="*/ 1825307 w 1825307"/>
                <a:gd name="connsiteY3-182" fmla="*/ 230557 h 231375"/>
                <a:gd name="connsiteX4-183" fmla="*/ 0 w 1825307"/>
                <a:gd name="connsiteY4-184" fmla="*/ 231375 h 231375"/>
                <a:gd name="connsiteX5-185" fmla="*/ 0 w 1825307"/>
                <a:gd name="connsiteY5-186" fmla="*/ 231375 h 231375"/>
                <a:gd name="connsiteX6-187" fmla="*/ 0 w 1825307"/>
                <a:gd name="connsiteY6-188" fmla="*/ 38563 h 231375"/>
                <a:gd name="connsiteX7-189" fmla="*/ 38563 w 1825307"/>
                <a:gd name="connsiteY7-190" fmla="*/ 0 h 231375"/>
                <a:gd name="connsiteX0-191" fmla="*/ 38563 w 1825307"/>
                <a:gd name="connsiteY0-192" fmla="*/ 0 h 231375"/>
                <a:gd name="connsiteX1-193" fmla="*/ 1616515 w 1825307"/>
                <a:gd name="connsiteY1-194" fmla="*/ 0 h 231375"/>
                <a:gd name="connsiteX2-195" fmla="*/ 1670343 w 1825307"/>
                <a:gd name="connsiteY2-196" fmla="*/ 40669 h 231375"/>
                <a:gd name="connsiteX3-197" fmla="*/ 1825307 w 1825307"/>
                <a:gd name="connsiteY3-198" fmla="*/ 230557 h 231375"/>
                <a:gd name="connsiteX4-199" fmla="*/ 0 w 1825307"/>
                <a:gd name="connsiteY4-200" fmla="*/ 231375 h 231375"/>
                <a:gd name="connsiteX5-201" fmla="*/ 0 w 1825307"/>
                <a:gd name="connsiteY5-202" fmla="*/ 231375 h 231375"/>
                <a:gd name="connsiteX6-203" fmla="*/ 0 w 1825307"/>
                <a:gd name="connsiteY6-204" fmla="*/ 38563 h 231375"/>
                <a:gd name="connsiteX7-205" fmla="*/ 38563 w 1825307"/>
                <a:gd name="connsiteY7-206" fmla="*/ 0 h 231375"/>
                <a:gd name="connsiteX0-207" fmla="*/ 38563 w 1825307"/>
                <a:gd name="connsiteY0-208" fmla="*/ 0 h 231375"/>
                <a:gd name="connsiteX1-209" fmla="*/ 1616515 w 1825307"/>
                <a:gd name="connsiteY1-210" fmla="*/ 0 h 231375"/>
                <a:gd name="connsiteX2-211" fmla="*/ 1670343 w 1825307"/>
                <a:gd name="connsiteY2-212" fmla="*/ 40669 h 231375"/>
                <a:gd name="connsiteX3-213" fmla="*/ 1825307 w 1825307"/>
                <a:gd name="connsiteY3-214" fmla="*/ 230557 h 231375"/>
                <a:gd name="connsiteX4-215" fmla="*/ 0 w 1825307"/>
                <a:gd name="connsiteY4-216" fmla="*/ 231375 h 231375"/>
                <a:gd name="connsiteX5-217" fmla="*/ 0 w 1825307"/>
                <a:gd name="connsiteY5-218" fmla="*/ 231375 h 231375"/>
                <a:gd name="connsiteX6-219" fmla="*/ 0 w 1825307"/>
                <a:gd name="connsiteY6-220" fmla="*/ 38563 h 231375"/>
                <a:gd name="connsiteX7-221" fmla="*/ 38563 w 1825307"/>
                <a:gd name="connsiteY7-222" fmla="*/ 0 h 231375"/>
                <a:gd name="connsiteX0-223" fmla="*/ 38563 w 1827851"/>
                <a:gd name="connsiteY0-224" fmla="*/ 0 h 249512"/>
                <a:gd name="connsiteX1-225" fmla="*/ 1616515 w 1827851"/>
                <a:gd name="connsiteY1-226" fmla="*/ 0 h 249512"/>
                <a:gd name="connsiteX2-227" fmla="*/ 1670343 w 1827851"/>
                <a:gd name="connsiteY2-228" fmla="*/ 40669 h 249512"/>
                <a:gd name="connsiteX3-229" fmla="*/ 1827851 w 1827851"/>
                <a:gd name="connsiteY3-230" fmla="*/ 249512 h 249512"/>
                <a:gd name="connsiteX4-231" fmla="*/ 0 w 1827851"/>
                <a:gd name="connsiteY4-232" fmla="*/ 231375 h 249512"/>
                <a:gd name="connsiteX5-233" fmla="*/ 0 w 1827851"/>
                <a:gd name="connsiteY5-234" fmla="*/ 231375 h 249512"/>
                <a:gd name="connsiteX6-235" fmla="*/ 0 w 1827851"/>
                <a:gd name="connsiteY6-236" fmla="*/ 38563 h 249512"/>
                <a:gd name="connsiteX7-237" fmla="*/ 38563 w 1827851"/>
                <a:gd name="connsiteY7-238" fmla="*/ 0 h 249512"/>
                <a:gd name="connsiteX0-239" fmla="*/ 38563 w 1827851"/>
                <a:gd name="connsiteY0-240" fmla="*/ 0 h 249512"/>
                <a:gd name="connsiteX1-241" fmla="*/ 1616515 w 1827851"/>
                <a:gd name="connsiteY1-242" fmla="*/ 0 h 249512"/>
                <a:gd name="connsiteX2-243" fmla="*/ 1670343 w 1827851"/>
                <a:gd name="connsiteY2-244" fmla="*/ 40669 h 249512"/>
                <a:gd name="connsiteX3-245" fmla="*/ 1827851 w 1827851"/>
                <a:gd name="connsiteY3-246" fmla="*/ 249512 h 249512"/>
                <a:gd name="connsiteX4-247" fmla="*/ 0 w 1827851"/>
                <a:gd name="connsiteY4-248" fmla="*/ 231375 h 249512"/>
                <a:gd name="connsiteX5-249" fmla="*/ 0 w 1827851"/>
                <a:gd name="connsiteY5-250" fmla="*/ 231375 h 249512"/>
                <a:gd name="connsiteX6-251" fmla="*/ 0 w 1827851"/>
                <a:gd name="connsiteY6-252" fmla="*/ 38563 h 249512"/>
                <a:gd name="connsiteX7-253" fmla="*/ 38563 w 1827851"/>
                <a:gd name="connsiteY7-254" fmla="*/ 0 h 249512"/>
                <a:gd name="connsiteX0-255" fmla="*/ 38563 w 1827851"/>
                <a:gd name="connsiteY0-256" fmla="*/ 0 h 249512"/>
                <a:gd name="connsiteX1-257" fmla="*/ 1585987 w 1827851"/>
                <a:gd name="connsiteY1-258" fmla="*/ 0 h 249512"/>
                <a:gd name="connsiteX2-259" fmla="*/ 1670343 w 1827851"/>
                <a:gd name="connsiteY2-260" fmla="*/ 40669 h 249512"/>
                <a:gd name="connsiteX3-261" fmla="*/ 1827851 w 1827851"/>
                <a:gd name="connsiteY3-262" fmla="*/ 249512 h 249512"/>
                <a:gd name="connsiteX4-263" fmla="*/ 0 w 1827851"/>
                <a:gd name="connsiteY4-264" fmla="*/ 231375 h 249512"/>
                <a:gd name="connsiteX5-265" fmla="*/ 0 w 1827851"/>
                <a:gd name="connsiteY5-266" fmla="*/ 231375 h 249512"/>
                <a:gd name="connsiteX6-267" fmla="*/ 0 w 1827851"/>
                <a:gd name="connsiteY6-268" fmla="*/ 38563 h 249512"/>
                <a:gd name="connsiteX7-269" fmla="*/ 38563 w 1827851"/>
                <a:gd name="connsiteY7-270" fmla="*/ 0 h 249512"/>
                <a:gd name="connsiteX0-271" fmla="*/ 38563 w 1827851"/>
                <a:gd name="connsiteY0-272" fmla="*/ 157 h 249669"/>
                <a:gd name="connsiteX1-273" fmla="*/ 1585987 w 1827851"/>
                <a:gd name="connsiteY1-274" fmla="*/ 157 h 249669"/>
                <a:gd name="connsiteX2-275" fmla="*/ 1670343 w 1827851"/>
                <a:gd name="connsiteY2-276" fmla="*/ 40826 h 249669"/>
                <a:gd name="connsiteX3-277" fmla="*/ 1827851 w 1827851"/>
                <a:gd name="connsiteY3-278" fmla="*/ 249669 h 249669"/>
                <a:gd name="connsiteX4-279" fmla="*/ 0 w 1827851"/>
                <a:gd name="connsiteY4-280" fmla="*/ 231532 h 249669"/>
                <a:gd name="connsiteX5-281" fmla="*/ 0 w 1827851"/>
                <a:gd name="connsiteY5-282" fmla="*/ 231532 h 249669"/>
                <a:gd name="connsiteX6-283" fmla="*/ 0 w 1827851"/>
                <a:gd name="connsiteY6-284" fmla="*/ 38720 h 249669"/>
                <a:gd name="connsiteX7-285" fmla="*/ 38563 w 1827851"/>
                <a:gd name="connsiteY7-286" fmla="*/ 157 h 249669"/>
                <a:gd name="connsiteX0-287" fmla="*/ 38563 w 1835483"/>
                <a:gd name="connsiteY0-288" fmla="*/ 157 h 247563"/>
                <a:gd name="connsiteX1-289" fmla="*/ 1585987 w 1835483"/>
                <a:gd name="connsiteY1-290" fmla="*/ 157 h 247563"/>
                <a:gd name="connsiteX2-291" fmla="*/ 1670343 w 1835483"/>
                <a:gd name="connsiteY2-292" fmla="*/ 40826 h 247563"/>
                <a:gd name="connsiteX3-293" fmla="*/ 1835483 w 1835483"/>
                <a:gd name="connsiteY3-294" fmla="*/ 247563 h 247563"/>
                <a:gd name="connsiteX4-295" fmla="*/ 0 w 1835483"/>
                <a:gd name="connsiteY4-296" fmla="*/ 231532 h 247563"/>
                <a:gd name="connsiteX5-297" fmla="*/ 0 w 1835483"/>
                <a:gd name="connsiteY5-298" fmla="*/ 231532 h 247563"/>
                <a:gd name="connsiteX6-299" fmla="*/ 0 w 1835483"/>
                <a:gd name="connsiteY6-300" fmla="*/ 38720 h 247563"/>
                <a:gd name="connsiteX7-301" fmla="*/ 38563 w 1835483"/>
                <a:gd name="connsiteY7-302" fmla="*/ 157 h 247563"/>
                <a:gd name="connsiteX0-303" fmla="*/ 38563 w 1835483"/>
                <a:gd name="connsiteY0-304" fmla="*/ 157 h 247563"/>
                <a:gd name="connsiteX1-305" fmla="*/ 1585987 w 1835483"/>
                <a:gd name="connsiteY1-306" fmla="*/ 157 h 247563"/>
                <a:gd name="connsiteX2-307" fmla="*/ 1670343 w 1835483"/>
                <a:gd name="connsiteY2-308" fmla="*/ 40826 h 247563"/>
                <a:gd name="connsiteX3-309" fmla="*/ 1835483 w 1835483"/>
                <a:gd name="connsiteY3-310" fmla="*/ 247563 h 247563"/>
                <a:gd name="connsiteX4-311" fmla="*/ 0 w 1835483"/>
                <a:gd name="connsiteY4-312" fmla="*/ 231532 h 247563"/>
                <a:gd name="connsiteX5-313" fmla="*/ 0 w 1835483"/>
                <a:gd name="connsiteY5-314" fmla="*/ 231532 h 247563"/>
                <a:gd name="connsiteX6-315" fmla="*/ 0 w 1835483"/>
                <a:gd name="connsiteY6-316" fmla="*/ 38720 h 247563"/>
                <a:gd name="connsiteX7-317" fmla="*/ 38563 w 1835483"/>
                <a:gd name="connsiteY7-318" fmla="*/ 157 h 2475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835483" h="247563">
                  <a:moveTo>
                    <a:pt x="38563" y="157"/>
                  </a:moveTo>
                  <a:lnTo>
                    <a:pt x="1585987" y="157"/>
                  </a:lnTo>
                  <a:cubicBezTo>
                    <a:pt x="1632725" y="-1949"/>
                    <a:pt x="1644903" y="17421"/>
                    <a:pt x="1670343" y="40826"/>
                  </a:cubicBezTo>
                  <a:cubicBezTo>
                    <a:pt x="1724542" y="107632"/>
                    <a:pt x="1794004" y="187075"/>
                    <a:pt x="1835483" y="247563"/>
                  </a:cubicBezTo>
                  <a:lnTo>
                    <a:pt x="0" y="231532"/>
                  </a:lnTo>
                  <a:lnTo>
                    <a:pt x="0" y="231532"/>
                  </a:lnTo>
                  <a:lnTo>
                    <a:pt x="0" y="38720"/>
                  </a:lnTo>
                  <a:cubicBezTo>
                    <a:pt x="0" y="17422"/>
                    <a:pt x="17265" y="157"/>
                    <a:pt x="38563" y="157"/>
                  </a:cubicBezTo>
                  <a:close/>
                </a:path>
              </a:pathLst>
            </a:custGeom>
            <a:gradFill flip="none" rotWithShape="0">
              <a:gsLst>
                <a:gs pos="23000">
                  <a:schemeClr val="accent1">
                    <a:lumMod val="75000"/>
                    <a:lumOff val="25000"/>
                  </a:schemeClr>
                </a:gs>
                <a:gs pos="100000">
                  <a:schemeClr val="accent1"/>
                </a:gs>
              </a:gsLst>
              <a:lin ang="2700000" scaled="1"/>
              <a:tileRect/>
            </a:gradFill>
            <a:ln w="12700" cap="flat" cmpd="sng" algn="ctr">
              <a:noFill/>
              <a:prstDash val="solid"/>
              <a:miter lim="800000"/>
            </a:ln>
            <a:effectLst/>
          </p:spPr>
          <p:txBody>
            <a:bodyPr lIns="0" tIns="0" rIns="144000" bIns="36000" rtlCol="0" anchor="ctr"/>
            <a:lstStyle/>
            <a:p>
              <a:pPr algn="l" defTabSz="457200"/>
              <a:r>
                <a:rPr lang="en-US" sz="2000" b="1" kern="0" dirty="0">
                  <a:solidFill>
                    <a:srgbClr val="FFFFFF"/>
                  </a:solidFill>
                  <a:latin typeface="微软雅黑" panose="020B0503020204020204" charset="-122"/>
                  <a:ea typeface="微软雅黑" panose="020B0503020204020204" charset="-122"/>
                  <a:cs typeface="微软雅黑" panose="020B0503020204020204" charset="-122"/>
                </a:rPr>
                <a:t>      </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rPr>
                <a:t>①</a:t>
              </a:r>
              <a:r>
                <a:rPr lang="en-US" altLang="zh-CN" sz="2000" b="1" kern="0" dirty="0">
                  <a:solidFill>
                    <a:srgbClr val="FFFFFF"/>
                  </a:solidFill>
                  <a:latin typeface="微软雅黑" panose="020B0503020204020204" charset="-122"/>
                  <a:ea typeface="微软雅黑" panose="020B0503020204020204" charset="-122"/>
                  <a:cs typeface="微软雅黑" panose="020B0503020204020204" charset="-122"/>
                </a:rPr>
                <a:t>-</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rPr>
                <a:t>获客</a:t>
              </a:r>
              <a:endPar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4" name="子陵职场PPT14"/>
            <p:cNvSpPr/>
            <p:nvPr/>
          </p:nvSpPr>
          <p:spPr>
            <a:xfrm flipH="1">
              <a:off x="15267" y="7437"/>
              <a:ext cx="3038" cy="661"/>
            </a:xfrm>
            <a:custGeom>
              <a:avLst/>
              <a:gdLst>
                <a:gd name="connsiteX0" fmla="*/ 38563 w 1655078"/>
                <a:gd name="connsiteY0" fmla="*/ 0 h 231375"/>
                <a:gd name="connsiteX1" fmla="*/ 1616515 w 1655078"/>
                <a:gd name="connsiteY1" fmla="*/ 0 h 231375"/>
                <a:gd name="connsiteX2" fmla="*/ 1655078 w 1655078"/>
                <a:gd name="connsiteY2" fmla="*/ 38563 h 231375"/>
                <a:gd name="connsiteX3" fmla="*/ 1655078 w 1655078"/>
                <a:gd name="connsiteY3" fmla="*/ 231375 h 231375"/>
                <a:gd name="connsiteX4" fmla="*/ 1655078 w 1655078"/>
                <a:gd name="connsiteY4" fmla="*/ 231375 h 231375"/>
                <a:gd name="connsiteX5" fmla="*/ 0 w 1655078"/>
                <a:gd name="connsiteY5" fmla="*/ 231375 h 231375"/>
                <a:gd name="connsiteX6" fmla="*/ 0 w 1655078"/>
                <a:gd name="connsiteY6" fmla="*/ 231375 h 231375"/>
                <a:gd name="connsiteX7" fmla="*/ 0 w 1655078"/>
                <a:gd name="connsiteY7" fmla="*/ 38563 h 231375"/>
                <a:gd name="connsiteX8" fmla="*/ 38563 w 1655078"/>
                <a:gd name="connsiteY8" fmla="*/ 0 h 231375"/>
                <a:gd name="connsiteX0-1" fmla="*/ 38563 w 1794778"/>
                <a:gd name="connsiteY0-2" fmla="*/ 0 h 231375"/>
                <a:gd name="connsiteX1-3" fmla="*/ 1616515 w 1794778"/>
                <a:gd name="connsiteY1-4" fmla="*/ 0 h 231375"/>
                <a:gd name="connsiteX2-5" fmla="*/ 1655078 w 1794778"/>
                <a:gd name="connsiteY2-6" fmla="*/ 38563 h 231375"/>
                <a:gd name="connsiteX3-7" fmla="*/ 1655078 w 1794778"/>
                <a:gd name="connsiteY3-8" fmla="*/ 231375 h 231375"/>
                <a:gd name="connsiteX4-9" fmla="*/ 1794778 w 1794778"/>
                <a:gd name="connsiteY4-10" fmla="*/ 231375 h 231375"/>
                <a:gd name="connsiteX5-11" fmla="*/ 0 w 1794778"/>
                <a:gd name="connsiteY5-12" fmla="*/ 231375 h 231375"/>
                <a:gd name="connsiteX6-13" fmla="*/ 0 w 1794778"/>
                <a:gd name="connsiteY6-14" fmla="*/ 231375 h 231375"/>
                <a:gd name="connsiteX7-15" fmla="*/ 0 w 1794778"/>
                <a:gd name="connsiteY7-16" fmla="*/ 38563 h 231375"/>
                <a:gd name="connsiteX8-17" fmla="*/ 38563 w 1794778"/>
                <a:gd name="connsiteY8-18" fmla="*/ 0 h 231375"/>
                <a:gd name="connsiteX0-19" fmla="*/ 38563 w 1655078"/>
                <a:gd name="connsiteY0-20" fmla="*/ 0 h 231375"/>
                <a:gd name="connsiteX1-21" fmla="*/ 1616515 w 1655078"/>
                <a:gd name="connsiteY1-22" fmla="*/ 0 h 231375"/>
                <a:gd name="connsiteX2-23" fmla="*/ 1655078 w 1655078"/>
                <a:gd name="connsiteY2-24" fmla="*/ 38563 h 231375"/>
                <a:gd name="connsiteX3-25" fmla="*/ 1655078 w 1655078"/>
                <a:gd name="connsiteY3-26" fmla="*/ 231375 h 231375"/>
                <a:gd name="connsiteX4-27" fmla="*/ 0 w 1655078"/>
                <a:gd name="connsiteY4-28" fmla="*/ 231375 h 231375"/>
                <a:gd name="connsiteX5-29" fmla="*/ 0 w 1655078"/>
                <a:gd name="connsiteY5-30" fmla="*/ 231375 h 231375"/>
                <a:gd name="connsiteX6-31" fmla="*/ 0 w 1655078"/>
                <a:gd name="connsiteY6-32" fmla="*/ 38563 h 231375"/>
                <a:gd name="connsiteX7-33" fmla="*/ 38563 w 1655078"/>
                <a:gd name="connsiteY7-34" fmla="*/ 0 h 231375"/>
                <a:gd name="connsiteX0-35" fmla="*/ 38563 w 1657402"/>
                <a:gd name="connsiteY0-36" fmla="*/ 0 h 231375"/>
                <a:gd name="connsiteX1-37" fmla="*/ 1616515 w 1657402"/>
                <a:gd name="connsiteY1-38" fmla="*/ 0 h 231375"/>
                <a:gd name="connsiteX2-39" fmla="*/ 1655078 w 1657402"/>
                <a:gd name="connsiteY2-40" fmla="*/ 38563 h 231375"/>
                <a:gd name="connsiteX3-41" fmla="*/ 1657402 w 1657402"/>
                <a:gd name="connsiteY3-42" fmla="*/ 213709 h 231375"/>
                <a:gd name="connsiteX4-43" fmla="*/ 1655078 w 1657402"/>
                <a:gd name="connsiteY4-44" fmla="*/ 231375 h 231375"/>
                <a:gd name="connsiteX5-45" fmla="*/ 0 w 1657402"/>
                <a:gd name="connsiteY5-46" fmla="*/ 231375 h 231375"/>
                <a:gd name="connsiteX6-47" fmla="*/ 0 w 1657402"/>
                <a:gd name="connsiteY6-48" fmla="*/ 231375 h 231375"/>
                <a:gd name="connsiteX7-49" fmla="*/ 0 w 1657402"/>
                <a:gd name="connsiteY7-50" fmla="*/ 38563 h 231375"/>
                <a:gd name="connsiteX8-51" fmla="*/ 38563 w 1657402"/>
                <a:gd name="connsiteY8-52" fmla="*/ 0 h 231375"/>
                <a:gd name="connsiteX0-53" fmla="*/ 38563 w 1825307"/>
                <a:gd name="connsiteY0-54" fmla="*/ 0 h 231375"/>
                <a:gd name="connsiteX1-55" fmla="*/ 1616515 w 1825307"/>
                <a:gd name="connsiteY1-56" fmla="*/ 0 h 231375"/>
                <a:gd name="connsiteX2-57" fmla="*/ 1655078 w 1825307"/>
                <a:gd name="connsiteY2-58" fmla="*/ 38563 h 231375"/>
                <a:gd name="connsiteX3-59" fmla="*/ 1825307 w 1825307"/>
                <a:gd name="connsiteY3-60" fmla="*/ 217920 h 231375"/>
                <a:gd name="connsiteX4-61" fmla="*/ 1655078 w 1825307"/>
                <a:gd name="connsiteY4-62" fmla="*/ 231375 h 231375"/>
                <a:gd name="connsiteX5-63" fmla="*/ 0 w 1825307"/>
                <a:gd name="connsiteY5-64" fmla="*/ 231375 h 231375"/>
                <a:gd name="connsiteX6-65" fmla="*/ 0 w 1825307"/>
                <a:gd name="connsiteY6-66" fmla="*/ 231375 h 231375"/>
                <a:gd name="connsiteX7-67" fmla="*/ 0 w 1825307"/>
                <a:gd name="connsiteY7-68" fmla="*/ 38563 h 231375"/>
                <a:gd name="connsiteX8-69" fmla="*/ 38563 w 1825307"/>
                <a:gd name="connsiteY8-70" fmla="*/ 0 h 231375"/>
                <a:gd name="connsiteX0-71" fmla="*/ 38563 w 1825307"/>
                <a:gd name="connsiteY0-72" fmla="*/ 0 h 231375"/>
                <a:gd name="connsiteX1-73" fmla="*/ 1616515 w 1825307"/>
                <a:gd name="connsiteY1-74" fmla="*/ 0 h 231375"/>
                <a:gd name="connsiteX2-75" fmla="*/ 1655078 w 1825307"/>
                <a:gd name="connsiteY2-76" fmla="*/ 38563 h 231375"/>
                <a:gd name="connsiteX3-77" fmla="*/ 1825307 w 1825307"/>
                <a:gd name="connsiteY3-78" fmla="*/ 217920 h 231375"/>
                <a:gd name="connsiteX4-79" fmla="*/ 1655078 w 1825307"/>
                <a:gd name="connsiteY4-80" fmla="*/ 231375 h 231375"/>
                <a:gd name="connsiteX5-81" fmla="*/ 0 w 1825307"/>
                <a:gd name="connsiteY5-82" fmla="*/ 231375 h 231375"/>
                <a:gd name="connsiteX6-83" fmla="*/ 0 w 1825307"/>
                <a:gd name="connsiteY6-84" fmla="*/ 231375 h 231375"/>
                <a:gd name="connsiteX7-85" fmla="*/ 0 w 1825307"/>
                <a:gd name="connsiteY7-86" fmla="*/ 38563 h 231375"/>
                <a:gd name="connsiteX8-87" fmla="*/ 38563 w 1825307"/>
                <a:gd name="connsiteY8-88" fmla="*/ 0 h 231375"/>
                <a:gd name="connsiteX0-89" fmla="*/ 38563 w 1825307"/>
                <a:gd name="connsiteY0-90" fmla="*/ 0 h 231375"/>
                <a:gd name="connsiteX1-91" fmla="*/ 1616515 w 1825307"/>
                <a:gd name="connsiteY1-92" fmla="*/ 0 h 231375"/>
                <a:gd name="connsiteX2-93" fmla="*/ 1655078 w 1825307"/>
                <a:gd name="connsiteY2-94" fmla="*/ 38563 h 231375"/>
                <a:gd name="connsiteX3-95" fmla="*/ 1825307 w 1825307"/>
                <a:gd name="connsiteY3-96" fmla="*/ 217920 h 231375"/>
                <a:gd name="connsiteX4-97" fmla="*/ 1655078 w 1825307"/>
                <a:gd name="connsiteY4-98" fmla="*/ 231375 h 231375"/>
                <a:gd name="connsiteX5-99" fmla="*/ 0 w 1825307"/>
                <a:gd name="connsiteY5-100" fmla="*/ 231375 h 231375"/>
                <a:gd name="connsiteX6-101" fmla="*/ 0 w 1825307"/>
                <a:gd name="connsiteY6-102" fmla="*/ 231375 h 231375"/>
                <a:gd name="connsiteX7-103" fmla="*/ 0 w 1825307"/>
                <a:gd name="connsiteY7-104" fmla="*/ 38563 h 231375"/>
                <a:gd name="connsiteX8-105" fmla="*/ 38563 w 1825307"/>
                <a:gd name="connsiteY8-106" fmla="*/ 0 h 231375"/>
                <a:gd name="connsiteX0-107" fmla="*/ 38563 w 1825307"/>
                <a:gd name="connsiteY0-108" fmla="*/ 0 h 231375"/>
                <a:gd name="connsiteX1-109" fmla="*/ 1616515 w 1825307"/>
                <a:gd name="connsiteY1-110" fmla="*/ 0 h 231375"/>
                <a:gd name="connsiteX2-111" fmla="*/ 1655078 w 1825307"/>
                <a:gd name="connsiteY2-112" fmla="*/ 38563 h 231375"/>
                <a:gd name="connsiteX3-113" fmla="*/ 1825307 w 1825307"/>
                <a:gd name="connsiteY3-114" fmla="*/ 230557 h 231375"/>
                <a:gd name="connsiteX4-115" fmla="*/ 1655078 w 1825307"/>
                <a:gd name="connsiteY4-116" fmla="*/ 231375 h 231375"/>
                <a:gd name="connsiteX5-117" fmla="*/ 0 w 1825307"/>
                <a:gd name="connsiteY5-118" fmla="*/ 231375 h 231375"/>
                <a:gd name="connsiteX6-119" fmla="*/ 0 w 1825307"/>
                <a:gd name="connsiteY6-120" fmla="*/ 231375 h 231375"/>
                <a:gd name="connsiteX7-121" fmla="*/ 0 w 1825307"/>
                <a:gd name="connsiteY7-122" fmla="*/ 38563 h 231375"/>
                <a:gd name="connsiteX8-123" fmla="*/ 38563 w 1825307"/>
                <a:gd name="connsiteY8-124" fmla="*/ 0 h 231375"/>
                <a:gd name="connsiteX0-125" fmla="*/ 38563 w 1825307"/>
                <a:gd name="connsiteY0-126" fmla="*/ 0 h 231375"/>
                <a:gd name="connsiteX1-127" fmla="*/ 1616515 w 1825307"/>
                <a:gd name="connsiteY1-128" fmla="*/ 0 h 231375"/>
                <a:gd name="connsiteX2-129" fmla="*/ 1670343 w 1825307"/>
                <a:gd name="connsiteY2-130" fmla="*/ 40669 h 231375"/>
                <a:gd name="connsiteX3-131" fmla="*/ 1825307 w 1825307"/>
                <a:gd name="connsiteY3-132" fmla="*/ 230557 h 231375"/>
                <a:gd name="connsiteX4-133" fmla="*/ 1655078 w 1825307"/>
                <a:gd name="connsiteY4-134" fmla="*/ 231375 h 231375"/>
                <a:gd name="connsiteX5-135" fmla="*/ 0 w 1825307"/>
                <a:gd name="connsiteY5-136" fmla="*/ 231375 h 231375"/>
                <a:gd name="connsiteX6-137" fmla="*/ 0 w 1825307"/>
                <a:gd name="connsiteY6-138" fmla="*/ 231375 h 231375"/>
                <a:gd name="connsiteX7-139" fmla="*/ 0 w 1825307"/>
                <a:gd name="connsiteY7-140" fmla="*/ 38563 h 231375"/>
                <a:gd name="connsiteX8-141" fmla="*/ 38563 w 1825307"/>
                <a:gd name="connsiteY8-142" fmla="*/ 0 h 231375"/>
                <a:gd name="connsiteX0-143" fmla="*/ 38563 w 1825307"/>
                <a:gd name="connsiteY0-144" fmla="*/ 0 h 231375"/>
                <a:gd name="connsiteX1-145" fmla="*/ 1616515 w 1825307"/>
                <a:gd name="connsiteY1-146" fmla="*/ 0 h 231375"/>
                <a:gd name="connsiteX2-147" fmla="*/ 1670343 w 1825307"/>
                <a:gd name="connsiteY2-148" fmla="*/ 40669 h 231375"/>
                <a:gd name="connsiteX3-149" fmla="*/ 1825307 w 1825307"/>
                <a:gd name="connsiteY3-150" fmla="*/ 230557 h 231375"/>
                <a:gd name="connsiteX4-151" fmla="*/ 0 w 1825307"/>
                <a:gd name="connsiteY4-152" fmla="*/ 231375 h 231375"/>
                <a:gd name="connsiteX5-153" fmla="*/ 0 w 1825307"/>
                <a:gd name="connsiteY5-154" fmla="*/ 231375 h 231375"/>
                <a:gd name="connsiteX6-155" fmla="*/ 0 w 1825307"/>
                <a:gd name="connsiteY6-156" fmla="*/ 38563 h 231375"/>
                <a:gd name="connsiteX7-157" fmla="*/ 38563 w 1825307"/>
                <a:gd name="connsiteY7-158" fmla="*/ 0 h 231375"/>
                <a:gd name="connsiteX0-159" fmla="*/ 38563 w 1825307"/>
                <a:gd name="connsiteY0-160" fmla="*/ 0 h 231375"/>
                <a:gd name="connsiteX1-161" fmla="*/ 1616515 w 1825307"/>
                <a:gd name="connsiteY1-162" fmla="*/ 0 h 231375"/>
                <a:gd name="connsiteX2-163" fmla="*/ 1670343 w 1825307"/>
                <a:gd name="connsiteY2-164" fmla="*/ 40669 h 231375"/>
                <a:gd name="connsiteX3-165" fmla="*/ 1825307 w 1825307"/>
                <a:gd name="connsiteY3-166" fmla="*/ 230557 h 231375"/>
                <a:gd name="connsiteX4-167" fmla="*/ 0 w 1825307"/>
                <a:gd name="connsiteY4-168" fmla="*/ 231375 h 231375"/>
                <a:gd name="connsiteX5-169" fmla="*/ 0 w 1825307"/>
                <a:gd name="connsiteY5-170" fmla="*/ 231375 h 231375"/>
                <a:gd name="connsiteX6-171" fmla="*/ 0 w 1825307"/>
                <a:gd name="connsiteY6-172" fmla="*/ 38563 h 231375"/>
                <a:gd name="connsiteX7-173" fmla="*/ 38563 w 1825307"/>
                <a:gd name="connsiteY7-174" fmla="*/ 0 h 231375"/>
                <a:gd name="connsiteX0-175" fmla="*/ 38563 w 1825307"/>
                <a:gd name="connsiteY0-176" fmla="*/ 0 h 231375"/>
                <a:gd name="connsiteX1-177" fmla="*/ 1616515 w 1825307"/>
                <a:gd name="connsiteY1-178" fmla="*/ 0 h 231375"/>
                <a:gd name="connsiteX2-179" fmla="*/ 1670343 w 1825307"/>
                <a:gd name="connsiteY2-180" fmla="*/ 40669 h 231375"/>
                <a:gd name="connsiteX3-181" fmla="*/ 1825307 w 1825307"/>
                <a:gd name="connsiteY3-182" fmla="*/ 230557 h 231375"/>
                <a:gd name="connsiteX4-183" fmla="*/ 0 w 1825307"/>
                <a:gd name="connsiteY4-184" fmla="*/ 231375 h 231375"/>
                <a:gd name="connsiteX5-185" fmla="*/ 0 w 1825307"/>
                <a:gd name="connsiteY5-186" fmla="*/ 231375 h 231375"/>
                <a:gd name="connsiteX6-187" fmla="*/ 0 w 1825307"/>
                <a:gd name="connsiteY6-188" fmla="*/ 38563 h 231375"/>
                <a:gd name="connsiteX7-189" fmla="*/ 38563 w 1825307"/>
                <a:gd name="connsiteY7-190" fmla="*/ 0 h 231375"/>
                <a:gd name="connsiteX0-191" fmla="*/ 38563 w 1825307"/>
                <a:gd name="connsiteY0-192" fmla="*/ 0 h 231375"/>
                <a:gd name="connsiteX1-193" fmla="*/ 1616515 w 1825307"/>
                <a:gd name="connsiteY1-194" fmla="*/ 0 h 231375"/>
                <a:gd name="connsiteX2-195" fmla="*/ 1670343 w 1825307"/>
                <a:gd name="connsiteY2-196" fmla="*/ 40669 h 231375"/>
                <a:gd name="connsiteX3-197" fmla="*/ 1825307 w 1825307"/>
                <a:gd name="connsiteY3-198" fmla="*/ 230557 h 231375"/>
                <a:gd name="connsiteX4-199" fmla="*/ 0 w 1825307"/>
                <a:gd name="connsiteY4-200" fmla="*/ 231375 h 231375"/>
                <a:gd name="connsiteX5-201" fmla="*/ 0 w 1825307"/>
                <a:gd name="connsiteY5-202" fmla="*/ 231375 h 231375"/>
                <a:gd name="connsiteX6-203" fmla="*/ 0 w 1825307"/>
                <a:gd name="connsiteY6-204" fmla="*/ 38563 h 231375"/>
                <a:gd name="connsiteX7-205" fmla="*/ 38563 w 1825307"/>
                <a:gd name="connsiteY7-206" fmla="*/ 0 h 231375"/>
                <a:gd name="connsiteX0-207" fmla="*/ 38563 w 1825307"/>
                <a:gd name="connsiteY0-208" fmla="*/ 0 h 231375"/>
                <a:gd name="connsiteX1-209" fmla="*/ 1616515 w 1825307"/>
                <a:gd name="connsiteY1-210" fmla="*/ 0 h 231375"/>
                <a:gd name="connsiteX2-211" fmla="*/ 1670343 w 1825307"/>
                <a:gd name="connsiteY2-212" fmla="*/ 40669 h 231375"/>
                <a:gd name="connsiteX3-213" fmla="*/ 1825307 w 1825307"/>
                <a:gd name="connsiteY3-214" fmla="*/ 230557 h 231375"/>
                <a:gd name="connsiteX4-215" fmla="*/ 0 w 1825307"/>
                <a:gd name="connsiteY4-216" fmla="*/ 231375 h 231375"/>
                <a:gd name="connsiteX5-217" fmla="*/ 0 w 1825307"/>
                <a:gd name="connsiteY5-218" fmla="*/ 231375 h 231375"/>
                <a:gd name="connsiteX6-219" fmla="*/ 0 w 1825307"/>
                <a:gd name="connsiteY6-220" fmla="*/ 38563 h 231375"/>
                <a:gd name="connsiteX7-221" fmla="*/ 38563 w 1825307"/>
                <a:gd name="connsiteY7-222" fmla="*/ 0 h 231375"/>
                <a:gd name="connsiteX0-223" fmla="*/ 38563 w 1827851"/>
                <a:gd name="connsiteY0-224" fmla="*/ 0 h 249512"/>
                <a:gd name="connsiteX1-225" fmla="*/ 1616515 w 1827851"/>
                <a:gd name="connsiteY1-226" fmla="*/ 0 h 249512"/>
                <a:gd name="connsiteX2-227" fmla="*/ 1670343 w 1827851"/>
                <a:gd name="connsiteY2-228" fmla="*/ 40669 h 249512"/>
                <a:gd name="connsiteX3-229" fmla="*/ 1827851 w 1827851"/>
                <a:gd name="connsiteY3-230" fmla="*/ 249512 h 249512"/>
                <a:gd name="connsiteX4-231" fmla="*/ 0 w 1827851"/>
                <a:gd name="connsiteY4-232" fmla="*/ 231375 h 249512"/>
                <a:gd name="connsiteX5-233" fmla="*/ 0 w 1827851"/>
                <a:gd name="connsiteY5-234" fmla="*/ 231375 h 249512"/>
                <a:gd name="connsiteX6-235" fmla="*/ 0 w 1827851"/>
                <a:gd name="connsiteY6-236" fmla="*/ 38563 h 249512"/>
                <a:gd name="connsiteX7-237" fmla="*/ 38563 w 1827851"/>
                <a:gd name="connsiteY7-238" fmla="*/ 0 h 249512"/>
                <a:gd name="connsiteX0-239" fmla="*/ 38563 w 1827851"/>
                <a:gd name="connsiteY0-240" fmla="*/ 0 h 249512"/>
                <a:gd name="connsiteX1-241" fmla="*/ 1616515 w 1827851"/>
                <a:gd name="connsiteY1-242" fmla="*/ 0 h 249512"/>
                <a:gd name="connsiteX2-243" fmla="*/ 1670343 w 1827851"/>
                <a:gd name="connsiteY2-244" fmla="*/ 40669 h 249512"/>
                <a:gd name="connsiteX3-245" fmla="*/ 1827851 w 1827851"/>
                <a:gd name="connsiteY3-246" fmla="*/ 249512 h 249512"/>
                <a:gd name="connsiteX4-247" fmla="*/ 0 w 1827851"/>
                <a:gd name="connsiteY4-248" fmla="*/ 231375 h 249512"/>
                <a:gd name="connsiteX5-249" fmla="*/ 0 w 1827851"/>
                <a:gd name="connsiteY5-250" fmla="*/ 231375 h 249512"/>
                <a:gd name="connsiteX6-251" fmla="*/ 0 w 1827851"/>
                <a:gd name="connsiteY6-252" fmla="*/ 38563 h 249512"/>
                <a:gd name="connsiteX7-253" fmla="*/ 38563 w 1827851"/>
                <a:gd name="connsiteY7-254" fmla="*/ 0 h 249512"/>
                <a:gd name="connsiteX0-255" fmla="*/ 38563 w 1827851"/>
                <a:gd name="connsiteY0-256" fmla="*/ 0 h 249512"/>
                <a:gd name="connsiteX1-257" fmla="*/ 1585987 w 1827851"/>
                <a:gd name="connsiteY1-258" fmla="*/ 0 h 249512"/>
                <a:gd name="connsiteX2-259" fmla="*/ 1670343 w 1827851"/>
                <a:gd name="connsiteY2-260" fmla="*/ 40669 h 249512"/>
                <a:gd name="connsiteX3-261" fmla="*/ 1827851 w 1827851"/>
                <a:gd name="connsiteY3-262" fmla="*/ 249512 h 249512"/>
                <a:gd name="connsiteX4-263" fmla="*/ 0 w 1827851"/>
                <a:gd name="connsiteY4-264" fmla="*/ 231375 h 249512"/>
                <a:gd name="connsiteX5-265" fmla="*/ 0 w 1827851"/>
                <a:gd name="connsiteY5-266" fmla="*/ 231375 h 249512"/>
                <a:gd name="connsiteX6-267" fmla="*/ 0 w 1827851"/>
                <a:gd name="connsiteY6-268" fmla="*/ 38563 h 249512"/>
                <a:gd name="connsiteX7-269" fmla="*/ 38563 w 1827851"/>
                <a:gd name="connsiteY7-270" fmla="*/ 0 h 249512"/>
                <a:gd name="connsiteX0-271" fmla="*/ 38563 w 1827851"/>
                <a:gd name="connsiteY0-272" fmla="*/ 157 h 249669"/>
                <a:gd name="connsiteX1-273" fmla="*/ 1585987 w 1827851"/>
                <a:gd name="connsiteY1-274" fmla="*/ 157 h 249669"/>
                <a:gd name="connsiteX2-275" fmla="*/ 1670343 w 1827851"/>
                <a:gd name="connsiteY2-276" fmla="*/ 40826 h 249669"/>
                <a:gd name="connsiteX3-277" fmla="*/ 1827851 w 1827851"/>
                <a:gd name="connsiteY3-278" fmla="*/ 249669 h 249669"/>
                <a:gd name="connsiteX4-279" fmla="*/ 0 w 1827851"/>
                <a:gd name="connsiteY4-280" fmla="*/ 231532 h 249669"/>
                <a:gd name="connsiteX5-281" fmla="*/ 0 w 1827851"/>
                <a:gd name="connsiteY5-282" fmla="*/ 231532 h 249669"/>
                <a:gd name="connsiteX6-283" fmla="*/ 0 w 1827851"/>
                <a:gd name="connsiteY6-284" fmla="*/ 38720 h 249669"/>
                <a:gd name="connsiteX7-285" fmla="*/ 38563 w 1827851"/>
                <a:gd name="connsiteY7-286" fmla="*/ 157 h 249669"/>
                <a:gd name="connsiteX0-287" fmla="*/ 38563 w 1835483"/>
                <a:gd name="connsiteY0-288" fmla="*/ 157 h 247563"/>
                <a:gd name="connsiteX1-289" fmla="*/ 1585987 w 1835483"/>
                <a:gd name="connsiteY1-290" fmla="*/ 157 h 247563"/>
                <a:gd name="connsiteX2-291" fmla="*/ 1670343 w 1835483"/>
                <a:gd name="connsiteY2-292" fmla="*/ 40826 h 247563"/>
                <a:gd name="connsiteX3-293" fmla="*/ 1835483 w 1835483"/>
                <a:gd name="connsiteY3-294" fmla="*/ 247563 h 247563"/>
                <a:gd name="connsiteX4-295" fmla="*/ 0 w 1835483"/>
                <a:gd name="connsiteY4-296" fmla="*/ 231532 h 247563"/>
                <a:gd name="connsiteX5-297" fmla="*/ 0 w 1835483"/>
                <a:gd name="connsiteY5-298" fmla="*/ 231532 h 247563"/>
                <a:gd name="connsiteX6-299" fmla="*/ 0 w 1835483"/>
                <a:gd name="connsiteY6-300" fmla="*/ 38720 h 247563"/>
                <a:gd name="connsiteX7-301" fmla="*/ 38563 w 1835483"/>
                <a:gd name="connsiteY7-302" fmla="*/ 157 h 247563"/>
                <a:gd name="connsiteX0-303" fmla="*/ 38563 w 1835483"/>
                <a:gd name="connsiteY0-304" fmla="*/ 157 h 247563"/>
                <a:gd name="connsiteX1-305" fmla="*/ 1585987 w 1835483"/>
                <a:gd name="connsiteY1-306" fmla="*/ 157 h 247563"/>
                <a:gd name="connsiteX2-307" fmla="*/ 1670343 w 1835483"/>
                <a:gd name="connsiteY2-308" fmla="*/ 40826 h 247563"/>
                <a:gd name="connsiteX3-309" fmla="*/ 1835483 w 1835483"/>
                <a:gd name="connsiteY3-310" fmla="*/ 247563 h 247563"/>
                <a:gd name="connsiteX4-311" fmla="*/ 0 w 1835483"/>
                <a:gd name="connsiteY4-312" fmla="*/ 231532 h 247563"/>
                <a:gd name="connsiteX5-313" fmla="*/ 0 w 1835483"/>
                <a:gd name="connsiteY5-314" fmla="*/ 231532 h 247563"/>
                <a:gd name="connsiteX6-315" fmla="*/ 0 w 1835483"/>
                <a:gd name="connsiteY6-316" fmla="*/ 38720 h 247563"/>
                <a:gd name="connsiteX7-317" fmla="*/ 38563 w 1835483"/>
                <a:gd name="connsiteY7-318" fmla="*/ 157 h 2475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835483" h="247563">
                  <a:moveTo>
                    <a:pt x="38563" y="157"/>
                  </a:moveTo>
                  <a:lnTo>
                    <a:pt x="1585987" y="157"/>
                  </a:lnTo>
                  <a:cubicBezTo>
                    <a:pt x="1632725" y="-1949"/>
                    <a:pt x="1644903" y="17421"/>
                    <a:pt x="1670343" y="40826"/>
                  </a:cubicBezTo>
                  <a:cubicBezTo>
                    <a:pt x="1724542" y="107632"/>
                    <a:pt x="1794004" y="187075"/>
                    <a:pt x="1835483" y="247563"/>
                  </a:cubicBezTo>
                  <a:lnTo>
                    <a:pt x="0" y="231532"/>
                  </a:lnTo>
                  <a:lnTo>
                    <a:pt x="0" y="231532"/>
                  </a:lnTo>
                  <a:lnTo>
                    <a:pt x="0" y="38720"/>
                  </a:lnTo>
                  <a:cubicBezTo>
                    <a:pt x="0" y="17422"/>
                    <a:pt x="17265" y="157"/>
                    <a:pt x="38563" y="157"/>
                  </a:cubicBezTo>
                  <a:close/>
                </a:path>
              </a:pathLst>
            </a:custGeom>
            <a:gradFill flip="none" rotWithShape="0">
              <a:gsLst>
                <a:gs pos="23000">
                  <a:schemeClr val="accent1">
                    <a:lumMod val="75000"/>
                    <a:lumOff val="25000"/>
                  </a:schemeClr>
                </a:gs>
                <a:gs pos="100000">
                  <a:schemeClr val="accent1"/>
                </a:gs>
              </a:gsLst>
              <a:lin ang="2700000" scaled="1"/>
              <a:tileRect/>
            </a:gradFill>
            <a:ln w="12700" cap="flat" cmpd="sng" algn="ctr">
              <a:noFill/>
              <a:prstDash val="solid"/>
              <a:miter lim="800000"/>
            </a:ln>
            <a:effectLst/>
          </p:spPr>
          <p:txBody>
            <a:bodyPr lIns="0" tIns="0" rIns="144000" bIns="36000" rtlCol="0" anchor="ctr"/>
            <a:lstStyle/>
            <a:p>
              <a:pPr algn="l" defTabSz="457200"/>
              <a:r>
                <a:rPr lang="en-US" sz="2000" b="1" kern="0" dirty="0">
                  <a:solidFill>
                    <a:srgbClr val="FFFFFF"/>
                  </a:solidFill>
                  <a:latin typeface="微软雅黑" panose="020B0503020204020204" charset="-122"/>
                  <a:ea typeface="微软雅黑" panose="020B0503020204020204" charset="-122"/>
                  <a:cs typeface="微软雅黑" panose="020B0503020204020204" charset="-122"/>
                </a:rPr>
                <a:t>      </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rPr>
                <a:t>③</a:t>
              </a:r>
              <a:r>
                <a:rPr lang="en-US" altLang="zh-CN" sz="2000" b="1" kern="0" dirty="0">
                  <a:solidFill>
                    <a:srgbClr val="FFFFFF"/>
                  </a:solidFill>
                  <a:latin typeface="微软雅黑" panose="020B0503020204020204" charset="-122"/>
                  <a:ea typeface="微软雅黑" panose="020B0503020204020204" charset="-122"/>
                  <a:cs typeface="微软雅黑" panose="020B0503020204020204" charset="-122"/>
                </a:rPr>
                <a:t>-</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rPr>
                <a:t>识客</a:t>
              </a:r>
              <a:endPar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5" name="子陵职场PPT18"/>
            <p:cNvSpPr txBox="1"/>
            <p:nvPr/>
          </p:nvSpPr>
          <p:spPr>
            <a:xfrm>
              <a:off x="13259" y="2372"/>
              <a:ext cx="4666" cy="463"/>
            </a:xfrm>
            <a:prstGeom prst="rect">
              <a:avLst/>
            </a:prstGeom>
            <a:noFill/>
          </p:spPr>
          <p:txBody>
            <a:bodyPr wrap="square">
              <a:spAutoFit/>
            </a:bodyPr>
            <a:lstStyle/>
            <a:p>
              <a:pPr algn="r">
                <a:lnSpc>
                  <a:spcPct val="120000"/>
                </a:lnSpc>
              </a:pPr>
              <a:r>
                <a:rPr lang="zh-CN" altLang="en-US" sz="1100" b="1" dirty="0">
                  <a:solidFill>
                    <a:schemeClr val="accent1"/>
                  </a:solidFill>
                  <a:latin typeface="微软雅黑" panose="020B0503020204020204" charset="-122"/>
                  <a:ea typeface="微软雅黑" panose="020B0503020204020204" charset="-122"/>
                  <a:cs typeface="微软雅黑" panose="020B0503020204020204" charset="-122"/>
                  <a:sym typeface="+mn-ea"/>
                </a:rPr>
                <a:t>不是广撒网，而是有策略地寻找线索</a:t>
              </a:r>
              <a:endParaRPr lang="zh-CN" altLang="en-US" sz="1100" b="1"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20" name="子陵职场PPT18"/>
            <p:cNvSpPr txBox="1"/>
            <p:nvPr/>
          </p:nvSpPr>
          <p:spPr>
            <a:xfrm>
              <a:off x="13791" y="2792"/>
              <a:ext cx="4471" cy="1476"/>
            </a:xfrm>
            <a:prstGeom prst="rect">
              <a:avLst/>
            </a:prstGeom>
            <a:noFill/>
          </p:spPr>
          <p:txBody>
            <a:bodyPr wrap="square">
              <a:spAutoFit/>
            </a:bodyPr>
            <a:lstStyle/>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mn-ea"/>
                  <a:cs typeface="微软雅黑" panose="020B0503020204020204" charset="-122"/>
                </a:rPr>
                <a:t>定向挖掘：</a:t>
              </a:r>
              <a:r>
                <a:rPr lang="zh-CN" altLang="en-US" sz="1000" dirty="0">
                  <a:solidFill>
                    <a:schemeClr val="tx2">
                      <a:alpha val="80000"/>
                    </a:schemeClr>
                  </a:solidFill>
                  <a:latin typeface="+mn-ea"/>
                  <a:cs typeface="微软雅黑" panose="020B0503020204020204" charset="-122"/>
                </a:rPr>
                <a:t>复盘过往成交客户的画像，锁定相似特征的潜在客户名单。</a:t>
              </a:r>
              <a:endParaRPr lang="en-US" altLang="zh-CN" sz="1000" dirty="0">
                <a:solidFill>
                  <a:schemeClr val="tx2">
                    <a:alpha val="80000"/>
                  </a:schemeClr>
                </a:solidFill>
                <a:latin typeface="+mn-ea"/>
                <a:cs typeface="微软雅黑" panose="020B0503020204020204" charset="-122"/>
              </a:endParaRPr>
            </a:p>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mn-ea"/>
                  <a:cs typeface="微软雅黑" panose="020B0503020204020204" charset="-122"/>
                </a:rPr>
                <a:t>多源收集：</a:t>
              </a:r>
              <a:r>
                <a:rPr lang="zh-CN" altLang="en-US" sz="1000" dirty="0">
                  <a:solidFill>
                    <a:schemeClr val="tx2">
                      <a:alpha val="80000"/>
                    </a:schemeClr>
                  </a:solidFill>
                  <a:latin typeface="+mn-ea"/>
                  <a:cs typeface="微软雅黑" panose="020B0503020204020204" charset="-122"/>
                </a:rPr>
                <a:t>通过内容营销（如白皮书下载）、转介绍、行业活动等渠道引流。</a:t>
              </a:r>
              <a:endParaRPr lang="en-US" altLang="zh-CN" sz="1000" dirty="0">
                <a:solidFill>
                  <a:schemeClr val="tx2">
                    <a:alpha val="80000"/>
                  </a:schemeClr>
                </a:solidFill>
                <a:latin typeface="+mn-ea"/>
                <a:cs typeface="微软雅黑" panose="020B0503020204020204" charset="-122"/>
              </a:endParaRPr>
            </a:p>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mn-ea"/>
                  <a:cs typeface="微软雅黑" panose="020B0503020204020204" charset="-122"/>
                </a:rPr>
                <a:t>初步清洗：</a:t>
              </a:r>
              <a:r>
                <a:rPr lang="zh-CN" altLang="en-US" sz="1000" dirty="0">
                  <a:solidFill>
                    <a:schemeClr val="tx2">
                      <a:alpha val="80000"/>
                    </a:schemeClr>
                  </a:solidFill>
                  <a:latin typeface="+mn-ea"/>
                  <a:cs typeface="微软雅黑" panose="020B0503020204020204" charset="-122"/>
                </a:rPr>
                <a:t>剔除无效数据，确保线索价值。</a:t>
              </a:r>
              <a:endParaRPr lang="zh-CN" altLang="en-US" sz="1000" dirty="0">
                <a:solidFill>
                  <a:schemeClr val="tx2">
                    <a:alpha val="80000"/>
                  </a:schemeClr>
                </a:solidFill>
                <a:latin typeface="+mn-ea"/>
                <a:cs typeface="微软雅黑" panose="020B0503020204020204" charset="-122"/>
              </a:endParaRPr>
            </a:p>
          </p:txBody>
        </p:sp>
        <p:sp>
          <p:nvSpPr>
            <p:cNvPr id="21" name="子陵职场PPT18"/>
            <p:cNvSpPr txBox="1"/>
            <p:nvPr/>
          </p:nvSpPr>
          <p:spPr>
            <a:xfrm>
              <a:off x="14007" y="5298"/>
              <a:ext cx="4217" cy="463"/>
            </a:xfrm>
            <a:prstGeom prst="rect">
              <a:avLst/>
            </a:prstGeom>
            <a:noFill/>
          </p:spPr>
          <p:txBody>
            <a:bodyPr wrap="square">
              <a:spAutoFit/>
            </a:bodyPr>
            <a:lstStyle/>
            <a:p>
              <a:pPr algn="r">
                <a:lnSpc>
                  <a:spcPct val="120000"/>
                </a:lnSpc>
              </a:pPr>
              <a:r>
                <a:rPr lang="zh-CN" altLang="en-US" sz="1100" b="1" dirty="0">
                  <a:solidFill>
                    <a:schemeClr val="accent5"/>
                  </a:solidFill>
                  <a:latin typeface="微软雅黑" panose="020B0503020204020204" charset="-122"/>
                  <a:ea typeface="微软雅黑" panose="020B0503020204020204" charset="-122"/>
                  <a:cs typeface="微软雅黑" panose="020B0503020204020204" charset="-122"/>
                  <a:sym typeface="+mn-ea"/>
                </a:rPr>
                <a:t>完成从</a:t>
              </a:r>
              <a:r>
                <a:rPr lang="en-US" altLang="zh-CN" sz="1100" b="1" dirty="0">
                  <a:solidFill>
                    <a:schemeClr val="accent5"/>
                  </a:solidFill>
                  <a:latin typeface="微软雅黑" panose="020B0503020204020204" charset="-122"/>
                  <a:ea typeface="微软雅黑" panose="020B0503020204020204" charset="-122"/>
                  <a:cs typeface="微软雅黑" panose="020B0503020204020204" charset="-122"/>
                  <a:sym typeface="+mn-ea"/>
                </a:rPr>
                <a:t>“</a:t>
              </a:r>
              <a:r>
                <a:rPr lang="zh-CN" altLang="en-US" sz="1100" b="1" dirty="0">
                  <a:solidFill>
                    <a:schemeClr val="accent5"/>
                  </a:solidFill>
                  <a:latin typeface="微软雅黑" panose="020B0503020204020204" charset="-122"/>
                  <a:ea typeface="微软雅黑" panose="020B0503020204020204" charset="-122"/>
                  <a:cs typeface="微软雅黑" panose="020B0503020204020204" charset="-122"/>
                  <a:sym typeface="+mn-ea"/>
                </a:rPr>
                <a:t>陌生人</a:t>
              </a:r>
              <a:r>
                <a:rPr lang="en-US" altLang="zh-CN" sz="1100" b="1" dirty="0">
                  <a:solidFill>
                    <a:schemeClr val="accent5"/>
                  </a:solidFill>
                  <a:latin typeface="微软雅黑" panose="020B0503020204020204" charset="-122"/>
                  <a:ea typeface="微软雅黑" panose="020B0503020204020204" charset="-122"/>
                  <a:cs typeface="微软雅黑" panose="020B0503020204020204" charset="-122"/>
                  <a:sym typeface="+mn-ea"/>
                </a:rPr>
                <a:t>”</a:t>
              </a:r>
              <a:r>
                <a:rPr lang="zh-CN" altLang="en-US" sz="1100" b="1" dirty="0">
                  <a:solidFill>
                    <a:schemeClr val="accent5"/>
                  </a:solidFill>
                  <a:latin typeface="微软雅黑" panose="020B0503020204020204" charset="-122"/>
                  <a:ea typeface="微软雅黑" panose="020B0503020204020204" charset="-122"/>
                  <a:cs typeface="微软雅黑" panose="020B0503020204020204" charset="-122"/>
                  <a:sym typeface="+mn-ea"/>
                </a:rPr>
                <a:t>到</a:t>
              </a:r>
              <a:r>
                <a:rPr lang="en-US" altLang="zh-CN" sz="1100" b="1" dirty="0">
                  <a:solidFill>
                    <a:schemeClr val="accent5"/>
                  </a:solidFill>
                  <a:latin typeface="微软雅黑" panose="020B0503020204020204" charset="-122"/>
                  <a:ea typeface="微软雅黑" panose="020B0503020204020204" charset="-122"/>
                  <a:cs typeface="微软雅黑" panose="020B0503020204020204" charset="-122"/>
                  <a:sym typeface="+mn-ea"/>
                </a:rPr>
                <a:t>“</a:t>
              </a:r>
              <a:r>
                <a:rPr lang="zh-CN" altLang="en-US" sz="1100" b="1" dirty="0">
                  <a:solidFill>
                    <a:schemeClr val="accent5"/>
                  </a:solidFill>
                  <a:latin typeface="微软雅黑" panose="020B0503020204020204" charset="-122"/>
                  <a:ea typeface="微软雅黑" panose="020B0503020204020204" charset="-122"/>
                  <a:cs typeface="微软雅黑" panose="020B0503020204020204" charset="-122"/>
                  <a:sym typeface="+mn-ea"/>
                </a:rPr>
                <a:t>联系人</a:t>
              </a:r>
              <a:r>
                <a:rPr lang="en-US" altLang="zh-CN" sz="1100" b="1" dirty="0">
                  <a:solidFill>
                    <a:schemeClr val="accent5"/>
                  </a:solidFill>
                  <a:latin typeface="微软雅黑" panose="020B0503020204020204" charset="-122"/>
                  <a:ea typeface="微软雅黑" panose="020B0503020204020204" charset="-122"/>
                  <a:cs typeface="微软雅黑" panose="020B0503020204020204" charset="-122"/>
                  <a:sym typeface="+mn-ea"/>
                </a:rPr>
                <a:t>”</a:t>
              </a:r>
              <a:r>
                <a:rPr lang="zh-CN" altLang="en-US" sz="1100" b="1" dirty="0">
                  <a:solidFill>
                    <a:schemeClr val="accent5"/>
                  </a:solidFill>
                  <a:latin typeface="微软雅黑" panose="020B0503020204020204" charset="-122"/>
                  <a:ea typeface="微软雅黑" panose="020B0503020204020204" charset="-122"/>
                  <a:cs typeface="微软雅黑" panose="020B0503020204020204" charset="-122"/>
                  <a:sym typeface="+mn-ea"/>
                </a:rPr>
                <a:t>的转变</a:t>
              </a:r>
              <a:endParaRPr lang="zh-CN" altLang="en-US" sz="1100" b="1" dirty="0">
                <a:solidFill>
                  <a:schemeClr val="accent5"/>
                </a:solidFill>
                <a:latin typeface="微软雅黑" panose="020B0503020204020204" charset="-122"/>
                <a:ea typeface="微软雅黑" panose="020B0503020204020204" charset="-122"/>
                <a:cs typeface="微软雅黑" panose="020B0503020204020204" charset="-122"/>
                <a:sym typeface="+mn-ea"/>
              </a:endParaRPr>
            </a:p>
          </p:txBody>
        </p:sp>
        <p:sp>
          <p:nvSpPr>
            <p:cNvPr id="22" name="Rectangle 60"/>
            <p:cNvSpPr/>
            <p:nvPr/>
          </p:nvSpPr>
          <p:spPr>
            <a:xfrm flipH="1">
              <a:off x="14137" y="5538"/>
              <a:ext cx="4039" cy="1599"/>
            </a:xfrm>
            <a:prstGeom prst="rect">
              <a:avLst/>
            </a:prstGeom>
          </p:spPr>
          <p:txBody>
            <a:bodyPr wrap="square" lIns="0" tIns="0" rIns="0" bIns="0" anchor="t" anchorCtr="0">
              <a:spAutoFit/>
            </a:bodyPr>
            <a:lstStyle/>
            <a:p>
              <a:pPr indent="0" algn="l" fontAlgn="auto">
                <a:lnSpc>
                  <a:spcPct val="110000"/>
                </a:lnSpc>
                <a:spcBef>
                  <a:spcPts val="0"/>
                </a:spcBef>
                <a:buFont typeface="Wingdings" panose="05000000000000000000" charset="0"/>
                <a:buNone/>
              </a:pPr>
              <a:endParaRPr lang="en-US" altLang="zh-CN" sz="1000" dirty="0">
                <a:solidFill>
                  <a:schemeClr val="tx1">
                    <a:alpha val="80000"/>
                  </a:schemeClr>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破冰连接：</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通过高相关度的开场白（如提及共同背景或行业新闻），建立初步沟通。</a:t>
              </a:r>
              <a:endPar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价值前置：</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分享一篇行业洞察或一个客户案例，试探客户的反应。</a:t>
              </a:r>
              <a:endPar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确认触点：</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明确下一步沟通的时间与方式。</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p:txBody>
        </p:sp>
        <p:sp>
          <p:nvSpPr>
            <p:cNvPr id="23" name="子陵职场PPT18"/>
            <p:cNvSpPr txBox="1"/>
            <p:nvPr/>
          </p:nvSpPr>
          <p:spPr>
            <a:xfrm>
              <a:off x="13601" y="8310"/>
              <a:ext cx="4568" cy="492"/>
            </a:xfrm>
            <a:prstGeom prst="rect">
              <a:avLst/>
            </a:prstGeom>
            <a:noFill/>
          </p:spPr>
          <p:txBody>
            <a:bodyPr wrap="square">
              <a:spAutoFit/>
            </a:bodyPr>
            <a:lstStyle/>
            <a:p>
              <a:pPr algn="r">
                <a:lnSpc>
                  <a:spcPct val="120000"/>
                </a:lnSpc>
              </a:pP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rPr>
                <a:t>全面摸清客户的病灶、家底与心理预期</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24" name="Rectangle 60"/>
            <p:cNvSpPr/>
            <p:nvPr/>
          </p:nvSpPr>
          <p:spPr>
            <a:xfrm flipH="1">
              <a:off x="14047" y="8901"/>
              <a:ext cx="4121" cy="1066"/>
            </a:xfrm>
            <a:prstGeom prst="rect">
              <a:avLst/>
            </a:prstGeom>
          </p:spPr>
          <p:txBody>
            <a:bodyPr wrap="square" lIns="0" tIns="0" rIns="0" bIns="0" anchor="t" anchorCtr="0">
              <a:spAutoFit/>
            </a:bodyPr>
            <a:lstStyle/>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现状盘点：</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了解客户当前的业务流程、使用工具及痛点来源。</a:t>
              </a:r>
              <a:endPar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需求挖掘：</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运用提问技巧，探寻客户的显性需求与潜在渴望。</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p:txBody>
        </p:sp>
        <p:pic>
          <p:nvPicPr>
            <p:cNvPr id="26" name="图片 25" descr="组队"/>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7651" y="4619"/>
              <a:ext cx="436" cy="436"/>
            </a:xfrm>
            <a:prstGeom prst="rect">
              <a:avLst/>
            </a:prstGeom>
          </p:spPr>
        </p:pic>
        <p:pic>
          <p:nvPicPr>
            <p:cNvPr id="27" name="图片 26" descr="诊断"/>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709" y="1771"/>
              <a:ext cx="321" cy="321"/>
            </a:xfrm>
            <a:prstGeom prst="rect">
              <a:avLst/>
            </a:prstGeom>
          </p:spPr>
        </p:pic>
      </p:grpSp>
      <p:grpSp>
        <p:nvGrpSpPr>
          <p:cNvPr id="33" name="组合 32"/>
          <p:cNvGrpSpPr/>
          <p:nvPr/>
        </p:nvGrpSpPr>
        <p:grpSpPr>
          <a:xfrm flipH="1">
            <a:off x="408305" y="1113155"/>
            <a:ext cx="5043805" cy="5452745"/>
            <a:chOff x="10601" y="1819"/>
            <a:chExt cx="7943" cy="8587"/>
          </a:xfrm>
        </p:grpSpPr>
        <p:sp>
          <p:nvSpPr>
            <p:cNvPr id="30" name="子陵职场PPT3"/>
            <p:cNvSpPr/>
            <p:nvPr/>
          </p:nvSpPr>
          <p:spPr>
            <a:xfrm>
              <a:off x="10615" y="1819"/>
              <a:ext cx="7929" cy="2773"/>
            </a:xfrm>
            <a:custGeom>
              <a:avLst/>
              <a:gdLst>
                <a:gd name="connsiteX0" fmla="*/ 0 w 5293301"/>
                <a:gd name="connsiteY0" fmla="*/ 0 h 1851489"/>
                <a:gd name="connsiteX1" fmla="*/ 5293301 w 5293301"/>
                <a:gd name="connsiteY1" fmla="*/ 0 h 1851489"/>
                <a:gd name="connsiteX2" fmla="*/ 5293301 w 5293301"/>
                <a:gd name="connsiteY2" fmla="*/ 1851489 h 1851489"/>
                <a:gd name="connsiteX3" fmla="*/ 2223524 w 5293301"/>
                <a:gd name="connsiteY3" fmla="*/ 1851489 h 1851489"/>
                <a:gd name="connsiteX4" fmla="*/ 2140744 w 5293301"/>
                <a:gd name="connsiteY4" fmla="*/ 1643309 h 1851489"/>
                <a:gd name="connsiteX5" fmla="*/ 2004879 w 5293301"/>
                <a:gd name="connsiteY5" fmla="*/ 1381993 h 1851489"/>
                <a:gd name="connsiteX6" fmla="*/ 249547 w 5293301"/>
                <a:gd name="connsiteY6" fmla="*/ 52609 h 1851489"/>
                <a:gd name="connsiteX7" fmla="*/ 0 w 5293301"/>
                <a:gd name="connsiteY7" fmla="*/ 0 h 1851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293301" h="1851489">
                  <a:moveTo>
                    <a:pt x="0" y="0"/>
                  </a:moveTo>
                  <a:lnTo>
                    <a:pt x="5293301" y="0"/>
                  </a:lnTo>
                  <a:lnTo>
                    <a:pt x="5293301" y="1851489"/>
                  </a:lnTo>
                  <a:lnTo>
                    <a:pt x="2223524" y="1851489"/>
                  </a:lnTo>
                  <a:lnTo>
                    <a:pt x="2140744" y="1643309"/>
                  </a:lnTo>
                  <a:cubicBezTo>
                    <a:pt x="2100334" y="1554894"/>
                    <a:pt x="2055074" y="1467679"/>
                    <a:pt x="2004879" y="1381993"/>
                  </a:cubicBezTo>
                  <a:cubicBezTo>
                    <a:pt x="1603319" y="696505"/>
                    <a:pt x="961924" y="238675"/>
                    <a:pt x="249547" y="52609"/>
                  </a:cubicBezTo>
                  <a:lnTo>
                    <a:pt x="0" y="0"/>
                  </a:lnTo>
                  <a:close/>
                </a:path>
              </a:pathLst>
            </a:custGeom>
            <a:gradFill flip="none" rotWithShape="1">
              <a:gsLst>
                <a:gs pos="100000">
                  <a:srgbClr val="FFFFFF">
                    <a:alpha val="0"/>
                  </a:srgbClr>
                </a:gs>
                <a:gs pos="63000">
                  <a:schemeClr val="bg1"/>
                </a:gs>
                <a:gs pos="86000">
                  <a:srgbClr val="FFFFFF">
                    <a:alpha val="80000"/>
                  </a:srgbClr>
                </a:gs>
                <a:gs pos="0">
                  <a:schemeClr val="bg1"/>
                </a:gs>
              </a:gsLst>
              <a:path path="circle">
                <a:fillToRect l="100000" t="100000"/>
              </a:path>
              <a:tileRect r="-100000" b="-100000"/>
            </a:gradFill>
            <a:ln>
              <a:noFill/>
            </a:ln>
            <a:effectLst>
              <a:outerShdw blurRad="254000" sx="102000" sy="102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lvl="0" algn="ctr">
                <a:buClrTx/>
                <a:buSzTx/>
                <a:buFontTx/>
                <a:defRPr/>
              </a:pPr>
              <a:endParaRPr lang="zh-CN" altLang="en-US" noProof="0" dirty="0">
                <a:ln>
                  <a:noFill/>
                </a:ln>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1" name="子陵职场PPT5"/>
            <p:cNvSpPr/>
            <p:nvPr/>
          </p:nvSpPr>
          <p:spPr>
            <a:xfrm>
              <a:off x="13980" y="4739"/>
              <a:ext cx="4564" cy="2749"/>
            </a:xfrm>
            <a:custGeom>
              <a:avLst/>
              <a:gdLst>
                <a:gd name="connsiteX0" fmla="*/ 2989 w 3046862"/>
                <a:gd name="connsiteY0" fmla="*/ 0 h 1835305"/>
                <a:gd name="connsiteX1" fmla="*/ 3046862 w 3046862"/>
                <a:gd name="connsiteY1" fmla="*/ 0 h 1835305"/>
                <a:gd name="connsiteX2" fmla="*/ 3046862 w 3046862"/>
                <a:gd name="connsiteY2" fmla="*/ 1835305 h 1835305"/>
                <a:gd name="connsiteX3" fmla="*/ 0 w 3046862"/>
                <a:gd name="connsiteY3" fmla="*/ 1835305 h 1835305"/>
                <a:gd name="connsiteX4" fmla="*/ 59631 w 3046862"/>
                <a:gd name="connsiteY4" fmla="*/ 1644693 h 1835305"/>
                <a:gd name="connsiteX5" fmla="*/ 79266 w 3046862"/>
                <a:gd name="connsiteY5" fmla="*/ 267029 h 1835305"/>
                <a:gd name="connsiteX6" fmla="*/ 2989 w 3046862"/>
                <a:gd name="connsiteY6" fmla="*/ 0 h 1835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46862" h="1835305">
                  <a:moveTo>
                    <a:pt x="2989" y="0"/>
                  </a:moveTo>
                  <a:lnTo>
                    <a:pt x="3046862" y="0"/>
                  </a:lnTo>
                  <a:lnTo>
                    <a:pt x="3046862" y="1835305"/>
                  </a:lnTo>
                  <a:lnTo>
                    <a:pt x="0" y="1835305"/>
                  </a:lnTo>
                  <a:lnTo>
                    <a:pt x="59631" y="1644693"/>
                  </a:lnTo>
                  <a:cubicBezTo>
                    <a:pt x="175923" y="1199458"/>
                    <a:pt x="186057" y="726495"/>
                    <a:pt x="79266" y="267029"/>
                  </a:cubicBezTo>
                  <a:lnTo>
                    <a:pt x="2989" y="0"/>
                  </a:lnTo>
                  <a:close/>
                </a:path>
              </a:pathLst>
            </a:custGeom>
            <a:gradFill flip="none" rotWithShape="1">
              <a:gsLst>
                <a:gs pos="100000">
                  <a:srgbClr val="FFFFFF">
                    <a:alpha val="0"/>
                  </a:srgbClr>
                </a:gs>
                <a:gs pos="70000">
                  <a:schemeClr val="bg1"/>
                </a:gs>
                <a:gs pos="88000">
                  <a:srgbClr val="FFFFFF">
                    <a:alpha val="80000"/>
                  </a:srgbClr>
                </a:gs>
                <a:gs pos="0">
                  <a:schemeClr val="bg1"/>
                </a:gs>
              </a:gsLst>
              <a:path path="circle">
                <a:fillToRect l="100000" t="100000"/>
              </a:path>
              <a:tileRect r="-100000" b="-100000"/>
            </a:gradFill>
            <a:ln>
              <a:noFill/>
            </a:ln>
            <a:effectLst>
              <a:outerShdw blurRad="254000" sx="102000" sy="102000" algn="ctr" rotWithShape="0">
                <a:schemeClr val="accent2">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lvl="0" algn="ctr">
                <a:buClrTx/>
                <a:buSzTx/>
                <a:buFontTx/>
                <a:defRPr/>
              </a:pPr>
              <a:endParaRPr lang="zh-CN" altLang="en-US" noProof="0" dirty="0">
                <a:ln>
                  <a:noFill/>
                </a:ln>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32" name="子陵职场PPT7"/>
            <p:cNvSpPr/>
            <p:nvPr/>
          </p:nvSpPr>
          <p:spPr>
            <a:xfrm>
              <a:off x="10601" y="7634"/>
              <a:ext cx="7942" cy="2772"/>
            </a:xfrm>
            <a:custGeom>
              <a:avLst/>
              <a:gdLst>
                <a:gd name="connsiteX0" fmla="*/ 2234520 w 5302353"/>
                <a:gd name="connsiteY0" fmla="*/ 0 h 1851488"/>
                <a:gd name="connsiteX1" fmla="*/ 5302353 w 5302353"/>
                <a:gd name="connsiteY1" fmla="*/ 0 h 1851488"/>
                <a:gd name="connsiteX2" fmla="*/ 5302353 w 5302353"/>
                <a:gd name="connsiteY2" fmla="*/ 1851488 h 1851488"/>
                <a:gd name="connsiteX3" fmla="*/ 0 w 5302353"/>
                <a:gd name="connsiteY3" fmla="*/ 1851488 h 1851488"/>
                <a:gd name="connsiteX4" fmla="*/ 182176 w 5302353"/>
                <a:gd name="connsiteY4" fmla="*/ 1818516 h 1851488"/>
                <a:gd name="connsiteX5" fmla="*/ 985736 w 5302353"/>
                <a:gd name="connsiteY5" fmla="*/ 1497689 h 1851488"/>
                <a:gd name="connsiteX6" fmla="*/ 2232694 w 5302353"/>
                <a:gd name="connsiteY6" fmla="*/ 5838 h 1851488"/>
                <a:gd name="connsiteX7" fmla="*/ 2234520 w 5302353"/>
                <a:gd name="connsiteY7" fmla="*/ 0 h 1851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302353" h="1851488">
                  <a:moveTo>
                    <a:pt x="2234520" y="0"/>
                  </a:moveTo>
                  <a:lnTo>
                    <a:pt x="5302353" y="0"/>
                  </a:lnTo>
                  <a:lnTo>
                    <a:pt x="5302353" y="1851488"/>
                  </a:lnTo>
                  <a:lnTo>
                    <a:pt x="0" y="1851488"/>
                  </a:lnTo>
                  <a:lnTo>
                    <a:pt x="182176" y="1818516"/>
                  </a:lnTo>
                  <a:cubicBezTo>
                    <a:pt x="457856" y="1754441"/>
                    <a:pt x="728677" y="1648274"/>
                    <a:pt x="985736" y="1497689"/>
                  </a:cubicBezTo>
                  <a:cubicBezTo>
                    <a:pt x="1585540" y="1146322"/>
                    <a:pt x="2011041" y="611333"/>
                    <a:pt x="2232694" y="5838"/>
                  </a:cubicBezTo>
                  <a:lnTo>
                    <a:pt x="2234520" y="0"/>
                  </a:lnTo>
                  <a:close/>
                </a:path>
              </a:pathLst>
            </a:custGeom>
            <a:gradFill flip="none" rotWithShape="1">
              <a:gsLst>
                <a:gs pos="100000">
                  <a:srgbClr val="FFFFFF">
                    <a:alpha val="0"/>
                  </a:srgbClr>
                </a:gs>
                <a:gs pos="63000">
                  <a:schemeClr val="bg1"/>
                </a:gs>
                <a:gs pos="86000">
                  <a:srgbClr val="FFFFFF">
                    <a:alpha val="80000"/>
                  </a:srgbClr>
                </a:gs>
                <a:gs pos="0">
                  <a:schemeClr val="bg1"/>
                </a:gs>
              </a:gsLst>
              <a:path path="circle">
                <a:fillToRect l="100000" t="100000"/>
              </a:path>
              <a:tileRect r="-100000" b="-100000"/>
            </a:gradFill>
            <a:ln>
              <a:noFill/>
            </a:ln>
            <a:effectLst>
              <a:outerShdw blurRad="254000" sx="102000" sy="102000" algn="ctr" rotWithShape="0">
                <a:schemeClr val="accent1">
                  <a:alpha val="1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zh-CN"/>
              </a:defPPr>
              <a:lvl1pPr marL="0" algn="l" defTabSz="914400" rtl="0" eaLnBrk="1" latinLnBrk="0" hangingPunct="1">
                <a:defRPr sz="1800" kern="1200">
                  <a:solidFill>
                    <a:srgbClr val="FFFFFF"/>
                  </a:solidFill>
                  <a:latin typeface="Arial" panose="020B0604020202020204"/>
                  <a:ea typeface="+mn-ea"/>
                  <a:cs typeface="+mn-cs"/>
                </a:defRPr>
              </a:lvl1pPr>
              <a:lvl2pPr marL="457200" algn="l" defTabSz="914400" rtl="0" eaLnBrk="1" latinLnBrk="0" hangingPunct="1">
                <a:defRPr sz="1800" kern="1200">
                  <a:solidFill>
                    <a:srgbClr val="FFFFFF"/>
                  </a:solidFill>
                  <a:latin typeface="Arial" panose="020B0604020202020204"/>
                  <a:ea typeface="+mn-ea"/>
                  <a:cs typeface="+mn-cs"/>
                </a:defRPr>
              </a:lvl2pPr>
              <a:lvl3pPr marL="914400" algn="l" defTabSz="914400" rtl="0" eaLnBrk="1" latinLnBrk="0" hangingPunct="1">
                <a:defRPr sz="1800" kern="1200">
                  <a:solidFill>
                    <a:srgbClr val="FFFFFF"/>
                  </a:solidFill>
                  <a:latin typeface="Arial" panose="020B0604020202020204"/>
                  <a:ea typeface="+mn-ea"/>
                  <a:cs typeface="+mn-cs"/>
                </a:defRPr>
              </a:lvl3pPr>
              <a:lvl4pPr marL="1371600" algn="l" defTabSz="914400" rtl="0" eaLnBrk="1" latinLnBrk="0" hangingPunct="1">
                <a:defRPr sz="1800" kern="1200">
                  <a:solidFill>
                    <a:srgbClr val="FFFFFF"/>
                  </a:solidFill>
                  <a:latin typeface="Arial" panose="020B0604020202020204"/>
                  <a:ea typeface="+mn-ea"/>
                  <a:cs typeface="+mn-cs"/>
                </a:defRPr>
              </a:lvl4pPr>
              <a:lvl5pPr marL="1828800" algn="l" defTabSz="914400" rtl="0" eaLnBrk="1" latinLnBrk="0" hangingPunct="1">
                <a:defRPr sz="1800" kern="1200">
                  <a:solidFill>
                    <a:srgbClr val="FFFFFF"/>
                  </a:solidFill>
                  <a:latin typeface="Arial" panose="020B0604020202020204"/>
                  <a:ea typeface="+mn-ea"/>
                  <a:cs typeface="+mn-cs"/>
                </a:defRPr>
              </a:lvl5pPr>
              <a:lvl6pPr marL="2286000" algn="l" defTabSz="914400" rtl="0" eaLnBrk="1" latinLnBrk="0" hangingPunct="1">
                <a:defRPr sz="1800" kern="1200">
                  <a:solidFill>
                    <a:srgbClr val="FFFFFF"/>
                  </a:solidFill>
                  <a:latin typeface="Arial" panose="020B0604020202020204"/>
                  <a:ea typeface="+mn-ea"/>
                  <a:cs typeface="+mn-cs"/>
                </a:defRPr>
              </a:lvl6pPr>
              <a:lvl7pPr marL="2743200" algn="l" defTabSz="914400" rtl="0" eaLnBrk="1" latinLnBrk="0" hangingPunct="1">
                <a:defRPr sz="1800" kern="1200">
                  <a:solidFill>
                    <a:srgbClr val="FFFFFF"/>
                  </a:solidFill>
                  <a:latin typeface="Arial" panose="020B0604020202020204"/>
                  <a:ea typeface="+mn-ea"/>
                  <a:cs typeface="+mn-cs"/>
                </a:defRPr>
              </a:lvl7pPr>
              <a:lvl8pPr marL="3200400" algn="l" defTabSz="914400" rtl="0" eaLnBrk="1" latinLnBrk="0" hangingPunct="1">
                <a:defRPr sz="1800" kern="1200">
                  <a:solidFill>
                    <a:srgbClr val="FFFFFF"/>
                  </a:solidFill>
                  <a:latin typeface="Arial" panose="020B0604020202020204"/>
                  <a:ea typeface="+mn-ea"/>
                  <a:cs typeface="+mn-cs"/>
                </a:defRPr>
              </a:lvl8pPr>
              <a:lvl9pPr marL="3657600" algn="l" defTabSz="914400" rtl="0" eaLnBrk="1" latinLnBrk="0" hangingPunct="1">
                <a:defRPr sz="1800" kern="1200">
                  <a:solidFill>
                    <a:srgbClr val="FFFFFF"/>
                  </a:solidFill>
                  <a:latin typeface="Arial" panose="020B0604020202020204"/>
                  <a:ea typeface="+mn-ea"/>
                  <a:cs typeface="+mn-cs"/>
                </a:defRPr>
              </a:lvl9pPr>
            </a:lstStyle>
            <a:p>
              <a:pPr lvl="0" algn="ctr">
                <a:buClrTx/>
                <a:buSzTx/>
                <a:buFontTx/>
                <a:defRPr/>
              </a:pPr>
              <a:endParaRPr lang="zh-CN" altLang="en-US" noProof="0" dirty="0">
                <a:ln>
                  <a:noFill/>
                </a:ln>
                <a:effectLst/>
                <a:uLnTx/>
                <a:uFillTx/>
                <a:latin typeface="微软雅黑" panose="020B0503020204020204" charset="-122"/>
                <a:ea typeface="微软雅黑" panose="020B0503020204020204" charset="-122"/>
                <a:cs typeface="微软雅黑" panose="020B0503020204020204" charset="-122"/>
                <a:sym typeface="+mn-ea"/>
              </a:endParaRPr>
            </a:p>
          </p:txBody>
        </p:sp>
      </p:grpSp>
      <p:grpSp>
        <p:nvGrpSpPr>
          <p:cNvPr id="76" name="组合 75"/>
          <p:cNvGrpSpPr/>
          <p:nvPr/>
        </p:nvGrpSpPr>
        <p:grpSpPr>
          <a:xfrm>
            <a:off x="4310063" y="1874838"/>
            <a:ext cx="3692525" cy="4004945"/>
            <a:chOff x="7372" y="3610"/>
            <a:chExt cx="4592" cy="4980"/>
          </a:xfrm>
        </p:grpSpPr>
        <p:grpSp>
          <p:nvGrpSpPr>
            <p:cNvPr id="49" name="组合 48"/>
            <p:cNvGrpSpPr/>
            <p:nvPr>
              <p:custDataLst>
                <p:tags r:id="rId7"/>
              </p:custDataLst>
            </p:nvPr>
          </p:nvGrpSpPr>
          <p:grpSpPr>
            <a:xfrm>
              <a:off x="7372" y="3610"/>
              <a:ext cx="4593" cy="4980"/>
              <a:chOff x="7352" y="3506"/>
              <a:chExt cx="4593" cy="4980"/>
            </a:xfrm>
          </p:grpSpPr>
          <p:sp>
            <p:nvSpPr>
              <p:cNvPr id="50" name="任意多边形 49"/>
              <p:cNvSpPr/>
              <p:nvPr>
                <p:custDataLst>
                  <p:tags r:id="rId8"/>
                </p:custDataLst>
              </p:nvPr>
            </p:nvSpPr>
            <p:spPr>
              <a:xfrm>
                <a:off x="8504" y="3506"/>
                <a:ext cx="2362" cy="252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2" h="2526">
                    <a:moveTo>
                      <a:pt x="1087" y="0"/>
                    </a:moveTo>
                    <a:cubicBezTo>
                      <a:pt x="1792" y="0"/>
                      <a:pt x="2362" y="571"/>
                      <a:pt x="2362" y="1275"/>
                    </a:cubicBezTo>
                    <a:cubicBezTo>
                      <a:pt x="2362" y="1891"/>
                      <a:pt x="1925" y="2405"/>
                      <a:pt x="1344" y="2524"/>
                    </a:cubicBezTo>
                    <a:lnTo>
                      <a:pt x="1335" y="2526"/>
                    </a:lnTo>
                    <a:lnTo>
                      <a:pt x="1338" y="2521"/>
                    </a:lnTo>
                    <a:cubicBezTo>
                      <a:pt x="1455" y="2328"/>
                      <a:pt x="1522" y="2102"/>
                      <a:pt x="1522" y="1860"/>
                    </a:cubicBezTo>
                    <a:cubicBezTo>
                      <a:pt x="1522" y="1156"/>
                      <a:pt x="952" y="585"/>
                      <a:pt x="247" y="585"/>
                    </a:cubicBezTo>
                    <a:cubicBezTo>
                      <a:pt x="170" y="585"/>
                      <a:pt x="95" y="592"/>
                      <a:pt x="22" y="605"/>
                    </a:cubicBezTo>
                    <a:lnTo>
                      <a:pt x="0" y="609"/>
                    </a:lnTo>
                    <a:lnTo>
                      <a:pt x="13" y="588"/>
                    </a:lnTo>
                    <a:cubicBezTo>
                      <a:pt x="240" y="234"/>
                      <a:pt x="636" y="0"/>
                      <a:pt x="1087" y="0"/>
                    </a:cubicBezTo>
                    <a:close/>
                  </a:path>
                </a:pathLst>
              </a:custGeom>
              <a:gradFill>
                <a:gsLst>
                  <a:gs pos="100000">
                    <a:schemeClr val="accent1">
                      <a:lumMod val="60000"/>
                      <a:lumOff val="40000"/>
                    </a:schemeClr>
                  </a:gs>
                  <a:gs pos="20000">
                    <a:schemeClr val="accent1"/>
                  </a:gs>
                </a:gsLst>
                <a:lin ang="378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51" name="任意多边形 50"/>
              <p:cNvSpPr/>
              <p:nvPr>
                <p:custDataLst>
                  <p:tags r:id="rId9"/>
                </p:custDataLst>
              </p:nvPr>
            </p:nvSpPr>
            <p:spPr bwMode="auto">
              <a:xfrm rot="18240000">
                <a:off x="7480" y="4105"/>
                <a:ext cx="2362" cy="252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2" h="2526">
                    <a:moveTo>
                      <a:pt x="1087" y="0"/>
                    </a:moveTo>
                    <a:cubicBezTo>
                      <a:pt x="1792" y="0"/>
                      <a:pt x="2362" y="571"/>
                      <a:pt x="2362" y="1275"/>
                    </a:cubicBezTo>
                    <a:cubicBezTo>
                      <a:pt x="2362" y="1891"/>
                      <a:pt x="1925" y="2405"/>
                      <a:pt x="1344" y="2524"/>
                    </a:cubicBezTo>
                    <a:lnTo>
                      <a:pt x="1335" y="2526"/>
                    </a:lnTo>
                    <a:lnTo>
                      <a:pt x="1338" y="2521"/>
                    </a:lnTo>
                    <a:cubicBezTo>
                      <a:pt x="1455" y="2328"/>
                      <a:pt x="1522" y="2102"/>
                      <a:pt x="1522" y="1860"/>
                    </a:cubicBezTo>
                    <a:cubicBezTo>
                      <a:pt x="1522" y="1156"/>
                      <a:pt x="952" y="585"/>
                      <a:pt x="247" y="585"/>
                    </a:cubicBezTo>
                    <a:cubicBezTo>
                      <a:pt x="170" y="585"/>
                      <a:pt x="95" y="592"/>
                      <a:pt x="22" y="605"/>
                    </a:cubicBezTo>
                    <a:lnTo>
                      <a:pt x="0" y="609"/>
                    </a:lnTo>
                    <a:lnTo>
                      <a:pt x="13" y="588"/>
                    </a:lnTo>
                    <a:cubicBezTo>
                      <a:pt x="240" y="234"/>
                      <a:pt x="636" y="0"/>
                      <a:pt x="1087" y="0"/>
                    </a:cubicBezTo>
                    <a:close/>
                  </a:path>
                </a:pathLst>
              </a:custGeom>
              <a:gradFill>
                <a:gsLst>
                  <a:gs pos="100000">
                    <a:schemeClr val="accent5">
                      <a:lumMod val="60000"/>
                      <a:lumOff val="40000"/>
                    </a:schemeClr>
                  </a:gs>
                  <a:gs pos="0">
                    <a:schemeClr val="accent5"/>
                  </a:gs>
                </a:gsLst>
                <a:lin ang="2100000" scaled="0"/>
              </a:gradFill>
              <a:ln w="3175">
                <a:gradFill>
                  <a:gsLst>
                    <a:gs pos="42000">
                      <a:srgbClr val="FFFFFF">
                        <a:lumMod val="0"/>
                        <a:lumOff val="100000"/>
                        <a:alpha val="100000"/>
                      </a:srgbClr>
                    </a:gs>
                    <a:gs pos="2000">
                      <a:srgbClr val="FFFFFF">
                        <a:alpha val="0"/>
                      </a:srgbClr>
                    </a:gs>
                    <a:gs pos="93000">
                      <a:schemeClr val="accent5">
                        <a:alpha val="30000"/>
                      </a:schemeClr>
                    </a:gs>
                  </a:gsLst>
                  <a:lin ang="9660000" scaled="1"/>
                </a:gradFill>
              </a:ln>
              <a:effectLst/>
            </p:spPr>
            <p:style>
              <a:lnRef idx="1">
                <a:srgbClr val="376FFF"/>
              </a:lnRef>
              <a:fillRef idx="2">
                <a:srgbClr val="376FFF"/>
              </a:fillRef>
              <a:effectRef idx="1">
                <a:srgbClr val="376FFF"/>
              </a:effectRef>
              <a:fontRef idx="minor">
                <a:srgbClr val="000000"/>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9pPr>
              </a:lstStyle>
              <a:p>
                <a:pPr lvl="0" algn="ctr">
                  <a:buClrTx/>
                  <a:buSzTx/>
                  <a:buFontTx/>
                </a:pPr>
                <a:endParaRPr lang="zh-CN" altLang="en-US" b="1">
                  <a:solidFill>
                    <a:srgbClr val="FFFFFF">
                      <a:lumMod val="100000"/>
                    </a:srgbClr>
                  </a:solidFill>
                  <a:latin typeface="微软雅黑" panose="020B0503020204020204" charset="-122"/>
                  <a:cs typeface="微软雅黑" panose="020B0503020204020204" charset="-122"/>
                  <a:sym typeface="+mn-ea"/>
                </a:endParaRPr>
              </a:p>
            </p:txBody>
          </p:sp>
          <p:sp>
            <p:nvSpPr>
              <p:cNvPr id="52" name="任意多边形 51"/>
              <p:cNvSpPr/>
              <p:nvPr>
                <p:custDataLst>
                  <p:tags r:id="rId10"/>
                </p:custDataLst>
              </p:nvPr>
            </p:nvSpPr>
            <p:spPr>
              <a:xfrm rot="14820000">
                <a:off x="7434" y="5278"/>
                <a:ext cx="2362" cy="252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2" h="2526">
                    <a:moveTo>
                      <a:pt x="1087" y="0"/>
                    </a:moveTo>
                    <a:cubicBezTo>
                      <a:pt x="1792" y="0"/>
                      <a:pt x="2362" y="571"/>
                      <a:pt x="2362" y="1275"/>
                    </a:cubicBezTo>
                    <a:cubicBezTo>
                      <a:pt x="2362" y="1891"/>
                      <a:pt x="1925" y="2405"/>
                      <a:pt x="1344" y="2524"/>
                    </a:cubicBezTo>
                    <a:lnTo>
                      <a:pt x="1335" y="2526"/>
                    </a:lnTo>
                    <a:lnTo>
                      <a:pt x="1338" y="2521"/>
                    </a:lnTo>
                    <a:cubicBezTo>
                      <a:pt x="1455" y="2328"/>
                      <a:pt x="1522" y="2102"/>
                      <a:pt x="1522" y="1860"/>
                    </a:cubicBezTo>
                    <a:cubicBezTo>
                      <a:pt x="1522" y="1156"/>
                      <a:pt x="952" y="585"/>
                      <a:pt x="247" y="585"/>
                    </a:cubicBezTo>
                    <a:cubicBezTo>
                      <a:pt x="170" y="585"/>
                      <a:pt x="95" y="592"/>
                      <a:pt x="22" y="605"/>
                    </a:cubicBezTo>
                    <a:lnTo>
                      <a:pt x="0" y="609"/>
                    </a:lnTo>
                    <a:lnTo>
                      <a:pt x="13" y="588"/>
                    </a:lnTo>
                    <a:cubicBezTo>
                      <a:pt x="240" y="234"/>
                      <a:pt x="636" y="0"/>
                      <a:pt x="1087" y="0"/>
                    </a:cubicBezTo>
                    <a:close/>
                  </a:path>
                </a:pathLst>
              </a:custGeom>
              <a:solidFill>
                <a:schemeClr val="accent1"/>
              </a:soli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55" name="任意多边形 54"/>
              <p:cNvSpPr/>
              <p:nvPr>
                <p:custDataLst>
                  <p:tags r:id="rId11"/>
                </p:custDataLst>
              </p:nvPr>
            </p:nvSpPr>
            <p:spPr bwMode="auto">
              <a:xfrm rot="10800000">
                <a:off x="8385" y="5960"/>
                <a:ext cx="2362" cy="252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2" h="2526">
                    <a:moveTo>
                      <a:pt x="1087" y="0"/>
                    </a:moveTo>
                    <a:cubicBezTo>
                      <a:pt x="1792" y="0"/>
                      <a:pt x="2362" y="571"/>
                      <a:pt x="2362" y="1275"/>
                    </a:cubicBezTo>
                    <a:cubicBezTo>
                      <a:pt x="2362" y="1891"/>
                      <a:pt x="1925" y="2405"/>
                      <a:pt x="1344" y="2524"/>
                    </a:cubicBezTo>
                    <a:lnTo>
                      <a:pt x="1335" y="2526"/>
                    </a:lnTo>
                    <a:lnTo>
                      <a:pt x="1338" y="2521"/>
                    </a:lnTo>
                    <a:cubicBezTo>
                      <a:pt x="1455" y="2328"/>
                      <a:pt x="1522" y="2102"/>
                      <a:pt x="1522" y="1860"/>
                    </a:cubicBezTo>
                    <a:cubicBezTo>
                      <a:pt x="1522" y="1156"/>
                      <a:pt x="952" y="585"/>
                      <a:pt x="247" y="585"/>
                    </a:cubicBezTo>
                    <a:cubicBezTo>
                      <a:pt x="170" y="585"/>
                      <a:pt x="95" y="592"/>
                      <a:pt x="22" y="605"/>
                    </a:cubicBezTo>
                    <a:lnTo>
                      <a:pt x="0" y="609"/>
                    </a:lnTo>
                    <a:lnTo>
                      <a:pt x="13" y="588"/>
                    </a:lnTo>
                    <a:cubicBezTo>
                      <a:pt x="240" y="234"/>
                      <a:pt x="636" y="0"/>
                      <a:pt x="1087" y="0"/>
                    </a:cubicBezTo>
                    <a:close/>
                  </a:path>
                </a:pathLst>
              </a:custGeom>
              <a:gradFill>
                <a:gsLst>
                  <a:gs pos="100000">
                    <a:schemeClr val="accent5">
                      <a:lumMod val="60000"/>
                      <a:lumOff val="40000"/>
                    </a:schemeClr>
                  </a:gs>
                  <a:gs pos="0">
                    <a:schemeClr val="accent5"/>
                  </a:gs>
                </a:gsLst>
                <a:lin ang="2100000" scaled="0"/>
              </a:gradFill>
              <a:ln w="3175">
                <a:gradFill>
                  <a:gsLst>
                    <a:gs pos="42000">
                      <a:srgbClr val="FFFFFF">
                        <a:lumMod val="0"/>
                        <a:lumOff val="100000"/>
                        <a:alpha val="100000"/>
                      </a:srgbClr>
                    </a:gs>
                    <a:gs pos="2000">
                      <a:srgbClr val="FFFFFF">
                        <a:alpha val="0"/>
                      </a:srgbClr>
                    </a:gs>
                    <a:gs pos="93000">
                      <a:schemeClr val="accent5">
                        <a:alpha val="30000"/>
                      </a:schemeClr>
                    </a:gs>
                  </a:gsLst>
                  <a:lin ang="9660000" scaled="1"/>
                </a:gradFill>
              </a:ln>
              <a:effectLst/>
            </p:spPr>
            <p:style>
              <a:lnRef idx="1">
                <a:srgbClr val="376FFF"/>
              </a:lnRef>
              <a:fillRef idx="2">
                <a:srgbClr val="376FFF"/>
              </a:fillRef>
              <a:effectRef idx="1">
                <a:srgbClr val="376FFF"/>
              </a:effectRef>
              <a:fontRef idx="minor">
                <a:srgbClr val="000000"/>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9pPr>
              </a:lstStyle>
              <a:p>
                <a:pPr lvl="0" algn="ctr">
                  <a:buClrTx/>
                  <a:buSzTx/>
                  <a:buFontTx/>
                </a:pPr>
                <a:endParaRPr lang="zh-CN" altLang="en-US" b="1">
                  <a:solidFill>
                    <a:srgbClr val="FFFFFF">
                      <a:lumMod val="100000"/>
                    </a:srgbClr>
                  </a:solidFill>
                  <a:latin typeface="微软雅黑" panose="020B0503020204020204" charset="-122"/>
                  <a:cs typeface="微软雅黑" panose="020B0503020204020204" charset="-122"/>
                  <a:sym typeface="+mn-ea"/>
                </a:endParaRPr>
              </a:p>
            </p:txBody>
          </p:sp>
          <p:sp>
            <p:nvSpPr>
              <p:cNvPr id="56" name="任意多边形 55"/>
              <p:cNvSpPr/>
              <p:nvPr>
                <p:custDataLst>
                  <p:tags r:id="rId12"/>
                </p:custDataLst>
              </p:nvPr>
            </p:nvSpPr>
            <p:spPr>
              <a:xfrm rot="7620000">
                <a:off x="9390" y="5339"/>
                <a:ext cx="2362" cy="252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2" h="2526">
                    <a:moveTo>
                      <a:pt x="1087" y="0"/>
                    </a:moveTo>
                    <a:cubicBezTo>
                      <a:pt x="1792" y="0"/>
                      <a:pt x="2362" y="571"/>
                      <a:pt x="2362" y="1275"/>
                    </a:cubicBezTo>
                    <a:cubicBezTo>
                      <a:pt x="2362" y="1891"/>
                      <a:pt x="1925" y="2405"/>
                      <a:pt x="1344" y="2524"/>
                    </a:cubicBezTo>
                    <a:lnTo>
                      <a:pt x="1335" y="2526"/>
                    </a:lnTo>
                    <a:lnTo>
                      <a:pt x="1338" y="2521"/>
                    </a:lnTo>
                    <a:cubicBezTo>
                      <a:pt x="1455" y="2328"/>
                      <a:pt x="1522" y="2102"/>
                      <a:pt x="1522" y="1860"/>
                    </a:cubicBezTo>
                    <a:cubicBezTo>
                      <a:pt x="1522" y="1156"/>
                      <a:pt x="952" y="585"/>
                      <a:pt x="247" y="585"/>
                    </a:cubicBezTo>
                    <a:cubicBezTo>
                      <a:pt x="170" y="585"/>
                      <a:pt x="95" y="592"/>
                      <a:pt x="22" y="605"/>
                    </a:cubicBezTo>
                    <a:lnTo>
                      <a:pt x="0" y="609"/>
                    </a:lnTo>
                    <a:lnTo>
                      <a:pt x="13" y="588"/>
                    </a:lnTo>
                    <a:cubicBezTo>
                      <a:pt x="240" y="234"/>
                      <a:pt x="636" y="0"/>
                      <a:pt x="1087" y="0"/>
                    </a:cubicBezTo>
                    <a:close/>
                  </a:path>
                </a:pathLst>
              </a:custGeom>
              <a:gradFill>
                <a:gsLst>
                  <a:gs pos="100000">
                    <a:schemeClr val="accent1">
                      <a:lumMod val="60000"/>
                      <a:lumOff val="40000"/>
                    </a:schemeClr>
                  </a:gs>
                  <a:gs pos="0">
                    <a:schemeClr val="accent1"/>
                  </a:gs>
                </a:gsLst>
                <a:lin ang="2100000" scaled="0"/>
              </a:gradFill>
              <a:ln>
                <a:noFill/>
              </a:ln>
            </p:spPr>
            <p:style>
              <a:lnRef idx="2">
                <a:schemeClr val="accent1">
                  <a:lumMod val="75000"/>
                </a:schemeClr>
              </a:lnRef>
              <a:fillRef idx="1">
                <a:schemeClr val="accent1"/>
              </a:fillRef>
              <a:effectRef idx="0">
                <a:srgbClr val="FFFFFF"/>
              </a:effectRef>
              <a:fontRef idx="minor">
                <a:schemeClr val="lt1"/>
              </a:fontRef>
            </p:style>
            <p:txBody>
              <a:bodyPr wrap="square" rtlCol="0" anchor="ctr">
                <a:noAutofit/>
              </a:bodyPr>
              <a:p>
                <a:pPr algn="ctr"/>
                <a:endParaRPr lang="zh-CN" altLang="en-US">
                  <a:cs typeface="微软雅黑" panose="020B0503020204020204" charset="-122"/>
                </a:endParaRPr>
              </a:p>
            </p:txBody>
          </p:sp>
          <p:sp>
            <p:nvSpPr>
              <p:cNvPr id="58" name="任意多边形 57"/>
              <p:cNvSpPr/>
              <p:nvPr>
                <p:custDataLst>
                  <p:tags r:id="rId13"/>
                </p:custDataLst>
              </p:nvPr>
            </p:nvSpPr>
            <p:spPr bwMode="auto">
              <a:xfrm rot="3900000">
                <a:off x="9501" y="4168"/>
                <a:ext cx="2362" cy="2526"/>
              </a:xfrm>
              <a:custGeom>
                <a:avLst/>
                <a:gdLst>
                  <a:gd name="idx" fmla="cos wd2 2700000"/>
                  <a:gd name="idy" fmla="sin hd2 2700000"/>
                  <a:gd name="il" fmla="+- hc 0 idx"/>
                  <a:gd name="ir" fmla="+- hc idx 0"/>
                  <a:gd name="it" fmla="+- vc 0 idy"/>
                  <a:gd name="ib" fmla="+- vc idy 0"/>
                </a:gdLst>
                <a:ahLst/>
                <a:cxnLst>
                  <a:cxn ang="3">
                    <a:pos x="hc" y="t"/>
                  </a:cxn>
                  <a:cxn ang="3">
                    <a:pos x="il" y="it"/>
                  </a:cxn>
                  <a:cxn ang="cd2">
                    <a:pos x="l" y="vc"/>
                  </a:cxn>
                  <a:cxn ang="cd4">
                    <a:pos x="il" y="ib"/>
                  </a:cxn>
                  <a:cxn ang="cd4">
                    <a:pos x="hc" y="b"/>
                  </a:cxn>
                  <a:cxn ang="cd4">
                    <a:pos x="ir" y="ib"/>
                  </a:cxn>
                  <a:cxn ang="0">
                    <a:pos x="r" y="vc"/>
                  </a:cxn>
                  <a:cxn ang="3">
                    <a:pos x="ir" y="it"/>
                  </a:cxn>
                </a:cxnLst>
                <a:rect l="l" t="t" r="r" b="b"/>
                <a:pathLst>
                  <a:path w="2362" h="2526">
                    <a:moveTo>
                      <a:pt x="1087" y="0"/>
                    </a:moveTo>
                    <a:cubicBezTo>
                      <a:pt x="1792" y="0"/>
                      <a:pt x="2362" y="571"/>
                      <a:pt x="2362" y="1275"/>
                    </a:cubicBezTo>
                    <a:cubicBezTo>
                      <a:pt x="2362" y="1891"/>
                      <a:pt x="1925" y="2405"/>
                      <a:pt x="1344" y="2524"/>
                    </a:cubicBezTo>
                    <a:lnTo>
                      <a:pt x="1335" y="2526"/>
                    </a:lnTo>
                    <a:lnTo>
                      <a:pt x="1338" y="2521"/>
                    </a:lnTo>
                    <a:cubicBezTo>
                      <a:pt x="1455" y="2328"/>
                      <a:pt x="1522" y="2102"/>
                      <a:pt x="1522" y="1860"/>
                    </a:cubicBezTo>
                    <a:cubicBezTo>
                      <a:pt x="1522" y="1156"/>
                      <a:pt x="952" y="585"/>
                      <a:pt x="247" y="585"/>
                    </a:cubicBezTo>
                    <a:cubicBezTo>
                      <a:pt x="170" y="585"/>
                      <a:pt x="95" y="592"/>
                      <a:pt x="22" y="605"/>
                    </a:cubicBezTo>
                    <a:lnTo>
                      <a:pt x="0" y="609"/>
                    </a:lnTo>
                    <a:lnTo>
                      <a:pt x="13" y="588"/>
                    </a:lnTo>
                    <a:cubicBezTo>
                      <a:pt x="240" y="234"/>
                      <a:pt x="636" y="0"/>
                      <a:pt x="1087" y="0"/>
                    </a:cubicBezTo>
                    <a:close/>
                  </a:path>
                </a:pathLst>
              </a:custGeom>
              <a:gradFill>
                <a:gsLst>
                  <a:gs pos="100000">
                    <a:schemeClr val="accent5">
                      <a:lumMod val="60000"/>
                      <a:lumOff val="40000"/>
                    </a:schemeClr>
                  </a:gs>
                  <a:gs pos="0">
                    <a:schemeClr val="accent5"/>
                  </a:gs>
                </a:gsLst>
                <a:lin ang="2100000" scaled="0"/>
              </a:gradFill>
              <a:ln w="3175">
                <a:gradFill>
                  <a:gsLst>
                    <a:gs pos="42000">
                      <a:srgbClr val="FFFFFF">
                        <a:lumMod val="0"/>
                        <a:lumOff val="100000"/>
                        <a:alpha val="100000"/>
                      </a:srgbClr>
                    </a:gs>
                    <a:gs pos="2000">
                      <a:srgbClr val="FFFFFF">
                        <a:alpha val="0"/>
                      </a:srgbClr>
                    </a:gs>
                    <a:gs pos="93000">
                      <a:schemeClr val="accent5">
                        <a:alpha val="30000"/>
                      </a:schemeClr>
                    </a:gs>
                  </a:gsLst>
                  <a:lin ang="9660000" scaled="1"/>
                </a:gradFill>
              </a:ln>
              <a:effectLst/>
            </p:spPr>
            <p:style>
              <a:lnRef idx="1">
                <a:srgbClr val="376FFF"/>
              </a:lnRef>
              <a:fillRef idx="2">
                <a:srgbClr val="376FFF"/>
              </a:fillRef>
              <a:effectRef idx="1">
                <a:srgbClr val="376FFF"/>
              </a:effectRef>
              <a:fontRef idx="minor">
                <a:srgbClr val="000000"/>
              </a:fontRef>
            </p:style>
            <p:txBody>
              <a:bodyPr rot="0" spcFirstLastPara="0" vertOverflow="overflow" horzOverflow="overflow" vert="horz" wrap="square" lIns="91440" tIns="45720" rIns="91440" bIns="45720" numCol="1" spcCol="0" rtlCol="0" fromWordArt="0" anchor="ctr" anchorCtr="0" forceAA="0" compatLnSpc="1">
                <a:noAutofit/>
              </a:bodyPr>
              <a:lstStyle>
                <a:defPPr>
                  <a:defRPr lang="zh-CN">
                    <a:solidFill>
                      <a:srgbClr val="FFFFFF"/>
                    </a:solidFill>
                  </a:defRPr>
                </a:defPPr>
                <a:lvl1pPr marL="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1pPr>
                <a:lvl2pPr marL="4572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2pPr>
                <a:lvl3pPr marL="9144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3pPr>
                <a:lvl4pPr marL="13716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4pPr>
                <a:lvl5pPr marL="18288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5pPr>
                <a:lvl6pPr marL="22860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6pPr>
                <a:lvl7pPr marL="27432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7pPr>
                <a:lvl8pPr marL="32004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8pPr>
                <a:lvl9pPr marL="3657600" algn="l" defTabSz="914400" rtl="0" eaLnBrk="1" latinLnBrk="0" hangingPunct="1">
                  <a:defRPr sz="1800" kern="1200">
                    <a:solidFill>
                      <a:srgbClr val="FFFFFF"/>
                    </a:solidFill>
                    <a:latin typeface="Arial" panose="020B0604020202020204" pitchFamily="34" charset="0"/>
                    <a:ea typeface="微软雅黑" panose="020B0503020204020204" charset="-122"/>
                    <a:cs typeface="+mn-ea"/>
                  </a:defRPr>
                </a:lvl9pPr>
              </a:lstStyle>
              <a:p>
                <a:pPr lvl="0" algn="ctr">
                  <a:buClrTx/>
                  <a:buSzTx/>
                  <a:buFontTx/>
                </a:pPr>
                <a:endParaRPr lang="zh-CN" altLang="en-US" b="1">
                  <a:solidFill>
                    <a:srgbClr val="FFFFFF">
                      <a:lumMod val="100000"/>
                    </a:srgbClr>
                  </a:solidFill>
                  <a:latin typeface="微软雅黑" panose="020B0503020204020204" charset="-122"/>
                  <a:cs typeface="微软雅黑" panose="020B0503020204020204" charset="-122"/>
                  <a:sym typeface="+mn-ea"/>
                </a:endParaRPr>
              </a:p>
            </p:txBody>
          </p:sp>
        </p:grpSp>
        <p:sp>
          <p:nvSpPr>
            <p:cNvPr id="64" name="文本框 63"/>
            <p:cNvSpPr txBox="1"/>
            <p:nvPr>
              <p:custDataLst>
                <p:tags r:id="rId14"/>
              </p:custDataLst>
            </p:nvPr>
          </p:nvSpPr>
          <p:spPr>
            <a:xfrm>
              <a:off x="9234" y="3783"/>
              <a:ext cx="1025" cy="475"/>
            </a:xfrm>
            <a:prstGeom prst="rect">
              <a:avLst/>
            </a:prstGeom>
            <a:noFill/>
          </p:spPr>
          <p:txBody>
            <a:bodyPr wrap="square" rtlCol="0">
              <a:noAutofit/>
            </a:bodyPr>
            <a:p>
              <a:pPr algn="ctr"/>
              <a:r>
                <a:rPr lang="en-US" altLang="zh-CN" b="1">
                  <a:solidFill>
                    <a:schemeClr val="lt1"/>
                  </a:solidFill>
                  <a:cs typeface="微软雅黑" panose="020B0503020204020204" charset="-122"/>
                </a:rPr>
                <a:t>01</a:t>
              </a:r>
              <a:endParaRPr lang="en-US" altLang="zh-CN" b="1">
                <a:solidFill>
                  <a:schemeClr val="lt1"/>
                </a:solidFill>
                <a:cs typeface="微软雅黑" panose="020B0503020204020204" charset="-122"/>
              </a:endParaRPr>
            </a:p>
          </p:txBody>
        </p:sp>
        <p:sp>
          <p:nvSpPr>
            <p:cNvPr id="65" name="文本框 64"/>
            <p:cNvSpPr txBox="1"/>
            <p:nvPr>
              <p:custDataLst>
                <p:tags r:id="rId15"/>
              </p:custDataLst>
            </p:nvPr>
          </p:nvSpPr>
          <p:spPr>
            <a:xfrm>
              <a:off x="7644" y="4589"/>
              <a:ext cx="1025" cy="475"/>
            </a:xfrm>
            <a:prstGeom prst="rect">
              <a:avLst/>
            </a:prstGeom>
            <a:noFill/>
          </p:spPr>
          <p:txBody>
            <a:bodyPr wrap="square" rtlCol="0">
              <a:noAutofit/>
            </a:bodyPr>
            <a:p>
              <a:pPr algn="ctr"/>
              <a:r>
                <a:rPr lang="en-US" altLang="zh-CN" b="1">
                  <a:solidFill>
                    <a:schemeClr val="lt1"/>
                  </a:solidFill>
                  <a:cs typeface="微软雅黑" panose="020B0503020204020204" charset="-122"/>
                </a:rPr>
                <a:t>06</a:t>
              </a:r>
              <a:endParaRPr lang="en-US" altLang="zh-CN" b="1">
                <a:solidFill>
                  <a:schemeClr val="lt1"/>
                </a:solidFill>
                <a:cs typeface="微软雅黑" panose="020B0503020204020204" charset="-122"/>
              </a:endParaRPr>
            </a:p>
          </p:txBody>
        </p:sp>
        <p:sp>
          <p:nvSpPr>
            <p:cNvPr id="72" name="文本框 71"/>
            <p:cNvSpPr txBox="1"/>
            <p:nvPr>
              <p:custDataLst>
                <p:tags r:id="rId16"/>
              </p:custDataLst>
            </p:nvPr>
          </p:nvSpPr>
          <p:spPr>
            <a:xfrm>
              <a:off x="7380" y="6682"/>
              <a:ext cx="1025" cy="475"/>
            </a:xfrm>
            <a:prstGeom prst="rect">
              <a:avLst/>
            </a:prstGeom>
            <a:noFill/>
          </p:spPr>
          <p:txBody>
            <a:bodyPr wrap="square" rtlCol="0">
              <a:noAutofit/>
            </a:bodyPr>
            <a:p>
              <a:pPr algn="ctr"/>
              <a:r>
                <a:rPr lang="en-US" altLang="zh-CN" b="1">
                  <a:solidFill>
                    <a:schemeClr val="lt1"/>
                  </a:solidFill>
                  <a:cs typeface="微软雅黑" panose="020B0503020204020204" charset="-122"/>
                </a:rPr>
                <a:t>05</a:t>
              </a:r>
              <a:endParaRPr lang="en-US" altLang="zh-CN" b="1">
                <a:solidFill>
                  <a:schemeClr val="lt1"/>
                </a:solidFill>
                <a:cs typeface="微软雅黑" panose="020B0503020204020204" charset="-122"/>
              </a:endParaRPr>
            </a:p>
          </p:txBody>
        </p:sp>
        <p:sp>
          <p:nvSpPr>
            <p:cNvPr id="73" name="文本框 72"/>
            <p:cNvSpPr txBox="1"/>
            <p:nvPr>
              <p:custDataLst>
                <p:tags r:id="rId17"/>
              </p:custDataLst>
            </p:nvPr>
          </p:nvSpPr>
          <p:spPr>
            <a:xfrm>
              <a:off x="8982" y="7867"/>
              <a:ext cx="1025" cy="475"/>
            </a:xfrm>
            <a:prstGeom prst="rect">
              <a:avLst/>
            </a:prstGeom>
            <a:noFill/>
          </p:spPr>
          <p:txBody>
            <a:bodyPr wrap="square" rtlCol="0">
              <a:noAutofit/>
            </a:bodyPr>
            <a:p>
              <a:pPr algn="ctr"/>
              <a:r>
                <a:rPr lang="en-US" altLang="zh-CN" b="1">
                  <a:solidFill>
                    <a:schemeClr val="lt1"/>
                  </a:solidFill>
                  <a:cs typeface="微软雅黑" panose="020B0503020204020204" charset="-122"/>
                </a:rPr>
                <a:t>04</a:t>
              </a:r>
              <a:endParaRPr lang="en-US" altLang="zh-CN" b="1">
                <a:solidFill>
                  <a:schemeClr val="lt1"/>
                </a:solidFill>
                <a:cs typeface="微软雅黑" panose="020B0503020204020204" charset="-122"/>
              </a:endParaRPr>
            </a:p>
          </p:txBody>
        </p:sp>
        <p:sp>
          <p:nvSpPr>
            <p:cNvPr id="74" name="文本框 73"/>
            <p:cNvSpPr txBox="1"/>
            <p:nvPr>
              <p:custDataLst>
                <p:tags r:id="rId18"/>
              </p:custDataLst>
            </p:nvPr>
          </p:nvSpPr>
          <p:spPr>
            <a:xfrm>
              <a:off x="10714" y="6927"/>
              <a:ext cx="1025" cy="475"/>
            </a:xfrm>
            <a:prstGeom prst="rect">
              <a:avLst/>
            </a:prstGeom>
            <a:noFill/>
          </p:spPr>
          <p:txBody>
            <a:bodyPr wrap="square" rtlCol="0">
              <a:noAutofit/>
            </a:bodyPr>
            <a:p>
              <a:pPr algn="ctr"/>
              <a:r>
                <a:rPr lang="en-US" altLang="zh-CN" b="1">
                  <a:solidFill>
                    <a:schemeClr val="lt1"/>
                  </a:solidFill>
                  <a:cs typeface="微软雅黑" panose="020B0503020204020204" charset="-122"/>
                </a:rPr>
                <a:t>03</a:t>
              </a:r>
              <a:endParaRPr lang="en-US" altLang="zh-CN" b="1">
                <a:solidFill>
                  <a:schemeClr val="lt1"/>
                </a:solidFill>
                <a:cs typeface="微软雅黑" panose="020B0503020204020204" charset="-122"/>
              </a:endParaRPr>
            </a:p>
          </p:txBody>
        </p:sp>
        <p:sp>
          <p:nvSpPr>
            <p:cNvPr id="75" name="文本框 74"/>
            <p:cNvSpPr txBox="1"/>
            <p:nvPr>
              <p:custDataLst>
                <p:tags r:id="rId19"/>
              </p:custDataLst>
            </p:nvPr>
          </p:nvSpPr>
          <p:spPr>
            <a:xfrm>
              <a:off x="10886" y="5064"/>
              <a:ext cx="1025" cy="475"/>
            </a:xfrm>
            <a:prstGeom prst="rect">
              <a:avLst/>
            </a:prstGeom>
            <a:noFill/>
          </p:spPr>
          <p:txBody>
            <a:bodyPr wrap="square" rtlCol="0">
              <a:noAutofit/>
            </a:bodyPr>
            <a:p>
              <a:pPr algn="ctr"/>
              <a:r>
                <a:rPr lang="en-US" altLang="zh-CN" b="1">
                  <a:solidFill>
                    <a:schemeClr val="lt1"/>
                  </a:solidFill>
                  <a:cs typeface="微软雅黑" panose="020B0503020204020204" charset="-122"/>
                </a:rPr>
                <a:t>02</a:t>
              </a:r>
              <a:endParaRPr lang="en-US" altLang="zh-CN" b="1">
                <a:solidFill>
                  <a:schemeClr val="lt1"/>
                </a:solidFill>
                <a:cs typeface="微软雅黑" panose="020B0503020204020204" charset="-122"/>
              </a:endParaRPr>
            </a:p>
          </p:txBody>
        </p:sp>
      </p:grpSp>
      <p:sp>
        <p:nvSpPr>
          <p:cNvPr id="77" name="椭圆 76"/>
          <p:cNvSpPr/>
          <p:nvPr/>
        </p:nvSpPr>
        <p:spPr>
          <a:xfrm>
            <a:off x="3801745" y="1522730"/>
            <a:ext cx="4709160" cy="4709160"/>
          </a:xfrm>
          <a:prstGeom prst="ellipse">
            <a:avLst/>
          </a:prstGeom>
          <a:noFill/>
          <a:ln>
            <a:solidFill>
              <a:schemeClr val="tx2">
                <a:lumMod val="60000"/>
                <a:lumOff val="40000"/>
              </a:schemeClr>
            </a:solidFill>
            <a:prstDash val="dash"/>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46" name="等腰三角形 145"/>
          <p:cNvSpPr/>
          <p:nvPr/>
        </p:nvSpPr>
        <p:spPr>
          <a:xfrm rot="19453676">
            <a:off x="4217670" y="5236210"/>
            <a:ext cx="135890" cy="149860"/>
          </a:xfrm>
          <a:prstGeom prst="triangl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78" name="等腰三角形 77"/>
          <p:cNvSpPr/>
          <p:nvPr/>
        </p:nvSpPr>
        <p:spPr>
          <a:xfrm rot="2593677">
            <a:off x="4369435" y="2188845"/>
            <a:ext cx="135890" cy="149860"/>
          </a:xfrm>
          <a:prstGeom prst="triangl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79" name="等腰三角形 78"/>
          <p:cNvSpPr/>
          <p:nvPr/>
        </p:nvSpPr>
        <p:spPr>
          <a:xfrm rot="8593677">
            <a:off x="7971155" y="2390775"/>
            <a:ext cx="135890" cy="149860"/>
          </a:xfrm>
          <a:prstGeom prst="triangl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80" name="等腰三角形 79"/>
          <p:cNvSpPr/>
          <p:nvPr/>
        </p:nvSpPr>
        <p:spPr>
          <a:xfrm rot="13093677">
            <a:off x="7960360" y="5231765"/>
            <a:ext cx="135890" cy="149860"/>
          </a:xfrm>
          <a:prstGeom prst="triangle">
            <a:avLst/>
          </a:prstGeom>
          <a:solidFill>
            <a:schemeClr val="tx2">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cs typeface="微软雅黑" panose="020B0503020204020204" charset="-122"/>
            </a:endParaRPr>
          </a:p>
        </p:txBody>
      </p:sp>
      <p:sp>
        <p:nvSpPr>
          <p:cNvPr id="81" name="子陵职场PPT11"/>
          <p:cNvSpPr/>
          <p:nvPr/>
        </p:nvSpPr>
        <p:spPr>
          <a:xfrm>
            <a:off x="379730" y="2970530"/>
            <a:ext cx="1929130" cy="419735"/>
          </a:xfrm>
          <a:custGeom>
            <a:avLst/>
            <a:gdLst>
              <a:gd name="connsiteX0" fmla="*/ 38563 w 1655078"/>
              <a:gd name="connsiteY0" fmla="*/ 0 h 231375"/>
              <a:gd name="connsiteX1" fmla="*/ 1616515 w 1655078"/>
              <a:gd name="connsiteY1" fmla="*/ 0 h 231375"/>
              <a:gd name="connsiteX2" fmla="*/ 1655078 w 1655078"/>
              <a:gd name="connsiteY2" fmla="*/ 38563 h 231375"/>
              <a:gd name="connsiteX3" fmla="*/ 1655078 w 1655078"/>
              <a:gd name="connsiteY3" fmla="*/ 231375 h 231375"/>
              <a:gd name="connsiteX4" fmla="*/ 1655078 w 1655078"/>
              <a:gd name="connsiteY4" fmla="*/ 231375 h 231375"/>
              <a:gd name="connsiteX5" fmla="*/ 0 w 1655078"/>
              <a:gd name="connsiteY5" fmla="*/ 231375 h 231375"/>
              <a:gd name="connsiteX6" fmla="*/ 0 w 1655078"/>
              <a:gd name="connsiteY6" fmla="*/ 231375 h 231375"/>
              <a:gd name="connsiteX7" fmla="*/ 0 w 1655078"/>
              <a:gd name="connsiteY7" fmla="*/ 38563 h 231375"/>
              <a:gd name="connsiteX8" fmla="*/ 38563 w 1655078"/>
              <a:gd name="connsiteY8" fmla="*/ 0 h 231375"/>
              <a:gd name="connsiteX0-1" fmla="*/ 38563 w 1794778"/>
              <a:gd name="connsiteY0-2" fmla="*/ 0 h 231375"/>
              <a:gd name="connsiteX1-3" fmla="*/ 1616515 w 1794778"/>
              <a:gd name="connsiteY1-4" fmla="*/ 0 h 231375"/>
              <a:gd name="connsiteX2-5" fmla="*/ 1655078 w 1794778"/>
              <a:gd name="connsiteY2-6" fmla="*/ 38563 h 231375"/>
              <a:gd name="connsiteX3-7" fmla="*/ 1655078 w 1794778"/>
              <a:gd name="connsiteY3-8" fmla="*/ 231375 h 231375"/>
              <a:gd name="connsiteX4-9" fmla="*/ 1794778 w 1794778"/>
              <a:gd name="connsiteY4-10" fmla="*/ 231375 h 231375"/>
              <a:gd name="connsiteX5-11" fmla="*/ 0 w 1794778"/>
              <a:gd name="connsiteY5-12" fmla="*/ 231375 h 231375"/>
              <a:gd name="connsiteX6-13" fmla="*/ 0 w 1794778"/>
              <a:gd name="connsiteY6-14" fmla="*/ 231375 h 231375"/>
              <a:gd name="connsiteX7-15" fmla="*/ 0 w 1794778"/>
              <a:gd name="connsiteY7-16" fmla="*/ 38563 h 231375"/>
              <a:gd name="connsiteX8-17" fmla="*/ 38563 w 1794778"/>
              <a:gd name="connsiteY8-18" fmla="*/ 0 h 231375"/>
              <a:gd name="connsiteX0-19" fmla="*/ 38563 w 1655078"/>
              <a:gd name="connsiteY0-20" fmla="*/ 0 h 231375"/>
              <a:gd name="connsiteX1-21" fmla="*/ 1616515 w 1655078"/>
              <a:gd name="connsiteY1-22" fmla="*/ 0 h 231375"/>
              <a:gd name="connsiteX2-23" fmla="*/ 1655078 w 1655078"/>
              <a:gd name="connsiteY2-24" fmla="*/ 38563 h 231375"/>
              <a:gd name="connsiteX3-25" fmla="*/ 1655078 w 1655078"/>
              <a:gd name="connsiteY3-26" fmla="*/ 231375 h 231375"/>
              <a:gd name="connsiteX4-27" fmla="*/ 0 w 1655078"/>
              <a:gd name="connsiteY4-28" fmla="*/ 231375 h 231375"/>
              <a:gd name="connsiteX5-29" fmla="*/ 0 w 1655078"/>
              <a:gd name="connsiteY5-30" fmla="*/ 231375 h 231375"/>
              <a:gd name="connsiteX6-31" fmla="*/ 0 w 1655078"/>
              <a:gd name="connsiteY6-32" fmla="*/ 38563 h 231375"/>
              <a:gd name="connsiteX7-33" fmla="*/ 38563 w 1655078"/>
              <a:gd name="connsiteY7-34" fmla="*/ 0 h 231375"/>
              <a:gd name="connsiteX0-35" fmla="*/ 38563 w 1657402"/>
              <a:gd name="connsiteY0-36" fmla="*/ 0 h 231375"/>
              <a:gd name="connsiteX1-37" fmla="*/ 1616515 w 1657402"/>
              <a:gd name="connsiteY1-38" fmla="*/ 0 h 231375"/>
              <a:gd name="connsiteX2-39" fmla="*/ 1655078 w 1657402"/>
              <a:gd name="connsiteY2-40" fmla="*/ 38563 h 231375"/>
              <a:gd name="connsiteX3-41" fmla="*/ 1657402 w 1657402"/>
              <a:gd name="connsiteY3-42" fmla="*/ 213709 h 231375"/>
              <a:gd name="connsiteX4-43" fmla="*/ 1655078 w 1657402"/>
              <a:gd name="connsiteY4-44" fmla="*/ 231375 h 231375"/>
              <a:gd name="connsiteX5-45" fmla="*/ 0 w 1657402"/>
              <a:gd name="connsiteY5-46" fmla="*/ 231375 h 231375"/>
              <a:gd name="connsiteX6-47" fmla="*/ 0 w 1657402"/>
              <a:gd name="connsiteY6-48" fmla="*/ 231375 h 231375"/>
              <a:gd name="connsiteX7-49" fmla="*/ 0 w 1657402"/>
              <a:gd name="connsiteY7-50" fmla="*/ 38563 h 231375"/>
              <a:gd name="connsiteX8-51" fmla="*/ 38563 w 1657402"/>
              <a:gd name="connsiteY8-52" fmla="*/ 0 h 231375"/>
              <a:gd name="connsiteX0-53" fmla="*/ 38563 w 1825307"/>
              <a:gd name="connsiteY0-54" fmla="*/ 0 h 231375"/>
              <a:gd name="connsiteX1-55" fmla="*/ 1616515 w 1825307"/>
              <a:gd name="connsiteY1-56" fmla="*/ 0 h 231375"/>
              <a:gd name="connsiteX2-57" fmla="*/ 1655078 w 1825307"/>
              <a:gd name="connsiteY2-58" fmla="*/ 38563 h 231375"/>
              <a:gd name="connsiteX3-59" fmla="*/ 1825307 w 1825307"/>
              <a:gd name="connsiteY3-60" fmla="*/ 217920 h 231375"/>
              <a:gd name="connsiteX4-61" fmla="*/ 1655078 w 1825307"/>
              <a:gd name="connsiteY4-62" fmla="*/ 231375 h 231375"/>
              <a:gd name="connsiteX5-63" fmla="*/ 0 w 1825307"/>
              <a:gd name="connsiteY5-64" fmla="*/ 231375 h 231375"/>
              <a:gd name="connsiteX6-65" fmla="*/ 0 w 1825307"/>
              <a:gd name="connsiteY6-66" fmla="*/ 231375 h 231375"/>
              <a:gd name="connsiteX7-67" fmla="*/ 0 w 1825307"/>
              <a:gd name="connsiteY7-68" fmla="*/ 38563 h 231375"/>
              <a:gd name="connsiteX8-69" fmla="*/ 38563 w 1825307"/>
              <a:gd name="connsiteY8-70" fmla="*/ 0 h 231375"/>
              <a:gd name="connsiteX0-71" fmla="*/ 38563 w 1825307"/>
              <a:gd name="connsiteY0-72" fmla="*/ 0 h 231375"/>
              <a:gd name="connsiteX1-73" fmla="*/ 1616515 w 1825307"/>
              <a:gd name="connsiteY1-74" fmla="*/ 0 h 231375"/>
              <a:gd name="connsiteX2-75" fmla="*/ 1655078 w 1825307"/>
              <a:gd name="connsiteY2-76" fmla="*/ 38563 h 231375"/>
              <a:gd name="connsiteX3-77" fmla="*/ 1825307 w 1825307"/>
              <a:gd name="connsiteY3-78" fmla="*/ 217920 h 231375"/>
              <a:gd name="connsiteX4-79" fmla="*/ 1655078 w 1825307"/>
              <a:gd name="connsiteY4-80" fmla="*/ 231375 h 231375"/>
              <a:gd name="connsiteX5-81" fmla="*/ 0 w 1825307"/>
              <a:gd name="connsiteY5-82" fmla="*/ 231375 h 231375"/>
              <a:gd name="connsiteX6-83" fmla="*/ 0 w 1825307"/>
              <a:gd name="connsiteY6-84" fmla="*/ 231375 h 231375"/>
              <a:gd name="connsiteX7-85" fmla="*/ 0 w 1825307"/>
              <a:gd name="connsiteY7-86" fmla="*/ 38563 h 231375"/>
              <a:gd name="connsiteX8-87" fmla="*/ 38563 w 1825307"/>
              <a:gd name="connsiteY8-88" fmla="*/ 0 h 231375"/>
              <a:gd name="connsiteX0-89" fmla="*/ 38563 w 1825307"/>
              <a:gd name="connsiteY0-90" fmla="*/ 0 h 231375"/>
              <a:gd name="connsiteX1-91" fmla="*/ 1616515 w 1825307"/>
              <a:gd name="connsiteY1-92" fmla="*/ 0 h 231375"/>
              <a:gd name="connsiteX2-93" fmla="*/ 1655078 w 1825307"/>
              <a:gd name="connsiteY2-94" fmla="*/ 38563 h 231375"/>
              <a:gd name="connsiteX3-95" fmla="*/ 1825307 w 1825307"/>
              <a:gd name="connsiteY3-96" fmla="*/ 217920 h 231375"/>
              <a:gd name="connsiteX4-97" fmla="*/ 1655078 w 1825307"/>
              <a:gd name="connsiteY4-98" fmla="*/ 231375 h 231375"/>
              <a:gd name="connsiteX5-99" fmla="*/ 0 w 1825307"/>
              <a:gd name="connsiteY5-100" fmla="*/ 231375 h 231375"/>
              <a:gd name="connsiteX6-101" fmla="*/ 0 w 1825307"/>
              <a:gd name="connsiteY6-102" fmla="*/ 231375 h 231375"/>
              <a:gd name="connsiteX7-103" fmla="*/ 0 w 1825307"/>
              <a:gd name="connsiteY7-104" fmla="*/ 38563 h 231375"/>
              <a:gd name="connsiteX8-105" fmla="*/ 38563 w 1825307"/>
              <a:gd name="connsiteY8-106" fmla="*/ 0 h 231375"/>
              <a:gd name="connsiteX0-107" fmla="*/ 38563 w 1825307"/>
              <a:gd name="connsiteY0-108" fmla="*/ 0 h 231375"/>
              <a:gd name="connsiteX1-109" fmla="*/ 1616515 w 1825307"/>
              <a:gd name="connsiteY1-110" fmla="*/ 0 h 231375"/>
              <a:gd name="connsiteX2-111" fmla="*/ 1655078 w 1825307"/>
              <a:gd name="connsiteY2-112" fmla="*/ 38563 h 231375"/>
              <a:gd name="connsiteX3-113" fmla="*/ 1825307 w 1825307"/>
              <a:gd name="connsiteY3-114" fmla="*/ 230557 h 231375"/>
              <a:gd name="connsiteX4-115" fmla="*/ 1655078 w 1825307"/>
              <a:gd name="connsiteY4-116" fmla="*/ 231375 h 231375"/>
              <a:gd name="connsiteX5-117" fmla="*/ 0 w 1825307"/>
              <a:gd name="connsiteY5-118" fmla="*/ 231375 h 231375"/>
              <a:gd name="connsiteX6-119" fmla="*/ 0 w 1825307"/>
              <a:gd name="connsiteY6-120" fmla="*/ 231375 h 231375"/>
              <a:gd name="connsiteX7-121" fmla="*/ 0 w 1825307"/>
              <a:gd name="connsiteY7-122" fmla="*/ 38563 h 231375"/>
              <a:gd name="connsiteX8-123" fmla="*/ 38563 w 1825307"/>
              <a:gd name="connsiteY8-124" fmla="*/ 0 h 231375"/>
              <a:gd name="connsiteX0-125" fmla="*/ 38563 w 1825307"/>
              <a:gd name="connsiteY0-126" fmla="*/ 0 h 231375"/>
              <a:gd name="connsiteX1-127" fmla="*/ 1616515 w 1825307"/>
              <a:gd name="connsiteY1-128" fmla="*/ 0 h 231375"/>
              <a:gd name="connsiteX2-129" fmla="*/ 1670343 w 1825307"/>
              <a:gd name="connsiteY2-130" fmla="*/ 40669 h 231375"/>
              <a:gd name="connsiteX3-131" fmla="*/ 1825307 w 1825307"/>
              <a:gd name="connsiteY3-132" fmla="*/ 230557 h 231375"/>
              <a:gd name="connsiteX4-133" fmla="*/ 1655078 w 1825307"/>
              <a:gd name="connsiteY4-134" fmla="*/ 231375 h 231375"/>
              <a:gd name="connsiteX5-135" fmla="*/ 0 w 1825307"/>
              <a:gd name="connsiteY5-136" fmla="*/ 231375 h 231375"/>
              <a:gd name="connsiteX6-137" fmla="*/ 0 w 1825307"/>
              <a:gd name="connsiteY6-138" fmla="*/ 231375 h 231375"/>
              <a:gd name="connsiteX7-139" fmla="*/ 0 w 1825307"/>
              <a:gd name="connsiteY7-140" fmla="*/ 38563 h 231375"/>
              <a:gd name="connsiteX8-141" fmla="*/ 38563 w 1825307"/>
              <a:gd name="connsiteY8-142" fmla="*/ 0 h 231375"/>
              <a:gd name="connsiteX0-143" fmla="*/ 38563 w 1825307"/>
              <a:gd name="connsiteY0-144" fmla="*/ 0 h 231375"/>
              <a:gd name="connsiteX1-145" fmla="*/ 1616515 w 1825307"/>
              <a:gd name="connsiteY1-146" fmla="*/ 0 h 231375"/>
              <a:gd name="connsiteX2-147" fmla="*/ 1670343 w 1825307"/>
              <a:gd name="connsiteY2-148" fmla="*/ 40669 h 231375"/>
              <a:gd name="connsiteX3-149" fmla="*/ 1825307 w 1825307"/>
              <a:gd name="connsiteY3-150" fmla="*/ 230557 h 231375"/>
              <a:gd name="connsiteX4-151" fmla="*/ 0 w 1825307"/>
              <a:gd name="connsiteY4-152" fmla="*/ 231375 h 231375"/>
              <a:gd name="connsiteX5-153" fmla="*/ 0 w 1825307"/>
              <a:gd name="connsiteY5-154" fmla="*/ 231375 h 231375"/>
              <a:gd name="connsiteX6-155" fmla="*/ 0 w 1825307"/>
              <a:gd name="connsiteY6-156" fmla="*/ 38563 h 231375"/>
              <a:gd name="connsiteX7-157" fmla="*/ 38563 w 1825307"/>
              <a:gd name="connsiteY7-158" fmla="*/ 0 h 231375"/>
              <a:gd name="connsiteX0-159" fmla="*/ 38563 w 1825307"/>
              <a:gd name="connsiteY0-160" fmla="*/ 0 h 231375"/>
              <a:gd name="connsiteX1-161" fmla="*/ 1616515 w 1825307"/>
              <a:gd name="connsiteY1-162" fmla="*/ 0 h 231375"/>
              <a:gd name="connsiteX2-163" fmla="*/ 1670343 w 1825307"/>
              <a:gd name="connsiteY2-164" fmla="*/ 40669 h 231375"/>
              <a:gd name="connsiteX3-165" fmla="*/ 1825307 w 1825307"/>
              <a:gd name="connsiteY3-166" fmla="*/ 230557 h 231375"/>
              <a:gd name="connsiteX4-167" fmla="*/ 0 w 1825307"/>
              <a:gd name="connsiteY4-168" fmla="*/ 231375 h 231375"/>
              <a:gd name="connsiteX5-169" fmla="*/ 0 w 1825307"/>
              <a:gd name="connsiteY5-170" fmla="*/ 231375 h 231375"/>
              <a:gd name="connsiteX6-171" fmla="*/ 0 w 1825307"/>
              <a:gd name="connsiteY6-172" fmla="*/ 38563 h 231375"/>
              <a:gd name="connsiteX7-173" fmla="*/ 38563 w 1825307"/>
              <a:gd name="connsiteY7-174" fmla="*/ 0 h 231375"/>
              <a:gd name="connsiteX0-175" fmla="*/ 38563 w 1825307"/>
              <a:gd name="connsiteY0-176" fmla="*/ 0 h 231375"/>
              <a:gd name="connsiteX1-177" fmla="*/ 1616515 w 1825307"/>
              <a:gd name="connsiteY1-178" fmla="*/ 0 h 231375"/>
              <a:gd name="connsiteX2-179" fmla="*/ 1670343 w 1825307"/>
              <a:gd name="connsiteY2-180" fmla="*/ 40669 h 231375"/>
              <a:gd name="connsiteX3-181" fmla="*/ 1825307 w 1825307"/>
              <a:gd name="connsiteY3-182" fmla="*/ 230557 h 231375"/>
              <a:gd name="connsiteX4-183" fmla="*/ 0 w 1825307"/>
              <a:gd name="connsiteY4-184" fmla="*/ 231375 h 231375"/>
              <a:gd name="connsiteX5-185" fmla="*/ 0 w 1825307"/>
              <a:gd name="connsiteY5-186" fmla="*/ 231375 h 231375"/>
              <a:gd name="connsiteX6-187" fmla="*/ 0 w 1825307"/>
              <a:gd name="connsiteY6-188" fmla="*/ 38563 h 231375"/>
              <a:gd name="connsiteX7-189" fmla="*/ 38563 w 1825307"/>
              <a:gd name="connsiteY7-190" fmla="*/ 0 h 231375"/>
              <a:gd name="connsiteX0-191" fmla="*/ 38563 w 1825307"/>
              <a:gd name="connsiteY0-192" fmla="*/ 0 h 231375"/>
              <a:gd name="connsiteX1-193" fmla="*/ 1616515 w 1825307"/>
              <a:gd name="connsiteY1-194" fmla="*/ 0 h 231375"/>
              <a:gd name="connsiteX2-195" fmla="*/ 1670343 w 1825307"/>
              <a:gd name="connsiteY2-196" fmla="*/ 40669 h 231375"/>
              <a:gd name="connsiteX3-197" fmla="*/ 1825307 w 1825307"/>
              <a:gd name="connsiteY3-198" fmla="*/ 230557 h 231375"/>
              <a:gd name="connsiteX4-199" fmla="*/ 0 w 1825307"/>
              <a:gd name="connsiteY4-200" fmla="*/ 231375 h 231375"/>
              <a:gd name="connsiteX5-201" fmla="*/ 0 w 1825307"/>
              <a:gd name="connsiteY5-202" fmla="*/ 231375 h 231375"/>
              <a:gd name="connsiteX6-203" fmla="*/ 0 w 1825307"/>
              <a:gd name="connsiteY6-204" fmla="*/ 38563 h 231375"/>
              <a:gd name="connsiteX7-205" fmla="*/ 38563 w 1825307"/>
              <a:gd name="connsiteY7-206" fmla="*/ 0 h 231375"/>
              <a:gd name="connsiteX0-207" fmla="*/ 38563 w 1825307"/>
              <a:gd name="connsiteY0-208" fmla="*/ 0 h 231375"/>
              <a:gd name="connsiteX1-209" fmla="*/ 1616515 w 1825307"/>
              <a:gd name="connsiteY1-210" fmla="*/ 0 h 231375"/>
              <a:gd name="connsiteX2-211" fmla="*/ 1670343 w 1825307"/>
              <a:gd name="connsiteY2-212" fmla="*/ 40669 h 231375"/>
              <a:gd name="connsiteX3-213" fmla="*/ 1825307 w 1825307"/>
              <a:gd name="connsiteY3-214" fmla="*/ 230557 h 231375"/>
              <a:gd name="connsiteX4-215" fmla="*/ 0 w 1825307"/>
              <a:gd name="connsiteY4-216" fmla="*/ 231375 h 231375"/>
              <a:gd name="connsiteX5-217" fmla="*/ 0 w 1825307"/>
              <a:gd name="connsiteY5-218" fmla="*/ 231375 h 231375"/>
              <a:gd name="connsiteX6-219" fmla="*/ 0 w 1825307"/>
              <a:gd name="connsiteY6-220" fmla="*/ 38563 h 231375"/>
              <a:gd name="connsiteX7-221" fmla="*/ 38563 w 1825307"/>
              <a:gd name="connsiteY7-222" fmla="*/ 0 h 231375"/>
              <a:gd name="connsiteX0-223" fmla="*/ 38563 w 1827851"/>
              <a:gd name="connsiteY0-224" fmla="*/ 0 h 249512"/>
              <a:gd name="connsiteX1-225" fmla="*/ 1616515 w 1827851"/>
              <a:gd name="connsiteY1-226" fmla="*/ 0 h 249512"/>
              <a:gd name="connsiteX2-227" fmla="*/ 1670343 w 1827851"/>
              <a:gd name="connsiteY2-228" fmla="*/ 40669 h 249512"/>
              <a:gd name="connsiteX3-229" fmla="*/ 1827851 w 1827851"/>
              <a:gd name="connsiteY3-230" fmla="*/ 249512 h 249512"/>
              <a:gd name="connsiteX4-231" fmla="*/ 0 w 1827851"/>
              <a:gd name="connsiteY4-232" fmla="*/ 231375 h 249512"/>
              <a:gd name="connsiteX5-233" fmla="*/ 0 w 1827851"/>
              <a:gd name="connsiteY5-234" fmla="*/ 231375 h 249512"/>
              <a:gd name="connsiteX6-235" fmla="*/ 0 w 1827851"/>
              <a:gd name="connsiteY6-236" fmla="*/ 38563 h 249512"/>
              <a:gd name="connsiteX7-237" fmla="*/ 38563 w 1827851"/>
              <a:gd name="connsiteY7-238" fmla="*/ 0 h 249512"/>
              <a:gd name="connsiteX0-239" fmla="*/ 38563 w 1827851"/>
              <a:gd name="connsiteY0-240" fmla="*/ 0 h 249512"/>
              <a:gd name="connsiteX1-241" fmla="*/ 1616515 w 1827851"/>
              <a:gd name="connsiteY1-242" fmla="*/ 0 h 249512"/>
              <a:gd name="connsiteX2-243" fmla="*/ 1670343 w 1827851"/>
              <a:gd name="connsiteY2-244" fmla="*/ 40669 h 249512"/>
              <a:gd name="connsiteX3-245" fmla="*/ 1827851 w 1827851"/>
              <a:gd name="connsiteY3-246" fmla="*/ 249512 h 249512"/>
              <a:gd name="connsiteX4-247" fmla="*/ 0 w 1827851"/>
              <a:gd name="connsiteY4-248" fmla="*/ 231375 h 249512"/>
              <a:gd name="connsiteX5-249" fmla="*/ 0 w 1827851"/>
              <a:gd name="connsiteY5-250" fmla="*/ 231375 h 249512"/>
              <a:gd name="connsiteX6-251" fmla="*/ 0 w 1827851"/>
              <a:gd name="connsiteY6-252" fmla="*/ 38563 h 249512"/>
              <a:gd name="connsiteX7-253" fmla="*/ 38563 w 1827851"/>
              <a:gd name="connsiteY7-254" fmla="*/ 0 h 249512"/>
              <a:gd name="connsiteX0-255" fmla="*/ 38563 w 1827851"/>
              <a:gd name="connsiteY0-256" fmla="*/ 0 h 249512"/>
              <a:gd name="connsiteX1-257" fmla="*/ 1585987 w 1827851"/>
              <a:gd name="connsiteY1-258" fmla="*/ 0 h 249512"/>
              <a:gd name="connsiteX2-259" fmla="*/ 1670343 w 1827851"/>
              <a:gd name="connsiteY2-260" fmla="*/ 40669 h 249512"/>
              <a:gd name="connsiteX3-261" fmla="*/ 1827851 w 1827851"/>
              <a:gd name="connsiteY3-262" fmla="*/ 249512 h 249512"/>
              <a:gd name="connsiteX4-263" fmla="*/ 0 w 1827851"/>
              <a:gd name="connsiteY4-264" fmla="*/ 231375 h 249512"/>
              <a:gd name="connsiteX5-265" fmla="*/ 0 w 1827851"/>
              <a:gd name="connsiteY5-266" fmla="*/ 231375 h 249512"/>
              <a:gd name="connsiteX6-267" fmla="*/ 0 w 1827851"/>
              <a:gd name="connsiteY6-268" fmla="*/ 38563 h 249512"/>
              <a:gd name="connsiteX7-269" fmla="*/ 38563 w 1827851"/>
              <a:gd name="connsiteY7-270" fmla="*/ 0 h 249512"/>
              <a:gd name="connsiteX0-271" fmla="*/ 38563 w 1827851"/>
              <a:gd name="connsiteY0-272" fmla="*/ 157 h 249669"/>
              <a:gd name="connsiteX1-273" fmla="*/ 1585987 w 1827851"/>
              <a:gd name="connsiteY1-274" fmla="*/ 157 h 249669"/>
              <a:gd name="connsiteX2-275" fmla="*/ 1670343 w 1827851"/>
              <a:gd name="connsiteY2-276" fmla="*/ 40826 h 249669"/>
              <a:gd name="connsiteX3-277" fmla="*/ 1827851 w 1827851"/>
              <a:gd name="connsiteY3-278" fmla="*/ 249669 h 249669"/>
              <a:gd name="connsiteX4-279" fmla="*/ 0 w 1827851"/>
              <a:gd name="connsiteY4-280" fmla="*/ 231532 h 249669"/>
              <a:gd name="connsiteX5-281" fmla="*/ 0 w 1827851"/>
              <a:gd name="connsiteY5-282" fmla="*/ 231532 h 249669"/>
              <a:gd name="connsiteX6-283" fmla="*/ 0 w 1827851"/>
              <a:gd name="connsiteY6-284" fmla="*/ 38720 h 249669"/>
              <a:gd name="connsiteX7-285" fmla="*/ 38563 w 1827851"/>
              <a:gd name="connsiteY7-286" fmla="*/ 157 h 249669"/>
              <a:gd name="connsiteX0-287" fmla="*/ 38563 w 1835483"/>
              <a:gd name="connsiteY0-288" fmla="*/ 157 h 247563"/>
              <a:gd name="connsiteX1-289" fmla="*/ 1585987 w 1835483"/>
              <a:gd name="connsiteY1-290" fmla="*/ 157 h 247563"/>
              <a:gd name="connsiteX2-291" fmla="*/ 1670343 w 1835483"/>
              <a:gd name="connsiteY2-292" fmla="*/ 40826 h 247563"/>
              <a:gd name="connsiteX3-293" fmla="*/ 1835483 w 1835483"/>
              <a:gd name="connsiteY3-294" fmla="*/ 247563 h 247563"/>
              <a:gd name="connsiteX4-295" fmla="*/ 0 w 1835483"/>
              <a:gd name="connsiteY4-296" fmla="*/ 231532 h 247563"/>
              <a:gd name="connsiteX5-297" fmla="*/ 0 w 1835483"/>
              <a:gd name="connsiteY5-298" fmla="*/ 231532 h 247563"/>
              <a:gd name="connsiteX6-299" fmla="*/ 0 w 1835483"/>
              <a:gd name="connsiteY6-300" fmla="*/ 38720 h 247563"/>
              <a:gd name="connsiteX7-301" fmla="*/ 38563 w 1835483"/>
              <a:gd name="connsiteY7-302" fmla="*/ 157 h 247563"/>
              <a:gd name="connsiteX0-303" fmla="*/ 38563 w 1835483"/>
              <a:gd name="connsiteY0-304" fmla="*/ 157 h 247563"/>
              <a:gd name="connsiteX1-305" fmla="*/ 1585987 w 1835483"/>
              <a:gd name="connsiteY1-306" fmla="*/ 157 h 247563"/>
              <a:gd name="connsiteX2-307" fmla="*/ 1670343 w 1835483"/>
              <a:gd name="connsiteY2-308" fmla="*/ 40826 h 247563"/>
              <a:gd name="connsiteX3-309" fmla="*/ 1835483 w 1835483"/>
              <a:gd name="connsiteY3-310" fmla="*/ 247563 h 247563"/>
              <a:gd name="connsiteX4-311" fmla="*/ 0 w 1835483"/>
              <a:gd name="connsiteY4-312" fmla="*/ 231532 h 247563"/>
              <a:gd name="connsiteX5-313" fmla="*/ 0 w 1835483"/>
              <a:gd name="connsiteY5-314" fmla="*/ 231532 h 247563"/>
              <a:gd name="connsiteX6-315" fmla="*/ 0 w 1835483"/>
              <a:gd name="connsiteY6-316" fmla="*/ 38720 h 247563"/>
              <a:gd name="connsiteX7-317" fmla="*/ 38563 w 1835483"/>
              <a:gd name="connsiteY7-318" fmla="*/ 157 h 2475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835483" h="247563">
                <a:moveTo>
                  <a:pt x="38563" y="157"/>
                </a:moveTo>
                <a:lnTo>
                  <a:pt x="1585987" y="157"/>
                </a:lnTo>
                <a:cubicBezTo>
                  <a:pt x="1632725" y="-1949"/>
                  <a:pt x="1644903" y="17421"/>
                  <a:pt x="1670343" y="40826"/>
                </a:cubicBezTo>
                <a:cubicBezTo>
                  <a:pt x="1724542" y="107632"/>
                  <a:pt x="1794004" y="187075"/>
                  <a:pt x="1835483" y="247563"/>
                </a:cubicBezTo>
                <a:lnTo>
                  <a:pt x="0" y="231532"/>
                </a:lnTo>
                <a:lnTo>
                  <a:pt x="0" y="231532"/>
                </a:lnTo>
                <a:lnTo>
                  <a:pt x="0" y="38720"/>
                </a:lnTo>
                <a:cubicBezTo>
                  <a:pt x="0" y="17422"/>
                  <a:pt x="17265" y="157"/>
                  <a:pt x="38563" y="157"/>
                </a:cubicBezTo>
                <a:close/>
              </a:path>
            </a:pathLst>
          </a:custGeom>
          <a:gradFill flip="none" rotWithShape="0">
            <a:gsLst>
              <a:gs pos="23000">
                <a:schemeClr val="accent1">
                  <a:lumMod val="75000"/>
                  <a:lumOff val="25000"/>
                </a:schemeClr>
              </a:gs>
              <a:gs pos="100000">
                <a:schemeClr val="accent1"/>
              </a:gs>
            </a:gsLst>
            <a:lin ang="2700000" scaled="1"/>
            <a:tileRect/>
          </a:gradFill>
          <a:ln w="12700" cap="flat" cmpd="sng" algn="ctr">
            <a:noFill/>
            <a:prstDash val="solid"/>
            <a:miter lim="800000"/>
          </a:ln>
          <a:effectLst/>
        </p:spPr>
        <p:txBody>
          <a:bodyPr lIns="0" tIns="0" rIns="144000" bIns="36000" rtlCol="0" anchor="ctr">
            <a:noAutofit/>
          </a:bodyPr>
          <a:lstStyle/>
          <a:p>
            <a:pPr lvl="0" algn="l" defTabSz="457200">
              <a:buClrTx/>
              <a:buSzTx/>
              <a:buFontTx/>
            </a:pPr>
            <a:r>
              <a:rPr 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     </a:t>
            </a:r>
            <a:r>
              <a:rPr 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⑤</a:t>
            </a:r>
            <a:r>
              <a:rPr 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谈判</a:t>
            </a:r>
            <a:endPar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82" name="子陵职场PPT12"/>
          <p:cNvSpPr/>
          <p:nvPr/>
        </p:nvSpPr>
        <p:spPr>
          <a:xfrm>
            <a:off x="408940" y="1119505"/>
            <a:ext cx="1929130" cy="419735"/>
          </a:xfrm>
          <a:custGeom>
            <a:avLst/>
            <a:gdLst>
              <a:gd name="connsiteX0" fmla="*/ 38563 w 1655078"/>
              <a:gd name="connsiteY0" fmla="*/ 0 h 231375"/>
              <a:gd name="connsiteX1" fmla="*/ 1616515 w 1655078"/>
              <a:gd name="connsiteY1" fmla="*/ 0 h 231375"/>
              <a:gd name="connsiteX2" fmla="*/ 1655078 w 1655078"/>
              <a:gd name="connsiteY2" fmla="*/ 38563 h 231375"/>
              <a:gd name="connsiteX3" fmla="*/ 1655078 w 1655078"/>
              <a:gd name="connsiteY3" fmla="*/ 231375 h 231375"/>
              <a:gd name="connsiteX4" fmla="*/ 1655078 w 1655078"/>
              <a:gd name="connsiteY4" fmla="*/ 231375 h 231375"/>
              <a:gd name="connsiteX5" fmla="*/ 0 w 1655078"/>
              <a:gd name="connsiteY5" fmla="*/ 231375 h 231375"/>
              <a:gd name="connsiteX6" fmla="*/ 0 w 1655078"/>
              <a:gd name="connsiteY6" fmla="*/ 231375 h 231375"/>
              <a:gd name="connsiteX7" fmla="*/ 0 w 1655078"/>
              <a:gd name="connsiteY7" fmla="*/ 38563 h 231375"/>
              <a:gd name="connsiteX8" fmla="*/ 38563 w 1655078"/>
              <a:gd name="connsiteY8" fmla="*/ 0 h 231375"/>
              <a:gd name="connsiteX0-1" fmla="*/ 38563 w 1794778"/>
              <a:gd name="connsiteY0-2" fmla="*/ 0 h 231375"/>
              <a:gd name="connsiteX1-3" fmla="*/ 1616515 w 1794778"/>
              <a:gd name="connsiteY1-4" fmla="*/ 0 h 231375"/>
              <a:gd name="connsiteX2-5" fmla="*/ 1655078 w 1794778"/>
              <a:gd name="connsiteY2-6" fmla="*/ 38563 h 231375"/>
              <a:gd name="connsiteX3-7" fmla="*/ 1655078 w 1794778"/>
              <a:gd name="connsiteY3-8" fmla="*/ 231375 h 231375"/>
              <a:gd name="connsiteX4-9" fmla="*/ 1794778 w 1794778"/>
              <a:gd name="connsiteY4-10" fmla="*/ 231375 h 231375"/>
              <a:gd name="connsiteX5-11" fmla="*/ 0 w 1794778"/>
              <a:gd name="connsiteY5-12" fmla="*/ 231375 h 231375"/>
              <a:gd name="connsiteX6-13" fmla="*/ 0 w 1794778"/>
              <a:gd name="connsiteY6-14" fmla="*/ 231375 h 231375"/>
              <a:gd name="connsiteX7-15" fmla="*/ 0 w 1794778"/>
              <a:gd name="connsiteY7-16" fmla="*/ 38563 h 231375"/>
              <a:gd name="connsiteX8-17" fmla="*/ 38563 w 1794778"/>
              <a:gd name="connsiteY8-18" fmla="*/ 0 h 231375"/>
              <a:gd name="connsiteX0-19" fmla="*/ 38563 w 1655078"/>
              <a:gd name="connsiteY0-20" fmla="*/ 0 h 231375"/>
              <a:gd name="connsiteX1-21" fmla="*/ 1616515 w 1655078"/>
              <a:gd name="connsiteY1-22" fmla="*/ 0 h 231375"/>
              <a:gd name="connsiteX2-23" fmla="*/ 1655078 w 1655078"/>
              <a:gd name="connsiteY2-24" fmla="*/ 38563 h 231375"/>
              <a:gd name="connsiteX3-25" fmla="*/ 1655078 w 1655078"/>
              <a:gd name="connsiteY3-26" fmla="*/ 231375 h 231375"/>
              <a:gd name="connsiteX4-27" fmla="*/ 0 w 1655078"/>
              <a:gd name="connsiteY4-28" fmla="*/ 231375 h 231375"/>
              <a:gd name="connsiteX5-29" fmla="*/ 0 w 1655078"/>
              <a:gd name="connsiteY5-30" fmla="*/ 231375 h 231375"/>
              <a:gd name="connsiteX6-31" fmla="*/ 0 w 1655078"/>
              <a:gd name="connsiteY6-32" fmla="*/ 38563 h 231375"/>
              <a:gd name="connsiteX7-33" fmla="*/ 38563 w 1655078"/>
              <a:gd name="connsiteY7-34" fmla="*/ 0 h 231375"/>
              <a:gd name="connsiteX0-35" fmla="*/ 38563 w 1657402"/>
              <a:gd name="connsiteY0-36" fmla="*/ 0 h 231375"/>
              <a:gd name="connsiteX1-37" fmla="*/ 1616515 w 1657402"/>
              <a:gd name="connsiteY1-38" fmla="*/ 0 h 231375"/>
              <a:gd name="connsiteX2-39" fmla="*/ 1655078 w 1657402"/>
              <a:gd name="connsiteY2-40" fmla="*/ 38563 h 231375"/>
              <a:gd name="connsiteX3-41" fmla="*/ 1657402 w 1657402"/>
              <a:gd name="connsiteY3-42" fmla="*/ 213709 h 231375"/>
              <a:gd name="connsiteX4-43" fmla="*/ 1655078 w 1657402"/>
              <a:gd name="connsiteY4-44" fmla="*/ 231375 h 231375"/>
              <a:gd name="connsiteX5-45" fmla="*/ 0 w 1657402"/>
              <a:gd name="connsiteY5-46" fmla="*/ 231375 h 231375"/>
              <a:gd name="connsiteX6-47" fmla="*/ 0 w 1657402"/>
              <a:gd name="connsiteY6-48" fmla="*/ 231375 h 231375"/>
              <a:gd name="connsiteX7-49" fmla="*/ 0 w 1657402"/>
              <a:gd name="connsiteY7-50" fmla="*/ 38563 h 231375"/>
              <a:gd name="connsiteX8-51" fmla="*/ 38563 w 1657402"/>
              <a:gd name="connsiteY8-52" fmla="*/ 0 h 231375"/>
              <a:gd name="connsiteX0-53" fmla="*/ 38563 w 1825307"/>
              <a:gd name="connsiteY0-54" fmla="*/ 0 h 231375"/>
              <a:gd name="connsiteX1-55" fmla="*/ 1616515 w 1825307"/>
              <a:gd name="connsiteY1-56" fmla="*/ 0 h 231375"/>
              <a:gd name="connsiteX2-57" fmla="*/ 1655078 w 1825307"/>
              <a:gd name="connsiteY2-58" fmla="*/ 38563 h 231375"/>
              <a:gd name="connsiteX3-59" fmla="*/ 1825307 w 1825307"/>
              <a:gd name="connsiteY3-60" fmla="*/ 217920 h 231375"/>
              <a:gd name="connsiteX4-61" fmla="*/ 1655078 w 1825307"/>
              <a:gd name="connsiteY4-62" fmla="*/ 231375 h 231375"/>
              <a:gd name="connsiteX5-63" fmla="*/ 0 w 1825307"/>
              <a:gd name="connsiteY5-64" fmla="*/ 231375 h 231375"/>
              <a:gd name="connsiteX6-65" fmla="*/ 0 w 1825307"/>
              <a:gd name="connsiteY6-66" fmla="*/ 231375 h 231375"/>
              <a:gd name="connsiteX7-67" fmla="*/ 0 w 1825307"/>
              <a:gd name="connsiteY7-68" fmla="*/ 38563 h 231375"/>
              <a:gd name="connsiteX8-69" fmla="*/ 38563 w 1825307"/>
              <a:gd name="connsiteY8-70" fmla="*/ 0 h 231375"/>
              <a:gd name="connsiteX0-71" fmla="*/ 38563 w 1825307"/>
              <a:gd name="connsiteY0-72" fmla="*/ 0 h 231375"/>
              <a:gd name="connsiteX1-73" fmla="*/ 1616515 w 1825307"/>
              <a:gd name="connsiteY1-74" fmla="*/ 0 h 231375"/>
              <a:gd name="connsiteX2-75" fmla="*/ 1655078 w 1825307"/>
              <a:gd name="connsiteY2-76" fmla="*/ 38563 h 231375"/>
              <a:gd name="connsiteX3-77" fmla="*/ 1825307 w 1825307"/>
              <a:gd name="connsiteY3-78" fmla="*/ 217920 h 231375"/>
              <a:gd name="connsiteX4-79" fmla="*/ 1655078 w 1825307"/>
              <a:gd name="connsiteY4-80" fmla="*/ 231375 h 231375"/>
              <a:gd name="connsiteX5-81" fmla="*/ 0 w 1825307"/>
              <a:gd name="connsiteY5-82" fmla="*/ 231375 h 231375"/>
              <a:gd name="connsiteX6-83" fmla="*/ 0 w 1825307"/>
              <a:gd name="connsiteY6-84" fmla="*/ 231375 h 231375"/>
              <a:gd name="connsiteX7-85" fmla="*/ 0 w 1825307"/>
              <a:gd name="connsiteY7-86" fmla="*/ 38563 h 231375"/>
              <a:gd name="connsiteX8-87" fmla="*/ 38563 w 1825307"/>
              <a:gd name="connsiteY8-88" fmla="*/ 0 h 231375"/>
              <a:gd name="connsiteX0-89" fmla="*/ 38563 w 1825307"/>
              <a:gd name="connsiteY0-90" fmla="*/ 0 h 231375"/>
              <a:gd name="connsiteX1-91" fmla="*/ 1616515 w 1825307"/>
              <a:gd name="connsiteY1-92" fmla="*/ 0 h 231375"/>
              <a:gd name="connsiteX2-93" fmla="*/ 1655078 w 1825307"/>
              <a:gd name="connsiteY2-94" fmla="*/ 38563 h 231375"/>
              <a:gd name="connsiteX3-95" fmla="*/ 1825307 w 1825307"/>
              <a:gd name="connsiteY3-96" fmla="*/ 217920 h 231375"/>
              <a:gd name="connsiteX4-97" fmla="*/ 1655078 w 1825307"/>
              <a:gd name="connsiteY4-98" fmla="*/ 231375 h 231375"/>
              <a:gd name="connsiteX5-99" fmla="*/ 0 w 1825307"/>
              <a:gd name="connsiteY5-100" fmla="*/ 231375 h 231375"/>
              <a:gd name="connsiteX6-101" fmla="*/ 0 w 1825307"/>
              <a:gd name="connsiteY6-102" fmla="*/ 231375 h 231375"/>
              <a:gd name="connsiteX7-103" fmla="*/ 0 w 1825307"/>
              <a:gd name="connsiteY7-104" fmla="*/ 38563 h 231375"/>
              <a:gd name="connsiteX8-105" fmla="*/ 38563 w 1825307"/>
              <a:gd name="connsiteY8-106" fmla="*/ 0 h 231375"/>
              <a:gd name="connsiteX0-107" fmla="*/ 38563 w 1825307"/>
              <a:gd name="connsiteY0-108" fmla="*/ 0 h 231375"/>
              <a:gd name="connsiteX1-109" fmla="*/ 1616515 w 1825307"/>
              <a:gd name="connsiteY1-110" fmla="*/ 0 h 231375"/>
              <a:gd name="connsiteX2-111" fmla="*/ 1655078 w 1825307"/>
              <a:gd name="connsiteY2-112" fmla="*/ 38563 h 231375"/>
              <a:gd name="connsiteX3-113" fmla="*/ 1825307 w 1825307"/>
              <a:gd name="connsiteY3-114" fmla="*/ 230557 h 231375"/>
              <a:gd name="connsiteX4-115" fmla="*/ 1655078 w 1825307"/>
              <a:gd name="connsiteY4-116" fmla="*/ 231375 h 231375"/>
              <a:gd name="connsiteX5-117" fmla="*/ 0 w 1825307"/>
              <a:gd name="connsiteY5-118" fmla="*/ 231375 h 231375"/>
              <a:gd name="connsiteX6-119" fmla="*/ 0 w 1825307"/>
              <a:gd name="connsiteY6-120" fmla="*/ 231375 h 231375"/>
              <a:gd name="connsiteX7-121" fmla="*/ 0 w 1825307"/>
              <a:gd name="connsiteY7-122" fmla="*/ 38563 h 231375"/>
              <a:gd name="connsiteX8-123" fmla="*/ 38563 w 1825307"/>
              <a:gd name="connsiteY8-124" fmla="*/ 0 h 231375"/>
              <a:gd name="connsiteX0-125" fmla="*/ 38563 w 1825307"/>
              <a:gd name="connsiteY0-126" fmla="*/ 0 h 231375"/>
              <a:gd name="connsiteX1-127" fmla="*/ 1616515 w 1825307"/>
              <a:gd name="connsiteY1-128" fmla="*/ 0 h 231375"/>
              <a:gd name="connsiteX2-129" fmla="*/ 1670343 w 1825307"/>
              <a:gd name="connsiteY2-130" fmla="*/ 40669 h 231375"/>
              <a:gd name="connsiteX3-131" fmla="*/ 1825307 w 1825307"/>
              <a:gd name="connsiteY3-132" fmla="*/ 230557 h 231375"/>
              <a:gd name="connsiteX4-133" fmla="*/ 1655078 w 1825307"/>
              <a:gd name="connsiteY4-134" fmla="*/ 231375 h 231375"/>
              <a:gd name="connsiteX5-135" fmla="*/ 0 w 1825307"/>
              <a:gd name="connsiteY5-136" fmla="*/ 231375 h 231375"/>
              <a:gd name="connsiteX6-137" fmla="*/ 0 w 1825307"/>
              <a:gd name="connsiteY6-138" fmla="*/ 231375 h 231375"/>
              <a:gd name="connsiteX7-139" fmla="*/ 0 w 1825307"/>
              <a:gd name="connsiteY7-140" fmla="*/ 38563 h 231375"/>
              <a:gd name="connsiteX8-141" fmla="*/ 38563 w 1825307"/>
              <a:gd name="connsiteY8-142" fmla="*/ 0 h 231375"/>
              <a:gd name="connsiteX0-143" fmla="*/ 38563 w 1825307"/>
              <a:gd name="connsiteY0-144" fmla="*/ 0 h 231375"/>
              <a:gd name="connsiteX1-145" fmla="*/ 1616515 w 1825307"/>
              <a:gd name="connsiteY1-146" fmla="*/ 0 h 231375"/>
              <a:gd name="connsiteX2-147" fmla="*/ 1670343 w 1825307"/>
              <a:gd name="connsiteY2-148" fmla="*/ 40669 h 231375"/>
              <a:gd name="connsiteX3-149" fmla="*/ 1825307 w 1825307"/>
              <a:gd name="connsiteY3-150" fmla="*/ 230557 h 231375"/>
              <a:gd name="connsiteX4-151" fmla="*/ 0 w 1825307"/>
              <a:gd name="connsiteY4-152" fmla="*/ 231375 h 231375"/>
              <a:gd name="connsiteX5-153" fmla="*/ 0 w 1825307"/>
              <a:gd name="connsiteY5-154" fmla="*/ 231375 h 231375"/>
              <a:gd name="connsiteX6-155" fmla="*/ 0 w 1825307"/>
              <a:gd name="connsiteY6-156" fmla="*/ 38563 h 231375"/>
              <a:gd name="connsiteX7-157" fmla="*/ 38563 w 1825307"/>
              <a:gd name="connsiteY7-158" fmla="*/ 0 h 231375"/>
              <a:gd name="connsiteX0-159" fmla="*/ 38563 w 1825307"/>
              <a:gd name="connsiteY0-160" fmla="*/ 0 h 231375"/>
              <a:gd name="connsiteX1-161" fmla="*/ 1616515 w 1825307"/>
              <a:gd name="connsiteY1-162" fmla="*/ 0 h 231375"/>
              <a:gd name="connsiteX2-163" fmla="*/ 1670343 w 1825307"/>
              <a:gd name="connsiteY2-164" fmla="*/ 40669 h 231375"/>
              <a:gd name="connsiteX3-165" fmla="*/ 1825307 w 1825307"/>
              <a:gd name="connsiteY3-166" fmla="*/ 230557 h 231375"/>
              <a:gd name="connsiteX4-167" fmla="*/ 0 w 1825307"/>
              <a:gd name="connsiteY4-168" fmla="*/ 231375 h 231375"/>
              <a:gd name="connsiteX5-169" fmla="*/ 0 w 1825307"/>
              <a:gd name="connsiteY5-170" fmla="*/ 231375 h 231375"/>
              <a:gd name="connsiteX6-171" fmla="*/ 0 w 1825307"/>
              <a:gd name="connsiteY6-172" fmla="*/ 38563 h 231375"/>
              <a:gd name="connsiteX7-173" fmla="*/ 38563 w 1825307"/>
              <a:gd name="connsiteY7-174" fmla="*/ 0 h 231375"/>
              <a:gd name="connsiteX0-175" fmla="*/ 38563 w 1825307"/>
              <a:gd name="connsiteY0-176" fmla="*/ 0 h 231375"/>
              <a:gd name="connsiteX1-177" fmla="*/ 1616515 w 1825307"/>
              <a:gd name="connsiteY1-178" fmla="*/ 0 h 231375"/>
              <a:gd name="connsiteX2-179" fmla="*/ 1670343 w 1825307"/>
              <a:gd name="connsiteY2-180" fmla="*/ 40669 h 231375"/>
              <a:gd name="connsiteX3-181" fmla="*/ 1825307 w 1825307"/>
              <a:gd name="connsiteY3-182" fmla="*/ 230557 h 231375"/>
              <a:gd name="connsiteX4-183" fmla="*/ 0 w 1825307"/>
              <a:gd name="connsiteY4-184" fmla="*/ 231375 h 231375"/>
              <a:gd name="connsiteX5-185" fmla="*/ 0 w 1825307"/>
              <a:gd name="connsiteY5-186" fmla="*/ 231375 h 231375"/>
              <a:gd name="connsiteX6-187" fmla="*/ 0 w 1825307"/>
              <a:gd name="connsiteY6-188" fmla="*/ 38563 h 231375"/>
              <a:gd name="connsiteX7-189" fmla="*/ 38563 w 1825307"/>
              <a:gd name="connsiteY7-190" fmla="*/ 0 h 231375"/>
              <a:gd name="connsiteX0-191" fmla="*/ 38563 w 1825307"/>
              <a:gd name="connsiteY0-192" fmla="*/ 0 h 231375"/>
              <a:gd name="connsiteX1-193" fmla="*/ 1616515 w 1825307"/>
              <a:gd name="connsiteY1-194" fmla="*/ 0 h 231375"/>
              <a:gd name="connsiteX2-195" fmla="*/ 1670343 w 1825307"/>
              <a:gd name="connsiteY2-196" fmla="*/ 40669 h 231375"/>
              <a:gd name="connsiteX3-197" fmla="*/ 1825307 w 1825307"/>
              <a:gd name="connsiteY3-198" fmla="*/ 230557 h 231375"/>
              <a:gd name="connsiteX4-199" fmla="*/ 0 w 1825307"/>
              <a:gd name="connsiteY4-200" fmla="*/ 231375 h 231375"/>
              <a:gd name="connsiteX5-201" fmla="*/ 0 w 1825307"/>
              <a:gd name="connsiteY5-202" fmla="*/ 231375 h 231375"/>
              <a:gd name="connsiteX6-203" fmla="*/ 0 w 1825307"/>
              <a:gd name="connsiteY6-204" fmla="*/ 38563 h 231375"/>
              <a:gd name="connsiteX7-205" fmla="*/ 38563 w 1825307"/>
              <a:gd name="connsiteY7-206" fmla="*/ 0 h 231375"/>
              <a:gd name="connsiteX0-207" fmla="*/ 38563 w 1825307"/>
              <a:gd name="connsiteY0-208" fmla="*/ 0 h 231375"/>
              <a:gd name="connsiteX1-209" fmla="*/ 1616515 w 1825307"/>
              <a:gd name="connsiteY1-210" fmla="*/ 0 h 231375"/>
              <a:gd name="connsiteX2-211" fmla="*/ 1670343 w 1825307"/>
              <a:gd name="connsiteY2-212" fmla="*/ 40669 h 231375"/>
              <a:gd name="connsiteX3-213" fmla="*/ 1825307 w 1825307"/>
              <a:gd name="connsiteY3-214" fmla="*/ 230557 h 231375"/>
              <a:gd name="connsiteX4-215" fmla="*/ 0 w 1825307"/>
              <a:gd name="connsiteY4-216" fmla="*/ 231375 h 231375"/>
              <a:gd name="connsiteX5-217" fmla="*/ 0 w 1825307"/>
              <a:gd name="connsiteY5-218" fmla="*/ 231375 h 231375"/>
              <a:gd name="connsiteX6-219" fmla="*/ 0 w 1825307"/>
              <a:gd name="connsiteY6-220" fmla="*/ 38563 h 231375"/>
              <a:gd name="connsiteX7-221" fmla="*/ 38563 w 1825307"/>
              <a:gd name="connsiteY7-222" fmla="*/ 0 h 231375"/>
              <a:gd name="connsiteX0-223" fmla="*/ 38563 w 1827851"/>
              <a:gd name="connsiteY0-224" fmla="*/ 0 h 249512"/>
              <a:gd name="connsiteX1-225" fmla="*/ 1616515 w 1827851"/>
              <a:gd name="connsiteY1-226" fmla="*/ 0 h 249512"/>
              <a:gd name="connsiteX2-227" fmla="*/ 1670343 w 1827851"/>
              <a:gd name="connsiteY2-228" fmla="*/ 40669 h 249512"/>
              <a:gd name="connsiteX3-229" fmla="*/ 1827851 w 1827851"/>
              <a:gd name="connsiteY3-230" fmla="*/ 249512 h 249512"/>
              <a:gd name="connsiteX4-231" fmla="*/ 0 w 1827851"/>
              <a:gd name="connsiteY4-232" fmla="*/ 231375 h 249512"/>
              <a:gd name="connsiteX5-233" fmla="*/ 0 w 1827851"/>
              <a:gd name="connsiteY5-234" fmla="*/ 231375 h 249512"/>
              <a:gd name="connsiteX6-235" fmla="*/ 0 w 1827851"/>
              <a:gd name="connsiteY6-236" fmla="*/ 38563 h 249512"/>
              <a:gd name="connsiteX7-237" fmla="*/ 38563 w 1827851"/>
              <a:gd name="connsiteY7-238" fmla="*/ 0 h 249512"/>
              <a:gd name="connsiteX0-239" fmla="*/ 38563 w 1827851"/>
              <a:gd name="connsiteY0-240" fmla="*/ 0 h 249512"/>
              <a:gd name="connsiteX1-241" fmla="*/ 1616515 w 1827851"/>
              <a:gd name="connsiteY1-242" fmla="*/ 0 h 249512"/>
              <a:gd name="connsiteX2-243" fmla="*/ 1670343 w 1827851"/>
              <a:gd name="connsiteY2-244" fmla="*/ 40669 h 249512"/>
              <a:gd name="connsiteX3-245" fmla="*/ 1827851 w 1827851"/>
              <a:gd name="connsiteY3-246" fmla="*/ 249512 h 249512"/>
              <a:gd name="connsiteX4-247" fmla="*/ 0 w 1827851"/>
              <a:gd name="connsiteY4-248" fmla="*/ 231375 h 249512"/>
              <a:gd name="connsiteX5-249" fmla="*/ 0 w 1827851"/>
              <a:gd name="connsiteY5-250" fmla="*/ 231375 h 249512"/>
              <a:gd name="connsiteX6-251" fmla="*/ 0 w 1827851"/>
              <a:gd name="connsiteY6-252" fmla="*/ 38563 h 249512"/>
              <a:gd name="connsiteX7-253" fmla="*/ 38563 w 1827851"/>
              <a:gd name="connsiteY7-254" fmla="*/ 0 h 249512"/>
              <a:gd name="connsiteX0-255" fmla="*/ 38563 w 1827851"/>
              <a:gd name="connsiteY0-256" fmla="*/ 0 h 249512"/>
              <a:gd name="connsiteX1-257" fmla="*/ 1585987 w 1827851"/>
              <a:gd name="connsiteY1-258" fmla="*/ 0 h 249512"/>
              <a:gd name="connsiteX2-259" fmla="*/ 1670343 w 1827851"/>
              <a:gd name="connsiteY2-260" fmla="*/ 40669 h 249512"/>
              <a:gd name="connsiteX3-261" fmla="*/ 1827851 w 1827851"/>
              <a:gd name="connsiteY3-262" fmla="*/ 249512 h 249512"/>
              <a:gd name="connsiteX4-263" fmla="*/ 0 w 1827851"/>
              <a:gd name="connsiteY4-264" fmla="*/ 231375 h 249512"/>
              <a:gd name="connsiteX5-265" fmla="*/ 0 w 1827851"/>
              <a:gd name="connsiteY5-266" fmla="*/ 231375 h 249512"/>
              <a:gd name="connsiteX6-267" fmla="*/ 0 w 1827851"/>
              <a:gd name="connsiteY6-268" fmla="*/ 38563 h 249512"/>
              <a:gd name="connsiteX7-269" fmla="*/ 38563 w 1827851"/>
              <a:gd name="connsiteY7-270" fmla="*/ 0 h 249512"/>
              <a:gd name="connsiteX0-271" fmla="*/ 38563 w 1827851"/>
              <a:gd name="connsiteY0-272" fmla="*/ 157 h 249669"/>
              <a:gd name="connsiteX1-273" fmla="*/ 1585987 w 1827851"/>
              <a:gd name="connsiteY1-274" fmla="*/ 157 h 249669"/>
              <a:gd name="connsiteX2-275" fmla="*/ 1670343 w 1827851"/>
              <a:gd name="connsiteY2-276" fmla="*/ 40826 h 249669"/>
              <a:gd name="connsiteX3-277" fmla="*/ 1827851 w 1827851"/>
              <a:gd name="connsiteY3-278" fmla="*/ 249669 h 249669"/>
              <a:gd name="connsiteX4-279" fmla="*/ 0 w 1827851"/>
              <a:gd name="connsiteY4-280" fmla="*/ 231532 h 249669"/>
              <a:gd name="connsiteX5-281" fmla="*/ 0 w 1827851"/>
              <a:gd name="connsiteY5-282" fmla="*/ 231532 h 249669"/>
              <a:gd name="connsiteX6-283" fmla="*/ 0 w 1827851"/>
              <a:gd name="connsiteY6-284" fmla="*/ 38720 h 249669"/>
              <a:gd name="connsiteX7-285" fmla="*/ 38563 w 1827851"/>
              <a:gd name="connsiteY7-286" fmla="*/ 157 h 249669"/>
              <a:gd name="connsiteX0-287" fmla="*/ 38563 w 1835483"/>
              <a:gd name="connsiteY0-288" fmla="*/ 157 h 247563"/>
              <a:gd name="connsiteX1-289" fmla="*/ 1585987 w 1835483"/>
              <a:gd name="connsiteY1-290" fmla="*/ 157 h 247563"/>
              <a:gd name="connsiteX2-291" fmla="*/ 1670343 w 1835483"/>
              <a:gd name="connsiteY2-292" fmla="*/ 40826 h 247563"/>
              <a:gd name="connsiteX3-293" fmla="*/ 1835483 w 1835483"/>
              <a:gd name="connsiteY3-294" fmla="*/ 247563 h 247563"/>
              <a:gd name="connsiteX4-295" fmla="*/ 0 w 1835483"/>
              <a:gd name="connsiteY4-296" fmla="*/ 231532 h 247563"/>
              <a:gd name="connsiteX5-297" fmla="*/ 0 w 1835483"/>
              <a:gd name="connsiteY5-298" fmla="*/ 231532 h 247563"/>
              <a:gd name="connsiteX6-299" fmla="*/ 0 w 1835483"/>
              <a:gd name="connsiteY6-300" fmla="*/ 38720 h 247563"/>
              <a:gd name="connsiteX7-301" fmla="*/ 38563 w 1835483"/>
              <a:gd name="connsiteY7-302" fmla="*/ 157 h 247563"/>
              <a:gd name="connsiteX0-303" fmla="*/ 38563 w 1835483"/>
              <a:gd name="connsiteY0-304" fmla="*/ 157 h 247563"/>
              <a:gd name="connsiteX1-305" fmla="*/ 1585987 w 1835483"/>
              <a:gd name="connsiteY1-306" fmla="*/ 157 h 247563"/>
              <a:gd name="connsiteX2-307" fmla="*/ 1670343 w 1835483"/>
              <a:gd name="connsiteY2-308" fmla="*/ 40826 h 247563"/>
              <a:gd name="connsiteX3-309" fmla="*/ 1835483 w 1835483"/>
              <a:gd name="connsiteY3-310" fmla="*/ 247563 h 247563"/>
              <a:gd name="connsiteX4-311" fmla="*/ 0 w 1835483"/>
              <a:gd name="connsiteY4-312" fmla="*/ 231532 h 247563"/>
              <a:gd name="connsiteX5-313" fmla="*/ 0 w 1835483"/>
              <a:gd name="connsiteY5-314" fmla="*/ 231532 h 247563"/>
              <a:gd name="connsiteX6-315" fmla="*/ 0 w 1835483"/>
              <a:gd name="connsiteY6-316" fmla="*/ 38720 h 247563"/>
              <a:gd name="connsiteX7-317" fmla="*/ 38563 w 1835483"/>
              <a:gd name="connsiteY7-318" fmla="*/ 157 h 2475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835483" h="247563">
                <a:moveTo>
                  <a:pt x="38563" y="157"/>
                </a:moveTo>
                <a:lnTo>
                  <a:pt x="1585987" y="157"/>
                </a:lnTo>
                <a:cubicBezTo>
                  <a:pt x="1632725" y="-1949"/>
                  <a:pt x="1644903" y="17421"/>
                  <a:pt x="1670343" y="40826"/>
                </a:cubicBezTo>
                <a:cubicBezTo>
                  <a:pt x="1724542" y="107632"/>
                  <a:pt x="1794004" y="187075"/>
                  <a:pt x="1835483" y="247563"/>
                </a:cubicBezTo>
                <a:lnTo>
                  <a:pt x="0" y="231532"/>
                </a:lnTo>
                <a:lnTo>
                  <a:pt x="0" y="231532"/>
                </a:lnTo>
                <a:lnTo>
                  <a:pt x="0" y="38720"/>
                </a:lnTo>
                <a:cubicBezTo>
                  <a:pt x="0" y="17422"/>
                  <a:pt x="17265" y="157"/>
                  <a:pt x="38563" y="157"/>
                </a:cubicBezTo>
                <a:close/>
              </a:path>
            </a:pathLst>
          </a:custGeom>
          <a:gradFill flip="none" rotWithShape="0">
            <a:gsLst>
              <a:gs pos="23000">
                <a:schemeClr val="accent5">
                  <a:lumMod val="60000"/>
                  <a:lumOff val="40000"/>
                </a:schemeClr>
              </a:gs>
              <a:gs pos="100000">
                <a:schemeClr val="accent5"/>
              </a:gs>
            </a:gsLst>
            <a:lin ang="2700000" scaled="1"/>
            <a:tileRect/>
          </a:gradFill>
          <a:ln w="12700" cap="flat" cmpd="sng" algn="ctr">
            <a:noFill/>
            <a:prstDash val="solid"/>
            <a:miter lim="800000"/>
          </a:ln>
          <a:effectLst/>
        </p:spPr>
        <p:txBody>
          <a:bodyPr lIns="0" tIns="0" rIns="144000" bIns="36000" rtlCol="0" anchor="ctr">
            <a:noAutofit/>
          </a:bodyPr>
          <a:lstStyle/>
          <a:p>
            <a:pPr lvl="0" algn="l" defTabSz="457200">
              <a:buClrTx/>
              <a:buSzTx/>
              <a:buFontTx/>
            </a:pPr>
            <a:r>
              <a:rPr 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      </a:t>
            </a:r>
            <a:r>
              <a:rPr 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⑥</a:t>
            </a:r>
            <a:r>
              <a:rPr 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成交</a:t>
            </a:r>
            <a:endPar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83" name="子陵职场PPT14"/>
          <p:cNvSpPr/>
          <p:nvPr/>
        </p:nvSpPr>
        <p:spPr>
          <a:xfrm>
            <a:off x="418465" y="4820285"/>
            <a:ext cx="1929130" cy="419735"/>
          </a:xfrm>
          <a:custGeom>
            <a:avLst/>
            <a:gdLst>
              <a:gd name="connsiteX0" fmla="*/ 38563 w 1655078"/>
              <a:gd name="connsiteY0" fmla="*/ 0 h 231375"/>
              <a:gd name="connsiteX1" fmla="*/ 1616515 w 1655078"/>
              <a:gd name="connsiteY1" fmla="*/ 0 h 231375"/>
              <a:gd name="connsiteX2" fmla="*/ 1655078 w 1655078"/>
              <a:gd name="connsiteY2" fmla="*/ 38563 h 231375"/>
              <a:gd name="connsiteX3" fmla="*/ 1655078 w 1655078"/>
              <a:gd name="connsiteY3" fmla="*/ 231375 h 231375"/>
              <a:gd name="connsiteX4" fmla="*/ 1655078 w 1655078"/>
              <a:gd name="connsiteY4" fmla="*/ 231375 h 231375"/>
              <a:gd name="connsiteX5" fmla="*/ 0 w 1655078"/>
              <a:gd name="connsiteY5" fmla="*/ 231375 h 231375"/>
              <a:gd name="connsiteX6" fmla="*/ 0 w 1655078"/>
              <a:gd name="connsiteY6" fmla="*/ 231375 h 231375"/>
              <a:gd name="connsiteX7" fmla="*/ 0 w 1655078"/>
              <a:gd name="connsiteY7" fmla="*/ 38563 h 231375"/>
              <a:gd name="connsiteX8" fmla="*/ 38563 w 1655078"/>
              <a:gd name="connsiteY8" fmla="*/ 0 h 231375"/>
              <a:gd name="connsiteX0-1" fmla="*/ 38563 w 1794778"/>
              <a:gd name="connsiteY0-2" fmla="*/ 0 h 231375"/>
              <a:gd name="connsiteX1-3" fmla="*/ 1616515 w 1794778"/>
              <a:gd name="connsiteY1-4" fmla="*/ 0 h 231375"/>
              <a:gd name="connsiteX2-5" fmla="*/ 1655078 w 1794778"/>
              <a:gd name="connsiteY2-6" fmla="*/ 38563 h 231375"/>
              <a:gd name="connsiteX3-7" fmla="*/ 1655078 w 1794778"/>
              <a:gd name="connsiteY3-8" fmla="*/ 231375 h 231375"/>
              <a:gd name="connsiteX4-9" fmla="*/ 1794778 w 1794778"/>
              <a:gd name="connsiteY4-10" fmla="*/ 231375 h 231375"/>
              <a:gd name="connsiteX5-11" fmla="*/ 0 w 1794778"/>
              <a:gd name="connsiteY5-12" fmla="*/ 231375 h 231375"/>
              <a:gd name="connsiteX6-13" fmla="*/ 0 w 1794778"/>
              <a:gd name="connsiteY6-14" fmla="*/ 231375 h 231375"/>
              <a:gd name="connsiteX7-15" fmla="*/ 0 w 1794778"/>
              <a:gd name="connsiteY7-16" fmla="*/ 38563 h 231375"/>
              <a:gd name="connsiteX8-17" fmla="*/ 38563 w 1794778"/>
              <a:gd name="connsiteY8-18" fmla="*/ 0 h 231375"/>
              <a:gd name="connsiteX0-19" fmla="*/ 38563 w 1655078"/>
              <a:gd name="connsiteY0-20" fmla="*/ 0 h 231375"/>
              <a:gd name="connsiteX1-21" fmla="*/ 1616515 w 1655078"/>
              <a:gd name="connsiteY1-22" fmla="*/ 0 h 231375"/>
              <a:gd name="connsiteX2-23" fmla="*/ 1655078 w 1655078"/>
              <a:gd name="connsiteY2-24" fmla="*/ 38563 h 231375"/>
              <a:gd name="connsiteX3-25" fmla="*/ 1655078 w 1655078"/>
              <a:gd name="connsiteY3-26" fmla="*/ 231375 h 231375"/>
              <a:gd name="connsiteX4-27" fmla="*/ 0 w 1655078"/>
              <a:gd name="connsiteY4-28" fmla="*/ 231375 h 231375"/>
              <a:gd name="connsiteX5-29" fmla="*/ 0 w 1655078"/>
              <a:gd name="connsiteY5-30" fmla="*/ 231375 h 231375"/>
              <a:gd name="connsiteX6-31" fmla="*/ 0 w 1655078"/>
              <a:gd name="connsiteY6-32" fmla="*/ 38563 h 231375"/>
              <a:gd name="connsiteX7-33" fmla="*/ 38563 w 1655078"/>
              <a:gd name="connsiteY7-34" fmla="*/ 0 h 231375"/>
              <a:gd name="connsiteX0-35" fmla="*/ 38563 w 1657402"/>
              <a:gd name="connsiteY0-36" fmla="*/ 0 h 231375"/>
              <a:gd name="connsiteX1-37" fmla="*/ 1616515 w 1657402"/>
              <a:gd name="connsiteY1-38" fmla="*/ 0 h 231375"/>
              <a:gd name="connsiteX2-39" fmla="*/ 1655078 w 1657402"/>
              <a:gd name="connsiteY2-40" fmla="*/ 38563 h 231375"/>
              <a:gd name="connsiteX3-41" fmla="*/ 1657402 w 1657402"/>
              <a:gd name="connsiteY3-42" fmla="*/ 213709 h 231375"/>
              <a:gd name="connsiteX4-43" fmla="*/ 1655078 w 1657402"/>
              <a:gd name="connsiteY4-44" fmla="*/ 231375 h 231375"/>
              <a:gd name="connsiteX5-45" fmla="*/ 0 w 1657402"/>
              <a:gd name="connsiteY5-46" fmla="*/ 231375 h 231375"/>
              <a:gd name="connsiteX6-47" fmla="*/ 0 w 1657402"/>
              <a:gd name="connsiteY6-48" fmla="*/ 231375 h 231375"/>
              <a:gd name="connsiteX7-49" fmla="*/ 0 w 1657402"/>
              <a:gd name="connsiteY7-50" fmla="*/ 38563 h 231375"/>
              <a:gd name="connsiteX8-51" fmla="*/ 38563 w 1657402"/>
              <a:gd name="connsiteY8-52" fmla="*/ 0 h 231375"/>
              <a:gd name="connsiteX0-53" fmla="*/ 38563 w 1825307"/>
              <a:gd name="connsiteY0-54" fmla="*/ 0 h 231375"/>
              <a:gd name="connsiteX1-55" fmla="*/ 1616515 w 1825307"/>
              <a:gd name="connsiteY1-56" fmla="*/ 0 h 231375"/>
              <a:gd name="connsiteX2-57" fmla="*/ 1655078 w 1825307"/>
              <a:gd name="connsiteY2-58" fmla="*/ 38563 h 231375"/>
              <a:gd name="connsiteX3-59" fmla="*/ 1825307 w 1825307"/>
              <a:gd name="connsiteY3-60" fmla="*/ 217920 h 231375"/>
              <a:gd name="connsiteX4-61" fmla="*/ 1655078 w 1825307"/>
              <a:gd name="connsiteY4-62" fmla="*/ 231375 h 231375"/>
              <a:gd name="connsiteX5-63" fmla="*/ 0 w 1825307"/>
              <a:gd name="connsiteY5-64" fmla="*/ 231375 h 231375"/>
              <a:gd name="connsiteX6-65" fmla="*/ 0 w 1825307"/>
              <a:gd name="connsiteY6-66" fmla="*/ 231375 h 231375"/>
              <a:gd name="connsiteX7-67" fmla="*/ 0 w 1825307"/>
              <a:gd name="connsiteY7-68" fmla="*/ 38563 h 231375"/>
              <a:gd name="connsiteX8-69" fmla="*/ 38563 w 1825307"/>
              <a:gd name="connsiteY8-70" fmla="*/ 0 h 231375"/>
              <a:gd name="connsiteX0-71" fmla="*/ 38563 w 1825307"/>
              <a:gd name="connsiteY0-72" fmla="*/ 0 h 231375"/>
              <a:gd name="connsiteX1-73" fmla="*/ 1616515 w 1825307"/>
              <a:gd name="connsiteY1-74" fmla="*/ 0 h 231375"/>
              <a:gd name="connsiteX2-75" fmla="*/ 1655078 w 1825307"/>
              <a:gd name="connsiteY2-76" fmla="*/ 38563 h 231375"/>
              <a:gd name="connsiteX3-77" fmla="*/ 1825307 w 1825307"/>
              <a:gd name="connsiteY3-78" fmla="*/ 217920 h 231375"/>
              <a:gd name="connsiteX4-79" fmla="*/ 1655078 w 1825307"/>
              <a:gd name="connsiteY4-80" fmla="*/ 231375 h 231375"/>
              <a:gd name="connsiteX5-81" fmla="*/ 0 w 1825307"/>
              <a:gd name="connsiteY5-82" fmla="*/ 231375 h 231375"/>
              <a:gd name="connsiteX6-83" fmla="*/ 0 w 1825307"/>
              <a:gd name="connsiteY6-84" fmla="*/ 231375 h 231375"/>
              <a:gd name="connsiteX7-85" fmla="*/ 0 w 1825307"/>
              <a:gd name="connsiteY7-86" fmla="*/ 38563 h 231375"/>
              <a:gd name="connsiteX8-87" fmla="*/ 38563 w 1825307"/>
              <a:gd name="connsiteY8-88" fmla="*/ 0 h 231375"/>
              <a:gd name="connsiteX0-89" fmla="*/ 38563 w 1825307"/>
              <a:gd name="connsiteY0-90" fmla="*/ 0 h 231375"/>
              <a:gd name="connsiteX1-91" fmla="*/ 1616515 w 1825307"/>
              <a:gd name="connsiteY1-92" fmla="*/ 0 h 231375"/>
              <a:gd name="connsiteX2-93" fmla="*/ 1655078 w 1825307"/>
              <a:gd name="connsiteY2-94" fmla="*/ 38563 h 231375"/>
              <a:gd name="connsiteX3-95" fmla="*/ 1825307 w 1825307"/>
              <a:gd name="connsiteY3-96" fmla="*/ 217920 h 231375"/>
              <a:gd name="connsiteX4-97" fmla="*/ 1655078 w 1825307"/>
              <a:gd name="connsiteY4-98" fmla="*/ 231375 h 231375"/>
              <a:gd name="connsiteX5-99" fmla="*/ 0 w 1825307"/>
              <a:gd name="connsiteY5-100" fmla="*/ 231375 h 231375"/>
              <a:gd name="connsiteX6-101" fmla="*/ 0 w 1825307"/>
              <a:gd name="connsiteY6-102" fmla="*/ 231375 h 231375"/>
              <a:gd name="connsiteX7-103" fmla="*/ 0 w 1825307"/>
              <a:gd name="connsiteY7-104" fmla="*/ 38563 h 231375"/>
              <a:gd name="connsiteX8-105" fmla="*/ 38563 w 1825307"/>
              <a:gd name="connsiteY8-106" fmla="*/ 0 h 231375"/>
              <a:gd name="connsiteX0-107" fmla="*/ 38563 w 1825307"/>
              <a:gd name="connsiteY0-108" fmla="*/ 0 h 231375"/>
              <a:gd name="connsiteX1-109" fmla="*/ 1616515 w 1825307"/>
              <a:gd name="connsiteY1-110" fmla="*/ 0 h 231375"/>
              <a:gd name="connsiteX2-111" fmla="*/ 1655078 w 1825307"/>
              <a:gd name="connsiteY2-112" fmla="*/ 38563 h 231375"/>
              <a:gd name="connsiteX3-113" fmla="*/ 1825307 w 1825307"/>
              <a:gd name="connsiteY3-114" fmla="*/ 230557 h 231375"/>
              <a:gd name="connsiteX4-115" fmla="*/ 1655078 w 1825307"/>
              <a:gd name="connsiteY4-116" fmla="*/ 231375 h 231375"/>
              <a:gd name="connsiteX5-117" fmla="*/ 0 w 1825307"/>
              <a:gd name="connsiteY5-118" fmla="*/ 231375 h 231375"/>
              <a:gd name="connsiteX6-119" fmla="*/ 0 w 1825307"/>
              <a:gd name="connsiteY6-120" fmla="*/ 231375 h 231375"/>
              <a:gd name="connsiteX7-121" fmla="*/ 0 w 1825307"/>
              <a:gd name="connsiteY7-122" fmla="*/ 38563 h 231375"/>
              <a:gd name="connsiteX8-123" fmla="*/ 38563 w 1825307"/>
              <a:gd name="connsiteY8-124" fmla="*/ 0 h 231375"/>
              <a:gd name="connsiteX0-125" fmla="*/ 38563 w 1825307"/>
              <a:gd name="connsiteY0-126" fmla="*/ 0 h 231375"/>
              <a:gd name="connsiteX1-127" fmla="*/ 1616515 w 1825307"/>
              <a:gd name="connsiteY1-128" fmla="*/ 0 h 231375"/>
              <a:gd name="connsiteX2-129" fmla="*/ 1670343 w 1825307"/>
              <a:gd name="connsiteY2-130" fmla="*/ 40669 h 231375"/>
              <a:gd name="connsiteX3-131" fmla="*/ 1825307 w 1825307"/>
              <a:gd name="connsiteY3-132" fmla="*/ 230557 h 231375"/>
              <a:gd name="connsiteX4-133" fmla="*/ 1655078 w 1825307"/>
              <a:gd name="connsiteY4-134" fmla="*/ 231375 h 231375"/>
              <a:gd name="connsiteX5-135" fmla="*/ 0 w 1825307"/>
              <a:gd name="connsiteY5-136" fmla="*/ 231375 h 231375"/>
              <a:gd name="connsiteX6-137" fmla="*/ 0 w 1825307"/>
              <a:gd name="connsiteY6-138" fmla="*/ 231375 h 231375"/>
              <a:gd name="connsiteX7-139" fmla="*/ 0 w 1825307"/>
              <a:gd name="connsiteY7-140" fmla="*/ 38563 h 231375"/>
              <a:gd name="connsiteX8-141" fmla="*/ 38563 w 1825307"/>
              <a:gd name="connsiteY8-142" fmla="*/ 0 h 231375"/>
              <a:gd name="connsiteX0-143" fmla="*/ 38563 w 1825307"/>
              <a:gd name="connsiteY0-144" fmla="*/ 0 h 231375"/>
              <a:gd name="connsiteX1-145" fmla="*/ 1616515 w 1825307"/>
              <a:gd name="connsiteY1-146" fmla="*/ 0 h 231375"/>
              <a:gd name="connsiteX2-147" fmla="*/ 1670343 w 1825307"/>
              <a:gd name="connsiteY2-148" fmla="*/ 40669 h 231375"/>
              <a:gd name="connsiteX3-149" fmla="*/ 1825307 w 1825307"/>
              <a:gd name="connsiteY3-150" fmla="*/ 230557 h 231375"/>
              <a:gd name="connsiteX4-151" fmla="*/ 0 w 1825307"/>
              <a:gd name="connsiteY4-152" fmla="*/ 231375 h 231375"/>
              <a:gd name="connsiteX5-153" fmla="*/ 0 w 1825307"/>
              <a:gd name="connsiteY5-154" fmla="*/ 231375 h 231375"/>
              <a:gd name="connsiteX6-155" fmla="*/ 0 w 1825307"/>
              <a:gd name="connsiteY6-156" fmla="*/ 38563 h 231375"/>
              <a:gd name="connsiteX7-157" fmla="*/ 38563 w 1825307"/>
              <a:gd name="connsiteY7-158" fmla="*/ 0 h 231375"/>
              <a:gd name="connsiteX0-159" fmla="*/ 38563 w 1825307"/>
              <a:gd name="connsiteY0-160" fmla="*/ 0 h 231375"/>
              <a:gd name="connsiteX1-161" fmla="*/ 1616515 w 1825307"/>
              <a:gd name="connsiteY1-162" fmla="*/ 0 h 231375"/>
              <a:gd name="connsiteX2-163" fmla="*/ 1670343 w 1825307"/>
              <a:gd name="connsiteY2-164" fmla="*/ 40669 h 231375"/>
              <a:gd name="connsiteX3-165" fmla="*/ 1825307 w 1825307"/>
              <a:gd name="connsiteY3-166" fmla="*/ 230557 h 231375"/>
              <a:gd name="connsiteX4-167" fmla="*/ 0 w 1825307"/>
              <a:gd name="connsiteY4-168" fmla="*/ 231375 h 231375"/>
              <a:gd name="connsiteX5-169" fmla="*/ 0 w 1825307"/>
              <a:gd name="connsiteY5-170" fmla="*/ 231375 h 231375"/>
              <a:gd name="connsiteX6-171" fmla="*/ 0 w 1825307"/>
              <a:gd name="connsiteY6-172" fmla="*/ 38563 h 231375"/>
              <a:gd name="connsiteX7-173" fmla="*/ 38563 w 1825307"/>
              <a:gd name="connsiteY7-174" fmla="*/ 0 h 231375"/>
              <a:gd name="connsiteX0-175" fmla="*/ 38563 w 1825307"/>
              <a:gd name="connsiteY0-176" fmla="*/ 0 h 231375"/>
              <a:gd name="connsiteX1-177" fmla="*/ 1616515 w 1825307"/>
              <a:gd name="connsiteY1-178" fmla="*/ 0 h 231375"/>
              <a:gd name="connsiteX2-179" fmla="*/ 1670343 w 1825307"/>
              <a:gd name="connsiteY2-180" fmla="*/ 40669 h 231375"/>
              <a:gd name="connsiteX3-181" fmla="*/ 1825307 w 1825307"/>
              <a:gd name="connsiteY3-182" fmla="*/ 230557 h 231375"/>
              <a:gd name="connsiteX4-183" fmla="*/ 0 w 1825307"/>
              <a:gd name="connsiteY4-184" fmla="*/ 231375 h 231375"/>
              <a:gd name="connsiteX5-185" fmla="*/ 0 w 1825307"/>
              <a:gd name="connsiteY5-186" fmla="*/ 231375 h 231375"/>
              <a:gd name="connsiteX6-187" fmla="*/ 0 w 1825307"/>
              <a:gd name="connsiteY6-188" fmla="*/ 38563 h 231375"/>
              <a:gd name="connsiteX7-189" fmla="*/ 38563 w 1825307"/>
              <a:gd name="connsiteY7-190" fmla="*/ 0 h 231375"/>
              <a:gd name="connsiteX0-191" fmla="*/ 38563 w 1825307"/>
              <a:gd name="connsiteY0-192" fmla="*/ 0 h 231375"/>
              <a:gd name="connsiteX1-193" fmla="*/ 1616515 w 1825307"/>
              <a:gd name="connsiteY1-194" fmla="*/ 0 h 231375"/>
              <a:gd name="connsiteX2-195" fmla="*/ 1670343 w 1825307"/>
              <a:gd name="connsiteY2-196" fmla="*/ 40669 h 231375"/>
              <a:gd name="connsiteX3-197" fmla="*/ 1825307 w 1825307"/>
              <a:gd name="connsiteY3-198" fmla="*/ 230557 h 231375"/>
              <a:gd name="connsiteX4-199" fmla="*/ 0 w 1825307"/>
              <a:gd name="connsiteY4-200" fmla="*/ 231375 h 231375"/>
              <a:gd name="connsiteX5-201" fmla="*/ 0 w 1825307"/>
              <a:gd name="connsiteY5-202" fmla="*/ 231375 h 231375"/>
              <a:gd name="connsiteX6-203" fmla="*/ 0 w 1825307"/>
              <a:gd name="connsiteY6-204" fmla="*/ 38563 h 231375"/>
              <a:gd name="connsiteX7-205" fmla="*/ 38563 w 1825307"/>
              <a:gd name="connsiteY7-206" fmla="*/ 0 h 231375"/>
              <a:gd name="connsiteX0-207" fmla="*/ 38563 w 1825307"/>
              <a:gd name="connsiteY0-208" fmla="*/ 0 h 231375"/>
              <a:gd name="connsiteX1-209" fmla="*/ 1616515 w 1825307"/>
              <a:gd name="connsiteY1-210" fmla="*/ 0 h 231375"/>
              <a:gd name="connsiteX2-211" fmla="*/ 1670343 w 1825307"/>
              <a:gd name="connsiteY2-212" fmla="*/ 40669 h 231375"/>
              <a:gd name="connsiteX3-213" fmla="*/ 1825307 w 1825307"/>
              <a:gd name="connsiteY3-214" fmla="*/ 230557 h 231375"/>
              <a:gd name="connsiteX4-215" fmla="*/ 0 w 1825307"/>
              <a:gd name="connsiteY4-216" fmla="*/ 231375 h 231375"/>
              <a:gd name="connsiteX5-217" fmla="*/ 0 w 1825307"/>
              <a:gd name="connsiteY5-218" fmla="*/ 231375 h 231375"/>
              <a:gd name="connsiteX6-219" fmla="*/ 0 w 1825307"/>
              <a:gd name="connsiteY6-220" fmla="*/ 38563 h 231375"/>
              <a:gd name="connsiteX7-221" fmla="*/ 38563 w 1825307"/>
              <a:gd name="connsiteY7-222" fmla="*/ 0 h 231375"/>
              <a:gd name="connsiteX0-223" fmla="*/ 38563 w 1827851"/>
              <a:gd name="connsiteY0-224" fmla="*/ 0 h 249512"/>
              <a:gd name="connsiteX1-225" fmla="*/ 1616515 w 1827851"/>
              <a:gd name="connsiteY1-226" fmla="*/ 0 h 249512"/>
              <a:gd name="connsiteX2-227" fmla="*/ 1670343 w 1827851"/>
              <a:gd name="connsiteY2-228" fmla="*/ 40669 h 249512"/>
              <a:gd name="connsiteX3-229" fmla="*/ 1827851 w 1827851"/>
              <a:gd name="connsiteY3-230" fmla="*/ 249512 h 249512"/>
              <a:gd name="connsiteX4-231" fmla="*/ 0 w 1827851"/>
              <a:gd name="connsiteY4-232" fmla="*/ 231375 h 249512"/>
              <a:gd name="connsiteX5-233" fmla="*/ 0 w 1827851"/>
              <a:gd name="connsiteY5-234" fmla="*/ 231375 h 249512"/>
              <a:gd name="connsiteX6-235" fmla="*/ 0 w 1827851"/>
              <a:gd name="connsiteY6-236" fmla="*/ 38563 h 249512"/>
              <a:gd name="connsiteX7-237" fmla="*/ 38563 w 1827851"/>
              <a:gd name="connsiteY7-238" fmla="*/ 0 h 249512"/>
              <a:gd name="connsiteX0-239" fmla="*/ 38563 w 1827851"/>
              <a:gd name="connsiteY0-240" fmla="*/ 0 h 249512"/>
              <a:gd name="connsiteX1-241" fmla="*/ 1616515 w 1827851"/>
              <a:gd name="connsiteY1-242" fmla="*/ 0 h 249512"/>
              <a:gd name="connsiteX2-243" fmla="*/ 1670343 w 1827851"/>
              <a:gd name="connsiteY2-244" fmla="*/ 40669 h 249512"/>
              <a:gd name="connsiteX3-245" fmla="*/ 1827851 w 1827851"/>
              <a:gd name="connsiteY3-246" fmla="*/ 249512 h 249512"/>
              <a:gd name="connsiteX4-247" fmla="*/ 0 w 1827851"/>
              <a:gd name="connsiteY4-248" fmla="*/ 231375 h 249512"/>
              <a:gd name="connsiteX5-249" fmla="*/ 0 w 1827851"/>
              <a:gd name="connsiteY5-250" fmla="*/ 231375 h 249512"/>
              <a:gd name="connsiteX6-251" fmla="*/ 0 w 1827851"/>
              <a:gd name="connsiteY6-252" fmla="*/ 38563 h 249512"/>
              <a:gd name="connsiteX7-253" fmla="*/ 38563 w 1827851"/>
              <a:gd name="connsiteY7-254" fmla="*/ 0 h 249512"/>
              <a:gd name="connsiteX0-255" fmla="*/ 38563 w 1827851"/>
              <a:gd name="connsiteY0-256" fmla="*/ 0 h 249512"/>
              <a:gd name="connsiteX1-257" fmla="*/ 1585987 w 1827851"/>
              <a:gd name="connsiteY1-258" fmla="*/ 0 h 249512"/>
              <a:gd name="connsiteX2-259" fmla="*/ 1670343 w 1827851"/>
              <a:gd name="connsiteY2-260" fmla="*/ 40669 h 249512"/>
              <a:gd name="connsiteX3-261" fmla="*/ 1827851 w 1827851"/>
              <a:gd name="connsiteY3-262" fmla="*/ 249512 h 249512"/>
              <a:gd name="connsiteX4-263" fmla="*/ 0 w 1827851"/>
              <a:gd name="connsiteY4-264" fmla="*/ 231375 h 249512"/>
              <a:gd name="connsiteX5-265" fmla="*/ 0 w 1827851"/>
              <a:gd name="connsiteY5-266" fmla="*/ 231375 h 249512"/>
              <a:gd name="connsiteX6-267" fmla="*/ 0 w 1827851"/>
              <a:gd name="connsiteY6-268" fmla="*/ 38563 h 249512"/>
              <a:gd name="connsiteX7-269" fmla="*/ 38563 w 1827851"/>
              <a:gd name="connsiteY7-270" fmla="*/ 0 h 249512"/>
              <a:gd name="connsiteX0-271" fmla="*/ 38563 w 1827851"/>
              <a:gd name="connsiteY0-272" fmla="*/ 157 h 249669"/>
              <a:gd name="connsiteX1-273" fmla="*/ 1585987 w 1827851"/>
              <a:gd name="connsiteY1-274" fmla="*/ 157 h 249669"/>
              <a:gd name="connsiteX2-275" fmla="*/ 1670343 w 1827851"/>
              <a:gd name="connsiteY2-276" fmla="*/ 40826 h 249669"/>
              <a:gd name="connsiteX3-277" fmla="*/ 1827851 w 1827851"/>
              <a:gd name="connsiteY3-278" fmla="*/ 249669 h 249669"/>
              <a:gd name="connsiteX4-279" fmla="*/ 0 w 1827851"/>
              <a:gd name="connsiteY4-280" fmla="*/ 231532 h 249669"/>
              <a:gd name="connsiteX5-281" fmla="*/ 0 w 1827851"/>
              <a:gd name="connsiteY5-282" fmla="*/ 231532 h 249669"/>
              <a:gd name="connsiteX6-283" fmla="*/ 0 w 1827851"/>
              <a:gd name="connsiteY6-284" fmla="*/ 38720 h 249669"/>
              <a:gd name="connsiteX7-285" fmla="*/ 38563 w 1827851"/>
              <a:gd name="connsiteY7-286" fmla="*/ 157 h 249669"/>
              <a:gd name="connsiteX0-287" fmla="*/ 38563 w 1835483"/>
              <a:gd name="connsiteY0-288" fmla="*/ 157 h 247563"/>
              <a:gd name="connsiteX1-289" fmla="*/ 1585987 w 1835483"/>
              <a:gd name="connsiteY1-290" fmla="*/ 157 h 247563"/>
              <a:gd name="connsiteX2-291" fmla="*/ 1670343 w 1835483"/>
              <a:gd name="connsiteY2-292" fmla="*/ 40826 h 247563"/>
              <a:gd name="connsiteX3-293" fmla="*/ 1835483 w 1835483"/>
              <a:gd name="connsiteY3-294" fmla="*/ 247563 h 247563"/>
              <a:gd name="connsiteX4-295" fmla="*/ 0 w 1835483"/>
              <a:gd name="connsiteY4-296" fmla="*/ 231532 h 247563"/>
              <a:gd name="connsiteX5-297" fmla="*/ 0 w 1835483"/>
              <a:gd name="connsiteY5-298" fmla="*/ 231532 h 247563"/>
              <a:gd name="connsiteX6-299" fmla="*/ 0 w 1835483"/>
              <a:gd name="connsiteY6-300" fmla="*/ 38720 h 247563"/>
              <a:gd name="connsiteX7-301" fmla="*/ 38563 w 1835483"/>
              <a:gd name="connsiteY7-302" fmla="*/ 157 h 247563"/>
              <a:gd name="connsiteX0-303" fmla="*/ 38563 w 1835483"/>
              <a:gd name="connsiteY0-304" fmla="*/ 157 h 247563"/>
              <a:gd name="connsiteX1-305" fmla="*/ 1585987 w 1835483"/>
              <a:gd name="connsiteY1-306" fmla="*/ 157 h 247563"/>
              <a:gd name="connsiteX2-307" fmla="*/ 1670343 w 1835483"/>
              <a:gd name="connsiteY2-308" fmla="*/ 40826 h 247563"/>
              <a:gd name="connsiteX3-309" fmla="*/ 1835483 w 1835483"/>
              <a:gd name="connsiteY3-310" fmla="*/ 247563 h 247563"/>
              <a:gd name="connsiteX4-311" fmla="*/ 0 w 1835483"/>
              <a:gd name="connsiteY4-312" fmla="*/ 231532 h 247563"/>
              <a:gd name="connsiteX5-313" fmla="*/ 0 w 1835483"/>
              <a:gd name="connsiteY5-314" fmla="*/ 231532 h 247563"/>
              <a:gd name="connsiteX6-315" fmla="*/ 0 w 1835483"/>
              <a:gd name="connsiteY6-316" fmla="*/ 38720 h 247563"/>
              <a:gd name="connsiteX7-317" fmla="*/ 38563 w 1835483"/>
              <a:gd name="connsiteY7-318" fmla="*/ 157 h 247563"/>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835483" h="247563">
                <a:moveTo>
                  <a:pt x="38563" y="157"/>
                </a:moveTo>
                <a:lnTo>
                  <a:pt x="1585987" y="157"/>
                </a:lnTo>
                <a:cubicBezTo>
                  <a:pt x="1632725" y="-1949"/>
                  <a:pt x="1644903" y="17421"/>
                  <a:pt x="1670343" y="40826"/>
                </a:cubicBezTo>
                <a:cubicBezTo>
                  <a:pt x="1724542" y="107632"/>
                  <a:pt x="1794004" y="187075"/>
                  <a:pt x="1835483" y="247563"/>
                </a:cubicBezTo>
                <a:lnTo>
                  <a:pt x="0" y="231532"/>
                </a:lnTo>
                <a:lnTo>
                  <a:pt x="0" y="231532"/>
                </a:lnTo>
                <a:lnTo>
                  <a:pt x="0" y="38720"/>
                </a:lnTo>
                <a:cubicBezTo>
                  <a:pt x="0" y="17422"/>
                  <a:pt x="17265" y="157"/>
                  <a:pt x="38563" y="157"/>
                </a:cubicBezTo>
                <a:close/>
              </a:path>
            </a:pathLst>
          </a:custGeom>
          <a:gradFill flip="none" rotWithShape="0">
            <a:gsLst>
              <a:gs pos="23000">
                <a:schemeClr val="accent5">
                  <a:lumMod val="60000"/>
                  <a:lumOff val="40000"/>
                </a:schemeClr>
              </a:gs>
              <a:gs pos="100000">
                <a:schemeClr val="accent5"/>
              </a:gs>
            </a:gsLst>
            <a:lin ang="2700000" scaled="1"/>
            <a:tileRect/>
          </a:gradFill>
          <a:ln w="12700" cap="flat" cmpd="sng" algn="ctr">
            <a:noFill/>
            <a:prstDash val="solid"/>
            <a:miter lim="800000"/>
          </a:ln>
          <a:effectLst/>
        </p:spPr>
        <p:txBody>
          <a:bodyPr lIns="0" tIns="0" rIns="144000" bIns="36000" rtlCol="0" anchor="ctr">
            <a:noAutofit/>
          </a:bodyPr>
          <a:lstStyle/>
          <a:p>
            <a:pPr lvl="0" algn="l" defTabSz="457200">
              <a:buClrTx/>
              <a:buSzTx/>
              <a:buFontTx/>
            </a:pPr>
            <a:r>
              <a:rPr 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      </a:t>
            </a:r>
            <a:r>
              <a:rPr 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  </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④</a:t>
            </a:r>
            <a:r>
              <a:rPr 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a:t>
            </a:r>
            <a:r>
              <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rPr>
              <a:t>提案</a:t>
            </a:r>
            <a:endParaRPr lang="zh-CN" altLang="en-US" sz="2000" b="1" kern="0"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85" name="文本框 84"/>
          <p:cNvSpPr txBox="1"/>
          <p:nvPr>
            <p:custDataLst>
              <p:tags r:id="rId20"/>
            </p:custDataLst>
          </p:nvPr>
        </p:nvSpPr>
        <p:spPr>
          <a:xfrm>
            <a:off x="6311526" y="2612135"/>
            <a:ext cx="824224" cy="381998"/>
          </a:xfrm>
          <a:prstGeom prst="rect">
            <a:avLst/>
          </a:prstGeom>
          <a:noFill/>
        </p:spPr>
        <p:txBody>
          <a:bodyPr wrap="square" rtlCol="0">
            <a:noAutofit/>
          </a:bodyPr>
          <a:p>
            <a:pPr algn="ctr"/>
            <a:r>
              <a:rPr lang="zh-CN" altLang="en-US" b="1">
                <a:solidFill>
                  <a:schemeClr val="lt1"/>
                </a:solidFill>
                <a:cs typeface="微软雅黑" panose="020B0503020204020204" charset="-122"/>
              </a:rPr>
              <a:t>获客</a:t>
            </a:r>
            <a:endParaRPr lang="zh-CN" altLang="en-US" b="1">
              <a:solidFill>
                <a:schemeClr val="lt1"/>
              </a:solidFill>
              <a:cs typeface="微软雅黑" panose="020B0503020204020204" charset="-122"/>
            </a:endParaRPr>
          </a:p>
        </p:txBody>
      </p:sp>
      <p:sp>
        <p:nvSpPr>
          <p:cNvPr id="86" name="椭圆 85"/>
          <p:cNvSpPr/>
          <p:nvPr/>
        </p:nvSpPr>
        <p:spPr>
          <a:xfrm>
            <a:off x="6004560" y="1983740"/>
            <a:ext cx="441960" cy="441960"/>
          </a:xfrm>
          <a:prstGeom prst="ellipse">
            <a:avLst/>
          </a:prstGeom>
          <a:no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7" name="椭圆 86"/>
          <p:cNvSpPr/>
          <p:nvPr/>
        </p:nvSpPr>
        <p:spPr>
          <a:xfrm>
            <a:off x="7326630" y="3013710"/>
            <a:ext cx="441960" cy="441960"/>
          </a:xfrm>
          <a:prstGeom prst="ellipse">
            <a:avLst/>
          </a:prstGeom>
          <a:no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8" name="椭圆 87"/>
          <p:cNvSpPr/>
          <p:nvPr/>
        </p:nvSpPr>
        <p:spPr>
          <a:xfrm>
            <a:off x="7198995" y="4511675"/>
            <a:ext cx="441960" cy="441960"/>
          </a:xfrm>
          <a:prstGeom prst="ellipse">
            <a:avLst/>
          </a:prstGeom>
          <a:no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89" name="椭圆 88"/>
          <p:cNvSpPr/>
          <p:nvPr/>
        </p:nvSpPr>
        <p:spPr>
          <a:xfrm>
            <a:off x="5807075" y="5267325"/>
            <a:ext cx="441960" cy="441960"/>
          </a:xfrm>
          <a:prstGeom prst="ellipse">
            <a:avLst/>
          </a:prstGeom>
          <a:no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0" name="椭圆 89"/>
          <p:cNvSpPr/>
          <p:nvPr/>
        </p:nvSpPr>
        <p:spPr>
          <a:xfrm>
            <a:off x="4507865" y="4316095"/>
            <a:ext cx="441960" cy="441960"/>
          </a:xfrm>
          <a:prstGeom prst="ellipse">
            <a:avLst/>
          </a:prstGeom>
          <a:no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1" name="椭圆 90"/>
          <p:cNvSpPr/>
          <p:nvPr/>
        </p:nvSpPr>
        <p:spPr>
          <a:xfrm>
            <a:off x="4725035" y="2632075"/>
            <a:ext cx="441960" cy="441960"/>
          </a:xfrm>
          <a:prstGeom prst="ellipse">
            <a:avLst/>
          </a:prstGeom>
          <a:noFill/>
          <a:ln>
            <a:solidFill>
              <a:schemeClr val="bg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92" name="文本框 91"/>
          <p:cNvSpPr txBox="1"/>
          <p:nvPr>
            <p:custDataLst>
              <p:tags r:id="rId21"/>
            </p:custDataLst>
          </p:nvPr>
        </p:nvSpPr>
        <p:spPr>
          <a:xfrm>
            <a:off x="6816986" y="3749420"/>
            <a:ext cx="824224" cy="381998"/>
          </a:xfrm>
          <a:prstGeom prst="rect">
            <a:avLst/>
          </a:prstGeom>
          <a:noFill/>
        </p:spPr>
        <p:txBody>
          <a:bodyPr wrap="square" rtlCol="0">
            <a:noAutofit/>
          </a:bodyPr>
          <a:p>
            <a:pPr algn="ctr"/>
            <a:r>
              <a:rPr lang="zh-CN" altLang="en-US" b="1">
                <a:solidFill>
                  <a:schemeClr val="lt1"/>
                </a:solidFill>
                <a:cs typeface="微软雅黑" panose="020B0503020204020204" charset="-122"/>
              </a:rPr>
              <a:t>触客</a:t>
            </a:r>
            <a:endParaRPr lang="zh-CN" altLang="en-US" b="1">
              <a:solidFill>
                <a:schemeClr val="lt1"/>
              </a:solidFill>
              <a:cs typeface="微软雅黑" panose="020B0503020204020204" charset="-122"/>
            </a:endParaRPr>
          </a:p>
        </p:txBody>
      </p:sp>
      <p:sp>
        <p:nvSpPr>
          <p:cNvPr id="93" name="文本框 92"/>
          <p:cNvSpPr txBox="1"/>
          <p:nvPr>
            <p:custDataLst>
              <p:tags r:id="rId22"/>
            </p:custDataLst>
          </p:nvPr>
        </p:nvSpPr>
        <p:spPr>
          <a:xfrm>
            <a:off x="6173731" y="4539360"/>
            <a:ext cx="824224" cy="381998"/>
          </a:xfrm>
          <a:prstGeom prst="rect">
            <a:avLst/>
          </a:prstGeom>
          <a:noFill/>
        </p:spPr>
        <p:txBody>
          <a:bodyPr wrap="square" rtlCol="0">
            <a:noAutofit/>
          </a:bodyPr>
          <a:p>
            <a:pPr algn="ctr"/>
            <a:r>
              <a:rPr lang="zh-CN" altLang="en-US" b="1">
                <a:solidFill>
                  <a:schemeClr val="lt1"/>
                </a:solidFill>
                <a:cs typeface="微软雅黑" panose="020B0503020204020204" charset="-122"/>
              </a:rPr>
              <a:t>识客</a:t>
            </a:r>
            <a:endParaRPr lang="zh-CN" altLang="en-US" b="1">
              <a:solidFill>
                <a:schemeClr val="lt1"/>
              </a:solidFill>
              <a:cs typeface="微软雅黑" panose="020B0503020204020204" charset="-122"/>
            </a:endParaRPr>
          </a:p>
        </p:txBody>
      </p:sp>
      <p:sp>
        <p:nvSpPr>
          <p:cNvPr id="94" name="文本框 93"/>
          <p:cNvSpPr txBox="1"/>
          <p:nvPr>
            <p:custDataLst>
              <p:tags r:id="rId23"/>
            </p:custDataLst>
          </p:nvPr>
        </p:nvSpPr>
        <p:spPr>
          <a:xfrm>
            <a:off x="5167256" y="4623180"/>
            <a:ext cx="824224" cy="381998"/>
          </a:xfrm>
          <a:prstGeom prst="rect">
            <a:avLst/>
          </a:prstGeom>
          <a:noFill/>
        </p:spPr>
        <p:txBody>
          <a:bodyPr wrap="square" rtlCol="0">
            <a:noAutofit/>
          </a:bodyPr>
          <a:p>
            <a:pPr algn="ctr"/>
            <a:r>
              <a:rPr lang="zh-CN" altLang="en-US" b="1">
                <a:solidFill>
                  <a:schemeClr val="lt1"/>
                </a:solidFill>
                <a:cs typeface="微软雅黑" panose="020B0503020204020204" charset="-122"/>
              </a:rPr>
              <a:t>提案</a:t>
            </a:r>
            <a:endParaRPr lang="zh-CN" altLang="en-US" b="1">
              <a:solidFill>
                <a:schemeClr val="lt1"/>
              </a:solidFill>
              <a:cs typeface="微软雅黑" panose="020B0503020204020204" charset="-122"/>
            </a:endParaRPr>
          </a:p>
        </p:txBody>
      </p:sp>
      <p:sp>
        <p:nvSpPr>
          <p:cNvPr id="100" name="文本框 99"/>
          <p:cNvSpPr txBox="1"/>
          <p:nvPr>
            <p:custDataLst>
              <p:tags r:id="rId24"/>
            </p:custDataLst>
          </p:nvPr>
        </p:nvSpPr>
        <p:spPr>
          <a:xfrm>
            <a:off x="4691641" y="3655440"/>
            <a:ext cx="824224" cy="381998"/>
          </a:xfrm>
          <a:prstGeom prst="rect">
            <a:avLst/>
          </a:prstGeom>
          <a:noFill/>
        </p:spPr>
        <p:txBody>
          <a:bodyPr wrap="square" rtlCol="0">
            <a:noAutofit/>
          </a:bodyPr>
          <a:p>
            <a:pPr algn="ctr"/>
            <a:r>
              <a:rPr lang="zh-CN" altLang="en-US" b="1">
                <a:solidFill>
                  <a:schemeClr val="lt1"/>
                </a:solidFill>
                <a:cs typeface="微软雅黑" panose="020B0503020204020204" charset="-122"/>
              </a:rPr>
              <a:t>谈判</a:t>
            </a:r>
            <a:endParaRPr lang="zh-CN" altLang="en-US" b="1">
              <a:solidFill>
                <a:schemeClr val="lt1"/>
              </a:solidFill>
              <a:cs typeface="微软雅黑" panose="020B0503020204020204" charset="-122"/>
            </a:endParaRPr>
          </a:p>
        </p:txBody>
      </p:sp>
      <p:sp>
        <p:nvSpPr>
          <p:cNvPr id="101" name="文本框 100"/>
          <p:cNvSpPr txBox="1"/>
          <p:nvPr>
            <p:custDataLst>
              <p:tags r:id="rId25"/>
            </p:custDataLst>
          </p:nvPr>
        </p:nvSpPr>
        <p:spPr>
          <a:xfrm>
            <a:off x="5302511" y="2801365"/>
            <a:ext cx="824224" cy="381998"/>
          </a:xfrm>
          <a:prstGeom prst="rect">
            <a:avLst/>
          </a:prstGeom>
          <a:noFill/>
        </p:spPr>
        <p:txBody>
          <a:bodyPr wrap="square" rtlCol="0">
            <a:noAutofit/>
          </a:bodyPr>
          <a:p>
            <a:pPr algn="ctr"/>
            <a:r>
              <a:rPr lang="zh-CN" altLang="en-US" b="1">
                <a:solidFill>
                  <a:schemeClr val="lt1"/>
                </a:solidFill>
                <a:cs typeface="微软雅黑" panose="020B0503020204020204" charset="-122"/>
              </a:rPr>
              <a:t>成交</a:t>
            </a:r>
            <a:endParaRPr lang="zh-CN" altLang="en-US" b="1">
              <a:solidFill>
                <a:schemeClr val="lt1"/>
              </a:solidFill>
              <a:cs typeface="微软雅黑" panose="020B0503020204020204" charset="-122"/>
            </a:endParaRPr>
          </a:p>
        </p:txBody>
      </p:sp>
      <p:sp>
        <p:nvSpPr>
          <p:cNvPr id="102" name="子陵职场PPT18"/>
          <p:cNvSpPr txBox="1"/>
          <p:nvPr/>
        </p:nvSpPr>
        <p:spPr>
          <a:xfrm>
            <a:off x="581660" y="5367655"/>
            <a:ext cx="2900680" cy="755015"/>
          </a:xfrm>
          <a:prstGeom prst="rect">
            <a:avLst/>
          </a:prstGeom>
          <a:noFill/>
        </p:spPr>
        <p:txBody>
          <a:bodyPr wrap="square">
            <a:spAutoFit/>
          </a:bodyPr>
          <a:lstStyle/>
          <a:p>
            <a:pPr algn="l">
              <a:lnSpc>
                <a:spcPct val="120000"/>
              </a:lnSpc>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构建客户听得懂的个性化的解决方案</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a:p>
            <a:pPr algn="l">
              <a:lnSpc>
                <a:spcPct val="120000"/>
              </a:lnSpc>
            </a:pPr>
            <a:endParaRPr lang="en-US" altLang="zh-CN" sz="1200" b="1" dirty="0">
              <a:solidFill>
                <a:schemeClr val="accent1"/>
              </a:solidFill>
              <a:latin typeface="微软雅黑" panose="020B0503020204020204" charset="-122"/>
              <a:ea typeface="微软雅黑" panose="020B0503020204020204" charset="-122"/>
              <a:cs typeface="微软雅黑" panose="020B0503020204020204" charset="-122"/>
            </a:endParaRPr>
          </a:p>
          <a:p>
            <a:pPr algn="l">
              <a:lnSpc>
                <a:spcPct val="120000"/>
              </a:lnSpc>
            </a:pPr>
            <a:endParaRPr lang="en-US" altLang="zh-CN" sz="12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03" name="Rectangle 60"/>
          <p:cNvSpPr/>
          <p:nvPr/>
        </p:nvSpPr>
        <p:spPr>
          <a:xfrm flipH="1">
            <a:off x="581660" y="5742940"/>
            <a:ext cx="2616835" cy="676910"/>
          </a:xfrm>
          <a:prstGeom prst="rect">
            <a:avLst/>
          </a:prstGeom>
        </p:spPr>
        <p:txBody>
          <a:bodyPr wrap="square" lIns="0" tIns="0" rIns="0" bIns="0" anchor="t" anchorCtr="0">
            <a:spAutoFit/>
          </a:bodyPr>
          <a:lstStyle/>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方案定制：</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基于前期诊断，制作针对性的演示材料或建议书。</a:t>
            </a:r>
            <a:endPar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共识确认：</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在提案过程中不断确认客户是否认可，消除认知偏差。</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04" name="子陵职场PPT18"/>
          <p:cNvSpPr txBox="1"/>
          <p:nvPr/>
        </p:nvSpPr>
        <p:spPr>
          <a:xfrm>
            <a:off x="566420" y="3482340"/>
            <a:ext cx="2900680" cy="312420"/>
          </a:xfrm>
          <a:prstGeom prst="rect">
            <a:avLst/>
          </a:prstGeom>
          <a:noFill/>
        </p:spPr>
        <p:txBody>
          <a:bodyPr wrap="square">
            <a:spAutoFit/>
          </a:bodyPr>
          <a:lstStyle/>
          <a:p>
            <a:pPr algn="l">
              <a:lnSpc>
                <a:spcPct val="120000"/>
              </a:lnSpc>
            </a:pPr>
            <a:r>
              <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rPr>
              <a:t>达成双方都能接受的合作条件</a:t>
            </a:r>
            <a:endParaRPr lang="zh-CN" altLang="en-US" sz="12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05" name="Rectangle 60"/>
          <p:cNvSpPr/>
          <p:nvPr/>
        </p:nvSpPr>
        <p:spPr>
          <a:xfrm flipH="1">
            <a:off x="566420" y="3857625"/>
            <a:ext cx="2541270" cy="676910"/>
          </a:xfrm>
          <a:prstGeom prst="rect">
            <a:avLst/>
          </a:prstGeom>
        </p:spPr>
        <p:txBody>
          <a:bodyPr wrap="square" lIns="0" tIns="0" rIns="0" bIns="0" anchor="t" anchorCtr="0">
            <a:spAutoFit/>
          </a:bodyPr>
          <a:lstStyle/>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异议疏导：</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预判并回应客户的顾虑（如性价比、切换风险），坚持等价交换原则。</a:t>
            </a:r>
            <a:endPar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条件磋商：</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在不突破底线的范围内灵活调整交付范围或付款方式。</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p:txBody>
      </p:sp>
      <p:sp>
        <p:nvSpPr>
          <p:cNvPr id="106" name="子陵职场PPT18"/>
          <p:cNvSpPr txBox="1"/>
          <p:nvPr/>
        </p:nvSpPr>
        <p:spPr>
          <a:xfrm>
            <a:off x="581660" y="1640840"/>
            <a:ext cx="2900680" cy="533400"/>
          </a:xfrm>
          <a:prstGeom prst="rect">
            <a:avLst/>
          </a:prstGeom>
          <a:noFill/>
        </p:spPr>
        <p:txBody>
          <a:bodyPr wrap="square">
            <a:spAutoFit/>
          </a:bodyPr>
          <a:lstStyle/>
          <a:p>
            <a:pPr algn="l">
              <a:lnSpc>
                <a:spcPct val="120000"/>
              </a:lnSpc>
            </a:pPr>
            <a:r>
              <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rPr>
              <a:t>签订合同并非终点，是新一轮的起点</a:t>
            </a: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a:p>
            <a:pPr algn="l">
              <a:lnSpc>
                <a:spcPct val="120000"/>
              </a:lnSpc>
            </a:pPr>
            <a:endParaRPr lang="zh-CN" altLang="en-US" sz="1200" b="1"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07" name="Rectangle 60"/>
          <p:cNvSpPr/>
          <p:nvPr/>
        </p:nvSpPr>
        <p:spPr>
          <a:xfrm flipH="1">
            <a:off x="581660" y="2016125"/>
            <a:ext cx="2616835" cy="676910"/>
          </a:xfrm>
          <a:prstGeom prst="rect">
            <a:avLst/>
          </a:prstGeom>
        </p:spPr>
        <p:txBody>
          <a:bodyPr wrap="square" lIns="0" tIns="0" rIns="0" bIns="0" anchor="t" anchorCtr="0">
            <a:spAutoFit/>
          </a:bodyPr>
          <a:lstStyle/>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临门一脚：</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完成合同签署与款项回收，确保交易落袋为安。</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a:p>
            <a:pPr marL="171450" indent="-171450" algn="l" fontAlgn="auto">
              <a:lnSpc>
                <a:spcPct val="110000"/>
              </a:lnSpc>
              <a:spcBef>
                <a:spcPts val="0"/>
              </a:spcBef>
              <a:buFont typeface="Wingdings" panose="05000000000000000000" charset="0"/>
              <a:buChar char="Ø"/>
            </a:pPr>
            <a:r>
              <a:rPr lang="zh-CN" altLang="en-US" sz="1000" b="1" dirty="0">
                <a:solidFill>
                  <a:schemeClr val="tx2">
                    <a:alpha val="80000"/>
                  </a:schemeClr>
                </a:solidFill>
                <a:latin typeface="微软雅黑" panose="020B0503020204020204" charset="-122"/>
                <a:ea typeface="微软雅黑" panose="020B0503020204020204" charset="-122"/>
                <a:cs typeface="微软雅黑" panose="020B0503020204020204" charset="-122"/>
              </a:rPr>
              <a:t>复盘转介：</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复盘本次销售过程中的得与失，沉淀经验用于优化第一步的</a:t>
            </a:r>
            <a:r>
              <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获客</a:t>
            </a:r>
            <a:r>
              <a:rPr lang="en-US" altLang="zh-CN"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a:t>
            </a:r>
            <a:r>
              <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rPr>
              <a:t>策略。</a:t>
            </a:r>
            <a:endParaRPr lang="zh-CN" altLang="en-US" sz="1000" dirty="0">
              <a:solidFill>
                <a:schemeClr val="tx2">
                  <a:alpha val="80000"/>
                </a:schemeClr>
              </a:solidFill>
              <a:latin typeface="微软雅黑" panose="020B0503020204020204" charset="-122"/>
              <a:ea typeface="微软雅黑" panose="020B0503020204020204" charset="-122"/>
              <a:cs typeface="微软雅黑" panose="020B0503020204020204" charset="-122"/>
            </a:endParaRPr>
          </a:p>
        </p:txBody>
      </p:sp>
      <p:pic>
        <p:nvPicPr>
          <p:cNvPr id="108" name="图片 107" descr="成交"/>
          <p:cNvPicPr>
            <a:picLocks noChangeAspect="1"/>
          </p:cNvPicPr>
          <p:nvPr/>
        </p:nvPicPr>
        <p:blipFill>
          <a:blip r:embed="rId26">
            <a:extLst>
              <a:ext uri="{96DAC541-7B7A-43D3-8B79-37D633B846F1}">
                <asvg:svgBlip xmlns:asvg="http://schemas.microsoft.com/office/drawing/2016/SVG/main" r:embed="rId27"/>
              </a:ext>
            </a:extLst>
          </a:blip>
          <a:stretch>
            <a:fillRect/>
          </a:stretch>
        </p:blipFill>
        <p:spPr>
          <a:xfrm>
            <a:off x="574040" y="1216025"/>
            <a:ext cx="233045" cy="203835"/>
          </a:xfrm>
          <a:prstGeom prst="rect">
            <a:avLst/>
          </a:prstGeom>
        </p:spPr>
      </p:pic>
      <p:pic>
        <p:nvPicPr>
          <p:cNvPr id="109" name="图片 108" descr="Gc_101_face-FaceRecognition"/>
          <p:cNvPicPr>
            <a:picLocks noChangeAspect="1"/>
          </p:cNvPicPr>
          <p:nvPr/>
        </p:nvPicPr>
        <p:blipFill>
          <a:blip r:embed="rId28">
            <a:extLst>
              <a:ext uri="{96DAC541-7B7A-43D3-8B79-37D633B846F1}">
                <asvg:svgBlip xmlns:asvg="http://schemas.microsoft.com/office/drawing/2016/SVG/main" r:embed="rId29"/>
              </a:ext>
            </a:extLst>
          </a:blip>
          <a:stretch>
            <a:fillRect/>
          </a:stretch>
        </p:blipFill>
        <p:spPr>
          <a:xfrm>
            <a:off x="11336655" y="4912995"/>
            <a:ext cx="221615" cy="221615"/>
          </a:xfrm>
          <a:prstGeom prst="rect">
            <a:avLst/>
          </a:prstGeom>
        </p:spPr>
      </p:pic>
      <p:pic>
        <p:nvPicPr>
          <p:cNvPr id="110" name="图片 109" descr="我的提案"/>
          <p:cNvPicPr>
            <a:picLocks noChangeAspect="1"/>
          </p:cNvPicPr>
          <p:nvPr/>
        </p:nvPicPr>
        <p:blipFill>
          <a:blip r:embed="rId30">
            <a:extLst>
              <a:ext uri="{96DAC541-7B7A-43D3-8B79-37D633B846F1}">
                <asvg:svgBlip xmlns:asvg="http://schemas.microsoft.com/office/drawing/2016/SVG/main" r:embed="rId31"/>
              </a:ext>
            </a:extLst>
          </a:blip>
          <a:stretch>
            <a:fillRect/>
          </a:stretch>
        </p:blipFill>
        <p:spPr>
          <a:xfrm>
            <a:off x="567690" y="4867275"/>
            <a:ext cx="270510" cy="270510"/>
          </a:xfrm>
          <a:prstGeom prst="rect">
            <a:avLst/>
          </a:prstGeom>
        </p:spPr>
      </p:pic>
      <p:pic>
        <p:nvPicPr>
          <p:cNvPr id="111" name="图片 110" descr="完成谈判"/>
          <p:cNvPicPr>
            <a:picLocks noChangeAspect="1"/>
          </p:cNvPicPr>
          <p:nvPr/>
        </p:nvPicPr>
        <p:blipFill>
          <a:blip r:embed="rId32">
            <a:extLst>
              <a:ext uri="{96DAC541-7B7A-43D3-8B79-37D633B846F1}">
                <asvg:svgBlip xmlns:asvg="http://schemas.microsoft.com/office/drawing/2016/SVG/main" r:embed="rId33"/>
              </a:ext>
            </a:extLst>
          </a:blip>
          <a:stretch>
            <a:fillRect/>
          </a:stretch>
        </p:blipFill>
        <p:spPr>
          <a:xfrm>
            <a:off x="567690" y="3044825"/>
            <a:ext cx="245745" cy="245745"/>
          </a:xfrm>
          <a:prstGeom prst="rect">
            <a:avLst/>
          </a:prstGeom>
        </p:spPr>
      </p:pic>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4"/>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timing>
    <p:tnLst>
      <p:par>
        <p:cTn id="1" dur="indefinite" restart="never" fill="hold"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循环逻辑架构 | </a:t>
            </a:r>
            <a:r>
              <a:rPr sz="2500">
                <a:solidFill>
                  <a:schemeClr val="tx2"/>
                </a:solidFill>
                <a:effectLst/>
                <a:latin typeface="微软雅黑" panose="020B0503020204020204" charset="-122"/>
                <a:ea typeface="微软雅黑" panose="020B0503020204020204" charset="-122"/>
                <a:cs typeface="微软雅黑" panose="020B0503020204020204" charset="-122"/>
              </a:rPr>
              <a:t>产品项目管理流程</a:t>
            </a:r>
            <a:endParaRPr sz="2500" b="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60" name="组合 59"/>
          <p:cNvGrpSpPr/>
          <p:nvPr/>
        </p:nvGrpSpPr>
        <p:grpSpPr>
          <a:xfrm>
            <a:off x="2259524" y="1789936"/>
            <a:ext cx="7672953" cy="4137798"/>
            <a:chOff x="2259524" y="1822594"/>
            <a:chExt cx="7672953" cy="4137798"/>
          </a:xfrm>
        </p:grpSpPr>
        <p:sp>
          <p:nvSpPr>
            <p:cNvPr id="63" name="矩形: 圆角 63"/>
            <p:cNvSpPr/>
            <p:nvPr/>
          </p:nvSpPr>
          <p:spPr>
            <a:xfrm>
              <a:off x="2259524" y="1822594"/>
              <a:ext cx="7672953" cy="4137798"/>
            </a:xfrm>
            <a:prstGeom prst="roundRect">
              <a:avLst>
                <a:gd name="adj" fmla="val 50000"/>
              </a:avLst>
            </a:prstGeom>
            <a:solidFill>
              <a:schemeClr val="accent1">
                <a:lumMod val="20000"/>
                <a:lumOff val="80000"/>
                <a:alpha val="50000"/>
              </a:schemeClr>
            </a:solidFill>
            <a:ln w="12700" cap="flat" cmpd="sng" algn="ctr">
              <a:solidFill>
                <a:schemeClr val="bg1"/>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8" name="矩形: 圆角 63"/>
            <p:cNvSpPr/>
            <p:nvPr/>
          </p:nvSpPr>
          <p:spPr>
            <a:xfrm>
              <a:off x="3797483" y="3332142"/>
              <a:ext cx="4597036" cy="1118702"/>
            </a:xfrm>
            <a:prstGeom prst="roundRect">
              <a:avLst>
                <a:gd name="adj" fmla="val 50000"/>
              </a:avLst>
            </a:prstGeom>
            <a:solidFill>
              <a:schemeClr val="bg2"/>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69" name="矩形 68"/>
            <p:cNvSpPr/>
            <p:nvPr/>
          </p:nvSpPr>
          <p:spPr>
            <a:xfrm>
              <a:off x="4419905" y="4600099"/>
              <a:ext cx="3352192" cy="1156055"/>
            </a:xfrm>
            <a:prstGeom prst="rect">
              <a:avLst/>
            </a:prstGeom>
            <a:gradFill>
              <a:gsLst>
                <a:gs pos="0">
                  <a:schemeClr val="accent5">
                    <a:lumMod val="60000"/>
                    <a:lumOff val="40000"/>
                  </a:schemeClr>
                </a:gs>
                <a:gs pos="100000">
                  <a:schemeClr val="accent5"/>
                </a:gs>
              </a:gsLst>
              <a:lin ang="5400000" scaled="0"/>
            </a:gradFill>
            <a:ln>
              <a:noFill/>
            </a:ln>
            <a:effectLst/>
          </p:spPr>
          <p:txBody>
            <a:bodyPr vert="horz" wrap="square" lIns="91440" tIns="45720" rIns="91440" bIns="45720" numCol="1" rtlCol="0" anchor="t" anchorCtr="0" compatLnSpc="1">
              <a:noAutofit/>
            </a:bodyPr>
            <a:lstStyle/>
            <a:p>
              <a:pPr lvl="0" algn="l">
                <a:spcBef>
                  <a:spcPts val="0"/>
                </a:spcBef>
                <a:spcAft>
                  <a:spcPts val="0"/>
                </a:spcAft>
                <a:buClrTx/>
                <a:buSzTx/>
                <a:buFontTx/>
                <a:defRPr/>
              </a:pPr>
              <a:endParaRPr kern="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70" name="矩形 69"/>
            <p:cNvSpPr/>
            <p:nvPr/>
          </p:nvSpPr>
          <p:spPr>
            <a:xfrm>
              <a:off x="4419905" y="2026728"/>
              <a:ext cx="3352192" cy="1156055"/>
            </a:xfrm>
            <a:prstGeom prst="rect">
              <a:avLst/>
            </a:prstGeom>
            <a:gradFill>
              <a:gsLst>
                <a:gs pos="0">
                  <a:schemeClr val="accent5">
                    <a:lumMod val="60000"/>
                    <a:lumOff val="40000"/>
                  </a:schemeClr>
                </a:gs>
                <a:gs pos="100000">
                  <a:schemeClr val="accent5"/>
                </a:gs>
              </a:gsLst>
              <a:lin ang="5400000" scaled="0"/>
            </a:gradFill>
            <a:ln>
              <a:noFill/>
            </a:ln>
            <a:effectLst/>
          </p:spPr>
          <p:txBody>
            <a:bodyPr vert="horz" wrap="square" lIns="91440" tIns="45720" rIns="91440" bIns="45720" numCol="1" rtlCol="0" anchor="t" anchorCtr="0" compatLnSpc="1">
              <a:noAutofit/>
            </a:bodyPr>
            <a:lstStyle/>
            <a:p>
              <a:pPr lvl="0" algn="l">
                <a:spcBef>
                  <a:spcPts val="0"/>
                </a:spcBef>
                <a:spcAft>
                  <a:spcPts val="0"/>
                </a:spcAft>
                <a:buClrTx/>
                <a:buSzTx/>
                <a:buFontTx/>
                <a:defRPr/>
              </a:pPr>
              <a:endParaRPr kern="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4" name="Google Shape;480;p21"/>
            <p:cNvSpPr/>
            <p:nvPr/>
          </p:nvSpPr>
          <p:spPr>
            <a:xfrm>
              <a:off x="2754701" y="2026729"/>
              <a:ext cx="1548808" cy="1472353"/>
            </a:xfrm>
            <a:custGeom>
              <a:avLst/>
              <a:gdLst/>
              <a:ahLst/>
              <a:cxnLst/>
              <a:rect l="l" t="t" r="r" b="b"/>
              <a:pathLst>
                <a:path w="13370" h="12710" extrusionOk="0">
                  <a:moveTo>
                    <a:pt x="1" y="7714"/>
                  </a:moveTo>
                  <a:lnTo>
                    <a:pt x="5" y="7718"/>
                  </a:lnTo>
                  <a:lnTo>
                    <a:pt x="8650" y="12709"/>
                  </a:lnTo>
                  <a:cubicBezTo>
                    <a:pt x="9594" y="11085"/>
                    <a:pt x="11352" y="9991"/>
                    <a:pt x="13369" y="9991"/>
                  </a:cubicBezTo>
                  <a:lnTo>
                    <a:pt x="13369" y="9991"/>
                  </a:lnTo>
                  <a:lnTo>
                    <a:pt x="13369" y="1"/>
                  </a:lnTo>
                  <a:cubicBezTo>
                    <a:pt x="7657" y="1"/>
                    <a:pt x="2670" y="3104"/>
                    <a:pt x="1" y="7714"/>
                  </a:cubicBezTo>
                  <a:close/>
                </a:path>
              </a:pathLst>
            </a:custGeom>
            <a:gradFill>
              <a:gsLst>
                <a:gs pos="0">
                  <a:schemeClr val="accent1">
                    <a:lumMod val="60000"/>
                    <a:lumOff val="40000"/>
                  </a:schemeClr>
                </a:gs>
                <a:gs pos="100000">
                  <a:schemeClr val="accent1"/>
                </a:gs>
              </a:gsLst>
              <a:lin ang="5400000" scaled="0"/>
            </a:gradFill>
            <a:ln>
              <a:noFill/>
            </a:ln>
            <a:effectLst/>
          </p:spPr>
          <p:txBody>
            <a:bodyPr vert="horz" wrap="square" lIns="91440" tIns="45720" rIns="91440" bIns="45720" numCol="1" anchor="t" anchorCtr="0" compatLnSpc="1">
              <a:noAutofit/>
            </a:bodyPr>
            <a:lstStyle/>
            <a:p>
              <a:pPr lvl="0" algn="l">
                <a:spcBef>
                  <a:spcPts val="0"/>
                </a:spcBef>
                <a:spcAft>
                  <a:spcPts val="0"/>
                </a:spcAft>
                <a:buClrTx/>
                <a:buSzTx/>
                <a:buFontTx/>
                <a:defRPr/>
              </a:pPr>
              <a:endParaRPr kern="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5" name="Google Shape;481;p21"/>
            <p:cNvSpPr/>
            <p:nvPr/>
          </p:nvSpPr>
          <p:spPr>
            <a:xfrm>
              <a:off x="7888493" y="2026729"/>
              <a:ext cx="1548808" cy="1472353"/>
            </a:xfrm>
            <a:custGeom>
              <a:avLst/>
              <a:gdLst/>
              <a:ahLst/>
              <a:cxnLst/>
              <a:rect l="l" t="t" r="r" b="b"/>
              <a:pathLst>
                <a:path w="13370" h="12710" extrusionOk="0">
                  <a:moveTo>
                    <a:pt x="1" y="9991"/>
                  </a:moveTo>
                  <a:cubicBezTo>
                    <a:pt x="2018" y="9991"/>
                    <a:pt x="3777" y="11085"/>
                    <a:pt x="4721" y="12709"/>
                  </a:cubicBezTo>
                  <a:lnTo>
                    <a:pt x="4721" y="12709"/>
                  </a:lnTo>
                  <a:lnTo>
                    <a:pt x="13366" y="7718"/>
                  </a:lnTo>
                  <a:lnTo>
                    <a:pt x="13370" y="7714"/>
                  </a:lnTo>
                  <a:cubicBezTo>
                    <a:pt x="10700" y="3104"/>
                    <a:pt x="5713" y="1"/>
                    <a:pt x="1" y="1"/>
                  </a:cubicBezTo>
                  <a:lnTo>
                    <a:pt x="1" y="1"/>
                  </a:lnTo>
                  <a:close/>
                </a:path>
              </a:pathLst>
            </a:custGeom>
            <a:gradFill>
              <a:gsLst>
                <a:gs pos="0">
                  <a:schemeClr val="accent1">
                    <a:lumMod val="60000"/>
                    <a:lumOff val="40000"/>
                  </a:schemeClr>
                </a:gs>
                <a:gs pos="100000">
                  <a:schemeClr val="accent1"/>
                </a:gs>
              </a:gsLst>
              <a:lin ang="5400000" scaled="0"/>
            </a:gradFill>
            <a:ln>
              <a:noFill/>
            </a:ln>
            <a:effectLst/>
          </p:spPr>
          <p:txBody>
            <a:bodyPr vert="horz" wrap="square" lIns="91440" tIns="45720" rIns="91440" bIns="45720" numCol="1" anchor="t" anchorCtr="0" compatLnSpc="1">
              <a:noAutofit/>
            </a:bodyPr>
            <a:lstStyle/>
            <a:p>
              <a:pPr lvl="0" algn="l">
                <a:spcBef>
                  <a:spcPts val="0"/>
                </a:spcBef>
                <a:spcAft>
                  <a:spcPts val="0"/>
                </a:spcAft>
                <a:buClrTx/>
                <a:buSzTx/>
                <a:buFontTx/>
                <a:defRPr/>
              </a:pPr>
              <a:endParaRPr kern="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6" name="Google Shape;482;p21"/>
            <p:cNvSpPr/>
            <p:nvPr/>
          </p:nvSpPr>
          <p:spPr>
            <a:xfrm>
              <a:off x="2464172" y="2996788"/>
              <a:ext cx="1241480" cy="1788602"/>
            </a:xfrm>
            <a:custGeom>
              <a:avLst/>
              <a:gdLst/>
              <a:ahLst/>
              <a:cxnLst/>
              <a:rect l="l" t="t" r="r" b="b"/>
              <a:pathLst>
                <a:path w="10717" h="15440" extrusionOk="0">
                  <a:moveTo>
                    <a:pt x="1" y="7726"/>
                  </a:moveTo>
                  <a:cubicBezTo>
                    <a:pt x="1" y="10533"/>
                    <a:pt x="750" y="13171"/>
                    <a:pt x="2063" y="15439"/>
                  </a:cubicBezTo>
                  <a:lnTo>
                    <a:pt x="2063" y="15439"/>
                  </a:lnTo>
                  <a:lnTo>
                    <a:pt x="2075" y="15435"/>
                  </a:lnTo>
                  <a:lnTo>
                    <a:pt x="10712" y="10444"/>
                  </a:lnTo>
                  <a:cubicBezTo>
                    <a:pt x="10250" y="9646"/>
                    <a:pt x="9987" y="8714"/>
                    <a:pt x="9987" y="7726"/>
                  </a:cubicBezTo>
                  <a:lnTo>
                    <a:pt x="9987" y="7726"/>
                  </a:lnTo>
                  <a:cubicBezTo>
                    <a:pt x="9987" y="6729"/>
                    <a:pt x="10250" y="5798"/>
                    <a:pt x="10716" y="4996"/>
                  </a:cubicBezTo>
                  <a:lnTo>
                    <a:pt x="10716" y="4996"/>
                  </a:lnTo>
                  <a:lnTo>
                    <a:pt x="2075" y="0"/>
                  </a:lnTo>
                  <a:lnTo>
                    <a:pt x="2067" y="0"/>
                  </a:lnTo>
                  <a:cubicBezTo>
                    <a:pt x="754" y="2273"/>
                    <a:pt x="1" y="4910"/>
                    <a:pt x="1" y="7726"/>
                  </a:cubicBezTo>
                </a:path>
              </a:pathLst>
            </a:custGeom>
            <a:gradFill>
              <a:gsLst>
                <a:gs pos="0">
                  <a:schemeClr val="accent1">
                    <a:lumMod val="60000"/>
                    <a:lumOff val="40000"/>
                  </a:schemeClr>
                </a:gs>
                <a:gs pos="100000">
                  <a:schemeClr val="accent1"/>
                </a:gs>
              </a:gsLst>
              <a:lin ang="5400000" scaled="0"/>
            </a:gradFill>
            <a:ln>
              <a:noFill/>
            </a:ln>
            <a:effectLst/>
          </p:spPr>
          <p:txBody>
            <a:bodyPr vert="horz" wrap="square" lIns="91440" tIns="45720" rIns="91440" bIns="45720" numCol="1" anchor="t" anchorCtr="0" compatLnSpc="1">
              <a:noAutofit/>
            </a:bodyPr>
            <a:lstStyle/>
            <a:p>
              <a:pPr lvl="0" algn="l">
                <a:spcBef>
                  <a:spcPts val="0"/>
                </a:spcBef>
                <a:spcAft>
                  <a:spcPts val="0"/>
                </a:spcAft>
                <a:buClrTx/>
                <a:buSzTx/>
                <a:buFontTx/>
                <a:defRPr/>
              </a:pPr>
              <a:endParaRPr kern="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7" name="Google Shape;483;p21"/>
            <p:cNvSpPr/>
            <p:nvPr/>
          </p:nvSpPr>
          <p:spPr>
            <a:xfrm>
              <a:off x="2753774" y="4283095"/>
              <a:ext cx="1549735" cy="1473164"/>
            </a:xfrm>
            <a:custGeom>
              <a:avLst/>
              <a:gdLst/>
              <a:ahLst/>
              <a:cxnLst/>
              <a:rect l="l" t="t" r="r" b="b"/>
              <a:pathLst>
                <a:path w="13378" h="12717" extrusionOk="0">
                  <a:moveTo>
                    <a:pt x="13" y="4987"/>
                  </a:moveTo>
                  <a:lnTo>
                    <a:pt x="0" y="4992"/>
                  </a:lnTo>
                  <a:cubicBezTo>
                    <a:pt x="2670" y="9610"/>
                    <a:pt x="7661" y="12717"/>
                    <a:pt x="13377" y="12717"/>
                  </a:cubicBezTo>
                  <a:lnTo>
                    <a:pt x="13377" y="12717"/>
                  </a:lnTo>
                  <a:lnTo>
                    <a:pt x="13377" y="12705"/>
                  </a:lnTo>
                  <a:lnTo>
                    <a:pt x="13377" y="2731"/>
                  </a:lnTo>
                  <a:cubicBezTo>
                    <a:pt x="11356" y="2731"/>
                    <a:pt x="9594" y="1633"/>
                    <a:pt x="8650" y="1"/>
                  </a:cubicBezTo>
                  <a:lnTo>
                    <a:pt x="8650" y="1"/>
                  </a:lnTo>
                  <a:close/>
                </a:path>
              </a:pathLst>
            </a:custGeom>
            <a:gradFill>
              <a:gsLst>
                <a:gs pos="0">
                  <a:schemeClr val="accent1">
                    <a:lumMod val="60000"/>
                    <a:lumOff val="40000"/>
                  </a:schemeClr>
                </a:gs>
                <a:gs pos="100000">
                  <a:schemeClr val="accent1"/>
                </a:gs>
              </a:gsLst>
              <a:lin ang="5400000" scaled="0"/>
            </a:gradFill>
            <a:ln>
              <a:noFill/>
            </a:ln>
            <a:effectLst/>
          </p:spPr>
          <p:txBody>
            <a:bodyPr vert="horz" wrap="square" lIns="91440" tIns="45720" rIns="91440" bIns="45720" numCol="1" anchor="t" anchorCtr="0" compatLnSpc="1">
              <a:noAutofit/>
            </a:bodyPr>
            <a:lstStyle/>
            <a:p>
              <a:pPr lvl="0" algn="l">
                <a:spcBef>
                  <a:spcPts val="0"/>
                </a:spcBef>
                <a:spcAft>
                  <a:spcPts val="0"/>
                </a:spcAft>
                <a:buClrTx/>
                <a:buSzTx/>
                <a:buFontTx/>
                <a:defRPr/>
              </a:pPr>
              <a:endParaRPr kern="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8" name="Google Shape;484;p21"/>
            <p:cNvSpPr/>
            <p:nvPr/>
          </p:nvSpPr>
          <p:spPr>
            <a:xfrm>
              <a:off x="8486003" y="2996788"/>
              <a:ext cx="1241826" cy="1788602"/>
            </a:xfrm>
            <a:custGeom>
              <a:avLst/>
              <a:gdLst/>
              <a:ahLst/>
              <a:cxnLst/>
              <a:rect l="l" t="t" r="r" b="b"/>
              <a:pathLst>
                <a:path w="10720" h="15440" extrusionOk="0">
                  <a:moveTo>
                    <a:pt x="8645" y="0"/>
                  </a:moveTo>
                  <a:lnTo>
                    <a:pt x="0" y="4996"/>
                  </a:lnTo>
                  <a:cubicBezTo>
                    <a:pt x="466" y="5798"/>
                    <a:pt x="733" y="6729"/>
                    <a:pt x="733" y="7726"/>
                  </a:cubicBezTo>
                  <a:lnTo>
                    <a:pt x="733" y="7726"/>
                  </a:lnTo>
                  <a:cubicBezTo>
                    <a:pt x="733" y="8714"/>
                    <a:pt x="470" y="9646"/>
                    <a:pt x="8" y="10444"/>
                  </a:cubicBezTo>
                  <a:lnTo>
                    <a:pt x="8" y="10444"/>
                  </a:lnTo>
                  <a:lnTo>
                    <a:pt x="8645" y="15435"/>
                  </a:lnTo>
                  <a:lnTo>
                    <a:pt x="8657" y="15439"/>
                  </a:lnTo>
                  <a:cubicBezTo>
                    <a:pt x="9970" y="13171"/>
                    <a:pt x="10719" y="10533"/>
                    <a:pt x="10719" y="7726"/>
                  </a:cubicBezTo>
                  <a:lnTo>
                    <a:pt x="10719" y="7726"/>
                  </a:lnTo>
                  <a:cubicBezTo>
                    <a:pt x="10719" y="4910"/>
                    <a:pt x="9966" y="2273"/>
                    <a:pt x="8649" y="0"/>
                  </a:cubicBezTo>
                  <a:lnTo>
                    <a:pt x="8649" y="0"/>
                  </a:lnTo>
                  <a:close/>
                </a:path>
              </a:pathLst>
            </a:custGeom>
            <a:gradFill>
              <a:gsLst>
                <a:gs pos="0">
                  <a:schemeClr val="accent1">
                    <a:lumMod val="60000"/>
                    <a:lumOff val="40000"/>
                  </a:schemeClr>
                </a:gs>
                <a:gs pos="100000">
                  <a:schemeClr val="accent1"/>
                </a:gs>
              </a:gsLst>
              <a:lin ang="5400000" scaled="0"/>
            </a:gradFill>
            <a:ln>
              <a:noFill/>
            </a:ln>
            <a:effectLst/>
          </p:spPr>
          <p:txBody>
            <a:bodyPr vert="horz" wrap="square" lIns="91440" tIns="45720" rIns="91440" bIns="45720" numCol="1" anchor="t" anchorCtr="0" compatLnSpc="1">
              <a:noAutofit/>
            </a:bodyPr>
            <a:lstStyle/>
            <a:p>
              <a:pPr lvl="0" algn="l">
                <a:spcBef>
                  <a:spcPts val="0"/>
                </a:spcBef>
                <a:spcAft>
                  <a:spcPts val="0"/>
                </a:spcAft>
                <a:buClrTx/>
                <a:buSzTx/>
                <a:buFontTx/>
                <a:defRPr/>
              </a:pPr>
              <a:endParaRPr kern="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09" name="Google Shape;485;p21"/>
            <p:cNvSpPr/>
            <p:nvPr/>
          </p:nvSpPr>
          <p:spPr>
            <a:xfrm>
              <a:off x="7888493" y="4283095"/>
              <a:ext cx="1549735" cy="1473164"/>
            </a:xfrm>
            <a:custGeom>
              <a:avLst/>
              <a:gdLst/>
              <a:ahLst/>
              <a:cxnLst/>
              <a:rect l="l" t="t" r="r" b="b"/>
              <a:pathLst>
                <a:path w="13378" h="12717" extrusionOk="0">
                  <a:moveTo>
                    <a:pt x="1" y="2731"/>
                  </a:moveTo>
                  <a:lnTo>
                    <a:pt x="1" y="12705"/>
                  </a:lnTo>
                  <a:lnTo>
                    <a:pt x="1" y="12717"/>
                  </a:lnTo>
                  <a:cubicBezTo>
                    <a:pt x="5717" y="12717"/>
                    <a:pt x="10708" y="9610"/>
                    <a:pt x="13378" y="4992"/>
                  </a:cubicBezTo>
                  <a:lnTo>
                    <a:pt x="13378" y="4992"/>
                  </a:lnTo>
                  <a:lnTo>
                    <a:pt x="13366" y="4987"/>
                  </a:lnTo>
                  <a:lnTo>
                    <a:pt x="4729" y="1"/>
                  </a:lnTo>
                  <a:cubicBezTo>
                    <a:pt x="3785" y="1633"/>
                    <a:pt x="2022" y="2731"/>
                    <a:pt x="1" y="2731"/>
                  </a:cubicBezTo>
                  <a:close/>
                </a:path>
              </a:pathLst>
            </a:custGeom>
            <a:gradFill>
              <a:gsLst>
                <a:gs pos="0">
                  <a:schemeClr val="accent1">
                    <a:lumMod val="60000"/>
                    <a:lumOff val="40000"/>
                  </a:schemeClr>
                </a:gs>
                <a:gs pos="100000">
                  <a:schemeClr val="accent1"/>
                </a:gs>
              </a:gsLst>
              <a:lin ang="5400000" scaled="0"/>
            </a:gradFill>
            <a:ln>
              <a:noFill/>
            </a:ln>
            <a:effectLst/>
          </p:spPr>
          <p:txBody>
            <a:bodyPr vert="horz" wrap="square" lIns="91440" tIns="45720" rIns="91440" bIns="45720" numCol="1" anchor="t" anchorCtr="0" compatLnSpc="1">
              <a:noAutofit/>
            </a:bodyPr>
            <a:lstStyle/>
            <a:p>
              <a:pPr lvl="0" algn="l">
                <a:spcBef>
                  <a:spcPts val="0"/>
                </a:spcBef>
                <a:spcAft>
                  <a:spcPts val="0"/>
                </a:spcAft>
                <a:buClrTx/>
                <a:buSzTx/>
                <a:buFontTx/>
                <a:defRPr/>
              </a:pPr>
              <a:endParaRPr kern="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10" name="文本框 109"/>
            <p:cNvSpPr txBox="1"/>
            <p:nvPr/>
          </p:nvSpPr>
          <p:spPr>
            <a:xfrm>
              <a:off x="8082673" y="2649038"/>
              <a:ext cx="83926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98%</a:t>
              </a:r>
              <a:endParaRPr kumimoji="0" lang="en-US" altLang="zh-CN"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1" name="文本框 110"/>
            <p:cNvSpPr txBox="1"/>
            <p:nvPr/>
          </p:nvSpPr>
          <p:spPr>
            <a:xfrm>
              <a:off x="7966278" y="2858244"/>
              <a:ext cx="1072050"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准确度</a:t>
              </a:r>
              <a:endParaRPr kumimoji="0" lang="zh-CN" altLang="en-US" sz="8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2" name="Freeform 54"/>
            <p:cNvSpPr>
              <a:spLocks noEditPoints="1"/>
            </p:cNvSpPr>
            <p:nvPr/>
          </p:nvSpPr>
          <p:spPr bwMode="auto">
            <a:xfrm>
              <a:off x="3571848" y="2442874"/>
              <a:ext cx="267605" cy="198429"/>
            </a:xfrm>
            <a:custGeom>
              <a:avLst/>
              <a:gdLst/>
              <a:ahLst/>
              <a:cxnLst>
                <a:cxn ang="0">
                  <a:pos x="55" y="50"/>
                </a:cxn>
                <a:cxn ang="0">
                  <a:pos x="16" y="50"/>
                </a:cxn>
                <a:cxn ang="0">
                  <a:pos x="0" y="34"/>
                </a:cxn>
                <a:cxn ang="0">
                  <a:pos x="9" y="20"/>
                </a:cxn>
                <a:cxn ang="0">
                  <a:pos x="9" y="18"/>
                </a:cxn>
                <a:cxn ang="0">
                  <a:pos x="27" y="0"/>
                </a:cxn>
                <a:cxn ang="0">
                  <a:pos x="44" y="11"/>
                </a:cxn>
                <a:cxn ang="0">
                  <a:pos x="50" y="9"/>
                </a:cxn>
                <a:cxn ang="0">
                  <a:pos x="59" y="18"/>
                </a:cxn>
                <a:cxn ang="0">
                  <a:pos x="58" y="23"/>
                </a:cxn>
                <a:cxn ang="0">
                  <a:pos x="68" y="36"/>
                </a:cxn>
                <a:cxn ang="0">
                  <a:pos x="55" y="50"/>
                </a:cxn>
                <a:cxn ang="0">
                  <a:pos x="45" y="25"/>
                </a:cxn>
                <a:cxn ang="0">
                  <a:pos x="33" y="13"/>
                </a:cxn>
                <a:cxn ang="0">
                  <a:pos x="32" y="12"/>
                </a:cxn>
                <a:cxn ang="0">
                  <a:pos x="31" y="13"/>
                </a:cxn>
                <a:cxn ang="0">
                  <a:pos x="18" y="25"/>
                </a:cxn>
                <a:cxn ang="0">
                  <a:pos x="18" y="26"/>
                </a:cxn>
                <a:cxn ang="0">
                  <a:pos x="19" y="27"/>
                </a:cxn>
                <a:cxn ang="0">
                  <a:pos x="27" y="27"/>
                </a:cxn>
                <a:cxn ang="0">
                  <a:pos x="27" y="40"/>
                </a:cxn>
                <a:cxn ang="0">
                  <a:pos x="28" y="41"/>
                </a:cxn>
                <a:cxn ang="0">
                  <a:pos x="35" y="41"/>
                </a:cxn>
                <a:cxn ang="0">
                  <a:pos x="36" y="40"/>
                </a:cxn>
                <a:cxn ang="0">
                  <a:pos x="36" y="27"/>
                </a:cxn>
                <a:cxn ang="0">
                  <a:pos x="44" y="27"/>
                </a:cxn>
                <a:cxn ang="0">
                  <a:pos x="45" y="26"/>
                </a:cxn>
                <a:cxn ang="0">
                  <a:pos x="45" y="25"/>
                </a:cxn>
              </a:cxnLst>
              <a:rect l="0" t="0" r="r" b="b"/>
              <a:pathLst>
                <a:path w="68" h="50">
                  <a:moveTo>
                    <a:pt x="55" y="50"/>
                  </a:moveTo>
                  <a:cubicBezTo>
                    <a:pt x="16" y="50"/>
                    <a:pt x="16" y="50"/>
                    <a:pt x="16" y="50"/>
                  </a:cubicBezTo>
                  <a:cubicBezTo>
                    <a:pt x="7" y="50"/>
                    <a:pt x="0" y="43"/>
                    <a:pt x="0" y="34"/>
                  </a:cubicBezTo>
                  <a:cubicBezTo>
                    <a:pt x="0" y="28"/>
                    <a:pt x="3" y="22"/>
                    <a:pt x="9" y="20"/>
                  </a:cubicBezTo>
                  <a:cubicBezTo>
                    <a:pt x="9" y="19"/>
                    <a:pt x="9" y="19"/>
                    <a:pt x="9" y="18"/>
                  </a:cubicBezTo>
                  <a:cubicBezTo>
                    <a:pt x="9" y="8"/>
                    <a:pt x="17" y="0"/>
                    <a:pt x="27" y="0"/>
                  </a:cubicBezTo>
                  <a:cubicBezTo>
                    <a:pt x="35" y="0"/>
                    <a:pt x="41" y="4"/>
                    <a:pt x="44" y="11"/>
                  </a:cubicBezTo>
                  <a:cubicBezTo>
                    <a:pt x="46" y="10"/>
                    <a:pt x="48" y="9"/>
                    <a:pt x="50" y="9"/>
                  </a:cubicBezTo>
                  <a:cubicBezTo>
                    <a:pt x="55" y="9"/>
                    <a:pt x="59" y="13"/>
                    <a:pt x="59" y="18"/>
                  </a:cubicBezTo>
                  <a:cubicBezTo>
                    <a:pt x="59" y="20"/>
                    <a:pt x="59" y="22"/>
                    <a:pt x="58" y="23"/>
                  </a:cubicBezTo>
                  <a:cubicBezTo>
                    <a:pt x="64" y="25"/>
                    <a:pt x="68" y="30"/>
                    <a:pt x="68" y="36"/>
                  </a:cubicBezTo>
                  <a:cubicBezTo>
                    <a:pt x="68" y="44"/>
                    <a:pt x="62" y="50"/>
                    <a:pt x="55" y="50"/>
                  </a:cubicBezTo>
                  <a:close/>
                  <a:moveTo>
                    <a:pt x="45" y="25"/>
                  </a:moveTo>
                  <a:cubicBezTo>
                    <a:pt x="33" y="13"/>
                    <a:pt x="33" y="13"/>
                    <a:pt x="33" y="13"/>
                  </a:cubicBezTo>
                  <a:cubicBezTo>
                    <a:pt x="32" y="13"/>
                    <a:pt x="32" y="12"/>
                    <a:pt x="32" y="12"/>
                  </a:cubicBezTo>
                  <a:cubicBezTo>
                    <a:pt x="31" y="12"/>
                    <a:pt x="31" y="13"/>
                    <a:pt x="31" y="13"/>
                  </a:cubicBezTo>
                  <a:cubicBezTo>
                    <a:pt x="18" y="25"/>
                    <a:pt x="18" y="25"/>
                    <a:pt x="18" y="25"/>
                  </a:cubicBezTo>
                  <a:cubicBezTo>
                    <a:pt x="18" y="26"/>
                    <a:pt x="18" y="26"/>
                    <a:pt x="18" y="26"/>
                  </a:cubicBezTo>
                  <a:cubicBezTo>
                    <a:pt x="18" y="27"/>
                    <a:pt x="19" y="27"/>
                    <a:pt x="19" y="27"/>
                  </a:cubicBezTo>
                  <a:cubicBezTo>
                    <a:pt x="27" y="27"/>
                    <a:pt x="27" y="27"/>
                    <a:pt x="27" y="27"/>
                  </a:cubicBezTo>
                  <a:cubicBezTo>
                    <a:pt x="27" y="40"/>
                    <a:pt x="27" y="40"/>
                    <a:pt x="27" y="40"/>
                  </a:cubicBezTo>
                  <a:cubicBezTo>
                    <a:pt x="27" y="41"/>
                    <a:pt x="28" y="41"/>
                    <a:pt x="28" y="41"/>
                  </a:cubicBezTo>
                  <a:cubicBezTo>
                    <a:pt x="35" y="41"/>
                    <a:pt x="35" y="41"/>
                    <a:pt x="35" y="41"/>
                  </a:cubicBezTo>
                  <a:cubicBezTo>
                    <a:pt x="36" y="41"/>
                    <a:pt x="36" y="41"/>
                    <a:pt x="36" y="40"/>
                  </a:cubicBezTo>
                  <a:cubicBezTo>
                    <a:pt x="36" y="27"/>
                    <a:pt x="36" y="27"/>
                    <a:pt x="36" y="27"/>
                  </a:cubicBezTo>
                  <a:cubicBezTo>
                    <a:pt x="44" y="27"/>
                    <a:pt x="44" y="27"/>
                    <a:pt x="44" y="27"/>
                  </a:cubicBezTo>
                  <a:cubicBezTo>
                    <a:pt x="45" y="27"/>
                    <a:pt x="45" y="27"/>
                    <a:pt x="45" y="26"/>
                  </a:cubicBezTo>
                  <a:cubicBezTo>
                    <a:pt x="45" y="26"/>
                    <a:pt x="45" y="26"/>
                    <a:pt x="45" y="25"/>
                  </a:cubicBez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3" name="Freeform 56"/>
            <p:cNvSpPr>
              <a:spLocks noEditPoints="1"/>
            </p:cNvSpPr>
            <p:nvPr/>
          </p:nvSpPr>
          <p:spPr bwMode="auto">
            <a:xfrm>
              <a:off x="8375783" y="2375596"/>
              <a:ext cx="253043" cy="253043"/>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4" name="Freeform 71"/>
            <p:cNvSpPr>
              <a:spLocks noEditPoints="1"/>
            </p:cNvSpPr>
            <p:nvPr/>
          </p:nvSpPr>
          <p:spPr bwMode="auto">
            <a:xfrm>
              <a:off x="2896629" y="3581432"/>
              <a:ext cx="231197" cy="216634"/>
            </a:xfrm>
            <a:custGeom>
              <a:avLst/>
              <a:gdLst/>
              <a:ahLst/>
              <a:cxnLst>
                <a:cxn ang="0">
                  <a:pos x="65" y="22"/>
                </a:cxn>
                <a:cxn ang="0">
                  <a:pos x="26" y="45"/>
                </a:cxn>
                <a:cxn ang="0">
                  <a:pos x="0" y="26"/>
                </a:cxn>
                <a:cxn ang="0">
                  <a:pos x="39" y="0"/>
                </a:cxn>
                <a:cxn ang="0">
                  <a:pos x="65" y="22"/>
                </a:cxn>
                <a:cxn ang="0">
                  <a:pos x="65" y="69"/>
                </a:cxn>
                <a:cxn ang="0">
                  <a:pos x="39" y="91"/>
                </a:cxn>
                <a:cxn ang="0">
                  <a:pos x="0" y="67"/>
                </a:cxn>
                <a:cxn ang="0">
                  <a:pos x="26" y="45"/>
                </a:cxn>
                <a:cxn ang="0">
                  <a:pos x="65" y="69"/>
                </a:cxn>
                <a:cxn ang="0">
                  <a:pos x="101" y="97"/>
                </a:cxn>
                <a:cxn ang="0">
                  <a:pos x="65" y="119"/>
                </a:cxn>
                <a:cxn ang="0">
                  <a:pos x="65" y="119"/>
                </a:cxn>
                <a:cxn ang="0">
                  <a:pos x="65" y="119"/>
                </a:cxn>
                <a:cxn ang="0">
                  <a:pos x="65" y="119"/>
                </a:cxn>
                <a:cxn ang="0">
                  <a:pos x="65" y="119"/>
                </a:cxn>
                <a:cxn ang="0">
                  <a:pos x="26" y="97"/>
                </a:cxn>
                <a:cxn ang="0">
                  <a:pos x="26" y="89"/>
                </a:cxn>
                <a:cxn ang="0">
                  <a:pos x="39" y="95"/>
                </a:cxn>
                <a:cxn ang="0">
                  <a:pos x="65" y="74"/>
                </a:cxn>
                <a:cxn ang="0">
                  <a:pos x="65" y="74"/>
                </a:cxn>
                <a:cxn ang="0">
                  <a:pos x="65" y="74"/>
                </a:cxn>
                <a:cxn ang="0">
                  <a:pos x="65" y="74"/>
                </a:cxn>
                <a:cxn ang="0">
                  <a:pos x="65" y="74"/>
                </a:cxn>
                <a:cxn ang="0">
                  <a:pos x="91" y="95"/>
                </a:cxn>
                <a:cxn ang="0">
                  <a:pos x="101" y="89"/>
                </a:cxn>
                <a:cxn ang="0">
                  <a:pos x="101" y="97"/>
                </a:cxn>
                <a:cxn ang="0">
                  <a:pos x="127" y="26"/>
                </a:cxn>
                <a:cxn ang="0">
                  <a:pos x="101" y="45"/>
                </a:cxn>
                <a:cxn ang="0">
                  <a:pos x="65" y="22"/>
                </a:cxn>
                <a:cxn ang="0">
                  <a:pos x="91" y="0"/>
                </a:cxn>
                <a:cxn ang="0">
                  <a:pos x="127" y="26"/>
                </a:cxn>
                <a:cxn ang="0">
                  <a:pos x="127" y="67"/>
                </a:cxn>
                <a:cxn ang="0">
                  <a:pos x="91" y="91"/>
                </a:cxn>
                <a:cxn ang="0">
                  <a:pos x="65" y="69"/>
                </a:cxn>
                <a:cxn ang="0">
                  <a:pos x="101" y="45"/>
                </a:cxn>
                <a:cxn ang="0">
                  <a:pos x="127" y="67"/>
                </a:cxn>
              </a:cxnLst>
              <a:rect l="0" t="0" r="r" b="b"/>
              <a:pathLst>
                <a:path w="127" h="119">
                  <a:moveTo>
                    <a:pt x="65" y="22"/>
                  </a:moveTo>
                  <a:lnTo>
                    <a:pt x="26" y="45"/>
                  </a:lnTo>
                  <a:lnTo>
                    <a:pt x="0" y="26"/>
                  </a:lnTo>
                  <a:lnTo>
                    <a:pt x="39" y="0"/>
                  </a:lnTo>
                  <a:lnTo>
                    <a:pt x="65" y="22"/>
                  </a:lnTo>
                  <a:close/>
                  <a:moveTo>
                    <a:pt x="65" y="69"/>
                  </a:moveTo>
                  <a:lnTo>
                    <a:pt x="39" y="91"/>
                  </a:lnTo>
                  <a:lnTo>
                    <a:pt x="0" y="67"/>
                  </a:lnTo>
                  <a:lnTo>
                    <a:pt x="26" y="45"/>
                  </a:lnTo>
                  <a:lnTo>
                    <a:pt x="65" y="69"/>
                  </a:lnTo>
                  <a:close/>
                  <a:moveTo>
                    <a:pt x="101" y="97"/>
                  </a:moveTo>
                  <a:lnTo>
                    <a:pt x="65" y="119"/>
                  </a:lnTo>
                  <a:lnTo>
                    <a:pt x="65" y="119"/>
                  </a:lnTo>
                  <a:lnTo>
                    <a:pt x="65" y="119"/>
                  </a:lnTo>
                  <a:lnTo>
                    <a:pt x="65" y="119"/>
                  </a:lnTo>
                  <a:lnTo>
                    <a:pt x="65" y="119"/>
                  </a:lnTo>
                  <a:lnTo>
                    <a:pt x="26" y="97"/>
                  </a:lnTo>
                  <a:lnTo>
                    <a:pt x="26" y="89"/>
                  </a:lnTo>
                  <a:lnTo>
                    <a:pt x="39" y="95"/>
                  </a:lnTo>
                  <a:lnTo>
                    <a:pt x="65" y="74"/>
                  </a:lnTo>
                  <a:lnTo>
                    <a:pt x="65" y="74"/>
                  </a:lnTo>
                  <a:lnTo>
                    <a:pt x="65" y="74"/>
                  </a:lnTo>
                  <a:lnTo>
                    <a:pt x="65" y="74"/>
                  </a:lnTo>
                  <a:lnTo>
                    <a:pt x="65" y="74"/>
                  </a:lnTo>
                  <a:lnTo>
                    <a:pt x="91" y="95"/>
                  </a:lnTo>
                  <a:lnTo>
                    <a:pt x="101" y="89"/>
                  </a:lnTo>
                  <a:lnTo>
                    <a:pt x="101" y="97"/>
                  </a:lnTo>
                  <a:close/>
                  <a:moveTo>
                    <a:pt x="127" y="26"/>
                  </a:moveTo>
                  <a:lnTo>
                    <a:pt x="101" y="45"/>
                  </a:lnTo>
                  <a:lnTo>
                    <a:pt x="65" y="22"/>
                  </a:lnTo>
                  <a:lnTo>
                    <a:pt x="91" y="0"/>
                  </a:lnTo>
                  <a:lnTo>
                    <a:pt x="127" y="26"/>
                  </a:lnTo>
                  <a:close/>
                  <a:moveTo>
                    <a:pt x="127" y="67"/>
                  </a:moveTo>
                  <a:lnTo>
                    <a:pt x="91" y="91"/>
                  </a:lnTo>
                  <a:lnTo>
                    <a:pt x="65" y="69"/>
                  </a:lnTo>
                  <a:lnTo>
                    <a:pt x="101" y="45"/>
                  </a:lnTo>
                  <a:lnTo>
                    <a:pt x="127" y="67"/>
                  </a:ln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5" name="Freeform 111"/>
            <p:cNvSpPr>
              <a:spLocks noEditPoints="1"/>
            </p:cNvSpPr>
            <p:nvPr/>
          </p:nvSpPr>
          <p:spPr bwMode="auto">
            <a:xfrm>
              <a:off x="3555741" y="4751681"/>
              <a:ext cx="287630" cy="198429"/>
            </a:xfrm>
            <a:custGeom>
              <a:avLst/>
              <a:gdLst/>
              <a:ahLst/>
              <a:cxnLst>
                <a:cxn ang="0">
                  <a:pos x="73" y="36"/>
                </a:cxn>
                <a:cxn ang="0">
                  <a:pos x="58" y="50"/>
                </a:cxn>
                <a:cxn ang="0">
                  <a:pos x="58" y="50"/>
                </a:cxn>
                <a:cxn ang="0">
                  <a:pos x="15" y="50"/>
                </a:cxn>
                <a:cxn ang="0">
                  <a:pos x="15" y="50"/>
                </a:cxn>
                <a:cxn ang="0">
                  <a:pos x="14" y="50"/>
                </a:cxn>
                <a:cxn ang="0">
                  <a:pos x="14" y="50"/>
                </a:cxn>
                <a:cxn ang="0">
                  <a:pos x="0" y="35"/>
                </a:cxn>
                <a:cxn ang="0">
                  <a:pos x="7" y="23"/>
                </a:cxn>
                <a:cxn ang="0">
                  <a:pos x="7" y="20"/>
                </a:cxn>
                <a:cxn ang="0">
                  <a:pos x="17" y="10"/>
                </a:cxn>
                <a:cxn ang="0">
                  <a:pos x="23" y="12"/>
                </a:cxn>
                <a:cxn ang="0">
                  <a:pos x="42" y="0"/>
                </a:cxn>
                <a:cxn ang="0">
                  <a:pos x="64" y="21"/>
                </a:cxn>
                <a:cxn ang="0">
                  <a:pos x="64" y="23"/>
                </a:cxn>
                <a:cxn ang="0">
                  <a:pos x="73" y="36"/>
                </a:cxn>
                <a:cxn ang="0">
                  <a:pos x="27" y="42"/>
                </a:cxn>
                <a:cxn ang="0">
                  <a:pos x="35" y="38"/>
                </a:cxn>
                <a:cxn ang="0">
                  <a:pos x="32" y="34"/>
                </a:cxn>
                <a:cxn ang="0">
                  <a:pos x="27" y="37"/>
                </a:cxn>
                <a:cxn ang="0">
                  <a:pos x="22" y="32"/>
                </a:cxn>
                <a:cxn ang="0">
                  <a:pos x="27" y="28"/>
                </a:cxn>
                <a:cxn ang="0">
                  <a:pos x="48" y="42"/>
                </a:cxn>
                <a:cxn ang="0">
                  <a:pos x="58" y="32"/>
                </a:cxn>
                <a:cxn ang="0">
                  <a:pos x="48" y="23"/>
                </a:cxn>
                <a:cxn ang="0">
                  <a:pos x="39" y="26"/>
                </a:cxn>
                <a:cxn ang="0">
                  <a:pos x="43" y="30"/>
                </a:cxn>
                <a:cxn ang="0">
                  <a:pos x="48" y="28"/>
                </a:cxn>
                <a:cxn ang="0">
                  <a:pos x="52" y="32"/>
                </a:cxn>
                <a:cxn ang="0">
                  <a:pos x="48" y="37"/>
                </a:cxn>
                <a:cxn ang="0">
                  <a:pos x="27" y="23"/>
                </a:cxn>
                <a:cxn ang="0">
                  <a:pos x="16" y="32"/>
                </a:cxn>
                <a:cxn ang="0">
                  <a:pos x="27" y="42"/>
                </a:cxn>
              </a:cxnLst>
              <a:rect l="0" t="0" r="r" b="b"/>
              <a:pathLst>
                <a:path w="73" h="50">
                  <a:moveTo>
                    <a:pt x="73" y="36"/>
                  </a:moveTo>
                  <a:cubicBezTo>
                    <a:pt x="73" y="44"/>
                    <a:pt x="66" y="50"/>
                    <a:pt x="58" y="50"/>
                  </a:cubicBezTo>
                  <a:cubicBezTo>
                    <a:pt x="58" y="50"/>
                    <a:pt x="58" y="50"/>
                    <a:pt x="58" y="50"/>
                  </a:cubicBezTo>
                  <a:cubicBezTo>
                    <a:pt x="15" y="50"/>
                    <a:pt x="15" y="50"/>
                    <a:pt x="15" y="50"/>
                  </a:cubicBezTo>
                  <a:cubicBezTo>
                    <a:pt x="15" y="50"/>
                    <a:pt x="15" y="50"/>
                    <a:pt x="15" y="50"/>
                  </a:cubicBezTo>
                  <a:cubicBezTo>
                    <a:pt x="14" y="50"/>
                    <a:pt x="14" y="50"/>
                    <a:pt x="14" y="50"/>
                  </a:cubicBezTo>
                  <a:cubicBezTo>
                    <a:pt x="14" y="50"/>
                    <a:pt x="14" y="50"/>
                    <a:pt x="14" y="50"/>
                  </a:cubicBezTo>
                  <a:cubicBezTo>
                    <a:pt x="6" y="50"/>
                    <a:pt x="0" y="43"/>
                    <a:pt x="0" y="35"/>
                  </a:cubicBezTo>
                  <a:cubicBezTo>
                    <a:pt x="0" y="30"/>
                    <a:pt x="3" y="26"/>
                    <a:pt x="7" y="23"/>
                  </a:cubicBezTo>
                  <a:cubicBezTo>
                    <a:pt x="7" y="22"/>
                    <a:pt x="7" y="21"/>
                    <a:pt x="7" y="20"/>
                  </a:cubicBezTo>
                  <a:cubicBezTo>
                    <a:pt x="7" y="15"/>
                    <a:pt x="11" y="10"/>
                    <a:pt x="17" y="10"/>
                  </a:cubicBezTo>
                  <a:cubicBezTo>
                    <a:pt x="19" y="10"/>
                    <a:pt x="21" y="11"/>
                    <a:pt x="23" y="12"/>
                  </a:cubicBezTo>
                  <a:cubicBezTo>
                    <a:pt x="26" y="5"/>
                    <a:pt x="34" y="0"/>
                    <a:pt x="42" y="0"/>
                  </a:cubicBezTo>
                  <a:cubicBezTo>
                    <a:pt x="54" y="0"/>
                    <a:pt x="64" y="10"/>
                    <a:pt x="64" y="21"/>
                  </a:cubicBezTo>
                  <a:cubicBezTo>
                    <a:pt x="64" y="22"/>
                    <a:pt x="64" y="22"/>
                    <a:pt x="64" y="23"/>
                  </a:cubicBezTo>
                  <a:cubicBezTo>
                    <a:pt x="69" y="25"/>
                    <a:pt x="73" y="30"/>
                    <a:pt x="73" y="36"/>
                  </a:cubicBezTo>
                  <a:close/>
                  <a:moveTo>
                    <a:pt x="27" y="42"/>
                  </a:moveTo>
                  <a:cubicBezTo>
                    <a:pt x="30" y="42"/>
                    <a:pt x="33" y="41"/>
                    <a:pt x="35" y="38"/>
                  </a:cubicBezTo>
                  <a:cubicBezTo>
                    <a:pt x="34" y="37"/>
                    <a:pt x="33" y="36"/>
                    <a:pt x="32" y="34"/>
                  </a:cubicBezTo>
                  <a:cubicBezTo>
                    <a:pt x="31" y="36"/>
                    <a:pt x="29" y="37"/>
                    <a:pt x="27" y="37"/>
                  </a:cubicBezTo>
                  <a:cubicBezTo>
                    <a:pt x="25" y="37"/>
                    <a:pt x="22" y="35"/>
                    <a:pt x="22" y="32"/>
                  </a:cubicBezTo>
                  <a:cubicBezTo>
                    <a:pt x="22" y="30"/>
                    <a:pt x="25" y="28"/>
                    <a:pt x="27" y="28"/>
                  </a:cubicBezTo>
                  <a:cubicBezTo>
                    <a:pt x="35" y="28"/>
                    <a:pt x="37" y="42"/>
                    <a:pt x="48" y="42"/>
                  </a:cubicBezTo>
                  <a:cubicBezTo>
                    <a:pt x="54" y="42"/>
                    <a:pt x="58" y="38"/>
                    <a:pt x="58" y="32"/>
                  </a:cubicBezTo>
                  <a:cubicBezTo>
                    <a:pt x="58" y="26"/>
                    <a:pt x="53" y="23"/>
                    <a:pt x="48" y="23"/>
                  </a:cubicBezTo>
                  <a:cubicBezTo>
                    <a:pt x="44" y="23"/>
                    <a:pt x="42" y="24"/>
                    <a:pt x="39" y="26"/>
                  </a:cubicBezTo>
                  <a:cubicBezTo>
                    <a:pt x="40" y="28"/>
                    <a:pt x="41" y="29"/>
                    <a:pt x="43" y="30"/>
                  </a:cubicBezTo>
                  <a:cubicBezTo>
                    <a:pt x="44" y="29"/>
                    <a:pt x="46" y="28"/>
                    <a:pt x="48" y="28"/>
                  </a:cubicBezTo>
                  <a:cubicBezTo>
                    <a:pt x="50" y="28"/>
                    <a:pt x="52" y="30"/>
                    <a:pt x="52" y="32"/>
                  </a:cubicBezTo>
                  <a:cubicBezTo>
                    <a:pt x="52" y="35"/>
                    <a:pt x="50" y="37"/>
                    <a:pt x="48" y="37"/>
                  </a:cubicBezTo>
                  <a:cubicBezTo>
                    <a:pt x="40" y="37"/>
                    <a:pt x="38" y="23"/>
                    <a:pt x="27" y="23"/>
                  </a:cubicBezTo>
                  <a:cubicBezTo>
                    <a:pt x="21" y="23"/>
                    <a:pt x="16" y="26"/>
                    <a:pt x="16" y="32"/>
                  </a:cubicBezTo>
                  <a:cubicBezTo>
                    <a:pt x="16" y="38"/>
                    <a:pt x="21" y="42"/>
                    <a:pt x="27" y="42"/>
                  </a:cubicBez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6" name="Freeform 136"/>
            <p:cNvSpPr>
              <a:spLocks noEditPoints="1"/>
            </p:cNvSpPr>
            <p:nvPr/>
          </p:nvSpPr>
          <p:spPr bwMode="auto">
            <a:xfrm>
              <a:off x="8328578" y="4732806"/>
              <a:ext cx="251221" cy="225735"/>
            </a:xfrm>
            <a:custGeom>
              <a:avLst/>
              <a:gdLst/>
              <a:ahLst/>
              <a:cxnLst>
                <a:cxn ang="0">
                  <a:pos x="23" y="39"/>
                </a:cxn>
                <a:cxn ang="0">
                  <a:pos x="21" y="41"/>
                </a:cxn>
                <a:cxn ang="0">
                  <a:pos x="20" y="41"/>
                </a:cxn>
                <a:cxn ang="0">
                  <a:pos x="19" y="40"/>
                </a:cxn>
                <a:cxn ang="0">
                  <a:pos x="0" y="22"/>
                </a:cxn>
                <a:cxn ang="0">
                  <a:pos x="0" y="19"/>
                </a:cxn>
                <a:cxn ang="0">
                  <a:pos x="19" y="1"/>
                </a:cxn>
                <a:cxn ang="0">
                  <a:pos x="21" y="0"/>
                </a:cxn>
                <a:cxn ang="0">
                  <a:pos x="23" y="2"/>
                </a:cxn>
                <a:cxn ang="0">
                  <a:pos x="23" y="5"/>
                </a:cxn>
                <a:cxn ang="0">
                  <a:pos x="8" y="19"/>
                </a:cxn>
                <a:cxn ang="0">
                  <a:pos x="8" y="22"/>
                </a:cxn>
                <a:cxn ang="0">
                  <a:pos x="23" y="36"/>
                </a:cxn>
                <a:cxn ang="0">
                  <a:pos x="23" y="39"/>
                </a:cxn>
                <a:cxn ang="0">
                  <a:pos x="58" y="57"/>
                </a:cxn>
                <a:cxn ang="0">
                  <a:pos x="57" y="57"/>
                </a:cxn>
                <a:cxn ang="0">
                  <a:pos x="57" y="57"/>
                </a:cxn>
                <a:cxn ang="0">
                  <a:pos x="56" y="56"/>
                </a:cxn>
                <a:cxn ang="0">
                  <a:pos x="52" y="36"/>
                </a:cxn>
                <a:cxn ang="0">
                  <a:pos x="36" y="30"/>
                </a:cxn>
                <a:cxn ang="0">
                  <a:pos x="36" y="39"/>
                </a:cxn>
                <a:cxn ang="0">
                  <a:pos x="35" y="41"/>
                </a:cxn>
                <a:cxn ang="0">
                  <a:pos x="34" y="41"/>
                </a:cxn>
                <a:cxn ang="0">
                  <a:pos x="32" y="40"/>
                </a:cxn>
                <a:cxn ang="0">
                  <a:pos x="14" y="22"/>
                </a:cxn>
                <a:cxn ang="0">
                  <a:pos x="14" y="19"/>
                </a:cxn>
                <a:cxn ang="0">
                  <a:pos x="32" y="1"/>
                </a:cxn>
                <a:cxn ang="0">
                  <a:pos x="35" y="0"/>
                </a:cxn>
                <a:cxn ang="0">
                  <a:pos x="36" y="2"/>
                </a:cxn>
                <a:cxn ang="0">
                  <a:pos x="36" y="12"/>
                </a:cxn>
                <a:cxn ang="0">
                  <a:pos x="58" y="20"/>
                </a:cxn>
                <a:cxn ang="0">
                  <a:pos x="64" y="38"/>
                </a:cxn>
                <a:cxn ang="0">
                  <a:pos x="58" y="57"/>
                </a:cxn>
              </a:cxnLst>
              <a:rect l="0" t="0" r="r" b="b"/>
              <a:pathLst>
                <a:path w="64" h="57">
                  <a:moveTo>
                    <a:pt x="23" y="39"/>
                  </a:moveTo>
                  <a:cubicBezTo>
                    <a:pt x="23" y="40"/>
                    <a:pt x="22" y="41"/>
                    <a:pt x="21" y="41"/>
                  </a:cubicBezTo>
                  <a:cubicBezTo>
                    <a:pt x="21" y="41"/>
                    <a:pt x="21" y="41"/>
                    <a:pt x="20" y="41"/>
                  </a:cubicBezTo>
                  <a:cubicBezTo>
                    <a:pt x="20" y="41"/>
                    <a:pt x="19" y="41"/>
                    <a:pt x="19" y="40"/>
                  </a:cubicBezTo>
                  <a:cubicBezTo>
                    <a:pt x="0" y="22"/>
                    <a:pt x="0" y="22"/>
                    <a:pt x="0" y="22"/>
                  </a:cubicBezTo>
                  <a:cubicBezTo>
                    <a:pt x="0" y="21"/>
                    <a:pt x="0" y="20"/>
                    <a:pt x="0" y="19"/>
                  </a:cubicBezTo>
                  <a:cubicBezTo>
                    <a:pt x="19" y="1"/>
                    <a:pt x="19" y="1"/>
                    <a:pt x="19" y="1"/>
                  </a:cubicBezTo>
                  <a:cubicBezTo>
                    <a:pt x="19" y="0"/>
                    <a:pt x="20" y="0"/>
                    <a:pt x="21" y="0"/>
                  </a:cubicBezTo>
                  <a:cubicBezTo>
                    <a:pt x="22" y="1"/>
                    <a:pt x="23" y="1"/>
                    <a:pt x="23" y="2"/>
                  </a:cubicBezTo>
                  <a:cubicBezTo>
                    <a:pt x="23" y="5"/>
                    <a:pt x="23" y="5"/>
                    <a:pt x="23" y="5"/>
                  </a:cubicBezTo>
                  <a:cubicBezTo>
                    <a:pt x="8" y="19"/>
                    <a:pt x="8" y="19"/>
                    <a:pt x="8" y="19"/>
                  </a:cubicBezTo>
                  <a:cubicBezTo>
                    <a:pt x="8" y="20"/>
                    <a:pt x="8" y="21"/>
                    <a:pt x="8" y="22"/>
                  </a:cubicBezTo>
                  <a:cubicBezTo>
                    <a:pt x="23" y="36"/>
                    <a:pt x="23" y="36"/>
                    <a:pt x="23" y="36"/>
                  </a:cubicBezTo>
                  <a:lnTo>
                    <a:pt x="23" y="39"/>
                  </a:lnTo>
                  <a:close/>
                  <a:moveTo>
                    <a:pt x="58" y="57"/>
                  </a:moveTo>
                  <a:cubicBezTo>
                    <a:pt x="58" y="57"/>
                    <a:pt x="57" y="57"/>
                    <a:pt x="57" y="57"/>
                  </a:cubicBezTo>
                  <a:cubicBezTo>
                    <a:pt x="57" y="57"/>
                    <a:pt x="57" y="57"/>
                    <a:pt x="57" y="57"/>
                  </a:cubicBezTo>
                  <a:cubicBezTo>
                    <a:pt x="56" y="57"/>
                    <a:pt x="56" y="56"/>
                    <a:pt x="56" y="56"/>
                  </a:cubicBezTo>
                  <a:cubicBezTo>
                    <a:pt x="57" y="46"/>
                    <a:pt x="56" y="40"/>
                    <a:pt x="52" y="36"/>
                  </a:cubicBezTo>
                  <a:cubicBezTo>
                    <a:pt x="49" y="32"/>
                    <a:pt x="44" y="31"/>
                    <a:pt x="36" y="30"/>
                  </a:cubicBezTo>
                  <a:cubicBezTo>
                    <a:pt x="36" y="39"/>
                    <a:pt x="36" y="39"/>
                    <a:pt x="36" y="39"/>
                  </a:cubicBezTo>
                  <a:cubicBezTo>
                    <a:pt x="36" y="40"/>
                    <a:pt x="36" y="41"/>
                    <a:pt x="35" y="41"/>
                  </a:cubicBezTo>
                  <a:cubicBezTo>
                    <a:pt x="35" y="41"/>
                    <a:pt x="34" y="41"/>
                    <a:pt x="34" y="41"/>
                  </a:cubicBezTo>
                  <a:cubicBezTo>
                    <a:pt x="33" y="41"/>
                    <a:pt x="33" y="41"/>
                    <a:pt x="32" y="40"/>
                  </a:cubicBezTo>
                  <a:cubicBezTo>
                    <a:pt x="14" y="22"/>
                    <a:pt x="14" y="22"/>
                    <a:pt x="14" y="22"/>
                  </a:cubicBezTo>
                  <a:cubicBezTo>
                    <a:pt x="13" y="21"/>
                    <a:pt x="13" y="20"/>
                    <a:pt x="14" y="19"/>
                  </a:cubicBezTo>
                  <a:cubicBezTo>
                    <a:pt x="32" y="1"/>
                    <a:pt x="32" y="1"/>
                    <a:pt x="32" y="1"/>
                  </a:cubicBezTo>
                  <a:cubicBezTo>
                    <a:pt x="33" y="0"/>
                    <a:pt x="34" y="0"/>
                    <a:pt x="35" y="0"/>
                  </a:cubicBezTo>
                  <a:cubicBezTo>
                    <a:pt x="36" y="1"/>
                    <a:pt x="36" y="1"/>
                    <a:pt x="36" y="2"/>
                  </a:cubicBezTo>
                  <a:cubicBezTo>
                    <a:pt x="36" y="12"/>
                    <a:pt x="36" y="12"/>
                    <a:pt x="36" y="12"/>
                  </a:cubicBezTo>
                  <a:cubicBezTo>
                    <a:pt x="46" y="12"/>
                    <a:pt x="53" y="15"/>
                    <a:pt x="58" y="20"/>
                  </a:cubicBezTo>
                  <a:cubicBezTo>
                    <a:pt x="63" y="25"/>
                    <a:pt x="64" y="33"/>
                    <a:pt x="64" y="38"/>
                  </a:cubicBezTo>
                  <a:cubicBezTo>
                    <a:pt x="64" y="45"/>
                    <a:pt x="58" y="56"/>
                    <a:pt x="58" y="57"/>
                  </a:cubicBez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7" name="文本框 116"/>
            <p:cNvSpPr txBox="1"/>
            <p:nvPr/>
          </p:nvSpPr>
          <p:spPr>
            <a:xfrm>
              <a:off x="8628825" y="4048732"/>
              <a:ext cx="1072050"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响应率</a:t>
              </a:r>
              <a:endParaRPr kumimoji="0" lang="zh-CN" altLang="en-US" sz="8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8" name="文本框 117"/>
            <p:cNvSpPr txBox="1"/>
            <p:nvPr/>
          </p:nvSpPr>
          <p:spPr>
            <a:xfrm>
              <a:off x="8138517" y="4951989"/>
              <a:ext cx="666981"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8</a:t>
              </a:r>
              <a:r>
                <a:rPr kumimoji="0" lang="zh-CN" altLang="en-US"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个</a:t>
              </a:r>
              <a:endParaRPr kumimoji="0" lang="zh-CN" altLang="en-US"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9" name="文本框 118"/>
            <p:cNvSpPr txBox="1"/>
            <p:nvPr/>
          </p:nvSpPr>
          <p:spPr>
            <a:xfrm>
              <a:off x="7935982" y="5161195"/>
              <a:ext cx="1072050"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配色</a:t>
              </a:r>
              <a:endParaRPr kumimoji="0" lang="zh-CN" altLang="en-US" sz="8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0" name="文本框 119"/>
            <p:cNvSpPr txBox="1"/>
            <p:nvPr/>
          </p:nvSpPr>
          <p:spPr>
            <a:xfrm>
              <a:off x="3392166" y="2629695"/>
              <a:ext cx="671981"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7</a:t>
              </a:r>
              <a:r>
                <a:rPr kumimoji="0" lang="zh-CN" altLang="en-US"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天</a:t>
              </a:r>
              <a:endParaRPr kumimoji="0" lang="zh-CN" altLang="en-US"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1" name="文本框 120"/>
            <p:cNvSpPr txBox="1"/>
            <p:nvPr/>
          </p:nvSpPr>
          <p:spPr>
            <a:xfrm>
              <a:off x="3192131" y="2838902"/>
              <a:ext cx="1072050"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续航水平</a:t>
              </a:r>
              <a:endParaRPr kumimoji="0" lang="zh-CN" altLang="en-US" sz="8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2" name="文本框 121"/>
            <p:cNvSpPr txBox="1"/>
            <p:nvPr/>
          </p:nvSpPr>
          <p:spPr>
            <a:xfrm>
              <a:off x="2760207" y="3788635"/>
              <a:ext cx="504041"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99+</a:t>
              </a:r>
              <a:endParaRPr kumimoji="0" lang="en-US" altLang="zh-CN"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3" name="文本框 122"/>
            <p:cNvSpPr txBox="1"/>
            <p:nvPr/>
          </p:nvSpPr>
          <p:spPr>
            <a:xfrm>
              <a:off x="2476203" y="3997842"/>
              <a:ext cx="1072050"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8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支持</a:t>
              </a:r>
              <a:r>
                <a:rPr kumimoji="0" lang="en-US" altLang="zh-CN" sz="8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APP</a:t>
              </a:r>
              <a:endParaRPr kumimoji="0" lang="en-US" altLang="zh-CN" sz="8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4" name="文本框 123"/>
            <p:cNvSpPr txBox="1"/>
            <p:nvPr/>
          </p:nvSpPr>
          <p:spPr>
            <a:xfrm>
              <a:off x="3265416" y="4932646"/>
              <a:ext cx="864888"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99%</a:t>
              </a:r>
              <a:endParaRPr kumimoji="0" lang="en-US" altLang="zh-CN"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5" name="文本框 124"/>
            <p:cNvSpPr txBox="1"/>
            <p:nvPr/>
          </p:nvSpPr>
          <p:spPr>
            <a:xfrm>
              <a:off x="3161835" y="5141853"/>
              <a:ext cx="1072050" cy="21544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800" kern="0" dirty="0">
                  <a:solidFill>
                    <a:srgbClr val="FFFFFF"/>
                  </a:solidFill>
                  <a:latin typeface="微软雅黑" panose="020B0503020204020204" charset="-122"/>
                  <a:ea typeface="微软雅黑" panose="020B0503020204020204" charset="-122"/>
                  <a:cs typeface="微软雅黑" panose="020B0503020204020204" charset="-122"/>
                </a:rPr>
                <a:t>安全性</a:t>
              </a:r>
              <a:endParaRPr kumimoji="0" lang="zh-CN" altLang="en-US" sz="8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6" name="Freeform 71"/>
            <p:cNvSpPr>
              <a:spLocks noEditPoints="1"/>
            </p:cNvSpPr>
            <p:nvPr/>
          </p:nvSpPr>
          <p:spPr bwMode="auto">
            <a:xfrm>
              <a:off x="9019907" y="3581432"/>
              <a:ext cx="231197" cy="216634"/>
            </a:xfrm>
            <a:custGeom>
              <a:avLst/>
              <a:gdLst/>
              <a:ahLst/>
              <a:cxnLst>
                <a:cxn ang="0">
                  <a:pos x="65" y="22"/>
                </a:cxn>
                <a:cxn ang="0">
                  <a:pos x="26" y="45"/>
                </a:cxn>
                <a:cxn ang="0">
                  <a:pos x="0" y="26"/>
                </a:cxn>
                <a:cxn ang="0">
                  <a:pos x="39" y="0"/>
                </a:cxn>
                <a:cxn ang="0">
                  <a:pos x="65" y="22"/>
                </a:cxn>
                <a:cxn ang="0">
                  <a:pos x="65" y="69"/>
                </a:cxn>
                <a:cxn ang="0">
                  <a:pos x="39" y="91"/>
                </a:cxn>
                <a:cxn ang="0">
                  <a:pos x="0" y="67"/>
                </a:cxn>
                <a:cxn ang="0">
                  <a:pos x="26" y="45"/>
                </a:cxn>
                <a:cxn ang="0">
                  <a:pos x="65" y="69"/>
                </a:cxn>
                <a:cxn ang="0">
                  <a:pos x="101" y="97"/>
                </a:cxn>
                <a:cxn ang="0">
                  <a:pos x="65" y="119"/>
                </a:cxn>
                <a:cxn ang="0">
                  <a:pos x="65" y="119"/>
                </a:cxn>
                <a:cxn ang="0">
                  <a:pos x="65" y="119"/>
                </a:cxn>
                <a:cxn ang="0">
                  <a:pos x="65" y="119"/>
                </a:cxn>
                <a:cxn ang="0">
                  <a:pos x="65" y="119"/>
                </a:cxn>
                <a:cxn ang="0">
                  <a:pos x="26" y="97"/>
                </a:cxn>
                <a:cxn ang="0">
                  <a:pos x="26" y="89"/>
                </a:cxn>
                <a:cxn ang="0">
                  <a:pos x="39" y="95"/>
                </a:cxn>
                <a:cxn ang="0">
                  <a:pos x="65" y="74"/>
                </a:cxn>
                <a:cxn ang="0">
                  <a:pos x="65" y="74"/>
                </a:cxn>
                <a:cxn ang="0">
                  <a:pos x="65" y="74"/>
                </a:cxn>
                <a:cxn ang="0">
                  <a:pos x="65" y="74"/>
                </a:cxn>
                <a:cxn ang="0">
                  <a:pos x="65" y="74"/>
                </a:cxn>
                <a:cxn ang="0">
                  <a:pos x="91" y="95"/>
                </a:cxn>
                <a:cxn ang="0">
                  <a:pos x="101" y="89"/>
                </a:cxn>
                <a:cxn ang="0">
                  <a:pos x="101" y="97"/>
                </a:cxn>
                <a:cxn ang="0">
                  <a:pos x="127" y="26"/>
                </a:cxn>
                <a:cxn ang="0">
                  <a:pos x="101" y="45"/>
                </a:cxn>
                <a:cxn ang="0">
                  <a:pos x="65" y="22"/>
                </a:cxn>
                <a:cxn ang="0">
                  <a:pos x="91" y="0"/>
                </a:cxn>
                <a:cxn ang="0">
                  <a:pos x="127" y="26"/>
                </a:cxn>
                <a:cxn ang="0">
                  <a:pos x="127" y="67"/>
                </a:cxn>
                <a:cxn ang="0">
                  <a:pos x="91" y="91"/>
                </a:cxn>
                <a:cxn ang="0">
                  <a:pos x="65" y="69"/>
                </a:cxn>
                <a:cxn ang="0">
                  <a:pos x="101" y="45"/>
                </a:cxn>
                <a:cxn ang="0">
                  <a:pos x="127" y="67"/>
                </a:cxn>
              </a:cxnLst>
              <a:rect l="0" t="0" r="r" b="b"/>
              <a:pathLst>
                <a:path w="127" h="119">
                  <a:moveTo>
                    <a:pt x="65" y="22"/>
                  </a:moveTo>
                  <a:lnTo>
                    <a:pt x="26" y="45"/>
                  </a:lnTo>
                  <a:lnTo>
                    <a:pt x="0" y="26"/>
                  </a:lnTo>
                  <a:lnTo>
                    <a:pt x="39" y="0"/>
                  </a:lnTo>
                  <a:lnTo>
                    <a:pt x="65" y="22"/>
                  </a:lnTo>
                  <a:close/>
                  <a:moveTo>
                    <a:pt x="65" y="69"/>
                  </a:moveTo>
                  <a:lnTo>
                    <a:pt x="39" y="91"/>
                  </a:lnTo>
                  <a:lnTo>
                    <a:pt x="0" y="67"/>
                  </a:lnTo>
                  <a:lnTo>
                    <a:pt x="26" y="45"/>
                  </a:lnTo>
                  <a:lnTo>
                    <a:pt x="65" y="69"/>
                  </a:lnTo>
                  <a:close/>
                  <a:moveTo>
                    <a:pt x="101" y="97"/>
                  </a:moveTo>
                  <a:lnTo>
                    <a:pt x="65" y="119"/>
                  </a:lnTo>
                  <a:lnTo>
                    <a:pt x="65" y="119"/>
                  </a:lnTo>
                  <a:lnTo>
                    <a:pt x="65" y="119"/>
                  </a:lnTo>
                  <a:lnTo>
                    <a:pt x="65" y="119"/>
                  </a:lnTo>
                  <a:lnTo>
                    <a:pt x="65" y="119"/>
                  </a:lnTo>
                  <a:lnTo>
                    <a:pt x="26" y="97"/>
                  </a:lnTo>
                  <a:lnTo>
                    <a:pt x="26" y="89"/>
                  </a:lnTo>
                  <a:lnTo>
                    <a:pt x="39" y="95"/>
                  </a:lnTo>
                  <a:lnTo>
                    <a:pt x="65" y="74"/>
                  </a:lnTo>
                  <a:lnTo>
                    <a:pt x="65" y="74"/>
                  </a:lnTo>
                  <a:lnTo>
                    <a:pt x="65" y="74"/>
                  </a:lnTo>
                  <a:lnTo>
                    <a:pt x="65" y="74"/>
                  </a:lnTo>
                  <a:lnTo>
                    <a:pt x="65" y="74"/>
                  </a:lnTo>
                  <a:lnTo>
                    <a:pt x="91" y="95"/>
                  </a:lnTo>
                  <a:lnTo>
                    <a:pt x="101" y="89"/>
                  </a:lnTo>
                  <a:lnTo>
                    <a:pt x="101" y="97"/>
                  </a:lnTo>
                  <a:close/>
                  <a:moveTo>
                    <a:pt x="127" y="26"/>
                  </a:moveTo>
                  <a:lnTo>
                    <a:pt x="101" y="45"/>
                  </a:lnTo>
                  <a:lnTo>
                    <a:pt x="65" y="22"/>
                  </a:lnTo>
                  <a:lnTo>
                    <a:pt x="91" y="0"/>
                  </a:lnTo>
                  <a:lnTo>
                    <a:pt x="127" y="26"/>
                  </a:lnTo>
                  <a:close/>
                  <a:moveTo>
                    <a:pt x="127" y="67"/>
                  </a:moveTo>
                  <a:lnTo>
                    <a:pt x="91" y="91"/>
                  </a:lnTo>
                  <a:lnTo>
                    <a:pt x="65" y="69"/>
                  </a:lnTo>
                  <a:lnTo>
                    <a:pt x="101" y="45"/>
                  </a:lnTo>
                  <a:lnTo>
                    <a:pt x="127" y="67"/>
                  </a:lnTo>
                  <a:close/>
                </a:path>
              </a:pathLst>
            </a:custGeom>
            <a:solidFill>
              <a:srgbClr val="FFFFFF"/>
            </a:solidFill>
            <a:ln w="9525">
              <a:noFill/>
              <a:round/>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747993"/>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7" name="文本框 126"/>
            <p:cNvSpPr txBox="1"/>
            <p:nvPr/>
          </p:nvSpPr>
          <p:spPr>
            <a:xfrm>
              <a:off x="8702381" y="3788635"/>
              <a:ext cx="878670" cy="276999"/>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90%</a:t>
              </a:r>
              <a:endParaRPr kumimoji="0" lang="en-US" altLang="zh-CN" sz="120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28" name="组合 127"/>
            <p:cNvGrpSpPr/>
            <p:nvPr/>
          </p:nvGrpSpPr>
          <p:grpSpPr>
            <a:xfrm>
              <a:off x="4705673" y="2294212"/>
              <a:ext cx="2724345" cy="687450"/>
              <a:chOff x="8233089" y="1876122"/>
              <a:chExt cx="2724345" cy="687450"/>
            </a:xfrm>
          </p:grpSpPr>
          <p:sp>
            <p:nvSpPr>
              <p:cNvPr id="129" name="椭圆 128"/>
              <p:cNvSpPr/>
              <p:nvPr/>
            </p:nvSpPr>
            <p:spPr>
              <a:xfrm>
                <a:off x="8233089" y="1876122"/>
                <a:ext cx="687450" cy="687450"/>
              </a:xfrm>
              <a:prstGeom prst="ellipse">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0" name="文本框 129"/>
              <p:cNvSpPr txBox="1"/>
              <p:nvPr/>
            </p:nvSpPr>
            <p:spPr>
              <a:xfrm flipH="1">
                <a:off x="9092979" y="2155626"/>
                <a:ext cx="1864455" cy="344197"/>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实时监测心率、血压、血氧等生理参数</a:t>
                </a:r>
                <a:r>
                  <a:rPr lang="zh-CN" altLang="en-US" sz="1000" dirty="0">
                    <a:solidFill>
                      <a:schemeClr val="bg1"/>
                    </a:solidFill>
                    <a:latin typeface="微软雅黑" panose="020B0503020204020204" charset="-122"/>
                    <a:ea typeface="微软雅黑" panose="020B0503020204020204" charset="-122"/>
                    <a:cs typeface="微软雅黑" panose="020B0503020204020204" charset="-122"/>
                  </a:rPr>
                  <a:t>，</a:t>
                </a:r>
                <a:r>
                  <a:rPr kumimoji="0" lang="zh-CN" altLang="en-US" sz="10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提供健康数据跟踪</a:t>
                </a:r>
                <a:endParaRPr kumimoji="0" lang="zh-CN" altLang="en-US" sz="10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1" name="文本框 130"/>
              <p:cNvSpPr txBox="1"/>
              <p:nvPr/>
            </p:nvSpPr>
            <p:spPr>
              <a:xfrm flipH="1">
                <a:off x="9092979" y="1881724"/>
                <a:ext cx="1741933" cy="23812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55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生理参数监测</a:t>
                </a:r>
                <a:endParaRPr kumimoji="0" lang="zh-CN" altLang="en-US" sz="155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33" name="组合 132"/>
            <p:cNvGrpSpPr/>
            <p:nvPr/>
          </p:nvGrpSpPr>
          <p:grpSpPr>
            <a:xfrm>
              <a:off x="4705673" y="4880658"/>
              <a:ext cx="2724345" cy="687450"/>
              <a:chOff x="8233089" y="1876122"/>
              <a:chExt cx="2724345" cy="687450"/>
            </a:xfrm>
          </p:grpSpPr>
          <p:sp>
            <p:nvSpPr>
              <p:cNvPr id="134" name="椭圆 133"/>
              <p:cNvSpPr/>
              <p:nvPr/>
            </p:nvSpPr>
            <p:spPr>
              <a:xfrm>
                <a:off x="8233089" y="1876122"/>
                <a:ext cx="687450" cy="687450"/>
              </a:xfrm>
              <a:prstGeom prst="ellipse">
                <a:avLst/>
              </a:prstGeom>
              <a:solidFill>
                <a:schemeClr val="bg1"/>
              </a:soli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5" name="文本框 134"/>
              <p:cNvSpPr txBox="1"/>
              <p:nvPr/>
            </p:nvSpPr>
            <p:spPr>
              <a:xfrm flipH="1">
                <a:off x="9092979" y="2155626"/>
                <a:ext cx="1864455" cy="344197"/>
              </a:xfrm>
              <a:prstGeom prst="rect">
                <a:avLst/>
              </a:prstGeom>
              <a:noFill/>
            </p:spPr>
            <p:txBody>
              <a:bodyPr wrap="square" lIns="0" tIns="0" rIns="0" bIns="0" rtlCol="0">
                <a:spAutoFit/>
              </a:bodyPr>
              <a:lstStyle/>
              <a:p>
                <a:pPr marL="0" marR="0" lvl="0" indent="0" algn="l"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精准分析用户的睡眠质量，包括深度睡眠、</a:t>
                </a:r>
                <a:r>
                  <a:rPr kumimoji="0" lang="en-GB" altLang="zh-CN" sz="10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REM</a:t>
                </a:r>
                <a:r>
                  <a:rPr kumimoji="0" lang="zh-CN" altLang="en-US" sz="10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睡眠等</a:t>
                </a:r>
                <a:endParaRPr kumimoji="0" lang="zh-CN" altLang="en-US" sz="10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6" name="文本框 135"/>
              <p:cNvSpPr txBox="1"/>
              <p:nvPr/>
            </p:nvSpPr>
            <p:spPr>
              <a:xfrm flipH="1">
                <a:off x="9092979" y="1881724"/>
                <a:ext cx="1741933" cy="23812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55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智能睡眠分析</a:t>
                </a:r>
                <a:endParaRPr kumimoji="0" lang="zh-CN" altLang="en-US" sz="1550" b="1"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grpSp>
      <p:sp>
        <p:nvSpPr>
          <p:cNvPr id="138" name="椭圆 137"/>
          <p:cNvSpPr/>
          <p:nvPr/>
        </p:nvSpPr>
        <p:spPr>
          <a:xfrm>
            <a:off x="10238958" y="3248918"/>
            <a:ext cx="1219835" cy="1219835"/>
          </a:xfrm>
          <a:prstGeom prst="ellipse">
            <a:avLst/>
          </a:prstGeom>
          <a:gradFill>
            <a:gsLst>
              <a:gs pos="0">
                <a:schemeClr val="accent1">
                  <a:lumMod val="60000"/>
                  <a:lumOff val="40000"/>
                </a:schemeClr>
              </a:gs>
              <a:gs pos="100000">
                <a:schemeClr val="accent1"/>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9" name="文本框 138"/>
          <p:cNvSpPr txBox="1"/>
          <p:nvPr/>
        </p:nvSpPr>
        <p:spPr>
          <a:xfrm>
            <a:off x="10500062" y="3986634"/>
            <a:ext cx="697627"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算法学习</a:t>
            </a:r>
            <a:endParaRPr kumimoji="0" lang="zh-CN" altLang="en-US" sz="1000" b="0" i="0" u="none" strike="noStrike" kern="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40" name="直线箭头连接符 45"/>
          <p:cNvCxnSpPr/>
          <p:nvPr/>
        </p:nvCxnSpPr>
        <p:spPr>
          <a:xfrm flipV="1">
            <a:off x="10848875" y="2446843"/>
            <a:ext cx="0" cy="714857"/>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41" name="矩形 140"/>
          <p:cNvSpPr/>
          <p:nvPr/>
        </p:nvSpPr>
        <p:spPr>
          <a:xfrm>
            <a:off x="4733828" y="1179657"/>
            <a:ext cx="2724345" cy="38872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2" name="文本框 141"/>
          <p:cNvSpPr txBox="1"/>
          <p:nvPr/>
        </p:nvSpPr>
        <p:spPr>
          <a:xfrm flipH="1">
            <a:off x="5050280" y="1247155"/>
            <a:ext cx="2091440" cy="246221"/>
          </a:xfrm>
          <a:prstGeom prst="rect">
            <a:avLst/>
          </a:prstGeom>
          <a:noFill/>
        </p:spPr>
        <p:txBody>
          <a:bodyPr wrap="square" lIns="0" tIns="0" rIns="0" bIns="0" rtlCol="0">
            <a:spAutoFit/>
          </a:bodyPr>
          <a:lstStyle/>
          <a:p>
            <a:pPr marL="0" marR="0" lvl="0" indent="0" algn="ctr" defTabSz="6350" rtl="0" eaLnBrk="1" fontAlgn="auto" latinLnBrk="0" hangingPunct="0">
              <a:lnSpc>
                <a:spcPct val="100000"/>
              </a:lnSpc>
              <a:spcBef>
                <a:spcPts val="0"/>
              </a:spcBef>
              <a:spcAft>
                <a:spcPts val="0"/>
              </a:spcAft>
              <a:buClrTx/>
              <a:buSzTx/>
              <a:buFont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a:pPr>
            <a:r>
              <a:rPr kumimoji="0" lang="zh-CN" altLang="en-US" sz="1600" b="0" i="0" u="none" strike="noStrike" kern="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个性化分析辅助监测</a:t>
            </a:r>
            <a:endParaRPr kumimoji="0" lang="zh-CN" altLang="en-US" sz="1600" b="0" i="0" u="none" strike="noStrike" kern="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44" name="直线箭头连接符 48"/>
          <p:cNvCxnSpPr/>
          <p:nvPr/>
        </p:nvCxnSpPr>
        <p:spPr>
          <a:xfrm flipH="1">
            <a:off x="7577135" y="1374021"/>
            <a:ext cx="2150694" cy="0"/>
          </a:xfrm>
          <a:prstGeom prst="straightConnector1">
            <a:avLst/>
          </a:prstGeom>
          <a:ln w="12700">
            <a:solidFill>
              <a:schemeClr val="accent5"/>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45" name="组合 144"/>
          <p:cNvGrpSpPr/>
          <p:nvPr/>
        </p:nvGrpSpPr>
        <p:grpSpPr>
          <a:xfrm>
            <a:off x="9874631" y="1179657"/>
            <a:ext cx="1948489" cy="1169064"/>
            <a:chOff x="9874631" y="1179657"/>
            <a:chExt cx="1948489" cy="1169064"/>
          </a:xfrm>
        </p:grpSpPr>
        <p:sp>
          <p:nvSpPr>
            <p:cNvPr id="146" name="矩形: 圆角 36"/>
            <p:cNvSpPr/>
            <p:nvPr/>
          </p:nvSpPr>
          <p:spPr>
            <a:xfrm>
              <a:off x="9874632" y="1179657"/>
              <a:ext cx="1943601" cy="1169064"/>
            </a:xfrm>
            <a:prstGeom prst="roundRect">
              <a:avLst>
                <a:gd name="adj" fmla="val 0"/>
              </a:avLst>
            </a:prstGeom>
            <a:solidFill>
              <a:schemeClr val="bg2"/>
            </a:solidFill>
            <a:ln w="25400" cap="flat" cmpd="sng" algn="ctr">
              <a:solidFill>
                <a:schemeClr val="accent1">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7" name="Rounded Rectangle"/>
            <p:cNvSpPr/>
            <p:nvPr/>
          </p:nvSpPr>
          <p:spPr>
            <a:xfrm>
              <a:off x="9874631" y="1182298"/>
              <a:ext cx="1948489" cy="386088"/>
            </a:xfrm>
            <a:prstGeom prst="roundRect">
              <a:avLst>
                <a:gd name="adj" fmla="val 0"/>
              </a:avLst>
            </a:prstGeom>
            <a:solidFill>
              <a:schemeClr val="accent1">
                <a:lumMod val="60000"/>
                <a:lumOff val="40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solidFill>
                    <a:srgbClr val="525455"/>
                  </a:solidFill>
                </a:defRPr>
              </a:pPr>
              <a:endParaRPr kumimoji="0" sz="16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8" name="Text Placeholder 32"/>
            <p:cNvSpPr txBox="1"/>
            <p:nvPr/>
          </p:nvSpPr>
          <p:spPr>
            <a:xfrm>
              <a:off x="10015496" y="1682743"/>
              <a:ext cx="1729418" cy="519629"/>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101010">
                      <a:alpha val="65000"/>
                    </a:srgbClr>
                  </a:solidFill>
                  <a:effectLst/>
                  <a:uLnTx/>
                  <a:uFillTx/>
                  <a:latin typeface="OPPOSans R" panose="00020600040101010101" charset="-122"/>
                  <a:ea typeface="OPPOSans R" panose="00020600040101010101" charset="-122"/>
                  <a:cs typeface="OPPOSans R" panose="00020600040101010101"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品牌不仅代表着一系列的文化属性，而且还体现着，某种特品牌代表着一系列属性</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9" name="文本框 148"/>
            <p:cNvSpPr txBox="1"/>
            <p:nvPr/>
          </p:nvSpPr>
          <p:spPr>
            <a:xfrm flipH="1">
              <a:off x="9955359" y="1254757"/>
              <a:ext cx="1787032" cy="23852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5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用户反馈与调整</a:t>
              </a:r>
              <a:endParaRPr kumimoji="0" lang="zh-CN" altLang="en-US" sz="155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grpSp>
      <p:grpSp>
        <p:nvGrpSpPr>
          <p:cNvPr id="150" name="组合 149"/>
          <p:cNvGrpSpPr/>
          <p:nvPr/>
        </p:nvGrpSpPr>
        <p:grpSpPr>
          <a:xfrm>
            <a:off x="371403" y="1179657"/>
            <a:ext cx="1948489" cy="1169064"/>
            <a:chOff x="9874631" y="1179657"/>
            <a:chExt cx="1948489" cy="1169064"/>
          </a:xfrm>
        </p:grpSpPr>
        <p:sp>
          <p:nvSpPr>
            <p:cNvPr id="151" name="矩形: 圆角 36"/>
            <p:cNvSpPr/>
            <p:nvPr/>
          </p:nvSpPr>
          <p:spPr>
            <a:xfrm>
              <a:off x="9874632" y="1179657"/>
              <a:ext cx="1943601" cy="1169064"/>
            </a:xfrm>
            <a:prstGeom prst="roundRect">
              <a:avLst>
                <a:gd name="adj" fmla="val 0"/>
              </a:avLst>
            </a:prstGeom>
            <a:solidFill>
              <a:schemeClr val="bg2"/>
            </a:solidFill>
            <a:ln w="25400" cap="flat" cmpd="sng" algn="ctr">
              <a:solidFill>
                <a:schemeClr val="accent1">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2" name="Rounded Rectangle"/>
            <p:cNvSpPr/>
            <p:nvPr/>
          </p:nvSpPr>
          <p:spPr>
            <a:xfrm>
              <a:off x="9874631" y="1182298"/>
              <a:ext cx="1948489" cy="386088"/>
            </a:xfrm>
            <a:prstGeom prst="roundRect">
              <a:avLst>
                <a:gd name="adj" fmla="val 0"/>
              </a:avLst>
            </a:prstGeom>
            <a:solidFill>
              <a:schemeClr val="accent1">
                <a:lumMod val="60000"/>
                <a:lumOff val="40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solidFill>
                    <a:srgbClr val="525455"/>
                  </a:solidFill>
                </a:defRPr>
              </a:pPr>
              <a:endParaRPr kumimoji="0" sz="16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3" name="Text Placeholder 32"/>
            <p:cNvSpPr txBox="1"/>
            <p:nvPr/>
          </p:nvSpPr>
          <p:spPr>
            <a:xfrm>
              <a:off x="10015496" y="1682743"/>
              <a:ext cx="1729418" cy="519629"/>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101010">
                      <a:alpha val="65000"/>
                    </a:srgbClr>
                  </a:solidFill>
                  <a:effectLst/>
                  <a:uLnTx/>
                  <a:uFillTx/>
                  <a:latin typeface="OPPOSans R" panose="00020600040101010101" charset="-122"/>
                  <a:ea typeface="OPPOSans R" panose="00020600040101010101" charset="-122"/>
                  <a:cs typeface="OPPOSans R" panose="00020600040101010101"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内置高精度传感器对心率、血压、血氧等生理参数进行实时监测，监测睡眠</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4" name="文本框 153"/>
            <p:cNvSpPr txBox="1"/>
            <p:nvPr/>
          </p:nvSpPr>
          <p:spPr>
            <a:xfrm flipH="1">
              <a:off x="9952837" y="1254757"/>
              <a:ext cx="1792076" cy="23852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5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传感器实时监测</a:t>
              </a:r>
              <a:endParaRPr kumimoji="0" lang="zh-CN" altLang="en-US" sz="155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grpSp>
      <p:cxnSp>
        <p:nvCxnSpPr>
          <p:cNvPr id="155" name="直线箭头连接符 59"/>
          <p:cNvCxnSpPr/>
          <p:nvPr/>
        </p:nvCxnSpPr>
        <p:spPr>
          <a:xfrm flipH="1">
            <a:off x="2482620" y="1374021"/>
            <a:ext cx="2150694" cy="0"/>
          </a:xfrm>
          <a:prstGeom prst="straightConnector1">
            <a:avLst/>
          </a:prstGeom>
          <a:ln w="12700">
            <a:solidFill>
              <a:schemeClr val="accent5"/>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56" name="组合 155"/>
          <p:cNvGrpSpPr/>
          <p:nvPr/>
        </p:nvGrpSpPr>
        <p:grpSpPr>
          <a:xfrm>
            <a:off x="9874631" y="5327114"/>
            <a:ext cx="1948489" cy="1169064"/>
            <a:chOff x="9874631" y="1179657"/>
            <a:chExt cx="1948489" cy="1169064"/>
          </a:xfrm>
        </p:grpSpPr>
        <p:sp>
          <p:nvSpPr>
            <p:cNvPr id="157" name="矩形: 圆角 36"/>
            <p:cNvSpPr/>
            <p:nvPr/>
          </p:nvSpPr>
          <p:spPr>
            <a:xfrm>
              <a:off x="9874632" y="1179657"/>
              <a:ext cx="1943601" cy="1169064"/>
            </a:xfrm>
            <a:prstGeom prst="roundRect">
              <a:avLst>
                <a:gd name="adj" fmla="val 0"/>
              </a:avLst>
            </a:prstGeom>
            <a:solidFill>
              <a:schemeClr val="bg2"/>
            </a:solidFill>
            <a:ln w="25400" cap="flat" cmpd="sng" algn="ctr">
              <a:solidFill>
                <a:schemeClr val="accent1">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8" name="Rounded Rectangle"/>
            <p:cNvSpPr/>
            <p:nvPr/>
          </p:nvSpPr>
          <p:spPr>
            <a:xfrm>
              <a:off x="9874631" y="1182298"/>
              <a:ext cx="1948489" cy="386088"/>
            </a:xfrm>
            <a:prstGeom prst="roundRect">
              <a:avLst>
                <a:gd name="adj" fmla="val 0"/>
              </a:avLst>
            </a:prstGeom>
            <a:solidFill>
              <a:schemeClr val="accent1">
                <a:lumMod val="60000"/>
                <a:lumOff val="40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solidFill>
                    <a:srgbClr val="525455"/>
                  </a:solidFill>
                </a:defRPr>
              </a:pPr>
              <a:endParaRPr kumimoji="0" sz="16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9" name="Text Placeholder 32"/>
            <p:cNvSpPr txBox="1"/>
            <p:nvPr/>
          </p:nvSpPr>
          <p:spPr>
            <a:xfrm>
              <a:off x="10015496" y="1682743"/>
              <a:ext cx="1729418" cy="519629"/>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101010">
                      <a:alpha val="65000"/>
                    </a:srgbClr>
                  </a:solidFill>
                  <a:effectLst/>
                  <a:uLnTx/>
                  <a:uFillTx/>
                  <a:latin typeface="OPPOSans R" panose="00020600040101010101" charset="-122"/>
                  <a:ea typeface="OPPOSans R" panose="00020600040101010101" charset="-122"/>
                  <a:cs typeface="OPPOSans R" panose="00020600040101010101"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云端服务器利用强大的算法对用户的健康数据进行深度分析，生成详细的健康报告</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0" name="文本框 159"/>
            <p:cNvSpPr txBox="1"/>
            <p:nvPr/>
          </p:nvSpPr>
          <p:spPr>
            <a:xfrm flipH="1">
              <a:off x="10018017" y="1254757"/>
              <a:ext cx="1661716" cy="23852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5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智能分析与算法</a:t>
              </a:r>
              <a:endParaRPr kumimoji="0" lang="zh-CN" altLang="en-US" sz="1550" b="0" i="0" u="none" strike="noStrike" kern="120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61" name="矩形 160"/>
          <p:cNvSpPr/>
          <p:nvPr/>
        </p:nvSpPr>
        <p:spPr>
          <a:xfrm>
            <a:off x="4733828" y="6159871"/>
            <a:ext cx="2724345" cy="388729"/>
          </a:xfrm>
          <a:prstGeom prst="rect">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kumimoji="1" lang="zh-CN" altLang="en-US" noProof="0">
              <a:ln>
                <a:noFill/>
              </a:ln>
              <a:solidFill>
                <a:srgbClr val="000000"/>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62" name="文本框 161"/>
          <p:cNvSpPr txBox="1"/>
          <p:nvPr/>
        </p:nvSpPr>
        <p:spPr>
          <a:xfrm flipH="1">
            <a:off x="5050280" y="6227369"/>
            <a:ext cx="2091440" cy="246221"/>
          </a:xfrm>
          <a:prstGeom prst="rect">
            <a:avLst/>
          </a:prstGeom>
          <a:noFill/>
        </p:spPr>
        <p:txBody>
          <a:bodyPr wrap="square" lIns="0" tIns="0" rIns="0" bIns="0" rtlCol="0">
            <a:spAutoFit/>
          </a:bodyPr>
          <a:lstStyle/>
          <a:p>
            <a:pPr marL="0" marR="0" lvl="0" indent="0" algn="ctr" defTabSz="6350" rtl="0" eaLnBrk="1" fontAlgn="auto" latinLnBrk="0" hangingPunct="0">
              <a:lnSpc>
                <a:spcPct val="100000"/>
              </a:lnSpc>
              <a:spcBef>
                <a:spcPts val="0"/>
              </a:spcBef>
              <a:spcAft>
                <a:spcPts val="0"/>
              </a:spcAft>
              <a:buClrTx/>
              <a:buSzTx/>
              <a:buFontTx/>
              <a:buNone/>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a:pPr>
            <a:r>
              <a:rPr kumimoji="0" lang="zh-CN" altLang="en-US" sz="1600" b="0" i="0" u="none" strike="noStrike" kern="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rPr>
              <a:t>通过蓝牙技术实时传输</a:t>
            </a:r>
            <a:endParaRPr kumimoji="0" lang="zh-CN" altLang="en-US" sz="1600" b="0" i="0" u="none" strike="noStrike" kern="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63" name="直线箭头连接符 67"/>
          <p:cNvCxnSpPr/>
          <p:nvPr/>
        </p:nvCxnSpPr>
        <p:spPr>
          <a:xfrm>
            <a:off x="7577135" y="6354235"/>
            <a:ext cx="2150694" cy="0"/>
          </a:xfrm>
          <a:prstGeom prst="straightConnector1">
            <a:avLst/>
          </a:prstGeom>
          <a:ln w="12700">
            <a:solidFill>
              <a:schemeClr val="accent5"/>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164" name="直线箭头连接符 68"/>
          <p:cNvCxnSpPr/>
          <p:nvPr/>
        </p:nvCxnSpPr>
        <p:spPr>
          <a:xfrm>
            <a:off x="2482620" y="6354235"/>
            <a:ext cx="2150694" cy="0"/>
          </a:xfrm>
          <a:prstGeom prst="straightConnector1">
            <a:avLst/>
          </a:prstGeom>
          <a:ln w="12700">
            <a:solidFill>
              <a:schemeClr val="accent5"/>
            </a:solidFill>
            <a:prstDash val="dash"/>
            <a:tailEnd type="triangle"/>
          </a:ln>
        </p:spPr>
        <p:style>
          <a:lnRef idx="1">
            <a:schemeClr val="accent1"/>
          </a:lnRef>
          <a:fillRef idx="0">
            <a:schemeClr val="accent1"/>
          </a:fillRef>
          <a:effectRef idx="0">
            <a:schemeClr val="accent1"/>
          </a:effectRef>
          <a:fontRef idx="minor">
            <a:schemeClr val="tx1"/>
          </a:fontRef>
        </p:style>
      </p:cxnSp>
      <p:grpSp>
        <p:nvGrpSpPr>
          <p:cNvPr id="165" name="组合 164"/>
          <p:cNvGrpSpPr/>
          <p:nvPr/>
        </p:nvGrpSpPr>
        <p:grpSpPr>
          <a:xfrm>
            <a:off x="371402" y="5327114"/>
            <a:ext cx="1948489" cy="1169064"/>
            <a:chOff x="9874631" y="1179657"/>
            <a:chExt cx="1948489" cy="1169064"/>
          </a:xfrm>
        </p:grpSpPr>
        <p:sp>
          <p:nvSpPr>
            <p:cNvPr id="166" name="矩形: 圆角 36"/>
            <p:cNvSpPr/>
            <p:nvPr/>
          </p:nvSpPr>
          <p:spPr>
            <a:xfrm>
              <a:off x="9874632" y="1179657"/>
              <a:ext cx="1943601" cy="1169064"/>
            </a:xfrm>
            <a:prstGeom prst="roundRect">
              <a:avLst>
                <a:gd name="adj" fmla="val 0"/>
              </a:avLst>
            </a:prstGeom>
            <a:solidFill>
              <a:schemeClr val="bg2"/>
            </a:solidFill>
            <a:ln w="25400" cap="flat" cmpd="sng" algn="ctr">
              <a:solidFill>
                <a:schemeClr val="accent1">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7" name="Rounded Rectangle"/>
            <p:cNvSpPr/>
            <p:nvPr/>
          </p:nvSpPr>
          <p:spPr>
            <a:xfrm>
              <a:off x="9874631" y="1182298"/>
              <a:ext cx="1948489" cy="386088"/>
            </a:xfrm>
            <a:prstGeom prst="roundRect">
              <a:avLst>
                <a:gd name="adj" fmla="val 0"/>
              </a:avLst>
            </a:prstGeom>
            <a:solidFill>
              <a:schemeClr val="accent1">
                <a:lumMod val="60000"/>
                <a:lumOff val="40000"/>
              </a:schemeClr>
            </a:solidFill>
            <a:ln w="12700">
              <a:miter lim="400000"/>
            </a:ln>
          </p:spPr>
          <p:txBody>
            <a:bodyPr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defRPr>
                  <a:solidFill>
                    <a:srgbClr val="525455"/>
                  </a:solidFill>
                </a:defRPr>
              </a:pPr>
              <a:endParaRPr kumimoji="0" sz="1600" b="0" i="0" u="none" strike="noStrike" kern="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8" name="Text Placeholder 32"/>
            <p:cNvSpPr txBox="1"/>
            <p:nvPr/>
          </p:nvSpPr>
          <p:spPr>
            <a:xfrm>
              <a:off x="10015496" y="1682743"/>
              <a:ext cx="1729418" cy="519629"/>
            </a:xfrm>
            <a:prstGeom prst="rect">
              <a:avLst/>
            </a:prstGeom>
            <a:noFill/>
          </p:spPr>
          <p:txBody>
            <a:bodyPr wrap="square" lIns="0" tIns="0" rIns="0" bIns="0" rtlCol="0">
              <a:spAutoFit/>
            </a:bodyPr>
            <a:lstStyle>
              <a:defPPr>
                <a:defRPr lang="zh-CN"/>
              </a:defPPr>
              <a:lvl1pPr marR="0" lvl="0" indent="0" fontAlgn="auto">
                <a:lnSpc>
                  <a:spcPct val="114000"/>
                </a:lnSpc>
                <a:spcBef>
                  <a:spcPts val="0"/>
                </a:spcBef>
                <a:spcAft>
                  <a:spcPts val="0"/>
                </a:spcAft>
                <a:buClrTx/>
                <a:buSzTx/>
                <a:buFontTx/>
                <a:buNone/>
                <a:defRPr kumimoji="0" sz="1000" b="0" i="0" u="none" strike="noStrike" cap="none" spc="0" normalizeH="0" baseline="0">
                  <a:ln>
                    <a:noFill/>
                  </a:ln>
                  <a:solidFill>
                    <a:srgbClr val="101010">
                      <a:alpha val="65000"/>
                    </a:srgbClr>
                  </a:solidFill>
                  <a:effectLst/>
                  <a:uLnTx/>
                  <a:uFillTx/>
                  <a:latin typeface="OPPOSans R" panose="00020600040101010101" charset="-122"/>
                  <a:ea typeface="OPPOSans R" panose="00020600040101010101" charset="-122"/>
                  <a:cs typeface="OPPOSans R" panose="00020600040101010101" charset="-122"/>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ctr" defTabSz="914400" rtl="0" eaLnBrk="1" fontAlgn="auto" latinLnBrk="0" hangingPunct="1">
                <a:lnSpc>
                  <a:spcPct val="1140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 监测器通过蓝牙技术将采集到的生理数据实时传输至用户的智能手机或云端</a:t>
              </a:r>
              <a:endParaRPr kumimoji="0" lang="zh-CN" altLang="en-US" sz="10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9" name="文本框 168"/>
            <p:cNvSpPr txBox="1"/>
            <p:nvPr/>
          </p:nvSpPr>
          <p:spPr>
            <a:xfrm flipH="1">
              <a:off x="9939884" y="1254757"/>
              <a:ext cx="1817982" cy="23852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55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rPr>
                <a:t>数据传输与存储</a:t>
              </a:r>
              <a:endParaRPr kumimoji="0" lang="zh-CN" altLang="en-US" sz="1550" b="0" i="0" u="none" strike="noStrike" kern="1200" cap="none" spc="0" normalizeH="0" baseline="0" noProof="0" dirty="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70" name="live-chat_72439"/>
          <p:cNvSpPr>
            <a:spLocks noChangeAspect="1"/>
          </p:cNvSpPr>
          <p:nvPr/>
        </p:nvSpPr>
        <p:spPr>
          <a:xfrm>
            <a:off x="10614089" y="3501621"/>
            <a:ext cx="469573" cy="409911"/>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chemeClr val="bg2"/>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71" name="直线箭头连接符 75"/>
          <p:cNvCxnSpPr/>
          <p:nvPr/>
        </p:nvCxnSpPr>
        <p:spPr>
          <a:xfrm flipV="1">
            <a:off x="10848875" y="4530286"/>
            <a:ext cx="0" cy="714857"/>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2" name="椭圆 171"/>
          <p:cNvSpPr/>
          <p:nvPr/>
        </p:nvSpPr>
        <p:spPr>
          <a:xfrm>
            <a:off x="735730" y="3248918"/>
            <a:ext cx="1219835" cy="1219835"/>
          </a:xfrm>
          <a:prstGeom prst="ellipse">
            <a:avLst/>
          </a:prstGeom>
          <a:gradFill>
            <a:gsLst>
              <a:gs pos="0">
                <a:schemeClr val="accent1">
                  <a:lumMod val="60000"/>
                  <a:lumOff val="40000"/>
                </a:schemeClr>
              </a:gs>
              <a:gs pos="100000">
                <a:schemeClr val="accent1"/>
              </a:gs>
            </a:gsLst>
            <a:lin ang="5400000" scaled="0"/>
          </a:gradFill>
          <a:ln w="12700" cap="flat" cmpd="sng" algn="ctr">
            <a:no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srgbClr val="FFFFFF"/>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73" name="文本框 172"/>
          <p:cNvSpPr txBox="1"/>
          <p:nvPr/>
        </p:nvSpPr>
        <p:spPr>
          <a:xfrm>
            <a:off x="996835" y="3986634"/>
            <a:ext cx="697627" cy="246221"/>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000" b="0" i="0" u="none" strike="noStrike" kern="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rPr>
              <a:t>先进芯片</a:t>
            </a:r>
            <a:endParaRPr kumimoji="0" lang="zh-CN" altLang="en-US" sz="1000" b="0" i="0" u="none" strike="noStrike" kern="0" cap="none" spc="0" normalizeH="0" baseline="0" noProof="0" dirty="0">
              <a:ln>
                <a:noFill/>
              </a:ln>
              <a:solidFill>
                <a:schemeClr val="bg2"/>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74" name="直线箭头连接符 78"/>
          <p:cNvCxnSpPr/>
          <p:nvPr/>
        </p:nvCxnSpPr>
        <p:spPr>
          <a:xfrm>
            <a:off x="1345647" y="2446843"/>
            <a:ext cx="0" cy="714857"/>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5" name="live-chat_72439"/>
          <p:cNvSpPr>
            <a:spLocks noChangeAspect="1"/>
          </p:cNvSpPr>
          <p:nvPr/>
        </p:nvSpPr>
        <p:spPr>
          <a:xfrm>
            <a:off x="1110861" y="3501621"/>
            <a:ext cx="469573" cy="409911"/>
          </a:xfrm>
          <a:custGeom>
            <a:avLst/>
            <a:gdLst>
              <a:gd name="connsiteX0" fmla="*/ 424975 w 608697"/>
              <a:gd name="connsiteY0" fmla="*/ 168488 h 531358"/>
              <a:gd name="connsiteX1" fmla="*/ 387604 w 608697"/>
              <a:gd name="connsiteY1" fmla="*/ 205806 h 531358"/>
              <a:gd name="connsiteX2" fmla="*/ 424975 w 608697"/>
              <a:gd name="connsiteY2" fmla="*/ 243124 h 531358"/>
              <a:gd name="connsiteX3" fmla="*/ 462346 w 608697"/>
              <a:gd name="connsiteY3" fmla="*/ 205806 h 531358"/>
              <a:gd name="connsiteX4" fmla="*/ 424975 w 608697"/>
              <a:gd name="connsiteY4" fmla="*/ 168488 h 531358"/>
              <a:gd name="connsiteX5" fmla="*/ 287947 w 608697"/>
              <a:gd name="connsiteY5" fmla="*/ 168488 h 531358"/>
              <a:gd name="connsiteX6" fmla="*/ 250576 w 608697"/>
              <a:gd name="connsiteY6" fmla="*/ 205806 h 531358"/>
              <a:gd name="connsiteX7" fmla="*/ 287947 w 608697"/>
              <a:gd name="connsiteY7" fmla="*/ 243124 h 531358"/>
              <a:gd name="connsiteX8" fmla="*/ 325318 w 608697"/>
              <a:gd name="connsiteY8" fmla="*/ 205806 h 531358"/>
              <a:gd name="connsiteX9" fmla="*/ 287947 w 608697"/>
              <a:gd name="connsiteY9" fmla="*/ 168488 h 531358"/>
              <a:gd name="connsiteX10" fmla="*/ 102356 w 608697"/>
              <a:gd name="connsiteY10" fmla="*/ 121231 h 531358"/>
              <a:gd name="connsiteX11" fmla="*/ 98850 w 608697"/>
              <a:gd name="connsiteY11" fmla="*/ 127711 h 531358"/>
              <a:gd name="connsiteX12" fmla="*/ 76842 w 608697"/>
              <a:gd name="connsiteY12" fmla="*/ 217990 h 531358"/>
              <a:gd name="connsiteX13" fmla="*/ 98850 w 608697"/>
              <a:gd name="connsiteY13" fmla="*/ 308194 h 531358"/>
              <a:gd name="connsiteX14" fmla="*/ 157488 w 608697"/>
              <a:gd name="connsiteY14" fmla="*/ 380223 h 531358"/>
              <a:gd name="connsiteX15" fmla="*/ 344668 w 608697"/>
              <a:gd name="connsiteY15" fmla="*/ 444729 h 531358"/>
              <a:gd name="connsiteX16" fmla="*/ 370257 w 608697"/>
              <a:gd name="connsiteY16" fmla="*/ 443687 h 531358"/>
              <a:gd name="connsiteX17" fmla="*/ 236717 w 608697"/>
              <a:gd name="connsiteY17" fmla="*/ 477876 h 531358"/>
              <a:gd name="connsiteX18" fmla="*/ 198072 w 608697"/>
              <a:gd name="connsiteY18" fmla="*/ 475344 h 531358"/>
              <a:gd name="connsiteX19" fmla="*/ 82437 w 608697"/>
              <a:gd name="connsiteY19" fmla="*/ 531284 h 531358"/>
              <a:gd name="connsiteX20" fmla="*/ 81542 w 608697"/>
              <a:gd name="connsiteY20" fmla="*/ 531358 h 531358"/>
              <a:gd name="connsiteX21" fmla="*/ 75051 w 608697"/>
              <a:gd name="connsiteY21" fmla="*/ 527857 h 531358"/>
              <a:gd name="connsiteX22" fmla="*/ 74753 w 608697"/>
              <a:gd name="connsiteY22" fmla="*/ 519738 h 531358"/>
              <a:gd name="connsiteX23" fmla="*/ 88778 w 608697"/>
              <a:gd name="connsiteY23" fmla="*/ 435046 h 531358"/>
              <a:gd name="connsiteX24" fmla="*/ 0 w 608697"/>
              <a:gd name="connsiteY24" fmla="*/ 282198 h 531358"/>
              <a:gd name="connsiteX25" fmla="*/ 102356 w 608697"/>
              <a:gd name="connsiteY25" fmla="*/ 121231 h 531358"/>
              <a:gd name="connsiteX26" fmla="*/ 356424 w 608697"/>
              <a:gd name="connsiteY26" fmla="*/ 0 h 531358"/>
              <a:gd name="connsiteX27" fmla="*/ 608697 w 608697"/>
              <a:gd name="connsiteY27" fmla="*/ 211244 h 531358"/>
              <a:gd name="connsiteX28" fmla="*/ 518290 w 608697"/>
              <a:gd name="connsiteY28" fmla="*/ 373401 h 531358"/>
              <a:gd name="connsiteX29" fmla="*/ 531941 w 608697"/>
              <a:gd name="connsiteY29" fmla="*/ 441109 h 531358"/>
              <a:gd name="connsiteX30" fmla="*/ 531120 w 608697"/>
              <a:gd name="connsiteY30" fmla="*/ 465391 h 531358"/>
              <a:gd name="connsiteX31" fmla="*/ 511577 w 608697"/>
              <a:gd name="connsiteY31" fmla="*/ 475894 h 531358"/>
              <a:gd name="connsiteX32" fmla="*/ 509041 w 608697"/>
              <a:gd name="connsiteY32" fmla="*/ 475745 h 531358"/>
              <a:gd name="connsiteX33" fmla="*/ 391408 w 608697"/>
              <a:gd name="connsiteY33" fmla="*/ 420476 h 531358"/>
              <a:gd name="connsiteX34" fmla="*/ 356424 w 608697"/>
              <a:gd name="connsiteY34" fmla="*/ 422487 h 531358"/>
              <a:gd name="connsiteX35" fmla="*/ 104225 w 608697"/>
              <a:gd name="connsiteY35" fmla="*/ 211244 h 531358"/>
              <a:gd name="connsiteX36" fmla="*/ 356424 w 608697"/>
              <a:gd name="connsiteY36" fmla="*/ 0 h 5313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Lst>
            <a:rect l="l" t="t" r="r" b="b"/>
            <a:pathLst>
              <a:path w="608697" h="531358">
                <a:moveTo>
                  <a:pt x="424975" y="168488"/>
                </a:moveTo>
                <a:cubicBezTo>
                  <a:pt x="404312" y="168488"/>
                  <a:pt x="387604" y="185248"/>
                  <a:pt x="387604" y="205806"/>
                </a:cubicBezTo>
                <a:cubicBezTo>
                  <a:pt x="387604" y="226439"/>
                  <a:pt x="404312" y="243124"/>
                  <a:pt x="424975" y="243124"/>
                </a:cubicBezTo>
                <a:cubicBezTo>
                  <a:pt x="445562" y="243124"/>
                  <a:pt x="462346" y="226439"/>
                  <a:pt x="462346" y="205806"/>
                </a:cubicBezTo>
                <a:cubicBezTo>
                  <a:pt x="462346" y="185248"/>
                  <a:pt x="445637" y="168488"/>
                  <a:pt x="424975" y="168488"/>
                </a:cubicBezTo>
                <a:close/>
                <a:moveTo>
                  <a:pt x="287947" y="168488"/>
                </a:moveTo>
                <a:cubicBezTo>
                  <a:pt x="267285" y="168488"/>
                  <a:pt x="250576" y="185248"/>
                  <a:pt x="250576" y="205806"/>
                </a:cubicBezTo>
                <a:cubicBezTo>
                  <a:pt x="250576" y="226439"/>
                  <a:pt x="267285" y="243124"/>
                  <a:pt x="287947" y="243124"/>
                </a:cubicBezTo>
                <a:cubicBezTo>
                  <a:pt x="308610" y="243124"/>
                  <a:pt x="325318" y="226439"/>
                  <a:pt x="325318" y="205806"/>
                </a:cubicBezTo>
                <a:cubicBezTo>
                  <a:pt x="325318" y="185248"/>
                  <a:pt x="308610" y="168488"/>
                  <a:pt x="287947" y="168488"/>
                </a:cubicBezTo>
                <a:close/>
                <a:moveTo>
                  <a:pt x="102356" y="121231"/>
                </a:moveTo>
                <a:cubicBezTo>
                  <a:pt x="101162" y="123317"/>
                  <a:pt x="99969" y="125477"/>
                  <a:pt x="98850" y="127711"/>
                </a:cubicBezTo>
                <a:cubicBezTo>
                  <a:pt x="84227" y="156240"/>
                  <a:pt x="76842" y="186631"/>
                  <a:pt x="76842" y="217990"/>
                </a:cubicBezTo>
                <a:cubicBezTo>
                  <a:pt x="76842" y="249275"/>
                  <a:pt x="84227" y="279666"/>
                  <a:pt x="98850" y="308194"/>
                </a:cubicBezTo>
                <a:cubicBezTo>
                  <a:pt x="112726" y="335308"/>
                  <a:pt x="132496" y="359516"/>
                  <a:pt x="157488" y="380223"/>
                </a:cubicBezTo>
                <a:cubicBezTo>
                  <a:pt x="207845" y="421787"/>
                  <a:pt x="274317" y="444729"/>
                  <a:pt x="344668" y="444729"/>
                </a:cubicBezTo>
                <a:cubicBezTo>
                  <a:pt x="353173" y="444729"/>
                  <a:pt x="361752" y="444357"/>
                  <a:pt x="370257" y="443687"/>
                </a:cubicBezTo>
                <a:cubicBezTo>
                  <a:pt x="332209" y="465288"/>
                  <a:pt x="286254" y="477876"/>
                  <a:pt x="236717" y="477876"/>
                </a:cubicBezTo>
                <a:cubicBezTo>
                  <a:pt x="223736" y="477876"/>
                  <a:pt x="210755" y="477057"/>
                  <a:pt x="198072" y="475344"/>
                </a:cubicBezTo>
                <a:cubicBezTo>
                  <a:pt x="160397" y="499478"/>
                  <a:pt x="110637" y="528155"/>
                  <a:pt x="82437" y="531284"/>
                </a:cubicBezTo>
                <a:cubicBezTo>
                  <a:pt x="82138" y="531358"/>
                  <a:pt x="81840" y="531358"/>
                  <a:pt x="81542" y="531358"/>
                </a:cubicBezTo>
                <a:cubicBezTo>
                  <a:pt x="78930" y="531358"/>
                  <a:pt x="76469" y="530017"/>
                  <a:pt x="75051" y="527857"/>
                </a:cubicBezTo>
                <a:cubicBezTo>
                  <a:pt x="73410" y="525399"/>
                  <a:pt x="73335" y="522271"/>
                  <a:pt x="74753" y="519738"/>
                </a:cubicBezTo>
                <a:cubicBezTo>
                  <a:pt x="75051" y="519291"/>
                  <a:pt x="99223" y="476014"/>
                  <a:pt x="88778" y="435046"/>
                </a:cubicBezTo>
                <a:cubicBezTo>
                  <a:pt x="32303" y="397653"/>
                  <a:pt x="0" y="342160"/>
                  <a:pt x="0" y="282198"/>
                </a:cubicBezTo>
                <a:cubicBezTo>
                  <a:pt x="0" y="215532"/>
                  <a:pt x="40584" y="156538"/>
                  <a:pt x="102356" y="121231"/>
                </a:cubicBezTo>
                <a:close/>
                <a:moveTo>
                  <a:pt x="356424" y="0"/>
                </a:moveTo>
                <a:cubicBezTo>
                  <a:pt x="495540" y="0"/>
                  <a:pt x="608697" y="94747"/>
                  <a:pt x="608697" y="211244"/>
                </a:cubicBezTo>
                <a:cubicBezTo>
                  <a:pt x="608697" y="274408"/>
                  <a:pt x="575802" y="333178"/>
                  <a:pt x="518290" y="373401"/>
                </a:cubicBezTo>
                <a:cubicBezTo>
                  <a:pt x="512845" y="406324"/>
                  <a:pt x="531717" y="440811"/>
                  <a:pt x="531941" y="441109"/>
                </a:cubicBezTo>
                <a:cubicBezTo>
                  <a:pt x="536267" y="448781"/>
                  <a:pt x="535969" y="458092"/>
                  <a:pt x="531120" y="465391"/>
                </a:cubicBezTo>
                <a:cubicBezTo>
                  <a:pt x="526794" y="472021"/>
                  <a:pt x="519484" y="475894"/>
                  <a:pt x="511577" y="475894"/>
                </a:cubicBezTo>
                <a:cubicBezTo>
                  <a:pt x="510756" y="475894"/>
                  <a:pt x="509936" y="475894"/>
                  <a:pt x="509041" y="475745"/>
                </a:cubicBezTo>
                <a:cubicBezTo>
                  <a:pt x="484574" y="473064"/>
                  <a:pt x="444966" y="454442"/>
                  <a:pt x="391408" y="420476"/>
                </a:cubicBezTo>
                <a:cubicBezTo>
                  <a:pt x="379920" y="421817"/>
                  <a:pt x="368135" y="422487"/>
                  <a:pt x="356424" y="422487"/>
                </a:cubicBezTo>
                <a:cubicBezTo>
                  <a:pt x="217382" y="422487"/>
                  <a:pt x="104225" y="327741"/>
                  <a:pt x="104225" y="211244"/>
                </a:cubicBezTo>
                <a:cubicBezTo>
                  <a:pt x="104225" y="94747"/>
                  <a:pt x="217382" y="0"/>
                  <a:pt x="356424" y="0"/>
                </a:cubicBezTo>
                <a:close/>
              </a:path>
            </a:pathLst>
          </a:custGeom>
          <a:solidFill>
            <a:schemeClr val="bg2"/>
          </a:solidFill>
          <a:ln w="12700" cap="flat" cmpd="sng" algn="ctr">
            <a:noFill/>
            <a:prstDash val="solid"/>
            <a:miter lim="800000"/>
          </a:ln>
          <a:effectLst/>
        </p:spPr>
        <p:txBody>
          <a:bodyPr rtlCol="0" anchor="ctr"/>
          <a:lstStyle/>
          <a:p>
            <a:pPr marL="0" marR="0" lvl="0" indent="0" algn="ctr" defTabSz="456565" rtl="0" eaLnBrk="1" fontAlgn="auto" latinLnBrk="0" hangingPunct="1">
              <a:lnSpc>
                <a:spcPct val="100000"/>
              </a:lnSpc>
              <a:spcBef>
                <a:spcPts val="0"/>
              </a:spcBef>
              <a:spcAft>
                <a:spcPts val="0"/>
              </a:spcAft>
              <a:buClrTx/>
              <a:buSzTx/>
              <a:buFontTx/>
              <a:buNone/>
              <a:defRPr/>
            </a:pPr>
            <a:endParaRPr kumimoji="0" lang="en-US" sz="1800" b="1" i="0" u="none" strike="noStrike" kern="0" cap="none" spc="0" normalizeH="0" baseline="0" noProof="0">
              <a:ln>
                <a:noFill/>
              </a:ln>
              <a:solidFill>
                <a:srgbClr val="F9FFFF"/>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76" name="直线箭头连接符 80"/>
          <p:cNvCxnSpPr/>
          <p:nvPr/>
        </p:nvCxnSpPr>
        <p:spPr>
          <a:xfrm>
            <a:off x="1345647" y="4530286"/>
            <a:ext cx="0" cy="714857"/>
          </a:xfrm>
          <a:prstGeom prst="straightConnector1">
            <a:avLst/>
          </a:prstGeom>
          <a:ln w="12700">
            <a:solidFill>
              <a:schemeClr val="accent1"/>
            </a:solidFill>
            <a:prstDash val="dash"/>
            <a:tailEnd type="triangle"/>
          </a:ln>
        </p:spPr>
        <p:style>
          <a:lnRef idx="1">
            <a:schemeClr val="accent1"/>
          </a:lnRef>
          <a:fillRef idx="0">
            <a:schemeClr val="accent1"/>
          </a:fillRef>
          <a:effectRef idx="0">
            <a:schemeClr val="accent1"/>
          </a:effectRef>
          <a:fontRef idx="minor">
            <a:schemeClr val="tx1"/>
          </a:fontRef>
        </p:style>
      </p:cxnSp>
      <p:sp>
        <p:nvSpPr>
          <p:cNvPr id="177" name="标题 1"/>
          <p:cNvSpPr txBox="1"/>
          <p:nvPr/>
        </p:nvSpPr>
        <p:spPr>
          <a:xfrm>
            <a:off x="4322763" y="3685798"/>
            <a:ext cx="3546475" cy="346075"/>
          </a:xfrm>
          <a:prstGeom prst="rect">
            <a:avLst/>
          </a:prstGeom>
          <a:noFill/>
        </p:spPr>
        <p:txBody>
          <a:bodyPr vert="horz" wrap="square" lIns="0" tIns="0" rIns="0" bIns="0" rtlCol="0" anchor="ctr">
            <a:spAutoFit/>
          </a:bodyPr>
          <a:lstStyle>
            <a:lvl1pPr algn="l" defTabSz="914400" rtl="0" eaLnBrk="1" latinLnBrk="0" hangingPunct="1">
              <a:lnSpc>
                <a:spcPct val="90000"/>
              </a:lnSpc>
              <a:spcBef>
                <a:spcPct val="0"/>
              </a:spcBef>
              <a:buNone/>
              <a:defRPr kumimoji="1" lang="zh-CN" altLang="en-US" sz="1800" kern="1200" dirty="0">
                <a:solidFill>
                  <a:schemeClr val="bg1"/>
                </a:solidFill>
                <a:latin typeface="OPPOSans B" panose="00020600040101010101" pitchFamily="18" charset="-122"/>
                <a:ea typeface="OPPOSans B" panose="00020600040101010101" pitchFamily="18" charset="-122"/>
                <a:cs typeface="OPPOSans B" panose="00020600040101010101" pitchFamily="18" charset="-122"/>
              </a:defRPr>
            </a:lvl1pPr>
          </a:lstStyle>
          <a:p>
            <a:pPr algn="ctr"/>
            <a:r>
              <a:rPr lang="zh-CN" altLang="en-US" sz="2500" b="1">
                <a:solidFill>
                  <a:schemeClr val="tx2"/>
                </a:solidFill>
                <a:latin typeface="微软雅黑" panose="020B0503020204020204" charset="-122"/>
                <a:ea typeface="微软雅黑" panose="020B0503020204020204" charset="-122"/>
                <a:cs typeface="微软雅黑" panose="020B0503020204020204" charset="-122"/>
              </a:rPr>
              <a:t>产品介绍</a:t>
            </a:r>
            <a:r>
              <a:rPr lang="en-US" altLang="zh-CN" sz="2500" b="1">
                <a:solidFill>
                  <a:schemeClr val="tx2"/>
                </a:solidFill>
                <a:latin typeface="微软雅黑" panose="020B0503020204020204" charset="-122"/>
                <a:ea typeface="微软雅黑" panose="020B0503020204020204" charset="-122"/>
                <a:cs typeface="微软雅黑" panose="020B0503020204020204" charset="-122"/>
              </a:rPr>
              <a:t>/</a:t>
            </a:r>
            <a:r>
              <a:rPr lang="zh-CN" altLang="en-US" sz="2500" b="1">
                <a:solidFill>
                  <a:schemeClr val="tx2"/>
                </a:solidFill>
                <a:latin typeface="微软雅黑" panose="020B0503020204020204" charset="-122"/>
                <a:ea typeface="微软雅黑" panose="020B0503020204020204" charset="-122"/>
                <a:cs typeface="微软雅黑" panose="020B0503020204020204" charset="-122"/>
              </a:rPr>
              <a:t>项目流程分析</a:t>
            </a:r>
            <a:endParaRPr lang="zh-CN" altLang="en-US" sz="2500" b="1">
              <a:solidFill>
                <a:schemeClr val="tx2"/>
              </a:solidFill>
              <a:latin typeface="微软雅黑" panose="020B0503020204020204" charset="-122"/>
              <a:ea typeface="微软雅黑" panose="020B0503020204020204" charset="-122"/>
              <a:cs typeface="微软雅黑" panose="020B0503020204020204" charset="-122"/>
            </a:endParaRPr>
          </a:p>
        </p:txBody>
      </p:sp>
      <p:pic>
        <p:nvPicPr>
          <p:cNvPr id="179" name="图片 178" descr="睡眠管理"/>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867275" y="4958715"/>
            <a:ext cx="435610" cy="435610"/>
          </a:xfrm>
          <a:prstGeom prst="rect">
            <a:avLst/>
          </a:prstGeom>
        </p:spPr>
      </p:pic>
      <p:pic>
        <p:nvPicPr>
          <p:cNvPr id="180" name="图片 179" descr="24gf-heartPulse"/>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867275" y="2435860"/>
            <a:ext cx="370205" cy="370205"/>
          </a:xfrm>
          <a:prstGeom prst="rect">
            <a:avLst/>
          </a:prstGeom>
        </p:spPr>
      </p:pic>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7"/>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latin typeface="微软雅黑" panose="020B0503020204020204" charset="-122"/>
                <a:ea typeface="微软雅黑" panose="020B0503020204020204" charset="-122"/>
                <a:cs typeface="微软雅黑" panose="020B0503020204020204" charset="-122"/>
              </a:rPr>
              <a:t>-</a:t>
            </a:r>
            <a:r>
              <a:rPr sz="2500">
                <a:solidFill>
                  <a:schemeClr val="accent1"/>
                </a:solidFill>
                <a:latin typeface="微软雅黑" panose="020B0503020204020204" charset="-122"/>
                <a:ea typeface="微软雅黑" panose="020B0503020204020204" charset="-122"/>
                <a:cs typeface="微软雅黑" panose="020B0503020204020204" charset="-122"/>
              </a:rPr>
              <a:t>循环逻辑架构 | </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业务数据中台闭环体系</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59" name="Circle"/>
          <p:cNvSpPr/>
          <p:nvPr/>
        </p:nvSpPr>
        <p:spPr>
          <a:xfrm>
            <a:off x="2176145" y="3029585"/>
            <a:ext cx="1689100" cy="1689100"/>
          </a:xfrm>
          <a:prstGeom prst="ellipse">
            <a:avLst/>
          </a:prstGeom>
          <a:gradFill>
            <a:gsLst>
              <a:gs pos="0">
                <a:schemeClr val="accent1">
                  <a:lumMod val="60000"/>
                  <a:lumOff val="40000"/>
                </a:schemeClr>
              </a:gs>
              <a:gs pos="75000">
                <a:schemeClr val="accent1"/>
              </a:gs>
            </a:gsLst>
            <a:lin ang="5400000" scaled="0"/>
          </a:gradFill>
          <a:ln w="12700" cap="flat">
            <a:noFill/>
            <a:miter lim="400000"/>
          </a:ln>
          <a:effectLst/>
        </p:spPr>
        <p:txBody>
          <a:bodyPr wrap="square" lIns="0" tIns="0" rIns="0" bIns="0" numCol="1" anchor="ctr">
            <a:noAutofit/>
          </a:bodyPr>
          <a:lstStyle/>
          <a:p>
            <a:pPr algn="ctr" defTabSz="412750" hangingPunct="0">
              <a:defRPr sz="3200" b="0">
                <a:solidFill>
                  <a:srgbClr val="FFFFFF"/>
                </a:solidFill>
                <a:latin typeface="+mn-lt"/>
                <a:ea typeface="+mn-ea"/>
                <a:cs typeface="+mn-cs"/>
                <a:sym typeface="Helvetica Neue Medium"/>
              </a:defRPr>
            </a:pPr>
            <a:endParaRPr sz="1600" kern="0">
              <a:solidFill>
                <a:srgbClr val="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Circle"/>
          <p:cNvSpPr/>
          <p:nvPr/>
        </p:nvSpPr>
        <p:spPr>
          <a:xfrm>
            <a:off x="8278495" y="3029585"/>
            <a:ext cx="1689100" cy="1689100"/>
          </a:xfrm>
          <a:prstGeom prst="ellipse">
            <a:avLst/>
          </a:prstGeom>
          <a:gradFill>
            <a:gsLst>
              <a:gs pos="0">
                <a:schemeClr val="accent5">
                  <a:lumMod val="60000"/>
                  <a:lumOff val="40000"/>
                </a:schemeClr>
              </a:gs>
              <a:gs pos="75000">
                <a:schemeClr val="accent5"/>
              </a:gs>
            </a:gsLst>
            <a:lin ang="5400000" scaled="0"/>
          </a:gradFill>
          <a:ln w="12700" cap="flat">
            <a:noFill/>
            <a:miter lim="400000"/>
          </a:ln>
          <a:effectLst/>
        </p:spPr>
        <p:txBody>
          <a:bodyPr wrap="square" lIns="0" tIns="0" rIns="0" bIns="0" numCol="1" anchor="ctr">
            <a:noAutofit/>
          </a:bodyPr>
          <a:lstStyle/>
          <a:p>
            <a:pPr lvl="0" algn="ctr" defTabSz="412750" hangingPunct="0">
              <a:buClrTx/>
              <a:buSzTx/>
              <a:buFontTx/>
              <a:defRPr sz="3200" b="0">
                <a:solidFill>
                  <a:srgbClr val="FFFFFF"/>
                </a:solidFill>
                <a:latin typeface="+mn-lt"/>
                <a:ea typeface="+mn-ea"/>
                <a:cs typeface="+mn-cs"/>
                <a:sym typeface="Helvetica Neue Medium"/>
              </a:defRPr>
            </a:pPr>
            <a:endParaRPr sz="1600" kern="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1" name="Shape"/>
          <p:cNvSpPr/>
          <p:nvPr/>
        </p:nvSpPr>
        <p:spPr>
          <a:xfrm>
            <a:off x="3369945" y="2115820"/>
            <a:ext cx="2836545" cy="61023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118" y="0"/>
                </a:lnTo>
                <a:lnTo>
                  <a:pt x="21600" y="10922"/>
                </a:lnTo>
                <a:lnTo>
                  <a:pt x="19234" y="21600"/>
                </a:lnTo>
                <a:lnTo>
                  <a:pt x="127" y="21600"/>
                </a:lnTo>
                <a:lnTo>
                  <a:pt x="2478" y="10798"/>
                </a:lnTo>
                <a:lnTo>
                  <a:pt x="0" y="0"/>
                </a:lnTo>
                <a:close/>
              </a:path>
            </a:pathLst>
          </a:custGeom>
          <a:gradFill>
            <a:gsLst>
              <a:gs pos="0">
                <a:schemeClr val="accent1">
                  <a:lumMod val="40000"/>
                  <a:lumOff val="60000"/>
                </a:schemeClr>
              </a:gs>
              <a:gs pos="100000">
                <a:schemeClr val="accent1">
                  <a:lumMod val="60000"/>
                  <a:lumOff val="40000"/>
                </a:schemeClr>
              </a:gs>
            </a:gsLst>
            <a:lin ang="0" scaled="0"/>
          </a:gradFill>
          <a:ln>
            <a:noFill/>
          </a:ln>
          <a:effectLst>
            <a:outerShdw blurRad="177800" sx="102000" sy="102000" algn="ctr" rotWithShape="0">
              <a:schemeClr val="accent1">
                <a:lumMod val="7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6" name="Shape"/>
          <p:cNvSpPr/>
          <p:nvPr/>
        </p:nvSpPr>
        <p:spPr>
          <a:xfrm>
            <a:off x="6036310" y="2116455"/>
            <a:ext cx="2839085" cy="607695"/>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9116" y="0"/>
                </a:lnTo>
                <a:lnTo>
                  <a:pt x="21600" y="10872"/>
                </a:lnTo>
                <a:lnTo>
                  <a:pt x="19242" y="21600"/>
                </a:lnTo>
                <a:lnTo>
                  <a:pt x="127" y="21600"/>
                </a:lnTo>
                <a:lnTo>
                  <a:pt x="2468" y="10820"/>
                </a:lnTo>
                <a:lnTo>
                  <a:pt x="0" y="0"/>
                </a:lnTo>
                <a:close/>
              </a:path>
            </a:pathLst>
          </a:custGeom>
          <a:gradFill>
            <a:gsLst>
              <a:gs pos="0">
                <a:schemeClr val="accent1">
                  <a:lumMod val="40000"/>
                  <a:lumOff val="60000"/>
                </a:schemeClr>
              </a:gs>
              <a:gs pos="100000">
                <a:schemeClr val="accent1">
                  <a:lumMod val="60000"/>
                  <a:lumOff val="40000"/>
                </a:schemeClr>
              </a:gs>
            </a:gsLst>
            <a:lin ang="0" scaled="0"/>
          </a:gradFill>
          <a:ln>
            <a:noFill/>
          </a:ln>
          <a:effectLst>
            <a:outerShdw blurRad="177800" sx="102000" sy="102000" algn="ctr" rotWithShape="0">
              <a:schemeClr val="accent1">
                <a:lumMod val="7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7" name="Shape"/>
          <p:cNvSpPr/>
          <p:nvPr/>
        </p:nvSpPr>
        <p:spPr>
          <a:xfrm>
            <a:off x="8704287" y="2115820"/>
            <a:ext cx="2235702" cy="1753181"/>
          </a:xfrm>
          <a:custGeom>
            <a:avLst/>
            <a:gdLst/>
            <a:ahLst/>
            <a:cxnLst>
              <a:cxn ang="0">
                <a:pos x="wd2" y="hd2"/>
              </a:cxn>
              <a:cxn ang="5400000">
                <a:pos x="wd2" y="hd2"/>
              </a:cxn>
              <a:cxn ang="10800000">
                <a:pos x="wd2" y="hd2"/>
              </a:cxn>
              <a:cxn ang="16200000">
                <a:pos x="wd2" y="hd2"/>
              </a:cxn>
            </a:cxnLst>
            <a:rect l="0" t="0" r="r" b="b"/>
            <a:pathLst>
              <a:path w="3521" h="2761">
                <a:moveTo>
                  <a:pt x="0" y="0"/>
                </a:moveTo>
                <a:lnTo>
                  <a:pt x="669" y="0"/>
                </a:lnTo>
                <a:cubicBezTo>
                  <a:pt x="2122" y="5"/>
                  <a:pt x="3336" y="1129"/>
                  <a:pt x="3521" y="2345"/>
                </a:cubicBezTo>
                <a:lnTo>
                  <a:pt x="3037" y="2761"/>
                </a:lnTo>
                <a:lnTo>
                  <a:pt x="2444" y="2251"/>
                </a:lnTo>
                <a:cubicBezTo>
                  <a:pt x="2261" y="1542"/>
                  <a:pt x="1396" y="938"/>
                  <a:pt x="623" y="960"/>
                </a:cubicBezTo>
                <a:lnTo>
                  <a:pt x="24" y="960"/>
                </a:lnTo>
                <a:lnTo>
                  <a:pt x="515" y="480"/>
                </a:lnTo>
                <a:lnTo>
                  <a:pt x="0" y="0"/>
                </a:lnTo>
                <a:close/>
              </a:path>
            </a:pathLst>
          </a:custGeom>
          <a:gradFill>
            <a:gsLst>
              <a:gs pos="100000">
                <a:schemeClr val="accent5">
                  <a:lumMod val="40000"/>
                  <a:lumOff val="60000"/>
                </a:schemeClr>
              </a:gs>
              <a:gs pos="0">
                <a:schemeClr val="accent5">
                  <a:lumMod val="60000"/>
                  <a:lumOff val="40000"/>
                </a:schemeClr>
              </a:gs>
            </a:gsLst>
            <a:lin ang="0" scaled="0"/>
          </a:gradFill>
          <a:ln>
            <a:noFill/>
          </a:ln>
          <a:effectLst>
            <a:outerShdw blurRad="177800" sx="102000" sy="102000" algn="ctr" rotWithShape="0">
              <a:schemeClr val="accent1">
                <a:lumMod val="7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3" name="Shape"/>
          <p:cNvSpPr/>
          <p:nvPr/>
        </p:nvSpPr>
        <p:spPr>
          <a:xfrm>
            <a:off x="3268345" y="5034915"/>
            <a:ext cx="2831465" cy="609600"/>
          </a:xfrm>
          <a:custGeom>
            <a:avLst/>
            <a:gdLst/>
            <a:ahLst/>
            <a:cxnLst>
              <a:cxn ang="0">
                <a:pos x="wd2" y="hd2"/>
              </a:cxn>
              <a:cxn ang="5400000">
                <a:pos x="wd2" y="hd2"/>
              </a:cxn>
              <a:cxn ang="10800000">
                <a:pos x="wd2" y="hd2"/>
              </a:cxn>
              <a:cxn ang="16200000">
                <a:pos x="wd2" y="hd2"/>
              </a:cxn>
            </a:cxnLst>
            <a:rect l="0" t="0" r="r" b="b"/>
            <a:pathLst>
              <a:path w="21600" h="21600" extrusionOk="0">
                <a:moveTo>
                  <a:pt x="2387" y="0"/>
                </a:moveTo>
                <a:lnTo>
                  <a:pt x="21506" y="0"/>
                </a:lnTo>
                <a:lnTo>
                  <a:pt x="19125" y="10802"/>
                </a:lnTo>
                <a:lnTo>
                  <a:pt x="21600" y="21583"/>
                </a:lnTo>
                <a:lnTo>
                  <a:pt x="2461" y="21600"/>
                </a:lnTo>
                <a:lnTo>
                  <a:pt x="0" y="10827"/>
                </a:lnTo>
                <a:lnTo>
                  <a:pt x="2387" y="0"/>
                </a:lnTo>
                <a:close/>
              </a:path>
            </a:pathLst>
          </a:custGeom>
          <a:gradFill>
            <a:gsLst>
              <a:gs pos="100000">
                <a:schemeClr val="accent5">
                  <a:lumMod val="40000"/>
                  <a:lumOff val="60000"/>
                </a:schemeClr>
              </a:gs>
              <a:gs pos="0">
                <a:schemeClr val="accent5">
                  <a:lumMod val="60000"/>
                  <a:lumOff val="40000"/>
                </a:schemeClr>
              </a:gs>
            </a:gsLst>
            <a:lin ang="0" scaled="0"/>
          </a:gradFill>
          <a:ln>
            <a:noFill/>
          </a:ln>
          <a:effectLst>
            <a:outerShdw blurRad="177800" sx="102000" sy="102000" algn="ctr" rotWithShape="0">
              <a:schemeClr val="accent1">
                <a:lumMod val="7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4" name="Shape"/>
          <p:cNvSpPr/>
          <p:nvPr/>
        </p:nvSpPr>
        <p:spPr>
          <a:xfrm>
            <a:off x="1174268" y="3696388"/>
            <a:ext cx="2265957" cy="1948762"/>
          </a:xfrm>
          <a:custGeom>
            <a:avLst/>
            <a:gdLst/>
            <a:ahLst/>
            <a:cxnLst>
              <a:cxn ang="0">
                <a:pos x="wd2" y="hd2"/>
              </a:cxn>
              <a:cxn ang="5400000">
                <a:pos x="wd2" y="hd2"/>
              </a:cxn>
              <a:cxn ang="10800000">
                <a:pos x="wd2" y="hd2"/>
              </a:cxn>
              <a:cxn ang="16200000">
                <a:pos x="wd2" y="hd2"/>
              </a:cxn>
            </a:cxnLst>
            <a:rect l="0" t="0" r="r" b="b"/>
            <a:pathLst>
              <a:path w="3573" h="3069">
                <a:moveTo>
                  <a:pt x="3541" y="2106"/>
                </a:moveTo>
                <a:lnTo>
                  <a:pt x="3055" y="2588"/>
                </a:lnTo>
                <a:lnTo>
                  <a:pt x="3568" y="3069"/>
                </a:lnTo>
                <a:lnTo>
                  <a:pt x="2883" y="3064"/>
                </a:lnTo>
                <a:cubicBezTo>
                  <a:pt x="1157" y="3099"/>
                  <a:pt x="-91" y="1407"/>
                  <a:pt x="0" y="445"/>
                </a:cubicBezTo>
                <a:lnTo>
                  <a:pt x="518" y="0"/>
                </a:lnTo>
                <a:lnTo>
                  <a:pt x="1036" y="445"/>
                </a:lnTo>
                <a:cubicBezTo>
                  <a:pt x="1330" y="1851"/>
                  <a:pt x="2491" y="2159"/>
                  <a:pt x="2962" y="2106"/>
                </a:cubicBezTo>
                <a:lnTo>
                  <a:pt x="2981" y="2106"/>
                </a:lnTo>
                <a:lnTo>
                  <a:pt x="3541" y="2106"/>
                </a:lnTo>
                <a:close/>
              </a:path>
            </a:pathLst>
          </a:custGeom>
          <a:gradFill>
            <a:gsLst>
              <a:gs pos="0">
                <a:schemeClr val="accent1">
                  <a:lumMod val="40000"/>
                  <a:lumOff val="60000"/>
                </a:schemeClr>
              </a:gs>
              <a:gs pos="100000">
                <a:schemeClr val="accent1">
                  <a:lumMod val="60000"/>
                  <a:lumOff val="40000"/>
                </a:schemeClr>
              </a:gs>
            </a:gsLst>
            <a:lin ang="16200000" scaled="0"/>
          </a:gradFill>
          <a:ln>
            <a:noFill/>
          </a:ln>
          <a:effectLst>
            <a:outerShdw blurRad="177800" sx="102000" sy="102000" algn="ctr" rotWithShape="0">
              <a:schemeClr val="accent1">
                <a:lumMod val="7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lvl="0" algn="ctr">
              <a:buClrTx/>
              <a:buSzTx/>
              <a:buFontTx/>
            </a:pPr>
            <a:endParaRPr>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7" name="This is a sample text.…"/>
          <p:cNvSpPr txBox="1"/>
          <p:nvPr/>
        </p:nvSpPr>
        <p:spPr>
          <a:xfrm>
            <a:off x="2458403" y="3437573"/>
            <a:ext cx="1124585" cy="873125"/>
          </a:xfrm>
          <a:prstGeom prst="rect">
            <a:avLst/>
          </a:prstGeom>
          <a:noFill/>
          <a:ln w="12700" cap="flat">
            <a:noFill/>
            <a:miter lim="400000"/>
          </a:ln>
          <a:effectLst/>
        </p:spPr>
        <p:txBody>
          <a:bodyPr wrap="square" lIns="25400" tIns="25400" rIns="25400" bIns="25400" numCol="1" anchor="ctr" anchorCtr="0">
            <a:noAutofit/>
          </a:bodyPr>
          <a:lstStyle/>
          <a:p>
            <a:pPr algn="ctr" defTabSz="412750" hangingPunct="0"/>
            <a:r>
              <a:rPr lang="zh-CN" altLang="en-US" sz="2500" b="1" kern="0" dirty="0">
                <a:solidFill>
                  <a:schemeClr val="bg1"/>
                </a:solidFill>
                <a:latin typeface="微软雅黑" panose="020B0503020204020204" charset="-122"/>
                <a:ea typeface="微软雅黑" panose="020B0503020204020204" charset="-122"/>
                <a:cs typeface="微软雅黑" panose="020B0503020204020204" charset="-122"/>
              </a:rPr>
              <a:t>业务</a:t>
            </a:r>
            <a:endParaRPr lang="zh-CN" altLang="en-US" sz="2500" b="1" kern="0" dirty="0">
              <a:solidFill>
                <a:schemeClr val="bg1"/>
              </a:solidFill>
              <a:latin typeface="微软雅黑" panose="020B0503020204020204" charset="-122"/>
              <a:ea typeface="微软雅黑" panose="020B0503020204020204" charset="-122"/>
              <a:cs typeface="微软雅黑" panose="020B0503020204020204" charset="-122"/>
            </a:endParaRPr>
          </a:p>
          <a:p>
            <a:pPr algn="ctr" defTabSz="412750" hangingPunct="0"/>
            <a:r>
              <a:rPr lang="zh-CN" altLang="en-US" sz="2500" b="1" kern="0" dirty="0">
                <a:solidFill>
                  <a:schemeClr val="bg1"/>
                </a:solidFill>
                <a:latin typeface="微软雅黑" panose="020B0503020204020204" charset="-122"/>
                <a:ea typeface="微软雅黑" panose="020B0503020204020204" charset="-122"/>
                <a:cs typeface="微软雅黑" panose="020B0503020204020204" charset="-122"/>
              </a:rPr>
              <a:t>中台</a:t>
            </a:r>
            <a:endParaRPr lang="zh-CN" altLang="en-US" sz="2500" b="1" kern="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80" name="Sample text"/>
          <p:cNvSpPr txBox="1"/>
          <p:nvPr/>
        </p:nvSpPr>
        <p:spPr>
          <a:xfrm>
            <a:off x="3816668" y="2269808"/>
            <a:ext cx="1943100" cy="302260"/>
          </a:xfrm>
          <a:prstGeom prst="rect">
            <a:avLst/>
          </a:prstGeom>
          <a:noFill/>
          <a:ln w="12700" cap="flat">
            <a:noFill/>
            <a:miter lim="400000"/>
          </a:ln>
          <a:effectLst/>
        </p:spPr>
        <p:txBody>
          <a:bodyPr wrap="square" lIns="25400" tIns="25400" rIns="25400" bIns="25400" numCol="1" anchor="ctr" anchorCtr="0">
            <a:noAutofit/>
          </a:bodyPr>
          <a:lstStyle>
            <a:lvl1pPr algn="l">
              <a:defRPr sz="25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defTabSz="412750" hangingPunct="0"/>
            <a:r>
              <a:rPr lang="zh-CN" altLang="en-US" sz="2000" b="1" kern="0" dirty="0">
                <a:latin typeface="微软雅黑" panose="020B0503020204020204" charset="-122"/>
                <a:ea typeface="微软雅黑" panose="020B0503020204020204" charset="-122"/>
                <a:cs typeface="微软雅黑" panose="020B0503020204020204" charset="-122"/>
                <a:sym typeface="微软雅黑" panose="020B0503020204020204" charset="-122"/>
              </a:rPr>
              <a:t>品牌认知</a:t>
            </a:r>
            <a:endParaRPr lang="zh-CN" altLang="en-US" sz="2000" b="1" kern="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90" name="组合 89"/>
          <p:cNvGrpSpPr/>
          <p:nvPr/>
        </p:nvGrpSpPr>
        <p:grpSpPr>
          <a:xfrm flipH="1">
            <a:off x="7238447" y="1795507"/>
            <a:ext cx="4332613" cy="4193488"/>
            <a:chOff x="512572" y="1536781"/>
            <a:chExt cx="4332613" cy="4193488"/>
          </a:xfrm>
        </p:grpSpPr>
        <p:sp>
          <p:nvSpPr>
            <p:cNvPr id="91" name="椭圆 90"/>
            <p:cNvSpPr/>
            <p:nvPr/>
          </p:nvSpPr>
          <p:spPr>
            <a:xfrm>
              <a:off x="651697" y="1536781"/>
              <a:ext cx="4193488" cy="4193488"/>
            </a:xfrm>
            <a:prstGeom prst="ellipse">
              <a:avLst/>
            </a:prstGeom>
            <a:noFill/>
            <a:ln w="31750">
              <a:gradFill flip="none" rotWithShape="1">
                <a:gsLst>
                  <a:gs pos="86000">
                    <a:schemeClr val="accent5">
                      <a:lumMod val="60000"/>
                      <a:lumOff val="40000"/>
                      <a:alpha val="0"/>
                    </a:schemeClr>
                  </a:gs>
                  <a:gs pos="100000">
                    <a:schemeClr val="accent5">
                      <a:lumMod val="60000"/>
                      <a:lumOff val="40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dirty="0">
                <a:latin typeface="微软雅黑" panose="020B0503020204020204" charset="-122"/>
                <a:ea typeface="微软雅黑" panose="020B0503020204020204" charset="-122"/>
                <a:cs typeface="微软雅黑" panose="020B0503020204020204" charset="-122"/>
              </a:endParaRPr>
            </a:p>
          </p:txBody>
        </p:sp>
        <p:sp>
          <p:nvSpPr>
            <p:cNvPr id="92" name="三角形 71"/>
            <p:cNvSpPr>
              <a:spLocks noChangeAspect="1"/>
            </p:cNvSpPr>
            <p:nvPr/>
          </p:nvSpPr>
          <p:spPr>
            <a:xfrm rot="10800000">
              <a:off x="512572" y="3425668"/>
              <a:ext cx="273081" cy="235414"/>
            </a:xfrm>
            <a:prstGeom prst="triangle">
              <a:avLst/>
            </a:prstGeom>
            <a:solidFill>
              <a:schemeClr val="accent5">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grpSp>
      <p:sp>
        <p:nvSpPr>
          <p:cNvPr id="17" name="Shape"/>
          <p:cNvSpPr/>
          <p:nvPr/>
        </p:nvSpPr>
        <p:spPr>
          <a:xfrm>
            <a:off x="8592185" y="3753603"/>
            <a:ext cx="2372345" cy="1890277"/>
          </a:xfrm>
          <a:custGeom>
            <a:avLst/>
            <a:gdLst/>
            <a:ahLst/>
            <a:cxnLst>
              <a:cxn ang="0">
                <a:pos x="wd2" y="hd2"/>
              </a:cxn>
              <a:cxn ang="5400000">
                <a:pos x="wd2" y="hd2"/>
              </a:cxn>
              <a:cxn ang="10800000">
                <a:pos x="wd2" y="hd2"/>
              </a:cxn>
              <a:cxn ang="16200000">
                <a:pos x="wd2" y="hd2"/>
              </a:cxn>
            </a:cxnLst>
            <a:rect l="0" t="0" r="r" b="b"/>
            <a:pathLst>
              <a:path w="3738" h="2979">
                <a:moveTo>
                  <a:pt x="3728" y="7"/>
                </a:moveTo>
                <a:cubicBezTo>
                  <a:pt x="3733" y="56"/>
                  <a:pt x="3737" y="190"/>
                  <a:pt x="3736" y="195"/>
                </a:cubicBezTo>
                <a:cubicBezTo>
                  <a:pt x="3797" y="1738"/>
                  <a:pt x="2238" y="3042"/>
                  <a:pt x="775" y="2977"/>
                </a:cubicBezTo>
                <a:lnTo>
                  <a:pt x="513" y="2977"/>
                </a:lnTo>
                <a:lnTo>
                  <a:pt x="0" y="2500"/>
                </a:lnTo>
                <a:lnTo>
                  <a:pt x="491" y="2018"/>
                </a:lnTo>
                <a:lnTo>
                  <a:pt x="797" y="2018"/>
                </a:lnTo>
                <a:cubicBezTo>
                  <a:pt x="1838" y="1961"/>
                  <a:pt x="2672" y="1246"/>
                  <a:pt x="2701" y="207"/>
                </a:cubicBezTo>
                <a:lnTo>
                  <a:pt x="2701" y="158"/>
                </a:lnTo>
                <a:lnTo>
                  <a:pt x="2699" y="110"/>
                </a:lnTo>
                <a:lnTo>
                  <a:pt x="2696" y="63"/>
                </a:lnTo>
                <a:lnTo>
                  <a:pt x="2692" y="15"/>
                </a:lnTo>
                <a:lnTo>
                  <a:pt x="2690" y="0"/>
                </a:lnTo>
                <a:lnTo>
                  <a:pt x="3214" y="449"/>
                </a:lnTo>
                <a:lnTo>
                  <a:pt x="3728" y="7"/>
                </a:lnTo>
                <a:close/>
              </a:path>
            </a:pathLst>
          </a:custGeom>
          <a:gradFill>
            <a:gsLst>
              <a:gs pos="100000">
                <a:schemeClr val="accent5">
                  <a:lumMod val="40000"/>
                  <a:lumOff val="60000"/>
                </a:schemeClr>
              </a:gs>
              <a:gs pos="0">
                <a:schemeClr val="accent5">
                  <a:lumMod val="60000"/>
                  <a:lumOff val="40000"/>
                </a:schemeClr>
              </a:gs>
            </a:gsLst>
            <a:lin ang="0" scaled="0"/>
          </a:gradFill>
          <a:ln>
            <a:noFill/>
          </a:ln>
          <a:effectLst>
            <a:outerShdw blurRad="177800" sx="102000" sy="102000" algn="ctr" rotWithShape="0">
              <a:schemeClr val="accent1">
                <a:lumMod val="7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 name="Shape"/>
          <p:cNvSpPr/>
          <p:nvPr/>
        </p:nvSpPr>
        <p:spPr>
          <a:xfrm>
            <a:off x="1173285" y="2112010"/>
            <a:ext cx="2366840" cy="1697980"/>
          </a:xfrm>
          <a:custGeom>
            <a:avLst/>
            <a:gdLst/>
            <a:ahLst/>
            <a:cxnLst>
              <a:cxn ang="0">
                <a:pos x="wd2" y="hd2"/>
              </a:cxn>
              <a:cxn ang="5400000">
                <a:pos x="wd2" y="hd2"/>
              </a:cxn>
              <a:cxn ang="10800000">
                <a:pos x="wd2" y="hd2"/>
              </a:cxn>
              <a:cxn ang="16200000">
                <a:pos x="wd2" y="hd2"/>
              </a:cxn>
            </a:cxnLst>
            <a:rect l="0" t="0" r="r" b="b"/>
            <a:pathLst>
              <a:path w="3727" h="2686">
                <a:moveTo>
                  <a:pt x="0" y="2674"/>
                </a:moveTo>
                <a:cubicBezTo>
                  <a:pt x="89" y="847"/>
                  <a:pt x="2011" y="-134"/>
                  <a:pt x="2913" y="0"/>
                </a:cubicBezTo>
                <a:lnTo>
                  <a:pt x="3226" y="8"/>
                </a:lnTo>
                <a:lnTo>
                  <a:pt x="3727" y="487"/>
                </a:lnTo>
                <a:lnTo>
                  <a:pt x="3247" y="961"/>
                </a:lnTo>
                <a:lnTo>
                  <a:pt x="2946" y="961"/>
                </a:lnTo>
                <a:cubicBezTo>
                  <a:pt x="1911" y="915"/>
                  <a:pt x="1038" y="1879"/>
                  <a:pt x="1033" y="2669"/>
                </a:cubicBezTo>
                <a:lnTo>
                  <a:pt x="520" y="2228"/>
                </a:lnTo>
                <a:lnTo>
                  <a:pt x="0" y="2674"/>
                </a:lnTo>
                <a:close/>
              </a:path>
            </a:pathLst>
          </a:custGeom>
          <a:gradFill>
            <a:gsLst>
              <a:gs pos="0">
                <a:schemeClr val="accent1">
                  <a:lumMod val="40000"/>
                  <a:lumOff val="60000"/>
                </a:schemeClr>
              </a:gs>
              <a:gs pos="100000">
                <a:schemeClr val="accent1">
                  <a:lumMod val="60000"/>
                  <a:lumOff val="40000"/>
                </a:schemeClr>
              </a:gs>
            </a:gsLst>
            <a:lin ang="16200000" scaled="0"/>
          </a:gradFill>
          <a:ln>
            <a:noFill/>
          </a:ln>
          <a:effectLst>
            <a:outerShdw blurRad="177800" sx="102000" sy="102000" algn="ctr" rotWithShape="0">
              <a:schemeClr val="accent1">
                <a:lumMod val="75000"/>
                <a:alpha val="11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defPPr>
              <a:defRPr lang="en-US">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a:solidFill>
                <a:schemeClr val="l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0" name="This is a sample text.…"/>
          <p:cNvSpPr txBox="1"/>
          <p:nvPr/>
        </p:nvSpPr>
        <p:spPr>
          <a:xfrm>
            <a:off x="8560753" y="3437573"/>
            <a:ext cx="1124585" cy="873125"/>
          </a:xfrm>
          <a:prstGeom prst="rect">
            <a:avLst/>
          </a:prstGeom>
          <a:noFill/>
          <a:ln w="12700" cap="flat">
            <a:noFill/>
            <a:miter lim="400000"/>
          </a:ln>
          <a:effectLst/>
        </p:spPr>
        <p:txBody>
          <a:bodyPr wrap="square" lIns="25400" tIns="25400" rIns="25400" bIns="25400" numCol="1" anchor="ctr" anchorCtr="0">
            <a:noAutofit/>
          </a:bodyPr>
          <a:lstStyle/>
          <a:p>
            <a:pPr algn="ctr" defTabSz="412750" hangingPunct="0"/>
            <a:r>
              <a:rPr lang="zh-CN" altLang="en-US" sz="2500" b="1" kern="0" dirty="0">
                <a:solidFill>
                  <a:schemeClr val="bg1"/>
                </a:solidFill>
                <a:latin typeface="微软雅黑" panose="020B0503020204020204" charset="-122"/>
                <a:ea typeface="微软雅黑" panose="020B0503020204020204" charset="-122"/>
                <a:cs typeface="微软雅黑" panose="020B0503020204020204" charset="-122"/>
              </a:rPr>
              <a:t>数据</a:t>
            </a:r>
            <a:endParaRPr lang="zh-CN" altLang="en-US" sz="2500" b="1" kern="0" dirty="0">
              <a:solidFill>
                <a:schemeClr val="bg1"/>
              </a:solidFill>
              <a:latin typeface="微软雅黑" panose="020B0503020204020204" charset="-122"/>
              <a:ea typeface="微软雅黑" panose="020B0503020204020204" charset="-122"/>
              <a:cs typeface="微软雅黑" panose="020B0503020204020204" charset="-122"/>
            </a:endParaRPr>
          </a:p>
          <a:p>
            <a:pPr algn="ctr" defTabSz="412750" hangingPunct="0"/>
            <a:r>
              <a:rPr lang="zh-CN" altLang="en-US" sz="2500" b="1" kern="0" dirty="0">
                <a:solidFill>
                  <a:schemeClr val="bg1"/>
                </a:solidFill>
                <a:latin typeface="微软雅黑" panose="020B0503020204020204" charset="-122"/>
                <a:ea typeface="微软雅黑" panose="020B0503020204020204" charset="-122"/>
                <a:cs typeface="微软雅黑" panose="020B0503020204020204" charset="-122"/>
              </a:rPr>
              <a:t>中台</a:t>
            </a:r>
            <a:endParaRPr lang="zh-CN" altLang="en-US" sz="2500" b="1" kern="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 name="Sample text"/>
          <p:cNvSpPr txBox="1"/>
          <p:nvPr/>
        </p:nvSpPr>
        <p:spPr>
          <a:xfrm>
            <a:off x="6484303" y="2269808"/>
            <a:ext cx="1943100" cy="302260"/>
          </a:xfrm>
          <a:prstGeom prst="rect">
            <a:avLst/>
          </a:prstGeom>
          <a:noFill/>
          <a:ln w="12700" cap="flat">
            <a:noFill/>
            <a:miter lim="400000"/>
          </a:ln>
          <a:effectLst/>
        </p:spPr>
        <p:txBody>
          <a:bodyPr wrap="square" lIns="25400" tIns="25400" rIns="25400" bIns="25400" numCol="1" anchor="ctr" anchorCtr="0">
            <a:noAutofit/>
          </a:bodyPr>
          <a:lstStyle>
            <a:lvl1pPr algn="l">
              <a:defRPr sz="25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defTabSz="412750" hangingPunct="0"/>
            <a:r>
              <a:rPr lang="zh-CN" altLang="en-US" sz="2000" b="1" kern="0" dirty="0">
                <a:latin typeface="微软雅黑" panose="020B0503020204020204" charset="-122"/>
                <a:ea typeface="微软雅黑" panose="020B0503020204020204" charset="-122"/>
                <a:cs typeface="微软雅黑" panose="020B0503020204020204" charset="-122"/>
                <a:sym typeface="微软雅黑" panose="020B0503020204020204" charset="-122"/>
              </a:rPr>
              <a:t>市场互动</a:t>
            </a:r>
            <a:endParaRPr lang="zh-CN" altLang="en-US" sz="2000" b="1" kern="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Sample text"/>
          <p:cNvSpPr txBox="1"/>
          <p:nvPr/>
        </p:nvSpPr>
        <p:spPr>
          <a:xfrm>
            <a:off x="3714433" y="5175568"/>
            <a:ext cx="1943100" cy="302260"/>
          </a:xfrm>
          <a:prstGeom prst="rect">
            <a:avLst/>
          </a:prstGeom>
          <a:noFill/>
          <a:ln w="12700" cap="flat">
            <a:noFill/>
            <a:miter lim="400000"/>
          </a:ln>
          <a:effectLst/>
        </p:spPr>
        <p:txBody>
          <a:bodyPr wrap="square" lIns="25400" tIns="25400" rIns="25400" bIns="25400" numCol="1" anchor="ctr" anchorCtr="0">
            <a:noAutofit/>
          </a:bodyPr>
          <a:lstStyle>
            <a:lvl1pPr algn="l">
              <a:defRPr sz="25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defTabSz="412750" hangingPunct="0"/>
            <a:r>
              <a:rPr lang="zh-CN" altLang="en-US" sz="2000" b="1" kern="0" dirty="0">
                <a:latin typeface="微软雅黑" panose="020B0503020204020204" charset="-122"/>
                <a:ea typeface="微软雅黑" panose="020B0503020204020204" charset="-122"/>
                <a:cs typeface="微软雅黑" panose="020B0503020204020204" charset="-122"/>
                <a:sym typeface="微软雅黑" panose="020B0503020204020204" charset="-122"/>
              </a:rPr>
              <a:t>智能服务</a:t>
            </a:r>
            <a:endParaRPr lang="zh-CN" altLang="en-US" sz="2000" b="1" kern="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15" name="组合 114"/>
          <p:cNvGrpSpPr/>
          <p:nvPr/>
        </p:nvGrpSpPr>
        <p:grpSpPr>
          <a:xfrm>
            <a:off x="3134995" y="5787390"/>
            <a:ext cx="5713095" cy="853440"/>
            <a:chOff x="5135" y="8934"/>
            <a:chExt cx="8997" cy="1344"/>
          </a:xfrm>
        </p:grpSpPr>
        <p:grpSp>
          <p:nvGrpSpPr>
            <p:cNvPr id="50" name="组合 49"/>
            <p:cNvGrpSpPr/>
            <p:nvPr/>
          </p:nvGrpSpPr>
          <p:grpSpPr>
            <a:xfrm>
              <a:off x="5135" y="9024"/>
              <a:ext cx="4368" cy="1195"/>
              <a:chOff x="5135" y="9024"/>
              <a:chExt cx="4368" cy="1195"/>
            </a:xfrm>
          </p:grpSpPr>
          <p:sp>
            <p:nvSpPr>
              <p:cNvPr id="51" name="Process flow diagram"/>
              <p:cNvSpPr txBox="1"/>
              <p:nvPr/>
            </p:nvSpPr>
            <p:spPr>
              <a:xfrm>
                <a:off x="5135" y="9801"/>
                <a:ext cx="1826"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智能客服</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52" name="图片 51" descr="客服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724" y="9024"/>
                <a:ext cx="649" cy="649"/>
              </a:xfrm>
              <a:prstGeom prst="rect">
                <a:avLst/>
              </a:prstGeom>
            </p:spPr>
          </p:pic>
          <p:sp>
            <p:nvSpPr>
              <p:cNvPr id="53" name="Process flow diagram"/>
              <p:cNvSpPr txBox="1"/>
              <p:nvPr/>
            </p:nvSpPr>
            <p:spPr>
              <a:xfrm>
                <a:off x="6748" y="9801"/>
                <a:ext cx="1543"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满意度</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54" name="图片 53" descr="Satisfaction survey"/>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218" y="9047"/>
                <a:ext cx="603" cy="603"/>
              </a:xfrm>
              <a:prstGeom prst="rect">
                <a:avLst/>
              </a:prstGeom>
            </p:spPr>
          </p:pic>
          <p:sp>
            <p:nvSpPr>
              <p:cNvPr id="55" name="Process flow diagram"/>
              <p:cNvSpPr txBox="1"/>
              <p:nvPr/>
            </p:nvSpPr>
            <p:spPr>
              <a:xfrm>
                <a:off x="8245" y="9801"/>
                <a:ext cx="1259"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售后</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56" name="图片 55" descr="售后"/>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632" y="9107"/>
                <a:ext cx="484" cy="484"/>
              </a:xfrm>
              <a:prstGeom prst="rect">
                <a:avLst/>
              </a:prstGeom>
            </p:spPr>
          </p:pic>
        </p:grpSp>
        <p:grpSp>
          <p:nvGrpSpPr>
            <p:cNvPr id="57" name="组合 56"/>
            <p:cNvGrpSpPr/>
            <p:nvPr/>
          </p:nvGrpSpPr>
          <p:grpSpPr>
            <a:xfrm>
              <a:off x="9763" y="9801"/>
              <a:ext cx="4369" cy="419"/>
              <a:chOff x="5135" y="9801"/>
              <a:chExt cx="4369" cy="419"/>
            </a:xfrm>
          </p:grpSpPr>
          <p:sp>
            <p:nvSpPr>
              <p:cNvPr id="58" name="Process flow diagram"/>
              <p:cNvSpPr txBox="1"/>
              <p:nvPr/>
            </p:nvSpPr>
            <p:spPr>
              <a:xfrm>
                <a:off x="5135" y="9801"/>
                <a:ext cx="1826"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en-US" altLang="zh-CN"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B2C</a:t>
                </a:r>
                <a:endParaRPr lang="en-US" altLang="zh-CN"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0" name="Process flow diagram"/>
              <p:cNvSpPr txBox="1"/>
              <p:nvPr/>
            </p:nvSpPr>
            <p:spPr>
              <a:xfrm>
                <a:off x="6628" y="9801"/>
                <a:ext cx="1543"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en-US" altLang="zh-CN"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B2B</a:t>
                </a:r>
                <a:endParaRPr lang="en-US" altLang="zh-CN"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2" name="Process flow diagram"/>
              <p:cNvSpPr txBox="1"/>
              <p:nvPr/>
            </p:nvSpPr>
            <p:spPr>
              <a:xfrm>
                <a:off x="8245" y="9801"/>
                <a:ext cx="1259"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智慧门店</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cxnSp>
          <p:nvCxnSpPr>
            <p:cNvPr id="63" name="直接连接符 62"/>
            <p:cNvCxnSpPr/>
            <p:nvPr/>
          </p:nvCxnSpPr>
          <p:spPr>
            <a:xfrm>
              <a:off x="9604" y="8934"/>
              <a:ext cx="0" cy="1344"/>
            </a:xfrm>
            <a:prstGeom prst="line">
              <a:avLst/>
            </a:prstGeom>
            <a:ln>
              <a:solidFill>
                <a:schemeClr val="tx2">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pic>
          <p:nvPicPr>
            <p:cNvPr id="64" name="图片 63" descr="b2b"/>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740" y="9107"/>
              <a:ext cx="627" cy="627"/>
            </a:xfrm>
            <a:prstGeom prst="rect">
              <a:avLst/>
            </a:prstGeom>
          </p:spPr>
        </p:pic>
        <p:pic>
          <p:nvPicPr>
            <p:cNvPr id="65" name="图片 64" descr="智慧门店"/>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201" y="9128"/>
              <a:ext cx="604" cy="545"/>
            </a:xfrm>
            <a:prstGeom prst="rect">
              <a:avLst/>
            </a:prstGeom>
          </p:spPr>
        </p:pic>
        <p:pic>
          <p:nvPicPr>
            <p:cNvPr id="68" name="图片 67" descr="B2B2C"/>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352" y="9047"/>
              <a:ext cx="679" cy="679"/>
            </a:xfrm>
            <a:prstGeom prst="rect">
              <a:avLst/>
            </a:prstGeom>
          </p:spPr>
        </p:pic>
      </p:grpSp>
      <p:grpSp>
        <p:nvGrpSpPr>
          <p:cNvPr id="116" name="组合 115"/>
          <p:cNvGrpSpPr/>
          <p:nvPr/>
        </p:nvGrpSpPr>
        <p:grpSpPr>
          <a:xfrm>
            <a:off x="3134995" y="1155700"/>
            <a:ext cx="5713095" cy="853440"/>
            <a:chOff x="5135" y="8934"/>
            <a:chExt cx="8997" cy="1344"/>
          </a:xfrm>
        </p:grpSpPr>
        <p:grpSp>
          <p:nvGrpSpPr>
            <p:cNvPr id="117" name="组合 116"/>
            <p:cNvGrpSpPr/>
            <p:nvPr/>
          </p:nvGrpSpPr>
          <p:grpSpPr>
            <a:xfrm>
              <a:off x="5135" y="9801"/>
              <a:ext cx="4369" cy="419"/>
              <a:chOff x="5135" y="9801"/>
              <a:chExt cx="4369" cy="419"/>
            </a:xfrm>
          </p:grpSpPr>
          <p:sp>
            <p:nvSpPr>
              <p:cNvPr id="118" name="Process flow diagram"/>
              <p:cNvSpPr txBox="1"/>
              <p:nvPr/>
            </p:nvSpPr>
            <p:spPr>
              <a:xfrm>
                <a:off x="5135" y="9801"/>
                <a:ext cx="1826"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公众号</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0" name="Process flow diagram"/>
              <p:cNvSpPr txBox="1"/>
              <p:nvPr/>
            </p:nvSpPr>
            <p:spPr>
              <a:xfrm>
                <a:off x="6748" y="9801"/>
                <a:ext cx="1543"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en-US" altLang="zh-CN"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APP</a:t>
                </a:r>
                <a:endParaRPr lang="en-US" altLang="zh-CN"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2" name="Process flow diagram"/>
              <p:cNvSpPr txBox="1"/>
              <p:nvPr/>
            </p:nvSpPr>
            <p:spPr>
              <a:xfrm>
                <a:off x="8245" y="9801"/>
                <a:ext cx="1259"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官网</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24" name="组合 123"/>
            <p:cNvGrpSpPr/>
            <p:nvPr/>
          </p:nvGrpSpPr>
          <p:grpSpPr>
            <a:xfrm>
              <a:off x="9763" y="9801"/>
              <a:ext cx="4369" cy="419"/>
              <a:chOff x="5135" y="9801"/>
              <a:chExt cx="4369" cy="419"/>
            </a:xfrm>
          </p:grpSpPr>
          <p:sp>
            <p:nvSpPr>
              <p:cNvPr id="125" name="Process flow diagram"/>
              <p:cNvSpPr txBox="1"/>
              <p:nvPr/>
            </p:nvSpPr>
            <p:spPr>
              <a:xfrm>
                <a:off x="5135" y="9801"/>
                <a:ext cx="1826"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en-US" altLang="zh-CN"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B2C</a:t>
                </a:r>
                <a:endParaRPr lang="en-US" altLang="zh-CN"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6" name="Process flow diagram"/>
              <p:cNvSpPr txBox="1"/>
              <p:nvPr/>
            </p:nvSpPr>
            <p:spPr>
              <a:xfrm>
                <a:off x="6748" y="9801"/>
                <a:ext cx="1336"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en-US" altLang="zh-CN"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B2B</a:t>
                </a:r>
                <a:endParaRPr lang="en-US" altLang="zh-CN"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7" name="Process flow diagram"/>
              <p:cNvSpPr txBox="1"/>
              <p:nvPr/>
            </p:nvSpPr>
            <p:spPr>
              <a:xfrm>
                <a:off x="8245" y="9801"/>
                <a:ext cx="1259"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智慧门店</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cxnSp>
          <p:nvCxnSpPr>
            <p:cNvPr id="128" name="直接连接符 127"/>
            <p:cNvCxnSpPr/>
            <p:nvPr/>
          </p:nvCxnSpPr>
          <p:spPr>
            <a:xfrm>
              <a:off x="9604" y="8934"/>
              <a:ext cx="0" cy="1344"/>
            </a:xfrm>
            <a:prstGeom prst="line">
              <a:avLst/>
            </a:prstGeom>
            <a:ln>
              <a:solidFill>
                <a:schemeClr val="tx2">
                  <a:lumMod val="40000"/>
                  <a:lumOff val="60000"/>
                </a:schemeClr>
              </a:solidFill>
              <a:prstDash val="sysDash"/>
            </a:ln>
          </p:spPr>
          <p:style>
            <a:lnRef idx="2">
              <a:schemeClr val="accent1"/>
            </a:lnRef>
            <a:fillRef idx="0">
              <a:srgbClr val="FFFFFF"/>
            </a:fillRef>
            <a:effectRef idx="0">
              <a:srgbClr val="FFFFFF"/>
            </a:effectRef>
            <a:fontRef idx="minor">
              <a:schemeClr val="tx1"/>
            </a:fontRef>
          </p:style>
        </p:cxnSp>
        <p:pic>
          <p:nvPicPr>
            <p:cNvPr id="129" name="图片 128" descr="b2b"/>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1740" y="9107"/>
              <a:ext cx="627" cy="627"/>
            </a:xfrm>
            <a:prstGeom prst="rect">
              <a:avLst/>
            </a:prstGeom>
          </p:spPr>
        </p:pic>
        <p:pic>
          <p:nvPicPr>
            <p:cNvPr id="130" name="图片 129" descr="智慧门店"/>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3201" y="9128"/>
              <a:ext cx="604" cy="545"/>
            </a:xfrm>
            <a:prstGeom prst="rect">
              <a:avLst/>
            </a:prstGeom>
          </p:spPr>
        </p:pic>
        <p:pic>
          <p:nvPicPr>
            <p:cNvPr id="131" name="图片 130" descr="B2B2C"/>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10352" y="9047"/>
              <a:ext cx="679" cy="679"/>
            </a:xfrm>
            <a:prstGeom prst="rect">
              <a:avLst/>
            </a:prstGeom>
          </p:spPr>
        </p:pic>
      </p:grpSp>
      <p:pic>
        <p:nvPicPr>
          <p:cNvPr id="132" name="图片 131" descr="官网"/>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5297170" y="1211580"/>
            <a:ext cx="413385" cy="413385"/>
          </a:xfrm>
          <a:prstGeom prst="rect">
            <a:avLst/>
          </a:prstGeom>
        </p:spPr>
      </p:pic>
      <p:pic>
        <p:nvPicPr>
          <p:cNvPr id="135" name="图片 134" descr="公众号"/>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3509010" y="1211580"/>
            <a:ext cx="435610" cy="435610"/>
          </a:xfrm>
          <a:prstGeom prst="rect">
            <a:avLst/>
          </a:prstGeom>
        </p:spPr>
      </p:pic>
      <p:pic>
        <p:nvPicPr>
          <p:cNvPr id="136" name="图片 135" descr="APP开发"/>
          <p:cNvPicPr>
            <a:picLocks noChangeAspect="1"/>
          </p:cNvPicPr>
          <p:nvPr/>
        </p:nvPicPr>
        <p:blipFill>
          <a:blip r:embed="rId19">
            <a:extLst>
              <a:ext uri="{96DAC541-7B7A-43D3-8B79-37D633B846F1}">
                <asvg:svgBlip xmlns:asvg="http://schemas.microsoft.com/office/drawing/2016/SVG/main" r:embed="rId20"/>
              </a:ext>
            </a:extLst>
          </a:blip>
          <a:stretch>
            <a:fillRect/>
          </a:stretch>
        </p:blipFill>
        <p:spPr>
          <a:xfrm>
            <a:off x="4450080" y="1211580"/>
            <a:ext cx="412750" cy="412750"/>
          </a:xfrm>
          <a:prstGeom prst="rect">
            <a:avLst/>
          </a:prstGeom>
        </p:spPr>
      </p:pic>
      <p:grpSp>
        <p:nvGrpSpPr>
          <p:cNvPr id="139" name="组合 138"/>
          <p:cNvGrpSpPr/>
          <p:nvPr/>
        </p:nvGrpSpPr>
        <p:grpSpPr>
          <a:xfrm>
            <a:off x="694532" y="1814814"/>
            <a:ext cx="4335153" cy="4193488"/>
            <a:chOff x="656082" y="1536781"/>
            <a:chExt cx="4335153" cy="4193488"/>
          </a:xfrm>
        </p:grpSpPr>
        <p:sp>
          <p:nvSpPr>
            <p:cNvPr id="140" name="椭圆 139"/>
            <p:cNvSpPr/>
            <p:nvPr/>
          </p:nvSpPr>
          <p:spPr>
            <a:xfrm>
              <a:off x="797747" y="1536781"/>
              <a:ext cx="4193488" cy="4193488"/>
            </a:xfrm>
            <a:prstGeom prst="ellipse">
              <a:avLst/>
            </a:prstGeom>
            <a:noFill/>
            <a:ln w="31750">
              <a:gradFill flip="none" rotWithShape="1">
                <a:gsLst>
                  <a:gs pos="84000">
                    <a:schemeClr val="bg2">
                      <a:alpha val="0"/>
                    </a:schemeClr>
                  </a:gs>
                  <a:gs pos="100000">
                    <a:schemeClr val="accent1">
                      <a:lumMod val="60000"/>
                      <a:lumOff val="40000"/>
                    </a:schemeClr>
                  </a:gs>
                </a:gsLst>
                <a:lin ang="10800000" scaled="1"/>
                <a:tileRect/>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141" name="三角形 36"/>
            <p:cNvSpPr>
              <a:spLocks noChangeAspect="1"/>
            </p:cNvSpPr>
            <p:nvPr/>
          </p:nvSpPr>
          <p:spPr>
            <a:xfrm rot="378549">
              <a:off x="656082" y="3392013"/>
              <a:ext cx="273081" cy="235414"/>
            </a:xfrm>
            <a:prstGeom prst="triangle">
              <a:avLst/>
            </a:prstGeom>
            <a:solidFill>
              <a:schemeClr val="accent1">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grpSp>
      <p:grpSp>
        <p:nvGrpSpPr>
          <p:cNvPr id="142" name="组合 141"/>
          <p:cNvGrpSpPr/>
          <p:nvPr/>
        </p:nvGrpSpPr>
        <p:grpSpPr>
          <a:xfrm>
            <a:off x="1649730" y="994410"/>
            <a:ext cx="9029065" cy="5744210"/>
            <a:chOff x="2732" y="1376"/>
            <a:chExt cx="14219" cy="9046"/>
          </a:xfrm>
        </p:grpSpPr>
        <p:sp>
          <p:nvSpPr>
            <p:cNvPr id="143" name="Process flow diagram"/>
            <p:cNvSpPr txBox="1"/>
            <p:nvPr/>
          </p:nvSpPr>
          <p:spPr>
            <a:xfrm rot="1920000">
              <a:off x="11417" y="3518"/>
              <a:ext cx="5534" cy="6904"/>
            </a:xfrm>
            <a:prstGeom prst="rect">
              <a:avLst/>
            </a:prstGeom>
            <a:noFill/>
            <a:ln w="12700" cap="flat">
              <a:noFill/>
              <a:miter lim="400000"/>
            </a:ln>
            <a:effectLst/>
          </p:spPr>
          <p:txBody>
            <a:bodyPr wrap="square" lIns="25400" tIns="25400" rIns="25400" bIns="25400" numCol="1" anchor="t">
              <a:prstTxWarp prst="textArchUp">
                <a:avLst>
                  <a:gd name="adj" fmla="val 10342854"/>
                </a:avLst>
              </a:prstTxWarp>
              <a:no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2000" kern="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营销智能</a:t>
              </a:r>
              <a:endParaRPr lang="zh-CN" altLang="en-US" sz="2000" kern="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4" name="Process flow diagram"/>
            <p:cNvSpPr txBox="1"/>
            <p:nvPr/>
          </p:nvSpPr>
          <p:spPr>
            <a:xfrm rot="19380000">
              <a:off x="2805" y="3374"/>
              <a:ext cx="5534" cy="6904"/>
            </a:xfrm>
            <a:prstGeom prst="rect">
              <a:avLst/>
            </a:prstGeom>
            <a:noFill/>
            <a:ln w="12700" cap="flat">
              <a:noFill/>
              <a:miter lim="400000"/>
            </a:ln>
            <a:effectLst/>
          </p:spPr>
          <p:txBody>
            <a:bodyPr wrap="square" lIns="25400" tIns="25400" rIns="25400" bIns="25400" numCol="1" anchor="t">
              <a:prstTxWarp prst="textArchUp">
                <a:avLst>
                  <a:gd name="adj" fmla="val 10342854"/>
                </a:avLst>
              </a:prstTxWarp>
              <a:no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2000" kern="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品牌传播</a:t>
              </a:r>
              <a:endParaRPr lang="zh-CN" altLang="en-US" sz="2000" kern="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6" name="Process flow diagram"/>
            <p:cNvSpPr txBox="1"/>
            <p:nvPr/>
          </p:nvSpPr>
          <p:spPr>
            <a:xfrm rot="2280000">
              <a:off x="2732" y="1376"/>
              <a:ext cx="5534" cy="6904"/>
            </a:xfrm>
            <a:prstGeom prst="rect">
              <a:avLst/>
            </a:prstGeom>
            <a:noFill/>
            <a:ln w="12700" cap="flat">
              <a:noFill/>
              <a:miter lim="400000"/>
            </a:ln>
            <a:effectLst/>
          </p:spPr>
          <p:txBody>
            <a:bodyPr wrap="square" lIns="25400" tIns="25400" rIns="25400" bIns="25400" numCol="1" anchor="t">
              <a:prstTxWarp prst="textArchDown">
                <a:avLst/>
              </a:prstTxWarp>
              <a:no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2000" kern="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会员忠诚运营</a:t>
              </a:r>
              <a:endParaRPr lang="zh-CN" altLang="en-US" sz="2000" kern="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152" name="组合 151"/>
          <p:cNvGrpSpPr/>
          <p:nvPr/>
        </p:nvGrpSpPr>
        <p:grpSpPr>
          <a:xfrm>
            <a:off x="1496695" y="1548765"/>
            <a:ext cx="1379220" cy="331470"/>
            <a:chOff x="2652" y="2623"/>
            <a:chExt cx="2172" cy="522"/>
          </a:xfrm>
        </p:grpSpPr>
        <p:sp>
          <p:nvSpPr>
            <p:cNvPr id="147" name="Process flow diagram"/>
            <p:cNvSpPr txBox="1"/>
            <p:nvPr/>
          </p:nvSpPr>
          <p:spPr>
            <a:xfrm>
              <a:off x="2998" y="2675"/>
              <a:ext cx="1826"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广告投放</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51" name="图片 150" descr="广告投放"/>
            <p:cNvPicPr>
              <a:picLocks noChangeAspect="1"/>
            </p:cNvPicPr>
            <p:nvPr/>
          </p:nvPicPr>
          <p:blipFill>
            <a:blip r:embed="rId21">
              <a:extLst>
                <a:ext uri="{96DAC541-7B7A-43D3-8B79-37D633B846F1}">
                  <asvg:svgBlip xmlns:asvg="http://schemas.microsoft.com/office/drawing/2016/SVG/main" r:embed="rId22"/>
                </a:ext>
              </a:extLst>
            </a:blip>
            <a:stretch>
              <a:fillRect/>
            </a:stretch>
          </p:blipFill>
          <p:spPr>
            <a:xfrm>
              <a:off x="2652" y="2623"/>
              <a:ext cx="523" cy="523"/>
            </a:xfrm>
            <a:prstGeom prst="rect">
              <a:avLst/>
            </a:prstGeom>
          </p:spPr>
        </p:pic>
      </p:grpSp>
      <p:grpSp>
        <p:nvGrpSpPr>
          <p:cNvPr id="161" name="组合 160"/>
          <p:cNvGrpSpPr/>
          <p:nvPr/>
        </p:nvGrpSpPr>
        <p:grpSpPr>
          <a:xfrm>
            <a:off x="590550" y="2066925"/>
            <a:ext cx="1461135" cy="414020"/>
            <a:chOff x="1128" y="3179"/>
            <a:chExt cx="2301" cy="652"/>
          </a:xfrm>
        </p:grpSpPr>
        <p:sp>
          <p:nvSpPr>
            <p:cNvPr id="154" name="Process flow diagram"/>
            <p:cNvSpPr txBox="1"/>
            <p:nvPr/>
          </p:nvSpPr>
          <p:spPr>
            <a:xfrm>
              <a:off x="1603" y="3295"/>
              <a:ext cx="1826"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分享传播</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60" name="图片 159" descr="分享"/>
            <p:cNvPicPr>
              <a:picLocks noChangeAspect="1"/>
            </p:cNvPicPr>
            <p:nvPr/>
          </p:nvPicPr>
          <p:blipFill>
            <a:blip r:embed="rId23">
              <a:extLst>
                <a:ext uri="{96DAC541-7B7A-43D3-8B79-37D633B846F1}">
                  <asvg:svgBlip xmlns:asvg="http://schemas.microsoft.com/office/drawing/2016/SVG/main" r:embed="rId24"/>
                </a:ext>
              </a:extLst>
            </a:blip>
            <a:stretch>
              <a:fillRect/>
            </a:stretch>
          </p:blipFill>
          <p:spPr>
            <a:xfrm>
              <a:off x="1128" y="3179"/>
              <a:ext cx="652" cy="652"/>
            </a:xfrm>
            <a:prstGeom prst="rect">
              <a:avLst/>
            </a:prstGeom>
          </p:spPr>
        </p:pic>
      </p:grpSp>
      <p:grpSp>
        <p:nvGrpSpPr>
          <p:cNvPr id="171" name="组合 170"/>
          <p:cNvGrpSpPr/>
          <p:nvPr/>
        </p:nvGrpSpPr>
        <p:grpSpPr>
          <a:xfrm>
            <a:off x="1136015" y="5496560"/>
            <a:ext cx="1379220" cy="361950"/>
            <a:chOff x="1987" y="8476"/>
            <a:chExt cx="2172" cy="570"/>
          </a:xfrm>
        </p:grpSpPr>
        <p:sp>
          <p:nvSpPr>
            <p:cNvPr id="163" name="Process flow diagram"/>
            <p:cNvSpPr txBox="1"/>
            <p:nvPr/>
          </p:nvSpPr>
          <p:spPr>
            <a:xfrm>
              <a:off x="2333" y="8552"/>
              <a:ext cx="1826"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积分运营</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70" name="图片 169" descr="积分"/>
            <p:cNvPicPr>
              <a:picLocks noChangeAspect="1"/>
            </p:cNvPicPr>
            <p:nvPr/>
          </p:nvPicPr>
          <p:blipFill>
            <a:blip r:embed="rId25">
              <a:extLst>
                <a:ext uri="{96DAC541-7B7A-43D3-8B79-37D633B846F1}">
                  <asvg:svgBlip xmlns:asvg="http://schemas.microsoft.com/office/drawing/2016/SVG/main" r:embed="rId26"/>
                </a:ext>
              </a:extLst>
            </a:blip>
            <a:stretch>
              <a:fillRect/>
            </a:stretch>
          </p:blipFill>
          <p:spPr>
            <a:xfrm>
              <a:off x="1987" y="8476"/>
              <a:ext cx="571" cy="571"/>
            </a:xfrm>
            <a:prstGeom prst="rect">
              <a:avLst/>
            </a:prstGeom>
          </p:spPr>
        </p:pic>
      </p:grpSp>
      <p:grpSp>
        <p:nvGrpSpPr>
          <p:cNvPr id="174" name="组合 173"/>
          <p:cNvGrpSpPr/>
          <p:nvPr/>
        </p:nvGrpSpPr>
        <p:grpSpPr>
          <a:xfrm>
            <a:off x="1570355" y="5977255"/>
            <a:ext cx="1387475" cy="360680"/>
            <a:chOff x="2671" y="9233"/>
            <a:chExt cx="2185" cy="568"/>
          </a:xfrm>
        </p:grpSpPr>
        <p:sp>
          <p:nvSpPr>
            <p:cNvPr id="166" name="Process flow diagram"/>
            <p:cNvSpPr txBox="1"/>
            <p:nvPr/>
          </p:nvSpPr>
          <p:spPr>
            <a:xfrm>
              <a:off x="3030" y="9308"/>
              <a:ext cx="1826"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持续经营</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73" name="图片 172" descr="logo-wikimediaCommons"/>
            <p:cNvPicPr>
              <a:picLocks noChangeAspect="1"/>
            </p:cNvPicPr>
            <p:nvPr/>
          </p:nvPicPr>
          <p:blipFill>
            <a:blip r:embed="rId27">
              <a:extLst>
                <a:ext uri="{96DAC541-7B7A-43D3-8B79-37D633B846F1}">
                  <asvg:svgBlip xmlns:asvg="http://schemas.microsoft.com/office/drawing/2016/SVG/main" r:embed="rId28"/>
                </a:ext>
              </a:extLst>
            </a:blip>
            <a:stretch>
              <a:fillRect/>
            </a:stretch>
          </p:blipFill>
          <p:spPr>
            <a:xfrm>
              <a:off x="2671" y="9233"/>
              <a:ext cx="568" cy="568"/>
            </a:xfrm>
            <a:prstGeom prst="rect">
              <a:avLst/>
            </a:prstGeom>
          </p:spPr>
        </p:pic>
      </p:grpSp>
      <p:sp>
        <p:nvSpPr>
          <p:cNvPr id="176" name="Process flow diagram"/>
          <p:cNvSpPr txBox="1"/>
          <p:nvPr/>
        </p:nvSpPr>
        <p:spPr>
          <a:xfrm rot="19620000">
            <a:off x="7111365" y="969645"/>
            <a:ext cx="3514090" cy="4384040"/>
          </a:xfrm>
          <a:prstGeom prst="rect">
            <a:avLst/>
          </a:prstGeom>
          <a:noFill/>
          <a:ln w="12700" cap="flat">
            <a:noFill/>
            <a:miter lim="400000"/>
          </a:ln>
          <a:effectLst/>
        </p:spPr>
        <p:txBody>
          <a:bodyPr wrap="square" lIns="25400" tIns="25400" rIns="25400" bIns="25400" numCol="1" anchor="t">
            <a:prstTxWarp prst="textArchDown">
              <a:avLst/>
            </a:prstTxWarp>
            <a:no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2000" kern="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全渠道运营</a:t>
            </a:r>
            <a:endParaRPr lang="zh-CN" altLang="en-US" sz="2000" kern="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193" name="组合 192"/>
          <p:cNvGrpSpPr/>
          <p:nvPr/>
        </p:nvGrpSpPr>
        <p:grpSpPr>
          <a:xfrm>
            <a:off x="9960610" y="1517650"/>
            <a:ext cx="1834515" cy="293370"/>
            <a:chOff x="15884" y="2210"/>
            <a:chExt cx="2889" cy="462"/>
          </a:xfrm>
        </p:grpSpPr>
        <p:sp>
          <p:nvSpPr>
            <p:cNvPr id="184" name="Process flow diagram"/>
            <p:cNvSpPr txBox="1"/>
            <p:nvPr/>
          </p:nvSpPr>
          <p:spPr>
            <a:xfrm>
              <a:off x="16108" y="2210"/>
              <a:ext cx="2665"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自动营销引擎</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92" name="图片 191" descr="搜索引擎传播"/>
            <p:cNvPicPr>
              <a:picLocks noChangeAspect="1"/>
            </p:cNvPicPr>
            <p:nvPr/>
          </p:nvPicPr>
          <p:blipFill>
            <a:blip r:embed="rId29">
              <a:extLst>
                <a:ext uri="{96DAC541-7B7A-43D3-8B79-37D633B846F1}">
                  <asvg:svgBlip xmlns:asvg="http://schemas.microsoft.com/office/drawing/2016/SVG/main" r:embed="rId30"/>
                </a:ext>
              </a:extLst>
            </a:blip>
            <a:stretch>
              <a:fillRect/>
            </a:stretch>
          </p:blipFill>
          <p:spPr>
            <a:xfrm>
              <a:off x="15884" y="2215"/>
              <a:ext cx="457" cy="457"/>
            </a:xfrm>
            <a:prstGeom prst="rect">
              <a:avLst/>
            </a:prstGeom>
          </p:spPr>
        </p:pic>
      </p:grpSp>
      <p:grpSp>
        <p:nvGrpSpPr>
          <p:cNvPr id="197" name="组合 196"/>
          <p:cNvGrpSpPr/>
          <p:nvPr/>
        </p:nvGrpSpPr>
        <p:grpSpPr>
          <a:xfrm>
            <a:off x="10668000" y="2125980"/>
            <a:ext cx="1362710" cy="271780"/>
            <a:chOff x="16998" y="3168"/>
            <a:chExt cx="2146" cy="428"/>
          </a:xfrm>
        </p:grpSpPr>
        <p:sp>
          <p:nvSpPr>
            <p:cNvPr id="195" name="Process flow diagram"/>
            <p:cNvSpPr txBox="1"/>
            <p:nvPr/>
          </p:nvSpPr>
          <p:spPr>
            <a:xfrm>
              <a:off x="17318" y="3172"/>
              <a:ext cx="1826" cy="419"/>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营销监控</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196" name="图片 195" descr="预测引擎"/>
            <p:cNvPicPr>
              <a:picLocks noChangeAspect="1"/>
            </p:cNvPicPr>
            <p:nvPr/>
          </p:nvPicPr>
          <p:blipFill>
            <a:blip r:embed="rId31">
              <a:extLst>
                <a:ext uri="{96DAC541-7B7A-43D3-8B79-37D633B846F1}">
                  <asvg:svgBlip xmlns:asvg="http://schemas.microsoft.com/office/drawing/2016/SVG/main" r:embed="rId32"/>
                </a:ext>
              </a:extLst>
            </a:blip>
            <a:stretch>
              <a:fillRect/>
            </a:stretch>
          </p:blipFill>
          <p:spPr>
            <a:xfrm>
              <a:off x="16998" y="3168"/>
              <a:ext cx="428" cy="428"/>
            </a:xfrm>
            <a:prstGeom prst="rect">
              <a:avLst/>
            </a:prstGeom>
          </p:spPr>
        </p:pic>
      </p:grpSp>
      <p:sp>
        <p:nvSpPr>
          <p:cNvPr id="199" name="Process flow diagram"/>
          <p:cNvSpPr txBox="1"/>
          <p:nvPr/>
        </p:nvSpPr>
        <p:spPr>
          <a:xfrm>
            <a:off x="10840720" y="5397500"/>
            <a:ext cx="1159510" cy="266065"/>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线上线下</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02" name="Process flow diagram"/>
          <p:cNvSpPr txBox="1"/>
          <p:nvPr/>
        </p:nvSpPr>
        <p:spPr>
          <a:xfrm>
            <a:off x="10300335" y="5830570"/>
            <a:ext cx="1159510" cy="266065"/>
          </a:xfrm>
          <a:prstGeom prst="rect">
            <a:avLst/>
          </a:prstGeom>
          <a:noFill/>
          <a:ln w="12700" cap="flat">
            <a:noFill/>
            <a:miter lim="400000"/>
          </a:ln>
          <a:effectLst/>
        </p:spPr>
        <p:txBody>
          <a:bodyPr wrap="square" lIns="25400" tIns="25400" rIns="25400" bIns="25400" numCol="1" anchor="t">
            <a:spAutoFit/>
          </a:bodyPr>
          <a:lstStyle>
            <a:lvl1pPr>
              <a:defRPr b="0">
                <a:solidFill>
                  <a:srgbClr val="535454"/>
                </a:solidFill>
                <a:latin typeface="Barlow Bold"/>
                <a:ea typeface="Barlow Bold"/>
                <a:cs typeface="Barlow Bold"/>
                <a:sym typeface="Barlow Bold"/>
              </a:defRPr>
            </a:lvl1p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社群运营</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pic>
        <p:nvPicPr>
          <p:cNvPr id="204" name="图片 203" descr="线上线下贯通"/>
          <p:cNvPicPr>
            <a:picLocks noChangeAspect="1"/>
          </p:cNvPicPr>
          <p:nvPr/>
        </p:nvPicPr>
        <p:blipFill>
          <a:blip r:embed="rId33">
            <a:extLst>
              <a:ext uri="{96DAC541-7B7A-43D3-8B79-37D633B846F1}">
                <asvg:svgBlip xmlns:asvg="http://schemas.microsoft.com/office/drawing/2016/SVG/main" r:embed="rId34"/>
              </a:ext>
            </a:extLst>
          </a:blip>
          <a:stretch>
            <a:fillRect/>
          </a:stretch>
        </p:blipFill>
        <p:spPr>
          <a:xfrm>
            <a:off x="10624820" y="5396865"/>
            <a:ext cx="314960" cy="314960"/>
          </a:xfrm>
          <a:prstGeom prst="rect">
            <a:avLst/>
          </a:prstGeom>
        </p:spPr>
      </p:pic>
      <p:pic>
        <p:nvPicPr>
          <p:cNvPr id="206" name="图片 205" descr="社群"/>
          <p:cNvPicPr>
            <a:picLocks noChangeAspect="1"/>
          </p:cNvPicPr>
          <p:nvPr/>
        </p:nvPicPr>
        <p:blipFill>
          <a:blip r:embed="rId35">
            <a:extLst>
              <a:ext uri="{96DAC541-7B7A-43D3-8B79-37D633B846F1}">
                <asvg:svgBlip xmlns:asvg="http://schemas.microsoft.com/office/drawing/2016/SVG/main" r:embed="rId36"/>
              </a:ext>
            </a:extLst>
          </a:blip>
          <a:stretch>
            <a:fillRect/>
          </a:stretch>
        </p:blipFill>
        <p:spPr>
          <a:xfrm>
            <a:off x="10055860" y="5787390"/>
            <a:ext cx="393065" cy="393065"/>
          </a:xfrm>
          <a:prstGeom prst="rect">
            <a:avLst/>
          </a:prstGeom>
        </p:spPr>
      </p:pic>
      <p:sp>
        <p:nvSpPr>
          <p:cNvPr id="207" name="Shape"/>
          <p:cNvSpPr/>
          <p:nvPr/>
        </p:nvSpPr>
        <p:spPr>
          <a:xfrm>
            <a:off x="5932170" y="5033645"/>
            <a:ext cx="2832100" cy="611505"/>
          </a:xfrm>
          <a:custGeom>
            <a:avLst/>
            <a:gdLst/>
            <a:ahLst/>
            <a:cxnLst>
              <a:cxn ang="0">
                <a:pos x="wd2" y="hd2"/>
              </a:cxn>
              <a:cxn ang="5400000">
                <a:pos x="wd2" y="hd2"/>
              </a:cxn>
              <a:cxn ang="10800000">
                <a:pos x="wd2" y="hd2"/>
              </a:cxn>
              <a:cxn ang="16200000">
                <a:pos x="wd2" y="hd2"/>
              </a:cxn>
            </a:cxnLst>
            <a:rect l="0" t="0" r="r" b="b"/>
            <a:pathLst>
              <a:path w="21600" h="21600" extrusionOk="0">
                <a:moveTo>
                  <a:pt x="21482" y="0"/>
                </a:moveTo>
                <a:lnTo>
                  <a:pt x="2374" y="0"/>
                </a:lnTo>
                <a:lnTo>
                  <a:pt x="0" y="10739"/>
                </a:lnTo>
                <a:lnTo>
                  <a:pt x="2489" y="21545"/>
                </a:lnTo>
                <a:lnTo>
                  <a:pt x="21600" y="21600"/>
                </a:lnTo>
                <a:lnTo>
                  <a:pt x="19087" y="10844"/>
                </a:lnTo>
                <a:lnTo>
                  <a:pt x="21482" y="0"/>
                </a:lnTo>
                <a:close/>
              </a:path>
            </a:pathLst>
          </a:custGeom>
          <a:gradFill>
            <a:gsLst>
              <a:gs pos="100000">
                <a:schemeClr val="accent5">
                  <a:lumMod val="40000"/>
                  <a:lumOff val="60000"/>
                </a:schemeClr>
              </a:gs>
              <a:gs pos="0">
                <a:schemeClr val="accent5">
                  <a:lumMod val="60000"/>
                  <a:lumOff val="40000"/>
                </a:schemeClr>
              </a:gs>
            </a:gsLst>
            <a:lin ang="0" scaled="0"/>
          </a:gradFill>
          <a:ln>
            <a:noFill/>
          </a:ln>
          <a:effectLst>
            <a:outerShdw blurRad="177800" sx="102000" sy="102000" algn="ctr" rotWithShape="0">
              <a:schemeClr val="accent1">
                <a:lumMod val="75000"/>
                <a:alpha val="11000"/>
              </a:schemeClr>
            </a:outerShdw>
            <a:reflection blurRad="6350" stA="52000" endA="300" endPos="35000" dir="5400000" sy="-100000" algn="bl" rotWithShape="0"/>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a:solidFill>
                <a:schemeClr val="l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0" name="This is a sample text.…"/>
          <p:cNvSpPr txBox="1"/>
          <p:nvPr/>
        </p:nvSpPr>
        <p:spPr>
          <a:xfrm>
            <a:off x="4288790" y="4410710"/>
            <a:ext cx="3350895" cy="266065"/>
          </a:xfrm>
          <a:prstGeom prst="rect">
            <a:avLst/>
          </a:prstGeom>
          <a:noFill/>
          <a:ln w="12700" cap="flat">
            <a:noFill/>
            <a:miter lim="400000"/>
          </a:ln>
          <a:effectLst/>
        </p:spPr>
        <p:txBody>
          <a:bodyPr wrap="square" lIns="25400" tIns="25400" rIns="25400" bIns="25400" numCol="1" anchor="t">
            <a:spAutoFit/>
          </a:body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rPr>
              <a:t>数据中台负责数据采集与智能决策</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11" name="Sample text"/>
          <p:cNvSpPr txBox="1"/>
          <p:nvPr/>
        </p:nvSpPr>
        <p:spPr>
          <a:xfrm>
            <a:off x="6243320" y="5175885"/>
            <a:ext cx="2082165" cy="302260"/>
          </a:xfrm>
          <a:prstGeom prst="rect">
            <a:avLst/>
          </a:prstGeom>
          <a:noFill/>
          <a:ln w="12700" cap="flat">
            <a:noFill/>
            <a:miter lim="400000"/>
          </a:ln>
          <a:effectLst/>
        </p:spPr>
        <p:txBody>
          <a:bodyPr wrap="square" lIns="25400" tIns="25400" rIns="25400" bIns="25400" numCol="1" anchor="ctr" anchorCtr="0">
            <a:noAutofit/>
          </a:bodyPr>
          <a:lstStyle>
            <a:lvl1pPr algn="l">
              <a:defRPr sz="25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defTabSz="412750" hangingPunct="0"/>
            <a:r>
              <a:rPr lang="zh-CN" altLang="en-US" sz="2000" b="1" kern="0" dirty="0">
                <a:latin typeface="微软雅黑" panose="020B0503020204020204" charset="-122"/>
                <a:ea typeface="微软雅黑" panose="020B0503020204020204" charset="-122"/>
                <a:cs typeface="微软雅黑" panose="020B0503020204020204" charset="-122"/>
                <a:sym typeface="微软雅黑" panose="020B0503020204020204" charset="-122"/>
              </a:rPr>
              <a:t>全渠道交易</a:t>
            </a:r>
            <a:endParaRPr lang="zh-CN" altLang="en-US" sz="2000" b="1" kern="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6" name="This is a sample text.…"/>
          <p:cNvSpPr txBox="1"/>
          <p:nvPr/>
        </p:nvSpPr>
        <p:spPr>
          <a:xfrm>
            <a:off x="5022850" y="4082415"/>
            <a:ext cx="1882775" cy="266065"/>
          </a:xfrm>
          <a:prstGeom prst="rect">
            <a:avLst/>
          </a:prstGeom>
          <a:noFill/>
          <a:ln w="12700" cap="flat">
            <a:noFill/>
            <a:miter lim="400000"/>
          </a:ln>
          <a:effectLst/>
        </p:spPr>
        <p:txBody>
          <a:bodyPr wrap="square" lIns="25400" tIns="25400" rIns="25400" bIns="25400" numCol="1" anchor="t">
            <a:spAutoFit/>
          </a:bodyPr>
          <a:lstStyle/>
          <a:p>
            <a:pPr algn="ctr" defTabSz="412750" hangingPunct="0"/>
            <a:r>
              <a:rPr lang="zh-CN" altLang="en-US" sz="1400" b="1" kern="0" dirty="0">
                <a:solidFill>
                  <a:schemeClr val="accent5"/>
                </a:solidFill>
                <a:latin typeface="微软雅黑" panose="020B0503020204020204" charset="-122"/>
                <a:ea typeface="微软雅黑" panose="020B0503020204020204" charset="-122"/>
                <a:cs typeface="微软雅黑" panose="020B0503020204020204" charset="-122"/>
              </a:rPr>
              <a:t>驱动精准营销</a:t>
            </a:r>
            <a:endParaRPr lang="zh-CN" altLang="en-US" sz="1400" b="1" kern="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nvGrpSpPr>
          <p:cNvPr id="217" name="组合 216"/>
          <p:cNvGrpSpPr/>
          <p:nvPr/>
        </p:nvGrpSpPr>
        <p:grpSpPr>
          <a:xfrm>
            <a:off x="4156710" y="3778885"/>
            <a:ext cx="3614420" cy="175895"/>
            <a:chOff x="6744" y="5454"/>
            <a:chExt cx="5692" cy="277"/>
          </a:xfrm>
        </p:grpSpPr>
        <p:cxnSp>
          <p:nvCxnSpPr>
            <p:cNvPr id="218" name="直接箭头连接符 217"/>
            <p:cNvCxnSpPr/>
            <p:nvPr/>
          </p:nvCxnSpPr>
          <p:spPr>
            <a:xfrm>
              <a:off x="6744" y="5454"/>
              <a:ext cx="5688" cy="0"/>
            </a:xfrm>
            <a:prstGeom prst="straightConnector1">
              <a:avLst/>
            </a:prstGeom>
            <a:ln>
              <a:prstDash val="sysDash"/>
              <a:tailEnd type="triangle" w="med" len="lg"/>
            </a:ln>
          </p:spPr>
          <p:style>
            <a:lnRef idx="2">
              <a:schemeClr val="accent1"/>
            </a:lnRef>
            <a:fillRef idx="0">
              <a:srgbClr val="FFFFFF"/>
            </a:fillRef>
            <a:effectRef idx="0">
              <a:srgbClr val="FFFFFF"/>
            </a:effectRef>
            <a:fontRef idx="minor">
              <a:schemeClr val="tx1"/>
            </a:fontRef>
          </p:style>
        </p:cxnSp>
        <p:cxnSp>
          <p:nvCxnSpPr>
            <p:cNvPr id="219" name="直接箭头连接符 218"/>
            <p:cNvCxnSpPr/>
            <p:nvPr/>
          </p:nvCxnSpPr>
          <p:spPr>
            <a:xfrm flipH="1">
              <a:off x="6748" y="5731"/>
              <a:ext cx="5688" cy="0"/>
            </a:xfrm>
            <a:prstGeom prst="straightConnector1">
              <a:avLst/>
            </a:prstGeom>
            <a:ln>
              <a:solidFill>
                <a:schemeClr val="accent5"/>
              </a:solidFill>
              <a:prstDash val="sysDash"/>
              <a:tailEnd type="triangle" w="med" len="lg"/>
            </a:ln>
          </p:spPr>
          <p:style>
            <a:lnRef idx="2">
              <a:schemeClr val="accent1"/>
            </a:lnRef>
            <a:fillRef idx="0">
              <a:srgbClr val="FFFFFF"/>
            </a:fillRef>
            <a:effectRef idx="0">
              <a:srgbClr val="FFFFFF"/>
            </a:effectRef>
            <a:fontRef idx="minor">
              <a:schemeClr val="tx1"/>
            </a:fontRef>
          </p:style>
        </p:cxnSp>
      </p:grpSp>
      <p:sp>
        <p:nvSpPr>
          <p:cNvPr id="220" name="This is a sample text.…"/>
          <p:cNvSpPr txBox="1"/>
          <p:nvPr/>
        </p:nvSpPr>
        <p:spPr>
          <a:xfrm>
            <a:off x="4288790" y="3389630"/>
            <a:ext cx="3350895" cy="266065"/>
          </a:xfrm>
          <a:prstGeom prst="rect">
            <a:avLst/>
          </a:prstGeom>
          <a:noFill/>
          <a:ln w="12700" cap="flat">
            <a:noFill/>
            <a:miter lim="400000"/>
          </a:ln>
          <a:effectLst/>
        </p:spPr>
        <p:txBody>
          <a:bodyPr wrap="square" lIns="25400" tIns="25400" rIns="25400" bIns="25400" numCol="1" anchor="t">
            <a:spAutoFit/>
          </a:bodyPr>
          <a:lstStyle/>
          <a:p>
            <a:pPr algn="ctr" defTabSz="412750" hangingPunct="0"/>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rPr>
              <a:t>实现交易</a:t>
            </a:r>
            <a:r>
              <a:rPr lang="en-US" altLang="zh-CN" sz="1400" kern="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400" kern="0" dirty="0">
                <a:solidFill>
                  <a:schemeClr val="tx2"/>
                </a:solidFill>
                <a:latin typeface="微软雅黑" panose="020B0503020204020204" charset="-122"/>
                <a:ea typeface="微软雅黑" panose="020B0503020204020204" charset="-122"/>
                <a:cs typeface="微软雅黑" panose="020B0503020204020204" charset="-122"/>
              </a:rPr>
              <a:t>服务等核心业务的协同与复用</a:t>
            </a:r>
            <a:endParaRPr lang="zh-CN" altLang="en-US" sz="14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1" name="This is a sample text.…"/>
          <p:cNvSpPr txBox="1"/>
          <p:nvPr/>
        </p:nvSpPr>
        <p:spPr>
          <a:xfrm>
            <a:off x="5022850" y="3061335"/>
            <a:ext cx="1882775" cy="266065"/>
          </a:xfrm>
          <a:prstGeom prst="rect">
            <a:avLst/>
          </a:prstGeom>
          <a:noFill/>
          <a:ln w="12700" cap="flat">
            <a:noFill/>
            <a:miter lim="400000"/>
          </a:ln>
          <a:effectLst/>
        </p:spPr>
        <p:txBody>
          <a:bodyPr wrap="square" lIns="25400" tIns="25400" rIns="25400" bIns="25400" numCol="1" anchor="t">
            <a:spAutoFit/>
          </a:bodyPr>
          <a:lstStyle/>
          <a:p>
            <a:pPr algn="ctr" defTabSz="412750" hangingPunct="0"/>
            <a:r>
              <a:rPr lang="zh-CN" altLang="en-US" sz="1400" b="1" kern="0" dirty="0">
                <a:solidFill>
                  <a:schemeClr val="accent1"/>
                </a:solidFill>
                <a:latin typeface="微软雅黑" panose="020B0503020204020204" charset="-122"/>
                <a:ea typeface="微软雅黑" panose="020B0503020204020204" charset="-122"/>
                <a:cs typeface="微软雅黑" panose="020B0503020204020204" charset="-122"/>
              </a:rPr>
              <a:t>业务能力支撑</a:t>
            </a:r>
            <a:endParaRPr lang="zh-CN" altLang="en-US" sz="1400" b="1" kern="0" dirty="0">
              <a:solidFill>
                <a:schemeClr val="accent1"/>
              </a:solidFill>
              <a:latin typeface="微软雅黑" panose="020B0503020204020204" charset="-122"/>
              <a:ea typeface="微软雅黑" panose="020B0503020204020204" charset="-122"/>
              <a:cs typeface="微软雅黑" panose="020B0503020204020204" charset="-122"/>
            </a:endParaRPr>
          </a:p>
        </p:txBody>
      </p:sp>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7"/>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项目过程拆解</a:t>
            </a:r>
            <a:r>
              <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rPr>
              <a:t>/</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过程分析</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5" name="紫荆的职场Point2"/>
          <p:cNvSpPr/>
          <p:nvPr/>
        </p:nvSpPr>
        <p:spPr>
          <a:xfrm>
            <a:off x="550980" y="1179387"/>
            <a:ext cx="3596640" cy="3576741"/>
          </a:xfrm>
          <a:custGeom>
            <a:avLst/>
            <a:gdLst>
              <a:gd name="connsiteX0" fmla="*/ 3348259 w 3596640"/>
              <a:gd name="connsiteY0" fmla="*/ 0 h 3576741"/>
              <a:gd name="connsiteX1" fmla="*/ 3596640 w 3596640"/>
              <a:gd name="connsiteY1" fmla="*/ 255601 h 3576741"/>
              <a:gd name="connsiteX2" fmla="*/ 3348259 w 3596640"/>
              <a:gd name="connsiteY2" fmla="*/ 511200 h 3576741"/>
              <a:gd name="connsiteX3" fmla="*/ 3348259 w 3596640"/>
              <a:gd name="connsiteY3" fmla="*/ 383400 h 3576741"/>
              <a:gd name="connsiteX4" fmla="*/ 1603786 w 3596640"/>
              <a:gd name="connsiteY4" fmla="*/ 383400 h 3576741"/>
              <a:gd name="connsiteX5" fmla="*/ 1603786 w 3596640"/>
              <a:gd name="connsiteY5" fmla="*/ 383249 h 3576741"/>
              <a:gd name="connsiteX6" fmla="*/ 1498506 w 3596640"/>
              <a:gd name="connsiteY6" fmla="*/ 388897 h 3576741"/>
              <a:gd name="connsiteX7" fmla="*/ 255587 w 3596640"/>
              <a:gd name="connsiteY7" fmla="*/ 1852192 h 3576741"/>
              <a:gd name="connsiteX8" fmla="*/ 1498506 w 3596640"/>
              <a:gd name="connsiteY8" fmla="*/ 3315487 h 3576741"/>
              <a:gd name="connsiteX9" fmla="*/ 1603787 w 3596640"/>
              <a:gd name="connsiteY9" fmla="*/ 3321135 h 3576741"/>
              <a:gd name="connsiteX10" fmla="*/ 1603787 w 3596640"/>
              <a:gd name="connsiteY10" fmla="*/ 3323514 h 3576741"/>
              <a:gd name="connsiteX11" fmla="*/ 1717026 w 3596640"/>
              <a:gd name="connsiteY11" fmla="*/ 3576741 h 3576741"/>
              <a:gd name="connsiteX12" fmla="*/ 1603787 w 3596640"/>
              <a:gd name="connsiteY12" fmla="*/ 3576741 h 3576741"/>
              <a:gd name="connsiteX13" fmla="*/ 1602726 w 3596640"/>
              <a:gd name="connsiteY13" fmla="*/ 3576741 h 3576741"/>
              <a:gd name="connsiteX14" fmla="*/ 1602726 w 3596640"/>
              <a:gd name="connsiteY14" fmla="*/ 3576685 h 3576741"/>
              <a:gd name="connsiteX15" fmla="*/ 1472374 w 3596640"/>
              <a:gd name="connsiteY15" fmla="*/ 3569756 h 3576741"/>
              <a:gd name="connsiteX16" fmla="*/ 0 w 3596640"/>
              <a:gd name="connsiteY16" fmla="*/ 1852192 h 3576741"/>
              <a:gd name="connsiteX17" fmla="*/ 1472374 w 3596640"/>
              <a:gd name="connsiteY17" fmla="*/ 134629 h 3576741"/>
              <a:gd name="connsiteX18" fmla="*/ 1603787 w 3596640"/>
              <a:gd name="connsiteY18" fmla="*/ 127643 h 3576741"/>
              <a:gd name="connsiteX19" fmla="*/ 1603787 w 3596640"/>
              <a:gd name="connsiteY19" fmla="*/ 127799 h 3576741"/>
              <a:gd name="connsiteX20" fmla="*/ 3348259 w 3596640"/>
              <a:gd name="connsiteY20" fmla="*/ 127800 h 357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96640" h="3576741">
                <a:moveTo>
                  <a:pt x="3348259" y="0"/>
                </a:moveTo>
                <a:lnTo>
                  <a:pt x="3596640" y="255601"/>
                </a:lnTo>
                <a:lnTo>
                  <a:pt x="3348259" y="511200"/>
                </a:lnTo>
                <a:lnTo>
                  <a:pt x="3348259" y="383400"/>
                </a:lnTo>
                <a:lnTo>
                  <a:pt x="1603786" y="383400"/>
                </a:lnTo>
                <a:lnTo>
                  <a:pt x="1603786" y="383249"/>
                </a:lnTo>
                <a:lnTo>
                  <a:pt x="1498506" y="388897"/>
                </a:lnTo>
                <a:cubicBezTo>
                  <a:pt x="800377" y="464221"/>
                  <a:pt x="255587" y="1090614"/>
                  <a:pt x="255587" y="1852192"/>
                </a:cubicBezTo>
                <a:cubicBezTo>
                  <a:pt x="255587" y="2613770"/>
                  <a:pt x="800377" y="3240163"/>
                  <a:pt x="1498506" y="3315487"/>
                </a:cubicBezTo>
                <a:lnTo>
                  <a:pt x="1603787" y="3321135"/>
                </a:lnTo>
                <a:lnTo>
                  <a:pt x="1603787" y="3323514"/>
                </a:lnTo>
                <a:lnTo>
                  <a:pt x="1717026" y="3576741"/>
                </a:lnTo>
                <a:lnTo>
                  <a:pt x="1603787" y="3576741"/>
                </a:lnTo>
                <a:lnTo>
                  <a:pt x="1602726" y="3576741"/>
                </a:lnTo>
                <a:lnTo>
                  <a:pt x="1602726" y="3576685"/>
                </a:lnTo>
                <a:lnTo>
                  <a:pt x="1472374" y="3569756"/>
                </a:lnTo>
                <a:cubicBezTo>
                  <a:pt x="645363" y="3481343"/>
                  <a:pt x="0" y="2746105"/>
                  <a:pt x="0" y="1852192"/>
                </a:cubicBezTo>
                <a:cubicBezTo>
                  <a:pt x="0" y="958279"/>
                  <a:pt x="645363" y="223042"/>
                  <a:pt x="1472374" y="134629"/>
                </a:cubicBezTo>
                <a:lnTo>
                  <a:pt x="1603787" y="127643"/>
                </a:lnTo>
                <a:lnTo>
                  <a:pt x="1603787" y="127799"/>
                </a:lnTo>
                <a:lnTo>
                  <a:pt x="3348259" y="127800"/>
                </a:lnTo>
                <a:close/>
              </a:path>
            </a:pathLst>
          </a:custGeom>
          <a:gradFill>
            <a:gsLst>
              <a:gs pos="0">
                <a:schemeClr val="accent1">
                  <a:lumMod val="60000"/>
                  <a:lumOff val="40000"/>
                  <a:alpha val="0"/>
                </a:schemeClr>
              </a:gs>
              <a:gs pos="100000">
                <a:schemeClr val="accent1"/>
              </a:gs>
            </a:gsLst>
            <a:lin ang="16200000" scaled="0"/>
          </a:gradFill>
          <a:ln>
            <a:noFill/>
          </a:ln>
          <a:effectLst>
            <a:outerShdw blurRad="127000" dist="38100" dir="2700000" sx="102000" sy="102000" algn="tl"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solidFill>
                <a:schemeClr val="tx1"/>
              </a:solidFill>
              <a:latin typeface="微软雅黑" panose="020B0503020204020204" charset="-122"/>
              <a:ea typeface="微软雅黑" panose="020B0503020204020204" charset="-122"/>
              <a:cs typeface="微软雅黑" panose="020B0503020204020204" charset="-122"/>
            </a:endParaRPr>
          </a:p>
        </p:txBody>
      </p:sp>
      <p:sp>
        <p:nvSpPr>
          <p:cNvPr id="26" name="紫荆的职场Point3"/>
          <p:cNvSpPr/>
          <p:nvPr/>
        </p:nvSpPr>
        <p:spPr>
          <a:xfrm flipH="1" flipV="1">
            <a:off x="8044380" y="1408983"/>
            <a:ext cx="3596640" cy="3576741"/>
          </a:xfrm>
          <a:custGeom>
            <a:avLst/>
            <a:gdLst>
              <a:gd name="connsiteX0" fmla="*/ 3348259 w 3596640"/>
              <a:gd name="connsiteY0" fmla="*/ 0 h 3576741"/>
              <a:gd name="connsiteX1" fmla="*/ 3596640 w 3596640"/>
              <a:gd name="connsiteY1" fmla="*/ 255601 h 3576741"/>
              <a:gd name="connsiteX2" fmla="*/ 3348259 w 3596640"/>
              <a:gd name="connsiteY2" fmla="*/ 511200 h 3576741"/>
              <a:gd name="connsiteX3" fmla="*/ 3348259 w 3596640"/>
              <a:gd name="connsiteY3" fmla="*/ 383400 h 3576741"/>
              <a:gd name="connsiteX4" fmla="*/ 1603786 w 3596640"/>
              <a:gd name="connsiteY4" fmla="*/ 383400 h 3576741"/>
              <a:gd name="connsiteX5" fmla="*/ 1603786 w 3596640"/>
              <a:gd name="connsiteY5" fmla="*/ 383249 h 3576741"/>
              <a:gd name="connsiteX6" fmla="*/ 1498506 w 3596640"/>
              <a:gd name="connsiteY6" fmla="*/ 388897 h 3576741"/>
              <a:gd name="connsiteX7" fmla="*/ 255587 w 3596640"/>
              <a:gd name="connsiteY7" fmla="*/ 1852192 h 3576741"/>
              <a:gd name="connsiteX8" fmla="*/ 1498506 w 3596640"/>
              <a:gd name="connsiteY8" fmla="*/ 3315487 h 3576741"/>
              <a:gd name="connsiteX9" fmla="*/ 1603787 w 3596640"/>
              <a:gd name="connsiteY9" fmla="*/ 3321135 h 3576741"/>
              <a:gd name="connsiteX10" fmla="*/ 1603787 w 3596640"/>
              <a:gd name="connsiteY10" fmla="*/ 3323514 h 3576741"/>
              <a:gd name="connsiteX11" fmla="*/ 1717026 w 3596640"/>
              <a:gd name="connsiteY11" fmla="*/ 3576741 h 3576741"/>
              <a:gd name="connsiteX12" fmla="*/ 1603787 w 3596640"/>
              <a:gd name="connsiteY12" fmla="*/ 3576741 h 3576741"/>
              <a:gd name="connsiteX13" fmla="*/ 1602726 w 3596640"/>
              <a:gd name="connsiteY13" fmla="*/ 3576741 h 3576741"/>
              <a:gd name="connsiteX14" fmla="*/ 1602726 w 3596640"/>
              <a:gd name="connsiteY14" fmla="*/ 3576685 h 3576741"/>
              <a:gd name="connsiteX15" fmla="*/ 1472374 w 3596640"/>
              <a:gd name="connsiteY15" fmla="*/ 3569756 h 3576741"/>
              <a:gd name="connsiteX16" fmla="*/ 0 w 3596640"/>
              <a:gd name="connsiteY16" fmla="*/ 1852192 h 3576741"/>
              <a:gd name="connsiteX17" fmla="*/ 1472374 w 3596640"/>
              <a:gd name="connsiteY17" fmla="*/ 134629 h 3576741"/>
              <a:gd name="connsiteX18" fmla="*/ 1603787 w 3596640"/>
              <a:gd name="connsiteY18" fmla="*/ 127643 h 3576741"/>
              <a:gd name="connsiteX19" fmla="*/ 1603787 w 3596640"/>
              <a:gd name="connsiteY19" fmla="*/ 127799 h 3576741"/>
              <a:gd name="connsiteX20" fmla="*/ 3348259 w 3596640"/>
              <a:gd name="connsiteY20" fmla="*/ 127800 h 35767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3596640" h="3576741">
                <a:moveTo>
                  <a:pt x="3348259" y="0"/>
                </a:moveTo>
                <a:lnTo>
                  <a:pt x="3596640" y="255601"/>
                </a:lnTo>
                <a:lnTo>
                  <a:pt x="3348259" y="511200"/>
                </a:lnTo>
                <a:lnTo>
                  <a:pt x="3348259" y="383400"/>
                </a:lnTo>
                <a:lnTo>
                  <a:pt x="1603786" y="383400"/>
                </a:lnTo>
                <a:lnTo>
                  <a:pt x="1603786" y="383249"/>
                </a:lnTo>
                <a:lnTo>
                  <a:pt x="1498506" y="388897"/>
                </a:lnTo>
                <a:cubicBezTo>
                  <a:pt x="800377" y="464221"/>
                  <a:pt x="255587" y="1090614"/>
                  <a:pt x="255587" y="1852192"/>
                </a:cubicBezTo>
                <a:cubicBezTo>
                  <a:pt x="255587" y="2613770"/>
                  <a:pt x="800377" y="3240163"/>
                  <a:pt x="1498506" y="3315487"/>
                </a:cubicBezTo>
                <a:lnTo>
                  <a:pt x="1603787" y="3321135"/>
                </a:lnTo>
                <a:lnTo>
                  <a:pt x="1603787" y="3323514"/>
                </a:lnTo>
                <a:lnTo>
                  <a:pt x="1717026" y="3576741"/>
                </a:lnTo>
                <a:lnTo>
                  <a:pt x="1603787" y="3576741"/>
                </a:lnTo>
                <a:lnTo>
                  <a:pt x="1602726" y="3576741"/>
                </a:lnTo>
                <a:lnTo>
                  <a:pt x="1602726" y="3576685"/>
                </a:lnTo>
                <a:lnTo>
                  <a:pt x="1472374" y="3569756"/>
                </a:lnTo>
                <a:cubicBezTo>
                  <a:pt x="645363" y="3481343"/>
                  <a:pt x="0" y="2746105"/>
                  <a:pt x="0" y="1852192"/>
                </a:cubicBezTo>
                <a:cubicBezTo>
                  <a:pt x="0" y="958279"/>
                  <a:pt x="645363" y="223042"/>
                  <a:pt x="1472374" y="134629"/>
                </a:cubicBezTo>
                <a:lnTo>
                  <a:pt x="1603787" y="127643"/>
                </a:lnTo>
                <a:lnTo>
                  <a:pt x="1603787" y="127799"/>
                </a:lnTo>
                <a:lnTo>
                  <a:pt x="3348259" y="127800"/>
                </a:lnTo>
                <a:close/>
              </a:path>
            </a:pathLst>
          </a:custGeom>
          <a:gradFill>
            <a:gsLst>
              <a:gs pos="0">
                <a:schemeClr val="accent1">
                  <a:lumMod val="60000"/>
                  <a:lumOff val="40000"/>
                  <a:alpha val="0"/>
                </a:schemeClr>
              </a:gs>
              <a:gs pos="100000">
                <a:schemeClr val="accent1"/>
              </a:gs>
            </a:gsLst>
            <a:lin ang="16200000" scaled="0"/>
          </a:gradFill>
          <a:ln>
            <a:noFill/>
          </a:ln>
          <a:effectLst>
            <a:outerShdw blurRad="127000" dist="38100" dir="2700000" sx="102000" sy="102000" algn="tl" rotWithShape="0">
              <a:schemeClr val="accent1">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1"/>
              </a:solidFill>
              <a:latin typeface="微软雅黑" panose="020B0503020204020204" charset="-122"/>
              <a:ea typeface="微软雅黑" panose="020B0503020204020204" charset="-122"/>
              <a:cs typeface="微软雅黑" panose="020B0503020204020204" charset="-122"/>
              <a:sym typeface="+mn-ea"/>
            </a:endParaRPr>
          </a:p>
        </p:txBody>
      </p:sp>
      <p:sp>
        <p:nvSpPr>
          <p:cNvPr id="28" name="紫荆的职场Point4-1"/>
          <p:cNvSpPr txBox="1"/>
          <p:nvPr/>
        </p:nvSpPr>
        <p:spPr>
          <a:xfrm>
            <a:off x="4511675" y="1233550"/>
            <a:ext cx="1005403" cy="338554"/>
          </a:xfrm>
          <a:prstGeom prst="rect">
            <a:avLst/>
          </a:prstGeom>
          <a:noFill/>
        </p:spPr>
        <p:txBody>
          <a:bodyPr wrap="none" rtlCol="0">
            <a:spAutoFit/>
          </a:bodyPr>
          <a:lstStyle/>
          <a:p>
            <a:pPr algn="ctr"/>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传播物料</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grpSp>
        <p:nvGrpSpPr>
          <p:cNvPr id="39" name="组合 38"/>
          <p:cNvGrpSpPr/>
          <p:nvPr/>
        </p:nvGrpSpPr>
        <p:grpSpPr>
          <a:xfrm>
            <a:off x="5606415" y="1336152"/>
            <a:ext cx="234315" cy="133350"/>
            <a:chOff x="8593" y="2145"/>
            <a:chExt cx="369" cy="210"/>
          </a:xfrm>
        </p:grpSpPr>
        <p:sp>
          <p:nvSpPr>
            <p:cNvPr id="3" name="紫荆的职场Point4-2"/>
            <p:cNvSpPr/>
            <p:nvPr/>
          </p:nvSpPr>
          <p:spPr bwMode="auto">
            <a:xfrm>
              <a:off x="8593" y="2145"/>
              <a:ext cx="142" cy="210"/>
            </a:xfrm>
            <a:custGeom>
              <a:avLst/>
              <a:gdLst>
                <a:gd name="T0" fmla="*/ 147 w 254"/>
                <a:gd name="T1" fmla="*/ 0 h 376"/>
                <a:gd name="T2" fmla="*/ 0 w 254"/>
                <a:gd name="T3" fmla="*/ 0 h 376"/>
                <a:gd name="T4" fmla="*/ 109 w 254"/>
                <a:gd name="T5" fmla="*/ 188 h 376"/>
                <a:gd name="T6" fmla="*/ 0 w 254"/>
                <a:gd name="T7" fmla="*/ 376 h 376"/>
                <a:gd name="T8" fmla="*/ 147 w 254"/>
                <a:gd name="T9" fmla="*/ 376 h 376"/>
                <a:gd name="T10" fmla="*/ 254 w 254"/>
                <a:gd name="T11" fmla="*/ 188 h 376"/>
                <a:gd name="T12" fmla="*/ 147 w 254"/>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4" h="376">
                  <a:moveTo>
                    <a:pt x="147" y="0"/>
                  </a:moveTo>
                  <a:lnTo>
                    <a:pt x="0" y="0"/>
                  </a:lnTo>
                  <a:lnTo>
                    <a:pt x="109" y="188"/>
                  </a:lnTo>
                  <a:lnTo>
                    <a:pt x="0" y="376"/>
                  </a:lnTo>
                  <a:lnTo>
                    <a:pt x="147" y="376"/>
                  </a:lnTo>
                  <a:lnTo>
                    <a:pt x="254" y="188"/>
                  </a:lnTo>
                  <a:lnTo>
                    <a:pt x="147"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6" name="紫荆的职场Point4-3"/>
            <p:cNvSpPr/>
            <p:nvPr/>
          </p:nvSpPr>
          <p:spPr bwMode="auto">
            <a:xfrm>
              <a:off x="8708" y="2145"/>
              <a:ext cx="141" cy="21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7" name="紫荆的职场Point4-4"/>
            <p:cNvSpPr/>
            <p:nvPr/>
          </p:nvSpPr>
          <p:spPr bwMode="auto">
            <a:xfrm>
              <a:off x="8822" y="2145"/>
              <a:ext cx="141" cy="21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a:extLst>
              <a:ext uri="{91240B29-F687-4F45-9708-019B960494DF}">
                <a14:hiddenLine xmlns:a14="http://schemas.microsoft.com/office/drawing/2010/main" w="9525">
                  <a:solidFill>
                    <a:srgbClr val="000000"/>
                  </a:solidFill>
                  <a:round/>
                </a14:hiddenLine>
              </a:ext>
            </a:extLst>
          </p:spPr>
          <p:txBody>
            <a:bodyPr vert="horz" wrap="none" lIns="91440" tIns="45720" rIns="91440" bIns="45720" numCol="1" anchor="t" anchorCtr="0" compatLnSpc="1"/>
            <a:lstStyle/>
            <a:p>
              <a:endParaRPr lang="zh-CN" altLang="en-US">
                <a:latin typeface="微软雅黑" panose="020B0503020204020204" charset="-122"/>
                <a:ea typeface="微软雅黑" panose="020B0503020204020204" charset="-122"/>
                <a:cs typeface="微软雅黑" panose="020B0503020204020204" charset="-122"/>
              </a:endParaRPr>
            </a:p>
          </p:txBody>
        </p:sp>
      </p:grpSp>
      <p:grpSp>
        <p:nvGrpSpPr>
          <p:cNvPr id="34" name="组合 33"/>
          <p:cNvGrpSpPr>
            <a:grpSpLocks noChangeAspect="1"/>
          </p:cNvGrpSpPr>
          <p:nvPr/>
        </p:nvGrpSpPr>
        <p:grpSpPr>
          <a:xfrm>
            <a:off x="6920865" y="1336227"/>
            <a:ext cx="234315" cy="133200"/>
            <a:chOff x="3604531" y="575638"/>
            <a:chExt cx="1050925" cy="596900"/>
          </a:xfrm>
          <a:gradFill>
            <a:gsLst>
              <a:gs pos="0">
                <a:schemeClr val="accent1">
                  <a:alpha val="0"/>
                </a:schemeClr>
              </a:gs>
              <a:gs pos="100000">
                <a:schemeClr val="accent1"/>
              </a:gs>
            </a:gsLst>
            <a:lin ang="0" scaled="0"/>
          </a:gradFill>
        </p:grpSpPr>
        <p:sp>
          <p:nvSpPr>
            <p:cNvPr id="35" name="紫荆的职场Point4-5"/>
            <p:cNvSpPr/>
            <p:nvPr/>
          </p:nvSpPr>
          <p:spPr bwMode="auto">
            <a:xfrm>
              <a:off x="3604531" y="575638"/>
              <a:ext cx="403225" cy="596900"/>
            </a:xfrm>
            <a:custGeom>
              <a:avLst/>
              <a:gdLst>
                <a:gd name="T0" fmla="*/ 147 w 254"/>
                <a:gd name="T1" fmla="*/ 0 h 376"/>
                <a:gd name="T2" fmla="*/ 0 w 254"/>
                <a:gd name="T3" fmla="*/ 0 h 376"/>
                <a:gd name="T4" fmla="*/ 109 w 254"/>
                <a:gd name="T5" fmla="*/ 188 h 376"/>
                <a:gd name="T6" fmla="*/ 0 w 254"/>
                <a:gd name="T7" fmla="*/ 376 h 376"/>
                <a:gd name="T8" fmla="*/ 147 w 254"/>
                <a:gd name="T9" fmla="*/ 376 h 376"/>
                <a:gd name="T10" fmla="*/ 254 w 254"/>
                <a:gd name="T11" fmla="*/ 188 h 376"/>
                <a:gd name="T12" fmla="*/ 147 w 254"/>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4" h="376">
                  <a:moveTo>
                    <a:pt x="147" y="0"/>
                  </a:moveTo>
                  <a:lnTo>
                    <a:pt x="0" y="0"/>
                  </a:lnTo>
                  <a:lnTo>
                    <a:pt x="109" y="188"/>
                  </a:lnTo>
                  <a:lnTo>
                    <a:pt x="0" y="376"/>
                  </a:lnTo>
                  <a:lnTo>
                    <a:pt x="147" y="376"/>
                  </a:lnTo>
                  <a:lnTo>
                    <a:pt x="254" y="188"/>
                  </a:lnTo>
                  <a:lnTo>
                    <a:pt x="147"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6" name="紫荆的职场Point4-6"/>
            <p:cNvSpPr/>
            <p:nvPr/>
          </p:nvSpPr>
          <p:spPr bwMode="auto">
            <a:xfrm>
              <a:off x="3931557" y="575638"/>
              <a:ext cx="400050" cy="59690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37" name="紫荆的职场Point4-7"/>
            <p:cNvSpPr/>
            <p:nvPr/>
          </p:nvSpPr>
          <p:spPr bwMode="auto">
            <a:xfrm>
              <a:off x="4255406" y="575638"/>
              <a:ext cx="400050" cy="59690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sp>
        <p:nvSpPr>
          <p:cNvPr id="41" name="紫荆的职场Point4-8"/>
          <p:cNvSpPr txBox="1"/>
          <p:nvPr/>
        </p:nvSpPr>
        <p:spPr>
          <a:xfrm>
            <a:off x="5868868" y="1233550"/>
            <a:ext cx="1005205" cy="338554"/>
          </a:xfrm>
          <a:prstGeom prst="rect">
            <a:avLst/>
          </a:prstGeom>
          <a:noFill/>
        </p:spPr>
        <p:txBody>
          <a:bodyPr wrap="none" rtlCol="0">
            <a:spAutoFit/>
          </a:bodyPr>
          <a:lstStyle/>
          <a:p>
            <a:pPr algn="ctr"/>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互动游戏</a:t>
            </a:r>
            <a:endParaRPr lang="zh-CN" altLang="en-US" sz="16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5" name="紫荆的职场Point4-9"/>
          <p:cNvSpPr txBox="1"/>
          <p:nvPr/>
        </p:nvSpPr>
        <p:spPr>
          <a:xfrm>
            <a:off x="7225863" y="1233550"/>
            <a:ext cx="1005205" cy="338554"/>
          </a:xfrm>
          <a:prstGeom prst="rect">
            <a:avLst/>
          </a:prstGeom>
          <a:noFill/>
        </p:spPr>
        <p:txBody>
          <a:bodyPr wrap="none" rtlCol="0">
            <a:spAutoFit/>
          </a:bodyPr>
          <a:lstStyle/>
          <a:p>
            <a:pPr algn="ctr"/>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周边商品</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50" name="紫荆的职场Point4-10"/>
          <p:cNvSpPr txBox="1"/>
          <p:nvPr/>
        </p:nvSpPr>
        <p:spPr>
          <a:xfrm>
            <a:off x="8530517" y="1180210"/>
            <a:ext cx="595035" cy="338554"/>
          </a:xfrm>
          <a:prstGeom prst="rect">
            <a:avLst/>
          </a:prstGeom>
          <a:noFill/>
        </p:spPr>
        <p:txBody>
          <a:bodyPr wrap="none" rtlCol="0">
            <a:spAutoFit/>
          </a:bodyPr>
          <a:lstStyle/>
          <a:p>
            <a:pPr algn="ctr"/>
            <a:r>
              <a:rPr lang="en-US" altLang="zh-CN" sz="1600">
                <a:gradFill>
                  <a:gsLst>
                    <a:gs pos="100000">
                      <a:schemeClr val="accent1"/>
                    </a:gs>
                    <a:gs pos="1000">
                      <a:schemeClr val="accent1">
                        <a:lumMod val="80000"/>
                        <a:lumOff val="20000"/>
                      </a:schemeClr>
                    </a:gs>
                  </a:gsLst>
                  <a:lin ang="0" scaled="0"/>
                </a:gradFill>
                <a:latin typeface="微软雅黑" panose="020B0503020204020204" charset="-122"/>
                <a:ea typeface="微软雅黑" panose="020B0503020204020204" charset="-122"/>
                <a:cs typeface="微软雅黑" panose="020B0503020204020204" charset="-122"/>
              </a:rPr>
              <a:t>……</a:t>
            </a:r>
            <a:endParaRPr lang="en-US" altLang="zh-CN" sz="1600">
              <a:gradFill>
                <a:gsLst>
                  <a:gs pos="100000">
                    <a:schemeClr val="accent1"/>
                  </a:gs>
                  <a:gs pos="1000">
                    <a:schemeClr val="accent1">
                      <a:lumMod val="80000"/>
                      <a:lumOff val="20000"/>
                    </a:schemeClr>
                  </a:gs>
                </a:gsLst>
                <a:lin ang="0" scaled="0"/>
              </a:gradFill>
              <a:latin typeface="微软雅黑" panose="020B0503020204020204" charset="-122"/>
              <a:ea typeface="微软雅黑" panose="020B0503020204020204" charset="-122"/>
              <a:cs typeface="微软雅黑" panose="020B0503020204020204" charset="-122"/>
            </a:endParaRPr>
          </a:p>
        </p:txBody>
      </p:sp>
      <p:grpSp>
        <p:nvGrpSpPr>
          <p:cNvPr id="51" name="组合 50"/>
          <p:cNvGrpSpPr>
            <a:grpSpLocks noChangeAspect="1"/>
          </p:cNvGrpSpPr>
          <p:nvPr/>
        </p:nvGrpSpPr>
        <p:grpSpPr>
          <a:xfrm>
            <a:off x="8235315" y="1336227"/>
            <a:ext cx="234315" cy="133200"/>
            <a:chOff x="3604531" y="575638"/>
            <a:chExt cx="1050925" cy="596900"/>
          </a:xfrm>
          <a:gradFill>
            <a:gsLst>
              <a:gs pos="0">
                <a:schemeClr val="accent1">
                  <a:alpha val="0"/>
                </a:schemeClr>
              </a:gs>
              <a:gs pos="100000">
                <a:schemeClr val="accent1"/>
              </a:gs>
            </a:gsLst>
            <a:lin ang="0" scaled="0"/>
          </a:gradFill>
        </p:grpSpPr>
        <p:sp>
          <p:nvSpPr>
            <p:cNvPr id="52" name="紫荆的职场Point4-11"/>
            <p:cNvSpPr/>
            <p:nvPr/>
          </p:nvSpPr>
          <p:spPr bwMode="auto">
            <a:xfrm>
              <a:off x="3604531" y="575638"/>
              <a:ext cx="403225" cy="596900"/>
            </a:xfrm>
            <a:custGeom>
              <a:avLst/>
              <a:gdLst>
                <a:gd name="T0" fmla="*/ 147 w 254"/>
                <a:gd name="T1" fmla="*/ 0 h 376"/>
                <a:gd name="T2" fmla="*/ 0 w 254"/>
                <a:gd name="T3" fmla="*/ 0 h 376"/>
                <a:gd name="T4" fmla="*/ 109 w 254"/>
                <a:gd name="T5" fmla="*/ 188 h 376"/>
                <a:gd name="T6" fmla="*/ 0 w 254"/>
                <a:gd name="T7" fmla="*/ 376 h 376"/>
                <a:gd name="T8" fmla="*/ 147 w 254"/>
                <a:gd name="T9" fmla="*/ 376 h 376"/>
                <a:gd name="T10" fmla="*/ 254 w 254"/>
                <a:gd name="T11" fmla="*/ 188 h 376"/>
                <a:gd name="T12" fmla="*/ 147 w 254"/>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4" h="376">
                  <a:moveTo>
                    <a:pt x="147" y="0"/>
                  </a:moveTo>
                  <a:lnTo>
                    <a:pt x="0" y="0"/>
                  </a:lnTo>
                  <a:lnTo>
                    <a:pt x="109" y="188"/>
                  </a:lnTo>
                  <a:lnTo>
                    <a:pt x="0" y="376"/>
                  </a:lnTo>
                  <a:lnTo>
                    <a:pt x="147" y="376"/>
                  </a:lnTo>
                  <a:lnTo>
                    <a:pt x="254" y="188"/>
                  </a:lnTo>
                  <a:lnTo>
                    <a:pt x="147"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3" name="紫荆的职场Point4-12"/>
            <p:cNvSpPr/>
            <p:nvPr/>
          </p:nvSpPr>
          <p:spPr bwMode="auto">
            <a:xfrm>
              <a:off x="3931557" y="575638"/>
              <a:ext cx="400050" cy="59690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54" name="紫荆的职场Point4-13"/>
            <p:cNvSpPr/>
            <p:nvPr/>
          </p:nvSpPr>
          <p:spPr bwMode="auto">
            <a:xfrm>
              <a:off x="4255406" y="575638"/>
              <a:ext cx="400050" cy="59690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grpSp>
        <p:nvGrpSpPr>
          <p:cNvPr id="108" name="紫荆的职场Point5"/>
          <p:cNvGrpSpPr/>
          <p:nvPr/>
        </p:nvGrpSpPr>
        <p:grpSpPr>
          <a:xfrm>
            <a:off x="3476030" y="2483763"/>
            <a:ext cx="1264000" cy="1264000"/>
            <a:chOff x="3476030" y="2636163"/>
            <a:chExt cx="1264000" cy="1264000"/>
          </a:xfrm>
        </p:grpSpPr>
        <p:sp>
          <p:nvSpPr>
            <p:cNvPr id="104" name="紫荆的职场Point5-1"/>
            <p:cNvSpPr/>
            <p:nvPr/>
          </p:nvSpPr>
          <p:spPr>
            <a:xfrm>
              <a:off x="3476030" y="2636163"/>
              <a:ext cx="1264000" cy="1264000"/>
            </a:xfrm>
            <a:prstGeom prst="ellipse">
              <a:avLst/>
            </a:prstGeom>
            <a:gradFill flip="none" rotWithShape="1">
              <a:gsLst>
                <a:gs pos="23000">
                  <a:schemeClr val="accent1"/>
                </a:gs>
                <a:gs pos="100000">
                  <a:schemeClr val="accent1">
                    <a:lumMod val="60000"/>
                    <a:lumOff val="40000"/>
                  </a:schemeClr>
                </a:gs>
              </a:gsLst>
              <a:path path="circle">
                <a:fillToRect r="100000" b="100000"/>
              </a:path>
              <a:tileRect l="-100000" t="-100000"/>
            </a:gra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05" name="紫荆的职场Point5-2"/>
            <p:cNvSpPr txBox="1"/>
            <p:nvPr/>
          </p:nvSpPr>
          <p:spPr>
            <a:xfrm>
              <a:off x="3659721" y="3114275"/>
              <a:ext cx="896620" cy="306705"/>
            </a:xfrm>
            <a:prstGeom prst="rect">
              <a:avLst/>
            </a:prstGeom>
            <a:noFill/>
          </p:spPr>
          <p:txBody>
            <a:bodyPr wrap="none" rtlCol="0">
              <a:spAutoFit/>
            </a:bodyPr>
            <a:lstStyle/>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内容产出</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109" name="紫荆的职场Point6"/>
          <p:cNvGrpSpPr/>
          <p:nvPr/>
        </p:nvGrpSpPr>
        <p:grpSpPr>
          <a:xfrm>
            <a:off x="7447318" y="2476778"/>
            <a:ext cx="1264000" cy="1264000"/>
            <a:chOff x="3476030" y="2636163"/>
            <a:chExt cx="1264000" cy="1264000"/>
          </a:xfrm>
          <a:gradFill>
            <a:gsLst>
              <a:gs pos="23000">
                <a:schemeClr val="accent2">
                  <a:lumMod val="80000"/>
                  <a:lumOff val="20000"/>
                </a:schemeClr>
              </a:gs>
              <a:gs pos="100000">
                <a:schemeClr val="accent2"/>
              </a:gs>
            </a:gsLst>
            <a:path path="circle">
              <a:fillToRect r="100000" b="100000"/>
            </a:path>
            <a:tileRect l="-100000" t="-100000"/>
          </a:gradFill>
        </p:grpSpPr>
        <p:sp>
          <p:nvSpPr>
            <p:cNvPr id="110" name="紫荆的职场Point6-1"/>
            <p:cNvSpPr/>
            <p:nvPr/>
          </p:nvSpPr>
          <p:spPr>
            <a:xfrm>
              <a:off x="3476030" y="2636163"/>
              <a:ext cx="1264000" cy="1264000"/>
            </a:xfrm>
            <a:prstGeom prst="ellipse">
              <a:avLst/>
            </a:prstGeom>
            <a:grp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8" name="紫荆的职场Point6-2"/>
            <p:cNvSpPr txBox="1"/>
            <p:nvPr/>
          </p:nvSpPr>
          <p:spPr>
            <a:xfrm>
              <a:off x="3659724" y="3114275"/>
              <a:ext cx="896620" cy="306705"/>
            </a:xfrm>
            <a:prstGeom prst="rect">
              <a:avLst/>
            </a:prstGeom>
            <a:grpFill/>
          </p:spPr>
          <p:txBody>
            <a:bodyPr wrap="none" rtlCol="0">
              <a:spAutoFit/>
            </a:bodyPr>
            <a:lstStyle/>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情感共鸣</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grpSp>
      <p:grpSp>
        <p:nvGrpSpPr>
          <p:cNvPr id="9" name="紫荆的职场Point7"/>
          <p:cNvGrpSpPr/>
          <p:nvPr/>
        </p:nvGrpSpPr>
        <p:grpSpPr>
          <a:xfrm>
            <a:off x="1747800" y="2357977"/>
            <a:ext cx="1446186" cy="1446184"/>
            <a:chOff x="1747800" y="2517362"/>
            <a:chExt cx="1446186" cy="1446184"/>
          </a:xfrm>
        </p:grpSpPr>
        <p:sp>
          <p:nvSpPr>
            <p:cNvPr id="11" name="紫荆的职场Point7-1"/>
            <p:cNvSpPr/>
            <p:nvPr/>
          </p:nvSpPr>
          <p:spPr>
            <a:xfrm>
              <a:off x="1747800" y="2517362"/>
              <a:ext cx="1446186" cy="1446184"/>
            </a:xfrm>
            <a:prstGeom prst="ellipse">
              <a:avLst/>
            </a:prstGeom>
            <a:gradFill>
              <a:gsLst>
                <a:gs pos="0">
                  <a:schemeClr val="bg1"/>
                </a:gs>
                <a:gs pos="99000">
                  <a:schemeClr val="accent3">
                    <a:lumMod val="5000"/>
                    <a:lumOff val="95000"/>
                  </a:schemeClr>
                </a:gs>
              </a:gsLst>
              <a:lin ang="16200000" scaled="1"/>
            </a:gradFill>
            <a:ln>
              <a:solidFill>
                <a:schemeClr val="accent1">
                  <a:lumMod val="60000"/>
                  <a:lumOff val="40000"/>
                </a:schemeClr>
              </a:solidFill>
            </a:ln>
            <a:effectLst>
              <a:outerShdw blurRad="457200" dist="127000" dir="2700000" sx="102000" sy="102000" algn="ctr" rotWithShape="0">
                <a:schemeClr val="accent1">
                  <a:lumMod val="60000"/>
                  <a:lumOff val="40000"/>
                  <a:alpha val="17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12" name="组合 11"/>
            <p:cNvGrpSpPr/>
            <p:nvPr/>
          </p:nvGrpSpPr>
          <p:grpSpPr>
            <a:xfrm>
              <a:off x="1875217" y="2988667"/>
              <a:ext cx="1191352" cy="503574"/>
              <a:chOff x="1884925" y="3011706"/>
              <a:chExt cx="1191352" cy="503574"/>
            </a:xfrm>
          </p:grpSpPr>
          <p:sp>
            <p:nvSpPr>
              <p:cNvPr id="13" name="紫荆的职场Point7-2"/>
              <p:cNvSpPr txBox="1"/>
              <p:nvPr/>
            </p:nvSpPr>
            <p:spPr>
              <a:xfrm>
                <a:off x="1884925" y="3299836"/>
                <a:ext cx="1191352" cy="215444"/>
              </a:xfrm>
              <a:prstGeom prst="rect">
                <a:avLst/>
              </a:prstGeom>
              <a:noFill/>
            </p:spPr>
            <p:txBody>
              <a:bodyPr wrap="none">
                <a:spAutoFit/>
              </a:bodyPr>
              <a:lstStyle/>
              <a:p>
                <a:pPr algn="ctr"/>
                <a:r>
                  <a:rPr lang="en-US" altLang="zh-CN" sz="800">
                    <a:solidFill>
                      <a:schemeClr val="tx2"/>
                    </a:solidFill>
                    <a:latin typeface="微软雅黑" panose="020B0503020204020204" charset="-122"/>
                    <a:ea typeface="微软雅黑" panose="020B0503020204020204" charset="-122"/>
                    <a:cs typeface="微软雅黑" panose="020B0503020204020204" charset="-122"/>
                  </a:rPr>
                  <a:t> Intellectual property </a:t>
                </a:r>
                <a:endParaRPr lang="en-US" altLang="zh-CN"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4" name="紫荆的职场Point7-3"/>
              <p:cNvSpPr txBox="1"/>
              <p:nvPr/>
            </p:nvSpPr>
            <p:spPr>
              <a:xfrm>
                <a:off x="2282164" y="3011706"/>
                <a:ext cx="396875" cy="337185"/>
              </a:xfrm>
              <a:prstGeom prst="rect">
                <a:avLst/>
              </a:prstGeom>
              <a:noFill/>
            </p:spPr>
            <p:txBody>
              <a:bodyPr wrap="none">
                <a:spAutoFit/>
              </a:bodyPr>
              <a:lstStyle/>
              <a:p>
                <a:pPr algn="ctr"/>
                <a:r>
                  <a:rPr lang="en-US" alt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r>
                  <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IP</a:t>
                </a:r>
                <a:endParaRPr lang="en-US" altLang="zh-CN"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sp>
          <p:nvSpPr>
            <p:cNvPr id="15" name="紫荆的职场Point7-4"/>
            <p:cNvSpPr>
              <a:spLocks noChangeAspect="1"/>
            </p:cNvSpPr>
            <p:nvPr/>
          </p:nvSpPr>
          <p:spPr>
            <a:xfrm>
              <a:off x="1804892" y="2574454"/>
              <a:ext cx="1332002" cy="1332000"/>
            </a:xfrm>
            <a:prstGeom prst="ellipse">
              <a:avLst/>
            </a:prstGeom>
            <a:noFill/>
            <a:ln w="12700">
              <a:solidFill>
                <a:schemeClr val="accent1">
                  <a:lumMod val="60000"/>
                  <a:lumOff val="40000"/>
                  <a:alpha val="35000"/>
                </a:schemeClr>
              </a:solidFill>
              <a:prstDash val="sysDash"/>
            </a:ln>
            <a:effectLst>
              <a:outerShdw blurRad="457200" dist="127000" dir="2700000" sx="102000" sy="102000" algn="ctr" rotWithShape="0">
                <a:schemeClr val="accent1">
                  <a:lumMod val="60000"/>
                  <a:lumOff val="40000"/>
                  <a:alpha val="17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6" name="紫荆的职场Point7-5"/>
            <p:cNvSpPr>
              <a:spLocks noChangeAspect="1"/>
            </p:cNvSpPr>
            <p:nvPr/>
          </p:nvSpPr>
          <p:spPr>
            <a:xfrm>
              <a:off x="1858892" y="2628454"/>
              <a:ext cx="1224002" cy="1224000"/>
            </a:xfrm>
            <a:prstGeom prst="arc">
              <a:avLst>
                <a:gd name="adj1" fmla="val 15177856"/>
                <a:gd name="adj2" fmla="val 0"/>
              </a:avLst>
            </a:prstGeom>
            <a:noFill/>
            <a:ln w="12700">
              <a:gradFill>
                <a:gsLst>
                  <a:gs pos="0">
                    <a:schemeClr val="accent1">
                      <a:lumMod val="60000"/>
                      <a:lumOff val="40000"/>
                      <a:alpha val="0"/>
                    </a:schemeClr>
                  </a:gs>
                  <a:gs pos="74000">
                    <a:schemeClr val="accent1">
                      <a:lumMod val="60000"/>
                      <a:lumOff val="40000"/>
                    </a:schemeClr>
                  </a:gs>
                </a:gsLst>
                <a:lin ang="5400000" scaled="1"/>
              </a:gradFill>
              <a:prstDash val="solid"/>
            </a:ln>
            <a:effectLst>
              <a:outerShdw blurRad="457200" dist="127000" dir="2700000" sx="102000" sy="102000" algn="ctr" rotWithShape="0">
                <a:schemeClr val="accent1">
                  <a:alpha val="17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17" name="紫荆的职场Point7-6"/>
            <p:cNvSpPr>
              <a:spLocks noChangeAspect="1"/>
            </p:cNvSpPr>
            <p:nvPr/>
          </p:nvSpPr>
          <p:spPr>
            <a:xfrm rot="10800000">
              <a:off x="1858892" y="2628454"/>
              <a:ext cx="1224002" cy="1224000"/>
            </a:xfrm>
            <a:prstGeom prst="arc">
              <a:avLst>
                <a:gd name="adj1" fmla="val 15177856"/>
                <a:gd name="adj2" fmla="val 0"/>
              </a:avLst>
            </a:prstGeom>
            <a:noFill/>
            <a:ln w="12700">
              <a:gradFill>
                <a:gsLst>
                  <a:gs pos="0">
                    <a:schemeClr val="accent1">
                      <a:lumMod val="60000"/>
                      <a:lumOff val="40000"/>
                      <a:alpha val="0"/>
                    </a:schemeClr>
                  </a:gs>
                  <a:gs pos="74000">
                    <a:schemeClr val="accent1">
                      <a:lumMod val="60000"/>
                      <a:lumOff val="40000"/>
                    </a:schemeClr>
                  </a:gs>
                </a:gsLst>
                <a:lin ang="5400000" scaled="1"/>
              </a:gradFill>
              <a:prstDash val="solid"/>
            </a:ln>
            <a:effectLst>
              <a:outerShdw blurRad="457200" dist="127000" dir="2700000" sx="102000" sy="102000" algn="ctr" rotWithShape="0">
                <a:schemeClr val="accent1">
                  <a:alpha val="17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grpSp>
      <p:grpSp>
        <p:nvGrpSpPr>
          <p:cNvPr id="18" name="紫荆的职场Point8"/>
          <p:cNvGrpSpPr/>
          <p:nvPr/>
        </p:nvGrpSpPr>
        <p:grpSpPr>
          <a:xfrm>
            <a:off x="8997354" y="2357977"/>
            <a:ext cx="1446186" cy="1446184"/>
            <a:chOff x="1747800" y="2517362"/>
            <a:chExt cx="1446186" cy="1446184"/>
          </a:xfrm>
        </p:grpSpPr>
        <p:sp>
          <p:nvSpPr>
            <p:cNvPr id="19" name="紫荆的职场Point8-1"/>
            <p:cNvSpPr/>
            <p:nvPr/>
          </p:nvSpPr>
          <p:spPr>
            <a:xfrm>
              <a:off x="1747800" y="2517362"/>
              <a:ext cx="1446186" cy="1446184"/>
            </a:xfrm>
            <a:prstGeom prst="ellipse">
              <a:avLst/>
            </a:prstGeom>
            <a:gradFill>
              <a:gsLst>
                <a:gs pos="0">
                  <a:schemeClr val="bg1"/>
                </a:gs>
                <a:gs pos="99000">
                  <a:schemeClr val="accent3">
                    <a:lumMod val="5000"/>
                    <a:lumOff val="95000"/>
                  </a:schemeClr>
                </a:gs>
              </a:gsLst>
              <a:lin ang="16200000" scaled="1"/>
            </a:gradFill>
            <a:ln>
              <a:solidFill>
                <a:schemeClr val="accent1">
                  <a:lumMod val="60000"/>
                  <a:lumOff val="40000"/>
                </a:schemeClr>
              </a:solidFill>
            </a:ln>
            <a:effectLst>
              <a:outerShdw blurRad="457200" dist="127000" dir="2700000" sx="102000" sy="102000" algn="ctr" rotWithShape="0">
                <a:schemeClr val="accent1">
                  <a:lumMod val="60000"/>
                  <a:lumOff val="40000"/>
                  <a:alpha val="17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20" name="组合 19"/>
            <p:cNvGrpSpPr/>
            <p:nvPr/>
          </p:nvGrpSpPr>
          <p:grpSpPr>
            <a:xfrm>
              <a:off x="2123682" y="2988667"/>
              <a:ext cx="694422" cy="503574"/>
              <a:chOff x="2133390" y="3011706"/>
              <a:chExt cx="694422" cy="503574"/>
            </a:xfrm>
          </p:grpSpPr>
          <p:sp>
            <p:nvSpPr>
              <p:cNvPr id="21" name="紫荆的职场Point8-2"/>
              <p:cNvSpPr txBox="1"/>
              <p:nvPr/>
            </p:nvSpPr>
            <p:spPr>
              <a:xfrm>
                <a:off x="2133390" y="3299836"/>
                <a:ext cx="694422" cy="215444"/>
              </a:xfrm>
              <a:prstGeom prst="rect">
                <a:avLst/>
              </a:prstGeom>
              <a:noFill/>
            </p:spPr>
            <p:txBody>
              <a:bodyPr wrap="none">
                <a:spAutoFit/>
              </a:bodyPr>
              <a:lstStyle/>
              <a:p>
                <a:pPr algn="ctr"/>
                <a:r>
                  <a:rPr lang="en-US" altLang="zh-CN" sz="800">
                    <a:solidFill>
                      <a:schemeClr val="tx2"/>
                    </a:solidFill>
                    <a:latin typeface="微软雅黑" panose="020B0503020204020204" charset="-122"/>
                    <a:ea typeface="微软雅黑" panose="020B0503020204020204" charset="-122"/>
                    <a:cs typeface="微软雅黑" panose="020B0503020204020204" charset="-122"/>
                  </a:rPr>
                  <a:t> Audiences</a:t>
                </a:r>
                <a:endParaRPr lang="en-US" altLang="zh-CN" sz="8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22" name="紫荆的职场Point8-3"/>
              <p:cNvSpPr txBox="1"/>
              <p:nvPr/>
            </p:nvSpPr>
            <p:spPr>
              <a:xfrm>
                <a:off x="2163738" y="3011706"/>
                <a:ext cx="633730" cy="337185"/>
              </a:xfrm>
              <a:prstGeom prst="rect">
                <a:avLst/>
              </a:prstGeom>
              <a:noFill/>
            </p:spPr>
            <p:txBody>
              <a:bodyPr wrap="none">
                <a:spAutoFit/>
              </a:bodyPr>
              <a:lstStyle/>
              <a:p>
                <a:pPr algn="ctr"/>
                <a:r>
                  <a:rPr lang="en-US" altLang="zh-CN" sz="14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 </a:t>
                </a:r>
                <a:r>
                  <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rPr>
                  <a:t>受众</a:t>
                </a:r>
                <a:endParaRPr lang="zh-CN" altLang="en-US" sz="1600" b="1">
                  <a:solidFill>
                    <a:schemeClr val="accent1">
                      <a:lumMod val="60000"/>
                      <a:lumOff val="40000"/>
                    </a:schemeClr>
                  </a:solidFill>
                  <a:latin typeface="微软雅黑" panose="020B0503020204020204" charset="-122"/>
                  <a:ea typeface="微软雅黑" panose="020B0503020204020204" charset="-122"/>
                  <a:cs typeface="微软雅黑" panose="020B0503020204020204" charset="-122"/>
                </a:endParaRPr>
              </a:p>
            </p:txBody>
          </p:sp>
        </p:grpSp>
        <p:sp>
          <p:nvSpPr>
            <p:cNvPr id="23" name="紫荆的职场Point8-4"/>
            <p:cNvSpPr>
              <a:spLocks noChangeAspect="1"/>
            </p:cNvSpPr>
            <p:nvPr/>
          </p:nvSpPr>
          <p:spPr>
            <a:xfrm>
              <a:off x="1804892" y="2574454"/>
              <a:ext cx="1332002" cy="1332000"/>
            </a:xfrm>
            <a:prstGeom prst="ellipse">
              <a:avLst/>
            </a:prstGeom>
            <a:noFill/>
            <a:ln w="12700">
              <a:solidFill>
                <a:schemeClr val="accent1">
                  <a:lumMod val="60000"/>
                  <a:lumOff val="40000"/>
                  <a:alpha val="35000"/>
                </a:schemeClr>
              </a:solidFill>
              <a:prstDash val="sysDash"/>
            </a:ln>
            <a:effectLst>
              <a:outerShdw blurRad="457200" dist="127000" dir="2700000" sx="102000" sy="102000" algn="ctr" rotWithShape="0">
                <a:schemeClr val="accent1">
                  <a:alpha val="17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4" name="紫荆的职场Point8-5"/>
            <p:cNvSpPr>
              <a:spLocks noChangeAspect="1"/>
            </p:cNvSpPr>
            <p:nvPr/>
          </p:nvSpPr>
          <p:spPr>
            <a:xfrm>
              <a:off x="1858892" y="2628454"/>
              <a:ext cx="1224002" cy="1224000"/>
            </a:xfrm>
            <a:prstGeom prst="arc">
              <a:avLst>
                <a:gd name="adj1" fmla="val 15177856"/>
                <a:gd name="adj2" fmla="val 0"/>
              </a:avLst>
            </a:prstGeom>
            <a:noFill/>
            <a:ln w="12700">
              <a:gradFill>
                <a:gsLst>
                  <a:gs pos="0">
                    <a:schemeClr val="accent1">
                      <a:lumMod val="60000"/>
                      <a:lumOff val="40000"/>
                      <a:alpha val="0"/>
                    </a:schemeClr>
                  </a:gs>
                  <a:gs pos="74000">
                    <a:schemeClr val="accent1">
                      <a:lumMod val="60000"/>
                      <a:lumOff val="40000"/>
                    </a:schemeClr>
                  </a:gs>
                </a:gsLst>
                <a:lin ang="5400000" scaled="1"/>
              </a:gradFill>
              <a:prstDash val="solid"/>
            </a:ln>
            <a:effectLst>
              <a:outerShdw blurRad="457200" dist="127000" dir="2700000" sx="102000" sy="102000" algn="ctr" rotWithShape="0">
                <a:schemeClr val="accent1">
                  <a:alpha val="17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latin typeface="微软雅黑" panose="020B0503020204020204" charset="-122"/>
                <a:ea typeface="微软雅黑" panose="020B0503020204020204" charset="-122"/>
                <a:cs typeface="微软雅黑" panose="020B0503020204020204" charset="-122"/>
                <a:sym typeface="+mn-ea"/>
              </a:endParaRPr>
            </a:p>
          </p:txBody>
        </p:sp>
        <p:sp>
          <p:nvSpPr>
            <p:cNvPr id="27" name="紫荆的职场Point8-6"/>
            <p:cNvSpPr>
              <a:spLocks noChangeAspect="1"/>
            </p:cNvSpPr>
            <p:nvPr/>
          </p:nvSpPr>
          <p:spPr>
            <a:xfrm rot="10800000">
              <a:off x="1858892" y="2628454"/>
              <a:ext cx="1224002" cy="1224000"/>
            </a:xfrm>
            <a:prstGeom prst="arc">
              <a:avLst>
                <a:gd name="adj1" fmla="val 15177856"/>
                <a:gd name="adj2" fmla="val 0"/>
              </a:avLst>
            </a:prstGeom>
            <a:noFill/>
            <a:ln w="12700">
              <a:gradFill>
                <a:gsLst>
                  <a:gs pos="0">
                    <a:schemeClr val="accent1">
                      <a:lumMod val="60000"/>
                      <a:lumOff val="40000"/>
                      <a:alpha val="0"/>
                    </a:schemeClr>
                  </a:gs>
                  <a:gs pos="74000">
                    <a:schemeClr val="accent1">
                      <a:lumMod val="60000"/>
                      <a:lumOff val="40000"/>
                    </a:schemeClr>
                  </a:gs>
                </a:gsLst>
                <a:lin ang="5400000" scaled="1"/>
              </a:gradFill>
              <a:prstDash val="solid"/>
            </a:ln>
            <a:effectLst>
              <a:outerShdw blurRad="457200" dist="127000" dir="2700000" sx="102000" sy="102000" algn="ctr" rotWithShape="0">
                <a:schemeClr val="accent1">
                  <a:alpha val="17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sp>
        <p:nvSpPr>
          <p:cNvPr id="29" name="紫荆的职场Point9-1"/>
          <p:cNvSpPr txBox="1"/>
          <p:nvPr/>
        </p:nvSpPr>
        <p:spPr>
          <a:xfrm flipH="1">
            <a:off x="6810276" y="4556336"/>
            <a:ext cx="1005205" cy="338554"/>
          </a:xfrm>
          <a:prstGeom prst="rect">
            <a:avLst/>
          </a:prstGeom>
          <a:noFill/>
        </p:spPr>
        <p:txBody>
          <a:bodyPr wrap="none" rtlCol="0">
            <a:spAutoFit/>
          </a:bodyPr>
          <a:lstStyle/>
          <a:p>
            <a:pPr algn="ctr"/>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被动吸引</a:t>
            </a:r>
            <a:endParaRPr lang="zh-CN" altLang="en-US" sz="16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2" name="紫荆的职场Point9-8"/>
          <p:cNvSpPr txBox="1"/>
          <p:nvPr/>
        </p:nvSpPr>
        <p:spPr>
          <a:xfrm flipH="1">
            <a:off x="5436771" y="4556336"/>
            <a:ext cx="1005205" cy="338554"/>
          </a:xfrm>
          <a:prstGeom prst="rect">
            <a:avLst/>
          </a:prstGeom>
          <a:noFill/>
        </p:spPr>
        <p:txBody>
          <a:bodyPr wrap="none" rtlCol="0">
            <a:spAutoFit/>
          </a:bodyPr>
          <a:lstStyle/>
          <a:p>
            <a:pPr algn="ctr"/>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产生消费</a:t>
            </a:r>
            <a:endParaRPr lang="zh-CN" altLang="en-US" sz="16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3" name="紫荆的职场Point9-9"/>
          <p:cNvSpPr txBox="1"/>
          <p:nvPr/>
        </p:nvSpPr>
        <p:spPr>
          <a:xfrm flipH="1">
            <a:off x="3990678" y="4556336"/>
            <a:ext cx="1005403" cy="338554"/>
          </a:xfrm>
          <a:prstGeom prst="rect">
            <a:avLst/>
          </a:prstGeom>
          <a:noFill/>
        </p:spPr>
        <p:txBody>
          <a:bodyPr wrap="none" rtlCol="0">
            <a:spAutoFit/>
          </a:bodyPr>
          <a:lstStyle/>
          <a:p>
            <a:pPr algn="ctr"/>
            <a:r>
              <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rPr>
              <a:t>消费冲动</a:t>
            </a:r>
            <a:endParaRPr lang="zh-CN" altLang="en-US" sz="1600" b="1"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4" name="紫荆的职场Point9-10"/>
          <p:cNvSpPr txBox="1"/>
          <p:nvPr/>
        </p:nvSpPr>
        <p:spPr>
          <a:xfrm flipH="1">
            <a:off x="3048521" y="4504555"/>
            <a:ext cx="595035" cy="338554"/>
          </a:xfrm>
          <a:prstGeom prst="rect">
            <a:avLst/>
          </a:prstGeom>
          <a:noFill/>
        </p:spPr>
        <p:txBody>
          <a:bodyPr wrap="none" rtlCol="0">
            <a:spAutoFit/>
          </a:bodyPr>
          <a:lstStyle/>
          <a:p>
            <a:pPr algn="ctr"/>
            <a:r>
              <a:rPr lang="en-US" altLang="zh-CN" sz="1600">
                <a:solidFill>
                  <a:schemeClr val="accent1"/>
                </a:solidFill>
                <a:latin typeface="微软雅黑" panose="020B0503020204020204" charset="-122"/>
                <a:ea typeface="微软雅黑" panose="020B0503020204020204" charset="-122"/>
                <a:cs typeface="微软雅黑" panose="020B0503020204020204" charset="-122"/>
              </a:rPr>
              <a:t>……</a:t>
            </a:r>
            <a:endParaRPr lang="en-US" altLang="zh-CN" sz="160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79" name="紫荆的职场Point13-1"/>
          <p:cNvSpPr/>
          <p:nvPr/>
        </p:nvSpPr>
        <p:spPr>
          <a:xfrm>
            <a:off x="10256520" y="2225675"/>
            <a:ext cx="558800" cy="232410"/>
          </a:xfrm>
          <a:prstGeom prst="roundRect">
            <a:avLst>
              <a:gd name="adj" fmla="val 50000"/>
            </a:avLst>
          </a:prstGeom>
          <a:solidFill>
            <a:schemeClr val="accent1">
              <a:lumMod val="60000"/>
              <a:lumOff val="40000"/>
            </a:schemeClr>
          </a:solidFill>
          <a:ln w="12700">
            <a:solidFill>
              <a:schemeClr val="bg1"/>
            </a:solidFill>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457200"/>
            <a:endParaRPr kumimoji="1"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86" name="紫荆的职场Point14-1"/>
          <p:cNvSpPr/>
          <p:nvPr/>
        </p:nvSpPr>
        <p:spPr>
          <a:xfrm>
            <a:off x="10256520" y="3660140"/>
            <a:ext cx="558800" cy="232410"/>
          </a:xfrm>
          <a:prstGeom prst="roundRect">
            <a:avLst>
              <a:gd name="adj" fmla="val 50000"/>
            </a:avLst>
          </a:prstGeom>
          <a:solidFill>
            <a:schemeClr val="accent1">
              <a:lumMod val="60000"/>
              <a:lumOff val="40000"/>
            </a:schemeClr>
          </a:solidFill>
          <a:ln w="12700">
            <a:solidFill>
              <a:schemeClr val="bg1"/>
            </a:solidFill>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457200"/>
            <a:endParaRPr kumimoji="1"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0" name="紫荆的职场Point15-1"/>
          <p:cNvSpPr/>
          <p:nvPr/>
        </p:nvSpPr>
        <p:spPr>
          <a:xfrm>
            <a:off x="10546715" y="2943225"/>
            <a:ext cx="558800" cy="232410"/>
          </a:xfrm>
          <a:prstGeom prst="roundRect">
            <a:avLst>
              <a:gd name="adj" fmla="val 50000"/>
            </a:avLst>
          </a:prstGeom>
          <a:solidFill>
            <a:schemeClr val="accent1">
              <a:lumMod val="60000"/>
              <a:lumOff val="40000"/>
            </a:schemeClr>
          </a:solidFill>
          <a:ln w="12700">
            <a:solidFill>
              <a:schemeClr val="bg1"/>
            </a:solidFill>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457200"/>
            <a:endParaRPr kumimoji="1"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4" name="紫荆的职场Point16-1"/>
          <p:cNvSpPr/>
          <p:nvPr/>
        </p:nvSpPr>
        <p:spPr>
          <a:xfrm>
            <a:off x="1381125" y="2225675"/>
            <a:ext cx="558800" cy="232410"/>
          </a:xfrm>
          <a:prstGeom prst="roundRect">
            <a:avLst>
              <a:gd name="adj" fmla="val 50000"/>
            </a:avLst>
          </a:prstGeom>
          <a:solidFill>
            <a:schemeClr val="accent1">
              <a:lumMod val="60000"/>
              <a:lumOff val="40000"/>
            </a:schemeClr>
          </a:solidFill>
          <a:ln w="12700">
            <a:solidFill>
              <a:schemeClr val="bg1"/>
            </a:solidFill>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457200"/>
            <a:endParaRPr kumimoji="1" lang="zh-CN" altLang="en-US">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197" name="紫荆的职场Point17-1"/>
          <p:cNvSpPr/>
          <p:nvPr/>
        </p:nvSpPr>
        <p:spPr>
          <a:xfrm>
            <a:off x="1381125" y="3658235"/>
            <a:ext cx="558800" cy="232410"/>
          </a:xfrm>
          <a:prstGeom prst="roundRect">
            <a:avLst>
              <a:gd name="adj" fmla="val 50000"/>
            </a:avLst>
          </a:prstGeom>
          <a:solidFill>
            <a:schemeClr val="accent1">
              <a:lumMod val="60000"/>
              <a:lumOff val="40000"/>
            </a:schemeClr>
          </a:solidFill>
          <a:ln w="12700">
            <a:solidFill>
              <a:schemeClr val="bg1"/>
            </a:solidFill>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457200"/>
            <a:endParaRPr kumimoji="1" lang="zh-CN" altLang="en-US" sz="10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0" name="紫荆的职场Point18-1"/>
          <p:cNvSpPr/>
          <p:nvPr/>
        </p:nvSpPr>
        <p:spPr>
          <a:xfrm>
            <a:off x="1091565" y="3180715"/>
            <a:ext cx="558800" cy="232410"/>
          </a:xfrm>
          <a:prstGeom prst="roundRect">
            <a:avLst>
              <a:gd name="adj" fmla="val 50000"/>
            </a:avLst>
          </a:prstGeom>
          <a:solidFill>
            <a:schemeClr val="accent1">
              <a:lumMod val="60000"/>
              <a:lumOff val="40000"/>
            </a:schemeClr>
          </a:solidFill>
          <a:ln w="12700">
            <a:solidFill>
              <a:schemeClr val="bg1"/>
            </a:solidFill>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457200"/>
            <a:endParaRPr kumimoji="1" lang="zh-CN" altLang="en-US" sz="100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03" name="紫荆的职场Point19-1"/>
          <p:cNvSpPr/>
          <p:nvPr/>
        </p:nvSpPr>
        <p:spPr>
          <a:xfrm>
            <a:off x="1091565" y="2703195"/>
            <a:ext cx="558800" cy="232410"/>
          </a:xfrm>
          <a:prstGeom prst="roundRect">
            <a:avLst>
              <a:gd name="adj" fmla="val 50000"/>
            </a:avLst>
          </a:prstGeom>
          <a:solidFill>
            <a:schemeClr val="accent1">
              <a:lumMod val="60000"/>
              <a:lumOff val="40000"/>
            </a:schemeClr>
          </a:solidFill>
          <a:ln w="12700">
            <a:solidFill>
              <a:schemeClr val="bg1"/>
            </a:solidFill>
          </a:ln>
          <a:effectLst>
            <a:outerShdw blurRad="50800" dist="38100" dir="2700000" algn="tl" rotWithShape="0">
              <a:schemeClr val="accent1">
                <a:lumMod val="60000"/>
                <a:lumOff val="40000"/>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noAutofit/>
          </a:bodyPr>
          <a:lstStyle/>
          <a:p>
            <a:pPr algn="ctr" defTabSz="457200"/>
            <a:endParaRPr kumimoji="1" lang="zh-CN" altLang="en-US" sz="1000">
              <a:solidFill>
                <a:srgbClr val="FFFFFF"/>
              </a:solidFill>
              <a:latin typeface="微软雅黑" panose="020B0503020204020204" charset="-122"/>
              <a:ea typeface="微软雅黑" panose="020B0503020204020204" charset="-122"/>
              <a:cs typeface="微软雅黑" panose="020B0503020204020204" charset="-122"/>
            </a:endParaRPr>
          </a:p>
        </p:txBody>
      </p:sp>
      <p:cxnSp>
        <p:nvCxnSpPr>
          <p:cNvPr id="206" name="紫荆的职场Point20"/>
          <p:cNvCxnSpPr/>
          <p:nvPr/>
        </p:nvCxnSpPr>
        <p:spPr>
          <a:xfrm flipV="1">
            <a:off x="3230201" y="3058990"/>
            <a:ext cx="209614" cy="6156"/>
          </a:xfrm>
          <a:prstGeom prst="straightConnector1">
            <a:avLst/>
          </a:prstGeom>
          <a:ln>
            <a:solidFill>
              <a:schemeClr val="accent1">
                <a:lumMod val="60000"/>
                <a:lumOff val="40000"/>
              </a:schemeClr>
            </a:solidFill>
            <a:tailEnd type="stealth"/>
          </a:ln>
        </p:spPr>
        <p:style>
          <a:lnRef idx="2">
            <a:schemeClr val="accent1"/>
          </a:lnRef>
          <a:fillRef idx="0">
            <a:schemeClr val="accent1"/>
          </a:fillRef>
          <a:effectRef idx="1">
            <a:schemeClr val="accent1"/>
          </a:effectRef>
          <a:fontRef idx="minor">
            <a:schemeClr val="tx1"/>
          </a:fontRef>
        </p:style>
      </p:cxnSp>
      <p:cxnSp>
        <p:nvCxnSpPr>
          <p:cNvPr id="207" name="紫荆的职场Point21"/>
          <p:cNvCxnSpPr/>
          <p:nvPr/>
        </p:nvCxnSpPr>
        <p:spPr>
          <a:xfrm flipH="1" flipV="1">
            <a:off x="8749529" y="3058990"/>
            <a:ext cx="209614" cy="6156"/>
          </a:xfrm>
          <a:prstGeom prst="straightConnector1">
            <a:avLst/>
          </a:prstGeom>
          <a:ln>
            <a:solidFill>
              <a:schemeClr val="accent1">
                <a:lumMod val="60000"/>
                <a:lumOff val="40000"/>
              </a:schemeClr>
            </a:solidFill>
            <a:tailEnd type="stealth"/>
          </a:ln>
        </p:spPr>
        <p:style>
          <a:lnRef idx="2">
            <a:schemeClr val="accent1"/>
          </a:lnRef>
          <a:fillRef idx="0">
            <a:schemeClr val="accent1"/>
          </a:fillRef>
          <a:effectRef idx="1">
            <a:schemeClr val="accent1"/>
          </a:effectRef>
          <a:fontRef idx="minor">
            <a:schemeClr val="tx1"/>
          </a:fontRef>
        </p:style>
      </p:cxnSp>
      <p:sp>
        <p:nvSpPr>
          <p:cNvPr id="55" name="紫荆的职场Point22"/>
          <p:cNvSpPr/>
          <p:nvPr/>
        </p:nvSpPr>
        <p:spPr>
          <a:xfrm>
            <a:off x="5259173" y="2238087"/>
            <a:ext cx="1673655" cy="1673653"/>
          </a:xfrm>
          <a:prstGeom prst="ellipse">
            <a:avLst/>
          </a:prstGeom>
          <a:solidFill>
            <a:schemeClr val="accent5">
              <a:lumMod val="20000"/>
              <a:lumOff val="80000"/>
              <a:alpha val="50000"/>
            </a:schemeClr>
          </a:solidFill>
          <a:ln w="25400">
            <a:gradFill>
              <a:gsLst>
                <a:gs pos="0">
                  <a:schemeClr val="accent5"/>
                </a:gs>
                <a:gs pos="100000">
                  <a:schemeClr val="accent5">
                    <a:lumMod val="60000"/>
                    <a:lumOff val="40000"/>
                  </a:schemeClr>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80" name="紫荆的职场Point23-1"/>
          <p:cNvSpPr/>
          <p:nvPr/>
        </p:nvSpPr>
        <p:spPr>
          <a:xfrm>
            <a:off x="5629275" y="2613660"/>
            <a:ext cx="933450" cy="285750"/>
          </a:xfrm>
          <a:prstGeom prst="roundRect">
            <a:avLst>
              <a:gd name="adj" fmla="val 50000"/>
            </a:avLst>
          </a:prstGeom>
          <a:gradFill flip="none" rotWithShape="1">
            <a:gsLst>
              <a:gs pos="23000">
                <a:schemeClr val="accent5"/>
              </a:gs>
              <a:gs pos="100000">
                <a:schemeClr val="accent5">
                  <a:lumMod val="60000"/>
                  <a:lumOff val="40000"/>
                </a:schemeClr>
              </a:gs>
            </a:gsLst>
            <a:path path="circle">
              <a:fillToRect l="100000" t="100000"/>
            </a:path>
            <a:tileRect r="-100000" b="-100000"/>
          </a:gradFill>
          <a:ln w="38100">
            <a:noFill/>
          </a:ln>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0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93" name="紫荆的职场Point24"/>
          <p:cNvGrpSpPr/>
          <p:nvPr/>
        </p:nvGrpSpPr>
        <p:grpSpPr>
          <a:xfrm>
            <a:off x="5437630" y="2971174"/>
            <a:ext cx="1319122" cy="527347"/>
            <a:chOff x="5413905" y="3130559"/>
            <a:chExt cx="1319122" cy="527347"/>
          </a:xfrm>
        </p:grpSpPr>
        <p:sp>
          <p:nvSpPr>
            <p:cNvPr id="87" name="紫荆的职场Point24-1"/>
            <p:cNvSpPr txBox="1"/>
            <p:nvPr/>
          </p:nvSpPr>
          <p:spPr>
            <a:xfrm>
              <a:off x="5413905" y="3130559"/>
              <a:ext cx="487680" cy="275590"/>
            </a:xfrm>
            <a:prstGeom prst="rect">
              <a:avLst/>
            </a:prstGeom>
            <a:noFill/>
          </p:spPr>
          <p:txBody>
            <a:bodyPr wrap="none" rtlCol="0">
              <a:spAutoFit/>
            </a:bodyPr>
            <a:lstStyle/>
            <a:p>
              <a:pPr algn="ct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形象</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90" name="紫荆的职场Point24-2"/>
            <p:cNvSpPr txBox="1"/>
            <p:nvPr/>
          </p:nvSpPr>
          <p:spPr>
            <a:xfrm>
              <a:off x="5413905" y="3382316"/>
              <a:ext cx="487680" cy="275590"/>
            </a:xfrm>
            <a:prstGeom prst="rect">
              <a:avLst/>
            </a:prstGeom>
            <a:noFill/>
          </p:spPr>
          <p:txBody>
            <a:bodyPr wrap="none" rtlCol="0">
              <a:spAutoFit/>
            </a:bodyPr>
            <a:lstStyle/>
            <a:p>
              <a:pPr algn="ctr"/>
              <a:r>
                <a:rPr lang="zh-CN" altLang="en-US" sz="1200" b="1">
                  <a:solidFill>
                    <a:schemeClr val="accent5"/>
                  </a:solidFill>
                  <a:latin typeface="微软雅黑" panose="020B0503020204020204" charset="-122"/>
                  <a:ea typeface="微软雅黑" panose="020B0503020204020204" charset="-122"/>
                  <a:cs typeface="微软雅黑" panose="020B0503020204020204" charset="-122"/>
                </a:rPr>
                <a:t>互动</a:t>
              </a:r>
              <a:endParaRPr lang="zh-CN" altLang="en-US" sz="12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91" name="紫荆的职场Point24-3"/>
            <p:cNvSpPr txBox="1"/>
            <p:nvPr/>
          </p:nvSpPr>
          <p:spPr>
            <a:xfrm>
              <a:off x="5843040" y="3138253"/>
              <a:ext cx="889987" cy="261610"/>
            </a:xfrm>
            <a:prstGeom prst="rect">
              <a:avLst/>
            </a:prstGeom>
            <a:noFill/>
          </p:spPr>
          <p:txBody>
            <a:bodyPr wrap="none" rtlCol="0">
              <a:spAutoFit/>
            </a:bodyPr>
            <a:lstStyle/>
            <a:p>
              <a:pPr algn="ctr"/>
              <a:r>
                <a:rPr lang="zh-CN" altLang="en-US" sz="1100">
                  <a:solidFill>
                    <a:schemeClr val="tx2"/>
                  </a:solidFill>
                  <a:latin typeface="微软雅黑" panose="020B0503020204020204" charset="-122"/>
                  <a:ea typeface="微软雅黑" panose="020B0503020204020204" charset="-122"/>
                  <a:cs typeface="微软雅黑" panose="020B0503020204020204" charset="-122"/>
                </a:rPr>
                <a:t>打造形象点</a:t>
              </a:r>
              <a:endParaRPr lang="zh-CN" altLang="en-US" sz="110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2" name="紫荆的职场Point24-4"/>
            <p:cNvSpPr txBox="1"/>
            <p:nvPr/>
          </p:nvSpPr>
          <p:spPr>
            <a:xfrm>
              <a:off x="5843040" y="3390010"/>
              <a:ext cx="889987" cy="261610"/>
            </a:xfrm>
            <a:prstGeom prst="rect">
              <a:avLst/>
            </a:prstGeom>
            <a:noFill/>
          </p:spPr>
          <p:txBody>
            <a:bodyPr wrap="none" rtlCol="0">
              <a:spAutoFit/>
            </a:bodyPr>
            <a:lstStyle/>
            <a:p>
              <a:pPr algn="ctr"/>
              <a:r>
                <a:rPr lang="zh-CN" altLang="en-US" sz="1100">
                  <a:solidFill>
                    <a:schemeClr val="tx2"/>
                  </a:solidFill>
                  <a:latin typeface="微软雅黑" panose="020B0503020204020204" charset="-122"/>
                  <a:ea typeface="微软雅黑" panose="020B0503020204020204" charset="-122"/>
                  <a:cs typeface="微软雅黑" panose="020B0503020204020204" charset="-122"/>
                </a:rPr>
                <a:t>构建世界观</a:t>
              </a:r>
              <a:endParaRPr lang="zh-CN" altLang="en-US" sz="1100">
                <a:solidFill>
                  <a:schemeClr val="tx2"/>
                </a:solidFill>
                <a:latin typeface="微软雅黑" panose="020B0503020204020204" charset="-122"/>
                <a:ea typeface="微软雅黑" panose="020B0503020204020204" charset="-122"/>
                <a:cs typeface="微软雅黑" panose="020B0503020204020204" charset="-122"/>
              </a:endParaRPr>
            </a:p>
          </p:txBody>
        </p:sp>
      </p:grpSp>
      <p:sp>
        <p:nvSpPr>
          <p:cNvPr id="220" name="紫荆的职场Point25"/>
          <p:cNvSpPr/>
          <p:nvPr/>
        </p:nvSpPr>
        <p:spPr>
          <a:xfrm>
            <a:off x="6664908" y="3429896"/>
            <a:ext cx="734502" cy="592864"/>
          </a:xfrm>
          <a:custGeom>
            <a:avLst/>
            <a:gdLst>
              <a:gd name="connsiteX0" fmla="*/ 3500195 w 3500194"/>
              <a:gd name="connsiteY0" fmla="*/ 1464688 h 2825230"/>
              <a:gd name="connsiteX1" fmla="*/ 3135929 w 3500194"/>
              <a:gd name="connsiteY1" fmla="*/ 1136634 h 2825230"/>
              <a:gd name="connsiteX2" fmla="*/ 3107817 w 3500194"/>
              <a:gd name="connsiteY2" fmla="*/ 1220494 h 2825230"/>
              <a:gd name="connsiteX3" fmla="*/ 3087090 w 3500194"/>
              <a:gd name="connsiteY3" fmla="*/ 1277671 h 2825230"/>
              <a:gd name="connsiteX4" fmla="*/ 3077084 w 3500194"/>
              <a:gd name="connsiteY4" fmla="*/ 1303639 h 2825230"/>
              <a:gd name="connsiteX5" fmla="*/ 2501024 w 3500194"/>
              <a:gd name="connsiteY5" fmla="*/ 2083869 h 2825230"/>
              <a:gd name="connsiteX6" fmla="*/ 2130326 w 3500194"/>
              <a:gd name="connsiteY6" fmla="*/ 2385955 h 2825230"/>
              <a:gd name="connsiteX7" fmla="*/ 1721509 w 3500194"/>
              <a:gd name="connsiteY7" fmla="*/ 2614187 h 2825230"/>
              <a:gd name="connsiteX8" fmla="*/ 839551 w 3500194"/>
              <a:gd name="connsiteY8" fmla="*/ 2824313 h 2825230"/>
              <a:gd name="connsiteX9" fmla="*/ 617275 w 3500194"/>
              <a:gd name="connsiteY9" fmla="*/ 2820263 h 2825230"/>
              <a:gd name="connsiteX10" fmla="*/ 398572 w 3500194"/>
              <a:gd name="connsiteY10" fmla="*/ 2792866 h 2825230"/>
              <a:gd name="connsiteX11" fmla="*/ 0 w 3500194"/>
              <a:gd name="connsiteY11" fmla="*/ 2627528 h 2825230"/>
              <a:gd name="connsiteX12" fmla="*/ 424064 w 3500194"/>
              <a:gd name="connsiteY12" fmla="*/ 2677797 h 2825230"/>
              <a:gd name="connsiteX13" fmla="*/ 529365 w 3500194"/>
              <a:gd name="connsiteY13" fmla="*/ 2664694 h 2825230"/>
              <a:gd name="connsiteX14" fmla="*/ 633475 w 3500194"/>
              <a:gd name="connsiteY14" fmla="*/ 2643967 h 2825230"/>
              <a:gd name="connsiteX15" fmla="*/ 684935 w 3500194"/>
              <a:gd name="connsiteY15" fmla="*/ 2632531 h 2825230"/>
              <a:gd name="connsiteX16" fmla="*/ 735679 w 3500194"/>
              <a:gd name="connsiteY16" fmla="*/ 2618475 h 2825230"/>
              <a:gd name="connsiteX17" fmla="*/ 786186 w 3500194"/>
              <a:gd name="connsiteY17" fmla="*/ 2604419 h 2825230"/>
              <a:gd name="connsiteX18" fmla="*/ 835978 w 3500194"/>
              <a:gd name="connsiteY18" fmla="*/ 2587743 h 2825230"/>
              <a:gd name="connsiteX19" fmla="*/ 1211203 w 3500194"/>
              <a:gd name="connsiteY19" fmla="*/ 2416449 h 2825230"/>
              <a:gd name="connsiteX20" fmla="*/ 1537589 w 3500194"/>
              <a:gd name="connsiteY20" fmla="*/ 2178450 h 2825230"/>
              <a:gd name="connsiteX21" fmla="*/ 2248254 w 3500194"/>
              <a:gd name="connsiteY21" fmla="*/ 850987 h 2825230"/>
              <a:gd name="connsiteX22" fmla="*/ 1782260 w 3500194"/>
              <a:gd name="connsiteY22" fmla="*/ 810963 h 2825230"/>
              <a:gd name="connsiteX23" fmla="*/ 2841705 w 3500194"/>
              <a:gd name="connsiteY23" fmla="*/ 0 h 2825230"/>
              <a:gd name="connsiteX24" fmla="*/ 3246710 w 3500194"/>
              <a:gd name="connsiteY24" fmla="*/ 657061 h 2825230"/>
              <a:gd name="connsiteX25" fmla="*/ 3499957 w 3500194"/>
              <a:gd name="connsiteY25" fmla="*/ 1465165 h 2825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500194" h="2825230">
                <a:moveTo>
                  <a:pt x="3500195" y="1464688"/>
                </a:moveTo>
                <a:cubicBezTo>
                  <a:pt x="3383935" y="1348428"/>
                  <a:pt x="3260766" y="1238838"/>
                  <a:pt x="3135929" y="1136634"/>
                </a:cubicBezTo>
                <a:cubicBezTo>
                  <a:pt x="3135929" y="1136634"/>
                  <a:pt x="3121873" y="1178564"/>
                  <a:pt x="3107817" y="1220494"/>
                </a:cubicBezTo>
                <a:cubicBezTo>
                  <a:pt x="3101146" y="1241459"/>
                  <a:pt x="3093046" y="1262186"/>
                  <a:pt x="3087090" y="1277671"/>
                </a:cubicBezTo>
                <a:cubicBezTo>
                  <a:pt x="3081134" y="1293157"/>
                  <a:pt x="3077084" y="1303639"/>
                  <a:pt x="3077084" y="1303639"/>
                </a:cubicBezTo>
                <a:cubicBezTo>
                  <a:pt x="2926279" y="1593575"/>
                  <a:pt x="2731401" y="1858972"/>
                  <a:pt x="2501024" y="2083869"/>
                </a:cubicBezTo>
                <a:cubicBezTo>
                  <a:pt x="2385717" y="2197032"/>
                  <a:pt x="2261118" y="2297807"/>
                  <a:pt x="2130326" y="2385955"/>
                </a:cubicBezTo>
                <a:cubicBezTo>
                  <a:pt x="1999533" y="2474341"/>
                  <a:pt x="1862784" y="2550577"/>
                  <a:pt x="1721509" y="2614187"/>
                </a:cubicBezTo>
                <a:cubicBezTo>
                  <a:pt x="1438482" y="2739739"/>
                  <a:pt x="1137587" y="2813116"/>
                  <a:pt x="839551" y="2824313"/>
                </a:cubicBezTo>
                <a:cubicBezTo>
                  <a:pt x="764745" y="2825743"/>
                  <a:pt x="690891" y="2826219"/>
                  <a:pt x="617275" y="2820263"/>
                </a:cubicBezTo>
                <a:cubicBezTo>
                  <a:pt x="544136" y="2816690"/>
                  <a:pt x="470759" y="2806922"/>
                  <a:pt x="398572" y="2792866"/>
                </a:cubicBezTo>
                <a:cubicBezTo>
                  <a:pt x="254677" y="2764754"/>
                  <a:pt x="113401" y="2713056"/>
                  <a:pt x="0" y="2627528"/>
                </a:cubicBezTo>
                <a:cubicBezTo>
                  <a:pt x="137702" y="2681608"/>
                  <a:pt x="283503" y="2690185"/>
                  <a:pt x="424064" y="2677797"/>
                </a:cubicBezTo>
                <a:cubicBezTo>
                  <a:pt x="459323" y="2674699"/>
                  <a:pt x="494344" y="2669935"/>
                  <a:pt x="529365" y="2664694"/>
                </a:cubicBezTo>
                <a:cubicBezTo>
                  <a:pt x="564386" y="2659452"/>
                  <a:pt x="599169" y="2651114"/>
                  <a:pt x="633475" y="2643967"/>
                </a:cubicBezTo>
                <a:cubicBezTo>
                  <a:pt x="650628" y="2640155"/>
                  <a:pt x="668020" y="2637058"/>
                  <a:pt x="684935" y="2632531"/>
                </a:cubicBezTo>
                <a:lnTo>
                  <a:pt x="735679" y="2618475"/>
                </a:lnTo>
                <a:lnTo>
                  <a:pt x="786186" y="2604419"/>
                </a:lnTo>
                <a:cubicBezTo>
                  <a:pt x="802863" y="2599416"/>
                  <a:pt x="819301" y="2593222"/>
                  <a:pt x="835978" y="2587743"/>
                </a:cubicBezTo>
                <a:cubicBezTo>
                  <a:pt x="967962" y="2543192"/>
                  <a:pt x="1093751" y="2485539"/>
                  <a:pt x="1211203" y="2416449"/>
                </a:cubicBezTo>
                <a:cubicBezTo>
                  <a:pt x="1328416" y="2346884"/>
                  <a:pt x="1437767" y="2266598"/>
                  <a:pt x="1537589" y="2178450"/>
                </a:cubicBezTo>
                <a:cubicBezTo>
                  <a:pt x="1942356" y="1825142"/>
                  <a:pt x="2171541" y="1344140"/>
                  <a:pt x="2248254" y="850987"/>
                </a:cubicBezTo>
                <a:cubicBezTo>
                  <a:pt x="2090540" y="845269"/>
                  <a:pt x="1936638" y="832642"/>
                  <a:pt x="1782260" y="810963"/>
                </a:cubicBezTo>
                <a:cubicBezTo>
                  <a:pt x="2164632" y="673023"/>
                  <a:pt x="2537713" y="389281"/>
                  <a:pt x="2841705" y="0"/>
                </a:cubicBezTo>
                <a:cubicBezTo>
                  <a:pt x="2995845" y="192496"/>
                  <a:pt x="3133547" y="412152"/>
                  <a:pt x="3246710" y="657061"/>
                </a:cubicBezTo>
                <a:cubicBezTo>
                  <a:pt x="3360349" y="901970"/>
                  <a:pt x="3447783" y="1172132"/>
                  <a:pt x="3499957" y="1465165"/>
                </a:cubicBezTo>
                <a:close/>
              </a:path>
            </a:pathLst>
          </a:custGeom>
          <a:gradFill flip="none" rotWithShape="1">
            <a:gsLst>
              <a:gs pos="12000">
                <a:schemeClr val="accent5"/>
              </a:gs>
              <a:gs pos="79000">
                <a:schemeClr val="accent5">
                  <a:lumMod val="60000"/>
                  <a:lumOff val="40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sym typeface="+mn-ea"/>
            </a:endParaRPr>
          </a:p>
        </p:txBody>
      </p:sp>
      <p:sp>
        <p:nvSpPr>
          <p:cNvPr id="221" name="紫荆的职场Point26"/>
          <p:cNvSpPr/>
          <p:nvPr/>
        </p:nvSpPr>
        <p:spPr>
          <a:xfrm flipH="1" flipV="1">
            <a:off x="4839581" y="2111916"/>
            <a:ext cx="734502" cy="592864"/>
          </a:xfrm>
          <a:custGeom>
            <a:avLst/>
            <a:gdLst>
              <a:gd name="connsiteX0" fmla="*/ 3500195 w 3500194"/>
              <a:gd name="connsiteY0" fmla="*/ 1464688 h 2825230"/>
              <a:gd name="connsiteX1" fmla="*/ 3135929 w 3500194"/>
              <a:gd name="connsiteY1" fmla="*/ 1136634 h 2825230"/>
              <a:gd name="connsiteX2" fmla="*/ 3107817 w 3500194"/>
              <a:gd name="connsiteY2" fmla="*/ 1220494 h 2825230"/>
              <a:gd name="connsiteX3" fmla="*/ 3087090 w 3500194"/>
              <a:gd name="connsiteY3" fmla="*/ 1277671 h 2825230"/>
              <a:gd name="connsiteX4" fmla="*/ 3077084 w 3500194"/>
              <a:gd name="connsiteY4" fmla="*/ 1303639 h 2825230"/>
              <a:gd name="connsiteX5" fmla="*/ 2501024 w 3500194"/>
              <a:gd name="connsiteY5" fmla="*/ 2083869 h 2825230"/>
              <a:gd name="connsiteX6" fmla="*/ 2130326 w 3500194"/>
              <a:gd name="connsiteY6" fmla="*/ 2385955 h 2825230"/>
              <a:gd name="connsiteX7" fmla="*/ 1721509 w 3500194"/>
              <a:gd name="connsiteY7" fmla="*/ 2614187 h 2825230"/>
              <a:gd name="connsiteX8" fmla="*/ 839551 w 3500194"/>
              <a:gd name="connsiteY8" fmla="*/ 2824313 h 2825230"/>
              <a:gd name="connsiteX9" fmla="*/ 617275 w 3500194"/>
              <a:gd name="connsiteY9" fmla="*/ 2820263 h 2825230"/>
              <a:gd name="connsiteX10" fmla="*/ 398572 w 3500194"/>
              <a:gd name="connsiteY10" fmla="*/ 2792866 h 2825230"/>
              <a:gd name="connsiteX11" fmla="*/ 0 w 3500194"/>
              <a:gd name="connsiteY11" fmla="*/ 2627528 h 2825230"/>
              <a:gd name="connsiteX12" fmla="*/ 424064 w 3500194"/>
              <a:gd name="connsiteY12" fmla="*/ 2677797 h 2825230"/>
              <a:gd name="connsiteX13" fmla="*/ 529365 w 3500194"/>
              <a:gd name="connsiteY13" fmla="*/ 2664694 h 2825230"/>
              <a:gd name="connsiteX14" fmla="*/ 633475 w 3500194"/>
              <a:gd name="connsiteY14" fmla="*/ 2643967 h 2825230"/>
              <a:gd name="connsiteX15" fmla="*/ 684935 w 3500194"/>
              <a:gd name="connsiteY15" fmla="*/ 2632531 h 2825230"/>
              <a:gd name="connsiteX16" fmla="*/ 735679 w 3500194"/>
              <a:gd name="connsiteY16" fmla="*/ 2618475 h 2825230"/>
              <a:gd name="connsiteX17" fmla="*/ 786186 w 3500194"/>
              <a:gd name="connsiteY17" fmla="*/ 2604419 h 2825230"/>
              <a:gd name="connsiteX18" fmla="*/ 835978 w 3500194"/>
              <a:gd name="connsiteY18" fmla="*/ 2587743 h 2825230"/>
              <a:gd name="connsiteX19" fmla="*/ 1211203 w 3500194"/>
              <a:gd name="connsiteY19" fmla="*/ 2416449 h 2825230"/>
              <a:gd name="connsiteX20" fmla="*/ 1537589 w 3500194"/>
              <a:gd name="connsiteY20" fmla="*/ 2178450 h 2825230"/>
              <a:gd name="connsiteX21" fmla="*/ 2248254 w 3500194"/>
              <a:gd name="connsiteY21" fmla="*/ 850987 h 2825230"/>
              <a:gd name="connsiteX22" fmla="*/ 1782260 w 3500194"/>
              <a:gd name="connsiteY22" fmla="*/ 810963 h 2825230"/>
              <a:gd name="connsiteX23" fmla="*/ 2841705 w 3500194"/>
              <a:gd name="connsiteY23" fmla="*/ 0 h 2825230"/>
              <a:gd name="connsiteX24" fmla="*/ 3246710 w 3500194"/>
              <a:gd name="connsiteY24" fmla="*/ 657061 h 2825230"/>
              <a:gd name="connsiteX25" fmla="*/ 3499957 w 3500194"/>
              <a:gd name="connsiteY25" fmla="*/ 1465165 h 28252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3500194" h="2825230">
                <a:moveTo>
                  <a:pt x="3500195" y="1464688"/>
                </a:moveTo>
                <a:cubicBezTo>
                  <a:pt x="3383935" y="1348428"/>
                  <a:pt x="3260766" y="1238838"/>
                  <a:pt x="3135929" y="1136634"/>
                </a:cubicBezTo>
                <a:cubicBezTo>
                  <a:pt x="3135929" y="1136634"/>
                  <a:pt x="3121873" y="1178564"/>
                  <a:pt x="3107817" y="1220494"/>
                </a:cubicBezTo>
                <a:cubicBezTo>
                  <a:pt x="3101146" y="1241459"/>
                  <a:pt x="3093046" y="1262186"/>
                  <a:pt x="3087090" y="1277671"/>
                </a:cubicBezTo>
                <a:cubicBezTo>
                  <a:pt x="3081134" y="1293157"/>
                  <a:pt x="3077084" y="1303639"/>
                  <a:pt x="3077084" y="1303639"/>
                </a:cubicBezTo>
                <a:cubicBezTo>
                  <a:pt x="2926279" y="1593575"/>
                  <a:pt x="2731401" y="1858972"/>
                  <a:pt x="2501024" y="2083869"/>
                </a:cubicBezTo>
                <a:cubicBezTo>
                  <a:pt x="2385717" y="2197032"/>
                  <a:pt x="2261118" y="2297807"/>
                  <a:pt x="2130326" y="2385955"/>
                </a:cubicBezTo>
                <a:cubicBezTo>
                  <a:pt x="1999533" y="2474341"/>
                  <a:pt x="1862784" y="2550577"/>
                  <a:pt x="1721509" y="2614187"/>
                </a:cubicBezTo>
                <a:cubicBezTo>
                  <a:pt x="1438482" y="2739739"/>
                  <a:pt x="1137587" y="2813116"/>
                  <a:pt x="839551" y="2824313"/>
                </a:cubicBezTo>
                <a:cubicBezTo>
                  <a:pt x="764745" y="2825743"/>
                  <a:pt x="690891" y="2826219"/>
                  <a:pt x="617275" y="2820263"/>
                </a:cubicBezTo>
                <a:cubicBezTo>
                  <a:pt x="544136" y="2816690"/>
                  <a:pt x="470759" y="2806922"/>
                  <a:pt x="398572" y="2792866"/>
                </a:cubicBezTo>
                <a:cubicBezTo>
                  <a:pt x="254677" y="2764754"/>
                  <a:pt x="113401" y="2713056"/>
                  <a:pt x="0" y="2627528"/>
                </a:cubicBezTo>
                <a:cubicBezTo>
                  <a:pt x="137702" y="2681608"/>
                  <a:pt x="283503" y="2690185"/>
                  <a:pt x="424064" y="2677797"/>
                </a:cubicBezTo>
                <a:cubicBezTo>
                  <a:pt x="459323" y="2674699"/>
                  <a:pt x="494344" y="2669935"/>
                  <a:pt x="529365" y="2664694"/>
                </a:cubicBezTo>
                <a:cubicBezTo>
                  <a:pt x="564386" y="2659452"/>
                  <a:pt x="599169" y="2651114"/>
                  <a:pt x="633475" y="2643967"/>
                </a:cubicBezTo>
                <a:cubicBezTo>
                  <a:pt x="650628" y="2640155"/>
                  <a:pt x="668020" y="2637058"/>
                  <a:pt x="684935" y="2632531"/>
                </a:cubicBezTo>
                <a:lnTo>
                  <a:pt x="735679" y="2618475"/>
                </a:lnTo>
                <a:lnTo>
                  <a:pt x="786186" y="2604419"/>
                </a:lnTo>
                <a:cubicBezTo>
                  <a:pt x="802863" y="2599416"/>
                  <a:pt x="819301" y="2593222"/>
                  <a:pt x="835978" y="2587743"/>
                </a:cubicBezTo>
                <a:cubicBezTo>
                  <a:pt x="967962" y="2543192"/>
                  <a:pt x="1093751" y="2485539"/>
                  <a:pt x="1211203" y="2416449"/>
                </a:cubicBezTo>
                <a:cubicBezTo>
                  <a:pt x="1328416" y="2346884"/>
                  <a:pt x="1437767" y="2266598"/>
                  <a:pt x="1537589" y="2178450"/>
                </a:cubicBezTo>
                <a:cubicBezTo>
                  <a:pt x="1942356" y="1825142"/>
                  <a:pt x="2171541" y="1344140"/>
                  <a:pt x="2248254" y="850987"/>
                </a:cubicBezTo>
                <a:cubicBezTo>
                  <a:pt x="2090540" y="845269"/>
                  <a:pt x="1936638" y="832642"/>
                  <a:pt x="1782260" y="810963"/>
                </a:cubicBezTo>
                <a:cubicBezTo>
                  <a:pt x="2164632" y="673023"/>
                  <a:pt x="2537713" y="389281"/>
                  <a:pt x="2841705" y="0"/>
                </a:cubicBezTo>
                <a:cubicBezTo>
                  <a:pt x="2995845" y="192496"/>
                  <a:pt x="3133547" y="412152"/>
                  <a:pt x="3246710" y="657061"/>
                </a:cubicBezTo>
                <a:cubicBezTo>
                  <a:pt x="3360349" y="901970"/>
                  <a:pt x="3447783" y="1172132"/>
                  <a:pt x="3499957" y="1465165"/>
                </a:cubicBezTo>
                <a:close/>
              </a:path>
            </a:pathLst>
          </a:custGeom>
          <a:gradFill flip="none" rotWithShape="1">
            <a:gsLst>
              <a:gs pos="12000">
                <a:schemeClr val="accent5"/>
              </a:gs>
              <a:gs pos="79000">
                <a:schemeClr val="accent5">
                  <a:lumMod val="60000"/>
                  <a:lumOff val="40000"/>
                </a:schemeClr>
              </a:gs>
            </a:gsLst>
            <a:lin ang="5400000" scaled="1"/>
            <a:tileRect/>
          </a:gra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250" name="紫荆的职场Point27"/>
          <p:cNvSpPr/>
          <p:nvPr/>
        </p:nvSpPr>
        <p:spPr>
          <a:xfrm flipV="1">
            <a:off x="4969735" y="2076217"/>
            <a:ext cx="2252531" cy="1990949"/>
          </a:xfrm>
          <a:custGeom>
            <a:avLst/>
            <a:gdLst>
              <a:gd name="connsiteX0" fmla="*/ 1126265 w 2252531"/>
              <a:gd name="connsiteY0" fmla="*/ 1990949 h 1990949"/>
              <a:gd name="connsiteX1" fmla="*/ 2222809 w 2252531"/>
              <a:gd name="connsiteY1" fmla="*/ 1094632 h 1990949"/>
              <a:gd name="connsiteX2" fmla="*/ 2251948 w 2252531"/>
              <a:gd name="connsiteY2" fmla="*/ 996457 h 1990949"/>
              <a:gd name="connsiteX3" fmla="*/ 2252531 w 2252531"/>
              <a:gd name="connsiteY3" fmla="*/ 996457 h 1990949"/>
              <a:gd name="connsiteX4" fmla="*/ 2252240 w 2252531"/>
              <a:gd name="connsiteY4" fmla="*/ 995474 h 1990949"/>
              <a:gd name="connsiteX5" fmla="*/ 2252531 w 2252531"/>
              <a:gd name="connsiteY5" fmla="*/ 994492 h 1990949"/>
              <a:gd name="connsiteX6" fmla="*/ 2251948 w 2252531"/>
              <a:gd name="connsiteY6" fmla="*/ 994492 h 1990949"/>
              <a:gd name="connsiteX7" fmla="*/ 2222809 w 2252531"/>
              <a:gd name="connsiteY7" fmla="*/ 896317 h 1990949"/>
              <a:gd name="connsiteX8" fmla="*/ 1126265 w 2252531"/>
              <a:gd name="connsiteY8" fmla="*/ 0 h 1990949"/>
              <a:gd name="connsiteX9" fmla="*/ 29721 w 2252531"/>
              <a:gd name="connsiteY9" fmla="*/ 896317 h 1990949"/>
              <a:gd name="connsiteX10" fmla="*/ 583 w 2252531"/>
              <a:gd name="connsiteY10" fmla="*/ 994492 h 1990949"/>
              <a:gd name="connsiteX11" fmla="*/ 0 w 2252531"/>
              <a:gd name="connsiteY11" fmla="*/ 994492 h 1990949"/>
              <a:gd name="connsiteX12" fmla="*/ 292 w 2252531"/>
              <a:gd name="connsiteY12" fmla="*/ 995474 h 1990949"/>
              <a:gd name="connsiteX13" fmla="*/ 0 w 2252531"/>
              <a:gd name="connsiteY13" fmla="*/ 996457 h 1990949"/>
              <a:gd name="connsiteX14" fmla="*/ 583 w 2252531"/>
              <a:gd name="connsiteY14" fmla="*/ 996457 h 1990949"/>
              <a:gd name="connsiteX15" fmla="*/ 29721 w 2252531"/>
              <a:gd name="connsiteY15" fmla="*/ 1094632 h 1990949"/>
              <a:gd name="connsiteX16" fmla="*/ 1126265 w 2252531"/>
              <a:gd name="connsiteY16" fmla="*/ 1990949 h 19909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252531" h="1990949">
                <a:moveTo>
                  <a:pt x="1126265" y="1990949"/>
                </a:moveTo>
                <a:cubicBezTo>
                  <a:pt x="1619206" y="1990949"/>
                  <a:pt x="2042147" y="1621360"/>
                  <a:pt x="2222809" y="1094632"/>
                </a:cubicBezTo>
                <a:lnTo>
                  <a:pt x="2251948" y="996457"/>
                </a:lnTo>
                <a:lnTo>
                  <a:pt x="2252531" y="996457"/>
                </a:lnTo>
                <a:lnTo>
                  <a:pt x="2252240" y="995474"/>
                </a:lnTo>
                <a:lnTo>
                  <a:pt x="2252531" y="994492"/>
                </a:lnTo>
                <a:lnTo>
                  <a:pt x="2251948" y="994492"/>
                </a:lnTo>
                <a:lnTo>
                  <a:pt x="2222809" y="896317"/>
                </a:lnTo>
                <a:cubicBezTo>
                  <a:pt x="2042147" y="369589"/>
                  <a:pt x="1619206" y="0"/>
                  <a:pt x="1126265" y="0"/>
                </a:cubicBezTo>
                <a:cubicBezTo>
                  <a:pt x="633324" y="0"/>
                  <a:pt x="210383" y="369589"/>
                  <a:pt x="29721" y="896317"/>
                </a:cubicBezTo>
                <a:lnTo>
                  <a:pt x="583" y="994492"/>
                </a:lnTo>
                <a:lnTo>
                  <a:pt x="0" y="994492"/>
                </a:lnTo>
                <a:lnTo>
                  <a:pt x="292" y="995474"/>
                </a:lnTo>
                <a:lnTo>
                  <a:pt x="0" y="996457"/>
                </a:lnTo>
                <a:lnTo>
                  <a:pt x="583" y="996457"/>
                </a:lnTo>
                <a:lnTo>
                  <a:pt x="29721" y="1094632"/>
                </a:lnTo>
                <a:cubicBezTo>
                  <a:pt x="210383" y="1621360"/>
                  <a:pt x="633324" y="1990949"/>
                  <a:pt x="1126265" y="1990949"/>
                </a:cubicBezTo>
                <a:close/>
              </a:path>
            </a:pathLst>
          </a:custGeom>
          <a:noFill/>
          <a:ln w="12700">
            <a:solidFill>
              <a:schemeClr val="accent5">
                <a:lumMod val="60000"/>
                <a:lumOff val="40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65" name="紫荆的职场Point28"/>
          <p:cNvSpPr/>
          <p:nvPr/>
        </p:nvSpPr>
        <p:spPr>
          <a:xfrm>
            <a:off x="3233146" y="2404864"/>
            <a:ext cx="1741505" cy="1393304"/>
          </a:xfrm>
          <a:custGeom>
            <a:avLst/>
            <a:gdLst>
              <a:gd name="connsiteX0" fmla="*/ 870753 w 1741505"/>
              <a:gd name="connsiteY0" fmla="*/ 0 h 1393304"/>
              <a:gd name="connsiteX1" fmla="*/ 1725072 w 1741505"/>
              <a:gd name="connsiteY1" fmla="*/ 637943 h 1393304"/>
              <a:gd name="connsiteX2" fmla="*/ 1740994 w 1741505"/>
              <a:gd name="connsiteY2" fmla="*/ 695725 h 1393304"/>
              <a:gd name="connsiteX3" fmla="*/ 1741505 w 1741505"/>
              <a:gd name="connsiteY3" fmla="*/ 695725 h 1393304"/>
              <a:gd name="connsiteX4" fmla="*/ 1741250 w 1741505"/>
              <a:gd name="connsiteY4" fmla="*/ 696652 h 1393304"/>
              <a:gd name="connsiteX5" fmla="*/ 1741505 w 1741505"/>
              <a:gd name="connsiteY5" fmla="*/ 697579 h 1393304"/>
              <a:gd name="connsiteX6" fmla="*/ 1740994 w 1741505"/>
              <a:gd name="connsiteY6" fmla="*/ 697579 h 1393304"/>
              <a:gd name="connsiteX7" fmla="*/ 1725072 w 1741505"/>
              <a:gd name="connsiteY7" fmla="*/ 755362 h 1393304"/>
              <a:gd name="connsiteX8" fmla="*/ 870753 w 1741505"/>
              <a:gd name="connsiteY8" fmla="*/ 1393304 h 1393304"/>
              <a:gd name="connsiteX9" fmla="*/ 16433 w 1741505"/>
              <a:gd name="connsiteY9" fmla="*/ 755362 h 1393304"/>
              <a:gd name="connsiteX10" fmla="*/ 511 w 1741505"/>
              <a:gd name="connsiteY10" fmla="*/ 697579 h 1393304"/>
              <a:gd name="connsiteX11" fmla="*/ 0 w 1741505"/>
              <a:gd name="connsiteY11" fmla="*/ 697579 h 1393304"/>
              <a:gd name="connsiteX12" fmla="*/ 256 w 1741505"/>
              <a:gd name="connsiteY12" fmla="*/ 696652 h 1393304"/>
              <a:gd name="connsiteX13" fmla="*/ 0 w 1741505"/>
              <a:gd name="connsiteY13" fmla="*/ 695725 h 1393304"/>
              <a:gd name="connsiteX14" fmla="*/ 511 w 1741505"/>
              <a:gd name="connsiteY14" fmla="*/ 695725 h 1393304"/>
              <a:gd name="connsiteX15" fmla="*/ 16433 w 1741505"/>
              <a:gd name="connsiteY15" fmla="*/ 637943 h 1393304"/>
              <a:gd name="connsiteX16" fmla="*/ 870753 w 1741505"/>
              <a:gd name="connsiteY16" fmla="*/ 0 h 1393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1505" h="1393304">
                <a:moveTo>
                  <a:pt x="870753" y="0"/>
                </a:moveTo>
                <a:cubicBezTo>
                  <a:pt x="1254805" y="0"/>
                  <a:pt x="1584319" y="263051"/>
                  <a:pt x="1725072" y="637943"/>
                </a:cubicBezTo>
                <a:lnTo>
                  <a:pt x="1740994" y="695725"/>
                </a:lnTo>
                <a:lnTo>
                  <a:pt x="1741505" y="695725"/>
                </a:lnTo>
                <a:lnTo>
                  <a:pt x="1741250" y="696652"/>
                </a:lnTo>
                <a:lnTo>
                  <a:pt x="1741505" y="697579"/>
                </a:lnTo>
                <a:lnTo>
                  <a:pt x="1740994" y="697579"/>
                </a:lnTo>
                <a:lnTo>
                  <a:pt x="1725072" y="755362"/>
                </a:lnTo>
                <a:cubicBezTo>
                  <a:pt x="1584319" y="1130253"/>
                  <a:pt x="1254805" y="1393304"/>
                  <a:pt x="870753" y="1393304"/>
                </a:cubicBezTo>
                <a:cubicBezTo>
                  <a:pt x="486701" y="1393304"/>
                  <a:pt x="157186" y="1130253"/>
                  <a:pt x="16433" y="755362"/>
                </a:cubicBezTo>
                <a:lnTo>
                  <a:pt x="511" y="697579"/>
                </a:lnTo>
                <a:lnTo>
                  <a:pt x="0" y="697579"/>
                </a:lnTo>
                <a:lnTo>
                  <a:pt x="256" y="696652"/>
                </a:lnTo>
                <a:lnTo>
                  <a:pt x="0" y="695725"/>
                </a:lnTo>
                <a:lnTo>
                  <a:pt x="511" y="695725"/>
                </a:lnTo>
                <a:lnTo>
                  <a:pt x="16433" y="637943"/>
                </a:lnTo>
                <a:cubicBezTo>
                  <a:pt x="157186" y="263051"/>
                  <a:pt x="486701" y="0"/>
                  <a:pt x="870753" y="0"/>
                </a:cubicBezTo>
                <a:close/>
              </a:path>
            </a:pathLst>
          </a:custGeom>
          <a:noFill/>
          <a:ln w="12700">
            <a:gradFill>
              <a:gsLst>
                <a:gs pos="0">
                  <a:schemeClr val="bg1">
                    <a:alpha val="0"/>
                  </a:schemeClr>
                </a:gs>
                <a:gs pos="100000">
                  <a:schemeClr val="accent5">
                    <a:lumMod val="60000"/>
                    <a:lumOff val="40000"/>
                  </a:schemeClr>
                </a:gs>
              </a:gsLst>
              <a:lin ang="0" scaled="0"/>
            </a:gra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66" name="紫荆的职场Point29"/>
          <p:cNvSpPr/>
          <p:nvPr/>
        </p:nvSpPr>
        <p:spPr>
          <a:xfrm flipH="1">
            <a:off x="7225675" y="2404864"/>
            <a:ext cx="1741505" cy="1393304"/>
          </a:xfrm>
          <a:custGeom>
            <a:avLst/>
            <a:gdLst>
              <a:gd name="connsiteX0" fmla="*/ 870753 w 1741505"/>
              <a:gd name="connsiteY0" fmla="*/ 0 h 1393304"/>
              <a:gd name="connsiteX1" fmla="*/ 1725072 w 1741505"/>
              <a:gd name="connsiteY1" fmla="*/ 637943 h 1393304"/>
              <a:gd name="connsiteX2" fmla="*/ 1740994 w 1741505"/>
              <a:gd name="connsiteY2" fmla="*/ 695725 h 1393304"/>
              <a:gd name="connsiteX3" fmla="*/ 1741505 w 1741505"/>
              <a:gd name="connsiteY3" fmla="*/ 695725 h 1393304"/>
              <a:gd name="connsiteX4" fmla="*/ 1741250 w 1741505"/>
              <a:gd name="connsiteY4" fmla="*/ 696652 h 1393304"/>
              <a:gd name="connsiteX5" fmla="*/ 1741505 w 1741505"/>
              <a:gd name="connsiteY5" fmla="*/ 697579 h 1393304"/>
              <a:gd name="connsiteX6" fmla="*/ 1740994 w 1741505"/>
              <a:gd name="connsiteY6" fmla="*/ 697579 h 1393304"/>
              <a:gd name="connsiteX7" fmla="*/ 1725072 w 1741505"/>
              <a:gd name="connsiteY7" fmla="*/ 755362 h 1393304"/>
              <a:gd name="connsiteX8" fmla="*/ 870753 w 1741505"/>
              <a:gd name="connsiteY8" fmla="*/ 1393304 h 1393304"/>
              <a:gd name="connsiteX9" fmla="*/ 16433 w 1741505"/>
              <a:gd name="connsiteY9" fmla="*/ 755362 h 1393304"/>
              <a:gd name="connsiteX10" fmla="*/ 511 w 1741505"/>
              <a:gd name="connsiteY10" fmla="*/ 697579 h 1393304"/>
              <a:gd name="connsiteX11" fmla="*/ 0 w 1741505"/>
              <a:gd name="connsiteY11" fmla="*/ 697579 h 1393304"/>
              <a:gd name="connsiteX12" fmla="*/ 256 w 1741505"/>
              <a:gd name="connsiteY12" fmla="*/ 696652 h 1393304"/>
              <a:gd name="connsiteX13" fmla="*/ 0 w 1741505"/>
              <a:gd name="connsiteY13" fmla="*/ 695725 h 1393304"/>
              <a:gd name="connsiteX14" fmla="*/ 511 w 1741505"/>
              <a:gd name="connsiteY14" fmla="*/ 695725 h 1393304"/>
              <a:gd name="connsiteX15" fmla="*/ 16433 w 1741505"/>
              <a:gd name="connsiteY15" fmla="*/ 637943 h 1393304"/>
              <a:gd name="connsiteX16" fmla="*/ 870753 w 1741505"/>
              <a:gd name="connsiteY16" fmla="*/ 0 h 13933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41505" h="1393304">
                <a:moveTo>
                  <a:pt x="870753" y="0"/>
                </a:moveTo>
                <a:cubicBezTo>
                  <a:pt x="1254805" y="0"/>
                  <a:pt x="1584319" y="263051"/>
                  <a:pt x="1725072" y="637943"/>
                </a:cubicBezTo>
                <a:lnTo>
                  <a:pt x="1740994" y="695725"/>
                </a:lnTo>
                <a:lnTo>
                  <a:pt x="1741505" y="695725"/>
                </a:lnTo>
                <a:lnTo>
                  <a:pt x="1741250" y="696652"/>
                </a:lnTo>
                <a:lnTo>
                  <a:pt x="1741505" y="697579"/>
                </a:lnTo>
                <a:lnTo>
                  <a:pt x="1740994" y="697579"/>
                </a:lnTo>
                <a:lnTo>
                  <a:pt x="1725072" y="755362"/>
                </a:lnTo>
                <a:cubicBezTo>
                  <a:pt x="1584319" y="1130253"/>
                  <a:pt x="1254805" y="1393304"/>
                  <a:pt x="870753" y="1393304"/>
                </a:cubicBezTo>
                <a:cubicBezTo>
                  <a:pt x="486701" y="1393304"/>
                  <a:pt x="157186" y="1130253"/>
                  <a:pt x="16433" y="755362"/>
                </a:cubicBezTo>
                <a:lnTo>
                  <a:pt x="511" y="697579"/>
                </a:lnTo>
                <a:lnTo>
                  <a:pt x="0" y="697579"/>
                </a:lnTo>
                <a:lnTo>
                  <a:pt x="256" y="696652"/>
                </a:lnTo>
                <a:lnTo>
                  <a:pt x="0" y="695725"/>
                </a:lnTo>
                <a:lnTo>
                  <a:pt x="511" y="695725"/>
                </a:lnTo>
                <a:lnTo>
                  <a:pt x="16433" y="637943"/>
                </a:lnTo>
                <a:cubicBezTo>
                  <a:pt x="157186" y="263051"/>
                  <a:pt x="486701" y="0"/>
                  <a:pt x="870753" y="0"/>
                </a:cubicBezTo>
                <a:close/>
              </a:path>
            </a:pathLst>
          </a:custGeom>
          <a:noFill/>
          <a:ln w="12700">
            <a:gradFill>
              <a:gsLst>
                <a:gs pos="0">
                  <a:schemeClr val="bg1">
                    <a:alpha val="0"/>
                  </a:schemeClr>
                </a:gs>
                <a:gs pos="100000">
                  <a:schemeClr val="accent5">
                    <a:lumMod val="60000"/>
                    <a:lumOff val="40000"/>
                  </a:schemeClr>
                </a:gs>
              </a:gsLst>
              <a:lin ang="0" scaled="0"/>
            </a:gradFill>
            <a:prstDash val="dash"/>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267" name="紫荆的职场Point30"/>
          <p:cNvSpPr/>
          <p:nvPr/>
        </p:nvSpPr>
        <p:spPr>
          <a:xfrm rot="16200000" flipH="1">
            <a:off x="6035235" y="2023893"/>
            <a:ext cx="72000" cy="104775"/>
          </a:xfrm>
          <a:prstGeom prst="triangle">
            <a:avLst/>
          </a:prstGeom>
          <a:solidFill>
            <a:schemeClr val="accent5">
              <a:lumMod val="60000"/>
              <a:lumOff val="40000"/>
            </a:schemeClr>
          </a:soli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lIns="98755" tIns="49378" rIns="98755" bIns="49378" rtlCol="0" anchor="ctr"/>
          <a:lstStyle/>
          <a:p>
            <a:pPr algn="ctr"/>
            <a:endParaRPr lang="zh-CN" altLang="en-US" sz="1000">
              <a:solidFill>
                <a:prstClr val="white"/>
              </a:solidFill>
              <a:latin typeface="微软雅黑" panose="020B0503020204020204" charset="-122"/>
              <a:ea typeface="微软雅黑" panose="020B0503020204020204" charset="-122"/>
              <a:cs typeface="微软雅黑" panose="020B0503020204020204" charset="-122"/>
            </a:endParaRPr>
          </a:p>
        </p:txBody>
      </p:sp>
      <p:sp>
        <p:nvSpPr>
          <p:cNvPr id="271" name="紫荆的职场Point31"/>
          <p:cNvSpPr/>
          <p:nvPr/>
        </p:nvSpPr>
        <p:spPr>
          <a:xfrm rot="5400000">
            <a:off x="6071430" y="4015181"/>
            <a:ext cx="72000" cy="104775"/>
          </a:xfrm>
          <a:prstGeom prst="triangle">
            <a:avLst/>
          </a:prstGeom>
          <a:solidFill>
            <a:schemeClr val="accent5">
              <a:lumMod val="60000"/>
              <a:lumOff val="40000"/>
            </a:schemeClr>
          </a:solidFill>
          <a:ln w="38100">
            <a:noFill/>
          </a:ln>
          <a:effectLst>
            <a:outerShdw blurRad="411480" dist="123444" dir="5400000" sx="108000" sy="108000" algn="ctr" rotWithShape="0">
              <a:schemeClr val="accent1">
                <a:alpha val="4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lIns="98755" tIns="49378" rIns="98755" bIns="49378" numCol="1" spcCol="0" rtlCol="0" fromWordArt="0" anchor="ctr" anchorCtr="0" forceAA="0" compatLnSpc="1">
            <a:noAutofit/>
          </a:bodyPr>
          <a:lstStyle/>
          <a:p>
            <a:pPr lvl="0" algn="ctr">
              <a:buClrTx/>
              <a:buSzTx/>
              <a:buFontTx/>
            </a:pPr>
            <a:endParaRPr lang="zh-CN" altLang="en-US" sz="1000">
              <a:solidFill>
                <a:prstClr val="white"/>
              </a:solidFill>
              <a:latin typeface="微软雅黑" panose="020B0503020204020204" charset="-122"/>
              <a:ea typeface="微软雅黑" panose="020B0503020204020204" charset="-122"/>
              <a:cs typeface="微软雅黑" panose="020B0503020204020204" charset="-122"/>
              <a:sym typeface="+mn-ea"/>
            </a:endParaRPr>
          </a:p>
        </p:txBody>
      </p:sp>
      <p:sp>
        <p:nvSpPr>
          <p:cNvPr id="274" name="紫荆的职场Point32"/>
          <p:cNvSpPr txBox="1"/>
          <p:nvPr/>
        </p:nvSpPr>
        <p:spPr>
          <a:xfrm>
            <a:off x="8469605" y="4597801"/>
            <a:ext cx="1107996" cy="276999"/>
          </a:xfrm>
          <a:prstGeom prst="rect">
            <a:avLst/>
          </a:prstGeom>
          <a:noFill/>
        </p:spPr>
        <p:txBody>
          <a:bodyPr wrap="none" rtlCol="0">
            <a:sp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强化品牌记忆</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73" name="紫荆的职场Point33"/>
          <p:cNvSpPr txBox="1"/>
          <p:nvPr/>
        </p:nvSpPr>
        <p:spPr>
          <a:xfrm>
            <a:off x="3002854" y="1305117"/>
            <a:ext cx="800219" cy="276999"/>
          </a:xfrm>
          <a:prstGeom prst="rect">
            <a:avLst/>
          </a:prstGeom>
          <a:noFill/>
        </p:spPr>
        <p:txBody>
          <a:bodyPr wrap="none" rtlCol="0">
            <a:spAutoFit/>
          </a:bodyPr>
          <a:lstStyle/>
          <a:p>
            <a:pPr algn="ctr"/>
            <a:r>
              <a:rPr lang="zh-CN" altLang="en-US" sz="1200" b="1" dirty="0">
                <a:solidFill>
                  <a:schemeClr val="bg1"/>
                </a:solidFill>
                <a:latin typeface="微软雅黑" panose="020B0503020204020204" charset="-122"/>
                <a:ea typeface="微软雅黑" panose="020B0503020204020204" charset="-122"/>
                <a:cs typeface="微软雅黑" panose="020B0503020204020204" charset="-122"/>
              </a:rPr>
              <a:t>营销触达</a:t>
            </a:r>
            <a:endParaRPr lang="zh-CN" altLang="en-US" sz="12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75" name="紫荆的职场Point34"/>
          <p:cNvSpPr/>
          <p:nvPr/>
        </p:nvSpPr>
        <p:spPr>
          <a:xfrm>
            <a:off x="444000" y="5478476"/>
            <a:ext cx="11304000" cy="196179"/>
          </a:xfrm>
          <a:prstGeom prst="trapezoid">
            <a:avLst>
              <a:gd name="adj" fmla="val 164557"/>
            </a:avLst>
          </a:prstGeom>
          <a:gradFill>
            <a:gsLst>
              <a:gs pos="0">
                <a:schemeClr val="accent5">
                  <a:alpha val="0"/>
                </a:schemeClr>
              </a:gs>
              <a:gs pos="100000">
                <a:schemeClr val="accent5">
                  <a:alpha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76" name="紫荆的职场Point35"/>
          <p:cNvSpPr/>
          <p:nvPr/>
        </p:nvSpPr>
        <p:spPr>
          <a:xfrm>
            <a:off x="444000" y="5666970"/>
            <a:ext cx="11304000" cy="922045"/>
          </a:xfrm>
          <a:prstGeom prst="rect">
            <a:avLst/>
          </a:prstGeom>
          <a:solidFill>
            <a:schemeClr val="accent5"/>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dirty="0">
              <a:latin typeface="微软雅黑" panose="020B0503020204020204" charset="-122"/>
              <a:ea typeface="微软雅黑" panose="020B0503020204020204" charset="-122"/>
              <a:cs typeface="微软雅黑" panose="020B0503020204020204" charset="-122"/>
            </a:endParaRPr>
          </a:p>
        </p:txBody>
      </p:sp>
      <p:sp>
        <p:nvSpPr>
          <p:cNvPr id="287" name="紫荆的职场Point36-2"/>
          <p:cNvSpPr txBox="1"/>
          <p:nvPr/>
        </p:nvSpPr>
        <p:spPr>
          <a:xfrm>
            <a:off x="614045" y="5768340"/>
            <a:ext cx="2250440" cy="788035"/>
          </a:xfrm>
          <a:prstGeom prst="rect">
            <a:avLst/>
          </a:prstGeom>
          <a:noFill/>
        </p:spPr>
        <p:txBody>
          <a:bodyPr wrap="square">
            <a:spAutoFit/>
          </a:bodyPr>
          <a:lstStyle/>
          <a:p>
            <a:pPr algn="ctr">
              <a:lnSpc>
                <a:spcPct val="11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确立项目目标、范围和初步计划，组建项目团队并进行风险评估</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89" name="紫荆的职场Point37-2"/>
          <p:cNvSpPr txBox="1"/>
          <p:nvPr/>
        </p:nvSpPr>
        <p:spPr>
          <a:xfrm>
            <a:off x="3518535" y="5768340"/>
            <a:ext cx="2250440" cy="788035"/>
          </a:xfrm>
          <a:prstGeom prst="rect">
            <a:avLst/>
          </a:prstGeom>
          <a:noFill/>
        </p:spPr>
        <p:txBody>
          <a:bodyPr wrap="square">
            <a:spAutoFit/>
          </a:bodyPr>
          <a:lstStyle/>
          <a:p>
            <a:pPr algn="ctr">
              <a:lnSpc>
                <a:spcPct val="11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详细制定项目计划，包括时间表、预算、资源分配和风险管理策略</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90" name="紫荆的职场Point38-2"/>
          <p:cNvSpPr txBox="1"/>
          <p:nvPr/>
        </p:nvSpPr>
        <p:spPr>
          <a:xfrm>
            <a:off x="6423025" y="5768340"/>
            <a:ext cx="2249805" cy="788035"/>
          </a:xfrm>
          <a:prstGeom prst="rect">
            <a:avLst/>
          </a:prstGeom>
          <a:noFill/>
        </p:spPr>
        <p:txBody>
          <a:bodyPr wrap="square">
            <a:spAutoFit/>
          </a:bodyPr>
          <a:lstStyle/>
          <a:p>
            <a:pPr algn="ctr" hangingPunct="0">
              <a:lnSpc>
                <a:spcPct val="11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按照项目计划执行任务，监控进度和质量，确保项目按计划推进</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291" name="紫荆的职场Point39-2"/>
          <p:cNvSpPr txBox="1"/>
          <p:nvPr/>
        </p:nvSpPr>
        <p:spPr>
          <a:xfrm>
            <a:off x="9327515" y="5768340"/>
            <a:ext cx="2250440" cy="788035"/>
          </a:xfrm>
          <a:prstGeom prst="rect">
            <a:avLst/>
          </a:prstGeom>
          <a:noFill/>
        </p:spPr>
        <p:txBody>
          <a:bodyPr wrap="square">
            <a:spAutoFit/>
          </a:bodyPr>
          <a:lstStyle/>
          <a:p>
            <a:pPr algn="ctr">
              <a:lnSpc>
                <a:spcPct val="110000"/>
              </a:lnSpc>
            </a:pPr>
            <a:r>
              <a:rPr lang="zh-CN" altLang="en-US" sz="1400" dirty="0">
                <a:solidFill>
                  <a:schemeClr val="bg1"/>
                </a:solidFill>
                <a:latin typeface="微软雅黑" panose="020B0503020204020204" charset="-122"/>
                <a:ea typeface="微软雅黑" panose="020B0503020204020204" charset="-122"/>
                <a:cs typeface="微软雅黑" panose="020B0503020204020204" charset="-122"/>
              </a:rPr>
              <a:t>完成项目工作，交付成果，进行项目评估，并正式结束项目</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59" name="组合 58"/>
          <p:cNvGrpSpPr/>
          <p:nvPr/>
        </p:nvGrpSpPr>
        <p:grpSpPr>
          <a:xfrm>
            <a:off x="3700780" y="4658938"/>
            <a:ext cx="224790" cy="133350"/>
            <a:chOff x="7059" y="7337"/>
            <a:chExt cx="354" cy="210"/>
          </a:xfrm>
        </p:grpSpPr>
        <p:sp>
          <p:nvSpPr>
            <p:cNvPr id="49" name="紫荆的职场Point9-13"/>
            <p:cNvSpPr/>
            <p:nvPr/>
          </p:nvSpPr>
          <p:spPr bwMode="auto">
            <a:xfrm flipH="1">
              <a:off x="7059" y="7337"/>
              <a:ext cx="141" cy="21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57" name="紫荆的职场Point9-13"/>
            <p:cNvSpPr/>
            <p:nvPr/>
          </p:nvSpPr>
          <p:spPr bwMode="auto">
            <a:xfrm flipH="1">
              <a:off x="7166" y="7337"/>
              <a:ext cx="141" cy="21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58" name="紫荆的职场Point9-13"/>
            <p:cNvSpPr/>
            <p:nvPr/>
          </p:nvSpPr>
          <p:spPr bwMode="auto">
            <a:xfrm flipH="1">
              <a:off x="7273" y="7337"/>
              <a:ext cx="141" cy="21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61" name="组合 60"/>
          <p:cNvGrpSpPr/>
          <p:nvPr/>
        </p:nvGrpSpPr>
        <p:grpSpPr>
          <a:xfrm>
            <a:off x="5114925" y="4658938"/>
            <a:ext cx="224790" cy="133350"/>
            <a:chOff x="7059" y="7337"/>
            <a:chExt cx="354" cy="210"/>
          </a:xfrm>
        </p:grpSpPr>
        <p:sp>
          <p:nvSpPr>
            <p:cNvPr id="62" name="紫荆的职场Point9-13"/>
            <p:cNvSpPr/>
            <p:nvPr/>
          </p:nvSpPr>
          <p:spPr bwMode="auto">
            <a:xfrm flipH="1">
              <a:off x="7059" y="7337"/>
              <a:ext cx="141" cy="21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64" name="紫荆的职场Point9-13"/>
            <p:cNvSpPr/>
            <p:nvPr/>
          </p:nvSpPr>
          <p:spPr bwMode="auto">
            <a:xfrm flipH="1">
              <a:off x="7166" y="7337"/>
              <a:ext cx="141" cy="21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65" name="紫荆的职场Point9-13"/>
            <p:cNvSpPr/>
            <p:nvPr/>
          </p:nvSpPr>
          <p:spPr bwMode="auto">
            <a:xfrm flipH="1">
              <a:off x="7273" y="7337"/>
              <a:ext cx="141" cy="21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grpSp>
        <p:nvGrpSpPr>
          <p:cNvPr id="66" name="组合 65"/>
          <p:cNvGrpSpPr/>
          <p:nvPr/>
        </p:nvGrpSpPr>
        <p:grpSpPr>
          <a:xfrm>
            <a:off x="6529070" y="4658938"/>
            <a:ext cx="224790" cy="133350"/>
            <a:chOff x="7059" y="7337"/>
            <a:chExt cx="354" cy="210"/>
          </a:xfrm>
        </p:grpSpPr>
        <p:sp>
          <p:nvSpPr>
            <p:cNvPr id="67" name="紫荆的职场Point9-13"/>
            <p:cNvSpPr/>
            <p:nvPr/>
          </p:nvSpPr>
          <p:spPr bwMode="auto">
            <a:xfrm flipH="1">
              <a:off x="7059" y="7337"/>
              <a:ext cx="141" cy="21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71" name="紫荆的职场Point9-13"/>
            <p:cNvSpPr/>
            <p:nvPr/>
          </p:nvSpPr>
          <p:spPr bwMode="auto">
            <a:xfrm flipH="1">
              <a:off x="7166" y="7337"/>
              <a:ext cx="141" cy="21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72" name="紫荆的职场Point9-13"/>
            <p:cNvSpPr/>
            <p:nvPr/>
          </p:nvSpPr>
          <p:spPr bwMode="auto">
            <a:xfrm flipH="1">
              <a:off x="7273" y="7337"/>
              <a:ext cx="141" cy="210"/>
            </a:xfrm>
            <a:custGeom>
              <a:avLst/>
              <a:gdLst>
                <a:gd name="T0" fmla="*/ 145 w 252"/>
                <a:gd name="T1" fmla="*/ 0 h 376"/>
                <a:gd name="T2" fmla="*/ 0 w 252"/>
                <a:gd name="T3" fmla="*/ 0 h 376"/>
                <a:gd name="T4" fmla="*/ 107 w 252"/>
                <a:gd name="T5" fmla="*/ 188 h 376"/>
                <a:gd name="T6" fmla="*/ 0 w 252"/>
                <a:gd name="T7" fmla="*/ 376 h 376"/>
                <a:gd name="T8" fmla="*/ 145 w 252"/>
                <a:gd name="T9" fmla="*/ 376 h 376"/>
                <a:gd name="T10" fmla="*/ 252 w 252"/>
                <a:gd name="T11" fmla="*/ 188 h 376"/>
                <a:gd name="T12" fmla="*/ 145 w 252"/>
                <a:gd name="T13" fmla="*/ 0 h 376"/>
              </a:gdLst>
              <a:ahLst/>
              <a:cxnLst>
                <a:cxn ang="0">
                  <a:pos x="T0" y="T1"/>
                </a:cxn>
                <a:cxn ang="0">
                  <a:pos x="T2" y="T3"/>
                </a:cxn>
                <a:cxn ang="0">
                  <a:pos x="T4" y="T5"/>
                </a:cxn>
                <a:cxn ang="0">
                  <a:pos x="T6" y="T7"/>
                </a:cxn>
                <a:cxn ang="0">
                  <a:pos x="T8" y="T9"/>
                </a:cxn>
                <a:cxn ang="0">
                  <a:pos x="T10" y="T11"/>
                </a:cxn>
                <a:cxn ang="0">
                  <a:pos x="T12" y="T13"/>
                </a:cxn>
              </a:cxnLst>
              <a:rect l="0" t="0" r="r" b="b"/>
              <a:pathLst>
                <a:path w="252" h="376">
                  <a:moveTo>
                    <a:pt x="145" y="0"/>
                  </a:moveTo>
                  <a:lnTo>
                    <a:pt x="0" y="0"/>
                  </a:lnTo>
                  <a:lnTo>
                    <a:pt x="107" y="188"/>
                  </a:lnTo>
                  <a:lnTo>
                    <a:pt x="0" y="376"/>
                  </a:lnTo>
                  <a:lnTo>
                    <a:pt x="145" y="376"/>
                  </a:lnTo>
                  <a:lnTo>
                    <a:pt x="252" y="188"/>
                  </a:lnTo>
                  <a:lnTo>
                    <a:pt x="145" y="0"/>
                  </a:lnTo>
                  <a:close/>
                </a:path>
              </a:pathLst>
            </a:custGeom>
            <a:gradFill>
              <a:gsLst>
                <a:gs pos="0">
                  <a:schemeClr val="accent1">
                    <a:alpha val="0"/>
                  </a:schemeClr>
                </a:gs>
                <a:gs pos="100000">
                  <a:schemeClr val="accent1"/>
                </a:gs>
              </a:gsLst>
              <a:lin ang="0" scaled="0"/>
            </a:gradFill>
            <a:ln>
              <a:noFill/>
            </a:ln>
          </p:spPr>
          <p:txBody>
            <a:bodyPr vert="horz" wrap="none" lIns="91440" tIns="45720" rIns="91440" bIns="45720" numCol="1" anchor="t" anchorCtr="0" compatLnSpc="1">
              <a:noAutofit/>
            </a:bodyPr>
            <a:lstStyle/>
            <a:p>
              <a:pPr lvl="0" algn="l">
                <a:buClrTx/>
                <a:buSzTx/>
                <a:buFontTx/>
              </a:pPr>
              <a:endParaRPr lang="zh-CN" altLang="en-US">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grpSp>
      <p:sp>
        <p:nvSpPr>
          <p:cNvPr id="73" name="标题 2"/>
          <p:cNvSpPr>
            <a:spLocks noGrp="1"/>
          </p:cNvSpPr>
          <p:nvPr/>
        </p:nvSpPr>
        <p:spPr>
          <a:xfrm>
            <a:off x="1105535" y="5201285"/>
            <a:ext cx="1696720" cy="396875"/>
          </a:xfrm>
          <a:prstGeom prst="rect">
            <a:avLst/>
          </a:prstGeom>
          <a:ln w="12700">
            <a:miter lim="400000"/>
          </a:ln>
          <a:effectLst>
            <a:outerShdw blurRad="50800" dist="38100" dir="2700000" algn="tl" rotWithShape="0">
              <a:schemeClr val="bg1">
                <a:lumMod val="75000"/>
                <a:alpha val="40000"/>
              </a:schemeClr>
            </a:outerShdw>
          </a:effectLst>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sz="2500" dirty="0">
                <a:solidFill>
                  <a:schemeClr val="accent5"/>
                </a:solidFill>
                <a:effectLst/>
                <a:latin typeface="微软雅黑" panose="020B0503020204020204" charset="-122"/>
                <a:ea typeface="微软雅黑" panose="020B0503020204020204" charset="-122"/>
                <a:cs typeface="微软雅黑" panose="020B0503020204020204" charset="-122"/>
              </a:rPr>
              <a:t>启动阶段</a:t>
            </a:r>
            <a:endParaRPr sz="2500" dirty="0">
              <a:solidFill>
                <a:schemeClr val="accent5"/>
              </a:solidFill>
              <a:effectLst/>
              <a:latin typeface="微软雅黑" panose="020B0503020204020204" charset="-122"/>
              <a:ea typeface="微软雅黑" panose="020B0503020204020204" charset="-122"/>
              <a:cs typeface="微软雅黑" panose="020B0503020204020204" charset="-122"/>
            </a:endParaRPr>
          </a:p>
        </p:txBody>
      </p:sp>
      <p:sp>
        <p:nvSpPr>
          <p:cNvPr id="75" name="标题 2"/>
          <p:cNvSpPr>
            <a:spLocks noGrp="1"/>
          </p:cNvSpPr>
          <p:nvPr/>
        </p:nvSpPr>
        <p:spPr>
          <a:xfrm>
            <a:off x="3846195" y="5201285"/>
            <a:ext cx="1696720" cy="396875"/>
          </a:xfrm>
          <a:prstGeom prst="rect">
            <a:avLst/>
          </a:prstGeom>
          <a:ln w="12700">
            <a:miter lim="400000"/>
          </a:ln>
          <a:effectLst>
            <a:outerShdw blurRad="50800" dist="38100" dir="2700000" algn="tl" rotWithShape="0">
              <a:schemeClr val="bg1">
                <a:lumMod val="75000"/>
                <a:alpha val="40000"/>
              </a:schemeClr>
            </a:outerShdw>
          </a:effectLst>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sz="2500" dirty="0">
                <a:solidFill>
                  <a:schemeClr val="accent5"/>
                </a:solidFill>
                <a:effectLst/>
                <a:latin typeface="微软雅黑" panose="020B0503020204020204" charset="-122"/>
                <a:ea typeface="微软雅黑" panose="020B0503020204020204" charset="-122"/>
                <a:cs typeface="微软雅黑" panose="020B0503020204020204" charset="-122"/>
              </a:rPr>
              <a:t>规划阶段</a:t>
            </a:r>
            <a:endParaRPr sz="2500" dirty="0">
              <a:solidFill>
                <a:schemeClr val="accent5"/>
              </a:solidFill>
              <a:effectLst/>
              <a:latin typeface="微软雅黑" panose="020B0503020204020204" charset="-122"/>
              <a:ea typeface="微软雅黑" panose="020B0503020204020204" charset="-122"/>
              <a:cs typeface="微软雅黑" panose="020B0503020204020204" charset="-122"/>
            </a:endParaRPr>
          </a:p>
        </p:txBody>
      </p:sp>
      <p:sp>
        <p:nvSpPr>
          <p:cNvPr id="76" name="标题 2"/>
          <p:cNvSpPr>
            <a:spLocks noGrp="1"/>
          </p:cNvSpPr>
          <p:nvPr/>
        </p:nvSpPr>
        <p:spPr>
          <a:xfrm>
            <a:off x="6586855" y="5201285"/>
            <a:ext cx="1696720" cy="396875"/>
          </a:xfrm>
          <a:prstGeom prst="rect">
            <a:avLst/>
          </a:prstGeom>
          <a:ln w="12700">
            <a:miter lim="400000"/>
          </a:ln>
          <a:effectLst>
            <a:outerShdw blurRad="50800" dist="38100" dir="2700000" algn="tl" rotWithShape="0">
              <a:schemeClr val="bg1">
                <a:lumMod val="75000"/>
                <a:alpha val="40000"/>
              </a:schemeClr>
            </a:outerShdw>
          </a:effectLst>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sz="2500" dirty="0">
                <a:solidFill>
                  <a:schemeClr val="accent5"/>
                </a:solidFill>
                <a:effectLst/>
                <a:latin typeface="微软雅黑" panose="020B0503020204020204" charset="-122"/>
                <a:ea typeface="微软雅黑" panose="020B0503020204020204" charset="-122"/>
                <a:cs typeface="微软雅黑" panose="020B0503020204020204" charset="-122"/>
              </a:rPr>
              <a:t>执行阶段</a:t>
            </a:r>
            <a:endParaRPr sz="2500" dirty="0">
              <a:solidFill>
                <a:schemeClr val="accent5"/>
              </a:solidFill>
              <a:effectLst/>
              <a:latin typeface="微软雅黑" panose="020B0503020204020204" charset="-122"/>
              <a:ea typeface="微软雅黑" panose="020B0503020204020204" charset="-122"/>
              <a:cs typeface="微软雅黑" panose="020B0503020204020204" charset="-122"/>
            </a:endParaRPr>
          </a:p>
        </p:txBody>
      </p:sp>
      <p:sp>
        <p:nvSpPr>
          <p:cNvPr id="77" name="标题 2"/>
          <p:cNvSpPr>
            <a:spLocks noGrp="1"/>
          </p:cNvSpPr>
          <p:nvPr/>
        </p:nvSpPr>
        <p:spPr>
          <a:xfrm>
            <a:off x="9327515" y="5201285"/>
            <a:ext cx="1696720" cy="396875"/>
          </a:xfrm>
          <a:prstGeom prst="rect">
            <a:avLst/>
          </a:prstGeom>
          <a:ln w="12700">
            <a:miter lim="400000"/>
          </a:ln>
          <a:effectLst>
            <a:outerShdw blurRad="50800" dist="38100" dir="2700000" algn="tl" rotWithShape="0">
              <a:schemeClr val="bg1">
                <a:lumMod val="75000"/>
                <a:alpha val="40000"/>
              </a:schemeClr>
            </a:outerShdw>
          </a:effectLst>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ctr"/>
            <a:r>
              <a:rPr sz="2500" dirty="0">
                <a:solidFill>
                  <a:schemeClr val="accent5"/>
                </a:solidFill>
                <a:effectLst/>
                <a:latin typeface="微软雅黑" panose="020B0503020204020204" charset="-122"/>
                <a:ea typeface="微软雅黑" panose="020B0503020204020204" charset="-122"/>
                <a:cs typeface="微软雅黑" panose="020B0503020204020204" charset="-122"/>
              </a:rPr>
              <a:t>收尾阶段</a:t>
            </a:r>
            <a:endParaRPr sz="2500" dirty="0">
              <a:solidFill>
                <a:schemeClr val="accent5"/>
              </a:solidFill>
              <a:effectLst/>
              <a:latin typeface="微软雅黑" panose="020B0503020204020204" charset="-122"/>
              <a:ea typeface="微软雅黑" panose="020B0503020204020204" charset="-122"/>
              <a:cs typeface="微软雅黑" panose="020B0503020204020204" charset="-122"/>
            </a:endParaRPr>
          </a:p>
        </p:txBody>
      </p:sp>
      <p:sp>
        <p:nvSpPr>
          <p:cNvPr id="2" name="紫荆的职场Point23-2"/>
          <p:cNvSpPr txBox="1"/>
          <p:nvPr/>
        </p:nvSpPr>
        <p:spPr>
          <a:xfrm>
            <a:off x="5644595" y="2610497"/>
            <a:ext cx="902811" cy="29238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设计策略</a:t>
            </a:r>
            <a:endParaRPr kumimoji="0" lang="zh-CN" altLang="en-US" sz="1300" b="1"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0" name="紫荆的职场Point19-2"/>
          <p:cNvSpPr txBox="1"/>
          <p:nvPr/>
        </p:nvSpPr>
        <p:spPr>
          <a:xfrm>
            <a:off x="1063739" y="2693503"/>
            <a:ext cx="607859" cy="245110"/>
          </a:xfrm>
          <a:prstGeom prst="rect">
            <a:avLst/>
          </a:prstGeom>
          <a:noFill/>
        </p:spPr>
        <p:txBody>
          <a:bodyPr wrap="square" rtlCol="0">
            <a:spAutoFit/>
          </a:bodyPr>
          <a:lstStyle/>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人设</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1" name="紫荆的职场Point16-2"/>
          <p:cNvSpPr txBox="1"/>
          <p:nvPr/>
        </p:nvSpPr>
        <p:spPr>
          <a:xfrm>
            <a:off x="1369060" y="2209165"/>
            <a:ext cx="607695" cy="245110"/>
          </a:xfrm>
          <a:prstGeom prst="rect">
            <a:avLst/>
          </a:prstGeom>
          <a:noFill/>
        </p:spPr>
        <p:txBody>
          <a:bodyPr wrap="square" rtlCol="0">
            <a:spAutoFit/>
          </a:bodyPr>
          <a:lstStyle/>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形象</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2" name="紫荆的职场Point18-2"/>
          <p:cNvSpPr txBox="1"/>
          <p:nvPr/>
        </p:nvSpPr>
        <p:spPr>
          <a:xfrm>
            <a:off x="1072629" y="3167748"/>
            <a:ext cx="607859" cy="245110"/>
          </a:xfrm>
          <a:prstGeom prst="rect">
            <a:avLst/>
          </a:prstGeom>
          <a:noFill/>
        </p:spPr>
        <p:txBody>
          <a:bodyPr wrap="square" rtlCol="0">
            <a:spAutoFit/>
          </a:bodyPr>
          <a:lstStyle/>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故事线</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33" name="紫荆的职场Point17-2"/>
          <p:cNvSpPr txBox="1"/>
          <p:nvPr/>
        </p:nvSpPr>
        <p:spPr>
          <a:xfrm>
            <a:off x="1361916" y="3647074"/>
            <a:ext cx="607859" cy="245110"/>
          </a:xfrm>
          <a:prstGeom prst="rect">
            <a:avLst/>
          </a:prstGeom>
          <a:noFill/>
        </p:spPr>
        <p:txBody>
          <a:bodyPr wrap="square" rtlCol="0">
            <a:spAutoFit/>
          </a:bodyPr>
          <a:lstStyle/>
          <a:p>
            <a:pPr algn="ctr"/>
            <a:r>
              <a:rPr lang="zh-CN" altLang="en-US" sz="1000">
                <a:solidFill>
                  <a:schemeClr val="bg1"/>
                </a:solidFill>
                <a:latin typeface="微软雅黑" panose="020B0503020204020204" charset="-122"/>
                <a:ea typeface="微软雅黑" panose="020B0503020204020204" charset="-122"/>
                <a:cs typeface="微软雅黑" panose="020B0503020204020204" charset="-122"/>
              </a:rPr>
              <a:t>世界观</a:t>
            </a:r>
            <a:endParaRPr lang="zh-CN" altLang="en-US" sz="1000">
              <a:solidFill>
                <a:schemeClr val="bg1"/>
              </a:solidFill>
              <a:latin typeface="微软雅黑" panose="020B0503020204020204" charset="-122"/>
              <a:ea typeface="微软雅黑" panose="020B0503020204020204" charset="-122"/>
              <a:cs typeface="微软雅黑" panose="020B0503020204020204" charset="-122"/>
            </a:endParaRPr>
          </a:p>
        </p:txBody>
      </p:sp>
      <p:grpSp>
        <p:nvGrpSpPr>
          <p:cNvPr id="38" name="紫荆的职场Point5"/>
          <p:cNvGrpSpPr/>
          <p:nvPr/>
        </p:nvGrpSpPr>
        <p:grpSpPr>
          <a:xfrm>
            <a:off x="7447320" y="2483763"/>
            <a:ext cx="1264000" cy="1264000"/>
            <a:chOff x="3476030" y="2636163"/>
            <a:chExt cx="1264000" cy="1264000"/>
          </a:xfrm>
        </p:grpSpPr>
        <p:sp>
          <p:nvSpPr>
            <p:cNvPr id="40" name="紫荆的职场Point5-1"/>
            <p:cNvSpPr/>
            <p:nvPr/>
          </p:nvSpPr>
          <p:spPr>
            <a:xfrm>
              <a:off x="3476030" y="2636163"/>
              <a:ext cx="1264000" cy="1264000"/>
            </a:xfrm>
            <a:prstGeom prst="ellipse">
              <a:avLst/>
            </a:prstGeom>
            <a:gradFill flip="none" rotWithShape="1">
              <a:gsLst>
                <a:gs pos="23000">
                  <a:schemeClr val="accent1"/>
                </a:gs>
                <a:gs pos="100000">
                  <a:schemeClr val="accent1">
                    <a:lumMod val="60000"/>
                    <a:lumOff val="40000"/>
                  </a:schemeClr>
                </a:gs>
              </a:gsLst>
              <a:path path="circle">
                <a:fillToRect r="100000" b="100000"/>
              </a:path>
              <a:tileRect l="-100000" t="-100000"/>
            </a:gradFill>
            <a:ln>
              <a:noFill/>
            </a:ln>
            <a:effectLst/>
            <a:scene3d>
              <a:camera prst="orthographicFront">
                <a:rot lat="0" lon="0" rev="0"/>
              </a:camera>
              <a:lightRig rig="contrasting" dir="t">
                <a:rot lat="0" lon="0" rev="7800000"/>
              </a:lightRig>
            </a:scene3d>
            <a:sp3d>
              <a:bevelT w="139700" h="139700"/>
            </a:sp3d>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sp>
          <p:nvSpPr>
            <p:cNvPr id="46" name="紫荆的职场Point5-2"/>
            <p:cNvSpPr txBox="1"/>
            <p:nvPr/>
          </p:nvSpPr>
          <p:spPr>
            <a:xfrm>
              <a:off x="3660991" y="3114275"/>
              <a:ext cx="894080" cy="306705"/>
            </a:xfrm>
            <a:prstGeom prst="rect">
              <a:avLst/>
            </a:prstGeom>
            <a:noFill/>
          </p:spPr>
          <p:txBody>
            <a:bodyPr wrap="none" rtlCol="0">
              <a:spAutoFit/>
            </a:bodyPr>
            <a:lstStyle/>
            <a:p>
              <a:pPr algn="ctr"/>
              <a:r>
                <a:rPr lang="zh-CN" altLang="en-US" sz="1400" b="1">
                  <a:solidFill>
                    <a:schemeClr val="bg1"/>
                  </a:solidFill>
                  <a:latin typeface="微软雅黑" panose="020B0503020204020204" charset="-122"/>
                  <a:ea typeface="微软雅黑" panose="020B0503020204020204" charset="-122"/>
                  <a:cs typeface="微软雅黑" panose="020B0503020204020204" charset="-122"/>
                </a:rPr>
                <a:t>广告传播</a:t>
              </a:r>
              <a:endParaRPr lang="zh-CN" altLang="en-US" sz="1400" b="1">
                <a:solidFill>
                  <a:schemeClr val="bg1"/>
                </a:solidFill>
                <a:latin typeface="微软雅黑" panose="020B0503020204020204" charset="-122"/>
                <a:ea typeface="微软雅黑" panose="020B0503020204020204" charset="-122"/>
                <a:cs typeface="微软雅黑" panose="020B0503020204020204" charset="-122"/>
              </a:endParaRPr>
            </a:p>
          </p:txBody>
        </p:sp>
      </p:grpSp>
      <p:sp>
        <p:nvSpPr>
          <p:cNvPr id="47" name="紫荆的职场Point13-2"/>
          <p:cNvSpPr txBox="1"/>
          <p:nvPr/>
        </p:nvSpPr>
        <p:spPr>
          <a:xfrm>
            <a:off x="10246330" y="2208463"/>
            <a:ext cx="607859" cy="261610"/>
          </a:xfrm>
          <a:prstGeom prst="rect">
            <a:avLst/>
          </a:prstGeom>
          <a:noFill/>
        </p:spPr>
        <p:txBody>
          <a:bodyPr wrap="square" rtlCol="0">
            <a:spAutoFit/>
          </a:bodyPr>
          <a:lstStyle/>
          <a:p>
            <a:pPr algn="ctr"/>
            <a:r>
              <a:rPr lang="zh-CN" altLang="en-US" sz="1100">
                <a:solidFill>
                  <a:schemeClr val="bg1"/>
                </a:solidFill>
                <a:latin typeface="微软雅黑" panose="020B0503020204020204" charset="-122"/>
                <a:ea typeface="微软雅黑" panose="020B0503020204020204" charset="-122"/>
                <a:cs typeface="微软雅黑" panose="020B0503020204020204" charset="-122"/>
              </a:rPr>
              <a:t>参会者</a:t>
            </a:r>
            <a:endParaRPr lang="zh-CN" altLang="en-US" sz="11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48" name="紫荆的职场Point15-2"/>
          <p:cNvSpPr txBox="1"/>
          <p:nvPr/>
        </p:nvSpPr>
        <p:spPr>
          <a:xfrm>
            <a:off x="10523577" y="2923740"/>
            <a:ext cx="607859" cy="261610"/>
          </a:xfrm>
          <a:prstGeom prst="rect">
            <a:avLst/>
          </a:prstGeom>
          <a:noFill/>
        </p:spPr>
        <p:txBody>
          <a:bodyPr wrap="square" rtlCol="0">
            <a:spAutoFit/>
          </a:bodyPr>
          <a:lstStyle/>
          <a:p>
            <a:pPr algn="ctr"/>
            <a:r>
              <a:rPr lang="zh-CN" altLang="en-US" sz="1100">
                <a:solidFill>
                  <a:schemeClr val="bg1"/>
                </a:solidFill>
                <a:latin typeface="微软雅黑" panose="020B0503020204020204" charset="-122"/>
                <a:ea typeface="微软雅黑" panose="020B0503020204020204" charset="-122"/>
                <a:cs typeface="微软雅黑" panose="020B0503020204020204" charset="-122"/>
              </a:rPr>
              <a:t>从业者</a:t>
            </a:r>
            <a:endParaRPr lang="zh-CN" altLang="en-US" sz="11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6" name="紫荆的职场Point14-2"/>
          <p:cNvSpPr txBox="1"/>
          <p:nvPr/>
        </p:nvSpPr>
        <p:spPr>
          <a:xfrm>
            <a:off x="10228550" y="3647907"/>
            <a:ext cx="607859" cy="261610"/>
          </a:xfrm>
          <a:prstGeom prst="rect">
            <a:avLst/>
          </a:prstGeom>
          <a:noFill/>
        </p:spPr>
        <p:txBody>
          <a:bodyPr wrap="square" rtlCol="0">
            <a:spAutoFit/>
          </a:bodyPr>
          <a:lstStyle/>
          <a:p>
            <a:pPr algn="ctr"/>
            <a:r>
              <a:rPr lang="zh-CN" altLang="en-US" sz="1100">
                <a:solidFill>
                  <a:schemeClr val="bg1"/>
                </a:solidFill>
                <a:latin typeface="微软雅黑" panose="020B0503020204020204" charset="-122"/>
                <a:ea typeface="微软雅黑" panose="020B0503020204020204" charset="-122"/>
                <a:cs typeface="微软雅黑" panose="020B0503020204020204" charset="-122"/>
              </a:rPr>
              <a:t>组织者</a:t>
            </a:r>
            <a:endParaRPr lang="zh-CN" altLang="en-US" sz="1100">
              <a:solidFill>
                <a:schemeClr val="bg1"/>
              </a:solidFill>
              <a:latin typeface="微软雅黑" panose="020B0503020204020204" charset="-122"/>
              <a:ea typeface="微软雅黑" panose="020B0503020204020204" charset="-122"/>
              <a:cs typeface="微软雅黑" panose="020B0503020204020204" charset="-122"/>
            </a:endParaRPr>
          </a:p>
        </p:txBody>
      </p:sp>
      <p:cxnSp>
        <p:nvCxnSpPr>
          <p:cNvPr id="4"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0" name="组合 59"/>
          <p:cNvGrpSpPr/>
          <p:nvPr/>
        </p:nvGrpSpPr>
        <p:grpSpPr>
          <a:xfrm>
            <a:off x="8738235" y="348615"/>
            <a:ext cx="3219450" cy="332740"/>
            <a:chOff x="13761" y="549"/>
            <a:chExt cx="5070" cy="524"/>
          </a:xfrm>
        </p:grpSpPr>
        <p:pic>
          <p:nvPicPr>
            <p:cNvPr id="63" name="图片 62"/>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68" name="文本框 67"/>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波特五力模型</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29" name="©天蝎PPT16"/>
          <p:cNvSpPr/>
          <p:nvPr>
            <p:custDataLst>
              <p:tags r:id="rId3"/>
            </p:custDataLst>
          </p:nvPr>
        </p:nvSpPr>
        <p:spPr>
          <a:xfrm>
            <a:off x="4994748" y="1675013"/>
            <a:ext cx="127696" cy="127425"/>
          </a:xfrm>
          <a:custGeom>
            <a:avLst/>
            <a:gdLst>
              <a:gd name="connsiteX0" fmla="*/ 63848 w 127696"/>
              <a:gd name="connsiteY0" fmla="*/ 127426 h 127425"/>
              <a:gd name="connsiteX1" fmla="*/ 63848 w 127696"/>
              <a:gd name="connsiteY1" fmla="*/ 127426 h 127425"/>
              <a:gd name="connsiteX2" fmla="*/ 0 w 127696"/>
              <a:gd name="connsiteY2" fmla="*/ 63713 h 127425"/>
              <a:gd name="connsiteX3" fmla="*/ 63848 w 127696"/>
              <a:gd name="connsiteY3" fmla="*/ 0 h 127425"/>
              <a:gd name="connsiteX4" fmla="*/ 63848 w 127696"/>
              <a:gd name="connsiteY4" fmla="*/ 0 h 127425"/>
              <a:gd name="connsiteX5" fmla="*/ 127696 w 127696"/>
              <a:gd name="connsiteY5" fmla="*/ 63713 h 127425"/>
              <a:gd name="connsiteX6" fmla="*/ 63848 w 127696"/>
              <a:gd name="connsiteY6" fmla="*/ 127426 h 127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5">
                <a:moveTo>
                  <a:pt x="63848" y="127426"/>
                </a:moveTo>
                <a:lnTo>
                  <a:pt x="63848" y="127426"/>
                </a:lnTo>
                <a:cubicBezTo>
                  <a:pt x="28614" y="127426"/>
                  <a:pt x="0" y="98939"/>
                  <a:pt x="0" y="63713"/>
                </a:cubicBezTo>
                <a:cubicBezTo>
                  <a:pt x="0" y="28487"/>
                  <a:pt x="28548" y="0"/>
                  <a:pt x="63848" y="0"/>
                </a:cubicBezTo>
                <a:lnTo>
                  <a:pt x="63848" y="0"/>
                </a:lnTo>
                <a:cubicBezTo>
                  <a:pt x="99082" y="0"/>
                  <a:pt x="127696" y="28487"/>
                  <a:pt x="127696" y="63713"/>
                </a:cubicBezTo>
                <a:cubicBezTo>
                  <a:pt x="127696" y="98939"/>
                  <a:pt x="99148" y="127426"/>
                  <a:pt x="63848" y="127426"/>
                </a:cubicBezTo>
                <a:close/>
              </a:path>
            </a:pathLst>
          </a:custGeom>
          <a:solidFill>
            <a:schemeClr val="accent1">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30" name="©天蝎PPT17"/>
          <p:cNvSpPr/>
          <p:nvPr>
            <p:custDataLst>
              <p:tags r:id="rId4"/>
            </p:custDataLst>
          </p:nvPr>
        </p:nvSpPr>
        <p:spPr>
          <a:xfrm>
            <a:off x="5311916" y="1675013"/>
            <a:ext cx="127696" cy="127425"/>
          </a:xfrm>
          <a:custGeom>
            <a:avLst/>
            <a:gdLst>
              <a:gd name="connsiteX0" fmla="*/ 63848 w 127696"/>
              <a:gd name="connsiteY0" fmla="*/ 127426 h 127425"/>
              <a:gd name="connsiteX1" fmla="*/ 63848 w 127696"/>
              <a:gd name="connsiteY1" fmla="*/ 127426 h 127425"/>
              <a:gd name="connsiteX2" fmla="*/ 0 w 127696"/>
              <a:gd name="connsiteY2" fmla="*/ 63713 h 127425"/>
              <a:gd name="connsiteX3" fmla="*/ 63848 w 127696"/>
              <a:gd name="connsiteY3" fmla="*/ 0 h 127425"/>
              <a:gd name="connsiteX4" fmla="*/ 63848 w 127696"/>
              <a:gd name="connsiteY4" fmla="*/ 0 h 127425"/>
              <a:gd name="connsiteX5" fmla="*/ 127696 w 127696"/>
              <a:gd name="connsiteY5" fmla="*/ 63713 h 127425"/>
              <a:gd name="connsiteX6" fmla="*/ 63848 w 127696"/>
              <a:gd name="connsiteY6" fmla="*/ 127426 h 127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5">
                <a:moveTo>
                  <a:pt x="63848" y="127426"/>
                </a:moveTo>
                <a:lnTo>
                  <a:pt x="63848" y="127426"/>
                </a:lnTo>
                <a:cubicBezTo>
                  <a:pt x="28614" y="127426"/>
                  <a:pt x="0" y="98939"/>
                  <a:pt x="0" y="63713"/>
                </a:cubicBezTo>
                <a:cubicBezTo>
                  <a:pt x="0" y="28487"/>
                  <a:pt x="28548" y="0"/>
                  <a:pt x="63848" y="0"/>
                </a:cubicBezTo>
                <a:lnTo>
                  <a:pt x="63848" y="0"/>
                </a:lnTo>
                <a:cubicBezTo>
                  <a:pt x="99082" y="0"/>
                  <a:pt x="127696" y="28487"/>
                  <a:pt x="127696" y="63713"/>
                </a:cubicBezTo>
                <a:cubicBezTo>
                  <a:pt x="127696" y="98939"/>
                  <a:pt x="99148" y="127426"/>
                  <a:pt x="63848" y="127426"/>
                </a:cubicBezTo>
                <a:close/>
              </a:path>
            </a:pathLst>
          </a:custGeom>
          <a:solidFill>
            <a:schemeClr val="accent1">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31" name="©天蝎PPT18"/>
          <p:cNvSpPr/>
          <p:nvPr>
            <p:custDataLst>
              <p:tags r:id="rId5"/>
            </p:custDataLst>
          </p:nvPr>
        </p:nvSpPr>
        <p:spPr>
          <a:xfrm>
            <a:off x="5629084" y="1675013"/>
            <a:ext cx="127696" cy="127425"/>
          </a:xfrm>
          <a:custGeom>
            <a:avLst/>
            <a:gdLst>
              <a:gd name="connsiteX0" fmla="*/ 63848 w 127696"/>
              <a:gd name="connsiteY0" fmla="*/ 127426 h 127425"/>
              <a:gd name="connsiteX1" fmla="*/ 63848 w 127696"/>
              <a:gd name="connsiteY1" fmla="*/ 127426 h 127425"/>
              <a:gd name="connsiteX2" fmla="*/ 0 w 127696"/>
              <a:gd name="connsiteY2" fmla="*/ 63713 h 127425"/>
              <a:gd name="connsiteX3" fmla="*/ 63848 w 127696"/>
              <a:gd name="connsiteY3" fmla="*/ 0 h 127425"/>
              <a:gd name="connsiteX4" fmla="*/ 63848 w 127696"/>
              <a:gd name="connsiteY4" fmla="*/ 0 h 127425"/>
              <a:gd name="connsiteX5" fmla="*/ 127696 w 127696"/>
              <a:gd name="connsiteY5" fmla="*/ 63713 h 127425"/>
              <a:gd name="connsiteX6" fmla="*/ 63848 w 127696"/>
              <a:gd name="connsiteY6" fmla="*/ 127426 h 127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5">
                <a:moveTo>
                  <a:pt x="63848" y="127426"/>
                </a:moveTo>
                <a:lnTo>
                  <a:pt x="63848" y="127426"/>
                </a:lnTo>
                <a:cubicBezTo>
                  <a:pt x="28614" y="127426"/>
                  <a:pt x="0" y="98939"/>
                  <a:pt x="0" y="63713"/>
                </a:cubicBezTo>
                <a:cubicBezTo>
                  <a:pt x="0" y="28487"/>
                  <a:pt x="28548" y="0"/>
                  <a:pt x="63848" y="0"/>
                </a:cubicBezTo>
                <a:lnTo>
                  <a:pt x="63848" y="0"/>
                </a:lnTo>
                <a:cubicBezTo>
                  <a:pt x="99081" y="0"/>
                  <a:pt x="127696" y="28487"/>
                  <a:pt x="127696" y="63713"/>
                </a:cubicBezTo>
                <a:cubicBezTo>
                  <a:pt x="127696" y="98939"/>
                  <a:pt x="99148" y="127426"/>
                  <a:pt x="63848" y="127426"/>
                </a:cubicBezTo>
                <a:close/>
              </a:path>
            </a:pathLst>
          </a:custGeom>
          <a:solidFill>
            <a:schemeClr val="accent1">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32" name="©天蝎PPT19"/>
          <p:cNvSpPr/>
          <p:nvPr>
            <p:custDataLst>
              <p:tags r:id="rId6"/>
            </p:custDataLst>
          </p:nvPr>
        </p:nvSpPr>
        <p:spPr>
          <a:xfrm>
            <a:off x="5946319" y="1675013"/>
            <a:ext cx="127696" cy="127425"/>
          </a:xfrm>
          <a:custGeom>
            <a:avLst/>
            <a:gdLst>
              <a:gd name="connsiteX0" fmla="*/ 63848 w 127696"/>
              <a:gd name="connsiteY0" fmla="*/ 127426 h 127425"/>
              <a:gd name="connsiteX1" fmla="*/ 63848 w 127696"/>
              <a:gd name="connsiteY1" fmla="*/ 127426 h 127425"/>
              <a:gd name="connsiteX2" fmla="*/ 0 w 127696"/>
              <a:gd name="connsiteY2" fmla="*/ 63713 h 127425"/>
              <a:gd name="connsiteX3" fmla="*/ 63848 w 127696"/>
              <a:gd name="connsiteY3" fmla="*/ 0 h 127425"/>
              <a:gd name="connsiteX4" fmla="*/ 63848 w 127696"/>
              <a:gd name="connsiteY4" fmla="*/ 0 h 127425"/>
              <a:gd name="connsiteX5" fmla="*/ 127697 w 127696"/>
              <a:gd name="connsiteY5" fmla="*/ 63713 h 127425"/>
              <a:gd name="connsiteX6" fmla="*/ 63848 w 127696"/>
              <a:gd name="connsiteY6" fmla="*/ 127426 h 127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5">
                <a:moveTo>
                  <a:pt x="63848" y="127426"/>
                </a:moveTo>
                <a:lnTo>
                  <a:pt x="63848" y="127426"/>
                </a:lnTo>
                <a:cubicBezTo>
                  <a:pt x="28615" y="127426"/>
                  <a:pt x="0" y="98939"/>
                  <a:pt x="0" y="63713"/>
                </a:cubicBezTo>
                <a:cubicBezTo>
                  <a:pt x="0" y="28487"/>
                  <a:pt x="28548" y="0"/>
                  <a:pt x="63848" y="0"/>
                </a:cubicBezTo>
                <a:lnTo>
                  <a:pt x="63848" y="0"/>
                </a:lnTo>
                <a:cubicBezTo>
                  <a:pt x="99082" y="0"/>
                  <a:pt x="127697" y="28487"/>
                  <a:pt x="127697" y="63713"/>
                </a:cubicBezTo>
                <a:cubicBezTo>
                  <a:pt x="127697" y="98939"/>
                  <a:pt x="99149" y="127426"/>
                  <a:pt x="63848" y="127426"/>
                </a:cubicBezTo>
                <a:close/>
              </a:path>
            </a:pathLst>
          </a:custGeom>
          <a:solidFill>
            <a:schemeClr val="accent1">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33" name="©天蝎PPT20"/>
          <p:cNvSpPr/>
          <p:nvPr>
            <p:custDataLst>
              <p:tags r:id="rId7"/>
            </p:custDataLst>
          </p:nvPr>
        </p:nvSpPr>
        <p:spPr>
          <a:xfrm>
            <a:off x="6263488" y="1675013"/>
            <a:ext cx="127696" cy="127425"/>
          </a:xfrm>
          <a:custGeom>
            <a:avLst/>
            <a:gdLst>
              <a:gd name="connsiteX0" fmla="*/ 63848 w 127696"/>
              <a:gd name="connsiteY0" fmla="*/ 127426 h 127425"/>
              <a:gd name="connsiteX1" fmla="*/ 63848 w 127696"/>
              <a:gd name="connsiteY1" fmla="*/ 127426 h 127425"/>
              <a:gd name="connsiteX2" fmla="*/ 0 w 127696"/>
              <a:gd name="connsiteY2" fmla="*/ 63713 h 127425"/>
              <a:gd name="connsiteX3" fmla="*/ 63848 w 127696"/>
              <a:gd name="connsiteY3" fmla="*/ 0 h 127425"/>
              <a:gd name="connsiteX4" fmla="*/ 63848 w 127696"/>
              <a:gd name="connsiteY4" fmla="*/ 0 h 127425"/>
              <a:gd name="connsiteX5" fmla="*/ 127697 w 127696"/>
              <a:gd name="connsiteY5" fmla="*/ 63713 h 127425"/>
              <a:gd name="connsiteX6" fmla="*/ 63848 w 127696"/>
              <a:gd name="connsiteY6" fmla="*/ 127426 h 127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5">
                <a:moveTo>
                  <a:pt x="63848" y="127426"/>
                </a:moveTo>
                <a:lnTo>
                  <a:pt x="63848" y="127426"/>
                </a:lnTo>
                <a:cubicBezTo>
                  <a:pt x="28615" y="127426"/>
                  <a:pt x="0" y="98939"/>
                  <a:pt x="0" y="63713"/>
                </a:cubicBezTo>
                <a:cubicBezTo>
                  <a:pt x="0" y="28487"/>
                  <a:pt x="28548" y="0"/>
                  <a:pt x="63848" y="0"/>
                </a:cubicBezTo>
                <a:lnTo>
                  <a:pt x="63848" y="0"/>
                </a:lnTo>
                <a:cubicBezTo>
                  <a:pt x="99082" y="0"/>
                  <a:pt x="127697" y="28487"/>
                  <a:pt x="127697" y="63713"/>
                </a:cubicBezTo>
                <a:cubicBezTo>
                  <a:pt x="127697" y="98939"/>
                  <a:pt x="99149" y="127426"/>
                  <a:pt x="63848" y="127426"/>
                </a:cubicBezTo>
                <a:close/>
              </a:path>
            </a:pathLst>
          </a:custGeom>
          <a:solidFill>
            <a:schemeClr val="accent1">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34" name="©天蝎PPT21"/>
          <p:cNvSpPr/>
          <p:nvPr>
            <p:custDataLst>
              <p:tags r:id="rId8"/>
            </p:custDataLst>
          </p:nvPr>
        </p:nvSpPr>
        <p:spPr>
          <a:xfrm>
            <a:off x="6580656" y="1675013"/>
            <a:ext cx="127696" cy="127425"/>
          </a:xfrm>
          <a:custGeom>
            <a:avLst/>
            <a:gdLst>
              <a:gd name="connsiteX0" fmla="*/ 63848 w 127696"/>
              <a:gd name="connsiteY0" fmla="*/ 127426 h 127425"/>
              <a:gd name="connsiteX1" fmla="*/ 63848 w 127696"/>
              <a:gd name="connsiteY1" fmla="*/ 127426 h 127425"/>
              <a:gd name="connsiteX2" fmla="*/ 0 w 127696"/>
              <a:gd name="connsiteY2" fmla="*/ 63713 h 127425"/>
              <a:gd name="connsiteX3" fmla="*/ 63848 w 127696"/>
              <a:gd name="connsiteY3" fmla="*/ 0 h 127425"/>
              <a:gd name="connsiteX4" fmla="*/ 63848 w 127696"/>
              <a:gd name="connsiteY4" fmla="*/ 0 h 127425"/>
              <a:gd name="connsiteX5" fmla="*/ 127697 w 127696"/>
              <a:gd name="connsiteY5" fmla="*/ 63713 h 127425"/>
              <a:gd name="connsiteX6" fmla="*/ 63848 w 127696"/>
              <a:gd name="connsiteY6" fmla="*/ 127426 h 127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5">
                <a:moveTo>
                  <a:pt x="63848" y="127426"/>
                </a:moveTo>
                <a:lnTo>
                  <a:pt x="63848" y="127426"/>
                </a:lnTo>
                <a:cubicBezTo>
                  <a:pt x="28615" y="127426"/>
                  <a:pt x="0" y="98939"/>
                  <a:pt x="0" y="63713"/>
                </a:cubicBezTo>
                <a:cubicBezTo>
                  <a:pt x="0" y="28487"/>
                  <a:pt x="28548" y="0"/>
                  <a:pt x="63848" y="0"/>
                </a:cubicBezTo>
                <a:lnTo>
                  <a:pt x="63848" y="0"/>
                </a:lnTo>
                <a:cubicBezTo>
                  <a:pt x="99082" y="0"/>
                  <a:pt x="127697" y="28487"/>
                  <a:pt x="127697" y="63713"/>
                </a:cubicBezTo>
                <a:cubicBezTo>
                  <a:pt x="127697" y="98939"/>
                  <a:pt x="99149" y="127426"/>
                  <a:pt x="63848" y="127426"/>
                </a:cubicBezTo>
                <a:close/>
              </a:path>
            </a:pathLst>
          </a:custGeom>
          <a:solidFill>
            <a:schemeClr val="accent1">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35" name="©天蝎PPT22"/>
          <p:cNvSpPr/>
          <p:nvPr>
            <p:custDataLst>
              <p:tags r:id="rId9"/>
            </p:custDataLst>
          </p:nvPr>
        </p:nvSpPr>
        <p:spPr>
          <a:xfrm>
            <a:off x="6897824" y="1675013"/>
            <a:ext cx="127696" cy="127425"/>
          </a:xfrm>
          <a:custGeom>
            <a:avLst/>
            <a:gdLst>
              <a:gd name="connsiteX0" fmla="*/ 63848 w 127696"/>
              <a:gd name="connsiteY0" fmla="*/ 127426 h 127425"/>
              <a:gd name="connsiteX1" fmla="*/ 63848 w 127696"/>
              <a:gd name="connsiteY1" fmla="*/ 127426 h 127425"/>
              <a:gd name="connsiteX2" fmla="*/ 0 w 127696"/>
              <a:gd name="connsiteY2" fmla="*/ 63713 h 127425"/>
              <a:gd name="connsiteX3" fmla="*/ 63848 w 127696"/>
              <a:gd name="connsiteY3" fmla="*/ 0 h 127425"/>
              <a:gd name="connsiteX4" fmla="*/ 63848 w 127696"/>
              <a:gd name="connsiteY4" fmla="*/ 0 h 127425"/>
              <a:gd name="connsiteX5" fmla="*/ 127697 w 127696"/>
              <a:gd name="connsiteY5" fmla="*/ 63713 h 127425"/>
              <a:gd name="connsiteX6" fmla="*/ 63848 w 127696"/>
              <a:gd name="connsiteY6" fmla="*/ 127426 h 127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5">
                <a:moveTo>
                  <a:pt x="63848" y="127426"/>
                </a:moveTo>
                <a:lnTo>
                  <a:pt x="63848" y="127426"/>
                </a:lnTo>
                <a:cubicBezTo>
                  <a:pt x="28615" y="127426"/>
                  <a:pt x="0" y="98939"/>
                  <a:pt x="0" y="63713"/>
                </a:cubicBezTo>
                <a:cubicBezTo>
                  <a:pt x="0" y="28487"/>
                  <a:pt x="28548" y="0"/>
                  <a:pt x="63848" y="0"/>
                </a:cubicBezTo>
                <a:lnTo>
                  <a:pt x="63848" y="0"/>
                </a:lnTo>
                <a:cubicBezTo>
                  <a:pt x="99082" y="0"/>
                  <a:pt x="127697" y="28487"/>
                  <a:pt x="127697" y="63713"/>
                </a:cubicBezTo>
                <a:cubicBezTo>
                  <a:pt x="127697" y="98939"/>
                  <a:pt x="99149" y="127426"/>
                  <a:pt x="63848" y="127426"/>
                </a:cubicBezTo>
                <a:close/>
              </a:path>
            </a:pathLst>
          </a:custGeom>
          <a:solidFill>
            <a:schemeClr val="accent1">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36" name="©天蝎PPT23"/>
          <p:cNvSpPr/>
          <p:nvPr>
            <p:custDataLst>
              <p:tags r:id="rId10"/>
            </p:custDataLst>
          </p:nvPr>
        </p:nvSpPr>
        <p:spPr>
          <a:xfrm>
            <a:off x="7215059" y="1675013"/>
            <a:ext cx="127696" cy="127425"/>
          </a:xfrm>
          <a:custGeom>
            <a:avLst/>
            <a:gdLst>
              <a:gd name="connsiteX0" fmla="*/ 63848 w 127696"/>
              <a:gd name="connsiteY0" fmla="*/ 127426 h 127425"/>
              <a:gd name="connsiteX1" fmla="*/ 63848 w 127696"/>
              <a:gd name="connsiteY1" fmla="*/ 127426 h 127425"/>
              <a:gd name="connsiteX2" fmla="*/ 0 w 127696"/>
              <a:gd name="connsiteY2" fmla="*/ 63713 h 127425"/>
              <a:gd name="connsiteX3" fmla="*/ 63848 w 127696"/>
              <a:gd name="connsiteY3" fmla="*/ 0 h 127425"/>
              <a:gd name="connsiteX4" fmla="*/ 63848 w 127696"/>
              <a:gd name="connsiteY4" fmla="*/ 0 h 127425"/>
              <a:gd name="connsiteX5" fmla="*/ 127696 w 127696"/>
              <a:gd name="connsiteY5" fmla="*/ 63713 h 127425"/>
              <a:gd name="connsiteX6" fmla="*/ 63848 w 127696"/>
              <a:gd name="connsiteY6" fmla="*/ 127426 h 127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5">
                <a:moveTo>
                  <a:pt x="63848" y="127426"/>
                </a:moveTo>
                <a:lnTo>
                  <a:pt x="63848" y="127426"/>
                </a:lnTo>
                <a:cubicBezTo>
                  <a:pt x="28615" y="127426"/>
                  <a:pt x="0" y="98939"/>
                  <a:pt x="0" y="63713"/>
                </a:cubicBezTo>
                <a:cubicBezTo>
                  <a:pt x="0" y="28487"/>
                  <a:pt x="28548" y="0"/>
                  <a:pt x="63848" y="0"/>
                </a:cubicBezTo>
                <a:lnTo>
                  <a:pt x="63848" y="0"/>
                </a:lnTo>
                <a:cubicBezTo>
                  <a:pt x="99081" y="0"/>
                  <a:pt x="127696" y="28487"/>
                  <a:pt x="127696" y="63713"/>
                </a:cubicBezTo>
                <a:cubicBezTo>
                  <a:pt x="127696" y="98939"/>
                  <a:pt x="99148" y="127426"/>
                  <a:pt x="63848" y="127426"/>
                </a:cubicBezTo>
                <a:close/>
              </a:path>
            </a:pathLst>
          </a:custGeom>
          <a:solidFill>
            <a:schemeClr val="accent1">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37" name="©天蝎PPT24"/>
          <p:cNvSpPr/>
          <p:nvPr>
            <p:custDataLst>
              <p:tags r:id="rId11"/>
            </p:custDataLst>
          </p:nvPr>
        </p:nvSpPr>
        <p:spPr>
          <a:xfrm>
            <a:off x="7532228" y="1675013"/>
            <a:ext cx="127696" cy="127425"/>
          </a:xfrm>
          <a:custGeom>
            <a:avLst/>
            <a:gdLst>
              <a:gd name="connsiteX0" fmla="*/ 63848 w 127696"/>
              <a:gd name="connsiteY0" fmla="*/ 127426 h 127425"/>
              <a:gd name="connsiteX1" fmla="*/ 63848 w 127696"/>
              <a:gd name="connsiteY1" fmla="*/ 127426 h 127425"/>
              <a:gd name="connsiteX2" fmla="*/ 0 w 127696"/>
              <a:gd name="connsiteY2" fmla="*/ 63713 h 127425"/>
              <a:gd name="connsiteX3" fmla="*/ 63848 w 127696"/>
              <a:gd name="connsiteY3" fmla="*/ 0 h 127425"/>
              <a:gd name="connsiteX4" fmla="*/ 63848 w 127696"/>
              <a:gd name="connsiteY4" fmla="*/ 0 h 127425"/>
              <a:gd name="connsiteX5" fmla="*/ 127696 w 127696"/>
              <a:gd name="connsiteY5" fmla="*/ 63713 h 127425"/>
              <a:gd name="connsiteX6" fmla="*/ 63848 w 127696"/>
              <a:gd name="connsiteY6" fmla="*/ 127426 h 127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5">
                <a:moveTo>
                  <a:pt x="63848" y="127426"/>
                </a:moveTo>
                <a:lnTo>
                  <a:pt x="63848" y="127426"/>
                </a:lnTo>
                <a:cubicBezTo>
                  <a:pt x="28614" y="127426"/>
                  <a:pt x="0" y="98939"/>
                  <a:pt x="0" y="63713"/>
                </a:cubicBezTo>
                <a:cubicBezTo>
                  <a:pt x="0" y="28487"/>
                  <a:pt x="28547" y="0"/>
                  <a:pt x="63848" y="0"/>
                </a:cubicBezTo>
                <a:lnTo>
                  <a:pt x="63848" y="0"/>
                </a:lnTo>
                <a:cubicBezTo>
                  <a:pt x="99081" y="0"/>
                  <a:pt x="127696" y="28487"/>
                  <a:pt x="127696" y="63713"/>
                </a:cubicBezTo>
                <a:cubicBezTo>
                  <a:pt x="127696" y="98939"/>
                  <a:pt x="99148" y="127426"/>
                  <a:pt x="63848" y="127426"/>
                </a:cubicBezTo>
                <a:close/>
              </a:path>
            </a:pathLst>
          </a:custGeom>
          <a:solidFill>
            <a:schemeClr val="accent1">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38" name="©天蝎PPT25"/>
          <p:cNvSpPr/>
          <p:nvPr>
            <p:custDataLst>
              <p:tags r:id="rId12"/>
            </p:custDataLst>
          </p:nvPr>
        </p:nvSpPr>
        <p:spPr>
          <a:xfrm>
            <a:off x="7849396" y="1675013"/>
            <a:ext cx="127696" cy="127425"/>
          </a:xfrm>
          <a:custGeom>
            <a:avLst/>
            <a:gdLst>
              <a:gd name="connsiteX0" fmla="*/ 63848 w 127696"/>
              <a:gd name="connsiteY0" fmla="*/ 127426 h 127425"/>
              <a:gd name="connsiteX1" fmla="*/ 63848 w 127696"/>
              <a:gd name="connsiteY1" fmla="*/ 127426 h 127425"/>
              <a:gd name="connsiteX2" fmla="*/ 0 w 127696"/>
              <a:gd name="connsiteY2" fmla="*/ 63713 h 127425"/>
              <a:gd name="connsiteX3" fmla="*/ 63848 w 127696"/>
              <a:gd name="connsiteY3" fmla="*/ 0 h 127425"/>
              <a:gd name="connsiteX4" fmla="*/ 63848 w 127696"/>
              <a:gd name="connsiteY4" fmla="*/ 0 h 127425"/>
              <a:gd name="connsiteX5" fmla="*/ 127696 w 127696"/>
              <a:gd name="connsiteY5" fmla="*/ 63713 h 127425"/>
              <a:gd name="connsiteX6" fmla="*/ 63848 w 127696"/>
              <a:gd name="connsiteY6" fmla="*/ 127426 h 127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5">
                <a:moveTo>
                  <a:pt x="63848" y="127426"/>
                </a:moveTo>
                <a:lnTo>
                  <a:pt x="63848" y="127426"/>
                </a:lnTo>
                <a:cubicBezTo>
                  <a:pt x="28615" y="127426"/>
                  <a:pt x="0" y="98939"/>
                  <a:pt x="0" y="63713"/>
                </a:cubicBezTo>
                <a:cubicBezTo>
                  <a:pt x="0" y="28487"/>
                  <a:pt x="28548" y="0"/>
                  <a:pt x="63848" y="0"/>
                </a:cubicBezTo>
                <a:lnTo>
                  <a:pt x="63848" y="0"/>
                </a:lnTo>
                <a:cubicBezTo>
                  <a:pt x="99081" y="0"/>
                  <a:pt x="127696" y="28487"/>
                  <a:pt x="127696" y="63713"/>
                </a:cubicBezTo>
                <a:cubicBezTo>
                  <a:pt x="127696" y="98939"/>
                  <a:pt x="99148" y="127426"/>
                  <a:pt x="63848" y="127426"/>
                </a:cubicBezTo>
                <a:close/>
              </a:path>
            </a:pathLst>
          </a:custGeom>
          <a:solidFill>
            <a:schemeClr val="accent1">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39" name="©天蝎PPT26"/>
          <p:cNvSpPr/>
          <p:nvPr>
            <p:custDataLst>
              <p:tags r:id="rId13"/>
            </p:custDataLst>
          </p:nvPr>
        </p:nvSpPr>
        <p:spPr>
          <a:xfrm>
            <a:off x="8166564" y="1675013"/>
            <a:ext cx="127696" cy="127425"/>
          </a:xfrm>
          <a:custGeom>
            <a:avLst/>
            <a:gdLst>
              <a:gd name="connsiteX0" fmla="*/ 63848 w 127696"/>
              <a:gd name="connsiteY0" fmla="*/ 127426 h 127425"/>
              <a:gd name="connsiteX1" fmla="*/ 63848 w 127696"/>
              <a:gd name="connsiteY1" fmla="*/ 127426 h 127425"/>
              <a:gd name="connsiteX2" fmla="*/ 0 w 127696"/>
              <a:gd name="connsiteY2" fmla="*/ 63713 h 127425"/>
              <a:gd name="connsiteX3" fmla="*/ 63848 w 127696"/>
              <a:gd name="connsiteY3" fmla="*/ 0 h 127425"/>
              <a:gd name="connsiteX4" fmla="*/ 63848 w 127696"/>
              <a:gd name="connsiteY4" fmla="*/ 0 h 127425"/>
              <a:gd name="connsiteX5" fmla="*/ 127697 w 127696"/>
              <a:gd name="connsiteY5" fmla="*/ 63713 h 127425"/>
              <a:gd name="connsiteX6" fmla="*/ 63848 w 127696"/>
              <a:gd name="connsiteY6" fmla="*/ 127426 h 127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5">
                <a:moveTo>
                  <a:pt x="63848" y="127426"/>
                </a:moveTo>
                <a:lnTo>
                  <a:pt x="63848" y="127426"/>
                </a:lnTo>
                <a:cubicBezTo>
                  <a:pt x="28615" y="127426"/>
                  <a:pt x="0" y="98939"/>
                  <a:pt x="0" y="63713"/>
                </a:cubicBezTo>
                <a:cubicBezTo>
                  <a:pt x="0" y="28487"/>
                  <a:pt x="28548" y="0"/>
                  <a:pt x="63848" y="0"/>
                </a:cubicBezTo>
                <a:lnTo>
                  <a:pt x="63848" y="0"/>
                </a:lnTo>
                <a:cubicBezTo>
                  <a:pt x="99082" y="0"/>
                  <a:pt x="127697" y="28487"/>
                  <a:pt x="127697" y="63713"/>
                </a:cubicBezTo>
                <a:cubicBezTo>
                  <a:pt x="127697" y="98939"/>
                  <a:pt x="99149" y="127426"/>
                  <a:pt x="63848" y="127426"/>
                </a:cubicBezTo>
                <a:close/>
              </a:path>
            </a:pathLst>
          </a:custGeom>
          <a:solidFill>
            <a:schemeClr val="accent1">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40" name="©天蝎PPT27"/>
          <p:cNvSpPr/>
          <p:nvPr>
            <p:custDataLst>
              <p:tags r:id="rId14"/>
            </p:custDataLst>
          </p:nvPr>
        </p:nvSpPr>
        <p:spPr>
          <a:xfrm>
            <a:off x="3801823" y="3936790"/>
            <a:ext cx="127696" cy="127426"/>
          </a:xfrm>
          <a:custGeom>
            <a:avLst/>
            <a:gdLst>
              <a:gd name="connsiteX0" fmla="*/ 63848 w 127696"/>
              <a:gd name="connsiteY0" fmla="*/ 127426 h 127426"/>
              <a:gd name="connsiteX1" fmla="*/ 63848 w 127696"/>
              <a:gd name="connsiteY1" fmla="*/ 127426 h 127426"/>
              <a:gd name="connsiteX2" fmla="*/ 0 w 127696"/>
              <a:gd name="connsiteY2" fmla="*/ 63713 h 127426"/>
              <a:gd name="connsiteX3" fmla="*/ 63848 w 127696"/>
              <a:gd name="connsiteY3" fmla="*/ 0 h 127426"/>
              <a:gd name="connsiteX4" fmla="*/ 63848 w 127696"/>
              <a:gd name="connsiteY4" fmla="*/ 0 h 127426"/>
              <a:gd name="connsiteX5" fmla="*/ 127696 w 127696"/>
              <a:gd name="connsiteY5" fmla="*/ 63713 h 127426"/>
              <a:gd name="connsiteX6" fmla="*/ 63848 w 127696"/>
              <a:gd name="connsiteY6" fmla="*/ 127426 h 12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6">
                <a:moveTo>
                  <a:pt x="63848" y="127426"/>
                </a:moveTo>
                <a:lnTo>
                  <a:pt x="63848" y="127426"/>
                </a:lnTo>
                <a:cubicBezTo>
                  <a:pt x="28614" y="127426"/>
                  <a:pt x="0" y="98939"/>
                  <a:pt x="0" y="63713"/>
                </a:cubicBezTo>
                <a:cubicBezTo>
                  <a:pt x="0" y="28488"/>
                  <a:pt x="28548" y="0"/>
                  <a:pt x="63848" y="0"/>
                </a:cubicBezTo>
                <a:lnTo>
                  <a:pt x="63848" y="0"/>
                </a:lnTo>
                <a:cubicBezTo>
                  <a:pt x="99081" y="0"/>
                  <a:pt x="127696" y="28488"/>
                  <a:pt x="127696" y="63713"/>
                </a:cubicBezTo>
                <a:cubicBezTo>
                  <a:pt x="127696" y="98939"/>
                  <a:pt x="99148" y="127426"/>
                  <a:pt x="63848" y="127426"/>
                </a:cubicBezTo>
                <a:close/>
              </a:path>
            </a:pathLst>
          </a:custGeom>
          <a:solidFill>
            <a:schemeClr val="accent5">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41" name="©天蝎PPT28"/>
          <p:cNvSpPr/>
          <p:nvPr>
            <p:custDataLst>
              <p:tags r:id="rId15"/>
            </p:custDataLst>
          </p:nvPr>
        </p:nvSpPr>
        <p:spPr>
          <a:xfrm>
            <a:off x="4118992" y="3936790"/>
            <a:ext cx="127696" cy="127426"/>
          </a:xfrm>
          <a:custGeom>
            <a:avLst/>
            <a:gdLst>
              <a:gd name="connsiteX0" fmla="*/ 63848 w 127696"/>
              <a:gd name="connsiteY0" fmla="*/ 127426 h 127426"/>
              <a:gd name="connsiteX1" fmla="*/ 63848 w 127696"/>
              <a:gd name="connsiteY1" fmla="*/ 127426 h 127426"/>
              <a:gd name="connsiteX2" fmla="*/ 0 w 127696"/>
              <a:gd name="connsiteY2" fmla="*/ 63713 h 127426"/>
              <a:gd name="connsiteX3" fmla="*/ 63848 w 127696"/>
              <a:gd name="connsiteY3" fmla="*/ 0 h 127426"/>
              <a:gd name="connsiteX4" fmla="*/ 63848 w 127696"/>
              <a:gd name="connsiteY4" fmla="*/ 0 h 127426"/>
              <a:gd name="connsiteX5" fmla="*/ 127696 w 127696"/>
              <a:gd name="connsiteY5" fmla="*/ 63713 h 127426"/>
              <a:gd name="connsiteX6" fmla="*/ 63848 w 127696"/>
              <a:gd name="connsiteY6" fmla="*/ 127426 h 12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6">
                <a:moveTo>
                  <a:pt x="63848" y="127426"/>
                </a:moveTo>
                <a:lnTo>
                  <a:pt x="63848" y="127426"/>
                </a:lnTo>
                <a:cubicBezTo>
                  <a:pt x="28614" y="127426"/>
                  <a:pt x="0" y="98939"/>
                  <a:pt x="0" y="63713"/>
                </a:cubicBezTo>
                <a:cubicBezTo>
                  <a:pt x="0" y="28488"/>
                  <a:pt x="28548" y="0"/>
                  <a:pt x="63848" y="0"/>
                </a:cubicBezTo>
                <a:lnTo>
                  <a:pt x="63848" y="0"/>
                </a:lnTo>
                <a:cubicBezTo>
                  <a:pt x="99081" y="0"/>
                  <a:pt x="127696" y="28488"/>
                  <a:pt x="127696" y="63713"/>
                </a:cubicBezTo>
                <a:cubicBezTo>
                  <a:pt x="127696" y="98939"/>
                  <a:pt x="99148" y="127426"/>
                  <a:pt x="63848" y="127426"/>
                </a:cubicBezTo>
                <a:close/>
              </a:path>
            </a:pathLst>
          </a:custGeom>
          <a:solidFill>
            <a:schemeClr val="accent5">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42" name="©天蝎PPT29"/>
          <p:cNvSpPr/>
          <p:nvPr>
            <p:custDataLst>
              <p:tags r:id="rId16"/>
            </p:custDataLst>
          </p:nvPr>
        </p:nvSpPr>
        <p:spPr>
          <a:xfrm>
            <a:off x="4436227" y="3936790"/>
            <a:ext cx="127696" cy="127426"/>
          </a:xfrm>
          <a:custGeom>
            <a:avLst/>
            <a:gdLst>
              <a:gd name="connsiteX0" fmla="*/ 63848 w 127696"/>
              <a:gd name="connsiteY0" fmla="*/ 127426 h 127426"/>
              <a:gd name="connsiteX1" fmla="*/ 63848 w 127696"/>
              <a:gd name="connsiteY1" fmla="*/ 127426 h 127426"/>
              <a:gd name="connsiteX2" fmla="*/ 0 w 127696"/>
              <a:gd name="connsiteY2" fmla="*/ 63713 h 127426"/>
              <a:gd name="connsiteX3" fmla="*/ 63848 w 127696"/>
              <a:gd name="connsiteY3" fmla="*/ 0 h 127426"/>
              <a:gd name="connsiteX4" fmla="*/ 63848 w 127696"/>
              <a:gd name="connsiteY4" fmla="*/ 0 h 127426"/>
              <a:gd name="connsiteX5" fmla="*/ 127697 w 127696"/>
              <a:gd name="connsiteY5" fmla="*/ 63713 h 127426"/>
              <a:gd name="connsiteX6" fmla="*/ 63848 w 127696"/>
              <a:gd name="connsiteY6" fmla="*/ 127426 h 12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6">
                <a:moveTo>
                  <a:pt x="63848" y="127426"/>
                </a:moveTo>
                <a:lnTo>
                  <a:pt x="63848" y="127426"/>
                </a:lnTo>
                <a:cubicBezTo>
                  <a:pt x="28615" y="127426"/>
                  <a:pt x="0" y="98939"/>
                  <a:pt x="0" y="63713"/>
                </a:cubicBezTo>
                <a:cubicBezTo>
                  <a:pt x="0" y="28488"/>
                  <a:pt x="28548" y="0"/>
                  <a:pt x="63848" y="0"/>
                </a:cubicBezTo>
                <a:lnTo>
                  <a:pt x="63848" y="0"/>
                </a:lnTo>
                <a:cubicBezTo>
                  <a:pt x="99082" y="0"/>
                  <a:pt x="127697" y="28488"/>
                  <a:pt x="127697" y="63713"/>
                </a:cubicBezTo>
                <a:cubicBezTo>
                  <a:pt x="127697" y="98939"/>
                  <a:pt x="99149" y="127426"/>
                  <a:pt x="63848" y="127426"/>
                </a:cubicBezTo>
                <a:close/>
              </a:path>
            </a:pathLst>
          </a:custGeom>
          <a:solidFill>
            <a:schemeClr val="accent5">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43" name="©天蝎PPT30"/>
          <p:cNvSpPr/>
          <p:nvPr>
            <p:custDataLst>
              <p:tags r:id="rId17"/>
            </p:custDataLst>
          </p:nvPr>
        </p:nvSpPr>
        <p:spPr>
          <a:xfrm>
            <a:off x="4753395" y="3936790"/>
            <a:ext cx="127696" cy="127426"/>
          </a:xfrm>
          <a:custGeom>
            <a:avLst/>
            <a:gdLst>
              <a:gd name="connsiteX0" fmla="*/ 63848 w 127696"/>
              <a:gd name="connsiteY0" fmla="*/ 127426 h 127426"/>
              <a:gd name="connsiteX1" fmla="*/ 63848 w 127696"/>
              <a:gd name="connsiteY1" fmla="*/ 127426 h 127426"/>
              <a:gd name="connsiteX2" fmla="*/ 0 w 127696"/>
              <a:gd name="connsiteY2" fmla="*/ 63713 h 127426"/>
              <a:gd name="connsiteX3" fmla="*/ 63848 w 127696"/>
              <a:gd name="connsiteY3" fmla="*/ 0 h 127426"/>
              <a:gd name="connsiteX4" fmla="*/ 63848 w 127696"/>
              <a:gd name="connsiteY4" fmla="*/ 0 h 127426"/>
              <a:gd name="connsiteX5" fmla="*/ 127697 w 127696"/>
              <a:gd name="connsiteY5" fmla="*/ 63713 h 127426"/>
              <a:gd name="connsiteX6" fmla="*/ 63848 w 127696"/>
              <a:gd name="connsiteY6" fmla="*/ 127426 h 12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6">
                <a:moveTo>
                  <a:pt x="63848" y="127426"/>
                </a:moveTo>
                <a:lnTo>
                  <a:pt x="63848" y="127426"/>
                </a:lnTo>
                <a:cubicBezTo>
                  <a:pt x="28615" y="127426"/>
                  <a:pt x="0" y="98939"/>
                  <a:pt x="0" y="63713"/>
                </a:cubicBezTo>
                <a:cubicBezTo>
                  <a:pt x="0" y="28488"/>
                  <a:pt x="28548" y="0"/>
                  <a:pt x="63848" y="0"/>
                </a:cubicBezTo>
                <a:lnTo>
                  <a:pt x="63848" y="0"/>
                </a:lnTo>
                <a:cubicBezTo>
                  <a:pt x="99082" y="0"/>
                  <a:pt x="127697" y="28488"/>
                  <a:pt x="127697" y="63713"/>
                </a:cubicBezTo>
                <a:cubicBezTo>
                  <a:pt x="127697" y="98939"/>
                  <a:pt x="99149" y="127426"/>
                  <a:pt x="63848" y="127426"/>
                </a:cubicBezTo>
                <a:close/>
              </a:path>
            </a:pathLst>
          </a:custGeom>
          <a:solidFill>
            <a:schemeClr val="accent5">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44" name="©天蝎PPT31"/>
          <p:cNvSpPr/>
          <p:nvPr>
            <p:custDataLst>
              <p:tags r:id="rId18"/>
            </p:custDataLst>
          </p:nvPr>
        </p:nvSpPr>
        <p:spPr>
          <a:xfrm>
            <a:off x="5070563" y="3936790"/>
            <a:ext cx="127696" cy="127426"/>
          </a:xfrm>
          <a:custGeom>
            <a:avLst/>
            <a:gdLst>
              <a:gd name="connsiteX0" fmla="*/ 63848 w 127696"/>
              <a:gd name="connsiteY0" fmla="*/ 127426 h 127426"/>
              <a:gd name="connsiteX1" fmla="*/ 63848 w 127696"/>
              <a:gd name="connsiteY1" fmla="*/ 127426 h 127426"/>
              <a:gd name="connsiteX2" fmla="*/ 0 w 127696"/>
              <a:gd name="connsiteY2" fmla="*/ 63713 h 127426"/>
              <a:gd name="connsiteX3" fmla="*/ 63848 w 127696"/>
              <a:gd name="connsiteY3" fmla="*/ 0 h 127426"/>
              <a:gd name="connsiteX4" fmla="*/ 63848 w 127696"/>
              <a:gd name="connsiteY4" fmla="*/ 0 h 127426"/>
              <a:gd name="connsiteX5" fmla="*/ 127697 w 127696"/>
              <a:gd name="connsiteY5" fmla="*/ 63713 h 127426"/>
              <a:gd name="connsiteX6" fmla="*/ 63848 w 127696"/>
              <a:gd name="connsiteY6" fmla="*/ 127426 h 12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6">
                <a:moveTo>
                  <a:pt x="63848" y="127426"/>
                </a:moveTo>
                <a:lnTo>
                  <a:pt x="63848" y="127426"/>
                </a:lnTo>
                <a:cubicBezTo>
                  <a:pt x="28615" y="127426"/>
                  <a:pt x="0" y="98939"/>
                  <a:pt x="0" y="63713"/>
                </a:cubicBezTo>
                <a:cubicBezTo>
                  <a:pt x="0" y="28488"/>
                  <a:pt x="28548" y="0"/>
                  <a:pt x="63848" y="0"/>
                </a:cubicBezTo>
                <a:lnTo>
                  <a:pt x="63848" y="0"/>
                </a:lnTo>
                <a:cubicBezTo>
                  <a:pt x="99082" y="0"/>
                  <a:pt x="127697" y="28488"/>
                  <a:pt x="127697" y="63713"/>
                </a:cubicBezTo>
                <a:cubicBezTo>
                  <a:pt x="127697" y="98939"/>
                  <a:pt x="99149" y="127426"/>
                  <a:pt x="63848" y="127426"/>
                </a:cubicBezTo>
                <a:close/>
              </a:path>
            </a:pathLst>
          </a:custGeom>
          <a:solidFill>
            <a:schemeClr val="accent5">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45" name="©天蝎PPT32"/>
          <p:cNvSpPr/>
          <p:nvPr>
            <p:custDataLst>
              <p:tags r:id="rId19"/>
            </p:custDataLst>
          </p:nvPr>
        </p:nvSpPr>
        <p:spPr>
          <a:xfrm>
            <a:off x="5387731" y="3936790"/>
            <a:ext cx="127696" cy="127426"/>
          </a:xfrm>
          <a:custGeom>
            <a:avLst/>
            <a:gdLst>
              <a:gd name="connsiteX0" fmla="*/ 63848 w 127696"/>
              <a:gd name="connsiteY0" fmla="*/ 127426 h 127426"/>
              <a:gd name="connsiteX1" fmla="*/ 63848 w 127696"/>
              <a:gd name="connsiteY1" fmla="*/ 127426 h 127426"/>
              <a:gd name="connsiteX2" fmla="*/ 0 w 127696"/>
              <a:gd name="connsiteY2" fmla="*/ 63713 h 127426"/>
              <a:gd name="connsiteX3" fmla="*/ 63848 w 127696"/>
              <a:gd name="connsiteY3" fmla="*/ 0 h 127426"/>
              <a:gd name="connsiteX4" fmla="*/ 63848 w 127696"/>
              <a:gd name="connsiteY4" fmla="*/ 0 h 127426"/>
              <a:gd name="connsiteX5" fmla="*/ 127697 w 127696"/>
              <a:gd name="connsiteY5" fmla="*/ 63713 h 127426"/>
              <a:gd name="connsiteX6" fmla="*/ 63848 w 127696"/>
              <a:gd name="connsiteY6" fmla="*/ 127426 h 12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6">
                <a:moveTo>
                  <a:pt x="63848" y="127426"/>
                </a:moveTo>
                <a:lnTo>
                  <a:pt x="63848" y="127426"/>
                </a:lnTo>
                <a:cubicBezTo>
                  <a:pt x="28615" y="127426"/>
                  <a:pt x="0" y="98939"/>
                  <a:pt x="0" y="63713"/>
                </a:cubicBezTo>
                <a:cubicBezTo>
                  <a:pt x="0" y="28488"/>
                  <a:pt x="28548" y="0"/>
                  <a:pt x="63848" y="0"/>
                </a:cubicBezTo>
                <a:lnTo>
                  <a:pt x="63848" y="0"/>
                </a:lnTo>
                <a:cubicBezTo>
                  <a:pt x="99082" y="0"/>
                  <a:pt x="127697" y="28488"/>
                  <a:pt x="127697" y="63713"/>
                </a:cubicBezTo>
                <a:cubicBezTo>
                  <a:pt x="127697" y="98939"/>
                  <a:pt x="99149" y="127426"/>
                  <a:pt x="63848" y="127426"/>
                </a:cubicBezTo>
                <a:close/>
              </a:path>
            </a:pathLst>
          </a:custGeom>
          <a:solidFill>
            <a:schemeClr val="accent5">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46" name="©天蝎PPT33"/>
          <p:cNvSpPr/>
          <p:nvPr>
            <p:custDataLst>
              <p:tags r:id="rId20"/>
            </p:custDataLst>
          </p:nvPr>
        </p:nvSpPr>
        <p:spPr>
          <a:xfrm>
            <a:off x="5704967" y="3936790"/>
            <a:ext cx="127696" cy="127426"/>
          </a:xfrm>
          <a:custGeom>
            <a:avLst/>
            <a:gdLst>
              <a:gd name="connsiteX0" fmla="*/ 63848 w 127696"/>
              <a:gd name="connsiteY0" fmla="*/ 127426 h 127426"/>
              <a:gd name="connsiteX1" fmla="*/ 63848 w 127696"/>
              <a:gd name="connsiteY1" fmla="*/ 127426 h 127426"/>
              <a:gd name="connsiteX2" fmla="*/ 0 w 127696"/>
              <a:gd name="connsiteY2" fmla="*/ 63713 h 127426"/>
              <a:gd name="connsiteX3" fmla="*/ 63848 w 127696"/>
              <a:gd name="connsiteY3" fmla="*/ 0 h 127426"/>
              <a:gd name="connsiteX4" fmla="*/ 63848 w 127696"/>
              <a:gd name="connsiteY4" fmla="*/ 0 h 127426"/>
              <a:gd name="connsiteX5" fmla="*/ 127696 w 127696"/>
              <a:gd name="connsiteY5" fmla="*/ 63713 h 127426"/>
              <a:gd name="connsiteX6" fmla="*/ 63848 w 127696"/>
              <a:gd name="connsiteY6" fmla="*/ 127426 h 12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6">
                <a:moveTo>
                  <a:pt x="63848" y="127426"/>
                </a:moveTo>
                <a:lnTo>
                  <a:pt x="63848" y="127426"/>
                </a:lnTo>
                <a:cubicBezTo>
                  <a:pt x="28615" y="127426"/>
                  <a:pt x="0" y="98939"/>
                  <a:pt x="0" y="63713"/>
                </a:cubicBezTo>
                <a:cubicBezTo>
                  <a:pt x="0" y="28488"/>
                  <a:pt x="28548" y="0"/>
                  <a:pt x="63848" y="0"/>
                </a:cubicBezTo>
                <a:lnTo>
                  <a:pt x="63848" y="0"/>
                </a:lnTo>
                <a:cubicBezTo>
                  <a:pt x="99082" y="0"/>
                  <a:pt x="127696" y="28488"/>
                  <a:pt x="127696" y="63713"/>
                </a:cubicBezTo>
                <a:cubicBezTo>
                  <a:pt x="127696" y="98939"/>
                  <a:pt x="99149" y="127426"/>
                  <a:pt x="63848" y="127426"/>
                </a:cubicBezTo>
                <a:close/>
              </a:path>
            </a:pathLst>
          </a:custGeom>
          <a:solidFill>
            <a:schemeClr val="accent5">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47" name="©天蝎PPT34"/>
          <p:cNvSpPr/>
          <p:nvPr>
            <p:custDataLst>
              <p:tags r:id="rId21"/>
            </p:custDataLst>
          </p:nvPr>
        </p:nvSpPr>
        <p:spPr>
          <a:xfrm>
            <a:off x="6022135" y="3936790"/>
            <a:ext cx="127696" cy="127426"/>
          </a:xfrm>
          <a:custGeom>
            <a:avLst/>
            <a:gdLst>
              <a:gd name="connsiteX0" fmla="*/ 63848 w 127696"/>
              <a:gd name="connsiteY0" fmla="*/ 127426 h 127426"/>
              <a:gd name="connsiteX1" fmla="*/ 63848 w 127696"/>
              <a:gd name="connsiteY1" fmla="*/ 127426 h 127426"/>
              <a:gd name="connsiteX2" fmla="*/ 0 w 127696"/>
              <a:gd name="connsiteY2" fmla="*/ 63713 h 127426"/>
              <a:gd name="connsiteX3" fmla="*/ 63848 w 127696"/>
              <a:gd name="connsiteY3" fmla="*/ 0 h 127426"/>
              <a:gd name="connsiteX4" fmla="*/ 63848 w 127696"/>
              <a:gd name="connsiteY4" fmla="*/ 0 h 127426"/>
              <a:gd name="connsiteX5" fmla="*/ 127696 w 127696"/>
              <a:gd name="connsiteY5" fmla="*/ 63713 h 127426"/>
              <a:gd name="connsiteX6" fmla="*/ 63848 w 127696"/>
              <a:gd name="connsiteY6" fmla="*/ 127426 h 12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6">
                <a:moveTo>
                  <a:pt x="63848" y="127426"/>
                </a:moveTo>
                <a:lnTo>
                  <a:pt x="63848" y="127426"/>
                </a:lnTo>
                <a:cubicBezTo>
                  <a:pt x="28614" y="127426"/>
                  <a:pt x="0" y="98939"/>
                  <a:pt x="0" y="63713"/>
                </a:cubicBezTo>
                <a:cubicBezTo>
                  <a:pt x="0" y="28488"/>
                  <a:pt x="28548" y="0"/>
                  <a:pt x="63848" y="0"/>
                </a:cubicBezTo>
                <a:lnTo>
                  <a:pt x="63848" y="0"/>
                </a:lnTo>
                <a:cubicBezTo>
                  <a:pt x="99082" y="0"/>
                  <a:pt x="127696" y="28488"/>
                  <a:pt x="127696" y="63713"/>
                </a:cubicBezTo>
                <a:cubicBezTo>
                  <a:pt x="127696" y="98939"/>
                  <a:pt x="99149" y="127426"/>
                  <a:pt x="63848" y="127426"/>
                </a:cubicBezTo>
                <a:close/>
              </a:path>
            </a:pathLst>
          </a:custGeom>
          <a:solidFill>
            <a:schemeClr val="accent5">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48" name="©天蝎PPT35"/>
          <p:cNvSpPr/>
          <p:nvPr>
            <p:custDataLst>
              <p:tags r:id="rId22"/>
            </p:custDataLst>
          </p:nvPr>
        </p:nvSpPr>
        <p:spPr>
          <a:xfrm>
            <a:off x="6339303" y="3936790"/>
            <a:ext cx="127696" cy="127426"/>
          </a:xfrm>
          <a:custGeom>
            <a:avLst/>
            <a:gdLst>
              <a:gd name="connsiteX0" fmla="*/ 63848 w 127696"/>
              <a:gd name="connsiteY0" fmla="*/ 127426 h 127426"/>
              <a:gd name="connsiteX1" fmla="*/ 63848 w 127696"/>
              <a:gd name="connsiteY1" fmla="*/ 127426 h 127426"/>
              <a:gd name="connsiteX2" fmla="*/ 0 w 127696"/>
              <a:gd name="connsiteY2" fmla="*/ 63713 h 127426"/>
              <a:gd name="connsiteX3" fmla="*/ 63848 w 127696"/>
              <a:gd name="connsiteY3" fmla="*/ 0 h 127426"/>
              <a:gd name="connsiteX4" fmla="*/ 63848 w 127696"/>
              <a:gd name="connsiteY4" fmla="*/ 0 h 127426"/>
              <a:gd name="connsiteX5" fmla="*/ 127696 w 127696"/>
              <a:gd name="connsiteY5" fmla="*/ 63713 h 127426"/>
              <a:gd name="connsiteX6" fmla="*/ 63848 w 127696"/>
              <a:gd name="connsiteY6" fmla="*/ 127426 h 12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6">
                <a:moveTo>
                  <a:pt x="63848" y="127426"/>
                </a:moveTo>
                <a:lnTo>
                  <a:pt x="63848" y="127426"/>
                </a:lnTo>
                <a:cubicBezTo>
                  <a:pt x="28614" y="127426"/>
                  <a:pt x="0" y="98939"/>
                  <a:pt x="0" y="63713"/>
                </a:cubicBezTo>
                <a:cubicBezTo>
                  <a:pt x="0" y="28488"/>
                  <a:pt x="28548" y="0"/>
                  <a:pt x="63848" y="0"/>
                </a:cubicBezTo>
                <a:lnTo>
                  <a:pt x="63848" y="0"/>
                </a:lnTo>
                <a:cubicBezTo>
                  <a:pt x="99082" y="0"/>
                  <a:pt x="127696" y="28488"/>
                  <a:pt x="127696" y="63713"/>
                </a:cubicBezTo>
                <a:cubicBezTo>
                  <a:pt x="127696" y="98939"/>
                  <a:pt x="99149" y="127426"/>
                  <a:pt x="63848" y="127426"/>
                </a:cubicBezTo>
                <a:close/>
              </a:path>
            </a:pathLst>
          </a:custGeom>
          <a:solidFill>
            <a:schemeClr val="accent5">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49" name="©天蝎PPT36"/>
          <p:cNvSpPr/>
          <p:nvPr>
            <p:custDataLst>
              <p:tags r:id="rId23"/>
            </p:custDataLst>
          </p:nvPr>
        </p:nvSpPr>
        <p:spPr>
          <a:xfrm>
            <a:off x="6656472" y="3936790"/>
            <a:ext cx="127696" cy="127426"/>
          </a:xfrm>
          <a:custGeom>
            <a:avLst/>
            <a:gdLst>
              <a:gd name="connsiteX0" fmla="*/ 63848 w 127696"/>
              <a:gd name="connsiteY0" fmla="*/ 127426 h 127426"/>
              <a:gd name="connsiteX1" fmla="*/ 63848 w 127696"/>
              <a:gd name="connsiteY1" fmla="*/ 127426 h 127426"/>
              <a:gd name="connsiteX2" fmla="*/ 0 w 127696"/>
              <a:gd name="connsiteY2" fmla="*/ 63713 h 127426"/>
              <a:gd name="connsiteX3" fmla="*/ 63848 w 127696"/>
              <a:gd name="connsiteY3" fmla="*/ 0 h 127426"/>
              <a:gd name="connsiteX4" fmla="*/ 63848 w 127696"/>
              <a:gd name="connsiteY4" fmla="*/ 0 h 127426"/>
              <a:gd name="connsiteX5" fmla="*/ 127696 w 127696"/>
              <a:gd name="connsiteY5" fmla="*/ 63713 h 127426"/>
              <a:gd name="connsiteX6" fmla="*/ 63848 w 127696"/>
              <a:gd name="connsiteY6" fmla="*/ 127426 h 12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6">
                <a:moveTo>
                  <a:pt x="63848" y="127426"/>
                </a:moveTo>
                <a:lnTo>
                  <a:pt x="63848" y="127426"/>
                </a:lnTo>
                <a:cubicBezTo>
                  <a:pt x="28614" y="127426"/>
                  <a:pt x="0" y="98939"/>
                  <a:pt x="0" y="63713"/>
                </a:cubicBezTo>
                <a:cubicBezTo>
                  <a:pt x="0" y="28488"/>
                  <a:pt x="28548" y="0"/>
                  <a:pt x="63848" y="0"/>
                </a:cubicBezTo>
                <a:lnTo>
                  <a:pt x="63848" y="0"/>
                </a:lnTo>
                <a:cubicBezTo>
                  <a:pt x="99082" y="0"/>
                  <a:pt x="127696" y="28488"/>
                  <a:pt x="127696" y="63713"/>
                </a:cubicBezTo>
                <a:cubicBezTo>
                  <a:pt x="127696" y="98939"/>
                  <a:pt x="99149" y="127426"/>
                  <a:pt x="63848" y="127426"/>
                </a:cubicBezTo>
                <a:close/>
              </a:path>
            </a:pathLst>
          </a:custGeom>
          <a:solidFill>
            <a:schemeClr val="accent5">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50" name="©天蝎PPT37"/>
          <p:cNvSpPr/>
          <p:nvPr>
            <p:custDataLst>
              <p:tags r:id="rId24"/>
            </p:custDataLst>
          </p:nvPr>
        </p:nvSpPr>
        <p:spPr>
          <a:xfrm>
            <a:off x="6973707" y="3936790"/>
            <a:ext cx="127696" cy="127426"/>
          </a:xfrm>
          <a:custGeom>
            <a:avLst/>
            <a:gdLst>
              <a:gd name="connsiteX0" fmla="*/ 63848 w 127696"/>
              <a:gd name="connsiteY0" fmla="*/ 127426 h 127426"/>
              <a:gd name="connsiteX1" fmla="*/ 63848 w 127696"/>
              <a:gd name="connsiteY1" fmla="*/ 127426 h 127426"/>
              <a:gd name="connsiteX2" fmla="*/ 0 w 127696"/>
              <a:gd name="connsiteY2" fmla="*/ 63713 h 127426"/>
              <a:gd name="connsiteX3" fmla="*/ 63848 w 127696"/>
              <a:gd name="connsiteY3" fmla="*/ 0 h 127426"/>
              <a:gd name="connsiteX4" fmla="*/ 63848 w 127696"/>
              <a:gd name="connsiteY4" fmla="*/ 0 h 127426"/>
              <a:gd name="connsiteX5" fmla="*/ 127696 w 127696"/>
              <a:gd name="connsiteY5" fmla="*/ 63713 h 127426"/>
              <a:gd name="connsiteX6" fmla="*/ 63848 w 127696"/>
              <a:gd name="connsiteY6" fmla="*/ 127426 h 127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7696" h="127426">
                <a:moveTo>
                  <a:pt x="63848" y="127426"/>
                </a:moveTo>
                <a:lnTo>
                  <a:pt x="63848" y="127426"/>
                </a:lnTo>
                <a:cubicBezTo>
                  <a:pt x="28614" y="127426"/>
                  <a:pt x="0" y="98939"/>
                  <a:pt x="0" y="63713"/>
                </a:cubicBezTo>
                <a:cubicBezTo>
                  <a:pt x="0" y="28488"/>
                  <a:pt x="28548" y="0"/>
                  <a:pt x="63848" y="0"/>
                </a:cubicBezTo>
                <a:lnTo>
                  <a:pt x="63848" y="0"/>
                </a:lnTo>
                <a:cubicBezTo>
                  <a:pt x="99082" y="0"/>
                  <a:pt x="127696" y="28488"/>
                  <a:pt x="127696" y="63713"/>
                </a:cubicBezTo>
                <a:cubicBezTo>
                  <a:pt x="127696" y="98939"/>
                  <a:pt x="99148" y="127426"/>
                  <a:pt x="63848" y="127426"/>
                </a:cubicBezTo>
                <a:close/>
              </a:path>
            </a:pathLst>
          </a:custGeom>
          <a:solidFill>
            <a:schemeClr val="accent5">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51" name="©天蝎PPT38"/>
          <p:cNvSpPr/>
          <p:nvPr>
            <p:custDataLst>
              <p:tags r:id="rId25"/>
            </p:custDataLst>
          </p:nvPr>
        </p:nvSpPr>
        <p:spPr>
          <a:xfrm>
            <a:off x="7371638" y="1639720"/>
            <a:ext cx="4475455" cy="2467393"/>
          </a:xfrm>
          <a:custGeom>
            <a:avLst/>
            <a:gdLst>
              <a:gd name="connsiteX0" fmla="*/ 3239141 w 4475455"/>
              <a:gd name="connsiteY0" fmla="*/ 2467261 h 2467393"/>
              <a:gd name="connsiteX1" fmla="*/ 106703 w 4475455"/>
              <a:gd name="connsiteY1" fmla="*/ 2467261 h 2467393"/>
              <a:gd name="connsiteX2" fmla="*/ 0 w 4475455"/>
              <a:gd name="connsiteY2" fmla="*/ 2360783 h 2467393"/>
              <a:gd name="connsiteX3" fmla="*/ 106703 w 4475455"/>
              <a:gd name="connsiteY3" fmla="*/ 2254306 h 2467393"/>
              <a:gd name="connsiteX4" fmla="*/ 3239141 w 4475455"/>
              <a:gd name="connsiteY4" fmla="*/ 2254306 h 2467393"/>
              <a:gd name="connsiteX5" fmla="*/ 4261982 w 4475455"/>
              <a:gd name="connsiteY5" fmla="*/ 1233630 h 2467393"/>
              <a:gd name="connsiteX6" fmla="*/ 3239141 w 4475455"/>
              <a:gd name="connsiteY6" fmla="*/ 212955 h 2467393"/>
              <a:gd name="connsiteX7" fmla="*/ 1548402 w 4475455"/>
              <a:gd name="connsiteY7" fmla="*/ 212955 h 2467393"/>
              <a:gd name="connsiteX8" fmla="*/ 1441699 w 4475455"/>
              <a:gd name="connsiteY8" fmla="*/ 106477 h 2467393"/>
              <a:gd name="connsiteX9" fmla="*/ 1548402 w 4475455"/>
              <a:gd name="connsiteY9" fmla="*/ 0 h 2467393"/>
              <a:gd name="connsiteX10" fmla="*/ 3239141 w 4475455"/>
              <a:gd name="connsiteY10" fmla="*/ 0 h 2467393"/>
              <a:gd name="connsiteX11" fmla="*/ 4475456 w 4475455"/>
              <a:gd name="connsiteY11" fmla="*/ 1233697 h 2467393"/>
              <a:gd name="connsiteX12" fmla="*/ 3239141 w 4475455"/>
              <a:gd name="connsiteY12" fmla="*/ 2467394 h 246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75455" h="2467393">
                <a:moveTo>
                  <a:pt x="3239141" y="2467261"/>
                </a:moveTo>
                <a:lnTo>
                  <a:pt x="106703" y="2467261"/>
                </a:lnTo>
                <a:cubicBezTo>
                  <a:pt x="47736" y="2467261"/>
                  <a:pt x="0" y="2419559"/>
                  <a:pt x="0" y="2360783"/>
                </a:cubicBezTo>
                <a:cubicBezTo>
                  <a:pt x="0" y="2302007"/>
                  <a:pt x="47802" y="2254306"/>
                  <a:pt x="106703" y="2254306"/>
                </a:cubicBezTo>
                <a:lnTo>
                  <a:pt x="3239141" y="2254306"/>
                </a:lnTo>
                <a:cubicBezTo>
                  <a:pt x="3803145" y="2254306"/>
                  <a:pt x="4261982" y="1796440"/>
                  <a:pt x="4261982" y="1233630"/>
                </a:cubicBezTo>
                <a:cubicBezTo>
                  <a:pt x="4261982" y="670821"/>
                  <a:pt x="3803145" y="212955"/>
                  <a:pt x="3239141" y="212955"/>
                </a:cubicBezTo>
                <a:lnTo>
                  <a:pt x="1548402" y="212955"/>
                </a:lnTo>
                <a:cubicBezTo>
                  <a:pt x="1489434" y="212955"/>
                  <a:pt x="1441699" y="165253"/>
                  <a:pt x="1441699" y="106477"/>
                </a:cubicBezTo>
                <a:cubicBezTo>
                  <a:pt x="1441699" y="47701"/>
                  <a:pt x="1489500" y="0"/>
                  <a:pt x="1548402" y="0"/>
                </a:cubicBezTo>
                <a:lnTo>
                  <a:pt x="3239141" y="0"/>
                </a:lnTo>
                <a:cubicBezTo>
                  <a:pt x="3920812" y="0"/>
                  <a:pt x="4475456" y="553402"/>
                  <a:pt x="4475456" y="1233697"/>
                </a:cubicBezTo>
                <a:cubicBezTo>
                  <a:pt x="4475456" y="1913925"/>
                  <a:pt x="3920879" y="2467394"/>
                  <a:pt x="3239141" y="2467394"/>
                </a:cubicBezTo>
                <a:close/>
              </a:path>
            </a:pathLst>
          </a:custGeom>
          <a:gradFill>
            <a:gsLst>
              <a:gs pos="0">
                <a:schemeClr val="accent1">
                  <a:lumMod val="60000"/>
                  <a:lumOff val="40000"/>
                </a:schemeClr>
              </a:gs>
              <a:gs pos="100000">
                <a:schemeClr val="accent1"/>
              </a:gs>
            </a:gsLst>
            <a:lin ang="16200000" scaled="0"/>
          </a:gradFill>
          <a:ln>
            <a:noFill/>
          </a:ln>
          <a:effectLst>
            <a:outerShdw blurRad="127000" dist="38100" dir="2700000" sx="102000" sy="102000" algn="tl" rotWithShape="0">
              <a:schemeClr val="accent1">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52" name="©天蝎PPT39"/>
          <p:cNvSpPr/>
          <p:nvPr>
            <p:custDataLst>
              <p:tags r:id="rId26"/>
            </p:custDataLst>
          </p:nvPr>
        </p:nvSpPr>
        <p:spPr>
          <a:xfrm>
            <a:off x="2303430" y="2873350"/>
            <a:ext cx="761832" cy="6671"/>
          </a:xfrm>
          <a:custGeom>
            <a:avLst/>
            <a:gdLst>
              <a:gd name="connsiteX0" fmla="*/ 0 w 761832"/>
              <a:gd name="connsiteY0" fmla="*/ 0 h 6671"/>
              <a:gd name="connsiteX1" fmla="*/ 761832 w 761832"/>
              <a:gd name="connsiteY1" fmla="*/ 0 h 6671"/>
            </a:gdLst>
            <a:ahLst/>
            <a:cxnLst>
              <a:cxn ang="0">
                <a:pos x="connsiteX0" y="connsiteY0"/>
              </a:cxn>
              <a:cxn ang="0">
                <a:pos x="connsiteX1" y="connsiteY1"/>
              </a:cxn>
            </a:cxnLst>
            <a:rect l="l" t="t" r="r" b="b"/>
            <a:pathLst>
              <a:path w="761832" h="6671">
                <a:moveTo>
                  <a:pt x="0" y="0"/>
                </a:moveTo>
                <a:lnTo>
                  <a:pt x="761832" y="0"/>
                </a:lnTo>
              </a:path>
            </a:pathLst>
          </a:custGeom>
          <a:ln w="15875" cap="flat">
            <a:solidFill>
              <a:schemeClr val="tx2">
                <a:lumMod val="60000"/>
                <a:lumOff val="40000"/>
              </a:schemeClr>
            </a:solidFill>
            <a:prstDash val="dash"/>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53" name="©天蝎PPT40"/>
          <p:cNvSpPr/>
          <p:nvPr>
            <p:custDataLst>
              <p:tags r:id="rId27"/>
            </p:custDataLst>
          </p:nvPr>
        </p:nvSpPr>
        <p:spPr>
          <a:xfrm>
            <a:off x="4524277" y="2873350"/>
            <a:ext cx="761832" cy="6671"/>
          </a:xfrm>
          <a:custGeom>
            <a:avLst/>
            <a:gdLst>
              <a:gd name="connsiteX0" fmla="*/ 0 w 761832"/>
              <a:gd name="connsiteY0" fmla="*/ 0 h 6671"/>
              <a:gd name="connsiteX1" fmla="*/ 761832 w 761832"/>
              <a:gd name="connsiteY1" fmla="*/ 0 h 6671"/>
            </a:gdLst>
            <a:ahLst/>
            <a:cxnLst>
              <a:cxn ang="0">
                <a:pos x="connsiteX0" y="connsiteY0"/>
              </a:cxn>
              <a:cxn ang="0">
                <a:pos x="connsiteX1" y="connsiteY1"/>
              </a:cxn>
            </a:cxnLst>
            <a:rect l="l" t="t" r="r" b="b"/>
            <a:pathLst>
              <a:path w="761832" h="6671">
                <a:moveTo>
                  <a:pt x="0" y="0"/>
                </a:moveTo>
                <a:lnTo>
                  <a:pt x="761832" y="0"/>
                </a:lnTo>
              </a:path>
            </a:pathLst>
          </a:custGeom>
          <a:ln w="15875" cap="flat">
            <a:solidFill>
              <a:schemeClr val="tx2">
                <a:lumMod val="60000"/>
                <a:lumOff val="40000"/>
              </a:schemeClr>
            </a:solidFill>
            <a:prstDash val="dash"/>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54" name="©天蝎PPT41"/>
          <p:cNvSpPr/>
          <p:nvPr>
            <p:custDataLst>
              <p:tags r:id="rId28"/>
            </p:custDataLst>
          </p:nvPr>
        </p:nvSpPr>
        <p:spPr>
          <a:xfrm>
            <a:off x="6754952" y="2873350"/>
            <a:ext cx="761899" cy="6671"/>
          </a:xfrm>
          <a:custGeom>
            <a:avLst/>
            <a:gdLst>
              <a:gd name="connsiteX0" fmla="*/ 0 w 761899"/>
              <a:gd name="connsiteY0" fmla="*/ 0 h 6671"/>
              <a:gd name="connsiteX1" fmla="*/ 761899 w 761899"/>
              <a:gd name="connsiteY1" fmla="*/ 0 h 6671"/>
            </a:gdLst>
            <a:ahLst/>
            <a:cxnLst>
              <a:cxn ang="0">
                <a:pos x="connsiteX0" y="connsiteY0"/>
              </a:cxn>
              <a:cxn ang="0">
                <a:pos x="connsiteX1" y="connsiteY1"/>
              </a:cxn>
            </a:cxnLst>
            <a:rect l="l" t="t" r="r" b="b"/>
            <a:pathLst>
              <a:path w="761899" h="6671">
                <a:moveTo>
                  <a:pt x="0" y="0"/>
                </a:moveTo>
                <a:lnTo>
                  <a:pt x="761899" y="0"/>
                </a:lnTo>
              </a:path>
            </a:pathLst>
          </a:custGeom>
          <a:ln w="15875" cap="flat">
            <a:solidFill>
              <a:schemeClr val="tx2">
                <a:lumMod val="60000"/>
                <a:lumOff val="40000"/>
              </a:schemeClr>
            </a:solidFill>
            <a:prstDash val="dash"/>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55" name="©天蝎PPT42"/>
          <p:cNvSpPr/>
          <p:nvPr>
            <p:custDataLst>
              <p:tags r:id="rId29"/>
            </p:custDataLst>
          </p:nvPr>
        </p:nvSpPr>
        <p:spPr>
          <a:xfrm>
            <a:off x="8974528" y="2873350"/>
            <a:ext cx="761899" cy="6671"/>
          </a:xfrm>
          <a:custGeom>
            <a:avLst/>
            <a:gdLst>
              <a:gd name="connsiteX0" fmla="*/ 0 w 761899"/>
              <a:gd name="connsiteY0" fmla="*/ 0 h 6671"/>
              <a:gd name="connsiteX1" fmla="*/ 761899 w 761899"/>
              <a:gd name="connsiteY1" fmla="*/ 0 h 6671"/>
            </a:gdLst>
            <a:ahLst/>
            <a:cxnLst>
              <a:cxn ang="0">
                <a:pos x="connsiteX0" y="connsiteY0"/>
              </a:cxn>
              <a:cxn ang="0">
                <a:pos x="connsiteX1" y="connsiteY1"/>
              </a:cxn>
            </a:cxnLst>
            <a:rect l="l" t="t" r="r" b="b"/>
            <a:pathLst>
              <a:path w="761899" h="6671">
                <a:moveTo>
                  <a:pt x="0" y="0"/>
                </a:moveTo>
                <a:lnTo>
                  <a:pt x="761899" y="0"/>
                </a:lnTo>
              </a:path>
            </a:pathLst>
          </a:custGeom>
          <a:ln w="15875" cap="flat">
            <a:solidFill>
              <a:schemeClr val="tx2">
                <a:lumMod val="60000"/>
                <a:lumOff val="40000"/>
              </a:schemeClr>
            </a:solidFill>
            <a:prstDash val="dash"/>
            <a:miter/>
          </a:ln>
        </p:spPr>
        <p:txBody>
          <a:bodyPr rot="0" spcFirstLastPara="0" vertOverflow="overflow" horzOverflow="overflow" vert="horz" wrap="square" lIns="91440" tIns="45720" rIns="91440" bIns="45720" numCol="1" spcCol="0" rtlCol="0" fromWordArt="0" anchor="ctr" anchorCtr="0" forceAA="0" compatLnSpc="1">
            <a:noAutofit/>
          </a:bodyP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56" name="©天蝎PPT43"/>
          <p:cNvSpPr/>
          <p:nvPr>
            <p:custDataLst>
              <p:tags r:id="rId30"/>
            </p:custDataLst>
          </p:nvPr>
        </p:nvSpPr>
        <p:spPr>
          <a:xfrm>
            <a:off x="8623184" y="1424619"/>
            <a:ext cx="351344" cy="628261"/>
          </a:xfrm>
          <a:custGeom>
            <a:avLst/>
            <a:gdLst>
              <a:gd name="connsiteX0" fmla="*/ 351344 w 351344"/>
              <a:gd name="connsiteY0" fmla="*/ 20627 h 628261"/>
              <a:gd name="connsiteX1" fmla="*/ 351344 w 351344"/>
              <a:gd name="connsiteY1" fmla="*/ 607654 h 628261"/>
              <a:gd name="connsiteX2" fmla="*/ 315308 w 351344"/>
              <a:gd name="connsiteY2" fmla="*/ 622197 h 628261"/>
              <a:gd name="connsiteX3" fmla="*/ 7500 w 351344"/>
              <a:gd name="connsiteY3" fmla="*/ 322446 h 628261"/>
              <a:gd name="connsiteX4" fmla="*/ 8101 w 351344"/>
              <a:gd name="connsiteY4" fmla="*/ 286553 h 628261"/>
              <a:gd name="connsiteX5" fmla="*/ 315776 w 351344"/>
              <a:gd name="connsiteY5" fmla="*/ 5616 h 628261"/>
              <a:gd name="connsiteX6" fmla="*/ 351344 w 351344"/>
              <a:gd name="connsiteY6" fmla="*/ 20627 h 62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1344" h="628261">
                <a:moveTo>
                  <a:pt x="351344" y="20627"/>
                </a:moveTo>
                <a:lnTo>
                  <a:pt x="351344" y="607654"/>
                </a:lnTo>
                <a:cubicBezTo>
                  <a:pt x="351344" y="626000"/>
                  <a:pt x="328613" y="635140"/>
                  <a:pt x="315308" y="622197"/>
                </a:cubicBezTo>
                <a:lnTo>
                  <a:pt x="7500" y="322446"/>
                </a:lnTo>
                <a:cubicBezTo>
                  <a:pt x="-2729" y="312439"/>
                  <a:pt x="-2462" y="296227"/>
                  <a:pt x="8101" y="286553"/>
                </a:cubicBezTo>
                <a:lnTo>
                  <a:pt x="315776" y="5616"/>
                </a:lnTo>
                <a:cubicBezTo>
                  <a:pt x="329281" y="-6726"/>
                  <a:pt x="351344" y="2614"/>
                  <a:pt x="351344" y="20627"/>
                </a:cubicBezTo>
                <a:close/>
              </a:path>
            </a:pathLst>
          </a:custGeom>
          <a:solidFill>
            <a:schemeClr val="accent1"/>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57" name="©天蝎PPT44"/>
          <p:cNvSpPr/>
          <p:nvPr>
            <p:custDataLst>
              <p:tags r:id="rId31"/>
            </p:custDataLst>
          </p:nvPr>
        </p:nvSpPr>
        <p:spPr>
          <a:xfrm>
            <a:off x="3180256" y="3686415"/>
            <a:ext cx="351343" cy="628261"/>
          </a:xfrm>
          <a:custGeom>
            <a:avLst/>
            <a:gdLst>
              <a:gd name="connsiteX0" fmla="*/ 0 w 351343"/>
              <a:gd name="connsiteY0" fmla="*/ 607635 h 628261"/>
              <a:gd name="connsiteX1" fmla="*/ 0 w 351343"/>
              <a:gd name="connsiteY1" fmla="*/ 20608 h 628261"/>
              <a:gd name="connsiteX2" fmla="*/ 36036 w 351343"/>
              <a:gd name="connsiteY2" fmla="*/ 6064 h 628261"/>
              <a:gd name="connsiteX3" fmla="*/ 343844 w 351343"/>
              <a:gd name="connsiteY3" fmla="*/ 305815 h 628261"/>
              <a:gd name="connsiteX4" fmla="*/ 343242 w 351343"/>
              <a:gd name="connsiteY4" fmla="*/ 341708 h 628261"/>
              <a:gd name="connsiteX5" fmla="*/ 35568 w 351343"/>
              <a:gd name="connsiteY5" fmla="*/ 622646 h 628261"/>
              <a:gd name="connsiteX6" fmla="*/ 0 w 351343"/>
              <a:gd name="connsiteY6" fmla="*/ 607635 h 62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1343" h="628261">
                <a:moveTo>
                  <a:pt x="0" y="607635"/>
                </a:moveTo>
                <a:lnTo>
                  <a:pt x="0" y="20608"/>
                </a:lnTo>
                <a:cubicBezTo>
                  <a:pt x="0" y="2261"/>
                  <a:pt x="22731" y="-6879"/>
                  <a:pt x="36036" y="6064"/>
                </a:cubicBezTo>
                <a:lnTo>
                  <a:pt x="343844" y="305815"/>
                </a:lnTo>
                <a:cubicBezTo>
                  <a:pt x="354073" y="315822"/>
                  <a:pt x="353806" y="332034"/>
                  <a:pt x="343242" y="341708"/>
                </a:cubicBezTo>
                <a:lnTo>
                  <a:pt x="35568" y="622646"/>
                </a:lnTo>
                <a:cubicBezTo>
                  <a:pt x="22063" y="634988"/>
                  <a:pt x="0" y="625648"/>
                  <a:pt x="0" y="607635"/>
                </a:cubicBezTo>
                <a:close/>
              </a:path>
            </a:pathLst>
          </a:custGeom>
          <a:solidFill>
            <a:schemeClr val="accent5"/>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58" name="©天蝎PPT45"/>
          <p:cNvSpPr/>
          <p:nvPr>
            <p:custDataLst>
              <p:tags r:id="rId32"/>
            </p:custDataLst>
          </p:nvPr>
        </p:nvSpPr>
        <p:spPr>
          <a:xfrm>
            <a:off x="2620855" y="2788678"/>
            <a:ext cx="94665" cy="169277"/>
          </a:xfrm>
          <a:custGeom>
            <a:avLst/>
            <a:gdLst>
              <a:gd name="connsiteX0" fmla="*/ 0 w 351343"/>
              <a:gd name="connsiteY0" fmla="*/ 607635 h 628261"/>
              <a:gd name="connsiteX1" fmla="*/ 0 w 351343"/>
              <a:gd name="connsiteY1" fmla="*/ 20608 h 628261"/>
              <a:gd name="connsiteX2" fmla="*/ 36036 w 351343"/>
              <a:gd name="connsiteY2" fmla="*/ 6064 h 628261"/>
              <a:gd name="connsiteX3" fmla="*/ 343844 w 351343"/>
              <a:gd name="connsiteY3" fmla="*/ 305815 h 628261"/>
              <a:gd name="connsiteX4" fmla="*/ 343242 w 351343"/>
              <a:gd name="connsiteY4" fmla="*/ 341708 h 628261"/>
              <a:gd name="connsiteX5" fmla="*/ 35568 w 351343"/>
              <a:gd name="connsiteY5" fmla="*/ 622646 h 628261"/>
              <a:gd name="connsiteX6" fmla="*/ 0 w 351343"/>
              <a:gd name="connsiteY6" fmla="*/ 607635 h 62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1343" h="628261">
                <a:moveTo>
                  <a:pt x="0" y="607635"/>
                </a:moveTo>
                <a:lnTo>
                  <a:pt x="0" y="20608"/>
                </a:lnTo>
                <a:cubicBezTo>
                  <a:pt x="0" y="2261"/>
                  <a:pt x="22731" y="-6879"/>
                  <a:pt x="36036" y="6064"/>
                </a:cubicBezTo>
                <a:lnTo>
                  <a:pt x="343844" y="305815"/>
                </a:lnTo>
                <a:cubicBezTo>
                  <a:pt x="354073" y="315822"/>
                  <a:pt x="353806" y="332034"/>
                  <a:pt x="343242" y="341708"/>
                </a:cubicBezTo>
                <a:lnTo>
                  <a:pt x="35568" y="622646"/>
                </a:lnTo>
                <a:cubicBezTo>
                  <a:pt x="22063" y="634988"/>
                  <a:pt x="0" y="625648"/>
                  <a:pt x="0" y="607635"/>
                </a:cubicBezTo>
                <a:close/>
              </a:path>
            </a:pathLst>
          </a:custGeom>
          <a:solidFill>
            <a:schemeClr val="tx2">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4" name="©天蝎PPT51"/>
          <p:cNvSpPr/>
          <p:nvPr>
            <p:custDataLst>
              <p:tags r:id="rId33"/>
            </p:custDataLst>
          </p:nvPr>
        </p:nvSpPr>
        <p:spPr>
          <a:xfrm>
            <a:off x="4849751" y="2788678"/>
            <a:ext cx="94665" cy="169277"/>
          </a:xfrm>
          <a:custGeom>
            <a:avLst/>
            <a:gdLst>
              <a:gd name="connsiteX0" fmla="*/ 0 w 351343"/>
              <a:gd name="connsiteY0" fmla="*/ 607635 h 628261"/>
              <a:gd name="connsiteX1" fmla="*/ 0 w 351343"/>
              <a:gd name="connsiteY1" fmla="*/ 20608 h 628261"/>
              <a:gd name="connsiteX2" fmla="*/ 36036 w 351343"/>
              <a:gd name="connsiteY2" fmla="*/ 6064 h 628261"/>
              <a:gd name="connsiteX3" fmla="*/ 343844 w 351343"/>
              <a:gd name="connsiteY3" fmla="*/ 305815 h 628261"/>
              <a:gd name="connsiteX4" fmla="*/ 343242 w 351343"/>
              <a:gd name="connsiteY4" fmla="*/ 341708 h 628261"/>
              <a:gd name="connsiteX5" fmla="*/ 35568 w 351343"/>
              <a:gd name="connsiteY5" fmla="*/ 622646 h 628261"/>
              <a:gd name="connsiteX6" fmla="*/ 0 w 351343"/>
              <a:gd name="connsiteY6" fmla="*/ 607635 h 62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1343" h="628261">
                <a:moveTo>
                  <a:pt x="0" y="607635"/>
                </a:moveTo>
                <a:lnTo>
                  <a:pt x="0" y="20608"/>
                </a:lnTo>
                <a:cubicBezTo>
                  <a:pt x="0" y="2261"/>
                  <a:pt x="22731" y="-6879"/>
                  <a:pt x="36036" y="6064"/>
                </a:cubicBezTo>
                <a:lnTo>
                  <a:pt x="343844" y="305815"/>
                </a:lnTo>
                <a:cubicBezTo>
                  <a:pt x="354073" y="315822"/>
                  <a:pt x="353806" y="332034"/>
                  <a:pt x="343242" y="341708"/>
                </a:cubicBezTo>
                <a:lnTo>
                  <a:pt x="35568" y="622646"/>
                </a:lnTo>
                <a:cubicBezTo>
                  <a:pt x="22063" y="634988"/>
                  <a:pt x="0" y="625648"/>
                  <a:pt x="0" y="607635"/>
                </a:cubicBezTo>
                <a:close/>
              </a:path>
            </a:pathLst>
          </a:custGeom>
          <a:solidFill>
            <a:schemeClr val="tx2">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5" name="©天蝎PPT52"/>
          <p:cNvSpPr/>
          <p:nvPr>
            <p:custDataLst>
              <p:tags r:id="rId34"/>
            </p:custDataLst>
          </p:nvPr>
        </p:nvSpPr>
        <p:spPr>
          <a:xfrm>
            <a:off x="7092503" y="2788678"/>
            <a:ext cx="94665" cy="169277"/>
          </a:xfrm>
          <a:custGeom>
            <a:avLst/>
            <a:gdLst>
              <a:gd name="connsiteX0" fmla="*/ 0 w 351343"/>
              <a:gd name="connsiteY0" fmla="*/ 607635 h 628261"/>
              <a:gd name="connsiteX1" fmla="*/ 0 w 351343"/>
              <a:gd name="connsiteY1" fmla="*/ 20608 h 628261"/>
              <a:gd name="connsiteX2" fmla="*/ 36036 w 351343"/>
              <a:gd name="connsiteY2" fmla="*/ 6064 h 628261"/>
              <a:gd name="connsiteX3" fmla="*/ 343844 w 351343"/>
              <a:gd name="connsiteY3" fmla="*/ 305815 h 628261"/>
              <a:gd name="connsiteX4" fmla="*/ 343242 w 351343"/>
              <a:gd name="connsiteY4" fmla="*/ 341708 h 628261"/>
              <a:gd name="connsiteX5" fmla="*/ 35568 w 351343"/>
              <a:gd name="connsiteY5" fmla="*/ 622646 h 628261"/>
              <a:gd name="connsiteX6" fmla="*/ 0 w 351343"/>
              <a:gd name="connsiteY6" fmla="*/ 607635 h 62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1343" h="628261">
                <a:moveTo>
                  <a:pt x="0" y="607635"/>
                </a:moveTo>
                <a:lnTo>
                  <a:pt x="0" y="20608"/>
                </a:lnTo>
                <a:cubicBezTo>
                  <a:pt x="0" y="2261"/>
                  <a:pt x="22731" y="-6879"/>
                  <a:pt x="36036" y="6064"/>
                </a:cubicBezTo>
                <a:lnTo>
                  <a:pt x="343844" y="305815"/>
                </a:lnTo>
                <a:cubicBezTo>
                  <a:pt x="354073" y="315822"/>
                  <a:pt x="353806" y="332034"/>
                  <a:pt x="343242" y="341708"/>
                </a:cubicBezTo>
                <a:lnTo>
                  <a:pt x="35568" y="622646"/>
                </a:lnTo>
                <a:cubicBezTo>
                  <a:pt x="22063" y="634988"/>
                  <a:pt x="0" y="625648"/>
                  <a:pt x="0" y="607635"/>
                </a:cubicBezTo>
                <a:close/>
              </a:path>
            </a:pathLst>
          </a:custGeom>
          <a:solidFill>
            <a:schemeClr val="tx2">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6" name="©天蝎PPT53"/>
          <p:cNvSpPr/>
          <p:nvPr>
            <p:custDataLst>
              <p:tags r:id="rId35"/>
            </p:custDataLst>
          </p:nvPr>
        </p:nvSpPr>
        <p:spPr>
          <a:xfrm>
            <a:off x="9341432" y="2788678"/>
            <a:ext cx="94665" cy="169277"/>
          </a:xfrm>
          <a:custGeom>
            <a:avLst/>
            <a:gdLst>
              <a:gd name="connsiteX0" fmla="*/ 0 w 351343"/>
              <a:gd name="connsiteY0" fmla="*/ 607635 h 628261"/>
              <a:gd name="connsiteX1" fmla="*/ 0 w 351343"/>
              <a:gd name="connsiteY1" fmla="*/ 20608 h 628261"/>
              <a:gd name="connsiteX2" fmla="*/ 36036 w 351343"/>
              <a:gd name="connsiteY2" fmla="*/ 6064 h 628261"/>
              <a:gd name="connsiteX3" fmla="*/ 343844 w 351343"/>
              <a:gd name="connsiteY3" fmla="*/ 305815 h 628261"/>
              <a:gd name="connsiteX4" fmla="*/ 343242 w 351343"/>
              <a:gd name="connsiteY4" fmla="*/ 341708 h 628261"/>
              <a:gd name="connsiteX5" fmla="*/ 35568 w 351343"/>
              <a:gd name="connsiteY5" fmla="*/ 622646 h 628261"/>
              <a:gd name="connsiteX6" fmla="*/ 0 w 351343"/>
              <a:gd name="connsiteY6" fmla="*/ 607635 h 62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51343" h="628261">
                <a:moveTo>
                  <a:pt x="0" y="607635"/>
                </a:moveTo>
                <a:lnTo>
                  <a:pt x="0" y="20608"/>
                </a:lnTo>
                <a:cubicBezTo>
                  <a:pt x="0" y="2261"/>
                  <a:pt x="22731" y="-6879"/>
                  <a:pt x="36036" y="6064"/>
                </a:cubicBezTo>
                <a:lnTo>
                  <a:pt x="343844" y="305815"/>
                </a:lnTo>
                <a:cubicBezTo>
                  <a:pt x="354073" y="315822"/>
                  <a:pt x="353806" y="332034"/>
                  <a:pt x="343242" y="341708"/>
                </a:cubicBezTo>
                <a:lnTo>
                  <a:pt x="35568" y="622646"/>
                </a:lnTo>
                <a:cubicBezTo>
                  <a:pt x="22063" y="634988"/>
                  <a:pt x="0" y="625648"/>
                  <a:pt x="0" y="607635"/>
                </a:cubicBezTo>
                <a:close/>
              </a:path>
            </a:pathLst>
          </a:custGeom>
          <a:solidFill>
            <a:schemeClr val="tx2">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7" name="©天蝎PPT54"/>
          <p:cNvSpPr txBox="1"/>
          <p:nvPr>
            <p:custDataLst>
              <p:tags r:id="rId36"/>
            </p:custDataLst>
          </p:nvPr>
        </p:nvSpPr>
        <p:spPr>
          <a:xfrm>
            <a:off x="860442" y="4649235"/>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供应商地位</a:t>
            </a:r>
            <a:endParaRPr kumimoji="0" lang="zh-CN" altLang="en-US" b="1"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8" name="©天蝎PPT55"/>
          <p:cNvSpPr txBox="1"/>
          <p:nvPr>
            <p:custDataLst>
              <p:tags r:id="rId37"/>
            </p:custDataLst>
          </p:nvPr>
        </p:nvSpPr>
        <p:spPr>
          <a:xfrm>
            <a:off x="568489" y="5041609"/>
            <a:ext cx="1930324" cy="967957"/>
          </a:xfrm>
          <a:prstGeom prst="rect">
            <a:avLst/>
          </a:prstGeom>
          <a:noFill/>
        </p:spPr>
        <p:txBody>
          <a:bodyPr wrap="square" rtlCol="0">
            <a:spAutoFit/>
          </a:bodyPr>
          <a:lstStyle>
            <a:defPPr>
              <a:defRPr lang="zh-CN"/>
            </a:defPPr>
            <a:lvl1pPr algn="ctr">
              <a:lnSpc>
                <a:spcPct val="120000"/>
              </a:lnSpc>
              <a:defRPr sz="1200">
                <a:solidFill>
                  <a:schemeClr val="accent6"/>
                </a:solidFill>
                <a:effectLst/>
                <a:latin typeface="OPPOSans M" panose="00020600040101010101" pitchFamily="18" charset="-122"/>
                <a:ea typeface="OPPOSans M" panose="00020600040101010101" pitchFamily="18" charset="-122"/>
                <a:cs typeface="OPPOSans M" panose="00020600040101010101" pitchFamily="18" charset="-122"/>
              </a:defRPr>
            </a:lvl1pPr>
          </a:lstStyle>
          <a:p>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供方通过提高投入价格与降低单位价值质量的能力，来影响行业中现有企业盈利能力与产品竞争力</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69" name="©天蝎PPT56"/>
          <p:cNvSpPr txBox="1"/>
          <p:nvPr>
            <p:custDataLst>
              <p:tags r:id="rId38"/>
            </p:custDataLst>
          </p:nvPr>
        </p:nvSpPr>
        <p:spPr>
          <a:xfrm>
            <a:off x="3178726" y="4649235"/>
            <a:ext cx="110799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客户地位</a:t>
            </a:r>
            <a:endParaRPr kumimoji="0" lang="zh-CN" altLang="en-US" b="1"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70" name="©天蝎PPT57"/>
          <p:cNvSpPr txBox="1"/>
          <p:nvPr>
            <p:custDataLst>
              <p:tags r:id="rId39"/>
            </p:custDataLst>
          </p:nvPr>
        </p:nvSpPr>
        <p:spPr>
          <a:xfrm>
            <a:off x="2747298" y="5029577"/>
            <a:ext cx="1930324" cy="968022"/>
          </a:xfrm>
          <a:prstGeom prst="rect">
            <a:avLst/>
          </a:prstGeom>
          <a:noFill/>
        </p:spPr>
        <p:txBody>
          <a:bodyPr wrap="square" rtlCol="0">
            <a:spAutoFit/>
          </a:bodyPr>
          <a:lstStyle>
            <a:defPPr>
              <a:defRPr lang="zh-CN"/>
            </a:defPPr>
            <a:lvl1pPr algn="ctr">
              <a:lnSpc>
                <a:spcPct val="120000"/>
              </a:lnSpc>
              <a:defRPr sz="1200">
                <a:solidFill>
                  <a:schemeClr val="accent6"/>
                </a:solidFill>
                <a:effectLst/>
                <a:latin typeface="OPPOSans M" panose="00020600040101010101" pitchFamily="18" charset="-122"/>
                <a:ea typeface="OPPOSans M" panose="00020600040101010101" pitchFamily="18" charset="-122"/>
                <a:cs typeface="OPPOSans M" panose="00020600040101010101" pitchFamily="18" charset="-122"/>
              </a:defRPr>
            </a:lvl1pPr>
          </a:lstStyle>
          <a:p>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购买者主要通过压价与要求提供较高的产品或服务质量来影响行业中现有企业的盈利能力</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71" name="©天蝎PPT58"/>
          <p:cNvSpPr txBox="1"/>
          <p:nvPr>
            <p:custDataLst>
              <p:tags r:id="rId40"/>
            </p:custDataLst>
          </p:nvPr>
        </p:nvSpPr>
        <p:spPr>
          <a:xfrm>
            <a:off x="5437017" y="4649235"/>
            <a:ext cx="110799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行业地位</a:t>
            </a:r>
            <a:endParaRPr kumimoji="0" lang="zh-CN" altLang="en-US" b="1"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72" name="©天蝎PPT59"/>
          <p:cNvSpPr txBox="1"/>
          <p:nvPr>
            <p:custDataLst>
              <p:tags r:id="rId41"/>
            </p:custDataLst>
          </p:nvPr>
        </p:nvSpPr>
        <p:spPr>
          <a:xfrm>
            <a:off x="5005589" y="5017545"/>
            <a:ext cx="1930324" cy="967957"/>
          </a:xfrm>
          <a:prstGeom prst="rect">
            <a:avLst/>
          </a:prstGeom>
          <a:noFill/>
        </p:spPr>
        <p:txBody>
          <a:bodyPr wrap="square" rtlCol="0">
            <a:spAutoFit/>
          </a:bodyPr>
          <a:lstStyle>
            <a:defPPr>
              <a:defRPr lang="zh-CN"/>
            </a:defPPr>
            <a:lvl1pPr algn="ctr">
              <a:lnSpc>
                <a:spcPct val="120000"/>
              </a:lnSpc>
              <a:defRPr sz="1200">
                <a:solidFill>
                  <a:schemeClr val="accent6"/>
                </a:solidFill>
                <a:effectLst/>
                <a:latin typeface="OPPOSans M" panose="00020600040101010101" pitchFamily="18" charset="-122"/>
                <a:ea typeface="OPPOSans M" panose="00020600040101010101" pitchFamily="18" charset="-122"/>
                <a:cs typeface="OPPOSans M" panose="00020600040101010101" pitchFamily="18" charset="-122"/>
              </a:defRPr>
            </a:lvl1pPr>
          </a:lstStyle>
          <a:p>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进入障碍低，退出障碍高竞争对手多，市场趋于成熟</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竞争常表现在价格、厂服务等方面</a:t>
            </a:r>
            <a:r>
              <a:rPr lang="en-US" altLang="zh-CN"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a:t>
            </a:r>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告、产品介绍</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73" name="©天蝎PPT60"/>
          <p:cNvSpPr txBox="1"/>
          <p:nvPr>
            <p:custDataLst>
              <p:tags r:id="rId42"/>
            </p:custDataLst>
          </p:nvPr>
        </p:nvSpPr>
        <p:spPr>
          <a:xfrm>
            <a:off x="7750726" y="4649235"/>
            <a:ext cx="110799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替代威胁</a:t>
            </a:r>
            <a:endParaRPr kumimoji="0" lang="zh-CN" altLang="en-US" b="1"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74" name="©天蝎PPT61"/>
          <p:cNvSpPr txBox="1"/>
          <p:nvPr>
            <p:custDataLst>
              <p:tags r:id="rId43"/>
            </p:custDataLst>
          </p:nvPr>
        </p:nvSpPr>
        <p:spPr>
          <a:xfrm>
            <a:off x="7319298" y="5041609"/>
            <a:ext cx="2022134" cy="746423"/>
          </a:xfrm>
          <a:prstGeom prst="rect">
            <a:avLst/>
          </a:prstGeom>
          <a:noFill/>
        </p:spPr>
        <p:txBody>
          <a:bodyPr wrap="square" rtlCol="0">
            <a:spAutoFit/>
          </a:bodyPr>
          <a:lstStyle>
            <a:defPPr>
              <a:defRPr lang="zh-CN"/>
            </a:defPPr>
            <a:lvl1pPr algn="ctr">
              <a:lnSpc>
                <a:spcPct val="120000"/>
              </a:lnSpc>
              <a:defRPr sz="1200">
                <a:solidFill>
                  <a:schemeClr val="accent6"/>
                </a:solidFill>
                <a:effectLst/>
                <a:latin typeface="OPPOSans M" panose="00020600040101010101" pitchFamily="18" charset="-122"/>
                <a:ea typeface="OPPOSans M" panose="00020600040101010101" pitchFamily="18" charset="-122"/>
                <a:cs typeface="OPPOSans M" panose="00020600040101010101" pitchFamily="18" charset="-122"/>
              </a:defRPr>
            </a:lvl1pPr>
          </a:lstStyle>
          <a:p>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替代品价格越低、质量越好、用户转换成本越低，其所能产生的竞争压力就强</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75" name="©天蝎PPT62"/>
          <p:cNvSpPr txBox="1"/>
          <p:nvPr>
            <p:custDataLst>
              <p:tags r:id="rId44"/>
            </p:custDataLst>
          </p:nvPr>
        </p:nvSpPr>
        <p:spPr>
          <a:xfrm>
            <a:off x="10009020" y="4649235"/>
            <a:ext cx="1107996"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b="1" dirty="0">
                <a:solidFill>
                  <a:schemeClr val="accent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进入障碍</a:t>
            </a:r>
            <a:endParaRPr kumimoji="0" lang="zh-CN" altLang="en-US" b="1"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76" name="©天蝎PPT63"/>
          <p:cNvSpPr txBox="1"/>
          <p:nvPr>
            <p:custDataLst>
              <p:tags r:id="rId45"/>
            </p:custDataLst>
          </p:nvPr>
        </p:nvSpPr>
        <p:spPr>
          <a:xfrm>
            <a:off x="9577589" y="5041609"/>
            <a:ext cx="1930324" cy="1189556"/>
          </a:xfrm>
          <a:prstGeom prst="rect">
            <a:avLst/>
          </a:prstGeom>
          <a:noFill/>
        </p:spPr>
        <p:txBody>
          <a:bodyPr wrap="square" rtlCol="0">
            <a:spAutoFit/>
          </a:bodyPr>
          <a:lstStyle>
            <a:defPPr>
              <a:defRPr lang="zh-CN"/>
            </a:defPPr>
            <a:lvl1pPr algn="ctr">
              <a:lnSpc>
                <a:spcPct val="120000"/>
              </a:lnSpc>
              <a:defRPr sz="1200">
                <a:solidFill>
                  <a:schemeClr val="accent6"/>
                </a:solidFill>
                <a:effectLst/>
                <a:latin typeface="OPPOSans M" panose="00020600040101010101" pitchFamily="18" charset="-122"/>
                <a:ea typeface="OPPOSans M" panose="00020600040101010101" pitchFamily="18" charset="-122"/>
                <a:cs typeface="OPPOSans M" panose="00020600040101010101" pitchFamily="18" charset="-122"/>
              </a:defRPr>
            </a:lvl1pPr>
          </a:lstStyle>
          <a:p>
            <a:r>
              <a:rPr lang="zh-CN" altLang="en-US"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新进入者在给行业带来新的生产力，导致与现有企业发生市场份额竞争，最终使行业中现有企业盈利水平降低</a:t>
            </a:r>
            <a:endParaRPr lang="zh-CN" altLang="en-US"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pic>
        <p:nvPicPr>
          <p:cNvPr id="180" name="©天蝎PPT67"/>
          <p:cNvPicPr>
            <a:picLocks noChangeAspect="1"/>
          </p:cNvPicPr>
          <p:nvPr>
            <p:custDataLst>
              <p:tags r:id="rId46"/>
            </p:custDataLst>
          </p:nvPr>
        </p:nvPicPr>
        <p:blipFill>
          <a:blip r:embed="rId47" cstate="email">
            <a:extLst>
              <a:ext uri="{96DAC541-7B7A-43D3-8B79-37D633B846F1}">
                <asvg:svgBlip xmlns:asvg="http://schemas.microsoft.com/office/drawing/2016/SVG/main" r:embed="rId48"/>
              </a:ext>
            </a:extLst>
          </a:blip>
          <a:stretch>
            <a:fillRect/>
          </a:stretch>
        </p:blipFill>
        <p:spPr>
          <a:xfrm>
            <a:off x="8040763" y="2471374"/>
            <a:ext cx="396787" cy="396787"/>
          </a:xfrm>
          <a:prstGeom prst="rect">
            <a:avLst/>
          </a:prstGeom>
        </p:spPr>
      </p:pic>
      <p:sp>
        <p:nvSpPr>
          <p:cNvPr id="7" name="©天蝎PPT38"/>
          <p:cNvSpPr/>
          <p:nvPr>
            <p:custDataLst>
              <p:tags r:id="rId49"/>
            </p:custDataLst>
          </p:nvPr>
        </p:nvSpPr>
        <p:spPr>
          <a:xfrm flipH="1" flipV="1">
            <a:off x="296468" y="1639720"/>
            <a:ext cx="4475455" cy="2467393"/>
          </a:xfrm>
          <a:custGeom>
            <a:avLst/>
            <a:gdLst>
              <a:gd name="connsiteX0" fmla="*/ 3239141 w 4475455"/>
              <a:gd name="connsiteY0" fmla="*/ 2467261 h 2467393"/>
              <a:gd name="connsiteX1" fmla="*/ 106703 w 4475455"/>
              <a:gd name="connsiteY1" fmla="*/ 2467261 h 2467393"/>
              <a:gd name="connsiteX2" fmla="*/ 0 w 4475455"/>
              <a:gd name="connsiteY2" fmla="*/ 2360783 h 2467393"/>
              <a:gd name="connsiteX3" fmla="*/ 106703 w 4475455"/>
              <a:gd name="connsiteY3" fmla="*/ 2254306 h 2467393"/>
              <a:gd name="connsiteX4" fmla="*/ 3239141 w 4475455"/>
              <a:gd name="connsiteY4" fmla="*/ 2254306 h 2467393"/>
              <a:gd name="connsiteX5" fmla="*/ 4261982 w 4475455"/>
              <a:gd name="connsiteY5" fmla="*/ 1233630 h 2467393"/>
              <a:gd name="connsiteX6" fmla="*/ 3239141 w 4475455"/>
              <a:gd name="connsiteY6" fmla="*/ 212955 h 2467393"/>
              <a:gd name="connsiteX7" fmla="*/ 1548402 w 4475455"/>
              <a:gd name="connsiteY7" fmla="*/ 212955 h 2467393"/>
              <a:gd name="connsiteX8" fmla="*/ 1441699 w 4475455"/>
              <a:gd name="connsiteY8" fmla="*/ 106477 h 2467393"/>
              <a:gd name="connsiteX9" fmla="*/ 1548402 w 4475455"/>
              <a:gd name="connsiteY9" fmla="*/ 0 h 2467393"/>
              <a:gd name="connsiteX10" fmla="*/ 3239141 w 4475455"/>
              <a:gd name="connsiteY10" fmla="*/ 0 h 2467393"/>
              <a:gd name="connsiteX11" fmla="*/ 4475456 w 4475455"/>
              <a:gd name="connsiteY11" fmla="*/ 1233697 h 2467393"/>
              <a:gd name="connsiteX12" fmla="*/ 3239141 w 4475455"/>
              <a:gd name="connsiteY12" fmla="*/ 2467394 h 24673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475455" h="2467393">
                <a:moveTo>
                  <a:pt x="3239141" y="2467261"/>
                </a:moveTo>
                <a:lnTo>
                  <a:pt x="106703" y="2467261"/>
                </a:lnTo>
                <a:cubicBezTo>
                  <a:pt x="47736" y="2467261"/>
                  <a:pt x="0" y="2419559"/>
                  <a:pt x="0" y="2360783"/>
                </a:cubicBezTo>
                <a:cubicBezTo>
                  <a:pt x="0" y="2302007"/>
                  <a:pt x="47802" y="2254306"/>
                  <a:pt x="106703" y="2254306"/>
                </a:cubicBezTo>
                <a:lnTo>
                  <a:pt x="3239141" y="2254306"/>
                </a:lnTo>
                <a:cubicBezTo>
                  <a:pt x="3803145" y="2254306"/>
                  <a:pt x="4261982" y="1796440"/>
                  <a:pt x="4261982" y="1233630"/>
                </a:cubicBezTo>
                <a:cubicBezTo>
                  <a:pt x="4261982" y="670821"/>
                  <a:pt x="3803145" y="212955"/>
                  <a:pt x="3239141" y="212955"/>
                </a:cubicBezTo>
                <a:lnTo>
                  <a:pt x="1548402" y="212955"/>
                </a:lnTo>
                <a:cubicBezTo>
                  <a:pt x="1489434" y="212955"/>
                  <a:pt x="1441699" y="165253"/>
                  <a:pt x="1441699" y="106477"/>
                </a:cubicBezTo>
                <a:cubicBezTo>
                  <a:pt x="1441699" y="47701"/>
                  <a:pt x="1489500" y="0"/>
                  <a:pt x="1548402" y="0"/>
                </a:cubicBezTo>
                <a:lnTo>
                  <a:pt x="3239141" y="0"/>
                </a:lnTo>
                <a:cubicBezTo>
                  <a:pt x="3920812" y="0"/>
                  <a:pt x="4475456" y="553402"/>
                  <a:pt x="4475456" y="1233697"/>
                </a:cubicBezTo>
                <a:cubicBezTo>
                  <a:pt x="4475456" y="1913925"/>
                  <a:pt x="3920879" y="2467394"/>
                  <a:pt x="3239141" y="2467394"/>
                </a:cubicBezTo>
                <a:close/>
              </a:path>
            </a:pathLst>
          </a:custGeom>
          <a:gradFill>
            <a:gsLst>
              <a:gs pos="0">
                <a:schemeClr val="accent5">
                  <a:lumMod val="60000"/>
                  <a:lumOff val="40000"/>
                </a:schemeClr>
              </a:gs>
              <a:gs pos="100000">
                <a:schemeClr val="accent5"/>
              </a:gs>
            </a:gsLst>
            <a:lin ang="16200000" scaled="0"/>
          </a:gradFill>
          <a:ln>
            <a:noFill/>
          </a:ln>
          <a:effectLst>
            <a:outerShdw blurRad="127000" dist="38100" dir="2700000" sx="102000" sy="102000" algn="tl" rotWithShape="0">
              <a:schemeClr val="accent5">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lang="zh-CN" altLang="en-US">
              <a:solidFill>
                <a:schemeClr val="tx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nvGrpSpPr>
          <p:cNvPr id="22" name="组合 21"/>
          <p:cNvGrpSpPr/>
          <p:nvPr>
            <p:custDataLst>
              <p:tags r:id="rId50"/>
            </p:custDataLst>
          </p:nvPr>
        </p:nvGrpSpPr>
        <p:grpSpPr>
          <a:xfrm>
            <a:off x="7335520" y="2061210"/>
            <a:ext cx="1653540" cy="1651000"/>
            <a:chOff x="11216" y="-309"/>
            <a:chExt cx="2604" cy="2600"/>
          </a:xfrm>
        </p:grpSpPr>
        <p:grpSp>
          <p:nvGrpSpPr>
            <p:cNvPr id="15" name="©天蝎PPT12"/>
            <p:cNvGrpSpPr/>
            <p:nvPr>
              <p:custDataLst>
                <p:tags r:id="rId51"/>
              </p:custDataLst>
            </p:nvPr>
          </p:nvGrpSpPr>
          <p:grpSpPr>
            <a:xfrm rot="0">
              <a:off x="11216" y="-309"/>
              <a:ext cx="2605" cy="2600"/>
              <a:chOff x="2962905" y="1834412"/>
              <a:chExt cx="1653901" cy="1650800"/>
            </a:xfrm>
          </p:grpSpPr>
          <p:sp>
            <p:nvSpPr>
              <p:cNvPr id="16" name="©天蝎PPT12-1"/>
              <p:cNvSpPr/>
              <p:nvPr>
                <p:custDataLst>
                  <p:tags r:id="rId52"/>
                </p:custDataLst>
              </p:nvPr>
            </p:nvSpPr>
            <p:spPr>
              <a:xfrm>
                <a:off x="2963574" y="1834412"/>
                <a:ext cx="1652564" cy="788373"/>
              </a:xfrm>
              <a:custGeom>
                <a:avLst/>
                <a:gdLst>
                  <a:gd name="connsiteX0" fmla="*/ 1652565 w 1652564"/>
                  <a:gd name="connsiteY0" fmla="*/ 788373 h 788373"/>
                  <a:gd name="connsiteX1" fmla="*/ 826282 w 1652564"/>
                  <a:gd name="connsiteY1" fmla="*/ 0 h 788373"/>
                  <a:gd name="connsiteX2" fmla="*/ 0 w 1652564"/>
                  <a:gd name="connsiteY2" fmla="*/ 788373 h 788373"/>
                  <a:gd name="connsiteX3" fmla="*/ 1652565 w 1652564"/>
                  <a:gd name="connsiteY3" fmla="*/ 788373 h 788373"/>
                </a:gdLst>
                <a:ahLst/>
                <a:cxnLst>
                  <a:cxn ang="0">
                    <a:pos x="connsiteX0" y="connsiteY0"/>
                  </a:cxn>
                  <a:cxn ang="0">
                    <a:pos x="connsiteX1" y="connsiteY1"/>
                  </a:cxn>
                  <a:cxn ang="0">
                    <a:pos x="connsiteX2" y="connsiteY2"/>
                  </a:cxn>
                  <a:cxn ang="0">
                    <a:pos x="connsiteX3" y="connsiteY3"/>
                  </a:cxn>
                </a:cxnLst>
                <a:rect l="l" t="t" r="r" b="b"/>
                <a:pathLst>
                  <a:path w="1652564" h="788373">
                    <a:moveTo>
                      <a:pt x="1652565" y="788373"/>
                    </a:moveTo>
                    <a:cubicBezTo>
                      <a:pt x="1633176" y="349721"/>
                      <a:pt x="1270679" y="0"/>
                      <a:pt x="826282" y="0"/>
                    </a:cubicBezTo>
                    <a:cubicBezTo>
                      <a:pt x="381886" y="0"/>
                      <a:pt x="19388" y="349721"/>
                      <a:pt x="0" y="788373"/>
                    </a:cubicBezTo>
                    <a:lnTo>
                      <a:pt x="1652565" y="788373"/>
                    </a:lnTo>
                    <a:close/>
                  </a:path>
                </a:pathLst>
              </a:custGeom>
              <a:solidFill>
                <a:schemeClr val="accent1">
                  <a:lumMod val="60000"/>
                  <a:lumOff val="40000"/>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7" name="©天蝎PPT12-2"/>
              <p:cNvSpPr/>
              <p:nvPr>
                <p:custDataLst>
                  <p:tags r:id="rId53"/>
                </p:custDataLst>
              </p:nvPr>
            </p:nvSpPr>
            <p:spPr>
              <a:xfrm>
                <a:off x="2962905" y="2676357"/>
                <a:ext cx="1653901" cy="808854"/>
              </a:xfrm>
              <a:custGeom>
                <a:avLst/>
                <a:gdLst>
                  <a:gd name="connsiteX0" fmla="*/ 1653902 w 1653901"/>
                  <a:gd name="connsiteY0" fmla="*/ 0 h 808854"/>
                  <a:gd name="connsiteX1" fmla="*/ 0 w 1653901"/>
                  <a:gd name="connsiteY1" fmla="*/ 0 h 808854"/>
                  <a:gd name="connsiteX2" fmla="*/ 826951 w 1653901"/>
                  <a:gd name="connsiteY2" fmla="*/ 808855 h 808854"/>
                  <a:gd name="connsiteX3" fmla="*/ 1653902 w 1653901"/>
                  <a:gd name="connsiteY3" fmla="*/ 0 h 808854"/>
                </a:gdLst>
                <a:ahLst/>
                <a:cxnLst>
                  <a:cxn ang="0">
                    <a:pos x="connsiteX0" y="connsiteY0"/>
                  </a:cxn>
                  <a:cxn ang="0">
                    <a:pos x="connsiteX1" y="connsiteY1"/>
                  </a:cxn>
                  <a:cxn ang="0">
                    <a:pos x="connsiteX2" y="connsiteY2"/>
                  </a:cxn>
                  <a:cxn ang="0">
                    <a:pos x="connsiteX3" y="connsiteY3"/>
                  </a:cxn>
                </a:cxnLst>
                <a:rect l="l" t="t" r="r" b="b"/>
                <a:pathLst>
                  <a:path w="1653901" h="808854">
                    <a:moveTo>
                      <a:pt x="1653902" y="0"/>
                    </a:moveTo>
                    <a:lnTo>
                      <a:pt x="0" y="0"/>
                    </a:lnTo>
                    <a:cubicBezTo>
                      <a:pt x="8825" y="448193"/>
                      <a:pt x="375668" y="808855"/>
                      <a:pt x="826951" y="808855"/>
                    </a:cubicBezTo>
                    <a:cubicBezTo>
                      <a:pt x="1278234" y="808855"/>
                      <a:pt x="1645077" y="448193"/>
                      <a:pt x="1653902" y="0"/>
                    </a:cubicBezTo>
                    <a:close/>
                  </a:path>
                </a:pathLst>
              </a:custGeom>
              <a:solidFill>
                <a:schemeClr val="accent1">
                  <a:lumMod val="60000"/>
                  <a:lumOff val="40000"/>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8" name="©天蝎PPT12-3"/>
              <p:cNvSpPr/>
              <p:nvPr>
                <p:custDataLst>
                  <p:tags r:id="rId54"/>
                </p:custDataLst>
              </p:nvPr>
            </p:nvSpPr>
            <p:spPr>
              <a:xfrm>
                <a:off x="3080640" y="1952097"/>
                <a:ext cx="1418432" cy="1415429"/>
              </a:xfrm>
              <a:custGeom>
                <a:avLst/>
                <a:gdLst>
                  <a:gd name="connsiteX0" fmla="*/ 1418432 w 1418432"/>
                  <a:gd name="connsiteY0" fmla="*/ 707715 h 1415429"/>
                  <a:gd name="connsiteX1" fmla="*/ 709216 w 1418432"/>
                  <a:gd name="connsiteY1" fmla="*/ 1415429 h 1415429"/>
                  <a:gd name="connsiteX2" fmla="*/ 0 w 1418432"/>
                  <a:gd name="connsiteY2" fmla="*/ 707715 h 1415429"/>
                  <a:gd name="connsiteX3" fmla="*/ 709216 w 1418432"/>
                  <a:gd name="connsiteY3" fmla="*/ 0 h 1415429"/>
                  <a:gd name="connsiteX4" fmla="*/ 1418432 w 1418432"/>
                  <a:gd name="connsiteY4" fmla="*/ 707715 h 1415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432" h="1415429">
                    <a:moveTo>
                      <a:pt x="1418432" y="707715"/>
                    </a:moveTo>
                    <a:cubicBezTo>
                      <a:pt x="1418432" y="1098575"/>
                      <a:pt x="1100905" y="1415429"/>
                      <a:pt x="709216" y="1415429"/>
                    </a:cubicBezTo>
                    <a:cubicBezTo>
                      <a:pt x="317527" y="1415429"/>
                      <a:pt x="0" y="1098575"/>
                      <a:pt x="0" y="707715"/>
                    </a:cubicBezTo>
                    <a:cubicBezTo>
                      <a:pt x="0" y="316855"/>
                      <a:pt x="317527" y="0"/>
                      <a:pt x="709216" y="0"/>
                    </a:cubicBezTo>
                    <a:cubicBezTo>
                      <a:pt x="1100905" y="0"/>
                      <a:pt x="1418432" y="316855"/>
                      <a:pt x="1418432" y="707715"/>
                    </a:cubicBezTo>
                    <a:close/>
                  </a:path>
                </a:pathLst>
              </a:custGeom>
              <a:solidFill>
                <a:schemeClr val="accent1">
                  <a:lumMod val="60000"/>
                  <a:lumOff val="40000"/>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9" name="©天蝎PPT12-4"/>
              <p:cNvSpPr/>
              <p:nvPr>
                <p:custDataLst>
                  <p:tags r:id="rId55"/>
                </p:custDataLst>
              </p:nvPr>
            </p:nvSpPr>
            <p:spPr>
              <a:xfrm>
                <a:off x="3159865" y="2031155"/>
                <a:ext cx="1259981" cy="1257314"/>
              </a:xfrm>
              <a:custGeom>
                <a:avLst/>
                <a:gdLst>
                  <a:gd name="connsiteX0" fmla="*/ 1259982 w 1259981"/>
                  <a:gd name="connsiteY0" fmla="*/ 628657 h 1257314"/>
                  <a:gd name="connsiteX1" fmla="*/ 629991 w 1259981"/>
                  <a:gd name="connsiteY1" fmla="*/ 1257314 h 1257314"/>
                  <a:gd name="connsiteX2" fmla="*/ 0 w 1259981"/>
                  <a:gd name="connsiteY2" fmla="*/ 628657 h 1257314"/>
                  <a:gd name="connsiteX3" fmla="*/ 629991 w 1259981"/>
                  <a:gd name="connsiteY3" fmla="*/ 0 h 1257314"/>
                  <a:gd name="connsiteX4" fmla="*/ 1259982 w 1259981"/>
                  <a:gd name="connsiteY4" fmla="*/ 628657 h 1257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9981" h="1257314">
                    <a:moveTo>
                      <a:pt x="1259982" y="628657"/>
                    </a:moveTo>
                    <a:cubicBezTo>
                      <a:pt x="1259982" y="975855"/>
                      <a:pt x="977925" y="1257314"/>
                      <a:pt x="629991" y="1257314"/>
                    </a:cubicBezTo>
                    <a:cubicBezTo>
                      <a:pt x="282057" y="1257314"/>
                      <a:pt x="0" y="975855"/>
                      <a:pt x="0" y="628657"/>
                    </a:cubicBezTo>
                    <a:cubicBezTo>
                      <a:pt x="0" y="281460"/>
                      <a:pt x="282057" y="0"/>
                      <a:pt x="629991" y="0"/>
                    </a:cubicBezTo>
                    <a:cubicBezTo>
                      <a:pt x="977926" y="0"/>
                      <a:pt x="1259982" y="281460"/>
                      <a:pt x="1259982" y="628657"/>
                    </a:cubicBezTo>
                    <a:close/>
                  </a:path>
                </a:pathLst>
              </a:custGeom>
              <a:solidFill>
                <a:schemeClr val="accent1">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20" name="©天蝎PPT47"/>
            <p:cNvSpPr txBox="1"/>
            <p:nvPr>
              <p:custDataLst>
                <p:tags r:id="rId56"/>
              </p:custDataLst>
            </p:nvPr>
          </p:nvSpPr>
          <p:spPr>
            <a:xfrm>
              <a:off x="11950" y="980"/>
              <a:ext cx="1248" cy="531"/>
            </a:xfrm>
            <a:prstGeom prst="rect">
              <a:avLst/>
            </a:prstGeom>
            <a:noFill/>
          </p:spPr>
          <p:txBody>
            <a:bodyPr wrap="none" rtlCol="0">
              <a:spAutoFit/>
            </a:bodyPr>
            <a:lstStyle>
              <a:defPPr>
                <a:defRPr lang="zh-CN"/>
              </a:defPPr>
              <a:lvl1pPr>
                <a:defRPr sz="1600" b="1">
                  <a:solidFill>
                    <a:schemeClr val="bg1"/>
                  </a:solidFill>
                  <a:latin typeface="微软雅黑" panose="020B0503020204020204" charset="-122"/>
                  <a:ea typeface="微软雅黑" panose="020B0503020204020204" charset="-122"/>
                </a:defRPr>
              </a:lvl1pPr>
            </a:lstStyle>
            <a:p>
              <a:r>
                <a:rPr lang="zh-CN" altLang="en-US" dirty="0">
                  <a:cs typeface="微软雅黑" panose="020B0503020204020204" charset="-122"/>
                  <a:sym typeface="Arial" panose="020B0604020202020204" pitchFamily="34" charset="0"/>
                </a:rPr>
                <a:t>替代品</a:t>
              </a:r>
              <a:endParaRPr lang="zh-CN" altLang="en-US" dirty="0">
                <a:cs typeface="微软雅黑" panose="020B0503020204020204" charset="-122"/>
                <a:sym typeface="Arial" panose="020B0604020202020204" pitchFamily="34" charset="0"/>
              </a:endParaRPr>
            </a:p>
          </p:txBody>
        </p:sp>
        <p:pic>
          <p:nvPicPr>
            <p:cNvPr id="21" name="©天蝎PPT67"/>
            <p:cNvPicPr>
              <a:picLocks noChangeAspect="1"/>
            </p:cNvPicPr>
            <p:nvPr>
              <p:custDataLst>
                <p:tags r:id="rId57"/>
              </p:custDataLst>
            </p:nvPr>
          </p:nvPicPr>
          <p:blipFill>
            <a:blip r:embed="rId47" cstate="email">
              <a:extLst>
                <a:ext uri="{96DAC541-7B7A-43D3-8B79-37D633B846F1}">
                  <asvg:svgBlip xmlns:asvg="http://schemas.microsoft.com/office/drawing/2016/SVG/main" r:embed="rId48"/>
                </a:ext>
              </a:extLst>
            </a:blip>
            <a:stretch>
              <a:fillRect/>
            </a:stretch>
          </p:blipFill>
          <p:spPr>
            <a:xfrm>
              <a:off x="12206" y="307"/>
              <a:ext cx="625" cy="625"/>
            </a:xfrm>
            <a:prstGeom prst="rect">
              <a:avLst/>
            </a:prstGeom>
          </p:spPr>
        </p:pic>
      </p:grpSp>
      <p:grpSp>
        <p:nvGrpSpPr>
          <p:cNvPr id="32" name="©天蝎PPT2"/>
          <p:cNvGrpSpPr/>
          <p:nvPr>
            <p:custDataLst>
              <p:tags r:id="rId58"/>
            </p:custDataLst>
          </p:nvPr>
        </p:nvGrpSpPr>
        <p:grpSpPr>
          <a:xfrm rot="0">
            <a:off x="5250443" y="2060960"/>
            <a:ext cx="1653901" cy="1650799"/>
            <a:chOff x="732231" y="1834412"/>
            <a:chExt cx="1653901" cy="1650799"/>
          </a:xfrm>
        </p:grpSpPr>
        <p:sp>
          <p:nvSpPr>
            <p:cNvPr id="33" name="©天蝎PPT2-1"/>
            <p:cNvSpPr/>
            <p:nvPr>
              <p:custDataLst>
                <p:tags r:id="rId59"/>
              </p:custDataLst>
            </p:nvPr>
          </p:nvSpPr>
          <p:spPr>
            <a:xfrm>
              <a:off x="732899" y="1834412"/>
              <a:ext cx="1652564" cy="788373"/>
            </a:xfrm>
            <a:custGeom>
              <a:avLst/>
              <a:gdLst>
                <a:gd name="connsiteX0" fmla="*/ 1652564 w 1652564"/>
                <a:gd name="connsiteY0" fmla="*/ 788373 h 788373"/>
                <a:gd name="connsiteX1" fmla="*/ 826282 w 1652564"/>
                <a:gd name="connsiteY1" fmla="*/ 0 h 788373"/>
                <a:gd name="connsiteX2" fmla="*/ 0 w 1652564"/>
                <a:gd name="connsiteY2" fmla="*/ 788373 h 788373"/>
                <a:gd name="connsiteX3" fmla="*/ 1652564 w 1652564"/>
                <a:gd name="connsiteY3" fmla="*/ 788373 h 788373"/>
              </a:gdLst>
              <a:ahLst/>
              <a:cxnLst>
                <a:cxn ang="0">
                  <a:pos x="connsiteX0" y="connsiteY0"/>
                </a:cxn>
                <a:cxn ang="0">
                  <a:pos x="connsiteX1" y="connsiteY1"/>
                </a:cxn>
                <a:cxn ang="0">
                  <a:pos x="connsiteX2" y="connsiteY2"/>
                </a:cxn>
                <a:cxn ang="0">
                  <a:pos x="connsiteX3" y="connsiteY3"/>
                </a:cxn>
              </a:cxnLst>
              <a:rect l="l" t="t" r="r" b="b"/>
              <a:pathLst>
                <a:path w="1652564" h="788373">
                  <a:moveTo>
                    <a:pt x="1652564" y="788373"/>
                  </a:moveTo>
                  <a:cubicBezTo>
                    <a:pt x="1633176" y="349721"/>
                    <a:pt x="1270679" y="0"/>
                    <a:pt x="826282" y="0"/>
                  </a:cubicBezTo>
                  <a:cubicBezTo>
                    <a:pt x="381886" y="0"/>
                    <a:pt x="19388" y="349721"/>
                    <a:pt x="0" y="788373"/>
                  </a:cubicBezTo>
                  <a:lnTo>
                    <a:pt x="1652564" y="788373"/>
                  </a:lnTo>
                  <a:close/>
                </a:path>
              </a:pathLst>
            </a:custGeom>
            <a:solidFill>
              <a:schemeClr val="accent5">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4" name="©天蝎PPT2-2"/>
            <p:cNvSpPr/>
            <p:nvPr>
              <p:custDataLst>
                <p:tags r:id="rId60"/>
              </p:custDataLst>
            </p:nvPr>
          </p:nvSpPr>
          <p:spPr>
            <a:xfrm>
              <a:off x="732231" y="2676357"/>
              <a:ext cx="1653901" cy="808854"/>
            </a:xfrm>
            <a:custGeom>
              <a:avLst/>
              <a:gdLst>
                <a:gd name="connsiteX0" fmla="*/ 1653835 w 1653901"/>
                <a:gd name="connsiteY0" fmla="*/ 0 h 808854"/>
                <a:gd name="connsiteX1" fmla="*/ 0 w 1653901"/>
                <a:gd name="connsiteY1" fmla="*/ 0 h 808854"/>
                <a:gd name="connsiteX2" fmla="*/ 826951 w 1653901"/>
                <a:gd name="connsiteY2" fmla="*/ 808855 h 808854"/>
                <a:gd name="connsiteX3" fmla="*/ 1653902 w 1653901"/>
                <a:gd name="connsiteY3" fmla="*/ 0 h 808854"/>
              </a:gdLst>
              <a:ahLst/>
              <a:cxnLst>
                <a:cxn ang="0">
                  <a:pos x="connsiteX0" y="connsiteY0"/>
                </a:cxn>
                <a:cxn ang="0">
                  <a:pos x="connsiteX1" y="connsiteY1"/>
                </a:cxn>
                <a:cxn ang="0">
                  <a:pos x="connsiteX2" y="connsiteY2"/>
                </a:cxn>
                <a:cxn ang="0">
                  <a:pos x="connsiteX3" y="connsiteY3"/>
                </a:cxn>
              </a:cxnLst>
              <a:rect l="l" t="t" r="r" b="b"/>
              <a:pathLst>
                <a:path w="1653901" h="808854">
                  <a:moveTo>
                    <a:pt x="1653835" y="0"/>
                  </a:moveTo>
                  <a:lnTo>
                    <a:pt x="0" y="0"/>
                  </a:lnTo>
                  <a:cubicBezTo>
                    <a:pt x="8825" y="448193"/>
                    <a:pt x="375668" y="808855"/>
                    <a:pt x="826951" y="808855"/>
                  </a:cubicBezTo>
                  <a:cubicBezTo>
                    <a:pt x="1278234" y="808855"/>
                    <a:pt x="1645077" y="448193"/>
                    <a:pt x="1653902" y="0"/>
                  </a:cubicBezTo>
                  <a:close/>
                </a:path>
              </a:pathLst>
            </a:custGeom>
            <a:solidFill>
              <a:schemeClr val="accent5">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5" name="©天蝎PPT2-3"/>
            <p:cNvSpPr/>
            <p:nvPr>
              <p:custDataLst>
                <p:tags r:id="rId61"/>
              </p:custDataLst>
            </p:nvPr>
          </p:nvSpPr>
          <p:spPr>
            <a:xfrm>
              <a:off x="849965" y="1952097"/>
              <a:ext cx="1418432" cy="1415429"/>
            </a:xfrm>
            <a:custGeom>
              <a:avLst/>
              <a:gdLst>
                <a:gd name="connsiteX0" fmla="*/ 1418432 w 1418432"/>
                <a:gd name="connsiteY0" fmla="*/ 707715 h 1415429"/>
                <a:gd name="connsiteX1" fmla="*/ 709216 w 1418432"/>
                <a:gd name="connsiteY1" fmla="*/ 1415429 h 1415429"/>
                <a:gd name="connsiteX2" fmla="*/ 0 w 1418432"/>
                <a:gd name="connsiteY2" fmla="*/ 707715 h 1415429"/>
                <a:gd name="connsiteX3" fmla="*/ 709216 w 1418432"/>
                <a:gd name="connsiteY3" fmla="*/ 0 h 1415429"/>
                <a:gd name="connsiteX4" fmla="*/ 1418432 w 1418432"/>
                <a:gd name="connsiteY4" fmla="*/ 707715 h 1415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432" h="1415429">
                  <a:moveTo>
                    <a:pt x="1418432" y="707715"/>
                  </a:moveTo>
                  <a:cubicBezTo>
                    <a:pt x="1418432" y="1098575"/>
                    <a:pt x="1100905" y="1415429"/>
                    <a:pt x="709216" y="1415429"/>
                  </a:cubicBezTo>
                  <a:cubicBezTo>
                    <a:pt x="317527" y="1415429"/>
                    <a:pt x="0" y="1098575"/>
                    <a:pt x="0" y="707715"/>
                  </a:cubicBezTo>
                  <a:cubicBezTo>
                    <a:pt x="0" y="316855"/>
                    <a:pt x="317527" y="0"/>
                    <a:pt x="709216" y="0"/>
                  </a:cubicBezTo>
                  <a:cubicBezTo>
                    <a:pt x="1100905" y="0"/>
                    <a:pt x="1418432" y="316855"/>
                    <a:pt x="1418432" y="707715"/>
                  </a:cubicBezTo>
                  <a:close/>
                </a:path>
              </a:pathLst>
            </a:custGeom>
            <a:solidFill>
              <a:schemeClr val="accent5">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36" name="©天蝎PPT2-4"/>
            <p:cNvSpPr/>
            <p:nvPr>
              <p:custDataLst>
                <p:tags r:id="rId62"/>
              </p:custDataLst>
            </p:nvPr>
          </p:nvSpPr>
          <p:spPr>
            <a:xfrm>
              <a:off x="929190" y="2031155"/>
              <a:ext cx="1259981" cy="1257314"/>
            </a:xfrm>
            <a:custGeom>
              <a:avLst/>
              <a:gdLst>
                <a:gd name="connsiteX0" fmla="*/ 1259982 w 1259981"/>
                <a:gd name="connsiteY0" fmla="*/ 628657 h 1257314"/>
                <a:gd name="connsiteX1" fmla="*/ 629991 w 1259981"/>
                <a:gd name="connsiteY1" fmla="*/ 1257314 h 1257314"/>
                <a:gd name="connsiteX2" fmla="*/ 0 w 1259981"/>
                <a:gd name="connsiteY2" fmla="*/ 628657 h 1257314"/>
                <a:gd name="connsiteX3" fmla="*/ 629991 w 1259981"/>
                <a:gd name="connsiteY3" fmla="*/ 0 h 1257314"/>
                <a:gd name="connsiteX4" fmla="*/ 1259982 w 1259981"/>
                <a:gd name="connsiteY4" fmla="*/ 628657 h 1257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9981" h="1257314">
                  <a:moveTo>
                    <a:pt x="1259982" y="628657"/>
                  </a:moveTo>
                  <a:cubicBezTo>
                    <a:pt x="1259982" y="975855"/>
                    <a:pt x="977925" y="1257314"/>
                    <a:pt x="629991" y="1257314"/>
                  </a:cubicBezTo>
                  <a:cubicBezTo>
                    <a:pt x="282057" y="1257314"/>
                    <a:pt x="0" y="975855"/>
                    <a:pt x="0" y="628657"/>
                  </a:cubicBezTo>
                  <a:cubicBezTo>
                    <a:pt x="0" y="281460"/>
                    <a:pt x="282057" y="0"/>
                    <a:pt x="629991" y="0"/>
                  </a:cubicBezTo>
                  <a:cubicBezTo>
                    <a:pt x="977925" y="0"/>
                    <a:pt x="1259982" y="281460"/>
                    <a:pt x="1259982" y="628657"/>
                  </a:cubicBezTo>
                  <a:close/>
                </a:path>
              </a:pathLst>
            </a:custGeom>
            <a:gradFill>
              <a:gsLst>
                <a:gs pos="0">
                  <a:schemeClr val="accent5">
                    <a:lumMod val="60000"/>
                    <a:lumOff val="40000"/>
                  </a:schemeClr>
                </a:gs>
                <a:gs pos="100000">
                  <a:schemeClr val="accent5"/>
                </a:gs>
              </a:gsLst>
              <a:lin ang="0" scaled="0"/>
            </a:gra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37" name="©天蝎PPT48"/>
          <p:cNvSpPr txBox="1"/>
          <p:nvPr>
            <p:custDataLst>
              <p:tags r:id="rId63"/>
            </p:custDataLst>
          </p:nvPr>
        </p:nvSpPr>
        <p:spPr>
          <a:xfrm>
            <a:off x="5609132" y="2570669"/>
            <a:ext cx="877163" cy="646331"/>
          </a:xfrm>
          <a:prstGeom prst="rect">
            <a:avLst/>
          </a:prstGeom>
          <a:noFill/>
        </p:spPr>
        <p:txBody>
          <a:bodyPr wrap="none" rtlCol="0">
            <a:spAutoFit/>
          </a:bodyPr>
          <a:lstStyle/>
          <a:p>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行业内</a:t>
            </a:r>
            <a:endParaRPr lang="en-US" altLang="zh-CN"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r>
              <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竞争者</a:t>
            </a:r>
            <a:endParaRPr lang="zh-CN" altLang="en-US"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nvGrpSpPr>
          <p:cNvPr id="52" name="组合 51"/>
          <p:cNvGrpSpPr/>
          <p:nvPr>
            <p:custDataLst>
              <p:tags r:id="rId64"/>
            </p:custDataLst>
          </p:nvPr>
        </p:nvGrpSpPr>
        <p:grpSpPr>
          <a:xfrm>
            <a:off x="2993390" y="2020570"/>
            <a:ext cx="1653540" cy="1651000"/>
            <a:chOff x="4714" y="3182"/>
            <a:chExt cx="2604" cy="2600"/>
          </a:xfrm>
        </p:grpSpPr>
        <p:grpSp>
          <p:nvGrpSpPr>
            <p:cNvPr id="44" name="©天蝎PPT2"/>
            <p:cNvGrpSpPr/>
            <p:nvPr>
              <p:custDataLst>
                <p:tags r:id="rId65"/>
              </p:custDataLst>
            </p:nvPr>
          </p:nvGrpSpPr>
          <p:grpSpPr>
            <a:xfrm rot="0">
              <a:off x="4714" y="3182"/>
              <a:ext cx="2605" cy="2600"/>
              <a:chOff x="732231" y="1834412"/>
              <a:chExt cx="1653901" cy="1650799"/>
            </a:xfrm>
          </p:grpSpPr>
          <p:sp>
            <p:nvSpPr>
              <p:cNvPr id="45" name="©天蝎PPT2-1"/>
              <p:cNvSpPr/>
              <p:nvPr>
                <p:custDataLst>
                  <p:tags r:id="rId66"/>
                </p:custDataLst>
              </p:nvPr>
            </p:nvSpPr>
            <p:spPr>
              <a:xfrm>
                <a:off x="732899" y="1834412"/>
                <a:ext cx="1652564" cy="788373"/>
              </a:xfrm>
              <a:custGeom>
                <a:avLst/>
                <a:gdLst>
                  <a:gd name="connsiteX0" fmla="*/ 1652564 w 1652564"/>
                  <a:gd name="connsiteY0" fmla="*/ 788373 h 788373"/>
                  <a:gd name="connsiteX1" fmla="*/ 826282 w 1652564"/>
                  <a:gd name="connsiteY1" fmla="*/ 0 h 788373"/>
                  <a:gd name="connsiteX2" fmla="*/ 0 w 1652564"/>
                  <a:gd name="connsiteY2" fmla="*/ 788373 h 788373"/>
                  <a:gd name="connsiteX3" fmla="*/ 1652564 w 1652564"/>
                  <a:gd name="connsiteY3" fmla="*/ 788373 h 788373"/>
                </a:gdLst>
                <a:ahLst/>
                <a:cxnLst>
                  <a:cxn ang="0">
                    <a:pos x="connsiteX0" y="connsiteY0"/>
                  </a:cxn>
                  <a:cxn ang="0">
                    <a:pos x="connsiteX1" y="connsiteY1"/>
                  </a:cxn>
                  <a:cxn ang="0">
                    <a:pos x="connsiteX2" y="connsiteY2"/>
                  </a:cxn>
                  <a:cxn ang="0">
                    <a:pos x="connsiteX3" y="connsiteY3"/>
                  </a:cxn>
                </a:cxnLst>
                <a:rect l="l" t="t" r="r" b="b"/>
                <a:pathLst>
                  <a:path w="1652564" h="788373">
                    <a:moveTo>
                      <a:pt x="1652564" y="788373"/>
                    </a:moveTo>
                    <a:cubicBezTo>
                      <a:pt x="1633176" y="349721"/>
                      <a:pt x="1270679" y="0"/>
                      <a:pt x="826282" y="0"/>
                    </a:cubicBezTo>
                    <a:cubicBezTo>
                      <a:pt x="381886" y="0"/>
                      <a:pt x="19388" y="349721"/>
                      <a:pt x="0" y="788373"/>
                    </a:cubicBezTo>
                    <a:lnTo>
                      <a:pt x="1652564" y="788373"/>
                    </a:lnTo>
                    <a:close/>
                  </a:path>
                </a:pathLst>
              </a:custGeom>
              <a:solidFill>
                <a:schemeClr val="accent5">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6" name="©天蝎PPT2-2"/>
              <p:cNvSpPr/>
              <p:nvPr>
                <p:custDataLst>
                  <p:tags r:id="rId67"/>
                </p:custDataLst>
              </p:nvPr>
            </p:nvSpPr>
            <p:spPr>
              <a:xfrm>
                <a:off x="732231" y="2676357"/>
                <a:ext cx="1653901" cy="808854"/>
              </a:xfrm>
              <a:custGeom>
                <a:avLst/>
                <a:gdLst>
                  <a:gd name="connsiteX0" fmla="*/ 1653835 w 1653901"/>
                  <a:gd name="connsiteY0" fmla="*/ 0 h 808854"/>
                  <a:gd name="connsiteX1" fmla="*/ 0 w 1653901"/>
                  <a:gd name="connsiteY1" fmla="*/ 0 h 808854"/>
                  <a:gd name="connsiteX2" fmla="*/ 826951 w 1653901"/>
                  <a:gd name="connsiteY2" fmla="*/ 808855 h 808854"/>
                  <a:gd name="connsiteX3" fmla="*/ 1653902 w 1653901"/>
                  <a:gd name="connsiteY3" fmla="*/ 0 h 808854"/>
                </a:gdLst>
                <a:ahLst/>
                <a:cxnLst>
                  <a:cxn ang="0">
                    <a:pos x="connsiteX0" y="connsiteY0"/>
                  </a:cxn>
                  <a:cxn ang="0">
                    <a:pos x="connsiteX1" y="connsiteY1"/>
                  </a:cxn>
                  <a:cxn ang="0">
                    <a:pos x="connsiteX2" y="connsiteY2"/>
                  </a:cxn>
                  <a:cxn ang="0">
                    <a:pos x="connsiteX3" y="connsiteY3"/>
                  </a:cxn>
                </a:cxnLst>
                <a:rect l="l" t="t" r="r" b="b"/>
                <a:pathLst>
                  <a:path w="1653901" h="808854">
                    <a:moveTo>
                      <a:pt x="1653835" y="0"/>
                    </a:moveTo>
                    <a:lnTo>
                      <a:pt x="0" y="0"/>
                    </a:lnTo>
                    <a:cubicBezTo>
                      <a:pt x="8825" y="448193"/>
                      <a:pt x="375668" y="808855"/>
                      <a:pt x="826951" y="808855"/>
                    </a:cubicBezTo>
                    <a:cubicBezTo>
                      <a:pt x="1278234" y="808855"/>
                      <a:pt x="1645077" y="448193"/>
                      <a:pt x="1653902" y="0"/>
                    </a:cubicBezTo>
                    <a:close/>
                  </a:path>
                </a:pathLst>
              </a:custGeom>
              <a:solidFill>
                <a:schemeClr val="accent5">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7" name="©天蝎PPT2-3"/>
              <p:cNvSpPr/>
              <p:nvPr>
                <p:custDataLst>
                  <p:tags r:id="rId68"/>
                </p:custDataLst>
              </p:nvPr>
            </p:nvSpPr>
            <p:spPr>
              <a:xfrm>
                <a:off x="849965" y="1952097"/>
                <a:ext cx="1418432" cy="1415429"/>
              </a:xfrm>
              <a:custGeom>
                <a:avLst/>
                <a:gdLst>
                  <a:gd name="connsiteX0" fmla="*/ 1418432 w 1418432"/>
                  <a:gd name="connsiteY0" fmla="*/ 707715 h 1415429"/>
                  <a:gd name="connsiteX1" fmla="*/ 709216 w 1418432"/>
                  <a:gd name="connsiteY1" fmla="*/ 1415429 h 1415429"/>
                  <a:gd name="connsiteX2" fmla="*/ 0 w 1418432"/>
                  <a:gd name="connsiteY2" fmla="*/ 707715 h 1415429"/>
                  <a:gd name="connsiteX3" fmla="*/ 709216 w 1418432"/>
                  <a:gd name="connsiteY3" fmla="*/ 0 h 1415429"/>
                  <a:gd name="connsiteX4" fmla="*/ 1418432 w 1418432"/>
                  <a:gd name="connsiteY4" fmla="*/ 707715 h 1415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432" h="1415429">
                    <a:moveTo>
                      <a:pt x="1418432" y="707715"/>
                    </a:moveTo>
                    <a:cubicBezTo>
                      <a:pt x="1418432" y="1098575"/>
                      <a:pt x="1100905" y="1415429"/>
                      <a:pt x="709216" y="1415429"/>
                    </a:cubicBezTo>
                    <a:cubicBezTo>
                      <a:pt x="317527" y="1415429"/>
                      <a:pt x="0" y="1098575"/>
                      <a:pt x="0" y="707715"/>
                    </a:cubicBezTo>
                    <a:cubicBezTo>
                      <a:pt x="0" y="316855"/>
                      <a:pt x="317527" y="0"/>
                      <a:pt x="709216" y="0"/>
                    </a:cubicBezTo>
                    <a:cubicBezTo>
                      <a:pt x="1100905" y="0"/>
                      <a:pt x="1418432" y="316855"/>
                      <a:pt x="1418432" y="707715"/>
                    </a:cubicBezTo>
                    <a:close/>
                  </a:path>
                </a:pathLst>
              </a:custGeom>
              <a:solidFill>
                <a:schemeClr val="accent5">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48" name="©天蝎PPT2-4"/>
              <p:cNvSpPr/>
              <p:nvPr>
                <p:custDataLst>
                  <p:tags r:id="rId69"/>
                </p:custDataLst>
              </p:nvPr>
            </p:nvSpPr>
            <p:spPr>
              <a:xfrm>
                <a:off x="929190" y="2031155"/>
                <a:ext cx="1259981" cy="1257314"/>
              </a:xfrm>
              <a:custGeom>
                <a:avLst/>
                <a:gdLst>
                  <a:gd name="connsiteX0" fmla="*/ 1259982 w 1259981"/>
                  <a:gd name="connsiteY0" fmla="*/ 628657 h 1257314"/>
                  <a:gd name="connsiteX1" fmla="*/ 629991 w 1259981"/>
                  <a:gd name="connsiteY1" fmla="*/ 1257314 h 1257314"/>
                  <a:gd name="connsiteX2" fmla="*/ 0 w 1259981"/>
                  <a:gd name="connsiteY2" fmla="*/ 628657 h 1257314"/>
                  <a:gd name="connsiteX3" fmla="*/ 629991 w 1259981"/>
                  <a:gd name="connsiteY3" fmla="*/ 0 h 1257314"/>
                  <a:gd name="connsiteX4" fmla="*/ 1259982 w 1259981"/>
                  <a:gd name="connsiteY4" fmla="*/ 628657 h 1257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9981" h="1257314">
                    <a:moveTo>
                      <a:pt x="1259982" y="628657"/>
                    </a:moveTo>
                    <a:cubicBezTo>
                      <a:pt x="1259982" y="975855"/>
                      <a:pt x="977925" y="1257314"/>
                      <a:pt x="629991" y="1257314"/>
                    </a:cubicBezTo>
                    <a:cubicBezTo>
                      <a:pt x="282057" y="1257314"/>
                      <a:pt x="0" y="975855"/>
                      <a:pt x="0" y="628657"/>
                    </a:cubicBezTo>
                    <a:cubicBezTo>
                      <a:pt x="0" y="281460"/>
                      <a:pt x="282057" y="0"/>
                      <a:pt x="629991" y="0"/>
                    </a:cubicBezTo>
                    <a:cubicBezTo>
                      <a:pt x="977925" y="0"/>
                      <a:pt x="1259982" y="281460"/>
                      <a:pt x="1259982" y="628657"/>
                    </a:cubicBezTo>
                    <a:close/>
                  </a:path>
                </a:pathLst>
              </a:custGeom>
              <a:gradFill>
                <a:gsLst>
                  <a:gs pos="0">
                    <a:schemeClr val="accent5">
                      <a:lumMod val="40000"/>
                      <a:lumOff val="60000"/>
                    </a:schemeClr>
                  </a:gs>
                  <a:gs pos="100000">
                    <a:schemeClr val="accent5">
                      <a:lumMod val="60000"/>
                      <a:lumOff val="40000"/>
                    </a:schemeClr>
                  </a:gs>
                </a:gsLst>
                <a:lin ang="0" scaled="0"/>
              </a:gra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50" name="©天蝎PPT47"/>
            <p:cNvSpPr txBox="1"/>
            <p:nvPr>
              <p:custDataLst>
                <p:tags r:id="rId70"/>
              </p:custDataLst>
            </p:nvPr>
          </p:nvSpPr>
          <p:spPr>
            <a:xfrm>
              <a:off x="5405" y="4458"/>
              <a:ext cx="1260" cy="533"/>
            </a:xfrm>
            <a:prstGeom prst="rect">
              <a:avLst/>
            </a:prstGeom>
            <a:noFill/>
          </p:spPr>
          <p:txBody>
            <a:bodyPr wrap="none" rtlCol="0">
              <a:spAutoFit/>
            </a:bodyPr>
            <a:lstStyle>
              <a:defPPr>
                <a:defRPr lang="zh-CN"/>
              </a:defPPr>
              <a:lvl1pPr>
                <a:defRPr sz="1600" b="1">
                  <a:solidFill>
                    <a:schemeClr val="bg1"/>
                  </a:solidFill>
                  <a:latin typeface="微软雅黑" panose="020B0503020204020204" charset="-122"/>
                  <a:ea typeface="微软雅黑" panose="020B0503020204020204" charset="-122"/>
                </a:defRPr>
              </a:lvl1pPr>
            </a:lstStyle>
            <a:p>
              <a:r>
                <a:rPr lang="zh-CN" altLang="en-US" dirty="0">
                  <a:cs typeface="微软雅黑" panose="020B0503020204020204" charset="-122"/>
                  <a:sym typeface="Arial" panose="020B0604020202020204" pitchFamily="34" charset="0"/>
                </a:rPr>
                <a:t>购买者</a:t>
              </a:r>
              <a:endParaRPr lang="zh-CN" altLang="en-US" dirty="0">
                <a:cs typeface="微软雅黑" panose="020B0503020204020204" charset="-122"/>
                <a:sym typeface="Arial" panose="020B0604020202020204" pitchFamily="34" charset="0"/>
              </a:endParaRPr>
            </a:p>
          </p:txBody>
        </p:sp>
        <p:pic>
          <p:nvPicPr>
            <p:cNvPr id="51" name="©天蝎PPT65"/>
            <p:cNvPicPr>
              <a:picLocks noChangeAspect="1"/>
            </p:cNvPicPr>
            <p:nvPr>
              <p:custDataLst>
                <p:tags r:id="rId71"/>
              </p:custDataLst>
            </p:nvPr>
          </p:nvPicPr>
          <p:blipFill>
            <a:blip r:embed="rId72" cstate="email">
              <a:extLst>
                <a:ext uri="{96DAC541-7B7A-43D3-8B79-37D633B846F1}">
                  <asvg:svgBlip xmlns:asvg="http://schemas.microsoft.com/office/drawing/2016/SVG/main" r:embed="rId73"/>
                </a:ext>
              </a:extLst>
            </a:blip>
            <a:stretch>
              <a:fillRect/>
            </a:stretch>
          </p:blipFill>
          <p:spPr>
            <a:xfrm>
              <a:off x="5626" y="3850"/>
              <a:ext cx="722" cy="722"/>
            </a:xfrm>
            <a:prstGeom prst="rect">
              <a:avLst/>
            </a:prstGeom>
          </p:spPr>
        </p:pic>
      </p:grpSp>
      <p:grpSp>
        <p:nvGrpSpPr>
          <p:cNvPr id="54" name="©天蝎PPT2"/>
          <p:cNvGrpSpPr/>
          <p:nvPr>
            <p:custDataLst>
              <p:tags r:id="rId74"/>
            </p:custDataLst>
          </p:nvPr>
        </p:nvGrpSpPr>
        <p:grpSpPr>
          <a:xfrm rot="0">
            <a:off x="741680" y="2020570"/>
            <a:ext cx="1654175" cy="1651000"/>
            <a:chOff x="732231" y="1834412"/>
            <a:chExt cx="1653901" cy="1650799"/>
          </a:xfrm>
        </p:grpSpPr>
        <p:sp>
          <p:nvSpPr>
            <p:cNvPr id="55" name="©天蝎PPT2-1"/>
            <p:cNvSpPr/>
            <p:nvPr>
              <p:custDataLst>
                <p:tags r:id="rId75"/>
              </p:custDataLst>
            </p:nvPr>
          </p:nvSpPr>
          <p:spPr>
            <a:xfrm>
              <a:off x="732899" y="1834412"/>
              <a:ext cx="1652564" cy="788373"/>
            </a:xfrm>
            <a:custGeom>
              <a:avLst/>
              <a:gdLst>
                <a:gd name="connsiteX0" fmla="*/ 1652564 w 1652564"/>
                <a:gd name="connsiteY0" fmla="*/ 788373 h 788373"/>
                <a:gd name="connsiteX1" fmla="*/ 826282 w 1652564"/>
                <a:gd name="connsiteY1" fmla="*/ 0 h 788373"/>
                <a:gd name="connsiteX2" fmla="*/ 0 w 1652564"/>
                <a:gd name="connsiteY2" fmla="*/ 788373 h 788373"/>
                <a:gd name="connsiteX3" fmla="*/ 1652564 w 1652564"/>
                <a:gd name="connsiteY3" fmla="*/ 788373 h 788373"/>
              </a:gdLst>
              <a:ahLst/>
              <a:cxnLst>
                <a:cxn ang="0">
                  <a:pos x="connsiteX0" y="connsiteY0"/>
                </a:cxn>
                <a:cxn ang="0">
                  <a:pos x="connsiteX1" y="connsiteY1"/>
                </a:cxn>
                <a:cxn ang="0">
                  <a:pos x="connsiteX2" y="connsiteY2"/>
                </a:cxn>
                <a:cxn ang="0">
                  <a:pos x="connsiteX3" y="connsiteY3"/>
                </a:cxn>
              </a:cxnLst>
              <a:rect l="l" t="t" r="r" b="b"/>
              <a:pathLst>
                <a:path w="1652564" h="788373">
                  <a:moveTo>
                    <a:pt x="1652564" y="788373"/>
                  </a:moveTo>
                  <a:cubicBezTo>
                    <a:pt x="1633176" y="349721"/>
                    <a:pt x="1270679" y="0"/>
                    <a:pt x="826282" y="0"/>
                  </a:cubicBezTo>
                  <a:cubicBezTo>
                    <a:pt x="381886" y="0"/>
                    <a:pt x="19388" y="349721"/>
                    <a:pt x="0" y="788373"/>
                  </a:cubicBezTo>
                  <a:lnTo>
                    <a:pt x="1652564" y="788373"/>
                  </a:lnTo>
                  <a:close/>
                </a:path>
              </a:pathLst>
            </a:custGeom>
            <a:solidFill>
              <a:schemeClr val="accent5">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6" name="©天蝎PPT2-2"/>
            <p:cNvSpPr/>
            <p:nvPr>
              <p:custDataLst>
                <p:tags r:id="rId76"/>
              </p:custDataLst>
            </p:nvPr>
          </p:nvSpPr>
          <p:spPr>
            <a:xfrm>
              <a:off x="732231" y="2676357"/>
              <a:ext cx="1653901" cy="808854"/>
            </a:xfrm>
            <a:custGeom>
              <a:avLst/>
              <a:gdLst>
                <a:gd name="connsiteX0" fmla="*/ 1653835 w 1653901"/>
                <a:gd name="connsiteY0" fmla="*/ 0 h 808854"/>
                <a:gd name="connsiteX1" fmla="*/ 0 w 1653901"/>
                <a:gd name="connsiteY1" fmla="*/ 0 h 808854"/>
                <a:gd name="connsiteX2" fmla="*/ 826951 w 1653901"/>
                <a:gd name="connsiteY2" fmla="*/ 808855 h 808854"/>
                <a:gd name="connsiteX3" fmla="*/ 1653902 w 1653901"/>
                <a:gd name="connsiteY3" fmla="*/ 0 h 808854"/>
              </a:gdLst>
              <a:ahLst/>
              <a:cxnLst>
                <a:cxn ang="0">
                  <a:pos x="connsiteX0" y="connsiteY0"/>
                </a:cxn>
                <a:cxn ang="0">
                  <a:pos x="connsiteX1" y="connsiteY1"/>
                </a:cxn>
                <a:cxn ang="0">
                  <a:pos x="connsiteX2" y="connsiteY2"/>
                </a:cxn>
                <a:cxn ang="0">
                  <a:pos x="connsiteX3" y="connsiteY3"/>
                </a:cxn>
              </a:cxnLst>
              <a:rect l="l" t="t" r="r" b="b"/>
              <a:pathLst>
                <a:path w="1653901" h="808854">
                  <a:moveTo>
                    <a:pt x="1653835" y="0"/>
                  </a:moveTo>
                  <a:lnTo>
                    <a:pt x="0" y="0"/>
                  </a:lnTo>
                  <a:cubicBezTo>
                    <a:pt x="8825" y="448193"/>
                    <a:pt x="375668" y="808855"/>
                    <a:pt x="826951" y="808855"/>
                  </a:cubicBezTo>
                  <a:cubicBezTo>
                    <a:pt x="1278234" y="808855"/>
                    <a:pt x="1645077" y="448193"/>
                    <a:pt x="1653902" y="0"/>
                  </a:cubicBezTo>
                  <a:close/>
                </a:path>
              </a:pathLst>
            </a:custGeom>
            <a:solidFill>
              <a:schemeClr val="accent5">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7" name="©天蝎PPT2-3"/>
            <p:cNvSpPr/>
            <p:nvPr>
              <p:custDataLst>
                <p:tags r:id="rId77"/>
              </p:custDataLst>
            </p:nvPr>
          </p:nvSpPr>
          <p:spPr>
            <a:xfrm>
              <a:off x="849965" y="1952097"/>
              <a:ext cx="1418432" cy="1415429"/>
            </a:xfrm>
            <a:custGeom>
              <a:avLst/>
              <a:gdLst>
                <a:gd name="connsiteX0" fmla="*/ 1418432 w 1418432"/>
                <a:gd name="connsiteY0" fmla="*/ 707715 h 1415429"/>
                <a:gd name="connsiteX1" fmla="*/ 709216 w 1418432"/>
                <a:gd name="connsiteY1" fmla="*/ 1415429 h 1415429"/>
                <a:gd name="connsiteX2" fmla="*/ 0 w 1418432"/>
                <a:gd name="connsiteY2" fmla="*/ 707715 h 1415429"/>
                <a:gd name="connsiteX3" fmla="*/ 709216 w 1418432"/>
                <a:gd name="connsiteY3" fmla="*/ 0 h 1415429"/>
                <a:gd name="connsiteX4" fmla="*/ 1418432 w 1418432"/>
                <a:gd name="connsiteY4" fmla="*/ 707715 h 1415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432" h="1415429">
                  <a:moveTo>
                    <a:pt x="1418432" y="707715"/>
                  </a:moveTo>
                  <a:cubicBezTo>
                    <a:pt x="1418432" y="1098575"/>
                    <a:pt x="1100905" y="1415429"/>
                    <a:pt x="709216" y="1415429"/>
                  </a:cubicBezTo>
                  <a:cubicBezTo>
                    <a:pt x="317527" y="1415429"/>
                    <a:pt x="0" y="1098575"/>
                    <a:pt x="0" y="707715"/>
                  </a:cubicBezTo>
                  <a:cubicBezTo>
                    <a:pt x="0" y="316855"/>
                    <a:pt x="317527" y="0"/>
                    <a:pt x="709216" y="0"/>
                  </a:cubicBezTo>
                  <a:cubicBezTo>
                    <a:pt x="1100905" y="0"/>
                    <a:pt x="1418432" y="316855"/>
                    <a:pt x="1418432" y="707715"/>
                  </a:cubicBezTo>
                  <a:close/>
                </a:path>
              </a:pathLst>
            </a:custGeom>
            <a:solidFill>
              <a:schemeClr val="accent5">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58" name="©天蝎PPT2-4"/>
            <p:cNvSpPr/>
            <p:nvPr>
              <p:custDataLst>
                <p:tags r:id="rId78"/>
              </p:custDataLst>
            </p:nvPr>
          </p:nvSpPr>
          <p:spPr>
            <a:xfrm>
              <a:off x="929190" y="2031155"/>
              <a:ext cx="1259981" cy="1257314"/>
            </a:xfrm>
            <a:custGeom>
              <a:avLst/>
              <a:gdLst>
                <a:gd name="connsiteX0" fmla="*/ 1259982 w 1259981"/>
                <a:gd name="connsiteY0" fmla="*/ 628657 h 1257314"/>
                <a:gd name="connsiteX1" fmla="*/ 629991 w 1259981"/>
                <a:gd name="connsiteY1" fmla="*/ 1257314 h 1257314"/>
                <a:gd name="connsiteX2" fmla="*/ 0 w 1259981"/>
                <a:gd name="connsiteY2" fmla="*/ 628657 h 1257314"/>
                <a:gd name="connsiteX3" fmla="*/ 629991 w 1259981"/>
                <a:gd name="connsiteY3" fmla="*/ 0 h 1257314"/>
                <a:gd name="connsiteX4" fmla="*/ 1259982 w 1259981"/>
                <a:gd name="connsiteY4" fmla="*/ 628657 h 1257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9981" h="1257314">
                  <a:moveTo>
                    <a:pt x="1259982" y="628657"/>
                  </a:moveTo>
                  <a:cubicBezTo>
                    <a:pt x="1259982" y="975855"/>
                    <a:pt x="977925" y="1257314"/>
                    <a:pt x="629991" y="1257314"/>
                  </a:cubicBezTo>
                  <a:cubicBezTo>
                    <a:pt x="282057" y="1257314"/>
                    <a:pt x="0" y="975855"/>
                    <a:pt x="0" y="628657"/>
                  </a:cubicBezTo>
                  <a:cubicBezTo>
                    <a:pt x="0" y="281460"/>
                    <a:pt x="282057" y="0"/>
                    <a:pt x="629991" y="0"/>
                  </a:cubicBezTo>
                  <a:cubicBezTo>
                    <a:pt x="977925" y="0"/>
                    <a:pt x="1259982" y="281460"/>
                    <a:pt x="1259982" y="628657"/>
                  </a:cubicBezTo>
                  <a:close/>
                </a:path>
              </a:pathLst>
            </a:custGeom>
            <a:gradFill>
              <a:gsLst>
                <a:gs pos="0">
                  <a:schemeClr val="accent5">
                    <a:lumMod val="40000"/>
                    <a:lumOff val="60000"/>
                  </a:schemeClr>
                </a:gs>
                <a:gs pos="100000">
                  <a:schemeClr val="accent5">
                    <a:lumMod val="60000"/>
                    <a:lumOff val="40000"/>
                  </a:schemeClr>
                </a:gs>
              </a:gsLst>
              <a:lin ang="0" scaled="0"/>
            </a:gra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61" name="©天蝎PPT46"/>
          <p:cNvSpPr txBox="1"/>
          <p:nvPr>
            <p:custDataLst>
              <p:tags r:id="rId79"/>
            </p:custDataLst>
          </p:nvPr>
        </p:nvSpPr>
        <p:spPr>
          <a:xfrm>
            <a:off x="1155380" y="2831754"/>
            <a:ext cx="800219" cy="338554"/>
          </a:xfrm>
          <a:prstGeom prst="rect">
            <a:avLst/>
          </a:prstGeom>
          <a:noFill/>
        </p:spPr>
        <p:txBody>
          <a:bodyPr wrap="none" rtlCol="0">
            <a:spAutoFit/>
          </a:bodyPr>
          <a:lstStyle/>
          <a:p>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供应者</a:t>
            </a:r>
            <a:endPar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pic>
        <p:nvPicPr>
          <p:cNvPr id="62" name="©天蝎PPT64"/>
          <p:cNvPicPr>
            <a:picLocks noChangeAspect="1"/>
          </p:cNvPicPr>
          <p:nvPr>
            <p:custDataLst>
              <p:tags r:id="rId80"/>
            </p:custDataLst>
          </p:nvPr>
        </p:nvPicPr>
        <p:blipFill>
          <a:blip r:embed="rId81" cstate="email">
            <a:extLst>
              <a:ext uri="{96DAC541-7B7A-43D3-8B79-37D633B846F1}">
                <asvg:svgBlip xmlns:asvg="http://schemas.microsoft.com/office/drawing/2016/SVG/main" r:embed="rId82"/>
              </a:ext>
            </a:extLst>
          </a:blip>
          <a:stretch>
            <a:fillRect/>
          </a:stretch>
        </p:blipFill>
        <p:spPr>
          <a:xfrm>
            <a:off x="1381976" y="2458064"/>
            <a:ext cx="374694" cy="374694"/>
          </a:xfrm>
          <a:prstGeom prst="rect">
            <a:avLst/>
          </a:prstGeom>
        </p:spPr>
      </p:pic>
      <p:grpSp>
        <p:nvGrpSpPr>
          <p:cNvPr id="64" name="©天蝎PPT12"/>
          <p:cNvGrpSpPr/>
          <p:nvPr>
            <p:custDataLst>
              <p:tags r:id="rId83"/>
            </p:custDataLst>
          </p:nvPr>
        </p:nvGrpSpPr>
        <p:grpSpPr>
          <a:xfrm rot="0">
            <a:off x="9611995" y="2061210"/>
            <a:ext cx="1654175" cy="1651000"/>
            <a:chOff x="2962905" y="1834412"/>
            <a:chExt cx="1653901" cy="1650800"/>
          </a:xfrm>
        </p:grpSpPr>
        <p:sp>
          <p:nvSpPr>
            <p:cNvPr id="65" name="©天蝎PPT12-1"/>
            <p:cNvSpPr/>
            <p:nvPr>
              <p:custDataLst>
                <p:tags r:id="rId84"/>
              </p:custDataLst>
            </p:nvPr>
          </p:nvSpPr>
          <p:spPr>
            <a:xfrm>
              <a:off x="2963574" y="1834412"/>
              <a:ext cx="1652564" cy="788373"/>
            </a:xfrm>
            <a:custGeom>
              <a:avLst/>
              <a:gdLst>
                <a:gd name="connsiteX0" fmla="*/ 1652565 w 1652564"/>
                <a:gd name="connsiteY0" fmla="*/ 788373 h 788373"/>
                <a:gd name="connsiteX1" fmla="*/ 826282 w 1652564"/>
                <a:gd name="connsiteY1" fmla="*/ 0 h 788373"/>
                <a:gd name="connsiteX2" fmla="*/ 0 w 1652564"/>
                <a:gd name="connsiteY2" fmla="*/ 788373 h 788373"/>
                <a:gd name="connsiteX3" fmla="*/ 1652565 w 1652564"/>
                <a:gd name="connsiteY3" fmla="*/ 788373 h 788373"/>
              </a:gdLst>
              <a:ahLst/>
              <a:cxnLst>
                <a:cxn ang="0">
                  <a:pos x="connsiteX0" y="connsiteY0"/>
                </a:cxn>
                <a:cxn ang="0">
                  <a:pos x="connsiteX1" y="connsiteY1"/>
                </a:cxn>
                <a:cxn ang="0">
                  <a:pos x="connsiteX2" y="connsiteY2"/>
                </a:cxn>
                <a:cxn ang="0">
                  <a:pos x="connsiteX3" y="connsiteY3"/>
                </a:cxn>
              </a:cxnLst>
              <a:rect l="l" t="t" r="r" b="b"/>
              <a:pathLst>
                <a:path w="1652564" h="788373">
                  <a:moveTo>
                    <a:pt x="1652565" y="788373"/>
                  </a:moveTo>
                  <a:cubicBezTo>
                    <a:pt x="1633176" y="349721"/>
                    <a:pt x="1270679" y="0"/>
                    <a:pt x="826282" y="0"/>
                  </a:cubicBezTo>
                  <a:cubicBezTo>
                    <a:pt x="381886" y="0"/>
                    <a:pt x="19388" y="349721"/>
                    <a:pt x="0" y="788373"/>
                  </a:cubicBezTo>
                  <a:lnTo>
                    <a:pt x="1652565" y="788373"/>
                  </a:lnTo>
                  <a:close/>
                </a:path>
              </a:pathLst>
            </a:custGeom>
            <a:solidFill>
              <a:schemeClr val="accent1">
                <a:lumMod val="60000"/>
                <a:lumOff val="40000"/>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6" name="©天蝎PPT12-2"/>
            <p:cNvSpPr/>
            <p:nvPr>
              <p:custDataLst>
                <p:tags r:id="rId85"/>
              </p:custDataLst>
            </p:nvPr>
          </p:nvSpPr>
          <p:spPr>
            <a:xfrm>
              <a:off x="2962905" y="2676357"/>
              <a:ext cx="1653901" cy="808854"/>
            </a:xfrm>
            <a:custGeom>
              <a:avLst/>
              <a:gdLst>
                <a:gd name="connsiteX0" fmla="*/ 1653902 w 1653901"/>
                <a:gd name="connsiteY0" fmla="*/ 0 h 808854"/>
                <a:gd name="connsiteX1" fmla="*/ 0 w 1653901"/>
                <a:gd name="connsiteY1" fmla="*/ 0 h 808854"/>
                <a:gd name="connsiteX2" fmla="*/ 826951 w 1653901"/>
                <a:gd name="connsiteY2" fmla="*/ 808855 h 808854"/>
                <a:gd name="connsiteX3" fmla="*/ 1653902 w 1653901"/>
                <a:gd name="connsiteY3" fmla="*/ 0 h 808854"/>
              </a:gdLst>
              <a:ahLst/>
              <a:cxnLst>
                <a:cxn ang="0">
                  <a:pos x="connsiteX0" y="connsiteY0"/>
                </a:cxn>
                <a:cxn ang="0">
                  <a:pos x="connsiteX1" y="connsiteY1"/>
                </a:cxn>
                <a:cxn ang="0">
                  <a:pos x="connsiteX2" y="connsiteY2"/>
                </a:cxn>
                <a:cxn ang="0">
                  <a:pos x="connsiteX3" y="connsiteY3"/>
                </a:cxn>
              </a:cxnLst>
              <a:rect l="l" t="t" r="r" b="b"/>
              <a:pathLst>
                <a:path w="1653901" h="808854">
                  <a:moveTo>
                    <a:pt x="1653902" y="0"/>
                  </a:moveTo>
                  <a:lnTo>
                    <a:pt x="0" y="0"/>
                  </a:lnTo>
                  <a:cubicBezTo>
                    <a:pt x="8825" y="448193"/>
                    <a:pt x="375668" y="808855"/>
                    <a:pt x="826951" y="808855"/>
                  </a:cubicBezTo>
                  <a:cubicBezTo>
                    <a:pt x="1278234" y="808855"/>
                    <a:pt x="1645077" y="448193"/>
                    <a:pt x="1653902" y="0"/>
                  </a:cubicBezTo>
                  <a:close/>
                </a:path>
              </a:pathLst>
            </a:custGeom>
            <a:solidFill>
              <a:schemeClr val="accent1">
                <a:lumMod val="60000"/>
                <a:lumOff val="40000"/>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7" name="©天蝎PPT12-3"/>
            <p:cNvSpPr/>
            <p:nvPr>
              <p:custDataLst>
                <p:tags r:id="rId86"/>
              </p:custDataLst>
            </p:nvPr>
          </p:nvSpPr>
          <p:spPr>
            <a:xfrm>
              <a:off x="3080640" y="1952097"/>
              <a:ext cx="1418432" cy="1415429"/>
            </a:xfrm>
            <a:custGeom>
              <a:avLst/>
              <a:gdLst>
                <a:gd name="connsiteX0" fmla="*/ 1418432 w 1418432"/>
                <a:gd name="connsiteY0" fmla="*/ 707715 h 1415429"/>
                <a:gd name="connsiteX1" fmla="*/ 709216 w 1418432"/>
                <a:gd name="connsiteY1" fmla="*/ 1415429 h 1415429"/>
                <a:gd name="connsiteX2" fmla="*/ 0 w 1418432"/>
                <a:gd name="connsiteY2" fmla="*/ 707715 h 1415429"/>
                <a:gd name="connsiteX3" fmla="*/ 709216 w 1418432"/>
                <a:gd name="connsiteY3" fmla="*/ 0 h 1415429"/>
                <a:gd name="connsiteX4" fmla="*/ 1418432 w 1418432"/>
                <a:gd name="connsiteY4" fmla="*/ 707715 h 14154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18432" h="1415429">
                  <a:moveTo>
                    <a:pt x="1418432" y="707715"/>
                  </a:moveTo>
                  <a:cubicBezTo>
                    <a:pt x="1418432" y="1098575"/>
                    <a:pt x="1100905" y="1415429"/>
                    <a:pt x="709216" y="1415429"/>
                  </a:cubicBezTo>
                  <a:cubicBezTo>
                    <a:pt x="317527" y="1415429"/>
                    <a:pt x="0" y="1098575"/>
                    <a:pt x="0" y="707715"/>
                  </a:cubicBezTo>
                  <a:cubicBezTo>
                    <a:pt x="0" y="316855"/>
                    <a:pt x="317527" y="0"/>
                    <a:pt x="709216" y="0"/>
                  </a:cubicBezTo>
                  <a:cubicBezTo>
                    <a:pt x="1100905" y="0"/>
                    <a:pt x="1418432" y="316855"/>
                    <a:pt x="1418432" y="707715"/>
                  </a:cubicBezTo>
                  <a:close/>
                </a:path>
              </a:pathLst>
            </a:custGeom>
            <a:solidFill>
              <a:schemeClr val="accent1">
                <a:lumMod val="60000"/>
                <a:lumOff val="40000"/>
                <a:alpha val="1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68" name="©天蝎PPT12-4"/>
            <p:cNvSpPr/>
            <p:nvPr>
              <p:custDataLst>
                <p:tags r:id="rId87"/>
              </p:custDataLst>
            </p:nvPr>
          </p:nvSpPr>
          <p:spPr>
            <a:xfrm>
              <a:off x="3159865" y="2031155"/>
              <a:ext cx="1259981" cy="1257314"/>
            </a:xfrm>
            <a:custGeom>
              <a:avLst/>
              <a:gdLst>
                <a:gd name="connsiteX0" fmla="*/ 1259982 w 1259981"/>
                <a:gd name="connsiteY0" fmla="*/ 628657 h 1257314"/>
                <a:gd name="connsiteX1" fmla="*/ 629991 w 1259981"/>
                <a:gd name="connsiteY1" fmla="*/ 1257314 h 1257314"/>
                <a:gd name="connsiteX2" fmla="*/ 0 w 1259981"/>
                <a:gd name="connsiteY2" fmla="*/ 628657 h 1257314"/>
                <a:gd name="connsiteX3" fmla="*/ 629991 w 1259981"/>
                <a:gd name="connsiteY3" fmla="*/ 0 h 1257314"/>
                <a:gd name="connsiteX4" fmla="*/ 1259982 w 1259981"/>
                <a:gd name="connsiteY4" fmla="*/ 628657 h 12573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259981" h="1257314">
                  <a:moveTo>
                    <a:pt x="1259982" y="628657"/>
                  </a:moveTo>
                  <a:cubicBezTo>
                    <a:pt x="1259982" y="975855"/>
                    <a:pt x="977925" y="1257314"/>
                    <a:pt x="629991" y="1257314"/>
                  </a:cubicBezTo>
                  <a:cubicBezTo>
                    <a:pt x="282057" y="1257314"/>
                    <a:pt x="0" y="975855"/>
                    <a:pt x="0" y="628657"/>
                  </a:cubicBezTo>
                  <a:cubicBezTo>
                    <a:pt x="0" y="281460"/>
                    <a:pt x="282057" y="0"/>
                    <a:pt x="629991" y="0"/>
                  </a:cubicBezTo>
                  <a:cubicBezTo>
                    <a:pt x="977926" y="0"/>
                    <a:pt x="1259982" y="281460"/>
                    <a:pt x="1259982" y="628657"/>
                  </a:cubicBezTo>
                  <a:close/>
                </a:path>
              </a:pathLst>
            </a:custGeom>
            <a:solidFill>
              <a:schemeClr val="accent1">
                <a:lumMod val="60000"/>
                <a:lumOff val="40000"/>
              </a:schemeClr>
            </a:solidFill>
            <a:ln w="6685" cap="flat">
              <a:noFill/>
              <a:prstDash val="solid"/>
              <a:miter/>
            </a:ln>
          </p:spPr>
          <p:txBody>
            <a:bodyPr rtlCol="0" anchor="ctr"/>
            <a:lstStyle/>
            <a:p>
              <a:endParaRPr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sp>
        <p:nvSpPr>
          <p:cNvPr id="71" name="©天蝎PPT50"/>
          <p:cNvSpPr txBox="1"/>
          <p:nvPr>
            <p:custDataLst>
              <p:tags r:id="rId88"/>
            </p:custDataLst>
          </p:nvPr>
        </p:nvSpPr>
        <p:spPr>
          <a:xfrm>
            <a:off x="9978142" y="2859111"/>
            <a:ext cx="1005403" cy="338554"/>
          </a:xfrm>
          <a:prstGeom prst="rect">
            <a:avLst/>
          </a:prstGeom>
          <a:noFill/>
        </p:spPr>
        <p:txBody>
          <a:bodyPr wrap="none" rtlCol="0">
            <a:spAutoFit/>
          </a:bodyPr>
          <a:lstStyle/>
          <a:p>
            <a:pPr algn="l"/>
            <a:r>
              <a:rPr lang="zh-CN" altLang="en-US" sz="1600" b="1" dirty="0">
                <a:solidFill>
                  <a:schemeClr val="bg1"/>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潜在竞争</a:t>
            </a:r>
            <a:endParaRPr lang="zh-CN" altLang="en-US" sz="1600" b="1" i="0" dirty="0">
              <a:solidFill>
                <a:schemeClr val="bg1"/>
              </a:solidFill>
              <a:effectLst/>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pic>
        <p:nvPicPr>
          <p:cNvPr id="72" name="©天蝎PPT66"/>
          <p:cNvPicPr>
            <a:picLocks noChangeAspect="1"/>
          </p:cNvPicPr>
          <p:nvPr>
            <p:custDataLst>
              <p:tags r:id="rId89"/>
            </p:custDataLst>
          </p:nvPr>
        </p:nvPicPr>
        <p:blipFill>
          <a:blip r:embed="rId90" cstate="email">
            <a:extLst>
              <a:ext uri="{96DAC541-7B7A-43D3-8B79-37D633B846F1}">
                <asvg:svgBlip xmlns:asvg="http://schemas.microsoft.com/office/drawing/2016/SVG/main" r:embed="rId91"/>
              </a:ext>
            </a:extLst>
          </a:blip>
          <a:stretch>
            <a:fillRect/>
          </a:stretch>
        </p:blipFill>
        <p:spPr>
          <a:xfrm>
            <a:off x="10280003" y="2500740"/>
            <a:ext cx="330503" cy="330503"/>
          </a:xfrm>
          <a:prstGeom prst="rect">
            <a:avLst/>
          </a:prstGeom>
        </p:spPr>
      </p:pic>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738235" y="348615"/>
            <a:ext cx="3219450" cy="332740"/>
            <a:chOff x="13761" y="549"/>
            <a:chExt cx="5070" cy="524"/>
          </a:xfrm>
        </p:grpSpPr>
        <p:pic>
          <p:nvPicPr>
            <p:cNvPr id="3" name="图片 2"/>
            <p:cNvPicPr>
              <a:picLocks noChangeAspect="1"/>
            </p:cNvPicPr>
            <p:nvPr userDrawn="1"/>
          </p:nvPicPr>
          <p:blipFill>
            <a:blip r:embed="rId92"/>
            <a:srcRect l="17002" t="-1765" r="56499" b="-1176"/>
            <a:stretch>
              <a:fillRect/>
            </a:stretch>
          </p:blipFill>
          <p:spPr>
            <a:xfrm>
              <a:off x="13761" y="549"/>
              <a:ext cx="1582" cy="525"/>
            </a:xfrm>
            <a:prstGeom prst="rect">
              <a:avLst/>
            </a:prstGeom>
          </p:spPr>
        </p:pic>
        <p:sp>
          <p:nvSpPr>
            <p:cNvPr id="4" name="文本框 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矩形: 圆角 1"/>
          <p:cNvSpPr/>
          <p:nvPr>
            <p:custDataLst>
              <p:tags r:id="rId1"/>
            </p:custDataLst>
          </p:nvPr>
        </p:nvSpPr>
        <p:spPr>
          <a:xfrm>
            <a:off x="5218936" y="1654410"/>
            <a:ext cx="1743539" cy="4504537"/>
          </a:xfrm>
          <a:prstGeom prst="roundRect">
            <a:avLst>
              <a:gd name="adj" fmla="val 50000"/>
            </a:avLst>
          </a:prstGeom>
          <a:solidFill>
            <a:schemeClr val="tx2">
              <a:lumMod val="20000"/>
              <a:lumOff val="80000"/>
              <a:alpha val="20000"/>
            </a:schemeClr>
          </a:solidFill>
          <a:ln w="25400">
            <a:solidFill>
              <a:schemeClr val="tx2">
                <a:lumMod val="60000"/>
                <a:lumOff val="40000"/>
                <a:alpha val="70000"/>
              </a:schemeClr>
            </a:solidFill>
            <a:prstDash val="sysDash"/>
          </a:ln>
          <a:effectLst/>
        </p:spPr>
        <p:style>
          <a:lnRef idx="2">
            <a:schemeClr val="accent1">
              <a:shade val="15000"/>
            </a:schemeClr>
          </a:lnRef>
          <a:fillRef idx="1">
            <a:schemeClr val="accent1"/>
          </a:fillRef>
          <a:effectRef idx="0">
            <a:schemeClr val="accent1"/>
          </a:effectRef>
          <a:fontRef idx="minor">
            <a:schemeClr val="lt1"/>
          </a:fontRef>
        </p:style>
        <p:txBody>
          <a:bodyPr lIns="85954" tIns="42977" rIns="85954" bIns="42977" rtlCol="0" anchor="ctr"/>
          <a:lstStyle/>
          <a:p>
            <a:pPr algn="ctr"/>
            <a:endParaRPr lang="zh-CN" altLang="en-US" sz="1690">
              <a:latin typeface="微软雅黑" panose="020B0503020204020204" charset="-122"/>
              <a:ea typeface="微软雅黑" panose="020B0503020204020204" charset="-122"/>
              <a:cs typeface="微软雅黑" panose="020B0503020204020204" charset="-122"/>
            </a:endParaRPr>
          </a:p>
        </p:txBody>
      </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sz="2500" dirty="0">
                <a:solidFill>
                  <a:schemeClr val="tx2"/>
                </a:solidFill>
                <a:effectLst/>
                <a:latin typeface="微软雅黑" panose="020B0503020204020204" charset="-122"/>
                <a:ea typeface="微软雅黑" panose="020B0503020204020204" charset="-122"/>
                <a:cs typeface="微软雅黑" panose="020B0503020204020204" charset="-122"/>
              </a:rPr>
              <a:t>品牌价值体系的构建</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355600" y="186055"/>
            <a:ext cx="549910" cy="549910"/>
          </a:xfrm>
          <a:prstGeom prst="rect">
            <a:avLst/>
          </a:prstGeom>
        </p:spPr>
      </p:pic>
      <p:sp>
        <p:nvSpPr>
          <p:cNvPr id="35" name="Circle"/>
          <p:cNvSpPr/>
          <p:nvPr/>
        </p:nvSpPr>
        <p:spPr>
          <a:xfrm rot="5400000">
            <a:off x="2321908" y="3297197"/>
            <a:ext cx="1229086" cy="1229086"/>
          </a:xfrm>
          <a:prstGeom prst="ellipse">
            <a:avLst/>
          </a:prstGeom>
          <a:gradFill>
            <a:gsLst>
              <a:gs pos="0">
                <a:schemeClr val="accent1">
                  <a:lumMod val="60000"/>
                  <a:lumOff val="40000"/>
                </a:schemeClr>
              </a:gs>
              <a:gs pos="100000">
                <a:schemeClr val="accent1"/>
              </a:gs>
            </a:gsLst>
            <a:lin ang="18900000" scaled="0"/>
          </a:gradFill>
          <a:ln w="12700">
            <a:miter lim="400000"/>
          </a:ln>
          <a:effectLst/>
        </p:spPr>
        <p:txBody>
          <a:bodyPr lIns="0" tIns="0" rIns="0" bIns="0" anchor="ctr"/>
          <a:lstStyle/>
          <a:p>
            <a:endParaRPr sz="1690">
              <a:latin typeface="微软雅黑" panose="020B0503020204020204" charset="-122"/>
              <a:ea typeface="微软雅黑" panose="020B0503020204020204" charset="-122"/>
              <a:cs typeface="微软雅黑" panose="020B0503020204020204" charset="-122"/>
            </a:endParaRPr>
          </a:p>
        </p:txBody>
      </p:sp>
      <p:sp>
        <p:nvSpPr>
          <p:cNvPr id="37" name="Shape"/>
          <p:cNvSpPr/>
          <p:nvPr/>
        </p:nvSpPr>
        <p:spPr>
          <a:xfrm rot="5400000">
            <a:off x="3720184" y="3130492"/>
            <a:ext cx="1700868" cy="1682433"/>
          </a:xfrm>
          <a:custGeom>
            <a:avLst/>
            <a:gdLst/>
            <a:ahLst/>
            <a:cxnLst>
              <a:cxn ang="0">
                <a:pos x="wd2" y="hd2"/>
              </a:cxn>
              <a:cxn ang="5400000">
                <a:pos x="wd2" y="hd2"/>
              </a:cxn>
              <a:cxn ang="10800000">
                <a:pos x="wd2" y="hd2"/>
              </a:cxn>
              <a:cxn ang="16200000">
                <a:pos x="wd2" y="hd2"/>
              </a:cxn>
            </a:cxnLst>
            <a:rect l="0" t="0" r="r" b="b"/>
            <a:pathLst>
              <a:path w="21573" h="21575" extrusionOk="0">
                <a:moveTo>
                  <a:pt x="21159" y="2"/>
                </a:moveTo>
                <a:lnTo>
                  <a:pt x="14583" y="168"/>
                </a:lnTo>
                <a:cubicBezTo>
                  <a:pt x="14517" y="169"/>
                  <a:pt x="14455" y="207"/>
                  <a:pt x="14424" y="267"/>
                </a:cubicBezTo>
                <a:cubicBezTo>
                  <a:pt x="14389" y="338"/>
                  <a:pt x="14403" y="422"/>
                  <a:pt x="14458" y="479"/>
                </a:cubicBezTo>
                <a:lnTo>
                  <a:pt x="15397" y="1425"/>
                </a:lnTo>
                <a:lnTo>
                  <a:pt x="74" y="16882"/>
                </a:lnTo>
                <a:cubicBezTo>
                  <a:pt x="13" y="16924"/>
                  <a:pt x="-14" y="17000"/>
                  <a:pt x="7" y="17070"/>
                </a:cubicBezTo>
                <a:cubicBezTo>
                  <a:pt x="32" y="17153"/>
                  <a:pt x="114" y="17205"/>
                  <a:pt x="199" y="17191"/>
                </a:cubicBezTo>
                <a:lnTo>
                  <a:pt x="4238" y="17005"/>
                </a:lnTo>
                <a:cubicBezTo>
                  <a:pt x="4355" y="16996"/>
                  <a:pt x="4469" y="17040"/>
                  <a:pt x="4551" y="17124"/>
                </a:cubicBezTo>
                <a:cubicBezTo>
                  <a:pt x="4634" y="17209"/>
                  <a:pt x="4676" y="17326"/>
                  <a:pt x="4665" y="17445"/>
                </a:cubicBezTo>
                <a:lnTo>
                  <a:pt x="4537" y="21362"/>
                </a:lnTo>
                <a:cubicBezTo>
                  <a:pt x="4528" y="21437"/>
                  <a:pt x="4563" y="21510"/>
                  <a:pt x="4627" y="21548"/>
                </a:cubicBezTo>
                <a:cubicBezTo>
                  <a:pt x="4695" y="21588"/>
                  <a:pt x="4778" y="21582"/>
                  <a:pt x="4839" y="21532"/>
                </a:cubicBezTo>
                <a:lnTo>
                  <a:pt x="20124" y="6132"/>
                </a:lnTo>
                <a:lnTo>
                  <a:pt x="20981" y="7043"/>
                </a:lnTo>
                <a:cubicBezTo>
                  <a:pt x="21030" y="7083"/>
                  <a:pt x="21098" y="7093"/>
                  <a:pt x="21155" y="7068"/>
                </a:cubicBezTo>
                <a:cubicBezTo>
                  <a:pt x="21225" y="7039"/>
                  <a:pt x="21268" y="6966"/>
                  <a:pt x="21261" y="6890"/>
                </a:cubicBezTo>
                <a:lnTo>
                  <a:pt x="21569" y="433"/>
                </a:lnTo>
                <a:cubicBezTo>
                  <a:pt x="21586" y="323"/>
                  <a:pt x="21553" y="212"/>
                  <a:pt x="21480" y="129"/>
                </a:cubicBezTo>
                <a:cubicBezTo>
                  <a:pt x="21400" y="36"/>
                  <a:pt x="21280" y="-12"/>
                  <a:pt x="21159" y="2"/>
                </a:cubicBezTo>
                <a:close/>
              </a:path>
            </a:pathLst>
          </a:custGeom>
          <a:gradFill>
            <a:gsLst>
              <a:gs pos="0">
                <a:schemeClr val="accent1">
                  <a:lumMod val="40000"/>
                  <a:lumOff val="60000"/>
                </a:schemeClr>
              </a:gs>
              <a:gs pos="100000">
                <a:schemeClr val="accent1">
                  <a:lumMod val="60000"/>
                  <a:lumOff val="40000"/>
                </a:schemeClr>
              </a:gs>
            </a:gsLst>
            <a:lin ang="18900000" scaled="0"/>
          </a:gradFill>
          <a:ln w="12700">
            <a:miter lim="400000"/>
          </a:ln>
          <a:effectLst/>
        </p:spPr>
        <p:txBody>
          <a:bodyPr lIns="21487" tIns="21487" rIns="21487" bIns="21487">
            <a:noAutofit/>
          </a:bodyPr>
          <a:lstStyle/>
          <a:p>
            <a:pPr lvl="0" algn="l">
              <a:buClrTx/>
              <a:buSzTx/>
              <a:buFontTx/>
              <a:defRPr>
                <a:solidFill>
                  <a:srgbClr val="525455"/>
                </a:solidFill>
              </a:defRPr>
            </a:pPr>
            <a:endParaRPr sz="1690">
              <a:latin typeface="微软雅黑" panose="020B0503020204020204" charset="-122"/>
              <a:ea typeface="微软雅黑" panose="020B0503020204020204" charset="-122"/>
              <a:cs typeface="微软雅黑" panose="020B0503020204020204" charset="-122"/>
              <a:sym typeface="+mn-ea"/>
            </a:endParaRPr>
          </a:p>
        </p:txBody>
      </p:sp>
      <p:sp>
        <p:nvSpPr>
          <p:cNvPr id="38" name="Shape"/>
          <p:cNvSpPr/>
          <p:nvPr/>
        </p:nvSpPr>
        <p:spPr>
          <a:xfrm rot="5400000">
            <a:off x="2661398" y="2081679"/>
            <a:ext cx="893266" cy="1825751"/>
          </a:xfrm>
          <a:custGeom>
            <a:avLst/>
            <a:gdLst/>
            <a:ahLst/>
            <a:cxnLst>
              <a:cxn ang="0">
                <a:pos x="wd2" y="hd2"/>
              </a:cxn>
              <a:cxn ang="5400000">
                <a:pos x="wd2" y="hd2"/>
              </a:cxn>
              <a:cxn ang="10800000">
                <a:pos x="wd2" y="hd2"/>
              </a:cxn>
              <a:cxn ang="16200000">
                <a:pos x="wd2" y="hd2"/>
              </a:cxn>
            </a:cxnLst>
            <a:rect l="0" t="0" r="r" b="b"/>
            <a:pathLst>
              <a:path w="20752" h="21580" extrusionOk="0">
                <a:moveTo>
                  <a:pt x="20045" y="0"/>
                </a:moveTo>
                <a:lnTo>
                  <a:pt x="8110" y="185"/>
                </a:lnTo>
                <a:cubicBezTo>
                  <a:pt x="7977" y="181"/>
                  <a:pt x="7850" y="220"/>
                  <a:pt x="7798" y="283"/>
                </a:cubicBezTo>
                <a:cubicBezTo>
                  <a:pt x="7756" y="335"/>
                  <a:pt x="7771" y="395"/>
                  <a:pt x="7838" y="440"/>
                </a:cubicBezTo>
                <a:lnTo>
                  <a:pt x="9423" y="1290"/>
                </a:lnTo>
                <a:cubicBezTo>
                  <a:pt x="4600" y="3699"/>
                  <a:pt x="1431" y="6833"/>
                  <a:pt x="382" y="10230"/>
                </a:cubicBezTo>
                <a:cubicBezTo>
                  <a:pt x="-831" y="14163"/>
                  <a:pt x="863" y="18184"/>
                  <a:pt x="5138" y="21518"/>
                </a:cubicBezTo>
                <a:cubicBezTo>
                  <a:pt x="5236" y="21578"/>
                  <a:pt x="5400" y="21597"/>
                  <a:pt x="5539" y="21564"/>
                </a:cubicBezTo>
                <a:cubicBezTo>
                  <a:pt x="5680" y="21530"/>
                  <a:pt x="5759" y="21452"/>
                  <a:pt x="5729" y="21374"/>
                </a:cubicBezTo>
                <a:lnTo>
                  <a:pt x="5353" y="18126"/>
                </a:lnTo>
                <a:cubicBezTo>
                  <a:pt x="5325" y="18019"/>
                  <a:pt x="5392" y="17910"/>
                  <a:pt x="5532" y="17827"/>
                </a:cubicBezTo>
                <a:cubicBezTo>
                  <a:pt x="5693" y="17732"/>
                  <a:pt x="5932" y="17683"/>
                  <a:pt x="6177" y="17694"/>
                </a:cubicBezTo>
                <a:lnTo>
                  <a:pt x="14085" y="17895"/>
                </a:lnTo>
                <a:cubicBezTo>
                  <a:pt x="14256" y="17900"/>
                  <a:pt x="14418" y="17855"/>
                  <a:pt x="14501" y="17778"/>
                </a:cubicBezTo>
                <a:cubicBezTo>
                  <a:pt x="14577" y="17707"/>
                  <a:pt x="14574" y="17622"/>
                  <a:pt x="14490" y="17554"/>
                </a:cubicBezTo>
                <a:cubicBezTo>
                  <a:pt x="12359" y="15589"/>
                  <a:pt x="11600" y="13315"/>
                  <a:pt x="12338" y="11102"/>
                </a:cubicBezTo>
                <a:cubicBezTo>
                  <a:pt x="13039" y="9003"/>
                  <a:pt x="15053" y="7073"/>
                  <a:pt x="18079" y="5601"/>
                </a:cubicBezTo>
                <a:lnTo>
                  <a:pt x="19736" y="6525"/>
                </a:lnTo>
                <a:cubicBezTo>
                  <a:pt x="19827" y="6576"/>
                  <a:pt x="19969" y="6593"/>
                  <a:pt x="20095" y="6567"/>
                </a:cubicBezTo>
                <a:cubicBezTo>
                  <a:pt x="20208" y="6543"/>
                  <a:pt x="20285" y="6488"/>
                  <a:pt x="20292" y="6426"/>
                </a:cubicBezTo>
                <a:lnTo>
                  <a:pt x="20747" y="389"/>
                </a:lnTo>
                <a:cubicBezTo>
                  <a:pt x="20769" y="291"/>
                  <a:pt x="20708" y="193"/>
                  <a:pt x="20579" y="119"/>
                </a:cubicBezTo>
                <a:cubicBezTo>
                  <a:pt x="20443" y="41"/>
                  <a:pt x="20249" y="-3"/>
                  <a:pt x="20045" y="0"/>
                </a:cubicBezTo>
                <a:close/>
              </a:path>
            </a:pathLst>
          </a:custGeom>
          <a:gradFill>
            <a:gsLst>
              <a:gs pos="0">
                <a:schemeClr val="accent1">
                  <a:lumMod val="40000"/>
                  <a:lumOff val="60000"/>
                </a:schemeClr>
              </a:gs>
              <a:gs pos="100000">
                <a:schemeClr val="accent1">
                  <a:lumMod val="60000"/>
                  <a:lumOff val="40000"/>
                </a:schemeClr>
              </a:gs>
            </a:gsLst>
            <a:lin ang="18900000" scaled="0"/>
          </a:gradFill>
          <a:ln w="12700">
            <a:miter lim="400000"/>
          </a:ln>
          <a:effectLst/>
        </p:spPr>
        <p:txBody>
          <a:bodyPr lIns="21487" tIns="21487" rIns="21487" bIns="21487">
            <a:noAutofit/>
          </a:bodyPr>
          <a:lstStyle/>
          <a:p>
            <a:pPr lvl="0" algn="l">
              <a:buClrTx/>
              <a:buSzTx/>
              <a:buFontTx/>
              <a:defRPr>
                <a:solidFill>
                  <a:srgbClr val="525455"/>
                </a:solidFill>
              </a:defRPr>
            </a:pPr>
            <a:endParaRPr sz="1690">
              <a:latin typeface="微软雅黑" panose="020B0503020204020204" charset="-122"/>
              <a:ea typeface="微软雅黑" panose="020B0503020204020204" charset="-122"/>
              <a:cs typeface="微软雅黑" panose="020B0503020204020204" charset="-122"/>
              <a:sym typeface="+mn-ea"/>
            </a:endParaRPr>
          </a:p>
        </p:txBody>
      </p:sp>
      <p:sp>
        <p:nvSpPr>
          <p:cNvPr id="41" name="Shape"/>
          <p:cNvSpPr/>
          <p:nvPr/>
        </p:nvSpPr>
        <p:spPr>
          <a:xfrm rot="5400000">
            <a:off x="2437574" y="3827981"/>
            <a:ext cx="886547" cy="2032159"/>
          </a:xfrm>
          <a:custGeom>
            <a:avLst/>
            <a:gdLst/>
            <a:ahLst/>
            <a:cxnLst>
              <a:cxn ang="0">
                <a:pos x="wd2" y="hd2"/>
              </a:cxn>
              <a:cxn ang="5400000">
                <a:pos x="wd2" y="hd2"/>
              </a:cxn>
              <a:cxn ang="10800000">
                <a:pos x="wd2" y="hd2"/>
              </a:cxn>
              <a:cxn ang="16200000">
                <a:pos x="wd2" y="hd2"/>
              </a:cxn>
            </a:cxnLst>
            <a:rect l="0" t="0" r="r" b="b"/>
            <a:pathLst>
              <a:path w="21414" h="21585" extrusionOk="0">
                <a:moveTo>
                  <a:pt x="11910" y="0"/>
                </a:moveTo>
                <a:cubicBezTo>
                  <a:pt x="11757" y="-1"/>
                  <a:pt x="11612" y="28"/>
                  <a:pt x="11515" y="80"/>
                </a:cubicBezTo>
                <a:lnTo>
                  <a:pt x="3327" y="3664"/>
                </a:lnTo>
                <a:cubicBezTo>
                  <a:pt x="3233" y="3714"/>
                  <a:pt x="3190" y="3779"/>
                  <a:pt x="3212" y="3843"/>
                </a:cubicBezTo>
                <a:cubicBezTo>
                  <a:pt x="3231" y="3899"/>
                  <a:pt x="3298" y="3950"/>
                  <a:pt x="3398" y="3986"/>
                </a:cubicBezTo>
                <a:cubicBezTo>
                  <a:pt x="7243" y="5829"/>
                  <a:pt x="9190" y="8287"/>
                  <a:pt x="8786" y="10782"/>
                </a:cubicBezTo>
                <a:cubicBezTo>
                  <a:pt x="8433" y="12957"/>
                  <a:pt x="6306" y="15002"/>
                  <a:pt x="2794" y="16541"/>
                </a:cubicBezTo>
                <a:lnTo>
                  <a:pt x="1004" y="15709"/>
                </a:lnTo>
                <a:cubicBezTo>
                  <a:pt x="905" y="15673"/>
                  <a:pt x="769" y="15666"/>
                  <a:pt x="654" y="15691"/>
                </a:cubicBezTo>
                <a:cubicBezTo>
                  <a:pt x="518" y="15720"/>
                  <a:pt x="443" y="15784"/>
                  <a:pt x="471" y="15850"/>
                </a:cubicBezTo>
                <a:lnTo>
                  <a:pt x="1" y="21209"/>
                </a:lnTo>
                <a:cubicBezTo>
                  <a:pt x="-12" y="21296"/>
                  <a:pt x="48" y="21384"/>
                  <a:pt x="173" y="21452"/>
                </a:cubicBezTo>
                <a:cubicBezTo>
                  <a:pt x="352" y="21550"/>
                  <a:pt x="636" y="21599"/>
                  <a:pt x="919" y="21581"/>
                </a:cubicBezTo>
                <a:lnTo>
                  <a:pt x="13140" y="21398"/>
                </a:lnTo>
                <a:cubicBezTo>
                  <a:pt x="13303" y="21405"/>
                  <a:pt x="13460" y="21367"/>
                  <a:pt x="13532" y="21303"/>
                </a:cubicBezTo>
                <a:cubicBezTo>
                  <a:pt x="13606" y="21236"/>
                  <a:pt x="13573" y="21156"/>
                  <a:pt x="13454" y="21104"/>
                </a:cubicBezTo>
                <a:lnTo>
                  <a:pt x="11738" y="20404"/>
                </a:lnTo>
                <a:cubicBezTo>
                  <a:pt x="17764" y="17750"/>
                  <a:pt x="21229" y="14176"/>
                  <a:pt x="21406" y="10426"/>
                </a:cubicBezTo>
                <a:cubicBezTo>
                  <a:pt x="21588" y="6591"/>
                  <a:pt x="18321" y="2878"/>
                  <a:pt x="12316" y="95"/>
                </a:cubicBezTo>
                <a:cubicBezTo>
                  <a:pt x="12224" y="36"/>
                  <a:pt x="12073" y="1"/>
                  <a:pt x="11910" y="0"/>
                </a:cubicBezTo>
                <a:close/>
              </a:path>
            </a:pathLst>
          </a:custGeom>
          <a:gradFill>
            <a:gsLst>
              <a:gs pos="0">
                <a:schemeClr val="accent1">
                  <a:lumMod val="40000"/>
                  <a:lumOff val="60000"/>
                </a:schemeClr>
              </a:gs>
              <a:gs pos="100000">
                <a:schemeClr val="accent1">
                  <a:lumMod val="60000"/>
                  <a:lumOff val="40000"/>
                </a:schemeClr>
              </a:gs>
            </a:gsLst>
            <a:lin ang="18900000" scaled="0"/>
          </a:gradFill>
          <a:ln w="12700">
            <a:miter lim="400000"/>
          </a:ln>
          <a:effectLst/>
        </p:spPr>
        <p:txBody>
          <a:bodyPr lIns="21487" tIns="21487" rIns="21487" bIns="21487"/>
          <a:lstStyle/>
          <a:p>
            <a:pPr>
              <a:defRPr>
                <a:solidFill>
                  <a:srgbClr val="525455"/>
                </a:solidFill>
              </a:defRPr>
            </a:pPr>
            <a:endParaRPr sz="1690">
              <a:latin typeface="微软雅黑" panose="020B0503020204020204" charset="-122"/>
              <a:ea typeface="微软雅黑" panose="020B0503020204020204" charset="-122"/>
              <a:cs typeface="微软雅黑" panose="020B0503020204020204" charset="-122"/>
            </a:endParaRPr>
          </a:p>
        </p:txBody>
      </p:sp>
      <p:sp>
        <p:nvSpPr>
          <p:cNvPr id="55" name="Shape"/>
          <p:cNvSpPr/>
          <p:nvPr/>
        </p:nvSpPr>
        <p:spPr>
          <a:xfrm rot="5400000">
            <a:off x="1104587" y="3295970"/>
            <a:ext cx="1829414" cy="892278"/>
          </a:xfrm>
          <a:custGeom>
            <a:avLst/>
            <a:gdLst/>
            <a:ahLst/>
            <a:cxnLst>
              <a:cxn ang="0">
                <a:pos x="wd2" y="hd2"/>
              </a:cxn>
              <a:cxn ang="5400000">
                <a:pos x="wd2" y="hd2"/>
              </a:cxn>
              <a:cxn ang="10800000">
                <a:pos x="wd2" y="hd2"/>
              </a:cxn>
              <a:cxn ang="16200000">
                <a:pos x="wd2" y="hd2"/>
              </a:cxn>
            </a:cxnLst>
            <a:rect l="0" t="0" r="r" b="b"/>
            <a:pathLst>
              <a:path w="21578" h="21052" extrusionOk="0">
                <a:moveTo>
                  <a:pt x="394" y="0"/>
                </a:moveTo>
                <a:cubicBezTo>
                  <a:pt x="279" y="2"/>
                  <a:pt x="169" y="102"/>
                  <a:pt x="94" y="277"/>
                </a:cubicBezTo>
                <a:cubicBezTo>
                  <a:pt x="21" y="447"/>
                  <a:pt x="-11" y="670"/>
                  <a:pt x="3" y="892"/>
                </a:cubicBezTo>
                <a:lnTo>
                  <a:pt x="312" y="12707"/>
                </a:lnTo>
                <a:cubicBezTo>
                  <a:pt x="307" y="12842"/>
                  <a:pt x="342" y="12969"/>
                  <a:pt x="402" y="13034"/>
                </a:cubicBezTo>
                <a:cubicBezTo>
                  <a:pt x="466" y="13105"/>
                  <a:pt x="545" y="13087"/>
                  <a:pt x="600" y="12991"/>
                </a:cubicBezTo>
                <a:lnTo>
                  <a:pt x="1341" y="11654"/>
                </a:lnTo>
                <a:cubicBezTo>
                  <a:pt x="3992" y="16921"/>
                  <a:pt x="7473" y="20191"/>
                  <a:pt x="11193" y="20904"/>
                </a:cubicBezTo>
                <a:cubicBezTo>
                  <a:pt x="14818" y="21600"/>
                  <a:pt x="18454" y="19824"/>
                  <a:pt x="21512" y="15864"/>
                </a:cubicBezTo>
                <a:cubicBezTo>
                  <a:pt x="21565" y="15790"/>
                  <a:pt x="21589" y="15654"/>
                  <a:pt x="21572" y="15529"/>
                </a:cubicBezTo>
                <a:cubicBezTo>
                  <a:pt x="21554" y="15396"/>
                  <a:pt x="21494" y="15305"/>
                  <a:pt x="21425" y="15303"/>
                </a:cubicBezTo>
                <a:lnTo>
                  <a:pt x="18107" y="15613"/>
                </a:lnTo>
                <a:cubicBezTo>
                  <a:pt x="18000" y="15648"/>
                  <a:pt x="17890" y="15588"/>
                  <a:pt x="17807" y="15449"/>
                </a:cubicBezTo>
                <a:cubicBezTo>
                  <a:pt x="17721" y="15305"/>
                  <a:pt x="17673" y="15093"/>
                  <a:pt x="17674" y="14870"/>
                </a:cubicBezTo>
                <a:lnTo>
                  <a:pt x="17865" y="6606"/>
                </a:lnTo>
                <a:cubicBezTo>
                  <a:pt x="17880" y="6455"/>
                  <a:pt x="17847" y="6304"/>
                  <a:pt x="17781" y="6220"/>
                </a:cubicBezTo>
                <a:cubicBezTo>
                  <a:pt x="17725" y="6148"/>
                  <a:pt x="17653" y="6139"/>
                  <a:pt x="17594" y="6202"/>
                </a:cubicBezTo>
                <a:cubicBezTo>
                  <a:pt x="15786" y="8239"/>
                  <a:pt x="13703" y="9093"/>
                  <a:pt x="11640" y="8642"/>
                </a:cubicBezTo>
                <a:cubicBezTo>
                  <a:pt x="9395" y="8151"/>
                  <a:pt x="7299" y="6148"/>
                  <a:pt x="5698" y="2961"/>
                </a:cubicBezTo>
                <a:lnTo>
                  <a:pt x="6552" y="1111"/>
                </a:lnTo>
                <a:cubicBezTo>
                  <a:pt x="6604" y="1006"/>
                  <a:pt x="6615" y="849"/>
                  <a:pt x="6581" y="717"/>
                </a:cubicBezTo>
                <a:cubicBezTo>
                  <a:pt x="6549" y="595"/>
                  <a:pt x="6484" y="521"/>
                  <a:pt x="6415" y="535"/>
                </a:cubicBezTo>
                <a:lnTo>
                  <a:pt x="394" y="0"/>
                </a:lnTo>
                <a:close/>
              </a:path>
            </a:pathLst>
          </a:custGeom>
          <a:gradFill>
            <a:gsLst>
              <a:gs pos="0">
                <a:schemeClr val="accent1">
                  <a:lumMod val="40000"/>
                  <a:lumOff val="60000"/>
                </a:schemeClr>
              </a:gs>
              <a:gs pos="100000">
                <a:schemeClr val="accent1">
                  <a:lumMod val="60000"/>
                  <a:lumOff val="40000"/>
                </a:schemeClr>
              </a:gs>
            </a:gsLst>
            <a:lin ang="18900000" scaled="0"/>
          </a:gradFill>
          <a:ln w="12700">
            <a:miter lim="400000"/>
          </a:ln>
          <a:effectLst/>
        </p:spPr>
        <p:txBody>
          <a:bodyPr lIns="21487" tIns="21487" rIns="21487" bIns="21487">
            <a:noAutofit/>
          </a:bodyPr>
          <a:lstStyle/>
          <a:p>
            <a:pPr lvl="0" algn="l">
              <a:buClrTx/>
              <a:buSzTx/>
              <a:buFontTx/>
              <a:defRPr>
                <a:solidFill>
                  <a:srgbClr val="525455"/>
                </a:solidFill>
              </a:defRPr>
            </a:pPr>
            <a:endParaRPr sz="1690">
              <a:latin typeface="微软雅黑" panose="020B0503020204020204" charset="-122"/>
              <a:ea typeface="微软雅黑" panose="020B0503020204020204" charset="-122"/>
              <a:cs typeface="微软雅黑" panose="020B0503020204020204" charset="-122"/>
              <a:sym typeface="+mn-ea"/>
            </a:endParaRPr>
          </a:p>
        </p:txBody>
      </p:sp>
      <p:sp>
        <p:nvSpPr>
          <p:cNvPr id="56" name="Freeform 661"/>
          <p:cNvSpPr/>
          <p:nvPr/>
        </p:nvSpPr>
        <p:spPr>
          <a:xfrm rot="5400000">
            <a:off x="2745348" y="3551885"/>
            <a:ext cx="407066" cy="416758"/>
          </a:xfrm>
          <a:custGeom>
            <a:avLst/>
            <a:gdLst/>
            <a:ahLst/>
            <a:cxnLst>
              <a:cxn ang="0">
                <a:pos x="wd2" y="hd2"/>
              </a:cxn>
              <a:cxn ang="5400000">
                <a:pos x="wd2" y="hd2"/>
              </a:cxn>
              <a:cxn ang="10800000">
                <a:pos x="wd2" y="hd2"/>
              </a:cxn>
              <a:cxn ang="16200000">
                <a:pos x="wd2" y="hd2"/>
              </a:cxn>
            </a:cxnLst>
            <a:rect l="0" t="0" r="r" b="b"/>
            <a:pathLst>
              <a:path w="21600" h="21600" extrusionOk="0">
                <a:moveTo>
                  <a:pt x="18231" y="0"/>
                </a:moveTo>
                <a:lnTo>
                  <a:pt x="13496" y="4642"/>
                </a:lnTo>
                <a:lnTo>
                  <a:pt x="13496" y="7050"/>
                </a:lnTo>
                <a:lnTo>
                  <a:pt x="10463" y="10081"/>
                </a:lnTo>
                <a:cubicBezTo>
                  <a:pt x="10369" y="10062"/>
                  <a:pt x="10279" y="10047"/>
                  <a:pt x="10179" y="10047"/>
                </a:cubicBezTo>
                <a:cubicBezTo>
                  <a:pt x="9419" y="10047"/>
                  <a:pt x="8796" y="10656"/>
                  <a:pt x="8796" y="11398"/>
                </a:cubicBezTo>
                <a:cubicBezTo>
                  <a:pt x="8796" y="12140"/>
                  <a:pt x="9420" y="12731"/>
                  <a:pt x="10179" y="12731"/>
                </a:cubicBezTo>
                <a:cubicBezTo>
                  <a:pt x="10939" y="12731"/>
                  <a:pt x="11563" y="12140"/>
                  <a:pt x="11563" y="11398"/>
                </a:cubicBezTo>
                <a:cubicBezTo>
                  <a:pt x="11563" y="11256"/>
                  <a:pt x="11533" y="11110"/>
                  <a:pt x="11492" y="10982"/>
                </a:cubicBezTo>
                <a:lnTo>
                  <a:pt x="14524" y="7933"/>
                </a:lnTo>
                <a:lnTo>
                  <a:pt x="16847" y="7933"/>
                </a:lnTo>
                <a:lnTo>
                  <a:pt x="21600" y="3291"/>
                </a:lnTo>
                <a:lnTo>
                  <a:pt x="19348" y="3083"/>
                </a:lnTo>
                <a:lnTo>
                  <a:pt x="20518" y="1905"/>
                </a:lnTo>
                <a:lnTo>
                  <a:pt x="19525" y="970"/>
                </a:lnTo>
                <a:lnTo>
                  <a:pt x="18443" y="2061"/>
                </a:lnTo>
                <a:lnTo>
                  <a:pt x="18231" y="0"/>
                </a:lnTo>
                <a:close/>
                <a:moveTo>
                  <a:pt x="10179" y="1715"/>
                </a:moveTo>
                <a:cubicBezTo>
                  <a:pt x="4557" y="1715"/>
                  <a:pt x="0" y="6166"/>
                  <a:pt x="0" y="11657"/>
                </a:cubicBezTo>
                <a:cubicBezTo>
                  <a:pt x="0" y="17149"/>
                  <a:pt x="4558" y="21600"/>
                  <a:pt x="10179" y="21600"/>
                </a:cubicBezTo>
                <a:cubicBezTo>
                  <a:pt x="15802" y="21600"/>
                  <a:pt x="20359" y="17149"/>
                  <a:pt x="20359" y="11657"/>
                </a:cubicBezTo>
                <a:cubicBezTo>
                  <a:pt x="20359" y="10082"/>
                  <a:pt x="19979" y="8598"/>
                  <a:pt x="19312" y="7275"/>
                </a:cubicBezTo>
                <a:lnTo>
                  <a:pt x="17858" y="8695"/>
                </a:lnTo>
                <a:cubicBezTo>
                  <a:pt x="18231" y="9612"/>
                  <a:pt x="18426" y="10612"/>
                  <a:pt x="18426" y="11657"/>
                </a:cubicBezTo>
                <a:cubicBezTo>
                  <a:pt x="18426" y="16103"/>
                  <a:pt x="14731" y="19729"/>
                  <a:pt x="10179" y="19729"/>
                </a:cubicBezTo>
                <a:cubicBezTo>
                  <a:pt x="5628" y="19729"/>
                  <a:pt x="1933" y="16104"/>
                  <a:pt x="1933" y="11657"/>
                </a:cubicBezTo>
                <a:cubicBezTo>
                  <a:pt x="1933" y="7212"/>
                  <a:pt x="5628" y="3603"/>
                  <a:pt x="10179" y="3603"/>
                </a:cubicBezTo>
                <a:cubicBezTo>
                  <a:pt x="10911" y="3603"/>
                  <a:pt x="11614" y="3688"/>
                  <a:pt x="12290" y="3863"/>
                </a:cubicBezTo>
                <a:lnTo>
                  <a:pt x="13815" y="2373"/>
                </a:lnTo>
                <a:cubicBezTo>
                  <a:pt x="12683" y="1949"/>
                  <a:pt x="11464" y="1715"/>
                  <a:pt x="10179" y="1715"/>
                </a:cubicBezTo>
                <a:close/>
                <a:moveTo>
                  <a:pt x="10179" y="6011"/>
                </a:moveTo>
                <a:cubicBezTo>
                  <a:pt x="7140" y="6011"/>
                  <a:pt x="4682" y="8412"/>
                  <a:pt x="4682" y="11380"/>
                </a:cubicBezTo>
                <a:cubicBezTo>
                  <a:pt x="4682" y="14348"/>
                  <a:pt x="7140" y="16767"/>
                  <a:pt x="10179" y="16767"/>
                </a:cubicBezTo>
                <a:cubicBezTo>
                  <a:pt x="13218" y="16767"/>
                  <a:pt x="15677" y="14348"/>
                  <a:pt x="15677" y="11380"/>
                </a:cubicBezTo>
                <a:cubicBezTo>
                  <a:pt x="15678" y="10534"/>
                  <a:pt x="15484" y="9737"/>
                  <a:pt x="15127" y="9025"/>
                </a:cubicBezTo>
                <a:lnTo>
                  <a:pt x="14099" y="10116"/>
                </a:lnTo>
                <a:cubicBezTo>
                  <a:pt x="14237" y="10518"/>
                  <a:pt x="14311" y="10933"/>
                  <a:pt x="14311" y="11380"/>
                </a:cubicBezTo>
                <a:cubicBezTo>
                  <a:pt x="14311" y="13603"/>
                  <a:pt x="12455" y="15416"/>
                  <a:pt x="10179" y="15416"/>
                </a:cubicBezTo>
                <a:cubicBezTo>
                  <a:pt x="7904" y="15416"/>
                  <a:pt x="6047" y="13603"/>
                  <a:pt x="6047" y="11380"/>
                </a:cubicBezTo>
                <a:cubicBezTo>
                  <a:pt x="6047" y="9158"/>
                  <a:pt x="7904" y="7362"/>
                  <a:pt x="10179" y="7362"/>
                </a:cubicBezTo>
                <a:cubicBezTo>
                  <a:pt x="10570" y="7362"/>
                  <a:pt x="10939" y="7418"/>
                  <a:pt x="11297" y="7518"/>
                </a:cubicBezTo>
                <a:lnTo>
                  <a:pt x="12325" y="6444"/>
                </a:lnTo>
                <a:cubicBezTo>
                  <a:pt x="11665" y="6170"/>
                  <a:pt x="10942" y="6011"/>
                  <a:pt x="10179" y="6011"/>
                </a:cubicBezTo>
                <a:close/>
              </a:path>
            </a:pathLst>
          </a:custGeom>
          <a:solidFill>
            <a:srgbClr val="F5F5F7"/>
          </a:solidFill>
          <a:ln w="12700">
            <a:miter lim="400000"/>
          </a:ln>
          <a:effectLst/>
        </p:spPr>
        <p:txBody>
          <a:bodyPr lIns="21488" tIns="42977" rIns="21488" bIns="42977" anchor="ctr"/>
          <a:lstStyle/>
          <a:p>
            <a:pPr algn="ctr" defTabSz="457200">
              <a:defRPr sz="1800" b="0">
                <a:solidFill>
                  <a:srgbClr val="000000"/>
                </a:solidFill>
                <a:latin typeface="Open Sans Bold"/>
                <a:ea typeface="Open Sans Bold"/>
                <a:cs typeface="Open Sans Bold"/>
                <a:sym typeface="Open Sans Bold"/>
              </a:defRPr>
            </a:pPr>
            <a:endParaRPr sz="12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7" name="Venn diagram"/>
          <p:cNvSpPr txBox="1"/>
          <p:nvPr/>
        </p:nvSpPr>
        <p:spPr>
          <a:xfrm>
            <a:off x="2562225" y="4030980"/>
            <a:ext cx="773430" cy="263525"/>
          </a:xfrm>
          <a:prstGeom prst="rect">
            <a:avLst/>
          </a:prstGeom>
          <a:ln w="12700">
            <a:miter lim="400000"/>
          </a:ln>
          <a:effectLst/>
        </p:spPr>
        <p:txBody>
          <a:bodyPr lIns="23876" tIns="23876" rIns="23876" bIns="23876">
            <a:noAutofit/>
          </a:bodyPr>
          <a:lstStyle>
            <a:lvl1pPr>
              <a:defRPr sz="2500" b="0">
                <a:solidFill>
                  <a:srgbClr val="31303D"/>
                </a:solidFill>
                <a:latin typeface="Maven Pro Regular SemiBold"/>
                <a:ea typeface="Maven Pro Regular SemiBold"/>
                <a:cs typeface="Maven Pro Regular SemiBold"/>
                <a:sym typeface="Maven Pro Regular SemiBold"/>
              </a:defRPr>
            </a:lvl1pPr>
          </a:lstStyle>
          <a:p>
            <a:pPr algn="ct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核心价值</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8" name="Venn diagram"/>
          <p:cNvSpPr txBox="1"/>
          <p:nvPr/>
        </p:nvSpPr>
        <p:spPr>
          <a:xfrm>
            <a:off x="2670175" y="2669540"/>
            <a:ext cx="880745" cy="335280"/>
          </a:xfrm>
          <a:prstGeom prst="rect">
            <a:avLst/>
          </a:prstGeom>
          <a:ln w="12700">
            <a:miter lim="400000"/>
          </a:ln>
          <a:effectLst/>
        </p:spPr>
        <p:txBody>
          <a:bodyPr wrap="square" lIns="23876" tIns="23876" rIns="23876" bIns="23876">
            <a:spAutoFit/>
          </a:bodyPr>
          <a:lstStyle>
            <a:lvl1pPr>
              <a:defRPr sz="2000" b="0">
                <a:solidFill>
                  <a:srgbClr val="FFFFFF"/>
                </a:solidFill>
                <a:latin typeface="+mn-lt"/>
                <a:ea typeface="+mn-ea"/>
                <a:cs typeface="+mn-cs"/>
                <a:sym typeface="OpenSans"/>
              </a:defRPr>
            </a:lvl1pPr>
          </a:lstStyle>
          <a:p>
            <a:pPr algn="ctr"/>
            <a:r>
              <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市场竞争力与商业价值</a:t>
            </a:r>
            <a:endPar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9" name="Venn diagram"/>
          <p:cNvSpPr txBox="1"/>
          <p:nvPr/>
        </p:nvSpPr>
        <p:spPr>
          <a:xfrm>
            <a:off x="1482351" y="3553982"/>
            <a:ext cx="773431" cy="335280"/>
          </a:xfrm>
          <a:prstGeom prst="rect">
            <a:avLst/>
          </a:prstGeom>
          <a:ln w="12700">
            <a:miter lim="400000"/>
          </a:ln>
          <a:effectLst/>
        </p:spPr>
        <p:txBody>
          <a:bodyPr lIns="23876" tIns="23876" rIns="23876" bIns="23876">
            <a:spAutoFit/>
          </a:bodyPr>
          <a:lstStyle>
            <a:lvl1pPr>
              <a:defRPr sz="2000" b="0">
                <a:solidFill>
                  <a:srgbClr val="FFFFFF"/>
                </a:solidFill>
                <a:latin typeface="+mn-lt"/>
                <a:ea typeface="+mn-ea"/>
                <a:cs typeface="+mn-cs"/>
                <a:sym typeface="OpenSans"/>
              </a:defRPr>
            </a:lvl1pPr>
          </a:lstStyle>
          <a:p>
            <a:pPr algn="ctr"/>
            <a:r>
              <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品牌形象</a:t>
            </a:r>
            <a:endPar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与联想</a:t>
            </a:r>
            <a:endPar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1" name="Venn diagram"/>
          <p:cNvSpPr txBox="1"/>
          <p:nvPr/>
        </p:nvSpPr>
        <p:spPr>
          <a:xfrm>
            <a:off x="2465705" y="4866640"/>
            <a:ext cx="847725" cy="335280"/>
          </a:xfrm>
          <a:prstGeom prst="rect">
            <a:avLst/>
          </a:prstGeom>
          <a:ln w="12700">
            <a:miter lim="400000"/>
          </a:ln>
          <a:effectLst/>
        </p:spPr>
        <p:txBody>
          <a:bodyPr wrap="square" lIns="23876" tIns="23876" rIns="23876" bIns="23876">
            <a:spAutoFit/>
          </a:bodyPr>
          <a:lstStyle>
            <a:lvl1pPr>
              <a:defRPr sz="2000" b="0">
                <a:solidFill>
                  <a:srgbClr val="FFFFFF"/>
                </a:solidFill>
                <a:latin typeface="+mn-lt"/>
                <a:ea typeface="+mn-ea"/>
                <a:cs typeface="+mn-cs"/>
                <a:sym typeface="OpenSans"/>
              </a:defRPr>
            </a:lvl1pPr>
          </a:lstStyle>
          <a:p>
            <a:pPr algn="ctr"/>
            <a:r>
              <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品牌知名度与认知度</a:t>
            </a:r>
            <a:endPar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2" name="Venn diagram"/>
          <p:cNvSpPr txBox="1"/>
          <p:nvPr/>
        </p:nvSpPr>
        <p:spPr>
          <a:xfrm>
            <a:off x="4184718" y="3815017"/>
            <a:ext cx="773431" cy="335280"/>
          </a:xfrm>
          <a:prstGeom prst="rect">
            <a:avLst/>
          </a:prstGeom>
          <a:ln w="12700">
            <a:miter lim="400000"/>
          </a:ln>
          <a:effectLst/>
        </p:spPr>
        <p:txBody>
          <a:bodyPr lIns="23876" tIns="23876" rIns="23876" bIns="23876">
            <a:spAutoFit/>
          </a:bodyPr>
          <a:lstStyle>
            <a:lvl1pPr>
              <a:defRPr sz="2000" b="0">
                <a:solidFill>
                  <a:srgbClr val="FFFFFF"/>
                </a:solidFill>
                <a:latin typeface="+mn-lt"/>
                <a:ea typeface="+mn-ea"/>
                <a:cs typeface="+mn-cs"/>
                <a:sym typeface="OpenSans"/>
              </a:defRPr>
            </a:lvl1pPr>
          </a:lstStyle>
          <a:p>
            <a:pPr algn="ctr"/>
            <a:r>
              <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品牌忠诚与</a:t>
            </a:r>
            <a:endPar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溢价能力</a:t>
            </a:r>
            <a:endPar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4" name="Circle"/>
          <p:cNvSpPr/>
          <p:nvPr/>
        </p:nvSpPr>
        <p:spPr>
          <a:xfrm rot="5400000" flipH="1" flipV="1">
            <a:off x="8698350" y="3297916"/>
            <a:ext cx="1229086" cy="1229086"/>
          </a:xfrm>
          <a:prstGeom prst="ellipse">
            <a:avLst/>
          </a:prstGeom>
          <a:gradFill>
            <a:gsLst>
              <a:gs pos="0">
                <a:schemeClr val="accent5">
                  <a:lumMod val="60000"/>
                  <a:lumOff val="40000"/>
                </a:schemeClr>
              </a:gs>
              <a:gs pos="100000">
                <a:schemeClr val="accent5"/>
              </a:gs>
            </a:gsLst>
            <a:lin ang="18900000" scaled="0"/>
          </a:gradFill>
          <a:ln w="12700">
            <a:miter lim="400000"/>
          </a:ln>
          <a:effectLst/>
        </p:spPr>
        <p:txBody>
          <a:bodyPr lIns="0" tIns="0" rIns="0" bIns="0" anchor="ctr"/>
          <a:lstStyle/>
          <a:p>
            <a:endParaRPr sz="1690">
              <a:latin typeface="微软雅黑" panose="020B0503020204020204" charset="-122"/>
              <a:ea typeface="微软雅黑" panose="020B0503020204020204" charset="-122"/>
              <a:cs typeface="微软雅黑" panose="020B0503020204020204" charset="-122"/>
            </a:endParaRPr>
          </a:p>
        </p:txBody>
      </p:sp>
      <p:sp>
        <p:nvSpPr>
          <p:cNvPr id="65" name="Shape"/>
          <p:cNvSpPr/>
          <p:nvPr/>
        </p:nvSpPr>
        <p:spPr>
          <a:xfrm rot="5400000" flipH="1" flipV="1">
            <a:off x="6838133" y="3011079"/>
            <a:ext cx="1700868" cy="1682433"/>
          </a:xfrm>
          <a:custGeom>
            <a:avLst/>
            <a:gdLst/>
            <a:ahLst/>
            <a:cxnLst>
              <a:cxn ang="0">
                <a:pos x="wd2" y="hd2"/>
              </a:cxn>
              <a:cxn ang="5400000">
                <a:pos x="wd2" y="hd2"/>
              </a:cxn>
              <a:cxn ang="10800000">
                <a:pos x="wd2" y="hd2"/>
              </a:cxn>
              <a:cxn ang="16200000">
                <a:pos x="wd2" y="hd2"/>
              </a:cxn>
            </a:cxnLst>
            <a:rect l="0" t="0" r="r" b="b"/>
            <a:pathLst>
              <a:path w="21573" h="21575" extrusionOk="0">
                <a:moveTo>
                  <a:pt x="21159" y="2"/>
                </a:moveTo>
                <a:lnTo>
                  <a:pt x="14583" y="168"/>
                </a:lnTo>
                <a:cubicBezTo>
                  <a:pt x="14517" y="169"/>
                  <a:pt x="14455" y="207"/>
                  <a:pt x="14424" y="267"/>
                </a:cubicBezTo>
                <a:cubicBezTo>
                  <a:pt x="14389" y="338"/>
                  <a:pt x="14403" y="422"/>
                  <a:pt x="14458" y="479"/>
                </a:cubicBezTo>
                <a:lnTo>
                  <a:pt x="15397" y="1425"/>
                </a:lnTo>
                <a:lnTo>
                  <a:pt x="74" y="16882"/>
                </a:lnTo>
                <a:cubicBezTo>
                  <a:pt x="13" y="16924"/>
                  <a:pt x="-14" y="17000"/>
                  <a:pt x="7" y="17070"/>
                </a:cubicBezTo>
                <a:cubicBezTo>
                  <a:pt x="32" y="17153"/>
                  <a:pt x="114" y="17205"/>
                  <a:pt x="199" y="17191"/>
                </a:cubicBezTo>
                <a:lnTo>
                  <a:pt x="4238" y="17005"/>
                </a:lnTo>
                <a:cubicBezTo>
                  <a:pt x="4355" y="16996"/>
                  <a:pt x="4469" y="17040"/>
                  <a:pt x="4551" y="17124"/>
                </a:cubicBezTo>
                <a:cubicBezTo>
                  <a:pt x="4634" y="17209"/>
                  <a:pt x="4676" y="17326"/>
                  <a:pt x="4665" y="17445"/>
                </a:cubicBezTo>
                <a:lnTo>
                  <a:pt x="4537" y="21362"/>
                </a:lnTo>
                <a:cubicBezTo>
                  <a:pt x="4528" y="21437"/>
                  <a:pt x="4563" y="21510"/>
                  <a:pt x="4627" y="21548"/>
                </a:cubicBezTo>
                <a:cubicBezTo>
                  <a:pt x="4695" y="21588"/>
                  <a:pt x="4778" y="21582"/>
                  <a:pt x="4839" y="21532"/>
                </a:cubicBezTo>
                <a:lnTo>
                  <a:pt x="20124" y="6132"/>
                </a:lnTo>
                <a:lnTo>
                  <a:pt x="20981" y="7043"/>
                </a:lnTo>
                <a:cubicBezTo>
                  <a:pt x="21030" y="7083"/>
                  <a:pt x="21098" y="7093"/>
                  <a:pt x="21155" y="7068"/>
                </a:cubicBezTo>
                <a:cubicBezTo>
                  <a:pt x="21225" y="7039"/>
                  <a:pt x="21268" y="6966"/>
                  <a:pt x="21261" y="6890"/>
                </a:cubicBezTo>
                <a:lnTo>
                  <a:pt x="21569" y="433"/>
                </a:lnTo>
                <a:cubicBezTo>
                  <a:pt x="21586" y="323"/>
                  <a:pt x="21553" y="212"/>
                  <a:pt x="21480" y="129"/>
                </a:cubicBezTo>
                <a:cubicBezTo>
                  <a:pt x="21400" y="36"/>
                  <a:pt x="21280" y="-12"/>
                  <a:pt x="21159" y="2"/>
                </a:cubicBezTo>
                <a:close/>
              </a:path>
            </a:pathLst>
          </a:custGeom>
          <a:gradFill>
            <a:gsLst>
              <a:gs pos="0">
                <a:schemeClr val="accent5">
                  <a:lumMod val="60000"/>
                  <a:lumOff val="40000"/>
                </a:schemeClr>
              </a:gs>
              <a:gs pos="100000">
                <a:schemeClr val="accent5">
                  <a:lumMod val="40000"/>
                  <a:lumOff val="60000"/>
                </a:schemeClr>
              </a:gs>
            </a:gsLst>
            <a:lin ang="18900000" scaled="0"/>
          </a:gradFill>
          <a:ln w="12700">
            <a:miter lim="400000"/>
          </a:ln>
          <a:effectLst/>
        </p:spPr>
        <p:txBody>
          <a:bodyPr lIns="21487" tIns="21487" rIns="21487" bIns="21487">
            <a:noAutofit/>
          </a:bodyPr>
          <a:lstStyle/>
          <a:p>
            <a:pPr lvl="0" algn="l">
              <a:buClrTx/>
              <a:buSzTx/>
              <a:buFontTx/>
              <a:defRPr>
                <a:solidFill>
                  <a:srgbClr val="525455"/>
                </a:solidFill>
              </a:defRPr>
            </a:pPr>
            <a:endParaRPr sz="1690">
              <a:latin typeface="微软雅黑" panose="020B0503020204020204" charset="-122"/>
              <a:ea typeface="微软雅黑" panose="020B0503020204020204" charset="-122"/>
              <a:cs typeface="微软雅黑" panose="020B0503020204020204" charset="-122"/>
              <a:sym typeface="+mn-ea"/>
            </a:endParaRPr>
          </a:p>
        </p:txBody>
      </p:sp>
      <p:sp>
        <p:nvSpPr>
          <p:cNvPr id="66" name="Shape"/>
          <p:cNvSpPr/>
          <p:nvPr/>
        </p:nvSpPr>
        <p:spPr>
          <a:xfrm rot="5400000" flipH="1" flipV="1">
            <a:off x="8697454" y="3926691"/>
            <a:ext cx="893266" cy="1825751"/>
          </a:xfrm>
          <a:custGeom>
            <a:avLst/>
            <a:gdLst/>
            <a:ahLst/>
            <a:cxnLst>
              <a:cxn ang="0">
                <a:pos x="wd2" y="hd2"/>
              </a:cxn>
              <a:cxn ang="5400000">
                <a:pos x="wd2" y="hd2"/>
              </a:cxn>
              <a:cxn ang="10800000">
                <a:pos x="wd2" y="hd2"/>
              </a:cxn>
              <a:cxn ang="16200000">
                <a:pos x="wd2" y="hd2"/>
              </a:cxn>
            </a:cxnLst>
            <a:rect l="0" t="0" r="r" b="b"/>
            <a:pathLst>
              <a:path w="20752" h="21580" extrusionOk="0">
                <a:moveTo>
                  <a:pt x="20045" y="0"/>
                </a:moveTo>
                <a:lnTo>
                  <a:pt x="8110" y="185"/>
                </a:lnTo>
                <a:cubicBezTo>
                  <a:pt x="7977" y="181"/>
                  <a:pt x="7850" y="220"/>
                  <a:pt x="7798" y="283"/>
                </a:cubicBezTo>
                <a:cubicBezTo>
                  <a:pt x="7756" y="335"/>
                  <a:pt x="7771" y="395"/>
                  <a:pt x="7838" y="440"/>
                </a:cubicBezTo>
                <a:lnTo>
                  <a:pt x="9423" y="1290"/>
                </a:lnTo>
                <a:cubicBezTo>
                  <a:pt x="4600" y="3699"/>
                  <a:pt x="1431" y="6833"/>
                  <a:pt x="382" y="10230"/>
                </a:cubicBezTo>
                <a:cubicBezTo>
                  <a:pt x="-831" y="14163"/>
                  <a:pt x="863" y="18184"/>
                  <a:pt x="5138" y="21518"/>
                </a:cubicBezTo>
                <a:cubicBezTo>
                  <a:pt x="5236" y="21578"/>
                  <a:pt x="5400" y="21597"/>
                  <a:pt x="5539" y="21564"/>
                </a:cubicBezTo>
                <a:cubicBezTo>
                  <a:pt x="5680" y="21530"/>
                  <a:pt x="5759" y="21452"/>
                  <a:pt x="5729" y="21374"/>
                </a:cubicBezTo>
                <a:lnTo>
                  <a:pt x="5353" y="18126"/>
                </a:lnTo>
                <a:cubicBezTo>
                  <a:pt x="5325" y="18019"/>
                  <a:pt x="5392" y="17910"/>
                  <a:pt x="5532" y="17827"/>
                </a:cubicBezTo>
                <a:cubicBezTo>
                  <a:pt x="5693" y="17732"/>
                  <a:pt x="5932" y="17683"/>
                  <a:pt x="6177" y="17694"/>
                </a:cubicBezTo>
                <a:lnTo>
                  <a:pt x="14085" y="17895"/>
                </a:lnTo>
                <a:cubicBezTo>
                  <a:pt x="14256" y="17900"/>
                  <a:pt x="14418" y="17855"/>
                  <a:pt x="14501" y="17778"/>
                </a:cubicBezTo>
                <a:cubicBezTo>
                  <a:pt x="14577" y="17707"/>
                  <a:pt x="14574" y="17622"/>
                  <a:pt x="14490" y="17554"/>
                </a:cubicBezTo>
                <a:cubicBezTo>
                  <a:pt x="12359" y="15589"/>
                  <a:pt x="11600" y="13315"/>
                  <a:pt x="12338" y="11102"/>
                </a:cubicBezTo>
                <a:cubicBezTo>
                  <a:pt x="13039" y="9003"/>
                  <a:pt x="15053" y="7073"/>
                  <a:pt x="18079" y="5601"/>
                </a:cubicBezTo>
                <a:lnTo>
                  <a:pt x="19736" y="6525"/>
                </a:lnTo>
                <a:cubicBezTo>
                  <a:pt x="19827" y="6576"/>
                  <a:pt x="19969" y="6593"/>
                  <a:pt x="20095" y="6567"/>
                </a:cubicBezTo>
                <a:cubicBezTo>
                  <a:pt x="20208" y="6543"/>
                  <a:pt x="20285" y="6488"/>
                  <a:pt x="20292" y="6426"/>
                </a:cubicBezTo>
                <a:lnTo>
                  <a:pt x="20747" y="389"/>
                </a:lnTo>
                <a:cubicBezTo>
                  <a:pt x="20769" y="291"/>
                  <a:pt x="20708" y="193"/>
                  <a:pt x="20579" y="119"/>
                </a:cubicBezTo>
                <a:cubicBezTo>
                  <a:pt x="20443" y="41"/>
                  <a:pt x="20249" y="-3"/>
                  <a:pt x="20045" y="0"/>
                </a:cubicBezTo>
                <a:close/>
              </a:path>
            </a:pathLst>
          </a:custGeom>
          <a:gradFill>
            <a:gsLst>
              <a:gs pos="0">
                <a:schemeClr val="accent5">
                  <a:lumMod val="60000"/>
                  <a:lumOff val="40000"/>
                </a:schemeClr>
              </a:gs>
              <a:gs pos="100000">
                <a:schemeClr val="accent5">
                  <a:lumMod val="40000"/>
                  <a:lumOff val="60000"/>
                </a:schemeClr>
              </a:gs>
            </a:gsLst>
            <a:lin ang="18900000" scaled="0"/>
          </a:gradFill>
          <a:ln w="12700">
            <a:miter lim="400000"/>
          </a:ln>
          <a:effectLst/>
        </p:spPr>
        <p:txBody>
          <a:bodyPr lIns="21487" tIns="21487" rIns="21487" bIns="21487">
            <a:noAutofit/>
          </a:bodyPr>
          <a:lstStyle/>
          <a:p>
            <a:pPr lvl="0" algn="l">
              <a:buClrTx/>
              <a:buSzTx/>
              <a:buFontTx/>
              <a:defRPr>
                <a:solidFill>
                  <a:srgbClr val="525455"/>
                </a:solidFill>
              </a:defRPr>
            </a:pPr>
            <a:endParaRPr sz="1690">
              <a:latin typeface="微软雅黑" panose="020B0503020204020204" charset="-122"/>
              <a:ea typeface="微软雅黑" panose="020B0503020204020204" charset="-122"/>
              <a:cs typeface="微软雅黑" panose="020B0503020204020204" charset="-122"/>
              <a:sym typeface="+mn-ea"/>
            </a:endParaRPr>
          </a:p>
        </p:txBody>
      </p:sp>
      <p:sp>
        <p:nvSpPr>
          <p:cNvPr id="67" name="Shape"/>
          <p:cNvSpPr/>
          <p:nvPr/>
        </p:nvSpPr>
        <p:spPr>
          <a:xfrm rot="5400000" flipH="1" flipV="1">
            <a:off x="8930122" y="1976249"/>
            <a:ext cx="886547" cy="2032159"/>
          </a:xfrm>
          <a:custGeom>
            <a:avLst/>
            <a:gdLst/>
            <a:ahLst/>
            <a:cxnLst>
              <a:cxn ang="0">
                <a:pos x="wd2" y="hd2"/>
              </a:cxn>
              <a:cxn ang="5400000">
                <a:pos x="wd2" y="hd2"/>
              </a:cxn>
              <a:cxn ang="10800000">
                <a:pos x="wd2" y="hd2"/>
              </a:cxn>
              <a:cxn ang="16200000">
                <a:pos x="wd2" y="hd2"/>
              </a:cxn>
            </a:cxnLst>
            <a:rect l="0" t="0" r="r" b="b"/>
            <a:pathLst>
              <a:path w="21414" h="21585" extrusionOk="0">
                <a:moveTo>
                  <a:pt x="11910" y="0"/>
                </a:moveTo>
                <a:cubicBezTo>
                  <a:pt x="11757" y="-1"/>
                  <a:pt x="11612" y="28"/>
                  <a:pt x="11515" y="80"/>
                </a:cubicBezTo>
                <a:lnTo>
                  <a:pt x="3327" y="3664"/>
                </a:lnTo>
                <a:cubicBezTo>
                  <a:pt x="3233" y="3714"/>
                  <a:pt x="3190" y="3779"/>
                  <a:pt x="3212" y="3843"/>
                </a:cubicBezTo>
                <a:cubicBezTo>
                  <a:pt x="3231" y="3899"/>
                  <a:pt x="3298" y="3950"/>
                  <a:pt x="3398" y="3986"/>
                </a:cubicBezTo>
                <a:cubicBezTo>
                  <a:pt x="7243" y="5829"/>
                  <a:pt x="9190" y="8287"/>
                  <a:pt x="8786" y="10782"/>
                </a:cubicBezTo>
                <a:cubicBezTo>
                  <a:pt x="8433" y="12957"/>
                  <a:pt x="6306" y="15002"/>
                  <a:pt x="2794" y="16541"/>
                </a:cubicBezTo>
                <a:lnTo>
                  <a:pt x="1004" y="15709"/>
                </a:lnTo>
                <a:cubicBezTo>
                  <a:pt x="905" y="15673"/>
                  <a:pt x="769" y="15666"/>
                  <a:pt x="654" y="15691"/>
                </a:cubicBezTo>
                <a:cubicBezTo>
                  <a:pt x="518" y="15720"/>
                  <a:pt x="443" y="15784"/>
                  <a:pt x="471" y="15850"/>
                </a:cubicBezTo>
                <a:lnTo>
                  <a:pt x="1" y="21209"/>
                </a:lnTo>
                <a:cubicBezTo>
                  <a:pt x="-12" y="21296"/>
                  <a:pt x="48" y="21384"/>
                  <a:pt x="173" y="21452"/>
                </a:cubicBezTo>
                <a:cubicBezTo>
                  <a:pt x="352" y="21550"/>
                  <a:pt x="636" y="21599"/>
                  <a:pt x="919" y="21581"/>
                </a:cubicBezTo>
                <a:lnTo>
                  <a:pt x="13140" y="21398"/>
                </a:lnTo>
                <a:cubicBezTo>
                  <a:pt x="13303" y="21405"/>
                  <a:pt x="13460" y="21367"/>
                  <a:pt x="13532" y="21303"/>
                </a:cubicBezTo>
                <a:cubicBezTo>
                  <a:pt x="13606" y="21236"/>
                  <a:pt x="13573" y="21156"/>
                  <a:pt x="13454" y="21104"/>
                </a:cubicBezTo>
                <a:lnTo>
                  <a:pt x="11738" y="20404"/>
                </a:lnTo>
                <a:cubicBezTo>
                  <a:pt x="17764" y="17750"/>
                  <a:pt x="21229" y="14176"/>
                  <a:pt x="21406" y="10426"/>
                </a:cubicBezTo>
                <a:cubicBezTo>
                  <a:pt x="21588" y="6591"/>
                  <a:pt x="18321" y="2878"/>
                  <a:pt x="12316" y="95"/>
                </a:cubicBezTo>
                <a:cubicBezTo>
                  <a:pt x="12224" y="36"/>
                  <a:pt x="12073" y="1"/>
                  <a:pt x="11910" y="0"/>
                </a:cubicBezTo>
                <a:close/>
              </a:path>
            </a:pathLst>
          </a:custGeom>
          <a:gradFill>
            <a:gsLst>
              <a:gs pos="0">
                <a:schemeClr val="accent5">
                  <a:lumMod val="60000"/>
                  <a:lumOff val="40000"/>
                </a:schemeClr>
              </a:gs>
              <a:gs pos="100000">
                <a:schemeClr val="accent5">
                  <a:lumMod val="40000"/>
                  <a:lumOff val="60000"/>
                </a:schemeClr>
              </a:gs>
            </a:gsLst>
            <a:lin ang="18900000" scaled="0"/>
          </a:gradFill>
          <a:ln w="12700">
            <a:miter lim="400000"/>
          </a:ln>
          <a:effectLst/>
        </p:spPr>
        <p:txBody>
          <a:bodyPr lIns="21487" tIns="21487" rIns="21487" bIns="21487"/>
          <a:lstStyle/>
          <a:p>
            <a:pPr>
              <a:defRPr>
                <a:solidFill>
                  <a:srgbClr val="525455"/>
                </a:solidFill>
              </a:defRPr>
            </a:pPr>
            <a:endParaRPr sz="1690">
              <a:latin typeface="微软雅黑" panose="020B0503020204020204" charset="-122"/>
              <a:ea typeface="微软雅黑" panose="020B0503020204020204" charset="-122"/>
              <a:cs typeface="微软雅黑" panose="020B0503020204020204" charset="-122"/>
            </a:endParaRPr>
          </a:p>
        </p:txBody>
      </p:sp>
      <p:sp>
        <p:nvSpPr>
          <p:cNvPr id="71" name="Shape"/>
          <p:cNvSpPr/>
          <p:nvPr/>
        </p:nvSpPr>
        <p:spPr>
          <a:xfrm rot="5400000" flipH="1" flipV="1">
            <a:off x="9318148" y="3625982"/>
            <a:ext cx="1829414" cy="892278"/>
          </a:xfrm>
          <a:custGeom>
            <a:avLst/>
            <a:gdLst/>
            <a:ahLst/>
            <a:cxnLst>
              <a:cxn ang="0">
                <a:pos x="wd2" y="hd2"/>
              </a:cxn>
              <a:cxn ang="5400000">
                <a:pos x="wd2" y="hd2"/>
              </a:cxn>
              <a:cxn ang="10800000">
                <a:pos x="wd2" y="hd2"/>
              </a:cxn>
              <a:cxn ang="16200000">
                <a:pos x="wd2" y="hd2"/>
              </a:cxn>
            </a:cxnLst>
            <a:rect l="0" t="0" r="r" b="b"/>
            <a:pathLst>
              <a:path w="21578" h="21052" extrusionOk="0">
                <a:moveTo>
                  <a:pt x="394" y="0"/>
                </a:moveTo>
                <a:cubicBezTo>
                  <a:pt x="279" y="2"/>
                  <a:pt x="169" y="102"/>
                  <a:pt x="94" y="277"/>
                </a:cubicBezTo>
                <a:cubicBezTo>
                  <a:pt x="21" y="447"/>
                  <a:pt x="-11" y="670"/>
                  <a:pt x="3" y="892"/>
                </a:cubicBezTo>
                <a:lnTo>
                  <a:pt x="312" y="12707"/>
                </a:lnTo>
                <a:cubicBezTo>
                  <a:pt x="307" y="12842"/>
                  <a:pt x="342" y="12969"/>
                  <a:pt x="402" y="13034"/>
                </a:cubicBezTo>
                <a:cubicBezTo>
                  <a:pt x="466" y="13105"/>
                  <a:pt x="545" y="13087"/>
                  <a:pt x="600" y="12991"/>
                </a:cubicBezTo>
                <a:lnTo>
                  <a:pt x="1341" y="11654"/>
                </a:lnTo>
                <a:cubicBezTo>
                  <a:pt x="3992" y="16921"/>
                  <a:pt x="7473" y="20191"/>
                  <a:pt x="11193" y="20904"/>
                </a:cubicBezTo>
                <a:cubicBezTo>
                  <a:pt x="14818" y="21600"/>
                  <a:pt x="18454" y="19824"/>
                  <a:pt x="21512" y="15864"/>
                </a:cubicBezTo>
                <a:cubicBezTo>
                  <a:pt x="21565" y="15790"/>
                  <a:pt x="21589" y="15654"/>
                  <a:pt x="21572" y="15529"/>
                </a:cubicBezTo>
                <a:cubicBezTo>
                  <a:pt x="21554" y="15396"/>
                  <a:pt x="21494" y="15305"/>
                  <a:pt x="21425" y="15303"/>
                </a:cubicBezTo>
                <a:lnTo>
                  <a:pt x="18107" y="15613"/>
                </a:lnTo>
                <a:cubicBezTo>
                  <a:pt x="18000" y="15648"/>
                  <a:pt x="17890" y="15588"/>
                  <a:pt x="17807" y="15449"/>
                </a:cubicBezTo>
                <a:cubicBezTo>
                  <a:pt x="17721" y="15305"/>
                  <a:pt x="17673" y="15093"/>
                  <a:pt x="17674" y="14870"/>
                </a:cubicBezTo>
                <a:lnTo>
                  <a:pt x="17865" y="6606"/>
                </a:lnTo>
                <a:cubicBezTo>
                  <a:pt x="17880" y="6455"/>
                  <a:pt x="17847" y="6304"/>
                  <a:pt x="17781" y="6220"/>
                </a:cubicBezTo>
                <a:cubicBezTo>
                  <a:pt x="17725" y="6148"/>
                  <a:pt x="17653" y="6139"/>
                  <a:pt x="17594" y="6202"/>
                </a:cubicBezTo>
                <a:cubicBezTo>
                  <a:pt x="15786" y="8239"/>
                  <a:pt x="13703" y="9093"/>
                  <a:pt x="11640" y="8642"/>
                </a:cubicBezTo>
                <a:cubicBezTo>
                  <a:pt x="9395" y="8151"/>
                  <a:pt x="7299" y="6148"/>
                  <a:pt x="5698" y="2961"/>
                </a:cubicBezTo>
                <a:lnTo>
                  <a:pt x="6552" y="1111"/>
                </a:lnTo>
                <a:cubicBezTo>
                  <a:pt x="6604" y="1006"/>
                  <a:pt x="6615" y="849"/>
                  <a:pt x="6581" y="717"/>
                </a:cubicBezTo>
                <a:cubicBezTo>
                  <a:pt x="6549" y="595"/>
                  <a:pt x="6484" y="521"/>
                  <a:pt x="6415" y="535"/>
                </a:cubicBezTo>
                <a:lnTo>
                  <a:pt x="394" y="0"/>
                </a:lnTo>
                <a:close/>
              </a:path>
            </a:pathLst>
          </a:custGeom>
          <a:gradFill>
            <a:gsLst>
              <a:gs pos="0">
                <a:schemeClr val="accent5">
                  <a:lumMod val="60000"/>
                  <a:lumOff val="40000"/>
                </a:schemeClr>
              </a:gs>
              <a:gs pos="100000">
                <a:schemeClr val="accent5">
                  <a:lumMod val="40000"/>
                  <a:lumOff val="60000"/>
                </a:schemeClr>
              </a:gs>
            </a:gsLst>
            <a:lin ang="18900000" scaled="0"/>
          </a:gradFill>
          <a:ln w="12700">
            <a:miter lim="400000"/>
          </a:ln>
          <a:effectLst/>
        </p:spPr>
        <p:txBody>
          <a:bodyPr lIns="21487" tIns="21487" rIns="21487" bIns="21487">
            <a:noAutofit/>
          </a:bodyPr>
          <a:lstStyle/>
          <a:p>
            <a:pPr lvl="0" algn="l">
              <a:buClrTx/>
              <a:buSzTx/>
              <a:buFontTx/>
              <a:defRPr>
                <a:solidFill>
                  <a:srgbClr val="525455"/>
                </a:solidFill>
              </a:defRPr>
            </a:pPr>
            <a:endParaRPr sz="1690">
              <a:latin typeface="微软雅黑" panose="020B0503020204020204" charset="-122"/>
              <a:ea typeface="微软雅黑" panose="020B0503020204020204" charset="-122"/>
              <a:cs typeface="微软雅黑" panose="020B0503020204020204" charset="-122"/>
              <a:sym typeface="+mn-ea"/>
            </a:endParaRPr>
          </a:p>
        </p:txBody>
      </p:sp>
      <p:sp>
        <p:nvSpPr>
          <p:cNvPr id="72" name="Freeform 661"/>
          <p:cNvSpPr/>
          <p:nvPr/>
        </p:nvSpPr>
        <p:spPr>
          <a:xfrm rot="5400000" flipH="1" flipV="1">
            <a:off x="9108917" y="3551884"/>
            <a:ext cx="407066" cy="416758"/>
          </a:xfrm>
          <a:custGeom>
            <a:avLst/>
            <a:gdLst/>
            <a:ahLst/>
            <a:cxnLst>
              <a:cxn ang="0">
                <a:pos x="wd2" y="hd2"/>
              </a:cxn>
              <a:cxn ang="5400000">
                <a:pos x="wd2" y="hd2"/>
              </a:cxn>
              <a:cxn ang="10800000">
                <a:pos x="wd2" y="hd2"/>
              </a:cxn>
              <a:cxn ang="16200000">
                <a:pos x="wd2" y="hd2"/>
              </a:cxn>
            </a:cxnLst>
            <a:rect l="0" t="0" r="r" b="b"/>
            <a:pathLst>
              <a:path w="21600" h="21600" extrusionOk="0">
                <a:moveTo>
                  <a:pt x="18231" y="0"/>
                </a:moveTo>
                <a:lnTo>
                  <a:pt x="13496" y="4642"/>
                </a:lnTo>
                <a:lnTo>
                  <a:pt x="13496" y="7050"/>
                </a:lnTo>
                <a:lnTo>
                  <a:pt x="10463" y="10081"/>
                </a:lnTo>
                <a:cubicBezTo>
                  <a:pt x="10369" y="10062"/>
                  <a:pt x="10279" y="10047"/>
                  <a:pt x="10179" y="10047"/>
                </a:cubicBezTo>
                <a:cubicBezTo>
                  <a:pt x="9419" y="10047"/>
                  <a:pt x="8796" y="10656"/>
                  <a:pt x="8796" y="11398"/>
                </a:cubicBezTo>
                <a:cubicBezTo>
                  <a:pt x="8796" y="12140"/>
                  <a:pt x="9420" y="12731"/>
                  <a:pt x="10179" y="12731"/>
                </a:cubicBezTo>
                <a:cubicBezTo>
                  <a:pt x="10939" y="12731"/>
                  <a:pt x="11563" y="12140"/>
                  <a:pt x="11563" y="11398"/>
                </a:cubicBezTo>
                <a:cubicBezTo>
                  <a:pt x="11563" y="11256"/>
                  <a:pt x="11533" y="11110"/>
                  <a:pt x="11492" y="10982"/>
                </a:cubicBezTo>
                <a:lnTo>
                  <a:pt x="14524" y="7933"/>
                </a:lnTo>
                <a:lnTo>
                  <a:pt x="16847" y="7933"/>
                </a:lnTo>
                <a:lnTo>
                  <a:pt x="21600" y="3291"/>
                </a:lnTo>
                <a:lnTo>
                  <a:pt x="19348" y="3083"/>
                </a:lnTo>
                <a:lnTo>
                  <a:pt x="20518" y="1905"/>
                </a:lnTo>
                <a:lnTo>
                  <a:pt x="19525" y="970"/>
                </a:lnTo>
                <a:lnTo>
                  <a:pt x="18443" y="2061"/>
                </a:lnTo>
                <a:lnTo>
                  <a:pt x="18231" y="0"/>
                </a:lnTo>
                <a:close/>
                <a:moveTo>
                  <a:pt x="10179" y="1715"/>
                </a:moveTo>
                <a:cubicBezTo>
                  <a:pt x="4557" y="1715"/>
                  <a:pt x="0" y="6166"/>
                  <a:pt x="0" y="11657"/>
                </a:cubicBezTo>
                <a:cubicBezTo>
                  <a:pt x="0" y="17149"/>
                  <a:pt x="4558" y="21600"/>
                  <a:pt x="10179" y="21600"/>
                </a:cubicBezTo>
                <a:cubicBezTo>
                  <a:pt x="15802" y="21600"/>
                  <a:pt x="20359" y="17149"/>
                  <a:pt x="20359" y="11657"/>
                </a:cubicBezTo>
                <a:cubicBezTo>
                  <a:pt x="20359" y="10082"/>
                  <a:pt x="19979" y="8598"/>
                  <a:pt x="19312" y="7275"/>
                </a:cubicBezTo>
                <a:lnTo>
                  <a:pt x="17858" y="8695"/>
                </a:lnTo>
                <a:cubicBezTo>
                  <a:pt x="18231" y="9612"/>
                  <a:pt x="18426" y="10612"/>
                  <a:pt x="18426" y="11657"/>
                </a:cubicBezTo>
                <a:cubicBezTo>
                  <a:pt x="18426" y="16103"/>
                  <a:pt x="14731" y="19729"/>
                  <a:pt x="10179" y="19729"/>
                </a:cubicBezTo>
                <a:cubicBezTo>
                  <a:pt x="5628" y="19729"/>
                  <a:pt x="1933" y="16104"/>
                  <a:pt x="1933" y="11657"/>
                </a:cubicBezTo>
                <a:cubicBezTo>
                  <a:pt x="1933" y="7212"/>
                  <a:pt x="5628" y="3603"/>
                  <a:pt x="10179" y="3603"/>
                </a:cubicBezTo>
                <a:cubicBezTo>
                  <a:pt x="10911" y="3603"/>
                  <a:pt x="11614" y="3688"/>
                  <a:pt x="12290" y="3863"/>
                </a:cubicBezTo>
                <a:lnTo>
                  <a:pt x="13815" y="2373"/>
                </a:lnTo>
                <a:cubicBezTo>
                  <a:pt x="12683" y="1949"/>
                  <a:pt x="11464" y="1715"/>
                  <a:pt x="10179" y="1715"/>
                </a:cubicBezTo>
                <a:close/>
                <a:moveTo>
                  <a:pt x="10179" y="6011"/>
                </a:moveTo>
                <a:cubicBezTo>
                  <a:pt x="7140" y="6011"/>
                  <a:pt x="4682" y="8412"/>
                  <a:pt x="4682" y="11380"/>
                </a:cubicBezTo>
                <a:cubicBezTo>
                  <a:pt x="4682" y="14348"/>
                  <a:pt x="7140" y="16767"/>
                  <a:pt x="10179" y="16767"/>
                </a:cubicBezTo>
                <a:cubicBezTo>
                  <a:pt x="13218" y="16767"/>
                  <a:pt x="15677" y="14348"/>
                  <a:pt x="15677" y="11380"/>
                </a:cubicBezTo>
                <a:cubicBezTo>
                  <a:pt x="15678" y="10534"/>
                  <a:pt x="15484" y="9737"/>
                  <a:pt x="15127" y="9025"/>
                </a:cubicBezTo>
                <a:lnTo>
                  <a:pt x="14099" y="10116"/>
                </a:lnTo>
                <a:cubicBezTo>
                  <a:pt x="14237" y="10518"/>
                  <a:pt x="14311" y="10933"/>
                  <a:pt x="14311" y="11380"/>
                </a:cubicBezTo>
                <a:cubicBezTo>
                  <a:pt x="14311" y="13603"/>
                  <a:pt x="12455" y="15416"/>
                  <a:pt x="10179" y="15416"/>
                </a:cubicBezTo>
                <a:cubicBezTo>
                  <a:pt x="7904" y="15416"/>
                  <a:pt x="6047" y="13603"/>
                  <a:pt x="6047" y="11380"/>
                </a:cubicBezTo>
                <a:cubicBezTo>
                  <a:pt x="6047" y="9158"/>
                  <a:pt x="7904" y="7362"/>
                  <a:pt x="10179" y="7362"/>
                </a:cubicBezTo>
                <a:cubicBezTo>
                  <a:pt x="10570" y="7362"/>
                  <a:pt x="10939" y="7418"/>
                  <a:pt x="11297" y="7518"/>
                </a:cubicBezTo>
                <a:lnTo>
                  <a:pt x="12325" y="6444"/>
                </a:lnTo>
                <a:cubicBezTo>
                  <a:pt x="11665" y="6170"/>
                  <a:pt x="10942" y="6011"/>
                  <a:pt x="10179" y="6011"/>
                </a:cubicBezTo>
                <a:close/>
              </a:path>
            </a:pathLst>
          </a:custGeom>
          <a:solidFill>
            <a:srgbClr val="F5F5F7"/>
          </a:solidFill>
          <a:ln w="12700">
            <a:miter lim="400000"/>
          </a:ln>
          <a:effectLst/>
        </p:spPr>
        <p:txBody>
          <a:bodyPr lIns="21488" tIns="42977" rIns="21488" bIns="42977" anchor="ctr"/>
          <a:lstStyle/>
          <a:p>
            <a:pPr defTabSz="457200">
              <a:defRPr sz="1800" b="0">
                <a:solidFill>
                  <a:srgbClr val="000000"/>
                </a:solidFill>
                <a:latin typeface="Open Sans Bold"/>
                <a:ea typeface="Open Sans Bold"/>
                <a:cs typeface="Open Sans Bold"/>
                <a:sym typeface="Open Sans Bold"/>
              </a:defRPr>
            </a:pPr>
            <a:endParaRPr sz="845">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3" name="Venn diagram"/>
          <p:cNvSpPr txBox="1"/>
          <p:nvPr/>
        </p:nvSpPr>
        <p:spPr>
          <a:xfrm rot="10800000" flipH="1" flipV="1">
            <a:off x="8934161" y="4030734"/>
            <a:ext cx="773431" cy="263662"/>
          </a:xfrm>
          <a:prstGeom prst="rect">
            <a:avLst/>
          </a:prstGeom>
          <a:ln w="12700">
            <a:miter lim="400000"/>
          </a:ln>
          <a:effectLst/>
        </p:spPr>
        <p:txBody>
          <a:bodyPr lIns="23876" tIns="23876" rIns="23876" bIns="23876">
            <a:spAutoFit/>
          </a:bodyPr>
          <a:lstStyle>
            <a:lvl1pPr>
              <a:defRPr sz="2500" b="0">
                <a:solidFill>
                  <a:srgbClr val="31303D"/>
                </a:solidFill>
                <a:latin typeface="Maven Pro Regular SemiBold"/>
                <a:ea typeface="Maven Pro Regular SemiBold"/>
                <a:cs typeface="Maven Pro Regular SemiBold"/>
                <a:sym typeface="Maven Pro Regular SemiBold"/>
              </a:defRPr>
            </a:lvl1pPr>
          </a:lstStyle>
          <a:p>
            <a:pPr algn="ctr"/>
            <a:r>
              <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核心价值</a:t>
            </a:r>
            <a:endParaRPr lang="zh-CN" altLang="en-US" sz="140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4" name="Venn diagram"/>
          <p:cNvSpPr txBox="1"/>
          <p:nvPr/>
        </p:nvSpPr>
        <p:spPr>
          <a:xfrm rot="10800000" flipH="1" flipV="1">
            <a:off x="8617709" y="4825377"/>
            <a:ext cx="773431" cy="335280"/>
          </a:xfrm>
          <a:prstGeom prst="rect">
            <a:avLst/>
          </a:prstGeom>
          <a:ln w="12700">
            <a:miter lim="400000"/>
          </a:ln>
          <a:effectLst/>
        </p:spPr>
        <p:txBody>
          <a:bodyPr lIns="23876" tIns="23876" rIns="23876" bIns="23876">
            <a:spAutoFit/>
          </a:bodyPr>
          <a:lstStyle>
            <a:lvl1pPr>
              <a:defRPr sz="2000" b="0">
                <a:solidFill>
                  <a:srgbClr val="FFFFFF"/>
                </a:solidFill>
                <a:latin typeface="+mn-lt"/>
                <a:ea typeface="+mn-ea"/>
                <a:cs typeface="+mn-cs"/>
                <a:sym typeface="OpenSans"/>
              </a:defRPr>
            </a:lvl1pPr>
          </a:lstStyle>
          <a:p>
            <a:pPr algn="ctr"/>
            <a:r>
              <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品牌管理</a:t>
            </a:r>
            <a:endPar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与一致性</a:t>
            </a:r>
            <a:endPar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5" name="Venn diagram"/>
          <p:cNvSpPr txBox="1"/>
          <p:nvPr/>
        </p:nvSpPr>
        <p:spPr>
          <a:xfrm rot="10800000" flipH="1" flipV="1">
            <a:off x="9985799" y="4025240"/>
            <a:ext cx="773431" cy="335280"/>
          </a:xfrm>
          <a:prstGeom prst="rect">
            <a:avLst/>
          </a:prstGeom>
          <a:ln w="12700">
            <a:miter lim="400000"/>
          </a:ln>
          <a:effectLst/>
        </p:spPr>
        <p:txBody>
          <a:bodyPr lIns="23876" tIns="23876" rIns="23876" bIns="23876">
            <a:spAutoFit/>
          </a:bodyPr>
          <a:lstStyle>
            <a:lvl1pPr>
              <a:defRPr sz="2000" b="0">
                <a:solidFill>
                  <a:srgbClr val="FFFFFF"/>
                </a:solidFill>
                <a:latin typeface="+mn-lt"/>
                <a:ea typeface="+mn-ea"/>
                <a:cs typeface="+mn-cs"/>
                <a:sym typeface="OpenSans"/>
              </a:defRPr>
            </a:lvl1pPr>
          </a:lstStyle>
          <a:p>
            <a:pPr algn="ctr"/>
            <a:r>
              <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品牌文化</a:t>
            </a:r>
            <a:endPar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与价值观</a:t>
            </a:r>
            <a:endPar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6" name="Venn diagram"/>
          <p:cNvSpPr txBox="1"/>
          <p:nvPr/>
        </p:nvSpPr>
        <p:spPr>
          <a:xfrm rot="10800000" flipH="1" flipV="1">
            <a:off x="9136506" y="2647302"/>
            <a:ext cx="545586" cy="335280"/>
          </a:xfrm>
          <a:prstGeom prst="rect">
            <a:avLst/>
          </a:prstGeom>
          <a:ln w="12700">
            <a:miter lim="400000"/>
          </a:ln>
          <a:effectLst/>
        </p:spPr>
        <p:txBody>
          <a:bodyPr lIns="23876" tIns="23876" rIns="23876" bIns="23876">
            <a:spAutoFit/>
          </a:bodyPr>
          <a:lstStyle>
            <a:lvl1pPr>
              <a:defRPr sz="2000" b="0">
                <a:solidFill>
                  <a:srgbClr val="FFFFFF"/>
                </a:solidFill>
                <a:latin typeface="+mn-lt"/>
                <a:ea typeface="+mn-ea"/>
                <a:cs typeface="+mn-cs"/>
                <a:sym typeface="OpenSans"/>
              </a:defRPr>
            </a:lvl1pPr>
          </a:lstStyle>
          <a:p>
            <a:pPr algn="ctr"/>
            <a:r>
              <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mn-ea"/>
              </a:rPr>
              <a:t>品牌定位与战略</a:t>
            </a:r>
            <a:endParaRPr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7" name="Venn diagram"/>
          <p:cNvSpPr txBox="1"/>
          <p:nvPr/>
        </p:nvSpPr>
        <p:spPr>
          <a:xfrm rot="10800000" flipH="1" flipV="1">
            <a:off x="7298672" y="3704352"/>
            <a:ext cx="773431" cy="335280"/>
          </a:xfrm>
          <a:prstGeom prst="rect">
            <a:avLst/>
          </a:prstGeom>
          <a:ln w="12700">
            <a:miter lim="400000"/>
          </a:ln>
          <a:effectLst/>
        </p:spPr>
        <p:txBody>
          <a:bodyPr lIns="23876" tIns="23876" rIns="23876" bIns="23876">
            <a:spAutoFit/>
          </a:bodyPr>
          <a:lstStyle>
            <a:lvl1pPr>
              <a:defRPr sz="2000" b="0">
                <a:solidFill>
                  <a:srgbClr val="FFFFFF"/>
                </a:solidFill>
                <a:latin typeface="+mn-lt"/>
                <a:ea typeface="+mn-ea"/>
                <a:cs typeface="+mn-cs"/>
                <a:sym typeface="OpenSans"/>
              </a:defRPr>
            </a:lvl1pPr>
          </a:lstStyle>
          <a:p>
            <a:pPr algn="ctr"/>
            <a:r>
              <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创新能力</a:t>
            </a:r>
            <a:endPar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rPr>
              <a:t>与可持续</a:t>
            </a:r>
            <a:endParaRPr lang="zh-CN" altLang="en-US" sz="940" dirty="0">
              <a:solidFill>
                <a:schemeClr val="bg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8" name="Circle"/>
          <p:cNvSpPr/>
          <p:nvPr/>
        </p:nvSpPr>
        <p:spPr>
          <a:xfrm>
            <a:off x="5373964" y="1807610"/>
            <a:ext cx="1418225" cy="1418225"/>
          </a:xfrm>
          <a:prstGeom prst="ellipse">
            <a:avLst/>
          </a:prstGeom>
          <a:solidFill>
            <a:schemeClr val="accent5">
              <a:lumMod val="20000"/>
              <a:lumOff val="80000"/>
              <a:alpha val="50000"/>
            </a:schemeClr>
          </a:solidFill>
          <a:ln w="12700">
            <a:solidFill>
              <a:schemeClr val="accent5"/>
            </a:solidFill>
            <a:miter lim="400000"/>
          </a:ln>
          <a:effectLst/>
        </p:spPr>
        <p:txBody>
          <a:bodyPr wrap="square" lIns="0" tIns="0" rIns="0" bIns="0" numCol="1" anchor="ctr">
            <a:noAutofit/>
          </a:bodyPr>
          <a:lstStyle/>
          <a:p>
            <a:pPr lvl="0" algn="l">
              <a:buClrTx/>
              <a:buSzTx/>
              <a:buFontTx/>
            </a:pPr>
            <a:endParaRPr sz="169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9" name="2.8%"/>
          <p:cNvSpPr txBox="1"/>
          <p:nvPr/>
        </p:nvSpPr>
        <p:spPr>
          <a:xfrm>
            <a:off x="5600003" y="2226174"/>
            <a:ext cx="1002129" cy="451485"/>
          </a:xfrm>
          <a:prstGeom prst="rect">
            <a:avLst/>
          </a:prstGeom>
          <a:noFill/>
          <a:ln w="12700" cap="flat">
            <a:noFill/>
            <a:miter lim="400000"/>
          </a:ln>
          <a:effectLst/>
        </p:spPr>
        <p:txBody>
          <a:bodyPr wrap="square" lIns="23876" tIns="23876" rIns="23876" bIns="23876" numCol="1" anchor="ctr">
            <a:spAutoFit/>
          </a:bodyPr>
          <a:lstStyle>
            <a:lvl1pPr>
              <a:defRPr sz="4000" b="0">
                <a:solidFill>
                  <a:srgbClr val="FFFFFF"/>
                </a:solidFill>
                <a:latin typeface="Open Sans Bold"/>
                <a:ea typeface="Open Sans Bold"/>
                <a:cs typeface="Open Sans Bold"/>
                <a:sym typeface="Open Sans Bold"/>
              </a:defRPr>
            </a:lvl1pPr>
          </a:lstStyle>
          <a:p>
            <a:pPr algn="ctr"/>
            <a:r>
              <a:rPr lang="en-US" sz="263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60</a:t>
            </a:r>
            <a:r>
              <a:rPr sz="263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sz="263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0" name="Sales 2020"/>
          <p:cNvSpPr txBox="1"/>
          <p:nvPr/>
        </p:nvSpPr>
        <p:spPr>
          <a:xfrm>
            <a:off x="5538723" y="2013107"/>
            <a:ext cx="1088705" cy="255270"/>
          </a:xfrm>
          <a:prstGeom prst="rect">
            <a:avLst/>
          </a:prstGeom>
          <a:noFill/>
          <a:ln w="12700" cap="flat">
            <a:noFill/>
            <a:miter lim="400000"/>
          </a:ln>
          <a:effectLst/>
        </p:spPr>
        <p:txBody>
          <a:bodyPr wrap="square" lIns="23876" tIns="23876" rIns="23876" bIns="23876" numCol="1" anchor="t">
            <a:spAutoFit/>
          </a:bodyPr>
          <a:lstStyle>
            <a:lvl1pPr defTabSz="457200">
              <a:lnSpc>
                <a:spcPct val="120000"/>
              </a:lnSpc>
              <a:defRPr sz="1800" b="0">
                <a:solidFill>
                  <a:srgbClr val="FFFFFF"/>
                </a:solidFill>
                <a:latin typeface="Open Sans Bold"/>
                <a:ea typeface="Open Sans Bold"/>
                <a:cs typeface="Open Sans Bold"/>
                <a:sym typeface="Open Sans Bold"/>
              </a:defRPr>
            </a:lvl1pPr>
          </a:lstStyle>
          <a:p>
            <a:pPr algn="ctr"/>
            <a:r>
              <a:rPr lang="zh-CN" altLang="en-US" sz="1130"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品牌核心</a:t>
            </a:r>
            <a:endParaRPr lang="zh-CN" altLang="en-US" sz="1130"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2" name="Lorem Ipsum is simply dummy"/>
          <p:cNvSpPr txBox="1"/>
          <p:nvPr/>
        </p:nvSpPr>
        <p:spPr>
          <a:xfrm>
            <a:off x="5629904" y="2653051"/>
            <a:ext cx="906341" cy="359410"/>
          </a:xfrm>
          <a:prstGeom prst="rect">
            <a:avLst/>
          </a:prstGeom>
          <a:noFill/>
          <a:ln w="12700" cap="flat">
            <a:noFill/>
            <a:miter lim="400000"/>
          </a:ln>
          <a:effectLst/>
        </p:spPr>
        <p:txBody>
          <a:bodyPr wrap="square" lIns="23876" tIns="23876" rIns="23876" bIns="23876" numCol="1" anchor="t">
            <a:spAutoFit/>
          </a:bodyPr>
          <a:lstStyle>
            <a:lvl1pPr defTabSz="457200">
              <a:lnSpc>
                <a:spcPct val="120000"/>
              </a:lnSpc>
              <a:defRPr sz="1800" b="0">
                <a:solidFill>
                  <a:srgbClr val="FFFFFF"/>
                </a:solidFill>
                <a:latin typeface="Open Sans Regular"/>
                <a:ea typeface="Open Sans Regular"/>
                <a:cs typeface="Open Sans Regular"/>
                <a:sym typeface="Open Sans Regular"/>
              </a:defRPr>
            </a:lvl1pPr>
          </a:lstStyle>
          <a:p>
            <a:pPr algn="ctr"/>
            <a:r>
              <a:rPr lang="zh-CN" altLang="en-US" sz="845"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内部建设：品牌核心驱动因素</a:t>
            </a:r>
            <a:endParaRPr lang="zh-CN" altLang="en-US" sz="845"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2" name="Circle"/>
          <p:cNvSpPr/>
          <p:nvPr/>
        </p:nvSpPr>
        <p:spPr>
          <a:xfrm>
            <a:off x="5373964" y="4580874"/>
            <a:ext cx="1418225" cy="1418225"/>
          </a:xfrm>
          <a:prstGeom prst="ellipse">
            <a:avLst/>
          </a:prstGeom>
          <a:solidFill>
            <a:schemeClr val="accent1">
              <a:lumMod val="20000"/>
              <a:lumOff val="80000"/>
              <a:alpha val="50000"/>
            </a:schemeClr>
          </a:solidFill>
          <a:ln w="12700">
            <a:solidFill>
              <a:schemeClr val="accent1"/>
            </a:solidFill>
            <a:miter lim="400000"/>
          </a:ln>
          <a:effectLst/>
        </p:spPr>
        <p:txBody>
          <a:bodyPr wrap="square" lIns="0" tIns="0" rIns="0" bIns="0" numCol="1" anchor="ctr">
            <a:noAutofit/>
          </a:bodyPr>
          <a:lstStyle/>
          <a:p>
            <a:pPr lvl="0" algn="l">
              <a:buClrTx/>
              <a:buSzTx/>
              <a:buFontTx/>
            </a:pPr>
            <a:endParaRPr sz="169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3" name="2.8%"/>
          <p:cNvSpPr txBox="1"/>
          <p:nvPr/>
        </p:nvSpPr>
        <p:spPr>
          <a:xfrm>
            <a:off x="5600003" y="4999438"/>
            <a:ext cx="1002129" cy="451485"/>
          </a:xfrm>
          <a:prstGeom prst="rect">
            <a:avLst/>
          </a:prstGeom>
          <a:noFill/>
          <a:ln w="12700" cap="flat">
            <a:noFill/>
            <a:miter lim="400000"/>
          </a:ln>
          <a:effectLst/>
        </p:spPr>
        <p:txBody>
          <a:bodyPr wrap="square" lIns="23876" tIns="23876" rIns="23876" bIns="23876" numCol="1" anchor="ctr">
            <a:spAutoFit/>
          </a:bodyPr>
          <a:lstStyle>
            <a:lvl1pPr>
              <a:defRPr sz="4000" b="0">
                <a:solidFill>
                  <a:srgbClr val="FFFFFF"/>
                </a:solidFill>
                <a:latin typeface="Open Sans Bold"/>
                <a:ea typeface="Open Sans Bold"/>
                <a:cs typeface="Open Sans Bold"/>
                <a:sym typeface="Open Sans Bold"/>
              </a:defRPr>
            </a:lvl1pPr>
          </a:lstStyle>
          <a:p>
            <a:pPr algn="ctr"/>
            <a:r>
              <a:rPr lang="en-US" sz="263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40</a:t>
            </a:r>
            <a:r>
              <a:rPr sz="263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sz="263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4" name="Sales 2020"/>
          <p:cNvSpPr txBox="1"/>
          <p:nvPr/>
        </p:nvSpPr>
        <p:spPr>
          <a:xfrm>
            <a:off x="5538723" y="4786372"/>
            <a:ext cx="1088705" cy="255270"/>
          </a:xfrm>
          <a:prstGeom prst="rect">
            <a:avLst/>
          </a:prstGeom>
          <a:noFill/>
          <a:ln w="12700" cap="flat">
            <a:noFill/>
            <a:miter lim="400000"/>
          </a:ln>
          <a:effectLst/>
        </p:spPr>
        <p:txBody>
          <a:bodyPr wrap="square" lIns="23876" tIns="23876" rIns="23876" bIns="23876" numCol="1" anchor="t">
            <a:spAutoFit/>
          </a:bodyPr>
          <a:lstStyle>
            <a:lvl1pPr defTabSz="457200">
              <a:lnSpc>
                <a:spcPct val="120000"/>
              </a:lnSpc>
              <a:defRPr sz="1800" b="0">
                <a:solidFill>
                  <a:srgbClr val="FFFFFF"/>
                </a:solidFill>
                <a:latin typeface="Open Sans Bold"/>
                <a:ea typeface="Open Sans Bold"/>
                <a:cs typeface="Open Sans Bold"/>
                <a:sym typeface="Open Sans Bold"/>
              </a:defRPr>
            </a:lvl1pPr>
          </a:lstStyle>
          <a:p>
            <a:pPr algn="ctr"/>
            <a:r>
              <a:rPr lang="zh-CN" altLang="en-US" sz="113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市场影响</a:t>
            </a:r>
            <a:endParaRPr lang="zh-CN" altLang="en-US" sz="113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5" name="Lorem Ipsum is simply dummy"/>
          <p:cNvSpPr txBox="1"/>
          <p:nvPr/>
        </p:nvSpPr>
        <p:spPr>
          <a:xfrm>
            <a:off x="5644813" y="5451807"/>
            <a:ext cx="906341" cy="359410"/>
          </a:xfrm>
          <a:prstGeom prst="rect">
            <a:avLst/>
          </a:prstGeom>
          <a:noFill/>
          <a:ln w="12700" cap="flat">
            <a:noFill/>
            <a:miter lim="400000"/>
          </a:ln>
          <a:effectLst/>
        </p:spPr>
        <p:txBody>
          <a:bodyPr wrap="square" lIns="23876" tIns="23876" rIns="23876" bIns="23876" numCol="1" anchor="t">
            <a:spAutoFit/>
          </a:bodyPr>
          <a:lstStyle>
            <a:lvl1pPr defTabSz="457200">
              <a:lnSpc>
                <a:spcPct val="120000"/>
              </a:lnSpc>
              <a:defRPr sz="1800" b="0">
                <a:solidFill>
                  <a:srgbClr val="FFFFFF"/>
                </a:solidFill>
                <a:latin typeface="Open Sans Regular"/>
                <a:ea typeface="Open Sans Regular"/>
                <a:cs typeface="Open Sans Regular"/>
                <a:sym typeface="Open Sans Regular"/>
              </a:defRPr>
            </a:lvl1pPr>
          </a:lstStyle>
          <a:p>
            <a:pPr algn="ctr"/>
            <a:r>
              <a:rPr lang="zh-CN" altLang="en-US" sz="845"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外部表现：市场感知与影响力</a:t>
            </a:r>
            <a:endParaRPr lang="zh-CN" altLang="en-US" sz="845"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98" name="箭头: 左右 48"/>
          <p:cNvSpPr/>
          <p:nvPr/>
        </p:nvSpPr>
        <p:spPr>
          <a:xfrm rot="5400000">
            <a:off x="5540789" y="3686921"/>
            <a:ext cx="1101400" cy="401738"/>
          </a:xfrm>
          <a:prstGeom prst="leftRightArrow">
            <a:avLst/>
          </a:prstGeom>
          <a:solidFill>
            <a:schemeClr val="bg1"/>
          </a:solidFill>
          <a:ln w="25400">
            <a:solidFill>
              <a:schemeClr val="accent5">
                <a:alpha val="70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lIns="85954" tIns="42977" rIns="85954" bIns="42977" rtlCol="0" anchor="ctr"/>
          <a:lstStyle/>
          <a:p>
            <a:pPr algn="ctr"/>
            <a:endParaRPr lang="zh-CN" altLang="en-US" sz="1690">
              <a:latin typeface="微软雅黑" panose="020B0503020204020204" charset="-122"/>
              <a:ea typeface="微软雅黑" panose="020B0503020204020204" charset="-122"/>
              <a:cs typeface="微软雅黑" panose="020B0503020204020204" charset="-122"/>
            </a:endParaRPr>
          </a:p>
        </p:txBody>
      </p:sp>
      <p:sp>
        <p:nvSpPr>
          <p:cNvPr id="515" name="对话气泡: 圆角矩形 514"/>
          <p:cNvSpPr/>
          <p:nvPr/>
        </p:nvSpPr>
        <p:spPr>
          <a:xfrm>
            <a:off x="7582535" y="5346700"/>
            <a:ext cx="3917315" cy="780415"/>
          </a:xfrm>
          <a:prstGeom prst="wedgeRoundRectCallout">
            <a:avLst>
              <a:gd name="adj1" fmla="val 410"/>
              <a:gd name="adj2" fmla="val -83733"/>
              <a:gd name="adj3" fmla="val 16667"/>
            </a:avLst>
          </a:prstGeom>
          <a:solidFill>
            <a:schemeClr val="bg1"/>
          </a:solidFill>
          <a:ln w="25400">
            <a:solidFill>
              <a:schemeClr val="accent5"/>
            </a:solidFill>
          </a:ln>
          <a:effectLst/>
        </p:spPr>
        <p:style>
          <a:lnRef idx="2">
            <a:schemeClr val="accent1">
              <a:shade val="15000"/>
            </a:schemeClr>
          </a:lnRef>
          <a:fillRef idx="1">
            <a:schemeClr val="accent1"/>
          </a:fillRef>
          <a:effectRef idx="0">
            <a:schemeClr val="accent1"/>
          </a:effectRef>
          <a:fontRef idx="minor">
            <a:schemeClr val="lt1"/>
          </a:fontRef>
        </p:style>
        <p:txBody>
          <a:bodyPr lIns="85954" tIns="42977" rIns="85954" bIns="42977" rtlCol="0" anchor="ctr"/>
          <a:lstStyle/>
          <a:p>
            <a:pPr algn="ctr"/>
            <a:endParaRPr lang="zh-CN" altLang="en-US" sz="1690">
              <a:latin typeface="微软雅黑" panose="020B0503020204020204" charset="-122"/>
              <a:ea typeface="微软雅黑" panose="020B0503020204020204" charset="-122"/>
              <a:cs typeface="微软雅黑" panose="020B0503020204020204" charset="-122"/>
            </a:endParaRPr>
          </a:p>
        </p:txBody>
      </p:sp>
      <p:grpSp>
        <p:nvGrpSpPr>
          <p:cNvPr id="521" name="组合 520"/>
          <p:cNvGrpSpPr/>
          <p:nvPr/>
        </p:nvGrpSpPr>
        <p:grpSpPr>
          <a:xfrm>
            <a:off x="687040" y="1675848"/>
            <a:ext cx="3917005" cy="780224"/>
            <a:chOff x="684617" y="1685075"/>
            <a:chExt cx="3917005" cy="780224"/>
          </a:xfrm>
        </p:grpSpPr>
        <p:sp>
          <p:nvSpPr>
            <p:cNvPr id="522" name="对话气泡: 圆角矩形 521"/>
            <p:cNvSpPr/>
            <p:nvPr/>
          </p:nvSpPr>
          <p:spPr>
            <a:xfrm>
              <a:off x="684617" y="1685075"/>
              <a:ext cx="3917005" cy="780224"/>
            </a:xfrm>
            <a:prstGeom prst="wedgeRoundRectCallout">
              <a:avLst>
                <a:gd name="adj1" fmla="val -1389"/>
                <a:gd name="adj2" fmla="val 83321"/>
                <a:gd name="adj3" fmla="val 16667"/>
              </a:avLst>
            </a:prstGeom>
            <a:solidFill>
              <a:schemeClr val="bg1"/>
            </a:solidFill>
            <a:ln w="254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lIns="85954" tIns="42977" rIns="85954" bIns="42977" rtlCol="0" anchor="ctr"/>
            <a:lstStyle/>
            <a:p>
              <a:pPr algn="ctr"/>
              <a:endParaRPr lang="zh-CN" altLang="en-US" sz="1690">
                <a:latin typeface="微软雅黑" panose="020B0503020204020204" charset="-122"/>
                <a:ea typeface="微软雅黑" panose="020B0503020204020204" charset="-122"/>
                <a:cs typeface="微软雅黑" panose="020B0503020204020204" charset="-122"/>
              </a:endParaRPr>
            </a:p>
          </p:txBody>
        </p:sp>
        <p:sp>
          <p:nvSpPr>
            <p:cNvPr id="523" name="Подзаголовок 2"/>
            <p:cNvSpPr txBox="1"/>
            <p:nvPr/>
          </p:nvSpPr>
          <p:spPr>
            <a:xfrm>
              <a:off x="2169882" y="1852715"/>
              <a:ext cx="2319655" cy="399415"/>
            </a:xfrm>
            <a:prstGeom prst="rect">
              <a:avLst/>
            </a:prstGeom>
            <a:effectLst/>
          </p:spPr>
          <p:txBody>
            <a:bodyPr vert="horz" lIns="85954" tIns="42977" rIns="85954" bIns="42977" numCol="1" spcCol="1800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l">
                <a:lnSpc>
                  <a:spcPct val="100000"/>
                </a:lnSpc>
                <a:spcBef>
                  <a:spcPts val="0"/>
                </a:spcBef>
                <a:buClrTx/>
                <a:buSzTx/>
                <a:buNone/>
              </a:pPr>
              <a:r>
                <a:rPr lang="zh-CN" altLang="en-US" sz="1000" kern="0" dirty="0">
                  <a:solidFill>
                    <a:schemeClr val="tx2"/>
                  </a:solidFill>
                  <a:latin typeface="微软雅黑" panose="020B0503020204020204" charset="-122"/>
                  <a:ea typeface="微软雅黑" panose="020B0503020204020204" charset="-122"/>
                  <a:cs typeface="微软雅黑" panose="020B0503020204020204" charset="-122"/>
                  <a:sym typeface="+mn-ea"/>
                </a:rPr>
                <a:t>市场份额、营收增长等财务表现。</a:t>
              </a:r>
              <a:endParaRPr lang="zh-CN" altLang="en-US" sz="1000" kern="0" dirty="0">
                <a:solidFill>
                  <a:schemeClr val="tx2"/>
                </a:solidFill>
                <a:latin typeface="微软雅黑" panose="020B0503020204020204" charset="-122"/>
                <a:ea typeface="微软雅黑" panose="020B0503020204020204" charset="-122"/>
                <a:cs typeface="微软雅黑" panose="020B0503020204020204" charset="-122"/>
                <a:sym typeface="+mn-ea"/>
              </a:endParaRPr>
            </a:p>
            <a:p>
              <a:pPr marL="0" lvl="0" algn="l">
                <a:lnSpc>
                  <a:spcPct val="100000"/>
                </a:lnSpc>
                <a:spcBef>
                  <a:spcPts val="0"/>
                </a:spcBef>
                <a:buClrTx/>
                <a:buSzTx/>
                <a:buNone/>
              </a:pPr>
              <a:r>
                <a:rPr lang="zh-CN" altLang="en-US" sz="1000" kern="0" dirty="0">
                  <a:solidFill>
                    <a:schemeClr val="tx2"/>
                  </a:solidFill>
                  <a:latin typeface="微软雅黑" panose="020B0503020204020204" charset="-122"/>
                  <a:ea typeface="微软雅黑" panose="020B0503020204020204" charset="-122"/>
                  <a:cs typeface="微软雅黑" panose="020B0503020204020204" charset="-122"/>
                  <a:sym typeface="+mn-ea"/>
                </a:rPr>
                <a:t>品牌在资本市场的估值（如Interbrand全球品牌排行榜）。</a:t>
              </a:r>
              <a:endParaRPr lang="zh-CN" altLang="en-US" sz="1000" kern="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grpSp>
      <p:sp>
        <p:nvSpPr>
          <p:cNvPr id="2" name="对话气泡: 圆角矩形 521"/>
          <p:cNvSpPr/>
          <p:nvPr/>
        </p:nvSpPr>
        <p:spPr>
          <a:xfrm flipV="1">
            <a:off x="686435" y="5631815"/>
            <a:ext cx="3917315" cy="780415"/>
          </a:xfrm>
          <a:prstGeom prst="wedgeRoundRectCallout">
            <a:avLst>
              <a:gd name="adj1" fmla="val 3671"/>
              <a:gd name="adj2" fmla="val 83360"/>
              <a:gd name="adj3" fmla="val 16667"/>
            </a:avLst>
          </a:prstGeom>
          <a:solidFill>
            <a:schemeClr val="bg1"/>
          </a:solidFill>
          <a:ln w="254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lIns="85954" tIns="42977" rIns="85954" bIns="42977" rtlCol="0" anchor="ctr"/>
          <a:lstStyle/>
          <a:p>
            <a:pPr algn="ctr"/>
            <a:endParaRPr lang="zh-CN" altLang="en-US" sz="1690">
              <a:latin typeface="微软雅黑" panose="020B0503020204020204" charset="-122"/>
              <a:ea typeface="微软雅黑" panose="020B0503020204020204" charset="-122"/>
              <a:cs typeface="微软雅黑" panose="020B0503020204020204" charset="-122"/>
            </a:endParaRPr>
          </a:p>
        </p:txBody>
      </p:sp>
      <p:grpSp>
        <p:nvGrpSpPr>
          <p:cNvPr id="7" name="组合 6"/>
          <p:cNvGrpSpPr/>
          <p:nvPr/>
        </p:nvGrpSpPr>
        <p:grpSpPr>
          <a:xfrm>
            <a:off x="7515830" y="1518372"/>
            <a:ext cx="3917005" cy="841815"/>
            <a:chOff x="820507" y="1848909"/>
            <a:chExt cx="3917005" cy="841815"/>
          </a:xfrm>
        </p:grpSpPr>
        <p:sp>
          <p:nvSpPr>
            <p:cNvPr id="8" name="对话气泡: 圆角矩形 521"/>
            <p:cNvSpPr/>
            <p:nvPr/>
          </p:nvSpPr>
          <p:spPr>
            <a:xfrm>
              <a:off x="820507" y="1910500"/>
              <a:ext cx="3917005" cy="780224"/>
            </a:xfrm>
            <a:prstGeom prst="wedgeRoundRectCallout">
              <a:avLst>
                <a:gd name="adj1" fmla="val 4017"/>
                <a:gd name="adj2" fmla="val 86800"/>
                <a:gd name="adj3" fmla="val 16667"/>
              </a:avLst>
            </a:prstGeom>
            <a:solidFill>
              <a:schemeClr val="bg1"/>
            </a:solidFill>
            <a:ln w="25400">
              <a:solidFill>
                <a:schemeClr val="accent5"/>
              </a:solidFill>
            </a:ln>
            <a:effectLst/>
          </p:spPr>
          <p:style>
            <a:lnRef idx="2">
              <a:schemeClr val="accent1">
                <a:shade val="15000"/>
              </a:schemeClr>
            </a:lnRef>
            <a:fillRef idx="1">
              <a:schemeClr val="accent1"/>
            </a:fillRef>
            <a:effectRef idx="0">
              <a:schemeClr val="accent1"/>
            </a:effectRef>
            <a:fontRef idx="minor">
              <a:schemeClr val="lt1"/>
            </a:fontRef>
          </p:style>
          <p:txBody>
            <a:bodyPr lIns="85954" tIns="42977" rIns="85954" bIns="42977" rtlCol="0" anchor="ctr"/>
            <a:lstStyle/>
            <a:p>
              <a:pPr algn="ctr"/>
              <a:endParaRPr lang="zh-CN" altLang="en-US" sz="1690">
                <a:latin typeface="微软雅黑" panose="020B0503020204020204" charset="-122"/>
                <a:ea typeface="微软雅黑" panose="020B0503020204020204" charset="-122"/>
                <a:cs typeface="微软雅黑" panose="020B0503020204020204" charset="-122"/>
              </a:endParaRPr>
            </a:p>
          </p:txBody>
        </p:sp>
        <p:sp>
          <p:nvSpPr>
            <p:cNvPr id="12" name="Подзаголовок 2"/>
            <p:cNvSpPr txBox="1"/>
            <p:nvPr/>
          </p:nvSpPr>
          <p:spPr>
            <a:xfrm>
              <a:off x="820507" y="1848909"/>
              <a:ext cx="1377950" cy="666115"/>
            </a:xfrm>
            <a:prstGeom prst="rect">
              <a:avLst/>
            </a:prstGeom>
            <a:effectLst/>
          </p:spPr>
          <p:txBody>
            <a:bodyPr vert="horz" lIns="85954" tIns="42977" rIns="85954" bIns="42977" numCol="1" spcCol="180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0"/>
                </a:spcBef>
                <a:buNone/>
              </a:pPr>
              <a:r>
                <a:rPr lang="zh-CN" altLang="en-US" sz="3000" kern="0" dirty="0">
                  <a:solidFill>
                    <a:schemeClr val="accent5"/>
                  </a:solidFill>
                  <a:latin typeface="微软雅黑" panose="020B0503020204020204" charset="-122"/>
                  <a:ea typeface="微软雅黑" panose="020B0503020204020204" charset="-122"/>
                  <a:cs typeface="微软雅黑" panose="020B0503020204020204" charset="-122"/>
                </a:rPr>
                <a:t>定位</a:t>
              </a:r>
              <a:endParaRPr lang="zh-CN" altLang="en-US" sz="3000" kern="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sp>
        <p:nvSpPr>
          <p:cNvPr id="14" name="Подзаголовок 2"/>
          <p:cNvSpPr txBox="1"/>
          <p:nvPr/>
        </p:nvSpPr>
        <p:spPr>
          <a:xfrm>
            <a:off x="956310" y="5865495"/>
            <a:ext cx="3536315" cy="399415"/>
          </a:xfrm>
          <a:prstGeom prst="rect">
            <a:avLst/>
          </a:prstGeom>
          <a:effectLst/>
        </p:spPr>
        <p:txBody>
          <a:bodyPr vert="horz" lIns="85954" tIns="42977" rIns="85954" bIns="42977" numCol="1" spcCol="1800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l">
              <a:lnSpc>
                <a:spcPct val="100000"/>
              </a:lnSpc>
              <a:spcBef>
                <a:spcPts val="0"/>
              </a:spcBef>
              <a:buClrTx/>
              <a:buSzTx/>
              <a:buNone/>
            </a:pPr>
            <a:r>
              <a:rPr lang="zh-CN" altLang="en-US" sz="1000" kern="0" dirty="0">
                <a:solidFill>
                  <a:schemeClr val="accent1"/>
                </a:solidFill>
                <a:latin typeface="微软雅黑" panose="020B0503020204020204" charset="-122"/>
                <a:ea typeface="微软雅黑" panose="020B0503020204020204" charset="-122"/>
                <a:cs typeface="微软雅黑" panose="020B0503020204020204" charset="-122"/>
                <a:sym typeface="+mn-ea"/>
              </a:rPr>
              <a:t>消费者对品牌的熟悉程度（如可口可乐的全球覆盖率）。</a:t>
            </a:r>
            <a:endParaRPr lang="zh-CN" altLang="en-US" sz="1000" kern="0" dirty="0">
              <a:solidFill>
                <a:schemeClr val="accent1"/>
              </a:solidFill>
              <a:latin typeface="微软雅黑" panose="020B0503020204020204" charset="-122"/>
              <a:ea typeface="微软雅黑" panose="020B0503020204020204" charset="-122"/>
              <a:cs typeface="微软雅黑" panose="020B0503020204020204" charset="-122"/>
              <a:sym typeface="+mn-ea"/>
            </a:endParaRPr>
          </a:p>
          <a:p>
            <a:pPr marL="0" lvl="0" algn="l">
              <a:lnSpc>
                <a:spcPct val="100000"/>
              </a:lnSpc>
              <a:spcBef>
                <a:spcPts val="0"/>
              </a:spcBef>
              <a:buClrTx/>
              <a:buSzTx/>
              <a:buNone/>
            </a:pPr>
            <a:r>
              <a:rPr lang="zh-CN" altLang="en-US" sz="1000" kern="0" dirty="0">
                <a:solidFill>
                  <a:schemeClr val="accent1"/>
                </a:solidFill>
                <a:latin typeface="微软雅黑" panose="020B0503020204020204" charset="-122"/>
                <a:ea typeface="微软雅黑" panose="020B0503020204020204" charset="-122"/>
                <a:cs typeface="微软雅黑" panose="020B0503020204020204" charset="-122"/>
                <a:sym typeface="+mn-ea"/>
              </a:rPr>
              <a:t>品牌在细分市场的辨识度（如LV代表奢侈品）。</a:t>
            </a:r>
            <a:endParaRPr lang="zh-CN" altLang="en-US" sz="1000" kern="0" dirty="0">
              <a:solidFill>
                <a:schemeClr val="accent1"/>
              </a:solidFill>
              <a:latin typeface="微软雅黑" panose="020B0503020204020204" charset="-122"/>
              <a:ea typeface="微软雅黑" panose="020B0503020204020204" charset="-122"/>
              <a:cs typeface="微软雅黑" panose="020B0503020204020204" charset="-122"/>
              <a:sym typeface="+mn-ea"/>
            </a:endParaRPr>
          </a:p>
          <a:p>
            <a:pPr marL="0" lvl="0" algn="l">
              <a:lnSpc>
                <a:spcPct val="100000"/>
              </a:lnSpc>
              <a:spcBef>
                <a:spcPts val="0"/>
              </a:spcBef>
              <a:buClrTx/>
              <a:buSzTx/>
              <a:buNone/>
            </a:pPr>
            <a:endParaRPr lang="zh-CN" altLang="en-US" sz="1000" kern="0" dirty="0">
              <a:solidFill>
                <a:schemeClr val="accent1"/>
              </a:solidFill>
              <a:latin typeface="微软雅黑" panose="020B0503020204020204" charset="-122"/>
              <a:ea typeface="微软雅黑" panose="020B0503020204020204" charset="-122"/>
              <a:cs typeface="微软雅黑" panose="020B0503020204020204" charset="-122"/>
              <a:sym typeface="+mn-ea"/>
            </a:endParaRPr>
          </a:p>
        </p:txBody>
      </p:sp>
      <p:sp>
        <p:nvSpPr>
          <p:cNvPr id="15" name="Подзаголовок 2"/>
          <p:cNvSpPr txBox="1"/>
          <p:nvPr/>
        </p:nvSpPr>
        <p:spPr>
          <a:xfrm>
            <a:off x="8697595" y="1654810"/>
            <a:ext cx="2675890" cy="570865"/>
          </a:xfrm>
          <a:prstGeom prst="rect">
            <a:avLst/>
          </a:prstGeom>
          <a:effectLst/>
        </p:spPr>
        <p:txBody>
          <a:bodyPr vert="horz" lIns="85954" tIns="42977" rIns="85954" bIns="42977" numCol="1" spcCol="1800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fontAlgn="auto">
              <a:lnSpc>
                <a:spcPct val="100000"/>
              </a:lnSpc>
              <a:spcBef>
                <a:spcPts val="0"/>
              </a:spcBef>
              <a:buNone/>
            </a:pPr>
            <a:r>
              <a:rPr lang="zh-CN" altLang="en-US" sz="1000" kern="0" dirty="0">
                <a:solidFill>
                  <a:schemeClr val="tx2"/>
                </a:solidFill>
                <a:latin typeface="微软雅黑" panose="020B0503020204020204" charset="-122"/>
                <a:ea typeface="微软雅黑" panose="020B0503020204020204" charset="-122"/>
                <a:cs typeface="微软雅黑" panose="020B0503020204020204" charset="-122"/>
              </a:rPr>
              <a:t>明确品牌的目标市场、差异化价值和核心主张（如高端、性价比、创新等）。制定长期品牌战略，确保与企业发展目标一致。</a:t>
            </a:r>
            <a:endParaRPr lang="zh-CN" altLang="en-US" sz="1000" kern="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 name="Подзаголовок 2"/>
          <p:cNvSpPr txBox="1"/>
          <p:nvPr/>
        </p:nvSpPr>
        <p:spPr>
          <a:xfrm>
            <a:off x="7802245" y="5539740"/>
            <a:ext cx="3536315" cy="399415"/>
          </a:xfrm>
          <a:prstGeom prst="rect">
            <a:avLst/>
          </a:prstGeom>
          <a:effectLst/>
        </p:spPr>
        <p:txBody>
          <a:bodyPr vert="horz" lIns="85954" tIns="42977" rIns="85954" bIns="42977" numCol="1" spcCol="180000" rtlCol="0" anchor="ctr" anchorCtr="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algn="l">
              <a:lnSpc>
                <a:spcPct val="100000"/>
              </a:lnSpc>
              <a:spcBef>
                <a:spcPts val="0"/>
              </a:spcBef>
              <a:buClrTx/>
              <a:buSzTx/>
              <a:buNone/>
            </a:pPr>
            <a:r>
              <a:rPr lang="zh-CN" altLang="en-US" sz="1000" kern="0" dirty="0">
                <a:solidFill>
                  <a:schemeClr val="tx2"/>
                </a:solidFill>
                <a:latin typeface="微软雅黑" panose="020B0503020204020204" charset="-122"/>
                <a:ea typeface="微软雅黑" panose="020B0503020204020204" charset="-122"/>
                <a:cs typeface="微软雅黑" panose="020B0503020204020204" charset="-122"/>
                <a:sym typeface="+mn-ea"/>
              </a:rPr>
              <a:t>统一品牌视觉识别（VI）、语言风格（Tone of Voice）和用户体验。通过内部培训、流程规范确保品牌承诺的兑现。</a:t>
            </a:r>
            <a:endParaRPr lang="zh-CN" altLang="en-US" sz="1000" kern="0" dirty="0">
              <a:solidFill>
                <a:schemeClr val="tx2"/>
              </a:solidFill>
              <a:latin typeface="微软雅黑" panose="020B0503020204020204" charset="-122"/>
              <a:ea typeface="微软雅黑" panose="020B0503020204020204" charset="-122"/>
              <a:cs typeface="微软雅黑" panose="020B0503020204020204" charset="-122"/>
              <a:sym typeface="+mn-ea"/>
            </a:endParaRPr>
          </a:p>
        </p:txBody>
      </p:sp>
      <p:sp>
        <p:nvSpPr>
          <p:cNvPr id="3" name="Подзаголовок 2"/>
          <p:cNvSpPr txBox="1"/>
          <p:nvPr/>
        </p:nvSpPr>
        <p:spPr>
          <a:xfrm>
            <a:off x="963342" y="1708195"/>
            <a:ext cx="1062736" cy="309697"/>
          </a:xfrm>
          <a:prstGeom prst="rect">
            <a:avLst/>
          </a:prstGeom>
          <a:effectLst/>
        </p:spPr>
        <p:txBody>
          <a:bodyPr vert="horz" lIns="85954" tIns="42977" rIns="85954" bIns="42977" numCol="1" spcCol="180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0"/>
              </a:spcBef>
              <a:buNone/>
            </a:pPr>
            <a:r>
              <a:rPr lang="zh-CN" altLang="en-US" sz="940" kern="0" dirty="0">
                <a:solidFill>
                  <a:schemeClr val="accent1"/>
                </a:solidFill>
                <a:latin typeface="微软雅黑" panose="020B0503020204020204" charset="-122"/>
                <a:ea typeface="微软雅黑" panose="020B0503020204020204" charset="-122"/>
                <a:cs typeface="微软雅黑" panose="020B0503020204020204" charset="-122"/>
              </a:rPr>
              <a:t>市场份额</a:t>
            </a:r>
            <a:endParaRPr lang="zh-CN" altLang="en-US" sz="940" kern="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 name="Подзаголовок 2"/>
          <p:cNvSpPr txBox="1"/>
          <p:nvPr/>
        </p:nvSpPr>
        <p:spPr>
          <a:xfrm>
            <a:off x="805735" y="1805388"/>
            <a:ext cx="1377950" cy="498475"/>
          </a:xfrm>
          <a:prstGeom prst="rect">
            <a:avLst/>
          </a:prstGeom>
          <a:effectLst/>
        </p:spPr>
        <p:txBody>
          <a:bodyPr vert="horz" lIns="85954" tIns="42977" rIns="85954" bIns="42977" numCol="1" spcCol="18000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ct val="150000"/>
              </a:lnSpc>
              <a:spcBef>
                <a:spcPts val="0"/>
              </a:spcBef>
              <a:buNone/>
            </a:pPr>
            <a:r>
              <a:rPr lang="en-US" altLang="zh-CN" sz="2500" b="1" kern="0" dirty="0">
                <a:solidFill>
                  <a:schemeClr val="accent1"/>
                </a:solidFill>
                <a:latin typeface="微软雅黑" panose="020B0503020204020204" charset="-122"/>
                <a:ea typeface="微软雅黑" panose="020B0503020204020204" charset="-122"/>
                <a:cs typeface="微软雅黑" panose="020B0503020204020204" charset="-122"/>
              </a:rPr>
              <a:t>80%</a:t>
            </a:r>
            <a:endParaRPr lang="en-US" altLang="zh-CN" sz="2500" b="1" kern="0" dirty="0">
              <a:solidFill>
                <a:schemeClr val="accent1"/>
              </a:solidFill>
              <a:latin typeface="微软雅黑" panose="020B0503020204020204" charset="-122"/>
              <a:ea typeface="微软雅黑" panose="020B0503020204020204" charset="-122"/>
              <a:cs typeface="微软雅黑" panose="020B0503020204020204" charset="-122"/>
            </a:endParaRPr>
          </a:p>
        </p:txBody>
      </p:sp>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 name="组合 5"/>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4"/>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870712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sz="2500" dirty="0">
                <a:solidFill>
                  <a:schemeClr val="tx2"/>
                </a:solidFill>
                <a:effectLst/>
                <a:latin typeface="微软雅黑" panose="020B0503020204020204" charset="-122"/>
                <a:ea typeface="微软雅黑" panose="020B0503020204020204" charset="-122"/>
                <a:cs typeface="微软雅黑" panose="020B0503020204020204" charset="-122"/>
              </a:rPr>
              <a:t>采购数字化平台价值链</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26" name="任意多边形: 形状 25"/>
          <p:cNvSpPr/>
          <p:nvPr>
            <p:custDataLst>
              <p:tags r:id="rId3"/>
            </p:custDataLst>
          </p:nvPr>
        </p:nvSpPr>
        <p:spPr>
          <a:xfrm flipH="1" flipV="1">
            <a:off x="4234180" y="2040890"/>
            <a:ext cx="2037715" cy="1894840"/>
          </a:xfrm>
          <a:custGeom>
            <a:avLst/>
            <a:gdLst>
              <a:gd name="connsiteX0" fmla="*/ 323850 w 1082039"/>
              <a:gd name="connsiteY0" fmla="*/ 75248 h 1005840"/>
              <a:gd name="connsiteX1" fmla="*/ 631508 w 1082039"/>
              <a:gd name="connsiteY1" fmla="*/ 420053 h 1005840"/>
              <a:gd name="connsiteX2" fmla="*/ 1038225 w 1082039"/>
              <a:gd name="connsiteY2" fmla="*/ 681990 h 1005840"/>
              <a:gd name="connsiteX3" fmla="*/ 1082040 w 1082039"/>
              <a:gd name="connsiteY3" fmla="*/ 864870 h 1005840"/>
              <a:gd name="connsiteX4" fmla="*/ 932498 w 1082039"/>
              <a:gd name="connsiteY4" fmla="*/ 1005840 h 1005840"/>
              <a:gd name="connsiteX5" fmla="*/ 168592 w 1082039"/>
              <a:gd name="connsiteY5" fmla="*/ 423863 h 1005840"/>
              <a:gd name="connsiteX6" fmla="*/ 120967 w 1082039"/>
              <a:gd name="connsiteY6" fmla="*/ 363855 h 1005840"/>
              <a:gd name="connsiteX7" fmla="*/ 0 w 1082039"/>
              <a:gd name="connsiteY7" fmla="*/ 205740 h 1005840"/>
              <a:gd name="connsiteX8" fmla="*/ 193358 w 1082039"/>
              <a:gd name="connsiteY8" fmla="*/ 180023 h 1005840"/>
              <a:gd name="connsiteX9" fmla="*/ 267652 w 1082039"/>
              <a:gd name="connsiteY9" fmla="*/ 0 h 1005840"/>
              <a:gd name="connsiteX10" fmla="*/ 323850 w 1082039"/>
              <a:gd name="connsiteY10" fmla="*/ 75248 h 1005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082039" h="1005840">
                <a:moveTo>
                  <a:pt x="323850" y="75248"/>
                </a:moveTo>
                <a:cubicBezTo>
                  <a:pt x="418147" y="198120"/>
                  <a:pt x="516255" y="317183"/>
                  <a:pt x="631508" y="420053"/>
                </a:cubicBezTo>
                <a:cubicBezTo>
                  <a:pt x="750570" y="525780"/>
                  <a:pt x="885825" y="630555"/>
                  <a:pt x="1038225" y="681990"/>
                </a:cubicBezTo>
                <a:lnTo>
                  <a:pt x="1082040" y="864870"/>
                </a:lnTo>
                <a:lnTo>
                  <a:pt x="932498" y="1005840"/>
                </a:lnTo>
                <a:cubicBezTo>
                  <a:pt x="625793" y="905828"/>
                  <a:pt x="369570" y="669608"/>
                  <a:pt x="168592" y="423863"/>
                </a:cubicBezTo>
                <a:cubicBezTo>
                  <a:pt x="152400" y="403860"/>
                  <a:pt x="136208" y="383858"/>
                  <a:pt x="120967" y="363855"/>
                </a:cubicBezTo>
                <a:cubicBezTo>
                  <a:pt x="80010" y="311468"/>
                  <a:pt x="40005" y="258128"/>
                  <a:pt x="0" y="205740"/>
                </a:cubicBezTo>
                <a:lnTo>
                  <a:pt x="193358" y="180023"/>
                </a:lnTo>
                <a:lnTo>
                  <a:pt x="267652" y="0"/>
                </a:lnTo>
                <a:cubicBezTo>
                  <a:pt x="285750" y="24765"/>
                  <a:pt x="304800" y="50483"/>
                  <a:pt x="323850" y="75248"/>
                </a:cubicBezTo>
                <a:close/>
              </a:path>
            </a:pathLst>
          </a:custGeom>
          <a:gradFill>
            <a:gsLst>
              <a:gs pos="100000">
                <a:schemeClr val="accent1">
                  <a:lumMod val="60000"/>
                  <a:lumOff val="40000"/>
                </a:schemeClr>
              </a:gs>
              <a:gs pos="0">
                <a:schemeClr val="accent1">
                  <a:lumMod val="40000"/>
                  <a:lumOff val="60000"/>
                </a:schemeClr>
              </a:gs>
            </a:gsLst>
            <a:lin ang="5400000" scaled="0"/>
          </a:gradFill>
          <a:ln w="9525" cap="flat">
            <a:noFill/>
            <a:prstDash val="solid"/>
            <a:miter/>
          </a:ln>
        </p:spPr>
        <p:txBody>
          <a:bodyPr rtlCol="0" anchor="ctr">
            <a:noAutofit/>
          </a:bodyPr>
          <a:lstStyle/>
          <a:p>
            <a:pPr lvl="0" algn="l">
              <a:buClrTx/>
              <a:buSzTx/>
              <a:buFontTx/>
            </a:pPr>
            <a:endParaRPr lang="en-US">
              <a:cs typeface="微软雅黑" panose="020B0503020204020204" charset="-122"/>
              <a:sym typeface="+mn-ea"/>
            </a:endParaRPr>
          </a:p>
        </p:txBody>
      </p:sp>
      <p:sp>
        <p:nvSpPr>
          <p:cNvPr id="23" name="任意多边形: 形状 22"/>
          <p:cNvSpPr/>
          <p:nvPr>
            <p:custDataLst>
              <p:tags r:id="rId4"/>
            </p:custDataLst>
          </p:nvPr>
        </p:nvSpPr>
        <p:spPr>
          <a:xfrm flipH="1" flipV="1">
            <a:off x="2106930" y="3804285"/>
            <a:ext cx="2423160" cy="1831975"/>
          </a:xfrm>
          <a:custGeom>
            <a:avLst/>
            <a:gdLst>
              <a:gd name="connsiteX0" fmla="*/ 1286828 w 1286827"/>
              <a:gd name="connsiteY0" fmla="*/ 971550 h 972502"/>
              <a:gd name="connsiteX1" fmla="*/ 1117283 w 1286827"/>
              <a:gd name="connsiteY1" fmla="*/ 873443 h 972502"/>
              <a:gd name="connsiteX2" fmla="*/ 944880 w 1286827"/>
              <a:gd name="connsiteY2" fmla="*/ 972503 h 972502"/>
              <a:gd name="connsiteX3" fmla="*/ 307658 w 1286827"/>
              <a:gd name="connsiteY3" fmla="*/ 341948 h 972502"/>
              <a:gd name="connsiteX4" fmla="*/ 147638 w 1286827"/>
              <a:gd name="connsiteY4" fmla="*/ 366713 h 972502"/>
              <a:gd name="connsiteX5" fmla="*/ 0 w 1286827"/>
              <a:gd name="connsiteY5" fmla="*/ 226695 h 972502"/>
              <a:gd name="connsiteX6" fmla="*/ 44768 w 1286827"/>
              <a:gd name="connsiteY6" fmla="*/ 40958 h 972502"/>
              <a:gd name="connsiteX7" fmla="*/ 307658 w 1286827"/>
              <a:gd name="connsiteY7" fmla="*/ 0 h 972502"/>
              <a:gd name="connsiteX8" fmla="*/ 1286828 w 1286827"/>
              <a:gd name="connsiteY8" fmla="*/ 971550 h 9725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6827" h="972502">
                <a:moveTo>
                  <a:pt x="1286828" y="971550"/>
                </a:moveTo>
                <a:lnTo>
                  <a:pt x="1117283" y="873443"/>
                </a:lnTo>
                <a:lnTo>
                  <a:pt x="944880" y="972503"/>
                </a:lnTo>
                <a:cubicBezTo>
                  <a:pt x="941070" y="623888"/>
                  <a:pt x="656272" y="341948"/>
                  <a:pt x="307658" y="341948"/>
                </a:cubicBezTo>
                <a:cubicBezTo>
                  <a:pt x="254318" y="341948"/>
                  <a:pt x="200978" y="350520"/>
                  <a:pt x="147638" y="366713"/>
                </a:cubicBezTo>
                <a:lnTo>
                  <a:pt x="0" y="226695"/>
                </a:lnTo>
                <a:lnTo>
                  <a:pt x="44768" y="40958"/>
                </a:lnTo>
                <a:cubicBezTo>
                  <a:pt x="129540" y="15240"/>
                  <a:pt x="217170" y="0"/>
                  <a:pt x="307658" y="0"/>
                </a:cubicBezTo>
                <a:cubicBezTo>
                  <a:pt x="843915" y="953"/>
                  <a:pt x="1282065" y="435293"/>
                  <a:pt x="1286828" y="971550"/>
                </a:cubicBezTo>
                <a:close/>
              </a:path>
            </a:pathLst>
          </a:custGeom>
          <a:gradFill>
            <a:gsLst>
              <a:gs pos="100000">
                <a:schemeClr val="accent1">
                  <a:lumMod val="60000"/>
                  <a:lumOff val="40000"/>
                </a:schemeClr>
              </a:gs>
              <a:gs pos="0">
                <a:schemeClr val="accent1">
                  <a:lumMod val="40000"/>
                  <a:lumOff val="60000"/>
                </a:schemeClr>
              </a:gs>
            </a:gsLst>
            <a:lin ang="5400000" scaled="0"/>
          </a:gradFill>
          <a:ln w="9525" cap="flat">
            <a:noFill/>
            <a:prstDash val="solid"/>
            <a:miter/>
          </a:ln>
        </p:spPr>
        <p:txBody>
          <a:bodyPr rtlCol="0" anchor="ctr">
            <a:noAutofit/>
          </a:bodyPr>
          <a:lstStyle/>
          <a:p>
            <a:pPr lvl="0" algn="l">
              <a:buClrTx/>
              <a:buSzTx/>
              <a:buFontTx/>
            </a:pPr>
            <a:endParaRPr lang="en-US">
              <a:cs typeface="微软雅黑" panose="020B0503020204020204" charset="-122"/>
              <a:sym typeface="+mn-ea"/>
            </a:endParaRPr>
          </a:p>
        </p:txBody>
      </p:sp>
      <p:sp>
        <p:nvSpPr>
          <p:cNvPr id="24" name="任意多边形: 形状 23"/>
          <p:cNvSpPr/>
          <p:nvPr>
            <p:custDataLst>
              <p:tags r:id="rId5"/>
            </p:custDataLst>
          </p:nvPr>
        </p:nvSpPr>
        <p:spPr>
          <a:xfrm flipH="1" flipV="1">
            <a:off x="2108835" y="1943735"/>
            <a:ext cx="2292350" cy="1927225"/>
          </a:xfrm>
          <a:custGeom>
            <a:avLst/>
            <a:gdLst>
              <a:gd name="connsiteX0" fmla="*/ 1048703 w 1217294"/>
              <a:gd name="connsiteY0" fmla="*/ 0 h 1022984"/>
              <a:gd name="connsiteX1" fmla="*/ 1217295 w 1217294"/>
              <a:gd name="connsiteY1" fmla="*/ 97155 h 1022984"/>
              <a:gd name="connsiteX2" fmla="*/ 239078 w 1217294"/>
              <a:gd name="connsiteY2" fmla="*/ 1022985 h 1022984"/>
              <a:gd name="connsiteX3" fmla="*/ 170497 w 1217294"/>
              <a:gd name="connsiteY3" fmla="*/ 1020127 h 1022984"/>
              <a:gd name="connsiteX4" fmla="*/ 0 w 1217294"/>
              <a:gd name="connsiteY4" fmla="*/ 990600 h 1022984"/>
              <a:gd name="connsiteX5" fmla="*/ 149542 w 1217294"/>
              <a:gd name="connsiteY5" fmla="*/ 849630 h 1022984"/>
              <a:gd name="connsiteX6" fmla="*/ 105728 w 1217294"/>
              <a:gd name="connsiteY6" fmla="*/ 665797 h 1022984"/>
              <a:gd name="connsiteX7" fmla="*/ 239078 w 1217294"/>
              <a:gd name="connsiteY7" fmla="*/ 681038 h 1022984"/>
              <a:gd name="connsiteX8" fmla="*/ 874395 w 1217294"/>
              <a:gd name="connsiteY8" fmla="*/ 100965 h 1022984"/>
              <a:gd name="connsiteX9" fmla="*/ 1048703 w 1217294"/>
              <a:gd name="connsiteY9" fmla="*/ 0 h 10229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7294" h="1022984">
                <a:moveTo>
                  <a:pt x="1048703" y="0"/>
                </a:moveTo>
                <a:lnTo>
                  <a:pt x="1217295" y="97155"/>
                </a:lnTo>
                <a:cubicBezTo>
                  <a:pt x="1188720" y="611505"/>
                  <a:pt x="761047" y="1022985"/>
                  <a:pt x="239078" y="1022985"/>
                </a:cubicBezTo>
                <a:cubicBezTo>
                  <a:pt x="216217" y="1022985"/>
                  <a:pt x="193357" y="1022033"/>
                  <a:pt x="170497" y="1020127"/>
                </a:cubicBezTo>
                <a:cubicBezTo>
                  <a:pt x="112395" y="1015365"/>
                  <a:pt x="55245" y="1004888"/>
                  <a:pt x="0" y="990600"/>
                </a:cubicBezTo>
                <a:lnTo>
                  <a:pt x="149542" y="849630"/>
                </a:lnTo>
                <a:lnTo>
                  <a:pt x="105728" y="665797"/>
                </a:lnTo>
                <a:cubicBezTo>
                  <a:pt x="148590" y="675322"/>
                  <a:pt x="193357" y="681038"/>
                  <a:pt x="239078" y="681038"/>
                </a:cubicBezTo>
                <a:cubicBezTo>
                  <a:pt x="571500" y="681038"/>
                  <a:pt x="844867" y="425767"/>
                  <a:pt x="874395" y="100965"/>
                </a:cubicBezTo>
                <a:lnTo>
                  <a:pt x="1048703" y="0"/>
                </a:lnTo>
                <a:close/>
              </a:path>
            </a:pathLst>
          </a:custGeom>
          <a:gradFill>
            <a:gsLst>
              <a:gs pos="100000">
                <a:schemeClr val="accent1"/>
              </a:gs>
              <a:gs pos="0">
                <a:schemeClr val="accent1">
                  <a:lumMod val="60000"/>
                  <a:lumOff val="40000"/>
                </a:schemeClr>
              </a:gs>
            </a:gsLst>
            <a:lin ang="5400000" scaled="0"/>
          </a:gradFill>
          <a:ln w="9525" cap="flat">
            <a:noFill/>
            <a:prstDash val="solid"/>
            <a:miter/>
          </a:ln>
        </p:spPr>
        <p:txBody>
          <a:bodyPr rtlCol="0" anchor="ctr">
            <a:noAutofit/>
          </a:bodyPr>
          <a:lstStyle/>
          <a:p>
            <a:pPr lvl="0" algn="l">
              <a:buClrTx/>
              <a:buSzTx/>
              <a:buFontTx/>
            </a:pPr>
            <a:endParaRPr lang="en-US">
              <a:cs typeface="微软雅黑" panose="020B0503020204020204" charset="-122"/>
              <a:sym typeface="+mn-ea"/>
            </a:endParaRPr>
          </a:p>
        </p:txBody>
      </p:sp>
      <p:sp>
        <p:nvSpPr>
          <p:cNvPr id="28" name="任意多边形: 形状 27"/>
          <p:cNvSpPr/>
          <p:nvPr>
            <p:custDataLst>
              <p:tags r:id="rId6"/>
            </p:custDataLst>
          </p:nvPr>
        </p:nvSpPr>
        <p:spPr>
          <a:xfrm flipH="1" flipV="1">
            <a:off x="4363720" y="3793490"/>
            <a:ext cx="1702435" cy="1724025"/>
          </a:xfrm>
          <a:custGeom>
            <a:avLst/>
            <a:gdLst>
              <a:gd name="connsiteX0" fmla="*/ 754380 w 903922"/>
              <a:gd name="connsiteY0" fmla="*/ 182880 h 915352"/>
              <a:gd name="connsiteX1" fmla="*/ 903923 w 903922"/>
              <a:gd name="connsiteY1" fmla="*/ 324803 h 915352"/>
              <a:gd name="connsiteX2" fmla="*/ 214313 w 903922"/>
              <a:gd name="connsiteY2" fmla="*/ 915353 h 915352"/>
              <a:gd name="connsiteX3" fmla="*/ 157163 w 903922"/>
              <a:gd name="connsiteY3" fmla="*/ 840105 h 915352"/>
              <a:gd name="connsiteX4" fmla="*/ 118110 w 903922"/>
              <a:gd name="connsiteY4" fmla="*/ 788670 h 915352"/>
              <a:gd name="connsiteX5" fmla="*/ 0 w 903922"/>
              <a:gd name="connsiteY5" fmla="*/ 632460 h 915352"/>
              <a:gd name="connsiteX6" fmla="*/ 5715 w 903922"/>
              <a:gd name="connsiteY6" fmla="*/ 627698 h 915352"/>
              <a:gd name="connsiteX7" fmla="*/ 797243 w 903922"/>
              <a:gd name="connsiteY7" fmla="*/ 0 h 915352"/>
              <a:gd name="connsiteX8" fmla="*/ 754380 w 903922"/>
              <a:gd name="connsiteY8" fmla="*/ 182880 h 915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03922" h="915352">
                <a:moveTo>
                  <a:pt x="754380" y="182880"/>
                </a:moveTo>
                <a:lnTo>
                  <a:pt x="903923" y="324803"/>
                </a:lnTo>
                <a:cubicBezTo>
                  <a:pt x="621983" y="435293"/>
                  <a:pt x="356235" y="725805"/>
                  <a:pt x="214313" y="915353"/>
                </a:cubicBezTo>
                <a:cubicBezTo>
                  <a:pt x="195263" y="890588"/>
                  <a:pt x="176213" y="864870"/>
                  <a:pt x="157163" y="840105"/>
                </a:cubicBezTo>
                <a:cubicBezTo>
                  <a:pt x="144780" y="822960"/>
                  <a:pt x="131445" y="805815"/>
                  <a:pt x="118110" y="788670"/>
                </a:cubicBezTo>
                <a:cubicBezTo>
                  <a:pt x="79058" y="736283"/>
                  <a:pt x="40005" y="683895"/>
                  <a:pt x="0" y="632460"/>
                </a:cubicBezTo>
                <a:lnTo>
                  <a:pt x="5715" y="627698"/>
                </a:lnTo>
                <a:cubicBezTo>
                  <a:pt x="169545" y="426720"/>
                  <a:pt x="455295" y="128588"/>
                  <a:pt x="797243" y="0"/>
                </a:cubicBezTo>
                <a:lnTo>
                  <a:pt x="754380" y="182880"/>
                </a:lnTo>
                <a:close/>
              </a:path>
            </a:pathLst>
          </a:custGeom>
          <a:gradFill>
            <a:gsLst>
              <a:gs pos="100000">
                <a:schemeClr val="accent5">
                  <a:lumMod val="40000"/>
                  <a:lumOff val="60000"/>
                </a:schemeClr>
              </a:gs>
              <a:gs pos="0">
                <a:schemeClr val="accent5">
                  <a:lumMod val="20000"/>
                  <a:lumOff val="80000"/>
                </a:schemeClr>
              </a:gs>
            </a:gsLst>
            <a:lin ang="5400000" scaled="0"/>
          </a:gradFill>
          <a:ln w="9525" cap="flat">
            <a:noFill/>
            <a:prstDash val="solid"/>
            <a:miter/>
          </a:ln>
        </p:spPr>
        <p:txBody>
          <a:bodyPr rtlCol="0" anchor="ctr"/>
          <a:lstStyle/>
          <a:p>
            <a:endParaRPr lang="en-US">
              <a:cs typeface="微软雅黑" panose="020B0503020204020204" charset="-122"/>
            </a:endParaRPr>
          </a:p>
        </p:txBody>
      </p:sp>
      <p:sp>
        <p:nvSpPr>
          <p:cNvPr id="30" name="任意多边形: 形状 29"/>
          <p:cNvSpPr/>
          <p:nvPr>
            <p:custDataLst>
              <p:tags r:id="rId7"/>
            </p:custDataLst>
          </p:nvPr>
        </p:nvSpPr>
        <p:spPr>
          <a:xfrm flipH="1" flipV="1">
            <a:off x="5839460" y="3644900"/>
            <a:ext cx="1888490" cy="1877060"/>
          </a:xfrm>
          <a:custGeom>
            <a:avLst/>
            <a:gdLst>
              <a:gd name="connsiteX0" fmla="*/ 680085 w 1002982"/>
              <a:gd name="connsiteY0" fmla="*/ 924878 h 996315"/>
              <a:gd name="connsiteX1" fmla="*/ 453390 w 1002982"/>
              <a:gd name="connsiteY1" fmla="*/ 655320 h 996315"/>
              <a:gd name="connsiteX2" fmla="*/ 0 w 1002982"/>
              <a:gd name="connsiteY2" fmla="*/ 324803 h 996315"/>
              <a:gd name="connsiteX3" fmla="*/ 148590 w 1002982"/>
              <a:gd name="connsiteY3" fmla="*/ 184785 h 996315"/>
              <a:gd name="connsiteX4" fmla="*/ 104775 w 1002982"/>
              <a:gd name="connsiteY4" fmla="*/ 0 h 996315"/>
              <a:gd name="connsiteX5" fmla="*/ 765810 w 1002982"/>
              <a:gd name="connsiteY5" fmla="*/ 490538 h 996315"/>
              <a:gd name="connsiteX6" fmla="*/ 884873 w 1002982"/>
              <a:gd name="connsiteY6" fmla="*/ 634365 h 996315"/>
              <a:gd name="connsiteX7" fmla="*/ 1002982 w 1002982"/>
              <a:gd name="connsiteY7" fmla="*/ 790575 h 996315"/>
              <a:gd name="connsiteX8" fmla="*/ 928688 w 1002982"/>
              <a:gd name="connsiteY8" fmla="*/ 970598 h 996315"/>
              <a:gd name="connsiteX9" fmla="*/ 735330 w 1002982"/>
              <a:gd name="connsiteY9" fmla="*/ 996315 h 996315"/>
              <a:gd name="connsiteX10" fmla="*/ 735330 w 1002982"/>
              <a:gd name="connsiteY10" fmla="*/ 996315 h 996315"/>
              <a:gd name="connsiteX11" fmla="*/ 680085 w 1002982"/>
              <a:gd name="connsiteY11" fmla="*/ 924878 h 996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002982" h="996315">
                <a:moveTo>
                  <a:pt x="680085" y="924878"/>
                </a:moveTo>
                <a:cubicBezTo>
                  <a:pt x="608648" y="831533"/>
                  <a:pt x="534353" y="740093"/>
                  <a:pt x="453390" y="655320"/>
                </a:cubicBezTo>
                <a:cubicBezTo>
                  <a:pt x="327660" y="523875"/>
                  <a:pt x="174307" y="390525"/>
                  <a:pt x="0" y="324803"/>
                </a:cubicBezTo>
                <a:lnTo>
                  <a:pt x="148590" y="184785"/>
                </a:lnTo>
                <a:lnTo>
                  <a:pt x="104775" y="0"/>
                </a:lnTo>
                <a:cubicBezTo>
                  <a:pt x="361950" y="94298"/>
                  <a:pt x="585788" y="287655"/>
                  <a:pt x="765810" y="490538"/>
                </a:cubicBezTo>
                <a:cubicBezTo>
                  <a:pt x="806768" y="537210"/>
                  <a:pt x="846773" y="584835"/>
                  <a:pt x="884873" y="634365"/>
                </a:cubicBezTo>
                <a:cubicBezTo>
                  <a:pt x="924878" y="685800"/>
                  <a:pt x="963930" y="738188"/>
                  <a:pt x="1002982" y="790575"/>
                </a:cubicBezTo>
                <a:lnTo>
                  <a:pt x="928688" y="970598"/>
                </a:lnTo>
                <a:lnTo>
                  <a:pt x="735330" y="996315"/>
                </a:lnTo>
                <a:lnTo>
                  <a:pt x="735330" y="996315"/>
                </a:lnTo>
                <a:cubicBezTo>
                  <a:pt x="716280" y="972503"/>
                  <a:pt x="698182" y="948690"/>
                  <a:pt x="680085" y="924878"/>
                </a:cubicBezTo>
                <a:close/>
              </a:path>
            </a:pathLst>
          </a:custGeom>
          <a:gradFill>
            <a:gsLst>
              <a:gs pos="100000">
                <a:schemeClr val="accent1">
                  <a:lumMod val="60000"/>
                  <a:lumOff val="40000"/>
                </a:schemeClr>
              </a:gs>
              <a:gs pos="0">
                <a:schemeClr val="accent1">
                  <a:lumMod val="40000"/>
                  <a:lumOff val="60000"/>
                </a:schemeClr>
              </a:gs>
            </a:gsLst>
            <a:lin ang="5400000" scaled="0"/>
          </a:gradFill>
          <a:ln w="9525" cap="flat">
            <a:noFill/>
            <a:prstDash val="solid"/>
            <a:miter/>
          </a:ln>
        </p:spPr>
        <p:txBody>
          <a:bodyPr rtlCol="0" anchor="ctr">
            <a:noAutofit/>
          </a:bodyPr>
          <a:lstStyle/>
          <a:p>
            <a:pPr lvl="0" algn="l">
              <a:buClrTx/>
              <a:buSzTx/>
              <a:buFontTx/>
            </a:pPr>
            <a:endParaRPr lang="en-US">
              <a:cs typeface="微软雅黑" panose="020B0503020204020204" charset="-122"/>
              <a:sym typeface="+mn-ea"/>
            </a:endParaRPr>
          </a:p>
        </p:txBody>
      </p:sp>
      <p:sp>
        <p:nvSpPr>
          <p:cNvPr id="31" name="任意多边形: 形状 30"/>
          <p:cNvSpPr/>
          <p:nvPr>
            <p:custDataLst>
              <p:tags r:id="rId8"/>
            </p:custDataLst>
          </p:nvPr>
        </p:nvSpPr>
        <p:spPr>
          <a:xfrm flipH="1" flipV="1">
            <a:off x="6042660" y="2052320"/>
            <a:ext cx="1815465" cy="1732915"/>
          </a:xfrm>
          <a:custGeom>
            <a:avLst/>
            <a:gdLst>
              <a:gd name="connsiteX0" fmla="*/ 963930 w 963929"/>
              <a:gd name="connsiteY0" fmla="*/ 280987 h 920114"/>
              <a:gd name="connsiteX1" fmla="*/ 960120 w 963929"/>
              <a:gd name="connsiteY1" fmla="*/ 284798 h 920114"/>
              <a:gd name="connsiteX2" fmla="*/ 146685 w 963929"/>
              <a:gd name="connsiteY2" fmla="*/ 920115 h 920114"/>
              <a:gd name="connsiteX3" fmla="*/ 0 w 963929"/>
              <a:gd name="connsiteY3" fmla="*/ 782003 h 920114"/>
              <a:gd name="connsiteX4" fmla="*/ 44768 w 963929"/>
              <a:gd name="connsiteY4" fmla="*/ 594360 h 920114"/>
              <a:gd name="connsiteX5" fmla="*/ 750570 w 963929"/>
              <a:gd name="connsiteY5" fmla="*/ 0 h 920114"/>
              <a:gd name="connsiteX6" fmla="*/ 804863 w 963929"/>
              <a:gd name="connsiteY6" fmla="*/ 71438 h 920114"/>
              <a:gd name="connsiteX7" fmla="*/ 804863 w 963929"/>
              <a:gd name="connsiteY7" fmla="*/ 71438 h 920114"/>
              <a:gd name="connsiteX8" fmla="*/ 842963 w 963929"/>
              <a:gd name="connsiteY8" fmla="*/ 121920 h 920114"/>
              <a:gd name="connsiteX9" fmla="*/ 963930 w 963929"/>
              <a:gd name="connsiteY9" fmla="*/ 280987 h 9201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63929" h="920114">
                <a:moveTo>
                  <a:pt x="963930" y="280987"/>
                </a:moveTo>
                <a:lnTo>
                  <a:pt x="960120" y="284798"/>
                </a:lnTo>
                <a:cubicBezTo>
                  <a:pt x="793433" y="490537"/>
                  <a:pt x="498158" y="797243"/>
                  <a:pt x="146685" y="920115"/>
                </a:cubicBezTo>
                <a:lnTo>
                  <a:pt x="0" y="782003"/>
                </a:lnTo>
                <a:lnTo>
                  <a:pt x="44768" y="594360"/>
                </a:lnTo>
                <a:cubicBezTo>
                  <a:pt x="332423" y="489585"/>
                  <a:pt x="604838" y="193357"/>
                  <a:pt x="750570" y="0"/>
                </a:cubicBezTo>
                <a:cubicBezTo>
                  <a:pt x="768668" y="23813"/>
                  <a:pt x="786765" y="47625"/>
                  <a:pt x="804863" y="71438"/>
                </a:cubicBezTo>
                <a:lnTo>
                  <a:pt x="804863" y="71438"/>
                </a:lnTo>
                <a:cubicBezTo>
                  <a:pt x="817245" y="88582"/>
                  <a:pt x="830580" y="105727"/>
                  <a:pt x="842963" y="121920"/>
                </a:cubicBezTo>
                <a:cubicBezTo>
                  <a:pt x="882968" y="176213"/>
                  <a:pt x="922973" y="228600"/>
                  <a:pt x="963930" y="280987"/>
                </a:cubicBezTo>
                <a:close/>
              </a:path>
            </a:pathLst>
          </a:custGeom>
          <a:gradFill>
            <a:gsLst>
              <a:gs pos="100000">
                <a:schemeClr val="accent5">
                  <a:lumMod val="60000"/>
                  <a:lumOff val="40000"/>
                </a:schemeClr>
              </a:gs>
              <a:gs pos="0">
                <a:schemeClr val="accent5">
                  <a:lumMod val="40000"/>
                  <a:lumOff val="60000"/>
                </a:schemeClr>
              </a:gs>
            </a:gsLst>
            <a:lin ang="5400000" scaled="0"/>
          </a:gradFill>
          <a:ln w="9525" cap="flat">
            <a:noFill/>
            <a:prstDash val="solid"/>
            <a:miter/>
          </a:ln>
        </p:spPr>
        <p:txBody>
          <a:bodyPr rtlCol="0" anchor="ctr"/>
          <a:lstStyle/>
          <a:p>
            <a:endParaRPr lang="en-US">
              <a:cs typeface="微软雅黑" panose="020B0503020204020204" charset="-122"/>
            </a:endParaRPr>
          </a:p>
        </p:txBody>
      </p:sp>
      <p:sp>
        <p:nvSpPr>
          <p:cNvPr id="33" name="任意多边形: 形状 32"/>
          <p:cNvSpPr/>
          <p:nvPr>
            <p:custDataLst>
              <p:tags r:id="rId9"/>
            </p:custDataLst>
          </p:nvPr>
        </p:nvSpPr>
        <p:spPr>
          <a:xfrm flipH="1" flipV="1">
            <a:off x="7565390" y="3800475"/>
            <a:ext cx="2433955" cy="1833880"/>
          </a:xfrm>
          <a:custGeom>
            <a:avLst/>
            <a:gdLst>
              <a:gd name="connsiteX0" fmla="*/ 1247775 w 1292542"/>
              <a:gd name="connsiteY0" fmla="*/ 40005 h 973454"/>
              <a:gd name="connsiteX1" fmla="*/ 1292543 w 1292542"/>
              <a:gd name="connsiteY1" fmla="*/ 226695 h 973454"/>
              <a:gd name="connsiteX2" fmla="*/ 1145858 w 1292542"/>
              <a:gd name="connsiteY2" fmla="*/ 364808 h 973454"/>
              <a:gd name="connsiteX3" fmla="*/ 980123 w 1292542"/>
              <a:gd name="connsiteY3" fmla="*/ 340995 h 973454"/>
              <a:gd name="connsiteX4" fmla="*/ 342900 w 1292542"/>
              <a:gd name="connsiteY4" fmla="*/ 968693 h 973454"/>
              <a:gd name="connsiteX5" fmla="*/ 174308 w 1292542"/>
              <a:gd name="connsiteY5" fmla="*/ 872490 h 973454"/>
              <a:gd name="connsiteX6" fmla="*/ 0 w 1292542"/>
              <a:gd name="connsiteY6" fmla="*/ 973455 h 973454"/>
              <a:gd name="connsiteX7" fmla="*/ 979170 w 1292542"/>
              <a:gd name="connsiteY7" fmla="*/ 0 h 973454"/>
              <a:gd name="connsiteX8" fmla="*/ 1247775 w 1292542"/>
              <a:gd name="connsiteY8" fmla="*/ 40005 h 9734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92542" h="973454">
                <a:moveTo>
                  <a:pt x="1247775" y="40005"/>
                </a:moveTo>
                <a:lnTo>
                  <a:pt x="1292543" y="226695"/>
                </a:lnTo>
                <a:lnTo>
                  <a:pt x="1145858" y="364808"/>
                </a:lnTo>
                <a:cubicBezTo>
                  <a:pt x="1092518" y="349568"/>
                  <a:pt x="1037273" y="340995"/>
                  <a:pt x="980123" y="340995"/>
                </a:cubicBezTo>
                <a:cubicBezTo>
                  <a:pt x="631508" y="340995"/>
                  <a:pt x="347663" y="621983"/>
                  <a:pt x="342900" y="968693"/>
                </a:cubicBezTo>
                <a:lnTo>
                  <a:pt x="174308" y="872490"/>
                </a:lnTo>
                <a:lnTo>
                  <a:pt x="0" y="973455"/>
                </a:lnTo>
                <a:cubicBezTo>
                  <a:pt x="3810" y="436245"/>
                  <a:pt x="441008" y="0"/>
                  <a:pt x="979170" y="0"/>
                </a:cubicBezTo>
                <a:cubicBezTo>
                  <a:pt x="1072515" y="0"/>
                  <a:pt x="1161098" y="14288"/>
                  <a:pt x="1247775" y="40005"/>
                </a:cubicBezTo>
                <a:close/>
              </a:path>
            </a:pathLst>
          </a:custGeom>
          <a:gradFill>
            <a:gsLst>
              <a:gs pos="100000">
                <a:schemeClr val="accent5">
                  <a:lumMod val="60000"/>
                  <a:lumOff val="40000"/>
                </a:schemeClr>
              </a:gs>
              <a:gs pos="0">
                <a:schemeClr val="accent5">
                  <a:lumMod val="40000"/>
                  <a:lumOff val="60000"/>
                </a:schemeClr>
              </a:gs>
            </a:gsLst>
            <a:lin ang="5400000" scaled="0"/>
          </a:gradFill>
          <a:ln w="9525" cap="flat">
            <a:noFill/>
            <a:prstDash val="solid"/>
            <a:miter/>
          </a:ln>
        </p:spPr>
        <p:txBody>
          <a:bodyPr rtlCol="0" anchor="ctr">
            <a:noAutofit/>
          </a:bodyPr>
          <a:lstStyle/>
          <a:p>
            <a:pPr lvl="0" algn="l">
              <a:buClrTx/>
              <a:buSzTx/>
              <a:buFontTx/>
            </a:pPr>
            <a:endParaRPr lang="en-US">
              <a:cs typeface="微软雅黑" panose="020B0503020204020204" charset="-122"/>
              <a:sym typeface="+mn-ea"/>
            </a:endParaRPr>
          </a:p>
        </p:txBody>
      </p:sp>
      <p:sp>
        <p:nvSpPr>
          <p:cNvPr id="6" name="任意多边形: 形状 34"/>
          <p:cNvSpPr/>
          <p:nvPr>
            <p:custDataLst>
              <p:tags r:id="rId10"/>
            </p:custDataLst>
          </p:nvPr>
        </p:nvSpPr>
        <p:spPr>
          <a:xfrm flipH="1" flipV="1">
            <a:off x="7701280" y="1945640"/>
            <a:ext cx="2298065" cy="1927225"/>
          </a:xfrm>
          <a:custGeom>
            <a:avLst/>
            <a:gdLst>
              <a:gd name="connsiteX0" fmla="*/ 1073468 w 1220152"/>
              <a:gd name="connsiteY0" fmla="*/ 849630 h 1022985"/>
              <a:gd name="connsiteX1" fmla="*/ 1220153 w 1220152"/>
              <a:gd name="connsiteY1" fmla="*/ 988695 h 1022985"/>
              <a:gd name="connsiteX2" fmla="*/ 978218 w 1220152"/>
              <a:gd name="connsiteY2" fmla="*/ 1022985 h 1022985"/>
              <a:gd name="connsiteX3" fmla="*/ 0 w 1220152"/>
              <a:gd name="connsiteY3" fmla="*/ 100013 h 1022985"/>
              <a:gd name="connsiteX4" fmla="*/ 173355 w 1220152"/>
              <a:gd name="connsiteY4" fmla="*/ 0 h 1022985"/>
              <a:gd name="connsiteX5" fmla="*/ 342900 w 1220152"/>
              <a:gd name="connsiteY5" fmla="*/ 97155 h 1022985"/>
              <a:gd name="connsiteX6" fmla="*/ 978218 w 1220152"/>
              <a:gd name="connsiteY6" fmla="*/ 680085 h 1022985"/>
              <a:gd name="connsiteX7" fmla="*/ 1117283 w 1220152"/>
              <a:gd name="connsiteY7" fmla="*/ 661035 h 1022985"/>
              <a:gd name="connsiteX8" fmla="*/ 1073468 w 1220152"/>
              <a:gd name="connsiteY8" fmla="*/ 849630 h 10229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20152" h="1022985">
                <a:moveTo>
                  <a:pt x="1073468" y="849630"/>
                </a:moveTo>
                <a:lnTo>
                  <a:pt x="1220153" y="988695"/>
                </a:lnTo>
                <a:cubicBezTo>
                  <a:pt x="1142048" y="1010603"/>
                  <a:pt x="1061085" y="1022985"/>
                  <a:pt x="978218" y="1022985"/>
                </a:cubicBezTo>
                <a:cubicBezTo>
                  <a:pt x="457200" y="1022985"/>
                  <a:pt x="29528" y="614363"/>
                  <a:pt x="0" y="100013"/>
                </a:cubicBezTo>
                <a:lnTo>
                  <a:pt x="173355" y="0"/>
                </a:lnTo>
                <a:lnTo>
                  <a:pt x="342900" y="97155"/>
                </a:lnTo>
                <a:cubicBezTo>
                  <a:pt x="370523" y="423863"/>
                  <a:pt x="644843" y="680085"/>
                  <a:pt x="978218" y="680085"/>
                </a:cubicBezTo>
                <a:cubicBezTo>
                  <a:pt x="1023938" y="680085"/>
                  <a:pt x="1070610" y="673418"/>
                  <a:pt x="1117283" y="661035"/>
                </a:cubicBezTo>
                <a:lnTo>
                  <a:pt x="1073468" y="849630"/>
                </a:lnTo>
                <a:close/>
              </a:path>
            </a:pathLst>
          </a:custGeom>
          <a:gradFill>
            <a:gsLst>
              <a:gs pos="100000">
                <a:schemeClr val="accent5"/>
              </a:gs>
              <a:gs pos="0">
                <a:schemeClr val="accent5">
                  <a:lumMod val="60000"/>
                  <a:lumOff val="40000"/>
                </a:schemeClr>
              </a:gs>
            </a:gsLst>
            <a:lin ang="5400000" scaled="0"/>
          </a:gradFill>
          <a:ln w="9525" cap="flat">
            <a:noFill/>
            <a:prstDash val="solid"/>
            <a:miter/>
          </a:ln>
        </p:spPr>
        <p:txBody>
          <a:bodyPr rtlCol="0" anchor="ctr"/>
          <a:lstStyle/>
          <a:p>
            <a:endParaRPr lang="en-US">
              <a:cs typeface="微软雅黑" panose="020B0503020204020204" charset="-122"/>
            </a:endParaRPr>
          </a:p>
        </p:txBody>
      </p:sp>
      <p:sp>
        <p:nvSpPr>
          <p:cNvPr id="9" name="任意多边形: 形状 8"/>
          <p:cNvSpPr/>
          <p:nvPr>
            <p:custDataLst>
              <p:tags r:id="rId11"/>
            </p:custDataLst>
          </p:nvPr>
        </p:nvSpPr>
        <p:spPr>
          <a:xfrm flipH="1" flipV="1">
            <a:off x="7048500" y="2691130"/>
            <a:ext cx="2195830" cy="2196465"/>
          </a:xfrm>
          <a:custGeom>
            <a:avLst/>
            <a:gdLst>
              <a:gd name="connsiteX0" fmla="*/ 582930 w 1165860"/>
              <a:gd name="connsiteY0" fmla="*/ 1165860 h 1165860"/>
              <a:gd name="connsiteX1" fmla="*/ 0 w 1165860"/>
              <a:gd name="connsiteY1" fmla="*/ 582930 h 1165860"/>
              <a:gd name="connsiteX2" fmla="*/ 582930 w 1165860"/>
              <a:gd name="connsiteY2" fmla="*/ 0 h 1165860"/>
              <a:gd name="connsiteX3" fmla="*/ 1165860 w 1165860"/>
              <a:gd name="connsiteY3" fmla="*/ 582930 h 1165860"/>
              <a:gd name="connsiteX4" fmla="*/ 582930 w 1165860"/>
              <a:gd name="connsiteY4" fmla="*/ 1165860 h 1165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5860" h="1165860">
                <a:moveTo>
                  <a:pt x="582930" y="1165860"/>
                </a:moveTo>
                <a:cubicBezTo>
                  <a:pt x="261938" y="1165860"/>
                  <a:pt x="0" y="904875"/>
                  <a:pt x="0" y="582930"/>
                </a:cubicBezTo>
                <a:cubicBezTo>
                  <a:pt x="0" y="261938"/>
                  <a:pt x="260985" y="0"/>
                  <a:pt x="582930" y="0"/>
                </a:cubicBezTo>
                <a:cubicBezTo>
                  <a:pt x="903923" y="0"/>
                  <a:pt x="1165860" y="260985"/>
                  <a:pt x="1165860" y="582930"/>
                </a:cubicBezTo>
                <a:cubicBezTo>
                  <a:pt x="1165860" y="903923"/>
                  <a:pt x="903923" y="1165860"/>
                  <a:pt x="582930" y="1165860"/>
                </a:cubicBezTo>
                <a:close/>
              </a:path>
            </a:pathLst>
          </a:custGeom>
          <a:solidFill>
            <a:schemeClr val="accent5">
              <a:lumMod val="20000"/>
              <a:lumOff val="80000"/>
            </a:schemeClr>
          </a:solidFill>
          <a:ln w="6350" cap="flat">
            <a:noFill/>
            <a:prstDash val="solid"/>
            <a:miter/>
          </a:ln>
        </p:spPr>
        <p:txBody>
          <a:bodyPr rtlCol="0" anchor="ctr">
            <a:noAutofit/>
          </a:bodyPr>
          <a:lstStyle/>
          <a:p>
            <a:pPr lvl="0" algn="l">
              <a:buClrTx/>
              <a:buSzTx/>
              <a:buFontTx/>
            </a:pPr>
            <a:endParaRPr lang="en-US">
              <a:cs typeface="微软雅黑" panose="020B0503020204020204" charset="-122"/>
              <a:sym typeface="+mn-ea"/>
            </a:endParaRPr>
          </a:p>
        </p:txBody>
      </p:sp>
      <p:sp>
        <p:nvSpPr>
          <p:cNvPr id="7" name="任意多边形: 形状 9"/>
          <p:cNvSpPr/>
          <p:nvPr>
            <p:custDataLst>
              <p:tags r:id="rId12"/>
            </p:custDataLst>
          </p:nvPr>
        </p:nvSpPr>
        <p:spPr>
          <a:xfrm flipH="1" flipV="1">
            <a:off x="7143433" y="2799715"/>
            <a:ext cx="1979930" cy="1980565"/>
          </a:xfrm>
          <a:custGeom>
            <a:avLst/>
            <a:gdLst>
              <a:gd name="connsiteX0" fmla="*/ 1051560 w 1051560"/>
              <a:gd name="connsiteY0" fmla="*/ 525780 h 1051560"/>
              <a:gd name="connsiteX1" fmla="*/ 525780 w 1051560"/>
              <a:gd name="connsiteY1" fmla="*/ 1051560 h 1051560"/>
              <a:gd name="connsiteX2" fmla="*/ 0 w 1051560"/>
              <a:gd name="connsiteY2" fmla="*/ 525780 h 1051560"/>
              <a:gd name="connsiteX3" fmla="*/ 525780 w 1051560"/>
              <a:gd name="connsiteY3" fmla="*/ 0 h 1051560"/>
              <a:gd name="connsiteX4" fmla="*/ 1051560 w 1051560"/>
              <a:gd name="connsiteY4" fmla="*/ 525780 h 1051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60" h="1051560">
                <a:moveTo>
                  <a:pt x="1051560" y="525780"/>
                </a:moveTo>
                <a:cubicBezTo>
                  <a:pt x="1051560" y="816160"/>
                  <a:pt x="816160" y="1051560"/>
                  <a:pt x="525780" y="1051560"/>
                </a:cubicBezTo>
                <a:cubicBezTo>
                  <a:pt x="235400" y="1051560"/>
                  <a:pt x="0" y="816160"/>
                  <a:pt x="0" y="525780"/>
                </a:cubicBezTo>
                <a:cubicBezTo>
                  <a:pt x="0" y="235400"/>
                  <a:pt x="235400" y="0"/>
                  <a:pt x="525780" y="0"/>
                </a:cubicBezTo>
                <a:cubicBezTo>
                  <a:pt x="816160" y="0"/>
                  <a:pt x="1051560" y="235400"/>
                  <a:pt x="1051560" y="525780"/>
                </a:cubicBezTo>
                <a:close/>
              </a:path>
            </a:pathLst>
          </a:custGeom>
          <a:solidFill>
            <a:schemeClr val="bg1"/>
          </a:solidFill>
          <a:ln w="9525" cap="flat">
            <a:noFill/>
            <a:prstDash val="solid"/>
            <a:miter/>
          </a:ln>
        </p:spPr>
        <p:txBody>
          <a:bodyPr rtlCol="0" anchor="ctr"/>
          <a:lstStyle/>
          <a:p>
            <a:endParaRPr lang="en-US">
              <a:cs typeface="微软雅黑" panose="020B0503020204020204" charset="-122"/>
            </a:endParaRPr>
          </a:p>
        </p:txBody>
      </p:sp>
      <p:sp>
        <p:nvSpPr>
          <p:cNvPr id="46" name="任意多边形: 形状 45"/>
          <p:cNvSpPr/>
          <p:nvPr>
            <p:custDataLst>
              <p:tags r:id="rId13"/>
            </p:custDataLst>
          </p:nvPr>
        </p:nvSpPr>
        <p:spPr>
          <a:xfrm flipH="1" flipV="1">
            <a:off x="2861945" y="2691130"/>
            <a:ext cx="2195830" cy="2196465"/>
          </a:xfrm>
          <a:custGeom>
            <a:avLst/>
            <a:gdLst>
              <a:gd name="connsiteX0" fmla="*/ 582930 w 1165859"/>
              <a:gd name="connsiteY0" fmla="*/ 1165860 h 1165860"/>
              <a:gd name="connsiteX1" fmla="*/ 0 w 1165859"/>
              <a:gd name="connsiteY1" fmla="*/ 582930 h 1165860"/>
              <a:gd name="connsiteX2" fmla="*/ 582930 w 1165859"/>
              <a:gd name="connsiteY2" fmla="*/ 0 h 1165860"/>
              <a:gd name="connsiteX3" fmla="*/ 1165860 w 1165859"/>
              <a:gd name="connsiteY3" fmla="*/ 582930 h 1165860"/>
              <a:gd name="connsiteX4" fmla="*/ 582930 w 1165859"/>
              <a:gd name="connsiteY4" fmla="*/ 1165860 h 11658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5859" h="1165860">
                <a:moveTo>
                  <a:pt x="582930" y="1165860"/>
                </a:moveTo>
                <a:cubicBezTo>
                  <a:pt x="261938" y="1165860"/>
                  <a:pt x="0" y="904875"/>
                  <a:pt x="0" y="582930"/>
                </a:cubicBezTo>
                <a:cubicBezTo>
                  <a:pt x="0" y="261938"/>
                  <a:pt x="260985" y="0"/>
                  <a:pt x="582930" y="0"/>
                </a:cubicBezTo>
                <a:cubicBezTo>
                  <a:pt x="903922" y="0"/>
                  <a:pt x="1165860" y="260985"/>
                  <a:pt x="1165860" y="582930"/>
                </a:cubicBezTo>
                <a:cubicBezTo>
                  <a:pt x="1164907" y="903923"/>
                  <a:pt x="903922" y="1165860"/>
                  <a:pt x="582930" y="1165860"/>
                </a:cubicBezTo>
                <a:close/>
              </a:path>
            </a:pathLst>
          </a:custGeom>
          <a:solidFill>
            <a:schemeClr val="accent1">
              <a:lumMod val="20000"/>
              <a:lumOff val="80000"/>
            </a:schemeClr>
          </a:solidFill>
          <a:ln w="6350" cap="flat">
            <a:noFill/>
            <a:prstDash val="solid"/>
            <a:miter/>
          </a:ln>
        </p:spPr>
        <p:txBody>
          <a:bodyPr rtlCol="0" anchor="ctr"/>
          <a:lstStyle/>
          <a:p>
            <a:endParaRPr lang="en-US">
              <a:cs typeface="微软雅黑" panose="020B0503020204020204" charset="-122"/>
            </a:endParaRPr>
          </a:p>
        </p:txBody>
      </p:sp>
      <p:sp>
        <p:nvSpPr>
          <p:cNvPr id="47" name="任意多边形: 形状 46"/>
          <p:cNvSpPr/>
          <p:nvPr>
            <p:custDataLst>
              <p:tags r:id="rId14"/>
            </p:custDataLst>
          </p:nvPr>
        </p:nvSpPr>
        <p:spPr>
          <a:xfrm flipH="1" flipV="1">
            <a:off x="2972118" y="2799715"/>
            <a:ext cx="1979930" cy="1980565"/>
          </a:xfrm>
          <a:custGeom>
            <a:avLst/>
            <a:gdLst>
              <a:gd name="connsiteX0" fmla="*/ 1051560 w 1051559"/>
              <a:gd name="connsiteY0" fmla="*/ 525780 h 1051560"/>
              <a:gd name="connsiteX1" fmla="*/ 525780 w 1051559"/>
              <a:gd name="connsiteY1" fmla="*/ 1051560 h 1051560"/>
              <a:gd name="connsiteX2" fmla="*/ 0 w 1051559"/>
              <a:gd name="connsiteY2" fmla="*/ 525780 h 1051560"/>
              <a:gd name="connsiteX3" fmla="*/ 525780 w 1051559"/>
              <a:gd name="connsiteY3" fmla="*/ 0 h 1051560"/>
              <a:gd name="connsiteX4" fmla="*/ 1051560 w 1051559"/>
              <a:gd name="connsiteY4" fmla="*/ 525780 h 105156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51559" h="1051560">
                <a:moveTo>
                  <a:pt x="1051560" y="525780"/>
                </a:moveTo>
                <a:cubicBezTo>
                  <a:pt x="1051560" y="816160"/>
                  <a:pt x="816160" y="1051560"/>
                  <a:pt x="525780" y="1051560"/>
                </a:cubicBezTo>
                <a:cubicBezTo>
                  <a:pt x="235400" y="1051560"/>
                  <a:pt x="0" y="816160"/>
                  <a:pt x="0" y="525780"/>
                </a:cubicBezTo>
                <a:cubicBezTo>
                  <a:pt x="0" y="235400"/>
                  <a:pt x="235399" y="0"/>
                  <a:pt x="525780" y="0"/>
                </a:cubicBezTo>
                <a:cubicBezTo>
                  <a:pt x="816160" y="0"/>
                  <a:pt x="1051560" y="235400"/>
                  <a:pt x="1051560" y="525780"/>
                </a:cubicBezTo>
                <a:close/>
              </a:path>
            </a:pathLst>
          </a:custGeom>
          <a:solidFill>
            <a:schemeClr val="bg1"/>
          </a:solidFill>
          <a:ln w="9525" cap="flat">
            <a:noFill/>
            <a:prstDash val="solid"/>
            <a:miter/>
          </a:ln>
        </p:spPr>
        <p:txBody>
          <a:bodyPr rtlCol="0" anchor="ctr"/>
          <a:lstStyle/>
          <a:p>
            <a:endParaRPr lang="en-US">
              <a:cs typeface="微软雅黑" panose="020B0503020204020204" charset="-122"/>
            </a:endParaRPr>
          </a:p>
        </p:txBody>
      </p:sp>
      <p:sp>
        <p:nvSpPr>
          <p:cNvPr id="184" name="©天蝎PPT27"/>
          <p:cNvSpPr txBox="1"/>
          <p:nvPr>
            <p:custDataLst>
              <p:tags r:id="rId15"/>
            </p:custDataLst>
          </p:nvPr>
        </p:nvSpPr>
        <p:spPr>
          <a:xfrm>
            <a:off x="2871470" y="3467418"/>
            <a:ext cx="2181225" cy="645160"/>
          </a:xfrm>
          <a:prstGeom prst="rect">
            <a:avLst/>
          </a:prstGeom>
          <a:noFill/>
        </p:spPr>
        <p:txBody>
          <a:bodyPr wrap="square">
            <a:spAutoFit/>
          </a:bodyPr>
          <a:lstStyle/>
          <a:p>
            <a:pPr algn="ctr" rtl="0"/>
            <a:r>
              <a:rPr lang="zh-CN" altLang="en-US" b="1" dirty="0">
                <a:solidFill>
                  <a:schemeClr val="accent1"/>
                </a:solidFill>
                <a:effectLst/>
                <a:latin typeface="微软雅黑" panose="020B0503020204020204" charset="-122"/>
                <a:ea typeface="微软雅黑" panose="020B0503020204020204" charset="-122"/>
                <a:cs typeface="+mn-ea"/>
                <a:sym typeface="Arial" panose="020B0604020202020204" pitchFamily="34" charset="0"/>
              </a:rPr>
              <a:t>供应商</a:t>
            </a:r>
            <a:endParaRPr lang="zh-CN" altLang="en-US" b="1" dirty="0">
              <a:solidFill>
                <a:schemeClr val="accent1"/>
              </a:solidFill>
              <a:effectLst/>
              <a:latin typeface="微软雅黑" panose="020B0503020204020204" charset="-122"/>
              <a:ea typeface="微软雅黑" panose="020B0503020204020204" charset="-122"/>
              <a:cs typeface="+mn-ea"/>
              <a:sym typeface="Arial" panose="020B0604020202020204" pitchFamily="34" charset="0"/>
            </a:endParaRPr>
          </a:p>
          <a:p>
            <a:pPr algn="ctr" rtl="0"/>
            <a:r>
              <a:rPr lang="zh-CN" altLang="en-US" b="1" dirty="0">
                <a:solidFill>
                  <a:schemeClr val="accent1"/>
                </a:solidFill>
                <a:effectLst/>
                <a:latin typeface="微软雅黑" panose="020B0503020204020204" charset="-122"/>
                <a:ea typeface="微软雅黑" panose="020B0503020204020204" charset="-122"/>
                <a:cs typeface="+mn-ea"/>
                <a:sym typeface="Arial" panose="020B0604020202020204" pitchFamily="34" charset="0"/>
              </a:rPr>
              <a:t>生命周期管理</a:t>
            </a:r>
            <a:endParaRPr lang="zh-CN" altLang="en-US" b="1" dirty="0">
              <a:solidFill>
                <a:schemeClr val="accent1"/>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2" name="©天蝎PPT27"/>
          <p:cNvSpPr txBox="1"/>
          <p:nvPr>
            <p:custDataLst>
              <p:tags r:id="rId16"/>
            </p:custDataLst>
          </p:nvPr>
        </p:nvSpPr>
        <p:spPr>
          <a:xfrm>
            <a:off x="7042785" y="3467418"/>
            <a:ext cx="2181225" cy="645160"/>
          </a:xfrm>
          <a:prstGeom prst="rect">
            <a:avLst/>
          </a:prstGeom>
          <a:noFill/>
        </p:spPr>
        <p:txBody>
          <a:bodyPr wrap="square">
            <a:spAutoFit/>
          </a:bodyPr>
          <a:lstStyle/>
          <a:p>
            <a:pPr algn="ctr" rtl="0"/>
            <a:r>
              <a:rPr lang="zh-CN" altLang="en-US" b="1" dirty="0">
                <a:solidFill>
                  <a:schemeClr val="accent5"/>
                </a:solidFill>
                <a:effectLst/>
                <a:latin typeface="微软雅黑" panose="020B0503020204020204" charset="-122"/>
                <a:ea typeface="微软雅黑" panose="020B0503020204020204" charset="-122"/>
                <a:cs typeface="+mn-ea"/>
                <a:sym typeface="Arial" panose="020B0604020202020204" pitchFamily="34" charset="0"/>
              </a:rPr>
              <a:t>采购业务</a:t>
            </a:r>
            <a:endParaRPr lang="zh-CN" altLang="en-US" b="1" dirty="0">
              <a:solidFill>
                <a:schemeClr val="accent5"/>
              </a:solidFill>
              <a:effectLst/>
              <a:latin typeface="微软雅黑" panose="020B0503020204020204" charset="-122"/>
              <a:ea typeface="微软雅黑" panose="020B0503020204020204" charset="-122"/>
              <a:cs typeface="+mn-ea"/>
              <a:sym typeface="Arial" panose="020B0604020202020204" pitchFamily="34" charset="0"/>
            </a:endParaRPr>
          </a:p>
          <a:p>
            <a:pPr algn="ctr" rtl="0"/>
            <a:r>
              <a:rPr lang="zh-CN" altLang="en-US" b="1" dirty="0">
                <a:solidFill>
                  <a:schemeClr val="accent5"/>
                </a:solidFill>
                <a:effectLst/>
                <a:latin typeface="微软雅黑" panose="020B0503020204020204" charset="-122"/>
                <a:ea typeface="微软雅黑" panose="020B0503020204020204" charset="-122"/>
                <a:cs typeface="+mn-ea"/>
                <a:sym typeface="Arial" panose="020B0604020202020204" pitchFamily="34" charset="0"/>
              </a:rPr>
              <a:t>全过程管理</a:t>
            </a:r>
            <a:endParaRPr lang="zh-CN" altLang="en-US" b="1" dirty="0">
              <a:solidFill>
                <a:schemeClr val="accent5"/>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121" name="文本框 120"/>
          <p:cNvSpPr txBox="1"/>
          <p:nvPr/>
        </p:nvSpPr>
        <p:spPr>
          <a:xfrm rot="21360000">
            <a:off x="2492375" y="2341245"/>
            <a:ext cx="2546350" cy="2546350"/>
          </a:xfrm>
          <a:prstGeom prst="rect">
            <a:avLst/>
          </a:prstGeom>
          <a:noFill/>
        </p:spPr>
        <p:txBody>
          <a:bodyPr wrap="square" rtlCol="0">
            <a:prstTxWarp prst="textArchUp">
              <a:avLst>
                <a:gd name="adj" fmla="val 11939508"/>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供应商内部</a:t>
            </a:r>
            <a:r>
              <a:rPr kumimoji="0" lang="en-US" altLang="zh-CN"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IT</a:t>
            </a:r>
            <a:r>
              <a:rPr kumimoji="0" lang="zh-CN" altLang="en-US"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建设</a:t>
            </a:r>
            <a:endParaRPr kumimoji="0" lang="zh-CN" altLang="en-US"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 name="文本框 11"/>
          <p:cNvSpPr txBox="1"/>
          <p:nvPr/>
        </p:nvSpPr>
        <p:spPr>
          <a:xfrm rot="2520000">
            <a:off x="4114800" y="2818130"/>
            <a:ext cx="2101215" cy="387985"/>
          </a:xfrm>
          <a:prstGeom prst="rect">
            <a:avLst/>
          </a:prstGeom>
        </p:spPr>
        <p:txBody>
          <a:bodyPr wrap="square">
            <a:prstTxWarp prst="textArchUp">
              <a:avLst/>
            </a:prstTxWarp>
            <a:noAutofit/>
            <a:extLst>
              <a:ext uri="{4A0BC546-FE56-4ADE-93B0-CB8AF2F6F144}">
                <wpsdc:textFrameExt xmlns:wpsdc="http://www.wps.cn/officeDocument/2022/drawingmlCustomData" type="text"/>
              </a:ext>
            </a:extLst>
          </a:bodyPr>
          <a:p>
            <a:pPr algn="ctr"/>
            <a:r>
              <a:rPr lang="zh-CN" altLang="en-US" sz="1600">
                <a:solidFill>
                  <a:schemeClr val="bg1"/>
                </a:solidFill>
                <a:latin typeface="微软雅黑" panose="020B0503020204020204" charset="-122"/>
                <a:ea typeface="微软雅黑" panose="020B0503020204020204" charset="-122"/>
                <a:cs typeface="微软雅黑" panose="020B0503020204020204" charset="-122"/>
              </a:rPr>
              <a:t>企业需求商机匹配</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3" name="文本框 12"/>
          <p:cNvSpPr txBox="1"/>
          <p:nvPr/>
        </p:nvSpPr>
        <p:spPr>
          <a:xfrm rot="2820000">
            <a:off x="5766435" y="4201795"/>
            <a:ext cx="2101215" cy="387985"/>
          </a:xfrm>
          <a:prstGeom prst="rect">
            <a:avLst/>
          </a:prstGeom>
        </p:spPr>
        <p:txBody>
          <a:bodyPr wrap="square">
            <a:prstTxWarp prst="textArchDown">
              <a:avLst/>
            </a:prstTxWarp>
            <a:noAutofit/>
            <a:extLst>
              <a:ext uri="{4A0BC546-FE56-4ADE-93B0-CB8AF2F6F144}">
                <wpsdc:textFrameExt xmlns:wpsdc="http://www.wps.cn/officeDocument/2022/drawingmlCustomData" type="text"/>
              </a:ext>
            </a:extLst>
          </a:bodyPr>
          <a:p>
            <a:pPr algn="ctr"/>
            <a:r>
              <a:rPr lang="zh-CN" altLang="en-US" sz="1600">
                <a:solidFill>
                  <a:schemeClr val="bg1"/>
                </a:solidFill>
                <a:latin typeface="微软雅黑" panose="020B0503020204020204" charset="-122"/>
                <a:ea typeface="微软雅黑" panose="020B0503020204020204" charset="-122"/>
                <a:cs typeface="微软雅黑" panose="020B0503020204020204" charset="-122"/>
              </a:rPr>
              <a:t>供应商淘汰机制</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4" name="文本框 13"/>
          <p:cNvSpPr txBox="1"/>
          <p:nvPr/>
        </p:nvSpPr>
        <p:spPr>
          <a:xfrm rot="19140000">
            <a:off x="4084320" y="4302125"/>
            <a:ext cx="2101215" cy="387985"/>
          </a:xfrm>
          <a:prstGeom prst="rect">
            <a:avLst/>
          </a:prstGeom>
        </p:spPr>
        <p:txBody>
          <a:bodyPr wrap="square">
            <a:prstTxWarp prst="textArchDown">
              <a:avLst/>
            </a:prstTxWarp>
            <a:noAutofit/>
            <a:extLst>
              <a:ext uri="{4A0BC546-FE56-4ADE-93B0-CB8AF2F6F144}">
                <wpsdc:textFrameExt xmlns:wpsdc="http://www.wps.cn/officeDocument/2022/drawingmlCustomData" type="text"/>
              </a:ext>
            </a:extLst>
          </a:bodyPr>
          <a:p>
            <a:pPr algn="ctr"/>
            <a:r>
              <a:rPr lang="zh-CN" altLang="en-US" sz="1600">
                <a:solidFill>
                  <a:schemeClr val="bg1"/>
                </a:solidFill>
                <a:latin typeface="微软雅黑" panose="020B0503020204020204" charset="-122"/>
                <a:ea typeface="微软雅黑" panose="020B0503020204020204" charset="-122"/>
                <a:cs typeface="微软雅黑" panose="020B0503020204020204" charset="-122"/>
              </a:rPr>
              <a:t>汇聚供应商资源</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5" name="文本框 14"/>
          <p:cNvSpPr txBox="1"/>
          <p:nvPr/>
        </p:nvSpPr>
        <p:spPr>
          <a:xfrm rot="19140000">
            <a:off x="5912485" y="2755900"/>
            <a:ext cx="2101215" cy="387985"/>
          </a:xfrm>
          <a:prstGeom prst="rect">
            <a:avLst/>
          </a:prstGeom>
        </p:spPr>
        <p:txBody>
          <a:bodyPr wrap="square">
            <a:prstTxWarp prst="textArchUp">
              <a:avLst/>
            </a:prstTxWarp>
            <a:noAutofit/>
            <a:extLst>
              <a:ext uri="{4A0BC546-FE56-4ADE-93B0-CB8AF2F6F144}">
                <wpsdc:textFrameExt xmlns:wpsdc="http://www.wps.cn/officeDocument/2022/drawingmlCustomData" type="text"/>
              </a:ext>
            </a:extLst>
          </a:bodyPr>
          <a:p>
            <a:pPr algn="ctr"/>
            <a:r>
              <a:rPr lang="zh-CN" altLang="en-US" sz="1600">
                <a:solidFill>
                  <a:schemeClr val="bg1"/>
                </a:solidFill>
                <a:latin typeface="微软雅黑" panose="020B0503020204020204" charset="-122"/>
                <a:ea typeface="微软雅黑" panose="020B0503020204020204" charset="-122"/>
                <a:cs typeface="微软雅黑" panose="020B0503020204020204" charset="-122"/>
              </a:rPr>
              <a:t>响应采购需求</a:t>
            </a:r>
            <a:endParaRPr lang="zh-CN" altLang="en-US" sz="160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6" name="文本框 15"/>
          <p:cNvSpPr txBox="1"/>
          <p:nvPr/>
        </p:nvSpPr>
        <p:spPr>
          <a:xfrm rot="4020000">
            <a:off x="7058025" y="2446020"/>
            <a:ext cx="2816225" cy="2546350"/>
          </a:xfrm>
          <a:prstGeom prst="rect">
            <a:avLst/>
          </a:prstGeom>
          <a:noFill/>
        </p:spPr>
        <p:txBody>
          <a:bodyPr wrap="square" rtlCol="0">
            <a:prstTxWarp prst="textArchUp">
              <a:avLst>
                <a:gd name="adj" fmla="val 11939508"/>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订单跟踪与物流管理</a:t>
            </a:r>
            <a:endParaRPr kumimoji="0" lang="zh-CN"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 name="文本框 17"/>
          <p:cNvSpPr txBox="1"/>
          <p:nvPr/>
        </p:nvSpPr>
        <p:spPr>
          <a:xfrm rot="16980000">
            <a:off x="6990080" y="2550160"/>
            <a:ext cx="2816225" cy="2546350"/>
          </a:xfrm>
          <a:prstGeom prst="rect">
            <a:avLst/>
          </a:prstGeom>
          <a:noFill/>
        </p:spPr>
        <p:txBody>
          <a:bodyPr wrap="square" rtlCol="0">
            <a:prstTxWarp prst="textArchDown">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对账结算与采购分析</a:t>
            </a:r>
            <a:endParaRPr kumimoji="0" lang="zh-CN"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 name="文本框 18"/>
          <p:cNvSpPr txBox="1"/>
          <p:nvPr/>
        </p:nvSpPr>
        <p:spPr>
          <a:xfrm rot="21060000">
            <a:off x="2551430" y="2731135"/>
            <a:ext cx="2816225" cy="2546350"/>
          </a:xfrm>
          <a:prstGeom prst="rect">
            <a:avLst/>
          </a:prstGeom>
          <a:noFill/>
        </p:spPr>
        <p:txBody>
          <a:bodyPr wrap="square" rtlCol="0">
            <a:prstTxWarp prst="textArchDown">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rPr>
              <a:t>资金赋能与供应链金融</a:t>
            </a:r>
            <a:endParaRPr kumimoji="0" lang="zh-CN" sz="1600" b="0" i="0" u="none" strike="noStrike" kern="1200" cap="none" spc="0" normalizeH="0" baseline="0" noProof="0" dirty="0">
              <a:ln>
                <a:noFill/>
              </a:ln>
              <a:solidFill>
                <a:schemeClr val="bg1"/>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108" name="组合 107"/>
          <p:cNvGrpSpPr/>
          <p:nvPr>
            <p:custDataLst>
              <p:tags r:id="rId17"/>
            </p:custDataLst>
          </p:nvPr>
        </p:nvGrpSpPr>
        <p:grpSpPr>
          <a:xfrm>
            <a:off x="1657350" y="1632585"/>
            <a:ext cx="8780780" cy="4312920"/>
            <a:chOff x="2610" y="2481"/>
            <a:chExt cx="13828" cy="6792"/>
          </a:xfrm>
        </p:grpSpPr>
        <p:sp>
          <p:nvSpPr>
            <p:cNvPr id="102" name="弧形 101"/>
            <p:cNvSpPr/>
            <p:nvPr>
              <p:custDataLst>
                <p:tags r:id="rId18"/>
              </p:custDataLst>
            </p:nvPr>
          </p:nvSpPr>
          <p:spPr>
            <a:xfrm>
              <a:off x="2951" y="2659"/>
              <a:ext cx="6437" cy="6437"/>
            </a:xfrm>
            <a:prstGeom prst="arc">
              <a:avLst>
                <a:gd name="adj1" fmla="val 5350677"/>
                <a:gd name="adj2" fmla="val 16272529"/>
              </a:avLst>
            </a:prstGeom>
            <a:ln>
              <a:solidFill>
                <a:schemeClr val="tx2">
                  <a:lumMod val="60000"/>
                  <a:lumOff val="40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103" name="弧形 102"/>
            <p:cNvSpPr/>
            <p:nvPr>
              <p:custDataLst>
                <p:tags r:id="rId19"/>
              </p:custDataLst>
            </p:nvPr>
          </p:nvSpPr>
          <p:spPr>
            <a:xfrm flipH="1">
              <a:off x="9647" y="2659"/>
              <a:ext cx="6437" cy="6437"/>
            </a:xfrm>
            <a:prstGeom prst="arc">
              <a:avLst>
                <a:gd name="adj1" fmla="val 5350677"/>
                <a:gd name="adj2" fmla="val 16272529"/>
              </a:avLst>
            </a:prstGeom>
            <a:ln>
              <a:solidFill>
                <a:schemeClr val="tx2">
                  <a:lumMod val="60000"/>
                  <a:lumOff val="40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104" name="弧形 103"/>
            <p:cNvSpPr/>
            <p:nvPr>
              <p:custDataLst>
                <p:tags r:id="rId20"/>
              </p:custDataLst>
            </p:nvPr>
          </p:nvSpPr>
          <p:spPr>
            <a:xfrm>
              <a:off x="2634" y="2659"/>
              <a:ext cx="7243" cy="6615"/>
            </a:xfrm>
            <a:prstGeom prst="arc">
              <a:avLst>
                <a:gd name="adj1" fmla="val 16185942"/>
                <a:gd name="adj2" fmla="val 20208717"/>
              </a:avLst>
            </a:prstGeom>
            <a:ln>
              <a:solidFill>
                <a:schemeClr val="tx2">
                  <a:lumMod val="60000"/>
                  <a:lumOff val="40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105" name="弧形 104"/>
            <p:cNvSpPr/>
            <p:nvPr>
              <p:custDataLst>
                <p:tags r:id="rId21"/>
              </p:custDataLst>
            </p:nvPr>
          </p:nvSpPr>
          <p:spPr>
            <a:xfrm flipV="1">
              <a:off x="2610" y="2481"/>
              <a:ext cx="7243" cy="6615"/>
            </a:xfrm>
            <a:prstGeom prst="arc">
              <a:avLst>
                <a:gd name="adj1" fmla="val 16185942"/>
                <a:gd name="adj2" fmla="val 20235460"/>
              </a:avLst>
            </a:prstGeom>
            <a:ln>
              <a:solidFill>
                <a:schemeClr val="tx2">
                  <a:lumMod val="60000"/>
                  <a:lumOff val="40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106" name="弧形 105"/>
            <p:cNvSpPr/>
            <p:nvPr>
              <p:custDataLst>
                <p:tags r:id="rId22"/>
              </p:custDataLst>
            </p:nvPr>
          </p:nvSpPr>
          <p:spPr>
            <a:xfrm flipH="1" flipV="1">
              <a:off x="9196" y="2481"/>
              <a:ext cx="7243" cy="6615"/>
            </a:xfrm>
            <a:prstGeom prst="arc">
              <a:avLst>
                <a:gd name="adj1" fmla="val 16185942"/>
                <a:gd name="adj2" fmla="val 20240413"/>
              </a:avLst>
            </a:prstGeom>
            <a:ln>
              <a:solidFill>
                <a:schemeClr val="tx2">
                  <a:lumMod val="60000"/>
                  <a:lumOff val="40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107" name="弧形 106"/>
            <p:cNvSpPr/>
            <p:nvPr>
              <p:custDataLst>
                <p:tags r:id="rId23"/>
              </p:custDataLst>
            </p:nvPr>
          </p:nvSpPr>
          <p:spPr>
            <a:xfrm flipH="1">
              <a:off x="9196" y="2659"/>
              <a:ext cx="7243" cy="6615"/>
            </a:xfrm>
            <a:prstGeom prst="arc">
              <a:avLst>
                <a:gd name="adj1" fmla="val 16185942"/>
                <a:gd name="adj2" fmla="val 20216308"/>
              </a:avLst>
            </a:prstGeom>
            <a:ln>
              <a:solidFill>
                <a:schemeClr val="tx2">
                  <a:lumMod val="60000"/>
                  <a:lumOff val="40000"/>
                </a:schemeClr>
              </a:solidFill>
              <a:prstDash val="dash"/>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grpSp>
      <p:grpSp>
        <p:nvGrpSpPr>
          <p:cNvPr id="309" name="组合 308"/>
          <p:cNvGrpSpPr/>
          <p:nvPr>
            <p:custDataLst>
              <p:tags r:id="rId24"/>
            </p:custDataLst>
          </p:nvPr>
        </p:nvGrpSpPr>
        <p:grpSpPr>
          <a:xfrm>
            <a:off x="127000" y="2388870"/>
            <a:ext cx="1832610" cy="1271270"/>
            <a:chOff x="200" y="3762"/>
            <a:chExt cx="2886" cy="2002"/>
          </a:xfrm>
        </p:grpSpPr>
        <p:grpSp>
          <p:nvGrpSpPr>
            <p:cNvPr id="302" name="组合 301"/>
            <p:cNvGrpSpPr/>
            <p:nvPr/>
          </p:nvGrpSpPr>
          <p:grpSpPr>
            <a:xfrm>
              <a:off x="1009" y="3762"/>
              <a:ext cx="1866" cy="434"/>
              <a:chOff x="298" y="3762"/>
              <a:chExt cx="1866" cy="434"/>
            </a:xfrm>
          </p:grpSpPr>
          <p:sp>
            <p:nvSpPr>
              <p:cNvPr id="283" name="子陵职场PPT27-1"/>
              <p:cNvSpPr/>
              <p:nvPr>
                <p:custDataLst>
                  <p:tags r:id="rId25"/>
                </p:custDataLst>
              </p:nvPr>
            </p:nvSpPr>
            <p:spPr>
              <a:xfrm>
                <a:off x="298" y="3786"/>
                <a:ext cx="1867" cy="386"/>
              </a:xfrm>
              <a:prstGeom prst="roundRect">
                <a:avLst>
                  <a:gd name="adj" fmla="val 50000"/>
                </a:avLst>
              </a:prstGeom>
              <a:gradFill flip="none" rotWithShape="1">
                <a:gsLst>
                  <a:gs pos="0">
                    <a:schemeClr val="accent1"/>
                  </a:gs>
                  <a:gs pos="99000">
                    <a:schemeClr val="accent1">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84" name="子陵职场PPT27-3"/>
              <p:cNvSpPr txBox="1"/>
              <p:nvPr>
                <p:custDataLst>
                  <p:tags r:id="rId26"/>
                </p:custDataLst>
              </p:nvPr>
            </p:nvSpPr>
            <p:spPr>
              <a:xfrm>
                <a:off x="383" y="3762"/>
                <a:ext cx="1728" cy="434"/>
              </a:xfrm>
              <a:prstGeom prst="rect">
                <a:avLst/>
              </a:prstGeom>
              <a:noFill/>
            </p:spPr>
            <p:txBody>
              <a:bodyPr wrap="none" anchor="ctr">
                <a:spAutoFit/>
              </a:bodyPr>
              <a:lstStyle>
                <a:defPPr>
                  <a:defRPr lang="zh-CN"/>
                </a:defPPr>
                <a:lvl1pPr marR="0" lvl="0" indent="0" algn="ctr" fontAlgn="auto">
                  <a:lnSpc>
                    <a:spcPct val="100000"/>
                  </a:lnSpc>
                  <a:spcBef>
                    <a:spcPts val="0"/>
                  </a:spcBef>
                  <a:spcAft>
                    <a:spcPts val="0"/>
                  </a:spcAft>
                  <a:buClrTx/>
                  <a:buSzTx/>
                  <a:buFontTx/>
                  <a:buNone/>
                  <a:defRPr kumimoji="0" sz="2800" b="0" i="0" u="none" strike="noStrike" cap="none" spc="0" normalizeH="0" baseline="0">
                    <a:ln>
                      <a:noFill/>
                    </a:ln>
                    <a:gradFill>
                      <a:gsLst>
                        <a:gs pos="4000">
                          <a:schemeClr val="accent1">
                            <a:lumMod val="12000"/>
                            <a:lumOff val="88000"/>
                            <a:alpha val="71000"/>
                          </a:schemeClr>
                        </a:gs>
                        <a:gs pos="100000">
                          <a:srgbClr val="016DFF">
                            <a:lumMod val="0"/>
                            <a:lumOff val="100000"/>
                          </a:srgbClr>
                        </a:gs>
                      </a:gsLst>
                      <a:lin ang="3600000" scaled="0"/>
                    </a:gradFill>
                    <a:effectLst/>
                    <a:uLnTx/>
                    <a:uFillTx/>
                    <a:latin typeface="思源宋体 CN Heavy" panose="02020900000000000000" pitchFamily="18" charset="-122"/>
                    <a:ea typeface="思源宋体 CN Heavy" panose="02020900000000000000" pitchFamily="18" charset="-122"/>
                  </a:defRPr>
                </a:lvl1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商机需求匹配</a:t>
                </a:r>
                <a:endPar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endParaRPr>
              </a:p>
            </p:txBody>
          </p:sp>
        </p:grpSp>
        <p:sp>
          <p:nvSpPr>
            <p:cNvPr id="285" name="子陵职场PPT27-4"/>
            <p:cNvSpPr txBox="1"/>
            <p:nvPr>
              <p:custDataLst>
                <p:tags r:id="rId27"/>
              </p:custDataLst>
            </p:nvPr>
          </p:nvSpPr>
          <p:spPr>
            <a:xfrm>
              <a:off x="200" y="4166"/>
              <a:ext cx="2886" cy="1598"/>
            </a:xfrm>
            <a:prstGeom prst="rect">
              <a:avLst/>
            </a:prstGeom>
            <a:noFill/>
          </p:spPr>
          <p:txBody>
            <a:bodyPr wrap="square" rtlCol="0" anchor="t">
              <a:spAutoFit/>
            </a:bodyPr>
            <a:lstStyle/>
            <a:p>
              <a:pPr algn="l">
                <a:lnSpc>
                  <a:spcPct val="120000"/>
                </a:lnSpc>
                <a:spcBef>
                  <a:spcPts val="0"/>
                </a:spcBef>
                <a:spcAft>
                  <a:spcPts val="0"/>
                </a:spcAft>
                <a:buClrTx/>
                <a:buSzTx/>
                <a:buFontTx/>
              </a:pPr>
              <a:r>
                <a:rPr lang="zh-CN" altLang="en-US" sz="1000" dirty="0">
                  <a:solidFill>
                    <a:schemeClr val="tx2"/>
                  </a:solidFill>
                  <a:latin typeface="+mn-ea"/>
                  <a:cs typeface="微软雅黑" panose="020B0503020204020204" charset="-122"/>
                  <a:sym typeface="+mn-ea"/>
                </a:rPr>
                <a:t>平台通过同步寻源与需求评估功能，实现企业需求与供应商能力的智能匹配。扩大了企业的选择范围，助力成本控制与创新合作。</a:t>
              </a:r>
              <a:endParaRPr lang="zh-CN" altLang="en-US" sz="1000" dirty="0">
                <a:solidFill>
                  <a:schemeClr val="tx2"/>
                </a:solidFill>
                <a:latin typeface="+mn-ea"/>
                <a:cs typeface="微软雅黑" panose="020B0503020204020204" charset="-122"/>
                <a:sym typeface="+mn-ea"/>
              </a:endParaRPr>
            </a:p>
          </p:txBody>
        </p:sp>
      </p:grpSp>
      <p:grpSp>
        <p:nvGrpSpPr>
          <p:cNvPr id="301" name="组合 300"/>
          <p:cNvGrpSpPr/>
          <p:nvPr>
            <p:custDataLst>
              <p:tags r:id="rId28"/>
            </p:custDataLst>
          </p:nvPr>
        </p:nvGrpSpPr>
        <p:grpSpPr>
          <a:xfrm>
            <a:off x="814070" y="1153160"/>
            <a:ext cx="2350135" cy="716280"/>
            <a:chOff x="2397" y="1620"/>
            <a:chExt cx="3701" cy="1128"/>
          </a:xfrm>
        </p:grpSpPr>
        <p:grpSp>
          <p:nvGrpSpPr>
            <p:cNvPr id="300" name="组合 299"/>
            <p:cNvGrpSpPr/>
            <p:nvPr/>
          </p:nvGrpSpPr>
          <p:grpSpPr>
            <a:xfrm>
              <a:off x="4232" y="1620"/>
              <a:ext cx="1866" cy="434"/>
              <a:chOff x="2485" y="1620"/>
              <a:chExt cx="1866" cy="434"/>
            </a:xfrm>
          </p:grpSpPr>
          <p:sp>
            <p:nvSpPr>
              <p:cNvPr id="287" name="子陵职场PPT27-1"/>
              <p:cNvSpPr/>
              <p:nvPr>
                <p:custDataLst>
                  <p:tags r:id="rId29"/>
                </p:custDataLst>
              </p:nvPr>
            </p:nvSpPr>
            <p:spPr>
              <a:xfrm>
                <a:off x="2485" y="1644"/>
                <a:ext cx="1867" cy="386"/>
              </a:xfrm>
              <a:prstGeom prst="roundRect">
                <a:avLst>
                  <a:gd name="adj" fmla="val 50000"/>
                </a:avLst>
              </a:prstGeom>
              <a:gradFill flip="none" rotWithShape="1">
                <a:gsLst>
                  <a:gs pos="0">
                    <a:schemeClr val="accent1"/>
                  </a:gs>
                  <a:gs pos="99000">
                    <a:schemeClr val="accent1">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88" name="子陵职场PPT27-3"/>
              <p:cNvSpPr txBox="1"/>
              <p:nvPr>
                <p:custDataLst>
                  <p:tags r:id="rId30"/>
                </p:custDataLst>
              </p:nvPr>
            </p:nvSpPr>
            <p:spPr>
              <a:xfrm>
                <a:off x="2675" y="1620"/>
                <a:ext cx="1488" cy="434"/>
              </a:xfrm>
              <a:prstGeom prst="rect">
                <a:avLst/>
              </a:prstGeom>
              <a:noFill/>
            </p:spPr>
            <p:txBody>
              <a:bodyPr wrap="none" anchor="ctr">
                <a:spAutoFit/>
              </a:bodyPr>
              <a:lstStyle>
                <a:defPPr>
                  <a:defRPr lang="zh-CN"/>
                </a:defPPr>
                <a:lvl1pPr marR="0" lvl="0" indent="0" algn="ctr" fontAlgn="auto">
                  <a:lnSpc>
                    <a:spcPct val="100000"/>
                  </a:lnSpc>
                  <a:spcBef>
                    <a:spcPts val="0"/>
                  </a:spcBef>
                  <a:spcAft>
                    <a:spcPts val="0"/>
                  </a:spcAft>
                  <a:buClrTx/>
                  <a:buSzTx/>
                  <a:buFontTx/>
                  <a:buNone/>
                  <a:defRPr kumimoji="0" sz="2800" b="0" i="0" u="none" strike="noStrike" cap="none" spc="0" normalizeH="0" baseline="0">
                    <a:ln>
                      <a:noFill/>
                    </a:ln>
                    <a:gradFill>
                      <a:gsLst>
                        <a:gs pos="4000">
                          <a:schemeClr val="accent1">
                            <a:lumMod val="12000"/>
                            <a:lumOff val="88000"/>
                            <a:alpha val="71000"/>
                          </a:schemeClr>
                        </a:gs>
                        <a:gs pos="100000">
                          <a:srgbClr val="016DFF">
                            <a:lumMod val="0"/>
                            <a:lumOff val="100000"/>
                          </a:srgbClr>
                        </a:gs>
                      </a:gsLst>
                      <a:lin ang="3600000" scaled="0"/>
                    </a:gradFill>
                    <a:effectLst/>
                    <a:uLnTx/>
                    <a:uFillTx/>
                    <a:latin typeface="思源宋体 CN Heavy" panose="02020900000000000000" pitchFamily="18" charset="-122"/>
                    <a:ea typeface="思源宋体 CN Heavy" panose="02020900000000000000" pitchFamily="18" charset="-122"/>
                  </a:defRPr>
                </a:lvl1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供应商淘汰</a:t>
                </a:r>
                <a:endPar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endParaRPr>
              </a:p>
            </p:txBody>
          </p:sp>
        </p:grpSp>
        <p:sp>
          <p:nvSpPr>
            <p:cNvPr id="289" name="子陵职场PPT27-4"/>
            <p:cNvSpPr txBox="1"/>
            <p:nvPr>
              <p:custDataLst>
                <p:tags r:id="rId31"/>
              </p:custDataLst>
            </p:nvPr>
          </p:nvSpPr>
          <p:spPr>
            <a:xfrm>
              <a:off x="2397" y="2024"/>
              <a:ext cx="3701" cy="725"/>
            </a:xfrm>
            <a:prstGeom prst="rect">
              <a:avLst/>
            </a:prstGeom>
            <a:noFill/>
          </p:spPr>
          <p:txBody>
            <a:bodyPr wrap="square" rtlCol="0" anchor="t">
              <a:spAutoFit/>
            </a:bodyPr>
            <a:lstStyle/>
            <a:p>
              <a:pPr algn="l">
                <a:lnSpc>
                  <a:spcPct val="120000"/>
                </a:lnSpc>
                <a:spcBef>
                  <a:spcPts val="0"/>
                </a:spcBef>
                <a:spcAft>
                  <a:spcPts val="0"/>
                </a:spcAft>
                <a:buClrTx/>
                <a:buSzTx/>
                <a:buFontTx/>
              </a:pPr>
              <a:r>
                <a:rPr lang="zh-CN" altLang="en-US" sz="1000" dirty="0">
                  <a:solidFill>
                    <a:schemeClr val="tx2"/>
                  </a:solidFill>
                  <a:latin typeface="+mn-ea"/>
                  <a:cs typeface="微软雅黑" panose="020B0503020204020204" charset="-122"/>
                  <a:sym typeface="+mn-ea"/>
                </a:rPr>
                <a:t>对于长期不达标或存在断供风险的供应商，系统会自动触发预警或淘汰流程。</a:t>
              </a:r>
              <a:endParaRPr lang="zh-CN" altLang="en-US" sz="1000" dirty="0">
                <a:solidFill>
                  <a:schemeClr val="tx2"/>
                </a:solidFill>
                <a:latin typeface="+mn-ea"/>
                <a:cs typeface="微软雅黑" panose="020B0503020204020204" charset="-122"/>
                <a:sym typeface="+mn-ea"/>
              </a:endParaRPr>
            </a:p>
          </p:txBody>
        </p:sp>
      </p:grpSp>
      <p:sp>
        <p:nvSpPr>
          <p:cNvPr id="290" name="椭圆 289"/>
          <p:cNvSpPr/>
          <p:nvPr>
            <p:custDataLst>
              <p:tags r:id="rId32"/>
            </p:custDataLst>
          </p:nvPr>
        </p:nvSpPr>
        <p:spPr>
          <a:xfrm>
            <a:off x="2929890" y="5535295"/>
            <a:ext cx="175260" cy="175260"/>
          </a:xfrm>
          <a:prstGeom prst="ellipse">
            <a:avLst/>
          </a:prstGeom>
          <a:solidFill>
            <a:schemeClr val="bg1"/>
          </a:solidFill>
          <a:ln>
            <a:solidFill>
              <a:schemeClr val="tx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291" name="椭圆 290"/>
          <p:cNvSpPr/>
          <p:nvPr>
            <p:custDataLst>
              <p:tags r:id="rId33"/>
            </p:custDataLst>
          </p:nvPr>
        </p:nvSpPr>
        <p:spPr>
          <a:xfrm>
            <a:off x="1959610" y="4582160"/>
            <a:ext cx="175260" cy="175260"/>
          </a:xfrm>
          <a:prstGeom prst="ellipse">
            <a:avLst/>
          </a:prstGeom>
          <a:solidFill>
            <a:schemeClr val="bg1"/>
          </a:solidFill>
          <a:ln>
            <a:solidFill>
              <a:schemeClr val="tx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nvGrpSpPr>
          <p:cNvPr id="295" name="组合 294"/>
          <p:cNvGrpSpPr/>
          <p:nvPr>
            <p:custDataLst>
              <p:tags r:id="rId34"/>
            </p:custDataLst>
          </p:nvPr>
        </p:nvGrpSpPr>
        <p:grpSpPr>
          <a:xfrm>
            <a:off x="1105535" y="5888355"/>
            <a:ext cx="2296795" cy="735965"/>
            <a:chOff x="1741" y="9273"/>
            <a:chExt cx="3617" cy="1159"/>
          </a:xfrm>
        </p:grpSpPr>
        <p:sp>
          <p:nvSpPr>
            <p:cNvPr id="179" name="子陵职场PPT27-4"/>
            <p:cNvSpPr txBox="1"/>
            <p:nvPr>
              <p:custDataLst>
                <p:tags r:id="rId35"/>
              </p:custDataLst>
            </p:nvPr>
          </p:nvSpPr>
          <p:spPr>
            <a:xfrm>
              <a:off x="1741" y="9707"/>
              <a:ext cx="3617" cy="725"/>
            </a:xfrm>
            <a:prstGeom prst="rect">
              <a:avLst/>
            </a:prstGeom>
            <a:noFill/>
          </p:spPr>
          <p:txBody>
            <a:bodyPr wrap="square" rtlCol="0" anchor="t">
              <a:spAutoFit/>
            </a:bodyPr>
            <a:lstStyle/>
            <a:p>
              <a:pPr algn="l">
                <a:lnSpc>
                  <a:spcPct val="120000"/>
                </a:lnSpc>
                <a:spcBef>
                  <a:spcPts val="0"/>
                </a:spcBef>
                <a:spcAft>
                  <a:spcPts val="0"/>
                </a:spcAft>
                <a:buClrTx/>
                <a:buSzTx/>
                <a:buFontTx/>
              </a:pPr>
              <a:r>
                <a:rPr lang="zh-CN" altLang="en-US" sz="1000" dirty="0">
                  <a:solidFill>
                    <a:schemeClr val="tx2"/>
                  </a:solidFill>
                  <a:latin typeface="+mn-ea"/>
                  <a:cs typeface="微软雅黑" panose="020B0503020204020204" charset="-122"/>
                  <a:sym typeface="+mn-ea"/>
                </a:rPr>
                <a:t>平台通过资金赋能模块，将金融服务嵌入采购流程，形成供应链金融能力。</a:t>
              </a:r>
              <a:endParaRPr lang="zh-CN" altLang="en-US" sz="1000" dirty="0">
                <a:solidFill>
                  <a:schemeClr val="tx2"/>
                </a:solidFill>
                <a:latin typeface="+mn-ea"/>
                <a:cs typeface="微软雅黑" panose="020B0503020204020204" charset="-122"/>
                <a:sym typeface="+mn-ea"/>
              </a:endParaRPr>
            </a:p>
          </p:txBody>
        </p:sp>
        <p:grpSp>
          <p:nvGrpSpPr>
            <p:cNvPr id="294" name="组合 293"/>
            <p:cNvGrpSpPr/>
            <p:nvPr/>
          </p:nvGrpSpPr>
          <p:grpSpPr>
            <a:xfrm>
              <a:off x="3304" y="9273"/>
              <a:ext cx="1866" cy="434"/>
              <a:chOff x="3172" y="9273"/>
              <a:chExt cx="1866" cy="434"/>
            </a:xfrm>
          </p:grpSpPr>
          <p:sp>
            <p:nvSpPr>
              <p:cNvPr id="292" name="子陵职场PPT27-1"/>
              <p:cNvSpPr/>
              <p:nvPr>
                <p:custDataLst>
                  <p:tags r:id="rId36"/>
                </p:custDataLst>
              </p:nvPr>
            </p:nvSpPr>
            <p:spPr>
              <a:xfrm>
                <a:off x="3172" y="9297"/>
                <a:ext cx="1867" cy="386"/>
              </a:xfrm>
              <a:prstGeom prst="roundRect">
                <a:avLst>
                  <a:gd name="adj" fmla="val 50000"/>
                </a:avLst>
              </a:prstGeom>
              <a:gradFill flip="none" rotWithShape="1">
                <a:gsLst>
                  <a:gs pos="0">
                    <a:schemeClr val="accent1"/>
                  </a:gs>
                  <a:gs pos="99000">
                    <a:schemeClr val="accent1">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93" name="子陵职场PPT27-3"/>
              <p:cNvSpPr txBox="1"/>
              <p:nvPr>
                <p:custDataLst>
                  <p:tags r:id="rId37"/>
                </p:custDataLst>
              </p:nvPr>
            </p:nvSpPr>
            <p:spPr>
              <a:xfrm>
                <a:off x="3362" y="9273"/>
                <a:ext cx="1488" cy="434"/>
              </a:xfrm>
              <a:prstGeom prst="rect">
                <a:avLst/>
              </a:prstGeom>
              <a:noFill/>
            </p:spPr>
            <p:txBody>
              <a:bodyPr wrap="none" anchor="ctr">
                <a:spAutoFit/>
              </a:bodyPr>
              <a:lstStyle>
                <a:defPPr>
                  <a:defRPr lang="zh-CN"/>
                </a:defPPr>
                <a:lvl1pPr marR="0" lvl="0" indent="0" algn="ctr" fontAlgn="auto">
                  <a:lnSpc>
                    <a:spcPct val="100000"/>
                  </a:lnSpc>
                  <a:spcBef>
                    <a:spcPts val="0"/>
                  </a:spcBef>
                  <a:spcAft>
                    <a:spcPts val="0"/>
                  </a:spcAft>
                  <a:buClrTx/>
                  <a:buSzTx/>
                  <a:buFontTx/>
                  <a:buNone/>
                  <a:defRPr kumimoji="0" sz="2800" b="0" i="0" u="none" strike="noStrike" cap="none" spc="0" normalizeH="0" baseline="0">
                    <a:ln>
                      <a:noFill/>
                    </a:ln>
                    <a:gradFill>
                      <a:gsLst>
                        <a:gs pos="4000">
                          <a:schemeClr val="accent1">
                            <a:lumMod val="12000"/>
                            <a:lumOff val="88000"/>
                            <a:alpha val="71000"/>
                          </a:schemeClr>
                        </a:gs>
                        <a:gs pos="100000">
                          <a:srgbClr val="016DFF">
                            <a:lumMod val="0"/>
                            <a:lumOff val="100000"/>
                          </a:srgbClr>
                        </a:gs>
                      </a:gsLst>
                      <a:lin ang="3600000" scaled="0"/>
                    </a:gradFill>
                    <a:effectLst/>
                    <a:uLnTx/>
                    <a:uFillTx/>
                    <a:latin typeface="思源宋体 CN Heavy" panose="02020900000000000000" pitchFamily="18" charset="-122"/>
                    <a:ea typeface="思源宋体 CN Heavy" panose="02020900000000000000" pitchFamily="18" charset="-122"/>
                  </a:defRPr>
                </a:lvl1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供应链金融</a:t>
                </a:r>
                <a:endPar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endParaRPr>
              </a:p>
            </p:txBody>
          </p:sp>
        </p:grpSp>
      </p:grpSp>
      <p:grpSp>
        <p:nvGrpSpPr>
          <p:cNvPr id="310" name="组合 309"/>
          <p:cNvGrpSpPr/>
          <p:nvPr>
            <p:custDataLst>
              <p:tags r:id="rId38"/>
            </p:custDataLst>
          </p:nvPr>
        </p:nvGrpSpPr>
        <p:grpSpPr>
          <a:xfrm>
            <a:off x="90170" y="4419600"/>
            <a:ext cx="1922780" cy="1115060"/>
            <a:chOff x="142" y="6960"/>
            <a:chExt cx="3028" cy="1756"/>
          </a:xfrm>
        </p:grpSpPr>
        <p:sp>
          <p:nvSpPr>
            <p:cNvPr id="281" name="子陵职场PPT27-4"/>
            <p:cNvSpPr txBox="1"/>
            <p:nvPr>
              <p:custDataLst>
                <p:tags r:id="rId39"/>
              </p:custDataLst>
            </p:nvPr>
          </p:nvSpPr>
          <p:spPr>
            <a:xfrm>
              <a:off x="142" y="7410"/>
              <a:ext cx="3028" cy="1307"/>
            </a:xfrm>
            <a:prstGeom prst="rect">
              <a:avLst/>
            </a:prstGeom>
            <a:noFill/>
          </p:spPr>
          <p:txBody>
            <a:bodyPr wrap="square" rtlCol="0" anchor="t">
              <a:spAutoFit/>
            </a:bodyPr>
            <a:lstStyle/>
            <a:p>
              <a:pPr algn="l">
                <a:lnSpc>
                  <a:spcPct val="120000"/>
                </a:lnSpc>
                <a:spcBef>
                  <a:spcPts val="0"/>
                </a:spcBef>
                <a:spcAft>
                  <a:spcPts val="0"/>
                </a:spcAft>
                <a:buClrTx/>
                <a:buSzTx/>
                <a:buFontTx/>
              </a:pPr>
              <a:r>
                <a:rPr lang="zh-CN" altLang="en-US" sz="1000" dirty="0">
                  <a:solidFill>
                    <a:schemeClr val="tx2"/>
                  </a:solidFill>
                  <a:latin typeface="+mn-ea"/>
                  <a:cs typeface="微软雅黑" panose="020B0503020204020204" charset="-122"/>
                  <a:sym typeface="+mn-ea"/>
                </a:rPr>
                <a:t>通过平台，供应商可以更好地对接采购方的系统，实现数据互通、流程协同，提升整体供应链的透明度和响应速度。</a:t>
              </a:r>
              <a:endParaRPr lang="zh-CN" altLang="en-US" sz="1000" dirty="0">
                <a:solidFill>
                  <a:schemeClr val="tx2"/>
                </a:solidFill>
                <a:latin typeface="+mn-ea"/>
                <a:cs typeface="微软雅黑" panose="020B0503020204020204" charset="-122"/>
                <a:sym typeface="+mn-ea"/>
              </a:endParaRPr>
            </a:p>
          </p:txBody>
        </p:sp>
        <p:grpSp>
          <p:nvGrpSpPr>
            <p:cNvPr id="298" name="组合 297"/>
            <p:cNvGrpSpPr/>
            <p:nvPr/>
          </p:nvGrpSpPr>
          <p:grpSpPr>
            <a:xfrm>
              <a:off x="955" y="6960"/>
              <a:ext cx="1866" cy="434"/>
              <a:chOff x="530" y="7088"/>
              <a:chExt cx="1866" cy="434"/>
            </a:xfrm>
          </p:grpSpPr>
          <p:sp>
            <p:nvSpPr>
              <p:cNvPr id="296" name="子陵职场PPT27-1"/>
              <p:cNvSpPr/>
              <p:nvPr>
                <p:custDataLst>
                  <p:tags r:id="rId40"/>
                </p:custDataLst>
              </p:nvPr>
            </p:nvSpPr>
            <p:spPr>
              <a:xfrm>
                <a:off x="530" y="7112"/>
                <a:ext cx="1867" cy="386"/>
              </a:xfrm>
              <a:prstGeom prst="roundRect">
                <a:avLst>
                  <a:gd name="adj" fmla="val 50000"/>
                </a:avLst>
              </a:prstGeom>
              <a:gradFill flip="none" rotWithShape="1">
                <a:gsLst>
                  <a:gs pos="0">
                    <a:schemeClr val="accent1"/>
                  </a:gs>
                  <a:gs pos="99000">
                    <a:schemeClr val="accent1">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297" name="子陵职场PPT27-3"/>
              <p:cNvSpPr txBox="1"/>
              <p:nvPr>
                <p:custDataLst>
                  <p:tags r:id="rId41"/>
                </p:custDataLst>
              </p:nvPr>
            </p:nvSpPr>
            <p:spPr>
              <a:xfrm>
                <a:off x="615" y="7088"/>
                <a:ext cx="1697" cy="434"/>
              </a:xfrm>
              <a:prstGeom prst="rect">
                <a:avLst/>
              </a:prstGeom>
              <a:noFill/>
            </p:spPr>
            <p:txBody>
              <a:bodyPr wrap="none" anchor="ctr">
                <a:spAutoFit/>
              </a:bodyPr>
              <a:lstStyle>
                <a:defPPr>
                  <a:defRPr lang="zh-CN"/>
                </a:defPPr>
                <a:lvl1pPr marR="0" lvl="0" indent="0" algn="ctr" fontAlgn="auto">
                  <a:lnSpc>
                    <a:spcPct val="100000"/>
                  </a:lnSpc>
                  <a:spcBef>
                    <a:spcPts val="0"/>
                  </a:spcBef>
                  <a:spcAft>
                    <a:spcPts val="0"/>
                  </a:spcAft>
                  <a:buClrTx/>
                  <a:buSzTx/>
                  <a:buFontTx/>
                  <a:buNone/>
                  <a:defRPr kumimoji="0" sz="2800" b="0" i="0" u="none" strike="noStrike" cap="none" spc="0" normalizeH="0" baseline="0">
                    <a:ln>
                      <a:noFill/>
                    </a:ln>
                    <a:gradFill>
                      <a:gsLst>
                        <a:gs pos="4000">
                          <a:schemeClr val="accent1">
                            <a:lumMod val="12000"/>
                            <a:lumOff val="88000"/>
                            <a:alpha val="71000"/>
                          </a:schemeClr>
                        </a:gs>
                        <a:gs pos="100000">
                          <a:srgbClr val="016DFF">
                            <a:lumMod val="0"/>
                            <a:lumOff val="100000"/>
                          </a:srgbClr>
                        </a:gs>
                      </a:gsLst>
                      <a:lin ang="3600000" scaled="0"/>
                    </a:gradFill>
                    <a:effectLst/>
                    <a:uLnTx/>
                    <a:uFillTx/>
                    <a:latin typeface="思源宋体 CN Heavy" panose="02020900000000000000" pitchFamily="18" charset="-122"/>
                    <a:ea typeface="思源宋体 CN Heavy" panose="02020900000000000000" pitchFamily="18" charset="-122"/>
                  </a:defRPr>
                </a:lvl1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供应商</a:t>
                </a:r>
                <a:r>
                  <a:rPr kumimoji="0" lang="en-US" altLang="zh-CN"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IT</a:t>
                </a:r>
                <a:r>
                  <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建设</a:t>
                </a:r>
                <a:endPar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endParaRPr>
              </a:p>
            </p:txBody>
          </p:sp>
        </p:grpSp>
      </p:grpSp>
      <p:sp>
        <p:nvSpPr>
          <p:cNvPr id="299" name="椭圆 298"/>
          <p:cNvSpPr/>
          <p:nvPr>
            <p:custDataLst>
              <p:tags r:id="rId42"/>
            </p:custDataLst>
          </p:nvPr>
        </p:nvSpPr>
        <p:spPr>
          <a:xfrm>
            <a:off x="2929890" y="1869440"/>
            <a:ext cx="175260" cy="175260"/>
          </a:xfrm>
          <a:prstGeom prst="ellipse">
            <a:avLst/>
          </a:prstGeom>
          <a:solidFill>
            <a:schemeClr val="bg1"/>
          </a:solidFill>
          <a:ln>
            <a:solidFill>
              <a:schemeClr val="tx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03" name="椭圆 302"/>
          <p:cNvSpPr/>
          <p:nvPr>
            <p:custDataLst>
              <p:tags r:id="rId43"/>
            </p:custDataLst>
          </p:nvPr>
        </p:nvSpPr>
        <p:spPr>
          <a:xfrm>
            <a:off x="1933575" y="2924175"/>
            <a:ext cx="175260" cy="175260"/>
          </a:xfrm>
          <a:prstGeom prst="ellipse">
            <a:avLst/>
          </a:prstGeom>
          <a:solidFill>
            <a:schemeClr val="bg1"/>
          </a:solidFill>
          <a:ln>
            <a:solidFill>
              <a:schemeClr val="tx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nvGrpSpPr>
          <p:cNvPr id="308" name="组合 307"/>
          <p:cNvGrpSpPr/>
          <p:nvPr>
            <p:custDataLst>
              <p:tags r:id="rId44"/>
            </p:custDataLst>
          </p:nvPr>
        </p:nvGrpSpPr>
        <p:grpSpPr>
          <a:xfrm flipH="1">
            <a:off x="8971915" y="1870075"/>
            <a:ext cx="1171575" cy="3841115"/>
            <a:chOff x="3245" y="3144"/>
            <a:chExt cx="1845" cy="6049"/>
          </a:xfrm>
        </p:grpSpPr>
        <p:sp>
          <p:nvSpPr>
            <p:cNvPr id="304" name="椭圆 303"/>
            <p:cNvSpPr/>
            <p:nvPr>
              <p:custDataLst>
                <p:tags r:id="rId45"/>
              </p:custDataLst>
            </p:nvPr>
          </p:nvSpPr>
          <p:spPr>
            <a:xfrm>
              <a:off x="4814" y="8917"/>
              <a:ext cx="276" cy="276"/>
            </a:xfrm>
            <a:prstGeom prst="ellipse">
              <a:avLst/>
            </a:prstGeom>
            <a:solidFill>
              <a:schemeClr val="bg1"/>
            </a:solidFill>
            <a:ln>
              <a:solidFill>
                <a:schemeClr val="tx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05" name="椭圆 304"/>
            <p:cNvSpPr/>
            <p:nvPr>
              <p:custDataLst>
                <p:tags r:id="rId46"/>
              </p:custDataLst>
            </p:nvPr>
          </p:nvSpPr>
          <p:spPr>
            <a:xfrm>
              <a:off x="3286" y="7416"/>
              <a:ext cx="276" cy="276"/>
            </a:xfrm>
            <a:prstGeom prst="ellipse">
              <a:avLst/>
            </a:prstGeom>
            <a:solidFill>
              <a:schemeClr val="bg1"/>
            </a:solidFill>
            <a:ln>
              <a:solidFill>
                <a:schemeClr val="tx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06" name="椭圆 305"/>
            <p:cNvSpPr/>
            <p:nvPr>
              <p:custDataLst>
                <p:tags r:id="rId47"/>
              </p:custDataLst>
            </p:nvPr>
          </p:nvSpPr>
          <p:spPr>
            <a:xfrm>
              <a:off x="4814" y="3144"/>
              <a:ext cx="276" cy="276"/>
            </a:xfrm>
            <a:prstGeom prst="ellipse">
              <a:avLst/>
            </a:prstGeom>
            <a:solidFill>
              <a:schemeClr val="bg1"/>
            </a:solidFill>
            <a:ln>
              <a:solidFill>
                <a:schemeClr val="tx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07" name="椭圆 306"/>
            <p:cNvSpPr/>
            <p:nvPr>
              <p:custDataLst>
                <p:tags r:id="rId48"/>
              </p:custDataLst>
            </p:nvPr>
          </p:nvSpPr>
          <p:spPr>
            <a:xfrm>
              <a:off x="3245" y="4805"/>
              <a:ext cx="276" cy="276"/>
            </a:xfrm>
            <a:prstGeom prst="ellipse">
              <a:avLst/>
            </a:prstGeom>
            <a:solidFill>
              <a:schemeClr val="bg1"/>
            </a:solidFill>
            <a:ln>
              <a:solidFill>
                <a:schemeClr val="tx2">
                  <a:lumMod val="60000"/>
                  <a:lumOff val="40000"/>
                </a:schemeClr>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grpSp>
      <p:grpSp>
        <p:nvGrpSpPr>
          <p:cNvPr id="311" name="组合 310"/>
          <p:cNvGrpSpPr/>
          <p:nvPr>
            <p:custDataLst>
              <p:tags r:id="rId49"/>
            </p:custDataLst>
          </p:nvPr>
        </p:nvGrpSpPr>
        <p:grpSpPr>
          <a:xfrm rot="0" flipH="1">
            <a:off x="10218420" y="2388870"/>
            <a:ext cx="1832610" cy="1271270"/>
            <a:chOff x="200" y="3762"/>
            <a:chExt cx="2886" cy="2002"/>
          </a:xfrm>
        </p:grpSpPr>
        <p:grpSp>
          <p:nvGrpSpPr>
            <p:cNvPr id="312" name="组合 311"/>
            <p:cNvGrpSpPr/>
            <p:nvPr/>
          </p:nvGrpSpPr>
          <p:grpSpPr>
            <a:xfrm>
              <a:off x="1009" y="3762"/>
              <a:ext cx="1867" cy="434"/>
              <a:chOff x="298" y="3762"/>
              <a:chExt cx="1867" cy="434"/>
            </a:xfrm>
          </p:grpSpPr>
          <p:sp>
            <p:nvSpPr>
              <p:cNvPr id="313" name="子陵职场PPT27-1"/>
              <p:cNvSpPr/>
              <p:nvPr>
                <p:custDataLst>
                  <p:tags r:id="rId50"/>
                </p:custDataLst>
              </p:nvPr>
            </p:nvSpPr>
            <p:spPr>
              <a:xfrm>
                <a:off x="298" y="3786"/>
                <a:ext cx="1867" cy="386"/>
              </a:xfrm>
              <a:prstGeom prst="roundRect">
                <a:avLst>
                  <a:gd name="adj" fmla="val 50000"/>
                </a:avLst>
              </a:prstGeom>
              <a:gradFill flip="none" rotWithShape="1">
                <a:gsLst>
                  <a:gs pos="0">
                    <a:schemeClr val="accent5"/>
                  </a:gs>
                  <a:gs pos="99000">
                    <a:schemeClr val="accent5">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14" name="子陵职场PPT27-3"/>
              <p:cNvSpPr txBox="1"/>
              <p:nvPr>
                <p:custDataLst>
                  <p:tags r:id="rId51"/>
                </p:custDataLst>
              </p:nvPr>
            </p:nvSpPr>
            <p:spPr>
              <a:xfrm>
                <a:off x="383" y="3762"/>
                <a:ext cx="1729" cy="434"/>
              </a:xfrm>
              <a:prstGeom prst="rect">
                <a:avLst/>
              </a:prstGeom>
              <a:noFill/>
            </p:spPr>
            <p:txBody>
              <a:bodyPr wrap="none" anchor="ctr">
                <a:spAutoFit/>
              </a:bodyPr>
              <a:lstStyle>
                <a:defPPr>
                  <a:defRPr lang="zh-CN"/>
                </a:defPPr>
                <a:lvl1pPr marR="0" lvl="0" indent="0" algn="ctr" fontAlgn="auto">
                  <a:lnSpc>
                    <a:spcPct val="100000"/>
                  </a:lnSpc>
                  <a:spcBef>
                    <a:spcPts val="0"/>
                  </a:spcBef>
                  <a:spcAft>
                    <a:spcPts val="0"/>
                  </a:spcAft>
                  <a:buClrTx/>
                  <a:buSzTx/>
                  <a:buFontTx/>
                  <a:buNone/>
                  <a:defRPr kumimoji="0" sz="2800" b="0" i="0" u="none" strike="noStrike" cap="none" spc="0" normalizeH="0" baseline="0">
                    <a:ln>
                      <a:noFill/>
                    </a:ln>
                    <a:gradFill>
                      <a:gsLst>
                        <a:gs pos="4000">
                          <a:schemeClr val="accent1">
                            <a:lumMod val="12000"/>
                            <a:lumOff val="88000"/>
                            <a:alpha val="71000"/>
                          </a:schemeClr>
                        </a:gs>
                        <a:gs pos="100000">
                          <a:srgbClr val="016DFF">
                            <a:lumMod val="0"/>
                            <a:lumOff val="100000"/>
                          </a:srgbClr>
                        </a:gs>
                      </a:gsLst>
                      <a:lin ang="3600000" scaled="0"/>
                    </a:gradFill>
                    <a:effectLst/>
                    <a:uLnTx/>
                    <a:uFillTx/>
                    <a:latin typeface="思源宋体 CN Heavy" panose="02020900000000000000" pitchFamily="18" charset="-122"/>
                    <a:ea typeface="思源宋体 CN Heavy" panose="02020900000000000000" pitchFamily="18" charset="-122"/>
                  </a:defRPr>
                </a:lvl1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响应采购需求</a:t>
                </a:r>
                <a:endPar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endParaRPr>
              </a:p>
            </p:txBody>
          </p:sp>
        </p:grpSp>
        <p:sp>
          <p:nvSpPr>
            <p:cNvPr id="315" name="子陵职场PPT27-4"/>
            <p:cNvSpPr txBox="1"/>
            <p:nvPr>
              <p:custDataLst>
                <p:tags r:id="rId52"/>
              </p:custDataLst>
            </p:nvPr>
          </p:nvSpPr>
          <p:spPr>
            <a:xfrm>
              <a:off x="200" y="4166"/>
              <a:ext cx="2886" cy="1598"/>
            </a:xfrm>
            <a:prstGeom prst="rect">
              <a:avLst/>
            </a:prstGeom>
            <a:noFill/>
          </p:spPr>
          <p:txBody>
            <a:bodyPr wrap="square" rtlCol="0" anchor="t">
              <a:spAutoFit/>
            </a:bodyPr>
            <a:lstStyle/>
            <a:p>
              <a:pPr algn="l">
                <a:lnSpc>
                  <a:spcPct val="120000"/>
                </a:lnSpc>
                <a:spcBef>
                  <a:spcPts val="0"/>
                </a:spcBef>
                <a:spcAft>
                  <a:spcPts val="0"/>
                </a:spcAft>
                <a:buClrTx/>
                <a:buSzTx/>
                <a:buFontTx/>
              </a:pPr>
              <a:r>
                <a:rPr lang="zh-CN" altLang="en-US" sz="1000" dirty="0">
                  <a:solidFill>
                    <a:schemeClr val="tx2"/>
                  </a:solidFill>
                  <a:latin typeface="+mn-ea"/>
                  <a:cs typeface="微软雅黑" panose="020B0503020204020204" charset="-122"/>
                  <a:sym typeface="+mn-ea"/>
                </a:rPr>
                <a:t>供应商通过平台实时接收采购需求，快速响应并参与合作洽谈。支持从需求发布、资质审核到合同签订的全程在线协同，缩短了采购周期。</a:t>
              </a:r>
              <a:endParaRPr lang="zh-CN" altLang="en-US" sz="1000" dirty="0">
                <a:solidFill>
                  <a:schemeClr val="tx2"/>
                </a:solidFill>
                <a:latin typeface="+mn-ea"/>
                <a:cs typeface="微软雅黑" panose="020B0503020204020204" charset="-122"/>
                <a:sym typeface="+mn-ea"/>
              </a:endParaRPr>
            </a:p>
          </p:txBody>
        </p:sp>
      </p:grpSp>
      <p:grpSp>
        <p:nvGrpSpPr>
          <p:cNvPr id="316" name="组合 315"/>
          <p:cNvGrpSpPr/>
          <p:nvPr>
            <p:custDataLst>
              <p:tags r:id="rId53"/>
            </p:custDataLst>
          </p:nvPr>
        </p:nvGrpSpPr>
        <p:grpSpPr>
          <a:xfrm rot="0" flipH="1">
            <a:off x="9013190" y="1153160"/>
            <a:ext cx="2350770" cy="716915"/>
            <a:chOff x="2397" y="1620"/>
            <a:chExt cx="3702" cy="1129"/>
          </a:xfrm>
        </p:grpSpPr>
        <p:grpSp>
          <p:nvGrpSpPr>
            <p:cNvPr id="317" name="组合 316"/>
            <p:cNvGrpSpPr/>
            <p:nvPr/>
          </p:nvGrpSpPr>
          <p:grpSpPr>
            <a:xfrm>
              <a:off x="4232" y="1620"/>
              <a:ext cx="1867" cy="434"/>
              <a:chOff x="2485" y="1620"/>
              <a:chExt cx="1867" cy="434"/>
            </a:xfrm>
          </p:grpSpPr>
          <p:sp>
            <p:nvSpPr>
              <p:cNvPr id="318" name="子陵职场PPT27-1"/>
              <p:cNvSpPr/>
              <p:nvPr>
                <p:custDataLst>
                  <p:tags r:id="rId54"/>
                </p:custDataLst>
              </p:nvPr>
            </p:nvSpPr>
            <p:spPr>
              <a:xfrm>
                <a:off x="2485" y="1644"/>
                <a:ext cx="1867" cy="386"/>
              </a:xfrm>
              <a:prstGeom prst="roundRect">
                <a:avLst>
                  <a:gd name="adj" fmla="val 50000"/>
                </a:avLst>
              </a:prstGeom>
              <a:gradFill flip="none" rotWithShape="1">
                <a:gsLst>
                  <a:gs pos="0">
                    <a:schemeClr val="accent5"/>
                  </a:gs>
                  <a:gs pos="99000">
                    <a:schemeClr val="accent5">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19" name="子陵职场PPT27-3"/>
              <p:cNvSpPr txBox="1"/>
              <p:nvPr>
                <p:custDataLst>
                  <p:tags r:id="rId55"/>
                </p:custDataLst>
              </p:nvPr>
            </p:nvSpPr>
            <p:spPr>
              <a:xfrm>
                <a:off x="2675" y="1620"/>
                <a:ext cx="1488" cy="434"/>
              </a:xfrm>
              <a:prstGeom prst="rect">
                <a:avLst/>
              </a:prstGeom>
              <a:noFill/>
            </p:spPr>
            <p:txBody>
              <a:bodyPr wrap="none" anchor="ctr">
                <a:spAutoFit/>
              </a:bodyPr>
              <a:lstStyle>
                <a:defPPr>
                  <a:defRPr lang="zh-CN"/>
                </a:defPPr>
                <a:lvl1pPr marR="0" lvl="0" indent="0" algn="ctr" fontAlgn="auto">
                  <a:lnSpc>
                    <a:spcPct val="100000"/>
                  </a:lnSpc>
                  <a:spcBef>
                    <a:spcPts val="0"/>
                  </a:spcBef>
                  <a:spcAft>
                    <a:spcPts val="0"/>
                  </a:spcAft>
                  <a:buClrTx/>
                  <a:buSzTx/>
                  <a:buFontTx/>
                  <a:buNone/>
                  <a:defRPr kumimoji="0" sz="2800" b="0" i="0" u="none" strike="noStrike" cap="none" spc="0" normalizeH="0" baseline="0">
                    <a:ln>
                      <a:noFill/>
                    </a:ln>
                    <a:gradFill>
                      <a:gsLst>
                        <a:gs pos="4000">
                          <a:schemeClr val="accent1">
                            <a:lumMod val="12000"/>
                            <a:lumOff val="88000"/>
                            <a:alpha val="71000"/>
                          </a:schemeClr>
                        </a:gs>
                        <a:gs pos="100000">
                          <a:srgbClr val="016DFF">
                            <a:lumMod val="0"/>
                            <a:lumOff val="100000"/>
                          </a:srgbClr>
                        </a:gs>
                      </a:gsLst>
                      <a:lin ang="3600000" scaled="0"/>
                    </a:gradFill>
                    <a:effectLst/>
                    <a:uLnTx/>
                    <a:uFillTx/>
                    <a:latin typeface="思源宋体 CN Heavy" panose="02020900000000000000" pitchFamily="18" charset="-122"/>
                    <a:ea typeface="思源宋体 CN Heavy" panose="02020900000000000000" pitchFamily="18" charset="-122"/>
                  </a:defRPr>
                </a:lvl1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供应商资源</a:t>
                </a:r>
                <a:endPar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endParaRPr>
              </a:p>
            </p:txBody>
          </p:sp>
        </p:grpSp>
        <p:sp>
          <p:nvSpPr>
            <p:cNvPr id="320" name="子陵职场PPT27-4"/>
            <p:cNvSpPr txBox="1"/>
            <p:nvPr>
              <p:custDataLst>
                <p:tags r:id="rId56"/>
              </p:custDataLst>
            </p:nvPr>
          </p:nvSpPr>
          <p:spPr>
            <a:xfrm>
              <a:off x="2397" y="2024"/>
              <a:ext cx="3701" cy="725"/>
            </a:xfrm>
            <a:prstGeom prst="rect">
              <a:avLst/>
            </a:prstGeom>
            <a:noFill/>
          </p:spPr>
          <p:txBody>
            <a:bodyPr wrap="square" rtlCol="0" anchor="t">
              <a:spAutoFit/>
            </a:bodyPr>
            <a:lstStyle/>
            <a:p>
              <a:pPr algn="l">
                <a:lnSpc>
                  <a:spcPct val="120000"/>
                </a:lnSpc>
                <a:spcBef>
                  <a:spcPts val="0"/>
                </a:spcBef>
                <a:spcAft>
                  <a:spcPts val="0"/>
                </a:spcAft>
                <a:buClrTx/>
                <a:buSzTx/>
                <a:buFontTx/>
              </a:pPr>
              <a:r>
                <a:rPr lang="zh-CN" altLang="en-US" sz="1000" dirty="0">
                  <a:solidFill>
                    <a:schemeClr val="tx2"/>
                  </a:solidFill>
                  <a:latin typeface="+mn-ea"/>
                  <a:cs typeface="微软雅黑" panose="020B0503020204020204" charset="-122"/>
                  <a:sym typeface="+mn-ea"/>
                </a:rPr>
                <a:t>平台通过建立企业服务应用商店和资源池，汇聚大量优质供应商资源。</a:t>
              </a:r>
              <a:endParaRPr lang="zh-CN" altLang="en-US" sz="1000" dirty="0">
                <a:solidFill>
                  <a:schemeClr val="tx2"/>
                </a:solidFill>
                <a:latin typeface="+mn-ea"/>
                <a:cs typeface="微软雅黑" panose="020B0503020204020204" charset="-122"/>
                <a:sym typeface="+mn-ea"/>
              </a:endParaRPr>
            </a:p>
          </p:txBody>
        </p:sp>
      </p:grpSp>
      <p:grpSp>
        <p:nvGrpSpPr>
          <p:cNvPr id="321" name="组合 320"/>
          <p:cNvGrpSpPr/>
          <p:nvPr>
            <p:custDataLst>
              <p:tags r:id="rId57"/>
            </p:custDataLst>
          </p:nvPr>
        </p:nvGrpSpPr>
        <p:grpSpPr>
          <a:xfrm rot="0" flipH="1">
            <a:off x="8775700" y="5888355"/>
            <a:ext cx="2296795" cy="735965"/>
            <a:chOff x="1741" y="9273"/>
            <a:chExt cx="3617" cy="1159"/>
          </a:xfrm>
        </p:grpSpPr>
        <p:sp>
          <p:nvSpPr>
            <p:cNvPr id="322" name="子陵职场PPT27-4"/>
            <p:cNvSpPr txBox="1"/>
            <p:nvPr>
              <p:custDataLst>
                <p:tags r:id="rId58"/>
              </p:custDataLst>
            </p:nvPr>
          </p:nvSpPr>
          <p:spPr>
            <a:xfrm>
              <a:off x="1741" y="9707"/>
              <a:ext cx="3617" cy="725"/>
            </a:xfrm>
            <a:prstGeom prst="rect">
              <a:avLst/>
            </a:prstGeom>
            <a:noFill/>
          </p:spPr>
          <p:txBody>
            <a:bodyPr wrap="square" rtlCol="0" anchor="t">
              <a:spAutoFit/>
            </a:bodyPr>
            <a:lstStyle/>
            <a:p>
              <a:pPr algn="l">
                <a:lnSpc>
                  <a:spcPct val="120000"/>
                </a:lnSpc>
                <a:spcBef>
                  <a:spcPts val="0"/>
                </a:spcBef>
                <a:spcAft>
                  <a:spcPts val="0"/>
                </a:spcAft>
                <a:buClrTx/>
                <a:buSzTx/>
                <a:buFontTx/>
              </a:pPr>
              <a:r>
                <a:rPr lang="zh-CN" altLang="en-US" sz="1000" dirty="0">
                  <a:solidFill>
                    <a:schemeClr val="tx2"/>
                  </a:solidFill>
                  <a:latin typeface="+mn-ea"/>
                  <a:cs typeface="微软雅黑" panose="020B0503020204020204" charset="-122"/>
                  <a:sym typeface="+mn-ea"/>
                </a:rPr>
                <a:t>平台通过对账结算与采购分析模块，实现财务流程的自动化和数据化。</a:t>
              </a:r>
              <a:endParaRPr lang="zh-CN" altLang="en-US" sz="1000" dirty="0">
                <a:solidFill>
                  <a:schemeClr val="tx2"/>
                </a:solidFill>
                <a:latin typeface="+mn-ea"/>
                <a:cs typeface="微软雅黑" panose="020B0503020204020204" charset="-122"/>
                <a:sym typeface="+mn-ea"/>
              </a:endParaRPr>
            </a:p>
          </p:txBody>
        </p:sp>
        <p:grpSp>
          <p:nvGrpSpPr>
            <p:cNvPr id="323" name="组合 322"/>
            <p:cNvGrpSpPr/>
            <p:nvPr/>
          </p:nvGrpSpPr>
          <p:grpSpPr>
            <a:xfrm>
              <a:off x="3304" y="9273"/>
              <a:ext cx="1867" cy="434"/>
              <a:chOff x="3172" y="9273"/>
              <a:chExt cx="1867" cy="434"/>
            </a:xfrm>
          </p:grpSpPr>
          <p:sp>
            <p:nvSpPr>
              <p:cNvPr id="324" name="子陵职场PPT27-1"/>
              <p:cNvSpPr/>
              <p:nvPr>
                <p:custDataLst>
                  <p:tags r:id="rId59"/>
                </p:custDataLst>
              </p:nvPr>
            </p:nvSpPr>
            <p:spPr>
              <a:xfrm>
                <a:off x="3172" y="9297"/>
                <a:ext cx="1867" cy="386"/>
              </a:xfrm>
              <a:prstGeom prst="roundRect">
                <a:avLst>
                  <a:gd name="adj" fmla="val 50000"/>
                </a:avLst>
              </a:prstGeom>
              <a:gradFill flip="none" rotWithShape="1">
                <a:gsLst>
                  <a:gs pos="0">
                    <a:schemeClr val="accent5"/>
                  </a:gs>
                  <a:gs pos="99000">
                    <a:schemeClr val="accent5">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25" name="子陵职场PPT27-3"/>
              <p:cNvSpPr txBox="1"/>
              <p:nvPr>
                <p:custDataLst>
                  <p:tags r:id="rId60"/>
                </p:custDataLst>
              </p:nvPr>
            </p:nvSpPr>
            <p:spPr>
              <a:xfrm>
                <a:off x="3177" y="9273"/>
                <a:ext cx="1831" cy="434"/>
              </a:xfrm>
              <a:prstGeom prst="rect">
                <a:avLst/>
              </a:prstGeom>
              <a:noFill/>
            </p:spPr>
            <p:txBody>
              <a:bodyPr wrap="none" anchor="ctr">
                <a:spAutoFit/>
              </a:bodyPr>
              <a:lstStyle>
                <a:defPPr>
                  <a:defRPr lang="zh-CN"/>
                </a:defPPr>
                <a:lvl1pPr marR="0" lvl="0" indent="0" algn="ctr" fontAlgn="auto">
                  <a:lnSpc>
                    <a:spcPct val="100000"/>
                  </a:lnSpc>
                  <a:spcBef>
                    <a:spcPts val="0"/>
                  </a:spcBef>
                  <a:spcAft>
                    <a:spcPts val="0"/>
                  </a:spcAft>
                  <a:buClrTx/>
                  <a:buSzTx/>
                  <a:buFontTx/>
                  <a:buNone/>
                  <a:defRPr kumimoji="0" sz="2800" b="0" i="0" u="none" strike="noStrike" cap="none" spc="0" normalizeH="0" baseline="0">
                    <a:ln>
                      <a:noFill/>
                    </a:ln>
                    <a:gradFill>
                      <a:gsLst>
                        <a:gs pos="4000">
                          <a:schemeClr val="accent1">
                            <a:lumMod val="12000"/>
                            <a:lumOff val="88000"/>
                            <a:alpha val="71000"/>
                          </a:schemeClr>
                        </a:gs>
                        <a:gs pos="100000">
                          <a:srgbClr val="016DFF">
                            <a:lumMod val="0"/>
                            <a:lumOff val="100000"/>
                          </a:srgbClr>
                        </a:gs>
                      </a:gsLst>
                      <a:lin ang="3600000" scaled="0"/>
                    </a:gradFill>
                    <a:effectLst/>
                    <a:uLnTx/>
                    <a:uFillTx/>
                    <a:latin typeface="思源宋体 CN Heavy" panose="02020900000000000000" pitchFamily="18" charset="-122"/>
                    <a:ea typeface="思源宋体 CN Heavy" panose="02020900000000000000" pitchFamily="18" charset="-122"/>
                  </a:defRPr>
                </a:lvl1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对账</a:t>
                </a:r>
                <a:r>
                  <a:rPr kumimoji="0" lang="en-US" altLang="zh-CN"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a:t>
                </a:r>
                <a:r>
                  <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采购分析</a:t>
                </a:r>
                <a:endParaRPr kumimoji="0" lang="zh-CN" altLang="en-US"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endParaRPr>
              </a:p>
            </p:txBody>
          </p:sp>
        </p:grpSp>
      </p:grpSp>
      <p:grpSp>
        <p:nvGrpSpPr>
          <p:cNvPr id="326" name="组合 325"/>
          <p:cNvGrpSpPr/>
          <p:nvPr>
            <p:custDataLst>
              <p:tags r:id="rId61"/>
            </p:custDataLst>
          </p:nvPr>
        </p:nvGrpSpPr>
        <p:grpSpPr>
          <a:xfrm rot="0" flipH="1">
            <a:off x="10165080" y="4419600"/>
            <a:ext cx="1922780" cy="1115695"/>
            <a:chOff x="142" y="6960"/>
            <a:chExt cx="3028" cy="1757"/>
          </a:xfrm>
        </p:grpSpPr>
        <p:sp>
          <p:nvSpPr>
            <p:cNvPr id="327" name="子陵职场PPT27-4"/>
            <p:cNvSpPr txBox="1"/>
            <p:nvPr>
              <p:custDataLst>
                <p:tags r:id="rId62"/>
              </p:custDataLst>
            </p:nvPr>
          </p:nvSpPr>
          <p:spPr>
            <a:xfrm>
              <a:off x="142" y="7410"/>
              <a:ext cx="3028" cy="1307"/>
            </a:xfrm>
            <a:prstGeom prst="rect">
              <a:avLst/>
            </a:prstGeom>
            <a:noFill/>
          </p:spPr>
          <p:txBody>
            <a:bodyPr wrap="square" rtlCol="0" anchor="t">
              <a:spAutoFit/>
            </a:bodyPr>
            <a:lstStyle/>
            <a:p>
              <a:pPr algn="l">
                <a:lnSpc>
                  <a:spcPct val="120000"/>
                </a:lnSpc>
                <a:spcBef>
                  <a:spcPts val="0"/>
                </a:spcBef>
                <a:spcAft>
                  <a:spcPts val="0"/>
                </a:spcAft>
                <a:buClrTx/>
                <a:buSzTx/>
                <a:buFontTx/>
              </a:pPr>
              <a:r>
                <a:rPr lang="zh-CN" altLang="en-US" sz="1000" dirty="0">
                  <a:solidFill>
                    <a:schemeClr val="tx2"/>
                  </a:solidFill>
                  <a:latin typeface="+mn-ea"/>
                  <a:cs typeface="微软雅黑" panose="020B0503020204020204" charset="-122"/>
                  <a:sym typeface="+mn-ea"/>
                </a:rPr>
                <a:t>平台提供订单协同与物流交货协同功能，企业可实时查看订单进度、物流状态、交货时间等关键信息。</a:t>
              </a:r>
              <a:endParaRPr lang="zh-CN" altLang="en-US" sz="1000" dirty="0">
                <a:solidFill>
                  <a:schemeClr val="tx2"/>
                </a:solidFill>
                <a:latin typeface="+mn-ea"/>
                <a:cs typeface="微软雅黑" panose="020B0503020204020204" charset="-122"/>
                <a:sym typeface="+mn-ea"/>
              </a:endParaRPr>
            </a:p>
          </p:txBody>
        </p:sp>
        <p:grpSp>
          <p:nvGrpSpPr>
            <p:cNvPr id="328" name="组合 327"/>
            <p:cNvGrpSpPr/>
            <p:nvPr/>
          </p:nvGrpSpPr>
          <p:grpSpPr>
            <a:xfrm>
              <a:off x="955" y="6960"/>
              <a:ext cx="1867" cy="434"/>
              <a:chOff x="530" y="7088"/>
              <a:chExt cx="1867" cy="434"/>
            </a:xfrm>
          </p:grpSpPr>
          <p:sp>
            <p:nvSpPr>
              <p:cNvPr id="329" name="子陵职场PPT27-1"/>
              <p:cNvSpPr/>
              <p:nvPr>
                <p:custDataLst>
                  <p:tags r:id="rId63"/>
                </p:custDataLst>
              </p:nvPr>
            </p:nvSpPr>
            <p:spPr>
              <a:xfrm>
                <a:off x="530" y="7112"/>
                <a:ext cx="1867" cy="386"/>
              </a:xfrm>
              <a:prstGeom prst="roundRect">
                <a:avLst>
                  <a:gd name="adj" fmla="val 50000"/>
                </a:avLst>
              </a:prstGeom>
              <a:gradFill flip="none" rotWithShape="1">
                <a:gsLst>
                  <a:gs pos="0">
                    <a:schemeClr val="accent5"/>
                  </a:gs>
                  <a:gs pos="99000">
                    <a:schemeClr val="accent5">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微软雅黑" panose="020B0503020204020204" charset="-122"/>
                  <a:sym typeface="+mn-ea"/>
                </a:endParaRPr>
              </a:p>
            </p:txBody>
          </p:sp>
          <p:sp>
            <p:nvSpPr>
              <p:cNvPr id="330" name="子陵职场PPT27-3"/>
              <p:cNvSpPr txBox="1"/>
              <p:nvPr>
                <p:custDataLst>
                  <p:tags r:id="rId64"/>
                </p:custDataLst>
              </p:nvPr>
            </p:nvSpPr>
            <p:spPr>
              <a:xfrm>
                <a:off x="543" y="7088"/>
                <a:ext cx="1831" cy="434"/>
              </a:xfrm>
              <a:prstGeom prst="rect">
                <a:avLst/>
              </a:prstGeom>
              <a:noFill/>
            </p:spPr>
            <p:txBody>
              <a:bodyPr wrap="none" anchor="ctr">
                <a:spAutoFit/>
              </a:bodyPr>
              <a:lstStyle>
                <a:defPPr>
                  <a:defRPr lang="zh-CN"/>
                </a:defPPr>
                <a:lvl1pPr marR="0" lvl="0" indent="0" algn="ctr" fontAlgn="auto">
                  <a:lnSpc>
                    <a:spcPct val="100000"/>
                  </a:lnSpc>
                  <a:spcBef>
                    <a:spcPts val="0"/>
                  </a:spcBef>
                  <a:spcAft>
                    <a:spcPts val="0"/>
                  </a:spcAft>
                  <a:buClrTx/>
                  <a:buSzTx/>
                  <a:buFontTx/>
                  <a:buNone/>
                  <a:defRPr kumimoji="0" sz="2800" b="0" i="0" u="none" strike="noStrike" cap="none" spc="0" normalizeH="0" baseline="0">
                    <a:ln>
                      <a:noFill/>
                    </a:ln>
                    <a:gradFill>
                      <a:gsLst>
                        <a:gs pos="4000">
                          <a:schemeClr val="accent1">
                            <a:lumMod val="12000"/>
                            <a:lumOff val="88000"/>
                            <a:alpha val="71000"/>
                          </a:schemeClr>
                        </a:gs>
                        <a:gs pos="100000">
                          <a:srgbClr val="016DFF">
                            <a:lumMod val="0"/>
                            <a:lumOff val="100000"/>
                          </a:srgbClr>
                        </a:gs>
                      </a:gsLst>
                      <a:lin ang="3600000" scaled="0"/>
                    </a:gradFill>
                    <a:effectLst/>
                    <a:uLnTx/>
                    <a:uFillTx/>
                    <a:latin typeface="思源宋体 CN Heavy" panose="02020900000000000000" pitchFamily="18" charset="-122"/>
                    <a:ea typeface="思源宋体 CN Heavy" panose="02020900000000000000" pitchFamily="18" charset="-122"/>
                  </a:defRPr>
                </a:lvl1pPr>
              </a:lstStyle>
              <a:p>
                <a:pPr marL="0" marR="0" lvl="0" indent="0" algn="l" defTabSz="914400" eaLnBrk="1" fontAlgn="auto" latinLnBrk="0" hangingPunct="1">
                  <a:lnSpc>
                    <a:spcPct val="100000"/>
                  </a:lnSpc>
                  <a:spcBef>
                    <a:spcPts val="0"/>
                  </a:spcBef>
                  <a:spcAft>
                    <a:spcPts val="0"/>
                  </a:spcAft>
                  <a:buClrTx/>
                  <a:buSzTx/>
                  <a:buFontTx/>
                  <a:buNone/>
                  <a:defRPr/>
                </a:pPr>
                <a:r>
                  <a:rPr kumimoji="0" lang="zh-CN"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订单</a:t>
                </a:r>
                <a:r>
                  <a:rPr kumimoji="0" lang="en-US" altLang="zh-CN"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a:t>
                </a:r>
                <a:r>
                  <a:rPr kumimoji="0" lang="zh-CN"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rPr>
                  <a:t>物流跟踪</a:t>
                </a:r>
                <a:endParaRPr kumimoji="0" lang="zh-CN" sz="1200" b="0" i="0" u="none" strike="noStrike" kern="0" cap="none" spc="0" normalizeH="0" baseline="0" noProof="0" dirty="0">
                  <a:ln>
                    <a:noFill/>
                  </a:ln>
                  <a:solidFill>
                    <a:schemeClr val="bg1"/>
                  </a:solidFill>
                  <a:effectLst/>
                  <a:uLnTx/>
                  <a:uFillTx/>
                  <a:latin typeface="+mj-ea"/>
                  <a:ea typeface="+mj-ea"/>
                  <a:cs typeface="微软雅黑" panose="020B0503020204020204" charset="-122"/>
                  <a:sym typeface="Arial" panose="020B0604020202020204" pitchFamily="34" charset="0"/>
                </a:endParaRPr>
              </a:p>
            </p:txBody>
          </p:sp>
        </p:grpSp>
      </p:grpSp>
      <p:cxnSp>
        <p:nvCxnSpPr>
          <p:cNvPr id="3"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65"/>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rPr>
              <a:t>GRAI</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工作复盘框架</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sp>
        <p:nvSpPr>
          <p:cNvPr id="104" name="矩形 103"/>
          <p:cNvSpPr/>
          <p:nvPr/>
        </p:nvSpPr>
        <p:spPr>
          <a:xfrm rot="18708770">
            <a:off x="4658360" y="1406525"/>
            <a:ext cx="454025" cy="3413125"/>
          </a:xfrm>
          <a:prstGeom prst="rect">
            <a:avLst/>
          </a:prstGeom>
          <a:gradFill>
            <a:gsLst>
              <a:gs pos="32000">
                <a:schemeClr val="accent1">
                  <a:lumMod val="60000"/>
                  <a:lumOff val="40000"/>
                </a:schemeClr>
              </a:gs>
              <a:gs pos="77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5" name="圆: 空心 8"/>
          <p:cNvSpPr/>
          <p:nvPr/>
        </p:nvSpPr>
        <p:spPr>
          <a:xfrm>
            <a:off x="838835" y="1358265"/>
            <a:ext cx="3508375" cy="3508375"/>
          </a:xfrm>
          <a:prstGeom prst="donut">
            <a:avLst>
              <a:gd name="adj" fmla="val 13167"/>
            </a:avLst>
          </a:prstGeom>
          <a:gradFill>
            <a:gsLst>
              <a:gs pos="0">
                <a:schemeClr val="accent1">
                  <a:lumMod val="60000"/>
                  <a:lumOff val="40000"/>
                </a:schemeClr>
              </a:gs>
              <a:gs pos="100000">
                <a:schemeClr val="accent1"/>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6" name="文本框 105"/>
          <p:cNvSpPr txBox="1"/>
          <p:nvPr/>
        </p:nvSpPr>
        <p:spPr>
          <a:xfrm rot="5947012">
            <a:off x="1080135" y="1641475"/>
            <a:ext cx="2996565" cy="2996565"/>
          </a:xfrm>
          <a:prstGeom prst="rect">
            <a:avLst/>
          </a:prstGeom>
          <a:noFill/>
        </p:spPr>
        <p:txBody>
          <a:bodyPr wrap="square" rtlCol="0">
            <a:prstTxWarp prst="textArchUp">
              <a:avLst>
                <a:gd name="adj" fmla="val 11862872"/>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安排销售人员进行系统培训</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7" name="文本框 106"/>
          <p:cNvSpPr txBox="1"/>
          <p:nvPr/>
        </p:nvSpPr>
        <p:spPr>
          <a:xfrm rot="20068315">
            <a:off x="1119505" y="1631950"/>
            <a:ext cx="2996565" cy="2996565"/>
          </a:xfrm>
          <a:prstGeom prst="rect">
            <a:avLst/>
          </a:prstGeom>
          <a:noFill/>
        </p:spPr>
        <p:txBody>
          <a:bodyPr wrap="square" rtlCol="0">
            <a:prstTxWarp prst="textArchUp">
              <a:avLst>
                <a:gd name="adj" fmla="val 10998441"/>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拓宽销售渠道，只能加多个省市区销区</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8" name="文本框 107"/>
          <p:cNvSpPr txBox="1"/>
          <p:nvPr/>
        </p:nvSpPr>
        <p:spPr>
          <a:xfrm>
            <a:off x="1094740" y="1631315"/>
            <a:ext cx="2996565" cy="2996565"/>
          </a:xfrm>
          <a:prstGeom prst="rect">
            <a:avLst/>
          </a:prstGeom>
          <a:noFill/>
        </p:spPr>
        <p:txBody>
          <a:bodyPr wrap="square" rtlCol="0">
            <a:prstTxWarp prst="textArchDown">
              <a:avLst>
                <a:gd name="adj" fmla="val 2747268"/>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招聘有经验的销售，扩大销售队伍</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9" name="圆: 空心 9"/>
          <p:cNvSpPr/>
          <p:nvPr/>
        </p:nvSpPr>
        <p:spPr>
          <a:xfrm>
            <a:off x="5414645" y="1358265"/>
            <a:ext cx="3508375" cy="3508375"/>
          </a:xfrm>
          <a:prstGeom prst="donut">
            <a:avLst>
              <a:gd name="adj" fmla="val 13167"/>
            </a:avLst>
          </a:prstGeom>
          <a:gradFill>
            <a:gsLst>
              <a:gs pos="100000">
                <a:schemeClr val="accent5">
                  <a:lumMod val="60000"/>
                  <a:lumOff val="40000"/>
                </a:schemeClr>
              </a:gs>
              <a:gs pos="0">
                <a:schemeClr val="accent5"/>
              </a:gs>
            </a:gsLst>
            <a:path path="circle">
              <a:fillToRect l="100000" t="100000"/>
            </a:path>
            <a:tileRect r="-100000" b="-10000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0" name="文本框 109"/>
          <p:cNvSpPr txBox="1"/>
          <p:nvPr/>
        </p:nvSpPr>
        <p:spPr>
          <a:xfrm rot="20068315">
            <a:off x="5693410" y="1617345"/>
            <a:ext cx="2996565" cy="2996565"/>
          </a:xfrm>
          <a:prstGeom prst="rect">
            <a:avLst/>
          </a:prstGeom>
          <a:noFill/>
        </p:spPr>
        <p:txBody>
          <a:bodyPr wrap="square" rtlCol="0">
            <a:prstTxWarp prst="textArchUp">
              <a:avLst>
                <a:gd name="adj" fmla="val 10998441"/>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全年增加了</a:t>
            </a:r>
            <a:r>
              <a:rPr kumimoji="0" lang="en-US" altLang="zh-CN"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8</a:t>
            </a: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个省市区，一个线上商城</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1" name="文本框 110"/>
          <p:cNvSpPr txBox="1"/>
          <p:nvPr/>
        </p:nvSpPr>
        <p:spPr>
          <a:xfrm>
            <a:off x="5791835" y="1891030"/>
            <a:ext cx="2753995" cy="2753995"/>
          </a:xfrm>
          <a:prstGeom prst="rect">
            <a:avLst/>
          </a:prstGeom>
          <a:noFill/>
        </p:spPr>
        <p:txBody>
          <a:bodyPr wrap="square" rtlCol="0">
            <a:prstTxWarp prst="textArchDown">
              <a:avLst>
                <a:gd name="adj" fmla="val 3929873"/>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招募</a:t>
            </a:r>
            <a:r>
              <a:rPr kumimoji="0" lang="en-US" altLang="zh-CN"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3</a:t>
            </a: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名销售人员</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2" name="文本框 111"/>
          <p:cNvSpPr txBox="1"/>
          <p:nvPr/>
        </p:nvSpPr>
        <p:spPr>
          <a:xfrm rot="5094889">
            <a:off x="6078220" y="1724025"/>
            <a:ext cx="2546350" cy="2546350"/>
          </a:xfrm>
          <a:prstGeom prst="rect">
            <a:avLst/>
          </a:prstGeom>
          <a:noFill/>
        </p:spPr>
        <p:txBody>
          <a:bodyPr wrap="square" rtlCol="0">
            <a:prstTxWarp prst="textArchUp">
              <a:avLst>
                <a:gd name="adj" fmla="val 11939508"/>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安排了</a:t>
            </a:r>
            <a:r>
              <a:rPr kumimoji="0" lang="en-US" altLang="zh-CN"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12</a:t>
            </a: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场培训，</a:t>
            </a:r>
            <a:r>
              <a:rPr kumimoji="0" lang="en-US" altLang="zh-CN"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12</a:t>
            </a: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次考试实训</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14" name="直接连接符 113"/>
          <p:cNvCxnSpPr>
            <a:stCxn id="105" idx="0"/>
          </p:cNvCxnSpPr>
          <p:nvPr/>
        </p:nvCxnSpPr>
        <p:spPr>
          <a:xfrm>
            <a:off x="2593340" y="1358265"/>
            <a:ext cx="0" cy="4622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3674110" y="3817620"/>
            <a:ext cx="396875" cy="25527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6" name="直接连接符 115"/>
          <p:cNvCxnSpPr/>
          <p:nvPr/>
        </p:nvCxnSpPr>
        <p:spPr>
          <a:xfrm flipH="1">
            <a:off x="1125855" y="3817620"/>
            <a:ext cx="394335" cy="2590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8" name="直接连接符 117"/>
          <p:cNvCxnSpPr/>
          <p:nvPr/>
        </p:nvCxnSpPr>
        <p:spPr>
          <a:xfrm>
            <a:off x="8251190" y="3817620"/>
            <a:ext cx="396240" cy="25527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19" name="直接连接符 118"/>
          <p:cNvCxnSpPr/>
          <p:nvPr/>
        </p:nvCxnSpPr>
        <p:spPr>
          <a:xfrm flipH="1">
            <a:off x="5710555" y="3829685"/>
            <a:ext cx="379095" cy="2590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0" name="圆: 空心 46"/>
          <p:cNvSpPr/>
          <p:nvPr/>
        </p:nvSpPr>
        <p:spPr>
          <a:xfrm>
            <a:off x="1304925" y="1823720"/>
            <a:ext cx="2574290" cy="2574290"/>
          </a:xfrm>
          <a:prstGeom prst="donut">
            <a:avLst>
              <a:gd name="adj" fmla="val 14757"/>
            </a:avLst>
          </a:prstGeom>
          <a:pattFill prst="wdDnDiag">
            <a:fgClr>
              <a:schemeClr val="accent1">
                <a:lumMod val="20000"/>
                <a:lumOff val="80000"/>
              </a:schemeClr>
            </a:fgClr>
            <a:bgClr>
              <a:schemeClr val="bg1"/>
            </a:bgClr>
          </a:patt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1" name="文本框 120"/>
          <p:cNvSpPr txBox="1"/>
          <p:nvPr/>
        </p:nvSpPr>
        <p:spPr>
          <a:xfrm rot="6336505">
            <a:off x="1148715" y="1881505"/>
            <a:ext cx="2546350" cy="2546350"/>
          </a:xfrm>
          <a:prstGeom prst="rect">
            <a:avLst/>
          </a:prstGeom>
          <a:noFill/>
        </p:spPr>
        <p:txBody>
          <a:bodyPr wrap="square" rtlCol="0">
            <a:prstTxWarp prst="textArchUp">
              <a:avLst>
                <a:gd name="adj" fmla="val 11939508"/>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提高销售转化率</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2" name="文本框 121"/>
          <p:cNvSpPr txBox="1"/>
          <p:nvPr/>
        </p:nvSpPr>
        <p:spPr>
          <a:xfrm rot="20068315">
            <a:off x="1454150" y="1791335"/>
            <a:ext cx="2996565" cy="2996565"/>
          </a:xfrm>
          <a:prstGeom prst="rect">
            <a:avLst/>
          </a:prstGeom>
          <a:noFill/>
        </p:spPr>
        <p:txBody>
          <a:bodyPr wrap="square" rtlCol="0">
            <a:prstTxWarp prst="textArchUp">
              <a:avLst>
                <a:gd name="adj" fmla="val 12674467"/>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拓宽销售渠道</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3" name="文本框 122"/>
          <p:cNvSpPr txBox="1"/>
          <p:nvPr/>
        </p:nvSpPr>
        <p:spPr>
          <a:xfrm>
            <a:off x="1125855" y="1167765"/>
            <a:ext cx="2996565" cy="2996565"/>
          </a:xfrm>
          <a:prstGeom prst="rect">
            <a:avLst/>
          </a:prstGeom>
          <a:noFill/>
        </p:spPr>
        <p:txBody>
          <a:bodyPr wrap="square" rtlCol="0">
            <a:prstTxWarp prst="textArchDown">
              <a:avLst>
                <a:gd name="adj" fmla="val 3960340"/>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组建新的销售团队</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4" name="圆: 空心 47"/>
          <p:cNvSpPr/>
          <p:nvPr/>
        </p:nvSpPr>
        <p:spPr>
          <a:xfrm>
            <a:off x="5879465" y="1818005"/>
            <a:ext cx="2574290" cy="2574290"/>
          </a:xfrm>
          <a:prstGeom prst="donut">
            <a:avLst>
              <a:gd name="adj" fmla="val 14757"/>
            </a:avLst>
          </a:prstGeom>
          <a:pattFill prst="wdDnDiag">
            <a:fgClr>
              <a:schemeClr val="accent5">
                <a:lumMod val="20000"/>
                <a:lumOff val="80000"/>
              </a:schemeClr>
            </a:fgClr>
            <a:bgClr>
              <a:schemeClr val="bg1"/>
            </a:bgClr>
          </a:pattFill>
          <a:ln w="6350">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5" name="文本框 124"/>
          <p:cNvSpPr txBox="1"/>
          <p:nvPr/>
        </p:nvSpPr>
        <p:spPr>
          <a:xfrm rot="6336505">
            <a:off x="5726430" y="1925320"/>
            <a:ext cx="2546350" cy="2546350"/>
          </a:xfrm>
          <a:prstGeom prst="rect">
            <a:avLst/>
          </a:prstGeom>
          <a:noFill/>
        </p:spPr>
        <p:txBody>
          <a:bodyPr wrap="square" rtlCol="0">
            <a:prstTxWarp prst="textArchUp">
              <a:avLst>
                <a:gd name="adj" fmla="val 12142962"/>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按预期完成了</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28" name="直接连接符 127"/>
          <p:cNvCxnSpPr/>
          <p:nvPr/>
        </p:nvCxnSpPr>
        <p:spPr>
          <a:xfrm flipH="1">
            <a:off x="2589530" y="1820545"/>
            <a:ext cx="2540" cy="384175"/>
          </a:xfrm>
          <a:prstGeom prst="line">
            <a:avLst/>
          </a:prstGeom>
          <a:ln>
            <a:solidFill>
              <a:srgbClr val="062F8C"/>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flipV="1">
            <a:off x="1515745" y="3611245"/>
            <a:ext cx="325755" cy="209550"/>
          </a:xfrm>
          <a:prstGeom prst="line">
            <a:avLst/>
          </a:prstGeom>
          <a:ln>
            <a:solidFill>
              <a:srgbClr val="062F8C"/>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flipH="1" flipV="1">
            <a:off x="3354070" y="3611245"/>
            <a:ext cx="320675" cy="206375"/>
          </a:xfrm>
          <a:prstGeom prst="line">
            <a:avLst/>
          </a:prstGeom>
          <a:ln>
            <a:solidFill>
              <a:srgbClr val="062F8C"/>
            </a:solidFill>
          </a:ln>
        </p:spPr>
        <p:style>
          <a:lnRef idx="1">
            <a:schemeClr val="accent1"/>
          </a:lnRef>
          <a:fillRef idx="0">
            <a:schemeClr val="accent1"/>
          </a:fillRef>
          <a:effectRef idx="0">
            <a:schemeClr val="accent1"/>
          </a:effectRef>
          <a:fontRef idx="minor">
            <a:schemeClr val="tx1"/>
          </a:fontRef>
        </p:style>
      </p:cxnSp>
      <p:cxnSp>
        <p:nvCxnSpPr>
          <p:cNvPr id="133" name="直接连接符 132"/>
          <p:cNvCxnSpPr/>
          <p:nvPr/>
        </p:nvCxnSpPr>
        <p:spPr>
          <a:xfrm>
            <a:off x="7929880" y="3597910"/>
            <a:ext cx="321310" cy="219075"/>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134" name="直接连接符 133"/>
          <p:cNvCxnSpPr/>
          <p:nvPr/>
        </p:nvCxnSpPr>
        <p:spPr>
          <a:xfrm>
            <a:off x="2145665" y="2557145"/>
            <a:ext cx="249555" cy="0"/>
          </a:xfrm>
          <a:prstGeom prst="line">
            <a:avLst/>
          </a:prstGeom>
          <a:ln>
            <a:solidFill>
              <a:srgbClr val="062F8C"/>
            </a:solidFill>
          </a:ln>
        </p:spPr>
        <p:style>
          <a:lnRef idx="1">
            <a:schemeClr val="accent1"/>
          </a:lnRef>
          <a:fillRef idx="0">
            <a:schemeClr val="accent1"/>
          </a:fillRef>
          <a:effectRef idx="0">
            <a:schemeClr val="accent1"/>
          </a:effectRef>
          <a:fontRef idx="minor">
            <a:schemeClr val="tx1"/>
          </a:fontRef>
        </p:style>
      </p:cxnSp>
      <p:cxnSp>
        <p:nvCxnSpPr>
          <p:cNvPr id="135" name="直接连接符 134"/>
          <p:cNvCxnSpPr/>
          <p:nvPr/>
        </p:nvCxnSpPr>
        <p:spPr>
          <a:xfrm>
            <a:off x="2773045" y="2557145"/>
            <a:ext cx="249555" cy="0"/>
          </a:xfrm>
          <a:prstGeom prst="line">
            <a:avLst/>
          </a:prstGeom>
          <a:ln>
            <a:solidFill>
              <a:srgbClr val="062F8C"/>
            </a:solidFill>
          </a:ln>
        </p:spPr>
        <p:style>
          <a:lnRef idx="1">
            <a:schemeClr val="accent1"/>
          </a:lnRef>
          <a:fillRef idx="0">
            <a:schemeClr val="accent1"/>
          </a:fillRef>
          <a:effectRef idx="0">
            <a:schemeClr val="accent1"/>
          </a:effectRef>
          <a:fontRef idx="minor">
            <a:schemeClr val="tx1"/>
          </a:fontRef>
        </p:style>
      </p:cxnSp>
      <p:sp>
        <p:nvSpPr>
          <p:cNvPr id="136" name="文本框 135"/>
          <p:cNvSpPr txBox="1"/>
          <p:nvPr/>
        </p:nvSpPr>
        <p:spPr>
          <a:xfrm>
            <a:off x="2287270" y="2416810"/>
            <a:ext cx="613410" cy="2755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目标</a:t>
            </a:r>
            <a:endParaRPr kumimoji="0" lang="zh-CN" altLang="en-US" sz="1200" b="0"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7" name="文本框 136"/>
          <p:cNvSpPr txBox="1"/>
          <p:nvPr/>
        </p:nvSpPr>
        <p:spPr>
          <a:xfrm>
            <a:off x="2171700" y="2614295"/>
            <a:ext cx="844550" cy="2755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accent1">
                    <a:alpha val="80000"/>
                  </a:schemeClr>
                </a:solidFill>
                <a:effectLst/>
                <a:uLnTx/>
                <a:uFillTx/>
                <a:latin typeface="微软雅黑" panose="020B0503020204020204" charset="-122"/>
                <a:ea typeface="微软雅黑" panose="020B0503020204020204" charset="-122"/>
                <a:cs typeface="微软雅黑" panose="020B0503020204020204" charset="-122"/>
              </a:rPr>
              <a:t>G</a:t>
            </a:r>
            <a:r>
              <a:rPr kumimoji="0" lang="en-US" alt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OAL</a:t>
            </a:r>
            <a:endParaRPr kumimoji="0" lang="en-US" alt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8" name="文本框 137"/>
          <p:cNvSpPr txBox="1"/>
          <p:nvPr/>
        </p:nvSpPr>
        <p:spPr>
          <a:xfrm>
            <a:off x="2172335" y="2837180"/>
            <a:ext cx="84455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20%</a:t>
            </a:r>
            <a:endParaRPr kumimoji="0" lang="en-US" altLang="zh-CN" sz="1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9" name="文本框 138"/>
          <p:cNvSpPr txBox="1"/>
          <p:nvPr/>
        </p:nvSpPr>
        <p:spPr>
          <a:xfrm>
            <a:off x="2082800" y="3124835"/>
            <a:ext cx="1022985" cy="2755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销售额上涨</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0" name="文本框 139"/>
          <p:cNvSpPr txBox="1"/>
          <p:nvPr/>
        </p:nvSpPr>
        <p:spPr>
          <a:xfrm>
            <a:off x="2172335" y="3317875"/>
            <a:ext cx="84455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rPr>
              <a:t>5%</a:t>
            </a:r>
            <a:endParaRPr kumimoji="0" lang="en-US" altLang="zh-CN" sz="1800" b="1" i="0" u="none" strike="noStrike" kern="1200" cap="none" spc="0" normalizeH="0" baseline="0" noProof="0" dirty="0">
              <a:ln>
                <a:noFill/>
              </a:ln>
              <a:solidFill>
                <a:schemeClr val="accent1"/>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1" name="文本框 140"/>
          <p:cNvSpPr txBox="1"/>
          <p:nvPr/>
        </p:nvSpPr>
        <p:spPr>
          <a:xfrm>
            <a:off x="2020570" y="3604895"/>
            <a:ext cx="1153795" cy="2755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市场份额提高</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0" name="文本框 149"/>
          <p:cNvSpPr txBox="1"/>
          <p:nvPr/>
        </p:nvSpPr>
        <p:spPr>
          <a:xfrm rot="2517919">
            <a:off x="4199890" y="2974340"/>
            <a:ext cx="1355725" cy="2755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rPr>
              <a:t>积极努力干活</a:t>
            </a:r>
            <a:endParaRPr kumimoji="0" lang="zh-CN" altLang="en-US" sz="1200" b="0" i="0" u="none" strike="noStrike" kern="1200" cap="none" spc="0" normalizeH="0" baseline="0" noProof="0" dirty="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2" name="矩形: 圆角 128"/>
          <p:cNvSpPr/>
          <p:nvPr/>
        </p:nvSpPr>
        <p:spPr>
          <a:xfrm>
            <a:off x="725805" y="1247775"/>
            <a:ext cx="8323580" cy="3729990"/>
          </a:xfrm>
          <a:prstGeom prst="roundRect">
            <a:avLst>
              <a:gd name="adj" fmla="val 50000"/>
            </a:avLst>
          </a:prstGeom>
          <a:noFill/>
          <a:ln w="38100">
            <a:solidFill>
              <a:schemeClr val="tx2">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3" name="文本框 152"/>
          <p:cNvSpPr txBox="1"/>
          <p:nvPr/>
        </p:nvSpPr>
        <p:spPr>
          <a:xfrm>
            <a:off x="4199890" y="1061085"/>
            <a:ext cx="1355725" cy="82994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altLang="zh-CN" sz="16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2026</a:t>
            </a:r>
            <a:r>
              <a:rPr kumimoji="0" lang="zh-CN" altLang="en-US" sz="16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年</a:t>
            </a:r>
            <a:endParaRPr kumimoji="0" lang="zh-CN" altLang="en-US" sz="16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GRAI</a:t>
            </a:r>
            <a:r>
              <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复盘</a:t>
            </a:r>
            <a:endPar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6" name="等腰三角形 155"/>
          <p:cNvSpPr/>
          <p:nvPr/>
        </p:nvSpPr>
        <p:spPr>
          <a:xfrm>
            <a:off x="4682490" y="3954780"/>
            <a:ext cx="416560" cy="359410"/>
          </a:xfrm>
          <a:prstGeom prst="triangle">
            <a:avLst/>
          </a:prstGeom>
          <a:solidFill>
            <a:schemeClr val="accent5"/>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7" name="文本框 156"/>
          <p:cNvSpPr txBox="1"/>
          <p:nvPr/>
        </p:nvSpPr>
        <p:spPr>
          <a:xfrm>
            <a:off x="4247515" y="4321175"/>
            <a:ext cx="1355725" cy="337185"/>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过程分析</a:t>
            </a:r>
            <a:endParaRPr kumimoji="0" lang="zh-CN" altLang="en-US" sz="16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2" name="文本框 161"/>
          <p:cNvSpPr txBox="1"/>
          <p:nvPr/>
        </p:nvSpPr>
        <p:spPr>
          <a:xfrm>
            <a:off x="4347210" y="4554220"/>
            <a:ext cx="1155065" cy="22987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Analysis</a:t>
            </a:r>
            <a:endParaRPr kumimoji="0" lang="en-US" altLang="zh-CN" sz="9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163" name="直接连接符 162"/>
          <p:cNvCxnSpPr/>
          <p:nvPr/>
        </p:nvCxnSpPr>
        <p:spPr>
          <a:xfrm>
            <a:off x="8966835" y="1822450"/>
            <a:ext cx="2572385" cy="0"/>
          </a:xfrm>
          <a:prstGeom prst="line">
            <a:avLst/>
          </a:prstGeom>
          <a:ln w="38100">
            <a:gradFill flip="none" rotWithShape="1">
              <a:gsLst>
                <a:gs pos="0">
                  <a:schemeClr val="accent5"/>
                </a:gs>
                <a:gs pos="100000">
                  <a:schemeClr val="accent5">
                    <a:alpha val="0"/>
                  </a:schemeClr>
                </a:gs>
              </a:gsLst>
              <a:lin ang="0" scaled="1"/>
              <a:tileRect/>
            </a:gradFill>
          </a:ln>
          <a:effectLst/>
        </p:spPr>
        <p:style>
          <a:lnRef idx="1">
            <a:schemeClr val="accent1"/>
          </a:lnRef>
          <a:fillRef idx="0">
            <a:schemeClr val="accent1"/>
          </a:fillRef>
          <a:effectRef idx="0">
            <a:schemeClr val="accent1"/>
          </a:effectRef>
          <a:fontRef idx="minor">
            <a:schemeClr val="tx1"/>
          </a:fontRef>
        </p:style>
      </p:cxnSp>
      <p:sp>
        <p:nvSpPr>
          <p:cNvPr id="196" name="文本框 195"/>
          <p:cNvSpPr txBox="1"/>
          <p:nvPr/>
        </p:nvSpPr>
        <p:spPr>
          <a:xfrm>
            <a:off x="8849360" y="1324610"/>
            <a:ext cx="1162685" cy="337185"/>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规律总结</a:t>
            </a:r>
            <a:endParaRPr kumimoji="0" lang="zh-CN" altLang="en-US" sz="16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4" name="文本框 203"/>
          <p:cNvSpPr txBox="1"/>
          <p:nvPr/>
        </p:nvSpPr>
        <p:spPr>
          <a:xfrm>
            <a:off x="8863965" y="1553210"/>
            <a:ext cx="1069340" cy="2298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9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Insight</a:t>
            </a:r>
            <a:endParaRPr kumimoji="0" lang="en-US" altLang="zh-CN" sz="90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5" name="椭圆 204"/>
          <p:cNvSpPr/>
          <p:nvPr/>
        </p:nvSpPr>
        <p:spPr>
          <a:xfrm>
            <a:off x="8726170" y="2135505"/>
            <a:ext cx="177800" cy="177800"/>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6" name="矩形: 圆角 143"/>
          <p:cNvSpPr/>
          <p:nvPr/>
        </p:nvSpPr>
        <p:spPr>
          <a:xfrm>
            <a:off x="9414510" y="3204210"/>
            <a:ext cx="2365375" cy="533400"/>
          </a:xfrm>
          <a:prstGeom prst="roundRect">
            <a:avLst>
              <a:gd name="adj" fmla="val 50000"/>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提升、优化销售话术、技巧</a:t>
            </a:r>
            <a:endPar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7" name="矩形: 圆角 144"/>
          <p:cNvSpPr/>
          <p:nvPr/>
        </p:nvSpPr>
        <p:spPr>
          <a:xfrm>
            <a:off x="9414510" y="2581275"/>
            <a:ext cx="2365375" cy="533400"/>
          </a:xfrm>
          <a:prstGeom prst="roundRect">
            <a:avLst>
              <a:gd name="adj" fmla="val 50000"/>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减少缺陷，提高产品质量</a:t>
            </a:r>
            <a:endPar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8" name="矩形: 圆角 145"/>
          <p:cNvSpPr/>
          <p:nvPr/>
        </p:nvSpPr>
        <p:spPr>
          <a:xfrm>
            <a:off x="9116060" y="3827780"/>
            <a:ext cx="2663825" cy="533400"/>
          </a:xfrm>
          <a:prstGeom prst="roundRect">
            <a:avLst>
              <a:gd name="adj" fmla="val 50000"/>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根据实际情况调整产品结构和定位</a:t>
            </a:r>
            <a:endPar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09" name="矩形: 圆角 146"/>
          <p:cNvSpPr/>
          <p:nvPr/>
        </p:nvSpPr>
        <p:spPr>
          <a:xfrm>
            <a:off x="9182100" y="1957705"/>
            <a:ext cx="2597785" cy="533400"/>
          </a:xfrm>
          <a:prstGeom prst="roundRect">
            <a:avLst>
              <a:gd name="adj" fmla="val 50000"/>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更了解客户，加强市场调研</a:t>
            </a:r>
            <a:endPar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10" name="矩形: 圆角 147"/>
          <p:cNvSpPr/>
          <p:nvPr/>
        </p:nvSpPr>
        <p:spPr>
          <a:xfrm>
            <a:off x="8545830" y="4450715"/>
            <a:ext cx="3238500" cy="533400"/>
          </a:xfrm>
          <a:prstGeom prst="roundRect">
            <a:avLst>
              <a:gd name="adj" fmla="val 50000"/>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关注消费者的需求变化，加强品牌建设</a:t>
            </a:r>
            <a:endParaRPr kumimoji="0" lang="zh-CN" altLang="en-US"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11" name="直接连接符 210"/>
          <p:cNvCxnSpPr>
            <a:stCxn id="205" idx="6"/>
            <a:endCxn id="209" idx="1"/>
          </p:cNvCxnSpPr>
          <p:nvPr/>
        </p:nvCxnSpPr>
        <p:spPr>
          <a:xfrm>
            <a:off x="8903970" y="2224405"/>
            <a:ext cx="278130" cy="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12" name="椭圆 211"/>
          <p:cNvSpPr/>
          <p:nvPr/>
        </p:nvSpPr>
        <p:spPr>
          <a:xfrm>
            <a:off x="8938260" y="2759710"/>
            <a:ext cx="177800" cy="177800"/>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13" name="直接连接符 212"/>
          <p:cNvCxnSpPr>
            <a:stCxn id="212" idx="6"/>
            <a:endCxn id="207" idx="1"/>
          </p:cNvCxnSpPr>
          <p:nvPr/>
        </p:nvCxnSpPr>
        <p:spPr>
          <a:xfrm flipV="1">
            <a:off x="9116060" y="2847340"/>
            <a:ext cx="298450" cy="127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14" name="椭圆 213"/>
          <p:cNvSpPr/>
          <p:nvPr/>
        </p:nvSpPr>
        <p:spPr>
          <a:xfrm>
            <a:off x="8919845" y="3382010"/>
            <a:ext cx="177800" cy="177800"/>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15" name="直接连接符 214"/>
          <p:cNvCxnSpPr>
            <a:stCxn id="214" idx="6"/>
            <a:endCxn id="206" idx="1"/>
          </p:cNvCxnSpPr>
          <p:nvPr/>
        </p:nvCxnSpPr>
        <p:spPr>
          <a:xfrm>
            <a:off x="9098280" y="3470910"/>
            <a:ext cx="316230" cy="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16" name="椭圆 215"/>
          <p:cNvSpPr/>
          <p:nvPr/>
        </p:nvSpPr>
        <p:spPr>
          <a:xfrm>
            <a:off x="8680450" y="4004945"/>
            <a:ext cx="177800" cy="177800"/>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17" name="直接连接符 216"/>
          <p:cNvCxnSpPr>
            <a:stCxn id="216" idx="6"/>
            <a:endCxn id="208" idx="1"/>
          </p:cNvCxnSpPr>
          <p:nvPr/>
        </p:nvCxnSpPr>
        <p:spPr>
          <a:xfrm>
            <a:off x="8858250" y="4093845"/>
            <a:ext cx="257810" cy="635"/>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18" name="椭圆 217"/>
          <p:cNvSpPr/>
          <p:nvPr/>
        </p:nvSpPr>
        <p:spPr>
          <a:xfrm>
            <a:off x="8024495" y="4628515"/>
            <a:ext cx="177800" cy="177800"/>
          </a:xfrm>
          <a:prstGeom prst="ellipse">
            <a:avLst/>
          </a:prstGeom>
          <a:solidFill>
            <a:schemeClr val="accent5">
              <a:lumMod val="60000"/>
              <a:lumOff val="40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19" name="直接连接符 218"/>
          <p:cNvCxnSpPr>
            <a:stCxn id="218" idx="6"/>
            <a:endCxn id="210" idx="1"/>
          </p:cNvCxnSpPr>
          <p:nvPr/>
        </p:nvCxnSpPr>
        <p:spPr>
          <a:xfrm>
            <a:off x="8202295" y="4717415"/>
            <a:ext cx="343535" cy="0"/>
          </a:xfrm>
          <a:prstGeom prst="line">
            <a:avLst/>
          </a:prstGeom>
          <a:ln w="12700">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sp>
        <p:nvSpPr>
          <p:cNvPr id="220" name="右大括号 219"/>
          <p:cNvSpPr/>
          <p:nvPr/>
        </p:nvSpPr>
        <p:spPr>
          <a:xfrm rot="16200000">
            <a:off x="5895340" y="-93980"/>
            <a:ext cx="715645" cy="11053445"/>
          </a:xfrm>
          <a:prstGeom prst="rightBrace">
            <a:avLst>
              <a:gd name="adj1" fmla="val 91787"/>
              <a:gd name="adj2" fmla="val 37507"/>
            </a:avLst>
          </a:prstGeom>
          <a:noFill/>
          <a:ln w="25400">
            <a:gradFill>
              <a:gsLst>
                <a:gs pos="2000">
                  <a:schemeClr val="accent5">
                    <a:lumMod val="60000"/>
                    <a:lumOff val="40000"/>
                  </a:schemeClr>
                </a:gs>
                <a:gs pos="100000">
                  <a:schemeClr val="accent5"/>
                </a:gs>
              </a:gsLst>
              <a:lin ang="9660000" scaled="1"/>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1" name="矩形: 圆角 177"/>
          <p:cNvSpPr/>
          <p:nvPr/>
        </p:nvSpPr>
        <p:spPr>
          <a:xfrm>
            <a:off x="725805" y="5756910"/>
            <a:ext cx="2101850" cy="533400"/>
          </a:xfrm>
          <a:prstGeom prst="roundRect">
            <a:avLst>
              <a:gd name="adj" fmla="val 50000"/>
            </a:avLst>
          </a:prstGeom>
          <a:solidFill>
            <a:schemeClr val="accent5">
              <a:lumMod val="20000"/>
              <a:lumOff val="80000"/>
              <a:alpha val="50000"/>
            </a:schemeClr>
          </a:solidFill>
          <a:ln>
            <a:solidFill>
              <a:schemeClr val="accent5">
                <a:lumMod val="60000"/>
                <a:lumOff val="4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转化成本过高</a:t>
            </a:r>
            <a:endParaRPr kumimoji="0" lang="zh-CN" altLang="en-US" sz="14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2" name="矩形: 圆角 178"/>
          <p:cNvSpPr/>
          <p:nvPr/>
        </p:nvSpPr>
        <p:spPr>
          <a:xfrm>
            <a:off x="2964180" y="5756910"/>
            <a:ext cx="2101850" cy="533400"/>
          </a:xfrm>
          <a:prstGeom prst="roundRect">
            <a:avLst>
              <a:gd name="adj" fmla="val 50000"/>
            </a:avLst>
          </a:prstGeom>
          <a:solidFill>
            <a:schemeClr val="accent5">
              <a:lumMod val="20000"/>
              <a:lumOff val="80000"/>
              <a:alpha val="50000"/>
            </a:schemeClr>
          </a:solidFill>
          <a:ln>
            <a:solidFill>
              <a:schemeClr val="accent5">
                <a:lumMod val="60000"/>
                <a:lumOff val="4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4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价格存在劣势</a:t>
            </a:r>
            <a:endParaRPr lang="zh-CN" altLang="en-US" sz="14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23" name="矩形: 圆角 179"/>
          <p:cNvSpPr/>
          <p:nvPr/>
        </p:nvSpPr>
        <p:spPr>
          <a:xfrm>
            <a:off x="5201920" y="5756910"/>
            <a:ext cx="2101850" cy="533400"/>
          </a:xfrm>
          <a:prstGeom prst="roundRect">
            <a:avLst>
              <a:gd name="adj" fmla="val 50000"/>
            </a:avLst>
          </a:prstGeom>
          <a:solidFill>
            <a:schemeClr val="accent5">
              <a:lumMod val="20000"/>
              <a:lumOff val="80000"/>
              <a:alpha val="50000"/>
            </a:schemeClr>
          </a:solidFill>
          <a:ln>
            <a:solidFill>
              <a:schemeClr val="accent5">
                <a:lumMod val="60000"/>
                <a:lumOff val="4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4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消费者需求变化</a:t>
            </a:r>
            <a:endParaRPr lang="zh-CN" altLang="en-US" sz="14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24" name="矩形: 圆角 180"/>
          <p:cNvSpPr/>
          <p:nvPr/>
        </p:nvSpPr>
        <p:spPr>
          <a:xfrm>
            <a:off x="7440295" y="5756910"/>
            <a:ext cx="2101850" cy="533400"/>
          </a:xfrm>
          <a:prstGeom prst="roundRect">
            <a:avLst>
              <a:gd name="adj" fmla="val 50000"/>
            </a:avLst>
          </a:prstGeom>
          <a:solidFill>
            <a:schemeClr val="accent5">
              <a:lumMod val="20000"/>
              <a:lumOff val="80000"/>
              <a:alpha val="50000"/>
            </a:schemeClr>
          </a:solidFill>
          <a:ln>
            <a:solidFill>
              <a:schemeClr val="accent5">
                <a:lumMod val="60000"/>
                <a:lumOff val="4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4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销售团队不及预期</a:t>
            </a:r>
            <a:endParaRPr lang="zh-CN" altLang="en-US" sz="14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25" name="矩形: 圆角 181"/>
          <p:cNvSpPr/>
          <p:nvPr/>
        </p:nvSpPr>
        <p:spPr>
          <a:xfrm>
            <a:off x="9678035" y="5756910"/>
            <a:ext cx="2101850" cy="533400"/>
          </a:xfrm>
          <a:prstGeom prst="roundRect">
            <a:avLst>
              <a:gd name="adj" fmla="val 50000"/>
            </a:avLst>
          </a:prstGeom>
          <a:solidFill>
            <a:schemeClr val="accent5">
              <a:lumMod val="20000"/>
              <a:lumOff val="80000"/>
              <a:alpha val="50000"/>
            </a:schemeClr>
          </a:solidFill>
          <a:ln>
            <a:solidFill>
              <a:schemeClr val="accent5">
                <a:lumMod val="60000"/>
                <a:lumOff val="40000"/>
              </a:schemeClr>
            </a:solidFill>
            <a:prstDash val="lgDash"/>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r>
              <a:rPr lang="zh-CN" altLang="en-US" sz="14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rPr>
              <a:t>产品存在一定缺陷</a:t>
            </a:r>
            <a:endParaRPr lang="zh-CN" altLang="en-US" sz="140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228" name="文本框 227"/>
          <p:cNvSpPr txBox="1"/>
          <p:nvPr/>
        </p:nvSpPr>
        <p:spPr>
          <a:xfrm>
            <a:off x="5821045" y="1406525"/>
            <a:ext cx="2753995" cy="2753995"/>
          </a:xfrm>
          <a:prstGeom prst="rect">
            <a:avLst/>
          </a:prstGeom>
          <a:noFill/>
        </p:spPr>
        <p:txBody>
          <a:bodyPr wrap="square" rtlCol="0">
            <a:prstTxWarp prst="textArchDown">
              <a:avLst>
                <a:gd name="adj" fmla="val 3225266"/>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未按预期完成销售团队招募</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29" name="文本框 228"/>
          <p:cNvSpPr txBox="1"/>
          <p:nvPr/>
        </p:nvSpPr>
        <p:spPr>
          <a:xfrm rot="19930593">
            <a:off x="6043930" y="1781810"/>
            <a:ext cx="2996565" cy="2996565"/>
          </a:xfrm>
          <a:prstGeom prst="rect">
            <a:avLst/>
          </a:prstGeom>
          <a:noFill/>
        </p:spPr>
        <p:txBody>
          <a:bodyPr wrap="square" rtlCol="0">
            <a:prstTxWarp prst="textArchUp">
              <a:avLst>
                <a:gd name="adj" fmla="val 12674467"/>
              </a:avLst>
            </a:prstTxWarp>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完成销售渠道拓建</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cxnSp>
        <p:nvCxnSpPr>
          <p:cNvPr id="230" name="直接连接符 229"/>
          <p:cNvCxnSpPr/>
          <p:nvPr/>
        </p:nvCxnSpPr>
        <p:spPr>
          <a:xfrm>
            <a:off x="7169150" y="1358265"/>
            <a:ext cx="0" cy="46228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31" name="直接连接符 230"/>
          <p:cNvCxnSpPr/>
          <p:nvPr/>
        </p:nvCxnSpPr>
        <p:spPr>
          <a:xfrm>
            <a:off x="7169150" y="1820545"/>
            <a:ext cx="0" cy="384175"/>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2" name="直接连接符 231"/>
          <p:cNvCxnSpPr/>
          <p:nvPr/>
        </p:nvCxnSpPr>
        <p:spPr>
          <a:xfrm flipV="1">
            <a:off x="6089650" y="3611245"/>
            <a:ext cx="321310" cy="219075"/>
          </a:xfrm>
          <a:prstGeom prst="line">
            <a:avLst/>
          </a:prstGeom>
          <a:ln>
            <a:solidFill>
              <a:schemeClr val="accent5">
                <a:lumMod val="60000"/>
                <a:lumOff val="40000"/>
              </a:schemeClr>
            </a:solidFill>
          </a:ln>
        </p:spPr>
        <p:style>
          <a:lnRef idx="1">
            <a:schemeClr val="accent1"/>
          </a:lnRef>
          <a:fillRef idx="0">
            <a:schemeClr val="accent1"/>
          </a:fillRef>
          <a:effectRef idx="0">
            <a:schemeClr val="accent1"/>
          </a:effectRef>
          <a:fontRef idx="minor">
            <a:schemeClr val="tx1"/>
          </a:fontRef>
        </p:style>
      </p:cxnSp>
      <p:cxnSp>
        <p:nvCxnSpPr>
          <p:cNvPr id="233" name="直接连接符 232"/>
          <p:cNvCxnSpPr/>
          <p:nvPr/>
        </p:nvCxnSpPr>
        <p:spPr>
          <a:xfrm>
            <a:off x="6718935" y="2557145"/>
            <a:ext cx="249555"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cxnSp>
        <p:nvCxnSpPr>
          <p:cNvPr id="234" name="直接连接符 233"/>
          <p:cNvCxnSpPr/>
          <p:nvPr/>
        </p:nvCxnSpPr>
        <p:spPr>
          <a:xfrm>
            <a:off x="7346315" y="2557145"/>
            <a:ext cx="249555" cy="0"/>
          </a:xfrm>
          <a:prstGeom prst="line">
            <a:avLst/>
          </a:prstGeom>
          <a:ln>
            <a:solidFill>
              <a:schemeClr val="accent5"/>
            </a:solidFill>
          </a:ln>
        </p:spPr>
        <p:style>
          <a:lnRef idx="1">
            <a:schemeClr val="accent1"/>
          </a:lnRef>
          <a:fillRef idx="0">
            <a:schemeClr val="accent1"/>
          </a:fillRef>
          <a:effectRef idx="0">
            <a:schemeClr val="accent1"/>
          </a:effectRef>
          <a:fontRef idx="minor">
            <a:schemeClr val="tx1"/>
          </a:fontRef>
        </p:style>
      </p:cxnSp>
      <p:sp>
        <p:nvSpPr>
          <p:cNvPr id="235" name="文本框 234"/>
          <p:cNvSpPr txBox="1"/>
          <p:nvPr/>
        </p:nvSpPr>
        <p:spPr>
          <a:xfrm>
            <a:off x="6860540" y="2416810"/>
            <a:ext cx="613410" cy="2755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结果</a:t>
            </a:r>
            <a:endParaRPr kumimoji="0" lang="zh-CN" altLang="en-US" sz="1200" b="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6" name="文本框 235"/>
          <p:cNvSpPr txBox="1"/>
          <p:nvPr/>
        </p:nvSpPr>
        <p:spPr>
          <a:xfrm>
            <a:off x="6744335" y="2614295"/>
            <a:ext cx="844550" cy="2755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chemeClr val="accent5">
                    <a:alpha val="80000"/>
                  </a:schemeClr>
                </a:solidFill>
                <a:effectLst/>
                <a:uLnTx/>
                <a:uFillTx/>
                <a:latin typeface="微软雅黑" panose="020B0503020204020204" charset="-122"/>
                <a:ea typeface="微软雅黑" panose="020B0503020204020204" charset="-122"/>
                <a:cs typeface="微软雅黑" panose="020B0503020204020204" charset="-122"/>
              </a:rPr>
              <a:t>R</a:t>
            </a:r>
            <a:r>
              <a:rPr kumimoji="0" lang="en-US" alt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rPr>
              <a:t>esult</a:t>
            </a:r>
            <a:endParaRPr kumimoji="0" lang="en-US" altLang="zh-CN" sz="1200" b="0" i="0" u="none" strike="noStrike" kern="1200" cap="none" spc="0" normalizeH="0" baseline="0" noProof="0" dirty="0">
              <a:ln>
                <a:noFill/>
              </a:ln>
              <a:solidFill>
                <a:schemeClr val="tx2">
                  <a:alpha val="80000"/>
                </a:schemeClr>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7" name="文本框 236"/>
          <p:cNvSpPr txBox="1"/>
          <p:nvPr/>
        </p:nvSpPr>
        <p:spPr>
          <a:xfrm>
            <a:off x="6745605" y="2837180"/>
            <a:ext cx="84455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15%</a:t>
            </a:r>
            <a:endParaRPr kumimoji="0" lang="en-US" altLang="zh-CN" sz="18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8" name="文本框 237"/>
          <p:cNvSpPr txBox="1"/>
          <p:nvPr/>
        </p:nvSpPr>
        <p:spPr>
          <a:xfrm>
            <a:off x="6656070" y="3124835"/>
            <a:ext cx="1022985" cy="2755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销售额上涨</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39" name="文本框 238"/>
          <p:cNvSpPr txBox="1"/>
          <p:nvPr/>
        </p:nvSpPr>
        <p:spPr>
          <a:xfrm>
            <a:off x="6745605" y="3317875"/>
            <a:ext cx="844550" cy="36830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rPr>
              <a:t>3%</a:t>
            </a:r>
            <a:endParaRPr kumimoji="0" lang="en-US" altLang="zh-CN" sz="1800" b="1"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40" name="文本框 239"/>
          <p:cNvSpPr txBox="1"/>
          <p:nvPr/>
        </p:nvSpPr>
        <p:spPr>
          <a:xfrm>
            <a:off x="6593840" y="3604895"/>
            <a:ext cx="1153795" cy="27559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rPr>
              <a:t>市场份额提高</a:t>
            </a:r>
            <a:endParaRPr kumimoji="0" lang="zh-CN" altLang="en-US" sz="12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endParaRPr>
          </a:p>
        </p:txBody>
      </p:sp>
      <p:pic>
        <p:nvPicPr>
          <p:cNvPr id="4" name="图片 3"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0" name="组合 9"/>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sz="2500" dirty="0">
                <a:solidFill>
                  <a:schemeClr val="tx2"/>
                </a:solidFill>
                <a:effectLst/>
                <a:latin typeface="微软雅黑" panose="020B0503020204020204" charset="-122"/>
                <a:ea typeface="微软雅黑" panose="020B0503020204020204" charset="-122"/>
                <a:cs typeface="微软雅黑" panose="020B0503020204020204" charset="-122"/>
              </a:rPr>
              <a:t>费曼学习法模型</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174" name="组合 173"/>
          <p:cNvGrpSpPr/>
          <p:nvPr/>
        </p:nvGrpSpPr>
        <p:grpSpPr>
          <a:xfrm flipV="1">
            <a:off x="7024578" y="4599948"/>
            <a:ext cx="1328676" cy="1328676"/>
            <a:chOff x="7024578" y="1649169"/>
            <a:chExt cx="1328676" cy="1328676"/>
          </a:xfrm>
        </p:grpSpPr>
        <p:cxnSp>
          <p:nvCxnSpPr>
            <p:cNvPr id="175" name="直线连接符 174"/>
            <p:cNvCxnSpPr/>
            <p:nvPr/>
          </p:nvCxnSpPr>
          <p:spPr>
            <a:xfrm flipH="1">
              <a:off x="7024578" y="1649752"/>
              <a:ext cx="1328676" cy="0"/>
            </a:xfrm>
            <a:prstGeom prst="line">
              <a:avLst/>
            </a:prstGeom>
            <a:ln w="15875">
              <a:solidFill>
                <a:schemeClr val="tx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6" name="直线连接符 175"/>
            <p:cNvCxnSpPr/>
            <p:nvPr/>
          </p:nvCxnSpPr>
          <p:spPr>
            <a:xfrm rot="16200000" flipH="1">
              <a:off x="6360240" y="2313507"/>
              <a:ext cx="1328676" cy="0"/>
            </a:xfrm>
            <a:prstGeom prst="line">
              <a:avLst/>
            </a:prstGeom>
            <a:ln w="15875">
              <a:solidFill>
                <a:schemeClr val="tx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59" name="组合 158"/>
          <p:cNvGrpSpPr/>
          <p:nvPr/>
        </p:nvGrpSpPr>
        <p:grpSpPr>
          <a:xfrm>
            <a:off x="7024578" y="1649169"/>
            <a:ext cx="1328676" cy="1328676"/>
            <a:chOff x="7024578" y="1649169"/>
            <a:chExt cx="1328676" cy="1328676"/>
          </a:xfrm>
        </p:grpSpPr>
        <p:cxnSp>
          <p:nvCxnSpPr>
            <p:cNvPr id="156" name="直线连接符 155"/>
            <p:cNvCxnSpPr>
              <a:stCxn id="122" idx="3"/>
            </p:cNvCxnSpPr>
            <p:nvPr/>
          </p:nvCxnSpPr>
          <p:spPr>
            <a:xfrm flipH="1">
              <a:off x="7024578" y="1649752"/>
              <a:ext cx="1328676" cy="0"/>
            </a:xfrm>
            <a:prstGeom prst="line">
              <a:avLst/>
            </a:prstGeom>
            <a:ln w="15875">
              <a:solidFill>
                <a:schemeClr val="tx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58" name="直线连接符 157"/>
            <p:cNvCxnSpPr/>
            <p:nvPr/>
          </p:nvCxnSpPr>
          <p:spPr>
            <a:xfrm rot="16200000" flipH="1">
              <a:off x="6360240" y="2313507"/>
              <a:ext cx="1328676" cy="0"/>
            </a:xfrm>
            <a:prstGeom prst="line">
              <a:avLst/>
            </a:prstGeom>
            <a:ln w="15875">
              <a:solidFill>
                <a:schemeClr val="tx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3" name="任意形状 6"/>
          <p:cNvSpPr/>
          <p:nvPr/>
        </p:nvSpPr>
        <p:spPr>
          <a:xfrm rot="16200000">
            <a:off x="5858615" y="3525634"/>
            <a:ext cx="1506290" cy="1500232"/>
          </a:xfrm>
          <a:custGeom>
            <a:avLst/>
            <a:gdLst>
              <a:gd name="connsiteX0" fmla="*/ 1506290 w 1506290"/>
              <a:gd name="connsiteY0" fmla="*/ 572433 h 1500232"/>
              <a:gd name="connsiteX1" fmla="*/ 578491 w 1506290"/>
              <a:gd name="connsiteY1" fmla="*/ 1500232 h 1500232"/>
              <a:gd name="connsiteX2" fmla="*/ 0 w 1506290"/>
              <a:gd name="connsiteY2" fmla="*/ 921741 h 1500232"/>
              <a:gd name="connsiteX3" fmla="*/ 921741 w 1506290"/>
              <a:gd name="connsiteY3" fmla="*/ 0 h 1500232"/>
              <a:gd name="connsiteX4" fmla="*/ 921741 w 1506290"/>
              <a:gd name="connsiteY4" fmla="*/ 572433 h 1500232"/>
              <a:gd name="connsiteX5" fmla="*/ 1506290 w 1506290"/>
              <a:gd name="connsiteY5" fmla="*/ 572433 h 15002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06290" h="1500232">
                <a:moveTo>
                  <a:pt x="1506290" y="572433"/>
                </a:moveTo>
                <a:lnTo>
                  <a:pt x="578491" y="1500232"/>
                </a:lnTo>
                <a:lnTo>
                  <a:pt x="0" y="921741"/>
                </a:lnTo>
                <a:lnTo>
                  <a:pt x="921741" y="0"/>
                </a:lnTo>
                <a:lnTo>
                  <a:pt x="921741" y="572433"/>
                </a:lnTo>
                <a:lnTo>
                  <a:pt x="1506290" y="572433"/>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4" name="任意形状 7"/>
          <p:cNvSpPr/>
          <p:nvPr/>
        </p:nvSpPr>
        <p:spPr>
          <a:xfrm rot="8100000">
            <a:off x="6902035" y="3730057"/>
            <a:ext cx="2821728" cy="1673693"/>
          </a:xfrm>
          <a:custGeom>
            <a:avLst/>
            <a:gdLst>
              <a:gd name="connsiteX0" fmla="*/ 0 w 2821728"/>
              <a:gd name="connsiteY0" fmla="*/ 1038916 h 1673693"/>
              <a:gd name="connsiteX1" fmla="*/ 0 w 2821728"/>
              <a:gd name="connsiteY1" fmla="*/ 435068 h 1673693"/>
              <a:gd name="connsiteX2" fmla="*/ 41950 w 2821728"/>
              <a:gd name="connsiteY2" fmla="*/ 396255 h 1673693"/>
              <a:gd name="connsiteX3" fmla="*/ 1108581 w 2821728"/>
              <a:gd name="connsiteY3" fmla="*/ 139 h 1673693"/>
              <a:gd name="connsiteX4" fmla="*/ 2821728 w 2821728"/>
              <a:gd name="connsiteY4" fmla="*/ 1656748 h 1673693"/>
              <a:gd name="connsiteX5" fmla="*/ 2008627 w 2821728"/>
              <a:gd name="connsiteY5" fmla="*/ 1673693 h 1673693"/>
              <a:gd name="connsiteX6" fmla="*/ 1118922 w 2821728"/>
              <a:gd name="connsiteY6" fmla="*/ 813350 h 1673693"/>
              <a:gd name="connsiteX7" fmla="*/ 564978 w 2821728"/>
              <a:gd name="connsiteY7" fmla="*/ 1019069 h 1673693"/>
              <a:gd name="connsiteX8" fmla="*/ 543527 w 2821728"/>
              <a:gd name="connsiteY8" fmla="*/ 1038917 h 1673693"/>
              <a:gd name="connsiteX9" fmla="*/ 0 w 2821728"/>
              <a:gd name="connsiteY9" fmla="*/ 1038916 h 1673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821728" h="1673693">
                <a:moveTo>
                  <a:pt x="0" y="1038916"/>
                </a:moveTo>
                <a:lnTo>
                  <a:pt x="0" y="435068"/>
                </a:lnTo>
                <a:lnTo>
                  <a:pt x="41950" y="396255"/>
                </a:lnTo>
                <a:cubicBezTo>
                  <a:pt x="330770" y="153439"/>
                  <a:pt x="702132" y="5307"/>
                  <a:pt x="1108581" y="139"/>
                </a:cubicBezTo>
                <a:cubicBezTo>
                  <a:pt x="2037610" y="-11675"/>
                  <a:pt x="2802370" y="727847"/>
                  <a:pt x="2821728" y="1656748"/>
                </a:cubicBezTo>
                <a:lnTo>
                  <a:pt x="2008627" y="1673693"/>
                </a:lnTo>
                <a:cubicBezTo>
                  <a:pt x="1998574" y="1191278"/>
                  <a:pt x="1601404" y="807215"/>
                  <a:pt x="1118922" y="813350"/>
                </a:cubicBezTo>
                <a:cubicBezTo>
                  <a:pt x="907837" y="816034"/>
                  <a:pt x="714974" y="892965"/>
                  <a:pt x="564978" y="1019069"/>
                </a:cubicBezTo>
                <a:lnTo>
                  <a:pt x="543527" y="1038917"/>
                </a:lnTo>
                <a:lnTo>
                  <a:pt x="0" y="1038916"/>
                </a:lnTo>
                <a:close/>
              </a:path>
            </a:pathLst>
          </a:cu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20" name="矩形 19"/>
          <p:cNvSpPr/>
          <p:nvPr/>
        </p:nvSpPr>
        <p:spPr>
          <a:xfrm rot="18900000">
            <a:off x="6364565" y="2703884"/>
            <a:ext cx="756880" cy="81811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21" name="任意形状 5"/>
          <p:cNvSpPr/>
          <p:nvPr/>
        </p:nvSpPr>
        <p:spPr>
          <a:xfrm rot="8100000">
            <a:off x="7484803" y="1545619"/>
            <a:ext cx="1688901" cy="2883907"/>
          </a:xfrm>
          <a:custGeom>
            <a:avLst/>
            <a:gdLst>
              <a:gd name="connsiteX0" fmla="*/ 496213 w 1688901"/>
              <a:gd name="connsiteY0" fmla="*/ 2388979 h 2883907"/>
              <a:gd name="connsiteX1" fmla="*/ 18 w 1688901"/>
              <a:gd name="connsiteY1" fmla="*/ 1199689 h 2883907"/>
              <a:gd name="connsiteX2" fmla="*/ 485267 w 1688901"/>
              <a:gd name="connsiteY2" fmla="*/ 5892 h 2883907"/>
              <a:gd name="connsiteX3" fmla="*/ 491635 w 1688901"/>
              <a:gd name="connsiteY3" fmla="*/ 0 h 2883907"/>
              <a:gd name="connsiteX4" fmla="*/ 491635 w 1688901"/>
              <a:gd name="connsiteY4" fmla="*/ 604459 h 2883907"/>
              <a:gd name="connsiteX5" fmla="*/ 1039836 w 1688901"/>
              <a:gd name="connsiteY5" fmla="*/ 604459 h 2883907"/>
              <a:gd name="connsiteX6" fmla="*/ 1009389 w 1688901"/>
              <a:gd name="connsiteY6" fmla="*/ 638532 h 2883907"/>
              <a:gd name="connsiteX7" fmla="*/ 813287 w 1688901"/>
              <a:gd name="connsiteY7" fmla="*/ 1195954 h 2883907"/>
              <a:gd name="connsiteX8" fmla="*/ 1688901 w 1688901"/>
              <a:gd name="connsiteY8" fmla="*/ 2070636 h 2883907"/>
              <a:gd name="connsiteX9" fmla="*/ 1686030 w 1688901"/>
              <a:gd name="connsiteY9" fmla="*/ 2883907 h 2883907"/>
              <a:gd name="connsiteX10" fmla="*/ 496213 w 1688901"/>
              <a:gd name="connsiteY10" fmla="*/ 2388979 h 28839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88901" h="2883907">
                <a:moveTo>
                  <a:pt x="496213" y="2388979"/>
                </a:moveTo>
                <a:cubicBezTo>
                  <a:pt x="191380" y="2084471"/>
                  <a:pt x="2152" y="1664236"/>
                  <a:pt x="18" y="1199689"/>
                </a:cubicBezTo>
                <a:cubicBezTo>
                  <a:pt x="-2115" y="735142"/>
                  <a:pt x="183245" y="313187"/>
                  <a:pt x="485267" y="5892"/>
                </a:cubicBezTo>
                <a:lnTo>
                  <a:pt x="491635" y="0"/>
                </a:lnTo>
                <a:lnTo>
                  <a:pt x="491635" y="604459"/>
                </a:lnTo>
                <a:lnTo>
                  <a:pt x="1039836" y="604459"/>
                </a:lnTo>
                <a:lnTo>
                  <a:pt x="1009389" y="638532"/>
                </a:lnTo>
                <a:cubicBezTo>
                  <a:pt x="885899" y="790688"/>
                  <a:pt x="812318" y="984854"/>
                  <a:pt x="813287" y="1195954"/>
                </a:cubicBezTo>
                <a:cubicBezTo>
                  <a:pt x="815503" y="1678470"/>
                  <a:pt x="1206383" y="2068934"/>
                  <a:pt x="1688901" y="2070636"/>
                </a:cubicBezTo>
                <a:lnTo>
                  <a:pt x="1686030" y="2883907"/>
                </a:lnTo>
                <a:cubicBezTo>
                  <a:pt x="1221481" y="2882268"/>
                  <a:pt x="801045" y="2693487"/>
                  <a:pt x="496213" y="2388979"/>
                </a:cubicBezTo>
                <a:close/>
              </a:path>
            </a:pathLst>
          </a:cu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grpSp>
        <p:nvGrpSpPr>
          <p:cNvPr id="171" name="组合 170"/>
          <p:cNvGrpSpPr/>
          <p:nvPr/>
        </p:nvGrpSpPr>
        <p:grpSpPr>
          <a:xfrm flipH="1" flipV="1">
            <a:off x="3799111" y="4599948"/>
            <a:ext cx="1328676" cy="1328676"/>
            <a:chOff x="7024578" y="1649169"/>
            <a:chExt cx="1328676" cy="1328676"/>
          </a:xfrm>
        </p:grpSpPr>
        <p:cxnSp>
          <p:nvCxnSpPr>
            <p:cNvPr id="172" name="直线连接符 171"/>
            <p:cNvCxnSpPr/>
            <p:nvPr/>
          </p:nvCxnSpPr>
          <p:spPr>
            <a:xfrm flipH="1">
              <a:off x="7024578" y="1649752"/>
              <a:ext cx="1328676" cy="0"/>
            </a:xfrm>
            <a:prstGeom prst="line">
              <a:avLst/>
            </a:prstGeom>
            <a:ln w="15875">
              <a:solidFill>
                <a:schemeClr val="tx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73" name="直线连接符 172"/>
            <p:cNvCxnSpPr/>
            <p:nvPr/>
          </p:nvCxnSpPr>
          <p:spPr>
            <a:xfrm rot="16200000" flipH="1">
              <a:off x="6360240" y="2313507"/>
              <a:ext cx="1328676" cy="0"/>
            </a:xfrm>
            <a:prstGeom prst="line">
              <a:avLst/>
            </a:prstGeom>
            <a:ln w="15875">
              <a:solidFill>
                <a:schemeClr val="tx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grpSp>
      <p:grpSp>
        <p:nvGrpSpPr>
          <p:cNvPr id="161" name="组合 160"/>
          <p:cNvGrpSpPr/>
          <p:nvPr/>
        </p:nvGrpSpPr>
        <p:grpSpPr>
          <a:xfrm flipH="1">
            <a:off x="3799111" y="1649169"/>
            <a:ext cx="1328676" cy="1328676"/>
            <a:chOff x="7024578" y="1649169"/>
            <a:chExt cx="1328676" cy="1328676"/>
          </a:xfrm>
        </p:grpSpPr>
        <p:cxnSp>
          <p:nvCxnSpPr>
            <p:cNvPr id="162" name="直线连接符 161"/>
            <p:cNvCxnSpPr/>
            <p:nvPr/>
          </p:nvCxnSpPr>
          <p:spPr>
            <a:xfrm flipH="1">
              <a:off x="7024578" y="1649752"/>
              <a:ext cx="1328676" cy="0"/>
            </a:xfrm>
            <a:prstGeom prst="line">
              <a:avLst/>
            </a:prstGeom>
            <a:ln w="15875">
              <a:solidFill>
                <a:schemeClr val="tx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63" name="直线连接符 162"/>
            <p:cNvCxnSpPr/>
            <p:nvPr/>
          </p:nvCxnSpPr>
          <p:spPr>
            <a:xfrm rot="16200000" flipH="1">
              <a:off x="6360240" y="2313507"/>
              <a:ext cx="1328676" cy="0"/>
            </a:xfrm>
            <a:prstGeom prst="line">
              <a:avLst/>
            </a:prstGeom>
            <a:ln w="15875">
              <a:solidFill>
                <a:schemeClr val="tx2">
                  <a:lumMod val="60000"/>
                  <a:lumOff val="40000"/>
                </a:schemeClr>
              </a:solidFill>
              <a:prstDash val="dash"/>
            </a:ln>
          </p:spPr>
          <p:style>
            <a:lnRef idx="1">
              <a:schemeClr val="accent1"/>
            </a:lnRef>
            <a:fillRef idx="0">
              <a:schemeClr val="accent1"/>
            </a:fillRef>
            <a:effectRef idx="0">
              <a:schemeClr val="accent1"/>
            </a:effectRef>
            <a:fontRef idx="minor">
              <a:schemeClr val="tx1"/>
            </a:fontRef>
          </p:style>
        </p:cxnSp>
      </p:grpSp>
      <p:sp>
        <p:nvSpPr>
          <p:cNvPr id="22" name="箭头: 五边形 14"/>
          <p:cNvSpPr/>
          <p:nvPr/>
        </p:nvSpPr>
        <p:spPr>
          <a:xfrm rot="10800000" flipH="1">
            <a:off x="363209" y="1114667"/>
            <a:ext cx="3478822" cy="1070170"/>
          </a:xfrm>
          <a:prstGeom prst="homePlate">
            <a:avLst>
              <a:gd name="adj" fmla="val 49789"/>
            </a:avLst>
          </a:prstGeom>
          <a:solidFill>
            <a:schemeClr val="accent1">
              <a:lumMod val="20000"/>
              <a:lumOff val="80000"/>
              <a:alpha val="50000"/>
            </a:schemeClr>
          </a:solidFill>
          <a:ln w="12700" cap="flat" cmpd="sng" algn="ctr">
            <a:solidFill>
              <a:schemeClr val="accent1">
                <a:lumMod val="60000"/>
                <a:lumOff val="40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0" cap="none" spc="0" normalizeH="0" baseline="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endParaRPr>
          </a:p>
        </p:txBody>
      </p:sp>
      <p:sp>
        <p:nvSpPr>
          <p:cNvPr id="86" name="矩形 85"/>
          <p:cNvSpPr/>
          <p:nvPr/>
        </p:nvSpPr>
        <p:spPr>
          <a:xfrm rot="18900000">
            <a:off x="5005705" y="4003040"/>
            <a:ext cx="876300" cy="817880"/>
          </a:xfrm>
          <a:prstGeom prst="rect">
            <a:avLst/>
          </a:pr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88" name="任意形状 87"/>
          <p:cNvSpPr/>
          <p:nvPr/>
        </p:nvSpPr>
        <p:spPr>
          <a:xfrm rot="8100000">
            <a:off x="2434590" y="2133600"/>
            <a:ext cx="2864485" cy="1688465"/>
          </a:xfrm>
          <a:custGeom>
            <a:avLst/>
            <a:gdLst>
              <a:gd name="connsiteX0" fmla="*/ 495895 w 2864787"/>
              <a:gd name="connsiteY0" fmla="*/ 1193437 h 1688680"/>
              <a:gd name="connsiteX1" fmla="*/ 0 w 2864787"/>
              <a:gd name="connsiteY1" fmla="*/ 3124 h 1688680"/>
              <a:gd name="connsiteX2" fmla="*/ 820378 w 2864787"/>
              <a:gd name="connsiteY2" fmla="*/ 0 h 1688680"/>
              <a:gd name="connsiteX3" fmla="*/ 1689155 w 2864787"/>
              <a:gd name="connsiteY3" fmla="*/ 868293 h 1688680"/>
              <a:gd name="connsiteX4" fmla="*/ 2242124 w 2864787"/>
              <a:gd name="connsiteY4" fmla="*/ 672778 h 1688680"/>
              <a:gd name="connsiteX5" fmla="*/ 2297482 w 2864787"/>
              <a:gd name="connsiteY5" fmla="*/ 623127 h 1688680"/>
              <a:gd name="connsiteX6" fmla="*/ 2297482 w 2864787"/>
              <a:gd name="connsiteY6" fmla="*/ 1215080 h 1688680"/>
              <a:gd name="connsiteX7" fmla="*/ 2864787 w 2864787"/>
              <a:gd name="connsiteY7" fmla="*/ 1215080 h 1688680"/>
              <a:gd name="connsiteX8" fmla="*/ 2759921 w 2864787"/>
              <a:gd name="connsiteY8" fmla="*/ 1309136 h 1688680"/>
              <a:gd name="connsiteX9" fmla="*/ 1686485 w 2864787"/>
              <a:gd name="connsiteY9" fmla="*/ 1688671 h 1688680"/>
              <a:gd name="connsiteX10" fmla="*/ 495895 w 2864787"/>
              <a:gd name="connsiteY10" fmla="*/ 1193437 h 1688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64787" h="1688680">
                <a:moveTo>
                  <a:pt x="495895" y="1193437"/>
                </a:moveTo>
                <a:cubicBezTo>
                  <a:pt x="190942" y="888654"/>
                  <a:pt x="1771" y="468023"/>
                  <a:pt x="0" y="3124"/>
                </a:cubicBezTo>
                <a:lnTo>
                  <a:pt x="820378" y="0"/>
                </a:lnTo>
                <a:cubicBezTo>
                  <a:pt x="822203" y="478976"/>
                  <a:pt x="1210178" y="866735"/>
                  <a:pt x="1689155" y="868293"/>
                </a:cubicBezTo>
                <a:cubicBezTo>
                  <a:pt x="1898707" y="868974"/>
                  <a:pt x="2091322" y="795623"/>
                  <a:pt x="2242124" y="672778"/>
                </a:cubicBezTo>
                <a:lnTo>
                  <a:pt x="2297482" y="623127"/>
                </a:lnTo>
                <a:lnTo>
                  <a:pt x="2297482" y="1215080"/>
                </a:lnTo>
                <a:lnTo>
                  <a:pt x="2864787" y="1215080"/>
                </a:lnTo>
                <a:lnTo>
                  <a:pt x="2759921" y="1309136"/>
                </a:lnTo>
                <a:cubicBezTo>
                  <a:pt x="2467181" y="1547603"/>
                  <a:pt x="2093272" y="1689994"/>
                  <a:pt x="1686485" y="1688671"/>
                </a:cubicBezTo>
                <a:cubicBezTo>
                  <a:pt x="1221585" y="1687159"/>
                  <a:pt x="800849" y="1498222"/>
                  <a:pt x="495895" y="1193437"/>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89" name="任意形状 88"/>
          <p:cNvSpPr/>
          <p:nvPr/>
        </p:nvSpPr>
        <p:spPr>
          <a:xfrm rot="8100000">
            <a:off x="3035300" y="3141980"/>
            <a:ext cx="1677035" cy="2834005"/>
          </a:xfrm>
          <a:custGeom>
            <a:avLst/>
            <a:gdLst>
              <a:gd name="connsiteX0" fmla="*/ 660881 w 1676857"/>
              <a:gd name="connsiteY0" fmla="*/ 2833809 h 2833809"/>
              <a:gd name="connsiteX1" fmla="*/ 660881 w 1676857"/>
              <a:gd name="connsiteY1" fmla="*/ 2241189 h 2833809"/>
              <a:gd name="connsiteX2" fmla="*/ 703881 w 1676857"/>
              <a:gd name="connsiteY2" fmla="*/ 2184562 h 2833809"/>
              <a:gd name="connsiteX3" fmla="*/ 856427 w 1676857"/>
              <a:gd name="connsiteY3" fmla="*/ 1700734 h 2833809"/>
              <a:gd name="connsiteX4" fmla="*/ 0 w 1676857"/>
              <a:gd name="connsiteY4" fmla="*/ 820260 h 2833809"/>
              <a:gd name="connsiteX5" fmla="*/ 14252 w 1676857"/>
              <a:gd name="connsiteY5" fmla="*/ 0 h 2833809"/>
              <a:gd name="connsiteX6" fmla="*/ 1676766 w 1676857"/>
              <a:gd name="connsiteY6" fmla="*/ 1709195 h 2833809"/>
              <a:gd name="connsiteX7" fmla="*/ 1282704 w 1676857"/>
              <a:gd name="connsiteY7" fmla="*/ 2777383 h 2833809"/>
              <a:gd name="connsiteX8" fmla="*/ 1230697 w 1676857"/>
              <a:gd name="connsiteY8" fmla="*/ 2833809 h 2833809"/>
              <a:gd name="connsiteX9" fmla="*/ 660881 w 1676857"/>
              <a:gd name="connsiteY9" fmla="*/ 2833809 h 28338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676857" h="2833809">
                <a:moveTo>
                  <a:pt x="660881" y="2833809"/>
                </a:moveTo>
                <a:lnTo>
                  <a:pt x="660881" y="2241189"/>
                </a:lnTo>
                <a:lnTo>
                  <a:pt x="703881" y="2184562"/>
                </a:lnTo>
                <a:cubicBezTo>
                  <a:pt x="798504" y="2046770"/>
                  <a:pt x="854574" y="1880342"/>
                  <a:pt x="856427" y="1700734"/>
                </a:cubicBezTo>
                <a:cubicBezTo>
                  <a:pt x="861367" y="1221781"/>
                  <a:pt x="478906" y="828581"/>
                  <a:pt x="0" y="820260"/>
                </a:cubicBezTo>
                <a:lnTo>
                  <a:pt x="14252" y="0"/>
                </a:lnTo>
                <a:cubicBezTo>
                  <a:pt x="943915" y="16155"/>
                  <a:pt x="1686355" y="779441"/>
                  <a:pt x="1676766" y="1709195"/>
                </a:cubicBezTo>
                <a:cubicBezTo>
                  <a:pt x="1672570" y="2115963"/>
                  <a:pt x="1525120" y="2487905"/>
                  <a:pt x="1282704" y="2777383"/>
                </a:cubicBezTo>
                <a:lnTo>
                  <a:pt x="1230697" y="2833809"/>
                </a:lnTo>
                <a:lnTo>
                  <a:pt x="660881" y="2833809"/>
                </a:lnTo>
                <a:close/>
              </a:path>
            </a:pathLst>
          </a:custGeom>
          <a:solidFill>
            <a:schemeClr val="accent5">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sp>
        <p:nvSpPr>
          <p:cNvPr id="90" name="任意形状 89"/>
          <p:cNvSpPr/>
          <p:nvPr/>
        </p:nvSpPr>
        <p:spPr>
          <a:xfrm rot="16200000">
            <a:off x="4853940" y="2503170"/>
            <a:ext cx="1522730" cy="1534795"/>
          </a:xfrm>
          <a:custGeom>
            <a:avLst/>
            <a:gdLst>
              <a:gd name="connsiteX0" fmla="*/ 1522784 w 1522784"/>
              <a:gd name="connsiteY0" fmla="*/ 578491 h 1534960"/>
              <a:gd name="connsiteX1" fmla="*/ 566315 w 1522784"/>
              <a:gd name="connsiteY1" fmla="*/ 1534960 h 1534960"/>
              <a:gd name="connsiteX2" fmla="*/ 0 w 1522784"/>
              <a:gd name="connsiteY2" fmla="*/ 1534960 h 1534960"/>
              <a:gd name="connsiteX3" fmla="*/ 0 w 1522784"/>
              <a:gd name="connsiteY3" fmla="*/ 944293 h 1534960"/>
              <a:gd name="connsiteX4" fmla="*/ 944293 w 1522784"/>
              <a:gd name="connsiteY4" fmla="*/ 0 h 1534960"/>
              <a:gd name="connsiteX5" fmla="*/ 1522784 w 1522784"/>
              <a:gd name="connsiteY5" fmla="*/ 578491 h 153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22784" h="1534960">
                <a:moveTo>
                  <a:pt x="1522784" y="578491"/>
                </a:moveTo>
                <a:lnTo>
                  <a:pt x="566315" y="1534960"/>
                </a:lnTo>
                <a:lnTo>
                  <a:pt x="0" y="1534960"/>
                </a:lnTo>
                <a:lnTo>
                  <a:pt x="0" y="944293"/>
                </a:lnTo>
                <a:lnTo>
                  <a:pt x="944293" y="0"/>
                </a:lnTo>
                <a:lnTo>
                  <a:pt x="1522784" y="578491"/>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endParaRPr>
          </a:p>
        </p:txBody>
      </p:sp>
      <p:grpSp>
        <p:nvGrpSpPr>
          <p:cNvPr id="37" name="组合 36"/>
          <p:cNvGrpSpPr/>
          <p:nvPr/>
        </p:nvGrpSpPr>
        <p:grpSpPr>
          <a:xfrm>
            <a:off x="703580" y="3386138"/>
            <a:ext cx="722630" cy="860425"/>
            <a:chOff x="1093" y="5275"/>
            <a:chExt cx="1138" cy="1355"/>
          </a:xfrm>
        </p:grpSpPr>
        <p:sp>
          <p:nvSpPr>
            <p:cNvPr id="94" name="文本框 93"/>
            <p:cNvSpPr txBox="1"/>
            <p:nvPr/>
          </p:nvSpPr>
          <p:spPr>
            <a:xfrm>
              <a:off x="1093" y="6146"/>
              <a:ext cx="1139" cy="485"/>
            </a:xfrm>
            <a:prstGeom prst="rect">
              <a:avLst/>
            </a:prstGeom>
            <a:noFill/>
          </p:spPr>
          <p:txBody>
            <a:bodyPr wrap="none" rtlCol="0">
              <a:spAutoFit/>
            </a:bodyPr>
            <a:lstStyle/>
            <a:p>
              <a:pPr algn="ctr"/>
              <a:r>
                <a:rPr lang="zh-CN" altLang="en-US" sz="1400" dirty="0">
                  <a:solidFill>
                    <a:schemeClr val="accent1"/>
                  </a:solidFill>
                  <a:latin typeface="微软雅黑" panose="020B0503020204020204" charset="-122"/>
                  <a:ea typeface="微软雅黑" panose="020B0503020204020204" charset="-122"/>
                  <a:cs typeface="微软雅黑" panose="020B0503020204020204" charset="-122"/>
                </a:rPr>
                <a:t>新用户</a:t>
              </a:r>
              <a:endParaRPr lang="zh-CN" altLang="en-US" sz="1400" dirty="0">
                <a:solidFill>
                  <a:schemeClr val="accent1"/>
                </a:solidFill>
                <a:latin typeface="微软雅黑" panose="020B0503020204020204" charset="-122"/>
                <a:ea typeface="微软雅黑" panose="020B0503020204020204" charset="-122"/>
                <a:cs typeface="微软雅黑" panose="020B0503020204020204" charset="-122"/>
              </a:endParaRPr>
            </a:p>
          </p:txBody>
        </p:sp>
        <p:pic>
          <p:nvPicPr>
            <p:cNvPr id="95" name="图形 47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03" y="5275"/>
              <a:ext cx="918" cy="918"/>
            </a:xfrm>
            <a:prstGeom prst="rect">
              <a:avLst/>
            </a:prstGeom>
            <a:effectLst/>
          </p:spPr>
        </p:pic>
      </p:grpSp>
      <p:grpSp>
        <p:nvGrpSpPr>
          <p:cNvPr id="34" name="组合 33"/>
          <p:cNvGrpSpPr/>
          <p:nvPr/>
        </p:nvGrpSpPr>
        <p:grpSpPr>
          <a:xfrm>
            <a:off x="10697210" y="3387408"/>
            <a:ext cx="894080" cy="859155"/>
            <a:chOff x="16846" y="5276"/>
            <a:chExt cx="1408" cy="1353"/>
          </a:xfrm>
        </p:grpSpPr>
        <p:sp>
          <p:nvSpPr>
            <p:cNvPr id="110" name="文本框 109"/>
            <p:cNvSpPr txBox="1"/>
            <p:nvPr/>
          </p:nvSpPr>
          <p:spPr>
            <a:xfrm>
              <a:off x="16846" y="6147"/>
              <a:ext cx="1408" cy="483"/>
            </a:xfrm>
            <a:prstGeom prst="rect">
              <a:avLst/>
            </a:prstGeom>
            <a:noFill/>
          </p:spPr>
          <p:txBody>
            <a:bodyPr wrap="none" rtlCol="0">
              <a:spAutoFit/>
            </a:bodyPr>
            <a:lstStyle>
              <a:defPPr>
                <a:defRPr lang="zh-CN"/>
              </a:defPPr>
              <a:lvl1pPr algn="ctr">
                <a:defRPr sz="1400">
                  <a:solidFill>
                    <a:schemeClr val="accent3"/>
                  </a:solidFill>
                  <a:latin typeface="OPPOSans R" panose="00020600040101010101" charset="-122"/>
                  <a:ea typeface="OPPOSans R" panose="00020600040101010101" charset="-122"/>
                  <a:cs typeface="OPPOSans R" panose="00020600040101010101" charset="-122"/>
                </a:defRPr>
              </a:lvl1pPr>
            </a:lstStyle>
            <a:p>
              <a:r>
                <a:rPr lang="zh-CN" altLang="en-US" dirty="0">
                  <a:solidFill>
                    <a:schemeClr val="accent5"/>
                  </a:solidFill>
                  <a:latin typeface="微软雅黑" panose="020B0503020204020204" charset="-122"/>
                  <a:ea typeface="微软雅黑" panose="020B0503020204020204" charset="-122"/>
                  <a:cs typeface="微软雅黑" panose="020B0503020204020204" charset="-122"/>
                </a:rPr>
                <a:t>忠实用户</a:t>
              </a:r>
              <a:endParaRPr lang="zh-CN" altLang="en-US" dirty="0">
                <a:solidFill>
                  <a:schemeClr val="accent5"/>
                </a:solidFill>
                <a:latin typeface="微软雅黑" panose="020B0503020204020204" charset="-122"/>
                <a:ea typeface="微软雅黑" panose="020B0503020204020204" charset="-122"/>
                <a:cs typeface="微软雅黑" panose="020B0503020204020204" charset="-122"/>
              </a:endParaRPr>
            </a:p>
          </p:txBody>
        </p:sp>
        <p:pic>
          <p:nvPicPr>
            <p:cNvPr id="111" name="图形 47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7091" y="5276"/>
              <a:ext cx="918" cy="918"/>
            </a:xfrm>
            <a:prstGeom prst="rect">
              <a:avLst/>
            </a:prstGeom>
            <a:effectLst/>
          </p:spPr>
        </p:pic>
      </p:grpSp>
      <p:sp>
        <p:nvSpPr>
          <p:cNvPr id="112" name="矩形 111"/>
          <p:cNvSpPr/>
          <p:nvPr/>
        </p:nvSpPr>
        <p:spPr>
          <a:xfrm>
            <a:off x="3597308" y="2466287"/>
            <a:ext cx="1508746" cy="307777"/>
          </a:xfrm>
          <a:prstGeom prst="rect">
            <a:avLst/>
          </a:prstGeom>
        </p:spPr>
        <p:txBody>
          <a:bodyPr wrap="none">
            <a:spAutoFit/>
          </a:bodyPr>
          <a:lstStyle/>
          <a:p>
            <a:pPr algn="ctr"/>
            <a:r>
              <a:rPr lang="en-US" altLang="zh-CN" sz="1400" dirty="0">
                <a:solidFill>
                  <a:schemeClr val="bg2"/>
                </a:solidFill>
                <a:latin typeface="微软雅黑" panose="020B0503020204020204" charset="-122"/>
                <a:ea typeface="微软雅黑" panose="020B0503020204020204" charset="-122"/>
                <a:cs typeface="微软雅黑" panose="020B0503020204020204" charset="-122"/>
              </a:rPr>
              <a:t>Trigger</a:t>
            </a:r>
            <a:r>
              <a:rPr lang="zh-CN" altLang="en-US" sz="1400" dirty="0">
                <a:solidFill>
                  <a:schemeClr val="bg2"/>
                </a:solidFill>
                <a:latin typeface="微软雅黑" panose="020B0503020204020204" charset="-122"/>
                <a:ea typeface="微软雅黑" panose="020B0503020204020204" charset="-122"/>
                <a:cs typeface="微软雅黑" panose="020B0503020204020204" charset="-122"/>
              </a:rPr>
              <a:t>（触发）</a:t>
            </a:r>
            <a:endParaRPr lang="zh-CN" altLang="en-US" sz="140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113" name="矩形 112"/>
          <p:cNvSpPr/>
          <p:nvPr/>
        </p:nvSpPr>
        <p:spPr>
          <a:xfrm>
            <a:off x="3418573" y="4950479"/>
            <a:ext cx="1866217" cy="307777"/>
          </a:xfrm>
          <a:prstGeom prst="rect">
            <a:avLst/>
          </a:prstGeom>
        </p:spPr>
        <p:txBody>
          <a:bodyPr wrap="none">
            <a:spAutoFit/>
          </a:bodyPr>
          <a:lstStyle/>
          <a:p>
            <a:pPr algn="ctr"/>
            <a:r>
              <a:rPr lang="en-US" altLang="zh-CN" sz="1400" dirty="0">
                <a:solidFill>
                  <a:schemeClr val="bg2"/>
                </a:solidFill>
                <a:latin typeface="微软雅黑" panose="020B0503020204020204" charset="-122"/>
                <a:ea typeface="微软雅黑" panose="020B0503020204020204" charset="-122"/>
                <a:cs typeface="微软雅黑" panose="020B0503020204020204" charset="-122"/>
              </a:rPr>
              <a:t>Investment</a:t>
            </a:r>
            <a:r>
              <a:rPr lang="zh-CN" altLang="en-US" sz="1400" dirty="0">
                <a:solidFill>
                  <a:schemeClr val="bg2"/>
                </a:solidFill>
                <a:latin typeface="微软雅黑" panose="020B0503020204020204" charset="-122"/>
                <a:ea typeface="微软雅黑" panose="020B0503020204020204" charset="-122"/>
                <a:cs typeface="微软雅黑" panose="020B0503020204020204" charset="-122"/>
              </a:rPr>
              <a:t>（投入）</a:t>
            </a:r>
            <a:endParaRPr lang="zh-CN" altLang="en-US" sz="140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114" name="矩形 113"/>
          <p:cNvSpPr/>
          <p:nvPr/>
        </p:nvSpPr>
        <p:spPr>
          <a:xfrm>
            <a:off x="7218073" y="2466287"/>
            <a:ext cx="1566455" cy="307777"/>
          </a:xfrm>
          <a:prstGeom prst="rect">
            <a:avLst/>
          </a:prstGeom>
        </p:spPr>
        <p:txBody>
          <a:bodyPr wrap="none">
            <a:spAutoFit/>
          </a:bodyPr>
          <a:lstStyle/>
          <a:p>
            <a:pPr algn="ctr"/>
            <a:r>
              <a:rPr lang="en-US" altLang="zh-CN" sz="1400" dirty="0">
                <a:solidFill>
                  <a:schemeClr val="bg2"/>
                </a:solidFill>
                <a:latin typeface="微软雅黑" panose="020B0503020204020204" charset="-122"/>
                <a:ea typeface="微软雅黑" panose="020B0503020204020204" charset="-122"/>
                <a:cs typeface="微软雅黑" panose="020B0503020204020204" charset="-122"/>
              </a:rPr>
              <a:t>Reward</a:t>
            </a:r>
            <a:r>
              <a:rPr lang="zh-CN" altLang="en-US" sz="1400" dirty="0">
                <a:solidFill>
                  <a:schemeClr val="bg2"/>
                </a:solidFill>
                <a:latin typeface="微软雅黑" panose="020B0503020204020204" charset="-122"/>
                <a:ea typeface="微软雅黑" panose="020B0503020204020204" charset="-122"/>
                <a:cs typeface="微软雅黑" panose="020B0503020204020204" charset="-122"/>
              </a:rPr>
              <a:t>（奖励）</a:t>
            </a:r>
            <a:endParaRPr lang="zh-CN" altLang="en-US" sz="140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115" name="矩形 114"/>
          <p:cNvSpPr/>
          <p:nvPr/>
        </p:nvSpPr>
        <p:spPr>
          <a:xfrm>
            <a:off x="7277384" y="4950479"/>
            <a:ext cx="1447832" cy="307777"/>
          </a:xfrm>
          <a:prstGeom prst="rect">
            <a:avLst/>
          </a:prstGeom>
        </p:spPr>
        <p:txBody>
          <a:bodyPr wrap="none">
            <a:spAutoFit/>
          </a:bodyPr>
          <a:lstStyle/>
          <a:p>
            <a:pPr algn="ctr"/>
            <a:r>
              <a:rPr lang="en-US" altLang="zh-CN" sz="1400" dirty="0">
                <a:solidFill>
                  <a:schemeClr val="bg2"/>
                </a:solidFill>
                <a:latin typeface="微软雅黑" panose="020B0503020204020204" charset="-122"/>
                <a:ea typeface="微软雅黑" panose="020B0503020204020204" charset="-122"/>
                <a:cs typeface="微软雅黑" panose="020B0503020204020204" charset="-122"/>
              </a:rPr>
              <a:t>Action</a:t>
            </a:r>
            <a:r>
              <a:rPr lang="zh-CN" altLang="en-US" sz="1400" dirty="0">
                <a:solidFill>
                  <a:schemeClr val="bg2"/>
                </a:solidFill>
                <a:latin typeface="微软雅黑" panose="020B0503020204020204" charset="-122"/>
                <a:ea typeface="微软雅黑" panose="020B0503020204020204" charset="-122"/>
                <a:cs typeface="微软雅黑" panose="020B0503020204020204" charset="-122"/>
              </a:rPr>
              <a:t>（行动）</a:t>
            </a:r>
            <a:endParaRPr lang="zh-CN" altLang="en-US" sz="1400" dirty="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118" name="矩形 117"/>
          <p:cNvSpPr/>
          <p:nvPr/>
        </p:nvSpPr>
        <p:spPr>
          <a:xfrm>
            <a:off x="7537006" y="2108968"/>
            <a:ext cx="880369" cy="707886"/>
          </a:xfrm>
          <a:prstGeom prst="rect">
            <a:avLst/>
          </a:prstGeom>
        </p:spPr>
        <p:txBody>
          <a:bodyPr wrap="none">
            <a:spAutoFit/>
          </a:bodyPr>
          <a:lstStyle/>
          <a:p>
            <a:r>
              <a:rPr kumimoji="1" lang="en-US" altLang="zh-CN" sz="4000" dirty="0">
                <a:gradFill>
                  <a:gsLst>
                    <a:gs pos="0">
                      <a:schemeClr val="bg2">
                        <a:alpha val="50000"/>
                      </a:schemeClr>
                    </a:gs>
                    <a:gs pos="69000">
                      <a:schemeClr val="bg2">
                        <a:alpha val="0"/>
                      </a:schemeClr>
                    </a:gs>
                  </a:gsLst>
                  <a:lin ang="5400000" scaled="0"/>
                </a:gradFill>
                <a:latin typeface="微软雅黑" panose="020B0503020204020204" charset="-122"/>
                <a:ea typeface="微软雅黑" panose="020B0503020204020204" charset="-122"/>
                <a:cs typeface="微软雅黑" panose="020B0503020204020204" charset="-122"/>
              </a:rPr>
              <a:t>03</a:t>
            </a:r>
            <a:endParaRPr kumimoji="1" lang="en-US" altLang="zh-CN" sz="4000" dirty="0">
              <a:gradFill>
                <a:gsLst>
                  <a:gs pos="0">
                    <a:schemeClr val="bg2">
                      <a:alpha val="50000"/>
                    </a:schemeClr>
                  </a:gs>
                  <a:gs pos="69000">
                    <a:schemeClr val="bg2">
                      <a:alpha val="0"/>
                    </a:schemeClr>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119" name="矩形 118"/>
          <p:cNvSpPr/>
          <p:nvPr/>
        </p:nvSpPr>
        <p:spPr>
          <a:xfrm>
            <a:off x="7537006" y="4567884"/>
            <a:ext cx="880369" cy="707886"/>
          </a:xfrm>
          <a:prstGeom prst="rect">
            <a:avLst/>
          </a:prstGeom>
        </p:spPr>
        <p:txBody>
          <a:bodyPr wrap="none">
            <a:spAutoFit/>
          </a:bodyPr>
          <a:lstStyle/>
          <a:p>
            <a:r>
              <a:rPr kumimoji="1" lang="en-US" altLang="zh-CN" sz="4000">
                <a:gradFill>
                  <a:gsLst>
                    <a:gs pos="0">
                      <a:schemeClr val="bg2">
                        <a:alpha val="50000"/>
                      </a:schemeClr>
                    </a:gs>
                    <a:gs pos="69000">
                      <a:schemeClr val="bg2">
                        <a:alpha val="0"/>
                      </a:schemeClr>
                    </a:gs>
                  </a:gsLst>
                  <a:lin ang="5400000" scaled="0"/>
                </a:gradFill>
                <a:latin typeface="微软雅黑" panose="020B0503020204020204" charset="-122"/>
                <a:ea typeface="微软雅黑" panose="020B0503020204020204" charset="-122"/>
                <a:cs typeface="微软雅黑" panose="020B0503020204020204" charset="-122"/>
              </a:rPr>
              <a:t>0</a:t>
            </a:r>
            <a:r>
              <a:rPr kumimoji="1" lang="en-US" altLang="en-US" sz="4000" dirty="0">
                <a:gradFill>
                  <a:gsLst>
                    <a:gs pos="0">
                      <a:schemeClr val="bg2">
                        <a:alpha val="50000"/>
                      </a:schemeClr>
                    </a:gs>
                    <a:gs pos="69000">
                      <a:schemeClr val="bg2">
                        <a:alpha val="0"/>
                      </a:schemeClr>
                    </a:gs>
                  </a:gsLst>
                  <a:lin ang="5400000" scaled="0"/>
                </a:gradFill>
                <a:latin typeface="微软雅黑" panose="020B0503020204020204" charset="-122"/>
                <a:ea typeface="微软雅黑" panose="020B0503020204020204" charset="-122"/>
                <a:cs typeface="微软雅黑" panose="020B0503020204020204" charset="-122"/>
              </a:rPr>
              <a:t>2</a:t>
            </a:r>
            <a:endParaRPr kumimoji="1" lang="zh-CN" altLang="en-US" sz="4000" dirty="0">
              <a:gradFill>
                <a:gsLst>
                  <a:gs pos="0">
                    <a:schemeClr val="bg2">
                      <a:alpha val="50000"/>
                    </a:schemeClr>
                  </a:gs>
                  <a:gs pos="69000">
                    <a:schemeClr val="bg2">
                      <a:alpha val="0"/>
                    </a:schemeClr>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120" name="矩形 119"/>
          <p:cNvSpPr/>
          <p:nvPr/>
        </p:nvSpPr>
        <p:spPr>
          <a:xfrm>
            <a:off x="3858181" y="2108968"/>
            <a:ext cx="816249" cy="707886"/>
          </a:xfrm>
          <a:prstGeom prst="rect">
            <a:avLst/>
          </a:prstGeom>
        </p:spPr>
        <p:txBody>
          <a:bodyPr wrap="none">
            <a:spAutoFit/>
          </a:bodyPr>
          <a:lstStyle/>
          <a:p>
            <a:r>
              <a:rPr kumimoji="1" lang="en-US" altLang="zh-CN" sz="4000">
                <a:gradFill>
                  <a:gsLst>
                    <a:gs pos="0">
                      <a:schemeClr val="bg2">
                        <a:alpha val="50000"/>
                      </a:schemeClr>
                    </a:gs>
                    <a:gs pos="69000">
                      <a:schemeClr val="bg2">
                        <a:alpha val="0"/>
                      </a:schemeClr>
                    </a:gs>
                  </a:gsLst>
                  <a:lin ang="5400000" scaled="0"/>
                </a:gradFill>
                <a:latin typeface="微软雅黑" panose="020B0503020204020204" charset="-122"/>
                <a:ea typeface="微软雅黑" panose="020B0503020204020204" charset="-122"/>
                <a:cs typeface="微软雅黑" panose="020B0503020204020204" charset="-122"/>
              </a:rPr>
              <a:t>0</a:t>
            </a:r>
            <a:r>
              <a:rPr kumimoji="1" lang="en-US" altLang="en-US" sz="4000" dirty="0">
                <a:gradFill>
                  <a:gsLst>
                    <a:gs pos="0">
                      <a:schemeClr val="bg2">
                        <a:alpha val="50000"/>
                      </a:schemeClr>
                    </a:gs>
                    <a:gs pos="69000">
                      <a:schemeClr val="bg2">
                        <a:alpha val="0"/>
                      </a:schemeClr>
                    </a:gs>
                  </a:gsLst>
                  <a:lin ang="5400000" scaled="0"/>
                </a:gradFill>
                <a:latin typeface="微软雅黑" panose="020B0503020204020204" charset="-122"/>
                <a:ea typeface="微软雅黑" panose="020B0503020204020204" charset="-122"/>
                <a:cs typeface="微软雅黑" panose="020B0503020204020204" charset="-122"/>
              </a:rPr>
              <a:t>1</a:t>
            </a:r>
            <a:endParaRPr kumimoji="1" lang="zh-CN" altLang="en-US" sz="4000" dirty="0">
              <a:gradFill>
                <a:gsLst>
                  <a:gs pos="0">
                    <a:schemeClr val="bg2">
                      <a:alpha val="50000"/>
                    </a:schemeClr>
                  </a:gs>
                  <a:gs pos="69000">
                    <a:schemeClr val="bg2">
                      <a:alpha val="0"/>
                    </a:schemeClr>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121" name="矩形 120"/>
          <p:cNvSpPr/>
          <p:nvPr/>
        </p:nvSpPr>
        <p:spPr>
          <a:xfrm>
            <a:off x="3858181" y="4567884"/>
            <a:ext cx="880369" cy="707886"/>
          </a:xfrm>
          <a:prstGeom prst="rect">
            <a:avLst/>
          </a:prstGeom>
        </p:spPr>
        <p:txBody>
          <a:bodyPr wrap="none">
            <a:spAutoFit/>
          </a:bodyPr>
          <a:lstStyle/>
          <a:p>
            <a:r>
              <a:rPr kumimoji="1" lang="en-US" altLang="zh-CN" sz="4000" dirty="0">
                <a:gradFill>
                  <a:gsLst>
                    <a:gs pos="0">
                      <a:schemeClr val="bg2">
                        <a:alpha val="50000"/>
                      </a:schemeClr>
                    </a:gs>
                    <a:gs pos="69000">
                      <a:schemeClr val="bg2">
                        <a:alpha val="0"/>
                      </a:schemeClr>
                    </a:gs>
                  </a:gsLst>
                  <a:lin ang="5400000" scaled="0"/>
                </a:gradFill>
                <a:latin typeface="微软雅黑" panose="020B0503020204020204" charset="-122"/>
                <a:ea typeface="微软雅黑" panose="020B0503020204020204" charset="-122"/>
                <a:cs typeface="微软雅黑" panose="020B0503020204020204" charset="-122"/>
              </a:rPr>
              <a:t>0</a:t>
            </a:r>
            <a:r>
              <a:rPr kumimoji="1" lang="en-US" altLang="en-US" sz="4000" dirty="0">
                <a:gradFill>
                  <a:gsLst>
                    <a:gs pos="0">
                      <a:schemeClr val="bg2">
                        <a:alpha val="50000"/>
                      </a:schemeClr>
                    </a:gs>
                    <a:gs pos="69000">
                      <a:schemeClr val="bg2">
                        <a:alpha val="0"/>
                      </a:schemeClr>
                    </a:gs>
                  </a:gsLst>
                  <a:lin ang="5400000" scaled="0"/>
                </a:gradFill>
                <a:latin typeface="微软雅黑" panose="020B0503020204020204" charset="-122"/>
                <a:ea typeface="微软雅黑" panose="020B0503020204020204" charset="-122"/>
                <a:cs typeface="微软雅黑" panose="020B0503020204020204" charset="-122"/>
              </a:rPr>
              <a:t>4</a:t>
            </a:r>
            <a:endParaRPr kumimoji="1" lang="zh-CN" altLang="en-US" sz="4000" dirty="0">
              <a:gradFill>
                <a:gsLst>
                  <a:gs pos="0">
                    <a:schemeClr val="bg2">
                      <a:alpha val="50000"/>
                    </a:schemeClr>
                  </a:gs>
                  <a:gs pos="69000">
                    <a:schemeClr val="bg2">
                      <a:alpha val="0"/>
                    </a:schemeClr>
                  </a:gs>
                </a:gsLst>
                <a:lin ang="5400000" scaled="0"/>
              </a:gradFill>
              <a:latin typeface="微软雅黑" panose="020B0503020204020204" charset="-122"/>
              <a:ea typeface="微软雅黑" panose="020B0503020204020204" charset="-122"/>
              <a:cs typeface="微软雅黑" panose="020B0503020204020204" charset="-122"/>
            </a:endParaRPr>
          </a:p>
        </p:txBody>
      </p:sp>
      <p:sp>
        <p:nvSpPr>
          <p:cNvPr id="122" name="箭头: 五边形 14"/>
          <p:cNvSpPr/>
          <p:nvPr/>
        </p:nvSpPr>
        <p:spPr>
          <a:xfrm rot="10800000">
            <a:off x="8353254" y="1114667"/>
            <a:ext cx="3478822" cy="1070170"/>
          </a:xfrm>
          <a:prstGeom prst="homePlate">
            <a:avLst>
              <a:gd name="adj" fmla="val 49789"/>
            </a:avLst>
          </a:prstGeom>
          <a:solidFill>
            <a:schemeClr val="accent5">
              <a:lumMod val="20000"/>
              <a:lumOff val="80000"/>
            </a:schemeClr>
          </a:solidFill>
          <a:ln w="12700" cap="flat" cmpd="sng" algn="ctr">
            <a:solidFill>
              <a:schemeClr val="accent5">
                <a:lumMod val="60000"/>
                <a:lumOff val="40000"/>
              </a:schemeClr>
            </a:solidFill>
            <a:prstDash val="solid"/>
            <a:miter lim="800000"/>
          </a:ln>
          <a:effectLst/>
        </p:spPr>
        <p:txBody>
          <a:bodyPr rtlCol="0" anchor="ctr">
            <a:noAutofit/>
          </a:bodyPr>
          <a:lstStyle/>
          <a:p>
            <a:pPr lvl="0" algn="ctr">
              <a:spcBef>
                <a:spcPts val="0"/>
              </a:spcBef>
              <a:spcAft>
                <a:spcPts val="0"/>
              </a:spcAft>
              <a:buClrTx/>
              <a:buSzTx/>
              <a:buFontTx/>
              <a:defRPr/>
            </a:pPr>
            <a:endParaRPr lang="zh-CN" altLang="en-US" kern="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23" name="文本框 122"/>
          <p:cNvSpPr txBox="1"/>
          <p:nvPr/>
        </p:nvSpPr>
        <p:spPr>
          <a:xfrm>
            <a:off x="9575553" y="1649189"/>
            <a:ext cx="1893725" cy="332399"/>
          </a:xfrm>
          <a:prstGeom prst="rect">
            <a:avLst/>
          </a:prstGeom>
          <a:noFill/>
        </p:spPr>
        <p:txBody>
          <a:bodyPr wrap="square" lIns="0" tIns="0" rIns="0" bIns="0" rtlCol="0">
            <a:spAutoFit/>
          </a:bodyPr>
          <a:lstStyle/>
          <a:p>
            <a:pPr>
              <a:lnSpc>
                <a:spcPct val="120000"/>
              </a:lnSpc>
              <a:defRPr/>
            </a:pPr>
            <a:r>
              <a:rPr lang="en-US" altLang="en-US" sz="900" dirty="0">
                <a:solidFill>
                  <a:schemeClr val="tx2"/>
                </a:solidFill>
                <a:latin typeface="微软雅黑" panose="020B0503020204020204" charset="-122"/>
                <a:ea typeface="微软雅黑" panose="020B0503020204020204" charset="-122"/>
                <a:cs typeface="微软雅黑" panose="020B0503020204020204" charset="-122"/>
              </a:rPr>
              <a:t>A.</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游戏操作、段位提升带来的乐趣</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endParaRPr>
          </a:p>
          <a:p>
            <a:pPr>
              <a:lnSpc>
                <a:spcPct val="120000"/>
              </a:lnSpc>
              <a:defRPr/>
            </a:pPr>
            <a:r>
              <a:rPr lang="en-US" altLang="en-US" sz="900" dirty="0">
                <a:solidFill>
                  <a:schemeClr val="tx2"/>
                </a:solidFill>
                <a:latin typeface="微软雅黑" panose="020B0503020204020204" charset="-122"/>
                <a:ea typeface="微软雅黑" panose="020B0503020204020204" charset="-122"/>
                <a:cs typeface="微软雅黑" panose="020B0503020204020204" charset="-122"/>
              </a:rPr>
              <a:t>B.</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朋友夸奖带来的成就感</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24" name="Marketing"/>
          <p:cNvSpPr txBox="1"/>
          <p:nvPr/>
        </p:nvSpPr>
        <p:spPr>
          <a:xfrm>
            <a:off x="8715683" y="1753168"/>
            <a:ext cx="720366" cy="235962"/>
          </a:xfrm>
          <a:prstGeom prst="rect">
            <a:avLst/>
          </a:prstGeom>
          <a:ln w="12700">
            <a:miter lim="400000"/>
          </a:ln>
        </p:spPr>
        <p:txBody>
          <a:bodyPr wrap="square" lIns="25400" tIns="25400" rIns="25400" bIns="25400">
            <a:spAutoFit/>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FFFFFF"/>
                </a:solidFill>
              </a:defRPr>
            </a:lvl1pPr>
          </a:lstStyle>
          <a:p>
            <a:pPr lvl="0" algn="ctr" defTabSz="6350" hangingPunct="0">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a:pPr>
            <a:r>
              <a:rPr lang="zh-CN" altLang="en-US" sz="1200" kern="0"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奖励</a:t>
            </a:r>
            <a:endParaRPr lang="zh-CN" altLang="en-US" sz="1200" kern="0"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5" name="文本框 124"/>
          <p:cNvSpPr txBox="1"/>
          <p:nvPr/>
        </p:nvSpPr>
        <p:spPr>
          <a:xfrm>
            <a:off x="8767034" y="1319384"/>
            <a:ext cx="617664" cy="461665"/>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en-US" altLang="en-US" sz="2400" dirty="0">
                <a:solidFill>
                  <a:schemeClr val="accent5"/>
                </a:solidFill>
                <a:latin typeface="微软雅黑" panose="020B0503020204020204" charset="-122"/>
                <a:ea typeface="微软雅黑" panose="020B0503020204020204" charset="-122"/>
                <a:cs typeface="微软雅黑" panose="020B0503020204020204" charset="-122"/>
              </a:rPr>
              <a:t>03</a:t>
            </a:r>
            <a:endParaRPr lang="en-US" altLang="en-US" sz="240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26" name="矩形 125"/>
          <p:cNvSpPr/>
          <p:nvPr/>
        </p:nvSpPr>
        <p:spPr>
          <a:xfrm>
            <a:off x="9575553" y="1372881"/>
            <a:ext cx="2518648" cy="169277"/>
          </a:xfrm>
          <a:prstGeom prst="rect">
            <a:avLst/>
          </a:prstGeom>
        </p:spPr>
        <p:txBody>
          <a:bodyPr wrap="square" lIns="0" tIns="0" rIns="0" bIns="0">
            <a:spAutoFit/>
          </a:bodyPr>
          <a:lstStyle/>
          <a:p>
            <a:r>
              <a:rPr lang="zh-CN" altLang="en-US" sz="1100" dirty="0">
                <a:solidFill>
                  <a:schemeClr val="accent5"/>
                </a:solidFill>
                <a:latin typeface="微软雅黑" panose="020B0503020204020204" charset="-122"/>
                <a:ea typeface="微软雅黑" panose="020B0503020204020204" charset="-122"/>
                <a:cs typeface="微软雅黑" panose="020B0503020204020204" charset="-122"/>
              </a:rPr>
              <a:t>用户付出行动后，可以得到的奖励</a:t>
            </a:r>
            <a:endParaRPr lang="zh-CN" altLang="en-US" sz="110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27" name="Line"/>
          <p:cNvSpPr/>
          <p:nvPr/>
        </p:nvSpPr>
        <p:spPr>
          <a:xfrm>
            <a:off x="9410784" y="1381955"/>
            <a:ext cx="0" cy="573246"/>
          </a:xfrm>
          <a:prstGeom prst="line">
            <a:avLst/>
          </a:prstGeom>
          <a:ln w="12700">
            <a:solidFill>
              <a:schemeClr val="accent5"/>
            </a:solidFill>
            <a:custDash>
              <a:ds d="200000" sp="200000"/>
            </a:custDash>
            <a:miter lim="400000"/>
          </a:ln>
        </p:spPr>
        <p:txBody>
          <a:bodyPr lIns="22859" tIns="22859" rIns="22859" bIns="22859"/>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sz="1500" b="0" i="0" u="none" strike="noStrike" kern="0" cap="none" spc="0" normalizeH="0" baseline="0" noProof="0">
              <a:ln>
                <a:noFill/>
              </a:ln>
              <a:solidFill>
                <a:srgbClr val="1A1A1A"/>
              </a:solidFill>
              <a:effectLst/>
              <a:uLnTx/>
              <a:uFillTx/>
              <a:latin typeface="微软雅黑" panose="020B0503020204020204" charset="-122"/>
              <a:cs typeface="微软雅黑" panose="020B0503020204020204" charset="-122"/>
              <a:sym typeface="微软雅黑" panose="020B0503020204020204" charset="-122"/>
            </a:endParaRPr>
          </a:p>
        </p:txBody>
      </p:sp>
      <p:sp>
        <p:nvSpPr>
          <p:cNvPr id="136" name="文本框 135"/>
          <p:cNvSpPr txBox="1"/>
          <p:nvPr/>
        </p:nvSpPr>
        <p:spPr>
          <a:xfrm>
            <a:off x="1233260" y="1649189"/>
            <a:ext cx="1893725" cy="332399"/>
          </a:xfrm>
          <a:prstGeom prst="rect">
            <a:avLst/>
          </a:prstGeom>
          <a:noFill/>
        </p:spPr>
        <p:txBody>
          <a:bodyPr wrap="square" lIns="0" tIns="0" rIns="0" bIns="0" rtlCol="0">
            <a:spAutoFit/>
          </a:bodyPr>
          <a:lstStyle/>
          <a:p>
            <a:pPr>
              <a:lnSpc>
                <a:spcPct val="120000"/>
              </a:lnSpc>
              <a:defRPr/>
            </a:pPr>
            <a:r>
              <a:rPr lang="en-US" altLang="en-US" sz="900" dirty="0">
                <a:solidFill>
                  <a:schemeClr val="tx2"/>
                </a:solidFill>
                <a:latin typeface="微软雅黑" panose="020B0503020204020204" charset="-122"/>
                <a:ea typeface="微软雅黑" panose="020B0503020204020204" charset="-122"/>
                <a:cs typeface="微软雅黑" panose="020B0503020204020204" charset="-122"/>
              </a:rPr>
              <a:t>A.</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闲暇娱乐，获得放松</a:t>
            </a:r>
            <a:endParaRPr lang="en-US" altLang="zh-CN" sz="900" dirty="0">
              <a:solidFill>
                <a:schemeClr val="tx2"/>
              </a:solidFill>
              <a:latin typeface="微软雅黑" panose="020B0503020204020204" charset="-122"/>
              <a:ea typeface="微软雅黑" panose="020B0503020204020204" charset="-122"/>
              <a:cs typeface="微软雅黑" panose="020B0503020204020204" charset="-122"/>
            </a:endParaRPr>
          </a:p>
          <a:p>
            <a:pPr>
              <a:lnSpc>
                <a:spcPct val="120000"/>
              </a:lnSpc>
              <a:defRPr/>
            </a:pPr>
            <a:r>
              <a:rPr lang="en-US" altLang="en-US" sz="900" dirty="0">
                <a:solidFill>
                  <a:schemeClr val="tx2"/>
                </a:solidFill>
                <a:latin typeface="微软雅黑" panose="020B0503020204020204" charset="-122"/>
                <a:ea typeface="微软雅黑" panose="020B0503020204020204" charset="-122"/>
                <a:cs typeface="微软雅黑" panose="020B0503020204020204" charset="-122"/>
              </a:rPr>
              <a:t>B.</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与朋友互动、竞争</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37" name="Marketing"/>
          <p:cNvSpPr txBox="1"/>
          <p:nvPr/>
        </p:nvSpPr>
        <p:spPr>
          <a:xfrm>
            <a:off x="382816" y="1753168"/>
            <a:ext cx="720366" cy="235962"/>
          </a:xfrm>
          <a:prstGeom prst="rect">
            <a:avLst/>
          </a:prstGeom>
          <a:ln w="12700">
            <a:miter lim="400000"/>
          </a:ln>
        </p:spPr>
        <p:txBody>
          <a:bodyPr wrap="square" lIns="25400" tIns="25400" rIns="25400" bIns="25400">
            <a:spAutoFit/>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FFFFFF"/>
                </a:solidFill>
              </a:defRPr>
            </a:lvl1pPr>
          </a:lstStyle>
          <a:p>
            <a:pPr lvl="0" algn="ctr" defTabSz="6350" hangingPunct="0">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a:pPr>
            <a:r>
              <a:rPr lang="en-US" altLang="en-US" sz="1200"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触发</a:t>
            </a:r>
            <a:endParaRPr lang="en-US" altLang="en-US" sz="1200"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8" name="文本框 137"/>
          <p:cNvSpPr txBox="1"/>
          <p:nvPr/>
        </p:nvSpPr>
        <p:spPr>
          <a:xfrm>
            <a:off x="434167" y="1319384"/>
            <a:ext cx="617664" cy="461665"/>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en-US" altLang="en-US" sz="2400" dirty="0">
                <a:solidFill>
                  <a:schemeClr val="accent1"/>
                </a:solidFill>
                <a:latin typeface="微软雅黑" panose="020B0503020204020204" charset="-122"/>
                <a:ea typeface="微软雅黑" panose="020B0503020204020204" charset="-122"/>
                <a:cs typeface="微软雅黑" panose="020B0503020204020204" charset="-122"/>
              </a:rPr>
              <a:t>01</a:t>
            </a:r>
            <a:endParaRPr lang="en-US" altLang="en-US" sz="24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39" name="矩形 138"/>
          <p:cNvSpPr/>
          <p:nvPr/>
        </p:nvSpPr>
        <p:spPr>
          <a:xfrm>
            <a:off x="1233260" y="1372881"/>
            <a:ext cx="2518648" cy="169277"/>
          </a:xfrm>
          <a:prstGeom prst="rect">
            <a:avLst/>
          </a:prstGeom>
        </p:spPr>
        <p:txBody>
          <a:bodyPr wrap="square" lIns="0" tIns="0" rIns="0" bIns="0">
            <a:spAutoFit/>
          </a:bodyPr>
          <a:lstStyle/>
          <a:p>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用户有动机参与，外部或内部触发</a:t>
            </a:r>
            <a:endParaRPr lang="zh-CN" altLang="en-US" sz="11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40" name="Line"/>
          <p:cNvSpPr/>
          <p:nvPr/>
        </p:nvSpPr>
        <p:spPr>
          <a:xfrm>
            <a:off x="1063601" y="1381955"/>
            <a:ext cx="0" cy="573246"/>
          </a:xfrm>
          <a:prstGeom prst="line">
            <a:avLst/>
          </a:prstGeom>
          <a:ln w="12700">
            <a:solidFill>
              <a:schemeClr val="accent1"/>
            </a:solidFill>
            <a:custDash>
              <a:ds d="200000" sp="200000"/>
            </a:custDash>
            <a:miter lim="400000"/>
          </a:ln>
        </p:spPr>
        <p:txBody>
          <a:bodyPr lIns="22859" tIns="22859" rIns="22859" bIns="22859"/>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sz="1500" b="0" i="0" u="none" strike="noStrike" kern="0" cap="none" spc="0" normalizeH="0" baseline="0" noProof="0">
              <a:ln>
                <a:noFill/>
              </a:ln>
              <a:solidFill>
                <a:srgbClr val="1A1A1A"/>
              </a:solidFill>
              <a:effectLst/>
              <a:uLnTx/>
              <a:uFillTx/>
              <a:latin typeface="微软雅黑" panose="020B0503020204020204" charset="-122"/>
              <a:cs typeface="微软雅黑" panose="020B0503020204020204" charset="-122"/>
              <a:sym typeface="微软雅黑" panose="020B0503020204020204" charset="-122"/>
            </a:endParaRPr>
          </a:p>
        </p:txBody>
      </p:sp>
      <p:sp>
        <p:nvSpPr>
          <p:cNvPr id="164" name="箭头: 下 14"/>
          <p:cNvSpPr/>
          <p:nvPr/>
        </p:nvSpPr>
        <p:spPr>
          <a:xfrm rot="16200000">
            <a:off x="1798891" y="3481108"/>
            <a:ext cx="422392" cy="651034"/>
          </a:xfrm>
          <a:prstGeom prst="downArrow">
            <a:avLst>
              <a:gd name="adj1" fmla="val 48920"/>
              <a:gd name="adj2" fmla="val 42437"/>
            </a:avLst>
          </a:prstGeom>
          <a:gradFill>
            <a:gsLst>
              <a:gs pos="100000">
                <a:schemeClr val="accent1"/>
              </a:gs>
              <a:gs pos="23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65" name="箭头: 五边形 14"/>
          <p:cNvSpPr/>
          <p:nvPr/>
        </p:nvSpPr>
        <p:spPr>
          <a:xfrm rot="10800000" flipH="1">
            <a:off x="363209" y="5394567"/>
            <a:ext cx="3478822" cy="1070170"/>
          </a:xfrm>
          <a:prstGeom prst="homePlate">
            <a:avLst>
              <a:gd name="adj" fmla="val 49789"/>
            </a:avLst>
          </a:prstGeom>
          <a:solidFill>
            <a:schemeClr val="accent5">
              <a:lumMod val="20000"/>
              <a:lumOff val="80000"/>
            </a:schemeClr>
          </a:solidFill>
          <a:ln w="12700" cap="flat" cmpd="sng" algn="ctr">
            <a:solidFill>
              <a:schemeClr val="accent5">
                <a:lumMod val="60000"/>
                <a:lumOff val="40000"/>
              </a:schemeClr>
            </a:solidFill>
            <a:prstDash val="solid"/>
            <a:miter lim="800000"/>
          </a:ln>
          <a:effectLst/>
        </p:spPr>
        <p:txBody>
          <a:bodyPr rtlCol="0" anchor="ctr">
            <a:noAutofit/>
          </a:bodyPr>
          <a:lstStyle/>
          <a:p>
            <a:pPr lvl="0" algn="ctr">
              <a:spcBef>
                <a:spcPts val="0"/>
              </a:spcBef>
              <a:spcAft>
                <a:spcPts val="0"/>
              </a:spcAft>
              <a:buClrTx/>
              <a:buSzTx/>
              <a:buFontTx/>
              <a:defRPr/>
            </a:pPr>
            <a:endParaRPr lang="zh-CN" altLang="en-US" kern="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66" name="文本框 165"/>
          <p:cNvSpPr txBox="1"/>
          <p:nvPr/>
        </p:nvSpPr>
        <p:spPr>
          <a:xfrm>
            <a:off x="1233260" y="5929089"/>
            <a:ext cx="1893725" cy="324320"/>
          </a:xfrm>
          <a:prstGeom prst="rect">
            <a:avLst/>
          </a:prstGeom>
          <a:noFill/>
        </p:spPr>
        <p:txBody>
          <a:bodyPr wrap="square" lIns="0" tIns="0" rIns="0" bIns="0" rtlCol="0">
            <a:spAutoFit/>
          </a:bodyPr>
          <a:lstStyle/>
          <a:p>
            <a:pPr>
              <a:lnSpc>
                <a:spcPct val="120000"/>
              </a:lnSpc>
              <a:defRPr/>
            </a:pPr>
            <a:r>
              <a:rPr lang="en-US" altLang="en-US" sz="900" dirty="0">
                <a:solidFill>
                  <a:schemeClr val="tx2"/>
                </a:solidFill>
                <a:latin typeface="微软雅黑" panose="020B0503020204020204" charset="-122"/>
                <a:ea typeface="微软雅黑" panose="020B0503020204020204" charset="-122"/>
                <a:cs typeface="微软雅黑" panose="020B0503020204020204" charset="-122"/>
              </a:rPr>
              <a:t>A.</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带来产品使用时长</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a:p>
            <a:pPr>
              <a:lnSpc>
                <a:spcPct val="120000"/>
              </a:lnSpc>
              <a:defRPr/>
            </a:pPr>
            <a:r>
              <a:rPr lang="en-US" altLang="en-US" sz="900" dirty="0">
                <a:solidFill>
                  <a:schemeClr val="tx2"/>
                </a:solidFill>
                <a:latin typeface="微软雅黑" panose="020B0503020204020204" charset="-122"/>
                <a:ea typeface="微软雅黑" panose="020B0503020204020204" charset="-122"/>
                <a:cs typeface="微软雅黑" panose="020B0503020204020204" charset="-122"/>
              </a:rPr>
              <a:t>B.</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用户在使用产品时的付出</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67" name="Marketing"/>
          <p:cNvSpPr txBox="1"/>
          <p:nvPr/>
        </p:nvSpPr>
        <p:spPr>
          <a:xfrm>
            <a:off x="382816" y="6033068"/>
            <a:ext cx="720366" cy="235962"/>
          </a:xfrm>
          <a:prstGeom prst="rect">
            <a:avLst/>
          </a:prstGeom>
          <a:ln w="12700">
            <a:miter lim="400000"/>
          </a:ln>
        </p:spPr>
        <p:txBody>
          <a:bodyPr wrap="square" lIns="25400" tIns="25400" rIns="25400" bIns="25400">
            <a:spAutoFit/>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FFFFFF"/>
                </a:solidFill>
              </a:defRPr>
            </a:lvl1pPr>
          </a:lstStyle>
          <a:p>
            <a:pPr lvl="0" algn="ctr" defTabSz="6350" hangingPunct="0">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a:pPr>
            <a:r>
              <a:rPr lang="en-US" altLang="en-US" sz="1200" kern="0" dirty="0" err="1">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投入</a:t>
            </a:r>
            <a:endParaRPr lang="en-US" altLang="en-US" sz="1200" kern="0" dirty="0" err="1">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8" name="文本框 167"/>
          <p:cNvSpPr txBox="1"/>
          <p:nvPr/>
        </p:nvSpPr>
        <p:spPr>
          <a:xfrm>
            <a:off x="434167" y="5599284"/>
            <a:ext cx="617664" cy="461665"/>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en-US" altLang="en-US" sz="2400" dirty="0">
                <a:solidFill>
                  <a:schemeClr val="accent5"/>
                </a:solidFill>
                <a:latin typeface="微软雅黑" panose="020B0503020204020204" charset="-122"/>
                <a:ea typeface="微软雅黑" panose="020B0503020204020204" charset="-122"/>
                <a:cs typeface="微软雅黑" panose="020B0503020204020204" charset="-122"/>
              </a:rPr>
              <a:t>0</a:t>
            </a:r>
            <a:r>
              <a:rPr lang="en-US" altLang="zh-CN" sz="2400" dirty="0">
                <a:solidFill>
                  <a:schemeClr val="accent5"/>
                </a:solidFill>
                <a:latin typeface="微软雅黑" panose="020B0503020204020204" charset="-122"/>
                <a:ea typeface="微软雅黑" panose="020B0503020204020204" charset="-122"/>
                <a:cs typeface="微软雅黑" panose="020B0503020204020204" charset="-122"/>
              </a:rPr>
              <a:t>4</a:t>
            </a:r>
            <a:endParaRPr lang="en-US" altLang="zh-CN" sz="240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69" name="矩形 168"/>
          <p:cNvSpPr/>
          <p:nvPr/>
        </p:nvSpPr>
        <p:spPr>
          <a:xfrm>
            <a:off x="1233260" y="5652781"/>
            <a:ext cx="2518648" cy="169277"/>
          </a:xfrm>
          <a:prstGeom prst="rect">
            <a:avLst/>
          </a:prstGeom>
        </p:spPr>
        <p:txBody>
          <a:bodyPr wrap="square" lIns="0" tIns="0" rIns="0" bIns="0">
            <a:spAutoFit/>
          </a:bodyPr>
          <a:lstStyle/>
          <a:p>
            <a:r>
              <a:rPr lang="zh-CN" altLang="en-US" sz="1100" dirty="0">
                <a:solidFill>
                  <a:schemeClr val="accent5"/>
                </a:solidFill>
                <a:latin typeface="微软雅黑" panose="020B0503020204020204" charset="-122"/>
                <a:ea typeface="微软雅黑" panose="020B0503020204020204" charset="-122"/>
                <a:cs typeface="微软雅黑" panose="020B0503020204020204" charset="-122"/>
              </a:rPr>
              <a:t>用户付出行动后，可以得到的奖励</a:t>
            </a:r>
            <a:endParaRPr lang="zh-CN" altLang="en-US" sz="1100" dirty="0">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170" name="Line"/>
          <p:cNvSpPr/>
          <p:nvPr/>
        </p:nvSpPr>
        <p:spPr>
          <a:xfrm>
            <a:off x="1063601" y="5661855"/>
            <a:ext cx="0" cy="573246"/>
          </a:xfrm>
          <a:prstGeom prst="line">
            <a:avLst/>
          </a:prstGeom>
          <a:ln w="12700">
            <a:solidFill>
              <a:schemeClr val="accent5"/>
            </a:solidFill>
            <a:custDash>
              <a:ds d="200000" sp="200000"/>
            </a:custDash>
            <a:miter lim="400000"/>
          </a:ln>
        </p:spPr>
        <p:txBody>
          <a:bodyPr lIns="22859" tIns="22859" rIns="22859" bIns="22859"/>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sz="1500" b="0" i="0" u="none" strike="noStrike" kern="0" cap="none" spc="0" normalizeH="0" baseline="0" noProof="0">
              <a:ln>
                <a:noFill/>
              </a:ln>
              <a:solidFill>
                <a:srgbClr val="1A1A1A"/>
              </a:solidFill>
              <a:effectLst/>
              <a:uLnTx/>
              <a:uFillTx/>
              <a:latin typeface="微软雅黑" panose="020B0503020204020204" charset="-122"/>
              <a:cs typeface="微软雅黑" panose="020B0503020204020204" charset="-122"/>
              <a:sym typeface="微软雅黑" panose="020B0503020204020204" charset="-122"/>
            </a:endParaRPr>
          </a:p>
        </p:txBody>
      </p:sp>
      <p:sp>
        <p:nvSpPr>
          <p:cNvPr id="177" name="箭头: 五边形 14"/>
          <p:cNvSpPr/>
          <p:nvPr/>
        </p:nvSpPr>
        <p:spPr>
          <a:xfrm rot="10800000">
            <a:off x="8353254" y="5394567"/>
            <a:ext cx="3478822" cy="1070170"/>
          </a:xfrm>
          <a:prstGeom prst="homePlate">
            <a:avLst>
              <a:gd name="adj" fmla="val 49789"/>
            </a:avLst>
          </a:prstGeom>
          <a:solidFill>
            <a:schemeClr val="accent1">
              <a:lumMod val="20000"/>
              <a:lumOff val="80000"/>
              <a:alpha val="50000"/>
            </a:schemeClr>
          </a:solidFill>
          <a:ln w="12700" cap="flat" cmpd="sng" algn="ctr">
            <a:solidFill>
              <a:schemeClr val="accent1">
                <a:lumMod val="60000"/>
                <a:lumOff val="40000"/>
              </a:schemeClr>
            </a:solidFill>
            <a:prstDash val="solid"/>
            <a:miter lim="800000"/>
          </a:ln>
          <a:effectLst/>
        </p:spPr>
        <p:txBody>
          <a:bodyPr rtlCol="0" anchor="ctr">
            <a:noAutofit/>
          </a:bodyPr>
          <a:lstStyle/>
          <a:p>
            <a:pPr lvl="0" algn="ctr">
              <a:spcBef>
                <a:spcPts val="0"/>
              </a:spcBef>
              <a:spcAft>
                <a:spcPts val="0"/>
              </a:spcAft>
              <a:buClrTx/>
              <a:buSzTx/>
              <a:buFontTx/>
              <a:defRPr/>
            </a:pPr>
            <a:endParaRPr lang="zh-CN" altLang="en-US" kern="0" noProof="0">
              <a:ln>
                <a:noFill/>
              </a:ln>
              <a:solidFill>
                <a:prstClr val="white"/>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178" name="文本框 177"/>
          <p:cNvSpPr txBox="1"/>
          <p:nvPr/>
        </p:nvSpPr>
        <p:spPr>
          <a:xfrm>
            <a:off x="9575553" y="5814789"/>
            <a:ext cx="1893725" cy="490519"/>
          </a:xfrm>
          <a:prstGeom prst="rect">
            <a:avLst/>
          </a:prstGeom>
          <a:noFill/>
        </p:spPr>
        <p:txBody>
          <a:bodyPr wrap="square" lIns="0" tIns="0" rIns="0" bIns="0" rtlCol="0">
            <a:spAutoFit/>
          </a:bodyPr>
          <a:lstStyle/>
          <a:p>
            <a:pPr>
              <a:lnSpc>
                <a:spcPct val="120000"/>
              </a:lnSpc>
              <a:defRPr/>
            </a:pPr>
            <a:r>
              <a:rPr lang="en-US" altLang="en-US" sz="900" dirty="0">
                <a:solidFill>
                  <a:schemeClr val="tx2"/>
                </a:solidFill>
                <a:latin typeface="微软雅黑" panose="020B0503020204020204" charset="-122"/>
                <a:ea typeface="微软雅黑" panose="020B0503020204020204" charset="-122"/>
                <a:cs typeface="微软雅黑" panose="020B0503020204020204" charset="-122"/>
              </a:rPr>
              <a:t>A.</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进行游戏操作</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a:p>
            <a:pPr>
              <a:lnSpc>
                <a:spcPct val="120000"/>
              </a:lnSpc>
              <a:defRPr/>
            </a:pPr>
            <a:r>
              <a:rPr lang="en-US" altLang="en-US" sz="900" dirty="0">
                <a:solidFill>
                  <a:schemeClr val="tx2"/>
                </a:solidFill>
                <a:latin typeface="微软雅黑" panose="020B0503020204020204" charset="-122"/>
                <a:ea typeface="微软雅黑" panose="020B0503020204020204" charset="-122"/>
                <a:cs typeface="微软雅黑" panose="020B0503020204020204" charset="-122"/>
              </a:rPr>
              <a:t>B.</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收集物品</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a:p>
            <a:pPr>
              <a:lnSpc>
                <a:spcPct val="120000"/>
              </a:lnSpc>
              <a:defRPr/>
            </a:pPr>
            <a:r>
              <a:rPr lang="en-US" altLang="en-US" sz="900" dirty="0">
                <a:solidFill>
                  <a:schemeClr val="tx2"/>
                </a:solidFill>
                <a:latin typeface="微软雅黑" panose="020B0503020204020204" charset="-122"/>
                <a:ea typeface="微软雅黑" panose="020B0503020204020204" charset="-122"/>
                <a:cs typeface="微软雅黑" panose="020B0503020204020204" charset="-122"/>
              </a:rPr>
              <a:t>C.</a:t>
            </a:r>
            <a:r>
              <a:rPr lang="zh-CN" altLang="en-US" sz="900" dirty="0">
                <a:solidFill>
                  <a:schemeClr val="tx2"/>
                </a:solidFill>
                <a:latin typeface="微软雅黑" panose="020B0503020204020204" charset="-122"/>
                <a:ea typeface="微软雅黑" panose="020B0503020204020204" charset="-122"/>
                <a:cs typeface="微软雅黑" panose="020B0503020204020204" charset="-122"/>
              </a:rPr>
              <a:t>完成任务</a:t>
            </a:r>
            <a:endParaRPr lang="zh-CN" altLang="en-US" sz="9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79" name="Marketing"/>
          <p:cNvSpPr txBox="1"/>
          <p:nvPr/>
        </p:nvSpPr>
        <p:spPr>
          <a:xfrm>
            <a:off x="8715683" y="6033068"/>
            <a:ext cx="720366" cy="235962"/>
          </a:xfrm>
          <a:prstGeom prst="rect">
            <a:avLst/>
          </a:prstGeom>
          <a:ln w="12700">
            <a:miter lim="400000"/>
          </a:ln>
        </p:spPr>
        <p:txBody>
          <a:bodyPr wrap="square" lIns="25400" tIns="25400" rIns="25400" bIns="25400">
            <a:spAutoFit/>
          </a:bodyPr>
          <a:lstStyle>
            <a:lvl1pPr defTabSz="12700">
              <a:tabLst>
                <a:tab pos="355600" algn="l"/>
                <a:tab pos="711200" algn="l"/>
                <a:tab pos="1066800" algn="l"/>
                <a:tab pos="1422400" algn="l"/>
                <a:tab pos="1778000" algn="l"/>
                <a:tab pos="2133600" algn="l"/>
                <a:tab pos="2489200" algn="l"/>
                <a:tab pos="2844800" algn="l"/>
                <a:tab pos="3200400" algn="l"/>
                <a:tab pos="3556000" algn="l"/>
                <a:tab pos="3911600" algn="l"/>
                <a:tab pos="4267200" algn="l"/>
              </a:tabLst>
              <a:defRPr sz="2400">
                <a:solidFill>
                  <a:srgbClr val="FFFFFF"/>
                </a:solidFill>
              </a:defRPr>
            </a:lvl1pPr>
          </a:lstStyle>
          <a:p>
            <a:pPr lvl="0" algn="ctr" defTabSz="6350" hangingPunct="0">
              <a:tabLst>
                <a:tab pos="177800" algn="l"/>
                <a:tab pos="355600" algn="l"/>
                <a:tab pos="533400" algn="l"/>
                <a:tab pos="711200" algn="l"/>
                <a:tab pos="889000" algn="l"/>
                <a:tab pos="1066800" algn="l"/>
                <a:tab pos="1244600" algn="l"/>
                <a:tab pos="1422400" algn="l"/>
                <a:tab pos="1600200" algn="l"/>
                <a:tab pos="1778000" algn="l"/>
                <a:tab pos="1955800" algn="l"/>
                <a:tab pos="2133600" algn="l"/>
              </a:tabLst>
              <a:defRPr/>
            </a:pPr>
            <a:r>
              <a:rPr lang="zh-CN" altLang="en-US" sz="1200"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行动</a:t>
            </a:r>
            <a:endParaRPr lang="zh-CN" altLang="en-US" sz="1200" kern="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80" name="文本框 179"/>
          <p:cNvSpPr txBox="1"/>
          <p:nvPr/>
        </p:nvSpPr>
        <p:spPr>
          <a:xfrm>
            <a:off x="8767034" y="5599284"/>
            <a:ext cx="617664" cy="461665"/>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lgn="ctr"/>
            <a:r>
              <a:rPr lang="en-US" altLang="en-US" sz="2400" dirty="0">
                <a:solidFill>
                  <a:schemeClr val="accent1"/>
                </a:solidFill>
                <a:latin typeface="微软雅黑" panose="020B0503020204020204" charset="-122"/>
                <a:ea typeface="微软雅黑" panose="020B0503020204020204" charset="-122"/>
                <a:cs typeface="微软雅黑" panose="020B0503020204020204" charset="-122"/>
              </a:rPr>
              <a:t>0</a:t>
            </a:r>
            <a:r>
              <a:rPr lang="en-US" altLang="zh-CN" sz="2400" dirty="0">
                <a:solidFill>
                  <a:schemeClr val="accent1"/>
                </a:solidFill>
                <a:latin typeface="微软雅黑" panose="020B0503020204020204" charset="-122"/>
                <a:ea typeface="微软雅黑" panose="020B0503020204020204" charset="-122"/>
                <a:cs typeface="微软雅黑" panose="020B0503020204020204" charset="-122"/>
              </a:rPr>
              <a:t>2</a:t>
            </a:r>
            <a:endParaRPr lang="en-US" altLang="zh-CN" sz="24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81" name="矩形 180"/>
          <p:cNvSpPr/>
          <p:nvPr/>
        </p:nvSpPr>
        <p:spPr>
          <a:xfrm>
            <a:off x="9575553" y="5614681"/>
            <a:ext cx="2518648" cy="169277"/>
          </a:xfrm>
          <a:prstGeom prst="rect">
            <a:avLst/>
          </a:prstGeom>
        </p:spPr>
        <p:txBody>
          <a:bodyPr wrap="square" lIns="0" tIns="0" rIns="0" bIns="0">
            <a:spAutoFit/>
          </a:bodyPr>
          <a:lstStyle/>
          <a:p>
            <a:r>
              <a:rPr lang="zh-CN" altLang="en-US" sz="1100" dirty="0">
                <a:solidFill>
                  <a:schemeClr val="accent1"/>
                </a:solidFill>
                <a:latin typeface="微软雅黑" panose="020B0503020204020204" charset="-122"/>
                <a:ea typeface="微软雅黑" panose="020B0503020204020204" charset="-122"/>
                <a:cs typeface="微软雅黑" panose="020B0503020204020204" charset="-122"/>
              </a:rPr>
              <a:t>用户用核心功能，做预期行为</a:t>
            </a:r>
            <a:endParaRPr lang="zh-CN" altLang="en-US" sz="11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82" name="Line"/>
          <p:cNvSpPr/>
          <p:nvPr/>
        </p:nvSpPr>
        <p:spPr>
          <a:xfrm>
            <a:off x="9410784" y="5661855"/>
            <a:ext cx="0" cy="573246"/>
          </a:xfrm>
          <a:prstGeom prst="line">
            <a:avLst/>
          </a:prstGeom>
          <a:ln w="12700">
            <a:solidFill>
              <a:schemeClr val="accent1"/>
            </a:solidFill>
            <a:custDash>
              <a:ds d="200000" sp="200000"/>
            </a:custDash>
            <a:miter lim="400000"/>
          </a:ln>
        </p:spPr>
        <p:txBody>
          <a:bodyPr lIns="22859" tIns="22859" rIns="22859" bIns="22859"/>
          <a:lstStyle/>
          <a:p>
            <a:pPr marL="0" marR="0" lvl="0" indent="0" algn="ctr" defTabSz="412750" rtl="0" eaLnBrk="1" fontAlgn="auto" latinLnBrk="0" hangingPunct="0">
              <a:lnSpc>
                <a:spcPct val="100000"/>
              </a:lnSpc>
              <a:spcBef>
                <a:spcPts val="0"/>
              </a:spcBef>
              <a:spcAft>
                <a:spcPts val="0"/>
              </a:spcAft>
              <a:buClrTx/>
              <a:buSzTx/>
              <a:buFontTx/>
              <a:buNone/>
              <a:defRPr/>
            </a:pPr>
            <a:endParaRPr kumimoji="0" sz="1500" b="0" i="0" u="none" strike="noStrike" kern="0" cap="none" spc="0" normalizeH="0" baseline="0" noProof="0">
              <a:ln>
                <a:noFill/>
              </a:ln>
              <a:solidFill>
                <a:srgbClr val="1A1A1A"/>
              </a:solidFill>
              <a:effectLst/>
              <a:uLnTx/>
              <a:uFillTx/>
              <a:latin typeface="微软雅黑" panose="020B0503020204020204" charset="-122"/>
              <a:cs typeface="微软雅黑" panose="020B0503020204020204" charset="-122"/>
              <a:sym typeface="微软雅黑" panose="020B0503020204020204" charset="-122"/>
            </a:endParaRPr>
          </a:p>
        </p:txBody>
      </p:sp>
      <p:sp>
        <p:nvSpPr>
          <p:cNvPr id="183" name="箭头: 下 14"/>
          <p:cNvSpPr/>
          <p:nvPr/>
        </p:nvSpPr>
        <p:spPr>
          <a:xfrm rot="16200000">
            <a:off x="9749091" y="3481108"/>
            <a:ext cx="422392" cy="651034"/>
          </a:xfrm>
          <a:prstGeom prst="downArrow">
            <a:avLst>
              <a:gd name="adj1" fmla="val 48920"/>
              <a:gd name="adj2" fmla="val 42437"/>
            </a:avLst>
          </a:prstGeom>
          <a:gradFill>
            <a:gsLst>
              <a:gs pos="100000">
                <a:schemeClr val="accent5"/>
              </a:gs>
              <a:gs pos="23000">
                <a:schemeClr val="accent5">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101010"/>
              </a:solidFill>
              <a:effectLst/>
              <a:uLnTx/>
              <a:uFillTx/>
              <a:latin typeface="微软雅黑" panose="020B0503020204020204" charset="-122"/>
              <a:ea typeface="微软雅黑" panose="020B0503020204020204" charset="-122"/>
              <a:cs typeface="微软雅黑" panose="020B0503020204020204" charset="-122"/>
            </a:endParaRPr>
          </a:p>
        </p:txBody>
      </p:sp>
      <p:sp>
        <p:nvSpPr>
          <p:cNvPr id="33" name="椭圆 32"/>
          <p:cNvSpPr/>
          <p:nvPr/>
        </p:nvSpPr>
        <p:spPr>
          <a:xfrm>
            <a:off x="10535920" y="3208655"/>
            <a:ext cx="1216660" cy="1216660"/>
          </a:xfrm>
          <a:prstGeom prst="ellipse">
            <a:avLst/>
          </a:prstGeom>
          <a:noFill/>
          <a:ln>
            <a:solidFill>
              <a:schemeClr val="accent5"/>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36" name="椭圆 35"/>
          <p:cNvSpPr/>
          <p:nvPr/>
        </p:nvSpPr>
        <p:spPr>
          <a:xfrm>
            <a:off x="456565" y="3208020"/>
            <a:ext cx="1216660" cy="1216660"/>
          </a:xfrm>
          <a:prstGeom prst="ellipse">
            <a:avLst/>
          </a:prstGeom>
          <a:noFill/>
          <a:ln>
            <a:solidFill>
              <a:schemeClr val="accent1"/>
            </a:solidFill>
          </a:ln>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cs typeface="微软雅黑" panose="020B0503020204020204" charset="-122"/>
            </a:endParaRPr>
          </a:p>
        </p:txBody>
      </p:sp>
      <p:sp>
        <p:nvSpPr>
          <p:cNvPr id="102" name="弧形 101"/>
          <p:cNvSpPr/>
          <p:nvPr>
            <p:custDataLst>
              <p:tags r:id="rId7"/>
            </p:custDataLst>
          </p:nvPr>
        </p:nvSpPr>
        <p:spPr>
          <a:xfrm>
            <a:off x="2935605" y="2509520"/>
            <a:ext cx="2388235" cy="2388235"/>
          </a:xfrm>
          <a:prstGeom prst="arc">
            <a:avLst>
              <a:gd name="adj1" fmla="val 6177775"/>
              <a:gd name="adj2" fmla="val 14813677"/>
            </a:avLst>
          </a:prstGeom>
          <a:ln>
            <a:solidFill>
              <a:schemeClr val="bg1"/>
            </a:solidFill>
            <a:prstDash val="dash"/>
            <a:headEnd type="none"/>
            <a:tailEnd type="triangle"/>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2" name="弧形 1"/>
          <p:cNvSpPr/>
          <p:nvPr>
            <p:custDataLst>
              <p:tags r:id="rId8"/>
            </p:custDataLst>
          </p:nvPr>
        </p:nvSpPr>
        <p:spPr>
          <a:xfrm flipH="1">
            <a:off x="6857365" y="2555875"/>
            <a:ext cx="2388235" cy="2388235"/>
          </a:xfrm>
          <a:prstGeom prst="arc">
            <a:avLst>
              <a:gd name="adj1" fmla="val 6490252"/>
              <a:gd name="adj2" fmla="val 14277454"/>
            </a:avLst>
          </a:prstGeom>
          <a:ln>
            <a:solidFill>
              <a:schemeClr val="bg1"/>
            </a:solidFill>
            <a:prstDash val="dash"/>
            <a:headEnd type="none"/>
            <a:tailEnd type="triangle"/>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cxnSp>
        <p:nvCxnSpPr>
          <p:cNvPr id="6" name="直接连接符 5"/>
          <p:cNvCxnSpPr/>
          <p:nvPr/>
        </p:nvCxnSpPr>
        <p:spPr>
          <a:xfrm>
            <a:off x="4965700" y="2589530"/>
            <a:ext cx="1254125" cy="1266190"/>
          </a:xfrm>
          <a:prstGeom prst="line">
            <a:avLst/>
          </a:prstGeom>
          <a:ln>
            <a:solidFill>
              <a:schemeClr val="bg1"/>
            </a:solidFill>
            <a:prstDash val="dash"/>
            <a:tailEnd type="triangle"/>
          </a:ln>
        </p:spPr>
        <p:style>
          <a:lnRef idx="2">
            <a:schemeClr val="accent1"/>
          </a:lnRef>
          <a:fillRef idx="0">
            <a:srgbClr val="FFFFFF"/>
          </a:fillRef>
          <a:effectRef idx="0">
            <a:srgbClr val="FFFFFF"/>
          </a:effectRef>
          <a:fontRef idx="minor">
            <a:schemeClr val="tx1"/>
          </a:fontRef>
        </p:style>
      </p:cxnSp>
      <p:cxnSp>
        <p:nvCxnSpPr>
          <p:cNvPr id="7" name="直接连接符 6"/>
          <p:cNvCxnSpPr/>
          <p:nvPr/>
        </p:nvCxnSpPr>
        <p:spPr>
          <a:xfrm flipV="1">
            <a:off x="4855845" y="4118610"/>
            <a:ext cx="871855" cy="793115"/>
          </a:xfrm>
          <a:prstGeom prst="line">
            <a:avLst/>
          </a:prstGeom>
          <a:ln>
            <a:solidFill>
              <a:schemeClr val="bg1"/>
            </a:solidFill>
            <a:prstDash val="dash"/>
            <a:headEnd type="triangle"/>
            <a:tailEnd type="none"/>
          </a:ln>
        </p:spPr>
        <p:style>
          <a:lnRef idx="2">
            <a:schemeClr val="accent1"/>
          </a:lnRef>
          <a:fillRef idx="0">
            <a:srgbClr val="FFFFFF"/>
          </a:fillRef>
          <a:effectRef idx="0">
            <a:srgbClr val="FFFFFF"/>
          </a:effectRef>
          <a:fontRef idx="minor">
            <a:schemeClr val="tx1"/>
          </a:fontRef>
        </p:style>
      </p:cxnSp>
      <p:cxnSp>
        <p:nvCxnSpPr>
          <p:cNvPr id="8" name="直接连接符 7"/>
          <p:cNvCxnSpPr/>
          <p:nvPr/>
        </p:nvCxnSpPr>
        <p:spPr>
          <a:xfrm flipV="1">
            <a:off x="6595110" y="2710815"/>
            <a:ext cx="598805" cy="598805"/>
          </a:xfrm>
          <a:prstGeom prst="line">
            <a:avLst/>
          </a:prstGeom>
          <a:ln>
            <a:solidFill>
              <a:schemeClr val="bg1"/>
            </a:solidFill>
            <a:prstDash val="dash"/>
            <a:headEnd type="triangle"/>
            <a:tailEnd type="none"/>
          </a:ln>
        </p:spPr>
        <p:style>
          <a:lnRef idx="2">
            <a:schemeClr val="accent1"/>
          </a:lnRef>
          <a:fillRef idx="0">
            <a:srgbClr val="FFFFFF"/>
          </a:fillRef>
          <a:effectRef idx="0">
            <a:srgbClr val="FFFFFF"/>
          </a:effectRef>
          <a:fontRef idx="minor">
            <a:schemeClr val="tx1"/>
          </a:fontRef>
        </p:style>
      </p:cxnSp>
      <p:cxnSp>
        <p:nvCxnSpPr>
          <p:cNvPr id="11" name="直接连接符 10"/>
          <p:cNvCxnSpPr/>
          <p:nvPr/>
        </p:nvCxnSpPr>
        <p:spPr>
          <a:xfrm>
            <a:off x="6423025" y="4083050"/>
            <a:ext cx="911860" cy="883920"/>
          </a:xfrm>
          <a:prstGeom prst="line">
            <a:avLst/>
          </a:prstGeom>
          <a:ln>
            <a:solidFill>
              <a:schemeClr val="bg1"/>
            </a:solidFill>
            <a:prstDash val="dash"/>
            <a:tailEnd type="triangle"/>
          </a:ln>
        </p:spPr>
        <p:style>
          <a:lnRef idx="2">
            <a:schemeClr val="accent1"/>
          </a:lnRef>
          <a:fillRef idx="0">
            <a:srgbClr val="FFFFFF"/>
          </a:fillRef>
          <a:effectRef idx="0">
            <a:srgbClr val="FFFFFF"/>
          </a:effectRef>
          <a:fontRef idx="minor">
            <a:schemeClr val="tx1"/>
          </a:fontRef>
        </p:style>
      </p:cxnSp>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2" name="组合 11"/>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9"/>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工作汇报</a:t>
            </a:r>
            <a:r>
              <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rPr>
              <a:t>/</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项目实施步骤</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6" name="©天蝎PPT13-2" descr="preencoded.png"/>
          <p:cNvSpPr/>
          <p:nvPr>
            <p:custDataLst>
              <p:tags r:id="rId3"/>
            </p:custDataLst>
          </p:nvPr>
        </p:nvSpPr>
        <p:spPr>
          <a:xfrm>
            <a:off x="1864995" y="1361440"/>
            <a:ext cx="4556125" cy="4924425"/>
          </a:xfrm>
          <a:custGeom>
            <a:avLst/>
            <a:gdLst>
              <a:gd name="connsiteX0" fmla="*/ 16842176 w 16842176"/>
              <a:gd name="connsiteY0" fmla="*/ 4432249 h 6648368"/>
              <a:gd name="connsiteX1" fmla="*/ 16842176 w 16842176"/>
              <a:gd name="connsiteY1" fmla="*/ 2216120 h 6648368"/>
              <a:gd name="connsiteX2" fmla="*/ 0 w 16842176"/>
              <a:gd name="connsiteY2" fmla="*/ 0 h 6648368"/>
              <a:gd name="connsiteX3" fmla="*/ 0 w 16842176"/>
              <a:gd name="connsiteY3" fmla="*/ 6648369 h 6648368"/>
              <a:gd name="connsiteX4" fmla="*/ 16842176 w 16842176"/>
              <a:gd name="connsiteY4" fmla="*/ 4432249 h 6648368"/>
              <a:gd name="connsiteX0-1" fmla="*/ 16842176 w 16842176"/>
              <a:gd name="connsiteY0-2" fmla="*/ 4432249 h 6648369"/>
              <a:gd name="connsiteX1-3" fmla="*/ 16842176 w 16842176"/>
              <a:gd name="connsiteY1-4" fmla="*/ 2216120 h 6648369"/>
              <a:gd name="connsiteX2-5" fmla="*/ 0 w 16842176"/>
              <a:gd name="connsiteY2-6" fmla="*/ 0 h 6648369"/>
              <a:gd name="connsiteX3-7" fmla="*/ 0 w 16842176"/>
              <a:gd name="connsiteY3-8" fmla="*/ 6648369 h 6648369"/>
              <a:gd name="connsiteX4-9" fmla="*/ 16842176 w 16842176"/>
              <a:gd name="connsiteY4-10" fmla="*/ 4432249 h 6648369"/>
              <a:gd name="connsiteX0-11" fmla="*/ 16842176 w 16842176"/>
              <a:gd name="connsiteY0-12" fmla="*/ 4432249 h 6648369"/>
              <a:gd name="connsiteX1-13" fmla="*/ 16842176 w 16842176"/>
              <a:gd name="connsiteY1-14" fmla="*/ 2216120 h 6648369"/>
              <a:gd name="connsiteX2-15" fmla="*/ 0 w 16842176"/>
              <a:gd name="connsiteY2-16" fmla="*/ 0 h 6648369"/>
              <a:gd name="connsiteX3-17" fmla="*/ 0 w 16842176"/>
              <a:gd name="connsiteY3-18" fmla="*/ 6648369 h 6648369"/>
              <a:gd name="connsiteX4-19" fmla="*/ 16842176 w 16842176"/>
              <a:gd name="connsiteY4-20" fmla="*/ 4432249 h 664836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842176" h="6648369">
                <a:moveTo>
                  <a:pt x="16842176" y="4432249"/>
                </a:moveTo>
                <a:lnTo>
                  <a:pt x="16842176" y="2216120"/>
                </a:lnTo>
                <a:cubicBezTo>
                  <a:pt x="10104722" y="2412054"/>
                  <a:pt x="6493594" y="1612950"/>
                  <a:pt x="0" y="0"/>
                </a:cubicBezTo>
                <a:lnTo>
                  <a:pt x="0" y="6648369"/>
                </a:lnTo>
                <a:cubicBezTo>
                  <a:pt x="6595057" y="4996512"/>
                  <a:pt x="10046146" y="3549857"/>
                  <a:pt x="16842176" y="4432249"/>
                </a:cubicBezTo>
                <a:close/>
              </a:path>
            </a:pathLst>
          </a:custGeom>
          <a:gradFill flip="none" rotWithShape="1">
            <a:gsLst>
              <a:gs pos="0">
                <a:schemeClr val="accent5">
                  <a:lumMod val="60000"/>
                  <a:lumOff val="40000"/>
                  <a:alpha val="0"/>
                </a:schemeClr>
              </a:gs>
              <a:gs pos="100000">
                <a:schemeClr val="accent5">
                  <a:lumMod val="60000"/>
                  <a:lumOff val="40000"/>
                  <a:alpha val="60000"/>
                </a:schemeClr>
              </a:gs>
            </a:gsLst>
            <a:lin ang="0" scaled="0"/>
          </a:gradFill>
          <a:ln w="19050" cap="flat">
            <a:noFill/>
            <a:prstDash val="solid"/>
            <a:miter/>
          </a:ln>
        </p:spPr>
        <p:txBody>
          <a:bodyPr rtlCol="0" anchor="ctr"/>
          <a:lstStyle/>
          <a:p>
            <a:pPr defTabSz="731520"/>
            <a:endParaRPr lang="zh-CN" altLang="en-US" sz="1440">
              <a:solidFill>
                <a:prstClr val="black"/>
              </a:solidFill>
              <a:latin typeface="微软雅黑" panose="020B0503020204020204" charset="-122"/>
              <a:ea typeface="微软雅黑" panose="020B0503020204020204" charset="-122"/>
              <a:cs typeface="+mn-ea"/>
              <a:sym typeface="Arial" panose="020B0604020202020204" pitchFamily="34" charset="0"/>
            </a:endParaRPr>
          </a:p>
        </p:txBody>
      </p:sp>
      <p:sp>
        <p:nvSpPr>
          <p:cNvPr id="37" name="©天蝎PPT13-1" descr="preencoded.png"/>
          <p:cNvSpPr/>
          <p:nvPr>
            <p:custDataLst>
              <p:tags r:id="rId4"/>
            </p:custDataLst>
          </p:nvPr>
        </p:nvSpPr>
        <p:spPr>
          <a:xfrm flipH="1">
            <a:off x="6106795" y="1361440"/>
            <a:ext cx="4260850" cy="4924425"/>
          </a:xfrm>
          <a:custGeom>
            <a:avLst/>
            <a:gdLst>
              <a:gd name="connsiteX0" fmla="*/ 16842176 w 16842176"/>
              <a:gd name="connsiteY0" fmla="*/ 4432249 h 6648368"/>
              <a:gd name="connsiteX1" fmla="*/ 16842176 w 16842176"/>
              <a:gd name="connsiteY1" fmla="*/ 2216120 h 6648368"/>
              <a:gd name="connsiteX2" fmla="*/ 0 w 16842176"/>
              <a:gd name="connsiteY2" fmla="*/ 0 h 6648368"/>
              <a:gd name="connsiteX3" fmla="*/ 0 w 16842176"/>
              <a:gd name="connsiteY3" fmla="*/ 6648369 h 6648368"/>
              <a:gd name="connsiteX4" fmla="*/ 16842176 w 16842176"/>
              <a:gd name="connsiteY4" fmla="*/ 4432249 h 6648368"/>
              <a:gd name="connsiteX0-1" fmla="*/ 16842176 w 16842176"/>
              <a:gd name="connsiteY0-2" fmla="*/ 4432249 h 6648369"/>
              <a:gd name="connsiteX1-3" fmla="*/ 16842176 w 16842176"/>
              <a:gd name="connsiteY1-4" fmla="*/ 2216120 h 6648369"/>
              <a:gd name="connsiteX2-5" fmla="*/ 0 w 16842176"/>
              <a:gd name="connsiteY2-6" fmla="*/ 0 h 6648369"/>
              <a:gd name="connsiteX3-7" fmla="*/ 0 w 16842176"/>
              <a:gd name="connsiteY3-8" fmla="*/ 6648369 h 6648369"/>
              <a:gd name="connsiteX4-9" fmla="*/ 16842176 w 16842176"/>
              <a:gd name="connsiteY4-10" fmla="*/ 4432249 h 6648369"/>
              <a:gd name="connsiteX0-11" fmla="*/ 16842176 w 16842176"/>
              <a:gd name="connsiteY0-12" fmla="*/ 4432249 h 6648369"/>
              <a:gd name="connsiteX1-13" fmla="*/ 16842176 w 16842176"/>
              <a:gd name="connsiteY1-14" fmla="*/ 2216120 h 6648369"/>
              <a:gd name="connsiteX2-15" fmla="*/ 0 w 16842176"/>
              <a:gd name="connsiteY2-16" fmla="*/ 0 h 6648369"/>
              <a:gd name="connsiteX3-17" fmla="*/ 0 w 16842176"/>
              <a:gd name="connsiteY3-18" fmla="*/ 6648369 h 6648369"/>
              <a:gd name="connsiteX4-19" fmla="*/ 16842176 w 16842176"/>
              <a:gd name="connsiteY4-20" fmla="*/ 4432249 h 6648369"/>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16842176" h="6648369">
                <a:moveTo>
                  <a:pt x="16842176" y="4432249"/>
                </a:moveTo>
                <a:lnTo>
                  <a:pt x="16842176" y="2216120"/>
                </a:lnTo>
                <a:cubicBezTo>
                  <a:pt x="10104722" y="2412054"/>
                  <a:pt x="6493594" y="1612950"/>
                  <a:pt x="0" y="0"/>
                </a:cubicBezTo>
                <a:lnTo>
                  <a:pt x="0" y="6648369"/>
                </a:lnTo>
                <a:cubicBezTo>
                  <a:pt x="6595057" y="4996512"/>
                  <a:pt x="10046146" y="3549857"/>
                  <a:pt x="16842176" y="4432249"/>
                </a:cubicBezTo>
                <a:close/>
              </a:path>
            </a:pathLst>
          </a:custGeom>
          <a:gradFill flip="none" rotWithShape="1">
            <a:gsLst>
              <a:gs pos="0">
                <a:schemeClr val="accent5">
                  <a:lumMod val="60000"/>
                  <a:lumOff val="40000"/>
                  <a:alpha val="0"/>
                </a:schemeClr>
              </a:gs>
              <a:gs pos="100000">
                <a:schemeClr val="accent5">
                  <a:lumMod val="60000"/>
                  <a:lumOff val="40000"/>
                  <a:alpha val="60000"/>
                </a:schemeClr>
              </a:gs>
            </a:gsLst>
            <a:lin ang="0" scaled="0"/>
          </a:gradFill>
          <a:ln w="19050" cap="flat">
            <a:noFill/>
            <a:prstDash val="solid"/>
            <a:miter/>
          </a:ln>
        </p:spPr>
        <p:txBody>
          <a:bodyPr rtlCol="0" anchor="ctr">
            <a:noAutofit/>
          </a:bodyPr>
          <a:lstStyle/>
          <a:p>
            <a:pPr lvl="0" algn="l" defTabSz="731520">
              <a:buClrTx/>
              <a:buSzTx/>
              <a:buFontTx/>
            </a:pPr>
            <a:endParaRPr lang="zh-CN" altLang="en-US" sz="1440">
              <a:solidFill>
                <a:prstClr val="black"/>
              </a:solidFill>
              <a:latin typeface="微软雅黑" panose="020B0503020204020204" charset="-122"/>
              <a:ea typeface="微软雅黑" panose="020B0503020204020204" charset="-122"/>
              <a:cs typeface="+mn-ea"/>
              <a:sym typeface="Arial" panose="020B0604020202020204" pitchFamily="34" charset="0"/>
            </a:endParaRPr>
          </a:p>
        </p:txBody>
      </p:sp>
      <p:sp>
        <p:nvSpPr>
          <p:cNvPr id="38" name="©天蝎PPT13-3"/>
          <p:cNvSpPr/>
          <p:nvPr>
            <p:custDataLst>
              <p:tags r:id="rId5"/>
            </p:custDataLst>
          </p:nvPr>
        </p:nvSpPr>
        <p:spPr>
          <a:xfrm rot="3600000">
            <a:off x="3760470" y="1176655"/>
            <a:ext cx="4890135" cy="4890135"/>
          </a:xfrm>
          <a:prstGeom prst="pie">
            <a:avLst>
              <a:gd name="adj1" fmla="val 10778284"/>
              <a:gd name="adj2" fmla="val 14378552"/>
            </a:avLst>
          </a:prstGeom>
          <a:solidFill>
            <a:schemeClr val="lt1"/>
          </a:solidFill>
          <a:ln w="9525">
            <a:noFill/>
          </a:ln>
          <a:effectLst>
            <a:outerShdw blurRad="368300" dist="203200" dir="5400000" sx="98000" sy="98000" algn="t" rotWithShape="0">
              <a:schemeClr val="accent5">
                <a:lumMod val="60000"/>
                <a:lumOff val="4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39" name="©天蝎PPT13-4"/>
          <p:cNvSpPr/>
          <p:nvPr>
            <p:custDataLst>
              <p:tags r:id="rId6"/>
            </p:custDataLst>
          </p:nvPr>
        </p:nvSpPr>
        <p:spPr>
          <a:xfrm rot="7200000">
            <a:off x="3850005" y="1219200"/>
            <a:ext cx="4890135" cy="4890135"/>
          </a:xfrm>
          <a:prstGeom prst="pie">
            <a:avLst>
              <a:gd name="adj1" fmla="val 10778284"/>
              <a:gd name="adj2" fmla="val 14378552"/>
            </a:avLst>
          </a:prstGeom>
          <a:solidFill>
            <a:schemeClr val="lt1"/>
          </a:solidFill>
          <a:ln w="9525">
            <a:noFill/>
          </a:ln>
          <a:effectLst>
            <a:outerShdw blurRad="368300" dist="203200" dir="5400000" sx="98000" sy="98000" algn="t" rotWithShape="0">
              <a:schemeClr val="accent5">
                <a:lumMod val="60000"/>
                <a:lumOff val="4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40" name="©天蝎PPT13-5"/>
          <p:cNvSpPr/>
          <p:nvPr>
            <p:custDataLst>
              <p:tags r:id="rId7"/>
            </p:custDataLst>
          </p:nvPr>
        </p:nvSpPr>
        <p:spPr>
          <a:xfrm rot="14400000">
            <a:off x="3764280" y="1364615"/>
            <a:ext cx="4890135" cy="4890135"/>
          </a:xfrm>
          <a:prstGeom prst="pie">
            <a:avLst>
              <a:gd name="adj1" fmla="val 10778284"/>
              <a:gd name="adj2" fmla="val 14378552"/>
            </a:avLst>
          </a:prstGeom>
          <a:solidFill>
            <a:schemeClr val="lt1"/>
          </a:solidFill>
          <a:ln w="9525">
            <a:noFill/>
          </a:ln>
          <a:effectLst>
            <a:outerShdw blurRad="368300" dist="203200" dir="5400000" sx="98000" sy="98000" algn="t" rotWithShape="0">
              <a:schemeClr val="accent5">
                <a:lumMod val="60000"/>
                <a:lumOff val="4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41" name="©天蝎PPT13-6"/>
          <p:cNvSpPr/>
          <p:nvPr>
            <p:custDataLst>
              <p:tags r:id="rId8"/>
            </p:custDataLst>
          </p:nvPr>
        </p:nvSpPr>
        <p:spPr>
          <a:xfrm rot="18000000">
            <a:off x="3676650" y="1314450"/>
            <a:ext cx="4890135" cy="4890135"/>
          </a:xfrm>
          <a:prstGeom prst="pie">
            <a:avLst>
              <a:gd name="adj1" fmla="val 10778284"/>
              <a:gd name="adj2" fmla="val 14378552"/>
            </a:avLst>
          </a:prstGeom>
          <a:solidFill>
            <a:schemeClr val="lt1"/>
          </a:solidFill>
          <a:ln w="9525">
            <a:noFill/>
          </a:ln>
          <a:effectLst>
            <a:outerShdw blurRad="368300" dist="203200" dir="5400000" sx="98000" sy="98000" algn="t" rotWithShape="0">
              <a:schemeClr val="accent5">
                <a:lumMod val="60000"/>
                <a:lumOff val="4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68" name="©天蝎PPT13-9"/>
          <p:cNvSpPr/>
          <p:nvPr>
            <p:custDataLst>
              <p:tags r:id="rId9"/>
            </p:custDataLst>
          </p:nvPr>
        </p:nvSpPr>
        <p:spPr>
          <a:xfrm rot="14400000">
            <a:off x="3682867" y="1234711"/>
            <a:ext cx="4922378" cy="4922378"/>
          </a:xfrm>
          <a:prstGeom prst="arc">
            <a:avLst>
              <a:gd name="adj1" fmla="val 18009186"/>
              <a:gd name="adj2" fmla="val 0"/>
            </a:avLst>
          </a:prstGeom>
          <a:ln w="25400">
            <a:gradFill>
              <a:gsLst>
                <a:gs pos="1000">
                  <a:srgbClr val="D1E6DA">
                    <a:lumMod val="20000"/>
                    <a:lumOff val="80000"/>
                  </a:srgbClr>
                </a:gs>
                <a:gs pos="99000">
                  <a:schemeClr val="accent5">
                    <a:lumMod val="60000"/>
                    <a:lumOff val="40000"/>
                  </a:schemeClr>
                </a:gs>
              </a:gsLst>
              <a:lin ang="5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D0D0D"/>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69" name="©天蝎PPT13-10"/>
          <p:cNvSpPr/>
          <p:nvPr>
            <p:custDataLst>
              <p:tags r:id="rId10"/>
            </p:custDataLst>
          </p:nvPr>
        </p:nvSpPr>
        <p:spPr>
          <a:xfrm rot="18000000">
            <a:off x="3727832" y="1167149"/>
            <a:ext cx="4922378" cy="4922378"/>
          </a:xfrm>
          <a:prstGeom prst="arc">
            <a:avLst>
              <a:gd name="adj1" fmla="val 18009186"/>
              <a:gd name="adj2" fmla="val 0"/>
            </a:avLst>
          </a:prstGeom>
          <a:ln w="25400">
            <a:gradFill>
              <a:gsLst>
                <a:gs pos="1000">
                  <a:srgbClr val="D1E6DA">
                    <a:lumMod val="20000"/>
                    <a:lumOff val="80000"/>
                  </a:srgbClr>
                </a:gs>
                <a:gs pos="99000">
                  <a:schemeClr val="accent5">
                    <a:lumMod val="60000"/>
                    <a:lumOff val="40000"/>
                  </a:schemeClr>
                </a:gs>
              </a:gsLst>
              <a:lin ang="5400000" scaled="0"/>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kumimoji="1" lang="zh-CN" altLang="en-US" noProof="0">
              <a:ln>
                <a:noFill/>
              </a:ln>
              <a:solidFill>
                <a:srgbClr val="0D0D0D"/>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83" name="©天蝎PPT13-7"/>
          <p:cNvSpPr/>
          <p:nvPr>
            <p:custDataLst>
              <p:tags r:id="rId11"/>
            </p:custDataLst>
          </p:nvPr>
        </p:nvSpPr>
        <p:spPr>
          <a:xfrm rot="3600000">
            <a:off x="3814639" y="1269327"/>
            <a:ext cx="4922378" cy="4922378"/>
          </a:xfrm>
          <a:prstGeom prst="arc">
            <a:avLst>
              <a:gd name="adj1" fmla="val 18052624"/>
              <a:gd name="adj2" fmla="val 0"/>
            </a:avLst>
          </a:prstGeom>
          <a:ln w="25400">
            <a:gradFill>
              <a:gsLst>
                <a:gs pos="1000">
                  <a:srgbClr val="D1E6DA">
                    <a:lumMod val="20000"/>
                    <a:lumOff val="80000"/>
                  </a:srgbClr>
                </a:gs>
                <a:gs pos="99000">
                  <a:schemeClr val="accent5">
                    <a:lumMod val="60000"/>
                    <a:lumOff val="40000"/>
                  </a:schemeClr>
                </a:gs>
              </a:gsLst>
              <a:lin ang="5400000" scaled="0"/>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kumimoji="1" lang="zh-CN" altLang="en-US" noProof="0">
              <a:ln>
                <a:noFill/>
              </a:ln>
              <a:solidFill>
                <a:srgbClr val="0D0D0D"/>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96" name="©天蝎PPT13-8"/>
          <p:cNvSpPr/>
          <p:nvPr>
            <p:custDataLst>
              <p:tags r:id="rId12"/>
            </p:custDataLst>
          </p:nvPr>
        </p:nvSpPr>
        <p:spPr>
          <a:xfrm rot="7200000">
            <a:off x="3771095" y="1342482"/>
            <a:ext cx="4922378" cy="4922378"/>
          </a:xfrm>
          <a:prstGeom prst="arc">
            <a:avLst>
              <a:gd name="adj1" fmla="val 18009186"/>
              <a:gd name="adj2" fmla="val 0"/>
            </a:avLst>
          </a:prstGeom>
          <a:ln w="25400">
            <a:gradFill>
              <a:gsLst>
                <a:gs pos="1000">
                  <a:srgbClr val="D1E6DA">
                    <a:lumMod val="20000"/>
                    <a:lumOff val="80000"/>
                  </a:srgbClr>
                </a:gs>
                <a:gs pos="99000">
                  <a:schemeClr val="accent5">
                    <a:lumMod val="60000"/>
                    <a:lumOff val="40000"/>
                  </a:schemeClr>
                </a:gs>
              </a:gsLst>
              <a:lin ang="5400000" scaled="0"/>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kumimoji="1" lang="zh-CN" altLang="en-US" noProof="0">
              <a:ln>
                <a:noFill/>
              </a:ln>
              <a:solidFill>
                <a:srgbClr val="0D0D0D"/>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175" name="©天蝎PPT14"/>
          <p:cNvSpPr/>
          <p:nvPr>
            <p:custDataLst>
              <p:tags r:id="rId13"/>
            </p:custDataLst>
          </p:nvPr>
        </p:nvSpPr>
        <p:spPr>
          <a:xfrm>
            <a:off x="378071" y="1672272"/>
            <a:ext cx="2433024" cy="44889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76" name="©天蝎PPT14"/>
          <p:cNvSpPr/>
          <p:nvPr>
            <p:custDataLst>
              <p:tags r:id="rId14"/>
            </p:custDataLst>
          </p:nvPr>
        </p:nvSpPr>
        <p:spPr>
          <a:xfrm>
            <a:off x="379976" y="1694497"/>
            <a:ext cx="2433024" cy="4488942"/>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77" name="©天蝎PPT15"/>
          <p:cNvSpPr/>
          <p:nvPr/>
        </p:nvSpPr>
        <p:spPr>
          <a:xfrm>
            <a:off x="379975" y="1214867"/>
            <a:ext cx="2431389" cy="668733"/>
          </a:xfrm>
          <a:prstGeom prst="round2SameRect">
            <a:avLst>
              <a:gd name="adj1" fmla="val 15541"/>
              <a:gd name="adj2" fmla="val 0"/>
            </a:avLst>
          </a:prstGeom>
          <a:gradFill flip="none" rotWithShape="1">
            <a:gsLst>
              <a:gs pos="29000">
                <a:schemeClr val="accent1"/>
              </a:gs>
              <a:gs pos="99000">
                <a:schemeClr val="accent1">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78" name="©天蝎PPT16"/>
          <p:cNvSpPr txBox="1"/>
          <p:nvPr/>
        </p:nvSpPr>
        <p:spPr>
          <a:xfrm>
            <a:off x="523825" y="1518812"/>
            <a:ext cx="1530536" cy="275590"/>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defRPr/>
            </a:pPr>
            <a:r>
              <a:rPr lang="zh-CN" altLang="en-US" sz="1200" b="1" dirty="0">
                <a:solidFill>
                  <a:srgbClr val="FFFFFF"/>
                </a:solidFill>
                <a:latin typeface="微软雅黑" panose="020B0503020204020204" charset="-122"/>
                <a:ea typeface="微软雅黑" panose="020B0503020204020204" charset="-122"/>
                <a:cs typeface="+mn-ea"/>
                <a:sym typeface="Arial" panose="020B0604020202020204" pitchFamily="34" charset="0"/>
              </a:rPr>
              <a:t>具体任务计划</a:t>
            </a:r>
            <a:endParaRPr lang="zh-CN" altLang="en-US" sz="1200" b="1" dirty="0">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179" name="©天蝎PPT17"/>
          <p:cNvSpPr txBox="1"/>
          <p:nvPr/>
        </p:nvSpPr>
        <p:spPr>
          <a:xfrm>
            <a:off x="523824" y="1301098"/>
            <a:ext cx="2220434" cy="276999"/>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defRPr/>
            </a:pPr>
            <a:r>
              <a:rPr lang="en-US" altLang="zh-CN" sz="1200">
                <a:solidFill>
                  <a:srgbClr val="FFFFFF"/>
                </a:solidFill>
                <a:latin typeface="微软雅黑" panose="020B0503020204020204" charset="-122"/>
                <a:ea typeface="微软雅黑" panose="020B0503020204020204" charset="-122"/>
                <a:cs typeface="+mn-ea"/>
                <a:sym typeface="Arial" panose="020B0604020202020204" pitchFamily="34" charset="0"/>
              </a:rPr>
              <a:t>CUSTOMER SEGMENT</a:t>
            </a:r>
            <a:endParaRPr lang="en-US" altLang="zh-CN" sz="1200" dirty="0">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180" name="©天蝎PPT18"/>
          <p:cNvSpPr/>
          <p:nvPr/>
        </p:nvSpPr>
        <p:spPr>
          <a:xfrm>
            <a:off x="1939188" y="1370670"/>
            <a:ext cx="755335" cy="707886"/>
          </a:xfrm>
          <a:prstGeom prst="rect">
            <a:avLst/>
          </a:prstGeom>
        </p:spPr>
        <p:txBody>
          <a:bodyPr wrap="none">
            <a:spAutoFit/>
          </a:bodyPr>
          <a:lstStyle/>
          <a:p>
            <a:r>
              <a:rPr kumimoji="1" lang="en-US" altLang="zh-CN" sz="4000" b="1" dirty="0">
                <a:gradFill>
                  <a:gsLst>
                    <a:gs pos="26000">
                      <a:srgbClr val="FFFFFF">
                        <a:alpha val="0"/>
                      </a:srgbClr>
                    </a:gs>
                    <a:gs pos="99000">
                      <a:srgbClr val="FFFFFF">
                        <a:alpha val="20000"/>
                      </a:srgbClr>
                    </a:gs>
                  </a:gsLst>
                  <a:lin ang="16200000" scaled="0"/>
                </a:gradFill>
                <a:latin typeface="微软雅黑" panose="020B0503020204020204" charset="-122"/>
                <a:ea typeface="微软雅黑" panose="020B0503020204020204" charset="-122"/>
                <a:cs typeface="+mn-ea"/>
                <a:sym typeface="Arial" panose="020B0604020202020204" pitchFamily="34" charset="0"/>
              </a:rPr>
              <a:t>02</a:t>
            </a:r>
            <a:endParaRPr kumimoji="1" lang="en-US" altLang="zh-CN" sz="4000" b="1" dirty="0">
              <a:gradFill>
                <a:gsLst>
                  <a:gs pos="26000">
                    <a:srgbClr val="FFFFFF">
                      <a:alpha val="0"/>
                    </a:srgbClr>
                  </a:gs>
                  <a:gs pos="99000">
                    <a:srgbClr val="FFFFFF">
                      <a:alpha val="20000"/>
                    </a:srgbClr>
                  </a:gs>
                </a:gsLst>
                <a:lin ang="16200000" scaled="0"/>
              </a:gradFill>
              <a:latin typeface="微软雅黑" panose="020B0503020204020204" charset="-122"/>
              <a:ea typeface="微软雅黑" panose="020B0503020204020204" charset="-122"/>
              <a:cs typeface="+mn-ea"/>
              <a:sym typeface="Arial" panose="020B0604020202020204" pitchFamily="34" charset="0"/>
            </a:endParaRPr>
          </a:p>
        </p:txBody>
      </p:sp>
      <p:cxnSp>
        <p:nvCxnSpPr>
          <p:cNvPr id="181" name="©天蝎PPT19"/>
          <p:cNvCxnSpPr/>
          <p:nvPr/>
        </p:nvCxnSpPr>
        <p:spPr>
          <a:xfrm>
            <a:off x="559835" y="3307227"/>
            <a:ext cx="2073307" cy="0"/>
          </a:xfrm>
          <a:prstGeom prst="line">
            <a:avLst/>
          </a:prstGeom>
          <a:noFill/>
          <a:ln w="6350" cap="flat" cmpd="sng" algn="ctr">
            <a:solidFill>
              <a:schemeClr val="tx2"/>
            </a:solidFill>
            <a:prstDash val="solid"/>
            <a:miter lim="800000"/>
          </a:ln>
          <a:effectLst/>
        </p:spPr>
      </p:cxnSp>
      <p:cxnSp>
        <p:nvCxnSpPr>
          <p:cNvPr id="182" name="©天蝎PPT20"/>
          <p:cNvCxnSpPr/>
          <p:nvPr/>
        </p:nvCxnSpPr>
        <p:spPr>
          <a:xfrm>
            <a:off x="559835" y="4736999"/>
            <a:ext cx="2073307" cy="0"/>
          </a:xfrm>
          <a:prstGeom prst="line">
            <a:avLst/>
          </a:prstGeom>
          <a:noFill/>
          <a:ln w="6350" cap="flat" cmpd="sng" algn="ctr">
            <a:solidFill>
              <a:schemeClr val="tx2"/>
            </a:solidFill>
            <a:prstDash val="solid"/>
            <a:miter lim="800000"/>
          </a:ln>
          <a:effectLst/>
        </p:spPr>
      </p:cxnSp>
      <p:sp>
        <p:nvSpPr>
          <p:cNvPr id="183" name="©天蝎PPT26"/>
          <p:cNvSpPr txBox="1"/>
          <p:nvPr>
            <p:custDataLst>
              <p:tags r:id="rId15"/>
            </p:custDataLst>
          </p:nvPr>
        </p:nvSpPr>
        <p:spPr>
          <a:xfrm>
            <a:off x="574637" y="2346674"/>
            <a:ext cx="2117559" cy="583878"/>
          </a:xfrm>
          <a:prstGeom prst="rect">
            <a:avLst/>
          </a:prstGeom>
          <a:noFill/>
        </p:spPr>
        <p:txBody>
          <a:bodyPr wrap="square" lIns="0" tIns="0" rIns="0" bIns="0" rtlCol="0">
            <a:spAutoFit/>
          </a:bodyPr>
          <a:lstStyle/>
          <a:p>
            <a:pPr rtl="0">
              <a:lnSpc>
                <a:spcPct val="130000"/>
              </a:lnSpc>
            </a:pP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根据项目计划，将具体任务分配给团队成员，并跟进任务的执行情况，确保项目输出符合要求。</a:t>
            </a:r>
            <a:endPar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184" name="©天蝎PPT27"/>
          <p:cNvSpPr txBox="1"/>
          <p:nvPr>
            <p:custDataLst>
              <p:tags r:id="rId16"/>
            </p:custDataLst>
          </p:nvPr>
        </p:nvSpPr>
        <p:spPr>
          <a:xfrm>
            <a:off x="504251" y="2053403"/>
            <a:ext cx="1957677" cy="276999"/>
          </a:xfrm>
          <a:prstGeom prst="rect">
            <a:avLst/>
          </a:prstGeom>
          <a:noFill/>
        </p:spPr>
        <p:txBody>
          <a:bodyPr wrap="square">
            <a:spAutoFit/>
          </a:bodyPr>
          <a:lstStyle/>
          <a:p>
            <a:pPr rtl="0"/>
            <a:r>
              <a:rPr lang="zh-CN" altLang="en-US" sz="1200" b="1" dirty="0">
                <a:solidFill>
                  <a:schemeClr val="accent1"/>
                </a:solidFill>
                <a:effectLst/>
                <a:latin typeface="微软雅黑" panose="020B0503020204020204" charset="-122"/>
                <a:ea typeface="微软雅黑" panose="020B0503020204020204" charset="-122"/>
                <a:cs typeface="+mn-ea"/>
                <a:sym typeface="Arial" panose="020B0604020202020204" pitchFamily="34" charset="0"/>
              </a:rPr>
              <a:t>项目实施与监控</a:t>
            </a:r>
            <a:endParaRPr lang="zh-CN" altLang="en-US" sz="1200" b="1" dirty="0">
              <a:solidFill>
                <a:schemeClr val="accent1"/>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185" name="©天蝎PPT28"/>
          <p:cNvSpPr txBox="1"/>
          <p:nvPr>
            <p:custDataLst>
              <p:tags r:id="rId17"/>
            </p:custDataLst>
          </p:nvPr>
        </p:nvSpPr>
        <p:spPr>
          <a:xfrm>
            <a:off x="504251" y="3541432"/>
            <a:ext cx="1957677" cy="276999"/>
          </a:xfrm>
          <a:prstGeom prst="rect">
            <a:avLst/>
          </a:prstGeom>
          <a:noFill/>
        </p:spPr>
        <p:txBody>
          <a:bodyPr wrap="square">
            <a:spAutoFit/>
          </a:bodyPr>
          <a:lstStyle/>
          <a:p>
            <a:r>
              <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项目变更管理</a:t>
            </a:r>
            <a:endPar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186" name="©天蝎PPT29"/>
          <p:cNvSpPr txBox="1"/>
          <p:nvPr>
            <p:custDataLst>
              <p:tags r:id="rId18"/>
            </p:custDataLst>
          </p:nvPr>
        </p:nvSpPr>
        <p:spPr>
          <a:xfrm>
            <a:off x="574637" y="3830138"/>
            <a:ext cx="2117559" cy="583878"/>
          </a:xfrm>
          <a:prstGeom prst="rect">
            <a:avLst/>
          </a:prstGeom>
          <a:noFill/>
        </p:spPr>
        <p:txBody>
          <a:bodyPr wrap="square" lIns="0" tIns="0" rIns="0" bIns="0" rtlCol="0">
            <a:spAutoFit/>
          </a:bodyPr>
          <a:lstStyle/>
          <a:p>
            <a:pPr rtl="0">
              <a:lnSpc>
                <a:spcPct val="130000"/>
              </a:lnSpc>
            </a:pP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在项目执行过程中，及时识别并记录变更需求，分析变更对项目范围、时间、成本等方面的影响。</a:t>
            </a:r>
            <a:endPar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187" name="©天蝎PPT30"/>
          <p:cNvSpPr txBox="1"/>
          <p:nvPr>
            <p:custDataLst>
              <p:tags r:id="rId19"/>
            </p:custDataLst>
          </p:nvPr>
        </p:nvSpPr>
        <p:spPr>
          <a:xfrm>
            <a:off x="504251" y="4916229"/>
            <a:ext cx="1957677" cy="276999"/>
          </a:xfrm>
          <a:prstGeom prst="rect">
            <a:avLst/>
          </a:prstGeom>
          <a:noFill/>
        </p:spPr>
        <p:txBody>
          <a:bodyPr wrap="square">
            <a:spAutoFit/>
          </a:bodyPr>
          <a:lstStyle/>
          <a:p>
            <a:r>
              <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项目收尾与总结</a:t>
            </a:r>
            <a:endPar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188" name="©天蝎PPT31"/>
          <p:cNvSpPr txBox="1"/>
          <p:nvPr>
            <p:custDataLst>
              <p:tags r:id="rId20"/>
            </p:custDataLst>
          </p:nvPr>
        </p:nvSpPr>
        <p:spPr>
          <a:xfrm>
            <a:off x="574637" y="5204935"/>
            <a:ext cx="2117559" cy="583878"/>
          </a:xfrm>
          <a:prstGeom prst="rect">
            <a:avLst/>
          </a:prstGeom>
          <a:noFill/>
        </p:spPr>
        <p:txBody>
          <a:bodyPr wrap="square" lIns="0" tIns="0" rIns="0" bIns="0" rtlCol="0">
            <a:spAutoFit/>
          </a:bodyPr>
          <a:lstStyle/>
          <a:p>
            <a:pPr rtl="0">
              <a:lnSpc>
                <a:spcPct val="130000"/>
              </a:lnSpc>
            </a:pP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确保项目成果符合合同规定的质量和标准，并得到客户的正式验收，整理和归档所有项目文档。</a:t>
            </a:r>
            <a:endPar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189" name="©天蝎PPT14"/>
          <p:cNvSpPr/>
          <p:nvPr>
            <p:custDataLst>
              <p:tags r:id="rId21"/>
            </p:custDataLst>
          </p:nvPr>
        </p:nvSpPr>
        <p:spPr>
          <a:xfrm>
            <a:off x="9369036" y="1672272"/>
            <a:ext cx="2433024" cy="4488942"/>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90" name="©天蝎PPT14"/>
          <p:cNvSpPr/>
          <p:nvPr>
            <p:custDataLst>
              <p:tags r:id="rId22"/>
            </p:custDataLst>
          </p:nvPr>
        </p:nvSpPr>
        <p:spPr>
          <a:xfrm>
            <a:off x="9370941" y="1694497"/>
            <a:ext cx="2433024" cy="4488942"/>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lstStyle/>
          <a:p>
            <a:pPr lvl="0" algn="ctr">
              <a:buClrTx/>
              <a:buSzTx/>
              <a:buFontTx/>
            </a:pPr>
            <a:endParaRPr kumimoji="1" lang="zh-CN" altLang="en-US" dirty="0">
              <a:latin typeface="微软雅黑" panose="020B0503020204020204" charset="-122"/>
              <a:ea typeface="微软雅黑" panose="020B0503020204020204" charset="-122"/>
              <a:cs typeface="+mn-ea"/>
              <a:sym typeface="Arial" panose="020B0604020202020204" pitchFamily="34" charset="0"/>
            </a:endParaRPr>
          </a:p>
        </p:txBody>
      </p:sp>
      <p:sp>
        <p:nvSpPr>
          <p:cNvPr id="191" name="©天蝎PPT15"/>
          <p:cNvSpPr/>
          <p:nvPr/>
        </p:nvSpPr>
        <p:spPr>
          <a:xfrm>
            <a:off x="9370940" y="1214867"/>
            <a:ext cx="2431389" cy="668733"/>
          </a:xfrm>
          <a:prstGeom prst="round2SameRect">
            <a:avLst>
              <a:gd name="adj1" fmla="val 15541"/>
              <a:gd name="adj2" fmla="val 0"/>
            </a:avLst>
          </a:prstGeom>
          <a:gradFill flip="none" rotWithShape="1">
            <a:gsLst>
              <a:gs pos="29000">
                <a:schemeClr val="accent1"/>
              </a:gs>
              <a:gs pos="99000">
                <a:schemeClr val="accent1">
                  <a:lumMod val="60000"/>
                  <a:lumOff val="40000"/>
                </a:schemeClr>
              </a:gs>
            </a:gsLst>
            <a:lin ang="13500000" scaled="1"/>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192" name="©天蝎PPT16"/>
          <p:cNvSpPr txBox="1"/>
          <p:nvPr/>
        </p:nvSpPr>
        <p:spPr>
          <a:xfrm>
            <a:off x="9514790" y="1518812"/>
            <a:ext cx="1530536" cy="275590"/>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defRPr/>
            </a:pPr>
            <a:r>
              <a:rPr lang="zh-CN" altLang="en-US" sz="1200" b="1" dirty="0">
                <a:solidFill>
                  <a:srgbClr val="FFFFFF"/>
                </a:solidFill>
                <a:latin typeface="微软雅黑" panose="020B0503020204020204" charset="-122"/>
                <a:ea typeface="微软雅黑" panose="020B0503020204020204" charset="-122"/>
                <a:cs typeface="+mn-ea"/>
                <a:sym typeface="Arial" panose="020B0604020202020204" pitchFamily="34" charset="0"/>
              </a:rPr>
              <a:t>具体任务计划</a:t>
            </a:r>
            <a:endParaRPr lang="zh-CN" altLang="en-US" sz="1200" b="1" dirty="0">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193" name="©天蝎PPT17"/>
          <p:cNvSpPr txBox="1"/>
          <p:nvPr/>
        </p:nvSpPr>
        <p:spPr>
          <a:xfrm>
            <a:off x="9514789" y="1301098"/>
            <a:ext cx="2220434" cy="276999"/>
          </a:xfrm>
          <a:prstGeom prst="rect">
            <a:avLst/>
          </a:prstGeom>
          <a:noFill/>
        </p:spPr>
        <p:txBody>
          <a:bodyPr wrap="square" rtlCol="0">
            <a:spAutoFit/>
          </a:bodyPr>
          <a:lstStyle>
            <a:defPPr>
              <a:defRPr lang="zh-CN"/>
            </a:defPPr>
            <a:lvl1pPr>
              <a:defRPr>
                <a:solidFill>
                  <a:schemeClr val="accent1"/>
                </a:solidFill>
                <a:latin typeface="思源宋体 CN Heavy" panose="02020900000000000000" pitchFamily="18" charset="-122"/>
                <a:ea typeface="思源宋体 CN Heavy" panose="02020900000000000000" pitchFamily="18" charset="-122"/>
              </a:defRPr>
            </a:lvl1pPr>
          </a:lstStyle>
          <a:p>
            <a:pPr>
              <a:defRPr/>
            </a:pPr>
            <a:r>
              <a:rPr lang="en-US" altLang="zh-CN" sz="1200">
                <a:solidFill>
                  <a:srgbClr val="FFFFFF"/>
                </a:solidFill>
                <a:latin typeface="微软雅黑" panose="020B0503020204020204" charset="-122"/>
                <a:ea typeface="微软雅黑" panose="020B0503020204020204" charset="-122"/>
                <a:cs typeface="+mn-ea"/>
                <a:sym typeface="Arial" panose="020B0604020202020204" pitchFamily="34" charset="0"/>
              </a:rPr>
              <a:t>CUSTOMER SEGMENT</a:t>
            </a:r>
            <a:endParaRPr lang="en-US" altLang="zh-CN" sz="1200" dirty="0">
              <a:solidFill>
                <a:srgbClr val="FFFFFF"/>
              </a:solidFill>
              <a:latin typeface="微软雅黑" panose="020B0503020204020204" charset="-122"/>
              <a:ea typeface="微软雅黑" panose="020B0503020204020204" charset="-122"/>
              <a:cs typeface="+mn-ea"/>
              <a:sym typeface="Arial" panose="020B0604020202020204" pitchFamily="34" charset="0"/>
            </a:endParaRPr>
          </a:p>
        </p:txBody>
      </p:sp>
      <p:sp>
        <p:nvSpPr>
          <p:cNvPr id="194" name="©天蝎PPT18"/>
          <p:cNvSpPr/>
          <p:nvPr/>
        </p:nvSpPr>
        <p:spPr>
          <a:xfrm>
            <a:off x="10930153" y="1370670"/>
            <a:ext cx="808990" cy="706755"/>
          </a:xfrm>
          <a:prstGeom prst="rect">
            <a:avLst/>
          </a:prstGeom>
        </p:spPr>
        <p:txBody>
          <a:bodyPr wrap="none">
            <a:spAutoFit/>
          </a:bodyPr>
          <a:lstStyle/>
          <a:p>
            <a:r>
              <a:rPr kumimoji="1" lang="en-US" altLang="zh-CN" sz="4000" b="1" dirty="0">
                <a:gradFill>
                  <a:gsLst>
                    <a:gs pos="26000">
                      <a:srgbClr val="FFFFFF">
                        <a:alpha val="0"/>
                      </a:srgbClr>
                    </a:gs>
                    <a:gs pos="99000">
                      <a:srgbClr val="FFFFFF">
                        <a:alpha val="20000"/>
                      </a:srgbClr>
                    </a:gs>
                  </a:gsLst>
                  <a:lin ang="16200000" scaled="0"/>
                </a:gradFill>
                <a:latin typeface="微软雅黑" panose="020B0503020204020204" charset="-122"/>
                <a:ea typeface="微软雅黑" panose="020B0503020204020204" charset="-122"/>
                <a:cs typeface="+mn-ea"/>
                <a:sym typeface="Arial" panose="020B0604020202020204" pitchFamily="34" charset="0"/>
              </a:rPr>
              <a:t>01</a:t>
            </a:r>
            <a:endParaRPr kumimoji="1" lang="en-US" altLang="zh-CN" sz="4000" b="1" dirty="0">
              <a:gradFill>
                <a:gsLst>
                  <a:gs pos="26000">
                    <a:srgbClr val="FFFFFF">
                      <a:alpha val="0"/>
                    </a:srgbClr>
                  </a:gs>
                  <a:gs pos="99000">
                    <a:srgbClr val="FFFFFF">
                      <a:alpha val="20000"/>
                    </a:srgbClr>
                  </a:gs>
                </a:gsLst>
                <a:lin ang="16200000" scaled="0"/>
              </a:gradFill>
              <a:latin typeface="微软雅黑" panose="020B0503020204020204" charset="-122"/>
              <a:ea typeface="微软雅黑" panose="020B0503020204020204" charset="-122"/>
              <a:cs typeface="+mn-ea"/>
              <a:sym typeface="Arial" panose="020B0604020202020204" pitchFamily="34" charset="0"/>
            </a:endParaRPr>
          </a:p>
        </p:txBody>
      </p:sp>
      <p:cxnSp>
        <p:nvCxnSpPr>
          <p:cNvPr id="195" name="©天蝎PPT19"/>
          <p:cNvCxnSpPr/>
          <p:nvPr/>
        </p:nvCxnSpPr>
        <p:spPr>
          <a:xfrm>
            <a:off x="9550800" y="3307227"/>
            <a:ext cx="2073307" cy="0"/>
          </a:xfrm>
          <a:prstGeom prst="line">
            <a:avLst/>
          </a:prstGeom>
          <a:noFill/>
          <a:ln w="6350" cap="flat" cmpd="sng" algn="ctr">
            <a:solidFill>
              <a:schemeClr val="tx2"/>
            </a:solidFill>
            <a:prstDash val="solid"/>
            <a:miter lim="800000"/>
          </a:ln>
          <a:effectLst/>
        </p:spPr>
      </p:cxnSp>
      <p:cxnSp>
        <p:nvCxnSpPr>
          <p:cNvPr id="196" name="©天蝎PPT20"/>
          <p:cNvCxnSpPr/>
          <p:nvPr/>
        </p:nvCxnSpPr>
        <p:spPr>
          <a:xfrm>
            <a:off x="9550800" y="4736999"/>
            <a:ext cx="2073307" cy="0"/>
          </a:xfrm>
          <a:prstGeom prst="line">
            <a:avLst/>
          </a:prstGeom>
          <a:noFill/>
          <a:ln w="6350" cap="flat" cmpd="sng" algn="ctr">
            <a:solidFill>
              <a:schemeClr val="tx2"/>
            </a:solidFill>
            <a:prstDash val="solid"/>
            <a:miter lim="800000"/>
          </a:ln>
          <a:effectLst/>
        </p:spPr>
      </p:cxnSp>
      <p:sp>
        <p:nvSpPr>
          <p:cNvPr id="197" name="©天蝎PPT26"/>
          <p:cNvSpPr txBox="1"/>
          <p:nvPr>
            <p:custDataLst>
              <p:tags r:id="rId23"/>
            </p:custDataLst>
          </p:nvPr>
        </p:nvSpPr>
        <p:spPr>
          <a:xfrm>
            <a:off x="9565602" y="2346674"/>
            <a:ext cx="2117559" cy="600075"/>
          </a:xfrm>
          <a:prstGeom prst="rect">
            <a:avLst/>
          </a:prstGeom>
          <a:noFill/>
        </p:spPr>
        <p:txBody>
          <a:bodyPr wrap="square" lIns="0" tIns="0" rIns="0" bIns="0" rtlCol="0">
            <a:spAutoFit/>
          </a:bodyPr>
          <a:lstStyle/>
          <a:p>
            <a:pPr rtl="0">
              <a:lnSpc>
                <a:spcPct val="130000"/>
              </a:lnSpc>
            </a:pP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根据项目需求选拔团队成员，明确项目目标、</a:t>
            </a:r>
            <a:r>
              <a:rPr lang="zh-CN" altLang="en-US" sz="1000" dirty="0">
                <a:solidFill>
                  <a:schemeClr val="tx2"/>
                </a:solidFill>
                <a:latin typeface="微软雅黑" panose="020B0503020204020204" charset="-122"/>
                <a:ea typeface="微软雅黑" panose="020B0503020204020204" charset="-122"/>
                <a:cs typeface="+mn-ea"/>
                <a:sym typeface="Arial" panose="020B0604020202020204" pitchFamily="34" charset="0"/>
              </a:rPr>
              <a:t>组建</a:t>
            </a: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团队并召开启动会议，确保项目启动顺利。</a:t>
            </a:r>
            <a:endPar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198" name="©天蝎PPT27"/>
          <p:cNvSpPr txBox="1"/>
          <p:nvPr>
            <p:custDataLst>
              <p:tags r:id="rId24"/>
            </p:custDataLst>
          </p:nvPr>
        </p:nvSpPr>
        <p:spPr>
          <a:xfrm>
            <a:off x="9495216" y="2053403"/>
            <a:ext cx="1957677" cy="275590"/>
          </a:xfrm>
          <a:prstGeom prst="rect">
            <a:avLst/>
          </a:prstGeom>
          <a:noFill/>
        </p:spPr>
        <p:txBody>
          <a:bodyPr wrap="square">
            <a:spAutoFit/>
          </a:bodyPr>
          <a:lstStyle/>
          <a:p>
            <a:pPr rtl="0"/>
            <a:r>
              <a:rPr lang="zh-CN" altLang="en-US" sz="1200" b="1" dirty="0">
                <a:solidFill>
                  <a:schemeClr val="accent1"/>
                </a:solidFill>
                <a:effectLst/>
                <a:latin typeface="微软雅黑" panose="020B0503020204020204" charset="-122"/>
                <a:ea typeface="微软雅黑" panose="020B0503020204020204" charset="-122"/>
                <a:cs typeface="+mn-ea"/>
                <a:sym typeface="Arial" panose="020B0604020202020204" pitchFamily="34" charset="0"/>
              </a:rPr>
              <a:t>项目启动与准备</a:t>
            </a:r>
            <a:endParaRPr lang="zh-CN" altLang="en-US" sz="1200" b="1" dirty="0">
              <a:solidFill>
                <a:schemeClr val="accent1"/>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199" name="©天蝎PPT28"/>
          <p:cNvSpPr txBox="1"/>
          <p:nvPr>
            <p:custDataLst>
              <p:tags r:id="rId25"/>
            </p:custDataLst>
          </p:nvPr>
        </p:nvSpPr>
        <p:spPr>
          <a:xfrm>
            <a:off x="9495216" y="3541432"/>
            <a:ext cx="1957677" cy="275590"/>
          </a:xfrm>
          <a:prstGeom prst="rect">
            <a:avLst/>
          </a:prstGeom>
          <a:noFill/>
        </p:spPr>
        <p:txBody>
          <a:bodyPr wrap="square">
            <a:spAutoFit/>
          </a:bodyPr>
          <a:lstStyle/>
          <a:p>
            <a:r>
              <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项目详细规划</a:t>
            </a:r>
            <a:endPar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200" name="©天蝎PPT29"/>
          <p:cNvSpPr txBox="1"/>
          <p:nvPr>
            <p:custDataLst>
              <p:tags r:id="rId26"/>
            </p:custDataLst>
          </p:nvPr>
        </p:nvSpPr>
        <p:spPr>
          <a:xfrm>
            <a:off x="9565602" y="3830138"/>
            <a:ext cx="2117559" cy="600075"/>
          </a:xfrm>
          <a:prstGeom prst="rect">
            <a:avLst/>
          </a:prstGeom>
          <a:noFill/>
        </p:spPr>
        <p:txBody>
          <a:bodyPr wrap="square" lIns="0" tIns="0" rIns="0" bIns="0" rtlCol="0">
            <a:spAutoFit/>
          </a:bodyPr>
          <a:lstStyle/>
          <a:p>
            <a:pPr rtl="0">
              <a:lnSpc>
                <a:spcPct val="130000"/>
              </a:lnSpc>
            </a:pP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明确项目的核心目标、预期成果以及所涉及的具体工作范围。规划阶段详细制定计划与方案。</a:t>
            </a:r>
            <a:endPar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endParaRPr>
          </a:p>
        </p:txBody>
      </p:sp>
      <p:sp>
        <p:nvSpPr>
          <p:cNvPr id="201" name="©天蝎PPT30"/>
          <p:cNvSpPr txBox="1"/>
          <p:nvPr>
            <p:custDataLst>
              <p:tags r:id="rId27"/>
            </p:custDataLst>
          </p:nvPr>
        </p:nvSpPr>
        <p:spPr>
          <a:xfrm>
            <a:off x="9495216" y="4916229"/>
            <a:ext cx="1957677" cy="275590"/>
          </a:xfrm>
          <a:prstGeom prst="rect">
            <a:avLst/>
          </a:prstGeom>
          <a:noFill/>
        </p:spPr>
        <p:txBody>
          <a:bodyPr wrap="square">
            <a:spAutoFit/>
          </a:bodyPr>
          <a:lstStyle/>
          <a:p>
            <a:r>
              <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rPr>
              <a:t>资源调配与准备</a:t>
            </a:r>
            <a:endParaRPr lang="zh-CN" altLang="en-US" sz="1200" b="1" dirty="0">
              <a:solidFill>
                <a:schemeClr val="accent1"/>
              </a:solidFill>
              <a:latin typeface="微软雅黑" panose="020B0503020204020204" charset="-122"/>
              <a:ea typeface="微软雅黑" panose="020B0503020204020204" charset="-122"/>
              <a:cs typeface="+mn-ea"/>
              <a:sym typeface="Arial" panose="020B0604020202020204" pitchFamily="34" charset="0"/>
            </a:endParaRPr>
          </a:p>
        </p:txBody>
      </p:sp>
      <p:sp>
        <p:nvSpPr>
          <p:cNvPr id="202" name="©天蝎PPT31"/>
          <p:cNvSpPr txBox="1"/>
          <p:nvPr>
            <p:custDataLst>
              <p:tags r:id="rId28"/>
            </p:custDataLst>
          </p:nvPr>
        </p:nvSpPr>
        <p:spPr>
          <a:xfrm>
            <a:off x="9565602" y="5204935"/>
            <a:ext cx="2117559" cy="600075"/>
          </a:xfrm>
          <a:prstGeom prst="rect">
            <a:avLst/>
          </a:prstGeom>
          <a:noFill/>
        </p:spPr>
        <p:txBody>
          <a:bodyPr wrap="square" lIns="0" tIns="0" rIns="0" bIns="0" rtlCol="0">
            <a:spAutoFit/>
          </a:bodyPr>
          <a:lstStyle/>
          <a:p>
            <a:pPr rtl="0">
              <a:lnSpc>
                <a:spcPct val="130000"/>
              </a:lnSpc>
            </a:pPr>
            <a:r>
              <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rPr>
              <a:t>根据项目规划，对项目所需的各种资源进行调配和协调，确保项目的资源供给与需求的匹配。</a:t>
            </a:r>
            <a:endParaRPr lang="zh-CN" altLang="en-US" sz="1000" dirty="0">
              <a:solidFill>
                <a:schemeClr val="tx2"/>
              </a:solidFill>
              <a:effectLst/>
              <a:latin typeface="微软雅黑" panose="020B0503020204020204" charset="-122"/>
              <a:ea typeface="微软雅黑" panose="020B0503020204020204" charset="-122"/>
              <a:cs typeface="+mn-ea"/>
              <a:sym typeface="Arial" panose="020B0604020202020204" pitchFamily="34" charset="0"/>
            </a:endParaRPr>
          </a:p>
        </p:txBody>
      </p:sp>
      <p:grpSp>
        <p:nvGrpSpPr>
          <p:cNvPr id="204" name="组合 203"/>
          <p:cNvGrpSpPr/>
          <p:nvPr/>
        </p:nvGrpSpPr>
        <p:grpSpPr>
          <a:xfrm rot="0">
            <a:off x="3615690" y="1237615"/>
            <a:ext cx="5185410" cy="4982845"/>
            <a:chOff x="3632347" y="1159523"/>
            <a:chExt cx="5185148" cy="4982728"/>
          </a:xfrm>
        </p:grpSpPr>
        <p:sp>
          <p:nvSpPr>
            <p:cNvPr id="205" name="©天蝎PPT13-11"/>
            <p:cNvSpPr/>
            <p:nvPr>
              <p:custDataLst>
                <p:tags r:id="rId29"/>
              </p:custDataLst>
            </p:nvPr>
          </p:nvSpPr>
          <p:spPr>
            <a:xfrm>
              <a:off x="3709550" y="1159523"/>
              <a:ext cx="4890019" cy="4890019"/>
            </a:xfrm>
            <a:prstGeom prst="pie">
              <a:avLst>
                <a:gd name="adj1" fmla="val 10778284"/>
                <a:gd name="adj2" fmla="val 14378552"/>
              </a:avLst>
            </a:prstGeom>
            <a:solidFill>
              <a:schemeClr val="lt1"/>
            </a:solidFill>
            <a:ln w="9525">
              <a:noFill/>
            </a:ln>
            <a:effectLst>
              <a:outerShdw blurRad="368300" dist="203200" dir="5400000" sx="98000" sy="98000" algn="t" rotWithShape="0">
                <a:schemeClr val="accent5">
                  <a:lumMod val="60000"/>
                  <a:lumOff val="4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206" name="©天蝎PPT13-12"/>
            <p:cNvSpPr/>
            <p:nvPr>
              <p:custDataLst>
                <p:tags r:id="rId30"/>
              </p:custDataLst>
            </p:nvPr>
          </p:nvSpPr>
          <p:spPr>
            <a:xfrm rot="10800000">
              <a:off x="3847832" y="1252232"/>
              <a:ext cx="4890019" cy="4890019"/>
            </a:xfrm>
            <a:prstGeom prst="pie">
              <a:avLst>
                <a:gd name="adj1" fmla="val 10778284"/>
                <a:gd name="adj2" fmla="val 14378552"/>
              </a:avLst>
            </a:prstGeom>
            <a:solidFill>
              <a:schemeClr val="lt1"/>
            </a:solidFill>
            <a:ln w="9525">
              <a:noFill/>
            </a:ln>
            <a:effectLst>
              <a:outerShdw blurRad="368300" dist="203200" dir="5400000" sx="98000" sy="98000" algn="t" rotWithShape="0">
                <a:schemeClr val="accent5">
                  <a:lumMod val="60000"/>
                  <a:lumOff val="4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207" name="©天蝎PPT13-14"/>
            <p:cNvSpPr/>
            <p:nvPr>
              <p:custDataLst>
                <p:tags r:id="rId31"/>
              </p:custDataLst>
            </p:nvPr>
          </p:nvSpPr>
          <p:spPr>
            <a:xfrm rot="10800000">
              <a:off x="8659095" y="3505759"/>
              <a:ext cx="158400" cy="108000"/>
            </a:xfrm>
            <a:prstGeom prst="triangle">
              <a:avLst/>
            </a:prstGeom>
            <a:solidFill>
              <a:schemeClr val="accent5">
                <a:lumMod val="60000"/>
                <a:lumOff val="40000"/>
              </a:schemeClr>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208" name="©天蝎PPT13-15"/>
            <p:cNvSpPr/>
            <p:nvPr>
              <p:custDataLst>
                <p:tags r:id="rId32"/>
              </p:custDataLst>
            </p:nvPr>
          </p:nvSpPr>
          <p:spPr>
            <a:xfrm rot="14400000">
              <a:off x="7447597" y="5742562"/>
              <a:ext cx="158400" cy="108000"/>
            </a:xfrm>
            <a:prstGeom prst="triangle">
              <a:avLst/>
            </a:prstGeom>
            <a:solidFill>
              <a:schemeClr val="accent5">
                <a:lumMod val="60000"/>
                <a:lumOff val="40000"/>
              </a:schemeClr>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209" name="©天蝎PPT13-17"/>
            <p:cNvSpPr/>
            <p:nvPr>
              <p:custDataLst>
                <p:tags r:id="rId33"/>
              </p:custDataLst>
            </p:nvPr>
          </p:nvSpPr>
          <p:spPr>
            <a:xfrm>
              <a:off x="3632347" y="3670862"/>
              <a:ext cx="158400" cy="108000"/>
            </a:xfrm>
            <a:prstGeom prst="triangle">
              <a:avLst/>
            </a:prstGeom>
            <a:solidFill>
              <a:schemeClr val="accent5">
                <a:lumMod val="60000"/>
                <a:lumOff val="40000"/>
              </a:schemeClr>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210" name="©天蝎PPT13-18"/>
            <p:cNvSpPr/>
            <p:nvPr>
              <p:custDataLst>
                <p:tags r:id="rId34"/>
              </p:custDataLst>
            </p:nvPr>
          </p:nvSpPr>
          <p:spPr>
            <a:xfrm rot="18000000">
              <a:off x="4944366" y="5798314"/>
              <a:ext cx="158400" cy="108000"/>
            </a:xfrm>
            <a:prstGeom prst="triangle">
              <a:avLst/>
            </a:prstGeom>
            <a:solidFill>
              <a:schemeClr val="accent5">
                <a:lumMod val="60000"/>
                <a:lumOff val="40000"/>
              </a:schemeClr>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211" name="©天蝎PPT13-20"/>
            <p:cNvSpPr/>
            <p:nvPr>
              <p:custDataLst>
                <p:tags r:id="rId35"/>
              </p:custDataLst>
            </p:nvPr>
          </p:nvSpPr>
          <p:spPr>
            <a:xfrm rot="7200000">
              <a:off x="7340115" y="1341465"/>
              <a:ext cx="158400" cy="108000"/>
            </a:xfrm>
            <a:prstGeom prst="triangle">
              <a:avLst/>
            </a:prstGeom>
            <a:solidFill>
              <a:schemeClr val="accent5">
                <a:lumMod val="60000"/>
                <a:lumOff val="40000"/>
              </a:schemeClr>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212" name="©天蝎PPT13-21"/>
            <p:cNvSpPr txBox="1"/>
            <p:nvPr>
              <p:custDataLst>
                <p:tags r:id="rId36"/>
              </p:custDataLst>
            </p:nvPr>
          </p:nvSpPr>
          <p:spPr>
            <a:xfrm>
              <a:off x="5366789" y="1541884"/>
              <a:ext cx="1721911" cy="7386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01</a:t>
              </a:r>
              <a:endPar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市场研究</a:t>
              </a:r>
              <a:endParaRPr kumimoji="1"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14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rPr>
                <a:t>需求分析阶段</a:t>
              </a:r>
              <a:endParaRPr kumimoji="1" lang="zh-CN" altLang="en-US" sz="1400" b="0" i="0" u="none" strike="noStrike" kern="1200" cap="none" spc="0" normalizeH="0" baseline="0" noProof="0" dirty="0">
                <a:ln>
                  <a:noFill/>
                </a:ln>
                <a:solidFill>
                  <a:schemeClr val="tx2"/>
                </a:solidFill>
                <a:effectLst/>
                <a:uLnTx/>
                <a:uFillTx/>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13" name="©天蝎PPT13-22"/>
            <p:cNvSpPr txBox="1"/>
            <p:nvPr>
              <p:custDataLst>
                <p:tags r:id="rId37"/>
              </p:custDataLst>
            </p:nvPr>
          </p:nvSpPr>
          <p:spPr>
            <a:xfrm>
              <a:off x="6936388" y="2431953"/>
              <a:ext cx="1721911" cy="738664"/>
            </a:xfrm>
            <a:prstGeom prst="rect">
              <a:avLst/>
            </a:prstGeom>
            <a:noFill/>
          </p:spPr>
          <p:txBody>
            <a:bodyPr wrap="square" rtlCol="0">
              <a:spAutoFit/>
            </a:bodyPr>
            <a:lstStyle/>
            <a:p>
              <a:pPr algn="ctr">
                <a:defRPr/>
              </a:pPr>
              <a:r>
                <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02</a:t>
              </a:r>
              <a:endPar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defRPr/>
              </a:pPr>
              <a:r>
                <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制定计划</a:t>
              </a:r>
              <a:endParaRPr kumimoji="1"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algn="ctr">
                <a:defRPr/>
              </a:pPr>
              <a:r>
                <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详细项目规划</a:t>
              </a:r>
              <a:endPar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14" name="©天蝎PPT13-23"/>
            <p:cNvSpPr txBox="1"/>
            <p:nvPr>
              <p:custDataLst>
                <p:tags r:id="rId38"/>
              </p:custDataLst>
            </p:nvPr>
          </p:nvSpPr>
          <p:spPr>
            <a:xfrm>
              <a:off x="6936388" y="4047739"/>
              <a:ext cx="1721911" cy="738664"/>
            </a:xfrm>
            <a:prstGeom prst="rect">
              <a:avLst/>
            </a:prstGeom>
            <a:noFill/>
          </p:spPr>
          <p:txBody>
            <a:bodyPr wrap="square" rtlCol="0">
              <a:spAutoFit/>
            </a:bodyPr>
            <a:lstStyle/>
            <a:p>
              <a:pPr marR="0" lvl="0" indent="0" algn="ctr" fontAlgn="auto">
                <a:lnSpc>
                  <a:spcPct val="100000"/>
                </a:lnSpc>
                <a:spcBef>
                  <a:spcPts val="0"/>
                </a:spcBef>
                <a:spcAft>
                  <a:spcPts val="0"/>
                </a:spcAft>
                <a:buClrTx/>
                <a:buSzTx/>
                <a:buFontTx/>
                <a:buNone/>
                <a:defRPr/>
              </a:pPr>
              <a:r>
                <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03</a:t>
              </a:r>
              <a:endPar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R="0" lvl="0" indent="0" algn="ctr" fontAlgn="auto">
                <a:lnSpc>
                  <a:spcPct val="100000"/>
                </a:lnSpc>
                <a:spcBef>
                  <a:spcPts val="0"/>
                </a:spcBef>
                <a:spcAft>
                  <a:spcPts val="0"/>
                </a:spcAft>
                <a:buClrTx/>
                <a:buSzTx/>
                <a:buFontTx/>
                <a:buNone/>
                <a:defRPr/>
              </a:pPr>
              <a:r>
                <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资源调配</a:t>
              </a:r>
              <a:endParaRPr kumimoji="1"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R="0" lvl="0" indent="0" algn="ctr" fontAlgn="auto">
                <a:lnSpc>
                  <a:spcPct val="100000"/>
                </a:lnSpc>
                <a:spcBef>
                  <a:spcPts val="0"/>
                </a:spcBef>
                <a:spcAft>
                  <a:spcPts val="0"/>
                </a:spcAft>
                <a:buClrTx/>
                <a:buSzTx/>
                <a:buFontTx/>
                <a:buNone/>
                <a:defRPr/>
              </a:pPr>
              <a:r>
                <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调配资源协调</a:t>
              </a:r>
              <a:endPar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15" name="©天蝎PPT13-24"/>
            <p:cNvSpPr txBox="1"/>
            <p:nvPr>
              <p:custDataLst>
                <p:tags r:id="rId39"/>
              </p:custDataLst>
            </p:nvPr>
          </p:nvSpPr>
          <p:spPr>
            <a:xfrm>
              <a:off x="3766848" y="2431953"/>
              <a:ext cx="1721911" cy="738664"/>
            </a:xfrm>
            <a:prstGeom prst="rect">
              <a:avLst/>
            </a:prstGeom>
            <a:noFill/>
          </p:spPr>
          <p:txBody>
            <a:bodyPr wrap="square" rtlCol="0">
              <a:spAutoFit/>
            </a:bodyPr>
            <a:lstStyle/>
            <a:p>
              <a:pPr marR="0" lvl="0" indent="0" algn="ctr" fontAlgn="auto">
                <a:lnSpc>
                  <a:spcPct val="100000"/>
                </a:lnSpc>
                <a:spcBef>
                  <a:spcPts val="0"/>
                </a:spcBef>
                <a:spcAft>
                  <a:spcPts val="0"/>
                </a:spcAft>
                <a:buClrTx/>
                <a:buSzTx/>
                <a:buFontTx/>
                <a:buNone/>
                <a:defRPr/>
              </a:pPr>
              <a:r>
                <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06</a:t>
              </a:r>
              <a:endPar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R="0" lvl="0" indent="0" algn="ctr" fontAlgn="auto">
                <a:lnSpc>
                  <a:spcPct val="100000"/>
                </a:lnSpc>
                <a:spcBef>
                  <a:spcPts val="0"/>
                </a:spcBef>
                <a:spcAft>
                  <a:spcPts val="0"/>
                </a:spcAft>
                <a:buClrTx/>
                <a:buSzTx/>
                <a:buFontTx/>
                <a:buNone/>
                <a:defRPr/>
              </a:pPr>
              <a:r>
                <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项目收尾</a:t>
              </a:r>
              <a:endParaRPr kumimoji="1"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R="0" lvl="0" indent="0" algn="ctr" fontAlgn="auto">
                <a:lnSpc>
                  <a:spcPct val="100000"/>
                </a:lnSpc>
                <a:spcBef>
                  <a:spcPts val="0"/>
                </a:spcBef>
                <a:spcAft>
                  <a:spcPts val="0"/>
                </a:spcAft>
                <a:buClrTx/>
                <a:buSzTx/>
                <a:buFontTx/>
                <a:buNone/>
                <a:defRPr/>
              </a:pPr>
              <a:r>
                <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验收总结归档</a:t>
              </a:r>
              <a:endPar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16" name="©天蝎PPT13-25"/>
            <p:cNvSpPr txBox="1"/>
            <p:nvPr>
              <p:custDataLst>
                <p:tags r:id="rId40"/>
              </p:custDataLst>
            </p:nvPr>
          </p:nvSpPr>
          <p:spPr>
            <a:xfrm>
              <a:off x="3766848" y="4096190"/>
              <a:ext cx="1721911" cy="738664"/>
            </a:xfrm>
            <a:prstGeom prst="rect">
              <a:avLst/>
            </a:prstGeom>
            <a:noFill/>
          </p:spPr>
          <p:txBody>
            <a:bodyPr wrap="square" rtlCol="0">
              <a:spAutoFit/>
            </a:bodyPr>
            <a:lstStyle/>
            <a:p>
              <a:pPr marR="0" lvl="0" indent="0" algn="ctr" fontAlgn="auto">
                <a:lnSpc>
                  <a:spcPct val="100000"/>
                </a:lnSpc>
                <a:spcBef>
                  <a:spcPts val="0"/>
                </a:spcBef>
                <a:spcAft>
                  <a:spcPts val="0"/>
                </a:spcAft>
                <a:buClrTx/>
                <a:buSzTx/>
                <a:buFontTx/>
                <a:buNone/>
                <a:defRPr/>
              </a:pPr>
              <a:r>
                <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05</a:t>
              </a:r>
              <a:endPar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R="0" lvl="0" indent="0" algn="ctr" fontAlgn="auto">
                <a:lnSpc>
                  <a:spcPct val="100000"/>
                </a:lnSpc>
                <a:spcBef>
                  <a:spcPts val="0"/>
                </a:spcBef>
                <a:spcAft>
                  <a:spcPts val="0"/>
                </a:spcAft>
                <a:buClrTx/>
                <a:buSzTx/>
                <a:buFontTx/>
                <a:buNone/>
                <a:defRPr/>
              </a:pPr>
              <a:r>
                <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项目评估</a:t>
              </a:r>
              <a:endParaRPr kumimoji="1"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R="0" lvl="0" indent="0" algn="ctr" fontAlgn="auto">
                <a:lnSpc>
                  <a:spcPct val="100000"/>
                </a:lnSpc>
                <a:spcBef>
                  <a:spcPts val="0"/>
                </a:spcBef>
                <a:spcAft>
                  <a:spcPts val="0"/>
                </a:spcAft>
                <a:buClrTx/>
                <a:buSzTx/>
                <a:buFontTx/>
                <a:buNone/>
                <a:defRPr/>
              </a:pPr>
              <a:r>
                <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变更影响处理</a:t>
              </a:r>
              <a:endPar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17" name="©天蝎PPT13-26"/>
            <p:cNvSpPr txBox="1"/>
            <p:nvPr>
              <p:custDataLst>
                <p:tags r:id="rId41"/>
              </p:custDataLst>
            </p:nvPr>
          </p:nvSpPr>
          <p:spPr>
            <a:xfrm>
              <a:off x="5366789" y="4962383"/>
              <a:ext cx="1721911" cy="738664"/>
            </a:xfrm>
            <a:prstGeom prst="rect">
              <a:avLst/>
            </a:prstGeom>
            <a:noFill/>
          </p:spPr>
          <p:txBody>
            <a:bodyPr wrap="square" rtlCol="0">
              <a:spAutoFit/>
            </a:bodyPr>
            <a:lstStyle/>
            <a:p>
              <a:pPr marR="0" lvl="0" indent="0" algn="ctr" fontAlgn="auto">
                <a:lnSpc>
                  <a:spcPct val="100000"/>
                </a:lnSpc>
                <a:spcBef>
                  <a:spcPts val="0"/>
                </a:spcBef>
                <a:spcAft>
                  <a:spcPts val="0"/>
                </a:spcAft>
                <a:buClrTx/>
                <a:buSzTx/>
                <a:buFontTx/>
                <a:buNone/>
                <a:defRPr/>
              </a:pPr>
              <a:r>
                <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04</a:t>
              </a:r>
              <a:endParaRPr kumimoji="1" lang="en-US" altLang="zh-CN" sz="1400" b="1" dirty="0">
                <a:solidFill>
                  <a:schemeClr val="accent5"/>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R="0" lvl="0" indent="0" algn="ctr" fontAlgn="auto">
                <a:lnSpc>
                  <a:spcPct val="100000"/>
                </a:lnSpc>
                <a:spcBef>
                  <a:spcPts val="0"/>
                </a:spcBef>
                <a:spcAft>
                  <a:spcPts val="0"/>
                </a:spcAft>
                <a:buClrTx/>
                <a:buSzTx/>
                <a:buFontTx/>
                <a:buNone/>
                <a:defRPr/>
              </a:pPr>
              <a:r>
                <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项目实施</a:t>
              </a:r>
              <a:endParaRPr kumimoji="1"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a:p>
              <a:pPr marR="0" lvl="0" indent="0" algn="ctr" fontAlgn="auto">
                <a:lnSpc>
                  <a:spcPct val="100000"/>
                </a:lnSpc>
                <a:spcBef>
                  <a:spcPts val="0"/>
                </a:spcBef>
                <a:spcAft>
                  <a:spcPts val="0"/>
                </a:spcAft>
                <a:buClrTx/>
                <a:buSzTx/>
                <a:buFontTx/>
                <a:buNone/>
                <a:defRPr/>
              </a:pPr>
              <a:r>
                <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rPr>
                <a:t>任务分配执行</a:t>
              </a:r>
              <a:endParaRPr kumimoji="1"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grpSp>
          <p:nvGrpSpPr>
            <p:cNvPr id="218" name="组合 217"/>
            <p:cNvGrpSpPr/>
            <p:nvPr/>
          </p:nvGrpSpPr>
          <p:grpSpPr>
            <a:xfrm>
              <a:off x="5202396" y="2639685"/>
              <a:ext cx="2046416" cy="2046415"/>
              <a:chOff x="3661863" y="2310342"/>
              <a:chExt cx="2046416" cy="2046415"/>
            </a:xfrm>
          </p:grpSpPr>
          <p:sp>
            <p:nvSpPr>
              <p:cNvPr id="219" name="©天蝎PPT13-27"/>
              <p:cNvSpPr/>
              <p:nvPr>
                <p:custDataLst>
                  <p:tags r:id="rId42"/>
                </p:custDataLst>
              </p:nvPr>
            </p:nvSpPr>
            <p:spPr>
              <a:xfrm>
                <a:off x="3661863" y="2310342"/>
                <a:ext cx="2046416" cy="2046415"/>
              </a:xfrm>
              <a:prstGeom prst="ellipse">
                <a:avLst/>
              </a:prstGeom>
              <a:solidFill>
                <a:schemeClr val="accent5">
                  <a:lumMod val="60000"/>
                  <a:lumOff val="4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latin typeface="微软雅黑" panose="020B0503020204020204" charset="-122"/>
                  <a:ea typeface="微软雅黑" panose="020B0503020204020204" charset="-122"/>
                  <a:cs typeface="+mn-ea"/>
                  <a:sym typeface="Arial" panose="020B0604020202020204" pitchFamily="34" charset="0"/>
                </a:endParaRPr>
              </a:p>
            </p:txBody>
          </p:sp>
          <p:sp>
            <p:nvSpPr>
              <p:cNvPr id="220" name="©天蝎PPT13-28"/>
              <p:cNvSpPr/>
              <p:nvPr>
                <p:custDataLst>
                  <p:tags r:id="rId43"/>
                </p:custDataLst>
              </p:nvPr>
            </p:nvSpPr>
            <p:spPr>
              <a:xfrm>
                <a:off x="3763882" y="2412361"/>
                <a:ext cx="1842378" cy="1842377"/>
              </a:xfrm>
              <a:prstGeom prst="ellipse">
                <a:avLst/>
              </a:prstGeom>
              <a:gradFill flip="none" rotWithShape="1">
                <a:gsLst>
                  <a:gs pos="29000">
                    <a:schemeClr val="accent5"/>
                  </a:gs>
                  <a:gs pos="99000">
                    <a:schemeClr val="accent5">
                      <a:lumMod val="60000"/>
                      <a:lumOff val="40000"/>
                    </a:schemeClr>
                  </a:gs>
                </a:gsLst>
                <a:lin ang="13500000" scaled="1"/>
                <a:tileRect/>
              </a:gradFill>
              <a:ln>
                <a:noFill/>
              </a:ln>
              <a:effectLst>
                <a:outerShdw blurRad="381000" dist="190500" dir="5400000" sx="90000" sy="90000" algn="ctr" rotWithShape="0">
                  <a:schemeClr val="accent5">
                    <a:lumMod val="60000"/>
                    <a:lumOff val="40000"/>
                    <a:alpha val="3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微软雅黑" panose="020B0503020204020204" charset="-122"/>
                  <a:ea typeface="微软雅黑" panose="020B0503020204020204" charset="-122"/>
                  <a:cs typeface="微软雅黑" panose="020B0503020204020204" charset="-122"/>
                  <a:sym typeface="Arial" panose="020B0604020202020204" pitchFamily="34" charset="0"/>
                </a:endParaRPr>
              </a:p>
            </p:txBody>
          </p:sp>
          <p:sp>
            <p:nvSpPr>
              <p:cNvPr id="221" name="©天蝎PPT13-29"/>
              <p:cNvSpPr/>
              <p:nvPr>
                <p:custDataLst>
                  <p:tags r:id="rId44"/>
                </p:custDataLst>
              </p:nvPr>
            </p:nvSpPr>
            <p:spPr>
              <a:xfrm>
                <a:off x="4054135" y="2702296"/>
                <a:ext cx="1262507" cy="126250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lt1"/>
                  </a:solidFill>
                  <a:latin typeface="微软雅黑" panose="020B0503020204020204" charset="-122"/>
                  <a:ea typeface="微软雅黑" panose="020B0503020204020204" charset="-122"/>
                  <a:cs typeface="+mn-ea"/>
                  <a:sym typeface="Arial" panose="020B0604020202020204" pitchFamily="34" charset="0"/>
                </a:endParaRPr>
              </a:p>
            </p:txBody>
          </p:sp>
        </p:grpSp>
        <p:sp>
          <p:nvSpPr>
            <p:cNvPr id="222" name="©天蝎PPT13-30"/>
            <p:cNvSpPr txBox="1"/>
            <p:nvPr>
              <p:custDataLst>
                <p:tags r:id="rId45"/>
              </p:custDataLst>
            </p:nvPr>
          </p:nvSpPr>
          <p:spPr>
            <a:xfrm>
              <a:off x="5690864" y="3228811"/>
              <a:ext cx="1073012" cy="83099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1" lang="zh-CN" altLang="en-US" sz="2400" dirty="0">
                  <a:solidFill>
                    <a:schemeClr val="accent5"/>
                  </a:solidFill>
                  <a:latin typeface="微软雅黑" panose="020B0503020204020204" charset="-122"/>
                  <a:ea typeface="微软雅黑" panose="020B0503020204020204" charset="-122"/>
                  <a:cs typeface="+mn-ea"/>
                  <a:sym typeface="Arial" panose="020B0604020202020204" pitchFamily="34" charset="0"/>
                </a:rPr>
                <a:t>项目启动</a:t>
              </a:r>
              <a:endParaRPr kumimoji="1" lang="zh-CN" altLang="en-US" sz="2400" i="0" u="none" strike="noStrike" kern="1200" cap="none" spc="0" normalizeH="0" baseline="0" noProof="0" dirty="0">
                <a:ln>
                  <a:noFill/>
                </a:ln>
                <a:solidFill>
                  <a:schemeClr val="accent5"/>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grpSp>
      <p:sp>
        <p:nvSpPr>
          <p:cNvPr id="223" name="©天蝎PPT13-13"/>
          <p:cNvSpPr/>
          <p:nvPr>
            <p:custDataLst>
              <p:tags r:id="rId46"/>
            </p:custDataLst>
          </p:nvPr>
        </p:nvSpPr>
        <p:spPr>
          <a:xfrm>
            <a:off x="3798577" y="1205675"/>
            <a:ext cx="4922378" cy="4922378"/>
          </a:xfrm>
          <a:prstGeom prst="arc">
            <a:avLst>
              <a:gd name="adj1" fmla="val 18009186"/>
              <a:gd name="adj2" fmla="val 0"/>
            </a:avLst>
          </a:prstGeom>
          <a:ln w="25400">
            <a:gradFill>
              <a:gsLst>
                <a:gs pos="1000">
                  <a:srgbClr val="D1E6DA">
                    <a:lumMod val="20000"/>
                    <a:lumOff val="80000"/>
                  </a:srgbClr>
                </a:gs>
                <a:gs pos="99000">
                  <a:schemeClr val="accent5">
                    <a:lumMod val="60000"/>
                    <a:lumOff val="40000"/>
                  </a:schemeClr>
                </a:gs>
              </a:gsLst>
              <a:lin ang="5400000" scaled="0"/>
            </a:gradFill>
          </a:ln>
        </p:spPr>
        <p:style>
          <a:lnRef idx="1">
            <a:schemeClr val="accent1"/>
          </a:lnRef>
          <a:fillRef idx="0">
            <a:schemeClr val="accent1"/>
          </a:fillRef>
          <a:effectRef idx="0">
            <a:schemeClr val="accent1"/>
          </a:effectRef>
          <a:fontRef idx="minor">
            <a:schemeClr val="tx1"/>
          </a:fontRef>
        </p:style>
        <p:txBody>
          <a:bodyPr vertOverflow="overflow" horzOverflow="overflow" vert="horz" wrap="square" numCol="1" spcCol="0" rtlCol="0" fromWordArt="0" anchor="ctr" anchorCtr="0" forceAA="0" compatLnSpc="1">
            <a:noAutofit/>
          </a:bodyPr>
          <a:lstStyle/>
          <a:p>
            <a:pPr lvl="0" algn="ctr">
              <a:spcBef>
                <a:spcPts val="0"/>
              </a:spcBef>
              <a:spcAft>
                <a:spcPts val="0"/>
              </a:spcAft>
              <a:buClrTx/>
              <a:buSzTx/>
              <a:buFontTx/>
              <a:defRPr/>
            </a:pPr>
            <a:endParaRPr kumimoji="1" lang="zh-CN" altLang="en-US" noProof="0">
              <a:ln>
                <a:noFill/>
              </a:ln>
              <a:solidFill>
                <a:srgbClr val="0D0D0D"/>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224" name="©天蝎PPT13-16"/>
          <p:cNvSpPr/>
          <p:nvPr>
            <p:custDataLst>
              <p:tags r:id="rId47"/>
            </p:custDataLst>
          </p:nvPr>
        </p:nvSpPr>
        <p:spPr>
          <a:xfrm rot="10800000">
            <a:off x="3688654" y="1307174"/>
            <a:ext cx="4922378" cy="4922378"/>
          </a:xfrm>
          <a:prstGeom prst="arc">
            <a:avLst>
              <a:gd name="adj1" fmla="val 18009186"/>
              <a:gd name="adj2" fmla="val 0"/>
            </a:avLst>
          </a:prstGeom>
          <a:ln w="25400">
            <a:gradFill>
              <a:gsLst>
                <a:gs pos="2000">
                  <a:srgbClr val="D1E6DA">
                    <a:lumMod val="20000"/>
                    <a:lumOff val="80000"/>
                  </a:srgbClr>
                </a:gs>
                <a:gs pos="100000">
                  <a:schemeClr val="accent5">
                    <a:lumMod val="60000"/>
                    <a:lumOff val="40000"/>
                  </a:schemeClr>
                </a:gs>
              </a:gsLst>
              <a:lin ang="5400000" scaled="0"/>
            </a:gradFil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1" lang="zh-CN" altLang="en-US" sz="1800" b="0" i="0" u="none" strike="noStrike" kern="1200" cap="none" spc="0" normalizeH="0" baseline="0" noProof="0">
              <a:ln>
                <a:noFill/>
              </a:ln>
              <a:solidFill>
                <a:srgbClr val="0D0D0D"/>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sp>
        <p:nvSpPr>
          <p:cNvPr id="225" name="©天蝎PPT13-19"/>
          <p:cNvSpPr/>
          <p:nvPr>
            <p:custDataLst>
              <p:tags r:id="rId48"/>
            </p:custDataLst>
          </p:nvPr>
        </p:nvSpPr>
        <p:spPr>
          <a:xfrm rot="3600000">
            <a:off x="4800412" y="1522646"/>
            <a:ext cx="158404" cy="108005"/>
          </a:xfrm>
          <a:prstGeom prst="triangle">
            <a:avLst/>
          </a:prstGeom>
          <a:solidFill>
            <a:schemeClr val="accent5">
              <a:lumMod val="60000"/>
              <a:lumOff val="40000"/>
            </a:schemeClr>
          </a:solidFill>
          <a:ln w="9525">
            <a:noFill/>
          </a:ln>
          <a:effectLst>
            <a:outerShdw blurRad="368300" dist="203200" dir="5400000" sx="98000" sy="98000" algn="t" rotWithShape="0">
              <a:schemeClr val="accent2">
                <a:lumMod val="50000"/>
                <a:alpha val="18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微软雅黑" panose="020B0503020204020204" charset="-122"/>
              <a:ea typeface="微软雅黑" panose="020B0503020204020204" charset="-122"/>
              <a:cs typeface="+mn-ea"/>
              <a:sym typeface="Arial" panose="020B0604020202020204" pitchFamily="34" charset="0"/>
            </a:endParaRPr>
          </a:p>
        </p:txBody>
      </p:sp>
      <p:cxnSp>
        <p:nvCxnSpPr>
          <p:cNvPr id="9"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2" name="组合 1"/>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49"/>
            <a:srcRect l="17002" t="-1765" r="56499" b="-1176"/>
            <a:stretch>
              <a:fillRect/>
            </a:stretch>
          </p:blipFill>
          <p:spPr>
            <a:xfrm>
              <a:off x="13761" y="549"/>
              <a:ext cx="1582" cy="525"/>
            </a:xfrm>
            <a:prstGeom prst="rect">
              <a:avLst/>
            </a:prstGeom>
          </p:spPr>
        </p:pic>
        <p:sp>
          <p:nvSpPr>
            <p:cNvPr id="45" name="文本框 4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rPr>
              <a:t>员工能力提升三环模型</a:t>
            </a:r>
            <a:endParaRPr lang="zh-CN" altLang="en-US"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4" name="椭圆 3"/>
          <p:cNvSpPr/>
          <p:nvPr/>
        </p:nvSpPr>
        <p:spPr>
          <a:xfrm>
            <a:off x="3594100" y="1283335"/>
            <a:ext cx="5044440" cy="5044440"/>
          </a:xfrm>
          <a:prstGeom prst="ellipse">
            <a:avLst/>
          </a:prstGeom>
          <a:solidFill>
            <a:schemeClr val="accent1">
              <a:lumMod val="20000"/>
              <a:lumOff val="80000"/>
              <a:alpha val="40000"/>
            </a:schemeClr>
          </a:solidFill>
          <a:ln w="3175" cap="flat">
            <a:solidFill>
              <a:schemeClr val="accent1">
                <a:lumMod val="40000"/>
                <a:lumOff val="60000"/>
              </a:schemeClr>
            </a:soli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lvl="0" algn="l" hangingPunct="0">
              <a:spcBef>
                <a:spcPts val="0"/>
              </a:spcBef>
              <a:spcAft>
                <a:spcPts val="0"/>
              </a:spcAft>
              <a:buClrTx/>
              <a:buSzTx/>
              <a:buFontTx/>
            </a:pPr>
            <a:endParaRPr lang="zh-CN" altLang="en-US">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mn-ea"/>
            </a:endParaRPr>
          </a:p>
        </p:txBody>
      </p:sp>
      <p:sp>
        <p:nvSpPr>
          <p:cNvPr id="116" name="椭圆 115"/>
          <p:cNvSpPr/>
          <p:nvPr/>
        </p:nvSpPr>
        <p:spPr>
          <a:xfrm>
            <a:off x="4160520" y="1849755"/>
            <a:ext cx="3911600" cy="3911600"/>
          </a:xfrm>
          <a:prstGeom prst="ellipse">
            <a:avLst/>
          </a:prstGeom>
          <a:solidFill>
            <a:schemeClr val="accent1">
              <a:lumMod val="20000"/>
              <a:lumOff val="80000"/>
            </a:schemeClr>
          </a:solidFill>
          <a:ln w="3175" cap="flat">
            <a:noFill/>
            <a:prstDash val="solid"/>
            <a:miter lim="800000"/>
          </a:ln>
          <a:effectLst>
            <a:outerShdw blurRad="50800" dist="38100" dir="2700000" algn="tl" rotWithShape="0">
              <a:schemeClr val="accent1">
                <a:alpha val="40000"/>
              </a:schemeClr>
            </a:outerShdw>
          </a:effectLst>
          <a:sp3d/>
        </p:spPr>
        <p:txBody>
          <a:bodyPr rot="0" spcFirstLastPara="1" vertOverflow="overflow" horzOverflow="overflow" vert="horz" wrap="square" lIns="45721" tIns="45721" rIns="45721" bIns="45721" numCol="1" spcCol="38100" rtlCol="0" anchor="ctr">
            <a:noAutofit/>
          </a:bodyPr>
          <a:lstStyle/>
          <a:p>
            <a:pPr lvl="0" algn="l" hangingPunct="0">
              <a:spcBef>
                <a:spcPts val="0"/>
              </a:spcBef>
              <a:spcAft>
                <a:spcPts val="0"/>
              </a:spcAft>
              <a:buClrTx/>
              <a:buSzTx/>
              <a:buFontTx/>
            </a:pPr>
            <a:endParaRPr lang="zh-CN" altLang="en-US">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 name="Title 2"/>
          <p:cNvSpPr txBox="1"/>
          <p:nvPr/>
        </p:nvSpPr>
        <p:spPr>
          <a:xfrm rot="16200000">
            <a:off x="3175635" y="3574415"/>
            <a:ext cx="1407795" cy="44577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第三环</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ct val="0"/>
              </a:spcBef>
              <a:spcAft>
                <a:spcPts val="0"/>
              </a:spcAft>
              <a:buClrTx/>
              <a:buSzTx/>
              <a:buFontTx/>
              <a:buNone/>
              <a:defRPr/>
            </a:pPr>
            <a:endParaRPr lang="zh-CN" altLang="en-US" sz="500" dirty="0">
              <a:solidFill>
                <a:schemeClr val="tx2"/>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五大场景</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7" name="椭圆 116"/>
          <p:cNvSpPr/>
          <p:nvPr/>
        </p:nvSpPr>
        <p:spPr>
          <a:xfrm>
            <a:off x="4758055" y="2429828"/>
            <a:ext cx="2750820" cy="2750820"/>
          </a:xfrm>
          <a:prstGeom prst="ellipse">
            <a:avLst/>
          </a:prstGeom>
          <a:solidFill>
            <a:schemeClr val="accent1">
              <a:alpha val="78000"/>
            </a:schemeClr>
          </a:solidFill>
          <a:ln w="3175" cap="flat">
            <a:noFill/>
            <a:prstDash val="solid"/>
            <a:miter lim="800000"/>
          </a:ln>
          <a:effectLst>
            <a:outerShdw blurRad="50800" dist="38100" dir="2700000" algn="tl" rotWithShape="0">
              <a:srgbClr val="3C5DEB">
                <a:alpha val="40000"/>
              </a:srgbClr>
            </a:outerShdw>
          </a:effectLst>
          <a:sp3d/>
        </p:spPr>
        <p:txBody>
          <a:bodyPr rot="0" spcFirstLastPara="1" vertOverflow="overflow" horzOverflow="overflow" vert="horz" wrap="square" lIns="45721" tIns="45721" rIns="45721" bIns="45721"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b="0" i="0" u="none" strike="noStrike" cap="none" spc="0" normalizeH="0" baseline="0">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19" name="椭圆 118"/>
          <p:cNvSpPr/>
          <p:nvPr/>
        </p:nvSpPr>
        <p:spPr>
          <a:xfrm>
            <a:off x="5424805" y="3114040"/>
            <a:ext cx="1383030" cy="1383030"/>
          </a:xfrm>
          <a:prstGeom prst="ellipse">
            <a:avLst/>
          </a:prstGeom>
          <a:solidFill>
            <a:schemeClr val="accent5"/>
          </a:solidFill>
          <a:ln w="76200" cap="flat">
            <a:solidFill>
              <a:sysClr val="window" lastClr="FFFFFF"/>
            </a:soli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marL="0" marR="0" indent="0" algn="l" defTabSz="914400" rtl="0" fontAlgn="auto" latinLnBrk="0" hangingPunct="0">
              <a:lnSpc>
                <a:spcPct val="100000"/>
              </a:lnSpc>
              <a:spcBef>
                <a:spcPts val="0"/>
              </a:spcBef>
              <a:spcAft>
                <a:spcPts val="0"/>
              </a:spcAft>
              <a:buClrTx/>
              <a:buSzTx/>
              <a:buFontTx/>
              <a:buNone/>
            </a:pPr>
            <a:endParaRPr kumimoji="0" lang="zh-CN" altLang="en-US" b="0" i="0" u="none" strike="noStrike" cap="none" spc="0" normalizeH="0" baseline="0">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2" name="弧形 23"/>
          <p:cNvSpPr/>
          <p:nvPr/>
        </p:nvSpPr>
        <p:spPr>
          <a:xfrm rot="13080000">
            <a:off x="5062855" y="2703830"/>
            <a:ext cx="2141220" cy="2152015"/>
          </a:xfrm>
          <a:prstGeom prst="arc">
            <a:avLst>
              <a:gd name="adj1" fmla="val 16333075"/>
              <a:gd name="adj2" fmla="val 1465960"/>
            </a:avLst>
          </a:prstGeom>
          <a:noFill/>
          <a:ln w="22225" cap="flat" cmpd="sng" algn="ctr">
            <a:gradFill flip="none" rotWithShape="1">
              <a:gsLst>
                <a:gs pos="77000">
                  <a:sysClr val="window" lastClr="FFFFFF"/>
                </a:gs>
                <a:gs pos="13000">
                  <a:srgbClr val="4874CB">
                    <a:lumMod val="20000"/>
                    <a:lumOff val="80000"/>
                    <a:alpha val="0"/>
                  </a:srgbClr>
                </a:gs>
              </a:gsLst>
              <a:path path="circle">
                <a:fillToRect r="100000" b="100000"/>
              </a:path>
              <a:tileRect l="-100000" t="-100000"/>
            </a:gradFill>
            <a:prstDash val="solid"/>
            <a:miter lim="800000"/>
            <a:headEnd type="none" w="lg" len="lg"/>
            <a:tailEnd type="stealth" w="lg" len="lg"/>
          </a:ln>
          <a:effectLst/>
        </p:spPr>
        <p:txBody>
          <a:bodyPr rtlCol="0" anchor="ctr">
            <a:noAutofit/>
          </a:bodyPr>
          <a:lstStyle/>
          <a:p>
            <a:pPr lvl="0" algn="ctr">
              <a:spcBef>
                <a:spcPts val="0"/>
              </a:spcBef>
              <a:spcAft>
                <a:spcPts val="0"/>
              </a:spcAft>
              <a:buClrTx/>
              <a:buSzTx/>
              <a:buFontTx/>
              <a:defRPr/>
            </a:pPr>
            <a:endParaRPr lang="zh-CN" altLang="en-US"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5" name="任意形状 150"/>
          <p:cNvSpPr/>
          <p:nvPr/>
        </p:nvSpPr>
        <p:spPr>
          <a:xfrm rot="5400000">
            <a:off x="5983605" y="3093720"/>
            <a:ext cx="300355" cy="332105"/>
          </a:xfrm>
          <a:custGeom>
            <a:avLst/>
            <a:gdLst>
              <a:gd name="connsiteX0" fmla="*/ 138299 w 254098"/>
              <a:gd name="connsiteY0" fmla="*/ 0 h 333488"/>
              <a:gd name="connsiteX1" fmla="*/ 254098 w 254098"/>
              <a:gd name="connsiteY1" fmla="*/ 166744 h 333488"/>
              <a:gd name="connsiteX2" fmla="*/ 138299 w 254098"/>
              <a:gd name="connsiteY2" fmla="*/ 333488 h 333488"/>
              <a:gd name="connsiteX3" fmla="*/ 138299 w 254098"/>
              <a:gd name="connsiteY3" fmla="*/ 252666 h 333488"/>
              <a:gd name="connsiteX4" fmla="*/ 28191 w 254098"/>
              <a:gd name="connsiteY4" fmla="*/ 252666 h 333488"/>
              <a:gd name="connsiteX5" fmla="*/ 0 w 254098"/>
              <a:gd name="connsiteY5" fmla="*/ 224475 h 333488"/>
              <a:gd name="connsiteX6" fmla="*/ 0 w 254098"/>
              <a:gd name="connsiteY6" fmla="*/ 111714 h 333488"/>
              <a:gd name="connsiteX7" fmla="*/ 28191 w 254098"/>
              <a:gd name="connsiteY7" fmla="*/ 83523 h 333488"/>
              <a:gd name="connsiteX8" fmla="*/ 69434 w 254098"/>
              <a:gd name="connsiteY8" fmla="*/ 83523 h 333488"/>
              <a:gd name="connsiteX9" fmla="*/ 69434 w 254098"/>
              <a:gd name="connsiteY9" fmla="*/ 83372 h 333488"/>
              <a:gd name="connsiteX10" fmla="*/ 138299 w 254098"/>
              <a:gd name="connsiteY10" fmla="*/ 83372 h 333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4098" h="333488">
                <a:moveTo>
                  <a:pt x="138299" y="0"/>
                </a:moveTo>
                <a:lnTo>
                  <a:pt x="254098" y="166744"/>
                </a:lnTo>
                <a:lnTo>
                  <a:pt x="138299" y="333488"/>
                </a:lnTo>
                <a:lnTo>
                  <a:pt x="138299" y="252666"/>
                </a:lnTo>
                <a:lnTo>
                  <a:pt x="28191" y="252666"/>
                </a:lnTo>
                <a:cubicBezTo>
                  <a:pt x="12622" y="252666"/>
                  <a:pt x="0" y="240044"/>
                  <a:pt x="0" y="224475"/>
                </a:cubicBezTo>
                <a:lnTo>
                  <a:pt x="0" y="111714"/>
                </a:lnTo>
                <a:cubicBezTo>
                  <a:pt x="0" y="96145"/>
                  <a:pt x="12622" y="83523"/>
                  <a:pt x="28191" y="83523"/>
                </a:cubicBezTo>
                <a:lnTo>
                  <a:pt x="69434" y="83523"/>
                </a:lnTo>
                <a:lnTo>
                  <a:pt x="69434" y="83372"/>
                </a:lnTo>
                <a:lnTo>
                  <a:pt x="138299" y="83372"/>
                </a:lnTo>
                <a:close/>
              </a:path>
            </a:pathLst>
          </a:custGeom>
          <a:gradFill>
            <a:gsLst>
              <a:gs pos="0">
                <a:schemeClr val="bg2"/>
              </a:gs>
              <a:gs pos="100000">
                <a:schemeClr val="accent1">
                  <a:lumMod val="40000"/>
                  <a:lumOff val="60000"/>
                </a:schemeClr>
              </a:gs>
            </a:gsLst>
            <a:lin ang="0" scaled="0"/>
          </a:gradFill>
          <a:ln w="12700" cap="flat">
            <a:gradFill>
              <a:gsLst>
                <a:gs pos="0">
                  <a:schemeClr val="accent1">
                    <a:alpha val="0"/>
                  </a:schemeClr>
                </a:gs>
                <a:gs pos="100000">
                  <a:schemeClr val="accent1"/>
                </a:gs>
              </a:gsLst>
              <a:lin ang="0" scaled="0"/>
            </a:gra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hangingPunct="0"/>
            <a:endParaRPr lang="zh-CN" altLang="en-US">
              <a:solidFill>
                <a:srgbClr val="1C427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7" name="Title 2"/>
          <p:cNvSpPr txBox="1"/>
          <p:nvPr/>
        </p:nvSpPr>
        <p:spPr>
          <a:xfrm>
            <a:off x="5327015" y="4135120"/>
            <a:ext cx="1559560" cy="593090"/>
          </a:xfrm>
          <a:prstGeom prst="rect">
            <a:avLst/>
          </a:prstGeom>
        </p:spPr>
        <p:txBody>
          <a:bodyPr vert="horz" wrap="square" lIns="0" tIns="0" rIns="0" bIns="0" rtlCol="0" anchor="t" anchorCtr="0">
            <a:prstTxWarp prst="textArchDown">
              <a:avLst/>
            </a:prstTxWarp>
            <a:no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ysClr val="window" lastClr="FFFFFF"/>
                </a:solidFill>
                <a:latin typeface="微软雅黑" panose="020B0503020204020204" charset="-122"/>
                <a:ea typeface="微软雅黑" panose="020B0503020204020204" charset="-122"/>
                <a:cs typeface="微软雅黑" panose="020B0503020204020204" charset="-122"/>
              </a:rPr>
              <a:t>驱动双核</a:t>
            </a:r>
            <a:endParaRPr lang="zh-CN" altLang="en-US" sz="1200" dirty="0">
              <a:solidFill>
                <a:sysClr val="window" lastClr="FFFFFF"/>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000" dirty="0">
                <a:solidFill>
                  <a:sysClr val="window" lastClr="FFFFFF"/>
                </a:solidFill>
                <a:latin typeface="微软雅黑" panose="020B0503020204020204" charset="-122"/>
                <a:ea typeface="微软雅黑" panose="020B0503020204020204" charset="-122"/>
                <a:cs typeface="微软雅黑" panose="020B0503020204020204" charset="-122"/>
              </a:rPr>
              <a:t>②质量保障，夯实根基</a:t>
            </a:r>
            <a:endParaRPr lang="zh-CN" altLang="en-US" sz="1000" dirty="0">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48" name="任意形状 150"/>
          <p:cNvSpPr/>
          <p:nvPr/>
        </p:nvSpPr>
        <p:spPr>
          <a:xfrm rot="16200000">
            <a:off x="5988050" y="4241165"/>
            <a:ext cx="290830" cy="332105"/>
          </a:xfrm>
          <a:custGeom>
            <a:avLst/>
            <a:gdLst>
              <a:gd name="connsiteX0" fmla="*/ 138299 w 254098"/>
              <a:gd name="connsiteY0" fmla="*/ 0 h 333488"/>
              <a:gd name="connsiteX1" fmla="*/ 254098 w 254098"/>
              <a:gd name="connsiteY1" fmla="*/ 166744 h 333488"/>
              <a:gd name="connsiteX2" fmla="*/ 138299 w 254098"/>
              <a:gd name="connsiteY2" fmla="*/ 333488 h 333488"/>
              <a:gd name="connsiteX3" fmla="*/ 138299 w 254098"/>
              <a:gd name="connsiteY3" fmla="*/ 252666 h 333488"/>
              <a:gd name="connsiteX4" fmla="*/ 28191 w 254098"/>
              <a:gd name="connsiteY4" fmla="*/ 252666 h 333488"/>
              <a:gd name="connsiteX5" fmla="*/ 0 w 254098"/>
              <a:gd name="connsiteY5" fmla="*/ 224475 h 333488"/>
              <a:gd name="connsiteX6" fmla="*/ 0 w 254098"/>
              <a:gd name="connsiteY6" fmla="*/ 111714 h 333488"/>
              <a:gd name="connsiteX7" fmla="*/ 28191 w 254098"/>
              <a:gd name="connsiteY7" fmla="*/ 83523 h 333488"/>
              <a:gd name="connsiteX8" fmla="*/ 69434 w 254098"/>
              <a:gd name="connsiteY8" fmla="*/ 83523 h 333488"/>
              <a:gd name="connsiteX9" fmla="*/ 69434 w 254098"/>
              <a:gd name="connsiteY9" fmla="*/ 83372 h 333488"/>
              <a:gd name="connsiteX10" fmla="*/ 138299 w 254098"/>
              <a:gd name="connsiteY10" fmla="*/ 83372 h 333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54098" h="333488">
                <a:moveTo>
                  <a:pt x="138299" y="0"/>
                </a:moveTo>
                <a:lnTo>
                  <a:pt x="254098" y="166744"/>
                </a:lnTo>
                <a:lnTo>
                  <a:pt x="138299" y="333488"/>
                </a:lnTo>
                <a:lnTo>
                  <a:pt x="138299" y="252666"/>
                </a:lnTo>
                <a:lnTo>
                  <a:pt x="28191" y="252666"/>
                </a:lnTo>
                <a:cubicBezTo>
                  <a:pt x="12622" y="252666"/>
                  <a:pt x="0" y="240044"/>
                  <a:pt x="0" y="224475"/>
                </a:cubicBezTo>
                <a:lnTo>
                  <a:pt x="0" y="111714"/>
                </a:lnTo>
                <a:cubicBezTo>
                  <a:pt x="0" y="96145"/>
                  <a:pt x="12622" y="83523"/>
                  <a:pt x="28191" y="83523"/>
                </a:cubicBezTo>
                <a:lnTo>
                  <a:pt x="69434" y="83523"/>
                </a:lnTo>
                <a:lnTo>
                  <a:pt x="69434" y="83372"/>
                </a:lnTo>
                <a:lnTo>
                  <a:pt x="138299" y="83372"/>
                </a:lnTo>
                <a:close/>
              </a:path>
            </a:pathLst>
          </a:custGeom>
          <a:gradFill>
            <a:gsLst>
              <a:gs pos="0">
                <a:schemeClr val="bg2"/>
              </a:gs>
              <a:gs pos="100000">
                <a:schemeClr val="accent1">
                  <a:lumMod val="40000"/>
                  <a:lumOff val="60000"/>
                </a:schemeClr>
              </a:gs>
            </a:gsLst>
            <a:lin ang="0" scaled="0"/>
          </a:gradFill>
          <a:ln w="12700" cap="flat">
            <a:gradFill>
              <a:gsLst>
                <a:gs pos="0">
                  <a:schemeClr val="accent1">
                    <a:alpha val="0"/>
                  </a:schemeClr>
                </a:gs>
                <a:gs pos="100000">
                  <a:schemeClr val="accent1"/>
                </a:gs>
              </a:gsLst>
              <a:lin ang="0" scaled="0"/>
            </a:gra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lvl="0" algn="l" hangingPunct="0">
              <a:buClrTx/>
              <a:buSzTx/>
              <a:buFontTx/>
            </a:pPr>
            <a:endParaRPr lang="zh-CN" altLang="en-US">
              <a:solidFill>
                <a:srgbClr val="1C427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 name="Title 2"/>
          <p:cNvSpPr txBox="1"/>
          <p:nvPr/>
        </p:nvSpPr>
        <p:spPr>
          <a:xfrm>
            <a:off x="5556885" y="3587115"/>
            <a:ext cx="1163955" cy="30734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2000" b="1" dirty="0">
                <a:solidFill>
                  <a:srgbClr val="FFFFFF"/>
                </a:solidFill>
                <a:latin typeface="微软雅黑" panose="020B0503020204020204" charset="-122"/>
                <a:ea typeface="微软雅黑" panose="020B0503020204020204" charset="-122"/>
                <a:cs typeface="微软雅黑" panose="020B0503020204020204" charset="-122"/>
              </a:rPr>
              <a:t>运营增效</a:t>
            </a:r>
            <a:endParaRPr lang="en-US" altLang="zh-CN" sz="20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60" name="Title 2"/>
          <p:cNvSpPr txBox="1"/>
          <p:nvPr/>
        </p:nvSpPr>
        <p:spPr>
          <a:xfrm>
            <a:off x="5709920" y="3963035"/>
            <a:ext cx="857885" cy="23050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500" dirty="0">
                <a:solidFill>
                  <a:srgbClr val="FFFFFF"/>
                </a:solidFill>
                <a:latin typeface="微软雅黑" panose="020B0503020204020204" charset="-122"/>
                <a:ea typeface="微软雅黑" panose="020B0503020204020204" charset="-122"/>
                <a:cs typeface="微软雅黑" panose="020B0503020204020204" charset="-122"/>
              </a:rPr>
              <a:t>（核心）</a:t>
            </a:r>
            <a:endParaRPr lang="zh-CN" altLang="en-US" sz="2000" b="1" dirty="0">
              <a:solidFill>
                <a:srgbClr val="FFFFFF"/>
              </a:solidFill>
              <a:latin typeface="微软雅黑" panose="020B0503020204020204" charset="-122"/>
              <a:ea typeface="微软雅黑" panose="020B0503020204020204" charset="-122"/>
              <a:cs typeface="微软雅黑" panose="020B0503020204020204" charset="-122"/>
            </a:endParaRPr>
          </a:p>
        </p:txBody>
      </p:sp>
      <p:sp>
        <p:nvSpPr>
          <p:cNvPr id="74" name="弧形 23"/>
          <p:cNvSpPr/>
          <p:nvPr/>
        </p:nvSpPr>
        <p:spPr>
          <a:xfrm rot="13080000">
            <a:off x="5062855" y="2703830"/>
            <a:ext cx="2141220" cy="2152015"/>
          </a:xfrm>
          <a:prstGeom prst="arc">
            <a:avLst>
              <a:gd name="adj1" fmla="val 5111075"/>
              <a:gd name="adj2" fmla="val 11463088"/>
            </a:avLst>
          </a:prstGeom>
          <a:noFill/>
          <a:ln w="22225" cap="flat" cmpd="sng" algn="ctr">
            <a:gradFill flip="none" rotWithShape="1">
              <a:gsLst>
                <a:gs pos="33000">
                  <a:sysClr val="window" lastClr="FFFFFF"/>
                </a:gs>
                <a:gs pos="100000">
                  <a:srgbClr val="4874CB">
                    <a:lumMod val="20000"/>
                    <a:lumOff val="80000"/>
                    <a:alpha val="0"/>
                  </a:srgbClr>
                </a:gs>
              </a:gsLst>
              <a:path path="circle">
                <a:fillToRect r="100000" b="100000"/>
              </a:path>
              <a:tileRect l="-100000" t="-100000"/>
            </a:gradFill>
            <a:prstDash val="solid"/>
            <a:miter lim="800000"/>
            <a:headEnd type="none" w="lg" len="lg"/>
            <a:tailEnd type="stealth" w="lg" len="lg"/>
          </a:ln>
          <a:effectLst/>
        </p:spPr>
        <p:txBody>
          <a:bodyPr rtlCol="0" anchor="ctr">
            <a:noAutofit/>
          </a:bodyPr>
          <a:lstStyle/>
          <a:p>
            <a:pPr lvl="0" algn="ctr">
              <a:spcBef>
                <a:spcPts val="0"/>
              </a:spcBef>
              <a:spcAft>
                <a:spcPts val="0"/>
              </a:spcAft>
              <a:buClrTx/>
              <a:buSzTx/>
              <a:buFontTx/>
              <a:defRPr/>
            </a:pPr>
            <a:endParaRPr lang="zh-CN" altLang="en-US"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Title 2"/>
          <p:cNvSpPr txBox="1"/>
          <p:nvPr/>
        </p:nvSpPr>
        <p:spPr>
          <a:xfrm>
            <a:off x="5121275" y="1590675"/>
            <a:ext cx="1932305" cy="593090"/>
          </a:xfrm>
          <a:prstGeom prst="rect">
            <a:avLst/>
          </a:prstGeom>
        </p:spPr>
        <p:txBody>
          <a:bodyPr vert="horz" wrap="square" lIns="0" tIns="0" rIns="0" bIns="0" rtlCol="0" anchor="t" anchorCtr="0">
            <a:prstTxWarp prst="textArchUp">
              <a:avLst/>
            </a:prstTxWarp>
            <a:no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en-US" altLang="zh-CN" sz="1300" dirty="0">
                <a:solidFill>
                  <a:schemeClr val="tx2"/>
                </a:solidFill>
                <a:latin typeface="微软雅黑" panose="020B0503020204020204" charset="-122"/>
                <a:ea typeface="微软雅黑" panose="020B0503020204020204" charset="-122"/>
                <a:cs typeface="微软雅黑" panose="020B0503020204020204" charset="-122"/>
              </a:rPr>
              <a:t>“</a:t>
            </a:r>
            <a:r>
              <a:rPr lang="zh-CN" altLang="en-US" sz="1300" dirty="0">
                <a:solidFill>
                  <a:schemeClr val="tx2"/>
                </a:solidFill>
                <a:latin typeface="微软雅黑" panose="020B0503020204020204" charset="-122"/>
                <a:ea typeface="微软雅黑" panose="020B0503020204020204" charset="-122"/>
                <a:cs typeface="微软雅黑" panose="020B0503020204020204" charset="-122"/>
              </a:rPr>
              <a:t>数字化赋能运营提质</a:t>
            </a:r>
            <a:r>
              <a:rPr lang="en-US" altLang="zh-CN" sz="1300" dirty="0">
                <a:solidFill>
                  <a:schemeClr val="tx2"/>
                </a:solidFill>
                <a:latin typeface="微软雅黑" panose="020B0503020204020204" charset="-122"/>
                <a:ea typeface="微软雅黑" panose="020B0503020204020204" charset="-122"/>
                <a:cs typeface="微软雅黑" panose="020B0503020204020204" charset="-122"/>
              </a:rPr>
              <a:t>”</a:t>
            </a:r>
            <a:endParaRPr lang="zh-CN" altLang="en-US" sz="13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 name="Title 2"/>
          <p:cNvSpPr txBox="1"/>
          <p:nvPr/>
        </p:nvSpPr>
        <p:spPr>
          <a:xfrm>
            <a:off x="5121275" y="5433695"/>
            <a:ext cx="1932305" cy="570230"/>
          </a:xfrm>
          <a:prstGeom prst="rect">
            <a:avLst/>
          </a:prstGeom>
        </p:spPr>
        <p:txBody>
          <a:bodyPr vert="horz" wrap="square" lIns="0" tIns="0" rIns="0" bIns="0" rtlCol="0" anchor="t" anchorCtr="0">
            <a:prstTxWarp prst="textArchDown">
              <a:avLst/>
            </a:prstTxWarp>
            <a:no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sym typeface="+mn-ea"/>
              </a:rPr>
              <a:t>数字技术深度融入全场景</a:t>
            </a:r>
            <a:endParaRPr lang="zh-CN" altLang="en-US" sz="10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11" name="弧形 10"/>
          <p:cNvSpPr/>
          <p:nvPr/>
        </p:nvSpPr>
        <p:spPr>
          <a:xfrm>
            <a:off x="3868420" y="1580515"/>
            <a:ext cx="4495165" cy="4495165"/>
          </a:xfrm>
          <a:prstGeom prst="arc">
            <a:avLst>
              <a:gd name="adj1" fmla="val 6864169"/>
              <a:gd name="adj2" fmla="val 14734637"/>
            </a:avLst>
          </a:prstGeom>
          <a:ln>
            <a:solidFill>
              <a:schemeClr val="tx2">
                <a:alpha val="50000"/>
              </a:schemeClr>
            </a:solidFill>
            <a:prstDash val="lgDashDotDot"/>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12" name="弧形 11"/>
          <p:cNvSpPr/>
          <p:nvPr/>
        </p:nvSpPr>
        <p:spPr>
          <a:xfrm>
            <a:off x="3868420" y="1580515"/>
            <a:ext cx="4495165" cy="4495165"/>
          </a:xfrm>
          <a:prstGeom prst="arc">
            <a:avLst>
              <a:gd name="adj1" fmla="val 17963277"/>
              <a:gd name="adj2" fmla="val 3834265"/>
            </a:avLst>
          </a:prstGeom>
          <a:ln>
            <a:solidFill>
              <a:schemeClr val="tx2">
                <a:alpha val="50000"/>
              </a:schemeClr>
            </a:solidFill>
            <a:prstDash val="lgDashDotDot"/>
          </a:ln>
        </p:spPr>
        <p:style>
          <a:lnRef idx="2">
            <a:schemeClr val="accent1"/>
          </a:lnRef>
          <a:fillRef idx="0">
            <a:srgbClr val="FFFFFF"/>
          </a:fillRef>
          <a:effectRef idx="0">
            <a:srgbClr val="FFFFFF"/>
          </a:effectRef>
          <a:fontRef idx="minor">
            <a:schemeClr val="tx1"/>
          </a:fontRef>
        </p:style>
        <p:txBody>
          <a:bodyPr rtlCol="0" anchor="ctr"/>
          <a:p>
            <a:pPr algn="ctr"/>
            <a:endParaRPr lang="zh-CN" altLang="en-US">
              <a:cs typeface="微软雅黑" panose="020B0503020204020204" charset="-122"/>
            </a:endParaRPr>
          </a:p>
        </p:txBody>
      </p:sp>
      <p:sp>
        <p:nvSpPr>
          <p:cNvPr id="90" name="Title 2"/>
          <p:cNvSpPr txBox="1"/>
          <p:nvPr/>
        </p:nvSpPr>
        <p:spPr>
          <a:xfrm rot="5400000">
            <a:off x="7675245" y="3574415"/>
            <a:ext cx="1407795" cy="44577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第三环</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ct val="0"/>
              </a:spcBef>
              <a:spcAft>
                <a:spcPts val="0"/>
              </a:spcAft>
              <a:buClrTx/>
              <a:buSzTx/>
              <a:buFontTx/>
              <a:buNone/>
              <a:defRPr/>
            </a:pPr>
            <a:endParaRPr lang="zh-CN" altLang="en-US" sz="500" dirty="0">
              <a:solidFill>
                <a:schemeClr val="tx2"/>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tx2"/>
                </a:solidFill>
                <a:latin typeface="微软雅黑" panose="020B0503020204020204" charset="-122"/>
                <a:ea typeface="微软雅黑" panose="020B0503020204020204" charset="-122"/>
                <a:cs typeface="微软雅黑" panose="020B0503020204020204" charset="-122"/>
              </a:rPr>
              <a:t>五大场景</a:t>
            </a:r>
            <a:endParaRPr lang="zh-CN" altLang="en-US" sz="1200" dirty="0">
              <a:solidFill>
                <a:schemeClr val="tx2"/>
              </a:solidFill>
              <a:latin typeface="微软雅黑" panose="020B0503020204020204" charset="-122"/>
              <a:ea typeface="微软雅黑" panose="020B0503020204020204" charset="-122"/>
              <a:cs typeface="微软雅黑" panose="020B0503020204020204" charset="-122"/>
            </a:endParaRPr>
          </a:p>
        </p:txBody>
      </p:sp>
      <p:sp>
        <p:nvSpPr>
          <p:cNvPr id="91" name="Title 2"/>
          <p:cNvSpPr txBox="1"/>
          <p:nvPr/>
        </p:nvSpPr>
        <p:spPr>
          <a:xfrm rot="17880000">
            <a:off x="4962525" y="3268980"/>
            <a:ext cx="733425" cy="1841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第一环</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92" name="Title 2"/>
          <p:cNvSpPr txBox="1"/>
          <p:nvPr/>
        </p:nvSpPr>
        <p:spPr>
          <a:xfrm rot="6660000">
            <a:off x="6643370" y="3938905"/>
            <a:ext cx="733425" cy="184150"/>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bg1"/>
                </a:solidFill>
                <a:latin typeface="微软雅黑" panose="020B0503020204020204" charset="-122"/>
                <a:ea typeface="微软雅黑" panose="020B0503020204020204" charset="-122"/>
                <a:cs typeface="微软雅黑" panose="020B0503020204020204" charset="-122"/>
              </a:rPr>
              <a:t>第一环</a:t>
            </a:r>
            <a:endParaRPr lang="zh-CN" altLang="en-US" sz="1200"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127" name="Title 2"/>
          <p:cNvSpPr txBox="1"/>
          <p:nvPr/>
        </p:nvSpPr>
        <p:spPr>
          <a:xfrm rot="18900000">
            <a:off x="4328160" y="2395220"/>
            <a:ext cx="1407795" cy="36893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accent1"/>
                </a:solidFill>
                <a:latin typeface="微软雅黑" panose="020B0503020204020204" charset="-122"/>
                <a:ea typeface="微软雅黑" panose="020B0503020204020204" charset="-122"/>
                <a:cs typeface="微软雅黑" panose="020B0503020204020204" charset="-122"/>
              </a:rPr>
              <a:t>第二环</a:t>
            </a: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accent1"/>
                </a:solidFill>
                <a:latin typeface="微软雅黑" panose="020B0503020204020204" charset="-122"/>
                <a:ea typeface="微软雅黑" panose="020B0503020204020204" charset="-122"/>
                <a:cs typeface="微软雅黑" panose="020B0503020204020204" charset="-122"/>
              </a:rPr>
              <a:t>①战略引领</a:t>
            </a: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28" name="Title 2"/>
          <p:cNvSpPr txBox="1"/>
          <p:nvPr/>
        </p:nvSpPr>
        <p:spPr>
          <a:xfrm rot="2040000">
            <a:off x="6379210" y="2305050"/>
            <a:ext cx="1407795" cy="36893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accent1"/>
                </a:solidFill>
                <a:latin typeface="微软雅黑" panose="020B0503020204020204" charset="-122"/>
                <a:ea typeface="微软雅黑" panose="020B0503020204020204" charset="-122"/>
                <a:cs typeface="微软雅黑" panose="020B0503020204020204" charset="-122"/>
              </a:rPr>
              <a:t>第二环</a:t>
            </a: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accent1"/>
                </a:solidFill>
                <a:latin typeface="微软雅黑" panose="020B0503020204020204" charset="-122"/>
                <a:ea typeface="微软雅黑" panose="020B0503020204020204" charset="-122"/>
                <a:cs typeface="微软雅黑" panose="020B0503020204020204" charset="-122"/>
              </a:rPr>
              <a:t>②数据驱动</a:t>
            </a: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29" name="Title 2"/>
          <p:cNvSpPr txBox="1"/>
          <p:nvPr/>
        </p:nvSpPr>
        <p:spPr>
          <a:xfrm rot="17880000">
            <a:off x="6986270" y="4238625"/>
            <a:ext cx="1407795" cy="36893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accent1"/>
                </a:solidFill>
                <a:latin typeface="微软雅黑" panose="020B0503020204020204" charset="-122"/>
                <a:ea typeface="微软雅黑" panose="020B0503020204020204" charset="-122"/>
                <a:cs typeface="微软雅黑" panose="020B0503020204020204" charset="-122"/>
              </a:rPr>
              <a:t>第二环</a:t>
            </a: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accent1"/>
                </a:solidFill>
                <a:latin typeface="微软雅黑" panose="020B0503020204020204" charset="-122"/>
                <a:ea typeface="微软雅黑" panose="020B0503020204020204" charset="-122"/>
                <a:cs typeface="微软雅黑" panose="020B0503020204020204" charset="-122"/>
              </a:rPr>
              <a:t>③流程优化</a:t>
            </a:r>
            <a:endParaRPr lang="en-US" altLang="zh-CN" sz="12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30" name="Title 2"/>
          <p:cNvSpPr txBox="1"/>
          <p:nvPr/>
        </p:nvSpPr>
        <p:spPr>
          <a:xfrm>
            <a:off x="5368290" y="5256530"/>
            <a:ext cx="1407795" cy="36893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accent1"/>
                </a:solidFill>
                <a:latin typeface="微软雅黑" panose="020B0503020204020204" charset="-122"/>
                <a:ea typeface="微软雅黑" panose="020B0503020204020204" charset="-122"/>
                <a:cs typeface="微软雅黑" panose="020B0503020204020204" charset="-122"/>
              </a:rPr>
              <a:t>第二环</a:t>
            </a: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accent1"/>
                </a:solidFill>
                <a:latin typeface="微软雅黑" panose="020B0503020204020204" charset="-122"/>
                <a:ea typeface="微软雅黑" panose="020B0503020204020204" charset="-122"/>
                <a:cs typeface="微软雅黑" panose="020B0503020204020204" charset="-122"/>
              </a:rPr>
              <a:t>④技术创新</a:t>
            </a: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31" name="Title 2"/>
          <p:cNvSpPr txBox="1"/>
          <p:nvPr/>
        </p:nvSpPr>
        <p:spPr>
          <a:xfrm rot="15840000">
            <a:off x="3791585" y="3932555"/>
            <a:ext cx="1407795" cy="368935"/>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accent1"/>
                </a:solidFill>
                <a:latin typeface="微软雅黑" panose="020B0503020204020204" charset="-122"/>
                <a:ea typeface="微软雅黑" panose="020B0503020204020204" charset="-122"/>
                <a:cs typeface="微软雅黑" panose="020B0503020204020204" charset="-122"/>
              </a:rPr>
              <a:t>第二环</a:t>
            </a: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chemeClr val="accent1"/>
                </a:solidFill>
                <a:latin typeface="微软雅黑" panose="020B0503020204020204" charset="-122"/>
                <a:ea typeface="微软雅黑" panose="020B0503020204020204" charset="-122"/>
                <a:cs typeface="微软雅黑" panose="020B0503020204020204" charset="-122"/>
              </a:rPr>
              <a:t>⑤人才赋能</a:t>
            </a:r>
            <a:endParaRPr lang="zh-CN" altLang="en-US" sz="1200" dirty="0">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133" name="弧形 23"/>
          <p:cNvSpPr/>
          <p:nvPr/>
        </p:nvSpPr>
        <p:spPr>
          <a:xfrm rot="12900000">
            <a:off x="4615815" y="2412365"/>
            <a:ext cx="997585" cy="1621155"/>
          </a:xfrm>
          <a:prstGeom prst="arc">
            <a:avLst>
              <a:gd name="adj1" fmla="val 16320070"/>
              <a:gd name="adj2" fmla="val 146598"/>
            </a:avLst>
          </a:prstGeom>
          <a:noFill/>
          <a:ln w="22225" cap="flat" cmpd="sng" algn="ctr">
            <a:gradFill flip="none" rotWithShape="1">
              <a:gsLst>
                <a:gs pos="100000">
                  <a:schemeClr val="accent1"/>
                </a:gs>
                <a:gs pos="30000">
                  <a:schemeClr val="accent1">
                    <a:alpha val="0"/>
                  </a:schemeClr>
                </a:gs>
              </a:gsLst>
              <a:path path="circle">
                <a:fillToRect r="100000" b="100000"/>
              </a:path>
              <a:tileRect l="-100000" t="-100000"/>
            </a:gradFill>
            <a:prstDash val="solid"/>
            <a:miter lim="800000"/>
            <a:headEnd type="none" w="lg" len="lg"/>
            <a:tailEnd type="stealth" w="lg" len="lg"/>
          </a:ln>
          <a:effectLst/>
        </p:spPr>
        <p:txBody>
          <a:bodyPr rtlCol="0" anchor="ctr">
            <a:noAutofit/>
          </a:bodyPr>
          <a:lstStyle/>
          <a:p>
            <a:pPr lvl="0" algn="ctr">
              <a:spcBef>
                <a:spcPts val="0"/>
              </a:spcBef>
              <a:spcAft>
                <a:spcPts val="0"/>
              </a:spcAft>
              <a:buClrTx/>
              <a:buSzTx/>
              <a:buFontTx/>
              <a:defRPr/>
            </a:pPr>
            <a:endParaRPr lang="zh-CN" altLang="en-US"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4" name="弧形 23"/>
          <p:cNvSpPr/>
          <p:nvPr/>
        </p:nvSpPr>
        <p:spPr>
          <a:xfrm rot="17100000">
            <a:off x="5740400" y="1896110"/>
            <a:ext cx="997585" cy="1621155"/>
          </a:xfrm>
          <a:prstGeom prst="arc">
            <a:avLst>
              <a:gd name="adj1" fmla="val 16320070"/>
              <a:gd name="adj2" fmla="val 146598"/>
            </a:avLst>
          </a:prstGeom>
          <a:noFill/>
          <a:ln w="22225" cap="flat" cmpd="sng" algn="ctr">
            <a:gradFill flip="none" rotWithShape="1">
              <a:gsLst>
                <a:gs pos="100000">
                  <a:schemeClr val="accent1"/>
                </a:gs>
                <a:gs pos="30000">
                  <a:schemeClr val="accent1">
                    <a:alpha val="0"/>
                  </a:schemeClr>
                </a:gs>
              </a:gsLst>
              <a:path path="circle">
                <a:fillToRect r="100000" b="100000"/>
              </a:path>
              <a:tileRect l="-100000" t="-100000"/>
            </a:gradFill>
            <a:prstDash val="solid"/>
            <a:miter lim="800000"/>
            <a:headEnd type="none" w="lg" len="lg"/>
            <a:tailEnd type="stealth" w="lg" len="lg"/>
          </a:ln>
          <a:effectLst/>
        </p:spPr>
        <p:txBody>
          <a:bodyPr rtlCol="0" anchor="ctr">
            <a:noAutofit/>
          </a:bodyPr>
          <a:lstStyle/>
          <a:p>
            <a:pPr lvl="0" algn="ctr">
              <a:spcBef>
                <a:spcPts val="0"/>
              </a:spcBef>
              <a:spcAft>
                <a:spcPts val="0"/>
              </a:spcAft>
              <a:buClrTx/>
              <a:buSzTx/>
              <a:buFontTx/>
              <a:defRPr/>
            </a:pPr>
            <a:endParaRPr lang="zh-CN" altLang="en-US"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5" name="弧形 23"/>
          <p:cNvSpPr/>
          <p:nvPr/>
        </p:nvSpPr>
        <p:spPr>
          <a:xfrm>
            <a:off x="6789420" y="2835910"/>
            <a:ext cx="997585" cy="1621155"/>
          </a:xfrm>
          <a:prstGeom prst="arc">
            <a:avLst>
              <a:gd name="adj1" fmla="val 16320070"/>
              <a:gd name="adj2" fmla="val 146598"/>
            </a:avLst>
          </a:prstGeom>
          <a:noFill/>
          <a:ln w="22225" cap="flat" cmpd="sng" algn="ctr">
            <a:gradFill flip="none" rotWithShape="1">
              <a:gsLst>
                <a:gs pos="100000">
                  <a:schemeClr val="accent1"/>
                </a:gs>
                <a:gs pos="30000">
                  <a:schemeClr val="accent1">
                    <a:alpha val="0"/>
                  </a:schemeClr>
                </a:gs>
              </a:gsLst>
              <a:path path="circle">
                <a:fillToRect r="100000" b="100000"/>
              </a:path>
              <a:tileRect l="-100000" t="-100000"/>
            </a:gradFill>
            <a:prstDash val="solid"/>
            <a:miter lim="800000"/>
            <a:headEnd type="none" w="lg" len="lg"/>
            <a:tailEnd type="stealth" w="lg" len="lg"/>
          </a:ln>
          <a:effectLst/>
        </p:spPr>
        <p:txBody>
          <a:bodyPr rtlCol="0" anchor="ctr">
            <a:noAutofit/>
          </a:bodyPr>
          <a:lstStyle/>
          <a:p>
            <a:pPr lvl="0" algn="ctr">
              <a:spcBef>
                <a:spcPts val="0"/>
              </a:spcBef>
              <a:spcAft>
                <a:spcPts val="0"/>
              </a:spcAft>
              <a:buClrTx/>
              <a:buSzTx/>
              <a:buFontTx/>
              <a:defRPr/>
            </a:pPr>
            <a:endParaRPr lang="zh-CN" altLang="en-US"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6" name="弧形 23"/>
          <p:cNvSpPr/>
          <p:nvPr/>
        </p:nvSpPr>
        <p:spPr>
          <a:xfrm rot="4260000">
            <a:off x="6090285" y="4079240"/>
            <a:ext cx="997585" cy="1621155"/>
          </a:xfrm>
          <a:prstGeom prst="arc">
            <a:avLst>
              <a:gd name="adj1" fmla="val 16320070"/>
              <a:gd name="adj2" fmla="val 146598"/>
            </a:avLst>
          </a:prstGeom>
          <a:noFill/>
          <a:ln w="22225" cap="flat" cmpd="sng" algn="ctr">
            <a:gradFill flip="none" rotWithShape="1">
              <a:gsLst>
                <a:gs pos="100000">
                  <a:schemeClr val="accent1"/>
                </a:gs>
                <a:gs pos="30000">
                  <a:schemeClr val="accent1">
                    <a:alpha val="0"/>
                  </a:schemeClr>
                </a:gs>
              </a:gsLst>
              <a:path path="circle">
                <a:fillToRect r="100000" b="100000"/>
              </a:path>
              <a:tileRect l="-100000" t="-100000"/>
            </a:gradFill>
            <a:prstDash val="solid"/>
            <a:miter lim="800000"/>
            <a:headEnd type="none" w="lg" len="lg"/>
            <a:tailEnd type="stealth" w="lg" len="lg"/>
          </a:ln>
          <a:effectLst/>
        </p:spPr>
        <p:txBody>
          <a:bodyPr rtlCol="0" anchor="ctr">
            <a:noAutofit/>
          </a:bodyPr>
          <a:lstStyle/>
          <a:p>
            <a:pPr lvl="0" algn="ctr">
              <a:spcBef>
                <a:spcPts val="0"/>
              </a:spcBef>
              <a:spcAft>
                <a:spcPts val="0"/>
              </a:spcAft>
              <a:buClrTx/>
              <a:buSzTx/>
              <a:buFontTx/>
              <a:defRPr/>
            </a:pPr>
            <a:endParaRPr lang="zh-CN" altLang="en-US"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7" name="弧形 23"/>
          <p:cNvSpPr/>
          <p:nvPr/>
        </p:nvSpPr>
        <p:spPr>
          <a:xfrm rot="9000000">
            <a:off x="4742180" y="3728085"/>
            <a:ext cx="997585" cy="1621155"/>
          </a:xfrm>
          <a:prstGeom prst="arc">
            <a:avLst>
              <a:gd name="adj1" fmla="val 16320070"/>
              <a:gd name="adj2" fmla="val 146598"/>
            </a:avLst>
          </a:prstGeom>
          <a:noFill/>
          <a:ln w="22225" cap="flat" cmpd="sng" algn="ctr">
            <a:gradFill flip="none" rotWithShape="1">
              <a:gsLst>
                <a:gs pos="100000">
                  <a:schemeClr val="accent1"/>
                </a:gs>
                <a:gs pos="30000">
                  <a:schemeClr val="accent1">
                    <a:alpha val="0"/>
                  </a:schemeClr>
                </a:gs>
              </a:gsLst>
              <a:path path="circle">
                <a:fillToRect r="100000" b="100000"/>
              </a:path>
              <a:tileRect l="-100000" t="-100000"/>
            </a:gradFill>
            <a:prstDash val="solid"/>
            <a:miter lim="800000"/>
            <a:headEnd type="none" w="lg" len="lg"/>
            <a:tailEnd type="stealth" w="lg" len="lg"/>
          </a:ln>
          <a:effectLst/>
        </p:spPr>
        <p:txBody>
          <a:bodyPr rtlCol="0" anchor="ctr">
            <a:noAutofit/>
          </a:bodyPr>
          <a:lstStyle/>
          <a:p>
            <a:pPr lvl="0" algn="ctr">
              <a:spcBef>
                <a:spcPts val="0"/>
              </a:spcBef>
              <a:spcAft>
                <a:spcPts val="0"/>
              </a:spcAft>
              <a:buClrTx/>
              <a:buSzTx/>
              <a:buFontTx/>
              <a:defRPr/>
            </a:pPr>
            <a:endParaRPr lang="zh-CN" altLang="en-US"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0" name="Venn diagram"/>
          <p:cNvSpPr txBox="1"/>
          <p:nvPr/>
        </p:nvSpPr>
        <p:spPr>
          <a:xfrm>
            <a:off x="1118235" y="1580515"/>
            <a:ext cx="1548130" cy="358140"/>
          </a:xfrm>
          <a:prstGeom prst="rect">
            <a:avLst/>
          </a:prstGeom>
          <a:noFill/>
          <a:ln w="12700" cap="flat">
            <a:noFill/>
            <a:miter lim="400000"/>
          </a:ln>
          <a:effectLst/>
        </p:spPr>
        <p:txBody>
          <a:bodyPr wrap="square" lIns="25401" tIns="25401" rIns="25401" bIns="25401" numCol="1" anchor="t">
            <a:spAutoFit/>
          </a:bodyPr>
          <a:lstStyle>
            <a:lvl1pPr algn="l">
              <a:defRPr>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2000" b="1">
                <a:solidFill>
                  <a:schemeClr val="accent5">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a:t>
            </a:r>
            <a:endParaRPr lang="zh-CN" altLang="en-US" sz="2000" b="1">
              <a:solidFill>
                <a:schemeClr val="accent5">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141" name="直接连接符 140"/>
          <p:cNvCxnSpPr/>
          <p:nvPr/>
        </p:nvCxnSpPr>
        <p:spPr>
          <a:xfrm flipH="1" flipV="1">
            <a:off x="3439795" y="2013585"/>
            <a:ext cx="1989455" cy="1979295"/>
          </a:xfrm>
          <a:prstGeom prst="line">
            <a:avLst/>
          </a:prstGeom>
          <a:noFill/>
          <a:ln w="12700" cap="flat" cmpd="sng" algn="ctr">
            <a:solidFill>
              <a:schemeClr val="accent5"/>
            </a:solidFill>
            <a:prstDash val="solid"/>
            <a:miter lim="800000"/>
            <a:headEnd type="oval"/>
            <a:tailEnd type="none"/>
          </a:ln>
          <a:effectLst/>
        </p:spPr>
      </p:cxnSp>
      <p:cxnSp>
        <p:nvCxnSpPr>
          <p:cNvPr id="142" name="直接连接符 141"/>
          <p:cNvCxnSpPr/>
          <p:nvPr/>
        </p:nvCxnSpPr>
        <p:spPr>
          <a:xfrm>
            <a:off x="794385" y="2012950"/>
            <a:ext cx="2646045" cy="0"/>
          </a:xfrm>
          <a:prstGeom prst="line">
            <a:avLst/>
          </a:prstGeom>
          <a:noFill/>
          <a:ln w="12700" cap="flat" cmpd="sng" algn="ctr">
            <a:solidFill>
              <a:schemeClr val="accent5"/>
            </a:solidFill>
            <a:prstDash val="solid"/>
            <a:miter lim="800000"/>
            <a:headEnd type="oval"/>
            <a:tailEnd type="none"/>
          </a:ln>
          <a:effectLst/>
        </p:spPr>
      </p:cxnSp>
      <p:grpSp>
        <p:nvGrpSpPr>
          <p:cNvPr id="3" name="组合 2"/>
          <p:cNvGrpSpPr/>
          <p:nvPr/>
        </p:nvGrpSpPr>
        <p:grpSpPr>
          <a:xfrm>
            <a:off x="7363460" y="1697990"/>
            <a:ext cx="4130675" cy="1169670"/>
            <a:chOff x="11596" y="2674"/>
            <a:chExt cx="6505" cy="1842"/>
          </a:xfrm>
        </p:grpSpPr>
        <p:cxnSp>
          <p:nvCxnSpPr>
            <p:cNvPr id="146" name="直接连接符 145"/>
            <p:cNvCxnSpPr/>
            <p:nvPr/>
          </p:nvCxnSpPr>
          <p:spPr>
            <a:xfrm flipH="1">
              <a:off x="13935" y="2674"/>
              <a:ext cx="4167" cy="0"/>
            </a:xfrm>
            <a:prstGeom prst="line">
              <a:avLst/>
            </a:prstGeom>
            <a:noFill/>
            <a:ln w="12700" cap="flat" cmpd="sng" algn="ctr">
              <a:solidFill>
                <a:schemeClr val="accent1">
                  <a:lumMod val="60000"/>
                  <a:lumOff val="40000"/>
                </a:schemeClr>
              </a:solidFill>
              <a:prstDash val="solid"/>
              <a:miter lim="800000"/>
              <a:headEnd type="oval"/>
              <a:tailEnd type="none"/>
            </a:ln>
            <a:effectLst/>
          </p:spPr>
        </p:cxnSp>
        <p:cxnSp>
          <p:nvCxnSpPr>
            <p:cNvPr id="147" name="直接连接符 146"/>
            <p:cNvCxnSpPr/>
            <p:nvPr/>
          </p:nvCxnSpPr>
          <p:spPr>
            <a:xfrm flipV="1">
              <a:off x="11596" y="2674"/>
              <a:ext cx="2339" cy="1842"/>
            </a:xfrm>
            <a:prstGeom prst="line">
              <a:avLst/>
            </a:prstGeom>
            <a:noFill/>
            <a:ln w="12700" cap="flat" cmpd="sng" algn="ctr">
              <a:solidFill>
                <a:schemeClr val="accent1">
                  <a:lumMod val="60000"/>
                  <a:lumOff val="40000"/>
                </a:schemeClr>
              </a:solidFill>
              <a:prstDash val="solid"/>
              <a:miter lim="800000"/>
              <a:headEnd type="oval"/>
              <a:tailEnd type="none"/>
            </a:ln>
            <a:effectLst/>
          </p:spPr>
        </p:cxnSp>
      </p:grpSp>
      <p:cxnSp>
        <p:nvCxnSpPr>
          <p:cNvPr id="151" name="直接连接符 150"/>
          <p:cNvCxnSpPr/>
          <p:nvPr/>
        </p:nvCxnSpPr>
        <p:spPr>
          <a:xfrm flipH="1" flipV="1">
            <a:off x="8758555" y="5073015"/>
            <a:ext cx="2621280" cy="3810"/>
          </a:xfrm>
          <a:prstGeom prst="line">
            <a:avLst/>
          </a:prstGeom>
          <a:noFill/>
          <a:ln w="12700" cap="flat" cmpd="sng" algn="ctr">
            <a:solidFill>
              <a:schemeClr val="accent1">
                <a:lumMod val="60000"/>
                <a:lumOff val="40000"/>
              </a:schemeClr>
            </a:solidFill>
            <a:prstDash val="solid"/>
            <a:miter lim="800000"/>
            <a:headEnd type="oval"/>
            <a:tailEnd type="none"/>
          </a:ln>
          <a:effectLst/>
        </p:spPr>
      </p:cxnSp>
      <p:cxnSp>
        <p:nvCxnSpPr>
          <p:cNvPr id="152" name="直接连接符 151"/>
          <p:cNvCxnSpPr/>
          <p:nvPr/>
        </p:nvCxnSpPr>
        <p:spPr>
          <a:xfrm>
            <a:off x="8263890" y="4190365"/>
            <a:ext cx="494665" cy="882650"/>
          </a:xfrm>
          <a:prstGeom prst="line">
            <a:avLst/>
          </a:prstGeom>
          <a:noFill/>
          <a:ln w="12700" cap="flat" cmpd="sng" algn="ctr">
            <a:solidFill>
              <a:schemeClr val="accent1">
                <a:lumMod val="60000"/>
                <a:lumOff val="40000"/>
              </a:schemeClr>
            </a:solidFill>
            <a:prstDash val="solid"/>
            <a:miter lim="800000"/>
            <a:headEnd type="oval"/>
            <a:tailEnd type="none"/>
          </a:ln>
          <a:effectLst/>
        </p:spPr>
      </p:cxnSp>
      <p:cxnSp>
        <p:nvCxnSpPr>
          <p:cNvPr id="156" name="直接连接符 155"/>
          <p:cNvCxnSpPr/>
          <p:nvPr/>
        </p:nvCxnSpPr>
        <p:spPr>
          <a:xfrm>
            <a:off x="803910" y="5027930"/>
            <a:ext cx="2646045" cy="0"/>
          </a:xfrm>
          <a:prstGeom prst="line">
            <a:avLst/>
          </a:prstGeom>
          <a:noFill/>
          <a:ln w="12700" cap="flat" cmpd="sng" algn="ctr">
            <a:solidFill>
              <a:schemeClr val="accent1">
                <a:lumMod val="60000"/>
                <a:lumOff val="40000"/>
              </a:schemeClr>
            </a:solidFill>
            <a:prstDash val="solid"/>
            <a:miter lim="800000"/>
            <a:headEnd type="oval"/>
            <a:tailEnd type="none"/>
          </a:ln>
          <a:effectLst/>
        </p:spPr>
      </p:cxnSp>
      <p:cxnSp>
        <p:nvCxnSpPr>
          <p:cNvPr id="157" name="直接连接符 156"/>
          <p:cNvCxnSpPr/>
          <p:nvPr/>
        </p:nvCxnSpPr>
        <p:spPr>
          <a:xfrm flipH="1">
            <a:off x="3440430" y="4217670"/>
            <a:ext cx="1493520" cy="810260"/>
          </a:xfrm>
          <a:prstGeom prst="line">
            <a:avLst/>
          </a:prstGeom>
          <a:noFill/>
          <a:ln w="12700" cap="flat" cmpd="sng" algn="ctr">
            <a:solidFill>
              <a:schemeClr val="accent1">
                <a:lumMod val="60000"/>
                <a:lumOff val="40000"/>
              </a:schemeClr>
            </a:solidFill>
            <a:prstDash val="solid"/>
            <a:miter lim="800000"/>
            <a:headEnd type="oval"/>
            <a:tailEnd type="none"/>
          </a:ln>
          <a:effectLst/>
        </p:spPr>
      </p:cxnSp>
      <p:sp>
        <p:nvSpPr>
          <p:cNvPr id="158" name="Venn diagram"/>
          <p:cNvSpPr txBox="1"/>
          <p:nvPr/>
        </p:nvSpPr>
        <p:spPr>
          <a:xfrm>
            <a:off x="880745" y="2183765"/>
            <a:ext cx="2339975" cy="1127760"/>
          </a:xfrm>
          <a:prstGeom prst="rect">
            <a:avLst/>
          </a:prstGeom>
          <a:noFill/>
          <a:ln w="12700" cap="flat">
            <a:noFill/>
            <a:miter lim="400000"/>
          </a:ln>
          <a:effectLst/>
        </p:spPr>
        <p:txBody>
          <a:bodyPr wrap="square" lIns="25401" tIns="25401" rIns="25401" bIns="25401" numCol="1" anchor="t">
            <a:spAutoFit/>
          </a:bodyPr>
          <a:lstStyle>
            <a:lvl1pPr algn="l">
              <a:defRPr>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pPr algn="l"/>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锚定运营提质增效根本任务，以双核驱动为基础，五大驱动为引擎，五大场景为载体，形成循环上升的运营提升逻辑。</a:t>
            </a:r>
            <a:endPar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9" name="Venn diagram"/>
          <p:cNvSpPr txBox="1"/>
          <p:nvPr/>
        </p:nvSpPr>
        <p:spPr>
          <a:xfrm>
            <a:off x="1245235" y="4651375"/>
            <a:ext cx="1548130" cy="358140"/>
          </a:xfrm>
          <a:prstGeom prst="rect">
            <a:avLst/>
          </a:prstGeom>
          <a:noFill/>
          <a:ln w="12700" cap="flat">
            <a:noFill/>
            <a:miter lim="400000"/>
          </a:ln>
          <a:effectLst/>
        </p:spPr>
        <p:txBody>
          <a:bodyPr wrap="square" lIns="25401" tIns="25401" rIns="25401" bIns="25401" numCol="1" anchor="t">
            <a:spAutoFit/>
          </a:bodyPr>
          <a:lstStyle>
            <a:lvl1pPr algn="l">
              <a:defRPr>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2000" b="1">
                <a:solidFill>
                  <a:schemeClr val="accent1">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第一环</a:t>
            </a:r>
            <a:endParaRPr lang="zh-CN" altLang="en-US" sz="2000" b="1">
              <a:solidFill>
                <a:schemeClr val="accent1">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0" name="Venn diagram"/>
          <p:cNvSpPr txBox="1"/>
          <p:nvPr/>
        </p:nvSpPr>
        <p:spPr>
          <a:xfrm>
            <a:off x="1007745" y="5147945"/>
            <a:ext cx="2339975" cy="912495"/>
          </a:xfrm>
          <a:prstGeom prst="rect">
            <a:avLst/>
          </a:prstGeom>
          <a:noFill/>
          <a:ln w="12700" cap="flat">
            <a:noFill/>
            <a:miter lim="400000"/>
          </a:ln>
          <a:effectLst/>
        </p:spPr>
        <p:txBody>
          <a:bodyPr wrap="square" lIns="25401" tIns="25401" rIns="25401" bIns="25401" numCol="1" anchor="t">
            <a:spAutoFit/>
          </a:bodyPr>
          <a:lstStyle>
            <a:lvl1pPr algn="l">
              <a:defRPr>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pPr algn="l"/>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以</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效率提升</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和</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质量保障</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为双核驱动，夯实运营根基，为持续改进注入核心动力。</a:t>
            </a:r>
            <a:endPar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1" name="Venn diagram"/>
          <p:cNvSpPr txBox="1"/>
          <p:nvPr/>
        </p:nvSpPr>
        <p:spPr>
          <a:xfrm>
            <a:off x="9277350" y="1282065"/>
            <a:ext cx="1548130" cy="358140"/>
          </a:xfrm>
          <a:prstGeom prst="rect">
            <a:avLst/>
          </a:prstGeom>
          <a:noFill/>
          <a:ln w="12700" cap="flat">
            <a:noFill/>
            <a:miter lim="400000"/>
          </a:ln>
          <a:effectLst/>
        </p:spPr>
        <p:txBody>
          <a:bodyPr wrap="square" lIns="25401" tIns="25401" rIns="25401" bIns="25401" numCol="1" anchor="t">
            <a:spAutoFit/>
          </a:bodyPr>
          <a:lstStyle>
            <a:lvl1pPr algn="l">
              <a:defRPr>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2000" b="1">
                <a:solidFill>
                  <a:schemeClr val="accent1">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第二环</a:t>
            </a:r>
            <a:endParaRPr lang="zh-CN" altLang="en-US" sz="2000" b="1">
              <a:solidFill>
                <a:schemeClr val="accent1">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2" name="Venn diagram"/>
          <p:cNvSpPr txBox="1"/>
          <p:nvPr/>
        </p:nvSpPr>
        <p:spPr>
          <a:xfrm>
            <a:off x="9039860" y="1849755"/>
            <a:ext cx="2506980" cy="912495"/>
          </a:xfrm>
          <a:prstGeom prst="rect">
            <a:avLst/>
          </a:prstGeom>
          <a:noFill/>
          <a:ln w="12700" cap="flat">
            <a:noFill/>
            <a:miter lim="400000"/>
          </a:ln>
          <a:effectLst/>
        </p:spPr>
        <p:txBody>
          <a:bodyPr wrap="square" lIns="25401" tIns="25401" rIns="25401" bIns="25401" numCol="1" anchor="t">
            <a:spAutoFit/>
          </a:bodyPr>
          <a:lstStyle>
            <a:lvl1pPr algn="l">
              <a:defRPr>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pPr algn="l"/>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践行</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战略引领、数据驱动、流程优化、技术创新、人才赋能</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五大驱动，协同发力，推动运营体系全面升级。</a:t>
            </a:r>
            <a:endPar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3" name="Venn diagram"/>
          <p:cNvSpPr txBox="1"/>
          <p:nvPr/>
        </p:nvSpPr>
        <p:spPr>
          <a:xfrm>
            <a:off x="9339898" y="4681855"/>
            <a:ext cx="1548130" cy="358140"/>
          </a:xfrm>
          <a:prstGeom prst="rect">
            <a:avLst/>
          </a:prstGeom>
          <a:noFill/>
          <a:ln w="12700" cap="flat">
            <a:noFill/>
            <a:miter lim="400000"/>
          </a:ln>
          <a:effectLst/>
        </p:spPr>
        <p:txBody>
          <a:bodyPr wrap="square" lIns="25401" tIns="25401" rIns="25401" bIns="25401" numCol="1" anchor="t">
            <a:spAutoFit/>
          </a:bodyPr>
          <a:lstStyle>
            <a:lvl1pPr algn="l">
              <a:defRPr>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2000" b="1">
                <a:solidFill>
                  <a:schemeClr val="accent1">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第三环</a:t>
            </a:r>
            <a:endParaRPr lang="zh-CN" altLang="en-US" sz="2000" b="1">
              <a:solidFill>
                <a:schemeClr val="accent1">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64" name="Venn diagram"/>
          <p:cNvSpPr txBox="1"/>
          <p:nvPr/>
        </p:nvSpPr>
        <p:spPr>
          <a:xfrm>
            <a:off x="8848725" y="5180965"/>
            <a:ext cx="2620645" cy="1127760"/>
          </a:xfrm>
          <a:prstGeom prst="rect">
            <a:avLst/>
          </a:prstGeom>
          <a:noFill/>
          <a:ln w="12700" cap="flat">
            <a:noFill/>
            <a:miter lim="400000"/>
          </a:ln>
          <a:effectLst/>
        </p:spPr>
        <p:txBody>
          <a:bodyPr wrap="square" lIns="25401" tIns="25401" rIns="25401" bIns="25401" numCol="1" anchor="t">
            <a:spAutoFit/>
          </a:bodyPr>
          <a:lstStyle>
            <a:lvl1pPr algn="l">
              <a:defRPr>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pPr algn="l"/>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让数字技术深度融入</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研发</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生产</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供应链</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营销</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服务</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五大场景，紧扣</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数字化赋能运营提质</a:t>
            </a:r>
            <a:r>
              <a:rPr lang="en-US" altLang="zh-CN"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rPr>
              <a:t>核心目标，为组织高质量发展注入强劲动能。</a:t>
            </a:r>
            <a:endParaRPr lang="zh-CN" altLang="en-US" sz="1400">
              <a:solidFill>
                <a:schemeClr val="tx2">
                  <a:alpha val="80000"/>
                </a:schemeClr>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 name="Title 2"/>
          <p:cNvSpPr txBox="1"/>
          <p:nvPr/>
        </p:nvSpPr>
        <p:spPr>
          <a:xfrm>
            <a:off x="5429250" y="2858770"/>
            <a:ext cx="1457325" cy="593090"/>
          </a:xfrm>
          <a:prstGeom prst="rect">
            <a:avLst/>
          </a:prstGeom>
        </p:spPr>
        <p:txBody>
          <a:bodyPr vert="horz" wrap="square" lIns="0" tIns="0" rIns="0" bIns="0" rtlCol="0" anchor="t" anchorCtr="0">
            <a:prstTxWarp prst="textArchUp">
              <a:avLst/>
            </a:prstTxWarp>
            <a:noAutofit/>
          </a:bodyPr>
          <a:lstStyle>
            <a:lvl1pPr algn="l" defTabSz="914400" rtl="0" eaLnBrk="1" latinLnBrk="0" hangingPunct="1">
              <a:lnSpc>
                <a:spcPct val="90000"/>
              </a:lnSpc>
              <a:spcBef>
                <a:spcPct val="0"/>
              </a:spcBef>
              <a:buNone/>
              <a:defRPr sz="3600" b="0" i="0" kern="1200">
                <a:solidFill>
                  <a:srgbClr val="000000"/>
                </a:solidFill>
                <a:latin typeface="OPPOSans H" panose="00020600040101010101" pitchFamily="18" charset="-122"/>
                <a:ea typeface="OPPOSans H" panose="00020600040101010101" pitchFamily="18" charset="-122"/>
                <a:cs typeface="OPPOSans H" panose="00020600040101010101" pitchFamily="18" charset="-122"/>
              </a:defRPr>
            </a:lvl1pPr>
          </a:lstStyle>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200" dirty="0">
                <a:solidFill>
                  <a:sysClr val="window" lastClr="FFFFFF"/>
                </a:solidFill>
                <a:latin typeface="微软雅黑" panose="020B0503020204020204" charset="-122"/>
                <a:ea typeface="微软雅黑" panose="020B0503020204020204" charset="-122"/>
                <a:cs typeface="微软雅黑" panose="020B0503020204020204" charset="-122"/>
              </a:rPr>
              <a:t>驱动双核</a:t>
            </a:r>
            <a:endParaRPr lang="zh-CN" altLang="en-US" sz="1200" dirty="0">
              <a:solidFill>
                <a:sysClr val="window" lastClr="FFFFFF"/>
              </a:solidFill>
              <a:latin typeface="微软雅黑" panose="020B0503020204020204" charset="-122"/>
              <a:ea typeface="微软雅黑" panose="020B0503020204020204" charset="-122"/>
              <a:cs typeface="微软雅黑" panose="020B0503020204020204" charset="-122"/>
            </a:endParaRPr>
          </a:p>
          <a:p>
            <a:pPr marL="0" marR="0" lvl="0" indent="0" algn="ctr" defTabSz="914400" rtl="0" eaLnBrk="1" fontAlgn="auto" latinLnBrk="0" hangingPunct="1">
              <a:lnSpc>
                <a:spcPct val="100000"/>
              </a:lnSpc>
              <a:spcBef>
                <a:spcPct val="0"/>
              </a:spcBef>
              <a:spcAft>
                <a:spcPts val="0"/>
              </a:spcAft>
              <a:buClrTx/>
              <a:buSzTx/>
              <a:buFontTx/>
              <a:buNone/>
              <a:defRPr/>
            </a:pPr>
            <a:r>
              <a:rPr lang="zh-CN" altLang="en-US" sz="1000" dirty="0">
                <a:solidFill>
                  <a:sysClr val="window" lastClr="FFFFFF"/>
                </a:solidFill>
                <a:latin typeface="微软雅黑" panose="020B0503020204020204" charset="-122"/>
                <a:ea typeface="微软雅黑" panose="020B0503020204020204" charset="-122"/>
                <a:cs typeface="微软雅黑" panose="020B0503020204020204" charset="-122"/>
              </a:rPr>
              <a:t>①效率提升</a:t>
            </a:r>
            <a:endParaRPr lang="zh-CN" altLang="en-US" sz="1000" dirty="0">
              <a:solidFill>
                <a:sysClr val="window" lastClr="FFFFFF"/>
              </a:solidFill>
              <a:latin typeface="微软雅黑" panose="020B0503020204020204" charset="-122"/>
              <a:ea typeface="微软雅黑" panose="020B0503020204020204" charset="-122"/>
              <a:cs typeface="微软雅黑" panose="020B0503020204020204" charset="-122"/>
            </a:endParaRPr>
          </a:p>
        </p:txBody>
      </p:sp>
      <p:cxnSp>
        <p:nvCxnSpPr>
          <p:cNvPr id="6"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13" name="组合 12"/>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14" name="文本框 1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dirty="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dirty="0">
                <a:solidFill>
                  <a:schemeClr val="accent1"/>
                </a:solidFill>
                <a:effectLst/>
                <a:latin typeface="微软雅黑" panose="020B0503020204020204" charset="-122"/>
                <a:ea typeface="微软雅黑" panose="020B0503020204020204" charset="-122"/>
                <a:cs typeface="微软雅黑" panose="020B0503020204020204" charset="-122"/>
              </a:rPr>
              <a:t>-</a:t>
            </a:r>
            <a:r>
              <a:rPr sz="2500" dirty="0">
                <a:solidFill>
                  <a:schemeClr val="accent1"/>
                </a:solidFill>
                <a:effectLst/>
                <a:latin typeface="微软雅黑" panose="020B0503020204020204" charset="-122"/>
                <a:ea typeface="微软雅黑" panose="020B0503020204020204" charset="-122"/>
                <a:cs typeface="微软雅黑" panose="020B0503020204020204" charset="-122"/>
              </a:rPr>
              <a:t>循环逻辑架构 |</a:t>
            </a:r>
            <a:r>
              <a:rPr lang="zh-CN" altLang="en-US" sz="2500" dirty="0">
                <a:solidFill>
                  <a:schemeClr val="accent1"/>
                </a:solidFill>
                <a:effectLst/>
                <a:latin typeface="微软雅黑" panose="020B0503020204020204" charset="-122"/>
                <a:ea typeface="微软雅黑" panose="020B0503020204020204" charset="-122"/>
                <a:cs typeface="微软雅黑" panose="020B0503020204020204" charset="-122"/>
              </a:rPr>
              <a:t> </a:t>
            </a:r>
            <a:r>
              <a:rPr lang="en-US" altLang="zh-CN" sz="2500" dirty="0">
                <a:solidFill>
                  <a:schemeClr val="tx2"/>
                </a:solidFill>
                <a:effectLst/>
                <a:latin typeface="微软雅黑" panose="020B0503020204020204" charset="-122"/>
                <a:ea typeface="微软雅黑" panose="020B0503020204020204" charset="-122"/>
                <a:cs typeface="微软雅黑" panose="020B0503020204020204" charset="-122"/>
              </a:rPr>
              <a:t>GE</a:t>
            </a:r>
            <a:r>
              <a:rPr sz="2500" dirty="0">
                <a:solidFill>
                  <a:schemeClr val="tx2"/>
                </a:solidFill>
                <a:effectLst/>
                <a:latin typeface="微软雅黑" panose="020B0503020204020204" charset="-122"/>
                <a:ea typeface="微软雅黑" panose="020B0503020204020204" charset="-122"/>
                <a:cs typeface="微软雅黑" panose="020B0503020204020204" charset="-122"/>
              </a:rPr>
              <a:t>领导力模型</a:t>
            </a:r>
            <a:endParaRPr sz="2500" dirty="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grpSp>
        <p:nvGrpSpPr>
          <p:cNvPr id="69" name="组合 68"/>
          <p:cNvGrpSpPr/>
          <p:nvPr/>
        </p:nvGrpSpPr>
        <p:grpSpPr>
          <a:xfrm rot="0">
            <a:off x="923290" y="1861820"/>
            <a:ext cx="10650855" cy="4690110"/>
            <a:chOff x="1167" y="8849"/>
            <a:chExt cx="16773" cy="7386"/>
          </a:xfrm>
        </p:grpSpPr>
        <p:grpSp>
          <p:nvGrpSpPr>
            <p:cNvPr id="49" name="组合 48"/>
            <p:cNvGrpSpPr/>
            <p:nvPr/>
          </p:nvGrpSpPr>
          <p:grpSpPr>
            <a:xfrm>
              <a:off x="5836" y="8849"/>
              <a:ext cx="7386" cy="7386"/>
              <a:chOff x="5556" y="8849"/>
              <a:chExt cx="7386" cy="7386"/>
            </a:xfrm>
          </p:grpSpPr>
          <p:sp>
            <p:nvSpPr>
              <p:cNvPr id="17" name="Freeform 11"/>
              <p:cNvSpPr/>
              <p:nvPr/>
            </p:nvSpPr>
            <p:spPr bwMode="auto">
              <a:xfrm>
                <a:off x="5980" y="12200"/>
                <a:ext cx="3537" cy="3638"/>
              </a:xfrm>
              <a:custGeom>
                <a:avLst/>
                <a:gdLst>
                  <a:gd name="T0" fmla="*/ 885 w 896"/>
                  <a:gd name="T1" fmla="*/ 430 h 921"/>
                  <a:gd name="T2" fmla="*/ 828 w 896"/>
                  <a:gd name="T3" fmla="*/ 434 h 921"/>
                  <a:gd name="T4" fmla="*/ 495 w 896"/>
                  <a:gd name="T5" fmla="*/ 188 h 921"/>
                  <a:gd name="T6" fmla="*/ 248 w 896"/>
                  <a:gd name="T7" fmla="*/ 0 h 921"/>
                  <a:gd name="T8" fmla="*/ 0 w 896"/>
                  <a:gd name="T9" fmla="*/ 189 h 921"/>
                  <a:gd name="T10" fmla="*/ 828 w 896"/>
                  <a:gd name="T11" fmla="*/ 921 h 921"/>
                  <a:gd name="T12" fmla="*/ 896 w 896"/>
                  <a:gd name="T13" fmla="*/ 918 h 921"/>
                  <a:gd name="T14" fmla="*/ 705 w 896"/>
                  <a:gd name="T15" fmla="*/ 667 h 921"/>
                  <a:gd name="T16" fmla="*/ 885 w 896"/>
                  <a:gd name="T17" fmla="*/ 430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6" h="921">
                    <a:moveTo>
                      <a:pt x="885" y="430"/>
                    </a:moveTo>
                    <a:cubicBezTo>
                      <a:pt x="866" y="433"/>
                      <a:pt x="847" y="434"/>
                      <a:pt x="828" y="434"/>
                    </a:cubicBezTo>
                    <a:cubicBezTo>
                      <a:pt x="671" y="434"/>
                      <a:pt x="538" y="330"/>
                      <a:pt x="495" y="188"/>
                    </a:cubicBezTo>
                    <a:cubicBezTo>
                      <a:pt x="248" y="0"/>
                      <a:pt x="248" y="0"/>
                      <a:pt x="248" y="0"/>
                    </a:cubicBezTo>
                    <a:cubicBezTo>
                      <a:pt x="0" y="189"/>
                      <a:pt x="0" y="189"/>
                      <a:pt x="0" y="189"/>
                    </a:cubicBezTo>
                    <a:cubicBezTo>
                      <a:pt x="50" y="601"/>
                      <a:pt x="402" y="921"/>
                      <a:pt x="828" y="921"/>
                    </a:cubicBezTo>
                    <a:cubicBezTo>
                      <a:pt x="851" y="921"/>
                      <a:pt x="874" y="920"/>
                      <a:pt x="896" y="918"/>
                    </a:cubicBezTo>
                    <a:cubicBezTo>
                      <a:pt x="705" y="667"/>
                      <a:pt x="705" y="667"/>
                      <a:pt x="705" y="667"/>
                    </a:cubicBezTo>
                    <a:lnTo>
                      <a:pt x="885" y="430"/>
                    </a:lnTo>
                    <a:close/>
                  </a:path>
                </a:pathLst>
              </a:custGeom>
              <a:gradFill>
                <a:gsLst>
                  <a:gs pos="0">
                    <a:schemeClr val="accent1">
                      <a:lumMod val="60000"/>
                      <a:lumOff val="40000"/>
                    </a:schemeClr>
                  </a:gs>
                  <a:gs pos="99000">
                    <a:schemeClr val="accent1"/>
                  </a:gs>
                </a:gsLst>
                <a:lin ang="0" scaled="0"/>
              </a:gradFill>
              <a:ln>
                <a:noFill/>
              </a:ln>
            </p:spPr>
            <p:txBody>
              <a:bodyPr vert="horz" wrap="square" lIns="121926" tIns="60963" rIns="121926" bIns="60963"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8" name="Freeform 12"/>
              <p:cNvSpPr/>
              <p:nvPr/>
            </p:nvSpPr>
            <p:spPr bwMode="auto">
              <a:xfrm>
                <a:off x="5955" y="9278"/>
                <a:ext cx="3638" cy="3537"/>
              </a:xfrm>
              <a:custGeom>
                <a:avLst/>
                <a:gdLst>
                  <a:gd name="T0" fmla="*/ 491 w 921"/>
                  <a:gd name="T1" fmla="*/ 885 h 896"/>
                  <a:gd name="T2" fmla="*/ 487 w 921"/>
                  <a:gd name="T3" fmla="*/ 828 h 896"/>
                  <a:gd name="T4" fmla="*/ 733 w 921"/>
                  <a:gd name="T5" fmla="*/ 495 h 896"/>
                  <a:gd name="T6" fmla="*/ 921 w 921"/>
                  <a:gd name="T7" fmla="*/ 248 h 896"/>
                  <a:gd name="T8" fmla="*/ 732 w 921"/>
                  <a:gd name="T9" fmla="*/ 0 h 896"/>
                  <a:gd name="T10" fmla="*/ 0 w 921"/>
                  <a:gd name="T11" fmla="*/ 828 h 896"/>
                  <a:gd name="T12" fmla="*/ 3 w 921"/>
                  <a:gd name="T13" fmla="*/ 896 h 896"/>
                  <a:gd name="T14" fmla="*/ 254 w 921"/>
                  <a:gd name="T15" fmla="*/ 705 h 896"/>
                  <a:gd name="T16" fmla="*/ 491 w 921"/>
                  <a:gd name="T17" fmla="*/ 885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1" h="896">
                    <a:moveTo>
                      <a:pt x="491" y="885"/>
                    </a:moveTo>
                    <a:cubicBezTo>
                      <a:pt x="488" y="866"/>
                      <a:pt x="487" y="847"/>
                      <a:pt x="487" y="828"/>
                    </a:cubicBezTo>
                    <a:cubicBezTo>
                      <a:pt x="487" y="671"/>
                      <a:pt x="591" y="538"/>
                      <a:pt x="733" y="495"/>
                    </a:cubicBezTo>
                    <a:cubicBezTo>
                      <a:pt x="921" y="248"/>
                      <a:pt x="921" y="248"/>
                      <a:pt x="921" y="248"/>
                    </a:cubicBezTo>
                    <a:cubicBezTo>
                      <a:pt x="732" y="0"/>
                      <a:pt x="732" y="0"/>
                      <a:pt x="732" y="0"/>
                    </a:cubicBezTo>
                    <a:cubicBezTo>
                      <a:pt x="320" y="50"/>
                      <a:pt x="0" y="402"/>
                      <a:pt x="0" y="828"/>
                    </a:cubicBezTo>
                    <a:cubicBezTo>
                      <a:pt x="0" y="851"/>
                      <a:pt x="1" y="874"/>
                      <a:pt x="3" y="896"/>
                    </a:cubicBezTo>
                    <a:cubicBezTo>
                      <a:pt x="254" y="705"/>
                      <a:pt x="254" y="705"/>
                      <a:pt x="254" y="705"/>
                    </a:cubicBezTo>
                    <a:lnTo>
                      <a:pt x="491" y="885"/>
                    </a:lnTo>
                    <a:close/>
                  </a:path>
                </a:pathLst>
              </a:custGeom>
              <a:gradFill>
                <a:gsLst>
                  <a:gs pos="0">
                    <a:schemeClr val="accent1">
                      <a:lumMod val="40000"/>
                      <a:lumOff val="60000"/>
                    </a:schemeClr>
                  </a:gs>
                  <a:gs pos="99000">
                    <a:schemeClr val="accent1">
                      <a:lumMod val="60000"/>
                      <a:lumOff val="40000"/>
                    </a:schemeClr>
                  </a:gs>
                </a:gsLst>
                <a:lin ang="0" scaled="0"/>
              </a:gradFill>
              <a:ln>
                <a:noFill/>
              </a:ln>
            </p:spPr>
            <p:txBody>
              <a:bodyPr vert="horz" wrap="square" lIns="121926" tIns="60963" rIns="121926" bIns="60963"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9" name="Freeform 13"/>
              <p:cNvSpPr/>
              <p:nvPr/>
            </p:nvSpPr>
            <p:spPr bwMode="auto">
              <a:xfrm>
                <a:off x="8981" y="9252"/>
                <a:ext cx="3533" cy="3638"/>
              </a:xfrm>
              <a:custGeom>
                <a:avLst/>
                <a:gdLst>
                  <a:gd name="T0" fmla="*/ 11 w 896"/>
                  <a:gd name="T1" fmla="*/ 491 h 921"/>
                  <a:gd name="T2" fmla="*/ 68 w 896"/>
                  <a:gd name="T3" fmla="*/ 486 h 921"/>
                  <a:gd name="T4" fmla="*/ 401 w 896"/>
                  <a:gd name="T5" fmla="*/ 733 h 921"/>
                  <a:gd name="T6" fmla="*/ 648 w 896"/>
                  <a:gd name="T7" fmla="*/ 921 h 921"/>
                  <a:gd name="T8" fmla="*/ 896 w 896"/>
                  <a:gd name="T9" fmla="*/ 732 h 921"/>
                  <a:gd name="T10" fmla="*/ 68 w 896"/>
                  <a:gd name="T11" fmla="*/ 0 h 921"/>
                  <a:gd name="T12" fmla="*/ 0 w 896"/>
                  <a:gd name="T13" fmla="*/ 3 h 921"/>
                  <a:gd name="T14" fmla="*/ 191 w 896"/>
                  <a:gd name="T15" fmla="*/ 254 h 921"/>
                  <a:gd name="T16" fmla="*/ 11 w 896"/>
                  <a:gd name="T17" fmla="*/ 491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896" h="921">
                    <a:moveTo>
                      <a:pt x="11" y="491"/>
                    </a:moveTo>
                    <a:cubicBezTo>
                      <a:pt x="30" y="488"/>
                      <a:pt x="49" y="486"/>
                      <a:pt x="68" y="486"/>
                    </a:cubicBezTo>
                    <a:cubicBezTo>
                      <a:pt x="225" y="486"/>
                      <a:pt x="358" y="591"/>
                      <a:pt x="401" y="733"/>
                    </a:cubicBezTo>
                    <a:cubicBezTo>
                      <a:pt x="648" y="921"/>
                      <a:pt x="648" y="921"/>
                      <a:pt x="648" y="921"/>
                    </a:cubicBezTo>
                    <a:cubicBezTo>
                      <a:pt x="896" y="732"/>
                      <a:pt x="896" y="732"/>
                      <a:pt x="896" y="732"/>
                    </a:cubicBezTo>
                    <a:cubicBezTo>
                      <a:pt x="846" y="320"/>
                      <a:pt x="494" y="0"/>
                      <a:pt x="68" y="0"/>
                    </a:cubicBezTo>
                    <a:cubicBezTo>
                      <a:pt x="45" y="0"/>
                      <a:pt x="22" y="1"/>
                      <a:pt x="0" y="3"/>
                    </a:cubicBezTo>
                    <a:cubicBezTo>
                      <a:pt x="191" y="254"/>
                      <a:pt x="191" y="254"/>
                      <a:pt x="191" y="254"/>
                    </a:cubicBezTo>
                    <a:lnTo>
                      <a:pt x="11" y="491"/>
                    </a:lnTo>
                    <a:close/>
                  </a:path>
                </a:pathLst>
              </a:custGeom>
              <a:gradFill>
                <a:gsLst>
                  <a:gs pos="0">
                    <a:schemeClr val="accent1">
                      <a:lumMod val="60000"/>
                      <a:lumOff val="40000"/>
                    </a:schemeClr>
                  </a:gs>
                  <a:gs pos="99000">
                    <a:schemeClr val="accent1"/>
                  </a:gs>
                </a:gsLst>
                <a:lin ang="0" scaled="0"/>
              </a:gradFill>
              <a:ln>
                <a:noFill/>
              </a:ln>
            </p:spPr>
            <p:txBody>
              <a:bodyPr vert="horz" wrap="square" lIns="121926" tIns="60963" rIns="121926" bIns="60963"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2" name="Freeform 14"/>
              <p:cNvSpPr/>
              <p:nvPr/>
            </p:nvSpPr>
            <p:spPr bwMode="auto">
              <a:xfrm>
                <a:off x="8903" y="12277"/>
                <a:ext cx="3638" cy="3533"/>
              </a:xfrm>
              <a:custGeom>
                <a:avLst/>
                <a:gdLst>
                  <a:gd name="T0" fmla="*/ 430 w 921"/>
                  <a:gd name="T1" fmla="*/ 11 h 896"/>
                  <a:gd name="T2" fmla="*/ 435 w 921"/>
                  <a:gd name="T3" fmla="*/ 68 h 896"/>
                  <a:gd name="T4" fmla="*/ 188 w 921"/>
                  <a:gd name="T5" fmla="*/ 401 h 896"/>
                  <a:gd name="T6" fmla="*/ 0 w 921"/>
                  <a:gd name="T7" fmla="*/ 648 h 896"/>
                  <a:gd name="T8" fmla="*/ 189 w 921"/>
                  <a:gd name="T9" fmla="*/ 896 h 896"/>
                  <a:gd name="T10" fmla="*/ 921 w 921"/>
                  <a:gd name="T11" fmla="*/ 68 h 896"/>
                  <a:gd name="T12" fmla="*/ 918 w 921"/>
                  <a:gd name="T13" fmla="*/ 0 h 896"/>
                  <a:gd name="T14" fmla="*/ 667 w 921"/>
                  <a:gd name="T15" fmla="*/ 191 h 896"/>
                  <a:gd name="T16" fmla="*/ 430 w 921"/>
                  <a:gd name="T17" fmla="*/ 11 h 8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921" h="896">
                    <a:moveTo>
                      <a:pt x="430" y="11"/>
                    </a:moveTo>
                    <a:cubicBezTo>
                      <a:pt x="433" y="30"/>
                      <a:pt x="435" y="49"/>
                      <a:pt x="435" y="68"/>
                    </a:cubicBezTo>
                    <a:cubicBezTo>
                      <a:pt x="435" y="225"/>
                      <a:pt x="330" y="358"/>
                      <a:pt x="188" y="401"/>
                    </a:cubicBezTo>
                    <a:cubicBezTo>
                      <a:pt x="0" y="648"/>
                      <a:pt x="0" y="648"/>
                      <a:pt x="0" y="648"/>
                    </a:cubicBezTo>
                    <a:cubicBezTo>
                      <a:pt x="189" y="896"/>
                      <a:pt x="189" y="896"/>
                      <a:pt x="189" y="896"/>
                    </a:cubicBezTo>
                    <a:cubicBezTo>
                      <a:pt x="601" y="846"/>
                      <a:pt x="921" y="494"/>
                      <a:pt x="921" y="68"/>
                    </a:cubicBezTo>
                    <a:cubicBezTo>
                      <a:pt x="921" y="45"/>
                      <a:pt x="920" y="22"/>
                      <a:pt x="918" y="0"/>
                    </a:cubicBezTo>
                    <a:cubicBezTo>
                      <a:pt x="667" y="191"/>
                      <a:pt x="667" y="191"/>
                      <a:pt x="667" y="191"/>
                    </a:cubicBezTo>
                    <a:lnTo>
                      <a:pt x="430" y="11"/>
                    </a:lnTo>
                    <a:close/>
                  </a:path>
                </a:pathLst>
              </a:custGeom>
              <a:gradFill>
                <a:gsLst>
                  <a:gs pos="0">
                    <a:schemeClr val="accent1">
                      <a:lumMod val="40000"/>
                      <a:lumOff val="60000"/>
                    </a:schemeClr>
                  </a:gs>
                  <a:gs pos="99000">
                    <a:schemeClr val="accent1">
                      <a:lumMod val="60000"/>
                      <a:lumOff val="40000"/>
                    </a:schemeClr>
                  </a:gs>
                </a:gsLst>
                <a:lin ang="0" scaled="0"/>
              </a:gradFill>
              <a:ln>
                <a:noFill/>
              </a:ln>
            </p:spPr>
            <p:txBody>
              <a:bodyPr vert="horz" wrap="square" lIns="121926" tIns="60963" rIns="121926" bIns="60963" numCol="1" anchor="t" anchorCtr="0" compatLnSpc="1">
                <a:noAutofit/>
              </a:bodyPr>
              <a:lstStyle/>
              <a:p>
                <a:pPr lvl="0" algn="l">
                  <a:spcBef>
                    <a:spcPts val="0"/>
                  </a:spcBef>
                  <a:spcAft>
                    <a:spcPts val="0"/>
                  </a:spcAft>
                  <a:buClrTx/>
                  <a:buSzTx/>
                  <a:buFontTx/>
                  <a:defRPr/>
                </a:pPr>
                <a:endParaRPr lang="en-US" sz="240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sym typeface="+mn-ea"/>
                </a:endParaRPr>
              </a:p>
            </p:txBody>
          </p:sp>
          <p:sp>
            <p:nvSpPr>
              <p:cNvPr id="6" name="Oval 15"/>
              <p:cNvSpPr>
                <a:spLocks noChangeArrowheads="1"/>
              </p:cNvSpPr>
              <p:nvPr/>
            </p:nvSpPr>
            <p:spPr bwMode="auto">
              <a:xfrm>
                <a:off x="7625" y="10921"/>
                <a:ext cx="3246" cy="3246"/>
              </a:xfrm>
              <a:prstGeom prst="ellipse">
                <a:avLst/>
              </a:prstGeom>
              <a:solidFill>
                <a:schemeClr val="accent5">
                  <a:alpha val="70000"/>
                </a:schemeClr>
              </a:solidFill>
              <a:ln>
                <a:noFill/>
              </a:ln>
            </p:spPr>
            <p:txBody>
              <a:bodyPr vert="horz" wrap="square" lIns="121926" tIns="60963" rIns="121926" bIns="60963"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7" name="Oval 16"/>
              <p:cNvSpPr>
                <a:spLocks noChangeArrowheads="1"/>
              </p:cNvSpPr>
              <p:nvPr/>
            </p:nvSpPr>
            <p:spPr bwMode="auto">
              <a:xfrm>
                <a:off x="7878" y="11171"/>
                <a:ext cx="2743" cy="2743"/>
              </a:xfrm>
              <a:prstGeom prst="ellipse">
                <a:avLst/>
              </a:prstGeom>
              <a:solidFill>
                <a:sysClr val="window" lastClr="FFFFFF"/>
              </a:solidFill>
              <a:ln>
                <a:noFill/>
              </a:ln>
              <a:effectLst>
                <a:outerShdw blurRad="63500" algn="ctr" rotWithShape="0">
                  <a:prstClr val="black">
                    <a:alpha val="16000"/>
                  </a:prstClr>
                </a:outerShdw>
              </a:effectLst>
            </p:spPr>
            <p:txBody>
              <a:bodyPr vert="horz" wrap="square" lIns="121926" tIns="60963" rIns="121926" bIns="60963"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03" name="Arc 102"/>
              <p:cNvSpPr/>
              <p:nvPr/>
            </p:nvSpPr>
            <p:spPr>
              <a:xfrm>
                <a:off x="5556" y="8849"/>
                <a:ext cx="7386" cy="7386"/>
              </a:xfrm>
              <a:prstGeom prst="arc">
                <a:avLst>
                  <a:gd name="adj1" fmla="val 971133"/>
                  <a:gd name="adj2" fmla="val 924863"/>
                </a:avLst>
              </a:prstGeom>
              <a:noFill/>
              <a:ln w="19050" cap="flat" cmpd="sng" algn="ctr">
                <a:solidFill>
                  <a:schemeClr val="accent1"/>
                </a:solidFill>
                <a:prstDash val="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2400"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grpSp>
            <p:nvGrpSpPr>
              <p:cNvPr id="8" name="组合 7"/>
              <p:cNvGrpSpPr/>
              <p:nvPr/>
            </p:nvGrpSpPr>
            <p:grpSpPr>
              <a:xfrm>
                <a:off x="8556" y="11458"/>
                <a:ext cx="1383" cy="1732"/>
                <a:chOff x="13004" y="10290"/>
                <a:chExt cx="2892" cy="3620"/>
              </a:xfrm>
            </p:grpSpPr>
            <p:sp>
              <p:nvSpPr>
                <p:cNvPr id="9" name="Oval 9"/>
                <p:cNvSpPr>
                  <a:spLocks noChangeArrowheads="1"/>
                </p:cNvSpPr>
                <p:nvPr/>
              </p:nvSpPr>
              <p:spPr bwMode="auto">
                <a:xfrm>
                  <a:off x="13004" y="11018"/>
                  <a:ext cx="2892" cy="2892"/>
                </a:xfrm>
                <a:prstGeom prst="ellipse">
                  <a:avLst/>
                </a:pr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4" tIns="45722" rIns="91444" bIns="45722" numCol="1"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b="0"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1" name="Oval 10"/>
                <p:cNvSpPr>
                  <a:spLocks noChangeArrowheads="1"/>
                </p:cNvSpPr>
                <p:nvPr/>
              </p:nvSpPr>
              <p:spPr bwMode="auto">
                <a:xfrm>
                  <a:off x="13370" y="11383"/>
                  <a:ext cx="2161" cy="2163"/>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4" tIns="45722" rIns="91444" bIns="45722" numCol="1"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2" name="Freeform 20"/>
                <p:cNvSpPr/>
                <p:nvPr/>
              </p:nvSpPr>
              <p:spPr bwMode="auto">
                <a:xfrm>
                  <a:off x="15118" y="10290"/>
                  <a:ext cx="724" cy="973"/>
                </a:xfrm>
                <a:custGeom>
                  <a:avLst/>
                  <a:gdLst>
                    <a:gd name="T0" fmla="*/ 0 w 380"/>
                    <a:gd name="T1" fmla="*/ 329 h 511"/>
                    <a:gd name="T2" fmla="*/ 198 w 380"/>
                    <a:gd name="T3" fmla="*/ 0 h 511"/>
                    <a:gd name="T4" fmla="*/ 229 w 380"/>
                    <a:gd name="T5" fmla="*/ 182 h 511"/>
                    <a:gd name="T6" fmla="*/ 380 w 380"/>
                    <a:gd name="T7" fmla="*/ 166 h 511"/>
                    <a:gd name="T8" fmla="*/ 181 w 380"/>
                    <a:gd name="T9" fmla="*/ 495 h 511"/>
                    <a:gd name="T10" fmla="*/ 30 w 380"/>
                    <a:gd name="T11" fmla="*/ 511 h 511"/>
                    <a:gd name="T12" fmla="*/ 0 w 380"/>
                    <a:gd name="T13" fmla="*/ 329 h 511"/>
                  </a:gdLst>
                  <a:ahLst/>
                  <a:cxnLst>
                    <a:cxn ang="0">
                      <a:pos x="T0" y="T1"/>
                    </a:cxn>
                    <a:cxn ang="0">
                      <a:pos x="T2" y="T3"/>
                    </a:cxn>
                    <a:cxn ang="0">
                      <a:pos x="T4" y="T5"/>
                    </a:cxn>
                    <a:cxn ang="0">
                      <a:pos x="T6" y="T7"/>
                    </a:cxn>
                    <a:cxn ang="0">
                      <a:pos x="T8" y="T9"/>
                    </a:cxn>
                    <a:cxn ang="0">
                      <a:pos x="T10" y="T11"/>
                    </a:cxn>
                    <a:cxn ang="0">
                      <a:pos x="T12" y="T13"/>
                    </a:cxn>
                  </a:cxnLst>
                  <a:rect l="0" t="0" r="r" b="b"/>
                  <a:pathLst>
                    <a:path w="380" h="511">
                      <a:moveTo>
                        <a:pt x="0" y="329"/>
                      </a:moveTo>
                      <a:lnTo>
                        <a:pt x="198" y="0"/>
                      </a:lnTo>
                      <a:lnTo>
                        <a:pt x="229" y="182"/>
                      </a:lnTo>
                      <a:lnTo>
                        <a:pt x="380" y="166"/>
                      </a:lnTo>
                      <a:lnTo>
                        <a:pt x="181" y="495"/>
                      </a:lnTo>
                      <a:lnTo>
                        <a:pt x="30" y="511"/>
                      </a:lnTo>
                      <a:lnTo>
                        <a:pt x="0" y="329"/>
                      </a:lnTo>
                      <a:close/>
                    </a:path>
                  </a:pathLst>
                </a:custGeom>
                <a:solidFill>
                  <a:schemeClr val="accent5"/>
                </a:solidFill>
                <a:ln w="25400">
                  <a:solidFill>
                    <a:sysClr val="window" lastClr="FFFFFF"/>
                  </a:solidFill>
                  <a:round/>
                </a:ln>
              </p:spPr>
              <p:txBody>
                <a:bodyPr vert="horz" wrap="square" lIns="91444" tIns="45722" rIns="91444" bIns="45722" numCol="1"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3" name="Oval 11"/>
                <p:cNvSpPr>
                  <a:spLocks noChangeArrowheads="1"/>
                </p:cNvSpPr>
                <p:nvPr/>
              </p:nvSpPr>
              <p:spPr bwMode="auto">
                <a:xfrm>
                  <a:off x="13740" y="11687"/>
                  <a:ext cx="1476" cy="1472"/>
                </a:xfrm>
                <a:prstGeom prst="ellipse">
                  <a:avLst/>
                </a:prstGeom>
                <a:solidFill>
                  <a:schemeClr val="accent5"/>
                </a:solidFill>
                <a:ln>
                  <a:noFill/>
                </a:ln>
                <a:extLst>
                  <a:ext uri="{91240B29-F687-4F45-9708-019B960494DF}">
                    <a14:hiddenLine xmlns:a14="http://schemas.microsoft.com/office/drawing/2010/main" w="9525">
                      <a:solidFill>
                        <a:srgbClr val="000000"/>
                      </a:solidFill>
                      <a:round/>
                    </a14:hiddenLine>
                  </a:ext>
                </a:extLst>
              </p:spPr>
              <p:txBody>
                <a:bodyPr vert="horz" wrap="square" lIns="91444" tIns="45722" rIns="91444" bIns="45722" numCol="1"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4" name="Oval 12"/>
                <p:cNvSpPr>
                  <a:spLocks noChangeArrowheads="1"/>
                </p:cNvSpPr>
                <p:nvPr/>
              </p:nvSpPr>
              <p:spPr bwMode="auto">
                <a:xfrm>
                  <a:off x="14180" y="12123"/>
                  <a:ext cx="598" cy="600"/>
                </a:xfrm>
                <a:prstGeom prst="ellipse">
                  <a:avLst/>
                </a:prstGeom>
                <a:solidFill>
                  <a:srgbClr val="FFFFFF"/>
                </a:solidFill>
                <a:ln>
                  <a:noFill/>
                </a:ln>
                <a:extLst>
                  <a:ext uri="{91240B29-F687-4F45-9708-019B960494DF}">
                    <a14:hiddenLine xmlns:a14="http://schemas.microsoft.com/office/drawing/2010/main" w="9525">
                      <a:solidFill>
                        <a:srgbClr val="000000"/>
                      </a:solidFill>
                      <a:round/>
                    </a14:hiddenLine>
                  </a:ext>
                </a:extLst>
              </p:spPr>
              <p:txBody>
                <a:bodyPr vert="horz" wrap="square" lIns="91444" tIns="45722" rIns="91444" bIns="45722" numCol="1"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sp>
              <p:nvSpPr>
                <p:cNvPr id="15" name="Freeform 21"/>
                <p:cNvSpPr/>
                <p:nvPr/>
              </p:nvSpPr>
              <p:spPr bwMode="auto">
                <a:xfrm>
                  <a:off x="14478" y="10723"/>
                  <a:ext cx="1030" cy="1698"/>
                </a:xfrm>
                <a:custGeom>
                  <a:avLst/>
                  <a:gdLst>
                    <a:gd name="T0" fmla="*/ 0 w 400"/>
                    <a:gd name="T1" fmla="*/ 659 h 659"/>
                    <a:gd name="T2" fmla="*/ 107 w 400"/>
                    <a:gd name="T3" fmla="*/ 503 h 659"/>
                    <a:gd name="T4" fmla="*/ 133 w 400"/>
                    <a:gd name="T5" fmla="*/ 464 h 659"/>
                    <a:gd name="T6" fmla="*/ 158 w 400"/>
                    <a:gd name="T7" fmla="*/ 424 h 659"/>
                    <a:gd name="T8" fmla="*/ 184 w 400"/>
                    <a:gd name="T9" fmla="*/ 384 h 659"/>
                    <a:gd name="T10" fmla="*/ 209 w 400"/>
                    <a:gd name="T11" fmla="*/ 343 h 659"/>
                    <a:gd name="T12" fmla="*/ 308 w 400"/>
                    <a:gd name="T13" fmla="*/ 180 h 659"/>
                    <a:gd name="T14" fmla="*/ 332 w 400"/>
                    <a:gd name="T15" fmla="*/ 138 h 659"/>
                    <a:gd name="T16" fmla="*/ 355 w 400"/>
                    <a:gd name="T17" fmla="*/ 96 h 659"/>
                    <a:gd name="T18" fmla="*/ 400 w 400"/>
                    <a:gd name="T19" fmla="*/ 11 h 659"/>
                    <a:gd name="T20" fmla="*/ 389 w 400"/>
                    <a:gd name="T21" fmla="*/ 0 h 659"/>
                    <a:gd name="T22" fmla="*/ 335 w 400"/>
                    <a:gd name="T23" fmla="*/ 78 h 659"/>
                    <a:gd name="T24" fmla="*/ 309 w 400"/>
                    <a:gd name="T25" fmla="*/ 118 h 659"/>
                    <a:gd name="T26" fmla="*/ 284 w 400"/>
                    <a:gd name="T27" fmla="*/ 158 h 659"/>
                    <a:gd name="T28" fmla="*/ 185 w 400"/>
                    <a:gd name="T29" fmla="*/ 322 h 659"/>
                    <a:gd name="T30" fmla="*/ 161 w 400"/>
                    <a:gd name="T31" fmla="*/ 363 h 659"/>
                    <a:gd name="T32" fmla="*/ 138 w 400"/>
                    <a:gd name="T33" fmla="*/ 405 h 659"/>
                    <a:gd name="T34" fmla="*/ 114 w 400"/>
                    <a:gd name="T35" fmla="*/ 447 h 659"/>
                    <a:gd name="T36" fmla="*/ 91 w 400"/>
                    <a:gd name="T37" fmla="*/ 489 h 659"/>
                    <a:gd name="T38" fmla="*/ 0 w 400"/>
                    <a:gd name="T39" fmla="*/ 659 h 6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00" h="659">
                      <a:moveTo>
                        <a:pt x="0" y="659"/>
                      </a:moveTo>
                      <a:cubicBezTo>
                        <a:pt x="37" y="608"/>
                        <a:pt x="72" y="556"/>
                        <a:pt x="107" y="503"/>
                      </a:cubicBezTo>
                      <a:cubicBezTo>
                        <a:pt x="133" y="464"/>
                        <a:pt x="133" y="464"/>
                        <a:pt x="133" y="464"/>
                      </a:cubicBezTo>
                      <a:cubicBezTo>
                        <a:pt x="158" y="424"/>
                        <a:pt x="158" y="424"/>
                        <a:pt x="158" y="424"/>
                      </a:cubicBezTo>
                      <a:cubicBezTo>
                        <a:pt x="184" y="384"/>
                        <a:pt x="184" y="384"/>
                        <a:pt x="184" y="384"/>
                      </a:cubicBezTo>
                      <a:cubicBezTo>
                        <a:pt x="209" y="343"/>
                        <a:pt x="209" y="343"/>
                        <a:pt x="209" y="343"/>
                      </a:cubicBezTo>
                      <a:cubicBezTo>
                        <a:pt x="243" y="290"/>
                        <a:pt x="276" y="235"/>
                        <a:pt x="308" y="180"/>
                      </a:cubicBezTo>
                      <a:cubicBezTo>
                        <a:pt x="332" y="138"/>
                        <a:pt x="332" y="138"/>
                        <a:pt x="332" y="138"/>
                      </a:cubicBezTo>
                      <a:cubicBezTo>
                        <a:pt x="339" y="124"/>
                        <a:pt x="347" y="110"/>
                        <a:pt x="355" y="96"/>
                      </a:cubicBezTo>
                      <a:cubicBezTo>
                        <a:pt x="370" y="68"/>
                        <a:pt x="386" y="40"/>
                        <a:pt x="400" y="11"/>
                      </a:cubicBezTo>
                      <a:cubicBezTo>
                        <a:pt x="389" y="0"/>
                        <a:pt x="389" y="0"/>
                        <a:pt x="389" y="0"/>
                      </a:cubicBezTo>
                      <a:cubicBezTo>
                        <a:pt x="370" y="26"/>
                        <a:pt x="353" y="52"/>
                        <a:pt x="335" y="78"/>
                      </a:cubicBezTo>
                      <a:cubicBezTo>
                        <a:pt x="327" y="92"/>
                        <a:pt x="318" y="105"/>
                        <a:pt x="309" y="118"/>
                      </a:cubicBezTo>
                      <a:cubicBezTo>
                        <a:pt x="284" y="158"/>
                        <a:pt x="284" y="158"/>
                        <a:pt x="284" y="158"/>
                      </a:cubicBezTo>
                      <a:cubicBezTo>
                        <a:pt x="250" y="212"/>
                        <a:pt x="217" y="267"/>
                        <a:pt x="185" y="322"/>
                      </a:cubicBezTo>
                      <a:cubicBezTo>
                        <a:pt x="161" y="363"/>
                        <a:pt x="161" y="363"/>
                        <a:pt x="161" y="363"/>
                      </a:cubicBezTo>
                      <a:cubicBezTo>
                        <a:pt x="138" y="405"/>
                        <a:pt x="138" y="405"/>
                        <a:pt x="138" y="405"/>
                      </a:cubicBezTo>
                      <a:cubicBezTo>
                        <a:pt x="114" y="447"/>
                        <a:pt x="114" y="447"/>
                        <a:pt x="114" y="447"/>
                      </a:cubicBezTo>
                      <a:cubicBezTo>
                        <a:pt x="91" y="489"/>
                        <a:pt x="91" y="489"/>
                        <a:pt x="91" y="489"/>
                      </a:cubicBezTo>
                      <a:cubicBezTo>
                        <a:pt x="60" y="545"/>
                        <a:pt x="29" y="601"/>
                        <a:pt x="0" y="659"/>
                      </a:cubicBezTo>
                      <a:close/>
                    </a:path>
                  </a:pathLst>
                </a:custGeom>
                <a:solidFill>
                  <a:srgbClr val="A5A5A5">
                    <a:lumMod val="20000"/>
                    <a:lumOff val="80000"/>
                  </a:srgbClr>
                </a:solidFill>
                <a:ln>
                  <a:noFill/>
                </a:ln>
                <a:extLst>
                  <a:ext uri="{91240B29-F687-4F45-9708-019B960494DF}">
                    <a14:hiddenLine xmlns:a14="http://schemas.microsoft.com/office/drawing/2010/main" w="9525">
                      <a:solidFill>
                        <a:srgbClr val="000000"/>
                      </a:solidFill>
                      <a:round/>
                    </a14:hiddenLine>
                  </a:ext>
                </a:extLst>
              </p:spPr>
              <p:txBody>
                <a:bodyPr vert="horz" wrap="square" lIns="91444" tIns="45722" rIns="91444" bIns="45722" numCol="1" anchor="t" anchorCtr="0" compatLnSpc="1"/>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b="0" i="0" u="none" strike="noStrike" kern="1200" cap="none" spc="0" normalizeH="0" baseline="0" noProof="0">
                    <a:ln>
                      <a:noFill/>
                    </a:ln>
                    <a:solidFill>
                      <a:prstClr val="black"/>
                    </a:solidFill>
                    <a:effectLst/>
                    <a:uLnTx/>
                    <a:uFillTx/>
                    <a:latin typeface="微软雅黑" panose="020B0503020204020204" charset="-122"/>
                    <a:ea typeface="微软雅黑" panose="020B0503020204020204" charset="-122"/>
                    <a:cs typeface="微软雅黑" panose="020B0503020204020204" charset="-122"/>
                  </a:endParaRPr>
                </a:p>
              </p:txBody>
            </p:sp>
          </p:grpSp>
          <p:sp>
            <p:nvSpPr>
              <p:cNvPr id="16" name="文本框 15"/>
              <p:cNvSpPr txBox="1"/>
              <p:nvPr/>
            </p:nvSpPr>
            <p:spPr>
              <a:xfrm>
                <a:off x="6978" y="10852"/>
                <a:ext cx="1358" cy="628"/>
              </a:xfrm>
              <a:prstGeom prst="rect">
                <a:avLst/>
              </a:prstGeom>
              <a:noFill/>
            </p:spPr>
            <p:txBody>
              <a:bodyPr wrap="square" rtlCol="0">
                <a:spAutoFit/>
              </a:bodyPr>
              <a:lstStyle/>
              <a:p>
                <a:pPr algn="ctr"/>
                <a:r>
                  <a:rPr lang="zh-CN" altLang="en-US" sz="2000">
                    <a:solidFill>
                      <a:schemeClr val="bg2"/>
                    </a:solidFill>
                    <a:latin typeface="微软雅黑" panose="020B0503020204020204" charset="-122"/>
                    <a:ea typeface="微软雅黑" panose="020B0503020204020204" charset="-122"/>
                    <a:cs typeface="微软雅黑" panose="020B0503020204020204" charset="-122"/>
                  </a:rPr>
                  <a:t>活力</a:t>
                </a:r>
                <a:endParaRPr lang="zh-CN" altLang="en-US" sz="20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23" name="文本框 22"/>
              <p:cNvSpPr txBox="1"/>
              <p:nvPr/>
            </p:nvSpPr>
            <p:spPr>
              <a:xfrm>
                <a:off x="6766" y="10321"/>
                <a:ext cx="1819" cy="531"/>
              </a:xfrm>
              <a:prstGeom prst="rect">
                <a:avLst/>
              </a:prstGeom>
              <a:noFill/>
            </p:spPr>
            <p:txBody>
              <a:bodyPr wrap="square" rtlCol="0">
                <a:spAutoFit/>
              </a:bodyPr>
              <a:lstStyle/>
              <a:p>
                <a:pPr algn="ctr"/>
                <a:r>
                  <a:rPr lang="zh-CN" altLang="en-US" sz="1600">
                    <a:solidFill>
                      <a:schemeClr val="bg2"/>
                    </a:solidFill>
                    <a:latin typeface="微软雅黑" panose="020B0503020204020204" charset="-122"/>
                    <a:ea typeface="微软雅黑" panose="020B0503020204020204" charset="-122"/>
                    <a:cs typeface="微软雅黑" panose="020B0503020204020204" charset="-122"/>
                  </a:rPr>
                  <a:t>（</a:t>
                </a:r>
                <a:r>
                  <a:rPr lang="en-US" altLang="zh-CN" sz="1600">
                    <a:solidFill>
                      <a:schemeClr val="bg2"/>
                    </a:solidFill>
                    <a:latin typeface="微软雅黑" panose="020B0503020204020204" charset="-122"/>
                    <a:ea typeface="微软雅黑" panose="020B0503020204020204" charset="-122"/>
                    <a:cs typeface="微软雅黑" panose="020B0503020204020204" charset="-122"/>
                  </a:rPr>
                  <a:t>Energy</a:t>
                </a:r>
                <a:r>
                  <a:rPr lang="zh-CN" altLang="en-US" sz="1600">
                    <a:solidFill>
                      <a:schemeClr val="bg2"/>
                    </a:solidFill>
                    <a:latin typeface="微软雅黑" panose="020B0503020204020204" charset="-122"/>
                    <a:ea typeface="微软雅黑" panose="020B0503020204020204" charset="-122"/>
                    <a:cs typeface="微软雅黑" panose="020B0503020204020204" charset="-122"/>
                  </a:rPr>
                  <a:t>）</a:t>
                </a:r>
                <a:endParaRPr lang="zh-CN" altLang="en-US" sz="1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24" name="文本框 23"/>
              <p:cNvSpPr txBox="1"/>
              <p:nvPr/>
            </p:nvSpPr>
            <p:spPr>
              <a:xfrm>
                <a:off x="10309" y="11029"/>
                <a:ext cx="1703" cy="628"/>
              </a:xfrm>
              <a:prstGeom prst="rect">
                <a:avLst/>
              </a:prstGeom>
              <a:noFill/>
            </p:spPr>
            <p:txBody>
              <a:bodyPr wrap="square" rtlCol="0">
                <a:spAutoFit/>
              </a:bodyPr>
              <a:lstStyle/>
              <a:p>
                <a:pPr algn="ctr"/>
                <a:r>
                  <a:rPr lang="zh-CN" altLang="en-US" sz="2000">
                    <a:solidFill>
                      <a:schemeClr val="bg2"/>
                    </a:solidFill>
                    <a:latin typeface="微软雅黑" panose="020B0503020204020204" charset="-122"/>
                    <a:ea typeface="微软雅黑" panose="020B0503020204020204" charset="-122"/>
                    <a:cs typeface="微软雅黑" panose="020B0503020204020204" charset="-122"/>
                  </a:rPr>
                  <a:t>激励力</a:t>
                </a:r>
                <a:endParaRPr lang="zh-CN" altLang="en-US" sz="20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25" name="文本框 24"/>
              <p:cNvSpPr txBox="1"/>
              <p:nvPr/>
            </p:nvSpPr>
            <p:spPr>
              <a:xfrm>
                <a:off x="9688" y="10392"/>
                <a:ext cx="2119" cy="531"/>
              </a:xfrm>
              <a:prstGeom prst="rect">
                <a:avLst/>
              </a:prstGeom>
              <a:noFill/>
            </p:spPr>
            <p:txBody>
              <a:bodyPr wrap="square" rtlCol="0">
                <a:spAutoFit/>
              </a:bodyPr>
              <a:lstStyle/>
              <a:p>
                <a:pPr algn="ctr"/>
                <a:r>
                  <a:rPr lang="zh-CN" altLang="en-US" sz="1600">
                    <a:solidFill>
                      <a:schemeClr val="bg2"/>
                    </a:solidFill>
                    <a:latin typeface="微软雅黑" panose="020B0503020204020204" charset="-122"/>
                    <a:ea typeface="微软雅黑" panose="020B0503020204020204" charset="-122"/>
                    <a:cs typeface="微软雅黑" panose="020B0503020204020204" charset="-122"/>
                  </a:rPr>
                  <a:t>（</a:t>
                </a:r>
                <a:r>
                  <a:rPr lang="en-US" altLang="zh-CN" sz="1600">
                    <a:solidFill>
                      <a:schemeClr val="bg2"/>
                    </a:solidFill>
                    <a:latin typeface="微软雅黑" panose="020B0503020204020204" charset="-122"/>
                    <a:ea typeface="微软雅黑" panose="020B0503020204020204" charset="-122"/>
                    <a:cs typeface="微软雅黑" panose="020B0503020204020204" charset="-122"/>
                  </a:rPr>
                  <a:t>Energize</a:t>
                </a:r>
                <a:r>
                  <a:rPr lang="zh-CN" altLang="en-US" sz="1600">
                    <a:solidFill>
                      <a:schemeClr val="bg2"/>
                    </a:solidFill>
                    <a:latin typeface="微软雅黑" panose="020B0503020204020204" charset="-122"/>
                    <a:ea typeface="微软雅黑" panose="020B0503020204020204" charset="-122"/>
                    <a:cs typeface="微软雅黑" panose="020B0503020204020204" charset="-122"/>
                  </a:rPr>
                  <a:t>）</a:t>
                </a:r>
                <a:endParaRPr lang="zh-CN" altLang="en-US" sz="1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26" name="文本框 25"/>
              <p:cNvSpPr txBox="1"/>
              <p:nvPr/>
            </p:nvSpPr>
            <p:spPr>
              <a:xfrm>
                <a:off x="9886" y="14289"/>
                <a:ext cx="1639" cy="628"/>
              </a:xfrm>
              <a:prstGeom prst="rect">
                <a:avLst/>
              </a:prstGeom>
              <a:noFill/>
            </p:spPr>
            <p:txBody>
              <a:bodyPr wrap="square" rtlCol="0">
                <a:spAutoFit/>
              </a:bodyPr>
              <a:lstStyle/>
              <a:p>
                <a:pPr algn="ctr"/>
                <a:r>
                  <a:rPr lang="zh-CN" altLang="en-US" sz="2000">
                    <a:solidFill>
                      <a:schemeClr val="bg2"/>
                    </a:solidFill>
                    <a:latin typeface="微软雅黑" panose="020B0503020204020204" charset="-122"/>
                    <a:ea typeface="微软雅黑" panose="020B0503020204020204" charset="-122"/>
                    <a:cs typeface="微软雅黑" panose="020B0503020204020204" charset="-122"/>
                  </a:rPr>
                  <a:t>决断力</a:t>
                </a:r>
                <a:endParaRPr lang="zh-CN" altLang="en-US" sz="20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27" name="文本框 26"/>
              <p:cNvSpPr txBox="1"/>
              <p:nvPr/>
            </p:nvSpPr>
            <p:spPr>
              <a:xfrm>
                <a:off x="9955" y="13758"/>
                <a:ext cx="1819" cy="531"/>
              </a:xfrm>
              <a:prstGeom prst="rect">
                <a:avLst/>
              </a:prstGeom>
              <a:noFill/>
            </p:spPr>
            <p:txBody>
              <a:bodyPr wrap="square" rtlCol="0">
                <a:spAutoFit/>
              </a:bodyPr>
              <a:lstStyle/>
              <a:p>
                <a:pPr algn="ctr"/>
                <a:r>
                  <a:rPr lang="zh-CN" altLang="en-US" sz="1600">
                    <a:solidFill>
                      <a:schemeClr val="bg2"/>
                    </a:solidFill>
                    <a:latin typeface="微软雅黑" panose="020B0503020204020204" charset="-122"/>
                    <a:ea typeface="微软雅黑" panose="020B0503020204020204" charset="-122"/>
                    <a:cs typeface="微软雅黑" panose="020B0503020204020204" charset="-122"/>
                  </a:rPr>
                  <a:t>（</a:t>
                </a:r>
                <a:r>
                  <a:rPr lang="en-US" altLang="zh-CN" sz="1600">
                    <a:solidFill>
                      <a:schemeClr val="bg2"/>
                    </a:solidFill>
                    <a:latin typeface="微软雅黑" panose="020B0503020204020204" charset="-122"/>
                    <a:ea typeface="微软雅黑" panose="020B0503020204020204" charset="-122"/>
                    <a:cs typeface="微软雅黑" panose="020B0503020204020204" charset="-122"/>
                  </a:rPr>
                  <a:t>Edge</a:t>
                </a:r>
                <a:r>
                  <a:rPr lang="zh-CN" altLang="en-US" sz="1600">
                    <a:solidFill>
                      <a:schemeClr val="bg2"/>
                    </a:solidFill>
                    <a:latin typeface="微软雅黑" panose="020B0503020204020204" charset="-122"/>
                    <a:ea typeface="微软雅黑" panose="020B0503020204020204" charset="-122"/>
                    <a:cs typeface="微软雅黑" panose="020B0503020204020204" charset="-122"/>
                  </a:rPr>
                  <a:t>）</a:t>
                </a:r>
                <a:endParaRPr lang="zh-CN" altLang="en-US" sz="1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42" name="文本框 41"/>
              <p:cNvSpPr txBox="1"/>
              <p:nvPr/>
            </p:nvSpPr>
            <p:spPr>
              <a:xfrm>
                <a:off x="6698" y="13924"/>
                <a:ext cx="1699" cy="628"/>
              </a:xfrm>
              <a:prstGeom prst="rect">
                <a:avLst/>
              </a:prstGeom>
              <a:noFill/>
            </p:spPr>
            <p:txBody>
              <a:bodyPr wrap="square" rtlCol="0">
                <a:spAutoFit/>
              </a:bodyPr>
              <a:lstStyle/>
              <a:p>
                <a:pPr algn="ctr"/>
                <a:r>
                  <a:rPr lang="zh-CN" altLang="en-US" sz="2000">
                    <a:solidFill>
                      <a:schemeClr val="bg2"/>
                    </a:solidFill>
                    <a:latin typeface="微软雅黑" panose="020B0503020204020204" charset="-122"/>
                    <a:ea typeface="微软雅黑" panose="020B0503020204020204" charset="-122"/>
                    <a:cs typeface="微软雅黑" panose="020B0503020204020204" charset="-122"/>
                  </a:rPr>
                  <a:t>执行力</a:t>
                </a:r>
                <a:endParaRPr lang="zh-CN" altLang="en-US" sz="20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43" name="文本框 42"/>
              <p:cNvSpPr txBox="1"/>
              <p:nvPr/>
            </p:nvSpPr>
            <p:spPr>
              <a:xfrm>
                <a:off x="6625" y="13393"/>
                <a:ext cx="1819" cy="531"/>
              </a:xfrm>
              <a:prstGeom prst="rect">
                <a:avLst/>
              </a:prstGeom>
              <a:noFill/>
            </p:spPr>
            <p:txBody>
              <a:bodyPr wrap="square" rtlCol="0">
                <a:spAutoFit/>
              </a:bodyPr>
              <a:lstStyle/>
              <a:p>
                <a:pPr algn="ctr"/>
                <a:r>
                  <a:rPr lang="zh-CN" altLang="en-US" sz="1600">
                    <a:solidFill>
                      <a:schemeClr val="bg2"/>
                    </a:solidFill>
                    <a:latin typeface="微软雅黑" panose="020B0503020204020204" charset="-122"/>
                    <a:ea typeface="微软雅黑" panose="020B0503020204020204" charset="-122"/>
                    <a:cs typeface="微软雅黑" panose="020B0503020204020204" charset="-122"/>
                  </a:rPr>
                  <a:t>（</a:t>
                </a:r>
                <a:r>
                  <a:rPr lang="en-US" altLang="zh-CN" sz="1600">
                    <a:solidFill>
                      <a:schemeClr val="bg2"/>
                    </a:solidFill>
                    <a:latin typeface="微软雅黑" panose="020B0503020204020204" charset="-122"/>
                    <a:ea typeface="微软雅黑" panose="020B0503020204020204" charset="-122"/>
                    <a:cs typeface="微软雅黑" panose="020B0503020204020204" charset="-122"/>
                  </a:rPr>
                  <a:t>Execute</a:t>
                </a:r>
                <a:r>
                  <a:rPr lang="zh-CN" altLang="en-US" sz="1600">
                    <a:solidFill>
                      <a:schemeClr val="bg2"/>
                    </a:solidFill>
                    <a:latin typeface="微软雅黑" panose="020B0503020204020204" charset="-122"/>
                    <a:ea typeface="微软雅黑" panose="020B0503020204020204" charset="-122"/>
                    <a:cs typeface="微软雅黑" panose="020B0503020204020204" charset="-122"/>
                  </a:rPr>
                  <a:t>）</a:t>
                </a:r>
                <a:endParaRPr lang="zh-CN" altLang="en-US" sz="1600">
                  <a:solidFill>
                    <a:schemeClr val="bg2"/>
                  </a:solidFill>
                  <a:latin typeface="微软雅黑" panose="020B0503020204020204" charset="-122"/>
                  <a:ea typeface="微软雅黑" panose="020B0503020204020204" charset="-122"/>
                  <a:cs typeface="微软雅黑" panose="020B0503020204020204" charset="-122"/>
                </a:endParaRPr>
              </a:p>
            </p:txBody>
          </p:sp>
          <p:sp>
            <p:nvSpPr>
              <p:cNvPr id="28" name="文本框 27"/>
              <p:cNvSpPr txBox="1"/>
              <p:nvPr>
                <p:custDataLst>
                  <p:tags r:id="rId3"/>
                </p:custDataLst>
              </p:nvPr>
            </p:nvSpPr>
            <p:spPr>
              <a:xfrm>
                <a:off x="7633" y="10758"/>
                <a:ext cx="3337" cy="2712"/>
              </a:xfrm>
              <a:prstGeom prst="rect">
                <a:avLst/>
              </a:prstGeom>
              <a:noFill/>
            </p:spPr>
            <p:txBody>
              <a:bodyPr wrap="square" rtlCol="0">
                <a:prstTxWarp prst="textArchDown">
                  <a:avLst/>
                </a:prstTxWarp>
                <a:noAutofit/>
              </a:bodyPr>
              <a:lstStyle/>
              <a:p>
                <a:pPr algn="ctr">
                  <a:defRPr/>
                </a:pPr>
                <a:r>
                  <a:rPr lang="zh-CN" altLang="en-US" kern="0" dirty="0">
                    <a:solidFill>
                      <a:schemeClr val="accent5"/>
                    </a:solidFill>
                    <a:latin typeface="微软雅黑" panose="020B0503020204020204" charset="-122"/>
                    <a:ea typeface="微软雅黑" panose="020B0503020204020204" charset="-122"/>
                    <a:cs typeface="微软雅黑" panose="020B0503020204020204" charset="-122"/>
                  </a:rPr>
                  <a:t>（</a:t>
                </a:r>
                <a:r>
                  <a:rPr lang="en-US" altLang="zh-CN" kern="0" dirty="0">
                    <a:solidFill>
                      <a:schemeClr val="accent5"/>
                    </a:solidFill>
                    <a:latin typeface="微软雅黑" panose="020B0503020204020204" charset="-122"/>
                    <a:ea typeface="微软雅黑" panose="020B0503020204020204" charset="-122"/>
                    <a:cs typeface="微软雅黑" panose="020B0503020204020204" charset="-122"/>
                  </a:rPr>
                  <a:t>Passion</a:t>
                </a:r>
                <a:r>
                  <a:rPr lang="zh-CN" altLang="en-US" kern="0" dirty="0">
                    <a:solidFill>
                      <a:schemeClr val="accent5"/>
                    </a:solidFill>
                    <a:latin typeface="微软雅黑" panose="020B0503020204020204" charset="-122"/>
                    <a:ea typeface="微软雅黑" panose="020B0503020204020204" charset="-122"/>
                    <a:cs typeface="微软雅黑" panose="020B0503020204020204" charset="-122"/>
                  </a:rPr>
                  <a:t>）</a:t>
                </a:r>
                <a:endParaRPr lang="zh-CN" altLang="en-US" kern="0" dirty="0">
                  <a:solidFill>
                    <a:schemeClr val="accent5"/>
                  </a:solidFill>
                  <a:latin typeface="微软雅黑" panose="020B0503020204020204" charset="-122"/>
                  <a:ea typeface="微软雅黑" panose="020B0503020204020204" charset="-122"/>
                  <a:cs typeface="微软雅黑" panose="020B0503020204020204" charset="-122"/>
                </a:endParaRPr>
              </a:p>
            </p:txBody>
          </p:sp>
        </p:grpSp>
        <p:grpSp>
          <p:nvGrpSpPr>
            <p:cNvPr id="106" name="组合 105"/>
            <p:cNvGrpSpPr/>
            <p:nvPr/>
          </p:nvGrpSpPr>
          <p:grpSpPr>
            <a:xfrm>
              <a:off x="1238" y="9323"/>
              <a:ext cx="4402" cy="2815"/>
              <a:chOff x="2230" y="17697"/>
              <a:chExt cx="5078" cy="2815"/>
            </a:xfrm>
          </p:grpSpPr>
          <p:sp>
            <p:nvSpPr>
              <p:cNvPr id="2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2230" y="18397"/>
                <a:ext cx="4797" cy="2115"/>
              </a:xfrm>
              <a:prstGeom prst="rect">
                <a:avLst/>
              </a:prstGeom>
              <a:noFill/>
              <a:ln w="12700" cap="flat">
                <a:noFill/>
                <a:miter lim="400000"/>
              </a:ln>
              <a:effectLst/>
            </p:spPr>
            <p:txBody>
              <a:bodyPr wrap="square" lIns="25401" tIns="25401" rIns="25401" bIns="25401" numCol="1" anchor="t">
                <a:spAutoFit/>
              </a:bodyPr>
              <a:lstStyle>
                <a:lvl1pPr algn="l">
                  <a:defRPr sz="2500">
                    <a:solidFill>
                      <a:srgbClr val="9D9F9D"/>
                    </a:solidFill>
                    <a:latin typeface="Barlow Medium" panose="00000600000000000000"/>
                    <a:ea typeface="Barlow Medium" panose="00000600000000000000"/>
                    <a:cs typeface="Barlow Medium" panose="00000600000000000000"/>
                    <a:sym typeface="Barlow Medium" panose="00000600000000000000"/>
                  </a:defRPr>
                </a:lvl1pPr>
              </a:lstStyle>
              <a:p>
                <a:pPr marL="285750" indent="-285750">
                  <a:buFont typeface="Wingdings" panose="05000000000000000000" charset="0"/>
                  <a:buChar char="Ø"/>
                </a:pP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领导者需具备充沛的个人能量，积极应对变化，不断学习并挑战新事物。</a:t>
                </a:r>
                <a:endPar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buFont typeface="Wingdings" panose="05000000000000000000" charset="0"/>
                  <a:buChar char="Ø"/>
                </a:pP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主动推动工作进展，在逆境中保持韧性，例如通过技术革新应对市场波动。</a:t>
                </a:r>
                <a:endPar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0" name="Venn diagram"/>
              <p:cNvSpPr txBox="1"/>
              <p:nvPr/>
            </p:nvSpPr>
            <p:spPr>
              <a:xfrm>
                <a:off x="2246" y="17697"/>
                <a:ext cx="5062" cy="467"/>
              </a:xfrm>
              <a:prstGeom prst="rect">
                <a:avLst/>
              </a:prstGeom>
              <a:noFill/>
              <a:ln w="12700" cap="flat">
                <a:noFill/>
                <a:miter lim="400000"/>
              </a:ln>
              <a:effectLst/>
            </p:spPr>
            <p:txBody>
              <a:bodyPr wrap="square" lIns="25401" tIns="25401" rIns="25401" bIns="25401" numCol="1" anchor="t">
                <a:spAutoFit/>
              </a:bodyPr>
              <a:lstStyle>
                <a:lvl1pPr algn="l">
                  <a:defRPr>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en-US" altLang="zh-CN"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Energy</a:t>
                </a:r>
                <a:r>
                  <a:rPr lang="zh-CN" altLang="en-US"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（活力）</a:t>
                </a:r>
                <a:endParaRPr lang="zh-CN" altLang="en-US"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51" name="组合 50"/>
            <p:cNvGrpSpPr/>
            <p:nvPr/>
          </p:nvGrpSpPr>
          <p:grpSpPr>
            <a:xfrm>
              <a:off x="1167" y="13058"/>
              <a:ext cx="4402" cy="2476"/>
              <a:chOff x="2230" y="17697"/>
              <a:chExt cx="5078" cy="2476"/>
            </a:xfrm>
          </p:grpSpPr>
          <p:sp>
            <p:nvSpPr>
              <p:cNvPr id="3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2230" y="18397"/>
                <a:ext cx="4797" cy="1776"/>
              </a:xfrm>
              <a:prstGeom prst="rect">
                <a:avLst/>
              </a:prstGeom>
              <a:noFill/>
              <a:ln w="12700" cap="flat">
                <a:noFill/>
                <a:miter lim="400000"/>
              </a:ln>
              <a:effectLst/>
            </p:spPr>
            <p:txBody>
              <a:bodyPr wrap="square" lIns="25401" tIns="25401" rIns="25401" bIns="25401" numCol="1" anchor="t">
                <a:spAutoFit/>
              </a:bodyPr>
              <a:lstStyle>
                <a:lvl1pPr algn="l">
                  <a:defRPr sz="2500">
                    <a:solidFill>
                      <a:srgbClr val="9D9F9D"/>
                    </a:solidFill>
                    <a:latin typeface="Barlow Medium" panose="00000600000000000000"/>
                    <a:ea typeface="Barlow Medium" panose="00000600000000000000"/>
                    <a:cs typeface="Barlow Medium" panose="00000600000000000000"/>
                    <a:sym typeface="Barlow Medium" panose="00000600000000000000"/>
                  </a:defRPr>
                </a:lvl1pPr>
              </a:lstStyle>
              <a:p>
                <a:pPr marL="285750" indent="-285750">
                  <a:buFont typeface="Wingdings" panose="05000000000000000000" charset="0"/>
                  <a:buChar char="Ø"/>
                </a:pP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将战略转化为行动计划，并确保结果达成。</a:t>
                </a:r>
                <a:endPar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buFont typeface="Wingdings" panose="05000000000000000000" charset="0"/>
                  <a:buChar char="Ø"/>
                </a:pP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制定可落地的目标分解机制，例如通过</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绩效看板</a:t>
                </a:r>
                <a:r>
                  <a:rPr lang="en-US" altLang="zh-CN"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追踪项目进度，并优化执行流程。</a:t>
                </a:r>
                <a:endPar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1" name="Venn diagram"/>
              <p:cNvSpPr txBox="1"/>
              <p:nvPr/>
            </p:nvSpPr>
            <p:spPr>
              <a:xfrm>
                <a:off x="2246" y="17697"/>
                <a:ext cx="5062" cy="467"/>
              </a:xfrm>
              <a:prstGeom prst="rect">
                <a:avLst/>
              </a:prstGeom>
              <a:noFill/>
              <a:ln w="12700" cap="flat">
                <a:noFill/>
                <a:miter lim="400000"/>
              </a:ln>
              <a:effectLst/>
            </p:spPr>
            <p:txBody>
              <a:bodyPr wrap="square" lIns="25401" tIns="25401" rIns="25401" bIns="25401" numCol="1" anchor="t">
                <a:spAutoFit/>
              </a:bodyPr>
              <a:lstStyle>
                <a:lvl1pPr algn="l">
                  <a:defRPr>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en-US" altLang="zh-CN"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Execute</a:t>
                </a:r>
                <a:r>
                  <a:rPr lang="zh-CN" altLang="en-US"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（执行力）</a:t>
                </a:r>
                <a:endParaRPr lang="zh-CN" altLang="en-US"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41" name="组合 40"/>
            <p:cNvGrpSpPr/>
            <p:nvPr/>
          </p:nvGrpSpPr>
          <p:grpSpPr>
            <a:xfrm>
              <a:off x="13781" y="9252"/>
              <a:ext cx="4159" cy="2547"/>
              <a:chOff x="2230" y="17626"/>
              <a:chExt cx="4797" cy="2547"/>
            </a:xfrm>
          </p:grpSpPr>
          <p:sp>
            <p:nvSpPr>
              <p:cNvPr id="4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2230" y="18397"/>
                <a:ext cx="4797" cy="1776"/>
              </a:xfrm>
              <a:prstGeom prst="rect">
                <a:avLst/>
              </a:prstGeom>
              <a:noFill/>
              <a:ln w="12700" cap="flat">
                <a:noFill/>
                <a:miter lim="400000"/>
              </a:ln>
              <a:effectLst/>
            </p:spPr>
            <p:txBody>
              <a:bodyPr wrap="square" lIns="25401" tIns="25401" rIns="25401" bIns="25401" numCol="1" anchor="t">
                <a:spAutoFit/>
              </a:bodyPr>
              <a:lstStyle>
                <a:lvl1pPr algn="l">
                  <a:defRPr sz="2500">
                    <a:solidFill>
                      <a:srgbClr val="9D9F9D"/>
                    </a:solidFill>
                    <a:latin typeface="Barlow Medium" panose="00000600000000000000"/>
                    <a:ea typeface="Barlow Medium" panose="00000600000000000000"/>
                    <a:cs typeface="Barlow Medium" panose="00000600000000000000"/>
                    <a:sym typeface="Barlow Medium" panose="00000600000000000000"/>
                  </a:defRPr>
                </a:lvl1pPr>
              </a:lstStyle>
              <a:p>
                <a:pPr marL="285750" indent="-285750">
                  <a:buFont typeface="Wingdings" panose="05000000000000000000" charset="0"/>
                  <a:buChar char="Ø"/>
                </a:pP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激励团队潜能，通过沟通与协作激发成员行动力。</a:t>
                </a:r>
                <a:endPar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buFont typeface="Wingdings" panose="05000000000000000000" charset="0"/>
                  <a:buChar char="Ø"/>
                </a:pP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善于描绘愿景，例如通过跨部门协作项目凝聚团队目标，并运用业务洞察说服他人。</a:t>
                </a:r>
                <a:endPar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5" name="Venn diagram"/>
              <p:cNvSpPr txBox="1"/>
              <p:nvPr/>
            </p:nvSpPr>
            <p:spPr>
              <a:xfrm>
                <a:off x="3210" y="17626"/>
                <a:ext cx="3582" cy="467"/>
              </a:xfrm>
              <a:prstGeom prst="rect">
                <a:avLst/>
              </a:prstGeom>
              <a:noFill/>
              <a:ln w="12700" cap="flat">
                <a:noFill/>
                <a:miter lim="400000"/>
              </a:ln>
              <a:effectLst/>
            </p:spPr>
            <p:txBody>
              <a:bodyPr wrap="square" lIns="25401" tIns="25401" rIns="25401" bIns="25401" numCol="1" anchor="t">
                <a:spAutoFit/>
              </a:bodyPr>
              <a:lstStyle>
                <a:lvl1pPr algn="l">
                  <a:defRPr>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en-US" altLang="zh-CN"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​Energize</a:t>
                </a:r>
                <a:r>
                  <a:rPr lang="zh-CN" altLang="en-US"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（激励力）</a:t>
                </a:r>
                <a:r>
                  <a:rPr lang="en-US" altLang="zh-CN"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altLang="zh-CN"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63" name="组合 62"/>
            <p:cNvGrpSpPr/>
            <p:nvPr/>
          </p:nvGrpSpPr>
          <p:grpSpPr>
            <a:xfrm>
              <a:off x="13781" y="13018"/>
              <a:ext cx="4159" cy="2516"/>
              <a:chOff x="2230" y="17657"/>
              <a:chExt cx="4797" cy="2516"/>
            </a:xfrm>
          </p:grpSpPr>
          <p:sp>
            <p:nvSpPr>
              <p:cNvPr id="6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2230" y="18397"/>
                <a:ext cx="4797" cy="1776"/>
              </a:xfrm>
              <a:prstGeom prst="rect">
                <a:avLst/>
              </a:prstGeom>
              <a:noFill/>
              <a:ln w="12700" cap="flat">
                <a:noFill/>
                <a:miter lim="400000"/>
              </a:ln>
              <a:effectLst/>
            </p:spPr>
            <p:txBody>
              <a:bodyPr wrap="square" lIns="25401" tIns="25401" rIns="25401" bIns="25401" numCol="1" anchor="t">
                <a:spAutoFit/>
              </a:bodyPr>
              <a:lstStyle>
                <a:lvl1pPr algn="l">
                  <a:defRPr sz="2500">
                    <a:solidFill>
                      <a:srgbClr val="9D9F9D"/>
                    </a:solidFill>
                    <a:latin typeface="Barlow Medium" panose="00000600000000000000"/>
                    <a:ea typeface="Barlow Medium" panose="00000600000000000000"/>
                    <a:cs typeface="Barlow Medium" panose="00000600000000000000"/>
                    <a:sym typeface="Barlow Medium" panose="00000600000000000000"/>
                  </a:defRPr>
                </a:lvl1pPr>
              </a:lstStyle>
              <a:p>
                <a:pPr marL="285750" indent="-285750">
                  <a:buFont typeface="Wingdings" panose="05000000000000000000" charset="0"/>
                  <a:buChar char="Ø"/>
                </a:pP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在复杂环境中快速决策，敢于冒险并坚持信念。</a:t>
                </a:r>
                <a:endPar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buFont typeface="Wingdings" panose="05000000000000000000" charset="0"/>
                  <a:buChar char="Ø"/>
                </a:pP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例如在市场竞争中果断调整产品策略，或推动组织架构变革以提升效率。</a:t>
                </a:r>
                <a:endPar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5" name="Venn diagram"/>
              <p:cNvSpPr txBox="1"/>
              <p:nvPr/>
            </p:nvSpPr>
            <p:spPr>
              <a:xfrm>
                <a:off x="3702" y="17657"/>
                <a:ext cx="2971" cy="467"/>
              </a:xfrm>
              <a:prstGeom prst="rect">
                <a:avLst/>
              </a:prstGeom>
              <a:noFill/>
              <a:ln w="12700" cap="flat">
                <a:noFill/>
                <a:miter lim="400000"/>
              </a:ln>
              <a:effectLst/>
            </p:spPr>
            <p:txBody>
              <a:bodyPr wrap="square" lIns="25401" tIns="25401" rIns="25401" bIns="25401" numCol="1" anchor="t">
                <a:spAutoFit/>
              </a:bodyPr>
              <a:lstStyle>
                <a:lvl1pPr algn="l">
                  <a:defRPr>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en-US" altLang="zh-CN"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Edge</a:t>
                </a:r>
                <a:r>
                  <a:rPr lang="zh-CN" altLang="en-US"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（决断力）</a:t>
                </a:r>
                <a:r>
                  <a:rPr lang="en-US" altLang="zh-CN"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altLang="zh-CN" sz="16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grpSp>
        <p:nvGrpSpPr>
          <p:cNvPr id="66" name="组合 65"/>
          <p:cNvGrpSpPr/>
          <p:nvPr/>
        </p:nvGrpSpPr>
        <p:grpSpPr>
          <a:xfrm rot="0">
            <a:off x="5618480" y="1075055"/>
            <a:ext cx="5288915" cy="741045"/>
            <a:chOff x="4392" y="7116"/>
            <a:chExt cx="9608" cy="1167"/>
          </a:xfrm>
        </p:grpSpPr>
        <p:sp>
          <p:nvSpPr>
            <p:cNvPr id="47"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244" y="7116"/>
              <a:ext cx="7756" cy="1167"/>
            </a:xfrm>
            <a:prstGeom prst="rect">
              <a:avLst/>
            </a:prstGeom>
            <a:noFill/>
            <a:ln w="12700" cap="flat">
              <a:noFill/>
              <a:miter lim="400000"/>
            </a:ln>
            <a:effectLst/>
          </p:spPr>
          <p:txBody>
            <a:bodyPr wrap="square" lIns="25401" tIns="25401" rIns="25401" bIns="25401" numCol="1" anchor="t">
              <a:noAutofit/>
            </a:bodyPr>
            <a:lstStyle>
              <a:lvl1pPr algn="l">
                <a:defRPr sz="2500">
                  <a:solidFill>
                    <a:srgbClr val="9D9F9D"/>
                  </a:solidFill>
                  <a:latin typeface="Barlow Medium" panose="00000600000000000000"/>
                  <a:ea typeface="Barlow Medium" panose="00000600000000000000"/>
                  <a:cs typeface="Barlow Medium" panose="00000600000000000000"/>
                  <a:sym typeface="Barlow Medium" panose="00000600000000000000"/>
                </a:defRPr>
              </a:lvl1pPr>
            </a:lstStyle>
            <a:p>
              <a:pPr marL="285750" indent="-285750">
                <a:buFont typeface="Wingdings" panose="05000000000000000000" charset="0"/>
                <a:buChar char="Ø"/>
              </a:pP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对工作充满热忱，并感染团队共同追求卓越。</a:t>
              </a:r>
              <a:endPar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buFont typeface="Wingdings" panose="05000000000000000000" charset="0"/>
                <a:buChar char="Ø"/>
              </a:pPr>
              <a:r>
                <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例如高管亲自参与一线客户调研，传递对业务的深度投入。</a:t>
              </a:r>
              <a:endParaRPr lang="zh-CN" altLang="en-US" sz="14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8" name="Venn diagram"/>
            <p:cNvSpPr txBox="1"/>
            <p:nvPr/>
          </p:nvSpPr>
          <p:spPr>
            <a:xfrm>
              <a:off x="4392" y="7137"/>
              <a:ext cx="1851" cy="855"/>
            </a:xfrm>
            <a:prstGeom prst="rect">
              <a:avLst/>
            </a:prstGeom>
            <a:noFill/>
            <a:ln w="12700" cap="flat">
              <a:noFill/>
              <a:miter lim="400000"/>
            </a:ln>
            <a:effectLst/>
          </p:spPr>
          <p:txBody>
            <a:bodyPr wrap="square" lIns="25401" tIns="25401" rIns="25401" bIns="25401" numCol="1" anchor="t">
              <a:spAutoFit/>
            </a:bodyPr>
            <a:lstStyle>
              <a:lvl1pPr algn="l">
                <a:defRPr>
                  <a:solidFill>
                    <a:srgbClr val="5353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en-US" altLang="zh-CN" sz="1600" b="1">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Passion</a:t>
              </a:r>
              <a:endParaRPr lang="en-US" altLang="zh-CN" sz="1600" b="1">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（激情）</a:t>
              </a:r>
              <a:r>
                <a:rPr lang="en-US" altLang="zh-CN" sz="1600" b="1">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en-US" altLang="zh-CN" sz="1600" b="1">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cxnSp>
        <p:nvCxnSpPr>
          <p:cNvPr id="160" name="直接连接符 159"/>
          <p:cNvCxnSpPr/>
          <p:nvPr/>
        </p:nvCxnSpPr>
        <p:spPr>
          <a:xfrm>
            <a:off x="932180" y="2459355"/>
            <a:ext cx="2646045" cy="0"/>
          </a:xfrm>
          <a:prstGeom prst="line">
            <a:avLst/>
          </a:prstGeom>
          <a:noFill/>
          <a:ln w="12700" cap="flat" cmpd="sng" algn="ctr">
            <a:solidFill>
              <a:schemeClr val="accent6">
                <a:lumMod val="60000"/>
                <a:lumOff val="40000"/>
              </a:schemeClr>
            </a:solidFill>
            <a:prstDash val="solid"/>
            <a:miter lim="800000"/>
            <a:headEnd type="oval"/>
            <a:tailEnd type="none"/>
          </a:ln>
          <a:effectLst/>
        </p:spPr>
      </p:cxnSp>
      <p:cxnSp>
        <p:nvCxnSpPr>
          <p:cNvPr id="59" name="直接连接符 58"/>
          <p:cNvCxnSpPr/>
          <p:nvPr/>
        </p:nvCxnSpPr>
        <p:spPr>
          <a:xfrm flipH="1" flipV="1">
            <a:off x="3578225" y="2459355"/>
            <a:ext cx="1304925" cy="834390"/>
          </a:xfrm>
          <a:prstGeom prst="line">
            <a:avLst/>
          </a:prstGeom>
          <a:noFill/>
          <a:ln w="12700" cap="flat" cmpd="sng" algn="ctr">
            <a:solidFill>
              <a:schemeClr val="accent6">
                <a:lumMod val="60000"/>
                <a:lumOff val="40000"/>
              </a:schemeClr>
            </a:solidFill>
            <a:prstDash val="solid"/>
            <a:miter lim="800000"/>
            <a:headEnd type="oval"/>
            <a:tailEnd type="none"/>
          </a:ln>
          <a:effectLst/>
        </p:spPr>
      </p:cxnSp>
      <p:cxnSp>
        <p:nvCxnSpPr>
          <p:cNvPr id="70" name="直接连接符 69"/>
          <p:cNvCxnSpPr/>
          <p:nvPr/>
        </p:nvCxnSpPr>
        <p:spPr>
          <a:xfrm>
            <a:off x="918210" y="4913630"/>
            <a:ext cx="2646045" cy="0"/>
          </a:xfrm>
          <a:prstGeom prst="line">
            <a:avLst/>
          </a:prstGeom>
          <a:noFill/>
          <a:ln w="12700" cap="flat" cmpd="sng" algn="ctr">
            <a:solidFill>
              <a:schemeClr val="accent6">
                <a:lumMod val="60000"/>
                <a:lumOff val="40000"/>
              </a:schemeClr>
            </a:solidFill>
            <a:prstDash val="solid"/>
            <a:miter lim="800000"/>
            <a:headEnd type="oval"/>
            <a:tailEnd type="none"/>
          </a:ln>
          <a:effectLst/>
        </p:spPr>
      </p:cxnSp>
      <p:cxnSp>
        <p:nvCxnSpPr>
          <p:cNvPr id="71" name="直接连接符 70"/>
          <p:cNvCxnSpPr/>
          <p:nvPr/>
        </p:nvCxnSpPr>
        <p:spPr>
          <a:xfrm flipH="1">
            <a:off x="3533775" y="4598670"/>
            <a:ext cx="899795" cy="315595"/>
          </a:xfrm>
          <a:prstGeom prst="line">
            <a:avLst/>
          </a:prstGeom>
          <a:noFill/>
          <a:ln w="12700" cap="flat" cmpd="sng" algn="ctr">
            <a:solidFill>
              <a:schemeClr val="accent6">
                <a:lumMod val="60000"/>
                <a:lumOff val="40000"/>
              </a:schemeClr>
            </a:solidFill>
            <a:prstDash val="solid"/>
            <a:miter lim="800000"/>
            <a:headEnd type="oval"/>
            <a:tailEnd type="none"/>
          </a:ln>
          <a:effectLst/>
        </p:spPr>
      </p:cxnSp>
      <p:cxnSp>
        <p:nvCxnSpPr>
          <p:cNvPr id="72" name="直接连接符 71"/>
          <p:cNvCxnSpPr/>
          <p:nvPr/>
        </p:nvCxnSpPr>
        <p:spPr>
          <a:xfrm flipH="1">
            <a:off x="8753475" y="2484120"/>
            <a:ext cx="2646045" cy="0"/>
          </a:xfrm>
          <a:prstGeom prst="line">
            <a:avLst/>
          </a:prstGeom>
          <a:noFill/>
          <a:ln w="12700" cap="flat" cmpd="sng" algn="ctr">
            <a:solidFill>
              <a:schemeClr val="accent6">
                <a:lumMod val="60000"/>
                <a:lumOff val="40000"/>
              </a:schemeClr>
            </a:solidFill>
            <a:prstDash val="solid"/>
            <a:miter lim="800000"/>
            <a:headEnd type="oval"/>
            <a:tailEnd type="none"/>
          </a:ln>
          <a:effectLst/>
        </p:spPr>
      </p:cxnSp>
      <p:cxnSp>
        <p:nvCxnSpPr>
          <p:cNvPr id="73" name="直接连接符 72"/>
          <p:cNvCxnSpPr/>
          <p:nvPr/>
        </p:nvCxnSpPr>
        <p:spPr>
          <a:xfrm flipV="1">
            <a:off x="7898130" y="2484120"/>
            <a:ext cx="855345" cy="720090"/>
          </a:xfrm>
          <a:prstGeom prst="line">
            <a:avLst/>
          </a:prstGeom>
          <a:noFill/>
          <a:ln w="12700" cap="flat" cmpd="sng" algn="ctr">
            <a:solidFill>
              <a:schemeClr val="accent6">
                <a:lumMod val="60000"/>
                <a:lumOff val="40000"/>
              </a:schemeClr>
            </a:solidFill>
            <a:prstDash val="solid"/>
            <a:miter lim="800000"/>
            <a:headEnd type="oval"/>
            <a:tailEnd type="none"/>
          </a:ln>
          <a:effectLst/>
        </p:spPr>
      </p:cxnSp>
      <p:cxnSp>
        <p:nvCxnSpPr>
          <p:cNvPr id="74" name="直接连接符 73"/>
          <p:cNvCxnSpPr/>
          <p:nvPr/>
        </p:nvCxnSpPr>
        <p:spPr>
          <a:xfrm flipH="1">
            <a:off x="8880475" y="4869180"/>
            <a:ext cx="2646045" cy="0"/>
          </a:xfrm>
          <a:prstGeom prst="line">
            <a:avLst/>
          </a:prstGeom>
          <a:noFill/>
          <a:ln w="12700" cap="flat" cmpd="sng" algn="ctr">
            <a:solidFill>
              <a:schemeClr val="accent6">
                <a:lumMod val="60000"/>
                <a:lumOff val="40000"/>
              </a:schemeClr>
            </a:solidFill>
            <a:prstDash val="solid"/>
            <a:miter lim="800000"/>
            <a:headEnd type="oval"/>
            <a:tailEnd type="none"/>
          </a:ln>
          <a:effectLst/>
        </p:spPr>
      </p:cxnSp>
      <p:cxnSp>
        <p:nvCxnSpPr>
          <p:cNvPr id="75" name="直接连接符 74"/>
          <p:cNvCxnSpPr/>
          <p:nvPr/>
        </p:nvCxnSpPr>
        <p:spPr>
          <a:xfrm>
            <a:off x="7943215" y="4643755"/>
            <a:ext cx="945515" cy="225425"/>
          </a:xfrm>
          <a:prstGeom prst="line">
            <a:avLst/>
          </a:prstGeom>
          <a:noFill/>
          <a:ln w="12700" cap="flat" cmpd="sng" algn="ctr">
            <a:solidFill>
              <a:schemeClr val="accent6">
                <a:lumMod val="60000"/>
                <a:lumOff val="40000"/>
              </a:schemeClr>
            </a:solidFill>
            <a:prstDash val="solid"/>
            <a:miter lim="800000"/>
            <a:headEnd type="oval"/>
            <a:tailEnd type="none"/>
          </a:ln>
          <a:effectLst/>
        </p:spPr>
      </p:cxnSp>
      <p:cxnSp>
        <p:nvCxnSpPr>
          <p:cNvPr id="76" name="直接连接符 75"/>
          <p:cNvCxnSpPr/>
          <p:nvPr/>
        </p:nvCxnSpPr>
        <p:spPr>
          <a:xfrm flipH="1">
            <a:off x="5018405" y="1400810"/>
            <a:ext cx="667385" cy="3175"/>
          </a:xfrm>
          <a:prstGeom prst="line">
            <a:avLst/>
          </a:prstGeom>
          <a:noFill/>
          <a:ln w="12700" cap="flat" cmpd="sng" algn="ctr">
            <a:solidFill>
              <a:schemeClr val="accent5"/>
            </a:solidFill>
            <a:prstDash val="solid"/>
            <a:miter lim="800000"/>
            <a:headEnd type="oval"/>
            <a:tailEnd type="none"/>
          </a:ln>
          <a:effectLst/>
        </p:spPr>
      </p:cxnSp>
      <p:cxnSp>
        <p:nvCxnSpPr>
          <p:cNvPr id="77" name="直接连接符 76"/>
          <p:cNvCxnSpPr/>
          <p:nvPr/>
        </p:nvCxnSpPr>
        <p:spPr>
          <a:xfrm flipH="1" flipV="1">
            <a:off x="5018405" y="1403985"/>
            <a:ext cx="944880" cy="2205355"/>
          </a:xfrm>
          <a:prstGeom prst="line">
            <a:avLst/>
          </a:prstGeom>
          <a:noFill/>
          <a:ln w="12700" cap="flat" cmpd="sng" algn="ctr">
            <a:solidFill>
              <a:schemeClr val="accent5"/>
            </a:solidFill>
            <a:prstDash val="solid"/>
            <a:miter lim="800000"/>
            <a:headEnd type="oval"/>
            <a:tailEnd type="none"/>
          </a:ln>
          <a:effectLst/>
        </p:spPr>
      </p:cxnSp>
      <p:sp>
        <p:nvSpPr>
          <p:cNvPr id="61" name="文本框 60"/>
          <p:cNvSpPr txBox="1"/>
          <p:nvPr/>
        </p:nvSpPr>
        <p:spPr>
          <a:xfrm>
            <a:off x="5793105" y="3415665"/>
            <a:ext cx="862330" cy="337185"/>
          </a:xfrm>
          <a:prstGeom prst="rect">
            <a:avLst/>
          </a:prstGeom>
          <a:noFill/>
        </p:spPr>
        <p:txBody>
          <a:bodyPr wrap="square" rtlCol="0">
            <a:spAutoFit/>
          </a:bodyPr>
          <a:p>
            <a:pPr algn="ct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激</a:t>
            </a:r>
            <a:r>
              <a:rPr lang="en-US" altLang="zh-CN" sz="1600" b="1">
                <a:solidFill>
                  <a:schemeClr val="accent5"/>
                </a:solidFill>
                <a:latin typeface="微软雅黑" panose="020B0503020204020204" charset="-122"/>
                <a:ea typeface="微软雅黑" panose="020B0503020204020204" charset="-122"/>
                <a:cs typeface="微软雅黑" panose="020B0503020204020204" charset="-122"/>
              </a:rPr>
              <a:t> </a:t>
            </a: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情</a:t>
            </a:r>
            <a:endParaRPr lang="zh-CN" altLang="en-US" sz="1600" b="1">
              <a:solidFill>
                <a:schemeClr val="accent5"/>
              </a:solidFill>
              <a:latin typeface="微软雅黑" panose="020B0503020204020204" charset="-122"/>
              <a:ea typeface="微软雅黑" panose="020B0503020204020204" charset="-122"/>
              <a:cs typeface="微软雅黑" panose="020B0503020204020204" charset="-122"/>
            </a:endParaRPr>
          </a:p>
        </p:txBody>
      </p:sp>
      <p:cxnSp>
        <p:nvCxnSpPr>
          <p:cNvPr id="3"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4" name="组合 3"/>
          <p:cNvGrpSpPr/>
          <p:nvPr/>
        </p:nvGrpSpPr>
        <p:grpSpPr>
          <a:xfrm>
            <a:off x="8738235" y="348615"/>
            <a:ext cx="3219450" cy="332740"/>
            <a:chOff x="13761" y="549"/>
            <a:chExt cx="5070" cy="524"/>
          </a:xfrm>
        </p:grpSpPr>
        <p:pic>
          <p:nvPicPr>
            <p:cNvPr id="20" name="图片 19"/>
            <p:cNvPicPr>
              <a:picLocks noChangeAspect="1"/>
            </p:cNvPicPr>
            <p:nvPr userDrawn="1"/>
          </p:nvPicPr>
          <p:blipFill>
            <a:blip r:embed="rId4"/>
            <a:srcRect l="17002" t="-1765" r="56499" b="-1176"/>
            <a:stretch>
              <a:fillRect/>
            </a:stretch>
          </p:blipFill>
          <p:spPr>
            <a:xfrm>
              <a:off x="13761" y="549"/>
              <a:ext cx="1582" cy="525"/>
            </a:xfrm>
            <a:prstGeom prst="rect">
              <a:avLst/>
            </a:prstGeom>
          </p:spPr>
        </p:pic>
        <p:sp>
          <p:nvSpPr>
            <p:cNvPr id="21" name="文本框 20"/>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循环逻辑架构 | </a:t>
            </a:r>
            <a:r>
              <a:rPr sz="2500">
                <a:solidFill>
                  <a:schemeClr val="tx2"/>
                </a:solidFill>
                <a:effectLst/>
                <a:latin typeface="微软雅黑" panose="020B0503020204020204" charset="-122"/>
                <a:ea typeface="微软雅黑" panose="020B0503020204020204" charset="-122"/>
                <a:cs typeface="微软雅黑" panose="020B0503020204020204" charset="-122"/>
              </a:rPr>
              <a:t>联想十步复盘法模型</a:t>
            </a:r>
            <a:endParaRPr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1481" name="Shape"/>
          <p:cNvSpPr/>
          <p:nvPr/>
        </p:nvSpPr>
        <p:spPr>
          <a:xfrm>
            <a:off x="4780280" y="1574800"/>
            <a:ext cx="1290320" cy="1036320"/>
          </a:xfrm>
          <a:custGeom>
            <a:avLst/>
            <a:gdLst/>
            <a:ahLst/>
            <a:cxnLst>
              <a:cxn ang="0">
                <a:pos x="wd2" y="hd2"/>
              </a:cxn>
              <a:cxn ang="5400000">
                <a:pos x="wd2" y="hd2"/>
              </a:cxn>
              <a:cxn ang="10800000">
                <a:pos x="wd2" y="hd2"/>
              </a:cxn>
              <a:cxn ang="16200000">
                <a:pos x="wd2" y="hd2"/>
              </a:cxn>
            </a:cxnLst>
            <a:rect l="0" t="0" r="r" b="b"/>
            <a:pathLst>
              <a:path w="21600" h="21580" extrusionOk="0">
                <a:moveTo>
                  <a:pt x="0" y="8575"/>
                </a:moveTo>
                <a:cubicBezTo>
                  <a:pt x="3041" y="5853"/>
                  <a:pt x="6409" y="3727"/>
                  <a:pt x="9982" y="2273"/>
                </a:cubicBezTo>
                <a:cubicBezTo>
                  <a:pt x="13729" y="747"/>
                  <a:pt x="17653" y="-20"/>
                  <a:pt x="21600" y="1"/>
                </a:cubicBezTo>
                <a:lnTo>
                  <a:pt x="21583" y="16076"/>
                </a:lnTo>
                <a:cubicBezTo>
                  <a:pt x="19068" y="16045"/>
                  <a:pt x="16565" y="16518"/>
                  <a:pt x="14174" y="17476"/>
                </a:cubicBezTo>
                <a:cubicBezTo>
                  <a:pt x="11839" y="18411"/>
                  <a:pt x="9641" y="19797"/>
                  <a:pt x="7662" y="21580"/>
                </a:cubicBezTo>
                <a:lnTo>
                  <a:pt x="0" y="8575"/>
                </a:lnTo>
                <a:close/>
              </a:path>
            </a:pathLst>
          </a:custGeom>
          <a:solidFill>
            <a:schemeClr val="accent1">
              <a:lumMod val="60000"/>
              <a:lumOff val="40000"/>
            </a:schemeClr>
          </a:solidFill>
          <a:ln w="25400" cap="flat">
            <a:solidFill>
              <a:srgbClr val="FFFFFF"/>
            </a:soli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lvl="0" algn="l" hangingPunct="0">
              <a:spcBef>
                <a:spcPts val="0"/>
              </a:spcBef>
              <a:spcAft>
                <a:spcPts val="0"/>
              </a:spcAft>
              <a:buClrTx/>
              <a:buSzTx/>
              <a:buFontTx/>
            </a:pPr>
            <a:endParaRPr lang="zh-CN" altLang="en-US" dirty="0">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82" name="Circle"/>
          <p:cNvSpPr/>
          <p:nvPr/>
        </p:nvSpPr>
        <p:spPr>
          <a:xfrm>
            <a:off x="5213350" y="2900045"/>
            <a:ext cx="1748790" cy="1724660"/>
          </a:xfrm>
          <a:prstGeom prst="ellipse">
            <a:avLst/>
          </a:prstGeom>
          <a:pattFill prst="wdDnDiag">
            <a:fgClr>
              <a:schemeClr val="accent1">
                <a:lumMod val="20000"/>
                <a:lumOff val="80000"/>
              </a:schemeClr>
            </a:fgClr>
            <a:bgClr>
              <a:schemeClr val="bg1"/>
            </a:bgClr>
          </a:pattFill>
          <a:ln w="12700">
            <a:solidFill>
              <a:schemeClr val="accent1"/>
            </a:solidFill>
            <a:prstDash val="sysDot"/>
            <a:miter lim="400000"/>
          </a:ln>
        </p:spPr>
        <p:txBody>
          <a:bodyPr lIns="0" tIns="0" rIns="0" bIns="0" rtlCol="0" anchor="ctr">
            <a:noAutofit/>
          </a:bodyPr>
          <a:lstStyle/>
          <a:p>
            <a:pPr lvl="0" algn="ctr">
              <a:buClrTx/>
              <a:buSzTx/>
              <a:buFontTx/>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83" name="Shape"/>
          <p:cNvSpPr/>
          <p:nvPr/>
        </p:nvSpPr>
        <p:spPr>
          <a:xfrm>
            <a:off x="6064885" y="1574165"/>
            <a:ext cx="1292860" cy="1035050"/>
          </a:xfrm>
          <a:custGeom>
            <a:avLst/>
            <a:gdLst/>
            <a:ahLst/>
            <a:cxnLst>
              <a:cxn ang="0">
                <a:pos x="wd2" y="hd2"/>
              </a:cxn>
              <a:cxn ang="5400000">
                <a:pos x="wd2" y="hd2"/>
              </a:cxn>
              <a:cxn ang="10800000">
                <a:pos x="wd2" y="hd2"/>
              </a:cxn>
              <a:cxn ang="16200000">
                <a:pos x="wd2" y="hd2"/>
              </a:cxn>
            </a:cxnLst>
            <a:rect l="0" t="0" r="r" b="b"/>
            <a:pathLst>
              <a:path w="21600" h="21584" extrusionOk="0">
                <a:moveTo>
                  <a:pt x="0" y="16074"/>
                </a:moveTo>
                <a:lnTo>
                  <a:pt x="0" y="0"/>
                </a:lnTo>
                <a:cubicBezTo>
                  <a:pt x="3726" y="-16"/>
                  <a:pt x="7433" y="672"/>
                  <a:pt x="10990" y="2041"/>
                </a:cubicBezTo>
                <a:cubicBezTo>
                  <a:pt x="14795" y="3505"/>
                  <a:pt x="18380" y="5729"/>
                  <a:pt x="21600" y="8623"/>
                </a:cubicBezTo>
                <a:lnTo>
                  <a:pt x="13892" y="21584"/>
                </a:lnTo>
                <a:cubicBezTo>
                  <a:pt x="11803" y="19705"/>
                  <a:pt x="9474" y="18268"/>
                  <a:pt x="7001" y="17333"/>
                </a:cubicBezTo>
                <a:cubicBezTo>
                  <a:pt x="4734" y="16476"/>
                  <a:pt x="2372" y="16051"/>
                  <a:pt x="0" y="16074"/>
                </a:cubicBezTo>
                <a:close/>
              </a:path>
            </a:pathLst>
          </a:custGeom>
          <a:solidFill>
            <a:schemeClr val="accent1"/>
          </a:solidFill>
          <a:ln w="25400" cap="flat">
            <a:solidFill>
              <a:srgbClr val="FFFFFF"/>
            </a:soli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lvl="0" algn="l" hangingPunct="0">
              <a:spcBef>
                <a:spcPts val="0"/>
              </a:spcBef>
              <a:spcAft>
                <a:spcPts val="0"/>
              </a:spcAft>
              <a:buClrTx/>
              <a:buSzTx/>
              <a:buFontTx/>
            </a:pPr>
            <a:endParaRPr lang="zh-CN" altLang="en-US" dirty="0">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84" name="Shape"/>
          <p:cNvSpPr/>
          <p:nvPr/>
        </p:nvSpPr>
        <p:spPr>
          <a:xfrm>
            <a:off x="6894830" y="1984375"/>
            <a:ext cx="1257935" cy="1314450"/>
          </a:xfrm>
          <a:custGeom>
            <a:avLst/>
            <a:gdLst/>
            <a:ahLst/>
            <a:cxnLst>
              <a:cxn ang="0">
                <a:pos x="wd2" y="hd2"/>
              </a:cxn>
              <a:cxn ang="5400000">
                <a:pos x="wd2" y="hd2"/>
              </a:cxn>
              <a:cxn ang="10800000">
                <a:pos x="wd2" y="hd2"/>
              </a:cxn>
              <a:cxn ang="16200000">
                <a:pos x="wd2" y="hd2"/>
              </a:cxn>
            </a:cxnLst>
            <a:rect l="0" t="0" r="r" b="b"/>
            <a:pathLst>
              <a:path w="21600" h="21600" extrusionOk="0">
                <a:moveTo>
                  <a:pt x="7922" y="0"/>
                </a:moveTo>
                <a:lnTo>
                  <a:pt x="0" y="10256"/>
                </a:lnTo>
                <a:cubicBezTo>
                  <a:pt x="2081" y="11677"/>
                  <a:pt x="3912" y="13399"/>
                  <a:pt x="5424" y="15359"/>
                </a:cubicBezTo>
                <a:cubicBezTo>
                  <a:pt x="6893" y="17262"/>
                  <a:pt x="8045" y="19367"/>
                  <a:pt x="8839" y="21600"/>
                </a:cubicBezTo>
                <a:lnTo>
                  <a:pt x="21600" y="17653"/>
                </a:lnTo>
                <a:cubicBezTo>
                  <a:pt x="20306" y="13993"/>
                  <a:pt x="18395" y="10554"/>
                  <a:pt x="15943" y="7468"/>
                </a:cubicBezTo>
                <a:cubicBezTo>
                  <a:pt x="13677" y="4617"/>
                  <a:pt x="10973" y="2100"/>
                  <a:pt x="7922" y="0"/>
                </a:cubicBezTo>
                <a:close/>
              </a:path>
            </a:pathLst>
          </a:custGeom>
          <a:solidFill>
            <a:schemeClr val="accent1">
              <a:lumMod val="60000"/>
              <a:lumOff val="40000"/>
            </a:schemeClr>
          </a:solidFill>
          <a:ln w="25400" cap="flat">
            <a:solidFill>
              <a:srgbClr val="FFFFFF"/>
            </a:soli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lvl="0" algn="l" hangingPunct="0">
              <a:spcBef>
                <a:spcPts val="0"/>
              </a:spcBef>
              <a:spcAft>
                <a:spcPts val="0"/>
              </a:spcAft>
              <a:buClrTx/>
              <a:buSzTx/>
              <a:buFontTx/>
            </a:pPr>
            <a:endParaRPr lang="zh-CN" altLang="en-US" dirty="0">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85" name="Shape"/>
          <p:cNvSpPr/>
          <p:nvPr/>
        </p:nvSpPr>
        <p:spPr>
          <a:xfrm>
            <a:off x="7406640" y="3055620"/>
            <a:ext cx="855345" cy="1349375"/>
          </a:xfrm>
          <a:custGeom>
            <a:avLst/>
            <a:gdLst/>
            <a:ahLst/>
            <a:cxnLst>
              <a:cxn ang="0">
                <a:pos x="wd2" y="hd2"/>
              </a:cxn>
              <a:cxn ang="5400000">
                <a:pos x="wd2" y="hd2"/>
              </a:cxn>
              <a:cxn ang="10800000">
                <a:pos x="wd2" y="hd2"/>
              </a:cxn>
              <a:cxn ang="16200000">
                <a:pos x="wd2" y="hd2"/>
              </a:cxn>
            </a:cxnLst>
            <a:rect l="0" t="0" r="r" b="b"/>
            <a:pathLst>
              <a:path w="21567" h="21600" extrusionOk="0">
                <a:moveTo>
                  <a:pt x="0" y="3851"/>
                </a:moveTo>
                <a:lnTo>
                  <a:pt x="18782" y="0"/>
                </a:lnTo>
                <a:cubicBezTo>
                  <a:pt x="20593" y="3468"/>
                  <a:pt x="21532" y="7091"/>
                  <a:pt x="21566" y="10740"/>
                </a:cubicBezTo>
                <a:cubicBezTo>
                  <a:pt x="21600" y="14424"/>
                  <a:pt x="20711" y="18088"/>
                  <a:pt x="18932" y="21600"/>
                </a:cubicBezTo>
                <a:lnTo>
                  <a:pt x="170" y="17800"/>
                </a:lnTo>
                <a:cubicBezTo>
                  <a:pt x="1326" y="15557"/>
                  <a:pt x="1904" y="13214"/>
                  <a:pt x="1882" y="10858"/>
                </a:cubicBezTo>
                <a:cubicBezTo>
                  <a:pt x="1860" y="8474"/>
                  <a:pt x="1224" y="6109"/>
                  <a:pt x="0" y="3851"/>
                </a:cubicBezTo>
                <a:close/>
              </a:path>
            </a:pathLst>
          </a:custGeom>
          <a:solidFill>
            <a:schemeClr val="accent1"/>
          </a:solidFill>
          <a:ln w="25400" cap="flat">
            <a:solidFill>
              <a:srgbClr val="FFFFFF"/>
            </a:soli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lvl="0" algn="l" hangingPunct="0">
              <a:spcBef>
                <a:spcPts val="0"/>
              </a:spcBef>
              <a:spcAft>
                <a:spcPts val="0"/>
              </a:spcAft>
              <a:buClrTx/>
              <a:buSzTx/>
              <a:buFontTx/>
            </a:pPr>
            <a:endParaRPr lang="zh-CN" altLang="en-US" dirty="0">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86" name="Shape"/>
          <p:cNvSpPr/>
          <p:nvPr/>
        </p:nvSpPr>
        <p:spPr>
          <a:xfrm>
            <a:off x="6892925" y="4155440"/>
            <a:ext cx="1265555" cy="1338580"/>
          </a:xfrm>
          <a:custGeom>
            <a:avLst/>
            <a:gdLst/>
            <a:ahLst/>
            <a:cxnLst>
              <a:cxn ang="0">
                <a:pos x="wd2" y="hd2"/>
              </a:cxn>
              <a:cxn ang="5400000">
                <a:pos x="wd2" y="hd2"/>
              </a:cxn>
              <a:cxn ang="10800000">
                <a:pos x="wd2" y="hd2"/>
              </a:cxn>
              <a:cxn ang="16200000">
                <a:pos x="wd2" y="hd2"/>
              </a:cxn>
            </a:cxnLst>
            <a:rect l="0" t="0" r="r" b="b"/>
            <a:pathLst>
              <a:path w="21600" h="21600" extrusionOk="0">
                <a:moveTo>
                  <a:pt x="8905" y="0"/>
                </a:moveTo>
                <a:cubicBezTo>
                  <a:pt x="8181" y="2114"/>
                  <a:pt x="7129" y="4118"/>
                  <a:pt x="5783" y="5945"/>
                </a:cubicBezTo>
                <a:cubicBezTo>
                  <a:pt x="4208" y="8085"/>
                  <a:pt x="2251" y="9954"/>
                  <a:pt x="0" y="11473"/>
                </a:cubicBezTo>
                <a:lnTo>
                  <a:pt x="7818" y="21600"/>
                </a:lnTo>
                <a:cubicBezTo>
                  <a:pt x="11255" y="19258"/>
                  <a:pt x="14250" y="16394"/>
                  <a:pt x="16680" y="13127"/>
                </a:cubicBezTo>
                <a:cubicBezTo>
                  <a:pt x="18787" y="10292"/>
                  <a:pt x="20445" y="7185"/>
                  <a:pt x="21600" y="3904"/>
                </a:cubicBezTo>
                <a:lnTo>
                  <a:pt x="8905" y="0"/>
                </a:lnTo>
                <a:close/>
              </a:path>
            </a:pathLst>
          </a:custGeom>
          <a:solidFill>
            <a:schemeClr val="accent5"/>
          </a:solidFill>
          <a:ln w="25400" cap="flat">
            <a:solidFill>
              <a:srgbClr val="FFFFFF"/>
            </a:soli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lvl="0" algn="l" hangingPunct="0">
              <a:spcBef>
                <a:spcPts val="0"/>
              </a:spcBef>
              <a:spcAft>
                <a:spcPts val="0"/>
              </a:spcAft>
              <a:buClrTx/>
              <a:buSzTx/>
              <a:buFontTx/>
            </a:pPr>
            <a:endParaRPr lang="zh-CN" altLang="en-US" dirty="0">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87" name="Shape"/>
          <p:cNvSpPr/>
          <p:nvPr/>
        </p:nvSpPr>
        <p:spPr>
          <a:xfrm>
            <a:off x="6067425" y="4866640"/>
            <a:ext cx="1287145" cy="1035685"/>
          </a:xfrm>
          <a:custGeom>
            <a:avLst/>
            <a:gdLst/>
            <a:ahLst/>
            <a:cxnLst>
              <a:cxn ang="0">
                <a:pos x="wd2" y="hd2"/>
              </a:cxn>
              <a:cxn ang="5400000">
                <a:pos x="wd2" y="hd2"/>
              </a:cxn>
              <a:cxn ang="10800000">
                <a:pos x="wd2" y="hd2"/>
              </a:cxn>
              <a:cxn ang="16200000">
                <a:pos x="wd2" y="hd2"/>
              </a:cxn>
            </a:cxnLst>
            <a:rect l="0" t="0" r="r" b="b"/>
            <a:pathLst>
              <a:path w="21600" h="21593" extrusionOk="0">
                <a:moveTo>
                  <a:pt x="0" y="5527"/>
                </a:moveTo>
                <a:cubicBezTo>
                  <a:pt x="2423" y="5537"/>
                  <a:pt x="4833" y="5088"/>
                  <a:pt x="7143" y="4193"/>
                </a:cubicBezTo>
                <a:cubicBezTo>
                  <a:pt x="9568" y="3254"/>
                  <a:pt x="11851" y="1838"/>
                  <a:pt x="13905" y="0"/>
                </a:cubicBezTo>
                <a:lnTo>
                  <a:pt x="21600" y="13092"/>
                </a:lnTo>
                <a:cubicBezTo>
                  <a:pt x="18561" y="15770"/>
                  <a:pt x="15207" y="17865"/>
                  <a:pt x="11653" y="19306"/>
                </a:cubicBezTo>
                <a:cubicBezTo>
                  <a:pt x="7898" y="20828"/>
                  <a:pt x="3967" y="21600"/>
                  <a:pt x="11" y="21593"/>
                </a:cubicBezTo>
                <a:lnTo>
                  <a:pt x="0" y="5527"/>
                </a:lnTo>
                <a:close/>
              </a:path>
            </a:pathLst>
          </a:custGeom>
          <a:solidFill>
            <a:schemeClr val="accent1">
              <a:lumMod val="60000"/>
              <a:lumOff val="40000"/>
            </a:schemeClr>
          </a:solidFill>
          <a:ln w="25400" cap="flat">
            <a:solidFill>
              <a:srgbClr val="FFFFFF"/>
            </a:soli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lvl="0" algn="l" hangingPunct="0">
              <a:spcBef>
                <a:spcPts val="0"/>
              </a:spcBef>
              <a:spcAft>
                <a:spcPts val="0"/>
              </a:spcAft>
              <a:buClrTx/>
              <a:buSzTx/>
              <a:buFontTx/>
            </a:pPr>
            <a:endParaRPr lang="zh-CN" altLang="en-US" dirty="0">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88" name="Shape"/>
          <p:cNvSpPr/>
          <p:nvPr/>
        </p:nvSpPr>
        <p:spPr>
          <a:xfrm>
            <a:off x="4770120" y="4859655"/>
            <a:ext cx="1301750" cy="1042035"/>
          </a:xfrm>
          <a:custGeom>
            <a:avLst/>
            <a:gdLst/>
            <a:ahLst/>
            <a:cxnLst>
              <a:cxn ang="0">
                <a:pos x="wd2" y="hd2"/>
              </a:cxn>
              <a:cxn ang="5400000">
                <a:pos x="wd2" y="hd2"/>
              </a:cxn>
              <a:cxn ang="10800000">
                <a:pos x="wd2" y="hd2"/>
              </a:cxn>
              <a:cxn ang="16200000">
                <a:pos x="wd2" y="hd2"/>
              </a:cxn>
            </a:cxnLst>
            <a:rect l="0" t="0" r="r" b="b"/>
            <a:pathLst>
              <a:path w="21600" h="21600" extrusionOk="0">
                <a:moveTo>
                  <a:pt x="7654" y="0"/>
                </a:moveTo>
                <a:cubicBezTo>
                  <a:pt x="9632" y="1799"/>
                  <a:pt x="11829" y="3202"/>
                  <a:pt x="14163" y="4157"/>
                </a:cubicBezTo>
                <a:cubicBezTo>
                  <a:pt x="16561" y="5138"/>
                  <a:pt x="19073" y="5633"/>
                  <a:pt x="21600" y="5623"/>
                </a:cubicBezTo>
                <a:lnTo>
                  <a:pt x="21571" y="21600"/>
                </a:lnTo>
                <a:cubicBezTo>
                  <a:pt x="17587" y="21589"/>
                  <a:pt x="13632" y="20781"/>
                  <a:pt x="9859" y="19207"/>
                </a:cubicBezTo>
                <a:cubicBezTo>
                  <a:pt x="6332" y="17735"/>
                  <a:pt x="3008" y="15612"/>
                  <a:pt x="0" y="12909"/>
                </a:cubicBezTo>
                <a:lnTo>
                  <a:pt x="7654" y="0"/>
                </a:lnTo>
                <a:close/>
              </a:path>
            </a:pathLst>
          </a:custGeom>
          <a:solidFill>
            <a:schemeClr val="accent1"/>
          </a:solidFill>
          <a:ln w="25400" cap="flat">
            <a:solidFill>
              <a:srgbClr val="FFFFFF"/>
            </a:soli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lvl="0" algn="l" hangingPunct="0">
              <a:spcBef>
                <a:spcPts val="0"/>
              </a:spcBef>
              <a:spcAft>
                <a:spcPts val="0"/>
              </a:spcAft>
              <a:buClrTx/>
              <a:buSzTx/>
              <a:buFontTx/>
            </a:pPr>
            <a:endParaRPr lang="zh-CN" altLang="en-US" dirty="0">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89" name="Shape"/>
          <p:cNvSpPr/>
          <p:nvPr/>
        </p:nvSpPr>
        <p:spPr>
          <a:xfrm>
            <a:off x="3982720" y="4165600"/>
            <a:ext cx="1252855" cy="1318260"/>
          </a:xfrm>
          <a:custGeom>
            <a:avLst/>
            <a:gdLst/>
            <a:ahLst/>
            <a:cxnLst>
              <a:cxn ang="0">
                <a:pos x="wd2" y="hd2"/>
              </a:cxn>
              <a:cxn ang="5400000">
                <a:pos x="wd2" y="hd2"/>
              </a:cxn>
              <a:cxn ang="10800000">
                <a:pos x="wd2" y="hd2"/>
              </a:cxn>
              <a:cxn ang="16200000">
                <a:pos x="wd2" y="hd2"/>
              </a:cxn>
            </a:cxnLst>
            <a:rect l="0" t="0" r="r" b="b"/>
            <a:pathLst>
              <a:path w="21600" h="21600" extrusionOk="0">
                <a:moveTo>
                  <a:pt x="12768" y="0"/>
                </a:moveTo>
                <a:cubicBezTo>
                  <a:pt x="13512" y="2146"/>
                  <a:pt x="14591" y="4177"/>
                  <a:pt x="15969" y="6027"/>
                </a:cubicBezTo>
                <a:cubicBezTo>
                  <a:pt x="17515" y="8102"/>
                  <a:pt x="19418" y="9923"/>
                  <a:pt x="21600" y="11414"/>
                </a:cubicBezTo>
                <a:lnTo>
                  <a:pt x="13648" y="21600"/>
                </a:lnTo>
                <a:cubicBezTo>
                  <a:pt x="10254" y="19295"/>
                  <a:pt x="7299" y="16469"/>
                  <a:pt x="4909" y="13242"/>
                </a:cubicBezTo>
                <a:cubicBezTo>
                  <a:pt x="2781" y="10370"/>
                  <a:pt x="1126" y="7214"/>
                  <a:pt x="0" y="3881"/>
                </a:cubicBezTo>
                <a:lnTo>
                  <a:pt x="12768" y="0"/>
                </a:lnTo>
                <a:close/>
              </a:path>
            </a:pathLst>
          </a:custGeom>
          <a:solidFill>
            <a:schemeClr val="accent1">
              <a:lumMod val="60000"/>
              <a:lumOff val="40000"/>
            </a:schemeClr>
          </a:solidFill>
          <a:ln w="25400" cap="flat">
            <a:solidFill>
              <a:srgbClr val="FFFFFF"/>
            </a:soli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lvl="0" algn="l" hangingPunct="0">
              <a:spcBef>
                <a:spcPts val="0"/>
              </a:spcBef>
              <a:spcAft>
                <a:spcPts val="0"/>
              </a:spcAft>
              <a:buClrTx/>
              <a:buSzTx/>
              <a:buFontTx/>
            </a:pPr>
            <a:endParaRPr lang="zh-CN" altLang="en-US" dirty="0">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90" name="Shape"/>
          <p:cNvSpPr/>
          <p:nvPr/>
        </p:nvSpPr>
        <p:spPr>
          <a:xfrm>
            <a:off x="3876040" y="3061970"/>
            <a:ext cx="850265" cy="1343660"/>
          </a:xfrm>
          <a:custGeom>
            <a:avLst/>
            <a:gdLst/>
            <a:ahLst/>
            <a:cxnLst>
              <a:cxn ang="0">
                <a:pos x="wd2" y="hd2"/>
              </a:cxn>
              <a:cxn ang="5400000">
                <a:pos x="wd2" y="hd2"/>
              </a:cxn>
              <a:cxn ang="10800000">
                <a:pos x="wd2" y="hd2"/>
              </a:cxn>
              <a:cxn ang="16200000">
                <a:pos x="wd2" y="hd2"/>
              </a:cxn>
            </a:cxnLst>
            <a:rect l="0" t="0" r="r" b="b"/>
            <a:pathLst>
              <a:path w="21564" h="21600" extrusionOk="0">
                <a:moveTo>
                  <a:pt x="2713" y="0"/>
                </a:moveTo>
                <a:lnTo>
                  <a:pt x="21564" y="3838"/>
                </a:lnTo>
                <a:cubicBezTo>
                  <a:pt x="20396" y="6093"/>
                  <a:pt x="19795" y="8448"/>
                  <a:pt x="19783" y="10819"/>
                </a:cubicBezTo>
                <a:cubicBezTo>
                  <a:pt x="19772" y="13183"/>
                  <a:pt x="20346" y="15534"/>
                  <a:pt x="21486" y="17787"/>
                </a:cubicBezTo>
                <a:lnTo>
                  <a:pt x="2686" y="21600"/>
                </a:lnTo>
                <a:cubicBezTo>
                  <a:pt x="870" y="18046"/>
                  <a:pt x="-36" y="14334"/>
                  <a:pt x="1" y="10603"/>
                </a:cubicBezTo>
                <a:cubicBezTo>
                  <a:pt x="38" y="7003"/>
                  <a:pt x="952" y="3427"/>
                  <a:pt x="2713" y="0"/>
                </a:cubicBezTo>
                <a:close/>
              </a:path>
            </a:pathLst>
          </a:custGeom>
          <a:solidFill>
            <a:schemeClr val="accent1"/>
          </a:solidFill>
          <a:ln w="25400" cap="flat">
            <a:solidFill>
              <a:srgbClr val="FFFFFF"/>
            </a:soli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lvl="0" algn="l" hangingPunct="0">
              <a:spcBef>
                <a:spcPts val="0"/>
              </a:spcBef>
              <a:spcAft>
                <a:spcPts val="0"/>
              </a:spcAft>
              <a:buClrTx/>
              <a:buSzTx/>
              <a:buFontTx/>
            </a:pPr>
            <a:endParaRPr lang="zh-CN" altLang="en-US" dirty="0">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91" name="Shape"/>
          <p:cNvSpPr/>
          <p:nvPr/>
        </p:nvSpPr>
        <p:spPr>
          <a:xfrm>
            <a:off x="3983355" y="1983740"/>
            <a:ext cx="1258570" cy="1319530"/>
          </a:xfrm>
          <a:custGeom>
            <a:avLst/>
            <a:gdLst/>
            <a:ahLst/>
            <a:cxnLst>
              <a:cxn ang="0">
                <a:pos x="wd2" y="hd2"/>
              </a:cxn>
              <a:cxn ang="5400000">
                <a:pos x="wd2" y="hd2"/>
              </a:cxn>
              <a:cxn ang="10800000">
                <a:pos x="wd2" y="hd2"/>
              </a:cxn>
              <a:cxn ang="16200000">
                <a:pos x="wd2" y="hd2"/>
              </a:cxn>
            </a:cxnLst>
            <a:rect l="0" t="0" r="r" b="b"/>
            <a:pathLst>
              <a:path w="21600" h="21600" extrusionOk="0">
                <a:moveTo>
                  <a:pt x="13732" y="0"/>
                </a:moveTo>
                <a:cubicBezTo>
                  <a:pt x="10621" y="2129"/>
                  <a:pt x="7873" y="4689"/>
                  <a:pt x="5580" y="7593"/>
                </a:cubicBezTo>
                <a:cubicBezTo>
                  <a:pt x="3157" y="10663"/>
                  <a:pt x="1273" y="14078"/>
                  <a:pt x="0" y="17708"/>
                </a:cubicBezTo>
                <a:lnTo>
                  <a:pt x="12781" y="21600"/>
                </a:lnTo>
                <a:cubicBezTo>
                  <a:pt x="13556" y="19379"/>
                  <a:pt x="14689" y="17282"/>
                  <a:pt x="16139" y="15383"/>
                </a:cubicBezTo>
                <a:cubicBezTo>
                  <a:pt x="17655" y="13398"/>
                  <a:pt x="19498" y="11654"/>
                  <a:pt x="21600" y="10217"/>
                </a:cubicBezTo>
                <a:lnTo>
                  <a:pt x="13732" y="0"/>
                </a:lnTo>
                <a:close/>
              </a:path>
            </a:pathLst>
          </a:custGeom>
          <a:solidFill>
            <a:schemeClr val="accent5"/>
          </a:solidFill>
          <a:ln w="25400" cap="flat">
            <a:solidFill>
              <a:srgbClr val="FFFFFF"/>
            </a:solidFill>
            <a:prstDash val="solid"/>
            <a:miter lim="800000"/>
          </a:ln>
          <a:effectLst/>
          <a:sp3d/>
        </p:spPr>
        <p:txBody>
          <a:bodyPr rot="0" spcFirstLastPara="1" vertOverflow="overflow" horzOverflow="overflow" vert="horz" wrap="square" lIns="45721" tIns="45721" rIns="45721" bIns="45721" numCol="1" spcCol="38100" rtlCol="0" anchor="ctr">
            <a:noAutofit/>
          </a:bodyPr>
          <a:lstStyle/>
          <a:p>
            <a:pPr lvl="0" algn="l" hangingPunct="0">
              <a:spcBef>
                <a:spcPts val="0"/>
              </a:spcBef>
              <a:spcAft>
                <a:spcPts val="0"/>
              </a:spcAft>
              <a:buClrTx/>
              <a:buSzTx/>
              <a:buFontTx/>
            </a:pPr>
            <a:endParaRPr lang="zh-CN" altLang="en-US" dirty="0">
              <a:ln>
                <a:noFill/>
              </a:ln>
              <a:solidFill>
                <a:srgbClr val="1C4274"/>
              </a:solidFill>
              <a:effectLst/>
              <a:uFillTx/>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92" name="Line"/>
          <p:cNvSpPr/>
          <p:nvPr/>
        </p:nvSpPr>
        <p:spPr>
          <a:xfrm>
            <a:off x="5589270" y="2267585"/>
            <a:ext cx="191135" cy="580390"/>
          </a:xfrm>
          <a:prstGeom prst="line">
            <a:avLst/>
          </a:prstGeom>
          <a:ln w="25400">
            <a:solidFill>
              <a:schemeClr val="accent6">
                <a:lumMod val="60000"/>
                <a:lumOff val="40000"/>
              </a:schemeClr>
            </a:solidFill>
            <a:custDash>
              <a:ds d="200000" sp="200000"/>
            </a:custDash>
            <a:miter lim="400000"/>
            <a:headEnd type="triangle"/>
            <a:tailEnd type="triangle"/>
          </a:ln>
        </p:spPr>
        <p:txBody>
          <a:bodyPr lIns="0" tIns="0" rIns="0" bIns="0" anchor="ct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93" name="Line"/>
          <p:cNvSpPr/>
          <p:nvPr/>
        </p:nvSpPr>
        <p:spPr>
          <a:xfrm>
            <a:off x="4782820" y="2849880"/>
            <a:ext cx="507365" cy="350520"/>
          </a:xfrm>
          <a:prstGeom prst="line">
            <a:avLst/>
          </a:prstGeom>
          <a:ln w="25400">
            <a:solidFill>
              <a:schemeClr val="accent6">
                <a:lumMod val="60000"/>
                <a:lumOff val="40000"/>
              </a:schemeClr>
            </a:solidFill>
            <a:custDash>
              <a:ds d="200000" sp="200000"/>
            </a:custDash>
            <a:miter lim="400000"/>
            <a:headEnd type="triangle"/>
            <a:tailEnd type="triangle"/>
          </a:ln>
        </p:spPr>
        <p:txBody>
          <a:bodyPr lIns="0" tIns="0" rIns="0" bIns="0" anchor="ct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94" name="Line"/>
          <p:cNvSpPr/>
          <p:nvPr/>
        </p:nvSpPr>
        <p:spPr>
          <a:xfrm>
            <a:off x="4495800" y="3741420"/>
            <a:ext cx="621665" cy="0"/>
          </a:xfrm>
          <a:prstGeom prst="line">
            <a:avLst/>
          </a:prstGeom>
          <a:ln w="25400">
            <a:solidFill>
              <a:schemeClr val="accent6">
                <a:lumMod val="60000"/>
                <a:lumOff val="40000"/>
              </a:schemeClr>
            </a:solidFill>
            <a:custDash>
              <a:ds d="200000" sp="200000"/>
            </a:custDash>
            <a:miter lim="400000"/>
            <a:headEnd type="triangle"/>
            <a:tailEnd type="triangle"/>
          </a:ln>
        </p:spPr>
        <p:txBody>
          <a:bodyPr lIns="0" tIns="0" rIns="0" bIns="0" anchor="ct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95" name="Line"/>
          <p:cNvSpPr/>
          <p:nvPr/>
        </p:nvSpPr>
        <p:spPr>
          <a:xfrm flipV="1">
            <a:off x="4773295" y="4275455"/>
            <a:ext cx="512445" cy="349885"/>
          </a:xfrm>
          <a:prstGeom prst="line">
            <a:avLst/>
          </a:prstGeom>
          <a:ln w="25400">
            <a:solidFill>
              <a:schemeClr val="accent6">
                <a:lumMod val="60000"/>
                <a:lumOff val="40000"/>
              </a:schemeClr>
            </a:solidFill>
            <a:custDash>
              <a:ds d="200000" sp="200000"/>
            </a:custDash>
            <a:miter lim="400000"/>
            <a:headEnd type="triangle"/>
            <a:tailEnd type="triangle"/>
          </a:ln>
        </p:spPr>
        <p:txBody>
          <a:bodyPr lIns="0" tIns="0" rIns="0" bIns="0" anchor="ct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96" name="Line"/>
          <p:cNvSpPr/>
          <p:nvPr/>
        </p:nvSpPr>
        <p:spPr>
          <a:xfrm flipV="1">
            <a:off x="5583555" y="4634230"/>
            <a:ext cx="192405" cy="584835"/>
          </a:xfrm>
          <a:prstGeom prst="line">
            <a:avLst/>
          </a:prstGeom>
          <a:ln w="25400">
            <a:solidFill>
              <a:schemeClr val="accent6">
                <a:lumMod val="60000"/>
                <a:lumOff val="40000"/>
              </a:schemeClr>
            </a:solidFill>
            <a:custDash>
              <a:ds d="200000" sp="200000"/>
            </a:custDash>
            <a:miter lim="400000"/>
            <a:headEnd type="triangle"/>
            <a:tailEnd type="triangle"/>
          </a:ln>
        </p:spPr>
        <p:txBody>
          <a:bodyPr lIns="0" tIns="0" rIns="0" bIns="0" anchor="ct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97" name="Line"/>
          <p:cNvSpPr/>
          <p:nvPr/>
        </p:nvSpPr>
        <p:spPr>
          <a:xfrm>
            <a:off x="6356350" y="4634865"/>
            <a:ext cx="190500" cy="582295"/>
          </a:xfrm>
          <a:prstGeom prst="line">
            <a:avLst/>
          </a:prstGeom>
          <a:ln w="25400">
            <a:solidFill>
              <a:schemeClr val="accent6">
                <a:lumMod val="60000"/>
                <a:lumOff val="40000"/>
              </a:schemeClr>
            </a:solidFill>
            <a:custDash>
              <a:ds d="200000" sp="200000"/>
            </a:custDash>
            <a:miter lim="400000"/>
            <a:headEnd type="triangle"/>
            <a:tailEnd type="triangle"/>
          </a:ln>
        </p:spPr>
        <p:txBody>
          <a:bodyPr lIns="0" tIns="0" rIns="0" bIns="0" anchor="ct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98" name="Line"/>
          <p:cNvSpPr/>
          <p:nvPr/>
        </p:nvSpPr>
        <p:spPr>
          <a:xfrm>
            <a:off x="6845935" y="4279265"/>
            <a:ext cx="509270" cy="351790"/>
          </a:xfrm>
          <a:prstGeom prst="line">
            <a:avLst/>
          </a:prstGeom>
          <a:ln w="25400">
            <a:solidFill>
              <a:schemeClr val="accent6">
                <a:lumMod val="60000"/>
                <a:lumOff val="40000"/>
              </a:schemeClr>
            </a:solidFill>
            <a:custDash>
              <a:ds d="200000" sp="200000"/>
            </a:custDash>
            <a:miter lim="400000"/>
            <a:headEnd type="triangle"/>
            <a:tailEnd type="triangle"/>
          </a:ln>
        </p:spPr>
        <p:txBody>
          <a:bodyPr lIns="0" tIns="0" rIns="0" bIns="0" anchor="ct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99" name="Line"/>
          <p:cNvSpPr/>
          <p:nvPr/>
        </p:nvSpPr>
        <p:spPr>
          <a:xfrm>
            <a:off x="7018020" y="3742690"/>
            <a:ext cx="623570" cy="0"/>
          </a:xfrm>
          <a:prstGeom prst="line">
            <a:avLst/>
          </a:prstGeom>
          <a:ln w="25400">
            <a:solidFill>
              <a:schemeClr val="accent6">
                <a:lumMod val="60000"/>
                <a:lumOff val="40000"/>
              </a:schemeClr>
            </a:solidFill>
            <a:custDash>
              <a:ds d="200000" sp="200000"/>
            </a:custDash>
            <a:miter lim="400000"/>
            <a:headEnd type="triangle"/>
            <a:tailEnd type="triangle"/>
          </a:ln>
        </p:spPr>
        <p:txBody>
          <a:bodyPr lIns="0" tIns="0" rIns="0" bIns="0" anchor="ct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00" name="Line"/>
          <p:cNvSpPr/>
          <p:nvPr/>
        </p:nvSpPr>
        <p:spPr>
          <a:xfrm flipV="1">
            <a:off x="6849110" y="2861945"/>
            <a:ext cx="513715" cy="349885"/>
          </a:xfrm>
          <a:prstGeom prst="line">
            <a:avLst/>
          </a:prstGeom>
          <a:ln w="25400">
            <a:solidFill>
              <a:schemeClr val="accent6">
                <a:lumMod val="60000"/>
                <a:lumOff val="40000"/>
              </a:schemeClr>
            </a:solidFill>
            <a:custDash>
              <a:ds d="200000" sp="200000"/>
            </a:custDash>
            <a:miter lim="400000"/>
            <a:headEnd type="triangle"/>
            <a:tailEnd type="triangle"/>
          </a:ln>
        </p:spPr>
        <p:txBody>
          <a:bodyPr lIns="0" tIns="0" rIns="0" bIns="0" anchor="ct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01" name="Line"/>
          <p:cNvSpPr/>
          <p:nvPr/>
        </p:nvSpPr>
        <p:spPr>
          <a:xfrm flipH="1">
            <a:off x="6357620" y="2266950"/>
            <a:ext cx="187325" cy="582295"/>
          </a:xfrm>
          <a:prstGeom prst="line">
            <a:avLst/>
          </a:prstGeom>
          <a:ln w="25400">
            <a:solidFill>
              <a:schemeClr val="accent6">
                <a:lumMod val="60000"/>
                <a:lumOff val="40000"/>
              </a:schemeClr>
            </a:solidFill>
            <a:custDash>
              <a:ds d="200000" sp="200000"/>
            </a:custDash>
            <a:miter lim="400000"/>
            <a:headEnd type="triangle"/>
            <a:tailEnd type="triangle"/>
          </a:ln>
        </p:spPr>
        <p:txBody>
          <a:bodyPr lIns="0" tIns="0" rIns="0" bIns="0" anchor="ct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02" name="Line"/>
          <p:cNvSpPr/>
          <p:nvPr/>
        </p:nvSpPr>
        <p:spPr>
          <a:xfrm>
            <a:off x="3536315" y="1238885"/>
            <a:ext cx="5063490" cy="5002530"/>
          </a:xfrm>
          <a:custGeom>
            <a:avLst/>
            <a:gdLst/>
            <a:ahLst/>
            <a:cxnLst>
              <a:cxn ang="0">
                <a:pos x="wd2" y="hd2"/>
              </a:cxn>
              <a:cxn ang="5400000">
                <a:pos x="wd2" y="hd2"/>
              </a:cxn>
              <a:cxn ang="10800000">
                <a:pos x="wd2" y="hd2"/>
              </a:cxn>
              <a:cxn ang="16200000">
                <a:pos x="wd2" y="hd2"/>
              </a:cxn>
            </a:cxnLst>
            <a:rect l="0" t="0" r="r" b="b"/>
            <a:pathLst>
              <a:path w="20515" h="19387" extrusionOk="0">
                <a:moveTo>
                  <a:pt x="6420" y="679"/>
                </a:moveTo>
                <a:cubicBezTo>
                  <a:pt x="8599" y="-107"/>
                  <a:pt x="10771" y="-176"/>
                  <a:pt x="12741" y="295"/>
                </a:cubicBezTo>
                <a:cubicBezTo>
                  <a:pt x="14611" y="742"/>
                  <a:pt x="16301" y="1679"/>
                  <a:pt x="17621" y="2962"/>
                </a:cubicBezTo>
                <a:cubicBezTo>
                  <a:pt x="20313" y="5578"/>
                  <a:pt x="21425" y="9585"/>
                  <a:pt x="19665" y="13533"/>
                </a:cubicBezTo>
                <a:cubicBezTo>
                  <a:pt x="16906" y="19723"/>
                  <a:pt x="8401" y="21424"/>
                  <a:pt x="3112" y="16598"/>
                </a:cubicBezTo>
                <a:cubicBezTo>
                  <a:pt x="1297" y="14943"/>
                  <a:pt x="264" y="12786"/>
                  <a:pt x="45" y="10566"/>
                </a:cubicBezTo>
                <a:cubicBezTo>
                  <a:pt x="-175" y="8346"/>
                  <a:pt x="418" y="6058"/>
                  <a:pt x="1883" y="4118"/>
                </a:cubicBezTo>
              </a:path>
            </a:pathLst>
          </a:custGeom>
          <a:ln w="25400">
            <a:solidFill>
              <a:schemeClr val="accent1"/>
            </a:solidFill>
            <a:miter lim="400000"/>
            <a:tailEnd type="triangle"/>
          </a:ln>
        </p:spPr>
        <p:txBody>
          <a:bodyPr lIns="0" tIns="0" rIns="0" bIns="0" anchor="ct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03" name="This is a sample text"/>
          <p:cNvSpPr txBox="1"/>
          <p:nvPr/>
        </p:nvSpPr>
        <p:spPr>
          <a:xfrm rot="16200000">
            <a:off x="7388860" y="3505835"/>
            <a:ext cx="958215" cy="480695"/>
          </a:xfrm>
          <a:prstGeom prst="rect">
            <a:avLst/>
          </a:prstGeom>
          <a:ln w="12700">
            <a:miter lim="400000"/>
          </a:ln>
        </p:spPr>
        <p:txBody>
          <a:bodyPr wrap="square" lIns="25401" tIns="25401" rIns="25401" bIns="25401">
            <a:spAutoFit/>
          </a:bodyPr>
          <a:lstStyle>
            <a:lvl1pPr>
              <a:defRPr sz="20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a:r>
              <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④检查目标完成情况</a:t>
            </a:r>
            <a:endPar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04" name="This is a sample text"/>
          <p:cNvSpPr txBox="1"/>
          <p:nvPr/>
        </p:nvSpPr>
        <p:spPr>
          <a:xfrm rot="16200000">
            <a:off x="3793490" y="3553460"/>
            <a:ext cx="883920" cy="480695"/>
          </a:xfrm>
          <a:prstGeom prst="rect">
            <a:avLst/>
          </a:prstGeom>
          <a:ln w="12700">
            <a:miter lim="400000"/>
          </a:ln>
        </p:spPr>
        <p:txBody>
          <a:bodyPr lIns="25401" tIns="25401" rIns="25401" bIns="25401">
            <a:spAutoFit/>
          </a:bodyPr>
          <a:lstStyle>
            <a:lvl1pPr>
              <a:defRPr sz="20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a:r>
              <a:rPr lang="zh-CN" sz="1400" dirty="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⑨案例</a:t>
            </a:r>
            <a:endParaRPr lang="zh-CN" sz="1400" dirty="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sz="1400" dirty="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佐证</a:t>
            </a:r>
            <a:endParaRPr lang="zh-CN" sz="1400" dirty="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05" name="This is a sample text"/>
          <p:cNvSpPr txBox="1"/>
          <p:nvPr/>
        </p:nvSpPr>
        <p:spPr>
          <a:xfrm rot="18524564">
            <a:off x="4138295" y="2495550"/>
            <a:ext cx="883920" cy="480695"/>
          </a:xfrm>
          <a:prstGeom prst="rect">
            <a:avLst/>
          </a:prstGeom>
          <a:ln w="12700">
            <a:miter lim="400000"/>
          </a:ln>
        </p:spPr>
        <p:txBody>
          <a:bodyPr lIns="25401" tIns="25401" rIns="25401" bIns="25401">
            <a:spAutoFit/>
          </a:bodyPr>
          <a:lstStyle>
            <a:lvl1pPr>
              <a:defRPr sz="20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a:r>
              <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⑩整理</a:t>
            </a:r>
            <a:endPar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归档</a:t>
            </a:r>
            <a:endPar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06" name="This is a sample text"/>
          <p:cNvSpPr txBox="1"/>
          <p:nvPr/>
        </p:nvSpPr>
        <p:spPr>
          <a:xfrm rot="20455098">
            <a:off x="5025390" y="1824990"/>
            <a:ext cx="949325" cy="481330"/>
          </a:xfrm>
          <a:prstGeom prst="rect">
            <a:avLst/>
          </a:prstGeom>
          <a:ln w="12700">
            <a:miter lim="400000"/>
          </a:ln>
        </p:spPr>
        <p:txBody>
          <a:bodyPr wrap="square" lIns="25401" tIns="25401" rIns="25401" bIns="25401">
            <a:spAutoFit/>
          </a:bodyPr>
          <a:lstStyle>
            <a:lvl1pPr>
              <a:defRPr sz="20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a:r>
              <a:rPr lang="zh-CN" altLang="en-US"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①选择复</a:t>
            </a:r>
            <a:endParaRPr lang="zh-CN" altLang="en-US"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盘内容</a:t>
            </a:r>
            <a:endParaRPr lang="zh-CN" altLang="en-US"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07" name="This is a sample text"/>
          <p:cNvSpPr txBox="1"/>
          <p:nvPr/>
        </p:nvSpPr>
        <p:spPr>
          <a:xfrm rot="1215317">
            <a:off x="6176645" y="1870710"/>
            <a:ext cx="895985" cy="481330"/>
          </a:xfrm>
          <a:prstGeom prst="rect">
            <a:avLst/>
          </a:prstGeom>
          <a:ln w="12700">
            <a:miter lim="400000"/>
          </a:ln>
        </p:spPr>
        <p:txBody>
          <a:bodyPr lIns="25401" tIns="25401" rIns="25401" bIns="25401">
            <a:spAutoFit/>
          </a:bodyPr>
          <a:lstStyle>
            <a:lvl1pPr>
              <a:defRPr sz="20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a:r>
              <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②整理</a:t>
            </a:r>
            <a:endPar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资料</a:t>
            </a:r>
            <a:endPar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08" name="This is a sample text"/>
          <p:cNvSpPr txBox="1"/>
          <p:nvPr/>
        </p:nvSpPr>
        <p:spPr>
          <a:xfrm rot="3164700">
            <a:off x="7067550" y="2500630"/>
            <a:ext cx="883920" cy="480695"/>
          </a:xfrm>
          <a:prstGeom prst="rect">
            <a:avLst/>
          </a:prstGeom>
          <a:ln w="12700">
            <a:miter lim="400000"/>
          </a:ln>
        </p:spPr>
        <p:txBody>
          <a:bodyPr lIns="25401" tIns="25401" rIns="25401" bIns="25401">
            <a:spAutoFit/>
          </a:bodyPr>
          <a:lstStyle>
            <a:lvl1pPr>
              <a:defRPr sz="20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a:r>
              <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③列出当初目标</a:t>
            </a:r>
            <a:endPar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09" name="This is a sample text"/>
          <p:cNvSpPr txBox="1"/>
          <p:nvPr/>
        </p:nvSpPr>
        <p:spPr>
          <a:xfrm rot="18337883">
            <a:off x="7053580" y="4589780"/>
            <a:ext cx="883920" cy="480695"/>
          </a:xfrm>
          <a:prstGeom prst="rect">
            <a:avLst/>
          </a:prstGeom>
          <a:ln w="12700">
            <a:miter lim="400000"/>
          </a:ln>
        </p:spPr>
        <p:txBody>
          <a:bodyPr lIns="25401" tIns="25401" rIns="25401" bIns="25401">
            <a:spAutoFit/>
          </a:bodyPr>
          <a:lstStyle>
            <a:lvl1pPr>
              <a:defRPr sz="20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a:r>
              <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⑤叙述执行过程</a:t>
            </a:r>
            <a:endPar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10" name="This is a sample text"/>
          <p:cNvSpPr txBox="1"/>
          <p:nvPr/>
        </p:nvSpPr>
        <p:spPr>
          <a:xfrm rot="20432855">
            <a:off x="6153150" y="5231765"/>
            <a:ext cx="895985" cy="481330"/>
          </a:xfrm>
          <a:prstGeom prst="rect">
            <a:avLst/>
          </a:prstGeom>
          <a:ln w="12700">
            <a:miter lim="400000"/>
          </a:ln>
        </p:spPr>
        <p:txBody>
          <a:bodyPr lIns="25401" tIns="25401" rIns="25401" bIns="25401">
            <a:spAutoFit/>
          </a:bodyPr>
          <a:lstStyle>
            <a:lvl1pPr>
              <a:defRPr sz="20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a:r>
              <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⑥自我剖析与反思</a:t>
            </a:r>
            <a:endPar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11" name="This is a sample text"/>
          <p:cNvSpPr txBox="1"/>
          <p:nvPr/>
        </p:nvSpPr>
        <p:spPr>
          <a:xfrm rot="1146302">
            <a:off x="5078095" y="5234940"/>
            <a:ext cx="895985" cy="481330"/>
          </a:xfrm>
          <a:prstGeom prst="rect">
            <a:avLst/>
          </a:prstGeom>
          <a:ln w="12700">
            <a:miter lim="400000"/>
          </a:ln>
        </p:spPr>
        <p:txBody>
          <a:bodyPr lIns="25401" tIns="25401" rIns="25401" bIns="25401">
            <a:spAutoFit/>
          </a:bodyPr>
          <a:lstStyle>
            <a:lvl1pPr>
              <a:defRPr sz="20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a:r>
              <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⑦众人</a:t>
            </a:r>
            <a:endPar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提问</a:t>
            </a:r>
            <a:endPar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12" name="This is a sample text"/>
          <p:cNvSpPr txBox="1"/>
          <p:nvPr/>
        </p:nvSpPr>
        <p:spPr>
          <a:xfrm rot="3131700">
            <a:off x="4122420" y="4574540"/>
            <a:ext cx="883920" cy="480695"/>
          </a:xfrm>
          <a:prstGeom prst="rect">
            <a:avLst/>
          </a:prstGeom>
          <a:ln w="12700">
            <a:miter lim="400000"/>
          </a:ln>
        </p:spPr>
        <p:txBody>
          <a:bodyPr lIns="25401" tIns="25401" rIns="25401" bIns="25401">
            <a:spAutoFit/>
          </a:bodyPr>
          <a:lstStyle>
            <a:lvl1pPr>
              <a:defRPr sz="2000" b="0">
                <a:solidFill>
                  <a:srgbClr val="F6F6F7"/>
                </a:solidFill>
                <a:latin typeface="Barlow Medium" panose="00000600000000000000"/>
                <a:ea typeface="Barlow Medium" panose="00000600000000000000"/>
                <a:cs typeface="Barlow Medium" panose="00000600000000000000"/>
                <a:sym typeface="Barlow Medium" panose="00000600000000000000"/>
              </a:defRPr>
            </a:lvl1pPr>
          </a:lstStyle>
          <a:p>
            <a:pPr algn="ctr"/>
            <a:r>
              <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rPr>
              <a:t>⑧总结规律与原则</a:t>
            </a:r>
            <a:endParaRPr lang="zh-CN" sz="1400">
              <a:solidFill>
                <a:sysClr val="window" lastClr="FFFFFF"/>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13" name="Process flow diagram"/>
          <p:cNvSpPr txBox="1"/>
          <p:nvPr/>
        </p:nvSpPr>
        <p:spPr>
          <a:xfrm>
            <a:off x="5283835" y="3359150"/>
            <a:ext cx="1607185" cy="807720"/>
          </a:xfrm>
          <a:prstGeom prst="rect">
            <a:avLst/>
          </a:prstGeom>
          <a:ln w="12700">
            <a:miter lim="400000"/>
          </a:ln>
        </p:spPr>
        <p:txBody>
          <a:bodyPr lIns="25401" tIns="25401" rIns="25401" bIns="25401">
            <a:noAutofit/>
          </a:bodyPr>
          <a:lstStyle>
            <a:lvl1pPr>
              <a:defRPr b="0">
                <a:solidFill>
                  <a:srgbClr val="535454"/>
                </a:solidFill>
                <a:latin typeface="Barlow Bold"/>
                <a:ea typeface="Barlow Bold"/>
                <a:cs typeface="Barlow Bold"/>
                <a:sym typeface="Barlow Bold"/>
              </a:defRPr>
            </a:lvl1pPr>
          </a:lstStyle>
          <a:p>
            <a:pPr algn="ctr"/>
            <a:r>
              <a:rPr lang="zh-CN" sz="2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联想</a:t>
            </a:r>
            <a:endParaRPr lang="zh-CN" sz="2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sz="2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十步复盘法</a:t>
            </a:r>
            <a:endParaRPr lang="zh-CN" sz="22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14" name="Start Process"/>
          <p:cNvSpPr txBox="1"/>
          <p:nvPr/>
        </p:nvSpPr>
        <p:spPr>
          <a:xfrm rot="19609539">
            <a:off x="4313555" y="1347470"/>
            <a:ext cx="1021715" cy="481330"/>
          </a:xfrm>
          <a:prstGeom prst="rect">
            <a:avLst/>
          </a:prstGeom>
          <a:ln w="12700">
            <a:miter lim="400000"/>
          </a:ln>
        </p:spPr>
        <p:txBody>
          <a:bodyPr wrap="square" lIns="25401" tIns="25401" rIns="25401" bIns="25401">
            <a:spAutoFit/>
          </a:bodyPr>
          <a:lstStyle>
            <a:lvl1pPr>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开始</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algn="ctr"/>
            <a:r>
              <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复盘</a:t>
            </a:r>
            <a:endParaRPr lang="zh-CN" altLang="en-US" sz="1400" b="1">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15" name="Finish"/>
          <p:cNvSpPr txBox="1"/>
          <p:nvPr/>
        </p:nvSpPr>
        <p:spPr>
          <a:xfrm rot="18377444">
            <a:off x="3813175" y="2018665"/>
            <a:ext cx="697230" cy="266065"/>
          </a:xfrm>
          <a:prstGeom prst="rect">
            <a:avLst/>
          </a:prstGeom>
          <a:ln w="12700">
            <a:miter lim="400000"/>
          </a:ln>
        </p:spPr>
        <p:txBody>
          <a:bodyPr lIns="25401" tIns="25401" rIns="25401" bIns="25401">
            <a:spAutoFit/>
          </a:bodyPr>
          <a:lstStyle>
            <a:lvl1pPr>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sz="1400" b="1">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结束</a:t>
            </a:r>
            <a:endParaRPr lang="zh-CN" sz="1400" b="1">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16" name="Circle"/>
          <p:cNvSpPr/>
          <p:nvPr/>
        </p:nvSpPr>
        <p:spPr>
          <a:xfrm>
            <a:off x="3707130" y="2444115"/>
            <a:ext cx="251460" cy="248285"/>
          </a:xfrm>
          <a:prstGeom prst="ellipse">
            <a:avLst/>
          </a:prstGeom>
          <a:solidFill>
            <a:schemeClr val="accent5"/>
          </a:solidFill>
          <a:ln w="12700" cap="flat">
            <a:solidFill>
              <a:schemeClr val="accent5"/>
            </a:solidFill>
            <a:miter lim="400000"/>
          </a:ln>
          <a:effectLst/>
        </p:spPr>
        <p:txBody>
          <a:bodyPr wrap="square" lIns="0" tIns="0" rIns="0" bIns="0" numCol="1" anchor="ctr">
            <a:noAutofit/>
          </a:bodyP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18" name="Graphic 12"/>
          <p:cNvSpPr/>
          <p:nvPr/>
        </p:nvSpPr>
        <p:spPr>
          <a:xfrm>
            <a:off x="3749675" y="2488565"/>
            <a:ext cx="167005" cy="165100"/>
          </a:xfrm>
          <a:custGeom>
            <a:avLst/>
            <a:gdLst/>
            <a:ahLst/>
            <a:cxnLst>
              <a:cxn ang="0">
                <a:pos x="wd2" y="hd2"/>
              </a:cxn>
              <a:cxn ang="5400000">
                <a:pos x="wd2" y="hd2"/>
              </a:cxn>
              <a:cxn ang="10800000">
                <a:pos x="wd2" y="hd2"/>
              </a:cxn>
              <a:cxn ang="16200000">
                <a:pos x="wd2" y="hd2"/>
              </a:cxn>
            </a:cxnLst>
            <a:rect l="0" t="0" r="r" b="b"/>
            <a:pathLst>
              <a:path w="21600" h="21600" extrusionOk="0">
                <a:moveTo>
                  <a:pt x="21600" y="10800"/>
                </a:moveTo>
                <a:cubicBezTo>
                  <a:pt x="21600" y="16765"/>
                  <a:pt x="16765" y="21600"/>
                  <a:pt x="10800" y="21600"/>
                </a:cubicBezTo>
                <a:cubicBezTo>
                  <a:pt x="4835" y="21600"/>
                  <a:pt x="0" y="16765"/>
                  <a:pt x="0" y="10800"/>
                </a:cubicBezTo>
                <a:cubicBezTo>
                  <a:pt x="0" y="4835"/>
                  <a:pt x="4835" y="0"/>
                  <a:pt x="10800" y="0"/>
                </a:cubicBezTo>
                <a:cubicBezTo>
                  <a:pt x="16765" y="0"/>
                  <a:pt x="21600" y="4835"/>
                  <a:pt x="21600" y="10800"/>
                </a:cubicBezTo>
                <a:close/>
                <a:moveTo>
                  <a:pt x="10229" y="15269"/>
                </a:moveTo>
                <a:lnTo>
                  <a:pt x="17069" y="8429"/>
                </a:lnTo>
                <a:cubicBezTo>
                  <a:pt x="17345" y="8143"/>
                  <a:pt x="17337" y="7687"/>
                  <a:pt x="17051" y="7411"/>
                </a:cubicBezTo>
                <a:cubicBezTo>
                  <a:pt x="16772" y="7141"/>
                  <a:pt x="16330" y="7141"/>
                  <a:pt x="16051" y="7411"/>
                </a:cubicBezTo>
                <a:lnTo>
                  <a:pt x="9720" y="13742"/>
                </a:lnTo>
                <a:lnTo>
                  <a:pt x="5549" y="9571"/>
                </a:lnTo>
                <a:cubicBezTo>
                  <a:pt x="5273" y="9285"/>
                  <a:pt x="4817" y="9277"/>
                  <a:pt x="4531" y="9553"/>
                </a:cubicBezTo>
                <a:cubicBezTo>
                  <a:pt x="4245" y="9829"/>
                  <a:pt x="4237" y="10285"/>
                  <a:pt x="4513" y="10571"/>
                </a:cubicBezTo>
                <a:cubicBezTo>
                  <a:pt x="4519" y="10577"/>
                  <a:pt x="4525" y="10583"/>
                  <a:pt x="4531" y="10589"/>
                </a:cubicBezTo>
                <a:lnTo>
                  <a:pt x="9211" y="15269"/>
                </a:lnTo>
                <a:cubicBezTo>
                  <a:pt x="9492" y="15550"/>
                  <a:pt x="9948" y="15550"/>
                  <a:pt x="10229" y="15269"/>
                </a:cubicBezTo>
                <a:close/>
              </a:path>
            </a:pathLst>
          </a:custGeom>
          <a:solidFill>
            <a:sysClr val="window" lastClr="FFFFFF"/>
          </a:solidFill>
          <a:ln w="12700" cap="flat">
            <a:solidFill>
              <a:schemeClr val="accent5"/>
            </a:solidFill>
            <a:miter lim="400000"/>
          </a:ln>
          <a:effectLst/>
        </p:spPr>
        <p:txBody>
          <a:bodyPr wrap="square" lIns="22861" tIns="22861" rIns="22861" bIns="22861" numCol="1" anchor="ctr">
            <a:noAutofit/>
          </a:bodyPr>
          <a:lstStyle/>
          <a:p>
            <a:pPr algn="ctr" defTabSz="457200">
              <a:defRPr sz="1800" b="0">
                <a:latin typeface="Calibri" panose="020F0502020204030204"/>
                <a:ea typeface="Calibri" panose="020F0502020204030204"/>
                <a:cs typeface="Calibri" panose="020F0502020204030204"/>
                <a:sym typeface="Calibri" panose="020F0502020204030204"/>
              </a:defRPr>
            </a:pPr>
            <a:endParaRPr sz="900">
              <a:solidFill>
                <a:srgbClr val="A23424"/>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520" name="Triangle"/>
          <p:cNvSpPr/>
          <p:nvPr/>
        </p:nvSpPr>
        <p:spPr>
          <a:xfrm rot="3950235">
            <a:off x="5024120" y="1407795"/>
            <a:ext cx="64135" cy="64770"/>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21600" y="21600"/>
                </a:lnTo>
                <a:lnTo>
                  <a:pt x="0" y="21600"/>
                </a:lnTo>
                <a:close/>
              </a:path>
            </a:pathLst>
          </a:custGeom>
          <a:solidFill>
            <a:schemeClr val="accent1"/>
          </a:solidFill>
          <a:ln w="12700">
            <a:miter lim="400000"/>
          </a:ln>
        </p:spPr>
        <p:txBody>
          <a:bodyPr lIns="0" tIns="0" rIns="0" bIns="0" anchor="ct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endParaRPr sz="160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nvGrpSpPr>
          <p:cNvPr id="29" name="组合 28"/>
          <p:cNvGrpSpPr/>
          <p:nvPr/>
        </p:nvGrpSpPr>
        <p:grpSpPr>
          <a:xfrm>
            <a:off x="973455" y="1144270"/>
            <a:ext cx="2280285" cy="5579218"/>
            <a:chOff x="1380" y="8056"/>
            <a:chExt cx="3697" cy="9174"/>
          </a:xfrm>
        </p:grpSpPr>
        <p:grpSp>
          <p:nvGrpSpPr>
            <p:cNvPr id="6" name="组合 5"/>
            <p:cNvGrpSpPr/>
            <p:nvPr/>
          </p:nvGrpSpPr>
          <p:grpSpPr>
            <a:xfrm>
              <a:off x="1380" y="8056"/>
              <a:ext cx="3594" cy="1538"/>
              <a:chOff x="1358" y="8458"/>
              <a:chExt cx="3594" cy="1538"/>
            </a:xfrm>
          </p:grpSpPr>
          <p:sp>
            <p:nvSpPr>
              <p:cNvPr id="1457" name="This is a sample text. Insert your description here."/>
              <p:cNvSpPr txBox="1"/>
              <p:nvPr/>
            </p:nvSpPr>
            <p:spPr>
              <a:xfrm>
                <a:off x="1805" y="8974"/>
                <a:ext cx="3147" cy="1022"/>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r>
                  <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优先选择近期完成的重点工作，确保复盘对象具有代表性且细节清晰。</a:t>
                </a:r>
                <a:endPar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58" name="This is a sample text."/>
              <p:cNvSpPr txBox="1"/>
              <p:nvPr/>
            </p:nvSpPr>
            <p:spPr>
              <a:xfrm>
                <a:off x="1901" y="8458"/>
                <a:ext cx="2492" cy="555"/>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zh-CN"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选择复盘内容</a:t>
                </a:r>
                <a:endParaRPr lang="zh-CN"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460" name="Circle"/>
              <p:cNvSpPr/>
              <p:nvPr/>
            </p:nvSpPr>
            <p:spPr>
              <a:xfrm>
                <a:off x="1358" y="8467"/>
                <a:ext cx="456" cy="455"/>
              </a:xfrm>
              <a:prstGeom prst="ellipse">
                <a:avLst/>
              </a:prstGeom>
              <a:solidFill>
                <a:schemeClr val="accent1"/>
              </a:solidFill>
              <a:ln w="12700" cap="flat">
                <a:noFill/>
                <a:miter lim="400000"/>
              </a:ln>
              <a:effectLst/>
            </p:spPr>
            <p:txBody>
              <a:bodyPr wrap="square" lIns="0" tIns="0" rIns="0" bIns="0" numCol="1" anchor="ctr">
                <a:noAutofit/>
              </a:bodyP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r>
                  <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rPr>
                  <a:t>1</a:t>
                </a:r>
                <a:endPar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7" name="组合 6"/>
            <p:cNvGrpSpPr/>
            <p:nvPr/>
          </p:nvGrpSpPr>
          <p:grpSpPr>
            <a:xfrm>
              <a:off x="1380" y="9953"/>
              <a:ext cx="3594" cy="1538"/>
              <a:chOff x="1358" y="8458"/>
              <a:chExt cx="3594" cy="1538"/>
            </a:xfrm>
          </p:grpSpPr>
          <p:sp>
            <p:nvSpPr>
              <p:cNvPr id="11" name="This is a sample text. Insert your description here."/>
              <p:cNvSpPr txBox="1"/>
              <p:nvPr/>
            </p:nvSpPr>
            <p:spPr>
              <a:xfrm>
                <a:off x="1805" y="8974"/>
                <a:ext cx="3147" cy="1022"/>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r>
                  <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收集与项目相关的所有资料，需避免因覆盖或删除导致信息缺失。</a:t>
                </a:r>
                <a:endPar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0" name="This is a sample text."/>
              <p:cNvSpPr txBox="1"/>
              <p:nvPr/>
            </p:nvSpPr>
            <p:spPr>
              <a:xfrm>
                <a:off x="1901" y="8458"/>
                <a:ext cx="2491" cy="555"/>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zh-CN" altLang="en-US"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整理材料</a:t>
                </a:r>
                <a:endParaRPr lang="zh-CN" altLang="en-US"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Circle"/>
              <p:cNvSpPr/>
              <p:nvPr/>
            </p:nvSpPr>
            <p:spPr>
              <a:xfrm>
                <a:off x="1358" y="8467"/>
                <a:ext cx="456" cy="455"/>
              </a:xfrm>
              <a:prstGeom prst="ellipse">
                <a:avLst/>
              </a:prstGeom>
              <a:solidFill>
                <a:schemeClr val="accent1"/>
              </a:solidFill>
              <a:ln w="12700" cap="flat">
                <a:noFill/>
                <a:miter lim="400000"/>
              </a:ln>
              <a:effectLst/>
            </p:spPr>
            <p:txBody>
              <a:bodyPr wrap="square" lIns="0" tIns="0" rIns="0" bIns="0" numCol="1" anchor="ctr">
                <a:noAutofit/>
              </a:bodyP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r>
                  <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rPr>
                  <a:t>2</a:t>
                </a:r>
                <a:endPar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26" name="组合 25"/>
            <p:cNvGrpSpPr/>
            <p:nvPr/>
          </p:nvGrpSpPr>
          <p:grpSpPr>
            <a:xfrm>
              <a:off x="1380" y="11850"/>
              <a:ext cx="3594" cy="1538"/>
              <a:chOff x="1358" y="8458"/>
              <a:chExt cx="3594" cy="1538"/>
            </a:xfrm>
          </p:grpSpPr>
          <p:sp>
            <p:nvSpPr>
              <p:cNvPr id="33" name="This is a sample text. Insert your description here."/>
              <p:cNvSpPr txBox="1"/>
              <p:nvPr/>
            </p:nvSpPr>
            <p:spPr>
              <a:xfrm>
                <a:off x="1805" y="8974"/>
                <a:ext cx="3147" cy="1022"/>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r>
                  <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明确项目启动时设定的核心目标，回溯目标，检验其合理性与清晰度。</a:t>
                </a:r>
                <a:endPar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6" name="This is a sample text."/>
              <p:cNvSpPr txBox="1"/>
              <p:nvPr/>
            </p:nvSpPr>
            <p:spPr>
              <a:xfrm>
                <a:off x="1901" y="8458"/>
                <a:ext cx="2491" cy="555"/>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zh-CN"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列出当初目标</a:t>
                </a:r>
                <a:endParaRPr lang="zh-CN"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9" name="Circle"/>
              <p:cNvSpPr/>
              <p:nvPr/>
            </p:nvSpPr>
            <p:spPr>
              <a:xfrm>
                <a:off x="1358" y="8467"/>
                <a:ext cx="456" cy="455"/>
              </a:xfrm>
              <a:prstGeom prst="ellipse">
                <a:avLst/>
              </a:prstGeom>
              <a:solidFill>
                <a:schemeClr val="accent1"/>
              </a:solidFill>
              <a:ln w="12700" cap="flat">
                <a:noFill/>
                <a:miter lim="400000"/>
              </a:ln>
              <a:effectLst/>
            </p:spPr>
            <p:txBody>
              <a:bodyPr wrap="square" lIns="0" tIns="0" rIns="0" bIns="0" numCol="1" anchor="ctr">
                <a:noAutofit/>
              </a:bodyP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r>
                  <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rPr>
                  <a:t>3</a:t>
                </a:r>
                <a:endPar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40" name="组合 39"/>
            <p:cNvGrpSpPr/>
            <p:nvPr/>
          </p:nvGrpSpPr>
          <p:grpSpPr>
            <a:xfrm>
              <a:off x="1380" y="13747"/>
              <a:ext cx="3697" cy="1538"/>
              <a:chOff x="1358" y="8458"/>
              <a:chExt cx="3697" cy="1538"/>
            </a:xfrm>
          </p:grpSpPr>
          <p:sp>
            <p:nvSpPr>
              <p:cNvPr id="41" name="This is a sample text. Insert your description here."/>
              <p:cNvSpPr txBox="1"/>
              <p:nvPr/>
            </p:nvSpPr>
            <p:spPr>
              <a:xfrm>
                <a:off x="1805" y="8974"/>
                <a:ext cx="3147" cy="1022"/>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r>
                  <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将实际成果与目标对比，分析差距类型，重点在于探究差距背后的原因。</a:t>
                </a:r>
                <a:endPar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2" name="This is a sample text."/>
              <p:cNvSpPr txBox="1"/>
              <p:nvPr/>
            </p:nvSpPr>
            <p:spPr>
              <a:xfrm>
                <a:off x="1901" y="8458"/>
                <a:ext cx="3154" cy="555"/>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zh-CN"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检查目标完成情况</a:t>
                </a:r>
                <a:endParaRPr lang="zh-CN"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3" name="Circle"/>
              <p:cNvSpPr/>
              <p:nvPr/>
            </p:nvSpPr>
            <p:spPr>
              <a:xfrm>
                <a:off x="1358" y="8467"/>
                <a:ext cx="456" cy="455"/>
              </a:xfrm>
              <a:prstGeom prst="ellipse">
                <a:avLst/>
              </a:prstGeom>
              <a:solidFill>
                <a:schemeClr val="accent1"/>
              </a:solidFill>
              <a:ln w="12700" cap="flat">
                <a:noFill/>
                <a:miter lim="400000"/>
              </a:ln>
              <a:effectLst/>
            </p:spPr>
            <p:txBody>
              <a:bodyPr wrap="square" lIns="0" tIns="0" rIns="0" bIns="0" numCol="1" anchor="ctr">
                <a:noAutofit/>
              </a:bodyP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r>
                  <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rPr>
                  <a:t>4</a:t>
                </a:r>
                <a:endPar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45" name="组合 44"/>
            <p:cNvGrpSpPr/>
            <p:nvPr/>
          </p:nvGrpSpPr>
          <p:grpSpPr>
            <a:xfrm>
              <a:off x="1380" y="15644"/>
              <a:ext cx="3594" cy="1586"/>
              <a:chOff x="1358" y="8458"/>
              <a:chExt cx="3594" cy="1586"/>
            </a:xfrm>
          </p:grpSpPr>
          <p:sp>
            <p:nvSpPr>
              <p:cNvPr id="46" name="This is a sample text. Insert your description here."/>
              <p:cNvSpPr txBox="1"/>
              <p:nvPr/>
            </p:nvSpPr>
            <p:spPr>
              <a:xfrm>
                <a:off x="1805" y="8974"/>
                <a:ext cx="3147" cy="1070"/>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r>
                  <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以第三人称视角详细描述项目全流程，需避免主观评价，仅陈述事实。</a:t>
                </a:r>
                <a:endPar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7" name="This is a sample text."/>
              <p:cNvSpPr txBox="1"/>
              <p:nvPr/>
            </p:nvSpPr>
            <p:spPr>
              <a:xfrm>
                <a:off x="1901" y="8458"/>
                <a:ext cx="2491" cy="539"/>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zh-CN" sz="18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叙述执行过程</a:t>
                </a:r>
                <a:endParaRPr lang="zh-CN" sz="18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8" name="Circle"/>
              <p:cNvSpPr/>
              <p:nvPr/>
            </p:nvSpPr>
            <p:spPr>
              <a:xfrm>
                <a:off x="1358" y="8467"/>
                <a:ext cx="456" cy="455"/>
              </a:xfrm>
              <a:prstGeom prst="ellipse">
                <a:avLst/>
              </a:prstGeom>
              <a:solidFill>
                <a:schemeClr val="accent5"/>
              </a:solidFill>
              <a:ln w="12700" cap="flat">
                <a:noFill/>
                <a:miter lim="400000"/>
              </a:ln>
              <a:effectLst/>
            </p:spPr>
            <p:txBody>
              <a:bodyPr wrap="square" lIns="0" tIns="0" rIns="0" bIns="0" numCol="1" anchor="ctr">
                <a:noAutofit/>
              </a:bodyP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r>
                  <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rPr>
                  <a:t>5</a:t>
                </a:r>
                <a:endPar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grpSp>
        <p:nvGrpSpPr>
          <p:cNvPr id="49" name="组合 48"/>
          <p:cNvGrpSpPr/>
          <p:nvPr/>
        </p:nvGrpSpPr>
        <p:grpSpPr>
          <a:xfrm>
            <a:off x="8971280" y="1144270"/>
            <a:ext cx="2280285" cy="5579218"/>
            <a:chOff x="1380" y="8056"/>
            <a:chExt cx="3697" cy="9174"/>
          </a:xfrm>
        </p:grpSpPr>
        <p:grpSp>
          <p:nvGrpSpPr>
            <p:cNvPr id="50" name="组合 49"/>
            <p:cNvGrpSpPr/>
            <p:nvPr/>
          </p:nvGrpSpPr>
          <p:grpSpPr>
            <a:xfrm>
              <a:off x="1380" y="8056"/>
              <a:ext cx="3649" cy="1688"/>
              <a:chOff x="1358" y="8458"/>
              <a:chExt cx="3649" cy="1688"/>
            </a:xfrm>
          </p:grpSpPr>
          <p:sp>
            <p:nvSpPr>
              <p:cNvPr id="51" name="This is a sample text. Insert your description here."/>
              <p:cNvSpPr txBox="1"/>
              <p:nvPr/>
            </p:nvSpPr>
            <p:spPr>
              <a:xfrm>
                <a:off x="1805" y="8974"/>
                <a:ext cx="3147" cy="1172"/>
              </a:xfrm>
              <a:prstGeom prst="rect">
                <a:avLst/>
              </a:prstGeom>
              <a:noFill/>
              <a:ln w="12700" cap="flat">
                <a:noFill/>
                <a:miter lim="400000"/>
              </a:ln>
              <a:effectLst/>
            </p:spPr>
            <p:txBody>
              <a:bodyPr wrap="square" lIns="25401" tIns="25401" rIns="25401" bIns="25401" numCol="1" anchor="t">
                <a:no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r>
                  <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柳传志强调</a:t>
                </a:r>
                <a:r>
                  <a:rPr lang="en-US" altLang="zh-CN"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无情复盘</a:t>
                </a:r>
                <a:r>
                  <a:rPr lang="en-US" altLang="zh-CN"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，要求直面失误，识别一身短板并挖掘深层原因。</a:t>
                </a:r>
                <a:endPar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2" name="This is a sample text."/>
              <p:cNvSpPr txBox="1"/>
              <p:nvPr/>
            </p:nvSpPr>
            <p:spPr>
              <a:xfrm>
                <a:off x="1901" y="8458"/>
                <a:ext cx="3106" cy="539"/>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zh-CN"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在自我剖析与反思</a:t>
                </a:r>
                <a:endParaRPr lang="zh-CN"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3" name="Circle"/>
              <p:cNvSpPr/>
              <p:nvPr/>
            </p:nvSpPr>
            <p:spPr>
              <a:xfrm>
                <a:off x="1358" y="8467"/>
                <a:ext cx="456" cy="455"/>
              </a:xfrm>
              <a:prstGeom prst="ellipse">
                <a:avLst/>
              </a:prstGeom>
              <a:solidFill>
                <a:schemeClr val="accent1"/>
              </a:solidFill>
              <a:ln w="12700" cap="flat">
                <a:noFill/>
                <a:miter lim="400000"/>
              </a:ln>
              <a:effectLst/>
            </p:spPr>
            <p:txBody>
              <a:bodyPr wrap="square" lIns="0" tIns="0" rIns="0" bIns="0" numCol="1" anchor="ctr">
                <a:noAutofit/>
              </a:bodyP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r>
                  <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rPr>
                  <a:t>6</a:t>
                </a:r>
                <a:endPar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54" name="组合 53"/>
            <p:cNvGrpSpPr/>
            <p:nvPr/>
          </p:nvGrpSpPr>
          <p:grpSpPr>
            <a:xfrm>
              <a:off x="1380" y="9953"/>
              <a:ext cx="3594" cy="1538"/>
              <a:chOff x="1358" y="8458"/>
              <a:chExt cx="3594" cy="1538"/>
            </a:xfrm>
          </p:grpSpPr>
          <p:sp>
            <p:nvSpPr>
              <p:cNvPr id="55" name="This is a sample text. Insert your description here."/>
              <p:cNvSpPr txBox="1"/>
              <p:nvPr/>
            </p:nvSpPr>
            <p:spPr>
              <a:xfrm>
                <a:off x="1805" y="8974"/>
                <a:ext cx="3147" cy="1022"/>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r>
                  <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邀请团队或外部参与者提出质疑，通过集体智慧突破个人思维局限。</a:t>
                </a:r>
                <a:endPar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9" name="This is a sample text."/>
              <p:cNvSpPr txBox="1"/>
              <p:nvPr/>
            </p:nvSpPr>
            <p:spPr>
              <a:xfrm>
                <a:off x="1901" y="8458"/>
                <a:ext cx="2491" cy="555"/>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zh-CN" altLang="en-US"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众人提问</a:t>
                </a:r>
                <a:endParaRPr lang="zh-CN" altLang="en-US"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 name="Circle"/>
              <p:cNvSpPr/>
              <p:nvPr/>
            </p:nvSpPr>
            <p:spPr>
              <a:xfrm>
                <a:off x="1358" y="8467"/>
                <a:ext cx="456" cy="455"/>
              </a:xfrm>
              <a:prstGeom prst="ellipse">
                <a:avLst/>
              </a:prstGeom>
              <a:solidFill>
                <a:schemeClr val="accent1"/>
              </a:solidFill>
              <a:ln w="12700" cap="flat">
                <a:noFill/>
                <a:miter lim="400000"/>
              </a:ln>
              <a:effectLst/>
            </p:spPr>
            <p:txBody>
              <a:bodyPr wrap="square" lIns="0" tIns="0" rIns="0" bIns="0" numCol="1" anchor="ctr">
                <a:noAutofit/>
              </a:bodyP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r>
                  <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rPr>
                  <a:t>7</a:t>
                </a:r>
                <a:endPar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64" name="组合 63"/>
            <p:cNvGrpSpPr/>
            <p:nvPr/>
          </p:nvGrpSpPr>
          <p:grpSpPr>
            <a:xfrm>
              <a:off x="1380" y="11850"/>
              <a:ext cx="3594" cy="1538"/>
              <a:chOff x="1358" y="8458"/>
              <a:chExt cx="3594" cy="1538"/>
            </a:xfrm>
          </p:grpSpPr>
          <p:sp>
            <p:nvSpPr>
              <p:cNvPr id="9" name="This is a sample text. Insert your description here."/>
              <p:cNvSpPr txBox="1"/>
              <p:nvPr/>
            </p:nvSpPr>
            <p:spPr>
              <a:xfrm>
                <a:off x="1805" y="8974"/>
                <a:ext cx="3147" cy="1022"/>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r>
                  <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提炼普适性经验，规律需符合逻辑且具备可迁移性，避免形成假规律。</a:t>
                </a:r>
                <a:endPar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2" name="This is a sample text."/>
              <p:cNvSpPr txBox="1"/>
              <p:nvPr/>
            </p:nvSpPr>
            <p:spPr>
              <a:xfrm>
                <a:off x="1901" y="8458"/>
                <a:ext cx="2874" cy="760"/>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zh-CN"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总结规律与原则</a:t>
                </a:r>
                <a:endParaRPr lang="zh-CN"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13" name="Circle"/>
              <p:cNvSpPr/>
              <p:nvPr/>
            </p:nvSpPr>
            <p:spPr>
              <a:xfrm>
                <a:off x="1358" y="8467"/>
                <a:ext cx="456" cy="455"/>
              </a:xfrm>
              <a:prstGeom prst="ellipse">
                <a:avLst/>
              </a:prstGeom>
              <a:solidFill>
                <a:schemeClr val="accent1"/>
              </a:solidFill>
              <a:ln w="12700" cap="flat">
                <a:noFill/>
                <a:miter lim="400000"/>
              </a:ln>
              <a:effectLst/>
            </p:spPr>
            <p:txBody>
              <a:bodyPr wrap="square" lIns="0" tIns="0" rIns="0" bIns="0" numCol="1" anchor="ctr">
                <a:noAutofit/>
              </a:bodyP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r>
                  <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rPr>
                  <a:t>8</a:t>
                </a:r>
                <a:endPar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72" name="组合 71"/>
            <p:cNvGrpSpPr/>
            <p:nvPr/>
          </p:nvGrpSpPr>
          <p:grpSpPr>
            <a:xfrm>
              <a:off x="1380" y="13747"/>
              <a:ext cx="3697" cy="1614"/>
              <a:chOff x="1358" y="8458"/>
              <a:chExt cx="3697" cy="1614"/>
            </a:xfrm>
          </p:grpSpPr>
          <p:sp>
            <p:nvSpPr>
              <p:cNvPr id="73" name="This is a sample text. Insert your description here."/>
              <p:cNvSpPr txBox="1"/>
              <p:nvPr/>
            </p:nvSpPr>
            <p:spPr>
              <a:xfrm>
                <a:off x="1805" y="8974"/>
                <a:ext cx="3147" cy="1098"/>
              </a:xfrm>
              <a:prstGeom prst="rect">
                <a:avLst/>
              </a:prstGeom>
              <a:noFill/>
              <a:ln w="12700" cap="flat">
                <a:noFill/>
                <a:miter lim="400000"/>
              </a:ln>
              <a:effectLst/>
            </p:spPr>
            <p:txBody>
              <a:bodyPr wrap="square" lIns="25401" tIns="25401" rIns="25401" bIns="25401" numCol="1" anchor="t">
                <a:no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r>
                  <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通过同类项目或行业标杆案例，验证其在不同场景中均能指导实践。</a:t>
                </a:r>
                <a:endPar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79" name="This is a sample text."/>
              <p:cNvSpPr txBox="1"/>
              <p:nvPr/>
            </p:nvSpPr>
            <p:spPr>
              <a:xfrm>
                <a:off x="1901" y="8458"/>
                <a:ext cx="3154" cy="539"/>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zh-CN"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案例佐证</a:t>
                </a:r>
                <a:endParaRPr lang="zh-CN" sz="18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0" name="Circle"/>
              <p:cNvSpPr/>
              <p:nvPr/>
            </p:nvSpPr>
            <p:spPr>
              <a:xfrm>
                <a:off x="1358" y="8467"/>
                <a:ext cx="456" cy="455"/>
              </a:xfrm>
              <a:prstGeom prst="ellipse">
                <a:avLst/>
              </a:prstGeom>
              <a:solidFill>
                <a:schemeClr val="accent1"/>
              </a:solidFill>
              <a:ln w="12700" cap="flat">
                <a:noFill/>
                <a:miter lim="400000"/>
              </a:ln>
              <a:effectLst/>
            </p:spPr>
            <p:txBody>
              <a:bodyPr wrap="square" lIns="0" tIns="0" rIns="0" bIns="0" numCol="1" anchor="ctr">
                <a:noAutofit/>
              </a:bodyP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r>
                  <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rPr>
                  <a:t>9</a:t>
                </a:r>
                <a:endParaRPr lang="en-US" sz="1400" b="1">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nvGrpSpPr>
            <p:cNvPr id="81" name="组合 80"/>
            <p:cNvGrpSpPr/>
            <p:nvPr/>
          </p:nvGrpSpPr>
          <p:grpSpPr>
            <a:xfrm>
              <a:off x="1380" y="15644"/>
              <a:ext cx="3594" cy="1586"/>
              <a:chOff x="1358" y="8458"/>
              <a:chExt cx="3594" cy="1586"/>
            </a:xfrm>
          </p:grpSpPr>
          <p:sp>
            <p:nvSpPr>
              <p:cNvPr id="82" name="This is a sample text. Insert your description here."/>
              <p:cNvSpPr txBox="1"/>
              <p:nvPr/>
            </p:nvSpPr>
            <p:spPr>
              <a:xfrm>
                <a:off x="1805" y="8974"/>
                <a:ext cx="3147" cy="1070"/>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9E9F9E"/>
                    </a:solidFill>
                    <a:latin typeface="Barlow Medium" panose="00000600000000000000"/>
                    <a:ea typeface="Barlow Medium" panose="00000600000000000000"/>
                    <a:cs typeface="Barlow Medium" panose="00000600000000000000"/>
                    <a:sym typeface="Barlow Medium" panose="00000600000000000000"/>
                  </a:defRPr>
                </a:lvl1pPr>
              </a:lstStyle>
              <a:p>
                <a:r>
                  <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将复盘文档统化存档，形成组织知识库，便于未来参考与迭代。</a:t>
                </a:r>
                <a:endParaRPr lang="zh-CN" altLang="en-US" sz="130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3" name="This is a sample text."/>
              <p:cNvSpPr txBox="1"/>
              <p:nvPr/>
            </p:nvSpPr>
            <p:spPr>
              <a:xfrm>
                <a:off x="1901" y="8458"/>
                <a:ext cx="2491" cy="555"/>
              </a:xfrm>
              <a:prstGeom prst="rect">
                <a:avLst/>
              </a:prstGeom>
              <a:noFill/>
              <a:ln w="12700" cap="flat">
                <a:noFill/>
                <a:miter lim="400000"/>
              </a:ln>
              <a:effectLst/>
            </p:spPr>
            <p:txBody>
              <a:bodyPr wrap="square" lIns="25401" tIns="25401" rIns="25401" bIns="25401" numCol="1" anchor="t">
                <a:spAutoFit/>
              </a:bodyPr>
              <a:lstStyle>
                <a:lvl1pPr algn="l">
                  <a:defRPr sz="2500" b="0">
                    <a:solidFill>
                      <a:srgbClr val="545453"/>
                    </a:solidFill>
                    <a:latin typeface="Barlow SemiBold" panose="00000700000000000000"/>
                    <a:ea typeface="Barlow SemiBold" panose="00000700000000000000"/>
                    <a:cs typeface="Barlow SemiBold" panose="00000700000000000000"/>
                    <a:sym typeface="Barlow SemiBold" panose="00000700000000000000"/>
                  </a:defRPr>
                </a:lvl1pPr>
              </a:lstStyle>
              <a:p>
                <a:r>
                  <a:rPr lang="zh-CN" sz="18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整理归档</a:t>
                </a:r>
                <a:endParaRPr lang="zh-CN" sz="18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84" name="Circle"/>
              <p:cNvSpPr/>
              <p:nvPr/>
            </p:nvSpPr>
            <p:spPr>
              <a:xfrm>
                <a:off x="1358" y="8467"/>
                <a:ext cx="456" cy="455"/>
              </a:xfrm>
              <a:prstGeom prst="ellipse">
                <a:avLst/>
              </a:prstGeom>
              <a:solidFill>
                <a:schemeClr val="accent5"/>
              </a:solidFill>
              <a:ln w="12700" cap="flat">
                <a:noFill/>
                <a:miter lim="400000"/>
              </a:ln>
              <a:effectLst/>
            </p:spPr>
            <p:txBody>
              <a:bodyPr wrap="square" lIns="0" tIns="0" rIns="0" bIns="0" numCol="1" anchor="ctr">
                <a:noAutofit/>
              </a:bodyPr>
              <a:lstStyle/>
              <a:p>
                <a:pPr algn="ctr">
                  <a:defRPr sz="3200" b="0">
                    <a:solidFill>
                      <a:srgbClr val="FFFFFF"/>
                    </a:solidFill>
                    <a:latin typeface="OPPO Sans" panose="00020600040101010101" charset="-122"/>
                    <a:ea typeface="OPPO Sans" panose="00020600040101010101" charset="-122"/>
                    <a:cs typeface="HONOR Sans CN Medium" panose="06000200000000000000" charset="-122"/>
                    <a:sym typeface="Helvetica Neue Medium"/>
                  </a:defRPr>
                </a:pPr>
                <a:r>
                  <a:rPr lang="en-US" sz="1200" b="1">
                    <a:latin typeface="微软雅黑" panose="020B0503020204020204" charset="-122"/>
                    <a:ea typeface="微软雅黑" panose="020B0503020204020204" charset="-122"/>
                    <a:cs typeface="微软雅黑" panose="020B0503020204020204" charset="-122"/>
                    <a:sym typeface="微软雅黑" panose="020B0503020204020204" charset="-122"/>
                  </a:rPr>
                  <a:t>10</a:t>
                </a:r>
                <a:endParaRPr lang="en-US" sz="1200" b="1">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grpSp>
      <p:cxnSp>
        <p:nvCxnSpPr>
          <p:cNvPr id="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3" name="组合 2"/>
          <p:cNvGrpSpPr/>
          <p:nvPr/>
        </p:nvGrpSpPr>
        <p:grpSpPr>
          <a:xfrm>
            <a:off x="8738235" y="348615"/>
            <a:ext cx="3219450" cy="332740"/>
            <a:chOff x="13761" y="549"/>
            <a:chExt cx="5070" cy="524"/>
          </a:xfrm>
        </p:grpSpPr>
        <p:pic>
          <p:nvPicPr>
            <p:cNvPr id="44" name="图片 43"/>
            <p:cNvPicPr>
              <a:picLocks noChangeAspect="1"/>
            </p:cNvPicPr>
            <p:nvPr userDrawn="1"/>
          </p:nvPicPr>
          <p:blipFill>
            <a:blip r:embed="rId3"/>
            <a:srcRect l="17002" t="-1765" r="56499" b="-1176"/>
            <a:stretch>
              <a:fillRect/>
            </a:stretch>
          </p:blipFill>
          <p:spPr>
            <a:xfrm>
              <a:off x="13761" y="549"/>
              <a:ext cx="1582" cy="525"/>
            </a:xfrm>
            <a:prstGeom prst="rect">
              <a:avLst/>
            </a:prstGeom>
          </p:spPr>
        </p:pic>
        <p:sp>
          <p:nvSpPr>
            <p:cNvPr id="4" name="文本框 3"/>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2" name="组合 41"/>
          <p:cNvGrpSpPr/>
          <p:nvPr/>
        </p:nvGrpSpPr>
        <p:grpSpPr>
          <a:xfrm>
            <a:off x="977265" y="4271645"/>
            <a:ext cx="2901950" cy="2174875"/>
            <a:chOff x="1451" y="13095"/>
            <a:chExt cx="4570" cy="3425"/>
          </a:xfrm>
        </p:grpSpPr>
        <p:cxnSp>
          <p:nvCxnSpPr>
            <p:cNvPr id="45" name="直接连接符 44"/>
            <p:cNvCxnSpPr/>
            <p:nvPr/>
          </p:nvCxnSpPr>
          <p:spPr>
            <a:xfrm flipH="1">
              <a:off x="5207" y="15276"/>
              <a:ext cx="815" cy="572"/>
            </a:xfrm>
            <a:prstGeom prst="line">
              <a:avLst/>
            </a:prstGeom>
            <a:noFill/>
            <a:ln w="12700" cap="flat" cmpd="sng" algn="ctr">
              <a:solidFill>
                <a:schemeClr val="accent1"/>
              </a:solidFill>
              <a:prstDash val="solid"/>
              <a:miter lim="800000"/>
              <a:headEnd type="oval"/>
              <a:tailEnd type="none"/>
            </a:ln>
            <a:effectLst/>
          </p:spPr>
        </p:cxnSp>
        <p:cxnSp>
          <p:nvCxnSpPr>
            <p:cNvPr id="46" name="直接连接符 45"/>
            <p:cNvCxnSpPr/>
            <p:nvPr/>
          </p:nvCxnSpPr>
          <p:spPr>
            <a:xfrm flipV="1">
              <a:off x="1664" y="15848"/>
              <a:ext cx="3543" cy="15"/>
            </a:xfrm>
            <a:prstGeom prst="line">
              <a:avLst/>
            </a:prstGeom>
            <a:noFill/>
            <a:ln w="12700" cap="flat" cmpd="sng" algn="ctr">
              <a:solidFill>
                <a:schemeClr val="accent1"/>
              </a:solidFill>
              <a:prstDash val="solid"/>
              <a:miter lim="800000"/>
              <a:headEnd type="oval"/>
              <a:tailEnd type="none"/>
            </a:ln>
            <a:effectLst/>
          </p:spPr>
        </p:cxnSp>
        <p:sp>
          <p:nvSpPr>
            <p:cNvPr id="47" name="文本框 46"/>
            <p:cNvSpPr txBox="1"/>
            <p:nvPr/>
          </p:nvSpPr>
          <p:spPr>
            <a:xfrm>
              <a:off x="1664" y="15276"/>
              <a:ext cx="3640" cy="531"/>
            </a:xfrm>
            <a:prstGeom prst="rect">
              <a:avLst/>
            </a:prstGeom>
            <a:noFill/>
          </p:spPr>
          <p:txBody>
            <a:bodyPr wrap="square" rtlCol="0">
              <a:spAutoFit/>
            </a:bodyPr>
            <a:lstStyle/>
            <a:p>
              <a:pPr algn="ctr"/>
              <a:r>
                <a:rPr lang="en-US" altLang="zh-CN" sz="1600" b="1">
                  <a:solidFill>
                    <a:schemeClr val="accent1"/>
                  </a:solidFill>
                  <a:latin typeface="微软雅黑" panose="020B0503020204020204" charset="-122"/>
                  <a:ea typeface="微软雅黑" panose="020B0503020204020204" charset="-122"/>
                  <a:cs typeface="微软雅黑" panose="020B0503020204020204" charset="-122"/>
                </a:rPr>
                <a:t>Action</a:t>
              </a:r>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（行动改进）</a:t>
              </a:r>
              <a:r>
                <a:rPr lang="en-US" altLang="zh-CN" sz="1600" b="1">
                  <a:solidFill>
                    <a:schemeClr val="accent1"/>
                  </a:solidFill>
                  <a:latin typeface="微软雅黑" panose="020B0503020204020204" charset="-122"/>
                  <a:ea typeface="微软雅黑" panose="020B0503020204020204" charset="-122"/>
                  <a:cs typeface="微软雅黑" panose="020B0503020204020204" charset="-122"/>
                </a:rPr>
                <a:t>​</a:t>
              </a:r>
              <a:endParaRPr lang="en-US" altLang="zh-CN" sz="16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8" name="Lorem Ipsum has"/>
            <p:cNvSpPr txBox="1"/>
            <p:nvPr/>
          </p:nvSpPr>
          <p:spPr>
            <a:xfrm>
              <a:off x="1451" y="13095"/>
              <a:ext cx="3998" cy="2181"/>
            </a:xfrm>
            <a:prstGeom prst="rect">
              <a:avLst/>
            </a:prstGeom>
            <a:ln w="12700">
              <a:miter lim="400000"/>
            </a:ln>
          </p:spPr>
          <p:txBody>
            <a:bodyPr wrap="square" lIns="25400" tIns="25400" rIns="25400" bIns="25400">
              <a:noAutofit/>
            </a:bodyPr>
            <a:lstStyle>
              <a:lvl1pPr algn="l">
                <a:defRPr sz="2000" b="0">
                  <a:solidFill>
                    <a:srgbClr val="F7F6F6"/>
                  </a:solidFill>
                  <a:latin typeface="Barlow Medium" panose="00000600000000000000"/>
                  <a:ea typeface="Barlow Medium" panose="00000600000000000000"/>
                  <a:cs typeface="Barlow Medium" panose="00000600000000000000"/>
                  <a:sym typeface="Barlow Medium" panose="00000600000000000000"/>
                </a:defRPr>
              </a:lvl1pPr>
            </a:lstStyle>
            <a:p>
              <a:pPr algn="l"/>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聚焦自身可改进的下一步动作</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gn="l">
                <a:buFont typeface="Wingdings" panose="05000000000000000000" charset="0"/>
                <a:buChar char="l"/>
              </a:pPr>
              <a:r>
                <a:rPr lang="zh-CN" altLang="en-US" sz="14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提问：</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下一步我能为此做些什么？</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gn="l">
                <a:buFont typeface="Wingdings" panose="05000000000000000000" charset="0"/>
                <a:buChar char="l"/>
              </a:pPr>
              <a:r>
                <a:rPr lang="zh-CN" altLang="en-US" sz="14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操作：</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聚焦自己可控制的行动，如在职场遭遇矛盾，与老板沟通、调整工作方法。</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49" name="文本框 48"/>
            <p:cNvSpPr txBox="1"/>
            <p:nvPr/>
          </p:nvSpPr>
          <p:spPr>
            <a:xfrm>
              <a:off x="2365" y="15990"/>
              <a:ext cx="2239" cy="531"/>
            </a:xfrm>
            <a:prstGeom prst="rect">
              <a:avLst/>
            </a:prstGeom>
            <a:noFill/>
          </p:spPr>
          <p:txBody>
            <a:bodyPr wrap="square" rtlCol="0">
              <a:spAutoFit/>
            </a:bodyPr>
            <a:lstStyle/>
            <a:p>
              <a:pPr algn="ctr"/>
              <a:r>
                <a:rPr lang="zh-CN" sz="1600" b="1">
                  <a:solidFill>
                    <a:schemeClr val="accent1"/>
                  </a:solidFill>
                  <a:latin typeface="微软雅黑" panose="020B0503020204020204" charset="-122"/>
                  <a:ea typeface="微软雅黑" panose="020B0503020204020204" charset="-122"/>
                  <a:cs typeface="微软雅黑" panose="020B0503020204020204" charset="-122"/>
                </a:rPr>
                <a:t>（第四问）</a:t>
              </a:r>
              <a:endParaRPr lang="zh-CN" sz="1600" b="1">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5" name="标题 2"/>
          <p:cNvSpPr>
            <a:spLocks noGrp="1"/>
          </p:cNvSpPr>
          <p:nvPr/>
        </p:nvSpPr>
        <p:spPr>
          <a:xfrm>
            <a:off x="1105535" y="347980"/>
            <a:ext cx="7137400" cy="396875"/>
          </a:xfrm>
          <a:prstGeom prst="rect">
            <a:avLst/>
          </a:prstGeom>
          <a:ln w="12700">
            <a:miter lim="400000"/>
          </a:ln>
        </p:spPr>
        <p:txBody>
          <a:bodyPr vert="horz" wrap="square" lIns="25400" tIns="25400" rIns="25400" bIns="25400" rtlCol="0" anchor="ctr">
            <a:spAutoFit/>
          </a:bodyPr>
          <a:lstStyle>
            <a:lvl1pPr algn="l" defTabSz="914400" rtl="0" eaLnBrk="1" latinLnBrk="0" hangingPunct="1">
              <a:lnSpc>
                <a:spcPct val="90000"/>
              </a:lnSpc>
              <a:spcBef>
                <a:spcPct val="0"/>
              </a:spcBef>
              <a:buNone/>
              <a:defRPr kumimoji="0" lang="zh-CN" altLang="en-US" sz="2800" b="1" u="none" strike="noStrike" kern="1200" cap="none" spc="0" normalizeH="0" baseline="0" dirty="0">
                <a:ln>
                  <a:noFill/>
                </a:ln>
                <a:solidFill>
                  <a:schemeClr val="accent1"/>
                </a:solidFill>
                <a:effectLst>
                  <a:outerShdw blurRad="187896" dist="38100" dir="2700000" algn="tl" rotWithShape="0">
                    <a:srgbClr val="1C2952">
                      <a:alpha val="6000"/>
                    </a:srgbClr>
                  </a:outerShdw>
                </a:effectLst>
                <a:uLnTx/>
                <a:uFillTx/>
                <a:latin typeface="HONOR Sans CN" panose="05000200000000000000" charset="-122"/>
                <a:ea typeface="HONOR Sans CN" panose="05000200000000000000" charset="-122"/>
                <a:cs typeface="OPPOSans H" panose="00020600040101010101" pitchFamily="18" charset="-122"/>
              </a:defRPr>
            </a:lvl1pPr>
          </a:lstStyle>
          <a:p>
            <a:pPr algn="l"/>
            <a:r>
              <a:rPr sz="2500">
                <a:solidFill>
                  <a:schemeClr val="accent1"/>
                </a:solidFill>
                <a:effectLst/>
                <a:latin typeface="微软雅黑" panose="020B0503020204020204" charset="-122"/>
                <a:ea typeface="微软雅黑" panose="020B0503020204020204" charset="-122"/>
                <a:cs typeface="微软雅黑" panose="020B0503020204020204" charset="-122"/>
              </a:rPr>
              <a:t>业务框架</a:t>
            </a:r>
            <a:r>
              <a:rPr lang="en-US" altLang="zh-CN" sz="2500">
                <a:solidFill>
                  <a:schemeClr val="accent1"/>
                </a:solidFill>
                <a:effectLst/>
                <a:latin typeface="微软雅黑" panose="020B0503020204020204" charset="-122"/>
                <a:ea typeface="微软雅黑" panose="020B0503020204020204" charset="-122"/>
                <a:cs typeface="微软雅黑" panose="020B0503020204020204" charset="-122"/>
              </a:rPr>
              <a:t>-</a:t>
            </a:r>
            <a:r>
              <a:rPr sz="2500">
                <a:solidFill>
                  <a:schemeClr val="accent1"/>
                </a:solidFill>
                <a:effectLst/>
                <a:latin typeface="微软雅黑" panose="020B0503020204020204" charset="-122"/>
                <a:ea typeface="微软雅黑" panose="020B0503020204020204" charset="-122"/>
                <a:cs typeface="微软雅黑" panose="020B0503020204020204" charset="-122"/>
              </a:rPr>
              <a:t>循环逻辑架构 | </a:t>
            </a:r>
            <a:r>
              <a:rPr lang="en-US" altLang="zh-CN" sz="2500">
                <a:solidFill>
                  <a:schemeClr val="tx2"/>
                </a:solidFill>
                <a:effectLst/>
                <a:latin typeface="微软雅黑" panose="020B0503020204020204" charset="-122"/>
                <a:ea typeface="微软雅黑" panose="020B0503020204020204" charset="-122"/>
                <a:cs typeface="微软雅黑" panose="020B0503020204020204" charset="-122"/>
              </a:rPr>
              <a:t>EETA</a:t>
            </a:r>
            <a:r>
              <a:rPr lang="zh-CN" altLang="en-US" sz="2500">
                <a:solidFill>
                  <a:schemeClr val="tx2"/>
                </a:solidFill>
                <a:effectLst/>
                <a:latin typeface="微软雅黑" panose="020B0503020204020204" charset="-122"/>
                <a:ea typeface="微软雅黑" panose="020B0503020204020204" charset="-122"/>
                <a:cs typeface="微软雅黑" panose="020B0503020204020204" charset="-122"/>
              </a:rPr>
              <a:t>情绪脱困思维</a:t>
            </a:r>
            <a:endParaRPr lang="zh-CN" altLang="en-US" sz="2500">
              <a:solidFill>
                <a:schemeClr val="tx2"/>
              </a:solidFill>
              <a:effectLst/>
              <a:latin typeface="微软雅黑" panose="020B0503020204020204" charset="-122"/>
              <a:ea typeface="微软雅黑" panose="020B0503020204020204" charset="-122"/>
              <a:cs typeface="微软雅黑" panose="020B0503020204020204" charset="-122"/>
            </a:endParaRPr>
          </a:p>
        </p:txBody>
      </p:sp>
      <p:pic>
        <p:nvPicPr>
          <p:cNvPr id="10" name="图片 9" descr="屋顶资源管理"/>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355600" y="186055"/>
            <a:ext cx="549910" cy="549910"/>
          </a:xfrm>
          <a:prstGeom prst="rect">
            <a:avLst/>
          </a:prstGeom>
        </p:spPr>
      </p:pic>
      <p:sp>
        <p:nvSpPr>
          <p:cNvPr id="3" name="Circle"/>
          <p:cNvSpPr/>
          <p:nvPr/>
        </p:nvSpPr>
        <p:spPr>
          <a:xfrm>
            <a:off x="4053840" y="1811020"/>
            <a:ext cx="3882390" cy="3883025"/>
          </a:xfrm>
          <a:prstGeom prst="ellipse">
            <a:avLst/>
          </a:prstGeom>
          <a:ln w="25400">
            <a:solidFill>
              <a:schemeClr val="accent1">
                <a:lumMod val="40000"/>
                <a:lumOff val="60000"/>
                <a:alpha val="70000"/>
              </a:schemeClr>
            </a:solidFill>
            <a:custDash>
              <a:ds d="200000" sp="200000"/>
            </a:custDash>
            <a:miter lim="400000"/>
          </a:ln>
        </p:spPr>
        <p:txBody>
          <a:bodyPr lIns="0" tIns="0" rIns="0" bIns="0" anchor="ctr"/>
          <a:lstStyle/>
          <a:p>
            <a:pPr algn="ctr"/>
            <a:endParaRPr sz="900">
              <a:latin typeface="微软雅黑" panose="020B0503020204020204" charset="-122"/>
              <a:cs typeface="微软雅黑" panose="020B0503020204020204" charset="-122"/>
            </a:endParaRPr>
          </a:p>
        </p:txBody>
      </p:sp>
      <p:sp>
        <p:nvSpPr>
          <p:cNvPr id="6" name="Circle"/>
          <p:cNvSpPr/>
          <p:nvPr/>
        </p:nvSpPr>
        <p:spPr>
          <a:xfrm>
            <a:off x="4347845" y="2105025"/>
            <a:ext cx="3294380" cy="3294380"/>
          </a:xfrm>
          <a:prstGeom prst="ellipse">
            <a:avLst/>
          </a:prstGeom>
          <a:gradFill flip="none" rotWithShape="1">
            <a:gsLst>
              <a:gs pos="0">
                <a:schemeClr val="accent1">
                  <a:lumMod val="60000"/>
                  <a:lumOff val="40000"/>
                  <a:alpha val="70000"/>
                </a:schemeClr>
              </a:gs>
              <a:gs pos="100000">
                <a:schemeClr val="accent1">
                  <a:lumMod val="60000"/>
                  <a:lumOff val="40000"/>
                  <a:alpha val="0"/>
                </a:schemeClr>
              </a:gs>
            </a:gsLst>
            <a:path path="circle">
              <a:fillToRect l="37721" t="-19636" r="62278" b="119636"/>
            </a:path>
            <a:tileRect/>
          </a:gradFill>
          <a:ln w="12700">
            <a:solidFill>
              <a:schemeClr val="accent1">
                <a:lumMod val="60000"/>
                <a:lumOff val="40000"/>
              </a:schemeClr>
            </a:solidFill>
            <a:miter lim="400000"/>
          </a:ln>
        </p:spPr>
        <p:txBody>
          <a:bodyPr lIns="0" tIns="0" rIns="0" bIns="0" anchor="ctr"/>
          <a:lstStyle/>
          <a:p>
            <a:pPr algn="ctr"/>
            <a:endParaRPr sz="900">
              <a:latin typeface="微软雅黑" panose="020B0503020204020204" charset="-122"/>
              <a:cs typeface="微软雅黑" panose="020B0503020204020204" charset="-122"/>
            </a:endParaRPr>
          </a:p>
        </p:txBody>
      </p:sp>
      <p:sp>
        <p:nvSpPr>
          <p:cNvPr id="12" name="Circle"/>
          <p:cNvSpPr/>
          <p:nvPr/>
        </p:nvSpPr>
        <p:spPr>
          <a:xfrm>
            <a:off x="3781425" y="4126230"/>
            <a:ext cx="1605280" cy="1605280"/>
          </a:xfrm>
          <a:prstGeom prst="ellipse">
            <a:avLst/>
          </a:prstGeom>
          <a:solidFill>
            <a:schemeClr val="accent1">
              <a:lumMod val="60000"/>
              <a:lumOff val="40000"/>
              <a:alpha val="15000"/>
            </a:schemeClr>
          </a:solidFill>
          <a:ln w="12700" cap="flat">
            <a:noFill/>
            <a:miter lim="400000"/>
          </a:ln>
          <a:effectLst/>
        </p:spPr>
        <p:txBody>
          <a:bodyPr wrap="square" lIns="0" tIns="0" rIns="0" bIns="0" numCol="1" anchor="ctr">
            <a:noAutofit/>
          </a:bodyPr>
          <a:lstStyle/>
          <a:p>
            <a:pPr lvl="0" algn="ctr">
              <a:buClrTx/>
              <a:buSzTx/>
              <a:buFontTx/>
            </a:pPr>
            <a:endParaRPr sz="900">
              <a:latin typeface="微软雅黑" panose="020B0503020204020204" charset="-122"/>
              <a:cs typeface="微软雅黑" panose="020B0503020204020204" charset="-122"/>
              <a:sym typeface="微软雅黑" panose="020B0503020204020204" charset="-122"/>
            </a:endParaRPr>
          </a:p>
        </p:txBody>
      </p:sp>
      <p:sp>
        <p:nvSpPr>
          <p:cNvPr id="13" name="Circle"/>
          <p:cNvSpPr/>
          <p:nvPr/>
        </p:nvSpPr>
        <p:spPr>
          <a:xfrm>
            <a:off x="3781425" y="4126230"/>
            <a:ext cx="1605280" cy="1605280"/>
          </a:xfrm>
          <a:prstGeom prst="ellipse">
            <a:avLst/>
          </a:prstGeom>
          <a:noFill/>
          <a:ln w="25400" cap="flat">
            <a:solidFill>
              <a:schemeClr val="accent1">
                <a:lumMod val="60000"/>
                <a:lumOff val="40000"/>
                <a:alpha val="65000"/>
              </a:schemeClr>
            </a:solidFill>
            <a:prstDash val="solid"/>
            <a:round/>
          </a:ln>
          <a:effectLst/>
        </p:spPr>
        <p:txBody>
          <a:bodyPr wrap="square" lIns="0" tIns="0" rIns="0" bIns="0" numCol="1" anchor="ctr">
            <a:noAutofit/>
          </a:bodyPr>
          <a:lstStyle/>
          <a:p>
            <a:pPr lvl="0" algn="ctr">
              <a:buClrTx/>
              <a:buSzTx/>
              <a:buFontTx/>
            </a:pPr>
            <a:endParaRPr sz="900">
              <a:latin typeface="微软雅黑" panose="020B0503020204020204" charset="-122"/>
              <a:cs typeface="微软雅黑" panose="020B0503020204020204" charset="-122"/>
              <a:sym typeface="微软雅黑" panose="020B0503020204020204" charset="-122"/>
            </a:endParaRPr>
          </a:p>
        </p:txBody>
      </p:sp>
      <p:sp>
        <p:nvSpPr>
          <p:cNvPr id="14" name="Circle"/>
          <p:cNvSpPr/>
          <p:nvPr/>
        </p:nvSpPr>
        <p:spPr>
          <a:xfrm>
            <a:off x="6598285" y="1784350"/>
            <a:ext cx="1605280" cy="1605280"/>
          </a:xfrm>
          <a:prstGeom prst="ellipse">
            <a:avLst/>
          </a:prstGeom>
          <a:solidFill>
            <a:schemeClr val="accent1">
              <a:lumMod val="60000"/>
              <a:lumOff val="40000"/>
              <a:alpha val="15000"/>
            </a:schemeClr>
          </a:solidFill>
          <a:ln w="12700" cap="flat">
            <a:noFill/>
            <a:miter lim="400000"/>
          </a:ln>
          <a:effectLst/>
        </p:spPr>
        <p:txBody>
          <a:bodyPr wrap="square" lIns="0" tIns="0" rIns="0" bIns="0" numCol="1" anchor="ctr">
            <a:noAutofit/>
          </a:bodyPr>
          <a:lstStyle/>
          <a:p>
            <a:pPr lvl="0" algn="ctr">
              <a:buClrTx/>
              <a:buSzTx/>
              <a:buFontTx/>
            </a:pPr>
            <a:endParaRPr sz="900">
              <a:latin typeface="微软雅黑" panose="020B0503020204020204" charset="-122"/>
              <a:cs typeface="微软雅黑" panose="020B0503020204020204" charset="-122"/>
              <a:sym typeface="微软雅黑" panose="020B0503020204020204" charset="-122"/>
            </a:endParaRPr>
          </a:p>
        </p:txBody>
      </p:sp>
      <p:sp>
        <p:nvSpPr>
          <p:cNvPr id="15" name="Circle"/>
          <p:cNvSpPr/>
          <p:nvPr/>
        </p:nvSpPr>
        <p:spPr>
          <a:xfrm>
            <a:off x="6598285" y="1784350"/>
            <a:ext cx="1605280" cy="1605280"/>
          </a:xfrm>
          <a:prstGeom prst="ellipse">
            <a:avLst/>
          </a:prstGeom>
          <a:noFill/>
          <a:ln w="25400" cap="flat">
            <a:solidFill>
              <a:schemeClr val="accent1">
                <a:lumMod val="60000"/>
                <a:lumOff val="40000"/>
                <a:alpha val="65000"/>
              </a:schemeClr>
            </a:solidFill>
            <a:prstDash val="solid"/>
            <a:round/>
          </a:ln>
          <a:effectLst/>
        </p:spPr>
        <p:txBody>
          <a:bodyPr wrap="square" lIns="0" tIns="0" rIns="0" bIns="0" numCol="1" anchor="ctr">
            <a:noAutofit/>
          </a:bodyPr>
          <a:lstStyle/>
          <a:p>
            <a:pPr lvl="0" algn="ctr">
              <a:buClrTx/>
              <a:buSzTx/>
              <a:buFontTx/>
            </a:pPr>
            <a:endParaRPr sz="900">
              <a:latin typeface="微软雅黑" panose="020B0503020204020204" charset="-122"/>
              <a:cs typeface="微软雅黑" panose="020B0503020204020204" charset="-122"/>
              <a:sym typeface="微软雅黑" panose="020B0503020204020204" charset="-122"/>
            </a:endParaRPr>
          </a:p>
        </p:txBody>
      </p:sp>
      <p:sp>
        <p:nvSpPr>
          <p:cNvPr id="16" name="Circle"/>
          <p:cNvSpPr/>
          <p:nvPr/>
        </p:nvSpPr>
        <p:spPr>
          <a:xfrm>
            <a:off x="6598285" y="4126230"/>
            <a:ext cx="1605280" cy="1605280"/>
          </a:xfrm>
          <a:prstGeom prst="ellipse">
            <a:avLst/>
          </a:prstGeom>
          <a:solidFill>
            <a:schemeClr val="accent5">
              <a:alpha val="15000"/>
            </a:schemeClr>
          </a:solidFill>
          <a:ln w="12700" cap="flat">
            <a:noFill/>
            <a:miter lim="400000"/>
          </a:ln>
          <a:effectLst/>
        </p:spPr>
        <p:txBody>
          <a:bodyPr wrap="square" lIns="0" tIns="0" rIns="0" bIns="0" numCol="1" anchor="ctr">
            <a:noAutofit/>
          </a:bodyPr>
          <a:lstStyle/>
          <a:p>
            <a:pPr lvl="0" algn="ctr">
              <a:buClrTx/>
              <a:buSzTx/>
              <a:buFontTx/>
            </a:pPr>
            <a:endParaRPr sz="900">
              <a:latin typeface="微软雅黑" panose="020B0503020204020204" charset="-122"/>
              <a:cs typeface="微软雅黑" panose="020B0503020204020204" charset="-122"/>
              <a:sym typeface="微软雅黑" panose="020B0503020204020204" charset="-122"/>
            </a:endParaRPr>
          </a:p>
        </p:txBody>
      </p:sp>
      <p:sp>
        <p:nvSpPr>
          <p:cNvPr id="17" name="Circle"/>
          <p:cNvSpPr/>
          <p:nvPr/>
        </p:nvSpPr>
        <p:spPr>
          <a:xfrm>
            <a:off x="6598285" y="4126230"/>
            <a:ext cx="1605280" cy="1605280"/>
          </a:xfrm>
          <a:prstGeom prst="ellipse">
            <a:avLst/>
          </a:prstGeom>
          <a:noFill/>
          <a:ln w="25400" cap="flat">
            <a:solidFill>
              <a:schemeClr val="accent5">
                <a:alpha val="65000"/>
              </a:schemeClr>
            </a:solidFill>
            <a:prstDash val="solid"/>
            <a:round/>
          </a:ln>
          <a:effectLst/>
        </p:spPr>
        <p:txBody>
          <a:bodyPr wrap="square" lIns="0" tIns="0" rIns="0" bIns="0" numCol="1" anchor="ctr">
            <a:noAutofit/>
          </a:bodyPr>
          <a:lstStyle/>
          <a:p>
            <a:pPr lvl="0" algn="ctr">
              <a:buClrTx/>
              <a:buSzTx/>
              <a:buFontTx/>
            </a:pPr>
            <a:endParaRPr sz="900">
              <a:latin typeface="微软雅黑" panose="020B0503020204020204" charset="-122"/>
              <a:cs typeface="微软雅黑" panose="020B0503020204020204" charset="-122"/>
              <a:sym typeface="微软雅黑" panose="020B0503020204020204" charset="-122"/>
            </a:endParaRPr>
          </a:p>
        </p:txBody>
      </p:sp>
      <p:sp>
        <p:nvSpPr>
          <p:cNvPr id="20"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344035" y="4439285"/>
            <a:ext cx="480695" cy="512445"/>
          </a:xfrm>
          <a:prstGeom prst="rect">
            <a:avLst/>
          </a:prstGeom>
          <a:noFill/>
          <a:ln w="12700" cap="flat">
            <a:noFill/>
            <a:miter lim="400000"/>
          </a:ln>
          <a:effectLst/>
        </p:spPr>
        <p:txBody>
          <a:bodyPr wrap="square" lIns="25400" tIns="25400" rIns="25400" bIns="25400" numCol="1" anchor="t">
            <a:spAutoFit/>
          </a:bodyPr>
          <a:lstStyle>
            <a:lvl1pPr>
              <a:defRPr sz="5000">
                <a:solidFill>
                  <a:srgbClr val="0A3431"/>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en-US" sz="30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A</a:t>
            </a:r>
            <a:endParaRPr lang="en-US" sz="30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957320" y="4897755"/>
            <a:ext cx="1253490" cy="434975"/>
          </a:xfrm>
          <a:prstGeom prst="rect">
            <a:avLst/>
          </a:prstGeom>
          <a:noFill/>
          <a:ln w="12700" cap="flat">
            <a:noFill/>
            <a:miter lim="400000"/>
          </a:ln>
          <a:effectLst/>
        </p:spPr>
        <p:txBody>
          <a:bodyPr wrap="square" lIns="25400" tIns="25400" rIns="25400" bIns="25400" numCol="1" anchor="t">
            <a:spAutoFit/>
          </a:bodyPr>
          <a:lstStyle>
            <a:lvl1pPr>
              <a:defRPr sz="5000">
                <a:solidFill>
                  <a:srgbClr val="0A3431"/>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250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行动</a:t>
            </a:r>
            <a:endParaRPr lang="zh-CN" altLang="en-US" sz="250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2"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7160895" y="2120900"/>
            <a:ext cx="480695" cy="512445"/>
          </a:xfrm>
          <a:prstGeom prst="rect">
            <a:avLst/>
          </a:prstGeom>
          <a:noFill/>
          <a:ln w="12700" cap="flat">
            <a:noFill/>
            <a:miter lim="400000"/>
          </a:ln>
          <a:effectLst/>
        </p:spPr>
        <p:txBody>
          <a:bodyPr wrap="square" lIns="25400" tIns="25400" rIns="25400" bIns="25400" numCol="1" anchor="t">
            <a:spAutoFit/>
          </a:bodyPr>
          <a:lstStyle>
            <a:lvl1pPr>
              <a:defRPr sz="5000">
                <a:solidFill>
                  <a:srgbClr val="0A3431"/>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en-US" sz="30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E</a:t>
            </a:r>
            <a:endParaRPr lang="en-US" sz="30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3"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774180" y="2579370"/>
            <a:ext cx="1253490" cy="434975"/>
          </a:xfrm>
          <a:prstGeom prst="rect">
            <a:avLst/>
          </a:prstGeom>
          <a:noFill/>
          <a:ln w="12700" cap="flat">
            <a:noFill/>
            <a:miter lim="400000"/>
          </a:ln>
          <a:effectLst/>
        </p:spPr>
        <p:txBody>
          <a:bodyPr wrap="square" lIns="25400" tIns="25400" rIns="25400" bIns="25400" numCol="1" anchor="t">
            <a:spAutoFit/>
          </a:bodyPr>
          <a:lstStyle>
            <a:lvl1pPr>
              <a:defRPr sz="5000">
                <a:solidFill>
                  <a:srgbClr val="0A3431"/>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250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事件</a:t>
            </a:r>
            <a:endParaRPr lang="zh-CN" altLang="en-US" sz="250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4"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7160895" y="4416425"/>
            <a:ext cx="480695" cy="512445"/>
          </a:xfrm>
          <a:prstGeom prst="rect">
            <a:avLst/>
          </a:prstGeom>
          <a:noFill/>
          <a:ln w="12700" cap="flat">
            <a:noFill/>
            <a:miter lim="400000"/>
          </a:ln>
          <a:effectLst/>
        </p:spPr>
        <p:txBody>
          <a:bodyPr wrap="square" lIns="25400" tIns="25400" rIns="25400" bIns="25400" numCol="1" anchor="t">
            <a:spAutoFit/>
          </a:bodyPr>
          <a:lstStyle>
            <a:lvl1pPr>
              <a:defRPr sz="5000">
                <a:solidFill>
                  <a:srgbClr val="0A3431"/>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en-US" sz="30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T</a:t>
            </a:r>
            <a:endParaRPr lang="en-US" sz="3000" b="1"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5"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6774180" y="4874895"/>
            <a:ext cx="1253490" cy="434975"/>
          </a:xfrm>
          <a:prstGeom prst="rect">
            <a:avLst/>
          </a:prstGeom>
          <a:noFill/>
          <a:ln w="12700" cap="flat">
            <a:noFill/>
            <a:miter lim="400000"/>
          </a:ln>
          <a:effectLst/>
        </p:spPr>
        <p:txBody>
          <a:bodyPr wrap="square" lIns="25400" tIns="25400" rIns="25400" bIns="25400" numCol="1" anchor="t">
            <a:spAutoFit/>
          </a:bodyPr>
          <a:lstStyle>
            <a:lvl1pPr>
              <a:defRPr sz="5000">
                <a:solidFill>
                  <a:srgbClr val="0A3431"/>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2500"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rPr>
              <a:t>目标</a:t>
            </a:r>
            <a:endParaRPr lang="zh-CN" altLang="en-US" sz="2500" dirty="0">
              <a:solidFill>
                <a:schemeClr val="accent5"/>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26" name="Circle"/>
          <p:cNvSpPr/>
          <p:nvPr/>
        </p:nvSpPr>
        <p:spPr>
          <a:xfrm>
            <a:off x="7778115" y="1848485"/>
            <a:ext cx="336550" cy="336550"/>
          </a:xfrm>
          <a:prstGeom prst="ellipse">
            <a:avLst/>
          </a:prstGeom>
          <a:solidFill>
            <a:schemeClr val="accent1"/>
          </a:solidFill>
          <a:ln w="12700" cap="flat">
            <a:noFill/>
            <a:miter lim="400000"/>
          </a:ln>
          <a:effectLst/>
        </p:spPr>
        <p:txBody>
          <a:bodyPr wrap="square" lIns="0" tIns="0" rIns="0" bIns="0" numCol="1" anchor="ctr">
            <a:noAutofit/>
          </a:bodyPr>
          <a:lstStyle/>
          <a:p>
            <a:pPr algn="ctr">
              <a:defRPr sz="3200">
                <a:solidFill>
                  <a:srgbClr val="FFFFFF"/>
                </a:solidFill>
              </a:defRPr>
            </a:pPr>
            <a:r>
              <a:rPr lang="en-US" sz="1600" b="1">
                <a:latin typeface="微软雅黑" panose="020B0503020204020204" charset="-122"/>
                <a:ea typeface="微软雅黑" panose="020B0503020204020204" charset="-122"/>
                <a:cs typeface="微软雅黑" panose="020B0503020204020204" charset="-122"/>
              </a:rPr>
              <a:t>2</a:t>
            </a:r>
            <a:endParaRPr lang="en-US" sz="1600" b="1">
              <a:latin typeface="微软雅黑" panose="020B0503020204020204" charset="-122"/>
              <a:ea typeface="微软雅黑" panose="020B0503020204020204" charset="-122"/>
              <a:cs typeface="微软雅黑" panose="020B0503020204020204" charset="-122"/>
            </a:endParaRPr>
          </a:p>
        </p:txBody>
      </p:sp>
      <p:sp>
        <p:nvSpPr>
          <p:cNvPr id="27" name="Circle"/>
          <p:cNvSpPr/>
          <p:nvPr/>
        </p:nvSpPr>
        <p:spPr>
          <a:xfrm>
            <a:off x="7778115" y="5344160"/>
            <a:ext cx="336550" cy="336550"/>
          </a:xfrm>
          <a:prstGeom prst="ellipse">
            <a:avLst/>
          </a:prstGeom>
          <a:solidFill>
            <a:schemeClr val="accent5"/>
          </a:solidFill>
          <a:ln w="12700" cap="flat">
            <a:noFill/>
            <a:miter lim="400000"/>
          </a:ln>
          <a:effectLst/>
        </p:spPr>
        <p:txBody>
          <a:bodyPr wrap="square" lIns="0" tIns="0" rIns="0" bIns="0" numCol="1" anchor="ctr">
            <a:noAutofit/>
          </a:bodyPr>
          <a:lstStyle/>
          <a:p>
            <a:pPr algn="ctr">
              <a:defRPr sz="3200">
                <a:solidFill>
                  <a:srgbClr val="FFFFFF"/>
                </a:solidFill>
              </a:defRPr>
            </a:pPr>
            <a:r>
              <a:rPr lang="en-US" sz="1600" b="1">
                <a:latin typeface="微软雅黑" panose="020B0503020204020204" charset="-122"/>
                <a:ea typeface="微软雅黑" panose="020B0503020204020204" charset="-122"/>
                <a:cs typeface="微软雅黑" panose="020B0503020204020204" charset="-122"/>
              </a:rPr>
              <a:t>3</a:t>
            </a:r>
            <a:endParaRPr lang="en-US" sz="1600" b="1">
              <a:latin typeface="微软雅黑" panose="020B0503020204020204" charset="-122"/>
              <a:ea typeface="微软雅黑" panose="020B0503020204020204" charset="-122"/>
              <a:cs typeface="微软雅黑" panose="020B0503020204020204" charset="-122"/>
            </a:endParaRPr>
          </a:p>
        </p:txBody>
      </p:sp>
      <p:sp>
        <p:nvSpPr>
          <p:cNvPr id="28" name="Circle"/>
          <p:cNvSpPr/>
          <p:nvPr/>
        </p:nvSpPr>
        <p:spPr>
          <a:xfrm>
            <a:off x="3879850" y="5344160"/>
            <a:ext cx="336550" cy="336550"/>
          </a:xfrm>
          <a:prstGeom prst="ellipse">
            <a:avLst/>
          </a:prstGeom>
          <a:solidFill>
            <a:schemeClr val="accent1"/>
          </a:solidFill>
          <a:ln w="12700" cap="flat">
            <a:noFill/>
            <a:miter lim="400000"/>
          </a:ln>
          <a:effectLst/>
        </p:spPr>
        <p:txBody>
          <a:bodyPr wrap="square" lIns="0" tIns="0" rIns="0" bIns="0" numCol="1" anchor="ctr">
            <a:noAutofit/>
          </a:bodyPr>
          <a:lstStyle/>
          <a:p>
            <a:pPr algn="ctr">
              <a:defRPr sz="3200">
                <a:solidFill>
                  <a:srgbClr val="FFFFFF"/>
                </a:solidFill>
              </a:defRPr>
            </a:pPr>
            <a:r>
              <a:rPr lang="en-US" sz="1600" b="1">
                <a:latin typeface="微软雅黑" panose="020B0503020204020204" charset="-122"/>
                <a:ea typeface="微软雅黑" panose="020B0503020204020204" charset="-122"/>
                <a:cs typeface="微软雅黑" panose="020B0503020204020204" charset="-122"/>
              </a:rPr>
              <a:t>4</a:t>
            </a:r>
            <a:endParaRPr lang="en-US" sz="1600" b="1">
              <a:latin typeface="微软雅黑" panose="020B0503020204020204" charset="-122"/>
              <a:ea typeface="微软雅黑" panose="020B0503020204020204" charset="-122"/>
              <a:cs typeface="微软雅黑" panose="020B0503020204020204" charset="-122"/>
            </a:endParaRPr>
          </a:p>
        </p:txBody>
      </p:sp>
      <p:cxnSp>
        <p:nvCxnSpPr>
          <p:cNvPr id="29" name="直接连接符 28"/>
          <p:cNvCxnSpPr/>
          <p:nvPr/>
        </p:nvCxnSpPr>
        <p:spPr>
          <a:xfrm>
            <a:off x="8138160" y="5656580"/>
            <a:ext cx="517525" cy="363220"/>
          </a:xfrm>
          <a:prstGeom prst="line">
            <a:avLst/>
          </a:prstGeom>
          <a:noFill/>
          <a:ln w="12700" cap="flat" cmpd="sng" algn="ctr">
            <a:solidFill>
              <a:schemeClr val="accent5"/>
            </a:solidFill>
            <a:prstDash val="solid"/>
            <a:miter lim="800000"/>
            <a:headEnd type="oval"/>
            <a:tailEnd type="none"/>
          </a:ln>
          <a:effectLst/>
        </p:spPr>
      </p:cxnSp>
      <p:cxnSp>
        <p:nvCxnSpPr>
          <p:cNvPr id="30" name="直接连接符 29"/>
          <p:cNvCxnSpPr/>
          <p:nvPr/>
        </p:nvCxnSpPr>
        <p:spPr>
          <a:xfrm flipH="1" flipV="1">
            <a:off x="8655685" y="6019800"/>
            <a:ext cx="2249805" cy="9525"/>
          </a:xfrm>
          <a:prstGeom prst="line">
            <a:avLst/>
          </a:prstGeom>
          <a:noFill/>
          <a:ln w="12700" cap="flat" cmpd="sng" algn="ctr">
            <a:solidFill>
              <a:schemeClr val="accent5"/>
            </a:solidFill>
            <a:prstDash val="solid"/>
            <a:miter lim="800000"/>
            <a:headEnd type="oval"/>
            <a:tailEnd type="none"/>
          </a:ln>
          <a:effectLst/>
        </p:spPr>
      </p:cxnSp>
      <p:sp>
        <p:nvSpPr>
          <p:cNvPr id="31" name="文本框 30"/>
          <p:cNvSpPr txBox="1"/>
          <p:nvPr/>
        </p:nvSpPr>
        <p:spPr>
          <a:xfrm flipH="1">
            <a:off x="8919210" y="5656580"/>
            <a:ext cx="1886585" cy="337185"/>
          </a:xfrm>
          <a:prstGeom prst="rect">
            <a:avLst/>
          </a:prstGeom>
          <a:noFill/>
        </p:spPr>
        <p:txBody>
          <a:bodyPr wrap="square" rtlCol="0">
            <a:spAutoFit/>
          </a:bodyPr>
          <a:lstStyle/>
          <a:p>
            <a:pPr algn="ctr"/>
            <a:r>
              <a:rPr lang="en-US" altLang="zh-CN" sz="1600" b="1">
                <a:solidFill>
                  <a:schemeClr val="accent5"/>
                </a:solidFill>
                <a:latin typeface="微软雅黑" panose="020B0503020204020204" charset="-122"/>
                <a:ea typeface="微软雅黑" panose="020B0503020204020204" charset="-122"/>
                <a:cs typeface="微软雅黑" panose="020B0503020204020204" charset="-122"/>
              </a:rPr>
              <a:t>Target</a:t>
            </a:r>
            <a:r>
              <a:rPr lang="zh-CN" altLang="en-US" sz="1600" b="1">
                <a:solidFill>
                  <a:schemeClr val="accent5"/>
                </a:solidFill>
                <a:latin typeface="微软雅黑" panose="020B0503020204020204" charset="-122"/>
                <a:ea typeface="微软雅黑" panose="020B0503020204020204" charset="-122"/>
                <a:cs typeface="微软雅黑" panose="020B0503020204020204" charset="-122"/>
              </a:rPr>
              <a:t>（回溯目标）</a:t>
            </a:r>
            <a:r>
              <a:rPr lang="en-US" altLang="zh-CN" sz="1600" b="1">
                <a:solidFill>
                  <a:schemeClr val="accent5"/>
                </a:solidFill>
                <a:latin typeface="微软雅黑" panose="020B0503020204020204" charset="-122"/>
                <a:ea typeface="微软雅黑" panose="020B0503020204020204" charset="-122"/>
                <a:cs typeface="微软雅黑" panose="020B0503020204020204" charset="-122"/>
              </a:rPr>
              <a:t>​</a:t>
            </a:r>
            <a:endParaRPr lang="en-US" altLang="zh-CN"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32" name="Lorem Ipsum has"/>
          <p:cNvSpPr txBox="1"/>
          <p:nvPr/>
        </p:nvSpPr>
        <p:spPr>
          <a:xfrm flipH="1">
            <a:off x="8655685" y="4040505"/>
            <a:ext cx="2538730" cy="1384935"/>
          </a:xfrm>
          <a:prstGeom prst="rect">
            <a:avLst/>
          </a:prstGeom>
          <a:ln w="12700">
            <a:miter lim="400000"/>
          </a:ln>
        </p:spPr>
        <p:txBody>
          <a:bodyPr wrap="square" lIns="25400" tIns="25400" rIns="25400" bIns="25400">
            <a:noAutofit/>
          </a:bodyPr>
          <a:lstStyle>
            <a:lvl1pPr algn="l">
              <a:defRPr sz="2000" b="0">
                <a:solidFill>
                  <a:srgbClr val="F7F6F6"/>
                </a:solidFill>
                <a:latin typeface="Barlow Medium" panose="00000600000000000000"/>
                <a:ea typeface="Barlow Medium" panose="00000600000000000000"/>
                <a:cs typeface="Barlow Medium" panose="00000600000000000000"/>
                <a:sym typeface="Barlow Medium" panose="00000600000000000000"/>
              </a:defRPr>
            </a:lvl1pPr>
          </a:lstStyle>
          <a:p>
            <a:pPr algn="l"/>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回溯初心，明确未达成的期望</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gn="l">
              <a:buFont typeface="Wingdings" panose="05000000000000000000" charset="0"/>
              <a:buChar char="l"/>
            </a:pPr>
            <a:r>
              <a:rPr lang="zh-CN" altLang="en-US" sz="14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提问：</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我原本想要什么？未达成的期望是什么？</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gn="l">
              <a:buFont typeface="Wingdings" panose="05000000000000000000" charset="0"/>
              <a:buChar char="l"/>
            </a:pPr>
            <a:r>
              <a:rPr lang="zh-CN" altLang="en-US" sz="14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操作：</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区分外在目标</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（如升职加薪）和内在目标</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（如自我成长），避免因外界不可控因素陷入情绪泥潭。</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33" name="直接连接符 32"/>
          <p:cNvCxnSpPr/>
          <p:nvPr/>
        </p:nvCxnSpPr>
        <p:spPr>
          <a:xfrm flipV="1">
            <a:off x="8171180" y="1627505"/>
            <a:ext cx="539750" cy="321310"/>
          </a:xfrm>
          <a:prstGeom prst="line">
            <a:avLst/>
          </a:prstGeom>
          <a:noFill/>
          <a:ln w="12700" cap="flat" cmpd="sng" algn="ctr">
            <a:solidFill>
              <a:schemeClr val="accent1"/>
            </a:solidFill>
            <a:prstDash val="solid"/>
            <a:miter lim="800000"/>
            <a:headEnd type="oval"/>
            <a:tailEnd type="none"/>
          </a:ln>
          <a:effectLst/>
        </p:spPr>
      </p:cxnSp>
      <p:sp>
        <p:nvSpPr>
          <p:cNvPr id="34" name="文本框 33"/>
          <p:cNvSpPr txBox="1"/>
          <p:nvPr/>
        </p:nvSpPr>
        <p:spPr>
          <a:xfrm flipH="1">
            <a:off x="8733790" y="1699895"/>
            <a:ext cx="2256790" cy="337185"/>
          </a:xfrm>
          <a:prstGeom prst="rect">
            <a:avLst/>
          </a:prstGeom>
          <a:noFill/>
        </p:spPr>
        <p:txBody>
          <a:bodyPr wrap="square" rtlCol="0">
            <a:spAutoFit/>
          </a:bodyPr>
          <a:lstStyle/>
          <a:p>
            <a:pPr algn="ctr"/>
            <a:r>
              <a:rPr lang="en-US" altLang="zh-CN" sz="1600" b="1">
                <a:solidFill>
                  <a:schemeClr val="accent1"/>
                </a:solidFill>
                <a:latin typeface="微软雅黑" panose="020B0503020204020204" charset="-122"/>
                <a:ea typeface="微软雅黑" panose="020B0503020204020204" charset="-122"/>
                <a:cs typeface="微软雅黑" panose="020B0503020204020204" charset="-122"/>
              </a:rPr>
              <a:t>Event</a:t>
            </a:r>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（还原事件）</a:t>
            </a:r>
            <a:endParaRPr lang="zh-CN" altLang="en-US" sz="1600" b="1">
              <a:solidFill>
                <a:schemeClr val="accent1"/>
              </a:solidFill>
              <a:latin typeface="微软雅黑" panose="020B0503020204020204" charset="-122"/>
              <a:ea typeface="微软雅黑" panose="020B0503020204020204" charset="-122"/>
              <a:cs typeface="微软雅黑" panose="020B0503020204020204" charset="-122"/>
            </a:endParaRPr>
          </a:p>
        </p:txBody>
      </p:sp>
      <p:cxnSp>
        <p:nvCxnSpPr>
          <p:cNvPr id="35" name="直接连接符 34"/>
          <p:cNvCxnSpPr/>
          <p:nvPr/>
        </p:nvCxnSpPr>
        <p:spPr>
          <a:xfrm flipH="1">
            <a:off x="8710930" y="1627505"/>
            <a:ext cx="2195830" cy="0"/>
          </a:xfrm>
          <a:prstGeom prst="line">
            <a:avLst/>
          </a:prstGeom>
          <a:noFill/>
          <a:ln w="12700" cap="flat" cmpd="sng" algn="ctr">
            <a:solidFill>
              <a:schemeClr val="accent1"/>
            </a:solidFill>
            <a:prstDash val="solid"/>
            <a:miter lim="800000"/>
            <a:headEnd type="oval"/>
            <a:tailEnd type="none"/>
          </a:ln>
          <a:effectLst/>
        </p:spPr>
      </p:cxnSp>
      <p:sp>
        <p:nvSpPr>
          <p:cNvPr id="36" name="Lorem Ipsum has"/>
          <p:cNvSpPr txBox="1"/>
          <p:nvPr/>
        </p:nvSpPr>
        <p:spPr>
          <a:xfrm flipH="1">
            <a:off x="8655685" y="2105025"/>
            <a:ext cx="2538730" cy="1384935"/>
          </a:xfrm>
          <a:prstGeom prst="rect">
            <a:avLst/>
          </a:prstGeom>
          <a:ln w="12700">
            <a:miter lim="400000"/>
          </a:ln>
        </p:spPr>
        <p:txBody>
          <a:bodyPr wrap="square" lIns="25400" tIns="25400" rIns="25400" bIns="25400">
            <a:noAutofit/>
          </a:bodyPr>
          <a:lstStyle>
            <a:lvl1pPr algn="l">
              <a:defRPr sz="2000" b="0">
                <a:solidFill>
                  <a:srgbClr val="F7F6F6"/>
                </a:solidFill>
                <a:latin typeface="Barlow Medium" panose="00000600000000000000"/>
                <a:ea typeface="Barlow Medium" panose="00000600000000000000"/>
                <a:cs typeface="Barlow Medium" panose="00000600000000000000"/>
                <a:sym typeface="Barlow Medium" panose="00000600000000000000"/>
              </a:defRPr>
            </a:lvl1pPr>
          </a:lstStyle>
          <a:p>
            <a:pPr algn="l"/>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识别当前情绪状态及强度</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gn="l">
              <a:buFont typeface="Wingdings" panose="05000000000000000000" charset="0"/>
              <a:buChar char="l"/>
            </a:pPr>
            <a:r>
              <a:rPr lang="zh-CN" altLang="en-US" sz="14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提问：</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发生了什么？尝试不带情绪地描述事实。</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gn="l">
              <a:buFont typeface="Wingdings" panose="05000000000000000000" charset="0"/>
              <a:buChar char="l"/>
            </a:pPr>
            <a:r>
              <a:rPr lang="zh-CN" altLang="en-US" sz="14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操作：</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剔除主观评价（如</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老板故意针对我</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改为</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老板绕开我分配任务</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）。若仍带情绪，需返回第一步。</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37" name="等腰三角形 36"/>
          <p:cNvSpPr/>
          <p:nvPr/>
        </p:nvSpPr>
        <p:spPr>
          <a:xfrm rot="5400000">
            <a:off x="6061710" y="1744980"/>
            <a:ext cx="134620" cy="134620"/>
          </a:xfrm>
          <a:prstGeom prst="triangle">
            <a:avLst/>
          </a:prstGeom>
          <a:solidFill>
            <a:schemeClr val="accent1">
              <a:lumMod val="60000"/>
              <a:lumOff val="40000"/>
            </a:schemeClr>
          </a:solidFill>
          <a:ln w="12700" cap="flat" cmpd="sng" algn="ctr">
            <a:noFill/>
            <a:prstDash val="solid"/>
            <a:miter lim="800000"/>
          </a:ln>
          <a:effectLst/>
        </p:spPr>
        <p:txBody>
          <a:bodyPr rtlCol="0" anchor="ctr"/>
          <a:lstStyle/>
          <a:p>
            <a:pPr algn="ctr"/>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38" name="等腰三角形 37"/>
          <p:cNvSpPr/>
          <p:nvPr/>
        </p:nvSpPr>
        <p:spPr>
          <a:xfrm rot="10800000">
            <a:off x="7861935" y="3589655"/>
            <a:ext cx="134620" cy="134620"/>
          </a:xfrm>
          <a:prstGeom prst="triangle">
            <a:avLst/>
          </a:prstGeom>
          <a:solidFill>
            <a:schemeClr val="accent1">
              <a:lumMod val="60000"/>
              <a:lumOff val="40000"/>
            </a:schemeClr>
          </a:solidFill>
          <a:ln w="12700" cap="flat" cmpd="sng" algn="ctr">
            <a:noFill/>
            <a:prstDash val="solid"/>
            <a:miter lim="800000"/>
          </a:ln>
          <a:effectLst/>
        </p:spPr>
        <p:txBody>
          <a:bodyPr rtlCol="0" anchor="ctr"/>
          <a:lstStyle/>
          <a:p>
            <a:pPr algn="ctr"/>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39" name="等腰三角形 38"/>
          <p:cNvSpPr/>
          <p:nvPr/>
        </p:nvSpPr>
        <p:spPr>
          <a:xfrm rot="16200000" flipH="1">
            <a:off x="6011545" y="5620385"/>
            <a:ext cx="134620" cy="134620"/>
          </a:xfrm>
          <a:prstGeom prst="triangle">
            <a:avLst/>
          </a:prstGeom>
          <a:solidFill>
            <a:schemeClr val="accent1">
              <a:lumMod val="60000"/>
              <a:lumOff val="40000"/>
            </a:schemeClr>
          </a:solidFill>
          <a:ln w="12700" cap="flat" cmpd="sng" algn="ctr">
            <a:noFill/>
            <a:prstDash val="solid"/>
            <a:miter lim="800000"/>
          </a:ln>
          <a:effectLst/>
        </p:spPr>
        <p:txBody>
          <a:bodyPr rtlCol="0" anchor="ctr"/>
          <a:lstStyle/>
          <a:p>
            <a:pPr algn="ctr"/>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sp>
        <p:nvSpPr>
          <p:cNvPr id="40" name="等腰三角形 39"/>
          <p:cNvSpPr/>
          <p:nvPr/>
        </p:nvSpPr>
        <p:spPr>
          <a:xfrm flipH="1">
            <a:off x="3992245" y="3634740"/>
            <a:ext cx="134620" cy="134620"/>
          </a:xfrm>
          <a:prstGeom prst="triangle">
            <a:avLst/>
          </a:prstGeom>
          <a:solidFill>
            <a:schemeClr val="accent1">
              <a:lumMod val="60000"/>
              <a:lumOff val="40000"/>
            </a:schemeClr>
          </a:solidFill>
          <a:ln w="12700" cap="flat" cmpd="sng" algn="ctr">
            <a:noFill/>
            <a:prstDash val="solid"/>
            <a:miter lim="800000"/>
          </a:ln>
          <a:effectLst/>
        </p:spPr>
        <p:txBody>
          <a:bodyPr rtlCol="0" anchor="ctr"/>
          <a:lstStyle/>
          <a:p>
            <a:pPr algn="ctr"/>
            <a:endParaRPr lang="zh-CN" altLang="en-US">
              <a:solidFill>
                <a:sysClr val="window" lastClr="FFFFFF"/>
              </a:solidFill>
              <a:latin typeface="微软雅黑" panose="020B0503020204020204" charset="-122"/>
              <a:ea typeface="微软雅黑" panose="020B0503020204020204" charset="-122"/>
              <a:cs typeface="微软雅黑" panose="020B0503020204020204" charset="-122"/>
            </a:endParaRPr>
          </a:p>
        </p:txBody>
      </p:sp>
      <p:grpSp>
        <p:nvGrpSpPr>
          <p:cNvPr id="41" name="组合 40"/>
          <p:cNvGrpSpPr/>
          <p:nvPr/>
        </p:nvGrpSpPr>
        <p:grpSpPr>
          <a:xfrm>
            <a:off x="1022350" y="1290320"/>
            <a:ext cx="2825750" cy="2199005"/>
            <a:chOff x="1522" y="8400"/>
            <a:chExt cx="4450" cy="3463"/>
          </a:xfrm>
        </p:grpSpPr>
        <p:cxnSp>
          <p:nvCxnSpPr>
            <p:cNvPr id="50" name="直接连接符 49"/>
            <p:cNvCxnSpPr/>
            <p:nvPr/>
          </p:nvCxnSpPr>
          <p:spPr>
            <a:xfrm flipH="1" flipV="1">
              <a:off x="5122" y="8931"/>
              <a:ext cx="850" cy="506"/>
            </a:xfrm>
            <a:prstGeom prst="line">
              <a:avLst/>
            </a:prstGeom>
            <a:noFill/>
            <a:ln w="12700" cap="flat" cmpd="sng" algn="ctr">
              <a:solidFill>
                <a:schemeClr val="accent1"/>
              </a:solidFill>
              <a:prstDash val="solid"/>
              <a:miter lim="800000"/>
              <a:headEnd type="oval"/>
              <a:tailEnd type="none"/>
            </a:ln>
            <a:effectLst/>
          </p:spPr>
        </p:cxnSp>
        <p:sp>
          <p:nvSpPr>
            <p:cNvPr id="51" name="文本框 50"/>
            <p:cNvSpPr txBox="1"/>
            <p:nvPr/>
          </p:nvSpPr>
          <p:spPr>
            <a:xfrm>
              <a:off x="1664" y="9045"/>
              <a:ext cx="3640" cy="531"/>
            </a:xfrm>
            <a:prstGeom prst="rect">
              <a:avLst/>
            </a:prstGeom>
            <a:noFill/>
          </p:spPr>
          <p:txBody>
            <a:bodyPr wrap="square" rtlCol="0">
              <a:spAutoFit/>
            </a:bodyPr>
            <a:lstStyle/>
            <a:p>
              <a:pPr algn="ctr"/>
              <a:r>
                <a:rPr lang="en-US" altLang="zh-CN" sz="1600" b="1">
                  <a:solidFill>
                    <a:schemeClr val="accent1"/>
                  </a:solidFill>
                  <a:latin typeface="微软雅黑" panose="020B0503020204020204" charset="-122"/>
                  <a:ea typeface="微软雅黑" panose="020B0503020204020204" charset="-122"/>
                  <a:cs typeface="微软雅黑" panose="020B0503020204020204" charset="-122"/>
                </a:rPr>
                <a:t>Emotion</a:t>
              </a:r>
              <a:r>
                <a:rPr lang="zh-CN" altLang="en-US" sz="1600" b="1">
                  <a:solidFill>
                    <a:schemeClr val="accent1"/>
                  </a:solidFill>
                  <a:latin typeface="微软雅黑" panose="020B0503020204020204" charset="-122"/>
                  <a:ea typeface="微软雅黑" panose="020B0503020204020204" charset="-122"/>
                  <a:cs typeface="微软雅黑" panose="020B0503020204020204" charset="-122"/>
                </a:rPr>
                <a:t>（识别情绪）</a:t>
              </a:r>
              <a:r>
                <a:rPr lang="en-US" altLang="zh-CN" sz="1600" b="1">
                  <a:solidFill>
                    <a:schemeClr val="accent1"/>
                  </a:solidFill>
                  <a:latin typeface="微软雅黑" panose="020B0503020204020204" charset="-122"/>
                  <a:ea typeface="微软雅黑" panose="020B0503020204020204" charset="-122"/>
                  <a:cs typeface="微软雅黑" panose="020B0503020204020204" charset="-122"/>
                </a:rPr>
                <a:t>​</a:t>
              </a:r>
              <a:endParaRPr lang="en-US" altLang="zh-CN" sz="1600" b="1">
                <a:solidFill>
                  <a:schemeClr val="accent1"/>
                </a:solidFill>
                <a:latin typeface="微软雅黑" panose="020B0503020204020204" charset="-122"/>
                <a:ea typeface="微软雅黑" panose="020B0503020204020204" charset="-122"/>
                <a:cs typeface="微软雅黑" panose="020B0503020204020204" charset="-122"/>
              </a:endParaRPr>
            </a:p>
          </p:txBody>
        </p:sp>
        <p:cxnSp>
          <p:nvCxnSpPr>
            <p:cNvPr id="52" name="直接连接符 51"/>
            <p:cNvCxnSpPr/>
            <p:nvPr/>
          </p:nvCxnSpPr>
          <p:spPr>
            <a:xfrm>
              <a:off x="1664" y="8931"/>
              <a:ext cx="3458" cy="0"/>
            </a:xfrm>
            <a:prstGeom prst="line">
              <a:avLst/>
            </a:prstGeom>
            <a:noFill/>
            <a:ln w="12700" cap="flat" cmpd="sng" algn="ctr">
              <a:solidFill>
                <a:schemeClr val="accent1"/>
              </a:solidFill>
              <a:prstDash val="solid"/>
              <a:miter lim="800000"/>
              <a:headEnd type="oval"/>
              <a:tailEnd type="none"/>
            </a:ln>
            <a:effectLst/>
          </p:spPr>
        </p:cxnSp>
        <p:sp>
          <p:nvSpPr>
            <p:cNvPr id="53" name="Lorem Ipsum has"/>
            <p:cNvSpPr txBox="1"/>
            <p:nvPr/>
          </p:nvSpPr>
          <p:spPr>
            <a:xfrm>
              <a:off x="1522" y="9683"/>
              <a:ext cx="3998" cy="2181"/>
            </a:xfrm>
            <a:prstGeom prst="rect">
              <a:avLst/>
            </a:prstGeom>
            <a:ln w="12700">
              <a:miter lim="400000"/>
            </a:ln>
          </p:spPr>
          <p:txBody>
            <a:bodyPr wrap="square" lIns="25400" tIns="25400" rIns="25400" bIns="25400">
              <a:noAutofit/>
            </a:bodyPr>
            <a:lstStyle>
              <a:lvl1pPr algn="l">
                <a:defRPr sz="2000" b="0">
                  <a:solidFill>
                    <a:srgbClr val="F7F6F6"/>
                  </a:solidFill>
                  <a:latin typeface="Barlow Medium" panose="00000600000000000000"/>
                  <a:ea typeface="Barlow Medium" panose="00000600000000000000"/>
                  <a:cs typeface="Barlow Medium" panose="00000600000000000000"/>
                  <a:sym typeface="Barlow Medium" panose="00000600000000000000"/>
                </a:defRPr>
              </a:lvl1pPr>
            </a:lstStyle>
            <a:p>
              <a:pPr algn="l"/>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识别当前情绪状态及强度：</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gn="l">
                <a:buFont typeface="Wingdings" panose="05000000000000000000" charset="0"/>
                <a:buChar char="l"/>
              </a:pPr>
              <a:r>
                <a:rPr lang="zh-CN" altLang="en-US" sz="14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提问：</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我现在的情绪是什么？强烈程度打几分？</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a:p>
              <a:pPr marL="285750" indent="-285750" algn="l">
                <a:buFont typeface="Wingdings" panose="05000000000000000000" charset="0"/>
                <a:buChar char="l"/>
              </a:pPr>
              <a:r>
                <a:rPr lang="zh-CN" altLang="en-US" sz="1400" b="1"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操作：</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用具体词汇描述情绪（如</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焦虑</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8</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分</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失落</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6</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分</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），避免笼统的</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不开心</a:t>
              </a:r>
              <a:r>
                <a:rPr lang="en-US" altLang="zh-CN"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r>
                <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rPr>
                <a:t>。</a:t>
              </a:r>
              <a:endParaRPr lang="zh-CN" altLang="en-US" sz="1400" dirty="0">
                <a:solidFill>
                  <a:schemeClr val="tx2"/>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4" name="文本框 53"/>
            <p:cNvSpPr txBox="1"/>
            <p:nvPr/>
          </p:nvSpPr>
          <p:spPr>
            <a:xfrm>
              <a:off x="2365" y="8400"/>
              <a:ext cx="2239" cy="531"/>
            </a:xfrm>
            <a:prstGeom prst="rect">
              <a:avLst/>
            </a:prstGeom>
            <a:noFill/>
          </p:spPr>
          <p:txBody>
            <a:bodyPr wrap="square" rtlCol="0">
              <a:spAutoFit/>
            </a:bodyPr>
            <a:lstStyle/>
            <a:p>
              <a:pPr algn="ctr"/>
              <a:r>
                <a:rPr lang="zh-CN" sz="1600" b="1">
                  <a:solidFill>
                    <a:schemeClr val="accent1"/>
                  </a:solidFill>
                  <a:latin typeface="微软雅黑" panose="020B0503020204020204" charset="-122"/>
                  <a:ea typeface="微软雅黑" panose="020B0503020204020204" charset="-122"/>
                  <a:cs typeface="微软雅黑" panose="020B0503020204020204" charset="-122"/>
                </a:rPr>
                <a:t>（第一问）</a:t>
              </a:r>
              <a:endParaRPr lang="zh-CN" sz="1600" b="1">
                <a:solidFill>
                  <a:schemeClr val="accent1"/>
                </a:solidFill>
                <a:latin typeface="微软雅黑" panose="020B0503020204020204" charset="-122"/>
                <a:ea typeface="微软雅黑" panose="020B0503020204020204" charset="-122"/>
                <a:cs typeface="微软雅黑" panose="020B0503020204020204" charset="-122"/>
              </a:endParaRPr>
            </a:p>
          </p:txBody>
        </p:sp>
      </p:grpSp>
      <p:sp>
        <p:nvSpPr>
          <p:cNvPr id="43" name="文本框 42"/>
          <p:cNvSpPr txBox="1"/>
          <p:nvPr/>
        </p:nvSpPr>
        <p:spPr>
          <a:xfrm>
            <a:off x="9151620" y="6064885"/>
            <a:ext cx="1421765" cy="337185"/>
          </a:xfrm>
          <a:prstGeom prst="rect">
            <a:avLst/>
          </a:prstGeom>
          <a:noFill/>
        </p:spPr>
        <p:txBody>
          <a:bodyPr wrap="square" rtlCol="0">
            <a:spAutoFit/>
          </a:bodyPr>
          <a:lstStyle/>
          <a:p>
            <a:pPr algn="ctr"/>
            <a:r>
              <a:rPr lang="zh-CN" sz="1600" b="1">
                <a:solidFill>
                  <a:schemeClr val="accent5"/>
                </a:solidFill>
                <a:latin typeface="微软雅黑" panose="020B0503020204020204" charset="-122"/>
                <a:ea typeface="微软雅黑" panose="020B0503020204020204" charset="-122"/>
                <a:cs typeface="微软雅黑" panose="020B0503020204020204" charset="-122"/>
              </a:rPr>
              <a:t>（第三问）</a:t>
            </a:r>
            <a:endParaRPr lang="zh-CN" sz="1600" b="1">
              <a:solidFill>
                <a:schemeClr val="accent5"/>
              </a:solidFill>
              <a:latin typeface="微软雅黑" panose="020B0503020204020204" charset="-122"/>
              <a:ea typeface="微软雅黑" panose="020B0503020204020204" charset="-122"/>
              <a:cs typeface="微软雅黑" panose="020B0503020204020204" charset="-122"/>
            </a:endParaRPr>
          </a:p>
        </p:txBody>
      </p:sp>
      <p:sp>
        <p:nvSpPr>
          <p:cNvPr id="44" name="文本框 43"/>
          <p:cNvSpPr txBox="1"/>
          <p:nvPr/>
        </p:nvSpPr>
        <p:spPr>
          <a:xfrm>
            <a:off x="9151620" y="1249680"/>
            <a:ext cx="1421765" cy="337185"/>
          </a:xfrm>
          <a:prstGeom prst="rect">
            <a:avLst/>
          </a:prstGeom>
          <a:noFill/>
        </p:spPr>
        <p:txBody>
          <a:bodyPr wrap="square" rtlCol="0">
            <a:spAutoFit/>
          </a:bodyPr>
          <a:lstStyle/>
          <a:p>
            <a:pPr algn="ctr"/>
            <a:r>
              <a:rPr lang="zh-CN" sz="1600" b="1">
                <a:solidFill>
                  <a:schemeClr val="accent1"/>
                </a:solidFill>
                <a:latin typeface="微软雅黑" panose="020B0503020204020204" charset="-122"/>
                <a:ea typeface="微软雅黑" panose="020B0503020204020204" charset="-122"/>
                <a:cs typeface="微软雅黑" panose="020B0503020204020204" charset="-122"/>
              </a:rPr>
              <a:t>（第二问）</a:t>
            </a:r>
            <a:endParaRPr lang="zh-CN" sz="1600" b="1">
              <a:solidFill>
                <a:schemeClr val="accent1"/>
              </a:solidFill>
              <a:latin typeface="微软雅黑" panose="020B0503020204020204" charset="-122"/>
              <a:ea typeface="微软雅黑" panose="020B0503020204020204" charset="-122"/>
              <a:cs typeface="微软雅黑" panose="020B0503020204020204" charset="-122"/>
            </a:endParaRPr>
          </a:p>
        </p:txBody>
      </p:sp>
      <p:sp>
        <p:nvSpPr>
          <p:cNvPr id="4" name="Circle"/>
          <p:cNvSpPr/>
          <p:nvPr/>
        </p:nvSpPr>
        <p:spPr>
          <a:xfrm>
            <a:off x="5281930" y="3014345"/>
            <a:ext cx="1492250" cy="1492250"/>
          </a:xfrm>
          <a:prstGeom prst="ellipse">
            <a:avLst/>
          </a:prstGeom>
          <a:solidFill>
            <a:schemeClr val="bg1"/>
          </a:solidFill>
          <a:ln w="12700">
            <a:miter lim="400000"/>
          </a:ln>
        </p:spPr>
        <p:txBody>
          <a:bodyPr lIns="0" tIns="0" rIns="0" bIns="0" anchor="ctr"/>
          <a:lstStyle/>
          <a:p>
            <a:pPr algn="ctr"/>
            <a:endParaRPr sz="900">
              <a:latin typeface="微软雅黑" panose="020B0503020204020204" charset="-122"/>
              <a:cs typeface="微软雅黑" panose="020B0503020204020204" charset="-122"/>
            </a:endParaRPr>
          </a:p>
        </p:txBody>
      </p:sp>
      <p:pic>
        <p:nvPicPr>
          <p:cNvPr id="55" name="图片 75" descr="大脑"/>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281930" y="3133090"/>
            <a:ext cx="1306195" cy="1306195"/>
          </a:xfrm>
          <a:prstGeom prst="rect">
            <a:avLst/>
          </a:prstGeom>
        </p:spPr>
      </p:pic>
      <p:sp>
        <p:nvSpPr>
          <p:cNvPr id="57" name="Circle"/>
          <p:cNvSpPr/>
          <p:nvPr/>
        </p:nvSpPr>
        <p:spPr>
          <a:xfrm>
            <a:off x="3781425" y="1784350"/>
            <a:ext cx="1605280" cy="1605280"/>
          </a:xfrm>
          <a:prstGeom prst="ellipse">
            <a:avLst/>
          </a:prstGeom>
          <a:solidFill>
            <a:schemeClr val="accent1">
              <a:lumMod val="60000"/>
              <a:lumOff val="40000"/>
              <a:alpha val="20000"/>
            </a:schemeClr>
          </a:solidFill>
          <a:ln w="12700" cap="flat">
            <a:noFill/>
            <a:miter lim="400000"/>
          </a:ln>
          <a:effectLst/>
        </p:spPr>
        <p:txBody>
          <a:bodyPr wrap="square" lIns="0" tIns="0" rIns="0" bIns="0" numCol="1" anchor="ctr">
            <a:noAutofit/>
          </a:bodyPr>
          <a:lstStyle/>
          <a:p>
            <a:pPr algn="ctr"/>
            <a:endParaRPr sz="900">
              <a:latin typeface="微软雅黑" panose="020B0503020204020204" charset="-122"/>
              <a:cs typeface="微软雅黑" panose="020B0503020204020204" charset="-122"/>
            </a:endParaRPr>
          </a:p>
        </p:txBody>
      </p:sp>
      <p:sp>
        <p:nvSpPr>
          <p:cNvPr id="58" name="Circle"/>
          <p:cNvSpPr/>
          <p:nvPr/>
        </p:nvSpPr>
        <p:spPr>
          <a:xfrm>
            <a:off x="3781425" y="1784350"/>
            <a:ext cx="1605280" cy="1605280"/>
          </a:xfrm>
          <a:prstGeom prst="ellipse">
            <a:avLst/>
          </a:prstGeom>
          <a:noFill/>
          <a:ln w="25400" cap="flat">
            <a:solidFill>
              <a:schemeClr val="accent1">
                <a:lumMod val="60000"/>
                <a:lumOff val="40000"/>
                <a:alpha val="70000"/>
              </a:schemeClr>
            </a:solidFill>
            <a:prstDash val="solid"/>
            <a:round/>
          </a:ln>
          <a:effectLst/>
        </p:spPr>
        <p:txBody>
          <a:bodyPr wrap="square" lIns="0" tIns="0" rIns="0" bIns="0" numCol="1" anchor="ctr">
            <a:noAutofit/>
          </a:bodyPr>
          <a:lstStyle/>
          <a:p>
            <a:pPr algn="ctr"/>
            <a:endParaRPr sz="900">
              <a:latin typeface="微软雅黑" panose="020B0503020204020204" charset="-122"/>
              <a:cs typeface="微软雅黑" panose="020B0503020204020204" charset="-122"/>
            </a:endParaRPr>
          </a:p>
        </p:txBody>
      </p:sp>
      <p:sp>
        <p:nvSpPr>
          <p:cNvPr id="59"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4344035" y="2120900"/>
            <a:ext cx="480695" cy="512445"/>
          </a:xfrm>
          <a:prstGeom prst="rect">
            <a:avLst/>
          </a:prstGeom>
          <a:noFill/>
          <a:ln w="12700" cap="flat">
            <a:noFill/>
            <a:miter lim="400000"/>
          </a:ln>
          <a:effectLst/>
        </p:spPr>
        <p:txBody>
          <a:bodyPr wrap="square" lIns="25400" tIns="25400" rIns="25400" bIns="25400" numCol="1" anchor="t">
            <a:spAutoFit/>
          </a:bodyPr>
          <a:lstStyle>
            <a:lvl1pPr>
              <a:defRPr sz="5000">
                <a:solidFill>
                  <a:srgbClr val="0A3431"/>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en-US" sz="30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E</a:t>
            </a:r>
            <a:endParaRPr lang="en-US" sz="3000" b="1"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60" name="Circle"/>
          <p:cNvSpPr/>
          <p:nvPr/>
        </p:nvSpPr>
        <p:spPr>
          <a:xfrm>
            <a:off x="3879850" y="1848485"/>
            <a:ext cx="336550" cy="336550"/>
          </a:xfrm>
          <a:prstGeom prst="ellipse">
            <a:avLst/>
          </a:prstGeom>
          <a:solidFill>
            <a:schemeClr val="accent1"/>
          </a:solidFill>
          <a:ln w="12700" cap="flat">
            <a:noFill/>
            <a:miter lim="400000"/>
          </a:ln>
          <a:effectLst/>
        </p:spPr>
        <p:txBody>
          <a:bodyPr wrap="square" lIns="0" tIns="0" rIns="0" bIns="0" numCol="1" anchor="ctr">
            <a:noAutofit/>
          </a:bodyPr>
          <a:lstStyle/>
          <a:p>
            <a:pPr algn="ctr">
              <a:defRPr sz="3200">
                <a:solidFill>
                  <a:srgbClr val="FFFFFF"/>
                </a:solidFill>
              </a:defRPr>
            </a:pPr>
            <a:r>
              <a:rPr lang="en-US" sz="1600" b="1">
                <a:latin typeface="微软雅黑" panose="020B0503020204020204" charset="-122"/>
                <a:ea typeface="微软雅黑" panose="020B0503020204020204" charset="-122"/>
                <a:cs typeface="微软雅黑" panose="020B0503020204020204" charset="-122"/>
              </a:rPr>
              <a:t>1</a:t>
            </a:r>
            <a:endParaRPr lang="en-US" sz="1600" b="1">
              <a:latin typeface="微软雅黑" panose="020B0503020204020204" charset="-122"/>
              <a:ea typeface="微软雅黑" panose="020B0503020204020204" charset="-122"/>
              <a:cs typeface="微软雅黑" panose="020B0503020204020204" charset="-122"/>
            </a:endParaRPr>
          </a:p>
        </p:txBody>
      </p:sp>
      <p:sp>
        <p:nvSpPr>
          <p:cNvPr id="61" name="Lorem Ipsum is simply dummy text of the printing and typesetting industry. Lorem Ipsum has been the industry's standard dummy text ever since the 1500s, when an unknown printer took a galley of type and scrambled it to make a type specimen book. It has s"/>
          <p:cNvSpPr txBox="1"/>
          <p:nvPr/>
        </p:nvSpPr>
        <p:spPr>
          <a:xfrm>
            <a:off x="3957320" y="2579370"/>
            <a:ext cx="1253490" cy="434975"/>
          </a:xfrm>
          <a:prstGeom prst="rect">
            <a:avLst/>
          </a:prstGeom>
          <a:noFill/>
          <a:ln w="12700" cap="flat">
            <a:noFill/>
            <a:miter lim="400000"/>
          </a:ln>
          <a:effectLst/>
        </p:spPr>
        <p:txBody>
          <a:bodyPr wrap="square" lIns="25400" tIns="25400" rIns="25400" bIns="25400" numCol="1" anchor="t">
            <a:spAutoFit/>
          </a:bodyPr>
          <a:lstStyle>
            <a:lvl1pPr>
              <a:defRPr sz="5000">
                <a:solidFill>
                  <a:srgbClr val="0A3431"/>
                </a:solidFill>
                <a:latin typeface="Barlow SemiBold" panose="00000700000000000000"/>
                <a:ea typeface="Barlow SemiBold" panose="00000700000000000000"/>
                <a:cs typeface="Barlow SemiBold" panose="00000700000000000000"/>
                <a:sym typeface="Barlow SemiBold" panose="00000700000000000000"/>
              </a:defRPr>
            </a:lvl1pPr>
          </a:lstStyle>
          <a:p>
            <a:pPr algn="ctr"/>
            <a:r>
              <a:rPr lang="zh-CN" altLang="en-US" sz="250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rPr>
              <a:t>情绪</a:t>
            </a:r>
            <a:endParaRPr lang="zh-CN" altLang="en-US" sz="2500" dirty="0">
              <a:solidFill>
                <a:schemeClr val="accent1"/>
              </a:solidFill>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cxnSp>
        <p:nvCxnSpPr>
          <p:cNvPr id="62" name="直线连接符 7"/>
          <p:cNvCxnSpPr/>
          <p:nvPr userDrawn="1"/>
        </p:nvCxnSpPr>
        <p:spPr>
          <a:xfrm>
            <a:off x="369165" y="839204"/>
            <a:ext cx="11459846" cy="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grpSp>
        <p:nvGrpSpPr>
          <p:cNvPr id="63" name="组合 62"/>
          <p:cNvGrpSpPr/>
          <p:nvPr/>
        </p:nvGrpSpPr>
        <p:grpSpPr>
          <a:xfrm>
            <a:off x="8738235" y="348615"/>
            <a:ext cx="3219450" cy="332740"/>
            <a:chOff x="13761" y="549"/>
            <a:chExt cx="5070" cy="524"/>
          </a:xfrm>
        </p:grpSpPr>
        <p:pic>
          <p:nvPicPr>
            <p:cNvPr id="64" name="图片 63"/>
            <p:cNvPicPr>
              <a:picLocks noChangeAspect="1"/>
            </p:cNvPicPr>
            <p:nvPr userDrawn="1"/>
          </p:nvPicPr>
          <p:blipFill>
            <a:blip r:embed="rId5"/>
            <a:srcRect l="17002" t="-1765" r="56499" b="-1176"/>
            <a:stretch>
              <a:fillRect/>
            </a:stretch>
          </p:blipFill>
          <p:spPr>
            <a:xfrm>
              <a:off x="13761" y="549"/>
              <a:ext cx="1582" cy="525"/>
            </a:xfrm>
            <a:prstGeom prst="rect">
              <a:avLst/>
            </a:prstGeom>
          </p:spPr>
        </p:pic>
        <p:sp>
          <p:nvSpPr>
            <p:cNvPr id="65" name="文本框 64"/>
            <p:cNvSpPr txBox="1"/>
            <p:nvPr userDrawn="1"/>
          </p:nvSpPr>
          <p:spPr>
            <a:xfrm>
              <a:off x="15219" y="655"/>
              <a:ext cx="3613" cy="386"/>
            </a:xfrm>
            <a:prstGeom prst="rect">
              <a:avLst/>
            </a:prstGeom>
            <a:noFill/>
          </p:spPr>
          <p:txBody>
            <a:bodyPr wrap="square" rtlCol="0">
              <a:spAutoFit/>
            </a:bodyPr>
            <a:lstStyle/>
            <a:p>
              <a:r>
                <a:rPr lang="zh-CN" altLang="en-US" sz="1000">
                  <a:latin typeface="微软雅黑" panose="020B0503020204020204" charset="-122"/>
                  <a:ea typeface="微软雅黑" panose="020B0503020204020204" charset="-122"/>
                  <a:cs typeface="微软雅黑" panose="020B0503020204020204" charset="-122"/>
                </a:rPr>
                <a:t>复杂逻辑场景</a:t>
              </a:r>
              <a:r>
                <a:rPr lang="en-US" altLang="zh-CN" sz="1000">
                  <a:latin typeface="微软雅黑" panose="020B0503020204020204" charset="-122"/>
                  <a:ea typeface="微软雅黑" panose="020B0503020204020204" charset="-122"/>
                  <a:cs typeface="微软雅黑" panose="020B0503020204020204" charset="-122"/>
                </a:rPr>
                <a:t>·</a:t>
              </a:r>
              <a:r>
                <a:rPr lang="zh-CN" altLang="en-US" sz="1000">
                  <a:latin typeface="微软雅黑" panose="020B0503020204020204" charset="-122"/>
                  <a:ea typeface="微软雅黑" panose="020B0503020204020204" charset="-122"/>
                  <a:cs typeface="微软雅黑" panose="020B0503020204020204" charset="-122"/>
                </a:rPr>
                <a:t>框架搭建系列</a:t>
              </a:r>
              <a:r>
                <a:rPr lang="en-US" altLang="zh-CN" sz="1000">
                  <a:latin typeface="微软雅黑" panose="020B0503020204020204" charset="-122"/>
                  <a:ea typeface="微软雅黑" panose="020B0503020204020204" charset="-122"/>
                  <a:cs typeface="微软雅黑" panose="020B0503020204020204" charset="-122"/>
                </a:rPr>
                <a:t>PPT</a:t>
              </a:r>
              <a:r>
                <a:rPr lang="zh-CN" altLang="en-US" sz="1000">
                  <a:latin typeface="微软雅黑" panose="020B0503020204020204" charset="-122"/>
                  <a:ea typeface="微软雅黑" panose="020B0503020204020204" charset="-122"/>
                  <a:cs typeface="微软雅黑" panose="020B0503020204020204" charset="-122"/>
                </a:rPr>
                <a:t>模板</a:t>
              </a:r>
              <a:endParaRPr lang="zh-CN" altLang="en-US" sz="1000">
                <a:latin typeface="微软雅黑" panose="020B0503020204020204" charset="-122"/>
                <a:ea typeface="微软雅黑" panose="020B0503020204020204" charset="-122"/>
                <a:cs typeface="微软雅黑" panose="020B0503020204020204" charset="-122"/>
              </a:endParaRPr>
            </a:p>
          </p:txBody>
        </p:sp>
      </p:gr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5" name="©天蝎PPT1"/>
          <p:cNvPicPr>
            <a:picLocks noChangeAspect="1"/>
          </p:cNvPicPr>
          <p:nvPr/>
        </p:nvPicPr>
        <p:blipFill rotWithShape="1">
          <a:blip r:embed="rId1" cstate="email"/>
          <a:srcRect/>
          <a:stretch>
            <a:fillRect/>
          </a:stretch>
        </p:blipFill>
        <p:spPr>
          <a:xfrm flipH="1">
            <a:off x="4431665" y="1270"/>
            <a:ext cx="7755825" cy="6858000"/>
          </a:xfrm>
          <a:prstGeom prst="rect">
            <a:avLst/>
          </a:prstGeom>
        </p:spPr>
      </p:pic>
      <p:sp>
        <p:nvSpPr>
          <p:cNvPr id="36" name="矩形 35"/>
          <p:cNvSpPr/>
          <p:nvPr/>
        </p:nvSpPr>
        <p:spPr>
          <a:xfrm>
            <a:off x="0" y="1270"/>
            <a:ext cx="12268200" cy="6858000"/>
          </a:xfrm>
          <a:prstGeom prst="rect">
            <a:avLst/>
          </a:prstGeom>
          <a:gradFill>
            <a:gsLst>
              <a:gs pos="0">
                <a:srgbClr val="EDEEF2">
                  <a:lumMod val="0"/>
                  <a:lumOff val="100000"/>
                </a:srgbClr>
              </a:gs>
              <a:gs pos="100000">
                <a:srgbClr val="DBDBDD">
                  <a:alpha val="50000"/>
                </a:srgbClr>
              </a:gs>
            </a:gsLst>
            <a:lin ang="0"/>
          </a:gradFill>
          <a:ln>
            <a:noFill/>
          </a:ln>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zh-CN" altLang="en-US">
              <a:latin typeface="微软雅黑" panose="020B0503020204020204" charset="-122"/>
              <a:ea typeface="微软雅黑" panose="020B0503020204020204" charset="-122"/>
              <a:cs typeface="微软雅黑" panose="020B0503020204020204" charset="-122"/>
            </a:endParaRPr>
          </a:p>
        </p:txBody>
      </p:sp>
      <p:grpSp>
        <p:nvGrpSpPr>
          <p:cNvPr id="5598" name="Group"/>
          <p:cNvGrpSpPr/>
          <p:nvPr/>
        </p:nvGrpSpPr>
        <p:grpSpPr>
          <a:xfrm>
            <a:off x="1443368" y="1358900"/>
            <a:ext cx="9305264" cy="4305301"/>
            <a:chOff x="0" y="0"/>
            <a:chExt cx="18610527" cy="8610600"/>
          </a:xfrm>
          <a:solidFill>
            <a:schemeClr val="accent1"/>
          </a:solidFill>
        </p:grpSpPr>
        <p:sp>
          <p:nvSpPr>
            <p:cNvPr id="5596" name="Triangle"/>
            <p:cNvSpPr/>
            <p:nvPr/>
          </p:nvSpPr>
          <p:spPr>
            <a:xfrm rot="5400000">
              <a:off x="0" y="7340600"/>
              <a:ext cx="1270000" cy="1270000"/>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grp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160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sp>
          <p:nvSpPr>
            <p:cNvPr id="5597" name="Rounded Rectangle"/>
            <p:cNvSpPr/>
            <p:nvPr/>
          </p:nvSpPr>
          <p:spPr>
            <a:xfrm>
              <a:off x="0" y="0"/>
              <a:ext cx="18610528" cy="7924800"/>
            </a:xfrm>
            <a:prstGeom prst="roundRect">
              <a:avLst>
                <a:gd name="adj" fmla="val 2404"/>
              </a:avLst>
            </a:prstGeom>
            <a:grpFill/>
            <a:ln w="12700" cap="flat">
              <a:noFill/>
              <a:miter lim="400000"/>
            </a:ln>
            <a:effectLst/>
          </p:spPr>
          <p:txBody>
            <a:bodyPr wrap="square" lIns="0" tIns="0" rIns="0" bIns="0" numCol="1" anchor="ctr">
              <a:noAutofit/>
            </a:bodyPr>
            <a:lstStyle/>
            <a:p>
              <a:pPr>
                <a:defRPr sz="3200" b="0">
                  <a:solidFill>
                    <a:srgbClr val="FFFFFF"/>
                  </a:solidFill>
                  <a:latin typeface="+mn-lt"/>
                  <a:ea typeface="+mn-ea"/>
                  <a:cs typeface="+mn-cs"/>
                  <a:sym typeface="Helvetica Neue Medium"/>
                </a:defRPr>
              </a:pPr>
              <a:endParaRPr sz="1600" dirty="0">
                <a:latin typeface="微软雅黑" panose="020B0503020204020204" charset="-122"/>
                <a:ea typeface="微软雅黑" panose="020B0503020204020204" charset="-122"/>
                <a:cs typeface="微软雅黑" panose="020B0503020204020204" charset="-122"/>
                <a:sym typeface="微软雅黑" panose="020B0503020204020204" charset="-122"/>
              </a:endParaRPr>
            </a:p>
          </p:txBody>
        </p:sp>
      </p:grpSp>
      <p:sp>
        <p:nvSpPr>
          <p:cNvPr id="2" name="TextBox 1"/>
          <p:cNvSpPr txBox="1"/>
          <p:nvPr/>
        </p:nvSpPr>
        <p:spPr>
          <a:xfrm>
            <a:off x="1454150" y="2272665"/>
            <a:ext cx="9283700" cy="1576070"/>
          </a:xfrm>
          <a:prstGeom prst="rect">
            <a:avLst/>
          </a:prstGeom>
          <a:noFill/>
        </p:spPr>
        <p:txBody>
          <a:bodyPr wrap="square" anchor="ctr" anchorCtr="0">
            <a:noAutofit/>
          </a:bodyPr>
          <a:lstStyle/>
          <a:p>
            <a:pPr algn="ctr"/>
            <a:r>
              <a:rPr lang="id-ID" sz="8000" b="1" dirty="0">
                <a:solidFill>
                  <a:schemeClr val="bg1"/>
                </a:solidFill>
                <a:latin typeface="微软雅黑" panose="020B0503020204020204" charset="-122"/>
                <a:ea typeface="微软雅黑" panose="020B0503020204020204" charset="-122"/>
                <a:cs typeface="微软雅黑" panose="020B0503020204020204" charset="-122"/>
              </a:rPr>
              <a:t>THANK YOU</a:t>
            </a:r>
            <a:endParaRPr lang="id-ID" sz="8000" b="1" dirty="0">
              <a:solidFill>
                <a:schemeClr val="bg1"/>
              </a:solidFill>
              <a:latin typeface="微软雅黑" panose="020B0503020204020204" charset="-122"/>
              <a:ea typeface="微软雅黑" panose="020B0503020204020204" charset="-122"/>
              <a:cs typeface="微软雅黑" panose="020B0503020204020204" charset="-122"/>
            </a:endParaRPr>
          </a:p>
        </p:txBody>
      </p:sp>
      <p:sp>
        <p:nvSpPr>
          <p:cNvPr id="5" name="TextBox 47"/>
          <p:cNvSpPr txBox="1"/>
          <p:nvPr/>
        </p:nvSpPr>
        <p:spPr>
          <a:xfrm>
            <a:off x="3982085" y="4293870"/>
            <a:ext cx="4970145" cy="337185"/>
          </a:xfrm>
          <a:prstGeom prst="rect">
            <a:avLst/>
          </a:prstGeom>
          <a:noFill/>
        </p:spPr>
        <p:txBody>
          <a:bodyPr wrap="square">
            <a:spAutoFit/>
          </a:bodyPr>
          <a:lstStyle/>
          <a:p>
            <a:pPr algn="ctr"/>
            <a:r>
              <a:rPr lang="id-ID" sz="1600" dirty="0" err="1">
                <a:solidFill>
                  <a:schemeClr val="bg1"/>
                </a:solidFill>
                <a:latin typeface="微软雅黑" panose="020B0503020204020204" charset="-122"/>
                <a:ea typeface="微软雅黑" panose="020B0503020204020204" charset="-122"/>
                <a:cs typeface="微软雅黑" panose="020B0503020204020204" charset="-122"/>
              </a:rPr>
              <a:t>汇报人</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：开悟思维    </a:t>
            </a:r>
            <a:r>
              <a:rPr lang="id-ID" sz="1600" dirty="0" err="1">
                <a:solidFill>
                  <a:schemeClr val="bg1"/>
                </a:solidFill>
                <a:latin typeface="微软雅黑" panose="020B0503020204020204" charset="-122"/>
                <a:ea typeface="微软雅黑" panose="020B0503020204020204" charset="-122"/>
                <a:cs typeface="微软雅黑" panose="020B0503020204020204" charset="-122"/>
              </a:rPr>
              <a:t>汇报时间</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a:t>
            </a:r>
            <a:r>
              <a:rPr lang="en-US" altLang="zh-CN" sz="16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年</a:t>
            </a:r>
            <a:r>
              <a:rPr lang="en-US" altLang="zh-CN" sz="16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月</a:t>
            </a:r>
            <a:r>
              <a:rPr lang="en-US" altLang="zh-CN" sz="1600" dirty="0">
                <a:solidFill>
                  <a:schemeClr val="bg1"/>
                </a:solidFill>
                <a:latin typeface="微软雅黑" panose="020B0503020204020204" charset="-122"/>
                <a:ea typeface="微软雅黑" panose="020B0503020204020204" charset="-122"/>
                <a:cs typeface="微软雅黑" panose="020B0503020204020204" charset="-122"/>
              </a:rPr>
              <a:t>**</a:t>
            </a:r>
            <a:r>
              <a:rPr lang="zh-CN" altLang="en-US" sz="1600" dirty="0">
                <a:solidFill>
                  <a:schemeClr val="bg1"/>
                </a:solidFill>
                <a:latin typeface="微软雅黑" panose="020B0503020204020204" charset="-122"/>
                <a:ea typeface="微软雅黑" panose="020B0503020204020204" charset="-122"/>
                <a:cs typeface="微软雅黑" panose="020B0503020204020204" charset="-122"/>
              </a:rPr>
              <a:t>日</a:t>
            </a:r>
            <a:endParaRPr lang="en-ID" sz="1600" dirty="0">
              <a:solidFill>
                <a:schemeClr val="bg1"/>
              </a:solidFill>
              <a:latin typeface="微软雅黑" panose="020B0503020204020204" charset="-122"/>
              <a:ea typeface="微软雅黑" panose="020B0503020204020204" charset="-122"/>
              <a:cs typeface="微软雅黑" panose="020B0503020204020204" charset="-122"/>
            </a:endParaRP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p:transition spd="slow">
        <p:fade/>
      </p:transition>
    </mc:Fallback>
  </mc:AlternateContent>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DIAGRAM_VIRTUALLY_FRAME" val="{&quot;height&quot;:410,&quot;left&quot;:29.05,&quot;top&quot;:91.25,&quot;width&quot;:912.85}"/>
</p:tagLst>
</file>

<file path=ppt/tags/tag20.xml><?xml version="1.0" encoding="utf-8"?>
<p:tagLst xmlns:p="http://schemas.openxmlformats.org/presentationml/2006/main">
  <p:tag name="KSO_WM_DIAGRAM_VIRTUALLY_FRAME" val="{&quot;height&quot;:410,&quot;left&quot;:29.05,&quot;top&quot;:91.25,&quot;width&quot;:912.85}"/>
</p:tagLst>
</file>

<file path=ppt/tags/tag21.xml><?xml version="1.0" encoding="utf-8"?>
<p:tagLst xmlns:p="http://schemas.openxmlformats.org/presentationml/2006/main">
  <p:tag name="KSO_WM_DIAGRAM_VIRTUALLY_FRAME" val="{&quot;height&quot;:410,&quot;left&quot;:29.05,&quot;top&quot;:91.25,&quot;width&quot;:920.15}"/>
</p:tagLst>
</file>

<file path=ppt/tags/tag22.xml><?xml version="1.0" encoding="utf-8"?>
<p:tagLst xmlns:p="http://schemas.openxmlformats.org/presentationml/2006/main">
  <p:tag name="KSO_WM_DIAGRAM_VIRTUALLY_FRAME" val="{&quot;height&quot;:410,&quot;left&quot;:29.05,&quot;top&quot;:91.25,&quot;width&quot;:920.15}"/>
</p:tagLst>
</file>

<file path=ppt/tags/tag23.xml><?xml version="1.0" encoding="utf-8"?>
<p:tagLst xmlns:p="http://schemas.openxmlformats.org/presentationml/2006/main">
  <p:tag name="KSO_WM_DIAGRAM_VIRTUALLY_FRAME" val="{&quot;height&quot;:410,&quot;left&quot;:29.05,&quot;top&quot;:91.25,&quot;width&quot;:920.15}"/>
</p:tagLst>
</file>

<file path=ppt/tags/tag24.xml><?xml version="1.0" encoding="utf-8"?>
<p:tagLst xmlns:p="http://schemas.openxmlformats.org/presentationml/2006/main">
  <p:tag name="KSO_WM_DIAGRAM_VIRTUALLY_FRAME" val="{&quot;height&quot;:410,&quot;left&quot;:29.05,&quot;top&quot;:91.25,&quot;width&quot;:920.15}"/>
</p:tagLst>
</file>

<file path=ppt/tags/tag25.xml><?xml version="1.0" encoding="utf-8"?>
<p:tagLst xmlns:p="http://schemas.openxmlformats.org/presentationml/2006/main">
  <p:tag name="KSO_WM_DIAGRAM_VIRTUALLY_FRAME" val="{&quot;height&quot;:410,&quot;left&quot;:29.05,&quot;top&quot;:91.25,&quot;width&quot;:920.15}"/>
</p:tagLst>
</file>

<file path=ppt/tags/tag26.xml><?xml version="1.0" encoding="utf-8"?>
<p:tagLst xmlns:p="http://schemas.openxmlformats.org/presentationml/2006/main">
  <p:tag name="KSO_WM_DIAGRAM_VIRTUALLY_FRAME" val="{&quot;height&quot;:410,&quot;left&quot;:29.05,&quot;top&quot;:91.25,&quot;width&quot;:920.15}"/>
</p:tagLst>
</file>

<file path=ppt/tags/tag27.xml><?xml version="1.0" encoding="utf-8"?>
<p:tagLst xmlns:p="http://schemas.openxmlformats.org/presentationml/2006/main">
  <p:tag name="KSO_WM_DIAGRAM_VIRTUALLY_FRAME" val="{&quot;height&quot;:410,&quot;left&quot;:29.05,&quot;top&quot;:91.25,&quot;width&quot;:920.15}"/>
</p:tagLst>
</file>

<file path=ppt/tags/tag28.xml><?xml version="1.0" encoding="utf-8"?>
<p:tagLst xmlns:p="http://schemas.openxmlformats.org/presentationml/2006/main">
  <p:tag name="KSO_WM_DIAGRAM_VIRTUALLY_FRAME" val="{&quot;height&quot;:410,&quot;left&quot;:29.05,&quot;top&quot;:91.25,&quot;width&quot;:920.15}"/>
</p:tagLst>
</file>

<file path=ppt/tags/tag29.xml><?xml version="1.0" encoding="utf-8"?>
<p:tagLst xmlns:p="http://schemas.openxmlformats.org/presentationml/2006/main">
  <p:tag name="KSO_WM_DIAGRAM_VIRTUALLY_FRAME" val="{&quot;height&quot;:410,&quot;left&quot;:29.05,&quot;top&quot;:91.25,&quot;width&quot;:912.85}"/>
</p:tagLst>
</file>

<file path=ppt/tags/tag30.xml><?xml version="1.0" encoding="utf-8"?>
<p:tagLst xmlns:p="http://schemas.openxmlformats.org/presentationml/2006/main">
  <p:tag name="KSO_WM_DIAGRAM_VIRTUALLY_FRAME" val="{&quot;height&quot;:410,&quot;left&quot;:29.05,&quot;top&quot;:91.25,&quot;width&quot;:912.85}"/>
</p:tagLst>
</file>

<file path=ppt/tags/tag31.xml><?xml version="1.0" encoding="utf-8"?>
<p:tagLst xmlns:p="http://schemas.openxmlformats.org/presentationml/2006/main">
  <p:tag name="KSO_WM_DIAGRAM_VIRTUALLY_FRAME" val="{&quot;height&quot;:410,&quot;left&quot;:29.05,&quot;top&quot;:91.25,&quot;width&quot;:912.85}"/>
</p:tagLst>
</file>

<file path=ppt/tags/tag32.xml><?xml version="1.0" encoding="utf-8"?>
<p:tagLst xmlns:p="http://schemas.openxmlformats.org/presentationml/2006/main">
  <p:tag name="KSO_WM_DIAGRAM_VIRTUALLY_FRAME" val="{&quot;height&quot;:410,&quot;left&quot;:29.05,&quot;top&quot;:91.25,&quot;width&quot;:912.85}"/>
</p:tagLst>
</file>

<file path=ppt/tags/tag33.xml><?xml version="1.0" encoding="utf-8"?>
<p:tagLst xmlns:p="http://schemas.openxmlformats.org/presentationml/2006/main">
  <p:tag name="KSO_WM_DIAGRAM_VIRTUALLY_FRAME" val="{&quot;height&quot;:410,&quot;left&quot;:29.05,&quot;top&quot;:91.25,&quot;width&quot;:912.85}"/>
</p:tagLst>
</file>

<file path=ppt/tags/tag34.xml><?xml version="1.0" encoding="utf-8"?>
<p:tagLst xmlns:p="http://schemas.openxmlformats.org/presentationml/2006/main">
  <p:tag name="KSO_WM_DIAGRAM_VIRTUALLY_FRAME" val="{&quot;height&quot;:410,&quot;left&quot;:29.05,&quot;top&quot;:91.25,&quot;width&quot;:912.85}"/>
</p:tagLst>
</file>

<file path=ppt/tags/tag35.xml><?xml version="1.0" encoding="utf-8"?>
<p:tagLst xmlns:p="http://schemas.openxmlformats.org/presentationml/2006/main">
  <p:tag name="KSO_WM_DIAGRAM_VIRTUALLY_FRAME" val="{&quot;height&quot;:410,&quot;left&quot;:29.05,&quot;top&quot;:91.25,&quot;width&quot;:912.85}"/>
</p:tagLst>
</file>

<file path=ppt/tags/tag36.xml><?xml version="1.0" encoding="utf-8"?>
<p:tagLst xmlns:p="http://schemas.openxmlformats.org/presentationml/2006/main">
  <p:tag name="KSO_WM_DIAGRAM_VIRTUALLY_FRAME" val="{&quot;height&quot;:410,&quot;left&quot;:29.05,&quot;top&quot;:91.25,&quot;width&quot;:912.85}"/>
</p:tagLst>
</file>

<file path=ppt/tags/tag37.xml><?xml version="1.0" encoding="utf-8"?>
<p:tagLst xmlns:p="http://schemas.openxmlformats.org/presentationml/2006/main">
  <p:tag name="KSO_WM_DIAGRAM_VIRTUALLY_FRAME" val="{&quot;height&quot;:410,&quot;left&quot;:29.05,&quot;top&quot;:91.25,&quot;width&quot;:912.85}"/>
</p:tagLst>
</file>

<file path=ppt/tags/tag38.xml><?xml version="1.0" encoding="utf-8"?>
<p:tagLst xmlns:p="http://schemas.openxmlformats.org/presentationml/2006/main">
  <p:tag name="KSO_WM_DIAGRAM_VIRTUALLY_FRAME" val="{&quot;height&quot;:410,&quot;left&quot;:29.05,&quot;top&quot;:91.25,&quot;width&quot;:919.5}"/>
</p:tagLst>
</file>

<file path=ppt/tags/tag39.xml><?xml version="1.0" encoding="utf-8"?>
<p:tagLst xmlns:p="http://schemas.openxmlformats.org/presentationml/2006/main">
  <p:tag name="KSO_WM_DIAGRAM_VIRTUALLY_FRAME" val="{&quot;height&quot;:410,&quot;left&quot;:29.05,&quot;top&quot;:91.25,&quot;width&quot;:919.5}"/>
</p:tagLst>
</file>

<file path=ppt/tags/tag40.xml><?xml version="1.0" encoding="utf-8"?>
<p:tagLst xmlns:p="http://schemas.openxmlformats.org/presentationml/2006/main">
  <p:tag name="KSO_WM_DIAGRAM_VIRTUALLY_FRAME" val="{&quot;height&quot;:410,&quot;left&quot;:29.05,&quot;top&quot;:91.25,&quot;width&quot;:919.5}"/>
</p:tagLst>
</file>

<file path=ppt/tags/tag41.xml><?xml version="1.0" encoding="utf-8"?>
<p:tagLst xmlns:p="http://schemas.openxmlformats.org/presentationml/2006/main">
  <p:tag name="KSO_WM_DIAGRAM_VIRTUALLY_FRAME" val="{&quot;height&quot;:410,&quot;left&quot;:29.05,&quot;top&quot;:91.25,&quot;width&quot;:919.5}"/>
</p:tagLst>
</file>

<file path=ppt/tags/tag42.xml><?xml version="1.0" encoding="utf-8"?>
<p:tagLst xmlns:p="http://schemas.openxmlformats.org/presentationml/2006/main">
  <p:tag name="KSO_WM_DIAGRAM_VIRTUALLY_FRAME" val="{&quot;height&quot;:410,&quot;left&quot;:29.05,&quot;top&quot;:91.25,&quot;width&quot;:919.5}"/>
</p:tagLst>
</file>

<file path=ppt/tags/tag43.xml><?xml version="1.0" encoding="utf-8"?>
<p:tagLst xmlns:p="http://schemas.openxmlformats.org/presentationml/2006/main">
  <p:tag name="KSO_WM_DIAGRAM_VIRTUALLY_FRAME" val="{&quot;height&quot;:410,&quot;left&quot;:29.05,&quot;top&quot;:91.25,&quot;width&quot;:919.5}"/>
</p:tagLst>
</file>

<file path=ppt/tags/tag44.xml><?xml version="1.0" encoding="utf-8"?>
<p:tagLst xmlns:p="http://schemas.openxmlformats.org/presentationml/2006/main">
  <p:tag name="KSO_WM_DIAGRAM_VIRTUALLY_FRAME" val="{&quot;height&quot;:410,&quot;left&quot;:29.05,&quot;top&quot;:91.25,&quot;width&quot;:919.5}"/>
</p:tagLst>
</file>

<file path=ppt/tags/tag45.xml><?xml version="1.0" encoding="utf-8"?>
<p:tagLst xmlns:p="http://schemas.openxmlformats.org/presentationml/2006/main">
  <p:tag name="KSO_WM_DIAGRAM_VIRTUALLY_FRAME" val="{&quot;height&quot;:410,&quot;left&quot;:29.05,&quot;top&quot;:91.25,&quot;width&quot;:919.5}"/>
</p:tagLst>
</file>

<file path=ppt/tags/tag46.xml><?xml version="1.0" encoding="utf-8"?>
<p:tagLst xmlns:p="http://schemas.openxmlformats.org/presentationml/2006/main">
  <p:tag name="KSO_WM_DIAGRAM_VIRTUALLY_FRAME" val="{&quot;height&quot;:410,&quot;left&quot;:29.05,&quot;top&quot;:91.25,&quot;width&quot;:919.5}"/>
</p:tagLst>
</file>

<file path=ppt/tags/tag47.xml><?xml version="1.0" encoding="utf-8"?>
<p:tagLst xmlns:p="http://schemas.openxmlformats.org/presentationml/2006/main">
  <p:tag name="KSO_WM_DIAGRAM_VIRTUALLY_FRAME" val="{&quot;height&quot;:410,&quot;left&quot;:29.05,&quot;top&quot;:91.25,&quot;width&quot;:919.5}"/>
</p:tagLst>
</file>

<file path=ppt/tags/tag48.xml><?xml version="1.0" encoding="utf-8"?>
<p:tagLst xmlns:p="http://schemas.openxmlformats.org/presentationml/2006/main">
  <p:tag name="KSO_WM_DIAGRAM_VIRTUALLY_FRAME" val="{&quot;height&quot;:403.1,&quot;left&quot;:55.7,&quot;top&quot;:109.25,&quot;width&quot;:860.45}"/>
</p:tagLst>
</file>

<file path=ppt/tags/tag49.xml><?xml version="1.0" encoding="utf-8"?>
<p:tagLst xmlns:p="http://schemas.openxmlformats.org/presentationml/2006/main">
  <p:tag name="KSO_WM_DIAGRAM_VIRTUALLY_FRAME" val="{&quot;height&quot;:403.1,&quot;left&quot;:55.7,&quot;top&quot;:109.25,&quot;width&quot;:860.45}"/>
</p:tagLst>
</file>

<file path=ppt/tags/tag50.xml><?xml version="1.0" encoding="utf-8"?>
<p:tagLst xmlns:p="http://schemas.openxmlformats.org/presentationml/2006/main">
  <p:tag name="KSO_WM_DIAGRAM_VIRTUALLY_FRAME" val="{&quot;height&quot;:403.1,&quot;left&quot;:55.7,&quot;top&quot;:109.25,&quot;width&quot;:860.45}"/>
</p:tagLst>
</file>

<file path=ppt/tags/tag51.xml><?xml version="1.0" encoding="utf-8"?>
<p:tagLst xmlns:p="http://schemas.openxmlformats.org/presentationml/2006/main">
  <p:tag name="KSO_WM_DIAGRAM_VIRTUALLY_FRAME" val="{&quot;height&quot;:403.1,&quot;left&quot;:55.7,&quot;top&quot;:109.25,&quot;width&quot;:860.45}"/>
</p:tagLst>
</file>

<file path=ppt/tags/tag52.xml><?xml version="1.0" encoding="utf-8"?>
<p:tagLst xmlns:p="http://schemas.openxmlformats.org/presentationml/2006/main">
  <p:tag name="KSO_WM_DIAGRAM_VIRTUALLY_FRAME" val="{&quot;height&quot;:403.1,&quot;left&quot;:55.7,&quot;top&quot;:109.25,&quot;width&quot;:860.45}"/>
</p:tagLst>
</file>

<file path=ppt/tags/tag53.xml><?xml version="1.0" encoding="utf-8"?>
<p:tagLst xmlns:p="http://schemas.openxmlformats.org/presentationml/2006/main">
  <p:tag name="KSO_WM_DIAGRAM_VIRTUALLY_FRAME" val="{&quot;height&quot;:403.1,&quot;left&quot;:55.7,&quot;top&quot;:109.25,&quot;width&quot;:860.45}"/>
</p:tagLst>
</file>

<file path=ppt/tags/tag54.xml><?xml version="1.0" encoding="utf-8"?>
<p:tagLst xmlns:p="http://schemas.openxmlformats.org/presentationml/2006/main">
  <p:tag name="KSO_WM_DIAGRAM_VIRTUALLY_FRAME" val="{&quot;height&quot;:403.1,&quot;left&quot;:55.7,&quot;top&quot;:109.25,&quot;width&quot;:860.45}"/>
</p:tagLst>
</file>

<file path=ppt/tags/tag55.xml><?xml version="1.0" encoding="utf-8"?>
<p:tagLst xmlns:p="http://schemas.openxmlformats.org/presentationml/2006/main">
  <p:tag name="KSO_WM_DIAGRAM_VIRTUALLY_FRAME" val="{&quot;height&quot;:403.1,&quot;left&quot;:55.7,&quot;top&quot;:109.25,&quot;width&quot;:860.45}"/>
</p:tagLst>
</file>

<file path=ppt/tags/tag56.xml><?xml version="1.0" encoding="utf-8"?>
<p:tagLst xmlns:p="http://schemas.openxmlformats.org/presentationml/2006/main">
  <p:tag name="KSO_WM_DIAGRAM_VIRTUALLY_FRAME" val="{&quot;height&quot;:403.1,&quot;left&quot;:55.7,&quot;top&quot;:109.25,&quot;width&quot;:860.45}"/>
</p:tagLst>
</file>

<file path=ppt/tags/tag57.xml><?xml version="1.0" encoding="utf-8"?>
<p:tagLst xmlns:p="http://schemas.openxmlformats.org/presentationml/2006/main">
  <p:tag name="KSO_WM_DIAGRAM_VIRTUALLY_FRAME" val="{&quot;height&quot;:403.1,&quot;left&quot;:55.7,&quot;top&quot;:109.25,&quot;width&quot;:860.45}"/>
</p:tagLst>
</file>

<file path=ppt/tags/tag58.xml><?xml version="1.0" encoding="utf-8"?>
<p:tagLst xmlns:p="http://schemas.openxmlformats.org/presentationml/2006/main">
  <p:tag name="KSO_WM_DIAGRAM_VIRTUALLY_FRAME" val="{&quot;height&quot;:403.1,&quot;left&quot;:55.7,&quot;top&quot;:109.25,&quot;width&quot;:860.45}"/>
</p:tagLst>
</file>

<file path=ppt/tags/tag59.xml><?xml version="1.0" encoding="utf-8"?>
<p:tagLst xmlns:p="http://schemas.openxmlformats.org/presentationml/2006/main">
  <p:tag name="KSO_WM_DIAGRAM_VIRTUALLY_FRAME" val="{&quot;height&quot;:403.1,&quot;left&quot;:55.7,&quot;top&quot;:109.25,&quot;width&quot;:860.45}"/>
</p:tagLst>
</file>

<file path=ppt/tags/tag60.xml><?xml version="1.0" encoding="utf-8"?>
<p:tagLst xmlns:p="http://schemas.openxmlformats.org/presentationml/2006/main">
  <p:tag name="KSO_WM_DIAGRAM_VIRTUALLY_FRAME" val="{&quot;height&quot;:403.1,&quot;left&quot;:55.7,&quot;top&quot;:109.25,&quot;width&quot;:860.45}"/>
</p:tagLst>
</file>

<file path=ppt/tags/tag61.xml><?xml version="1.0" encoding="utf-8"?>
<p:tagLst xmlns:p="http://schemas.openxmlformats.org/presentationml/2006/main">
  <p:tag name="KSO_WM_DIAGRAM_VIRTUALLY_FRAME" val="{&quot;height&quot;:403.1,&quot;left&quot;:55.7,&quot;top&quot;:109.25,&quot;width&quot;:860.45}"/>
</p:tagLst>
</file>

<file path=ppt/tags/tag62.xml><?xml version="1.0" encoding="utf-8"?>
<p:tagLst xmlns:p="http://schemas.openxmlformats.org/presentationml/2006/main">
  <p:tag name="KSO_WM_DIAGRAM_VIRTUALLY_FRAME" val="{&quot;height&quot;:403.1,&quot;left&quot;:55.7,&quot;top&quot;:109.25,&quot;width&quot;:860.45}"/>
</p:tagLst>
</file>

<file path=ppt/tags/tag63.xml><?xml version="1.0" encoding="utf-8"?>
<p:tagLst xmlns:p="http://schemas.openxmlformats.org/presentationml/2006/main">
  <p:tag name="KSO_WM_DIAGRAM_VIRTUALLY_FRAME" val="{&quot;height&quot;:403.1,&quot;left&quot;:55.7,&quot;top&quot;:109.25,&quot;width&quot;:860.45}"/>
</p:tagLst>
</file>

<file path=ppt/tags/tag64.xml><?xml version="1.0" encoding="utf-8"?>
<p:tagLst xmlns:p="http://schemas.openxmlformats.org/presentationml/2006/main">
  <p:tag name="KSO_WM_DIAGRAM_VIRTUALLY_FRAME" val="{&quot;height&quot;:403.1,&quot;left&quot;:55.7,&quot;top&quot;:109.25,&quot;width&quot;:860.45}"/>
</p:tagLst>
</file>

<file path=ppt/tags/tag65.xml><?xml version="1.0" encoding="utf-8"?>
<p:tagLst xmlns:p="http://schemas.openxmlformats.org/presentationml/2006/main">
  <p:tag name="KSO_WM_DIAGRAM_VIRTUALLY_FRAME" val="{&quot;height&quot;:403.1,&quot;left&quot;:55.7,&quot;top&quot;:109.25,&quot;width&quot;:860.45}"/>
</p:tagLst>
</file>

<file path=ppt/tags/tag66.xml><?xml version="1.0" encoding="utf-8"?>
<p:tagLst xmlns:p="http://schemas.openxmlformats.org/presentationml/2006/main">
  <p:tag name="KSO_WM_DIAGRAM_VIRTUALLY_FRAME" val="{&quot;height&quot;:403.1,&quot;left&quot;:55.7,&quot;top&quot;:109.25,&quot;width&quot;:860.45}"/>
</p:tagLst>
</file>

<file path=ppt/tags/tag67.xml><?xml version="1.0" encoding="utf-8"?>
<p:tagLst xmlns:p="http://schemas.openxmlformats.org/presentationml/2006/main">
  <p:tag name="KSO_WM_DIAGRAM_VIRTUALLY_FRAME" val="{&quot;height&quot;:403.1,&quot;left&quot;:55.7,&quot;top&quot;:109.25,&quot;width&quot;:860.45}"/>
</p:tagLst>
</file>

<file path=ppt/tags/tag68.xml><?xml version="1.0" encoding="utf-8"?>
<p:tagLst xmlns:p="http://schemas.openxmlformats.org/presentationml/2006/main">
  <p:tag name="KSO_WM_DIAGRAM_VIRTUALLY_FRAME" val="{&quot;height&quot;:403.1,&quot;left&quot;:55.7,&quot;top&quot;:109.25,&quot;width&quot;:860.45}"/>
</p:tagLst>
</file>

<file path=ppt/tags/tag69.xml><?xml version="1.0" encoding="utf-8"?>
<p:tagLst xmlns:p="http://schemas.openxmlformats.org/presentationml/2006/main">
  <p:tag name="KSO_WM_DIAGRAM_VIRTUALLY_FRAME" val="{&quot;height&quot;:403.1,&quot;left&quot;:55.7,&quot;top&quot;:109.25,&quot;width&quot;:860.45}"/>
</p:tagLst>
</file>

<file path=ppt/tags/tag70.xml><?xml version="1.0" encoding="utf-8"?>
<p:tagLst xmlns:p="http://schemas.openxmlformats.org/presentationml/2006/main">
  <p:tag name="KSO_WM_DIAGRAM_VIRTUALLY_FRAME" val="{&quot;height&quot;:403.1,&quot;left&quot;:55.7,&quot;top&quot;:109.25,&quot;width&quot;:860.45}"/>
</p:tagLst>
</file>

<file path=ppt/tags/tag71.xml><?xml version="1.0" encoding="utf-8"?>
<p:tagLst xmlns:p="http://schemas.openxmlformats.org/presentationml/2006/main">
  <p:tag name="KSO_WM_DIAGRAM_VIRTUALLY_FRAME" val="{&quot;height&quot;:403.1,&quot;left&quot;:55.7,&quot;top&quot;:109.25,&quot;width&quot;:860.45}"/>
</p:tagLst>
</file>

<file path=ppt/tags/tag72.xml><?xml version="1.0" encoding="utf-8"?>
<p:tagLst xmlns:p="http://schemas.openxmlformats.org/presentationml/2006/main">
  <p:tag name="KSO_WM_DIAGRAM_VIRTUALLY_FRAME" val="{&quot;height&quot;:403.1,&quot;left&quot;:55.7,&quot;top&quot;:109.25,&quot;width&quot;:860.45}"/>
</p:tagLst>
</file>

<file path=ppt/tags/tag73.xml><?xml version="1.0" encoding="utf-8"?>
<p:tagLst xmlns:p="http://schemas.openxmlformats.org/presentationml/2006/main">
  <p:tag name="KSO_WM_DIAGRAM_VIRTUALLY_FRAME" val="{&quot;height&quot;:403.1,&quot;left&quot;:55.7,&quot;top&quot;:109.25,&quot;width&quot;:860.45}"/>
</p:tagLst>
</file>

<file path=ppt/tags/tag74.xml><?xml version="1.0" encoding="utf-8"?>
<p:tagLst xmlns:p="http://schemas.openxmlformats.org/presentationml/2006/main">
  <p:tag name="KSO_WM_DIAGRAM_VIRTUALLY_FRAME" val="{&quot;height&quot;:403.1,&quot;left&quot;:55.7,&quot;top&quot;:109.25,&quot;width&quot;:860.45}"/>
</p:tagLst>
</file>

<file path=ppt/tags/tag75.xml><?xml version="1.0" encoding="utf-8"?>
<p:tagLst xmlns:p="http://schemas.openxmlformats.org/presentationml/2006/main">
  <p:tag name="KSO_WM_DIAGRAM_VIRTUALLY_FRAME" val="{&quot;height&quot;:403.1,&quot;left&quot;:55.7,&quot;top&quot;:109.25,&quot;width&quot;:860.45}"/>
</p:tagLst>
</file>

<file path=ppt/tags/tag76.xml><?xml version="1.0" encoding="utf-8"?>
<p:tagLst xmlns:p="http://schemas.openxmlformats.org/presentationml/2006/main">
  <p:tag name="KSO_WM_DIAGRAM_VIRTUALLY_FRAME" val="{&quot;height&quot;:403.1,&quot;left&quot;:55.7,&quot;top&quot;:109.25,&quot;width&quot;:860.45}"/>
</p:tagLst>
</file>

<file path=ppt/tags/tag77.xml><?xml version="1.0" encoding="utf-8"?>
<p:tagLst xmlns:p="http://schemas.openxmlformats.org/presentationml/2006/main">
  <p:tag name="KSO_WM_DIAGRAM_VIRTUALLY_FRAME" val="{&quot;height&quot;:403.1,&quot;left&quot;:55.7,&quot;top&quot;:109.25,&quot;width&quot;:860.45}"/>
</p:tagLst>
</file>

<file path=ppt/tags/tag78.xml><?xml version="1.0" encoding="utf-8"?>
<p:tagLst xmlns:p="http://schemas.openxmlformats.org/presentationml/2006/main">
  <p:tag name="KSO_WM_DIAGRAM_VIRTUALLY_FRAME" val="{&quot;height&quot;:403.1,&quot;left&quot;:55.7,&quot;top&quot;:109.25,&quot;width&quot;:860.45}"/>
</p:tagLst>
</file>

<file path=ppt/tags/tag79.xml><?xml version="1.0" encoding="utf-8"?>
<p:tagLst xmlns:p="http://schemas.openxmlformats.org/presentationml/2006/main">
  <p:tag name="KSO_WM_DIAGRAM_VIRTUALLY_FRAME" val="{&quot;height&quot;:403.1,&quot;left&quot;:55.7,&quot;top&quot;:109.25,&quot;width&quot;:860.45}"/>
</p:tagLst>
</file>

<file path=ppt/tags/tag80.xml><?xml version="1.0" encoding="utf-8"?>
<p:tagLst xmlns:p="http://schemas.openxmlformats.org/presentationml/2006/main">
  <p:tag name="KSO_WM_DIAGRAM_VIRTUALLY_FRAME" val="{&quot;height&quot;:403.1,&quot;left&quot;:55.7,&quot;top&quot;:109.25,&quot;width&quot;:860.45}"/>
</p:tagLst>
</file>

<file path=ppt/tags/tag81.xml><?xml version="1.0" encoding="utf-8"?>
<p:tagLst xmlns:p="http://schemas.openxmlformats.org/presentationml/2006/main">
  <p:tag name="KSO_WM_DIAGRAM_VIRTUALLY_FRAME" val="{&quot;height&quot;:403.1,&quot;left&quot;:55.7,&quot;top&quot;:109.25,&quot;width&quot;:860.45}"/>
</p:tagLst>
</file>

<file path=ppt/tags/tag82.xml><?xml version="1.0" encoding="utf-8"?>
<p:tagLst xmlns:p="http://schemas.openxmlformats.org/presentationml/2006/main">
  <p:tag name="KSO_WM_DIAGRAM_VIRTUALLY_FRAME" val="{&quot;height&quot;:403.1,&quot;left&quot;:55.7,&quot;top&quot;:109.25,&quot;width&quot;:860.45}"/>
</p:tagLst>
</file>

<file path=ppt/tags/tag83.xml><?xml version="1.0" encoding="utf-8"?>
<p:tagLst xmlns:p="http://schemas.openxmlformats.org/presentationml/2006/main">
  <p:tag name="KSO_WM_DIAGRAM_VIRTUALLY_FRAME" val="{&quot;height&quot;:403.1,&quot;left&quot;:55.7,&quot;top&quot;:109.25,&quot;width&quot;:860.45}"/>
</p:tagLst>
</file>

<file path=ppt/tags/tag84.xml><?xml version="1.0" encoding="utf-8"?>
<p:tagLst xmlns:p="http://schemas.openxmlformats.org/presentationml/2006/main">
  <p:tag name="KSO_WM_DIAGRAM_VIRTUALLY_FRAME" val="{&quot;height&quot;:403.1,&quot;left&quot;:55.7,&quot;top&quot;:109.25,&quot;width&quot;:860.45}"/>
</p:tagLst>
</file>

<file path=ppt/tags/tag85.xml><?xml version="1.0" encoding="utf-8"?>
<p:tagLst xmlns:p="http://schemas.openxmlformats.org/presentationml/2006/main">
  <p:tag name="KSO_WM_DIAGRAM_VIRTUALLY_FRAME" val="{&quot;height&quot;:403.1,&quot;left&quot;:55.7,&quot;top&quot;:109.25,&quot;width&quot;:860.45}"/>
</p:tagLst>
</file>

<file path=ppt/tags/tag86.xml><?xml version="1.0" encoding="utf-8"?>
<p:tagLst xmlns:p="http://schemas.openxmlformats.org/presentationml/2006/main">
  <p:tag name="KSO_WM_DIAGRAM_VIRTUALLY_FRAME" val="{&quot;height&quot;:403.1,&quot;left&quot;:55.7,&quot;top&quot;:109.25,&quot;width&quot;:860.45}"/>
</p:tagLst>
</file>

<file path=ppt/tags/tag87.xml><?xml version="1.0" encoding="utf-8"?>
<p:tagLst xmlns:p="http://schemas.openxmlformats.org/presentationml/2006/main">
  <p:tag name="KSO_WM_DIAGRAM_VIRTUALLY_FRAME" val="{&quot;height&quot;:403.1,&quot;left&quot;:55.7,&quot;top&quot;:109.25,&quot;width&quot;:860.45}"/>
</p:tagLst>
</file>

<file path=ppt/tags/tag88.xml><?xml version="1.0" encoding="utf-8"?>
<p:tagLst xmlns:p="http://schemas.openxmlformats.org/presentationml/2006/main">
  <p:tag name="KSO_WM_DIAGRAM_VIRTUALLY_FRAME" val="{&quot;height&quot;:403.1,&quot;left&quot;:55.7,&quot;top&quot;:109.25,&quot;width&quot;:860.45}"/>
</p:tagLst>
</file>

<file path=ppt/tags/tag89.xml><?xml version="1.0" encoding="utf-8"?>
<p:tagLst xmlns:p="http://schemas.openxmlformats.org/presentationml/2006/main">
  <p:tag name="KSO_WM_DIAGRAM_VIRTUALLY_FRAME" val="{&quot;height&quot;:403.1,&quot;left&quot;:55.7,&quot;top&quot;:109.25,&quot;width&quot;:860.45}"/>
</p:tagLst>
</file>

<file path=ppt/tags/tag90.xml><?xml version="1.0" encoding="utf-8"?>
<p:tagLst xmlns:p="http://schemas.openxmlformats.org/presentationml/2006/main">
  <p:tag name="KSO_WM_DIAGRAM_VIRTUALLY_FRAME" val="{&quot;height&quot;:403.1,&quot;left&quot;:55.7,&quot;top&quot;:109.25,&quot;width&quot;:860.45}"/>
</p:tagLst>
</file>

<file path=ppt/tags/tag91.xml><?xml version="1.0" encoding="utf-8"?>
<p:tagLst xmlns:p="http://schemas.openxmlformats.org/presentationml/2006/main">
  <p:tag name="KSO_WM_DIAGRAM_VIRTUALLY_FRAME" val="{&quot;height&quot;:403.1,&quot;left&quot;:55.7,&quot;top&quot;:109.25,&quot;width&quot;:860.45}"/>
</p:tagLst>
</file>

<file path=ppt/tags/tag92.xml><?xml version="1.0" encoding="utf-8"?>
<p:tagLst xmlns:p="http://schemas.openxmlformats.org/presentationml/2006/main">
  <p:tag name="KSO_WM_DIAGRAM_VIRTUALLY_FRAME" val="{&quot;height&quot;:403.1,&quot;left&quot;:55.7,&quot;top&quot;:109.25,&quot;width&quot;:860.45}"/>
</p:tagLst>
</file>

<file path=ppt/tags/tag93.xml><?xml version="1.0" encoding="utf-8"?>
<p:tagLst xmlns:p="http://schemas.openxmlformats.org/presentationml/2006/main">
  <p:tag name="KSO_WM_DIAGRAM_VIRTUALLY_FRAME" val="{&quot;height&quot;:403.1,&quot;left&quot;:55.7,&quot;top&quot;:109.25,&quot;width&quot;:860.45}"/>
</p:tagLst>
</file>

<file path=ppt/tags/tag94.xml><?xml version="1.0" encoding="utf-8"?>
<p:tagLst xmlns:p="http://schemas.openxmlformats.org/presentationml/2006/main">
  <p:tag name="KSO_WM_DIAGRAM_VIRTUALLY_FRAME" val="{&quot;height&quot;:403.1,&quot;left&quot;:55.7,&quot;top&quot;:109.25,&quot;width&quot;:860.45}"/>
</p:tagLst>
</file>

<file path=ppt/tags/tag95.xml><?xml version="1.0" encoding="utf-8"?>
<p:tagLst xmlns:p="http://schemas.openxmlformats.org/presentationml/2006/main">
  <p:tag name="KSO_WM_DIAGRAM_VIRTUALLY_FRAME" val="{&quot;height&quot;:403.1,&quot;left&quot;:55.7,&quot;top&quot;:109.25,&quot;width&quot;:860.45}"/>
</p:tagLst>
</file>

<file path=ppt/tags/tag96.xml><?xml version="1.0" encoding="utf-8"?>
<p:tagLst xmlns:p="http://schemas.openxmlformats.org/presentationml/2006/main">
  <p:tag name="KSO_WM_DIAGRAM_VIRTUALLY_FRAME" val="{&quot;height&quot;:403.1,&quot;left&quot;:55.7,&quot;top&quot;:109.25,&quot;width&quot;:860.45}"/>
</p:tagLst>
</file>

<file path=ppt/tags/tag97.xml><?xml version="1.0" encoding="utf-8"?>
<p:tagLst xmlns:p="http://schemas.openxmlformats.org/presentationml/2006/main">
  <p:tag name="KSO_WM_DIAGRAM_VIRTUALLY_FRAME" val="{&quot;height&quot;:403.1,&quot;left&quot;:55.7,&quot;top&quot;:109.25,&quot;width&quot;:860.45}"/>
</p:tagLst>
</file>

<file path=ppt/tags/tag98.xml><?xml version="1.0" encoding="utf-8"?>
<p:tagLst xmlns:p="http://schemas.openxmlformats.org/presentationml/2006/main">
  <p:tag name="KSO_WM_DIAGRAM_VIRTUALLY_FRAME" val="{&quot;height&quot;:403.1,&quot;left&quot;:55.7,&quot;top&quot;:109.25,&quot;width&quot;:860.45}"/>
</p:tagLst>
</file>

<file path=ppt/tags/tag99.xml><?xml version="1.0" encoding="utf-8"?>
<p:tagLst xmlns:p="http://schemas.openxmlformats.org/presentationml/2006/main">
  <p:tag name="KSO_WM_DIAGRAM_VIRTUALLY_FRAME" val="{&quot;height&quot;:403.1,&quot;left&quot;:55.7,&quot;top&quot;:109.25,&quot;width&quot;:860.45}"/>
</p:tagLst>
</file>

<file path=ppt/tags/tag100.xml><?xml version="1.0" encoding="utf-8"?>
<p:tagLst xmlns:p="http://schemas.openxmlformats.org/presentationml/2006/main">
  <p:tag name="KSO_WM_DIAGRAM_VIRTUALLY_FRAME" val="{&quot;height&quot;:403.1,&quot;left&quot;:55.7,&quot;top&quot;:109.25,&quot;width&quot;:860.45}"/>
</p:tagLst>
</file>

<file path=ppt/tags/tag101.xml><?xml version="1.0" encoding="utf-8"?>
<p:tagLst xmlns:p="http://schemas.openxmlformats.org/presentationml/2006/main">
  <p:tag name="KSO_WM_DIAGRAM_VIRTUALLY_FRAME" val="{&quot;height&quot;:403.1,&quot;left&quot;:55.7,&quot;top&quot;:109.25,&quot;width&quot;:860.45}"/>
</p:tagLst>
</file>

<file path=ppt/tags/tag102.xml><?xml version="1.0" encoding="utf-8"?>
<p:tagLst xmlns:p="http://schemas.openxmlformats.org/presentationml/2006/main">
  <p:tag name="KSO_WM_DIAGRAM_VIRTUALLY_FRAME" val="{&quot;height&quot;:403.1,&quot;left&quot;:55.7,&quot;top&quot;:109.25,&quot;width&quot;:860.45}"/>
</p:tagLst>
</file>

<file path=ppt/tags/tag103.xml><?xml version="1.0" encoding="utf-8"?>
<p:tagLst xmlns:p="http://schemas.openxmlformats.org/presentationml/2006/main">
  <p:tag name="KSO_WM_DIAGRAM_VIRTUALLY_FRAME" val="{&quot;height&quot;:403.1,&quot;left&quot;:55.7,&quot;top&quot;:109.25,&quot;width&quot;:860.45}"/>
</p:tagLst>
</file>

<file path=ppt/tags/tag104.xml><?xml version="1.0" encoding="utf-8"?>
<p:tagLst xmlns:p="http://schemas.openxmlformats.org/presentationml/2006/main">
  <p:tag name="KSO_WM_DIAGRAM_VIRTUALLY_FRAME" val="{&quot;height&quot;:403.1,&quot;left&quot;:55.7,&quot;top&quot;:109.25,&quot;width&quot;:860.45}"/>
</p:tagLst>
</file>

<file path=ppt/tags/tag105.xml><?xml version="1.0" encoding="utf-8"?>
<p:tagLst xmlns:p="http://schemas.openxmlformats.org/presentationml/2006/main">
  <p:tag name="KSO_WM_DIAGRAM_VIRTUALLY_FRAME" val="{&quot;height&quot;:403.1,&quot;left&quot;:55.7,&quot;top&quot;:109.25,&quot;width&quot;:860.45}"/>
</p:tagLst>
</file>

<file path=ppt/tags/tag106.xml><?xml version="1.0" encoding="utf-8"?>
<p:tagLst xmlns:p="http://schemas.openxmlformats.org/presentationml/2006/main">
  <p:tag name="KSO_WM_DIAGRAM_VIRTUALLY_FRAME" val="{&quot;height&quot;:403.1,&quot;left&quot;:55.7,&quot;top&quot;:109.25,&quot;width&quot;:860.45}"/>
</p:tagLst>
</file>

<file path=ppt/tags/tag107.xml><?xml version="1.0" encoding="utf-8"?>
<p:tagLst xmlns:p="http://schemas.openxmlformats.org/presentationml/2006/main">
  <p:tag name="KSO_WM_DIAGRAM_VIRTUALLY_FRAME" val="{&quot;height&quot;:403.1,&quot;left&quot;:55.7,&quot;top&quot;:109.25,&quot;width&quot;:860.45}"/>
</p:tagLst>
</file>

<file path=ppt/tags/tag108.xml><?xml version="1.0" encoding="utf-8"?>
<p:tagLst xmlns:p="http://schemas.openxmlformats.org/presentationml/2006/main">
  <p:tag name="KSO_WM_DIAGRAM_VIRTUALLY_FRAME" val="{&quot;height&quot;:403.1,&quot;left&quot;:55.7,&quot;top&quot;:109.25,&quot;width&quot;:860.45}"/>
</p:tagLst>
</file>

<file path=ppt/tags/tag109.xml><?xml version="1.0" encoding="utf-8"?>
<p:tagLst xmlns:p="http://schemas.openxmlformats.org/presentationml/2006/main">
  <p:tag name="KSO_WM_DIAGRAM_VIRTUALLY_FRAME" val="{&quot;height&quot;:403.1,&quot;left&quot;:55.7,&quot;top&quot;:109.25,&quot;width&quot;:860.45}"/>
</p:tagLst>
</file>

<file path=ppt/tags/tag110.xml><?xml version="1.0" encoding="utf-8"?>
<p:tagLst xmlns:p="http://schemas.openxmlformats.org/presentationml/2006/main">
  <p:tag name="KSO_WM_DIAGRAM_VIRTUALLY_FRAME" val="{&quot;height&quot;:403.1,&quot;left&quot;:55.7,&quot;top&quot;:109.25,&quot;width&quot;:860.45}"/>
</p:tagLst>
</file>

<file path=ppt/tags/tag111.xml><?xml version="1.0" encoding="utf-8"?>
<p:tagLst xmlns:p="http://schemas.openxmlformats.org/presentationml/2006/main">
  <p:tag name="KSO_WM_DIAGRAM_VIRTUALLY_FRAME" val="{&quot;height&quot;:403.1,&quot;left&quot;:55.7,&quot;top&quot;:109.25,&quot;width&quot;:860.45}"/>
</p:tagLst>
</file>

<file path=ppt/tags/tag112.xml><?xml version="1.0" encoding="utf-8"?>
<p:tagLst xmlns:p="http://schemas.openxmlformats.org/presentationml/2006/main">
  <p:tag name="KSO_WM_DIAGRAM_VIRTUALLY_FRAME" val="{&quot;height&quot;:403.1,&quot;left&quot;:55.7,&quot;top&quot;:109.25,&quot;width&quot;:860.45}"/>
</p:tagLst>
</file>

<file path=ppt/tags/tag113.xml><?xml version="1.0" encoding="utf-8"?>
<p:tagLst xmlns:p="http://schemas.openxmlformats.org/presentationml/2006/main">
  <p:tag name="KSO_WM_DIAGRAM_VIRTUALLY_FRAME" val="{&quot;height&quot;:403.1,&quot;left&quot;:55.7,&quot;top&quot;:109.25,&quot;width&quot;:860.45}"/>
</p:tagLst>
</file>

<file path=ppt/tags/tag114.xml><?xml version="1.0" encoding="utf-8"?>
<p:tagLst xmlns:p="http://schemas.openxmlformats.org/presentationml/2006/main">
  <p:tag name="KSO_WM_DIAGRAM_VIRTUALLY_FRAME" val="{&quot;height&quot;:403.1,&quot;left&quot;:55.7,&quot;top&quot;:109.25,&quot;width&quot;:860.45}"/>
</p:tagLst>
</file>

<file path=ppt/tags/tag115.xml><?xml version="1.0" encoding="utf-8"?>
<p:tagLst xmlns:p="http://schemas.openxmlformats.org/presentationml/2006/main">
  <p:tag name="KSO_WM_DIAGRAM_VIRTUALLY_FRAME" val="{&quot;height&quot;:403.1,&quot;left&quot;:55.7,&quot;top&quot;:109.25,&quot;width&quot;:860.45}"/>
</p:tagLst>
</file>

<file path=ppt/tags/tag116.xml><?xml version="1.0" encoding="utf-8"?>
<p:tagLst xmlns:p="http://schemas.openxmlformats.org/presentationml/2006/main">
  <p:tag name="KSO_WM_DIAGRAM_VIRTUALLY_FRAME" val="{&quot;height&quot;:403.1,&quot;left&quot;:55.7,&quot;top&quot;:109.25,&quot;width&quot;:860.45}"/>
</p:tagLst>
</file>

<file path=ppt/tags/tag117.xml><?xml version="1.0" encoding="utf-8"?>
<p:tagLst xmlns:p="http://schemas.openxmlformats.org/presentationml/2006/main">
  <p:tag name="KSO_WM_DIAGRAM_VIRTUALLY_FRAME" val="{&quot;height&quot;:403.1,&quot;left&quot;:55.7,&quot;top&quot;:109.25,&quot;width&quot;:860.45}"/>
</p:tagLst>
</file>

<file path=ppt/tags/tag118.xml><?xml version="1.0" encoding="utf-8"?>
<p:tagLst xmlns:p="http://schemas.openxmlformats.org/presentationml/2006/main">
  <p:tag name="KSO_WM_DIAGRAM_VIRTUALLY_FRAME" val="{&quot;height&quot;:403.1,&quot;left&quot;:55.7,&quot;top&quot;:109.25,&quot;width&quot;:860.45}"/>
</p:tagLst>
</file>

<file path=ppt/tags/tag119.xml><?xml version="1.0" encoding="utf-8"?>
<p:tagLst xmlns:p="http://schemas.openxmlformats.org/presentationml/2006/main">
  <p:tag name="KSO_WM_DIAGRAM_VIRTUALLY_FRAME" val="{&quot;height&quot;:403.1,&quot;left&quot;:55.7,&quot;top&quot;:109.25,&quot;width&quot;:860.45}"/>
</p:tagLst>
</file>

<file path=ppt/tags/tag120.xml><?xml version="1.0" encoding="utf-8"?>
<p:tagLst xmlns:p="http://schemas.openxmlformats.org/presentationml/2006/main">
  <p:tag name="KSO_WM_DIAGRAM_VIRTUALLY_FRAME" val="{&quot;height&quot;:403.1,&quot;left&quot;:55.7,&quot;top&quot;:109.25,&quot;width&quot;:860.45}"/>
</p:tagLst>
</file>

<file path=ppt/tags/tag121.xml><?xml version="1.0" encoding="utf-8"?>
<p:tagLst xmlns:p="http://schemas.openxmlformats.org/presentationml/2006/main">
  <p:tag name="KSO_WM_DIAGRAM_VIRTUALLY_FRAME" val="{&quot;height&quot;:403.1,&quot;left&quot;:55.7,&quot;top&quot;:109.25,&quot;width&quot;:860.45}"/>
</p:tagLst>
</file>

<file path=ppt/tags/tag122.xml><?xml version="1.0" encoding="utf-8"?>
<p:tagLst xmlns:p="http://schemas.openxmlformats.org/presentationml/2006/main">
  <p:tag name="KSO_WM_DIAGRAM_VIRTUALLY_FRAME" val="{&quot;height&quot;:403.1,&quot;left&quot;:55.7,&quot;top&quot;:109.25,&quot;width&quot;:860.45}"/>
</p:tagLst>
</file>

<file path=ppt/tags/tag123.xml><?xml version="1.0" encoding="utf-8"?>
<p:tagLst xmlns:p="http://schemas.openxmlformats.org/presentationml/2006/main">
  <p:tag name="KSO_WM_DIAGRAM_VIRTUALLY_FRAME" val="{&quot;height&quot;:403.1,&quot;left&quot;:55.7,&quot;top&quot;:109.25,&quot;width&quot;:860.45}"/>
</p:tagLst>
</file>

<file path=ppt/tags/tag124.xml><?xml version="1.0" encoding="utf-8"?>
<p:tagLst xmlns:p="http://schemas.openxmlformats.org/presentationml/2006/main">
  <p:tag name="KSO_WM_DIAGRAM_VIRTUALLY_FRAME" val="{&quot;height&quot;:403.1,&quot;left&quot;:55.7,&quot;top&quot;:109.25,&quot;width&quot;:860.45}"/>
</p:tagLst>
</file>

<file path=ppt/tags/tag125.xml><?xml version="1.0" encoding="utf-8"?>
<p:tagLst xmlns:p="http://schemas.openxmlformats.org/presentationml/2006/main">
  <p:tag name="KSO_WM_DIAGRAM_VIRTUALLY_FRAME" val="{&quot;height&quot;:403.1,&quot;left&quot;:55.7,&quot;top&quot;:109.25,&quot;width&quot;:860.45}"/>
</p:tagLst>
</file>

<file path=ppt/tags/tag126.xml><?xml version="1.0" encoding="utf-8"?>
<p:tagLst xmlns:p="http://schemas.openxmlformats.org/presentationml/2006/main">
  <p:tag name="KSO_WM_DIAGRAM_VIRTUALLY_FRAME" val="{&quot;height&quot;:403.1,&quot;left&quot;:55.7,&quot;top&quot;:109.25,&quot;width&quot;:860.45}"/>
</p:tagLst>
</file>

<file path=ppt/tags/tag127.xml><?xml version="1.0" encoding="utf-8"?>
<p:tagLst xmlns:p="http://schemas.openxmlformats.org/presentationml/2006/main">
  <p:tag name="KSO_WM_DIAGRAM_VIRTUALLY_FRAME" val="{&quot;height&quot;:403.1,&quot;left&quot;:55.7,&quot;top&quot;:109.25,&quot;width&quot;:860.45}"/>
</p:tagLst>
</file>

<file path=ppt/tags/tag128.xml><?xml version="1.0" encoding="utf-8"?>
<p:tagLst xmlns:p="http://schemas.openxmlformats.org/presentationml/2006/main">
  <p:tag name="TEXTZ '" val="-2.147484E+09"/>
  <p:tag name="SHADOWSIZE" val="100"/>
  <p:tag name="KSO_WM_DIAGRAM_VIRTUALLY_FRAME" val="{&quot;height&quot;:403.1,&quot;left&quot;:55.7,&quot;top&quot;:109.25,&quot;width&quot;:860.45}"/>
</p:tagLst>
</file>

<file path=ppt/tags/tag129.xml><?xml version="1.0" encoding="utf-8"?>
<p:tagLst xmlns:p="http://schemas.openxmlformats.org/presentationml/2006/main">
  <p:tag name="KSO_WM_DIAGRAM_VIRTUALLY_FRAME" val="{&quot;height&quot;:403.1,&quot;left&quot;:55.7,&quot;top&quot;:109.25,&quot;width&quot;:860.45}"/>
</p:tagLst>
</file>

<file path=ppt/tags/tag130.xml><?xml version="1.0" encoding="utf-8"?>
<p:tagLst xmlns:p="http://schemas.openxmlformats.org/presentationml/2006/main">
  <p:tag name="KSO_WM_DIAGRAM_VIRTUALLY_FRAME" val="{&quot;height&quot;:403.1,&quot;left&quot;:55.7,&quot;top&quot;:109.25,&quot;width&quot;:860.45}"/>
</p:tagLst>
</file>

<file path=ppt/tags/tag131.xml><?xml version="1.0" encoding="utf-8"?>
<p:tagLst xmlns:p="http://schemas.openxmlformats.org/presentationml/2006/main">
  <p:tag name="KSO_WM_DIAGRAM_VIRTUALLY_FRAME" val="{&quot;height&quot;:403.1,&quot;left&quot;:55.7,&quot;top&quot;:109.25,&quot;width&quot;:860.45}"/>
</p:tagLst>
</file>

<file path=ppt/tags/tag132.xml><?xml version="1.0" encoding="utf-8"?>
<p:tagLst xmlns:p="http://schemas.openxmlformats.org/presentationml/2006/main">
  <p:tag name="KSO_WM_DIAGRAM_VIRTUALLY_FRAME" val="{&quot;height&quot;:403.1,&quot;left&quot;:55.7,&quot;top&quot;:109.25,&quot;width&quot;:860.45}"/>
</p:tagLst>
</file>

<file path=ppt/tags/tag133.xml><?xml version="1.0" encoding="utf-8"?>
<p:tagLst xmlns:p="http://schemas.openxmlformats.org/presentationml/2006/main">
  <p:tag name="KSO_WM_DIAGRAM_VIRTUALLY_FRAME" val="{&quot;height&quot;:403.1,&quot;left&quot;:55.7,&quot;top&quot;:109.25,&quot;width&quot;:860.45}"/>
</p:tagLst>
</file>

<file path=ppt/tags/tag134.xml><?xml version="1.0" encoding="utf-8"?>
<p:tagLst xmlns:p="http://schemas.openxmlformats.org/presentationml/2006/main">
  <p:tag name="KSO_WM_DIAGRAM_VIRTUALLY_FRAME" val="{&quot;height&quot;:403.1,&quot;left&quot;:55.7,&quot;top&quot;:109.25,&quot;width&quot;:860.45}"/>
</p:tagLst>
</file>

<file path=ppt/tags/tag135.xml><?xml version="1.0" encoding="utf-8"?>
<p:tagLst xmlns:p="http://schemas.openxmlformats.org/presentationml/2006/main">
  <p:tag name="KSO_WM_DIAGRAM_VIRTUALLY_FRAME" val="{&quot;height&quot;:336.9,&quot;left&quot;:59.1,&quot;top&quot;:200.4,&quot;width&quot;:851.65}"/>
</p:tagLst>
</file>

<file path=ppt/tags/tag136.xml><?xml version="1.0" encoding="utf-8"?>
<p:tagLst xmlns:p="http://schemas.openxmlformats.org/presentationml/2006/main">
  <p:tag name="KSO_WM_DIAGRAM_VIRTUALLY_FRAME" val="{&quot;height&quot;:403.1,&quot;left&quot;:55.7,&quot;top&quot;:109.25,&quot;width&quot;:860.45}"/>
</p:tagLst>
</file>

<file path=ppt/tags/tag137.xml><?xml version="1.0" encoding="utf-8"?>
<p:tagLst xmlns:p="http://schemas.openxmlformats.org/presentationml/2006/main">
  <p:tag name="KSO_WM_DIAGRAM_VIRTUALLY_FRAME" val="{&quot;height&quot;:403.1,&quot;left&quot;:55.7,&quot;top&quot;:109.25,&quot;width&quot;:860.45}"/>
</p:tagLst>
</file>

<file path=ppt/tags/tag138.xml><?xml version="1.0" encoding="utf-8"?>
<p:tagLst xmlns:p="http://schemas.openxmlformats.org/presentationml/2006/main">
  <p:tag name="KSO_WM_DIAGRAM_VIRTUALLY_FRAME" val="{&quot;height&quot;:403.1,&quot;left&quot;:55.7,&quot;top&quot;:109.25,&quot;width&quot;:860.45}"/>
</p:tagLst>
</file>

<file path=ppt/tags/tag139.xml><?xml version="1.0" encoding="utf-8"?>
<p:tagLst xmlns:p="http://schemas.openxmlformats.org/presentationml/2006/main">
  <p:tag name="KSO_WM_DIAGRAM_VIRTUALLY_FRAME" val="{&quot;height&quot;:403.1,&quot;left&quot;:55.7,&quot;top&quot;:109.25,&quot;width&quot;:860.45}"/>
</p:tagLst>
</file>

<file path=ppt/tags/tag140.xml><?xml version="1.0" encoding="utf-8"?>
<p:tagLst xmlns:p="http://schemas.openxmlformats.org/presentationml/2006/main">
  <p:tag name="KSO_WM_DIAGRAM_VIRTUALLY_FRAME" val="{&quot;height&quot;:403.1,&quot;left&quot;:55.7,&quot;top&quot;:109.25,&quot;width&quot;:860.45}"/>
</p:tagLst>
</file>

<file path=ppt/tags/tag141.xml><?xml version="1.0" encoding="utf-8"?>
<p:tagLst xmlns:p="http://schemas.openxmlformats.org/presentationml/2006/main">
  <p:tag name="KSO_WM_DIAGRAM_VIRTUALLY_FRAME" val="{&quot;height&quot;:403.1,&quot;left&quot;:55.7,&quot;top&quot;:109.25,&quot;width&quot;:860.45}"/>
</p:tagLst>
</file>

<file path=ppt/tags/tag142.xml><?xml version="1.0" encoding="utf-8"?>
<p:tagLst xmlns:p="http://schemas.openxmlformats.org/presentationml/2006/main">
  <p:tag name="KSO_WM_DIAGRAM_VIRTUALLY_FRAME" val="{&quot;height&quot;:403.1,&quot;left&quot;:55.7,&quot;top&quot;:109.25,&quot;width&quot;:860.45}"/>
</p:tagLst>
</file>

<file path=ppt/tags/tag143.xml><?xml version="1.0" encoding="utf-8"?>
<p:tagLst xmlns:p="http://schemas.openxmlformats.org/presentationml/2006/main">
  <p:tag name="KSO_WM_DIAGRAM_VIRTUALLY_FRAME" val="{&quot;height&quot;:403.1,&quot;left&quot;:55.7,&quot;top&quot;:109.25,&quot;width&quot;:860.45}"/>
</p:tagLst>
</file>

<file path=ppt/tags/tag144.xml><?xml version="1.0" encoding="utf-8"?>
<p:tagLst xmlns:p="http://schemas.openxmlformats.org/presentationml/2006/main">
  <p:tag name="KSO_WM_UNIT_FILL_FORE_SCHEMECOLOR_INDEX_BRIGHTNESS" val="0"/>
  <p:tag name="KSO_WM_UNIT_FILL_FORE_SCHEMECOLOR_INDEX" val="6"/>
  <p:tag name="KSO_WM_UNIT_FILL_TYPE" val="1"/>
  <p:tag name="KSO_WM_UNIT_TEXT_FILL_FORE_SCHEMECOLOR_INDEX_BRIGHTNESS" val="0"/>
  <p:tag name="KSO_WM_UNIT_TEXT_FILL_FORE_SCHEMECOLOR_INDEX" val="2"/>
  <p:tag name="KSO_WM_UNIT_TEXT_FILL_TYPE" val="1"/>
  <p:tag name="KSO_WM_DIAGRAM_VIRTUALLY_FRAME" val="{&quot;height&quot;:403.1,&quot;left&quot;:55.7,&quot;top&quot;:109.25,&quot;width&quot;:860.45}"/>
</p:tagLst>
</file>

<file path=ppt/tags/tag145.xml><?xml version="1.0" encoding="utf-8"?>
<p:tagLst xmlns:p="http://schemas.openxmlformats.org/presentationml/2006/main">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 name="KSO_WM_DIAGRAM_VIRTUALLY_FRAME" val="{&quot;height&quot;:403.1,&quot;left&quot;:55.7,&quot;top&quot;:109.25,&quot;width&quot;:860.45}"/>
</p:tagLst>
</file>

<file path=ppt/tags/tag146.xml><?xml version="1.0" encoding="utf-8"?>
<p:tagLst xmlns:p="http://schemas.openxmlformats.org/presentationml/2006/main">
  <p:tag name="KSO_WM_DIAGRAM_VIRTUALLY_FRAME" val="{&quot;height&quot;:403.1,&quot;left&quot;:55.7,&quot;top&quot;:109.25,&quot;width&quot;:860.45}"/>
</p:tagLst>
</file>

<file path=ppt/tags/tag147.xml><?xml version="1.0" encoding="utf-8"?>
<p:tagLst xmlns:p="http://schemas.openxmlformats.org/presentationml/2006/main">
  <p:tag name="KSO_WM_DIAGRAM_VIRTUALLY_FRAME" val="{&quot;height&quot;:403.1,&quot;left&quot;:55.7,&quot;top&quot;:109.25,&quot;width&quot;:860.45}"/>
</p:tagLst>
</file>

<file path=ppt/tags/tag148.xml><?xml version="1.0" encoding="utf-8"?>
<p:tagLst xmlns:p="http://schemas.openxmlformats.org/presentationml/2006/main">
  <p:tag name="KSO_WM_DIAGRAM_VIRTUALLY_FRAME" val="{&quot;height&quot;:403.1,&quot;left&quot;:55.7,&quot;top&quot;:109.25,&quot;width&quot;:860.45}"/>
</p:tagLst>
</file>

<file path=ppt/tags/tag149.xml><?xml version="1.0" encoding="utf-8"?>
<p:tagLst xmlns:p="http://schemas.openxmlformats.org/presentationml/2006/main">
  <p:tag name="KSO_WM_DIAGRAM_VIRTUALLY_FRAME" val="{&quot;height&quot;:403.1,&quot;left&quot;:55.7,&quot;top&quot;:109.25,&quot;width&quot;:860.45}"/>
</p:tagLst>
</file>

<file path=ppt/tags/tag150.xml><?xml version="1.0" encoding="utf-8"?>
<p:tagLst xmlns:p="http://schemas.openxmlformats.org/presentationml/2006/main">
  <p:tag name="KSO_WM_DIAGRAM_VIRTUALLY_FRAME" val="{&quot;height&quot;:403.1,&quot;left&quot;:55.7,&quot;top&quot;:109.25,&quot;width&quot;:860.45}"/>
</p:tagLst>
</file>

<file path=ppt/tags/tag151.xml><?xml version="1.0" encoding="utf-8"?>
<p:tagLst xmlns:p="http://schemas.openxmlformats.org/presentationml/2006/main">
  <p:tag name="KSO_WM_DIAGRAM_VIRTUALLY_FRAME" val="{&quot;height&quot;:403.1,&quot;left&quot;:55.7,&quot;top&quot;:109.25,&quot;width&quot;:860.45}"/>
</p:tagLst>
</file>

<file path=ppt/tags/tag152.xml><?xml version="1.0" encoding="utf-8"?>
<p:tagLst xmlns:p="http://schemas.openxmlformats.org/presentationml/2006/main">
  <p:tag name="KSO_WM_DIAGRAM_VIRTUALLY_FRAME" val="{&quot;height&quot;:403.1,&quot;left&quot;:55.7,&quot;top&quot;:109.25,&quot;width&quot;:860.45}"/>
</p:tagLst>
</file>

<file path=ppt/tags/tag153.xml><?xml version="1.0" encoding="utf-8"?>
<p:tagLst xmlns:p="http://schemas.openxmlformats.org/presentationml/2006/main">
  <p:tag name="KSO_WM_DIAGRAM_VIRTUALLY_FRAME" val="{&quot;height&quot;:403.1,&quot;left&quot;:55.7,&quot;top&quot;:109.25,&quot;width&quot;:860.45}"/>
</p:tagLst>
</file>

<file path=ppt/tags/tag154.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55.xml><?xml version="1.0" encoding="utf-8"?>
<p:tagLst xmlns:p="http://schemas.openxmlformats.org/presentationml/2006/main">
  <p:tag name="KSO_WM_DIAGRAM_VIRTUALLY_FRAME" val="{&quot;height&quot;:403.1,&quot;left&quot;:55.7,&quot;top&quot;:109.25,&quot;width&quot;:860.45}"/>
</p:tagLst>
</file>

<file path=ppt/tags/tag156.xml><?xml version="1.0" encoding="utf-8"?>
<p:tagLst xmlns:p="http://schemas.openxmlformats.org/presentationml/2006/main">
  <p:tag name="KSO_WM_DIAGRAM_VIRTUALLY_FRAME" val="{&quot;height&quot;:403.1,&quot;left&quot;:55.7,&quot;top&quot;:109.25,&quot;width&quot;:860.45}"/>
</p:tagLst>
</file>

<file path=ppt/tags/tag157.xml><?xml version="1.0" encoding="utf-8"?>
<p:tagLst xmlns:p="http://schemas.openxmlformats.org/presentationml/2006/main">
  <p:tag name="KSO_WM_DIAGRAM_VIRTUALLY_FRAME" val="{&quot;height&quot;:403.1,&quot;left&quot;:55.7,&quot;top&quot;:109.25,&quot;width&quot;:860.45}"/>
</p:tagLst>
</file>

<file path=ppt/tags/tag158.xml><?xml version="1.0" encoding="utf-8"?>
<p:tagLst xmlns:p="http://schemas.openxmlformats.org/presentationml/2006/main">
  <p:tag name="KSO_WM_DIAGRAM_VIRTUALLY_FRAME" val="{&quot;height&quot;:403.1,&quot;left&quot;:55.7,&quot;top&quot;:109.25,&quot;width&quot;:860.45}"/>
</p:tagLst>
</file>

<file path=ppt/tags/tag159.xml><?xml version="1.0" encoding="utf-8"?>
<p:tagLst xmlns:p="http://schemas.openxmlformats.org/presentationml/2006/main">
  <p:tag name="KSO_WM_DIAGRAM_VIRTUALLY_FRAME" val="{&quot;height&quot;:403.1,&quot;left&quot;:55.7,&quot;top&quot;:109.25,&quot;width&quot;:860.45}"/>
</p:tagLst>
</file>

<file path=ppt/tags/tag160.xml><?xml version="1.0" encoding="utf-8"?>
<p:tagLst xmlns:p="http://schemas.openxmlformats.org/presentationml/2006/main">
  <p:tag name="KSO_WM_DIAGRAM_VIRTUALLY_FRAME" val="{&quot;height&quot;:403.1,&quot;left&quot;:55.7,&quot;top&quot;:109.25,&quot;width&quot;:860.45}"/>
</p:tagLst>
</file>

<file path=ppt/tags/tag161.xml><?xml version="1.0" encoding="utf-8"?>
<p:tagLst xmlns:p="http://schemas.openxmlformats.org/presentationml/2006/main">
  <p:tag name="KSO_WM_DIAGRAM_VIRTUALLY_FRAME" val="{&quot;height&quot;:403.1,&quot;left&quot;:55.7,&quot;top&quot;:109.25,&quot;width&quot;:860.45}"/>
</p:tagLst>
</file>

<file path=ppt/tags/tag162.xml><?xml version="1.0" encoding="utf-8"?>
<p:tagLst xmlns:p="http://schemas.openxmlformats.org/presentationml/2006/main">
  <p:tag name="KSO_WM_DIAGRAM_VIRTUALLY_FRAME" val="{&quot;height&quot;:403.1,&quot;left&quot;:55.7,&quot;top&quot;:109.25,&quot;width&quot;:860.45}"/>
</p:tagLst>
</file>

<file path=ppt/tags/tag163.xml><?xml version="1.0" encoding="utf-8"?>
<p:tagLst xmlns:p="http://schemas.openxmlformats.org/presentationml/2006/main">
  <p:tag name="KSO_WM_DIAGRAM_VIRTUALLY_FRAME" val="{&quot;height&quot;:403.1,&quot;left&quot;:55.7,&quot;top&quot;:109.25,&quot;width&quot;:860.45}"/>
</p:tagLst>
</file>

<file path=ppt/tags/tag164.xml><?xml version="1.0" encoding="utf-8"?>
<p:tagLst xmlns:p="http://schemas.openxmlformats.org/presentationml/2006/main">
  <p:tag name="KSO_WM_DIAGRAM_VIRTUALLY_FRAME" val="{&quot;height&quot;:403.1,&quot;left&quot;:55.7,&quot;top&quot;:109.25,&quot;width&quot;:860.45}"/>
</p:tagLst>
</file>

<file path=ppt/tags/tag165.xml><?xml version="1.0" encoding="utf-8"?>
<p:tagLst xmlns:p="http://schemas.openxmlformats.org/presentationml/2006/main">
  <p:tag name="KSO_WM_DIAGRAM_VIRTUALLY_FRAME" val="{&quot;height&quot;:403.1,&quot;left&quot;:55.7,&quot;top&quot;:109.25,&quot;width&quot;:860.45}"/>
</p:tagLst>
</file>

<file path=ppt/tags/tag166.xml><?xml version="1.0" encoding="utf-8"?>
<p:tagLst xmlns:p="http://schemas.openxmlformats.org/presentationml/2006/main">
  <p:tag name="KSO_WM_DIAGRAM_VIRTUALLY_FRAME" val="{&quot;height&quot;:403.1,&quot;left&quot;:55.7,&quot;top&quot;:109.25,&quot;width&quot;:860.45}"/>
</p:tagLst>
</file>

<file path=ppt/tags/tag167.xml><?xml version="1.0" encoding="utf-8"?>
<p:tagLst xmlns:p="http://schemas.openxmlformats.org/presentationml/2006/main">
  <p:tag name="KSO_WM_DIAGRAM_VIRTUALLY_FRAME" val="{&quot;height&quot;:403.1,&quot;left&quot;:55.7,&quot;top&quot;:109.25,&quot;width&quot;:860.45}"/>
</p:tagLst>
</file>

<file path=ppt/tags/tag168.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69.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70.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71.xml><?xml version="1.0" encoding="utf-8"?>
<p:tagLst xmlns:p="http://schemas.openxmlformats.org/presentationml/2006/main">
  <p:tag name="SHADOWSIZE" val="90"/>
  <p:tag name="ADJUSTMENTS" val="6.765331"/>
  <p:tag name="KSO_WM_DIAGRAM_VIRTUALLY_FRAME" val="{&quot;height&quot;:403.1,&quot;left&quot;:55.7,&quot;top&quot;:109.25,&quot;width&quot;:860.45}"/>
</p:tagLst>
</file>

<file path=ppt/tags/tag172.xml><?xml version="1.0" encoding="utf-8"?>
<p:tagLst xmlns:p="http://schemas.openxmlformats.org/presentationml/2006/main">
  <p:tag name="KSO_WM_DIAGRAM_VIRTUALLY_FRAME" val="{&quot;height&quot;:403.1,&quot;left&quot;:55.7,&quot;top&quot;:109.25,&quot;width&quot;:860.45}"/>
</p:tagLst>
</file>

<file path=ppt/tags/tag173.xml><?xml version="1.0" encoding="utf-8"?>
<p:tagLst xmlns:p="http://schemas.openxmlformats.org/presentationml/2006/main">
  <p:tag name="KSO_WM_DIAGRAM_VIRTUALLY_FRAME" val="{&quot;height&quot;:403.1,&quot;left&quot;:55.7,&quot;top&quot;:109.25,&quot;width&quot;:860.45}"/>
</p:tagLst>
</file>

<file path=ppt/tags/tag174.xml><?xml version="1.0" encoding="utf-8"?>
<p:tagLst xmlns:p="http://schemas.openxmlformats.org/presentationml/2006/main">
  <p:tag name="KSO_WM_DIAGRAM_VIRTUALLY_FRAME" val="{&quot;height&quot;:403.1,&quot;left&quot;:55.7,&quot;top&quot;:109.25,&quot;width&quot;:860.45}"/>
</p:tagLst>
</file>

<file path=ppt/tags/tag175.xml><?xml version="1.0" encoding="utf-8"?>
<p:tagLst xmlns:p="http://schemas.openxmlformats.org/presentationml/2006/main">
  <p:tag name="KSO_WM_DIAGRAM_VIRTUALLY_FRAME" val="{&quot;height&quot;:403.1,&quot;left&quot;:55.7,&quot;top&quot;:109.25,&quot;width&quot;:860.45}"/>
</p:tagLst>
</file>

<file path=ppt/tags/tag176.xml><?xml version="1.0" encoding="utf-8"?>
<p:tagLst xmlns:p="http://schemas.openxmlformats.org/presentationml/2006/main">
  <p:tag name="KSO_WM_DIAGRAM_VIRTUALLY_FRAME" val="{&quot;height&quot;:403.1,&quot;left&quot;:55.7,&quot;top&quot;:109.25,&quot;width&quot;:860.45}"/>
</p:tagLst>
</file>

<file path=ppt/tags/tag177.xml><?xml version="1.0" encoding="utf-8"?>
<p:tagLst xmlns:p="http://schemas.openxmlformats.org/presentationml/2006/main">
  <p:tag name="KSO_WM_DIAGRAM_VIRTUALLY_FRAME" val="{&quot;height&quot;:403.1,&quot;left&quot;:55.7,&quot;top&quot;:109.25,&quot;width&quot;:860.45}"/>
</p:tagLst>
</file>

<file path=ppt/tags/tag178.xml><?xml version="1.0" encoding="utf-8"?>
<p:tagLst xmlns:p="http://schemas.openxmlformats.org/presentationml/2006/main">
  <p:tag name="KSO_WM_DIAGRAM_VIRTUALLY_FRAME" val="{&quot;height&quot;:403.1,&quot;left&quot;:55.7,&quot;top&quot;:109.25,&quot;width&quot;:860.45}"/>
</p:tagLst>
</file>

<file path=ppt/tags/tag179.xml><?xml version="1.0" encoding="utf-8"?>
<p:tagLst xmlns:p="http://schemas.openxmlformats.org/presentationml/2006/main">
  <p:tag name="KSO_WM_DIAGRAM_VIRTUALLY_FRAME" val="{&quot;height&quot;:403.1,&quot;left&quot;:55.7,&quot;top&quot;:109.25,&quot;width&quot;:860.45}"/>
</p:tagLst>
</file>

<file path=ppt/tags/tag180.xml><?xml version="1.0" encoding="utf-8"?>
<p:tagLst xmlns:p="http://schemas.openxmlformats.org/presentationml/2006/main">
  <p:tag name="KSO_WM_DIAGRAM_VIRTUALLY_FRAME" val="{&quot;height&quot;:403.1,&quot;left&quot;:55.7,&quot;top&quot;:109.25,&quot;width&quot;:860.45}"/>
</p:tagLst>
</file>

<file path=ppt/tags/tag181.xml><?xml version="1.0" encoding="utf-8"?>
<p:tagLst xmlns:p="http://schemas.openxmlformats.org/presentationml/2006/main">
  <p:tag name="KSO_WM_DIAGRAM_VIRTUALLY_FRAME" val="{&quot;height&quot;:403.1,&quot;left&quot;:55.7,&quot;top&quot;:109.25,&quot;width&quot;:860.45}"/>
</p:tagLst>
</file>

<file path=ppt/tags/tag182.xml><?xml version="1.0" encoding="utf-8"?>
<p:tagLst xmlns:p="http://schemas.openxmlformats.org/presentationml/2006/main">
  <p:tag name="KSO_WM_DIAGRAM_VIRTUALLY_FRAME" val="{&quot;height&quot;:403.1,&quot;left&quot;:55.7,&quot;top&quot;:109.25,&quot;width&quot;:860.45}"/>
</p:tagLst>
</file>

<file path=ppt/tags/tag183.xml><?xml version="1.0" encoding="utf-8"?>
<p:tagLst xmlns:p="http://schemas.openxmlformats.org/presentationml/2006/main">
  <p:tag name="KSO_WM_DIAGRAM_VIRTUALLY_FRAME" val="{&quot;height&quot;:403.1,&quot;left&quot;:55.7,&quot;top&quot;:109.25,&quot;width&quot;:860.45}"/>
</p:tagLst>
</file>

<file path=ppt/tags/tag184.xml><?xml version="1.0" encoding="utf-8"?>
<p:tagLst xmlns:p="http://schemas.openxmlformats.org/presentationml/2006/main">
  <p:tag name="KSO_WM_DIAGRAM_VIRTUALLY_FRAME" val="{&quot;height&quot;:403.1,&quot;left&quot;:55.7,&quot;top&quot;:109.25,&quot;width&quot;:860.45}"/>
</p:tagLst>
</file>

<file path=ppt/tags/tag185.xml><?xml version="1.0" encoding="utf-8"?>
<p:tagLst xmlns:p="http://schemas.openxmlformats.org/presentationml/2006/main">
  <p:tag name="KSO_WM_DIAGRAM_VIRTUALLY_FRAME" val="{&quot;height&quot;:403.1,&quot;left&quot;:55.7,&quot;top&quot;:109.25,&quot;width&quot;:860.45}"/>
</p:tagLst>
</file>

<file path=ppt/tags/tag186.xml><?xml version="1.0" encoding="utf-8"?>
<p:tagLst xmlns:p="http://schemas.openxmlformats.org/presentationml/2006/main">
  <p:tag name="KSO_WM_DIAGRAM_VIRTUALLY_FRAME" val="{&quot;height&quot;:403.1,&quot;left&quot;:55.7,&quot;top&quot;:109.25,&quot;width&quot;:860.45}"/>
</p:tagLst>
</file>

<file path=ppt/tags/tag187.xml><?xml version="1.0" encoding="utf-8"?>
<p:tagLst xmlns:p="http://schemas.openxmlformats.org/presentationml/2006/main">
  <p:tag name="KSO_WM_DIAGRAM_VIRTUALLY_FRAME" val="{&quot;height&quot;:403.1,&quot;left&quot;:55.7,&quot;top&quot;:109.25,&quot;width&quot;:860.45}"/>
</p:tagLst>
</file>

<file path=ppt/tags/tag188.xml><?xml version="1.0" encoding="utf-8"?>
<p:tagLst xmlns:p="http://schemas.openxmlformats.org/presentationml/2006/main">
  <p:tag name="KSO_WM_DIAGRAM_VIRTUALLY_FRAME" val="{&quot;height&quot;:403.1,&quot;left&quot;:55.7,&quot;top&quot;:109.25,&quot;width&quot;:860.45}"/>
</p:tagLst>
</file>

<file path=ppt/tags/tag189.xml><?xml version="1.0" encoding="utf-8"?>
<p:tagLst xmlns:p="http://schemas.openxmlformats.org/presentationml/2006/main">
  <p:tag name="KSO_WM_DIAGRAM_VIRTUALLY_FRAME" val="{&quot;height&quot;:403.1,&quot;left&quot;:55.7,&quot;top&quot;:109.25,&quot;width&quot;:860.45}"/>
</p:tagLst>
</file>

<file path=ppt/tags/tag190.xml><?xml version="1.0" encoding="utf-8"?>
<p:tagLst xmlns:p="http://schemas.openxmlformats.org/presentationml/2006/main">
  <p:tag name="KSO_WM_DIAGRAM_VIRTUALLY_FRAME" val="{&quot;height&quot;:403.1,&quot;left&quot;:55.7,&quot;top&quot;:109.25,&quot;width&quot;:860.45}"/>
</p:tagLst>
</file>

<file path=ppt/tags/tag191.xml><?xml version="1.0" encoding="utf-8"?>
<p:tagLst xmlns:p="http://schemas.openxmlformats.org/presentationml/2006/main">
  <p:tag name="KSO_WM_DIAGRAM_VIRTUALLY_FRAME" val="{&quot;height&quot;:403.1,&quot;left&quot;:55.7,&quot;top&quot;:109.25,&quot;width&quot;:860.45}"/>
</p:tagLst>
</file>

<file path=ppt/tags/tag192.xml><?xml version="1.0" encoding="utf-8"?>
<p:tagLst xmlns:p="http://schemas.openxmlformats.org/presentationml/2006/main">
  <p:tag name="KSO_WM_DIAGRAM_VIRTUALLY_FRAME" val="{&quot;height&quot;:403.1,&quot;left&quot;:55.7,&quot;top&quot;:109.25,&quot;width&quot;:860.45}"/>
</p:tagLst>
</file>

<file path=ppt/tags/tag193.xml><?xml version="1.0" encoding="utf-8"?>
<p:tagLst xmlns:p="http://schemas.openxmlformats.org/presentationml/2006/main">
  <p:tag name="KSO_WM_DIAGRAM_VIRTUALLY_FRAME" val="{&quot;height&quot;:403.1,&quot;left&quot;:55.7,&quot;top&quot;:109.25,&quot;width&quot;:860.45}"/>
</p:tagLst>
</file>

<file path=ppt/tags/tag194.xml><?xml version="1.0" encoding="utf-8"?>
<p:tagLst xmlns:p="http://schemas.openxmlformats.org/presentationml/2006/main">
  <p:tag name="KSO_WM_DIAGRAM_VIRTUALLY_FRAME" val="{&quot;height&quot;:403.1,&quot;left&quot;:55.7,&quot;top&quot;:109.25,&quot;width&quot;:860.45}"/>
</p:tagLst>
</file>

<file path=ppt/tags/tag195.xml><?xml version="1.0" encoding="utf-8"?>
<p:tagLst xmlns:p="http://schemas.openxmlformats.org/presentationml/2006/main">
  <p:tag name="KSO_WM_DIAGRAM_VIRTUALLY_FRAME" val="{&quot;height&quot;:403.1,&quot;left&quot;:55.7,&quot;top&quot;:109.25,&quot;width&quot;:860.45}"/>
</p:tagLst>
</file>

<file path=ppt/tags/tag196.xml><?xml version="1.0" encoding="utf-8"?>
<p:tagLst xmlns:p="http://schemas.openxmlformats.org/presentationml/2006/main">
  <p:tag name="KSO_WM_DIAGRAM_VIRTUALLY_FRAME" val="{&quot;height&quot;:403.1,&quot;left&quot;:55.7,&quot;top&quot;:109.25,&quot;width&quot;:860.45}"/>
</p:tagLst>
</file>

<file path=ppt/tags/tag197.xml><?xml version="1.0" encoding="utf-8"?>
<p:tagLst xmlns:p="http://schemas.openxmlformats.org/presentationml/2006/main">
  <p:tag name="KSO_WM_DIAGRAM_VIRTUALLY_FRAME" val="{&quot;height&quot;:403.1,&quot;left&quot;:55.7,&quot;top&quot;:109.25,&quot;width&quot;:860.45}"/>
</p:tagLst>
</file>

<file path=ppt/tags/tag198.xml><?xml version="1.0" encoding="utf-8"?>
<p:tagLst xmlns:p="http://schemas.openxmlformats.org/presentationml/2006/main">
  <p:tag name="KSO_WM_DIAGRAM_VIRTUALLY_FRAME" val="{&quot;height&quot;:403.1,&quot;left&quot;:55.7,&quot;top&quot;:109.25,&quot;width&quot;:860.45}"/>
</p:tagLst>
</file>

<file path=ppt/tags/tag199.xml><?xml version="1.0" encoding="utf-8"?>
<p:tagLst xmlns:p="http://schemas.openxmlformats.org/presentationml/2006/main">
  <p:tag name="KSO_WM_DIAGRAM_VIRTUALLY_FRAME" val="{&quot;height&quot;:403.1,&quot;left&quot;:55.7,&quot;top&quot;:109.25,&quot;width&quot;:860.45}"/>
</p:tagLst>
</file>

<file path=ppt/tags/tag200.xml><?xml version="1.0" encoding="utf-8"?>
<p:tagLst xmlns:p="http://schemas.openxmlformats.org/presentationml/2006/main">
  <p:tag name="KSO_WM_DIAGRAM_VIRTUALLY_FRAME" val="{&quot;height&quot;:403.1,&quot;left&quot;:55.7,&quot;top&quot;:109.25,&quot;width&quot;:860.45}"/>
</p:tagLst>
</file>

<file path=ppt/tags/tag201.xml><?xml version="1.0" encoding="utf-8"?>
<p:tagLst xmlns:p="http://schemas.openxmlformats.org/presentationml/2006/main">
  <p:tag name="KSO_WM_DIAGRAM_VIRTUALLY_FRAME" val="{&quot;height&quot;:403.1,&quot;left&quot;:55.7,&quot;top&quot;:109.25,&quot;width&quot;:860.45}"/>
</p:tagLst>
</file>

<file path=ppt/tags/tag202.xml><?xml version="1.0" encoding="utf-8"?>
<p:tagLst xmlns:p="http://schemas.openxmlformats.org/presentationml/2006/main">
  <p:tag name="KSO_WM_DIAGRAM_VIRTUALLY_FRAME" val="{&quot;height&quot;:403.1,&quot;left&quot;:55.7,&quot;top&quot;:109.25,&quot;width&quot;:860.45}"/>
</p:tagLst>
</file>

<file path=ppt/tags/tag203.xml><?xml version="1.0" encoding="utf-8"?>
<p:tagLst xmlns:p="http://schemas.openxmlformats.org/presentationml/2006/main">
  <p:tag name="KSO_WM_DIAGRAM_VIRTUALLY_FRAME" val="{&quot;height&quot;:403.1,&quot;left&quot;:55.7,&quot;top&quot;:109.25,&quot;width&quot;:860.45}"/>
</p:tagLst>
</file>

<file path=ppt/tags/tag204.xml><?xml version="1.0" encoding="utf-8"?>
<p:tagLst xmlns:p="http://schemas.openxmlformats.org/presentationml/2006/main">
  <p:tag name="TEXTZ '" val="-2.147484E+09"/>
  <p:tag name="SHADOWSIZE" val="100"/>
  <p:tag name="KSO_WM_DIAGRAM_VIRTUALLY_FRAME" val="{&quot;height&quot;:403.1,&quot;left&quot;:55.7,&quot;top&quot;:109.25,&quot;width&quot;:860.45}"/>
</p:tagLst>
</file>

<file path=ppt/tags/tag205.xml><?xml version="1.0" encoding="utf-8"?>
<p:tagLst xmlns:p="http://schemas.openxmlformats.org/presentationml/2006/main">
  <p:tag name="KSO_WM_DIAGRAM_VIRTUALLY_FRAME" val="{&quot;height&quot;:403.1,&quot;left&quot;:55.7,&quot;top&quot;:109.25,&quot;width&quot;:860.45}"/>
</p:tagLst>
</file>

<file path=ppt/tags/tag206.xml><?xml version="1.0" encoding="utf-8"?>
<p:tagLst xmlns:p="http://schemas.openxmlformats.org/presentationml/2006/main">
  <p:tag name="KSO_WM_DIAGRAM_VIRTUALLY_FRAME" val="{&quot;height&quot;:403.1,&quot;left&quot;:55.7,&quot;top&quot;:109.25,&quot;width&quot;:860.45}"/>
</p:tagLst>
</file>

<file path=ppt/tags/tag207.xml><?xml version="1.0" encoding="utf-8"?>
<p:tagLst xmlns:p="http://schemas.openxmlformats.org/presentationml/2006/main">
  <p:tag name="KSO_WM_DIAGRAM_VIRTUALLY_FRAME" val="{&quot;height&quot;:403.1,&quot;left&quot;:55.7,&quot;top&quot;:109.25,&quot;width&quot;:860.45}"/>
</p:tagLst>
</file>

<file path=ppt/tags/tag208.xml><?xml version="1.0" encoding="utf-8"?>
<p:tagLst xmlns:p="http://schemas.openxmlformats.org/presentationml/2006/main">
  <p:tag name="KSO_WM_DIAGRAM_VIRTUALLY_FRAME" val="{&quot;height&quot;:403.1,&quot;left&quot;:55.7,&quot;top&quot;:109.25,&quot;width&quot;:860.45}"/>
</p:tagLst>
</file>

<file path=ppt/tags/tag209.xml><?xml version="1.0" encoding="utf-8"?>
<p:tagLst xmlns:p="http://schemas.openxmlformats.org/presentationml/2006/main">
  <p:tag name="KSO_WM_DIAGRAM_VIRTUALLY_FRAME" val="{&quot;height&quot;:403.1,&quot;left&quot;:55.7,&quot;top&quot;:109.25,&quot;width&quot;:860.45}"/>
</p:tagLst>
</file>

<file path=ppt/tags/tag210.xml><?xml version="1.0" encoding="utf-8"?>
<p:tagLst xmlns:p="http://schemas.openxmlformats.org/presentationml/2006/main">
  <p:tag name="SHADOWSIZE" val="100"/>
  <p:tag name="ADJUSTMENTS" val="62.37"/>
</p:tagLst>
</file>

<file path=ppt/tags/tag211.xml><?xml version="1.0" encoding="utf-8"?>
<p:tagLst xmlns:p="http://schemas.openxmlformats.org/presentationml/2006/main">
  <p:tag name="SHADOWSIZE" val="100"/>
  <p:tag name="ADJUSTMENTS" val="62.37"/>
</p:tagLst>
</file>

<file path=ppt/tags/tag212.xml><?xml version="1.0" encoding="utf-8"?>
<p:tagLst xmlns:p="http://schemas.openxmlformats.org/presentationml/2006/main">
  <p:tag name="SHADOWSIZE" val="100"/>
  <p:tag name="ADJUSTMENTS" val="62.37"/>
</p:tagLst>
</file>

<file path=ppt/tags/tag213.xml><?xml version="1.0" encoding="utf-8"?>
<p:tagLst xmlns:p="http://schemas.openxmlformats.org/presentationml/2006/main">
  <p:tag name="SHADOWSIZE" val="100"/>
  <p:tag name="ADJUSTMENTS" val="62.37"/>
</p:tagLst>
</file>

<file path=ppt/tags/tag214.xml><?xml version="1.0" encoding="utf-8"?>
<p:tagLst xmlns:p="http://schemas.openxmlformats.org/presentationml/2006/main">
  <p:tag name="SHADOWSIZE" val="100"/>
  <p:tag name="ADJUSTMENTS" val="62.37"/>
</p:tagLst>
</file>

<file path=ppt/tags/tag215.xml><?xml version="1.0" encoding="utf-8"?>
<p:tagLst xmlns:p="http://schemas.openxmlformats.org/presentationml/2006/main">
  <p:tag name="SHADOWSIZE" val="100"/>
  <p:tag name="ADJUSTMENTS" val="62.37"/>
</p:tagLst>
</file>

<file path=ppt/tags/tag216.xml><?xml version="1.0" encoding="utf-8"?>
<p:tagLst xmlns:p="http://schemas.openxmlformats.org/presentationml/2006/main">
  <p:tag name="SHADOWSIZE" val="100"/>
  <p:tag name="ADJUSTMENTS" val="62.37"/>
</p:tagLst>
</file>

<file path=ppt/tags/tag217.xml><?xml version="1.0" encoding="utf-8"?>
<p:tagLst xmlns:p="http://schemas.openxmlformats.org/presentationml/2006/main">
  <p:tag name="SHADOWSIZE" val="100"/>
  <p:tag name="ADJUSTMENTS" val="62.37"/>
</p:tagLst>
</file>

<file path=ppt/tags/tag218.xml><?xml version="1.0" encoding="utf-8"?>
<p:tagLst xmlns:p="http://schemas.openxmlformats.org/presentationml/2006/main">
  <p:tag name="SHADOWSIZE" val="100"/>
  <p:tag name="ADJUSTMENTS" val="62.37"/>
</p:tagLst>
</file>

<file path=ppt/tags/tag219.xml><?xml version="1.0" encoding="utf-8"?>
<p:tagLst xmlns:p="http://schemas.openxmlformats.org/presentationml/2006/main">
  <p:tag name="SHADOWSIZE" val="100"/>
  <p:tag name="ADJUSTMENTS" val="62.37"/>
</p:tagLst>
</file>

<file path=ppt/tags/tag220.xml><?xml version="1.0" encoding="utf-8"?>
<p:tagLst xmlns:p="http://schemas.openxmlformats.org/presentationml/2006/main">
  <p:tag name="KSO_WM_DIAGRAM_VIRTUALLY_FRAME" val="{&quot;height&quot;:74.65,&quot;left&quot;:60.95,&quot;top&quot;:71.1,&quot;width&quot;:825.35}"/>
</p:tagLst>
</file>

<file path=ppt/tags/tag221.xml><?xml version="1.0" encoding="utf-8"?>
<p:tagLst xmlns:p="http://schemas.openxmlformats.org/presentationml/2006/main">
  <p:tag name="KSO_WM_DIAGRAM_VIRTUALLY_FRAME" val="{&quot;height&quot;:74.65,&quot;left&quot;:60.95,&quot;top&quot;:71.1,&quot;width&quot;:825.35}"/>
</p:tagLst>
</file>

<file path=ppt/tags/tag222.xml><?xml version="1.0" encoding="utf-8"?>
<p:tagLst xmlns:p="http://schemas.openxmlformats.org/presentationml/2006/main">
  <p:tag name="KSO_WM_DIAGRAM_VIRTUALLY_FRAME" val="{&quot;height&quot;:74.65,&quot;left&quot;:60.95,&quot;top&quot;:71.1,&quot;width&quot;:825.35}"/>
</p:tagLst>
</file>

<file path=ppt/tags/tag223.xml><?xml version="1.0" encoding="utf-8"?>
<p:tagLst xmlns:p="http://schemas.openxmlformats.org/presentationml/2006/main">
  <p:tag name="KSO_WM_DIAGRAM_VIRTUALLY_FRAME" val="{&quot;height&quot;:74.65,&quot;left&quot;:60.95,&quot;top&quot;:71.1,&quot;width&quot;:825.35}"/>
</p:tagLst>
</file>

<file path=ppt/tags/tag224.xml><?xml version="1.0" encoding="utf-8"?>
<p:tagLst xmlns:p="http://schemas.openxmlformats.org/presentationml/2006/main">
  <p:tag name="KSO_WM_DIAGRAM_VIRTUALLY_FRAME" val="{&quot;height&quot;:74.65,&quot;left&quot;:60.95,&quot;top&quot;:71.1,&quot;width&quot;:825.35}"/>
</p:tagLst>
</file>

<file path=ppt/tags/tag225.xml><?xml version="1.0" encoding="utf-8"?>
<p:tagLst xmlns:p="http://schemas.openxmlformats.org/presentationml/2006/main">
  <p:tag name="KSO_WM_DIAGRAM_VIRTUALLY_FRAME" val="{&quot;height&quot;:74.65,&quot;left&quot;:60.95,&quot;top&quot;:71.1,&quot;width&quot;:825.35}"/>
</p:tagLst>
</file>

<file path=ppt/tags/tag226.xml><?xml version="1.0" encoding="utf-8"?>
<p:tagLst xmlns:p="http://schemas.openxmlformats.org/presentationml/2006/main">
  <p:tag name="KSO_WM_DIAGRAM_VIRTUALLY_FRAME" val="{&quot;height&quot;:74.65,&quot;left&quot;:60.95,&quot;top&quot;:71.1,&quot;width&quot;:825.35}"/>
</p:tagLst>
</file>

<file path=ppt/tags/tag227.xml><?xml version="1.0" encoding="utf-8"?>
<p:tagLst xmlns:p="http://schemas.openxmlformats.org/presentationml/2006/main">
  <p:tag name="KSO_WM_DIAGRAM_VIRTUALLY_FRAME" val="{&quot;height&quot;:74.65,&quot;left&quot;:60.95,&quot;top&quot;:71.1,&quot;width&quot;:825.35}"/>
</p:tagLst>
</file>

<file path=ppt/tags/tag228.xml><?xml version="1.0" encoding="utf-8"?>
<p:tagLst xmlns:p="http://schemas.openxmlformats.org/presentationml/2006/main">
  <p:tag name="KSO_WM_DIAGRAM_VIRTUALLY_FRAME" val="{&quot;height&quot;:74.65,&quot;left&quot;:60.95,&quot;top&quot;:71.1,&quot;width&quot;:825.35}"/>
</p:tagLst>
</file>

<file path=ppt/tags/tag229.xml><?xml version="1.0" encoding="utf-8"?>
<p:tagLst xmlns:p="http://schemas.openxmlformats.org/presentationml/2006/main">
  <p:tag name="KSO_WM_DIAGRAM_VIRTUALLY_FRAME" val="{&quot;height&quot;:74.65,&quot;left&quot;:60.95,&quot;top&quot;:71.1,&quot;width&quot;:825.35}"/>
</p:tagLst>
</file>

<file path=ppt/tags/tag230.xml><?xml version="1.0" encoding="utf-8"?>
<p:tagLst xmlns:p="http://schemas.openxmlformats.org/presentationml/2006/main">
  <p:tag name="KSO_WM_DIAGRAM_VIRTUALLY_FRAME" val="{&quot;height&quot;:74.65,&quot;left&quot;:60.95,&quot;top&quot;:71.1,&quot;width&quot;:825.35}"/>
</p:tagLst>
</file>

<file path=ppt/tags/tag231.xml><?xml version="1.0" encoding="utf-8"?>
<p:tagLst xmlns:p="http://schemas.openxmlformats.org/presentationml/2006/main">
  <p:tag name="KSO_WM_DIAGRAM_VIRTUALLY_FRAME" val="{&quot;height&quot;:74.65,&quot;left&quot;:60.95,&quot;top&quot;:71.1,&quot;width&quot;:825.35}"/>
</p:tagLst>
</file>

<file path=ppt/tags/tag232.xml><?xml version="1.0" encoding="utf-8"?>
<p:tagLst xmlns:p="http://schemas.openxmlformats.org/presentationml/2006/main">
  <p:tag name="SHADOWSIZE" val="108"/>
  <p:tag name="TEXTSHADOWSIZE" val="100"/>
</p:tagLst>
</file>

<file path=ppt/tags/tag233.xml><?xml version="1.0" encoding="utf-8"?>
<p:tagLst xmlns:p="http://schemas.openxmlformats.org/presentationml/2006/main">
  <p:tag name="SHADOWSIZE" val="108"/>
  <p:tag name="TEXTSHADOWSIZE" val="100"/>
</p:tagLst>
</file>

<file path=ppt/tags/tag234.xml><?xml version="1.0" encoding="utf-8"?>
<p:tagLst xmlns:p="http://schemas.openxmlformats.org/presentationml/2006/main">
  <p:tag name="SHADOWSIZE" val="108"/>
  <p:tag name="TEXTSHADOWSIZE" val="100"/>
</p:tagLst>
</file>

<file path=ppt/tags/tag235.xml><?xml version="1.0" encoding="utf-8"?>
<p:tagLst xmlns:p="http://schemas.openxmlformats.org/presentationml/2006/main">
  <p:tag name="SHADOWSIZE" val="108"/>
  <p:tag name="TEXTSHADOWSIZE" val="100"/>
</p:tagLst>
</file>

<file path=ppt/tags/tag236.xml><?xml version="1.0" encoding="utf-8"?>
<p:tagLst xmlns:p="http://schemas.openxmlformats.org/presentationml/2006/main">
  <p:tag name="SHADOWSIZE" val="108"/>
  <p:tag name="TEXTSHADOWSIZE" val="100"/>
</p:tagLst>
</file>

<file path=ppt/tags/tag237.xml><?xml version="1.0" encoding="utf-8"?>
<p:tagLst xmlns:p="http://schemas.openxmlformats.org/presentationml/2006/main">
  <p:tag name="SHADOWSIZE" val="108"/>
  <p:tag name="TEXTSHADOWSIZE" val="100"/>
</p:tagLst>
</file>

<file path=ppt/tags/tag238.xml><?xml version="1.0" encoding="utf-8"?>
<p:tagLst xmlns:p="http://schemas.openxmlformats.org/presentationml/2006/main">
  <p:tag name="KSO_WM_DIAGRAM_VIRTUALLY_FRAME" val="{&quot;height&quot;:353.46,&quot;left&quot;:38.23842519685039,&quot;top&quot;:150.46173228346456,&quot;width&quot;:191.57669291338578}"/>
</p:tagLst>
</file>

<file path=ppt/tags/tag239.xml><?xml version="1.0" encoding="utf-8"?>
<p:tagLst xmlns:p="http://schemas.openxmlformats.org/presentationml/2006/main">
  <p:tag name="KSO_WM_DIAGRAM_VIRTUALLY_FRAME" val="{&quot;height&quot;:353.46,&quot;left&quot;:38.23842519685039,&quot;top&quot;:150.46173228346456,&quot;width&quot;:191.57669291338578}"/>
</p:tagLst>
</file>

<file path=ppt/tags/tag240.xml><?xml version="1.0" encoding="utf-8"?>
<p:tagLst xmlns:p="http://schemas.openxmlformats.org/presentationml/2006/main">
  <p:tag name="KSO_WM_DIAGRAM_VIRTUALLY_FRAME" val="{&quot;height&quot;:353.46,&quot;left&quot;:38.23842519685039,&quot;top&quot;:150.46173228346456,&quot;width&quot;:191.57669291338578}"/>
</p:tagLst>
</file>

<file path=ppt/tags/tag241.xml><?xml version="1.0" encoding="utf-8"?>
<p:tagLst xmlns:p="http://schemas.openxmlformats.org/presentationml/2006/main">
  <p:tag name="KSO_WM_DIAGRAM_VIRTUALLY_FRAME" val="{&quot;height&quot;:353.46,&quot;left&quot;:38.23842519685039,&quot;top&quot;:150.46173228346456,&quot;width&quot;:191.57669291338578}"/>
</p:tagLst>
</file>

<file path=ppt/tags/tag242.xml><?xml version="1.0" encoding="utf-8"?>
<p:tagLst xmlns:p="http://schemas.openxmlformats.org/presentationml/2006/main">
  <p:tag name="KSO_WM_DIAGRAM_VIRTUALLY_FRAME" val="{&quot;height&quot;:353.46,&quot;left&quot;:38.23842519685039,&quot;top&quot;:150.46173228346456,&quot;width&quot;:191.57669291338578}"/>
</p:tagLst>
</file>

<file path=ppt/tags/tag243.xml><?xml version="1.0" encoding="utf-8"?>
<p:tagLst xmlns:p="http://schemas.openxmlformats.org/presentationml/2006/main">
  <p:tag name="KSO_WM_DIAGRAM_VIRTUALLY_FRAME" val="{&quot;height&quot;:353.46,&quot;left&quot;:38.23842519685039,&quot;top&quot;:150.46173228346456,&quot;width&quot;:191.57669291338578}"/>
</p:tagLst>
</file>

<file path=ppt/tags/tag244.xml><?xml version="1.0" encoding="utf-8"?>
<p:tagLst xmlns:p="http://schemas.openxmlformats.org/presentationml/2006/main">
  <p:tag name="KSO_WM_DIAGRAM_VIRTUALLY_FRAME" val="{&quot;height&quot;:353.46,&quot;left&quot;:38.23842519685039,&quot;top&quot;:150.46173228346456,&quot;width&quot;:191.57669291338578}"/>
</p:tagLst>
</file>

<file path=ppt/tags/tag245.xml><?xml version="1.0" encoding="utf-8"?>
<p:tagLst xmlns:p="http://schemas.openxmlformats.org/presentationml/2006/main">
  <p:tag name="KSO_WM_DIAGRAM_VIRTUALLY_FRAME" val="{&quot;height&quot;:353.46,&quot;left&quot;:38.23842519685039,&quot;top&quot;:150.46173228346456,&quot;width&quot;:191.57669291338578}"/>
</p:tagLst>
</file>

<file path=ppt/tags/tag246.xml><?xml version="1.0" encoding="utf-8"?>
<p:tagLst xmlns:p="http://schemas.openxmlformats.org/presentationml/2006/main">
  <p:tag name="KSO_WM_DIAGRAM_VIRTUALLY_FRAME" val="{&quot;height&quot;:353.46,&quot;left&quot;:38.23842519685039,&quot;top&quot;:150.46173228346456,&quot;width&quot;:191.57669291338578}"/>
</p:tagLst>
</file>

<file path=ppt/tags/tag247.xml><?xml version="1.0" encoding="utf-8"?>
<p:tagLst xmlns:p="http://schemas.openxmlformats.org/presentationml/2006/main">
  <p:tag name="KSO_WM_DIAGRAM_VIRTUALLY_FRAME" val="{&quot;height&quot;:353.46,&quot;left&quot;:38.23842519685039,&quot;top&quot;:150.46173228346456,&quot;width&quot;:191.57669291338578}"/>
</p:tagLst>
</file>

<file path=ppt/tags/tag248.xml><?xml version="1.0" encoding="utf-8"?>
<p:tagLst xmlns:p="http://schemas.openxmlformats.org/presentationml/2006/main">
  <p:tag name="KSO_WM_DIAGRAM_VIRTUALLY_FRAME" val="{&quot;height&quot;:353.46,&quot;left&quot;:38.23842519685039,&quot;top&quot;:150.46173228346456,&quot;width&quot;:191.57669291338578}"/>
</p:tagLst>
</file>

<file path=ppt/tags/tag249.xml><?xml version="1.0" encoding="utf-8"?>
<p:tagLst xmlns:p="http://schemas.openxmlformats.org/presentationml/2006/main">
  <p:tag name="KSO_WM_DIAGRAM_VIRTUALLY_FRAME" val="{&quot;height&quot;:284.1,&quot;left&quot;:536.7,&quot;top&quot;:101.1,&quot;width&quot;:401.2}"/>
</p:tagLst>
</file>

<file path=ppt/tags/tag250.xml><?xml version="1.0" encoding="utf-8"?>
<p:tagLst xmlns:p="http://schemas.openxmlformats.org/presentationml/2006/main">
  <p:tag name="KSO_WM_DIAGRAM_VIRTUALLY_FRAME" val="{&quot;height&quot;:284.1,&quot;left&quot;:536.7,&quot;top&quot;:101.1,&quot;width&quot;:401.2}"/>
</p:tagLst>
</file>

<file path=ppt/tags/tag251.xml><?xml version="1.0" encoding="utf-8"?>
<p:tagLst xmlns:p="http://schemas.openxmlformats.org/presentationml/2006/main">
  <p:tag name="KSO_WM_DIAGRAM_VIRTUALLY_FRAME" val="{&quot;height&quot;:234.8035433070866,&quot;left&quot;:578.6375590551181,&quot;top&quot;:138.08858267716533,&quot;width&quot;:304.56614173228354}"/>
</p:tagLst>
</file>

<file path=ppt/tags/tag252.xml><?xml version="1.0" encoding="utf-8"?>
<p:tagLst xmlns:p="http://schemas.openxmlformats.org/presentationml/2006/main">
  <p:tag name="KSO_WM_DIAGRAM_VIRTUALLY_FRAME" val="{&quot;height&quot;:284.1,&quot;left&quot;:536.7,&quot;top&quot;:101.1,&quot;width&quot;:401.2}"/>
</p:tagLst>
</file>

<file path=ppt/tags/tag253.xml><?xml version="1.0" encoding="utf-8"?>
<p:tagLst xmlns:p="http://schemas.openxmlformats.org/presentationml/2006/main">
  <p:tag name="KSO_WM_DIAGRAM_VIRTUALLY_FRAME" val="{&quot;height&quot;:284.1,&quot;left&quot;:536.7,&quot;top&quot;:101.1,&quot;width&quot;:401.2}"/>
</p:tagLst>
</file>

<file path=ppt/tags/tag254.xml><?xml version="1.0" encoding="utf-8"?>
<p:tagLst xmlns:p="http://schemas.openxmlformats.org/presentationml/2006/main">
  <p:tag name="KSO_WM_DIAGRAM_VIRTUALLY_FRAME" val="{&quot;height&quot;:284.1,&quot;left&quot;:536.7,&quot;top&quot;:101.1,&quot;width&quot;:401.2}"/>
</p:tagLst>
</file>

<file path=ppt/tags/tag255.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56.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57.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58.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59.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60.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261.xml><?xml version="1.0" encoding="utf-8"?>
<p:tagLst xmlns:p="http://schemas.openxmlformats.org/presentationml/2006/main">
  <p:tag name="KSO_WM_DIAGRAM_VIRTUALLY_FRAME" val="{&quot;height&quot;:284.1,&quot;left&quot;:536.7,&quot;top&quot;:101.1,&quot;width&quot;:401.2}"/>
</p:tagLst>
</file>

<file path=ppt/tags/tag262.xml><?xml version="1.0" encoding="utf-8"?>
<p:tagLst xmlns:p="http://schemas.openxmlformats.org/presentationml/2006/main">
  <p:tag name="KSO_WM_DIAGRAM_VIRTUALLY_FRAME" val="{&quot;height&quot;:284.1,&quot;left&quot;:536.7,&quot;top&quot;:101.1,&quot;width&quot;:401.2}"/>
</p:tagLst>
</file>

<file path=ppt/tags/tag263.xml><?xml version="1.0" encoding="utf-8"?>
<p:tagLst xmlns:p="http://schemas.openxmlformats.org/presentationml/2006/main">
  <p:tag name="KSO_WM_DIAGRAM_VIRTUALLY_FRAME" val="{&quot;height&quot;:234.8035433070866,&quot;left&quot;:578.6375590551181,&quot;top&quot;:138.08858267716533,&quot;width&quot;:304.56614173228354}"/>
</p:tagLst>
</file>

<file path=ppt/tags/tag264.xml><?xml version="1.0" encoding="utf-8"?>
<p:tagLst xmlns:p="http://schemas.openxmlformats.org/presentationml/2006/main">
  <p:tag name="KSO_WM_DIAGRAM_VIRTUALLY_FRAME" val="{&quot;height&quot;:284.1,&quot;left&quot;:536.7,&quot;top&quot;:101.1,&quot;width&quot;:401.2}"/>
</p:tagLst>
</file>

<file path=ppt/tags/tag265.xml><?xml version="1.0" encoding="utf-8"?>
<p:tagLst xmlns:p="http://schemas.openxmlformats.org/presentationml/2006/main">
  <p:tag name="KSO_WM_DIAGRAM_VIRTUALLY_FRAME" val="{&quot;height&quot;:284.1,&quot;left&quot;:536.7,&quot;top&quot;:101.1,&quot;width&quot;:401.2}"/>
</p:tagLst>
</file>

<file path=ppt/tags/tag266.xml><?xml version="1.0" encoding="utf-8"?>
<p:tagLst xmlns:p="http://schemas.openxmlformats.org/presentationml/2006/main">
  <p:tag name="KSO_WM_DIAGRAM_VIRTUALLY_FRAME" val="{&quot;height&quot;:284.1,&quot;left&quot;:536.7,&quot;top&quot;:101.1,&quot;width&quot;:401.2}"/>
</p:tagLst>
</file>

<file path=ppt/tags/tag267.xml><?xml version="1.0" encoding="utf-8"?>
<p:tagLst xmlns:p="http://schemas.openxmlformats.org/presentationml/2006/main">
  <p:tag name="KSO_WM_DIAGRAM_VIRTUALLY_FRAME" val="{&quot;height&quot;:284.1,&quot;left&quot;:536.7,&quot;top&quot;:101.1,&quot;width&quot;:401.2}"/>
</p:tagLst>
</file>

<file path=ppt/tags/tag268.xml><?xml version="1.0" encoding="utf-8"?>
<p:tagLst xmlns:p="http://schemas.openxmlformats.org/presentationml/2006/main">
  <p:tag name="KSO_WM_DIAGRAM_VIRTUALLY_FRAME" val="{&quot;height&quot;:284.1,&quot;left&quot;:536.7,&quot;top&quot;:101.1,&quot;width&quot;:401.2}"/>
</p:tagLst>
</file>

<file path=ppt/tags/tag269.xml><?xml version="1.0" encoding="utf-8"?>
<p:tagLst xmlns:p="http://schemas.openxmlformats.org/presentationml/2006/main">
  <p:tag name="KSO_WM_DIAGRAM_VIRTUALLY_FRAME" val="{&quot;height&quot;:234.8035433070866,&quot;left&quot;:578.6375590551181,&quot;top&quot;:138.08858267716533,&quot;width&quot;:304.56614173228354}"/>
</p:tagLst>
</file>

<file path=ppt/tags/tag270.xml><?xml version="1.0" encoding="utf-8"?>
<p:tagLst xmlns:p="http://schemas.openxmlformats.org/presentationml/2006/main">
  <p:tag name="KSO_WM_DIAGRAM_VIRTUALLY_FRAME" val="{&quot;height&quot;:284.1,&quot;left&quot;:536.7,&quot;top&quot;:101.1,&quot;width&quot;:401.2}"/>
</p:tagLst>
</file>

<file path=ppt/tags/tag271.xml><?xml version="1.0" encoding="utf-8"?>
<p:tagLst xmlns:p="http://schemas.openxmlformats.org/presentationml/2006/main">
  <p:tag name="KSO_WM_DIAGRAM_VIRTUALLY_FRAME" val="{&quot;height&quot;:284.1,&quot;left&quot;:536.7,&quot;top&quot;:101.1,&quot;width&quot;:401.2}"/>
</p:tagLst>
</file>

<file path=ppt/tags/tag272.xml><?xml version="1.0" encoding="utf-8"?>
<p:tagLst xmlns:p="http://schemas.openxmlformats.org/presentationml/2006/main">
  <p:tag name="KSO_WM_DIAGRAM_VIRTUALLY_FRAME" val="{&quot;height&quot;:284.1,&quot;left&quot;:536.7,&quot;top&quot;:101.1,&quot;width&quot;:401.2}"/>
</p:tagLst>
</file>

<file path=ppt/tags/tag273.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284.1,&quot;left&quot;:536.7,&quot;top&quot;:101.1,&quot;width&quot;:401.2}"/>
</p:tagLst>
</file>

<file path=ppt/tags/tag274.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284.1,&quot;left&quot;:536.7,&quot;top&quot;:101.1,&quot;width&quot;:401.2}"/>
</p:tagLst>
</file>

<file path=ppt/tags/tag275.xml><?xml version="1.0" encoding="utf-8"?>
<p:tagLst xmlns:p="http://schemas.openxmlformats.org/presentationml/2006/main">
  <p:tag name="KSO_WM_UNIT_TEXT_FILL_FORE_SCHEMECOLOR_INDEX_BRIGHTNESS" val="0"/>
  <p:tag name="KSO_WM_UNIT_TEXT_FILL_FORE_SCHEMECOLOR_INDEX" val="5"/>
  <p:tag name="KSO_WM_UNIT_TEXT_FILL_TYPE" val="1"/>
  <p:tag name="KSO_WM_DIAGRAM_VIRTUALLY_FRAME" val="{&quot;height&quot;:284.1,&quot;left&quot;:536.7,&quot;top&quot;:101.1,&quot;width&quot;:401.2}"/>
</p:tagLst>
</file>

<file path=ppt/tags/tag276.xml><?xml version="1.0" encoding="utf-8"?>
<p:tagLst xmlns:p="http://schemas.openxmlformats.org/presentationml/2006/main">
  <p:tag name="KSO_WM_DIAGRAM_VIRTUALLY_FRAME" val="{&quot;height&quot;:365,&quot;left&quot;:72.55,&quot;top&quot;:431.05,&quot;width&quot;:816.25}"/>
</p:tagLst>
</file>

<file path=ppt/tags/tag277.xml><?xml version="1.0" encoding="utf-8"?>
<p:tagLst xmlns:p="http://schemas.openxmlformats.org/presentationml/2006/main">
  <p:tag name="KSO_WM_DIAGRAM_VIRTUALLY_FRAME" val="{&quot;height&quot;:365,&quot;left&quot;:72.55,&quot;top&quot;:431.05,&quot;width&quot;:816.25}"/>
</p:tagLst>
</file>

<file path=ppt/tags/tag278.xml><?xml version="1.0" encoding="utf-8"?>
<p:tagLst xmlns:p="http://schemas.openxmlformats.org/presentationml/2006/main">
  <p:tag name="KSO_WM_DIAGRAM_VIRTUALLY_FRAME" val="{&quot;height&quot;:365,&quot;left&quot;:72.55,&quot;top&quot;:431.05,&quot;width&quot;:816.25}"/>
</p:tagLst>
</file>

<file path=ppt/tags/tag279.xml><?xml version="1.0" encoding="utf-8"?>
<p:tagLst xmlns:p="http://schemas.openxmlformats.org/presentationml/2006/main">
  <p:tag name="KSO_WM_DIAGRAM_VIRTUALLY_FRAME" val="{&quot;height&quot;:365,&quot;left&quot;:72.55,&quot;top&quot;:431.05,&quot;width&quot;:816.25}"/>
</p:tagLst>
</file>

<file path=ppt/tags/tag280.xml><?xml version="1.0" encoding="utf-8"?>
<p:tagLst xmlns:p="http://schemas.openxmlformats.org/presentationml/2006/main">
  <p:tag name="KSO_WM_DIAGRAM_VIRTUALLY_FRAME" val="{&quot;height&quot;:365,&quot;left&quot;:72.55,&quot;top&quot;:431.05,&quot;width&quot;:816.25}"/>
</p:tagLst>
</file>

<file path=ppt/tags/tag281.xml><?xml version="1.0" encoding="utf-8"?>
<p:tagLst xmlns:p="http://schemas.openxmlformats.org/presentationml/2006/main">
  <p:tag name="KSO_WM_DIAGRAM_VIRTUALLY_FRAME" val="{&quot;height&quot;:365,&quot;left&quot;:72.55,&quot;top&quot;:431.05,&quot;width&quot;:816.25}"/>
</p:tagLst>
</file>

<file path=ppt/tags/tag282.xml><?xml version="1.0" encoding="utf-8"?>
<p:tagLst xmlns:p="http://schemas.openxmlformats.org/presentationml/2006/main">
  <p:tag name="KSO_WM_DIAGRAM_VIRTUALLY_FRAME" val="{&quot;height&quot;:365,&quot;left&quot;:72.55,&quot;top&quot;:431.05,&quot;width&quot;:816.25}"/>
</p:tagLst>
</file>

<file path=ppt/tags/tag283.xml><?xml version="1.0" encoding="utf-8"?>
<p:tagLst xmlns:p="http://schemas.openxmlformats.org/presentationml/2006/main">
  <p:tag name="KSO_WM_DIAGRAM_VIRTUALLY_FRAME" val="{&quot;height&quot;:365,&quot;left&quot;:72.55,&quot;top&quot;:431.05,&quot;width&quot;:816.25}"/>
</p:tagLst>
</file>

<file path=ppt/tags/tag284.xml><?xml version="1.0" encoding="utf-8"?>
<p:tagLst xmlns:p="http://schemas.openxmlformats.org/presentationml/2006/main">
  <p:tag name="TEXTZ '" val="-2.147484E+09"/>
  <p:tag name="SHADOWSIZE" val="100"/>
</p:tagLst>
</file>

<file path=ppt/tags/tag285.xml><?xml version="1.0" encoding="utf-8"?>
<p:tagLst xmlns:p="http://schemas.openxmlformats.org/presentationml/2006/main">
  <p:tag name="KSO_WM_DIAGRAM_VIRTUALLY_FRAME" val="{&quot;height&quot;:440.05,&quot;left&quot;:156.9,&quot;top&quot;:396.15,&quot;width&quot;:627.7}"/>
</p:tagLst>
</file>

<file path=ppt/tags/tag286.xml><?xml version="1.0" encoding="utf-8"?>
<p:tagLst xmlns:p="http://schemas.openxmlformats.org/presentationml/2006/main">
  <p:tag name="KSO_WM_DIAGRAM_VIRTUALLY_FRAME" val="{&quot;height&quot;:440.05,&quot;left&quot;:156.9,&quot;top&quot;:396.15,&quot;width&quot;:627.7}"/>
</p:tagLst>
</file>

<file path=ppt/tags/tag287.xml><?xml version="1.0" encoding="utf-8"?>
<p:tagLst xmlns:p="http://schemas.openxmlformats.org/presentationml/2006/main">
  <p:tag name="KSO_WM_DIAGRAM_VIRTUALLY_FRAME" val="{&quot;height&quot;:440.05,&quot;left&quot;:156.9,&quot;top&quot;:396.15,&quot;width&quot;:627.7}"/>
</p:tagLst>
</file>

<file path=ppt/tags/tag288.xml><?xml version="1.0" encoding="utf-8"?>
<p:tagLst xmlns:p="http://schemas.openxmlformats.org/presentationml/2006/main">
  <p:tag name="KSO_WM_DIAGRAM_VIRTUALLY_FRAME" val="{&quot;height&quot;:440.05,&quot;left&quot;:156.9,&quot;top&quot;:396.15,&quot;width&quot;:627.7}"/>
</p:tagLst>
</file>

<file path=ppt/tags/tag289.xml><?xml version="1.0" encoding="utf-8"?>
<p:tagLst xmlns:p="http://schemas.openxmlformats.org/presentationml/2006/main">
  <p:tag name="KSO_WM_DIAGRAM_VIRTUALLY_FRAME" val="{&quot;height&quot;:440.05,&quot;left&quot;:156.9,&quot;top&quot;:396.15,&quot;width&quot;:627.7}"/>
</p:tagLst>
</file>

<file path=ppt/tags/tag290.xml><?xml version="1.0" encoding="utf-8"?>
<p:tagLst xmlns:p="http://schemas.openxmlformats.org/presentationml/2006/main">
  <p:tag name="KSO_WM_DIAGRAM_VIRTUALLY_FRAME" val="{&quot;height&quot;:440.05,&quot;left&quot;:156.9,&quot;top&quot;:396.15,&quot;width&quot;:627.7}"/>
</p:tagLst>
</file>

<file path=ppt/tags/tag291.xml><?xml version="1.0" encoding="utf-8"?>
<p:tagLst xmlns:p="http://schemas.openxmlformats.org/presentationml/2006/main">
  <p:tag name="KSO_WM_DIAGRAM_VIRTUALLY_FRAME" val="{&quot;height&quot;:440.05,&quot;left&quot;:156.9,&quot;top&quot;:396.15,&quot;width&quot;:627.7}"/>
</p:tagLst>
</file>

<file path=ppt/tags/tag292.xml><?xml version="1.0" encoding="utf-8"?>
<p:tagLst xmlns:p="http://schemas.openxmlformats.org/presentationml/2006/main">
  <p:tag name="KSO_WM_DIAGRAM_VIRTUALLY_FRAME" val="{&quot;height&quot;:440.05,&quot;left&quot;:156.9,&quot;top&quot;:396.15,&quot;width&quot;:627.7}"/>
</p:tagLst>
</file>

<file path=ppt/tags/tag293.xml><?xml version="1.0" encoding="utf-8"?>
<p:tagLst xmlns:p="http://schemas.openxmlformats.org/presentationml/2006/main">
  <p:tag name="KSO_WM_DIAGRAM_VIRTUALLY_FRAME" val="{&quot;height&quot;:440.05,&quot;left&quot;:156.9,&quot;top&quot;:396.15,&quot;width&quot;:627.7}"/>
</p:tagLst>
</file>

<file path=ppt/tags/tag294.xml><?xml version="1.0" encoding="utf-8"?>
<p:tagLst xmlns:p="http://schemas.openxmlformats.org/presentationml/2006/main">
  <p:tag name="KSO_WM_DIAGRAM_VIRTUALLY_FRAME" val="{&quot;height&quot;:440.05,&quot;left&quot;:156.9,&quot;top&quot;:396.15,&quot;width&quot;:627.7}"/>
</p:tagLst>
</file>

<file path=ppt/tags/tag295.xml><?xml version="1.0" encoding="utf-8"?>
<p:tagLst xmlns:p="http://schemas.openxmlformats.org/presentationml/2006/main">
  <p:tag name="KSO_WM_DIAGRAM_VIRTUALLY_FRAME" val="{&quot;height&quot;:440.05,&quot;left&quot;:156.9,&quot;top&quot;:396.15,&quot;width&quot;:627.7}"/>
</p:tagLst>
</file>

<file path=ppt/tags/tag296.xml><?xml version="1.0" encoding="utf-8"?>
<p:tagLst xmlns:p="http://schemas.openxmlformats.org/presentationml/2006/main">
  <p:tag name="KSO_WM_DIAGRAM_VIRTUALLY_FRAME" val="{&quot;height&quot;:440.05,&quot;left&quot;:156.9,&quot;top&quot;:396.15,&quot;width&quot;:627.7}"/>
</p:tagLst>
</file>

<file path=ppt/tags/tag297.xml><?xml version="1.0" encoding="utf-8"?>
<p:tagLst xmlns:p="http://schemas.openxmlformats.org/presentationml/2006/main">
  <p:tag name="KSO_WM_DIAGRAM_VIRTUALLY_FRAME" val="{&quot;height&quot;:440.05,&quot;left&quot;:156.9,&quot;top&quot;:396.15,&quot;width&quot;:627.7}"/>
</p:tagLst>
</file>

<file path=ppt/tags/tag298.xml><?xml version="1.0" encoding="utf-8"?>
<p:tagLst xmlns:p="http://schemas.openxmlformats.org/presentationml/2006/main">
  <p:tag name="KSO_WM_DIAGRAM_VIRTUALLY_FRAME" val="{&quot;height&quot;:440.05,&quot;left&quot;:156.9,&quot;top&quot;:396.15,&quot;width&quot;:627.7}"/>
</p:tagLst>
</file>

<file path=ppt/tags/tag299.xml><?xml version="1.0" encoding="utf-8"?>
<p:tagLst xmlns:p="http://schemas.openxmlformats.org/presentationml/2006/main">
  <p:tag name="KSO_WM_DIAGRAM_VIRTUALLY_FRAME" val="{&quot;height&quot;:440.05,&quot;left&quot;:156.9,&quot;top&quot;:396.15,&quot;width&quot;:627.7}"/>
</p:tagLst>
</file>

<file path=ppt/tags/tag300.xml><?xml version="1.0" encoding="utf-8"?>
<p:tagLst xmlns:p="http://schemas.openxmlformats.org/presentationml/2006/main">
  <p:tag name="KSO_WM_DIAGRAM_VIRTUALLY_FRAME" val="{&quot;height&quot;:440.05,&quot;left&quot;:156.9,&quot;top&quot;:396.15,&quot;width&quot;:627.7}"/>
</p:tagLst>
</file>

<file path=ppt/tags/tag301.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02.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03.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04.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05.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06.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07.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08.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09.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10.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11.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12.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13.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14.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15.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16.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17.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18.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19.xml><?xml version="1.0" encoding="utf-8"?>
<p:tagLst xmlns:p="http://schemas.openxmlformats.org/presentationml/2006/main">
  <p:tag name="KSO_WM_DIAGRAM_VIRTUALLY_FRAME" val="{&quot;height&quot;:446.3427847784018,&quot;left&quot;:232.24262371839396,&quot;top&quot;:77.85721522159824,&quot;width&quot;:505.93474074241533}"/>
</p:tagLst>
</file>

<file path=ppt/tags/tag320.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21.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22.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23.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24.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25.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26.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27.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28.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29.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30.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31.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32.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33.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34.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35.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36.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37.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38.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39.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40.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41.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42.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43.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44.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45.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46.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47.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48.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49.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50.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51.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52.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53.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54.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55.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56.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57.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58.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59.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60.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61.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62.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63.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64.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65.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66.xml><?xml version="1.0" encoding="utf-8"?>
<p:tagLst xmlns:p="http://schemas.openxmlformats.org/presentationml/2006/main">
  <p:tag name="KSO_WM_DIAGRAM_VIRTUALLY_FRAME" val="{&quot;height&quot;:378.468188976378,&quot;left&quot;:23.343937007874,&quot;top&quot;:112.17472440944883,&quot;width&quot;:909.498031496063}"/>
</p:tagLst>
</file>

<file path=ppt/tags/tag367.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68.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69.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70.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71.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72.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73.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74.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75.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76.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77.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78.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79.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80.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81.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82.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83.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84.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85.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86.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87.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88.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89.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90.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91.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92.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93.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94.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95.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96.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97.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98.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399.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400.xml><?xml version="1.0" encoding="utf-8"?>
<p:tagLst xmlns:p="http://schemas.openxmlformats.org/presentationml/2006/main">
  <p:tag name="KSO_WM_DIAGRAM_VIRTUALLY_FRAME" val="{&quot;height&quot;:605.1125984251969,&quot;left&quot;:23.343937007874,&quot;top&quot;:-114.46968503937009,&quot;width&quot;:909.498031496063}"/>
</p:tagLst>
</file>

<file path=ppt/tags/tag401.xml><?xml version="1.0" encoding="utf-8"?>
<p:tagLst xmlns:p="http://schemas.openxmlformats.org/presentationml/2006/main">
  <p:tag name="ADJUSTMENTS" val="73.02477"/>
</p:tagLst>
</file>

<file path=ppt/tags/tag402.xml><?xml version="1.0" encoding="utf-8"?>
<p:tagLst xmlns:p="http://schemas.openxmlformats.org/presentationml/2006/main">
  <p:tag name="KSO_WM_DIAGRAM_VIRTUALLY_FRAME" val="{&quot;height&quot;:430.8,&quot;left&quot;:7.1,&quot;top&quot;:90.8,&quot;width&quot;:944.7}"/>
</p:tagLst>
</file>

<file path=ppt/tags/tag403.xml><?xml version="1.0" encoding="utf-8"?>
<p:tagLst xmlns:p="http://schemas.openxmlformats.org/presentationml/2006/main">
  <p:tag name="KSO_WM_DIAGRAM_VIRTUALLY_FRAME" val="{&quot;height&quot;:430.8,&quot;left&quot;:7.1,&quot;top&quot;:90.8,&quot;width&quot;:944.7}"/>
</p:tagLst>
</file>

<file path=ppt/tags/tag404.xml><?xml version="1.0" encoding="utf-8"?>
<p:tagLst xmlns:p="http://schemas.openxmlformats.org/presentationml/2006/main">
  <p:tag name="KSO_WM_DIAGRAM_VIRTUALLY_FRAME" val="{&quot;height&quot;:430.8,&quot;left&quot;:7.1,&quot;top&quot;:90.8,&quot;width&quot;:944.7}"/>
</p:tagLst>
</file>

<file path=ppt/tags/tag405.xml><?xml version="1.0" encoding="utf-8"?>
<p:tagLst xmlns:p="http://schemas.openxmlformats.org/presentationml/2006/main">
  <p:tag name="KSO_WM_DIAGRAM_VIRTUALLY_FRAME" val="{&quot;height&quot;:430.8,&quot;left&quot;:7.1,&quot;top&quot;:90.8,&quot;width&quot;:944.7}"/>
</p:tagLst>
</file>

<file path=ppt/tags/tag406.xml><?xml version="1.0" encoding="utf-8"?>
<p:tagLst xmlns:p="http://schemas.openxmlformats.org/presentationml/2006/main">
  <p:tag name="KSO_WM_DIAGRAM_VIRTUALLY_FRAME" val="{&quot;height&quot;:430.8,&quot;left&quot;:7.1,&quot;top&quot;:90.8,&quot;width&quot;:944.7}"/>
</p:tagLst>
</file>

<file path=ppt/tags/tag407.xml><?xml version="1.0" encoding="utf-8"?>
<p:tagLst xmlns:p="http://schemas.openxmlformats.org/presentationml/2006/main">
  <p:tag name="KSO_WM_DIAGRAM_VIRTUALLY_FRAME" val="{&quot;height&quot;:430.8,&quot;left&quot;:7.1,&quot;top&quot;:90.8,&quot;width&quot;:944.7}"/>
</p:tagLst>
</file>

<file path=ppt/tags/tag408.xml><?xml version="1.0" encoding="utf-8"?>
<p:tagLst xmlns:p="http://schemas.openxmlformats.org/presentationml/2006/main">
  <p:tag name="KSO_WM_DIAGRAM_VIRTUALLY_FRAME" val="{&quot;height&quot;:430.8,&quot;left&quot;:7.1,&quot;top&quot;:90.8,&quot;width&quot;:944.7}"/>
</p:tagLst>
</file>

<file path=ppt/tags/tag409.xml><?xml version="1.0" encoding="utf-8"?>
<p:tagLst xmlns:p="http://schemas.openxmlformats.org/presentationml/2006/main">
  <p:tag name="KSO_WM_DIAGRAM_VIRTUALLY_FRAME" val="{&quot;height&quot;:430.8,&quot;left&quot;:7.1,&quot;top&quot;:90.8,&quot;width&quot;:944.7}"/>
</p:tagLst>
</file>

<file path=ppt/tags/tag410.xml><?xml version="1.0" encoding="utf-8"?>
<p:tagLst xmlns:p="http://schemas.openxmlformats.org/presentationml/2006/main">
  <p:tag name="KSO_WM_DIAGRAM_VIRTUALLY_FRAME" val="{&quot;height&quot;:430.8,&quot;left&quot;:7.1,&quot;top&quot;:90.8,&quot;width&quot;:944.7}"/>
</p:tagLst>
</file>

<file path=ppt/tags/tag411.xml><?xml version="1.0" encoding="utf-8"?>
<p:tagLst xmlns:p="http://schemas.openxmlformats.org/presentationml/2006/main">
  <p:tag name="KSO_WM_DIAGRAM_VIRTUALLY_FRAME" val="{&quot;height&quot;:430.8,&quot;left&quot;:7.1,&quot;top&quot;:90.8,&quot;width&quot;:944.7}"/>
</p:tagLst>
</file>

<file path=ppt/tags/tag412.xml><?xml version="1.0" encoding="utf-8"?>
<p:tagLst xmlns:p="http://schemas.openxmlformats.org/presentationml/2006/main">
  <p:tag name="KSO_WM_DIAGRAM_VIRTUALLY_FRAME" val="{&quot;height&quot;:430.8,&quot;left&quot;:7.1,&quot;top&quot;:90.8,&quot;width&quot;:944.7}"/>
</p:tagLst>
</file>

<file path=ppt/tags/tag413.xml><?xml version="1.0" encoding="utf-8"?>
<p:tagLst xmlns:p="http://schemas.openxmlformats.org/presentationml/2006/main">
  <p:tag name="KSO_WM_DIAGRAM_VIRTUALLY_FRAME" val="{&quot;height&quot;:430.8,&quot;left&quot;:7.1,&quot;top&quot;:90.8,&quot;width&quot;:944.7}"/>
</p:tagLst>
</file>

<file path=ppt/tags/tag414.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415.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416.xml><?xml version="1.0" encoding="utf-8"?>
<p:tagLst xmlns:p="http://schemas.openxmlformats.org/presentationml/2006/main">
  <p:tag name="KSO_WM_DIAGRAM_VIRTUALLY_FRAME" val="{&quot;height&quot;:430.8,&quot;left&quot;:7.1,&quot;top&quot;:90.8,&quot;width&quot;:944.7}"/>
</p:tagLst>
</file>

<file path=ppt/tags/tag417.xml><?xml version="1.0" encoding="utf-8"?>
<p:tagLst xmlns:p="http://schemas.openxmlformats.org/presentationml/2006/main">
  <p:tag name="KSO_WM_DIAGRAM_VIRTUALLY_FRAME" val="{&quot;height&quot;:430.8,&quot;left&quot;:7.1,&quot;top&quot;:90.8,&quot;width&quot;:944.7}"/>
</p:tagLst>
</file>

<file path=ppt/tags/tag418.xml><?xml version="1.0" encoding="utf-8"?>
<p:tagLst xmlns:p="http://schemas.openxmlformats.org/presentationml/2006/main">
  <p:tag name="KSO_WM_DIAGRAM_VIRTUALLY_FRAME" val="{&quot;height&quot;:430.8,&quot;left&quot;:7.1,&quot;top&quot;:90.8,&quot;width&quot;:944.7}"/>
</p:tagLst>
</file>

<file path=ppt/tags/tag419.xml><?xml version="1.0" encoding="utf-8"?>
<p:tagLst xmlns:p="http://schemas.openxmlformats.org/presentationml/2006/main">
  <p:tag name="KSO_WM_DIAGRAM_VIRTUALLY_FRAME" val="{&quot;height&quot;:430.8,&quot;left&quot;:7.1,&quot;top&quot;:90.8,&quot;width&quot;:944.7}"/>
</p:tagLst>
</file>

<file path=ppt/tags/tag420.xml><?xml version="1.0" encoding="utf-8"?>
<p:tagLst xmlns:p="http://schemas.openxmlformats.org/presentationml/2006/main">
  <p:tag name="KSO_WM_DIAGRAM_VIRTUALLY_FRAME" val="{&quot;height&quot;:430.8,&quot;left&quot;:7.1,&quot;top&quot;:90.8,&quot;width&quot;:944.7}"/>
</p:tagLst>
</file>

<file path=ppt/tags/tag421.xml><?xml version="1.0" encoding="utf-8"?>
<p:tagLst xmlns:p="http://schemas.openxmlformats.org/presentationml/2006/main">
  <p:tag name="KSO_WM_DIAGRAM_VIRTUALLY_FRAME" val="{&quot;height&quot;:430.8,&quot;left&quot;:7.1,&quot;top&quot;:90.8,&quot;width&quot;:944.7}"/>
</p:tagLst>
</file>

<file path=ppt/tags/tag422.xml><?xml version="1.0" encoding="utf-8"?>
<p:tagLst xmlns:p="http://schemas.openxmlformats.org/presentationml/2006/main">
  <p:tag name="KSO_WM_DIAGRAM_VIRTUALLY_FRAME" val="{&quot;height&quot;:430.8,&quot;left&quot;:7.1,&quot;top&quot;:90.8,&quot;width&quot;:944.7}"/>
</p:tagLst>
</file>

<file path=ppt/tags/tag423.xml><?xml version="1.0" encoding="utf-8"?>
<p:tagLst xmlns:p="http://schemas.openxmlformats.org/presentationml/2006/main">
  <p:tag name="KSO_WM_DIAGRAM_VIRTUALLY_FRAME" val="{&quot;height&quot;:430.8,&quot;left&quot;:7.1,&quot;top&quot;:90.8,&quot;width&quot;:944.7}"/>
</p:tagLst>
</file>

<file path=ppt/tags/tag424.xml><?xml version="1.0" encoding="utf-8"?>
<p:tagLst xmlns:p="http://schemas.openxmlformats.org/presentationml/2006/main">
  <p:tag name="KSO_WM_DIAGRAM_VIRTUALLY_FRAME" val="{&quot;height&quot;:430.8,&quot;left&quot;:7.1,&quot;top&quot;:90.8,&quot;width&quot;:944.7}"/>
</p:tagLst>
</file>

<file path=ppt/tags/tag425.xml><?xml version="1.0" encoding="utf-8"?>
<p:tagLst xmlns:p="http://schemas.openxmlformats.org/presentationml/2006/main">
  <p:tag name="PA" val="v5.2.11"/>
  <p:tag name="KSO_WM_DIAGRAM_VIRTUALLY_FRAME" val="{&quot;height&quot;:430.8,&quot;left&quot;:7.1,&quot;top&quot;:90.8,&quot;width&quot;:944.7}"/>
</p:tagLst>
</file>

<file path=ppt/tags/tag426.xml><?xml version="1.0" encoding="utf-8"?>
<p:tagLst xmlns:p="http://schemas.openxmlformats.org/presentationml/2006/main">
  <p:tag name="KSO_WM_DIAGRAM_VIRTUALLY_FRAME" val="{&quot;height&quot;:430.8,&quot;left&quot;:7.1,&quot;top&quot;:90.8,&quot;width&quot;:944.7}"/>
</p:tagLst>
</file>

<file path=ppt/tags/tag427.xml><?xml version="1.0" encoding="utf-8"?>
<p:tagLst xmlns:p="http://schemas.openxmlformats.org/presentationml/2006/main">
  <p:tag name="KSO_WM_DIAGRAM_VIRTUALLY_FRAME" val="{&quot;height&quot;:430.8,&quot;left&quot;:7.1,&quot;top&quot;:90.8,&quot;width&quot;:944.7}"/>
</p:tagLst>
</file>

<file path=ppt/tags/tag428.xml><?xml version="1.0" encoding="utf-8"?>
<p:tagLst xmlns:p="http://schemas.openxmlformats.org/presentationml/2006/main">
  <p:tag name="KSO_WM_DIAGRAM_VIRTUALLY_FRAME" val="{&quot;height&quot;:430.8,&quot;left&quot;:7.1,&quot;top&quot;:90.8,&quot;width&quot;:944.7}"/>
</p:tagLst>
</file>

<file path=ppt/tags/tag429.xml><?xml version="1.0" encoding="utf-8"?>
<p:tagLst xmlns:p="http://schemas.openxmlformats.org/presentationml/2006/main">
  <p:tag name="PA" val="v5.2.11"/>
  <p:tag name="KSO_WM_DIAGRAM_VIRTUALLY_FRAME" val="{&quot;height&quot;:430.8,&quot;left&quot;:7.1,&quot;top&quot;:90.8,&quot;width&quot;:944.7}"/>
</p:tagLst>
</file>

<file path=ppt/tags/tag430.xml><?xml version="1.0" encoding="utf-8"?>
<p:tagLst xmlns:p="http://schemas.openxmlformats.org/presentationml/2006/main">
  <p:tag name="KSO_WM_DIAGRAM_VIRTUALLY_FRAME" val="{&quot;height&quot;:430.8,&quot;left&quot;:7.1,&quot;top&quot;:90.8,&quot;width&quot;:944.7}"/>
</p:tagLst>
</file>

<file path=ppt/tags/tag431.xml><?xml version="1.0" encoding="utf-8"?>
<p:tagLst xmlns:p="http://schemas.openxmlformats.org/presentationml/2006/main">
  <p:tag name="KSO_WM_DIAGRAM_VIRTUALLY_FRAME" val="{&quot;height&quot;:430.8,&quot;left&quot;:7.1,&quot;top&quot;:90.8,&quot;width&quot;:944.7}"/>
</p:tagLst>
</file>

<file path=ppt/tags/tag432.xml><?xml version="1.0" encoding="utf-8"?>
<p:tagLst xmlns:p="http://schemas.openxmlformats.org/presentationml/2006/main">
  <p:tag name="KSO_WM_DIAGRAM_VIRTUALLY_FRAME" val="{&quot;height&quot;:430.8,&quot;left&quot;:7.1,&quot;top&quot;:90.8,&quot;width&quot;:944.7}"/>
</p:tagLst>
</file>

<file path=ppt/tags/tag433.xml><?xml version="1.0" encoding="utf-8"?>
<p:tagLst xmlns:p="http://schemas.openxmlformats.org/presentationml/2006/main">
  <p:tag name="KSO_WM_DIAGRAM_VIRTUALLY_FRAME" val="{&quot;height&quot;:430.8,&quot;left&quot;:7.1,&quot;top&quot;:90.8,&quot;width&quot;:944.7}"/>
</p:tagLst>
</file>

<file path=ppt/tags/tag434.xml><?xml version="1.0" encoding="utf-8"?>
<p:tagLst xmlns:p="http://schemas.openxmlformats.org/presentationml/2006/main">
  <p:tag name="KSO_WM_DIAGRAM_VIRTUALLY_FRAME" val="{&quot;height&quot;:430.8,&quot;left&quot;:7.1,&quot;top&quot;:90.8,&quot;width&quot;:944.7}"/>
</p:tagLst>
</file>

<file path=ppt/tags/tag435.xml><?xml version="1.0" encoding="utf-8"?>
<p:tagLst xmlns:p="http://schemas.openxmlformats.org/presentationml/2006/main">
  <p:tag name="KSO_WM_DIAGRAM_VIRTUALLY_FRAME" val="{&quot;height&quot;:430.8,&quot;left&quot;:7.1,&quot;top&quot;:90.8,&quot;width&quot;:944.7}"/>
</p:tagLst>
</file>

<file path=ppt/tags/tag436.xml><?xml version="1.0" encoding="utf-8"?>
<p:tagLst xmlns:p="http://schemas.openxmlformats.org/presentationml/2006/main">
  <p:tag name="PA" val="v5.2.11"/>
  <p:tag name="KSO_WM_DIAGRAM_VIRTUALLY_FRAME" val="{&quot;height&quot;:430.8,&quot;left&quot;:7.1,&quot;top&quot;:90.8,&quot;width&quot;:944.7}"/>
</p:tagLst>
</file>

<file path=ppt/tags/tag437.xml><?xml version="1.0" encoding="utf-8"?>
<p:tagLst xmlns:p="http://schemas.openxmlformats.org/presentationml/2006/main">
  <p:tag name="KSO_WM_DIAGRAM_VIRTUALLY_FRAME" val="{&quot;height&quot;:430.8,&quot;left&quot;:7.1,&quot;top&quot;:90.8,&quot;width&quot;:944.7}"/>
</p:tagLst>
</file>

<file path=ppt/tags/tag438.xml><?xml version="1.0" encoding="utf-8"?>
<p:tagLst xmlns:p="http://schemas.openxmlformats.org/presentationml/2006/main">
  <p:tag name="KSO_WM_DIAGRAM_VIRTUALLY_FRAME" val="{&quot;height&quot;:430.8,&quot;left&quot;:7.1,&quot;top&quot;:90.8,&quot;width&quot;:944.7}"/>
</p:tagLst>
</file>

<file path=ppt/tags/tag439.xml><?xml version="1.0" encoding="utf-8"?>
<p:tagLst xmlns:p="http://schemas.openxmlformats.org/presentationml/2006/main">
  <p:tag name="KSO_WM_DIAGRAM_VIRTUALLY_FRAME" val="{&quot;height&quot;:430.8,&quot;left&quot;:7.1,&quot;top&quot;:90.8,&quot;width&quot;:944.7}"/>
</p:tagLst>
</file>

<file path=ppt/tags/tag440.xml><?xml version="1.0" encoding="utf-8"?>
<p:tagLst xmlns:p="http://schemas.openxmlformats.org/presentationml/2006/main">
  <p:tag name="PA" val="v5.2.11"/>
  <p:tag name="KSO_WM_DIAGRAM_VIRTUALLY_FRAME" val="{&quot;height&quot;:430.8,&quot;left&quot;:7.1,&quot;top&quot;:90.8,&quot;width&quot;:944.7}"/>
</p:tagLst>
</file>

<file path=ppt/tags/tag441.xml><?xml version="1.0" encoding="utf-8"?>
<p:tagLst xmlns:p="http://schemas.openxmlformats.org/presentationml/2006/main">
  <p:tag name="KSO_WM_DIAGRAM_VIRTUALLY_FRAME" val="{&quot;height&quot;:430.8,&quot;left&quot;:7.1,&quot;top&quot;:90.8,&quot;width&quot;:944.7}"/>
</p:tagLst>
</file>

<file path=ppt/tags/tag442.xml><?xml version="1.0" encoding="utf-8"?>
<p:tagLst xmlns:p="http://schemas.openxmlformats.org/presentationml/2006/main">
  <p:tag name="KSO_WM_DIAGRAM_VIRTUALLY_FRAME" val="{&quot;height&quot;:430.8,&quot;left&quot;:7.1,&quot;top&quot;:90.8,&quot;width&quot;:944.7}"/>
</p:tagLst>
</file>

<file path=ppt/tags/tag443.xml><?xml version="1.0" encoding="utf-8"?>
<p:tagLst xmlns:p="http://schemas.openxmlformats.org/presentationml/2006/main">
  <p:tag name="KSO_WM_DIAGRAM_VIRTUALLY_FRAME" val="{&quot;height&quot;:430.8,&quot;left&quot;:7.1,&quot;top&quot;:90.8,&quot;width&quot;:944.7}"/>
</p:tagLst>
</file>

<file path=ppt/tags/tag444.xml><?xml version="1.0" encoding="utf-8"?>
<p:tagLst xmlns:p="http://schemas.openxmlformats.org/presentationml/2006/main">
  <p:tag name="KSO_WM_DIAGRAM_VIRTUALLY_FRAME" val="{&quot;height&quot;:430.8,&quot;left&quot;:7.1,&quot;top&quot;:90.8,&quot;width&quot;:944.7}"/>
</p:tagLst>
</file>

<file path=ppt/tags/tag445.xml><?xml version="1.0" encoding="utf-8"?>
<p:tagLst xmlns:p="http://schemas.openxmlformats.org/presentationml/2006/main">
  <p:tag name="KSO_WM_DIAGRAM_VIRTUALLY_FRAME" val="{&quot;height&quot;:430.8,&quot;left&quot;:7.1,&quot;top&quot;:90.8,&quot;width&quot;:944.7}"/>
</p:tagLst>
</file>

<file path=ppt/tags/tag446.xml><?xml version="1.0" encoding="utf-8"?>
<p:tagLst xmlns:p="http://schemas.openxmlformats.org/presentationml/2006/main">
  <p:tag name="KSO_WM_DIAGRAM_VIRTUALLY_FRAME" val="{&quot;height&quot;:430.8,&quot;left&quot;:7.1,&quot;top&quot;:90.8,&quot;width&quot;:944.7}"/>
</p:tagLst>
</file>

<file path=ppt/tags/tag447.xml><?xml version="1.0" encoding="utf-8"?>
<p:tagLst xmlns:p="http://schemas.openxmlformats.org/presentationml/2006/main">
  <p:tag name="KSO_WM_DIAGRAM_VIRTUALLY_FRAME" val="{&quot;height&quot;:430.8,&quot;left&quot;:7.1,&quot;top&quot;:90.8,&quot;width&quot;:944.7}"/>
</p:tagLst>
</file>

<file path=ppt/tags/tag448.xml><?xml version="1.0" encoding="utf-8"?>
<p:tagLst xmlns:p="http://schemas.openxmlformats.org/presentationml/2006/main">
  <p:tag name="KSO_WM_DIAGRAM_VIRTUALLY_FRAME" val="{&quot;height&quot;:430.8,&quot;left&quot;:7.1,&quot;top&quot;:90.8,&quot;width&quot;:944.7}"/>
</p:tagLst>
</file>

<file path=ppt/tags/tag449.xml><?xml version="1.0" encoding="utf-8"?>
<p:tagLst xmlns:p="http://schemas.openxmlformats.org/presentationml/2006/main">
  <p:tag name="KSO_WM_DIAGRAM_VIRTUALLY_FRAME" val="{&quot;height&quot;:430.8,&quot;left&quot;:7.1,&quot;top&quot;:90.8,&quot;width&quot;:944.7}"/>
</p:tagLst>
</file>

<file path=ppt/tags/tag450.xml><?xml version="1.0" encoding="utf-8"?>
<p:tagLst xmlns:p="http://schemas.openxmlformats.org/presentationml/2006/main">
  <p:tag name="PA" val="v5.2.11"/>
  <p:tag name="KSO_WM_DIAGRAM_VIRTUALLY_FRAME" val="{&quot;height&quot;:430.8,&quot;left&quot;:7.1,&quot;top&quot;:90.8,&quot;width&quot;:944.7}"/>
</p:tagLst>
</file>

<file path=ppt/tags/tag451.xml><?xml version="1.0" encoding="utf-8"?>
<p:tagLst xmlns:p="http://schemas.openxmlformats.org/presentationml/2006/main">
  <p:tag name="KSO_WM_DIAGRAM_VIRTUALLY_FRAME" val="{&quot;height&quot;:430.8,&quot;left&quot;:7.1,&quot;top&quot;:90.8,&quot;width&quot;:944.7}"/>
</p:tagLst>
</file>

<file path=ppt/tags/tag452.xml><?xml version="1.0" encoding="utf-8"?>
<p:tagLst xmlns:p="http://schemas.openxmlformats.org/presentationml/2006/main">
  <p:tag name="KSO_WM_DIAGRAM_VIRTUALLY_FRAME" val="{&quot;height&quot;:430.8,&quot;left&quot;:7.1,&quot;top&quot;:90.8,&quot;width&quot;:944.7}"/>
</p:tagLst>
</file>

<file path=ppt/tags/tag453.xml><?xml version="1.0" encoding="utf-8"?>
<p:tagLst xmlns:p="http://schemas.openxmlformats.org/presentationml/2006/main">
  <p:tag name="KSO_WM_DIAGRAM_VIRTUALLY_FRAME" val="{&quot;height&quot;:430.8,&quot;left&quot;:7.1,&quot;top&quot;:90.8,&quot;width&quot;:944.7}"/>
</p:tagLst>
</file>

<file path=ppt/tags/tag454.xml><?xml version="1.0" encoding="utf-8"?>
<p:tagLst xmlns:p="http://schemas.openxmlformats.org/presentationml/2006/main">
  <p:tag name="PA" val="v5.2.11"/>
  <p:tag name="KSO_WM_DIAGRAM_VIRTUALLY_FRAME" val="{&quot;height&quot;:430.8,&quot;left&quot;:7.1,&quot;top&quot;:90.8,&quot;width&quot;:944.7}"/>
</p:tagLst>
</file>

<file path=ppt/tags/tag455.xml><?xml version="1.0" encoding="utf-8"?>
<p:tagLst xmlns:p="http://schemas.openxmlformats.org/presentationml/2006/main">
  <p:tag name="KSO_WM_DIAGRAM_VIRTUALLY_FRAME" val="{&quot;height&quot;:430.8,&quot;left&quot;:7.1,&quot;top&quot;:90.8,&quot;width&quot;:944.7}"/>
</p:tagLst>
</file>

<file path=ppt/tags/tag456.xml><?xml version="1.0" encoding="utf-8"?>
<p:tagLst xmlns:p="http://schemas.openxmlformats.org/presentationml/2006/main">
  <p:tag name="KSO_WM_DIAGRAM_VIRTUALLY_FRAME" val="{&quot;height&quot;:430.8,&quot;left&quot;:7.1,&quot;top&quot;:90.8,&quot;width&quot;:944.7}"/>
</p:tagLst>
</file>

<file path=ppt/tags/tag457.xml><?xml version="1.0" encoding="utf-8"?>
<p:tagLst xmlns:p="http://schemas.openxmlformats.org/presentationml/2006/main">
  <p:tag name="KSO_WM_DIAGRAM_VIRTUALLY_FRAME" val="{&quot;height&quot;:430.8,&quot;left&quot;:7.1,&quot;top&quot;:90.8,&quot;width&quot;:944.7}"/>
</p:tagLst>
</file>

<file path=ppt/tags/tag458.xml><?xml version="1.0" encoding="utf-8"?>
<p:tagLst xmlns:p="http://schemas.openxmlformats.org/presentationml/2006/main">
  <p:tag name="KSO_WM_DIAGRAM_VIRTUALLY_FRAME" val="{&quot;height&quot;:430.8,&quot;left&quot;:7.1,&quot;top&quot;:90.8,&quot;width&quot;:944.7}"/>
</p:tagLst>
</file>

<file path=ppt/tags/tag459.xml><?xml version="1.0" encoding="utf-8"?>
<p:tagLst xmlns:p="http://schemas.openxmlformats.org/presentationml/2006/main">
  <p:tag name="PA" val="v5.2.11"/>
  <p:tag name="KSO_WM_DIAGRAM_VIRTUALLY_FRAME" val="{&quot;height&quot;:430.8,&quot;left&quot;:7.1,&quot;top&quot;:90.8,&quot;width&quot;:944.7}"/>
</p:tagLst>
</file>

<file path=ppt/tags/tag460.xml><?xml version="1.0" encoding="utf-8"?>
<p:tagLst xmlns:p="http://schemas.openxmlformats.org/presentationml/2006/main">
  <p:tag name="KSO_WM_DIAGRAM_VIRTUALLY_FRAME" val="{&quot;height&quot;:430.8,&quot;left&quot;:7.1,&quot;top&quot;:90.8,&quot;width&quot;:944.7}"/>
</p:tagLst>
</file>

<file path=ppt/tags/tag461.xml><?xml version="1.0" encoding="utf-8"?>
<p:tagLst xmlns:p="http://schemas.openxmlformats.org/presentationml/2006/main">
  <p:tag name="KSO_WM_DIAGRAM_VIRTUALLY_FRAME" val="{&quot;height&quot;:430.8,&quot;left&quot;:7.1,&quot;top&quot;:90.8,&quot;width&quot;:944.7}"/>
</p:tagLst>
</file>

<file path=ppt/tags/tag462.xml><?xml version="1.0" encoding="utf-8"?>
<p:tagLst xmlns:p="http://schemas.openxmlformats.org/presentationml/2006/main">
  <p:tag name="KSO_WM_DIAGRAM_VIRTUALLY_FRAME" val="{&quot;height&quot;:430.8,&quot;left&quot;:7.1,&quot;top&quot;:90.8,&quot;width&quot;:944.7}"/>
</p:tagLst>
</file>

<file path=ppt/tags/tag463.xml><?xml version="1.0" encoding="utf-8"?>
<p:tagLst xmlns:p="http://schemas.openxmlformats.org/presentationml/2006/main">
  <p:tag name="PA" val="v5.2.11"/>
  <p:tag name="KSO_WM_DIAGRAM_VIRTUALLY_FRAME" val="{&quot;height&quot;:430.8,&quot;left&quot;:7.1,&quot;top&quot;:90.8,&quot;width&quot;:944.7}"/>
</p:tagLst>
</file>

<file path=ppt/tags/tag464.xml><?xml version="1.0" encoding="utf-8"?>
<p:tagLst xmlns:p="http://schemas.openxmlformats.org/presentationml/2006/main">
  <p:tag name="KSO_WM_DIAGRAM_VIRTUALLY_FRAME" val="{&quot;height&quot;:430.8,&quot;left&quot;:7.1,&quot;top&quot;:90.8,&quot;width&quot;:944.7}"/>
</p:tagLst>
</file>

<file path=ppt/tags/tag465.xml><?xml version="1.0" encoding="utf-8"?>
<p:tagLst xmlns:p="http://schemas.openxmlformats.org/presentationml/2006/main">
  <p:tag name="KSO_WM_DIAGRAM_VIRTUALLY_FRAME" val="{&quot;height&quot;:430.8,&quot;left&quot;:7.1,&quot;top&quot;:90.8,&quot;width&quot;:944.7}"/>
</p:tagLst>
</file>

<file path=ppt/tags/tag466.xml><?xml version="1.0" encoding="utf-8"?>
<p:tagLst xmlns:p="http://schemas.openxmlformats.org/presentationml/2006/main">
  <p:tag name="KSO_WM_UNIT_FILL_FORE_SCHEMECOLOR_INDEX_1_BRIGHTNESS" val="0"/>
  <p:tag name="KSO_WM_UNIT_FILL_FORE_SCHEMECOLOR_INDEX_1" val="5"/>
  <p:tag name="KSO_WM_UNIT_FILL_FORE_SCHEMECOLOR_INDEX_1_POS" val="0.12"/>
  <p:tag name="KSO_WM_UNIT_FILL_FORE_SCHEMECOLOR_INDEX_1_TRANS" val="1"/>
  <p:tag name="KSO_WM_UNIT_FILL_FORE_SCHEMECOLOR_INDEX_2_BRIGHTNESS" val="0"/>
  <p:tag name="KSO_WM_UNIT_FILL_FORE_SCHEMECOLOR_INDEX_2" val="5"/>
  <p:tag name="KSO_WM_UNIT_FILL_FORE_SCHEMECOLOR_INDEX_2_POS" val="0.5"/>
  <p:tag name="KSO_WM_UNIT_FILL_FORE_SCHEMECOLOR_INDEX_2_TRANS" val="0.85"/>
  <p:tag name="KSO_WM_UNIT_FILL_FORE_SCHEMECOLOR_INDEX_3_BRIGHTNESS" val="0"/>
  <p:tag name="KSO_WM_UNIT_FILL_FORE_SCHEMECOLOR_INDEX_3" val="5"/>
  <p:tag name="KSO_WM_UNIT_FILL_FORE_SCHEMECOLOR_INDEX_3_POS" val="0.79"/>
  <p:tag name="KSO_WM_UNIT_FILL_FORE_SCHEMECOLOR_INDEX_3_TRANS" val="1"/>
  <p:tag name="KSO_WM_UNIT_FILL_GRADIENT_TYPE" val="0"/>
  <p:tag name="KSO_WM_UNIT_FILL_GRADIENT_ANGLE" val="0"/>
  <p:tag name="KSO_WM_UNIT_FILL_GRADIENT_DIRECTION" val="3"/>
  <p:tag name="KSO_WM_UNIT_FILL_TYPE" val="3"/>
</p:tagLst>
</file>

<file path=ppt/tags/tag467.xml><?xml version="1.0" encoding="utf-8"?>
<p:tagLst xmlns:p="http://schemas.openxmlformats.org/presentationml/2006/main">
  <p:tag name="KSO_WM_UNIT_FILL_FORE_SCHEMECOLOR_INDEX_1_BRIGHTNESS" val="0"/>
  <p:tag name="KSO_WM_UNIT_FILL_FORE_SCHEMECOLOR_INDEX_1" val="5"/>
  <p:tag name="KSO_WM_UNIT_FILL_FORE_SCHEMECOLOR_INDEX_1_POS" val="0.12"/>
  <p:tag name="KSO_WM_UNIT_FILL_FORE_SCHEMECOLOR_INDEX_1_TRANS" val="1"/>
  <p:tag name="KSO_WM_UNIT_FILL_FORE_SCHEMECOLOR_INDEX_2_BRIGHTNESS" val="0"/>
  <p:tag name="KSO_WM_UNIT_FILL_FORE_SCHEMECOLOR_INDEX_2" val="5"/>
  <p:tag name="KSO_WM_UNIT_FILL_FORE_SCHEMECOLOR_INDEX_2_POS" val="0.5"/>
  <p:tag name="KSO_WM_UNIT_FILL_FORE_SCHEMECOLOR_INDEX_2_TRANS" val="0.85"/>
  <p:tag name="KSO_WM_UNIT_FILL_FORE_SCHEMECOLOR_INDEX_3_BRIGHTNESS" val="0"/>
  <p:tag name="KSO_WM_UNIT_FILL_FORE_SCHEMECOLOR_INDEX_3" val="5"/>
  <p:tag name="KSO_WM_UNIT_FILL_FORE_SCHEMECOLOR_INDEX_3_POS" val="0.79"/>
  <p:tag name="KSO_WM_UNIT_FILL_FORE_SCHEMECOLOR_INDEX_3_TRANS" val="1"/>
  <p:tag name="KSO_WM_UNIT_FILL_GRADIENT_TYPE" val="0"/>
  <p:tag name="KSO_WM_UNIT_FILL_GRADIENT_ANGLE" val="0"/>
  <p:tag name="KSO_WM_UNIT_FILL_GRADIENT_DIRECTION" val="3"/>
  <p:tag name="KSO_WM_UNIT_FILL_TYPE" val="3"/>
</p:tagLst>
</file>

<file path=ppt/tags/tag468.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6"/>
</p:tagLst>
</file>

<file path=ppt/tags/tag469.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6"/>
</p:tagLst>
</file>

<file path=ppt/tags/tag470.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6"/>
</p:tagLst>
</file>

<file path=ppt/tags/tag471.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6"/>
</p:tagLst>
</file>

<file path=ppt/tags/tag472.xml><?xml version="1.0" encoding="utf-8"?>
<p:tagLst xmlns:p="http://schemas.openxmlformats.org/presentationml/2006/main">
  <p:tag name="KSO_WM_UNIT_LINE_FORE_SCHEMECOLOR_INDEX_1_BRIGHTNESS" val="0.8"/>
  <p:tag name="KSO_WM_UNIT_LINE_FORE_SCHEMECOLOR_INDEX_1" val="5"/>
  <p:tag name="KSO_WM_UNIT_LINE_FORE_SCHEMECOLOR_INDEX_1_POS" val="0.02"/>
  <p:tag name="KSO_WM_UNIT_LINE_FORE_SCHEMECOLOR_INDEX_1_TRANS" val="0"/>
  <p:tag name="KSO_WM_UNIT_LINE_FORE_SCHEMECOLOR_INDEX_2_BRIGHTNESS" val="0"/>
  <p:tag name="KSO_WM_UNIT_LINE_FORE_SCHEMECOLOR_INDEX_2" val="5"/>
  <p:tag name="KSO_WM_UNIT_LINE_FORE_SCHEMECOLOR_INDEX_2_POS" val="1"/>
  <p:tag name="KSO_WM_UNIT_LINE_FORE_SCHEMECOLOR_INDEX_2_TRANS" val="0"/>
  <p:tag name="KSO_WM_UNIT_LINE_GRADIENT_TYPE" val="0"/>
  <p:tag name="KSO_WM_UNIT_LINE_GRADIENT_ANGLE" val="90"/>
  <p:tag name="KSO_WM_UNIT_LINE_GRADIENT_DIRECTION" val="1"/>
  <p:tag name="KSO_WM_UNIT_LINE_FILL_TYPE" val="5"/>
</p:tagLst>
</file>

<file path=ppt/tags/tag473.xml><?xml version="1.0" encoding="utf-8"?>
<p:tagLst xmlns:p="http://schemas.openxmlformats.org/presentationml/2006/main">
  <p:tag name="KSO_WM_UNIT_LINE_FORE_SCHEMECOLOR_INDEX_1_BRIGHTNESS" val="0.8"/>
  <p:tag name="KSO_WM_UNIT_LINE_FORE_SCHEMECOLOR_INDEX_1" val="5"/>
  <p:tag name="KSO_WM_UNIT_LINE_FORE_SCHEMECOLOR_INDEX_1_POS" val="0.01"/>
  <p:tag name="KSO_WM_UNIT_LINE_FORE_SCHEMECOLOR_INDEX_1_TRANS" val="0"/>
  <p:tag name="KSO_WM_UNIT_LINE_FORE_SCHEMECOLOR_INDEX_2_BRIGHTNESS" val="0"/>
  <p:tag name="KSO_WM_UNIT_LINE_FORE_SCHEMECOLOR_INDEX_2" val="5"/>
  <p:tag name="KSO_WM_UNIT_LINE_FORE_SCHEMECOLOR_INDEX_2_POS" val="0.99"/>
  <p:tag name="KSO_WM_UNIT_LINE_FORE_SCHEMECOLOR_INDEX_2_TRANS" val="0"/>
  <p:tag name="KSO_WM_UNIT_LINE_GRADIENT_TYPE" val="0"/>
  <p:tag name="KSO_WM_UNIT_LINE_GRADIENT_ANGLE" val="90"/>
  <p:tag name="KSO_WM_UNIT_LINE_GRADIENT_DIRECTION" val="1"/>
  <p:tag name="KSO_WM_UNIT_LINE_FILL_TYPE" val="5"/>
</p:tagLst>
</file>

<file path=ppt/tags/tag474.xml><?xml version="1.0" encoding="utf-8"?>
<p:tagLst xmlns:p="http://schemas.openxmlformats.org/presentationml/2006/main">
  <p:tag name="KSO_WM_UNIT_LINE_FORE_SCHEMECOLOR_INDEX_1_BRIGHTNESS" val="0.8"/>
  <p:tag name="KSO_WM_UNIT_LINE_FORE_SCHEMECOLOR_INDEX_1" val="5"/>
  <p:tag name="KSO_WM_UNIT_LINE_FORE_SCHEMECOLOR_INDEX_1_POS" val="0.01"/>
  <p:tag name="KSO_WM_UNIT_LINE_FORE_SCHEMECOLOR_INDEX_1_TRANS" val="0"/>
  <p:tag name="KSO_WM_UNIT_LINE_FORE_SCHEMECOLOR_INDEX_2_BRIGHTNESS" val="0"/>
  <p:tag name="KSO_WM_UNIT_LINE_FORE_SCHEMECOLOR_INDEX_2" val="5"/>
  <p:tag name="KSO_WM_UNIT_LINE_FORE_SCHEMECOLOR_INDEX_2_POS" val="1"/>
  <p:tag name="KSO_WM_UNIT_LINE_FORE_SCHEMECOLOR_INDEX_2_TRANS" val="0"/>
  <p:tag name="KSO_WM_UNIT_LINE_GRADIENT_TYPE" val="0"/>
  <p:tag name="KSO_WM_UNIT_LINE_GRADIENT_ANGLE" val="90"/>
  <p:tag name="KSO_WM_UNIT_LINE_GRADIENT_DIRECTION" val="1"/>
  <p:tag name="KSO_WM_UNIT_LINE_FILL_TYPE" val="5"/>
</p:tagLst>
</file>

<file path=ppt/tags/tag475.xml><?xml version="1.0" encoding="utf-8"?>
<p:tagLst xmlns:p="http://schemas.openxmlformats.org/presentationml/2006/main">
  <p:tag name="KSO_WM_UNIT_LINE_FORE_SCHEMECOLOR_INDEX_1_BRIGHTNESS" val="0.8"/>
  <p:tag name="KSO_WM_UNIT_LINE_FORE_SCHEMECOLOR_INDEX_1" val="5"/>
  <p:tag name="KSO_WM_UNIT_LINE_FORE_SCHEMECOLOR_INDEX_1_POS" val="0.02"/>
  <p:tag name="KSO_WM_UNIT_LINE_FORE_SCHEMECOLOR_INDEX_1_TRANS" val="0"/>
  <p:tag name="KSO_WM_UNIT_LINE_FORE_SCHEMECOLOR_INDEX_2_BRIGHTNESS" val="0"/>
  <p:tag name="KSO_WM_UNIT_LINE_FORE_SCHEMECOLOR_INDEX_2" val="5"/>
  <p:tag name="KSO_WM_UNIT_LINE_FORE_SCHEMECOLOR_INDEX_2_POS" val="1"/>
  <p:tag name="KSO_WM_UNIT_LINE_FORE_SCHEMECOLOR_INDEX_2_TRANS" val="0"/>
  <p:tag name="KSO_WM_UNIT_LINE_GRADIENT_TYPE" val="0"/>
  <p:tag name="KSO_WM_UNIT_LINE_GRADIENT_ANGLE" val="90"/>
  <p:tag name="KSO_WM_UNIT_LINE_GRADIENT_DIRECTION" val="1"/>
  <p:tag name="KSO_WM_UNIT_LINE_FILL_TYPE" val="5"/>
</p:tagLst>
</file>

<file path=ppt/tags/tag476.xml><?xml version="1.0" encoding="utf-8"?>
<p:tagLst xmlns:p="http://schemas.openxmlformats.org/presentationml/2006/main">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77.xml><?xml version="1.0" encoding="utf-8"?>
<p:tagLst xmlns:p="http://schemas.openxmlformats.org/presentationml/2006/main">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78.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479.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480.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481.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482.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483.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484.xml><?xml version="1.0" encoding="utf-8"?>
<p:tagLst xmlns:p="http://schemas.openxmlformats.org/presentationml/2006/main">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85.xml><?xml version="1.0" encoding="utf-8"?>
<p:tagLst xmlns:p="http://schemas.openxmlformats.org/presentationml/2006/main">
  <p:tag name="KSO_WM_UNIT_FILL_FORE_SCHEMECOLOR_INDEX_BRIGHTNESS" val="0.8"/>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486.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487.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488.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489.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490.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491.xml><?xml version="1.0" encoding="utf-8"?>
<p:tagLst xmlns:p="http://schemas.openxmlformats.org/presentationml/2006/main">
  <p:tag name="KSO_WM_UNIT_TEXT_FILL_FORE_SCHEMECOLOR_INDEX_BRIGHTNESS" val="0.35"/>
  <p:tag name="KSO_WM_UNIT_TEXT_FILL_FORE_SCHEMECOLOR_INDEX" val="13"/>
  <p:tag name="KSO_WM_UNIT_TEXT_FILL_TYPE" val="1"/>
</p:tagLst>
</file>

<file path=ppt/tags/tag492.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6"/>
</p:tagLst>
</file>

<file path=ppt/tags/tag493.xml><?xml version="1.0" encoding="utf-8"?>
<p:tagLst xmlns:p="http://schemas.openxmlformats.org/presentationml/2006/main">
  <p:tag name="KSO_WM_UNIT_FILL_FORE_SCHEMECOLOR_INDEX_BRIGHTNESS" val="0"/>
  <p:tag name="KSO_WM_UNIT_FILL_FORE_SCHEMECOLOR_INDEX" val="14"/>
  <p:tag name="KSO_WM_UNIT_FILL_TYPE" val="1"/>
  <p:tag name="KSO_WM_UNIT_SHADOW_SCHEMECOLOR_INDEX_BRIGHTNESS" val="-0.5"/>
  <p:tag name="KSO_WM_UNIT_SHADOW_SCHEMECOLOR_INDEX" val="6"/>
</p:tagLst>
</file>

<file path=ppt/tags/tag494.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1"/>
  <p:tag name="KSO_WM_UNIT_LINE_FORE_SCHEMECOLOR_INDEX_2_TRANS" val="0"/>
  <p:tag name="KSO_WM_UNIT_LINE_GRADIENT_TYPE" val="0"/>
  <p:tag name="KSO_WM_UNIT_LINE_GRADIENT_ANGLE" val="90"/>
  <p:tag name="KSO_WM_UNIT_LINE_GRADIENT_DIRECTION" val="1"/>
  <p:tag name="KSO_WM_UNIT_LINE_FILL_TYPE" val="5"/>
  <p:tag name="KSO_WM_UNIT_SHADOW_SCHEMECOLOR_INDEX_BRIGHTNESS" val="-0.5"/>
  <p:tag name="KSO_WM_UNIT_SHADOW_SCHEMECOLOR_INDEX" val="6"/>
</p:tagLst>
</file>

<file path=ppt/tags/tag495.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1"/>
  <p:tag name="KSO_WM_UNIT_LINE_FORE_SCHEMECOLOR_INDEX_2_TRANS" val="0"/>
  <p:tag name="KSO_WM_UNIT_LINE_GRADIENT_TYPE" val="0"/>
  <p:tag name="KSO_WM_UNIT_LINE_GRADIENT_ANGLE" val="90"/>
  <p:tag name="KSO_WM_UNIT_LINE_GRADIENT_DIRECTION" val="1"/>
  <p:tag name="KSO_WM_UNIT_LINE_FILL_TYPE" val="5"/>
  <p:tag name="KSO_WM_UNIT_SHADOW_SCHEMECOLOR_INDEX_BRIGHTNESS" val="-0.5"/>
  <p:tag name="KSO_WM_UNIT_SHADOW_SCHEMECOLOR_INDEX" val="6"/>
</p:tagLst>
</file>

<file path=ppt/tags/tag496.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1"/>
  <p:tag name="KSO_WM_UNIT_LINE_FORE_SCHEMECOLOR_INDEX_2_TRANS" val="0"/>
  <p:tag name="KSO_WM_UNIT_LINE_GRADIENT_TYPE" val="0"/>
  <p:tag name="KSO_WM_UNIT_LINE_GRADIENT_ANGLE" val="90"/>
  <p:tag name="KSO_WM_UNIT_LINE_GRADIENT_DIRECTION" val="1"/>
  <p:tag name="KSO_WM_UNIT_LINE_FILL_TYPE" val="5"/>
  <p:tag name="KSO_WM_UNIT_SHADOW_SCHEMECOLOR_INDEX_BRIGHTNESS" val="-0.5"/>
  <p:tag name="KSO_WM_UNIT_SHADOW_SCHEMECOLOR_INDEX" val="6"/>
</p:tagLst>
</file>

<file path=ppt/tags/tag497.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1"/>
  <p:tag name="KSO_WM_UNIT_LINE_FORE_SCHEMECOLOR_INDEX_2_TRANS" val="0"/>
  <p:tag name="KSO_WM_UNIT_LINE_GRADIENT_TYPE" val="0"/>
  <p:tag name="KSO_WM_UNIT_LINE_GRADIENT_ANGLE" val="90"/>
  <p:tag name="KSO_WM_UNIT_LINE_GRADIENT_DIRECTION" val="1"/>
  <p:tag name="KSO_WM_UNIT_LINE_FILL_TYPE" val="5"/>
  <p:tag name="KSO_WM_UNIT_SHADOW_SCHEMECOLOR_INDEX_BRIGHTNESS" val="-0.5"/>
  <p:tag name="KSO_WM_UNIT_SHADOW_SCHEMECOLOR_INDEX" val="6"/>
</p:tagLst>
</file>

<file path=ppt/tags/tag498.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1"/>
  <p:tag name="KSO_WM_UNIT_LINE_FORE_SCHEMECOLOR_INDEX_2_TRANS" val="0"/>
  <p:tag name="KSO_WM_UNIT_LINE_GRADIENT_TYPE" val="0"/>
  <p:tag name="KSO_WM_UNIT_LINE_GRADIENT_ANGLE" val="90"/>
  <p:tag name="KSO_WM_UNIT_LINE_GRADIENT_DIRECTION" val="1"/>
  <p:tag name="KSO_WM_UNIT_LINE_FILL_TYPE" val="5"/>
  <p:tag name="KSO_WM_UNIT_SHADOW_SCHEMECOLOR_INDEX_BRIGHTNESS" val="-0.5"/>
  <p:tag name="KSO_WM_UNIT_SHADOW_SCHEMECOLOR_INDEX" val="6"/>
</p:tagLst>
</file>

<file path=ppt/tags/tag499.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500.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501.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502.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503.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504.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505.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06.xml><?xml version="1.0" encoding="utf-8"?>
<p:tagLst xmlns:p="http://schemas.openxmlformats.org/presentationml/2006/main">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507.xml><?xml version="1.0" encoding="utf-8"?>
<p:tagLst xmlns:p="http://schemas.openxmlformats.org/presentationml/2006/main">
  <p:tag name="KSO_WM_UNIT_FILL_FORE_SCHEMECOLOR_INDEX_BRIGHTNESS" val="0.8"/>
  <p:tag name="KSO_WM_UNIT_FILL_FORE_SCHEMECOLOR_INDEX" val="6"/>
  <p:tag name="KSO_WM_UNIT_FILL_TYPE" val="1"/>
  <p:tag name="KSO_WM_UNIT_TEXT_FILL_FORE_SCHEMECOLOR_INDEX_BRIGHTNESS" val="0"/>
  <p:tag name="KSO_WM_UNIT_TEXT_FILL_FORE_SCHEMECOLOR_INDEX" val="2"/>
  <p:tag name="KSO_WM_UNIT_TEXT_FILL_TYPE" val="1"/>
</p:tagLst>
</file>

<file path=ppt/tags/tag508.xml><?xml version="1.0" encoding="utf-8"?>
<p:tagLst xmlns:p="http://schemas.openxmlformats.org/presentationml/2006/main">
  <p:tag name="KSO_WM_UNIT_TEXT_FILL_FORE_SCHEMECOLOR_INDEX_BRIGHTNESS" val="0"/>
  <p:tag name="KSO_WM_UNIT_TEXT_FILL_FORE_SCHEMECOLOR_INDEX" val="5"/>
  <p:tag name="KSO_WM_UNIT_TEXT_FILL_TYPE" val="1"/>
</p:tagLst>
</file>

<file path=ppt/tags/tag509.xml><?xml version="1.0" encoding="utf-8"?>
<p:tagLst xmlns:p="http://schemas.openxmlformats.org/presentationml/2006/main">
  <p:tag name="KSO_WM_UNIT_LINE_FORE_SCHEMECOLOR_INDEX_1_BRIGHTNESS" val="0.8"/>
  <p:tag name="KSO_WM_UNIT_LINE_FORE_SCHEMECOLOR_INDEX_1" val="5"/>
  <p:tag name="KSO_WM_UNIT_LINE_FORE_SCHEMECOLOR_INDEX_1_POS" val="0.01"/>
  <p:tag name="KSO_WM_UNIT_LINE_FORE_SCHEMECOLOR_INDEX_1_TRANS" val="0"/>
  <p:tag name="KSO_WM_UNIT_LINE_FORE_SCHEMECOLOR_INDEX_2_BRIGHTNESS" val="0"/>
  <p:tag name="KSO_WM_UNIT_LINE_FORE_SCHEMECOLOR_INDEX_2" val="5"/>
  <p:tag name="KSO_WM_UNIT_LINE_FORE_SCHEMECOLOR_INDEX_2_POS" val="1"/>
  <p:tag name="KSO_WM_UNIT_LINE_FORE_SCHEMECOLOR_INDEX_2_TRANS" val="0"/>
  <p:tag name="KSO_WM_UNIT_LINE_GRADIENT_TYPE" val="0"/>
  <p:tag name="KSO_WM_UNIT_LINE_GRADIENT_ANGLE" val="90"/>
  <p:tag name="KSO_WM_UNIT_LINE_GRADIENT_DIRECTION" val="1"/>
  <p:tag name="KSO_WM_UNIT_LINE_FILL_TYPE" val="5"/>
</p:tagLst>
</file>

<file path=ppt/tags/tag510.xml><?xml version="1.0" encoding="utf-8"?>
<p:tagLst xmlns:p="http://schemas.openxmlformats.org/presentationml/2006/main">
  <p:tag name="KSO_WM_UNIT_LINE_FORE_SCHEMECOLOR_INDEX_1_BRIGHTNESS" val="0.8"/>
  <p:tag name="KSO_WM_UNIT_LINE_FORE_SCHEMECOLOR_INDEX_1" val="5"/>
  <p:tag name="KSO_WM_UNIT_LINE_FORE_SCHEMECOLOR_INDEX_1_POS" val="0.02"/>
  <p:tag name="KSO_WM_UNIT_LINE_FORE_SCHEMECOLOR_INDEX_1_TRANS" val="0"/>
  <p:tag name="KSO_WM_UNIT_LINE_FORE_SCHEMECOLOR_INDEX_2_BRIGHTNESS" val="0"/>
  <p:tag name="KSO_WM_UNIT_LINE_FORE_SCHEMECOLOR_INDEX_2" val="5"/>
  <p:tag name="KSO_WM_UNIT_LINE_FORE_SCHEMECOLOR_INDEX_2_POS" val="1"/>
  <p:tag name="KSO_WM_UNIT_LINE_FORE_SCHEMECOLOR_INDEX_2_TRANS" val="0"/>
  <p:tag name="KSO_WM_UNIT_LINE_GRADIENT_TYPE" val="0"/>
  <p:tag name="KSO_WM_UNIT_LINE_GRADIENT_ANGLE" val="90"/>
  <p:tag name="KSO_WM_UNIT_LINE_GRADIENT_DIRECTION" val="1"/>
  <p:tag name="KSO_WM_UNIT_LINE_FILL_TYPE" val="5"/>
</p:tagLst>
</file>

<file path=ppt/tags/tag511.xml><?xml version="1.0" encoding="utf-8"?>
<p:tagLst xmlns:p="http://schemas.openxmlformats.org/presentationml/2006/main">
  <p:tag name="KSO_WM_UNIT_FILL_FORE_SCHEMECOLOR_INDEX_BRIGHTNESS" val="0"/>
  <p:tag name="KSO_WM_UNIT_FILL_FORE_SCHEMECOLOR_INDEX" val="5"/>
  <p:tag name="KSO_WM_UNIT_FILL_TYPE" val="1"/>
  <p:tag name="KSO_WM_UNIT_LINE_FORE_SCHEMECOLOR_INDEX_1_BRIGHTNESS" val="0"/>
  <p:tag name="KSO_WM_UNIT_LINE_FORE_SCHEMECOLOR_INDEX_1" val="5"/>
  <p:tag name="KSO_WM_UNIT_LINE_FORE_SCHEMECOLOR_INDEX_1_POS" val="0"/>
  <p:tag name="KSO_WM_UNIT_LINE_FORE_SCHEMECOLOR_INDEX_1_TRANS" val="1"/>
  <p:tag name="KSO_WM_UNIT_LINE_FORE_SCHEMECOLOR_INDEX_2_BRIGHTNESS" val="0"/>
  <p:tag name="KSO_WM_UNIT_LINE_FORE_SCHEMECOLOR_INDEX_2" val="5"/>
  <p:tag name="KSO_WM_UNIT_LINE_FORE_SCHEMECOLOR_INDEX_2_POS" val="0.99"/>
  <p:tag name="KSO_WM_UNIT_LINE_FORE_SCHEMECOLOR_INDEX_2_TRANS" val="0"/>
  <p:tag name="KSO_WM_UNIT_LINE_GRADIENT_TYPE" val="0"/>
  <p:tag name="KSO_WM_UNIT_LINE_GRADIENT_ANGLE" val="90"/>
  <p:tag name="KSO_WM_UNIT_LINE_GRADIENT_DIRECTION" val="1"/>
  <p:tag name="KSO_WM_UNIT_LINE_FILL_TYPE" val="5"/>
  <p:tag name="KSO_WM_UNIT_SHADOW_SCHEMECOLOR_INDEX_BRIGHTNESS" val="-0.5"/>
  <p:tag name="KSO_WM_UNIT_SHADOW_SCHEMECOLOR_INDEX" val="6"/>
</p:tagLst>
</file>

<file path=ppt/tags/tag512.xml><?xml version="1.0" encoding="utf-8"?>
<p:tagLst xmlns:p="http://schemas.openxmlformats.org/presentationml/2006/main">
  <p:tag name="KSO_WM_BEAUTIFY_FLAG" val=""/>
</p:tagLst>
</file>

<file path=ppt/tags/tag513.xml><?xml version="1.0" encoding="utf-8"?>
<p:tagLst xmlns:p="http://schemas.openxmlformats.org/presentationml/2006/main">
  <p:tag name="ISLIDE.GUIDESSETTING" val="{&quot;Id&quot;:&quot;GuidesStyle_Moderate&quot;,&quot;Name&quot;:&quot;适中&quot;,&quot;Kind&quot;:&quot;System&quot;,&quot;OldGuidesSetting&quot;:{&quot;HeaderHeight&quot;:13.0,&quot;FooterHeight&quot;:6.0,&quot;SideMargin&quot;:4.0,&quot;TopMargin&quot;:0.0,&quot;BottomMargin&quot;:0.0,&quot;IntervalMargin&quot;:1.5}}"/>
  <p:tag name="COMMONDATA" val="eyJoZGlkIjoiMmIxOGE2NGY5MzIzZTFjYjRkMjdkOTZiZDJlY2ZhYzQifQ=="/>
  <p:tag name="RESOURCE_RECORD_KEY" val="{&quot;29&quot;:[50000086]}"/>
</p:tagLst>
</file>

<file path=ppt/theme/theme1.xml><?xml version="1.0" encoding="utf-8"?>
<a:theme xmlns:a="http://schemas.openxmlformats.org/drawingml/2006/main" name="Office 主题​​">
  <a:themeElements>
    <a:clrScheme name="纯蓝色配色">
      <a:dk1>
        <a:srgbClr val="000000"/>
      </a:dk1>
      <a:lt1>
        <a:srgbClr val="FFFFFF"/>
      </a:lt1>
      <a:dk2>
        <a:srgbClr val="44546A"/>
      </a:dk2>
      <a:lt2>
        <a:srgbClr val="E7E6E6"/>
      </a:lt2>
      <a:accent1>
        <a:srgbClr val="1C4274"/>
      </a:accent1>
      <a:accent2>
        <a:srgbClr val="A23424"/>
      </a:accent2>
      <a:accent3>
        <a:srgbClr val="A5A5A5"/>
      </a:accent3>
      <a:accent4>
        <a:srgbClr val="FFC000"/>
      </a:accent4>
      <a:accent5>
        <a:srgbClr val="5B9BD5"/>
      </a:accent5>
      <a:accent6>
        <a:srgbClr val="70AD47"/>
      </a:accent6>
      <a:hlink>
        <a:srgbClr val="0563C1"/>
      </a:hlink>
      <a:folHlink>
        <a:srgbClr val="954F72"/>
      </a:folHlink>
    </a:clrScheme>
    <a:fontScheme name="">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lang="en-US" altLang="zh-CN">
            <a:latin typeface="HONOR Sans CN" panose="05000200000000000000" charset="-122"/>
            <a:ea typeface="HONOR Sans CN" panose="05000200000000000000"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5_Office 主题​​">
  <a:themeElements>
    <a:clrScheme name="">
      <a:dk1>
        <a:srgbClr val="202020"/>
      </a:dk1>
      <a:lt1>
        <a:srgbClr val="FFFFFF"/>
      </a:lt1>
      <a:dk2>
        <a:srgbClr val="404040"/>
      </a:dk2>
      <a:lt2>
        <a:srgbClr val="FFFFFF"/>
      </a:lt2>
      <a:accent1>
        <a:srgbClr val="1C4274"/>
      </a:accent1>
      <a:accent2>
        <a:srgbClr val="89B0E3"/>
      </a:accent2>
      <a:accent3>
        <a:srgbClr val="1C4274"/>
      </a:accent3>
      <a:accent4>
        <a:srgbClr val="A5A5A5"/>
      </a:accent4>
      <a:accent5>
        <a:srgbClr val="4E88D4"/>
      </a:accent5>
      <a:accent6>
        <a:srgbClr val="404040"/>
      </a:accent6>
      <a:hlink>
        <a:srgbClr val="0026E5"/>
      </a:hlink>
      <a:folHlink>
        <a:srgbClr val="7E1FAD"/>
      </a:folHlink>
    </a:clrScheme>
    <a:fontScheme name="">
      <a:majorFont>
        <a:latin typeface="微软雅黑"/>
        <a:ea typeface="微软雅黑"/>
        <a:cs typeface=""/>
      </a:majorFont>
      <a:minorFont>
        <a:latin typeface="微软雅黑"/>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defRPr lang="en-US" altLang="zh-CN">
            <a:latin typeface="HONOR Sans CN" panose="05000200000000000000" charset="-122"/>
            <a:ea typeface="HONOR Sans CN" panose="05000200000000000000" charset="-122"/>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游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微软雅黑"/>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微软雅黑"/>
        <a:ea typeface=""/>
        <a:cs typeface=""/>
        <a:font script="Jpan" typeface="ＭＳ Ｐゴシック"/>
        <a:font script="Hang" typeface="맑은 고딕"/>
        <a:font script="Hans" typeface="微软雅黑"/>
        <a:font script="Hant" typeface="新細明體"/>
        <a:font script="Arab" typeface="微软雅黑"/>
        <a:font script="Hebr" typeface="微软雅黑"/>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微软雅黑"/>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0</TotalTime>
  <Words>15642</Words>
  <Application>WPS 演示</Application>
  <PresentationFormat>宽屏</PresentationFormat>
  <Paragraphs>2678</Paragraphs>
  <Slides>46</Slides>
  <Notes>40</Notes>
  <HiddenSlides>0</HiddenSlides>
  <MMClips>0</MMClips>
  <ScaleCrop>false</ScaleCrop>
  <HeadingPairs>
    <vt:vector size="6" baseType="variant">
      <vt:variant>
        <vt:lpstr>已用的字体</vt:lpstr>
      </vt:variant>
      <vt:variant>
        <vt:i4>28</vt:i4>
      </vt:variant>
      <vt:variant>
        <vt:lpstr>主题</vt:lpstr>
      </vt:variant>
      <vt:variant>
        <vt:i4>2</vt:i4>
      </vt:variant>
      <vt:variant>
        <vt:lpstr>幻灯片标题</vt:lpstr>
      </vt:variant>
      <vt:variant>
        <vt:i4>46</vt:i4>
      </vt:variant>
    </vt:vector>
  </HeadingPairs>
  <TitlesOfParts>
    <vt:vector size="76" baseType="lpstr">
      <vt:lpstr>Arial</vt:lpstr>
      <vt:lpstr>宋体</vt:lpstr>
      <vt:lpstr>Wingdings</vt:lpstr>
      <vt:lpstr>HONOR Sans CN</vt:lpstr>
      <vt:lpstr>微软雅黑</vt:lpstr>
      <vt:lpstr>Arial Unicode MS</vt:lpstr>
      <vt:lpstr>OPPOSans H</vt:lpstr>
      <vt:lpstr>Wingdings</vt:lpstr>
      <vt:lpstr>OPPOSans B</vt:lpstr>
      <vt:lpstr>OPPO Sans</vt:lpstr>
      <vt:lpstr>Helvetica Neue Medium</vt:lpstr>
      <vt:lpstr>思源宋体 CN Heavy</vt:lpstr>
      <vt:lpstr>Arial</vt:lpstr>
      <vt:lpstr>Open Sans</vt:lpstr>
      <vt:lpstr>Segoe Print</vt:lpstr>
      <vt:lpstr>Barlow Medium</vt:lpstr>
      <vt:lpstr>OPPOSans R</vt:lpstr>
      <vt:lpstr>Neris Thin</vt:lpstr>
      <vt:lpstr>Barlow Bold</vt:lpstr>
      <vt:lpstr>OPPOSans M</vt:lpstr>
      <vt:lpstr>Open Sans Bold</vt:lpstr>
      <vt:lpstr>Maven Pro Regular SemiBold</vt:lpstr>
      <vt:lpstr>OpenSans</vt:lpstr>
      <vt:lpstr>Times New Roman</vt:lpstr>
      <vt:lpstr>Open Sans Regular</vt:lpstr>
      <vt:lpstr>Barlow SemiBold</vt:lpstr>
      <vt:lpstr>HONOR Sans CN Medium</vt:lpstr>
      <vt:lpstr>Calibri</vt:lpstr>
      <vt:lpstr>Office 主题​​</vt:lpstr>
      <vt:lpstr>5_Office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徐鸣冲</dc:creator>
  <cp:lastModifiedBy>冲Sherman</cp:lastModifiedBy>
  <cp:revision>361</cp:revision>
  <dcterms:created xsi:type="dcterms:W3CDTF">2022-10-13T07:27:00Z</dcterms:created>
  <dcterms:modified xsi:type="dcterms:W3CDTF">2026-03-16T13:31:43Z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CA97EDF6D6A64F93AC17D52C38E77688_13</vt:lpwstr>
  </property>
  <property fmtid="{D5CDD505-2E9C-101B-9397-08002B2CF9AE}" pid="3" name="KSOProductBuildVer">
    <vt:lpwstr>2052-12.1.0.25222</vt:lpwstr>
  </property>
</Properties>
</file>